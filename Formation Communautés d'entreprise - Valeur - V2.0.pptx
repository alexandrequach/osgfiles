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Lst>
  <p:notesMasterIdLst>
    <p:notesMasterId r:id="rId319"/>
  </p:notesMasterIdLst>
  <p:sldIdLst>
    <p:sldId id="826" r:id="rId5"/>
    <p:sldId id="603" r:id="rId6"/>
    <p:sldId id="1042" r:id="rId7"/>
    <p:sldId id="1041" r:id="rId8"/>
    <p:sldId id="1043" r:id="rId9"/>
    <p:sldId id="1044" r:id="rId10"/>
    <p:sldId id="1123" r:id="rId11"/>
    <p:sldId id="1124" r:id="rId12"/>
    <p:sldId id="1125" r:id="rId13"/>
    <p:sldId id="1104" r:id="rId14"/>
    <p:sldId id="377" r:id="rId15"/>
    <p:sldId id="1169" r:id="rId16"/>
    <p:sldId id="827" r:id="rId17"/>
    <p:sldId id="869" r:id="rId18"/>
    <p:sldId id="870" r:id="rId19"/>
    <p:sldId id="871" r:id="rId20"/>
    <p:sldId id="992" r:id="rId21"/>
    <p:sldId id="822" r:id="rId22"/>
    <p:sldId id="380" r:id="rId23"/>
    <p:sldId id="966" r:id="rId24"/>
    <p:sldId id="801" r:id="rId25"/>
    <p:sldId id="800" r:id="rId26"/>
    <p:sldId id="903" r:id="rId27"/>
    <p:sldId id="904" r:id="rId28"/>
    <p:sldId id="923" r:id="rId29"/>
    <p:sldId id="967" r:id="rId30"/>
    <p:sldId id="965" r:id="rId31"/>
    <p:sldId id="953" r:id="rId32"/>
    <p:sldId id="963" r:id="rId33"/>
    <p:sldId id="955" r:id="rId34"/>
    <p:sldId id="956" r:id="rId35"/>
    <p:sldId id="954" r:id="rId36"/>
    <p:sldId id="981" r:id="rId37"/>
    <p:sldId id="906" r:id="rId38"/>
    <p:sldId id="951" r:id="rId39"/>
    <p:sldId id="973" r:id="rId40"/>
    <p:sldId id="960" r:id="rId41"/>
    <p:sldId id="969" r:id="rId42"/>
    <p:sldId id="962" r:id="rId43"/>
    <p:sldId id="952" r:id="rId44"/>
    <p:sldId id="964" r:id="rId45"/>
    <p:sldId id="972" r:id="rId46"/>
    <p:sldId id="957" r:id="rId47"/>
    <p:sldId id="968" r:id="rId48"/>
    <p:sldId id="958" r:id="rId49"/>
    <p:sldId id="971" r:id="rId50"/>
    <p:sldId id="961" r:id="rId51"/>
    <p:sldId id="1048" r:id="rId52"/>
    <p:sldId id="1056" r:id="rId53"/>
    <p:sldId id="1057" r:id="rId54"/>
    <p:sldId id="1054" r:id="rId55"/>
    <p:sldId id="1049" r:id="rId56"/>
    <p:sldId id="1055" r:id="rId57"/>
    <p:sldId id="1053" r:id="rId58"/>
    <p:sldId id="1059" r:id="rId59"/>
    <p:sldId id="1058" r:id="rId60"/>
    <p:sldId id="1064" r:id="rId61"/>
    <p:sldId id="905" r:id="rId62"/>
    <p:sldId id="408" r:id="rId63"/>
    <p:sldId id="1147" r:id="rId64"/>
    <p:sldId id="907" r:id="rId65"/>
    <p:sldId id="471" r:id="rId66"/>
    <p:sldId id="874" r:id="rId67"/>
    <p:sldId id="834" r:id="rId68"/>
    <p:sldId id="881" r:id="rId69"/>
    <p:sldId id="884" r:id="rId70"/>
    <p:sldId id="837" r:id="rId71"/>
    <p:sldId id="878" r:id="rId72"/>
    <p:sldId id="880" r:id="rId73"/>
    <p:sldId id="909" r:id="rId74"/>
    <p:sldId id="1031" r:id="rId75"/>
    <p:sldId id="865" r:id="rId76"/>
    <p:sldId id="1001" r:id="rId77"/>
    <p:sldId id="830" r:id="rId78"/>
    <p:sldId id="879" r:id="rId79"/>
    <p:sldId id="993" r:id="rId80"/>
    <p:sldId id="994" r:id="rId81"/>
    <p:sldId id="838" r:id="rId82"/>
    <p:sldId id="831" r:id="rId83"/>
    <p:sldId id="1011" r:id="rId84"/>
    <p:sldId id="916" r:id="rId85"/>
    <p:sldId id="910" r:id="rId86"/>
    <p:sldId id="385" r:id="rId87"/>
    <p:sldId id="378" r:id="rId88"/>
    <p:sldId id="911" r:id="rId89"/>
    <p:sldId id="393" r:id="rId90"/>
    <p:sldId id="399" r:id="rId91"/>
    <p:sldId id="876" r:id="rId92"/>
    <p:sldId id="913" r:id="rId93"/>
    <p:sldId id="868" r:id="rId94"/>
    <p:sldId id="864" r:id="rId95"/>
    <p:sldId id="817" r:id="rId96"/>
    <p:sldId id="896" r:id="rId97"/>
    <p:sldId id="883" r:id="rId98"/>
    <p:sldId id="990" r:id="rId99"/>
    <p:sldId id="1013" r:id="rId100"/>
    <p:sldId id="1009" r:id="rId101"/>
    <p:sldId id="1012" r:id="rId102"/>
    <p:sldId id="1010" r:id="rId103"/>
    <p:sldId id="1014" r:id="rId104"/>
    <p:sldId id="1017" r:id="rId105"/>
    <p:sldId id="853" r:id="rId106"/>
    <p:sldId id="895" r:id="rId107"/>
    <p:sldId id="917" r:id="rId108"/>
    <p:sldId id="997" r:id="rId109"/>
    <p:sldId id="998" r:id="rId110"/>
    <p:sldId id="1026" r:id="rId111"/>
    <p:sldId id="1002" r:id="rId112"/>
    <p:sldId id="1003" r:id="rId113"/>
    <p:sldId id="999" r:id="rId114"/>
    <p:sldId id="1191" r:id="rId115"/>
    <p:sldId id="867" r:id="rId116"/>
    <p:sldId id="979" r:id="rId117"/>
    <p:sldId id="984" r:id="rId118"/>
    <p:sldId id="1080" r:id="rId119"/>
    <p:sldId id="1081" r:id="rId120"/>
    <p:sldId id="980" r:id="rId121"/>
    <p:sldId id="987" r:id="rId122"/>
    <p:sldId id="983" r:id="rId123"/>
    <p:sldId id="986" r:id="rId124"/>
    <p:sldId id="885" r:id="rId125"/>
    <p:sldId id="890" r:id="rId126"/>
    <p:sldId id="889" r:id="rId127"/>
    <p:sldId id="893" r:id="rId128"/>
    <p:sldId id="982" r:id="rId129"/>
    <p:sldId id="888" r:id="rId130"/>
    <p:sldId id="922" r:id="rId131"/>
    <p:sldId id="892" r:id="rId132"/>
    <p:sldId id="897" r:id="rId133"/>
    <p:sldId id="921" r:id="rId134"/>
    <p:sldId id="852" r:id="rId135"/>
    <p:sldId id="891" r:id="rId136"/>
    <p:sldId id="863" r:id="rId137"/>
    <p:sldId id="855" r:id="rId138"/>
    <p:sldId id="1065" r:id="rId139"/>
    <p:sldId id="1025" r:id="rId140"/>
    <p:sldId id="1027" r:id="rId141"/>
    <p:sldId id="1028" r:id="rId142"/>
    <p:sldId id="854" r:id="rId143"/>
    <p:sldId id="989" r:id="rId144"/>
    <p:sldId id="856" r:id="rId145"/>
    <p:sldId id="988" r:id="rId146"/>
    <p:sldId id="991" r:id="rId147"/>
    <p:sldId id="1022" r:id="rId148"/>
    <p:sldId id="1033" r:id="rId149"/>
    <p:sldId id="1034" r:id="rId150"/>
    <p:sldId id="1036" r:id="rId151"/>
    <p:sldId id="1035" r:id="rId152"/>
    <p:sldId id="900" r:id="rId153"/>
    <p:sldId id="1067" r:id="rId154"/>
    <p:sldId id="901" r:id="rId155"/>
    <p:sldId id="902" r:id="rId156"/>
    <p:sldId id="1060" r:id="rId157"/>
    <p:sldId id="1061" r:id="rId158"/>
    <p:sldId id="1062" r:id="rId159"/>
    <p:sldId id="898" r:id="rId160"/>
    <p:sldId id="899" r:id="rId161"/>
    <p:sldId id="1032" r:id="rId162"/>
    <p:sldId id="1040" r:id="rId163"/>
    <p:sldId id="1038" r:id="rId164"/>
    <p:sldId id="1021" r:id="rId165"/>
    <p:sldId id="1077" r:id="rId166"/>
    <p:sldId id="1030" r:id="rId167"/>
    <p:sldId id="1066" r:id="rId168"/>
    <p:sldId id="1029" r:id="rId169"/>
    <p:sldId id="1046" r:id="rId170"/>
    <p:sldId id="1070" r:id="rId171"/>
    <p:sldId id="1075" r:id="rId172"/>
    <p:sldId id="1076" r:id="rId173"/>
    <p:sldId id="1071" r:id="rId174"/>
    <p:sldId id="1109" r:id="rId175"/>
    <p:sldId id="1097" r:id="rId176"/>
    <p:sldId id="1073" r:id="rId177"/>
    <p:sldId id="1102" r:id="rId178"/>
    <p:sldId id="1098" r:id="rId179"/>
    <p:sldId id="1103" r:id="rId180"/>
    <p:sldId id="1100" r:id="rId181"/>
    <p:sldId id="1101" r:id="rId182"/>
    <p:sldId id="1092" r:id="rId183"/>
    <p:sldId id="1096" r:id="rId184"/>
    <p:sldId id="1111" r:id="rId185"/>
    <p:sldId id="1084" r:id="rId186"/>
    <p:sldId id="1106" r:id="rId187"/>
    <p:sldId id="1142" r:id="rId188"/>
    <p:sldId id="1085" r:id="rId189"/>
    <p:sldId id="1072" r:id="rId190"/>
    <p:sldId id="1143" r:id="rId191"/>
    <p:sldId id="1115" r:id="rId192"/>
    <p:sldId id="1122" r:id="rId193"/>
    <p:sldId id="1083" r:id="rId194"/>
    <p:sldId id="1087" r:id="rId195"/>
    <p:sldId id="1082" r:id="rId196"/>
    <p:sldId id="1116" r:id="rId197"/>
    <p:sldId id="1117" r:id="rId198"/>
    <p:sldId id="1118" r:id="rId199"/>
    <p:sldId id="1119" r:id="rId200"/>
    <p:sldId id="1120" r:id="rId201"/>
    <p:sldId id="1121" r:id="rId202"/>
    <p:sldId id="1112" r:id="rId203"/>
    <p:sldId id="1113" r:id="rId204"/>
    <p:sldId id="1144" r:id="rId205"/>
    <p:sldId id="1114" r:id="rId206"/>
    <p:sldId id="1145" r:id="rId207"/>
    <p:sldId id="1069" r:id="rId208"/>
    <p:sldId id="1126" r:id="rId209"/>
    <p:sldId id="1127" r:id="rId210"/>
    <p:sldId id="1133" r:id="rId211"/>
    <p:sldId id="1129" r:id="rId212"/>
    <p:sldId id="1130" r:id="rId213"/>
    <p:sldId id="1131" r:id="rId214"/>
    <p:sldId id="1128" r:id="rId215"/>
    <p:sldId id="1132" r:id="rId216"/>
    <p:sldId id="1134" r:id="rId217"/>
    <p:sldId id="1135" r:id="rId218"/>
    <p:sldId id="1136" r:id="rId219"/>
    <p:sldId id="1138" r:id="rId220"/>
    <p:sldId id="1137" r:id="rId221"/>
    <p:sldId id="1140" r:id="rId222"/>
    <p:sldId id="1141" r:id="rId223"/>
    <p:sldId id="1148" r:id="rId224"/>
    <p:sldId id="1149" r:id="rId225"/>
    <p:sldId id="1172" r:id="rId226"/>
    <p:sldId id="1152" r:id="rId227"/>
    <p:sldId id="1188" r:id="rId228"/>
    <p:sldId id="1189" r:id="rId229"/>
    <p:sldId id="1196" r:id="rId230"/>
    <p:sldId id="1183" r:id="rId231"/>
    <p:sldId id="1187" r:id="rId232"/>
    <p:sldId id="1184" r:id="rId233"/>
    <p:sldId id="1197" r:id="rId234"/>
    <p:sldId id="1193" r:id="rId235"/>
    <p:sldId id="1185" r:id="rId236"/>
    <p:sldId id="1198" r:id="rId237"/>
    <p:sldId id="1194" r:id="rId238"/>
    <p:sldId id="1186" r:id="rId239"/>
    <p:sldId id="1199" r:id="rId240"/>
    <p:sldId id="1195" r:id="rId241"/>
    <p:sldId id="1190" r:id="rId242"/>
    <p:sldId id="1153" r:id="rId243"/>
    <p:sldId id="1182" r:id="rId244"/>
    <p:sldId id="1174" r:id="rId245"/>
    <p:sldId id="1173" r:id="rId246"/>
    <p:sldId id="1176" r:id="rId247"/>
    <p:sldId id="1154" r:id="rId248"/>
    <p:sldId id="1156" r:id="rId249"/>
    <p:sldId id="1175" r:id="rId250"/>
    <p:sldId id="1155" r:id="rId251"/>
    <p:sldId id="1018" r:id="rId252"/>
    <p:sldId id="1158" r:id="rId253"/>
    <p:sldId id="1180" r:id="rId254"/>
    <p:sldId id="1177" r:id="rId255"/>
    <p:sldId id="1160" r:id="rId256"/>
    <p:sldId id="1161" r:id="rId257"/>
    <p:sldId id="1162" r:id="rId258"/>
    <p:sldId id="1179" r:id="rId259"/>
    <p:sldId id="1178" r:id="rId260"/>
    <p:sldId id="1159" r:id="rId261"/>
    <p:sldId id="1163" r:id="rId262"/>
    <p:sldId id="1165" r:id="rId263"/>
    <p:sldId id="1166" r:id="rId264"/>
    <p:sldId id="1168" r:id="rId265"/>
    <p:sldId id="1167" r:id="rId266"/>
    <p:sldId id="1045" r:id="rId267"/>
    <p:sldId id="1150" r:id="rId268"/>
    <p:sldId id="1088" r:id="rId269"/>
    <p:sldId id="1037" r:id="rId270"/>
    <p:sldId id="1047" r:id="rId271"/>
    <p:sldId id="1108" r:id="rId272"/>
    <p:sldId id="1089" r:id="rId273"/>
    <p:sldId id="1090" r:id="rId274"/>
    <p:sldId id="1091" r:id="rId275"/>
    <p:sldId id="1105" r:id="rId276"/>
    <p:sldId id="1107" r:id="rId277"/>
    <p:sldId id="806" r:id="rId278"/>
    <p:sldId id="1039" r:id="rId279"/>
    <p:sldId id="886" r:id="rId280"/>
    <p:sldId id="832" r:id="rId281"/>
    <p:sldId id="859" r:id="rId282"/>
    <p:sldId id="949" r:id="rId283"/>
    <p:sldId id="950" r:id="rId284"/>
    <p:sldId id="925" r:id="rId285"/>
    <p:sldId id="926" r:id="rId286"/>
    <p:sldId id="927" r:id="rId287"/>
    <p:sldId id="928" r:id="rId288"/>
    <p:sldId id="929" r:id="rId289"/>
    <p:sldId id="930" r:id="rId290"/>
    <p:sldId id="931" r:id="rId291"/>
    <p:sldId id="932" r:id="rId292"/>
    <p:sldId id="933" r:id="rId293"/>
    <p:sldId id="934" r:id="rId294"/>
    <p:sldId id="935" r:id="rId295"/>
    <p:sldId id="936" r:id="rId296"/>
    <p:sldId id="937" r:id="rId297"/>
    <p:sldId id="938" r:id="rId298"/>
    <p:sldId id="939" r:id="rId299"/>
    <p:sldId id="940" r:id="rId300"/>
    <p:sldId id="941" r:id="rId301"/>
    <p:sldId id="942" r:id="rId302"/>
    <p:sldId id="943" r:id="rId303"/>
    <p:sldId id="944" r:id="rId304"/>
    <p:sldId id="945" r:id="rId305"/>
    <p:sldId id="946" r:id="rId306"/>
    <p:sldId id="947" r:id="rId307"/>
    <p:sldId id="948" r:id="rId308"/>
    <p:sldId id="970" r:id="rId309"/>
    <p:sldId id="974" r:id="rId310"/>
    <p:sldId id="975" r:id="rId311"/>
    <p:sldId id="1079" r:id="rId312"/>
    <p:sldId id="1078" r:id="rId313"/>
    <p:sldId id="976" r:id="rId314"/>
    <p:sldId id="978" r:id="rId315"/>
    <p:sldId id="995" r:id="rId316"/>
    <p:sldId id="996" r:id="rId317"/>
    <p:sldId id="1000" r:id="rId318"/>
  </p:sldIdLst>
  <p:sldSz cx="12192000" cy="6858000"/>
  <p:notesSz cx="6858000" cy="9144000"/>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 id="{5F4AEA73-00F6-4617-B9D8-E6D23661E655}">
          <p14:sldIdLst>
            <p14:sldId id="826"/>
            <p14:sldId id="603"/>
            <p14:sldId id="1042"/>
            <p14:sldId id="1041"/>
            <p14:sldId id="1043"/>
            <p14:sldId id="1044"/>
            <p14:sldId id="1123"/>
            <p14:sldId id="1124"/>
            <p14:sldId id="1125"/>
            <p14:sldId id="1104"/>
            <p14:sldId id="377"/>
            <p14:sldId id="1169"/>
          </p14:sldIdLst>
        </p14:section>
        <p14:section name="Préambule : Les 3 couches de construction" id="{8083D3B0-F9E8-4165-B5A7-E674AF5CA24C}">
          <p14:sldIdLst>
            <p14:sldId id="827"/>
            <p14:sldId id="869"/>
            <p14:sldId id="870"/>
            <p14:sldId id="871"/>
          </p14:sldIdLst>
        </p14:section>
        <p14:section name="Intro Valeur" id="{616898E3-8345-4F39-BE23-91763BD4CEAD}">
          <p14:sldIdLst>
            <p14:sldId id="992"/>
            <p14:sldId id="822"/>
          </p14:sldIdLst>
        </p14:section>
        <p14:section name="A. Définition et valeur du format Communauté d'entreprise" id="{5FA61102-CDAA-4628-8102-A27B0EF6599F}">
          <p14:sldIdLst>
            <p14:sldId id="380"/>
            <p14:sldId id="966"/>
            <p14:sldId id="801"/>
            <p14:sldId id="800"/>
            <p14:sldId id="903"/>
            <p14:sldId id="904"/>
            <p14:sldId id="923"/>
            <p14:sldId id="967"/>
          </p14:sldIdLst>
        </p14:section>
        <p14:section name="B. Valeur d'être en Communauté vs en individu" id="{E39A0133-F5D5-466B-B9EC-780DBA0564D4}">
          <p14:sldIdLst/>
        </p14:section>
        <p14:section name="B1 Approche individuelle réunion communauté" id="{689AA570-D8CA-42EB-A37C-A9E25FD264FF}">
          <p14:sldIdLst>
            <p14:sldId id="965"/>
            <p14:sldId id="953"/>
            <p14:sldId id="963"/>
            <p14:sldId id="955"/>
            <p14:sldId id="956"/>
            <p14:sldId id="954"/>
            <p14:sldId id="981"/>
            <p14:sldId id="906"/>
          </p14:sldIdLst>
        </p14:section>
        <p14:section name="B2 La mise en commun des ressources" id="{CB0D7D6C-C873-47C3-AC4C-08B7D08142B4}">
          <p14:sldIdLst>
            <p14:sldId id="951"/>
            <p14:sldId id="973"/>
            <p14:sldId id="960"/>
            <p14:sldId id="969"/>
            <p14:sldId id="962"/>
            <p14:sldId id="952"/>
            <p14:sldId id="964"/>
            <p14:sldId id="972"/>
            <p14:sldId id="957"/>
            <p14:sldId id="968"/>
            <p14:sldId id="958"/>
            <p14:sldId id="971"/>
            <p14:sldId id="961"/>
          </p14:sldIdLst>
        </p14:section>
        <p14:section name="B3 La valeur de regrouper des personnes et leurs profils" id="{92001113-ED17-4857-B652-9A898816E914}">
          <p14:sldIdLst>
            <p14:sldId id="1048"/>
            <p14:sldId id="1056"/>
            <p14:sldId id="1057"/>
            <p14:sldId id="1054"/>
            <p14:sldId id="1049"/>
            <p14:sldId id="1055"/>
            <p14:sldId id="1053"/>
            <p14:sldId id="1059"/>
            <p14:sldId id="1058"/>
            <p14:sldId id="1064"/>
          </p14:sldIdLst>
        </p14:section>
        <p14:section name="C. Pour QUI est la Valeur des Communautés" id="{E1274CA4-4519-4A39-921B-F5A0B44A2E02}">
          <p14:sldIdLst>
            <p14:sldId id="905"/>
            <p14:sldId id="408"/>
            <p14:sldId id="1147"/>
          </p14:sldIdLst>
        </p14:section>
        <p14:section name="D. Valeur pour l'entreprise" id="{86EB9B44-DDFE-4787-B673-C342803BCB4F}">
          <p14:sldIdLst>
            <p14:sldId id="907"/>
            <p14:sldId id="471"/>
            <p14:sldId id="874"/>
            <p14:sldId id="834"/>
            <p14:sldId id="881"/>
            <p14:sldId id="884"/>
            <p14:sldId id="837"/>
            <p14:sldId id="878"/>
            <p14:sldId id="880"/>
          </p14:sldIdLst>
        </p14:section>
        <p14:section name="E. Valeur pour les membres" id="{DCB6C95C-F38C-4D88-A47D-D0391CFE9ADA}">
          <p14:sldIdLst>
            <p14:sldId id="909"/>
            <p14:sldId id="1031"/>
            <p14:sldId id="865"/>
            <p14:sldId id="1001"/>
            <p14:sldId id="830"/>
            <p14:sldId id="879"/>
            <p14:sldId id="993"/>
            <p14:sldId id="994"/>
            <p14:sldId id="838"/>
            <p14:sldId id="831"/>
            <p14:sldId id="1011"/>
            <p14:sldId id="916"/>
          </p14:sldIdLst>
        </p14:section>
        <p14:section name="F. Formuler la valeur" id="{2B0F6A9B-1D10-4FC6-AABA-D7596650D38B}">
          <p14:sldIdLst>
            <p14:sldId id="910"/>
            <p14:sldId id="385"/>
            <p14:sldId id="378"/>
            <p14:sldId id="911"/>
            <p14:sldId id="393"/>
            <p14:sldId id="399"/>
            <p14:sldId id="876"/>
          </p14:sldIdLst>
        </p14:section>
        <p14:section name="G. Les Sponsors de la Communauté" id="{6DB06EC1-212F-4534-84BA-DA79BFA2292C}">
          <p14:sldIdLst>
            <p14:sldId id="913"/>
            <p14:sldId id="868"/>
            <p14:sldId id="864"/>
            <p14:sldId id="817"/>
            <p14:sldId id="896"/>
            <p14:sldId id="883"/>
          </p14:sldIdLst>
        </p14:section>
        <p14:section name="H Décisions sur la valeur" id="{E2CC1BF9-C74F-490E-B69F-8386836EE189}">
          <p14:sldIdLst>
            <p14:sldId id="990"/>
            <p14:sldId id="1013"/>
            <p14:sldId id="1009"/>
            <p14:sldId id="1012"/>
            <p14:sldId id="1010"/>
            <p14:sldId id="1014"/>
          </p14:sldIdLst>
        </p14:section>
        <p14:section name="I Ajustement de la valeur et timing" id="{3F3BDE65-3E3D-49A2-94F3-FC5DF61A28AE}">
          <p14:sldIdLst>
            <p14:sldId id="1017"/>
            <p14:sldId id="853"/>
            <p14:sldId id="895"/>
            <p14:sldId id="917"/>
            <p14:sldId id="997"/>
            <p14:sldId id="998"/>
            <p14:sldId id="1026"/>
            <p14:sldId id="1002"/>
            <p14:sldId id="1003"/>
            <p14:sldId id="999"/>
            <p14:sldId id="1191"/>
          </p14:sldIdLst>
        </p14:section>
        <p14:section name="J Les blocages" id="{53E8D5BC-2A10-4ACB-A2E8-8D9F0A6DD88A}">
          <p14:sldIdLst>
            <p14:sldId id="867"/>
            <p14:sldId id="979"/>
            <p14:sldId id="984"/>
            <p14:sldId id="1080"/>
            <p14:sldId id="1081"/>
            <p14:sldId id="980"/>
            <p14:sldId id="987"/>
            <p14:sldId id="983"/>
            <p14:sldId id="986"/>
            <p14:sldId id="885"/>
            <p14:sldId id="890"/>
            <p14:sldId id="889"/>
            <p14:sldId id="893"/>
            <p14:sldId id="982"/>
            <p14:sldId id="888"/>
            <p14:sldId id="922"/>
          </p14:sldIdLst>
        </p14:section>
        <p14:section name="K Pressions" id="{F852E5B3-FF16-457D-9D8C-A49B9537DE09}">
          <p14:sldIdLst>
            <p14:sldId id="892"/>
            <p14:sldId id="897"/>
            <p14:sldId id="921"/>
            <p14:sldId id="852"/>
            <p14:sldId id="891"/>
            <p14:sldId id="863"/>
          </p14:sldIdLst>
        </p14:section>
        <p14:section name="L Les tensions" id="{C3BB02F8-27C6-4423-8027-423AE471394E}">
          <p14:sldIdLst>
            <p14:sldId id="855"/>
            <p14:sldId id="1065"/>
            <p14:sldId id="1025"/>
            <p14:sldId id="1027"/>
            <p14:sldId id="1028"/>
            <p14:sldId id="854"/>
            <p14:sldId id="989"/>
            <p14:sldId id="856"/>
            <p14:sldId id="988"/>
            <p14:sldId id="991"/>
          </p14:sldIdLst>
        </p14:section>
        <p14:section name="M Se renseigner sur la valeur" id="{994272EB-42B5-4791-BFDE-BA646C3CD80E}">
          <p14:sldIdLst>
            <p14:sldId id="1022"/>
            <p14:sldId id="1033"/>
            <p14:sldId id="1034"/>
            <p14:sldId id="1036"/>
            <p14:sldId id="1035"/>
            <p14:sldId id="900"/>
            <p14:sldId id="1067"/>
            <p14:sldId id="901"/>
            <p14:sldId id="902"/>
            <p14:sldId id="1060"/>
            <p14:sldId id="1061"/>
            <p14:sldId id="1062"/>
            <p14:sldId id="898"/>
            <p14:sldId id="899"/>
            <p14:sldId id="1032"/>
            <p14:sldId id="1040"/>
            <p14:sldId id="1038"/>
            <p14:sldId id="1021"/>
            <p14:sldId id="1077"/>
            <p14:sldId id="1030"/>
            <p14:sldId id="1066"/>
            <p14:sldId id="1029"/>
            <p14:sldId id="1046"/>
          </p14:sldIdLst>
        </p14:section>
        <p14:section name="N Prioriser" id="{10D5FC5E-56E1-4E63-BF2B-E3280245A072}">
          <p14:sldIdLst>
            <p14:sldId id="1070"/>
            <p14:sldId id="1075"/>
            <p14:sldId id="1076"/>
            <p14:sldId id="1071"/>
            <p14:sldId id="1109"/>
            <p14:sldId id="1097"/>
            <p14:sldId id="1073"/>
            <p14:sldId id="1102"/>
            <p14:sldId id="1098"/>
            <p14:sldId id="1103"/>
            <p14:sldId id="1100"/>
            <p14:sldId id="1101"/>
            <p14:sldId id="1092"/>
            <p14:sldId id="1096"/>
            <p14:sldId id="1111"/>
            <p14:sldId id="1084"/>
            <p14:sldId id="1106"/>
            <p14:sldId id="1142"/>
            <p14:sldId id="1085"/>
            <p14:sldId id="1072"/>
            <p14:sldId id="1143"/>
            <p14:sldId id="1115"/>
            <p14:sldId id="1122"/>
            <p14:sldId id="1083"/>
            <p14:sldId id="1087"/>
            <p14:sldId id="1082"/>
            <p14:sldId id="1116"/>
            <p14:sldId id="1117"/>
            <p14:sldId id="1118"/>
            <p14:sldId id="1119"/>
            <p14:sldId id="1120"/>
            <p14:sldId id="1121"/>
            <p14:sldId id="1112"/>
            <p14:sldId id="1113"/>
            <p14:sldId id="1144"/>
            <p14:sldId id="1114"/>
          </p14:sldIdLst>
        </p14:section>
        <p14:section name="O Résumé Synthèse" id="{D8EBD8C5-4A98-4CD3-A48A-A4CD06F808C1}">
          <p14:sldIdLst>
            <p14:sldId id="1145"/>
            <p14:sldId id="1069"/>
            <p14:sldId id="1126"/>
            <p14:sldId id="1127"/>
            <p14:sldId id="1133"/>
            <p14:sldId id="1129"/>
            <p14:sldId id="1130"/>
            <p14:sldId id="1131"/>
            <p14:sldId id="1128"/>
            <p14:sldId id="1132"/>
            <p14:sldId id="1134"/>
            <p14:sldId id="1135"/>
            <p14:sldId id="1136"/>
            <p14:sldId id="1138"/>
            <p14:sldId id="1137"/>
            <p14:sldId id="1140"/>
            <p14:sldId id="1141"/>
            <p14:sldId id="1148"/>
          </p14:sldIdLst>
        </p14:section>
        <p14:section name="P Formules toutes prêtes de communautés" id="{CF379716-5494-431F-ABD1-A4772547CBE4}">
          <p14:sldIdLst>
            <p14:sldId id="1149"/>
            <p14:sldId id="1172"/>
            <p14:sldId id="1152"/>
            <p14:sldId id="1188"/>
            <p14:sldId id="1189"/>
            <p14:sldId id="1196"/>
            <p14:sldId id="1183"/>
            <p14:sldId id="1187"/>
            <p14:sldId id="1184"/>
            <p14:sldId id="1197"/>
            <p14:sldId id="1193"/>
            <p14:sldId id="1185"/>
            <p14:sldId id="1198"/>
            <p14:sldId id="1194"/>
            <p14:sldId id="1186"/>
            <p14:sldId id="1199"/>
            <p14:sldId id="1195"/>
            <p14:sldId id="1190"/>
            <p14:sldId id="1153"/>
            <p14:sldId id="1182"/>
            <p14:sldId id="1174"/>
            <p14:sldId id="1173"/>
            <p14:sldId id="1176"/>
            <p14:sldId id="1154"/>
            <p14:sldId id="1156"/>
            <p14:sldId id="1175"/>
            <p14:sldId id="1155"/>
            <p14:sldId id="1018"/>
            <p14:sldId id="1158"/>
            <p14:sldId id="1180"/>
            <p14:sldId id="1177"/>
            <p14:sldId id="1160"/>
            <p14:sldId id="1161"/>
            <p14:sldId id="1162"/>
            <p14:sldId id="1179"/>
            <p14:sldId id="1178"/>
            <p14:sldId id="1159"/>
            <p14:sldId id="1163"/>
            <p14:sldId id="1165"/>
            <p14:sldId id="1166"/>
            <p14:sldId id="1168"/>
            <p14:sldId id="1167"/>
            <p14:sldId id="1045"/>
          </p14:sldIdLst>
        </p14:section>
        <p14:section name="Limites et motivations à aller plus loin" id="{7100E4E5-2F59-4CFE-A9C1-E29FE2C74AA5}">
          <p14:sldIdLst>
            <p14:sldId id="1150"/>
            <p14:sldId id="1088"/>
            <p14:sldId id="1037"/>
            <p14:sldId id="1047"/>
            <p14:sldId id="1108"/>
            <p14:sldId id="1089"/>
            <p14:sldId id="1090"/>
            <p14:sldId id="1091"/>
            <p14:sldId id="1105"/>
            <p14:sldId id="1107"/>
          </p14:sldIdLst>
        </p14:section>
        <p14:section name="Annexes" id="{FF7ECE53-F6D1-4021-94B4-C62ACABCA48F}">
          <p14:sldIdLst>
            <p14:sldId id="806"/>
          </p14:sldIdLst>
        </p14:section>
        <p14:section name="Templates pour exercices" id="{0C3574F6-CD28-403E-843F-9846A0426AB2}">
          <p14:sldIdLst>
            <p14:sldId id="1039"/>
            <p14:sldId id="886"/>
            <p14:sldId id="832"/>
            <p14:sldId id="859"/>
            <p14:sldId id="949"/>
            <p14:sldId id="950"/>
          </p14:sldIdLst>
        </p14:section>
        <p14:section name="Exercices d'analyse ou d'application" id="{444CB47B-CA9E-458F-BAA4-3AF50061B99B}">
          <p14:sldIdLst>
            <p14:sldId id="925"/>
            <p14:sldId id="926"/>
            <p14:sldId id="927"/>
            <p14:sldId id="928"/>
            <p14:sldId id="929"/>
            <p14:sldId id="930"/>
            <p14:sldId id="931"/>
            <p14:sldId id="932"/>
            <p14:sldId id="933"/>
            <p14:sldId id="934"/>
            <p14:sldId id="935"/>
            <p14:sldId id="936"/>
            <p14:sldId id="937"/>
            <p14:sldId id="938"/>
            <p14:sldId id="939"/>
            <p14:sldId id="940"/>
            <p14:sldId id="941"/>
            <p14:sldId id="942"/>
            <p14:sldId id="943"/>
            <p14:sldId id="944"/>
            <p14:sldId id="945"/>
            <p14:sldId id="946"/>
            <p14:sldId id="947"/>
            <p14:sldId id="948"/>
            <p14:sldId id="970"/>
            <p14:sldId id="974"/>
            <p14:sldId id="975"/>
            <p14:sldId id="1079"/>
            <p14:sldId id="1078"/>
            <p14:sldId id="976"/>
            <p14:sldId id="978"/>
            <p14:sldId id="995"/>
            <p14:sldId id="996"/>
            <p14:sldId id="1000"/>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B050"/>
    <a:srgbClr val="FF0000"/>
    <a:srgbClr val="ED7D31"/>
    <a:srgbClr val="3494BA"/>
    <a:srgbClr val="000000"/>
    <a:srgbClr val="FF7C80"/>
    <a:srgbClr val="54FFB3"/>
    <a:srgbClr val="FF9999"/>
    <a:srgbClr val="CC99FF"/>
    <a:srgbClr val="27232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8CC0104-28B6-4101-BFF6-AE6725BC4778}" v="193" dt="2023-01-11T14:50:30.706"/>
  </p1510:revLst>
</p1510:revInfo>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Style moyen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8872" autoAdjust="0"/>
    <p:restoredTop sz="96357" autoAdjust="0"/>
  </p:normalViewPr>
  <p:slideViewPr>
    <p:cSldViewPr snapToGrid="0">
      <p:cViewPr varScale="1">
        <p:scale>
          <a:sx n="105" d="100"/>
          <a:sy n="105" d="100"/>
        </p:scale>
        <p:origin x="68" y="8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99" Type="http://schemas.openxmlformats.org/officeDocument/2006/relationships/slide" Target="slides/slide295.xml"/><Relationship Id="rId21" Type="http://schemas.openxmlformats.org/officeDocument/2006/relationships/slide" Target="slides/slide17.xml"/><Relationship Id="rId63" Type="http://schemas.openxmlformats.org/officeDocument/2006/relationships/slide" Target="slides/slide59.xml"/><Relationship Id="rId159" Type="http://schemas.openxmlformats.org/officeDocument/2006/relationships/slide" Target="slides/slide155.xml"/><Relationship Id="rId324" Type="http://schemas.microsoft.com/office/2015/10/relationships/revisionInfo" Target="revisionInfo.xml"/><Relationship Id="rId170" Type="http://schemas.openxmlformats.org/officeDocument/2006/relationships/slide" Target="slides/slide166.xml"/><Relationship Id="rId226" Type="http://schemas.openxmlformats.org/officeDocument/2006/relationships/slide" Target="slides/slide222.xml"/><Relationship Id="rId268" Type="http://schemas.openxmlformats.org/officeDocument/2006/relationships/slide" Target="slides/slide264.xml"/><Relationship Id="rId32" Type="http://schemas.openxmlformats.org/officeDocument/2006/relationships/slide" Target="slides/slide28.xml"/><Relationship Id="rId74" Type="http://schemas.openxmlformats.org/officeDocument/2006/relationships/slide" Target="slides/slide70.xml"/><Relationship Id="rId128" Type="http://schemas.openxmlformats.org/officeDocument/2006/relationships/slide" Target="slides/slide124.xml"/><Relationship Id="rId5" Type="http://schemas.openxmlformats.org/officeDocument/2006/relationships/slide" Target="slides/slide1.xml"/><Relationship Id="rId181" Type="http://schemas.openxmlformats.org/officeDocument/2006/relationships/slide" Target="slides/slide177.xml"/><Relationship Id="rId237" Type="http://schemas.openxmlformats.org/officeDocument/2006/relationships/slide" Target="slides/slide233.xml"/><Relationship Id="rId279" Type="http://schemas.openxmlformats.org/officeDocument/2006/relationships/slide" Target="slides/slide275.xml"/><Relationship Id="rId43" Type="http://schemas.openxmlformats.org/officeDocument/2006/relationships/slide" Target="slides/slide39.xml"/><Relationship Id="rId139" Type="http://schemas.openxmlformats.org/officeDocument/2006/relationships/slide" Target="slides/slide135.xml"/><Relationship Id="rId290" Type="http://schemas.openxmlformats.org/officeDocument/2006/relationships/slide" Target="slides/slide286.xml"/><Relationship Id="rId304" Type="http://schemas.openxmlformats.org/officeDocument/2006/relationships/slide" Target="slides/slide300.xml"/><Relationship Id="rId85" Type="http://schemas.openxmlformats.org/officeDocument/2006/relationships/slide" Target="slides/slide81.xml"/><Relationship Id="rId150" Type="http://schemas.openxmlformats.org/officeDocument/2006/relationships/slide" Target="slides/slide146.xml"/><Relationship Id="rId192" Type="http://schemas.openxmlformats.org/officeDocument/2006/relationships/slide" Target="slides/slide188.xml"/><Relationship Id="rId206" Type="http://schemas.openxmlformats.org/officeDocument/2006/relationships/slide" Target="slides/slide202.xml"/><Relationship Id="rId248" Type="http://schemas.openxmlformats.org/officeDocument/2006/relationships/slide" Target="slides/slide244.xml"/><Relationship Id="rId12" Type="http://schemas.openxmlformats.org/officeDocument/2006/relationships/slide" Target="slides/slide8.xml"/><Relationship Id="rId108" Type="http://schemas.openxmlformats.org/officeDocument/2006/relationships/slide" Target="slides/slide104.xml"/><Relationship Id="rId315" Type="http://schemas.openxmlformats.org/officeDocument/2006/relationships/slide" Target="slides/slide311.xml"/><Relationship Id="rId54" Type="http://schemas.openxmlformats.org/officeDocument/2006/relationships/slide" Target="slides/slide50.xml"/><Relationship Id="rId96" Type="http://schemas.openxmlformats.org/officeDocument/2006/relationships/slide" Target="slides/slide92.xml"/><Relationship Id="rId161" Type="http://schemas.openxmlformats.org/officeDocument/2006/relationships/slide" Target="slides/slide157.xml"/><Relationship Id="rId217" Type="http://schemas.openxmlformats.org/officeDocument/2006/relationships/slide" Target="slides/slide213.xml"/><Relationship Id="rId259" Type="http://schemas.openxmlformats.org/officeDocument/2006/relationships/slide" Target="slides/slide255.xml"/><Relationship Id="rId23" Type="http://schemas.openxmlformats.org/officeDocument/2006/relationships/slide" Target="slides/slide19.xml"/><Relationship Id="rId119" Type="http://schemas.openxmlformats.org/officeDocument/2006/relationships/slide" Target="slides/slide115.xml"/><Relationship Id="rId270" Type="http://schemas.openxmlformats.org/officeDocument/2006/relationships/slide" Target="slides/slide266.xml"/><Relationship Id="rId65" Type="http://schemas.openxmlformats.org/officeDocument/2006/relationships/slide" Target="slides/slide61.xml"/><Relationship Id="rId130" Type="http://schemas.openxmlformats.org/officeDocument/2006/relationships/slide" Target="slides/slide126.xml"/><Relationship Id="rId172" Type="http://schemas.openxmlformats.org/officeDocument/2006/relationships/slide" Target="slides/slide168.xml"/><Relationship Id="rId228" Type="http://schemas.openxmlformats.org/officeDocument/2006/relationships/slide" Target="slides/slide224.xml"/><Relationship Id="rId281" Type="http://schemas.openxmlformats.org/officeDocument/2006/relationships/slide" Target="slides/slide277.xml"/><Relationship Id="rId34" Type="http://schemas.openxmlformats.org/officeDocument/2006/relationships/slide" Target="slides/slide30.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20" Type="http://schemas.openxmlformats.org/officeDocument/2006/relationships/slide" Target="slides/slide116.xml"/><Relationship Id="rId141" Type="http://schemas.openxmlformats.org/officeDocument/2006/relationships/slide" Target="slides/slide137.xml"/><Relationship Id="rId7" Type="http://schemas.openxmlformats.org/officeDocument/2006/relationships/slide" Target="slides/slide3.xml"/><Relationship Id="rId162" Type="http://schemas.openxmlformats.org/officeDocument/2006/relationships/slide" Target="slides/slide158.xml"/><Relationship Id="rId183" Type="http://schemas.openxmlformats.org/officeDocument/2006/relationships/slide" Target="slides/slide179.xml"/><Relationship Id="rId218" Type="http://schemas.openxmlformats.org/officeDocument/2006/relationships/slide" Target="slides/slide214.xml"/><Relationship Id="rId239" Type="http://schemas.openxmlformats.org/officeDocument/2006/relationships/slide" Target="slides/slide235.xml"/><Relationship Id="rId250" Type="http://schemas.openxmlformats.org/officeDocument/2006/relationships/slide" Target="slides/slide246.xml"/><Relationship Id="rId271" Type="http://schemas.openxmlformats.org/officeDocument/2006/relationships/slide" Target="slides/slide267.xml"/><Relationship Id="rId292" Type="http://schemas.openxmlformats.org/officeDocument/2006/relationships/slide" Target="slides/slide288.xml"/><Relationship Id="rId306" Type="http://schemas.openxmlformats.org/officeDocument/2006/relationships/slide" Target="slides/slide302.xml"/><Relationship Id="rId24" Type="http://schemas.openxmlformats.org/officeDocument/2006/relationships/slide" Target="slides/slide20.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31" Type="http://schemas.openxmlformats.org/officeDocument/2006/relationships/slide" Target="slides/slide127.xml"/><Relationship Id="rId152" Type="http://schemas.openxmlformats.org/officeDocument/2006/relationships/slide" Target="slides/slide148.xml"/><Relationship Id="rId173" Type="http://schemas.openxmlformats.org/officeDocument/2006/relationships/slide" Target="slides/slide169.xml"/><Relationship Id="rId194" Type="http://schemas.openxmlformats.org/officeDocument/2006/relationships/slide" Target="slides/slide190.xml"/><Relationship Id="rId208" Type="http://schemas.openxmlformats.org/officeDocument/2006/relationships/slide" Target="slides/slide204.xml"/><Relationship Id="rId229" Type="http://schemas.openxmlformats.org/officeDocument/2006/relationships/slide" Target="slides/slide225.xml"/><Relationship Id="rId240" Type="http://schemas.openxmlformats.org/officeDocument/2006/relationships/slide" Target="slides/slide236.xml"/><Relationship Id="rId261" Type="http://schemas.openxmlformats.org/officeDocument/2006/relationships/slide" Target="slides/slide257.xml"/><Relationship Id="rId14" Type="http://schemas.openxmlformats.org/officeDocument/2006/relationships/slide" Target="slides/slide10.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282" Type="http://schemas.openxmlformats.org/officeDocument/2006/relationships/slide" Target="slides/slide278.xml"/><Relationship Id="rId317" Type="http://schemas.openxmlformats.org/officeDocument/2006/relationships/slide" Target="slides/slide313.xml"/><Relationship Id="rId8" Type="http://schemas.openxmlformats.org/officeDocument/2006/relationships/slide" Target="slides/slide4.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184" Type="http://schemas.openxmlformats.org/officeDocument/2006/relationships/slide" Target="slides/slide180.xml"/><Relationship Id="rId219" Type="http://schemas.openxmlformats.org/officeDocument/2006/relationships/slide" Target="slides/slide215.xml"/><Relationship Id="rId230" Type="http://schemas.openxmlformats.org/officeDocument/2006/relationships/slide" Target="slides/slide226.xml"/><Relationship Id="rId251" Type="http://schemas.openxmlformats.org/officeDocument/2006/relationships/slide" Target="slides/slide247.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272" Type="http://schemas.openxmlformats.org/officeDocument/2006/relationships/slide" Target="slides/slide268.xml"/><Relationship Id="rId293" Type="http://schemas.openxmlformats.org/officeDocument/2006/relationships/slide" Target="slides/slide289.xml"/><Relationship Id="rId307" Type="http://schemas.openxmlformats.org/officeDocument/2006/relationships/slide" Target="slides/slide303.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slide" Target="slides/slide170.xml"/><Relationship Id="rId195" Type="http://schemas.openxmlformats.org/officeDocument/2006/relationships/slide" Target="slides/slide191.xml"/><Relationship Id="rId209" Type="http://schemas.openxmlformats.org/officeDocument/2006/relationships/slide" Target="slides/slide205.xml"/><Relationship Id="rId220" Type="http://schemas.openxmlformats.org/officeDocument/2006/relationships/slide" Target="slides/slide216.xml"/><Relationship Id="rId241" Type="http://schemas.openxmlformats.org/officeDocument/2006/relationships/slide" Target="slides/slide237.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262" Type="http://schemas.openxmlformats.org/officeDocument/2006/relationships/slide" Target="slides/slide258.xml"/><Relationship Id="rId283" Type="http://schemas.openxmlformats.org/officeDocument/2006/relationships/slide" Target="slides/slide279.xml"/><Relationship Id="rId318" Type="http://schemas.openxmlformats.org/officeDocument/2006/relationships/slide" Target="slides/slide314.xml"/><Relationship Id="rId78" Type="http://schemas.openxmlformats.org/officeDocument/2006/relationships/slide" Target="slides/slide74.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64" Type="http://schemas.openxmlformats.org/officeDocument/2006/relationships/slide" Target="slides/slide160.xml"/><Relationship Id="rId185" Type="http://schemas.openxmlformats.org/officeDocument/2006/relationships/slide" Target="slides/slide181.xml"/><Relationship Id="rId9" Type="http://schemas.openxmlformats.org/officeDocument/2006/relationships/slide" Target="slides/slide5.xml"/><Relationship Id="rId210" Type="http://schemas.openxmlformats.org/officeDocument/2006/relationships/slide" Target="slides/slide206.xml"/><Relationship Id="rId26" Type="http://schemas.openxmlformats.org/officeDocument/2006/relationships/slide" Target="slides/slide22.xml"/><Relationship Id="rId231" Type="http://schemas.openxmlformats.org/officeDocument/2006/relationships/slide" Target="slides/slide227.xml"/><Relationship Id="rId252" Type="http://schemas.openxmlformats.org/officeDocument/2006/relationships/slide" Target="slides/slide248.xml"/><Relationship Id="rId273" Type="http://schemas.openxmlformats.org/officeDocument/2006/relationships/slide" Target="slides/slide269.xml"/><Relationship Id="rId294" Type="http://schemas.openxmlformats.org/officeDocument/2006/relationships/slide" Target="slides/slide290.xml"/><Relationship Id="rId308" Type="http://schemas.openxmlformats.org/officeDocument/2006/relationships/slide" Target="slides/slide304.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221" Type="http://schemas.openxmlformats.org/officeDocument/2006/relationships/slide" Target="slides/slide217.xml"/><Relationship Id="rId242" Type="http://schemas.openxmlformats.org/officeDocument/2006/relationships/slide" Target="slides/slide238.xml"/><Relationship Id="rId263" Type="http://schemas.openxmlformats.org/officeDocument/2006/relationships/slide" Target="slides/slide259.xml"/><Relationship Id="rId284" Type="http://schemas.openxmlformats.org/officeDocument/2006/relationships/slide" Target="slides/slide280.xml"/><Relationship Id="rId319" Type="http://schemas.openxmlformats.org/officeDocument/2006/relationships/notesMaster" Target="notesMasters/notesMaster1.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211" Type="http://schemas.openxmlformats.org/officeDocument/2006/relationships/slide" Target="slides/slide207.xml"/><Relationship Id="rId232" Type="http://schemas.openxmlformats.org/officeDocument/2006/relationships/slide" Target="slides/slide228.xml"/><Relationship Id="rId253" Type="http://schemas.openxmlformats.org/officeDocument/2006/relationships/slide" Target="slides/slide249.xml"/><Relationship Id="rId274" Type="http://schemas.openxmlformats.org/officeDocument/2006/relationships/slide" Target="slides/slide270.xml"/><Relationship Id="rId295" Type="http://schemas.openxmlformats.org/officeDocument/2006/relationships/slide" Target="slides/slide291.xml"/><Relationship Id="rId309" Type="http://schemas.openxmlformats.org/officeDocument/2006/relationships/slide" Target="slides/slide305.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320" Type="http://schemas.openxmlformats.org/officeDocument/2006/relationships/presProps" Target="presProps.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222" Type="http://schemas.openxmlformats.org/officeDocument/2006/relationships/slide" Target="slides/slide218.xml"/><Relationship Id="rId243" Type="http://schemas.openxmlformats.org/officeDocument/2006/relationships/slide" Target="slides/slide239.xml"/><Relationship Id="rId264" Type="http://schemas.openxmlformats.org/officeDocument/2006/relationships/slide" Target="slides/slide260.xml"/><Relationship Id="rId285" Type="http://schemas.openxmlformats.org/officeDocument/2006/relationships/slide" Target="slides/slide281.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310" Type="http://schemas.openxmlformats.org/officeDocument/2006/relationships/slide" Target="slides/slide306.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slide" Target="slides/slide229.xml"/><Relationship Id="rId254" Type="http://schemas.openxmlformats.org/officeDocument/2006/relationships/slide" Target="slides/slide250.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275" Type="http://schemas.openxmlformats.org/officeDocument/2006/relationships/slide" Target="slides/slide271.xml"/><Relationship Id="rId296" Type="http://schemas.openxmlformats.org/officeDocument/2006/relationships/slide" Target="slides/slide292.xml"/><Relationship Id="rId300" Type="http://schemas.openxmlformats.org/officeDocument/2006/relationships/slide" Target="slides/slide296.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321" Type="http://schemas.openxmlformats.org/officeDocument/2006/relationships/viewProps" Target="viewProps.xml"/><Relationship Id="rId202" Type="http://schemas.openxmlformats.org/officeDocument/2006/relationships/slide" Target="slides/slide198.xml"/><Relationship Id="rId223" Type="http://schemas.openxmlformats.org/officeDocument/2006/relationships/slide" Target="slides/slide219.xml"/><Relationship Id="rId244" Type="http://schemas.openxmlformats.org/officeDocument/2006/relationships/slide" Target="slides/slide240.xml"/><Relationship Id="rId18" Type="http://schemas.openxmlformats.org/officeDocument/2006/relationships/slide" Target="slides/slide14.xml"/><Relationship Id="rId39" Type="http://schemas.openxmlformats.org/officeDocument/2006/relationships/slide" Target="slides/slide35.xml"/><Relationship Id="rId265" Type="http://schemas.openxmlformats.org/officeDocument/2006/relationships/slide" Target="slides/slide261.xml"/><Relationship Id="rId286" Type="http://schemas.openxmlformats.org/officeDocument/2006/relationships/slide" Target="slides/slide282.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311" Type="http://schemas.openxmlformats.org/officeDocument/2006/relationships/slide" Target="slides/slide307.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255" Type="http://schemas.openxmlformats.org/officeDocument/2006/relationships/slide" Target="slides/slide251.xml"/><Relationship Id="rId276" Type="http://schemas.openxmlformats.org/officeDocument/2006/relationships/slide" Target="slides/slide272.xml"/><Relationship Id="rId297" Type="http://schemas.openxmlformats.org/officeDocument/2006/relationships/slide" Target="slides/slide293.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301" Type="http://schemas.openxmlformats.org/officeDocument/2006/relationships/slide" Target="slides/slide297.xml"/><Relationship Id="rId322" Type="http://schemas.openxmlformats.org/officeDocument/2006/relationships/theme" Target="theme/theme1.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19" Type="http://schemas.openxmlformats.org/officeDocument/2006/relationships/slide" Target="slides/slide15.xml"/><Relationship Id="rId224" Type="http://schemas.openxmlformats.org/officeDocument/2006/relationships/slide" Target="slides/slide220.xml"/><Relationship Id="rId245" Type="http://schemas.openxmlformats.org/officeDocument/2006/relationships/slide" Target="slides/slide241.xml"/><Relationship Id="rId266" Type="http://schemas.openxmlformats.org/officeDocument/2006/relationships/slide" Target="slides/slide262.xml"/><Relationship Id="rId287" Type="http://schemas.openxmlformats.org/officeDocument/2006/relationships/slide" Target="slides/slide283.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312" Type="http://schemas.openxmlformats.org/officeDocument/2006/relationships/slide" Target="slides/slide308.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slide" Target="slides/slide231.xml"/><Relationship Id="rId256" Type="http://schemas.openxmlformats.org/officeDocument/2006/relationships/slide" Target="slides/slide252.xml"/><Relationship Id="rId277" Type="http://schemas.openxmlformats.org/officeDocument/2006/relationships/slide" Target="slides/slide273.xml"/><Relationship Id="rId298" Type="http://schemas.openxmlformats.org/officeDocument/2006/relationships/slide" Target="slides/slide294.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302" Type="http://schemas.openxmlformats.org/officeDocument/2006/relationships/slide" Target="slides/slide298.xml"/><Relationship Id="rId323" Type="http://schemas.openxmlformats.org/officeDocument/2006/relationships/tableStyles" Target="tableStyles.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267" Type="http://schemas.openxmlformats.org/officeDocument/2006/relationships/slide" Target="slides/slide263.xml"/><Relationship Id="rId288" Type="http://schemas.openxmlformats.org/officeDocument/2006/relationships/slide" Target="slides/slide284.xml"/><Relationship Id="rId106" Type="http://schemas.openxmlformats.org/officeDocument/2006/relationships/slide" Target="slides/slide102.xml"/><Relationship Id="rId127" Type="http://schemas.openxmlformats.org/officeDocument/2006/relationships/slide" Target="slides/slide123.xml"/><Relationship Id="rId313" Type="http://schemas.openxmlformats.org/officeDocument/2006/relationships/slide" Target="slides/slide309.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257" Type="http://schemas.openxmlformats.org/officeDocument/2006/relationships/slide" Target="slides/slide253.xml"/><Relationship Id="rId278" Type="http://schemas.openxmlformats.org/officeDocument/2006/relationships/slide" Target="slides/slide274.xml"/><Relationship Id="rId303" Type="http://schemas.openxmlformats.org/officeDocument/2006/relationships/slide" Target="slides/slide299.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107" Type="http://schemas.openxmlformats.org/officeDocument/2006/relationships/slide" Target="slides/slide103.xml"/><Relationship Id="rId289" Type="http://schemas.openxmlformats.org/officeDocument/2006/relationships/slide" Target="slides/slide285.xml"/><Relationship Id="rId11" Type="http://schemas.openxmlformats.org/officeDocument/2006/relationships/slide" Target="slides/slide7.xml"/><Relationship Id="rId53" Type="http://schemas.openxmlformats.org/officeDocument/2006/relationships/slide" Target="slides/slide49.xml"/><Relationship Id="rId149" Type="http://schemas.openxmlformats.org/officeDocument/2006/relationships/slide" Target="slides/slide145.xml"/><Relationship Id="rId314" Type="http://schemas.openxmlformats.org/officeDocument/2006/relationships/slide" Target="slides/slide310.xml"/><Relationship Id="rId95" Type="http://schemas.openxmlformats.org/officeDocument/2006/relationships/slide" Target="slides/slide91.xml"/><Relationship Id="rId160" Type="http://schemas.openxmlformats.org/officeDocument/2006/relationships/slide" Target="slides/slide156.xml"/><Relationship Id="rId216" Type="http://schemas.openxmlformats.org/officeDocument/2006/relationships/slide" Target="slides/slide212.xml"/><Relationship Id="rId258" Type="http://schemas.openxmlformats.org/officeDocument/2006/relationships/slide" Target="slides/slide254.xml"/><Relationship Id="rId22" Type="http://schemas.openxmlformats.org/officeDocument/2006/relationships/slide" Target="slides/slide18.xml"/><Relationship Id="rId64" Type="http://schemas.openxmlformats.org/officeDocument/2006/relationships/slide" Target="slides/slide60.xml"/><Relationship Id="rId118" Type="http://schemas.openxmlformats.org/officeDocument/2006/relationships/slide" Target="slides/slide114.xml"/><Relationship Id="rId171" Type="http://schemas.openxmlformats.org/officeDocument/2006/relationships/slide" Target="slides/slide167.xml"/><Relationship Id="rId227" Type="http://schemas.openxmlformats.org/officeDocument/2006/relationships/slide" Target="slides/slide223.xml"/><Relationship Id="rId269" Type="http://schemas.openxmlformats.org/officeDocument/2006/relationships/slide" Target="slides/slide265.xml"/><Relationship Id="rId33" Type="http://schemas.openxmlformats.org/officeDocument/2006/relationships/slide" Target="slides/slide29.xml"/><Relationship Id="rId129" Type="http://schemas.openxmlformats.org/officeDocument/2006/relationships/slide" Target="slides/slide125.xml"/><Relationship Id="rId280" Type="http://schemas.openxmlformats.org/officeDocument/2006/relationships/slide" Target="slides/slide276.xml"/><Relationship Id="rId75" Type="http://schemas.openxmlformats.org/officeDocument/2006/relationships/slide" Target="slides/slide71.xml"/><Relationship Id="rId140" Type="http://schemas.openxmlformats.org/officeDocument/2006/relationships/slide" Target="slides/slide136.xml"/><Relationship Id="rId182" Type="http://schemas.openxmlformats.org/officeDocument/2006/relationships/slide" Target="slides/slide178.xml"/><Relationship Id="rId6" Type="http://schemas.openxmlformats.org/officeDocument/2006/relationships/slide" Target="slides/slide2.xml"/><Relationship Id="rId238" Type="http://schemas.openxmlformats.org/officeDocument/2006/relationships/slide" Target="slides/slide234.xml"/><Relationship Id="rId291" Type="http://schemas.openxmlformats.org/officeDocument/2006/relationships/slide" Target="slides/slide287.xml"/><Relationship Id="rId305" Type="http://schemas.openxmlformats.org/officeDocument/2006/relationships/slide" Target="slides/slide301.xml"/><Relationship Id="rId44" Type="http://schemas.openxmlformats.org/officeDocument/2006/relationships/slide" Target="slides/slide40.xml"/><Relationship Id="rId86" Type="http://schemas.openxmlformats.org/officeDocument/2006/relationships/slide" Target="slides/slide82.xml"/><Relationship Id="rId151" Type="http://schemas.openxmlformats.org/officeDocument/2006/relationships/slide" Target="slides/slide147.xml"/><Relationship Id="rId193" Type="http://schemas.openxmlformats.org/officeDocument/2006/relationships/slide" Target="slides/slide189.xml"/><Relationship Id="rId207" Type="http://schemas.openxmlformats.org/officeDocument/2006/relationships/slide" Target="slides/slide203.xml"/><Relationship Id="rId249" Type="http://schemas.openxmlformats.org/officeDocument/2006/relationships/slide" Target="slides/slide245.xml"/><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316" Type="http://schemas.openxmlformats.org/officeDocument/2006/relationships/slide" Target="slides/slide3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2F9164B-099A-4BA3-A674-53A4E2D1A9AE}" type="datetimeFigureOut">
              <a:rPr lang="fr-FR" smtClean="0"/>
              <a:t>11/01/2023</a:t>
            </a:fld>
            <a:endParaRPr lang="fr-FR"/>
          </a:p>
        </p:txBody>
      </p:sp>
      <p:sp>
        <p:nvSpPr>
          <p:cNvPr id="4" name="Espace réservé de l'image des diapositives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not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2C7D3E9-C998-48B1-9C76-66439A2B5064}" type="slidenum">
              <a:rPr lang="fr-FR" smtClean="0"/>
              <a:t>‹N›</a:t>
            </a:fld>
            <a:endParaRPr lang="fr-FR"/>
          </a:p>
        </p:txBody>
      </p:sp>
    </p:spTree>
    <p:extLst>
      <p:ext uri="{BB962C8B-B14F-4D97-AF65-F5344CB8AC3E}">
        <p14:creationId xmlns:p14="http://schemas.microsoft.com/office/powerpoint/2010/main" val="260498036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116</a:t>
            </a:fld>
            <a:endParaRPr lang="fr-FR"/>
          </a:p>
        </p:txBody>
      </p:sp>
    </p:spTree>
    <p:extLst>
      <p:ext uri="{BB962C8B-B14F-4D97-AF65-F5344CB8AC3E}">
        <p14:creationId xmlns:p14="http://schemas.microsoft.com/office/powerpoint/2010/main" val="1645552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158</a:t>
            </a:fld>
            <a:endParaRPr lang="fr-FR" dirty="0"/>
          </a:p>
        </p:txBody>
      </p:sp>
    </p:spTree>
    <p:extLst>
      <p:ext uri="{BB962C8B-B14F-4D97-AF65-F5344CB8AC3E}">
        <p14:creationId xmlns:p14="http://schemas.microsoft.com/office/powerpoint/2010/main" val="193989447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163</a:t>
            </a:fld>
            <a:endParaRPr lang="fr-FR"/>
          </a:p>
        </p:txBody>
      </p:sp>
    </p:spTree>
    <p:extLst>
      <p:ext uri="{BB962C8B-B14F-4D97-AF65-F5344CB8AC3E}">
        <p14:creationId xmlns:p14="http://schemas.microsoft.com/office/powerpoint/2010/main" val="6084227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245</a:t>
            </a:fld>
            <a:endParaRPr lang="fr-FR"/>
          </a:p>
        </p:txBody>
      </p:sp>
    </p:spTree>
    <p:extLst>
      <p:ext uri="{BB962C8B-B14F-4D97-AF65-F5344CB8AC3E}">
        <p14:creationId xmlns:p14="http://schemas.microsoft.com/office/powerpoint/2010/main" val="360802724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248</a:t>
            </a:fld>
            <a:endParaRPr lang="fr-FR"/>
          </a:p>
        </p:txBody>
      </p:sp>
    </p:spTree>
    <p:extLst>
      <p:ext uri="{BB962C8B-B14F-4D97-AF65-F5344CB8AC3E}">
        <p14:creationId xmlns:p14="http://schemas.microsoft.com/office/powerpoint/2010/main" val="77931272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249</a:t>
            </a:fld>
            <a:endParaRPr lang="fr-FR"/>
          </a:p>
        </p:txBody>
      </p:sp>
    </p:spTree>
    <p:extLst>
      <p:ext uri="{BB962C8B-B14F-4D97-AF65-F5344CB8AC3E}">
        <p14:creationId xmlns:p14="http://schemas.microsoft.com/office/powerpoint/2010/main" val="334592678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252</a:t>
            </a:fld>
            <a:endParaRPr lang="fr-FR"/>
          </a:p>
        </p:txBody>
      </p:sp>
    </p:spTree>
    <p:extLst>
      <p:ext uri="{BB962C8B-B14F-4D97-AF65-F5344CB8AC3E}">
        <p14:creationId xmlns:p14="http://schemas.microsoft.com/office/powerpoint/2010/main" val="398464181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253</a:t>
            </a:fld>
            <a:endParaRPr lang="fr-FR"/>
          </a:p>
        </p:txBody>
      </p:sp>
    </p:spTree>
    <p:extLst>
      <p:ext uri="{BB962C8B-B14F-4D97-AF65-F5344CB8AC3E}">
        <p14:creationId xmlns:p14="http://schemas.microsoft.com/office/powerpoint/2010/main" val="337029643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254</a:t>
            </a:fld>
            <a:endParaRPr lang="fr-FR"/>
          </a:p>
        </p:txBody>
      </p:sp>
    </p:spTree>
    <p:extLst>
      <p:ext uri="{BB962C8B-B14F-4D97-AF65-F5344CB8AC3E}">
        <p14:creationId xmlns:p14="http://schemas.microsoft.com/office/powerpoint/2010/main" val="122316136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257</a:t>
            </a:fld>
            <a:endParaRPr lang="fr-FR"/>
          </a:p>
        </p:txBody>
      </p:sp>
    </p:spTree>
    <p:extLst>
      <p:ext uri="{BB962C8B-B14F-4D97-AF65-F5344CB8AC3E}">
        <p14:creationId xmlns:p14="http://schemas.microsoft.com/office/powerpoint/2010/main" val="292506683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258</a:t>
            </a:fld>
            <a:endParaRPr lang="fr-FR"/>
          </a:p>
        </p:txBody>
      </p:sp>
    </p:spTree>
    <p:extLst>
      <p:ext uri="{BB962C8B-B14F-4D97-AF65-F5344CB8AC3E}">
        <p14:creationId xmlns:p14="http://schemas.microsoft.com/office/powerpoint/2010/main" val="205122288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259</a:t>
            </a:fld>
            <a:endParaRPr lang="fr-FR"/>
          </a:p>
        </p:txBody>
      </p:sp>
    </p:spTree>
    <p:extLst>
      <p:ext uri="{BB962C8B-B14F-4D97-AF65-F5344CB8AC3E}">
        <p14:creationId xmlns:p14="http://schemas.microsoft.com/office/powerpoint/2010/main" val="90527715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260</a:t>
            </a:fld>
            <a:endParaRPr lang="fr-FR"/>
          </a:p>
        </p:txBody>
      </p:sp>
    </p:spTree>
    <p:extLst>
      <p:ext uri="{BB962C8B-B14F-4D97-AF65-F5344CB8AC3E}">
        <p14:creationId xmlns:p14="http://schemas.microsoft.com/office/powerpoint/2010/main" val="385317300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261</a:t>
            </a:fld>
            <a:endParaRPr lang="fr-FR"/>
          </a:p>
        </p:txBody>
      </p:sp>
    </p:spTree>
    <p:extLst>
      <p:ext uri="{BB962C8B-B14F-4D97-AF65-F5344CB8AC3E}">
        <p14:creationId xmlns:p14="http://schemas.microsoft.com/office/powerpoint/2010/main" val="43437498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262</a:t>
            </a:fld>
            <a:endParaRPr lang="fr-FR"/>
          </a:p>
        </p:txBody>
      </p:sp>
    </p:spTree>
    <p:extLst>
      <p:ext uri="{BB962C8B-B14F-4D97-AF65-F5344CB8AC3E}">
        <p14:creationId xmlns:p14="http://schemas.microsoft.com/office/powerpoint/2010/main" val="8170147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92C7D3E9-C998-48B1-9C76-66439A2B5064}" type="slidenum">
              <a:rPr lang="fr-FR" smtClean="0"/>
              <a:t>272</a:t>
            </a:fld>
            <a:endParaRPr lang="fr-FR"/>
          </a:p>
        </p:txBody>
      </p:sp>
    </p:spTree>
    <p:extLst>
      <p:ext uri="{BB962C8B-B14F-4D97-AF65-F5344CB8AC3E}">
        <p14:creationId xmlns:p14="http://schemas.microsoft.com/office/powerpoint/2010/main" val="49667530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21860C6E-8987-49AC-AEB2-ECB72979D38A}"/>
              </a:ext>
            </a:extLst>
          </p:cNvPr>
          <p:cNvSpPr>
            <a:spLocks noGrp="1"/>
          </p:cNvSpPr>
          <p:nvPr>
            <p:ph type="ctrTitle"/>
          </p:nvPr>
        </p:nvSpPr>
        <p:spPr>
          <a:xfrm>
            <a:off x="1524000" y="1122363"/>
            <a:ext cx="9144000" cy="2387600"/>
          </a:xfrm>
        </p:spPr>
        <p:txBody>
          <a:bodyPr anchor="b"/>
          <a:lstStyle>
            <a:lvl1pPr algn="ctr">
              <a:defRPr sz="6000"/>
            </a:lvl1pPr>
          </a:lstStyle>
          <a:p>
            <a:r>
              <a:rPr lang="fr-FR"/>
              <a:t>Modifiez le style du titre</a:t>
            </a:r>
            <a:endParaRPr lang="en-US"/>
          </a:p>
        </p:txBody>
      </p:sp>
      <p:sp>
        <p:nvSpPr>
          <p:cNvPr id="3" name="Sous-titre 2">
            <a:extLst>
              <a:ext uri="{FF2B5EF4-FFF2-40B4-BE49-F238E27FC236}">
                <a16:creationId xmlns:a16="http://schemas.microsoft.com/office/drawing/2014/main" id="{DD210FBF-0D40-4A59-9FD5-934BDD4928E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a:t>Modifiez le style des sous-titres du masque</a:t>
            </a:r>
            <a:endParaRPr lang="en-US"/>
          </a:p>
        </p:txBody>
      </p:sp>
      <p:sp>
        <p:nvSpPr>
          <p:cNvPr id="4" name="Espace réservé de la date 3">
            <a:extLst>
              <a:ext uri="{FF2B5EF4-FFF2-40B4-BE49-F238E27FC236}">
                <a16:creationId xmlns:a16="http://schemas.microsoft.com/office/drawing/2014/main" id="{3F173C92-4084-4857-A457-77F7A8A4D519}"/>
              </a:ext>
            </a:extLst>
          </p:cNvPr>
          <p:cNvSpPr>
            <a:spLocks noGrp="1"/>
          </p:cNvSpPr>
          <p:nvPr>
            <p:ph type="dt" sz="half" idx="10"/>
          </p:nvPr>
        </p:nvSpPr>
        <p:spPr/>
        <p:txBody>
          <a:bodyPr/>
          <a:lstStyle/>
          <a:p>
            <a:fld id="{B3BB4915-80FB-4696-B5FE-62AB0629C897}" type="datetimeFigureOut">
              <a:rPr lang="en-US" smtClean="0"/>
              <a:t>1/11/2023</a:t>
            </a:fld>
            <a:endParaRPr lang="en-US"/>
          </a:p>
        </p:txBody>
      </p:sp>
      <p:sp>
        <p:nvSpPr>
          <p:cNvPr id="5" name="Espace réservé du pied de page 4">
            <a:extLst>
              <a:ext uri="{FF2B5EF4-FFF2-40B4-BE49-F238E27FC236}">
                <a16:creationId xmlns:a16="http://schemas.microsoft.com/office/drawing/2014/main" id="{FB96BD61-52E7-490C-B222-EE82B43B82B8}"/>
              </a:ext>
            </a:extLst>
          </p:cNvPr>
          <p:cNvSpPr>
            <a:spLocks noGrp="1"/>
          </p:cNvSpPr>
          <p:nvPr>
            <p:ph type="ftr" sz="quarter" idx="11"/>
          </p:nvPr>
        </p:nvSpPr>
        <p:spPr/>
        <p:txBody>
          <a:bodyPr/>
          <a:lstStyle/>
          <a:p>
            <a:endParaRPr lang="en-US"/>
          </a:p>
        </p:txBody>
      </p:sp>
      <p:sp>
        <p:nvSpPr>
          <p:cNvPr id="6" name="Espace réservé du numéro de diapositive 5">
            <a:extLst>
              <a:ext uri="{FF2B5EF4-FFF2-40B4-BE49-F238E27FC236}">
                <a16:creationId xmlns:a16="http://schemas.microsoft.com/office/drawing/2014/main" id="{37858419-CBFD-4436-B17A-72A8A1D51632}"/>
              </a:ext>
            </a:extLst>
          </p:cNvPr>
          <p:cNvSpPr>
            <a:spLocks noGrp="1"/>
          </p:cNvSpPr>
          <p:nvPr>
            <p:ph type="sldNum" sz="quarter" idx="12"/>
          </p:nvPr>
        </p:nvSpPr>
        <p:spPr/>
        <p:txBody>
          <a:bodyPr/>
          <a:lstStyle/>
          <a:p>
            <a:fld id="{2079A58B-02D7-4FED-9D5F-A5FC9BAA9C81}" type="slidenum">
              <a:rPr lang="en-US" smtClean="0"/>
              <a:t>‹N›</a:t>
            </a:fld>
            <a:endParaRPr lang="en-US"/>
          </a:p>
        </p:txBody>
      </p:sp>
    </p:spTree>
    <p:extLst>
      <p:ext uri="{BB962C8B-B14F-4D97-AF65-F5344CB8AC3E}">
        <p14:creationId xmlns:p14="http://schemas.microsoft.com/office/powerpoint/2010/main" val="177529132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85CD08B-DBBD-4841-9352-A5105E2A4DD5}"/>
              </a:ext>
            </a:extLst>
          </p:cNvPr>
          <p:cNvSpPr>
            <a:spLocks noGrp="1"/>
          </p:cNvSpPr>
          <p:nvPr>
            <p:ph type="title"/>
          </p:nvPr>
        </p:nvSpPr>
        <p:spPr/>
        <p:txBody>
          <a:bodyPr/>
          <a:lstStyle/>
          <a:p>
            <a:r>
              <a:rPr lang="fr-FR"/>
              <a:t>Modifiez le style du titre</a:t>
            </a:r>
            <a:endParaRPr lang="en-US"/>
          </a:p>
        </p:txBody>
      </p:sp>
      <p:sp>
        <p:nvSpPr>
          <p:cNvPr id="3" name="Espace réservé du contenu 2">
            <a:extLst>
              <a:ext uri="{FF2B5EF4-FFF2-40B4-BE49-F238E27FC236}">
                <a16:creationId xmlns:a16="http://schemas.microsoft.com/office/drawing/2014/main" id="{04985545-65BF-406A-8841-FCC3660EBE75}"/>
              </a:ext>
            </a:extLst>
          </p:cNvPr>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e la date 3">
            <a:extLst>
              <a:ext uri="{FF2B5EF4-FFF2-40B4-BE49-F238E27FC236}">
                <a16:creationId xmlns:a16="http://schemas.microsoft.com/office/drawing/2014/main" id="{CC84FEB7-8691-4C8C-8894-22B95A5A9ADC}"/>
              </a:ext>
            </a:extLst>
          </p:cNvPr>
          <p:cNvSpPr>
            <a:spLocks noGrp="1"/>
          </p:cNvSpPr>
          <p:nvPr>
            <p:ph type="dt" sz="half" idx="10"/>
          </p:nvPr>
        </p:nvSpPr>
        <p:spPr/>
        <p:txBody>
          <a:bodyPr/>
          <a:lstStyle/>
          <a:p>
            <a:fld id="{B3BB4915-80FB-4696-B5FE-62AB0629C897}" type="datetimeFigureOut">
              <a:rPr lang="en-US" smtClean="0"/>
              <a:t>1/11/2023</a:t>
            </a:fld>
            <a:endParaRPr lang="en-US"/>
          </a:p>
        </p:txBody>
      </p:sp>
      <p:sp>
        <p:nvSpPr>
          <p:cNvPr id="5" name="Espace réservé du pied de page 4">
            <a:extLst>
              <a:ext uri="{FF2B5EF4-FFF2-40B4-BE49-F238E27FC236}">
                <a16:creationId xmlns:a16="http://schemas.microsoft.com/office/drawing/2014/main" id="{846741E3-F492-47D4-822A-ED8669668819}"/>
              </a:ext>
            </a:extLst>
          </p:cNvPr>
          <p:cNvSpPr>
            <a:spLocks noGrp="1"/>
          </p:cNvSpPr>
          <p:nvPr>
            <p:ph type="ftr" sz="quarter" idx="11"/>
          </p:nvPr>
        </p:nvSpPr>
        <p:spPr/>
        <p:txBody>
          <a:bodyPr/>
          <a:lstStyle/>
          <a:p>
            <a:endParaRPr lang="en-US"/>
          </a:p>
        </p:txBody>
      </p:sp>
      <p:sp>
        <p:nvSpPr>
          <p:cNvPr id="6" name="Espace réservé du numéro de diapositive 5">
            <a:extLst>
              <a:ext uri="{FF2B5EF4-FFF2-40B4-BE49-F238E27FC236}">
                <a16:creationId xmlns:a16="http://schemas.microsoft.com/office/drawing/2014/main" id="{07AE4BBE-C824-4BA3-945A-A500447772A0}"/>
              </a:ext>
            </a:extLst>
          </p:cNvPr>
          <p:cNvSpPr>
            <a:spLocks noGrp="1"/>
          </p:cNvSpPr>
          <p:nvPr>
            <p:ph type="sldNum" sz="quarter" idx="12"/>
          </p:nvPr>
        </p:nvSpPr>
        <p:spPr/>
        <p:txBody>
          <a:bodyPr/>
          <a:lstStyle/>
          <a:p>
            <a:fld id="{2079A58B-02D7-4FED-9D5F-A5FC9BAA9C81}" type="slidenum">
              <a:rPr lang="en-US" smtClean="0"/>
              <a:t>‹N›</a:t>
            </a:fld>
            <a:endParaRPr lang="en-US"/>
          </a:p>
        </p:txBody>
      </p:sp>
    </p:spTree>
    <p:extLst>
      <p:ext uri="{BB962C8B-B14F-4D97-AF65-F5344CB8AC3E}">
        <p14:creationId xmlns:p14="http://schemas.microsoft.com/office/powerpoint/2010/main" val="171162361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81B7BEA-0B8F-4222-810A-06C476A5057B}"/>
              </a:ext>
            </a:extLst>
          </p:cNvPr>
          <p:cNvSpPr>
            <a:spLocks noGrp="1"/>
          </p:cNvSpPr>
          <p:nvPr>
            <p:ph type="title"/>
          </p:nvPr>
        </p:nvSpPr>
        <p:spPr>
          <a:xfrm>
            <a:off x="831850" y="1709738"/>
            <a:ext cx="10515600" cy="2852737"/>
          </a:xfrm>
        </p:spPr>
        <p:txBody>
          <a:bodyPr anchor="b"/>
          <a:lstStyle>
            <a:lvl1pPr>
              <a:defRPr sz="6000"/>
            </a:lvl1pPr>
          </a:lstStyle>
          <a:p>
            <a:r>
              <a:rPr lang="fr-FR"/>
              <a:t>Modifiez le style du titre</a:t>
            </a:r>
            <a:endParaRPr lang="en-US"/>
          </a:p>
        </p:txBody>
      </p:sp>
      <p:sp>
        <p:nvSpPr>
          <p:cNvPr id="3" name="Espace réservé du texte 2">
            <a:extLst>
              <a:ext uri="{FF2B5EF4-FFF2-40B4-BE49-F238E27FC236}">
                <a16:creationId xmlns:a16="http://schemas.microsoft.com/office/drawing/2014/main" id="{127F0AC1-B3B9-43EE-9CC6-768916F765B0}"/>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a:t>Cliquez pour modifier les styles du texte du masque</a:t>
            </a:r>
          </a:p>
        </p:txBody>
      </p:sp>
      <p:sp>
        <p:nvSpPr>
          <p:cNvPr id="4" name="Espace réservé de la date 3">
            <a:extLst>
              <a:ext uri="{FF2B5EF4-FFF2-40B4-BE49-F238E27FC236}">
                <a16:creationId xmlns:a16="http://schemas.microsoft.com/office/drawing/2014/main" id="{D81A4468-B216-4B4B-9D6A-45DD725ACD22}"/>
              </a:ext>
            </a:extLst>
          </p:cNvPr>
          <p:cNvSpPr>
            <a:spLocks noGrp="1"/>
          </p:cNvSpPr>
          <p:nvPr>
            <p:ph type="dt" sz="half" idx="10"/>
          </p:nvPr>
        </p:nvSpPr>
        <p:spPr/>
        <p:txBody>
          <a:bodyPr/>
          <a:lstStyle/>
          <a:p>
            <a:fld id="{B3BB4915-80FB-4696-B5FE-62AB0629C897}" type="datetimeFigureOut">
              <a:rPr lang="en-US" smtClean="0"/>
              <a:t>1/11/2023</a:t>
            </a:fld>
            <a:endParaRPr lang="en-US"/>
          </a:p>
        </p:txBody>
      </p:sp>
      <p:sp>
        <p:nvSpPr>
          <p:cNvPr id="5" name="Espace réservé du pied de page 4">
            <a:extLst>
              <a:ext uri="{FF2B5EF4-FFF2-40B4-BE49-F238E27FC236}">
                <a16:creationId xmlns:a16="http://schemas.microsoft.com/office/drawing/2014/main" id="{137C29CA-EC90-407E-BD42-3297154E8F83}"/>
              </a:ext>
            </a:extLst>
          </p:cNvPr>
          <p:cNvSpPr>
            <a:spLocks noGrp="1"/>
          </p:cNvSpPr>
          <p:nvPr>
            <p:ph type="ftr" sz="quarter" idx="11"/>
          </p:nvPr>
        </p:nvSpPr>
        <p:spPr/>
        <p:txBody>
          <a:bodyPr/>
          <a:lstStyle/>
          <a:p>
            <a:endParaRPr lang="en-US"/>
          </a:p>
        </p:txBody>
      </p:sp>
      <p:sp>
        <p:nvSpPr>
          <p:cNvPr id="6" name="Espace réservé du numéro de diapositive 5">
            <a:extLst>
              <a:ext uri="{FF2B5EF4-FFF2-40B4-BE49-F238E27FC236}">
                <a16:creationId xmlns:a16="http://schemas.microsoft.com/office/drawing/2014/main" id="{314F763C-ABD8-4F9F-AF0D-2D2348EDC85B}"/>
              </a:ext>
            </a:extLst>
          </p:cNvPr>
          <p:cNvSpPr>
            <a:spLocks noGrp="1"/>
          </p:cNvSpPr>
          <p:nvPr>
            <p:ph type="sldNum" sz="quarter" idx="12"/>
          </p:nvPr>
        </p:nvSpPr>
        <p:spPr/>
        <p:txBody>
          <a:bodyPr/>
          <a:lstStyle/>
          <a:p>
            <a:fld id="{2079A58B-02D7-4FED-9D5F-A5FC9BAA9C81}" type="slidenum">
              <a:rPr lang="en-US" smtClean="0"/>
              <a:t>‹N›</a:t>
            </a:fld>
            <a:endParaRPr lang="en-US"/>
          </a:p>
        </p:txBody>
      </p:sp>
    </p:spTree>
    <p:extLst>
      <p:ext uri="{BB962C8B-B14F-4D97-AF65-F5344CB8AC3E}">
        <p14:creationId xmlns:p14="http://schemas.microsoft.com/office/powerpoint/2010/main" val="128451088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00285F0-2807-4787-A6C6-2F212C0EDD6B}"/>
              </a:ext>
            </a:extLst>
          </p:cNvPr>
          <p:cNvSpPr>
            <a:spLocks noGrp="1"/>
          </p:cNvSpPr>
          <p:nvPr>
            <p:ph type="title"/>
          </p:nvPr>
        </p:nvSpPr>
        <p:spPr/>
        <p:txBody>
          <a:bodyPr/>
          <a:lstStyle/>
          <a:p>
            <a:r>
              <a:rPr lang="fr-FR"/>
              <a:t>Modifiez le style du titre</a:t>
            </a:r>
            <a:endParaRPr lang="en-US"/>
          </a:p>
        </p:txBody>
      </p:sp>
      <p:sp>
        <p:nvSpPr>
          <p:cNvPr id="3" name="Espace réservé du contenu 2">
            <a:extLst>
              <a:ext uri="{FF2B5EF4-FFF2-40B4-BE49-F238E27FC236}">
                <a16:creationId xmlns:a16="http://schemas.microsoft.com/office/drawing/2014/main" id="{1431818B-9D1B-454D-9D08-E60E5F96404F}"/>
              </a:ext>
            </a:extLst>
          </p:cNvPr>
          <p:cNvSpPr>
            <a:spLocks noGrp="1"/>
          </p:cNvSpPr>
          <p:nvPr>
            <p:ph sz="half" idx="1"/>
          </p:nvPr>
        </p:nvSpPr>
        <p:spPr>
          <a:xfrm>
            <a:off x="838200" y="1825625"/>
            <a:ext cx="5181600" cy="435133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u contenu 3">
            <a:extLst>
              <a:ext uri="{FF2B5EF4-FFF2-40B4-BE49-F238E27FC236}">
                <a16:creationId xmlns:a16="http://schemas.microsoft.com/office/drawing/2014/main" id="{8B8E80E8-61D2-4E70-A125-3A99F8D1CD84}"/>
              </a:ext>
            </a:extLst>
          </p:cNvPr>
          <p:cNvSpPr>
            <a:spLocks noGrp="1"/>
          </p:cNvSpPr>
          <p:nvPr>
            <p:ph sz="half" idx="2"/>
          </p:nvPr>
        </p:nvSpPr>
        <p:spPr>
          <a:xfrm>
            <a:off x="6172200" y="1825625"/>
            <a:ext cx="5181600" cy="435133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5" name="Espace réservé de la date 4">
            <a:extLst>
              <a:ext uri="{FF2B5EF4-FFF2-40B4-BE49-F238E27FC236}">
                <a16:creationId xmlns:a16="http://schemas.microsoft.com/office/drawing/2014/main" id="{E20F6AF8-9EA6-4A18-852D-2CBFC5C364D7}"/>
              </a:ext>
            </a:extLst>
          </p:cNvPr>
          <p:cNvSpPr>
            <a:spLocks noGrp="1"/>
          </p:cNvSpPr>
          <p:nvPr>
            <p:ph type="dt" sz="half" idx="10"/>
          </p:nvPr>
        </p:nvSpPr>
        <p:spPr/>
        <p:txBody>
          <a:bodyPr/>
          <a:lstStyle/>
          <a:p>
            <a:fld id="{B3BB4915-80FB-4696-B5FE-62AB0629C897}" type="datetimeFigureOut">
              <a:rPr lang="en-US" smtClean="0"/>
              <a:t>1/11/2023</a:t>
            </a:fld>
            <a:endParaRPr lang="en-US"/>
          </a:p>
        </p:txBody>
      </p:sp>
      <p:sp>
        <p:nvSpPr>
          <p:cNvPr id="6" name="Espace réservé du pied de page 5">
            <a:extLst>
              <a:ext uri="{FF2B5EF4-FFF2-40B4-BE49-F238E27FC236}">
                <a16:creationId xmlns:a16="http://schemas.microsoft.com/office/drawing/2014/main" id="{7DEEC48E-DFBF-4DD8-BEAE-2490AE8675F7}"/>
              </a:ext>
            </a:extLst>
          </p:cNvPr>
          <p:cNvSpPr>
            <a:spLocks noGrp="1"/>
          </p:cNvSpPr>
          <p:nvPr>
            <p:ph type="ftr" sz="quarter" idx="11"/>
          </p:nvPr>
        </p:nvSpPr>
        <p:spPr/>
        <p:txBody>
          <a:bodyPr/>
          <a:lstStyle/>
          <a:p>
            <a:endParaRPr lang="en-US"/>
          </a:p>
        </p:txBody>
      </p:sp>
      <p:sp>
        <p:nvSpPr>
          <p:cNvPr id="7" name="Espace réservé du numéro de diapositive 6">
            <a:extLst>
              <a:ext uri="{FF2B5EF4-FFF2-40B4-BE49-F238E27FC236}">
                <a16:creationId xmlns:a16="http://schemas.microsoft.com/office/drawing/2014/main" id="{DF83A161-5B3C-4974-AEB0-4A6EC3DBA553}"/>
              </a:ext>
            </a:extLst>
          </p:cNvPr>
          <p:cNvSpPr>
            <a:spLocks noGrp="1"/>
          </p:cNvSpPr>
          <p:nvPr>
            <p:ph type="sldNum" sz="quarter" idx="12"/>
          </p:nvPr>
        </p:nvSpPr>
        <p:spPr/>
        <p:txBody>
          <a:bodyPr/>
          <a:lstStyle/>
          <a:p>
            <a:fld id="{2079A58B-02D7-4FED-9D5F-A5FC9BAA9C81}" type="slidenum">
              <a:rPr lang="en-US" smtClean="0"/>
              <a:t>‹N›</a:t>
            </a:fld>
            <a:endParaRPr lang="en-US"/>
          </a:p>
        </p:txBody>
      </p:sp>
    </p:spTree>
    <p:extLst>
      <p:ext uri="{BB962C8B-B14F-4D97-AF65-F5344CB8AC3E}">
        <p14:creationId xmlns:p14="http://schemas.microsoft.com/office/powerpoint/2010/main" val="405510388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7BDE5D6-23C7-4F8B-B4A2-7D1B320B7206}"/>
              </a:ext>
            </a:extLst>
          </p:cNvPr>
          <p:cNvSpPr>
            <a:spLocks noGrp="1"/>
          </p:cNvSpPr>
          <p:nvPr>
            <p:ph type="title"/>
          </p:nvPr>
        </p:nvSpPr>
        <p:spPr>
          <a:xfrm>
            <a:off x="839788" y="365125"/>
            <a:ext cx="10515600" cy="1325563"/>
          </a:xfrm>
        </p:spPr>
        <p:txBody>
          <a:bodyPr/>
          <a:lstStyle/>
          <a:p>
            <a:r>
              <a:rPr lang="fr-FR"/>
              <a:t>Modifiez le style du titre</a:t>
            </a:r>
            <a:endParaRPr lang="en-US"/>
          </a:p>
        </p:txBody>
      </p:sp>
      <p:sp>
        <p:nvSpPr>
          <p:cNvPr id="3" name="Espace réservé du texte 2">
            <a:extLst>
              <a:ext uri="{FF2B5EF4-FFF2-40B4-BE49-F238E27FC236}">
                <a16:creationId xmlns:a16="http://schemas.microsoft.com/office/drawing/2014/main" id="{0744BCE1-907D-4BDD-97AF-9C50A0E7169E}"/>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Espace réservé du contenu 3">
            <a:extLst>
              <a:ext uri="{FF2B5EF4-FFF2-40B4-BE49-F238E27FC236}">
                <a16:creationId xmlns:a16="http://schemas.microsoft.com/office/drawing/2014/main" id="{4D2C8EDB-7688-4275-86B9-A9114A4F0929}"/>
              </a:ext>
            </a:extLst>
          </p:cNvPr>
          <p:cNvSpPr>
            <a:spLocks noGrp="1"/>
          </p:cNvSpPr>
          <p:nvPr>
            <p:ph sz="half" idx="2"/>
          </p:nvPr>
        </p:nvSpPr>
        <p:spPr>
          <a:xfrm>
            <a:off x="839788" y="2505075"/>
            <a:ext cx="5157787" cy="368458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5" name="Espace réservé du texte 4">
            <a:extLst>
              <a:ext uri="{FF2B5EF4-FFF2-40B4-BE49-F238E27FC236}">
                <a16:creationId xmlns:a16="http://schemas.microsoft.com/office/drawing/2014/main" id="{25F82079-1894-4FE0-A753-BDB071E377E7}"/>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Espace réservé du contenu 5">
            <a:extLst>
              <a:ext uri="{FF2B5EF4-FFF2-40B4-BE49-F238E27FC236}">
                <a16:creationId xmlns:a16="http://schemas.microsoft.com/office/drawing/2014/main" id="{21DD9BFF-13B7-48D6-B2AF-22A95E0807B9}"/>
              </a:ext>
            </a:extLst>
          </p:cNvPr>
          <p:cNvSpPr>
            <a:spLocks noGrp="1"/>
          </p:cNvSpPr>
          <p:nvPr>
            <p:ph sz="quarter" idx="4"/>
          </p:nvPr>
        </p:nvSpPr>
        <p:spPr>
          <a:xfrm>
            <a:off x="6172200" y="2505075"/>
            <a:ext cx="5183188" cy="368458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7" name="Espace réservé de la date 6">
            <a:extLst>
              <a:ext uri="{FF2B5EF4-FFF2-40B4-BE49-F238E27FC236}">
                <a16:creationId xmlns:a16="http://schemas.microsoft.com/office/drawing/2014/main" id="{E2AC264D-9C14-4400-9BDC-D8CC10EFE6F4}"/>
              </a:ext>
            </a:extLst>
          </p:cNvPr>
          <p:cNvSpPr>
            <a:spLocks noGrp="1"/>
          </p:cNvSpPr>
          <p:nvPr>
            <p:ph type="dt" sz="half" idx="10"/>
          </p:nvPr>
        </p:nvSpPr>
        <p:spPr/>
        <p:txBody>
          <a:bodyPr/>
          <a:lstStyle/>
          <a:p>
            <a:fld id="{B3BB4915-80FB-4696-B5FE-62AB0629C897}" type="datetimeFigureOut">
              <a:rPr lang="en-US" smtClean="0"/>
              <a:t>1/11/2023</a:t>
            </a:fld>
            <a:endParaRPr lang="en-US"/>
          </a:p>
        </p:txBody>
      </p:sp>
      <p:sp>
        <p:nvSpPr>
          <p:cNvPr id="8" name="Espace réservé du pied de page 7">
            <a:extLst>
              <a:ext uri="{FF2B5EF4-FFF2-40B4-BE49-F238E27FC236}">
                <a16:creationId xmlns:a16="http://schemas.microsoft.com/office/drawing/2014/main" id="{33137830-8983-47FB-BB46-5B35A288F66E}"/>
              </a:ext>
            </a:extLst>
          </p:cNvPr>
          <p:cNvSpPr>
            <a:spLocks noGrp="1"/>
          </p:cNvSpPr>
          <p:nvPr>
            <p:ph type="ftr" sz="quarter" idx="11"/>
          </p:nvPr>
        </p:nvSpPr>
        <p:spPr/>
        <p:txBody>
          <a:bodyPr/>
          <a:lstStyle/>
          <a:p>
            <a:endParaRPr lang="en-US"/>
          </a:p>
        </p:txBody>
      </p:sp>
      <p:sp>
        <p:nvSpPr>
          <p:cNvPr id="9" name="Espace réservé du numéro de diapositive 8">
            <a:extLst>
              <a:ext uri="{FF2B5EF4-FFF2-40B4-BE49-F238E27FC236}">
                <a16:creationId xmlns:a16="http://schemas.microsoft.com/office/drawing/2014/main" id="{A756AEE5-49B3-4367-8ABD-41BCE09DE7C8}"/>
              </a:ext>
            </a:extLst>
          </p:cNvPr>
          <p:cNvSpPr>
            <a:spLocks noGrp="1"/>
          </p:cNvSpPr>
          <p:nvPr>
            <p:ph type="sldNum" sz="quarter" idx="12"/>
          </p:nvPr>
        </p:nvSpPr>
        <p:spPr/>
        <p:txBody>
          <a:bodyPr/>
          <a:lstStyle/>
          <a:p>
            <a:fld id="{2079A58B-02D7-4FED-9D5F-A5FC9BAA9C81}" type="slidenum">
              <a:rPr lang="en-US" smtClean="0"/>
              <a:t>‹N›</a:t>
            </a:fld>
            <a:endParaRPr lang="en-US"/>
          </a:p>
        </p:txBody>
      </p:sp>
    </p:spTree>
    <p:extLst>
      <p:ext uri="{BB962C8B-B14F-4D97-AF65-F5344CB8AC3E}">
        <p14:creationId xmlns:p14="http://schemas.microsoft.com/office/powerpoint/2010/main" val="200330208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1142925-C45D-4967-8F09-CCD7E66E6B2D}"/>
              </a:ext>
            </a:extLst>
          </p:cNvPr>
          <p:cNvSpPr>
            <a:spLocks noGrp="1"/>
          </p:cNvSpPr>
          <p:nvPr>
            <p:ph type="title"/>
          </p:nvPr>
        </p:nvSpPr>
        <p:spPr/>
        <p:txBody>
          <a:bodyPr/>
          <a:lstStyle/>
          <a:p>
            <a:r>
              <a:rPr lang="fr-FR"/>
              <a:t>Modifiez le style du titre</a:t>
            </a:r>
            <a:endParaRPr lang="en-US"/>
          </a:p>
        </p:txBody>
      </p:sp>
      <p:sp>
        <p:nvSpPr>
          <p:cNvPr id="3" name="Espace réservé de la date 2">
            <a:extLst>
              <a:ext uri="{FF2B5EF4-FFF2-40B4-BE49-F238E27FC236}">
                <a16:creationId xmlns:a16="http://schemas.microsoft.com/office/drawing/2014/main" id="{DCFDD869-4F50-40B1-BFC4-D9D405282A8A}"/>
              </a:ext>
            </a:extLst>
          </p:cNvPr>
          <p:cNvSpPr>
            <a:spLocks noGrp="1"/>
          </p:cNvSpPr>
          <p:nvPr>
            <p:ph type="dt" sz="half" idx="10"/>
          </p:nvPr>
        </p:nvSpPr>
        <p:spPr/>
        <p:txBody>
          <a:bodyPr/>
          <a:lstStyle/>
          <a:p>
            <a:fld id="{B3BB4915-80FB-4696-B5FE-62AB0629C897}" type="datetimeFigureOut">
              <a:rPr lang="en-US" smtClean="0"/>
              <a:t>1/11/2023</a:t>
            </a:fld>
            <a:endParaRPr lang="en-US"/>
          </a:p>
        </p:txBody>
      </p:sp>
      <p:sp>
        <p:nvSpPr>
          <p:cNvPr id="4" name="Espace réservé du pied de page 3">
            <a:extLst>
              <a:ext uri="{FF2B5EF4-FFF2-40B4-BE49-F238E27FC236}">
                <a16:creationId xmlns:a16="http://schemas.microsoft.com/office/drawing/2014/main" id="{C5EF14E5-0115-44B5-A7E0-EDCA2DA5164A}"/>
              </a:ext>
            </a:extLst>
          </p:cNvPr>
          <p:cNvSpPr>
            <a:spLocks noGrp="1"/>
          </p:cNvSpPr>
          <p:nvPr>
            <p:ph type="ftr" sz="quarter" idx="11"/>
          </p:nvPr>
        </p:nvSpPr>
        <p:spPr/>
        <p:txBody>
          <a:bodyPr/>
          <a:lstStyle/>
          <a:p>
            <a:endParaRPr lang="en-US"/>
          </a:p>
        </p:txBody>
      </p:sp>
      <p:sp>
        <p:nvSpPr>
          <p:cNvPr id="5" name="Espace réservé du numéro de diapositive 4">
            <a:extLst>
              <a:ext uri="{FF2B5EF4-FFF2-40B4-BE49-F238E27FC236}">
                <a16:creationId xmlns:a16="http://schemas.microsoft.com/office/drawing/2014/main" id="{035DE1F8-42D1-42EC-9FCF-29C926196CED}"/>
              </a:ext>
            </a:extLst>
          </p:cNvPr>
          <p:cNvSpPr>
            <a:spLocks noGrp="1"/>
          </p:cNvSpPr>
          <p:nvPr>
            <p:ph type="sldNum" sz="quarter" idx="12"/>
          </p:nvPr>
        </p:nvSpPr>
        <p:spPr/>
        <p:txBody>
          <a:bodyPr/>
          <a:lstStyle/>
          <a:p>
            <a:fld id="{2079A58B-02D7-4FED-9D5F-A5FC9BAA9C81}" type="slidenum">
              <a:rPr lang="en-US" smtClean="0"/>
              <a:t>‹N›</a:t>
            </a:fld>
            <a:endParaRPr lang="en-US"/>
          </a:p>
        </p:txBody>
      </p:sp>
    </p:spTree>
    <p:extLst>
      <p:ext uri="{BB962C8B-B14F-4D97-AF65-F5344CB8AC3E}">
        <p14:creationId xmlns:p14="http://schemas.microsoft.com/office/powerpoint/2010/main" val="393215183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a:extLst>
              <a:ext uri="{FF2B5EF4-FFF2-40B4-BE49-F238E27FC236}">
                <a16:creationId xmlns:a16="http://schemas.microsoft.com/office/drawing/2014/main" id="{8A078C8C-079B-47FF-BE7E-D788855A0993}"/>
              </a:ext>
            </a:extLst>
          </p:cNvPr>
          <p:cNvSpPr>
            <a:spLocks noGrp="1"/>
          </p:cNvSpPr>
          <p:nvPr>
            <p:ph type="dt" sz="half" idx="10"/>
          </p:nvPr>
        </p:nvSpPr>
        <p:spPr/>
        <p:txBody>
          <a:bodyPr/>
          <a:lstStyle/>
          <a:p>
            <a:fld id="{B3BB4915-80FB-4696-B5FE-62AB0629C897}" type="datetimeFigureOut">
              <a:rPr lang="en-US" smtClean="0"/>
              <a:t>1/11/2023</a:t>
            </a:fld>
            <a:endParaRPr lang="en-US"/>
          </a:p>
        </p:txBody>
      </p:sp>
      <p:sp>
        <p:nvSpPr>
          <p:cNvPr id="3" name="Espace réservé du pied de page 2">
            <a:extLst>
              <a:ext uri="{FF2B5EF4-FFF2-40B4-BE49-F238E27FC236}">
                <a16:creationId xmlns:a16="http://schemas.microsoft.com/office/drawing/2014/main" id="{EC3CBDD5-4839-42BE-BE47-276223EB966D}"/>
              </a:ext>
            </a:extLst>
          </p:cNvPr>
          <p:cNvSpPr>
            <a:spLocks noGrp="1"/>
          </p:cNvSpPr>
          <p:nvPr>
            <p:ph type="ftr" sz="quarter" idx="11"/>
          </p:nvPr>
        </p:nvSpPr>
        <p:spPr/>
        <p:txBody>
          <a:bodyPr/>
          <a:lstStyle/>
          <a:p>
            <a:endParaRPr lang="en-US"/>
          </a:p>
        </p:txBody>
      </p:sp>
      <p:sp>
        <p:nvSpPr>
          <p:cNvPr id="4" name="Espace réservé du numéro de diapositive 3">
            <a:extLst>
              <a:ext uri="{FF2B5EF4-FFF2-40B4-BE49-F238E27FC236}">
                <a16:creationId xmlns:a16="http://schemas.microsoft.com/office/drawing/2014/main" id="{E9E14632-69B6-414B-A2DF-5521469147E0}"/>
              </a:ext>
            </a:extLst>
          </p:cNvPr>
          <p:cNvSpPr>
            <a:spLocks noGrp="1"/>
          </p:cNvSpPr>
          <p:nvPr>
            <p:ph type="sldNum" sz="quarter" idx="12"/>
          </p:nvPr>
        </p:nvSpPr>
        <p:spPr/>
        <p:txBody>
          <a:bodyPr/>
          <a:lstStyle/>
          <a:p>
            <a:fld id="{2079A58B-02D7-4FED-9D5F-A5FC9BAA9C81}" type="slidenum">
              <a:rPr lang="en-US" smtClean="0"/>
              <a:t>‹N›</a:t>
            </a:fld>
            <a:endParaRPr lang="en-US"/>
          </a:p>
        </p:txBody>
      </p:sp>
    </p:spTree>
    <p:extLst>
      <p:ext uri="{BB962C8B-B14F-4D97-AF65-F5344CB8AC3E}">
        <p14:creationId xmlns:p14="http://schemas.microsoft.com/office/powerpoint/2010/main" val="404410151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0587727-6627-4DD2-9C26-7C12D828BD25}"/>
              </a:ext>
            </a:extLst>
          </p:cNvPr>
          <p:cNvSpPr>
            <a:spLocks noGrp="1"/>
          </p:cNvSpPr>
          <p:nvPr>
            <p:ph type="title"/>
          </p:nvPr>
        </p:nvSpPr>
        <p:spPr>
          <a:xfrm>
            <a:off x="839788" y="457200"/>
            <a:ext cx="3932237" cy="1600200"/>
          </a:xfrm>
        </p:spPr>
        <p:txBody>
          <a:bodyPr anchor="b"/>
          <a:lstStyle>
            <a:lvl1pPr>
              <a:defRPr sz="3200"/>
            </a:lvl1pPr>
          </a:lstStyle>
          <a:p>
            <a:r>
              <a:rPr lang="fr-FR"/>
              <a:t>Modifiez le style du titre</a:t>
            </a:r>
            <a:endParaRPr lang="en-US"/>
          </a:p>
        </p:txBody>
      </p:sp>
      <p:sp>
        <p:nvSpPr>
          <p:cNvPr id="3" name="Espace réservé du contenu 2">
            <a:extLst>
              <a:ext uri="{FF2B5EF4-FFF2-40B4-BE49-F238E27FC236}">
                <a16:creationId xmlns:a16="http://schemas.microsoft.com/office/drawing/2014/main" id="{163A89B2-5103-4C8A-8E8F-3E84E503E1B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u texte 3">
            <a:extLst>
              <a:ext uri="{FF2B5EF4-FFF2-40B4-BE49-F238E27FC236}">
                <a16:creationId xmlns:a16="http://schemas.microsoft.com/office/drawing/2014/main" id="{CAA31043-A6A5-48DE-AAD7-9C1D74A165B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4BDFEC79-DC54-4C6A-84C4-95B04D2205B6}"/>
              </a:ext>
            </a:extLst>
          </p:cNvPr>
          <p:cNvSpPr>
            <a:spLocks noGrp="1"/>
          </p:cNvSpPr>
          <p:nvPr>
            <p:ph type="dt" sz="half" idx="10"/>
          </p:nvPr>
        </p:nvSpPr>
        <p:spPr/>
        <p:txBody>
          <a:bodyPr/>
          <a:lstStyle/>
          <a:p>
            <a:fld id="{B3BB4915-80FB-4696-B5FE-62AB0629C897}" type="datetimeFigureOut">
              <a:rPr lang="en-US" smtClean="0"/>
              <a:t>1/11/2023</a:t>
            </a:fld>
            <a:endParaRPr lang="en-US"/>
          </a:p>
        </p:txBody>
      </p:sp>
      <p:sp>
        <p:nvSpPr>
          <p:cNvPr id="6" name="Espace réservé du pied de page 5">
            <a:extLst>
              <a:ext uri="{FF2B5EF4-FFF2-40B4-BE49-F238E27FC236}">
                <a16:creationId xmlns:a16="http://schemas.microsoft.com/office/drawing/2014/main" id="{82A87FC2-837F-402D-850A-C610BF4B86BD}"/>
              </a:ext>
            </a:extLst>
          </p:cNvPr>
          <p:cNvSpPr>
            <a:spLocks noGrp="1"/>
          </p:cNvSpPr>
          <p:nvPr>
            <p:ph type="ftr" sz="quarter" idx="11"/>
          </p:nvPr>
        </p:nvSpPr>
        <p:spPr/>
        <p:txBody>
          <a:bodyPr/>
          <a:lstStyle/>
          <a:p>
            <a:endParaRPr lang="en-US"/>
          </a:p>
        </p:txBody>
      </p:sp>
      <p:sp>
        <p:nvSpPr>
          <p:cNvPr id="7" name="Espace réservé du numéro de diapositive 6">
            <a:extLst>
              <a:ext uri="{FF2B5EF4-FFF2-40B4-BE49-F238E27FC236}">
                <a16:creationId xmlns:a16="http://schemas.microsoft.com/office/drawing/2014/main" id="{26182E8F-FE02-4BED-B48C-9804EA94B78F}"/>
              </a:ext>
            </a:extLst>
          </p:cNvPr>
          <p:cNvSpPr>
            <a:spLocks noGrp="1"/>
          </p:cNvSpPr>
          <p:nvPr>
            <p:ph type="sldNum" sz="quarter" idx="12"/>
          </p:nvPr>
        </p:nvSpPr>
        <p:spPr/>
        <p:txBody>
          <a:bodyPr/>
          <a:lstStyle/>
          <a:p>
            <a:fld id="{2079A58B-02D7-4FED-9D5F-A5FC9BAA9C81}" type="slidenum">
              <a:rPr lang="en-US" smtClean="0"/>
              <a:t>‹N›</a:t>
            </a:fld>
            <a:endParaRPr lang="en-US"/>
          </a:p>
        </p:txBody>
      </p:sp>
    </p:spTree>
    <p:extLst>
      <p:ext uri="{BB962C8B-B14F-4D97-AF65-F5344CB8AC3E}">
        <p14:creationId xmlns:p14="http://schemas.microsoft.com/office/powerpoint/2010/main" val="327598013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3B760DA-8B68-4184-9FEC-B2EBEA95D620}"/>
              </a:ext>
            </a:extLst>
          </p:cNvPr>
          <p:cNvSpPr>
            <a:spLocks noGrp="1"/>
          </p:cNvSpPr>
          <p:nvPr>
            <p:ph type="title"/>
          </p:nvPr>
        </p:nvSpPr>
        <p:spPr>
          <a:xfrm>
            <a:off x="839788" y="457200"/>
            <a:ext cx="3932237" cy="1600200"/>
          </a:xfrm>
        </p:spPr>
        <p:txBody>
          <a:bodyPr anchor="b"/>
          <a:lstStyle>
            <a:lvl1pPr>
              <a:defRPr sz="3200"/>
            </a:lvl1pPr>
          </a:lstStyle>
          <a:p>
            <a:r>
              <a:rPr lang="fr-FR"/>
              <a:t>Modifiez le style du titre</a:t>
            </a:r>
            <a:endParaRPr lang="en-US"/>
          </a:p>
        </p:txBody>
      </p:sp>
      <p:sp>
        <p:nvSpPr>
          <p:cNvPr id="3" name="Espace réservé pour une image  2">
            <a:extLst>
              <a:ext uri="{FF2B5EF4-FFF2-40B4-BE49-F238E27FC236}">
                <a16:creationId xmlns:a16="http://schemas.microsoft.com/office/drawing/2014/main" id="{8A1C0217-429A-4F7E-8CA2-57B20837B0D6}"/>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Espace réservé du texte 3">
            <a:extLst>
              <a:ext uri="{FF2B5EF4-FFF2-40B4-BE49-F238E27FC236}">
                <a16:creationId xmlns:a16="http://schemas.microsoft.com/office/drawing/2014/main" id="{036D775B-BD64-4CC6-BE6D-E239D2841EE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56A02C9D-8069-4E1F-9506-60CFE96F6A82}"/>
              </a:ext>
            </a:extLst>
          </p:cNvPr>
          <p:cNvSpPr>
            <a:spLocks noGrp="1"/>
          </p:cNvSpPr>
          <p:nvPr>
            <p:ph type="dt" sz="half" idx="10"/>
          </p:nvPr>
        </p:nvSpPr>
        <p:spPr/>
        <p:txBody>
          <a:bodyPr/>
          <a:lstStyle/>
          <a:p>
            <a:fld id="{B3BB4915-80FB-4696-B5FE-62AB0629C897}" type="datetimeFigureOut">
              <a:rPr lang="en-US" smtClean="0"/>
              <a:t>1/11/2023</a:t>
            </a:fld>
            <a:endParaRPr lang="en-US"/>
          </a:p>
        </p:txBody>
      </p:sp>
      <p:sp>
        <p:nvSpPr>
          <p:cNvPr id="6" name="Espace réservé du pied de page 5">
            <a:extLst>
              <a:ext uri="{FF2B5EF4-FFF2-40B4-BE49-F238E27FC236}">
                <a16:creationId xmlns:a16="http://schemas.microsoft.com/office/drawing/2014/main" id="{E9759BB3-268B-4FEF-981E-4374963146F0}"/>
              </a:ext>
            </a:extLst>
          </p:cNvPr>
          <p:cNvSpPr>
            <a:spLocks noGrp="1"/>
          </p:cNvSpPr>
          <p:nvPr>
            <p:ph type="ftr" sz="quarter" idx="11"/>
          </p:nvPr>
        </p:nvSpPr>
        <p:spPr/>
        <p:txBody>
          <a:bodyPr/>
          <a:lstStyle/>
          <a:p>
            <a:endParaRPr lang="en-US"/>
          </a:p>
        </p:txBody>
      </p:sp>
      <p:sp>
        <p:nvSpPr>
          <p:cNvPr id="7" name="Espace réservé du numéro de diapositive 6">
            <a:extLst>
              <a:ext uri="{FF2B5EF4-FFF2-40B4-BE49-F238E27FC236}">
                <a16:creationId xmlns:a16="http://schemas.microsoft.com/office/drawing/2014/main" id="{383839AE-7481-41D3-AF1B-F120C139A01B}"/>
              </a:ext>
            </a:extLst>
          </p:cNvPr>
          <p:cNvSpPr>
            <a:spLocks noGrp="1"/>
          </p:cNvSpPr>
          <p:nvPr>
            <p:ph type="sldNum" sz="quarter" idx="12"/>
          </p:nvPr>
        </p:nvSpPr>
        <p:spPr/>
        <p:txBody>
          <a:bodyPr/>
          <a:lstStyle/>
          <a:p>
            <a:fld id="{2079A58B-02D7-4FED-9D5F-A5FC9BAA9C81}" type="slidenum">
              <a:rPr lang="en-US" smtClean="0"/>
              <a:t>‹N›</a:t>
            </a:fld>
            <a:endParaRPr lang="en-US"/>
          </a:p>
        </p:txBody>
      </p:sp>
    </p:spTree>
    <p:extLst>
      <p:ext uri="{BB962C8B-B14F-4D97-AF65-F5344CB8AC3E}">
        <p14:creationId xmlns:p14="http://schemas.microsoft.com/office/powerpoint/2010/main" val="166530337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612005F-9BA0-45DA-997C-6A3B46414BD8}"/>
              </a:ext>
            </a:extLst>
          </p:cNvPr>
          <p:cNvSpPr>
            <a:spLocks noGrp="1"/>
          </p:cNvSpPr>
          <p:nvPr>
            <p:ph type="title"/>
          </p:nvPr>
        </p:nvSpPr>
        <p:spPr/>
        <p:txBody>
          <a:bodyPr/>
          <a:lstStyle/>
          <a:p>
            <a:r>
              <a:rPr lang="fr-FR"/>
              <a:t>Modifiez le style du titre</a:t>
            </a:r>
            <a:endParaRPr lang="en-US"/>
          </a:p>
        </p:txBody>
      </p:sp>
      <p:sp>
        <p:nvSpPr>
          <p:cNvPr id="3" name="Espace réservé du texte vertical 2">
            <a:extLst>
              <a:ext uri="{FF2B5EF4-FFF2-40B4-BE49-F238E27FC236}">
                <a16:creationId xmlns:a16="http://schemas.microsoft.com/office/drawing/2014/main" id="{52DB4673-E341-4F00-9233-F7359926A979}"/>
              </a:ext>
            </a:extLst>
          </p:cNvPr>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e la date 3">
            <a:extLst>
              <a:ext uri="{FF2B5EF4-FFF2-40B4-BE49-F238E27FC236}">
                <a16:creationId xmlns:a16="http://schemas.microsoft.com/office/drawing/2014/main" id="{2A8ED70E-9881-42E0-AAF9-B6D401172B13}"/>
              </a:ext>
            </a:extLst>
          </p:cNvPr>
          <p:cNvSpPr>
            <a:spLocks noGrp="1"/>
          </p:cNvSpPr>
          <p:nvPr>
            <p:ph type="dt" sz="half" idx="10"/>
          </p:nvPr>
        </p:nvSpPr>
        <p:spPr/>
        <p:txBody>
          <a:bodyPr/>
          <a:lstStyle/>
          <a:p>
            <a:fld id="{B3BB4915-80FB-4696-B5FE-62AB0629C897}" type="datetimeFigureOut">
              <a:rPr lang="en-US" smtClean="0"/>
              <a:t>1/11/2023</a:t>
            </a:fld>
            <a:endParaRPr lang="en-US"/>
          </a:p>
        </p:txBody>
      </p:sp>
      <p:sp>
        <p:nvSpPr>
          <p:cNvPr id="5" name="Espace réservé du pied de page 4">
            <a:extLst>
              <a:ext uri="{FF2B5EF4-FFF2-40B4-BE49-F238E27FC236}">
                <a16:creationId xmlns:a16="http://schemas.microsoft.com/office/drawing/2014/main" id="{E7A872FD-BADC-43A9-9006-5F44B04F77FF}"/>
              </a:ext>
            </a:extLst>
          </p:cNvPr>
          <p:cNvSpPr>
            <a:spLocks noGrp="1"/>
          </p:cNvSpPr>
          <p:nvPr>
            <p:ph type="ftr" sz="quarter" idx="11"/>
          </p:nvPr>
        </p:nvSpPr>
        <p:spPr/>
        <p:txBody>
          <a:bodyPr/>
          <a:lstStyle/>
          <a:p>
            <a:endParaRPr lang="en-US"/>
          </a:p>
        </p:txBody>
      </p:sp>
      <p:sp>
        <p:nvSpPr>
          <p:cNvPr id="6" name="Espace réservé du numéro de diapositive 5">
            <a:extLst>
              <a:ext uri="{FF2B5EF4-FFF2-40B4-BE49-F238E27FC236}">
                <a16:creationId xmlns:a16="http://schemas.microsoft.com/office/drawing/2014/main" id="{B634E3C3-AA40-44B4-8F24-D80748C2A83B}"/>
              </a:ext>
            </a:extLst>
          </p:cNvPr>
          <p:cNvSpPr>
            <a:spLocks noGrp="1"/>
          </p:cNvSpPr>
          <p:nvPr>
            <p:ph type="sldNum" sz="quarter" idx="12"/>
          </p:nvPr>
        </p:nvSpPr>
        <p:spPr/>
        <p:txBody>
          <a:bodyPr/>
          <a:lstStyle/>
          <a:p>
            <a:fld id="{2079A58B-02D7-4FED-9D5F-A5FC9BAA9C81}" type="slidenum">
              <a:rPr lang="en-US" smtClean="0"/>
              <a:t>‹N›</a:t>
            </a:fld>
            <a:endParaRPr lang="en-US"/>
          </a:p>
        </p:txBody>
      </p:sp>
    </p:spTree>
    <p:extLst>
      <p:ext uri="{BB962C8B-B14F-4D97-AF65-F5344CB8AC3E}">
        <p14:creationId xmlns:p14="http://schemas.microsoft.com/office/powerpoint/2010/main" val="252762940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a:extLst>
              <a:ext uri="{FF2B5EF4-FFF2-40B4-BE49-F238E27FC236}">
                <a16:creationId xmlns:a16="http://schemas.microsoft.com/office/drawing/2014/main" id="{9F503DD8-FB6D-4EFE-B2BD-12DD059169AF}"/>
              </a:ext>
            </a:extLst>
          </p:cNvPr>
          <p:cNvSpPr>
            <a:spLocks noGrp="1"/>
          </p:cNvSpPr>
          <p:nvPr>
            <p:ph type="title" orient="vert"/>
          </p:nvPr>
        </p:nvSpPr>
        <p:spPr>
          <a:xfrm>
            <a:off x="8724900" y="365125"/>
            <a:ext cx="2628900" cy="5811838"/>
          </a:xfrm>
        </p:spPr>
        <p:txBody>
          <a:bodyPr vert="eaVert"/>
          <a:lstStyle/>
          <a:p>
            <a:r>
              <a:rPr lang="fr-FR"/>
              <a:t>Modifiez le style du titre</a:t>
            </a:r>
            <a:endParaRPr lang="en-US"/>
          </a:p>
        </p:txBody>
      </p:sp>
      <p:sp>
        <p:nvSpPr>
          <p:cNvPr id="3" name="Espace réservé du texte vertical 2">
            <a:extLst>
              <a:ext uri="{FF2B5EF4-FFF2-40B4-BE49-F238E27FC236}">
                <a16:creationId xmlns:a16="http://schemas.microsoft.com/office/drawing/2014/main" id="{E51A3AF4-F1B1-449B-8C77-E567E2854560}"/>
              </a:ext>
            </a:extLst>
          </p:cNvPr>
          <p:cNvSpPr>
            <a:spLocks noGrp="1"/>
          </p:cNvSpPr>
          <p:nvPr>
            <p:ph type="body" orient="vert" idx="1"/>
          </p:nvPr>
        </p:nvSpPr>
        <p:spPr>
          <a:xfrm>
            <a:off x="838200" y="365125"/>
            <a:ext cx="7734300" cy="5811838"/>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e la date 3">
            <a:extLst>
              <a:ext uri="{FF2B5EF4-FFF2-40B4-BE49-F238E27FC236}">
                <a16:creationId xmlns:a16="http://schemas.microsoft.com/office/drawing/2014/main" id="{63123E81-2706-430F-8265-3ACB6C471BFC}"/>
              </a:ext>
            </a:extLst>
          </p:cNvPr>
          <p:cNvSpPr>
            <a:spLocks noGrp="1"/>
          </p:cNvSpPr>
          <p:nvPr>
            <p:ph type="dt" sz="half" idx="10"/>
          </p:nvPr>
        </p:nvSpPr>
        <p:spPr/>
        <p:txBody>
          <a:bodyPr/>
          <a:lstStyle/>
          <a:p>
            <a:fld id="{B3BB4915-80FB-4696-B5FE-62AB0629C897}" type="datetimeFigureOut">
              <a:rPr lang="en-US" smtClean="0"/>
              <a:t>1/11/2023</a:t>
            </a:fld>
            <a:endParaRPr lang="en-US"/>
          </a:p>
        </p:txBody>
      </p:sp>
      <p:sp>
        <p:nvSpPr>
          <p:cNvPr id="5" name="Espace réservé du pied de page 4">
            <a:extLst>
              <a:ext uri="{FF2B5EF4-FFF2-40B4-BE49-F238E27FC236}">
                <a16:creationId xmlns:a16="http://schemas.microsoft.com/office/drawing/2014/main" id="{EAE896C1-94B3-4723-AEFA-9DEE55048687}"/>
              </a:ext>
            </a:extLst>
          </p:cNvPr>
          <p:cNvSpPr>
            <a:spLocks noGrp="1"/>
          </p:cNvSpPr>
          <p:nvPr>
            <p:ph type="ftr" sz="quarter" idx="11"/>
          </p:nvPr>
        </p:nvSpPr>
        <p:spPr/>
        <p:txBody>
          <a:bodyPr/>
          <a:lstStyle/>
          <a:p>
            <a:endParaRPr lang="en-US"/>
          </a:p>
        </p:txBody>
      </p:sp>
      <p:sp>
        <p:nvSpPr>
          <p:cNvPr id="6" name="Espace réservé du numéro de diapositive 5">
            <a:extLst>
              <a:ext uri="{FF2B5EF4-FFF2-40B4-BE49-F238E27FC236}">
                <a16:creationId xmlns:a16="http://schemas.microsoft.com/office/drawing/2014/main" id="{7185F01B-C418-49B4-9B0D-9780F688E3BA}"/>
              </a:ext>
            </a:extLst>
          </p:cNvPr>
          <p:cNvSpPr>
            <a:spLocks noGrp="1"/>
          </p:cNvSpPr>
          <p:nvPr>
            <p:ph type="sldNum" sz="quarter" idx="12"/>
          </p:nvPr>
        </p:nvSpPr>
        <p:spPr/>
        <p:txBody>
          <a:bodyPr/>
          <a:lstStyle/>
          <a:p>
            <a:fld id="{2079A58B-02D7-4FED-9D5F-A5FC9BAA9C81}" type="slidenum">
              <a:rPr lang="en-US" smtClean="0"/>
              <a:t>‹N›</a:t>
            </a:fld>
            <a:endParaRPr lang="en-US"/>
          </a:p>
        </p:txBody>
      </p:sp>
    </p:spTree>
    <p:extLst>
      <p:ext uri="{BB962C8B-B14F-4D97-AF65-F5344CB8AC3E}">
        <p14:creationId xmlns:p14="http://schemas.microsoft.com/office/powerpoint/2010/main" val="14721387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2_Titre et conten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58228A6-096C-4673-9079-F46A8D2ED92C}"/>
              </a:ext>
            </a:extLst>
          </p:cNvPr>
          <p:cNvSpPr>
            <a:spLocks noGrp="1"/>
          </p:cNvSpPr>
          <p:nvPr>
            <p:ph type="title"/>
          </p:nvPr>
        </p:nvSpPr>
        <p:spPr/>
        <p:txBody>
          <a:bodyPr/>
          <a:lstStyle/>
          <a:p>
            <a:r>
              <a:rPr lang="fr-FR"/>
              <a:t>Modifiez le style du titre</a:t>
            </a:r>
          </a:p>
        </p:txBody>
      </p:sp>
      <p:sp>
        <p:nvSpPr>
          <p:cNvPr id="4" name="Espace réservé de la date 3">
            <a:extLst>
              <a:ext uri="{FF2B5EF4-FFF2-40B4-BE49-F238E27FC236}">
                <a16:creationId xmlns:a16="http://schemas.microsoft.com/office/drawing/2014/main" id="{E0675FF8-2716-458A-87EC-1946B2412C54}"/>
              </a:ext>
            </a:extLst>
          </p:cNvPr>
          <p:cNvSpPr>
            <a:spLocks noGrp="1"/>
          </p:cNvSpPr>
          <p:nvPr>
            <p:ph type="dt" sz="half" idx="10"/>
          </p:nvPr>
        </p:nvSpPr>
        <p:spPr/>
        <p:txBody>
          <a:bodyPr/>
          <a:lstStyle/>
          <a:p>
            <a:fld id="{2E6439E6-DD8C-4C85-9C7B-9357438C85CB}" type="datetimeFigureOut">
              <a:rPr lang="fr-FR" smtClean="0"/>
              <a:t>11/01/2023</a:t>
            </a:fld>
            <a:endParaRPr lang="fr-FR"/>
          </a:p>
        </p:txBody>
      </p:sp>
      <p:sp>
        <p:nvSpPr>
          <p:cNvPr id="5" name="Espace réservé du pied de page 4">
            <a:extLst>
              <a:ext uri="{FF2B5EF4-FFF2-40B4-BE49-F238E27FC236}">
                <a16:creationId xmlns:a16="http://schemas.microsoft.com/office/drawing/2014/main" id="{3DA611A9-68F4-4DA3-B125-40A38CA78832}"/>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D92A5F1A-93D2-4E3F-A68E-9339C42C1AA3}"/>
              </a:ext>
            </a:extLst>
          </p:cNvPr>
          <p:cNvSpPr>
            <a:spLocks noGrp="1"/>
          </p:cNvSpPr>
          <p:nvPr>
            <p:ph type="sldNum" sz="quarter" idx="12"/>
          </p:nvPr>
        </p:nvSpPr>
        <p:spPr/>
        <p:txBody>
          <a:bodyPr/>
          <a:lstStyle/>
          <a:p>
            <a:fld id="{87B4D992-F161-4455-B186-2BFDF7EA604F}" type="slidenum">
              <a:rPr lang="fr-FR" smtClean="0"/>
              <a:t>‹N›</a:t>
            </a:fld>
            <a:endParaRPr lang="fr-FR"/>
          </a:p>
        </p:txBody>
      </p:sp>
      <p:sp>
        <p:nvSpPr>
          <p:cNvPr id="12" name="Espace réservé du texte 11">
            <a:extLst>
              <a:ext uri="{FF2B5EF4-FFF2-40B4-BE49-F238E27FC236}">
                <a16:creationId xmlns:a16="http://schemas.microsoft.com/office/drawing/2014/main" id="{7EF081AE-78A0-4824-86D2-C4B9835730D6}"/>
              </a:ext>
            </a:extLst>
          </p:cNvPr>
          <p:cNvSpPr>
            <a:spLocks noGrp="1"/>
          </p:cNvSpPr>
          <p:nvPr>
            <p:ph type="body" sz="quarter" idx="16"/>
          </p:nvPr>
        </p:nvSpPr>
        <p:spPr>
          <a:xfrm>
            <a:off x="846138" y="2514918"/>
            <a:ext cx="2404138" cy="3520758"/>
          </a:xfrm>
          <a:solidFill>
            <a:schemeClr val="bg1">
              <a:lumMod val="95000"/>
            </a:schemeClr>
          </a:solidFill>
        </p:spPr>
        <p:txBody>
          <a:bodyPr>
            <a:noAutofit/>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15" name="Espace réservé du texte 3">
            <a:extLst>
              <a:ext uri="{FF2B5EF4-FFF2-40B4-BE49-F238E27FC236}">
                <a16:creationId xmlns:a16="http://schemas.microsoft.com/office/drawing/2014/main" id="{CABE86F3-7992-43DD-AA70-A9905328F026}"/>
              </a:ext>
            </a:extLst>
          </p:cNvPr>
          <p:cNvSpPr>
            <a:spLocks noGrp="1"/>
          </p:cNvSpPr>
          <p:nvPr>
            <p:ph type="body" idx="1" hasCustomPrompt="1"/>
          </p:nvPr>
        </p:nvSpPr>
        <p:spPr>
          <a:xfrm>
            <a:off x="838200" y="2011680"/>
            <a:ext cx="2412076" cy="503237"/>
          </a:xfrm>
          <a:solidFill>
            <a:srgbClr val="0683AA"/>
          </a:solidFill>
        </p:spPr>
        <p:txBody>
          <a:bodyPr anchor="ctr">
            <a:normAutofit/>
          </a:bodyPr>
          <a:lstStyle>
            <a:lvl1pPr marL="0" indent="0">
              <a:buNone/>
              <a:defRPr b="1"/>
            </a:lvl1pPr>
          </a:lstStyle>
          <a:p>
            <a:r>
              <a:rPr lang="fr-FR" sz="2000" dirty="0"/>
              <a:t>Préparation</a:t>
            </a:r>
          </a:p>
        </p:txBody>
      </p:sp>
      <p:sp>
        <p:nvSpPr>
          <p:cNvPr id="17" name="Espace réservé du texte 11">
            <a:extLst>
              <a:ext uri="{FF2B5EF4-FFF2-40B4-BE49-F238E27FC236}">
                <a16:creationId xmlns:a16="http://schemas.microsoft.com/office/drawing/2014/main" id="{8502E738-5387-4C85-8925-A58B13D5C337}"/>
              </a:ext>
            </a:extLst>
          </p:cNvPr>
          <p:cNvSpPr>
            <a:spLocks noGrp="1"/>
          </p:cNvSpPr>
          <p:nvPr>
            <p:ph type="body" sz="quarter" idx="17"/>
          </p:nvPr>
        </p:nvSpPr>
        <p:spPr>
          <a:xfrm>
            <a:off x="3423084" y="2514600"/>
            <a:ext cx="5247090" cy="3520758"/>
          </a:xfrm>
          <a:solidFill>
            <a:schemeClr val="bg1">
              <a:lumMod val="95000"/>
            </a:schemeClr>
          </a:solidFill>
        </p:spPr>
        <p:txBody>
          <a:bodyPr>
            <a:noAutofit/>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18" name="Espace réservé du texte 3">
            <a:extLst>
              <a:ext uri="{FF2B5EF4-FFF2-40B4-BE49-F238E27FC236}">
                <a16:creationId xmlns:a16="http://schemas.microsoft.com/office/drawing/2014/main" id="{F777FCCC-8D02-429C-B656-53DE6BE1F64A}"/>
              </a:ext>
            </a:extLst>
          </p:cNvPr>
          <p:cNvSpPr>
            <a:spLocks noGrp="1"/>
          </p:cNvSpPr>
          <p:nvPr>
            <p:ph type="body" idx="18" hasCustomPrompt="1"/>
          </p:nvPr>
        </p:nvSpPr>
        <p:spPr>
          <a:xfrm>
            <a:off x="3415145" y="2011362"/>
            <a:ext cx="5255029" cy="503237"/>
          </a:xfrm>
          <a:solidFill>
            <a:srgbClr val="ED7D31"/>
          </a:solidFill>
        </p:spPr>
        <p:txBody>
          <a:bodyPr anchor="ctr">
            <a:normAutofit/>
          </a:bodyPr>
          <a:lstStyle>
            <a:lvl1pPr marL="0" indent="0">
              <a:buNone/>
              <a:defRPr b="1"/>
            </a:lvl1pPr>
          </a:lstStyle>
          <a:p>
            <a:r>
              <a:rPr lang="fr-FR" sz="2000" dirty="0"/>
              <a:t>Déroulement</a:t>
            </a:r>
          </a:p>
        </p:txBody>
      </p:sp>
      <p:sp>
        <p:nvSpPr>
          <p:cNvPr id="19" name="Espace réservé du texte 11">
            <a:extLst>
              <a:ext uri="{FF2B5EF4-FFF2-40B4-BE49-F238E27FC236}">
                <a16:creationId xmlns:a16="http://schemas.microsoft.com/office/drawing/2014/main" id="{6314BD1E-5C51-4675-8B2E-5D55A2E60381}"/>
              </a:ext>
            </a:extLst>
          </p:cNvPr>
          <p:cNvSpPr>
            <a:spLocks noGrp="1"/>
          </p:cNvSpPr>
          <p:nvPr>
            <p:ph type="body" sz="quarter" idx="19"/>
          </p:nvPr>
        </p:nvSpPr>
        <p:spPr>
          <a:xfrm>
            <a:off x="8941724" y="2514600"/>
            <a:ext cx="2404138" cy="3520758"/>
          </a:xfrm>
          <a:solidFill>
            <a:schemeClr val="bg1">
              <a:lumMod val="95000"/>
            </a:schemeClr>
          </a:solidFill>
        </p:spPr>
        <p:txBody>
          <a:bodyPr>
            <a:noAutofit/>
          </a:bodyPr>
          <a:lstStyle>
            <a:lvl1pPr marL="0" indent="0">
              <a:buNone/>
              <a:defRPr sz="1600"/>
            </a:lvl1pPr>
            <a:lvl2pPr marL="457200" indent="0">
              <a:buNone/>
              <a:defRPr sz="1400"/>
            </a:lvl2pPr>
            <a:lvl3pPr marL="914400" indent="0">
              <a:buNone/>
              <a:defRPr sz="1200"/>
            </a:lvl3pPr>
            <a:lvl4pPr marL="1371600" indent="0">
              <a:buNone/>
              <a:defRPr sz="1100"/>
            </a:lvl4pPr>
            <a:lvl5pPr marL="1828800" indent="0">
              <a:buNone/>
              <a:defRPr sz="1100"/>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20" name="Espace réservé du texte 3">
            <a:extLst>
              <a:ext uri="{FF2B5EF4-FFF2-40B4-BE49-F238E27FC236}">
                <a16:creationId xmlns:a16="http://schemas.microsoft.com/office/drawing/2014/main" id="{A0367A33-B32C-4E8B-AF59-2F2F8AF32DE5}"/>
              </a:ext>
            </a:extLst>
          </p:cNvPr>
          <p:cNvSpPr>
            <a:spLocks noGrp="1"/>
          </p:cNvSpPr>
          <p:nvPr>
            <p:ph type="body" idx="20" hasCustomPrompt="1"/>
          </p:nvPr>
        </p:nvSpPr>
        <p:spPr>
          <a:xfrm>
            <a:off x="8933786" y="2011362"/>
            <a:ext cx="2412076" cy="503237"/>
          </a:xfrm>
          <a:solidFill>
            <a:srgbClr val="BFBFBF"/>
          </a:solidFill>
        </p:spPr>
        <p:txBody>
          <a:bodyPr anchor="ctr">
            <a:normAutofit/>
          </a:bodyPr>
          <a:lstStyle>
            <a:lvl1pPr marL="0" indent="0">
              <a:buNone/>
              <a:defRPr b="1"/>
            </a:lvl1pPr>
          </a:lstStyle>
          <a:p>
            <a:r>
              <a:rPr lang="fr-FR" sz="2000" dirty="0"/>
              <a:t>Debriefing</a:t>
            </a:r>
          </a:p>
        </p:txBody>
      </p:sp>
    </p:spTree>
    <p:extLst>
      <p:ext uri="{BB962C8B-B14F-4D97-AF65-F5344CB8AC3E}">
        <p14:creationId xmlns:p14="http://schemas.microsoft.com/office/powerpoint/2010/main" val="278861081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a:extLst>
              <a:ext uri="{FF2B5EF4-FFF2-40B4-BE49-F238E27FC236}">
                <a16:creationId xmlns:a16="http://schemas.microsoft.com/office/drawing/2014/main" id="{A79F23C7-2EEB-46DE-8326-93C8D03F029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fr-FR"/>
              <a:t>Modifiez le style du titre</a:t>
            </a:r>
            <a:endParaRPr lang="en-US"/>
          </a:p>
        </p:txBody>
      </p:sp>
      <p:sp>
        <p:nvSpPr>
          <p:cNvPr id="3" name="Espace réservé du texte 2">
            <a:extLst>
              <a:ext uri="{FF2B5EF4-FFF2-40B4-BE49-F238E27FC236}">
                <a16:creationId xmlns:a16="http://schemas.microsoft.com/office/drawing/2014/main" id="{319A91A5-0574-4EFB-97AD-11ED198BB0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e la date 3">
            <a:extLst>
              <a:ext uri="{FF2B5EF4-FFF2-40B4-BE49-F238E27FC236}">
                <a16:creationId xmlns:a16="http://schemas.microsoft.com/office/drawing/2014/main" id="{439593B9-E2A4-488D-9CC7-00DD98128CDC}"/>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3BB4915-80FB-4696-B5FE-62AB0629C897}" type="datetimeFigureOut">
              <a:rPr lang="en-US" smtClean="0"/>
              <a:t>1/11/2023</a:t>
            </a:fld>
            <a:endParaRPr lang="en-US"/>
          </a:p>
        </p:txBody>
      </p:sp>
      <p:sp>
        <p:nvSpPr>
          <p:cNvPr id="5" name="Espace réservé du pied de page 4">
            <a:extLst>
              <a:ext uri="{FF2B5EF4-FFF2-40B4-BE49-F238E27FC236}">
                <a16:creationId xmlns:a16="http://schemas.microsoft.com/office/drawing/2014/main" id="{7E38F7D0-D602-4EB2-B3B6-0E090624EA7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Espace réservé du numéro de diapositive 5">
            <a:extLst>
              <a:ext uri="{FF2B5EF4-FFF2-40B4-BE49-F238E27FC236}">
                <a16:creationId xmlns:a16="http://schemas.microsoft.com/office/drawing/2014/main" id="{1B9030BA-07B3-491E-A08C-200927C3A5F9}"/>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2079A58B-02D7-4FED-9D5F-A5FC9BAA9C81}" type="slidenum">
              <a:rPr lang="en-US" smtClean="0"/>
              <a:t>‹N›</a:t>
            </a:fld>
            <a:endParaRPr lang="en-US"/>
          </a:p>
        </p:txBody>
      </p:sp>
      <p:pic>
        <p:nvPicPr>
          <p:cNvPr id="7" name="Image 6" descr="Une image contenant texte, clipart&#10;&#10;Description générée automatiquement">
            <a:extLst>
              <a:ext uri="{FF2B5EF4-FFF2-40B4-BE49-F238E27FC236}">
                <a16:creationId xmlns:a16="http://schemas.microsoft.com/office/drawing/2014/main" id="{1A5FCC23-A89A-5000-DE21-451D34DC5567}"/>
              </a:ext>
            </a:extLst>
          </p:cNvPr>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1594868" y="0"/>
            <a:ext cx="597132" cy="270027"/>
          </a:xfrm>
          <a:prstGeom prst="rect">
            <a:avLst/>
          </a:prstGeom>
        </p:spPr>
      </p:pic>
      <p:pic>
        <p:nvPicPr>
          <p:cNvPr id="8" name="Image 7" descr="Une image contenant texte, clipart&#10;&#10;Description générée automatiquement">
            <a:extLst>
              <a:ext uri="{FF2B5EF4-FFF2-40B4-BE49-F238E27FC236}">
                <a16:creationId xmlns:a16="http://schemas.microsoft.com/office/drawing/2014/main" id="{8805E6BA-6AD7-E902-6955-742D130959F7}"/>
              </a:ext>
            </a:extLst>
          </p:cNvPr>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1512434" y="6538912"/>
            <a:ext cx="597132" cy="270027"/>
          </a:xfrm>
          <a:prstGeom prst="rect">
            <a:avLst/>
          </a:prstGeom>
        </p:spPr>
      </p:pic>
      <p:pic>
        <p:nvPicPr>
          <p:cNvPr id="9" name="Image 8" descr="Une image contenant texte, clipart&#10;&#10;Description générée automatiquement">
            <a:extLst>
              <a:ext uri="{FF2B5EF4-FFF2-40B4-BE49-F238E27FC236}">
                <a16:creationId xmlns:a16="http://schemas.microsoft.com/office/drawing/2014/main" id="{A02B5F14-23C3-4230-C4C5-51064E07D0EB}"/>
              </a:ext>
            </a:extLst>
          </p:cNvPr>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2468" y="6568642"/>
            <a:ext cx="597132" cy="270027"/>
          </a:xfrm>
          <a:prstGeom prst="rect">
            <a:avLst/>
          </a:prstGeom>
        </p:spPr>
      </p:pic>
      <p:pic>
        <p:nvPicPr>
          <p:cNvPr id="10" name="Image 9" descr="Une image contenant texte, clipart&#10;&#10;Description générée automatiquement">
            <a:extLst>
              <a:ext uri="{FF2B5EF4-FFF2-40B4-BE49-F238E27FC236}">
                <a16:creationId xmlns:a16="http://schemas.microsoft.com/office/drawing/2014/main" id="{B779F35A-2B4E-8B4B-4F88-8B8A41FBD91A}"/>
              </a:ext>
            </a:extLst>
          </p:cNvPr>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2468" y="19331"/>
            <a:ext cx="597132" cy="270027"/>
          </a:xfrm>
          <a:prstGeom prst="rect">
            <a:avLst/>
          </a:prstGeom>
        </p:spPr>
      </p:pic>
    </p:spTree>
    <p:extLst>
      <p:ext uri="{BB962C8B-B14F-4D97-AF65-F5344CB8AC3E}">
        <p14:creationId xmlns:p14="http://schemas.microsoft.com/office/powerpoint/2010/main" val="9395365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3.svg"/><Relationship Id="rId7" Type="http://schemas.openxmlformats.org/officeDocument/2006/relationships/image" Target="../media/image7.svg"/><Relationship Id="rId2" Type="http://schemas.openxmlformats.org/officeDocument/2006/relationships/image" Target="../media/image2.png"/><Relationship Id="rId1" Type="http://schemas.openxmlformats.org/officeDocument/2006/relationships/slideLayout" Target="../slideLayouts/slideLayout1.xml"/><Relationship Id="rId6" Type="http://schemas.openxmlformats.org/officeDocument/2006/relationships/image" Target="../media/image6.png"/><Relationship Id="rId5" Type="http://schemas.openxmlformats.org/officeDocument/2006/relationships/image" Target="../media/image5.svg"/><Relationship Id="rId10" Type="http://schemas.openxmlformats.org/officeDocument/2006/relationships/image" Target="../media/image1.png"/><Relationship Id="rId4" Type="http://schemas.openxmlformats.org/officeDocument/2006/relationships/image" Target="../media/image4.png"/><Relationship Id="rId9" Type="http://schemas.openxmlformats.org/officeDocument/2006/relationships/image" Target="../media/image9.svg"/></Relationships>
</file>

<file path=ppt/slides/_rels/slide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hyperlink" Target="https://www.openseriousgames.org/OpenSeriousCommunity" TargetMode="Externa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Layout" Target="../slideLayouts/slideLayout2.xml"/><Relationship Id="rId5" Type="http://schemas.openxmlformats.org/officeDocument/2006/relationships/image" Target="../media/image14.svg"/><Relationship Id="rId4" Type="http://schemas.openxmlformats.org/officeDocument/2006/relationships/image" Target="../media/image13.png"/></Relationships>
</file>

<file path=ppt/slides/_rels/slide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Layout" Target="../slideLayouts/slideLayout2.xml"/><Relationship Id="rId5" Type="http://schemas.openxmlformats.org/officeDocument/2006/relationships/image" Target="../media/image18.svg"/><Relationship Id="rId4" Type="http://schemas.openxmlformats.org/officeDocument/2006/relationships/image" Target="../media/image17.png"/></Relationships>
</file>

<file path=ppt/slides/_rels/slide5.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26.svg"/><Relationship Id="rId2" Type="http://schemas.openxmlformats.org/officeDocument/2006/relationships/image" Target="../media/image25.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28.svg"/><Relationship Id="rId2" Type="http://schemas.openxmlformats.org/officeDocument/2006/relationships/image" Target="../media/image27.png"/><Relationship Id="rId1" Type="http://schemas.openxmlformats.org/officeDocument/2006/relationships/slideLayout" Target="../slideLayouts/slideLayout2.xml"/><Relationship Id="rId5" Type="http://schemas.openxmlformats.org/officeDocument/2006/relationships/image" Target="../media/image30.svg"/><Relationship Id="rId4" Type="http://schemas.openxmlformats.org/officeDocument/2006/relationships/image" Target="../media/image29.png"/></Relationships>
</file>

<file path=ppt/slides/_rels/slide11.xml.rels><?xml version="1.0" encoding="UTF-8" standalone="yes"?>
<Relationships xmlns="http://schemas.openxmlformats.org/package/2006/relationships"><Relationship Id="rId2" Type="http://schemas.openxmlformats.org/officeDocument/2006/relationships/hyperlink" Target="https://creativecommons.org/licenses/by/4.0/" TargetMode="External"/><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2" Type="http://schemas.openxmlformats.org/officeDocument/2006/relationships/hyperlink" Target="https://creativecommons.org/licenses/by/4.0/" TargetMode="Externa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3.svg"/><Relationship Id="rId7" Type="http://schemas.openxmlformats.org/officeDocument/2006/relationships/image" Target="../media/image9.svg"/><Relationship Id="rId2" Type="http://schemas.openxmlformats.org/officeDocument/2006/relationships/image" Target="../media/image2.png"/><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5.svg"/><Relationship Id="rId4" Type="http://schemas.openxmlformats.org/officeDocument/2006/relationships/image" Target="../media/image4.png"/></Relationships>
</file>

<file path=ppt/slides/_rels/slide15.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3.svg"/><Relationship Id="rId7" Type="http://schemas.openxmlformats.org/officeDocument/2006/relationships/image" Target="../media/image7.svg"/><Relationship Id="rId2" Type="http://schemas.openxmlformats.org/officeDocument/2006/relationships/image" Target="../media/image2.png"/><Relationship Id="rId1" Type="http://schemas.openxmlformats.org/officeDocument/2006/relationships/slideLayout" Target="../slideLayouts/slideLayout2.xml"/><Relationship Id="rId6" Type="http://schemas.openxmlformats.org/officeDocument/2006/relationships/image" Target="../media/image6.png"/><Relationship Id="rId5" Type="http://schemas.openxmlformats.org/officeDocument/2006/relationships/image" Target="../media/image5.svg"/><Relationship Id="rId4" Type="http://schemas.openxmlformats.org/officeDocument/2006/relationships/image" Target="../media/image4.png"/><Relationship Id="rId9" Type="http://schemas.openxmlformats.org/officeDocument/2006/relationships/image" Target="../media/image9.svg"/></Relationships>
</file>

<file path=ppt/slides/_rels/slide16.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5.svg"/><Relationship Id="rId7" Type="http://schemas.openxmlformats.org/officeDocument/2006/relationships/image" Target="../media/image9.svg"/><Relationship Id="rId2" Type="http://schemas.openxmlformats.org/officeDocument/2006/relationships/image" Target="../media/image4.png"/><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svg"/><Relationship Id="rId4" Type="http://schemas.openxmlformats.org/officeDocument/2006/relationships/image" Target="../media/image6.png"/><Relationship Id="rId9" Type="http://schemas.openxmlformats.org/officeDocument/2006/relationships/image" Target="../media/image3.svg"/></Relationships>
</file>

<file path=ppt/slides/_rels/slide17.xml.rels><?xml version="1.0" encoding="UTF-8" standalone="yes"?>
<Relationships xmlns="http://schemas.openxmlformats.org/package/2006/relationships"><Relationship Id="rId3" Type="http://schemas.openxmlformats.org/officeDocument/2006/relationships/image" Target="../media/image5.svg"/><Relationship Id="rId7" Type="http://schemas.openxmlformats.org/officeDocument/2006/relationships/image" Target="../media/image9.svg"/><Relationship Id="rId2" Type="http://schemas.openxmlformats.org/officeDocument/2006/relationships/image" Target="../media/image4.png"/><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svg"/><Relationship Id="rId4" Type="http://schemas.openxmlformats.org/officeDocument/2006/relationships/image" Target="../media/image6.png"/></Relationships>
</file>

<file path=ppt/slides/_rels/slide18.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0.svg"/><Relationship Id="rId3" Type="http://schemas.openxmlformats.org/officeDocument/2006/relationships/image" Target="../media/image34.svg"/><Relationship Id="rId7" Type="http://schemas.openxmlformats.org/officeDocument/2006/relationships/image" Target="../media/image14.svg"/><Relationship Id="rId12" Type="http://schemas.openxmlformats.org/officeDocument/2006/relationships/image" Target="../media/image39.png"/><Relationship Id="rId2" Type="http://schemas.openxmlformats.org/officeDocument/2006/relationships/image" Target="../media/image33.png"/><Relationship Id="rId1" Type="http://schemas.openxmlformats.org/officeDocument/2006/relationships/slideLayout" Target="../slideLayouts/slideLayout2.xml"/><Relationship Id="rId6" Type="http://schemas.openxmlformats.org/officeDocument/2006/relationships/image" Target="../media/image13.png"/><Relationship Id="rId11" Type="http://schemas.openxmlformats.org/officeDocument/2006/relationships/image" Target="../media/image38.svg"/><Relationship Id="rId5" Type="http://schemas.openxmlformats.org/officeDocument/2006/relationships/image" Target="../media/image36.svg"/><Relationship Id="rId10" Type="http://schemas.openxmlformats.org/officeDocument/2006/relationships/image" Target="../media/image37.png"/><Relationship Id="rId4" Type="http://schemas.openxmlformats.org/officeDocument/2006/relationships/image" Target="../media/image35.png"/><Relationship Id="rId9" Type="http://schemas.openxmlformats.org/officeDocument/2006/relationships/image" Target="../media/image18.svg"/></Relationships>
</file>

<file path=ppt/slides/_rels/slide26.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42.svg"/><Relationship Id="rId4" Type="http://schemas.openxmlformats.org/officeDocument/2006/relationships/image" Target="../media/image41.png"/></Relationships>
</file>

<file path=ppt/slides/_rels/slide28.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42.svg"/><Relationship Id="rId4" Type="http://schemas.openxmlformats.org/officeDocument/2006/relationships/image" Target="../media/image41.png"/></Relationships>
</file>

<file path=ppt/slides/_rels/slide29.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42.svg"/><Relationship Id="rId4" Type="http://schemas.openxmlformats.org/officeDocument/2006/relationships/image" Target="../media/image41.png"/></Relationships>
</file>

<file path=ppt/slides/_rels/slide30.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42.svg"/><Relationship Id="rId4" Type="http://schemas.openxmlformats.org/officeDocument/2006/relationships/image" Target="../media/image41.png"/></Relationships>
</file>

<file path=ppt/slides/_rels/slide31.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42.svg"/><Relationship Id="rId4" Type="http://schemas.openxmlformats.org/officeDocument/2006/relationships/image" Target="../media/image41.png"/></Relationships>
</file>

<file path=ppt/slides/_rels/slide32.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42.svg"/><Relationship Id="rId4" Type="http://schemas.openxmlformats.org/officeDocument/2006/relationships/image" Target="../media/image41.png"/></Relationships>
</file>

<file path=ppt/slides/_rels/slide33.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42.svg"/><Relationship Id="rId4" Type="http://schemas.openxmlformats.org/officeDocument/2006/relationships/image" Target="../media/image41.png"/></Relationships>
</file>

<file path=ppt/slides/_rels/slide34.xml.rels><?xml version="1.0" encoding="UTF-8" standalone="yes"?>
<Relationships xmlns="http://schemas.openxmlformats.org/package/2006/relationships"><Relationship Id="rId8" Type="http://schemas.openxmlformats.org/officeDocument/2006/relationships/image" Target="../media/image4.png"/><Relationship Id="rId13" Type="http://schemas.openxmlformats.org/officeDocument/2006/relationships/image" Target="../media/image3.svg"/><Relationship Id="rId3" Type="http://schemas.openxmlformats.org/officeDocument/2006/relationships/image" Target="../media/image14.svg"/><Relationship Id="rId7" Type="http://schemas.openxmlformats.org/officeDocument/2006/relationships/image" Target="../media/image7.svg"/><Relationship Id="rId12" Type="http://schemas.openxmlformats.org/officeDocument/2006/relationships/image" Target="../media/image2.pn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6.png"/><Relationship Id="rId11" Type="http://schemas.openxmlformats.org/officeDocument/2006/relationships/image" Target="../media/image9.svg"/><Relationship Id="rId5" Type="http://schemas.openxmlformats.org/officeDocument/2006/relationships/image" Target="../media/image18.svg"/><Relationship Id="rId10" Type="http://schemas.openxmlformats.org/officeDocument/2006/relationships/image" Target="../media/image8.png"/><Relationship Id="rId4" Type="http://schemas.openxmlformats.org/officeDocument/2006/relationships/image" Target="../media/image17.png"/><Relationship Id="rId9" Type="http://schemas.openxmlformats.org/officeDocument/2006/relationships/image" Target="../media/image5.svg"/></Relationships>
</file>

<file path=ppt/slides/_rels/slide35.xml.rels><?xml version="1.0" encoding="UTF-8" standalone="yes"?>
<Relationships xmlns="http://schemas.openxmlformats.org/package/2006/relationships"><Relationship Id="rId8" Type="http://schemas.openxmlformats.org/officeDocument/2006/relationships/image" Target="../media/image4.png"/><Relationship Id="rId13" Type="http://schemas.openxmlformats.org/officeDocument/2006/relationships/image" Target="../media/image3.svg"/><Relationship Id="rId3" Type="http://schemas.openxmlformats.org/officeDocument/2006/relationships/image" Target="../media/image14.svg"/><Relationship Id="rId7" Type="http://schemas.openxmlformats.org/officeDocument/2006/relationships/image" Target="../media/image7.svg"/><Relationship Id="rId12" Type="http://schemas.openxmlformats.org/officeDocument/2006/relationships/image" Target="../media/image2.pn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6.png"/><Relationship Id="rId11" Type="http://schemas.openxmlformats.org/officeDocument/2006/relationships/image" Target="../media/image9.svg"/><Relationship Id="rId5" Type="http://schemas.openxmlformats.org/officeDocument/2006/relationships/image" Target="../media/image18.svg"/><Relationship Id="rId10" Type="http://schemas.openxmlformats.org/officeDocument/2006/relationships/image" Target="../media/image8.png"/><Relationship Id="rId4" Type="http://schemas.openxmlformats.org/officeDocument/2006/relationships/image" Target="../media/image17.png"/><Relationship Id="rId9" Type="http://schemas.openxmlformats.org/officeDocument/2006/relationships/image" Target="../media/image5.svg"/></Relationships>
</file>

<file path=ppt/slides/_rels/slide36.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44.svg"/><Relationship Id="rId4" Type="http://schemas.openxmlformats.org/officeDocument/2006/relationships/image" Target="../media/image43.png"/></Relationships>
</file>

<file path=ppt/slides/_rels/slide37.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6.svg"/><Relationship Id="rId18" Type="http://schemas.openxmlformats.org/officeDocument/2006/relationships/image" Target="../media/image61.png"/><Relationship Id="rId3" Type="http://schemas.openxmlformats.org/officeDocument/2006/relationships/image" Target="../media/image46.svg"/><Relationship Id="rId21" Type="http://schemas.openxmlformats.org/officeDocument/2006/relationships/image" Target="../media/image64.svg"/><Relationship Id="rId7" Type="http://schemas.openxmlformats.org/officeDocument/2006/relationships/image" Target="../media/image50.svg"/><Relationship Id="rId12" Type="http://schemas.openxmlformats.org/officeDocument/2006/relationships/image" Target="../media/image55.png"/><Relationship Id="rId17" Type="http://schemas.openxmlformats.org/officeDocument/2006/relationships/image" Target="../media/image60.svg"/><Relationship Id="rId2" Type="http://schemas.openxmlformats.org/officeDocument/2006/relationships/image" Target="../media/image45.png"/><Relationship Id="rId16" Type="http://schemas.openxmlformats.org/officeDocument/2006/relationships/image" Target="../media/image59.png"/><Relationship Id="rId20" Type="http://schemas.openxmlformats.org/officeDocument/2006/relationships/image" Target="../media/image63.png"/><Relationship Id="rId1" Type="http://schemas.openxmlformats.org/officeDocument/2006/relationships/slideLayout" Target="../slideLayouts/slideLayout2.xml"/><Relationship Id="rId6" Type="http://schemas.openxmlformats.org/officeDocument/2006/relationships/image" Target="../media/image49.png"/><Relationship Id="rId11" Type="http://schemas.openxmlformats.org/officeDocument/2006/relationships/image" Target="../media/image54.svg"/><Relationship Id="rId5" Type="http://schemas.openxmlformats.org/officeDocument/2006/relationships/image" Target="../media/image48.svg"/><Relationship Id="rId15" Type="http://schemas.openxmlformats.org/officeDocument/2006/relationships/image" Target="../media/image58.svg"/><Relationship Id="rId10" Type="http://schemas.openxmlformats.org/officeDocument/2006/relationships/image" Target="../media/image53.png"/><Relationship Id="rId19" Type="http://schemas.openxmlformats.org/officeDocument/2006/relationships/image" Target="../media/image62.svg"/><Relationship Id="rId4" Type="http://schemas.openxmlformats.org/officeDocument/2006/relationships/image" Target="../media/image47.png"/><Relationship Id="rId9" Type="http://schemas.openxmlformats.org/officeDocument/2006/relationships/image" Target="../media/image52.svg"/><Relationship Id="rId14" Type="http://schemas.openxmlformats.org/officeDocument/2006/relationships/image" Target="../media/image57.png"/></Relationships>
</file>

<file path=ppt/slides/_rels/slide38.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6.svg"/><Relationship Id="rId18" Type="http://schemas.openxmlformats.org/officeDocument/2006/relationships/image" Target="../media/image61.png"/><Relationship Id="rId3" Type="http://schemas.openxmlformats.org/officeDocument/2006/relationships/image" Target="../media/image46.svg"/><Relationship Id="rId21" Type="http://schemas.openxmlformats.org/officeDocument/2006/relationships/image" Target="../media/image64.svg"/><Relationship Id="rId7" Type="http://schemas.openxmlformats.org/officeDocument/2006/relationships/image" Target="../media/image50.svg"/><Relationship Id="rId12" Type="http://schemas.openxmlformats.org/officeDocument/2006/relationships/image" Target="../media/image55.png"/><Relationship Id="rId17" Type="http://schemas.openxmlformats.org/officeDocument/2006/relationships/image" Target="../media/image60.svg"/><Relationship Id="rId2" Type="http://schemas.openxmlformats.org/officeDocument/2006/relationships/image" Target="../media/image45.png"/><Relationship Id="rId16" Type="http://schemas.openxmlformats.org/officeDocument/2006/relationships/image" Target="../media/image59.png"/><Relationship Id="rId20" Type="http://schemas.openxmlformats.org/officeDocument/2006/relationships/image" Target="../media/image63.png"/><Relationship Id="rId1" Type="http://schemas.openxmlformats.org/officeDocument/2006/relationships/slideLayout" Target="../slideLayouts/slideLayout2.xml"/><Relationship Id="rId6" Type="http://schemas.openxmlformats.org/officeDocument/2006/relationships/image" Target="../media/image49.png"/><Relationship Id="rId11" Type="http://schemas.openxmlformats.org/officeDocument/2006/relationships/image" Target="../media/image54.svg"/><Relationship Id="rId5" Type="http://schemas.openxmlformats.org/officeDocument/2006/relationships/image" Target="../media/image48.svg"/><Relationship Id="rId15" Type="http://schemas.openxmlformats.org/officeDocument/2006/relationships/image" Target="../media/image58.svg"/><Relationship Id="rId10" Type="http://schemas.openxmlformats.org/officeDocument/2006/relationships/image" Target="../media/image53.png"/><Relationship Id="rId19" Type="http://schemas.openxmlformats.org/officeDocument/2006/relationships/image" Target="../media/image62.svg"/><Relationship Id="rId4" Type="http://schemas.openxmlformats.org/officeDocument/2006/relationships/image" Target="../media/image47.png"/><Relationship Id="rId9" Type="http://schemas.openxmlformats.org/officeDocument/2006/relationships/image" Target="../media/image52.svg"/><Relationship Id="rId14" Type="http://schemas.openxmlformats.org/officeDocument/2006/relationships/image" Target="../media/image57.png"/></Relationships>
</file>

<file path=ppt/slides/_rels/slide39.xml.rels><?xml version="1.0" encoding="UTF-8" standalone="yes"?>
<Relationships xmlns="http://schemas.openxmlformats.org/package/2006/relationships"><Relationship Id="rId8" Type="http://schemas.openxmlformats.org/officeDocument/2006/relationships/image" Target="../media/image47.png"/><Relationship Id="rId13" Type="http://schemas.openxmlformats.org/officeDocument/2006/relationships/image" Target="../media/image52.svg"/><Relationship Id="rId18" Type="http://schemas.openxmlformats.org/officeDocument/2006/relationships/image" Target="../media/image57.png"/><Relationship Id="rId3" Type="http://schemas.openxmlformats.org/officeDocument/2006/relationships/image" Target="../media/image66.svg"/><Relationship Id="rId21" Type="http://schemas.openxmlformats.org/officeDocument/2006/relationships/image" Target="../media/image60.svg"/><Relationship Id="rId7" Type="http://schemas.openxmlformats.org/officeDocument/2006/relationships/image" Target="../media/image46.svg"/><Relationship Id="rId12" Type="http://schemas.openxmlformats.org/officeDocument/2006/relationships/image" Target="../media/image51.png"/><Relationship Id="rId17" Type="http://schemas.openxmlformats.org/officeDocument/2006/relationships/image" Target="../media/image56.svg"/><Relationship Id="rId25" Type="http://schemas.openxmlformats.org/officeDocument/2006/relationships/image" Target="../media/image64.svg"/><Relationship Id="rId2" Type="http://schemas.openxmlformats.org/officeDocument/2006/relationships/image" Target="../media/image65.png"/><Relationship Id="rId16" Type="http://schemas.openxmlformats.org/officeDocument/2006/relationships/image" Target="../media/image55.png"/><Relationship Id="rId20" Type="http://schemas.openxmlformats.org/officeDocument/2006/relationships/image" Target="../media/image59.png"/><Relationship Id="rId1" Type="http://schemas.openxmlformats.org/officeDocument/2006/relationships/slideLayout" Target="../slideLayouts/slideLayout2.xml"/><Relationship Id="rId6" Type="http://schemas.openxmlformats.org/officeDocument/2006/relationships/image" Target="../media/image45.png"/><Relationship Id="rId11" Type="http://schemas.openxmlformats.org/officeDocument/2006/relationships/image" Target="../media/image50.svg"/><Relationship Id="rId24" Type="http://schemas.openxmlformats.org/officeDocument/2006/relationships/image" Target="../media/image63.png"/><Relationship Id="rId5" Type="http://schemas.openxmlformats.org/officeDocument/2006/relationships/image" Target="../media/image68.svg"/><Relationship Id="rId15" Type="http://schemas.openxmlformats.org/officeDocument/2006/relationships/image" Target="../media/image54.svg"/><Relationship Id="rId23" Type="http://schemas.openxmlformats.org/officeDocument/2006/relationships/image" Target="../media/image62.svg"/><Relationship Id="rId10" Type="http://schemas.openxmlformats.org/officeDocument/2006/relationships/image" Target="../media/image49.png"/><Relationship Id="rId19" Type="http://schemas.openxmlformats.org/officeDocument/2006/relationships/image" Target="../media/image58.svg"/><Relationship Id="rId4" Type="http://schemas.openxmlformats.org/officeDocument/2006/relationships/image" Target="../media/image67.png"/><Relationship Id="rId9" Type="http://schemas.openxmlformats.org/officeDocument/2006/relationships/image" Target="../media/image48.svg"/><Relationship Id="rId14" Type="http://schemas.openxmlformats.org/officeDocument/2006/relationships/image" Target="../media/image53.png"/><Relationship Id="rId22" Type="http://schemas.openxmlformats.org/officeDocument/2006/relationships/image" Target="../media/image61.png"/></Relationships>
</file>

<file path=ppt/slides/_rels/slide40.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6.svg"/><Relationship Id="rId18" Type="http://schemas.openxmlformats.org/officeDocument/2006/relationships/image" Target="../media/image61.png"/><Relationship Id="rId3" Type="http://schemas.openxmlformats.org/officeDocument/2006/relationships/image" Target="../media/image46.svg"/><Relationship Id="rId21" Type="http://schemas.openxmlformats.org/officeDocument/2006/relationships/image" Target="../media/image64.svg"/><Relationship Id="rId7" Type="http://schemas.openxmlformats.org/officeDocument/2006/relationships/image" Target="../media/image50.svg"/><Relationship Id="rId12" Type="http://schemas.openxmlformats.org/officeDocument/2006/relationships/image" Target="../media/image55.png"/><Relationship Id="rId17" Type="http://schemas.openxmlformats.org/officeDocument/2006/relationships/image" Target="../media/image60.svg"/><Relationship Id="rId2" Type="http://schemas.openxmlformats.org/officeDocument/2006/relationships/image" Target="../media/image45.png"/><Relationship Id="rId16" Type="http://schemas.openxmlformats.org/officeDocument/2006/relationships/image" Target="../media/image59.png"/><Relationship Id="rId20" Type="http://schemas.openxmlformats.org/officeDocument/2006/relationships/image" Target="../media/image63.png"/><Relationship Id="rId1" Type="http://schemas.openxmlformats.org/officeDocument/2006/relationships/slideLayout" Target="../slideLayouts/slideLayout2.xml"/><Relationship Id="rId6" Type="http://schemas.openxmlformats.org/officeDocument/2006/relationships/image" Target="../media/image49.png"/><Relationship Id="rId11" Type="http://schemas.openxmlformats.org/officeDocument/2006/relationships/image" Target="../media/image54.svg"/><Relationship Id="rId5" Type="http://schemas.openxmlformats.org/officeDocument/2006/relationships/image" Target="../media/image48.svg"/><Relationship Id="rId15" Type="http://schemas.openxmlformats.org/officeDocument/2006/relationships/image" Target="../media/image58.svg"/><Relationship Id="rId10" Type="http://schemas.openxmlformats.org/officeDocument/2006/relationships/image" Target="../media/image53.png"/><Relationship Id="rId19" Type="http://schemas.openxmlformats.org/officeDocument/2006/relationships/image" Target="../media/image62.svg"/><Relationship Id="rId4" Type="http://schemas.openxmlformats.org/officeDocument/2006/relationships/image" Target="../media/image47.png"/><Relationship Id="rId9" Type="http://schemas.openxmlformats.org/officeDocument/2006/relationships/image" Target="../media/image52.svg"/><Relationship Id="rId14" Type="http://schemas.openxmlformats.org/officeDocument/2006/relationships/image" Target="../media/image57.png"/></Relationships>
</file>

<file path=ppt/slides/_rels/slide41.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6.svg"/><Relationship Id="rId18" Type="http://schemas.openxmlformats.org/officeDocument/2006/relationships/image" Target="../media/image61.png"/><Relationship Id="rId3" Type="http://schemas.openxmlformats.org/officeDocument/2006/relationships/image" Target="../media/image46.svg"/><Relationship Id="rId21" Type="http://schemas.openxmlformats.org/officeDocument/2006/relationships/image" Target="../media/image64.svg"/><Relationship Id="rId7" Type="http://schemas.openxmlformats.org/officeDocument/2006/relationships/image" Target="../media/image50.svg"/><Relationship Id="rId12" Type="http://schemas.openxmlformats.org/officeDocument/2006/relationships/image" Target="../media/image55.png"/><Relationship Id="rId17" Type="http://schemas.openxmlformats.org/officeDocument/2006/relationships/image" Target="../media/image60.svg"/><Relationship Id="rId2" Type="http://schemas.openxmlformats.org/officeDocument/2006/relationships/image" Target="../media/image45.png"/><Relationship Id="rId16" Type="http://schemas.openxmlformats.org/officeDocument/2006/relationships/image" Target="../media/image59.png"/><Relationship Id="rId20" Type="http://schemas.openxmlformats.org/officeDocument/2006/relationships/image" Target="../media/image63.png"/><Relationship Id="rId1" Type="http://schemas.openxmlformats.org/officeDocument/2006/relationships/slideLayout" Target="../slideLayouts/slideLayout2.xml"/><Relationship Id="rId6" Type="http://schemas.openxmlformats.org/officeDocument/2006/relationships/image" Target="../media/image49.png"/><Relationship Id="rId11" Type="http://schemas.openxmlformats.org/officeDocument/2006/relationships/image" Target="../media/image54.svg"/><Relationship Id="rId5" Type="http://schemas.openxmlformats.org/officeDocument/2006/relationships/image" Target="../media/image48.svg"/><Relationship Id="rId15" Type="http://schemas.openxmlformats.org/officeDocument/2006/relationships/image" Target="../media/image58.svg"/><Relationship Id="rId10" Type="http://schemas.openxmlformats.org/officeDocument/2006/relationships/image" Target="../media/image53.png"/><Relationship Id="rId19" Type="http://schemas.openxmlformats.org/officeDocument/2006/relationships/image" Target="../media/image62.svg"/><Relationship Id="rId4" Type="http://schemas.openxmlformats.org/officeDocument/2006/relationships/image" Target="../media/image47.png"/><Relationship Id="rId9" Type="http://schemas.openxmlformats.org/officeDocument/2006/relationships/image" Target="../media/image52.svg"/><Relationship Id="rId14" Type="http://schemas.openxmlformats.org/officeDocument/2006/relationships/image" Target="../media/image57.png"/></Relationships>
</file>

<file path=ppt/slides/_rels/slide42.xml.rels><?xml version="1.0" encoding="UTF-8" standalone="yes"?>
<Relationships xmlns="http://schemas.openxmlformats.org/package/2006/relationships"><Relationship Id="rId3" Type="http://schemas.openxmlformats.org/officeDocument/2006/relationships/image" Target="../media/image18.svg"/><Relationship Id="rId7" Type="http://schemas.openxmlformats.org/officeDocument/2006/relationships/image" Target="../media/image70.svg"/><Relationship Id="rId2"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image" Target="../media/image69.png"/><Relationship Id="rId5" Type="http://schemas.openxmlformats.org/officeDocument/2006/relationships/image" Target="../media/image44.svg"/><Relationship Id="rId4" Type="http://schemas.openxmlformats.org/officeDocument/2006/relationships/image" Target="../media/image43.png"/></Relationships>
</file>

<file path=ppt/slides/_rels/slide43.xml.rels><?xml version="1.0" encoding="UTF-8" standalone="yes"?>
<Relationships xmlns="http://schemas.openxmlformats.org/package/2006/relationships"><Relationship Id="rId8" Type="http://schemas.openxmlformats.org/officeDocument/2006/relationships/image" Target="../media/image71.png"/><Relationship Id="rId13" Type="http://schemas.openxmlformats.org/officeDocument/2006/relationships/image" Target="../media/image76.svg"/><Relationship Id="rId3" Type="http://schemas.openxmlformats.org/officeDocument/2006/relationships/image" Target="../media/image18.svg"/><Relationship Id="rId7" Type="http://schemas.openxmlformats.org/officeDocument/2006/relationships/image" Target="../media/image70.svg"/><Relationship Id="rId12" Type="http://schemas.openxmlformats.org/officeDocument/2006/relationships/image" Target="../media/image75.png"/><Relationship Id="rId2"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image" Target="../media/image69.png"/><Relationship Id="rId11" Type="http://schemas.openxmlformats.org/officeDocument/2006/relationships/image" Target="../media/image74.svg"/><Relationship Id="rId5" Type="http://schemas.openxmlformats.org/officeDocument/2006/relationships/image" Target="../media/image44.svg"/><Relationship Id="rId10" Type="http://schemas.openxmlformats.org/officeDocument/2006/relationships/image" Target="../media/image73.png"/><Relationship Id="rId4" Type="http://schemas.openxmlformats.org/officeDocument/2006/relationships/image" Target="../media/image43.png"/><Relationship Id="rId9" Type="http://schemas.openxmlformats.org/officeDocument/2006/relationships/image" Target="../media/image72.svg"/></Relationships>
</file>

<file path=ppt/slides/_rels/slide44.xml.rels><?xml version="1.0" encoding="UTF-8" standalone="yes"?>
<Relationships xmlns="http://schemas.openxmlformats.org/package/2006/relationships"><Relationship Id="rId8" Type="http://schemas.openxmlformats.org/officeDocument/2006/relationships/image" Target="../media/image71.png"/><Relationship Id="rId13" Type="http://schemas.openxmlformats.org/officeDocument/2006/relationships/image" Target="../media/image76.svg"/><Relationship Id="rId3" Type="http://schemas.openxmlformats.org/officeDocument/2006/relationships/image" Target="../media/image18.svg"/><Relationship Id="rId7" Type="http://schemas.openxmlformats.org/officeDocument/2006/relationships/image" Target="../media/image70.svg"/><Relationship Id="rId12" Type="http://schemas.openxmlformats.org/officeDocument/2006/relationships/image" Target="../media/image75.png"/><Relationship Id="rId2"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image" Target="../media/image69.png"/><Relationship Id="rId11" Type="http://schemas.openxmlformats.org/officeDocument/2006/relationships/image" Target="../media/image74.svg"/><Relationship Id="rId5" Type="http://schemas.openxmlformats.org/officeDocument/2006/relationships/image" Target="../media/image44.svg"/><Relationship Id="rId10" Type="http://schemas.openxmlformats.org/officeDocument/2006/relationships/image" Target="../media/image73.png"/><Relationship Id="rId4" Type="http://schemas.openxmlformats.org/officeDocument/2006/relationships/image" Target="../media/image43.png"/><Relationship Id="rId9" Type="http://schemas.openxmlformats.org/officeDocument/2006/relationships/image" Target="../media/image72.svg"/></Relationships>
</file>

<file path=ppt/slides/_rels/slide45.xml.rels><?xml version="1.0" encoding="UTF-8" standalone="yes"?>
<Relationships xmlns="http://schemas.openxmlformats.org/package/2006/relationships"><Relationship Id="rId13" Type="http://schemas.openxmlformats.org/officeDocument/2006/relationships/image" Target="../media/image76.svg"/><Relationship Id="rId18" Type="http://schemas.openxmlformats.org/officeDocument/2006/relationships/image" Target="../media/image49.png"/><Relationship Id="rId26" Type="http://schemas.openxmlformats.org/officeDocument/2006/relationships/image" Target="../media/image57.png"/><Relationship Id="rId3" Type="http://schemas.openxmlformats.org/officeDocument/2006/relationships/image" Target="../media/image18.svg"/><Relationship Id="rId21" Type="http://schemas.openxmlformats.org/officeDocument/2006/relationships/image" Target="../media/image52.svg"/><Relationship Id="rId34" Type="http://schemas.openxmlformats.org/officeDocument/2006/relationships/image" Target="../media/image65.png"/><Relationship Id="rId7" Type="http://schemas.openxmlformats.org/officeDocument/2006/relationships/image" Target="../media/image70.svg"/><Relationship Id="rId12" Type="http://schemas.openxmlformats.org/officeDocument/2006/relationships/image" Target="../media/image75.png"/><Relationship Id="rId17" Type="http://schemas.openxmlformats.org/officeDocument/2006/relationships/image" Target="../media/image48.svg"/><Relationship Id="rId25" Type="http://schemas.openxmlformats.org/officeDocument/2006/relationships/image" Target="../media/image56.svg"/><Relationship Id="rId33" Type="http://schemas.openxmlformats.org/officeDocument/2006/relationships/image" Target="../media/image64.svg"/><Relationship Id="rId2" Type="http://schemas.openxmlformats.org/officeDocument/2006/relationships/image" Target="../media/image17.png"/><Relationship Id="rId16" Type="http://schemas.openxmlformats.org/officeDocument/2006/relationships/image" Target="../media/image47.png"/><Relationship Id="rId20" Type="http://schemas.openxmlformats.org/officeDocument/2006/relationships/image" Target="../media/image51.png"/><Relationship Id="rId29" Type="http://schemas.openxmlformats.org/officeDocument/2006/relationships/image" Target="../media/image60.svg"/><Relationship Id="rId1" Type="http://schemas.openxmlformats.org/officeDocument/2006/relationships/slideLayout" Target="../slideLayouts/slideLayout2.xml"/><Relationship Id="rId6" Type="http://schemas.openxmlformats.org/officeDocument/2006/relationships/image" Target="../media/image69.png"/><Relationship Id="rId11" Type="http://schemas.openxmlformats.org/officeDocument/2006/relationships/image" Target="../media/image74.svg"/><Relationship Id="rId24" Type="http://schemas.openxmlformats.org/officeDocument/2006/relationships/image" Target="../media/image55.png"/><Relationship Id="rId32" Type="http://schemas.openxmlformats.org/officeDocument/2006/relationships/image" Target="../media/image63.png"/><Relationship Id="rId5" Type="http://schemas.openxmlformats.org/officeDocument/2006/relationships/image" Target="../media/image44.svg"/><Relationship Id="rId15" Type="http://schemas.openxmlformats.org/officeDocument/2006/relationships/image" Target="../media/image46.svg"/><Relationship Id="rId23" Type="http://schemas.openxmlformats.org/officeDocument/2006/relationships/image" Target="../media/image54.svg"/><Relationship Id="rId28" Type="http://schemas.openxmlformats.org/officeDocument/2006/relationships/image" Target="../media/image59.png"/><Relationship Id="rId10" Type="http://schemas.openxmlformats.org/officeDocument/2006/relationships/image" Target="../media/image73.png"/><Relationship Id="rId19" Type="http://schemas.openxmlformats.org/officeDocument/2006/relationships/image" Target="../media/image50.svg"/><Relationship Id="rId31" Type="http://schemas.openxmlformats.org/officeDocument/2006/relationships/image" Target="../media/image62.svg"/><Relationship Id="rId4" Type="http://schemas.openxmlformats.org/officeDocument/2006/relationships/image" Target="../media/image43.png"/><Relationship Id="rId9" Type="http://schemas.openxmlformats.org/officeDocument/2006/relationships/image" Target="../media/image72.svg"/><Relationship Id="rId14" Type="http://schemas.openxmlformats.org/officeDocument/2006/relationships/image" Target="../media/image45.png"/><Relationship Id="rId22" Type="http://schemas.openxmlformats.org/officeDocument/2006/relationships/image" Target="../media/image53.png"/><Relationship Id="rId27" Type="http://schemas.openxmlformats.org/officeDocument/2006/relationships/image" Target="../media/image58.svg"/><Relationship Id="rId30" Type="http://schemas.openxmlformats.org/officeDocument/2006/relationships/image" Target="../media/image61.png"/><Relationship Id="rId35" Type="http://schemas.openxmlformats.org/officeDocument/2006/relationships/image" Target="../media/image66.svg"/><Relationship Id="rId8" Type="http://schemas.openxmlformats.org/officeDocument/2006/relationships/image" Target="../media/image71.png"/></Relationships>
</file>

<file path=ppt/slides/_rels/slide46.xml.rels><?xml version="1.0" encoding="UTF-8" standalone="yes"?>
<Relationships xmlns="http://schemas.openxmlformats.org/package/2006/relationships"><Relationship Id="rId13" Type="http://schemas.openxmlformats.org/officeDocument/2006/relationships/image" Target="../media/image76.svg"/><Relationship Id="rId18" Type="http://schemas.openxmlformats.org/officeDocument/2006/relationships/image" Target="../media/image49.png"/><Relationship Id="rId26" Type="http://schemas.openxmlformats.org/officeDocument/2006/relationships/image" Target="../media/image57.png"/><Relationship Id="rId3" Type="http://schemas.openxmlformats.org/officeDocument/2006/relationships/image" Target="../media/image18.svg"/><Relationship Id="rId21" Type="http://schemas.openxmlformats.org/officeDocument/2006/relationships/image" Target="../media/image52.svg"/><Relationship Id="rId34" Type="http://schemas.openxmlformats.org/officeDocument/2006/relationships/image" Target="../media/image67.png"/><Relationship Id="rId7" Type="http://schemas.openxmlformats.org/officeDocument/2006/relationships/image" Target="../media/image70.svg"/><Relationship Id="rId12" Type="http://schemas.openxmlformats.org/officeDocument/2006/relationships/image" Target="../media/image75.png"/><Relationship Id="rId17" Type="http://schemas.openxmlformats.org/officeDocument/2006/relationships/image" Target="../media/image48.svg"/><Relationship Id="rId25" Type="http://schemas.openxmlformats.org/officeDocument/2006/relationships/image" Target="../media/image56.svg"/><Relationship Id="rId33" Type="http://schemas.openxmlformats.org/officeDocument/2006/relationships/image" Target="../media/image64.svg"/><Relationship Id="rId2" Type="http://schemas.openxmlformats.org/officeDocument/2006/relationships/image" Target="../media/image17.png"/><Relationship Id="rId16" Type="http://schemas.openxmlformats.org/officeDocument/2006/relationships/image" Target="../media/image47.png"/><Relationship Id="rId20" Type="http://schemas.openxmlformats.org/officeDocument/2006/relationships/image" Target="../media/image51.png"/><Relationship Id="rId29" Type="http://schemas.openxmlformats.org/officeDocument/2006/relationships/image" Target="../media/image60.svg"/><Relationship Id="rId1" Type="http://schemas.openxmlformats.org/officeDocument/2006/relationships/slideLayout" Target="../slideLayouts/slideLayout2.xml"/><Relationship Id="rId6" Type="http://schemas.openxmlformats.org/officeDocument/2006/relationships/image" Target="../media/image69.png"/><Relationship Id="rId11" Type="http://schemas.openxmlformats.org/officeDocument/2006/relationships/image" Target="../media/image74.svg"/><Relationship Id="rId24" Type="http://schemas.openxmlformats.org/officeDocument/2006/relationships/image" Target="../media/image55.png"/><Relationship Id="rId32" Type="http://schemas.openxmlformats.org/officeDocument/2006/relationships/image" Target="../media/image63.png"/><Relationship Id="rId5" Type="http://schemas.openxmlformats.org/officeDocument/2006/relationships/image" Target="../media/image44.svg"/><Relationship Id="rId15" Type="http://schemas.openxmlformats.org/officeDocument/2006/relationships/image" Target="../media/image46.svg"/><Relationship Id="rId23" Type="http://schemas.openxmlformats.org/officeDocument/2006/relationships/image" Target="../media/image54.svg"/><Relationship Id="rId28" Type="http://schemas.openxmlformats.org/officeDocument/2006/relationships/image" Target="../media/image59.png"/><Relationship Id="rId10" Type="http://schemas.openxmlformats.org/officeDocument/2006/relationships/image" Target="../media/image73.png"/><Relationship Id="rId19" Type="http://schemas.openxmlformats.org/officeDocument/2006/relationships/image" Target="../media/image50.svg"/><Relationship Id="rId31" Type="http://schemas.openxmlformats.org/officeDocument/2006/relationships/image" Target="../media/image62.svg"/><Relationship Id="rId4" Type="http://schemas.openxmlformats.org/officeDocument/2006/relationships/image" Target="../media/image43.png"/><Relationship Id="rId9" Type="http://schemas.openxmlformats.org/officeDocument/2006/relationships/image" Target="../media/image72.svg"/><Relationship Id="rId14" Type="http://schemas.openxmlformats.org/officeDocument/2006/relationships/image" Target="../media/image45.png"/><Relationship Id="rId22" Type="http://schemas.openxmlformats.org/officeDocument/2006/relationships/image" Target="../media/image53.png"/><Relationship Id="rId27" Type="http://schemas.openxmlformats.org/officeDocument/2006/relationships/image" Target="../media/image58.svg"/><Relationship Id="rId30" Type="http://schemas.openxmlformats.org/officeDocument/2006/relationships/image" Target="../media/image61.png"/><Relationship Id="rId35" Type="http://schemas.openxmlformats.org/officeDocument/2006/relationships/image" Target="../media/image68.svg"/><Relationship Id="rId8" Type="http://schemas.openxmlformats.org/officeDocument/2006/relationships/image" Target="../media/image71.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6" Type="http://schemas.openxmlformats.org/officeDocument/2006/relationships/image" Target="../media/image97.png"/><Relationship Id="rId21" Type="http://schemas.openxmlformats.org/officeDocument/2006/relationships/image" Target="../media/image92.svg"/><Relationship Id="rId42" Type="http://schemas.openxmlformats.org/officeDocument/2006/relationships/image" Target="../media/image113.png"/><Relationship Id="rId47" Type="http://schemas.openxmlformats.org/officeDocument/2006/relationships/image" Target="../media/image118.svg"/><Relationship Id="rId63" Type="http://schemas.openxmlformats.org/officeDocument/2006/relationships/image" Target="../media/image134.svg"/><Relationship Id="rId68" Type="http://schemas.openxmlformats.org/officeDocument/2006/relationships/image" Target="../media/image139.png"/><Relationship Id="rId16" Type="http://schemas.openxmlformats.org/officeDocument/2006/relationships/image" Target="../media/image13.png"/><Relationship Id="rId11" Type="http://schemas.openxmlformats.org/officeDocument/2006/relationships/image" Target="../media/image86.svg"/><Relationship Id="rId32" Type="http://schemas.openxmlformats.org/officeDocument/2006/relationships/image" Target="../media/image103.png"/><Relationship Id="rId37" Type="http://schemas.openxmlformats.org/officeDocument/2006/relationships/image" Target="../media/image108.svg"/><Relationship Id="rId53" Type="http://schemas.openxmlformats.org/officeDocument/2006/relationships/image" Target="../media/image124.svg"/><Relationship Id="rId58" Type="http://schemas.openxmlformats.org/officeDocument/2006/relationships/image" Target="../media/image129.png"/><Relationship Id="rId74" Type="http://schemas.openxmlformats.org/officeDocument/2006/relationships/image" Target="../media/image145.png"/><Relationship Id="rId79" Type="http://schemas.openxmlformats.org/officeDocument/2006/relationships/image" Target="../media/image150.svg"/><Relationship Id="rId5" Type="http://schemas.openxmlformats.org/officeDocument/2006/relationships/image" Target="../media/image80.svg"/><Relationship Id="rId61" Type="http://schemas.openxmlformats.org/officeDocument/2006/relationships/image" Target="../media/image132.svg"/><Relationship Id="rId19" Type="http://schemas.openxmlformats.org/officeDocument/2006/relationships/image" Target="../media/image18.svg"/><Relationship Id="rId14" Type="http://schemas.openxmlformats.org/officeDocument/2006/relationships/image" Target="../media/image89.png"/><Relationship Id="rId22" Type="http://schemas.openxmlformats.org/officeDocument/2006/relationships/image" Target="../media/image93.png"/><Relationship Id="rId27" Type="http://schemas.openxmlformats.org/officeDocument/2006/relationships/image" Target="../media/image98.svg"/><Relationship Id="rId30" Type="http://schemas.openxmlformats.org/officeDocument/2006/relationships/image" Target="../media/image101.png"/><Relationship Id="rId35" Type="http://schemas.openxmlformats.org/officeDocument/2006/relationships/image" Target="../media/image106.svg"/><Relationship Id="rId43" Type="http://schemas.openxmlformats.org/officeDocument/2006/relationships/image" Target="../media/image114.svg"/><Relationship Id="rId48" Type="http://schemas.openxmlformats.org/officeDocument/2006/relationships/image" Target="../media/image119.png"/><Relationship Id="rId56" Type="http://schemas.openxmlformats.org/officeDocument/2006/relationships/image" Target="../media/image127.png"/><Relationship Id="rId64" Type="http://schemas.openxmlformats.org/officeDocument/2006/relationships/image" Target="../media/image135.png"/><Relationship Id="rId69" Type="http://schemas.openxmlformats.org/officeDocument/2006/relationships/image" Target="../media/image140.svg"/><Relationship Id="rId77" Type="http://schemas.openxmlformats.org/officeDocument/2006/relationships/image" Target="../media/image148.svg"/><Relationship Id="rId8" Type="http://schemas.openxmlformats.org/officeDocument/2006/relationships/image" Target="../media/image83.png"/><Relationship Id="rId51" Type="http://schemas.openxmlformats.org/officeDocument/2006/relationships/image" Target="../media/image122.svg"/><Relationship Id="rId72" Type="http://schemas.openxmlformats.org/officeDocument/2006/relationships/image" Target="../media/image143.png"/><Relationship Id="rId80" Type="http://schemas.openxmlformats.org/officeDocument/2006/relationships/image" Target="../media/image63.png"/><Relationship Id="rId3" Type="http://schemas.openxmlformats.org/officeDocument/2006/relationships/image" Target="../media/image78.svg"/><Relationship Id="rId12" Type="http://schemas.openxmlformats.org/officeDocument/2006/relationships/image" Target="../media/image87.png"/><Relationship Id="rId17" Type="http://schemas.openxmlformats.org/officeDocument/2006/relationships/image" Target="../media/image14.svg"/><Relationship Id="rId25" Type="http://schemas.openxmlformats.org/officeDocument/2006/relationships/image" Target="../media/image96.svg"/><Relationship Id="rId33" Type="http://schemas.openxmlformats.org/officeDocument/2006/relationships/image" Target="../media/image104.svg"/><Relationship Id="rId38" Type="http://schemas.openxmlformats.org/officeDocument/2006/relationships/image" Target="../media/image109.png"/><Relationship Id="rId46" Type="http://schemas.openxmlformats.org/officeDocument/2006/relationships/image" Target="../media/image117.png"/><Relationship Id="rId59" Type="http://schemas.openxmlformats.org/officeDocument/2006/relationships/image" Target="../media/image130.svg"/><Relationship Id="rId67" Type="http://schemas.openxmlformats.org/officeDocument/2006/relationships/image" Target="../media/image138.svg"/><Relationship Id="rId20" Type="http://schemas.openxmlformats.org/officeDocument/2006/relationships/image" Target="../media/image91.png"/><Relationship Id="rId41" Type="http://schemas.openxmlformats.org/officeDocument/2006/relationships/image" Target="../media/image112.svg"/><Relationship Id="rId54" Type="http://schemas.openxmlformats.org/officeDocument/2006/relationships/image" Target="../media/image125.png"/><Relationship Id="rId62" Type="http://schemas.openxmlformats.org/officeDocument/2006/relationships/image" Target="../media/image133.png"/><Relationship Id="rId70" Type="http://schemas.openxmlformats.org/officeDocument/2006/relationships/image" Target="../media/image141.png"/><Relationship Id="rId75" Type="http://schemas.openxmlformats.org/officeDocument/2006/relationships/image" Target="../media/image146.svg"/><Relationship Id="rId1" Type="http://schemas.openxmlformats.org/officeDocument/2006/relationships/slideLayout" Target="../slideLayouts/slideLayout2.xml"/><Relationship Id="rId6" Type="http://schemas.openxmlformats.org/officeDocument/2006/relationships/image" Target="../media/image81.png"/><Relationship Id="rId15" Type="http://schemas.openxmlformats.org/officeDocument/2006/relationships/image" Target="../media/image90.svg"/><Relationship Id="rId23" Type="http://schemas.openxmlformats.org/officeDocument/2006/relationships/image" Target="../media/image94.svg"/><Relationship Id="rId28" Type="http://schemas.openxmlformats.org/officeDocument/2006/relationships/image" Target="../media/image99.png"/><Relationship Id="rId36" Type="http://schemas.openxmlformats.org/officeDocument/2006/relationships/image" Target="../media/image107.png"/><Relationship Id="rId49" Type="http://schemas.openxmlformats.org/officeDocument/2006/relationships/image" Target="../media/image120.svg"/><Relationship Id="rId57" Type="http://schemas.openxmlformats.org/officeDocument/2006/relationships/image" Target="../media/image128.svg"/><Relationship Id="rId10" Type="http://schemas.openxmlformats.org/officeDocument/2006/relationships/image" Target="../media/image85.png"/><Relationship Id="rId31" Type="http://schemas.openxmlformats.org/officeDocument/2006/relationships/image" Target="../media/image102.svg"/><Relationship Id="rId44" Type="http://schemas.openxmlformats.org/officeDocument/2006/relationships/image" Target="../media/image115.png"/><Relationship Id="rId52" Type="http://schemas.openxmlformats.org/officeDocument/2006/relationships/image" Target="../media/image123.png"/><Relationship Id="rId60" Type="http://schemas.openxmlformats.org/officeDocument/2006/relationships/image" Target="../media/image131.png"/><Relationship Id="rId65" Type="http://schemas.openxmlformats.org/officeDocument/2006/relationships/image" Target="../media/image136.svg"/><Relationship Id="rId73" Type="http://schemas.openxmlformats.org/officeDocument/2006/relationships/image" Target="../media/image144.svg"/><Relationship Id="rId78" Type="http://schemas.openxmlformats.org/officeDocument/2006/relationships/image" Target="../media/image149.png"/><Relationship Id="rId81" Type="http://schemas.openxmlformats.org/officeDocument/2006/relationships/image" Target="../media/image64.svg"/><Relationship Id="rId4" Type="http://schemas.openxmlformats.org/officeDocument/2006/relationships/image" Target="../media/image79.png"/><Relationship Id="rId9" Type="http://schemas.openxmlformats.org/officeDocument/2006/relationships/image" Target="../media/image84.svg"/><Relationship Id="rId13" Type="http://schemas.openxmlformats.org/officeDocument/2006/relationships/image" Target="../media/image88.svg"/><Relationship Id="rId18" Type="http://schemas.openxmlformats.org/officeDocument/2006/relationships/image" Target="../media/image17.png"/><Relationship Id="rId39" Type="http://schemas.openxmlformats.org/officeDocument/2006/relationships/image" Target="../media/image110.svg"/><Relationship Id="rId34" Type="http://schemas.openxmlformats.org/officeDocument/2006/relationships/image" Target="../media/image105.png"/><Relationship Id="rId50" Type="http://schemas.openxmlformats.org/officeDocument/2006/relationships/image" Target="../media/image121.png"/><Relationship Id="rId55" Type="http://schemas.openxmlformats.org/officeDocument/2006/relationships/image" Target="../media/image126.svg"/><Relationship Id="rId76" Type="http://schemas.openxmlformats.org/officeDocument/2006/relationships/image" Target="../media/image147.png"/><Relationship Id="rId7" Type="http://schemas.openxmlformats.org/officeDocument/2006/relationships/image" Target="../media/image82.svg"/><Relationship Id="rId71" Type="http://schemas.openxmlformats.org/officeDocument/2006/relationships/image" Target="../media/image142.svg"/><Relationship Id="rId2" Type="http://schemas.openxmlformats.org/officeDocument/2006/relationships/image" Target="../media/image77.png"/><Relationship Id="rId29" Type="http://schemas.openxmlformats.org/officeDocument/2006/relationships/image" Target="../media/image100.svg"/><Relationship Id="rId24" Type="http://schemas.openxmlformats.org/officeDocument/2006/relationships/image" Target="../media/image95.png"/><Relationship Id="rId40" Type="http://schemas.openxmlformats.org/officeDocument/2006/relationships/image" Target="../media/image111.png"/><Relationship Id="rId45" Type="http://schemas.openxmlformats.org/officeDocument/2006/relationships/image" Target="../media/image116.svg"/><Relationship Id="rId66" Type="http://schemas.openxmlformats.org/officeDocument/2006/relationships/image" Target="../media/image137.png"/></Relationships>
</file>

<file path=ppt/slides/_rels/slide51.xml.rels><?xml version="1.0" encoding="UTF-8" standalone="yes"?>
<Relationships xmlns="http://schemas.openxmlformats.org/package/2006/relationships"><Relationship Id="rId3" Type="http://schemas.openxmlformats.org/officeDocument/2006/relationships/image" Target="../media/image86.svg"/><Relationship Id="rId7" Type="http://schemas.openxmlformats.org/officeDocument/2006/relationships/image" Target="../media/image90.svg"/><Relationship Id="rId2" Type="http://schemas.openxmlformats.org/officeDocument/2006/relationships/image" Target="../media/image85.png"/><Relationship Id="rId1" Type="http://schemas.openxmlformats.org/officeDocument/2006/relationships/slideLayout" Target="../slideLayouts/slideLayout2.xml"/><Relationship Id="rId6" Type="http://schemas.openxmlformats.org/officeDocument/2006/relationships/image" Target="../media/image89.png"/><Relationship Id="rId5" Type="http://schemas.openxmlformats.org/officeDocument/2006/relationships/image" Target="../media/image88.svg"/><Relationship Id="rId4" Type="http://schemas.openxmlformats.org/officeDocument/2006/relationships/image" Target="../media/image87.png"/></Relationships>
</file>

<file path=ppt/slides/_rels/slide52.xml.rels><?xml version="1.0" encoding="UTF-8" standalone="yes"?>
<Relationships xmlns="http://schemas.openxmlformats.org/package/2006/relationships"><Relationship Id="rId3" Type="http://schemas.openxmlformats.org/officeDocument/2006/relationships/image" Target="../media/image96.svg"/><Relationship Id="rId7" Type="http://schemas.openxmlformats.org/officeDocument/2006/relationships/image" Target="../media/image100.svg"/><Relationship Id="rId2" Type="http://schemas.openxmlformats.org/officeDocument/2006/relationships/image" Target="../media/image95.png"/><Relationship Id="rId1" Type="http://schemas.openxmlformats.org/officeDocument/2006/relationships/slideLayout" Target="../slideLayouts/slideLayout2.xml"/><Relationship Id="rId6" Type="http://schemas.openxmlformats.org/officeDocument/2006/relationships/image" Target="../media/image99.png"/><Relationship Id="rId5" Type="http://schemas.openxmlformats.org/officeDocument/2006/relationships/image" Target="../media/image98.svg"/><Relationship Id="rId4" Type="http://schemas.openxmlformats.org/officeDocument/2006/relationships/image" Target="../media/image97.png"/></Relationships>
</file>

<file path=ppt/slides/_rels/slide53.xml.rels><?xml version="1.0" encoding="UTF-8" standalone="yes"?>
<Relationships xmlns="http://schemas.openxmlformats.org/package/2006/relationships"><Relationship Id="rId8" Type="http://schemas.openxmlformats.org/officeDocument/2006/relationships/image" Target="../media/image93.png"/><Relationship Id="rId3" Type="http://schemas.openxmlformats.org/officeDocument/2006/relationships/image" Target="../media/image14.svg"/><Relationship Id="rId7" Type="http://schemas.openxmlformats.org/officeDocument/2006/relationships/image" Target="../media/image92.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91.png"/><Relationship Id="rId5" Type="http://schemas.openxmlformats.org/officeDocument/2006/relationships/image" Target="../media/image18.svg"/><Relationship Id="rId4" Type="http://schemas.openxmlformats.org/officeDocument/2006/relationships/image" Target="../media/image17.png"/><Relationship Id="rId9" Type="http://schemas.openxmlformats.org/officeDocument/2006/relationships/image" Target="../media/image94.svg"/></Relationships>
</file>

<file path=ppt/slides/_rels/slide54.xml.rels><?xml version="1.0" encoding="UTF-8" standalone="yes"?>
<Relationships xmlns="http://schemas.openxmlformats.org/package/2006/relationships"><Relationship Id="rId8" Type="http://schemas.openxmlformats.org/officeDocument/2006/relationships/image" Target="../media/image81.png"/><Relationship Id="rId3" Type="http://schemas.openxmlformats.org/officeDocument/2006/relationships/image" Target="../media/image80.svg"/><Relationship Id="rId7" Type="http://schemas.openxmlformats.org/officeDocument/2006/relationships/image" Target="../media/image78.svg"/><Relationship Id="rId2" Type="http://schemas.openxmlformats.org/officeDocument/2006/relationships/image" Target="../media/image79.png"/><Relationship Id="rId1" Type="http://schemas.openxmlformats.org/officeDocument/2006/relationships/slideLayout" Target="../slideLayouts/slideLayout2.xml"/><Relationship Id="rId6" Type="http://schemas.openxmlformats.org/officeDocument/2006/relationships/image" Target="../media/image77.png"/><Relationship Id="rId5" Type="http://schemas.openxmlformats.org/officeDocument/2006/relationships/image" Target="../media/image84.svg"/><Relationship Id="rId4" Type="http://schemas.openxmlformats.org/officeDocument/2006/relationships/image" Target="../media/image83.png"/><Relationship Id="rId9" Type="http://schemas.openxmlformats.org/officeDocument/2006/relationships/image" Target="../media/image82.svg"/></Relationships>
</file>

<file path=ppt/slides/_rels/slide55.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image" Target="../media/image110.svg"/><Relationship Id="rId7" Type="http://schemas.openxmlformats.org/officeDocument/2006/relationships/image" Target="../media/image114.svg"/><Relationship Id="rId2" Type="http://schemas.openxmlformats.org/officeDocument/2006/relationships/image" Target="../media/image109.png"/><Relationship Id="rId1" Type="http://schemas.openxmlformats.org/officeDocument/2006/relationships/slideLayout" Target="../slideLayouts/slideLayout2.xml"/><Relationship Id="rId6" Type="http://schemas.openxmlformats.org/officeDocument/2006/relationships/image" Target="../media/image113.png"/><Relationship Id="rId11" Type="http://schemas.openxmlformats.org/officeDocument/2006/relationships/image" Target="../media/image112.svg"/><Relationship Id="rId5" Type="http://schemas.openxmlformats.org/officeDocument/2006/relationships/image" Target="../media/image108.svg"/><Relationship Id="rId10" Type="http://schemas.openxmlformats.org/officeDocument/2006/relationships/image" Target="../media/image111.png"/><Relationship Id="rId4" Type="http://schemas.openxmlformats.org/officeDocument/2006/relationships/image" Target="../media/image107.png"/><Relationship Id="rId9" Type="http://schemas.openxmlformats.org/officeDocument/2006/relationships/image" Target="../media/image18.svg"/></Relationships>
</file>

<file path=ppt/slides/_rels/slide56.xml.rels><?xml version="1.0" encoding="UTF-8" standalone="yes"?>
<Relationships xmlns="http://schemas.openxmlformats.org/package/2006/relationships"><Relationship Id="rId3" Type="http://schemas.openxmlformats.org/officeDocument/2006/relationships/image" Target="../media/image102.svg"/><Relationship Id="rId7" Type="http://schemas.openxmlformats.org/officeDocument/2006/relationships/image" Target="../media/image106.svg"/><Relationship Id="rId2" Type="http://schemas.openxmlformats.org/officeDocument/2006/relationships/image" Target="../media/image101.png"/><Relationship Id="rId1" Type="http://schemas.openxmlformats.org/officeDocument/2006/relationships/slideLayout" Target="../slideLayouts/slideLayout2.xml"/><Relationship Id="rId6" Type="http://schemas.openxmlformats.org/officeDocument/2006/relationships/image" Target="../media/image105.png"/><Relationship Id="rId5" Type="http://schemas.openxmlformats.org/officeDocument/2006/relationships/image" Target="../media/image104.svg"/><Relationship Id="rId4" Type="http://schemas.openxmlformats.org/officeDocument/2006/relationships/image" Target="../media/image103.png"/></Relationships>
</file>

<file path=ppt/slides/_rels/slide57.xml.rels><?xml version="1.0" encoding="UTF-8" standalone="yes"?>
<Relationships xmlns="http://schemas.openxmlformats.org/package/2006/relationships"><Relationship Id="rId26" Type="http://schemas.openxmlformats.org/officeDocument/2006/relationships/image" Target="../media/image97.png"/><Relationship Id="rId21" Type="http://schemas.openxmlformats.org/officeDocument/2006/relationships/image" Target="../media/image92.svg"/><Relationship Id="rId42" Type="http://schemas.openxmlformats.org/officeDocument/2006/relationships/image" Target="../media/image113.png"/><Relationship Id="rId47" Type="http://schemas.openxmlformats.org/officeDocument/2006/relationships/image" Target="../media/image118.svg"/><Relationship Id="rId63" Type="http://schemas.openxmlformats.org/officeDocument/2006/relationships/image" Target="../media/image134.svg"/><Relationship Id="rId68" Type="http://schemas.openxmlformats.org/officeDocument/2006/relationships/image" Target="../media/image139.png"/><Relationship Id="rId16" Type="http://schemas.openxmlformats.org/officeDocument/2006/relationships/image" Target="../media/image89.png"/><Relationship Id="rId11" Type="http://schemas.openxmlformats.org/officeDocument/2006/relationships/image" Target="../media/image84.svg"/><Relationship Id="rId32" Type="http://schemas.openxmlformats.org/officeDocument/2006/relationships/image" Target="../media/image103.png"/><Relationship Id="rId37" Type="http://schemas.openxmlformats.org/officeDocument/2006/relationships/image" Target="../media/image108.svg"/><Relationship Id="rId53" Type="http://schemas.openxmlformats.org/officeDocument/2006/relationships/image" Target="../media/image124.svg"/><Relationship Id="rId58" Type="http://schemas.openxmlformats.org/officeDocument/2006/relationships/image" Target="../media/image129.png"/><Relationship Id="rId74" Type="http://schemas.openxmlformats.org/officeDocument/2006/relationships/image" Target="../media/image145.png"/><Relationship Id="rId79" Type="http://schemas.openxmlformats.org/officeDocument/2006/relationships/image" Target="../media/image150.svg"/><Relationship Id="rId5" Type="http://schemas.openxmlformats.org/officeDocument/2006/relationships/image" Target="../media/image78.svg"/><Relationship Id="rId61" Type="http://schemas.openxmlformats.org/officeDocument/2006/relationships/image" Target="../media/image132.svg"/><Relationship Id="rId82" Type="http://schemas.openxmlformats.org/officeDocument/2006/relationships/image" Target="../media/image151.png"/><Relationship Id="rId19" Type="http://schemas.openxmlformats.org/officeDocument/2006/relationships/image" Target="../media/image14.svg"/><Relationship Id="rId14" Type="http://schemas.openxmlformats.org/officeDocument/2006/relationships/image" Target="../media/image87.png"/><Relationship Id="rId22" Type="http://schemas.openxmlformats.org/officeDocument/2006/relationships/image" Target="../media/image93.png"/><Relationship Id="rId27" Type="http://schemas.openxmlformats.org/officeDocument/2006/relationships/image" Target="../media/image98.svg"/><Relationship Id="rId30" Type="http://schemas.openxmlformats.org/officeDocument/2006/relationships/image" Target="../media/image101.png"/><Relationship Id="rId35" Type="http://schemas.openxmlformats.org/officeDocument/2006/relationships/image" Target="../media/image106.svg"/><Relationship Id="rId43" Type="http://schemas.openxmlformats.org/officeDocument/2006/relationships/image" Target="../media/image114.svg"/><Relationship Id="rId48" Type="http://schemas.openxmlformats.org/officeDocument/2006/relationships/image" Target="../media/image119.png"/><Relationship Id="rId56" Type="http://schemas.openxmlformats.org/officeDocument/2006/relationships/image" Target="../media/image127.png"/><Relationship Id="rId64" Type="http://schemas.openxmlformats.org/officeDocument/2006/relationships/image" Target="../media/image135.png"/><Relationship Id="rId69" Type="http://schemas.openxmlformats.org/officeDocument/2006/relationships/image" Target="../media/image140.svg"/><Relationship Id="rId77" Type="http://schemas.openxmlformats.org/officeDocument/2006/relationships/image" Target="../media/image148.svg"/><Relationship Id="rId8" Type="http://schemas.openxmlformats.org/officeDocument/2006/relationships/image" Target="../media/image81.png"/><Relationship Id="rId51" Type="http://schemas.openxmlformats.org/officeDocument/2006/relationships/image" Target="../media/image122.svg"/><Relationship Id="rId72" Type="http://schemas.openxmlformats.org/officeDocument/2006/relationships/image" Target="../media/image143.png"/><Relationship Id="rId80" Type="http://schemas.openxmlformats.org/officeDocument/2006/relationships/image" Target="../media/image63.png"/><Relationship Id="rId3" Type="http://schemas.openxmlformats.org/officeDocument/2006/relationships/image" Target="../media/image18.svg"/><Relationship Id="rId12" Type="http://schemas.openxmlformats.org/officeDocument/2006/relationships/image" Target="../media/image85.png"/><Relationship Id="rId17" Type="http://schemas.openxmlformats.org/officeDocument/2006/relationships/image" Target="../media/image90.svg"/><Relationship Id="rId25" Type="http://schemas.openxmlformats.org/officeDocument/2006/relationships/image" Target="../media/image96.svg"/><Relationship Id="rId33" Type="http://schemas.openxmlformats.org/officeDocument/2006/relationships/image" Target="../media/image104.svg"/><Relationship Id="rId38" Type="http://schemas.openxmlformats.org/officeDocument/2006/relationships/image" Target="../media/image109.png"/><Relationship Id="rId46" Type="http://schemas.openxmlformats.org/officeDocument/2006/relationships/image" Target="../media/image117.png"/><Relationship Id="rId59" Type="http://schemas.openxmlformats.org/officeDocument/2006/relationships/image" Target="../media/image130.svg"/><Relationship Id="rId67" Type="http://schemas.openxmlformats.org/officeDocument/2006/relationships/image" Target="../media/image138.svg"/><Relationship Id="rId20" Type="http://schemas.openxmlformats.org/officeDocument/2006/relationships/image" Target="../media/image91.png"/><Relationship Id="rId41" Type="http://schemas.openxmlformats.org/officeDocument/2006/relationships/image" Target="../media/image112.svg"/><Relationship Id="rId54" Type="http://schemas.openxmlformats.org/officeDocument/2006/relationships/image" Target="../media/image125.png"/><Relationship Id="rId62" Type="http://schemas.openxmlformats.org/officeDocument/2006/relationships/image" Target="../media/image133.png"/><Relationship Id="rId70" Type="http://schemas.openxmlformats.org/officeDocument/2006/relationships/image" Target="../media/image141.png"/><Relationship Id="rId75" Type="http://schemas.openxmlformats.org/officeDocument/2006/relationships/image" Target="../media/image146.svg"/><Relationship Id="rId83" Type="http://schemas.openxmlformats.org/officeDocument/2006/relationships/image" Target="../media/image152.svg"/><Relationship Id="rId1" Type="http://schemas.openxmlformats.org/officeDocument/2006/relationships/slideLayout" Target="../slideLayouts/slideLayout2.xml"/><Relationship Id="rId6" Type="http://schemas.openxmlformats.org/officeDocument/2006/relationships/image" Target="../media/image79.png"/><Relationship Id="rId15" Type="http://schemas.openxmlformats.org/officeDocument/2006/relationships/image" Target="../media/image88.svg"/><Relationship Id="rId23" Type="http://schemas.openxmlformats.org/officeDocument/2006/relationships/image" Target="../media/image94.svg"/><Relationship Id="rId28" Type="http://schemas.openxmlformats.org/officeDocument/2006/relationships/image" Target="../media/image99.png"/><Relationship Id="rId36" Type="http://schemas.openxmlformats.org/officeDocument/2006/relationships/image" Target="../media/image107.png"/><Relationship Id="rId49" Type="http://schemas.openxmlformats.org/officeDocument/2006/relationships/image" Target="../media/image120.svg"/><Relationship Id="rId57" Type="http://schemas.openxmlformats.org/officeDocument/2006/relationships/image" Target="../media/image128.svg"/><Relationship Id="rId10" Type="http://schemas.openxmlformats.org/officeDocument/2006/relationships/image" Target="../media/image83.png"/><Relationship Id="rId31" Type="http://schemas.openxmlformats.org/officeDocument/2006/relationships/image" Target="../media/image102.svg"/><Relationship Id="rId44" Type="http://schemas.openxmlformats.org/officeDocument/2006/relationships/image" Target="../media/image115.png"/><Relationship Id="rId52" Type="http://schemas.openxmlformats.org/officeDocument/2006/relationships/image" Target="../media/image123.png"/><Relationship Id="rId60" Type="http://schemas.openxmlformats.org/officeDocument/2006/relationships/image" Target="../media/image131.png"/><Relationship Id="rId65" Type="http://schemas.openxmlformats.org/officeDocument/2006/relationships/image" Target="../media/image136.svg"/><Relationship Id="rId73" Type="http://schemas.openxmlformats.org/officeDocument/2006/relationships/image" Target="../media/image144.svg"/><Relationship Id="rId78" Type="http://schemas.openxmlformats.org/officeDocument/2006/relationships/image" Target="../media/image149.png"/><Relationship Id="rId81" Type="http://schemas.openxmlformats.org/officeDocument/2006/relationships/image" Target="../media/image64.svg"/><Relationship Id="rId4" Type="http://schemas.openxmlformats.org/officeDocument/2006/relationships/image" Target="../media/image77.png"/><Relationship Id="rId9" Type="http://schemas.openxmlformats.org/officeDocument/2006/relationships/image" Target="../media/image82.svg"/><Relationship Id="rId13" Type="http://schemas.openxmlformats.org/officeDocument/2006/relationships/image" Target="../media/image86.svg"/><Relationship Id="rId18" Type="http://schemas.openxmlformats.org/officeDocument/2006/relationships/image" Target="../media/image13.png"/><Relationship Id="rId39" Type="http://schemas.openxmlformats.org/officeDocument/2006/relationships/image" Target="../media/image110.svg"/><Relationship Id="rId34" Type="http://schemas.openxmlformats.org/officeDocument/2006/relationships/image" Target="../media/image105.png"/><Relationship Id="rId50" Type="http://schemas.openxmlformats.org/officeDocument/2006/relationships/image" Target="../media/image121.png"/><Relationship Id="rId55" Type="http://schemas.openxmlformats.org/officeDocument/2006/relationships/image" Target="../media/image126.svg"/><Relationship Id="rId76" Type="http://schemas.openxmlformats.org/officeDocument/2006/relationships/image" Target="../media/image147.png"/><Relationship Id="rId7" Type="http://schemas.openxmlformats.org/officeDocument/2006/relationships/image" Target="../media/image80.svg"/><Relationship Id="rId71" Type="http://schemas.openxmlformats.org/officeDocument/2006/relationships/image" Target="../media/image142.svg"/><Relationship Id="rId2" Type="http://schemas.openxmlformats.org/officeDocument/2006/relationships/image" Target="../media/image17.png"/><Relationship Id="rId29" Type="http://schemas.openxmlformats.org/officeDocument/2006/relationships/image" Target="../media/image100.svg"/><Relationship Id="rId24" Type="http://schemas.openxmlformats.org/officeDocument/2006/relationships/image" Target="../media/image95.png"/><Relationship Id="rId40" Type="http://schemas.openxmlformats.org/officeDocument/2006/relationships/image" Target="../media/image111.png"/><Relationship Id="rId45" Type="http://schemas.openxmlformats.org/officeDocument/2006/relationships/image" Target="../media/image116.svg"/><Relationship Id="rId66" Type="http://schemas.openxmlformats.org/officeDocument/2006/relationships/image" Target="../media/image137.png"/></Relationships>
</file>

<file path=ppt/slides/_rels/slide58.xml.rels><?xml version="1.0" encoding="UTF-8" standalone="yes"?>
<Relationships xmlns="http://schemas.openxmlformats.org/package/2006/relationships"><Relationship Id="rId13" Type="http://schemas.openxmlformats.org/officeDocument/2006/relationships/image" Target="../media/image160.svg"/><Relationship Id="rId18" Type="http://schemas.openxmlformats.org/officeDocument/2006/relationships/image" Target="../media/image165.png"/><Relationship Id="rId26" Type="http://schemas.openxmlformats.org/officeDocument/2006/relationships/image" Target="../media/image173.png"/><Relationship Id="rId21" Type="http://schemas.openxmlformats.org/officeDocument/2006/relationships/image" Target="../media/image168.svg"/><Relationship Id="rId34" Type="http://schemas.openxmlformats.org/officeDocument/2006/relationships/image" Target="../media/image8.png"/><Relationship Id="rId7" Type="http://schemas.openxmlformats.org/officeDocument/2006/relationships/image" Target="../media/image154.svg"/><Relationship Id="rId12" Type="http://schemas.openxmlformats.org/officeDocument/2006/relationships/image" Target="../media/image159.png"/><Relationship Id="rId17" Type="http://schemas.openxmlformats.org/officeDocument/2006/relationships/image" Target="../media/image164.svg"/><Relationship Id="rId25" Type="http://schemas.openxmlformats.org/officeDocument/2006/relationships/image" Target="../media/image172.svg"/><Relationship Id="rId33" Type="http://schemas.openxmlformats.org/officeDocument/2006/relationships/image" Target="../media/image5.svg"/><Relationship Id="rId2" Type="http://schemas.openxmlformats.org/officeDocument/2006/relationships/image" Target="../media/image13.png"/><Relationship Id="rId16" Type="http://schemas.openxmlformats.org/officeDocument/2006/relationships/image" Target="../media/image163.png"/><Relationship Id="rId20" Type="http://schemas.openxmlformats.org/officeDocument/2006/relationships/image" Target="../media/image167.png"/><Relationship Id="rId29" Type="http://schemas.openxmlformats.org/officeDocument/2006/relationships/image" Target="../media/image176.svg"/><Relationship Id="rId1" Type="http://schemas.openxmlformats.org/officeDocument/2006/relationships/slideLayout" Target="../slideLayouts/slideLayout2.xml"/><Relationship Id="rId6" Type="http://schemas.openxmlformats.org/officeDocument/2006/relationships/image" Target="../media/image153.png"/><Relationship Id="rId11" Type="http://schemas.openxmlformats.org/officeDocument/2006/relationships/image" Target="../media/image158.svg"/><Relationship Id="rId24" Type="http://schemas.openxmlformats.org/officeDocument/2006/relationships/image" Target="../media/image171.png"/><Relationship Id="rId32" Type="http://schemas.openxmlformats.org/officeDocument/2006/relationships/image" Target="../media/image4.png"/><Relationship Id="rId37" Type="http://schemas.openxmlformats.org/officeDocument/2006/relationships/image" Target="../media/image3.svg"/><Relationship Id="rId5" Type="http://schemas.openxmlformats.org/officeDocument/2006/relationships/image" Target="../media/image18.svg"/><Relationship Id="rId15" Type="http://schemas.openxmlformats.org/officeDocument/2006/relationships/image" Target="../media/image162.svg"/><Relationship Id="rId23" Type="http://schemas.openxmlformats.org/officeDocument/2006/relationships/image" Target="../media/image170.svg"/><Relationship Id="rId28" Type="http://schemas.openxmlformats.org/officeDocument/2006/relationships/image" Target="../media/image175.png"/><Relationship Id="rId36" Type="http://schemas.openxmlformats.org/officeDocument/2006/relationships/image" Target="../media/image2.png"/><Relationship Id="rId10" Type="http://schemas.openxmlformats.org/officeDocument/2006/relationships/image" Target="../media/image157.png"/><Relationship Id="rId19" Type="http://schemas.openxmlformats.org/officeDocument/2006/relationships/image" Target="../media/image166.svg"/><Relationship Id="rId31" Type="http://schemas.openxmlformats.org/officeDocument/2006/relationships/image" Target="../media/image7.svg"/><Relationship Id="rId4" Type="http://schemas.openxmlformats.org/officeDocument/2006/relationships/image" Target="../media/image17.png"/><Relationship Id="rId9" Type="http://schemas.openxmlformats.org/officeDocument/2006/relationships/image" Target="../media/image156.svg"/><Relationship Id="rId14" Type="http://schemas.openxmlformats.org/officeDocument/2006/relationships/image" Target="../media/image161.png"/><Relationship Id="rId22" Type="http://schemas.openxmlformats.org/officeDocument/2006/relationships/image" Target="../media/image169.png"/><Relationship Id="rId27" Type="http://schemas.openxmlformats.org/officeDocument/2006/relationships/image" Target="../media/image174.svg"/><Relationship Id="rId30" Type="http://schemas.openxmlformats.org/officeDocument/2006/relationships/image" Target="../media/image6.png"/><Relationship Id="rId35" Type="http://schemas.openxmlformats.org/officeDocument/2006/relationships/image" Target="../media/image9.svg"/><Relationship Id="rId8" Type="http://schemas.openxmlformats.org/officeDocument/2006/relationships/image" Target="../media/image155.png"/><Relationship Id="rId3" Type="http://schemas.openxmlformats.org/officeDocument/2006/relationships/image" Target="../media/image14.svg"/></Relationships>
</file>

<file path=ppt/slides/_rels/slide59.xml.rels><?xml version="1.0" encoding="UTF-8" standalone="yes"?>
<Relationships xmlns="http://schemas.openxmlformats.org/package/2006/relationships"><Relationship Id="rId8" Type="http://schemas.openxmlformats.org/officeDocument/2006/relationships/image" Target="../media/image180.jpg"/><Relationship Id="rId13" Type="http://schemas.openxmlformats.org/officeDocument/2006/relationships/hyperlink" Target="https://becomeabetterinvestor.net/the-buffett-indicator-reveals-potential-opportunities-in-asia/" TargetMode="External"/><Relationship Id="rId3" Type="http://schemas.openxmlformats.org/officeDocument/2006/relationships/hyperlink" Target="https://commons.wikimedia.org/wiki/File:Amateur_Football_in_Kilkenny-Ireland.jpg" TargetMode="External"/><Relationship Id="rId7" Type="http://schemas.openxmlformats.org/officeDocument/2006/relationships/hyperlink" Target="https://people-equation.com/research-that-supports-being-good-with-people/" TargetMode="External"/><Relationship Id="rId12" Type="http://schemas.openxmlformats.org/officeDocument/2006/relationships/image" Target="../media/image182.jpeg"/><Relationship Id="rId17" Type="http://schemas.openxmlformats.org/officeDocument/2006/relationships/image" Target="../media/image18.svg"/><Relationship Id="rId2" Type="http://schemas.openxmlformats.org/officeDocument/2006/relationships/image" Target="../media/image177.jpg"/><Relationship Id="rId16"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image" Target="../media/image179.jpg"/><Relationship Id="rId11" Type="http://schemas.openxmlformats.org/officeDocument/2006/relationships/hyperlink" Target="https://www.e-ostadelahi.fr/eoe-fr/ne-pas-juger-c-est-gagner/" TargetMode="External"/><Relationship Id="rId5" Type="http://schemas.openxmlformats.org/officeDocument/2006/relationships/hyperlink" Target="https://geobrava.wordpress.com/tag/cyber-threat/" TargetMode="External"/><Relationship Id="rId15" Type="http://schemas.openxmlformats.org/officeDocument/2006/relationships/image" Target="../media/image14.svg"/><Relationship Id="rId10" Type="http://schemas.openxmlformats.org/officeDocument/2006/relationships/image" Target="../media/image181.jpeg"/><Relationship Id="rId4" Type="http://schemas.openxmlformats.org/officeDocument/2006/relationships/image" Target="../media/image178.jpg"/><Relationship Id="rId9" Type="http://schemas.openxmlformats.org/officeDocument/2006/relationships/hyperlink" Target="https://www.flickr.com/photos/crossmediaweek/6797876362/" TargetMode="External"/><Relationship Id="rId14" Type="http://schemas.openxmlformats.org/officeDocument/2006/relationships/image" Target="../media/image13.png"/></Relationships>
</file>

<file path=ppt/slides/_rels/slide60.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14.svg"/><Relationship Id="rId4" Type="http://schemas.openxmlformats.org/officeDocument/2006/relationships/image" Target="../media/image13.png"/></Relationships>
</file>

<file path=ppt/slides/_rels/slide61.xml.rels><?xml version="1.0" encoding="UTF-8" standalone="yes"?>
<Relationships xmlns="http://schemas.openxmlformats.org/package/2006/relationships"><Relationship Id="rId8" Type="http://schemas.openxmlformats.org/officeDocument/2006/relationships/image" Target="../media/image175.png"/><Relationship Id="rId13" Type="http://schemas.openxmlformats.org/officeDocument/2006/relationships/image" Target="../media/image5.svg"/><Relationship Id="rId3" Type="http://schemas.openxmlformats.org/officeDocument/2006/relationships/image" Target="../media/image14.svg"/><Relationship Id="rId7" Type="http://schemas.openxmlformats.org/officeDocument/2006/relationships/image" Target="../media/image174.svg"/><Relationship Id="rId12" Type="http://schemas.openxmlformats.org/officeDocument/2006/relationships/image" Target="../media/image4.png"/><Relationship Id="rId17" Type="http://schemas.openxmlformats.org/officeDocument/2006/relationships/image" Target="../media/image3.svg"/><Relationship Id="rId2" Type="http://schemas.openxmlformats.org/officeDocument/2006/relationships/image" Target="../media/image13.png"/><Relationship Id="rId16" Type="http://schemas.openxmlformats.org/officeDocument/2006/relationships/image" Target="../media/image2.png"/><Relationship Id="rId1" Type="http://schemas.openxmlformats.org/officeDocument/2006/relationships/slideLayout" Target="../slideLayouts/slideLayout2.xml"/><Relationship Id="rId6" Type="http://schemas.openxmlformats.org/officeDocument/2006/relationships/image" Target="../media/image173.png"/><Relationship Id="rId11" Type="http://schemas.openxmlformats.org/officeDocument/2006/relationships/image" Target="../media/image7.svg"/><Relationship Id="rId5" Type="http://schemas.openxmlformats.org/officeDocument/2006/relationships/image" Target="../media/image172.svg"/><Relationship Id="rId15" Type="http://schemas.openxmlformats.org/officeDocument/2006/relationships/image" Target="../media/image9.svg"/><Relationship Id="rId10" Type="http://schemas.openxmlformats.org/officeDocument/2006/relationships/image" Target="../media/image6.png"/><Relationship Id="rId4" Type="http://schemas.openxmlformats.org/officeDocument/2006/relationships/image" Target="../media/image171.png"/><Relationship Id="rId9" Type="http://schemas.openxmlformats.org/officeDocument/2006/relationships/image" Target="../media/image176.svg"/><Relationship Id="rId14" Type="http://schemas.openxmlformats.org/officeDocument/2006/relationships/image" Target="../media/image8.png"/></Relationships>
</file>

<file path=ppt/slides/_rels/slide62.xml.rels><?xml version="1.0" encoding="UTF-8" standalone="yes"?>
<Relationships xmlns="http://schemas.openxmlformats.org/package/2006/relationships"><Relationship Id="rId8" Type="http://schemas.openxmlformats.org/officeDocument/2006/relationships/image" Target="../media/image189.png"/><Relationship Id="rId3" Type="http://schemas.openxmlformats.org/officeDocument/2006/relationships/image" Target="../media/image184.svg"/><Relationship Id="rId7" Type="http://schemas.openxmlformats.org/officeDocument/2006/relationships/image" Target="../media/image188.svg"/><Relationship Id="rId2" Type="http://schemas.openxmlformats.org/officeDocument/2006/relationships/image" Target="../media/image183.png"/><Relationship Id="rId1" Type="http://schemas.openxmlformats.org/officeDocument/2006/relationships/slideLayout" Target="../slideLayouts/slideLayout7.xml"/><Relationship Id="rId6" Type="http://schemas.openxmlformats.org/officeDocument/2006/relationships/image" Target="../media/image187.png"/><Relationship Id="rId5" Type="http://schemas.openxmlformats.org/officeDocument/2006/relationships/image" Target="../media/image186.svg"/><Relationship Id="rId4" Type="http://schemas.openxmlformats.org/officeDocument/2006/relationships/image" Target="../media/image185.png"/><Relationship Id="rId9" Type="http://schemas.openxmlformats.org/officeDocument/2006/relationships/image" Target="../media/image190.svg"/></Relationships>
</file>

<file path=ppt/slides/_rels/slide63.xml.rels><?xml version="1.0" encoding="UTF-8" standalone="yes"?>
<Relationships xmlns="http://schemas.openxmlformats.org/package/2006/relationships"><Relationship Id="rId26" Type="http://schemas.openxmlformats.org/officeDocument/2006/relationships/image" Target="../media/image215.png"/><Relationship Id="rId117" Type="http://schemas.openxmlformats.org/officeDocument/2006/relationships/image" Target="../media/image172.svg"/><Relationship Id="rId21" Type="http://schemas.openxmlformats.org/officeDocument/2006/relationships/image" Target="../media/image210.svg"/><Relationship Id="rId42" Type="http://schemas.openxmlformats.org/officeDocument/2006/relationships/image" Target="../media/image231.png"/><Relationship Id="rId47" Type="http://schemas.openxmlformats.org/officeDocument/2006/relationships/image" Target="../media/image236.svg"/><Relationship Id="rId63" Type="http://schemas.openxmlformats.org/officeDocument/2006/relationships/image" Target="../media/image251.svg"/><Relationship Id="rId68" Type="http://schemas.openxmlformats.org/officeDocument/2006/relationships/image" Target="../media/image256.png"/><Relationship Id="rId84" Type="http://schemas.openxmlformats.org/officeDocument/2006/relationships/image" Target="../media/image272.png"/><Relationship Id="rId89" Type="http://schemas.openxmlformats.org/officeDocument/2006/relationships/image" Target="../media/image277.svg"/><Relationship Id="rId112" Type="http://schemas.openxmlformats.org/officeDocument/2006/relationships/image" Target="../media/image297.png"/><Relationship Id="rId16" Type="http://schemas.openxmlformats.org/officeDocument/2006/relationships/image" Target="../media/image205.png"/><Relationship Id="rId107" Type="http://schemas.openxmlformats.org/officeDocument/2006/relationships/image" Target="../media/image292.svg"/><Relationship Id="rId11" Type="http://schemas.openxmlformats.org/officeDocument/2006/relationships/image" Target="../media/image200.svg"/><Relationship Id="rId32" Type="http://schemas.openxmlformats.org/officeDocument/2006/relationships/image" Target="../media/image221.png"/><Relationship Id="rId37" Type="http://schemas.openxmlformats.org/officeDocument/2006/relationships/image" Target="../media/image226.svg"/><Relationship Id="rId53" Type="http://schemas.openxmlformats.org/officeDocument/2006/relationships/image" Target="../media/image242.svg"/><Relationship Id="rId58" Type="http://schemas.openxmlformats.org/officeDocument/2006/relationships/image" Target="../media/image51.png"/><Relationship Id="rId74" Type="http://schemas.openxmlformats.org/officeDocument/2006/relationships/image" Target="../media/image262.png"/><Relationship Id="rId79" Type="http://schemas.openxmlformats.org/officeDocument/2006/relationships/image" Target="../media/image267.svg"/><Relationship Id="rId102" Type="http://schemas.openxmlformats.org/officeDocument/2006/relationships/image" Target="../media/image288.png"/><Relationship Id="rId123" Type="http://schemas.openxmlformats.org/officeDocument/2006/relationships/image" Target="../media/image14.svg"/><Relationship Id="rId5" Type="http://schemas.openxmlformats.org/officeDocument/2006/relationships/image" Target="../media/image194.svg"/><Relationship Id="rId90" Type="http://schemas.openxmlformats.org/officeDocument/2006/relationships/image" Target="../media/image45.png"/><Relationship Id="rId95" Type="http://schemas.openxmlformats.org/officeDocument/2006/relationships/image" Target="../media/image281.svg"/><Relationship Id="rId22" Type="http://schemas.openxmlformats.org/officeDocument/2006/relationships/image" Target="../media/image211.png"/><Relationship Id="rId27" Type="http://schemas.openxmlformats.org/officeDocument/2006/relationships/image" Target="../media/image216.svg"/><Relationship Id="rId43" Type="http://schemas.openxmlformats.org/officeDocument/2006/relationships/image" Target="../media/image232.svg"/><Relationship Id="rId48" Type="http://schemas.openxmlformats.org/officeDocument/2006/relationships/image" Target="../media/image237.png"/><Relationship Id="rId64" Type="http://schemas.openxmlformats.org/officeDocument/2006/relationships/image" Target="../media/image252.png"/><Relationship Id="rId69" Type="http://schemas.openxmlformats.org/officeDocument/2006/relationships/image" Target="../media/image257.svg"/><Relationship Id="rId113" Type="http://schemas.openxmlformats.org/officeDocument/2006/relationships/image" Target="../media/image298.svg"/><Relationship Id="rId118" Type="http://schemas.openxmlformats.org/officeDocument/2006/relationships/image" Target="../media/image175.png"/><Relationship Id="rId80" Type="http://schemas.openxmlformats.org/officeDocument/2006/relationships/image" Target="../media/image268.png"/><Relationship Id="rId85" Type="http://schemas.openxmlformats.org/officeDocument/2006/relationships/image" Target="../media/image273.svg"/><Relationship Id="rId12" Type="http://schemas.openxmlformats.org/officeDocument/2006/relationships/image" Target="../media/image201.png"/><Relationship Id="rId17" Type="http://schemas.openxmlformats.org/officeDocument/2006/relationships/image" Target="../media/image206.svg"/><Relationship Id="rId33" Type="http://schemas.openxmlformats.org/officeDocument/2006/relationships/image" Target="../media/image222.svg"/><Relationship Id="rId38" Type="http://schemas.openxmlformats.org/officeDocument/2006/relationships/image" Target="../media/image227.png"/><Relationship Id="rId59" Type="http://schemas.openxmlformats.org/officeDocument/2006/relationships/image" Target="../media/image247.svg"/><Relationship Id="rId103" Type="http://schemas.openxmlformats.org/officeDocument/2006/relationships/image" Target="../media/image289.svg"/><Relationship Id="rId108" Type="http://schemas.openxmlformats.org/officeDocument/2006/relationships/image" Target="../media/image293.png"/><Relationship Id="rId54" Type="http://schemas.openxmlformats.org/officeDocument/2006/relationships/image" Target="../media/image243.png"/><Relationship Id="rId70" Type="http://schemas.openxmlformats.org/officeDocument/2006/relationships/image" Target="../media/image258.png"/><Relationship Id="rId75" Type="http://schemas.openxmlformats.org/officeDocument/2006/relationships/image" Target="../media/image263.svg"/><Relationship Id="rId91" Type="http://schemas.openxmlformats.org/officeDocument/2006/relationships/image" Target="../media/image46.svg"/><Relationship Id="rId96" Type="http://schemas.openxmlformats.org/officeDocument/2006/relationships/image" Target="../media/image282.png"/><Relationship Id="rId1" Type="http://schemas.openxmlformats.org/officeDocument/2006/relationships/slideLayout" Target="../slideLayouts/slideLayout2.xml"/><Relationship Id="rId6" Type="http://schemas.openxmlformats.org/officeDocument/2006/relationships/image" Target="../media/image195.png"/><Relationship Id="rId23" Type="http://schemas.openxmlformats.org/officeDocument/2006/relationships/image" Target="../media/image212.svg"/><Relationship Id="rId28" Type="http://schemas.openxmlformats.org/officeDocument/2006/relationships/image" Target="../media/image217.png"/><Relationship Id="rId49" Type="http://schemas.openxmlformats.org/officeDocument/2006/relationships/image" Target="../media/image238.svg"/><Relationship Id="rId114" Type="http://schemas.openxmlformats.org/officeDocument/2006/relationships/image" Target="../media/image299.png"/><Relationship Id="rId119" Type="http://schemas.openxmlformats.org/officeDocument/2006/relationships/image" Target="../media/image176.svg"/><Relationship Id="rId44" Type="http://schemas.openxmlformats.org/officeDocument/2006/relationships/image" Target="../media/image233.png"/><Relationship Id="rId60" Type="http://schemas.openxmlformats.org/officeDocument/2006/relationships/image" Target="../media/image248.png"/><Relationship Id="rId65" Type="http://schemas.openxmlformats.org/officeDocument/2006/relationships/image" Target="../media/image253.svg"/><Relationship Id="rId81" Type="http://schemas.openxmlformats.org/officeDocument/2006/relationships/image" Target="../media/image269.svg"/><Relationship Id="rId86" Type="http://schemas.openxmlformats.org/officeDocument/2006/relationships/image" Target="../media/image274.png"/><Relationship Id="rId4" Type="http://schemas.openxmlformats.org/officeDocument/2006/relationships/image" Target="../media/image193.png"/><Relationship Id="rId9" Type="http://schemas.openxmlformats.org/officeDocument/2006/relationships/image" Target="../media/image198.svg"/><Relationship Id="rId13" Type="http://schemas.openxmlformats.org/officeDocument/2006/relationships/image" Target="../media/image202.svg"/><Relationship Id="rId18" Type="http://schemas.openxmlformats.org/officeDocument/2006/relationships/image" Target="../media/image207.png"/><Relationship Id="rId39" Type="http://schemas.openxmlformats.org/officeDocument/2006/relationships/image" Target="../media/image228.svg"/><Relationship Id="rId109" Type="http://schemas.openxmlformats.org/officeDocument/2006/relationships/image" Target="../media/image294.svg"/><Relationship Id="rId34" Type="http://schemas.openxmlformats.org/officeDocument/2006/relationships/image" Target="../media/image223.png"/><Relationship Id="rId50" Type="http://schemas.openxmlformats.org/officeDocument/2006/relationships/image" Target="../media/image239.png"/><Relationship Id="rId55" Type="http://schemas.openxmlformats.org/officeDocument/2006/relationships/image" Target="../media/image244.svg"/><Relationship Id="rId76" Type="http://schemas.openxmlformats.org/officeDocument/2006/relationships/image" Target="../media/image264.png"/><Relationship Id="rId97" Type="http://schemas.openxmlformats.org/officeDocument/2006/relationships/image" Target="../media/image283.svg"/><Relationship Id="rId104" Type="http://schemas.openxmlformats.org/officeDocument/2006/relationships/image" Target="../media/image290.png"/><Relationship Id="rId120" Type="http://schemas.openxmlformats.org/officeDocument/2006/relationships/image" Target="../media/image173.png"/><Relationship Id="rId7" Type="http://schemas.openxmlformats.org/officeDocument/2006/relationships/image" Target="../media/image196.svg"/><Relationship Id="rId71" Type="http://schemas.openxmlformats.org/officeDocument/2006/relationships/image" Target="../media/image259.svg"/><Relationship Id="rId92" Type="http://schemas.openxmlformats.org/officeDocument/2006/relationships/image" Target="../media/image278.png"/><Relationship Id="rId2" Type="http://schemas.openxmlformats.org/officeDocument/2006/relationships/image" Target="../media/image191.png"/><Relationship Id="rId29" Type="http://schemas.openxmlformats.org/officeDocument/2006/relationships/image" Target="../media/image218.svg"/><Relationship Id="rId24" Type="http://schemas.openxmlformats.org/officeDocument/2006/relationships/image" Target="../media/image213.png"/><Relationship Id="rId40" Type="http://schemas.openxmlformats.org/officeDocument/2006/relationships/image" Target="../media/image229.png"/><Relationship Id="rId45" Type="http://schemas.openxmlformats.org/officeDocument/2006/relationships/image" Target="../media/image234.svg"/><Relationship Id="rId66" Type="http://schemas.openxmlformats.org/officeDocument/2006/relationships/image" Target="../media/image254.png"/><Relationship Id="rId87" Type="http://schemas.openxmlformats.org/officeDocument/2006/relationships/image" Target="../media/image275.svg"/><Relationship Id="rId110" Type="http://schemas.openxmlformats.org/officeDocument/2006/relationships/image" Target="../media/image295.png"/><Relationship Id="rId115" Type="http://schemas.openxmlformats.org/officeDocument/2006/relationships/image" Target="../media/image300.svg"/><Relationship Id="rId61" Type="http://schemas.openxmlformats.org/officeDocument/2006/relationships/image" Target="../media/image249.svg"/><Relationship Id="rId82" Type="http://schemas.openxmlformats.org/officeDocument/2006/relationships/image" Target="../media/image270.png"/><Relationship Id="rId19" Type="http://schemas.openxmlformats.org/officeDocument/2006/relationships/image" Target="../media/image208.svg"/><Relationship Id="rId14" Type="http://schemas.openxmlformats.org/officeDocument/2006/relationships/image" Target="../media/image203.png"/><Relationship Id="rId30" Type="http://schemas.openxmlformats.org/officeDocument/2006/relationships/image" Target="../media/image219.png"/><Relationship Id="rId35" Type="http://schemas.openxmlformats.org/officeDocument/2006/relationships/image" Target="../media/image224.svg"/><Relationship Id="rId56" Type="http://schemas.openxmlformats.org/officeDocument/2006/relationships/image" Target="../media/image245.png"/><Relationship Id="rId77" Type="http://schemas.openxmlformats.org/officeDocument/2006/relationships/image" Target="../media/image265.svg"/><Relationship Id="rId100" Type="http://schemas.openxmlformats.org/officeDocument/2006/relationships/image" Target="../media/image286.png"/><Relationship Id="rId105" Type="http://schemas.openxmlformats.org/officeDocument/2006/relationships/image" Target="../media/image291.svg"/><Relationship Id="rId8" Type="http://schemas.openxmlformats.org/officeDocument/2006/relationships/image" Target="../media/image197.png"/><Relationship Id="rId51" Type="http://schemas.openxmlformats.org/officeDocument/2006/relationships/image" Target="../media/image240.svg"/><Relationship Id="rId72" Type="http://schemas.openxmlformats.org/officeDocument/2006/relationships/image" Target="../media/image260.png"/><Relationship Id="rId93" Type="http://schemas.openxmlformats.org/officeDocument/2006/relationships/image" Target="../media/image279.svg"/><Relationship Id="rId98" Type="http://schemas.openxmlformats.org/officeDocument/2006/relationships/image" Target="../media/image284.png"/><Relationship Id="rId121" Type="http://schemas.openxmlformats.org/officeDocument/2006/relationships/image" Target="../media/image174.svg"/><Relationship Id="rId3" Type="http://schemas.openxmlformats.org/officeDocument/2006/relationships/image" Target="../media/image192.svg"/><Relationship Id="rId25" Type="http://schemas.openxmlformats.org/officeDocument/2006/relationships/image" Target="../media/image214.svg"/><Relationship Id="rId46" Type="http://schemas.openxmlformats.org/officeDocument/2006/relationships/image" Target="../media/image235.png"/><Relationship Id="rId67" Type="http://schemas.openxmlformats.org/officeDocument/2006/relationships/image" Target="../media/image255.svg"/><Relationship Id="rId116" Type="http://schemas.openxmlformats.org/officeDocument/2006/relationships/image" Target="../media/image171.png"/><Relationship Id="rId20" Type="http://schemas.openxmlformats.org/officeDocument/2006/relationships/image" Target="../media/image209.png"/><Relationship Id="rId41" Type="http://schemas.openxmlformats.org/officeDocument/2006/relationships/image" Target="../media/image230.svg"/><Relationship Id="rId62" Type="http://schemas.openxmlformats.org/officeDocument/2006/relationships/image" Target="../media/image250.png"/><Relationship Id="rId83" Type="http://schemas.openxmlformats.org/officeDocument/2006/relationships/image" Target="../media/image271.svg"/><Relationship Id="rId88" Type="http://schemas.openxmlformats.org/officeDocument/2006/relationships/image" Target="../media/image276.png"/><Relationship Id="rId111" Type="http://schemas.openxmlformats.org/officeDocument/2006/relationships/image" Target="../media/image296.svg"/><Relationship Id="rId15" Type="http://schemas.openxmlformats.org/officeDocument/2006/relationships/image" Target="../media/image204.svg"/><Relationship Id="rId36" Type="http://schemas.openxmlformats.org/officeDocument/2006/relationships/image" Target="../media/image225.png"/><Relationship Id="rId57" Type="http://schemas.openxmlformats.org/officeDocument/2006/relationships/image" Target="../media/image246.svg"/><Relationship Id="rId106" Type="http://schemas.openxmlformats.org/officeDocument/2006/relationships/image" Target="../media/image153.png"/><Relationship Id="rId10" Type="http://schemas.openxmlformats.org/officeDocument/2006/relationships/image" Target="../media/image199.png"/><Relationship Id="rId31" Type="http://schemas.openxmlformats.org/officeDocument/2006/relationships/image" Target="../media/image220.svg"/><Relationship Id="rId52" Type="http://schemas.openxmlformats.org/officeDocument/2006/relationships/image" Target="../media/image241.png"/><Relationship Id="rId73" Type="http://schemas.openxmlformats.org/officeDocument/2006/relationships/image" Target="../media/image261.svg"/><Relationship Id="rId78" Type="http://schemas.openxmlformats.org/officeDocument/2006/relationships/image" Target="../media/image266.png"/><Relationship Id="rId94" Type="http://schemas.openxmlformats.org/officeDocument/2006/relationships/image" Target="../media/image280.png"/><Relationship Id="rId99" Type="http://schemas.openxmlformats.org/officeDocument/2006/relationships/image" Target="../media/image285.svg"/><Relationship Id="rId101" Type="http://schemas.openxmlformats.org/officeDocument/2006/relationships/image" Target="../media/image287.svg"/><Relationship Id="rId122" Type="http://schemas.openxmlformats.org/officeDocument/2006/relationships/image" Target="../media/image13.png"/></Relationships>
</file>

<file path=ppt/slides/_rels/slide64.xml.rels><?xml version="1.0" encoding="UTF-8" standalone="yes"?>
<Relationships xmlns="http://schemas.openxmlformats.org/package/2006/relationships"><Relationship Id="rId8" Type="http://schemas.openxmlformats.org/officeDocument/2006/relationships/image" Target="../media/image304.png"/><Relationship Id="rId3" Type="http://schemas.openxmlformats.org/officeDocument/2006/relationships/image" Target="../media/image96.svg"/><Relationship Id="rId7" Type="http://schemas.openxmlformats.org/officeDocument/2006/relationships/image" Target="../media/image303.svg"/><Relationship Id="rId2" Type="http://schemas.openxmlformats.org/officeDocument/2006/relationships/image" Target="../media/image95.png"/><Relationship Id="rId1" Type="http://schemas.openxmlformats.org/officeDocument/2006/relationships/slideLayout" Target="../slideLayouts/slideLayout7.xml"/><Relationship Id="rId6" Type="http://schemas.openxmlformats.org/officeDocument/2006/relationships/image" Target="../media/image302.png"/><Relationship Id="rId11" Type="http://schemas.openxmlformats.org/officeDocument/2006/relationships/image" Target="../media/image307.svg"/><Relationship Id="rId5" Type="http://schemas.openxmlformats.org/officeDocument/2006/relationships/image" Target="../media/image301.svg"/><Relationship Id="rId10" Type="http://schemas.openxmlformats.org/officeDocument/2006/relationships/image" Target="../media/image306.png"/><Relationship Id="rId4" Type="http://schemas.openxmlformats.org/officeDocument/2006/relationships/image" Target="../media/image33.png"/><Relationship Id="rId9" Type="http://schemas.openxmlformats.org/officeDocument/2006/relationships/image" Target="../media/image305.svg"/></Relationships>
</file>

<file path=ppt/slides/_rels/slide65.xml.rels><?xml version="1.0" encoding="UTF-8" standalone="yes"?>
<Relationships xmlns="http://schemas.openxmlformats.org/package/2006/relationships"><Relationship Id="rId8" Type="http://schemas.openxmlformats.org/officeDocument/2006/relationships/image" Target="../media/image304.png"/><Relationship Id="rId3" Type="http://schemas.openxmlformats.org/officeDocument/2006/relationships/image" Target="../media/image96.svg"/><Relationship Id="rId7" Type="http://schemas.openxmlformats.org/officeDocument/2006/relationships/image" Target="../media/image309.svg"/><Relationship Id="rId2" Type="http://schemas.openxmlformats.org/officeDocument/2006/relationships/image" Target="../media/image95.png"/><Relationship Id="rId1" Type="http://schemas.openxmlformats.org/officeDocument/2006/relationships/slideLayout" Target="../slideLayouts/slideLayout7.xml"/><Relationship Id="rId6" Type="http://schemas.openxmlformats.org/officeDocument/2006/relationships/image" Target="../media/image308.png"/><Relationship Id="rId11" Type="http://schemas.openxmlformats.org/officeDocument/2006/relationships/image" Target="../media/image307.svg"/><Relationship Id="rId5" Type="http://schemas.openxmlformats.org/officeDocument/2006/relationships/image" Target="../media/image301.svg"/><Relationship Id="rId10" Type="http://schemas.openxmlformats.org/officeDocument/2006/relationships/image" Target="../media/image306.png"/><Relationship Id="rId4" Type="http://schemas.openxmlformats.org/officeDocument/2006/relationships/image" Target="../media/image33.png"/><Relationship Id="rId9" Type="http://schemas.openxmlformats.org/officeDocument/2006/relationships/image" Target="../media/image305.svg"/></Relationships>
</file>

<file path=ppt/slides/_rels/slide66.xml.rels><?xml version="1.0" encoding="UTF-8" standalone="yes"?>
<Relationships xmlns="http://schemas.openxmlformats.org/package/2006/relationships"><Relationship Id="rId26" Type="http://schemas.openxmlformats.org/officeDocument/2006/relationships/image" Target="../media/image213.png"/><Relationship Id="rId117" Type="http://schemas.openxmlformats.org/officeDocument/2006/relationships/image" Target="../media/image13.png"/><Relationship Id="rId21" Type="http://schemas.openxmlformats.org/officeDocument/2006/relationships/image" Target="../media/image208.svg"/><Relationship Id="rId42" Type="http://schemas.openxmlformats.org/officeDocument/2006/relationships/image" Target="../media/image229.png"/><Relationship Id="rId47" Type="http://schemas.openxmlformats.org/officeDocument/2006/relationships/image" Target="../media/image234.svg"/><Relationship Id="rId63" Type="http://schemas.openxmlformats.org/officeDocument/2006/relationships/image" Target="../media/image249.svg"/><Relationship Id="rId68" Type="http://schemas.openxmlformats.org/officeDocument/2006/relationships/image" Target="../media/image254.png"/><Relationship Id="rId84" Type="http://schemas.openxmlformats.org/officeDocument/2006/relationships/image" Target="../media/image45.png"/><Relationship Id="rId89" Type="http://schemas.openxmlformats.org/officeDocument/2006/relationships/image" Target="../media/image281.svg"/><Relationship Id="rId112" Type="http://schemas.openxmlformats.org/officeDocument/2006/relationships/image" Target="../media/image295.png"/><Relationship Id="rId16" Type="http://schemas.openxmlformats.org/officeDocument/2006/relationships/image" Target="../media/image203.png"/><Relationship Id="rId107" Type="http://schemas.openxmlformats.org/officeDocument/2006/relationships/image" Target="../media/image275.svg"/><Relationship Id="rId11" Type="http://schemas.openxmlformats.org/officeDocument/2006/relationships/image" Target="../media/image200.svg"/><Relationship Id="rId32" Type="http://schemas.openxmlformats.org/officeDocument/2006/relationships/image" Target="../media/image219.png"/><Relationship Id="rId37" Type="http://schemas.openxmlformats.org/officeDocument/2006/relationships/image" Target="../media/image224.svg"/><Relationship Id="rId53" Type="http://schemas.openxmlformats.org/officeDocument/2006/relationships/image" Target="../media/image240.svg"/><Relationship Id="rId58" Type="http://schemas.openxmlformats.org/officeDocument/2006/relationships/image" Target="../media/image245.png"/><Relationship Id="rId74" Type="http://schemas.openxmlformats.org/officeDocument/2006/relationships/image" Target="../media/image260.png"/><Relationship Id="rId79" Type="http://schemas.openxmlformats.org/officeDocument/2006/relationships/image" Target="../media/image265.svg"/><Relationship Id="rId102" Type="http://schemas.openxmlformats.org/officeDocument/2006/relationships/image" Target="../media/image270.png"/><Relationship Id="rId5" Type="http://schemas.openxmlformats.org/officeDocument/2006/relationships/image" Target="../media/image194.svg"/><Relationship Id="rId90" Type="http://schemas.openxmlformats.org/officeDocument/2006/relationships/image" Target="../media/image282.png"/><Relationship Id="rId95" Type="http://schemas.openxmlformats.org/officeDocument/2006/relationships/image" Target="../media/image287.svg"/><Relationship Id="rId22" Type="http://schemas.openxmlformats.org/officeDocument/2006/relationships/image" Target="../media/image209.png"/><Relationship Id="rId27" Type="http://schemas.openxmlformats.org/officeDocument/2006/relationships/image" Target="../media/image214.svg"/><Relationship Id="rId43" Type="http://schemas.openxmlformats.org/officeDocument/2006/relationships/image" Target="../media/image230.svg"/><Relationship Id="rId48" Type="http://schemas.openxmlformats.org/officeDocument/2006/relationships/image" Target="../media/image235.png"/><Relationship Id="rId64" Type="http://schemas.openxmlformats.org/officeDocument/2006/relationships/image" Target="../media/image250.png"/><Relationship Id="rId69" Type="http://schemas.openxmlformats.org/officeDocument/2006/relationships/image" Target="../media/image255.svg"/><Relationship Id="rId113" Type="http://schemas.openxmlformats.org/officeDocument/2006/relationships/image" Target="../media/image296.svg"/><Relationship Id="rId118" Type="http://schemas.openxmlformats.org/officeDocument/2006/relationships/image" Target="../media/image14.svg"/><Relationship Id="rId80" Type="http://schemas.openxmlformats.org/officeDocument/2006/relationships/image" Target="../media/image266.png"/><Relationship Id="rId85" Type="http://schemas.openxmlformats.org/officeDocument/2006/relationships/image" Target="../media/image46.svg"/><Relationship Id="rId12" Type="http://schemas.openxmlformats.org/officeDocument/2006/relationships/image" Target="../media/image201.png"/><Relationship Id="rId17" Type="http://schemas.openxmlformats.org/officeDocument/2006/relationships/image" Target="../media/image204.svg"/><Relationship Id="rId33" Type="http://schemas.openxmlformats.org/officeDocument/2006/relationships/image" Target="../media/image220.svg"/><Relationship Id="rId38" Type="http://schemas.openxmlformats.org/officeDocument/2006/relationships/image" Target="../media/image225.png"/><Relationship Id="rId59" Type="http://schemas.openxmlformats.org/officeDocument/2006/relationships/image" Target="../media/image246.svg"/><Relationship Id="rId103" Type="http://schemas.openxmlformats.org/officeDocument/2006/relationships/image" Target="../media/image271.svg"/><Relationship Id="rId108" Type="http://schemas.openxmlformats.org/officeDocument/2006/relationships/image" Target="../media/image153.png"/><Relationship Id="rId54" Type="http://schemas.openxmlformats.org/officeDocument/2006/relationships/image" Target="../media/image241.png"/><Relationship Id="rId70" Type="http://schemas.openxmlformats.org/officeDocument/2006/relationships/image" Target="../media/image256.png"/><Relationship Id="rId75" Type="http://schemas.openxmlformats.org/officeDocument/2006/relationships/image" Target="../media/image261.svg"/><Relationship Id="rId91" Type="http://schemas.openxmlformats.org/officeDocument/2006/relationships/image" Target="../media/image283.svg"/><Relationship Id="rId96" Type="http://schemas.openxmlformats.org/officeDocument/2006/relationships/image" Target="../media/image288.png"/><Relationship Id="rId1" Type="http://schemas.openxmlformats.org/officeDocument/2006/relationships/slideLayout" Target="../slideLayouts/slideLayout2.xml"/><Relationship Id="rId6" Type="http://schemas.openxmlformats.org/officeDocument/2006/relationships/image" Target="../media/image195.png"/><Relationship Id="rId23" Type="http://schemas.openxmlformats.org/officeDocument/2006/relationships/image" Target="../media/image210.svg"/><Relationship Id="rId28" Type="http://schemas.openxmlformats.org/officeDocument/2006/relationships/image" Target="../media/image215.png"/><Relationship Id="rId49" Type="http://schemas.openxmlformats.org/officeDocument/2006/relationships/image" Target="../media/image236.svg"/><Relationship Id="rId114" Type="http://schemas.openxmlformats.org/officeDocument/2006/relationships/image" Target="../media/image297.png"/><Relationship Id="rId10" Type="http://schemas.openxmlformats.org/officeDocument/2006/relationships/image" Target="../media/image199.png"/><Relationship Id="rId31" Type="http://schemas.openxmlformats.org/officeDocument/2006/relationships/image" Target="../media/image218.svg"/><Relationship Id="rId44" Type="http://schemas.openxmlformats.org/officeDocument/2006/relationships/image" Target="../media/image231.png"/><Relationship Id="rId52" Type="http://schemas.openxmlformats.org/officeDocument/2006/relationships/image" Target="../media/image239.png"/><Relationship Id="rId60" Type="http://schemas.openxmlformats.org/officeDocument/2006/relationships/image" Target="../media/image51.png"/><Relationship Id="rId65" Type="http://schemas.openxmlformats.org/officeDocument/2006/relationships/image" Target="../media/image251.svg"/><Relationship Id="rId73" Type="http://schemas.openxmlformats.org/officeDocument/2006/relationships/image" Target="../media/image259.svg"/><Relationship Id="rId78" Type="http://schemas.openxmlformats.org/officeDocument/2006/relationships/image" Target="../media/image264.png"/><Relationship Id="rId81" Type="http://schemas.openxmlformats.org/officeDocument/2006/relationships/image" Target="../media/image267.svg"/><Relationship Id="rId86" Type="http://schemas.openxmlformats.org/officeDocument/2006/relationships/image" Target="../media/image278.png"/><Relationship Id="rId94" Type="http://schemas.openxmlformats.org/officeDocument/2006/relationships/image" Target="../media/image286.png"/><Relationship Id="rId99" Type="http://schemas.openxmlformats.org/officeDocument/2006/relationships/image" Target="../media/image291.svg"/><Relationship Id="rId101" Type="http://schemas.openxmlformats.org/officeDocument/2006/relationships/image" Target="../media/image269.svg"/><Relationship Id="rId4" Type="http://schemas.openxmlformats.org/officeDocument/2006/relationships/image" Target="../media/image193.png"/><Relationship Id="rId9" Type="http://schemas.openxmlformats.org/officeDocument/2006/relationships/image" Target="../media/image198.svg"/><Relationship Id="rId13" Type="http://schemas.openxmlformats.org/officeDocument/2006/relationships/image" Target="../media/image202.svg"/><Relationship Id="rId18" Type="http://schemas.openxmlformats.org/officeDocument/2006/relationships/image" Target="../media/image205.png"/><Relationship Id="rId39" Type="http://schemas.openxmlformats.org/officeDocument/2006/relationships/image" Target="../media/image226.svg"/><Relationship Id="rId109" Type="http://schemas.openxmlformats.org/officeDocument/2006/relationships/image" Target="../media/image292.svg"/><Relationship Id="rId34" Type="http://schemas.openxmlformats.org/officeDocument/2006/relationships/image" Target="../media/image221.png"/><Relationship Id="rId50" Type="http://schemas.openxmlformats.org/officeDocument/2006/relationships/image" Target="../media/image237.png"/><Relationship Id="rId55" Type="http://schemas.openxmlformats.org/officeDocument/2006/relationships/image" Target="../media/image242.svg"/><Relationship Id="rId76" Type="http://schemas.openxmlformats.org/officeDocument/2006/relationships/image" Target="../media/image262.png"/><Relationship Id="rId97" Type="http://schemas.openxmlformats.org/officeDocument/2006/relationships/image" Target="../media/image289.svg"/><Relationship Id="rId104" Type="http://schemas.openxmlformats.org/officeDocument/2006/relationships/image" Target="../media/image272.png"/><Relationship Id="rId7" Type="http://schemas.openxmlformats.org/officeDocument/2006/relationships/image" Target="../media/image196.svg"/><Relationship Id="rId71" Type="http://schemas.openxmlformats.org/officeDocument/2006/relationships/image" Target="../media/image257.svg"/><Relationship Id="rId92" Type="http://schemas.openxmlformats.org/officeDocument/2006/relationships/image" Target="../media/image284.png"/><Relationship Id="rId2" Type="http://schemas.openxmlformats.org/officeDocument/2006/relationships/image" Target="../media/image191.png"/><Relationship Id="rId29" Type="http://schemas.openxmlformats.org/officeDocument/2006/relationships/image" Target="../media/image216.svg"/><Relationship Id="rId24" Type="http://schemas.openxmlformats.org/officeDocument/2006/relationships/image" Target="../media/image211.png"/><Relationship Id="rId40" Type="http://schemas.openxmlformats.org/officeDocument/2006/relationships/image" Target="../media/image227.png"/><Relationship Id="rId45" Type="http://schemas.openxmlformats.org/officeDocument/2006/relationships/image" Target="../media/image232.svg"/><Relationship Id="rId66" Type="http://schemas.openxmlformats.org/officeDocument/2006/relationships/image" Target="../media/image252.png"/><Relationship Id="rId87" Type="http://schemas.openxmlformats.org/officeDocument/2006/relationships/image" Target="../media/image279.svg"/><Relationship Id="rId110" Type="http://schemas.openxmlformats.org/officeDocument/2006/relationships/image" Target="../media/image293.png"/><Relationship Id="rId115" Type="http://schemas.openxmlformats.org/officeDocument/2006/relationships/image" Target="../media/image298.svg"/><Relationship Id="rId61" Type="http://schemas.openxmlformats.org/officeDocument/2006/relationships/image" Target="../media/image247.svg"/><Relationship Id="rId82" Type="http://schemas.openxmlformats.org/officeDocument/2006/relationships/image" Target="../media/image276.png"/><Relationship Id="rId19" Type="http://schemas.openxmlformats.org/officeDocument/2006/relationships/image" Target="../media/image206.svg"/><Relationship Id="rId14" Type="http://schemas.openxmlformats.org/officeDocument/2006/relationships/image" Target="../media/image299.png"/><Relationship Id="rId30" Type="http://schemas.openxmlformats.org/officeDocument/2006/relationships/image" Target="../media/image217.png"/><Relationship Id="rId35" Type="http://schemas.openxmlformats.org/officeDocument/2006/relationships/image" Target="../media/image222.svg"/><Relationship Id="rId56" Type="http://schemas.openxmlformats.org/officeDocument/2006/relationships/image" Target="../media/image243.png"/><Relationship Id="rId77" Type="http://schemas.openxmlformats.org/officeDocument/2006/relationships/image" Target="../media/image263.svg"/><Relationship Id="rId100" Type="http://schemas.openxmlformats.org/officeDocument/2006/relationships/image" Target="../media/image268.png"/><Relationship Id="rId105" Type="http://schemas.openxmlformats.org/officeDocument/2006/relationships/image" Target="../media/image273.svg"/><Relationship Id="rId8" Type="http://schemas.openxmlformats.org/officeDocument/2006/relationships/image" Target="../media/image197.png"/><Relationship Id="rId51" Type="http://schemas.openxmlformats.org/officeDocument/2006/relationships/image" Target="../media/image238.svg"/><Relationship Id="rId72" Type="http://schemas.openxmlformats.org/officeDocument/2006/relationships/image" Target="../media/image258.png"/><Relationship Id="rId93" Type="http://schemas.openxmlformats.org/officeDocument/2006/relationships/image" Target="../media/image285.svg"/><Relationship Id="rId98" Type="http://schemas.openxmlformats.org/officeDocument/2006/relationships/image" Target="../media/image290.png"/><Relationship Id="rId3" Type="http://schemas.openxmlformats.org/officeDocument/2006/relationships/image" Target="../media/image192.svg"/><Relationship Id="rId25" Type="http://schemas.openxmlformats.org/officeDocument/2006/relationships/image" Target="../media/image212.svg"/><Relationship Id="rId46" Type="http://schemas.openxmlformats.org/officeDocument/2006/relationships/image" Target="../media/image233.png"/><Relationship Id="rId67" Type="http://schemas.openxmlformats.org/officeDocument/2006/relationships/image" Target="../media/image253.svg"/><Relationship Id="rId116" Type="http://schemas.openxmlformats.org/officeDocument/2006/relationships/hyperlink" Target="https://openseriousgames.org/a-quels-budgets-sont-rattaches-les-communautes-dentreprise/" TargetMode="External"/><Relationship Id="rId20" Type="http://schemas.openxmlformats.org/officeDocument/2006/relationships/image" Target="../media/image207.png"/><Relationship Id="rId41" Type="http://schemas.openxmlformats.org/officeDocument/2006/relationships/image" Target="../media/image228.svg"/><Relationship Id="rId62" Type="http://schemas.openxmlformats.org/officeDocument/2006/relationships/image" Target="../media/image248.png"/><Relationship Id="rId83" Type="http://schemas.openxmlformats.org/officeDocument/2006/relationships/image" Target="../media/image277.svg"/><Relationship Id="rId88" Type="http://schemas.openxmlformats.org/officeDocument/2006/relationships/image" Target="../media/image280.png"/><Relationship Id="rId111" Type="http://schemas.openxmlformats.org/officeDocument/2006/relationships/image" Target="../media/image294.svg"/><Relationship Id="rId15" Type="http://schemas.openxmlformats.org/officeDocument/2006/relationships/image" Target="../media/image300.svg"/><Relationship Id="rId36" Type="http://schemas.openxmlformats.org/officeDocument/2006/relationships/image" Target="../media/image223.png"/><Relationship Id="rId57" Type="http://schemas.openxmlformats.org/officeDocument/2006/relationships/image" Target="../media/image244.svg"/><Relationship Id="rId106" Type="http://schemas.openxmlformats.org/officeDocument/2006/relationships/image" Target="../media/image274.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6" Type="http://schemas.openxmlformats.org/officeDocument/2006/relationships/image" Target="../media/image213.png"/><Relationship Id="rId117" Type="http://schemas.openxmlformats.org/officeDocument/2006/relationships/image" Target="../media/image14.svg"/><Relationship Id="rId21" Type="http://schemas.openxmlformats.org/officeDocument/2006/relationships/image" Target="../media/image208.svg"/><Relationship Id="rId42" Type="http://schemas.openxmlformats.org/officeDocument/2006/relationships/image" Target="../media/image229.png"/><Relationship Id="rId47" Type="http://schemas.openxmlformats.org/officeDocument/2006/relationships/image" Target="../media/image234.svg"/><Relationship Id="rId63" Type="http://schemas.openxmlformats.org/officeDocument/2006/relationships/image" Target="../media/image249.svg"/><Relationship Id="rId68" Type="http://schemas.openxmlformats.org/officeDocument/2006/relationships/image" Target="../media/image254.png"/><Relationship Id="rId84" Type="http://schemas.openxmlformats.org/officeDocument/2006/relationships/image" Target="../media/image45.png"/><Relationship Id="rId89" Type="http://schemas.openxmlformats.org/officeDocument/2006/relationships/image" Target="../media/image281.svg"/><Relationship Id="rId112" Type="http://schemas.openxmlformats.org/officeDocument/2006/relationships/image" Target="../media/image295.png"/><Relationship Id="rId16" Type="http://schemas.openxmlformats.org/officeDocument/2006/relationships/image" Target="../media/image203.png"/><Relationship Id="rId107" Type="http://schemas.openxmlformats.org/officeDocument/2006/relationships/image" Target="../media/image275.svg"/><Relationship Id="rId11" Type="http://schemas.openxmlformats.org/officeDocument/2006/relationships/image" Target="../media/image200.svg"/><Relationship Id="rId32" Type="http://schemas.openxmlformats.org/officeDocument/2006/relationships/image" Target="../media/image219.png"/><Relationship Id="rId37" Type="http://schemas.openxmlformats.org/officeDocument/2006/relationships/image" Target="../media/image224.svg"/><Relationship Id="rId53" Type="http://schemas.openxmlformats.org/officeDocument/2006/relationships/image" Target="../media/image240.svg"/><Relationship Id="rId58" Type="http://schemas.openxmlformats.org/officeDocument/2006/relationships/image" Target="../media/image245.png"/><Relationship Id="rId74" Type="http://schemas.openxmlformats.org/officeDocument/2006/relationships/image" Target="../media/image260.png"/><Relationship Id="rId79" Type="http://schemas.openxmlformats.org/officeDocument/2006/relationships/image" Target="../media/image265.svg"/><Relationship Id="rId102" Type="http://schemas.openxmlformats.org/officeDocument/2006/relationships/image" Target="../media/image270.png"/><Relationship Id="rId5" Type="http://schemas.openxmlformats.org/officeDocument/2006/relationships/image" Target="../media/image194.svg"/><Relationship Id="rId90" Type="http://schemas.openxmlformats.org/officeDocument/2006/relationships/image" Target="../media/image282.png"/><Relationship Id="rId95" Type="http://schemas.openxmlformats.org/officeDocument/2006/relationships/image" Target="../media/image287.svg"/><Relationship Id="rId22" Type="http://schemas.openxmlformats.org/officeDocument/2006/relationships/image" Target="../media/image209.png"/><Relationship Id="rId27" Type="http://schemas.openxmlformats.org/officeDocument/2006/relationships/image" Target="../media/image214.svg"/><Relationship Id="rId43" Type="http://schemas.openxmlformats.org/officeDocument/2006/relationships/image" Target="../media/image230.svg"/><Relationship Id="rId48" Type="http://schemas.openxmlformats.org/officeDocument/2006/relationships/image" Target="../media/image235.png"/><Relationship Id="rId64" Type="http://schemas.openxmlformats.org/officeDocument/2006/relationships/image" Target="../media/image250.png"/><Relationship Id="rId69" Type="http://schemas.openxmlformats.org/officeDocument/2006/relationships/image" Target="../media/image255.svg"/><Relationship Id="rId113" Type="http://schemas.openxmlformats.org/officeDocument/2006/relationships/image" Target="../media/image296.svg"/><Relationship Id="rId80" Type="http://schemas.openxmlformats.org/officeDocument/2006/relationships/image" Target="../media/image266.png"/><Relationship Id="rId85" Type="http://schemas.openxmlformats.org/officeDocument/2006/relationships/image" Target="../media/image46.svg"/><Relationship Id="rId12" Type="http://schemas.openxmlformats.org/officeDocument/2006/relationships/image" Target="../media/image201.png"/><Relationship Id="rId17" Type="http://schemas.openxmlformats.org/officeDocument/2006/relationships/image" Target="../media/image204.svg"/><Relationship Id="rId33" Type="http://schemas.openxmlformats.org/officeDocument/2006/relationships/image" Target="../media/image220.svg"/><Relationship Id="rId38" Type="http://schemas.openxmlformats.org/officeDocument/2006/relationships/image" Target="../media/image225.png"/><Relationship Id="rId59" Type="http://schemas.openxmlformats.org/officeDocument/2006/relationships/image" Target="../media/image246.svg"/><Relationship Id="rId103" Type="http://schemas.openxmlformats.org/officeDocument/2006/relationships/image" Target="../media/image271.svg"/><Relationship Id="rId108" Type="http://schemas.openxmlformats.org/officeDocument/2006/relationships/image" Target="../media/image153.png"/><Relationship Id="rId54" Type="http://schemas.openxmlformats.org/officeDocument/2006/relationships/image" Target="../media/image241.png"/><Relationship Id="rId70" Type="http://schemas.openxmlformats.org/officeDocument/2006/relationships/image" Target="../media/image256.png"/><Relationship Id="rId75" Type="http://schemas.openxmlformats.org/officeDocument/2006/relationships/image" Target="../media/image261.svg"/><Relationship Id="rId91" Type="http://schemas.openxmlformats.org/officeDocument/2006/relationships/image" Target="../media/image283.svg"/><Relationship Id="rId96" Type="http://schemas.openxmlformats.org/officeDocument/2006/relationships/image" Target="../media/image288.png"/><Relationship Id="rId1" Type="http://schemas.openxmlformats.org/officeDocument/2006/relationships/slideLayout" Target="../slideLayouts/slideLayout2.xml"/><Relationship Id="rId6" Type="http://schemas.openxmlformats.org/officeDocument/2006/relationships/image" Target="../media/image195.png"/><Relationship Id="rId23" Type="http://schemas.openxmlformats.org/officeDocument/2006/relationships/image" Target="../media/image210.svg"/><Relationship Id="rId28" Type="http://schemas.openxmlformats.org/officeDocument/2006/relationships/image" Target="../media/image215.png"/><Relationship Id="rId49" Type="http://schemas.openxmlformats.org/officeDocument/2006/relationships/image" Target="../media/image236.svg"/><Relationship Id="rId114" Type="http://schemas.openxmlformats.org/officeDocument/2006/relationships/image" Target="../media/image297.png"/><Relationship Id="rId10" Type="http://schemas.openxmlformats.org/officeDocument/2006/relationships/image" Target="../media/image199.png"/><Relationship Id="rId31" Type="http://schemas.openxmlformats.org/officeDocument/2006/relationships/image" Target="../media/image218.svg"/><Relationship Id="rId44" Type="http://schemas.openxmlformats.org/officeDocument/2006/relationships/image" Target="../media/image231.png"/><Relationship Id="rId52" Type="http://schemas.openxmlformats.org/officeDocument/2006/relationships/image" Target="../media/image239.png"/><Relationship Id="rId60" Type="http://schemas.openxmlformats.org/officeDocument/2006/relationships/image" Target="../media/image51.png"/><Relationship Id="rId65" Type="http://schemas.openxmlformats.org/officeDocument/2006/relationships/image" Target="../media/image251.svg"/><Relationship Id="rId73" Type="http://schemas.openxmlformats.org/officeDocument/2006/relationships/image" Target="../media/image259.svg"/><Relationship Id="rId78" Type="http://schemas.openxmlformats.org/officeDocument/2006/relationships/image" Target="../media/image264.png"/><Relationship Id="rId81" Type="http://schemas.openxmlformats.org/officeDocument/2006/relationships/image" Target="../media/image267.svg"/><Relationship Id="rId86" Type="http://schemas.openxmlformats.org/officeDocument/2006/relationships/image" Target="../media/image278.png"/><Relationship Id="rId94" Type="http://schemas.openxmlformats.org/officeDocument/2006/relationships/image" Target="../media/image286.png"/><Relationship Id="rId99" Type="http://schemas.openxmlformats.org/officeDocument/2006/relationships/image" Target="../media/image291.svg"/><Relationship Id="rId101" Type="http://schemas.openxmlformats.org/officeDocument/2006/relationships/image" Target="../media/image269.svg"/><Relationship Id="rId4" Type="http://schemas.openxmlformats.org/officeDocument/2006/relationships/image" Target="../media/image193.png"/><Relationship Id="rId9" Type="http://schemas.openxmlformats.org/officeDocument/2006/relationships/image" Target="../media/image198.svg"/><Relationship Id="rId13" Type="http://schemas.openxmlformats.org/officeDocument/2006/relationships/image" Target="../media/image202.svg"/><Relationship Id="rId18" Type="http://schemas.openxmlformats.org/officeDocument/2006/relationships/image" Target="../media/image205.png"/><Relationship Id="rId39" Type="http://schemas.openxmlformats.org/officeDocument/2006/relationships/image" Target="../media/image226.svg"/><Relationship Id="rId109" Type="http://schemas.openxmlformats.org/officeDocument/2006/relationships/image" Target="../media/image292.svg"/><Relationship Id="rId34" Type="http://schemas.openxmlformats.org/officeDocument/2006/relationships/image" Target="../media/image221.png"/><Relationship Id="rId50" Type="http://schemas.openxmlformats.org/officeDocument/2006/relationships/image" Target="../media/image237.png"/><Relationship Id="rId55" Type="http://schemas.openxmlformats.org/officeDocument/2006/relationships/image" Target="../media/image242.svg"/><Relationship Id="rId76" Type="http://schemas.openxmlformats.org/officeDocument/2006/relationships/image" Target="../media/image262.png"/><Relationship Id="rId97" Type="http://schemas.openxmlformats.org/officeDocument/2006/relationships/image" Target="../media/image289.svg"/><Relationship Id="rId104" Type="http://schemas.openxmlformats.org/officeDocument/2006/relationships/image" Target="../media/image272.png"/><Relationship Id="rId7" Type="http://schemas.openxmlformats.org/officeDocument/2006/relationships/image" Target="../media/image196.svg"/><Relationship Id="rId71" Type="http://schemas.openxmlformats.org/officeDocument/2006/relationships/image" Target="../media/image257.svg"/><Relationship Id="rId92" Type="http://schemas.openxmlformats.org/officeDocument/2006/relationships/image" Target="../media/image284.png"/><Relationship Id="rId2" Type="http://schemas.openxmlformats.org/officeDocument/2006/relationships/image" Target="../media/image191.png"/><Relationship Id="rId29" Type="http://schemas.openxmlformats.org/officeDocument/2006/relationships/image" Target="../media/image216.svg"/><Relationship Id="rId24" Type="http://schemas.openxmlformats.org/officeDocument/2006/relationships/image" Target="../media/image211.png"/><Relationship Id="rId40" Type="http://schemas.openxmlformats.org/officeDocument/2006/relationships/image" Target="../media/image227.png"/><Relationship Id="rId45" Type="http://schemas.openxmlformats.org/officeDocument/2006/relationships/image" Target="../media/image232.svg"/><Relationship Id="rId66" Type="http://schemas.openxmlformats.org/officeDocument/2006/relationships/image" Target="../media/image252.png"/><Relationship Id="rId87" Type="http://schemas.openxmlformats.org/officeDocument/2006/relationships/image" Target="../media/image279.svg"/><Relationship Id="rId110" Type="http://schemas.openxmlformats.org/officeDocument/2006/relationships/image" Target="../media/image293.png"/><Relationship Id="rId115" Type="http://schemas.openxmlformats.org/officeDocument/2006/relationships/image" Target="../media/image298.svg"/><Relationship Id="rId61" Type="http://schemas.openxmlformats.org/officeDocument/2006/relationships/image" Target="../media/image247.svg"/><Relationship Id="rId82" Type="http://schemas.openxmlformats.org/officeDocument/2006/relationships/image" Target="../media/image276.png"/><Relationship Id="rId19" Type="http://schemas.openxmlformats.org/officeDocument/2006/relationships/image" Target="../media/image206.svg"/><Relationship Id="rId14" Type="http://schemas.openxmlformats.org/officeDocument/2006/relationships/image" Target="../media/image299.png"/><Relationship Id="rId30" Type="http://schemas.openxmlformats.org/officeDocument/2006/relationships/image" Target="../media/image217.png"/><Relationship Id="rId35" Type="http://schemas.openxmlformats.org/officeDocument/2006/relationships/image" Target="../media/image222.svg"/><Relationship Id="rId56" Type="http://schemas.openxmlformats.org/officeDocument/2006/relationships/image" Target="../media/image243.png"/><Relationship Id="rId77" Type="http://schemas.openxmlformats.org/officeDocument/2006/relationships/image" Target="../media/image263.svg"/><Relationship Id="rId100" Type="http://schemas.openxmlformats.org/officeDocument/2006/relationships/image" Target="../media/image268.png"/><Relationship Id="rId105" Type="http://schemas.openxmlformats.org/officeDocument/2006/relationships/image" Target="../media/image273.svg"/><Relationship Id="rId8" Type="http://schemas.openxmlformats.org/officeDocument/2006/relationships/image" Target="../media/image197.png"/><Relationship Id="rId51" Type="http://schemas.openxmlformats.org/officeDocument/2006/relationships/image" Target="../media/image238.svg"/><Relationship Id="rId72" Type="http://schemas.openxmlformats.org/officeDocument/2006/relationships/image" Target="../media/image258.png"/><Relationship Id="rId93" Type="http://schemas.openxmlformats.org/officeDocument/2006/relationships/image" Target="../media/image285.svg"/><Relationship Id="rId98" Type="http://schemas.openxmlformats.org/officeDocument/2006/relationships/image" Target="../media/image290.png"/><Relationship Id="rId3" Type="http://schemas.openxmlformats.org/officeDocument/2006/relationships/image" Target="../media/image192.svg"/><Relationship Id="rId25" Type="http://schemas.openxmlformats.org/officeDocument/2006/relationships/image" Target="../media/image212.svg"/><Relationship Id="rId46" Type="http://schemas.openxmlformats.org/officeDocument/2006/relationships/image" Target="../media/image233.png"/><Relationship Id="rId67" Type="http://schemas.openxmlformats.org/officeDocument/2006/relationships/image" Target="../media/image253.svg"/><Relationship Id="rId116" Type="http://schemas.openxmlformats.org/officeDocument/2006/relationships/image" Target="../media/image13.png"/><Relationship Id="rId20" Type="http://schemas.openxmlformats.org/officeDocument/2006/relationships/image" Target="../media/image207.png"/><Relationship Id="rId41" Type="http://schemas.openxmlformats.org/officeDocument/2006/relationships/image" Target="../media/image228.svg"/><Relationship Id="rId62" Type="http://schemas.openxmlformats.org/officeDocument/2006/relationships/image" Target="../media/image248.png"/><Relationship Id="rId83" Type="http://schemas.openxmlformats.org/officeDocument/2006/relationships/image" Target="../media/image277.svg"/><Relationship Id="rId88" Type="http://schemas.openxmlformats.org/officeDocument/2006/relationships/image" Target="../media/image280.png"/><Relationship Id="rId111" Type="http://schemas.openxmlformats.org/officeDocument/2006/relationships/image" Target="../media/image294.svg"/><Relationship Id="rId15" Type="http://schemas.openxmlformats.org/officeDocument/2006/relationships/image" Target="../media/image300.svg"/><Relationship Id="rId36" Type="http://schemas.openxmlformats.org/officeDocument/2006/relationships/image" Target="../media/image223.png"/><Relationship Id="rId57" Type="http://schemas.openxmlformats.org/officeDocument/2006/relationships/image" Target="../media/image244.svg"/><Relationship Id="rId106" Type="http://schemas.openxmlformats.org/officeDocument/2006/relationships/image" Target="../media/image274.png"/></Relationships>
</file>

<file path=ppt/slides/_rels/slide69.xml.rels><?xml version="1.0" encoding="UTF-8" standalone="yes"?>
<Relationships xmlns="http://schemas.openxmlformats.org/package/2006/relationships"><Relationship Id="rId8" Type="http://schemas.openxmlformats.org/officeDocument/2006/relationships/image" Target="../media/image304.png"/><Relationship Id="rId3" Type="http://schemas.openxmlformats.org/officeDocument/2006/relationships/image" Target="../media/image96.svg"/><Relationship Id="rId7" Type="http://schemas.openxmlformats.org/officeDocument/2006/relationships/image" Target="../media/image303.svg"/><Relationship Id="rId2" Type="http://schemas.openxmlformats.org/officeDocument/2006/relationships/image" Target="../media/image95.png"/><Relationship Id="rId1" Type="http://schemas.openxmlformats.org/officeDocument/2006/relationships/slideLayout" Target="../slideLayouts/slideLayout7.xml"/><Relationship Id="rId6" Type="http://schemas.openxmlformats.org/officeDocument/2006/relationships/image" Target="../media/image302.png"/><Relationship Id="rId11" Type="http://schemas.openxmlformats.org/officeDocument/2006/relationships/image" Target="../media/image307.svg"/><Relationship Id="rId5" Type="http://schemas.openxmlformats.org/officeDocument/2006/relationships/image" Target="../media/image301.svg"/><Relationship Id="rId10" Type="http://schemas.openxmlformats.org/officeDocument/2006/relationships/image" Target="../media/image306.png"/><Relationship Id="rId4" Type="http://schemas.openxmlformats.org/officeDocument/2006/relationships/image" Target="../media/image33.png"/><Relationship Id="rId9" Type="http://schemas.openxmlformats.org/officeDocument/2006/relationships/image" Target="../media/image305.svg"/></Relationships>
</file>

<file path=ppt/slides/_rels/slide70.xml.rels><?xml version="1.0" encoding="UTF-8" standalone="yes"?>
<Relationships xmlns="http://schemas.openxmlformats.org/package/2006/relationships"><Relationship Id="rId8" Type="http://schemas.openxmlformats.org/officeDocument/2006/relationships/image" Target="../media/image157.png"/><Relationship Id="rId13" Type="http://schemas.openxmlformats.org/officeDocument/2006/relationships/image" Target="../media/image162.svg"/><Relationship Id="rId18" Type="http://schemas.openxmlformats.org/officeDocument/2006/relationships/image" Target="../media/image167.png"/><Relationship Id="rId26" Type="http://schemas.openxmlformats.org/officeDocument/2006/relationships/image" Target="../media/image8.png"/><Relationship Id="rId3" Type="http://schemas.openxmlformats.org/officeDocument/2006/relationships/image" Target="../media/image18.svg"/><Relationship Id="rId21" Type="http://schemas.openxmlformats.org/officeDocument/2006/relationships/image" Target="../media/image170.svg"/><Relationship Id="rId7" Type="http://schemas.openxmlformats.org/officeDocument/2006/relationships/image" Target="../media/image156.svg"/><Relationship Id="rId12" Type="http://schemas.openxmlformats.org/officeDocument/2006/relationships/image" Target="../media/image161.png"/><Relationship Id="rId17" Type="http://schemas.openxmlformats.org/officeDocument/2006/relationships/image" Target="../media/image166.svg"/><Relationship Id="rId25" Type="http://schemas.openxmlformats.org/officeDocument/2006/relationships/image" Target="../media/image5.svg"/><Relationship Id="rId2" Type="http://schemas.openxmlformats.org/officeDocument/2006/relationships/image" Target="../media/image17.png"/><Relationship Id="rId16" Type="http://schemas.openxmlformats.org/officeDocument/2006/relationships/image" Target="../media/image165.png"/><Relationship Id="rId20" Type="http://schemas.openxmlformats.org/officeDocument/2006/relationships/image" Target="../media/image169.png"/><Relationship Id="rId29" Type="http://schemas.openxmlformats.org/officeDocument/2006/relationships/image" Target="../media/image3.svg"/><Relationship Id="rId1" Type="http://schemas.openxmlformats.org/officeDocument/2006/relationships/slideLayout" Target="../slideLayouts/slideLayout2.xml"/><Relationship Id="rId6" Type="http://schemas.openxmlformats.org/officeDocument/2006/relationships/image" Target="../media/image155.png"/><Relationship Id="rId11" Type="http://schemas.openxmlformats.org/officeDocument/2006/relationships/image" Target="../media/image160.svg"/><Relationship Id="rId24" Type="http://schemas.openxmlformats.org/officeDocument/2006/relationships/image" Target="../media/image4.png"/><Relationship Id="rId5" Type="http://schemas.openxmlformats.org/officeDocument/2006/relationships/image" Target="../media/image154.svg"/><Relationship Id="rId15" Type="http://schemas.openxmlformats.org/officeDocument/2006/relationships/image" Target="../media/image164.svg"/><Relationship Id="rId23" Type="http://schemas.openxmlformats.org/officeDocument/2006/relationships/image" Target="../media/image7.svg"/><Relationship Id="rId28" Type="http://schemas.openxmlformats.org/officeDocument/2006/relationships/image" Target="../media/image2.png"/><Relationship Id="rId10" Type="http://schemas.openxmlformats.org/officeDocument/2006/relationships/image" Target="../media/image159.png"/><Relationship Id="rId19" Type="http://schemas.openxmlformats.org/officeDocument/2006/relationships/image" Target="../media/image168.svg"/><Relationship Id="rId4" Type="http://schemas.openxmlformats.org/officeDocument/2006/relationships/image" Target="../media/image153.png"/><Relationship Id="rId9" Type="http://schemas.openxmlformats.org/officeDocument/2006/relationships/image" Target="../media/image158.svg"/><Relationship Id="rId14" Type="http://schemas.openxmlformats.org/officeDocument/2006/relationships/image" Target="../media/image163.png"/><Relationship Id="rId22" Type="http://schemas.openxmlformats.org/officeDocument/2006/relationships/image" Target="../media/image6.png"/><Relationship Id="rId27" Type="http://schemas.openxmlformats.org/officeDocument/2006/relationships/image" Target="../media/image9.svg"/></Relationships>
</file>

<file path=ppt/slides/_rels/slide71.xml.rels><?xml version="1.0" encoding="UTF-8" standalone="yes"?>
<Relationships xmlns="http://schemas.openxmlformats.org/package/2006/relationships"><Relationship Id="rId8" Type="http://schemas.openxmlformats.org/officeDocument/2006/relationships/image" Target="../media/image316.jpg"/><Relationship Id="rId3" Type="http://schemas.openxmlformats.org/officeDocument/2006/relationships/image" Target="../media/image311.jpg"/><Relationship Id="rId7" Type="http://schemas.openxmlformats.org/officeDocument/2006/relationships/image" Target="../media/image315.jpg"/><Relationship Id="rId2" Type="http://schemas.openxmlformats.org/officeDocument/2006/relationships/image" Target="../media/image310.jpg"/><Relationship Id="rId1" Type="http://schemas.openxmlformats.org/officeDocument/2006/relationships/slideLayout" Target="../slideLayouts/slideLayout2.xml"/><Relationship Id="rId6" Type="http://schemas.openxmlformats.org/officeDocument/2006/relationships/image" Target="../media/image314.jpg"/><Relationship Id="rId5" Type="http://schemas.openxmlformats.org/officeDocument/2006/relationships/image" Target="../media/image313.jpg"/><Relationship Id="rId10" Type="http://schemas.openxmlformats.org/officeDocument/2006/relationships/image" Target="../media/image318.jpg"/><Relationship Id="rId4" Type="http://schemas.openxmlformats.org/officeDocument/2006/relationships/image" Target="../media/image312.jpg"/><Relationship Id="rId9" Type="http://schemas.openxmlformats.org/officeDocument/2006/relationships/image" Target="../media/image317.jpg"/></Relationships>
</file>

<file path=ppt/slides/_rels/slide72.xml.rels><?xml version="1.0" encoding="UTF-8" standalone="yes"?>
<Relationships xmlns="http://schemas.openxmlformats.org/package/2006/relationships"><Relationship Id="rId8" Type="http://schemas.openxmlformats.org/officeDocument/2006/relationships/image" Target="../media/image316.jpg"/><Relationship Id="rId3" Type="http://schemas.openxmlformats.org/officeDocument/2006/relationships/image" Target="../media/image311.jpg"/><Relationship Id="rId7" Type="http://schemas.openxmlformats.org/officeDocument/2006/relationships/image" Target="../media/image315.jpg"/><Relationship Id="rId12" Type="http://schemas.openxmlformats.org/officeDocument/2006/relationships/image" Target="../media/image18.svg"/><Relationship Id="rId2" Type="http://schemas.openxmlformats.org/officeDocument/2006/relationships/image" Target="../media/image310.jpg"/><Relationship Id="rId1" Type="http://schemas.openxmlformats.org/officeDocument/2006/relationships/slideLayout" Target="../slideLayouts/slideLayout2.xml"/><Relationship Id="rId6" Type="http://schemas.openxmlformats.org/officeDocument/2006/relationships/image" Target="../media/image314.jpg"/><Relationship Id="rId11" Type="http://schemas.openxmlformats.org/officeDocument/2006/relationships/image" Target="../media/image17.png"/><Relationship Id="rId5" Type="http://schemas.openxmlformats.org/officeDocument/2006/relationships/image" Target="../media/image313.jpg"/><Relationship Id="rId10" Type="http://schemas.openxmlformats.org/officeDocument/2006/relationships/image" Target="../media/image318.jpg"/><Relationship Id="rId4" Type="http://schemas.openxmlformats.org/officeDocument/2006/relationships/image" Target="../media/image312.jpg"/><Relationship Id="rId9" Type="http://schemas.openxmlformats.org/officeDocument/2006/relationships/image" Target="../media/image317.jp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8" Type="http://schemas.openxmlformats.org/officeDocument/2006/relationships/image" Target="../media/image316.jpg"/><Relationship Id="rId3" Type="http://schemas.openxmlformats.org/officeDocument/2006/relationships/image" Target="../media/image311.jpg"/><Relationship Id="rId7" Type="http://schemas.openxmlformats.org/officeDocument/2006/relationships/image" Target="../media/image315.jpg"/><Relationship Id="rId12" Type="http://schemas.openxmlformats.org/officeDocument/2006/relationships/image" Target="../media/image18.svg"/><Relationship Id="rId2" Type="http://schemas.openxmlformats.org/officeDocument/2006/relationships/image" Target="../media/image310.jpg"/><Relationship Id="rId1" Type="http://schemas.openxmlformats.org/officeDocument/2006/relationships/slideLayout" Target="../slideLayouts/slideLayout2.xml"/><Relationship Id="rId6" Type="http://schemas.openxmlformats.org/officeDocument/2006/relationships/image" Target="../media/image314.jpg"/><Relationship Id="rId11" Type="http://schemas.openxmlformats.org/officeDocument/2006/relationships/image" Target="../media/image17.png"/><Relationship Id="rId5" Type="http://schemas.openxmlformats.org/officeDocument/2006/relationships/image" Target="../media/image313.jpg"/><Relationship Id="rId10" Type="http://schemas.openxmlformats.org/officeDocument/2006/relationships/image" Target="../media/image318.jpg"/><Relationship Id="rId4" Type="http://schemas.openxmlformats.org/officeDocument/2006/relationships/image" Target="../media/image312.jpg"/><Relationship Id="rId9" Type="http://schemas.openxmlformats.org/officeDocument/2006/relationships/image" Target="../media/image317.jpg"/></Relationships>
</file>

<file path=ppt/slides/_rels/slide75.xml.rels><?xml version="1.0" encoding="UTF-8" standalone="yes"?>
<Relationships xmlns="http://schemas.openxmlformats.org/package/2006/relationships"><Relationship Id="rId8" Type="http://schemas.openxmlformats.org/officeDocument/2006/relationships/image" Target="../media/image316.jpg"/><Relationship Id="rId3" Type="http://schemas.openxmlformats.org/officeDocument/2006/relationships/image" Target="../media/image311.jpg"/><Relationship Id="rId7" Type="http://schemas.openxmlformats.org/officeDocument/2006/relationships/image" Target="../media/image315.jpg"/><Relationship Id="rId12" Type="http://schemas.openxmlformats.org/officeDocument/2006/relationships/image" Target="../media/image18.svg"/><Relationship Id="rId2" Type="http://schemas.openxmlformats.org/officeDocument/2006/relationships/image" Target="../media/image310.jpg"/><Relationship Id="rId1" Type="http://schemas.openxmlformats.org/officeDocument/2006/relationships/slideLayout" Target="../slideLayouts/slideLayout2.xml"/><Relationship Id="rId6" Type="http://schemas.openxmlformats.org/officeDocument/2006/relationships/image" Target="../media/image314.jpg"/><Relationship Id="rId11" Type="http://schemas.openxmlformats.org/officeDocument/2006/relationships/image" Target="../media/image17.png"/><Relationship Id="rId5" Type="http://schemas.openxmlformats.org/officeDocument/2006/relationships/image" Target="../media/image313.jpg"/><Relationship Id="rId10" Type="http://schemas.openxmlformats.org/officeDocument/2006/relationships/image" Target="../media/image318.jpg"/><Relationship Id="rId4" Type="http://schemas.openxmlformats.org/officeDocument/2006/relationships/image" Target="../media/image312.jpg"/><Relationship Id="rId9" Type="http://schemas.openxmlformats.org/officeDocument/2006/relationships/image" Target="../media/image317.jpg"/></Relationships>
</file>

<file path=ppt/slides/_rels/slide76.xml.rels><?xml version="1.0" encoding="UTF-8" standalone="yes"?>
<Relationships xmlns="http://schemas.openxmlformats.org/package/2006/relationships"><Relationship Id="rId8" Type="http://schemas.openxmlformats.org/officeDocument/2006/relationships/image" Target="../media/image316.jpg"/><Relationship Id="rId3" Type="http://schemas.openxmlformats.org/officeDocument/2006/relationships/image" Target="../media/image311.jpg"/><Relationship Id="rId7" Type="http://schemas.openxmlformats.org/officeDocument/2006/relationships/image" Target="../media/image315.jpg"/><Relationship Id="rId12" Type="http://schemas.openxmlformats.org/officeDocument/2006/relationships/image" Target="../media/image18.svg"/><Relationship Id="rId2" Type="http://schemas.openxmlformats.org/officeDocument/2006/relationships/image" Target="../media/image310.jpg"/><Relationship Id="rId1" Type="http://schemas.openxmlformats.org/officeDocument/2006/relationships/slideLayout" Target="../slideLayouts/slideLayout2.xml"/><Relationship Id="rId6" Type="http://schemas.openxmlformats.org/officeDocument/2006/relationships/image" Target="../media/image314.jpg"/><Relationship Id="rId11" Type="http://schemas.openxmlformats.org/officeDocument/2006/relationships/image" Target="../media/image17.png"/><Relationship Id="rId5" Type="http://schemas.openxmlformats.org/officeDocument/2006/relationships/image" Target="../media/image313.jpg"/><Relationship Id="rId10" Type="http://schemas.openxmlformats.org/officeDocument/2006/relationships/image" Target="../media/image318.jpg"/><Relationship Id="rId4" Type="http://schemas.openxmlformats.org/officeDocument/2006/relationships/image" Target="../media/image312.jpg"/><Relationship Id="rId9" Type="http://schemas.openxmlformats.org/officeDocument/2006/relationships/image" Target="../media/image317.jpg"/></Relationships>
</file>

<file path=ppt/slides/_rels/slide77.xml.rels><?xml version="1.0" encoding="UTF-8" standalone="yes"?>
<Relationships xmlns="http://schemas.openxmlformats.org/package/2006/relationships"><Relationship Id="rId8" Type="http://schemas.openxmlformats.org/officeDocument/2006/relationships/image" Target="../media/image316.jpg"/><Relationship Id="rId3" Type="http://schemas.openxmlformats.org/officeDocument/2006/relationships/image" Target="../media/image311.jpg"/><Relationship Id="rId7" Type="http://schemas.openxmlformats.org/officeDocument/2006/relationships/image" Target="../media/image315.jpg"/><Relationship Id="rId12" Type="http://schemas.openxmlformats.org/officeDocument/2006/relationships/image" Target="../media/image18.svg"/><Relationship Id="rId2" Type="http://schemas.openxmlformats.org/officeDocument/2006/relationships/image" Target="../media/image310.jpg"/><Relationship Id="rId1" Type="http://schemas.openxmlformats.org/officeDocument/2006/relationships/slideLayout" Target="../slideLayouts/slideLayout2.xml"/><Relationship Id="rId6" Type="http://schemas.openxmlformats.org/officeDocument/2006/relationships/image" Target="../media/image314.jpg"/><Relationship Id="rId11" Type="http://schemas.openxmlformats.org/officeDocument/2006/relationships/image" Target="../media/image17.png"/><Relationship Id="rId5" Type="http://schemas.openxmlformats.org/officeDocument/2006/relationships/image" Target="../media/image313.jpg"/><Relationship Id="rId10" Type="http://schemas.openxmlformats.org/officeDocument/2006/relationships/image" Target="../media/image318.jpg"/><Relationship Id="rId4" Type="http://schemas.openxmlformats.org/officeDocument/2006/relationships/image" Target="../media/image312.jpg"/><Relationship Id="rId9" Type="http://schemas.openxmlformats.org/officeDocument/2006/relationships/image" Target="../media/image317.jpg"/></Relationships>
</file>

<file path=ppt/slides/_rels/slide78.xml.rels><?xml version="1.0" encoding="UTF-8" standalone="yes"?>
<Relationships xmlns="http://schemas.openxmlformats.org/package/2006/relationships"><Relationship Id="rId8" Type="http://schemas.openxmlformats.org/officeDocument/2006/relationships/image" Target="../media/image304.png"/><Relationship Id="rId3" Type="http://schemas.openxmlformats.org/officeDocument/2006/relationships/image" Target="../media/image96.svg"/><Relationship Id="rId7" Type="http://schemas.openxmlformats.org/officeDocument/2006/relationships/image" Target="../media/image309.svg"/><Relationship Id="rId2" Type="http://schemas.openxmlformats.org/officeDocument/2006/relationships/image" Target="../media/image95.png"/><Relationship Id="rId1" Type="http://schemas.openxmlformats.org/officeDocument/2006/relationships/slideLayout" Target="../slideLayouts/slideLayout7.xml"/><Relationship Id="rId6" Type="http://schemas.openxmlformats.org/officeDocument/2006/relationships/image" Target="../media/image308.png"/><Relationship Id="rId11" Type="http://schemas.openxmlformats.org/officeDocument/2006/relationships/image" Target="../media/image307.svg"/><Relationship Id="rId5" Type="http://schemas.openxmlformats.org/officeDocument/2006/relationships/image" Target="../media/image301.svg"/><Relationship Id="rId10" Type="http://schemas.openxmlformats.org/officeDocument/2006/relationships/image" Target="../media/image306.png"/><Relationship Id="rId4" Type="http://schemas.openxmlformats.org/officeDocument/2006/relationships/image" Target="../media/image33.png"/><Relationship Id="rId9" Type="http://schemas.openxmlformats.org/officeDocument/2006/relationships/image" Target="../media/image305.svg"/></Relationships>
</file>

<file path=ppt/slides/_rels/slide79.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image" Target="../media/image320.svg"/><Relationship Id="rId7" Type="http://schemas.openxmlformats.org/officeDocument/2006/relationships/image" Target="../media/image14.svg"/><Relationship Id="rId2" Type="http://schemas.openxmlformats.org/officeDocument/2006/relationships/image" Target="../media/image319.png"/><Relationship Id="rId1" Type="http://schemas.openxmlformats.org/officeDocument/2006/relationships/slideLayout" Target="../slideLayouts/slideLayout2.xml"/><Relationship Id="rId6" Type="http://schemas.openxmlformats.org/officeDocument/2006/relationships/image" Target="../media/image13.png"/><Relationship Id="rId5" Type="http://schemas.openxmlformats.org/officeDocument/2006/relationships/image" Target="../media/image322.svg"/><Relationship Id="rId4" Type="http://schemas.openxmlformats.org/officeDocument/2006/relationships/image" Target="../media/image321.png"/><Relationship Id="rId9" Type="http://schemas.openxmlformats.org/officeDocument/2006/relationships/image" Target="../media/image18.svg"/></Relationships>
</file>

<file path=ppt/slides/_rels/slide80.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image" Target="../media/image320.svg"/><Relationship Id="rId7" Type="http://schemas.openxmlformats.org/officeDocument/2006/relationships/image" Target="../media/image14.svg"/><Relationship Id="rId2" Type="http://schemas.openxmlformats.org/officeDocument/2006/relationships/image" Target="../media/image319.png"/><Relationship Id="rId1" Type="http://schemas.openxmlformats.org/officeDocument/2006/relationships/slideLayout" Target="../slideLayouts/slideLayout2.xml"/><Relationship Id="rId6" Type="http://schemas.openxmlformats.org/officeDocument/2006/relationships/image" Target="../media/image13.png"/><Relationship Id="rId5" Type="http://schemas.openxmlformats.org/officeDocument/2006/relationships/image" Target="../media/image322.svg"/><Relationship Id="rId4" Type="http://schemas.openxmlformats.org/officeDocument/2006/relationships/image" Target="../media/image321.png"/><Relationship Id="rId9" Type="http://schemas.openxmlformats.org/officeDocument/2006/relationships/image" Target="../media/image18.svg"/></Relationships>
</file>

<file path=ppt/slides/_rels/slide81.xml.rels><?xml version="1.0" encoding="UTF-8" standalone="yes"?>
<Relationships xmlns="http://schemas.openxmlformats.org/package/2006/relationships"><Relationship Id="rId8" Type="http://schemas.openxmlformats.org/officeDocument/2006/relationships/image" Target="../media/image314.jpg"/><Relationship Id="rId3" Type="http://schemas.openxmlformats.org/officeDocument/2006/relationships/image" Target="../media/image18.svg"/><Relationship Id="rId7" Type="http://schemas.openxmlformats.org/officeDocument/2006/relationships/image" Target="../media/image313.jpg"/><Relationship Id="rId12" Type="http://schemas.openxmlformats.org/officeDocument/2006/relationships/image" Target="../media/image318.jpg"/><Relationship Id="rId2"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image" Target="../media/image312.jpg"/><Relationship Id="rId11" Type="http://schemas.openxmlformats.org/officeDocument/2006/relationships/image" Target="../media/image317.jpg"/><Relationship Id="rId5" Type="http://schemas.openxmlformats.org/officeDocument/2006/relationships/image" Target="../media/image311.jpg"/><Relationship Id="rId10" Type="http://schemas.openxmlformats.org/officeDocument/2006/relationships/image" Target="../media/image316.jpg"/><Relationship Id="rId4" Type="http://schemas.openxmlformats.org/officeDocument/2006/relationships/image" Target="../media/image310.jpg"/><Relationship Id="rId9" Type="http://schemas.openxmlformats.org/officeDocument/2006/relationships/image" Target="../media/image315.jpg"/></Relationships>
</file>

<file path=ppt/slides/_rels/slide82.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Layout" Target="../slideLayouts/slideLayout2.xml"/><Relationship Id="rId5" Type="http://schemas.openxmlformats.org/officeDocument/2006/relationships/image" Target="../media/image18.svg"/><Relationship Id="rId4" Type="http://schemas.openxmlformats.org/officeDocument/2006/relationships/image" Target="../media/image17.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8" Type="http://schemas.openxmlformats.org/officeDocument/2006/relationships/image" Target="../media/image323.png"/><Relationship Id="rId13" Type="http://schemas.openxmlformats.org/officeDocument/2006/relationships/image" Target="../media/image328.svg"/><Relationship Id="rId18" Type="http://schemas.openxmlformats.org/officeDocument/2006/relationships/image" Target="../media/image333.png"/><Relationship Id="rId3" Type="http://schemas.openxmlformats.org/officeDocument/2006/relationships/image" Target="../media/image14.svg"/><Relationship Id="rId21" Type="http://schemas.openxmlformats.org/officeDocument/2006/relationships/image" Target="../media/image336.svg"/><Relationship Id="rId7" Type="http://schemas.openxmlformats.org/officeDocument/2006/relationships/image" Target="../media/image54.svg"/><Relationship Id="rId12" Type="http://schemas.openxmlformats.org/officeDocument/2006/relationships/image" Target="../media/image327.png"/><Relationship Id="rId17" Type="http://schemas.openxmlformats.org/officeDocument/2006/relationships/image" Target="../media/image332.svg"/><Relationship Id="rId25" Type="http://schemas.openxmlformats.org/officeDocument/2006/relationships/image" Target="../media/image340.svg"/><Relationship Id="rId2" Type="http://schemas.openxmlformats.org/officeDocument/2006/relationships/image" Target="../media/image13.png"/><Relationship Id="rId16" Type="http://schemas.openxmlformats.org/officeDocument/2006/relationships/image" Target="../media/image331.png"/><Relationship Id="rId20" Type="http://schemas.openxmlformats.org/officeDocument/2006/relationships/image" Target="../media/image335.png"/><Relationship Id="rId1" Type="http://schemas.openxmlformats.org/officeDocument/2006/relationships/slideLayout" Target="../slideLayouts/slideLayout2.xml"/><Relationship Id="rId6" Type="http://schemas.openxmlformats.org/officeDocument/2006/relationships/image" Target="../media/image53.png"/><Relationship Id="rId11" Type="http://schemas.openxmlformats.org/officeDocument/2006/relationships/image" Target="../media/image326.svg"/><Relationship Id="rId24" Type="http://schemas.openxmlformats.org/officeDocument/2006/relationships/image" Target="../media/image339.png"/><Relationship Id="rId5" Type="http://schemas.openxmlformats.org/officeDocument/2006/relationships/image" Target="../media/image18.svg"/><Relationship Id="rId15" Type="http://schemas.openxmlformats.org/officeDocument/2006/relationships/image" Target="../media/image330.svg"/><Relationship Id="rId23" Type="http://schemas.openxmlformats.org/officeDocument/2006/relationships/image" Target="../media/image338.svg"/><Relationship Id="rId10" Type="http://schemas.openxmlformats.org/officeDocument/2006/relationships/image" Target="../media/image325.png"/><Relationship Id="rId19" Type="http://schemas.openxmlformats.org/officeDocument/2006/relationships/image" Target="../media/image334.svg"/><Relationship Id="rId4" Type="http://schemas.openxmlformats.org/officeDocument/2006/relationships/image" Target="../media/image17.png"/><Relationship Id="rId9" Type="http://schemas.openxmlformats.org/officeDocument/2006/relationships/image" Target="../media/image324.svg"/><Relationship Id="rId14" Type="http://schemas.openxmlformats.org/officeDocument/2006/relationships/image" Target="../media/image329.png"/><Relationship Id="rId22" Type="http://schemas.openxmlformats.org/officeDocument/2006/relationships/image" Target="../media/image337.png"/></Relationships>
</file>

<file path=ppt/slides/_rels/slide86.xml.rels><?xml version="1.0" encoding="UTF-8" standalone="yes"?>
<Relationships xmlns="http://schemas.openxmlformats.org/package/2006/relationships"><Relationship Id="rId8" Type="http://schemas.openxmlformats.org/officeDocument/2006/relationships/image" Target="../media/image327.png"/><Relationship Id="rId13" Type="http://schemas.openxmlformats.org/officeDocument/2006/relationships/image" Target="../media/image332.svg"/><Relationship Id="rId18" Type="http://schemas.openxmlformats.org/officeDocument/2006/relationships/image" Target="../media/image337.png"/><Relationship Id="rId3" Type="http://schemas.openxmlformats.org/officeDocument/2006/relationships/image" Target="../media/image54.svg"/><Relationship Id="rId21" Type="http://schemas.openxmlformats.org/officeDocument/2006/relationships/image" Target="../media/image340.svg"/><Relationship Id="rId7" Type="http://schemas.openxmlformats.org/officeDocument/2006/relationships/image" Target="../media/image326.svg"/><Relationship Id="rId12" Type="http://schemas.openxmlformats.org/officeDocument/2006/relationships/image" Target="../media/image331.png"/><Relationship Id="rId17" Type="http://schemas.openxmlformats.org/officeDocument/2006/relationships/image" Target="../media/image336.svg"/><Relationship Id="rId2" Type="http://schemas.openxmlformats.org/officeDocument/2006/relationships/image" Target="../media/image53.png"/><Relationship Id="rId16" Type="http://schemas.openxmlformats.org/officeDocument/2006/relationships/image" Target="../media/image335.png"/><Relationship Id="rId20" Type="http://schemas.openxmlformats.org/officeDocument/2006/relationships/image" Target="../media/image339.png"/><Relationship Id="rId1" Type="http://schemas.openxmlformats.org/officeDocument/2006/relationships/slideLayout" Target="../slideLayouts/slideLayout2.xml"/><Relationship Id="rId6" Type="http://schemas.openxmlformats.org/officeDocument/2006/relationships/image" Target="../media/image325.png"/><Relationship Id="rId11" Type="http://schemas.openxmlformats.org/officeDocument/2006/relationships/image" Target="../media/image330.svg"/><Relationship Id="rId5" Type="http://schemas.openxmlformats.org/officeDocument/2006/relationships/image" Target="../media/image324.svg"/><Relationship Id="rId15" Type="http://schemas.openxmlformats.org/officeDocument/2006/relationships/image" Target="../media/image334.svg"/><Relationship Id="rId10" Type="http://schemas.openxmlformats.org/officeDocument/2006/relationships/image" Target="../media/image329.png"/><Relationship Id="rId19" Type="http://schemas.openxmlformats.org/officeDocument/2006/relationships/image" Target="../media/image338.svg"/><Relationship Id="rId4" Type="http://schemas.openxmlformats.org/officeDocument/2006/relationships/image" Target="../media/image323.png"/><Relationship Id="rId9" Type="http://schemas.openxmlformats.org/officeDocument/2006/relationships/image" Target="../media/image328.svg"/><Relationship Id="rId14" Type="http://schemas.openxmlformats.org/officeDocument/2006/relationships/image" Target="../media/image333.png"/></Relationships>
</file>

<file path=ppt/slides/_rels/slide87.xml.rels><?xml version="1.0" encoding="UTF-8" standalone="yes"?>
<Relationships xmlns="http://schemas.openxmlformats.org/package/2006/relationships"><Relationship Id="rId8" Type="http://schemas.openxmlformats.org/officeDocument/2006/relationships/image" Target="../media/image327.png"/><Relationship Id="rId13" Type="http://schemas.openxmlformats.org/officeDocument/2006/relationships/image" Target="../media/image332.svg"/><Relationship Id="rId18" Type="http://schemas.openxmlformats.org/officeDocument/2006/relationships/image" Target="../media/image337.png"/><Relationship Id="rId3" Type="http://schemas.openxmlformats.org/officeDocument/2006/relationships/image" Target="../media/image54.svg"/><Relationship Id="rId21" Type="http://schemas.openxmlformats.org/officeDocument/2006/relationships/image" Target="../media/image340.svg"/><Relationship Id="rId7" Type="http://schemas.openxmlformats.org/officeDocument/2006/relationships/image" Target="../media/image326.svg"/><Relationship Id="rId12" Type="http://schemas.openxmlformats.org/officeDocument/2006/relationships/image" Target="../media/image331.png"/><Relationship Id="rId17" Type="http://schemas.openxmlformats.org/officeDocument/2006/relationships/image" Target="../media/image336.svg"/><Relationship Id="rId2" Type="http://schemas.openxmlformats.org/officeDocument/2006/relationships/image" Target="../media/image53.png"/><Relationship Id="rId16" Type="http://schemas.openxmlformats.org/officeDocument/2006/relationships/image" Target="../media/image335.png"/><Relationship Id="rId20" Type="http://schemas.openxmlformats.org/officeDocument/2006/relationships/image" Target="../media/image339.png"/><Relationship Id="rId1" Type="http://schemas.openxmlformats.org/officeDocument/2006/relationships/slideLayout" Target="../slideLayouts/slideLayout2.xml"/><Relationship Id="rId6" Type="http://schemas.openxmlformats.org/officeDocument/2006/relationships/image" Target="../media/image325.png"/><Relationship Id="rId11" Type="http://schemas.openxmlformats.org/officeDocument/2006/relationships/image" Target="../media/image330.svg"/><Relationship Id="rId5" Type="http://schemas.openxmlformats.org/officeDocument/2006/relationships/image" Target="../media/image324.svg"/><Relationship Id="rId15" Type="http://schemas.openxmlformats.org/officeDocument/2006/relationships/image" Target="../media/image334.svg"/><Relationship Id="rId10" Type="http://schemas.openxmlformats.org/officeDocument/2006/relationships/image" Target="../media/image329.png"/><Relationship Id="rId19" Type="http://schemas.openxmlformats.org/officeDocument/2006/relationships/image" Target="../media/image338.svg"/><Relationship Id="rId4" Type="http://schemas.openxmlformats.org/officeDocument/2006/relationships/image" Target="../media/image323.png"/><Relationship Id="rId9" Type="http://schemas.openxmlformats.org/officeDocument/2006/relationships/image" Target="../media/image328.svg"/><Relationship Id="rId14" Type="http://schemas.openxmlformats.org/officeDocument/2006/relationships/image" Target="../media/image333.png"/></Relationships>
</file>

<file path=ppt/slides/_rels/slide88.xml.rels><?xml version="1.0" encoding="UTF-8" standalone="yes"?>
<Relationships xmlns="http://schemas.openxmlformats.org/package/2006/relationships"><Relationship Id="rId8" Type="http://schemas.openxmlformats.org/officeDocument/2006/relationships/image" Target="../media/image343.png"/><Relationship Id="rId3" Type="http://schemas.openxmlformats.org/officeDocument/2006/relationships/image" Target="../media/image14.svg"/><Relationship Id="rId7" Type="http://schemas.openxmlformats.org/officeDocument/2006/relationships/image" Target="../media/image342.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341.png"/><Relationship Id="rId5" Type="http://schemas.openxmlformats.org/officeDocument/2006/relationships/image" Target="../media/image18.svg"/><Relationship Id="rId10" Type="http://schemas.openxmlformats.org/officeDocument/2006/relationships/image" Target="../media/image345.svg"/><Relationship Id="rId4" Type="http://schemas.openxmlformats.org/officeDocument/2006/relationships/image" Target="../media/image17.png"/><Relationship Id="rId9" Type="http://schemas.openxmlformats.org/officeDocument/2006/relationships/image" Target="../media/image344.svg"/></Relationships>
</file>

<file path=ppt/slides/_rels/slide89.xml.rels><?xml version="1.0" encoding="UTF-8" standalone="yes"?>
<Relationships xmlns="http://schemas.openxmlformats.org/package/2006/relationships"><Relationship Id="rId8" Type="http://schemas.openxmlformats.org/officeDocument/2006/relationships/image" Target="../media/image346.png"/><Relationship Id="rId13" Type="http://schemas.openxmlformats.org/officeDocument/2006/relationships/image" Target="../media/image351.svg"/><Relationship Id="rId18" Type="http://schemas.openxmlformats.org/officeDocument/2006/relationships/image" Target="../media/image356.png"/><Relationship Id="rId26" Type="http://schemas.openxmlformats.org/officeDocument/2006/relationships/image" Target="../media/image8.png"/><Relationship Id="rId3" Type="http://schemas.openxmlformats.org/officeDocument/2006/relationships/image" Target="../media/image14.svg"/><Relationship Id="rId21" Type="http://schemas.openxmlformats.org/officeDocument/2006/relationships/image" Target="../media/image359.svg"/><Relationship Id="rId7" Type="http://schemas.openxmlformats.org/officeDocument/2006/relationships/image" Target="../media/image16.svg"/><Relationship Id="rId12" Type="http://schemas.openxmlformats.org/officeDocument/2006/relationships/image" Target="../media/image350.png"/><Relationship Id="rId17" Type="http://schemas.openxmlformats.org/officeDocument/2006/relationships/image" Target="../media/image355.svg"/><Relationship Id="rId25" Type="http://schemas.openxmlformats.org/officeDocument/2006/relationships/image" Target="../media/image5.svg"/><Relationship Id="rId2" Type="http://schemas.openxmlformats.org/officeDocument/2006/relationships/image" Target="../media/image13.png"/><Relationship Id="rId16" Type="http://schemas.openxmlformats.org/officeDocument/2006/relationships/image" Target="../media/image354.png"/><Relationship Id="rId20" Type="http://schemas.openxmlformats.org/officeDocument/2006/relationships/image" Target="../media/image358.png"/><Relationship Id="rId29" Type="http://schemas.openxmlformats.org/officeDocument/2006/relationships/image" Target="../media/image3.svg"/><Relationship Id="rId1" Type="http://schemas.openxmlformats.org/officeDocument/2006/relationships/slideLayout" Target="../slideLayouts/slideLayout2.xml"/><Relationship Id="rId6" Type="http://schemas.openxmlformats.org/officeDocument/2006/relationships/image" Target="../media/image15.png"/><Relationship Id="rId11" Type="http://schemas.openxmlformats.org/officeDocument/2006/relationships/image" Target="../media/image349.svg"/><Relationship Id="rId24" Type="http://schemas.openxmlformats.org/officeDocument/2006/relationships/image" Target="../media/image4.png"/><Relationship Id="rId5" Type="http://schemas.openxmlformats.org/officeDocument/2006/relationships/image" Target="../media/image18.svg"/><Relationship Id="rId15" Type="http://schemas.openxmlformats.org/officeDocument/2006/relationships/image" Target="../media/image353.svg"/><Relationship Id="rId23" Type="http://schemas.openxmlformats.org/officeDocument/2006/relationships/image" Target="../media/image7.svg"/><Relationship Id="rId28" Type="http://schemas.openxmlformats.org/officeDocument/2006/relationships/image" Target="../media/image2.png"/><Relationship Id="rId10" Type="http://schemas.openxmlformats.org/officeDocument/2006/relationships/image" Target="../media/image348.png"/><Relationship Id="rId19" Type="http://schemas.openxmlformats.org/officeDocument/2006/relationships/image" Target="../media/image357.svg"/><Relationship Id="rId4" Type="http://schemas.openxmlformats.org/officeDocument/2006/relationships/image" Target="../media/image17.png"/><Relationship Id="rId9" Type="http://schemas.openxmlformats.org/officeDocument/2006/relationships/image" Target="../media/image347.svg"/><Relationship Id="rId14" Type="http://schemas.openxmlformats.org/officeDocument/2006/relationships/image" Target="../media/image352.png"/><Relationship Id="rId22" Type="http://schemas.openxmlformats.org/officeDocument/2006/relationships/image" Target="../media/image6.png"/><Relationship Id="rId27" Type="http://schemas.openxmlformats.org/officeDocument/2006/relationships/image" Target="../media/image9.svg"/></Relationships>
</file>

<file path=ppt/slides/_rels/slide90.xml.rels><?xml version="1.0" encoding="UTF-8" standalone="yes"?>
<Relationships xmlns="http://schemas.openxmlformats.org/package/2006/relationships"><Relationship Id="rId8" Type="http://schemas.openxmlformats.org/officeDocument/2006/relationships/image" Target="../media/image350.png"/><Relationship Id="rId13" Type="http://schemas.openxmlformats.org/officeDocument/2006/relationships/image" Target="../media/image355.svg"/><Relationship Id="rId3" Type="http://schemas.openxmlformats.org/officeDocument/2006/relationships/image" Target="../media/image16.svg"/><Relationship Id="rId7" Type="http://schemas.openxmlformats.org/officeDocument/2006/relationships/image" Target="../media/image349.svg"/><Relationship Id="rId12" Type="http://schemas.openxmlformats.org/officeDocument/2006/relationships/image" Target="../media/image354.png"/><Relationship Id="rId17" Type="http://schemas.openxmlformats.org/officeDocument/2006/relationships/image" Target="../media/image359.svg"/><Relationship Id="rId2" Type="http://schemas.openxmlformats.org/officeDocument/2006/relationships/image" Target="../media/image15.png"/><Relationship Id="rId16" Type="http://schemas.openxmlformats.org/officeDocument/2006/relationships/image" Target="../media/image358.png"/><Relationship Id="rId1" Type="http://schemas.openxmlformats.org/officeDocument/2006/relationships/slideLayout" Target="../slideLayouts/slideLayout2.xml"/><Relationship Id="rId6" Type="http://schemas.openxmlformats.org/officeDocument/2006/relationships/image" Target="../media/image348.png"/><Relationship Id="rId11" Type="http://schemas.openxmlformats.org/officeDocument/2006/relationships/image" Target="../media/image353.svg"/><Relationship Id="rId5" Type="http://schemas.openxmlformats.org/officeDocument/2006/relationships/image" Target="../media/image347.svg"/><Relationship Id="rId15" Type="http://schemas.openxmlformats.org/officeDocument/2006/relationships/image" Target="../media/image357.svg"/><Relationship Id="rId10" Type="http://schemas.openxmlformats.org/officeDocument/2006/relationships/image" Target="../media/image352.png"/><Relationship Id="rId4" Type="http://schemas.openxmlformats.org/officeDocument/2006/relationships/image" Target="../media/image346.png"/><Relationship Id="rId9" Type="http://schemas.openxmlformats.org/officeDocument/2006/relationships/image" Target="../media/image351.svg"/><Relationship Id="rId14" Type="http://schemas.openxmlformats.org/officeDocument/2006/relationships/image" Target="../media/image356.png"/></Relationships>
</file>

<file path=ppt/slides/_rels/slide91.xml.rels><?xml version="1.0" encoding="UTF-8" standalone="yes"?>
<Relationships xmlns="http://schemas.openxmlformats.org/package/2006/relationships"><Relationship Id="rId8" Type="http://schemas.openxmlformats.org/officeDocument/2006/relationships/image" Target="../media/image350.png"/><Relationship Id="rId13" Type="http://schemas.openxmlformats.org/officeDocument/2006/relationships/image" Target="../media/image355.svg"/><Relationship Id="rId18" Type="http://schemas.openxmlformats.org/officeDocument/2006/relationships/image" Target="../media/image310.jpg"/><Relationship Id="rId26" Type="http://schemas.openxmlformats.org/officeDocument/2006/relationships/image" Target="../media/image318.jpg"/><Relationship Id="rId3" Type="http://schemas.openxmlformats.org/officeDocument/2006/relationships/image" Target="../media/image16.svg"/><Relationship Id="rId21" Type="http://schemas.openxmlformats.org/officeDocument/2006/relationships/image" Target="../media/image313.jpg"/><Relationship Id="rId7" Type="http://schemas.openxmlformats.org/officeDocument/2006/relationships/image" Target="../media/image349.svg"/><Relationship Id="rId12" Type="http://schemas.openxmlformats.org/officeDocument/2006/relationships/image" Target="../media/image354.png"/><Relationship Id="rId17" Type="http://schemas.openxmlformats.org/officeDocument/2006/relationships/image" Target="../media/image359.svg"/><Relationship Id="rId25" Type="http://schemas.openxmlformats.org/officeDocument/2006/relationships/image" Target="../media/image317.jpg"/><Relationship Id="rId2" Type="http://schemas.openxmlformats.org/officeDocument/2006/relationships/image" Target="../media/image15.png"/><Relationship Id="rId16" Type="http://schemas.openxmlformats.org/officeDocument/2006/relationships/image" Target="../media/image358.png"/><Relationship Id="rId20" Type="http://schemas.openxmlformats.org/officeDocument/2006/relationships/image" Target="../media/image312.jpg"/><Relationship Id="rId1" Type="http://schemas.openxmlformats.org/officeDocument/2006/relationships/slideLayout" Target="../slideLayouts/slideLayout2.xml"/><Relationship Id="rId6" Type="http://schemas.openxmlformats.org/officeDocument/2006/relationships/image" Target="../media/image348.png"/><Relationship Id="rId11" Type="http://schemas.openxmlformats.org/officeDocument/2006/relationships/image" Target="../media/image353.svg"/><Relationship Id="rId24" Type="http://schemas.openxmlformats.org/officeDocument/2006/relationships/image" Target="../media/image316.jpg"/><Relationship Id="rId5" Type="http://schemas.openxmlformats.org/officeDocument/2006/relationships/image" Target="../media/image347.svg"/><Relationship Id="rId15" Type="http://schemas.openxmlformats.org/officeDocument/2006/relationships/image" Target="../media/image357.svg"/><Relationship Id="rId23" Type="http://schemas.openxmlformats.org/officeDocument/2006/relationships/image" Target="../media/image315.jpg"/><Relationship Id="rId10" Type="http://schemas.openxmlformats.org/officeDocument/2006/relationships/image" Target="../media/image352.png"/><Relationship Id="rId19" Type="http://schemas.openxmlformats.org/officeDocument/2006/relationships/image" Target="../media/image311.jpg"/><Relationship Id="rId4" Type="http://schemas.openxmlformats.org/officeDocument/2006/relationships/image" Target="../media/image346.png"/><Relationship Id="rId9" Type="http://schemas.openxmlformats.org/officeDocument/2006/relationships/image" Target="../media/image351.svg"/><Relationship Id="rId14" Type="http://schemas.openxmlformats.org/officeDocument/2006/relationships/image" Target="../media/image356.png"/><Relationship Id="rId22" Type="http://schemas.openxmlformats.org/officeDocument/2006/relationships/image" Target="../media/image314.jpg"/></Relationships>
</file>

<file path=ppt/slides/_rels/slide92.xml.rels><?xml version="1.0" encoding="UTF-8" standalone="yes"?>
<Relationships xmlns="http://schemas.openxmlformats.org/package/2006/relationships"><Relationship Id="rId8" Type="http://schemas.openxmlformats.org/officeDocument/2006/relationships/image" Target="../media/image360.png"/><Relationship Id="rId13" Type="http://schemas.openxmlformats.org/officeDocument/2006/relationships/image" Target="../media/image365.svg"/><Relationship Id="rId18" Type="http://schemas.openxmlformats.org/officeDocument/2006/relationships/image" Target="../media/image358.png"/><Relationship Id="rId3" Type="http://schemas.openxmlformats.org/officeDocument/2006/relationships/image" Target="../media/image16.svg"/><Relationship Id="rId21" Type="http://schemas.openxmlformats.org/officeDocument/2006/relationships/image" Target="../media/image357.svg"/><Relationship Id="rId7" Type="http://schemas.openxmlformats.org/officeDocument/2006/relationships/image" Target="../media/image351.svg"/><Relationship Id="rId12" Type="http://schemas.openxmlformats.org/officeDocument/2006/relationships/image" Target="../media/image364.png"/><Relationship Id="rId17" Type="http://schemas.openxmlformats.org/officeDocument/2006/relationships/image" Target="../media/image367.svg"/><Relationship Id="rId2" Type="http://schemas.openxmlformats.org/officeDocument/2006/relationships/image" Target="../media/image15.png"/><Relationship Id="rId16" Type="http://schemas.openxmlformats.org/officeDocument/2006/relationships/image" Target="../media/image366.png"/><Relationship Id="rId20" Type="http://schemas.openxmlformats.org/officeDocument/2006/relationships/image" Target="../media/image356.png"/><Relationship Id="rId1" Type="http://schemas.openxmlformats.org/officeDocument/2006/relationships/slideLayout" Target="../slideLayouts/slideLayout2.xml"/><Relationship Id="rId6" Type="http://schemas.openxmlformats.org/officeDocument/2006/relationships/image" Target="../media/image350.png"/><Relationship Id="rId11" Type="http://schemas.openxmlformats.org/officeDocument/2006/relationships/image" Target="../media/image363.svg"/><Relationship Id="rId5" Type="http://schemas.openxmlformats.org/officeDocument/2006/relationships/image" Target="../media/image347.svg"/><Relationship Id="rId15" Type="http://schemas.openxmlformats.org/officeDocument/2006/relationships/image" Target="../media/image353.svg"/><Relationship Id="rId23" Type="http://schemas.openxmlformats.org/officeDocument/2006/relationships/image" Target="../media/image369.svg"/><Relationship Id="rId10" Type="http://schemas.openxmlformats.org/officeDocument/2006/relationships/image" Target="../media/image362.png"/><Relationship Id="rId19" Type="http://schemas.openxmlformats.org/officeDocument/2006/relationships/image" Target="../media/image359.svg"/><Relationship Id="rId4" Type="http://schemas.openxmlformats.org/officeDocument/2006/relationships/image" Target="../media/image346.png"/><Relationship Id="rId9" Type="http://schemas.openxmlformats.org/officeDocument/2006/relationships/image" Target="../media/image361.svg"/><Relationship Id="rId14" Type="http://schemas.openxmlformats.org/officeDocument/2006/relationships/image" Target="../media/image352.png"/><Relationship Id="rId22" Type="http://schemas.openxmlformats.org/officeDocument/2006/relationships/image" Target="../media/image368.png"/></Relationships>
</file>

<file path=ppt/slides/_rels/slide93.xml.rels><?xml version="1.0" encoding="UTF-8" standalone="yes"?>
<Relationships xmlns="http://schemas.openxmlformats.org/package/2006/relationships"><Relationship Id="rId8" Type="http://schemas.openxmlformats.org/officeDocument/2006/relationships/image" Target="../media/image346.png"/><Relationship Id="rId13" Type="http://schemas.openxmlformats.org/officeDocument/2006/relationships/image" Target="../media/image367.svg"/><Relationship Id="rId18" Type="http://schemas.openxmlformats.org/officeDocument/2006/relationships/image" Target="../media/image358.png"/><Relationship Id="rId3" Type="http://schemas.openxmlformats.org/officeDocument/2006/relationships/image" Target="../media/image16.svg"/><Relationship Id="rId21" Type="http://schemas.openxmlformats.org/officeDocument/2006/relationships/image" Target="../media/image357.svg"/><Relationship Id="rId7" Type="http://schemas.openxmlformats.org/officeDocument/2006/relationships/image" Target="../media/image363.svg"/><Relationship Id="rId12" Type="http://schemas.openxmlformats.org/officeDocument/2006/relationships/image" Target="../media/image366.png"/><Relationship Id="rId17" Type="http://schemas.openxmlformats.org/officeDocument/2006/relationships/image" Target="../media/image353.svg"/><Relationship Id="rId2" Type="http://schemas.openxmlformats.org/officeDocument/2006/relationships/image" Target="../media/image15.png"/><Relationship Id="rId16" Type="http://schemas.openxmlformats.org/officeDocument/2006/relationships/image" Target="../media/image352.png"/><Relationship Id="rId20" Type="http://schemas.openxmlformats.org/officeDocument/2006/relationships/image" Target="../media/image356.png"/><Relationship Id="rId1" Type="http://schemas.openxmlformats.org/officeDocument/2006/relationships/slideLayout" Target="../slideLayouts/slideLayout2.xml"/><Relationship Id="rId6" Type="http://schemas.openxmlformats.org/officeDocument/2006/relationships/image" Target="../media/image362.png"/><Relationship Id="rId11" Type="http://schemas.openxmlformats.org/officeDocument/2006/relationships/image" Target="../media/image351.svg"/><Relationship Id="rId5" Type="http://schemas.openxmlformats.org/officeDocument/2006/relationships/image" Target="../media/image361.svg"/><Relationship Id="rId15" Type="http://schemas.openxmlformats.org/officeDocument/2006/relationships/image" Target="../media/image365.svg"/><Relationship Id="rId23" Type="http://schemas.openxmlformats.org/officeDocument/2006/relationships/image" Target="../media/image369.svg"/><Relationship Id="rId10" Type="http://schemas.openxmlformats.org/officeDocument/2006/relationships/image" Target="../media/image350.png"/><Relationship Id="rId19" Type="http://schemas.openxmlformats.org/officeDocument/2006/relationships/image" Target="../media/image359.svg"/><Relationship Id="rId4" Type="http://schemas.openxmlformats.org/officeDocument/2006/relationships/image" Target="../media/image360.png"/><Relationship Id="rId9" Type="http://schemas.openxmlformats.org/officeDocument/2006/relationships/image" Target="../media/image347.svg"/><Relationship Id="rId14" Type="http://schemas.openxmlformats.org/officeDocument/2006/relationships/image" Target="../media/image364.png"/><Relationship Id="rId22" Type="http://schemas.openxmlformats.org/officeDocument/2006/relationships/image" Target="../media/image368.png"/></Relationships>
</file>

<file path=ppt/slides/_rels/slide94.xml.rels><?xml version="1.0" encoding="UTF-8" standalone="yes"?>
<Relationships xmlns="http://schemas.openxmlformats.org/package/2006/relationships"><Relationship Id="rId8" Type="http://schemas.openxmlformats.org/officeDocument/2006/relationships/image" Target="../media/image350.png"/><Relationship Id="rId13" Type="http://schemas.openxmlformats.org/officeDocument/2006/relationships/image" Target="../media/image355.svg"/><Relationship Id="rId18" Type="http://schemas.openxmlformats.org/officeDocument/2006/relationships/image" Target="../media/image310.jpg"/><Relationship Id="rId26" Type="http://schemas.openxmlformats.org/officeDocument/2006/relationships/image" Target="../media/image318.jpg"/><Relationship Id="rId3" Type="http://schemas.openxmlformats.org/officeDocument/2006/relationships/image" Target="../media/image16.svg"/><Relationship Id="rId21" Type="http://schemas.openxmlformats.org/officeDocument/2006/relationships/image" Target="../media/image313.jpg"/><Relationship Id="rId7" Type="http://schemas.openxmlformats.org/officeDocument/2006/relationships/image" Target="../media/image349.svg"/><Relationship Id="rId12" Type="http://schemas.openxmlformats.org/officeDocument/2006/relationships/image" Target="../media/image354.png"/><Relationship Id="rId17" Type="http://schemas.openxmlformats.org/officeDocument/2006/relationships/image" Target="../media/image359.svg"/><Relationship Id="rId25" Type="http://schemas.openxmlformats.org/officeDocument/2006/relationships/image" Target="../media/image317.jpg"/><Relationship Id="rId2" Type="http://schemas.openxmlformats.org/officeDocument/2006/relationships/image" Target="../media/image15.png"/><Relationship Id="rId16" Type="http://schemas.openxmlformats.org/officeDocument/2006/relationships/image" Target="../media/image358.png"/><Relationship Id="rId20" Type="http://schemas.openxmlformats.org/officeDocument/2006/relationships/image" Target="../media/image312.jpg"/><Relationship Id="rId1" Type="http://schemas.openxmlformats.org/officeDocument/2006/relationships/slideLayout" Target="../slideLayouts/slideLayout2.xml"/><Relationship Id="rId6" Type="http://schemas.openxmlformats.org/officeDocument/2006/relationships/image" Target="../media/image348.png"/><Relationship Id="rId11" Type="http://schemas.openxmlformats.org/officeDocument/2006/relationships/image" Target="../media/image353.svg"/><Relationship Id="rId24" Type="http://schemas.openxmlformats.org/officeDocument/2006/relationships/image" Target="../media/image316.jpg"/><Relationship Id="rId5" Type="http://schemas.openxmlformats.org/officeDocument/2006/relationships/image" Target="../media/image347.svg"/><Relationship Id="rId15" Type="http://schemas.openxmlformats.org/officeDocument/2006/relationships/image" Target="../media/image357.svg"/><Relationship Id="rId23" Type="http://schemas.openxmlformats.org/officeDocument/2006/relationships/image" Target="../media/image315.jpg"/><Relationship Id="rId10" Type="http://schemas.openxmlformats.org/officeDocument/2006/relationships/image" Target="../media/image352.png"/><Relationship Id="rId19" Type="http://schemas.openxmlformats.org/officeDocument/2006/relationships/image" Target="../media/image311.jpg"/><Relationship Id="rId4" Type="http://schemas.openxmlformats.org/officeDocument/2006/relationships/image" Target="../media/image346.png"/><Relationship Id="rId9" Type="http://schemas.openxmlformats.org/officeDocument/2006/relationships/image" Target="../media/image351.svg"/><Relationship Id="rId14" Type="http://schemas.openxmlformats.org/officeDocument/2006/relationships/image" Target="../media/image356.png"/><Relationship Id="rId22" Type="http://schemas.openxmlformats.org/officeDocument/2006/relationships/image" Target="../media/image314.jp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102.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385.svg"/><Relationship Id="rId3" Type="http://schemas.openxmlformats.org/officeDocument/2006/relationships/image" Target="../media/image379.svg"/><Relationship Id="rId7" Type="http://schemas.openxmlformats.org/officeDocument/2006/relationships/image" Target="../media/image38.svg"/><Relationship Id="rId12" Type="http://schemas.openxmlformats.org/officeDocument/2006/relationships/image" Target="../media/image384.png"/><Relationship Id="rId2" Type="http://schemas.openxmlformats.org/officeDocument/2006/relationships/image" Target="../media/image378.png"/><Relationship Id="rId1" Type="http://schemas.openxmlformats.org/officeDocument/2006/relationships/slideLayout" Target="../slideLayouts/slideLayout2.xml"/><Relationship Id="rId6" Type="http://schemas.openxmlformats.org/officeDocument/2006/relationships/image" Target="../media/image37.png"/><Relationship Id="rId11" Type="http://schemas.openxmlformats.org/officeDocument/2006/relationships/image" Target="../media/image383.svg"/><Relationship Id="rId5" Type="http://schemas.openxmlformats.org/officeDocument/2006/relationships/image" Target="../media/image381.svg"/><Relationship Id="rId15" Type="http://schemas.openxmlformats.org/officeDocument/2006/relationships/image" Target="../media/image387.svg"/><Relationship Id="rId10" Type="http://schemas.openxmlformats.org/officeDocument/2006/relationships/image" Target="../media/image382.png"/><Relationship Id="rId4" Type="http://schemas.openxmlformats.org/officeDocument/2006/relationships/image" Target="../media/image380.png"/><Relationship Id="rId9" Type="http://schemas.openxmlformats.org/officeDocument/2006/relationships/image" Target="../media/image40.svg"/><Relationship Id="rId14" Type="http://schemas.openxmlformats.org/officeDocument/2006/relationships/image" Target="../media/image386.png"/></Relationships>
</file>

<file path=ppt/slides/_rels/slide103.xml.rels><?xml version="1.0" encoding="UTF-8" standalone="yes"?>
<Relationships xmlns="http://schemas.openxmlformats.org/package/2006/relationships"><Relationship Id="rId8" Type="http://schemas.openxmlformats.org/officeDocument/2006/relationships/image" Target="../media/image384.png"/><Relationship Id="rId13" Type="http://schemas.openxmlformats.org/officeDocument/2006/relationships/image" Target="../media/image375.svg"/><Relationship Id="rId18" Type="http://schemas.openxmlformats.org/officeDocument/2006/relationships/image" Target="../media/image391.png"/><Relationship Id="rId3" Type="http://schemas.openxmlformats.org/officeDocument/2006/relationships/image" Target="../media/image379.svg"/><Relationship Id="rId21" Type="http://schemas.openxmlformats.org/officeDocument/2006/relationships/image" Target="../media/image394.svg"/><Relationship Id="rId7" Type="http://schemas.openxmlformats.org/officeDocument/2006/relationships/image" Target="../media/image371.svg"/><Relationship Id="rId12" Type="http://schemas.openxmlformats.org/officeDocument/2006/relationships/image" Target="../media/image374.png"/><Relationship Id="rId17" Type="http://schemas.openxmlformats.org/officeDocument/2006/relationships/image" Target="../media/image390.svg"/><Relationship Id="rId2" Type="http://schemas.openxmlformats.org/officeDocument/2006/relationships/image" Target="../media/image378.png"/><Relationship Id="rId16" Type="http://schemas.openxmlformats.org/officeDocument/2006/relationships/image" Target="../media/image389.png"/><Relationship Id="rId20" Type="http://schemas.openxmlformats.org/officeDocument/2006/relationships/image" Target="../media/image393.png"/><Relationship Id="rId1" Type="http://schemas.openxmlformats.org/officeDocument/2006/relationships/slideLayout" Target="../slideLayouts/slideLayout2.xml"/><Relationship Id="rId6" Type="http://schemas.openxmlformats.org/officeDocument/2006/relationships/image" Target="../media/image370.png"/><Relationship Id="rId11" Type="http://schemas.openxmlformats.org/officeDocument/2006/relationships/image" Target="../media/image373.svg"/><Relationship Id="rId5" Type="http://schemas.openxmlformats.org/officeDocument/2006/relationships/image" Target="../media/image388.svg"/><Relationship Id="rId15" Type="http://schemas.openxmlformats.org/officeDocument/2006/relationships/image" Target="../media/image377.svg"/><Relationship Id="rId23" Type="http://schemas.openxmlformats.org/officeDocument/2006/relationships/image" Target="../media/image387.svg"/><Relationship Id="rId10" Type="http://schemas.openxmlformats.org/officeDocument/2006/relationships/image" Target="../media/image372.png"/><Relationship Id="rId19" Type="http://schemas.openxmlformats.org/officeDocument/2006/relationships/image" Target="../media/image392.svg"/><Relationship Id="rId4" Type="http://schemas.openxmlformats.org/officeDocument/2006/relationships/image" Target="../media/image382.png"/><Relationship Id="rId9" Type="http://schemas.openxmlformats.org/officeDocument/2006/relationships/image" Target="../media/image385.svg"/><Relationship Id="rId14" Type="http://schemas.openxmlformats.org/officeDocument/2006/relationships/image" Target="../media/image376.png"/><Relationship Id="rId22" Type="http://schemas.openxmlformats.org/officeDocument/2006/relationships/image" Target="../media/image386.png"/></Relationships>
</file>

<file path=ppt/slides/_rels/slide104.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105.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106.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107.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108.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109.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110.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111.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8" Type="http://schemas.openxmlformats.org/officeDocument/2006/relationships/image" Target="../media/image49.png"/><Relationship Id="rId13" Type="http://schemas.openxmlformats.org/officeDocument/2006/relationships/image" Target="../media/image54.svg"/><Relationship Id="rId18" Type="http://schemas.openxmlformats.org/officeDocument/2006/relationships/image" Target="../media/image59.png"/><Relationship Id="rId3" Type="http://schemas.openxmlformats.org/officeDocument/2006/relationships/image" Target="../media/image44.svg"/><Relationship Id="rId21" Type="http://schemas.openxmlformats.org/officeDocument/2006/relationships/image" Target="../media/image62.svg"/><Relationship Id="rId7" Type="http://schemas.openxmlformats.org/officeDocument/2006/relationships/image" Target="../media/image48.svg"/><Relationship Id="rId12" Type="http://schemas.openxmlformats.org/officeDocument/2006/relationships/image" Target="../media/image53.png"/><Relationship Id="rId17" Type="http://schemas.openxmlformats.org/officeDocument/2006/relationships/image" Target="../media/image58.svg"/><Relationship Id="rId2" Type="http://schemas.openxmlformats.org/officeDocument/2006/relationships/image" Target="../media/image43.png"/><Relationship Id="rId16" Type="http://schemas.openxmlformats.org/officeDocument/2006/relationships/image" Target="../media/image57.png"/><Relationship Id="rId20"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47.png"/><Relationship Id="rId11" Type="http://schemas.openxmlformats.org/officeDocument/2006/relationships/image" Target="../media/image52.svg"/><Relationship Id="rId5" Type="http://schemas.openxmlformats.org/officeDocument/2006/relationships/image" Target="../media/image46.svg"/><Relationship Id="rId15" Type="http://schemas.openxmlformats.org/officeDocument/2006/relationships/image" Target="../media/image56.svg"/><Relationship Id="rId23" Type="http://schemas.openxmlformats.org/officeDocument/2006/relationships/image" Target="../media/image64.svg"/><Relationship Id="rId10" Type="http://schemas.openxmlformats.org/officeDocument/2006/relationships/image" Target="../media/image51.png"/><Relationship Id="rId19" Type="http://schemas.openxmlformats.org/officeDocument/2006/relationships/image" Target="../media/image60.svg"/><Relationship Id="rId4" Type="http://schemas.openxmlformats.org/officeDocument/2006/relationships/image" Target="../media/image45.png"/><Relationship Id="rId9" Type="http://schemas.openxmlformats.org/officeDocument/2006/relationships/image" Target="../media/image50.svg"/><Relationship Id="rId14" Type="http://schemas.openxmlformats.org/officeDocument/2006/relationships/image" Target="../media/image55.png"/><Relationship Id="rId22" Type="http://schemas.openxmlformats.org/officeDocument/2006/relationships/image" Target="../media/image63.png"/></Relationships>
</file>

<file path=ppt/slides/_rels/slide114.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6.svg"/><Relationship Id="rId18" Type="http://schemas.openxmlformats.org/officeDocument/2006/relationships/image" Target="../media/image61.png"/><Relationship Id="rId3" Type="http://schemas.openxmlformats.org/officeDocument/2006/relationships/image" Target="../media/image46.svg"/><Relationship Id="rId21" Type="http://schemas.openxmlformats.org/officeDocument/2006/relationships/image" Target="../media/image64.svg"/><Relationship Id="rId7" Type="http://schemas.openxmlformats.org/officeDocument/2006/relationships/image" Target="../media/image50.svg"/><Relationship Id="rId12" Type="http://schemas.openxmlformats.org/officeDocument/2006/relationships/image" Target="../media/image55.png"/><Relationship Id="rId17" Type="http://schemas.openxmlformats.org/officeDocument/2006/relationships/image" Target="../media/image60.svg"/><Relationship Id="rId2" Type="http://schemas.openxmlformats.org/officeDocument/2006/relationships/image" Target="../media/image45.png"/><Relationship Id="rId16" Type="http://schemas.openxmlformats.org/officeDocument/2006/relationships/image" Target="../media/image59.png"/><Relationship Id="rId20" Type="http://schemas.openxmlformats.org/officeDocument/2006/relationships/image" Target="../media/image63.png"/><Relationship Id="rId1" Type="http://schemas.openxmlformats.org/officeDocument/2006/relationships/slideLayout" Target="../slideLayouts/slideLayout2.xml"/><Relationship Id="rId6" Type="http://schemas.openxmlformats.org/officeDocument/2006/relationships/image" Target="../media/image49.png"/><Relationship Id="rId11" Type="http://schemas.openxmlformats.org/officeDocument/2006/relationships/image" Target="../media/image54.svg"/><Relationship Id="rId5" Type="http://schemas.openxmlformats.org/officeDocument/2006/relationships/image" Target="../media/image48.svg"/><Relationship Id="rId15" Type="http://schemas.openxmlformats.org/officeDocument/2006/relationships/image" Target="../media/image58.svg"/><Relationship Id="rId23" Type="http://schemas.openxmlformats.org/officeDocument/2006/relationships/image" Target="../media/image44.svg"/><Relationship Id="rId10" Type="http://schemas.openxmlformats.org/officeDocument/2006/relationships/image" Target="../media/image53.png"/><Relationship Id="rId19" Type="http://schemas.openxmlformats.org/officeDocument/2006/relationships/image" Target="../media/image62.svg"/><Relationship Id="rId4" Type="http://schemas.openxmlformats.org/officeDocument/2006/relationships/image" Target="../media/image47.png"/><Relationship Id="rId9" Type="http://schemas.openxmlformats.org/officeDocument/2006/relationships/image" Target="../media/image52.svg"/><Relationship Id="rId14" Type="http://schemas.openxmlformats.org/officeDocument/2006/relationships/image" Target="../media/image57.png"/><Relationship Id="rId22" Type="http://schemas.openxmlformats.org/officeDocument/2006/relationships/image" Target="../media/image43.png"/></Relationships>
</file>

<file path=ppt/slides/_rels/slide115.xml.rels><?xml version="1.0" encoding="UTF-8" standalone="yes"?>
<Relationships xmlns="http://schemas.openxmlformats.org/package/2006/relationships"><Relationship Id="rId8" Type="http://schemas.openxmlformats.org/officeDocument/2006/relationships/image" Target="../media/image71.png"/><Relationship Id="rId13" Type="http://schemas.openxmlformats.org/officeDocument/2006/relationships/image" Target="../media/image76.svg"/><Relationship Id="rId3" Type="http://schemas.openxmlformats.org/officeDocument/2006/relationships/image" Target="../media/image44.svg"/><Relationship Id="rId7" Type="http://schemas.openxmlformats.org/officeDocument/2006/relationships/image" Target="../media/image70.svg"/><Relationship Id="rId12" Type="http://schemas.openxmlformats.org/officeDocument/2006/relationships/image" Target="../media/image75.png"/><Relationship Id="rId2" Type="http://schemas.openxmlformats.org/officeDocument/2006/relationships/image" Target="../media/image43.png"/><Relationship Id="rId1" Type="http://schemas.openxmlformats.org/officeDocument/2006/relationships/slideLayout" Target="../slideLayouts/slideLayout2.xml"/><Relationship Id="rId6" Type="http://schemas.openxmlformats.org/officeDocument/2006/relationships/image" Target="../media/image69.png"/><Relationship Id="rId11" Type="http://schemas.openxmlformats.org/officeDocument/2006/relationships/image" Target="../media/image74.svg"/><Relationship Id="rId5" Type="http://schemas.openxmlformats.org/officeDocument/2006/relationships/image" Target="../media/image18.svg"/><Relationship Id="rId10" Type="http://schemas.openxmlformats.org/officeDocument/2006/relationships/image" Target="../media/image73.png"/><Relationship Id="rId4" Type="http://schemas.openxmlformats.org/officeDocument/2006/relationships/image" Target="../media/image17.png"/><Relationship Id="rId9" Type="http://schemas.openxmlformats.org/officeDocument/2006/relationships/image" Target="../media/image72.svg"/></Relationships>
</file>

<file path=ppt/slides/_rels/slide116.xml.rels><?xml version="1.0" encoding="UTF-8" standalone="yes"?>
<Relationships xmlns="http://schemas.openxmlformats.org/package/2006/relationships"><Relationship Id="rId8" Type="http://schemas.openxmlformats.org/officeDocument/2006/relationships/image" Target="../media/image70.svg"/><Relationship Id="rId13" Type="http://schemas.openxmlformats.org/officeDocument/2006/relationships/image" Target="../media/image75.png"/><Relationship Id="rId3" Type="http://schemas.openxmlformats.org/officeDocument/2006/relationships/image" Target="../media/image43.png"/><Relationship Id="rId7" Type="http://schemas.openxmlformats.org/officeDocument/2006/relationships/image" Target="../media/image69.png"/><Relationship Id="rId12" Type="http://schemas.openxmlformats.org/officeDocument/2006/relationships/image" Target="../media/image74.svg"/><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image" Target="../media/image18.svg"/><Relationship Id="rId11" Type="http://schemas.openxmlformats.org/officeDocument/2006/relationships/image" Target="../media/image73.png"/><Relationship Id="rId5" Type="http://schemas.openxmlformats.org/officeDocument/2006/relationships/image" Target="../media/image17.png"/><Relationship Id="rId10" Type="http://schemas.openxmlformats.org/officeDocument/2006/relationships/image" Target="../media/image72.svg"/><Relationship Id="rId4" Type="http://schemas.openxmlformats.org/officeDocument/2006/relationships/image" Target="../media/image44.svg"/><Relationship Id="rId9" Type="http://schemas.openxmlformats.org/officeDocument/2006/relationships/image" Target="../media/image71.png"/><Relationship Id="rId14" Type="http://schemas.openxmlformats.org/officeDocument/2006/relationships/image" Target="../media/image76.svg"/></Relationships>
</file>

<file path=ppt/slides/_rels/slide117.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32.svg"/><Relationship Id="rId7" Type="http://schemas.openxmlformats.org/officeDocument/2006/relationships/image" Target="../media/image5.svg"/><Relationship Id="rId2" Type="http://schemas.openxmlformats.org/officeDocument/2006/relationships/image" Target="../media/image31.png"/><Relationship Id="rId1" Type="http://schemas.openxmlformats.org/officeDocument/2006/relationships/slideLayout" Target="../slideLayouts/slideLayout2.xml"/><Relationship Id="rId6" Type="http://schemas.openxmlformats.org/officeDocument/2006/relationships/image" Target="../media/image4.png"/><Relationship Id="rId11" Type="http://schemas.openxmlformats.org/officeDocument/2006/relationships/image" Target="../media/image3.svg"/><Relationship Id="rId5" Type="http://schemas.openxmlformats.org/officeDocument/2006/relationships/image" Target="../media/image7.svg"/><Relationship Id="rId10" Type="http://schemas.openxmlformats.org/officeDocument/2006/relationships/image" Target="../media/image2.png"/><Relationship Id="rId4" Type="http://schemas.openxmlformats.org/officeDocument/2006/relationships/image" Target="../media/image6.png"/><Relationship Id="rId9" Type="http://schemas.openxmlformats.org/officeDocument/2006/relationships/image" Target="../media/image9.svg"/></Relationships>
</file>

<file path=ppt/slides/_rels/slide118.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32.svg"/><Relationship Id="rId7" Type="http://schemas.openxmlformats.org/officeDocument/2006/relationships/image" Target="../media/image5.svg"/><Relationship Id="rId2" Type="http://schemas.openxmlformats.org/officeDocument/2006/relationships/image" Target="../media/image31.png"/><Relationship Id="rId1" Type="http://schemas.openxmlformats.org/officeDocument/2006/relationships/slideLayout" Target="../slideLayouts/slideLayout2.xml"/><Relationship Id="rId6" Type="http://schemas.openxmlformats.org/officeDocument/2006/relationships/image" Target="../media/image4.png"/><Relationship Id="rId11" Type="http://schemas.openxmlformats.org/officeDocument/2006/relationships/image" Target="../media/image3.svg"/><Relationship Id="rId5" Type="http://schemas.openxmlformats.org/officeDocument/2006/relationships/image" Target="../media/image7.svg"/><Relationship Id="rId10" Type="http://schemas.openxmlformats.org/officeDocument/2006/relationships/image" Target="../media/image2.png"/><Relationship Id="rId4" Type="http://schemas.openxmlformats.org/officeDocument/2006/relationships/image" Target="../media/image6.png"/><Relationship Id="rId9" Type="http://schemas.openxmlformats.org/officeDocument/2006/relationships/image" Target="../media/image9.svg"/></Relationships>
</file>

<file path=ppt/slides/_rels/slide119.xml.rels><?xml version="1.0" encoding="UTF-8" standalone="yes"?>
<Relationships xmlns="http://schemas.openxmlformats.org/package/2006/relationships"><Relationship Id="rId3" Type="http://schemas.openxmlformats.org/officeDocument/2006/relationships/image" Target="../media/image18.svg"/><Relationship Id="rId7" Type="http://schemas.openxmlformats.org/officeDocument/2006/relationships/image" Target="../media/image32.svg"/><Relationship Id="rId2"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image" Target="../media/image31.png"/><Relationship Id="rId5" Type="http://schemas.openxmlformats.org/officeDocument/2006/relationships/image" Target="../media/image42.svg"/><Relationship Id="rId4" Type="http://schemas.openxmlformats.org/officeDocument/2006/relationships/image" Target="../media/image41.png"/></Relationships>
</file>

<file path=ppt/slides/_rels/slide120.xml.rels><?xml version="1.0" encoding="UTF-8" standalone="yes"?>
<Relationships xmlns="http://schemas.openxmlformats.org/package/2006/relationships"><Relationship Id="rId3" Type="http://schemas.openxmlformats.org/officeDocument/2006/relationships/image" Target="../media/image18.svg"/><Relationship Id="rId7" Type="http://schemas.openxmlformats.org/officeDocument/2006/relationships/image" Target="../media/image32.svg"/><Relationship Id="rId2"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image" Target="../media/image31.png"/><Relationship Id="rId5" Type="http://schemas.openxmlformats.org/officeDocument/2006/relationships/image" Target="../media/image42.svg"/><Relationship Id="rId4" Type="http://schemas.openxmlformats.org/officeDocument/2006/relationships/image" Target="../media/image41.png"/></Relationships>
</file>

<file path=ppt/slides/_rels/slide121.xml.rels><?xml version="1.0" encoding="UTF-8" standalone="yes"?>
<Relationships xmlns="http://schemas.openxmlformats.org/package/2006/relationships"><Relationship Id="rId8" Type="http://schemas.openxmlformats.org/officeDocument/2006/relationships/image" Target="../media/image316.jpg"/><Relationship Id="rId3" Type="http://schemas.openxmlformats.org/officeDocument/2006/relationships/image" Target="../media/image311.jpg"/><Relationship Id="rId7" Type="http://schemas.openxmlformats.org/officeDocument/2006/relationships/image" Target="../media/image315.jpg"/><Relationship Id="rId12" Type="http://schemas.openxmlformats.org/officeDocument/2006/relationships/image" Target="../media/image18.svg"/><Relationship Id="rId2" Type="http://schemas.openxmlformats.org/officeDocument/2006/relationships/image" Target="../media/image310.jpg"/><Relationship Id="rId1" Type="http://schemas.openxmlformats.org/officeDocument/2006/relationships/slideLayout" Target="../slideLayouts/slideLayout2.xml"/><Relationship Id="rId6" Type="http://schemas.openxmlformats.org/officeDocument/2006/relationships/image" Target="../media/image314.jpg"/><Relationship Id="rId11" Type="http://schemas.openxmlformats.org/officeDocument/2006/relationships/image" Target="../media/image17.png"/><Relationship Id="rId5" Type="http://schemas.openxmlformats.org/officeDocument/2006/relationships/image" Target="../media/image313.jpg"/><Relationship Id="rId10" Type="http://schemas.openxmlformats.org/officeDocument/2006/relationships/image" Target="../media/image318.jpg"/><Relationship Id="rId4" Type="http://schemas.openxmlformats.org/officeDocument/2006/relationships/image" Target="../media/image312.jpg"/><Relationship Id="rId9" Type="http://schemas.openxmlformats.org/officeDocument/2006/relationships/image" Target="../media/image317.jpg"/></Relationships>
</file>

<file path=ppt/slides/_rels/slide122.xml.rels><?xml version="1.0" encoding="UTF-8" standalone="yes"?>
<Relationships xmlns="http://schemas.openxmlformats.org/package/2006/relationships"><Relationship Id="rId8" Type="http://schemas.openxmlformats.org/officeDocument/2006/relationships/image" Target="../media/image316.jpg"/><Relationship Id="rId3" Type="http://schemas.openxmlformats.org/officeDocument/2006/relationships/image" Target="../media/image311.jpg"/><Relationship Id="rId7" Type="http://schemas.openxmlformats.org/officeDocument/2006/relationships/image" Target="../media/image315.jpg"/><Relationship Id="rId12" Type="http://schemas.openxmlformats.org/officeDocument/2006/relationships/image" Target="../media/image18.svg"/><Relationship Id="rId2" Type="http://schemas.openxmlformats.org/officeDocument/2006/relationships/image" Target="../media/image310.jpg"/><Relationship Id="rId1" Type="http://schemas.openxmlformats.org/officeDocument/2006/relationships/slideLayout" Target="../slideLayouts/slideLayout2.xml"/><Relationship Id="rId6" Type="http://schemas.openxmlformats.org/officeDocument/2006/relationships/image" Target="../media/image314.jpg"/><Relationship Id="rId11" Type="http://schemas.openxmlformats.org/officeDocument/2006/relationships/image" Target="../media/image17.png"/><Relationship Id="rId5" Type="http://schemas.openxmlformats.org/officeDocument/2006/relationships/image" Target="../media/image313.jpg"/><Relationship Id="rId10" Type="http://schemas.openxmlformats.org/officeDocument/2006/relationships/image" Target="../media/image318.jpg"/><Relationship Id="rId4" Type="http://schemas.openxmlformats.org/officeDocument/2006/relationships/image" Target="../media/image312.jpg"/><Relationship Id="rId9" Type="http://schemas.openxmlformats.org/officeDocument/2006/relationships/image" Target="../media/image317.jpg"/></Relationships>
</file>

<file path=ppt/slides/_rels/slide123.xml.rels><?xml version="1.0" encoding="UTF-8" standalone="yes"?>
<Relationships xmlns="http://schemas.openxmlformats.org/package/2006/relationships"><Relationship Id="rId26" Type="http://schemas.openxmlformats.org/officeDocument/2006/relationships/image" Target="../media/image211.png"/><Relationship Id="rId117" Type="http://schemas.openxmlformats.org/officeDocument/2006/relationships/image" Target="../media/image298.svg"/><Relationship Id="rId21" Type="http://schemas.openxmlformats.org/officeDocument/2006/relationships/image" Target="../media/image206.svg"/><Relationship Id="rId42" Type="http://schemas.openxmlformats.org/officeDocument/2006/relationships/image" Target="../media/image227.png"/><Relationship Id="rId47" Type="http://schemas.openxmlformats.org/officeDocument/2006/relationships/image" Target="../media/image232.svg"/><Relationship Id="rId63" Type="http://schemas.openxmlformats.org/officeDocument/2006/relationships/image" Target="../media/image247.svg"/><Relationship Id="rId68" Type="http://schemas.openxmlformats.org/officeDocument/2006/relationships/image" Target="../media/image252.png"/><Relationship Id="rId84" Type="http://schemas.openxmlformats.org/officeDocument/2006/relationships/image" Target="../media/image276.png"/><Relationship Id="rId89" Type="http://schemas.openxmlformats.org/officeDocument/2006/relationships/image" Target="../media/image279.svg"/><Relationship Id="rId112" Type="http://schemas.openxmlformats.org/officeDocument/2006/relationships/image" Target="../media/image293.png"/><Relationship Id="rId16" Type="http://schemas.openxmlformats.org/officeDocument/2006/relationships/image" Target="../media/image299.png"/><Relationship Id="rId107" Type="http://schemas.openxmlformats.org/officeDocument/2006/relationships/image" Target="../media/image273.svg"/><Relationship Id="rId11" Type="http://schemas.openxmlformats.org/officeDocument/2006/relationships/image" Target="../media/image198.svg"/><Relationship Id="rId32" Type="http://schemas.openxmlformats.org/officeDocument/2006/relationships/image" Target="../media/image217.png"/><Relationship Id="rId37" Type="http://schemas.openxmlformats.org/officeDocument/2006/relationships/image" Target="../media/image222.svg"/><Relationship Id="rId53" Type="http://schemas.openxmlformats.org/officeDocument/2006/relationships/image" Target="../media/image238.svg"/><Relationship Id="rId58" Type="http://schemas.openxmlformats.org/officeDocument/2006/relationships/image" Target="../media/image243.png"/><Relationship Id="rId74" Type="http://schemas.openxmlformats.org/officeDocument/2006/relationships/image" Target="../media/image258.png"/><Relationship Id="rId79" Type="http://schemas.openxmlformats.org/officeDocument/2006/relationships/image" Target="../media/image263.svg"/><Relationship Id="rId102" Type="http://schemas.openxmlformats.org/officeDocument/2006/relationships/image" Target="../media/image268.png"/><Relationship Id="rId5" Type="http://schemas.openxmlformats.org/officeDocument/2006/relationships/image" Target="../media/image192.svg"/><Relationship Id="rId90" Type="http://schemas.openxmlformats.org/officeDocument/2006/relationships/image" Target="../media/image280.png"/><Relationship Id="rId95" Type="http://schemas.openxmlformats.org/officeDocument/2006/relationships/image" Target="../media/image285.svg"/><Relationship Id="rId22" Type="http://schemas.openxmlformats.org/officeDocument/2006/relationships/image" Target="../media/image207.png"/><Relationship Id="rId27" Type="http://schemas.openxmlformats.org/officeDocument/2006/relationships/image" Target="../media/image212.svg"/><Relationship Id="rId43" Type="http://schemas.openxmlformats.org/officeDocument/2006/relationships/image" Target="../media/image228.svg"/><Relationship Id="rId48" Type="http://schemas.openxmlformats.org/officeDocument/2006/relationships/image" Target="../media/image233.png"/><Relationship Id="rId64" Type="http://schemas.openxmlformats.org/officeDocument/2006/relationships/image" Target="../media/image248.png"/><Relationship Id="rId69" Type="http://schemas.openxmlformats.org/officeDocument/2006/relationships/image" Target="../media/image253.svg"/><Relationship Id="rId113" Type="http://schemas.openxmlformats.org/officeDocument/2006/relationships/image" Target="../media/image294.svg"/><Relationship Id="rId80" Type="http://schemas.openxmlformats.org/officeDocument/2006/relationships/image" Target="../media/image264.png"/><Relationship Id="rId85" Type="http://schemas.openxmlformats.org/officeDocument/2006/relationships/image" Target="../media/image277.svg"/><Relationship Id="rId12" Type="http://schemas.openxmlformats.org/officeDocument/2006/relationships/image" Target="../media/image199.png"/><Relationship Id="rId17" Type="http://schemas.openxmlformats.org/officeDocument/2006/relationships/image" Target="../media/image300.svg"/><Relationship Id="rId33" Type="http://schemas.openxmlformats.org/officeDocument/2006/relationships/image" Target="../media/image218.svg"/><Relationship Id="rId38" Type="http://schemas.openxmlformats.org/officeDocument/2006/relationships/image" Target="../media/image223.png"/><Relationship Id="rId59" Type="http://schemas.openxmlformats.org/officeDocument/2006/relationships/image" Target="../media/image244.svg"/><Relationship Id="rId103" Type="http://schemas.openxmlformats.org/officeDocument/2006/relationships/image" Target="../media/image269.svg"/><Relationship Id="rId108" Type="http://schemas.openxmlformats.org/officeDocument/2006/relationships/image" Target="../media/image274.png"/><Relationship Id="rId54" Type="http://schemas.openxmlformats.org/officeDocument/2006/relationships/image" Target="../media/image239.png"/><Relationship Id="rId70" Type="http://schemas.openxmlformats.org/officeDocument/2006/relationships/image" Target="../media/image254.png"/><Relationship Id="rId75" Type="http://schemas.openxmlformats.org/officeDocument/2006/relationships/image" Target="../media/image259.svg"/><Relationship Id="rId91" Type="http://schemas.openxmlformats.org/officeDocument/2006/relationships/image" Target="../media/image281.svg"/><Relationship Id="rId96" Type="http://schemas.openxmlformats.org/officeDocument/2006/relationships/image" Target="../media/image286.png"/><Relationship Id="rId1" Type="http://schemas.openxmlformats.org/officeDocument/2006/relationships/slideLayout" Target="../slideLayouts/slideLayout2.xml"/><Relationship Id="rId6" Type="http://schemas.openxmlformats.org/officeDocument/2006/relationships/image" Target="../media/image193.png"/><Relationship Id="rId23" Type="http://schemas.openxmlformats.org/officeDocument/2006/relationships/image" Target="../media/image208.svg"/><Relationship Id="rId28" Type="http://schemas.openxmlformats.org/officeDocument/2006/relationships/image" Target="../media/image213.png"/><Relationship Id="rId49" Type="http://schemas.openxmlformats.org/officeDocument/2006/relationships/image" Target="../media/image234.svg"/><Relationship Id="rId114" Type="http://schemas.openxmlformats.org/officeDocument/2006/relationships/image" Target="../media/image295.png"/><Relationship Id="rId10" Type="http://schemas.openxmlformats.org/officeDocument/2006/relationships/image" Target="../media/image197.png"/><Relationship Id="rId31" Type="http://schemas.openxmlformats.org/officeDocument/2006/relationships/image" Target="../media/image216.svg"/><Relationship Id="rId44" Type="http://schemas.openxmlformats.org/officeDocument/2006/relationships/image" Target="../media/image229.png"/><Relationship Id="rId52" Type="http://schemas.openxmlformats.org/officeDocument/2006/relationships/image" Target="../media/image237.png"/><Relationship Id="rId60" Type="http://schemas.openxmlformats.org/officeDocument/2006/relationships/image" Target="../media/image245.png"/><Relationship Id="rId65" Type="http://schemas.openxmlformats.org/officeDocument/2006/relationships/image" Target="../media/image249.svg"/><Relationship Id="rId73" Type="http://schemas.openxmlformats.org/officeDocument/2006/relationships/image" Target="../media/image257.svg"/><Relationship Id="rId78" Type="http://schemas.openxmlformats.org/officeDocument/2006/relationships/image" Target="../media/image262.png"/><Relationship Id="rId81" Type="http://schemas.openxmlformats.org/officeDocument/2006/relationships/image" Target="../media/image265.svg"/><Relationship Id="rId86" Type="http://schemas.openxmlformats.org/officeDocument/2006/relationships/image" Target="../media/image45.png"/><Relationship Id="rId94" Type="http://schemas.openxmlformats.org/officeDocument/2006/relationships/image" Target="../media/image284.png"/><Relationship Id="rId99" Type="http://schemas.openxmlformats.org/officeDocument/2006/relationships/image" Target="../media/image289.svg"/><Relationship Id="rId101" Type="http://schemas.openxmlformats.org/officeDocument/2006/relationships/image" Target="../media/image291.svg"/><Relationship Id="rId4" Type="http://schemas.openxmlformats.org/officeDocument/2006/relationships/image" Target="../media/image191.png"/><Relationship Id="rId9" Type="http://schemas.openxmlformats.org/officeDocument/2006/relationships/image" Target="../media/image196.svg"/><Relationship Id="rId13" Type="http://schemas.openxmlformats.org/officeDocument/2006/relationships/image" Target="../media/image200.svg"/><Relationship Id="rId18" Type="http://schemas.openxmlformats.org/officeDocument/2006/relationships/image" Target="../media/image203.png"/><Relationship Id="rId39" Type="http://schemas.openxmlformats.org/officeDocument/2006/relationships/image" Target="../media/image224.svg"/><Relationship Id="rId109" Type="http://schemas.openxmlformats.org/officeDocument/2006/relationships/image" Target="../media/image275.svg"/><Relationship Id="rId34" Type="http://schemas.openxmlformats.org/officeDocument/2006/relationships/image" Target="../media/image219.png"/><Relationship Id="rId50" Type="http://schemas.openxmlformats.org/officeDocument/2006/relationships/image" Target="../media/image235.png"/><Relationship Id="rId55" Type="http://schemas.openxmlformats.org/officeDocument/2006/relationships/image" Target="../media/image240.svg"/><Relationship Id="rId76" Type="http://schemas.openxmlformats.org/officeDocument/2006/relationships/image" Target="../media/image260.png"/><Relationship Id="rId97" Type="http://schemas.openxmlformats.org/officeDocument/2006/relationships/image" Target="../media/image287.svg"/><Relationship Id="rId104" Type="http://schemas.openxmlformats.org/officeDocument/2006/relationships/image" Target="../media/image270.png"/><Relationship Id="rId7" Type="http://schemas.openxmlformats.org/officeDocument/2006/relationships/image" Target="../media/image194.svg"/><Relationship Id="rId71" Type="http://schemas.openxmlformats.org/officeDocument/2006/relationships/image" Target="../media/image255.svg"/><Relationship Id="rId92" Type="http://schemas.openxmlformats.org/officeDocument/2006/relationships/image" Target="../media/image282.png"/><Relationship Id="rId2" Type="http://schemas.openxmlformats.org/officeDocument/2006/relationships/image" Target="../media/image13.png"/><Relationship Id="rId29" Type="http://schemas.openxmlformats.org/officeDocument/2006/relationships/image" Target="../media/image214.svg"/><Relationship Id="rId24" Type="http://schemas.openxmlformats.org/officeDocument/2006/relationships/image" Target="../media/image209.png"/><Relationship Id="rId40" Type="http://schemas.openxmlformats.org/officeDocument/2006/relationships/image" Target="../media/image225.png"/><Relationship Id="rId45" Type="http://schemas.openxmlformats.org/officeDocument/2006/relationships/image" Target="../media/image230.svg"/><Relationship Id="rId66" Type="http://schemas.openxmlformats.org/officeDocument/2006/relationships/image" Target="../media/image250.png"/><Relationship Id="rId87" Type="http://schemas.openxmlformats.org/officeDocument/2006/relationships/image" Target="../media/image46.svg"/><Relationship Id="rId110" Type="http://schemas.openxmlformats.org/officeDocument/2006/relationships/image" Target="../media/image153.png"/><Relationship Id="rId115" Type="http://schemas.openxmlformats.org/officeDocument/2006/relationships/image" Target="../media/image296.svg"/><Relationship Id="rId61" Type="http://schemas.openxmlformats.org/officeDocument/2006/relationships/image" Target="../media/image246.svg"/><Relationship Id="rId82" Type="http://schemas.openxmlformats.org/officeDocument/2006/relationships/image" Target="../media/image266.png"/><Relationship Id="rId19" Type="http://schemas.openxmlformats.org/officeDocument/2006/relationships/image" Target="../media/image204.svg"/><Relationship Id="rId14" Type="http://schemas.openxmlformats.org/officeDocument/2006/relationships/image" Target="../media/image201.png"/><Relationship Id="rId30" Type="http://schemas.openxmlformats.org/officeDocument/2006/relationships/image" Target="../media/image215.png"/><Relationship Id="rId35" Type="http://schemas.openxmlformats.org/officeDocument/2006/relationships/image" Target="../media/image220.svg"/><Relationship Id="rId56" Type="http://schemas.openxmlformats.org/officeDocument/2006/relationships/image" Target="../media/image241.png"/><Relationship Id="rId77" Type="http://schemas.openxmlformats.org/officeDocument/2006/relationships/image" Target="../media/image261.svg"/><Relationship Id="rId100" Type="http://schemas.openxmlformats.org/officeDocument/2006/relationships/image" Target="../media/image290.png"/><Relationship Id="rId105" Type="http://schemas.openxmlformats.org/officeDocument/2006/relationships/image" Target="../media/image271.svg"/><Relationship Id="rId8" Type="http://schemas.openxmlformats.org/officeDocument/2006/relationships/image" Target="../media/image195.png"/><Relationship Id="rId51" Type="http://schemas.openxmlformats.org/officeDocument/2006/relationships/image" Target="../media/image236.svg"/><Relationship Id="rId72" Type="http://schemas.openxmlformats.org/officeDocument/2006/relationships/image" Target="../media/image256.png"/><Relationship Id="rId93" Type="http://schemas.openxmlformats.org/officeDocument/2006/relationships/image" Target="../media/image283.svg"/><Relationship Id="rId98" Type="http://schemas.openxmlformats.org/officeDocument/2006/relationships/image" Target="../media/image288.png"/><Relationship Id="rId3" Type="http://schemas.openxmlformats.org/officeDocument/2006/relationships/image" Target="../media/image14.svg"/><Relationship Id="rId25" Type="http://schemas.openxmlformats.org/officeDocument/2006/relationships/image" Target="../media/image210.svg"/><Relationship Id="rId46" Type="http://schemas.openxmlformats.org/officeDocument/2006/relationships/image" Target="../media/image231.png"/><Relationship Id="rId67" Type="http://schemas.openxmlformats.org/officeDocument/2006/relationships/image" Target="../media/image251.svg"/><Relationship Id="rId116" Type="http://schemas.openxmlformats.org/officeDocument/2006/relationships/image" Target="../media/image297.png"/><Relationship Id="rId20" Type="http://schemas.openxmlformats.org/officeDocument/2006/relationships/image" Target="../media/image205.png"/><Relationship Id="rId41" Type="http://schemas.openxmlformats.org/officeDocument/2006/relationships/image" Target="../media/image226.svg"/><Relationship Id="rId62" Type="http://schemas.openxmlformats.org/officeDocument/2006/relationships/image" Target="../media/image51.png"/><Relationship Id="rId83" Type="http://schemas.openxmlformats.org/officeDocument/2006/relationships/image" Target="../media/image267.svg"/><Relationship Id="rId88" Type="http://schemas.openxmlformats.org/officeDocument/2006/relationships/image" Target="../media/image278.png"/><Relationship Id="rId111" Type="http://schemas.openxmlformats.org/officeDocument/2006/relationships/image" Target="../media/image292.svg"/><Relationship Id="rId15" Type="http://schemas.openxmlformats.org/officeDocument/2006/relationships/image" Target="../media/image202.svg"/><Relationship Id="rId36" Type="http://schemas.openxmlformats.org/officeDocument/2006/relationships/image" Target="../media/image221.png"/><Relationship Id="rId57" Type="http://schemas.openxmlformats.org/officeDocument/2006/relationships/image" Target="../media/image242.svg"/><Relationship Id="rId106" Type="http://schemas.openxmlformats.org/officeDocument/2006/relationships/image" Target="../media/image272.png"/></Relationships>
</file>

<file path=ppt/slides/_rels/slide124.xml.rels><?xml version="1.0" encoding="UTF-8" standalone="yes"?>
<Relationships xmlns="http://schemas.openxmlformats.org/package/2006/relationships"><Relationship Id="rId26" Type="http://schemas.openxmlformats.org/officeDocument/2006/relationships/image" Target="../media/image211.png"/><Relationship Id="rId117" Type="http://schemas.openxmlformats.org/officeDocument/2006/relationships/image" Target="../media/image298.svg"/><Relationship Id="rId21" Type="http://schemas.openxmlformats.org/officeDocument/2006/relationships/image" Target="../media/image206.svg"/><Relationship Id="rId42" Type="http://schemas.openxmlformats.org/officeDocument/2006/relationships/image" Target="../media/image227.png"/><Relationship Id="rId47" Type="http://schemas.openxmlformats.org/officeDocument/2006/relationships/image" Target="../media/image232.svg"/><Relationship Id="rId63" Type="http://schemas.openxmlformats.org/officeDocument/2006/relationships/image" Target="../media/image247.svg"/><Relationship Id="rId68" Type="http://schemas.openxmlformats.org/officeDocument/2006/relationships/image" Target="../media/image252.png"/><Relationship Id="rId84" Type="http://schemas.openxmlformats.org/officeDocument/2006/relationships/image" Target="../media/image276.png"/><Relationship Id="rId89" Type="http://schemas.openxmlformats.org/officeDocument/2006/relationships/image" Target="../media/image279.svg"/><Relationship Id="rId112" Type="http://schemas.openxmlformats.org/officeDocument/2006/relationships/image" Target="../media/image293.png"/><Relationship Id="rId16" Type="http://schemas.openxmlformats.org/officeDocument/2006/relationships/image" Target="../media/image299.png"/><Relationship Id="rId107" Type="http://schemas.openxmlformats.org/officeDocument/2006/relationships/image" Target="../media/image273.svg"/><Relationship Id="rId11" Type="http://schemas.openxmlformats.org/officeDocument/2006/relationships/image" Target="../media/image198.svg"/><Relationship Id="rId32" Type="http://schemas.openxmlformats.org/officeDocument/2006/relationships/image" Target="../media/image217.png"/><Relationship Id="rId37" Type="http://schemas.openxmlformats.org/officeDocument/2006/relationships/image" Target="../media/image222.svg"/><Relationship Id="rId53" Type="http://schemas.openxmlformats.org/officeDocument/2006/relationships/image" Target="../media/image238.svg"/><Relationship Id="rId58" Type="http://schemas.openxmlformats.org/officeDocument/2006/relationships/image" Target="../media/image243.png"/><Relationship Id="rId74" Type="http://schemas.openxmlformats.org/officeDocument/2006/relationships/image" Target="../media/image258.png"/><Relationship Id="rId79" Type="http://schemas.openxmlformats.org/officeDocument/2006/relationships/image" Target="../media/image263.svg"/><Relationship Id="rId102" Type="http://schemas.openxmlformats.org/officeDocument/2006/relationships/image" Target="../media/image268.png"/><Relationship Id="rId5" Type="http://schemas.openxmlformats.org/officeDocument/2006/relationships/image" Target="../media/image192.svg"/><Relationship Id="rId90" Type="http://schemas.openxmlformats.org/officeDocument/2006/relationships/image" Target="../media/image280.png"/><Relationship Id="rId95" Type="http://schemas.openxmlformats.org/officeDocument/2006/relationships/image" Target="../media/image285.svg"/><Relationship Id="rId22" Type="http://schemas.openxmlformats.org/officeDocument/2006/relationships/image" Target="../media/image207.png"/><Relationship Id="rId27" Type="http://schemas.openxmlformats.org/officeDocument/2006/relationships/image" Target="../media/image212.svg"/><Relationship Id="rId43" Type="http://schemas.openxmlformats.org/officeDocument/2006/relationships/image" Target="../media/image228.svg"/><Relationship Id="rId48" Type="http://schemas.openxmlformats.org/officeDocument/2006/relationships/image" Target="../media/image233.png"/><Relationship Id="rId64" Type="http://schemas.openxmlformats.org/officeDocument/2006/relationships/image" Target="../media/image248.png"/><Relationship Id="rId69" Type="http://schemas.openxmlformats.org/officeDocument/2006/relationships/image" Target="../media/image253.svg"/><Relationship Id="rId113" Type="http://schemas.openxmlformats.org/officeDocument/2006/relationships/image" Target="../media/image294.svg"/><Relationship Id="rId80" Type="http://schemas.openxmlformats.org/officeDocument/2006/relationships/image" Target="../media/image264.png"/><Relationship Id="rId85" Type="http://schemas.openxmlformats.org/officeDocument/2006/relationships/image" Target="../media/image277.svg"/><Relationship Id="rId12" Type="http://schemas.openxmlformats.org/officeDocument/2006/relationships/image" Target="../media/image199.png"/><Relationship Id="rId17" Type="http://schemas.openxmlformats.org/officeDocument/2006/relationships/image" Target="../media/image300.svg"/><Relationship Id="rId33" Type="http://schemas.openxmlformats.org/officeDocument/2006/relationships/image" Target="../media/image218.svg"/><Relationship Id="rId38" Type="http://schemas.openxmlformats.org/officeDocument/2006/relationships/image" Target="../media/image223.png"/><Relationship Id="rId59" Type="http://schemas.openxmlformats.org/officeDocument/2006/relationships/image" Target="../media/image244.svg"/><Relationship Id="rId103" Type="http://schemas.openxmlformats.org/officeDocument/2006/relationships/image" Target="../media/image269.svg"/><Relationship Id="rId108" Type="http://schemas.openxmlformats.org/officeDocument/2006/relationships/image" Target="../media/image274.png"/><Relationship Id="rId54" Type="http://schemas.openxmlformats.org/officeDocument/2006/relationships/image" Target="../media/image239.png"/><Relationship Id="rId70" Type="http://schemas.openxmlformats.org/officeDocument/2006/relationships/image" Target="../media/image254.png"/><Relationship Id="rId75" Type="http://schemas.openxmlformats.org/officeDocument/2006/relationships/image" Target="../media/image259.svg"/><Relationship Id="rId91" Type="http://schemas.openxmlformats.org/officeDocument/2006/relationships/image" Target="../media/image281.svg"/><Relationship Id="rId96" Type="http://schemas.openxmlformats.org/officeDocument/2006/relationships/image" Target="../media/image286.png"/><Relationship Id="rId1" Type="http://schemas.openxmlformats.org/officeDocument/2006/relationships/slideLayout" Target="../slideLayouts/slideLayout2.xml"/><Relationship Id="rId6" Type="http://schemas.openxmlformats.org/officeDocument/2006/relationships/image" Target="../media/image193.png"/><Relationship Id="rId23" Type="http://schemas.openxmlformats.org/officeDocument/2006/relationships/image" Target="../media/image208.svg"/><Relationship Id="rId28" Type="http://schemas.openxmlformats.org/officeDocument/2006/relationships/image" Target="../media/image213.png"/><Relationship Id="rId49" Type="http://schemas.openxmlformats.org/officeDocument/2006/relationships/image" Target="../media/image234.svg"/><Relationship Id="rId114" Type="http://schemas.openxmlformats.org/officeDocument/2006/relationships/image" Target="../media/image295.png"/><Relationship Id="rId10" Type="http://schemas.openxmlformats.org/officeDocument/2006/relationships/image" Target="../media/image197.png"/><Relationship Id="rId31" Type="http://schemas.openxmlformats.org/officeDocument/2006/relationships/image" Target="../media/image216.svg"/><Relationship Id="rId44" Type="http://schemas.openxmlformats.org/officeDocument/2006/relationships/image" Target="../media/image229.png"/><Relationship Id="rId52" Type="http://schemas.openxmlformats.org/officeDocument/2006/relationships/image" Target="../media/image237.png"/><Relationship Id="rId60" Type="http://schemas.openxmlformats.org/officeDocument/2006/relationships/image" Target="../media/image245.png"/><Relationship Id="rId65" Type="http://schemas.openxmlformats.org/officeDocument/2006/relationships/image" Target="../media/image249.svg"/><Relationship Id="rId73" Type="http://schemas.openxmlformats.org/officeDocument/2006/relationships/image" Target="../media/image257.svg"/><Relationship Id="rId78" Type="http://schemas.openxmlformats.org/officeDocument/2006/relationships/image" Target="../media/image262.png"/><Relationship Id="rId81" Type="http://schemas.openxmlformats.org/officeDocument/2006/relationships/image" Target="../media/image265.svg"/><Relationship Id="rId86" Type="http://schemas.openxmlformats.org/officeDocument/2006/relationships/image" Target="../media/image45.png"/><Relationship Id="rId94" Type="http://schemas.openxmlformats.org/officeDocument/2006/relationships/image" Target="../media/image284.png"/><Relationship Id="rId99" Type="http://schemas.openxmlformats.org/officeDocument/2006/relationships/image" Target="../media/image289.svg"/><Relationship Id="rId101" Type="http://schemas.openxmlformats.org/officeDocument/2006/relationships/image" Target="../media/image291.svg"/><Relationship Id="rId4" Type="http://schemas.openxmlformats.org/officeDocument/2006/relationships/image" Target="../media/image191.png"/><Relationship Id="rId9" Type="http://schemas.openxmlformats.org/officeDocument/2006/relationships/image" Target="../media/image196.svg"/><Relationship Id="rId13" Type="http://schemas.openxmlformats.org/officeDocument/2006/relationships/image" Target="../media/image200.svg"/><Relationship Id="rId18" Type="http://schemas.openxmlformats.org/officeDocument/2006/relationships/image" Target="../media/image203.png"/><Relationship Id="rId39" Type="http://schemas.openxmlformats.org/officeDocument/2006/relationships/image" Target="../media/image224.svg"/><Relationship Id="rId109" Type="http://schemas.openxmlformats.org/officeDocument/2006/relationships/image" Target="../media/image275.svg"/><Relationship Id="rId34" Type="http://schemas.openxmlformats.org/officeDocument/2006/relationships/image" Target="../media/image219.png"/><Relationship Id="rId50" Type="http://schemas.openxmlformats.org/officeDocument/2006/relationships/image" Target="../media/image235.png"/><Relationship Id="rId55" Type="http://schemas.openxmlformats.org/officeDocument/2006/relationships/image" Target="../media/image240.svg"/><Relationship Id="rId76" Type="http://schemas.openxmlformats.org/officeDocument/2006/relationships/image" Target="../media/image260.png"/><Relationship Id="rId97" Type="http://schemas.openxmlformats.org/officeDocument/2006/relationships/image" Target="../media/image287.svg"/><Relationship Id="rId104" Type="http://schemas.openxmlformats.org/officeDocument/2006/relationships/image" Target="../media/image270.png"/><Relationship Id="rId7" Type="http://schemas.openxmlformats.org/officeDocument/2006/relationships/image" Target="../media/image194.svg"/><Relationship Id="rId71" Type="http://schemas.openxmlformats.org/officeDocument/2006/relationships/image" Target="../media/image255.svg"/><Relationship Id="rId92" Type="http://schemas.openxmlformats.org/officeDocument/2006/relationships/image" Target="../media/image282.png"/><Relationship Id="rId2" Type="http://schemas.openxmlformats.org/officeDocument/2006/relationships/image" Target="../media/image13.png"/><Relationship Id="rId29" Type="http://schemas.openxmlformats.org/officeDocument/2006/relationships/image" Target="../media/image214.svg"/><Relationship Id="rId24" Type="http://schemas.openxmlformats.org/officeDocument/2006/relationships/image" Target="../media/image209.png"/><Relationship Id="rId40" Type="http://schemas.openxmlformats.org/officeDocument/2006/relationships/image" Target="../media/image225.png"/><Relationship Id="rId45" Type="http://schemas.openxmlformats.org/officeDocument/2006/relationships/image" Target="../media/image230.svg"/><Relationship Id="rId66" Type="http://schemas.openxmlformats.org/officeDocument/2006/relationships/image" Target="../media/image250.png"/><Relationship Id="rId87" Type="http://schemas.openxmlformats.org/officeDocument/2006/relationships/image" Target="../media/image46.svg"/><Relationship Id="rId110" Type="http://schemas.openxmlformats.org/officeDocument/2006/relationships/image" Target="../media/image153.png"/><Relationship Id="rId115" Type="http://schemas.openxmlformats.org/officeDocument/2006/relationships/image" Target="../media/image296.svg"/><Relationship Id="rId61" Type="http://schemas.openxmlformats.org/officeDocument/2006/relationships/image" Target="../media/image246.svg"/><Relationship Id="rId82" Type="http://schemas.openxmlformats.org/officeDocument/2006/relationships/image" Target="../media/image266.png"/><Relationship Id="rId19" Type="http://schemas.openxmlformats.org/officeDocument/2006/relationships/image" Target="../media/image204.svg"/><Relationship Id="rId14" Type="http://schemas.openxmlformats.org/officeDocument/2006/relationships/image" Target="../media/image201.png"/><Relationship Id="rId30" Type="http://schemas.openxmlformats.org/officeDocument/2006/relationships/image" Target="../media/image215.png"/><Relationship Id="rId35" Type="http://schemas.openxmlformats.org/officeDocument/2006/relationships/image" Target="../media/image220.svg"/><Relationship Id="rId56" Type="http://schemas.openxmlformats.org/officeDocument/2006/relationships/image" Target="../media/image241.png"/><Relationship Id="rId77" Type="http://schemas.openxmlformats.org/officeDocument/2006/relationships/image" Target="../media/image261.svg"/><Relationship Id="rId100" Type="http://schemas.openxmlformats.org/officeDocument/2006/relationships/image" Target="../media/image290.png"/><Relationship Id="rId105" Type="http://schemas.openxmlformats.org/officeDocument/2006/relationships/image" Target="../media/image271.svg"/><Relationship Id="rId8" Type="http://schemas.openxmlformats.org/officeDocument/2006/relationships/image" Target="../media/image195.png"/><Relationship Id="rId51" Type="http://schemas.openxmlformats.org/officeDocument/2006/relationships/image" Target="../media/image236.svg"/><Relationship Id="rId72" Type="http://schemas.openxmlformats.org/officeDocument/2006/relationships/image" Target="../media/image256.png"/><Relationship Id="rId93" Type="http://schemas.openxmlformats.org/officeDocument/2006/relationships/image" Target="../media/image283.svg"/><Relationship Id="rId98" Type="http://schemas.openxmlformats.org/officeDocument/2006/relationships/image" Target="../media/image288.png"/><Relationship Id="rId3" Type="http://schemas.openxmlformats.org/officeDocument/2006/relationships/image" Target="../media/image14.svg"/><Relationship Id="rId25" Type="http://schemas.openxmlformats.org/officeDocument/2006/relationships/image" Target="../media/image210.svg"/><Relationship Id="rId46" Type="http://schemas.openxmlformats.org/officeDocument/2006/relationships/image" Target="../media/image231.png"/><Relationship Id="rId67" Type="http://schemas.openxmlformats.org/officeDocument/2006/relationships/image" Target="../media/image251.svg"/><Relationship Id="rId116" Type="http://schemas.openxmlformats.org/officeDocument/2006/relationships/image" Target="../media/image297.png"/><Relationship Id="rId20" Type="http://schemas.openxmlformats.org/officeDocument/2006/relationships/image" Target="../media/image205.png"/><Relationship Id="rId41" Type="http://schemas.openxmlformats.org/officeDocument/2006/relationships/image" Target="../media/image226.svg"/><Relationship Id="rId62" Type="http://schemas.openxmlformats.org/officeDocument/2006/relationships/image" Target="../media/image51.png"/><Relationship Id="rId83" Type="http://schemas.openxmlformats.org/officeDocument/2006/relationships/image" Target="../media/image267.svg"/><Relationship Id="rId88" Type="http://schemas.openxmlformats.org/officeDocument/2006/relationships/image" Target="../media/image278.png"/><Relationship Id="rId111" Type="http://schemas.openxmlformats.org/officeDocument/2006/relationships/image" Target="../media/image292.svg"/><Relationship Id="rId15" Type="http://schemas.openxmlformats.org/officeDocument/2006/relationships/image" Target="../media/image202.svg"/><Relationship Id="rId36" Type="http://schemas.openxmlformats.org/officeDocument/2006/relationships/image" Target="../media/image221.png"/><Relationship Id="rId57" Type="http://schemas.openxmlformats.org/officeDocument/2006/relationships/image" Target="../media/image242.svg"/><Relationship Id="rId106" Type="http://schemas.openxmlformats.org/officeDocument/2006/relationships/image" Target="../media/image272.png"/></Relationships>
</file>

<file path=ppt/slides/_rels/slide125.xml.rels><?xml version="1.0" encoding="UTF-8" standalone="yes"?>
<Relationships xmlns="http://schemas.openxmlformats.org/package/2006/relationships"><Relationship Id="rId26" Type="http://schemas.openxmlformats.org/officeDocument/2006/relationships/image" Target="../media/image211.png"/><Relationship Id="rId117" Type="http://schemas.openxmlformats.org/officeDocument/2006/relationships/image" Target="../media/image298.svg"/><Relationship Id="rId21" Type="http://schemas.openxmlformats.org/officeDocument/2006/relationships/image" Target="../media/image206.svg"/><Relationship Id="rId42" Type="http://schemas.openxmlformats.org/officeDocument/2006/relationships/image" Target="../media/image227.png"/><Relationship Id="rId47" Type="http://schemas.openxmlformats.org/officeDocument/2006/relationships/image" Target="../media/image232.svg"/><Relationship Id="rId63" Type="http://schemas.openxmlformats.org/officeDocument/2006/relationships/image" Target="../media/image247.svg"/><Relationship Id="rId68" Type="http://schemas.openxmlformats.org/officeDocument/2006/relationships/image" Target="../media/image252.png"/><Relationship Id="rId84" Type="http://schemas.openxmlformats.org/officeDocument/2006/relationships/image" Target="../media/image276.png"/><Relationship Id="rId89" Type="http://schemas.openxmlformats.org/officeDocument/2006/relationships/image" Target="../media/image279.svg"/><Relationship Id="rId112" Type="http://schemas.openxmlformats.org/officeDocument/2006/relationships/image" Target="../media/image293.png"/><Relationship Id="rId16" Type="http://schemas.openxmlformats.org/officeDocument/2006/relationships/image" Target="../media/image299.png"/><Relationship Id="rId107" Type="http://schemas.openxmlformats.org/officeDocument/2006/relationships/image" Target="../media/image273.svg"/><Relationship Id="rId11" Type="http://schemas.openxmlformats.org/officeDocument/2006/relationships/image" Target="../media/image198.svg"/><Relationship Id="rId32" Type="http://schemas.openxmlformats.org/officeDocument/2006/relationships/image" Target="../media/image217.png"/><Relationship Id="rId37" Type="http://schemas.openxmlformats.org/officeDocument/2006/relationships/image" Target="../media/image222.svg"/><Relationship Id="rId53" Type="http://schemas.openxmlformats.org/officeDocument/2006/relationships/image" Target="../media/image238.svg"/><Relationship Id="rId58" Type="http://schemas.openxmlformats.org/officeDocument/2006/relationships/image" Target="../media/image243.png"/><Relationship Id="rId74" Type="http://schemas.openxmlformats.org/officeDocument/2006/relationships/image" Target="../media/image258.png"/><Relationship Id="rId79" Type="http://schemas.openxmlformats.org/officeDocument/2006/relationships/image" Target="../media/image263.svg"/><Relationship Id="rId102" Type="http://schemas.openxmlformats.org/officeDocument/2006/relationships/image" Target="../media/image268.png"/><Relationship Id="rId5" Type="http://schemas.openxmlformats.org/officeDocument/2006/relationships/image" Target="../media/image192.svg"/><Relationship Id="rId90" Type="http://schemas.openxmlformats.org/officeDocument/2006/relationships/image" Target="../media/image280.png"/><Relationship Id="rId95" Type="http://schemas.openxmlformats.org/officeDocument/2006/relationships/image" Target="../media/image285.svg"/><Relationship Id="rId22" Type="http://schemas.openxmlformats.org/officeDocument/2006/relationships/image" Target="../media/image207.png"/><Relationship Id="rId27" Type="http://schemas.openxmlformats.org/officeDocument/2006/relationships/image" Target="../media/image212.svg"/><Relationship Id="rId43" Type="http://schemas.openxmlformats.org/officeDocument/2006/relationships/image" Target="../media/image228.svg"/><Relationship Id="rId48" Type="http://schemas.openxmlformats.org/officeDocument/2006/relationships/image" Target="../media/image233.png"/><Relationship Id="rId64" Type="http://schemas.openxmlformats.org/officeDocument/2006/relationships/image" Target="../media/image248.png"/><Relationship Id="rId69" Type="http://schemas.openxmlformats.org/officeDocument/2006/relationships/image" Target="../media/image253.svg"/><Relationship Id="rId113" Type="http://schemas.openxmlformats.org/officeDocument/2006/relationships/image" Target="../media/image294.svg"/><Relationship Id="rId80" Type="http://schemas.openxmlformats.org/officeDocument/2006/relationships/image" Target="../media/image264.png"/><Relationship Id="rId85" Type="http://schemas.openxmlformats.org/officeDocument/2006/relationships/image" Target="../media/image277.svg"/><Relationship Id="rId12" Type="http://schemas.openxmlformats.org/officeDocument/2006/relationships/image" Target="../media/image199.png"/><Relationship Id="rId17" Type="http://schemas.openxmlformats.org/officeDocument/2006/relationships/image" Target="../media/image300.svg"/><Relationship Id="rId33" Type="http://schemas.openxmlformats.org/officeDocument/2006/relationships/image" Target="../media/image218.svg"/><Relationship Id="rId38" Type="http://schemas.openxmlformats.org/officeDocument/2006/relationships/image" Target="../media/image223.png"/><Relationship Id="rId59" Type="http://schemas.openxmlformats.org/officeDocument/2006/relationships/image" Target="../media/image244.svg"/><Relationship Id="rId103" Type="http://schemas.openxmlformats.org/officeDocument/2006/relationships/image" Target="../media/image269.svg"/><Relationship Id="rId108" Type="http://schemas.openxmlformats.org/officeDocument/2006/relationships/image" Target="../media/image274.png"/><Relationship Id="rId54" Type="http://schemas.openxmlformats.org/officeDocument/2006/relationships/image" Target="../media/image239.png"/><Relationship Id="rId70" Type="http://schemas.openxmlformats.org/officeDocument/2006/relationships/image" Target="../media/image254.png"/><Relationship Id="rId75" Type="http://schemas.openxmlformats.org/officeDocument/2006/relationships/image" Target="../media/image259.svg"/><Relationship Id="rId91" Type="http://schemas.openxmlformats.org/officeDocument/2006/relationships/image" Target="../media/image281.svg"/><Relationship Id="rId96" Type="http://schemas.openxmlformats.org/officeDocument/2006/relationships/image" Target="../media/image286.png"/><Relationship Id="rId1" Type="http://schemas.openxmlformats.org/officeDocument/2006/relationships/slideLayout" Target="../slideLayouts/slideLayout2.xml"/><Relationship Id="rId6" Type="http://schemas.openxmlformats.org/officeDocument/2006/relationships/image" Target="../media/image193.png"/><Relationship Id="rId23" Type="http://schemas.openxmlformats.org/officeDocument/2006/relationships/image" Target="../media/image208.svg"/><Relationship Id="rId28" Type="http://schemas.openxmlformats.org/officeDocument/2006/relationships/image" Target="../media/image213.png"/><Relationship Id="rId49" Type="http://schemas.openxmlformats.org/officeDocument/2006/relationships/image" Target="../media/image234.svg"/><Relationship Id="rId114" Type="http://schemas.openxmlformats.org/officeDocument/2006/relationships/image" Target="../media/image295.png"/><Relationship Id="rId10" Type="http://schemas.openxmlformats.org/officeDocument/2006/relationships/image" Target="../media/image197.png"/><Relationship Id="rId31" Type="http://schemas.openxmlformats.org/officeDocument/2006/relationships/image" Target="../media/image216.svg"/><Relationship Id="rId44" Type="http://schemas.openxmlformats.org/officeDocument/2006/relationships/image" Target="../media/image229.png"/><Relationship Id="rId52" Type="http://schemas.openxmlformats.org/officeDocument/2006/relationships/image" Target="../media/image237.png"/><Relationship Id="rId60" Type="http://schemas.openxmlformats.org/officeDocument/2006/relationships/image" Target="../media/image245.png"/><Relationship Id="rId65" Type="http://schemas.openxmlformats.org/officeDocument/2006/relationships/image" Target="../media/image249.svg"/><Relationship Id="rId73" Type="http://schemas.openxmlformats.org/officeDocument/2006/relationships/image" Target="../media/image257.svg"/><Relationship Id="rId78" Type="http://schemas.openxmlformats.org/officeDocument/2006/relationships/image" Target="../media/image262.png"/><Relationship Id="rId81" Type="http://schemas.openxmlformats.org/officeDocument/2006/relationships/image" Target="../media/image265.svg"/><Relationship Id="rId86" Type="http://schemas.openxmlformats.org/officeDocument/2006/relationships/image" Target="../media/image45.png"/><Relationship Id="rId94" Type="http://schemas.openxmlformats.org/officeDocument/2006/relationships/image" Target="../media/image284.png"/><Relationship Id="rId99" Type="http://schemas.openxmlformats.org/officeDocument/2006/relationships/image" Target="../media/image289.svg"/><Relationship Id="rId101" Type="http://schemas.openxmlformats.org/officeDocument/2006/relationships/image" Target="../media/image291.svg"/><Relationship Id="rId4" Type="http://schemas.openxmlformats.org/officeDocument/2006/relationships/image" Target="../media/image191.png"/><Relationship Id="rId9" Type="http://schemas.openxmlformats.org/officeDocument/2006/relationships/image" Target="../media/image196.svg"/><Relationship Id="rId13" Type="http://schemas.openxmlformats.org/officeDocument/2006/relationships/image" Target="../media/image200.svg"/><Relationship Id="rId18" Type="http://schemas.openxmlformats.org/officeDocument/2006/relationships/image" Target="../media/image203.png"/><Relationship Id="rId39" Type="http://schemas.openxmlformats.org/officeDocument/2006/relationships/image" Target="../media/image224.svg"/><Relationship Id="rId109" Type="http://schemas.openxmlformats.org/officeDocument/2006/relationships/image" Target="../media/image275.svg"/><Relationship Id="rId34" Type="http://schemas.openxmlformats.org/officeDocument/2006/relationships/image" Target="../media/image219.png"/><Relationship Id="rId50" Type="http://schemas.openxmlformats.org/officeDocument/2006/relationships/image" Target="../media/image235.png"/><Relationship Id="rId55" Type="http://schemas.openxmlformats.org/officeDocument/2006/relationships/image" Target="../media/image240.svg"/><Relationship Id="rId76" Type="http://schemas.openxmlformats.org/officeDocument/2006/relationships/image" Target="../media/image260.png"/><Relationship Id="rId97" Type="http://schemas.openxmlformats.org/officeDocument/2006/relationships/image" Target="../media/image287.svg"/><Relationship Id="rId104" Type="http://schemas.openxmlformats.org/officeDocument/2006/relationships/image" Target="../media/image270.png"/><Relationship Id="rId7" Type="http://schemas.openxmlformats.org/officeDocument/2006/relationships/image" Target="../media/image194.svg"/><Relationship Id="rId71" Type="http://schemas.openxmlformats.org/officeDocument/2006/relationships/image" Target="../media/image255.svg"/><Relationship Id="rId92" Type="http://schemas.openxmlformats.org/officeDocument/2006/relationships/image" Target="../media/image282.png"/><Relationship Id="rId2" Type="http://schemas.openxmlformats.org/officeDocument/2006/relationships/image" Target="../media/image13.png"/><Relationship Id="rId29" Type="http://schemas.openxmlformats.org/officeDocument/2006/relationships/image" Target="../media/image214.svg"/><Relationship Id="rId24" Type="http://schemas.openxmlformats.org/officeDocument/2006/relationships/image" Target="../media/image209.png"/><Relationship Id="rId40" Type="http://schemas.openxmlformats.org/officeDocument/2006/relationships/image" Target="../media/image225.png"/><Relationship Id="rId45" Type="http://schemas.openxmlformats.org/officeDocument/2006/relationships/image" Target="../media/image230.svg"/><Relationship Id="rId66" Type="http://schemas.openxmlformats.org/officeDocument/2006/relationships/image" Target="../media/image250.png"/><Relationship Id="rId87" Type="http://schemas.openxmlformats.org/officeDocument/2006/relationships/image" Target="../media/image46.svg"/><Relationship Id="rId110" Type="http://schemas.openxmlformats.org/officeDocument/2006/relationships/image" Target="../media/image153.png"/><Relationship Id="rId115" Type="http://schemas.openxmlformats.org/officeDocument/2006/relationships/image" Target="../media/image296.svg"/><Relationship Id="rId61" Type="http://schemas.openxmlformats.org/officeDocument/2006/relationships/image" Target="../media/image246.svg"/><Relationship Id="rId82" Type="http://schemas.openxmlformats.org/officeDocument/2006/relationships/image" Target="../media/image266.png"/><Relationship Id="rId19" Type="http://schemas.openxmlformats.org/officeDocument/2006/relationships/image" Target="../media/image204.svg"/><Relationship Id="rId14" Type="http://schemas.openxmlformats.org/officeDocument/2006/relationships/image" Target="../media/image201.png"/><Relationship Id="rId30" Type="http://schemas.openxmlformats.org/officeDocument/2006/relationships/image" Target="../media/image215.png"/><Relationship Id="rId35" Type="http://schemas.openxmlformats.org/officeDocument/2006/relationships/image" Target="../media/image220.svg"/><Relationship Id="rId56" Type="http://schemas.openxmlformats.org/officeDocument/2006/relationships/image" Target="../media/image241.png"/><Relationship Id="rId77" Type="http://schemas.openxmlformats.org/officeDocument/2006/relationships/image" Target="../media/image261.svg"/><Relationship Id="rId100" Type="http://schemas.openxmlformats.org/officeDocument/2006/relationships/image" Target="../media/image290.png"/><Relationship Id="rId105" Type="http://schemas.openxmlformats.org/officeDocument/2006/relationships/image" Target="../media/image271.svg"/><Relationship Id="rId8" Type="http://schemas.openxmlformats.org/officeDocument/2006/relationships/image" Target="../media/image195.png"/><Relationship Id="rId51" Type="http://schemas.openxmlformats.org/officeDocument/2006/relationships/image" Target="../media/image236.svg"/><Relationship Id="rId72" Type="http://schemas.openxmlformats.org/officeDocument/2006/relationships/image" Target="../media/image256.png"/><Relationship Id="rId93" Type="http://schemas.openxmlformats.org/officeDocument/2006/relationships/image" Target="../media/image283.svg"/><Relationship Id="rId98" Type="http://schemas.openxmlformats.org/officeDocument/2006/relationships/image" Target="../media/image288.png"/><Relationship Id="rId3" Type="http://schemas.openxmlformats.org/officeDocument/2006/relationships/image" Target="../media/image14.svg"/><Relationship Id="rId25" Type="http://schemas.openxmlformats.org/officeDocument/2006/relationships/image" Target="../media/image210.svg"/><Relationship Id="rId46" Type="http://schemas.openxmlformats.org/officeDocument/2006/relationships/image" Target="../media/image231.png"/><Relationship Id="rId67" Type="http://schemas.openxmlformats.org/officeDocument/2006/relationships/image" Target="../media/image251.svg"/><Relationship Id="rId116" Type="http://schemas.openxmlformats.org/officeDocument/2006/relationships/image" Target="../media/image297.png"/><Relationship Id="rId20" Type="http://schemas.openxmlformats.org/officeDocument/2006/relationships/image" Target="../media/image205.png"/><Relationship Id="rId41" Type="http://schemas.openxmlformats.org/officeDocument/2006/relationships/image" Target="../media/image226.svg"/><Relationship Id="rId62" Type="http://schemas.openxmlformats.org/officeDocument/2006/relationships/image" Target="../media/image51.png"/><Relationship Id="rId83" Type="http://schemas.openxmlformats.org/officeDocument/2006/relationships/image" Target="../media/image267.svg"/><Relationship Id="rId88" Type="http://schemas.openxmlformats.org/officeDocument/2006/relationships/image" Target="../media/image278.png"/><Relationship Id="rId111" Type="http://schemas.openxmlformats.org/officeDocument/2006/relationships/image" Target="../media/image292.svg"/><Relationship Id="rId15" Type="http://schemas.openxmlformats.org/officeDocument/2006/relationships/image" Target="../media/image202.svg"/><Relationship Id="rId36" Type="http://schemas.openxmlformats.org/officeDocument/2006/relationships/image" Target="../media/image221.png"/><Relationship Id="rId57" Type="http://schemas.openxmlformats.org/officeDocument/2006/relationships/image" Target="../media/image242.svg"/><Relationship Id="rId106" Type="http://schemas.openxmlformats.org/officeDocument/2006/relationships/image" Target="../media/image272.png"/></Relationships>
</file>

<file path=ppt/slides/_rels/slide126.xml.rels><?xml version="1.0" encoding="UTF-8" standalone="yes"?>
<Relationships xmlns="http://schemas.openxmlformats.org/package/2006/relationships"><Relationship Id="rId8" Type="http://schemas.openxmlformats.org/officeDocument/2006/relationships/image" Target="../media/image350.png"/><Relationship Id="rId13" Type="http://schemas.openxmlformats.org/officeDocument/2006/relationships/image" Target="../media/image355.svg"/><Relationship Id="rId18" Type="http://schemas.openxmlformats.org/officeDocument/2006/relationships/image" Target="../media/image310.jpg"/><Relationship Id="rId26" Type="http://schemas.openxmlformats.org/officeDocument/2006/relationships/image" Target="../media/image318.jpg"/><Relationship Id="rId3" Type="http://schemas.openxmlformats.org/officeDocument/2006/relationships/image" Target="../media/image16.svg"/><Relationship Id="rId21" Type="http://schemas.openxmlformats.org/officeDocument/2006/relationships/image" Target="../media/image313.jpg"/><Relationship Id="rId7" Type="http://schemas.openxmlformats.org/officeDocument/2006/relationships/image" Target="../media/image349.svg"/><Relationship Id="rId12" Type="http://schemas.openxmlformats.org/officeDocument/2006/relationships/image" Target="../media/image354.png"/><Relationship Id="rId17" Type="http://schemas.openxmlformats.org/officeDocument/2006/relationships/image" Target="../media/image359.svg"/><Relationship Id="rId25" Type="http://schemas.openxmlformats.org/officeDocument/2006/relationships/image" Target="../media/image317.jpg"/><Relationship Id="rId2" Type="http://schemas.openxmlformats.org/officeDocument/2006/relationships/image" Target="../media/image15.png"/><Relationship Id="rId16" Type="http://schemas.openxmlformats.org/officeDocument/2006/relationships/image" Target="../media/image358.png"/><Relationship Id="rId20" Type="http://schemas.openxmlformats.org/officeDocument/2006/relationships/image" Target="../media/image312.jpg"/><Relationship Id="rId1" Type="http://schemas.openxmlformats.org/officeDocument/2006/relationships/slideLayout" Target="../slideLayouts/slideLayout2.xml"/><Relationship Id="rId6" Type="http://schemas.openxmlformats.org/officeDocument/2006/relationships/image" Target="../media/image348.png"/><Relationship Id="rId11" Type="http://schemas.openxmlformats.org/officeDocument/2006/relationships/image" Target="../media/image353.svg"/><Relationship Id="rId24" Type="http://schemas.openxmlformats.org/officeDocument/2006/relationships/image" Target="../media/image316.jpg"/><Relationship Id="rId5" Type="http://schemas.openxmlformats.org/officeDocument/2006/relationships/image" Target="../media/image347.svg"/><Relationship Id="rId15" Type="http://schemas.openxmlformats.org/officeDocument/2006/relationships/image" Target="../media/image357.svg"/><Relationship Id="rId23" Type="http://schemas.openxmlformats.org/officeDocument/2006/relationships/image" Target="../media/image315.jpg"/><Relationship Id="rId10" Type="http://schemas.openxmlformats.org/officeDocument/2006/relationships/image" Target="../media/image352.png"/><Relationship Id="rId19" Type="http://schemas.openxmlformats.org/officeDocument/2006/relationships/image" Target="../media/image311.jpg"/><Relationship Id="rId4" Type="http://schemas.openxmlformats.org/officeDocument/2006/relationships/image" Target="../media/image346.png"/><Relationship Id="rId9" Type="http://schemas.openxmlformats.org/officeDocument/2006/relationships/image" Target="../media/image351.svg"/><Relationship Id="rId14" Type="http://schemas.openxmlformats.org/officeDocument/2006/relationships/image" Target="../media/image356.png"/><Relationship Id="rId22" Type="http://schemas.openxmlformats.org/officeDocument/2006/relationships/image" Target="../media/image314.jpg"/></Relationships>
</file>

<file path=ppt/slides/_rels/slide127.xml.rels><?xml version="1.0" encoding="UTF-8" standalone="yes"?>
<Relationships xmlns="http://schemas.openxmlformats.org/package/2006/relationships"><Relationship Id="rId8" Type="http://schemas.openxmlformats.org/officeDocument/2006/relationships/image" Target="../media/image316.jpg"/><Relationship Id="rId13" Type="http://schemas.openxmlformats.org/officeDocument/2006/relationships/image" Target="../media/image346.png"/><Relationship Id="rId18" Type="http://schemas.openxmlformats.org/officeDocument/2006/relationships/image" Target="../media/image351.svg"/><Relationship Id="rId26" Type="http://schemas.openxmlformats.org/officeDocument/2006/relationships/image" Target="../media/image359.svg"/><Relationship Id="rId3" Type="http://schemas.openxmlformats.org/officeDocument/2006/relationships/image" Target="../media/image311.jpg"/><Relationship Id="rId21" Type="http://schemas.openxmlformats.org/officeDocument/2006/relationships/image" Target="../media/image354.png"/><Relationship Id="rId7" Type="http://schemas.openxmlformats.org/officeDocument/2006/relationships/image" Target="../media/image315.jpg"/><Relationship Id="rId12" Type="http://schemas.openxmlformats.org/officeDocument/2006/relationships/image" Target="../media/image16.svg"/><Relationship Id="rId17" Type="http://schemas.openxmlformats.org/officeDocument/2006/relationships/image" Target="../media/image350.png"/><Relationship Id="rId25" Type="http://schemas.openxmlformats.org/officeDocument/2006/relationships/image" Target="../media/image358.png"/><Relationship Id="rId2" Type="http://schemas.openxmlformats.org/officeDocument/2006/relationships/image" Target="../media/image310.jpg"/><Relationship Id="rId16" Type="http://schemas.openxmlformats.org/officeDocument/2006/relationships/image" Target="../media/image349.svg"/><Relationship Id="rId20" Type="http://schemas.openxmlformats.org/officeDocument/2006/relationships/image" Target="../media/image353.svg"/><Relationship Id="rId1" Type="http://schemas.openxmlformats.org/officeDocument/2006/relationships/slideLayout" Target="../slideLayouts/slideLayout2.xml"/><Relationship Id="rId6" Type="http://schemas.openxmlformats.org/officeDocument/2006/relationships/image" Target="../media/image314.jpg"/><Relationship Id="rId11" Type="http://schemas.openxmlformats.org/officeDocument/2006/relationships/image" Target="../media/image15.png"/><Relationship Id="rId24" Type="http://schemas.openxmlformats.org/officeDocument/2006/relationships/image" Target="../media/image357.svg"/><Relationship Id="rId5" Type="http://schemas.openxmlformats.org/officeDocument/2006/relationships/image" Target="../media/image313.jpg"/><Relationship Id="rId15" Type="http://schemas.openxmlformats.org/officeDocument/2006/relationships/image" Target="../media/image348.png"/><Relationship Id="rId23" Type="http://schemas.openxmlformats.org/officeDocument/2006/relationships/image" Target="../media/image356.png"/><Relationship Id="rId10" Type="http://schemas.openxmlformats.org/officeDocument/2006/relationships/image" Target="../media/image318.jpg"/><Relationship Id="rId19" Type="http://schemas.openxmlformats.org/officeDocument/2006/relationships/image" Target="../media/image352.png"/><Relationship Id="rId4" Type="http://schemas.openxmlformats.org/officeDocument/2006/relationships/image" Target="../media/image312.jpg"/><Relationship Id="rId9" Type="http://schemas.openxmlformats.org/officeDocument/2006/relationships/image" Target="../media/image317.jpg"/><Relationship Id="rId14" Type="http://schemas.openxmlformats.org/officeDocument/2006/relationships/image" Target="../media/image347.svg"/><Relationship Id="rId22" Type="http://schemas.openxmlformats.org/officeDocument/2006/relationships/image" Target="../media/image355.svg"/></Relationships>
</file>

<file path=ppt/slides/_rels/slide128.xml.rels><?xml version="1.0" encoding="UTF-8" standalone="yes"?>
<Relationships xmlns="http://schemas.openxmlformats.org/package/2006/relationships"><Relationship Id="rId8" Type="http://schemas.openxmlformats.org/officeDocument/2006/relationships/image" Target="../media/image169.png"/><Relationship Id="rId13" Type="http://schemas.openxmlformats.org/officeDocument/2006/relationships/image" Target="../media/image162.svg"/><Relationship Id="rId18" Type="http://schemas.openxmlformats.org/officeDocument/2006/relationships/image" Target="../media/image13.png"/><Relationship Id="rId3" Type="http://schemas.openxmlformats.org/officeDocument/2006/relationships/image" Target="../media/image18.svg"/><Relationship Id="rId7" Type="http://schemas.openxmlformats.org/officeDocument/2006/relationships/image" Target="../media/image156.svg"/><Relationship Id="rId12" Type="http://schemas.openxmlformats.org/officeDocument/2006/relationships/image" Target="../media/image161.png"/><Relationship Id="rId17" Type="http://schemas.openxmlformats.org/officeDocument/2006/relationships/image" Target="../media/image168.svg"/><Relationship Id="rId2" Type="http://schemas.openxmlformats.org/officeDocument/2006/relationships/image" Target="../media/image17.png"/><Relationship Id="rId16" Type="http://schemas.openxmlformats.org/officeDocument/2006/relationships/image" Target="../media/image167.png"/><Relationship Id="rId1" Type="http://schemas.openxmlformats.org/officeDocument/2006/relationships/slideLayout" Target="../slideLayouts/slideLayout2.xml"/><Relationship Id="rId6" Type="http://schemas.openxmlformats.org/officeDocument/2006/relationships/image" Target="../media/image155.png"/><Relationship Id="rId11" Type="http://schemas.openxmlformats.org/officeDocument/2006/relationships/image" Target="../media/image164.svg"/><Relationship Id="rId5" Type="http://schemas.openxmlformats.org/officeDocument/2006/relationships/image" Target="../media/image166.svg"/><Relationship Id="rId15" Type="http://schemas.openxmlformats.org/officeDocument/2006/relationships/image" Target="../media/image158.svg"/><Relationship Id="rId10" Type="http://schemas.openxmlformats.org/officeDocument/2006/relationships/image" Target="../media/image163.png"/><Relationship Id="rId19" Type="http://schemas.openxmlformats.org/officeDocument/2006/relationships/image" Target="../media/image14.svg"/><Relationship Id="rId4" Type="http://schemas.openxmlformats.org/officeDocument/2006/relationships/image" Target="../media/image165.png"/><Relationship Id="rId9" Type="http://schemas.openxmlformats.org/officeDocument/2006/relationships/image" Target="../media/image170.svg"/><Relationship Id="rId14" Type="http://schemas.openxmlformats.org/officeDocument/2006/relationships/image" Target="../media/image157.png"/></Relationships>
</file>

<file path=ppt/slides/_rels/slide129.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18.svg"/><Relationship Id="rId7" Type="http://schemas.openxmlformats.org/officeDocument/2006/relationships/image" Target="../media/image396.svg"/><Relationship Id="rId2" Type="http://schemas.openxmlformats.org/officeDocument/2006/relationships/image" Target="../media/image117.png"/><Relationship Id="rId1" Type="http://schemas.openxmlformats.org/officeDocument/2006/relationships/slideLayout" Target="../slideLayouts/slideLayout2.xml"/><Relationship Id="rId6" Type="http://schemas.openxmlformats.org/officeDocument/2006/relationships/image" Target="../media/image395.png"/><Relationship Id="rId11" Type="http://schemas.openxmlformats.org/officeDocument/2006/relationships/image" Target="../media/image18.svg"/><Relationship Id="rId5" Type="http://schemas.openxmlformats.org/officeDocument/2006/relationships/image" Target="../media/image120.svg"/><Relationship Id="rId10" Type="http://schemas.openxmlformats.org/officeDocument/2006/relationships/image" Target="../media/image17.png"/><Relationship Id="rId4" Type="http://schemas.openxmlformats.org/officeDocument/2006/relationships/image" Target="../media/image119.png"/><Relationship Id="rId9" Type="http://schemas.openxmlformats.org/officeDocument/2006/relationships/image" Target="../media/image14.svg"/></Relationships>
</file>

<file path=ppt/slides/_rels/slide130.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Layout" Target="../slideLayouts/slideLayout2.xml"/><Relationship Id="rId5" Type="http://schemas.openxmlformats.org/officeDocument/2006/relationships/image" Target="../media/image18.svg"/><Relationship Id="rId4" Type="http://schemas.openxmlformats.org/officeDocument/2006/relationships/image" Target="../media/image17.png"/></Relationships>
</file>

<file path=ppt/slides/_rels/slide131.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image" Target="../media/image398.svg"/><Relationship Id="rId7" Type="http://schemas.openxmlformats.org/officeDocument/2006/relationships/image" Target="../media/image402.svg"/><Relationship Id="rId2" Type="http://schemas.openxmlformats.org/officeDocument/2006/relationships/image" Target="../media/image397.png"/><Relationship Id="rId1" Type="http://schemas.openxmlformats.org/officeDocument/2006/relationships/slideLayout" Target="../slideLayouts/slideLayout2.xml"/><Relationship Id="rId6" Type="http://schemas.openxmlformats.org/officeDocument/2006/relationships/image" Target="../media/image401.png"/><Relationship Id="rId5" Type="http://schemas.openxmlformats.org/officeDocument/2006/relationships/image" Target="../media/image400.svg"/><Relationship Id="rId10" Type="http://schemas.openxmlformats.org/officeDocument/2006/relationships/image" Target="../media/image403.svg"/><Relationship Id="rId4" Type="http://schemas.openxmlformats.org/officeDocument/2006/relationships/image" Target="../media/image399.png"/><Relationship Id="rId9" Type="http://schemas.openxmlformats.org/officeDocument/2006/relationships/image" Target="../media/image18.svg"/></Relationships>
</file>

<file path=ppt/slides/_rels/slide132.xml.rels><?xml version="1.0" encoding="UTF-8" standalone="yes"?>
<Relationships xmlns="http://schemas.openxmlformats.org/package/2006/relationships"><Relationship Id="rId8" Type="http://schemas.openxmlformats.org/officeDocument/2006/relationships/image" Target="../media/image397.png"/><Relationship Id="rId3" Type="http://schemas.openxmlformats.org/officeDocument/2006/relationships/image" Target="../media/image18.svg"/><Relationship Id="rId7" Type="http://schemas.openxmlformats.org/officeDocument/2006/relationships/image" Target="../media/image405.svg"/><Relationship Id="rId2"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image" Target="../media/image404.png"/><Relationship Id="rId5" Type="http://schemas.openxmlformats.org/officeDocument/2006/relationships/image" Target="../media/image14.svg"/><Relationship Id="rId4" Type="http://schemas.openxmlformats.org/officeDocument/2006/relationships/image" Target="../media/image13.png"/><Relationship Id="rId9" Type="http://schemas.openxmlformats.org/officeDocument/2006/relationships/image" Target="../media/image398.svg"/></Relationships>
</file>

<file path=ppt/slides/_rels/slide133.xml.rels><?xml version="1.0" encoding="UTF-8" standalone="yes"?>
<Relationships xmlns="http://schemas.openxmlformats.org/package/2006/relationships"><Relationship Id="rId3" Type="http://schemas.openxmlformats.org/officeDocument/2006/relationships/image" Target="../media/image14.svg"/><Relationship Id="rId7"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18.svg"/><Relationship Id="rId4" Type="http://schemas.openxmlformats.org/officeDocument/2006/relationships/image" Target="../media/image17.png"/></Relationships>
</file>

<file path=ppt/slides/_rels/slide134.xml.rels><?xml version="1.0" encoding="UTF-8" standalone="yes"?>
<Relationships xmlns="http://schemas.openxmlformats.org/package/2006/relationships"><Relationship Id="rId3" Type="http://schemas.openxmlformats.org/officeDocument/2006/relationships/image" Target="../media/image14.svg"/><Relationship Id="rId7"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18.svg"/><Relationship Id="rId4" Type="http://schemas.openxmlformats.org/officeDocument/2006/relationships/image" Target="../media/image17.png"/></Relationships>
</file>

<file path=ppt/slides/_rels/slide135.xml.rels><?xml version="1.0" encoding="UTF-8" standalone="yes"?>
<Relationships xmlns="http://schemas.openxmlformats.org/package/2006/relationships"><Relationship Id="rId3" Type="http://schemas.openxmlformats.org/officeDocument/2006/relationships/image" Target="../media/image14.svg"/><Relationship Id="rId7"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18.svg"/><Relationship Id="rId4" Type="http://schemas.openxmlformats.org/officeDocument/2006/relationships/image" Target="../media/image17.png"/></Relationships>
</file>

<file path=ppt/slides/_rels/slide136.xml.rels><?xml version="1.0" encoding="UTF-8" standalone="yes"?>
<Relationships xmlns="http://schemas.openxmlformats.org/package/2006/relationships"><Relationship Id="rId3" Type="http://schemas.openxmlformats.org/officeDocument/2006/relationships/image" Target="../media/image14.svg"/><Relationship Id="rId7"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18.svg"/><Relationship Id="rId4" Type="http://schemas.openxmlformats.org/officeDocument/2006/relationships/image" Target="../media/image17.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3" Type="http://schemas.openxmlformats.org/officeDocument/2006/relationships/image" Target="../media/image407.svg"/><Relationship Id="rId2" Type="http://schemas.openxmlformats.org/officeDocument/2006/relationships/image" Target="../media/image406.png"/><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3" Type="http://schemas.openxmlformats.org/officeDocument/2006/relationships/image" Target="../media/image407.svg"/><Relationship Id="rId2" Type="http://schemas.openxmlformats.org/officeDocument/2006/relationships/image" Target="../media/image406.png"/><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3" Type="http://schemas.openxmlformats.org/officeDocument/2006/relationships/image" Target="../media/image409.svg"/><Relationship Id="rId2" Type="http://schemas.openxmlformats.org/officeDocument/2006/relationships/image" Target="../media/image408.png"/><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3" Type="http://schemas.openxmlformats.org/officeDocument/2006/relationships/image" Target="../media/image14.svg"/><Relationship Id="rId7" Type="http://schemas.openxmlformats.org/officeDocument/2006/relationships/image" Target="../media/image411.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410.png"/><Relationship Id="rId5" Type="http://schemas.openxmlformats.org/officeDocument/2006/relationships/image" Target="../media/image18.svg"/><Relationship Id="rId4" Type="http://schemas.openxmlformats.org/officeDocument/2006/relationships/image" Target="../media/image17.png"/></Relationships>
</file>

<file path=ppt/slides/_rels/slide143.xml.rels><?xml version="1.0" encoding="UTF-8" standalone="yes"?>
<Relationships xmlns="http://schemas.openxmlformats.org/package/2006/relationships"><Relationship Id="rId8" Type="http://schemas.openxmlformats.org/officeDocument/2006/relationships/image" Target="../media/image412.png"/><Relationship Id="rId13" Type="http://schemas.openxmlformats.org/officeDocument/2006/relationships/image" Target="../media/image417.svg"/><Relationship Id="rId3" Type="http://schemas.openxmlformats.org/officeDocument/2006/relationships/image" Target="../media/image14.svg"/><Relationship Id="rId7" Type="http://schemas.openxmlformats.org/officeDocument/2006/relationships/image" Target="../media/image411.svg"/><Relationship Id="rId12" Type="http://schemas.openxmlformats.org/officeDocument/2006/relationships/image" Target="../media/image416.pn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410.png"/><Relationship Id="rId11" Type="http://schemas.openxmlformats.org/officeDocument/2006/relationships/image" Target="../media/image415.svg"/><Relationship Id="rId5" Type="http://schemas.openxmlformats.org/officeDocument/2006/relationships/image" Target="../media/image18.svg"/><Relationship Id="rId10" Type="http://schemas.openxmlformats.org/officeDocument/2006/relationships/image" Target="../media/image414.png"/><Relationship Id="rId4" Type="http://schemas.openxmlformats.org/officeDocument/2006/relationships/image" Target="../media/image17.png"/><Relationship Id="rId9" Type="http://schemas.openxmlformats.org/officeDocument/2006/relationships/image" Target="../media/image413.svg"/></Relationships>
</file>

<file path=ppt/slides/_rels/slide144.xml.rels><?xml version="1.0" encoding="UTF-8" standalone="yes"?>
<Relationships xmlns="http://schemas.openxmlformats.org/package/2006/relationships"><Relationship Id="rId8" Type="http://schemas.openxmlformats.org/officeDocument/2006/relationships/image" Target="../media/image316.jpg"/><Relationship Id="rId3" Type="http://schemas.microsoft.com/office/2007/relationships/hdphoto" Target="../media/hdphoto1.wdp"/><Relationship Id="rId7" Type="http://schemas.openxmlformats.org/officeDocument/2006/relationships/image" Target="../media/image56.svg"/><Relationship Id="rId2" Type="http://schemas.openxmlformats.org/officeDocument/2006/relationships/image" Target="../media/image418.png"/><Relationship Id="rId1" Type="http://schemas.openxmlformats.org/officeDocument/2006/relationships/slideLayout" Target="../slideLayouts/slideLayout2.xml"/><Relationship Id="rId6" Type="http://schemas.openxmlformats.org/officeDocument/2006/relationships/image" Target="../media/image55.png"/><Relationship Id="rId11" Type="http://schemas.openxmlformats.org/officeDocument/2006/relationships/image" Target="../media/image322.svg"/><Relationship Id="rId5" Type="http://schemas.openxmlformats.org/officeDocument/2006/relationships/image" Target="../media/image420.png"/><Relationship Id="rId10" Type="http://schemas.openxmlformats.org/officeDocument/2006/relationships/image" Target="../media/image321.png"/><Relationship Id="rId4" Type="http://schemas.openxmlformats.org/officeDocument/2006/relationships/image" Target="../media/image419.png"/><Relationship Id="rId9" Type="http://schemas.openxmlformats.org/officeDocument/2006/relationships/image" Target="../media/image318.jpg"/></Relationships>
</file>

<file path=ppt/slides/_rels/slide145.xml.rels><?xml version="1.0" encoding="UTF-8" standalone="yes"?>
<Relationships xmlns="http://schemas.openxmlformats.org/package/2006/relationships"><Relationship Id="rId3" Type="http://schemas.openxmlformats.org/officeDocument/2006/relationships/image" Target="../media/image422.svg"/><Relationship Id="rId2" Type="http://schemas.openxmlformats.org/officeDocument/2006/relationships/image" Target="../media/image421.png"/><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6" Type="http://schemas.openxmlformats.org/officeDocument/2006/relationships/image" Target="../media/image439.png"/><Relationship Id="rId21" Type="http://schemas.openxmlformats.org/officeDocument/2006/relationships/image" Target="../media/image436.svg"/><Relationship Id="rId42" Type="http://schemas.openxmlformats.org/officeDocument/2006/relationships/image" Target="../media/image455.png"/><Relationship Id="rId47" Type="http://schemas.openxmlformats.org/officeDocument/2006/relationships/image" Target="../media/image460.svg"/><Relationship Id="rId63" Type="http://schemas.openxmlformats.org/officeDocument/2006/relationships/image" Target="../media/image475.svg"/><Relationship Id="rId68" Type="http://schemas.openxmlformats.org/officeDocument/2006/relationships/image" Target="../media/image311.jpg"/><Relationship Id="rId16" Type="http://schemas.openxmlformats.org/officeDocument/2006/relationships/image" Target="../media/image123.png"/><Relationship Id="rId11" Type="http://schemas.openxmlformats.org/officeDocument/2006/relationships/image" Target="../media/image430.svg"/><Relationship Id="rId32" Type="http://schemas.openxmlformats.org/officeDocument/2006/relationships/image" Target="../media/image445.png"/><Relationship Id="rId37" Type="http://schemas.openxmlformats.org/officeDocument/2006/relationships/image" Target="../media/image450.svg"/><Relationship Id="rId53" Type="http://schemas.openxmlformats.org/officeDocument/2006/relationships/image" Target="../media/image466.svg"/><Relationship Id="rId58" Type="http://schemas.openxmlformats.org/officeDocument/2006/relationships/image" Target="../media/image470.png"/><Relationship Id="rId74" Type="http://schemas.openxmlformats.org/officeDocument/2006/relationships/image" Target="../media/image317.jpg"/><Relationship Id="rId79" Type="http://schemas.openxmlformats.org/officeDocument/2006/relationships/image" Target="../media/image480.svg"/><Relationship Id="rId5" Type="http://schemas.openxmlformats.org/officeDocument/2006/relationships/image" Target="../media/image426.svg"/><Relationship Id="rId61" Type="http://schemas.openxmlformats.org/officeDocument/2006/relationships/image" Target="../media/image473.svg"/><Relationship Id="rId19" Type="http://schemas.openxmlformats.org/officeDocument/2006/relationships/image" Target="../media/image435.svg"/><Relationship Id="rId14" Type="http://schemas.openxmlformats.org/officeDocument/2006/relationships/image" Target="../media/image431.png"/><Relationship Id="rId22" Type="http://schemas.openxmlformats.org/officeDocument/2006/relationships/image" Target="../media/image437.png"/><Relationship Id="rId27" Type="http://schemas.openxmlformats.org/officeDocument/2006/relationships/image" Target="../media/image440.svg"/><Relationship Id="rId30" Type="http://schemas.openxmlformats.org/officeDocument/2006/relationships/image" Target="../media/image443.png"/><Relationship Id="rId35" Type="http://schemas.openxmlformats.org/officeDocument/2006/relationships/image" Target="../media/image448.svg"/><Relationship Id="rId43" Type="http://schemas.openxmlformats.org/officeDocument/2006/relationships/image" Target="../media/image456.svg"/><Relationship Id="rId48" Type="http://schemas.openxmlformats.org/officeDocument/2006/relationships/image" Target="../media/image461.png"/><Relationship Id="rId56" Type="http://schemas.openxmlformats.org/officeDocument/2006/relationships/image" Target="../media/image63.png"/><Relationship Id="rId64" Type="http://schemas.openxmlformats.org/officeDocument/2006/relationships/image" Target="../media/image476.png"/><Relationship Id="rId69" Type="http://schemas.openxmlformats.org/officeDocument/2006/relationships/image" Target="../media/image312.jpg"/><Relationship Id="rId77" Type="http://schemas.openxmlformats.org/officeDocument/2006/relationships/image" Target="../media/image42.svg"/><Relationship Id="rId8" Type="http://schemas.openxmlformats.org/officeDocument/2006/relationships/image" Target="../media/image427.png"/><Relationship Id="rId51" Type="http://schemas.openxmlformats.org/officeDocument/2006/relationships/image" Target="../media/image464.svg"/><Relationship Id="rId72" Type="http://schemas.openxmlformats.org/officeDocument/2006/relationships/image" Target="../media/image315.jpg"/><Relationship Id="rId80" Type="http://schemas.openxmlformats.org/officeDocument/2006/relationships/image" Target="../media/image421.png"/><Relationship Id="rId3" Type="http://schemas.openxmlformats.org/officeDocument/2006/relationships/image" Target="../media/image424.svg"/><Relationship Id="rId12" Type="http://schemas.openxmlformats.org/officeDocument/2006/relationships/image" Target="../media/image274.png"/><Relationship Id="rId17" Type="http://schemas.openxmlformats.org/officeDocument/2006/relationships/image" Target="../media/image433.svg"/><Relationship Id="rId25" Type="http://schemas.openxmlformats.org/officeDocument/2006/relationships/image" Target="../media/image16.svg"/><Relationship Id="rId33" Type="http://schemas.openxmlformats.org/officeDocument/2006/relationships/image" Target="../media/image446.svg"/><Relationship Id="rId38" Type="http://schemas.openxmlformats.org/officeDocument/2006/relationships/image" Target="../media/image451.png"/><Relationship Id="rId46" Type="http://schemas.openxmlformats.org/officeDocument/2006/relationships/image" Target="../media/image459.png"/><Relationship Id="rId59" Type="http://schemas.openxmlformats.org/officeDocument/2006/relationships/image" Target="../media/image471.svg"/><Relationship Id="rId67" Type="http://schemas.openxmlformats.org/officeDocument/2006/relationships/image" Target="../media/image310.jpg"/><Relationship Id="rId20" Type="http://schemas.openxmlformats.org/officeDocument/2006/relationships/image" Target="../media/image209.png"/><Relationship Id="rId41" Type="http://schemas.openxmlformats.org/officeDocument/2006/relationships/image" Target="../media/image454.svg"/><Relationship Id="rId54" Type="http://schemas.openxmlformats.org/officeDocument/2006/relationships/image" Target="../media/image467.png"/><Relationship Id="rId62" Type="http://schemas.openxmlformats.org/officeDocument/2006/relationships/image" Target="../media/image474.png"/><Relationship Id="rId70" Type="http://schemas.openxmlformats.org/officeDocument/2006/relationships/image" Target="../media/image313.jpg"/><Relationship Id="rId75" Type="http://schemas.openxmlformats.org/officeDocument/2006/relationships/image" Target="../media/image318.jpg"/><Relationship Id="rId1" Type="http://schemas.openxmlformats.org/officeDocument/2006/relationships/slideLayout" Target="../slideLayouts/slideLayout2.xml"/><Relationship Id="rId6" Type="http://schemas.openxmlformats.org/officeDocument/2006/relationships/image" Target="../media/image19.png"/><Relationship Id="rId15" Type="http://schemas.openxmlformats.org/officeDocument/2006/relationships/image" Target="../media/image432.svg"/><Relationship Id="rId23" Type="http://schemas.openxmlformats.org/officeDocument/2006/relationships/image" Target="../media/image438.svg"/><Relationship Id="rId28" Type="http://schemas.openxmlformats.org/officeDocument/2006/relationships/image" Target="../media/image441.png"/><Relationship Id="rId36" Type="http://schemas.openxmlformats.org/officeDocument/2006/relationships/image" Target="../media/image449.png"/><Relationship Id="rId49" Type="http://schemas.openxmlformats.org/officeDocument/2006/relationships/image" Target="../media/image462.svg"/><Relationship Id="rId57" Type="http://schemas.openxmlformats.org/officeDocument/2006/relationships/image" Target="../media/image469.svg"/><Relationship Id="rId10" Type="http://schemas.openxmlformats.org/officeDocument/2006/relationships/image" Target="../media/image429.png"/><Relationship Id="rId31" Type="http://schemas.openxmlformats.org/officeDocument/2006/relationships/image" Target="../media/image444.svg"/><Relationship Id="rId44" Type="http://schemas.openxmlformats.org/officeDocument/2006/relationships/image" Target="../media/image457.png"/><Relationship Id="rId52" Type="http://schemas.openxmlformats.org/officeDocument/2006/relationships/image" Target="../media/image465.png"/><Relationship Id="rId60" Type="http://schemas.openxmlformats.org/officeDocument/2006/relationships/image" Target="../media/image472.png"/><Relationship Id="rId65" Type="http://schemas.openxmlformats.org/officeDocument/2006/relationships/image" Target="../media/image477.png"/><Relationship Id="rId73" Type="http://schemas.openxmlformats.org/officeDocument/2006/relationships/image" Target="../media/image316.jpg"/><Relationship Id="rId78" Type="http://schemas.openxmlformats.org/officeDocument/2006/relationships/image" Target="../media/image479.png"/><Relationship Id="rId81" Type="http://schemas.openxmlformats.org/officeDocument/2006/relationships/image" Target="../media/image422.svg"/><Relationship Id="rId4" Type="http://schemas.openxmlformats.org/officeDocument/2006/relationships/image" Target="../media/image425.png"/><Relationship Id="rId9" Type="http://schemas.openxmlformats.org/officeDocument/2006/relationships/image" Target="../media/image428.svg"/><Relationship Id="rId13" Type="http://schemas.openxmlformats.org/officeDocument/2006/relationships/image" Target="../media/image275.svg"/><Relationship Id="rId18" Type="http://schemas.openxmlformats.org/officeDocument/2006/relationships/image" Target="../media/image434.png"/><Relationship Id="rId39" Type="http://schemas.openxmlformats.org/officeDocument/2006/relationships/image" Target="../media/image452.svg"/><Relationship Id="rId34" Type="http://schemas.openxmlformats.org/officeDocument/2006/relationships/image" Target="../media/image447.png"/><Relationship Id="rId50" Type="http://schemas.openxmlformats.org/officeDocument/2006/relationships/image" Target="../media/image463.png"/><Relationship Id="rId55" Type="http://schemas.openxmlformats.org/officeDocument/2006/relationships/image" Target="../media/image468.svg"/><Relationship Id="rId76" Type="http://schemas.openxmlformats.org/officeDocument/2006/relationships/image" Target="../media/image41.png"/><Relationship Id="rId7" Type="http://schemas.openxmlformats.org/officeDocument/2006/relationships/image" Target="../media/image20.svg"/><Relationship Id="rId71" Type="http://schemas.openxmlformats.org/officeDocument/2006/relationships/image" Target="../media/image314.jpg"/><Relationship Id="rId2" Type="http://schemas.openxmlformats.org/officeDocument/2006/relationships/image" Target="../media/image423.png"/><Relationship Id="rId29" Type="http://schemas.openxmlformats.org/officeDocument/2006/relationships/image" Target="../media/image442.svg"/><Relationship Id="rId24" Type="http://schemas.openxmlformats.org/officeDocument/2006/relationships/image" Target="../media/image15.png"/><Relationship Id="rId40" Type="http://schemas.openxmlformats.org/officeDocument/2006/relationships/image" Target="../media/image453.png"/><Relationship Id="rId45" Type="http://schemas.openxmlformats.org/officeDocument/2006/relationships/image" Target="../media/image458.svg"/><Relationship Id="rId66" Type="http://schemas.openxmlformats.org/officeDocument/2006/relationships/image" Target="../media/image478.svg"/></Relationships>
</file>

<file path=ppt/slides/_rels/slide147.xml.rels><?xml version="1.0" encoding="UTF-8" standalone="yes"?>
<Relationships xmlns="http://schemas.openxmlformats.org/package/2006/relationships"><Relationship Id="rId13" Type="http://schemas.openxmlformats.org/officeDocument/2006/relationships/image" Target="../media/image275.svg"/><Relationship Id="rId18" Type="http://schemas.openxmlformats.org/officeDocument/2006/relationships/image" Target="../media/image434.png"/><Relationship Id="rId26" Type="http://schemas.openxmlformats.org/officeDocument/2006/relationships/image" Target="../media/image439.png"/><Relationship Id="rId39" Type="http://schemas.openxmlformats.org/officeDocument/2006/relationships/image" Target="../media/image452.svg"/><Relationship Id="rId21" Type="http://schemas.openxmlformats.org/officeDocument/2006/relationships/image" Target="../media/image436.svg"/><Relationship Id="rId34" Type="http://schemas.openxmlformats.org/officeDocument/2006/relationships/image" Target="../media/image447.png"/><Relationship Id="rId42" Type="http://schemas.openxmlformats.org/officeDocument/2006/relationships/image" Target="../media/image455.png"/><Relationship Id="rId47" Type="http://schemas.openxmlformats.org/officeDocument/2006/relationships/image" Target="../media/image460.svg"/><Relationship Id="rId50" Type="http://schemas.openxmlformats.org/officeDocument/2006/relationships/image" Target="../media/image463.png"/><Relationship Id="rId55" Type="http://schemas.openxmlformats.org/officeDocument/2006/relationships/image" Target="../media/image468.svg"/><Relationship Id="rId7" Type="http://schemas.openxmlformats.org/officeDocument/2006/relationships/image" Target="../media/image20.svg"/><Relationship Id="rId2" Type="http://schemas.openxmlformats.org/officeDocument/2006/relationships/image" Target="../media/image423.png"/><Relationship Id="rId16" Type="http://schemas.openxmlformats.org/officeDocument/2006/relationships/image" Target="../media/image123.png"/><Relationship Id="rId29" Type="http://schemas.openxmlformats.org/officeDocument/2006/relationships/image" Target="../media/image442.svg"/><Relationship Id="rId11" Type="http://schemas.openxmlformats.org/officeDocument/2006/relationships/image" Target="../media/image430.svg"/><Relationship Id="rId24" Type="http://schemas.openxmlformats.org/officeDocument/2006/relationships/image" Target="../media/image15.png"/><Relationship Id="rId32" Type="http://schemas.openxmlformats.org/officeDocument/2006/relationships/image" Target="../media/image445.png"/><Relationship Id="rId37" Type="http://schemas.openxmlformats.org/officeDocument/2006/relationships/image" Target="../media/image450.svg"/><Relationship Id="rId40" Type="http://schemas.openxmlformats.org/officeDocument/2006/relationships/image" Target="../media/image453.png"/><Relationship Id="rId45" Type="http://schemas.openxmlformats.org/officeDocument/2006/relationships/image" Target="../media/image458.svg"/><Relationship Id="rId53" Type="http://schemas.openxmlformats.org/officeDocument/2006/relationships/image" Target="../media/image466.svg"/><Relationship Id="rId58" Type="http://schemas.openxmlformats.org/officeDocument/2006/relationships/image" Target="../media/image421.png"/><Relationship Id="rId5" Type="http://schemas.openxmlformats.org/officeDocument/2006/relationships/image" Target="../media/image426.svg"/><Relationship Id="rId19" Type="http://schemas.openxmlformats.org/officeDocument/2006/relationships/image" Target="../media/image435.svg"/><Relationship Id="rId4" Type="http://schemas.openxmlformats.org/officeDocument/2006/relationships/image" Target="../media/image425.png"/><Relationship Id="rId9" Type="http://schemas.openxmlformats.org/officeDocument/2006/relationships/image" Target="../media/image428.svg"/><Relationship Id="rId14" Type="http://schemas.openxmlformats.org/officeDocument/2006/relationships/image" Target="../media/image431.png"/><Relationship Id="rId22" Type="http://schemas.openxmlformats.org/officeDocument/2006/relationships/image" Target="../media/image437.png"/><Relationship Id="rId27" Type="http://schemas.openxmlformats.org/officeDocument/2006/relationships/image" Target="../media/image440.svg"/><Relationship Id="rId30" Type="http://schemas.openxmlformats.org/officeDocument/2006/relationships/image" Target="../media/image443.png"/><Relationship Id="rId35" Type="http://schemas.openxmlformats.org/officeDocument/2006/relationships/image" Target="../media/image448.svg"/><Relationship Id="rId43" Type="http://schemas.openxmlformats.org/officeDocument/2006/relationships/image" Target="../media/image456.svg"/><Relationship Id="rId48" Type="http://schemas.openxmlformats.org/officeDocument/2006/relationships/image" Target="../media/image461.png"/><Relationship Id="rId56" Type="http://schemas.openxmlformats.org/officeDocument/2006/relationships/image" Target="../media/image63.png"/><Relationship Id="rId8" Type="http://schemas.openxmlformats.org/officeDocument/2006/relationships/image" Target="../media/image427.png"/><Relationship Id="rId51" Type="http://schemas.openxmlformats.org/officeDocument/2006/relationships/image" Target="../media/image464.svg"/><Relationship Id="rId3" Type="http://schemas.openxmlformats.org/officeDocument/2006/relationships/image" Target="../media/image424.svg"/><Relationship Id="rId12" Type="http://schemas.openxmlformats.org/officeDocument/2006/relationships/image" Target="../media/image274.png"/><Relationship Id="rId17" Type="http://schemas.openxmlformats.org/officeDocument/2006/relationships/image" Target="../media/image433.svg"/><Relationship Id="rId25" Type="http://schemas.openxmlformats.org/officeDocument/2006/relationships/image" Target="../media/image16.svg"/><Relationship Id="rId33" Type="http://schemas.openxmlformats.org/officeDocument/2006/relationships/image" Target="../media/image446.svg"/><Relationship Id="rId38" Type="http://schemas.openxmlformats.org/officeDocument/2006/relationships/image" Target="../media/image451.png"/><Relationship Id="rId46" Type="http://schemas.openxmlformats.org/officeDocument/2006/relationships/image" Target="../media/image459.png"/><Relationship Id="rId59" Type="http://schemas.openxmlformats.org/officeDocument/2006/relationships/image" Target="../media/image422.svg"/><Relationship Id="rId20" Type="http://schemas.openxmlformats.org/officeDocument/2006/relationships/image" Target="../media/image209.png"/><Relationship Id="rId41" Type="http://schemas.openxmlformats.org/officeDocument/2006/relationships/image" Target="../media/image454.svg"/><Relationship Id="rId54" Type="http://schemas.openxmlformats.org/officeDocument/2006/relationships/image" Target="../media/image467.png"/><Relationship Id="rId1" Type="http://schemas.openxmlformats.org/officeDocument/2006/relationships/slideLayout" Target="../slideLayouts/slideLayout2.xml"/><Relationship Id="rId6" Type="http://schemas.openxmlformats.org/officeDocument/2006/relationships/image" Target="../media/image19.png"/><Relationship Id="rId15" Type="http://schemas.openxmlformats.org/officeDocument/2006/relationships/image" Target="../media/image432.svg"/><Relationship Id="rId23" Type="http://schemas.openxmlformats.org/officeDocument/2006/relationships/image" Target="../media/image438.svg"/><Relationship Id="rId28" Type="http://schemas.openxmlformats.org/officeDocument/2006/relationships/image" Target="../media/image441.png"/><Relationship Id="rId36" Type="http://schemas.openxmlformats.org/officeDocument/2006/relationships/image" Target="../media/image449.png"/><Relationship Id="rId49" Type="http://schemas.openxmlformats.org/officeDocument/2006/relationships/image" Target="../media/image462.svg"/><Relationship Id="rId57" Type="http://schemas.openxmlformats.org/officeDocument/2006/relationships/image" Target="../media/image469.svg"/><Relationship Id="rId10" Type="http://schemas.openxmlformats.org/officeDocument/2006/relationships/image" Target="../media/image429.png"/><Relationship Id="rId31" Type="http://schemas.openxmlformats.org/officeDocument/2006/relationships/image" Target="../media/image444.svg"/><Relationship Id="rId44" Type="http://schemas.openxmlformats.org/officeDocument/2006/relationships/image" Target="../media/image457.png"/><Relationship Id="rId52" Type="http://schemas.openxmlformats.org/officeDocument/2006/relationships/image" Target="../media/image465.png"/></Relationships>
</file>

<file path=ppt/slides/_rels/slide148.xml.rels><?xml version="1.0" encoding="UTF-8" standalone="yes"?>
<Relationships xmlns="http://schemas.openxmlformats.org/package/2006/relationships"><Relationship Id="rId13" Type="http://schemas.openxmlformats.org/officeDocument/2006/relationships/image" Target="../media/image441.png"/><Relationship Id="rId18" Type="http://schemas.openxmlformats.org/officeDocument/2006/relationships/image" Target="../media/image311.jpg"/><Relationship Id="rId26" Type="http://schemas.openxmlformats.org/officeDocument/2006/relationships/image" Target="../media/image41.png"/><Relationship Id="rId3" Type="http://schemas.openxmlformats.org/officeDocument/2006/relationships/image" Target="../media/image471.svg"/><Relationship Id="rId21" Type="http://schemas.openxmlformats.org/officeDocument/2006/relationships/image" Target="../media/image314.jpg"/><Relationship Id="rId7" Type="http://schemas.openxmlformats.org/officeDocument/2006/relationships/image" Target="../media/image475.svg"/><Relationship Id="rId12" Type="http://schemas.openxmlformats.org/officeDocument/2006/relationships/image" Target="../media/image440.svg"/><Relationship Id="rId17" Type="http://schemas.openxmlformats.org/officeDocument/2006/relationships/image" Target="../media/image310.jpg"/><Relationship Id="rId25" Type="http://schemas.openxmlformats.org/officeDocument/2006/relationships/image" Target="../media/image318.jpg"/><Relationship Id="rId33" Type="http://schemas.openxmlformats.org/officeDocument/2006/relationships/image" Target="../media/image422.svg"/><Relationship Id="rId2" Type="http://schemas.openxmlformats.org/officeDocument/2006/relationships/image" Target="../media/image470.png"/><Relationship Id="rId16" Type="http://schemas.openxmlformats.org/officeDocument/2006/relationships/image" Target="../media/image444.svg"/><Relationship Id="rId20" Type="http://schemas.openxmlformats.org/officeDocument/2006/relationships/image" Target="../media/image313.jpg"/><Relationship Id="rId29" Type="http://schemas.openxmlformats.org/officeDocument/2006/relationships/image" Target="../media/image433.svg"/><Relationship Id="rId1" Type="http://schemas.openxmlformats.org/officeDocument/2006/relationships/slideLayout" Target="../slideLayouts/slideLayout2.xml"/><Relationship Id="rId6" Type="http://schemas.openxmlformats.org/officeDocument/2006/relationships/image" Target="../media/image474.png"/><Relationship Id="rId11" Type="http://schemas.openxmlformats.org/officeDocument/2006/relationships/image" Target="../media/image439.png"/><Relationship Id="rId24" Type="http://schemas.openxmlformats.org/officeDocument/2006/relationships/image" Target="../media/image317.jpg"/><Relationship Id="rId32" Type="http://schemas.openxmlformats.org/officeDocument/2006/relationships/image" Target="../media/image421.png"/><Relationship Id="rId5" Type="http://schemas.openxmlformats.org/officeDocument/2006/relationships/image" Target="../media/image473.svg"/><Relationship Id="rId15" Type="http://schemas.openxmlformats.org/officeDocument/2006/relationships/image" Target="../media/image443.png"/><Relationship Id="rId23" Type="http://schemas.openxmlformats.org/officeDocument/2006/relationships/image" Target="../media/image316.jpg"/><Relationship Id="rId28" Type="http://schemas.openxmlformats.org/officeDocument/2006/relationships/image" Target="../media/image123.png"/><Relationship Id="rId10" Type="http://schemas.openxmlformats.org/officeDocument/2006/relationships/image" Target="../media/image478.svg"/><Relationship Id="rId19" Type="http://schemas.openxmlformats.org/officeDocument/2006/relationships/image" Target="../media/image312.jpg"/><Relationship Id="rId31" Type="http://schemas.openxmlformats.org/officeDocument/2006/relationships/image" Target="../media/image480.svg"/><Relationship Id="rId4" Type="http://schemas.openxmlformats.org/officeDocument/2006/relationships/image" Target="../media/image472.png"/><Relationship Id="rId9" Type="http://schemas.openxmlformats.org/officeDocument/2006/relationships/image" Target="../media/image477.png"/><Relationship Id="rId14" Type="http://schemas.openxmlformats.org/officeDocument/2006/relationships/image" Target="../media/image442.svg"/><Relationship Id="rId22" Type="http://schemas.openxmlformats.org/officeDocument/2006/relationships/image" Target="../media/image315.jpg"/><Relationship Id="rId27" Type="http://schemas.openxmlformats.org/officeDocument/2006/relationships/image" Target="../media/image42.svg"/><Relationship Id="rId30" Type="http://schemas.openxmlformats.org/officeDocument/2006/relationships/image" Target="../media/image479.png"/><Relationship Id="rId8" Type="http://schemas.openxmlformats.org/officeDocument/2006/relationships/image" Target="../media/image476.png"/></Relationships>
</file>

<file path=ppt/slides/_rels/slide149.xml.rels><?xml version="1.0" encoding="UTF-8" standalone="yes"?>
<Relationships xmlns="http://schemas.openxmlformats.org/package/2006/relationships"><Relationship Id="rId8" Type="http://schemas.openxmlformats.org/officeDocument/2006/relationships/image" Target="../media/image316.jpg"/><Relationship Id="rId13" Type="http://schemas.openxmlformats.org/officeDocument/2006/relationships/image" Target="../media/image421.png"/><Relationship Id="rId3" Type="http://schemas.openxmlformats.org/officeDocument/2006/relationships/image" Target="../media/image311.jpg"/><Relationship Id="rId7" Type="http://schemas.openxmlformats.org/officeDocument/2006/relationships/image" Target="../media/image315.jpg"/><Relationship Id="rId12" Type="http://schemas.openxmlformats.org/officeDocument/2006/relationships/image" Target="../media/image18.svg"/><Relationship Id="rId2" Type="http://schemas.openxmlformats.org/officeDocument/2006/relationships/image" Target="../media/image310.jpg"/><Relationship Id="rId1" Type="http://schemas.openxmlformats.org/officeDocument/2006/relationships/slideLayout" Target="../slideLayouts/slideLayout2.xml"/><Relationship Id="rId6" Type="http://schemas.openxmlformats.org/officeDocument/2006/relationships/image" Target="../media/image314.jpg"/><Relationship Id="rId11" Type="http://schemas.openxmlformats.org/officeDocument/2006/relationships/image" Target="../media/image17.png"/><Relationship Id="rId5" Type="http://schemas.openxmlformats.org/officeDocument/2006/relationships/image" Target="../media/image313.jpg"/><Relationship Id="rId10" Type="http://schemas.openxmlformats.org/officeDocument/2006/relationships/image" Target="../media/image318.jpg"/><Relationship Id="rId4" Type="http://schemas.openxmlformats.org/officeDocument/2006/relationships/image" Target="../media/image312.jpg"/><Relationship Id="rId9" Type="http://schemas.openxmlformats.org/officeDocument/2006/relationships/image" Target="../media/image317.jpg"/><Relationship Id="rId14" Type="http://schemas.openxmlformats.org/officeDocument/2006/relationships/image" Target="../media/image422.svg"/></Relationships>
</file>

<file path=ppt/slides/_rels/slide150.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422.svg"/><Relationship Id="rId4" Type="http://schemas.openxmlformats.org/officeDocument/2006/relationships/image" Target="../media/image421.png"/></Relationships>
</file>

<file path=ppt/slides/_rels/slide151.xml.rels><?xml version="1.0" encoding="UTF-8" standalone="yes"?>
<Relationships xmlns="http://schemas.openxmlformats.org/package/2006/relationships"><Relationship Id="rId26" Type="http://schemas.openxmlformats.org/officeDocument/2006/relationships/image" Target="../media/image211.png"/><Relationship Id="rId117" Type="http://schemas.openxmlformats.org/officeDocument/2006/relationships/image" Target="../media/image298.svg"/><Relationship Id="rId21" Type="http://schemas.openxmlformats.org/officeDocument/2006/relationships/image" Target="../media/image206.svg"/><Relationship Id="rId42" Type="http://schemas.openxmlformats.org/officeDocument/2006/relationships/image" Target="../media/image227.png"/><Relationship Id="rId47" Type="http://schemas.openxmlformats.org/officeDocument/2006/relationships/image" Target="../media/image232.svg"/><Relationship Id="rId63" Type="http://schemas.openxmlformats.org/officeDocument/2006/relationships/image" Target="../media/image247.svg"/><Relationship Id="rId68" Type="http://schemas.openxmlformats.org/officeDocument/2006/relationships/image" Target="../media/image252.png"/><Relationship Id="rId84" Type="http://schemas.openxmlformats.org/officeDocument/2006/relationships/image" Target="../media/image276.png"/><Relationship Id="rId89" Type="http://schemas.openxmlformats.org/officeDocument/2006/relationships/image" Target="../media/image279.svg"/><Relationship Id="rId112" Type="http://schemas.openxmlformats.org/officeDocument/2006/relationships/image" Target="../media/image293.png"/><Relationship Id="rId16" Type="http://schemas.openxmlformats.org/officeDocument/2006/relationships/image" Target="../media/image299.png"/><Relationship Id="rId107" Type="http://schemas.openxmlformats.org/officeDocument/2006/relationships/image" Target="../media/image273.svg"/><Relationship Id="rId11" Type="http://schemas.openxmlformats.org/officeDocument/2006/relationships/image" Target="../media/image198.svg"/><Relationship Id="rId32" Type="http://schemas.openxmlformats.org/officeDocument/2006/relationships/image" Target="../media/image217.png"/><Relationship Id="rId37" Type="http://schemas.openxmlformats.org/officeDocument/2006/relationships/image" Target="../media/image222.svg"/><Relationship Id="rId53" Type="http://schemas.openxmlformats.org/officeDocument/2006/relationships/image" Target="../media/image238.svg"/><Relationship Id="rId58" Type="http://schemas.openxmlformats.org/officeDocument/2006/relationships/image" Target="../media/image243.png"/><Relationship Id="rId74" Type="http://schemas.openxmlformats.org/officeDocument/2006/relationships/image" Target="../media/image258.png"/><Relationship Id="rId79" Type="http://schemas.openxmlformats.org/officeDocument/2006/relationships/image" Target="../media/image263.svg"/><Relationship Id="rId102" Type="http://schemas.openxmlformats.org/officeDocument/2006/relationships/image" Target="../media/image268.png"/><Relationship Id="rId5" Type="http://schemas.openxmlformats.org/officeDocument/2006/relationships/image" Target="../media/image192.svg"/><Relationship Id="rId90" Type="http://schemas.openxmlformats.org/officeDocument/2006/relationships/image" Target="../media/image280.png"/><Relationship Id="rId95" Type="http://schemas.openxmlformats.org/officeDocument/2006/relationships/image" Target="../media/image285.svg"/><Relationship Id="rId22" Type="http://schemas.openxmlformats.org/officeDocument/2006/relationships/image" Target="../media/image207.png"/><Relationship Id="rId27" Type="http://schemas.openxmlformats.org/officeDocument/2006/relationships/image" Target="../media/image212.svg"/><Relationship Id="rId43" Type="http://schemas.openxmlformats.org/officeDocument/2006/relationships/image" Target="../media/image228.svg"/><Relationship Id="rId48" Type="http://schemas.openxmlformats.org/officeDocument/2006/relationships/image" Target="../media/image233.png"/><Relationship Id="rId64" Type="http://schemas.openxmlformats.org/officeDocument/2006/relationships/image" Target="../media/image248.png"/><Relationship Id="rId69" Type="http://schemas.openxmlformats.org/officeDocument/2006/relationships/image" Target="../media/image253.svg"/><Relationship Id="rId113" Type="http://schemas.openxmlformats.org/officeDocument/2006/relationships/image" Target="../media/image294.svg"/><Relationship Id="rId118" Type="http://schemas.openxmlformats.org/officeDocument/2006/relationships/image" Target="../media/image421.png"/><Relationship Id="rId80" Type="http://schemas.openxmlformats.org/officeDocument/2006/relationships/image" Target="../media/image264.png"/><Relationship Id="rId85" Type="http://schemas.openxmlformats.org/officeDocument/2006/relationships/image" Target="../media/image277.svg"/><Relationship Id="rId12" Type="http://schemas.openxmlformats.org/officeDocument/2006/relationships/image" Target="../media/image199.png"/><Relationship Id="rId17" Type="http://schemas.openxmlformats.org/officeDocument/2006/relationships/image" Target="../media/image300.svg"/><Relationship Id="rId33" Type="http://schemas.openxmlformats.org/officeDocument/2006/relationships/image" Target="../media/image218.svg"/><Relationship Id="rId38" Type="http://schemas.openxmlformats.org/officeDocument/2006/relationships/image" Target="../media/image223.png"/><Relationship Id="rId59" Type="http://schemas.openxmlformats.org/officeDocument/2006/relationships/image" Target="../media/image244.svg"/><Relationship Id="rId103" Type="http://schemas.openxmlformats.org/officeDocument/2006/relationships/image" Target="../media/image269.svg"/><Relationship Id="rId108" Type="http://schemas.openxmlformats.org/officeDocument/2006/relationships/image" Target="../media/image274.png"/><Relationship Id="rId54" Type="http://schemas.openxmlformats.org/officeDocument/2006/relationships/image" Target="../media/image239.png"/><Relationship Id="rId70" Type="http://schemas.openxmlformats.org/officeDocument/2006/relationships/image" Target="../media/image254.png"/><Relationship Id="rId75" Type="http://schemas.openxmlformats.org/officeDocument/2006/relationships/image" Target="../media/image259.svg"/><Relationship Id="rId91" Type="http://schemas.openxmlformats.org/officeDocument/2006/relationships/image" Target="../media/image281.svg"/><Relationship Id="rId96" Type="http://schemas.openxmlformats.org/officeDocument/2006/relationships/image" Target="../media/image286.png"/><Relationship Id="rId1" Type="http://schemas.openxmlformats.org/officeDocument/2006/relationships/slideLayout" Target="../slideLayouts/slideLayout2.xml"/><Relationship Id="rId6" Type="http://schemas.openxmlformats.org/officeDocument/2006/relationships/image" Target="../media/image193.png"/><Relationship Id="rId23" Type="http://schemas.openxmlformats.org/officeDocument/2006/relationships/image" Target="../media/image208.svg"/><Relationship Id="rId28" Type="http://schemas.openxmlformats.org/officeDocument/2006/relationships/image" Target="../media/image213.png"/><Relationship Id="rId49" Type="http://schemas.openxmlformats.org/officeDocument/2006/relationships/image" Target="../media/image234.svg"/><Relationship Id="rId114" Type="http://schemas.openxmlformats.org/officeDocument/2006/relationships/image" Target="../media/image295.png"/><Relationship Id="rId119" Type="http://schemas.openxmlformats.org/officeDocument/2006/relationships/image" Target="../media/image422.svg"/><Relationship Id="rId10" Type="http://schemas.openxmlformats.org/officeDocument/2006/relationships/image" Target="../media/image197.png"/><Relationship Id="rId31" Type="http://schemas.openxmlformats.org/officeDocument/2006/relationships/image" Target="../media/image216.svg"/><Relationship Id="rId44" Type="http://schemas.openxmlformats.org/officeDocument/2006/relationships/image" Target="../media/image229.png"/><Relationship Id="rId52" Type="http://schemas.openxmlformats.org/officeDocument/2006/relationships/image" Target="../media/image237.png"/><Relationship Id="rId60" Type="http://schemas.openxmlformats.org/officeDocument/2006/relationships/image" Target="../media/image245.png"/><Relationship Id="rId65" Type="http://schemas.openxmlformats.org/officeDocument/2006/relationships/image" Target="../media/image249.svg"/><Relationship Id="rId73" Type="http://schemas.openxmlformats.org/officeDocument/2006/relationships/image" Target="../media/image257.svg"/><Relationship Id="rId78" Type="http://schemas.openxmlformats.org/officeDocument/2006/relationships/image" Target="../media/image262.png"/><Relationship Id="rId81" Type="http://schemas.openxmlformats.org/officeDocument/2006/relationships/image" Target="../media/image265.svg"/><Relationship Id="rId86" Type="http://schemas.openxmlformats.org/officeDocument/2006/relationships/image" Target="../media/image45.png"/><Relationship Id="rId94" Type="http://schemas.openxmlformats.org/officeDocument/2006/relationships/image" Target="../media/image284.png"/><Relationship Id="rId99" Type="http://schemas.openxmlformats.org/officeDocument/2006/relationships/image" Target="../media/image289.svg"/><Relationship Id="rId101" Type="http://schemas.openxmlformats.org/officeDocument/2006/relationships/image" Target="../media/image291.svg"/><Relationship Id="rId4" Type="http://schemas.openxmlformats.org/officeDocument/2006/relationships/image" Target="../media/image191.png"/><Relationship Id="rId9" Type="http://schemas.openxmlformats.org/officeDocument/2006/relationships/image" Target="../media/image196.svg"/><Relationship Id="rId13" Type="http://schemas.openxmlformats.org/officeDocument/2006/relationships/image" Target="../media/image200.svg"/><Relationship Id="rId18" Type="http://schemas.openxmlformats.org/officeDocument/2006/relationships/image" Target="../media/image203.png"/><Relationship Id="rId39" Type="http://schemas.openxmlformats.org/officeDocument/2006/relationships/image" Target="../media/image224.svg"/><Relationship Id="rId109" Type="http://schemas.openxmlformats.org/officeDocument/2006/relationships/image" Target="../media/image275.svg"/><Relationship Id="rId34" Type="http://schemas.openxmlformats.org/officeDocument/2006/relationships/image" Target="../media/image219.png"/><Relationship Id="rId50" Type="http://schemas.openxmlformats.org/officeDocument/2006/relationships/image" Target="../media/image235.png"/><Relationship Id="rId55" Type="http://schemas.openxmlformats.org/officeDocument/2006/relationships/image" Target="../media/image240.svg"/><Relationship Id="rId76" Type="http://schemas.openxmlformats.org/officeDocument/2006/relationships/image" Target="../media/image260.png"/><Relationship Id="rId97" Type="http://schemas.openxmlformats.org/officeDocument/2006/relationships/image" Target="../media/image287.svg"/><Relationship Id="rId104" Type="http://schemas.openxmlformats.org/officeDocument/2006/relationships/image" Target="../media/image270.png"/><Relationship Id="rId7" Type="http://schemas.openxmlformats.org/officeDocument/2006/relationships/image" Target="../media/image194.svg"/><Relationship Id="rId71" Type="http://schemas.openxmlformats.org/officeDocument/2006/relationships/image" Target="../media/image255.svg"/><Relationship Id="rId92" Type="http://schemas.openxmlformats.org/officeDocument/2006/relationships/image" Target="../media/image282.png"/><Relationship Id="rId2" Type="http://schemas.openxmlformats.org/officeDocument/2006/relationships/image" Target="../media/image13.png"/><Relationship Id="rId29" Type="http://schemas.openxmlformats.org/officeDocument/2006/relationships/image" Target="../media/image214.svg"/><Relationship Id="rId24" Type="http://schemas.openxmlformats.org/officeDocument/2006/relationships/image" Target="../media/image209.png"/><Relationship Id="rId40" Type="http://schemas.openxmlformats.org/officeDocument/2006/relationships/image" Target="../media/image225.png"/><Relationship Id="rId45" Type="http://schemas.openxmlformats.org/officeDocument/2006/relationships/image" Target="../media/image230.svg"/><Relationship Id="rId66" Type="http://schemas.openxmlformats.org/officeDocument/2006/relationships/image" Target="../media/image250.png"/><Relationship Id="rId87" Type="http://schemas.openxmlformats.org/officeDocument/2006/relationships/image" Target="../media/image46.svg"/><Relationship Id="rId110" Type="http://schemas.openxmlformats.org/officeDocument/2006/relationships/image" Target="../media/image153.png"/><Relationship Id="rId115" Type="http://schemas.openxmlformats.org/officeDocument/2006/relationships/image" Target="../media/image296.svg"/><Relationship Id="rId61" Type="http://schemas.openxmlformats.org/officeDocument/2006/relationships/image" Target="../media/image246.svg"/><Relationship Id="rId82" Type="http://schemas.openxmlformats.org/officeDocument/2006/relationships/image" Target="../media/image266.png"/><Relationship Id="rId19" Type="http://schemas.openxmlformats.org/officeDocument/2006/relationships/image" Target="../media/image204.svg"/><Relationship Id="rId14" Type="http://schemas.openxmlformats.org/officeDocument/2006/relationships/image" Target="../media/image201.png"/><Relationship Id="rId30" Type="http://schemas.openxmlformats.org/officeDocument/2006/relationships/image" Target="../media/image215.png"/><Relationship Id="rId35" Type="http://schemas.openxmlformats.org/officeDocument/2006/relationships/image" Target="../media/image220.svg"/><Relationship Id="rId56" Type="http://schemas.openxmlformats.org/officeDocument/2006/relationships/image" Target="../media/image241.png"/><Relationship Id="rId77" Type="http://schemas.openxmlformats.org/officeDocument/2006/relationships/image" Target="../media/image261.svg"/><Relationship Id="rId100" Type="http://schemas.openxmlformats.org/officeDocument/2006/relationships/image" Target="../media/image290.png"/><Relationship Id="rId105" Type="http://schemas.openxmlformats.org/officeDocument/2006/relationships/image" Target="../media/image271.svg"/><Relationship Id="rId8" Type="http://schemas.openxmlformats.org/officeDocument/2006/relationships/image" Target="../media/image195.png"/><Relationship Id="rId51" Type="http://schemas.openxmlformats.org/officeDocument/2006/relationships/image" Target="../media/image236.svg"/><Relationship Id="rId72" Type="http://schemas.openxmlformats.org/officeDocument/2006/relationships/image" Target="../media/image256.png"/><Relationship Id="rId93" Type="http://schemas.openxmlformats.org/officeDocument/2006/relationships/image" Target="../media/image283.svg"/><Relationship Id="rId98" Type="http://schemas.openxmlformats.org/officeDocument/2006/relationships/image" Target="../media/image288.png"/><Relationship Id="rId3" Type="http://schemas.openxmlformats.org/officeDocument/2006/relationships/image" Target="../media/image14.svg"/><Relationship Id="rId25" Type="http://schemas.openxmlformats.org/officeDocument/2006/relationships/image" Target="../media/image210.svg"/><Relationship Id="rId46" Type="http://schemas.openxmlformats.org/officeDocument/2006/relationships/image" Target="../media/image231.png"/><Relationship Id="rId67" Type="http://schemas.openxmlformats.org/officeDocument/2006/relationships/image" Target="../media/image251.svg"/><Relationship Id="rId116" Type="http://schemas.openxmlformats.org/officeDocument/2006/relationships/image" Target="../media/image297.png"/><Relationship Id="rId20" Type="http://schemas.openxmlformats.org/officeDocument/2006/relationships/image" Target="../media/image205.png"/><Relationship Id="rId41" Type="http://schemas.openxmlformats.org/officeDocument/2006/relationships/image" Target="../media/image226.svg"/><Relationship Id="rId62" Type="http://schemas.openxmlformats.org/officeDocument/2006/relationships/image" Target="../media/image51.png"/><Relationship Id="rId83" Type="http://schemas.openxmlformats.org/officeDocument/2006/relationships/image" Target="../media/image267.svg"/><Relationship Id="rId88" Type="http://schemas.openxmlformats.org/officeDocument/2006/relationships/image" Target="../media/image278.png"/><Relationship Id="rId111" Type="http://schemas.openxmlformats.org/officeDocument/2006/relationships/image" Target="../media/image292.svg"/><Relationship Id="rId15" Type="http://schemas.openxmlformats.org/officeDocument/2006/relationships/image" Target="../media/image202.svg"/><Relationship Id="rId36" Type="http://schemas.openxmlformats.org/officeDocument/2006/relationships/image" Target="../media/image221.png"/><Relationship Id="rId57" Type="http://schemas.openxmlformats.org/officeDocument/2006/relationships/image" Target="../media/image242.svg"/><Relationship Id="rId106" Type="http://schemas.openxmlformats.org/officeDocument/2006/relationships/image" Target="../media/image272.png"/></Relationships>
</file>

<file path=ppt/slides/_rels/slide152.xml.rels><?xml version="1.0" encoding="UTF-8" standalone="yes"?>
<Relationships xmlns="http://schemas.openxmlformats.org/package/2006/relationships"><Relationship Id="rId8" Type="http://schemas.openxmlformats.org/officeDocument/2006/relationships/image" Target="../media/image350.png"/><Relationship Id="rId13" Type="http://schemas.openxmlformats.org/officeDocument/2006/relationships/image" Target="../media/image355.svg"/><Relationship Id="rId18" Type="http://schemas.openxmlformats.org/officeDocument/2006/relationships/image" Target="../media/image310.jpg"/><Relationship Id="rId26" Type="http://schemas.openxmlformats.org/officeDocument/2006/relationships/image" Target="../media/image318.jpg"/><Relationship Id="rId3" Type="http://schemas.openxmlformats.org/officeDocument/2006/relationships/image" Target="../media/image16.svg"/><Relationship Id="rId21" Type="http://schemas.openxmlformats.org/officeDocument/2006/relationships/image" Target="../media/image313.jpg"/><Relationship Id="rId7" Type="http://schemas.openxmlformats.org/officeDocument/2006/relationships/image" Target="../media/image349.svg"/><Relationship Id="rId12" Type="http://schemas.openxmlformats.org/officeDocument/2006/relationships/image" Target="../media/image354.png"/><Relationship Id="rId17" Type="http://schemas.openxmlformats.org/officeDocument/2006/relationships/image" Target="../media/image359.svg"/><Relationship Id="rId25" Type="http://schemas.openxmlformats.org/officeDocument/2006/relationships/image" Target="../media/image317.jpg"/><Relationship Id="rId2" Type="http://schemas.openxmlformats.org/officeDocument/2006/relationships/image" Target="../media/image15.png"/><Relationship Id="rId16" Type="http://schemas.openxmlformats.org/officeDocument/2006/relationships/image" Target="../media/image358.png"/><Relationship Id="rId20" Type="http://schemas.openxmlformats.org/officeDocument/2006/relationships/image" Target="../media/image312.jpg"/><Relationship Id="rId1" Type="http://schemas.openxmlformats.org/officeDocument/2006/relationships/slideLayout" Target="../slideLayouts/slideLayout2.xml"/><Relationship Id="rId6" Type="http://schemas.openxmlformats.org/officeDocument/2006/relationships/image" Target="../media/image348.png"/><Relationship Id="rId11" Type="http://schemas.openxmlformats.org/officeDocument/2006/relationships/image" Target="../media/image353.svg"/><Relationship Id="rId24" Type="http://schemas.openxmlformats.org/officeDocument/2006/relationships/image" Target="../media/image316.jpg"/><Relationship Id="rId5" Type="http://schemas.openxmlformats.org/officeDocument/2006/relationships/image" Target="../media/image347.svg"/><Relationship Id="rId15" Type="http://schemas.openxmlformats.org/officeDocument/2006/relationships/image" Target="../media/image357.svg"/><Relationship Id="rId23" Type="http://schemas.openxmlformats.org/officeDocument/2006/relationships/image" Target="../media/image315.jpg"/><Relationship Id="rId28" Type="http://schemas.openxmlformats.org/officeDocument/2006/relationships/image" Target="../media/image422.svg"/><Relationship Id="rId10" Type="http://schemas.openxmlformats.org/officeDocument/2006/relationships/image" Target="../media/image352.png"/><Relationship Id="rId19" Type="http://schemas.openxmlformats.org/officeDocument/2006/relationships/image" Target="../media/image311.jpg"/><Relationship Id="rId4" Type="http://schemas.openxmlformats.org/officeDocument/2006/relationships/image" Target="../media/image346.png"/><Relationship Id="rId9" Type="http://schemas.openxmlformats.org/officeDocument/2006/relationships/image" Target="../media/image351.svg"/><Relationship Id="rId14" Type="http://schemas.openxmlformats.org/officeDocument/2006/relationships/image" Target="../media/image356.png"/><Relationship Id="rId22" Type="http://schemas.openxmlformats.org/officeDocument/2006/relationships/image" Target="../media/image314.jpg"/><Relationship Id="rId27" Type="http://schemas.openxmlformats.org/officeDocument/2006/relationships/image" Target="../media/image421.png"/></Relationships>
</file>

<file path=ppt/slides/_rels/slide153.xml.rels><?xml version="1.0" encoding="UTF-8" standalone="yes"?>
<Relationships xmlns="http://schemas.openxmlformats.org/package/2006/relationships"><Relationship Id="rId8" Type="http://schemas.openxmlformats.org/officeDocument/2006/relationships/image" Target="../media/image49.png"/><Relationship Id="rId13" Type="http://schemas.openxmlformats.org/officeDocument/2006/relationships/image" Target="../media/image54.svg"/><Relationship Id="rId18" Type="http://schemas.openxmlformats.org/officeDocument/2006/relationships/image" Target="../media/image59.png"/><Relationship Id="rId3" Type="http://schemas.openxmlformats.org/officeDocument/2006/relationships/image" Target="../media/image44.svg"/><Relationship Id="rId21" Type="http://schemas.openxmlformats.org/officeDocument/2006/relationships/image" Target="../media/image62.svg"/><Relationship Id="rId7" Type="http://schemas.openxmlformats.org/officeDocument/2006/relationships/image" Target="../media/image48.svg"/><Relationship Id="rId12" Type="http://schemas.openxmlformats.org/officeDocument/2006/relationships/image" Target="../media/image53.png"/><Relationship Id="rId17" Type="http://schemas.openxmlformats.org/officeDocument/2006/relationships/image" Target="../media/image58.svg"/><Relationship Id="rId2" Type="http://schemas.openxmlformats.org/officeDocument/2006/relationships/image" Target="../media/image43.png"/><Relationship Id="rId16" Type="http://schemas.openxmlformats.org/officeDocument/2006/relationships/image" Target="../media/image57.png"/><Relationship Id="rId20"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47.png"/><Relationship Id="rId11" Type="http://schemas.openxmlformats.org/officeDocument/2006/relationships/image" Target="../media/image52.svg"/><Relationship Id="rId5" Type="http://schemas.openxmlformats.org/officeDocument/2006/relationships/image" Target="../media/image46.svg"/><Relationship Id="rId15" Type="http://schemas.openxmlformats.org/officeDocument/2006/relationships/image" Target="../media/image56.svg"/><Relationship Id="rId23" Type="http://schemas.openxmlformats.org/officeDocument/2006/relationships/image" Target="../media/image64.svg"/><Relationship Id="rId10" Type="http://schemas.openxmlformats.org/officeDocument/2006/relationships/image" Target="../media/image51.png"/><Relationship Id="rId19" Type="http://schemas.openxmlformats.org/officeDocument/2006/relationships/image" Target="../media/image60.svg"/><Relationship Id="rId4" Type="http://schemas.openxmlformats.org/officeDocument/2006/relationships/image" Target="../media/image45.png"/><Relationship Id="rId9" Type="http://schemas.openxmlformats.org/officeDocument/2006/relationships/image" Target="../media/image50.svg"/><Relationship Id="rId14" Type="http://schemas.openxmlformats.org/officeDocument/2006/relationships/image" Target="../media/image55.png"/><Relationship Id="rId22" Type="http://schemas.openxmlformats.org/officeDocument/2006/relationships/image" Target="../media/image63.png"/></Relationships>
</file>

<file path=ppt/slides/_rels/slide154.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32.svg"/><Relationship Id="rId7" Type="http://schemas.openxmlformats.org/officeDocument/2006/relationships/image" Target="../media/image5.svg"/><Relationship Id="rId2" Type="http://schemas.openxmlformats.org/officeDocument/2006/relationships/image" Target="../media/image31.png"/><Relationship Id="rId1" Type="http://schemas.openxmlformats.org/officeDocument/2006/relationships/slideLayout" Target="../slideLayouts/slideLayout2.xml"/><Relationship Id="rId6" Type="http://schemas.openxmlformats.org/officeDocument/2006/relationships/image" Target="../media/image4.png"/><Relationship Id="rId11" Type="http://schemas.openxmlformats.org/officeDocument/2006/relationships/image" Target="../media/image3.svg"/><Relationship Id="rId5" Type="http://schemas.openxmlformats.org/officeDocument/2006/relationships/image" Target="../media/image7.svg"/><Relationship Id="rId10" Type="http://schemas.openxmlformats.org/officeDocument/2006/relationships/image" Target="../media/image2.png"/><Relationship Id="rId4" Type="http://schemas.openxmlformats.org/officeDocument/2006/relationships/image" Target="../media/image6.png"/><Relationship Id="rId9" Type="http://schemas.openxmlformats.org/officeDocument/2006/relationships/image" Target="../media/image9.svg"/></Relationships>
</file>

<file path=ppt/slides/_rels/slide155.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42.svg"/><Relationship Id="rId4" Type="http://schemas.openxmlformats.org/officeDocument/2006/relationships/image" Target="../media/image41.png"/></Relationships>
</file>

<file path=ppt/slides/_rels/slide156.xml.rels><?xml version="1.0" encoding="UTF-8" standalone="yes"?>
<Relationships xmlns="http://schemas.openxmlformats.org/package/2006/relationships"><Relationship Id="rId8" Type="http://schemas.openxmlformats.org/officeDocument/2006/relationships/image" Target="../media/image421.png"/><Relationship Id="rId3" Type="http://schemas.openxmlformats.org/officeDocument/2006/relationships/image" Target="../media/image14.svg"/><Relationship Id="rId7"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18.svg"/><Relationship Id="rId4" Type="http://schemas.openxmlformats.org/officeDocument/2006/relationships/image" Target="../media/image17.png"/><Relationship Id="rId9" Type="http://schemas.openxmlformats.org/officeDocument/2006/relationships/image" Target="../media/image422.svg"/></Relationships>
</file>

<file path=ppt/slides/_rels/slide157.xml.rels><?xml version="1.0" encoding="UTF-8" standalone="yes"?>
<Relationships xmlns="http://schemas.openxmlformats.org/package/2006/relationships"><Relationship Id="rId3" Type="http://schemas.openxmlformats.org/officeDocument/2006/relationships/image" Target="../media/image407.svg"/><Relationship Id="rId2" Type="http://schemas.openxmlformats.org/officeDocument/2006/relationships/image" Target="../media/image406.png"/><Relationship Id="rId1" Type="http://schemas.openxmlformats.org/officeDocument/2006/relationships/slideLayout" Target="../slideLayouts/slideLayout2.xml"/><Relationship Id="rId5" Type="http://schemas.openxmlformats.org/officeDocument/2006/relationships/image" Target="../media/image422.svg"/><Relationship Id="rId4" Type="http://schemas.openxmlformats.org/officeDocument/2006/relationships/image" Target="../media/image421.png"/></Relationships>
</file>

<file path=ppt/slides/_rels/slide158.xml.rels><?xml version="1.0" encoding="UTF-8" standalone="yes"?>
<Relationships xmlns="http://schemas.openxmlformats.org/package/2006/relationships"><Relationship Id="rId3" Type="http://schemas.openxmlformats.org/officeDocument/2006/relationships/image" Target="../media/image421.png"/><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422.svg"/></Relationships>
</file>

<file path=ppt/slides/_rels/slide159.xml.rels><?xml version="1.0" encoding="UTF-8" standalone="yes"?>
<Relationships xmlns="http://schemas.openxmlformats.org/package/2006/relationships"><Relationship Id="rId3" Type="http://schemas.openxmlformats.org/officeDocument/2006/relationships/image" Target="../media/image482.svg"/><Relationship Id="rId2" Type="http://schemas.openxmlformats.org/officeDocument/2006/relationships/image" Target="../media/image481.png"/><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6" Type="http://schemas.openxmlformats.org/officeDocument/2006/relationships/image" Target="../media/image501.png"/><Relationship Id="rId21" Type="http://schemas.openxmlformats.org/officeDocument/2006/relationships/image" Target="../media/image496.svg"/><Relationship Id="rId42" Type="http://schemas.openxmlformats.org/officeDocument/2006/relationships/image" Target="../media/image515.png"/><Relationship Id="rId47" Type="http://schemas.openxmlformats.org/officeDocument/2006/relationships/image" Target="../media/image520.svg"/><Relationship Id="rId63" Type="http://schemas.openxmlformats.org/officeDocument/2006/relationships/image" Target="../media/image535.svg"/><Relationship Id="rId68" Type="http://schemas.openxmlformats.org/officeDocument/2006/relationships/image" Target="../media/image410.png"/><Relationship Id="rId7" Type="http://schemas.openxmlformats.org/officeDocument/2006/relationships/image" Target="../media/image486.svg"/><Relationship Id="rId2" Type="http://schemas.openxmlformats.org/officeDocument/2006/relationships/image" Target="../media/image209.png"/><Relationship Id="rId16" Type="http://schemas.openxmlformats.org/officeDocument/2006/relationships/image" Target="../media/image481.png"/><Relationship Id="rId29" Type="http://schemas.openxmlformats.org/officeDocument/2006/relationships/image" Target="../media/image504.svg"/><Relationship Id="rId11" Type="http://schemas.openxmlformats.org/officeDocument/2006/relationships/image" Target="../media/image490.svg"/><Relationship Id="rId24" Type="http://schemas.openxmlformats.org/officeDocument/2006/relationships/image" Target="../media/image499.png"/><Relationship Id="rId32" Type="http://schemas.openxmlformats.org/officeDocument/2006/relationships/image" Target="../media/image507.png"/><Relationship Id="rId37" Type="http://schemas.openxmlformats.org/officeDocument/2006/relationships/image" Target="../media/image512.svg"/><Relationship Id="rId40" Type="http://schemas.openxmlformats.org/officeDocument/2006/relationships/image" Target="../media/image15.png"/><Relationship Id="rId45" Type="http://schemas.openxmlformats.org/officeDocument/2006/relationships/image" Target="../media/image518.svg"/><Relationship Id="rId53" Type="http://schemas.openxmlformats.org/officeDocument/2006/relationships/image" Target="../media/image526.svg"/><Relationship Id="rId58" Type="http://schemas.openxmlformats.org/officeDocument/2006/relationships/image" Target="../media/image531.png"/><Relationship Id="rId66" Type="http://schemas.openxmlformats.org/officeDocument/2006/relationships/image" Target="../media/image538.png"/><Relationship Id="rId5" Type="http://schemas.openxmlformats.org/officeDocument/2006/relationships/image" Target="../media/image484.svg"/><Relationship Id="rId61" Type="http://schemas.openxmlformats.org/officeDocument/2006/relationships/image" Target="../media/image534.svg"/><Relationship Id="rId19" Type="http://schemas.openxmlformats.org/officeDocument/2006/relationships/image" Target="../media/image9.svg"/><Relationship Id="rId14" Type="http://schemas.openxmlformats.org/officeDocument/2006/relationships/image" Target="../media/image493.png"/><Relationship Id="rId22" Type="http://schemas.openxmlformats.org/officeDocument/2006/relationships/image" Target="../media/image497.png"/><Relationship Id="rId27" Type="http://schemas.openxmlformats.org/officeDocument/2006/relationships/image" Target="../media/image502.svg"/><Relationship Id="rId30" Type="http://schemas.openxmlformats.org/officeDocument/2006/relationships/image" Target="../media/image505.png"/><Relationship Id="rId35" Type="http://schemas.openxmlformats.org/officeDocument/2006/relationships/image" Target="../media/image510.svg"/><Relationship Id="rId43" Type="http://schemas.openxmlformats.org/officeDocument/2006/relationships/image" Target="../media/image516.svg"/><Relationship Id="rId48" Type="http://schemas.openxmlformats.org/officeDocument/2006/relationships/image" Target="../media/image521.png"/><Relationship Id="rId56" Type="http://schemas.openxmlformats.org/officeDocument/2006/relationships/image" Target="../media/image529.png"/><Relationship Id="rId64" Type="http://schemas.openxmlformats.org/officeDocument/2006/relationships/image" Target="../media/image536.png"/><Relationship Id="rId69" Type="http://schemas.openxmlformats.org/officeDocument/2006/relationships/image" Target="../media/image411.svg"/><Relationship Id="rId8" Type="http://schemas.openxmlformats.org/officeDocument/2006/relationships/image" Target="../media/image487.png"/><Relationship Id="rId51" Type="http://schemas.openxmlformats.org/officeDocument/2006/relationships/image" Target="../media/image524.svg"/><Relationship Id="rId3" Type="http://schemas.openxmlformats.org/officeDocument/2006/relationships/image" Target="../media/image436.svg"/><Relationship Id="rId12" Type="http://schemas.openxmlformats.org/officeDocument/2006/relationships/image" Target="../media/image491.png"/><Relationship Id="rId17" Type="http://schemas.openxmlformats.org/officeDocument/2006/relationships/image" Target="../media/image482.svg"/><Relationship Id="rId25" Type="http://schemas.openxmlformats.org/officeDocument/2006/relationships/image" Target="../media/image500.svg"/><Relationship Id="rId33" Type="http://schemas.openxmlformats.org/officeDocument/2006/relationships/image" Target="../media/image508.svg"/><Relationship Id="rId38" Type="http://schemas.openxmlformats.org/officeDocument/2006/relationships/image" Target="../media/image513.png"/><Relationship Id="rId46" Type="http://schemas.openxmlformats.org/officeDocument/2006/relationships/image" Target="../media/image519.png"/><Relationship Id="rId59" Type="http://schemas.openxmlformats.org/officeDocument/2006/relationships/image" Target="../media/image532.svg"/><Relationship Id="rId67" Type="http://schemas.openxmlformats.org/officeDocument/2006/relationships/image" Target="../media/image539.svg"/><Relationship Id="rId20" Type="http://schemas.openxmlformats.org/officeDocument/2006/relationships/image" Target="../media/image495.png"/><Relationship Id="rId41" Type="http://schemas.openxmlformats.org/officeDocument/2006/relationships/image" Target="../media/image16.svg"/><Relationship Id="rId54" Type="http://schemas.openxmlformats.org/officeDocument/2006/relationships/image" Target="../media/image527.png"/><Relationship Id="rId62" Type="http://schemas.openxmlformats.org/officeDocument/2006/relationships/image" Target="../media/image21.png"/><Relationship Id="rId1" Type="http://schemas.openxmlformats.org/officeDocument/2006/relationships/slideLayout" Target="../slideLayouts/slideLayout2.xml"/><Relationship Id="rId6" Type="http://schemas.openxmlformats.org/officeDocument/2006/relationships/image" Target="../media/image485.png"/><Relationship Id="rId15" Type="http://schemas.openxmlformats.org/officeDocument/2006/relationships/image" Target="../media/image494.svg"/><Relationship Id="rId23" Type="http://schemas.openxmlformats.org/officeDocument/2006/relationships/image" Target="../media/image498.svg"/><Relationship Id="rId28" Type="http://schemas.openxmlformats.org/officeDocument/2006/relationships/image" Target="../media/image503.png"/><Relationship Id="rId36" Type="http://schemas.openxmlformats.org/officeDocument/2006/relationships/image" Target="../media/image511.png"/><Relationship Id="rId49" Type="http://schemas.openxmlformats.org/officeDocument/2006/relationships/image" Target="../media/image522.svg"/><Relationship Id="rId57" Type="http://schemas.openxmlformats.org/officeDocument/2006/relationships/image" Target="../media/image530.svg"/><Relationship Id="rId10" Type="http://schemas.openxmlformats.org/officeDocument/2006/relationships/image" Target="../media/image489.png"/><Relationship Id="rId31" Type="http://schemas.openxmlformats.org/officeDocument/2006/relationships/image" Target="../media/image506.svg"/><Relationship Id="rId44" Type="http://schemas.openxmlformats.org/officeDocument/2006/relationships/image" Target="../media/image517.png"/><Relationship Id="rId52" Type="http://schemas.openxmlformats.org/officeDocument/2006/relationships/image" Target="../media/image525.png"/><Relationship Id="rId60" Type="http://schemas.openxmlformats.org/officeDocument/2006/relationships/image" Target="../media/image533.png"/><Relationship Id="rId65" Type="http://schemas.openxmlformats.org/officeDocument/2006/relationships/image" Target="../media/image537.svg"/><Relationship Id="rId4" Type="http://schemas.openxmlformats.org/officeDocument/2006/relationships/image" Target="../media/image483.png"/><Relationship Id="rId9" Type="http://schemas.openxmlformats.org/officeDocument/2006/relationships/image" Target="../media/image488.svg"/><Relationship Id="rId13" Type="http://schemas.openxmlformats.org/officeDocument/2006/relationships/image" Target="../media/image492.svg"/><Relationship Id="rId18" Type="http://schemas.openxmlformats.org/officeDocument/2006/relationships/image" Target="../media/image8.png"/><Relationship Id="rId39" Type="http://schemas.openxmlformats.org/officeDocument/2006/relationships/image" Target="../media/image514.svg"/><Relationship Id="rId34" Type="http://schemas.openxmlformats.org/officeDocument/2006/relationships/image" Target="../media/image509.png"/><Relationship Id="rId50" Type="http://schemas.openxmlformats.org/officeDocument/2006/relationships/image" Target="../media/image523.png"/><Relationship Id="rId55" Type="http://schemas.openxmlformats.org/officeDocument/2006/relationships/image" Target="../media/image528.svg"/></Relationships>
</file>

<file path=ppt/slides/_rels/slide161.xml.rels><?xml version="1.0" encoding="UTF-8" standalone="yes"?>
<Relationships xmlns="http://schemas.openxmlformats.org/package/2006/relationships"><Relationship Id="rId8" Type="http://schemas.openxmlformats.org/officeDocument/2006/relationships/image" Target="../media/image544.png"/><Relationship Id="rId13" Type="http://schemas.openxmlformats.org/officeDocument/2006/relationships/image" Target="../media/image549.svg"/><Relationship Id="rId18" Type="http://schemas.openxmlformats.org/officeDocument/2006/relationships/image" Target="../media/image554.png"/><Relationship Id="rId26" Type="http://schemas.openxmlformats.org/officeDocument/2006/relationships/image" Target="../media/image560.png"/><Relationship Id="rId3" Type="http://schemas.openxmlformats.org/officeDocument/2006/relationships/image" Target="../media/image482.svg"/><Relationship Id="rId21" Type="http://schemas.openxmlformats.org/officeDocument/2006/relationships/image" Target="../media/image557.svg"/><Relationship Id="rId7" Type="http://schemas.openxmlformats.org/officeDocument/2006/relationships/image" Target="../media/image543.svg"/><Relationship Id="rId12" Type="http://schemas.openxmlformats.org/officeDocument/2006/relationships/image" Target="../media/image548.png"/><Relationship Id="rId17" Type="http://schemas.openxmlformats.org/officeDocument/2006/relationships/image" Target="../media/image553.svg"/><Relationship Id="rId25" Type="http://schemas.openxmlformats.org/officeDocument/2006/relationships/image" Target="../media/image42.svg"/><Relationship Id="rId2" Type="http://schemas.openxmlformats.org/officeDocument/2006/relationships/image" Target="../media/image481.png"/><Relationship Id="rId16" Type="http://schemas.openxmlformats.org/officeDocument/2006/relationships/image" Target="../media/image552.png"/><Relationship Id="rId20" Type="http://schemas.openxmlformats.org/officeDocument/2006/relationships/image" Target="../media/image556.png"/><Relationship Id="rId29" Type="http://schemas.openxmlformats.org/officeDocument/2006/relationships/image" Target="../media/image563.svg"/><Relationship Id="rId1" Type="http://schemas.openxmlformats.org/officeDocument/2006/relationships/slideLayout" Target="../slideLayouts/slideLayout2.xml"/><Relationship Id="rId6" Type="http://schemas.openxmlformats.org/officeDocument/2006/relationships/image" Target="../media/image542.png"/><Relationship Id="rId11" Type="http://schemas.openxmlformats.org/officeDocument/2006/relationships/image" Target="../media/image547.svg"/><Relationship Id="rId24" Type="http://schemas.openxmlformats.org/officeDocument/2006/relationships/image" Target="../media/image41.png"/><Relationship Id="rId5" Type="http://schemas.openxmlformats.org/officeDocument/2006/relationships/image" Target="../media/image541.svg"/><Relationship Id="rId15" Type="http://schemas.openxmlformats.org/officeDocument/2006/relationships/image" Target="../media/image551.svg"/><Relationship Id="rId23" Type="http://schemas.openxmlformats.org/officeDocument/2006/relationships/image" Target="../media/image559.svg"/><Relationship Id="rId28" Type="http://schemas.openxmlformats.org/officeDocument/2006/relationships/image" Target="../media/image562.png"/><Relationship Id="rId10" Type="http://schemas.openxmlformats.org/officeDocument/2006/relationships/image" Target="../media/image546.png"/><Relationship Id="rId19" Type="http://schemas.openxmlformats.org/officeDocument/2006/relationships/image" Target="../media/image555.svg"/><Relationship Id="rId31" Type="http://schemas.openxmlformats.org/officeDocument/2006/relationships/image" Target="../media/image565.svg"/><Relationship Id="rId4" Type="http://schemas.openxmlformats.org/officeDocument/2006/relationships/image" Target="../media/image540.png"/><Relationship Id="rId9" Type="http://schemas.openxmlformats.org/officeDocument/2006/relationships/image" Target="../media/image545.svg"/><Relationship Id="rId14" Type="http://schemas.openxmlformats.org/officeDocument/2006/relationships/image" Target="../media/image550.png"/><Relationship Id="rId22" Type="http://schemas.openxmlformats.org/officeDocument/2006/relationships/image" Target="../media/image558.png"/><Relationship Id="rId27" Type="http://schemas.openxmlformats.org/officeDocument/2006/relationships/image" Target="../media/image561.svg"/><Relationship Id="rId30" Type="http://schemas.openxmlformats.org/officeDocument/2006/relationships/image" Target="../media/image564.png"/></Relationships>
</file>

<file path=ppt/slides/_rels/slide162.xml.rels><?xml version="1.0" encoding="UTF-8" standalone="yes"?>
<Relationships xmlns="http://schemas.openxmlformats.org/package/2006/relationships"><Relationship Id="rId8" Type="http://schemas.openxmlformats.org/officeDocument/2006/relationships/image" Target="../media/image544.png"/><Relationship Id="rId13" Type="http://schemas.openxmlformats.org/officeDocument/2006/relationships/image" Target="../media/image549.svg"/><Relationship Id="rId18" Type="http://schemas.openxmlformats.org/officeDocument/2006/relationships/image" Target="../media/image554.png"/><Relationship Id="rId26" Type="http://schemas.openxmlformats.org/officeDocument/2006/relationships/image" Target="../media/image562.png"/><Relationship Id="rId3" Type="http://schemas.openxmlformats.org/officeDocument/2006/relationships/image" Target="../media/image482.svg"/><Relationship Id="rId21" Type="http://schemas.openxmlformats.org/officeDocument/2006/relationships/image" Target="../media/image557.svg"/><Relationship Id="rId7" Type="http://schemas.openxmlformats.org/officeDocument/2006/relationships/image" Target="../media/image543.svg"/><Relationship Id="rId12" Type="http://schemas.openxmlformats.org/officeDocument/2006/relationships/image" Target="../media/image548.png"/><Relationship Id="rId17" Type="http://schemas.openxmlformats.org/officeDocument/2006/relationships/image" Target="../media/image553.svg"/><Relationship Id="rId25" Type="http://schemas.openxmlformats.org/officeDocument/2006/relationships/image" Target="../media/image561.svg"/><Relationship Id="rId2" Type="http://schemas.openxmlformats.org/officeDocument/2006/relationships/image" Target="../media/image481.png"/><Relationship Id="rId16" Type="http://schemas.openxmlformats.org/officeDocument/2006/relationships/image" Target="../media/image552.png"/><Relationship Id="rId20" Type="http://schemas.openxmlformats.org/officeDocument/2006/relationships/image" Target="../media/image556.png"/><Relationship Id="rId29" Type="http://schemas.openxmlformats.org/officeDocument/2006/relationships/image" Target="../media/image42.svg"/><Relationship Id="rId1" Type="http://schemas.openxmlformats.org/officeDocument/2006/relationships/slideLayout" Target="../slideLayouts/slideLayout2.xml"/><Relationship Id="rId6" Type="http://schemas.openxmlformats.org/officeDocument/2006/relationships/image" Target="../media/image542.png"/><Relationship Id="rId11" Type="http://schemas.openxmlformats.org/officeDocument/2006/relationships/image" Target="../media/image547.svg"/><Relationship Id="rId24" Type="http://schemas.openxmlformats.org/officeDocument/2006/relationships/image" Target="../media/image560.png"/><Relationship Id="rId5" Type="http://schemas.openxmlformats.org/officeDocument/2006/relationships/image" Target="../media/image541.svg"/><Relationship Id="rId15" Type="http://schemas.openxmlformats.org/officeDocument/2006/relationships/image" Target="../media/image551.svg"/><Relationship Id="rId23" Type="http://schemas.openxmlformats.org/officeDocument/2006/relationships/image" Target="../media/image559.svg"/><Relationship Id="rId28" Type="http://schemas.openxmlformats.org/officeDocument/2006/relationships/image" Target="../media/image41.png"/><Relationship Id="rId10" Type="http://schemas.openxmlformats.org/officeDocument/2006/relationships/image" Target="../media/image546.png"/><Relationship Id="rId19" Type="http://schemas.openxmlformats.org/officeDocument/2006/relationships/image" Target="../media/image555.svg"/><Relationship Id="rId31" Type="http://schemas.openxmlformats.org/officeDocument/2006/relationships/image" Target="../media/image565.svg"/><Relationship Id="rId4" Type="http://schemas.openxmlformats.org/officeDocument/2006/relationships/image" Target="../media/image540.png"/><Relationship Id="rId9" Type="http://schemas.openxmlformats.org/officeDocument/2006/relationships/image" Target="../media/image545.svg"/><Relationship Id="rId14" Type="http://schemas.openxmlformats.org/officeDocument/2006/relationships/image" Target="../media/image550.png"/><Relationship Id="rId22" Type="http://schemas.openxmlformats.org/officeDocument/2006/relationships/image" Target="../media/image558.png"/><Relationship Id="rId27" Type="http://schemas.openxmlformats.org/officeDocument/2006/relationships/image" Target="../media/image563.svg"/><Relationship Id="rId30" Type="http://schemas.openxmlformats.org/officeDocument/2006/relationships/image" Target="../media/image564.png"/></Relationships>
</file>

<file path=ppt/slides/_rels/slide163.xml.rels><?xml version="1.0" encoding="UTF-8" standalone="yes"?>
<Relationships xmlns="http://schemas.openxmlformats.org/package/2006/relationships"><Relationship Id="rId3" Type="http://schemas.openxmlformats.org/officeDocument/2006/relationships/image" Target="../media/image481.png"/><Relationship Id="rId2" Type="http://schemas.openxmlformats.org/officeDocument/2006/relationships/notesSlide" Target="../notesSlides/notesSlide3.xml"/><Relationship Id="rId1" Type="http://schemas.openxmlformats.org/officeDocument/2006/relationships/slideLayout" Target="../slideLayouts/slideLayout5.xml"/><Relationship Id="rId6" Type="http://schemas.openxmlformats.org/officeDocument/2006/relationships/image" Target="../media/image422.svg"/><Relationship Id="rId5" Type="http://schemas.openxmlformats.org/officeDocument/2006/relationships/image" Target="../media/image421.png"/><Relationship Id="rId4" Type="http://schemas.openxmlformats.org/officeDocument/2006/relationships/image" Target="../media/image482.svg"/></Relationships>
</file>

<file path=ppt/slides/_rels/slide164.xml.rels><?xml version="1.0" encoding="UTF-8" standalone="yes"?>
<Relationships xmlns="http://schemas.openxmlformats.org/package/2006/relationships"><Relationship Id="rId3" Type="http://schemas.openxmlformats.org/officeDocument/2006/relationships/image" Target="../media/image422.svg"/><Relationship Id="rId2" Type="http://schemas.openxmlformats.org/officeDocument/2006/relationships/image" Target="../media/image421.png"/><Relationship Id="rId1" Type="http://schemas.openxmlformats.org/officeDocument/2006/relationships/slideLayout" Target="../slideLayouts/slideLayout5.xml"/><Relationship Id="rId5" Type="http://schemas.openxmlformats.org/officeDocument/2006/relationships/image" Target="../media/image482.svg"/><Relationship Id="rId4" Type="http://schemas.openxmlformats.org/officeDocument/2006/relationships/image" Target="../media/image481.png"/></Relationships>
</file>

<file path=ppt/slides/_rels/slide165.xml.rels><?xml version="1.0" encoding="UTF-8" standalone="yes"?>
<Relationships xmlns="http://schemas.openxmlformats.org/package/2006/relationships"><Relationship Id="rId3" Type="http://schemas.openxmlformats.org/officeDocument/2006/relationships/image" Target="../media/image422.svg"/><Relationship Id="rId2" Type="http://schemas.openxmlformats.org/officeDocument/2006/relationships/image" Target="../media/image421.png"/><Relationship Id="rId1" Type="http://schemas.openxmlformats.org/officeDocument/2006/relationships/slideLayout" Target="../slideLayouts/slideLayout2.xml"/><Relationship Id="rId5" Type="http://schemas.openxmlformats.org/officeDocument/2006/relationships/image" Target="../media/image482.svg"/><Relationship Id="rId4" Type="http://schemas.openxmlformats.org/officeDocument/2006/relationships/image" Target="../media/image481.png"/></Relationships>
</file>

<file path=ppt/slides/_rels/slide166.xml.rels><?xml version="1.0" encoding="UTF-8" standalone="yes"?>
<Relationships xmlns="http://schemas.openxmlformats.org/package/2006/relationships"><Relationship Id="rId8" Type="http://schemas.openxmlformats.org/officeDocument/2006/relationships/image" Target="../media/image572.png"/><Relationship Id="rId13" Type="http://schemas.openxmlformats.org/officeDocument/2006/relationships/image" Target="../media/image537.svg"/><Relationship Id="rId3" Type="http://schemas.openxmlformats.org/officeDocument/2006/relationships/image" Target="../media/image567.svg"/><Relationship Id="rId7" Type="http://schemas.openxmlformats.org/officeDocument/2006/relationships/image" Target="../media/image571.svg"/><Relationship Id="rId12" Type="http://schemas.openxmlformats.org/officeDocument/2006/relationships/image" Target="../media/image536.png"/><Relationship Id="rId2" Type="http://schemas.openxmlformats.org/officeDocument/2006/relationships/image" Target="../media/image566.png"/><Relationship Id="rId16" Type="http://schemas.openxmlformats.org/officeDocument/2006/relationships/image" Target="../media/image482.svg"/><Relationship Id="rId1" Type="http://schemas.openxmlformats.org/officeDocument/2006/relationships/slideLayout" Target="../slideLayouts/slideLayout2.xml"/><Relationship Id="rId6" Type="http://schemas.openxmlformats.org/officeDocument/2006/relationships/image" Target="../media/image570.png"/><Relationship Id="rId11" Type="http://schemas.openxmlformats.org/officeDocument/2006/relationships/image" Target="../media/image575.svg"/><Relationship Id="rId5" Type="http://schemas.openxmlformats.org/officeDocument/2006/relationships/image" Target="../media/image569.svg"/><Relationship Id="rId15" Type="http://schemas.openxmlformats.org/officeDocument/2006/relationships/image" Target="../media/image576.svg"/><Relationship Id="rId10" Type="http://schemas.openxmlformats.org/officeDocument/2006/relationships/image" Target="../media/image574.png"/><Relationship Id="rId4" Type="http://schemas.openxmlformats.org/officeDocument/2006/relationships/image" Target="../media/image568.png"/><Relationship Id="rId9" Type="http://schemas.openxmlformats.org/officeDocument/2006/relationships/image" Target="../media/image573.svg"/><Relationship Id="rId14" Type="http://schemas.openxmlformats.org/officeDocument/2006/relationships/image" Target="../media/image481.png"/></Relationships>
</file>

<file path=ppt/slides/_rels/slide167.xml.rels><?xml version="1.0" encoding="UTF-8" standalone="yes"?>
<Relationships xmlns="http://schemas.openxmlformats.org/package/2006/relationships"><Relationship Id="rId3" Type="http://schemas.openxmlformats.org/officeDocument/2006/relationships/image" Target="../media/image578.svg"/><Relationship Id="rId2" Type="http://schemas.openxmlformats.org/officeDocument/2006/relationships/image" Target="../media/image577.png"/><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3" Type="http://schemas.openxmlformats.org/officeDocument/2006/relationships/image" Target="../media/image578.svg"/><Relationship Id="rId2" Type="http://schemas.openxmlformats.org/officeDocument/2006/relationships/image" Target="../media/image577.png"/><Relationship Id="rId1" Type="http://schemas.openxmlformats.org/officeDocument/2006/relationships/slideLayout" Target="../slideLayouts/slideLayout2.xml"/><Relationship Id="rId5" Type="http://schemas.openxmlformats.org/officeDocument/2006/relationships/image" Target="../media/image580.svg"/><Relationship Id="rId4" Type="http://schemas.openxmlformats.org/officeDocument/2006/relationships/image" Target="../media/image579.png"/></Relationships>
</file>

<file path=ppt/slides/_rels/slide169.xml.rels><?xml version="1.0" encoding="UTF-8" standalone="yes"?>
<Relationships xmlns="http://schemas.openxmlformats.org/package/2006/relationships"><Relationship Id="rId3" Type="http://schemas.openxmlformats.org/officeDocument/2006/relationships/image" Target="../media/image578.svg"/><Relationship Id="rId2" Type="http://schemas.openxmlformats.org/officeDocument/2006/relationships/image" Target="../media/image577.png"/><Relationship Id="rId1" Type="http://schemas.openxmlformats.org/officeDocument/2006/relationships/slideLayout" Target="../slideLayouts/slideLayout2.xml"/><Relationship Id="rId5" Type="http://schemas.openxmlformats.org/officeDocument/2006/relationships/image" Target="../media/image580.svg"/><Relationship Id="rId4" Type="http://schemas.openxmlformats.org/officeDocument/2006/relationships/image" Target="../media/image579.png"/></Relationships>
</file>

<file path=ppt/slides/_rels/slide170.xml.rels><?xml version="1.0" encoding="UTF-8" standalone="yes"?>
<Relationships xmlns="http://schemas.openxmlformats.org/package/2006/relationships"><Relationship Id="rId8" Type="http://schemas.openxmlformats.org/officeDocument/2006/relationships/image" Target="../media/image583.png"/><Relationship Id="rId13" Type="http://schemas.openxmlformats.org/officeDocument/2006/relationships/image" Target="../media/image76.svg"/><Relationship Id="rId18" Type="http://schemas.openxmlformats.org/officeDocument/2006/relationships/image" Target="../media/image591.png"/><Relationship Id="rId3" Type="http://schemas.openxmlformats.org/officeDocument/2006/relationships/image" Target="../media/image580.svg"/><Relationship Id="rId21" Type="http://schemas.openxmlformats.org/officeDocument/2006/relationships/image" Target="../media/image578.svg"/><Relationship Id="rId7" Type="http://schemas.openxmlformats.org/officeDocument/2006/relationships/image" Target="../media/image582.svg"/><Relationship Id="rId12" Type="http://schemas.openxmlformats.org/officeDocument/2006/relationships/image" Target="../media/image75.png"/><Relationship Id="rId17" Type="http://schemas.openxmlformats.org/officeDocument/2006/relationships/image" Target="../media/image590.svg"/><Relationship Id="rId2" Type="http://schemas.openxmlformats.org/officeDocument/2006/relationships/image" Target="../media/image579.png"/><Relationship Id="rId16" Type="http://schemas.openxmlformats.org/officeDocument/2006/relationships/image" Target="../media/image589.png"/><Relationship Id="rId20" Type="http://schemas.openxmlformats.org/officeDocument/2006/relationships/image" Target="../media/image577.png"/><Relationship Id="rId1" Type="http://schemas.openxmlformats.org/officeDocument/2006/relationships/slideLayout" Target="../slideLayouts/slideLayout2.xml"/><Relationship Id="rId6" Type="http://schemas.openxmlformats.org/officeDocument/2006/relationships/image" Target="../media/image581.png"/><Relationship Id="rId11" Type="http://schemas.openxmlformats.org/officeDocument/2006/relationships/image" Target="../media/image586.svg"/><Relationship Id="rId5" Type="http://schemas.openxmlformats.org/officeDocument/2006/relationships/image" Target="../media/image383.svg"/><Relationship Id="rId15" Type="http://schemas.openxmlformats.org/officeDocument/2006/relationships/image" Target="../media/image588.svg"/><Relationship Id="rId10" Type="http://schemas.openxmlformats.org/officeDocument/2006/relationships/image" Target="../media/image585.png"/><Relationship Id="rId19" Type="http://schemas.openxmlformats.org/officeDocument/2006/relationships/image" Target="../media/image592.svg"/><Relationship Id="rId4" Type="http://schemas.openxmlformats.org/officeDocument/2006/relationships/image" Target="../media/image382.png"/><Relationship Id="rId9" Type="http://schemas.openxmlformats.org/officeDocument/2006/relationships/image" Target="../media/image584.svg"/><Relationship Id="rId14" Type="http://schemas.openxmlformats.org/officeDocument/2006/relationships/image" Target="../media/image587.png"/></Relationships>
</file>

<file path=ppt/slides/_rels/slide171.xml.rels><?xml version="1.0" encoding="UTF-8" standalone="yes"?>
<Relationships xmlns="http://schemas.openxmlformats.org/package/2006/relationships"><Relationship Id="rId8" Type="http://schemas.openxmlformats.org/officeDocument/2006/relationships/image" Target="../media/image583.png"/><Relationship Id="rId13" Type="http://schemas.openxmlformats.org/officeDocument/2006/relationships/image" Target="../media/image76.svg"/><Relationship Id="rId18" Type="http://schemas.openxmlformats.org/officeDocument/2006/relationships/image" Target="../media/image591.png"/><Relationship Id="rId3" Type="http://schemas.openxmlformats.org/officeDocument/2006/relationships/image" Target="../media/image580.svg"/><Relationship Id="rId21" Type="http://schemas.openxmlformats.org/officeDocument/2006/relationships/image" Target="../media/image578.svg"/><Relationship Id="rId7" Type="http://schemas.openxmlformats.org/officeDocument/2006/relationships/image" Target="../media/image582.svg"/><Relationship Id="rId12" Type="http://schemas.openxmlformats.org/officeDocument/2006/relationships/image" Target="../media/image75.png"/><Relationship Id="rId17" Type="http://schemas.openxmlformats.org/officeDocument/2006/relationships/image" Target="../media/image590.svg"/><Relationship Id="rId2" Type="http://schemas.openxmlformats.org/officeDocument/2006/relationships/image" Target="../media/image579.png"/><Relationship Id="rId16" Type="http://schemas.openxmlformats.org/officeDocument/2006/relationships/image" Target="../media/image589.png"/><Relationship Id="rId20" Type="http://schemas.openxmlformats.org/officeDocument/2006/relationships/image" Target="../media/image577.png"/><Relationship Id="rId1" Type="http://schemas.openxmlformats.org/officeDocument/2006/relationships/slideLayout" Target="../slideLayouts/slideLayout2.xml"/><Relationship Id="rId6" Type="http://schemas.openxmlformats.org/officeDocument/2006/relationships/image" Target="../media/image581.png"/><Relationship Id="rId11" Type="http://schemas.openxmlformats.org/officeDocument/2006/relationships/image" Target="../media/image586.svg"/><Relationship Id="rId5" Type="http://schemas.openxmlformats.org/officeDocument/2006/relationships/image" Target="../media/image383.svg"/><Relationship Id="rId15" Type="http://schemas.openxmlformats.org/officeDocument/2006/relationships/image" Target="../media/image588.svg"/><Relationship Id="rId10" Type="http://schemas.openxmlformats.org/officeDocument/2006/relationships/image" Target="../media/image585.png"/><Relationship Id="rId19" Type="http://schemas.openxmlformats.org/officeDocument/2006/relationships/image" Target="../media/image592.svg"/><Relationship Id="rId4" Type="http://schemas.openxmlformats.org/officeDocument/2006/relationships/image" Target="../media/image382.png"/><Relationship Id="rId9" Type="http://schemas.openxmlformats.org/officeDocument/2006/relationships/image" Target="../media/image584.svg"/><Relationship Id="rId14" Type="http://schemas.openxmlformats.org/officeDocument/2006/relationships/image" Target="../media/image587.png"/></Relationships>
</file>

<file path=ppt/slides/_rels/slide172.xml.rels><?xml version="1.0" encoding="UTF-8" standalone="yes"?>
<Relationships xmlns="http://schemas.openxmlformats.org/package/2006/relationships"><Relationship Id="rId3" Type="http://schemas.openxmlformats.org/officeDocument/2006/relationships/image" Target="../media/image578.svg"/><Relationship Id="rId7" Type="http://schemas.openxmlformats.org/officeDocument/2006/relationships/image" Target="../media/image594.svg"/><Relationship Id="rId2" Type="http://schemas.openxmlformats.org/officeDocument/2006/relationships/image" Target="../media/image577.png"/><Relationship Id="rId1" Type="http://schemas.openxmlformats.org/officeDocument/2006/relationships/slideLayout" Target="../slideLayouts/slideLayout2.xml"/><Relationship Id="rId6" Type="http://schemas.openxmlformats.org/officeDocument/2006/relationships/image" Target="../media/image593.png"/><Relationship Id="rId5" Type="http://schemas.openxmlformats.org/officeDocument/2006/relationships/image" Target="../media/image383.svg"/><Relationship Id="rId4" Type="http://schemas.openxmlformats.org/officeDocument/2006/relationships/image" Target="../media/image382.png"/></Relationships>
</file>

<file path=ppt/slides/_rels/slide173.xml.rels><?xml version="1.0" encoding="UTF-8" standalone="yes"?>
<Relationships xmlns="http://schemas.openxmlformats.org/package/2006/relationships"><Relationship Id="rId8" Type="http://schemas.openxmlformats.org/officeDocument/2006/relationships/image" Target="../media/image593.png"/><Relationship Id="rId3" Type="http://schemas.openxmlformats.org/officeDocument/2006/relationships/image" Target="../media/image578.svg"/><Relationship Id="rId7" Type="http://schemas.openxmlformats.org/officeDocument/2006/relationships/image" Target="../media/image596.svg"/><Relationship Id="rId2" Type="http://schemas.openxmlformats.org/officeDocument/2006/relationships/image" Target="../media/image577.png"/><Relationship Id="rId1" Type="http://schemas.openxmlformats.org/officeDocument/2006/relationships/slideLayout" Target="../slideLayouts/slideLayout2.xml"/><Relationship Id="rId6" Type="http://schemas.openxmlformats.org/officeDocument/2006/relationships/image" Target="../media/image595.png"/><Relationship Id="rId5" Type="http://schemas.openxmlformats.org/officeDocument/2006/relationships/image" Target="../media/image383.svg"/><Relationship Id="rId4" Type="http://schemas.openxmlformats.org/officeDocument/2006/relationships/image" Target="../media/image382.png"/><Relationship Id="rId9" Type="http://schemas.openxmlformats.org/officeDocument/2006/relationships/image" Target="../media/image594.svg"/></Relationships>
</file>

<file path=ppt/slides/_rels/slide174.xml.rels><?xml version="1.0" encoding="UTF-8" standalone="yes"?>
<Relationships xmlns="http://schemas.openxmlformats.org/package/2006/relationships"><Relationship Id="rId8" Type="http://schemas.openxmlformats.org/officeDocument/2006/relationships/image" Target="../media/image593.png"/><Relationship Id="rId3" Type="http://schemas.openxmlformats.org/officeDocument/2006/relationships/image" Target="../media/image578.svg"/><Relationship Id="rId7" Type="http://schemas.openxmlformats.org/officeDocument/2006/relationships/image" Target="../media/image596.svg"/><Relationship Id="rId2" Type="http://schemas.openxmlformats.org/officeDocument/2006/relationships/image" Target="../media/image577.png"/><Relationship Id="rId1" Type="http://schemas.openxmlformats.org/officeDocument/2006/relationships/slideLayout" Target="../slideLayouts/slideLayout2.xml"/><Relationship Id="rId6" Type="http://schemas.openxmlformats.org/officeDocument/2006/relationships/image" Target="../media/image595.png"/><Relationship Id="rId5" Type="http://schemas.openxmlformats.org/officeDocument/2006/relationships/image" Target="../media/image383.svg"/><Relationship Id="rId4" Type="http://schemas.openxmlformats.org/officeDocument/2006/relationships/image" Target="../media/image382.png"/><Relationship Id="rId9" Type="http://schemas.openxmlformats.org/officeDocument/2006/relationships/image" Target="../media/image594.svg"/></Relationships>
</file>

<file path=ppt/slides/_rels/slide175.xml.rels><?xml version="1.0" encoding="UTF-8" standalone="yes"?>
<Relationships xmlns="http://schemas.openxmlformats.org/package/2006/relationships"><Relationship Id="rId8" Type="http://schemas.openxmlformats.org/officeDocument/2006/relationships/image" Target="../media/image597.png"/><Relationship Id="rId13" Type="http://schemas.openxmlformats.org/officeDocument/2006/relationships/image" Target="../media/image594.svg"/><Relationship Id="rId18" Type="http://schemas.openxmlformats.org/officeDocument/2006/relationships/image" Target="../media/image603.png"/><Relationship Id="rId26" Type="http://schemas.openxmlformats.org/officeDocument/2006/relationships/image" Target="../media/image67.png"/><Relationship Id="rId3" Type="http://schemas.openxmlformats.org/officeDocument/2006/relationships/image" Target="../media/image578.svg"/><Relationship Id="rId21" Type="http://schemas.openxmlformats.org/officeDocument/2006/relationships/image" Target="../media/image411.svg"/><Relationship Id="rId7" Type="http://schemas.openxmlformats.org/officeDocument/2006/relationships/image" Target="../media/image301.svg"/><Relationship Id="rId12" Type="http://schemas.openxmlformats.org/officeDocument/2006/relationships/image" Target="../media/image593.png"/><Relationship Id="rId17" Type="http://schemas.openxmlformats.org/officeDocument/2006/relationships/image" Target="../media/image602.svg"/><Relationship Id="rId25" Type="http://schemas.openxmlformats.org/officeDocument/2006/relationships/image" Target="../media/image512.svg"/><Relationship Id="rId2" Type="http://schemas.openxmlformats.org/officeDocument/2006/relationships/image" Target="../media/image577.png"/><Relationship Id="rId16" Type="http://schemas.openxmlformats.org/officeDocument/2006/relationships/image" Target="../media/image601.png"/><Relationship Id="rId20" Type="http://schemas.openxmlformats.org/officeDocument/2006/relationships/image" Target="../media/image410.png"/><Relationship Id="rId29" Type="http://schemas.openxmlformats.org/officeDocument/2006/relationships/image" Target="../media/image608.svg"/><Relationship Id="rId1" Type="http://schemas.openxmlformats.org/officeDocument/2006/relationships/slideLayout" Target="../slideLayouts/slideLayout2.xml"/><Relationship Id="rId6" Type="http://schemas.openxmlformats.org/officeDocument/2006/relationships/image" Target="../media/image33.png"/><Relationship Id="rId11" Type="http://schemas.openxmlformats.org/officeDocument/2006/relationships/image" Target="../media/image588.svg"/><Relationship Id="rId24" Type="http://schemas.openxmlformats.org/officeDocument/2006/relationships/image" Target="../media/image511.png"/><Relationship Id="rId5" Type="http://schemas.openxmlformats.org/officeDocument/2006/relationships/image" Target="../media/image383.svg"/><Relationship Id="rId15" Type="http://schemas.openxmlformats.org/officeDocument/2006/relationships/image" Target="../media/image600.svg"/><Relationship Id="rId23" Type="http://schemas.openxmlformats.org/officeDocument/2006/relationships/image" Target="../media/image606.svg"/><Relationship Id="rId28" Type="http://schemas.openxmlformats.org/officeDocument/2006/relationships/image" Target="../media/image607.png"/><Relationship Id="rId10" Type="http://schemas.openxmlformats.org/officeDocument/2006/relationships/image" Target="../media/image587.png"/><Relationship Id="rId19" Type="http://schemas.openxmlformats.org/officeDocument/2006/relationships/image" Target="../media/image604.svg"/><Relationship Id="rId31" Type="http://schemas.openxmlformats.org/officeDocument/2006/relationships/image" Target="../media/image610.svg"/><Relationship Id="rId4" Type="http://schemas.openxmlformats.org/officeDocument/2006/relationships/image" Target="../media/image382.png"/><Relationship Id="rId9" Type="http://schemas.openxmlformats.org/officeDocument/2006/relationships/image" Target="../media/image598.svg"/><Relationship Id="rId14" Type="http://schemas.openxmlformats.org/officeDocument/2006/relationships/image" Target="../media/image599.png"/><Relationship Id="rId22" Type="http://schemas.openxmlformats.org/officeDocument/2006/relationships/image" Target="../media/image605.png"/><Relationship Id="rId27" Type="http://schemas.openxmlformats.org/officeDocument/2006/relationships/image" Target="../media/image68.svg"/><Relationship Id="rId30" Type="http://schemas.openxmlformats.org/officeDocument/2006/relationships/image" Target="../media/image609.png"/></Relationships>
</file>

<file path=ppt/slides/_rels/slide176.xml.rels><?xml version="1.0" encoding="UTF-8" standalone="yes"?>
<Relationships xmlns="http://schemas.openxmlformats.org/package/2006/relationships"><Relationship Id="rId13" Type="http://schemas.openxmlformats.org/officeDocument/2006/relationships/image" Target="../media/image411.svg"/><Relationship Id="rId18" Type="http://schemas.openxmlformats.org/officeDocument/2006/relationships/image" Target="../media/image350.png"/><Relationship Id="rId26" Type="http://schemas.openxmlformats.org/officeDocument/2006/relationships/image" Target="../media/image621.png"/><Relationship Id="rId21" Type="http://schemas.openxmlformats.org/officeDocument/2006/relationships/image" Target="../media/image618.svg"/><Relationship Id="rId34" Type="http://schemas.openxmlformats.org/officeDocument/2006/relationships/image" Target="../media/image629.png"/><Relationship Id="rId7" Type="http://schemas.openxmlformats.org/officeDocument/2006/relationships/image" Target="../media/image594.svg"/><Relationship Id="rId12" Type="http://schemas.openxmlformats.org/officeDocument/2006/relationships/image" Target="../media/image410.png"/><Relationship Id="rId17" Type="http://schemas.openxmlformats.org/officeDocument/2006/relationships/image" Target="../media/image616.svg"/><Relationship Id="rId25" Type="http://schemas.openxmlformats.org/officeDocument/2006/relationships/image" Target="../media/image620.svg"/><Relationship Id="rId33" Type="http://schemas.openxmlformats.org/officeDocument/2006/relationships/image" Target="../media/image628.svg"/><Relationship Id="rId2" Type="http://schemas.openxmlformats.org/officeDocument/2006/relationships/image" Target="../media/image577.png"/><Relationship Id="rId16" Type="http://schemas.openxmlformats.org/officeDocument/2006/relationships/image" Target="../media/image615.png"/><Relationship Id="rId20" Type="http://schemas.openxmlformats.org/officeDocument/2006/relationships/image" Target="../media/image617.png"/><Relationship Id="rId29" Type="http://schemas.openxmlformats.org/officeDocument/2006/relationships/image" Target="../media/image624.svg"/><Relationship Id="rId1" Type="http://schemas.openxmlformats.org/officeDocument/2006/relationships/slideLayout" Target="../slideLayouts/slideLayout2.xml"/><Relationship Id="rId6" Type="http://schemas.openxmlformats.org/officeDocument/2006/relationships/image" Target="../media/image593.png"/><Relationship Id="rId11" Type="http://schemas.openxmlformats.org/officeDocument/2006/relationships/image" Target="../media/image400.svg"/><Relationship Id="rId24" Type="http://schemas.openxmlformats.org/officeDocument/2006/relationships/image" Target="../media/image619.png"/><Relationship Id="rId32" Type="http://schemas.openxmlformats.org/officeDocument/2006/relationships/image" Target="../media/image627.png"/><Relationship Id="rId37" Type="http://schemas.openxmlformats.org/officeDocument/2006/relationships/image" Target="../media/image514.svg"/><Relationship Id="rId5" Type="http://schemas.openxmlformats.org/officeDocument/2006/relationships/image" Target="../media/image383.svg"/><Relationship Id="rId15" Type="http://schemas.openxmlformats.org/officeDocument/2006/relationships/image" Target="../media/image614.svg"/><Relationship Id="rId23" Type="http://schemas.openxmlformats.org/officeDocument/2006/relationships/image" Target="../media/image588.svg"/><Relationship Id="rId28" Type="http://schemas.openxmlformats.org/officeDocument/2006/relationships/image" Target="../media/image623.png"/><Relationship Id="rId36" Type="http://schemas.openxmlformats.org/officeDocument/2006/relationships/image" Target="../media/image513.png"/><Relationship Id="rId10" Type="http://schemas.openxmlformats.org/officeDocument/2006/relationships/image" Target="../media/image399.png"/><Relationship Id="rId19" Type="http://schemas.openxmlformats.org/officeDocument/2006/relationships/image" Target="../media/image351.svg"/><Relationship Id="rId31" Type="http://schemas.openxmlformats.org/officeDocument/2006/relationships/image" Target="../media/image626.svg"/><Relationship Id="rId4" Type="http://schemas.openxmlformats.org/officeDocument/2006/relationships/image" Target="../media/image382.png"/><Relationship Id="rId9" Type="http://schemas.openxmlformats.org/officeDocument/2006/relationships/image" Target="../media/image612.svg"/><Relationship Id="rId14" Type="http://schemas.openxmlformats.org/officeDocument/2006/relationships/image" Target="../media/image613.png"/><Relationship Id="rId22" Type="http://schemas.openxmlformats.org/officeDocument/2006/relationships/image" Target="../media/image587.png"/><Relationship Id="rId27" Type="http://schemas.openxmlformats.org/officeDocument/2006/relationships/image" Target="../media/image622.svg"/><Relationship Id="rId30" Type="http://schemas.openxmlformats.org/officeDocument/2006/relationships/image" Target="../media/image625.png"/><Relationship Id="rId35" Type="http://schemas.openxmlformats.org/officeDocument/2006/relationships/image" Target="../media/image630.svg"/><Relationship Id="rId8" Type="http://schemas.openxmlformats.org/officeDocument/2006/relationships/image" Target="../media/image611.png"/><Relationship Id="rId3" Type="http://schemas.openxmlformats.org/officeDocument/2006/relationships/image" Target="../media/image578.svg"/></Relationships>
</file>

<file path=ppt/slides/_rels/slide177.xml.rels><?xml version="1.0" encoding="UTF-8" standalone="yes"?>
<Relationships xmlns="http://schemas.openxmlformats.org/package/2006/relationships"><Relationship Id="rId8" Type="http://schemas.openxmlformats.org/officeDocument/2006/relationships/image" Target="../media/image593.png"/><Relationship Id="rId3" Type="http://schemas.openxmlformats.org/officeDocument/2006/relationships/image" Target="../media/image578.svg"/><Relationship Id="rId7" Type="http://schemas.openxmlformats.org/officeDocument/2006/relationships/image" Target="../media/image596.svg"/><Relationship Id="rId2" Type="http://schemas.openxmlformats.org/officeDocument/2006/relationships/image" Target="../media/image577.png"/><Relationship Id="rId1" Type="http://schemas.openxmlformats.org/officeDocument/2006/relationships/slideLayout" Target="../slideLayouts/slideLayout2.xml"/><Relationship Id="rId6" Type="http://schemas.openxmlformats.org/officeDocument/2006/relationships/image" Target="../media/image595.png"/><Relationship Id="rId5" Type="http://schemas.openxmlformats.org/officeDocument/2006/relationships/image" Target="../media/image383.svg"/><Relationship Id="rId4" Type="http://schemas.openxmlformats.org/officeDocument/2006/relationships/image" Target="../media/image382.png"/><Relationship Id="rId9" Type="http://schemas.openxmlformats.org/officeDocument/2006/relationships/image" Target="../media/image594.svg"/></Relationships>
</file>

<file path=ppt/slides/_rels/slide178.xml.rels><?xml version="1.0" encoding="UTF-8" standalone="yes"?>
<Relationships xmlns="http://schemas.openxmlformats.org/package/2006/relationships"><Relationship Id="rId8" Type="http://schemas.openxmlformats.org/officeDocument/2006/relationships/image" Target="../media/image593.png"/><Relationship Id="rId3" Type="http://schemas.openxmlformats.org/officeDocument/2006/relationships/image" Target="../media/image578.svg"/><Relationship Id="rId7" Type="http://schemas.openxmlformats.org/officeDocument/2006/relationships/image" Target="../media/image596.svg"/><Relationship Id="rId2" Type="http://schemas.openxmlformats.org/officeDocument/2006/relationships/image" Target="../media/image577.png"/><Relationship Id="rId1" Type="http://schemas.openxmlformats.org/officeDocument/2006/relationships/slideLayout" Target="../slideLayouts/slideLayout2.xml"/><Relationship Id="rId6" Type="http://schemas.openxmlformats.org/officeDocument/2006/relationships/image" Target="../media/image595.png"/><Relationship Id="rId5" Type="http://schemas.openxmlformats.org/officeDocument/2006/relationships/image" Target="../media/image383.svg"/><Relationship Id="rId4" Type="http://schemas.openxmlformats.org/officeDocument/2006/relationships/image" Target="../media/image382.png"/><Relationship Id="rId9" Type="http://schemas.openxmlformats.org/officeDocument/2006/relationships/image" Target="../media/image594.svg"/></Relationships>
</file>

<file path=ppt/slides/_rels/slide179.xml.rels><?xml version="1.0" encoding="UTF-8" standalone="yes"?>
<Relationships xmlns="http://schemas.openxmlformats.org/package/2006/relationships"><Relationship Id="rId8" Type="http://schemas.openxmlformats.org/officeDocument/2006/relationships/image" Target="../media/image593.png"/><Relationship Id="rId3" Type="http://schemas.openxmlformats.org/officeDocument/2006/relationships/image" Target="../media/image578.svg"/><Relationship Id="rId7" Type="http://schemas.openxmlformats.org/officeDocument/2006/relationships/image" Target="../media/image596.svg"/><Relationship Id="rId2" Type="http://schemas.openxmlformats.org/officeDocument/2006/relationships/image" Target="../media/image577.png"/><Relationship Id="rId1" Type="http://schemas.openxmlformats.org/officeDocument/2006/relationships/slideLayout" Target="../slideLayouts/slideLayout2.xml"/><Relationship Id="rId6" Type="http://schemas.openxmlformats.org/officeDocument/2006/relationships/image" Target="../media/image595.png"/><Relationship Id="rId5" Type="http://schemas.openxmlformats.org/officeDocument/2006/relationships/image" Target="../media/image383.svg"/><Relationship Id="rId4" Type="http://schemas.openxmlformats.org/officeDocument/2006/relationships/image" Target="../media/image382.png"/><Relationship Id="rId9" Type="http://schemas.openxmlformats.org/officeDocument/2006/relationships/image" Target="../media/image594.svg"/></Relationships>
</file>

<file path=ppt/slides/_rels/slide180.xml.rels><?xml version="1.0" encoding="UTF-8" standalone="yes"?>
<Relationships xmlns="http://schemas.openxmlformats.org/package/2006/relationships"><Relationship Id="rId3" Type="http://schemas.openxmlformats.org/officeDocument/2006/relationships/image" Target="../media/image383.svg"/><Relationship Id="rId2" Type="http://schemas.openxmlformats.org/officeDocument/2006/relationships/image" Target="../media/image382.png"/><Relationship Id="rId1" Type="http://schemas.openxmlformats.org/officeDocument/2006/relationships/slideLayout" Target="../slideLayouts/slideLayout2.xml"/><Relationship Id="rId5" Type="http://schemas.openxmlformats.org/officeDocument/2006/relationships/image" Target="../media/image632.svg"/><Relationship Id="rId4" Type="http://schemas.openxmlformats.org/officeDocument/2006/relationships/image" Target="../media/image631.png"/></Relationships>
</file>

<file path=ppt/slides/_rels/slide181.xml.rels><?xml version="1.0" encoding="UTF-8" standalone="yes"?>
<Relationships xmlns="http://schemas.openxmlformats.org/package/2006/relationships"><Relationship Id="rId8" Type="http://schemas.openxmlformats.org/officeDocument/2006/relationships/image" Target="../media/image637.png"/><Relationship Id="rId13" Type="http://schemas.openxmlformats.org/officeDocument/2006/relationships/image" Target="../media/image642.svg"/><Relationship Id="rId18" Type="http://schemas.openxmlformats.org/officeDocument/2006/relationships/image" Target="../media/image577.png"/><Relationship Id="rId3" Type="http://schemas.openxmlformats.org/officeDocument/2006/relationships/image" Target="../media/image42.svg"/><Relationship Id="rId7" Type="http://schemas.openxmlformats.org/officeDocument/2006/relationships/image" Target="../media/image636.svg"/><Relationship Id="rId12" Type="http://schemas.openxmlformats.org/officeDocument/2006/relationships/image" Target="../media/image641.png"/><Relationship Id="rId17" Type="http://schemas.openxmlformats.org/officeDocument/2006/relationships/image" Target="../media/image646.svg"/><Relationship Id="rId2" Type="http://schemas.openxmlformats.org/officeDocument/2006/relationships/image" Target="../media/image41.png"/><Relationship Id="rId16" Type="http://schemas.openxmlformats.org/officeDocument/2006/relationships/image" Target="../media/image645.png"/><Relationship Id="rId1" Type="http://schemas.openxmlformats.org/officeDocument/2006/relationships/slideLayout" Target="../slideLayouts/slideLayout2.xml"/><Relationship Id="rId6" Type="http://schemas.openxmlformats.org/officeDocument/2006/relationships/image" Target="../media/image635.png"/><Relationship Id="rId11" Type="http://schemas.openxmlformats.org/officeDocument/2006/relationships/image" Target="../media/image640.svg"/><Relationship Id="rId5" Type="http://schemas.openxmlformats.org/officeDocument/2006/relationships/image" Target="../media/image634.svg"/><Relationship Id="rId15" Type="http://schemas.openxmlformats.org/officeDocument/2006/relationships/image" Target="../media/image644.svg"/><Relationship Id="rId10" Type="http://schemas.openxmlformats.org/officeDocument/2006/relationships/image" Target="../media/image639.png"/><Relationship Id="rId19" Type="http://schemas.openxmlformats.org/officeDocument/2006/relationships/image" Target="../media/image578.svg"/><Relationship Id="rId4" Type="http://schemas.openxmlformats.org/officeDocument/2006/relationships/image" Target="../media/image633.png"/><Relationship Id="rId9" Type="http://schemas.openxmlformats.org/officeDocument/2006/relationships/image" Target="../media/image638.svg"/><Relationship Id="rId14" Type="http://schemas.openxmlformats.org/officeDocument/2006/relationships/image" Target="../media/image643.png"/></Relationships>
</file>

<file path=ppt/slides/_rels/slide182.xml.rels><?xml version="1.0" encoding="UTF-8" standalone="yes"?>
<Relationships xmlns="http://schemas.openxmlformats.org/package/2006/relationships"><Relationship Id="rId8" Type="http://schemas.openxmlformats.org/officeDocument/2006/relationships/image" Target="../media/image649.png"/><Relationship Id="rId13" Type="http://schemas.openxmlformats.org/officeDocument/2006/relationships/image" Target="../media/image654.png"/><Relationship Id="rId3" Type="http://schemas.openxmlformats.org/officeDocument/2006/relationships/image" Target="../media/image648.svg"/><Relationship Id="rId7" Type="http://schemas.openxmlformats.org/officeDocument/2006/relationships/image" Target="../media/image578.svg"/><Relationship Id="rId12" Type="http://schemas.openxmlformats.org/officeDocument/2006/relationships/image" Target="../media/image653.png"/><Relationship Id="rId2" Type="http://schemas.openxmlformats.org/officeDocument/2006/relationships/image" Target="../media/image647.png"/><Relationship Id="rId1" Type="http://schemas.openxmlformats.org/officeDocument/2006/relationships/slideLayout" Target="../slideLayouts/slideLayout2.xml"/><Relationship Id="rId6" Type="http://schemas.openxmlformats.org/officeDocument/2006/relationships/image" Target="../media/image577.png"/><Relationship Id="rId11" Type="http://schemas.openxmlformats.org/officeDocument/2006/relationships/image" Target="../media/image652.svg"/><Relationship Id="rId5" Type="http://schemas.openxmlformats.org/officeDocument/2006/relationships/image" Target="../media/image584.svg"/><Relationship Id="rId10" Type="http://schemas.openxmlformats.org/officeDocument/2006/relationships/image" Target="../media/image651.png"/><Relationship Id="rId4" Type="http://schemas.openxmlformats.org/officeDocument/2006/relationships/image" Target="../media/image583.png"/><Relationship Id="rId9" Type="http://schemas.openxmlformats.org/officeDocument/2006/relationships/image" Target="../media/image650.svg"/></Relationships>
</file>

<file path=ppt/slides/_rels/slide183.xml.rels><?xml version="1.0" encoding="UTF-8" standalone="yes"?>
<Relationships xmlns="http://schemas.openxmlformats.org/package/2006/relationships"><Relationship Id="rId8" Type="http://schemas.openxmlformats.org/officeDocument/2006/relationships/image" Target="../media/image649.png"/><Relationship Id="rId13" Type="http://schemas.openxmlformats.org/officeDocument/2006/relationships/image" Target="../media/image654.png"/><Relationship Id="rId3" Type="http://schemas.openxmlformats.org/officeDocument/2006/relationships/image" Target="../media/image648.svg"/><Relationship Id="rId7" Type="http://schemas.openxmlformats.org/officeDocument/2006/relationships/image" Target="../media/image578.svg"/><Relationship Id="rId12" Type="http://schemas.openxmlformats.org/officeDocument/2006/relationships/image" Target="../media/image653.png"/><Relationship Id="rId2" Type="http://schemas.openxmlformats.org/officeDocument/2006/relationships/image" Target="../media/image647.png"/><Relationship Id="rId1" Type="http://schemas.openxmlformats.org/officeDocument/2006/relationships/slideLayout" Target="../slideLayouts/slideLayout2.xml"/><Relationship Id="rId6" Type="http://schemas.openxmlformats.org/officeDocument/2006/relationships/image" Target="../media/image577.png"/><Relationship Id="rId11" Type="http://schemas.openxmlformats.org/officeDocument/2006/relationships/image" Target="../media/image652.svg"/><Relationship Id="rId5" Type="http://schemas.openxmlformats.org/officeDocument/2006/relationships/image" Target="../media/image584.svg"/><Relationship Id="rId10" Type="http://schemas.openxmlformats.org/officeDocument/2006/relationships/image" Target="../media/image651.png"/><Relationship Id="rId4" Type="http://schemas.openxmlformats.org/officeDocument/2006/relationships/image" Target="../media/image583.png"/><Relationship Id="rId9" Type="http://schemas.openxmlformats.org/officeDocument/2006/relationships/image" Target="../media/image650.svg"/></Relationships>
</file>

<file path=ppt/slides/_rels/slide184.xml.rels><?xml version="1.0" encoding="UTF-8" standalone="yes"?>
<Relationships xmlns="http://schemas.openxmlformats.org/package/2006/relationships"><Relationship Id="rId8" Type="http://schemas.openxmlformats.org/officeDocument/2006/relationships/image" Target="../media/image649.png"/><Relationship Id="rId13" Type="http://schemas.openxmlformats.org/officeDocument/2006/relationships/image" Target="../media/image654.png"/><Relationship Id="rId3" Type="http://schemas.openxmlformats.org/officeDocument/2006/relationships/image" Target="../media/image648.svg"/><Relationship Id="rId7" Type="http://schemas.openxmlformats.org/officeDocument/2006/relationships/image" Target="../media/image578.svg"/><Relationship Id="rId12" Type="http://schemas.openxmlformats.org/officeDocument/2006/relationships/image" Target="../media/image653.png"/><Relationship Id="rId2" Type="http://schemas.openxmlformats.org/officeDocument/2006/relationships/image" Target="../media/image647.png"/><Relationship Id="rId1" Type="http://schemas.openxmlformats.org/officeDocument/2006/relationships/slideLayout" Target="../slideLayouts/slideLayout2.xml"/><Relationship Id="rId6" Type="http://schemas.openxmlformats.org/officeDocument/2006/relationships/image" Target="../media/image577.png"/><Relationship Id="rId11" Type="http://schemas.openxmlformats.org/officeDocument/2006/relationships/image" Target="../media/image652.svg"/><Relationship Id="rId5" Type="http://schemas.openxmlformats.org/officeDocument/2006/relationships/image" Target="../media/image584.svg"/><Relationship Id="rId10" Type="http://schemas.openxmlformats.org/officeDocument/2006/relationships/image" Target="../media/image651.png"/><Relationship Id="rId4" Type="http://schemas.openxmlformats.org/officeDocument/2006/relationships/image" Target="../media/image583.png"/><Relationship Id="rId9" Type="http://schemas.openxmlformats.org/officeDocument/2006/relationships/image" Target="../media/image650.svg"/></Relationships>
</file>

<file path=ppt/slides/_rels/slide185.xml.rels><?xml version="1.0" encoding="UTF-8" standalone="yes"?>
<Relationships xmlns="http://schemas.openxmlformats.org/package/2006/relationships"><Relationship Id="rId3" Type="http://schemas.openxmlformats.org/officeDocument/2006/relationships/image" Target="../media/image480.svg"/><Relationship Id="rId7" Type="http://schemas.openxmlformats.org/officeDocument/2006/relationships/image" Target="../media/image658.svg"/><Relationship Id="rId2" Type="http://schemas.openxmlformats.org/officeDocument/2006/relationships/image" Target="../media/image479.png"/><Relationship Id="rId1" Type="http://schemas.openxmlformats.org/officeDocument/2006/relationships/slideLayout" Target="../slideLayouts/slideLayout2.xml"/><Relationship Id="rId6" Type="http://schemas.openxmlformats.org/officeDocument/2006/relationships/image" Target="../media/image657.png"/><Relationship Id="rId5" Type="http://schemas.openxmlformats.org/officeDocument/2006/relationships/image" Target="../media/image656.svg"/><Relationship Id="rId4" Type="http://schemas.openxmlformats.org/officeDocument/2006/relationships/image" Target="../media/image655.png"/></Relationships>
</file>

<file path=ppt/slides/_rels/slide186.xml.rels><?xml version="1.0" encoding="UTF-8" standalone="yes"?>
<Relationships xmlns="http://schemas.openxmlformats.org/package/2006/relationships"><Relationship Id="rId8" Type="http://schemas.openxmlformats.org/officeDocument/2006/relationships/image" Target="../media/image585.png"/><Relationship Id="rId3" Type="http://schemas.openxmlformats.org/officeDocument/2006/relationships/image" Target="../media/image580.svg"/><Relationship Id="rId7" Type="http://schemas.openxmlformats.org/officeDocument/2006/relationships/image" Target="../media/image18.svg"/><Relationship Id="rId2" Type="http://schemas.openxmlformats.org/officeDocument/2006/relationships/image" Target="../media/image579.png"/><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584.svg"/><Relationship Id="rId4" Type="http://schemas.openxmlformats.org/officeDocument/2006/relationships/image" Target="../media/image583.png"/><Relationship Id="rId9" Type="http://schemas.openxmlformats.org/officeDocument/2006/relationships/image" Target="../media/image586.svg"/></Relationships>
</file>

<file path=ppt/slides/_rels/slide187.xml.rels><?xml version="1.0" encoding="UTF-8" standalone="yes"?>
<Relationships xmlns="http://schemas.openxmlformats.org/package/2006/relationships"><Relationship Id="rId8" Type="http://schemas.openxmlformats.org/officeDocument/2006/relationships/image" Target="../media/image585.png"/><Relationship Id="rId3" Type="http://schemas.openxmlformats.org/officeDocument/2006/relationships/image" Target="../media/image580.svg"/><Relationship Id="rId7" Type="http://schemas.openxmlformats.org/officeDocument/2006/relationships/image" Target="../media/image18.svg"/><Relationship Id="rId2" Type="http://schemas.openxmlformats.org/officeDocument/2006/relationships/image" Target="../media/image579.png"/><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584.svg"/><Relationship Id="rId4" Type="http://schemas.openxmlformats.org/officeDocument/2006/relationships/image" Target="../media/image583.png"/><Relationship Id="rId9" Type="http://schemas.openxmlformats.org/officeDocument/2006/relationships/image" Target="../media/image586.svg"/></Relationships>
</file>

<file path=ppt/slides/_rels/slide188.xml.rels><?xml version="1.0" encoding="UTF-8" standalone="yes"?>
<Relationships xmlns="http://schemas.openxmlformats.org/package/2006/relationships"><Relationship Id="rId8" Type="http://schemas.openxmlformats.org/officeDocument/2006/relationships/image" Target="../media/image585.png"/><Relationship Id="rId3" Type="http://schemas.openxmlformats.org/officeDocument/2006/relationships/image" Target="../media/image580.svg"/><Relationship Id="rId7" Type="http://schemas.openxmlformats.org/officeDocument/2006/relationships/image" Target="../media/image18.svg"/><Relationship Id="rId2" Type="http://schemas.openxmlformats.org/officeDocument/2006/relationships/image" Target="../media/image579.png"/><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584.svg"/><Relationship Id="rId4" Type="http://schemas.openxmlformats.org/officeDocument/2006/relationships/image" Target="../media/image583.png"/><Relationship Id="rId9" Type="http://schemas.openxmlformats.org/officeDocument/2006/relationships/image" Target="../media/image586.svg"/></Relationships>
</file>

<file path=ppt/slides/_rels/slide189.xml.rels><?xml version="1.0" encoding="UTF-8" standalone="yes"?>
<Relationships xmlns="http://schemas.openxmlformats.org/package/2006/relationships"><Relationship Id="rId8" Type="http://schemas.openxmlformats.org/officeDocument/2006/relationships/image" Target="../media/image585.png"/><Relationship Id="rId3" Type="http://schemas.openxmlformats.org/officeDocument/2006/relationships/image" Target="../media/image580.svg"/><Relationship Id="rId7" Type="http://schemas.openxmlformats.org/officeDocument/2006/relationships/image" Target="../media/image18.svg"/><Relationship Id="rId2" Type="http://schemas.openxmlformats.org/officeDocument/2006/relationships/image" Target="../media/image579.png"/><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584.svg"/><Relationship Id="rId4" Type="http://schemas.openxmlformats.org/officeDocument/2006/relationships/image" Target="../media/image583.png"/><Relationship Id="rId9" Type="http://schemas.openxmlformats.org/officeDocument/2006/relationships/image" Target="../media/image586.svg"/></Relationships>
</file>

<file path=ppt/slides/_rels/slide190.xml.rels><?xml version="1.0" encoding="UTF-8" standalone="yes"?>
<Relationships xmlns="http://schemas.openxmlformats.org/package/2006/relationships"><Relationship Id="rId8" Type="http://schemas.openxmlformats.org/officeDocument/2006/relationships/image" Target="../media/image661.png"/><Relationship Id="rId13" Type="http://schemas.openxmlformats.org/officeDocument/2006/relationships/image" Target="../media/image666.svg"/><Relationship Id="rId3" Type="http://schemas.openxmlformats.org/officeDocument/2006/relationships/image" Target="../media/image584.svg"/><Relationship Id="rId7" Type="http://schemas.openxmlformats.org/officeDocument/2006/relationships/image" Target="../media/image660.svg"/><Relationship Id="rId12" Type="http://schemas.openxmlformats.org/officeDocument/2006/relationships/image" Target="../media/image665.png"/><Relationship Id="rId2" Type="http://schemas.openxmlformats.org/officeDocument/2006/relationships/image" Target="../media/image583.png"/><Relationship Id="rId1" Type="http://schemas.openxmlformats.org/officeDocument/2006/relationships/slideLayout" Target="../slideLayouts/slideLayout2.xml"/><Relationship Id="rId6" Type="http://schemas.openxmlformats.org/officeDocument/2006/relationships/image" Target="../media/image659.png"/><Relationship Id="rId11" Type="http://schemas.openxmlformats.org/officeDocument/2006/relationships/image" Target="../media/image664.svg"/><Relationship Id="rId5" Type="http://schemas.openxmlformats.org/officeDocument/2006/relationships/image" Target="../media/image64.svg"/><Relationship Id="rId15" Type="http://schemas.openxmlformats.org/officeDocument/2006/relationships/image" Target="../media/image668.svg"/><Relationship Id="rId10" Type="http://schemas.openxmlformats.org/officeDocument/2006/relationships/image" Target="../media/image663.png"/><Relationship Id="rId4" Type="http://schemas.openxmlformats.org/officeDocument/2006/relationships/image" Target="../media/image63.png"/><Relationship Id="rId9" Type="http://schemas.openxmlformats.org/officeDocument/2006/relationships/image" Target="../media/image662.svg"/><Relationship Id="rId14" Type="http://schemas.openxmlformats.org/officeDocument/2006/relationships/image" Target="../media/image667.png"/></Relationships>
</file>

<file path=ppt/slides/_rels/slide191.xml.rels><?xml version="1.0" encoding="UTF-8" standalone="yes"?>
<Relationships xmlns="http://schemas.openxmlformats.org/package/2006/relationships"><Relationship Id="rId8" Type="http://schemas.openxmlformats.org/officeDocument/2006/relationships/image" Target="../media/image661.png"/><Relationship Id="rId13" Type="http://schemas.openxmlformats.org/officeDocument/2006/relationships/image" Target="../media/image666.svg"/><Relationship Id="rId3" Type="http://schemas.openxmlformats.org/officeDocument/2006/relationships/image" Target="../media/image584.svg"/><Relationship Id="rId7" Type="http://schemas.openxmlformats.org/officeDocument/2006/relationships/image" Target="../media/image660.svg"/><Relationship Id="rId12" Type="http://schemas.openxmlformats.org/officeDocument/2006/relationships/image" Target="../media/image665.png"/><Relationship Id="rId2" Type="http://schemas.openxmlformats.org/officeDocument/2006/relationships/image" Target="../media/image583.png"/><Relationship Id="rId1" Type="http://schemas.openxmlformats.org/officeDocument/2006/relationships/slideLayout" Target="../slideLayouts/slideLayout2.xml"/><Relationship Id="rId6" Type="http://schemas.openxmlformats.org/officeDocument/2006/relationships/image" Target="../media/image659.png"/><Relationship Id="rId11" Type="http://schemas.openxmlformats.org/officeDocument/2006/relationships/image" Target="../media/image664.svg"/><Relationship Id="rId5" Type="http://schemas.openxmlformats.org/officeDocument/2006/relationships/image" Target="../media/image64.svg"/><Relationship Id="rId15" Type="http://schemas.openxmlformats.org/officeDocument/2006/relationships/image" Target="../media/image668.svg"/><Relationship Id="rId10" Type="http://schemas.openxmlformats.org/officeDocument/2006/relationships/image" Target="../media/image663.png"/><Relationship Id="rId4" Type="http://schemas.openxmlformats.org/officeDocument/2006/relationships/image" Target="../media/image63.png"/><Relationship Id="rId9" Type="http://schemas.openxmlformats.org/officeDocument/2006/relationships/image" Target="../media/image662.svg"/><Relationship Id="rId14" Type="http://schemas.openxmlformats.org/officeDocument/2006/relationships/image" Target="../media/image667.png"/></Relationships>
</file>

<file path=ppt/slides/_rels/slide192.xml.rels><?xml version="1.0" encoding="UTF-8" standalone="yes"?>
<Relationships xmlns="http://schemas.openxmlformats.org/package/2006/relationships"><Relationship Id="rId3" Type="http://schemas.openxmlformats.org/officeDocument/2006/relationships/image" Target="../media/image584.svg"/><Relationship Id="rId2" Type="http://schemas.openxmlformats.org/officeDocument/2006/relationships/image" Target="../media/image583.png"/><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3" Type="http://schemas.openxmlformats.org/officeDocument/2006/relationships/image" Target="../media/image584.svg"/><Relationship Id="rId2" Type="http://schemas.openxmlformats.org/officeDocument/2006/relationships/image" Target="../media/image583.png"/><Relationship Id="rId1" Type="http://schemas.openxmlformats.org/officeDocument/2006/relationships/slideLayout" Target="../slideLayouts/slideLayout2.xml"/><Relationship Id="rId5" Type="http://schemas.openxmlformats.org/officeDocument/2006/relationships/image" Target="../media/image666.svg"/><Relationship Id="rId4" Type="http://schemas.openxmlformats.org/officeDocument/2006/relationships/image" Target="../media/image665.png"/></Relationships>
</file>

<file path=ppt/slides/_rels/slide194.xml.rels><?xml version="1.0" encoding="UTF-8" standalone="yes"?>
<Relationships xmlns="http://schemas.openxmlformats.org/package/2006/relationships"><Relationship Id="rId3" Type="http://schemas.openxmlformats.org/officeDocument/2006/relationships/image" Target="../media/image584.svg"/><Relationship Id="rId2" Type="http://schemas.openxmlformats.org/officeDocument/2006/relationships/image" Target="../media/image583.png"/><Relationship Id="rId1" Type="http://schemas.openxmlformats.org/officeDocument/2006/relationships/slideLayout" Target="../slideLayouts/slideLayout2.xml"/><Relationship Id="rId5" Type="http://schemas.openxmlformats.org/officeDocument/2006/relationships/image" Target="../media/image662.svg"/><Relationship Id="rId4" Type="http://schemas.openxmlformats.org/officeDocument/2006/relationships/image" Target="../media/image661.png"/></Relationships>
</file>

<file path=ppt/slides/_rels/slide195.xml.rels><?xml version="1.0" encoding="UTF-8" standalone="yes"?>
<Relationships xmlns="http://schemas.openxmlformats.org/package/2006/relationships"><Relationship Id="rId3" Type="http://schemas.openxmlformats.org/officeDocument/2006/relationships/image" Target="../media/image584.svg"/><Relationship Id="rId2" Type="http://schemas.openxmlformats.org/officeDocument/2006/relationships/image" Target="../media/image583.png"/><Relationship Id="rId1" Type="http://schemas.openxmlformats.org/officeDocument/2006/relationships/slideLayout" Target="../slideLayouts/slideLayout2.xml"/><Relationship Id="rId5" Type="http://schemas.openxmlformats.org/officeDocument/2006/relationships/image" Target="../media/image664.svg"/><Relationship Id="rId4" Type="http://schemas.openxmlformats.org/officeDocument/2006/relationships/image" Target="../media/image663.png"/></Relationships>
</file>

<file path=ppt/slides/_rels/slide196.xml.rels><?xml version="1.0" encoding="UTF-8" standalone="yes"?>
<Relationships xmlns="http://schemas.openxmlformats.org/package/2006/relationships"><Relationship Id="rId3" Type="http://schemas.openxmlformats.org/officeDocument/2006/relationships/image" Target="../media/image584.svg"/><Relationship Id="rId2" Type="http://schemas.openxmlformats.org/officeDocument/2006/relationships/image" Target="../media/image583.png"/><Relationship Id="rId1" Type="http://schemas.openxmlformats.org/officeDocument/2006/relationships/slideLayout" Target="../slideLayouts/slideLayout2.xml"/><Relationship Id="rId5" Type="http://schemas.openxmlformats.org/officeDocument/2006/relationships/image" Target="../media/image660.svg"/><Relationship Id="rId4" Type="http://schemas.openxmlformats.org/officeDocument/2006/relationships/image" Target="../media/image659.png"/></Relationships>
</file>

<file path=ppt/slides/_rels/slide197.xml.rels><?xml version="1.0" encoding="UTF-8" standalone="yes"?>
<Relationships xmlns="http://schemas.openxmlformats.org/package/2006/relationships"><Relationship Id="rId3" Type="http://schemas.openxmlformats.org/officeDocument/2006/relationships/image" Target="../media/image584.svg"/><Relationship Id="rId2" Type="http://schemas.openxmlformats.org/officeDocument/2006/relationships/image" Target="../media/image583.png"/><Relationship Id="rId1" Type="http://schemas.openxmlformats.org/officeDocument/2006/relationships/slideLayout" Target="../slideLayouts/slideLayout2.xml"/><Relationship Id="rId5" Type="http://schemas.openxmlformats.org/officeDocument/2006/relationships/image" Target="../media/image64.svg"/><Relationship Id="rId4" Type="http://schemas.openxmlformats.org/officeDocument/2006/relationships/image" Target="../media/image63.png"/></Relationships>
</file>

<file path=ppt/slides/_rels/slide198.xml.rels><?xml version="1.0" encoding="UTF-8" standalone="yes"?>
<Relationships xmlns="http://schemas.openxmlformats.org/package/2006/relationships"><Relationship Id="rId3" Type="http://schemas.openxmlformats.org/officeDocument/2006/relationships/image" Target="../media/image584.svg"/><Relationship Id="rId2" Type="http://schemas.openxmlformats.org/officeDocument/2006/relationships/image" Target="../media/image583.png"/><Relationship Id="rId1" Type="http://schemas.openxmlformats.org/officeDocument/2006/relationships/slideLayout" Target="../slideLayouts/slideLayout2.xml"/><Relationship Id="rId5" Type="http://schemas.openxmlformats.org/officeDocument/2006/relationships/image" Target="../media/image668.svg"/><Relationship Id="rId4" Type="http://schemas.openxmlformats.org/officeDocument/2006/relationships/image" Target="../media/image667.png"/></Relationships>
</file>

<file path=ppt/slides/_rels/slide199.xml.rels><?xml version="1.0" encoding="UTF-8" standalone="yes"?>
<Relationships xmlns="http://schemas.openxmlformats.org/package/2006/relationships"><Relationship Id="rId8" Type="http://schemas.openxmlformats.org/officeDocument/2006/relationships/image" Target="../media/image671.png"/><Relationship Id="rId3" Type="http://schemas.openxmlformats.org/officeDocument/2006/relationships/image" Target="../media/image588.svg"/><Relationship Id="rId7" Type="http://schemas.openxmlformats.org/officeDocument/2006/relationships/image" Target="../media/image670.svg"/><Relationship Id="rId2" Type="http://schemas.openxmlformats.org/officeDocument/2006/relationships/image" Target="../media/image587.png"/><Relationship Id="rId1" Type="http://schemas.openxmlformats.org/officeDocument/2006/relationships/slideLayout" Target="../slideLayouts/slideLayout2.xml"/><Relationship Id="rId6" Type="http://schemas.openxmlformats.org/officeDocument/2006/relationships/image" Target="../media/image669.png"/><Relationship Id="rId5" Type="http://schemas.openxmlformats.org/officeDocument/2006/relationships/image" Target="../media/image383.svg"/><Relationship Id="rId4" Type="http://schemas.openxmlformats.org/officeDocument/2006/relationships/image" Target="../media/image382.png"/><Relationship Id="rId9" Type="http://schemas.openxmlformats.org/officeDocument/2006/relationships/image" Target="../media/image672.svg"/></Relationships>
</file>

<file path=ppt/slides/_rels/slide200.xml.rels><?xml version="1.0" encoding="UTF-8" standalone="yes"?>
<Relationships xmlns="http://schemas.openxmlformats.org/package/2006/relationships"><Relationship Id="rId8" Type="http://schemas.openxmlformats.org/officeDocument/2006/relationships/image" Target="../media/image675.png"/><Relationship Id="rId3" Type="http://schemas.openxmlformats.org/officeDocument/2006/relationships/image" Target="../media/image590.svg"/><Relationship Id="rId7" Type="http://schemas.openxmlformats.org/officeDocument/2006/relationships/image" Target="../media/image674.svg"/><Relationship Id="rId2" Type="http://schemas.openxmlformats.org/officeDocument/2006/relationships/image" Target="../media/image589.png"/><Relationship Id="rId1" Type="http://schemas.openxmlformats.org/officeDocument/2006/relationships/slideLayout" Target="../slideLayouts/slideLayout2.xml"/><Relationship Id="rId6" Type="http://schemas.openxmlformats.org/officeDocument/2006/relationships/image" Target="../media/image673.png"/><Relationship Id="rId11" Type="http://schemas.openxmlformats.org/officeDocument/2006/relationships/image" Target="../media/image678.svg"/><Relationship Id="rId5" Type="http://schemas.openxmlformats.org/officeDocument/2006/relationships/image" Target="../media/image383.svg"/><Relationship Id="rId10" Type="http://schemas.openxmlformats.org/officeDocument/2006/relationships/image" Target="../media/image677.png"/><Relationship Id="rId4" Type="http://schemas.openxmlformats.org/officeDocument/2006/relationships/image" Target="../media/image382.png"/><Relationship Id="rId9" Type="http://schemas.openxmlformats.org/officeDocument/2006/relationships/image" Target="../media/image676.svg"/></Relationships>
</file>

<file path=ppt/slides/_rels/slide201.xml.rels><?xml version="1.0" encoding="UTF-8" standalone="yes"?>
<Relationships xmlns="http://schemas.openxmlformats.org/package/2006/relationships"><Relationship Id="rId8" Type="http://schemas.openxmlformats.org/officeDocument/2006/relationships/image" Target="../media/image675.png"/><Relationship Id="rId3" Type="http://schemas.openxmlformats.org/officeDocument/2006/relationships/image" Target="../media/image590.svg"/><Relationship Id="rId7" Type="http://schemas.openxmlformats.org/officeDocument/2006/relationships/image" Target="../media/image674.svg"/><Relationship Id="rId2" Type="http://schemas.openxmlformats.org/officeDocument/2006/relationships/image" Target="../media/image589.png"/><Relationship Id="rId1" Type="http://schemas.openxmlformats.org/officeDocument/2006/relationships/slideLayout" Target="../slideLayouts/slideLayout2.xml"/><Relationship Id="rId6" Type="http://schemas.openxmlformats.org/officeDocument/2006/relationships/image" Target="../media/image673.png"/><Relationship Id="rId11" Type="http://schemas.openxmlformats.org/officeDocument/2006/relationships/image" Target="../media/image678.svg"/><Relationship Id="rId5" Type="http://schemas.openxmlformats.org/officeDocument/2006/relationships/image" Target="../media/image383.svg"/><Relationship Id="rId10" Type="http://schemas.openxmlformats.org/officeDocument/2006/relationships/image" Target="../media/image677.png"/><Relationship Id="rId4" Type="http://schemas.openxmlformats.org/officeDocument/2006/relationships/image" Target="../media/image382.png"/><Relationship Id="rId9" Type="http://schemas.openxmlformats.org/officeDocument/2006/relationships/image" Target="../media/image676.svg"/></Relationships>
</file>

<file path=ppt/slides/_rels/slide202.xml.rels><?xml version="1.0" encoding="UTF-8" standalone="yes"?>
<Relationships xmlns="http://schemas.openxmlformats.org/package/2006/relationships"><Relationship Id="rId8" Type="http://schemas.openxmlformats.org/officeDocument/2006/relationships/image" Target="../media/image679.png"/><Relationship Id="rId13" Type="http://schemas.openxmlformats.org/officeDocument/2006/relationships/image" Target="../media/image684.svg"/><Relationship Id="rId3" Type="http://schemas.openxmlformats.org/officeDocument/2006/relationships/image" Target="../media/image592.svg"/><Relationship Id="rId7" Type="http://schemas.openxmlformats.org/officeDocument/2006/relationships/image" Target="../media/image12.svg"/><Relationship Id="rId12" Type="http://schemas.openxmlformats.org/officeDocument/2006/relationships/image" Target="../media/image683.png"/><Relationship Id="rId2" Type="http://schemas.openxmlformats.org/officeDocument/2006/relationships/image" Target="../media/image591.png"/><Relationship Id="rId1" Type="http://schemas.openxmlformats.org/officeDocument/2006/relationships/slideLayout" Target="../slideLayouts/slideLayout2.xml"/><Relationship Id="rId6" Type="http://schemas.openxmlformats.org/officeDocument/2006/relationships/image" Target="../media/image11.png"/><Relationship Id="rId11" Type="http://schemas.openxmlformats.org/officeDocument/2006/relationships/image" Target="../media/image682.svg"/><Relationship Id="rId5" Type="http://schemas.openxmlformats.org/officeDocument/2006/relationships/image" Target="../media/image383.svg"/><Relationship Id="rId15" Type="http://schemas.openxmlformats.org/officeDocument/2006/relationships/image" Target="../media/image686.svg"/><Relationship Id="rId10" Type="http://schemas.openxmlformats.org/officeDocument/2006/relationships/image" Target="../media/image681.png"/><Relationship Id="rId4" Type="http://schemas.openxmlformats.org/officeDocument/2006/relationships/image" Target="../media/image382.png"/><Relationship Id="rId9" Type="http://schemas.openxmlformats.org/officeDocument/2006/relationships/image" Target="../media/image680.svg"/><Relationship Id="rId14" Type="http://schemas.openxmlformats.org/officeDocument/2006/relationships/image" Target="../media/image685.png"/></Relationships>
</file>

<file path=ppt/slides/_rels/slide203.xml.rels><?xml version="1.0" encoding="UTF-8" standalone="yes"?>
<Relationships xmlns="http://schemas.openxmlformats.org/package/2006/relationships"><Relationship Id="rId3" Type="http://schemas.openxmlformats.org/officeDocument/2006/relationships/image" Target="../media/image688.svg"/><Relationship Id="rId2" Type="http://schemas.openxmlformats.org/officeDocument/2006/relationships/image" Target="../media/image687.png"/><Relationship Id="rId1" Type="http://schemas.openxmlformats.org/officeDocument/2006/relationships/slideLayout" Target="../slideLayouts/slideLayout2.xml"/><Relationship Id="rId5" Type="http://schemas.openxmlformats.org/officeDocument/2006/relationships/image" Target="../media/image690.svg"/><Relationship Id="rId4" Type="http://schemas.openxmlformats.org/officeDocument/2006/relationships/image" Target="../media/image689.png"/></Relationships>
</file>

<file path=ppt/slides/_rels/slide20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8.svg"/><Relationship Id="rId3" Type="http://schemas.openxmlformats.org/officeDocument/2006/relationships/image" Target="../media/image3.svg"/><Relationship Id="rId7" Type="http://schemas.openxmlformats.org/officeDocument/2006/relationships/image" Target="../media/image7.svg"/><Relationship Id="rId12" Type="http://schemas.openxmlformats.org/officeDocument/2006/relationships/image" Target="../media/image17.png"/><Relationship Id="rId2" Type="http://schemas.openxmlformats.org/officeDocument/2006/relationships/image" Target="../media/image2.png"/><Relationship Id="rId1" Type="http://schemas.openxmlformats.org/officeDocument/2006/relationships/slideLayout" Target="../slideLayouts/slideLayout2.xml"/><Relationship Id="rId6" Type="http://schemas.openxmlformats.org/officeDocument/2006/relationships/image" Target="../media/image6.png"/><Relationship Id="rId11" Type="http://schemas.openxmlformats.org/officeDocument/2006/relationships/image" Target="../media/image32.svg"/><Relationship Id="rId5" Type="http://schemas.openxmlformats.org/officeDocument/2006/relationships/image" Target="../media/image5.svg"/><Relationship Id="rId15" Type="http://schemas.openxmlformats.org/officeDocument/2006/relationships/image" Target="../media/image42.svg"/><Relationship Id="rId10" Type="http://schemas.openxmlformats.org/officeDocument/2006/relationships/image" Target="../media/image31.png"/><Relationship Id="rId4" Type="http://schemas.openxmlformats.org/officeDocument/2006/relationships/image" Target="../media/image4.png"/><Relationship Id="rId9" Type="http://schemas.openxmlformats.org/officeDocument/2006/relationships/image" Target="../media/image9.svg"/><Relationship Id="rId14" Type="http://schemas.openxmlformats.org/officeDocument/2006/relationships/image" Target="../media/image41.png"/></Relationships>
</file>

<file path=ppt/slides/_rels/slide205.xml.rels><?xml version="1.0" encoding="UTF-8" standalone="yes"?>
<Relationships xmlns="http://schemas.openxmlformats.org/package/2006/relationships"><Relationship Id="rId13" Type="http://schemas.openxmlformats.org/officeDocument/2006/relationships/image" Target="../media/image56.svg"/><Relationship Id="rId18" Type="http://schemas.openxmlformats.org/officeDocument/2006/relationships/image" Target="../media/image61.png"/><Relationship Id="rId26" Type="http://schemas.openxmlformats.org/officeDocument/2006/relationships/image" Target="../media/image69.png"/><Relationship Id="rId3" Type="http://schemas.openxmlformats.org/officeDocument/2006/relationships/image" Target="../media/image46.svg"/><Relationship Id="rId21" Type="http://schemas.openxmlformats.org/officeDocument/2006/relationships/image" Target="../media/image64.svg"/><Relationship Id="rId7" Type="http://schemas.openxmlformats.org/officeDocument/2006/relationships/image" Target="../media/image50.svg"/><Relationship Id="rId12" Type="http://schemas.openxmlformats.org/officeDocument/2006/relationships/image" Target="../media/image55.png"/><Relationship Id="rId17" Type="http://schemas.openxmlformats.org/officeDocument/2006/relationships/image" Target="../media/image60.svg"/><Relationship Id="rId25" Type="http://schemas.openxmlformats.org/officeDocument/2006/relationships/image" Target="../media/image44.svg"/><Relationship Id="rId33" Type="http://schemas.openxmlformats.org/officeDocument/2006/relationships/image" Target="../media/image76.svg"/><Relationship Id="rId2" Type="http://schemas.openxmlformats.org/officeDocument/2006/relationships/image" Target="../media/image45.png"/><Relationship Id="rId16" Type="http://schemas.openxmlformats.org/officeDocument/2006/relationships/image" Target="../media/image59.png"/><Relationship Id="rId20" Type="http://schemas.openxmlformats.org/officeDocument/2006/relationships/image" Target="../media/image63.png"/><Relationship Id="rId29" Type="http://schemas.openxmlformats.org/officeDocument/2006/relationships/image" Target="../media/image72.svg"/><Relationship Id="rId1" Type="http://schemas.openxmlformats.org/officeDocument/2006/relationships/slideLayout" Target="../slideLayouts/slideLayout2.xml"/><Relationship Id="rId6" Type="http://schemas.openxmlformats.org/officeDocument/2006/relationships/image" Target="../media/image49.png"/><Relationship Id="rId11" Type="http://schemas.openxmlformats.org/officeDocument/2006/relationships/image" Target="../media/image54.svg"/><Relationship Id="rId24" Type="http://schemas.openxmlformats.org/officeDocument/2006/relationships/image" Target="../media/image43.png"/><Relationship Id="rId32" Type="http://schemas.openxmlformats.org/officeDocument/2006/relationships/image" Target="../media/image75.png"/><Relationship Id="rId5" Type="http://schemas.openxmlformats.org/officeDocument/2006/relationships/image" Target="../media/image48.svg"/><Relationship Id="rId15" Type="http://schemas.openxmlformats.org/officeDocument/2006/relationships/image" Target="../media/image58.svg"/><Relationship Id="rId23" Type="http://schemas.openxmlformats.org/officeDocument/2006/relationships/image" Target="../media/image18.svg"/><Relationship Id="rId28" Type="http://schemas.openxmlformats.org/officeDocument/2006/relationships/image" Target="../media/image71.png"/><Relationship Id="rId10" Type="http://schemas.openxmlformats.org/officeDocument/2006/relationships/image" Target="../media/image53.png"/><Relationship Id="rId19" Type="http://schemas.openxmlformats.org/officeDocument/2006/relationships/image" Target="../media/image62.svg"/><Relationship Id="rId31" Type="http://schemas.openxmlformats.org/officeDocument/2006/relationships/image" Target="../media/image74.svg"/><Relationship Id="rId4" Type="http://schemas.openxmlformats.org/officeDocument/2006/relationships/image" Target="../media/image47.png"/><Relationship Id="rId9" Type="http://schemas.openxmlformats.org/officeDocument/2006/relationships/image" Target="../media/image52.svg"/><Relationship Id="rId14" Type="http://schemas.openxmlformats.org/officeDocument/2006/relationships/image" Target="../media/image57.png"/><Relationship Id="rId22" Type="http://schemas.openxmlformats.org/officeDocument/2006/relationships/image" Target="../media/image17.png"/><Relationship Id="rId27" Type="http://schemas.openxmlformats.org/officeDocument/2006/relationships/image" Target="../media/image70.svg"/><Relationship Id="rId30" Type="http://schemas.openxmlformats.org/officeDocument/2006/relationships/image" Target="../media/image73.png"/><Relationship Id="rId8" Type="http://schemas.openxmlformats.org/officeDocument/2006/relationships/image" Target="../media/image51.png"/></Relationships>
</file>

<file path=ppt/slides/_rels/slide206.xml.rels><?xml version="1.0" encoding="UTF-8" standalone="yes"?>
<Relationships xmlns="http://schemas.openxmlformats.org/package/2006/relationships"><Relationship Id="rId13" Type="http://schemas.openxmlformats.org/officeDocument/2006/relationships/image" Target="../media/image160.svg"/><Relationship Id="rId18" Type="http://schemas.openxmlformats.org/officeDocument/2006/relationships/image" Target="../media/image165.png"/><Relationship Id="rId26" Type="http://schemas.openxmlformats.org/officeDocument/2006/relationships/image" Target="../media/image173.png"/><Relationship Id="rId39" Type="http://schemas.openxmlformats.org/officeDocument/2006/relationships/hyperlink" Target="https://commons.wikimedia.org/wiki/File:Amateur_Football_in_Kilkenny-Ireland.jpg" TargetMode="External"/><Relationship Id="rId21" Type="http://schemas.openxmlformats.org/officeDocument/2006/relationships/image" Target="../media/image168.svg"/><Relationship Id="rId34" Type="http://schemas.openxmlformats.org/officeDocument/2006/relationships/image" Target="../media/image8.png"/><Relationship Id="rId42" Type="http://schemas.openxmlformats.org/officeDocument/2006/relationships/image" Target="../media/image179.jpg"/><Relationship Id="rId47" Type="http://schemas.openxmlformats.org/officeDocument/2006/relationships/hyperlink" Target="https://www.e-ostadelahi.fr/eoe-fr/ne-pas-juger-c-est-gagner/" TargetMode="External"/><Relationship Id="rId7" Type="http://schemas.openxmlformats.org/officeDocument/2006/relationships/image" Target="../media/image154.svg"/><Relationship Id="rId2" Type="http://schemas.openxmlformats.org/officeDocument/2006/relationships/image" Target="../media/image13.png"/><Relationship Id="rId16" Type="http://schemas.openxmlformats.org/officeDocument/2006/relationships/image" Target="../media/image163.png"/><Relationship Id="rId29" Type="http://schemas.openxmlformats.org/officeDocument/2006/relationships/image" Target="../media/image176.svg"/><Relationship Id="rId11" Type="http://schemas.openxmlformats.org/officeDocument/2006/relationships/image" Target="../media/image158.svg"/><Relationship Id="rId24" Type="http://schemas.openxmlformats.org/officeDocument/2006/relationships/image" Target="../media/image171.png"/><Relationship Id="rId32" Type="http://schemas.openxmlformats.org/officeDocument/2006/relationships/image" Target="../media/image4.png"/><Relationship Id="rId37" Type="http://schemas.openxmlformats.org/officeDocument/2006/relationships/image" Target="../media/image3.svg"/><Relationship Id="rId40" Type="http://schemas.openxmlformats.org/officeDocument/2006/relationships/image" Target="../media/image178.jpg"/><Relationship Id="rId45" Type="http://schemas.openxmlformats.org/officeDocument/2006/relationships/hyperlink" Target="https://www.flickr.com/photos/crossmediaweek/6797876362/" TargetMode="External"/><Relationship Id="rId5" Type="http://schemas.openxmlformats.org/officeDocument/2006/relationships/image" Target="../media/image18.svg"/><Relationship Id="rId15" Type="http://schemas.openxmlformats.org/officeDocument/2006/relationships/image" Target="../media/image162.svg"/><Relationship Id="rId23" Type="http://schemas.openxmlformats.org/officeDocument/2006/relationships/image" Target="../media/image170.svg"/><Relationship Id="rId28" Type="http://schemas.openxmlformats.org/officeDocument/2006/relationships/image" Target="../media/image175.png"/><Relationship Id="rId36" Type="http://schemas.openxmlformats.org/officeDocument/2006/relationships/image" Target="../media/image2.png"/><Relationship Id="rId49" Type="http://schemas.openxmlformats.org/officeDocument/2006/relationships/hyperlink" Target="https://becomeabetterinvestor.net/the-buffett-indicator-reveals-potential-opportunities-in-asia/" TargetMode="External"/><Relationship Id="rId10" Type="http://schemas.openxmlformats.org/officeDocument/2006/relationships/image" Target="../media/image157.png"/><Relationship Id="rId19" Type="http://schemas.openxmlformats.org/officeDocument/2006/relationships/image" Target="../media/image166.svg"/><Relationship Id="rId31" Type="http://schemas.openxmlformats.org/officeDocument/2006/relationships/image" Target="../media/image7.svg"/><Relationship Id="rId44" Type="http://schemas.openxmlformats.org/officeDocument/2006/relationships/image" Target="../media/image180.jpg"/><Relationship Id="rId4" Type="http://schemas.openxmlformats.org/officeDocument/2006/relationships/image" Target="../media/image17.png"/><Relationship Id="rId9" Type="http://schemas.openxmlformats.org/officeDocument/2006/relationships/image" Target="../media/image156.svg"/><Relationship Id="rId14" Type="http://schemas.openxmlformats.org/officeDocument/2006/relationships/image" Target="../media/image161.png"/><Relationship Id="rId22" Type="http://schemas.openxmlformats.org/officeDocument/2006/relationships/image" Target="../media/image169.png"/><Relationship Id="rId27" Type="http://schemas.openxmlformats.org/officeDocument/2006/relationships/image" Target="../media/image174.svg"/><Relationship Id="rId30" Type="http://schemas.openxmlformats.org/officeDocument/2006/relationships/image" Target="../media/image6.png"/><Relationship Id="rId35" Type="http://schemas.openxmlformats.org/officeDocument/2006/relationships/image" Target="../media/image9.svg"/><Relationship Id="rId43" Type="http://schemas.openxmlformats.org/officeDocument/2006/relationships/hyperlink" Target="https://people-equation.com/research-that-supports-being-good-with-people/" TargetMode="External"/><Relationship Id="rId48" Type="http://schemas.openxmlformats.org/officeDocument/2006/relationships/image" Target="../media/image182.jpeg"/><Relationship Id="rId8" Type="http://schemas.openxmlformats.org/officeDocument/2006/relationships/image" Target="../media/image155.png"/><Relationship Id="rId3" Type="http://schemas.openxmlformats.org/officeDocument/2006/relationships/image" Target="../media/image14.svg"/><Relationship Id="rId12" Type="http://schemas.openxmlformats.org/officeDocument/2006/relationships/image" Target="../media/image159.png"/><Relationship Id="rId17" Type="http://schemas.openxmlformats.org/officeDocument/2006/relationships/image" Target="../media/image164.svg"/><Relationship Id="rId25" Type="http://schemas.openxmlformats.org/officeDocument/2006/relationships/image" Target="../media/image172.svg"/><Relationship Id="rId33" Type="http://schemas.openxmlformats.org/officeDocument/2006/relationships/image" Target="../media/image5.svg"/><Relationship Id="rId38" Type="http://schemas.openxmlformats.org/officeDocument/2006/relationships/image" Target="../media/image177.jpg"/><Relationship Id="rId46" Type="http://schemas.openxmlformats.org/officeDocument/2006/relationships/image" Target="../media/image181.jpeg"/><Relationship Id="rId20" Type="http://schemas.openxmlformats.org/officeDocument/2006/relationships/image" Target="../media/image167.png"/><Relationship Id="rId41" Type="http://schemas.openxmlformats.org/officeDocument/2006/relationships/hyperlink" Target="https://geobrava.wordpress.com/tag/cyber-threat/" TargetMode="External"/><Relationship Id="rId1" Type="http://schemas.openxmlformats.org/officeDocument/2006/relationships/slideLayout" Target="../slideLayouts/slideLayout2.xml"/><Relationship Id="rId6" Type="http://schemas.openxmlformats.org/officeDocument/2006/relationships/image" Target="../media/image153.png"/></Relationships>
</file>

<file path=ppt/slides/_rels/slide207.xml.rels><?xml version="1.0" encoding="UTF-8" standalone="yes"?>
<Relationships xmlns="http://schemas.openxmlformats.org/package/2006/relationships"><Relationship Id="rId117" Type="http://schemas.openxmlformats.org/officeDocument/2006/relationships/image" Target="../media/image172.svg"/><Relationship Id="rId21" Type="http://schemas.openxmlformats.org/officeDocument/2006/relationships/image" Target="../media/image210.svg"/><Relationship Id="rId42" Type="http://schemas.openxmlformats.org/officeDocument/2006/relationships/image" Target="../media/image231.png"/><Relationship Id="rId63" Type="http://schemas.openxmlformats.org/officeDocument/2006/relationships/image" Target="../media/image251.svg"/><Relationship Id="rId84" Type="http://schemas.openxmlformats.org/officeDocument/2006/relationships/image" Target="../media/image272.png"/><Relationship Id="rId16" Type="http://schemas.openxmlformats.org/officeDocument/2006/relationships/image" Target="../media/image205.png"/><Relationship Id="rId107" Type="http://schemas.openxmlformats.org/officeDocument/2006/relationships/image" Target="../media/image292.svg"/><Relationship Id="rId11" Type="http://schemas.openxmlformats.org/officeDocument/2006/relationships/image" Target="../media/image200.svg"/><Relationship Id="rId32" Type="http://schemas.openxmlformats.org/officeDocument/2006/relationships/image" Target="../media/image221.png"/><Relationship Id="rId37" Type="http://schemas.openxmlformats.org/officeDocument/2006/relationships/image" Target="../media/image226.svg"/><Relationship Id="rId53" Type="http://schemas.openxmlformats.org/officeDocument/2006/relationships/image" Target="../media/image242.svg"/><Relationship Id="rId58" Type="http://schemas.openxmlformats.org/officeDocument/2006/relationships/image" Target="../media/image51.png"/><Relationship Id="rId74" Type="http://schemas.openxmlformats.org/officeDocument/2006/relationships/image" Target="../media/image262.png"/><Relationship Id="rId79" Type="http://schemas.openxmlformats.org/officeDocument/2006/relationships/image" Target="../media/image267.svg"/><Relationship Id="rId102" Type="http://schemas.openxmlformats.org/officeDocument/2006/relationships/image" Target="../media/image288.png"/><Relationship Id="rId123" Type="http://schemas.openxmlformats.org/officeDocument/2006/relationships/image" Target="../media/image14.svg"/><Relationship Id="rId128" Type="http://schemas.openxmlformats.org/officeDocument/2006/relationships/image" Target="../media/image302.png"/><Relationship Id="rId5" Type="http://schemas.openxmlformats.org/officeDocument/2006/relationships/image" Target="../media/image194.svg"/><Relationship Id="rId90" Type="http://schemas.openxmlformats.org/officeDocument/2006/relationships/image" Target="../media/image45.png"/><Relationship Id="rId95" Type="http://schemas.openxmlformats.org/officeDocument/2006/relationships/image" Target="../media/image281.svg"/><Relationship Id="rId22" Type="http://schemas.openxmlformats.org/officeDocument/2006/relationships/image" Target="../media/image211.png"/><Relationship Id="rId27" Type="http://schemas.openxmlformats.org/officeDocument/2006/relationships/image" Target="../media/image216.svg"/><Relationship Id="rId43" Type="http://schemas.openxmlformats.org/officeDocument/2006/relationships/image" Target="../media/image232.svg"/><Relationship Id="rId48" Type="http://schemas.openxmlformats.org/officeDocument/2006/relationships/image" Target="../media/image237.png"/><Relationship Id="rId64" Type="http://schemas.openxmlformats.org/officeDocument/2006/relationships/image" Target="../media/image252.png"/><Relationship Id="rId69" Type="http://schemas.openxmlformats.org/officeDocument/2006/relationships/image" Target="../media/image257.svg"/><Relationship Id="rId113" Type="http://schemas.openxmlformats.org/officeDocument/2006/relationships/image" Target="../media/image298.svg"/><Relationship Id="rId118" Type="http://schemas.openxmlformats.org/officeDocument/2006/relationships/image" Target="../media/image175.png"/><Relationship Id="rId80" Type="http://schemas.openxmlformats.org/officeDocument/2006/relationships/image" Target="../media/image268.png"/><Relationship Id="rId85" Type="http://schemas.openxmlformats.org/officeDocument/2006/relationships/image" Target="../media/image273.svg"/><Relationship Id="rId12" Type="http://schemas.openxmlformats.org/officeDocument/2006/relationships/image" Target="../media/image201.png"/><Relationship Id="rId17" Type="http://schemas.openxmlformats.org/officeDocument/2006/relationships/image" Target="../media/image206.svg"/><Relationship Id="rId33" Type="http://schemas.openxmlformats.org/officeDocument/2006/relationships/image" Target="../media/image222.svg"/><Relationship Id="rId38" Type="http://schemas.openxmlformats.org/officeDocument/2006/relationships/image" Target="../media/image227.png"/><Relationship Id="rId59" Type="http://schemas.openxmlformats.org/officeDocument/2006/relationships/image" Target="../media/image247.svg"/><Relationship Id="rId103" Type="http://schemas.openxmlformats.org/officeDocument/2006/relationships/image" Target="../media/image289.svg"/><Relationship Id="rId108" Type="http://schemas.openxmlformats.org/officeDocument/2006/relationships/image" Target="../media/image293.png"/><Relationship Id="rId124" Type="http://schemas.openxmlformats.org/officeDocument/2006/relationships/image" Target="../media/image95.png"/><Relationship Id="rId129" Type="http://schemas.openxmlformats.org/officeDocument/2006/relationships/image" Target="../media/image303.svg"/><Relationship Id="rId54" Type="http://schemas.openxmlformats.org/officeDocument/2006/relationships/image" Target="../media/image243.png"/><Relationship Id="rId70" Type="http://schemas.openxmlformats.org/officeDocument/2006/relationships/image" Target="../media/image258.png"/><Relationship Id="rId75" Type="http://schemas.openxmlformats.org/officeDocument/2006/relationships/image" Target="../media/image263.svg"/><Relationship Id="rId91" Type="http://schemas.openxmlformats.org/officeDocument/2006/relationships/image" Target="../media/image46.svg"/><Relationship Id="rId96" Type="http://schemas.openxmlformats.org/officeDocument/2006/relationships/image" Target="../media/image282.png"/><Relationship Id="rId1" Type="http://schemas.openxmlformats.org/officeDocument/2006/relationships/slideLayout" Target="../slideLayouts/slideLayout2.xml"/><Relationship Id="rId6" Type="http://schemas.openxmlformats.org/officeDocument/2006/relationships/image" Target="../media/image195.png"/><Relationship Id="rId23" Type="http://schemas.openxmlformats.org/officeDocument/2006/relationships/image" Target="../media/image212.svg"/><Relationship Id="rId28" Type="http://schemas.openxmlformats.org/officeDocument/2006/relationships/image" Target="../media/image217.png"/><Relationship Id="rId49" Type="http://schemas.openxmlformats.org/officeDocument/2006/relationships/image" Target="../media/image238.svg"/><Relationship Id="rId114" Type="http://schemas.openxmlformats.org/officeDocument/2006/relationships/image" Target="../media/image299.png"/><Relationship Id="rId119" Type="http://schemas.openxmlformats.org/officeDocument/2006/relationships/image" Target="../media/image176.svg"/><Relationship Id="rId44" Type="http://schemas.openxmlformats.org/officeDocument/2006/relationships/image" Target="../media/image233.png"/><Relationship Id="rId60" Type="http://schemas.openxmlformats.org/officeDocument/2006/relationships/image" Target="../media/image248.png"/><Relationship Id="rId65" Type="http://schemas.openxmlformats.org/officeDocument/2006/relationships/image" Target="../media/image253.svg"/><Relationship Id="rId81" Type="http://schemas.openxmlformats.org/officeDocument/2006/relationships/image" Target="../media/image269.svg"/><Relationship Id="rId86" Type="http://schemas.openxmlformats.org/officeDocument/2006/relationships/image" Target="../media/image274.png"/><Relationship Id="rId130" Type="http://schemas.openxmlformats.org/officeDocument/2006/relationships/image" Target="../media/image304.png"/><Relationship Id="rId13" Type="http://schemas.openxmlformats.org/officeDocument/2006/relationships/image" Target="../media/image202.svg"/><Relationship Id="rId18" Type="http://schemas.openxmlformats.org/officeDocument/2006/relationships/image" Target="../media/image207.png"/><Relationship Id="rId39" Type="http://schemas.openxmlformats.org/officeDocument/2006/relationships/image" Target="../media/image228.svg"/><Relationship Id="rId109" Type="http://schemas.openxmlformats.org/officeDocument/2006/relationships/image" Target="../media/image294.svg"/><Relationship Id="rId34" Type="http://schemas.openxmlformats.org/officeDocument/2006/relationships/image" Target="../media/image223.png"/><Relationship Id="rId50" Type="http://schemas.openxmlformats.org/officeDocument/2006/relationships/image" Target="../media/image239.png"/><Relationship Id="rId55" Type="http://schemas.openxmlformats.org/officeDocument/2006/relationships/image" Target="../media/image244.svg"/><Relationship Id="rId76" Type="http://schemas.openxmlformats.org/officeDocument/2006/relationships/image" Target="../media/image264.png"/><Relationship Id="rId97" Type="http://schemas.openxmlformats.org/officeDocument/2006/relationships/image" Target="../media/image283.svg"/><Relationship Id="rId104" Type="http://schemas.openxmlformats.org/officeDocument/2006/relationships/image" Target="../media/image290.png"/><Relationship Id="rId120" Type="http://schemas.openxmlformats.org/officeDocument/2006/relationships/image" Target="../media/image173.png"/><Relationship Id="rId125" Type="http://schemas.openxmlformats.org/officeDocument/2006/relationships/image" Target="../media/image96.svg"/><Relationship Id="rId7" Type="http://schemas.openxmlformats.org/officeDocument/2006/relationships/image" Target="../media/image196.svg"/><Relationship Id="rId71" Type="http://schemas.openxmlformats.org/officeDocument/2006/relationships/image" Target="../media/image259.svg"/><Relationship Id="rId92" Type="http://schemas.openxmlformats.org/officeDocument/2006/relationships/image" Target="../media/image278.png"/><Relationship Id="rId2" Type="http://schemas.openxmlformats.org/officeDocument/2006/relationships/image" Target="../media/image191.png"/><Relationship Id="rId29" Type="http://schemas.openxmlformats.org/officeDocument/2006/relationships/image" Target="../media/image218.svg"/><Relationship Id="rId24" Type="http://schemas.openxmlformats.org/officeDocument/2006/relationships/image" Target="../media/image213.png"/><Relationship Id="rId40" Type="http://schemas.openxmlformats.org/officeDocument/2006/relationships/image" Target="../media/image229.png"/><Relationship Id="rId45" Type="http://schemas.openxmlformats.org/officeDocument/2006/relationships/image" Target="../media/image234.svg"/><Relationship Id="rId66" Type="http://schemas.openxmlformats.org/officeDocument/2006/relationships/image" Target="../media/image254.png"/><Relationship Id="rId87" Type="http://schemas.openxmlformats.org/officeDocument/2006/relationships/image" Target="../media/image275.svg"/><Relationship Id="rId110" Type="http://schemas.openxmlformats.org/officeDocument/2006/relationships/image" Target="../media/image295.png"/><Relationship Id="rId115" Type="http://schemas.openxmlformats.org/officeDocument/2006/relationships/image" Target="../media/image300.svg"/><Relationship Id="rId131" Type="http://schemas.openxmlformats.org/officeDocument/2006/relationships/image" Target="../media/image305.svg"/><Relationship Id="rId61" Type="http://schemas.openxmlformats.org/officeDocument/2006/relationships/image" Target="../media/image249.svg"/><Relationship Id="rId82" Type="http://schemas.openxmlformats.org/officeDocument/2006/relationships/image" Target="../media/image270.png"/><Relationship Id="rId19" Type="http://schemas.openxmlformats.org/officeDocument/2006/relationships/image" Target="../media/image208.svg"/><Relationship Id="rId14" Type="http://schemas.openxmlformats.org/officeDocument/2006/relationships/image" Target="../media/image203.png"/><Relationship Id="rId30" Type="http://schemas.openxmlformats.org/officeDocument/2006/relationships/image" Target="../media/image219.png"/><Relationship Id="rId35" Type="http://schemas.openxmlformats.org/officeDocument/2006/relationships/image" Target="../media/image224.svg"/><Relationship Id="rId56" Type="http://schemas.openxmlformats.org/officeDocument/2006/relationships/image" Target="../media/image245.png"/><Relationship Id="rId77" Type="http://schemas.openxmlformats.org/officeDocument/2006/relationships/image" Target="../media/image265.svg"/><Relationship Id="rId100" Type="http://schemas.openxmlformats.org/officeDocument/2006/relationships/image" Target="../media/image286.png"/><Relationship Id="rId105" Type="http://schemas.openxmlformats.org/officeDocument/2006/relationships/image" Target="../media/image291.svg"/><Relationship Id="rId126" Type="http://schemas.openxmlformats.org/officeDocument/2006/relationships/image" Target="../media/image33.png"/><Relationship Id="rId8" Type="http://schemas.openxmlformats.org/officeDocument/2006/relationships/image" Target="../media/image197.png"/><Relationship Id="rId51" Type="http://schemas.openxmlformats.org/officeDocument/2006/relationships/image" Target="../media/image240.svg"/><Relationship Id="rId72" Type="http://schemas.openxmlformats.org/officeDocument/2006/relationships/image" Target="../media/image260.png"/><Relationship Id="rId93" Type="http://schemas.openxmlformats.org/officeDocument/2006/relationships/image" Target="../media/image279.svg"/><Relationship Id="rId98" Type="http://schemas.openxmlformats.org/officeDocument/2006/relationships/image" Target="../media/image284.png"/><Relationship Id="rId121" Type="http://schemas.openxmlformats.org/officeDocument/2006/relationships/image" Target="../media/image174.svg"/><Relationship Id="rId3" Type="http://schemas.openxmlformats.org/officeDocument/2006/relationships/image" Target="../media/image192.svg"/><Relationship Id="rId25" Type="http://schemas.openxmlformats.org/officeDocument/2006/relationships/image" Target="../media/image214.svg"/><Relationship Id="rId46" Type="http://schemas.openxmlformats.org/officeDocument/2006/relationships/image" Target="../media/image235.png"/><Relationship Id="rId67" Type="http://schemas.openxmlformats.org/officeDocument/2006/relationships/image" Target="../media/image255.svg"/><Relationship Id="rId116" Type="http://schemas.openxmlformats.org/officeDocument/2006/relationships/image" Target="../media/image171.png"/><Relationship Id="rId20" Type="http://schemas.openxmlformats.org/officeDocument/2006/relationships/image" Target="../media/image209.png"/><Relationship Id="rId41" Type="http://schemas.openxmlformats.org/officeDocument/2006/relationships/image" Target="../media/image230.svg"/><Relationship Id="rId62" Type="http://schemas.openxmlformats.org/officeDocument/2006/relationships/image" Target="../media/image250.png"/><Relationship Id="rId83" Type="http://schemas.openxmlformats.org/officeDocument/2006/relationships/image" Target="../media/image271.svg"/><Relationship Id="rId88" Type="http://schemas.openxmlformats.org/officeDocument/2006/relationships/image" Target="../media/image276.png"/><Relationship Id="rId111" Type="http://schemas.openxmlformats.org/officeDocument/2006/relationships/image" Target="../media/image296.svg"/><Relationship Id="rId132" Type="http://schemas.openxmlformats.org/officeDocument/2006/relationships/image" Target="../media/image306.png"/><Relationship Id="rId15" Type="http://schemas.openxmlformats.org/officeDocument/2006/relationships/image" Target="../media/image204.svg"/><Relationship Id="rId36" Type="http://schemas.openxmlformats.org/officeDocument/2006/relationships/image" Target="../media/image225.png"/><Relationship Id="rId57" Type="http://schemas.openxmlformats.org/officeDocument/2006/relationships/image" Target="../media/image246.svg"/><Relationship Id="rId106" Type="http://schemas.openxmlformats.org/officeDocument/2006/relationships/image" Target="../media/image153.png"/><Relationship Id="rId127" Type="http://schemas.openxmlformats.org/officeDocument/2006/relationships/image" Target="../media/image301.svg"/><Relationship Id="rId10" Type="http://schemas.openxmlformats.org/officeDocument/2006/relationships/image" Target="../media/image199.png"/><Relationship Id="rId31" Type="http://schemas.openxmlformats.org/officeDocument/2006/relationships/image" Target="../media/image220.svg"/><Relationship Id="rId52" Type="http://schemas.openxmlformats.org/officeDocument/2006/relationships/image" Target="../media/image241.png"/><Relationship Id="rId73" Type="http://schemas.openxmlformats.org/officeDocument/2006/relationships/image" Target="../media/image261.svg"/><Relationship Id="rId78" Type="http://schemas.openxmlformats.org/officeDocument/2006/relationships/image" Target="../media/image266.png"/><Relationship Id="rId94" Type="http://schemas.openxmlformats.org/officeDocument/2006/relationships/image" Target="../media/image280.png"/><Relationship Id="rId99" Type="http://schemas.openxmlformats.org/officeDocument/2006/relationships/image" Target="../media/image285.svg"/><Relationship Id="rId101" Type="http://schemas.openxmlformats.org/officeDocument/2006/relationships/image" Target="../media/image287.svg"/><Relationship Id="rId122" Type="http://schemas.openxmlformats.org/officeDocument/2006/relationships/image" Target="../media/image13.png"/><Relationship Id="rId4" Type="http://schemas.openxmlformats.org/officeDocument/2006/relationships/image" Target="../media/image193.png"/><Relationship Id="rId9" Type="http://schemas.openxmlformats.org/officeDocument/2006/relationships/image" Target="../media/image198.svg"/><Relationship Id="rId26" Type="http://schemas.openxmlformats.org/officeDocument/2006/relationships/image" Target="../media/image215.png"/><Relationship Id="rId47" Type="http://schemas.openxmlformats.org/officeDocument/2006/relationships/image" Target="../media/image236.svg"/><Relationship Id="rId68" Type="http://schemas.openxmlformats.org/officeDocument/2006/relationships/image" Target="../media/image256.png"/><Relationship Id="rId89" Type="http://schemas.openxmlformats.org/officeDocument/2006/relationships/image" Target="../media/image277.svg"/><Relationship Id="rId112" Type="http://schemas.openxmlformats.org/officeDocument/2006/relationships/image" Target="../media/image297.png"/><Relationship Id="rId133" Type="http://schemas.openxmlformats.org/officeDocument/2006/relationships/image" Target="../media/image307.svg"/></Relationships>
</file>

<file path=ppt/slides/_rels/slide208.xml.rels><?xml version="1.0" encoding="UTF-8" standalone="yes"?>
<Relationships xmlns="http://schemas.openxmlformats.org/package/2006/relationships"><Relationship Id="rId8" Type="http://schemas.openxmlformats.org/officeDocument/2006/relationships/image" Target="../media/image316.jpg"/><Relationship Id="rId13" Type="http://schemas.openxmlformats.org/officeDocument/2006/relationships/image" Target="../media/image319.png"/><Relationship Id="rId18" Type="http://schemas.openxmlformats.org/officeDocument/2006/relationships/image" Target="../media/image14.svg"/><Relationship Id="rId3" Type="http://schemas.openxmlformats.org/officeDocument/2006/relationships/image" Target="../media/image311.jpg"/><Relationship Id="rId7" Type="http://schemas.openxmlformats.org/officeDocument/2006/relationships/image" Target="../media/image315.jpg"/><Relationship Id="rId12" Type="http://schemas.openxmlformats.org/officeDocument/2006/relationships/image" Target="../media/image18.svg"/><Relationship Id="rId17" Type="http://schemas.openxmlformats.org/officeDocument/2006/relationships/image" Target="../media/image13.png"/><Relationship Id="rId2" Type="http://schemas.openxmlformats.org/officeDocument/2006/relationships/image" Target="../media/image310.jpg"/><Relationship Id="rId16" Type="http://schemas.openxmlformats.org/officeDocument/2006/relationships/image" Target="../media/image322.svg"/><Relationship Id="rId1" Type="http://schemas.openxmlformats.org/officeDocument/2006/relationships/slideLayout" Target="../slideLayouts/slideLayout2.xml"/><Relationship Id="rId6" Type="http://schemas.openxmlformats.org/officeDocument/2006/relationships/image" Target="../media/image314.jpg"/><Relationship Id="rId11" Type="http://schemas.openxmlformats.org/officeDocument/2006/relationships/image" Target="../media/image17.png"/><Relationship Id="rId5" Type="http://schemas.openxmlformats.org/officeDocument/2006/relationships/image" Target="../media/image313.jpg"/><Relationship Id="rId15" Type="http://schemas.openxmlformats.org/officeDocument/2006/relationships/image" Target="../media/image321.png"/><Relationship Id="rId10" Type="http://schemas.openxmlformats.org/officeDocument/2006/relationships/image" Target="../media/image318.jpg"/><Relationship Id="rId4" Type="http://schemas.openxmlformats.org/officeDocument/2006/relationships/image" Target="../media/image312.jpg"/><Relationship Id="rId9" Type="http://schemas.openxmlformats.org/officeDocument/2006/relationships/image" Target="../media/image317.jpg"/><Relationship Id="rId14" Type="http://schemas.openxmlformats.org/officeDocument/2006/relationships/image" Target="../media/image320.svg"/></Relationships>
</file>

<file path=ppt/slides/_rels/slide209.xml.rels><?xml version="1.0" encoding="UTF-8" standalone="yes"?>
<Relationships xmlns="http://schemas.openxmlformats.org/package/2006/relationships"><Relationship Id="rId8" Type="http://schemas.openxmlformats.org/officeDocument/2006/relationships/image" Target="../media/image327.png"/><Relationship Id="rId13" Type="http://schemas.openxmlformats.org/officeDocument/2006/relationships/image" Target="../media/image332.svg"/><Relationship Id="rId18" Type="http://schemas.openxmlformats.org/officeDocument/2006/relationships/image" Target="../media/image337.png"/><Relationship Id="rId26" Type="http://schemas.openxmlformats.org/officeDocument/2006/relationships/image" Target="../media/image343.png"/><Relationship Id="rId3" Type="http://schemas.openxmlformats.org/officeDocument/2006/relationships/image" Target="../media/image54.svg"/><Relationship Id="rId21" Type="http://schemas.openxmlformats.org/officeDocument/2006/relationships/image" Target="../media/image340.svg"/><Relationship Id="rId7" Type="http://schemas.openxmlformats.org/officeDocument/2006/relationships/image" Target="../media/image326.svg"/><Relationship Id="rId12" Type="http://schemas.openxmlformats.org/officeDocument/2006/relationships/image" Target="../media/image331.png"/><Relationship Id="rId17" Type="http://schemas.openxmlformats.org/officeDocument/2006/relationships/image" Target="../media/image336.svg"/><Relationship Id="rId25" Type="http://schemas.openxmlformats.org/officeDocument/2006/relationships/image" Target="../media/image18.svg"/><Relationship Id="rId2" Type="http://schemas.openxmlformats.org/officeDocument/2006/relationships/image" Target="../media/image53.png"/><Relationship Id="rId16" Type="http://schemas.openxmlformats.org/officeDocument/2006/relationships/image" Target="../media/image335.png"/><Relationship Id="rId20" Type="http://schemas.openxmlformats.org/officeDocument/2006/relationships/image" Target="../media/image339.png"/><Relationship Id="rId29" Type="http://schemas.openxmlformats.org/officeDocument/2006/relationships/image" Target="../media/image345.svg"/><Relationship Id="rId1" Type="http://schemas.openxmlformats.org/officeDocument/2006/relationships/slideLayout" Target="../slideLayouts/slideLayout2.xml"/><Relationship Id="rId6" Type="http://schemas.openxmlformats.org/officeDocument/2006/relationships/image" Target="../media/image325.png"/><Relationship Id="rId11" Type="http://schemas.openxmlformats.org/officeDocument/2006/relationships/image" Target="../media/image330.svg"/><Relationship Id="rId24" Type="http://schemas.openxmlformats.org/officeDocument/2006/relationships/image" Target="../media/image17.png"/><Relationship Id="rId5" Type="http://schemas.openxmlformats.org/officeDocument/2006/relationships/image" Target="../media/image324.svg"/><Relationship Id="rId15" Type="http://schemas.openxmlformats.org/officeDocument/2006/relationships/image" Target="../media/image334.svg"/><Relationship Id="rId23" Type="http://schemas.openxmlformats.org/officeDocument/2006/relationships/image" Target="../media/image14.svg"/><Relationship Id="rId28" Type="http://schemas.openxmlformats.org/officeDocument/2006/relationships/image" Target="../media/image341.png"/><Relationship Id="rId10" Type="http://schemas.openxmlformats.org/officeDocument/2006/relationships/image" Target="../media/image329.png"/><Relationship Id="rId19" Type="http://schemas.openxmlformats.org/officeDocument/2006/relationships/image" Target="../media/image338.svg"/><Relationship Id="rId4" Type="http://schemas.openxmlformats.org/officeDocument/2006/relationships/image" Target="../media/image323.png"/><Relationship Id="rId9" Type="http://schemas.openxmlformats.org/officeDocument/2006/relationships/image" Target="../media/image328.svg"/><Relationship Id="rId14" Type="http://schemas.openxmlformats.org/officeDocument/2006/relationships/image" Target="../media/image333.png"/><Relationship Id="rId22" Type="http://schemas.openxmlformats.org/officeDocument/2006/relationships/image" Target="../media/image13.png"/><Relationship Id="rId27" Type="http://schemas.openxmlformats.org/officeDocument/2006/relationships/image" Target="../media/image344.svg"/></Relationships>
</file>

<file path=ppt/slides/_rels/slide210.xml.rels><?xml version="1.0" encoding="UTF-8" standalone="yes"?>
<Relationships xmlns="http://schemas.openxmlformats.org/package/2006/relationships"><Relationship Id="rId13" Type="http://schemas.openxmlformats.org/officeDocument/2006/relationships/image" Target="../media/image351.svg"/><Relationship Id="rId18" Type="http://schemas.openxmlformats.org/officeDocument/2006/relationships/image" Target="../media/image356.png"/><Relationship Id="rId26" Type="http://schemas.openxmlformats.org/officeDocument/2006/relationships/image" Target="../media/image8.png"/><Relationship Id="rId39" Type="http://schemas.openxmlformats.org/officeDocument/2006/relationships/image" Target="../media/image360.png"/><Relationship Id="rId21" Type="http://schemas.openxmlformats.org/officeDocument/2006/relationships/image" Target="../media/image359.svg"/><Relationship Id="rId34" Type="http://schemas.openxmlformats.org/officeDocument/2006/relationships/image" Target="../media/image314.jpg"/><Relationship Id="rId42" Type="http://schemas.openxmlformats.org/officeDocument/2006/relationships/image" Target="../media/image363.svg"/><Relationship Id="rId47" Type="http://schemas.openxmlformats.org/officeDocument/2006/relationships/image" Target="../media/image368.png"/><Relationship Id="rId7" Type="http://schemas.openxmlformats.org/officeDocument/2006/relationships/image" Target="../media/image16.svg"/><Relationship Id="rId2" Type="http://schemas.openxmlformats.org/officeDocument/2006/relationships/image" Target="../media/image13.png"/><Relationship Id="rId16" Type="http://schemas.openxmlformats.org/officeDocument/2006/relationships/image" Target="../media/image354.png"/><Relationship Id="rId29" Type="http://schemas.openxmlformats.org/officeDocument/2006/relationships/image" Target="../media/image3.svg"/><Relationship Id="rId1" Type="http://schemas.openxmlformats.org/officeDocument/2006/relationships/slideLayout" Target="../slideLayouts/slideLayout2.xml"/><Relationship Id="rId6" Type="http://schemas.openxmlformats.org/officeDocument/2006/relationships/image" Target="../media/image15.png"/><Relationship Id="rId11" Type="http://schemas.openxmlformats.org/officeDocument/2006/relationships/image" Target="../media/image349.svg"/><Relationship Id="rId24" Type="http://schemas.openxmlformats.org/officeDocument/2006/relationships/image" Target="../media/image4.png"/><Relationship Id="rId32" Type="http://schemas.openxmlformats.org/officeDocument/2006/relationships/image" Target="../media/image312.jpg"/><Relationship Id="rId37" Type="http://schemas.openxmlformats.org/officeDocument/2006/relationships/image" Target="../media/image317.jpg"/><Relationship Id="rId40" Type="http://schemas.openxmlformats.org/officeDocument/2006/relationships/image" Target="../media/image361.svg"/><Relationship Id="rId45" Type="http://schemas.openxmlformats.org/officeDocument/2006/relationships/image" Target="../media/image366.png"/><Relationship Id="rId5" Type="http://schemas.openxmlformats.org/officeDocument/2006/relationships/image" Target="../media/image18.svg"/><Relationship Id="rId15" Type="http://schemas.openxmlformats.org/officeDocument/2006/relationships/image" Target="../media/image353.svg"/><Relationship Id="rId23" Type="http://schemas.openxmlformats.org/officeDocument/2006/relationships/image" Target="../media/image7.svg"/><Relationship Id="rId28" Type="http://schemas.openxmlformats.org/officeDocument/2006/relationships/image" Target="../media/image2.png"/><Relationship Id="rId36" Type="http://schemas.openxmlformats.org/officeDocument/2006/relationships/image" Target="../media/image316.jpg"/><Relationship Id="rId10" Type="http://schemas.openxmlformats.org/officeDocument/2006/relationships/image" Target="../media/image348.png"/><Relationship Id="rId19" Type="http://schemas.openxmlformats.org/officeDocument/2006/relationships/image" Target="../media/image357.svg"/><Relationship Id="rId31" Type="http://schemas.openxmlformats.org/officeDocument/2006/relationships/image" Target="../media/image311.jpg"/><Relationship Id="rId44" Type="http://schemas.openxmlformats.org/officeDocument/2006/relationships/image" Target="../media/image365.svg"/><Relationship Id="rId4" Type="http://schemas.openxmlformats.org/officeDocument/2006/relationships/image" Target="../media/image17.png"/><Relationship Id="rId9" Type="http://schemas.openxmlformats.org/officeDocument/2006/relationships/image" Target="../media/image347.svg"/><Relationship Id="rId14" Type="http://schemas.openxmlformats.org/officeDocument/2006/relationships/image" Target="../media/image352.png"/><Relationship Id="rId22" Type="http://schemas.openxmlformats.org/officeDocument/2006/relationships/image" Target="../media/image6.png"/><Relationship Id="rId27" Type="http://schemas.openxmlformats.org/officeDocument/2006/relationships/image" Target="../media/image9.svg"/><Relationship Id="rId30" Type="http://schemas.openxmlformats.org/officeDocument/2006/relationships/image" Target="../media/image310.jpg"/><Relationship Id="rId35" Type="http://schemas.openxmlformats.org/officeDocument/2006/relationships/image" Target="../media/image315.jpg"/><Relationship Id="rId43" Type="http://schemas.openxmlformats.org/officeDocument/2006/relationships/image" Target="../media/image364.png"/><Relationship Id="rId48" Type="http://schemas.openxmlformats.org/officeDocument/2006/relationships/image" Target="../media/image369.svg"/><Relationship Id="rId8" Type="http://schemas.openxmlformats.org/officeDocument/2006/relationships/image" Target="../media/image346.png"/><Relationship Id="rId3" Type="http://schemas.openxmlformats.org/officeDocument/2006/relationships/image" Target="../media/image14.svg"/><Relationship Id="rId12" Type="http://schemas.openxmlformats.org/officeDocument/2006/relationships/image" Target="../media/image350.png"/><Relationship Id="rId17" Type="http://schemas.openxmlformats.org/officeDocument/2006/relationships/image" Target="../media/image355.svg"/><Relationship Id="rId25" Type="http://schemas.openxmlformats.org/officeDocument/2006/relationships/image" Target="../media/image5.svg"/><Relationship Id="rId33" Type="http://schemas.openxmlformats.org/officeDocument/2006/relationships/image" Target="../media/image313.jpg"/><Relationship Id="rId38" Type="http://schemas.openxmlformats.org/officeDocument/2006/relationships/image" Target="../media/image318.jpg"/><Relationship Id="rId46" Type="http://schemas.openxmlformats.org/officeDocument/2006/relationships/image" Target="../media/image367.svg"/><Relationship Id="rId20" Type="http://schemas.openxmlformats.org/officeDocument/2006/relationships/image" Target="../media/image358.png"/><Relationship Id="rId41" Type="http://schemas.openxmlformats.org/officeDocument/2006/relationships/image" Target="../media/image362.png"/></Relationships>
</file>

<file path=ppt/slides/_rels/slide211.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15.png"/><Relationship Id="rId3" Type="http://schemas.openxmlformats.org/officeDocument/2006/relationships/image" Target="../media/image398.svg"/><Relationship Id="rId7" Type="http://schemas.openxmlformats.org/officeDocument/2006/relationships/image" Target="../media/image402.svg"/><Relationship Id="rId12" Type="http://schemas.openxmlformats.org/officeDocument/2006/relationships/image" Target="../media/image14.svg"/><Relationship Id="rId2" Type="http://schemas.openxmlformats.org/officeDocument/2006/relationships/image" Target="../media/image397.png"/><Relationship Id="rId16" Type="http://schemas.openxmlformats.org/officeDocument/2006/relationships/image" Target="../media/image405.svg"/><Relationship Id="rId1" Type="http://schemas.openxmlformats.org/officeDocument/2006/relationships/slideLayout" Target="../slideLayouts/slideLayout2.xml"/><Relationship Id="rId6" Type="http://schemas.openxmlformats.org/officeDocument/2006/relationships/image" Target="../media/image401.png"/><Relationship Id="rId11" Type="http://schemas.openxmlformats.org/officeDocument/2006/relationships/image" Target="../media/image13.png"/><Relationship Id="rId5" Type="http://schemas.openxmlformats.org/officeDocument/2006/relationships/image" Target="../media/image400.svg"/><Relationship Id="rId15" Type="http://schemas.openxmlformats.org/officeDocument/2006/relationships/image" Target="../media/image404.png"/><Relationship Id="rId10" Type="http://schemas.openxmlformats.org/officeDocument/2006/relationships/image" Target="../media/image403.svg"/><Relationship Id="rId4" Type="http://schemas.openxmlformats.org/officeDocument/2006/relationships/image" Target="../media/image399.png"/><Relationship Id="rId9" Type="http://schemas.openxmlformats.org/officeDocument/2006/relationships/image" Target="../media/image18.svg"/><Relationship Id="rId14" Type="http://schemas.openxmlformats.org/officeDocument/2006/relationships/image" Target="../media/image16.svg"/></Relationships>
</file>

<file path=ppt/slides/_rels/slide214.xml.rels><?xml version="1.0" encoding="UTF-8" standalone="yes"?>
<Relationships xmlns="http://schemas.openxmlformats.org/package/2006/relationships"><Relationship Id="rId8" Type="http://schemas.openxmlformats.org/officeDocument/2006/relationships/image" Target="../media/image406.png"/><Relationship Id="rId13" Type="http://schemas.openxmlformats.org/officeDocument/2006/relationships/image" Target="../media/image413.svg"/><Relationship Id="rId3" Type="http://schemas.openxmlformats.org/officeDocument/2006/relationships/image" Target="../media/image14.svg"/><Relationship Id="rId7" Type="http://schemas.openxmlformats.org/officeDocument/2006/relationships/image" Target="../media/image16.svg"/><Relationship Id="rId12" Type="http://schemas.openxmlformats.org/officeDocument/2006/relationships/image" Target="../media/image412.png"/><Relationship Id="rId17" Type="http://schemas.openxmlformats.org/officeDocument/2006/relationships/image" Target="../media/image417.svg"/><Relationship Id="rId2" Type="http://schemas.openxmlformats.org/officeDocument/2006/relationships/image" Target="../media/image13.png"/><Relationship Id="rId16" Type="http://schemas.openxmlformats.org/officeDocument/2006/relationships/image" Target="../media/image416.png"/><Relationship Id="rId1" Type="http://schemas.openxmlformats.org/officeDocument/2006/relationships/slideLayout" Target="../slideLayouts/slideLayout2.xml"/><Relationship Id="rId6" Type="http://schemas.openxmlformats.org/officeDocument/2006/relationships/image" Target="../media/image15.png"/><Relationship Id="rId11" Type="http://schemas.openxmlformats.org/officeDocument/2006/relationships/image" Target="../media/image411.svg"/><Relationship Id="rId5" Type="http://schemas.openxmlformats.org/officeDocument/2006/relationships/image" Target="../media/image18.svg"/><Relationship Id="rId15" Type="http://schemas.openxmlformats.org/officeDocument/2006/relationships/image" Target="../media/image415.svg"/><Relationship Id="rId10" Type="http://schemas.openxmlformats.org/officeDocument/2006/relationships/image" Target="../media/image410.png"/><Relationship Id="rId4" Type="http://schemas.openxmlformats.org/officeDocument/2006/relationships/image" Target="../media/image17.png"/><Relationship Id="rId9" Type="http://schemas.openxmlformats.org/officeDocument/2006/relationships/image" Target="../media/image407.svg"/><Relationship Id="rId14" Type="http://schemas.openxmlformats.org/officeDocument/2006/relationships/image" Target="../media/image414.png"/></Relationships>
</file>

<file path=ppt/slides/_rels/slide215.xml.rels><?xml version="1.0" encoding="UTF-8" standalone="yes"?>
<Relationships xmlns="http://schemas.openxmlformats.org/package/2006/relationships"><Relationship Id="rId26" Type="http://schemas.openxmlformats.org/officeDocument/2006/relationships/image" Target="../media/image123.png"/><Relationship Id="rId21" Type="http://schemas.openxmlformats.org/officeDocument/2006/relationships/image" Target="../media/image430.svg"/><Relationship Id="rId42" Type="http://schemas.openxmlformats.org/officeDocument/2006/relationships/image" Target="../media/image445.png"/><Relationship Id="rId47" Type="http://schemas.openxmlformats.org/officeDocument/2006/relationships/image" Target="../media/image450.svg"/><Relationship Id="rId63" Type="http://schemas.openxmlformats.org/officeDocument/2006/relationships/image" Target="../media/image466.svg"/><Relationship Id="rId68" Type="http://schemas.openxmlformats.org/officeDocument/2006/relationships/image" Target="../media/image470.png"/><Relationship Id="rId84" Type="http://schemas.openxmlformats.org/officeDocument/2006/relationships/image" Target="../media/image41.png"/><Relationship Id="rId89" Type="http://schemas.openxmlformats.org/officeDocument/2006/relationships/image" Target="../media/image422.svg"/><Relationship Id="rId16" Type="http://schemas.openxmlformats.org/officeDocument/2006/relationships/image" Target="../media/image19.png"/><Relationship Id="rId11" Type="http://schemas.openxmlformats.org/officeDocument/2006/relationships/image" Target="../media/image322.svg"/><Relationship Id="rId32" Type="http://schemas.openxmlformats.org/officeDocument/2006/relationships/image" Target="../media/image437.png"/><Relationship Id="rId37" Type="http://schemas.openxmlformats.org/officeDocument/2006/relationships/image" Target="../media/image440.svg"/><Relationship Id="rId53" Type="http://schemas.openxmlformats.org/officeDocument/2006/relationships/image" Target="../media/image456.svg"/><Relationship Id="rId58" Type="http://schemas.openxmlformats.org/officeDocument/2006/relationships/image" Target="../media/image461.png"/><Relationship Id="rId74" Type="http://schemas.openxmlformats.org/officeDocument/2006/relationships/image" Target="../media/image476.png"/><Relationship Id="rId79" Type="http://schemas.openxmlformats.org/officeDocument/2006/relationships/image" Target="../media/image312.jpg"/><Relationship Id="rId5" Type="http://schemas.openxmlformats.org/officeDocument/2006/relationships/image" Target="../media/image420.png"/><Relationship Id="rId14" Type="http://schemas.openxmlformats.org/officeDocument/2006/relationships/image" Target="../media/image425.png"/><Relationship Id="rId22" Type="http://schemas.openxmlformats.org/officeDocument/2006/relationships/image" Target="../media/image274.png"/><Relationship Id="rId27" Type="http://schemas.openxmlformats.org/officeDocument/2006/relationships/image" Target="../media/image433.svg"/><Relationship Id="rId30" Type="http://schemas.openxmlformats.org/officeDocument/2006/relationships/image" Target="../media/image209.png"/><Relationship Id="rId35" Type="http://schemas.openxmlformats.org/officeDocument/2006/relationships/image" Target="../media/image16.svg"/><Relationship Id="rId43" Type="http://schemas.openxmlformats.org/officeDocument/2006/relationships/image" Target="../media/image446.svg"/><Relationship Id="rId48" Type="http://schemas.openxmlformats.org/officeDocument/2006/relationships/image" Target="../media/image451.png"/><Relationship Id="rId56" Type="http://schemas.openxmlformats.org/officeDocument/2006/relationships/image" Target="../media/image459.png"/><Relationship Id="rId64" Type="http://schemas.openxmlformats.org/officeDocument/2006/relationships/image" Target="../media/image467.png"/><Relationship Id="rId69" Type="http://schemas.openxmlformats.org/officeDocument/2006/relationships/image" Target="../media/image471.svg"/><Relationship Id="rId77" Type="http://schemas.openxmlformats.org/officeDocument/2006/relationships/image" Target="../media/image310.jpg"/><Relationship Id="rId8" Type="http://schemas.openxmlformats.org/officeDocument/2006/relationships/image" Target="../media/image316.jpg"/><Relationship Id="rId51" Type="http://schemas.openxmlformats.org/officeDocument/2006/relationships/image" Target="../media/image454.svg"/><Relationship Id="rId72" Type="http://schemas.openxmlformats.org/officeDocument/2006/relationships/image" Target="../media/image474.png"/><Relationship Id="rId80" Type="http://schemas.openxmlformats.org/officeDocument/2006/relationships/image" Target="../media/image313.jpg"/><Relationship Id="rId85" Type="http://schemas.openxmlformats.org/officeDocument/2006/relationships/image" Target="../media/image42.svg"/><Relationship Id="rId3" Type="http://schemas.microsoft.com/office/2007/relationships/hdphoto" Target="../media/hdphoto1.wdp"/><Relationship Id="rId12" Type="http://schemas.openxmlformats.org/officeDocument/2006/relationships/image" Target="../media/image423.png"/><Relationship Id="rId17" Type="http://schemas.openxmlformats.org/officeDocument/2006/relationships/image" Target="../media/image20.svg"/><Relationship Id="rId25" Type="http://schemas.openxmlformats.org/officeDocument/2006/relationships/image" Target="../media/image432.svg"/><Relationship Id="rId33" Type="http://schemas.openxmlformats.org/officeDocument/2006/relationships/image" Target="../media/image438.svg"/><Relationship Id="rId38" Type="http://schemas.openxmlformats.org/officeDocument/2006/relationships/image" Target="../media/image441.png"/><Relationship Id="rId46" Type="http://schemas.openxmlformats.org/officeDocument/2006/relationships/image" Target="../media/image449.png"/><Relationship Id="rId59" Type="http://schemas.openxmlformats.org/officeDocument/2006/relationships/image" Target="../media/image462.svg"/><Relationship Id="rId67" Type="http://schemas.openxmlformats.org/officeDocument/2006/relationships/image" Target="../media/image469.svg"/><Relationship Id="rId20" Type="http://schemas.openxmlformats.org/officeDocument/2006/relationships/image" Target="../media/image429.png"/><Relationship Id="rId41" Type="http://schemas.openxmlformats.org/officeDocument/2006/relationships/image" Target="../media/image444.svg"/><Relationship Id="rId54" Type="http://schemas.openxmlformats.org/officeDocument/2006/relationships/image" Target="../media/image457.png"/><Relationship Id="rId62" Type="http://schemas.openxmlformats.org/officeDocument/2006/relationships/image" Target="../media/image465.png"/><Relationship Id="rId70" Type="http://schemas.openxmlformats.org/officeDocument/2006/relationships/image" Target="../media/image472.png"/><Relationship Id="rId75" Type="http://schemas.openxmlformats.org/officeDocument/2006/relationships/image" Target="../media/image477.png"/><Relationship Id="rId83" Type="http://schemas.openxmlformats.org/officeDocument/2006/relationships/image" Target="../media/image317.jpg"/><Relationship Id="rId88" Type="http://schemas.openxmlformats.org/officeDocument/2006/relationships/image" Target="../media/image421.png"/><Relationship Id="rId1" Type="http://schemas.openxmlformats.org/officeDocument/2006/relationships/slideLayout" Target="../slideLayouts/slideLayout2.xml"/><Relationship Id="rId6" Type="http://schemas.openxmlformats.org/officeDocument/2006/relationships/image" Target="../media/image55.png"/><Relationship Id="rId15" Type="http://schemas.openxmlformats.org/officeDocument/2006/relationships/image" Target="../media/image426.svg"/><Relationship Id="rId23" Type="http://schemas.openxmlformats.org/officeDocument/2006/relationships/image" Target="../media/image275.svg"/><Relationship Id="rId28" Type="http://schemas.openxmlformats.org/officeDocument/2006/relationships/image" Target="../media/image434.png"/><Relationship Id="rId36" Type="http://schemas.openxmlformats.org/officeDocument/2006/relationships/image" Target="../media/image439.png"/><Relationship Id="rId49" Type="http://schemas.openxmlformats.org/officeDocument/2006/relationships/image" Target="../media/image452.svg"/><Relationship Id="rId57" Type="http://schemas.openxmlformats.org/officeDocument/2006/relationships/image" Target="../media/image460.svg"/><Relationship Id="rId10" Type="http://schemas.openxmlformats.org/officeDocument/2006/relationships/image" Target="../media/image321.png"/><Relationship Id="rId31" Type="http://schemas.openxmlformats.org/officeDocument/2006/relationships/image" Target="../media/image436.svg"/><Relationship Id="rId44" Type="http://schemas.openxmlformats.org/officeDocument/2006/relationships/image" Target="../media/image447.png"/><Relationship Id="rId52" Type="http://schemas.openxmlformats.org/officeDocument/2006/relationships/image" Target="../media/image455.png"/><Relationship Id="rId60" Type="http://schemas.openxmlformats.org/officeDocument/2006/relationships/image" Target="../media/image463.png"/><Relationship Id="rId65" Type="http://schemas.openxmlformats.org/officeDocument/2006/relationships/image" Target="../media/image468.svg"/><Relationship Id="rId73" Type="http://schemas.openxmlformats.org/officeDocument/2006/relationships/image" Target="../media/image475.svg"/><Relationship Id="rId78" Type="http://schemas.openxmlformats.org/officeDocument/2006/relationships/image" Target="../media/image311.jpg"/><Relationship Id="rId81" Type="http://schemas.openxmlformats.org/officeDocument/2006/relationships/image" Target="../media/image314.jpg"/><Relationship Id="rId86" Type="http://schemas.openxmlformats.org/officeDocument/2006/relationships/image" Target="../media/image479.png"/><Relationship Id="rId4" Type="http://schemas.openxmlformats.org/officeDocument/2006/relationships/image" Target="../media/image419.png"/><Relationship Id="rId9" Type="http://schemas.openxmlformats.org/officeDocument/2006/relationships/image" Target="../media/image318.jpg"/><Relationship Id="rId13" Type="http://schemas.openxmlformats.org/officeDocument/2006/relationships/image" Target="../media/image424.svg"/><Relationship Id="rId18" Type="http://schemas.openxmlformats.org/officeDocument/2006/relationships/image" Target="../media/image427.png"/><Relationship Id="rId39" Type="http://schemas.openxmlformats.org/officeDocument/2006/relationships/image" Target="../media/image442.svg"/><Relationship Id="rId34" Type="http://schemas.openxmlformats.org/officeDocument/2006/relationships/image" Target="../media/image15.png"/><Relationship Id="rId50" Type="http://schemas.openxmlformats.org/officeDocument/2006/relationships/image" Target="../media/image453.png"/><Relationship Id="rId55" Type="http://schemas.openxmlformats.org/officeDocument/2006/relationships/image" Target="../media/image458.svg"/><Relationship Id="rId76" Type="http://schemas.openxmlformats.org/officeDocument/2006/relationships/image" Target="../media/image478.svg"/><Relationship Id="rId7" Type="http://schemas.openxmlformats.org/officeDocument/2006/relationships/image" Target="../media/image56.svg"/><Relationship Id="rId71" Type="http://schemas.openxmlformats.org/officeDocument/2006/relationships/image" Target="../media/image473.svg"/><Relationship Id="rId2" Type="http://schemas.openxmlformats.org/officeDocument/2006/relationships/image" Target="../media/image418.png"/><Relationship Id="rId29" Type="http://schemas.openxmlformats.org/officeDocument/2006/relationships/image" Target="../media/image435.svg"/><Relationship Id="rId24" Type="http://schemas.openxmlformats.org/officeDocument/2006/relationships/image" Target="../media/image431.png"/><Relationship Id="rId40" Type="http://schemas.openxmlformats.org/officeDocument/2006/relationships/image" Target="../media/image443.png"/><Relationship Id="rId45" Type="http://schemas.openxmlformats.org/officeDocument/2006/relationships/image" Target="../media/image448.svg"/><Relationship Id="rId66" Type="http://schemas.openxmlformats.org/officeDocument/2006/relationships/image" Target="../media/image63.png"/><Relationship Id="rId87" Type="http://schemas.openxmlformats.org/officeDocument/2006/relationships/image" Target="../media/image480.svg"/><Relationship Id="rId61" Type="http://schemas.openxmlformats.org/officeDocument/2006/relationships/image" Target="../media/image464.svg"/><Relationship Id="rId82" Type="http://schemas.openxmlformats.org/officeDocument/2006/relationships/image" Target="../media/image315.jpg"/><Relationship Id="rId19" Type="http://schemas.openxmlformats.org/officeDocument/2006/relationships/image" Target="../media/image428.svg"/></Relationships>
</file>

<file path=ppt/slides/_rels/slide216.xml.rels><?xml version="1.0" encoding="UTF-8" standalone="yes"?>
<Relationships xmlns="http://schemas.openxmlformats.org/package/2006/relationships"><Relationship Id="rId26" Type="http://schemas.openxmlformats.org/officeDocument/2006/relationships/image" Target="../media/image491.png"/><Relationship Id="rId21" Type="http://schemas.openxmlformats.org/officeDocument/2006/relationships/image" Target="../media/image486.svg"/><Relationship Id="rId42" Type="http://schemas.openxmlformats.org/officeDocument/2006/relationships/image" Target="../media/image504.svg"/><Relationship Id="rId47" Type="http://schemas.openxmlformats.org/officeDocument/2006/relationships/image" Target="../media/image509.png"/><Relationship Id="rId63" Type="http://schemas.openxmlformats.org/officeDocument/2006/relationships/image" Target="../media/image523.png"/><Relationship Id="rId68" Type="http://schemas.openxmlformats.org/officeDocument/2006/relationships/image" Target="../media/image528.svg"/><Relationship Id="rId84" Type="http://schemas.openxmlformats.org/officeDocument/2006/relationships/image" Target="../media/image543.svg"/><Relationship Id="rId89" Type="http://schemas.openxmlformats.org/officeDocument/2006/relationships/image" Target="../media/image548.png"/><Relationship Id="rId16" Type="http://schemas.openxmlformats.org/officeDocument/2006/relationships/image" Target="../media/image209.png"/><Relationship Id="rId107" Type="http://schemas.openxmlformats.org/officeDocument/2006/relationships/image" Target="../media/image564.png"/><Relationship Id="rId11" Type="http://schemas.openxmlformats.org/officeDocument/2006/relationships/image" Target="../media/image575.svg"/><Relationship Id="rId32" Type="http://schemas.openxmlformats.org/officeDocument/2006/relationships/image" Target="../media/image9.svg"/><Relationship Id="rId37" Type="http://schemas.openxmlformats.org/officeDocument/2006/relationships/image" Target="../media/image499.png"/><Relationship Id="rId53" Type="http://schemas.openxmlformats.org/officeDocument/2006/relationships/image" Target="../media/image15.png"/><Relationship Id="rId58" Type="http://schemas.openxmlformats.org/officeDocument/2006/relationships/image" Target="../media/image518.svg"/><Relationship Id="rId74" Type="http://schemas.openxmlformats.org/officeDocument/2006/relationships/image" Target="../media/image534.svg"/><Relationship Id="rId79" Type="http://schemas.openxmlformats.org/officeDocument/2006/relationships/image" Target="../media/image410.png"/><Relationship Id="rId102" Type="http://schemas.openxmlformats.org/officeDocument/2006/relationships/image" Target="../media/image42.svg"/><Relationship Id="rId5" Type="http://schemas.openxmlformats.org/officeDocument/2006/relationships/image" Target="../media/image569.svg"/><Relationship Id="rId90" Type="http://schemas.openxmlformats.org/officeDocument/2006/relationships/image" Target="../media/image549.svg"/><Relationship Id="rId95" Type="http://schemas.openxmlformats.org/officeDocument/2006/relationships/image" Target="../media/image554.png"/><Relationship Id="rId22" Type="http://schemas.openxmlformats.org/officeDocument/2006/relationships/image" Target="../media/image487.png"/><Relationship Id="rId27" Type="http://schemas.openxmlformats.org/officeDocument/2006/relationships/image" Target="../media/image492.svg"/><Relationship Id="rId43" Type="http://schemas.openxmlformats.org/officeDocument/2006/relationships/image" Target="../media/image505.png"/><Relationship Id="rId48" Type="http://schemas.openxmlformats.org/officeDocument/2006/relationships/image" Target="../media/image510.svg"/><Relationship Id="rId64" Type="http://schemas.openxmlformats.org/officeDocument/2006/relationships/image" Target="../media/image524.svg"/><Relationship Id="rId69" Type="http://schemas.openxmlformats.org/officeDocument/2006/relationships/image" Target="../media/image529.png"/><Relationship Id="rId80" Type="http://schemas.openxmlformats.org/officeDocument/2006/relationships/image" Target="../media/image411.svg"/><Relationship Id="rId85" Type="http://schemas.openxmlformats.org/officeDocument/2006/relationships/image" Target="../media/image544.png"/><Relationship Id="rId12" Type="http://schemas.openxmlformats.org/officeDocument/2006/relationships/image" Target="../media/image536.png"/><Relationship Id="rId17" Type="http://schemas.openxmlformats.org/officeDocument/2006/relationships/image" Target="../media/image436.svg"/><Relationship Id="rId33" Type="http://schemas.openxmlformats.org/officeDocument/2006/relationships/image" Target="../media/image495.png"/><Relationship Id="rId38" Type="http://schemas.openxmlformats.org/officeDocument/2006/relationships/image" Target="../media/image500.svg"/><Relationship Id="rId59" Type="http://schemas.openxmlformats.org/officeDocument/2006/relationships/image" Target="../media/image519.png"/><Relationship Id="rId103" Type="http://schemas.openxmlformats.org/officeDocument/2006/relationships/image" Target="../media/image560.png"/><Relationship Id="rId108" Type="http://schemas.openxmlformats.org/officeDocument/2006/relationships/image" Target="../media/image565.svg"/><Relationship Id="rId20" Type="http://schemas.openxmlformats.org/officeDocument/2006/relationships/image" Target="../media/image485.png"/><Relationship Id="rId41" Type="http://schemas.openxmlformats.org/officeDocument/2006/relationships/image" Target="../media/image503.png"/><Relationship Id="rId54" Type="http://schemas.openxmlformats.org/officeDocument/2006/relationships/image" Target="../media/image16.svg"/><Relationship Id="rId62" Type="http://schemas.openxmlformats.org/officeDocument/2006/relationships/image" Target="../media/image522.svg"/><Relationship Id="rId70" Type="http://schemas.openxmlformats.org/officeDocument/2006/relationships/image" Target="../media/image530.svg"/><Relationship Id="rId75" Type="http://schemas.openxmlformats.org/officeDocument/2006/relationships/image" Target="../media/image21.png"/><Relationship Id="rId83" Type="http://schemas.openxmlformats.org/officeDocument/2006/relationships/image" Target="../media/image542.png"/><Relationship Id="rId88" Type="http://schemas.openxmlformats.org/officeDocument/2006/relationships/image" Target="../media/image547.svg"/><Relationship Id="rId91" Type="http://schemas.openxmlformats.org/officeDocument/2006/relationships/image" Target="../media/image550.png"/><Relationship Id="rId96" Type="http://schemas.openxmlformats.org/officeDocument/2006/relationships/image" Target="../media/image555.svg"/><Relationship Id="rId1" Type="http://schemas.openxmlformats.org/officeDocument/2006/relationships/slideLayout" Target="../slideLayouts/slideLayout2.xml"/><Relationship Id="rId6" Type="http://schemas.openxmlformats.org/officeDocument/2006/relationships/image" Target="../media/image570.png"/><Relationship Id="rId15" Type="http://schemas.openxmlformats.org/officeDocument/2006/relationships/image" Target="../media/image576.svg"/><Relationship Id="rId23" Type="http://schemas.openxmlformats.org/officeDocument/2006/relationships/image" Target="../media/image488.svg"/><Relationship Id="rId28" Type="http://schemas.openxmlformats.org/officeDocument/2006/relationships/image" Target="../media/image493.png"/><Relationship Id="rId36" Type="http://schemas.openxmlformats.org/officeDocument/2006/relationships/image" Target="../media/image498.svg"/><Relationship Id="rId49" Type="http://schemas.openxmlformats.org/officeDocument/2006/relationships/image" Target="../media/image511.png"/><Relationship Id="rId57" Type="http://schemas.openxmlformats.org/officeDocument/2006/relationships/image" Target="../media/image517.png"/><Relationship Id="rId106" Type="http://schemas.openxmlformats.org/officeDocument/2006/relationships/image" Target="../media/image563.svg"/><Relationship Id="rId10" Type="http://schemas.openxmlformats.org/officeDocument/2006/relationships/image" Target="../media/image574.png"/><Relationship Id="rId31" Type="http://schemas.openxmlformats.org/officeDocument/2006/relationships/image" Target="../media/image8.png"/><Relationship Id="rId44" Type="http://schemas.openxmlformats.org/officeDocument/2006/relationships/image" Target="../media/image506.svg"/><Relationship Id="rId52" Type="http://schemas.openxmlformats.org/officeDocument/2006/relationships/image" Target="../media/image514.svg"/><Relationship Id="rId60" Type="http://schemas.openxmlformats.org/officeDocument/2006/relationships/image" Target="../media/image520.svg"/><Relationship Id="rId65" Type="http://schemas.openxmlformats.org/officeDocument/2006/relationships/image" Target="../media/image525.png"/><Relationship Id="rId73" Type="http://schemas.openxmlformats.org/officeDocument/2006/relationships/image" Target="../media/image533.png"/><Relationship Id="rId78" Type="http://schemas.openxmlformats.org/officeDocument/2006/relationships/image" Target="../media/image539.svg"/><Relationship Id="rId81" Type="http://schemas.openxmlformats.org/officeDocument/2006/relationships/image" Target="../media/image540.png"/><Relationship Id="rId86" Type="http://schemas.openxmlformats.org/officeDocument/2006/relationships/image" Target="../media/image545.svg"/><Relationship Id="rId94" Type="http://schemas.openxmlformats.org/officeDocument/2006/relationships/image" Target="../media/image553.svg"/><Relationship Id="rId99" Type="http://schemas.openxmlformats.org/officeDocument/2006/relationships/image" Target="../media/image558.png"/><Relationship Id="rId101" Type="http://schemas.openxmlformats.org/officeDocument/2006/relationships/image" Target="../media/image41.png"/><Relationship Id="rId4" Type="http://schemas.openxmlformats.org/officeDocument/2006/relationships/image" Target="../media/image568.png"/><Relationship Id="rId9" Type="http://schemas.openxmlformats.org/officeDocument/2006/relationships/image" Target="../media/image573.svg"/><Relationship Id="rId13" Type="http://schemas.openxmlformats.org/officeDocument/2006/relationships/image" Target="../media/image537.svg"/><Relationship Id="rId18" Type="http://schemas.openxmlformats.org/officeDocument/2006/relationships/image" Target="../media/image483.png"/><Relationship Id="rId39" Type="http://schemas.openxmlformats.org/officeDocument/2006/relationships/image" Target="../media/image501.png"/><Relationship Id="rId34" Type="http://schemas.openxmlformats.org/officeDocument/2006/relationships/image" Target="../media/image496.svg"/><Relationship Id="rId50" Type="http://schemas.openxmlformats.org/officeDocument/2006/relationships/image" Target="../media/image512.svg"/><Relationship Id="rId55" Type="http://schemas.openxmlformats.org/officeDocument/2006/relationships/image" Target="../media/image515.png"/><Relationship Id="rId76" Type="http://schemas.openxmlformats.org/officeDocument/2006/relationships/image" Target="../media/image535.svg"/><Relationship Id="rId97" Type="http://schemas.openxmlformats.org/officeDocument/2006/relationships/image" Target="../media/image556.png"/><Relationship Id="rId104" Type="http://schemas.openxmlformats.org/officeDocument/2006/relationships/image" Target="../media/image561.svg"/><Relationship Id="rId7" Type="http://schemas.openxmlformats.org/officeDocument/2006/relationships/image" Target="../media/image571.svg"/><Relationship Id="rId71" Type="http://schemas.openxmlformats.org/officeDocument/2006/relationships/image" Target="../media/image531.png"/><Relationship Id="rId92" Type="http://schemas.openxmlformats.org/officeDocument/2006/relationships/image" Target="../media/image551.svg"/><Relationship Id="rId2" Type="http://schemas.openxmlformats.org/officeDocument/2006/relationships/image" Target="../media/image566.png"/><Relationship Id="rId29" Type="http://schemas.openxmlformats.org/officeDocument/2006/relationships/image" Target="../media/image494.svg"/><Relationship Id="rId24" Type="http://schemas.openxmlformats.org/officeDocument/2006/relationships/image" Target="../media/image489.png"/><Relationship Id="rId40" Type="http://schemas.openxmlformats.org/officeDocument/2006/relationships/image" Target="../media/image502.svg"/><Relationship Id="rId45" Type="http://schemas.openxmlformats.org/officeDocument/2006/relationships/image" Target="../media/image507.png"/><Relationship Id="rId66" Type="http://schemas.openxmlformats.org/officeDocument/2006/relationships/image" Target="../media/image526.svg"/><Relationship Id="rId87" Type="http://schemas.openxmlformats.org/officeDocument/2006/relationships/image" Target="../media/image546.png"/><Relationship Id="rId61" Type="http://schemas.openxmlformats.org/officeDocument/2006/relationships/image" Target="../media/image521.png"/><Relationship Id="rId82" Type="http://schemas.openxmlformats.org/officeDocument/2006/relationships/image" Target="../media/image541.svg"/><Relationship Id="rId19" Type="http://schemas.openxmlformats.org/officeDocument/2006/relationships/image" Target="../media/image484.svg"/><Relationship Id="rId14" Type="http://schemas.openxmlformats.org/officeDocument/2006/relationships/image" Target="../media/image481.png"/><Relationship Id="rId30" Type="http://schemas.openxmlformats.org/officeDocument/2006/relationships/image" Target="../media/image482.svg"/><Relationship Id="rId35" Type="http://schemas.openxmlformats.org/officeDocument/2006/relationships/image" Target="../media/image497.png"/><Relationship Id="rId56" Type="http://schemas.openxmlformats.org/officeDocument/2006/relationships/image" Target="../media/image516.svg"/><Relationship Id="rId77" Type="http://schemas.openxmlformats.org/officeDocument/2006/relationships/image" Target="../media/image538.png"/><Relationship Id="rId100" Type="http://schemas.openxmlformats.org/officeDocument/2006/relationships/image" Target="../media/image559.svg"/><Relationship Id="rId105" Type="http://schemas.openxmlformats.org/officeDocument/2006/relationships/image" Target="../media/image562.png"/><Relationship Id="rId8" Type="http://schemas.openxmlformats.org/officeDocument/2006/relationships/image" Target="../media/image572.png"/><Relationship Id="rId51" Type="http://schemas.openxmlformats.org/officeDocument/2006/relationships/image" Target="../media/image513.png"/><Relationship Id="rId72" Type="http://schemas.openxmlformats.org/officeDocument/2006/relationships/image" Target="../media/image532.svg"/><Relationship Id="rId93" Type="http://schemas.openxmlformats.org/officeDocument/2006/relationships/image" Target="../media/image552.png"/><Relationship Id="rId98" Type="http://schemas.openxmlformats.org/officeDocument/2006/relationships/image" Target="../media/image557.svg"/><Relationship Id="rId3" Type="http://schemas.openxmlformats.org/officeDocument/2006/relationships/image" Target="../media/image567.svg"/><Relationship Id="rId25" Type="http://schemas.openxmlformats.org/officeDocument/2006/relationships/image" Target="../media/image490.svg"/><Relationship Id="rId46" Type="http://schemas.openxmlformats.org/officeDocument/2006/relationships/image" Target="../media/image508.svg"/><Relationship Id="rId67" Type="http://schemas.openxmlformats.org/officeDocument/2006/relationships/image" Target="../media/image527.png"/></Relationships>
</file>

<file path=ppt/slides/_rels/slide217.xml.rels><?xml version="1.0" encoding="UTF-8" standalone="yes"?>
<Relationships xmlns="http://schemas.openxmlformats.org/package/2006/relationships"><Relationship Id="rId3" Type="http://schemas.openxmlformats.org/officeDocument/2006/relationships/image" Target="../media/image422.svg"/><Relationship Id="rId2" Type="http://schemas.openxmlformats.org/officeDocument/2006/relationships/image" Target="../media/image421.png"/><Relationship Id="rId1" Type="http://schemas.openxmlformats.org/officeDocument/2006/relationships/slideLayout" Target="../slideLayouts/slideLayout2.xml"/><Relationship Id="rId5" Type="http://schemas.openxmlformats.org/officeDocument/2006/relationships/image" Target="../media/image482.svg"/><Relationship Id="rId4" Type="http://schemas.openxmlformats.org/officeDocument/2006/relationships/image" Target="../media/image481.png"/></Relationships>
</file>

<file path=ppt/slides/_rels/slide218.xml.rels><?xml version="1.0" encoding="UTF-8" standalone="yes"?>
<Relationships xmlns="http://schemas.openxmlformats.org/package/2006/relationships"><Relationship Id="rId8" Type="http://schemas.openxmlformats.org/officeDocument/2006/relationships/image" Target="../media/image583.png"/><Relationship Id="rId13" Type="http://schemas.openxmlformats.org/officeDocument/2006/relationships/image" Target="../media/image586.svg"/><Relationship Id="rId18" Type="http://schemas.openxmlformats.org/officeDocument/2006/relationships/image" Target="../media/image589.png"/><Relationship Id="rId3" Type="http://schemas.openxmlformats.org/officeDocument/2006/relationships/image" Target="../media/image578.svg"/><Relationship Id="rId21" Type="http://schemas.openxmlformats.org/officeDocument/2006/relationships/image" Target="../media/image592.svg"/><Relationship Id="rId7" Type="http://schemas.openxmlformats.org/officeDocument/2006/relationships/image" Target="../media/image582.svg"/><Relationship Id="rId12" Type="http://schemas.openxmlformats.org/officeDocument/2006/relationships/image" Target="../media/image585.png"/><Relationship Id="rId17" Type="http://schemas.openxmlformats.org/officeDocument/2006/relationships/image" Target="../media/image588.svg"/><Relationship Id="rId2" Type="http://schemas.openxmlformats.org/officeDocument/2006/relationships/image" Target="../media/image577.png"/><Relationship Id="rId16" Type="http://schemas.openxmlformats.org/officeDocument/2006/relationships/image" Target="../media/image587.png"/><Relationship Id="rId20" Type="http://schemas.openxmlformats.org/officeDocument/2006/relationships/image" Target="../media/image591.png"/><Relationship Id="rId1" Type="http://schemas.openxmlformats.org/officeDocument/2006/relationships/slideLayout" Target="../slideLayouts/slideLayout2.xml"/><Relationship Id="rId6" Type="http://schemas.openxmlformats.org/officeDocument/2006/relationships/image" Target="../media/image581.png"/><Relationship Id="rId11" Type="http://schemas.openxmlformats.org/officeDocument/2006/relationships/image" Target="../media/image580.svg"/><Relationship Id="rId5" Type="http://schemas.openxmlformats.org/officeDocument/2006/relationships/image" Target="../media/image383.svg"/><Relationship Id="rId15" Type="http://schemas.openxmlformats.org/officeDocument/2006/relationships/image" Target="../media/image76.svg"/><Relationship Id="rId23" Type="http://schemas.openxmlformats.org/officeDocument/2006/relationships/image" Target="../media/image594.svg"/><Relationship Id="rId10" Type="http://schemas.openxmlformats.org/officeDocument/2006/relationships/image" Target="../media/image579.png"/><Relationship Id="rId19" Type="http://schemas.openxmlformats.org/officeDocument/2006/relationships/image" Target="../media/image590.svg"/><Relationship Id="rId4" Type="http://schemas.openxmlformats.org/officeDocument/2006/relationships/image" Target="../media/image382.png"/><Relationship Id="rId9" Type="http://schemas.openxmlformats.org/officeDocument/2006/relationships/image" Target="../media/image584.svg"/><Relationship Id="rId14" Type="http://schemas.openxmlformats.org/officeDocument/2006/relationships/image" Target="../media/image75.png"/><Relationship Id="rId22" Type="http://schemas.openxmlformats.org/officeDocument/2006/relationships/image" Target="../media/image593.png"/></Relationships>
</file>

<file path=ppt/slides/_rels/slide219.xml.rels><?xml version="1.0" encoding="UTF-8" standalone="yes"?>
<Relationships xmlns="http://schemas.openxmlformats.org/package/2006/relationships"><Relationship Id="rId8" Type="http://schemas.openxmlformats.org/officeDocument/2006/relationships/image" Target="../media/image585.png"/><Relationship Id="rId13" Type="http://schemas.openxmlformats.org/officeDocument/2006/relationships/image" Target="../media/image578.svg"/><Relationship Id="rId18" Type="http://schemas.openxmlformats.org/officeDocument/2006/relationships/image" Target="../media/image653.png"/><Relationship Id="rId26" Type="http://schemas.openxmlformats.org/officeDocument/2006/relationships/image" Target="../media/image663.png"/><Relationship Id="rId3" Type="http://schemas.openxmlformats.org/officeDocument/2006/relationships/image" Target="../media/image580.svg"/><Relationship Id="rId21" Type="http://schemas.openxmlformats.org/officeDocument/2006/relationships/image" Target="../media/image64.svg"/><Relationship Id="rId7" Type="http://schemas.openxmlformats.org/officeDocument/2006/relationships/image" Target="../media/image18.svg"/><Relationship Id="rId12" Type="http://schemas.openxmlformats.org/officeDocument/2006/relationships/image" Target="../media/image577.png"/><Relationship Id="rId17" Type="http://schemas.openxmlformats.org/officeDocument/2006/relationships/image" Target="../media/image652.svg"/><Relationship Id="rId25" Type="http://schemas.openxmlformats.org/officeDocument/2006/relationships/image" Target="../media/image662.svg"/><Relationship Id="rId2" Type="http://schemas.openxmlformats.org/officeDocument/2006/relationships/image" Target="../media/image579.png"/><Relationship Id="rId16" Type="http://schemas.openxmlformats.org/officeDocument/2006/relationships/image" Target="../media/image651.png"/><Relationship Id="rId20" Type="http://schemas.openxmlformats.org/officeDocument/2006/relationships/image" Target="../media/image63.png"/><Relationship Id="rId29" Type="http://schemas.openxmlformats.org/officeDocument/2006/relationships/image" Target="../media/image666.svg"/><Relationship Id="rId1" Type="http://schemas.openxmlformats.org/officeDocument/2006/relationships/slideLayout" Target="../slideLayouts/slideLayout2.xml"/><Relationship Id="rId6" Type="http://schemas.openxmlformats.org/officeDocument/2006/relationships/image" Target="../media/image17.png"/><Relationship Id="rId11" Type="http://schemas.openxmlformats.org/officeDocument/2006/relationships/image" Target="../media/image648.svg"/><Relationship Id="rId24" Type="http://schemas.openxmlformats.org/officeDocument/2006/relationships/image" Target="../media/image661.png"/><Relationship Id="rId5" Type="http://schemas.openxmlformats.org/officeDocument/2006/relationships/image" Target="../media/image584.svg"/><Relationship Id="rId15" Type="http://schemas.openxmlformats.org/officeDocument/2006/relationships/image" Target="../media/image650.svg"/><Relationship Id="rId23" Type="http://schemas.openxmlformats.org/officeDocument/2006/relationships/image" Target="../media/image660.svg"/><Relationship Id="rId28" Type="http://schemas.openxmlformats.org/officeDocument/2006/relationships/image" Target="../media/image665.png"/><Relationship Id="rId10" Type="http://schemas.openxmlformats.org/officeDocument/2006/relationships/image" Target="../media/image647.png"/><Relationship Id="rId19" Type="http://schemas.openxmlformats.org/officeDocument/2006/relationships/image" Target="../media/image654.png"/><Relationship Id="rId31" Type="http://schemas.openxmlformats.org/officeDocument/2006/relationships/image" Target="../media/image668.svg"/><Relationship Id="rId4" Type="http://schemas.openxmlformats.org/officeDocument/2006/relationships/image" Target="../media/image583.png"/><Relationship Id="rId9" Type="http://schemas.openxmlformats.org/officeDocument/2006/relationships/image" Target="../media/image586.svg"/><Relationship Id="rId14" Type="http://schemas.openxmlformats.org/officeDocument/2006/relationships/image" Target="../media/image649.png"/><Relationship Id="rId22" Type="http://schemas.openxmlformats.org/officeDocument/2006/relationships/image" Target="../media/image659.png"/><Relationship Id="rId27" Type="http://schemas.openxmlformats.org/officeDocument/2006/relationships/image" Target="../media/image664.svg"/><Relationship Id="rId30" Type="http://schemas.openxmlformats.org/officeDocument/2006/relationships/image" Target="../media/image667.png"/></Relationships>
</file>

<file path=ppt/slides/_rels/slide220.xml.rels><?xml version="1.0" encoding="UTF-8" standalone="yes"?>
<Relationships xmlns="http://schemas.openxmlformats.org/package/2006/relationships"><Relationship Id="rId8" Type="http://schemas.openxmlformats.org/officeDocument/2006/relationships/image" Target="../media/image691.png"/><Relationship Id="rId13" Type="http://schemas.openxmlformats.org/officeDocument/2006/relationships/image" Target="../media/image679.png"/><Relationship Id="rId18" Type="http://schemas.openxmlformats.org/officeDocument/2006/relationships/image" Target="../media/image684.svg"/><Relationship Id="rId3" Type="http://schemas.openxmlformats.org/officeDocument/2006/relationships/image" Target="../media/image674.svg"/><Relationship Id="rId7" Type="http://schemas.openxmlformats.org/officeDocument/2006/relationships/image" Target="../media/image678.svg"/><Relationship Id="rId12" Type="http://schemas.openxmlformats.org/officeDocument/2006/relationships/image" Target="../media/image122.svg"/><Relationship Id="rId17" Type="http://schemas.openxmlformats.org/officeDocument/2006/relationships/image" Target="../media/image683.png"/><Relationship Id="rId2" Type="http://schemas.openxmlformats.org/officeDocument/2006/relationships/image" Target="../media/image673.png"/><Relationship Id="rId16" Type="http://schemas.openxmlformats.org/officeDocument/2006/relationships/image" Target="../media/image693.svg"/><Relationship Id="rId20" Type="http://schemas.openxmlformats.org/officeDocument/2006/relationships/image" Target="../media/image695.svg"/><Relationship Id="rId1" Type="http://schemas.openxmlformats.org/officeDocument/2006/relationships/slideLayout" Target="../slideLayouts/slideLayout2.xml"/><Relationship Id="rId6" Type="http://schemas.openxmlformats.org/officeDocument/2006/relationships/image" Target="../media/image677.png"/><Relationship Id="rId11" Type="http://schemas.openxmlformats.org/officeDocument/2006/relationships/image" Target="../media/image121.png"/><Relationship Id="rId5" Type="http://schemas.openxmlformats.org/officeDocument/2006/relationships/image" Target="../media/image676.svg"/><Relationship Id="rId15" Type="http://schemas.openxmlformats.org/officeDocument/2006/relationships/image" Target="../media/image692.png"/><Relationship Id="rId10" Type="http://schemas.openxmlformats.org/officeDocument/2006/relationships/image" Target="../media/image592.svg"/><Relationship Id="rId19" Type="http://schemas.openxmlformats.org/officeDocument/2006/relationships/image" Target="../media/image694.png"/><Relationship Id="rId4" Type="http://schemas.openxmlformats.org/officeDocument/2006/relationships/image" Target="../media/image675.png"/><Relationship Id="rId9" Type="http://schemas.openxmlformats.org/officeDocument/2006/relationships/image" Target="../media/image591.png"/><Relationship Id="rId14" Type="http://schemas.openxmlformats.org/officeDocument/2006/relationships/image" Target="../media/image680.svg"/></Relationships>
</file>

<file path=ppt/slides/_rels/slide221.xml.rels><?xml version="1.0" encoding="UTF-8" standalone="yes"?>
<Relationships xmlns="http://schemas.openxmlformats.org/package/2006/relationships"><Relationship Id="rId3" Type="http://schemas.openxmlformats.org/officeDocument/2006/relationships/image" Target="../media/image697.svg"/><Relationship Id="rId7" Type="http://schemas.openxmlformats.org/officeDocument/2006/relationships/image" Target="../media/image701.svg"/><Relationship Id="rId2" Type="http://schemas.openxmlformats.org/officeDocument/2006/relationships/image" Target="../media/image696.png"/><Relationship Id="rId1" Type="http://schemas.openxmlformats.org/officeDocument/2006/relationships/slideLayout" Target="../slideLayouts/slideLayout2.xml"/><Relationship Id="rId6" Type="http://schemas.openxmlformats.org/officeDocument/2006/relationships/image" Target="../media/image700.png"/><Relationship Id="rId5" Type="http://schemas.openxmlformats.org/officeDocument/2006/relationships/image" Target="../media/image699.svg"/><Relationship Id="rId4" Type="http://schemas.openxmlformats.org/officeDocument/2006/relationships/image" Target="../media/image698.png"/></Relationships>
</file>

<file path=ppt/slides/_rels/slide222.xml.rels><?xml version="1.0" encoding="UTF-8" standalone="yes"?>
<Relationships xmlns="http://schemas.openxmlformats.org/package/2006/relationships"><Relationship Id="rId3" Type="http://schemas.openxmlformats.org/officeDocument/2006/relationships/image" Target="../media/image702.svg"/><Relationship Id="rId2" Type="http://schemas.openxmlformats.org/officeDocument/2006/relationships/image" Target="../media/image113.png"/><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8" Type="http://schemas.openxmlformats.org/officeDocument/2006/relationships/image" Target="../media/image707.png"/><Relationship Id="rId3" Type="http://schemas.openxmlformats.org/officeDocument/2006/relationships/image" Target="../media/image14.svg"/><Relationship Id="rId7" Type="http://schemas.openxmlformats.org/officeDocument/2006/relationships/image" Target="../media/image706.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705.png"/><Relationship Id="rId5" Type="http://schemas.openxmlformats.org/officeDocument/2006/relationships/image" Target="../media/image704.svg"/><Relationship Id="rId4" Type="http://schemas.openxmlformats.org/officeDocument/2006/relationships/image" Target="../media/image703.png"/><Relationship Id="rId9" Type="http://schemas.openxmlformats.org/officeDocument/2006/relationships/image" Target="../media/image708.sv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3" Type="http://schemas.openxmlformats.org/officeDocument/2006/relationships/image" Target="../media/image706.svg"/><Relationship Id="rId2" Type="http://schemas.openxmlformats.org/officeDocument/2006/relationships/image" Target="../media/image705.png"/><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3" Type="http://schemas.openxmlformats.org/officeDocument/2006/relationships/image" Target="../media/image706.svg"/><Relationship Id="rId2" Type="http://schemas.openxmlformats.org/officeDocument/2006/relationships/image" Target="../media/image705.png"/><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3" Type="http://schemas.openxmlformats.org/officeDocument/2006/relationships/image" Target="../media/image706.svg"/><Relationship Id="rId2" Type="http://schemas.openxmlformats.org/officeDocument/2006/relationships/image" Target="../media/image705.png"/><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3" Type="http://schemas.openxmlformats.org/officeDocument/2006/relationships/image" Target="../media/image704.svg"/><Relationship Id="rId2" Type="http://schemas.openxmlformats.org/officeDocument/2006/relationships/image" Target="../media/image703.png"/><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3" Type="http://schemas.openxmlformats.org/officeDocument/2006/relationships/image" Target="../media/image704.svg"/><Relationship Id="rId2" Type="http://schemas.openxmlformats.org/officeDocument/2006/relationships/image" Target="../media/image703.png"/><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3" Type="http://schemas.openxmlformats.org/officeDocument/2006/relationships/image" Target="../media/image704.svg"/><Relationship Id="rId2" Type="http://schemas.openxmlformats.org/officeDocument/2006/relationships/image" Target="../media/image703.png"/><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3" Type="http://schemas.openxmlformats.org/officeDocument/2006/relationships/image" Target="../media/image708.svg"/><Relationship Id="rId2" Type="http://schemas.openxmlformats.org/officeDocument/2006/relationships/image" Target="../media/image707.png"/><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3" Type="http://schemas.openxmlformats.org/officeDocument/2006/relationships/image" Target="../media/image708.svg"/><Relationship Id="rId2" Type="http://schemas.openxmlformats.org/officeDocument/2006/relationships/image" Target="../media/image707.png"/><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3" Type="http://schemas.openxmlformats.org/officeDocument/2006/relationships/image" Target="../media/image708.svg"/><Relationship Id="rId2" Type="http://schemas.openxmlformats.org/officeDocument/2006/relationships/image" Target="../media/image707.png"/><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8" Type="http://schemas.openxmlformats.org/officeDocument/2006/relationships/image" Target="../media/image713.png"/><Relationship Id="rId3" Type="http://schemas.openxmlformats.org/officeDocument/2006/relationships/image" Target="../media/image14.svg"/><Relationship Id="rId7" Type="http://schemas.openxmlformats.org/officeDocument/2006/relationships/image" Target="../media/image712.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711.png"/><Relationship Id="rId11" Type="http://schemas.openxmlformats.org/officeDocument/2006/relationships/image" Target="../media/image702.svg"/><Relationship Id="rId5" Type="http://schemas.openxmlformats.org/officeDocument/2006/relationships/image" Target="../media/image710.svg"/><Relationship Id="rId10" Type="http://schemas.openxmlformats.org/officeDocument/2006/relationships/image" Target="../media/image113.png"/><Relationship Id="rId4" Type="http://schemas.openxmlformats.org/officeDocument/2006/relationships/image" Target="../media/image709.png"/><Relationship Id="rId9" Type="http://schemas.openxmlformats.org/officeDocument/2006/relationships/image" Target="../media/image714.svg"/></Relationships>
</file>

<file path=ppt/slides/_rels/slide239.xml.rels><?xml version="1.0" encoding="UTF-8" standalone="yes"?>
<Relationships xmlns="http://schemas.openxmlformats.org/package/2006/relationships"><Relationship Id="rId8" Type="http://schemas.openxmlformats.org/officeDocument/2006/relationships/image" Target="../media/image713.png"/><Relationship Id="rId3" Type="http://schemas.openxmlformats.org/officeDocument/2006/relationships/image" Target="../media/image14.svg"/><Relationship Id="rId7" Type="http://schemas.openxmlformats.org/officeDocument/2006/relationships/image" Target="../media/image712.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711.png"/><Relationship Id="rId5" Type="http://schemas.openxmlformats.org/officeDocument/2006/relationships/image" Target="../media/image710.svg"/><Relationship Id="rId4" Type="http://schemas.openxmlformats.org/officeDocument/2006/relationships/image" Target="../media/image709.png"/><Relationship Id="rId9" Type="http://schemas.openxmlformats.org/officeDocument/2006/relationships/image" Target="../media/image714.svg"/></Relationships>
</file>

<file path=ppt/slides/_rels/slide240.xml.rels><?xml version="1.0" encoding="UTF-8" standalone="yes"?>
<Relationships xmlns="http://schemas.openxmlformats.org/package/2006/relationships"><Relationship Id="rId8" Type="http://schemas.openxmlformats.org/officeDocument/2006/relationships/image" Target="../media/image81.png"/><Relationship Id="rId13" Type="http://schemas.openxmlformats.org/officeDocument/2006/relationships/image" Target="../media/image575.svg"/><Relationship Id="rId18" Type="http://schemas.openxmlformats.org/officeDocument/2006/relationships/hyperlink" Target="https://www.flickr.com/photos/crossmediaweek/6797876362/" TargetMode="External"/><Relationship Id="rId3" Type="http://schemas.openxmlformats.org/officeDocument/2006/relationships/image" Target="../media/image716.svg"/><Relationship Id="rId7" Type="http://schemas.openxmlformats.org/officeDocument/2006/relationships/image" Target="../media/image720.svg"/><Relationship Id="rId12" Type="http://schemas.openxmlformats.org/officeDocument/2006/relationships/image" Target="../media/image574.png"/><Relationship Id="rId17" Type="http://schemas.openxmlformats.org/officeDocument/2006/relationships/image" Target="../media/image180.jpg"/><Relationship Id="rId2" Type="http://schemas.openxmlformats.org/officeDocument/2006/relationships/image" Target="../media/image715.png"/><Relationship Id="rId16" Type="http://schemas.openxmlformats.org/officeDocument/2006/relationships/hyperlink" Target="https://commons.wikimedia.org/wiki/File:Amateur_Football_in_Kilkenny-Ireland.jpg" TargetMode="External"/><Relationship Id="rId1" Type="http://schemas.openxmlformats.org/officeDocument/2006/relationships/slideLayout" Target="../slideLayouts/slideLayout2.xml"/><Relationship Id="rId6" Type="http://schemas.openxmlformats.org/officeDocument/2006/relationships/image" Target="../media/image719.png"/><Relationship Id="rId11" Type="http://schemas.openxmlformats.org/officeDocument/2006/relationships/image" Target="../media/image571.svg"/><Relationship Id="rId5" Type="http://schemas.openxmlformats.org/officeDocument/2006/relationships/image" Target="../media/image718.svg"/><Relationship Id="rId15" Type="http://schemas.openxmlformats.org/officeDocument/2006/relationships/image" Target="../media/image177.jpg"/><Relationship Id="rId10" Type="http://schemas.openxmlformats.org/officeDocument/2006/relationships/image" Target="../media/image570.png"/><Relationship Id="rId4" Type="http://schemas.openxmlformats.org/officeDocument/2006/relationships/image" Target="../media/image717.png"/><Relationship Id="rId9" Type="http://schemas.openxmlformats.org/officeDocument/2006/relationships/image" Target="../media/image82.svg"/><Relationship Id="rId14" Type="http://schemas.openxmlformats.org/officeDocument/2006/relationships/image" Target="../media/image721.png"/></Relationships>
</file>

<file path=ppt/slides/_rels/slide241.xml.rels><?xml version="1.0" encoding="UTF-8" standalone="yes"?>
<Relationships xmlns="http://schemas.openxmlformats.org/package/2006/relationships"><Relationship Id="rId13" Type="http://schemas.openxmlformats.org/officeDocument/2006/relationships/image" Target="../media/image578.svg"/><Relationship Id="rId18" Type="http://schemas.openxmlformats.org/officeDocument/2006/relationships/image" Target="../media/image55.png"/><Relationship Id="rId26" Type="http://schemas.openxmlformats.org/officeDocument/2006/relationships/image" Target="../media/image487.png"/><Relationship Id="rId3" Type="http://schemas.openxmlformats.org/officeDocument/2006/relationships/image" Target="../media/image506.svg"/><Relationship Id="rId21" Type="http://schemas.openxmlformats.org/officeDocument/2006/relationships/image" Target="../media/image436.svg"/><Relationship Id="rId7" Type="http://schemas.openxmlformats.org/officeDocument/2006/relationships/image" Target="../media/image516.svg"/><Relationship Id="rId12" Type="http://schemas.openxmlformats.org/officeDocument/2006/relationships/image" Target="../media/image577.png"/><Relationship Id="rId17" Type="http://schemas.openxmlformats.org/officeDocument/2006/relationships/image" Target="../media/image50.svg"/><Relationship Id="rId25" Type="http://schemas.openxmlformats.org/officeDocument/2006/relationships/image" Target="../media/image486.svg"/><Relationship Id="rId33" Type="http://schemas.openxmlformats.org/officeDocument/2006/relationships/image" Target="../media/image494.svg"/><Relationship Id="rId2" Type="http://schemas.openxmlformats.org/officeDocument/2006/relationships/image" Target="../media/image505.png"/><Relationship Id="rId16" Type="http://schemas.openxmlformats.org/officeDocument/2006/relationships/image" Target="../media/image49.png"/><Relationship Id="rId20" Type="http://schemas.openxmlformats.org/officeDocument/2006/relationships/image" Target="../media/image209.png"/><Relationship Id="rId29" Type="http://schemas.openxmlformats.org/officeDocument/2006/relationships/image" Target="../media/image490.svg"/><Relationship Id="rId1" Type="http://schemas.openxmlformats.org/officeDocument/2006/relationships/slideLayout" Target="../slideLayouts/slideLayout2.xml"/><Relationship Id="rId6" Type="http://schemas.openxmlformats.org/officeDocument/2006/relationships/image" Target="../media/image515.png"/><Relationship Id="rId11" Type="http://schemas.openxmlformats.org/officeDocument/2006/relationships/image" Target="../media/image584.svg"/><Relationship Id="rId24" Type="http://schemas.openxmlformats.org/officeDocument/2006/relationships/image" Target="../media/image485.png"/><Relationship Id="rId32" Type="http://schemas.openxmlformats.org/officeDocument/2006/relationships/image" Target="../media/image493.png"/><Relationship Id="rId5" Type="http://schemas.openxmlformats.org/officeDocument/2006/relationships/image" Target="../media/image482.svg"/><Relationship Id="rId15" Type="http://schemas.openxmlformats.org/officeDocument/2006/relationships/image" Target="../media/image18.svg"/><Relationship Id="rId23" Type="http://schemas.openxmlformats.org/officeDocument/2006/relationships/image" Target="../media/image484.svg"/><Relationship Id="rId28" Type="http://schemas.openxmlformats.org/officeDocument/2006/relationships/image" Target="../media/image489.png"/><Relationship Id="rId10" Type="http://schemas.openxmlformats.org/officeDocument/2006/relationships/image" Target="../media/image583.png"/><Relationship Id="rId19" Type="http://schemas.openxmlformats.org/officeDocument/2006/relationships/image" Target="../media/image56.svg"/><Relationship Id="rId31" Type="http://schemas.openxmlformats.org/officeDocument/2006/relationships/image" Target="../media/image492.svg"/><Relationship Id="rId4" Type="http://schemas.openxmlformats.org/officeDocument/2006/relationships/image" Target="../media/image481.png"/><Relationship Id="rId9" Type="http://schemas.openxmlformats.org/officeDocument/2006/relationships/image" Target="../media/image518.svg"/><Relationship Id="rId14" Type="http://schemas.openxmlformats.org/officeDocument/2006/relationships/image" Target="../media/image17.png"/><Relationship Id="rId22" Type="http://schemas.openxmlformats.org/officeDocument/2006/relationships/image" Target="../media/image483.png"/><Relationship Id="rId27" Type="http://schemas.openxmlformats.org/officeDocument/2006/relationships/image" Target="../media/image488.svg"/><Relationship Id="rId30" Type="http://schemas.openxmlformats.org/officeDocument/2006/relationships/image" Target="../media/image491.png"/><Relationship Id="rId8" Type="http://schemas.openxmlformats.org/officeDocument/2006/relationships/image" Target="../media/image517.png"/></Relationships>
</file>

<file path=ppt/slides/_rels/slide242.xml.rels><?xml version="1.0" encoding="UTF-8" standalone="yes"?>
<Relationships xmlns="http://schemas.openxmlformats.org/package/2006/relationships"><Relationship Id="rId8" Type="http://schemas.openxmlformats.org/officeDocument/2006/relationships/image" Target="../media/image713.png"/><Relationship Id="rId3" Type="http://schemas.openxmlformats.org/officeDocument/2006/relationships/image" Target="../media/image14.svg"/><Relationship Id="rId7" Type="http://schemas.openxmlformats.org/officeDocument/2006/relationships/image" Target="../media/image712.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711.png"/><Relationship Id="rId5" Type="http://schemas.openxmlformats.org/officeDocument/2006/relationships/image" Target="../media/image710.svg"/><Relationship Id="rId4" Type="http://schemas.openxmlformats.org/officeDocument/2006/relationships/image" Target="../media/image709.png"/><Relationship Id="rId9" Type="http://schemas.openxmlformats.org/officeDocument/2006/relationships/image" Target="../media/image714.svg"/></Relationships>
</file>

<file path=ppt/slides/_rels/slide243.xml.rels><?xml version="1.0" encoding="UTF-8" standalone="yes"?>
<Relationships xmlns="http://schemas.openxmlformats.org/package/2006/relationships"><Relationship Id="rId3" Type="http://schemas.openxmlformats.org/officeDocument/2006/relationships/image" Target="../media/image712.svg"/><Relationship Id="rId2" Type="http://schemas.openxmlformats.org/officeDocument/2006/relationships/image" Target="../media/image711.png"/><Relationship Id="rId1" Type="http://schemas.openxmlformats.org/officeDocument/2006/relationships/slideLayout" Target="../slideLayouts/slideLayout2.xml"/><Relationship Id="rId5" Type="http://schemas.openxmlformats.org/officeDocument/2006/relationships/image" Target="../media/image702.svg"/><Relationship Id="rId4" Type="http://schemas.openxmlformats.org/officeDocument/2006/relationships/image" Target="../media/image113.png"/></Relationships>
</file>

<file path=ppt/slides/_rels/slide244.xml.rels><?xml version="1.0" encoding="UTF-8" standalone="yes"?>
<Relationships xmlns="http://schemas.openxmlformats.org/package/2006/relationships"><Relationship Id="rId13" Type="http://schemas.openxmlformats.org/officeDocument/2006/relationships/image" Target="../media/image578.svg"/><Relationship Id="rId18" Type="http://schemas.openxmlformats.org/officeDocument/2006/relationships/image" Target="../media/image55.png"/><Relationship Id="rId26" Type="http://schemas.openxmlformats.org/officeDocument/2006/relationships/image" Target="../media/image487.png"/><Relationship Id="rId3" Type="http://schemas.openxmlformats.org/officeDocument/2006/relationships/image" Target="../media/image506.svg"/><Relationship Id="rId21" Type="http://schemas.openxmlformats.org/officeDocument/2006/relationships/image" Target="../media/image436.svg"/><Relationship Id="rId7" Type="http://schemas.openxmlformats.org/officeDocument/2006/relationships/image" Target="../media/image516.svg"/><Relationship Id="rId12" Type="http://schemas.openxmlformats.org/officeDocument/2006/relationships/image" Target="../media/image577.png"/><Relationship Id="rId17" Type="http://schemas.openxmlformats.org/officeDocument/2006/relationships/image" Target="../media/image50.svg"/><Relationship Id="rId25" Type="http://schemas.openxmlformats.org/officeDocument/2006/relationships/image" Target="../media/image486.svg"/><Relationship Id="rId33" Type="http://schemas.openxmlformats.org/officeDocument/2006/relationships/image" Target="../media/image494.svg"/><Relationship Id="rId2" Type="http://schemas.openxmlformats.org/officeDocument/2006/relationships/image" Target="../media/image505.png"/><Relationship Id="rId16" Type="http://schemas.openxmlformats.org/officeDocument/2006/relationships/image" Target="../media/image49.png"/><Relationship Id="rId20" Type="http://schemas.openxmlformats.org/officeDocument/2006/relationships/image" Target="../media/image209.png"/><Relationship Id="rId29" Type="http://schemas.openxmlformats.org/officeDocument/2006/relationships/image" Target="../media/image490.svg"/><Relationship Id="rId1" Type="http://schemas.openxmlformats.org/officeDocument/2006/relationships/slideLayout" Target="../slideLayouts/slideLayout2.xml"/><Relationship Id="rId6" Type="http://schemas.openxmlformats.org/officeDocument/2006/relationships/image" Target="../media/image515.png"/><Relationship Id="rId11" Type="http://schemas.openxmlformats.org/officeDocument/2006/relationships/image" Target="../media/image584.svg"/><Relationship Id="rId24" Type="http://schemas.openxmlformats.org/officeDocument/2006/relationships/image" Target="../media/image485.png"/><Relationship Id="rId32" Type="http://schemas.openxmlformats.org/officeDocument/2006/relationships/image" Target="../media/image493.png"/><Relationship Id="rId5" Type="http://schemas.openxmlformats.org/officeDocument/2006/relationships/image" Target="../media/image482.svg"/><Relationship Id="rId15" Type="http://schemas.openxmlformats.org/officeDocument/2006/relationships/image" Target="../media/image18.svg"/><Relationship Id="rId23" Type="http://schemas.openxmlformats.org/officeDocument/2006/relationships/image" Target="../media/image484.svg"/><Relationship Id="rId28" Type="http://schemas.openxmlformats.org/officeDocument/2006/relationships/image" Target="../media/image489.png"/><Relationship Id="rId10" Type="http://schemas.openxmlformats.org/officeDocument/2006/relationships/image" Target="../media/image583.png"/><Relationship Id="rId19" Type="http://schemas.openxmlformats.org/officeDocument/2006/relationships/image" Target="../media/image56.svg"/><Relationship Id="rId31" Type="http://schemas.openxmlformats.org/officeDocument/2006/relationships/image" Target="../media/image492.svg"/><Relationship Id="rId4" Type="http://schemas.openxmlformats.org/officeDocument/2006/relationships/image" Target="../media/image481.png"/><Relationship Id="rId9" Type="http://schemas.openxmlformats.org/officeDocument/2006/relationships/image" Target="../media/image518.svg"/><Relationship Id="rId14" Type="http://schemas.openxmlformats.org/officeDocument/2006/relationships/image" Target="../media/image17.png"/><Relationship Id="rId22" Type="http://schemas.openxmlformats.org/officeDocument/2006/relationships/image" Target="../media/image483.png"/><Relationship Id="rId27" Type="http://schemas.openxmlformats.org/officeDocument/2006/relationships/image" Target="../media/image488.svg"/><Relationship Id="rId30" Type="http://schemas.openxmlformats.org/officeDocument/2006/relationships/image" Target="../media/image491.png"/><Relationship Id="rId8" Type="http://schemas.openxmlformats.org/officeDocument/2006/relationships/image" Target="../media/image517.png"/></Relationships>
</file>

<file path=ppt/slides/_rels/slide245.xml.rels><?xml version="1.0" encoding="UTF-8" standalone="yes"?>
<Relationships xmlns="http://schemas.openxmlformats.org/package/2006/relationships"><Relationship Id="rId13" Type="http://schemas.openxmlformats.org/officeDocument/2006/relationships/image" Target="../media/image14.svg"/><Relationship Id="rId18" Type="http://schemas.openxmlformats.org/officeDocument/2006/relationships/image" Target="../media/image41.png"/><Relationship Id="rId26" Type="http://schemas.openxmlformats.org/officeDocument/2006/relationships/image" Target="../media/image45.png"/><Relationship Id="rId39" Type="http://schemas.openxmlformats.org/officeDocument/2006/relationships/image" Target="../media/image726.svg"/><Relationship Id="rId21" Type="http://schemas.openxmlformats.org/officeDocument/2006/relationships/image" Target="../media/image48.svg"/><Relationship Id="rId34" Type="http://schemas.openxmlformats.org/officeDocument/2006/relationships/image" Target="../media/image63.png"/><Relationship Id="rId42" Type="http://schemas.openxmlformats.org/officeDocument/2006/relationships/image" Target="../media/image729.png"/><Relationship Id="rId47" Type="http://schemas.openxmlformats.org/officeDocument/2006/relationships/image" Target="../media/image734.svg"/><Relationship Id="rId50" Type="http://schemas.openxmlformats.org/officeDocument/2006/relationships/image" Target="../media/image121.png"/><Relationship Id="rId55" Type="http://schemas.openxmlformats.org/officeDocument/2006/relationships/image" Target="../media/image740.png"/><Relationship Id="rId7" Type="http://schemas.openxmlformats.org/officeDocument/2006/relationships/image" Target="../media/image474.png"/><Relationship Id="rId2" Type="http://schemas.openxmlformats.org/officeDocument/2006/relationships/notesSlide" Target="../notesSlides/notesSlide4.xml"/><Relationship Id="rId16" Type="http://schemas.openxmlformats.org/officeDocument/2006/relationships/image" Target="../media/image613.png"/><Relationship Id="rId29" Type="http://schemas.openxmlformats.org/officeDocument/2006/relationships/image" Target="../media/image54.svg"/><Relationship Id="rId11" Type="http://schemas.openxmlformats.org/officeDocument/2006/relationships/image" Target="../media/image650.svg"/><Relationship Id="rId24" Type="http://schemas.openxmlformats.org/officeDocument/2006/relationships/image" Target="../media/image55.png"/><Relationship Id="rId32" Type="http://schemas.openxmlformats.org/officeDocument/2006/relationships/image" Target="../media/image49.png"/><Relationship Id="rId37" Type="http://schemas.openxmlformats.org/officeDocument/2006/relationships/image" Target="../media/image724.svg"/><Relationship Id="rId40" Type="http://schemas.openxmlformats.org/officeDocument/2006/relationships/image" Target="../media/image727.png"/><Relationship Id="rId45" Type="http://schemas.openxmlformats.org/officeDocument/2006/relationships/image" Target="../media/image732.svg"/><Relationship Id="rId53" Type="http://schemas.openxmlformats.org/officeDocument/2006/relationships/image" Target="../media/image738.svg"/><Relationship Id="rId5" Type="http://schemas.openxmlformats.org/officeDocument/2006/relationships/image" Target="../media/image472.png"/><Relationship Id="rId10" Type="http://schemas.openxmlformats.org/officeDocument/2006/relationships/image" Target="../media/image649.png"/><Relationship Id="rId19" Type="http://schemas.openxmlformats.org/officeDocument/2006/relationships/image" Target="../media/image42.svg"/><Relationship Id="rId31" Type="http://schemas.openxmlformats.org/officeDocument/2006/relationships/image" Target="../media/image58.svg"/><Relationship Id="rId44" Type="http://schemas.openxmlformats.org/officeDocument/2006/relationships/image" Target="../media/image731.png"/><Relationship Id="rId52" Type="http://schemas.openxmlformats.org/officeDocument/2006/relationships/image" Target="../media/image737.png"/><Relationship Id="rId4" Type="http://schemas.openxmlformats.org/officeDocument/2006/relationships/image" Target="../media/image471.svg"/><Relationship Id="rId9" Type="http://schemas.openxmlformats.org/officeDocument/2006/relationships/image" Target="../media/image476.png"/><Relationship Id="rId14" Type="http://schemas.openxmlformats.org/officeDocument/2006/relationships/image" Target="../media/image17.png"/><Relationship Id="rId22" Type="http://schemas.openxmlformats.org/officeDocument/2006/relationships/image" Target="../media/image51.png"/><Relationship Id="rId27" Type="http://schemas.openxmlformats.org/officeDocument/2006/relationships/image" Target="../media/image46.svg"/><Relationship Id="rId30" Type="http://schemas.openxmlformats.org/officeDocument/2006/relationships/image" Target="../media/image57.png"/><Relationship Id="rId35" Type="http://schemas.openxmlformats.org/officeDocument/2006/relationships/image" Target="../media/image64.svg"/><Relationship Id="rId43" Type="http://schemas.openxmlformats.org/officeDocument/2006/relationships/image" Target="../media/image730.svg"/><Relationship Id="rId48" Type="http://schemas.openxmlformats.org/officeDocument/2006/relationships/image" Target="../media/image735.png"/><Relationship Id="rId56" Type="http://schemas.openxmlformats.org/officeDocument/2006/relationships/image" Target="../media/image741.svg"/><Relationship Id="rId8" Type="http://schemas.openxmlformats.org/officeDocument/2006/relationships/image" Target="../media/image475.svg"/><Relationship Id="rId51" Type="http://schemas.openxmlformats.org/officeDocument/2006/relationships/image" Target="../media/image122.svg"/><Relationship Id="rId3" Type="http://schemas.openxmlformats.org/officeDocument/2006/relationships/image" Target="../media/image470.png"/><Relationship Id="rId12" Type="http://schemas.openxmlformats.org/officeDocument/2006/relationships/image" Target="../media/image13.png"/><Relationship Id="rId17" Type="http://schemas.openxmlformats.org/officeDocument/2006/relationships/image" Target="../media/image722.svg"/><Relationship Id="rId25" Type="http://schemas.openxmlformats.org/officeDocument/2006/relationships/image" Target="../media/image56.svg"/><Relationship Id="rId33" Type="http://schemas.openxmlformats.org/officeDocument/2006/relationships/image" Target="../media/image50.svg"/><Relationship Id="rId38" Type="http://schemas.openxmlformats.org/officeDocument/2006/relationships/image" Target="../media/image725.png"/><Relationship Id="rId46" Type="http://schemas.openxmlformats.org/officeDocument/2006/relationships/image" Target="../media/image733.png"/><Relationship Id="rId20" Type="http://schemas.openxmlformats.org/officeDocument/2006/relationships/image" Target="../media/image47.png"/><Relationship Id="rId41" Type="http://schemas.openxmlformats.org/officeDocument/2006/relationships/image" Target="../media/image728.svg"/><Relationship Id="rId54" Type="http://schemas.openxmlformats.org/officeDocument/2006/relationships/image" Target="../media/image739.svg"/><Relationship Id="rId1" Type="http://schemas.openxmlformats.org/officeDocument/2006/relationships/slideLayout" Target="../slideLayouts/slideLayout2.xml"/><Relationship Id="rId6" Type="http://schemas.openxmlformats.org/officeDocument/2006/relationships/image" Target="../media/image473.svg"/><Relationship Id="rId15" Type="http://schemas.openxmlformats.org/officeDocument/2006/relationships/image" Target="../media/image18.svg"/><Relationship Id="rId23" Type="http://schemas.openxmlformats.org/officeDocument/2006/relationships/image" Target="../media/image52.svg"/><Relationship Id="rId28" Type="http://schemas.openxmlformats.org/officeDocument/2006/relationships/image" Target="../media/image53.png"/><Relationship Id="rId36" Type="http://schemas.openxmlformats.org/officeDocument/2006/relationships/image" Target="../media/image723.png"/><Relationship Id="rId49" Type="http://schemas.openxmlformats.org/officeDocument/2006/relationships/image" Target="../media/image736.svg"/></Relationships>
</file>

<file path=ppt/slides/_rels/slide246.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Layout" Target="../slideLayouts/slideLayout2.xml"/><Relationship Id="rId5" Type="http://schemas.openxmlformats.org/officeDocument/2006/relationships/image" Target="../media/image702.svg"/><Relationship Id="rId4" Type="http://schemas.openxmlformats.org/officeDocument/2006/relationships/image" Target="../media/image113.png"/></Relationships>
</file>

<file path=ppt/slides/_rels/slide247.xml.rels><?xml version="1.0" encoding="UTF-8" standalone="yes"?>
<Relationships xmlns="http://schemas.openxmlformats.org/package/2006/relationships"><Relationship Id="rId13" Type="http://schemas.openxmlformats.org/officeDocument/2006/relationships/image" Target="../media/image428.svg"/><Relationship Id="rId18" Type="http://schemas.openxmlformats.org/officeDocument/2006/relationships/image" Target="../media/image179.jpg"/><Relationship Id="rId26" Type="http://schemas.openxmlformats.org/officeDocument/2006/relationships/image" Target="../media/image13.png"/><Relationship Id="rId21" Type="http://schemas.openxmlformats.org/officeDocument/2006/relationships/hyperlink" Target="https://www.flickr.com/photos/crossmediaweek/6797876362/" TargetMode="External"/><Relationship Id="rId34" Type="http://schemas.openxmlformats.org/officeDocument/2006/relationships/image" Target="../media/image49.png"/><Relationship Id="rId7" Type="http://schemas.openxmlformats.org/officeDocument/2006/relationships/image" Target="../media/image435.svg"/><Relationship Id="rId12" Type="http://schemas.openxmlformats.org/officeDocument/2006/relationships/image" Target="../media/image427.png"/><Relationship Id="rId17" Type="http://schemas.openxmlformats.org/officeDocument/2006/relationships/hyperlink" Target="https://geobrava.wordpress.com/tag/cyber-threat/" TargetMode="External"/><Relationship Id="rId25" Type="http://schemas.openxmlformats.org/officeDocument/2006/relationships/hyperlink" Target="https://becomeabetterinvestor.net/the-buffett-indicator-reveals-potential-opportunities-in-asia/" TargetMode="External"/><Relationship Id="rId33" Type="http://schemas.openxmlformats.org/officeDocument/2006/relationships/image" Target="../media/image56.svg"/><Relationship Id="rId2" Type="http://schemas.openxmlformats.org/officeDocument/2006/relationships/image" Target="../media/image651.png"/><Relationship Id="rId16" Type="http://schemas.openxmlformats.org/officeDocument/2006/relationships/image" Target="../media/image178.jpg"/><Relationship Id="rId20" Type="http://schemas.openxmlformats.org/officeDocument/2006/relationships/image" Target="../media/image180.jpg"/><Relationship Id="rId29" Type="http://schemas.openxmlformats.org/officeDocument/2006/relationships/image" Target="../media/image18.svg"/><Relationship Id="rId1" Type="http://schemas.openxmlformats.org/officeDocument/2006/relationships/slideLayout" Target="../slideLayouts/slideLayout2.xml"/><Relationship Id="rId6" Type="http://schemas.openxmlformats.org/officeDocument/2006/relationships/image" Target="../media/image434.png"/><Relationship Id="rId11" Type="http://schemas.openxmlformats.org/officeDocument/2006/relationships/image" Target="../media/image438.svg"/><Relationship Id="rId24" Type="http://schemas.openxmlformats.org/officeDocument/2006/relationships/image" Target="../media/image182.jpeg"/><Relationship Id="rId32" Type="http://schemas.openxmlformats.org/officeDocument/2006/relationships/image" Target="../media/image55.png"/><Relationship Id="rId37" Type="http://schemas.openxmlformats.org/officeDocument/2006/relationships/image" Target="../media/image48.svg"/><Relationship Id="rId5" Type="http://schemas.openxmlformats.org/officeDocument/2006/relationships/image" Target="../media/image433.svg"/><Relationship Id="rId15" Type="http://schemas.openxmlformats.org/officeDocument/2006/relationships/hyperlink" Target="https://commons.wikimedia.org/wiki/File:Amateur_Football_in_Kilkenny-Ireland.jpg" TargetMode="External"/><Relationship Id="rId23" Type="http://schemas.openxmlformats.org/officeDocument/2006/relationships/hyperlink" Target="https://www.e-ostadelahi.fr/eoe-fr/ne-pas-juger-c-est-gagner/" TargetMode="External"/><Relationship Id="rId28" Type="http://schemas.openxmlformats.org/officeDocument/2006/relationships/image" Target="../media/image17.png"/><Relationship Id="rId36" Type="http://schemas.openxmlformats.org/officeDocument/2006/relationships/image" Target="../media/image47.png"/><Relationship Id="rId10" Type="http://schemas.openxmlformats.org/officeDocument/2006/relationships/image" Target="../media/image437.png"/><Relationship Id="rId19" Type="http://schemas.openxmlformats.org/officeDocument/2006/relationships/hyperlink" Target="https://people-equation.com/research-that-supports-being-good-with-people/" TargetMode="External"/><Relationship Id="rId31" Type="http://schemas.openxmlformats.org/officeDocument/2006/relationships/image" Target="../media/image42.svg"/><Relationship Id="rId4" Type="http://schemas.openxmlformats.org/officeDocument/2006/relationships/image" Target="../media/image123.png"/><Relationship Id="rId9" Type="http://schemas.openxmlformats.org/officeDocument/2006/relationships/image" Target="../media/image436.svg"/><Relationship Id="rId14" Type="http://schemas.openxmlformats.org/officeDocument/2006/relationships/image" Target="../media/image177.jpg"/><Relationship Id="rId22" Type="http://schemas.openxmlformats.org/officeDocument/2006/relationships/image" Target="../media/image181.jpeg"/><Relationship Id="rId27" Type="http://schemas.openxmlformats.org/officeDocument/2006/relationships/image" Target="../media/image14.svg"/><Relationship Id="rId30" Type="http://schemas.openxmlformats.org/officeDocument/2006/relationships/image" Target="../media/image41.png"/><Relationship Id="rId35" Type="http://schemas.openxmlformats.org/officeDocument/2006/relationships/image" Target="../media/image50.svg"/><Relationship Id="rId8" Type="http://schemas.openxmlformats.org/officeDocument/2006/relationships/image" Target="../media/image209.png"/><Relationship Id="rId3" Type="http://schemas.openxmlformats.org/officeDocument/2006/relationships/image" Target="../media/image652.svg"/></Relationships>
</file>

<file path=ppt/slides/_rels/slide248.xml.rels><?xml version="1.0" encoding="UTF-8" standalone="yes"?>
<Relationships xmlns="http://schemas.openxmlformats.org/package/2006/relationships"><Relationship Id="rId117" Type="http://schemas.openxmlformats.org/officeDocument/2006/relationships/image" Target="../media/image289.svg"/><Relationship Id="rId21" Type="http://schemas.openxmlformats.org/officeDocument/2006/relationships/image" Target="../media/image196.svg"/><Relationship Id="rId42" Type="http://schemas.openxmlformats.org/officeDocument/2006/relationships/image" Target="../media/image217.png"/><Relationship Id="rId63" Type="http://schemas.openxmlformats.org/officeDocument/2006/relationships/image" Target="../media/image238.svg"/><Relationship Id="rId84" Type="http://schemas.openxmlformats.org/officeDocument/2006/relationships/image" Target="../media/image258.png"/><Relationship Id="rId138" Type="http://schemas.openxmlformats.org/officeDocument/2006/relationships/image" Target="../media/image47.png"/><Relationship Id="rId107" Type="http://schemas.openxmlformats.org/officeDocument/2006/relationships/image" Target="../media/image279.svg"/><Relationship Id="rId11" Type="http://schemas.openxmlformats.org/officeDocument/2006/relationships/image" Target="../media/image314.jpg"/><Relationship Id="rId32" Type="http://schemas.openxmlformats.org/officeDocument/2006/relationships/image" Target="../media/image207.png"/><Relationship Id="rId53" Type="http://schemas.openxmlformats.org/officeDocument/2006/relationships/image" Target="../media/image228.svg"/><Relationship Id="rId74" Type="http://schemas.openxmlformats.org/officeDocument/2006/relationships/image" Target="../media/image248.png"/><Relationship Id="rId128" Type="http://schemas.openxmlformats.org/officeDocument/2006/relationships/image" Target="../media/image299.png"/><Relationship Id="rId149" Type="http://schemas.openxmlformats.org/officeDocument/2006/relationships/image" Target="../media/image401.png"/><Relationship Id="rId5" Type="http://schemas.openxmlformats.org/officeDocument/2006/relationships/image" Target="../media/image41.png"/><Relationship Id="rId95" Type="http://schemas.openxmlformats.org/officeDocument/2006/relationships/image" Target="../media/image269.svg"/><Relationship Id="rId22" Type="http://schemas.openxmlformats.org/officeDocument/2006/relationships/image" Target="../media/image197.png"/><Relationship Id="rId27" Type="http://schemas.openxmlformats.org/officeDocument/2006/relationships/image" Target="../media/image202.svg"/><Relationship Id="rId43" Type="http://schemas.openxmlformats.org/officeDocument/2006/relationships/image" Target="../media/image218.svg"/><Relationship Id="rId48" Type="http://schemas.openxmlformats.org/officeDocument/2006/relationships/image" Target="../media/image223.png"/><Relationship Id="rId64" Type="http://schemas.openxmlformats.org/officeDocument/2006/relationships/image" Target="../media/image239.png"/><Relationship Id="rId69" Type="http://schemas.openxmlformats.org/officeDocument/2006/relationships/image" Target="../media/image244.svg"/><Relationship Id="rId113" Type="http://schemas.openxmlformats.org/officeDocument/2006/relationships/image" Target="../media/image285.svg"/><Relationship Id="rId118" Type="http://schemas.openxmlformats.org/officeDocument/2006/relationships/image" Target="../media/image290.png"/><Relationship Id="rId134" Type="http://schemas.openxmlformats.org/officeDocument/2006/relationships/image" Target="../media/image173.png"/><Relationship Id="rId139" Type="http://schemas.openxmlformats.org/officeDocument/2006/relationships/image" Target="../media/image48.svg"/><Relationship Id="rId80" Type="http://schemas.openxmlformats.org/officeDocument/2006/relationships/image" Target="../media/image254.png"/><Relationship Id="rId85" Type="http://schemas.openxmlformats.org/officeDocument/2006/relationships/image" Target="../media/image259.svg"/><Relationship Id="rId150" Type="http://schemas.openxmlformats.org/officeDocument/2006/relationships/image" Target="../media/image402.svg"/><Relationship Id="rId12" Type="http://schemas.openxmlformats.org/officeDocument/2006/relationships/image" Target="../media/image315.jpg"/><Relationship Id="rId17" Type="http://schemas.openxmlformats.org/officeDocument/2006/relationships/image" Target="../media/image192.svg"/><Relationship Id="rId33" Type="http://schemas.openxmlformats.org/officeDocument/2006/relationships/image" Target="../media/image208.svg"/><Relationship Id="rId38" Type="http://schemas.openxmlformats.org/officeDocument/2006/relationships/image" Target="../media/image213.png"/><Relationship Id="rId59" Type="http://schemas.openxmlformats.org/officeDocument/2006/relationships/image" Target="../media/image234.svg"/><Relationship Id="rId103" Type="http://schemas.openxmlformats.org/officeDocument/2006/relationships/image" Target="../media/image277.svg"/><Relationship Id="rId108" Type="http://schemas.openxmlformats.org/officeDocument/2006/relationships/image" Target="../media/image280.png"/><Relationship Id="rId124" Type="http://schemas.openxmlformats.org/officeDocument/2006/relationships/image" Target="../media/image295.png"/><Relationship Id="rId129" Type="http://schemas.openxmlformats.org/officeDocument/2006/relationships/image" Target="../media/image300.svg"/><Relationship Id="rId54" Type="http://schemas.openxmlformats.org/officeDocument/2006/relationships/image" Target="../media/image229.png"/><Relationship Id="rId70" Type="http://schemas.openxmlformats.org/officeDocument/2006/relationships/image" Target="../media/image245.png"/><Relationship Id="rId75" Type="http://schemas.openxmlformats.org/officeDocument/2006/relationships/image" Target="../media/image249.svg"/><Relationship Id="rId91" Type="http://schemas.openxmlformats.org/officeDocument/2006/relationships/image" Target="../media/image265.svg"/><Relationship Id="rId96" Type="http://schemas.openxmlformats.org/officeDocument/2006/relationships/image" Target="../media/image270.png"/><Relationship Id="rId140" Type="http://schemas.openxmlformats.org/officeDocument/2006/relationships/image" Target="../media/image52.svg"/><Relationship Id="rId145" Type="http://schemas.openxmlformats.org/officeDocument/2006/relationships/image" Target="../media/image397.png"/><Relationship Id="rId1" Type="http://schemas.openxmlformats.org/officeDocument/2006/relationships/slideLayout" Target="../slideLayouts/slideLayout2.xml"/><Relationship Id="rId6" Type="http://schemas.openxmlformats.org/officeDocument/2006/relationships/image" Target="../media/image42.svg"/><Relationship Id="rId23" Type="http://schemas.openxmlformats.org/officeDocument/2006/relationships/image" Target="../media/image198.svg"/><Relationship Id="rId28" Type="http://schemas.openxmlformats.org/officeDocument/2006/relationships/image" Target="../media/image203.png"/><Relationship Id="rId49" Type="http://schemas.openxmlformats.org/officeDocument/2006/relationships/image" Target="../media/image224.svg"/><Relationship Id="rId114" Type="http://schemas.openxmlformats.org/officeDocument/2006/relationships/image" Target="../media/image286.png"/><Relationship Id="rId119" Type="http://schemas.openxmlformats.org/officeDocument/2006/relationships/image" Target="../media/image291.svg"/><Relationship Id="rId44" Type="http://schemas.openxmlformats.org/officeDocument/2006/relationships/image" Target="../media/image219.png"/><Relationship Id="rId60" Type="http://schemas.openxmlformats.org/officeDocument/2006/relationships/image" Target="../media/image235.png"/><Relationship Id="rId65" Type="http://schemas.openxmlformats.org/officeDocument/2006/relationships/image" Target="../media/image240.svg"/><Relationship Id="rId81" Type="http://schemas.openxmlformats.org/officeDocument/2006/relationships/image" Target="../media/image255.svg"/><Relationship Id="rId86" Type="http://schemas.openxmlformats.org/officeDocument/2006/relationships/image" Target="../media/image260.png"/><Relationship Id="rId130" Type="http://schemas.openxmlformats.org/officeDocument/2006/relationships/image" Target="../media/image171.png"/><Relationship Id="rId135" Type="http://schemas.openxmlformats.org/officeDocument/2006/relationships/image" Target="../media/image174.svg"/><Relationship Id="rId151" Type="http://schemas.openxmlformats.org/officeDocument/2006/relationships/image" Target="../media/image403.svg"/><Relationship Id="rId13" Type="http://schemas.openxmlformats.org/officeDocument/2006/relationships/image" Target="../media/image316.jpg"/><Relationship Id="rId18" Type="http://schemas.openxmlformats.org/officeDocument/2006/relationships/image" Target="../media/image193.png"/><Relationship Id="rId39" Type="http://schemas.openxmlformats.org/officeDocument/2006/relationships/image" Target="../media/image214.svg"/><Relationship Id="rId109" Type="http://schemas.openxmlformats.org/officeDocument/2006/relationships/image" Target="../media/image281.svg"/><Relationship Id="rId34" Type="http://schemas.openxmlformats.org/officeDocument/2006/relationships/image" Target="../media/image209.png"/><Relationship Id="rId50" Type="http://schemas.openxmlformats.org/officeDocument/2006/relationships/image" Target="../media/image225.png"/><Relationship Id="rId55" Type="http://schemas.openxmlformats.org/officeDocument/2006/relationships/image" Target="../media/image230.svg"/><Relationship Id="rId76" Type="http://schemas.openxmlformats.org/officeDocument/2006/relationships/image" Target="../media/image250.png"/><Relationship Id="rId97" Type="http://schemas.openxmlformats.org/officeDocument/2006/relationships/image" Target="../media/image271.svg"/><Relationship Id="rId104" Type="http://schemas.openxmlformats.org/officeDocument/2006/relationships/image" Target="../media/image45.png"/><Relationship Id="rId120" Type="http://schemas.openxmlformats.org/officeDocument/2006/relationships/image" Target="../media/image153.png"/><Relationship Id="rId125" Type="http://schemas.openxmlformats.org/officeDocument/2006/relationships/image" Target="../media/image296.svg"/><Relationship Id="rId141" Type="http://schemas.openxmlformats.org/officeDocument/2006/relationships/image" Target="../media/image55.png"/><Relationship Id="rId146" Type="http://schemas.openxmlformats.org/officeDocument/2006/relationships/image" Target="../media/image398.svg"/><Relationship Id="rId7" Type="http://schemas.openxmlformats.org/officeDocument/2006/relationships/image" Target="../media/image310.jpg"/><Relationship Id="rId71" Type="http://schemas.openxmlformats.org/officeDocument/2006/relationships/image" Target="../media/image246.svg"/><Relationship Id="rId92" Type="http://schemas.openxmlformats.org/officeDocument/2006/relationships/image" Target="../media/image266.png"/><Relationship Id="rId2" Type="http://schemas.openxmlformats.org/officeDocument/2006/relationships/notesSlide" Target="../notesSlides/notesSlide5.xml"/><Relationship Id="rId29" Type="http://schemas.openxmlformats.org/officeDocument/2006/relationships/image" Target="../media/image204.svg"/><Relationship Id="rId24" Type="http://schemas.openxmlformats.org/officeDocument/2006/relationships/image" Target="../media/image199.png"/><Relationship Id="rId40" Type="http://schemas.openxmlformats.org/officeDocument/2006/relationships/image" Target="../media/image215.png"/><Relationship Id="rId45" Type="http://schemas.openxmlformats.org/officeDocument/2006/relationships/image" Target="../media/image220.svg"/><Relationship Id="rId66" Type="http://schemas.openxmlformats.org/officeDocument/2006/relationships/image" Target="../media/image241.png"/><Relationship Id="rId87" Type="http://schemas.openxmlformats.org/officeDocument/2006/relationships/image" Target="../media/image261.svg"/><Relationship Id="rId110" Type="http://schemas.openxmlformats.org/officeDocument/2006/relationships/image" Target="../media/image282.png"/><Relationship Id="rId115" Type="http://schemas.openxmlformats.org/officeDocument/2006/relationships/image" Target="../media/image287.svg"/><Relationship Id="rId131" Type="http://schemas.openxmlformats.org/officeDocument/2006/relationships/image" Target="../media/image172.svg"/><Relationship Id="rId136" Type="http://schemas.openxmlformats.org/officeDocument/2006/relationships/image" Target="../media/image13.png"/><Relationship Id="rId61" Type="http://schemas.openxmlformats.org/officeDocument/2006/relationships/image" Target="../media/image236.svg"/><Relationship Id="rId82" Type="http://schemas.openxmlformats.org/officeDocument/2006/relationships/image" Target="../media/image256.png"/><Relationship Id="rId19" Type="http://schemas.openxmlformats.org/officeDocument/2006/relationships/image" Target="../media/image194.svg"/><Relationship Id="rId14" Type="http://schemas.openxmlformats.org/officeDocument/2006/relationships/image" Target="../media/image317.jpg"/><Relationship Id="rId30" Type="http://schemas.openxmlformats.org/officeDocument/2006/relationships/image" Target="../media/image205.png"/><Relationship Id="rId35" Type="http://schemas.openxmlformats.org/officeDocument/2006/relationships/image" Target="../media/image210.svg"/><Relationship Id="rId56" Type="http://schemas.openxmlformats.org/officeDocument/2006/relationships/image" Target="../media/image231.png"/><Relationship Id="rId77" Type="http://schemas.openxmlformats.org/officeDocument/2006/relationships/image" Target="../media/image251.svg"/><Relationship Id="rId100" Type="http://schemas.openxmlformats.org/officeDocument/2006/relationships/image" Target="../media/image274.png"/><Relationship Id="rId105" Type="http://schemas.openxmlformats.org/officeDocument/2006/relationships/image" Target="../media/image46.svg"/><Relationship Id="rId126" Type="http://schemas.openxmlformats.org/officeDocument/2006/relationships/image" Target="../media/image297.png"/><Relationship Id="rId147" Type="http://schemas.openxmlformats.org/officeDocument/2006/relationships/image" Target="../media/image399.png"/><Relationship Id="rId8" Type="http://schemas.openxmlformats.org/officeDocument/2006/relationships/image" Target="../media/image311.jpg"/><Relationship Id="rId51" Type="http://schemas.openxmlformats.org/officeDocument/2006/relationships/image" Target="../media/image226.svg"/><Relationship Id="rId72" Type="http://schemas.openxmlformats.org/officeDocument/2006/relationships/image" Target="../media/image51.png"/><Relationship Id="rId93" Type="http://schemas.openxmlformats.org/officeDocument/2006/relationships/image" Target="../media/image267.svg"/><Relationship Id="rId98" Type="http://schemas.openxmlformats.org/officeDocument/2006/relationships/image" Target="../media/image272.png"/><Relationship Id="rId121" Type="http://schemas.openxmlformats.org/officeDocument/2006/relationships/image" Target="../media/image292.svg"/><Relationship Id="rId142" Type="http://schemas.openxmlformats.org/officeDocument/2006/relationships/image" Target="../media/image56.svg"/><Relationship Id="rId3" Type="http://schemas.openxmlformats.org/officeDocument/2006/relationships/image" Target="../media/image17.png"/><Relationship Id="rId25" Type="http://schemas.openxmlformats.org/officeDocument/2006/relationships/image" Target="../media/image200.svg"/><Relationship Id="rId46" Type="http://schemas.openxmlformats.org/officeDocument/2006/relationships/image" Target="../media/image221.png"/><Relationship Id="rId67" Type="http://schemas.openxmlformats.org/officeDocument/2006/relationships/image" Target="../media/image242.svg"/><Relationship Id="rId116" Type="http://schemas.openxmlformats.org/officeDocument/2006/relationships/image" Target="../media/image288.png"/><Relationship Id="rId137" Type="http://schemas.openxmlformats.org/officeDocument/2006/relationships/image" Target="../media/image14.svg"/><Relationship Id="rId20" Type="http://schemas.openxmlformats.org/officeDocument/2006/relationships/image" Target="../media/image195.png"/><Relationship Id="rId41" Type="http://schemas.openxmlformats.org/officeDocument/2006/relationships/image" Target="../media/image216.svg"/><Relationship Id="rId62" Type="http://schemas.openxmlformats.org/officeDocument/2006/relationships/image" Target="../media/image237.png"/><Relationship Id="rId83" Type="http://schemas.openxmlformats.org/officeDocument/2006/relationships/image" Target="../media/image257.svg"/><Relationship Id="rId88" Type="http://schemas.openxmlformats.org/officeDocument/2006/relationships/image" Target="../media/image262.png"/><Relationship Id="rId111" Type="http://schemas.openxmlformats.org/officeDocument/2006/relationships/image" Target="../media/image283.svg"/><Relationship Id="rId132" Type="http://schemas.openxmlformats.org/officeDocument/2006/relationships/image" Target="../media/image175.png"/><Relationship Id="rId15" Type="http://schemas.openxmlformats.org/officeDocument/2006/relationships/image" Target="../media/image318.jpg"/><Relationship Id="rId36" Type="http://schemas.openxmlformats.org/officeDocument/2006/relationships/image" Target="../media/image211.png"/><Relationship Id="rId57" Type="http://schemas.openxmlformats.org/officeDocument/2006/relationships/image" Target="../media/image232.svg"/><Relationship Id="rId106" Type="http://schemas.openxmlformats.org/officeDocument/2006/relationships/image" Target="../media/image278.png"/><Relationship Id="rId127" Type="http://schemas.openxmlformats.org/officeDocument/2006/relationships/image" Target="../media/image298.svg"/><Relationship Id="rId10" Type="http://schemas.openxmlformats.org/officeDocument/2006/relationships/image" Target="../media/image313.jpg"/><Relationship Id="rId31" Type="http://schemas.openxmlformats.org/officeDocument/2006/relationships/image" Target="../media/image206.svg"/><Relationship Id="rId52" Type="http://schemas.openxmlformats.org/officeDocument/2006/relationships/image" Target="../media/image227.png"/><Relationship Id="rId73" Type="http://schemas.openxmlformats.org/officeDocument/2006/relationships/image" Target="../media/image247.svg"/><Relationship Id="rId78" Type="http://schemas.openxmlformats.org/officeDocument/2006/relationships/image" Target="../media/image252.png"/><Relationship Id="rId94" Type="http://schemas.openxmlformats.org/officeDocument/2006/relationships/image" Target="../media/image268.png"/><Relationship Id="rId99" Type="http://schemas.openxmlformats.org/officeDocument/2006/relationships/image" Target="../media/image273.svg"/><Relationship Id="rId101" Type="http://schemas.openxmlformats.org/officeDocument/2006/relationships/image" Target="../media/image275.svg"/><Relationship Id="rId122" Type="http://schemas.openxmlformats.org/officeDocument/2006/relationships/image" Target="../media/image293.png"/><Relationship Id="rId143" Type="http://schemas.openxmlformats.org/officeDocument/2006/relationships/image" Target="../media/image63.png"/><Relationship Id="rId148" Type="http://schemas.openxmlformats.org/officeDocument/2006/relationships/image" Target="../media/image400.svg"/><Relationship Id="rId4" Type="http://schemas.openxmlformats.org/officeDocument/2006/relationships/image" Target="../media/image18.svg"/><Relationship Id="rId9" Type="http://schemas.openxmlformats.org/officeDocument/2006/relationships/image" Target="../media/image312.jpg"/><Relationship Id="rId26" Type="http://schemas.openxmlformats.org/officeDocument/2006/relationships/image" Target="../media/image201.png"/><Relationship Id="rId47" Type="http://schemas.openxmlformats.org/officeDocument/2006/relationships/image" Target="../media/image222.svg"/><Relationship Id="rId68" Type="http://schemas.openxmlformats.org/officeDocument/2006/relationships/image" Target="../media/image243.png"/><Relationship Id="rId89" Type="http://schemas.openxmlformats.org/officeDocument/2006/relationships/image" Target="../media/image263.svg"/><Relationship Id="rId112" Type="http://schemas.openxmlformats.org/officeDocument/2006/relationships/image" Target="../media/image284.png"/><Relationship Id="rId133" Type="http://schemas.openxmlformats.org/officeDocument/2006/relationships/image" Target="../media/image176.svg"/><Relationship Id="rId16" Type="http://schemas.openxmlformats.org/officeDocument/2006/relationships/image" Target="../media/image191.png"/><Relationship Id="rId37" Type="http://schemas.openxmlformats.org/officeDocument/2006/relationships/image" Target="../media/image212.svg"/><Relationship Id="rId58" Type="http://schemas.openxmlformats.org/officeDocument/2006/relationships/image" Target="../media/image233.png"/><Relationship Id="rId79" Type="http://schemas.openxmlformats.org/officeDocument/2006/relationships/image" Target="../media/image253.svg"/><Relationship Id="rId102" Type="http://schemas.openxmlformats.org/officeDocument/2006/relationships/image" Target="../media/image276.png"/><Relationship Id="rId123" Type="http://schemas.openxmlformats.org/officeDocument/2006/relationships/image" Target="../media/image294.svg"/><Relationship Id="rId144" Type="http://schemas.openxmlformats.org/officeDocument/2006/relationships/image" Target="../media/image64.svg"/><Relationship Id="rId90" Type="http://schemas.openxmlformats.org/officeDocument/2006/relationships/image" Target="../media/image264.png"/></Relationships>
</file>

<file path=ppt/slides/_rels/slide249.xml.rels><?xml version="1.0" encoding="UTF-8" standalone="yes"?>
<Relationships xmlns="http://schemas.openxmlformats.org/package/2006/relationships"><Relationship Id="rId13" Type="http://schemas.openxmlformats.org/officeDocument/2006/relationships/image" Target="../media/image410.png"/><Relationship Id="rId18" Type="http://schemas.openxmlformats.org/officeDocument/2006/relationships/image" Target="../media/image415.svg"/><Relationship Id="rId26" Type="http://schemas.openxmlformats.org/officeDocument/2006/relationships/image" Target="../media/image347.svg"/><Relationship Id="rId39" Type="http://schemas.openxmlformats.org/officeDocument/2006/relationships/image" Target="../media/image358.png"/><Relationship Id="rId21" Type="http://schemas.openxmlformats.org/officeDocument/2006/relationships/image" Target="../media/image15.png"/><Relationship Id="rId34" Type="http://schemas.openxmlformats.org/officeDocument/2006/relationships/image" Target="../media/image365.svg"/><Relationship Id="rId42" Type="http://schemas.openxmlformats.org/officeDocument/2006/relationships/image" Target="../media/image357.svg"/><Relationship Id="rId47" Type="http://schemas.openxmlformats.org/officeDocument/2006/relationships/image" Target="../media/image49.png"/><Relationship Id="rId50" Type="http://schemas.openxmlformats.org/officeDocument/2006/relationships/image" Target="../media/image52.svg"/><Relationship Id="rId7" Type="http://schemas.openxmlformats.org/officeDocument/2006/relationships/image" Target="../media/image461.png"/><Relationship Id="rId2" Type="http://schemas.openxmlformats.org/officeDocument/2006/relationships/notesSlide" Target="../notesSlides/notesSlide6.xml"/><Relationship Id="rId16" Type="http://schemas.openxmlformats.org/officeDocument/2006/relationships/image" Target="../media/image413.svg"/><Relationship Id="rId29" Type="http://schemas.openxmlformats.org/officeDocument/2006/relationships/image" Target="../media/image360.png"/><Relationship Id="rId11" Type="http://schemas.openxmlformats.org/officeDocument/2006/relationships/image" Target="../media/image13.png"/><Relationship Id="rId24" Type="http://schemas.openxmlformats.org/officeDocument/2006/relationships/image" Target="../media/image64.svg"/><Relationship Id="rId32" Type="http://schemas.openxmlformats.org/officeDocument/2006/relationships/image" Target="../media/image363.svg"/><Relationship Id="rId37" Type="http://schemas.openxmlformats.org/officeDocument/2006/relationships/image" Target="../media/image366.png"/><Relationship Id="rId40" Type="http://schemas.openxmlformats.org/officeDocument/2006/relationships/image" Target="../media/image359.svg"/><Relationship Id="rId45" Type="http://schemas.openxmlformats.org/officeDocument/2006/relationships/image" Target="../media/image55.png"/><Relationship Id="rId53" Type="http://schemas.openxmlformats.org/officeDocument/2006/relationships/image" Target="../media/image47.png"/><Relationship Id="rId5" Type="http://schemas.openxmlformats.org/officeDocument/2006/relationships/image" Target="../media/image41.png"/><Relationship Id="rId10" Type="http://schemas.openxmlformats.org/officeDocument/2006/relationships/image" Target="../media/image20.svg"/><Relationship Id="rId19" Type="http://schemas.openxmlformats.org/officeDocument/2006/relationships/image" Target="../media/image416.png"/><Relationship Id="rId31" Type="http://schemas.openxmlformats.org/officeDocument/2006/relationships/image" Target="../media/image362.png"/><Relationship Id="rId44" Type="http://schemas.openxmlformats.org/officeDocument/2006/relationships/image" Target="../media/image369.svg"/><Relationship Id="rId52" Type="http://schemas.openxmlformats.org/officeDocument/2006/relationships/image" Target="../media/image60.svg"/><Relationship Id="rId4" Type="http://schemas.openxmlformats.org/officeDocument/2006/relationships/image" Target="../media/image18.svg"/><Relationship Id="rId9" Type="http://schemas.openxmlformats.org/officeDocument/2006/relationships/image" Target="../media/image19.png"/><Relationship Id="rId14" Type="http://schemas.openxmlformats.org/officeDocument/2006/relationships/image" Target="../media/image411.svg"/><Relationship Id="rId22" Type="http://schemas.openxmlformats.org/officeDocument/2006/relationships/image" Target="../media/image16.svg"/><Relationship Id="rId27" Type="http://schemas.openxmlformats.org/officeDocument/2006/relationships/image" Target="../media/image350.png"/><Relationship Id="rId30" Type="http://schemas.openxmlformats.org/officeDocument/2006/relationships/image" Target="../media/image361.svg"/><Relationship Id="rId35" Type="http://schemas.openxmlformats.org/officeDocument/2006/relationships/image" Target="../media/image352.png"/><Relationship Id="rId43" Type="http://schemas.openxmlformats.org/officeDocument/2006/relationships/image" Target="../media/image368.png"/><Relationship Id="rId48" Type="http://schemas.openxmlformats.org/officeDocument/2006/relationships/image" Target="../media/image50.svg"/><Relationship Id="rId8" Type="http://schemas.openxmlformats.org/officeDocument/2006/relationships/image" Target="../media/image462.svg"/><Relationship Id="rId51" Type="http://schemas.openxmlformats.org/officeDocument/2006/relationships/image" Target="../media/image59.png"/><Relationship Id="rId3" Type="http://schemas.openxmlformats.org/officeDocument/2006/relationships/image" Target="../media/image17.png"/><Relationship Id="rId12" Type="http://schemas.openxmlformats.org/officeDocument/2006/relationships/image" Target="../media/image14.svg"/><Relationship Id="rId17" Type="http://schemas.openxmlformats.org/officeDocument/2006/relationships/image" Target="../media/image414.png"/><Relationship Id="rId25" Type="http://schemas.openxmlformats.org/officeDocument/2006/relationships/image" Target="../media/image346.png"/><Relationship Id="rId33" Type="http://schemas.openxmlformats.org/officeDocument/2006/relationships/image" Target="../media/image364.png"/><Relationship Id="rId38" Type="http://schemas.openxmlformats.org/officeDocument/2006/relationships/image" Target="../media/image367.svg"/><Relationship Id="rId46" Type="http://schemas.openxmlformats.org/officeDocument/2006/relationships/image" Target="../media/image56.svg"/><Relationship Id="rId20" Type="http://schemas.openxmlformats.org/officeDocument/2006/relationships/image" Target="../media/image417.svg"/><Relationship Id="rId41" Type="http://schemas.openxmlformats.org/officeDocument/2006/relationships/image" Target="../media/image356.png"/><Relationship Id="rId54" Type="http://schemas.openxmlformats.org/officeDocument/2006/relationships/image" Target="../media/image48.svg"/><Relationship Id="rId1" Type="http://schemas.openxmlformats.org/officeDocument/2006/relationships/slideLayout" Target="../slideLayouts/slideLayout2.xml"/><Relationship Id="rId6" Type="http://schemas.openxmlformats.org/officeDocument/2006/relationships/image" Target="../media/image42.svg"/><Relationship Id="rId15" Type="http://schemas.openxmlformats.org/officeDocument/2006/relationships/image" Target="../media/image412.png"/><Relationship Id="rId23" Type="http://schemas.openxmlformats.org/officeDocument/2006/relationships/image" Target="../media/image63.png"/><Relationship Id="rId28" Type="http://schemas.openxmlformats.org/officeDocument/2006/relationships/image" Target="../media/image351.svg"/><Relationship Id="rId36" Type="http://schemas.openxmlformats.org/officeDocument/2006/relationships/image" Target="../media/image353.svg"/><Relationship Id="rId49" Type="http://schemas.openxmlformats.org/officeDocument/2006/relationships/image" Target="../media/image51.png"/></Relationships>
</file>

<file path=ppt/slides/_rels/slide250.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Layout" Target="../slideLayouts/slideLayout2.xml"/><Relationship Id="rId5" Type="http://schemas.openxmlformats.org/officeDocument/2006/relationships/image" Target="../media/image702.svg"/><Relationship Id="rId4" Type="http://schemas.openxmlformats.org/officeDocument/2006/relationships/image" Target="../media/image113.png"/></Relationships>
</file>

<file path=ppt/slides/_rels/slide251.xml.rels><?xml version="1.0" encoding="UTF-8" standalone="yes"?>
<Relationships xmlns="http://schemas.openxmlformats.org/package/2006/relationships"><Relationship Id="rId3" Type="http://schemas.openxmlformats.org/officeDocument/2006/relationships/image" Target="../media/image710.svg"/><Relationship Id="rId2" Type="http://schemas.openxmlformats.org/officeDocument/2006/relationships/image" Target="../media/image709.png"/><Relationship Id="rId1" Type="http://schemas.openxmlformats.org/officeDocument/2006/relationships/slideLayout" Target="../slideLayouts/slideLayout2.xml"/><Relationship Id="rId5" Type="http://schemas.openxmlformats.org/officeDocument/2006/relationships/image" Target="../media/image702.svg"/><Relationship Id="rId4" Type="http://schemas.openxmlformats.org/officeDocument/2006/relationships/image" Target="../media/image113.png"/></Relationships>
</file>

<file path=ppt/slides/_rels/slide252.xml.rels><?xml version="1.0" encoding="UTF-8" standalone="yes"?>
<Relationships xmlns="http://schemas.openxmlformats.org/package/2006/relationships"><Relationship Id="rId13" Type="http://schemas.openxmlformats.org/officeDocument/2006/relationships/image" Target="../media/image75.png"/><Relationship Id="rId18" Type="http://schemas.openxmlformats.org/officeDocument/2006/relationships/image" Target="../media/image743.svg"/><Relationship Id="rId26" Type="http://schemas.openxmlformats.org/officeDocument/2006/relationships/hyperlink" Target="https://commons.wikimedia.org/wiki/File:Coffee_cup_flat.svg" TargetMode="External"/><Relationship Id="rId39" Type="http://schemas.openxmlformats.org/officeDocument/2006/relationships/image" Target="../media/image195.png"/><Relationship Id="rId21" Type="http://schemas.openxmlformats.org/officeDocument/2006/relationships/image" Target="../media/image123.png"/><Relationship Id="rId34" Type="http://schemas.openxmlformats.org/officeDocument/2006/relationships/image" Target="../media/image752.svg"/><Relationship Id="rId42" Type="http://schemas.openxmlformats.org/officeDocument/2006/relationships/image" Target="../media/image756.svg"/><Relationship Id="rId47" Type="http://schemas.openxmlformats.org/officeDocument/2006/relationships/image" Target="../media/image47.png"/><Relationship Id="rId50" Type="http://schemas.openxmlformats.org/officeDocument/2006/relationships/image" Target="../media/image52.svg"/><Relationship Id="rId7" Type="http://schemas.openxmlformats.org/officeDocument/2006/relationships/image" Target="../media/image69.png"/><Relationship Id="rId2" Type="http://schemas.openxmlformats.org/officeDocument/2006/relationships/notesSlide" Target="../notesSlides/notesSlide7.xml"/><Relationship Id="rId16" Type="http://schemas.openxmlformats.org/officeDocument/2006/relationships/image" Target="../media/image411.svg"/><Relationship Id="rId29" Type="http://schemas.openxmlformats.org/officeDocument/2006/relationships/image" Target="../media/image749.png"/><Relationship Id="rId11" Type="http://schemas.openxmlformats.org/officeDocument/2006/relationships/image" Target="../media/image73.png"/><Relationship Id="rId24" Type="http://schemas.openxmlformats.org/officeDocument/2006/relationships/image" Target="../media/image745.svg"/><Relationship Id="rId32" Type="http://schemas.openxmlformats.org/officeDocument/2006/relationships/image" Target="../media/image702.svg"/><Relationship Id="rId37" Type="http://schemas.openxmlformats.org/officeDocument/2006/relationships/image" Target="../media/image272.png"/><Relationship Id="rId40" Type="http://schemas.openxmlformats.org/officeDocument/2006/relationships/image" Target="../media/image196.svg"/><Relationship Id="rId45" Type="http://schemas.openxmlformats.org/officeDocument/2006/relationships/image" Target="../media/image45.png"/><Relationship Id="rId5" Type="http://schemas.openxmlformats.org/officeDocument/2006/relationships/image" Target="../media/image43.png"/><Relationship Id="rId15" Type="http://schemas.openxmlformats.org/officeDocument/2006/relationships/image" Target="../media/image410.png"/><Relationship Id="rId23" Type="http://schemas.openxmlformats.org/officeDocument/2006/relationships/image" Target="../media/image744.png"/><Relationship Id="rId28" Type="http://schemas.openxmlformats.org/officeDocument/2006/relationships/image" Target="../media/image748.svg"/><Relationship Id="rId36" Type="http://schemas.openxmlformats.org/officeDocument/2006/relationships/image" Target="../media/image754.svg"/><Relationship Id="rId49" Type="http://schemas.openxmlformats.org/officeDocument/2006/relationships/image" Target="../media/image51.png"/><Relationship Id="rId10" Type="http://schemas.openxmlformats.org/officeDocument/2006/relationships/image" Target="../media/image72.svg"/><Relationship Id="rId19" Type="http://schemas.openxmlformats.org/officeDocument/2006/relationships/image" Target="../media/image209.png"/><Relationship Id="rId31" Type="http://schemas.openxmlformats.org/officeDocument/2006/relationships/image" Target="../media/image113.png"/><Relationship Id="rId44" Type="http://schemas.openxmlformats.org/officeDocument/2006/relationships/image" Target="../media/image758.svg"/><Relationship Id="rId52" Type="http://schemas.openxmlformats.org/officeDocument/2006/relationships/image" Target="../media/image56.svg"/><Relationship Id="rId4" Type="http://schemas.openxmlformats.org/officeDocument/2006/relationships/image" Target="../media/image18.svg"/><Relationship Id="rId9" Type="http://schemas.openxmlformats.org/officeDocument/2006/relationships/image" Target="../media/image71.png"/><Relationship Id="rId14" Type="http://schemas.openxmlformats.org/officeDocument/2006/relationships/image" Target="../media/image76.svg"/><Relationship Id="rId22" Type="http://schemas.openxmlformats.org/officeDocument/2006/relationships/image" Target="../media/image124.svg"/><Relationship Id="rId27" Type="http://schemas.openxmlformats.org/officeDocument/2006/relationships/image" Target="../media/image747.png"/><Relationship Id="rId30" Type="http://schemas.openxmlformats.org/officeDocument/2006/relationships/image" Target="../media/image750.svg"/><Relationship Id="rId35" Type="http://schemas.openxmlformats.org/officeDocument/2006/relationships/image" Target="../media/image753.png"/><Relationship Id="rId43" Type="http://schemas.openxmlformats.org/officeDocument/2006/relationships/image" Target="../media/image757.png"/><Relationship Id="rId48" Type="http://schemas.openxmlformats.org/officeDocument/2006/relationships/image" Target="../media/image48.svg"/><Relationship Id="rId8" Type="http://schemas.openxmlformats.org/officeDocument/2006/relationships/image" Target="../media/image70.svg"/><Relationship Id="rId51" Type="http://schemas.openxmlformats.org/officeDocument/2006/relationships/image" Target="../media/image55.png"/><Relationship Id="rId3" Type="http://schemas.openxmlformats.org/officeDocument/2006/relationships/image" Target="../media/image17.png"/><Relationship Id="rId12" Type="http://schemas.openxmlformats.org/officeDocument/2006/relationships/image" Target="../media/image74.svg"/><Relationship Id="rId17" Type="http://schemas.openxmlformats.org/officeDocument/2006/relationships/image" Target="../media/image742.png"/><Relationship Id="rId25" Type="http://schemas.openxmlformats.org/officeDocument/2006/relationships/image" Target="../media/image746.png"/><Relationship Id="rId33" Type="http://schemas.openxmlformats.org/officeDocument/2006/relationships/image" Target="../media/image751.png"/><Relationship Id="rId38" Type="http://schemas.openxmlformats.org/officeDocument/2006/relationships/image" Target="../media/image273.svg"/><Relationship Id="rId46" Type="http://schemas.openxmlformats.org/officeDocument/2006/relationships/image" Target="../media/image46.svg"/><Relationship Id="rId20" Type="http://schemas.openxmlformats.org/officeDocument/2006/relationships/image" Target="../media/image436.svg"/><Relationship Id="rId41" Type="http://schemas.openxmlformats.org/officeDocument/2006/relationships/image" Target="../media/image755.png"/><Relationship Id="rId1" Type="http://schemas.openxmlformats.org/officeDocument/2006/relationships/slideLayout" Target="../slideLayouts/slideLayout2.xml"/><Relationship Id="rId6" Type="http://schemas.openxmlformats.org/officeDocument/2006/relationships/image" Target="../media/image44.svg"/></Relationships>
</file>

<file path=ppt/slides/_rels/slide253.xml.rels><?xml version="1.0" encoding="UTF-8" standalone="yes"?>
<Relationships xmlns="http://schemas.openxmlformats.org/package/2006/relationships"><Relationship Id="rId13" Type="http://schemas.openxmlformats.org/officeDocument/2006/relationships/image" Target="../media/image443.png"/><Relationship Id="rId18" Type="http://schemas.openxmlformats.org/officeDocument/2006/relationships/image" Target="../media/image452.svg"/><Relationship Id="rId26" Type="http://schemas.openxmlformats.org/officeDocument/2006/relationships/image" Target="../media/image438.svg"/><Relationship Id="rId39" Type="http://schemas.openxmlformats.org/officeDocument/2006/relationships/image" Target="../media/image354.png"/><Relationship Id="rId21" Type="http://schemas.openxmlformats.org/officeDocument/2006/relationships/image" Target="../media/image123.png"/><Relationship Id="rId34" Type="http://schemas.openxmlformats.org/officeDocument/2006/relationships/image" Target="../media/image460.svg"/><Relationship Id="rId42" Type="http://schemas.openxmlformats.org/officeDocument/2006/relationships/image" Target="../media/image766.svg"/><Relationship Id="rId47" Type="http://schemas.openxmlformats.org/officeDocument/2006/relationships/image" Target="../media/image49.png"/><Relationship Id="rId50" Type="http://schemas.openxmlformats.org/officeDocument/2006/relationships/image" Target="../media/image52.svg"/><Relationship Id="rId7" Type="http://schemas.openxmlformats.org/officeDocument/2006/relationships/image" Target="../media/image41.png"/><Relationship Id="rId2" Type="http://schemas.openxmlformats.org/officeDocument/2006/relationships/notesSlide" Target="../notesSlides/notesSlide8.xml"/><Relationship Id="rId16" Type="http://schemas.openxmlformats.org/officeDocument/2006/relationships/image" Target="../media/image450.svg"/><Relationship Id="rId29" Type="http://schemas.openxmlformats.org/officeDocument/2006/relationships/image" Target="../media/image759.png"/><Relationship Id="rId11" Type="http://schemas.openxmlformats.org/officeDocument/2006/relationships/image" Target="../media/image441.png"/><Relationship Id="rId24" Type="http://schemas.openxmlformats.org/officeDocument/2006/relationships/image" Target="../media/image456.svg"/><Relationship Id="rId32" Type="http://schemas.openxmlformats.org/officeDocument/2006/relationships/image" Target="../media/image761.svg"/><Relationship Id="rId37" Type="http://schemas.openxmlformats.org/officeDocument/2006/relationships/image" Target="../media/image677.png"/><Relationship Id="rId40" Type="http://schemas.openxmlformats.org/officeDocument/2006/relationships/image" Target="../media/image355.svg"/><Relationship Id="rId45" Type="http://schemas.openxmlformats.org/officeDocument/2006/relationships/image" Target="../media/image47.png"/><Relationship Id="rId5" Type="http://schemas.openxmlformats.org/officeDocument/2006/relationships/image" Target="../media/image17.png"/><Relationship Id="rId15" Type="http://schemas.openxmlformats.org/officeDocument/2006/relationships/image" Target="../media/image449.png"/><Relationship Id="rId23" Type="http://schemas.openxmlformats.org/officeDocument/2006/relationships/image" Target="../media/image455.png"/><Relationship Id="rId28" Type="http://schemas.openxmlformats.org/officeDocument/2006/relationships/image" Target="../media/image367.svg"/><Relationship Id="rId36" Type="http://schemas.openxmlformats.org/officeDocument/2006/relationships/image" Target="../media/image763.svg"/><Relationship Id="rId49" Type="http://schemas.openxmlformats.org/officeDocument/2006/relationships/image" Target="../media/image51.png"/><Relationship Id="rId10" Type="http://schemas.openxmlformats.org/officeDocument/2006/relationships/image" Target="../media/image440.svg"/><Relationship Id="rId19" Type="http://schemas.openxmlformats.org/officeDocument/2006/relationships/image" Target="../media/image453.png"/><Relationship Id="rId31" Type="http://schemas.openxmlformats.org/officeDocument/2006/relationships/image" Target="../media/image374.png"/><Relationship Id="rId44" Type="http://schemas.openxmlformats.org/officeDocument/2006/relationships/image" Target="../media/image46.svg"/><Relationship Id="rId52" Type="http://schemas.openxmlformats.org/officeDocument/2006/relationships/image" Target="../media/image56.svg"/><Relationship Id="rId4" Type="http://schemas.openxmlformats.org/officeDocument/2006/relationships/image" Target="../media/image462.svg"/><Relationship Id="rId9" Type="http://schemas.openxmlformats.org/officeDocument/2006/relationships/image" Target="../media/image439.png"/><Relationship Id="rId14" Type="http://schemas.openxmlformats.org/officeDocument/2006/relationships/image" Target="../media/image444.svg"/><Relationship Id="rId22" Type="http://schemas.openxmlformats.org/officeDocument/2006/relationships/image" Target="../media/image433.svg"/><Relationship Id="rId27" Type="http://schemas.openxmlformats.org/officeDocument/2006/relationships/image" Target="../media/image366.png"/><Relationship Id="rId30" Type="http://schemas.openxmlformats.org/officeDocument/2006/relationships/image" Target="../media/image760.svg"/><Relationship Id="rId35" Type="http://schemas.openxmlformats.org/officeDocument/2006/relationships/image" Target="../media/image762.png"/><Relationship Id="rId43" Type="http://schemas.openxmlformats.org/officeDocument/2006/relationships/image" Target="../media/image45.png"/><Relationship Id="rId48" Type="http://schemas.openxmlformats.org/officeDocument/2006/relationships/image" Target="../media/image50.svg"/><Relationship Id="rId8" Type="http://schemas.openxmlformats.org/officeDocument/2006/relationships/image" Target="../media/image42.svg"/><Relationship Id="rId51" Type="http://schemas.openxmlformats.org/officeDocument/2006/relationships/image" Target="../media/image55.png"/><Relationship Id="rId3" Type="http://schemas.openxmlformats.org/officeDocument/2006/relationships/image" Target="../media/image461.png"/><Relationship Id="rId12" Type="http://schemas.openxmlformats.org/officeDocument/2006/relationships/image" Target="../media/image442.svg"/><Relationship Id="rId17" Type="http://schemas.openxmlformats.org/officeDocument/2006/relationships/image" Target="../media/image451.png"/><Relationship Id="rId25" Type="http://schemas.openxmlformats.org/officeDocument/2006/relationships/image" Target="../media/image437.png"/><Relationship Id="rId33" Type="http://schemas.openxmlformats.org/officeDocument/2006/relationships/image" Target="../media/image459.png"/><Relationship Id="rId38" Type="http://schemas.openxmlformats.org/officeDocument/2006/relationships/image" Target="../media/image764.svg"/><Relationship Id="rId46" Type="http://schemas.openxmlformats.org/officeDocument/2006/relationships/image" Target="../media/image48.svg"/><Relationship Id="rId20" Type="http://schemas.openxmlformats.org/officeDocument/2006/relationships/image" Target="../media/image454.svg"/><Relationship Id="rId41" Type="http://schemas.openxmlformats.org/officeDocument/2006/relationships/image" Target="../media/image765.png"/><Relationship Id="rId1" Type="http://schemas.openxmlformats.org/officeDocument/2006/relationships/slideLayout" Target="../slideLayouts/slideLayout2.xml"/><Relationship Id="rId6" Type="http://schemas.openxmlformats.org/officeDocument/2006/relationships/image" Target="../media/image18.svg"/></Relationships>
</file>

<file path=ppt/slides/_rels/slide254.xml.rels><?xml version="1.0" encoding="UTF-8" standalone="yes"?>
<Relationships xmlns="http://schemas.openxmlformats.org/package/2006/relationships"><Relationship Id="rId13" Type="http://schemas.openxmlformats.org/officeDocument/2006/relationships/image" Target="../media/image209.png"/><Relationship Id="rId18" Type="http://schemas.openxmlformats.org/officeDocument/2006/relationships/image" Target="../media/image772.svg"/><Relationship Id="rId26" Type="http://schemas.openxmlformats.org/officeDocument/2006/relationships/image" Target="../media/image778.svg"/><Relationship Id="rId39" Type="http://schemas.openxmlformats.org/officeDocument/2006/relationships/image" Target="../media/image49.png"/><Relationship Id="rId21" Type="http://schemas.openxmlformats.org/officeDocument/2006/relationships/image" Target="../media/image775.png"/><Relationship Id="rId34" Type="http://schemas.openxmlformats.org/officeDocument/2006/relationships/image" Target="../media/image784.svg"/><Relationship Id="rId42" Type="http://schemas.openxmlformats.org/officeDocument/2006/relationships/image" Target="../media/image52.svg"/><Relationship Id="rId47" Type="http://schemas.openxmlformats.org/officeDocument/2006/relationships/image" Target="../media/image47.png"/><Relationship Id="rId7" Type="http://schemas.openxmlformats.org/officeDocument/2006/relationships/image" Target="../media/image499.png"/><Relationship Id="rId2" Type="http://schemas.openxmlformats.org/officeDocument/2006/relationships/notesSlide" Target="../notesSlides/notesSlide9.xml"/><Relationship Id="rId16" Type="http://schemas.openxmlformats.org/officeDocument/2006/relationships/image" Target="../media/image770.svg"/><Relationship Id="rId29" Type="http://schemas.openxmlformats.org/officeDocument/2006/relationships/image" Target="../media/image779.png"/><Relationship Id="rId1" Type="http://schemas.openxmlformats.org/officeDocument/2006/relationships/slideLayout" Target="../slideLayouts/slideLayout2.xml"/><Relationship Id="rId6" Type="http://schemas.openxmlformats.org/officeDocument/2006/relationships/image" Target="../media/image498.svg"/><Relationship Id="rId11" Type="http://schemas.openxmlformats.org/officeDocument/2006/relationships/image" Target="../media/image767.png"/><Relationship Id="rId24" Type="http://schemas.openxmlformats.org/officeDocument/2006/relationships/image" Target="../media/image411.svg"/><Relationship Id="rId32" Type="http://schemas.openxmlformats.org/officeDocument/2006/relationships/image" Target="../media/image782.svg"/><Relationship Id="rId37" Type="http://schemas.openxmlformats.org/officeDocument/2006/relationships/image" Target="../media/image45.png"/><Relationship Id="rId40" Type="http://schemas.openxmlformats.org/officeDocument/2006/relationships/image" Target="../media/image50.svg"/><Relationship Id="rId45" Type="http://schemas.openxmlformats.org/officeDocument/2006/relationships/image" Target="../media/image55.png"/><Relationship Id="rId5" Type="http://schemas.openxmlformats.org/officeDocument/2006/relationships/image" Target="../media/image497.png"/><Relationship Id="rId15" Type="http://schemas.openxmlformats.org/officeDocument/2006/relationships/image" Target="../media/image769.png"/><Relationship Id="rId23" Type="http://schemas.openxmlformats.org/officeDocument/2006/relationships/image" Target="../media/image410.png"/><Relationship Id="rId28" Type="http://schemas.openxmlformats.org/officeDocument/2006/relationships/image" Target="../media/image606.svg"/><Relationship Id="rId36" Type="http://schemas.openxmlformats.org/officeDocument/2006/relationships/image" Target="../media/image206.svg"/><Relationship Id="rId10" Type="http://schemas.openxmlformats.org/officeDocument/2006/relationships/image" Target="../media/image18.svg"/><Relationship Id="rId19" Type="http://schemas.openxmlformats.org/officeDocument/2006/relationships/image" Target="../media/image773.png"/><Relationship Id="rId31" Type="http://schemas.openxmlformats.org/officeDocument/2006/relationships/image" Target="../media/image781.png"/><Relationship Id="rId44" Type="http://schemas.openxmlformats.org/officeDocument/2006/relationships/image" Target="../media/image58.svg"/><Relationship Id="rId4" Type="http://schemas.openxmlformats.org/officeDocument/2006/relationships/image" Target="../media/image496.svg"/><Relationship Id="rId9" Type="http://schemas.openxmlformats.org/officeDocument/2006/relationships/image" Target="../media/image17.png"/><Relationship Id="rId14" Type="http://schemas.openxmlformats.org/officeDocument/2006/relationships/image" Target="../media/image436.svg"/><Relationship Id="rId22" Type="http://schemas.openxmlformats.org/officeDocument/2006/relationships/image" Target="../media/image776.svg"/><Relationship Id="rId27" Type="http://schemas.openxmlformats.org/officeDocument/2006/relationships/image" Target="../media/image605.png"/><Relationship Id="rId30" Type="http://schemas.openxmlformats.org/officeDocument/2006/relationships/image" Target="../media/image780.svg"/><Relationship Id="rId35" Type="http://schemas.openxmlformats.org/officeDocument/2006/relationships/image" Target="../media/image205.png"/><Relationship Id="rId43" Type="http://schemas.openxmlformats.org/officeDocument/2006/relationships/image" Target="../media/image57.png"/><Relationship Id="rId48" Type="http://schemas.openxmlformats.org/officeDocument/2006/relationships/image" Target="../media/image48.svg"/><Relationship Id="rId8" Type="http://schemas.openxmlformats.org/officeDocument/2006/relationships/image" Target="../media/image500.svg"/><Relationship Id="rId3" Type="http://schemas.openxmlformats.org/officeDocument/2006/relationships/image" Target="../media/image495.png"/><Relationship Id="rId12" Type="http://schemas.openxmlformats.org/officeDocument/2006/relationships/image" Target="../media/image768.svg"/><Relationship Id="rId17" Type="http://schemas.openxmlformats.org/officeDocument/2006/relationships/image" Target="../media/image771.png"/><Relationship Id="rId25" Type="http://schemas.openxmlformats.org/officeDocument/2006/relationships/image" Target="../media/image777.png"/><Relationship Id="rId33" Type="http://schemas.openxmlformats.org/officeDocument/2006/relationships/image" Target="../media/image783.png"/><Relationship Id="rId38" Type="http://schemas.openxmlformats.org/officeDocument/2006/relationships/image" Target="../media/image46.svg"/><Relationship Id="rId46" Type="http://schemas.openxmlformats.org/officeDocument/2006/relationships/image" Target="../media/image56.svg"/><Relationship Id="rId20" Type="http://schemas.openxmlformats.org/officeDocument/2006/relationships/image" Target="../media/image774.svg"/><Relationship Id="rId41" Type="http://schemas.openxmlformats.org/officeDocument/2006/relationships/image" Target="../media/image51.png"/></Relationships>
</file>

<file path=ppt/slides/_rels/slide255.xml.rels><?xml version="1.0" encoding="UTF-8" standalone="yes"?>
<Relationships xmlns="http://schemas.openxmlformats.org/package/2006/relationships"><Relationship Id="rId3" Type="http://schemas.openxmlformats.org/officeDocument/2006/relationships/image" Target="../media/image710.svg"/><Relationship Id="rId2" Type="http://schemas.openxmlformats.org/officeDocument/2006/relationships/image" Target="../media/image709.png"/><Relationship Id="rId1" Type="http://schemas.openxmlformats.org/officeDocument/2006/relationships/slideLayout" Target="../slideLayouts/slideLayout2.xml"/><Relationship Id="rId5" Type="http://schemas.openxmlformats.org/officeDocument/2006/relationships/image" Target="../media/image702.svg"/><Relationship Id="rId4" Type="http://schemas.openxmlformats.org/officeDocument/2006/relationships/image" Target="../media/image113.png"/></Relationships>
</file>

<file path=ppt/slides/_rels/slide256.xml.rels><?xml version="1.0" encoding="UTF-8" standalone="yes"?>
<Relationships xmlns="http://schemas.openxmlformats.org/package/2006/relationships"><Relationship Id="rId3" Type="http://schemas.openxmlformats.org/officeDocument/2006/relationships/image" Target="../media/image714.svg"/><Relationship Id="rId2" Type="http://schemas.openxmlformats.org/officeDocument/2006/relationships/image" Target="../media/image713.png"/><Relationship Id="rId1" Type="http://schemas.openxmlformats.org/officeDocument/2006/relationships/slideLayout" Target="../slideLayouts/slideLayout2.xml"/><Relationship Id="rId5" Type="http://schemas.openxmlformats.org/officeDocument/2006/relationships/image" Target="../media/image702.svg"/><Relationship Id="rId4" Type="http://schemas.openxmlformats.org/officeDocument/2006/relationships/image" Target="../media/image113.png"/></Relationships>
</file>

<file path=ppt/slides/_rels/slide257.xml.rels><?xml version="1.0" encoding="UTF-8" standalone="yes"?>
<Relationships xmlns="http://schemas.openxmlformats.org/package/2006/relationships"><Relationship Id="rId13" Type="http://schemas.openxmlformats.org/officeDocument/2006/relationships/image" Target="../media/image17.png"/><Relationship Id="rId18" Type="http://schemas.openxmlformats.org/officeDocument/2006/relationships/image" Target="../media/image788.svg"/><Relationship Id="rId26" Type="http://schemas.openxmlformats.org/officeDocument/2006/relationships/image" Target="../media/image794.svg"/><Relationship Id="rId39" Type="http://schemas.openxmlformats.org/officeDocument/2006/relationships/image" Target="../media/image341.png"/><Relationship Id="rId21" Type="http://schemas.openxmlformats.org/officeDocument/2006/relationships/image" Target="../media/image791.png"/><Relationship Id="rId34" Type="http://schemas.openxmlformats.org/officeDocument/2006/relationships/image" Target="../media/image802.svg"/><Relationship Id="rId42" Type="http://schemas.openxmlformats.org/officeDocument/2006/relationships/image" Target="../media/image14.svg"/><Relationship Id="rId47" Type="http://schemas.openxmlformats.org/officeDocument/2006/relationships/image" Target="../media/image175.png"/><Relationship Id="rId50" Type="http://schemas.openxmlformats.org/officeDocument/2006/relationships/image" Target="../media/image7.svg"/><Relationship Id="rId55" Type="http://schemas.openxmlformats.org/officeDocument/2006/relationships/image" Target="../media/image2.png"/><Relationship Id="rId63" Type="http://schemas.openxmlformats.org/officeDocument/2006/relationships/image" Target="../media/image55.png"/><Relationship Id="rId7" Type="http://schemas.openxmlformats.org/officeDocument/2006/relationships/image" Target="../media/image785.png"/><Relationship Id="rId2" Type="http://schemas.openxmlformats.org/officeDocument/2006/relationships/notesSlide" Target="../notesSlides/notesSlide10.xml"/><Relationship Id="rId16" Type="http://schemas.openxmlformats.org/officeDocument/2006/relationships/image" Target="../media/image743.svg"/><Relationship Id="rId29" Type="http://schemas.openxmlformats.org/officeDocument/2006/relationships/image" Target="../media/image797.png"/><Relationship Id="rId11" Type="http://schemas.openxmlformats.org/officeDocument/2006/relationships/image" Target="../media/image493.png"/><Relationship Id="rId24" Type="http://schemas.openxmlformats.org/officeDocument/2006/relationships/image" Target="../media/image253.svg"/><Relationship Id="rId32" Type="http://schemas.openxmlformats.org/officeDocument/2006/relationships/image" Target="../media/image800.svg"/><Relationship Id="rId37" Type="http://schemas.openxmlformats.org/officeDocument/2006/relationships/image" Target="../media/image805.png"/><Relationship Id="rId40" Type="http://schemas.openxmlformats.org/officeDocument/2006/relationships/image" Target="../media/image342.svg"/><Relationship Id="rId45" Type="http://schemas.openxmlformats.org/officeDocument/2006/relationships/image" Target="../media/image173.png"/><Relationship Id="rId53" Type="http://schemas.openxmlformats.org/officeDocument/2006/relationships/image" Target="../media/image205.png"/><Relationship Id="rId58" Type="http://schemas.openxmlformats.org/officeDocument/2006/relationships/image" Target="../media/image46.svg"/><Relationship Id="rId5" Type="http://schemas.openxmlformats.org/officeDocument/2006/relationships/image" Target="../media/image487.png"/><Relationship Id="rId61" Type="http://schemas.openxmlformats.org/officeDocument/2006/relationships/image" Target="../media/image51.png"/><Relationship Id="rId19" Type="http://schemas.openxmlformats.org/officeDocument/2006/relationships/image" Target="../media/image789.png"/><Relationship Id="rId14" Type="http://schemas.openxmlformats.org/officeDocument/2006/relationships/image" Target="../media/image18.svg"/><Relationship Id="rId22" Type="http://schemas.openxmlformats.org/officeDocument/2006/relationships/image" Target="../media/image792.svg"/><Relationship Id="rId27" Type="http://schemas.openxmlformats.org/officeDocument/2006/relationships/image" Target="../media/image795.png"/><Relationship Id="rId30" Type="http://schemas.openxmlformats.org/officeDocument/2006/relationships/image" Target="../media/image798.svg"/><Relationship Id="rId35" Type="http://schemas.openxmlformats.org/officeDocument/2006/relationships/image" Target="../media/image803.png"/><Relationship Id="rId43" Type="http://schemas.openxmlformats.org/officeDocument/2006/relationships/image" Target="../media/image171.png"/><Relationship Id="rId48" Type="http://schemas.openxmlformats.org/officeDocument/2006/relationships/image" Target="../media/image176.svg"/><Relationship Id="rId56" Type="http://schemas.openxmlformats.org/officeDocument/2006/relationships/image" Target="../media/image3.svg"/><Relationship Id="rId64" Type="http://schemas.openxmlformats.org/officeDocument/2006/relationships/image" Target="../media/image56.svg"/><Relationship Id="rId8" Type="http://schemas.openxmlformats.org/officeDocument/2006/relationships/image" Target="../media/image786.svg"/><Relationship Id="rId51" Type="http://schemas.openxmlformats.org/officeDocument/2006/relationships/image" Target="../media/image4.png"/><Relationship Id="rId3" Type="http://schemas.openxmlformats.org/officeDocument/2006/relationships/image" Target="../media/image485.png"/><Relationship Id="rId12" Type="http://schemas.openxmlformats.org/officeDocument/2006/relationships/image" Target="../media/image494.svg"/><Relationship Id="rId17" Type="http://schemas.openxmlformats.org/officeDocument/2006/relationships/image" Target="../media/image787.png"/><Relationship Id="rId25" Type="http://schemas.openxmlformats.org/officeDocument/2006/relationships/image" Target="../media/image793.png"/><Relationship Id="rId33" Type="http://schemas.openxmlformats.org/officeDocument/2006/relationships/image" Target="../media/image801.png"/><Relationship Id="rId38" Type="http://schemas.openxmlformats.org/officeDocument/2006/relationships/image" Target="../media/image806.svg"/><Relationship Id="rId46" Type="http://schemas.openxmlformats.org/officeDocument/2006/relationships/image" Target="../media/image174.svg"/><Relationship Id="rId59" Type="http://schemas.openxmlformats.org/officeDocument/2006/relationships/image" Target="../media/image49.png"/><Relationship Id="rId20" Type="http://schemas.openxmlformats.org/officeDocument/2006/relationships/image" Target="../media/image790.svg"/><Relationship Id="rId41" Type="http://schemas.openxmlformats.org/officeDocument/2006/relationships/image" Target="../media/image13.png"/><Relationship Id="rId54" Type="http://schemas.openxmlformats.org/officeDocument/2006/relationships/image" Target="../media/image206.svg"/><Relationship Id="rId62" Type="http://schemas.openxmlformats.org/officeDocument/2006/relationships/image" Target="../media/image52.svg"/><Relationship Id="rId1" Type="http://schemas.openxmlformats.org/officeDocument/2006/relationships/slideLayout" Target="../slideLayouts/slideLayout2.xml"/><Relationship Id="rId6" Type="http://schemas.openxmlformats.org/officeDocument/2006/relationships/image" Target="../media/image488.svg"/><Relationship Id="rId15" Type="http://schemas.openxmlformats.org/officeDocument/2006/relationships/image" Target="../media/image742.png"/><Relationship Id="rId23" Type="http://schemas.openxmlformats.org/officeDocument/2006/relationships/image" Target="../media/image252.png"/><Relationship Id="rId28" Type="http://schemas.openxmlformats.org/officeDocument/2006/relationships/image" Target="../media/image796.svg"/><Relationship Id="rId36" Type="http://schemas.openxmlformats.org/officeDocument/2006/relationships/image" Target="../media/image804.svg"/><Relationship Id="rId49" Type="http://schemas.openxmlformats.org/officeDocument/2006/relationships/image" Target="../media/image6.png"/><Relationship Id="rId57" Type="http://schemas.openxmlformats.org/officeDocument/2006/relationships/image" Target="../media/image45.png"/><Relationship Id="rId10" Type="http://schemas.openxmlformats.org/officeDocument/2006/relationships/image" Target="../media/image90.svg"/><Relationship Id="rId31" Type="http://schemas.openxmlformats.org/officeDocument/2006/relationships/image" Target="../media/image799.png"/><Relationship Id="rId44" Type="http://schemas.openxmlformats.org/officeDocument/2006/relationships/image" Target="../media/image172.svg"/><Relationship Id="rId52" Type="http://schemas.openxmlformats.org/officeDocument/2006/relationships/image" Target="../media/image5.svg"/><Relationship Id="rId60" Type="http://schemas.openxmlformats.org/officeDocument/2006/relationships/image" Target="../media/image50.svg"/><Relationship Id="rId4" Type="http://schemas.openxmlformats.org/officeDocument/2006/relationships/image" Target="../media/image486.svg"/><Relationship Id="rId9" Type="http://schemas.openxmlformats.org/officeDocument/2006/relationships/image" Target="../media/image89.png"/></Relationships>
</file>

<file path=ppt/slides/_rels/slide258.xml.rels><?xml version="1.0" encoding="UTF-8" standalone="yes"?>
<Relationships xmlns="http://schemas.openxmlformats.org/package/2006/relationships"><Relationship Id="rId13" Type="http://schemas.openxmlformats.org/officeDocument/2006/relationships/image" Target="../media/image274.png"/><Relationship Id="rId18" Type="http://schemas.openxmlformats.org/officeDocument/2006/relationships/image" Target="../media/image18.svg"/><Relationship Id="rId26" Type="http://schemas.openxmlformats.org/officeDocument/2006/relationships/image" Target="../media/image74.svg"/><Relationship Id="rId39" Type="http://schemas.openxmlformats.org/officeDocument/2006/relationships/image" Target="../media/image749.png"/><Relationship Id="rId21" Type="http://schemas.openxmlformats.org/officeDocument/2006/relationships/image" Target="../media/image69.png"/><Relationship Id="rId34" Type="http://schemas.openxmlformats.org/officeDocument/2006/relationships/image" Target="../media/image812.svg"/><Relationship Id="rId42" Type="http://schemas.openxmlformats.org/officeDocument/2006/relationships/image" Target="../media/image818.svg"/><Relationship Id="rId47" Type="http://schemas.openxmlformats.org/officeDocument/2006/relationships/image" Target="../media/image801.png"/><Relationship Id="rId50" Type="http://schemas.openxmlformats.org/officeDocument/2006/relationships/image" Target="../media/image823.svg"/><Relationship Id="rId55" Type="http://schemas.openxmlformats.org/officeDocument/2006/relationships/image" Target="../media/image45.png"/><Relationship Id="rId7" Type="http://schemas.openxmlformats.org/officeDocument/2006/relationships/image" Target="../media/image19.png"/><Relationship Id="rId2" Type="http://schemas.openxmlformats.org/officeDocument/2006/relationships/notesSlide" Target="../notesSlides/notesSlide11.xml"/><Relationship Id="rId16" Type="http://schemas.openxmlformats.org/officeDocument/2006/relationships/image" Target="../media/image432.svg"/><Relationship Id="rId29" Type="http://schemas.openxmlformats.org/officeDocument/2006/relationships/image" Target="../media/image807.png"/><Relationship Id="rId11" Type="http://schemas.openxmlformats.org/officeDocument/2006/relationships/image" Target="../media/image429.png"/><Relationship Id="rId24" Type="http://schemas.openxmlformats.org/officeDocument/2006/relationships/image" Target="../media/image72.svg"/><Relationship Id="rId32" Type="http://schemas.openxmlformats.org/officeDocument/2006/relationships/image" Target="../media/image810.svg"/><Relationship Id="rId37" Type="http://schemas.openxmlformats.org/officeDocument/2006/relationships/image" Target="../media/image815.png"/><Relationship Id="rId40" Type="http://schemas.openxmlformats.org/officeDocument/2006/relationships/image" Target="../media/image750.svg"/><Relationship Id="rId45" Type="http://schemas.openxmlformats.org/officeDocument/2006/relationships/image" Target="../media/image368.png"/><Relationship Id="rId53" Type="http://schemas.openxmlformats.org/officeDocument/2006/relationships/image" Target="../media/image826.png"/><Relationship Id="rId58" Type="http://schemas.openxmlformats.org/officeDocument/2006/relationships/image" Target="../media/image50.svg"/><Relationship Id="rId5" Type="http://schemas.openxmlformats.org/officeDocument/2006/relationships/image" Target="../media/image425.png"/><Relationship Id="rId61" Type="http://schemas.openxmlformats.org/officeDocument/2006/relationships/image" Target="../media/image55.png"/><Relationship Id="rId19" Type="http://schemas.openxmlformats.org/officeDocument/2006/relationships/image" Target="../media/image43.png"/><Relationship Id="rId14" Type="http://schemas.openxmlformats.org/officeDocument/2006/relationships/image" Target="../media/image275.svg"/><Relationship Id="rId22" Type="http://schemas.openxmlformats.org/officeDocument/2006/relationships/image" Target="../media/image70.svg"/><Relationship Id="rId27" Type="http://schemas.openxmlformats.org/officeDocument/2006/relationships/image" Target="../media/image75.png"/><Relationship Id="rId30" Type="http://schemas.openxmlformats.org/officeDocument/2006/relationships/image" Target="../media/image808.svg"/><Relationship Id="rId35" Type="http://schemas.openxmlformats.org/officeDocument/2006/relationships/image" Target="../media/image813.png"/><Relationship Id="rId43" Type="http://schemas.openxmlformats.org/officeDocument/2006/relationships/image" Target="../media/image819.png"/><Relationship Id="rId48" Type="http://schemas.openxmlformats.org/officeDocument/2006/relationships/image" Target="../media/image802.svg"/><Relationship Id="rId56" Type="http://schemas.openxmlformats.org/officeDocument/2006/relationships/image" Target="../media/image46.svg"/><Relationship Id="rId8" Type="http://schemas.openxmlformats.org/officeDocument/2006/relationships/image" Target="../media/image20.svg"/><Relationship Id="rId51" Type="http://schemas.openxmlformats.org/officeDocument/2006/relationships/image" Target="../media/image824.png"/><Relationship Id="rId3" Type="http://schemas.openxmlformats.org/officeDocument/2006/relationships/image" Target="../media/image423.png"/><Relationship Id="rId12" Type="http://schemas.openxmlformats.org/officeDocument/2006/relationships/image" Target="../media/image430.svg"/><Relationship Id="rId17" Type="http://schemas.openxmlformats.org/officeDocument/2006/relationships/image" Target="../media/image17.png"/><Relationship Id="rId25" Type="http://schemas.openxmlformats.org/officeDocument/2006/relationships/image" Target="../media/image73.png"/><Relationship Id="rId33" Type="http://schemas.openxmlformats.org/officeDocument/2006/relationships/image" Target="../media/image811.png"/><Relationship Id="rId38" Type="http://schemas.openxmlformats.org/officeDocument/2006/relationships/image" Target="../media/image816.svg"/><Relationship Id="rId46" Type="http://schemas.openxmlformats.org/officeDocument/2006/relationships/image" Target="../media/image821.svg"/><Relationship Id="rId59" Type="http://schemas.openxmlformats.org/officeDocument/2006/relationships/image" Target="../media/image51.png"/><Relationship Id="rId20" Type="http://schemas.openxmlformats.org/officeDocument/2006/relationships/image" Target="../media/image44.svg"/><Relationship Id="rId41" Type="http://schemas.openxmlformats.org/officeDocument/2006/relationships/image" Target="../media/image817.png"/><Relationship Id="rId54" Type="http://schemas.openxmlformats.org/officeDocument/2006/relationships/image" Target="../media/image827.svg"/><Relationship Id="rId62" Type="http://schemas.openxmlformats.org/officeDocument/2006/relationships/image" Target="../media/image56.svg"/><Relationship Id="rId1" Type="http://schemas.openxmlformats.org/officeDocument/2006/relationships/slideLayout" Target="../slideLayouts/slideLayout2.xml"/><Relationship Id="rId6" Type="http://schemas.openxmlformats.org/officeDocument/2006/relationships/image" Target="../media/image426.svg"/><Relationship Id="rId15" Type="http://schemas.openxmlformats.org/officeDocument/2006/relationships/image" Target="../media/image431.png"/><Relationship Id="rId23" Type="http://schemas.openxmlformats.org/officeDocument/2006/relationships/image" Target="../media/image71.png"/><Relationship Id="rId28" Type="http://schemas.openxmlformats.org/officeDocument/2006/relationships/image" Target="../media/image76.svg"/><Relationship Id="rId36" Type="http://schemas.openxmlformats.org/officeDocument/2006/relationships/image" Target="../media/image814.svg"/><Relationship Id="rId49" Type="http://schemas.openxmlformats.org/officeDocument/2006/relationships/image" Target="../media/image822.png"/><Relationship Id="rId57" Type="http://schemas.openxmlformats.org/officeDocument/2006/relationships/image" Target="../media/image49.png"/><Relationship Id="rId10" Type="http://schemas.openxmlformats.org/officeDocument/2006/relationships/image" Target="../media/image428.svg"/><Relationship Id="rId31" Type="http://schemas.openxmlformats.org/officeDocument/2006/relationships/image" Target="../media/image809.png"/><Relationship Id="rId44" Type="http://schemas.openxmlformats.org/officeDocument/2006/relationships/image" Target="../media/image820.svg"/><Relationship Id="rId52" Type="http://schemas.openxmlformats.org/officeDocument/2006/relationships/image" Target="../media/image825.svg"/><Relationship Id="rId60" Type="http://schemas.openxmlformats.org/officeDocument/2006/relationships/image" Target="../media/image52.svg"/><Relationship Id="rId4" Type="http://schemas.openxmlformats.org/officeDocument/2006/relationships/image" Target="../media/image424.svg"/><Relationship Id="rId9" Type="http://schemas.openxmlformats.org/officeDocument/2006/relationships/image" Target="../media/image427.png"/></Relationships>
</file>

<file path=ppt/slides/_rels/slide259.xml.rels><?xml version="1.0" encoding="UTF-8" standalone="yes"?>
<Relationships xmlns="http://schemas.openxmlformats.org/package/2006/relationships"><Relationship Id="rId26" Type="http://schemas.openxmlformats.org/officeDocument/2006/relationships/image" Target="../media/image818.svg"/><Relationship Id="rId21" Type="http://schemas.openxmlformats.org/officeDocument/2006/relationships/image" Target="../media/image830.png"/><Relationship Id="rId42" Type="http://schemas.openxmlformats.org/officeDocument/2006/relationships/image" Target="../media/image839.svg"/><Relationship Id="rId47" Type="http://schemas.openxmlformats.org/officeDocument/2006/relationships/image" Target="../media/image840.png"/><Relationship Id="rId63" Type="http://schemas.openxmlformats.org/officeDocument/2006/relationships/image" Target="../media/image499.png"/><Relationship Id="rId68" Type="http://schemas.openxmlformats.org/officeDocument/2006/relationships/image" Target="../media/image52.svg"/><Relationship Id="rId2" Type="http://schemas.openxmlformats.org/officeDocument/2006/relationships/notesSlide" Target="../notesSlides/notesSlide12.xml"/><Relationship Id="rId16" Type="http://schemas.openxmlformats.org/officeDocument/2006/relationships/image" Target="../media/image450.svg"/><Relationship Id="rId29" Type="http://schemas.openxmlformats.org/officeDocument/2006/relationships/image" Target="../media/image368.png"/><Relationship Id="rId11" Type="http://schemas.openxmlformats.org/officeDocument/2006/relationships/image" Target="../media/image445.png"/><Relationship Id="rId24" Type="http://schemas.openxmlformats.org/officeDocument/2006/relationships/image" Target="../media/image833.svg"/><Relationship Id="rId32" Type="http://schemas.openxmlformats.org/officeDocument/2006/relationships/image" Target="../media/image810.svg"/><Relationship Id="rId37" Type="http://schemas.openxmlformats.org/officeDocument/2006/relationships/image" Target="../media/image834.png"/><Relationship Id="rId40" Type="http://schemas.openxmlformats.org/officeDocument/2006/relationships/image" Target="../media/image837.svg"/><Relationship Id="rId45" Type="http://schemas.openxmlformats.org/officeDocument/2006/relationships/image" Target="../media/image125.png"/><Relationship Id="rId53" Type="http://schemas.openxmlformats.org/officeDocument/2006/relationships/image" Target="../media/image845.png"/><Relationship Id="rId58" Type="http://schemas.openxmlformats.org/officeDocument/2006/relationships/image" Target="../media/image850.svg"/><Relationship Id="rId66" Type="http://schemas.openxmlformats.org/officeDocument/2006/relationships/image" Target="../media/image46.svg"/><Relationship Id="rId74" Type="http://schemas.openxmlformats.org/officeDocument/2006/relationships/image" Target="../media/image48.svg"/><Relationship Id="rId5" Type="http://schemas.openxmlformats.org/officeDocument/2006/relationships/image" Target="../media/image439.png"/><Relationship Id="rId61" Type="http://schemas.openxmlformats.org/officeDocument/2006/relationships/image" Target="../media/image497.png"/><Relationship Id="rId19" Type="http://schemas.openxmlformats.org/officeDocument/2006/relationships/image" Target="../media/image828.png"/><Relationship Id="rId14" Type="http://schemas.openxmlformats.org/officeDocument/2006/relationships/image" Target="../media/image448.svg"/><Relationship Id="rId22" Type="http://schemas.openxmlformats.org/officeDocument/2006/relationships/image" Target="../media/image831.svg"/><Relationship Id="rId27" Type="http://schemas.openxmlformats.org/officeDocument/2006/relationships/image" Target="../media/image819.png"/><Relationship Id="rId30" Type="http://schemas.openxmlformats.org/officeDocument/2006/relationships/image" Target="../media/image821.svg"/><Relationship Id="rId35" Type="http://schemas.openxmlformats.org/officeDocument/2006/relationships/image" Target="../media/image665.png"/><Relationship Id="rId43" Type="http://schemas.openxmlformats.org/officeDocument/2006/relationships/image" Target="../media/image193.png"/><Relationship Id="rId48" Type="http://schemas.openxmlformats.org/officeDocument/2006/relationships/image" Target="../media/image841.svg"/><Relationship Id="rId56" Type="http://schemas.openxmlformats.org/officeDocument/2006/relationships/image" Target="../media/image848.svg"/><Relationship Id="rId64" Type="http://schemas.openxmlformats.org/officeDocument/2006/relationships/image" Target="../media/image500.svg"/><Relationship Id="rId69" Type="http://schemas.openxmlformats.org/officeDocument/2006/relationships/image" Target="../media/image57.png"/><Relationship Id="rId8" Type="http://schemas.openxmlformats.org/officeDocument/2006/relationships/image" Target="../media/image442.svg"/><Relationship Id="rId51" Type="http://schemas.openxmlformats.org/officeDocument/2006/relationships/image" Target="../media/image21.png"/><Relationship Id="rId72" Type="http://schemas.openxmlformats.org/officeDocument/2006/relationships/image" Target="../media/image56.svg"/><Relationship Id="rId3" Type="http://schemas.openxmlformats.org/officeDocument/2006/relationships/image" Target="../media/image17.png"/><Relationship Id="rId12" Type="http://schemas.openxmlformats.org/officeDocument/2006/relationships/image" Target="../media/image446.svg"/><Relationship Id="rId17" Type="http://schemas.openxmlformats.org/officeDocument/2006/relationships/image" Target="../media/image451.png"/><Relationship Id="rId25" Type="http://schemas.openxmlformats.org/officeDocument/2006/relationships/image" Target="../media/image817.png"/><Relationship Id="rId33" Type="http://schemas.openxmlformats.org/officeDocument/2006/relationships/image" Target="../media/image811.png"/><Relationship Id="rId38" Type="http://schemas.openxmlformats.org/officeDocument/2006/relationships/image" Target="../media/image835.svg"/><Relationship Id="rId46" Type="http://schemas.openxmlformats.org/officeDocument/2006/relationships/image" Target="../media/image126.svg"/><Relationship Id="rId59" Type="http://schemas.openxmlformats.org/officeDocument/2006/relationships/image" Target="../media/image495.png"/><Relationship Id="rId67" Type="http://schemas.openxmlformats.org/officeDocument/2006/relationships/image" Target="../media/image51.png"/><Relationship Id="rId20" Type="http://schemas.openxmlformats.org/officeDocument/2006/relationships/image" Target="../media/image829.svg"/><Relationship Id="rId41" Type="http://schemas.openxmlformats.org/officeDocument/2006/relationships/image" Target="../media/image838.png"/><Relationship Id="rId54" Type="http://schemas.openxmlformats.org/officeDocument/2006/relationships/image" Target="../media/image846.svg"/><Relationship Id="rId62" Type="http://schemas.openxmlformats.org/officeDocument/2006/relationships/image" Target="../media/image498.svg"/><Relationship Id="rId70" Type="http://schemas.openxmlformats.org/officeDocument/2006/relationships/image" Target="../media/image58.svg"/><Relationship Id="rId1" Type="http://schemas.openxmlformats.org/officeDocument/2006/relationships/slideLayout" Target="../slideLayouts/slideLayout2.xml"/><Relationship Id="rId6" Type="http://schemas.openxmlformats.org/officeDocument/2006/relationships/image" Target="../media/image440.svg"/><Relationship Id="rId15" Type="http://schemas.openxmlformats.org/officeDocument/2006/relationships/image" Target="../media/image449.png"/><Relationship Id="rId23" Type="http://schemas.openxmlformats.org/officeDocument/2006/relationships/image" Target="../media/image832.png"/><Relationship Id="rId28" Type="http://schemas.openxmlformats.org/officeDocument/2006/relationships/image" Target="../media/image820.svg"/><Relationship Id="rId36" Type="http://schemas.openxmlformats.org/officeDocument/2006/relationships/image" Target="../media/image666.svg"/><Relationship Id="rId49" Type="http://schemas.openxmlformats.org/officeDocument/2006/relationships/image" Target="../media/image842.png"/><Relationship Id="rId57" Type="http://schemas.openxmlformats.org/officeDocument/2006/relationships/image" Target="../media/image849.png"/><Relationship Id="rId10" Type="http://schemas.openxmlformats.org/officeDocument/2006/relationships/image" Target="../media/image444.svg"/><Relationship Id="rId31" Type="http://schemas.openxmlformats.org/officeDocument/2006/relationships/image" Target="../media/image809.png"/><Relationship Id="rId44" Type="http://schemas.openxmlformats.org/officeDocument/2006/relationships/image" Target="../media/image194.svg"/><Relationship Id="rId52" Type="http://schemas.openxmlformats.org/officeDocument/2006/relationships/image" Target="../media/image844.svg"/><Relationship Id="rId60" Type="http://schemas.openxmlformats.org/officeDocument/2006/relationships/image" Target="../media/image496.svg"/><Relationship Id="rId65" Type="http://schemas.openxmlformats.org/officeDocument/2006/relationships/image" Target="../media/image45.png"/><Relationship Id="rId73" Type="http://schemas.openxmlformats.org/officeDocument/2006/relationships/image" Target="../media/image47.png"/><Relationship Id="rId4" Type="http://schemas.openxmlformats.org/officeDocument/2006/relationships/image" Target="../media/image18.svg"/><Relationship Id="rId9" Type="http://schemas.openxmlformats.org/officeDocument/2006/relationships/image" Target="../media/image443.png"/><Relationship Id="rId13" Type="http://schemas.openxmlformats.org/officeDocument/2006/relationships/image" Target="../media/image447.png"/><Relationship Id="rId18" Type="http://schemas.openxmlformats.org/officeDocument/2006/relationships/image" Target="../media/image452.svg"/><Relationship Id="rId39" Type="http://schemas.openxmlformats.org/officeDocument/2006/relationships/image" Target="../media/image836.png"/><Relationship Id="rId34" Type="http://schemas.openxmlformats.org/officeDocument/2006/relationships/image" Target="../media/image812.svg"/><Relationship Id="rId50" Type="http://schemas.openxmlformats.org/officeDocument/2006/relationships/image" Target="../media/image843.svg"/><Relationship Id="rId55" Type="http://schemas.openxmlformats.org/officeDocument/2006/relationships/image" Target="../media/image847.png"/><Relationship Id="rId7" Type="http://schemas.openxmlformats.org/officeDocument/2006/relationships/image" Target="../media/image441.png"/><Relationship Id="rId71" Type="http://schemas.openxmlformats.org/officeDocument/2006/relationships/image" Target="../media/image55.png"/></Relationships>
</file>

<file path=ppt/slides/_rels/slide260.xml.rels><?xml version="1.0" encoding="UTF-8" standalone="yes"?>
<Relationships xmlns="http://schemas.openxmlformats.org/package/2006/relationships"><Relationship Id="rId13" Type="http://schemas.openxmlformats.org/officeDocument/2006/relationships/image" Target="../media/image859.png"/><Relationship Id="rId18" Type="http://schemas.openxmlformats.org/officeDocument/2006/relationships/image" Target="../media/image192.svg"/><Relationship Id="rId26" Type="http://schemas.openxmlformats.org/officeDocument/2006/relationships/image" Target="../media/image200.svg"/><Relationship Id="rId39" Type="http://schemas.openxmlformats.org/officeDocument/2006/relationships/image" Target="../media/image870.svg"/><Relationship Id="rId21" Type="http://schemas.openxmlformats.org/officeDocument/2006/relationships/image" Target="../media/image195.png"/><Relationship Id="rId34" Type="http://schemas.openxmlformats.org/officeDocument/2006/relationships/image" Target="../media/image865.png"/><Relationship Id="rId42" Type="http://schemas.openxmlformats.org/officeDocument/2006/relationships/image" Target="../media/image873.png"/><Relationship Id="rId47" Type="http://schemas.openxmlformats.org/officeDocument/2006/relationships/image" Target="../media/image48.svg"/><Relationship Id="rId50" Type="http://schemas.openxmlformats.org/officeDocument/2006/relationships/image" Target="../media/image51.png"/><Relationship Id="rId7" Type="http://schemas.openxmlformats.org/officeDocument/2006/relationships/image" Target="../media/image853.png"/><Relationship Id="rId2" Type="http://schemas.openxmlformats.org/officeDocument/2006/relationships/notesSlide" Target="../notesSlides/notesSlide13.xml"/><Relationship Id="rId16" Type="http://schemas.openxmlformats.org/officeDocument/2006/relationships/image" Target="../media/image861.svg"/><Relationship Id="rId29" Type="http://schemas.openxmlformats.org/officeDocument/2006/relationships/image" Target="../media/image786.svg"/><Relationship Id="rId11" Type="http://schemas.openxmlformats.org/officeDocument/2006/relationships/image" Target="../media/image857.png"/><Relationship Id="rId24" Type="http://schemas.openxmlformats.org/officeDocument/2006/relationships/image" Target="../media/image198.svg"/><Relationship Id="rId32" Type="http://schemas.openxmlformats.org/officeDocument/2006/relationships/image" Target="../media/image863.png"/><Relationship Id="rId37" Type="http://schemas.openxmlformats.org/officeDocument/2006/relationships/image" Target="../media/image868.svg"/><Relationship Id="rId40" Type="http://schemas.openxmlformats.org/officeDocument/2006/relationships/image" Target="../media/image871.png"/><Relationship Id="rId45" Type="http://schemas.openxmlformats.org/officeDocument/2006/relationships/image" Target="../media/image876.svg"/><Relationship Id="rId53" Type="http://schemas.openxmlformats.org/officeDocument/2006/relationships/image" Target="../media/image56.svg"/><Relationship Id="rId5" Type="http://schemas.openxmlformats.org/officeDocument/2006/relationships/image" Target="../media/image851.png"/><Relationship Id="rId10" Type="http://schemas.openxmlformats.org/officeDocument/2006/relationships/image" Target="../media/image856.svg"/><Relationship Id="rId19" Type="http://schemas.openxmlformats.org/officeDocument/2006/relationships/image" Target="../media/image193.png"/><Relationship Id="rId31" Type="http://schemas.openxmlformats.org/officeDocument/2006/relationships/image" Target="../media/image411.svg"/><Relationship Id="rId44" Type="http://schemas.openxmlformats.org/officeDocument/2006/relationships/image" Target="../media/image875.png"/><Relationship Id="rId52" Type="http://schemas.openxmlformats.org/officeDocument/2006/relationships/image" Target="../media/image55.png"/><Relationship Id="rId4" Type="http://schemas.openxmlformats.org/officeDocument/2006/relationships/image" Target="../media/image18.svg"/><Relationship Id="rId9" Type="http://schemas.openxmlformats.org/officeDocument/2006/relationships/image" Target="../media/image855.png"/><Relationship Id="rId14" Type="http://schemas.openxmlformats.org/officeDocument/2006/relationships/image" Target="../media/image860.svg"/><Relationship Id="rId22" Type="http://schemas.openxmlformats.org/officeDocument/2006/relationships/image" Target="../media/image196.svg"/><Relationship Id="rId27" Type="http://schemas.openxmlformats.org/officeDocument/2006/relationships/image" Target="../media/image862.png"/><Relationship Id="rId30" Type="http://schemas.openxmlformats.org/officeDocument/2006/relationships/image" Target="../media/image410.png"/><Relationship Id="rId35" Type="http://schemas.openxmlformats.org/officeDocument/2006/relationships/image" Target="../media/image866.svg"/><Relationship Id="rId43" Type="http://schemas.openxmlformats.org/officeDocument/2006/relationships/image" Target="../media/image874.svg"/><Relationship Id="rId48" Type="http://schemas.openxmlformats.org/officeDocument/2006/relationships/image" Target="../media/image49.png"/><Relationship Id="rId8" Type="http://schemas.openxmlformats.org/officeDocument/2006/relationships/image" Target="../media/image854.svg"/><Relationship Id="rId51" Type="http://schemas.openxmlformats.org/officeDocument/2006/relationships/image" Target="../media/image52.svg"/><Relationship Id="rId3" Type="http://schemas.openxmlformats.org/officeDocument/2006/relationships/image" Target="../media/image17.png"/><Relationship Id="rId12" Type="http://schemas.openxmlformats.org/officeDocument/2006/relationships/image" Target="../media/image858.svg"/><Relationship Id="rId17" Type="http://schemas.openxmlformats.org/officeDocument/2006/relationships/image" Target="../media/image191.png"/><Relationship Id="rId25" Type="http://schemas.openxmlformats.org/officeDocument/2006/relationships/image" Target="../media/image199.png"/><Relationship Id="rId33" Type="http://schemas.openxmlformats.org/officeDocument/2006/relationships/image" Target="../media/image864.svg"/><Relationship Id="rId38" Type="http://schemas.openxmlformats.org/officeDocument/2006/relationships/image" Target="../media/image869.png"/><Relationship Id="rId46" Type="http://schemas.openxmlformats.org/officeDocument/2006/relationships/image" Target="../media/image47.png"/><Relationship Id="rId20" Type="http://schemas.openxmlformats.org/officeDocument/2006/relationships/image" Target="../media/image194.svg"/><Relationship Id="rId41" Type="http://schemas.openxmlformats.org/officeDocument/2006/relationships/image" Target="../media/image872.svg"/><Relationship Id="rId1" Type="http://schemas.openxmlformats.org/officeDocument/2006/relationships/slideLayout" Target="../slideLayouts/slideLayout2.xml"/><Relationship Id="rId6" Type="http://schemas.openxmlformats.org/officeDocument/2006/relationships/image" Target="../media/image852.svg"/><Relationship Id="rId15" Type="http://schemas.openxmlformats.org/officeDocument/2006/relationships/image" Target="../media/image645.png"/><Relationship Id="rId23" Type="http://schemas.openxmlformats.org/officeDocument/2006/relationships/image" Target="../media/image197.png"/><Relationship Id="rId28" Type="http://schemas.openxmlformats.org/officeDocument/2006/relationships/image" Target="../media/image785.png"/><Relationship Id="rId36" Type="http://schemas.openxmlformats.org/officeDocument/2006/relationships/image" Target="../media/image867.png"/><Relationship Id="rId49" Type="http://schemas.openxmlformats.org/officeDocument/2006/relationships/image" Target="../media/image50.svg"/></Relationships>
</file>

<file path=ppt/slides/_rels/slide261.xml.rels><?xml version="1.0" encoding="UTF-8" standalone="yes"?>
<Relationships xmlns="http://schemas.openxmlformats.org/package/2006/relationships"><Relationship Id="rId13" Type="http://schemas.openxmlformats.org/officeDocument/2006/relationships/image" Target="../media/image274.png"/><Relationship Id="rId18" Type="http://schemas.openxmlformats.org/officeDocument/2006/relationships/image" Target="../media/image433.svg"/><Relationship Id="rId26" Type="http://schemas.openxmlformats.org/officeDocument/2006/relationships/image" Target="../media/image440.svg"/><Relationship Id="rId39" Type="http://schemas.openxmlformats.org/officeDocument/2006/relationships/image" Target="../media/image41.png"/><Relationship Id="rId21" Type="http://schemas.openxmlformats.org/officeDocument/2006/relationships/image" Target="../media/image209.png"/><Relationship Id="rId34" Type="http://schemas.openxmlformats.org/officeDocument/2006/relationships/image" Target="../media/image448.svg"/><Relationship Id="rId42" Type="http://schemas.openxmlformats.org/officeDocument/2006/relationships/image" Target="../media/image480.svg"/><Relationship Id="rId47" Type="http://schemas.openxmlformats.org/officeDocument/2006/relationships/image" Target="../media/image497.png"/><Relationship Id="rId50" Type="http://schemas.openxmlformats.org/officeDocument/2006/relationships/image" Target="../media/image500.svg"/><Relationship Id="rId55" Type="http://schemas.openxmlformats.org/officeDocument/2006/relationships/image" Target="../media/image47.png"/><Relationship Id="rId63" Type="http://schemas.openxmlformats.org/officeDocument/2006/relationships/image" Target="../media/image51.png"/><Relationship Id="rId7" Type="http://schemas.openxmlformats.org/officeDocument/2006/relationships/image" Target="../media/image19.png"/><Relationship Id="rId2" Type="http://schemas.openxmlformats.org/officeDocument/2006/relationships/notesSlide" Target="../notesSlides/notesSlide14.xml"/><Relationship Id="rId16" Type="http://schemas.openxmlformats.org/officeDocument/2006/relationships/image" Target="../media/image432.svg"/><Relationship Id="rId29" Type="http://schemas.openxmlformats.org/officeDocument/2006/relationships/image" Target="../media/image443.png"/><Relationship Id="rId11" Type="http://schemas.openxmlformats.org/officeDocument/2006/relationships/image" Target="../media/image429.png"/><Relationship Id="rId24" Type="http://schemas.openxmlformats.org/officeDocument/2006/relationships/image" Target="../media/image438.svg"/><Relationship Id="rId32" Type="http://schemas.openxmlformats.org/officeDocument/2006/relationships/image" Target="../media/image446.svg"/><Relationship Id="rId37" Type="http://schemas.openxmlformats.org/officeDocument/2006/relationships/image" Target="../media/image451.png"/><Relationship Id="rId40" Type="http://schemas.openxmlformats.org/officeDocument/2006/relationships/image" Target="../media/image42.svg"/><Relationship Id="rId45" Type="http://schemas.openxmlformats.org/officeDocument/2006/relationships/image" Target="../media/image495.png"/><Relationship Id="rId53" Type="http://schemas.openxmlformats.org/officeDocument/2006/relationships/image" Target="../media/image45.png"/><Relationship Id="rId58" Type="http://schemas.openxmlformats.org/officeDocument/2006/relationships/image" Target="../media/image50.svg"/><Relationship Id="rId5" Type="http://schemas.openxmlformats.org/officeDocument/2006/relationships/image" Target="../media/image425.png"/><Relationship Id="rId61" Type="http://schemas.openxmlformats.org/officeDocument/2006/relationships/image" Target="../media/image63.png"/><Relationship Id="rId19" Type="http://schemas.openxmlformats.org/officeDocument/2006/relationships/image" Target="../media/image434.png"/><Relationship Id="rId14" Type="http://schemas.openxmlformats.org/officeDocument/2006/relationships/image" Target="../media/image275.svg"/><Relationship Id="rId22" Type="http://schemas.openxmlformats.org/officeDocument/2006/relationships/image" Target="../media/image436.svg"/><Relationship Id="rId27" Type="http://schemas.openxmlformats.org/officeDocument/2006/relationships/image" Target="../media/image441.png"/><Relationship Id="rId30" Type="http://schemas.openxmlformats.org/officeDocument/2006/relationships/image" Target="../media/image444.svg"/><Relationship Id="rId35" Type="http://schemas.openxmlformats.org/officeDocument/2006/relationships/image" Target="../media/image449.png"/><Relationship Id="rId43" Type="http://schemas.openxmlformats.org/officeDocument/2006/relationships/image" Target="../media/image481.png"/><Relationship Id="rId48" Type="http://schemas.openxmlformats.org/officeDocument/2006/relationships/image" Target="../media/image498.svg"/><Relationship Id="rId56" Type="http://schemas.openxmlformats.org/officeDocument/2006/relationships/image" Target="../media/image48.svg"/><Relationship Id="rId64" Type="http://schemas.openxmlformats.org/officeDocument/2006/relationships/image" Target="../media/image52.svg"/><Relationship Id="rId8" Type="http://schemas.openxmlformats.org/officeDocument/2006/relationships/image" Target="../media/image20.svg"/><Relationship Id="rId51" Type="http://schemas.openxmlformats.org/officeDocument/2006/relationships/image" Target="../media/image17.png"/><Relationship Id="rId3" Type="http://schemas.openxmlformats.org/officeDocument/2006/relationships/image" Target="../media/image423.png"/><Relationship Id="rId12" Type="http://schemas.openxmlformats.org/officeDocument/2006/relationships/image" Target="../media/image430.svg"/><Relationship Id="rId17" Type="http://schemas.openxmlformats.org/officeDocument/2006/relationships/image" Target="../media/image123.png"/><Relationship Id="rId25" Type="http://schemas.openxmlformats.org/officeDocument/2006/relationships/image" Target="../media/image439.png"/><Relationship Id="rId33" Type="http://schemas.openxmlformats.org/officeDocument/2006/relationships/image" Target="../media/image447.png"/><Relationship Id="rId38" Type="http://schemas.openxmlformats.org/officeDocument/2006/relationships/image" Target="../media/image452.svg"/><Relationship Id="rId46" Type="http://schemas.openxmlformats.org/officeDocument/2006/relationships/image" Target="../media/image496.svg"/><Relationship Id="rId59" Type="http://schemas.openxmlformats.org/officeDocument/2006/relationships/image" Target="../media/image55.png"/><Relationship Id="rId20" Type="http://schemas.openxmlformats.org/officeDocument/2006/relationships/image" Target="../media/image435.svg"/><Relationship Id="rId41" Type="http://schemas.openxmlformats.org/officeDocument/2006/relationships/image" Target="../media/image479.png"/><Relationship Id="rId54" Type="http://schemas.openxmlformats.org/officeDocument/2006/relationships/image" Target="../media/image46.svg"/><Relationship Id="rId62" Type="http://schemas.openxmlformats.org/officeDocument/2006/relationships/image" Target="../media/image64.svg"/><Relationship Id="rId1" Type="http://schemas.openxmlformats.org/officeDocument/2006/relationships/slideLayout" Target="../slideLayouts/slideLayout2.xml"/><Relationship Id="rId6" Type="http://schemas.openxmlformats.org/officeDocument/2006/relationships/image" Target="../media/image426.svg"/><Relationship Id="rId15" Type="http://schemas.openxmlformats.org/officeDocument/2006/relationships/image" Target="../media/image431.png"/><Relationship Id="rId23" Type="http://schemas.openxmlformats.org/officeDocument/2006/relationships/image" Target="../media/image437.png"/><Relationship Id="rId28" Type="http://schemas.openxmlformats.org/officeDocument/2006/relationships/image" Target="../media/image442.svg"/><Relationship Id="rId36" Type="http://schemas.openxmlformats.org/officeDocument/2006/relationships/image" Target="../media/image450.svg"/><Relationship Id="rId49" Type="http://schemas.openxmlformats.org/officeDocument/2006/relationships/image" Target="../media/image499.png"/><Relationship Id="rId57" Type="http://schemas.openxmlformats.org/officeDocument/2006/relationships/image" Target="../media/image49.png"/><Relationship Id="rId10" Type="http://schemas.openxmlformats.org/officeDocument/2006/relationships/image" Target="../media/image428.svg"/><Relationship Id="rId31" Type="http://schemas.openxmlformats.org/officeDocument/2006/relationships/image" Target="../media/image445.png"/><Relationship Id="rId44" Type="http://schemas.openxmlformats.org/officeDocument/2006/relationships/image" Target="../media/image482.svg"/><Relationship Id="rId52" Type="http://schemas.openxmlformats.org/officeDocument/2006/relationships/image" Target="../media/image18.svg"/><Relationship Id="rId60" Type="http://schemas.openxmlformats.org/officeDocument/2006/relationships/image" Target="../media/image56.svg"/><Relationship Id="rId4" Type="http://schemas.openxmlformats.org/officeDocument/2006/relationships/image" Target="../media/image424.svg"/><Relationship Id="rId9" Type="http://schemas.openxmlformats.org/officeDocument/2006/relationships/image" Target="../media/image427.png"/></Relationships>
</file>

<file path=ppt/slides/_rels/slide262.xml.rels><?xml version="1.0" encoding="UTF-8" standalone="yes"?>
<Relationships xmlns="http://schemas.openxmlformats.org/package/2006/relationships"><Relationship Id="rId13" Type="http://schemas.openxmlformats.org/officeDocument/2006/relationships/image" Target="../media/image885.png"/><Relationship Id="rId18" Type="http://schemas.openxmlformats.org/officeDocument/2006/relationships/image" Target="../media/image888.svg"/><Relationship Id="rId26" Type="http://schemas.openxmlformats.org/officeDocument/2006/relationships/image" Target="../media/image896.svg"/><Relationship Id="rId39" Type="http://schemas.openxmlformats.org/officeDocument/2006/relationships/image" Target="../media/image51.png"/><Relationship Id="rId21" Type="http://schemas.openxmlformats.org/officeDocument/2006/relationships/image" Target="../media/image891.png"/><Relationship Id="rId34" Type="http://schemas.openxmlformats.org/officeDocument/2006/relationships/image" Target="../media/image48.svg"/><Relationship Id="rId7" Type="http://schemas.openxmlformats.org/officeDocument/2006/relationships/image" Target="../media/image879.png"/><Relationship Id="rId12" Type="http://schemas.openxmlformats.org/officeDocument/2006/relationships/image" Target="../media/image884.svg"/><Relationship Id="rId17" Type="http://schemas.openxmlformats.org/officeDocument/2006/relationships/image" Target="../media/image887.png"/><Relationship Id="rId25" Type="http://schemas.openxmlformats.org/officeDocument/2006/relationships/image" Target="../media/image895.png"/><Relationship Id="rId33" Type="http://schemas.openxmlformats.org/officeDocument/2006/relationships/image" Target="../media/image47.png"/><Relationship Id="rId38" Type="http://schemas.openxmlformats.org/officeDocument/2006/relationships/image" Target="../media/image56.svg"/><Relationship Id="rId2" Type="http://schemas.openxmlformats.org/officeDocument/2006/relationships/notesSlide" Target="../notesSlides/notesSlide15.xml"/><Relationship Id="rId16" Type="http://schemas.openxmlformats.org/officeDocument/2006/relationships/image" Target="../media/image852.svg"/><Relationship Id="rId20" Type="http://schemas.openxmlformats.org/officeDocument/2006/relationships/image" Target="../media/image890.svg"/><Relationship Id="rId29" Type="http://schemas.openxmlformats.org/officeDocument/2006/relationships/image" Target="../media/image583.png"/><Relationship Id="rId1" Type="http://schemas.openxmlformats.org/officeDocument/2006/relationships/slideLayout" Target="../slideLayouts/slideLayout2.xml"/><Relationship Id="rId6" Type="http://schemas.openxmlformats.org/officeDocument/2006/relationships/image" Target="../media/image878.svg"/><Relationship Id="rId11" Type="http://schemas.openxmlformats.org/officeDocument/2006/relationships/image" Target="../media/image883.png"/><Relationship Id="rId24" Type="http://schemas.openxmlformats.org/officeDocument/2006/relationships/image" Target="../media/image894.svg"/><Relationship Id="rId32" Type="http://schemas.openxmlformats.org/officeDocument/2006/relationships/image" Target="../media/image586.svg"/><Relationship Id="rId37" Type="http://schemas.openxmlformats.org/officeDocument/2006/relationships/image" Target="../media/image55.png"/><Relationship Id="rId40" Type="http://schemas.openxmlformats.org/officeDocument/2006/relationships/image" Target="../media/image52.svg"/><Relationship Id="rId5" Type="http://schemas.openxmlformats.org/officeDocument/2006/relationships/image" Target="../media/image877.png"/><Relationship Id="rId15" Type="http://schemas.openxmlformats.org/officeDocument/2006/relationships/image" Target="../media/image851.png"/><Relationship Id="rId23" Type="http://schemas.openxmlformats.org/officeDocument/2006/relationships/image" Target="../media/image893.png"/><Relationship Id="rId28" Type="http://schemas.openxmlformats.org/officeDocument/2006/relationships/image" Target="../media/image580.svg"/><Relationship Id="rId36" Type="http://schemas.openxmlformats.org/officeDocument/2006/relationships/image" Target="../media/image50.svg"/><Relationship Id="rId10" Type="http://schemas.openxmlformats.org/officeDocument/2006/relationships/image" Target="../media/image882.svg"/><Relationship Id="rId19" Type="http://schemas.openxmlformats.org/officeDocument/2006/relationships/image" Target="../media/image889.png"/><Relationship Id="rId31" Type="http://schemas.openxmlformats.org/officeDocument/2006/relationships/image" Target="../media/image585.png"/><Relationship Id="rId4" Type="http://schemas.openxmlformats.org/officeDocument/2006/relationships/image" Target="../media/image18.svg"/><Relationship Id="rId9" Type="http://schemas.openxmlformats.org/officeDocument/2006/relationships/image" Target="../media/image881.png"/><Relationship Id="rId14" Type="http://schemas.openxmlformats.org/officeDocument/2006/relationships/image" Target="../media/image886.svg"/><Relationship Id="rId22" Type="http://schemas.openxmlformats.org/officeDocument/2006/relationships/image" Target="../media/image892.svg"/><Relationship Id="rId27" Type="http://schemas.openxmlformats.org/officeDocument/2006/relationships/image" Target="../media/image579.png"/><Relationship Id="rId30" Type="http://schemas.openxmlformats.org/officeDocument/2006/relationships/image" Target="../media/image584.svg"/><Relationship Id="rId35" Type="http://schemas.openxmlformats.org/officeDocument/2006/relationships/image" Target="../media/image49.png"/><Relationship Id="rId8" Type="http://schemas.openxmlformats.org/officeDocument/2006/relationships/image" Target="../media/image880.svg"/><Relationship Id="rId3" Type="http://schemas.openxmlformats.org/officeDocument/2006/relationships/image" Target="../media/image17.png"/></Relationships>
</file>

<file path=ppt/slides/_rels/slide263.xml.rels><?xml version="1.0" encoding="UTF-8" standalone="yes"?>
<Relationships xmlns="http://schemas.openxmlformats.org/package/2006/relationships"><Relationship Id="rId8" Type="http://schemas.openxmlformats.org/officeDocument/2006/relationships/image" Target="../media/image713.png"/><Relationship Id="rId3" Type="http://schemas.openxmlformats.org/officeDocument/2006/relationships/image" Target="../media/image14.svg"/><Relationship Id="rId7" Type="http://schemas.openxmlformats.org/officeDocument/2006/relationships/image" Target="../media/image712.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711.png"/><Relationship Id="rId11" Type="http://schemas.openxmlformats.org/officeDocument/2006/relationships/image" Target="../media/image702.svg"/><Relationship Id="rId5" Type="http://schemas.openxmlformats.org/officeDocument/2006/relationships/image" Target="../media/image710.svg"/><Relationship Id="rId10" Type="http://schemas.openxmlformats.org/officeDocument/2006/relationships/image" Target="../media/image113.png"/><Relationship Id="rId4" Type="http://schemas.openxmlformats.org/officeDocument/2006/relationships/image" Target="../media/image709.png"/><Relationship Id="rId9" Type="http://schemas.openxmlformats.org/officeDocument/2006/relationships/image" Target="../media/image714.svg"/></Relationships>
</file>

<file path=ppt/slides/_rels/slide264.xml.rels><?xml version="1.0" encoding="UTF-8" standalone="yes"?>
<Relationships xmlns="http://schemas.openxmlformats.org/package/2006/relationships"><Relationship Id="rId3" Type="http://schemas.openxmlformats.org/officeDocument/2006/relationships/image" Target="../media/image200.svg"/><Relationship Id="rId2" Type="http://schemas.openxmlformats.org/officeDocument/2006/relationships/image" Target="../media/image199.png"/><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3.svg"/><Relationship Id="rId7" Type="http://schemas.openxmlformats.org/officeDocument/2006/relationships/image" Target="../media/image7.svg"/><Relationship Id="rId2" Type="http://schemas.openxmlformats.org/officeDocument/2006/relationships/image" Target="../media/image2.png"/><Relationship Id="rId1" Type="http://schemas.openxmlformats.org/officeDocument/2006/relationships/slideLayout" Target="../slideLayouts/slideLayout2.xml"/><Relationship Id="rId6" Type="http://schemas.openxmlformats.org/officeDocument/2006/relationships/image" Target="../media/image6.png"/><Relationship Id="rId5" Type="http://schemas.openxmlformats.org/officeDocument/2006/relationships/image" Target="../media/image5.svg"/><Relationship Id="rId4" Type="http://schemas.openxmlformats.org/officeDocument/2006/relationships/image" Target="../media/image4.png"/><Relationship Id="rId9" Type="http://schemas.openxmlformats.org/officeDocument/2006/relationships/image" Target="../media/image9.svg"/></Relationships>
</file>

<file path=ppt/slides/_rels/slide266.xml.rels><?xml version="1.0" encoding="UTF-8" standalone="yes"?>
<Relationships xmlns="http://schemas.openxmlformats.org/package/2006/relationships"><Relationship Id="rId8" Type="http://schemas.openxmlformats.org/officeDocument/2006/relationships/image" Target="../media/image903.png"/><Relationship Id="rId3" Type="http://schemas.openxmlformats.org/officeDocument/2006/relationships/image" Target="../media/image898.svg"/><Relationship Id="rId7" Type="http://schemas.openxmlformats.org/officeDocument/2006/relationships/image" Target="../media/image902.svg"/><Relationship Id="rId2" Type="http://schemas.openxmlformats.org/officeDocument/2006/relationships/image" Target="../media/image897.png"/><Relationship Id="rId1" Type="http://schemas.openxmlformats.org/officeDocument/2006/relationships/slideLayout" Target="../slideLayouts/slideLayout2.xml"/><Relationship Id="rId6" Type="http://schemas.openxmlformats.org/officeDocument/2006/relationships/image" Target="../media/image901.png"/><Relationship Id="rId5" Type="http://schemas.openxmlformats.org/officeDocument/2006/relationships/image" Target="../media/image900.svg"/><Relationship Id="rId4" Type="http://schemas.openxmlformats.org/officeDocument/2006/relationships/image" Target="../media/image899.png"/><Relationship Id="rId9" Type="http://schemas.openxmlformats.org/officeDocument/2006/relationships/image" Target="../media/image904.svg"/></Relationships>
</file>

<file path=ppt/slides/_rels/slide267.xml.rels><?xml version="1.0" encoding="UTF-8" standalone="yes"?>
<Relationships xmlns="http://schemas.openxmlformats.org/package/2006/relationships"><Relationship Id="rId8" Type="http://schemas.openxmlformats.org/officeDocument/2006/relationships/image" Target="../media/image418.png"/><Relationship Id="rId3" Type="http://schemas.openxmlformats.org/officeDocument/2006/relationships/image" Target="../media/image906.svg"/><Relationship Id="rId7" Type="http://schemas.openxmlformats.org/officeDocument/2006/relationships/image" Target="../media/image910.svg"/><Relationship Id="rId2" Type="http://schemas.openxmlformats.org/officeDocument/2006/relationships/image" Target="../media/image905.png"/><Relationship Id="rId1" Type="http://schemas.openxmlformats.org/officeDocument/2006/relationships/slideLayout" Target="../slideLayouts/slideLayout2.xml"/><Relationship Id="rId6" Type="http://schemas.openxmlformats.org/officeDocument/2006/relationships/image" Target="../media/image909.png"/><Relationship Id="rId5" Type="http://schemas.openxmlformats.org/officeDocument/2006/relationships/image" Target="../media/image908.svg"/><Relationship Id="rId10" Type="http://schemas.openxmlformats.org/officeDocument/2006/relationships/image" Target="../media/image420.png"/><Relationship Id="rId4" Type="http://schemas.openxmlformats.org/officeDocument/2006/relationships/image" Target="../media/image907.png"/><Relationship Id="rId9" Type="http://schemas.microsoft.com/office/2007/relationships/hdphoto" Target="../media/hdphoto1.wdp"/></Relationships>
</file>

<file path=ppt/slides/_rels/slide26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20.png"/><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8" Type="http://schemas.openxmlformats.org/officeDocument/2006/relationships/image" Target="../media/image911.png"/><Relationship Id="rId13" Type="http://schemas.openxmlformats.org/officeDocument/2006/relationships/image" Target="../media/image14.svg"/><Relationship Id="rId3" Type="http://schemas.openxmlformats.org/officeDocument/2006/relationships/image" Target="../media/image846.svg"/><Relationship Id="rId7" Type="http://schemas.openxmlformats.org/officeDocument/2006/relationships/image" Target="../media/image850.svg"/><Relationship Id="rId12" Type="http://schemas.openxmlformats.org/officeDocument/2006/relationships/image" Target="../media/image13.png"/><Relationship Id="rId2" Type="http://schemas.openxmlformats.org/officeDocument/2006/relationships/image" Target="../media/image845.png"/><Relationship Id="rId1" Type="http://schemas.openxmlformats.org/officeDocument/2006/relationships/slideLayout" Target="../slideLayouts/slideLayout2.xml"/><Relationship Id="rId6" Type="http://schemas.openxmlformats.org/officeDocument/2006/relationships/image" Target="../media/image849.png"/><Relationship Id="rId11" Type="http://schemas.openxmlformats.org/officeDocument/2006/relationships/image" Target="../media/image914.svg"/><Relationship Id="rId5" Type="http://schemas.openxmlformats.org/officeDocument/2006/relationships/image" Target="../media/image848.svg"/><Relationship Id="rId15" Type="http://schemas.openxmlformats.org/officeDocument/2006/relationships/image" Target="../media/image916.svg"/><Relationship Id="rId10" Type="http://schemas.openxmlformats.org/officeDocument/2006/relationships/image" Target="../media/image913.png"/><Relationship Id="rId4" Type="http://schemas.openxmlformats.org/officeDocument/2006/relationships/image" Target="../media/image847.png"/><Relationship Id="rId9" Type="http://schemas.openxmlformats.org/officeDocument/2006/relationships/image" Target="../media/image912.svg"/><Relationship Id="rId14" Type="http://schemas.openxmlformats.org/officeDocument/2006/relationships/image" Target="../media/image915.png"/></Relationships>
</file>

<file path=ppt/slides/_rels/slide270.xml.rels><?xml version="1.0" encoding="UTF-8" standalone="yes"?>
<Relationships xmlns="http://schemas.openxmlformats.org/package/2006/relationships"><Relationship Id="rId8" Type="http://schemas.openxmlformats.org/officeDocument/2006/relationships/image" Target="../media/image921.png"/><Relationship Id="rId13" Type="http://schemas.openxmlformats.org/officeDocument/2006/relationships/image" Target="../media/image926.svg"/><Relationship Id="rId18" Type="http://schemas.openxmlformats.org/officeDocument/2006/relationships/image" Target="../media/image931.png"/><Relationship Id="rId3" Type="http://schemas.openxmlformats.org/officeDocument/2006/relationships/image" Target="../media/image14.svg"/><Relationship Id="rId7" Type="http://schemas.openxmlformats.org/officeDocument/2006/relationships/image" Target="../media/image920.svg"/><Relationship Id="rId12" Type="http://schemas.openxmlformats.org/officeDocument/2006/relationships/image" Target="../media/image925.png"/><Relationship Id="rId17" Type="http://schemas.openxmlformats.org/officeDocument/2006/relationships/image" Target="../media/image930.svg"/><Relationship Id="rId2" Type="http://schemas.openxmlformats.org/officeDocument/2006/relationships/image" Target="../media/image13.png"/><Relationship Id="rId16" Type="http://schemas.openxmlformats.org/officeDocument/2006/relationships/image" Target="../media/image929.png"/><Relationship Id="rId1" Type="http://schemas.openxmlformats.org/officeDocument/2006/relationships/slideLayout" Target="../slideLayouts/slideLayout2.xml"/><Relationship Id="rId6" Type="http://schemas.openxmlformats.org/officeDocument/2006/relationships/image" Target="../media/image919.png"/><Relationship Id="rId11" Type="http://schemas.openxmlformats.org/officeDocument/2006/relationships/image" Target="../media/image924.svg"/><Relationship Id="rId5" Type="http://schemas.openxmlformats.org/officeDocument/2006/relationships/image" Target="../media/image918.svg"/><Relationship Id="rId15" Type="http://schemas.openxmlformats.org/officeDocument/2006/relationships/image" Target="../media/image928.svg"/><Relationship Id="rId10" Type="http://schemas.openxmlformats.org/officeDocument/2006/relationships/image" Target="../media/image923.png"/><Relationship Id="rId19" Type="http://schemas.openxmlformats.org/officeDocument/2006/relationships/image" Target="../media/image932.svg"/><Relationship Id="rId4" Type="http://schemas.openxmlformats.org/officeDocument/2006/relationships/image" Target="../media/image917.png"/><Relationship Id="rId9" Type="http://schemas.openxmlformats.org/officeDocument/2006/relationships/image" Target="../media/image922.svg"/><Relationship Id="rId14" Type="http://schemas.openxmlformats.org/officeDocument/2006/relationships/image" Target="../media/image927.png"/></Relationships>
</file>

<file path=ppt/slides/_rels/slide27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20.png"/><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8" Type="http://schemas.openxmlformats.org/officeDocument/2006/relationships/image" Target="../media/image934.svg"/><Relationship Id="rId13" Type="http://schemas.openxmlformats.org/officeDocument/2006/relationships/image" Target="../media/image370.png"/><Relationship Id="rId18" Type="http://schemas.openxmlformats.org/officeDocument/2006/relationships/image" Target="../media/image375.svg"/><Relationship Id="rId26" Type="http://schemas.openxmlformats.org/officeDocument/2006/relationships/image" Target="../media/image541.svg"/><Relationship Id="rId3" Type="http://schemas.openxmlformats.org/officeDocument/2006/relationships/image" Target="../media/image13.png"/><Relationship Id="rId21" Type="http://schemas.openxmlformats.org/officeDocument/2006/relationships/image" Target="../media/image935.png"/><Relationship Id="rId7" Type="http://schemas.openxmlformats.org/officeDocument/2006/relationships/image" Target="../media/image933.png"/><Relationship Id="rId12" Type="http://schemas.openxmlformats.org/officeDocument/2006/relationships/image" Target="../media/image482.svg"/><Relationship Id="rId17" Type="http://schemas.openxmlformats.org/officeDocument/2006/relationships/image" Target="../media/image374.png"/><Relationship Id="rId25" Type="http://schemas.openxmlformats.org/officeDocument/2006/relationships/image" Target="../media/image540.png"/><Relationship Id="rId2" Type="http://schemas.openxmlformats.org/officeDocument/2006/relationships/notesSlide" Target="../notesSlides/notesSlide16.xml"/><Relationship Id="rId16" Type="http://schemas.openxmlformats.org/officeDocument/2006/relationships/image" Target="../media/image373.svg"/><Relationship Id="rId20" Type="http://schemas.openxmlformats.org/officeDocument/2006/relationships/image" Target="../media/image377.svg"/><Relationship Id="rId29" Type="http://schemas.openxmlformats.org/officeDocument/2006/relationships/image" Target="../media/image939.png"/><Relationship Id="rId1" Type="http://schemas.openxmlformats.org/officeDocument/2006/relationships/slideLayout" Target="../slideLayouts/slideLayout2.xml"/><Relationship Id="rId6" Type="http://schemas.openxmlformats.org/officeDocument/2006/relationships/image" Target="../media/image578.svg"/><Relationship Id="rId11" Type="http://schemas.openxmlformats.org/officeDocument/2006/relationships/image" Target="../media/image481.png"/><Relationship Id="rId24" Type="http://schemas.openxmlformats.org/officeDocument/2006/relationships/image" Target="../media/image638.svg"/><Relationship Id="rId5" Type="http://schemas.openxmlformats.org/officeDocument/2006/relationships/image" Target="../media/image577.png"/><Relationship Id="rId15" Type="http://schemas.openxmlformats.org/officeDocument/2006/relationships/image" Target="../media/image372.png"/><Relationship Id="rId23" Type="http://schemas.openxmlformats.org/officeDocument/2006/relationships/image" Target="../media/image637.png"/><Relationship Id="rId28" Type="http://schemas.openxmlformats.org/officeDocument/2006/relationships/image" Target="../media/image938.svg"/><Relationship Id="rId10" Type="http://schemas.openxmlformats.org/officeDocument/2006/relationships/image" Target="../media/image18.svg"/><Relationship Id="rId19" Type="http://schemas.openxmlformats.org/officeDocument/2006/relationships/image" Target="../media/image376.png"/><Relationship Id="rId4" Type="http://schemas.openxmlformats.org/officeDocument/2006/relationships/image" Target="../media/image14.svg"/><Relationship Id="rId9" Type="http://schemas.openxmlformats.org/officeDocument/2006/relationships/image" Target="../media/image17.png"/><Relationship Id="rId14" Type="http://schemas.openxmlformats.org/officeDocument/2006/relationships/image" Target="../media/image371.svg"/><Relationship Id="rId22" Type="http://schemas.openxmlformats.org/officeDocument/2006/relationships/image" Target="../media/image936.svg"/><Relationship Id="rId27" Type="http://schemas.openxmlformats.org/officeDocument/2006/relationships/image" Target="../media/image937.png"/><Relationship Id="rId30" Type="http://schemas.openxmlformats.org/officeDocument/2006/relationships/image" Target="../media/image940.svg"/></Relationships>
</file>

<file path=ppt/slides/_rels/slide273.xml.rels><?xml version="1.0" encoding="UTF-8" standalone="yes"?>
<Relationships xmlns="http://schemas.openxmlformats.org/package/2006/relationships"><Relationship Id="rId3" Type="http://schemas.openxmlformats.org/officeDocument/2006/relationships/image" Target="../media/image436.svg"/><Relationship Id="rId2" Type="http://schemas.openxmlformats.org/officeDocument/2006/relationships/image" Target="../media/image209.png"/><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3" Type="http://schemas.openxmlformats.org/officeDocument/2006/relationships/hyperlink" Target="https://www.nngroup.com/articles/prioritization-methods/" TargetMode="External"/><Relationship Id="rId2" Type="http://schemas.openxmlformats.org/officeDocument/2006/relationships/hyperlink" Target="https://foldingburritos.com/blog/product-prioritization-techniques" TargetMode="Externa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3" Type="http://schemas.openxmlformats.org/officeDocument/2006/relationships/image" Target="../media/image14.svg"/><Relationship Id="rId7" Type="http://schemas.openxmlformats.org/officeDocument/2006/relationships/image" Target="../media/image411.svg"/><Relationship Id="rId2" Type="http://schemas.openxmlformats.org/officeDocument/2006/relationships/image" Target="../media/image13.png"/><Relationship Id="rId1" Type="http://schemas.openxmlformats.org/officeDocument/2006/relationships/slideLayout" Target="../slideLayouts/slideLayout2.xml"/><Relationship Id="rId6" Type="http://schemas.openxmlformats.org/officeDocument/2006/relationships/image" Target="../media/image410.png"/><Relationship Id="rId5" Type="http://schemas.openxmlformats.org/officeDocument/2006/relationships/image" Target="../media/image18.svg"/><Relationship Id="rId4" Type="http://schemas.openxmlformats.org/officeDocument/2006/relationships/image" Target="../media/image17.png"/></Relationships>
</file>

<file path=ppt/slides/_rels/slide276.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image" Target="../media/image320.svg"/><Relationship Id="rId7" Type="http://schemas.openxmlformats.org/officeDocument/2006/relationships/image" Target="../media/image14.svg"/><Relationship Id="rId2" Type="http://schemas.openxmlformats.org/officeDocument/2006/relationships/image" Target="../media/image319.png"/><Relationship Id="rId1" Type="http://schemas.openxmlformats.org/officeDocument/2006/relationships/slideLayout" Target="../slideLayouts/slideLayout2.xml"/><Relationship Id="rId6" Type="http://schemas.openxmlformats.org/officeDocument/2006/relationships/image" Target="../media/image13.png"/><Relationship Id="rId5" Type="http://schemas.openxmlformats.org/officeDocument/2006/relationships/image" Target="../media/image322.svg"/><Relationship Id="rId4" Type="http://schemas.openxmlformats.org/officeDocument/2006/relationships/image" Target="../media/image321.png"/><Relationship Id="rId9" Type="http://schemas.openxmlformats.org/officeDocument/2006/relationships/image" Target="../media/image18.sv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8" Type="http://schemas.openxmlformats.org/officeDocument/2006/relationships/image" Target="../media/image402.svg"/><Relationship Id="rId3" Type="http://schemas.openxmlformats.org/officeDocument/2006/relationships/image" Target="../media/image398.svg"/><Relationship Id="rId7" Type="http://schemas.openxmlformats.org/officeDocument/2006/relationships/image" Target="../media/image401.png"/><Relationship Id="rId2" Type="http://schemas.openxmlformats.org/officeDocument/2006/relationships/image" Target="../media/image397.png"/><Relationship Id="rId1" Type="http://schemas.openxmlformats.org/officeDocument/2006/relationships/slideLayout" Target="../slideLayouts/slideLayout2.xml"/><Relationship Id="rId6" Type="http://schemas.openxmlformats.org/officeDocument/2006/relationships/image" Target="../media/image400.svg"/><Relationship Id="rId5" Type="http://schemas.openxmlformats.org/officeDocument/2006/relationships/image" Target="../media/image399.png"/><Relationship Id="rId10" Type="http://schemas.openxmlformats.org/officeDocument/2006/relationships/image" Target="../media/image18.svg"/><Relationship Id="rId4" Type="http://schemas.openxmlformats.org/officeDocument/2006/relationships/image" Target="../media/image403.svg"/><Relationship Id="rId9" Type="http://schemas.openxmlformats.org/officeDocument/2006/relationships/image" Target="../media/image17.png"/></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8" Type="http://schemas.openxmlformats.org/officeDocument/2006/relationships/image" Target="../media/image169.png"/><Relationship Id="rId13" Type="http://schemas.openxmlformats.org/officeDocument/2006/relationships/image" Target="../media/image942.svg"/><Relationship Id="rId18" Type="http://schemas.openxmlformats.org/officeDocument/2006/relationships/image" Target="../media/image945.svg"/><Relationship Id="rId3" Type="http://schemas.openxmlformats.org/officeDocument/2006/relationships/image" Target="../media/image14.svg"/><Relationship Id="rId21" Type="http://schemas.openxmlformats.org/officeDocument/2006/relationships/image" Target="../media/image3.svg"/><Relationship Id="rId7" Type="http://schemas.openxmlformats.org/officeDocument/2006/relationships/image" Target="../media/image164.svg"/><Relationship Id="rId12" Type="http://schemas.openxmlformats.org/officeDocument/2006/relationships/image" Target="../media/image270.png"/><Relationship Id="rId17" Type="http://schemas.openxmlformats.org/officeDocument/2006/relationships/image" Target="../media/image944.svg"/><Relationship Id="rId2" Type="http://schemas.openxmlformats.org/officeDocument/2006/relationships/image" Target="../media/image13.png"/><Relationship Id="rId16" Type="http://schemas.openxmlformats.org/officeDocument/2006/relationships/image" Target="../media/image274.png"/><Relationship Id="rId20" Type="http://schemas.openxmlformats.org/officeDocument/2006/relationships/image" Target="../media/image946.svg"/><Relationship Id="rId1" Type="http://schemas.openxmlformats.org/officeDocument/2006/relationships/slideLayout" Target="../slideLayouts/slideLayout2.xml"/><Relationship Id="rId6" Type="http://schemas.openxmlformats.org/officeDocument/2006/relationships/image" Target="../media/image163.png"/><Relationship Id="rId11" Type="http://schemas.openxmlformats.org/officeDocument/2006/relationships/image" Target="../media/image941.svg"/><Relationship Id="rId5" Type="http://schemas.openxmlformats.org/officeDocument/2006/relationships/image" Target="../media/image18.svg"/><Relationship Id="rId15" Type="http://schemas.openxmlformats.org/officeDocument/2006/relationships/image" Target="../media/image943.svg"/><Relationship Id="rId23" Type="http://schemas.openxmlformats.org/officeDocument/2006/relationships/image" Target="../media/image948.svg"/><Relationship Id="rId10" Type="http://schemas.openxmlformats.org/officeDocument/2006/relationships/image" Target="../media/image268.png"/><Relationship Id="rId19" Type="http://schemas.openxmlformats.org/officeDocument/2006/relationships/image" Target="../media/image2.png"/><Relationship Id="rId4" Type="http://schemas.openxmlformats.org/officeDocument/2006/relationships/image" Target="../media/image17.png"/><Relationship Id="rId9" Type="http://schemas.openxmlformats.org/officeDocument/2006/relationships/image" Target="../media/image170.svg"/><Relationship Id="rId14" Type="http://schemas.openxmlformats.org/officeDocument/2006/relationships/image" Target="../media/image272.png"/><Relationship Id="rId22" Type="http://schemas.openxmlformats.org/officeDocument/2006/relationships/image" Target="../media/image947.png"/></Relationships>
</file>

<file path=ppt/slides/_rels/slide282.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73.png"/><Relationship Id="rId18" Type="http://schemas.openxmlformats.org/officeDocument/2006/relationships/image" Target="../media/image170.svg"/><Relationship Id="rId3" Type="http://schemas.openxmlformats.org/officeDocument/2006/relationships/image" Target="../media/image14.svg"/><Relationship Id="rId7" Type="http://schemas.openxmlformats.org/officeDocument/2006/relationships/image" Target="../media/image946.svg"/><Relationship Id="rId12" Type="http://schemas.openxmlformats.org/officeDocument/2006/relationships/image" Target="../media/image949.svg"/><Relationship Id="rId17" Type="http://schemas.openxmlformats.org/officeDocument/2006/relationships/image" Target="../media/image169.png"/><Relationship Id="rId2" Type="http://schemas.openxmlformats.org/officeDocument/2006/relationships/image" Target="../media/image13.png"/><Relationship Id="rId16" Type="http://schemas.openxmlformats.org/officeDocument/2006/relationships/image" Target="../media/image164.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799.png"/><Relationship Id="rId5" Type="http://schemas.openxmlformats.org/officeDocument/2006/relationships/image" Target="../media/image18.svg"/><Relationship Id="rId15" Type="http://schemas.openxmlformats.org/officeDocument/2006/relationships/image" Target="../media/image163.png"/><Relationship Id="rId10" Type="http://schemas.openxmlformats.org/officeDocument/2006/relationships/image" Target="../media/image948.sv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74.svg"/></Relationships>
</file>

<file path=ppt/slides/_rels/slide283.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61.png"/><Relationship Id="rId18" Type="http://schemas.openxmlformats.org/officeDocument/2006/relationships/image" Target="../media/image204.svg"/><Relationship Id="rId26" Type="http://schemas.openxmlformats.org/officeDocument/2006/relationships/image" Target="../media/image212.svg"/><Relationship Id="rId3" Type="http://schemas.openxmlformats.org/officeDocument/2006/relationships/image" Target="../media/image14.svg"/><Relationship Id="rId21" Type="http://schemas.openxmlformats.org/officeDocument/2006/relationships/image" Target="../media/image207.png"/><Relationship Id="rId7" Type="http://schemas.openxmlformats.org/officeDocument/2006/relationships/image" Target="../media/image946.svg"/><Relationship Id="rId12" Type="http://schemas.openxmlformats.org/officeDocument/2006/relationships/image" Target="../media/image154.svg"/><Relationship Id="rId17" Type="http://schemas.openxmlformats.org/officeDocument/2006/relationships/image" Target="../media/image203.png"/><Relationship Id="rId25" Type="http://schemas.openxmlformats.org/officeDocument/2006/relationships/image" Target="../media/image211.png"/><Relationship Id="rId2" Type="http://schemas.openxmlformats.org/officeDocument/2006/relationships/image" Target="../media/image13.png"/><Relationship Id="rId16" Type="http://schemas.openxmlformats.org/officeDocument/2006/relationships/image" Target="../media/image164.svg"/><Relationship Id="rId20" Type="http://schemas.openxmlformats.org/officeDocument/2006/relationships/image" Target="../media/image206.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53.png"/><Relationship Id="rId24" Type="http://schemas.openxmlformats.org/officeDocument/2006/relationships/image" Target="../media/image210.svg"/><Relationship Id="rId5" Type="http://schemas.openxmlformats.org/officeDocument/2006/relationships/image" Target="../media/image18.svg"/><Relationship Id="rId15" Type="http://schemas.openxmlformats.org/officeDocument/2006/relationships/image" Target="../media/image163.png"/><Relationship Id="rId23" Type="http://schemas.openxmlformats.org/officeDocument/2006/relationships/image" Target="../media/image209.png"/><Relationship Id="rId28" Type="http://schemas.openxmlformats.org/officeDocument/2006/relationships/image" Target="../media/image214.svg"/><Relationship Id="rId10" Type="http://schemas.openxmlformats.org/officeDocument/2006/relationships/image" Target="../media/image948.svg"/><Relationship Id="rId19" Type="http://schemas.openxmlformats.org/officeDocument/2006/relationships/image" Target="../media/image205.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62.svg"/><Relationship Id="rId22" Type="http://schemas.openxmlformats.org/officeDocument/2006/relationships/image" Target="../media/image208.svg"/><Relationship Id="rId27" Type="http://schemas.openxmlformats.org/officeDocument/2006/relationships/image" Target="../media/image213.png"/></Relationships>
</file>

<file path=ppt/slides/_rels/slide284.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45.png"/><Relationship Id="rId18" Type="http://schemas.openxmlformats.org/officeDocument/2006/relationships/image" Target="../media/image956.svg"/><Relationship Id="rId26" Type="http://schemas.openxmlformats.org/officeDocument/2006/relationships/image" Target="../media/image963.svg"/><Relationship Id="rId3" Type="http://schemas.openxmlformats.org/officeDocument/2006/relationships/image" Target="../media/image14.svg"/><Relationship Id="rId21" Type="http://schemas.openxmlformats.org/officeDocument/2006/relationships/image" Target="../media/image959.png"/><Relationship Id="rId7" Type="http://schemas.openxmlformats.org/officeDocument/2006/relationships/image" Target="../media/image946.svg"/><Relationship Id="rId12" Type="http://schemas.openxmlformats.org/officeDocument/2006/relationships/image" Target="../media/image951.svg"/><Relationship Id="rId17" Type="http://schemas.openxmlformats.org/officeDocument/2006/relationships/image" Target="../media/image955.png"/><Relationship Id="rId25" Type="http://schemas.openxmlformats.org/officeDocument/2006/relationships/image" Target="../media/image962.png"/><Relationship Id="rId2" Type="http://schemas.openxmlformats.org/officeDocument/2006/relationships/image" Target="../media/image13.png"/><Relationship Id="rId16" Type="http://schemas.openxmlformats.org/officeDocument/2006/relationships/image" Target="../media/image954.svg"/><Relationship Id="rId20" Type="http://schemas.openxmlformats.org/officeDocument/2006/relationships/image" Target="../media/image958.svg"/><Relationship Id="rId29" Type="http://schemas.openxmlformats.org/officeDocument/2006/relationships/image" Target="../media/image157.pn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950.png"/><Relationship Id="rId24" Type="http://schemas.openxmlformats.org/officeDocument/2006/relationships/image" Target="../media/image961.svg"/><Relationship Id="rId32" Type="http://schemas.openxmlformats.org/officeDocument/2006/relationships/image" Target="../media/image160.svg"/><Relationship Id="rId5" Type="http://schemas.openxmlformats.org/officeDocument/2006/relationships/image" Target="../media/image18.svg"/><Relationship Id="rId15" Type="http://schemas.openxmlformats.org/officeDocument/2006/relationships/image" Target="../media/image953.png"/><Relationship Id="rId23" Type="http://schemas.openxmlformats.org/officeDocument/2006/relationships/image" Target="../media/image801.png"/><Relationship Id="rId28" Type="http://schemas.openxmlformats.org/officeDocument/2006/relationships/image" Target="../media/image965.svg"/><Relationship Id="rId10" Type="http://schemas.openxmlformats.org/officeDocument/2006/relationships/image" Target="../media/image948.svg"/><Relationship Id="rId19" Type="http://schemas.openxmlformats.org/officeDocument/2006/relationships/image" Target="../media/image957.png"/><Relationship Id="rId31" Type="http://schemas.openxmlformats.org/officeDocument/2006/relationships/image" Target="../media/image159.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952.svg"/><Relationship Id="rId22" Type="http://schemas.openxmlformats.org/officeDocument/2006/relationships/image" Target="../media/image960.svg"/><Relationship Id="rId27" Type="http://schemas.openxmlformats.org/officeDocument/2006/relationships/image" Target="../media/image964.png"/><Relationship Id="rId30" Type="http://schemas.openxmlformats.org/officeDocument/2006/relationships/image" Target="../media/image158.svg"/></Relationships>
</file>

<file path=ppt/slides/_rels/slide285.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966.png"/><Relationship Id="rId18" Type="http://schemas.openxmlformats.org/officeDocument/2006/relationships/image" Target="../media/image971.svg"/><Relationship Id="rId26" Type="http://schemas.openxmlformats.org/officeDocument/2006/relationships/image" Target="../media/image162.svg"/><Relationship Id="rId3" Type="http://schemas.openxmlformats.org/officeDocument/2006/relationships/image" Target="../media/image14.svg"/><Relationship Id="rId21" Type="http://schemas.openxmlformats.org/officeDocument/2006/relationships/image" Target="../media/image45.png"/><Relationship Id="rId7" Type="http://schemas.openxmlformats.org/officeDocument/2006/relationships/image" Target="../media/image946.svg"/><Relationship Id="rId12" Type="http://schemas.openxmlformats.org/officeDocument/2006/relationships/image" Target="../media/image160.svg"/><Relationship Id="rId17" Type="http://schemas.openxmlformats.org/officeDocument/2006/relationships/image" Target="../media/image970.png"/><Relationship Id="rId25" Type="http://schemas.openxmlformats.org/officeDocument/2006/relationships/image" Target="../media/image161.png"/><Relationship Id="rId2" Type="http://schemas.openxmlformats.org/officeDocument/2006/relationships/image" Target="../media/image13.png"/><Relationship Id="rId16" Type="http://schemas.openxmlformats.org/officeDocument/2006/relationships/image" Target="../media/image969.svg"/><Relationship Id="rId20" Type="http://schemas.openxmlformats.org/officeDocument/2006/relationships/image" Target="../media/image973.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59.png"/><Relationship Id="rId24" Type="http://schemas.openxmlformats.org/officeDocument/2006/relationships/image" Target="../media/image154.svg"/><Relationship Id="rId5" Type="http://schemas.openxmlformats.org/officeDocument/2006/relationships/image" Target="../media/image18.svg"/><Relationship Id="rId15" Type="http://schemas.openxmlformats.org/officeDocument/2006/relationships/image" Target="../media/image968.png"/><Relationship Id="rId23" Type="http://schemas.openxmlformats.org/officeDocument/2006/relationships/image" Target="../media/image153.png"/><Relationship Id="rId10" Type="http://schemas.openxmlformats.org/officeDocument/2006/relationships/image" Target="../media/image948.svg"/><Relationship Id="rId19" Type="http://schemas.openxmlformats.org/officeDocument/2006/relationships/image" Target="../media/image972.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967.svg"/><Relationship Id="rId22" Type="http://schemas.openxmlformats.org/officeDocument/2006/relationships/image" Target="../media/image952.svg"/></Relationships>
</file>

<file path=ppt/slides/_rels/slide286.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69.png"/><Relationship Id="rId18" Type="http://schemas.openxmlformats.org/officeDocument/2006/relationships/image" Target="../media/image975.svg"/><Relationship Id="rId3" Type="http://schemas.openxmlformats.org/officeDocument/2006/relationships/image" Target="../media/image14.svg"/><Relationship Id="rId21" Type="http://schemas.openxmlformats.org/officeDocument/2006/relationships/image" Target="../media/image239.png"/><Relationship Id="rId7" Type="http://schemas.openxmlformats.org/officeDocument/2006/relationships/image" Target="../media/image946.svg"/><Relationship Id="rId12" Type="http://schemas.openxmlformats.org/officeDocument/2006/relationships/image" Target="../media/image160.svg"/><Relationship Id="rId17" Type="http://schemas.openxmlformats.org/officeDocument/2006/relationships/image" Target="../media/image974.png"/><Relationship Id="rId2" Type="http://schemas.openxmlformats.org/officeDocument/2006/relationships/image" Target="../media/image13.png"/><Relationship Id="rId16" Type="http://schemas.openxmlformats.org/officeDocument/2006/relationships/image" Target="../media/image164.svg"/><Relationship Id="rId20" Type="http://schemas.openxmlformats.org/officeDocument/2006/relationships/image" Target="../media/image977.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59.png"/><Relationship Id="rId24" Type="http://schemas.openxmlformats.org/officeDocument/2006/relationships/image" Target="../media/image980.svg"/><Relationship Id="rId5" Type="http://schemas.openxmlformats.org/officeDocument/2006/relationships/image" Target="../media/image18.svg"/><Relationship Id="rId15" Type="http://schemas.openxmlformats.org/officeDocument/2006/relationships/image" Target="../media/image163.png"/><Relationship Id="rId23" Type="http://schemas.openxmlformats.org/officeDocument/2006/relationships/image" Target="../media/image979.png"/><Relationship Id="rId10" Type="http://schemas.openxmlformats.org/officeDocument/2006/relationships/image" Target="../media/image948.svg"/><Relationship Id="rId19" Type="http://schemas.openxmlformats.org/officeDocument/2006/relationships/image" Target="../media/image976.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70.svg"/><Relationship Id="rId22" Type="http://schemas.openxmlformats.org/officeDocument/2006/relationships/image" Target="../media/image978.svg"/></Relationships>
</file>

<file path=ppt/slides/_rels/slide287.xml.rels><?xml version="1.0" encoding="UTF-8" standalone="yes"?>
<Relationships xmlns="http://schemas.openxmlformats.org/package/2006/relationships"><Relationship Id="rId13" Type="http://schemas.openxmlformats.org/officeDocument/2006/relationships/image" Target="../media/image983.png"/><Relationship Id="rId18" Type="http://schemas.openxmlformats.org/officeDocument/2006/relationships/image" Target="../media/image986.svg"/><Relationship Id="rId26" Type="http://schemas.openxmlformats.org/officeDocument/2006/relationships/image" Target="../media/image969.svg"/><Relationship Id="rId39" Type="http://schemas.openxmlformats.org/officeDocument/2006/relationships/image" Target="../media/image153.png"/><Relationship Id="rId21" Type="http://schemas.openxmlformats.org/officeDocument/2006/relationships/image" Target="../media/image254.png"/><Relationship Id="rId34" Type="http://schemas.openxmlformats.org/officeDocument/2006/relationships/image" Target="../media/image162.svg"/><Relationship Id="rId7" Type="http://schemas.openxmlformats.org/officeDocument/2006/relationships/image" Target="../media/image946.svg"/><Relationship Id="rId12" Type="http://schemas.openxmlformats.org/officeDocument/2006/relationships/image" Target="../media/image982.svg"/><Relationship Id="rId17" Type="http://schemas.openxmlformats.org/officeDocument/2006/relationships/image" Target="../media/image985.png"/><Relationship Id="rId25" Type="http://schemas.openxmlformats.org/officeDocument/2006/relationships/image" Target="../media/image968.png"/><Relationship Id="rId33" Type="http://schemas.openxmlformats.org/officeDocument/2006/relationships/image" Target="../media/image161.png"/><Relationship Id="rId38" Type="http://schemas.openxmlformats.org/officeDocument/2006/relationships/image" Target="../media/image164.svg"/><Relationship Id="rId2" Type="http://schemas.openxmlformats.org/officeDocument/2006/relationships/image" Target="../media/image13.png"/><Relationship Id="rId16" Type="http://schemas.openxmlformats.org/officeDocument/2006/relationships/image" Target="../media/image247.svg"/><Relationship Id="rId20" Type="http://schemas.openxmlformats.org/officeDocument/2006/relationships/image" Target="../media/image988.svg"/><Relationship Id="rId29" Type="http://schemas.openxmlformats.org/officeDocument/2006/relationships/image" Target="../media/image972.pn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981.png"/><Relationship Id="rId24" Type="http://schemas.openxmlformats.org/officeDocument/2006/relationships/image" Target="../media/image967.svg"/><Relationship Id="rId32" Type="http://schemas.openxmlformats.org/officeDocument/2006/relationships/image" Target="../media/image952.svg"/><Relationship Id="rId37" Type="http://schemas.openxmlformats.org/officeDocument/2006/relationships/image" Target="../media/image163.png"/><Relationship Id="rId40" Type="http://schemas.openxmlformats.org/officeDocument/2006/relationships/image" Target="../media/image154.svg"/><Relationship Id="rId5" Type="http://schemas.openxmlformats.org/officeDocument/2006/relationships/image" Target="../media/image18.svg"/><Relationship Id="rId15" Type="http://schemas.openxmlformats.org/officeDocument/2006/relationships/image" Target="../media/image51.png"/><Relationship Id="rId23" Type="http://schemas.openxmlformats.org/officeDocument/2006/relationships/image" Target="../media/image966.png"/><Relationship Id="rId28" Type="http://schemas.openxmlformats.org/officeDocument/2006/relationships/image" Target="../media/image971.svg"/><Relationship Id="rId36" Type="http://schemas.openxmlformats.org/officeDocument/2006/relationships/image" Target="../media/image170.svg"/><Relationship Id="rId10" Type="http://schemas.openxmlformats.org/officeDocument/2006/relationships/image" Target="../media/image948.svg"/><Relationship Id="rId19" Type="http://schemas.openxmlformats.org/officeDocument/2006/relationships/image" Target="../media/image987.png"/><Relationship Id="rId31" Type="http://schemas.openxmlformats.org/officeDocument/2006/relationships/image" Target="../media/image45.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984.svg"/><Relationship Id="rId22" Type="http://schemas.openxmlformats.org/officeDocument/2006/relationships/image" Target="../media/image989.svg"/><Relationship Id="rId27" Type="http://schemas.openxmlformats.org/officeDocument/2006/relationships/image" Target="../media/image970.png"/><Relationship Id="rId30" Type="http://schemas.openxmlformats.org/officeDocument/2006/relationships/image" Target="../media/image973.svg"/><Relationship Id="rId35" Type="http://schemas.openxmlformats.org/officeDocument/2006/relationships/image" Target="../media/image169.png"/><Relationship Id="rId8" Type="http://schemas.openxmlformats.org/officeDocument/2006/relationships/image" Target="../media/image3.svg"/><Relationship Id="rId3" Type="http://schemas.openxmlformats.org/officeDocument/2006/relationships/image" Target="../media/image14.svg"/></Relationships>
</file>

<file path=ppt/slides/_rels/slide288.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992.png"/><Relationship Id="rId18" Type="http://schemas.openxmlformats.org/officeDocument/2006/relationships/image" Target="../media/image997.svg"/><Relationship Id="rId26" Type="http://schemas.openxmlformats.org/officeDocument/2006/relationships/image" Target="../media/image156.svg"/><Relationship Id="rId3" Type="http://schemas.openxmlformats.org/officeDocument/2006/relationships/image" Target="../media/image14.svg"/><Relationship Id="rId21" Type="http://schemas.openxmlformats.org/officeDocument/2006/relationships/image" Target="../media/image167.png"/><Relationship Id="rId7" Type="http://schemas.openxmlformats.org/officeDocument/2006/relationships/image" Target="../media/image946.svg"/><Relationship Id="rId12" Type="http://schemas.openxmlformats.org/officeDocument/2006/relationships/image" Target="../media/image991.svg"/><Relationship Id="rId17" Type="http://schemas.openxmlformats.org/officeDocument/2006/relationships/image" Target="../media/image996.png"/><Relationship Id="rId25" Type="http://schemas.openxmlformats.org/officeDocument/2006/relationships/image" Target="../media/image155.png"/><Relationship Id="rId2" Type="http://schemas.openxmlformats.org/officeDocument/2006/relationships/image" Target="../media/image13.png"/><Relationship Id="rId16" Type="http://schemas.openxmlformats.org/officeDocument/2006/relationships/image" Target="../media/image995.svg"/><Relationship Id="rId20" Type="http://schemas.openxmlformats.org/officeDocument/2006/relationships/image" Target="../media/image999.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990.png"/><Relationship Id="rId24" Type="http://schemas.openxmlformats.org/officeDocument/2006/relationships/image" Target="../media/image158.svg"/><Relationship Id="rId5" Type="http://schemas.openxmlformats.org/officeDocument/2006/relationships/image" Target="../media/image18.svg"/><Relationship Id="rId15" Type="http://schemas.openxmlformats.org/officeDocument/2006/relationships/image" Target="../media/image994.png"/><Relationship Id="rId23" Type="http://schemas.openxmlformats.org/officeDocument/2006/relationships/image" Target="../media/image157.png"/><Relationship Id="rId28" Type="http://schemas.openxmlformats.org/officeDocument/2006/relationships/image" Target="../media/image162.svg"/><Relationship Id="rId10" Type="http://schemas.openxmlformats.org/officeDocument/2006/relationships/image" Target="../media/image948.svg"/><Relationship Id="rId19" Type="http://schemas.openxmlformats.org/officeDocument/2006/relationships/image" Target="../media/image998.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993.svg"/><Relationship Id="rId22" Type="http://schemas.openxmlformats.org/officeDocument/2006/relationships/image" Target="../media/image168.svg"/><Relationship Id="rId27" Type="http://schemas.openxmlformats.org/officeDocument/2006/relationships/image" Target="../media/image161.png"/></Relationships>
</file>

<file path=ppt/slides/_rels/slide289.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260.png"/><Relationship Id="rId18" Type="http://schemas.openxmlformats.org/officeDocument/2006/relationships/image" Target="../media/image1005.png"/><Relationship Id="rId3" Type="http://schemas.openxmlformats.org/officeDocument/2006/relationships/image" Target="../media/image14.svg"/><Relationship Id="rId21" Type="http://schemas.openxmlformats.org/officeDocument/2006/relationships/image" Target="../media/image156.svg"/><Relationship Id="rId7" Type="http://schemas.openxmlformats.org/officeDocument/2006/relationships/image" Target="../media/image946.svg"/><Relationship Id="rId12" Type="http://schemas.openxmlformats.org/officeDocument/2006/relationships/image" Target="../media/image1001.svg"/><Relationship Id="rId17" Type="http://schemas.openxmlformats.org/officeDocument/2006/relationships/image" Target="../media/image945.svg"/><Relationship Id="rId25" Type="http://schemas.openxmlformats.org/officeDocument/2006/relationships/image" Target="../media/image160.svg"/><Relationship Id="rId2" Type="http://schemas.openxmlformats.org/officeDocument/2006/relationships/image" Target="../media/image13.png"/><Relationship Id="rId16" Type="http://schemas.openxmlformats.org/officeDocument/2006/relationships/image" Target="../media/image1004.svg"/><Relationship Id="rId20" Type="http://schemas.openxmlformats.org/officeDocument/2006/relationships/image" Target="../media/image155.pn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000.png"/><Relationship Id="rId24" Type="http://schemas.openxmlformats.org/officeDocument/2006/relationships/image" Target="../media/image159.png"/><Relationship Id="rId5" Type="http://schemas.openxmlformats.org/officeDocument/2006/relationships/image" Target="../media/image18.svg"/><Relationship Id="rId15" Type="http://schemas.openxmlformats.org/officeDocument/2006/relationships/image" Target="../media/image1003.png"/><Relationship Id="rId23" Type="http://schemas.openxmlformats.org/officeDocument/2006/relationships/image" Target="../media/image162.svg"/><Relationship Id="rId10" Type="http://schemas.openxmlformats.org/officeDocument/2006/relationships/image" Target="../media/image948.svg"/><Relationship Id="rId19" Type="http://schemas.openxmlformats.org/officeDocument/2006/relationships/image" Target="../media/image1006.sv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002.svg"/><Relationship Id="rId22" Type="http://schemas.openxmlformats.org/officeDocument/2006/relationships/image" Target="../media/image161.png"/></Relationships>
</file>

<file path=ppt/slides/_rels/slide290.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53.png"/><Relationship Id="rId3" Type="http://schemas.openxmlformats.org/officeDocument/2006/relationships/image" Target="../media/image14.svg"/><Relationship Id="rId7" Type="http://schemas.openxmlformats.org/officeDocument/2006/relationships/image" Target="../media/image946.svg"/><Relationship Id="rId12" Type="http://schemas.openxmlformats.org/officeDocument/2006/relationships/image" Target="../media/image156.svg"/><Relationship Id="rId2" Type="http://schemas.openxmlformats.org/officeDocument/2006/relationships/image" Target="../media/image13.png"/><Relationship Id="rId16" Type="http://schemas.openxmlformats.org/officeDocument/2006/relationships/image" Target="../media/image1008.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55.png"/><Relationship Id="rId5" Type="http://schemas.openxmlformats.org/officeDocument/2006/relationships/image" Target="../media/image18.svg"/><Relationship Id="rId15" Type="http://schemas.openxmlformats.org/officeDocument/2006/relationships/image" Target="../media/image1007.png"/><Relationship Id="rId10" Type="http://schemas.openxmlformats.org/officeDocument/2006/relationships/image" Target="../media/image948.sv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54.svg"/></Relationships>
</file>

<file path=ppt/slides/_rels/slide291.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61.png"/><Relationship Id="rId18" Type="http://schemas.openxmlformats.org/officeDocument/2006/relationships/image" Target="../media/image1012.svg"/><Relationship Id="rId3" Type="http://schemas.openxmlformats.org/officeDocument/2006/relationships/image" Target="../media/image14.svg"/><Relationship Id="rId21" Type="http://schemas.openxmlformats.org/officeDocument/2006/relationships/image" Target="../media/image1014.png"/><Relationship Id="rId7" Type="http://schemas.openxmlformats.org/officeDocument/2006/relationships/image" Target="../media/image946.svg"/><Relationship Id="rId12" Type="http://schemas.openxmlformats.org/officeDocument/2006/relationships/image" Target="../media/image166.svg"/><Relationship Id="rId17" Type="http://schemas.openxmlformats.org/officeDocument/2006/relationships/image" Target="../media/image1011.png"/><Relationship Id="rId2" Type="http://schemas.openxmlformats.org/officeDocument/2006/relationships/image" Target="../media/image13.png"/><Relationship Id="rId16" Type="http://schemas.openxmlformats.org/officeDocument/2006/relationships/image" Target="../media/image1010.svg"/><Relationship Id="rId20" Type="http://schemas.openxmlformats.org/officeDocument/2006/relationships/image" Target="../media/image1013.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65.png"/><Relationship Id="rId24" Type="http://schemas.openxmlformats.org/officeDocument/2006/relationships/image" Target="../media/image396.svg"/><Relationship Id="rId5" Type="http://schemas.openxmlformats.org/officeDocument/2006/relationships/image" Target="../media/image18.svg"/><Relationship Id="rId15" Type="http://schemas.openxmlformats.org/officeDocument/2006/relationships/image" Target="../media/image1009.png"/><Relationship Id="rId23" Type="http://schemas.openxmlformats.org/officeDocument/2006/relationships/image" Target="../media/image395.png"/><Relationship Id="rId10" Type="http://schemas.openxmlformats.org/officeDocument/2006/relationships/image" Target="../media/image948.svg"/><Relationship Id="rId19" Type="http://schemas.openxmlformats.org/officeDocument/2006/relationships/image" Target="../media/image195.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62.svg"/><Relationship Id="rId22" Type="http://schemas.openxmlformats.org/officeDocument/2006/relationships/image" Target="../media/image1015.svg"/></Relationships>
</file>

<file path=ppt/slides/_rels/slide292.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016.png"/><Relationship Id="rId18" Type="http://schemas.openxmlformats.org/officeDocument/2006/relationships/image" Target="../media/image166.svg"/><Relationship Id="rId3" Type="http://schemas.openxmlformats.org/officeDocument/2006/relationships/image" Target="../media/image14.svg"/><Relationship Id="rId21" Type="http://schemas.openxmlformats.org/officeDocument/2006/relationships/image" Target="../media/image153.png"/><Relationship Id="rId7" Type="http://schemas.openxmlformats.org/officeDocument/2006/relationships/image" Target="../media/image946.svg"/><Relationship Id="rId12" Type="http://schemas.openxmlformats.org/officeDocument/2006/relationships/image" Target="../media/image118.svg"/><Relationship Id="rId17" Type="http://schemas.openxmlformats.org/officeDocument/2006/relationships/image" Target="../media/image165.png"/><Relationship Id="rId2" Type="http://schemas.openxmlformats.org/officeDocument/2006/relationships/image" Target="../media/image13.png"/><Relationship Id="rId16" Type="http://schemas.openxmlformats.org/officeDocument/2006/relationships/image" Target="../media/image172.svg"/><Relationship Id="rId20" Type="http://schemas.openxmlformats.org/officeDocument/2006/relationships/image" Target="../media/image160.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17.png"/><Relationship Id="rId5" Type="http://schemas.openxmlformats.org/officeDocument/2006/relationships/image" Target="../media/image18.svg"/><Relationship Id="rId15" Type="http://schemas.openxmlformats.org/officeDocument/2006/relationships/image" Target="../media/image171.png"/><Relationship Id="rId10" Type="http://schemas.openxmlformats.org/officeDocument/2006/relationships/image" Target="../media/image948.svg"/><Relationship Id="rId19" Type="http://schemas.openxmlformats.org/officeDocument/2006/relationships/image" Target="../media/image159.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017.svg"/><Relationship Id="rId22" Type="http://schemas.openxmlformats.org/officeDocument/2006/relationships/image" Target="../media/image154.svg"/></Relationships>
</file>

<file path=ppt/slides/_rels/slide293.xml.rels><?xml version="1.0" encoding="UTF-8" standalone="yes"?>
<Relationships xmlns="http://schemas.openxmlformats.org/package/2006/relationships"><Relationship Id="rId8" Type="http://schemas.openxmlformats.org/officeDocument/2006/relationships/image" Target="../media/image169.png"/><Relationship Id="rId13" Type="http://schemas.openxmlformats.org/officeDocument/2006/relationships/image" Target="../media/image942.svg"/><Relationship Id="rId18" Type="http://schemas.openxmlformats.org/officeDocument/2006/relationships/image" Target="../media/image945.svg"/><Relationship Id="rId3" Type="http://schemas.openxmlformats.org/officeDocument/2006/relationships/image" Target="../media/image14.svg"/><Relationship Id="rId21" Type="http://schemas.openxmlformats.org/officeDocument/2006/relationships/image" Target="../media/image3.svg"/><Relationship Id="rId7" Type="http://schemas.openxmlformats.org/officeDocument/2006/relationships/image" Target="../media/image164.svg"/><Relationship Id="rId12" Type="http://schemas.openxmlformats.org/officeDocument/2006/relationships/image" Target="../media/image270.png"/><Relationship Id="rId17" Type="http://schemas.openxmlformats.org/officeDocument/2006/relationships/image" Target="../media/image944.svg"/><Relationship Id="rId2" Type="http://schemas.openxmlformats.org/officeDocument/2006/relationships/image" Target="../media/image13.png"/><Relationship Id="rId16" Type="http://schemas.openxmlformats.org/officeDocument/2006/relationships/image" Target="../media/image274.png"/><Relationship Id="rId20" Type="http://schemas.openxmlformats.org/officeDocument/2006/relationships/image" Target="../media/image946.svg"/><Relationship Id="rId1" Type="http://schemas.openxmlformats.org/officeDocument/2006/relationships/slideLayout" Target="../slideLayouts/slideLayout2.xml"/><Relationship Id="rId6" Type="http://schemas.openxmlformats.org/officeDocument/2006/relationships/image" Target="../media/image163.png"/><Relationship Id="rId11" Type="http://schemas.openxmlformats.org/officeDocument/2006/relationships/image" Target="../media/image941.svg"/><Relationship Id="rId5" Type="http://schemas.openxmlformats.org/officeDocument/2006/relationships/image" Target="../media/image18.svg"/><Relationship Id="rId15" Type="http://schemas.openxmlformats.org/officeDocument/2006/relationships/image" Target="../media/image943.svg"/><Relationship Id="rId23" Type="http://schemas.openxmlformats.org/officeDocument/2006/relationships/image" Target="../media/image948.svg"/><Relationship Id="rId10" Type="http://schemas.openxmlformats.org/officeDocument/2006/relationships/image" Target="../media/image268.png"/><Relationship Id="rId19" Type="http://schemas.openxmlformats.org/officeDocument/2006/relationships/image" Target="../media/image2.png"/><Relationship Id="rId4" Type="http://schemas.openxmlformats.org/officeDocument/2006/relationships/image" Target="../media/image17.png"/><Relationship Id="rId9" Type="http://schemas.openxmlformats.org/officeDocument/2006/relationships/image" Target="../media/image170.svg"/><Relationship Id="rId14" Type="http://schemas.openxmlformats.org/officeDocument/2006/relationships/image" Target="../media/image272.png"/><Relationship Id="rId22" Type="http://schemas.openxmlformats.org/officeDocument/2006/relationships/image" Target="../media/image947.png"/></Relationships>
</file>

<file path=ppt/slides/_rels/slide294.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73.png"/><Relationship Id="rId18" Type="http://schemas.openxmlformats.org/officeDocument/2006/relationships/image" Target="../media/image170.svg"/><Relationship Id="rId3" Type="http://schemas.openxmlformats.org/officeDocument/2006/relationships/image" Target="../media/image14.svg"/><Relationship Id="rId7" Type="http://schemas.openxmlformats.org/officeDocument/2006/relationships/image" Target="../media/image946.svg"/><Relationship Id="rId12" Type="http://schemas.openxmlformats.org/officeDocument/2006/relationships/image" Target="../media/image949.svg"/><Relationship Id="rId17" Type="http://schemas.openxmlformats.org/officeDocument/2006/relationships/image" Target="../media/image169.png"/><Relationship Id="rId2" Type="http://schemas.openxmlformats.org/officeDocument/2006/relationships/image" Target="../media/image13.png"/><Relationship Id="rId16" Type="http://schemas.openxmlformats.org/officeDocument/2006/relationships/image" Target="../media/image164.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799.png"/><Relationship Id="rId5" Type="http://schemas.openxmlformats.org/officeDocument/2006/relationships/image" Target="../media/image18.svg"/><Relationship Id="rId15" Type="http://schemas.openxmlformats.org/officeDocument/2006/relationships/image" Target="../media/image163.png"/><Relationship Id="rId10" Type="http://schemas.openxmlformats.org/officeDocument/2006/relationships/image" Target="../media/image948.sv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74.svg"/></Relationships>
</file>

<file path=ppt/slides/_rels/slide295.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61.png"/><Relationship Id="rId18" Type="http://schemas.openxmlformats.org/officeDocument/2006/relationships/image" Target="../media/image204.svg"/><Relationship Id="rId26" Type="http://schemas.openxmlformats.org/officeDocument/2006/relationships/image" Target="../media/image212.svg"/><Relationship Id="rId3" Type="http://schemas.openxmlformats.org/officeDocument/2006/relationships/image" Target="../media/image14.svg"/><Relationship Id="rId21" Type="http://schemas.openxmlformats.org/officeDocument/2006/relationships/image" Target="../media/image207.png"/><Relationship Id="rId7" Type="http://schemas.openxmlformats.org/officeDocument/2006/relationships/image" Target="../media/image946.svg"/><Relationship Id="rId12" Type="http://schemas.openxmlformats.org/officeDocument/2006/relationships/image" Target="../media/image154.svg"/><Relationship Id="rId17" Type="http://schemas.openxmlformats.org/officeDocument/2006/relationships/image" Target="../media/image203.png"/><Relationship Id="rId25" Type="http://schemas.openxmlformats.org/officeDocument/2006/relationships/image" Target="../media/image211.png"/><Relationship Id="rId2" Type="http://schemas.openxmlformats.org/officeDocument/2006/relationships/image" Target="../media/image13.png"/><Relationship Id="rId16" Type="http://schemas.openxmlformats.org/officeDocument/2006/relationships/image" Target="../media/image164.svg"/><Relationship Id="rId20" Type="http://schemas.openxmlformats.org/officeDocument/2006/relationships/image" Target="../media/image206.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53.png"/><Relationship Id="rId24" Type="http://schemas.openxmlformats.org/officeDocument/2006/relationships/image" Target="../media/image210.svg"/><Relationship Id="rId5" Type="http://schemas.openxmlformats.org/officeDocument/2006/relationships/image" Target="../media/image18.svg"/><Relationship Id="rId15" Type="http://schemas.openxmlformats.org/officeDocument/2006/relationships/image" Target="../media/image163.png"/><Relationship Id="rId23" Type="http://schemas.openxmlformats.org/officeDocument/2006/relationships/image" Target="../media/image209.png"/><Relationship Id="rId28" Type="http://schemas.openxmlformats.org/officeDocument/2006/relationships/image" Target="../media/image214.svg"/><Relationship Id="rId10" Type="http://schemas.openxmlformats.org/officeDocument/2006/relationships/image" Target="../media/image948.svg"/><Relationship Id="rId19" Type="http://schemas.openxmlformats.org/officeDocument/2006/relationships/image" Target="../media/image205.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62.svg"/><Relationship Id="rId22" Type="http://schemas.openxmlformats.org/officeDocument/2006/relationships/image" Target="../media/image208.svg"/><Relationship Id="rId27" Type="http://schemas.openxmlformats.org/officeDocument/2006/relationships/image" Target="../media/image213.png"/></Relationships>
</file>

<file path=ppt/slides/_rels/slide296.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45.png"/><Relationship Id="rId18" Type="http://schemas.openxmlformats.org/officeDocument/2006/relationships/image" Target="../media/image956.svg"/><Relationship Id="rId26" Type="http://schemas.openxmlformats.org/officeDocument/2006/relationships/image" Target="../media/image963.svg"/><Relationship Id="rId3" Type="http://schemas.openxmlformats.org/officeDocument/2006/relationships/image" Target="../media/image14.svg"/><Relationship Id="rId21" Type="http://schemas.openxmlformats.org/officeDocument/2006/relationships/image" Target="../media/image959.png"/><Relationship Id="rId7" Type="http://schemas.openxmlformats.org/officeDocument/2006/relationships/image" Target="../media/image946.svg"/><Relationship Id="rId12" Type="http://schemas.openxmlformats.org/officeDocument/2006/relationships/image" Target="../media/image951.svg"/><Relationship Id="rId17" Type="http://schemas.openxmlformats.org/officeDocument/2006/relationships/image" Target="../media/image955.png"/><Relationship Id="rId25" Type="http://schemas.openxmlformats.org/officeDocument/2006/relationships/image" Target="../media/image962.png"/><Relationship Id="rId2" Type="http://schemas.openxmlformats.org/officeDocument/2006/relationships/image" Target="../media/image13.png"/><Relationship Id="rId16" Type="http://schemas.openxmlformats.org/officeDocument/2006/relationships/image" Target="../media/image954.svg"/><Relationship Id="rId20" Type="http://schemas.openxmlformats.org/officeDocument/2006/relationships/image" Target="../media/image958.svg"/><Relationship Id="rId29" Type="http://schemas.openxmlformats.org/officeDocument/2006/relationships/image" Target="../media/image157.pn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950.png"/><Relationship Id="rId24" Type="http://schemas.openxmlformats.org/officeDocument/2006/relationships/image" Target="../media/image961.svg"/><Relationship Id="rId32" Type="http://schemas.openxmlformats.org/officeDocument/2006/relationships/image" Target="../media/image160.svg"/><Relationship Id="rId5" Type="http://schemas.openxmlformats.org/officeDocument/2006/relationships/image" Target="../media/image18.svg"/><Relationship Id="rId15" Type="http://schemas.openxmlformats.org/officeDocument/2006/relationships/image" Target="../media/image953.png"/><Relationship Id="rId23" Type="http://schemas.openxmlformats.org/officeDocument/2006/relationships/image" Target="../media/image801.png"/><Relationship Id="rId28" Type="http://schemas.openxmlformats.org/officeDocument/2006/relationships/image" Target="../media/image965.svg"/><Relationship Id="rId10" Type="http://schemas.openxmlformats.org/officeDocument/2006/relationships/image" Target="../media/image948.svg"/><Relationship Id="rId19" Type="http://schemas.openxmlformats.org/officeDocument/2006/relationships/image" Target="../media/image957.png"/><Relationship Id="rId31" Type="http://schemas.openxmlformats.org/officeDocument/2006/relationships/image" Target="../media/image159.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952.svg"/><Relationship Id="rId22" Type="http://schemas.openxmlformats.org/officeDocument/2006/relationships/image" Target="../media/image960.svg"/><Relationship Id="rId27" Type="http://schemas.openxmlformats.org/officeDocument/2006/relationships/image" Target="../media/image964.png"/><Relationship Id="rId30" Type="http://schemas.openxmlformats.org/officeDocument/2006/relationships/image" Target="../media/image158.svg"/></Relationships>
</file>

<file path=ppt/slides/_rels/slide297.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966.png"/><Relationship Id="rId18" Type="http://schemas.openxmlformats.org/officeDocument/2006/relationships/image" Target="../media/image971.svg"/><Relationship Id="rId26" Type="http://schemas.openxmlformats.org/officeDocument/2006/relationships/image" Target="../media/image162.svg"/><Relationship Id="rId3" Type="http://schemas.openxmlformats.org/officeDocument/2006/relationships/image" Target="../media/image14.svg"/><Relationship Id="rId21" Type="http://schemas.openxmlformats.org/officeDocument/2006/relationships/image" Target="../media/image45.png"/><Relationship Id="rId7" Type="http://schemas.openxmlformats.org/officeDocument/2006/relationships/image" Target="../media/image946.svg"/><Relationship Id="rId12" Type="http://schemas.openxmlformats.org/officeDocument/2006/relationships/image" Target="../media/image160.svg"/><Relationship Id="rId17" Type="http://schemas.openxmlformats.org/officeDocument/2006/relationships/image" Target="../media/image970.png"/><Relationship Id="rId25" Type="http://schemas.openxmlformats.org/officeDocument/2006/relationships/image" Target="../media/image161.png"/><Relationship Id="rId2" Type="http://schemas.openxmlformats.org/officeDocument/2006/relationships/image" Target="../media/image13.png"/><Relationship Id="rId16" Type="http://schemas.openxmlformats.org/officeDocument/2006/relationships/image" Target="../media/image969.svg"/><Relationship Id="rId20" Type="http://schemas.openxmlformats.org/officeDocument/2006/relationships/image" Target="../media/image973.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59.png"/><Relationship Id="rId24" Type="http://schemas.openxmlformats.org/officeDocument/2006/relationships/image" Target="../media/image154.svg"/><Relationship Id="rId5" Type="http://schemas.openxmlformats.org/officeDocument/2006/relationships/image" Target="../media/image18.svg"/><Relationship Id="rId15" Type="http://schemas.openxmlformats.org/officeDocument/2006/relationships/image" Target="../media/image968.png"/><Relationship Id="rId23" Type="http://schemas.openxmlformats.org/officeDocument/2006/relationships/image" Target="../media/image153.png"/><Relationship Id="rId10" Type="http://schemas.openxmlformats.org/officeDocument/2006/relationships/image" Target="../media/image948.svg"/><Relationship Id="rId19" Type="http://schemas.openxmlformats.org/officeDocument/2006/relationships/image" Target="../media/image972.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967.svg"/><Relationship Id="rId22" Type="http://schemas.openxmlformats.org/officeDocument/2006/relationships/image" Target="../media/image952.svg"/></Relationships>
</file>

<file path=ppt/slides/_rels/slide298.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69.png"/><Relationship Id="rId18" Type="http://schemas.openxmlformats.org/officeDocument/2006/relationships/image" Target="../media/image975.svg"/><Relationship Id="rId3" Type="http://schemas.openxmlformats.org/officeDocument/2006/relationships/image" Target="../media/image14.svg"/><Relationship Id="rId21" Type="http://schemas.openxmlformats.org/officeDocument/2006/relationships/image" Target="../media/image239.png"/><Relationship Id="rId7" Type="http://schemas.openxmlformats.org/officeDocument/2006/relationships/image" Target="../media/image946.svg"/><Relationship Id="rId12" Type="http://schemas.openxmlformats.org/officeDocument/2006/relationships/image" Target="../media/image160.svg"/><Relationship Id="rId17" Type="http://schemas.openxmlformats.org/officeDocument/2006/relationships/image" Target="../media/image974.png"/><Relationship Id="rId2" Type="http://schemas.openxmlformats.org/officeDocument/2006/relationships/image" Target="../media/image13.png"/><Relationship Id="rId16" Type="http://schemas.openxmlformats.org/officeDocument/2006/relationships/image" Target="../media/image164.svg"/><Relationship Id="rId20" Type="http://schemas.openxmlformats.org/officeDocument/2006/relationships/image" Target="../media/image977.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59.png"/><Relationship Id="rId24" Type="http://schemas.openxmlformats.org/officeDocument/2006/relationships/image" Target="../media/image980.svg"/><Relationship Id="rId5" Type="http://schemas.openxmlformats.org/officeDocument/2006/relationships/image" Target="../media/image18.svg"/><Relationship Id="rId15" Type="http://schemas.openxmlformats.org/officeDocument/2006/relationships/image" Target="../media/image163.png"/><Relationship Id="rId23" Type="http://schemas.openxmlformats.org/officeDocument/2006/relationships/image" Target="../media/image979.png"/><Relationship Id="rId10" Type="http://schemas.openxmlformats.org/officeDocument/2006/relationships/image" Target="../media/image948.svg"/><Relationship Id="rId19" Type="http://schemas.openxmlformats.org/officeDocument/2006/relationships/image" Target="../media/image976.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70.svg"/><Relationship Id="rId22" Type="http://schemas.openxmlformats.org/officeDocument/2006/relationships/image" Target="../media/image978.svg"/></Relationships>
</file>

<file path=ppt/slides/_rels/slide299.xml.rels><?xml version="1.0" encoding="UTF-8" standalone="yes"?>
<Relationships xmlns="http://schemas.openxmlformats.org/package/2006/relationships"><Relationship Id="rId13" Type="http://schemas.openxmlformats.org/officeDocument/2006/relationships/image" Target="../media/image983.png"/><Relationship Id="rId18" Type="http://schemas.openxmlformats.org/officeDocument/2006/relationships/image" Target="../media/image986.svg"/><Relationship Id="rId26" Type="http://schemas.openxmlformats.org/officeDocument/2006/relationships/image" Target="../media/image969.svg"/><Relationship Id="rId39" Type="http://schemas.openxmlformats.org/officeDocument/2006/relationships/image" Target="../media/image153.png"/><Relationship Id="rId21" Type="http://schemas.openxmlformats.org/officeDocument/2006/relationships/image" Target="../media/image254.png"/><Relationship Id="rId34" Type="http://schemas.openxmlformats.org/officeDocument/2006/relationships/image" Target="../media/image162.svg"/><Relationship Id="rId7" Type="http://schemas.openxmlformats.org/officeDocument/2006/relationships/image" Target="../media/image946.svg"/><Relationship Id="rId12" Type="http://schemas.openxmlformats.org/officeDocument/2006/relationships/image" Target="../media/image982.svg"/><Relationship Id="rId17" Type="http://schemas.openxmlformats.org/officeDocument/2006/relationships/image" Target="../media/image985.png"/><Relationship Id="rId25" Type="http://schemas.openxmlformats.org/officeDocument/2006/relationships/image" Target="../media/image968.png"/><Relationship Id="rId33" Type="http://schemas.openxmlformats.org/officeDocument/2006/relationships/image" Target="../media/image161.png"/><Relationship Id="rId38" Type="http://schemas.openxmlformats.org/officeDocument/2006/relationships/image" Target="../media/image164.svg"/><Relationship Id="rId2" Type="http://schemas.openxmlformats.org/officeDocument/2006/relationships/image" Target="../media/image13.png"/><Relationship Id="rId16" Type="http://schemas.openxmlformats.org/officeDocument/2006/relationships/image" Target="../media/image247.svg"/><Relationship Id="rId20" Type="http://schemas.openxmlformats.org/officeDocument/2006/relationships/image" Target="../media/image988.svg"/><Relationship Id="rId29" Type="http://schemas.openxmlformats.org/officeDocument/2006/relationships/image" Target="../media/image972.pn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981.png"/><Relationship Id="rId24" Type="http://schemas.openxmlformats.org/officeDocument/2006/relationships/image" Target="../media/image967.svg"/><Relationship Id="rId32" Type="http://schemas.openxmlformats.org/officeDocument/2006/relationships/image" Target="../media/image952.svg"/><Relationship Id="rId37" Type="http://schemas.openxmlformats.org/officeDocument/2006/relationships/image" Target="../media/image163.png"/><Relationship Id="rId40" Type="http://schemas.openxmlformats.org/officeDocument/2006/relationships/image" Target="../media/image154.svg"/><Relationship Id="rId5" Type="http://schemas.openxmlformats.org/officeDocument/2006/relationships/image" Target="../media/image18.svg"/><Relationship Id="rId15" Type="http://schemas.openxmlformats.org/officeDocument/2006/relationships/image" Target="../media/image51.png"/><Relationship Id="rId23" Type="http://schemas.openxmlformats.org/officeDocument/2006/relationships/image" Target="../media/image966.png"/><Relationship Id="rId28" Type="http://schemas.openxmlformats.org/officeDocument/2006/relationships/image" Target="../media/image971.svg"/><Relationship Id="rId36" Type="http://schemas.openxmlformats.org/officeDocument/2006/relationships/image" Target="../media/image170.svg"/><Relationship Id="rId10" Type="http://schemas.openxmlformats.org/officeDocument/2006/relationships/image" Target="../media/image948.svg"/><Relationship Id="rId19" Type="http://schemas.openxmlformats.org/officeDocument/2006/relationships/image" Target="../media/image987.png"/><Relationship Id="rId31" Type="http://schemas.openxmlformats.org/officeDocument/2006/relationships/image" Target="../media/image45.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984.svg"/><Relationship Id="rId22" Type="http://schemas.openxmlformats.org/officeDocument/2006/relationships/image" Target="../media/image989.svg"/><Relationship Id="rId27" Type="http://schemas.openxmlformats.org/officeDocument/2006/relationships/image" Target="../media/image970.png"/><Relationship Id="rId30" Type="http://schemas.openxmlformats.org/officeDocument/2006/relationships/image" Target="../media/image973.svg"/><Relationship Id="rId35" Type="http://schemas.openxmlformats.org/officeDocument/2006/relationships/image" Target="../media/image169.png"/><Relationship Id="rId8" Type="http://schemas.openxmlformats.org/officeDocument/2006/relationships/image" Target="../media/image3.svg"/><Relationship Id="rId3" Type="http://schemas.openxmlformats.org/officeDocument/2006/relationships/image" Target="../media/image14.svg"/></Relationships>
</file>

<file path=ppt/slides/_rels/slide300.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992.png"/><Relationship Id="rId18" Type="http://schemas.openxmlformats.org/officeDocument/2006/relationships/image" Target="../media/image997.svg"/><Relationship Id="rId26" Type="http://schemas.openxmlformats.org/officeDocument/2006/relationships/image" Target="../media/image156.svg"/><Relationship Id="rId3" Type="http://schemas.openxmlformats.org/officeDocument/2006/relationships/image" Target="../media/image14.svg"/><Relationship Id="rId21" Type="http://schemas.openxmlformats.org/officeDocument/2006/relationships/image" Target="../media/image167.png"/><Relationship Id="rId7" Type="http://schemas.openxmlformats.org/officeDocument/2006/relationships/image" Target="../media/image946.svg"/><Relationship Id="rId12" Type="http://schemas.openxmlformats.org/officeDocument/2006/relationships/image" Target="../media/image991.svg"/><Relationship Id="rId17" Type="http://schemas.openxmlformats.org/officeDocument/2006/relationships/image" Target="../media/image996.png"/><Relationship Id="rId25" Type="http://schemas.openxmlformats.org/officeDocument/2006/relationships/image" Target="../media/image155.png"/><Relationship Id="rId2" Type="http://schemas.openxmlformats.org/officeDocument/2006/relationships/image" Target="../media/image13.png"/><Relationship Id="rId16" Type="http://schemas.openxmlformats.org/officeDocument/2006/relationships/image" Target="../media/image995.svg"/><Relationship Id="rId20" Type="http://schemas.openxmlformats.org/officeDocument/2006/relationships/image" Target="../media/image999.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990.png"/><Relationship Id="rId24" Type="http://schemas.openxmlformats.org/officeDocument/2006/relationships/image" Target="../media/image158.svg"/><Relationship Id="rId5" Type="http://schemas.openxmlformats.org/officeDocument/2006/relationships/image" Target="../media/image18.svg"/><Relationship Id="rId15" Type="http://schemas.openxmlformats.org/officeDocument/2006/relationships/image" Target="../media/image994.png"/><Relationship Id="rId23" Type="http://schemas.openxmlformats.org/officeDocument/2006/relationships/image" Target="../media/image157.png"/><Relationship Id="rId28" Type="http://schemas.openxmlformats.org/officeDocument/2006/relationships/image" Target="../media/image162.svg"/><Relationship Id="rId10" Type="http://schemas.openxmlformats.org/officeDocument/2006/relationships/image" Target="../media/image948.svg"/><Relationship Id="rId19" Type="http://schemas.openxmlformats.org/officeDocument/2006/relationships/image" Target="../media/image998.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993.svg"/><Relationship Id="rId22" Type="http://schemas.openxmlformats.org/officeDocument/2006/relationships/image" Target="../media/image168.svg"/><Relationship Id="rId27" Type="http://schemas.openxmlformats.org/officeDocument/2006/relationships/image" Target="../media/image161.png"/></Relationships>
</file>

<file path=ppt/slides/_rels/slide301.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260.png"/><Relationship Id="rId18" Type="http://schemas.openxmlformats.org/officeDocument/2006/relationships/image" Target="../media/image1005.png"/><Relationship Id="rId3" Type="http://schemas.openxmlformats.org/officeDocument/2006/relationships/image" Target="../media/image14.svg"/><Relationship Id="rId21" Type="http://schemas.openxmlformats.org/officeDocument/2006/relationships/image" Target="../media/image156.svg"/><Relationship Id="rId7" Type="http://schemas.openxmlformats.org/officeDocument/2006/relationships/image" Target="../media/image946.svg"/><Relationship Id="rId12" Type="http://schemas.openxmlformats.org/officeDocument/2006/relationships/image" Target="../media/image1001.svg"/><Relationship Id="rId17" Type="http://schemas.openxmlformats.org/officeDocument/2006/relationships/image" Target="../media/image945.svg"/><Relationship Id="rId25" Type="http://schemas.openxmlformats.org/officeDocument/2006/relationships/image" Target="../media/image160.svg"/><Relationship Id="rId2" Type="http://schemas.openxmlformats.org/officeDocument/2006/relationships/image" Target="../media/image13.png"/><Relationship Id="rId16" Type="http://schemas.openxmlformats.org/officeDocument/2006/relationships/image" Target="../media/image1004.svg"/><Relationship Id="rId20" Type="http://schemas.openxmlformats.org/officeDocument/2006/relationships/image" Target="../media/image155.pn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000.png"/><Relationship Id="rId24" Type="http://schemas.openxmlformats.org/officeDocument/2006/relationships/image" Target="../media/image159.png"/><Relationship Id="rId5" Type="http://schemas.openxmlformats.org/officeDocument/2006/relationships/image" Target="../media/image18.svg"/><Relationship Id="rId15" Type="http://schemas.openxmlformats.org/officeDocument/2006/relationships/image" Target="../media/image1003.png"/><Relationship Id="rId23" Type="http://schemas.openxmlformats.org/officeDocument/2006/relationships/image" Target="../media/image162.svg"/><Relationship Id="rId10" Type="http://schemas.openxmlformats.org/officeDocument/2006/relationships/image" Target="../media/image948.svg"/><Relationship Id="rId19" Type="http://schemas.openxmlformats.org/officeDocument/2006/relationships/image" Target="../media/image1006.sv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002.svg"/><Relationship Id="rId22" Type="http://schemas.openxmlformats.org/officeDocument/2006/relationships/image" Target="../media/image161.png"/></Relationships>
</file>

<file path=ppt/slides/_rels/slide302.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53.png"/><Relationship Id="rId3" Type="http://schemas.openxmlformats.org/officeDocument/2006/relationships/image" Target="../media/image14.svg"/><Relationship Id="rId7" Type="http://schemas.openxmlformats.org/officeDocument/2006/relationships/image" Target="../media/image946.svg"/><Relationship Id="rId12" Type="http://schemas.openxmlformats.org/officeDocument/2006/relationships/image" Target="../media/image156.svg"/><Relationship Id="rId2" Type="http://schemas.openxmlformats.org/officeDocument/2006/relationships/image" Target="../media/image13.png"/><Relationship Id="rId16" Type="http://schemas.openxmlformats.org/officeDocument/2006/relationships/image" Target="../media/image1008.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55.png"/><Relationship Id="rId5" Type="http://schemas.openxmlformats.org/officeDocument/2006/relationships/image" Target="../media/image18.svg"/><Relationship Id="rId15" Type="http://schemas.openxmlformats.org/officeDocument/2006/relationships/image" Target="../media/image1007.png"/><Relationship Id="rId10" Type="http://schemas.openxmlformats.org/officeDocument/2006/relationships/image" Target="../media/image948.sv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54.svg"/></Relationships>
</file>

<file path=ppt/slides/_rels/slide303.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61.png"/><Relationship Id="rId18" Type="http://schemas.openxmlformats.org/officeDocument/2006/relationships/image" Target="../media/image1012.svg"/><Relationship Id="rId3" Type="http://schemas.openxmlformats.org/officeDocument/2006/relationships/image" Target="../media/image14.svg"/><Relationship Id="rId21" Type="http://schemas.openxmlformats.org/officeDocument/2006/relationships/image" Target="../media/image1014.png"/><Relationship Id="rId7" Type="http://schemas.openxmlformats.org/officeDocument/2006/relationships/image" Target="../media/image946.svg"/><Relationship Id="rId12" Type="http://schemas.openxmlformats.org/officeDocument/2006/relationships/image" Target="../media/image166.svg"/><Relationship Id="rId17" Type="http://schemas.openxmlformats.org/officeDocument/2006/relationships/image" Target="../media/image1011.png"/><Relationship Id="rId2" Type="http://schemas.openxmlformats.org/officeDocument/2006/relationships/image" Target="../media/image13.png"/><Relationship Id="rId16" Type="http://schemas.openxmlformats.org/officeDocument/2006/relationships/image" Target="../media/image1010.svg"/><Relationship Id="rId20" Type="http://schemas.openxmlformats.org/officeDocument/2006/relationships/image" Target="../media/image1013.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65.png"/><Relationship Id="rId24" Type="http://schemas.openxmlformats.org/officeDocument/2006/relationships/image" Target="../media/image396.svg"/><Relationship Id="rId5" Type="http://schemas.openxmlformats.org/officeDocument/2006/relationships/image" Target="../media/image18.svg"/><Relationship Id="rId15" Type="http://schemas.openxmlformats.org/officeDocument/2006/relationships/image" Target="../media/image1009.png"/><Relationship Id="rId23" Type="http://schemas.openxmlformats.org/officeDocument/2006/relationships/image" Target="../media/image395.png"/><Relationship Id="rId10" Type="http://schemas.openxmlformats.org/officeDocument/2006/relationships/image" Target="../media/image948.svg"/><Relationship Id="rId19" Type="http://schemas.openxmlformats.org/officeDocument/2006/relationships/image" Target="../media/image195.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62.svg"/><Relationship Id="rId22" Type="http://schemas.openxmlformats.org/officeDocument/2006/relationships/image" Target="../media/image1015.svg"/></Relationships>
</file>

<file path=ppt/slides/_rels/slide304.xml.rels><?xml version="1.0" encoding="UTF-8" standalone="yes"?>
<Relationships xmlns="http://schemas.openxmlformats.org/package/2006/relationships"><Relationship Id="rId8" Type="http://schemas.openxmlformats.org/officeDocument/2006/relationships/image" Target="../media/image3.svg"/><Relationship Id="rId13" Type="http://schemas.openxmlformats.org/officeDocument/2006/relationships/image" Target="../media/image1016.png"/><Relationship Id="rId18" Type="http://schemas.openxmlformats.org/officeDocument/2006/relationships/image" Target="../media/image166.svg"/><Relationship Id="rId3" Type="http://schemas.openxmlformats.org/officeDocument/2006/relationships/image" Target="../media/image14.svg"/><Relationship Id="rId21" Type="http://schemas.openxmlformats.org/officeDocument/2006/relationships/image" Target="../media/image153.png"/><Relationship Id="rId7" Type="http://schemas.openxmlformats.org/officeDocument/2006/relationships/image" Target="../media/image946.svg"/><Relationship Id="rId12" Type="http://schemas.openxmlformats.org/officeDocument/2006/relationships/image" Target="../media/image118.svg"/><Relationship Id="rId17" Type="http://schemas.openxmlformats.org/officeDocument/2006/relationships/image" Target="../media/image165.png"/><Relationship Id="rId2" Type="http://schemas.openxmlformats.org/officeDocument/2006/relationships/image" Target="../media/image13.png"/><Relationship Id="rId16" Type="http://schemas.openxmlformats.org/officeDocument/2006/relationships/image" Target="../media/image172.svg"/><Relationship Id="rId20" Type="http://schemas.openxmlformats.org/officeDocument/2006/relationships/image" Target="../media/image160.svg"/><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image" Target="../media/image117.png"/><Relationship Id="rId5" Type="http://schemas.openxmlformats.org/officeDocument/2006/relationships/image" Target="../media/image18.svg"/><Relationship Id="rId15" Type="http://schemas.openxmlformats.org/officeDocument/2006/relationships/image" Target="../media/image171.png"/><Relationship Id="rId10" Type="http://schemas.openxmlformats.org/officeDocument/2006/relationships/image" Target="../media/image948.svg"/><Relationship Id="rId19" Type="http://schemas.openxmlformats.org/officeDocument/2006/relationships/image" Target="../media/image159.png"/><Relationship Id="rId4" Type="http://schemas.openxmlformats.org/officeDocument/2006/relationships/image" Target="../media/image17.png"/><Relationship Id="rId9" Type="http://schemas.openxmlformats.org/officeDocument/2006/relationships/image" Target="../media/image947.png"/><Relationship Id="rId14" Type="http://schemas.openxmlformats.org/officeDocument/2006/relationships/image" Target="../media/image1017.svg"/><Relationship Id="rId22" Type="http://schemas.openxmlformats.org/officeDocument/2006/relationships/image" Target="../media/image154.svg"/></Relationships>
</file>

<file path=ppt/slides/_rels/slide305.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Layout" Target="../slideLayouts/slideLayout2.xml"/><Relationship Id="rId5" Type="http://schemas.openxmlformats.org/officeDocument/2006/relationships/image" Target="../media/image18.svg"/><Relationship Id="rId4" Type="http://schemas.openxmlformats.org/officeDocument/2006/relationships/image" Target="../media/image17.png"/></Relationships>
</file>

<file path=ppt/slides/_rels/slide306.xml.rels><?xml version="1.0" encoding="UTF-8" standalone="yes"?>
<Relationships xmlns="http://schemas.openxmlformats.org/package/2006/relationships"><Relationship Id="rId13" Type="http://schemas.openxmlformats.org/officeDocument/2006/relationships/image" Target="../media/image74.svg"/><Relationship Id="rId18" Type="http://schemas.openxmlformats.org/officeDocument/2006/relationships/image" Target="../media/image47.png"/><Relationship Id="rId26" Type="http://schemas.openxmlformats.org/officeDocument/2006/relationships/image" Target="../media/image55.png"/><Relationship Id="rId3" Type="http://schemas.openxmlformats.org/officeDocument/2006/relationships/image" Target="../media/image66.svg"/><Relationship Id="rId21" Type="http://schemas.openxmlformats.org/officeDocument/2006/relationships/image" Target="../media/image50.svg"/><Relationship Id="rId34" Type="http://schemas.openxmlformats.org/officeDocument/2006/relationships/image" Target="../media/image63.png"/><Relationship Id="rId7" Type="http://schemas.openxmlformats.org/officeDocument/2006/relationships/image" Target="../media/image44.svg"/><Relationship Id="rId12" Type="http://schemas.openxmlformats.org/officeDocument/2006/relationships/image" Target="../media/image73.png"/><Relationship Id="rId17" Type="http://schemas.openxmlformats.org/officeDocument/2006/relationships/image" Target="../media/image46.svg"/><Relationship Id="rId25" Type="http://schemas.openxmlformats.org/officeDocument/2006/relationships/image" Target="../media/image54.svg"/><Relationship Id="rId33" Type="http://schemas.openxmlformats.org/officeDocument/2006/relationships/image" Target="../media/image62.svg"/><Relationship Id="rId2" Type="http://schemas.openxmlformats.org/officeDocument/2006/relationships/image" Target="../media/image65.png"/><Relationship Id="rId16" Type="http://schemas.openxmlformats.org/officeDocument/2006/relationships/image" Target="../media/image45.png"/><Relationship Id="rId20" Type="http://schemas.openxmlformats.org/officeDocument/2006/relationships/image" Target="../media/image49.png"/><Relationship Id="rId29" Type="http://schemas.openxmlformats.org/officeDocument/2006/relationships/image" Target="../media/image58.svg"/><Relationship Id="rId1" Type="http://schemas.openxmlformats.org/officeDocument/2006/relationships/slideLayout" Target="../slideLayouts/slideLayout2.xml"/><Relationship Id="rId6" Type="http://schemas.openxmlformats.org/officeDocument/2006/relationships/image" Target="../media/image43.png"/><Relationship Id="rId11" Type="http://schemas.openxmlformats.org/officeDocument/2006/relationships/image" Target="../media/image72.svg"/><Relationship Id="rId24" Type="http://schemas.openxmlformats.org/officeDocument/2006/relationships/image" Target="../media/image53.png"/><Relationship Id="rId32" Type="http://schemas.openxmlformats.org/officeDocument/2006/relationships/image" Target="../media/image61.png"/><Relationship Id="rId5" Type="http://schemas.openxmlformats.org/officeDocument/2006/relationships/image" Target="../media/image18.svg"/><Relationship Id="rId15" Type="http://schemas.openxmlformats.org/officeDocument/2006/relationships/image" Target="../media/image76.svg"/><Relationship Id="rId23" Type="http://schemas.openxmlformats.org/officeDocument/2006/relationships/image" Target="../media/image52.svg"/><Relationship Id="rId28" Type="http://schemas.openxmlformats.org/officeDocument/2006/relationships/image" Target="../media/image57.png"/><Relationship Id="rId10" Type="http://schemas.openxmlformats.org/officeDocument/2006/relationships/image" Target="../media/image71.png"/><Relationship Id="rId19" Type="http://schemas.openxmlformats.org/officeDocument/2006/relationships/image" Target="../media/image48.svg"/><Relationship Id="rId31" Type="http://schemas.openxmlformats.org/officeDocument/2006/relationships/image" Target="../media/image60.svg"/><Relationship Id="rId4" Type="http://schemas.openxmlformats.org/officeDocument/2006/relationships/image" Target="../media/image17.png"/><Relationship Id="rId9" Type="http://schemas.openxmlformats.org/officeDocument/2006/relationships/image" Target="../media/image70.svg"/><Relationship Id="rId14" Type="http://schemas.openxmlformats.org/officeDocument/2006/relationships/image" Target="../media/image75.png"/><Relationship Id="rId22" Type="http://schemas.openxmlformats.org/officeDocument/2006/relationships/image" Target="../media/image51.png"/><Relationship Id="rId27" Type="http://schemas.openxmlformats.org/officeDocument/2006/relationships/image" Target="../media/image56.svg"/><Relationship Id="rId30" Type="http://schemas.openxmlformats.org/officeDocument/2006/relationships/image" Target="../media/image59.png"/><Relationship Id="rId35" Type="http://schemas.openxmlformats.org/officeDocument/2006/relationships/image" Target="../media/image64.svg"/><Relationship Id="rId8" Type="http://schemas.openxmlformats.org/officeDocument/2006/relationships/image" Target="../media/image69.png"/></Relationships>
</file>

<file path=ppt/slides/_rels/slide307.xml.rels><?xml version="1.0" encoding="UTF-8" standalone="yes"?>
<Relationships xmlns="http://schemas.openxmlformats.org/package/2006/relationships"><Relationship Id="rId13" Type="http://schemas.openxmlformats.org/officeDocument/2006/relationships/image" Target="../media/image74.svg"/><Relationship Id="rId18" Type="http://schemas.openxmlformats.org/officeDocument/2006/relationships/image" Target="../media/image47.png"/><Relationship Id="rId26" Type="http://schemas.openxmlformats.org/officeDocument/2006/relationships/image" Target="../media/image55.png"/><Relationship Id="rId3" Type="http://schemas.openxmlformats.org/officeDocument/2006/relationships/image" Target="../media/image68.svg"/><Relationship Id="rId21" Type="http://schemas.openxmlformats.org/officeDocument/2006/relationships/image" Target="../media/image50.svg"/><Relationship Id="rId34" Type="http://schemas.openxmlformats.org/officeDocument/2006/relationships/image" Target="../media/image63.png"/><Relationship Id="rId7" Type="http://schemas.openxmlformats.org/officeDocument/2006/relationships/image" Target="../media/image44.svg"/><Relationship Id="rId12" Type="http://schemas.openxmlformats.org/officeDocument/2006/relationships/image" Target="../media/image73.png"/><Relationship Id="rId17" Type="http://schemas.openxmlformats.org/officeDocument/2006/relationships/image" Target="../media/image46.svg"/><Relationship Id="rId25" Type="http://schemas.openxmlformats.org/officeDocument/2006/relationships/image" Target="../media/image54.svg"/><Relationship Id="rId33" Type="http://schemas.openxmlformats.org/officeDocument/2006/relationships/image" Target="../media/image62.svg"/><Relationship Id="rId2" Type="http://schemas.openxmlformats.org/officeDocument/2006/relationships/image" Target="../media/image67.png"/><Relationship Id="rId16" Type="http://schemas.openxmlformats.org/officeDocument/2006/relationships/image" Target="../media/image45.png"/><Relationship Id="rId20" Type="http://schemas.openxmlformats.org/officeDocument/2006/relationships/image" Target="../media/image49.png"/><Relationship Id="rId29" Type="http://schemas.openxmlformats.org/officeDocument/2006/relationships/image" Target="../media/image58.svg"/><Relationship Id="rId1" Type="http://schemas.openxmlformats.org/officeDocument/2006/relationships/slideLayout" Target="../slideLayouts/slideLayout2.xml"/><Relationship Id="rId6" Type="http://schemas.openxmlformats.org/officeDocument/2006/relationships/image" Target="../media/image43.png"/><Relationship Id="rId11" Type="http://schemas.openxmlformats.org/officeDocument/2006/relationships/image" Target="../media/image72.svg"/><Relationship Id="rId24" Type="http://schemas.openxmlformats.org/officeDocument/2006/relationships/image" Target="../media/image53.png"/><Relationship Id="rId32" Type="http://schemas.openxmlformats.org/officeDocument/2006/relationships/image" Target="../media/image61.png"/><Relationship Id="rId5" Type="http://schemas.openxmlformats.org/officeDocument/2006/relationships/image" Target="../media/image18.svg"/><Relationship Id="rId15" Type="http://schemas.openxmlformats.org/officeDocument/2006/relationships/image" Target="../media/image76.svg"/><Relationship Id="rId23" Type="http://schemas.openxmlformats.org/officeDocument/2006/relationships/image" Target="../media/image52.svg"/><Relationship Id="rId28" Type="http://schemas.openxmlformats.org/officeDocument/2006/relationships/image" Target="../media/image57.png"/><Relationship Id="rId10" Type="http://schemas.openxmlformats.org/officeDocument/2006/relationships/image" Target="../media/image71.png"/><Relationship Id="rId19" Type="http://schemas.openxmlformats.org/officeDocument/2006/relationships/image" Target="../media/image48.svg"/><Relationship Id="rId31" Type="http://schemas.openxmlformats.org/officeDocument/2006/relationships/image" Target="../media/image60.svg"/><Relationship Id="rId4" Type="http://schemas.openxmlformats.org/officeDocument/2006/relationships/image" Target="../media/image17.png"/><Relationship Id="rId9" Type="http://schemas.openxmlformats.org/officeDocument/2006/relationships/image" Target="../media/image70.svg"/><Relationship Id="rId14" Type="http://schemas.openxmlformats.org/officeDocument/2006/relationships/image" Target="../media/image75.png"/><Relationship Id="rId22" Type="http://schemas.openxmlformats.org/officeDocument/2006/relationships/image" Target="../media/image51.png"/><Relationship Id="rId27" Type="http://schemas.openxmlformats.org/officeDocument/2006/relationships/image" Target="../media/image56.svg"/><Relationship Id="rId30" Type="http://schemas.openxmlformats.org/officeDocument/2006/relationships/image" Target="../media/image59.png"/><Relationship Id="rId35" Type="http://schemas.openxmlformats.org/officeDocument/2006/relationships/image" Target="../media/image64.svg"/><Relationship Id="rId8" Type="http://schemas.openxmlformats.org/officeDocument/2006/relationships/image" Target="../media/image69.png"/></Relationships>
</file>

<file path=ppt/slides/_rels/slide308.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6.svg"/><Relationship Id="rId18" Type="http://schemas.openxmlformats.org/officeDocument/2006/relationships/image" Target="../media/image61.png"/><Relationship Id="rId3" Type="http://schemas.openxmlformats.org/officeDocument/2006/relationships/image" Target="../media/image46.svg"/><Relationship Id="rId21" Type="http://schemas.openxmlformats.org/officeDocument/2006/relationships/image" Target="../media/image64.svg"/><Relationship Id="rId7" Type="http://schemas.openxmlformats.org/officeDocument/2006/relationships/image" Target="../media/image50.svg"/><Relationship Id="rId12" Type="http://schemas.openxmlformats.org/officeDocument/2006/relationships/image" Target="../media/image55.png"/><Relationship Id="rId17" Type="http://schemas.openxmlformats.org/officeDocument/2006/relationships/image" Target="../media/image60.svg"/><Relationship Id="rId2" Type="http://schemas.openxmlformats.org/officeDocument/2006/relationships/image" Target="../media/image45.png"/><Relationship Id="rId16" Type="http://schemas.openxmlformats.org/officeDocument/2006/relationships/image" Target="../media/image59.png"/><Relationship Id="rId20" Type="http://schemas.openxmlformats.org/officeDocument/2006/relationships/image" Target="../media/image63.png"/><Relationship Id="rId1" Type="http://schemas.openxmlformats.org/officeDocument/2006/relationships/slideLayout" Target="../slideLayouts/slideLayout2.xml"/><Relationship Id="rId6" Type="http://schemas.openxmlformats.org/officeDocument/2006/relationships/image" Target="../media/image49.png"/><Relationship Id="rId11" Type="http://schemas.openxmlformats.org/officeDocument/2006/relationships/image" Target="../media/image54.svg"/><Relationship Id="rId5" Type="http://schemas.openxmlformats.org/officeDocument/2006/relationships/image" Target="../media/image48.svg"/><Relationship Id="rId15" Type="http://schemas.openxmlformats.org/officeDocument/2006/relationships/image" Target="../media/image58.svg"/><Relationship Id="rId10" Type="http://schemas.openxmlformats.org/officeDocument/2006/relationships/image" Target="../media/image53.png"/><Relationship Id="rId19" Type="http://schemas.openxmlformats.org/officeDocument/2006/relationships/image" Target="../media/image62.svg"/><Relationship Id="rId4" Type="http://schemas.openxmlformats.org/officeDocument/2006/relationships/image" Target="../media/image47.png"/><Relationship Id="rId9" Type="http://schemas.openxmlformats.org/officeDocument/2006/relationships/image" Target="../media/image52.svg"/><Relationship Id="rId14" Type="http://schemas.openxmlformats.org/officeDocument/2006/relationships/image" Target="../media/image57.png"/></Relationships>
</file>

<file path=ppt/slides/_rels/slide309.xml.rels><?xml version="1.0" encoding="UTF-8" standalone="yes"?>
<Relationships xmlns="http://schemas.openxmlformats.org/package/2006/relationships"><Relationship Id="rId8" Type="http://schemas.openxmlformats.org/officeDocument/2006/relationships/image" Target="../media/image71.png"/><Relationship Id="rId13" Type="http://schemas.openxmlformats.org/officeDocument/2006/relationships/image" Target="../media/image76.svg"/><Relationship Id="rId3" Type="http://schemas.openxmlformats.org/officeDocument/2006/relationships/image" Target="../media/image18.svg"/><Relationship Id="rId7" Type="http://schemas.openxmlformats.org/officeDocument/2006/relationships/image" Target="../media/image70.svg"/><Relationship Id="rId12" Type="http://schemas.openxmlformats.org/officeDocument/2006/relationships/image" Target="../media/image75.png"/><Relationship Id="rId2"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image" Target="../media/image69.png"/><Relationship Id="rId11" Type="http://schemas.openxmlformats.org/officeDocument/2006/relationships/image" Target="../media/image74.svg"/><Relationship Id="rId5" Type="http://schemas.openxmlformats.org/officeDocument/2006/relationships/image" Target="../media/image44.svg"/><Relationship Id="rId10" Type="http://schemas.openxmlformats.org/officeDocument/2006/relationships/image" Target="../media/image73.png"/><Relationship Id="rId4" Type="http://schemas.openxmlformats.org/officeDocument/2006/relationships/image" Target="../media/image43.png"/><Relationship Id="rId9" Type="http://schemas.openxmlformats.org/officeDocument/2006/relationships/image" Target="../media/image72.svg"/></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313.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_rels/slide314.xml.rels><?xml version="1.0" encoding="UTF-8" standalone="yes"?>
<Relationships xmlns="http://schemas.openxmlformats.org/package/2006/relationships"><Relationship Id="rId8" Type="http://schemas.openxmlformats.org/officeDocument/2006/relationships/image" Target="../media/image376.png"/><Relationship Id="rId3" Type="http://schemas.openxmlformats.org/officeDocument/2006/relationships/image" Target="../media/image371.svg"/><Relationship Id="rId7" Type="http://schemas.openxmlformats.org/officeDocument/2006/relationships/image" Target="../media/image375.svg"/><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image" Target="../media/image374.png"/><Relationship Id="rId5" Type="http://schemas.openxmlformats.org/officeDocument/2006/relationships/image" Target="../media/image373.svg"/><Relationship Id="rId4" Type="http://schemas.openxmlformats.org/officeDocument/2006/relationships/image" Target="../media/image372.png"/><Relationship Id="rId9" Type="http://schemas.openxmlformats.org/officeDocument/2006/relationships/image" Target="../media/image377.sv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0063279-9F7F-4DFE-B2DC-CFEC409DDCEA}"/>
              </a:ext>
            </a:extLst>
          </p:cNvPr>
          <p:cNvSpPr>
            <a:spLocks noGrp="1"/>
          </p:cNvSpPr>
          <p:nvPr>
            <p:ph type="ctrTitle"/>
          </p:nvPr>
        </p:nvSpPr>
        <p:spPr/>
        <p:txBody>
          <a:bodyPr/>
          <a:lstStyle/>
          <a:p>
            <a:r>
              <a:rPr lang="fr-FR" dirty="0"/>
              <a:t>Formation Communautés d’entreprise</a:t>
            </a:r>
          </a:p>
        </p:txBody>
      </p:sp>
      <p:sp>
        <p:nvSpPr>
          <p:cNvPr id="3" name="Sous-titre 2">
            <a:extLst>
              <a:ext uri="{FF2B5EF4-FFF2-40B4-BE49-F238E27FC236}">
                <a16:creationId xmlns:a16="http://schemas.microsoft.com/office/drawing/2014/main" id="{21A6ED7C-AE24-4481-BB52-D1E651083BFD}"/>
              </a:ext>
            </a:extLst>
          </p:cNvPr>
          <p:cNvSpPr>
            <a:spLocks noGrp="1"/>
          </p:cNvSpPr>
          <p:nvPr>
            <p:ph type="subTitle" idx="1"/>
          </p:nvPr>
        </p:nvSpPr>
        <p:spPr/>
        <p:txBody>
          <a:bodyPr/>
          <a:lstStyle/>
          <a:p>
            <a:r>
              <a:rPr lang="fr-FR" dirty="0"/>
              <a:t>Module Valeur</a:t>
            </a:r>
          </a:p>
        </p:txBody>
      </p:sp>
      <p:grpSp>
        <p:nvGrpSpPr>
          <p:cNvPr id="8" name="Groupe 7">
            <a:extLst>
              <a:ext uri="{FF2B5EF4-FFF2-40B4-BE49-F238E27FC236}">
                <a16:creationId xmlns:a16="http://schemas.microsoft.com/office/drawing/2014/main" id="{66AAC292-1B67-6855-B119-23929BA0DCBE}"/>
              </a:ext>
            </a:extLst>
          </p:cNvPr>
          <p:cNvGrpSpPr/>
          <p:nvPr/>
        </p:nvGrpSpPr>
        <p:grpSpPr>
          <a:xfrm>
            <a:off x="5151593" y="4600574"/>
            <a:ext cx="1888814" cy="1765981"/>
            <a:chOff x="838200" y="2322576"/>
            <a:chExt cx="4325259" cy="4043980"/>
          </a:xfrm>
        </p:grpSpPr>
        <p:pic>
          <p:nvPicPr>
            <p:cNvPr id="4" name="Espace réservé du contenu 6" descr="Tribunal contour">
              <a:extLst>
                <a:ext uri="{FF2B5EF4-FFF2-40B4-BE49-F238E27FC236}">
                  <a16:creationId xmlns:a16="http://schemas.microsoft.com/office/drawing/2014/main" id="{BE249D22-89D7-3863-9D83-EAE2932E7C7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75101" r="8805" b="9752"/>
            <a:stretch/>
          </p:blipFill>
          <p:spPr>
            <a:xfrm>
              <a:off x="838200" y="5577840"/>
              <a:ext cx="4325259" cy="788716"/>
            </a:xfrm>
            <a:prstGeom prst="rect">
              <a:avLst/>
            </a:prstGeom>
          </p:spPr>
        </p:pic>
        <p:pic>
          <p:nvPicPr>
            <p:cNvPr id="5" name="Espace réservé du contenu 6" descr="Tribunal contour">
              <a:extLst>
                <a:ext uri="{FF2B5EF4-FFF2-40B4-BE49-F238E27FC236}">
                  <a16:creationId xmlns:a16="http://schemas.microsoft.com/office/drawing/2014/main" id="{03262CF8-DB50-9510-EDF8-F6CB438EB9A9}"/>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37523" r="8805" b="24898"/>
            <a:stretch/>
          </p:blipFill>
          <p:spPr>
            <a:xfrm>
              <a:off x="838200" y="3621024"/>
              <a:ext cx="4325259" cy="1956816"/>
            </a:xfrm>
            <a:prstGeom prst="rect">
              <a:avLst/>
            </a:prstGeom>
          </p:spPr>
        </p:pic>
        <p:pic>
          <p:nvPicPr>
            <p:cNvPr id="6" name="Espace réservé du contenu 6" descr="Tribunal contour">
              <a:extLst>
                <a:ext uri="{FF2B5EF4-FFF2-40B4-BE49-F238E27FC236}">
                  <a16:creationId xmlns:a16="http://schemas.microsoft.com/office/drawing/2014/main" id="{89E8F13C-9600-4584-18CE-902D50B2CCAB}"/>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838200" y="2322576"/>
              <a:ext cx="4325259" cy="1324928"/>
            </a:xfrm>
            <a:prstGeom prst="rect">
              <a:avLst/>
            </a:prstGeom>
          </p:spPr>
        </p:pic>
        <p:pic>
          <p:nvPicPr>
            <p:cNvPr id="7" name="Graphique 6" descr="Réussite du groupe avec un remplissage uni">
              <a:extLst>
                <a:ext uri="{FF2B5EF4-FFF2-40B4-BE49-F238E27FC236}">
                  <a16:creationId xmlns:a16="http://schemas.microsoft.com/office/drawing/2014/main" id="{845287B3-AE10-AB38-F476-A7357606D138}"/>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3979" b="19010"/>
            <a:stretch/>
          </p:blipFill>
          <p:spPr>
            <a:xfrm>
              <a:off x="2141153" y="4425696"/>
              <a:ext cx="1719352" cy="1152144"/>
            </a:xfrm>
            <a:prstGeom prst="rect">
              <a:avLst/>
            </a:prstGeom>
          </p:spPr>
        </p:pic>
      </p:grpSp>
      <p:pic>
        <p:nvPicPr>
          <p:cNvPr id="10" name="Image 9" descr="Une image contenant texte, clipart&#10;&#10;Description générée automatiquement">
            <a:extLst>
              <a:ext uri="{FF2B5EF4-FFF2-40B4-BE49-F238E27FC236}">
                <a16:creationId xmlns:a16="http://schemas.microsoft.com/office/drawing/2014/main" id="{B8F3E1D8-98B9-B0C8-BCFE-635E3220D70F}"/>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589210" y="491445"/>
            <a:ext cx="3013579" cy="1362758"/>
          </a:xfrm>
          <a:prstGeom prst="rect">
            <a:avLst/>
          </a:prstGeom>
        </p:spPr>
      </p:pic>
    </p:spTree>
    <p:extLst>
      <p:ext uri="{BB962C8B-B14F-4D97-AF65-F5344CB8AC3E}">
        <p14:creationId xmlns:p14="http://schemas.microsoft.com/office/powerpoint/2010/main" val="49580292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06A794F-5F08-337C-50F0-FFEFF1446E0F}"/>
              </a:ext>
            </a:extLst>
          </p:cNvPr>
          <p:cNvSpPr>
            <a:spLocks noGrp="1"/>
          </p:cNvSpPr>
          <p:nvPr>
            <p:ph type="title"/>
          </p:nvPr>
        </p:nvSpPr>
        <p:spPr/>
        <p:txBody>
          <a:bodyPr>
            <a:normAutofit/>
          </a:bodyPr>
          <a:lstStyle/>
          <a:p>
            <a:r>
              <a:rPr lang="fr-FR"/>
              <a:t>Ce document est un contenu #OpenSeriousCommunity #OSC</a:t>
            </a:r>
          </a:p>
        </p:txBody>
      </p:sp>
      <p:sp>
        <p:nvSpPr>
          <p:cNvPr id="3" name="Espace réservé du contenu 2">
            <a:extLst>
              <a:ext uri="{FF2B5EF4-FFF2-40B4-BE49-F238E27FC236}">
                <a16:creationId xmlns:a16="http://schemas.microsoft.com/office/drawing/2014/main" id="{CB182D3C-1E44-118D-E03C-489E469BD4D1}"/>
              </a:ext>
            </a:extLst>
          </p:cNvPr>
          <p:cNvSpPr>
            <a:spLocks noGrp="1"/>
          </p:cNvSpPr>
          <p:nvPr>
            <p:ph idx="1"/>
          </p:nvPr>
        </p:nvSpPr>
        <p:spPr>
          <a:xfrm>
            <a:off x="838200" y="2447635"/>
            <a:ext cx="6920345" cy="3729327"/>
          </a:xfrm>
        </p:spPr>
        <p:txBody>
          <a:bodyPr>
            <a:normAutofit fontScale="70000" lnSpcReduction="20000"/>
          </a:bodyPr>
          <a:lstStyle/>
          <a:p>
            <a:pPr marL="0" indent="0">
              <a:buNone/>
            </a:pPr>
            <a:r>
              <a:rPr lang="fr-FR"/>
              <a:t>#OpenSeriousCommunity est un ensemble de ressources dédiées à aider à animer, faire vivre, développer des communautés. </a:t>
            </a:r>
          </a:p>
          <a:p>
            <a:pPr marL="0" indent="0">
              <a:buNone/>
            </a:pPr>
            <a:r>
              <a:rPr lang="fr-FR"/>
              <a:t>Les communautés concernées par #OpenSeriousCommunity peuvent être tout autant du domaine de l’entreprise, que de celles des associations, des institutions ou privées. </a:t>
            </a:r>
          </a:p>
          <a:p>
            <a:pPr marL="0" indent="0">
              <a:buNone/>
            </a:pPr>
            <a:r>
              <a:rPr lang="fr-FR"/>
              <a:t>Les contenus #OpenSeriousCommunity suivent les attributs des contenus #OSG, c’est-à-dire qu’ils sont open source, et structurés pour favoriser un maximum l’appropriation du contenu à des fins de retransmission.</a:t>
            </a:r>
          </a:p>
          <a:p>
            <a:pPr marL="0" indent="0">
              <a:buNone/>
            </a:pPr>
            <a:r>
              <a:rPr lang="fr-FR"/>
              <a:t>Pour en savoir plus, rendez-vous sur </a:t>
            </a:r>
            <a:r>
              <a:rPr lang="fr-FR">
                <a:hlinkClick r:id="rId2"/>
              </a:rPr>
              <a:t>https://www.openseriousgames.org/OpenSeriousCommunity</a:t>
            </a:r>
            <a:endParaRPr lang="fr-FR"/>
          </a:p>
          <a:p>
            <a:pPr marL="0" indent="0">
              <a:buNone/>
            </a:pPr>
            <a:endParaRPr lang="fr-FR"/>
          </a:p>
        </p:txBody>
      </p:sp>
      <p:pic>
        <p:nvPicPr>
          <p:cNvPr id="5" name="Image 4">
            <a:extLst>
              <a:ext uri="{FF2B5EF4-FFF2-40B4-BE49-F238E27FC236}">
                <a16:creationId xmlns:a16="http://schemas.microsoft.com/office/drawing/2014/main" id="{F426674B-9CEA-9EBE-9AEA-28D0A38AB56C}"/>
              </a:ext>
            </a:extLst>
          </p:cNvPr>
          <p:cNvPicPr>
            <a:picLocks noChangeAspect="1"/>
          </p:cNvPicPr>
          <p:nvPr/>
        </p:nvPicPr>
        <p:blipFill rotWithShape="1">
          <a:blip r:embed="rId3">
            <a:extLst>
              <a:ext uri="{28A0092B-C50C-407E-A947-70E740481C1C}">
                <a14:useLocalDpi xmlns:a14="http://schemas.microsoft.com/office/drawing/2010/main" val="0"/>
              </a:ext>
            </a:extLst>
          </a:blip>
          <a:srcRect b="18340"/>
          <a:stretch/>
        </p:blipFill>
        <p:spPr>
          <a:xfrm>
            <a:off x="7923952" y="3081254"/>
            <a:ext cx="4027903" cy="1817759"/>
          </a:xfrm>
          <a:prstGeom prst="rect">
            <a:avLst/>
          </a:prstGeom>
        </p:spPr>
      </p:pic>
    </p:spTree>
    <p:extLst>
      <p:ext uri="{BB962C8B-B14F-4D97-AF65-F5344CB8AC3E}">
        <p14:creationId xmlns:p14="http://schemas.microsoft.com/office/powerpoint/2010/main" val="271929033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C9349DC-7A51-AFB3-FA53-DEFAA92C325F}"/>
              </a:ext>
            </a:extLst>
          </p:cNvPr>
          <p:cNvSpPr>
            <a:spLocks noGrp="1"/>
          </p:cNvSpPr>
          <p:nvPr>
            <p:ph type="title"/>
          </p:nvPr>
        </p:nvSpPr>
        <p:spPr/>
        <p:txBody>
          <a:bodyPr/>
          <a:lstStyle/>
          <a:p>
            <a:r>
              <a:rPr lang="fr-FR" dirty="0"/>
              <a:t>Dans quel contexte et quels buts cette formation a-t-elle été créée ?</a:t>
            </a:r>
          </a:p>
        </p:txBody>
      </p:sp>
      <p:sp>
        <p:nvSpPr>
          <p:cNvPr id="3" name="Espace réservé du contenu 2">
            <a:extLst>
              <a:ext uri="{FF2B5EF4-FFF2-40B4-BE49-F238E27FC236}">
                <a16:creationId xmlns:a16="http://schemas.microsoft.com/office/drawing/2014/main" id="{1840D9DC-2C9E-B8AD-62BB-C17F61192B6B}"/>
              </a:ext>
            </a:extLst>
          </p:cNvPr>
          <p:cNvSpPr>
            <a:spLocks noGrp="1"/>
          </p:cNvSpPr>
          <p:nvPr>
            <p:ph idx="1"/>
          </p:nvPr>
        </p:nvSpPr>
        <p:spPr>
          <a:xfrm>
            <a:off x="2995750" y="4319450"/>
            <a:ext cx="8421187" cy="2107476"/>
          </a:xfrm>
        </p:spPr>
        <p:txBody>
          <a:bodyPr>
            <a:normAutofit/>
          </a:bodyPr>
          <a:lstStyle/>
          <a:p>
            <a:pPr marL="0" indent="0">
              <a:buNone/>
            </a:pPr>
            <a:r>
              <a:rPr lang="fr-FR" sz="1800" dirty="0"/>
              <a:t>Les buts de cette formation sont : </a:t>
            </a:r>
          </a:p>
          <a:p>
            <a:pPr>
              <a:buFont typeface="Wingdings" panose="05000000000000000000" pitchFamily="2" charset="2"/>
              <a:buChar char="q"/>
            </a:pPr>
            <a:r>
              <a:rPr lang="fr-FR" sz="1800" dirty="0"/>
              <a:t>Développer la connaissance et la compréhension des Communautés d’entreprise</a:t>
            </a:r>
          </a:p>
          <a:p>
            <a:pPr>
              <a:buFont typeface="Wingdings" panose="05000000000000000000" pitchFamily="2" charset="2"/>
              <a:buChar char="q"/>
            </a:pPr>
            <a:r>
              <a:rPr lang="fr-FR" sz="1800" dirty="0"/>
              <a:t>Apporter une vision tactique permettant de faire les bons choix en tant que responsables</a:t>
            </a:r>
          </a:p>
          <a:p>
            <a:pPr>
              <a:buFont typeface="Wingdings" panose="05000000000000000000" pitchFamily="2" charset="2"/>
              <a:buChar char="q"/>
            </a:pPr>
            <a:r>
              <a:rPr lang="fr-FR" sz="1800" dirty="0"/>
              <a:t>Donner une méthode concrète, intelligible, généralisable, actionnable, qui cherche à se distinguer des « recettes pour inspiration »</a:t>
            </a:r>
          </a:p>
        </p:txBody>
      </p:sp>
      <p:pic>
        <p:nvPicPr>
          <p:cNvPr id="5" name="Graphique 4" descr="Mille avec un remplissage uni">
            <a:extLst>
              <a:ext uri="{FF2B5EF4-FFF2-40B4-BE49-F238E27FC236}">
                <a16:creationId xmlns:a16="http://schemas.microsoft.com/office/drawing/2014/main" id="{56B2FDF3-231E-DE08-D487-49EDE3715EA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4683" y="4157894"/>
            <a:ext cx="2269032" cy="2269032"/>
          </a:xfrm>
          <a:prstGeom prst="rect">
            <a:avLst/>
          </a:prstGeom>
        </p:spPr>
      </p:pic>
      <p:pic>
        <p:nvPicPr>
          <p:cNvPr id="6" name="Graphique 5" descr="Bâtiment avec un remplissage uni">
            <a:extLst>
              <a:ext uri="{FF2B5EF4-FFF2-40B4-BE49-F238E27FC236}">
                <a16:creationId xmlns:a16="http://schemas.microsoft.com/office/drawing/2014/main" id="{F5E3926B-9724-1950-4F37-1830DB432F4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139" y="1921589"/>
            <a:ext cx="1722120" cy="1722120"/>
          </a:xfrm>
          <a:prstGeom prst="rect">
            <a:avLst/>
          </a:prstGeom>
        </p:spPr>
      </p:pic>
      <p:sp>
        <p:nvSpPr>
          <p:cNvPr id="7" name="Espace réservé du contenu 2">
            <a:extLst>
              <a:ext uri="{FF2B5EF4-FFF2-40B4-BE49-F238E27FC236}">
                <a16:creationId xmlns:a16="http://schemas.microsoft.com/office/drawing/2014/main" id="{6F99E81C-63A4-8E56-5E48-92FA23D6873C}"/>
              </a:ext>
            </a:extLst>
          </p:cNvPr>
          <p:cNvSpPr txBox="1">
            <a:spLocks/>
          </p:cNvSpPr>
          <p:nvPr/>
        </p:nvSpPr>
        <p:spPr>
          <a:xfrm>
            <a:off x="2995750" y="1921589"/>
            <a:ext cx="8358050" cy="184880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800" dirty="0"/>
              <a:t>Cette formation a été créée à force d’accompagner de nombreuses </a:t>
            </a:r>
            <a:r>
              <a:rPr lang="fr-FR" sz="1800" b="1" dirty="0">
                <a:solidFill>
                  <a:srgbClr val="ED7D31"/>
                </a:solidFill>
              </a:rPr>
              <a:t>communautés d’entreprises (internes) </a:t>
            </a:r>
            <a:r>
              <a:rPr lang="fr-FR" sz="1800" dirty="0"/>
              <a:t>dans leur réussite, l’engagement de leurs membres et de leurs sponsors, à des fins de rendre beaucoup plus de personnes compétentes sur ce sujet.</a:t>
            </a:r>
          </a:p>
          <a:p>
            <a:pPr marL="0" indent="0">
              <a:buFont typeface="Arial" panose="020B0604020202020204" pitchFamily="34" charset="0"/>
              <a:buNone/>
            </a:pPr>
            <a:r>
              <a:rPr lang="fr-FR" sz="1800" dirty="0"/>
              <a:t>Les contenus de cette formation ont surtout été établis dans un contexte de grandes entreprises (grands groupes industriels ou de services, entreprises de conseil, …). Nous avons autant que possible généralisé certaines situations en se centrant sur des concepts génériques.</a:t>
            </a:r>
          </a:p>
        </p:txBody>
      </p:sp>
    </p:spTree>
    <p:extLst>
      <p:ext uri="{BB962C8B-B14F-4D97-AF65-F5344CB8AC3E}">
        <p14:creationId xmlns:p14="http://schemas.microsoft.com/office/powerpoint/2010/main" val="25459653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C9349DC-7A51-AFB3-FA53-DEFAA92C325F}"/>
              </a:ext>
            </a:extLst>
          </p:cNvPr>
          <p:cNvSpPr>
            <a:spLocks noGrp="1"/>
          </p:cNvSpPr>
          <p:nvPr>
            <p:ph type="title"/>
          </p:nvPr>
        </p:nvSpPr>
        <p:spPr/>
        <p:txBody>
          <a:bodyPr/>
          <a:lstStyle/>
          <a:p>
            <a:r>
              <a:rPr lang="fr-FR" dirty="0"/>
              <a:t>A qui est destinée cette formation ?</a:t>
            </a:r>
          </a:p>
        </p:txBody>
      </p:sp>
      <p:sp>
        <p:nvSpPr>
          <p:cNvPr id="3" name="Espace réservé du contenu 2">
            <a:extLst>
              <a:ext uri="{FF2B5EF4-FFF2-40B4-BE49-F238E27FC236}">
                <a16:creationId xmlns:a16="http://schemas.microsoft.com/office/drawing/2014/main" id="{1840D9DC-2C9E-B8AD-62BB-C17F61192B6B}"/>
              </a:ext>
            </a:extLst>
          </p:cNvPr>
          <p:cNvSpPr>
            <a:spLocks noGrp="1"/>
          </p:cNvSpPr>
          <p:nvPr>
            <p:ph idx="1"/>
          </p:nvPr>
        </p:nvSpPr>
        <p:spPr>
          <a:xfrm>
            <a:off x="2438400" y="1825625"/>
            <a:ext cx="8915400" cy="4351338"/>
          </a:xfrm>
        </p:spPr>
        <p:txBody>
          <a:bodyPr>
            <a:normAutofit fontScale="62500" lnSpcReduction="20000"/>
          </a:bodyPr>
          <a:lstStyle/>
          <a:p>
            <a:pPr marL="0" indent="0">
              <a:buNone/>
            </a:pPr>
            <a:r>
              <a:rPr lang="fr-FR" dirty="0"/>
              <a:t>Pour l’aspect opérationnel et tactique</a:t>
            </a:r>
          </a:p>
          <a:p>
            <a:r>
              <a:rPr lang="fr-FR" dirty="0"/>
              <a:t>Responsables de Communautés d’entreprise (de pratique, d’apprentissage, d’expertise, etc.)</a:t>
            </a:r>
          </a:p>
          <a:p>
            <a:r>
              <a:rPr lang="fr-FR" dirty="0"/>
              <a:t>Personnes souhaitant lancer des communautés d’entreprise</a:t>
            </a:r>
          </a:p>
          <a:p>
            <a:r>
              <a:rPr lang="fr-FR" dirty="0"/>
              <a:t>Toute personne souhaitant organiser des initiatives transverses entre départements, services ou équipes d’entreprise</a:t>
            </a:r>
          </a:p>
          <a:p>
            <a:r>
              <a:rPr lang="fr-FR" dirty="0"/>
              <a:t>Toute personne ayant la responsabilité d’un collectif de collaborateurs en entreprise, sans relation hiérarchique avec ce collectif, ou bien avec une relation hiérarchique et sans vouloir utiliser l’autorité pour engager.</a:t>
            </a:r>
          </a:p>
          <a:p>
            <a:endParaRPr lang="fr-FR" dirty="0"/>
          </a:p>
          <a:p>
            <a:pPr marL="0" indent="0">
              <a:buNone/>
            </a:pPr>
            <a:r>
              <a:rPr lang="fr-FR" dirty="0"/>
              <a:t>Pour l’aspect stratégique</a:t>
            </a:r>
          </a:p>
          <a:p>
            <a:r>
              <a:rPr lang="fr-FR" dirty="0"/>
              <a:t>Décisionnaires proches des responsables de Communautés d’entreprise</a:t>
            </a:r>
          </a:p>
          <a:p>
            <a:r>
              <a:rPr lang="fr-FR" dirty="0"/>
              <a:t>Sponsors de Communauté d’entreprise</a:t>
            </a:r>
          </a:p>
          <a:p>
            <a:r>
              <a:rPr lang="fr-FR" dirty="0"/>
              <a:t>Consultants / coachs organisationnels / accompagnateurs de communautés d’entreprise pu d’initiatives transverses</a:t>
            </a:r>
          </a:p>
        </p:txBody>
      </p:sp>
      <p:pic>
        <p:nvPicPr>
          <p:cNvPr id="4" name="Graphique 3" descr="Employée de bureau avec un remplissage uni">
            <a:extLst>
              <a:ext uri="{FF2B5EF4-FFF2-40B4-BE49-F238E27FC236}">
                <a16:creationId xmlns:a16="http://schemas.microsoft.com/office/drawing/2014/main" id="{882981B5-0B1F-73C9-0B24-34F669F96C7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44798" y="4234381"/>
            <a:ext cx="1325563" cy="1325563"/>
          </a:xfrm>
          <a:prstGeom prst="rect">
            <a:avLst/>
          </a:prstGeom>
        </p:spPr>
      </p:pic>
      <p:grpSp>
        <p:nvGrpSpPr>
          <p:cNvPr id="5" name="Groupe 4">
            <a:extLst>
              <a:ext uri="{FF2B5EF4-FFF2-40B4-BE49-F238E27FC236}">
                <a16:creationId xmlns:a16="http://schemas.microsoft.com/office/drawing/2014/main" id="{E6C11D2A-BBC1-34BB-BF04-8B35E7B1A654}"/>
              </a:ext>
            </a:extLst>
          </p:cNvPr>
          <p:cNvGrpSpPr/>
          <p:nvPr/>
        </p:nvGrpSpPr>
        <p:grpSpPr>
          <a:xfrm>
            <a:off x="754011" y="1988302"/>
            <a:ext cx="1507135" cy="1270634"/>
            <a:chOff x="8982504" y="3274976"/>
            <a:chExt cx="1230670" cy="1037553"/>
          </a:xfrm>
          <a:solidFill>
            <a:srgbClr val="ED7D31"/>
          </a:solidFill>
        </p:grpSpPr>
        <p:pic>
          <p:nvPicPr>
            <p:cNvPr id="6" name="Graphique 5" descr="Utilisateur avec un remplissage uni">
              <a:extLst>
                <a:ext uri="{FF2B5EF4-FFF2-40B4-BE49-F238E27FC236}">
                  <a16:creationId xmlns:a16="http://schemas.microsoft.com/office/drawing/2014/main" id="{33FB1239-1D0A-AAF6-D022-A4BD829693B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7" name="Graphique 6" descr="Utilisateur avec un remplissage uni">
              <a:extLst>
                <a:ext uri="{FF2B5EF4-FFF2-40B4-BE49-F238E27FC236}">
                  <a16:creationId xmlns:a16="http://schemas.microsoft.com/office/drawing/2014/main" id="{362E4758-54C4-463C-6337-BB621556675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 name="Graphique 7" descr="Utilisateur avec un remplissage uni">
              <a:extLst>
                <a:ext uri="{FF2B5EF4-FFF2-40B4-BE49-F238E27FC236}">
                  <a16:creationId xmlns:a16="http://schemas.microsoft.com/office/drawing/2014/main" id="{0EF47FF8-7356-C1EA-B43E-1955AA2AC92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 name="Graphique 8" descr="Utilisateur avec un remplissage uni">
              <a:extLst>
                <a:ext uri="{FF2B5EF4-FFF2-40B4-BE49-F238E27FC236}">
                  <a16:creationId xmlns:a16="http://schemas.microsoft.com/office/drawing/2014/main" id="{3D969D79-DC56-D2B9-746E-FD79E95DA58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0" name="Graphique 9" descr="Utilisateur avec un remplissage uni">
              <a:extLst>
                <a:ext uri="{FF2B5EF4-FFF2-40B4-BE49-F238E27FC236}">
                  <a16:creationId xmlns:a16="http://schemas.microsoft.com/office/drawing/2014/main" id="{F08AB6DB-D372-5AF9-7BC7-02D39AEE08B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82494F2-8091-A098-C5EE-E0E5D43F32F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2" name="Graphique 11" descr="Utilisateur avec un remplissage uni">
              <a:extLst>
                <a:ext uri="{FF2B5EF4-FFF2-40B4-BE49-F238E27FC236}">
                  <a16:creationId xmlns:a16="http://schemas.microsoft.com/office/drawing/2014/main" id="{4F6491B8-5878-A0A4-A76D-7243C5477F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3" name="Graphique 12" descr="Utilisateur avec un remplissage uni">
              <a:extLst>
                <a:ext uri="{FF2B5EF4-FFF2-40B4-BE49-F238E27FC236}">
                  <a16:creationId xmlns:a16="http://schemas.microsoft.com/office/drawing/2014/main" id="{066DAE3D-5365-0034-FA40-B7F40BA68E2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4" name="Graphique 13" descr="Utilisateur avec un remplissage uni">
              <a:extLst>
                <a:ext uri="{FF2B5EF4-FFF2-40B4-BE49-F238E27FC236}">
                  <a16:creationId xmlns:a16="http://schemas.microsoft.com/office/drawing/2014/main" id="{F185CF86-22DC-65D5-092A-37D930227D7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5" name="Graphique 14" descr="Utilisateur avec un remplissage uni">
              <a:extLst>
                <a:ext uri="{FF2B5EF4-FFF2-40B4-BE49-F238E27FC236}">
                  <a16:creationId xmlns:a16="http://schemas.microsoft.com/office/drawing/2014/main" id="{B0348AF4-A84D-CC85-0833-B9D022850AC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6" name="Graphique 15" descr="Utilisateur avec un remplissage uni">
              <a:extLst>
                <a:ext uri="{FF2B5EF4-FFF2-40B4-BE49-F238E27FC236}">
                  <a16:creationId xmlns:a16="http://schemas.microsoft.com/office/drawing/2014/main" id="{2FEF4038-BE7F-3595-2E54-942B710B51E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Tree>
    <p:extLst>
      <p:ext uri="{BB962C8B-B14F-4D97-AF65-F5344CB8AC3E}">
        <p14:creationId xmlns:p14="http://schemas.microsoft.com/office/powerpoint/2010/main" val="284062750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C9349DC-7A51-AFB3-FA53-DEFAA92C325F}"/>
              </a:ext>
            </a:extLst>
          </p:cNvPr>
          <p:cNvSpPr>
            <a:spLocks noGrp="1"/>
          </p:cNvSpPr>
          <p:nvPr>
            <p:ph type="title"/>
          </p:nvPr>
        </p:nvSpPr>
        <p:spPr/>
        <p:txBody>
          <a:bodyPr/>
          <a:lstStyle/>
          <a:p>
            <a:r>
              <a:rPr lang="fr-FR" dirty="0"/>
              <a:t>Quelques questions auxquelles cette formation cherche à répondre </a:t>
            </a:r>
          </a:p>
        </p:txBody>
      </p:sp>
      <p:sp>
        <p:nvSpPr>
          <p:cNvPr id="3" name="Espace réservé du contenu 2">
            <a:extLst>
              <a:ext uri="{FF2B5EF4-FFF2-40B4-BE49-F238E27FC236}">
                <a16:creationId xmlns:a16="http://schemas.microsoft.com/office/drawing/2014/main" id="{1840D9DC-2C9E-B8AD-62BB-C17F61192B6B}"/>
              </a:ext>
            </a:extLst>
          </p:cNvPr>
          <p:cNvSpPr>
            <a:spLocks noGrp="1"/>
          </p:cNvSpPr>
          <p:nvPr>
            <p:ph idx="1"/>
          </p:nvPr>
        </p:nvSpPr>
        <p:spPr>
          <a:xfrm>
            <a:off x="4589417" y="2160285"/>
            <a:ext cx="6764383" cy="4016677"/>
          </a:xfrm>
        </p:spPr>
        <p:txBody>
          <a:bodyPr>
            <a:noAutofit/>
          </a:bodyPr>
          <a:lstStyle/>
          <a:p>
            <a:pPr>
              <a:buFont typeface="Wingdings" panose="05000000000000000000" pitchFamily="2" charset="2"/>
              <a:buChar char="Ø"/>
            </a:pPr>
            <a:r>
              <a:rPr lang="fr-FR" sz="1800" dirty="0"/>
              <a:t>Qu’est-ce qu’une communauté d’entreprise ?</a:t>
            </a:r>
          </a:p>
          <a:p>
            <a:pPr>
              <a:buFont typeface="Wingdings" panose="05000000000000000000" pitchFamily="2" charset="2"/>
              <a:buChar char="Ø"/>
            </a:pPr>
            <a:r>
              <a:rPr lang="fr-FR" sz="1800" dirty="0"/>
              <a:t>Quelle valeur y’a-t-il a choisir une approche communauté ? Quelles limites?</a:t>
            </a:r>
          </a:p>
          <a:p>
            <a:pPr>
              <a:buFont typeface="Wingdings" panose="05000000000000000000" pitchFamily="2" charset="2"/>
              <a:buChar char="Ø"/>
            </a:pPr>
            <a:r>
              <a:rPr lang="fr-FR" sz="1800" dirty="0"/>
              <a:t>Quand monter (et quand ne pas monter) une communauté d’entreprise ? </a:t>
            </a:r>
          </a:p>
          <a:p>
            <a:pPr>
              <a:buFont typeface="Wingdings" panose="05000000000000000000" pitchFamily="2" charset="2"/>
              <a:buChar char="Ø"/>
            </a:pPr>
            <a:r>
              <a:rPr lang="fr-FR" sz="1800" dirty="0"/>
              <a:t>Qu’est-ce qui pourrait engager les membres ?</a:t>
            </a:r>
          </a:p>
          <a:p>
            <a:pPr>
              <a:buFont typeface="Wingdings" panose="05000000000000000000" pitchFamily="2" charset="2"/>
              <a:buChar char="Ø"/>
            </a:pPr>
            <a:r>
              <a:rPr lang="fr-FR" sz="1800" dirty="0"/>
              <a:t>Comment augmenter la valeur d’une Communauté pour l’entreprise?</a:t>
            </a:r>
          </a:p>
          <a:p>
            <a:pPr>
              <a:buFont typeface="Wingdings" panose="05000000000000000000" pitchFamily="2" charset="2"/>
              <a:buChar char="Ø"/>
            </a:pPr>
            <a:r>
              <a:rPr lang="fr-FR" sz="1800" dirty="0"/>
              <a:t>Comment résoudre les blocages et tensions du management, des sponsors, des membres ?</a:t>
            </a:r>
          </a:p>
          <a:p>
            <a:pPr>
              <a:buFont typeface="Wingdings" panose="05000000000000000000" pitchFamily="2" charset="2"/>
              <a:buChar char="Ø"/>
            </a:pPr>
            <a:r>
              <a:rPr lang="fr-FR" sz="1800" dirty="0"/>
              <a:t>Quoi faire à quel moment dans une communauté d’entreprise ?</a:t>
            </a:r>
          </a:p>
          <a:p>
            <a:pPr>
              <a:buFont typeface="Wingdings" panose="05000000000000000000" pitchFamily="2" charset="2"/>
              <a:buChar char="Ø"/>
            </a:pPr>
            <a:r>
              <a:rPr lang="fr-FR" sz="1800" dirty="0"/>
              <a:t>Comment se lancer progressivement ?</a:t>
            </a:r>
          </a:p>
        </p:txBody>
      </p:sp>
      <p:pic>
        <p:nvPicPr>
          <p:cNvPr id="5" name="Graphique 4" descr="Aide avec un remplissage uni">
            <a:extLst>
              <a:ext uri="{FF2B5EF4-FFF2-40B4-BE49-F238E27FC236}">
                <a16:creationId xmlns:a16="http://schemas.microsoft.com/office/drawing/2014/main" id="{A21A5028-E845-8063-FF86-C62BEFF6A8C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13726" y="2490315"/>
            <a:ext cx="3356615" cy="3356615"/>
          </a:xfrm>
          <a:prstGeom prst="rect">
            <a:avLst/>
          </a:prstGeom>
        </p:spPr>
      </p:pic>
    </p:spTree>
    <p:extLst>
      <p:ext uri="{BB962C8B-B14F-4D97-AF65-F5344CB8AC3E}">
        <p14:creationId xmlns:p14="http://schemas.microsoft.com/office/powerpoint/2010/main" val="331477361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C9349DC-7A51-AFB3-FA53-DEFAA92C325F}"/>
              </a:ext>
            </a:extLst>
          </p:cNvPr>
          <p:cNvSpPr>
            <a:spLocks noGrp="1"/>
          </p:cNvSpPr>
          <p:nvPr>
            <p:ph type="title"/>
          </p:nvPr>
        </p:nvSpPr>
        <p:spPr/>
        <p:txBody>
          <a:bodyPr/>
          <a:lstStyle/>
          <a:p>
            <a:r>
              <a:rPr lang="fr-FR" dirty="0"/>
              <a:t>Repères visuels et légende</a:t>
            </a:r>
          </a:p>
        </p:txBody>
      </p:sp>
      <p:sp>
        <p:nvSpPr>
          <p:cNvPr id="3" name="Espace réservé du contenu 2">
            <a:extLst>
              <a:ext uri="{FF2B5EF4-FFF2-40B4-BE49-F238E27FC236}">
                <a16:creationId xmlns:a16="http://schemas.microsoft.com/office/drawing/2014/main" id="{1840D9DC-2C9E-B8AD-62BB-C17F61192B6B}"/>
              </a:ext>
            </a:extLst>
          </p:cNvPr>
          <p:cNvSpPr>
            <a:spLocks noGrp="1"/>
          </p:cNvSpPr>
          <p:nvPr>
            <p:ph idx="1"/>
          </p:nvPr>
        </p:nvSpPr>
        <p:spPr>
          <a:xfrm>
            <a:off x="1384524" y="3176292"/>
            <a:ext cx="1400370" cy="2873964"/>
          </a:xfrm>
        </p:spPr>
        <p:txBody>
          <a:bodyPr>
            <a:normAutofit/>
          </a:bodyPr>
          <a:lstStyle/>
          <a:p>
            <a:pPr marL="0" indent="0">
              <a:buNone/>
            </a:pPr>
            <a:r>
              <a:rPr lang="fr-FR" sz="1400" dirty="0"/>
              <a:t>Les exemples utilisent communément des sigles « Techno XYZ  », « Entreprise ABCD », « Communauté DEFG » pour désigner des aspects génériques</a:t>
            </a:r>
          </a:p>
        </p:txBody>
      </p:sp>
      <p:sp>
        <p:nvSpPr>
          <p:cNvPr id="4" name="ZoneTexte 3">
            <a:extLst>
              <a:ext uri="{FF2B5EF4-FFF2-40B4-BE49-F238E27FC236}">
                <a16:creationId xmlns:a16="http://schemas.microsoft.com/office/drawing/2014/main" id="{2C6B4C59-0594-BBCE-9891-664208E2560F}"/>
              </a:ext>
            </a:extLst>
          </p:cNvPr>
          <p:cNvSpPr txBox="1"/>
          <p:nvPr/>
        </p:nvSpPr>
        <p:spPr>
          <a:xfrm>
            <a:off x="4516181" y="1597977"/>
            <a:ext cx="1400370" cy="784830"/>
          </a:xfrm>
          <a:prstGeom prst="rect">
            <a:avLst/>
          </a:prstGeom>
          <a:solidFill>
            <a:srgbClr val="54FFB3"/>
          </a:solidFill>
        </p:spPr>
        <p:txBody>
          <a:bodyPr wrap="square" anchor="ctr">
            <a:noAutofit/>
          </a:bodyPr>
          <a:lstStyle/>
          <a:p>
            <a:pPr algn="ctr"/>
            <a:r>
              <a:rPr lang="fr-FR" sz="1000" dirty="0"/>
              <a:t>Avantages</a:t>
            </a:r>
          </a:p>
          <a:p>
            <a:pPr algn="ctr"/>
            <a:r>
              <a:rPr lang="fr-FR" sz="1000" dirty="0"/>
              <a:t>Motivations</a:t>
            </a:r>
          </a:p>
          <a:p>
            <a:pPr algn="ctr"/>
            <a:r>
              <a:rPr lang="fr-FR" sz="1000" dirty="0"/>
              <a:t>Points positifs</a:t>
            </a:r>
          </a:p>
          <a:p>
            <a:pPr algn="ctr"/>
            <a:r>
              <a:rPr lang="fr-FR" sz="1000" dirty="0"/>
              <a:t>Conséquences positives</a:t>
            </a:r>
          </a:p>
        </p:txBody>
      </p:sp>
      <p:sp>
        <p:nvSpPr>
          <p:cNvPr id="5" name="ZoneTexte 4">
            <a:extLst>
              <a:ext uri="{FF2B5EF4-FFF2-40B4-BE49-F238E27FC236}">
                <a16:creationId xmlns:a16="http://schemas.microsoft.com/office/drawing/2014/main" id="{F1CD8251-38D3-4613-16B3-51908ED23B0C}"/>
              </a:ext>
            </a:extLst>
          </p:cNvPr>
          <p:cNvSpPr txBox="1"/>
          <p:nvPr/>
        </p:nvSpPr>
        <p:spPr>
          <a:xfrm>
            <a:off x="6082010" y="1597977"/>
            <a:ext cx="1400370" cy="784830"/>
          </a:xfrm>
          <a:prstGeom prst="rect">
            <a:avLst/>
          </a:prstGeom>
          <a:solidFill>
            <a:srgbClr val="FF7C80"/>
          </a:solidFill>
        </p:spPr>
        <p:txBody>
          <a:bodyPr wrap="square" anchor="ctr">
            <a:noAutofit/>
          </a:bodyPr>
          <a:lstStyle/>
          <a:p>
            <a:pPr algn="ctr"/>
            <a:r>
              <a:rPr lang="fr-FR" sz="1000" dirty="0"/>
              <a:t>Inconvénients</a:t>
            </a:r>
          </a:p>
          <a:p>
            <a:pPr algn="ctr"/>
            <a:r>
              <a:rPr lang="fr-FR" sz="1000" dirty="0"/>
              <a:t>Démotivations, Blocages</a:t>
            </a:r>
          </a:p>
          <a:p>
            <a:pPr algn="ctr"/>
            <a:r>
              <a:rPr lang="fr-FR" sz="1000" dirty="0"/>
              <a:t>Point ou conséquences négatives</a:t>
            </a:r>
          </a:p>
        </p:txBody>
      </p:sp>
      <p:sp>
        <p:nvSpPr>
          <p:cNvPr id="6" name="ZoneTexte 5">
            <a:extLst>
              <a:ext uri="{FF2B5EF4-FFF2-40B4-BE49-F238E27FC236}">
                <a16:creationId xmlns:a16="http://schemas.microsoft.com/office/drawing/2014/main" id="{8FD74FB2-1029-31A6-638F-F24C6A29C667}"/>
              </a:ext>
            </a:extLst>
          </p:cNvPr>
          <p:cNvSpPr txBox="1"/>
          <p:nvPr/>
        </p:nvSpPr>
        <p:spPr>
          <a:xfrm>
            <a:off x="7647837" y="1597977"/>
            <a:ext cx="1400370" cy="784830"/>
          </a:xfrm>
          <a:prstGeom prst="rect">
            <a:avLst/>
          </a:prstGeom>
          <a:solidFill>
            <a:schemeClr val="bg1">
              <a:lumMod val="85000"/>
            </a:schemeClr>
          </a:solidFill>
        </p:spPr>
        <p:txBody>
          <a:bodyPr wrap="square" anchor="ctr">
            <a:noAutofit/>
          </a:bodyPr>
          <a:lstStyle/>
          <a:p>
            <a:pPr algn="ctr"/>
            <a:r>
              <a:rPr lang="fr-FR" sz="1000" dirty="0"/>
              <a:t>Action 📅Evènements (ateliers, moments collectifs, diffusion, etc.)</a:t>
            </a:r>
          </a:p>
        </p:txBody>
      </p:sp>
      <p:sp>
        <p:nvSpPr>
          <p:cNvPr id="7" name="ZoneTexte 6">
            <a:extLst>
              <a:ext uri="{FF2B5EF4-FFF2-40B4-BE49-F238E27FC236}">
                <a16:creationId xmlns:a16="http://schemas.microsoft.com/office/drawing/2014/main" id="{4D888749-0088-7DC9-14CC-9904DB2AB705}"/>
              </a:ext>
            </a:extLst>
          </p:cNvPr>
          <p:cNvSpPr txBox="1"/>
          <p:nvPr/>
        </p:nvSpPr>
        <p:spPr>
          <a:xfrm>
            <a:off x="9213666" y="1597977"/>
            <a:ext cx="1400370" cy="784830"/>
          </a:xfrm>
          <a:prstGeom prst="rect">
            <a:avLst/>
          </a:prstGeom>
          <a:solidFill>
            <a:srgbClr val="3494BA"/>
          </a:solidFill>
        </p:spPr>
        <p:txBody>
          <a:bodyPr wrap="square" anchor="ctr">
            <a:noAutofit/>
          </a:bodyPr>
          <a:lstStyle/>
          <a:p>
            <a:pPr algn="ctr"/>
            <a:r>
              <a:rPr lang="fr-FR" sz="1000" dirty="0">
                <a:solidFill>
                  <a:schemeClr val="bg1"/>
                </a:solidFill>
              </a:rPr>
              <a:t>Ressource clé de la Communauté</a:t>
            </a:r>
          </a:p>
        </p:txBody>
      </p:sp>
      <p:sp>
        <p:nvSpPr>
          <p:cNvPr id="8" name="ZoneTexte 7">
            <a:extLst>
              <a:ext uri="{FF2B5EF4-FFF2-40B4-BE49-F238E27FC236}">
                <a16:creationId xmlns:a16="http://schemas.microsoft.com/office/drawing/2014/main" id="{5DA06633-C47E-2B6C-B8CB-A45DBD4772AF}"/>
              </a:ext>
            </a:extLst>
          </p:cNvPr>
          <p:cNvSpPr txBox="1"/>
          <p:nvPr/>
        </p:nvSpPr>
        <p:spPr>
          <a:xfrm>
            <a:off x="1384523" y="1597977"/>
            <a:ext cx="1400370" cy="784830"/>
          </a:xfrm>
          <a:prstGeom prst="rect">
            <a:avLst/>
          </a:prstGeom>
          <a:solidFill>
            <a:schemeClr val="bg1"/>
          </a:solidFill>
          <a:ln>
            <a:solidFill>
              <a:schemeClr val="tx1"/>
            </a:solidFill>
          </a:ln>
        </p:spPr>
        <p:txBody>
          <a:bodyPr wrap="square" anchor="ctr">
            <a:noAutofit/>
          </a:bodyPr>
          <a:lstStyle/>
          <a:p>
            <a:pPr algn="ctr"/>
            <a:r>
              <a:rPr lang="fr-FR" sz="1000" dirty="0"/>
              <a:t>Situation exemple</a:t>
            </a:r>
          </a:p>
        </p:txBody>
      </p:sp>
      <p:sp>
        <p:nvSpPr>
          <p:cNvPr id="9" name="ZoneTexte 8">
            <a:extLst>
              <a:ext uri="{FF2B5EF4-FFF2-40B4-BE49-F238E27FC236}">
                <a16:creationId xmlns:a16="http://schemas.microsoft.com/office/drawing/2014/main" id="{C0497994-F487-AB6A-6743-0E9F469F7549}"/>
              </a:ext>
            </a:extLst>
          </p:cNvPr>
          <p:cNvSpPr txBox="1"/>
          <p:nvPr/>
        </p:nvSpPr>
        <p:spPr>
          <a:xfrm>
            <a:off x="2950352" y="1597977"/>
            <a:ext cx="1400370" cy="784830"/>
          </a:xfrm>
          <a:prstGeom prst="rect">
            <a:avLst/>
          </a:prstGeom>
          <a:solidFill>
            <a:srgbClr val="ED7D31"/>
          </a:solidFill>
          <a:ln>
            <a:noFill/>
          </a:ln>
        </p:spPr>
        <p:txBody>
          <a:bodyPr wrap="square" anchor="ctr">
            <a:noAutofit/>
          </a:bodyPr>
          <a:lstStyle/>
          <a:p>
            <a:pPr algn="ctr"/>
            <a:r>
              <a:rPr lang="fr-FR" sz="1000" dirty="0"/>
              <a:t>Caractéristique marquante du terrain ou du contexte</a:t>
            </a:r>
          </a:p>
        </p:txBody>
      </p:sp>
      <p:sp>
        <p:nvSpPr>
          <p:cNvPr id="10" name="ZoneTexte 9">
            <a:extLst>
              <a:ext uri="{FF2B5EF4-FFF2-40B4-BE49-F238E27FC236}">
                <a16:creationId xmlns:a16="http://schemas.microsoft.com/office/drawing/2014/main" id="{83D60604-CD39-60EC-02AF-1118F8D50A63}"/>
              </a:ext>
            </a:extLst>
          </p:cNvPr>
          <p:cNvSpPr txBox="1"/>
          <p:nvPr/>
        </p:nvSpPr>
        <p:spPr>
          <a:xfrm>
            <a:off x="7647836" y="2451417"/>
            <a:ext cx="1400370" cy="784830"/>
          </a:xfrm>
          <a:prstGeom prst="rect">
            <a:avLst/>
          </a:prstGeom>
          <a:solidFill>
            <a:schemeClr val="bg1">
              <a:lumMod val="85000"/>
            </a:schemeClr>
          </a:solidFill>
        </p:spPr>
        <p:txBody>
          <a:bodyPr wrap="square" anchor="ctr">
            <a:noAutofit/>
          </a:bodyPr>
          <a:lstStyle/>
          <a:p>
            <a:pPr algn="ctr"/>
            <a:r>
              <a:rPr lang="fr-FR" sz="1000" dirty="0"/>
              <a:t>Action✍️Contenus (livrables, articles, </a:t>
            </a:r>
            <a:r>
              <a:rPr lang="fr-FR" sz="1000" dirty="0" err="1"/>
              <a:t>posts</a:t>
            </a:r>
            <a:r>
              <a:rPr lang="fr-FR" sz="1000" dirty="0"/>
              <a:t>, photos, vidéos, sons, présentations…)</a:t>
            </a:r>
          </a:p>
        </p:txBody>
      </p:sp>
      <p:sp>
        <p:nvSpPr>
          <p:cNvPr id="11" name="ZoneTexte 10">
            <a:extLst>
              <a:ext uri="{FF2B5EF4-FFF2-40B4-BE49-F238E27FC236}">
                <a16:creationId xmlns:a16="http://schemas.microsoft.com/office/drawing/2014/main" id="{7BC71331-B224-544F-E7AE-5CD41369FC18}"/>
              </a:ext>
            </a:extLst>
          </p:cNvPr>
          <p:cNvSpPr txBox="1"/>
          <p:nvPr/>
        </p:nvSpPr>
        <p:spPr>
          <a:xfrm>
            <a:off x="7647836" y="3336138"/>
            <a:ext cx="1400370" cy="784830"/>
          </a:xfrm>
          <a:prstGeom prst="rect">
            <a:avLst/>
          </a:prstGeom>
          <a:solidFill>
            <a:schemeClr val="bg1">
              <a:lumMod val="85000"/>
            </a:schemeClr>
          </a:solidFill>
        </p:spPr>
        <p:txBody>
          <a:bodyPr wrap="square" anchor="ctr">
            <a:noAutofit/>
          </a:bodyPr>
          <a:lstStyle/>
          <a:p>
            <a:pPr algn="ctr"/>
            <a:r>
              <a:rPr lang="fr-FR" sz="1000" dirty="0"/>
              <a:t>Action</a:t>
            </a:r>
          </a:p>
          <a:p>
            <a:pPr algn="ctr"/>
            <a:r>
              <a:rPr lang="fr-FR" sz="1000" dirty="0"/>
              <a:t>⚙️Structuration de Communauté (règles, processus, outils, …)</a:t>
            </a:r>
          </a:p>
        </p:txBody>
      </p:sp>
      <p:sp>
        <p:nvSpPr>
          <p:cNvPr id="12" name="ZoneTexte 11">
            <a:extLst>
              <a:ext uri="{FF2B5EF4-FFF2-40B4-BE49-F238E27FC236}">
                <a16:creationId xmlns:a16="http://schemas.microsoft.com/office/drawing/2014/main" id="{2E45A1B9-BF46-D4D8-2349-538505D37192}"/>
              </a:ext>
            </a:extLst>
          </p:cNvPr>
          <p:cNvSpPr txBox="1"/>
          <p:nvPr/>
        </p:nvSpPr>
        <p:spPr>
          <a:xfrm>
            <a:off x="7647835" y="4220859"/>
            <a:ext cx="1400370" cy="784830"/>
          </a:xfrm>
          <a:prstGeom prst="rect">
            <a:avLst/>
          </a:prstGeom>
          <a:solidFill>
            <a:schemeClr val="bg1">
              <a:lumMod val="85000"/>
            </a:schemeClr>
          </a:solidFill>
        </p:spPr>
        <p:txBody>
          <a:bodyPr wrap="square" anchor="ctr">
            <a:noAutofit/>
          </a:bodyPr>
          <a:lstStyle/>
          <a:p>
            <a:pPr algn="ctr"/>
            <a:r>
              <a:rPr lang="fr-FR" sz="1000" dirty="0"/>
              <a:t>Action</a:t>
            </a:r>
          </a:p>
          <a:p>
            <a:pPr algn="ctr"/>
            <a:r>
              <a:rPr lang="fr-FR" sz="1000" dirty="0"/>
              <a:t>📅+⚙️Structuration de moments (règle ou pratique sur les moments collectifs)</a:t>
            </a:r>
          </a:p>
        </p:txBody>
      </p:sp>
      <p:sp>
        <p:nvSpPr>
          <p:cNvPr id="13" name="ZoneTexte 12">
            <a:extLst>
              <a:ext uri="{FF2B5EF4-FFF2-40B4-BE49-F238E27FC236}">
                <a16:creationId xmlns:a16="http://schemas.microsoft.com/office/drawing/2014/main" id="{BA992054-440D-D044-97C3-4A02F9283227}"/>
              </a:ext>
            </a:extLst>
          </p:cNvPr>
          <p:cNvSpPr txBox="1"/>
          <p:nvPr/>
        </p:nvSpPr>
        <p:spPr>
          <a:xfrm>
            <a:off x="7647834" y="5105581"/>
            <a:ext cx="1400370" cy="784830"/>
          </a:xfrm>
          <a:prstGeom prst="rect">
            <a:avLst/>
          </a:prstGeom>
          <a:solidFill>
            <a:schemeClr val="bg1">
              <a:lumMod val="85000"/>
            </a:schemeClr>
          </a:solidFill>
        </p:spPr>
        <p:txBody>
          <a:bodyPr wrap="square" anchor="ctr">
            <a:noAutofit/>
          </a:bodyPr>
          <a:lstStyle/>
          <a:p>
            <a:pPr algn="ctr"/>
            <a:r>
              <a:rPr lang="fr-FR" sz="1000" dirty="0"/>
              <a:t>Action ✍️+⚙️ Structuration de Contenus (règles ou pratique sur les contenus)</a:t>
            </a:r>
          </a:p>
        </p:txBody>
      </p:sp>
    </p:spTree>
    <p:extLst>
      <p:ext uri="{BB962C8B-B14F-4D97-AF65-F5344CB8AC3E}">
        <p14:creationId xmlns:p14="http://schemas.microsoft.com/office/powerpoint/2010/main" val="364948097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3D917CC-25DF-EB15-CD40-3D9E38754C41}"/>
              </a:ext>
            </a:extLst>
          </p:cNvPr>
          <p:cNvSpPr>
            <a:spLocks noGrp="1"/>
          </p:cNvSpPr>
          <p:nvPr>
            <p:ph type="title"/>
          </p:nvPr>
        </p:nvSpPr>
        <p:spPr/>
        <p:txBody>
          <a:bodyPr>
            <a:normAutofit/>
          </a:bodyPr>
          <a:lstStyle/>
          <a:p>
            <a:r>
              <a:rPr lang="fr-FR" sz="3600" dirty="0"/>
              <a:t>Comment nous espérons vous faire sentir à la fin de cette formation (1/3)</a:t>
            </a:r>
          </a:p>
        </p:txBody>
      </p:sp>
      <p:sp>
        <p:nvSpPr>
          <p:cNvPr id="3" name="Espace réservé du contenu 2">
            <a:extLst>
              <a:ext uri="{FF2B5EF4-FFF2-40B4-BE49-F238E27FC236}">
                <a16:creationId xmlns:a16="http://schemas.microsoft.com/office/drawing/2014/main" id="{2494C5C1-43FA-D205-A0C9-EFA8D300F860}"/>
              </a:ext>
            </a:extLst>
          </p:cNvPr>
          <p:cNvSpPr>
            <a:spLocks noGrp="1"/>
          </p:cNvSpPr>
          <p:nvPr>
            <p:ph idx="1"/>
          </p:nvPr>
        </p:nvSpPr>
        <p:spPr>
          <a:xfrm>
            <a:off x="838200" y="1825625"/>
            <a:ext cx="3305173" cy="4351338"/>
          </a:xfrm>
        </p:spPr>
        <p:txBody>
          <a:bodyPr>
            <a:normAutofit fontScale="85000" lnSpcReduction="20000"/>
          </a:bodyPr>
          <a:lstStyle/>
          <a:p>
            <a:r>
              <a:rPr lang="fr-FR" sz="1800" dirty="0"/>
              <a:t>Le but de cette formation n’est PAS de maximiser votre confiance en vous ou votre sentiment de maîtrise absolue</a:t>
            </a:r>
          </a:p>
          <a:p>
            <a:endParaRPr lang="fr-FR" sz="1800" dirty="0"/>
          </a:p>
          <a:p>
            <a:r>
              <a:rPr lang="fr-FR" sz="1800" dirty="0"/>
              <a:t>Si vous passez par cette phase de « sentiment de maîtrise absolue », vous êtes encore en chemin</a:t>
            </a:r>
          </a:p>
          <a:p>
            <a:endParaRPr lang="fr-FR" sz="1800" dirty="0"/>
          </a:p>
          <a:p>
            <a:r>
              <a:rPr lang="fr-FR" sz="1800" dirty="0"/>
              <a:t>Promettre « une maîtrise facile et absolue » en très peu de temps ou d’effort est tentant pour tous, mais peu honnête intellectuellement ni constructif sur du long terme.</a:t>
            </a:r>
          </a:p>
          <a:p>
            <a:endParaRPr lang="fr-FR" sz="1800" dirty="0"/>
          </a:p>
          <a:p>
            <a:r>
              <a:rPr lang="fr-FR" sz="1800" dirty="0"/>
              <a:t>De manière générale, nous vous invitons à rester vigilant sur toute formation ou formateur présentant de la facilité extrême à moindre effort d’apprentissage ou de pratique.</a:t>
            </a:r>
          </a:p>
        </p:txBody>
      </p:sp>
      <p:grpSp>
        <p:nvGrpSpPr>
          <p:cNvPr id="8" name="Groupe 7">
            <a:extLst>
              <a:ext uri="{FF2B5EF4-FFF2-40B4-BE49-F238E27FC236}">
                <a16:creationId xmlns:a16="http://schemas.microsoft.com/office/drawing/2014/main" id="{0A3E7E1B-EFF5-DB53-97B4-48B91598EF9E}"/>
              </a:ext>
            </a:extLst>
          </p:cNvPr>
          <p:cNvGrpSpPr/>
          <p:nvPr/>
        </p:nvGrpSpPr>
        <p:grpSpPr>
          <a:xfrm>
            <a:off x="5140234" y="2842202"/>
            <a:ext cx="6213566" cy="3762103"/>
            <a:chOff x="5140234" y="2270760"/>
            <a:chExt cx="6213566" cy="3762103"/>
          </a:xfrm>
        </p:grpSpPr>
        <p:cxnSp>
          <p:nvCxnSpPr>
            <p:cNvPr id="5" name="Connecteur droit avec flèche 4">
              <a:extLst>
                <a:ext uri="{FF2B5EF4-FFF2-40B4-BE49-F238E27FC236}">
                  <a16:creationId xmlns:a16="http://schemas.microsoft.com/office/drawing/2014/main" id="{A0E386DD-DCA7-D721-6DC7-B5B5043BB593}"/>
                </a:ext>
              </a:extLst>
            </p:cNvPr>
            <p:cNvCxnSpPr/>
            <p:nvPr/>
          </p:nvCxnSpPr>
          <p:spPr>
            <a:xfrm flipV="1">
              <a:off x="5355771" y="2270760"/>
              <a:ext cx="0" cy="3762103"/>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 name="Connecteur droit avec flèche 5">
              <a:extLst>
                <a:ext uri="{FF2B5EF4-FFF2-40B4-BE49-F238E27FC236}">
                  <a16:creationId xmlns:a16="http://schemas.microsoft.com/office/drawing/2014/main" id="{5749F2E4-431A-2762-B4CF-6ECEBAA395DD}"/>
                </a:ext>
              </a:extLst>
            </p:cNvPr>
            <p:cNvCxnSpPr>
              <a:cxnSpLocks/>
            </p:cNvCxnSpPr>
            <p:nvPr/>
          </p:nvCxnSpPr>
          <p:spPr>
            <a:xfrm flipV="1">
              <a:off x="5140234" y="5802494"/>
              <a:ext cx="6213566" cy="830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9" name="Espace réservé du contenu 2">
            <a:extLst>
              <a:ext uri="{FF2B5EF4-FFF2-40B4-BE49-F238E27FC236}">
                <a16:creationId xmlns:a16="http://schemas.microsoft.com/office/drawing/2014/main" id="{E570F7F9-81F9-5761-D171-C92040444970}"/>
              </a:ext>
            </a:extLst>
          </p:cNvPr>
          <p:cNvSpPr txBox="1">
            <a:spLocks/>
          </p:cNvSpPr>
          <p:nvPr/>
        </p:nvSpPr>
        <p:spPr>
          <a:xfrm>
            <a:off x="6649268" y="1809223"/>
            <a:ext cx="4151811" cy="29461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400" dirty="0"/>
              <a:t>Effet </a:t>
            </a:r>
            <a:r>
              <a:rPr lang="fr-FR" sz="1400" dirty="0" err="1"/>
              <a:t>Dunning</a:t>
            </a:r>
            <a:r>
              <a:rPr lang="fr-FR" sz="1400" dirty="0"/>
              <a:t>-Kruger</a:t>
            </a:r>
          </a:p>
        </p:txBody>
      </p:sp>
      <p:sp>
        <p:nvSpPr>
          <p:cNvPr id="10" name="Forme libre : forme 9">
            <a:extLst>
              <a:ext uri="{FF2B5EF4-FFF2-40B4-BE49-F238E27FC236}">
                <a16:creationId xmlns:a16="http://schemas.microsoft.com/office/drawing/2014/main" id="{62B66F3B-78B3-7BF0-7021-60F4892017D8}"/>
              </a:ext>
            </a:extLst>
          </p:cNvPr>
          <p:cNvSpPr/>
          <p:nvPr/>
        </p:nvSpPr>
        <p:spPr>
          <a:xfrm>
            <a:off x="5355770" y="3429000"/>
            <a:ext cx="5998029" cy="2944936"/>
          </a:xfrm>
          <a:custGeom>
            <a:avLst/>
            <a:gdLst>
              <a:gd name="connsiteX0" fmla="*/ 0 w 6601097"/>
              <a:gd name="connsiteY0" fmla="*/ 3809320 h 3809320"/>
              <a:gd name="connsiteX1" fmla="*/ 269966 w 6601097"/>
              <a:gd name="connsiteY1" fmla="*/ 578440 h 3809320"/>
              <a:gd name="connsiteX2" fmla="*/ 522514 w 6601097"/>
              <a:gd name="connsiteY2" fmla="*/ 221389 h 3809320"/>
              <a:gd name="connsiteX3" fmla="*/ 931817 w 6601097"/>
              <a:gd name="connsiteY3" fmla="*/ 2990714 h 3809320"/>
              <a:gd name="connsiteX4" fmla="*/ 2508069 w 6601097"/>
              <a:gd name="connsiteY4" fmla="*/ 2511743 h 3809320"/>
              <a:gd name="connsiteX5" fmla="*/ 4032069 w 6601097"/>
              <a:gd name="connsiteY5" fmla="*/ 1301251 h 3809320"/>
              <a:gd name="connsiteX6" fmla="*/ 4850674 w 6601097"/>
              <a:gd name="connsiteY6" fmla="*/ 447811 h 3809320"/>
              <a:gd name="connsiteX7" fmla="*/ 5791200 w 6601097"/>
              <a:gd name="connsiteY7" fmla="*/ 325891 h 3809320"/>
              <a:gd name="connsiteX8" fmla="*/ 6601097 w 6601097"/>
              <a:gd name="connsiteY8" fmla="*/ 334600 h 3809320"/>
              <a:gd name="connsiteX9" fmla="*/ 6601097 w 6601097"/>
              <a:gd name="connsiteY9" fmla="*/ 334600 h 3809320"/>
              <a:gd name="connsiteX10" fmla="*/ 6601097 w 6601097"/>
              <a:gd name="connsiteY10" fmla="*/ 334600 h 380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1097" h="3809320">
                <a:moveTo>
                  <a:pt x="0" y="3809320"/>
                </a:moveTo>
                <a:cubicBezTo>
                  <a:pt x="91440" y="2492874"/>
                  <a:pt x="182880" y="1176428"/>
                  <a:pt x="269966" y="578440"/>
                </a:cubicBezTo>
                <a:cubicBezTo>
                  <a:pt x="357052" y="-19548"/>
                  <a:pt x="412206" y="-180657"/>
                  <a:pt x="522514" y="221389"/>
                </a:cubicBezTo>
                <a:cubicBezTo>
                  <a:pt x="632822" y="623435"/>
                  <a:pt x="600891" y="2608988"/>
                  <a:pt x="931817" y="2990714"/>
                </a:cubicBezTo>
                <a:cubicBezTo>
                  <a:pt x="1262743" y="3372440"/>
                  <a:pt x="1991360" y="2793320"/>
                  <a:pt x="2508069" y="2511743"/>
                </a:cubicBezTo>
                <a:cubicBezTo>
                  <a:pt x="3024778" y="2230166"/>
                  <a:pt x="3641635" y="1645240"/>
                  <a:pt x="4032069" y="1301251"/>
                </a:cubicBezTo>
                <a:cubicBezTo>
                  <a:pt x="4422503" y="957262"/>
                  <a:pt x="4557486" y="610371"/>
                  <a:pt x="4850674" y="447811"/>
                </a:cubicBezTo>
                <a:cubicBezTo>
                  <a:pt x="5143862" y="285251"/>
                  <a:pt x="5499463" y="344759"/>
                  <a:pt x="5791200" y="325891"/>
                </a:cubicBezTo>
                <a:cubicBezTo>
                  <a:pt x="6082937" y="307023"/>
                  <a:pt x="6601097" y="334600"/>
                  <a:pt x="6601097" y="334600"/>
                </a:cubicBezTo>
                <a:lnTo>
                  <a:pt x="6601097" y="334600"/>
                </a:lnTo>
                <a:lnTo>
                  <a:pt x="6601097" y="334600"/>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Graphique 11" descr="Réussite du groupe avec un remplissage uni">
            <a:extLst>
              <a:ext uri="{FF2B5EF4-FFF2-40B4-BE49-F238E27FC236}">
                <a16:creationId xmlns:a16="http://schemas.microsoft.com/office/drawing/2014/main" id="{C57FE9B1-F940-5661-C26F-444C360C29F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28671" r="49106"/>
          <a:stretch/>
        </p:blipFill>
        <p:spPr>
          <a:xfrm>
            <a:off x="5571309" y="2546927"/>
            <a:ext cx="323003" cy="1453515"/>
          </a:xfrm>
          <a:prstGeom prst="rect">
            <a:avLst/>
          </a:prstGeom>
        </p:spPr>
      </p:pic>
      <p:sp>
        <p:nvSpPr>
          <p:cNvPr id="19" name="Espace réservé du contenu 2">
            <a:extLst>
              <a:ext uri="{FF2B5EF4-FFF2-40B4-BE49-F238E27FC236}">
                <a16:creationId xmlns:a16="http://schemas.microsoft.com/office/drawing/2014/main" id="{65DBC9D2-2FB4-FEC3-0049-6C554DFBA88C}"/>
              </a:ext>
            </a:extLst>
          </p:cNvPr>
          <p:cNvSpPr txBox="1">
            <a:spLocks/>
          </p:cNvSpPr>
          <p:nvPr/>
        </p:nvSpPr>
        <p:spPr>
          <a:xfrm>
            <a:off x="10523222" y="6414167"/>
            <a:ext cx="1378125" cy="29461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dirty="0"/>
              <a:t>Compétences</a:t>
            </a:r>
          </a:p>
        </p:txBody>
      </p:sp>
      <p:sp>
        <p:nvSpPr>
          <p:cNvPr id="20" name="Espace réservé du contenu 2">
            <a:extLst>
              <a:ext uri="{FF2B5EF4-FFF2-40B4-BE49-F238E27FC236}">
                <a16:creationId xmlns:a16="http://schemas.microsoft.com/office/drawing/2014/main" id="{2336D54F-274F-6FEF-A55C-CCC292AD8089}"/>
              </a:ext>
            </a:extLst>
          </p:cNvPr>
          <p:cNvSpPr txBox="1">
            <a:spLocks/>
          </p:cNvSpPr>
          <p:nvPr/>
        </p:nvSpPr>
        <p:spPr>
          <a:xfrm>
            <a:off x="4717875" y="2534204"/>
            <a:ext cx="853434" cy="375898"/>
          </a:xfrm>
          <a:prstGeom prst="rect">
            <a:avLst/>
          </a:prstGeom>
        </p:spPr>
        <p:txBody>
          <a:bodyPr vert="horz" lIns="91440" tIns="45720" rIns="91440" bIns="45720" rtlCol="0">
            <a:normAutofit fontScale="925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dirty="0"/>
              <a:t>Confiance en soi</a:t>
            </a:r>
          </a:p>
        </p:txBody>
      </p:sp>
      <p:sp>
        <p:nvSpPr>
          <p:cNvPr id="22" name="Bulle narrative : ronde 21">
            <a:extLst>
              <a:ext uri="{FF2B5EF4-FFF2-40B4-BE49-F238E27FC236}">
                <a16:creationId xmlns:a16="http://schemas.microsoft.com/office/drawing/2014/main" id="{71F32CCE-D85A-54E3-4949-420999F84877}"/>
              </a:ext>
            </a:extLst>
          </p:cNvPr>
          <p:cNvSpPr/>
          <p:nvPr/>
        </p:nvSpPr>
        <p:spPr>
          <a:xfrm>
            <a:off x="6297689" y="2349173"/>
            <a:ext cx="5271647" cy="1453515"/>
          </a:xfrm>
          <a:prstGeom prst="wedgeEllipseCallout">
            <a:avLst>
              <a:gd name="adj1" fmla="val -54653"/>
              <a:gd name="adj2" fmla="val -1437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solidFill>
              </a:rPr>
              <a:t>J’ai fait la formation </a:t>
            </a:r>
            <a:r>
              <a:rPr lang="fr-FR" sz="1400" i="1" dirty="0">
                <a:solidFill>
                  <a:schemeClr val="tx1"/>
                </a:solidFill>
              </a:rPr>
              <a:t>« 20 astuces pour gérer une Communauté », </a:t>
            </a:r>
            <a:r>
              <a:rPr lang="fr-FR" sz="1400" b="1" dirty="0">
                <a:solidFill>
                  <a:srgbClr val="ED7D31"/>
                </a:solidFill>
              </a:rPr>
              <a:t>je suis invincible </a:t>
            </a:r>
            <a:r>
              <a:rPr lang="fr-FR" sz="1400" dirty="0">
                <a:solidFill>
                  <a:schemeClr val="tx1"/>
                </a:solidFill>
              </a:rPr>
              <a:t>! </a:t>
            </a:r>
          </a:p>
          <a:p>
            <a:pPr algn="ctr"/>
            <a:r>
              <a:rPr lang="fr-FR" sz="1400" dirty="0">
                <a:solidFill>
                  <a:schemeClr val="tx1"/>
                </a:solidFill>
              </a:rPr>
              <a:t>Les autres sont des moutons </a:t>
            </a:r>
          </a:p>
          <a:p>
            <a:pPr algn="ctr"/>
            <a:r>
              <a:rPr lang="fr-FR" sz="1400" dirty="0">
                <a:solidFill>
                  <a:schemeClr val="tx1"/>
                </a:solidFill>
              </a:rPr>
              <a:t>Le métier de Community Booster est extrêmement facile</a:t>
            </a:r>
          </a:p>
        </p:txBody>
      </p:sp>
    </p:spTree>
    <p:extLst>
      <p:ext uri="{BB962C8B-B14F-4D97-AF65-F5344CB8AC3E}">
        <p14:creationId xmlns:p14="http://schemas.microsoft.com/office/powerpoint/2010/main" val="19890380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3D917CC-25DF-EB15-CD40-3D9E38754C41}"/>
              </a:ext>
            </a:extLst>
          </p:cNvPr>
          <p:cNvSpPr>
            <a:spLocks noGrp="1"/>
          </p:cNvSpPr>
          <p:nvPr>
            <p:ph type="title"/>
          </p:nvPr>
        </p:nvSpPr>
        <p:spPr/>
        <p:txBody>
          <a:bodyPr>
            <a:normAutofit/>
          </a:bodyPr>
          <a:lstStyle/>
          <a:p>
            <a:r>
              <a:rPr lang="fr-FR" sz="3600" dirty="0"/>
              <a:t>Comment nous espérons vous faire sentir à la fin de cette formation (2/3)</a:t>
            </a:r>
          </a:p>
        </p:txBody>
      </p:sp>
      <p:sp>
        <p:nvSpPr>
          <p:cNvPr id="3" name="Espace réservé du contenu 2">
            <a:extLst>
              <a:ext uri="{FF2B5EF4-FFF2-40B4-BE49-F238E27FC236}">
                <a16:creationId xmlns:a16="http://schemas.microsoft.com/office/drawing/2014/main" id="{2494C5C1-43FA-D205-A0C9-EFA8D300F860}"/>
              </a:ext>
            </a:extLst>
          </p:cNvPr>
          <p:cNvSpPr>
            <a:spLocks noGrp="1"/>
          </p:cNvSpPr>
          <p:nvPr>
            <p:ph idx="1"/>
          </p:nvPr>
        </p:nvSpPr>
        <p:spPr>
          <a:xfrm>
            <a:off x="838201" y="1825625"/>
            <a:ext cx="3098588" cy="4351338"/>
          </a:xfrm>
        </p:spPr>
        <p:txBody>
          <a:bodyPr>
            <a:normAutofit fontScale="85000" lnSpcReduction="20000"/>
          </a:bodyPr>
          <a:lstStyle/>
          <a:p>
            <a:r>
              <a:rPr lang="fr-FR" sz="1800" dirty="0"/>
              <a:t>Il est possible que vous vous sentiez « submergés » par la quantité d’information à retenir, apprendre, pratiquer, et l’existence de tous les domaines à creuser.</a:t>
            </a:r>
          </a:p>
          <a:p>
            <a:endParaRPr lang="fr-FR" sz="1800" dirty="0"/>
          </a:p>
          <a:p>
            <a:r>
              <a:rPr lang="fr-FR" sz="1800" dirty="0"/>
              <a:t>Dans cet état, on peut être tenté par tout jeter et céder à un simplisme ou juste céder.</a:t>
            </a:r>
          </a:p>
          <a:p>
            <a:endParaRPr lang="fr-FR" sz="1800" dirty="0"/>
          </a:p>
          <a:p>
            <a:r>
              <a:rPr lang="fr-FR" sz="1800" dirty="0"/>
              <a:t>Le but n’est PAS de vous mettre dans cet état qui peut immobiliser votre apprentissage ou votre goût. </a:t>
            </a:r>
          </a:p>
          <a:p>
            <a:endParaRPr lang="fr-FR" sz="1800" dirty="0"/>
          </a:p>
          <a:p>
            <a:r>
              <a:rPr lang="fr-FR" sz="1800" dirty="0"/>
              <a:t>Si vous passez par cette phase, soyez assurés que la régularité de l’apprentissage et la pratique construiront progressivement la confiance en vous.</a:t>
            </a:r>
          </a:p>
          <a:p>
            <a:endParaRPr lang="fr-FR" sz="1800" dirty="0"/>
          </a:p>
          <a:p>
            <a:endParaRPr lang="fr-FR" sz="1800" dirty="0"/>
          </a:p>
        </p:txBody>
      </p:sp>
      <p:grpSp>
        <p:nvGrpSpPr>
          <p:cNvPr id="8" name="Groupe 7">
            <a:extLst>
              <a:ext uri="{FF2B5EF4-FFF2-40B4-BE49-F238E27FC236}">
                <a16:creationId xmlns:a16="http://schemas.microsoft.com/office/drawing/2014/main" id="{0A3E7E1B-EFF5-DB53-97B4-48B91598EF9E}"/>
              </a:ext>
            </a:extLst>
          </p:cNvPr>
          <p:cNvGrpSpPr/>
          <p:nvPr/>
        </p:nvGrpSpPr>
        <p:grpSpPr>
          <a:xfrm>
            <a:off x="5140234" y="2842202"/>
            <a:ext cx="6213566" cy="3762103"/>
            <a:chOff x="5140234" y="2270760"/>
            <a:chExt cx="6213566" cy="3762103"/>
          </a:xfrm>
        </p:grpSpPr>
        <p:cxnSp>
          <p:nvCxnSpPr>
            <p:cNvPr id="5" name="Connecteur droit avec flèche 4">
              <a:extLst>
                <a:ext uri="{FF2B5EF4-FFF2-40B4-BE49-F238E27FC236}">
                  <a16:creationId xmlns:a16="http://schemas.microsoft.com/office/drawing/2014/main" id="{A0E386DD-DCA7-D721-6DC7-B5B5043BB593}"/>
                </a:ext>
              </a:extLst>
            </p:cNvPr>
            <p:cNvCxnSpPr/>
            <p:nvPr/>
          </p:nvCxnSpPr>
          <p:spPr>
            <a:xfrm flipV="1">
              <a:off x="5355771" y="2270760"/>
              <a:ext cx="0" cy="3762103"/>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 name="Connecteur droit avec flèche 5">
              <a:extLst>
                <a:ext uri="{FF2B5EF4-FFF2-40B4-BE49-F238E27FC236}">
                  <a16:creationId xmlns:a16="http://schemas.microsoft.com/office/drawing/2014/main" id="{5749F2E4-431A-2762-B4CF-6ECEBAA395DD}"/>
                </a:ext>
              </a:extLst>
            </p:cNvPr>
            <p:cNvCxnSpPr>
              <a:cxnSpLocks/>
            </p:cNvCxnSpPr>
            <p:nvPr/>
          </p:nvCxnSpPr>
          <p:spPr>
            <a:xfrm flipV="1">
              <a:off x="5140234" y="5802494"/>
              <a:ext cx="6213566" cy="830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9" name="Espace réservé du contenu 2">
            <a:extLst>
              <a:ext uri="{FF2B5EF4-FFF2-40B4-BE49-F238E27FC236}">
                <a16:creationId xmlns:a16="http://schemas.microsoft.com/office/drawing/2014/main" id="{E570F7F9-81F9-5761-D171-C92040444970}"/>
              </a:ext>
            </a:extLst>
          </p:cNvPr>
          <p:cNvSpPr txBox="1">
            <a:spLocks/>
          </p:cNvSpPr>
          <p:nvPr/>
        </p:nvSpPr>
        <p:spPr>
          <a:xfrm>
            <a:off x="6649268" y="1809223"/>
            <a:ext cx="4151811" cy="29461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400" dirty="0"/>
              <a:t>Effet </a:t>
            </a:r>
            <a:r>
              <a:rPr lang="fr-FR" sz="1400" dirty="0" err="1"/>
              <a:t>Dunning</a:t>
            </a:r>
            <a:r>
              <a:rPr lang="fr-FR" sz="1400" dirty="0"/>
              <a:t>-Kruger</a:t>
            </a:r>
          </a:p>
        </p:txBody>
      </p:sp>
      <p:sp>
        <p:nvSpPr>
          <p:cNvPr id="10" name="Forme libre : forme 9">
            <a:extLst>
              <a:ext uri="{FF2B5EF4-FFF2-40B4-BE49-F238E27FC236}">
                <a16:creationId xmlns:a16="http://schemas.microsoft.com/office/drawing/2014/main" id="{62B66F3B-78B3-7BF0-7021-60F4892017D8}"/>
              </a:ext>
            </a:extLst>
          </p:cNvPr>
          <p:cNvSpPr/>
          <p:nvPr/>
        </p:nvSpPr>
        <p:spPr>
          <a:xfrm>
            <a:off x="5355770" y="3429000"/>
            <a:ext cx="5998029" cy="2944936"/>
          </a:xfrm>
          <a:custGeom>
            <a:avLst/>
            <a:gdLst>
              <a:gd name="connsiteX0" fmla="*/ 0 w 6601097"/>
              <a:gd name="connsiteY0" fmla="*/ 3809320 h 3809320"/>
              <a:gd name="connsiteX1" fmla="*/ 269966 w 6601097"/>
              <a:gd name="connsiteY1" fmla="*/ 578440 h 3809320"/>
              <a:gd name="connsiteX2" fmla="*/ 522514 w 6601097"/>
              <a:gd name="connsiteY2" fmla="*/ 221389 h 3809320"/>
              <a:gd name="connsiteX3" fmla="*/ 931817 w 6601097"/>
              <a:gd name="connsiteY3" fmla="*/ 2990714 h 3809320"/>
              <a:gd name="connsiteX4" fmla="*/ 2508069 w 6601097"/>
              <a:gd name="connsiteY4" fmla="*/ 2511743 h 3809320"/>
              <a:gd name="connsiteX5" fmla="*/ 4032069 w 6601097"/>
              <a:gd name="connsiteY5" fmla="*/ 1301251 h 3809320"/>
              <a:gd name="connsiteX6" fmla="*/ 4850674 w 6601097"/>
              <a:gd name="connsiteY6" fmla="*/ 447811 h 3809320"/>
              <a:gd name="connsiteX7" fmla="*/ 5791200 w 6601097"/>
              <a:gd name="connsiteY7" fmla="*/ 325891 h 3809320"/>
              <a:gd name="connsiteX8" fmla="*/ 6601097 w 6601097"/>
              <a:gd name="connsiteY8" fmla="*/ 334600 h 3809320"/>
              <a:gd name="connsiteX9" fmla="*/ 6601097 w 6601097"/>
              <a:gd name="connsiteY9" fmla="*/ 334600 h 3809320"/>
              <a:gd name="connsiteX10" fmla="*/ 6601097 w 6601097"/>
              <a:gd name="connsiteY10" fmla="*/ 334600 h 380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1097" h="3809320">
                <a:moveTo>
                  <a:pt x="0" y="3809320"/>
                </a:moveTo>
                <a:cubicBezTo>
                  <a:pt x="91440" y="2492874"/>
                  <a:pt x="182880" y="1176428"/>
                  <a:pt x="269966" y="578440"/>
                </a:cubicBezTo>
                <a:cubicBezTo>
                  <a:pt x="357052" y="-19548"/>
                  <a:pt x="412206" y="-180657"/>
                  <a:pt x="522514" y="221389"/>
                </a:cubicBezTo>
                <a:cubicBezTo>
                  <a:pt x="632822" y="623435"/>
                  <a:pt x="600891" y="2608988"/>
                  <a:pt x="931817" y="2990714"/>
                </a:cubicBezTo>
                <a:cubicBezTo>
                  <a:pt x="1262743" y="3372440"/>
                  <a:pt x="1991360" y="2793320"/>
                  <a:pt x="2508069" y="2511743"/>
                </a:cubicBezTo>
                <a:cubicBezTo>
                  <a:pt x="3024778" y="2230166"/>
                  <a:pt x="3641635" y="1645240"/>
                  <a:pt x="4032069" y="1301251"/>
                </a:cubicBezTo>
                <a:cubicBezTo>
                  <a:pt x="4422503" y="957262"/>
                  <a:pt x="4557486" y="610371"/>
                  <a:pt x="4850674" y="447811"/>
                </a:cubicBezTo>
                <a:cubicBezTo>
                  <a:pt x="5143862" y="285251"/>
                  <a:pt x="5499463" y="344759"/>
                  <a:pt x="5791200" y="325891"/>
                </a:cubicBezTo>
                <a:cubicBezTo>
                  <a:pt x="6082937" y="307023"/>
                  <a:pt x="6601097" y="334600"/>
                  <a:pt x="6601097" y="334600"/>
                </a:cubicBezTo>
                <a:lnTo>
                  <a:pt x="6601097" y="334600"/>
                </a:lnTo>
                <a:lnTo>
                  <a:pt x="6601097" y="334600"/>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Espace réservé du contenu 2">
            <a:extLst>
              <a:ext uri="{FF2B5EF4-FFF2-40B4-BE49-F238E27FC236}">
                <a16:creationId xmlns:a16="http://schemas.microsoft.com/office/drawing/2014/main" id="{65DBC9D2-2FB4-FEC3-0049-6C554DFBA88C}"/>
              </a:ext>
            </a:extLst>
          </p:cNvPr>
          <p:cNvSpPr txBox="1">
            <a:spLocks/>
          </p:cNvSpPr>
          <p:nvPr/>
        </p:nvSpPr>
        <p:spPr>
          <a:xfrm>
            <a:off x="10523222" y="6414167"/>
            <a:ext cx="1378125" cy="29461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dirty="0"/>
              <a:t>Compétences</a:t>
            </a:r>
          </a:p>
        </p:txBody>
      </p:sp>
      <p:sp>
        <p:nvSpPr>
          <p:cNvPr id="20" name="Espace réservé du contenu 2">
            <a:extLst>
              <a:ext uri="{FF2B5EF4-FFF2-40B4-BE49-F238E27FC236}">
                <a16:creationId xmlns:a16="http://schemas.microsoft.com/office/drawing/2014/main" id="{2336D54F-274F-6FEF-A55C-CCC292AD8089}"/>
              </a:ext>
            </a:extLst>
          </p:cNvPr>
          <p:cNvSpPr txBox="1">
            <a:spLocks/>
          </p:cNvSpPr>
          <p:nvPr/>
        </p:nvSpPr>
        <p:spPr>
          <a:xfrm>
            <a:off x="4717875" y="2534204"/>
            <a:ext cx="853434" cy="375898"/>
          </a:xfrm>
          <a:prstGeom prst="rect">
            <a:avLst/>
          </a:prstGeom>
        </p:spPr>
        <p:txBody>
          <a:bodyPr vert="horz" lIns="91440" tIns="45720" rIns="91440" bIns="45720" rtlCol="0">
            <a:normAutofit fontScale="925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dirty="0"/>
              <a:t>Confiance en soi</a:t>
            </a:r>
          </a:p>
        </p:txBody>
      </p:sp>
      <p:sp>
        <p:nvSpPr>
          <p:cNvPr id="22" name="Bulle narrative : ronde 21">
            <a:extLst>
              <a:ext uri="{FF2B5EF4-FFF2-40B4-BE49-F238E27FC236}">
                <a16:creationId xmlns:a16="http://schemas.microsoft.com/office/drawing/2014/main" id="{71F32CCE-D85A-54E3-4949-420999F84877}"/>
              </a:ext>
            </a:extLst>
          </p:cNvPr>
          <p:cNvSpPr/>
          <p:nvPr/>
        </p:nvSpPr>
        <p:spPr>
          <a:xfrm>
            <a:off x="6297689" y="2477123"/>
            <a:ext cx="3560685" cy="1467915"/>
          </a:xfrm>
          <a:prstGeom prst="wedgeEllipseCallout">
            <a:avLst>
              <a:gd name="adj1" fmla="val -40726"/>
              <a:gd name="adj2" fmla="val 13285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solidFill>
              </a:rPr>
              <a:t>Il y a vraiment trop de choses à apprendre, savoir, maîtriser.</a:t>
            </a:r>
            <a:r>
              <a:rPr lang="fr-FR" sz="1400" b="1" dirty="0">
                <a:solidFill>
                  <a:srgbClr val="ED7D31"/>
                </a:solidFill>
              </a:rPr>
              <a:t> Je n’y arriverai jamais </a:t>
            </a:r>
            <a:r>
              <a:rPr lang="fr-FR" sz="1400" dirty="0">
                <a:solidFill>
                  <a:schemeClr val="tx1"/>
                </a:solidFill>
              </a:rPr>
              <a:t>! </a:t>
            </a:r>
          </a:p>
          <a:p>
            <a:pPr algn="ctr"/>
            <a:endParaRPr lang="fr-FR" sz="1400" dirty="0">
              <a:solidFill>
                <a:schemeClr val="tx1"/>
              </a:solidFill>
            </a:endParaRPr>
          </a:p>
          <a:p>
            <a:pPr algn="ctr"/>
            <a:r>
              <a:rPr lang="fr-FR" sz="1400" dirty="0">
                <a:solidFill>
                  <a:schemeClr val="tx1"/>
                </a:solidFill>
              </a:rPr>
              <a:t>Le métier est extrêmement difficile</a:t>
            </a:r>
          </a:p>
        </p:txBody>
      </p:sp>
      <p:pic>
        <p:nvPicPr>
          <p:cNvPr id="7" name="Graphique 6" descr="Visage inquiet à remplissage uni avec un remplissage uni">
            <a:extLst>
              <a:ext uri="{FF2B5EF4-FFF2-40B4-BE49-F238E27FC236}">
                <a16:creationId xmlns:a16="http://schemas.microsoft.com/office/drawing/2014/main" id="{32F681A4-6E57-D049-E8A4-BC91C67400B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993668" y="5270197"/>
            <a:ext cx="914400" cy="914400"/>
          </a:xfrm>
          <a:prstGeom prst="rect">
            <a:avLst/>
          </a:prstGeom>
        </p:spPr>
      </p:pic>
    </p:spTree>
    <p:extLst>
      <p:ext uri="{BB962C8B-B14F-4D97-AF65-F5344CB8AC3E}">
        <p14:creationId xmlns:p14="http://schemas.microsoft.com/office/powerpoint/2010/main" val="100755371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3D917CC-25DF-EB15-CD40-3D9E38754C41}"/>
              </a:ext>
            </a:extLst>
          </p:cNvPr>
          <p:cNvSpPr>
            <a:spLocks noGrp="1"/>
          </p:cNvSpPr>
          <p:nvPr>
            <p:ph type="title"/>
          </p:nvPr>
        </p:nvSpPr>
        <p:spPr/>
        <p:txBody>
          <a:bodyPr>
            <a:normAutofit/>
          </a:bodyPr>
          <a:lstStyle/>
          <a:p>
            <a:r>
              <a:rPr lang="fr-FR" sz="3600" dirty="0"/>
              <a:t>Comment nous espérons vous faire sentir à la fin de cette formation (3/3)</a:t>
            </a:r>
          </a:p>
        </p:txBody>
      </p:sp>
      <p:sp>
        <p:nvSpPr>
          <p:cNvPr id="3" name="Espace réservé du contenu 2">
            <a:extLst>
              <a:ext uri="{FF2B5EF4-FFF2-40B4-BE49-F238E27FC236}">
                <a16:creationId xmlns:a16="http://schemas.microsoft.com/office/drawing/2014/main" id="{2494C5C1-43FA-D205-A0C9-EFA8D300F860}"/>
              </a:ext>
            </a:extLst>
          </p:cNvPr>
          <p:cNvSpPr>
            <a:spLocks noGrp="1"/>
          </p:cNvSpPr>
          <p:nvPr>
            <p:ph idx="1"/>
          </p:nvPr>
        </p:nvSpPr>
        <p:spPr>
          <a:xfrm>
            <a:off x="838201" y="1825625"/>
            <a:ext cx="3098588" cy="4351338"/>
          </a:xfrm>
        </p:spPr>
        <p:txBody>
          <a:bodyPr>
            <a:normAutofit lnSpcReduction="10000"/>
          </a:bodyPr>
          <a:lstStyle/>
          <a:p>
            <a:r>
              <a:rPr lang="fr-FR" sz="1800" dirty="0"/>
              <a:t>Le but de la formation est de vous donner suffisamment d’équipement de départ pour « lancer » votre chemin d’apprentissage, ou juste le continuer.</a:t>
            </a:r>
          </a:p>
          <a:p>
            <a:endParaRPr lang="fr-FR" sz="1800" dirty="0"/>
          </a:p>
          <a:p>
            <a:r>
              <a:rPr lang="fr-FR" sz="1800" dirty="0"/>
              <a:t>Dans cette phase, plus on apprend, plus on découvre de domaines à apprendre et pratiquer.</a:t>
            </a:r>
          </a:p>
          <a:p>
            <a:endParaRPr lang="fr-FR" sz="1800" dirty="0"/>
          </a:p>
          <a:p>
            <a:r>
              <a:rPr lang="fr-FR" sz="1800" dirty="0"/>
              <a:t>Nous sommes nous même dans cette phase et le resterons, et souhaitons vous inviter à explorer avec nous. </a:t>
            </a:r>
          </a:p>
          <a:p>
            <a:endParaRPr lang="fr-FR" sz="1800" dirty="0"/>
          </a:p>
          <a:p>
            <a:endParaRPr lang="fr-FR" sz="1800" dirty="0"/>
          </a:p>
        </p:txBody>
      </p:sp>
      <p:grpSp>
        <p:nvGrpSpPr>
          <p:cNvPr id="8" name="Groupe 7">
            <a:extLst>
              <a:ext uri="{FF2B5EF4-FFF2-40B4-BE49-F238E27FC236}">
                <a16:creationId xmlns:a16="http://schemas.microsoft.com/office/drawing/2014/main" id="{0A3E7E1B-EFF5-DB53-97B4-48B91598EF9E}"/>
              </a:ext>
            </a:extLst>
          </p:cNvPr>
          <p:cNvGrpSpPr/>
          <p:nvPr/>
        </p:nvGrpSpPr>
        <p:grpSpPr>
          <a:xfrm>
            <a:off x="5140234" y="2842202"/>
            <a:ext cx="6213566" cy="3762103"/>
            <a:chOff x="5140234" y="2270760"/>
            <a:chExt cx="6213566" cy="3762103"/>
          </a:xfrm>
        </p:grpSpPr>
        <p:cxnSp>
          <p:nvCxnSpPr>
            <p:cNvPr id="5" name="Connecteur droit avec flèche 4">
              <a:extLst>
                <a:ext uri="{FF2B5EF4-FFF2-40B4-BE49-F238E27FC236}">
                  <a16:creationId xmlns:a16="http://schemas.microsoft.com/office/drawing/2014/main" id="{A0E386DD-DCA7-D721-6DC7-B5B5043BB593}"/>
                </a:ext>
              </a:extLst>
            </p:cNvPr>
            <p:cNvCxnSpPr/>
            <p:nvPr/>
          </p:nvCxnSpPr>
          <p:spPr>
            <a:xfrm flipV="1">
              <a:off x="5355771" y="2270760"/>
              <a:ext cx="0" cy="3762103"/>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 name="Connecteur droit avec flèche 5">
              <a:extLst>
                <a:ext uri="{FF2B5EF4-FFF2-40B4-BE49-F238E27FC236}">
                  <a16:creationId xmlns:a16="http://schemas.microsoft.com/office/drawing/2014/main" id="{5749F2E4-431A-2762-B4CF-6ECEBAA395DD}"/>
                </a:ext>
              </a:extLst>
            </p:cNvPr>
            <p:cNvCxnSpPr>
              <a:cxnSpLocks/>
            </p:cNvCxnSpPr>
            <p:nvPr/>
          </p:nvCxnSpPr>
          <p:spPr>
            <a:xfrm flipV="1">
              <a:off x="5140234" y="5802494"/>
              <a:ext cx="6213566" cy="830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9" name="Espace réservé du contenu 2">
            <a:extLst>
              <a:ext uri="{FF2B5EF4-FFF2-40B4-BE49-F238E27FC236}">
                <a16:creationId xmlns:a16="http://schemas.microsoft.com/office/drawing/2014/main" id="{E570F7F9-81F9-5761-D171-C92040444970}"/>
              </a:ext>
            </a:extLst>
          </p:cNvPr>
          <p:cNvSpPr txBox="1">
            <a:spLocks/>
          </p:cNvSpPr>
          <p:nvPr/>
        </p:nvSpPr>
        <p:spPr>
          <a:xfrm>
            <a:off x="6649268" y="1809223"/>
            <a:ext cx="4151811" cy="29461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400" dirty="0"/>
              <a:t>Effet </a:t>
            </a:r>
            <a:r>
              <a:rPr lang="fr-FR" sz="1400" dirty="0" err="1"/>
              <a:t>Dunning</a:t>
            </a:r>
            <a:r>
              <a:rPr lang="fr-FR" sz="1400" dirty="0"/>
              <a:t>-Kruger</a:t>
            </a:r>
          </a:p>
        </p:txBody>
      </p:sp>
      <p:sp>
        <p:nvSpPr>
          <p:cNvPr id="10" name="Forme libre : forme 9">
            <a:extLst>
              <a:ext uri="{FF2B5EF4-FFF2-40B4-BE49-F238E27FC236}">
                <a16:creationId xmlns:a16="http://schemas.microsoft.com/office/drawing/2014/main" id="{62B66F3B-78B3-7BF0-7021-60F4892017D8}"/>
              </a:ext>
            </a:extLst>
          </p:cNvPr>
          <p:cNvSpPr/>
          <p:nvPr/>
        </p:nvSpPr>
        <p:spPr>
          <a:xfrm>
            <a:off x="5355770" y="3429000"/>
            <a:ext cx="5998029" cy="2944936"/>
          </a:xfrm>
          <a:custGeom>
            <a:avLst/>
            <a:gdLst>
              <a:gd name="connsiteX0" fmla="*/ 0 w 6601097"/>
              <a:gd name="connsiteY0" fmla="*/ 3809320 h 3809320"/>
              <a:gd name="connsiteX1" fmla="*/ 269966 w 6601097"/>
              <a:gd name="connsiteY1" fmla="*/ 578440 h 3809320"/>
              <a:gd name="connsiteX2" fmla="*/ 522514 w 6601097"/>
              <a:gd name="connsiteY2" fmla="*/ 221389 h 3809320"/>
              <a:gd name="connsiteX3" fmla="*/ 931817 w 6601097"/>
              <a:gd name="connsiteY3" fmla="*/ 2990714 h 3809320"/>
              <a:gd name="connsiteX4" fmla="*/ 2508069 w 6601097"/>
              <a:gd name="connsiteY4" fmla="*/ 2511743 h 3809320"/>
              <a:gd name="connsiteX5" fmla="*/ 4032069 w 6601097"/>
              <a:gd name="connsiteY5" fmla="*/ 1301251 h 3809320"/>
              <a:gd name="connsiteX6" fmla="*/ 4850674 w 6601097"/>
              <a:gd name="connsiteY6" fmla="*/ 447811 h 3809320"/>
              <a:gd name="connsiteX7" fmla="*/ 5791200 w 6601097"/>
              <a:gd name="connsiteY7" fmla="*/ 325891 h 3809320"/>
              <a:gd name="connsiteX8" fmla="*/ 6601097 w 6601097"/>
              <a:gd name="connsiteY8" fmla="*/ 334600 h 3809320"/>
              <a:gd name="connsiteX9" fmla="*/ 6601097 w 6601097"/>
              <a:gd name="connsiteY9" fmla="*/ 334600 h 3809320"/>
              <a:gd name="connsiteX10" fmla="*/ 6601097 w 6601097"/>
              <a:gd name="connsiteY10" fmla="*/ 334600 h 380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1097" h="3809320">
                <a:moveTo>
                  <a:pt x="0" y="3809320"/>
                </a:moveTo>
                <a:cubicBezTo>
                  <a:pt x="91440" y="2492874"/>
                  <a:pt x="182880" y="1176428"/>
                  <a:pt x="269966" y="578440"/>
                </a:cubicBezTo>
                <a:cubicBezTo>
                  <a:pt x="357052" y="-19548"/>
                  <a:pt x="412206" y="-180657"/>
                  <a:pt x="522514" y="221389"/>
                </a:cubicBezTo>
                <a:cubicBezTo>
                  <a:pt x="632822" y="623435"/>
                  <a:pt x="600891" y="2608988"/>
                  <a:pt x="931817" y="2990714"/>
                </a:cubicBezTo>
                <a:cubicBezTo>
                  <a:pt x="1262743" y="3372440"/>
                  <a:pt x="1991360" y="2793320"/>
                  <a:pt x="2508069" y="2511743"/>
                </a:cubicBezTo>
                <a:cubicBezTo>
                  <a:pt x="3024778" y="2230166"/>
                  <a:pt x="3641635" y="1645240"/>
                  <a:pt x="4032069" y="1301251"/>
                </a:cubicBezTo>
                <a:cubicBezTo>
                  <a:pt x="4422503" y="957262"/>
                  <a:pt x="4557486" y="610371"/>
                  <a:pt x="4850674" y="447811"/>
                </a:cubicBezTo>
                <a:cubicBezTo>
                  <a:pt x="5143862" y="285251"/>
                  <a:pt x="5499463" y="344759"/>
                  <a:pt x="5791200" y="325891"/>
                </a:cubicBezTo>
                <a:cubicBezTo>
                  <a:pt x="6082937" y="307023"/>
                  <a:pt x="6601097" y="334600"/>
                  <a:pt x="6601097" y="334600"/>
                </a:cubicBezTo>
                <a:lnTo>
                  <a:pt x="6601097" y="334600"/>
                </a:lnTo>
                <a:lnTo>
                  <a:pt x="6601097" y="334600"/>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Espace réservé du contenu 2">
            <a:extLst>
              <a:ext uri="{FF2B5EF4-FFF2-40B4-BE49-F238E27FC236}">
                <a16:creationId xmlns:a16="http://schemas.microsoft.com/office/drawing/2014/main" id="{65DBC9D2-2FB4-FEC3-0049-6C554DFBA88C}"/>
              </a:ext>
            </a:extLst>
          </p:cNvPr>
          <p:cNvSpPr txBox="1">
            <a:spLocks/>
          </p:cNvSpPr>
          <p:nvPr/>
        </p:nvSpPr>
        <p:spPr>
          <a:xfrm>
            <a:off x="10523222" y="6414167"/>
            <a:ext cx="1378125" cy="29461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dirty="0"/>
              <a:t>Compétences</a:t>
            </a:r>
          </a:p>
        </p:txBody>
      </p:sp>
      <p:sp>
        <p:nvSpPr>
          <p:cNvPr id="20" name="Espace réservé du contenu 2">
            <a:extLst>
              <a:ext uri="{FF2B5EF4-FFF2-40B4-BE49-F238E27FC236}">
                <a16:creationId xmlns:a16="http://schemas.microsoft.com/office/drawing/2014/main" id="{2336D54F-274F-6FEF-A55C-CCC292AD8089}"/>
              </a:ext>
            </a:extLst>
          </p:cNvPr>
          <p:cNvSpPr txBox="1">
            <a:spLocks/>
          </p:cNvSpPr>
          <p:nvPr/>
        </p:nvSpPr>
        <p:spPr>
          <a:xfrm>
            <a:off x="4717875" y="2534204"/>
            <a:ext cx="853434" cy="375898"/>
          </a:xfrm>
          <a:prstGeom prst="rect">
            <a:avLst/>
          </a:prstGeom>
        </p:spPr>
        <p:txBody>
          <a:bodyPr vert="horz" lIns="91440" tIns="45720" rIns="91440" bIns="45720" rtlCol="0">
            <a:normAutofit fontScale="925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dirty="0"/>
              <a:t>Confiance en soi</a:t>
            </a:r>
          </a:p>
        </p:txBody>
      </p:sp>
      <p:sp>
        <p:nvSpPr>
          <p:cNvPr id="22" name="Bulle narrative : ronde 21">
            <a:extLst>
              <a:ext uri="{FF2B5EF4-FFF2-40B4-BE49-F238E27FC236}">
                <a16:creationId xmlns:a16="http://schemas.microsoft.com/office/drawing/2014/main" id="{71F32CCE-D85A-54E3-4949-420999F84877}"/>
              </a:ext>
            </a:extLst>
          </p:cNvPr>
          <p:cNvSpPr/>
          <p:nvPr/>
        </p:nvSpPr>
        <p:spPr>
          <a:xfrm>
            <a:off x="5695953" y="2222376"/>
            <a:ext cx="4333872" cy="1619778"/>
          </a:xfrm>
          <a:prstGeom prst="wedgeEllipseCallout">
            <a:avLst>
              <a:gd name="adj1" fmla="val 959"/>
              <a:gd name="adj2" fmla="val 91283"/>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solidFill>
              </a:rPr>
              <a:t>Il y a et il y aura toujours beaucoup de choses à maîtriser.</a:t>
            </a:r>
            <a:r>
              <a:rPr lang="fr-FR" sz="1400" b="1" dirty="0">
                <a:solidFill>
                  <a:srgbClr val="ED7D31"/>
                </a:solidFill>
              </a:rPr>
              <a:t> Je continuerai d’apprendre et je suis équipé pour </a:t>
            </a:r>
            <a:r>
              <a:rPr lang="fr-FR" sz="1400" dirty="0">
                <a:solidFill>
                  <a:schemeClr val="tx1"/>
                </a:solidFill>
              </a:rPr>
              <a:t>! </a:t>
            </a:r>
          </a:p>
          <a:p>
            <a:pPr algn="ctr"/>
            <a:r>
              <a:rPr lang="fr-FR" sz="1400" dirty="0">
                <a:solidFill>
                  <a:schemeClr val="tx1"/>
                </a:solidFill>
              </a:rPr>
              <a:t>Le métier de Community Booster est difficile, mais pas impossible et j’ai confiance en mon développement</a:t>
            </a:r>
          </a:p>
        </p:txBody>
      </p:sp>
      <p:pic>
        <p:nvPicPr>
          <p:cNvPr id="11" name="Graphique 10" descr="Escalade avec un remplissage uni">
            <a:extLst>
              <a:ext uri="{FF2B5EF4-FFF2-40B4-BE49-F238E27FC236}">
                <a16:creationId xmlns:a16="http://schemas.microsoft.com/office/drawing/2014/main" id="{6079A5C1-E0DA-8C05-1404-7106A4269F9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5627577">
            <a:off x="7512231" y="4546488"/>
            <a:ext cx="914400" cy="914400"/>
          </a:xfrm>
          <a:prstGeom prst="rect">
            <a:avLst/>
          </a:prstGeom>
        </p:spPr>
      </p:pic>
    </p:spTree>
    <p:extLst>
      <p:ext uri="{BB962C8B-B14F-4D97-AF65-F5344CB8AC3E}">
        <p14:creationId xmlns:p14="http://schemas.microsoft.com/office/powerpoint/2010/main" val="73078188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E29E83D-3BF2-EF1F-7EF6-20E6EF239128}"/>
              </a:ext>
            </a:extLst>
          </p:cNvPr>
          <p:cNvSpPr>
            <a:spLocks noGrp="1"/>
          </p:cNvSpPr>
          <p:nvPr>
            <p:ph type="title"/>
          </p:nvPr>
        </p:nvSpPr>
        <p:spPr/>
        <p:txBody>
          <a:bodyPr/>
          <a:lstStyle/>
          <a:p>
            <a:r>
              <a:rPr lang="fr-FR" dirty="0"/>
              <a:t>Dans la même édition</a:t>
            </a:r>
          </a:p>
        </p:txBody>
      </p:sp>
      <p:sp>
        <p:nvSpPr>
          <p:cNvPr id="3" name="Espace réservé du contenu 2">
            <a:extLst>
              <a:ext uri="{FF2B5EF4-FFF2-40B4-BE49-F238E27FC236}">
                <a16:creationId xmlns:a16="http://schemas.microsoft.com/office/drawing/2014/main" id="{07535385-D57F-0112-429E-BF8BED6BBCC6}"/>
              </a:ext>
            </a:extLst>
          </p:cNvPr>
          <p:cNvSpPr>
            <a:spLocks noGrp="1"/>
          </p:cNvSpPr>
          <p:nvPr>
            <p:ph idx="1"/>
          </p:nvPr>
        </p:nvSpPr>
        <p:spPr>
          <a:xfrm>
            <a:off x="3126376" y="1825625"/>
            <a:ext cx="8227423" cy="4351338"/>
          </a:xfrm>
        </p:spPr>
        <p:txBody>
          <a:bodyPr>
            <a:normAutofit fontScale="92500"/>
          </a:bodyPr>
          <a:lstStyle/>
          <a:p>
            <a:pPr marL="0" indent="0">
              <a:buNone/>
            </a:pPr>
            <a:r>
              <a:rPr lang="fr-FR" sz="1800" dirty="0"/>
              <a:t>Cette formation fait partie d’une série de formations sur les Communautés d’entreprise. </a:t>
            </a:r>
          </a:p>
          <a:p>
            <a:pPr marL="0" indent="0">
              <a:buNone/>
            </a:pPr>
            <a:endParaRPr lang="fr-FR" sz="1800" dirty="0"/>
          </a:p>
          <a:p>
            <a:pPr marL="0" indent="0">
              <a:buNone/>
            </a:pPr>
            <a:r>
              <a:rPr lang="fr-FR" sz="1800" dirty="0"/>
              <a:t>Voici d’autres éléments de cette série, complémentaires à cette formation : (liste non exhaustive)</a:t>
            </a:r>
          </a:p>
          <a:p>
            <a:pPr lvl="1"/>
            <a:r>
              <a:rPr lang="fr-FR" sz="1800" i="1" dirty="0"/>
              <a:t>Développer le sentiment d’appartenance en entreprise</a:t>
            </a:r>
          </a:p>
          <a:p>
            <a:pPr lvl="1"/>
            <a:r>
              <a:rPr lang="fr-FR" sz="1800" i="1" dirty="0"/>
              <a:t>Affiner le mode opératoire de communauté (</a:t>
            </a:r>
            <a:r>
              <a:rPr lang="fr-FR" sz="1800" i="1" dirty="0" err="1"/>
              <a:t>Corporate</a:t>
            </a:r>
            <a:r>
              <a:rPr lang="fr-FR" sz="1800" i="1" dirty="0"/>
              <a:t> Community Operating Model) d’entreprise</a:t>
            </a:r>
          </a:p>
          <a:p>
            <a:pPr lvl="1"/>
            <a:r>
              <a:rPr lang="fr-FR" sz="1800" i="1" dirty="0"/>
              <a:t>Les challenges et difficultés des responsables de Communauté d’entreprise (</a:t>
            </a:r>
            <a:r>
              <a:rPr lang="fr-FR" sz="1800" i="1" dirty="0" err="1"/>
              <a:t>Corporate</a:t>
            </a:r>
            <a:r>
              <a:rPr lang="fr-FR" sz="1800" i="1" dirty="0"/>
              <a:t> Community Boosters Challenges)</a:t>
            </a:r>
          </a:p>
          <a:p>
            <a:pPr lvl="1"/>
            <a:r>
              <a:rPr lang="fr-FR" sz="1800" i="1" dirty="0"/>
              <a:t>Définir et construire un système de niveaux et d’incitation dans une Communauté (W5 Community </a:t>
            </a:r>
            <a:r>
              <a:rPr lang="fr-FR" sz="1800" i="1" dirty="0" err="1"/>
              <a:t>Level</a:t>
            </a:r>
            <a:r>
              <a:rPr lang="fr-FR" sz="1800" i="1" dirty="0"/>
              <a:t> Design)</a:t>
            </a:r>
          </a:p>
          <a:p>
            <a:pPr lvl="1"/>
            <a:r>
              <a:rPr lang="fr-FR" sz="1800" i="1" dirty="0"/>
              <a:t>Stratégies pour réengager des membres de Communauté désengagés</a:t>
            </a:r>
          </a:p>
          <a:p>
            <a:pPr lvl="1"/>
            <a:r>
              <a:rPr lang="fr-FR" sz="1800" i="1" dirty="0"/>
              <a:t>Méthode facile pour construire un moment collectif sur mesure</a:t>
            </a:r>
          </a:p>
          <a:p>
            <a:pPr lvl="1"/>
            <a:r>
              <a:rPr lang="fr-FR" sz="1800" i="1" dirty="0"/>
              <a:t>Leaders Communautaires : développer votre empathie et votre posture</a:t>
            </a:r>
          </a:p>
          <a:p>
            <a:pPr lvl="1"/>
            <a:r>
              <a:rPr lang="fr-FR" sz="1800" i="1" dirty="0"/>
              <a:t>…</a:t>
            </a:r>
          </a:p>
        </p:txBody>
      </p:sp>
      <p:grpSp>
        <p:nvGrpSpPr>
          <p:cNvPr id="7" name="Groupe 6">
            <a:extLst>
              <a:ext uri="{FF2B5EF4-FFF2-40B4-BE49-F238E27FC236}">
                <a16:creationId xmlns:a16="http://schemas.microsoft.com/office/drawing/2014/main" id="{CF69DAC5-E021-3ED4-8EEC-AF9C46BDFF7A}"/>
              </a:ext>
            </a:extLst>
          </p:cNvPr>
          <p:cNvGrpSpPr/>
          <p:nvPr/>
        </p:nvGrpSpPr>
        <p:grpSpPr>
          <a:xfrm>
            <a:off x="266700" y="2410903"/>
            <a:ext cx="2973706" cy="3316440"/>
            <a:chOff x="583499" y="2813113"/>
            <a:chExt cx="2367090" cy="2639909"/>
          </a:xfrm>
        </p:grpSpPr>
        <p:pic>
          <p:nvPicPr>
            <p:cNvPr id="5" name="Graphique 4" descr="Pièces de puzzle avec un remplissage uni">
              <a:extLst>
                <a:ext uri="{FF2B5EF4-FFF2-40B4-BE49-F238E27FC236}">
                  <a16:creationId xmlns:a16="http://schemas.microsoft.com/office/drawing/2014/main" id="{0420E9D1-FBAD-8998-EC6D-E2962A1FEBB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0335"/>
            <a:stretch/>
          </p:blipFill>
          <p:spPr>
            <a:xfrm>
              <a:off x="583499" y="2813113"/>
              <a:ext cx="2367090" cy="2639909"/>
            </a:xfrm>
            <a:prstGeom prst="rect">
              <a:avLst/>
            </a:prstGeom>
          </p:spPr>
        </p:pic>
        <p:pic>
          <p:nvPicPr>
            <p:cNvPr id="6" name="Graphique 5" descr="Pièces de puzzle avec un remplissage uni">
              <a:extLst>
                <a:ext uri="{FF2B5EF4-FFF2-40B4-BE49-F238E27FC236}">
                  <a16:creationId xmlns:a16="http://schemas.microsoft.com/office/drawing/2014/main" id="{ACA2ED49-D06A-39BF-022B-FCA470D90BE5}"/>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45008" b="51053"/>
            <a:stretch/>
          </p:blipFill>
          <p:spPr>
            <a:xfrm>
              <a:off x="1498862" y="2813113"/>
              <a:ext cx="1451727" cy="1292162"/>
            </a:xfrm>
            <a:prstGeom prst="rect">
              <a:avLst/>
            </a:prstGeom>
          </p:spPr>
        </p:pic>
      </p:grpSp>
    </p:spTree>
    <p:extLst>
      <p:ext uri="{BB962C8B-B14F-4D97-AF65-F5344CB8AC3E}">
        <p14:creationId xmlns:p14="http://schemas.microsoft.com/office/powerpoint/2010/main" val="8513813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071508F-00B6-48EB-9E05-2CF3767E59FF}"/>
              </a:ext>
            </a:extLst>
          </p:cNvPr>
          <p:cNvSpPr>
            <a:spLocks noGrp="1"/>
          </p:cNvSpPr>
          <p:nvPr>
            <p:ph type="title"/>
          </p:nvPr>
        </p:nvSpPr>
        <p:spPr>
          <a:xfrm>
            <a:off x="838200" y="365125"/>
            <a:ext cx="7181405" cy="1325563"/>
          </a:xfrm>
        </p:spPr>
        <p:txBody>
          <a:bodyPr/>
          <a:lstStyle/>
          <a:p>
            <a:r>
              <a:rPr lang="fr-FR" dirty="0"/>
              <a:t>Versions de la formation </a:t>
            </a:r>
          </a:p>
        </p:txBody>
      </p:sp>
      <p:graphicFrame>
        <p:nvGraphicFramePr>
          <p:cNvPr id="47" name="Tableau 4">
            <a:extLst>
              <a:ext uri="{FF2B5EF4-FFF2-40B4-BE49-F238E27FC236}">
                <a16:creationId xmlns:a16="http://schemas.microsoft.com/office/drawing/2014/main" id="{E532220D-FB7A-4D58-94AD-62D5519F5AAE}"/>
              </a:ext>
            </a:extLst>
          </p:cNvPr>
          <p:cNvGraphicFramePr>
            <a:graphicFrameLocks/>
          </p:cNvGraphicFramePr>
          <p:nvPr>
            <p:extLst>
              <p:ext uri="{D42A27DB-BD31-4B8C-83A1-F6EECF244321}">
                <p14:modId xmlns:p14="http://schemas.microsoft.com/office/powerpoint/2010/main" val="4095068036"/>
              </p:ext>
            </p:extLst>
          </p:nvPr>
        </p:nvGraphicFramePr>
        <p:xfrm>
          <a:off x="398038" y="1600835"/>
          <a:ext cx="11559273" cy="4892040"/>
        </p:xfrm>
        <a:graphic>
          <a:graphicData uri="http://schemas.openxmlformats.org/drawingml/2006/table">
            <a:tbl>
              <a:tblPr firstRow="1" bandRow="1">
                <a:tableStyleId>{21E4AEA4-8DFA-4A89-87EB-49C32662AFE0}</a:tableStyleId>
              </a:tblPr>
              <a:tblGrid>
                <a:gridCol w="699685">
                  <a:extLst>
                    <a:ext uri="{9D8B030D-6E8A-4147-A177-3AD203B41FA5}">
                      <a16:colId xmlns:a16="http://schemas.microsoft.com/office/drawing/2014/main" val="3807656759"/>
                    </a:ext>
                  </a:extLst>
                </a:gridCol>
                <a:gridCol w="2882547">
                  <a:extLst>
                    <a:ext uri="{9D8B030D-6E8A-4147-A177-3AD203B41FA5}">
                      <a16:colId xmlns:a16="http://schemas.microsoft.com/office/drawing/2014/main" val="2648948851"/>
                    </a:ext>
                  </a:extLst>
                </a:gridCol>
                <a:gridCol w="853430">
                  <a:extLst>
                    <a:ext uri="{9D8B030D-6E8A-4147-A177-3AD203B41FA5}">
                      <a16:colId xmlns:a16="http://schemas.microsoft.com/office/drawing/2014/main" val="285982558"/>
                    </a:ext>
                  </a:extLst>
                </a:gridCol>
                <a:gridCol w="7123611">
                  <a:extLst>
                    <a:ext uri="{9D8B030D-6E8A-4147-A177-3AD203B41FA5}">
                      <a16:colId xmlns:a16="http://schemas.microsoft.com/office/drawing/2014/main" val="1267208164"/>
                    </a:ext>
                  </a:extLst>
                </a:gridCol>
              </a:tblGrid>
              <a:tr h="370840">
                <a:tc gridSpan="4">
                  <a:txBody>
                    <a:bodyPr/>
                    <a:lstStyle/>
                    <a:p>
                      <a:r>
                        <a:rPr lang="fr-FR" sz="1200" dirty="0"/>
                        <a:t>Historique des versions</a:t>
                      </a:r>
                    </a:p>
                  </a:txBody>
                  <a:tcPr/>
                </a:tc>
                <a:tc hMerge="1">
                  <a:txBody>
                    <a:bodyPr/>
                    <a:lstStyle/>
                    <a:p>
                      <a:endParaRPr lang="fr-FR" sz="1200"/>
                    </a:p>
                  </a:txBody>
                  <a:tcPr/>
                </a:tc>
                <a:tc hMerge="1">
                  <a:txBody>
                    <a:bodyPr/>
                    <a:lstStyle/>
                    <a:p>
                      <a:endParaRPr lang="fr-FR" sz="1200" dirty="0"/>
                    </a:p>
                  </a:txBody>
                  <a:tcPr/>
                </a:tc>
                <a:tc hMerge="1">
                  <a:txBody>
                    <a:bodyPr/>
                    <a:lstStyle/>
                    <a:p>
                      <a:endParaRPr lang="fr-FR" sz="1200" dirty="0"/>
                    </a:p>
                  </a:txBody>
                  <a:tcPr/>
                </a:tc>
                <a:extLst>
                  <a:ext uri="{0D108BD9-81ED-4DB2-BD59-A6C34878D82A}">
                    <a16:rowId xmlns:a16="http://schemas.microsoft.com/office/drawing/2014/main" val="2987021370"/>
                  </a:ext>
                </a:extLst>
              </a:tr>
              <a:tr h="370840">
                <a:tc>
                  <a:txBody>
                    <a:bodyPr/>
                    <a:lstStyle/>
                    <a:p>
                      <a:r>
                        <a:rPr lang="fr-FR" sz="1200" b="1" kern="1200">
                          <a:solidFill>
                            <a:schemeClr val="lt1"/>
                          </a:solidFill>
                          <a:latin typeface="+mn-lt"/>
                          <a:ea typeface="+mn-ea"/>
                          <a:cs typeface="+mn-cs"/>
                        </a:rPr>
                        <a:t>Version </a:t>
                      </a:r>
                    </a:p>
                  </a:txBody>
                  <a:tcPr>
                    <a:solidFill>
                      <a:srgbClr val="ED7D31"/>
                    </a:solidFill>
                  </a:tcPr>
                </a:tc>
                <a:tc>
                  <a:txBody>
                    <a:bodyPr/>
                    <a:lstStyle/>
                    <a:p>
                      <a:r>
                        <a:rPr lang="fr-FR" sz="1200" b="1" kern="1200">
                          <a:solidFill>
                            <a:schemeClr val="lt1"/>
                          </a:solidFill>
                          <a:latin typeface="+mn-lt"/>
                          <a:ea typeface="+mn-ea"/>
                          <a:cs typeface="+mn-cs"/>
                        </a:rPr>
                        <a:t>Contributeurs</a:t>
                      </a:r>
                    </a:p>
                  </a:txBody>
                  <a:tcPr>
                    <a:solidFill>
                      <a:srgbClr val="ED7D31"/>
                    </a:solidFill>
                  </a:tcPr>
                </a:tc>
                <a:tc>
                  <a:txBody>
                    <a:bodyPr/>
                    <a:lstStyle/>
                    <a:p>
                      <a:r>
                        <a:rPr lang="fr-FR" sz="1200" b="1" kern="1200" dirty="0">
                          <a:solidFill>
                            <a:schemeClr val="lt1"/>
                          </a:solidFill>
                          <a:latin typeface="+mn-lt"/>
                          <a:ea typeface="+mn-ea"/>
                          <a:cs typeface="+mn-cs"/>
                        </a:rPr>
                        <a:t>Licence</a:t>
                      </a:r>
                    </a:p>
                  </a:txBody>
                  <a:tcPr>
                    <a:solidFill>
                      <a:srgbClr val="ED7D31"/>
                    </a:solidFill>
                  </a:tcPr>
                </a:tc>
                <a:tc>
                  <a:txBody>
                    <a:bodyPr/>
                    <a:lstStyle/>
                    <a:p>
                      <a:r>
                        <a:rPr lang="fr-FR" sz="1200" b="1" kern="1200" dirty="0">
                          <a:solidFill>
                            <a:schemeClr val="lt1"/>
                          </a:solidFill>
                          <a:latin typeface="+mn-lt"/>
                          <a:ea typeface="+mn-ea"/>
                          <a:cs typeface="+mn-cs"/>
                        </a:rPr>
                        <a:t>Commentaires</a:t>
                      </a:r>
                    </a:p>
                  </a:txBody>
                  <a:tcPr>
                    <a:solidFill>
                      <a:srgbClr val="ED7D31"/>
                    </a:solidFill>
                  </a:tcPr>
                </a:tc>
                <a:extLst>
                  <a:ext uri="{0D108BD9-81ED-4DB2-BD59-A6C34878D82A}">
                    <a16:rowId xmlns:a16="http://schemas.microsoft.com/office/drawing/2014/main" val="748113296"/>
                  </a:ext>
                </a:extLst>
              </a:tr>
              <a:tr h="370840">
                <a:tc>
                  <a:txBody>
                    <a:bodyPr/>
                    <a:lstStyle/>
                    <a:p>
                      <a:r>
                        <a:rPr lang="fr-FR" sz="1200" dirty="0"/>
                        <a:t>1.0</a:t>
                      </a:r>
                    </a:p>
                  </a:txBody>
                  <a:tcPr/>
                </a:tc>
                <a:tc>
                  <a:txBody>
                    <a:bodyPr/>
                    <a:lstStyle/>
                    <a:p>
                      <a:r>
                        <a:rPr lang="fr-FR" sz="1200" dirty="0"/>
                        <a:t>Alexandre QUACH</a:t>
                      </a:r>
                    </a:p>
                    <a:p>
                      <a:r>
                        <a:rPr lang="fr-FR" sz="1200" dirty="0"/>
                        <a:t>Marine CLAUSE (section valeur pour l’entreprise)</a:t>
                      </a:r>
                    </a:p>
                  </a:txBody>
                  <a:tcPr/>
                </a:tc>
                <a:tc>
                  <a:txBody>
                    <a:bodyPr/>
                    <a:lstStyle/>
                    <a:p>
                      <a:r>
                        <a:rPr lang="fr-FR" sz="1200" dirty="0">
                          <a:hlinkClick r:id="rId2"/>
                        </a:rPr>
                        <a:t>CC-BY-4.0</a:t>
                      </a:r>
                      <a:endParaRPr lang="fr-FR" sz="1200" dirty="0"/>
                    </a:p>
                  </a:txBody>
                  <a:tcPr/>
                </a:tc>
                <a:tc>
                  <a:txBody>
                    <a:bodyPr/>
                    <a:lstStyle/>
                    <a:p>
                      <a:r>
                        <a:rPr lang="fr-FR" sz="1200" dirty="0"/>
                        <a:t>Première version</a:t>
                      </a:r>
                    </a:p>
                    <a:p>
                      <a:endParaRPr lang="fr-FR" sz="1200" dirty="0"/>
                    </a:p>
                  </a:txBody>
                  <a:tcPr/>
                </a:tc>
                <a:extLst>
                  <a:ext uri="{0D108BD9-81ED-4DB2-BD59-A6C34878D82A}">
                    <a16:rowId xmlns:a16="http://schemas.microsoft.com/office/drawing/2014/main" val="2337500579"/>
                  </a:ext>
                </a:extLst>
              </a:tr>
              <a:tr h="370840">
                <a:tc>
                  <a:txBody>
                    <a:bodyPr/>
                    <a:lstStyle/>
                    <a:p>
                      <a:r>
                        <a:rPr lang="fr-FR" sz="1200" dirty="0"/>
                        <a:t>1.2</a:t>
                      </a:r>
                    </a:p>
                  </a:txBody>
                  <a:tcPr/>
                </a:tc>
                <a:tc>
                  <a:txBody>
                    <a:bodyPr/>
                    <a:lstStyle/>
                    <a:p>
                      <a:r>
                        <a:rPr lang="fr-FR" sz="1200" dirty="0"/>
                        <a:t>Alexandre QUACH</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hlinkClick r:id="rId2"/>
                        </a:rPr>
                        <a:t>CC-BY-4.0</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r>
                        <a:rPr lang="fr-FR" sz="1200" dirty="0"/>
                        <a:t>Refonte du sommaire</a:t>
                      </a:r>
                    </a:p>
                  </a:txBody>
                  <a:tcPr/>
                </a:tc>
                <a:extLst>
                  <a:ext uri="{0D108BD9-81ED-4DB2-BD59-A6C34878D82A}">
                    <a16:rowId xmlns:a16="http://schemas.microsoft.com/office/drawing/2014/main" val="3565347869"/>
                  </a:ext>
                </a:extLst>
              </a:tr>
              <a:tr h="370840">
                <a:tc>
                  <a:txBody>
                    <a:bodyPr/>
                    <a:lstStyle/>
                    <a:p>
                      <a:r>
                        <a:rPr lang="fr-FR" sz="1200" dirty="0"/>
                        <a:t>1.3</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t>Alexandre QUACH</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hlinkClick r:id="rId2"/>
                        </a:rPr>
                        <a:t>CC-BY-4.0</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r>
                        <a:rPr lang="fr-FR" sz="1200" dirty="0"/>
                        <a:t>Ajout de la section « Valeur d’être en communauté » et ajustement de la valeur et timing</a:t>
                      </a:r>
                    </a:p>
                  </a:txBody>
                  <a:tcPr/>
                </a:tc>
                <a:extLst>
                  <a:ext uri="{0D108BD9-81ED-4DB2-BD59-A6C34878D82A}">
                    <a16:rowId xmlns:a16="http://schemas.microsoft.com/office/drawing/2014/main" val="26495474"/>
                  </a:ext>
                </a:extLst>
              </a:tr>
              <a:tr h="370840">
                <a:tc>
                  <a:txBody>
                    <a:bodyPr/>
                    <a:lstStyle/>
                    <a:p>
                      <a:r>
                        <a:rPr lang="fr-FR" sz="1200" dirty="0"/>
                        <a:t>1.4</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t>Alexandre QUACH</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hlinkClick r:id="rId2"/>
                        </a:rPr>
                        <a:t>CC-BY-4.0</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r>
                        <a:rPr lang="fr-FR" sz="1200" dirty="0"/>
                        <a:t>Ajout des questions de renseignements</a:t>
                      </a:r>
                    </a:p>
                  </a:txBody>
                  <a:tcPr/>
                </a:tc>
                <a:extLst>
                  <a:ext uri="{0D108BD9-81ED-4DB2-BD59-A6C34878D82A}">
                    <a16:rowId xmlns:a16="http://schemas.microsoft.com/office/drawing/2014/main" val="1269871594"/>
                  </a:ext>
                </a:extLst>
              </a:tr>
              <a:tr h="370840">
                <a:tc>
                  <a:txBody>
                    <a:bodyPr/>
                    <a:lstStyle/>
                    <a:p>
                      <a:r>
                        <a:rPr lang="fr-FR" sz="1200" dirty="0"/>
                        <a:t>1.5</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t>Alexandre QUACH</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hlinkClick r:id="rId2"/>
                        </a:rPr>
                        <a:t>CC-BY-4.0</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r>
                        <a:rPr lang="fr-FR" sz="1200" dirty="0"/>
                        <a:t>Ajout des tensions et des blocages</a:t>
                      </a:r>
                    </a:p>
                  </a:txBody>
                  <a:tcPr/>
                </a:tc>
                <a:extLst>
                  <a:ext uri="{0D108BD9-81ED-4DB2-BD59-A6C34878D82A}">
                    <a16:rowId xmlns:a16="http://schemas.microsoft.com/office/drawing/2014/main" val="2873773566"/>
                  </a:ext>
                </a:extLst>
              </a:tr>
              <a:tr h="370840">
                <a:tc>
                  <a:txBody>
                    <a:bodyPr/>
                    <a:lstStyle/>
                    <a:p>
                      <a:r>
                        <a:rPr lang="fr-FR" sz="1200" dirty="0"/>
                        <a:t>1.6</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t>Alexandre QUACH</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hlinkClick r:id="rId2"/>
                        </a:rPr>
                        <a:t>CC-BY-4.0</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r>
                        <a:rPr lang="fr-FR" sz="1200" dirty="0"/>
                        <a:t>Ajout de la partie « similarité et différences des profils » dans la section « Valeur d’être en communauté »</a:t>
                      </a:r>
                    </a:p>
                  </a:txBody>
                  <a:tcPr/>
                </a:tc>
                <a:extLst>
                  <a:ext uri="{0D108BD9-81ED-4DB2-BD59-A6C34878D82A}">
                    <a16:rowId xmlns:a16="http://schemas.microsoft.com/office/drawing/2014/main" val="3366225516"/>
                  </a:ext>
                </a:extLst>
              </a:tr>
              <a:tr h="370840">
                <a:tc>
                  <a:txBody>
                    <a:bodyPr/>
                    <a:lstStyle/>
                    <a:p>
                      <a:r>
                        <a:rPr lang="fr-FR" sz="1200" dirty="0"/>
                        <a:t>1.7</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rPr>
                        <a:t>Alexandre QUACH</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hlinkClick r:id="rId2"/>
                        </a:rPr>
                        <a:t>CC-BY-4.0</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r>
                        <a:rPr lang="fr-FR" sz="1200" dirty="0"/>
                        <a:t>Ajout de la section renseignements</a:t>
                      </a:r>
                    </a:p>
                  </a:txBody>
                  <a:tcPr/>
                </a:tc>
                <a:extLst>
                  <a:ext uri="{0D108BD9-81ED-4DB2-BD59-A6C34878D82A}">
                    <a16:rowId xmlns:a16="http://schemas.microsoft.com/office/drawing/2014/main" val="1189766315"/>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1.8</a:t>
                      </a:r>
                    </a:p>
                  </a:txBody>
                  <a:tcPr/>
                </a:tc>
                <a:tc>
                  <a:txBody>
                    <a:bodyPr/>
                    <a:lstStyle/>
                    <a:p>
                      <a:r>
                        <a:rPr lang="fr-FR" sz="1200" dirty="0"/>
                        <a:t>Alexandre QUACH</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hlinkClick r:id="rId2"/>
                        </a:rPr>
                        <a:t>CC-BY-4.0</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r>
                        <a:rPr lang="fr-FR" sz="1200" dirty="0"/>
                        <a:t>Ajout de la section prioriser</a:t>
                      </a:r>
                    </a:p>
                  </a:txBody>
                  <a:tcPr/>
                </a:tc>
                <a:extLst>
                  <a:ext uri="{0D108BD9-81ED-4DB2-BD59-A6C34878D82A}">
                    <a16:rowId xmlns:a16="http://schemas.microsoft.com/office/drawing/2014/main" val="1217066192"/>
                  </a:ext>
                </a:extLst>
              </a:tr>
              <a:tr h="370840">
                <a:tc>
                  <a:txBody>
                    <a:bodyPr/>
                    <a:lstStyle/>
                    <a:p>
                      <a:r>
                        <a:rPr lang="fr-FR" sz="1200" dirty="0"/>
                        <a:t>1.9</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Alexandre QUACH</a:t>
                      </a:r>
                    </a:p>
                    <a:p>
                      <a:endParaRPr lang="fr-FR" sz="1200"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hlinkClick r:id="rId2"/>
                        </a:rPr>
                        <a:t>CC-BY-4.0</a:t>
                      </a: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Ajout de la section « Synthèse »</a:t>
                      </a:r>
                    </a:p>
                    <a:p>
                      <a:endParaRPr lang="fr-FR" sz="1200" dirty="0"/>
                    </a:p>
                  </a:txBody>
                  <a:tcPr/>
                </a:tc>
                <a:extLst>
                  <a:ext uri="{0D108BD9-81ED-4DB2-BD59-A6C34878D82A}">
                    <a16:rowId xmlns:a16="http://schemas.microsoft.com/office/drawing/2014/main" val="3632454121"/>
                  </a:ext>
                </a:extLst>
              </a:tr>
              <a:tr h="370840">
                <a:tc>
                  <a:txBody>
                    <a:bodyPr/>
                    <a:lstStyle/>
                    <a:p>
                      <a:r>
                        <a:rPr lang="fr-FR" sz="1200" dirty="0"/>
                        <a:t>2.0</a:t>
                      </a:r>
                    </a:p>
                  </a:txBody>
                  <a:tcPr/>
                </a:tc>
                <a:tc>
                  <a:txBody>
                    <a:bodyPr/>
                    <a:lstStyle/>
                    <a:p>
                      <a:r>
                        <a:rPr lang="fr-FR" sz="1200"/>
                        <a:t>Alexandre QUACH via KOMYU</a:t>
                      </a:r>
                      <a:endParaRPr lang="fr-FR" sz="1200" dirty="0"/>
                    </a:p>
                    <a:p>
                      <a:r>
                        <a:rPr lang="fr-FR" sz="1200" dirty="0"/>
                        <a:t>Marine CLAUSE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solidFill>
                          <a:effectLst/>
                          <a:uLnTx/>
                          <a:uFillTx/>
                          <a:latin typeface="+mn-lt"/>
                          <a:ea typeface="+mn-ea"/>
                          <a:cs typeface="+mn-cs"/>
                          <a:hlinkClick r:id="rId2"/>
                        </a:rPr>
                        <a:t>CC-BY-4.0</a:t>
                      </a:r>
                      <a:endParaRPr kumimoji="0" lang="fr-FR"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tc>
                <a:tc>
                  <a:txBody>
                    <a:bodyPr/>
                    <a:lstStyle/>
                    <a:p>
                      <a:r>
                        <a:rPr lang="fr-FR" sz="1200" dirty="0"/>
                        <a:t>Ajout de la section « Formules toutes prêtes » (Feuille de route + communautés type)</a:t>
                      </a:r>
                    </a:p>
                  </a:txBody>
                  <a:tcPr/>
                </a:tc>
                <a:extLst>
                  <a:ext uri="{0D108BD9-81ED-4DB2-BD59-A6C34878D82A}">
                    <a16:rowId xmlns:a16="http://schemas.microsoft.com/office/drawing/2014/main" val="1569836102"/>
                  </a:ext>
                </a:extLst>
              </a:tr>
            </a:tbl>
          </a:graphicData>
        </a:graphic>
      </p:graphicFrame>
    </p:spTree>
    <p:extLst>
      <p:ext uri="{BB962C8B-B14F-4D97-AF65-F5344CB8AC3E}">
        <p14:creationId xmlns:p14="http://schemas.microsoft.com/office/powerpoint/2010/main" val="254537706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re 8">
            <a:extLst>
              <a:ext uri="{FF2B5EF4-FFF2-40B4-BE49-F238E27FC236}">
                <a16:creationId xmlns:a16="http://schemas.microsoft.com/office/drawing/2014/main" id="{58268E88-EE20-06ED-18EC-E563DAFBF299}"/>
              </a:ext>
            </a:extLst>
          </p:cNvPr>
          <p:cNvSpPr>
            <a:spLocks noGrp="1"/>
          </p:cNvSpPr>
          <p:nvPr>
            <p:ph type="title"/>
          </p:nvPr>
        </p:nvSpPr>
        <p:spPr/>
        <p:txBody>
          <a:bodyPr/>
          <a:lstStyle/>
          <a:p>
            <a:r>
              <a:rPr lang="fr-FR" dirty="0"/>
              <a:t>Disponibilité en source ouverte</a:t>
            </a:r>
          </a:p>
        </p:txBody>
      </p:sp>
      <p:sp>
        <p:nvSpPr>
          <p:cNvPr id="10" name="Espace réservé du contenu 9">
            <a:extLst>
              <a:ext uri="{FF2B5EF4-FFF2-40B4-BE49-F238E27FC236}">
                <a16:creationId xmlns:a16="http://schemas.microsoft.com/office/drawing/2014/main" id="{A4DECA32-E2C7-7B08-61BD-6654348323EA}"/>
              </a:ext>
            </a:extLst>
          </p:cNvPr>
          <p:cNvSpPr>
            <a:spLocks noGrp="1"/>
          </p:cNvSpPr>
          <p:nvPr>
            <p:ph idx="1"/>
          </p:nvPr>
        </p:nvSpPr>
        <p:spPr/>
        <p:txBody>
          <a:bodyPr>
            <a:normAutofit fontScale="77500" lnSpcReduction="20000"/>
          </a:bodyPr>
          <a:lstStyle/>
          <a:p>
            <a:r>
              <a:rPr lang="fr-FR" dirty="0"/>
              <a:t>La vocation d’#OpenSeriousCommunity (et du mouvement source #OpenSeriousGame) est de développer le pouvoir de transmission en chacun, entre autres en s’appuyant sur une logique d’Open Source.</a:t>
            </a:r>
          </a:p>
          <a:p>
            <a:endParaRPr lang="fr-FR" dirty="0"/>
          </a:p>
          <a:p>
            <a:r>
              <a:rPr lang="fr-FR" dirty="0"/>
              <a:t>La formation que vous consultez actuellement est diffusée en source ouverte </a:t>
            </a:r>
            <a:r>
              <a:rPr lang="fr-FR" b="1" dirty="0"/>
              <a:t>et éditable, </a:t>
            </a:r>
            <a:r>
              <a:rPr lang="fr-FR" dirty="0"/>
              <a:t>en espérant que vous développiez à votre tour des améliorations, vos publications personnelles, vos variantes.</a:t>
            </a:r>
          </a:p>
          <a:p>
            <a:endParaRPr lang="fr-FR" b="1" dirty="0"/>
          </a:p>
          <a:p>
            <a:r>
              <a:rPr lang="fr-FR" dirty="0"/>
              <a:t>Cette version est la première source historiquement, mais ne doit pas être prise comme un dogme ou comme une construction rigide.</a:t>
            </a:r>
          </a:p>
          <a:p>
            <a:endParaRPr lang="fr-FR" dirty="0"/>
          </a:p>
          <a:p>
            <a:r>
              <a:rPr lang="fr-FR" dirty="0"/>
              <a:t>La licence d’usage est Creative Commons By Attribution, ce qui veut dire qu’il est partagé sous conditions de citer les sources. Plus de détails: </a:t>
            </a:r>
            <a:r>
              <a:rPr lang="fr-FR" dirty="0">
                <a:hlinkClick r:id="rId2"/>
              </a:rPr>
              <a:t>https://creativecommons.org/licenses/by/4.0/</a:t>
            </a:r>
            <a:endParaRPr lang="fr-FR" dirty="0"/>
          </a:p>
          <a:p>
            <a:endParaRPr lang="fr-FR" dirty="0"/>
          </a:p>
          <a:p>
            <a:endParaRPr lang="fr-FR" dirty="0"/>
          </a:p>
        </p:txBody>
      </p:sp>
    </p:spTree>
    <p:extLst>
      <p:ext uri="{BB962C8B-B14F-4D97-AF65-F5344CB8AC3E}">
        <p14:creationId xmlns:p14="http://schemas.microsoft.com/office/powerpoint/2010/main" val="360877877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878FCB9-7911-4420-9C34-3BD440915F45}"/>
              </a:ext>
            </a:extLst>
          </p:cNvPr>
          <p:cNvSpPr>
            <a:spLocks noGrp="1"/>
          </p:cNvSpPr>
          <p:nvPr>
            <p:ph type="title"/>
          </p:nvPr>
        </p:nvSpPr>
        <p:spPr/>
        <p:txBody>
          <a:bodyPr/>
          <a:lstStyle/>
          <a:p>
            <a:r>
              <a:rPr lang="fr-FR" dirty="0"/>
              <a:t>Les 3 couches de construction d’une Communauté d’entreprise</a:t>
            </a:r>
          </a:p>
        </p:txBody>
      </p:sp>
      <p:pic>
        <p:nvPicPr>
          <p:cNvPr id="7" name="Espace réservé du contenu 6" descr="Tribunal contour">
            <a:extLst>
              <a:ext uri="{FF2B5EF4-FFF2-40B4-BE49-F238E27FC236}">
                <a16:creationId xmlns:a16="http://schemas.microsoft.com/office/drawing/2014/main" id="{ED7C20E9-5926-BB35-24C9-9054EBAF6E6B}"/>
              </a:ext>
            </a:extLst>
          </p:cNvPr>
          <p:cNvPicPr>
            <a:picLocks noGrp="1" noChangeAspect="1"/>
          </p:cNvPicPr>
          <p:nvPr>
            <p:ph idx="1"/>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75101" r="8805" b="9752"/>
          <a:stretch/>
        </p:blipFill>
        <p:spPr>
          <a:xfrm>
            <a:off x="838200" y="5577840"/>
            <a:ext cx="4325259" cy="788716"/>
          </a:xfrm>
        </p:spPr>
      </p:pic>
      <p:sp>
        <p:nvSpPr>
          <p:cNvPr id="10" name="Espace réservé du contenu 9">
            <a:extLst>
              <a:ext uri="{FF2B5EF4-FFF2-40B4-BE49-F238E27FC236}">
                <a16:creationId xmlns:a16="http://schemas.microsoft.com/office/drawing/2014/main" id="{30DDCFD2-0796-7019-FFEF-8A10A69E1D63}"/>
              </a:ext>
            </a:extLst>
          </p:cNvPr>
          <p:cNvSpPr txBox="1">
            <a:spLocks/>
          </p:cNvSpPr>
          <p:nvPr/>
        </p:nvSpPr>
        <p:spPr>
          <a:xfrm>
            <a:off x="5273780" y="5498144"/>
            <a:ext cx="6151790" cy="116271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800" b="1" dirty="0">
                <a:solidFill>
                  <a:srgbClr val="0683AA"/>
                </a:solidFill>
              </a:rPr>
              <a:t>BASE : LA VALEUR DE LA COMMUNAUTÉ</a:t>
            </a:r>
          </a:p>
          <a:p>
            <a:pPr marL="0" indent="0">
              <a:buFont typeface="Arial" panose="020B0604020202020204" pitchFamily="34" charset="0"/>
              <a:buNone/>
            </a:pPr>
            <a:r>
              <a:rPr lang="fr-FR" sz="1800" i="1" dirty="0">
                <a:solidFill>
                  <a:srgbClr val="0683AA"/>
                </a:solidFill>
              </a:rPr>
              <a:t>« Ce à quoi la Communauté sert ». </a:t>
            </a:r>
            <a:r>
              <a:rPr lang="fr-FR" sz="1800" dirty="0">
                <a:solidFill>
                  <a:srgbClr val="0683AA"/>
                </a:solidFill>
              </a:rPr>
              <a:t>L’impact positif attendu ou effectif de la communauté, la raison d’être de la Communauté</a:t>
            </a:r>
          </a:p>
        </p:txBody>
      </p:sp>
    </p:spTree>
    <p:extLst>
      <p:ext uri="{BB962C8B-B14F-4D97-AF65-F5344CB8AC3E}">
        <p14:creationId xmlns:p14="http://schemas.microsoft.com/office/powerpoint/2010/main" val="97226617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878FCB9-7911-4420-9C34-3BD440915F45}"/>
              </a:ext>
            </a:extLst>
          </p:cNvPr>
          <p:cNvSpPr>
            <a:spLocks noGrp="1"/>
          </p:cNvSpPr>
          <p:nvPr>
            <p:ph type="title"/>
          </p:nvPr>
        </p:nvSpPr>
        <p:spPr/>
        <p:txBody>
          <a:bodyPr/>
          <a:lstStyle/>
          <a:p>
            <a:r>
              <a:rPr lang="fr-FR" dirty="0"/>
              <a:t>Les 3 couches de construction d’une Communauté d’entreprise</a:t>
            </a:r>
          </a:p>
        </p:txBody>
      </p:sp>
      <p:pic>
        <p:nvPicPr>
          <p:cNvPr id="7" name="Espace réservé du contenu 6" descr="Tribunal contour">
            <a:extLst>
              <a:ext uri="{FF2B5EF4-FFF2-40B4-BE49-F238E27FC236}">
                <a16:creationId xmlns:a16="http://schemas.microsoft.com/office/drawing/2014/main" id="{ED7C20E9-5926-BB35-24C9-9054EBAF6E6B}"/>
              </a:ext>
            </a:extLst>
          </p:cNvPr>
          <p:cNvPicPr>
            <a:picLocks noGrp="1" noChangeAspect="1"/>
          </p:cNvPicPr>
          <p:nvPr>
            <p:ph idx="1"/>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75101" r="8805" b="9752"/>
          <a:stretch/>
        </p:blipFill>
        <p:spPr>
          <a:xfrm>
            <a:off x="838200" y="5577840"/>
            <a:ext cx="4325259" cy="788716"/>
          </a:xfrm>
        </p:spPr>
      </p:pic>
      <p:pic>
        <p:nvPicPr>
          <p:cNvPr id="8" name="Espace réservé du contenu 6" descr="Tribunal contour">
            <a:extLst>
              <a:ext uri="{FF2B5EF4-FFF2-40B4-BE49-F238E27FC236}">
                <a16:creationId xmlns:a16="http://schemas.microsoft.com/office/drawing/2014/main" id="{0DF178C4-29FF-4FBC-590D-C3FB7CFBCF26}"/>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37523" r="8805" b="24898"/>
          <a:stretch/>
        </p:blipFill>
        <p:spPr>
          <a:xfrm>
            <a:off x="838200" y="3621024"/>
            <a:ext cx="4325259" cy="1956816"/>
          </a:xfrm>
          <a:prstGeom prst="rect">
            <a:avLst/>
          </a:prstGeom>
        </p:spPr>
      </p:pic>
      <p:pic>
        <p:nvPicPr>
          <p:cNvPr id="12" name="Graphique 11" descr="Réussite du groupe avec un remplissage uni">
            <a:extLst>
              <a:ext uri="{FF2B5EF4-FFF2-40B4-BE49-F238E27FC236}">
                <a16:creationId xmlns:a16="http://schemas.microsoft.com/office/drawing/2014/main" id="{4E9F0F93-E125-292B-5BEA-54931F18D1E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13979" b="19010"/>
          <a:stretch/>
        </p:blipFill>
        <p:spPr>
          <a:xfrm>
            <a:off x="2141153" y="4425696"/>
            <a:ext cx="1719352" cy="1152144"/>
          </a:xfrm>
          <a:prstGeom prst="rect">
            <a:avLst/>
          </a:prstGeom>
        </p:spPr>
      </p:pic>
      <p:sp>
        <p:nvSpPr>
          <p:cNvPr id="13" name="Espace réservé du contenu 9">
            <a:extLst>
              <a:ext uri="{FF2B5EF4-FFF2-40B4-BE49-F238E27FC236}">
                <a16:creationId xmlns:a16="http://schemas.microsoft.com/office/drawing/2014/main" id="{FA55190D-4A8A-D064-5EEE-BF5C68523D8A}"/>
              </a:ext>
            </a:extLst>
          </p:cNvPr>
          <p:cNvSpPr txBox="1">
            <a:spLocks/>
          </p:cNvSpPr>
          <p:nvPr/>
        </p:nvSpPr>
        <p:spPr>
          <a:xfrm>
            <a:off x="5273780" y="3773590"/>
            <a:ext cx="6151790" cy="1486558"/>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800" b="1" dirty="0">
                <a:solidFill>
                  <a:srgbClr val="ED7D31"/>
                </a:solidFill>
              </a:rPr>
              <a:t>PILLIERS : LE SENTIMENT D’APPARTENANCE ET LE LIEN DANS LA COMMUNAUTÉ </a:t>
            </a:r>
          </a:p>
          <a:p>
            <a:pPr marL="0" indent="0">
              <a:buFont typeface="Arial" panose="020B0604020202020204" pitchFamily="34" charset="0"/>
              <a:buNone/>
            </a:pPr>
            <a:r>
              <a:rPr lang="fr-FR" sz="1800" i="1" dirty="0">
                <a:solidFill>
                  <a:srgbClr val="ED7D31"/>
                </a:solidFill>
              </a:rPr>
              <a:t>« Ce qui fait qu’on est ensemble et unis» </a:t>
            </a:r>
            <a:r>
              <a:rPr lang="fr-FR" sz="1800" dirty="0">
                <a:solidFill>
                  <a:srgbClr val="ED7D31"/>
                </a:solidFill>
              </a:rPr>
              <a:t>Les motivations à être unis et engagés en tant que Communauté plutôt qu’en individus isolés. </a:t>
            </a:r>
          </a:p>
        </p:txBody>
      </p:sp>
    </p:spTree>
    <p:extLst>
      <p:ext uri="{BB962C8B-B14F-4D97-AF65-F5344CB8AC3E}">
        <p14:creationId xmlns:p14="http://schemas.microsoft.com/office/powerpoint/2010/main" val="410217578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878FCB9-7911-4420-9C34-3BD440915F45}"/>
              </a:ext>
            </a:extLst>
          </p:cNvPr>
          <p:cNvSpPr>
            <a:spLocks noGrp="1"/>
          </p:cNvSpPr>
          <p:nvPr>
            <p:ph type="title"/>
          </p:nvPr>
        </p:nvSpPr>
        <p:spPr/>
        <p:txBody>
          <a:bodyPr/>
          <a:lstStyle/>
          <a:p>
            <a:r>
              <a:rPr lang="fr-FR" dirty="0"/>
              <a:t>Les 3 couches de construction d’une Communauté d’entreprise</a:t>
            </a:r>
          </a:p>
        </p:txBody>
      </p:sp>
      <p:pic>
        <p:nvPicPr>
          <p:cNvPr id="7" name="Espace réservé du contenu 6" descr="Tribunal contour">
            <a:extLst>
              <a:ext uri="{FF2B5EF4-FFF2-40B4-BE49-F238E27FC236}">
                <a16:creationId xmlns:a16="http://schemas.microsoft.com/office/drawing/2014/main" id="{ED7C20E9-5926-BB35-24C9-9054EBAF6E6B}"/>
              </a:ext>
            </a:extLst>
          </p:cNvPr>
          <p:cNvPicPr>
            <a:picLocks noGrp="1" noChangeAspect="1"/>
          </p:cNvPicPr>
          <p:nvPr>
            <p:ph idx="1"/>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75101" r="8805" b="9752"/>
          <a:stretch/>
        </p:blipFill>
        <p:spPr>
          <a:xfrm>
            <a:off x="838200" y="5577840"/>
            <a:ext cx="4325259" cy="788716"/>
          </a:xfrm>
        </p:spPr>
      </p:pic>
      <p:pic>
        <p:nvPicPr>
          <p:cNvPr id="8" name="Espace réservé du contenu 6" descr="Tribunal contour">
            <a:extLst>
              <a:ext uri="{FF2B5EF4-FFF2-40B4-BE49-F238E27FC236}">
                <a16:creationId xmlns:a16="http://schemas.microsoft.com/office/drawing/2014/main" id="{0DF178C4-29FF-4FBC-590D-C3FB7CFBCF26}"/>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37523" r="8805" b="24898"/>
          <a:stretch/>
        </p:blipFill>
        <p:spPr>
          <a:xfrm>
            <a:off x="838200" y="3621024"/>
            <a:ext cx="4325259" cy="1956816"/>
          </a:xfrm>
          <a:prstGeom prst="rect">
            <a:avLst/>
          </a:prstGeom>
        </p:spPr>
      </p:pic>
      <p:pic>
        <p:nvPicPr>
          <p:cNvPr id="9" name="Espace réservé du contenu 6" descr="Tribunal contour">
            <a:extLst>
              <a:ext uri="{FF2B5EF4-FFF2-40B4-BE49-F238E27FC236}">
                <a16:creationId xmlns:a16="http://schemas.microsoft.com/office/drawing/2014/main" id="{EED956CE-0167-8B07-1C4B-D38F46348D97}"/>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838200" y="2322576"/>
            <a:ext cx="4325259" cy="1324928"/>
          </a:xfrm>
          <a:prstGeom prst="rect">
            <a:avLst/>
          </a:prstGeom>
        </p:spPr>
      </p:pic>
      <p:pic>
        <p:nvPicPr>
          <p:cNvPr id="12" name="Graphique 11" descr="Réussite du groupe avec un remplissage uni">
            <a:extLst>
              <a:ext uri="{FF2B5EF4-FFF2-40B4-BE49-F238E27FC236}">
                <a16:creationId xmlns:a16="http://schemas.microsoft.com/office/drawing/2014/main" id="{4E9F0F93-E125-292B-5BEA-54931F18D1E6}"/>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3979" b="19010"/>
          <a:stretch/>
        </p:blipFill>
        <p:spPr>
          <a:xfrm>
            <a:off x="2141153" y="4425696"/>
            <a:ext cx="1719352" cy="1152144"/>
          </a:xfrm>
          <a:prstGeom prst="rect">
            <a:avLst/>
          </a:prstGeom>
        </p:spPr>
      </p:pic>
      <p:sp>
        <p:nvSpPr>
          <p:cNvPr id="14" name="Espace réservé du contenu 9">
            <a:extLst>
              <a:ext uri="{FF2B5EF4-FFF2-40B4-BE49-F238E27FC236}">
                <a16:creationId xmlns:a16="http://schemas.microsoft.com/office/drawing/2014/main" id="{B9E793F1-71AF-62E0-52D7-DAAF51C41B96}"/>
              </a:ext>
            </a:extLst>
          </p:cNvPr>
          <p:cNvSpPr txBox="1">
            <a:spLocks/>
          </p:cNvSpPr>
          <p:nvPr/>
        </p:nvSpPr>
        <p:spPr>
          <a:xfrm>
            <a:off x="5273780" y="2198338"/>
            <a:ext cx="6151790" cy="142268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800" b="1" dirty="0">
                <a:solidFill>
                  <a:schemeClr val="bg1">
                    <a:lumMod val="50000"/>
                  </a:schemeClr>
                </a:solidFill>
              </a:rPr>
              <a:t>TOIT : LE MODE OPÉRATOIRE DE LA COMMUNAUTÉ</a:t>
            </a:r>
          </a:p>
          <a:p>
            <a:pPr marL="0" indent="0">
              <a:buFont typeface="Arial" panose="020B0604020202020204" pitchFamily="34" charset="0"/>
              <a:buNone/>
            </a:pPr>
            <a:r>
              <a:rPr lang="fr-FR" sz="1800" i="1" dirty="0">
                <a:solidFill>
                  <a:schemeClr val="bg1">
                    <a:lumMod val="50000"/>
                  </a:schemeClr>
                </a:solidFill>
              </a:rPr>
              <a:t>« Ce qu’on fait concrètement » </a:t>
            </a:r>
            <a:r>
              <a:rPr lang="fr-FR" sz="1800" dirty="0">
                <a:solidFill>
                  <a:schemeClr val="bg1">
                    <a:lumMod val="50000"/>
                  </a:schemeClr>
                </a:solidFill>
              </a:rPr>
              <a:t>La pertinence des choix d’activités, de contenus, la priorisation et l’exécution, les modalités opérationnelles, le dimensionnement</a:t>
            </a:r>
          </a:p>
        </p:txBody>
      </p:sp>
    </p:spTree>
    <p:extLst>
      <p:ext uri="{BB962C8B-B14F-4D97-AF65-F5344CB8AC3E}">
        <p14:creationId xmlns:p14="http://schemas.microsoft.com/office/powerpoint/2010/main" val="207429640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E3F3436-D21A-A7D7-CEC2-98EA62AAFB20}"/>
              </a:ext>
            </a:extLst>
          </p:cNvPr>
          <p:cNvSpPr>
            <a:spLocks noGrp="1"/>
          </p:cNvSpPr>
          <p:nvPr>
            <p:ph type="title"/>
          </p:nvPr>
        </p:nvSpPr>
        <p:spPr/>
        <p:txBody>
          <a:bodyPr/>
          <a:lstStyle/>
          <a:p>
            <a:r>
              <a:rPr lang="fr-FR" dirty="0"/>
              <a:t>Quelques risques si une couche est faible</a:t>
            </a:r>
          </a:p>
        </p:txBody>
      </p:sp>
      <p:grpSp>
        <p:nvGrpSpPr>
          <p:cNvPr id="7" name="Groupe 6">
            <a:extLst>
              <a:ext uri="{FF2B5EF4-FFF2-40B4-BE49-F238E27FC236}">
                <a16:creationId xmlns:a16="http://schemas.microsoft.com/office/drawing/2014/main" id="{547D460E-A7B8-71D0-C899-8FC531754FF2}"/>
              </a:ext>
            </a:extLst>
          </p:cNvPr>
          <p:cNvGrpSpPr/>
          <p:nvPr/>
        </p:nvGrpSpPr>
        <p:grpSpPr>
          <a:xfrm>
            <a:off x="719550" y="1927370"/>
            <a:ext cx="2855157" cy="2148840"/>
            <a:chOff x="838200" y="2322576"/>
            <a:chExt cx="4325259" cy="3255264"/>
          </a:xfrm>
        </p:grpSpPr>
        <p:pic>
          <p:nvPicPr>
            <p:cNvPr id="4" name="Espace réservé du contenu 6" descr="Tribunal contour">
              <a:extLst>
                <a:ext uri="{FF2B5EF4-FFF2-40B4-BE49-F238E27FC236}">
                  <a16:creationId xmlns:a16="http://schemas.microsoft.com/office/drawing/2014/main" id="{87A6B9AA-8DAB-56CA-7096-65443F0B39E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37523" r="8805" b="24898"/>
            <a:stretch/>
          </p:blipFill>
          <p:spPr>
            <a:xfrm>
              <a:off x="838200" y="3621024"/>
              <a:ext cx="4325259" cy="1956816"/>
            </a:xfrm>
            <a:prstGeom prst="rect">
              <a:avLst/>
            </a:prstGeom>
          </p:spPr>
        </p:pic>
        <p:pic>
          <p:nvPicPr>
            <p:cNvPr id="5" name="Espace réservé du contenu 6" descr="Tribunal contour">
              <a:extLst>
                <a:ext uri="{FF2B5EF4-FFF2-40B4-BE49-F238E27FC236}">
                  <a16:creationId xmlns:a16="http://schemas.microsoft.com/office/drawing/2014/main" id="{A1CB1D4A-4E48-F9C7-C798-66F52D6247A8}"/>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12060" r="8805" b="62496"/>
            <a:stretch/>
          </p:blipFill>
          <p:spPr>
            <a:xfrm>
              <a:off x="838200" y="2322576"/>
              <a:ext cx="4325259" cy="1324928"/>
            </a:xfrm>
            <a:prstGeom prst="rect">
              <a:avLst/>
            </a:prstGeom>
          </p:spPr>
        </p:pic>
        <p:pic>
          <p:nvPicPr>
            <p:cNvPr id="6" name="Graphique 5" descr="Réussite du groupe avec un remplissage uni">
              <a:extLst>
                <a:ext uri="{FF2B5EF4-FFF2-40B4-BE49-F238E27FC236}">
                  <a16:creationId xmlns:a16="http://schemas.microsoft.com/office/drawing/2014/main" id="{6FB39A75-ACA9-2AEE-1F59-E5FF1308EE69}"/>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13979" b="19010"/>
            <a:stretch/>
          </p:blipFill>
          <p:spPr>
            <a:xfrm>
              <a:off x="2141153" y="4425696"/>
              <a:ext cx="1719352" cy="1152144"/>
            </a:xfrm>
            <a:prstGeom prst="rect">
              <a:avLst/>
            </a:prstGeom>
          </p:spPr>
        </p:pic>
      </p:grpSp>
      <p:pic>
        <p:nvPicPr>
          <p:cNvPr id="8" name="Espace réservé du contenu 6" descr="Tribunal contour">
            <a:extLst>
              <a:ext uri="{FF2B5EF4-FFF2-40B4-BE49-F238E27FC236}">
                <a16:creationId xmlns:a16="http://schemas.microsoft.com/office/drawing/2014/main" id="{EBBB2DE7-5A6D-9BF6-3467-791FF6540AEC}"/>
              </a:ext>
            </a:extLst>
          </p:cNvPr>
          <p:cNvPicPr>
            <a:picLocks noGrp="1" noChangeAspect="1"/>
          </p:cNvPicPr>
          <p:nvPr>
            <p:ph idx="1"/>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l="8133" t="75101" r="8805" b="9752"/>
          <a:stretch/>
        </p:blipFill>
        <p:spPr>
          <a:xfrm>
            <a:off x="4493525" y="4072506"/>
            <a:ext cx="3104625" cy="566132"/>
          </a:xfrm>
        </p:spPr>
      </p:pic>
      <p:pic>
        <p:nvPicPr>
          <p:cNvPr id="9" name="Espace réservé du contenu 6" descr="Tribunal contour">
            <a:extLst>
              <a:ext uri="{FF2B5EF4-FFF2-40B4-BE49-F238E27FC236}">
                <a16:creationId xmlns:a16="http://schemas.microsoft.com/office/drawing/2014/main" id="{B80889AE-DA17-5D16-D128-1AF34A0659E7}"/>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12060" r="8805" b="62496"/>
          <a:stretch/>
        </p:blipFill>
        <p:spPr>
          <a:xfrm>
            <a:off x="4434802" y="1833473"/>
            <a:ext cx="3104625" cy="951019"/>
          </a:xfrm>
          <a:prstGeom prst="rect">
            <a:avLst/>
          </a:prstGeom>
        </p:spPr>
      </p:pic>
      <p:grpSp>
        <p:nvGrpSpPr>
          <p:cNvPr id="13" name="Groupe 12">
            <a:extLst>
              <a:ext uri="{FF2B5EF4-FFF2-40B4-BE49-F238E27FC236}">
                <a16:creationId xmlns:a16="http://schemas.microsoft.com/office/drawing/2014/main" id="{C92EF447-1F0B-6E78-D97B-B69C3854ADE6}"/>
              </a:ext>
            </a:extLst>
          </p:cNvPr>
          <p:cNvGrpSpPr/>
          <p:nvPr/>
        </p:nvGrpSpPr>
        <p:grpSpPr>
          <a:xfrm>
            <a:off x="8399522" y="2784492"/>
            <a:ext cx="3038900" cy="1928994"/>
            <a:chOff x="7666839" y="3598925"/>
            <a:chExt cx="4325259" cy="2745532"/>
          </a:xfrm>
        </p:grpSpPr>
        <p:pic>
          <p:nvPicPr>
            <p:cNvPr id="10" name="Espace réservé du contenu 6" descr="Tribunal contour">
              <a:extLst>
                <a:ext uri="{FF2B5EF4-FFF2-40B4-BE49-F238E27FC236}">
                  <a16:creationId xmlns:a16="http://schemas.microsoft.com/office/drawing/2014/main" id="{48E0FFDE-293C-A37D-EB38-F356C4732DAE}"/>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l="8133" t="75101" r="8805" b="9752"/>
            <a:stretch/>
          </p:blipFill>
          <p:spPr>
            <a:xfrm>
              <a:off x="7666839" y="5555741"/>
              <a:ext cx="4325259" cy="788716"/>
            </a:xfrm>
            <a:prstGeom prst="rect">
              <a:avLst/>
            </a:prstGeom>
          </p:spPr>
        </p:pic>
        <p:pic>
          <p:nvPicPr>
            <p:cNvPr id="11" name="Espace réservé du contenu 6" descr="Tribunal contour">
              <a:extLst>
                <a:ext uri="{FF2B5EF4-FFF2-40B4-BE49-F238E27FC236}">
                  <a16:creationId xmlns:a16="http://schemas.microsoft.com/office/drawing/2014/main" id="{AF9B3EF6-98C9-A8BC-2C1F-00D9AF038B4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37523" r="8805" b="24898"/>
            <a:stretch/>
          </p:blipFill>
          <p:spPr>
            <a:xfrm>
              <a:off x="7666839" y="3598925"/>
              <a:ext cx="4325259" cy="1956816"/>
            </a:xfrm>
            <a:prstGeom prst="rect">
              <a:avLst/>
            </a:prstGeom>
          </p:spPr>
        </p:pic>
        <p:pic>
          <p:nvPicPr>
            <p:cNvPr id="12" name="Graphique 11" descr="Réussite du groupe avec un remplissage uni">
              <a:extLst>
                <a:ext uri="{FF2B5EF4-FFF2-40B4-BE49-F238E27FC236}">
                  <a16:creationId xmlns:a16="http://schemas.microsoft.com/office/drawing/2014/main" id="{5F572E4E-7960-9788-582D-0C28F1F0739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13979" b="19010"/>
            <a:stretch/>
          </p:blipFill>
          <p:spPr>
            <a:xfrm>
              <a:off x="8969792" y="4403597"/>
              <a:ext cx="1719352" cy="1152144"/>
            </a:xfrm>
            <a:prstGeom prst="rect">
              <a:avLst/>
            </a:prstGeom>
          </p:spPr>
        </p:pic>
      </p:grpSp>
      <p:sp>
        <p:nvSpPr>
          <p:cNvPr id="14" name="Espace réservé du contenu 9">
            <a:extLst>
              <a:ext uri="{FF2B5EF4-FFF2-40B4-BE49-F238E27FC236}">
                <a16:creationId xmlns:a16="http://schemas.microsoft.com/office/drawing/2014/main" id="{3CF7F5A3-E063-7D49-7649-EEB4F03D5DD0}"/>
              </a:ext>
            </a:extLst>
          </p:cNvPr>
          <p:cNvSpPr txBox="1">
            <a:spLocks/>
          </p:cNvSpPr>
          <p:nvPr/>
        </p:nvSpPr>
        <p:spPr>
          <a:xfrm>
            <a:off x="298939" y="4782866"/>
            <a:ext cx="3643717" cy="116271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400" b="1" dirty="0">
                <a:solidFill>
                  <a:srgbClr val="0683AA"/>
                </a:solidFill>
              </a:rPr>
              <a:t>COMMUNAUTÉ SANS VALEUR</a:t>
            </a:r>
          </a:p>
          <a:p>
            <a:pPr marL="0" indent="0" algn="ctr">
              <a:buFont typeface="Arial" panose="020B0604020202020204" pitchFamily="34" charset="0"/>
              <a:buNone/>
            </a:pPr>
            <a:r>
              <a:rPr lang="fr-FR" sz="1400" i="1" dirty="0">
                <a:solidFill>
                  <a:srgbClr val="0683AA"/>
                </a:solidFill>
              </a:rPr>
              <a:t>«Nous sommes unis et avons une idée de comment opérer, mais au fond nous ne savons pas vraiment à quoi sert cette communauté »</a:t>
            </a:r>
          </a:p>
          <a:p>
            <a:pPr marL="0" indent="0" algn="ctr">
              <a:buFont typeface="Arial" panose="020B0604020202020204" pitchFamily="34" charset="0"/>
              <a:buNone/>
            </a:pPr>
            <a:r>
              <a:rPr lang="fr-FR" sz="1400" i="1" dirty="0">
                <a:solidFill>
                  <a:srgbClr val="0683AA"/>
                </a:solidFill>
                <a:sym typeface="Wingdings" panose="05000000000000000000" pitchFamily="2" charset="2"/>
              </a:rPr>
              <a:t> Risque de désengagement par compétition avec le reste des activités </a:t>
            </a:r>
            <a:endParaRPr lang="fr-FR" sz="1400" dirty="0">
              <a:solidFill>
                <a:srgbClr val="0683AA"/>
              </a:solidFill>
            </a:endParaRPr>
          </a:p>
        </p:txBody>
      </p:sp>
      <p:sp>
        <p:nvSpPr>
          <p:cNvPr id="15" name="Espace réservé du contenu 9">
            <a:extLst>
              <a:ext uri="{FF2B5EF4-FFF2-40B4-BE49-F238E27FC236}">
                <a16:creationId xmlns:a16="http://schemas.microsoft.com/office/drawing/2014/main" id="{485165A1-D17E-2451-9957-EF48FFC4E80E}"/>
              </a:ext>
            </a:extLst>
          </p:cNvPr>
          <p:cNvSpPr txBox="1">
            <a:spLocks/>
          </p:cNvSpPr>
          <p:nvPr/>
        </p:nvSpPr>
        <p:spPr>
          <a:xfrm>
            <a:off x="4274141" y="4782865"/>
            <a:ext cx="3643717" cy="188638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400" b="1" dirty="0">
                <a:solidFill>
                  <a:srgbClr val="ED7D31"/>
                </a:solidFill>
              </a:rPr>
              <a:t>COMMUNAUTÉ SANS SENTIMENT D’APPARTENANCE</a:t>
            </a:r>
          </a:p>
          <a:p>
            <a:pPr marL="0" indent="0" algn="ctr">
              <a:buFont typeface="Arial" panose="020B0604020202020204" pitchFamily="34" charset="0"/>
              <a:buNone/>
            </a:pPr>
            <a:r>
              <a:rPr lang="fr-FR" sz="1400" i="1" dirty="0">
                <a:solidFill>
                  <a:srgbClr val="ED7D31"/>
                </a:solidFill>
              </a:rPr>
              <a:t>«La communauté peut être utile, nous avons une idée de comment l’opérer, mais nous sommes peu unis et chacun n’y est que pour son compte »</a:t>
            </a:r>
          </a:p>
          <a:p>
            <a:pPr marL="0" indent="0" algn="ctr">
              <a:buFont typeface="Arial" panose="020B0604020202020204" pitchFamily="34" charset="0"/>
              <a:buNone/>
            </a:pPr>
            <a:r>
              <a:rPr lang="fr-FR" sz="1400" i="1" dirty="0">
                <a:solidFill>
                  <a:srgbClr val="ED7D31"/>
                </a:solidFill>
                <a:sym typeface="Wingdings" panose="05000000000000000000" pitchFamily="2" charset="2"/>
              </a:rPr>
              <a:t> Risque de désagrégation par manque de lien et perte de mutualisation</a:t>
            </a:r>
            <a:endParaRPr lang="fr-FR" sz="1400" dirty="0">
              <a:solidFill>
                <a:srgbClr val="ED7D31"/>
              </a:solidFill>
            </a:endParaRPr>
          </a:p>
        </p:txBody>
      </p:sp>
      <p:sp>
        <p:nvSpPr>
          <p:cNvPr id="16" name="Espace réservé du contenu 9">
            <a:extLst>
              <a:ext uri="{FF2B5EF4-FFF2-40B4-BE49-F238E27FC236}">
                <a16:creationId xmlns:a16="http://schemas.microsoft.com/office/drawing/2014/main" id="{B2D34312-ED42-B97C-1D4F-20CCE201E06E}"/>
              </a:ext>
            </a:extLst>
          </p:cNvPr>
          <p:cNvSpPr txBox="1">
            <a:spLocks/>
          </p:cNvSpPr>
          <p:nvPr/>
        </p:nvSpPr>
        <p:spPr>
          <a:xfrm>
            <a:off x="8249343" y="4782865"/>
            <a:ext cx="3643717" cy="116271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400" b="1" dirty="0">
                <a:solidFill>
                  <a:schemeClr val="bg1">
                    <a:lumMod val="50000"/>
                  </a:schemeClr>
                </a:solidFill>
              </a:rPr>
              <a:t>COMMUNAUTÉ SANS MODE OPÉRATOIRE</a:t>
            </a:r>
          </a:p>
          <a:p>
            <a:pPr marL="0" indent="0" algn="ctr">
              <a:buFont typeface="Arial" panose="020B0604020202020204" pitchFamily="34" charset="0"/>
              <a:buNone/>
            </a:pPr>
            <a:r>
              <a:rPr lang="fr-FR" sz="1400" i="1" dirty="0">
                <a:solidFill>
                  <a:schemeClr val="bg1">
                    <a:lumMod val="50000"/>
                  </a:schemeClr>
                </a:solidFill>
              </a:rPr>
              <a:t>« Nous savons pourquoi nous sommes là, et nous sommes unis mais n’avons aucune idée de comment opérer la communauté. »</a:t>
            </a:r>
          </a:p>
          <a:p>
            <a:pPr marL="0" indent="0" algn="ctr">
              <a:buFont typeface="Arial" panose="020B0604020202020204" pitchFamily="34" charset="0"/>
              <a:buNone/>
            </a:pPr>
            <a:r>
              <a:rPr lang="fr-FR" sz="1400" i="1" dirty="0">
                <a:solidFill>
                  <a:schemeClr val="bg1">
                    <a:lumMod val="50000"/>
                  </a:schemeClr>
                </a:solidFill>
                <a:sym typeface="Wingdings" panose="05000000000000000000" pitchFamily="2" charset="2"/>
              </a:rPr>
              <a:t> Risque de désengagement par inefficacité et faible impact</a:t>
            </a:r>
            <a:endParaRPr lang="fr-FR" sz="1400" dirty="0">
              <a:solidFill>
                <a:schemeClr val="bg1">
                  <a:lumMod val="50000"/>
                </a:schemeClr>
              </a:solidFill>
            </a:endParaRPr>
          </a:p>
        </p:txBody>
      </p:sp>
    </p:spTree>
    <p:extLst>
      <p:ext uri="{BB962C8B-B14F-4D97-AF65-F5344CB8AC3E}">
        <p14:creationId xmlns:p14="http://schemas.microsoft.com/office/powerpoint/2010/main" val="188449777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2EE74988-A5F1-DA9B-F607-ABC4E4D114BD}"/>
              </a:ext>
            </a:extLst>
          </p:cNvPr>
          <p:cNvSpPr>
            <a:spLocks noGrp="1"/>
          </p:cNvSpPr>
          <p:nvPr>
            <p:ph type="title"/>
          </p:nvPr>
        </p:nvSpPr>
        <p:spPr/>
        <p:txBody>
          <a:bodyPr/>
          <a:lstStyle/>
          <a:p>
            <a:r>
              <a:rPr lang="fr-FR" dirty="0"/>
              <a:t>Pourquoi commencer par la valeur d’une Communauté ?</a:t>
            </a:r>
          </a:p>
        </p:txBody>
      </p:sp>
      <p:sp>
        <p:nvSpPr>
          <p:cNvPr id="3" name="Espace réservé du contenu 2">
            <a:extLst>
              <a:ext uri="{FF2B5EF4-FFF2-40B4-BE49-F238E27FC236}">
                <a16:creationId xmlns:a16="http://schemas.microsoft.com/office/drawing/2014/main" id="{41AED709-5BFD-E57B-69DF-96B98ADD7CF4}"/>
              </a:ext>
            </a:extLst>
          </p:cNvPr>
          <p:cNvSpPr>
            <a:spLocks noGrp="1"/>
          </p:cNvSpPr>
          <p:nvPr>
            <p:ph idx="1"/>
          </p:nvPr>
        </p:nvSpPr>
        <p:spPr>
          <a:xfrm>
            <a:off x="838200" y="1825625"/>
            <a:ext cx="6593629" cy="4351338"/>
          </a:xfrm>
        </p:spPr>
        <p:txBody>
          <a:bodyPr>
            <a:normAutofit lnSpcReduction="10000"/>
          </a:bodyPr>
          <a:lstStyle/>
          <a:p>
            <a:pPr marL="0" indent="0">
              <a:buNone/>
            </a:pPr>
            <a:r>
              <a:rPr lang="fr-FR" sz="1400" dirty="0"/>
              <a:t>Lorsqu’il s’agit d’évaluer ou de faire évoluer une situation de Communauté d’entreprise, un réflexe courant est d’aborder des questions opérationnelles « Quelle sera mon prochain événement ? », « Qu’est-ce que je peux créer comme contenu pour engager les membres ? ».</a:t>
            </a:r>
          </a:p>
          <a:p>
            <a:pPr marL="0" indent="0">
              <a:buNone/>
            </a:pPr>
            <a:r>
              <a:rPr lang="fr-FR" sz="1400" dirty="0"/>
              <a:t>Malheureusement, se précipiter et vouloir s’affairer à animer une Communauté dont on a mal compris, posé, et concrétisé la valeur, peut être à la fois énergivore, démotivant, et bien sûr contre-productif. On cherche alors parfois à galvaniser avec du vague, unir autour de rien de concret ou d’imaginable, opérer une coquille vide. Ces conséquences négatives peuvent toucher à la fois les membres, quels que soient leur rôles, les « membres espérés », ou l’entreprise elle-même.</a:t>
            </a:r>
          </a:p>
          <a:p>
            <a:pPr marL="0" indent="0">
              <a:buNone/>
            </a:pPr>
            <a:r>
              <a:rPr lang="fr-FR" sz="1400" dirty="0"/>
              <a:t>Si une personne responsable Communautaire ne comprend pas pourquoi le format et l’approche « Communautés d’entreprise » sont pertinents pour son contexte (ou ne le sont pas), si elle considère que </a:t>
            </a:r>
            <a:r>
              <a:rPr lang="fr-FR" sz="1400" i="1" dirty="0"/>
              <a:t>« dans tous les cas de toute façon cela marche, et au pire je relancerai », </a:t>
            </a:r>
            <a:r>
              <a:rPr lang="fr-FR" sz="1400" dirty="0"/>
              <a:t>alors cette personne s’expose aux désagréments cités plus haut.</a:t>
            </a:r>
            <a:endParaRPr lang="fr-FR" sz="1400" i="1" dirty="0"/>
          </a:p>
          <a:p>
            <a:pPr marL="0" indent="0">
              <a:buNone/>
            </a:pPr>
            <a:r>
              <a:rPr lang="fr-FR" sz="1400" dirty="0"/>
              <a:t>Maîtriser l’ingénierie des Communautés d’entreprise commence par bien poser les termes, comprendre des limites, des équilibres, des utilités des Communautés, et leur intégration dans cet écosystème particulier qu’est l’entreprise. </a:t>
            </a:r>
          </a:p>
          <a:p>
            <a:pPr marL="0" indent="0">
              <a:buNone/>
            </a:pPr>
            <a:r>
              <a:rPr lang="fr-FR" sz="1400" b="1" dirty="0"/>
              <a:t>Note :</a:t>
            </a:r>
            <a:r>
              <a:rPr lang="fr-FR" sz="1400" dirty="0"/>
              <a:t> ne pas confondre LA valeur (dans le sens utilité, impact positif d’une Communauté) et LES valeurs (dans le sens moral du terme, identité d’une communauté…). Cette section concerne LA valeur.</a:t>
            </a:r>
          </a:p>
        </p:txBody>
      </p:sp>
      <p:grpSp>
        <p:nvGrpSpPr>
          <p:cNvPr id="6" name="Groupe 5">
            <a:extLst>
              <a:ext uri="{FF2B5EF4-FFF2-40B4-BE49-F238E27FC236}">
                <a16:creationId xmlns:a16="http://schemas.microsoft.com/office/drawing/2014/main" id="{E6781335-DEC6-0609-DBCB-1A8E1B386F62}"/>
              </a:ext>
            </a:extLst>
          </p:cNvPr>
          <p:cNvGrpSpPr/>
          <p:nvPr/>
        </p:nvGrpSpPr>
        <p:grpSpPr>
          <a:xfrm>
            <a:off x="8291925" y="1825625"/>
            <a:ext cx="2855157" cy="2148840"/>
            <a:chOff x="838200" y="2322576"/>
            <a:chExt cx="4325259" cy="3255264"/>
          </a:xfrm>
        </p:grpSpPr>
        <p:pic>
          <p:nvPicPr>
            <p:cNvPr id="7" name="Espace réservé du contenu 6" descr="Tribunal contour">
              <a:extLst>
                <a:ext uri="{FF2B5EF4-FFF2-40B4-BE49-F238E27FC236}">
                  <a16:creationId xmlns:a16="http://schemas.microsoft.com/office/drawing/2014/main" id="{B9F92862-0250-FBD3-3CBD-4E4A01B0D3D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37523" r="8805" b="24898"/>
            <a:stretch/>
          </p:blipFill>
          <p:spPr>
            <a:xfrm>
              <a:off x="838200" y="3621024"/>
              <a:ext cx="4325259" cy="1956816"/>
            </a:xfrm>
            <a:prstGeom prst="rect">
              <a:avLst/>
            </a:prstGeom>
          </p:spPr>
        </p:pic>
        <p:pic>
          <p:nvPicPr>
            <p:cNvPr id="8" name="Espace réservé du contenu 6" descr="Tribunal contour">
              <a:extLst>
                <a:ext uri="{FF2B5EF4-FFF2-40B4-BE49-F238E27FC236}">
                  <a16:creationId xmlns:a16="http://schemas.microsoft.com/office/drawing/2014/main" id="{655EC998-EB4D-9455-8976-44264C5C98C0}"/>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12060" r="8805" b="62496"/>
            <a:stretch/>
          </p:blipFill>
          <p:spPr>
            <a:xfrm>
              <a:off x="838200" y="2322576"/>
              <a:ext cx="4325259" cy="1324928"/>
            </a:xfrm>
            <a:prstGeom prst="rect">
              <a:avLst/>
            </a:prstGeom>
          </p:spPr>
        </p:pic>
        <p:pic>
          <p:nvPicPr>
            <p:cNvPr id="9" name="Graphique 8" descr="Réussite du groupe avec un remplissage uni">
              <a:extLst>
                <a:ext uri="{FF2B5EF4-FFF2-40B4-BE49-F238E27FC236}">
                  <a16:creationId xmlns:a16="http://schemas.microsoft.com/office/drawing/2014/main" id="{5B1C3215-C828-7E4D-2AA3-FB41C4907A8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13979" b="19010"/>
            <a:stretch/>
          </p:blipFill>
          <p:spPr>
            <a:xfrm>
              <a:off x="2141153" y="4425696"/>
              <a:ext cx="1719352" cy="1152144"/>
            </a:xfrm>
            <a:prstGeom prst="rect">
              <a:avLst/>
            </a:prstGeom>
          </p:spPr>
        </p:pic>
      </p:grpSp>
      <p:sp>
        <p:nvSpPr>
          <p:cNvPr id="10" name="Espace réservé du contenu 9">
            <a:extLst>
              <a:ext uri="{FF2B5EF4-FFF2-40B4-BE49-F238E27FC236}">
                <a16:creationId xmlns:a16="http://schemas.microsoft.com/office/drawing/2014/main" id="{08151916-69B2-52C7-9EA2-C443045888C2}"/>
              </a:ext>
            </a:extLst>
          </p:cNvPr>
          <p:cNvSpPr txBox="1">
            <a:spLocks/>
          </p:cNvSpPr>
          <p:nvPr/>
        </p:nvSpPr>
        <p:spPr>
          <a:xfrm>
            <a:off x="7871314" y="4681121"/>
            <a:ext cx="3643717" cy="116271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400" b="1" dirty="0">
                <a:solidFill>
                  <a:srgbClr val="0683AA"/>
                </a:solidFill>
              </a:rPr>
              <a:t>COMMUNAUTÉ SANS VALEUR</a:t>
            </a:r>
          </a:p>
          <a:p>
            <a:pPr marL="0" indent="0" algn="ctr">
              <a:buFont typeface="Arial" panose="020B0604020202020204" pitchFamily="34" charset="0"/>
              <a:buNone/>
            </a:pPr>
            <a:r>
              <a:rPr lang="fr-FR" sz="1400" i="1" dirty="0">
                <a:solidFill>
                  <a:srgbClr val="0683AA"/>
                </a:solidFill>
              </a:rPr>
              <a:t>«Nous sommes unis et avons une idée de comment opérer, mais au fond nous ne savons pas vraiment à quoi sert cette communauté »</a:t>
            </a:r>
          </a:p>
          <a:p>
            <a:pPr marL="0" indent="0" algn="ctr">
              <a:buFont typeface="Arial" panose="020B0604020202020204" pitchFamily="34" charset="0"/>
              <a:buNone/>
            </a:pPr>
            <a:r>
              <a:rPr lang="fr-FR" sz="1400" i="1" dirty="0">
                <a:solidFill>
                  <a:srgbClr val="0683AA"/>
                </a:solidFill>
                <a:sym typeface="Wingdings" panose="05000000000000000000" pitchFamily="2" charset="2"/>
              </a:rPr>
              <a:t> Risque de désengagement par compétition avec le reste des activités </a:t>
            </a:r>
            <a:endParaRPr lang="fr-FR" sz="1400" dirty="0">
              <a:solidFill>
                <a:srgbClr val="0683AA"/>
              </a:solidFill>
            </a:endParaRPr>
          </a:p>
        </p:txBody>
      </p:sp>
    </p:spTree>
    <p:extLst>
      <p:ext uri="{BB962C8B-B14F-4D97-AF65-F5344CB8AC3E}">
        <p14:creationId xmlns:p14="http://schemas.microsoft.com/office/powerpoint/2010/main" val="374927623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00A2A4F-4E17-42DD-8AE5-35A83D45F672}"/>
              </a:ext>
            </a:extLst>
          </p:cNvPr>
          <p:cNvSpPr>
            <a:spLocks noGrp="1"/>
          </p:cNvSpPr>
          <p:nvPr>
            <p:ph type="title"/>
          </p:nvPr>
        </p:nvSpPr>
        <p:spPr/>
        <p:txBody>
          <a:bodyPr/>
          <a:lstStyle/>
          <a:p>
            <a:r>
              <a:rPr lang="fr-FR" dirty="0"/>
              <a:t>Les composantes de la valeur d’une Communauté d’entreprise</a:t>
            </a:r>
          </a:p>
        </p:txBody>
      </p:sp>
      <p:sp>
        <p:nvSpPr>
          <p:cNvPr id="3" name="Espace réservé du contenu 2">
            <a:extLst>
              <a:ext uri="{FF2B5EF4-FFF2-40B4-BE49-F238E27FC236}">
                <a16:creationId xmlns:a16="http://schemas.microsoft.com/office/drawing/2014/main" id="{037304D4-03FE-47F7-9DBE-CDAB7518C21B}"/>
              </a:ext>
            </a:extLst>
          </p:cNvPr>
          <p:cNvSpPr>
            <a:spLocks noGrp="1"/>
          </p:cNvSpPr>
          <p:nvPr>
            <p:ph idx="1"/>
          </p:nvPr>
        </p:nvSpPr>
        <p:spPr>
          <a:xfrm>
            <a:off x="5431537" y="1950772"/>
            <a:ext cx="5922263" cy="4415784"/>
          </a:xfrm>
        </p:spPr>
        <p:txBody>
          <a:bodyPr>
            <a:normAutofit fontScale="47500" lnSpcReduction="20000"/>
          </a:bodyPr>
          <a:lstStyle/>
          <a:p>
            <a:pPr marL="514350" indent="-514350">
              <a:buFont typeface="Arial" panose="020B0604020202020204" pitchFamily="34" charset="0"/>
              <a:buAutoNum type="alphaUcPeriod"/>
            </a:pPr>
            <a:r>
              <a:rPr lang="fr-FR" dirty="0"/>
              <a:t>Valeur du format communautés (vs un forme  d’organisation classique)</a:t>
            </a:r>
          </a:p>
          <a:p>
            <a:pPr marL="514350" indent="-514350">
              <a:buAutoNum type="alphaUcPeriod"/>
            </a:pPr>
            <a:r>
              <a:rPr lang="fr-FR" dirty="0"/>
              <a:t>Valeur d’être en Communauté (vs en individus)</a:t>
            </a:r>
          </a:p>
          <a:p>
            <a:pPr marL="514350" indent="-514350">
              <a:buAutoNum type="alphaUcPeriod"/>
            </a:pPr>
            <a:r>
              <a:rPr lang="fr-FR" dirty="0"/>
              <a:t>Pour QUI est la valeur d’une communauté d’entreprise</a:t>
            </a:r>
          </a:p>
          <a:p>
            <a:pPr marL="514350" indent="-514350">
              <a:buAutoNum type="alphaUcPeriod"/>
            </a:pPr>
            <a:r>
              <a:rPr lang="fr-FR" dirty="0"/>
              <a:t>Valeur pour l’entreprise (et niveau d’intention)</a:t>
            </a:r>
          </a:p>
          <a:p>
            <a:pPr marL="514350" indent="-514350">
              <a:buAutoNum type="alphaUcPeriod"/>
            </a:pPr>
            <a:r>
              <a:rPr lang="fr-FR" dirty="0"/>
              <a:t>Valeur pour les membres (et niveau d’intention)</a:t>
            </a:r>
          </a:p>
          <a:p>
            <a:pPr marL="514350" indent="-514350">
              <a:buAutoNum type="alphaUcPeriod"/>
            </a:pPr>
            <a:r>
              <a:rPr lang="fr-FR" dirty="0"/>
              <a:t>Formuler la valeur</a:t>
            </a:r>
          </a:p>
          <a:p>
            <a:pPr marL="514350" indent="-514350">
              <a:buFont typeface="Arial" panose="020B0604020202020204" pitchFamily="34" charset="0"/>
              <a:buAutoNum type="alphaUcPeriod"/>
            </a:pPr>
            <a:r>
              <a:rPr lang="fr-FR" dirty="0"/>
              <a:t>Les sponsors de Communauté</a:t>
            </a:r>
          </a:p>
          <a:p>
            <a:pPr marL="514350" indent="-514350">
              <a:buAutoNum type="alphaUcPeriod"/>
            </a:pPr>
            <a:r>
              <a:rPr lang="fr-FR" dirty="0"/>
              <a:t>Décisions sur la valeur</a:t>
            </a:r>
          </a:p>
          <a:p>
            <a:pPr marL="514350" indent="-514350">
              <a:buAutoNum type="alphaUcPeriod"/>
            </a:pPr>
            <a:r>
              <a:rPr lang="fr-FR" dirty="0"/>
              <a:t>Ajustement de la valeur</a:t>
            </a:r>
          </a:p>
          <a:p>
            <a:pPr marL="514350" indent="-514350">
              <a:buAutoNum type="alphaUcPeriod"/>
            </a:pPr>
            <a:r>
              <a:rPr lang="fr-FR" dirty="0"/>
              <a:t>Les blocages</a:t>
            </a:r>
          </a:p>
          <a:p>
            <a:pPr marL="514350" indent="-514350">
              <a:buAutoNum type="alphaUcPeriod"/>
            </a:pPr>
            <a:r>
              <a:rPr lang="fr-FR" dirty="0"/>
              <a:t>Les Pressions</a:t>
            </a:r>
          </a:p>
          <a:p>
            <a:pPr marL="514350" indent="-514350">
              <a:buAutoNum type="alphaUcPeriod"/>
            </a:pPr>
            <a:r>
              <a:rPr lang="fr-FR" dirty="0"/>
              <a:t>Les tensions</a:t>
            </a:r>
          </a:p>
          <a:p>
            <a:pPr marL="514350" indent="-514350">
              <a:buAutoNum type="alphaUcPeriod"/>
            </a:pPr>
            <a:r>
              <a:rPr lang="fr-FR" dirty="0"/>
              <a:t>Se renseigner sur la valeur</a:t>
            </a:r>
          </a:p>
          <a:p>
            <a:pPr marL="514350" indent="-514350">
              <a:buAutoNum type="alphaUcPeriod"/>
            </a:pPr>
            <a:r>
              <a:rPr lang="fr-FR" dirty="0"/>
              <a:t>Prioriser</a:t>
            </a:r>
          </a:p>
          <a:p>
            <a:pPr marL="514350" indent="-514350">
              <a:buAutoNum type="alphaUcPeriod"/>
            </a:pPr>
            <a:r>
              <a:rPr lang="fr-FR" dirty="0"/>
              <a:t>Résumé Synthèse</a:t>
            </a:r>
          </a:p>
          <a:p>
            <a:pPr marL="514350" indent="-514350">
              <a:buAutoNum type="alphaUcPeriod"/>
            </a:pPr>
            <a:r>
              <a:rPr lang="fr-FR" dirty="0"/>
              <a:t>Formules prêtes de Communauté</a:t>
            </a:r>
          </a:p>
        </p:txBody>
      </p:sp>
      <p:pic>
        <p:nvPicPr>
          <p:cNvPr id="4" name="Espace réservé du contenu 6" descr="Tribunal contour">
            <a:extLst>
              <a:ext uri="{FF2B5EF4-FFF2-40B4-BE49-F238E27FC236}">
                <a16:creationId xmlns:a16="http://schemas.microsoft.com/office/drawing/2014/main" id="{B68AEE79-F553-1885-26C5-373D9FE7EE8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75101" r="8805" b="9752"/>
          <a:stretch/>
        </p:blipFill>
        <p:spPr>
          <a:xfrm>
            <a:off x="838200" y="5577840"/>
            <a:ext cx="4325259" cy="788716"/>
          </a:xfrm>
          <a:prstGeom prst="rect">
            <a:avLst/>
          </a:prstGeom>
        </p:spPr>
      </p:pic>
      <p:sp>
        <p:nvSpPr>
          <p:cNvPr id="5" name="Espace réservé du contenu 9">
            <a:extLst>
              <a:ext uri="{FF2B5EF4-FFF2-40B4-BE49-F238E27FC236}">
                <a16:creationId xmlns:a16="http://schemas.microsoft.com/office/drawing/2014/main" id="{2183F636-83CB-5ACF-5069-951561AB2910}"/>
              </a:ext>
            </a:extLst>
          </p:cNvPr>
          <p:cNvSpPr txBox="1">
            <a:spLocks/>
          </p:cNvSpPr>
          <p:nvPr/>
        </p:nvSpPr>
        <p:spPr>
          <a:xfrm>
            <a:off x="1318487" y="3627399"/>
            <a:ext cx="3364684" cy="1808667"/>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800" b="1" dirty="0">
                <a:solidFill>
                  <a:srgbClr val="0683AA"/>
                </a:solidFill>
              </a:rPr>
              <a:t>BASE : LA VALEUR DE LA COMMUNAUTÉ</a:t>
            </a:r>
          </a:p>
          <a:p>
            <a:pPr marL="0" indent="0" algn="ctr">
              <a:buFont typeface="Arial" panose="020B0604020202020204" pitchFamily="34" charset="0"/>
              <a:buNone/>
            </a:pPr>
            <a:r>
              <a:rPr lang="fr-FR" sz="1800" i="1" dirty="0">
                <a:solidFill>
                  <a:srgbClr val="0683AA"/>
                </a:solidFill>
              </a:rPr>
              <a:t>« Ce à quoi la Communauté sert ». </a:t>
            </a:r>
            <a:r>
              <a:rPr lang="fr-FR" sz="1800" dirty="0">
                <a:solidFill>
                  <a:srgbClr val="0683AA"/>
                </a:solidFill>
              </a:rPr>
              <a:t>L’impact positif attendu ou effectif de la communauté, la raison d’être de la Communauté</a:t>
            </a:r>
          </a:p>
        </p:txBody>
      </p:sp>
    </p:spTree>
    <p:extLst>
      <p:ext uri="{BB962C8B-B14F-4D97-AF65-F5344CB8AC3E}">
        <p14:creationId xmlns:p14="http://schemas.microsoft.com/office/powerpoint/2010/main" val="376761970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re 8">
            <a:extLst>
              <a:ext uri="{FF2B5EF4-FFF2-40B4-BE49-F238E27FC236}">
                <a16:creationId xmlns:a16="http://schemas.microsoft.com/office/drawing/2014/main" id="{EBB3B67E-F56E-4C7A-85BD-92FD2C154836}"/>
              </a:ext>
            </a:extLst>
          </p:cNvPr>
          <p:cNvSpPr>
            <a:spLocks noGrp="1"/>
          </p:cNvSpPr>
          <p:nvPr>
            <p:ph type="title"/>
          </p:nvPr>
        </p:nvSpPr>
        <p:spPr/>
        <p:txBody>
          <a:bodyPr/>
          <a:lstStyle/>
          <a:p>
            <a:r>
              <a:rPr lang="fr-FR" dirty="0"/>
              <a:t>Les communautés d’entreprise</a:t>
            </a:r>
          </a:p>
        </p:txBody>
      </p:sp>
      <p:grpSp>
        <p:nvGrpSpPr>
          <p:cNvPr id="19" name="Groupe 18">
            <a:extLst>
              <a:ext uri="{FF2B5EF4-FFF2-40B4-BE49-F238E27FC236}">
                <a16:creationId xmlns:a16="http://schemas.microsoft.com/office/drawing/2014/main" id="{C8FB70D7-43E4-4DC7-B984-10D87BE99834}"/>
              </a:ext>
            </a:extLst>
          </p:cNvPr>
          <p:cNvGrpSpPr/>
          <p:nvPr/>
        </p:nvGrpSpPr>
        <p:grpSpPr>
          <a:xfrm>
            <a:off x="8001696" y="1695833"/>
            <a:ext cx="3550117" cy="4353642"/>
            <a:chOff x="8860995" y="282959"/>
            <a:chExt cx="3407094" cy="4178249"/>
          </a:xfrm>
          <a:solidFill>
            <a:schemeClr val="tx1"/>
          </a:solidFill>
        </p:grpSpPr>
        <p:pic>
          <p:nvPicPr>
            <p:cNvPr id="153" name="Graphique 152" descr="Diagramme de flux avec un remplissage uni">
              <a:extLst>
                <a:ext uri="{FF2B5EF4-FFF2-40B4-BE49-F238E27FC236}">
                  <a16:creationId xmlns:a16="http://schemas.microsoft.com/office/drawing/2014/main" id="{C954D092-8E4E-4356-AE7E-717458710CA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154" name="Groupe 153">
              <a:extLst>
                <a:ext uri="{FF2B5EF4-FFF2-40B4-BE49-F238E27FC236}">
                  <a16:creationId xmlns:a16="http://schemas.microsoft.com/office/drawing/2014/main" id="{56F14EF8-0CFD-441C-93B0-DEE691FB81D5}"/>
                </a:ext>
              </a:extLst>
            </p:cNvPr>
            <p:cNvGrpSpPr/>
            <p:nvPr/>
          </p:nvGrpSpPr>
          <p:grpSpPr>
            <a:xfrm>
              <a:off x="8860995" y="282959"/>
              <a:ext cx="3360434" cy="4178249"/>
              <a:chOff x="8860995" y="282959"/>
              <a:chExt cx="3360434" cy="4178249"/>
            </a:xfrm>
            <a:grpFill/>
          </p:grpSpPr>
          <p:pic>
            <p:nvPicPr>
              <p:cNvPr id="155" name="Graphique 154" descr="Diagramme de flux avec un remplissage uni">
                <a:extLst>
                  <a:ext uri="{FF2B5EF4-FFF2-40B4-BE49-F238E27FC236}">
                    <a16:creationId xmlns:a16="http://schemas.microsoft.com/office/drawing/2014/main" id="{3575301F-7EE0-42A4-9057-A936539E345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156" name="Graphique 155" descr="Diagramme de flux avec un remplissage uni">
                <a:extLst>
                  <a:ext uri="{FF2B5EF4-FFF2-40B4-BE49-F238E27FC236}">
                    <a16:creationId xmlns:a16="http://schemas.microsoft.com/office/drawing/2014/main" id="{9825604A-6E66-4494-B377-CD134A4A1E4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157" name="Graphique 156" descr="Diagramme de flux avec un remplissage uni">
                <a:extLst>
                  <a:ext uri="{FF2B5EF4-FFF2-40B4-BE49-F238E27FC236}">
                    <a16:creationId xmlns:a16="http://schemas.microsoft.com/office/drawing/2014/main" id="{6C1D810B-7484-4BC2-85A2-ED948B140A3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158" name="Graphique 157" descr="Diagramme de flux avec un remplissage uni">
                <a:extLst>
                  <a:ext uri="{FF2B5EF4-FFF2-40B4-BE49-F238E27FC236}">
                    <a16:creationId xmlns:a16="http://schemas.microsoft.com/office/drawing/2014/main" id="{AC424008-56BD-403E-AAD7-9130FA191C3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159" name="Graphique 158" descr="Diagramme de flux avec un remplissage uni">
                <a:extLst>
                  <a:ext uri="{FF2B5EF4-FFF2-40B4-BE49-F238E27FC236}">
                    <a16:creationId xmlns:a16="http://schemas.microsoft.com/office/drawing/2014/main" id="{85A35059-C485-4795-8BAA-10F1AD36E1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160" name="Graphique 159" descr="Diagramme de flux avec un remplissage uni">
                <a:extLst>
                  <a:ext uri="{FF2B5EF4-FFF2-40B4-BE49-F238E27FC236}">
                    <a16:creationId xmlns:a16="http://schemas.microsoft.com/office/drawing/2014/main" id="{A99FB187-F561-4DF4-BB5D-FF6C307A15E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161" name="Graphique 160" descr="Diagramme de flux avec un remplissage uni">
                <a:extLst>
                  <a:ext uri="{FF2B5EF4-FFF2-40B4-BE49-F238E27FC236}">
                    <a16:creationId xmlns:a16="http://schemas.microsoft.com/office/drawing/2014/main" id="{307394D0-206A-4199-B93B-3AECD4046E1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162" name="Graphique 161" descr="Diagramme de flux avec un remplissage uni">
                <a:extLst>
                  <a:ext uri="{FF2B5EF4-FFF2-40B4-BE49-F238E27FC236}">
                    <a16:creationId xmlns:a16="http://schemas.microsoft.com/office/drawing/2014/main" id="{B0496263-0751-467B-AC56-A58741EFEB9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166" name="Graphique 165" descr="Diagramme de flux avec un remplissage uni">
                <a:extLst>
                  <a:ext uri="{FF2B5EF4-FFF2-40B4-BE49-F238E27FC236}">
                    <a16:creationId xmlns:a16="http://schemas.microsoft.com/office/drawing/2014/main" id="{3628B366-B11F-4783-8805-D2BE3F3D36A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167" name="Graphique 166" descr="Diagramme de flux avec un remplissage uni">
                <a:extLst>
                  <a:ext uri="{FF2B5EF4-FFF2-40B4-BE49-F238E27FC236}">
                    <a16:creationId xmlns:a16="http://schemas.microsoft.com/office/drawing/2014/main" id="{FFF2CFDE-52A1-4957-9566-B478AD3E442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168" name="Graphique 167" descr="Diagramme de flux avec un remplissage uni">
                <a:extLst>
                  <a:ext uri="{FF2B5EF4-FFF2-40B4-BE49-F238E27FC236}">
                    <a16:creationId xmlns:a16="http://schemas.microsoft.com/office/drawing/2014/main" id="{0A15662E-A5FA-4DBC-81A5-CE8D67BC309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169" name="Graphique 168" descr="Diagramme de flux avec un remplissage uni">
                <a:extLst>
                  <a:ext uri="{FF2B5EF4-FFF2-40B4-BE49-F238E27FC236}">
                    <a16:creationId xmlns:a16="http://schemas.microsoft.com/office/drawing/2014/main" id="{0F411A1F-3E31-4C9C-899C-1E5244B7FC4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170" name="Graphique 169" descr="Diagramme de flux avec un remplissage uni">
                <a:extLst>
                  <a:ext uri="{FF2B5EF4-FFF2-40B4-BE49-F238E27FC236}">
                    <a16:creationId xmlns:a16="http://schemas.microsoft.com/office/drawing/2014/main" id="{404B0657-7B20-4737-A53D-18433A38518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171" name="Graphique 170" descr="Diagramme de flux avec un remplissage uni">
                <a:extLst>
                  <a:ext uri="{FF2B5EF4-FFF2-40B4-BE49-F238E27FC236}">
                    <a16:creationId xmlns:a16="http://schemas.microsoft.com/office/drawing/2014/main" id="{8A95362E-C975-472B-ADE6-FF3B2AAA89D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172" name="Graphique 171" descr="Diagramme de flux avec un remplissage uni">
                <a:extLst>
                  <a:ext uri="{FF2B5EF4-FFF2-40B4-BE49-F238E27FC236}">
                    <a16:creationId xmlns:a16="http://schemas.microsoft.com/office/drawing/2014/main" id="{C9F7C43B-7BC2-489C-8FB3-5BD836665E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173" name="Graphique 172" descr="Diagramme de flux avec un remplissage uni">
                <a:extLst>
                  <a:ext uri="{FF2B5EF4-FFF2-40B4-BE49-F238E27FC236}">
                    <a16:creationId xmlns:a16="http://schemas.microsoft.com/office/drawing/2014/main" id="{CE5FC7A0-C00E-4B20-976F-49E1E800D59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sp>
        <p:nvSpPr>
          <p:cNvPr id="174" name="Forme libre : forme 173">
            <a:extLst>
              <a:ext uri="{FF2B5EF4-FFF2-40B4-BE49-F238E27FC236}">
                <a16:creationId xmlns:a16="http://schemas.microsoft.com/office/drawing/2014/main" id="{D2F0D8FD-DF18-40D7-BAC2-02AF8D2F97C1}"/>
              </a:ext>
            </a:extLst>
          </p:cNvPr>
          <p:cNvSpPr/>
          <p:nvPr/>
        </p:nvSpPr>
        <p:spPr>
          <a:xfrm>
            <a:off x="7436625" y="2264965"/>
            <a:ext cx="3292349" cy="2167128"/>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7620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orme libre : forme 174">
            <a:extLst>
              <a:ext uri="{FF2B5EF4-FFF2-40B4-BE49-F238E27FC236}">
                <a16:creationId xmlns:a16="http://schemas.microsoft.com/office/drawing/2014/main" id="{84E992CE-F636-4475-A6DD-BE20080380DA}"/>
              </a:ext>
            </a:extLst>
          </p:cNvPr>
          <p:cNvSpPr/>
          <p:nvPr/>
        </p:nvSpPr>
        <p:spPr>
          <a:xfrm>
            <a:off x="9874807" y="3864733"/>
            <a:ext cx="1966074" cy="2111248"/>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7620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6" name="Espace réservé du contenu 9">
            <a:extLst>
              <a:ext uri="{FF2B5EF4-FFF2-40B4-BE49-F238E27FC236}">
                <a16:creationId xmlns:a16="http://schemas.microsoft.com/office/drawing/2014/main" id="{3306980F-20FB-4C9D-AA4B-F465A17B0544}"/>
              </a:ext>
            </a:extLst>
          </p:cNvPr>
          <p:cNvSpPr>
            <a:spLocks noGrp="1"/>
          </p:cNvSpPr>
          <p:nvPr>
            <p:ph idx="1"/>
          </p:nvPr>
        </p:nvSpPr>
        <p:spPr>
          <a:xfrm>
            <a:off x="838200" y="1825625"/>
            <a:ext cx="5386431" cy="4351338"/>
          </a:xfrm>
        </p:spPr>
        <p:txBody>
          <a:bodyPr>
            <a:normAutofit fontScale="85000" lnSpcReduction="10000"/>
          </a:bodyPr>
          <a:lstStyle/>
          <a:p>
            <a:pPr marL="0" indent="0">
              <a:buNone/>
            </a:pPr>
            <a:r>
              <a:rPr lang="fr-FR" sz="2000" dirty="0"/>
              <a:t>Le terme « Communautés » peut avoir de multiples usages et représentations, variant selon l’expérience de chacun. </a:t>
            </a:r>
          </a:p>
          <a:p>
            <a:pPr marL="0" indent="0">
              <a:buNone/>
            </a:pPr>
            <a:endParaRPr lang="fr-FR" sz="2000" i="1" dirty="0">
              <a:solidFill>
                <a:srgbClr val="3494BA"/>
              </a:solidFill>
            </a:endParaRPr>
          </a:p>
          <a:p>
            <a:pPr marL="0" indent="0">
              <a:buNone/>
            </a:pPr>
            <a:r>
              <a:rPr lang="fr-FR" sz="2000" i="1" dirty="0">
                <a:solidFill>
                  <a:srgbClr val="3494BA"/>
                </a:solidFill>
              </a:rPr>
              <a:t>« Mais non ça, ce n’est pas vraiment une communauté »</a:t>
            </a:r>
            <a:r>
              <a:rPr lang="fr-FR" sz="2000" dirty="0"/>
              <a:t> peut être une discussion qui arrive souvent, empêchant de prendre des décisions ou de s’accorder.</a:t>
            </a:r>
          </a:p>
          <a:p>
            <a:pPr marL="0" indent="0">
              <a:buNone/>
            </a:pPr>
            <a:endParaRPr lang="fr-FR" sz="2000" dirty="0"/>
          </a:p>
          <a:p>
            <a:pPr marL="0" indent="0">
              <a:buNone/>
            </a:pPr>
            <a:r>
              <a:rPr lang="fr-FR" sz="2000" dirty="0"/>
              <a:t>Dans un soucis de s’accorder sur une méthode pour développer des communautés en entreprise, ce chapitre pose une définition des </a:t>
            </a:r>
            <a:r>
              <a:rPr lang="fr-FR" sz="2000" b="1" dirty="0">
                <a:solidFill>
                  <a:srgbClr val="ED7D31"/>
                </a:solidFill>
              </a:rPr>
              <a:t>Communautés d’entreprise </a:t>
            </a:r>
            <a:r>
              <a:rPr lang="fr-FR" sz="2000" dirty="0"/>
              <a:t>(sans s). Particulièrement, il compare les Communautés d’entreprise et les formes d’organisation plus classiques en entreprise.</a:t>
            </a:r>
          </a:p>
          <a:p>
            <a:pPr marL="0" indent="0">
              <a:buNone/>
            </a:pPr>
            <a:endParaRPr lang="fr-FR" sz="2000" dirty="0"/>
          </a:p>
          <a:p>
            <a:pPr marL="0" indent="0">
              <a:buNone/>
            </a:pPr>
            <a:r>
              <a:rPr lang="fr-FR" sz="2000" dirty="0"/>
              <a:t>Les Communautés d’entreprise sont l’objet de toute la suite de la formation. </a:t>
            </a:r>
            <a:endParaRPr lang="fr-FR" sz="1800" dirty="0"/>
          </a:p>
        </p:txBody>
      </p:sp>
      <p:sp>
        <p:nvSpPr>
          <p:cNvPr id="25" name="Forme libre : forme 24">
            <a:extLst>
              <a:ext uri="{FF2B5EF4-FFF2-40B4-BE49-F238E27FC236}">
                <a16:creationId xmlns:a16="http://schemas.microsoft.com/office/drawing/2014/main" id="{49F29584-0B77-5078-FB1C-6A2FE1FC191E}"/>
              </a:ext>
            </a:extLst>
          </p:cNvPr>
          <p:cNvSpPr/>
          <p:nvPr/>
        </p:nvSpPr>
        <p:spPr>
          <a:xfrm>
            <a:off x="7575259" y="3791118"/>
            <a:ext cx="2642532" cy="1066108"/>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7620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12847413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re 8">
            <a:extLst>
              <a:ext uri="{FF2B5EF4-FFF2-40B4-BE49-F238E27FC236}">
                <a16:creationId xmlns:a16="http://schemas.microsoft.com/office/drawing/2014/main" id="{EBB3B67E-F56E-4C7A-85BD-92FD2C154836}"/>
              </a:ext>
            </a:extLst>
          </p:cNvPr>
          <p:cNvSpPr>
            <a:spLocks noGrp="1"/>
          </p:cNvSpPr>
          <p:nvPr>
            <p:ph type="title"/>
          </p:nvPr>
        </p:nvSpPr>
        <p:spPr/>
        <p:txBody>
          <a:bodyPr/>
          <a:lstStyle/>
          <a:p>
            <a:r>
              <a:rPr lang="fr-FR" dirty="0"/>
              <a:t>Les communautés d’entreprise</a:t>
            </a:r>
          </a:p>
        </p:txBody>
      </p:sp>
      <p:grpSp>
        <p:nvGrpSpPr>
          <p:cNvPr id="19" name="Groupe 18">
            <a:extLst>
              <a:ext uri="{FF2B5EF4-FFF2-40B4-BE49-F238E27FC236}">
                <a16:creationId xmlns:a16="http://schemas.microsoft.com/office/drawing/2014/main" id="{C8FB70D7-43E4-4DC7-B984-10D87BE99834}"/>
              </a:ext>
            </a:extLst>
          </p:cNvPr>
          <p:cNvGrpSpPr/>
          <p:nvPr/>
        </p:nvGrpSpPr>
        <p:grpSpPr>
          <a:xfrm>
            <a:off x="8001696" y="1695833"/>
            <a:ext cx="3550117" cy="4353642"/>
            <a:chOff x="8860995" y="282959"/>
            <a:chExt cx="3407094" cy="4178249"/>
          </a:xfrm>
          <a:solidFill>
            <a:schemeClr val="tx1"/>
          </a:solidFill>
        </p:grpSpPr>
        <p:pic>
          <p:nvPicPr>
            <p:cNvPr id="153" name="Graphique 152" descr="Diagramme de flux avec un remplissage uni">
              <a:extLst>
                <a:ext uri="{FF2B5EF4-FFF2-40B4-BE49-F238E27FC236}">
                  <a16:creationId xmlns:a16="http://schemas.microsoft.com/office/drawing/2014/main" id="{C954D092-8E4E-4356-AE7E-717458710CA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154" name="Groupe 153">
              <a:extLst>
                <a:ext uri="{FF2B5EF4-FFF2-40B4-BE49-F238E27FC236}">
                  <a16:creationId xmlns:a16="http://schemas.microsoft.com/office/drawing/2014/main" id="{56F14EF8-0CFD-441C-93B0-DEE691FB81D5}"/>
                </a:ext>
              </a:extLst>
            </p:cNvPr>
            <p:cNvGrpSpPr/>
            <p:nvPr/>
          </p:nvGrpSpPr>
          <p:grpSpPr>
            <a:xfrm>
              <a:off x="8860995" y="282959"/>
              <a:ext cx="3360434" cy="4178249"/>
              <a:chOff x="8860995" y="282959"/>
              <a:chExt cx="3360434" cy="4178249"/>
            </a:xfrm>
            <a:grpFill/>
          </p:grpSpPr>
          <p:pic>
            <p:nvPicPr>
              <p:cNvPr id="155" name="Graphique 154" descr="Diagramme de flux avec un remplissage uni">
                <a:extLst>
                  <a:ext uri="{FF2B5EF4-FFF2-40B4-BE49-F238E27FC236}">
                    <a16:creationId xmlns:a16="http://schemas.microsoft.com/office/drawing/2014/main" id="{3575301F-7EE0-42A4-9057-A936539E345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156" name="Graphique 155" descr="Diagramme de flux avec un remplissage uni">
                <a:extLst>
                  <a:ext uri="{FF2B5EF4-FFF2-40B4-BE49-F238E27FC236}">
                    <a16:creationId xmlns:a16="http://schemas.microsoft.com/office/drawing/2014/main" id="{9825604A-6E66-4494-B377-CD134A4A1E4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157" name="Graphique 156" descr="Diagramme de flux avec un remplissage uni">
                <a:extLst>
                  <a:ext uri="{FF2B5EF4-FFF2-40B4-BE49-F238E27FC236}">
                    <a16:creationId xmlns:a16="http://schemas.microsoft.com/office/drawing/2014/main" id="{6C1D810B-7484-4BC2-85A2-ED948B140A3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158" name="Graphique 157" descr="Diagramme de flux avec un remplissage uni">
                <a:extLst>
                  <a:ext uri="{FF2B5EF4-FFF2-40B4-BE49-F238E27FC236}">
                    <a16:creationId xmlns:a16="http://schemas.microsoft.com/office/drawing/2014/main" id="{AC424008-56BD-403E-AAD7-9130FA191C3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159" name="Graphique 158" descr="Diagramme de flux avec un remplissage uni">
                <a:extLst>
                  <a:ext uri="{FF2B5EF4-FFF2-40B4-BE49-F238E27FC236}">
                    <a16:creationId xmlns:a16="http://schemas.microsoft.com/office/drawing/2014/main" id="{85A35059-C485-4795-8BAA-10F1AD36E1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160" name="Graphique 159" descr="Diagramme de flux avec un remplissage uni">
                <a:extLst>
                  <a:ext uri="{FF2B5EF4-FFF2-40B4-BE49-F238E27FC236}">
                    <a16:creationId xmlns:a16="http://schemas.microsoft.com/office/drawing/2014/main" id="{A99FB187-F561-4DF4-BB5D-FF6C307A15E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161" name="Graphique 160" descr="Diagramme de flux avec un remplissage uni">
                <a:extLst>
                  <a:ext uri="{FF2B5EF4-FFF2-40B4-BE49-F238E27FC236}">
                    <a16:creationId xmlns:a16="http://schemas.microsoft.com/office/drawing/2014/main" id="{307394D0-206A-4199-B93B-3AECD4046E1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162" name="Graphique 161" descr="Diagramme de flux avec un remplissage uni">
                <a:extLst>
                  <a:ext uri="{FF2B5EF4-FFF2-40B4-BE49-F238E27FC236}">
                    <a16:creationId xmlns:a16="http://schemas.microsoft.com/office/drawing/2014/main" id="{B0496263-0751-467B-AC56-A58741EFEB9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166" name="Graphique 165" descr="Diagramme de flux avec un remplissage uni">
                <a:extLst>
                  <a:ext uri="{FF2B5EF4-FFF2-40B4-BE49-F238E27FC236}">
                    <a16:creationId xmlns:a16="http://schemas.microsoft.com/office/drawing/2014/main" id="{3628B366-B11F-4783-8805-D2BE3F3D36A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167" name="Graphique 166" descr="Diagramme de flux avec un remplissage uni">
                <a:extLst>
                  <a:ext uri="{FF2B5EF4-FFF2-40B4-BE49-F238E27FC236}">
                    <a16:creationId xmlns:a16="http://schemas.microsoft.com/office/drawing/2014/main" id="{FFF2CFDE-52A1-4957-9566-B478AD3E442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168" name="Graphique 167" descr="Diagramme de flux avec un remplissage uni">
                <a:extLst>
                  <a:ext uri="{FF2B5EF4-FFF2-40B4-BE49-F238E27FC236}">
                    <a16:creationId xmlns:a16="http://schemas.microsoft.com/office/drawing/2014/main" id="{0A15662E-A5FA-4DBC-81A5-CE8D67BC309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169" name="Graphique 168" descr="Diagramme de flux avec un remplissage uni">
                <a:extLst>
                  <a:ext uri="{FF2B5EF4-FFF2-40B4-BE49-F238E27FC236}">
                    <a16:creationId xmlns:a16="http://schemas.microsoft.com/office/drawing/2014/main" id="{0F411A1F-3E31-4C9C-899C-1E5244B7FC4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170" name="Graphique 169" descr="Diagramme de flux avec un remplissage uni">
                <a:extLst>
                  <a:ext uri="{FF2B5EF4-FFF2-40B4-BE49-F238E27FC236}">
                    <a16:creationId xmlns:a16="http://schemas.microsoft.com/office/drawing/2014/main" id="{404B0657-7B20-4737-A53D-18433A38518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171" name="Graphique 170" descr="Diagramme de flux avec un remplissage uni">
                <a:extLst>
                  <a:ext uri="{FF2B5EF4-FFF2-40B4-BE49-F238E27FC236}">
                    <a16:creationId xmlns:a16="http://schemas.microsoft.com/office/drawing/2014/main" id="{8A95362E-C975-472B-ADE6-FF3B2AAA89D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172" name="Graphique 171" descr="Diagramme de flux avec un remplissage uni">
                <a:extLst>
                  <a:ext uri="{FF2B5EF4-FFF2-40B4-BE49-F238E27FC236}">
                    <a16:creationId xmlns:a16="http://schemas.microsoft.com/office/drawing/2014/main" id="{C9F7C43B-7BC2-489C-8FB3-5BD836665E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173" name="Graphique 172" descr="Diagramme de flux avec un remplissage uni">
                <a:extLst>
                  <a:ext uri="{FF2B5EF4-FFF2-40B4-BE49-F238E27FC236}">
                    <a16:creationId xmlns:a16="http://schemas.microsoft.com/office/drawing/2014/main" id="{CE5FC7A0-C00E-4B20-976F-49E1E800D59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sp>
        <p:nvSpPr>
          <p:cNvPr id="174" name="Forme libre : forme 173">
            <a:extLst>
              <a:ext uri="{FF2B5EF4-FFF2-40B4-BE49-F238E27FC236}">
                <a16:creationId xmlns:a16="http://schemas.microsoft.com/office/drawing/2014/main" id="{D2F0D8FD-DF18-40D7-BAC2-02AF8D2F97C1}"/>
              </a:ext>
            </a:extLst>
          </p:cNvPr>
          <p:cNvSpPr/>
          <p:nvPr/>
        </p:nvSpPr>
        <p:spPr>
          <a:xfrm>
            <a:off x="7436625" y="2264965"/>
            <a:ext cx="3292349" cy="2167128"/>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7620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orme libre : forme 174">
            <a:extLst>
              <a:ext uri="{FF2B5EF4-FFF2-40B4-BE49-F238E27FC236}">
                <a16:creationId xmlns:a16="http://schemas.microsoft.com/office/drawing/2014/main" id="{84E992CE-F636-4475-A6DD-BE20080380DA}"/>
              </a:ext>
            </a:extLst>
          </p:cNvPr>
          <p:cNvSpPr/>
          <p:nvPr/>
        </p:nvSpPr>
        <p:spPr>
          <a:xfrm>
            <a:off x="9874807" y="3864733"/>
            <a:ext cx="1966074" cy="2111248"/>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7620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6" name="Espace réservé du contenu 9">
            <a:extLst>
              <a:ext uri="{FF2B5EF4-FFF2-40B4-BE49-F238E27FC236}">
                <a16:creationId xmlns:a16="http://schemas.microsoft.com/office/drawing/2014/main" id="{3306980F-20FB-4C9D-AA4B-F465A17B0544}"/>
              </a:ext>
            </a:extLst>
          </p:cNvPr>
          <p:cNvSpPr>
            <a:spLocks noGrp="1"/>
          </p:cNvSpPr>
          <p:nvPr>
            <p:ph idx="1"/>
          </p:nvPr>
        </p:nvSpPr>
        <p:spPr>
          <a:xfrm>
            <a:off x="838200" y="1825625"/>
            <a:ext cx="6213021" cy="4351338"/>
          </a:xfrm>
        </p:spPr>
        <p:txBody>
          <a:bodyPr>
            <a:normAutofit fontScale="85000" lnSpcReduction="10000"/>
          </a:bodyPr>
          <a:lstStyle/>
          <a:p>
            <a:r>
              <a:rPr lang="fr-FR" sz="3200" b="1" dirty="0">
                <a:solidFill>
                  <a:srgbClr val="3494BA"/>
                </a:solidFill>
              </a:rPr>
              <a:t>FORME D’ORGANISATION « PAR DESSUS » L’ORGANISATION, AVEC DES MEMBRES LIÉS A UNE MÊME ENTREPRISE</a:t>
            </a:r>
            <a:endParaRPr lang="fr-FR" dirty="0">
              <a:solidFill>
                <a:srgbClr val="3494BA"/>
              </a:solidFill>
            </a:endParaRPr>
          </a:p>
          <a:p>
            <a:endParaRPr lang="fr-FR" dirty="0"/>
          </a:p>
          <a:p>
            <a:r>
              <a:rPr lang="fr-FR" sz="3200" b="1" dirty="0">
                <a:solidFill>
                  <a:srgbClr val="ED7D31"/>
                </a:solidFill>
              </a:rPr>
              <a:t>BASÉES SUR L’ENGAGEMENT PLUTÔT QUE L’OBLIGATION LÉGALE</a:t>
            </a:r>
            <a:endParaRPr lang="fr-FR" dirty="0">
              <a:solidFill>
                <a:srgbClr val="ED7D31"/>
              </a:solidFill>
            </a:endParaRPr>
          </a:p>
          <a:p>
            <a:endParaRPr lang="fr-FR" dirty="0"/>
          </a:p>
          <a:p>
            <a:r>
              <a:rPr lang="fr-FR" sz="3200" b="1" dirty="0"/>
              <a:t>SOUVENT AVEC MOINS DE FORMALISME ET D’OBLIGATION QU’UNE FORME CLASSIQUE (EQUIPE, DEPARTEMENT, …)  </a:t>
            </a:r>
            <a:endParaRPr lang="fr-FR" dirty="0"/>
          </a:p>
        </p:txBody>
      </p:sp>
      <p:sp>
        <p:nvSpPr>
          <p:cNvPr id="25" name="Forme libre : forme 24">
            <a:extLst>
              <a:ext uri="{FF2B5EF4-FFF2-40B4-BE49-F238E27FC236}">
                <a16:creationId xmlns:a16="http://schemas.microsoft.com/office/drawing/2014/main" id="{49F29584-0B77-5078-FB1C-6A2FE1FC191E}"/>
              </a:ext>
            </a:extLst>
          </p:cNvPr>
          <p:cNvSpPr/>
          <p:nvPr/>
        </p:nvSpPr>
        <p:spPr>
          <a:xfrm>
            <a:off x="7575259" y="3791118"/>
            <a:ext cx="2642532" cy="1066108"/>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7620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81157400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re 8">
            <a:extLst>
              <a:ext uri="{FF2B5EF4-FFF2-40B4-BE49-F238E27FC236}">
                <a16:creationId xmlns:a16="http://schemas.microsoft.com/office/drawing/2014/main" id="{EBB3B67E-F56E-4C7A-85BD-92FD2C154836}"/>
              </a:ext>
            </a:extLst>
          </p:cNvPr>
          <p:cNvSpPr>
            <a:spLocks noGrp="1"/>
          </p:cNvSpPr>
          <p:nvPr>
            <p:ph type="title"/>
          </p:nvPr>
        </p:nvSpPr>
        <p:spPr/>
        <p:txBody>
          <a:bodyPr/>
          <a:lstStyle/>
          <a:p>
            <a:r>
              <a:rPr lang="fr-FR" dirty="0"/>
              <a:t>Bénéfices d’une communauté d’entreprise</a:t>
            </a:r>
          </a:p>
        </p:txBody>
      </p:sp>
      <p:grpSp>
        <p:nvGrpSpPr>
          <p:cNvPr id="19" name="Groupe 18">
            <a:extLst>
              <a:ext uri="{FF2B5EF4-FFF2-40B4-BE49-F238E27FC236}">
                <a16:creationId xmlns:a16="http://schemas.microsoft.com/office/drawing/2014/main" id="{C8FB70D7-43E4-4DC7-B984-10D87BE99834}"/>
              </a:ext>
            </a:extLst>
          </p:cNvPr>
          <p:cNvGrpSpPr/>
          <p:nvPr/>
        </p:nvGrpSpPr>
        <p:grpSpPr>
          <a:xfrm>
            <a:off x="8001696" y="1695833"/>
            <a:ext cx="3550117" cy="4353642"/>
            <a:chOff x="8860995" y="282959"/>
            <a:chExt cx="3407094" cy="4178249"/>
          </a:xfrm>
          <a:solidFill>
            <a:schemeClr val="tx1"/>
          </a:solidFill>
        </p:grpSpPr>
        <p:pic>
          <p:nvPicPr>
            <p:cNvPr id="153" name="Graphique 152" descr="Diagramme de flux avec un remplissage uni">
              <a:extLst>
                <a:ext uri="{FF2B5EF4-FFF2-40B4-BE49-F238E27FC236}">
                  <a16:creationId xmlns:a16="http://schemas.microsoft.com/office/drawing/2014/main" id="{C954D092-8E4E-4356-AE7E-717458710CA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154" name="Groupe 153">
              <a:extLst>
                <a:ext uri="{FF2B5EF4-FFF2-40B4-BE49-F238E27FC236}">
                  <a16:creationId xmlns:a16="http://schemas.microsoft.com/office/drawing/2014/main" id="{56F14EF8-0CFD-441C-93B0-DEE691FB81D5}"/>
                </a:ext>
              </a:extLst>
            </p:cNvPr>
            <p:cNvGrpSpPr/>
            <p:nvPr/>
          </p:nvGrpSpPr>
          <p:grpSpPr>
            <a:xfrm>
              <a:off x="8860995" y="282959"/>
              <a:ext cx="3360434" cy="4178249"/>
              <a:chOff x="8860995" y="282959"/>
              <a:chExt cx="3360434" cy="4178249"/>
            </a:xfrm>
            <a:grpFill/>
          </p:grpSpPr>
          <p:pic>
            <p:nvPicPr>
              <p:cNvPr id="155" name="Graphique 154" descr="Diagramme de flux avec un remplissage uni">
                <a:extLst>
                  <a:ext uri="{FF2B5EF4-FFF2-40B4-BE49-F238E27FC236}">
                    <a16:creationId xmlns:a16="http://schemas.microsoft.com/office/drawing/2014/main" id="{3575301F-7EE0-42A4-9057-A936539E345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156" name="Graphique 155" descr="Diagramme de flux avec un remplissage uni">
                <a:extLst>
                  <a:ext uri="{FF2B5EF4-FFF2-40B4-BE49-F238E27FC236}">
                    <a16:creationId xmlns:a16="http://schemas.microsoft.com/office/drawing/2014/main" id="{9825604A-6E66-4494-B377-CD134A4A1E4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157" name="Graphique 156" descr="Diagramme de flux avec un remplissage uni">
                <a:extLst>
                  <a:ext uri="{FF2B5EF4-FFF2-40B4-BE49-F238E27FC236}">
                    <a16:creationId xmlns:a16="http://schemas.microsoft.com/office/drawing/2014/main" id="{6C1D810B-7484-4BC2-85A2-ED948B140A3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158" name="Graphique 157" descr="Diagramme de flux avec un remplissage uni">
                <a:extLst>
                  <a:ext uri="{FF2B5EF4-FFF2-40B4-BE49-F238E27FC236}">
                    <a16:creationId xmlns:a16="http://schemas.microsoft.com/office/drawing/2014/main" id="{AC424008-56BD-403E-AAD7-9130FA191C3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159" name="Graphique 158" descr="Diagramme de flux avec un remplissage uni">
                <a:extLst>
                  <a:ext uri="{FF2B5EF4-FFF2-40B4-BE49-F238E27FC236}">
                    <a16:creationId xmlns:a16="http://schemas.microsoft.com/office/drawing/2014/main" id="{85A35059-C485-4795-8BAA-10F1AD36E1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160" name="Graphique 159" descr="Diagramme de flux avec un remplissage uni">
                <a:extLst>
                  <a:ext uri="{FF2B5EF4-FFF2-40B4-BE49-F238E27FC236}">
                    <a16:creationId xmlns:a16="http://schemas.microsoft.com/office/drawing/2014/main" id="{A99FB187-F561-4DF4-BB5D-FF6C307A15E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161" name="Graphique 160" descr="Diagramme de flux avec un remplissage uni">
                <a:extLst>
                  <a:ext uri="{FF2B5EF4-FFF2-40B4-BE49-F238E27FC236}">
                    <a16:creationId xmlns:a16="http://schemas.microsoft.com/office/drawing/2014/main" id="{307394D0-206A-4199-B93B-3AECD4046E1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162" name="Graphique 161" descr="Diagramme de flux avec un remplissage uni">
                <a:extLst>
                  <a:ext uri="{FF2B5EF4-FFF2-40B4-BE49-F238E27FC236}">
                    <a16:creationId xmlns:a16="http://schemas.microsoft.com/office/drawing/2014/main" id="{B0496263-0751-467B-AC56-A58741EFEB9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166" name="Graphique 165" descr="Diagramme de flux avec un remplissage uni">
                <a:extLst>
                  <a:ext uri="{FF2B5EF4-FFF2-40B4-BE49-F238E27FC236}">
                    <a16:creationId xmlns:a16="http://schemas.microsoft.com/office/drawing/2014/main" id="{3628B366-B11F-4783-8805-D2BE3F3D36A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167" name="Graphique 166" descr="Diagramme de flux avec un remplissage uni">
                <a:extLst>
                  <a:ext uri="{FF2B5EF4-FFF2-40B4-BE49-F238E27FC236}">
                    <a16:creationId xmlns:a16="http://schemas.microsoft.com/office/drawing/2014/main" id="{FFF2CFDE-52A1-4957-9566-B478AD3E442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168" name="Graphique 167" descr="Diagramme de flux avec un remplissage uni">
                <a:extLst>
                  <a:ext uri="{FF2B5EF4-FFF2-40B4-BE49-F238E27FC236}">
                    <a16:creationId xmlns:a16="http://schemas.microsoft.com/office/drawing/2014/main" id="{0A15662E-A5FA-4DBC-81A5-CE8D67BC309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169" name="Graphique 168" descr="Diagramme de flux avec un remplissage uni">
                <a:extLst>
                  <a:ext uri="{FF2B5EF4-FFF2-40B4-BE49-F238E27FC236}">
                    <a16:creationId xmlns:a16="http://schemas.microsoft.com/office/drawing/2014/main" id="{0F411A1F-3E31-4C9C-899C-1E5244B7FC4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170" name="Graphique 169" descr="Diagramme de flux avec un remplissage uni">
                <a:extLst>
                  <a:ext uri="{FF2B5EF4-FFF2-40B4-BE49-F238E27FC236}">
                    <a16:creationId xmlns:a16="http://schemas.microsoft.com/office/drawing/2014/main" id="{404B0657-7B20-4737-A53D-18433A38518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171" name="Graphique 170" descr="Diagramme de flux avec un remplissage uni">
                <a:extLst>
                  <a:ext uri="{FF2B5EF4-FFF2-40B4-BE49-F238E27FC236}">
                    <a16:creationId xmlns:a16="http://schemas.microsoft.com/office/drawing/2014/main" id="{8A95362E-C975-472B-ADE6-FF3B2AAA89D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172" name="Graphique 171" descr="Diagramme de flux avec un remplissage uni">
                <a:extLst>
                  <a:ext uri="{FF2B5EF4-FFF2-40B4-BE49-F238E27FC236}">
                    <a16:creationId xmlns:a16="http://schemas.microsoft.com/office/drawing/2014/main" id="{C9F7C43B-7BC2-489C-8FB3-5BD836665E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173" name="Graphique 172" descr="Diagramme de flux avec un remplissage uni">
                <a:extLst>
                  <a:ext uri="{FF2B5EF4-FFF2-40B4-BE49-F238E27FC236}">
                    <a16:creationId xmlns:a16="http://schemas.microsoft.com/office/drawing/2014/main" id="{CE5FC7A0-C00E-4B20-976F-49E1E800D59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sp>
        <p:nvSpPr>
          <p:cNvPr id="174" name="Forme libre : forme 173">
            <a:extLst>
              <a:ext uri="{FF2B5EF4-FFF2-40B4-BE49-F238E27FC236}">
                <a16:creationId xmlns:a16="http://schemas.microsoft.com/office/drawing/2014/main" id="{D2F0D8FD-DF18-40D7-BAC2-02AF8D2F97C1}"/>
              </a:ext>
            </a:extLst>
          </p:cNvPr>
          <p:cNvSpPr/>
          <p:nvPr/>
        </p:nvSpPr>
        <p:spPr>
          <a:xfrm>
            <a:off x="7436625" y="2264965"/>
            <a:ext cx="3292349" cy="2167128"/>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7620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orme libre : forme 174">
            <a:extLst>
              <a:ext uri="{FF2B5EF4-FFF2-40B4-BE49-F238E27FC236}">
                <a16:creationId xmlns:a16="http://schemas.microsoft.com/office/drawing/2014/main" id="{84E992CE-F636-4475-A6DD-BE20080380DA}"/>
              </a:ext>
            </a:extLst>
          </p:cNvPr>
          <p:cNvSpPr/>
          <p:nvPr/>
        </p:nvSpPr>
        <p:spPr>
          <a:xfrm>
            <a:off x="9874807" y="3864733"/>
            <a:ext cx="1966074" cy="2111248"/>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7620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6" name="Espace réservé du contenu 9">
            <a:extLst>
              <a:ext uri="{FF2B5EF4-FFF2-40B4-BE49-F238E27FC236}">
                <a16:creationId xmlns:a16="http://schemas.microsoft.com/office/drawing/2014/main" id="{3306980F-20FB-4C9D-AA4B-F465A17B0544}"/>
              </a:ext>
            </a:extLst>
          </p:cNvPr>
          <p:cNvSpPr>
            <a:spLocks noGrp="1"/>
          </p:cNvSpPr>
          <p:nvPr>
            <p:ph idx="1"/>
          </p:nvPr>
        </p:nvSpPr>
        <p:spPr>
          <a:xfrm>
            <a:off x="838200" y="1825625"/>
            <a:ext cx="6695434" cy="4351338"/>
          </a:xfrm>
        </p:spPr>
        <p:txBody>
          <a:bodyPr>
            <a:normAutofit fontScale="92500"/>
          </a:bodyPr>
          <a:lstStyle/>
          <a:p>
            <a:r>
              <a:rPr lang="fr-FR" sz="4800" b="1" dirty="0">
                <a:solidFill>
                  <a:srgbClr val="0683AA"/>
                </a:solidFill>
              </a:rPr>
              <a:t>TRANSVERSALITÉ</a:t>
            </a:r>
          </a:p>
          <a:p>
            <a:endParaRPr lang="fr-FR" sz="4800" b="1" dirty="0">
              <a:solidFill>
                <a:srgbClr val="ED7D31"/>
              </a:solidFill>
            </a:endParaRPr>
          </a:p>
          <a:p>
            <a:r>
              <a:rPr lang="fr-FR" sz="4800" b="1" dirty="0">
                <a:solidFill>
                  <a:srgbClr val="ED7D31"/>
                </a:solidFill>
              </a:rPr>
              <a:t>FLEXIBILITÉ</a:t>
            </a:r>
            <a:r>
              <a:rPr lang="fr-FR" sz="4000" dirty="0"/>
              <a:t> </a:t>
            </a:r>
          </a:p>
          <a:p>
            <a:endParaRPr lang="fr-FR" sz="4000" dirty="0"/>
          </a:p>
          <a:p>
            <a:r>
              <a:rPr lang="fr-FR" sz="4800" b="1" dirty="0"/>
              <a:t>POSSIBILITÉ D’EXPRESSION BOTTOM-UP</a:t>
            </a:r>
            <a:endParaRPr lang="fr-FR" sz="4000" dirty="0"/>
          </a:p>
        </p:txBody>
      </p:sp>
      <p:sp>
        <p:nvSpPr>
          <p:cNvPr id="25" name="Forme libre : forme 24">
            <a:extLst>
              <a:ext uri="{FF2B5EF4-FFF2-40B4-BE49-F238E27FC236}">
                <a16:creationId xmlns:a16="http://schemas.microsoft.com/office/drawing/2014/main" id="{DB3720BC-8293-1917-9675-EEF23421FC51}"/>
              </a:ext>
            </a:extLst>
          </p:cNvPr>
          <p:cNvSpPr/>
          <p:nvPr/>
        </p:nvSpPr>
        <p:spPr>
          <a:xfrm>
            <a:off x="7575259" y="3791118"/>
            <a:ext cx="2642532" cy="1066108"/>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7620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405558421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re 8">
            <a:extLst>
              <a:ext uri="{FF2B5EF4-FFF2-40B4-BE49-F238E27FC236}">
                <a16:creationId xmlns:a16="http://schemas.microsoft.com/office/drawing/2014/main" id="{EBB3B67E-F56E-4C7A-85BD-92FD2C154836}"/>
              </a:ext>
            </a:extLst>
          </p:cNvPr>
          <p:cNvSpPr>
            <a:spLocks noGrp="1"/>
          </p:cNvSpPr>
          <p:nvPr>
            <p:ph type="title"/>
          </p:nvPr>
        </p:nvSpPr>
        <p:spPr/>
        <p:txBody>
          <a:bodyPr/>
          <a:lstStyle/>
          <a:p>
            <a:r>
              <a:rPr lang="fr-FR" dirty="0"/>
              <a:t>Limites d’une communauté d’entreprise</a:t>
            </a:r>
          </a:p>
        </p:txBody>
      </p:sp>
      <p:grpSp>
        <p:nvGrpSpPr>
          <p:cNvPr id="19" name="Groupe 18">
            <a:extLst>
              <a:ext uri="{FF2B5EF4-FFF2-40B4-BE49-F238E27FC236}">
                <a16:creationId xmlns:a16="http://schemas.microsoft.com/office/drawing/2014/main" id="{C8FB70D7-43E4-4DC7-B984-10D87BE99834}"/>
              </a:ext>
            </a:extLst>
          </p:cNvPr>
          <p:cNvGrpSpPr/>
          <p:nvPr/>
        </p:nvGrpSpPr>
        <p:grpSpPr>
          <a:xfrm>
            <a:off x="8001696" y="1695833"/>
            <a:ext cx="3550117" cy="4353642"/>
            <a:chOff x="8860995" y="282959"/>
            <a:chExt cx="3407094" cy="4178249"/>
          </a:xfrm>
          <a:solidFill>
            <a:schemeClr val="tx1"/>
          </a:solidFill>
        </p:grpSpPr>
        <p:pic>
          <p:nvPicPr>
            <p:cNvPr id="153" name="Graphique 152" descr="Diagramme de flux avec un remplissage uni">
              <a:extLst>
                <a:ext uri="{FF2B5EF4-FFF2-40B4-BE49-F238E27FC236}">
                  <a16:creationId xmlns:a16="http://schemas.microsoft.com/office/drawing/2014/main" id="{C954D092-8E4E-4356-AE7E-717458710CA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154" name="Groupe 153">
              <a:extLst>
                <a:ext uri="{FF2B5EF4-FFF2-40B4-BE49-F238E27FC236}">
                  <a16:creationId xmlns:a16="http://schemas.microsoft.com/office/drawing/2014/main" id="{56F14EF8-0CFD-441C-93B0-DEE691FB81D5}"/>
                </a:ext>
              </a:extLst>
            </p:cNvPr>
            <p:cNvGrpSpPr/>
            <p:nvPr/>
          </p:nvGrpSpPr>
          <p:grpSpPr>
            <a:xfrm>
              <a:off x="8860995" y="282959"/>
              <a:ext cx="3360434" cy="4178249"/>
              <a:chOff x="8860995" y="282959"/>
              <a:chExt cx="3360434" cy="4178249"/>
            </a:xfrm>
            <a:grpFill/>
          </p:grpSpPr>
          <p:pic>
            <p:nvPicPr>
              <p:cNvPr id="155" name="Graphique 154" descr="Diagramme de flux avec un remplissage uni">
                <a:extLst>
                  <a:ext uri="{FF2B5EF4-FFF2-40B4-BE49-F238E27FC236}">
                    <a16:creationId xmlns:a16="http://schemas.microsoft.com/office/drawing/2014/main" id="{3575301F-7EE0-42A4-9057-A936539E345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156" name="Graphique 155" descr="Diagramme de flux avec un remplissage uni">
                <a:extLst>
                  <a:ext uri="{FF2B5EF4-FFF2-40B4-BE49-F238E27FC236}">
                    <a16:creationId xmlns:a16="http://schemas.microsoft.com/office/drawing/2014/main" id="{9825604A-6E66-4494-B377-CD134A4A1E4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157" name="Graphique 156" descr="Diagramme de flux avec un remplissage uni">
                <a:extLst>
                  <a:ext uri="{FF2B5EF4-FFF2-40B4-BE49-F238E27FC236}">
                    <a16:creationId xmlns:a16="http://schemas.microsoft.com/office/drawing/2014/main" id="{6C1D810B-7484-4BC2-85A2-ED948B140A3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158" name="Graphique 157" descr="Diagramme de flux avec un remplissage uni">
                <a:extLst>
                  <a:ext uri="{FF2B5EF4-FFF2-40B4-BE49-F238E27FC236}">
                    <a16:creationId xmlns:a16="http://schemas.microsoft.com/office/drawing/2014/main" id="{AC424008-56BD-403E-AAD7-9130FA191C3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159" name="Graphique 158" descr="Diagramme de flux avec un remplissage uni">
                <a:extLst>
                  <a:ext uri="{FF2B5EF4-FFF2-40B4-BE49-F238E27FC236}">
                    <a16:creationId xmlns:a16="http://schemas.microsoft.com/office/drawing/2014/main" id="{85A35059-C485-4795-8BAA-10F1AD36E1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160" name="Graphique 159" descr="Diagramme de flux avec un remplissage uni">
                <a:extLst>
                  <a:ext uri="{FF2B5EF4-FFF2-40B4-BE49-F238E27FC236}">
                    <a16:creationId xmlns:a16="http://schemas.microsoft.com/office/drawing/2014/main" id="{A99FB187-F561-4DF4-BB5D-FF6C307A15E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161" name="Graphique 160" descr="Diagramme de flux avec un remplissage uni">
                <a:extLst>
                  <a:ext uri="{FF2B5EF4-FFF2-40B4-BE49-F238E27FC236}">
                    <a16:creationId xmlns:a16="http://schemas.microsoft.com/office/drawing/2014/main" id="{307394D0-206A-4199-B93B-3AECD4046E1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162" name="Graphique 161" descr="Diagramme de flux avec un remplissage uni">
                <a:extLst>
                  <a:ext uri="{FF2B5EF4-FFF2-40B4-BE49-F238E27FC236}">
                    <a16:creationId xmlns:a16="http://schemas.microsoft.com/office/drawing/2014/main" id="{B0496263-0751-467B-AC56-A58741EFEB9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166" name="Graphique 165" descr="Diagramme de flux avec un remplissage uni">
                <a:extLst>
                  <a:ext uri="{FF2B5EF4-FFF2-40B4-BE49-F238E27FC236}">
                    <a16:creationId xmlns:a16="http://schemas.microsoft.com/office/drawing/2014/main" id="{3628B366-B11F-4783-8805-D2BE3F3D36A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167" name="Graphique 166" descr="Diagramme de flux avec un remplissage uni">
                <a:extLst>
                  <a:ext uri="{FF2B5EF4-FFF2-40B4-BE49-F238E27FC236}">
                    <a16:creationId xmlns:a16="http://schemas.microsoft.com/office/drawing/2014/main" id="{FFF2CFDE-52A1-4957-9566-B478AD3E442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168" name="Graphique 167" descr="Diagramme de flux avec un remplissage uni">
                <a:extLst>
                  <a:ext uri="{FF2B5EF4-FFF2-40B4-BE49-F238E27FC236}">
                    <a16:creationId xmlns:a16="http://schemas.microsoft.com/office/drawing/2014/main" id="{0A15662E-A5FA-4DBC-81A5-CE8D67BC309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169" name="Graphique 168" descr="Diagramme de flux avec un remplissage uni">
                <a:extLst>
                  <a:ext uri="{FF2B5EF4-FFF2-40B4-BE49-F238E27FC236}">
                    <a16:creationId xmlns:a16="http://schemas.microsoft.com/office/drawing/2014/main" id="{0F411A1F-3E31-4C9C-899C-1E5244B7FC4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170" name="Graphique 169" descr="Diagramme de flux avec un remplissage uni">
                <a:extLst>
                  <a:ext uri="{FF2B5EF4-FFF2-40B4-BE49-F238E27FC236}">
                    <a16:creationId xmlns:a16="http://schemas.microsoft.com/office/drawing/2014/main" id="{404B0657-7B20-4737-A53D-18433A38518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171" name="Graphique 170" descr="Diagramme de flux avec un remplissage uni">
                <a:extLst>
                  <a:ext uri="{FF2B5EF4-FFF2-40B4-BE49-F238E27FC236}">
                    <a16:creationId xmlns:a16="http://schemas.microsoft.com/office/drawing/2014/main" id="{8A95362E-C975-472B-ADE6-FF3B2AAA89D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172" name="Graphique 171" descr="Diagramme de flux avec un remplissage uni">
                <a:extLst>
                  <a:ext uri="{FF2B5EF4-FFF2-40B4-BE49-F238E27FC236}">
                    <a16:creationId xmlns:a16="http://schemas.microsoft.com/office/drawing/2014/main" id="{C9F7C43B-7BC2-489C-8FB3-5BD836665E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173" name="Graphique 172" descr="Diagramme de flux avec un remplissage uni">
                <a:extLst>
                  <a:ext uri="{FF2B5EF4-FFF2-40B4-BE49-F238E27FC236}">
                    <a16:creationId xmlns:a16="http://schemas.microsoft.com/office/drawing/2014/main" id="{CE5FC7A0-C00E-4B20-976F-49E1E800D59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sp>
        <p:nvSpPr>
          <p:cNvPr id="174" name="Forme libre : forme 173">
            <a:extLst>
              <a:ext uri="{FF2B5EF4-FFF2-40B4-BE49-F238E27FC236}">
                <a16:creationId xmlns:a16="http://schemas.microsoft.com/office/drawing/2014/main" id="{D2F0D8FD-DF18-40D7-BAC2-02AF8D2F97C1}"/>
              </a:ext>
            </a:extLst>
          </p:cNvPr>
          <p:cNvSpPr/>
          <p:nvPr/>
        </p:nvSpPr>
        <p:spPr>
          <a:xfrm>
            <a:off x="7436625" y="2264965"/>
            <a:ext cx="3292349" cy="2167128"/>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7620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orme libre : forme 174">
            <a:extLst>
              <a:ext uri="{FF2B5EF4-FFF2-40B4-BE49-F238E27FC236}">
                <a16:creationId xmlns:a16="http://schemas.microsoft.com/office/drawing/2014/main" id="{84E992CE-F636-4475-A6DD-BE20080380DA}"/>
              </a:ext>
            </a:extLst>
          </p:cNvPr>
          <p:cNvSpPr/>
          <p:nvPr/>
        </p:nvSpPr>
        <p:spPr>
          <a:xfrm>
            <a:off x="9874807" y="3864733"/>
            <a:ext cx="1966074" cy="2111248"/>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7620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 name="Espace réservé du contenu 9">
            <a:extLst>
              <a:ext uri="{FF2B5EF4-FFF2-40B4-BE49-F238E27FC236}">
                <a16:creationId xmlns:a16="http://schemas.microsoft.com/office/drawing/2014/main" id="{19BB3863-5D29-4452-B5B9-B7044D798A20}"/>
              </a:ext>
            </a:extLst>
          </p:cNvPr>
          <p:cNvSpPr txBox="1">
            <a:spLocks/>
          </p:cNvSpPr>
          <p:nvPr/>
        </p:nvSpPr>
        <p:spPr>
          <a:xfrm>
            <a:off x="990600" y="1978025"/>
            <a:ext cx="6213021" cy="4351338"/>
          </a:xfrm>
          <a:prstGeom prst="rect">
            <a:avLst/>
          </a:prstGeom>
        </p:spPr>
        <p:txBody>
          <a:bodyPr vert="horz" lIns="91440" tIns="45720" rIns="91440" bIns="45720" rtlCol="0">
            <a:normAutofit fontScale="70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sz="5400" b="1" dirty="0">
                <a:solidFill>
                  <a:srgbClr val="0683AA"/>
                </a:solidFill>
              </a:rPr>
              <a:t>DILUTION DES  RESPONSABILITÉS</a:t>
            </a:r>
            <a:r>
              <a:rPr lang="fr-FR" sz="4800" dirty="0"/>
              <a:t> </a:t>
            </a:r>
          </a:p>
          <a:p>
            <a:pPr marL="0" indent="0">
              <a:buNone/>
            </a:pPr>
            <a:endParaRPr lang="fr-FR" sz="5400" b="1" dirty="0">
              <a:solidFill>
                <a:srgbClr val="ED7D31"/>
              </a:solidFill>
            </a:endParaRPr>
          </a:p>
          <a:p>
            <a:r>
              <a:rPr lang="fr-FR" sz="5400" b="1" dirty="0">
                <a:solidFill>
                  <a:srgbClr val="ED7D31"/>
                </a:solidFill>
              </a:rPr>
              <a:t>PLANIFICATION DES EFFORTS PLUS DIFFICILE</a:t>
            </a:r>
          </a:p>
          <a:p>
            <a:pPr marL="0" indent="0">
              <a:buNone/>
            </a:pPr>
            <a:endParaRPr lang="fr-FR" sz="4800" dirty="0"/>
          </a:p>
          <a:p>
            <a:r>
              <a:rPr lang="fr-FR" sz="5400" b="1" dirty="0"/>
              <a:t>RISQUE DE DÉSALIGNEMENT TOP DOWN</a:t>
            </a:r>
            <a:endParaRPr lang="fr-FR" sz="4800" dirty="0"/>
          </a:p>
        </p:txBody>
      </p:sp>
      <p:sp>
        <p:nvSpPr>
          <p:cNvPr id="2" name="Forme libre : forme 1">
            <a:extLst>
              <a:ext uri="{FF2B5EF4-FFF2-40B4-BE49-F238E27FC236}">
                <a16:creationId xmlns:a16="http://schemas.microsoft.com/office/drawing/2014/main" id="{B40111C4-DC6C-C9A9-CC0A-EE740E012CBA}"/>
              </a:ext>
            </a:extLst>
          </p:cNvPr>
          <p:cNvSpPr/>
          <p:nvPr/>
        </p:nvSpPr>
        <p:spPr>
          <a:xfrm>
            <a:off x="7575259" y="3791118"/>
            <a:ext cx="2642532" cy="1066108"/>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7620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365622326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e 3">
            <a:extLst>
              <a:ext uri="{FF2B5EF4-FFF2-40B4-BE49-F238E27FC236}">
                <a16:creationId xmlns:a16="http://schemas.microsoft.com/office/drawing/2014/main" id="{10DC84CA-2162-2349-ED37-B1213E4B4E79}"/>
              </a:ext>
            </a:extLst>
          </p:cNvPr>
          <p:cNvGrpSpPr/>
          <p:nvPr/>
        </p:nvGrpSpPr>
        <p:grpSpPr>
          <a:xfrm>
            <a:off x="9731155" y="2884611"/>
            <a:ext cx="1991465" cy="2442209"/>
            <a:chOff x="8860995" y="282959"/>
            <a:chExt cx="3407094" cy="4178249"/>
          </a:xfrm>
          <a:solidFill>
            <a:schemeClr val="tx1"/>
          </a:solidFill>
        </p:grpSpPr>
        <p:pic>
          <p:nvPicPr>
            <p:cNvPr id="5" name="Graphique 4" descr="Diagramme de flux avec un remplissage uni">
              <a:extLst>
                <a:ext uri="{FF2B5EF4-FFF2-40B4-BE49-F238E27FC236}">
                  <a16:creationId xmlns:a16="http://schemas.microsoft.com/office/drawing/2014/main" id="{2200B66C-1B33-C896-6651-19A724EDC3FA}"/>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6" name="Groupe 5">
              <a:extLst>
                <a:ext uri="{FF2B5EF4-FFF2-40B4-BE49-F238E27FC236}">
                  <a16:creationId xmlns:a16="http://schemas.microsoft.com/office/drawing/2014/main" id="{865CCFA4-8CE1-A380-95A2-099651B40D2F}"/>
                </a:ext>
              </a:extLst>
            </p:cNvPr>
            <p:cNvGrpSpPr/>
            <p:nvPr/>
          </p:nvGrpSpPr>
          <p:grpSpPr>
            <a:xfrm>
              <a:off x="8860995" y="282959"/>
              <a:ext cx="3360434" cy="4178249"/>
              <a:chOff x="8860995" y="282959"/>
              <a:chExt cx="3360434" cy="4178249"/>
            </a:xfrm>
            <a:grpFill/>
          </p:grpSpPr>
          <p:pic>
            <p:nvPicPr>
              <p:cNvPr id="7" name="Graphique 6" descr="Diagramme de flux avec un remplissage uni">
                <a:extLst>
                  <a:ext uri="{FF2B5EF4-FFF2-40B4-BE49-F238E27FC236}">
                    <a16:creationId xmlns:a16="http://schemas.microsoft.com/office/drawing/2014/main" id="{E53BD597-72F3-E2DB-6565-902D2B00C0A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8" name="Graphique 7" descr="Diagramme de flux avec un remplissage uni">
                <a:extLst>
                  <a:ext uri="{FF2B5EF4-FFF2-40B4-BE49-F238E27FC236}">
                    <a16:creationId xmlns:a16="http://schemas.microsoft.com/office/drawing/2014/main" id="{E20A3349-6740-A756-0A6A-BC1F3625003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9" name="Graphique 8" descr="Diagramme de flux avec un remplissage uni">
                <a:extLst>
                  <a:ext uri="{FF2B5EF4-FFF2-40B4-BE49-F238E27FC236}">
                    <a16:creationId xmlns:a16="http://schemas.microsoft.com/office/drawing/2014/main" id="{E1FE0E6B-E955-E7DC-E676-FDE5AFCF615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10" name="Graphique 9" descr="Diagramme de flux avec un remplissage uni">
                <a:extLst>
                  <a:ext uri="{FF2B5EF4-FFF2-40B4-BE49-F238E27FC236}">
                    <a16:creationId xmlns:a16="http://schemas.microsoft.com/office/drawing/2014/main" id="{AFD50FAE-F1BD-334B-6560-EC81B7B0072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11" name="Graphique 10" descr="Diagramme de flux avec un remplissage uni">
                <a:extLst>
                  <a:ext uri="{FF2B5EF4-FFF2-40B4-BE49-F238E27FC236}">
                    <a16:creationId xmlns:a16="http://schemas.microsoft.com/office/drawing/2014/main" id="{9AB4A805-0139-08CF-427E-F561466DFD2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12" name="Graphique 11" descr="Diagramme de flux avec un remplissage uni">
                <a:extLst>
                  <a:ext uri="{FF2B5EF4-FFF2-40B4-BE49-F238E27FC236}">
                    <a16:creationId xmlns:a16="http://schemas.microsoft.com/office/drawing/2014/main" id="{831A5109-E230-EDAA-64F6-AB97F3C3A29A}"/>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13" name="Graphique 12" descr="Diagramme de flux avec un remplissage uni">
                <a:extLst>
                  <a:ext uri="{FF2B5EF4-FFF2-40B4-BE49-F238E27FC236}">
                    <a16:creationId xmlns:a16="http://schemas.microsoft.com/office/drawing/2014/main" id="{7B487A16-D0F6-C679-76A6-A0C05B8CD54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14" name="Graphique 13" descr="Diagramme de flux avec un remplissage uni">
                <a:extLst>
                  <a:ext uri="{FF2B5EF4-FFF2-40B4-BE49-F238E27FC236}">
                    <a16:creationId xmlns:a16="http://schemas.microsoft.com/office/drawing/2014/main" id="{9CD8032E-CA61-0F71-2391-A5430B37140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15" name="Graphique 14" descr="Diagramme de flux avec un remplissage uni">
                <a:extLst>
                  <a:ext uri="{FF2B5EF4-FFF2-40B4-BE49-F238E27FC236}">
                    <a16:creationId xmlns:a16="http://schemas.microsoft.com/office/drawing/2014/main" id="{027B92C5-71AA-039C-171F-2B8AE47667B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16" name="Graphique 15" descr="Diagramme de flux avec un remplissage uni">
                <a:extLst>
                  <a:ext uri="{FF2B5EF4-FFF2-40B4-BE49-F238E27FC236}">
                    <a16:creationId xmlns:a16="http://schemas.microsoft.com/office/drawing/2014/main" id="{1A267D5D-E8E3-7665-3C0A-3AE00D6EBBB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17" name="Graphique 16" descr="Diagramme de flux avec un remplissage uni">
                <a:extLst>
                  <a:ext uri="{FF2B5EF4-FFF2-40B4-BE49-F238E27FC236}">
                    <a16:creationId xmlns:a16="http://schemas.microsoft.com/office/drawing/2014/main" id="{C0574545-278B-AA04-1F45-3276DBD2A09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18" name="Graphique 17" descr="Diagramme de flux avec un remplissage uni">
                <a:extLst>
                  <a:ext uri="{FF2B5EF4-FFF2-40B4-BE49-F238E27FC236}">
                    <a16:creationId xmlns:a16="http://schemas.microsoft.com/office/drawing/2014/main" id="{17E993EA-3A75-11C1-9770-B174C1420FC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19" name="Graphique 18" descr="Diagramme de flux avec un remplissage uni">
                <a:extLst>
                  <a:ext uri="{FF2B5EF4-FFF2-40B4-BE49-F238E27FC236}">
                    <a16:creationId xmlns:a16="http://schemas.microsoft.com/office/drawing/2014/main" id="{66F23C73-52F7-C6E5-86C2-1991E6F74C4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20" name="Graphique 19" descr="Diagramme de flux avec un remplissage uni">
                <a:extLst>
                  <a:ext uri="{FF2B5EF4-FFF2-40B4-BE49-F238E27FC236}">
                    <a16:creationId xmlns:a16="http://schemas.microsoft.com/office/drawing/2014/main" id="{5EFC3A44-39A6-8142-30FD-636A989278B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21" name="Graphique 20" descr="Diagramme de flux avec un remplissage uni">
                <a:extLst>
                  <a:ext uri="{FF2B5EF4-FFF2-40B4-BE49-F238E27FC236}">
                    <a16:creationId xmlns:a16="http://schemas.microsoft.com/office/drawing/2014/main" id="{BEBC877B-4770-6F1C-EC17-721FB1EFD7A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22" name="Graphique 21" descr="Diagramme de flux avec un remplissage uni">
                <a:extLst>
                  <a:ext uri="{FF2B5EF4-FFF2-40B4-BE49-F238E27FC236}">
                    <a16:creationId xmlns:a16="http://schemas.microsoft.com/office/drawing/2014/main" id="{793A82C6-D084-25A7-755C-013FF23CE0E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sp>
        <p:nvSpPr>
          <p:cNvPr id="29" name="Forme libre : forme 28">
            <a:extLst>
              <a:ext uri="{FF2B5EF4-FFF2-40B4-BE49-F238E27FC236}">
                <a16:creationId xmlns:a16="http://schemas.microsoft.com/office/drawing/2014/main" id="{22558559-620B-6B3C-5D32-DDF4D0F68034}"/>
              </a:ext>
            </a:extLst>
          </p:cNvPr>
          <p:cNvSpPr/>
          <p:nvPr/>
        </p:nvSpPr>
        <p:spPr>
          <a:xfrm>
            <a:off x="226279" y="3208314"/>
            <a:ext cx="1846868" cy="121566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7620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 forme 29">
            <a:extLst>
              <a:ext uri="{FF2B5EF4-FFF2-40B4-BE49-F238E27FC236}">
                <a16:creationId xmlns:a16="http://schemas.microsoft.com/office/drawing/2014/main" id="{BDE21ECD-6F8A-06DA-20DF-8FE0D18ED3C1}"/>
              </a:ext>
            </a:extLst>
          </p:cNvPr>
          <p:cNvSpPr/>
          <p:nvPr/>
        </p:nvSpPr>
        <p:spPr>
          <a:xfrm>
            <a:off x="1593996" y="4105716"/>
            <a:ext cx="1102884" cy="1184321"/>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7620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1" name="Forme libre : forme 30">
            <a:extLst>
              <a:ext uri="{FF2B5EF4-FFF2-40B4-BE49-F238E27FC236}">
                <a16:creationId xmlns:a16="http://schemas.microsoft.com/office/drawing/2014/main" id="{01CF1F1D-8E52-0A78-9380-CC1DBDCE7303}"/>
              </a:ext>
            </a:extLst>
          </p:cNvPr>
          <p:cNvSpPr/>
          <p:nvPr/>
        </p:nvSpPr>
        <p:spPr>
          <a:xfrm>
            <a:off x="304047" y="4064421"/>
            <a:ext cx="1482348" cy="598041"/>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7620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50" name="Groupe 49">
            <a:extLst>
              <a:ext uri="{FF2B5EF4-FFF2-40B4-BE49-F238E27FC236}">
                <a16:creationId xmlns:a16="http://schemas.microsoft.com/office/drawing/2014/main" id="{4EBF6AEE-03BA-D592-0B97-E84AD935CE42}"/>
              </a:ext>
            </a:extLst>
          </p:cNvPr>
          <p:cNvGrpSpPr/>
          <p:nvPr/>
        </p:nvGrpSpPr>
        <p:grpSpPr>
          <a:xfrm>
            <a:off x="4672445" y="1515734"/>
            <a:ext cx="2470601" cy="2442209"/>
            <a:chOff x="7436625" y="1695833"/>
            <a:chExt cx="4404256" cy="4353642"/>
          </a:xfrm>
        </p:grpSpPr>
        <p:grpSp>
          <p:nvGrpSpPr>
            <p:cNvPr id="51" name="Groupe 50">
              <a:extLst>
                <a:ext uri="{FF2B5EF4-FFF2-40B4-BE49-F238E27FC236}">
                  <a16:creationId xmlns:a16="http://schemas.microsoft.com/office/drawing/2014/main" id="{372F459A-523A-D765-2871-32D9B10917E4}"/>
                </a:ext>
              </a:extLst>
            </p:cNvPr>
            <p:cNvGrpSpPr/>
            <p:nvPr/>
          </p:nvGrpSpPr>
          <p:grpSpPr>
            <a:xfrm>
              <a:off x="8001696" y="1695833"/>
              <a:ext cx="3550117" cy="4353642"/>
              <a:chOff x="8860995" y="282959"/>
              <a:chExt cx="3407094" cy="4178249"/>
            </a:xfrm>
            <a:solidFill>
              <a:schemeClr val="tx1"/>
            </a:solidFill>
          </p:grpSpPr>
          <p:pic>
            <p:nvPicPr>
              <p:cNvPr id="55" name="Graphique 54" descr="Diagramme de flux avec un remplissage uni">
                <a:extLst>
                  <a:ext uri="{FF2B5EF4-FFF2-40B4-BE49-F238E27FC236}">
                    <a16:creationId xmlns:a16="http://schemas.microsoft.com/office/drawing/2014/main" id="{78CE5BC5-1C13-4BE4-5BD5-7256C5D8026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56" name="Groupe 55">
                <a:extLst>
                  <a:ext uri="{FF2B5EF4-FFF2-40B4-BE49-F238E27FC236}">
                    <a16:creationId xmlns:a16="http://schemas.microsoft.com/office/drawing/2014/main" id="{D55EDF2D-F7D8-642E-569E-9903BFC73D91}"/>
                  </a:ext>
                </a:extLst>
              </p:cNvPr>
              <p:cNvGrpSpPr/>
              <p:nvPr/>
            </p:nvGrpSpPr>
            <p:grpSpPr>
              <a:xfrm>
                <a:off x="8860995" y="282959"/>
                <a:ext cx="3360434" cy="4178249"/>
                <a:chOff x="8860995" y="282959"/>
                <a:chExt cx="3360434" cy="4178249"/>
              </a:xfrm>
              <a:grpFill/>
            </p:grpSpPr>
            <p:pic>
              <p:nvPicPr>
                <p:cNvPr id="57" name="Graphique 56" descr="Diagramme de flux avec un remplissage uni">
                  <a:extLst>
                    <a:ext uri="{FF2B5EF4-FFF2-40B4-BE49-F238E27FC236}">
                      <a16:creationId xmlns:a16="http://schemas.microsoft.com/office/drawing/2014/main" id="{9671DC96-A742-D324-7C01-3539A0FACF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58" name="Graphique 57" descr="Diagramme de flux avec un remplissage uni">
                  <a:extLst>
                    <a:ext uri="{FF2B5EF4-FFF2-40B4-BE49-F238E27FC236}">
                      <a16:creationId xmlns:a16="http://schemas.microsoft.com/office/drawing/2014/main" id="{28174215-A191-973E-BFA2-B36A30CE003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59" name="Graphique 58" descr="Diagramme de flux avec un remplissage uni">
                  <a:extLst>
                    <a:ext uri="{FF2B5EF4-FFF2-40B4-BE49-F238E27FC236}">
                      <a16:creationId xmlns:a16="http://schemas.microsoft.com/office/drawing/2014/main" id="{446C316C-06B4-35A1-DCD3-16E2B55B5A4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60" name="Graphique 59" descr="Diagramme de flux avec un remplissage uni">
                  <a:extLst>
                    <a:ext uri="{FF2B5EF4-FFF2-40B4-BE49-F238E27FC236}">
                      <a16:creationId xmlns:a16="http://schemas.microsoft.com/office/drawing/2014/main" id="{2B8897B1-F64E-3641-B8CF-DFA67312243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61" name="Graphique 60" descr="Diagramme de flux avec un remplissage uni">
                  <a:extLst>
                    <a:ext uri="{FF2B5EF4-FFF2-40B4-BE49-F238E27FC236}">
                      <a16:creationId xmlns:a16="http://schemas.microsoft.com/office/drawing/2014/main" id="{B5CA72F8-3AF6-1365-E5F3-5E041F58B69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62" name="Graphique 61" descr="Diagramme de flux avec un remplissage uni">
                  <a:extLst>
                    <a:ext uri="{FF2B5EF4-FFF2-40B4-BE49-F238E27FC236}">
                      <a16:creationId xmlns:a16="http://schemas.microsoft.com/office/drawing/2014/main" id="{62BD47CA-EB84-4951-BAB9-58D9CF98838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63" name="Graphique 62" descr="Diagramme de flux avec un remplissage uni">
                  <a:extLst>
                    <a:ext uri="{FF2B5EF4-FFF2-40B4-BE49-F238E27FC236}">
                      <a16:creationId xmlns:a16="http://schemas.microsoft.com/office/drawing/2014/main" id="{19F49399-EA10-49CC-B6C5-3B823CD3D25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64" name="Graphique 63" descr="Diagramme de flux avec un remplissage uni">
                  <a:extLst>
                    <a:ext uri="{FF2B5EF4-FFF2-40B4-BE49-F238E27FC236}">
                      <a16:creationId xmlns:a16="http://schemas.microsoft.com/office/drawing/2014/main" id="{DB9A69BF-89CC-7F7B-D265-877A603BF96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65" name="Graphique 64" descr="Diagramme de flux avec un remplissage uni">
                  <a:extLst>
                    <a:ext uri="{FF2B5EF4-FFF2-40B4-BE49-F238E27FC236}">
                      <a16:creationId xmlns:a16="http://schemas.microsoft.com/office/drawing/2014/main" id="{6FF8C253-6445-B2F8-9002-8C6CDDB79A1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66" name="Graphique 65" descr="Diagramme de flux avec un remplissage uni">
                  <a:extLst>
                    <a:ext uri="{FF2B5EF4-FFF2-40B4-BE49-F238E27FC236}">
                      <a16:creationId xmlns:a16="http://schemas.microsoft.com/office/drawing/2014/main" id="{71DFA7CD-D178-F940-E69A-BE98347E880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67" name="Graphique 66" descr="Diagramme de flux avec un remplissage uni">
                  <a:extLst>
                    <a:ext uri="{FF2B5EF4-FFF2-40B4-BE49-F238E27FC236}">
                      <a16:creationId xmlns:a16="http://schemas.microsoft.com/office/drawing/2014/main" id="{5B9503BA-A4C5-F22D-8B2B-C70976DB970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68" name="Graphique 67" descr="Diagramme de flux avec un remplissage uni">
                  <a:extLst>
                    <a:ext uri="{FF2B5EF4-FFF2-40B4-BE49-F238E27FC236}">
                      <a16:creationId xmlns:a16="http://schemas.microsoft.com/office/drawing/2014/main" id="{9022457B-46BE-9BCD-BE66-BA231B5D7A4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69" name="Graphique 68" descr="Diagramme de flux avec un remplissage uni">
                  <a:extLst>
                    <a:ext uri="{FF2B5EF4-FFF2-40B4-BE49-F238E27FC236}">
                      <a16:creationId xmlns:a16="http://schemas.microsoft.com/office/drawing/2014/main" id="{2B3B661F-D57C-1B7C-E8BE-4724391B8E4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70" name="Graphique 69" descr="Diagramme de flux avec un remplissage uni">
                  <a:extLst>
                    <a:ext uri="{FF2B5EF4-FFF2-40B4-BE49-F238E27FC236}">
                      <a16:creationId xmlns:a16="http://schemas.microsoft.com/office/drawing/2014/main" id="{B6E81E6A-9625-B06E-B361-3A03697B701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71" name="Graphique 70" descr="Diagramme de flux avec un remplissage uni">
                  <a:extLst>
                    <a:ext uri="{FF2B5EF4-FFF2-40B4-BE49-F238E27FC236}">
                      <a16:creationId xmlns:a16="http://schemas.microsoft.com/office/drawing/2014/main" id="{C043A816-CDF4-B744-58C4-2B226035CF0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72" name="Graphique 71" descr="Diagramme de flux avec un remplissage uni">
                  <a:extLst>
                    <a:ext uri="{FF2B5EF4-FFF2-40B4-BE49-F238E27FC236}">
                      <a16:creationId xmlns:a16="http://schemas.microsoft.com/office/drawing/2014/main" id="{257E7BF7-04A1-8A2A-7D09-39D38403AD4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sp>
          <p:nvSpPr>
            <p:cNvPr id="52" name="Forme libre : forme 51">
              <a:extLst>
                <a:ext uri="{FF2B5EF4-FFF2-40B4-BE49-F238E27FC236}">
                  <a16:creationId xmlns:a16="http://schemas.microsoft.com/office/drawing/2014/main" id="{6790912A-56BA-0688-2199-BDAFA5AFB40F}"/>
                </a:ext>
              </a:extLst>
            </p:cNvPr>
            <p:cNvSpPr/>
            <p:nvPr/>
          </p:nvSpPr>
          <p:spPr>
            <a:xfrm>
              <a:off x="7436625" y="2264965"/>
              <a:ext cx="3292349" cy="2167128"/>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7620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 name="Forme libre : forme 52">
              <a:extLst>
                <a:ext uri="{FF2B5EF4-FFF2-40B4-BE49-F238E27FC236}">
                  <a16:creationId xmlns:a16="http://schemas.microsoft.com/office/drawing/2014/main" id="{0A4A2A1C-798A-6201-4C24-7CF1BF513F4D}"/>
                </a:ext>
              </a:extLst>
            </p:cNvPr>
            <p:cNvSpPr/>
            <p:nvPr/>
          </p:nvSpPr>
          <p:spPr>
            <a:xfrm>
              <a:off x="9874807" y="3864733"/>
              <a:ext cx="1966074" cy="2111248"/>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7620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 name="Forme libre : forme 53">
              <a:extLst>
                <a:ext uri="{FF2B5EF4-FFF2-40B4-BE49-F238E27FC236}">
                  <a16:creationId xmlns:a16="http://schemas.microsoft.com/office/drawing/2014/main" id="{9E74488D-303F-084A-7FFE-6DE6A2F525D1}"/>
                </a:ext>
              </a:extLst>
            </p:cNvPr>
            <p:cNvSpPr/>
            <p:nvPr/>
          </p:nvSpPr>
          <p:spPr>
            <a:xfrm>
              <a:off x="7575259" y="3791118"/>
              <a:ext cx="2642532" cy="1066108"/>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7620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73" name="Flèche : gauche 72">
            <a:extLst>
              <a:ext uri="{FF2B5EF4-FFF2-40B4-BE49-F238E27FC236}">
                <a16:creationId xmlns:a16="http://schemas.microsoft.com/office/drawing/2014/main" id="{3B050F16-2AA0-7CA4-15DF-B52B324C1762}"/>
              </a:ext>
            </a:extLst>
          </p:cNvPr>
          <p:cNvSpPr/>
          <p:nvPr/>
        </p:nvSpPr>
        <p:spPr>
          <a:xfrm rot="19613656">
            <a:off x="3136113" y="3138449"/>
            <a:ext cx="1259499" cy="623864"/>
          </a:xfrm>
          <a:prstGeom prst="lef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 name="Flèche : gauche 73">
            <a:extLst>
              <a:ext uri="{FF2B5EF4-FFF2-40B4-BE49-F238E27FC236}">
                <a16:creationId xmlns:a16="http://schemas.microsoft.com/office/drawing/2014/main" id="{4BD072C6-AD19-45E8-9E32-3A2B1466BB23}"/>
              </a:ext>
            </a:extLst>
          </p:cNvPr>
          <p:cNvSpPr/>
          <p:nvPr/>
        </p:nvSpPr>
        <p:spPr>
          <a:xfrm rot="2173003" flipH="1">
            <a:off x="8116990" y="3136247"/>
            <a:ext cx="1189456" cy="623864"/>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 name="Titre 1">
            <a:extLst>
              <a:ext uri="{FF2B5EF4-FFF2-40B4-BE49-F238E27FC236}">
                <a16:creationId xmlns:a16="http://schemas.microsoft.com/office/drawing/2014/main" id="{B152BB75-809C-0BD5-A912-E89269D60BCB}"/>
              </a:ext>
            </a:extLst>
          </p:cNvPr>
          <p:cNvSpPr txBox="1">
            <a:spLocks/>
          </p:cNvSpPr>
          <p:nvPr/>
        </p:nvSpPr>
        <p:spPr>
          <a:xfrm>
            <a:off x="207604" y="2151494"/>
            <a:ext cx="2584264"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Communautés d’entreprise </a:t>
            </a:r>
          </a:p>
        </p:txBody>
      </p:sp>
      <p:sp>
        <p:nvSpPr>
          <p:cNvPr id="76" name="Titre 1">
            <a:extLst>
              <a:ext uri="{FF2B5EF4-FFF2-40B4-BE49-F238E27FC236}">
                <a16:creationId xmlns:a16="http://schemas.microsoft.com/office/drawing/2014/main" id="{673DFF21-3378-FB81-B7C2-0E1FBC8DFF2F}"/>
              </a:ext>
            </a:extLst>
          </p:cNvPr>
          <p:cNvSpPr txBox="1">
            <a:spLocks/>
          </p:cNvSpPr>
          <p:nvPr/>
        </p:nvSpPr>
        <p:spPr>
          <a:xfrm>
            <a:off x="9219828" y="2151494"/>
            <a:ext cx="2792840" cy="59223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Formats traditionnels (équipes, département, poste officiel etc.)</a:t>
            </a:r>
          </a:p>
        </p:txBody>
      </p:sp>
      <p:sp>
        <p:nvSpPr>
          <p:cNvPr id="80" name="Rectangle 79">
            <a:extLst>
              <a:ext uri="{FF2B5EF4-FFF2-40B4-BE49-F238E27FC236}">
                <a16:creationId xmlns:a16="http://schemas.microsoft.com/office/drawing/2014/main" id="{56D40F54-4A37-7E7B-DC90-BAC0C3F559A4}"/>
              </a:ext>
            </a:extLst>
          </p:cNvPr>
          <p:cNvSpPr/>
          <p:nvPr/>
        </p:nvSpPr>
        <p:spPr>
          <a:xfrm>
            <a:off x="7280135" y="5408830"/>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Cadre légal plus riche</a:t>
            </a:r>
            <a:endParaRPr lang="fr-FR" sz="700" dirty="0">
              <a:solidFill>
                <a:schemeClr val="tx1"/>
              </a:solidFill>
            </a:endParaRPr>
          </a:p>
        </p:txBody>
      </p:sp>
      <p:sp>
        <p:nvSpPr>
          <p:cNvPr id="81" name="Rectangle 80">
            <a:extLst>
              <a:ext uri="{FF2B5EF4-FFF2-40B4-BE49-F238E27FC236}">
                <a16:creationId xmlns:a16="http://schemas.microsoft.com/office/drawing/2014/main" id="{5A88F243-0C5E-2EEC-4F9C-58F521AD6748}"/>
              </a:ext>
            </a:extLst>
          </p:cNvPr>
          <p:cNvSpPr/>
          <p:nvPr/>
        </p:nvSpPr>
        <p:spPr>
          <a:xfrm>
            <a:off x="2979135" y="5992752"/>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Convient bien à des sujets informels, annexes</a:t>
            </a:r>
            <a:endParaRPr lang="fr-FR" sz="700" dirty="0">
              <a:solidFill>
                <a:schemeClr val="tx1"/>
              </a:solidFill>
            </a:endParaRPr>
          </a:p>
        </p:txBody>
      </p:sp>
      <p:sp>
        <p:nvSpPr>
          <p:cNvPr id="82" name="Rectangle 81">
            <a:extLst>
              <a:ext uri="{FF2B5EF4-FFF2-40B4-BE49-F238E27FC236}">
                <a16:creationId xmlns:a16="http://schemas.microsoft.com/office/drawing/2014/main" id="{E3A842A1-3290-19FE-093C-E153D9AAEDF8}"/>
              </a:ext>
            </a:extLst>
          </p:cNvPr>
          <p:cNvSpPr/>
          <p:nvPr/>
        </p:nvSpPr>
        <p:spPr>
          <a:xfrm>
            <a:off x="7280135" y="5958715"/>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Planification plus facile de l’effort et de la présence </a:t>
            </a:r>
            <a:endParaRPr lang="fr-FR" sz="700" dirty="0">
              <a:solidFill>
                <a:schemeClr val="tx1"/>
              </a:solidFill>
            </a:endParaRPr>
          </a:p>
        </p:txBody>
      </p:sp>
      <p:sp>
        <p:nvSpPr>
          <p:cNvPr id="84" name="Rectangle 83">
            <a:extLst>
              <a:ext uri="{FF2B5EF4-FFF2-40B4-BE49-F238E27FC236}">
                <a16:creationId xmlns:a16="http://schemas.microsoft.com/office/drawing/2014/main" id="{76266DF8-8F94-CE01-34FA-24DE94686E2F}"/>
              </a:ext>
            </a:extLst>
          </p:cNvPr>
          <p:cNvSpPr/>
          <p:nvPr/>
        </p:nvSpPr>
        <p:spPr>
          <a:xfrm>
            <a:off x="1045309" y="5415404"/>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Meilleur pour une activité souple (besoin variable…) </a:t>
            </a:r>
            <a:endParaRPr lang="fr-FR" sz="700" dirty="0">
              <a:solidFill>
                <a:schemeClr val="tx1"/>
              </a:solidFill>
            </a:endParaRPr>
          </a:p>
        </p:txBody>
      </p:sp>
      <p:sp>
        <p:nvSpPr>
          <p:cNvPr id="85" name="Rectangle 84">
            <a:extLst>
              <a:ext uri="{FF2B5EF4-FFF2-40B4-BE49-F238E27FC236}">
                <a16:creationId xmlns:a16="http://schemas.microsoft.com/office/drawing/2014/main" id="{2989079E-C965-4033-D7AB-91C566FBA270}"/>
              </a:ext>
            </a:extLst>
          </p:cNvPr>
          <p:cNvSpPr/>
          <p:nvPr/>
        </p:nvSpPr>
        <p:spPr>
          <a:xfrm>
            <a:off x="9223490" y="5405257"/>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Responsabilités plus claires et obligations </a:t>
            </a:r>
            <a:endParaRPr lang="fr-FR" sz="700" dirty="0">
              <a:solidFill>
                <a:schemeClr val="tx1"/>
              </a:solidFill>
            </a:endParaRPr>
          </a:p>
        </p:txBody>
      </p:sp>
      <p:sp>
        <p:nvSpPr>
          <p:cNvPr id="86" name="Rectangle 85">
            <a:extLst>
              <a:ext uri="{FF2B5EF4-FFF2-40B4-BE49-F238E27FC236}">
                <a16:creationId xmlns:a16="http://schemas.microsoft.com/office/drawing/2014/main" id="{22B63481-A0AC-8A76-5F1A-A95C027731A3}"/>
              </a:ext>
            </a:extLst>
          </p:cNvPr>
          <p:cNvSpPr/>
          <p:nvPr/>
        </p:nvSpPr>
        <p:spPr>
          <a:xfrm>
            <a:off x="9223490" y="5966469"/>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Meilleur pour assurer des obligations continues</a:t>
            </a:r>
            <a:endParaRPr lang="fr-FR" sz="700" dirty="0">
              <a:solidFill>
                <a:schemeClr val="tx1"/>
              </a:solidFill>
            </a:endParaRPr>
          </a:p>
        </p:txBody>
      </p:sp>
      <p:sp>
        <p:nvSpPr>
          <p:cNvPr id="87" name="Rectangle 86">
            <a:extLst>
              <a:ext uri="{FF2B5EF4-FFF2-40B4-BE49-F238E27FC236}">
                <a16:creationId xmlns:a16="http://schemas.microsoft.com/office/drawing/2014/main" id="{67F1111E-6492-8165-4711-57DE517C15C7}"/>
              </a:ext>
            </a:extLst>
          </p:cNvPr>
          <p:cNvSpPr/>
          <p:nvPr/>
        </p:nvSpPr>
        <p:spPr>
          <a:xfrm>
            <a:off x="1045309" y="6003955"/>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Peut se transformer plus vite (taille, activités, …) </a:t>
            </a:r>
            <a:endParaRPr lang="fr-FR" sz="700" dirty="0">
              <a:solidFill>
                <a:schemeClr val="tx1"/>
              </a:solidFill>
            </a:endParaRPr>
          </a:p>
        </p:txBody>
      </p:sp>
      <p:sp>
        <p:nvSpPr>
          <p:cNvPr id="88" name="Rectangle 87">
            <a:extLst>
              <a:ext uri="{FF2B5EF4-FFF2-40B4-BE49-F238E27FC236}">
                <a16:creationId xmlns:a16="http://schemas.microsoft.com/office/drawing/2014/main" id="{FC2A61F9-642E-3DF9-82D2-9AF6C02C73C9}"/>
              </a:ext>
            </a:extLst>
          </p:cNvPr>
          <p:cNvSpPr/>
          <p:nvPr/>
        </p:nvSpPr>
        <p:spPr>
          <a:xfrm>
            <a:off x="2979135" y="5420981"/>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Meilleur pour intercepter l’engagement et les initiatives</a:t>
            </a:r>
            <a:endParaRPr lang="fr-FR" sz="700" dirty="0">
              <a:solidFill>
                <a:schemeClr val="tx1"/>
              </a:solidFill>
            </a:endParaRPr>
          </a:p>
        </p:txBody>
      </p:sp>
      <p:sp>
        <p:nvSpPr>
          <p:cNvPr id="89" name="Rectangle 88">
            <a:extLst>
              <a:ext uri="{FF2B5EF4-FFF2-40B4-BE49-F238E27FC236}">
                <a16:creationId xmlns:a16="http://schemas.microsoft.com/office/drawing/2014/main" id="{7E756CF9-2990-8B6D-5CD9-7A1E3F04AC2C}"/>
              </a:ext>
            </a:extLst>
          </p:cNvPr>
          <p:cNvSpPr/>
          <p:nvPr/>
        </p:nvSpPr>
        <p:spPr>
          <a:xfrm>
            <a:off x="3932632" y="5992752"/>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Mieux pour organiser les fréquentations ponctuelles</a:t>
            </a:r>
            <a:endParaRPr lang="fr-FR" sz="700" dirty="0">
              <a:solidFill>
                <a:schemeClr val="tx1"/>
              </a:solidFill>
            </a:endParaRPr>
          </a:p>
        </p:txBody>
      </p:sp>
      <p:sp>
        <p:nvSpPr>
          <p:cNvPr id="90" name="Rectangle 89">
            <a:extLst>
              <a:ext uri="{FF2B5EF4-FFF2-40B4-BE49-F238E27FC236}">
                <a16:creationId xmlns:a16="http://schemas.microsoft.com/office/drawing/2014/main" id="{FDCD251A-E1D7-F996-EB7B-1FF4A4240CDB}"/>
              </a:ext>
            </a:extLst>
          </p:cNvPr>
          <p:cNvSpPr/>
          <p:nvPr/>
        </p:nvSpPr>
        <p:spPr>
          <a:xfrm>
            <a:off x="10203819" y="5966469"/>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Meilleur pour organiser des fréquentations quotidiennes</a:t>
            </a:r>
            <a:endParaRPr lang="fr-FR" sz="700" dirty="0">
              <a:solidFill>
                <a:schemeClr val="tx1"/>
              </a:solidFill>
            </a:endParaRPr>
          </a:p>
        </p:txBody>
      </p:sp>
      <p:sp>
        <p:nvSpPr>
          <p:cNvPr id="91" name="Rectangle 90">
            <a:extLst>
              <a:ext uri="{FF2B5EF4-FFF2-40B4-BE49-F238E27FC236}">
                <a16:creationId xmlns:a16="http://schemas.microsoft.com/office/drawing/2014/main" id="{B2E00166-A2EC-D840-8251-425B3DA0C16B}"/>
              </a:ext>
            </a:extLst>
          </p:cNvPr>
          <p:cNvSpPr/>
          <p:nvPr/>
        </p:nvSpPr>
        <p:spPr>
          <a:xfrm>
            <a:off x="1998806" y="5415404"/>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Peut plus facilement être créé par ses futurs membres</a:t>
            </a:r>
            <a:endParaRPr lang="fr-FR" sz="700" dirty="0">
              <a:solidFill>
                <a:schemeClr val="tx1"/>
              </a:solidFill>
            </a:endParaRPr>
          </a:p>
        </p:txBody>
      </p:sp>
      <p:sp>
        <p:nvSpPr>
          <p:cNvPr id="92" name="Rectangle 91">
            <a:extLst>
              <a:ext uri="{FF2B5EF4-FFF2-40B4-BE49-F238E27FC236}">
                <a16:creationId xmlns:a16="http://schemas.microsoft.com/office/drawing/2014/main" id="{16F00577-E9ED-E69F-9F6B-27911267F16F}"/>
              </a:ext>
            </a:extLst>
          </p:cNvPr>
          <p:cNvSpPr/>
          <p:nvPr/>
        </p:nvSpPr>
        <p:spPr>
          <a:xfrm>
            <a:off x="8244319" y="5408829"/>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Contrôle hiérarchique plus élevé</a:t>
            </a:r>
            <a:endParaRPr lang="fr-FR" sz="700" dirty="0">
              <a:solidFill>
                <a:schemeClr val="tx1"/>
              </a:solidFill>
            </a:endParaRPr>
          </a:p>
        </p:txBody>
      </p:sp>
      <p:sp>
        <p:nvSpPr>
          <p:cNvPr id="93" name="Rectangle 92">
            <a:extLst>
              <a:ext uri="{FF2B5EF4-FFF2-40B4-BE49-F238E27FC236}">
                <a16:creationId xmlns:a16="http://schemas.microsoft.com/office/drawing/2014/main" id="{D4268BAF-B18C-91B7-2340-C5A32B8652CC}"/>
              </a:ext>
            </a:extLst>
          </p:cNvPr>
          <p:cNvSpPr/>
          <p:nvPr/>
        </p:nvSpPr>
        <p:spPr>
          <a:xfrm>
            <a:off x="1998806" y="6003954"/>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Moins de charge administrative</a:t>
            </a:r>
            <a:endParaRPr lang="fr-FR" sz="700" dirty="0">
              <a:solidFill>
                <a:schemeClr val="tx1"/>
              </a:solidFill>
            </a:endParaRPr>
          </a:p>
        </p:txBody>
      </p:sp>
      <p:sp>
        <p:nvSpPr>
          <p:cNvPr id="94" name="Rectangle 93">
            <a:extLst>
              <a:ext uri="{FF2B5EF4-FFF2-40B4-BE49-F238E27FC236}">
                <a16:creationId xmlns:a16="http://schemas.microsoft.com/office/drawing/2014/main" id="{FC06D428-02EE-4D5A-8A50-EAF62FC9C00F}"/>
              </a:ext>
            </a:extLst>
          </p:cNvPr>
          <p:cNvSpPr/>
          <p:nvPr/>
        </p:nvSpPr>
        <p:spPr>
          <a:xfrm>
            <a:off x="10212614" y="5404635"/>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Officialise des réorganisations, des changements</a:t>
            </a:r>
            <a:endParaRPr lang="fr-FR" sz="700" dirty="0">
              <a:solidFill>
                <a:schemeClr val="tx1"/>
              </a:solidFill>
            </a:endParaRPr>
          </a:p>
        </p:txBody>
      </p:sp>
      <p:sp>
        <p:nvSpPr>
          <p:cNvPr id="95" name="Rectangle 94">
            <a:extLst>
              <a:ext uri="{FF2B5EF4-FFF2-40B4-BE49-F238E27FC236}">
                <a16:creationId xmlns:a16="http://schemas.microsoft.com/office/drawing/2014/main" id="{746BC3A9-8A46-75DB-A90B-4FCF02E709E2}"/>
              </a:ext>
            </a:extLst>
          </p:cNvPr>
          <p:cNvSpPr/>
          <p:nvPr/>
        </p:nvSpPr>
        <p:spPr>
          <a:xfrm>
            <a:off x="3932632" y="5420980"/>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Permet de tester des réorganisations</a:t>
            </a:r>
            <a:endParaRPr lang="fr-FR" sz="700" dirty="0">
              <a:solidFill>
                <a:schemeClr val="tx1"/>
              </a:solidFill>
            </a:endParaRPr>
          </a:p>
        </p:txBody>
      </p:sp>
      <p:sp>
        <p:nvSpPr>
          <p:cNvPr id="96" name="Rectangle 95">
            <a:extLst>
              <a:ext uri="{FF2B5EF4-FFF2-40B4-BE49-F238E27FC236}">
                <a16:creationId xmlns:a16="http://schemas.microsoft.com/office/drawing/2014/main" id="{B1534F32-7B4B-CDAA-8C41-388BB1509BF2}"/>
              </a:ext>
            </a:extLst>
          </p:cNvPr>
          <p:cNvSpPr/>
          <p:nvPr/>
        </p:nvSpPr>
        <p:spPr>
          <a:xfrm>
            <a:off x="8260464" y="5957471"/>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Financement systématique et planifiable</a:t>
            </a:r>
            <a:endParaRPr lang="fr-FR" sz="700" dirty="0">
              <a:solidFill>
                <a:schemeClr val="tx1"/>
              </a:solidFill>
            </a:endParaRPr>
          </a:p>
        </p:txBody>
      </p:sp>
      <p:sp>
        <p:nvSpPr>
          <p:cNvPr id="99" name="Titre 1">
            <a:extLst>
              <a:ext uri="{FF2B5EF4-FFF2-40B4-BE49-F238E27FC236}">
                <a16:creationId xmlns:a16="http://schemas.microsoft.com/office/drawing/2014/main" id="{B1B56E41-B1EB-C4A3-765D-5AB3C16C4F1B}"/>
              </a:ext>
            </a:extLst>
          </p:cNvPr>
          <p:cNvSpPr>
            <a:spLocks noGrp="1"/>
          </p:cNvSpPr>
          <p:nvPr>
            <p:ph type="title"/>
          </p:nvPr>
        </p:nvSpPr>
        <p:spPr>
          <a:xfrm>
            <a:off x="838200" y="365125"/>
            <a:ext cx="10515600" cy="1325563"/>
          </a:xfrm>
        </p:spPr>
        <p:txBody>
          <a:bodyPr/>
          <a:lstStyle/>
          <a:p>
            <a:r>
              <a:rPr lang="fr-FR" dirty="0"/>
              <a:t>Avantages comparatifs de chaque format</a:t>
            </a:r>
          </a:p>
        </p:txBody>
      </p:sp>
      <p:sp>
        <p:nvSpPr>
          <p:cNvPr id="77" name="Rectangle 76">
            <a:extLst>
              <a:ext uri="{FF2B5EF4-FFF2-40B4-BE49-F238E27FC236}">
                <a16:creationId xmlns:a16="http://schemas.microsoft.com/office/drawing/2014/main" id="{5E4FCE67-EE96-4F06-7A27-667DA33B4F64}"/>
              </a:ext>
            </a:extLst>
          </p:cNvPr>
          <p:cNvSpPr/>
          <p:nvPr/>
        </p:nvSpPr>
        <p:spPr>
          <a:xfrm>
            <a:off x="132443" y="5415404"/>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Canaux de communication plus fluide, réactivité</a:t>
            </a:r>
            <a:endParaRPr lang="fr-FR" sz="700" dirty="0">
              <a:solidFill>
                <a:schemeClr val="tx1"/>
              </a:solidFill>
            </a:endParaRPr>
          </a:p>
        </p:txBody>
      </p:sp>
      <p:sp>
        <p:nvSpPr>
          <p:cNvPr id="78" name="Rectangle 77">
            <a:extLst>
              <a:ext uri="{FF2B5EF4-FFF2-40B4-BE49-F238E27FC236}">
                <a16:creationId xmlns:a16="http://schemas.microsoft.com/office/drawing/2014/main" id="{6340EF7F-557E-F511-5A7E-8BDB8322765B}"/>
              </a:ext>
            </a:extLst>
          </p:cNvPr>
          <p:cNvSpPr/>
          <p:nvPr/>
        </p:nvSpPr>
        <p:spPr>
          <a:xfrm>
            <a:off x="11164871" y="5404635"/>
            <a:ext cx="894686" cy="49044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Canaux de communication plus contrôlés</a:t>
            </a:r>
            <a:endParaRPr lang="fr-FR" sz="700" dirty="0">
              <a:solidFill>
                <a:schemeClr val="tx1"/>
              </a:solidFill>
            </a:endParaRPr>
          </a:p>
        </p:txBody>
      </p:sp>
      <p:sp>
        <p:nvSpPr>
          <p:cNvPr id="2" name="ZoneTexte 1">
            <a:extLst>
              <a:ext uri="{FF2B5EF4-FFF2-40B4-BE49-F238E27FC236}">
                <a16:creationId xmlns:a16="http://schemas.microsoft.com/office/drawing/2014/main" id="{22AEE47F-6567-8745-3384-4521F8D25A4D}"/>
              </a:ext>
            </a:extLst>
          </p:cNvPr>
          <p:cNvSpPr txBox="1"/>
          <p:nvPr/>
        </p:nvSpPr>
        <p:spPr>
          <a:xfrm>
            <a:off x="2882065" y="5041733"/>
            <a:ext cx="1400370" cy="168341"/>
          </a:xfrm>
          <a:prstGeom prst="rect">
            <a:avLst/>
          </a:prstGeom>
          <a:solidFill>
            <a:srgbClr val="54FFB3"/>
          </a:solidFill>
        </p:spPr>
        <p:txBody>
          <a:bodyPr wrap="square" anchor="ctr">
            <a:noAutofit/>
          </a:bodyPr>
          <a:lstStyle/>
          <a:p>
            <a:pPr algn="ctr"/>
            <a:r>
              <a:rPr lang="fr-FR" sz="1000" dirty="0"/>
              <a:t>Avantages</a:t>
            </a:r>
          </a:p>
        </p:txBody>
      </p:sp>
      <p:sp>
        <p:nvSpPr>
          <p:cNvPr id="23" name="ZoneTexte 22">
            <a:extLst>
              <a:ext uri="{FF2B5EF4-FFF2-40B4-BE49-F238E27FC236}">
                <a16:creationId xmlns:a16="http://schemas.microsoft.com/office/drawing/2014/main" id="{31BCE33E-FEFE-83DE-69A5-083C1452C07E}"/>
              </a:ext>
            </a:extLst>
          </p:cNvPr>
          <p:cNvSpPr txBox="1"/>
          <p:nvPr/>
        </p:nvSpPr>
        <p:spPr>
          <a:xfrm>
            <a:off x="7708364" y="5041733"/>
            <a:ext cx="1400370" cy="168341"/>
          </a:xfrm>
          <a:prstGeom prst="rect">
            <a:avLst/>
          </a:prstGeom>
          <a:solidFill>
            <a:srgbClr val="54FFB3"/>
          </a:solidFill>
        </p:spPr>
        <p:txBody>
          <a:bodyPr wrap="square" anchor="ctr">
            <a:noAutofit/>
          </a:bodyPr>
          <a:lstStyle/>
          <a:p>
            <a:pPr algn="ctr"/>
            <a:r>
              <a:rPr lang="fr-FR" sz="1000" dirty="0"/>
              <a:t>Avantages</a:t>
            </a:r>
          </a:p>
        </p:txBody>
      </p:sp>
    </p:spTree>
    <p:extLst>
      <p:ext uri="{BB962C8B-B14F-4D97-AF65-F5344CB8AC3E}">
        <p14:creationId xmlns:p14="http://schemas.microsoft.com/office/powerpoint/2010/main" val="231930177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Titre 1">
            <a:extLst>
              <a:ext uri="{FF2B5EF4-FFF2-40B4-BE49-F238E27FC236}">
                <a16:creationId xmlns:a16="http://schemas.microsoft.com/office/drawing/2014/main" id="{3326F4D9-02CF-735B-750B-6AFB503D2183}"/>
              </a:ext>
            </a:extLst>
          </p:cNvPr>
          <p:cNvSpPr txBox="1">
            <a:spLocks/>
          </p:cNvSpPr>
          <p:nvPr/>
        </p:nvSpPr>
        <p:spPr>
          <a:xfrm>
            <a:off x="4876453" y="4382973"/>
            <a:ext cx="2584264" cy="968492"/>
          </a:xfrm>
          <a:prstGeom prst="rect">
            <a:avLst/>
          </a:prstGeom>
        </p:spPr>
        <p:txBody>
          <a:bodyPr vert="horz" lIns="91440" tIns="45720" rIns="91440" bIns="45720" rtlCol="0" anchor="ctr">
            <a:normAutofit fontScale="925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L’un ou l’autre</a:t>
            </a:r>
          </a:p>
          <a:p>
            <a:pPr algn="ctr"/>
            <a:r>
              <a:rPr lang="fr-FR" sz="1800" dirty="0"/>
              <a:t>Formes intermédiaires (équipes transverses, taskforce, etc.)</a:t>
            </a:r>
          </a:p>
        </p:txBody>
      </p:sp>
      <p:sp>
        <p:nvSpPr>
          <p:cNvPr id="85" name="Flèche : double flèche horizontale 84">
            <a:extLst>
              <a:ext uri="{FF2B5EF4-FFF2-40B4-BE49-F238E27FC236}">
                <a16:creationId xmlns:a16="http://schemas.microsoft.com/office/drawing/2014/main" id="{CF8585DE-A2BF-5C9E-C210-C3AD726911A2}"/>
              </a:ext>
            </a:extLst>
          </p:cNvPr>
          <p:cNvSpPr/>
          <p:nvPr/>
        </p:nvSpPr>
        <p:spPr>
          <a:xfrm>
            <a:off x="421558" y="5344789"/>
            <a:ext cx="11261042" cy="387138"/>
          </a:xfrm>
          <a:prstGeom prst="leftRightArrow">
            <a:avLst/>
          </a:prstGeom>
          <a:gradFill>
            <a:gsLst>
              <a:gs pos="0">
                <a:srgbClr val="ED7D31"/>
              </a:gs>
              <a:gs pos="33000">
                <a:schemeClr val="bg1">
                  <a:lumMod val="75000"/>
                </a:schemeClr>
              </a:gs>
              <a:gs pos="75000">
                <a:srgbClr val="3494BA"/>
              </a:gs>
              <a:gs pos="100000">
                <a:schemeClr val="tx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 name="Rectangle 85">
            <a:extLst>
              <a:ext uri="{FF2B5EF4-FFF2-40B4-BE49-F238E27FC236}">
                <a16:creationId xmlns:a16="http://schemas.microsoft.com/office/drawing/2014/main" id="{478C6FA2-7F59-A411-C93D-7FDF8A217180}"/>
              </a:ext>
            </a:extLst>
          </p:cNvPr>
          <p:cNvSpPr/>
          <p:nvPr/>
        </p:nvSpPr>
        <p:spPr>
          <a:xfrm>
            <a:off x="9888292" y="5727676"/>
            <a:ext cx="1015142" cy="8992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Résoudre une crise récente de Cybersécurité</a:t>
            </a:r>
            <a:endParaRPr lang="fr-FR" sz="800" dirty="0">
              <a:solidFill>
                <a:schemeClr val="tx1"/>
              </a:solidFill>
            </a:endParaRPr>
          </a:p>
        </p:txBody>
      </p:sp>
      <p:sp>
        <p:nvSpPr>
          <p:cNvPr id="87" name="Rectangle 86">
            <a:extLst>
              <a:ext uri="{FF2B5EF4-FFF2-40B4-BE49-F238E27FC236}">
                <a16:creationId xmlns:a16="http://schemas.microsoft.com/office/drawing/2014/main" id="{97B84B3E-E76D-3185-97BA-2DB934A68185}"/>
              </a:ext>
            </a:extLst>
          </p:cNvPr>
          <p:cNvSpPr/>
          <p:nvPr/>
        </p:nvSpPr>
        <p:spPr>
          <a:xfrm>
            <a:off x="7737028" y="5727676"/>
            <a:ext cx="1015142" cy="8992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Répondre à l'aide sur le support psychologique aux salariés</a:t>
            </a:r>
            <a:endParaRPr lang="fr-FR" sz="800" dirty="0">
              <a:solidFill>
                <a:schemeClr val="tx1"/>
              </a:solidFill>
            </a:endParaRPr>
          </a:p>
        </p:txBody>
      </p:sp>
      <p:grpSp>
        <p:nvGrpSpPr>
          <p:cNvPr id="88" name="Groupe 87">
            <a:extLst>
              <a:ext uri="{FF2B5EF4-FFF2-40B4-BE49-F238E27FC236}">
                <a16:creationId xmlns:a16="http://schemas.microsoft.com/office/drawing/2014/main" id="{2E5172DC-B0C8-F79F-7857-6D71DC21B16F}"/>
              </a:ext>
            </a:extLst>
          </p:cNvPr>
          <p:cNvGrpSpPr/>
          <p:nvPr/>
        </p:nvGrpSpPr>
        <p:grpSpPr>
          <a:xfrm>
            <a:off x="9731155" y="2884611"/>
            <a:ext cx="1991465" cy="2442209"/>
            <a:chOff x="8860995" y="282959"/>
            <a:chExt cx="3407094" cy="4178249"/>
          </a:xfrm>
          <a:solidFill>
            <a:schemeClr val="tx1"/>
          </a:solidFill>
        </p:grpSpPr>
        <p:pic>
          <p:nvPicPr>
            <p:cNvPr id="89" name="Graphique 88" descr="Diagramme de flux avec un remplissage uni">
              <a:extLst>
                <a:ext uri="{FF2B5EF4-FFF2-40B4-BE49-F238E27FC236}">
                  <a16:creationId xmlns:a16="http://schemas.microsoft.com/office/drawing/2014/main" id="{7B1FA9F2-0968-F40A-1D16-D178049692A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90" name="Groupe 89">
              <a:extLst>
                <a:ext uri="{FF2B5EF4-FFF2-40B4-BE49-F238E27FC236}">
                  <a16:creationId xmlns:a16="http://schemas.microsoft.com/office/drawing/2014/main" id="{E5A8A27F-179A-F6BD-2251-1C4E19678125}"/>
                </a:ext>
              </a:extLst>
            </p:cNvPr>
            <p:cNvGrpSpPr/>
            <p:nvPr/>
          </p:nvGrpSpPr>
          <p:grpSpPr>
            <a:xfrm>
              <a:off x="8860995" y="282959"/>
              <a:ext cx="3360434" cy="4178249"/>
              <a:chOff x="8860995" y="282959"/>
              <a:chExt cx="3360434" cy="4178249"/>
            </a:xfrm>
            <a:grpFill/>
          </p:grpSpPr>
          <p:pic>
            <p:nvPicPr>
              <p:cNvPr id="91" name="Graphique 90" descr="Diagramme de flux avec un remplissage uni">
                <a:extLst>
                  <a:ext uri="{FF2B5EF4-FFF2-40B4-BE49-F238E27FC236}">
                    <a16:creationId xmlns:a16="http://schemas.microsoft.com/office/drawing/2014/main" id="{B76C4A38-7052-01CB-E58C-ABA99B61EF6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92" name="Graphique 91" descr="Diagramme de flux avec un remplissage uni">
                <a:extLst>
                  <a:ext uri="{FF2B5EF4-FFF2-40B4-BE49-F238E27FC236}">
                    <a16:creationId xmlns:a16="http://schemas.microsoft.com/office/drawing/2014/main" id="{F5B5FF72-9CA0-1165-5FAF-8FDFA191CFE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93" name="Graphique 92" descr="Diagramme de flux avec un remplissage uni">
                <a:extLst>
                  <a:ext uri="{FF2B5EF4-FFF2-40B4-BE49-F238E27FC236}">
                    <a16:creationId xmlns:a16="http://schemas.microsoft.com/office/drawing/2014/main" id="{324C79AA-6FD9-A7F4-44AE-41A7692655A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94" name="Graphique 93" descr="Diagramme de flux avec un remplissage uni">
                <a:extLst>
                  <a:ext uri="{FF2B5EF4-FFF2-40B4-BE49-F238E27FC236}">
                    <a16:creationId xmlns:a16="http://schemas.microsoft.com/office/drawing/2014/main" id="{6EF867F2-2F26-BB06-B8F6-B34C50FDE8E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95" name="Graphique 94" descr="Diagramme de flux avec un remplissage uni">
                <a:extLst>
                  <a:ext uri="{FF2B5EF4-FFF2-40B4-BE49-F238E27FC236}">
                    <a16:creationId xmlns:a16="http://schemas.microsoft.com/office/drawing/2014/main" id="{997830FD-EC9F-EFE5-5C8E-FA116DCEEBA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96" name="Graphique 95" descr="Diagramme de flux avec un remplissage uni">
                <a:extLst>
                  <a:ext uri="{FF2B5EF4-FFF2-40B4-BE49-F238E27FC236}">
                    <a16:creationId xmlns:a16="http://schemas.microsoft.com/office/drawing/2014/main" id="{5792D281-6FAB-D3E8-C460-CAB85D971A8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97" name="Graphique 96" descr="Diagramme de flux avec un remplissage uni">
                <a:extLst>
                  <a:ext uri="{FF2B5EF4-FFF2-40B4-BE49-F238E27FC236}">
                    <a16:creationId xmlns:a16="http://schemas.microsoft.com/office/drawing/2014/main" id="{C8E6E8AB-58CB-6C06-46E1-8511236153D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98" name="Graphique 97" descr="Diagramme de flux avec un remplissage uni">
                <a:extLst>
                  <a:ext uri="{FF2B5EF4-FFF2-40B4-BE49-F238E27FC236}">
                    <a16:creationId xmlns:a16="http://schemas.microsoft.com/office/drawing/2014/main" id="{0CA065C2-5333-B881-5A2A-90F775AACD7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99" name="Graphique 98" descr="Diagramme de flux avec un remplissage uni">
                <a:extLst>
                  <a:ext uri="{FF2B5EF4-FFF2-40B4-BE49-F238E27FC236}">
                    <a16:creationId xmlns:a16="http://schemas.microsoft.com/office/drawing/2014/main" id="{DE47146C-3725-4498-C000-060BA3C1869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100" name="Graphique 99" descr="Diagramme de flux avec un remplissage uni">
                <a:extLst>
                  <a:ext uri="{FF2B5EF4-FFF2-40B4-BE49-F238E27FC236}">
                    <a16:creationId xmlns:a16="http://schemas.microsoft.com/office/drawing/2014/main" id="{650109E2-F0BD-1507-0FFF-DE8FF3805DA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101" name="Graphique 100" descr="Diagramme de flux avec un remplissage uni">
                <a:extLst>
                  <a:ext uri="{FF2B5EF4-FFF2-40B4-BE49-F238E27FC236}">
                    <a16:creationId xmlns:a16="http://schemas.microsoft.com/office/drawing/2014/main" id="{474F6F3D-FE97-F4C5-318C-BEF8A4E0D94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102" name="Graphique 101" descr="Diagramme de flux avec un remplissage uni">
                <a:extLst>
                  <a:ext uri="{FF2B5EF4-FFF2-40B4-BE49-F238E27FC236}">
                    <a16:creationId xmlns:a16="http://schemas.microsoft.com/office/drawing/2014/main" id="{7C95C397-DC5B-0D73-9FED-6B3F3E398EB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103" name="Graphique 102" descr="Diagramme de flux avec un remplissage uni">
                <a:extLst>
                  <a:ext uri="{FF2B5EF4-FFF2-40B4-BE49-F238E27FC236}">
                    <a16:creationId xmlns:a16="http://schemas.microsoft.com/office/drawing/2014/main" id="{6A7585B3-E322-A0B4-649F-59609BC4EEF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104" name="Graphique 103" descr="Diagramme de flux avec un remplissage uni">
                <a:extLst>
                  <a:ext uri="{FF2B5EF4-FFF2-40B4-BE49-F238E27FC236}">
                    <a16:creationId xmlns:a16="http://schemas.microsoft.com/office/drawing/2014/main" id="{2234F2F6-6150-042D-34A5-435C0B32A6F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105" name="Graphique 104" descr="Diagramme de flux avec un remplissage uni">
                <a:extLst>
                  <a:ext uri="{FF2B5EF4-FFF2-40B4-BE49-F238E27FC236}">
                    <a16:creationId xmlns:a16="http://schemas.microsoft.com/office/drawing/2014/main" id="{1CBFCB62-8464-0D01-148C-1815779FE97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106" name="Graphique 105" descr="Diagramme de flux avec un remplissage uni">
                <a:extLst>
                  <a:ext uri="{FF2B5EF4-FFF2-40B4-BE49-F238E27FC236}">
                    <a16:creationId xmlns:a16="http://schemas.microsoft.com/office/drawing/2014/main" id="{FD435E30-A34F-C2A1-8FC2-D85231A6536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sp>
        <p:nvSpPr>
          <p:cNvPr id="107" name="Forme libre : forme 106">
            <a:extLst>
              <a:ext uri="{FF2B5EF4-FFF2-40B4-BE49-F238E27FC236}">
                <a16:creationId xmlns:a16="http://schemas.microsoft.com/office/drawing/2014/main" id="{ADA138BA-04D7-D611-C5EA-107136030AAC}"/>
              </a:ext>
            </a:extLst>
          </p:cNvPr>
          <p:cNvSpPr/>
          <p:nvPr/>
        </p:nvSpPr>
        <p:spPr>
          <a:xfrm>
            <a:off x="226279" y="3208314"/>
            <a:ext cx="1846868" cy="121566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7620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08" name="Forme libre : forme 107">
            <a:extLst>
              <a:ext uri="{FF2B5EF4-FFF2-40B4-BE49-F238E27FC236}">
                <a16:creationId xmlns:a16="http://schemas.microsoft.com/office/drawing/2014/main" id="{9BC62DA7-0774-D8DF-6DDD-812B3D8AF3E3}"/>
              </a:ext>
            </a:extLst>
          </p:cNvPr>
          <p:cNvSpPr/>
          <p:nvPr/>
        </p:nvSpPr>
        <p:spPr>
          <a:xfrm>
            <a:off x="1593996" y="4105716"/>
            <a:ext cx="1102884" cy="1184321"/>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7620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09" name="Forme libre : forme 108">
            <a:extLst>
              <a:ext uri="{FF2B5EF4-FFF2-40B4-BE49-F238E27FC236}">
                <a16:creationId xmlns:a16="http://schemas.microsoft.com/office/drawing/2014/main" id="{96652759-F9B2-332D-18A3-5C0DA37363C7}"/>
              </a:ext>
            </a:extLst>
          </p:cNvPr>
          <p:cNvSpPr/>
          <p:nvPr/>
        </p:nvSpPr>
        <p:spPr>
          <a:xfrm>
            <a:off x="304047" y="4064421"/>
            <a:ext cx="1482348" cy="598041"/>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7620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0" name="Groupe 109">
            <a:extLst>
              <a:ext uri="{FF2B5EF4-FFF2-40B4-BE49-F238E27FC236}">
                <a16:creationId xmlns:a16="http://schemas.microsoft.com/office/drawing/2014/main" id="{C9E296BE-C66E-C351-EFCC-DFD90C02F615}"/>
              </a:ext>
            </a:extLst>
          </p:cNvPr>
          <p:cNvGrpSpPr/>
          <p:nvPr/>
        </p:nvGrpSpPr>
        <p:grpSpPr>
          <a:xfrm>
            <a:off x="4752721" y="1766546"/>
            <a:ext cx="2470601" cy="2442209"/>
            <a:chOff x="7436625" y="1695833"/>
            <a:chExt cx="4404256" cy="4353642"/>
          </a:xfrm>
        </p:grpSpPr>
        <p:grpSp>
          <p:nvGrpSpPr>
            <p:cNvPr id="111" name="Groupe 110">
              <a:extLst>
                <a:ext uri="{FF2B5EF4-FFF2-40B4-BE49-F238E27FC236}">
                  <a16:creationId xmlns:a16="http://schemas.microsoft.com/office/drawing/2014/main" id="{9465B0E9-44CB-590F-C09F-D91AC38D00FD}"/>
                </a:ext>
              </a:extLst>
            </p:cNvPr>
            <p:cNvGrpSpPr/>
            <p:nvPr/>
          </p:nvGrpSpPr>
          <p:grpSpPr>
            <a:xfrm>
              <a:off x="8001696" y="1695833"/>
              <a:ext cx="3550117" cy="4353642"/>
              <a:chOff x="8860995" y="282959"/>
              <a:chExt cx="3407094" cy="4178249"/>
            </a:xfrm>
            <a:solidFill>
              <a:schemeClr val="tx1"/>
            </a:solidFill>
          </p:grpSpPr>
          <p:pic>
            <p:nvPicPr>
              <p:cNvPr id="115" name="Graphique 114" descr="Diagramme de flux avec un remplissage uni">
                <a:extLst>
                  <a:ext uri="{FF2B5EF4-FFF2-40B4-BE49-F238E27FC236}">
                    <a16:creationId xmlns:a16="http://schemas.microsoft.com/office/drawing/2014/main" id="{A6F91664-A41C-26DA-4EF2-849B4345AED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116" name="Groupe 115">
                <a:extLst>
                  <a:ext uri="{FF2B5EF4-FFF2-40B4-BE49-F238E27FC236}">
                    <a16:creationId xmlns:a16="http://schemas.microsoft.com/office/drawing/2014/main" id="{BCE261CC-B91D-7D03-CAF7-F8130BE1F491}"/>
                  </a:ext>
                </a:extLst>
              </p:cNvPr>
              <p:cNvGrpSpPr/>
              <p:nvPr/>
            </p:nvGrpSpPr>
            <p:grpSpPr>
              <a:xfrm>
                <a:off x="8860995" y="282959"/>
                <a:ext cx="3360434" cy="4178249"/>
                <a:chOff x="8860995" y="282959"/>
                <a:chExt cx="3360434" cy="4178249"/>
              </a:xfrm>
              <a:grpFill/>
            </p:grpSpPr>
            <p:pic>
              <p:nvPicPr>
                <p:cNvPr id="117" name="Graphique 116" descr="Diagramme de flux avec un remplissage uni">
                  <a:extLst>
                    <a:ext uri="{FF2B5EF4-FFF2-40B4-BE49-F238E27FC236}">
                      <a16:creationId xmlns:a16="http://schemas.microsoft.com/office/drawing/2014/main" id="{E0A56D2B-ABC7-7A5C-543D-284589B9303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118" name="Graphique 117" descr="Diagramme de flux avec un remplissage uni">
                  <a:extLst>
                    <a:ext uri="{FF2B5EF4-FFF2-40B4-BE49-F238E27FC236}">
                      <a16:creationId xmlns:a16="http://schemas.microsoft.com/office/drawing/2014/main" id="{7522A6E5-D95A-2A59-3BF0-DAD7E271FD3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119" name="Graphique 118" descr="Diagramme de flux avec un remplissage uni">
                  <a:extLst>
                    <a:ext uri="{FF2B5EF4-FFF2-40B4-BE49-F238E27FC236}">
                      <a16:creationId xmlns:a16="http://schemas.microsoft.com/office/drawing/2014/main" id="{DC33FD15-16E3-85B3-C1EF-CEF60849184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120" name="Graphique 119" descr="Diagramme de flux avec un remplissage uni">
                  <a:extLst>
                    <a:ext uri="{FF2B5EF4-FFF2-40B4-BE49-F238E27FC236}">
                      <a16:creationId xmlns:a16="http://schemas.microsoft.com/office/drawing/2014/main" id="{CCAD7145-AA58-9916-2924-C3541A07565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121" name="Graphique 120" descr="Diagramme de flux avec un remplissage uni">
                  <a:extLst>
                    <a:ext uri="{FF2B5EF4-FFF2-40B4-BE49-F238E27FC236}">
                      <a16:creationId xmlns:a16="http://schemas.microsoft.com/office/drawing/2014/main" id="{E397A50D-40B8-6201-CC6E-7DD1429637D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122" name="Graphique 121" descr="Diagramme de flux avec un remplissage uni">
                  <a:extLst>
                    <a:ext uri="{FF2B5EF4-FFF2-40B4-BE49-F238E27FC236}">
                      <a16:creationId xmlns:a16="http://schemas.microsoft.com/office/drawing/2014/main" id="{9B50EEDF-53BA-26A8-7804-FEA9CCFF0BA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123" name="Graphique 122" descr="Diagramme de flux avec un remplissage uni">
                  <a:extLst>
                    <a:ext uri="{FF2B5EF4-FFF2-40B4-BE49-F238E27FC236}">
                      <a16:creationId xmlns:a16="http://schemas.microsoft.com/office/drawing/2014/main" id="{389AF953-BEDF-D49F-BFF1-DE405542B41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124" name="Graphique 123" descr="Diagramme de flux avec un remplissage uni">
                  <a:extLst>
                    <a:ext uri="{FF2B5EF4-FFF2-40B4-BE49-F238E27FC236}">
                      <a16:creationId xmlns:a16="http://schemas.microsoft.com/office/drawing/2014/main" id="{C964DDF2-894A-BDF1-5519-D2449F3EA4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125" name="Graphique 124" descr="Diagramme de flux avec un remplissage uni">
                  <a:extLst>
                    <a:ext uri="{FF2B5EF4-FFF2-40B4-BE49-F238E27FC236}">
                      <a16:creationId xmlns:a16="http://schemas.microsoft.com/office/drawing/2014/main" id="{9838770A-2D11-3032-9BE0-632915C47CD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126" name="Graphique 125" descr="Diagramme de flux avec un remplissage uni">
                  <a:extLst>
                    <a:ext uri="{FF2B5EF4-FFF2-40B4-BE49-F238E27FC236}">
                      <a16:creationId xmlns:a16="http://schemas.microsoft.com/office/drawing/2014/main" id="{ACA79AA9-5EC6-2665-7341-BA534DF022F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127" name="Graphique 126" descr="Diagramme de flux avec un remplissage uni">
                  <a:extLst>
                    <a:ext uri="{FF2B5EF4-FFF2-40B4-BE49-F238E27FC236}">
                      <a16:creationId xmlns:a16="http://schemas.microsoft.com/office/drawing/2014/main" id="{1675BAD3-D612-D222-4951-19FC64EBDD8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128" name="Graphique 127" descr="Diagramme de flux avec un remplissage uni">
                  <a:extLst>
                    <a:ext uri="{FF2B5EF4-FFF2-40B4-BE49-F238E27FC236}">
                      <a16:creationId xmlns:a16="http://schemas.microsoft.com/office/drawing/2014/main" id="{0C3B172C-85C2-EAEE-65E0-52B429C4313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129" name="Graphique 128" descr="Diagramme de flux avec un remplissage uni">
                  <a:extLst>
                    <a:ext uri="{FF2B5EF4-FFF2-40B4-BE49-F238E27FC236}">
                      <a16:creationId xmlns:a16="http://schemas.microsoft.com/office/drawing/2014/main" id="{796BEE5B-100B-0488-D25B-27D74D53C84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130" name="Graphique 129" descr="Diagramme de flux avec un remplissage uni">
                  <a:extLst>
                    <a:ext uri="{FF2B5EF4-FFF2-40B4-BE49-F238E27FC236}">
                      <a16:creationId xmlns:a16="http://schemas.microsoft.com/office/drawing/2014/main" id="{91C9DEDC-8F7B-9FF6-ACA7-A89F3E8F3AF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131" name="Graphique 130" descr="Diagramme de flux avec un remplissage uni">
                  <a:extLst>
                    <a:ext uri="{FF2B5EF4-FFF2-40B4-BE49-F238E27FC236}">
                      <a16:creationId xmlns:a16="http://schemas.microsoft.com/office/drawing/2014/main" id="{98E179F3-8549-322E-7926-08FCF03E2C7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132" name="Graphique 131" descr="Diagramme de flux avec un remplissage uni">
                  <a:extLst>
                    <a:ext uri="{FF2B5EF4-FFF2-40B4-BE49-F238E27FC236}">
                      <a16:creationId xmlns:a16="http://schemas.microsoft.com/office/drawing/2014/main" id="{57EBF471-A9C3-4B5B-BB8D-B71BF42625FA}"/>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sp>
          <p:nvSpPr>
            <p:cNvPr id="112" name="Forme libre : forme 111">
              <a:extLst>
                <a:ext uri="{FF2B5EF4-FFF2-40B4-BE49-F238E27FC236}">
                  <a16:creationId xmlns:a16="http://schemas.microsoft.com/office/drawing/2014/main" id="{935BE1CB-852E-0F5C-8BA3-7E1192629D06}"/>
                </a:ext>
              </a:extLst>
            </p:cNvPr>
            <p:cNvSpPr/>
            <p:nvPr/>
          </p:nvSpPr>
          <p:spPr>
            <a:xfrm>
              <a:off x="7436625" y="2264965"/>
              <a:ext cx="3292349" cy="2167128"/>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7620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3" name="Forme libre : forme 112">
              <a:extLst>
                <a:ext uri="{FF2B5EF4-FFF2-40B4-BE49-F238E27FC236}">
                  <a16:creationId xmlns:a16="http://schemas.microsoft.com/office/drawing/2014/main" id="{74F4BF04-D2B4-A4F9-9C73-4BAF5BFEB656}"/>
                </a:ext>
              </a:extLst>
            </p:cNvPr>
            <p:cNvSpPr/>
            <p:nvPr/>
          </p:nvSpPr>
          <p:spPr>
            <a:xfrm>
              <a:off x="9874807" y="3864733"/>
              <a:ext cx="1966074" cy="2111248"/>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7620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4" name="Forme libre : forme 113">
              <a:extLst>
                <a:ext uri="{FF2B5EF4-FFF2-40B4-BE49-F238E27FC236}">
                  <a16:creationId xmlns:a16="http://schemas.microsoft.com/office/drawing/2014/main" id="{1AEA74C2-974D-7CBB-D4D8-A9A40BE603D3}"/>
                </a:ext>
              </a:extLst>
            </p:cNvPr>
            <p:cNvSpPr/>
            <p:nvPr/>
          </p:nvSpPr>
          <p:spPr>
            <a:xfrm>
              <a:off x="7575259" y="3791118"/>
              <a:ext cx="2642532" cy="1066108"/>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7620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133" name="Flèche : gauche 132">
            <a:extLst>
              <a:ext uri="{FF2B5EF4-FFF2-40B4-BE49-F238E27FC236}">
                <a16:creationId xmlns:a16="http://schemas.microsoft.com/office/drawing/2014/main" id="{4F3015D2-879C-BDC0-0BEF-B470CCADDC6E}"/>
              </a:ext>
            </a:extLst>
          </p:cNvPr>
          <p:cNvSpPr/>
          <p:nvPr/>
        </p:nvSpPr>
        <p:spPr>
          <a:xfrm rot="19613656">
            <a:off x="3027502" y="3139162"/>
            <a:ext cx="1259499" cy="623864"/>
          </a:xfrm>
          <a:prstGeom prst="lef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 name="Flèche : gauche 133">
            <a:extLst>
              <a:ext uri="{FF2B5EF4-FFF2-40B4-BE49-F238E27FC236}">
                <a16:creationId xmlns:a16="http://schemas.microsoft.com/office/drawing/2014/main" id="{49C0507A-1EEB-92D9-0D20-6A470265C284}"/>
              </a:ext>
            </a:extLst>
          </p:cNvPr>
          <p:cNvSpPr/>
          <p:nvPr/>
        </p:nvSpPr>
        <p:spPr>
          <a:xfrm rot="2173003" flipH="1">
            <a:off x="8031689" y="3154339"/>
            <a:ext cx="1189456" cy="623864"/>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 name="Titre 1">
            <a:extLst>
              <a:ext uri="{FF2B5EF4-FFF2-40B4-BE49-F238E27FC236}">
                <a16:creationId xmlns:a16="http://schemas.microsoft.com/office/drawing/2014/main" id="{A5618FAE-D13A-53DB-E0BF-00D114B23310}"/>
              </a:ext>
            </a:extLst>
          </p:cNvPr>
          <p:cNvSpPr txBox="1">
            <a:spLocks/>
          </p:cNvSpPr>
          <p:nvPr/>
        </p:nvSpPr>
        <p:spPr>
          <a:xfrm>
            <a:off x="207604" y="2151494"/>
            <a:ext cx="2584264"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Communautés d’entreprise </a:t>
            </a:r>
          </a:p>
        </p:txBody>
      </p:sp>
      <p:sp>
        <p:nvSpPr>
          <p:cNvPr id="136" name="Titre 1">
            <a:extLst>
              <a:ext uri="{FF2B5EF4-FFF2-40B4-BE49-F238E27FC236}">
                <a16:creationId xmlns:a16="http://schemas.microsoft.com/office/drawing/2014/main" id="{7989E85E-26C3-BA11-C4C3-BC285E5E0A48}"/>
              </a:ext>
            </a:extLst>
          </p:cNvPr>
          <p:cNvSpPr txBox="1">
            <a:spLocks/>
          </p:cNvSpPr>
          <p:nvPr/>
        </p:nvSpPr>
        <p:spPr>
          <a:xfrm>
            <a:off x="9219828" y="2151494"/>
            <a:ext cx="2792840" cy="59223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Formats traditionnels (équipes, département, poste officiel etc.)</a:t>
            </a:r>
          </a:p>
        </p:txBody>
      </p:sp>
      <p:sp>
        <p:nvSpPr>
          <p:cNvPr id="137" name="Titre 1">
            <a:extLst>
              <a:ext uri="{FF2B5EF4-FFF2-40B4-BE49-F238E27FC236}">
                <a16:creationId xmlns:a16="http://schemas.microsoft.com/office/drawing/2014/main" id="{FE3F54C2-1B17-2A52-0AB9-0B09D89A80D9}"/>
              </a:ext>
            </a:extLst>
          </p:cNvPr>
          <p:cNvSpPr>
            <a:spLocks noGrp="1"/>
          </p:cNvSpPr>
          <p:nvPr>
            <p:ph type="title"/>
          </p:nvPr>
        </p:nvSpPr>
        <p:spPr>
          <a:xfrm>
            <a:off x="838200" y="365125"/>
            <a:ext cx="10515600" cy="1325563"/>
          </a:xfrm>
        </p:spPr>
        <p:txBody>
          <a:bodyPr/>
          <a:lstStyle/>
          <a:p>
            <a:r>
              <a:rPr lang="fr-FR" dirty="0"/>
              <a:t>Formats adaptés pour des fonctions</a:t>
            </a:r>
          </a:p>
        </p:txBody>
      </p:sp>
      <p:sp>
        <p:nvSpPr>
          <p:cNvPr id="138" name="Rectangle 137">
            <a:extLst>
              <a:ext uri="{FF2B5EF4-FFF2-40B4-BE49-F238E27FC236}">
                <a16:creationId xmlns:a16="http://schemas.microsoft.com/office/drawing/2014/main" id="{B0859A39-03D8-F038-99F4-5882F3AEDF55}"/>
              </a:ext>
            </a:extLst>
          </p:cNvPr>
          <p:cNvSpPr/>
          <p:nvPr/>
        </p:nvSpPr>
        <p:spPr>
          <a:xfrm>
            <a:off x="8812660" y="5727676"/>
            <a:ext cx="1015142" cy="8992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Répondre à la hotline H24 du support client</a:t>
            </a:r>
            <a:endParaRPr lang="fr-FR" sz="800" dirty="0">
              <a:solidFill>
                <a:schemeClr val="tx1"/>
              </a:solidFill>
            </a:endParaRPr>
          </a:p>
        </p:txBody>
      </p:sp>
      <p:sp>
        <p:nvSpPr>
          <p:cNvPr id="140" name="Rectangle 139">
            <a:extLst>
              <a:ext uri="{FF2B5EF4-FFF2-40B4-BE49-F238E27FC236}">
                <a16:creationId xmlns:a16="http://schemas.microsoft.com/office/drawing/2014/main" id="{A9BDB07F-B9FB-2D4D-8F31-464D3434D163}"/>
              </a:ext>
            </a:extLst>
          </p:cNvPr>
          <p:cNvSpPr/>
          <p:nvPr/>
        </p:nvSpPr>
        <p:spPr>
          <a:xfrm>
            <a:off x="2358868" y="5727676"/>
            <a:ext cx="1015142" cy="8992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Découvrir une nouvelle technologie qui pourrait être utilisée dans 2 ans</a:t>
            </a:r>
            <a:endParaRPr lang="fr-FR" sz="800" dirty="0">
              <a:solidFill>
                <a:schemeClr val="tx1"/>
              </a:solidFill>
            </a:endParaRPr>
          </a:p>
        </p:txBody>
      </p:sp>
      <p:sp>
        <p:nvSpPr>
          <p:cNvPr id="141" name="Rectangle 140">
            <a:extLst>
              <a:ext uri="{FF2B5EF4-FFF2-40B4-BE49-F238E27FC236}">
                <a16:creationId xmlns:a16="http://schemas.microsoft.com/office/drawing/2014/main" id="{7123C70F-4521-726D-9B6C-F53AE39A63B1}"/>
              </a:ext>
            </a:extLst>
          </p:cNvPr>
          <p:cNvSpPr/>
          <p:nvPr/>
        </p:nvSpPr>
        <p:spPr>
          <a:xfrm>
            <a:off x="1283236" y="5727676"/>
            <a:ext cx="1015142" cy="8992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Faire de la veille sur un sujet technologique pas encore viable économiquement</a:t>
            </a:r>
            <a:endParaRPr lang="fr-FR" sz="800" dirty="0">
              <a:solidFill>
                <a:schemeClr val="tx1"/>
              </a:solidFill>
            </a:endParaRPr>
          </a:p>
        </p:txBody>
      </p:sp>
      <p:sp>
        <p:nvSpPr>
          <p:cNvPr id="142" name="Rectangle 141">
            <a:extLst>
              <a:ext uri="{FF2B5EF4-FFF2-40B4-BE49-F238E27FC236}">
                <a16:creationId xmlns:a16="http://schemas.microsoft.com/office/drawing/2014/main" id="{987F6254-583E-210F-2E79-38014883DA24}"/>
              </a:ext>
            </a:extLst>
          </p:cNvPr>
          <p:cNvSpPr/>
          <p:nvPr/>
        </p:nvSpPr>
        <p:spPr>
          <a:xfrm>
            <a:off x="10963925" y="5727676"/>
            <a:ext cx="1015142" cy="8992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Mettre en conformité légale les comptes de l'entreprise</a:t>
            </a:r>
            <a:endParaRPr lang="fr-FR" sz="800" dirty="0">
              <a:solidFill>
                <a:schemeClr val="tx1"/>
              </a:solidFill>
            </a:endParaRPr>
          </a:p>
        </p:txBody>
      </p:sp>
      <p:sp>
        <p:nvSpPr>
          <p:cNvPr id="143" name="Rectangle 142">
            <a:extLst>
              <a:ext uri="{FF2B5EF4-FFF2-40B4-BE49-F238E27FC236}">
                <a16:creationId xmlns:a16="http://schemas.microsoft.com/office/drawing/2014/main" id="{634D6FCC-8915-E8DC-3CE9-F5A2086D58F6}"/>
              </a:ext>
            </a:extLst>
          </p:cNvPr>
          <p:cNvSpPr/>
          <p:nvPr/>
        </p:nvSpPr>
        <p:spPr>
          <a:xfrm>
            <a:off x="6661396" y="5727676"/>
            <a:ext cx="1015142" cy="8992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Aligner les pratiques QVCT à l'échelle de l'entreprise</a:t>
            </a:r>
            <a:endParaRPr lang="fr-FR" sz="800" dirty="0">
              <a:solidFill>
                <a:schemeClr val="tx1"/>
              </a:solidFill>
            </a:endParaRPr>
          </a:p>
        </p:txBody>
      </p:sp>
      <p:sp>
        <p:nvSpPr>
          <p:cNvPr id="144" name="Rectangle 143">
            <a:extLst>
              <a:ext uri="{FF2B5EF4-FFF2-40B4-BE49-F238E27FC236}">
                <a16:creationId xmlns:a16="http://schemas.microsoft.com/office/drawing/2014/main" id="{BBA3DA1B-E701-D30A-897A-9C55AFA369E6}"/>
              </a:ext>
            </a:extLst>
          </p:cNvPr>
          <p:cNvSpPr/>
          <p:nvPr/>
        </p:nvSpPr>
        <p:spPr>
          <a:xfrm>
            <a:off x="5585764" y="5727676"/>
            <a:ext cx="1015142" cy="8992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Répondre à l'aide sur le support d'un nouvel outil digital</a:t>
            </a:r>
            <a:endParaRPr lang="fr-FR" sz="800" dirty="0">
              <a:solidFill>
                <a:schemeClr val="tx1"/>
              </a:solidFill>
            </a:endParaRPr>
          </a:p>
        </p:txBody>
      </p:sp>
      <p:sp>
        <p:nvSpPr>
          <p:cNvPr id="145" name="Rectangle 144">
            <a:extLst>
              <a:ext uri="{FF2B5EF4-FFF2-40B4-BE49-F238E27FC236}">
                <a16:creationId xmlns:a16="http://schemas.microsoft.com/office/drawing/2014/main" id="{DB76CF9E-38BA-3EA6-DA2F-D3675FC0591D}"/>
              </a:ext>
            </a:extLst>
          </p:cNvPr>
          <p:cNvSpPr/>
          <p:nvPr/>
        </p:nvSpPr>
        <p:spPr>
          <a:xfrm>
            <a:off x="3434500" y="5727676"/>
            <a:ext cx="1015142" cy="8992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Tester différents outils digitaux pour choisir celui qui convient</a:t>
            </a:r>
            <a:endParaRPr lang="fr-FR" sz="800" dirty="0">
              <a:solidFill>
                <a:schemeClr val="tx1"/>
              </a:solidFill>
            </a:endParaRPr>
          </a:p>
        </p:txBody>
      </p:sp>
      <p:sp>
        <p:nvSpPr>
          <p:cNvPr id="146" name="Rectangle 145">
            <a:extLst>
              <a:ext uri="{FF2B5EF4-FFF2-40B4-BE49-F238E27FC236}">
                <a16:creationId xmlns:a16="http://schemas.microsoft.com/office/drawing/2014/main" id="{3F66FFAA-2CCE-7A90-B940-F0B12C729084}"/>
              </a:ext>
            </a:extLst>
          </p:cNvPr>
          <p:cNvSpPr/>
          <p:nvPr/>
        </p:nvSpPr>
        <p:spPr>
          <a:xfrm>
            <a:off x="207604" y="5727676"/>
            <a:ext cx="1015142" cy="8992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Partager sur des sujets de l'ordre du personnel (loisirs, religions, etc.)</a:t>
            </a:r>
            <a:endParaRPr lang="fr-FR" sz="800" dirty="0">
              <a:solidFill>
                <a:schemeClr val="tx1"/>
              </a:solidFill>
            </a:endParaRPr>
          </a:p>
        </p:txBody>
      </p:sp>
      <p:sp>
        <p:nvSpPr>
          <p:cNvPr id="147" name="Rectangle 146">
            <a:extLst>
              <a:ext uri="{FF2B5EF4-FFF2-40B4-BE49-F238E27FC236}">
                <a16:creationId xmlns:a16="http://schemas.microsoft.com/office/drawing/2014/main" id="{A7F6FA38-75BC-E258-972F-7D88309BC6C2}"/>
              </a:ext>
            </a:extLst>
          </p:cNvPr>
          <p:cNvSpPr/>
          <p:nvPr/>
        </p:nvSpPr>
        <p:spPr>
          <a:xfrm>
            <a:off x="4510132" y="5727676"/>
            <a:ext cx="1015142" cy="89925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Partager des trucs et astuces sur un nouvel outil digital utilisé</a:t>
            </a:r>
            <a:endParaRPr lang="fr-FR" sz="800" dirty="0">
              <a:solidFill>
                <a:schemeClr val="tx1"/>
              </a:solidFill>
            </a:endParaRPr>
          </a:p>
        </p:txBody>
      </p:sp>
    </p:spTree>
    <p:extLst>
      <p:ext uri="{BB962C8B-B14F-4D97-AF65-F5344CB8AC3E}">
        <p14:creationId xmlns:p14="http://schemas.microsoft.com/office/powerpoint/2010/main" val="171329017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Graphique 22" descr="Engrenage avec un remplissage uni">
            <a:extLst>
              <a:ext uri="{FF2B5EF4-FFF2-40B4-BE49-F238E27FC236}">
                <a16:creationId xmlns:a16="http://schemas.microsoft.com/office/drawing/2014/main" id="{8B0494DE-A3D7-EBFC-2410-887C097A415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735983" y="2803295"/>
            <a:ext cx="1103543" cy="1056947"/>
          </a:xfrm>
          <a:prstGeom prst="rect">
            <a:avLst/>
          </a:prstGeom>
        </p:spPr>
      </p:pic>
      <p:pic>
        <p:nvPicPr>
          <p:cNvPr id="44" name="Graphique 43" descr="Papier contour">
            <a:extLst>
              <a:ext uri="{FF2B5EF4-FFF2-40B4-BE49-F238E27FC236}">
                <a16:creationId xmlns:a16="http://schemas.microsoft.com/office/drawing/2014/main" id="{690C803E-E7E1-73C8-DB7B-7464570A21D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61718" y="2397604"/>
            <a:ext cx="1836599" cy="1836599"/>
          </a:xfrm>
          <a:prstGeom prst="rect">
            <a:avLst/>
          </a:prstGeom>
        </p:spPr>
      </p:pic>
      <p:pic>
        <p:nvPicPr>
          <p:cNvPr id="17" name="Graphique 16" descr="Bâtiment avec un remplissage uni">
            <a:extLst>
              <a:ext uri="{FF2B5EF4-FFF2-40B4-BE49-F238E27FC236}">
                <a16:creationId xmlns:a16="http://schemas.microsoft.com/office/drawing/2014/main" id="{6F9756EA-9041-6581-6C21-DFFAAEAD158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536621" y="2567940"/>
            <a:ext cx="1722120" cy="1722120"/>
          </a:xfrm>
          <a:prstGeom prst="rect">
            <a:avLst/>
          </a:prstGeom>
        </p:spPr>
      </p:pic>
      <p:sp>
        <p:nvSpPr>
          <p:cNvPr id="2" name="Titre 1">
            <a:extLst>
              <a:ext uri="{FF2B5EF4-FFF2-40B4-BE49-F238E27FC236}">
                <a16:creationId xmlns:a16="http://schemas.microsoft.com/office/drawing/2014/main" id="{5F7F128A-E85B-7F5C-0E54-8AA2C5135C21}"/>
              </a:ext>
            </a:extLst>
          </p:cNvPr>
          <p:cNvSpPr>
            <a:spLocks noGrp="1"/>
          </p:cNvSpPr>
          <p:nvPr>
            <p:ph type="title"/>
          </p:nvPr>
        </p:nvSpPr>
        <p:spPr/>
        <p:txBody>
          <a:bodyPr/>
          <a:lstStyle/>
          <a:p>
            <a:r>
              <a:rPr lang="fr-FR" dirty="0"/>
              <a:t>Dans la pratique, une communauté d’entreprise, c’est…</a:t>
            </a:r>
          </a:p>
        </p:txBody>
      </p:sp>
      <p:grpSp>
        <p:nvGrpSpPr>
          <p:cNvPr id="4" name="Groupe 3">
            <a:extLst>
              <a:ext uri="{FF2B5EF4-FFF2-40B4-BE49-F238E27FC236}">
                <a16:creationId xmlns:a16="http://schemas.microsoft.com/office/drawing/2014/main" id="{8A3EEBD6-F5FB-6F80-1B5D-6CB7EC8BC494}"/>
              </a:ext>
            </a:extLst>
          </p:cNvPr>
          <p:cNvGrpSpPr/>
          <p:nvPr/>
        </p:nvGrpSpPr>
        <p:grpSpPr>
          <a:xfrm>
            <a:off x="600996" y="3244305"/>
            <a:ext cx="1507135" cy="1270634"/>
            <a:chOff x="8982504" y="3274976"/>
            <a:chExt cx="1230670" cy="1037553"/>
          </a:xfrm>
          <a:solidFill>
            <a:srgbClr val="ED7D31"/>
          </a:solidFill>
        </p:grpSpPr>
        <p:pic>
          <p:nvPicPr>
            <p:cNvPr id="5" name="Graphique 4" descr="Utilisateur avec un remplissage uni">
              <a:extLst>
                <a:ext uri="{FF2B5EF4-FFF2-40B4-BE49-F238E27FC236}">
                  <a16:creationId xmlns:a16="http://schemas.microsoft.com/office/drawing/2014/main" id="{233DCF44-FEF5-72B2-B445-7CEF043B00E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6" name="Graphique 5" descr="Utilisateur avec un remplissage uni">
              <a:extLst>
                <a:ext uri="{FF2B5EF4-FFF2-40B4-BE49-F238E27FC236}">
                  <a16:creationId xmlns:a16="http://schemas.microsoft.com/office/drawing/2014/main" id="{44B93AD6-A2FF-0E50-5597-8BA8ADBC0F2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7" name="Graphique 6" descr="Utilisateur avec un remplissage uni">
              <a:extLst>
                <a:ext uri="{FF2B5EF4-FFF2-40B4-BE49-F238E27FC236}">
                  <a16:creationId xmlns:a16="http://schemas.microsoft.com/office/drawing/2014/main" id="{FFEF824F-BF6C-DEEA-7971-E51B981FDAD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45616" y="3561880"/>
              <a:ext cx="336064" cy="336064"/>
            </a:xfrm>
            <a:prstGeom prst="rect">
              <a:avLst/>
            </a:prstGeom>
          </p:spPr>
        </p:pic>
        <p:pic>
          <p:nvPicPr>
            <p:cNvPr id="8" name="Graphique 7" descr="Utilisateur avec un remplissage uni">
              <a:extLst>
                <a:ext uri="{FF2B5EF4-FFF2-40B4-BE49-F238E27FC236}">
                  <a16:creationId xmlns:a16="http://schemas.microsoft.com/office/drawing/2014/main" id="{92E28074-57EC-F370-3D15-F25B54A6D01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9" name="Graphique 8" descr="Utilisateur avec un remplissage uni">
              <a:extLst>
                <a:ext uri="{FF2B5EF4-FFF2-40B4-BE49-F238E27FC236}">
                  <a16:creationId xmlns:a16="http://schemas.microsoft.com/office/drawing/2014/main" id="{1B0547BB-509D-0C15-E08E-E9C3C59EDCD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10" name="Graphique 9" descr="Utilisateur avec un remplissage uni">
              <a:extLst>
                <a:ext uri="{FF2B5EF4-FFF2-40B4-BE49-F238E27FC236}">
                  <a16:creationId xmlns:a16="http://schemas.microsoft.com/office/drawing/2014/main" id="{A33A22D3-A25F-63A4-E370-7819B0FCBB6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11" name="Graphique 10" descr="Utilisateur avec un remplissage uni">
              <a:extLst>
                <a:ext uri="{FF2B5EF4-FFF2-40B4-BE49-F238E27FC236}">
                  <a16:creationId xmlns:a16="http://schemas.microsoft.com/office/drawing/2014/main" id="{6C8CAFE8-2A54-4BFA-D283-17C0DFEA78E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82504" y="3835028"/>
              <a:ext cx="336064" cy="336064"/>
            </a:xfrm>
            <a:prstGeom prst="rect">
              <a:avLst/>
            </a:prstGeom>
          </p:spPr>
        </p:pic>
        <p:pic>
          <p:nvPicPr>
            <p:cNvPr id="12" name="Graphique 11" descr="Utilisateur avec un remplissage uni">
              <a:extLst>
                <a:ext uri="{FF2B5EF4-FFF2-40B4-BE49-F238E27FC236}">
                  <a16:creationId xmlns:a16="http://schemas.microsoft.com/office/drawing/2014/main" id="{A4D022A6-4B72-78E8-5209-5066848B848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20868" y="3943076"/>
              <a:ext cx="336064" cy="336064"/>
            </a:xfrm>
            <a:prstGeom prst="rect">
              <a:avLst/>
            </a:prstGeom>
          </p:spPr>
        </p:pic>
        <p:pic>
          <p:nvPicPr>
            <p:cNvPr id="13" name="Graphique 12" descr="Utilisateur avec un remplissage uni">
              <a:extLst>
                <a:ext uri="{FF2B5EF4-FFF2-40B4-BE49-F238E27FC236}">
                  <a16:creationId xmlns:a16="http://schemas.microsoft.com/office/drawing/2014/main" id="{1F35D89E-18FA-0D70-561B-2E0A38E7C71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14" name="Graphique 13" descr="Utilisateur avec un remplissage uni">
              <a:extLst>
                <a:ext uri="{FF2B5EF4-FFF2-40B4-BE49-F238E27FC236}">
                  <a16:creationId xmlns:a16="http://schemas.microsoft.com/office/drawing/2014/main" id="{3CC1FBBE-FB5D-D1D0-793C-F968C814468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15" name="Graphique 14" descr="Utilisateur avec un remplissage uni">
              <a:extLst>
                <a:ext uri="{FF2B5EF4-FFF2-40B4-BE49-F238E27FC236}">
                  <a16:creationId xmlns:a16="http://schemas.microsoft.com/office/drawing/2014/main" id="{0032E40D-EB52-692E-C5FD-E0941D1E9C3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56932" y="3429000"/>
              <a:ext cx="336064" cy="336064"/>
            </a:xfrm>
            <a:prstGeom prst="rect">
              <a:avLst/>
            </a:prstGeom>
          </p:spPr>
        </p:pic>
      </p:grpSp>
      <p:sp>
        <p:nvSpPr>
          <p:cNvPr id="16" name="Titre 1">
            <a:extLst>
              <a:ext uri="{FF2B5EF4-FFF2-40B4-BE49-F238E27FC236}">
                <a16:creationId xmlns:a16="http://schemas.microsoft.com/office/drawing/2014/main" id="{637FD311-B40D-2AA9-14FF-6B49F1335D06}"/>
              </a:ext>
            </a:extLst>
          </p:cNvPr>
          <p:cNvSpPr txBox="1">
            <a:spLocks/>
          </p:cNvSpPr>
          <p:nvPr/>
        </p:nvSpPr>
        <p:spPr>
          <a:xfrm>
            <a:off x="966341" y="4542510"/>
            <a:ext cx="1537788" cy="124244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rgbClr val="ED7D31"/>
                </a:solidFill>
              </a:rPr>
              <a:t>Une liste de membres liés à la même entreprise</a:t>
            </a:r>
          </a:p>
        </p:txBody>
      </p:sp>
      <p:sp>
        <p:nvSpPr>
          <p:cNvPr id="18" name="Signe Plus 17">
            <a:extLst>
              <a:ext uri="{FF2B5EF4-FFF2-40B4-BE49-F238E27FC236}">
                <a16:creationId xmlns:a16="http://schemas.microsoft.com/office/drawing/2014/main" id="{40630D9E-6892-9A60-53E2-1BE44D0C99E7}"/>
              </a:ext>
            </a:extLst>
          </p:cNvPr>
          <p:cNvSpPr/>
          <p:nvPr/>
        </p:nvSpPr>
        <p:spPr>
          <a:xfrm>
            <a:off x="3758674" y="3131795"/>
            <a:ext cx="844200" cy="844200"/>
          </a:xfrm>
          <a:prstGeom prst="mathPlus">
            <a:avLst>
              <a:gd name="adj1" fmla="val 14261"/>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9" name="Groupe 18">
            <a:extLst>
              <a:ext uri="{FF2B5EF4-FFF2-40B4-BE49-F238E27FC236}">
                <a16:creationId xmlns:a16="http://schemas.microsoft.com/office/drawing/2014/main" id="{137D52F7-9F3E-7C57-51A6-837E823EE342}"/>
              </a:ext>
            </a:extLst>
          </p:cNvPr>
          <p:cNvGrpSpPr/>
          <p:nvPr/>
        </p:nvGrpSpPr>
        <p:grpSpPr>
          <a:xfrm>
            <a:off x="5093063" y="2855932"/>
            <a:ext cx="2300029" cy="1188303"/>
            <a:chOff x="4735566" y="1274738"/>
            <a:chExt cx="995943" cy="537235"/>
          </a:xfrm>
          <a:solidFill>
            <a:schemeClr val="bg1">
              <a:lumMod val="65000"/>
            </a:schemeClr>
          </a:solidFill>
        </p:grpSpPr>
        <p:pic>
          <p:nvPicPr>
            <p:cNvPr id="21" name="Graphique 20" descr="Stylo de calligraphie avec un remplissage uni">
              <a:extLst>
                <a:ext uri="{FF2B5EF4-FFF2-40B4-BE49-F238E27FC236}">
                  <a16:creationId xmlns:a16="http://schemas.microsoft.com/office/drawing/2014/main" id="{256AD704-3952-FC0E-94B1-1C0042DE7554}"/>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208289" y="1274738"/>
              <a:ext cx="523220" cy="523220"/>
            </a:xfrm>
            <a:prstGeom prst="rect">
              <a:avLst/>
            </a:prstGeom>
          </p:spPr>
        </p:pic>
        <p:pic>
          <p:nvPicPr>
            <p:cNvPr id="22" name="Graphique 21" descr="Calendrier journalier avec un remplissage uni">
              <a:extLst>
                <a:ext uri="{FF2B5EF4-FFF2-40B4-BE49-F238E27FC236}">
                  <a16:creationId xmlns:a16="http://schemas.microsoft.com/office/drawing/2014/main" id="{5E5FBCBD-2EAA-9E9D-4C1C-712FD7FE7FB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4735566" y="1288753"/>
              <a:ext cx="523220" cy="523220"/>
            </a:xfrm>
            <a:prstGeom prst="rect">
              <a:avLst/>
            </a:prstGeom>
          </p:spPr>
        </p:pic>
      </p:grpSp>
      <p:sp>
        <p:nvSpPr>
          <p:cNvPr id="24" name="Titre 1">
            <a:extLst>
              <a:ext uri="{FF2B5EF4-FFF2-40B4-BE49-F238E27FC236}">
                <a16:creationId xmlns:a16="http://schemas.microsoft.com/office/drawing/2014/main" id="{FFDFEE1F-0191-662F-75F5-ED44B33921D6}"/>
              </a:ext>
            </a:extLst>
          </p:cNvPr>
          <p:cNvSpPr txBox="1">
            <a:spLocks/>
          </p:cNvSpPr>
          <p:nvPr/>
        </p:nvSpPr>
        <p:spPr>
          <a:xfrm>
            <a:off x="5408661" y="4542510"/>
            <a:ext cx="1537788" cy="124244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chemeClr val="bg1">
                    <a:lumMod val="50000"/>
                  </a:schemeClr>
                </a:solidFill>
              </a:rPr>
              <a:t>Des activités (événements, contenus, …)</a:t>
            </a:r>
          </a:p>
        </p:txBody>
      </p:sp>
      <p:sp>
        <p:nvSpPr>
          <p:cNvPr id="25" name="Signe Plus 24">
            <a:extLst>
              <a:ext uri="{FF2B5EF4-FFF2-40B4-BE49-F238E27FC236}">
                <a16:creationId xmlns:a16="http://schemas.microsoft.com/office/drawing/2014/main" id="{F6D12F48-9866-2AE9-DD55-07126CEAB4A3}"/>
              </a:ext>
            </a:extLst>
          </p:cNvPr>
          <p:cNvSpPr/>
          <p:nvPr/>
        </p:nvSpPr>
        <p:spPr>
          <a:xfrm>
            <a:off x="7986489" y="3094921"/>
            <a:ext cx="844200" cy="844200"/>
          </a:xfrm>
          <a:prstGeom prst="mathPlus">
            <a:avLst>
              <a:gd name="adj1" fmla="val 14261"/>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 name="Titre 1">
            <a:extLst>
              <a:ext uri="{FF2B5EF4-FFF2-40B4-BE49-F238E27FC236}">
                <a16:creationId xmlns:a16="http://schemas.microsoft.com/office/drawing/2014/main" id="{DFA0A974-731F-872B-79B0-03685FDF9B2B}"/>
              </a:ext>
            </a:extLst>
          </p:cNvPr>
          <p:cNvSpPr txBox="1">
            <a:spLocks/>
          </p:cNvSpPr>
          <p:nvPr/>
        </p:nvSpPr>
        <p:spPr>
          <a:xfrm>
            <a:off x="9346861" y="4542510"/>
            <a:ext cx="2102971" cy="1556286"/>
          </a:xfrm>
          <a:prstGeom prst="rect">
            <a:avLst/>
          </a:prstGeom>
        </p:spPr>
        <p:txBody>
          <a:bodyPr vert="horz" lIns="91440" tIns="45720" rIns="91440" bIns="45720" rtlCol="0" anchor="ctr">
            <a:normAutofit fontScale="92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rgbClr val="3494BA"/>
                </a:solidFill>
              </a:rPr>
              <a:t>Des règles de fonctionnement (entre membres et avec l’entreprise) et des outils (communication, etc.)</a:t>
            </a:r>
          </a:p>
        </p:txBody>
      </p:sp>
      <p:pic>
        <p:nvPicPr>
          <p:cNvPr id="27" name="Graphique 26" descr="Bâtiment avec un remplissage uni">
            <a:extLst>
              <a:ext uri="{FF2B5EF4-FFF2-40B4-BE49-F238E27FC236}">
                <a16:creationId xmlns:a16="http://schemas.microsoft.com/office/drawing/2014/main" id="{61ADD2DD-8172-C81A-C2C5-E52C6D131C2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74003" y="2613823"/>
            <a:ext cx="390602" cy="390602"/>
          </a:xfrm>
          <a:prstGeom prst="rect">
            <a:avLst/>
          </a:prstGeom>
        </p:spPr>
      </p:pic>
      <p:grpSp>
        <p:nvGrpSpPr>
          <p:cNvPr id="28" name="Groupe 27">
            <a:extLst>
              <a:ext uri="{FF2B5EF4-FFF2-40B4-BE49-F238E27FC236}">
                <a16:creationId xmlns:a16="http://schemas.microsoft.com/office/drawing/2014/main" id="{94BB7AFB-EC5D-8C9F-0248-FBA4D0C449FB}"/>
              </a:ext>
            </a:extLst>
          </p:cNvPr>
          <p:cNvGrpSpPr/>
          <p:nvPr/>
        </p:nvGrpSpPr>
        <p:grpSpPr>
          <a:xfrm>
            <a:off x="9716713" y="3004425"/>
            <a:ext cx="463304" cy="390602"/>
            <a:chOff x="8982504" y="3274976"/>
            <a:chExt cx="1230670" cy="1037553"/>
          </a:xfrm>
          <a:solidFill>
            <a:srgbClr val="ED7D31"/>
          </a:solidFill>
        </p:grpSpPr>
        <p:pic>
          <p:nvPicPr>
            <p:cNvPr id="29" name="Graphique 28" descr="Utilisateur avec un remplissage uni">
              <a:extLst>
                <a:ext uri="{FF2B5EF4-FFF2-40B4-BE49-F238E27FC236}">
                  <a16:creationId xmlns:a16="http://schemas.microsoft.com/office/drawing/2014/main" id="{DCF90C9C-024F-75DA-B739-DF8F3F4B849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30" name="Graphique 29" descr="Utilisateur avec un remplissage uni">
              <a:extLst>
                <a:ext uri="{FF2B5EF4-FFF2-40B4-BE49-F238E27FC236}">
                  <a16:creationId xmlns:a16="http://schemas.microsoft.com/office/drawing/2014/main" id="{DE3BB47E-36BE-A44E-BF91-8AF77D17784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31" name="Graphique 30" descr="Utilisateur avec un remplissage uni">
              <a:extLst>
                <a:ext uri="{FF2B5EF4-FFF2-40B4-BE49-F238E27FC236}">
                  <a16:creationId xmlns:a16="http://schemas.microsoft.com/office/drawing/2014/main" id="{374E35A1-FE41-659A-6EB7-2F33F8D6856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45616" y="3561880"/>
              <a:ext cx="336064" cy="336064"/>
            </a:xfrm>
            <a:prstGeom prst="rect">
              <a:avLst/>
            </a:prstGeom>
          </p:spPr>
        </p:pic>
        <p:pic>
          <p:nvPicPr>
            <p:cNvPr id="32" name="Graphique 31" descr="Utilisateur avec un remplissage uni">
              <a:extLst>
                <a:ext uri="{FF2B5EF4-FFF2-40B4-BE49-F238E27FC236}">
                  <a16:creationId xmlns:a16="http://schemas.microsoft.com/office/drawing/2014/main" id="{DEE189FB-672A-88C8-7605-53FB053BDF6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33" name="Graphique 32" descr="Utilisateur avec un remplissage uni">
              <a:extLst>
                <a:ext uri="{FF2B5EF4-FFF2-40B4-BE49-F238E27FC236}">
                  <a16:creationId xmlns:a16="http://schemas.microsoft.com/office/drawing/2014/main" id="{62015447-3DB2-225D-065E-3FCEA8E813C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34" name="Graphique 33" descr="Utilisateur avec un remplissage uni">
              <a:extLst>
                <a:ext uri="{FF2B5EF4-FFF2-40B4-BE49-F238E27FC236}">
                  <a16:creationId xmlns:a16="http://schemas.microsoft.com/office/drawing/2014/main" id="{BF2D129C-3B7C-4F77-B3D6-4F0164CDA67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35" name="Graphique 34" descr="Utilisateur avec un remplissage uni">
              <a:extLst>
                <a:ext uri="{FF2B5EF4-FFF2-40B4-BE49-F238E27FC236}">
                  <a16:creationId xmlns:a16="http://schemas.microsoft.com/office/drawing/2014/main" id="{D8EE3C22-5CC8-29AC-B230-23AAD26C191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82504" y="3835028"/>
              <a:ext cx="336064" cy="336064"/>
            </a:xfrm>
            <a:prstGeom prst="rect">
              <a:avLst/>
            </a:prstGeom>
          </p:spPr>
        </p:pic>
        <p:pic>
          <p:nvPicPr>
            <p:cNvPr id="36" name="Graphique 35" descr="Utilisateur avec un remplissage uni">
              <a:extLst>
                <a:ext uri="{FF2B5EF4-FFF2-40B4-BE49-F238E27FC236}">
                  <a16:creationId xmlns:a16="http://schemas.microsoft.com/office/drawing/2014/main" id="{FB113601-A30D-9585-063C-6F14F80903E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20868" y="3943076"/>
              <a:ext cx="336064" cy="336064"/>
            </a:xfrm>
            <a:prstGeom prst="rect">
              <a:avLst/>
            </a:prstGeom>
          </p:spPr>
        </p:pic>
        <p:pic>
          <p:nvPicPr>
            <p:cNvPr id="37" name="Graphique 36" descr="Utilisateur avec un remplissage uni">
              <a:extLst>
                <a:ext uri="{FF2B5EF4-FFF2-40B4-BE49-F238E27FC236}">
                  <a16:creationId xmlns:a16="http://schemas.microsoft.com/office/drawing/2014/main" id="{90FBA9DB-C15F-9FCA-64E1-4A69655DC70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38" name="Graphique 37" descr="Utilisateur avec un remplissage uni">
              <a:extLst>
                <a:ext uri="{FF2B5EF4-FFF2-40B4-BE49-F238E27FC236}">
                  <a16:creationId xmlns:a16="http://schemas.microsoft.com/office/drawing/2014/main" id="{7558AB37-3EDB-A38F-74F9-24D7E7EDF97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39" name="Graphique 38" descr="Utilisateur avec un remplissage uni">
              <a:extLst>
                <a:ext uri="{FF2B5EF4-FFF2-40B4-BE49-F238E27FC236}">
                  <a16:creationId xmlns:a16="http://schemas.microsoft.com/office/drawing/2014/main" id="{0D10587D-D70B-E2EB-5AE3-7AFA708CDEC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56932" y="3429000"/>
              <a:ext cx="336064" cy="336064"/>
            </a:xfrm>
            <a:prstGeom prst="rect">
              <a:avLst/>
            </a:prstGeom>
          </p:spPr>
        </p:pic>
      </p:grpSp>
      <p:cxnSp>
        <p:nvCxnSpPr>
          <p:cNvPr id="46" name="Connecteur droit avec flèche 45">
            <a:extLst>
              <a:ext uri="{FF2B5EF4-FFF2-40B4-BE49-F238E27FC236}">
                <a16:creationId xmlns:a16="http://schemas.microsoft.com/office/drawing/2014/main" id="{E6053A39-CFB7-7915-30A1-F398C269C17B}"/>
              </a:ext>
            </a:extLst>
          </p:cNvPr>
          <p:cNvCxnSpPr>
            <a:cxnSpLocks/>
          </p:cNvCxnSpPr>
          <p:nvPr/>
        </p:nvCxnSpPr>
        <p:spPr>
          <a:xfrm>
            <a:off x="9853412" y="3535457"/>
            <a:ext cx="667932" cy="0"/>
          </a:xfrm>
          <a:prstGeom prst="straightConnector1">
            <a:avLst/>
          </a:prstGeom>
          <a:ln w="28575">
            <a:solidFill>
              <a:srgbClr val="3494BA"/>
            </a:solidFill>
            <a:headEnd type="none" w="med" len="med"/>
            <a:tailEnd type="none" w="med" len="med"/>
          </a:ln>
        </p:spPr>
        <p:style>
          <a:lnRef idx="1">
            <a:schemeClr val="dk1"/>
          </a:lnRef>
          <a:fillRef idx="0">
            <a:schemeClr val="dk1"/>
          </a:fillRef>
          <a:effectRef idx="0">
            <a:schemeClr val="dk1"/>
          </a:effectRef>
          <a:fontRef idx="minor">
            <a:schemeClr val="tx1"/>
          </a:fontRef>
        </p:style>
      </p:cxnSp>
      <p:cxnSp>
        <p:nvCxnSpPr>
          <p:cNvPr id="47" name="Connecteur droit avec flèche 46">
            <a:extLst>
              <a:ext uri="{FF2B5EF4-FFF2-40B4-BE49-F238E27FC236}">
                <a16:creationId xmlns:a16="http://schemas.microsoft.com/office/drawing/2014/main" id="{5A4B6D26-DC40-328C-872E-9CD5201AF99C}"/>
              </a:ext>
            </a:extLst>
          </p:cNvPr>
          <p:cNvCxnSpPr>
            <a:cxnSpLocks/>
          </p:cNvCxnSpPr>
          <p:nvPr/>
        </p:nvCxnSpPr>
        <p:spPr>
          <a:xfrm>
            <a:off x="9853412" y="3657426"/>
            <a:ext cx="667932" cy="0"/>
          </a:xfrm>
          <a:prstGeom prst="straightConnector1">
            <a:avLst/>
          </a:prstGeom>
          <a:ln w="28575">
            <a:solidFill>
              <a:srgbClr val="3494BA"/>
            </a:solidFill>
            <a:headEnd type="none" w="med" len="med"/>
            <a:tailEnd type="none" w="med" len="med"/>
          </a:ln>
        </p:spPr>
        <p:style>
          <a:lnRef idx="1">
            <a:schemeClr val="dk1"/>
          </a:lnRef>
          <a:fillRef idx="0">
            <a:schemeClr val="dk1"/>
          </a:fillRef>
          <a:effectRef idx="0">
            <a:schemeClr val="dk1"/>
          </a:effectRef>
          <a:fontRef idx="minor">
            <a:schemeClr val="tx1"/>
          </a:fontRef>
        </p:style>
      </p:cxnSp>
      <p:cxnSp>
        <p:nvCxnSpPr>
          <p:cNvPr id="48" name="Connecteur droit avec flèche 47">
            <a:extLst>
              <a:ext uri="{FF2B5EF4-FFF2-40B4-BE49-F238E27FC236}">
                <a16:creationId xmlns:a16="http://schemas.microsoft.com/office/drawing/2014/main" id="{52120339-82B2-8F5F-EA3E-02BDEC3CFC8F}"/>
              </a:ext>
            </a:extLst>
          </p:cNvPr>
          <p:cNvCxnSpPr>
            <a:cxnSpLocks/>
          </p:cNvCxnSpPr>
          <p:nvPr/>
        </p:nvCxnSpPr>
        <p:spPr>
          <a:xfrm>
            <a:off x="9853412" y="3779395"/>
            <a:ext cx="667932" cy="0"/>
          </a:xfrm>
          <a:prstGeom prst="straightConnector1">
            <a:avLst/>
          </a:prstGeom>
          <a:ln w="28575">
            <a:solidFill>
              <a:srgbClr val="3494BA"/>
            </a:solidFill>
            <a:headEnd type="none" w="med" len="med"/>
            <a:tailEnd type="none" w="med" len="med"/>
          </a:ln>
        </p:spPr>
        <p:style>
          <a:lnRef idx="1">
            <a:schemeClr val="dk1"/>
          </a:lnRef>
          <a:fillRef idx="0">
            <a:schemeClr val="dk1"/>
          </a:fillRef>
          <a:effectRef idx="0">
            <a:schemeClr val="dk1"/>
          </a:effectRef>
          <a:fontRef idx="minor">
            <a:schemeClr val="tx1"/>
          </a:fontRef>
        </p:style>
      </p:cxnSp>
      <p:cxnSp>
        <p:nvCxnSpPr>
          <p:cNvPr id="49" name="Connecteur droit avec flèche 48">
            <a:extLst>
              <a:ext uri="{FF2B5EF4-FFF2-40B4-BE49-F238E27FC236}">
                <a16:creationId xmlns:a16="http://schemas.microsoft.com/office/drawing/2014/main" id="{2FD699E5-8C0B-BCCC-0BC7-DEE9E2CA0DA9}"/>
              </a:ext>
            </a:extLst>
          </p:cNvPr>
          <p:cNvCxnSpPr>
            <a:cxnSpLocks/>
          </p:cNvCxnSpPr>
          <p:nvPr/>
        </p:nvCxnSpPr>
        <p:spPr>
          <a:xfrm>
            <a:off x="9853412" y="3901363"/>
            <a:ext cx="667932" cy="0"/>
          </a:xfrm>
          <a:prstGeom prst="straightConnector1">
            <a:avLst/>
          </a:prstGeom>
          <a:ln w="28575">
            <a:solidFill>
              <a:srgbClr val="3494BA"/>
            </a:solidFill>
            <a:headEnd type="none" w="med" len="med"/>
            <a:tailEnd type="none" w="med" len="med"/>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92337900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1B9CEEB-4035-3D55-9619-4805755E903A}"/>
              </a:ext>
            </a:extLst>
          </p:cNvPr>
          <p:cNvSpPr>
            <a:spLocks noGrp="1"/>
          </p:cNvSpPr>
          <p:nvPr>
            <p:ph type="title"/>
          </p:nvPr>
        </p:nvSpPr>
        <p:spPr/>
        <p:txBody>
          <a:bodyPr>
            <a:normAutofit fontScale="90000"/>
          </a:bodyPr>
          <a:lstStyle/>
          <a:p>
            <a:r>
              <a:rPr lang="fr-FR" dirty="0"/>
              <a:t>Peut-on faire une Communauté qui correspond à une organisation formelle dans l’entreprise?</a:t>
            </a:r>
          </a:p>
        </p:txBody>
      </p:sp>
      <p:sp>
        <p:nvSpPr>
          <p:cNvPr id="3" name="Espace réservé du contenu 2">
            <a:extLst>
              <a:ext uri="{FF2B5EF4-FFF2-40B4-BE49-F238E27FC236}">
                <a16:creationId xmlns:a16="http://schemas.microsoft.com/office/drawing/2014/main" id="{F78773F3-14BB-1D5A-CDC4-A333304DB0C4}"/>
              </a:ext>
            </a:extLst>
          </p:cNvPr>
          <p:cNvSpPr>
            <a:spLocks noGrp="1"/>
          </p:cNvSpPr>
          <p:nvPr>
            <p:ph idx="1"/>
          </p:nvPr>
        </p:nvSpPr>
        <p:spPr>
          <a:xfrm>
            <a:off x="226128" y="1992472"/>
            <a:ext cx="2324100" cy="4079715"/>
          </a:xfrm>
        </p:spPr>
        <p:txBody>
          <a:bodyPr>
            <a:normAutofit lnSpcReduction="10000"/>
          </a:bodyPr>
          <a:lstStyle/>
          <a:p>
            <a:pPr marL="0" indent="0">
              <a:buNone/>
            </a:pPr>
            <a:r>
              <a:rPr lang="fr-FR" sz="1400" dirty="0"/>
              <a:t>Il est courant de rencontrer l’usage du terme « Communautés » pour un département donné ou une entreprise donnée, en disant «</a:t>
            </a:r>
            <a:r>
              <a:rPr lang="fr-FR" sz="1400" i="1" dirty="0">
                <a:solidFill>
                  <a:schemeClr val="accent1"/>
                </a:solidFill>
              </a:rPr>
              <a:t> La communauté XYZ »</a:t>
            </a:r>
            <a:r>
              <a:rPr lang="fr-FR" sz="1400" dirty="0"/>
              <a:t> (où XYZ est le nom du département, du service, de l’unité, etc.). Par exemple « La communauté RH de l’entreprise »</a:t>
            </a:r>
          </a:p>
          <a:p>
            <a:pPr marL="0" indent="0">
              <a:buNone/>
            </a:pPr>
            <a:endParaRPr lang="fr-FR" sz="1400" dirty="0"/>
          </a:p>
          <a:p>
            <a:pPr marL="0" indent="0">
              <a:buNone/>
            </a:pPr>
            <a:r>
              <a:rPr lang="fr-FR" sz="1400" dirty="0"/>
              <a:t>Une communauté d’entreprise (telle que définie plus haut) est dans l’entreprise, donc elle finit d’une manière ou d’une autre par appartenir à un ensemble officiel de l’entreprise plus grand.</a:t>
            </a:r>
          </a:p>
          <a:p>
            <a:pPr marL="0" indent="0">
              <a:buNone/>
            </a:pPr>
            <a:endParaRPr lang="fr-FR" sz="1400" dirty="0"/>
          </a:p>
        </p:txBody>
      </p:sp>
      <p:sp>
        <p:nvSpPr>
          <p:cNvPr id="5" name="ZoneTexte 4">
            <a:extLst>
              <a:ext uri="{FF2B5EF4-FFF2-40B4-BE49-F238E27FC236}">
                <a16:creationId xmlns:a16="http://schemas.microsoft.com/office/drawing/2014/main" id="{EDC4B016-B92D-2A17-28DB-A88FBC54AE6B}"/>
              </a:ext>
            </a:extLst>
          </p:cNvPr>
          <p:cNvSpPr txBox="1"/>
          <p:nvPr/>
        </p:nvSpPr>
        <p:spPr>
          <a:xfrm>
            <a:off x="2932411" y="1992472"/>
            <a:ext cx="3303165" cy="4401205"/>
          </a:xfrm>
          <a:prstGeom prst="rect">
            <a:avLst/>
          </a:prstGeom>
          <a:noFill/>
        </p:spPr>
        <p:txBody>
          <a:bodyPr wrap="square">
            <a:spAutoFit/>
          </a:bodyPr>
          <a:lstStyle/>
          <a:p>
            <a:pPr marL="0" indent="0">
              <a:buNone/>
            </a:pPr>
            <a:r>
              <a:rPr lang="fr-FR" sz="1400" dirty="0"/>
              <a:t>Même si une Communauté correspond « membre pour membre » à une équipe / département / service, on considère que ce qui est défini par la Communauté concerne les caractéristiques « </a:t>
            </a:r>
            <a:r>
              <a:rPr lang="fr-FR" sz="1400" b="1" dirty="0">
                <a:solidFill>
                  <a:srgbClr val="ED7D31"/>
                </a:solidFill>
              </a:rPr>
              <a:t>BASÉES SUR L’ENGAGEMENT PLUTÔT QUE L’OBLIGATION LÉGALE » </a:t>
            </a:r>
            <a:r>
              <a:rPr lang="fr-FR" sz="1400" dirty="0"/>
              <a:t>et « </a:t>
            </a:r>
            <a:r>
              <a:rPr lang="fr-FR" sz="1400" b="1" dirty="0"/>
              <a:t>SOUVENT AVEC MOINS DE FORMALISME ET D’OBLIGATION QU’UNE FORME CLASSIQUE (EQUIPE, DEPARTEMENT, …) ». </a:t>
            </a:r>
          </a:p>
          <a:p>
            <a:pPr marL="0" indent="0">
              <a:buNone/>
            </a:pPr>
            <a:endParaRPr lang="fr-FR" sz="1400" b="1" dirty="0"/>
          </a:p>
          <a:p>
            <a:pPr marL="0" indent="0">
              <a:buNone/>
            </a:pPr>
            <a:endParaRPr lang="fr-FR" sz="1400" dirty="0"/>
          </a:p>
          <a:p>
            <a:pPr marL="0" indent="0">
              <a:buNone/>
            </a:pPr>
            <a:r>
              <a:rPr lang="fr-FR" sz="1400" dirty="0"/>
              <a:t>La Communauté XYZ du département représente donc « la part des activités de XYZ » dans lesquelles ces 2 caractéristiques s’appliquent, pour un ensemble de personnes qui s’avère couvrir tous les membres de l’équipe/département/service XYZ.</a:t>
            </a:r>
          </a:p>
        </p:txBody>
      </p:sp>
      <p:grpSp>
        <p:nvGrpSpPr>
          <p:cNvPr id="27" name="Groupe 26">
            <a:extLst>
              <a:ext uri="{FF2B5EF4-FFF2-40B4-BE49-F238E27FC236}">
                <a16:creationId xmlns:a16="http://schemas.microsoft.com/office/drawing/2014/main" id="{034C8498-C395-0332-F180-9383E4DCEB61}"/>
              </a:ext>
            </a:extLst>
          </p:cNvPr>
          <p:cNvGrpSpPr/>
          <p:nvPr/>
        </p:nvGrpSpPr>
        <p:grpSpPr>
          <a:xfrm>
            <a:off x="7415349" y="1808921"/>
            <a:ext cx="2458264" cy="1618107"/>
            <a:chOff x="4563956" y="1803790"/>
            <a:chExt cx="2458264" cy="1618107"/>
          </a:xfrm>
        </p:grpSpPr>
        <p:pic>
          <p:nvPicPr>
            <p:cNvPr id="9" name="Graphique 8" descr="Diagramme de flux avec un remplissage uni">
              <a:extLst>
                <a:ext uri="{FF2B5EF4-FFF2-40B4-BE49-F238E27FC236}">
                  <a16:creationId xmlns:a16="http://schemas.microsoft.com/office/drawing/2014/main" id="{6EE96404-5BFA-7C3D-8597-3AA30AA9C1E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984179" y="2078372"/>
              <a:ext cx="534472" cy="534472"/>
            </a:xfrm>
            <a:prstGeom prst="rect">
              <a:avLst/>
            </a:prstGeom>
          </p:spPr>
        </p:pic>
        <p:pic>
          <p:nvPicPr>
            <p:cNvPr id="10" name="Graphique 9" descr="Diagramme de flux avec un remplissage uni">
              <a:extLst>
                <a:ext uri="{FF2B5EF4-FFF2-40B4-BE49-F238E27FC236}">
                  <a16:creationId xmlns:a16="http://schemas.microsoft.com/office/drawing/2014/main" id="{D6519EA0-9353-B9E2-D190-F1C4B4CE114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5793088" y="2505498"/>
              <a:ext cx="534472" cy="352836"/>
            </a:xfrm>
            <a:prstGeom prst="rect">
              <a:avLst/>
            </a:prstGeom>
          </p:spPr>
        </p:pic>
        <p:pic>
          <p:nvPicPr>
            <p:cNvPr id="11" name="Graphique 10" descr="Diagramme de flux avec un remplissage uni">
              <a:extLst>
                <a:ext uri="{FF2B5EF4-FFF2-40B4-BE49-F238E27FC236}">
                  <a16:creationId xmlns:a16="http://schemas.microsoft.com/office/drawing/2014/main" id="{2944CDA9-D8E8-21C9-0BC7-EFA7233EC3B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5618832" y="2762287"/>
              <a:ext cx="534472" cy="352836"/>
            </a:xfrm>
            <a:prstGeom prst="rect">
              <a:avLst/>
            </a:prstGeom>
          </p:spPr>
        </p:pic>
        <p:pic>
          <p:nvPicPr>
            <p:cNvPr id="15" name="Graphique 14" descr="Diagramme de flux avec un remplissage uni">
              <a:extLst>
                <a:ext uri="{FF2B5EF4-FFF2-40B4-BE49-F238E27FC236}">
                  <a16:creationId xmlns:a16="http://schemas.microsoft.com/office/drawing/2014/main" id="{79D6563D-AB8B-6555-A396-A69E8AD319F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6175271" y="2500178"/>
              <a:ext cx="534472" cy="352836"/>
            </a:xfrm>
            <a:prstGeom prst="rect">
              <a:avLst/>
            </a:prstGeom>
          </p:spPr>
        </p:pic>
        <p:sp>
          <p:nvSpPr>
            <p:cNvPr id="25" name="Forme libre : forme 24">
              <a:extLst>
                <a:ext uri="{FF2B5EF4-FFF2-40B4-BE49-F238E27FC236}">
                  <a16:creationId xmlns:a16="http://schemas.microsoft.com/office/drawing/2014/main" id="{0DEDAD97-B94A-CE9F-0286-E0205ED65810}"/>
                </a:ext>
              </a:extLst>
            </p:cNvPr>
            <p:cNvSpPr/>
            <p:nvPr/>
          </p:nvSpPr>
          <p:spPr>
            <a:xfrm>
              <a:off x="4563956" y="1803790"/>
              <a:ext cx="2458264" cy="161810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28575">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6" name="Graphique 25" descr="Diagramme de flux avec un remplissage uni">
              <a:extLst>
                <a:ext uri="{FF2B5EF4-FFF2-40B4-BE49-F238E27FC236}">
                  <a16:creationId xmlns:a16="http://schemas.microsoft.com/office/drawing/2014/main" id="{BC36A41A-4F76-BD58-19D2-5639F53F82BA}"/>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5416955" y="3007777"/>
              <a:ext cx="534472" cy="352836"/>
            </a:xfrm>
            <a:prstGeom prst="rect">
              <a:avLst/>
            </a:prstGeom>
          </p:spPr>
        </p:pic>
      </p:grpSp>
      <p:pic>
        <p:nvPicPr>
          <p:cNvPr id="13" name="Graphique 12" descr="Diagramme de flux avec un remplissage uni">
            <a:extLst>
              <a:ext uri="{FF2B5EF4-FFF2-40B4-BE49-F238E27FC236}">
                <a16:creationId xmlns:a16="http://schemas.microsoft.com/office/drawing/2014/main" id="{0225DE27-F32C-C6E0-C6A9-A4AAE0E2D7F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342265" y="4143837"/>
            <a:ext cx="534472" cy="534472"/>
          </a:xfrm>
          <a:prstGeom prst="rect">
            <a:avLst/>
          </a:prstGeom>
        </p:spPr>
      </p:pic>
      <p:pic>
        <p:nvPicPr>
          <p:cNvPr id="14" name="Graphique 13" descr="Diagramme de flux avec un remplissage uni">
            <a:extLst>
              <a:ext uri="{FF2B5EF4-FFF2-40B4-BE49-F238E27FC236}">
                <a16:creationId xmlns:a16="http://schemas.microsoft.com/office/drawing/2014/main" id="{074F0C0A-FE7B-7415-4C93-1A4A82C1A6E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7151174" y="4570963"/>
            <a:ext cx="534472" cy="352836"/>
          </a:xfrm>
          <a:prstGeom prst="rect">
            <a:avLst/>
          </a:prstGeom>
        </p:spPr>
      </p:pic>
      <p:pic>
        <p:nvPicPr>
          <p:cNvPr id="16" name="Graphique 15" descr="Diagramme de flux avec un remplissage uni">
            <a:extLst>
              <a:ext uri="{FF2B5EF4-FFF2-40B4-BE49-F238E27FC236}">
                <a16:creationId xmlns:a16="http://schemas.microsoft.com/office/drawing/2014/main" id="{A5795003-0A59-1F74-69D0-67124BD8A38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6976918" y="4827752"/>
            <a:ext cx="534472" cy="352836"/>
          </a:xfrm>
          <a:prstGeom prst="rect">
            <a:avLst/>
          </a:prstGeom>
        </p:spPr>
      </p:pic>
      <p:pic>
        <p:nvPicPr>
          <p:cNvPr id="17" name="Graphique 16" descr="Diagramme de flux avec un remplissage uni">
            <a:extLst>
              <a:ext uri="{FF2B5EF4-FFF2-40B4-BE49-F238E27FC236}">
                <a16:creationId xmlns:a16="http://schemas.microsoft.com/office/drawing/2014/main" id="{FE38AD13-E7A7-71CE-CF31-D5546DCCDA3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7533357" y="4565643"/>
            <a:ext cx="534472" cy="352836"/>
          </a:xfrm>
          <a:prstGeom prst="rect">
            <a:avLst/>
          </a:prstGeom>
        </p:spPr>
      </p:pic>
      <p:sp>
        <p:nvSpPr>
          <p:cNvPr id="18" name="Forme libre : forme 17">
            <a:extLst>
              <a:ext uri="{FF2B5EF4-FFF2-40B4-BE49-F238E27FC236}">
                <a16:creationId xmlns:a16="http://schemas.microsoft.com/office/drawing/2014/main" id="{64CB3CF6-30D8-AE50-F759-A792EFE566B6}"/>
              </a:ext>
            </a:extLst>
          </p:cNvPr>
          <p:cNvSpPr/>
          <p:nvPr/>
        </p:nvSpPr>
        <p:spPr>
          <a:xfrm>
            <a:off x="9299346" y="3855539"/>
            <a:ext cx="2458264" cy="161810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28575">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19" name="Graphique 18" descr="Diagramme de flux avec un remplissage uni">
            <a:extLst>
              <a:ext uri="{FF2B5EF4-FFF2-40B4-BE49-F238E27FC236}">
                <a16:creationId xmlns:a16="http://schemas.microsoft.com/office/drawing/2014/main" id="{DD05D7EE-BC98-C7DA-D601-ABAB58D49A4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6775041" y="5073242"/>
            <a:ext cx="534472" cy="352836"/>
          </a:xfrm>
          <a:prstGeom prst="rect">
            <a:avLst/>
          </a:prstGeom>
        </p:spPr>
      </p:pic>
      <p:sp>
        <p:nvSpPr>
          <p:cNvPr id="4" name="Est égal à 3">
            <a:extLst>
              <a:ext uri="{FF2B5EF4-FFF2-40B4-BE49-F238E27FC236}">
                <a16:creationId xmlns:a16="http://schemas.microsoft.com/office/drawing/2014/main" id="{7DCED77F-887A-3D14-0DF6-09FEE7721B2C}"/>
              </a:ext>
            </a:extLst>
          </p:cNvPr>
          <p:cNvSpPr/>
          <p:nvPr/>
        </p:nvSpPr>
        <p:spPr>
          <a:xfrm>
            <a:off x="8429907" y="3597541"/>
            <a:ext cx="615108" cy="515996"/>
          </a:xfrm>
          <a:prstGeom prst="mathEqual">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6" name="Signe Plus 5">
            <a:extLst>
              <a:ext uri="{FF2B5EF4-FFF2-40B4-BE49-F238E27FC236}">
                <a16:creationId xmlns:a16="http://schemas.microsoft.com/office/drawing/2014/main" id="{D73574EA-39E3-DA0F-DF71-07C06D50AEC1}"/>
              </a:ext>
            </a:extLst>
          </p:cNvPr>
          <p:cNvSpPr/>
          <p:nvPr/>
        </p:nvSpPr>
        <p:spPr>
          <a:xfrm>
            <a:off x="8344492" y="4461169"/>
            <a:ext cx="758316" cy="758316"/>
          </a:xfrm>
          <a:prstGeom prst="mathPlus">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 name="Titre 1">
            <a:extLst>
              <a:ext uri="{FF2B5EF4-FFF2-40B4-BE49-F238E27FC236}">
                <a16:creationId xmlns:a16="http://schemas.microsoft.com/office/drawing/2014/main" id="{D640366E-2B09-A042-6A61-9D8DDF0266C3}"/>
              </a:ext>
            </a:extLst>
          </p:cNvPr>
          <p:cNvSpPr txBox="1">
            <a:spLocks/>
          </p:cNvSpPr>
          <p:nvPr/>
        </p:nvSpPr>
        <p:spPr>
          <a:xfrm>
            <a:off x="9561136" y="5615534"/>
            <a:ext cx="2102971" cy="77814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rgbClr val="3494BA"/>
                </a:solidFill>
              </a:rPr>
              <a:t>Moments avec règles « Communautés »</a:t>
            </a:r>
          </a:p>
        </p:txBody>
      </p:sp>
      <p:sp>
        <p:nvSpPr>
          <p:cNvPr id="22" name="Titre 1">
            <a:extLst>
              <a:ext uri="{FF2B5EF4-FFF2-40B4-BE49-F238E27FC236}">
                <a16:creationId xmlns:a16="http://schemas.microsoft.com/office/drawing/2014/main" id="{0AA33565-5AA4-E291-B956-6837717F848D}"/>
              </a:ext>
            </a:extLst>
          </p:cNvPr>
          <p:cNvSpPr txBox="1">
            <a:spLocks/>
          </p:cNvSpPr>
          <p:nvPr/>
        </p:nvSpPr>
        <p:spPr>
          <a:xfrm>
            <a:off x="6459904" y="5535035"/>
            <a:ext cx="2102971" cy="77814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t>Moments avec règles « équipes »</a:t>
            </a:r>
          </a:p>
        </p:txBody>
      </p:sp>
    </p:spTree>
    <p:extLst>
      <p:ext uri="{BB962C8B-B14F-4D97-AF65-F5344CB8AC3E}">
        <p14:creationId xmlns:p14="http://schemas.microsoft.com/office/powerpoint/2010/main" val="336418399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lèche : double flèche horizontale 3">
            <a:extLst>
              <a:ext uri="{FF2B5EF4-FFF2-40B4-BE49-F238E27FC236}">
                <a16:creationId xmlns:a16="http://schemas.microsoft.com/office/drawing/2014/main" id="{5AABD239-C6DD-D92E-1C3F-E74C0873874B}"/>
              </a:ext>
            </a:extLst>
          </p:cNvPr>
          <p:cNvSpPr/>
          <p:nvPr/>
        </p:nvSpPr>
        <p:spPr>
          <a:xfrm rot="5400000">
            <a:off x="-2093879" y="3978432"/>
            <a:ext cx="5060060" cy="387138"/>
          </a:xfrm>
          <a:prstGeom prst="lef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5" name="Groupe 4">
            <a:extLst>
              <a:ext uri="{FF2B5EF4-FFF2-40B4-BE49-F238E27FC236}">
                <a16:creationId xmlns:a16="http://schemas.microsoft.com/office/drawing/2014/main" id="{68AE3E3E-243D-D67A-8D6B-1549DE1900E1}"/>
              </a:ext>
            </a:extLst>
          </p:cNvPr>
          <p:cNvGrpSpPr/>
          <p:nvPr/>
        </p:nvGrpSpPr>
        <p:grpSpPr>
          <a:xfrm>
            <a:off x="532706" y="1910419"/>
            <a:ext cx="1507135" cy="1270634"/>
            <a:chOff x="8982504" y="3274976"/>
            <a:chExt cx="1230670" cy="1037553"/>
          </a:xfrm>
          <a:solidFill>
            <a:srgbClr val="ED7D31"/>
          </a:solidFill>
        </p:grpSpPr>
        <p:pic>
          <p:nvPicPr>
            <p:cNvPr id="6" name="Graphique 5" descr="Utilisateur avec un remplissage uni">
              <a:extLst>
                <a:ext uri="{FF2B5EF4-FFF2-40B4-BE49-F238E27FC236}">
                  <a16:creationId xmlns:a16="http://schemas.microsoft.com/office/drawing/2014/main" id="{7E7C0AA5-CB31-EF8C-33AA-E4CDE00DB0F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7" name="Graphique 6" descr="Utilisateur avec un remplissage uni">
              <a:extLst>
                <a:ext uri="{FF2B5EF4-FFF2-40B4-BE49-F238E27FC236}">
                  <a16:creationId xmlns:a16="http://schemas.microsoft.com/office/drawing/2014/main" id="{23050EDC-959A-0772-EF8E-700D1DA840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8" name="Graphique 7" descr="Utilisateur avec un remplissage uni">
              <a:extLst>
                <a:ext uri="{FF2B5EF4-FFF2-40B4-BE49-F238E27FC236}">
                  <a16:creationId xmlns:a16="http://schemas.microsoft.com/office/drawing/2014/main" id="{F8D22CC6-CE89-B98F-E602-69410146205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9" name="Graphique 8" descr="Utilisateur avec un remplissage uni">
              <a:extLst>
                <a:ext uri="{FF2B5EF4-FFF2-40B4-BE49-F238E27FC236}">
                  <a16:creationId xmlns:a16="http://schemas.microsoft.com/office/drawing/2014/main" id="{CC49AD31-CAEE-2096-CA2C-EDB2ECA88C2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0" name="Graphique 9" descr="Utilisateur avec un remplissage uni">
              <a:extLst>
                <a:ext uri="{FF2B5EF4-FFF2-40B4-BE49-F238E27FC236}">
                  <a16:creationId xmlns:a16="http://schemas.microsoft.com/office/drawing/2014/main" id="{190C73A7-AF97-9D1E-1954-29C4D31A2B0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1" name="Graphique 10" descr="Utilisateur avec un remplissage uni">
              <a:extLst>
                <a:ext uri="{FF2B5EF4-FFF2-40B4-BE49-F238E27FC236}">
                  <a16:creationId xmlns:a16="http://schemas.microsoft.com/office/drawing/2014/main" id="{B1A57BA9-6D2E-44C2-734E-B25BB1536EA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2" name="Graphique 11" descr="Utilisateur avec un remplissage uni">
              <a:extLst>
                <a:ext uri="{FF2B5EF4-FFF2-40B4-BE49-F238E27FC236}">
                  <a16:creationId xmlns:a16="http://schemas.microsoft.com/office/drawing/2014/main" id="{049C295A-42E3-0A06-63DE-C789725A94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3" name="Graphique 12" descr="Utilisateur avec un remplissage uni">
              <a:extLst>
                <a:ext uri="{FF2B5EF4-FFF2-40B4-BE49-F238E27FC236}">
                  <a16:creationId xmlns:a16="http://schemas.microsoft.com/office/drawing/2014/main" id="{EA29EEEF-2B8B-283D-642C-5A841AA27A5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4" name="Graphique 13" descr="Utilisateur avec un remplissage uni">
              <a:extLst>
                <a:ext uri="{FF2B5EF4-FFF2-40B4-BE49-F238E27FC236}">
                  <a16:creationId xmlns:a16="http://schemas.microsoft.com/office/drawing/2014/main" id="{9029E91A-7D10-8906-0E1A-7EB655F988C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5" name="Graphique 14" descr="Utilisateur avec un remplissage uni">
              <a:extLst>
                <a:ext uri="{FF2B5EF4-FFF2-40B4-BE49-F238E27FC236}">
                  <a16:creationId xmlns:a16="http://schemas.microsoft.com/office/drawing/2014/main" id="{1F9B7BCD-C31A-8D70-D32E-135962F608E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6" name="Graphique 15" descr="Utilisateur avec un remplissage uni">
              <a:extLst>
                <a:ext uri="{FF2B5EF4-FFF2-40B4-BE49-F238E27FC236}">
                  <a16:creationId xmlns:a16="http://schemas.microsoft.com/office/drawing/2014/main" id="{CD08B7E4-B7D5-BC5D-F13A-B1F3642534F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7" name="Graphique 16" descr="Utilisateur avec un remplissage uni">
            <a:extLst>
              <a:ext uri="{FF2B5EF4-FFF2-40B4-BE49-F238E27FC236}">
                <a16:creationId xmlns:a16="http://schemas.microsoft.com/office/drawing/2014/main" id="{CD0FBCBB-F51D-D218-6215-B3B7FBF7D25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65831" y="5632502"/>
            <a:ext cx="411559" cy="411559"/>
          </a:xfrm>
          <a:prstGeom prst="rect">
            <a:avLst/>
          </a:prstGeom>
        </p:spPr>
      </p:pic>
      <p:grpSp>
        <p:nvGrpSpPr>
          <p:cNvPr id="24" name="Groupe 23">
            <a:extLst>
              <a:ext uri="{FF2B5EF4-FFF2-40B4-BE49-F238E27FC236}">
                <a16:creationId xmlns:a16="http://schemas.microsoft.com/office/drawing/2014/main" id="{6142D749-D05E-A922-018B-B861B82ECBCE}"/>
              </a:ext>
            </a:extLst>
          </p:cNvPr>
          <p:cNvGrpSpPr/>
          <p:nvPr/>
        </p:nvGrpSpPr>
        <p:grpSpPr>
          <a:xfrm>
            <a:off x="572365" y="3707121"/>
            <a:ext cx="1062451" cy="1094956"/>
            <a:chOff x="9345616" y="3418428"/>
            <a:chExt cx="867558" cy="894101"/>
          </a:xfrm>
          <a:solidFill>
            <a:srgbClr val="ED7D31"/>
          </a:solidFill>
        </p:grpSpPr>
        <p:pic>
          <p:nvPicPr>
            <p:cNvPr id="27" name="Graphique 26" descr="Utilisateur avec un remplissage uni">
              <a:extLst>
                <a:ext uri="{FF2B5EF4-FFF2-40B4-BE49-F238E27FC236}">
                  <a16:creationId xmlns:a16="http://schemas.microsoft.com/office/drawing/2014/main" id="{17D1F443-CA77-37E8-85FB-7A259A52D2C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28" name="Graphique 27" descr="Utilisateur avec un remplissage uni">
              <a:extLst>
                <a:ext uri="{FF2B5EF4-FFF2-40B4-BE49-F238E27FC236}">
                  <a16:creationId xmlns:a16="http://schemas.microsoft.com/office/drawing/2014/main" id="{E5E9C434-81F5-46D5-AB48-3EC0B1937D1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29" name="Graphique 28" descr="Utilisateur avec un remplissage uni">
              <a:extLst>
                <a:ext uri="{FF2B5EF4-FFF2-40B4-BE49-F238E27FC236}">
                  <a16:creationId xmlns:a16="http://schemas.microsoft.com/office/drawing/2014/main" id="{71F173B7-95C6-F632-8DB1-1B6AA3EB71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32" name="Graphique 31" descr="Utilisateur avec un remplissage uni">
              <a:extLst>
                <a:ext uri="{FF2B5EF4-FFF2-40B4-BE49-F238E27FC236}">
                  <a16:creationId xmlns:a16="http://schemas.microsoft.com/office/drawing/2014/main" id="{E12FAF77-0D0B-8F0F-D92C-698857E3498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33" name="Graphique 32" descr="Utilisateur avec un remplissage uni">
              <a:extLst>
                <a:ext uri="{FF2B5EF4-FFF2-40B4-BE49-F238E27FC236}">
                  <a16:creationId xmlns:a16="http://schemas.microsoft.com/office/drawing/2014/main" id="{D31AE095-FED7-2006-5BA5-B33B03EEFA2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34" name="Graphique 33" descr="Utilisateur avec un remplissage uni">
              <a:extLst>
                <a:ext uri="{FF2B5EF4-FFF2-40B4-BE49-F238E27FC236}">
                  <a16:creationId xmlns:a16="http://schemas.microsoft.com/office/drawing/2014/main" id="{3C27EBEA-7582-BDCE-71C2-A81D7B35F52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39" name="Graphique 38" descr="Calendrier journalier avec un remplissage uni">
            <a:extLst>
              <a:ext uri="{FF2B5EF4-FFF2-40B4-BE49-F238E27FC236}">
                <a16:creationId xmlns:a16="http://schemas.microsoft.com/office/drawing/2014/main" id="{79A0B9C7-ADAE-1B5B-83A4-42FF7894BF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244257" y="3660781"/>
            <a:ext cx="482523" cy="482523"/>
          </a:xfrm>
          <a:prstGeom prst="rect">
            <a:avLst/>
          </a:prstGeom>
        </p:spPr>
      </p:pic>
      <p:sp>
        <p:nvSpPr>
          <p:cNvPr id="46" name="Titre 1">
            <a:extLst>
              <a:ext uri="{FF2B5EF4-FFF2-40B4-BE49-F238E27FC236}">
                <a16:creationId xmlns:a16="http://schemas.microsoft.com/office/drawing/2014/main" id="{8D09A157-B9D8-8A42-06CA-EAD8A486CCBE}"/>
              </a:ext>
            </a:extLst>
          </p:cNvPr>
          <p:cNvSpPr txBox="1">
            <a:spLocks/>
          </p:cNvSpPr>
          <p:nvPr/>
        </p:nvSpPr>
        <p:spPr>
          <a:xfrm>
            <a:off x="838200" y="365125"/>
            <a:ext cx="10515600" cy="698163"/>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3200" dirty="0"/>
              <a:t>Pourquoi l’approche Communauté et quelle est sa valeur ?</a:t>
            </a:r>
          </a:p>
        </p:txBody>
      </p:sp>
      <p:pic>
        <p:nvPicPr>
          <p:cNvPr id="53" name="Graphique 52" descr="Utilisateur avec un remplissage uni">
            <a:extLst>
              <a:ext uri="{FF2B5EF4-FFF2-40B4-BE49-F238E27FC236}">
                <a16:creationId xmlns:a16="http://schemas.microsoft.com/office/drawing/2014/main" id="{0545D388-2F54-A7D1-644A-5ACD98B3BAC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31980" y="6331780"/>
            <a:ext cx="411559" cy="411559"/>
          </a:xfrm>
          <a:prstGeom prst="rect">
            <a:avLst/>
          </a:prstGeom>
        </p:spPr>
      </p:pic>
      <p:pic>
        <p:nvPicPr>
          <p:cNvPr id="54" name="Graphique 53" descr="Utilisateur avec un remplissage uni">
            <a:extLst>
              <a:ext uri="{FF2B5EF4-FFF2-40B4-BE49-F238E27FC236}">
                <a16:creationId xmlns:a16="http://schemas.microsoft.com/office/drawing/2014/main" id="{5900CEE5-AB5F-9A92-0509-460D6C72AE8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555471" y="6322124"/>
            <a:ext cx="411559" cy="411559"/>
          </a:xfrm>
          <a:prstGeom prst="rect">
            <a:avLst/>
          </a:prstGeom>
        </p:spPr>
      </p:pic>
      <p:pic>
        <p:nvPicPr>
          <p:cNvPr id="55" name="Graphique 54" descr="Utilisateur avec un remplissage uni">
            <a:extLst>
              <a:ext uri="{FF2B5EF4-FFF2-40B4-BE49-F238E27FC236}">
                <a16:creationId xmlns:a16="http://schemas.microsoft.com/office/drawing/2014/main" id="{EB65F51C-FA88-3E20-C9E4-36A4FF14920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15221" y="5581814"/>
            <a:ext cx="411559" cy="411559"/>
          </a:xfrm>
          <a:prstGeom prst="rect">
            <a:avLst/>
          </a:prstGeom>
        </p:spPr>
      </p:pic>
      <p:sp>
        <p:nvSpPr>
          <p:cNvPr id="3" name="Espace réservé du contenu 2">
            <a:extLst>
              <a:ext uri="{FF2B5EF4-FFF2-40B4-BE49-F238E27FC236}">
                <a16:creationId xmlns:a16="http://schemas.microsoft.com/office/drawing/2014/main" id="{583C7F07-9770-CEC7-DEFE-8195A1F0DD6E}"/>
              </a:ext>
            </a:extLst>
          </p:cNvPr>
          <p:cNvSpPr>
            <a:spLocks noGrp="1"/>
          </p:cNvSpPr>
          <p:nvPr>
            <p:ph idx="1"/>
          </p:nvPr>
        </p:nvSpPr>
        <p:spPr>
          <a:xfrm>
            <a:off x="2577627" y="1825625"/>
            <a:ext cx="7027767" cy="4351338"/>
          </a:xfrm>
        </p:spPr>
        <p:txBody>
          <a:bodyPr>
            <a:normAutofit lnSpcReduction="10000"/>
          </a:bodyPr>
          <a:lstStyle/>
          <a:p>
            <a:pPr marL="0" indent="0">
              <a:buNone/>
            </a:pPr>
            <a:r>
              <a:rPr lang="fr-FR" sz="2000" dirty="0"/>
              <a:t>Lorsqu’on cherche à motiver de potentiels membres à s’engager dans une communauté, une réponse classique est un questionnement sur </a:t>
            </a:r>
          </a:p>
          <a:p>
            <a:pPr marL="0" indent="0">
              <a:buNone/>
            </a:pPr>
            <a:r>
              <a:rPr lang="fr-FR" sz="2000" i="1" dirty="0">
                <a:solidFill>
                  <a:srgbClr val="3494BA"/>
                </a:solidFill>
              </a:rPr>
              <a:t>« A quoi cela sert-il de s’organiser en Communauté plutôt que de simplement faire les choses chacun de son côté ? »</a:t>
            </a:r>
          </a:p>
          <a:p>
            <a:pPr marL="0" indent="0">
              <a:buNone/>
            </a:pPr>
            <a:endParaRPr lang="fr-FR" sz="2000" i="1" dirty="0">
              <a:solidFill>
                <a:srgbClr val="3494BA"/>
              </a:solidFill>
            </a:endParaRPr>
          </a:p>
          <a:p>
            <a:pPr marL="0" indent="0">
              <a:buNone/>
            </a:pPr>
            <a:r>
              <a:rPr lang="fr-FR" sz="2000" dirty="0"/>
              <a:t>Ce chapitre s’intéresse à une comparaison basique de l’approche « En Communauté » à l’approche « Par individus », en considérant une approche intermédiaire « par réunion ponctuelle ». </a:t>
            </a:r>
          </a:p>
          <a:p>
            <a:pPr marL="0" indent="0">
              <a:buNone/>
            </a:pPr>
            <a:endParaRPr lang="fr-FR" sz="2000" dirty="0"/>
          </a:p>
          <a:p>
            <a:pPr marL="0" indent="0">
              <a:buNone/>
            </a:pPr>
            <a:r>
              <a:rPr lang="fr-FR" sz="2000" dirty="0"/>
              <a:t>Le but ici est de </a:t>
            </a:r>
            <a:r>
              <a:rPr lang="fr-FR" sz="2000" b="1" dirty="0"/>
              <a:t>mieux identifier la valeur (ou le peu de valeur) d’être en Communauté dans une situation donnée</a:t>
            </a:r>
            <a:r>
              <a:rPr lang="fr-FR" sz="2000" dirty="0"/>
              <a:t>, sans a priori pour une approche ou l’autre.</a:t>
            </a:r>
          </a:p>
        </p:txBody>
      </p:sp>
    </p:spTree>
    <p:extLst>
      <p:ext uri="{BB962C8B-B14F-4D97-AF65-F5344CB8AC3E}">
        <p14:creationId xmlns:p14="http://schemas.microsoft.com/office/powerpoint/2010/main" val="181260490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lèche : double flèche horizontale 3">
            <a:extLst>
              <a:ext uri="{FF2B5EF4-FFF2-40B4-BE49-F238E27FC236}">
                <a16:creationId xmlns:a16="http://schemas.microsoft.com/office/drawing/2014/main" id="{5AABD239-C6DD-D92E-1C3F-E74C0873874B}"/>
              </a:ext>
            </a:extLst>
          </p:cNvPr>
          <p:cNvSpPr/>
          <p:nvPr/>
        </p:nvSpPr>
        <p:spPr>
          <a:xfrm rot="5400000">
            <a:off x="-835531" y="3928098"/>
            <a:ext cx="5060060" cy="387138"/>
          </a:xfrm>
          <a:prstGeom prst="lef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5" name="Groupe 4">
            <a:extLst>
              <a:ext uri="{FF2B5EF4-FFF2-40B4-BE49-F238E27FC236}">
                <a16:creationId xmlns:a16="http://schemas.microsoft.com/office/drawing/2014/main" id="{68AE3E3E-243D-D67A-8D6B-1549DE1900E1}"/>
              </a:ext>
            </a:extLst>
          </p:cNvPr>
          <p:cNvGrpSpPr/>
          <p:nvPr/>
        </p:nvGrpSpPr>
        <p:grpSpPr>
          <a:xfrm>
            <a:off x="1791054" y="1860085"/>
            <a:ext cx="1507135" cy="1270634"/>
            <a:chOff x="8982504" y="3274976"/>
            <a:chExt cx="1230670" cy="1037553"/>
          </a:xfrm>
          <a:solidFill>
            <a:srgbClr val="ED7D31"/>
          </a:solidFill>
        </p:grpSpPr>
        <p:pic>
          <p:nvPicPr>
            <p:cNvPr id="6" name="Graphique 5" descr="Utilisateur avec un remplissage uni">
              <a:extLst>
                <a:ext uri="{FF2B5EF4-FFF2-40B4-BE49-F238E27FC236}">
                  <a16:creationId xmlns:a16="http://schemas.microsoft.com/office/drawing/2014/main" id="{7E7C0AA5-CB31-EF8C-33AA-E4CDE00DB0F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7" name="Graphique 6" descr="Utilisateur avec un remplissage uni">
              <a:extLst>
                <a:ext uri="{FF2B5EF4-FFF2-40B4-BE49-F238E27FC236}">
                  <a16:creationId xmlns:a16="http://schemas.microsoft.com/office/drawing/2014/main" id="{23050EDC-959A-0772-EF8E-700D1DA840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8" name="Graphique 7" descr="Utilisateur avec un remplissage uni">
              <a:extLst>
                <a:ext uri="{FF2B5EF4-FFF2-40B4-BE49-F238E27FC236}">
                  <a16:creationId xmlns:a16="http://schemas.microsoft.com/office/drawing/2014/main" id="{F8D22CC6-CE89-B98F-E602-69410146205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9" name="Graphique 8" descr="Utilisateur avec un remplissage uni">
              <a:extLst>
                <a:ext uri="{FF2B5EF4-FFF2-40B4-BE49-F238E27FC236}">
                  <a16:creationId xmlns:a16="http://schemas.microsoft.com/office/drawing/2014/main" id="{CC49AD31-CAEE-2096-CA2C-EDB2ECA88C2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0" name="Graphique 9" descr="Utilisateur avec un remplissage uni">
              <a:extLst>
                <a:ext uri="{FF2B5EF4-FFF2-40B4-BE49-F238E27FC236}">
                  <a16:creationId xmlns:a16="http://schemas.microsoft.com/office/drawing/2014/main" id="{190C73A7-AF97-9D1E-1954-29C4D31A2B0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1" name="Graphique 10" descr="Utilisateur avec un remplissage uni">
              <a:extLst>
                <a:ext uri="{FF2B5EF4-FFF2-40B4-BE49-F238E27FC236}">
                  <a16:creationId xmlns:a16="http://schemas.microsoft.com/office/drawing/2014/main" id="{B1A57BA9-6D2E-44C2-734E-B25BB1536EA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2" name="Graphique 11" descr="Utilisateur avec un remplissage uni">
              <a:extLst>
                <a:ext uri="{FF2B5EF4-FFF2-40B4-BE49-F238E27FC236}">
                  <a16:creationId xmlns:a16="http://schemas.microsoft.com/office/drawing/2014/main" id="{049C295A-42E3-0A06-63DE-C789725A94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3" name="Graphique 12" descr="Utilisateur avec un remplissage uni">
              <a:extLst>
                <a:ext uri="{FF2B5EF4-FFF2-40B4-BE49-F238E27FC236}">
                  <a16:creationId xmlns:a16="http://schemas.microsoft.com/office/drawing/2014/main" id="{EA29EEEF-2B8B-283D-642C-5A841AA27A5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4" name="Graphique 13" descr="Utilisateur avec un remplissage uni">
              <a:extLst>
                <a:ext uri="{FF2B5EF4-FFF2-40B4-BE49-F238E27FC236}">
                  <a16:creationId xmlns:a16="http://schemas.microsoft.com/office/drawing/2014/main" id="{9029E91A-7D10-8906-0E1A-7EB655F988C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5" name="Graphique 14" descr="Utilisateur avec un remplissage uni">
              <a:extLst>
                <a:ext uri="{FF2B5EF4-FFF2-40B4-BE49-F238E27FC236}">
                  <a16:creationId xmlns:a16="http://schemas.microsoft.com/office/drawing/2014/main" id="{1F9B7BCD-C31A-8D70-D32E-135962F608E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6" name="Graphique 15" descr="Utilisateur avec un remplissage uni">
              <a:extLst>
                <a:ext uri="{FF2B5EF4-FFF2-40B4-BE49-F238E27FC236}">
                  <a16:creationId xmlns:a16="http://schemas.microsoft.com/office/drawing/2014/main" id="{CD08B7E4-B7D5-BC5D-F13A-B1F3642534F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7" name="Graphique 16" descr="Utilisateur avec un remplissage uni">
            <a:extLst>
              <a:ext uri="{FF2B5EF4-FFF2-40B4-BE49-F238E27FC236}">
                <a16:creationId xmlns:a16="http://schemas.microsoft.com/office/drawing/2014/main" id="{CD0FBCBB-F51D-D218-6215-B3B7FBF7D25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24179" y="5582168"/>
            <a:ext cx="411559" cy="411559"/>
          </a:xfrm>
          <a:prstGeom prst="rect">
            <a:avLst/>
          </a:prstGeom>
        </p:spPr>
      </p:pic>
      <p:grpSp>
        <p:nvGrpSpPr>
          <p:cNvPr id="24" name="Groupe 23">
            <a:extLst>
              <a:ext uri="{FF2B5EF4-FFF2-40B4-BE49-F238E27FC236}">
                <a16:creationId xmlns:a16="http://schemas.microsoft.com/office/drawing/2014/main" id="{6142D749-D05E-A922-018B-B861B82ECBCE}"/>
              </a:ext>
            </a:extLst>
          </p:cNvPr>
          <p:cNvGrpSpPr/>
          <p:nvPr/>
        </p:nvGrpSpPr>
        <p:grpSpPr>
          <a:xfrm>
            <a:off x="1830713" y="3656787"/>
            <a:ext cx="1062451" cy="1094956"/>
            <a:chOff x="9345616" y="3418428"/>
            <a:chExt cx="867558" cy="894101"/>
          </a:xfrm>
          <a:solidFill>
            <a:srgbClr val="ED7D31"/>
          </a:solidFill>
        </p:grpSpPr>
        <p:pic>
          <p:nvPicPr>
            <p:cNvPr id="27" name="Graphique 26" descr="Utilisateur avec un remplissage uni">
              <a:extLst>
                <a:ext uri="{FF2B5EF4-FFF2-40B4-BE49-F238E27FC236}">
                  <a16:creationId xmlns:a16="http://schemas.microsoft.com/office/drawing/2014/main" id="{17D1F443-CA77-37E8-85FB-7A259A52D2C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28" name="Graphique 27" descr="Utilisateur avec un remplissage uni">
              <a:extLst>
                <a:ext uri="{FF2B5EF4-FFF2-40B4-BE49-F238E27FC236}">
                  <a16:creationId xmlns:a16="http://schemas.microsoft.com/office/drawing/2014/main" id="{E5E9C434-81F5-46D5-AB48-3EC0B1937D1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29" name="Graphique 28" descr="Utilisateur avec un remplissage uni">
              <a:extLst>
                <a:ext uri="{FF2B5EF4-FFF2-40B4-BE49-F238E27FC236}">
                  <a16:creationId xmlns:a16="http://schemas.microsoft.com/office/drawing/2014/main" id="{71F173B7-95C6-F632-8DB1-1B6AA3EB71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32" name="Graphique 31" descr="Utilisateur avec un remplissage uni">
              <a:extLst>
                <a:ext uri="{FF2B5EF4-FFF2-40B4-BE49-F238E27FC236}">
                  <a16:creationId xmlns:a16="http://schemas.microsoft.com/office/drawing/2014/main" id="{E12FAF77-0D0B-8F0F-D92C-698857E3498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33" name="Graphique 32" descr="Utilisateur avec un remplissage uni">
              <a:extLst>
                <a:ext uri="{FF2B5EF4-FFF2-40B4-BE49-F238E27FC236}">
                  <a16:creationId xmlns:a16="http://schemas.microsoft.com/office/drawing/2014/main" id="{D31AE095-FED7-2006-5BA5-B33B03EEFA2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34" name="Graphique 33" descr="Utilisateur avec un remplissage uni">
              <a:extLst>
                <a:ext uri="{FF2B5EF4-FFF2-40B4-BE49-F238E27FC236}">
                  <a16:creationId xmlns:a16="http://schemas.microsoft.com/office/drawing/2014/main" id="{3C27EBEA-7582-BDCE-71C2-A81D7B35F52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39" name="Graphique 38" descr="Calendrier journalier avec un remplissage uni">
            <a:extLst>
              <a:ext uri="{FF2B5EF4-FFF2-40B4-BE49-F238E27FC236}">
                <a16:creationId xmlns:a16="http://schemas.microsoft.com/office/drawing/2014/main" id="{79A0B9C7-ADAE-1B5B-83A4-42FF7894BF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502605" y="3610447"/>
            <a:ext cx="482523" cy="482523"/>
          </a:xfrm>
          <a:prstGeom prst="rect">
            <a:avLst/>
          </a:prstGeom>
        </p:spPr>
      </p:pic>
      <p:sp>
        <p:nvSpPr>
          <p:cNvPr id="45" name="Espace réservé du contenu 9">
            <a:extLst>
              <a:ext uri="{FF2B5EF4-FFF2-40B4-BE49-F238E27FC236}">
                <a16:creationId xmlns:a16="http://schemas.microsoft.com/office/drawing/2014/main" id="{0A6208D6-F8D5-454C-F742-ABF9525C8685}"/>
              </a:ext>
            </a:extLst>
          </p:cNvPr>
          <p:cNvSpPr>
            <a:spLocks noGrp="1"/>
          </p:cNvSpPr>
          <p:nvPr>
            <p:ph idx="1"/>
          </p:nvPr>
        </p:nvSpPr>
        <p:spPr>
          <a:xfrm>
            <a:off x="3481341" y="1898609"/>
            <a:ext cx="8060663" cy="1107683"/>
          </a:xfrm>
        </p:spPr>
        <p:txBody>
          <a:bodyPr>
            <a:normAutofit/>
          </a:bodyPr>
          <a:lstStyle/>
          <a:p>
            <a:pPr marL="0" indent="0">
              <a:buNone/>
            </a:pPr>
            <a:r>
              <a:rPr lang="fr-FR" sz="1800" b="1" dirty="0"/>
              <a:t>UN ENSEMBLE DE PERSONNES GROUPÉES DANS LE TEMPS</a:t>
            </a:r>
          </a:p>
          <a:p>
            <a:pPr marL="0" indent="0">
              <a:buNone/>
            </a:pPr>
            <a:r>
              <a:rPr lang="fr-FR" sz="1800" b="1" dirty="0">
                <a:solidFill>
                  <a:srgbClr val="3494BA"/>
                </a:solidFill>
              </a:rPr>
              <a:t>MUTUALISATION DANS LE NOMBRE ET DANS LE TEMPS</a:t>
            </a:r>
          </a:p>
          <a:p>
            <a:pPr marL="0" indent="0">
              <a:buNone/>
            </a:pPr>
            <a:r>
              <a:rPr lang="fr-FR" sz="1800" b="1" dirty="0">
                <a:solidFill>
                  <a:srgbClr val="ED7D31"/>
                </a:solidFill>
              </a:rPr>
              <a:t>IDENTITÉ COMMUNE ET INTÉRÊT COMMUN</a:t>
            </a:r>
          </a:p>
          <a:p>
            <a:endParaRPr lang="fr-FR" sz="1800" b="1" dirty="0">
              <a:solidFill>
                <a:srgbClr val="ED7D31"/>
              </a:solidFill>
            </a:endParaRPr>
          </a:p>
        </p:txBody>
      </p:sp>
      <p:sp>
        <p:nvSpPr>
          <p:cNvPr id="46" name="Titre 1">
            <a:extLst>
              <a:ext uri="{FF2B5EF4-FFF2-40B4-BE49-F238E27FC236}">
                <a16:creationId xmlns:a16="http://schemas.microsoft.com/office/drawing/2014/main" id="{8D09A157-B9D8-8A42-06CA-EAD8A486CCBE}"/>
              </a:ext>
            </a:extLst>
          </p:cNvPr>
          <p:cNvSpPr txBox="1">
            <a:spLocks/>
          </p:cNvSpPr>
          <p:nvPr/>
        </p:nvSpPr>
        <p:spPr>
          <a:xfrm>
            <a:off x="838200" y="365125"/>
            <a:ext cx="10515600" cy="698163"/>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3200" dirty="0"/>
              <a:t>Communauté, réunion ponctuelle ou individu</a:t>
            </a:r>
            <a:br>
              <a:rPr lang="fr-FR" sz="3200" dirty="0"/>
            </a:br>
            <a:r>
              <a:rPr lang="fr-FR" sz="3200" dirty="0"/>
              <a:t>Description</a:t>
            </a:r>
          </a:p>
        </p:txBody>
      </p:sp>
      <p:sp>
        <p:nvSpPr>
          <p:cNvPr id="50" name="ZoneTexte 49">
            <a:extLst>
              <a:ext uri="{FF2B5EF4-FFF2-40B4-BE49-F238E27FC236}">
                <a16:creationId xmlns:a16="http://schemas.microsoft.com/office/drawing/2014/main" id="{01140855-6ECD-A120-223E-FCF2AC466075}"/>
              </a:ext>
            </a:extLst>
          </p:cNvPr>
          <p:cNvSpPr txBox="1"/>
          <p:nvPr/>
        </p:nvSpPr>
        <p:spPr>
          <a:xfrm>
            <a:off x="3389152" y="5582168"/>
            <a:ext cx="7021586" cy="923330"/>
          </a:xfrm>
          <a:prstGeom prst="rect">
            <a:avLst/>
          </a:prstGeom>
          <a:noFill/>
        </p:spPr>
        <p:txBody>
          <a:bodyPr wrap="square">
            <a:spAutoFit/>
          </a:bodyPr>
          <a:lstStyle/>
          <a:p>
            <a:r>
              <a:rPr lang="fr-FR" b="1" dirty="0"/>
              <a:t>DES INDIVIDUS QUI NE SONT PAS GROUPÉS</a:t>
            </a:r>
          </a:p>
          <a:p>
            <a:pPr marL="0" indent="0">
              <a:buNone/>
            </a:pPr>
            <a:r>
              <a:rPr lang="fr-FR" b="1" dirty="0">
                <a:solidFill>
                  <a:srgbClr val="3494BA"/>
                </a:solidFill>
              </a:rPr>
              <a:t>PAS DE MUTUALISATION</a:t>
            </a:r>
          </a:p>
          <a:p>
            <a:pPr marL="0" indent="0">
              <a:buNone/>
            </a:pPr>
            <a:r>
              <a:rPr lang="fr-FR" b="1" dirty="0">
                <a:solidFill>
                  <a:srgbClr val="ED7D31"/>
                </a:solidFill>
              </a:rPr>
              <a:t>INTÉRÊT ET IDENTITÉ INDIVIDUELS</a:t>
            </a:r>
            <a:endParaRPr lang="fr-FR" dirty="0">
              <a:solidFill>
                <a:srgbClr val="ED7D31"/>
              </a:solidFill>
            </a:endParaRPr>
          </a:p>
        </p:txBody>
      </p:sp>
      <p:sp>
        <p:nvSpPr>
          <p:cNvPr id="52" name="ZoneTexte 51">
            <a:extLst>
              <a:ext uri="{FF2B5EF4-FFF2-40B4-BE49-F238E27FC236}">
                <a16:creationId xmlns:a16="http://schemas.microsoft.com/office/drawing/2014/main" id="{A014BB20-4AAB-3532-C90A-08644504AF8D}"/>
              </a:ext>
            </a:extLst>
          </p:cNvPr>
          <p:cNvSpPr txBox="1"/>
          <p:nvPr/>
        </p:nvSpPr>
        <p:spPr>
          <a:xfrm>
            <a:off x="3388998" y="3851708"/>
            <a:ext cx="8153006" cy="923330"/>
          </a:xfrm>
          <a:prstGeom prst="rect">
            <a:avLst/>
          </a:prstGeom>
          <a:noFill/>
        </p:spPr>
        <p:txBody>
          <a:bodyPr wrap="square">
            <a:spAutoFit/>
          </a:bodyPr>
          <a:lstStyle/>
          <a:p>
            <a:pPr marL="0" indent="0">
              <a:buNone/>
            </a:pPr>
            <a:r>
              <a:rPr lang="fr-FR" b="1" dirty="0"/>
              <a:t>UN ENSEMBLE DE PERSONNES QUI SONT PONCTUELLEMENT GROUPÉES</a:t>
            </a:r>
          </a:p>
          <a:p>
            <a:pPr marL="0" indent="0">
              <a:buNone/>
            </a:pPr>
            <a:r>
              <a:rPr lang="fr-FR" b="1" dirty="0">
                <a:solidFill>
                  <a:srgbClr val="3494BA"/>
                </a:solidFill>
              </a:rPr>
              <a:t>MUTUALISATION DANS LE NOMBRE</a:t>
            </a:r>
          </a:p>
          <a:p>
            <a:pPr marL="0" indent="0">
              <a:buNone/>
            </a:pPr>
            <a:r>
              <a:rPr lang="fr-FR" b="1" dirty="0">
                <a:solidFill>
                  <a:srgbClr val="ED7D31"/>
                </a:solidFill>
              </a:rPr>
              <a:t>INTÉRÊT COMMUN PONCTUEL MAIS PAS D’IDENTITÉ COMMUNE</a:t>
            </a:r>
            <a:endParaRPr lang="fr-FR" dirty="0">
              <a:solidFill>
                <a:srgbClr val="ED7D31"/>
              </a:solidFill>
            </a:endParaRPr>
          </a:p>
        </p:txBody>
      </p:sp>
      <p:pic>
        <p:nvPicPr>
          <p:cNvPr id="53" name="Graphique 52" descr="Utilisateur avec un remplissage uni">
            <a:extLst>
              <a:ext uri="{FF2B5EF4-FFF2-40B4-BE49-F238E27FC236}">
                <a16:creationId xmlns:a16="http://schemas.microsoft.com/office/drawing/2014/main" id="{0545D388-2F54-A7D1-644A-5ACD98B3BAC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90328" y="6281446"/>
            <a:ext cx="411559" cy="411559"/>
          </a:xfrm>
          <a:prstGeom prst="rect">
            <a:avLst/>
          </a:prstGeom>
        </p:spPr>
      </p:pic>
      <p:pic>
        <p:nvPicPr>
          <p:cNvPr id="54" name="Graphique 53" descr="Utilisateur avec un remplissage uni">
            <a:extLst>
              <a:ext uri="{FF2B5EF4-FFF2-40B4-BE49-F238E27FC236}">
                <a16:creationId xmlns:a16="http://schemas.microsoft.com/office/drawing/2014/main" id="{5900CEE5-AB5F-9A92-0509-460D6C72AE8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13819" y="6271790"/>
            <a:ext cx="411559" cy="411559"/>
          </a:xfrm>
          <a:prstGeom prst="rect">
            <a:avLst/>
          </a:prstGeom>
        </p:spPr>
      </p:pic>
      <p:pic>
        <p:nvPicPr>
          <p:cNvPr id="55" name="Graphique 54" descr="Utilisateur avec un remplissage uni">
            <a:extLst>
              <a:ext uri="{FF2B5EF4-FFF2-40B4-BE49-F238E27FC236}">
                <a16:creationId xmlns:a16="http://schemas.microsoft.com/office/drawing/2014/main" id="{EB65F51C-FA88-3E20-C9E4-36A4FF14920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73569" y="5531480"/>
            <a:ext cx="411559" cy="411559"/>
          </a:xfrm>
          <a:prstGeom prst="rect">
            <a:avLst/>
          </a:prstGeom>
        </p:spPr>
      </p:pic>
      <p:sp>
        <p:nvSpPr>
          <p:cNvPr id="56" name="Titre 1">
            <a:extLst>
              <a:ext uri="{FF2B5EF4-FFF2-40B4-BE49-F238E27FC236}">
                <a16:creationId xmlns:a16="http://schemas.microsoft.com/office/drawing/2014/main" id="{AAA8CB95-3AED-1346-77F9-7C3DE3F1B254}"/>
              </a:ext>
            </a:extLst>
          </p:cNvPr>
          <p:cNvSpPr txBox="1">
            <a:spLocks/>
          </p:cNvSpPr>
          <p:nvPr/>
        </p:nvSpPr>
        <p:spPr>
          <a:xfrm>
            <a:off x="161314" y="2408779"/>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57" name="Titre 1">
            <a:extLst>
              <a:ext uri="{FF2B5EF4-FFF2-40B4-BE49-F238E27FC236}">
                <a16:creationId xmlns:a16="http://schemas.microsoft.com/office/drawing/2014/main" id="{E92C0281-3601-7CA1-EDAE-6A907DD5CDE3}"/>
              </a:ext>
            </a:extLst>
          </p:cNvPr>
          <p:cNvSpPr txBox="1">
            <a:spLocks/>
          </p:cNvSpPr>
          <p:nvPr/>
        </p:nvSpPr>
        <p:spPr>
          <a:xfrm>
            <a:off x="0" y="3873786"/>
            <a:ext cx="1555855"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par</a:t>
            </a:r>
          </a:p>
          <a:p>
            <a:pPr algn="ctr"/>
            <a:r>
              <a:rPr lang="fr-FR" sz="1400" b="1" dirty="0"/>
              <a:t>réunion ponctuelle </a:t>
            </a:r>
          </a:p>
          <a:p>
            <a:pPr algn="ctr"/>
            <a:r>
              <a:rPr lang="fr-FR" sz="1400" dirty="0"/>
              <a:t>(pas de persistance collective)</a:t>
            </a:r>
          </a:p>
        </p:txBody>
      </p:sp>
      <p:sp>
        <p:nvSpPr>
          <p:cNvPr id="58" name="Titre 1">
            <a:extLst>
              <a:ext uri="{FF2B5EF4-FFF2-40B4-BE49-F238E27FC236}">
                <a16:creationId xmlns:a16="http://schemas.microsoft.com/office/drawing/2014/main" id="{5F0CBDD4-2B4C-F45F-E62B-1A8209F2BFFD}"/>
              </a:ext>
            </a:extLst>
          </p:cNvPr>
          <p:cNvSpPr txBox="1">
            <a:spLocks/>
          </p:cNvSpPr>
          <p:nvPr/>
        </p:nvSpPr>
        <p:spPr>
          <a:xfrm>
            <a:off x="163621" y="5476792"/>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individus</a:t>
            </a:r>
          </a:p>
        </p:txBody>
      </p:sp>
    </p:spTree>
    <p:extLst>
      <p:ext uri="{BB962C8B-B14F-4D97-AF65-F5344CB8AC3E}">
        <p14:creationId xmlns:p14="http://schemas.microsoft.com/office/powerpoint/2010/main" val="172098197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lèche : double flèche horizontale 3">
            <a:extLst>
              <a:ext uri="{FF2B5EF4-FFF2-40B4-BE49-F238E27FC236}">
                <a16:creationId xmlns:a16="http://schemas.microsoft.com/office/drawing/2014/main" id="{5AABD239-C6DD-D92E-1C3F-E74C0873874B}"/>
              </a:ext>
            </a:extLst>
          </p:cNvPr>
          <p:cNvSpPr/>
          <p:nvPr/>
        </p:nvSpPr>
        <p:spPr>
          <a:xfrm rot="5400000">
            <a:off x="-835531" y="3928098"/>
            <a:ext cx="5060060" cy="387138"/>
          </a:xfrm>
          <a:prstGeom prst="lef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5" name="Groupe 4">
            <a:extLst>
              <a:ext uri="{FF2B5EF4-FFF2-40B4-BE49-F238E27FC236}">
                <a16:creationId xmlns:a16="http://schemas.microsoft.com/office/drawing/2014/main" id="{68AE3E3E-243D-D67A-8D6B-1549DE1900E1}"/>
              </a:ext>
            </a:extLst>
          </p:cNvPr>
          <p:cNvGrpSpPr/>
          <p:nvPr/>
        </p:nvGrpSpPr>
        <p:grpSpPr>
          <a:xfrm>
            <a:off x="1791054" y="1860085"/>
            <a:ext cx="1507135" cy="1270634"/>
            <a:chOff x="8982504" y="3274976"/>
            <a:chExt cx="1230670" cy="1037553"/>
          </a:xfrm>
          <a:solidFill>
            <a:srgbClr val="ED7D31"/>
          </a:solidFill>
        </p:grpSpPr>
        <p:pic>
          <p:nvPicPr>
            <p:cNvPr id="6" name="Graphique 5" descr="Utilisateur avec un remplissage uni">
              <a:extLst>
                <a:ext uri="{FF2B5EF4-FFF2-40B4-BE49-F238E27FC236}">
                  <a16:creationId xmlns:a16="http://schemas.microsoft.com/office/drawing/2014/main" id="{7E7C0AA5-CB31-EF8C-33AA-E4CDE00DB0F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7" name="Graphique 6" descr="Utilisateur avec un remplissage uni">
              <a:extLst>
                <a:ext uri="{FF2B5EF4-FFF2-40B4-BE49-F238E27FC236}">
                  <a16:creationId xmlns:a16="http://schemas.microsoft.com/office/drawing/2014/main" id="{23050EDC-959A-0772-EF8E-700D1DA840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8" name="Graphique 7" descr="Utilisateur avec un remplissage uni">
              <a:extLst>
                <a:ext uri="{FF2B5EF4-FFF2-40B4-BE49-F238E27FC236}">
                  <a16:creationId xmlns:a16="http://schemas.microsoft.com/office/drawing/2014/main" id="{F8D22CC6-CE89-B98F-E602-69410146205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9" name="Graphique 8" descr="Utilisateur avec un remplissage uni">
              <a:extLst>
                <a:ext uri="{FF2B5EF4-FFF2-40B4-BE49-F238E27FC236}">
                  <a16:creationId xmlns:a16="http://schemas.microsoft.com/office/drawing/2014/main" id="{CC49AD31-CAEE-2096-CA2C-EDB2ECA88C2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0" name="Graphique 9" descr="Utilisateur avec un remplissage uni">
              <a:extLst>
                <a:ext uri="{FF2B5EF4-FFF2-40B4-BE49-F238E27FC236}">
                  <a16:creationId xmlns:a16="http://schemas.microsoft.com/office/drawing/2014/main" id="{190C73A7-AF97-9D1E-1954-29C4D31A2B0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1" name="Graphique 10" descr="Utilisateur avec un remplissage uni">
              <a:extLst>
                <a:ext uri="{FF2B5EF4-FFF2-40B4-BE49-F238E27FC236}">
                  <a16:creationId xmlns:a16="http://schemas.microsoft.com/office/drawing/2014/main" id="{B1A57BA9-6D2E-44C2-734E-B25BB1536EA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2" name="Graphique 11" descr="Utilisateur avec un remplissage uni">
              <a:extLst>
                <a:ext uri="{FF2B5EF4-FFF2-40B4-BE49-F238E27FC236}">
                  <a16:creationId xmlns:a16="http://schemas.microsoft.com/office/drawing/2014/main" id="{049C295A-42E3-0A06-63DE-C789725A94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3" name="Graphique 12" descr="Utilisateur avec un remplissage uni">
              <a:extLst>
                <a:ext uri="{FF2B5EF4-FFF2-40B4-BE49-F238E27FC236}">
                  <a16:creationId xmlns:a16="http://schemas.microsoft.com/office/drawing/2014/main" id="{EA29EEEF-2B8B-283D-642C-5A841AA27A5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4" name="Graphique 13" descr="Utilisateur avec un remplissage uni">
              <a:extLst>
                <a:ext uri="{FF2B5EF4-FFF2-40B4-BE49-F238E27FC236}">
                  <a16:creationId xmlns:a16="http://schemas.microsoft.com/office/drawing/2014/main" id="{9029E91A-7D10-8906-0E1A-7EB655F988C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5" name="Graphique 14" descr="Utilisateur avec un remplissage uni">
              <a:extLst>
                <a:ext uri="{FF2B5EF4-FFF2-40B4-BE49-F238E27FC236}">
                  <a16:creationId xmlns:a16="http://schemas.microsoft.com/office/drawing/2014/main" id="{1F9B7BCD-C31A-8D70-D32E-135962F608E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6" name="Graphique 15" descr="Utilisateur avec un remplissage uni">
              <a:extLst>
                <a:ext uri="{FF2B5EF4-FFF2-40B4-BE49-F238E27FC236}">
                  <a16:creationId xmlns:a16="http://schemas.microsoft.com/office/drawing/2014/main" id="{CD08B7E4-B7D5-BC5D-F13A-B1F3642534F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7" name="Graphique 16" descr="Utilisateur avec un remplissage uni">
            <a:extLst>
              <a:ext uri="{FF2B5EF4-FFF2-40B4-BE49-F238E27FC236}">
                <a16:creationId xmlns:a16="http://schemas.microsoft.com/office/drawing/2014/main" id="{CD0FBCBB-F51D-D218-6215-B3B7FBF7D25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24179" y="5582168"/>
            <a:ext cx="411559" cy="411559"/>
          </a:xfrm>
          <a:prstGeom prst="rect">
            <a:avLst/>
          </a:prstGeom>
        </p:spPr>
      </p:pic>
      <p:grpSp>
        <p:nvGrpSpPr>
          <p:cNvPr id="24" name="Groupe 23">
            <a:extLst>
              <a:ext uri="{FF2B5EF4-FFF2-40B4-BE49-F238E27FC236}">
                <a16:creationId xmlns:a16="http://schemas.microsoft.com/office/drawing/2014/main" id="{6142D749-D05E-A922-018B-B861B82ECBCE}"/>
              </a:ext>
            </a:extLst>
          </p:cNvPr>
          <p:cNvGrpSpPr/>
          <p:nvPr/>
        </p:nvGrpSpPr>
        <p:grpSpPr>
          <a:xfrm>
            <a:off x="1830713" y="3656787"/>
            <a:ext cx="1062451" cy="1094956"/>
            <a:chOff x="9345616" y="3418428"/>
            <a:chExt cx="867558" cy="894101"/>
          </a:xfrm>
          <a:solidFill>
            <a:srgbClr val="ED7D31"/>
          </a:solidFill>
        </p:grpSpPr>
        <p:pic>
          <p:nvPicPr>
            <p:cNvPr id="27" name="Graphique 26" descr="Utilisateur avec un remplissage uni">
              <a:extLst>
                <a:ext uri="{FF2B5EF4-FFF2-40B4-BE49-F238E27FC236}">
                  <a16:creationId xmlns:a16="http://schemas.microsoft.com/office/drawing/2014/main" id="{17D1F443-CA77-37E8-85FB-7A259A52D2C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28" name="Graphique 27" descr="Utilisateur avec un remplissage uni">
              <a:extLst>
                <a:ext uri="{FF2B5EF4-FFF2-40B4-BE49-F238E27FC236}">
                  <a16:creationId xmlns:a16="http://schemas.microsoft.com/office/drawing/2014/main" id="{E5E9C434-81F5-46D5-AB48-3EC0B1937D1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29" name="Graphique 28" descr="Utilisateur avec un remplissage uni">
              <a:extLst>
                <a:ext uri="{FF2B5EF4-FFF2-40B4-BE49-F238E27FC236}">
                  <a16:creationId xmlns:a16="http://schemas.microsoft.com/office/drawing/2014/main" id="{71F173B7-95C6-F632-8DB1-1B6AA3EB71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32" name="Graphique 31" descr="Utilisateur avec un remplissage uni">
              <a:extLst>
                <a:ext uri="{FF2B5EF4-FFF2-40B4-BE49-F238E27FC236}">
                  <a16:creationId xmlns:a16="http://schemas.microsoft.com/office/drawing/2014/main" id="{E12FAF77-0D0B-8F0F-D92C-698857E3498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33" name="Graphique 32" descr="Utilisateur avec un remplissage uni">
              <a:extLst>
                <a:ext uri="{FF2B5EF4-FFF2-40B4-BE49-F238E27FC236}">
                  <a16:creationId xmlns:a16="http://schemas.microsoft.com/office/drawing/2014/main" id="{D31AE095-FED7-2006-5BA5-B33B03EEFA2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34" name="Graphique 33" descr="Utilisateur avec un remplissage uni">
              <a:extLst>
                <a:ext uri="{FF2B5EF4-FFF2-40B4-BE49-F238E27FC236}">
                  <a16:creationId xmlns:a16="http://schemas.microsoft.com/office/drawing/2014/main" id="{3C27EBEA-7582-BDCE-71C2-A81D7B35F52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39" name="Graphique 38" descr="Calendrier journalier avec un remplissage uni">
            <a:extLst>
              <a:ext uri="{FF2B5EF4-FFF2-40B4-BE49-F238E27FC236}">
                <a16:creationId xmlns:a16="http://schemas.microsoft.com/office/drawing/2014/main" id="{79A0B9C7-ADAE-1B5B-83A4-42FF7894BF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502605" y="3610447"/>
            <a:ext cx="482523" cy="482523"/>
          </a:xfrm>
          <a:prstGeom prst="rect">
            <a:avLst/>
          </a:prstGeom>
        </p:spPr>
      </p:pic>
      <p:sp>
        <p:nvSpPr>
          <p:cNvPr id="45" name="Espace réservé du contenu 9">
            <a:extLst>
              <a:ext uri="{FF2B5EF4-FFF2-40B4-BE49-F238E27FC236}">
                <a16:creationId xmlns:a16="http://schemas.microsoft.com/office/drawing/2014/main" id="{0A6208D6-F8D5-454C-F742-ABF9525C8685}"/>
              </a:ext>
            </a:extLst>
          </p:cNvPr>
          <p:cNvSpPr>
            <a:spLocks noGrp="1"/>
          </p:cNvSpPr>
          <p:nvPr>
            <p:ph idx="1"/>
          </p:nvPr>
        </p:nvSpPr>
        <p:spPr>
          <a:xfrm>
            <a:off x="3388998" y="1898609"/>
            <a:ext cx="1308837" cy="369333"/>
          </a:xfrm>
        </p:spPr>
        <p:txBody>
          <a:bodyPr>
            <a:normAutofit/>
          </a:bodyPr>
          <a:lstStyle/>
          <a:p>
            <a:pPr marL="0" indent="0">
              <a:buNone/>
            </a:pPr>
            <a:r>
              <a:rPr lang="fr-FR" sz="1800" b="1" dirty="0"/>
              <a:t>EXEMPLES : </a:t>
            </a:r>
          </a:p>
          <a:p>
            <a:endParaRPr lang="fr-FR" sz="1800" b="1" dirty="0">
              <a:solidFill>
                <a:srgbClr val="ED7D31"/>
              </a:solidFill>
            </a:endParaRPr>
          </a:p>
        </p:txBody>
      </p:sp>
      <p:sp>
        <p:nvSpPr>
          <p:cNvPr id="46" name="Titre 1">
            <a:extLst>
              <a:ext uri="{FF2B5EF4-FFF2-40B4-BE49-F238E27FC236}">
                <a16:creationId xmlns:a16="http://schemas.microsoft.com/office/drawing/2014/main" id="{8D09A157-B9D8-8A42-06CA-EAD8A486CCBE}"/>
              </a:ext>
            </a:extLst>
          </p:cNvPr>
          <p:cNvSpPr txBox="1">
            <a:spLocks/>
          </p:cNvSpPr>
          <p:nvPr/>
        </p:nvSpPr>
        <p:spPr>
          <a:xfrm>
            <a:off x="838200" y="365125"/>
            <a:ext cx="10515600" cy="698163"/>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3200" dirty="0"/>
              <a:t>Communauté, réunion ponctuelle ou individus</a:t>
            </a:r>
            <a:br>
              <a:rPr lang="fr-FR" sz="3200" dirty="0"/>
            </a:br>
            <a:r>
              <a:rPr lang="fr-FR" sz="3200" dirty="0"/>
              <a:t>Exemples de cas appropriés</a:t>
            </a:r>
          </a:p>
        </p:txBody>
      </p:sp>
      <p:sp>
        <p:nvSpPr>
          <p:cNvPr id="50" name="ZoneTexte 49">
            <a:extLst>
              <a:ext uri="{FF2B5EF4-FFF2-40B4-BE49-F238E27FC236}">
                <a16:creationId xmlns:a16="http://schemas.microsoft.com/office/drawing/2014/main" id="{01140855-6ECD-A120-223E-FCF2AC466075}"/>
              </a:ext>
            </a:extLst>
          </p:cNvPr>
          <p:cNvSpPr txBox="1"/>
          <p:nvPr/>
        </p:nvSpPr>
        <p:spPr>
          <a:xfrm>
            <a:off x="3388998" y="5582168"/>
            <a:ext cx="1308837" cy="369332"/>
          </a:xfrm>
          <a:prstGeom prst="rect">
            <a:avLst/>
          </a:prstGeom>
          <a:noFill/>
        </p:spPr>
        <p:txBody>
          <a:bodyPr wrap="square">
            <a:spAutoFit/>
          </a:bodyPr>
          <a:lstStyle/>
          <a:p>
            <a:r>
              <a:rPr lang="fr-FR" b="1" dirty="0"/>
              <a:t>EXEMPLES :</a:t>
            </a:r>
            <a:endParaRPr lang="fr-FR" dirty="0">
              <a:solidFill>
                <a:srgbClr val="ED7D31"/>
              </a:solidFill>
            </a:endParaRPr>
          </a:p>
        </p:txBody>
      </p:sp>
      <p:sp>
        <p:nvSpPr>
          <p:cNvPr id="52" name="ZoneTexte 51">
            <a:extLst>
              <a:ext uri="{FF2B5EF4-FFF2-40B4-BE49-F238E27FC236}">
                <a16:creationId xmlns:a16="http://schemas.microsoft.com/office/drawing/2014/main" id="{A014BB20-4AAB-3532-C90A-08644504AF8D}"/>
              </a:ext>
            </a:extLst>
          </p:cNvPr>
          <p:cNvSpPr txBox="1"/>
          <p:nvPr/>
        </p:nvSpPr>
        <p:spPr>
          <a:xfrm>
            <a:off x="3388998" y="3851708"/>
            <a:ext cx="1308837" cy="369332"/>
          </a:xfrm>
          <a:prstGeom prst="rect">
            <a:avLst/>
          </a:prstGeom>
          <a:noFill/>
        </p:spPr>
        <p:txBody>
          <a:bodyPr wrap="square">
            <a:spAutoFit/>
          </a:bodyPr>
          <a:lstStyle/>
          <a:p>
            <a:pPr marL="0" indent="0">
              <a:buNone/>
            </a:pPr>
            <a:r>
              <a:rPr lang="fr-FR" b="1" dirty="0"/>
              <a:t>EXEMPLES :</a:t>
            </a:r>
            <a:endParaRPr lang="fr-FR" dirty="0">
              <a:solidFill>
                <a:srgbClr val="ED7D31"/>
              </a:solidFill>
            </a:endParaRPr>
          </a:p>
        </p:txBody>
      </p:sp>
      <p:pic>
        <p:nvPicPr>
          <p:cNvPr id="53" name="Graphique 52" descr="Utilisateur avec un remplissage uni">
            <a:extLst>
              <a:ext uri="{FF2B5EF4-FFF2-40B4-BE49-F238E27FC236}">
                <a16:creationId xmlns:a16="http://schemas.microsoft.com/office/drawing/2014/main" id="{0545D388-2F54-A7D1-644A-5ACD98B3BAC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90328" y="6281446"/>
            <a:ext cx="411559" cy="411559"/>
          </a:xfrm>
          <a:prstGeom prst="rect">
            <a:avLst/>
          </a:prstGeom>
        </p:spPr>
      </p:pic>
      <p:pic>
        <p:nvPicPr>
          <p:cNvPr id="54" name="Graphique 53" descr="Utilisateur avec un remplissage uni">
            <a:extLst>
              <a:ext uri="{FF2B5EF4-FFF2-40B4-BE49-F238E27FC236}">
                <a16:creationId xmlns:a16="http://schemas.microsoft.com/office/drawing/2014/main" id="{5900CEE5-AB5F-9A92-0509-460D6C72AE8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13819" y="6271790"/>
            <a:ext cx="411559" cy="411559"/>
          </a:xfrm>
          <a:prstGeom prst="rect">
            <a:avLst/>
          </a:prstGeom>
        </p:spPr>
      </p:pic>
      <p:pic>
        <p:nvPicPr>
          <p:cNvPr id="55" name="Graphique 54" descr="Utilisateur avec un remplissage uni">
            <a:extLst>
              <a:ext uri="{FF2B5EF4-FFF2-40B4-BE49-F238E27FC236}">
                <a16:creationId xmlns:a16="http://schemas.microsoft.com/office/drawing/2014/main" id="{EB65F51C-FA88-3E20-C9E4-36A4FF14920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73569" y="5531480"/>
            <a:ext cx="411559" cy="411559"/>
          </a:xfrm>
          <a:prstGeom prst="rect">
            <a:avLst/>
          </a:prstGeom>
        </p:spPr>
      </p:pic>
      <p:sp>
        <p:nvSpPr>
          <p:cNvPr id="56" name="Titre 1">
            <a:extLst>
              <a:ext uri="{FF2B5EF4-FFF2-40B4-BE49-F238E27FC236}">
                <a16:creationId xmlns:a16="http://schemas.microsoft.com/office/drawing/2014/main" id="{AAA8CB95-3AED-1346-77F9-7C3DE3F1B254}"/>
              </a:ext>
            </a:extLst>
          </p:cNvPr>
          <p:cNvSpPr txBox="1">
            <a:spLocks/>
          </p:cNvSpPr>
          <p:nvPr/>
        </p:nvSpPr>
        <p:spPr>
          <a:xfrm>
            <a:off x="161314" y="2408779"/>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57" name="Titre 1">
            <a:extLst>
              <a:ext uri="{FF2B5EF4-FFF2-40B4-BE49-F238E27FC236}">
                <a16:creationId xmlns:a16="http://schemas.microsoft.com/office/drawing/2014/main" id="{E92C0281-3601-7CA1-EDAE-6A907DD5CDE3}"/>
              </a:ext>
            </a:extLst>
          </p:cNvPr>
          <p:cNvSpPr txBox="1">
            <a:spLocks/>
          </p:cNvSpPr>
          <p:nvPr/>
        </p:nvSpPr>
        <p:spPr>
          <a:xfrm>
            <a:off x="0" y="3873786"/>
            <a:ext cx="1555855"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par</a:t>
            </a:r>
          </a:p>
          <a:p>
            <a:pPr algn="ctr"/>
            <a:r>
              <a:rPr lang="fr-FR" sz="1400" b="1" dirty="0"/>
              <a:t>réunion ponctuelle </a:t>
            </a:r>
          </a:p>
        </p:txBody>
      </p:sp>
      <p:sp>
        <p:nvSpPr>
          <p:cNvPr id="58" name="Titre 1">
            <a:extLst>
              <a:ext uri="{FF2B5EF4-FFF2-40B4-BE49-F238E27FC236}">
                <a16:creationId xmlns:a16="http://schemas.microsoft.com/office/drawing/2014/main" id="{5F0CBDD4-2B4C-F45F-E62B-1A8209F2BFFD}"/>
              </a:ext>
            </a:extLst>
          </p:cNvPr>
          <p:cNvSpPr txBox="1">
            <a:spLocks/>
          </p:cNvSpPr>
          <p:nvPr/>
        </p:nvSpPr>
        <p:spPr>
          <a:xfrm>
            <a:off x="163621" y="5476792"/>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individus</a:t>
            </a:r>
          </a:p>
        </p:txBody>
      </p:sp>
      <p:sp>
        <p:nvSpPr>
          <p:cNvPr id="35" name="Rectangle 34">
            <a:extLst>
              <a:ext uri="{FF2B5EF4-FFF2-40B4-BE49-F238E27FC236}">
                <a16:creationId xmlns:a16="http://schemas.microsoft.com/office/drawing/2014/main" id="{4D473587-28FE-722E-5718-A3DB550A431B}"/>
              </a:ext>
            </a:extLst>
          </p:cNvPr>
          <p:cNvSpPr/>
          <p:nvPr/>
        </p:nvSpPr>
        <p:spPr>
          <a:xfrm>
            <a:off x="5324448" y="1898609"/>
            <a:ext cx="1852934" cy="119122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 Des personnes aux motivations individuelles similaires, qui manquent d’</a:t>
            </a:r>
            <a:r>
              <a:rPr lang="fr-FR" sz="1200" dirty="0" err="1">
                <a:solidFill>
                  <a:schemeClr val="tx1"/>
                </a:solidFill>
              </a:rPr>
              <a:t>echos</a:t>
            </a:r>
            <a:r>
              <a:rPr lang="fr-FR" sz="1200" dirty="0">
                <a:solidFill>
                  <a:schemeClr val="tx1"/>
                </a:solidFill>
              </a:rPr>
              <a:t> ou de prise de recul dans leur position actuelle car isolés.</a:t>
            </a:r>
          </a:p>
        </p:txBody>
      </p:sp>
      <p:sp>
        <p:nvSpPr>
          <p:cNvPr id="37" name="Rectangle 36">
            <a:extLst>
              <a:ext uri="{FF2B5EF4-FFF2-40B4-BE49-F238E27FC236}">
                <a16:creationId xmlns:a16="http://schemas.microsoft.com/office/drawing/2014/main" id="{DE1A9FD3-D4F0-D67C-990E-C94B7C47E6B5}"/>
              </a:ext>
            </a:extLst>
          </p:cNvPr>
          <p:cNvSpPr/>
          <p:nvPr/>
        </p:nvSpPr>
        <p:spPr>
          <a:xfrm>
            <a:off x="7720127" y="1898609"/>
            <a:ext cx="1852934" cy="119122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 Des personnes présentes sur un même site et dont la rencontre ou combinaison d’idées pourrait faire émerger des initiatives intéressantes </a:t>
            </a:r>
          </a:p>
        </p:txBody>
      </p:sp>
      <p:sp>
        <p:nvSpPr>
          <p:cNvPr id="38" name="Rectangle 37">
            <a:extLst>
              <a:ext uri="{FF2B5EF4-FFF2-40B4-BE49-F238E27FC236}">
                <a16:creationId xmlns:a16="http://schemas.microsoft.com/office/drawing/2014/main" id="{4ED23663-42F1-A7A0-C4A2-A95A3CD82C65}"/>
              </a:ext>
            </a:extLst>
          </p:cNvPr>
          <p:cNvSpPr/>
          <p:nvPr/>
        </p:nvSpPr>
        <p:spPr>
          <a:xfrm>
            <a:off x="10115805" y="1898609"/>
            <a:ext cx="1852934" cy="119122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 De nouveaux arrivants qui cherchent à s’intégrer dans l’entreprise et développer leur réseau à l’intérieur  </a:t>
            </a:r>
          </a:p>
        </p:txBody>
      </p:sp>
      <p:sp>
        <p:nvSpPr>
          <p:cNvPr id="40" name="Rectangle 39">
            <a:extLst>
              <a:ext uri="{FF2B5EF4-FFF2-40B4-BE49-F238E27FC236}">
                <a16:creationId xmlns:a16="http://schemas.microsoft.com/office/drawing/2014/main" id="{F749CE53-6CA1-24CE-220B-F49B1795EEAF}"/>
              </a:ext>
            </a:extLst>
          </p:cNvPr>
          <p:cNvSpPr/>
          <p:nvPr/>
        </p:nvSpPr>
        <p:spPr>
          <a:xfrm>
            <a:off x="5324448" y="3845732"/>
            <a:ext cx="1852934" cy="119122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 Des professionnels colocalisés, indisponibles toute l’année, de qui on souhaiterait mettre en valeur l’importance et le volume. </a:t>
            </a:r>
          </a:p>
        </p:txBody>
      </p:sp>
      <p:sp>
        <p:nvSpPr>
          <p:cNvPr id="41" name="Rectangle 40">
            <a:extLst>
              <a:ext uri="{FF2B5EF4-FFF2-40B4-BE49-F238E27FC236}">
                <a16:creationId xmlns:a16="http://schemas.microsoft.com/office/drawing/2014/main" id="{6314A6F1-3D22-2E4B-9CEE-49230BFE5163}"/>
              </a:ext>
            </a:extLst>
          </p:cNvPr>
          <p:cNvSpPr/>
          <p:nvPr/>
        </p:nvSpPr>
        <p:spPr>
          <a:xfrm>
            <a:off x="7720127" y="3845732"/>
            <a:ext cx="1852934" cy="119122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Des personnes en demande d’une ressource ponctuelle (ex: une étude stratégique), difficilement accessible en tant qu’individus</a:t>
            </a:r>
          </a:p>
        </p:txBody>
      </p:sp>
      <p:sp>
        <p:nvSpPr>
          <p:cNvPr id="42" name="Rectangle 41">
            <a:extLst>
              <a:ext uri="{FF2B5EF4-FFF2-40B4-BE49-F238E27FC236}">
                <a16:creationId xmlns:a16="http://schemas.microsoft.com/office/drawing/2014/main" id="{7C75713B-5147-16F4-F6B1-4EAE4A494350}"/>
              </a:ext>
            </a:extLst>
          </p:cNvPr>
          <p:cNvSpPr/>
          <p:nvPr/>
        </p:nvSpPr>
        <p:spPr>
          <a:xfrm>
            <a:off x="10115805" y="3845732"/>
            <a:ext cx="1852934" cy="119122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Des personnes aux intérêts communs mais qui seront bientôt répartis et isolés les uns des autres. Ex : Gestion de crise très rare</a:t>
            </a:r>
          </a:p>
        </p:txBody>
      </p:sp>
      <p:sp>
        <p:nvSpPr>
          <p:cNvPr id="43" name="Rectangle 42">
            <a:extLst>
              <a:ext uri="{FF2B5EF4-FFF2-40B4-BE49-F238E27FC236}">
                <a16:creationId xmlns:a16="http://schemas.microsoft.com/office/drawing/2014/main" id="{3A838C10-3B27-17DE-340D-ED57EBE5A708}"/>
              </a:ext>
            </a:extLst>
          </p:cNvPr>
          <p:cNvSpPr/>
          <p:nvPr/>
        </p:nvSpPr>
        <p:spPr>
          <a:xfrm>
            <a:off x="5324448" y="5586864"/>
            <a:ext cx="1852934" cy="119122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 Des personnes souhaitant exposer le moins possible leurs difficultés et qu’on souhaiterait tout de même aider</a:t>
            </a:r>
          </a:p>
        </p:txBody>
      </p:sp>
      <p:sp>
        <p:nvSpPr>
          <p:cNvPr id="44" name="Rectangle 43">
            <a:extLst>
              <a:ext uri="{FF2B5EF4-FFF2-40B4-BE49-F238E27FC236}">
                <a16:creationId xmlns:a16="http://schemas.microsoft.com/office/drawing/2014/main" id="{104B948F-F51C-5C32-C319-1B2028C853B7}"/>
              </a:ext>
            </a:extLst>
          </p:cNvPr>
          <p:cNvSpPr/>
          <p:nvPr/>
        </p:nvSpPr>
        <p:spPr>
          <a:xfrm>
            <a:off x="7715932" y="5586864"/>
            <a:ext cx="1852934" cy="119122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Des personnes aux besoins et objectifs différents, répartis sur différents fuseaux horaires, qu’on souhaite former à un même outil (difficile)</a:t>
            </a:r>
          </a:p>
        </p:txBody>
      </p:sp>
      <p:sp>
        <p:nvSpPr>
          <p:cNvPr id="47" name="Rectangle 46">
            <a:extLst>
              <a:ext uri="{FF2B5EF4-FFF2-40B4-BE49-F238E27FC236}">
                <a16:creationId xmlns:a16="http://schemas.microsoft.com/office/drawing/2014/main" id="{ED5BB2F9-8C39-56DF-0D78-CE55EBC72079}"/>
              </a:ext>
            </a:extLst>
          </p:cNvPr>
          <p:cNvSpPr/>
          <p:nvPr/>
        </p:nvSpPr>
        <p:spPr>
          <a:xfrm>
            <a:off x="10107416" y="5586864"/>
            <a:ext cx="1852934" cy="119122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Des personnes individuellement en compétition directe les uns contre les autres qui ont très peu d’intérêt stratégique à partager la moindre information</a:t>
            </a:r>
          </a:p>
        </p:txBody>
      </p:sp>
    </p:spTree>
    <p:extLst>
      <p:ext uri="{BB962C8B-B14F-4D97-AF65-F5344CB8AC3E}">
        <p14:creationId xmlns:p14="http://schemas.microsoft.com/office/powerpoint/2010/main" val="143333329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DEE560F-324E-9A1E-9A7A-807B5D33F118}"/>
              </a:ext>
            </a:extLst>
          </p:cNvPr>
          <p:cNvSpPr>
            <a:spLocks noGrp="1"/>
          </p:cNvSpPr>
          <p:nvPr>
            <p:ph type="title"/>
          </p:nvPr>
        </p:nvSpPr>
        <p:spPr>
          <a:xfrm>
            <a:off x="838200" y="365125"/>
            <a:ext cx="10515600" cy="927571"/>
          </a:xfrm>
        </p:spPr>
        <p:txBody>
          <a:bodyPr>
            <a:noAutofit/>
          </a:bodyPr>
          <a:lstStyle/>
          <a:p>
            <a:r>
              <a:rPr lang="fr-FR" sz="2800" dirty="0"/>
              <a:t>Communauté, réunion ponctuelle ou individus</a:t>
            </a:r>
            <a:br>
              <a:rPr lang="fr-FR" sz="2800" dirty="0"/>
            </a:br>
            <a:r>
              <a:rPr lang="fr-FR" sz="2800" dirty="0"/>
              <a:t>Avantages et Inconvénients</a:t>
            </a:r>
          </a:p>
        </p:txBody>
      </p:sp>
      <p:sp>
        <p:nvSpPr>
          <p:cNvPr id="36" name="Rectangle 35">
            <a:extLst>
              <a:ext uri="{FF2B5EF4-FFF2-40B4-BE49-F238E27FC236}">
                <a16:creationId xmlns:a16="http://schemas.microsoft.com/office/drawing/2014/main" id="{E1C0F271-15EF-9EFD-C264-D8D21694DDC4}"/>
              </a:ext>
            </a:extLst>
          </p:cNvPr>
          <p:cNvSpPr/>
          <p:nvPr/>
        </p:nvSpPr>
        <p:spPr>
          <a:xfrm>
            <a:off x="3476971" y="5229526"/>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Plus grande flexibilité horaire et logistique</a:t>
            </a:r>
          </a:p>
        </p:txBody>
      </p:sp>
      <p:sp>
        <p:nvSpPr>
          <p:cNvPr id="37" name="Rectangle 36">
            <a:extLst>
              <a:ext uri="{FF2B5EF4-FFF2-40B4-BE49-F238E27FC236}">
                <a16:creationId xmlns:a16="http://schemas.microsoft.com/office/drawing/2014/main" id="{8129E8EC-1A4E-A4CF-8FB1-1FF50971C8D1}"/>
              </a:ext>
            </a:extLst>
          </p:cNvPr>
          <p:cNvSpPr/>
          <p:nvPr/>
        </p:nvSpPr>
        <p:spPr>
          <a:xfrm>
            <a:off x="9213922" y="5214826"/>
            <a:ext cx="1348313"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Moins de ressources mises en commun</a:t>
            </a:r>
          </a:p>
        </p:txBody>
      </p:sp>
      <p:sp>
        <p:nvSpPr>
          <p:cNvPr id="41" name="Titre 1">
            <a:extLst>
              <a:ext uri="{FF2B5EF4-FFF2-40B4-BE49-F238E27FC236}">
                <a16:creationId xmlns:a16="http://schemas.microsoft.com/office/drawing/2014/main" id="{8EEAC673-2EB0-3E3B-2D3B-DBAD9450FE00}"/>
              </a:ext>
            </a:extLst>
          </p:cNvPr>
          <p:cNvSpPr txBox="1">
            <a:spLocks/>
          </p:cNvSpPr>
          <p:nvPr/>
        </p:nvSpPr>
        <p:spPr>
          <a:xfrm>
            <a:off x="4475444" y="1475212"/>
            <a:ext cx="1537788" cy="307755"/>
          </a:xfrm>
          <a:prstGeom prst="rect">
            <a:avLst/>
          </a:prstGeom>
        </p:spPr>
        <p:txBody>
          <a:bodyPr vert="horz" lIns="91440" tIns="45720" rIns="91440" bIns="45720" rtlCol="0" anchor="ctr">
            <a:normAutofit fontScale="925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rgbClr val="00B050"/>
                </a:solidFill>
              </a:rPr>
              <a:t>Avantages</a:t>
            </a:r>
          </a:p>
        </p:txBody>
      </p:sp>
      <p:sp>
        <p:nvSpPr>
          <p:cNvPr id="43" name="Titre 1">
            <a:extLst>
              <a:ext uri="{FF2B5EF4-FFF2-40B4-BE49-F238E27FC236}">
                <a16:creationId xmlns:a16="http://schemas.microsoft.com/office/drawing/2014/main" id="{F2DBF301-8434-FA63-AAB1-0F943DC408B5}"/>
              </a:ext>
            </a:extLst>
          </p:cNvPr>
          <p:cNvSpPr txBox="1">
            <a:spLocks/>
          </p:cNvSpPr>
          <p:nvPr/>
        </p:nvSpPr>
        <p:spPr>
          <a:xfrm>
            <a:off x="8337124" y="1475212"/>
            <a:ext cx="1537788" cy="307755"/>
          </a:xfrm>
          <a:prstGeom prst="rect">
            <a:avLst/>
          </a:prstGeom>
        </p:spPr>
        <p:txBody>
          <a:bodyPr vert="horz" lIns="91440" tIns="45720" rIns="91440" bIns="45720" rtlCol="0" anchor="ctr">
            <a:normAutofit fontScale="925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rgbClr val="FF0000"/>
                </a:solidFill>
              </a:rPr>
              <a:t>Inconvénients</a:t>
            </a:r>
          </a:p>
        </p:txBody>
      </p:sp>
      <p:sp>
        <p:nvSpPr>
          <p:cNvPr id="35" name="Rectangle 34">
            <a:extLst>
              <a:ext uri="{FF2B5EF4-FFF2-40B4-BE49-F238E27FC236}">
                <a16:creationId xmlns:a16="http://schemas.microsoft.com/office/drawing/2014/main" id="{26D41E4A-74FC-86E4-92D2-7A2502902FA0}"/>
              </a:ext>
            </a:extLst>
          </p:cNvPr>
          <p:cNvSpPr/>
          <p:nvPr/>
        </p:nvSpPr>
        <p:spPr>
          <a:xfrm>
            <a:off x="9183476" y="1810177"/>
            <a:ext cx="1348313"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Risque d’effet « Spam » sur les interactions</a:t>
            </a:r>
          </a:p>
        </p:txBody>
      </p:sp>
      <p:sp>
        <p:nvSpPr>
          <p:cNvPr id="38" name="Rectangle 37">
            <a:extLst>
              <a:ext uri="{FF2B5EF4-FFF2-40B4-BE49-F238E27FC236}">
                <a16:creationId xmlns:a16="http://schemas.microsoft.com/office/drawing/2014/main" id="{23B4BAB8-5578-7150-E279-45194DA309B4}"/>
              </a:ext>
            </a:extLst>
          </p:cNvPr>
          <p:cNvSpPr/>
          <p:nvPr/>
        </p:nvSpPr>
        <p:spPr>
          <a:xfrm>
            <a:off x="7759632" y="1810177"/>
            <a:ext cx="1348313"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Coût élevé de coordination et d’alignement</a:t>
            </a:r>
          </a:p>
        </p:txBody>
      </p:sp>
      <p:sp>
        <p:nvSpPr>
          <p:cNvPr id="40" name="Rectangle 39">
            <a:extLst>
              <a:ext uri="{FF2B5EF4-FFF2-40B4-BE49-F238E27FC236}">
                <a16:creationId xmlns:a16="http://schemas.microsoft.com/office/drawing/2014/main" id="{B560087D-F074-B5DF-3787-BB0A6FE49624}"/>
              </a:ext>
            </a:extLst>
          </p:cNvPr>
          <p:cNvSpPr/>
          <p:nvPr/>
        </p:nvSpPr>
        <p:spPr>
          <a:xfrm>
            <a:off x="10607320" y="1810177"/>
            <a:ext cx="1348313"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Concessions régulières sur les intérêts et  motivations personnelles</a:t>
            </a:r>
          </a:p>
        </p:txBody>
      </p:sp>
      <p:sp>
        <p:nvSpPr>
          <p:cNvPr id="42" name="Rectangle 41">
            <a:extLst>
              <a:ext uri="{FF2B5EF4-FFF2-40B4-BE49-F238E27FC236}">
                <a16:creationId xmlns:a16="http://schemas.microsoft.com/office/drawing/2014/main" id="{0F183DD7-2164-09DF-3E5E-1F39963B5801}"/>
              </a:ext>
            </a:extLst>
          </p:cNvPr>
          <p:cNvSpPr/>
          <p:nvPr/>
        </p:nvSpPr>
        <p:spPr>
          <a:xfrm>
            <a:off x="3488100" y="1810177"/>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Moyens « rentabilisés » dans le nombre et dans le temps</a:t>
            </a:r>
          </a:p>
        </p:txBody>
      </p:sp>
      <p:sp>
        <p:nvSpPr>
          <p:cNvPr id="44" name="Rectangle 43">
            <a:extLst>
              <a:ext uri="{FF2B5EF4-FFF2-40B4-BE49-F238E27FC236}">
                <a16:creationId xmlns:a16="http://schemas.microsoft.com/office/drawing/2014/main" id="{41AB8223-B52F-4A76-FB93-771F0D389937}"/>
              </a:ext>
            </a:extLst>
          </p:cNvPr>
          <p:cNvSpPr/>
          <p:nvPr/>
        </p:nvSpPr>
        <p:spPr>
          <a:xfrm>
            <a:off x="7759632" y="3702361"/>
            <a:ext cx="1348313"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Nécessité de trouver une disponibilité commune</a:t>
            </a:r>
          </a:p>
        </p:txBody>
      </p:sp>
      <p:sp>
        <p:nvSpPr>
          <p:cNvPr id="45" name="Flèche : double flèche horizontale 44">
            <a:extLst>
              <a:ext uri="{FF2B5EF4-FFF2-40B4-BE49-F238E27FC236}">
                <a16:creationId xmlns:a16="http://schemas.microsoft.com/office/drawing/2014/main" id="{1055CEC7-0B36-D4F3-0B13-FD9B62501CFD}"/>
              </a:ext>
            </a:extLst>
          </p:cNvPr>
          <p:cNvSpPr/>
          <p:nvPr/>
        </p:nvSpPr>
        <p:spPr>
          <a:xfrm rot="5400000">
            <a:off x="-835531" y="3928098"/>
            <a:ext cx="5060060" cy="387138"/>
          </a:xfrm>
          <a:prstGeom prst="lef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46" name="Groupe 45">
            <a:extLst>
              <a:ext uri="{FF2B5EF4-FFF2-40B4-BE49-F238E27FC236}">
                <a16:creationId xmlns:a16="http://schemas.microsoft.com/office/drawing/2014/main" id="{9D7A2E63-E59E-9A77-CCD4-A379E3EDBE87}"/>
              </a:ext>
            </a:extLst>
          </p:cNvPr>
          <p:cNvGrpSpPr/>
          <p:nvPr/>
        </p:nvGrpSpPr>
        <p:grpSpPr>
          <a:xfrm>
            <a:off x="1791054" y="1860085"/>
            <a:ext cx="1507135" cy="1270634"/>
            <a:chOff x="8982504" y="3274976"/>
            <a:chExt cx="1230670" cy="1037553"/>
          </a:xfrm>
          <a:solidFill>
            <a:srgbClr val="ED7D31"/>
          </a:solidFill>
        </p:grpSpPr>
        <p:pic>
          <p:nvPicPr>
            <p:cNvPr id="47" name="Graphique 46" descr="Utilisateur avec un remplissage uni">
              <a:extLst>
                <a:ext uri="{FF2B5EF4-FFF2-40B4-BE49-F238E27FC236}">
                  <a16:creationId xmlns:a16="http://schemas.microsoft.com/office/drawing/2014/main" id="{39B444FD-80A8-66DB-726F-F16DB9CD0FC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48" name="Graphique 47" descr="Utilisateur avec un remplissage uni">
              <a:extLst>
                <a:ext uri="{FF2B5EF4-FFF2-40B4-BE49-F238E27FC236}">
                  <a16:creationId xmlns:a16="http://schemas.microsoft.com/office/drawing/2014/main" id="{4121FAFA-A1D8-64A7-724E-7586A9E4E90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49" name="Graphique 48" descr="Utilisateur avec un remplissage uni">
              <a:extLst>
                <a:ext uri="{FF2B5EF4-FFF2-40B4-BE49-F238E27FC236}">
                  <a16:creationId xmlns:a16="http://schemas.microsoft.com/office/drawing/2014/main" id="{8FDF60CC-43C4-9500-6A11-ADF4E1A283E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50" name="Graphique 49" descr="Utilisateur avec un remplissage uni">
              <a:extLst>
                <a:ext uri="{FF2B5EF4-FFF2-40B4-BE49-F238E27FC236}">
                  <a16:creationId xmlns:a16="http://schemas.microsoft.com/office/drawing/2014/main" id="{999E2D40-9998-89E7-FD23-96FF36F5A3E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51" name="Graphique 50" descr="Utilisateur avec un remplissage uni">
              <a:extLst>
                <a:ext uri="{FF2B5EF4-FFF2-40B4-BE49-F238E27FC236}">
                  <a16:creationId xmlns:a16="http://schemas.microsoft.com/office/drawing/2014/main" id="{B9D82742-57C7-E09C-7D4C-02EACE380AE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52" name="Graphique 51" descr="Utilisateur avec un remplissage uni">
              <a:extLst>
                <a:ext uri="{FF2B5EF4-FFF2-40B4-BE49-F238E27FC236}">
                  <a16:creationId xmlns:a16="http://schemas.microsoft.com/office/drawing/2014/main" id="{0D9EDD5C-4E8B-0E53-AB6A-679B9811FD8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53" name="Graphique 52" descr="Utilisateur avec un remplissage uni">
              <a:extLst>
                <a:ext uri="{FF2B5EF4-FFF2-40B4-BE49-F238E27FC236}">
                  <a16:creationId xmlns:a16="http://schemas.microsoft.com/office/drawing/2014/main" id="{194983C5-EE63-507F-83FA-DE77766E20C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54" name="Graphique 53" descr="Utilisateur avec un remplissage uni">
              <a:extLst>
                <a:ext uri="{FF2B5EF4-FFF2-40B4-BE49-F238E27FC236}">
                  <a16:creationId xmlns:a16="http://schemas.microsoft.com/office/drawing/2014/main" id="{F8B7C5DD-C372-2A68-EC05-16FDA600691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55" name="Graphique 54" descr="Utilisateur avec un remplissage uni">
              <a:extLst>
                <a:ext uri="{FF2B5EF4-FFF2-40B4-BE49-F238E27FC236}">
                  <a16:creationId xmlns:a16="http://schemas.microsoft.com/office/drawing/2014/main" id="{7EB07ED3-E819-9C40-F46C-744CAE9F59D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56" name="Graphique 55" descr="Utilisateur avec un remplissage uni">
              <a:extLst>
                <a:ext uri="{FF2B5EF4-FFF2-40B4-BE49-F238E27FC236}">
                  <a16:creationId xmlns:a16="http://schemas.microsoft.com/office/drawing/2014/main" id="{E35DB0FD-E37B-05C5-39D4-7C1B1878CF6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57" name="Graphique 56" descr="Utilisateur avec un remplissage uni">
              <a:extLst>
                <a:ext uri="{FF2B5EF4-FFF2-40B4-BE49-F238E27FC236}">
                  <a16:creationId xmlns:a16="http://schemas.microsoft.com/office/drawing/2014/main" id="{BB6801E8-CFF0-F7AD-8C3A-B1E32AE0928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58" name="Graphique 57" descr="Utilisateur avec un remplissage uni">
            <a:extLst>
              <a:ext uri="{FF2B5EF4-FFF2-40B4-BE49-F238E27FC236}">
                <a16:creationId xmlns:a16="http://schemas.microsoft.com/office/drawing/2014/main" id="{8C19BF22-9D54-F454-4E9C-3BEE0166F9B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24179" y="5582168"/>
            <a:ext cx="411559" cy="411559"/>
          </a:xfrm>
          <a:prstGeom prst="rect">
            <a:avLst/>
          </a:prstGeom>
        </p:spPr>
      </p:pic>
      <p:grpSp>
        <p:nvGrpSpPr>
          <p:cNvPr id="59" name="Groupe 58">
            <a:extLst>
              <a:ext uri="{FF2B5EF4-FFF2-40B4-BE49-F238E27FC236}">
                <a16:creationId xmlns:a16="http://schemas.microsoft.com/office/drawing/2014/main" id="{F19101C4-6465-E3FF-9770-F490987B90CB}"/>
              </a:ext>
            </a:extLst>
          </p:cNvPr>
          <p:cNvGrpSpPr/>
          <p:nvPr/>
        </p:nvGrpSpPr>
        <p:grpSpPr>
          <a:xfrm>
            <a:off x="1830713" y="3656787"/>
            <a:ext cx="1062451" cy="1094956"/>
            <a:chOff x="9345616" y="3418428"/>
            <a:chExt cx="867558" cy="894101"/>
          </a:xfrm>
          <a:solidFill>
            <a:srgbClr val="ED7D31"/>
          </a:solidFill>
        </p:grpSpPr>
        <p:pic>
          <p:nvPicPr>
            <p:cNvPr id="60" name="Graphique 59" descr="Utilisateur avec un remplissage uni">
              <a:extLst>
                <a:ext uri="{FF2B5EF4-FFF2-40B4-BE49-F238E27FC236}">
                  <a16:creationId xmlns:a16="http://schemas.microsoft.com/office/drawing/2014/main" id="{7E8C39C9-8A77-1DFE-8026-CF6D6CE235F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61" name="Graphique 60" descr="Utilisateur avec un remplissage uni">
              <a:extLst>
                <a:ext uri="{FF2B5EF4-FFF2-40B4-BE49-F238E27FC236}">
                  <a16:creationId xmlns:a16="http://schemas.microsoft.com/office/drawing/2014/main" id="{6701EA38-E008-3996-FF39-41A9D33581C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62" name="Graphique 61" descr="Utilisateur avec un remplissage uni">
              <a:extLst>
                <a:ext uri="{FF2B5EF4-FFF2-40B4-BE49-F238E27FC236}">
                  <a16:creationId xmlns:a16="http://schemas.microsoft.com/office/drawing/2014/main" id="{34B88E59-8CD8-C587-6A62-D9FE35FB0DC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63" name="Graphique 62" descr="Utilisateur avec un remplissage uni">
              <a:extLst>
                <a:ext uri="{FF2B5EF4-FFF2-40B4-BE49-F238E27FC236}">
                  <a16:creationId xmlns:a16="http://schemas.microsoft.com/office/drawing/2014/main" id="{196F86A7-8431-950C-AD4A-37B08C6DBE4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64" name="Graphique 63" descr="Utilisateur avec un remplissage uni">
              <a:extLst>
                <a:ext uri="{FF2B5EF4-FFF2-40B4-BE49-F238E27FC236}">
                  <a16:creationId xmlns:a16="http://schemas.microsoft.com/office/drawing/2014/main" id="{0C765C9F-4BE3-5D3E-5755-A1137ADEA3A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65" name="Graphique 64" descr="Utilisateur avec un remplissage uni">
              <a:extLst>
                <a:ext uri="{FF2B5EF4-FFF2-40B4-BE49-F238E27FC236}">
                  <a16:creationId xmlns:a16="http://schemas.microsoft.com/office/drawing/2014/main" id="{92A7FB78-3EB8-6F1D-93A3-E951967B5A9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66" name="Graphique 65" descr="Calendrier journalier avec un remplissage uni">
            <a:extLst>
              <a:ext uri="{FF2B5EF4-FFF2-40B4-BE49-F238E27FC236}">
                <a16:creationId xmlns:a16="http://schemas.microsoft.com/office/drawing/2014/main" id="{AD426CDA-EC05-08AF-3E2B-0A123973207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502605" y="3610447"/>
            <a:ext cx="482523" cy="482523"/>
          </a:xfrm>
          <a:prstGeom prst="rect">
            <a:avLst/>
          </a:prstGeom>
        </p:spPr>
      </p:pic>
      <p:pic>
        <p:nvPicPr>
          <p:cNvPr id="67" name="Graphique 66" descr="Utilisateur avec un remplissage uni">
            <a:extLst>
              <a:ext uri="{FF2B5EF4-FFF2-40B4-BE49-F238E27FC236}">
                <a16:creationId xmlns:a16="http://schemas.microsoft.com/office/drawing/2014/main" id="{C2333899-CF64-16BC-B1EA-98E6BEFB597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90328" y="6281446"/>
            <a:ext cx="411559" cy="411559"/>
          </a:xfrm>
          <a:prstGeom prst="rect">
            <a:avLst/>
          </a:prstGeom>
        </p:spPr>
      </p:pic>
      <p:pic>
        <p:nvPicPr>
          <p:cNvPr id="68" name="Graphique 67" descr="Utilisateur avec un remplissage uni">
            <a:extLst>
              <a:ext uri="{FF2B5EF4-FFF2-40B4-BE49-F238E27FC236}">
                <a16:creationId xmlns:a16="http://schemas.microsoft.com/office/drawing/2014/main" id="{9561C8DF-D03E-D0C8-BD8B-A4F92D520A1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13819" y="6271790"/>
            <a:ext cx="411559" cy="411559"/>
          </a:xfrm>
          <a:prstGeom prst="rect">
            <a:avLst/>
          </a:prstGeom>
        </p:spPr>
      </p:pic>
      <p:pic>
        <p:nvPicPr>
          <p:cNvPr id="69" name="Graphique 68" descr="Utilisateur avec un remplissage uni">
            <a:extLst>
              <a:ext uri="{FF2B5EF4-FFF2-40B4-BE49-F238E27FC236}">
                <a16:creationId xmlns:a16="http://schemas.microsoft.com/office/drawing/2014/main" id="{D90FFEB9-19C7-B946-BDA3-6CB4543F18F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73569" y="5531480"/>
            <a:ext cx="411559" cy="411559"/>
          </a:xfrm>
          <a:prstGeom prst="rect">
            <a:avLst/>
          </a:prstGeom>
        </p:spPr>
      </p:pic>
      <p:sp>
        <p:nvSpPr>
          <p:cNvPr id="70" name="Titre 1">
            <a:extLst>
              <a:ext uri="{FF2B5EF4-FFF2-40B4-BE49-F238E27FC236}">
                <a16:creationId xmlns:a16="http://schemas.microsoft.com/office/drawing/2014/main" id="{85B31F1C-D617-0F17-AAE9-BFF39828ADE9}"/>
              </a:ext>
            </a:extLst>
          </p:cNvPr>
          <p:cNvSpPr txBox="1">
            <a:spLocks/>
          </p:cNvSpPr>
          <p:nvPr/>
        </p:nvSpPr>
        <p:spPr>
          <a:xfrm>
            <a:off x="161314" y="2408779"/>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71" name="Titre 1">
            <a:extLst>
              <a:ext uri="{FF2B5EF4-FFF2-40B4-BE49-F238E27FC236}">
                <a16:creationId xmlns:a16="http://schemas.microsoft.com/office/drawing/2014/main" id="{73BD49D6-C812-CB56-BB3E-B5119F3B5781}"/>
              </a:ext>
            </a:extLst>
          </p:cNvPr>
          <p:cNvSpPr txBox="1">
            <a:spLocks/>
          </p:cNvSpPr>
          <p:nvPr/>
        </p:nvSpPr>
        <p:spPr>
          <a:xfrm>
            <a:off x="0" y="3873786"/>
            <a:ext cx="1555855"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par</a:t>
            </a:r>
          </a:p>
          <a:p>
            <a:pPr algn="ctr"/>
            <a:r>
              <a:rPr lang="fr-FR" sz="1400" b="1" dirty="0"/>
              <a:t>réunion ponctuelle </a:t>
            </a:r>
          </a:p>
        </p:txBody>
      </p:sp>
      <p:sp>
        <p:nvSpPr>
          <p:cNvPr id="72" name="Titre 1">
            <a:extLst>
              <a:ext uri="{FF2B5EF4-FFF2-40B4-BE49-F238E27FC236}">
                <a16:creationId xmlns:a16="http://schemas.microsoft.com/office/drawing/2014/main" id="{DD0BF466-B611-A1A9-D766-FB408D012355}"/>
              </a:ext>
            </a:extLst>
          </p:cNvPr>
          <p:cNvSpPr txBox="1">
            <a:spLocks/>
          </p:cNvSpPr>
          <p:nvPr/>
        </p:nvSpPr>
        <p:spPr>
          <a:xfrm>
            <a:off x="163621" y="5476792"/>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individus</a:t>
            </a:r>
          </a:p>
        </p:txBody>
      </p:sp>
      <p:sp>
        <p:nvSpPr>
          <p:cNvPr id="73" name="Rectangle 72">
            <a:extLst>
              <a:ext uri="{FF2B5EF4-FFF2-40B4-BE49-F238E27FC236}">
                <a16:creationId xmlns:a16="http://schemas.microsoft.com/office/drawing/2014/main" id="{5B09704C-EDA4-49DB-D05A-59A30F66F2CB}"/>
              </a:ext>
            </a:extLst>
          </p:cNvPr>
          <p:cNvSpPr/>
          <p:nvPr/>
        </p:nvSpPr>
        <p:spPr>
          <a:xfrm>
            <a:off x="7746296" y="5214826"/>
            <a:ext cx="1348313"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Risque de travail en double ou plus et autres redondances</a:t>
            </a:r>
          </a:p>
        </p:txBody>
      </p:sp>
      <p:sp>
        <p:nvSpPr>
          <p:cNvPr id="74" name="Rectangle 73">
            <a:extLst>
              <a:ext uri="{FF2B5EF4-FFF2-40B4-BE49-F238E27FC236}">
                <a16:creationId xmlns:a16="http://schemas.microsoft.com/office/drawing/2014/main" id="{2BF72806-7EA6-C893-1536-034FC44CA020}"/>
              </a:ext>
            </a:extLst>
          </p:cNvPr>
          <p:cNvSpPr/>
          <p:nvPr/>
        </p:nvSpPr>
        <p:spPr>
          <a:xfrm>
            <a:off x="7746296" y="6044061"/>
            <a:ext cx="1348313"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Limite en taille des ambitions</a:t>
            </a:r>
          </a:p>
        </p:txBody>
      </p:sp>
      <p:sp>
        <p:nvSpPr>
          <p:cNvPr id="75" name="Rectangle 74">
            <a:extLst>
              <a:ext uri="{FF2B5EF4-FFF2-40B4-BE49-F238E27FC236}">
                <a16:creationId xmlns:a16="http://schemas.microsoft.com/office/drawing/2014/main" id="{D4A4F265-4FB3-3864-D10A-8882353E3EDE}"/>
              </a:ext>
            </a:extLst>
          </p:cNvPr>
          <p:cNvSpPr/>
          <p:nvPr/>
        </p:nvSpPr>
        <p:spPr>
          <a:xfrm>
            <a:off x="4911944" y="1810177"/>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Plus grande amplitude de choix en termes d’ambition</a:t>
            </a:r>
          </a:p>
        </p:txBody>
      </p:sp>
      <p:sp>
        <p:nvSpPr>
          <p:cNvPr id="77" name="Rectangle 76">
            <a:extLst>
              <a:ext uri="{FF2B5EF4-FFF2-40B4-BE49-F238E27FC236}">
                <a16:creationId xmlns:a16="http://schemas.microsoft.com/office/drawing/2014/main" id="{ABCE168B-58AB-E257-DB69-1D2DDCE5F36D}"/>
              </a:ext>
            </a:extLst>
          </p:cNvPr>
          <p:cNvSpPr/>
          <p:nvPr/>
        </p:nvSpPr>
        <p:spPr>
          <a:xfrm>
            <a:off x="3481826" y="3702997"/>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Meilleur pour saisir les opportunités ponctuelles</a:t>
            </a:r>
          </a:p>
        </p:txBody>
      </p:sp>
      <p:sp>
        <p:nvSpPr>
          <p:cNvPr id="76" name="Rectangle 75">
            <a:extLst>
              <a:ext uri="{FF2B5EF4-FFF2-40B4-BE49-F238E27FC236}">
                <a16:creationId xmlns:a16="http://schemas.microsoft.com/office/drawing/2014/main" id="{DF16A9DE-97E0-06FA-F034-5307711231C0}"/>
              </a:ext>
            </a:extLst>
          </p:cNvPr>
          <p:cNvSpPr/>
          <p:nvPr/>
        </p:nvSpPr>
        <p:spPr>
          <a:xfrm>
            <a:off x="6335788" y="1810177"/>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Peut se construire progressivement dans le temps</a:t>
            </a:r>
          </a:p>
        </p:txBody>
      </p:sp>
      <p:sp>
        <p:nvSpPr>
          <p:cNvPr id="78" name="Rectangle 77">
            <a:extLst>
              <a:ext uri="{FF2B5EF4-FFF2-40B4-BE49-F238E27FC236}">
                <a16:creationId xmlns:a16="http://schemas.microsoft.com/office/drawing/2014/main" id="{98AD3C8F-76F7-BE8B-86C4-8BB8C575BD1A}"/>
              </a:ext>
            </a:extLst>
          </p:cNvPr>
          <p:cNvSpPr/>
          <p:nvPr/>
        </p:nvSpPr>
        <p:spPr>
          <a:xfrm>
            <a:off x="4898540" y="5220160"/>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Permet d’aller plus en profondeur avec chaque personne</a:t>
            </a:r>
          </a:p>
        </p:txBody>
      </p:sp>
      <p:sp>
        <p:nvSpPr>
          <p:cNvPr id="79" name="Rectangle 78">
            <a:extLst>
              <a:ext uri="{FF2B5EF4-FFF2-40B4-BE49-F238E27FC236}">
                <a16:creationId xmlns:a16="http://schemas.microsoft.com/office/drawing/2014/main" id="{01273B76-7BCB-A186-5A72-43811606A485}"/>
              </a:ext>
            </a:extLst>
          </p:cNvPr>
          <p:cNvSpPr/>
          <p:nvPr/>
        </p:nvSpPr>
        <p:spPr>
          <a:xfrm>
            <a:off x="9225091" y="3697744"/>
            <a:ext cx="1348314"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Moins de chances de maturation de relations entre membres</a:t>
            </a:r>
          </a:p>
        </p:txBody>
      </p:sp>
      <p:sp>
        <p:nvSpPr>
          <p:cNvPr id="80" name="Rectangle 79">
            <a:extLst>
              <a:ext uri="{FF2B5EF4-FFF2-40B4-BE49-F238E27FC236}">
                <a16:creationId xmlns:a16="http://schemas.microsoft.com/office/drawing/2014/main" id="{453CB2EE-DF82-64C0-9E7A-A54E9686C56E}"/>
              </a:ext>
            </a:extLst>
          </p:cNvPr>
          <p:cNvSpPr/>
          <p:nvPr/>
        </p:nvSpPr>
        <p:spPr>
          <a:xfrm>
            <a:off x="10668234" y="5229526"/>
            <a:ext cx="1348314"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Pas de relations entre membres </a:t>
            </a:r>
          </a:p>
        </p:txBody>
      </p:sp>
      <p:sp>
        <p:nvSpPr>
          <p:cNvPr id="81" name="Rectangle 80">
            <a:extLst>
              <a:ext uri="{FF2B5EF4-FFF2-40B4-BE49-F238E27FC236}">
                <a16:creationId xmlns:a16="http://schemas.microsoft.com/office/drawing/2014/main" id="{61C15C06-BE70-F83D-B854-28E7288CE7C6}"/>
              </a:ext>
            </a:extLst>
          </p:cNvPr>
          <p:cNvSpPr/>
          <p:nvPr/>
        </p:nvSpPr>
        <p:spPr>
          <a:xfrm>
            <a:off x="4902719" y="3697744"/>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Coût moyen réduit (en commun et pour ressources  ponctuelles)</a:t>
            </a:r>
          </a:p>
        </p:txBody>
      </p:sp>
      <p:sp>
        <p:nvSpPr>
          <p:cNvPr id="84" name="Rectangle 83">
            <a:extLst>
              <a:ext uri="{FF2B5EF4-FFF2-40B4-BE49-F238E27FC236}">
                <a16:creationId xmlns:a16="http://schemas.microsoft.com/office/drawing/2014/main" id="{B99DC497-E101-4711-895B-DB88F27A8E60}"/>
              </a:ext>
            </a:extLst>
          </p:cNvPr>
          <p:cNvSpPr/>
          <p:nvPr/>
        </p:nvSpPr>
        <p:spPr>
          <a:xfrm>
            <a:off x="6324727" y="5220161"/>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Pas de charge d’établir des relations entre membres</a:t>
            </a:r>
          </a:p>
        </p:txBody>
      </p:sp>
      <p:sp>
        <p:nvSpPr>
          <p:cNvPr id="85" name="Rectangle 84">
            <a:extLst>
              <a:ext uri="{FF2B5EF4-FFF2-40B4-BE49-F238E27FC236}">
                <a16:creationId xmlns:a16="http://schemas.microsoft.com/office/drawing/2014/main" id="{9F683565-DB8C-469F-A7EE-6B61E53B9565}"/>
              </a:ext>
            </a:extLst>
          </p:cNvPr>
          <p:cNvSpPr/>
          <p:nvPr/>
        </p:nvSpPr>
        <p:spPr>
          <a:xfrm>
            <a:off x="3463367" y="6044061"/>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Liberté de choix individuels</a:t>
            </a:r>
          </a:p>
        </p:txBody>
      </p:sp>
      <p:sp>
        <p:nvSpPr>
          <p:cNvPr id="82" name="Rectangle 81">
            <a:extLst>
              <a:ext uri="{FF2B5EF4-FFF2-40B4-BE49-F238E27FC236}">
                <a16:creationId xmlns:a16="http://schemas.microsoft.com/office/drawing/2014/main" id="{1BF2CEC2-B404-7781-4849-C6754F676FB7}"/>
              </a:ext>
            </a:extLst>
          </p:cNvPr>
          <p:cNvSpPr/>
          <p:nvPr/>
        </p:nvSpPr>
        <p:spPr>
          <a:xfrm>
            <a:off x="3488797" y="2599024"/>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Développe du lien et du sentiment d’appartenance</a:t>
            </a:r>
          </a:p>
        </p:txBody>
      </p:sp>
      <p:sp>
        <p:nvSpPr>
          <p:cNvPr id="83" name="Rectangle 82">
            <a:extLst>
              <a:ext uri="{FF2B5EF4-FFF2-40B4-BE49-F238E27FC236}">
                <a16:creationId xmlns:a16="http://schemas.microsoft.com/office/drawing/2014/main" id="{E164BF83-F24D-6014-BBB6-B223D96A5BF3}"/>
              </a:ext>
            </a:extLst>
          </p:cNvPr>
          <p:cNvSpPr/>
          <p:nvPr/>
        </p:nvSpPr>
        <p:spPr>
          <a:xfrm>
            <a:off x="6327554" y="3697744"/>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Lien possible (dépendra des volontés de chacun) mais pas de sentiment d’appartenance</a:t>
            </a:r>
          </a:p>
        </p:txBody>
      </p:sp>
      <p:sp>
        <p:nvSpPr>
          <p:cNvPr id="86" name="Rectangle 85">
            <a:extLst>
              <a:ext uri="{FF2B5EF4-FFF2-40B4-BE49-F238E27FC236}">
                <a16:creationId xmlns:a16="http://schemas.microsoft.com/office/drawing/2014/main" id="{7DB687C9-A818-BAA7-9192-445497671435}"/>
              </a:ext>
            </a:extLst>
          </p:cNvPr>
          <p:cNvSpPr/>
          <p:nvPr/>
        </p:nvSpPr>
        <p:spPr>
          <a:xfrm>
            <a:off x="9225091" y="6044061"/>
            <a:ext cx="1348313"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Chances faibles voire nulles voire négatives de sentiment d’appartenance</a:t>
            </a:r>
          </a:p>
        </p:txBody>
      </p:sp>
      <p:sp>
        <p:nvSpPr>
          <p:cNvPr id="87" name="Rectangle 86">
            <a:extLst>
              <a:ext uri="{FF2B5EF4-FFF2-40B4-BE49-F238E27FC236}">
                <a16:creationId xmlns:a16="http://schemas.microsoft.com/office/drawing/2014/main" id="{379FE2E1-383E-8470-0AF5-6AF2D95E90FC}"/>
              </a:ext>
            </a:extLst>
          </p:cNvPr>
          <p:cNvSpPr/>
          <p:nvPr/>
        </p:nvSpPr>
        <p:spPr>
          <a:xfrm>
            <a:off x="4898539" y="6044060"/>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Coût de structuration de départ faible, coût faible pour un petit nombre d’interactions</a:t>
            </a:r>
          </a:p>
        </p:txBody>
      </p:sp>
      <p:sp>
        <p:nvSpPr>
          <p:cNvPr id="88" name="Rectangle 87">
            <a:extLst>
              <a:ext uri="{FF2B5EF4-FFF2-40B4-BE49-F238E27FC236}">
                <a16:creationId xmlns:a16="http://schemas.microsoft.com/office/drawing/2014/main" id="{078E7BF1-F722-FDF8-772C-E38FD5EF0B89}"/>
              </a:ext>
            </a:extLst>
          </p:cNvPr>
          <p:cNvSpPr/>
          <p:nvPr/>
        </p:nvSpPr>
        <p:spPr>
          <a:xfrm>
            <a:off x="4911944" y="2593771"/>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Coût de structuration faible pour un grand nombre d’interactions</a:t>
            </a:r>
          </a:p>
        </p:txBody>
      </p:sp>
      <p:sp>
        <p:nvSpPr>
          <p:cNvPr id="89" name="Rectangle 88">
            <a:extLst>
              <a:ext uri="{FF2B5EF4-FFF2-40B4-BE49-F238E27FC236}">
                <a16:creationId xmlns:a16="http://schemas.microsoft.com/office/drawing/2014/main" id="{68D1CC57-29F6-268B-0337-F5AC33538D0B}"/>
              </a:ext>
            </a:extLst>
          </p:cNvPr>
          <p:cNvSpPr/>
          <p:nvPr/>
        </p:nvSpPr>
        <p:spPr>
          <a:xfrm>
            <a:off x="6341670" y="6044059"/>
            <a:ext cx="1348313" cy="74120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Plus grande chances de générer de l’attention  concentrée et de la disponibilité</a:t>
            </a:r>
          </a:p>
        </p:txBody>
      </p:sp>
      <p:sp>
        <p:nvSpPr>
          <p:cNvPr id="90" name="Rectangle 89">
            <a:extLst>
              <a:ext uri="{FF2B5EF4-FFF2-40B4-BE49-F238E27FC236}">
                <a16:creationId xmlns:a16="http://schemas.microsoft.com/office/drawing/2014/main" id="{BF059BF5-9B7A-E5BF-6E44-1875D96C97AA}"/>
              </a:ext>
            </a:extLst>
          </p:cNvPr>
          <p:cNvSpPr/>
          <p:nvPr/>
        </p:nvSpPr>
        <p:spPr>
          <a:xfrm>
            <a:off x="10657169" y="3708291"/>
            <a:ext cx="1348314"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Risque d’attention diluée ou très variable malgré disponibilité commune</a:t>
            </a:r>
          </a:p>
        </p:txBody>
      </p:sp>
      <p:sp>
        <p:nvSpPr>
          <p:cNvPr id="91" name="Rectangle 90">
            <a:extLst>
              <a:ext uri="{FF2B5EF4-FFF2-40B4-BE49-F238E27FC236}">
                <a16:creationId xmlns:a16="http://schemas.microsoft.com/office/drawing/2014/main" id="{36FDC11B-0FFF-FA70-7C99-E043CE4E261C}"/>
              </a:ext>
            </a:extLst>
          </p:cNvPr>
          <p:cNvSpPr/>
          <p:nvPr/>
        </p:nvSpPr>
        <p:spPr>
          <a:xfrm>
            <a:off x="7759632" y="2623000"/>
            <a:ext cx="1348313"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Risque d’attention et de disponibilités diluées et très variables</a:t>
            </a:r>
          </a:p>
        </p:txBody>
      </p:sp>
      <p:sp>
        <p:nvSpPr>
          <p:cNvPr id="92" name="Rectangle 91">
            <a:extLst>
              <a:ext uri="{FF2B5EF4-FFF2-40B4-BE49-F238E27FC236}">
                <a16:creationId xmlns:a16="http://schemas.microsoft.com/office/drawing/2014/main" id="{A7446411-5A28-8BBC-BB68-FB418913AE85}"/>
              </a:ext>
            </a:extLst>
          </p:cNvPr>
          <p:cNvSpPr/>
          <p:nvPr/>
        </p:nvSpPr>
        <p:spPr>
          <a:xfrm>
            <a:off x="9183476" y="2623000"/>
            <a:ext cx="1348313" cy="74120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Coût de lancement élevé et besoin d’un effort récurrent d’animation</a:t>
            </a:r>
          </a:p>
        </p:txBody>
      </p:sp>
    </p:spTree>
    <p:extLst>
      <p:ext uri="{BB962C8B-B14F-4D97-AF65-F5344CB8AC3E}">
        <p14:creationId xmlns:p14="http://schemas.microsoft.com/office/powerpoint/2010/main" val="425115595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DEE560F-324E-9A1E-9A7A-807B5D33F118}"/>
              </a:ext>
            </a:extLst>
          </p:cNvPr>
          <p:cNvSpPr>
            <a:spLocks noGrp="1"/>
          </p:cNvSpPr>
          <p:nvPr>
            <p:ph type="title"/>
          </p:nvPr>
        </p:nvSpPr>
        <p:spPr>
          <a:xfrm>
            <a:off x="838200" y="365126"/>
            <a:ext cx="10515600" cy="731662"/>
          </a:xfrm>
        </p:spPr>
        <p:txBody>
          <a:bodyPr>
            <a:noAutofit/>
          </a:bodyPr>
          <a:lstStyle/>
          <a:p>
            <a:r>
              <a:rPr lang="fr-FR" sz="2800" dirty="0"/>
              <a:t>Communauté, réunion ponctuelle ou individus</a:t>
            </a:r>
            <a:br>
              <a:rPr lang="fr-FR" sz="2800" dirty="0"/>
            </a:br>
            <a:r>
              <a:rPr lang="fr-FR" sz="2800" dirty="0"/>
              <a:t>Exemples de conditions favorables aux différentes approches</a:t>
            </a:r>
          </a:p>
        </p:txBody>
      </p:sp>
      <p:sp>
        <p:nvSpPr>
          <p:cNvPr id="57" name="Flèche : double flèche horizontale 56">
            <a:extLst>
              <a:ext uri="{FF2B5EF4-FFF2-40B4-BE49-F238E27FC236}">
                <a16:creationId xmlns:a16="http://schemas.microsoft.com/office/drawing/2014/main" id="{0F58E9E7-9BB8-0B12-90B6-A1CA1B8A2589}"/>
              </a:ext>
            </a:extLst>
          </p:cNvPr>
          <p:cNvSpPr/>
          <p:nvPr/>
        </p:nvSpPr>
        <p:spPr>
          <a:xfrm rot="5400000">
            <a:off x="-835531" y="3928098"/>
            <a:ext cx="5060060" cy="387138"/>
          </a:xfrm>
          <a:prstGeom prst="lef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58" name="Groupe 57">
            <a:extLst>
              <a:ext uri="{FF2B5EF4-FFF2-40B4-BE49-F238E27FC236}">
                <a16:creationId xmlns:a16="http://schemas.microsoft.com/office/drawing/2014/main" id="{382F5184-74BF-1060-335D-2D3D0FEC7248}"/>
              </a:ext>
            </a:extLst>
          </p:cNvPr>
          <p:cNvGrpSpPr/>
          <p:nvPr/>
        </p:nvGrpSpPr>
        <p:grpSpPr>
          <a:xfrm>
            <a:off x="1791054" y="1860085"/>
            <a:ext cx="1507135" cy="1270634"/>
            <a:chOff x="8982504" y="3274976"/>
            <a:chExt cx="1230670" cy="1037553"/>
          </a:xfrm>
          <a:solidFill>
            <a:srgbClr val="ED7D31"/>
          </a:solidFill>
        </p:grpSpPr>
        <p:pic>
          <p:nvPicPr>
            <p:cNvPr id="59" name="Graphique 58" descr="Utilisateur avec un remplissage uni">
              <a:extLst>
                <a:ext uri="{FF2B5EF4-FFF2-40B4-BE49-F238E27FC236}">
                  <a16:creationId xmlns:a16="http://schemas.microsoft.com/office/drawing/2014/main" id="{A27B56B9-D7E3-DC5C-12A7-C6228C6F07F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60" name="Graphique 59" descr="Utilisateur avec un remplissage uni">
              <a:extLst>
                <a:ext uri="{FF2B5EF4-FFF2-40B4-BE49-F238E27FC236}">
                  <a16:creationId xmlns:a16="http://schemas.microsoft.com/office/drawing/2014/main" id="{867C0C23-C915-977D-AD4F-8D4A3A8CF9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61" name="Graphique 60" descr="Utilisateur avec un remplissage uni">
              <a:extLst>
                <a:ext uri="{FF2B5EF4-FFF2-40B4-BE49-F238E27FC236}">
                  <a16:creationId xmlns:a16="http://schemas.microsoft.com/office/drawing/2014/main" id="{75D3D6AB-090D-ED61-5F4E-6AB2D6D910E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62" name="Graphique 61" descr="Utilisateur avec un remplissage uni">
              <a:extLst>
                <a:ext uri="{FF2B5EF4-FFF2-40B4-BE49-F238E27FC236}">
                  <a16:creationId xmlns:a16="http://schemas.microsoft.com/office/drawing/2014/main" id="{4DAC0A45-9E92-F8CD-E43F-A6A013AE8D3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63" name="Graphique 62" descr="Utilisateur avec un remplissage uni">
              <a:extLst>
                <a:ext uri="{FF2B5EF4-FFF2-40B4-BE49-F238E27FC236}">
                  <a16:creationId xmlns:a16="http://schemas.microsoft.com/office/drawing/2014/main" id="{F17307F1-D200-6606-B9E5-B218CE64E7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64" name="Graphique 63" descr="Utilisateur avec un remplissage uni">
              <a:extLst>
                <a:ext uri="{FF2B5EF4-FFF2-40B4-BE49-F238E27FC236}">
                  <a16:creationId xmlns:a16="http://schemas.microsoft.com/office/drawing/2014/main" id="{85D61B09-4C25-6A84-9A89-B9919B8C78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65" name="Graphique 64" descr="Utilisateur avec un remplissage uni">
              <a:extLst>
                <a:ext uri="{FF2B5EF4-FFF2-40B4-BE49-F238E27FC236}">
                  <a16:creationId xmlns:a16="http://schemas.microsoft.com/office/drawing/2014/main" id="{89B9D389-BB34-C31C-556C-2FF3CD68E48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66" name="Graphique 65" descr="Utilisateur avec un remplissage uni">
              <a:extLst>
                <a:ext uri="{FF2B5EF4-FFF2-40B4-BE49-F238E27FC236}">
                  <a16:creationId xmlns:a16="http://schemas.microsoft.com/office/drawing/2014/main" id="{F3E0318C-5F2C-E766-2317-0DEBF38C273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67" name="Graphique 66" descr="Utilisateur avec un remplissage uni">
              <a:extLst>
                <a:ext uri="{FF2B5EF4-FFF2-40B4-BE49-F238E27FC236}">
                  <a16:creationId xmlns:a16="http://schemas.microsoft.com/office/drawing/2014/main" id="{A65B93B4-1AD3-7EEC-6373-F9D5815418A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68" name="Graphique 67" descr="Utilisateur avec un remplissage uni">
              <a:extLst>
                <a:ext uri="{FF2B5EF4-FFF2-40B4-BE49-F238E27FC236}">
                  <a16:creationId xmlns:a16="http://schemas.microsoft.com/office/drawing/2014/main" id="{8773DF0D-B6DD-BE8D-A98C-5A096D630FE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69" name="Graphique 68" descr="Utilisateur avec un remplissage uni">
              <a:extLst>
                <a:ext uri="{FF2B5EF4-FFF2-40B4-BE49-F238E27FC236}">
                  <a16:creationId xmlns:a16="http://schemas.microsoft.com/office/drawing/2014/main" id="{FE7231DB-1E8D-2B9C-11C9-2941BDB080C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70" name="Graphique 69" descr="Utilisateur avec un remplissage uni">
            <a:extLst>
              <a:ext uri="{FF2B5EF4-FFF2-40B4-BE49-F238E27FC236}">
                <a16:creationId xmlns:a16="http://schemas.microsoft.com/office/drawing/2014/main" id="{9F62980A-40B6-FAAD-4078-B001B315E0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24179" y="5582168"/>
            <a:ext cx="411559" cy="411559"/>
          </a:xfrm>
          <a:prstGeom prst="rect">
            <a:avLst/>
          </a:prstGeom>
        </p:spPr>
      </p:pic>
      <p:grpSp>
        <p:nvGrpSpPr>
          <p:cNvPr id="71" name="Groupe 70">
            <a:extLst>
              <a:ext uri="{FF2B5EF4-FFF2-40B4-BE49-F238E27FC236}">
                <a16:creationId xmlns:a16="http://schemas.microsoft.com/office/drawing/2014/main" id="{38314FC3-83AD-E3DD-69EE-9D44F11AAF2B}"/>
              </a:ext>
            </a:extLst>
          </p:cNvPr>
          <p:cNvGrpSpPr/>
          <p:nvPr/>
        </p:nvGrpSpPr>
        <p:grpSpPr>
          <a:xfrm>
            <a:off x="1830713" y="3656787"/>
            <a:ext cx="1062451" cy="1094956"/>
            <a:chOff x="9345616" y="3418428"/>
            <a:chExt cx="867558" cy="894101"/>
          </a:xfrm>
          <a:solidFill>
            <a:srgbClr val="ED7D31"/>
          </a:solidFill>
        </p:grpSpPr>
        <p:pic>
          <p:nvPicPr>
            <p:cNvPr id="72" name="Graphique 71" descr="Utilisateur avec un remplissage uni">
              <a:extLst>
                <a:ext uri="{FF2B5EF4-FFF2-40B4-BE49-F238E27FC236}">
                  <a16:creationId xmlns:a16="http://schemas.microsoft.com/office/drawing/2014/main" id="{4F8FA9B5-771A-AB3A-391D-EA39432BB5B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73" name="Graphique 72" descr="Utilisateur avec un remplissage uni">
              <a:extLst>
                <a:ext uri="{FF2B5EF4-FFF2-40B4-BE49-F238E27FC236}">
                  <a16:creationId xmlns:a16="http://schemas.microsoft.com/office/drawing/2014/main" id="{2BD09AFB-599C-9386-00A8-C5AC6CAF144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74" name="Graphique 73" descr="Utilisateur avec un remplissage uni">
              <a:extLst>
                <a:ext uri="{FF2B5EF4-FFF2-40B4-BE49-F238E27FC236}">
                  <a16:creationId xmlns:a16="http://schemas.microsoft.com/office/drawing/2014/main" id="{ADA3112A-A80F-D966-ECF2-66B498FE2C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75" name="Graphique 74" descr="Utilisateur avec un remplissage uni">
              <a:extLst>
                <a:ext uri="{FF2B5EF4-FFF2-40B4-BE49-F238E27FC236}">
                  <a16:creationId xmlns:a16="http://schemas.microsoft.com/office/drawing/2014/main" id="{B6E386FD-D9FB-204C-8CD1-1EBAA7ED5C9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76" name="Graphique 75" descr="Utilisateur avec un remplissage uni">
              <a:extLst>
                <a:ext uri="{FF2B5EF4-FFF2-40B4-BE49-F238E27FC236}">
                  <a16:creationId xmlns:a16="http://schemas.microsoft.com/office/drawing/2014/main" id="{B18115A8-DC68-5608-0B45-64AF07A5B83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77" name="Graphique 76" descr="Utilisateur avec un remplissage uni">
              <a:extLst>
                <a:ext uri="{FF2B5EF4-FFF2-40B4-BE49-F238E27FC236}">
                  <a16:creationId xmlns:a16="http://schemas.microsoft.com/office/drawing/2014/main" id="{6CE9A41C-C24C-A843-8F75-D538493B5D7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78" name="Graphique 77" descr="Calendrier journalier avec un remplissage uni">
            <a:extLst>
              <a:ext uri="{FF2B5EF4-FFF2-40B4-BE49-F238E27FC236}">
                <a16:creationId xmlns:a16="http://schemas.microsoft.com/office/drawing/2014/main" id="{6DDFFF10-5078-805D-9579-D7E1FD07EB8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502605" y="3610447"/>
            <a:ext cx="482523" cy="482523"/>
          </a:xfrm>
          <a:prstGeom prst="rect">
            <a:avLst/>
          </a:prstGeom>
        </p:spPr>
      </p:pic>
      <p:pic>
        <p:nvPicPr>
          <p:cNvPr id="79" name="Graphique 78" descr="Utilisateur avec un remplissage uni">
            <a:extLst>
              <a:ext uri="{FF2B5EF4-FFF2-40B4-BE49-F238E27FC236}">
                <a16:creationId xmlns:a16="http://schemas.microsoft.com/office/drawing/2014/main" id="{2D447ED1-A736-26D5-3FF2-698C9000330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90328" y="6281446"/>
            <a:ext cx="411559" cy="411559"/>
          </a:xfrm>
          <a:prstGeom prst="rect">
            <a:avLst/>
          </a:prstGeom>
        </p:spPr>
      </p:pic>
      <p:pic>
        <p:nvPicPr>
          <p:cNvPr id="80" name="Graphique 79" descr="Utilisateur avec un remplissage uni">
            <a:extLst>
              <a:ext uri="{FF2B5EF4-FFF2-40B4-BE49-F238E27FC236}">
                <a16:creationId xmlns:a16="http://schemas.microsoft.com/office/drawing/2014/main" id="{6009EF81-9F33-D1B7-1A13-E1BC1A8D82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13819" y="6271790"/>
            <a:ext cx="411559" cy="411559"/>
          </a:xfrm>
          <a:prstGeom prst="rect">
            <a:avLst/>
          </a:prstGeom>
        </p:spPr>
      </p:pic>
      <p:pic>
        <p:nvPicPr>
          <p:cNvPr id="81" name="Graphique 80" descr="Utilisateur avec un remplissage uni">
            <a:extLst>
              <a:ext uri="{FF2B5EF4-FFF2-40B4-BE49-F238E27FC236}">
                <a16:creationId xmlns:a16="http://schemas.microsoft.com/office/drawing/2014/main" id="{40C73136-637A-D31D-E58F-45805ED2D24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73569" y="5531480"/>
            <a:ext cx="411559" cy="411559"/>
          </a:xfrm>
          <a:prstGeom prst="rect">
            <a:avLst/>
          </a:prstGeom>
        </p:spPr>
      </p:pic>
      <p:sp>
        <p:nvSpPr>
          <p:cNvPr id="82" name="Titre 1">
            <a:extLst>
              <a:ext uri="{FF2B5EF4-FFF2-40B4-BE49-F238E27FC236}">
                <a16:creationId xmlns:a16="http://schemas.microsoft.com/office/drawing/2014/main" id="{6CA63C5A-15C4-F309-30F4-8B235319F9D4}"/>
              </a:ext>
            </a:extLst>
          </p:cNvPr>
          <p:cNvSpPr txBox="1">
            <a:spLocks/>
          </p:cNvSpPr>
          <p:nvPr/>
        </p:nvSpPr>
        <p:spPr>
          <a:xfrm>
            <a:off x="161314" y="2408779"/>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83" name="Titre 1">
            <a:extLst>
              <a:ext uri="{FF2B5EF4-FFF2-40B4-BE49-F238E27FC236}">
                <a16:creationId xmlns:a16="http://schemas.microsoft.com/office/drawing/2014/main" id="{124EEC28-F865-3329-B96F-F12045ACF31B}"/>
              </a:ext>
            </a:extLst>
          </p:cNvPr>
          <p:cNvSpPr txBox="1">
            <a:spLocks/>
          </p:cNvSpPr>
          <p:nvPr/>
        </p:nvSpPr>
        <p:spPr>
          <a:xfrm>
            <a:off x="0" y="3873786"/>
            <a:ext cx="1555855"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par</a:t>
            </a:r>
          </a:p>
          <a:p>
            <a:pPr algn="ctr"/>
            <a:r>
              <a:rPr lang="fr-FR" sz="1400" b="1" dirty="0"/>
              <a:t>réunion ponctuelle </a:t>
            </a:r>
          </a:p>
        </p:txBody>
      </p:sp>
      <p:sp>
        <p:nvSpPr>
          <p:cNvPr id="84" name="Titre 1">
            <a:extLst>
              <a:ext uri="{FF2B5EF4-FFF2-40B4-BE49-F238E27FC236}">
                <a16:creationId xmlns:a16="http://schemas.microsoft.com/office/drawing/2014/main" id="{C4BF8A4D-124F-550E-8706-F326B43F29DF}"/>
              </a:ext>
            </a:extLst>
          </p:cNvPr>
          <p:cNvSpPr txBox="1">
            <a:spLocks/>
          </p:cNvSpPr>
          <p:nvPr/>
        </p:nvSpPr>
        <p:spPr>
          <a:xfrm>
            <a:off x="163621" y="5476792"/>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individus</a:t>
            </a:r>
          </a:p>
        </p:txBody>
      </p:sp>
      <p:sp>
        <p:nvSpPr>
          <p:cNvPr id="43" name="Rectangle 42">
            <a:extLst>
              <a:ext uri="{FF2B5EF4-FFF2-40B4-BE49-F238E27FC236}">
                <a16:creationId xmlns:a16="http://schemas.microsoft.com/office/drawing/2014/main" id="{1D899B4F-91C2-9D3E-0E85-B7E57945B65E}"/>
              </a:ext>
            </a:extLst>
          </p:cNvPr>
          <p:cNvSpPr/>
          <p:nvPr/>
        </p:nvSpPr>
        <p:spPr>
          <a:xfrm>
            <a:off x="6341407" y="6179829"/>
            <a:ext cx="1389788"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Capacité d’interaction individuelle très riche, et difficultés en groupe</a:t>
            </a:r>
          </a:p>
        </p:txBody>
      </p:sp>
      <p:sp>
        <p:nvSpPr>
          <p:cNvPr id="42" name="Rectangle 41">
            <a:extLst>
              <a:ext uri="{FF2B5EF4-FFF2-40B4-BE49-F238E27FC236}">
                <a16:creationId xmlns:a16="http://schemas.microsoft.com/office/drawing/2014/main" id="{63728F05-B120-715B-19BD-F2BA979AB245}"/>
              </a:ext>
            </a:extLst>
          </p:cNvPr>
          <p:cNvSpPr/>
          <p:nvPr/>
        </p:nvSpPr>
        <p:spPr>
          <a:xfrm>
            <a:off x="3298189" y="5476792"/>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Culture individualiste ou solitaire</a:t>
            </a:r>
          </a:p>
        </p:txBody>
      </p:sp>
      <p:sp>
        <p:nvSpPr>
          <p:cNvPr id="44" name="Rectangle 43">
            <a:extLst>
              <a:ext uri="{FF2B5EF4-FFF2-40B4-BE49-F238E27FC236}">
                <a16:creationId xmlns:a16="http://schemas.microsoft.com/office/drawing/2014/main" id="{D423472F-8315-DC94-AFFB-80B875702483}"/>
              </a:ext>
            </a:extLst>
          </p:cNvPr>
          <p:cNvSpPr/>
          <p:nvPr/>
        </p:nvSpPr>
        <p:spPr>
          <a:xfrm>
            <a:off x="3320108" y="1698269"/>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Culture grégaire et goût d’appartenir à un groupe</a:t>
            </a:r>
          </a:p>
        </p:txBody>
      </p:sp>
      <p:sp>
        <p:nvSpPr>
          <p:cNvPr id="45" name="Rectangle 44">
            <a:extLst>
              <a:ext uri="{FF2B5EF4-FFF2-40B4-BE49-F238E27FC236}">
                <a16:creationId xmlns:a16="http://schemas.microsoft.com/office/drawing/2014/main" id="{8B7B9D5D-5599-CCC8-9299-64F3AF54932B}"/>
              </a:ext>
            </a:extLst>
          </p:cNvPr>
          <p:cNvSpPr/>
          <p:nvPr/>
        </p:nvSpPr>
        <p:spPr>
          <a:xfrm>
            <a:off x="3310405" y="3713048"/>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Culture événementielle, de l’instantané</a:t>
            </a:r>
          </a:p>
        </p:txBody>
      </p:sp>
      <p:sp>
        <p:nvSpPr>
          <p:cNvPr id="46" name="Rectangle 45">
            <a:extLst>
              <a:ext uri="{FF2B5EF4-FFF2-40B4-BE49-F238E27FC236}">
                <a16:creationId xmlns:a16="http://schemas.microsoft.com/office/drawing/2014/main" id="{A1B2BA74-DA70-BBAF-0EBF-1D71564E0BD7}"/>
              </a:ext>
            </a:extLst>
          </p:cNvPr>
          <p:cNvSpPr/>
          <p:nvPr/>
        </p:nvSpPr>
        <p:spPr>
          <a:xfrm>
            <a:off x="4809932" y="5476792"/>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Crainte de l’engagement relationnel ou social</a:t>
            </a:r>
          </a:p>
        </p:txBody>
      </p:sp>
      <p:sp>
        <p:nvSpPr>
          <p:cNvPr id="47" name="Rectangle 46">
            <a:extLst>
              <a:ext uri="{FF2B5EF4-FFF2-40B4-BE49-F238E27FC236}">
                <a16:creationId xmlns:a16="http://schemas.microsoft.com/office/drawing/2014/main" id="{266FC75A-4D3D-CDB8-7733-5F6BA24AB1B3}"/>
              </a:ext>
            </a:extLst>
          </p:cNvPr>
          <p:cNvSpPr/>
          <p:nvPr/>
        </p:nvSpPr>
        <p:spPr>
          <a:xfrm>
            <a:off x="4801638" y="3713048"/>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Engagement mais crainte de l’engagement dans la durée</a:t>
            </a:r>
          </a:p>
        </p:txBody>
      </p:sp>
      <p:sp>
        <p:nvSpPr>
          <p:cNvPr id="48" name="Rectangle 47">
            <a:extLst>
              <a:ext uri="{FF2B5EF4-FFF2-40B4-BE49-F238E27FC236}">
                <a16:creationId xmlns:a16="http://schemas.microsoft.com/office/drawing/2014/main" id="{324B22F9-43CC-8F1A-B18F-3DB67E3BADB6}"/>
              </a:ext>
            </a:extLst>
          </p:cNvPr>
          <p:cNvSpPr/>
          <p:nvPr/>
        </p:nvSpPr>
        <p:spPr>
          <a:xfrm>
            <a:off x="6321675" y="5476792"/>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Volonté d’anonymat persistant</a:t>
            </a:r>
          </a:p>
        </p:txBody>
      </p:sp>
      <p:sp>
        <p:nvSpPr>
          <p:cNvPr id="50" name="Rectangle 49">
            <a:extLst>
              <a:ext uri="{FF2B5EF4-FFF2-40B4-BE49-F238E27FC236}">
                <a16:creationId xmlns:a16="http://schemas.microsoft.com/office/drawing/2014/main" id="{6E1EB383-00C0-58C6-1067-0F604A7EEEB5}"/>
              </a:ext>
            </a:extLst>
          </p:cNvPr>
          <p:cNvSpPr/>
          <p:nvPr/>
        </p:nvSpPr>
        <p:spPr>
          <a:xfrm>
            <a:off x="7833418" y="5476792"/>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Ressources mutuellement exclusives entre individus</a:t>
            </a:r>
          </a:p>
        </p:txBody>
      </p:sp>
      <p:sp>
        <p:nvSpPr>
          <p:cNvPr id="52" name="Rectangle 51">
            <a:extLst>
              <a:ext uri="{FF2B5EF4-FFF2-40B4-BE49-F238E27FC236}">
                <a16:creationId xmlns:a16="http://schemas.microsoft.com/office/drawing/2014/main" id="{F13228C1-5BE7-C2CF-4751-41D68E85C732}"/>
              </a:ext>
            </a:extLst>
          </p:cNvPr>
          <p:cNvSpPr/>
          <p:nvPr/>
        </p:nvSpPr>
        <p:spPr>
          <a:xfrm>
            <a:off x="9275337" y="3713048"/>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Propension ou capacité pour l’interaction limitée</a:t>
            </a:r>
          </a:p>
        </p:txBody>
      </p:sp>
      <p:sp>
        <p:nvSpPr>
          <p:cNvPr id="53" name="Rectangle 52">
            <a:extLst>
              <a:ext uri="{FF2B5EF4-FFF2-40B4-BE49-F238E27FC236}">
                <a16:creationId xmlns:a16="http://schemas.microsoft.com/office/drawing/2014/main" id="{CD4DA4B1-0447-57F7-C991-C86A3BBEC4C8}"/>
              </a:ext>
            </a:extLst>
          </p:cNvPr>
          <p:cNvSpPr/>
          <p:nvPr/>
        </p:nvSpPr>
        <p:spPr>
          <a:xfrm>
            <a:off x="9345161" y="5476792"/>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Réticence ou rejet des interactions</a:t>
            </a:r>
          </a:p>
        </p:txBody>
      </p:sp>
      <p:sp>
        <p:nvSpPr>
          <p:cNvPr id="54" name="Rectangle 53">
            <a:extLst>
              <a:ext uri="{FF2B5EF4-FFF2-40B4-BE49-F238E27FC236}">
                <a16:creationId xmlns:a16="http://schemas.microsoft.com/office/drawing/2014/main" id="{740E7866-8B69-70B8-9981-77ADA63C5B07}"/>
              </a:ext>
            </a:extLst>
          </p:cNvPr>
          <p:cNvSpPr/>
          <p:nvPr/>
        </p:nvSpPr>
        <p:spPr>
          <a:xfrm>
            <a:off x="9275337" y="1698269"/>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Propension ou capacité pour de multiples interactions</a:t>
            </a:r>
          </a:p>
        </p:txBody>
      </p:sp>
      <p:sp>
        <p:nvSpPr>
          <p:cNvPr id="56" name="Rectangle 55">
            <a:extLst>
              <a:ext uri="{FF2B5EF4-FFF2-40B4-BE49-F238E27FC236}">
                <a16:creationId xmlns:a16="http://schemas.microsoft.com/office/drawing/2014/main" id="{976352E5-BF35-63EE-69CA-4FE433DF7D1E}"/>
              </a:ext>
            </a:extLst>
          </p:cNvPr>
          <p:cNvSpPr/>
          <p:nvPr/>
        </p:nvSpPr>
        <p:spPr>
          <a:xfrm>
            <a:off x="4822147" y="6189714"/>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Besoin ou sujet très spécifique à l’individu</a:t>
            </a:r>
          </a:p>
        </p:txBody>
      </p:sp>
      <p:sp>
        <p:nvSpPr>
          <p:cNvPr id="49" name="Rectangle 48">
            <a:extLst>
              <a:ext uri="{FF2B5EF4-FFF2-40B4-BE49-F238E27FC236}">
                <a16:creationId xmlns:a16="http://schemas.microsoft.com/office/drawing/2014/main" id="{D5F351A7-AD66-2495-6503-F4742929A9FA}"/>
              </a:ext>
            </a:extLst>
          </p:cNvPr>
          <p:cNvSpPr/>
          <p:nvPr/>
        </p:nvSpPr>
        <p:spPr>
          <a:xfrm>
            <a:off x="6292871" y="3713048"/>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Goût et préférence pour le contact éphémère</a:t>
            </a:r>
          </a:p>
        </p:txBody>
      </p:sp>
      <p:sp>
        <p:nvSpPr>
          <p:cNvPr id="55" name="Rectangle 54">
            <a:extLst>
              <a:ext uri="{FF2B5EF4-FFF2-40B4-BE49-F238E27FC236}">
                <a16:creationId xmlns:a16="http://schemas.microsoft.com/office/drawing/2014/main" id="{B2980A49-382C-9864-5622-A0BB33B579AF}"/>
              </a:ext>
            </a:extLst>
          </p:cNvPr>
          <p:cNvSpPr/>
          <p:nvPr/>
        </p:nvSpPr>
        <p:spPr>
          <a:xfrm>
            <a:off x="6297722" y="1698269"/>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Goût pour l’établissement de relations</a:t>
            </a:r>
          </a:p>
        </p:txBody>
      </p:sp>
      <p:sp>
        <p:nvSpPr>
          <p:cNvPr id="85" name="Rectangle 84">
            <a:extLst>
              <a:ext uri="{FF2B5EF4-FFF2-40B4-BE49-F238E27FC236}">
                <a16:creationId xmlns:a16="http://schemas.microsoft.com/office/drawing/2014/main" id="{244858A7-A764-E379-ED7A-214313C6336C}"/>
              </a:ext>
            </a:extLst>
          </p:cNvPr>
          <p:cNvSpPr/>
          <p:nvPr/>
        </p:nvSpPr>
        <p:spPr>
          <a:xfrm>
            <a:off x="7786529" y="1698269"/>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Ressources avec possible mise en commun dans le temps</a:t>
            </a:r>
          </a:p>
        </p:txBody>
      </p:sp>
      <p:sp>
        <p:nvSpPr>
          <p:cNvPr id="86" name="Rectangle 85">
            <a:extLst>
              <a:ext uri="{FF2B5EF4-FFF2-40B4-BE49-F238E27FC236}">
                <a16:creationId xmlns:a16="http://schemas.microsoft.com/office/drawing/2014/main" id="{ACCE2264-C7F4-A588-71D9-6B5A5472D4C4}"/>
              </a:ext>
            </a:extLst>
          </p:cNvPr>
          <p:cNvSpPr/>
          <p:nvPr/>
        </p:nvSpPr>
        <p:spPr>
          <a:xfrm>
            <a:off x="7784104" y="3713048"/>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Ressources collectives mais à usage limité dans le temps</a:t>
            </a:r>
          </a:p>
        </p:txBody>
      </p:sp>
      <p:sp>
        <p:nvSpPr>
          <p:cNvPr id="87" name="Rectangle 86">
            <a:extLst>
              <a:ext uri="{FF2B5EF4-FFF2-40B4-BE49-F238E27FC236}">
                <a16:creationId xmlns:a16="http://schemas.microsoft.com/office/drawing/2014/main" id="{138F13EA-E97D-895F-6BDC-B74C6BA0BC2A}"/>
              </a:ext>
            </a:extLst>
          </p:cNvPr>
          <p:cNvSpPr/>
          <p:nvPr/>
        </p:nvSpPr>
        <p:spPr>
          <a:xfrm>
            <a:off x="4808915" y="1698269"/>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Crainte de l’isolation dans la durée</a:t>
            </a:r>
          </a:p>
        </p:txBody>
      </p:sp>
      <p:sp>
        <p:nvSpPr>
          <p:cNvPr id="88" name="Rectangle 87">
            <a:extLst>
              <a:ext uri="{FF2B5EF4-FFF2-40B4-BE49-F238E27FC236}">
                <a16:creationId xmlns:a16="http://schemas.microsoft.com/office/drawing/2014/main" id="{C470C7EA-E961-BFD9-F851-A54B639CA516}"/>
              </a:ext>
            </a:extLst>
          </p:cNvPr>
          <p:cNvSpPr/>
          <p:nvPr/>
        </p:nvSpPr>
        <p:spPr>
          <a:xfrm>
            <a:off x="3310404" y="4416085"/>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Disponibilité commune très faible, et en synchrone uniquement</a:t>
            </a:r>
          </a:p>
        </p:txBody>
      </p:sp>
      <p:sp>
        <p:nvSpPr>
          <p:cNvPr id="90" name="Rectangle 89">
            <a:extLst>
              <a:ext uri="{FF2B5EF4-FFF2-40B4-BE49-F238E27FC236}">
                <a16:creationId xmlns:a16="http://schemas.microsoft.com/office/drawing/2014/main" id="{6C4FE127-B08D-1712-3542-CEA6A7760E29}"/>
              </a:ext>
            </a:extLst>
          </p:cNvPr>
          <p:cNvSpPr/>
          <p:nvPr/>
        </p:nvSpPr>
        <p:spPr>
          <a:xfrm>
            <a:off x="3301229" y="6179829"/>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Volonté d’optimiser chaque transaction peu importe l’effet sur la relation</a:t>
            </a:r>
          </a:p>
        </p:txBody>
      </p:sp>
      <p:sp>
        <p:nvSpPr>
          <p:cNvPr id="91" name="Rectangle 90">
            <a:extLst>
              <a:ext uri="{FF2B5EF4-FFF2-40B4-BE49-F238E27FC236}">
                <a16:creationId xmlns:a16="http://schemas.microsoft.com/office/drawing/2014/main" id="{F3EF3990-8D1D-79EC-86CD-9827547E817E}"/>
              </a:ext>
            </a:extLst>
          </p:cNvPr>
          <p:cNvSpPr/>
          <p:nvPr/>
        </p:nvSpPr>
        <p:spPr>
          <a:xfrm>
            <a:off x="3316294" y="2388056"/>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Capacité à la concession pour pouvoir construire des relations</a:t>
            </a:r>
          </a:p>
        </p:txBody>
      </p:sp>
      <p:sp>
        <p:nvSpPr>
          <p:cNvPr id="51" name="Rectangle 50">
            <a:extLst>
              <a:ext uri="{FF2B5EF4-FFF2-40B4-BE49-F238E27FC236}">
                <a16:creationId xmlns:a16="http://schemas.microsoft.com/office/drawing/2014/main" id="{289841A6-4A7B-1814-54FE-00B389F2D3E9}"/>
              </a:ext>
            </a:extLst>
          </p:cNvPr>
          <p:cNvSpPr/>
          <p:nvPr/>
        </p:nvSpPr>
        <p:spPr>
          <a:xfrm>
            <a:off x="7784104" y="4389600"/>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Ressources à mettre en commun relativement limitées</a:t>
            </a:r>
          </a:p>
        </p:txBody>
      </p:sp>
      <p:sp>
        <p:nvSpPr>
          <p:cNvPr id="92" name="Rectangle 91">
            <a:extLst>
              <a:ext uri="{FF2B5EF4-FFF2-40B4-BE49-F238E27FC236}">
                <a16:creationId xmlns:a16="http://schemas.microsoft.com/office/drawing/2014/main" id="{69A91CE5-79E5-4F0B-82B2-C0497AE8EF12}"/>
              </a:ext>
            </a:extLst>
          </p:cNvPr>
          <p:cNvSpPr/>
          <p:nvPr/>
        </p:nvSpPr>
        <p:spPr>
          <a:xfrm>
            <a:off x="4822147" y="2367081"/>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Tâches longues et budget récurrent</a:t>
            </a:r>
          </a:p>
        </p:txBody>
      </p:sp>
      <p:sp>
        <p:nvSpPr>
          <p:cNvPr id="93" name="Rectangle 92">
            <a:extLst>
              <a:ext uri="{FF2B5EF4-FFF2-40B4-BE49-F238E27FC236}">
                <a16:creationId xmlns:a16="http://schemas.microsoft.com/office/drawing/2014/main" id="{701E7CAE-907E-20B2-C4AA-189DF91BDB87}"/>
              </a:ext>
            </a:extLst>
          </p:cNvPr>
          <p:cNvSpPr/>
          <p:nvPr/>
        </p:nvSpPr>
        <p:spPr>
          <a:xfrm>
            <a:off x="4801638" y="4399664"/>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Grand budget ponctuel (à dépenser vite)</a:t>
            </a:r>
          </a:p>
        </p:txBody>
      </p:sp>
      <p:sp>
        <p:nvSpPr>
          <p:cNvPr id="89" name="Rectangle 88">
            <a:extLst>
              <a:ext uri="{FF2B5EF4-FFF2-40B4-BE49-F238E27FC236}">
                <a16:creationId xmlns:a16="http://schemas.microsoft.com/office/drawing/2014/main" id="{6D12A43B-1C8A-736E-C8B5-FD19B2CC73BA}"/>
              </a:ext>
            </a:extLst>
          </p:cNvPr>
          <p:cNvSpPr/>
          <p:nvPr/>
        </p:nvSpPr>
        <p:spPr>
          <a:xfrm>
            <a:off x="7833418" y="6176036"/>
            <a:ext cx="1389788"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Petit nombre de personnes et gestion des interactions individuelles possibles</a:t>
            </a:r>
          </a:p>
        </p:txBody>
      </p:sp>
      <p:sp>
        <p:nvSpPr>
          <p:cNvPr id="94" name="Rectangle 93">
            <a:extLst>
              <a:ext uri="{FF2B5EF4-FFF2-40B4-BE49-F238E27FC236}">
                <a16:creationId xmlns:a16="http://schemas.microsoft.com/office/drawing/2014/main" id="{FF3565E7-0892-828B-CB7E-20CBEDC75CDF}"/>
              </a:ext>
            </a:extLst>
          </p:cNvPr>
          <p:cNvSpPr/>
          <p:nvPr/>
        </p:nvSpPr>
        <p:spPr>
          <a:xfrm>
            <a:off x="6292870" y="2370135"/>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Beaucoup de points communs entre les individus</a:t>
            </a:r>
          </a:p>
        </p:txBody>
      </p:sp>
      <p:sp>
        <p:nvSpPr>
          <p:cNvPr id="95" name="Rectangle 94">
            <a:extLst>
              <a:ext uri="{FF2B5EF4-FFF2-40B4-BE49-F238E27FC236}">
                <a16:creationId xmlns:a16="http://schemas.microsoft.com/office/drawing/2014/main" id="{25FC09A0-8F2E-128D-D6E8-76D79403DDC8}"/>
              </a:ext>
            </a:extLst>
          </p:cNvPr>
          <p:cNvSpPr/>
          <p:nvPr/>
        </p:nvSpPr>
        <p:spPr>
          <a:xfrm>
            <a:off x="7784103" y="2374221"/>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Une même tâche, récurrente, à effectuer auprès de plein de personnes</a:t>
            </a:r>
          </a:p>
        </p:txBody>
      </p:sp>
      <p:sp>
        <p:nvSpPr>
          <p:cNvPr id="96" name="Rectangle 95">
            <a:extLst>
              <a:ext uri="{FF2B5EF4-FFF2-40B4-BE49-F238E27FC236}">
                <a16:creationId xmlns:a16="http://schemas.microsoft.com/office/drawing/2014/main" id="{49299A56-14B8-2074-E22B-3E7F7E551AD2}"/>
              </a:ext>
            </a:extLst>
          </p:cNvPr>
          <p:cNvSpPr/>
          <p:nvPr/>
        </p:nvSpPr>
        <p:spPr>
          <a:xfrm>
            <a:off x="6292870" y="4393349"/>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Pas de propension ou de capacité à l’interaction asynchrone</a:t>
            </a:r>
          </a:p>
        </p:txBody>
      </p:sp>
      <p:sp>
        <p:nvSpPr>
          <p:cNvPr id="97" name="Rectangle 96">
            <a:extLst>
              <a:ext uri="{FF2B5EF4-FFF2-40B4-BE49-F238E27FC236}">
                <a16:creationId xmlns:a16="http://schemas.microsoft.com/office/drawing/2014/main" id="{AF8F93E4-8509-F143-6275-51C50F60071B}"/>
              </a:ext>
            </a:extLst>
          </p:cNvPr>
          <p:cNvSpPr/>
          <p:nvPr/>
        </p:nvSpPr>
        <p:spPr>
          <a:xfrm>
            <a:off x="9345161" y="6166380"/>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Aucune disponibilité commune</a:t>
            </a:r>
          </a:p>
        </p:txBody>
      </p:sp>
      <p:sp>
        <p:nvSpPr>
          <p:cNvPr id="98" name="Rectangle 97">
            <a:extLst>
              <a:ext uri="{FF2B5EF4-FFF2-40B4-BE49-F238E27FC236}">
                <a16:creationId xmlns:a16="http://schemas.microsoft.com/office/drawing/2014/main" id="{BB165368-DED9-9D29-292F-0B0CACC3F50B}"/>
              </a:ext>
            </a:extLst>
          </p:cNvPr>
          <p:cNvSpPr/>
          <p:nvPr/>
        </p:nvSpPr>
        <p:spPr>
          <a:xfrm>
            <a:off x="9269446" y="2385903"/>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Disponibilité en asynchrone possible sur du long terme</a:t>
            </a:r>
          </a:p>
        </p:txBody>
      </p:sp>
      <p:sp>
        <p:nvSpPr>
          <p:cNvPr id="99" name="Rectangle 98">
            <a:extLst>
              <a:ext uri="{FF2B5EF4-FFF2-40B4-BE49-F238E27FC236}">
                <a16:creationId xmlns:a16="http://schemas.microsoft.com/office/drawing/2014/main" id="{2DBEA0D0-1D4F-A5B7-6E6B-EF53C9C9DDFC}"/>
              </a:ext>
            </a:extLst>
          </p:cNvPr>
          <p:cNvSpPr/>
          <p:nvPr/>
        </p:nvSpPr>
        <p:spPr>
          <a:xfrm>
            <a:off x="9280336" y="4399664"/>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Pas de visibilité sur un but commun long terme</a:t>
            </a:r>
          </a:p>
        </p:txBody>
      </p:sp>
      <p:sp>
        <p:nvSpPr>
          <p:cNvPr id="100" name="Rectangle 99">
            <a:extLst>
              <a:ext uri="{FF2B5EF4-FFF2-40B4-BE49-F238E27FC236}">
                <a16:creationId xmlns:a16="http://schemas.microsoft.com/office/drawing/2014/main" id="{F9BB1F7F-B0F5-DECD-339B-4360DE421C5F}"/>
              </a:ext>
            </a:extLst>
          </p:cNvPr>
          <p:cNvSpPr/>
          <p:nvPr/>
        </p:nvSpPr>
        <p:spPr>
          <a:xfrm>
            <a:off x="10764145" y="1698268"/>
            <a:ext cx="1389787" cy="62237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Visibilité sur un but commun long terme</a:t>
            </a:r>
          </a:p>
        </p:txBody>
      </p:sp>
    </p:spTree>
    <p:extLst>
      <p:ext uri="{BB962C8B-B14F-4D97-AF65-F5344CB8AC3E}">
        <p14:creationId xmlns:p14="http://schemas.microsoft.com/office/powerpoint/2010/main" val="3116858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Titre 1">
            <a:extLst>
              <a:ext uri="{FF2B5EF4-FFF2-40B4-BE49-F238E27FC236}">
                <a16:creationId xmlns:a16="http://schemas.microsoft.com/office/drawing/2014/main" id="{B3633BF6-D3AF-A418-129E-B284C8136D52}"/>
              </a:ext>
            </a:extLst>
          </p:cNvPr>
          <p:cNvSpPr>
            <a:spLocks noGrp="1"/>
          </p:cNvSpPr>
          <p:nvPr>
            <p:ph type="title"/>
          </p:nvPr>
        </p:nvSpPr>
        <p:spPr>
          <a:xfrm>
            <a:off x="659654" y="457153"/>
            <a:ext cx="10515600" cy="935360"/>
          </a:xfrm>
        </p:spPr>
        <p:txBody>
          <a:bodyPr>
            <a:noAutofit/>
          </a:bodyPr>
          <a:lstStyle/>
          <a:p>
            <a:r>
              <a:rPr lang="fr-FR" sz="3200" dirty="0"/>
              <a:t>Communauté, réunion ponctuelle ou individus </a:t>
            </a:r>
            <a:br>
              <a:rPr lang="fr-FR" sz="3200" dirty="0"/>
            </a:br>
            <a:r>
              <a:rPr lang="fr-FR" sz="3200" dirty="0"/>
              <a:t>exemples d’actions liées</a:t>
            </a:r>
            <a:br>
              <a:rPr lang="fr-FR" sz="3200" dirty="0"/>
            </a:br>
            <a:r>
              <a:rPr lang="fr-FR" sz="1400" dirty="0"/>
              <a:t>📅Evènements  , ✍️Contenus, ⚙️Structuration</a:t>
            </a:r>
          </a:p>
        </p:txBody>
      </p:sp>
      <p:sp>
        <p:nvSpPr>
          <p:cNvPr id="48" name="Flèche : double flèche horizontale 47">
            <a:extLst>
              <a:ext uri="{FF2B5EF4-FFF2-40B4-BE49-F238E27FC236}">
                <a16:creationId xmlns:a16="http://schemas.microsoft.com/office/drawing/2014/main" id="{7147D8AD-56FC-3C8A-41EA-4630661CED3F}"/>
              </a:ext>
            </a:extLst>
          </p:cNvPr>
          <p:cNvSpPr/>
          <p:nvPr/>
        </p:nvSpPr>
        <p:spPr>
          <a:xfrm rot="5400000">
            <a:off x="-835531" y="3928098"/>
            <a:ext cx="5060060" cy="387138"/>
          </a:xfrm>
          <a:prstGeom prst="lef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49" name="Groupe 48">
            <a:extLst>
              <a:ext uri="{FF2B5EF4-FFF2-40B4-BE49-F238E27FC236}">
                <a16:creationId xmlns:a16="http://schemas.microsoft.com/office/drawing/2014/main" id="{88FA7D36-727C-D8F6-518C-B6A1061FF53F}"/>
              </a:ext>
            </a:extLst>
          </p:cNvPr>
          <p:cNvGrpSpPr/>
          <p:nvPr/>
        </p:nvGrpSpPr>
        <p:grpSpPr>
          <a:xfrm>
            <a:off x="1791054" y="1860085"/>
            <a:ext cx="1507135" cy="1270634"/>
            <a:chOff x="8982504" y="3274976"/>
            <a:chExt cx="1230670" cy="1037553"/>
          </a:xfrm>
          <a:solidFill>
            <a:srgbClr val="ED7D31"/>
          </a:solidFill>
        </p:grpSpPr>
        <p:pic>
          <p:nvPicPr>
            <p:cNvPr id="50" name="Graphique 49" descr="Utilisateur avec un remplissage uni">
              <a:extLst>
                <a:ext uri="{FF2B5EF4-FFF2-40B4-BE49-F238E27FC236}">
                  <a16:creationId xmlns:a16="http://schemas.microsoft.com/office/drawing/2014/main" id="{D92B73A8-A3B2-7CD0-C8EF-C2DA1F3EE00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51" name="Graphique 50" descr="Utilisateur avec un remplissage uni">
              <a:extLst>
                <a:ext uri="{FF2B5EF4-FFF2-40B4-BE49-F238E27FC236}">
                  <a16:creationId xmlns:a16="http://schemas.microsoft.com/office/drawing/2014/main" id="{523577A4-2EAB-EB62-B4CC-973F707FC19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52" name="Graphique 51" descr="Utilisateur avec un remplissage uni">
              <a:extLst>
                <a:ext uri="{FF2B5EF4-FFF2-40B4-BE49-F238E27FC236}">
                  <a16:creationId xmlns:a16="http://schemas.microsoft.com/office/drawing/2014/main" id="{E92A8238-BCAE-CB98-34AB-7BCFD9807C2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53" name="Graphique 52" descr="Utilisateur avec un remplissage uni">
              <a:extLst>
                <a:ext uri="{FF2B5EF4-FFF2-40B4-BE49-F238E27FC236}">
                  <a16:creationId xmlns:a16="http://schemas.microsoft.com/office/drawing/2014/main" id="{6F77ED63-54C0-6894-87C1-8196BCF75EC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54" name="Graphique 53" descr="Utilisateur avec un remplissage uni">
              <a:extLst>
                <a:ext uri="{FF2B5EF4-FFF2-40B4-BE49-F238E27FC236}">
                  <a16:creationId xmlns:a16="http://schemas.microsoft.com/office/drawing/2014/main" id="{F83786AA-4D32-E65D-0FCD-60F9A740C65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55" name="Graphique 54" descr="Utilisateur avec un remplissage uni">
              <a:extLst>
                <a:ext uri="{FF2B5EF4-FFF2-40B4-BE49-F238E27FC236}">
                  <a16:creationId xmlns:a16="http://schemas.microsoft.com/office/drawing/2014/main" id="{F332E5E5-104C-2AF4-ABB3-F76D03CF319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56" name="Graphique 55" descr="Utilisateur avec un remplissage uni">
              <a:extLst>
                <a:ext uri="{FF2B5EF4-FFF2-40B4-BE49-F238E27FC236}">
                  <a16:creationId xmlns:a16="http://schemas.microsoft.com/office/drawing/2014/main" id="{532C166F-8D07-6759-29CE-6CA4A437882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57" name="Graphique 56" descr="Utilisateur avec un remplissage uni">
              <a:extLst>
                <a:ext uri="{FF2B5EF4-FFF2-40B4-BE49-F238E27FC236}">
                  <a16:creationId xmlns:a16="http://schemas.microsoft.com/office/drawing/2014/main" id="{FF01F3F9-5E1B-61B6-BCE5-3AC80EE0A5C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58" name="Graphique 57" descr="Utilisateur avec un remplissage uni">
              <a:extLst>
                <a:ext uri="{FF2B5EF4-FFF2-40B4-BE49-F238E27FC236}">
                  <a16:creationId xmlns:a16="http://schemas.microsoft.com/office/drawing/2014/main" id="{FD92B861-5BD9-52B4-11D5-52535BD565B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59" name="Graphique 58" descr="Utilisateur avec un remplissage uni">
              <a:extLst>
                <a:ext uri="{FF2B5EF4-FFF2-40B4-BE49-F238E27FC236}">
                  <a16:creationId xmlns:a16="http://schemas.microsoft.com/office/drawing/2014/main" id="{472F6723-293A-778C-3363-3013E4B80B6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60" name="Graphique 59" descr="Utilisateur avec un remplissage uni">
              <a:extLst>
                <a:ext uri="{FF2B5EF4-FFF2-40B4-BE49-F238E27FC236}">
                  <a16:creationId xmlns:a16="http://schemas.microsoft.com/office/drawing/2014/main" id="{FCBEBF3B-2512-FAC2-79C5-8380EB71606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61" name="Graphique 60" descr="Utilisateur avec un remplissage uni">
            <a:extLst>
              <a:ext uri="{FF2B5EF4-FFF2-40B4-BE49-F238E27FC236}">
                <a16:creationId xmlns:a16="http://schemas.microsoft.com/office/drawing/2014/main" id="{2F643725-AFC5-4F53-8003-4DEFDC12DCC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24179" y="5582168"/>
            <a:ext cx="411559" cy="411559"/>
          </a:xfrm>
          <a:prstGeom prst="rect">
            <a:avLst/>
          </a:prstGeom>
        </p:spPr>
      </p:pic>
      <p:grpSp>
        <p:nvGrpSpPr>
          <p:cNvPr id="62" name="Groupe 61">
            <a:extLst>
              <a:ext uri="{FF2B5EF4-FFF2-40B4-BE49-F238E27FC236}">
                <a16:creationId xmlns:a16="http://schemas.microsoft.com/office/drawing/2014/main" id="{C952EFBE-4BC2-52BE-4E16-4847F271C8E9}"/>
              </a:ext>
            </a:extLst>
          </p:cNvPr>
          <p:cNvGrpSpPr/>
          <p:nvPr/>
        </p:nvGrpSpPr>
        <p:grpSpPr>
          <a:xfrm>
            <a:off x="1830713" y="3656787"/>
            <a:ext cx="1062451" cy="1094956"/>
            <a:chOff x="9345616" y="3418428"/>
            <a:chExt cx="867558" cy="894101"/>
          </a:xfrm>
          <a:solidFill>
            <a:srgbClr val="ED7D31"/>
          </a:solidFill>
        </p:grpSpPr>
        <p:pic>
          <p:nvPicPr>
            <p:cNvPr id="63" name="Graphique 62" descr="Utilisateur avec un remplissage uni">
              <a:extLst>
                <a:ext uri="{FF2B5EF4-FFF2-40B4-BE49-F238E27FC236}">
                  <a16:creationId xmlns:a16="http://schemas.microsoft.com/office/drawing/2014/main" id="{48AAA06F-288E-9B96-16C6-C37461D9DAD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64" name="Graphique 63" descr="Utilisateur avec un remplissage uni">
              <a:extLst>
                <a:ext uri="{FF2B5EF4-FFF2-40B4-BE49-F238E27FC236}">
                  <a16:creationId xmlns:a16="http://schemas.microsoft.com/office/drawing/2014/main" id="{1AABF7F8-6C81-D145-9F9D-36311CFF3CA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65" name="Graphique 64" descr="Utilisateur avec un remplissage uni">
              <a:extLst>
                <a:ext uri="{FF2B5EF4-FFF2-40B4-BE49-F238E27FC236}">
                  <a16:creationId xmlns:a16="http://schemas.microsoft.com/office/drawing/2014/main" id="{B0F94EB9-EC60-9613-E1E8-E1E30919262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66" name="Graphique 65" descr="Utilisateur avec un remplissage uni">
              <a:extLst>
                <a:ext uri="{FF2B5EF4-FFF2-40B4-BE49-F238E27FC236}">
                  <a16:creationId xmlns:a16="http://schemas.microsoft.com/office/drawing/2014/main" id="{2EC619C4-E6ED-8D5B-53A6-1BFEEE7DE6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67" name="Graphique 66" descr="Utilisateur avec un remplissage uni">
              <a:extLst>
                <a:ext uri="{FF2B5EF4-FFF2-40B4-BE49-F238E27FC236}">
                  <a16:creationId xmlns:a16="http://schemas.microsoft.com/office/drawing/2014/main" id="{2105ADF0-DB31-8F7B-073C-F67973BC60C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68" name="Graphique 67" descr="Utilisateur avec un remplissage uni">
              <a:extLst>
                <a:ext uri="{FF2B5EF4-FFF2-40B4-BE49-F238E27FC236}">
                  <a16:creationId xmlns:a16="http://schemas.microsoft.com/office/drawing/2014/main" id="{46A7C171-3434-A7DD-08AC-31CE1B071C9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69" name="Graphique 68" descr="Calendrier journalier avec un remplissage uni">
            <a:extLst>
              <a:ext uri="{FF2B5EF4-FFF2-40B4-BE49-F238E27FC236}">
                <a16:creationId xmlns:a16="http://schemas.microsoft.com/office/drawing/2014/main" id="{634973E7-5254-30C8-8121-827FB863E27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502605" y="3610447"/>
            <a:ext cx="482523" cy="482523"/>
          </a:xfrm>
          <a:prstGeom prst="rect">
            <a:avLst/>
          </a:prstGeom>
        </p:spPr>
      </p:pic>
      <p:pic>
        <p:nvPicPr>
          <p:cNvPr id="70" name="Graphique 69" descr="Utilisateur avec un remplissage uni">
            <a:extLst>
              <a:ext uri="{FF2B5EF4-FFF2-40B4-BE49-F238E27FC236}">
                <a16:creationId xmlns:a16="http://schemas.microsoft.com/office/drawing/2014/main" id="{D627ACC5-B99C-7013-BA06-362B5923A09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90328" y="6281446"/>
            <a:ext cx="411559" cy="411559"/>
          </a:xfrm>
          <a:prstGeom prst="rect">
            <a:avLst/>
          </a:prstGeom>
        </p:spPr>
      </p:pic>
      <p:pic>
        <p:nvPicPr>
          <p:cNvPr id="71" name="Graphique 70" descr="Utilisateur avec un remplissage uni">
            <a:extLst>
              <a:ext uri="{FF2B5EF4-FFF2-40B4-BE49-F238E27FC236}">
                <a16:creationId xmlns:a16="http://schemas.microsoft.com/office/drawing/2014/main" id="{215A9ADE-4DFD-6AA8-9F89-734F85FB1BE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13819" y="6271790"/>
            <a:ext cx="411559" cy="411559"/>
          </a:xfrm>
          <a:prstGeom prst="rect">
            <a:avLst/>
          </a:prstGeom>
        </p:spPr>
      </p:pic>
      <p:pic>
        <p:nvPicPr>
          <p:cNvPr id="72" name="Graphique 71" descr="Utilisateur avec un remplissage uni">
            <a:extLst>
              <a:ext uri="{FF2B5EF4-FFF2-40B4-BE49-F238E27FC236}">
                <a16:creationId xmlns:a16="http://schemas.microsoft.com/office/drawing/2014/main" id="{DA1FB52B-F364-A37C-B2E1-F5FCB30A8AA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73569" y="5531480"/>
            <a:ext cx="411559" cy="411559"/>
          </a:xfrm>
          <a:prstGeom prst="rect">
            <a:avLst/>
          </a:prstGeom>
        </p:spPr>
      </p:pic>
      <p:sp>
        <p:nvSpPr>
          <p:cNvPr id="73" name="Titre 1">
            <a:extLst>
              <a:ext uri="{FF2B5EF4-FFF2-40B4-BE49-F238E27FC236}">
                <a16:creationId xmlns:a16="http://schemas.microsoft.com/office/drawing/2014/main" id="{C5A4B03E-B1C6-B3B9-53A9-DEA93FF17F32}"/>
              </a:ext>
            </a:extLst>
          </p:cNvPr>
          <p:cNvSpPr txBox="1">
            <a:spLocks/>
          </p:cNvSpPr>
          <p:nvPr/>
        </p:nvSpPr>
        <p:spPr>
          <a:xfrm>
            <a:off x="161314" y="2408779"/>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74" name="Titre 1">
            <a:extLst>
              <a:ext uri="{FF2B5EF4-FFF2-40B4-BE49-F238E27FC236}">
                <a16:creationId xmlns:a16="http://schemas.microsoft.com/office/drawing/2014/main" id="{D85F5D7E-8595-DAD7-139F-C62463EC3A8C}"/>
              </a:ext>
            </a:extLst>
          </p:cNvPr>
          <p:cNvSpPr txBox="1">
            <a:spLocks/>
          </p:cNvSpPr>
          <p:nvPr/>
        </p:nvSpPr>
        <p:spPr>
          <a:xfrm>
            <a:off x="0" y="3873786"/>
            <a:ext cx="1555855"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par</a:t>
            </a:r>
          </a:p>
          <a:p>
            <a:pPr algn="ctr"/>
            <a:r>
              <a:rPr lang="fr-FR" sz="1400" b="1" dirty="0"/>
              <a:t>réunion ponctuelle </a:t>
            </a:r>
          </a:p>
        </p:txBody>
      </p:sp>
      <p:sp>
        <p:nvSpPr>
          <p:cNvPr id="75" name="Titre 1">
            <a:extLst>
              <a:ext uri="{FF2B5EF4-FFF2-40B4-BE49-F238E27FC236}">
                <a16:creationId xmlns:a16="http://schemas.microsoft.com/office/drawing/2014/main" id="{C3F6C17E-28F2-5AAF-837F-5ADD94CD3F1B}"/>
              </a:ext>
            </a:extLst>
          </p:cNvPr>
          <p:cNvSpPr txBox="1">
            <a:spLocks/>
          </p:cNvSpPr>
          <p:nvPr/>
        </p:nvSpPr>
        <p:spPr>
          <a:xfrm>
            <a:off x="163621" y="5476792"/>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individus</a:t>
            </a:r>
          </a:p>
        </p:txBody>
      </p:sp>
      <p:sp>
        <p:nvSpPr>
          <p:cNvPr id="40" name="Rectangle 39">
            <a:extLst>
              <a:ext uri="{FF2B5EF4-FFF2-40B4-BE49-F238E27FC236}">
                <a16:creationId xmlns:a16="http://schemas.microsoft.com/office/drawing/2014/main" id="{3ED8EC88-370C-CDA1-7B79-827447F5F679}"/>
              </a:ext>
            </a:extLst>
          </p:cNvPr>
          <p:cNvSpPr/>
          <p:nvPr/>
        </p:nvSpPr>
        <p:spPr>
          <a:xfrm>
            <a:off x="3345905" y="5452549"/>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Messages individuels ou individualisés</a:t>
            </a:r>
          </a:p>
        </p:txBody>
      </p:sp>
      <p:sp>
        <p:nvSpPr>
          <p:cNvPr id="35" name="Rectangle 34">
            <a:extLst>
              <a:ext uri="{FF2B5EF4-FFF2-40B4-BE49-F238E27FC236}">
                <a16:creationId xmlns:a16="http://schemas.microsoft.com/office/drawing/2014/main" id="{AA2CFECB-C7FD-9AEC-92CF-702F494144C7}"/>
              </a:ext>
            </a:extLst>
          </p:cNvPr>
          <p:cNvSpPr/>
          <p:nvPr/>
        </p:nvSpPr>
        <p:spPr>
          <a:xfrm>
            <a:off x="3332797" y="3648289"/>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Message ponctuel groupé explicitement collectif</a:t>
            </a:r>
          </a:p>
        </p:txBody>
      </p:sp>
      <p:sp>
        <p:nvSpPr>
          <p:cNvPr id="38" name="Rectangle 37">
            <a:extLst>
              <a:ext uri="{FF2B5EF4-FFF2-40B4-BE49-F238E27FC236}">
                <a16:creationId xmlns:a16="http://schemas.microsoft.com/office/drawing/2014/main" id="{CE8D4814-BDDF-5950-2DDF-89430CE457E7}"/>
              </a:ext>
            </a:extLst>
          </p:cNvPr>
          <p:cNvSpPr/>
          <p:nvPr/>
        </p:nvSpPr>
        <p:spPr>
          <a:xfrm>
            <a:off x="3332797" y="1624654"/>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Liste de diffusion</a:t>
            </a:r>
          </a:p>
        </p:txBody>
      </p:sp>
      <p:sp>
        <p:nvSpPr>
          <p:cNvPr id="42" name="Rectangle 41">
            <a:extLst>
              <a:ext uri="{FF2B5EF4-FFF2-40B4-BE49-F238E27FC236}">
                <a16:creationId xmlns:a16="http://schemas.microsoft.com/office/drawing/2014/main" id="{5E602299-86C3-59AE-619B-96ECE06BE629}"/>
              </a:ext>
            </a:extLst>
          </p:cNvPr>
          <p:cNvSpPr/>
          <p:nvPr/>
        </p:nvSpPr>
        <p:spPr>
          <a:xfrm>
            <a:off x="4610926" y="3648289"/>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Achat groupé ponctuel. Location courte durée collective</a:t>
            </a:r>
          </a:p>
        </p:txBody>
      </p:sp>
      <p:sp>
        <p:nvSpPr>
          <p:cNvPr id="45" name="Rectangle 44">
            <a:extLst>
              <a:ext uri="{FF2B5EF4-FFF2-40B4-BE49-F238E27FC236}">
                <a16:creationId xmlns:a16="http://schemas.microsoft.com/office/drawing/2014/main" id="{A9198AB6-3ECD-3F40-CC68-B9FE1D4AD67E}"/>
              </a:ext>
            </a:extLst>
          </p:cNvPr>
          <p:cNvSpPr/>
          <p:nvPr/>
        </p:nvSpPr>
        <p:spPr>
          <a:xfrm>
            <a:off x="4610925" y="1623166"/>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Système de mise en commun de ressources</a:t>
            </a:r>
          </a:p>
        </p:txBody>
      </p:sp>
      <p:sp>
        <p:nvSpPr>
          <p:cNvPr id="47" name="Rectangle 46">
            <a:extLst>
              <a:ext uri="{FF2B5EF4-FFF2-40B4-BE49-F238E27FC236}">
                <a16:creationId xmlns:a16="http://schemas.microsoft.com/office/drawing/2014/main" id="{0CB25B15-1D2D-54A1-9482-5670962B3B0E}"/>
              </a:ext>
            </a:extLst>
          </p:cNvPr>
          <p:cNvSpPr/>
          <p:nvPr/>
        </p:nvSpPr>
        <p:spPr>
          <a:xfrm>
            <a:off x="5889054" y="1623166"/>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Nom de Communauté</a:t>
            </a:r>
          </a:p>
        </p:txBody>
      </p:sp>
      <p:sp>
        <p:nvSpPr>
          <p:cNvPr id="37" name="Rectangle 36">
            <a:extLst>
              <a:ext uri="{FF2B5EF4-FFF2-40B4-BE49-F238E27FC236}">
                <a16:creationId xmlns:a16="http://schemas.microsoft.com/office/drawing/2014/main" id="{DD4A6A36-F394-2881-55F1-704CEFD217CB}"/>
              </a:ext>
            </a:extLst>
          </p:cNvPr>
          <p:cNvSpPr/>
          <p:nvPr/>
        </p:nvSpPr>
        <p:spPr>
          <a:xfrm>
            <a:off x="4595734" y="5452549"/>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Achat individuel</a:t>
            </a:r>
          </a:p>
        </p:txBody>
      </p:sp>
      <p:sp>
        <p:nvSpPr>
          <p:cNvPr id="39" name="Rectangle 38">
            <a:extLst>
              <a:ext uri="{FF2B5EF4-FFF2-40B4-BE49-F238E27FC236}">
                <a16:creationId xmlns:a16="http://schemas.microsoft.com/office/drawing/2014/main" id="{A7A72ECB-8D23-1D40-5EF9-C9ACB23460AD}"/>
              </a:ext>
            </a:extLst>
          </p:cNvPr>
          <p:cNvSpPr/>
          <p:nvPr/>
        </p:nvSpPr>
        <p:spPr>
          <a:xfrm>
            <a:off x="3332797" y="2359537"/>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Outil de discussion ou d’interaction à disposition</a:t>
            </a:r>
          </a:p>
        </p:txBody>
      </p:sp>
      <p:sp>
        <p:nvSpPr>
          <p:cNvPr id="41" name="Rectangle 40">
            <a:extLst>
              <a:ext uri="{FF2B5EF4-FFF2-40B4-BE49-F238E27FC236}">
                <a16:creationId xmlns:a16="http://schemas.microsoft.com/office/drawing/2014/main" id="{71AA211F-9F67-5954-BD89-7E4CD2FF292F}"/>
              </a:ext>
            </a:extLst>
          </p:cNvPr>
          <p:cNvSpPr/>
          <p:nvPr/>
        </p:nvSpPr>
        <p:spPr>
          <a:xfrm>
            <a:off x="3332797" y="4362849"/>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Salle de discussion éphémère</a:t>
            </a:r>
          </a:p>
        </p:txBody>
      </p:sp>
      <p:sp>
        <p:nvSpPr>
          <p:cNvPr id="43" name="Rectangle 42">
            <a:extLst>
              <a:ext uri="{FF2B5EF4-FFF2-40B4-BE49-F238E27FC236}">
                <a16:creationId xmlns:a16="http://schemas.microsoft.com/office/drawing/2014/main" id="{62D092FA-B916-F7AE-C1C1-0D0F7680B061}"/>
              </a:ext>
            </a:extLst>
          </p:cNvPr>
          <p:cNvSpPr/>
          <p:nvPr/>
        </p:nvSpPr>
        <p:spPr>
          <a:xfrm>
            <a:off x="5889055" y="3634620"/>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Nom d’événement</a:t>
            </a:r>
          </a:p>
        </p:txBody>
      </p:sp>
      <p:sp>
        <p:nvSpPr>
          <p:cNvPr id="76" name="Rectangle 75">
            <a:extLst>
              <a:ext uri="{FF2B5EF4-FFF2-40B4-BE49-F238E27FC236}">
                <a16:creationId xmlns:a16="http://schemas.microsoft.com/office/drawing/2014/main" id="{61711A86-F399-480A-44BC-F2E3472D85E0}"/>
              </a:ext>
            </a:extLst>
          </p:cNvPr>
          <p:cNvSpPr/>
          <p:nvPr/>
        </p:nvSpPr>
        <p:spPr>
          <a:xfrm>
            <a:off x="7136721" y="3649612"/>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Déroulé d’événement commun</a:t>
            </a:r>
          </a:p>
        </p:txBody>
      </p:sp>
      <p:sp>
        <p:nvSpPr>
          <p:cNvPr id="77" name="Rectangle 76">
            <a:extLst>
              <a:ext uri="{FF2B5EF4-FFF2-40B4-BE49-F238E27FC236}">
                <a16:creationId xmlns:a16="http://schemas.microsoft.com/office/drawing/2014/main" id="{0E78FD86-5999-D453-2686-1F384ED3A1DB}"/>
              </a:ext>
            </a:extLst>
          </p:cNvPr>
          <p:cNvSpPr/>
          <p:nvPr/>
        </p:nvSpPr>
        <p:spPr>
          <a:xfrm>
            <a:off x="8388973" y="2353357"/>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Règles de vie et de gouvernance entre personnes</a:t>
            </a:r>
          </a:p>
        </p:txBody>
      </p:sp>
      <p:sp>
        <p:nvSpPr>
          <p:cNvPr id="78" name="Rectangle 77">
            <a:extLst>
              <a:ext uri="{FF2B5EF4-FFF2-40B4-BE49-F238E27FC236}">
                <a16:creationId xmlns:a16="http://schemas.microsoft.com/office/drawing/2014/main" id="{7CF0EF42-1897-3B67-E04A-164D41C25021}"/>
              </a:ext>
            </a:extLst>
          </p:cNvPr>
          <p:cNvSpPr/>
          <p:nvPr/>
        </p:nvSpPr>
        <p:spPr>
          <a:xfrm>
            <a:off x="8388975" y="1613828"/>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Système de décision avec des représentants</a:t>
            </a:r>
          </a:p>
        </p:txBody>
      </p:sp>
      <p:sp>
        <p:nvSpPr>
          <p:cNvPr id="79" name="Rectangle 78">
            <a:extLst>
              <a:ext uri="{FF2B5EF4-FFF2-40B4-BE49-F238E27FC236}">
                <a16:creationId xmlns:a16="http://schemas.microsoft.com/office/drawing/2014/main" id="{2748EA0D-F4C1-D3D7-29B6-27C76B1DF099}"/>
              </a:ext>
            </a:extLst>
          </p:cNvPr>
          <p:cNvSpPr/>
          <p:nvPr/>
        </p:nvSpPr>
        <p:spPr>
          <a:xfrm>
            <a:off x="8388975" y="3634620"/>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Vote ponctuel général</a:t>
            </a:r>
          </a:p>
        </p:txBody>
      </p:sp>
      <p:sp>
        <p:nvSpPr>
          <p:cNvPr id="80" name="Rectangle 79">
            <a:extLst>
              <a:ext uri="{FF2B5EF4-FFF2-40B4-BE49-F238E27FC236}">
                <a16:creationId xmlns:a16="http://schemas.microsoft.com/office/drawing/2014/main" id="{2CA81089-63B8-EEB6-2CF1-8865FC5171A9}"/>
              </a:ext>
            </a:extLst>
          </p:cNvPr>
          <p:cNvSpPr/>
          <p:nvPr/>
        </p:nvSpPr>
        <p:spPr>
          <a:xfrm>
            <a:off x="8373782" y="5452549"/>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Prise ponctuelle d’avis et actions individuelles</a:t>
            </a:r>
          </a:p>
        </p:txBody>
      </p:sp>
      <p:sp>
        <p:nvSpPr>
          <p:cNvPr id="81" name="Rectangle 80">
            <a:extLst>
              <a:ext uri="{FF2B5EF4-FFF2-40B4-BE49-F238E27FC236}">
                <a16:creationId xmlns:a16="http://schemas.microsoft.com/office/drawing/2014/main" id="{7E390254-4E29-0E4F-2D7B-8E38B35F3078}"/>
              </a:ext>
            </a:extLst>
          </p:cNvPr>
          <p:cNvSpPr/>
          <p:nvPr/>
        </p:nvSpPr>
        <p:spPr>
          <a:xfrm>
            <a:off x="9671694" y="1623166"/>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Nouveautés ou actualités à propos des membres</a:t>
            </a:r>
          </a:p>
        </p:txBody>
      </p:sp>
      <p:sp>
        <p:nvSpPr>
          <p:cNvPr id="82" name="Rectangle 81">
            <a:extLst>
              <a:ext uri="{FF2B5EF4-FFF2-40B4-BE49-F238E27FC236}">
                <a16:creationId xmlns:a16="http://schemas.microsoft.com/office/drawing/2014/main" id="{85CACDBD-0F58-D846-C0B6-D15DE1609A72}"/>
              </a:ext>
            </a:extLst>
          </p:cNvPr>
          <p:cNvSpPr/>
          <p:nvPr/>
        </p:nvSpPr>
        <p:spPr>
          <a:xfrm>
            <a:off x="9636641" y="3634620"/>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Relances et contenus promotionnels</a:t>
            </a:r>
          </a:p>
        </p:txBody>
      </p:sp>
      <p:sp>
        <p:nvSpPr>
          <p:cNvPr id="83" name="Rectangle 82">
            <a:extLst>
              <a:ext uri="{FF2B5EF4-FFF2-40B4-BE49-F238E27FC236}">
                <a16:creationId xmlns:a16="http://schemas.microsoft.com/office/drawing/2014/main" id="{275FD367-843E-FA5E-3C4D-C56ABCC41A37}"/>
              </a:ext>
            </a:extLst>
          </p:cNvPr>
          <p:cNvSpPr/>
          <p:nvPr/>
        </p:nvSpPr>
        <p:spPr>
          <a:xfrm>
            <a:off x="10919359" y="1613828"/>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Manifeste, raison d’être, charte morale</a:t>
            </a:r>
          </a:p>
        </p:txBody>
      </p:sp>
      <p:sp>
        <p:nvSpPr>
          <p:cNvPr id="84" name="Rectangle 83">
            <a:extLst>
              <a:ext uri="{FF2B5EF4-FFF2-40B4-BE49-F238E27FC236}">
                <a16:creationId xmlns:a16="http://schemas.microsoft.com/office/drawing/2014/main" id="{91418930-2B42-3D33-D54C-C0554A430EEF}"/>
              </a:ext>
            </a:extLst>
          </p:cNvPr>
          <p:cNvSpPr/>
          <p:nvPr/>
        </p:nvSpPr>
        <p:spPr>
          <a:xfrm>
            <a:off x="10884307" y="3651126"/>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Pitch, slogan</a:t>
            </a:r>
          </a:p>
        </p:txBody>
      </p:sp>
      <p:sp>
        <p:nvSpPr>
          <p:cNvPr id="85" name="Rectangle 84">
            <a:extLst>
              <a:ext uri="{FF2B5EF4-FFF2-40B4-BE49-F238E27FC236}">
                <a16:creationId xmlns:a16="http://schemas.microsoft.com/office/drawing/2014/main" id="{D0433F67-3854-4980-D390-7B964AC7FFF3}"/>
              </a:ext>
            </a:extLst>
          </p:cNvPr>
          <p:cNvSpPr/>
          <p:nvPr/>
        </p:nvSpPr>
        <p:spPr>
          <a:xfrm>
            <a:off x="7123782" y="1623166"/>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Séries d’événements et </a:t>
            </a:r>
            <a:r>
              <a:rPr lang="fr-FR" sz="1000" dirty="0"/>
              <a:t>✍️</a:t>
            </a:r>
            <a:r>
              <a:rPr lang="fr-FR" sz="1000" dirty="0">
                <a:solidFill>
                  <a:schemeClr val="tx1"/>
                </a:solidFill>
              </a:rPr>
              <a:t>contacts pour en organiser</a:t>
            </a:r>
          </a:p>
        </p:txBody>
      </p:sp>
      <p:sp>
        <p:nvSpPr>
          <p:cNvPr id="86" name="Rectangle 85">
            <a:extLst>
              <a:ext uri="{FF2B5EF4-FFF2-40B4-BE49-F238E27FC236}">
                <a16:creationId xmlns:a16="http://schemas.microsoft.com/office/drawing/2014/main" id="{2584B3B3-08F6-CEB8-2003-3F0DDC4A130D}"/>
              </a:ext>
            </a:extLst>
          </p:cNvPr>
          <p:cNvSpPr/>
          <p:nvPr/>
        </p:nvSpPr>
        <p:spPr>
          <a:xfrm>
            <a:off x="7136721" y="4406395"/>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Evènement ou série finie d’événements</a:t>
            </a:r>
          </a:p>
        </p:txBody>
      </p:sp>
      <p:sp>
        <p:nvSpPr>
          <p:cNvPr id="87" name="Rectangle 86">
            <a:extLst>
              <a:ext uri="{FF2B5EF4-FFF2-40B4-BE49-F238E27FC236}">
                <a16:creationId xmlns:a16="http://schemas.microsoft.com/office/drawing/2014/main" id="{9356D4A1-4FBE-F971-BD00-95C9AB613CE9}"/>
              </a:ext>
            </a:extLst>
          </p:cNvPr>
          <p:cNvSpPr/>
          <p:nvPr/>
        </p:nvSpPr>
        <p:spPr>
          <a:xfrm>
            <a:off x="7108589" y="5452549"/>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Rendez-vous individuels</a:t>
            </a:r>
          </a:p>
        </p:txBody>
      </p:sp>
      <p:sp>
        <p:nvSpPr>
          <p:cNvPr id="88" name="Rectangle 87">
            <a:extLst>
              <a:ext uri="{FF2B5EF4-FFF2-40B4-BE49-F238E27FC236}">
                <a16:creationId xmlns:a16="http://schemas.microsoft.com/office/drawing/2014/main" id="{B21A5FC6-54B7-278C-B57F-B9F2EBC01729}"/>
              </a:ext>
            </a:extLst>
          </p:cNvPr>
          <p:cNvSpPr/>
          <p:nvPr/>
        </p:nvSpPr>
        <p:spPr>
          <a:xfrm>
            <a:off x="5858760" y="5451687"/>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Nom d’une transaction ou d’un service individuel</a:t>
            </a:r>
          </a:p>
        </p:txBody>
      </p:sp>
      <p:sp>
        <p:nvSpPr>
          <p:cNvPr id="89" name="Rectangle 88">
            <a:extLst>
              <a:ext uri="{FF2B5EF4-FFF2-40B4-BE49-F238E27FC236}">
                <a16:creationId xmlns:a16="http://schemas.microsoft.com/office/drawing/2014/main" id="{7C9A8041-594A-5F0E-C79F-157E575FE55E}"/>
              </a:ext>
            </a:extLst>
          </p:cNvPr>
          <p:cNvSpPr/>
          <p:nvPr/>
        </p:nvSpPr>
        <p:spPr>
          <a:xfrm>
            <a:off x="9621445" y="5451687"/>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Rapport ou bilans d’information personnalisés</a:t>
            </a:r>
          </a:p>
        </p:txBody>
      </p:sp>
      <p:sp>
        <p:nvSpPr>
          <p:cNvPr id="90" name="Rectangle 89">
            <a:extLst>
              <a:ext uri="{FF2B5EF4-FFF2-40B4-BE49-F238E27FC236}">
                <a16:creationId xmlns:a16="http://schemas.microsoft.com/office/drawing/2014/main" id="{AD81DBBE-AF1A-75E4-0E6D-3FD33C6A48F8}"/>
              </a:ext>
            </a:extLst>
          </p:cNvPr>
          <p:cNvSpPr/>
          <p:nvPr/>
        </p:nvSpPr>
        <p:spPr>
          <a:xfrm>
            <a:off x="4610925" y="2365688"/>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Partage d’expérience ou accompagnement </a:t>
            </a:r>
          </a:p>
          <a:p>
            <a:pPr algn="ctr"/>
            <a:r>
              <a:rPr lang="fr-FR" sz="1000" dirty="0">
                <a:solidFill>
                  <a:schemeClr val="tx1"/>
                </a:solidFill>
              </a:rPr>
              <a:t>sur la durée</a:t>
            </a:r>
          </a:p>
        </p:txBody>
      </p:sp>
      <p:sp>
        <p:nvSpPr>
          <p:cNvPr id="91" name="Rectangle 90">
            <a:extLst>
              <a:ext uri="{FF2B5EF4-FFF2-40B4-BE49-F238E27FC236}">
                <a16:creationId xmlns:a16="http://schemas.microsoft.com/office/drawing/2014/main" id="{51F6D983-3DAF-4C17-CA62-9F569F942D83}"/>
              </a:ext>
            </a:extLst>
          </p:cNvPr>
          <p:cNvSpPr/>
          <p:nvPr/>
        </p:nvSpPr>
        <p:spPr>
          <a:xfrm>
            <a:off x="4610925" y="4370849"/>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 📅 </a:t>
            </a:r>
            <a:r>
              <a:rPr lang="fr-FR" sz="1000" dirty="0">
                <a:solidFill>
                  <a:schemeClr val="tx1"/>
                </a:solidFill>
              </a:rPr>
              <a:t>Evènement ou contenu ponctuel de transmission</a:t>
            </a:r>
          </a:p>
        </p:txBody>
      </p:sp>
      <p:sp>
        <p:nvSpPr>
          <p:cNvPr id="92" name="Rectangle 91">
            <a:extLst>
              <a:ext uri="{FF2B5EF4-FFF2-40B4-BE49-F238E27FC236}">
                <a16:creationId xmlns:a16="http://schemas.microsoft.com/office/drawing/2014/main" id="{8DC82B20-F0EC-5BFD-ECAA-5BAC2809B2ED}"/>
              </a:ext>
            </a:extLst>
          </p:cNvPr>
          <p:cNvSpPr/>
          <p:nvPr/>
        </p:nvSpPr>
        <p:spPr>
          <a:xfrm>
            <a:off x="10886638" y="5434922"/>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Hashtag qui permet à chacun de s’identifier sans se lier aux autres</a:t>
            </a:r>
          </a:p>
        </p:txBody>
      </p:sp>
      <p:sp>
        <p:nvSpPr>
          <p:cNvPr id="93" name="Rectangle 92">
            <a:extLst>
              <a:ext uri="{FF2B5EF4-FFF2-40B4-BE49-F238E27FC236}">
                <a16:creationId xmlns:a16="http://schemas.microsoft.com/office/drawing/2014/main" id="{60C0435D-CE15-9C7F-6A99-CF65E228AA15}"/>
              </a:ext>
            </a:extLst>
          </p:cNvPr>
          <p:cNvSpPr/>
          <p:nvPr/>
        </p:nvSpPr>
        <p:spPr>
          <a:xfrm>
            <a:off x="7136721" y="2376548"/>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Mises en relation groupées (annuaires, événements)</a:t>
            </a:r>
          </a:p>
        </p:txBody>
      </p:sp>
      <p:sp>
        <p:nvSpPr>
          <p:cNvPr id="94" name="Rectangle 93">
            <a:extLst>
              <a:ext uri="{FF2B5EF4-FFF2-40B4-BE49-F238E27FC236}">
                <a16:creationId xmlns:a16="http://schemas.microsoft.com/office/drawing/2014/main" id="{2DB9BC7B-0B9F-5636-49D0-F759012CA23B}"/>
              </a:ext>
            </a:extLst>
          </p:cNvPr>
          <p:cNvSpPr/>
          <p:nvPr/>
        </p:nvSpPr>
        <p:spPr>
          <a:xfrm>
            <a:off x="7108589" y="6163361"/>
            <a:ext cx="1162242" cy="6539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Mises en relation individuelle</a:t>
            </a:r>
          </a:p>
        </p:txBody>
      </p:sp>
    </p:spTree>
    <p:extLst>
      <p:ext uri="{BB962C8B-B14F-4D97-AF65-F5344CB8AC3E}">
        <p14:creationId xmlns:p14="http://schemas.microsoft.com/office/powerpoint/2010/main" val="423390277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07F7A93-99AE-4868-CCCF-3E1440CE0A63}"/>
              </a:ext>
            </a:extLst>
          </p:cNvPr>
          <p:cNvSpPr>
            <a:spLocks noGrp="1"/>
          </p:cNvSpPr>
          <p:nvPr>
            <p:ph type="title"/>
          </p:nvPr>
        </p:nvSpPr>
        <p:spPr>
          <a:xfrm>
            <a:off x="838200" y="144143"/>
            <a:ext cx="10515600" cy="362306"/>
          </a:xfrm>
        </p:spPr>
        <p:txBody>
          <a:bodyPr>
            <a:noAutofit/>
          </a:bodyPr>
          <a:lstStyle/>
          <a:p>
            <a:r>
              <a:rPr lang="fr-FR" sz="3200" dirty="0"/>
              <a:t>Exemples de déclinaisons intermédiaires</a:t>
            </a:r>
          </a:p>
        </p:txBody>
      </p:sp>
      <p:sp>
        <p:nvSpPr>
          <p:cNvPr id="4" name="Flèche : double flèche horizontale 3">
            <a:extLst>
              <a:ext uri="{FF2B5EF4-FFF2-40B4-BE49-F238E27FC236}">
                <a16:creationId xmlns:a16="http://schemas.microsoft.com/office/drawing/2014/main" id="{811ED98C-97E8-C89A-A6CB-A9018FA55525}"/>
              </a:ext>
            </a:extLst>
          </p:cNvPr>
          <p:cNvSpPr/>
          <p:nvPr/>
        </p:nvSpPr>
        <p:spPr>
          <a:xfrm rot="5400000">
            <a:off x="57122" y="3565021"/>
            <a:ext cx="5632830" cy="305035"/>
          </a:xfrm>
          <a:prstGeom prst="lef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5" name="Groupe 4">
            <a:extLst>
              <a:ext uri="{FF2B5EF4-FFF2-40B4-BE49-F238E27FC236}">
                <a16:creationId xmlns:a16="http://schemas.microsoft.com/office/drawing/2014/main" id="{DC50E0FD-B28F-199D-EE90-107415F456BD}"/>
              </a:ext>
            </a:extLst>
          </p:cNvPr>
          <p:cNvGrpSpPr/>
          <p:nvPr/>
        </p:nvGrpSpPr>
        <p:grpSpPr>
          <a:xfrm>
            <a:off x="3106339" y="758890"/>
            <a:ext cx="678523" cy="572049"/>
            <a:chOff x="8982504" y="3274976"/>
            <a:chExt cx="1230670" cy="1037553"/>
          </a:xfrm>
          <a:solidFill>
            <a:srgbClr val="ED7D31"/>
          </a:solidFill>
        </p:grpSpPr>
        <p:pic>
          <p:nvPicPr>
            <p:cNvPr id="6" name="Graphique 5" descr="Utilisateur avec un remplissage uni">
              <a:extLst>
                <a:ext uri="{FF2B5EF4-FFF2-40B4-BE49-F238E27FC236}">
                  <a16:creationId xmlns:a16="http://schemas.microsoft.com/office/drawing/2014/main" id="{15114BD4-E740-F6C5-F8FB-C909CA4BA7E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7" name="Graphique 6" descr="Utilisateur avec un remplissage uni">
              <a:extLst>
                <a:ext uri="{FF2B5EF4-FFF2-40B4-BE49-F238E27FC236}">
                  <a16:creationId xmlns:a16="http://schemas.microsoft.com/office/drawing/2014/main" id="{94F10E96-DAA8-7BD2-E31B-FDFE24BFB94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8" name="Graphique 7" descr="Utilisateur avec un remplissage uni">
              <a:extLst>
                <a:ext uri="{FF2B5EF4-FFF2-40B4-BE49-F238E27FC236}">
                  <a16:creationId xmlns:a16="http://schemas.microsoft.com/office/drawing/2014/main" id="{61FCB45A-E558-D3F9-ACE7-3DC9267360D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9" name="Graphique 8" descr="Utilisateur avec un remplissage uni">
              <a:extLst>
                <a:ext uri="{FF2B5EF4-FFF2-40B4-BE49-F238E27FC236}">
                  <a16:creationId xmlns:a16="http://schemas.microsoft.com/office/drawing/2014/main" id="{E59AABE4-6873-C901-2B98-0DD3D0A6BD5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0" name="Graphique 9" descr="Utilisateur avec un remplissage uni">
              <a:extLst>
                <a:ext uri="{FF2B5EF4-FFF2-40B4-BE49-F238E27FC236}">
                  <a16:creationId xmlns:a16="http://schemas.microsoft.com/office/drawing/2014/main" id="{D22686CE-72AB-BA46-E55B-45C7481248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1" name="Graphique 10" descr="Utilisateur avec un remplissage uni">
              <a:extLst>
                <a:ext uri="{FF2B5EF4-FFF2-40B4-BE49-F238E27FC236}">
                  <a16:creationId xmlns:a16="http://schemas.microsoft.com/office/drawing/2014/main" id="{DEDBC47E-3778-FE66-D242-70432F3D038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2" name="Graphique 11" descr="Utilisateur avec un remplissage uni">
              <a:extLst>
                <a:ext uri="{FF2B5EF4-FFF2-40B4-BE49-F238E27FC236}">
                  <a16:creationId xmlns:a16="http://schemas.microsoft.com/office/drawing/2014/main" id="{9AC83825-8521-2413-A453-325D8E58452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3" name="Graphique 12" descr="Utilisateur avec un remplissage uni">
              <a:extLst>
                <a:ext uri="{FF2B5EF4-FFF2-40B4-BE49-F238E27FC236}">
                  <a16:creationId xmlns:a16="http://schemas.microsoft.com/office/drawing/2014/main" id="{423968D6-4F88-A714-A2C6-064B2F6C34C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4" name="Graphique 13" descr="Utilisateur avec un remplissage uni">
              <a:extLst>
                <a:ext uri="{FF2B5EF4-FFF2-40B4-BE49-F238E27FC236}">
                  <a16:creationId xmlns:a16="http://schemas.microsoft.com/office/drawing/2014/main" id="{FD8F2D51-AF1F-878C-B9E5-EF0ECF40B8C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5" name="Graphique 14" descr="Utilisateur avec un remplissage uni">
              <a:extLst>
                <a:ext uri="{FF2B5EF4-FFF2-40B4-BE49-F238E27FC236}">
                  <a16:creationId xmlns:a16="http://schemas.microsoft.com/office/drawing/2014/main" id="{B7CDD920-5028-A6E1-6EF7-E39F04E2DEF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6" name="Graphique 15" descr="Utilisateur avec un remplissage uni">
              <a:extLst>
                <a:ext uri="{FF2B5EF4-FFF2-40B4-BE49-F238E27FC236}">
                  <a16:creationId xmlns:a16="http://schemas.microsoft.com/office/drawing/2014/main" id="{23A2BF6F-EF6F-E612-FBBC-CE0DA76D8D8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grpSp>
        <p:nvGrpSpPr>
          <p:cNvPr id="29" name="Groupe 28">
            <a:extLst>
              <a:ext uri="{FF2B5EF4-FFF2-40B4-BE49-F238E27FC236}">
                <a16:creationId xmlns:a16="http://schemas.microsoft.com/office/drawing/2014/main" id="{54DE47AB-B18F-BA94-7C62-B09774A76FC0}"/>
              </a:ext>
            </a:extLst>
          </p:cNvPr>
          <p:cNvGrpSpPr/>
          <p:nvPr/>
        </p:nvGrpSpPr>
        <p:grpSpPr>
          <a:xfrm>
            <a:off x="3140589" y="3772690"/>
            <a:ext cx="508215" cy="502439"/>
            <a:chOff x="963938" y="3610447"/>
            <a:chExt cx="1154415" cy="1141296"/>
          </a:xfrm>
        </p:grpSpPr>
        <p:grpSp>
          <p:nvGrpSpPr>
            <p:cNvPr id="18" name="Groupe 17">
              <a:extLst>
                <a:ext uri="{FF2B5EF4-FFF2-40B4-BE49-F238E27FC236}">
                  <a16:creationId xmlns:a16="http://schemas.microsoft.com/office/drawing/2014/main" id="{B6E82421-DCEB-2889-6EB2-4F8A7C50F7EC}"/>
                </a:ext>
              </a:extLst>
            </p:cNvPr>
            <p:cNvGrpSpPr/>
            <p:nvPr/>
          </p:nvGrpSpPr>
          <p:grpSpPr>
            <a:xfrm>
              <a:off x="963938" y="3656787"/>
              <a:ext cx="1062451" cy="1094956"/>
              <a:chOff x="9345616" y="3418428"/>
              <a:chExt cx="867558" cy="894101"/>
            </a:xfrm>
            <a:solidFill>
              <a:srgbClr val="ED7D31"/>
            </a:solidFill>
          </p:grpSpPr>
          <p:pic>
            <p:nvPicPr>
              <p:cNvPr id="19" name="Graphique 18" descr="Utilisateur avec un remplissage uni">
                <a:extLst>
                  <a:ext uri="{FF2B5EF4-FFF2-40B4-BE49-F238E27FC236}">
                    <a16:creationId xmlns:a16="http://schemas.microsoft.com/office/drawing/2014/main" id="{B0D44578-4482-E8DB-6E83-016C069F4F5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20" name="Graphique 19" descr="Utilisateur avec un remplissage uni">
                <a:extLst>
                  <a:ext uri="{FF2B5EF4-FFF2-40B4-BE49-F238E27FC236}">
                    <a16:creationId xmlns:a16="http://schemas.microsoft.com/office/drawing/2014/main" id="{2C875033-70B4-3418-5977-BEE24791230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21" name="Graphique 20" descr="Utilisateur avec un remplissage uni">
                <a:extLst>
                  <a:ext uri="{FF2B5EF4-FFF2-40B4-BE49-F238E27FC236}">
                    <a16:creationId xmlns:a16="http://schemas.microsoft.com/office/drawing/2014/main" id="{52A92B4D-ECB2-4398-7560-0C5977D859E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22" name="Graphique 21" descr="Utilisateur avec un remplissage uni">
                <a:extLst>
                  <a:ext uri="{FF2B5EF4-FFF2-40B4-BE49-F238E27FC236}">
                    <a16:creationId xmlns:a16="http://schemas.microsoft.com/office/drawing/2014/main" id="{7299B550-4B98-229B-4CCE-5522FE4C0EA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23" name="Graphique 22" descr="Utilisateur avec un remplissage uni">
                <a:extLst>
                  <a:ext uri="{FF2B5EF4-FFF2-40B4-BE49-F238E27FC236}">
                    <a16:creationId xmlns:a16="http://schemas.microsoft.com/office/drawing/2014/main" id="{21B4B4DC-8A31-CA5D-B251-CCD36C01BC2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24" name="Graphique 23" descr="Utilisateur avec un remplissage uni">
                <a:extLst>
                  <a:ext uri="{FF2B5EF4-FFF2-40B4-BE49-F238E27FC236}">
                    <a16:creationId xmlns:a16="http://schemas.microsoft.com/office/drawing/2014/main" id="{4AD56669-B468-0C20-C082-0BA1A3DE4A7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25" name="Graphique 24" descr="Calendrier journalier avec un remplissage uni">
              <a:extLst>
                <a:ext uri="{FF2B5EF4-FFF2-40B4-BE49-F238E27FC236}">
                  <a16:creationId xmlns:a16="http://schemas.microsoft.com/office/drawing/2014/main" id="{438D1538-A9E2-F5C4-FE37-65419781C7F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635830" y="3610447"/>
              <a:ext cx="482523" cy="482523"/>
            </a:xfrm>
            <a:prstGeom prst="rect">
              <a:avLst/>
            </a:prstGeom>
          </p:spPr>
        </p:pic>
      </p:grpSp>
      <p:grpSp>
        <p:nvGrpSpPr>
          <p:cNvPr id="30" name="Groupe 29">
            <a:extLst>
              <a:ext uri="{FF2B5EF4-FFF2-40B4-BE49-F238E27FC236}">
                <a16:creationId xmlns:a16="http://schemas.microsoft.com/office/drawing/2014/main" id="{C7ED01BD-148F-41FD-7CF9-CD2B1790950A}"/>
              </a:ext>
            </a:extLst>
          </p:cNvPr>
          <p:cNvGrpSpPr/>
          <p:nvPr/>
        </p:nvGrpSpPr>
        <p:grpSpPr>
          <a:xfrm>
            <a:off x="3082380" y="6235212"/>
            <a:ext cx="509361" cy="422235"/>
            <a:chOff x="957404" y="5531480"/>
            <a:chExt cx="1401199" cy="1161525"/>
          </a:xfrm>
        </p:grpSpPr>
        <p:pic>
          <p:nvPicPr>
            <p:cNvPr id="17" name="Graphique 16" descr="Utilisateur avec un remplissage uni">
              <a:extLst>
                <a:ext uri="{FF2B5EF4-FFF2-40B4-BE49-F238E27FC236}">
                  <a16:creationId xmlns:a16="http://schemas.microsoft.com/office/drawing/2014/main" id="{AE182497-BC10-6A12-B263-A0E250BC2A6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7404" y="5582168"/>
              <a:ext cx="411559" cy="411559"/>
            </a:xfrm>
            <a:prstGeom prst="rect">
              <a:avLst/>
            </a:prstGeom>
          </p:spPr>
        </p:pic>
        <p:pic>
          <p:nvPicPr>
            <p:cNvPr id="26" name="Graphique 25" descr="Utilisateur avec un remplissage uni">
              <a:extLst>
                <a:ext uri="{FF2B5EF4-FFF2-40B4-BE49-F238E27FC236}">
                  <a16:creationId xmlns:a16="http://schemas.microsoft.com/office/drawing/2014/main" id="{5D976A5B-EB93-417A-9BFD-8990B63070D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23553" y="6281446"/>
              <a:ext cx="411559" cy="411559"/>
            </a:xfrm>
            <a:prstGeom prst="rect">
              <a:avLst/>
            </a:prstGeom>
          </p:spPr>
        </p:pic>
        <p:pic>
          <p:nvPicPr>
            <p:cNvPr id="27" name="Graphique 26" descr="Utilisateur avec un remplissage uni">
              <a:extLst>
                <a:ext uri="{FF2B5EF4-FFF2-40B4-BE49-F238E27FC236}">
                  <a16:creationId xmlns:a16="http://schemas.microsoft.com/office/drawing/2014/main" id="{C97DF516-6813-C0AC-F4D8-B06223CA439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947044" y="6271790"/>
              <a:ext cx="411559" cy="411559"/>
            </a:xfrm>
            <a:prstGeom prst="rect">
              <a:avLst/>
            </a:prstGeom>
          </p:spPr>
        </p:pic>
        <p:pic>
          <p:nvPicPr>
            <p:cNvPr id="28" name="Graphique 27" descr="Utilisateur avec un remplissage uni">
              <a:extLst>
                <a:ext uri="{FF2B5EF4-FFF2-40B4-BE49-F238E27FC236}">
                  <a16:creationId xmlns:a16="http://schemas.microsoft.com/office/drawing/2014/main" id="{56C823FB-2F53-3437-BE71-0E03C7014A0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706794" y="5531480"/>
              <a:ext cx="411559" cy="411559"/>
            </a:xfrm>
            <a:prstGeom prst="rect">
              <a:avLst/>
            </a:prstGeom>
          </p:spPr>
        </p:pic>
      </p:grpSp>
      <p:grpSp>
        <p:nvGrpSpPr>
          <p:cNvPr id="31" name="Groupe 30">
            <a:extLst>
              <a:ext uri="{FF2B5EF4-FFF2-40B4-BE49-F238E27FC236}">
                <a16:creationId xmlns:a16="http://schemas.microsoft.com/office/drawing/2014/main" id="{BCB5BFC5-C271-A6B8-F62F-F8744F55251A}"/>
              </a:ext>
            </a:extLst>
          </p:cNvPr>
          <p:cNvGrpSpPr/>
          <p:nvPr/>
        </p:nvGrpSpPr>
        <p:grpSpPr>
          <a:xfrm>
            <a:off x="2956561" y="4698819"/>
            <a:ext cx="508216" cy="343009"/>
            <a:chOff x="963936" y="3610447"/>
            <a:chExt cx="1154417" cy="779149"/>
          </a:xfrm>
        </p:grpSpPr>
        <p:grpSp>
          <p:nvGrpSpPr>
            <p:cNvPr id="32" name="Groupe 31">
              <a:extLst>
                <a:ext uri="{FF2B5EF4-FFF2-40B4-BE49-F238E27FC236}">
                  <a16:creationId xmlns:a16="http://schemas.microsoft.com/office/drawing/2014/main" id="{CF5D8A17-7692-84CE-F53D-8BB8078FF069}"/>
                </a:ext>
              </a:extLst>
            </p:cNvPr>
            <p:cNvGrpSpPr/>
            <p:nvPr/>
          </p:nvGrpSpPr>
          <p:grpSpPr>
            <a:xfrm>
              <a:off x="963936" y="3656784"/>
              <a:ext cx="766192" cy="732812"/>
              <a:chOff x="9345616" y="3418428"/>
              <a:chExt cx="625644" cy="598388"/>
            </a:xfrm>
            <a:solidFill>
              <a:srgbClr val="ED7D31"/>
            </a:solidFill>
          </p:grpSpPr>
          <p:pic>
            <p:nvPicPr>
              <p:cNvPr id="34" name="Graphique 33" descr="Utilisateur avec un remplissage uni">
                <a:extLst>
                  <a:ext uri="{FF2B5EF4-FFF2-40B4-BE49-F238E27FC236}">
                    <a16:creationId xmlns:a16="http://schemas.microsoft.com/office/drawing/2014/main" id="{91240E4C-1993-88B8-3F3F-64C8A190CAC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35" name="Graphique 34" descr="Utilisateur avec un remplissage uni">
                <a:extLst>
                  <a:ext uri="{FF2B5EF4-FFF2-40B4-BE49-F238E27FC236}">
                    <a16:creationId xmlns:a16="http://schemas.microsoft.com/office/drawing/2014/main" id="{0808EC0F-09B0-9365-F3BA-D31CE66D097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36" name="Graphique 35" descr="Utilisateur avec un remplissage uni">
                <a:extLst>
                  <a:ext uri="{FF2B5EF4-FFF2-40B4-BE49-F238E27FC236}">
                    <a16:creationId xmlns:a16="http://schemas.microsoft.com/office/drawing/2014/main" id="{C5116D57-3981-9B1D-8182-DD68B51C17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grpSp>
        <p:pic>
          <p:nvPicPr>
            <p:cNvPr id="33" name="Graphique 32" descr="Calendrier journalier avec un remplissage uni">
              <a:extLst>
                <a:ext uri="{FF2B5EF4-FFF2-40B4-BE49-F238E27FC236}">
                  <a16:creationId xmlns:a16="http://schemas.microsoft.com/office/drawing/2014/main" id="{C96D0E49-6B69-56CC-624D-E89BE71D318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635830" y="3610447"/>
              <a:ext cx="482523" cy="482523"/>
            </a:xfrm>
            <a:prstGeom prst="rect">
              <a:avLst/>
            </a:prstGeom>
          </p:spPr>
        </p:pic>
      </p:grpSp>
      <p:grpSp>
        <p:nvGrpSpPr>
          <p:cNvPr id="40" name="Groupe 39">
            <a:extLst>
              <a:ext uri="{FF2B5EF4-FFF2-40B4-BE49-F238E27FC236}">
                <a16:creationId xmlns:a16="http://schemas.microsoft.com/office/drawing/2014/main" id="{A4630470-84B5-D2C6-8C4D-37FF127825D7}"/>
              </a:ext>
            </a:extLst>
          </p:cNvPr>
          <p:cNvGrpSpPr/>
          <p:nvPr/>
        </p:nvGrpSpPr>
        <p:grpSpPr>
          <a:xfrm>
            <a:off x="3599104" y="4687198"/>
            <a:ext cx="508216" cy="343012"/>
            <a:chOff x="963936" y="3610447"/>
            <a:chExt cx="1154417" cy="779155"/>
          </a:xfrm>
        </p:grpSpPr>
        <p:grpSp>
          <p:nvGrpSpPr>
            <p:cNvPr id="41" name="Groupe 40">
              <a:extLst>
                <a:ext uri="{FF2B5EF4-FFF2-40B4-BE49-F238E27FC236}">
                  <a16:creationId xmlns:a16="http://schemas.microsoft.com/office/drawing/2014/main" id="{EBF0D24D-8FD9-45A8-3619-47E7049C9461}"/>
                </a:ext>
              </a:extLst>
            </p:cNvPr>
            <p:cNvGrpSpPr/>
            <p:nvPr/>
          </p:nvGrpSpPr>
          <p:grpSpPr>
            <a:xfrm>
              <a:off x="963936" y="3656789"/>
              <a:ext cx="766192" cy="732813"/>
              <a:chOff x="9345616" y="3418428"/>
              <a:chExt cx="625644" cy="598388"/>
            </a:xfrm>
            <a:solidFill>
              <a:srgbClr val="ED7D31"/>
            </a:solidFill>
          </p:grpSpPr>
          <p:pic>
            <p:nvPicPr>
              <p:cNvPr id="43" name="Graphique 42" descr="Utilisateur avec un remplissage uni">
                <a:extLst>
                  <a:ext uri="{FF2B5EF4-FFF2-40B4-BE49-F238E27FC236}">
                    <a16:creationId xmlns:a16="http://schemas.microsoft.com/office/drawing/2014/main" id="{5FF0F85B-BDEB-2204-4606-C6D02AC6B6D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44" name="Graphique 43" descr="Utilisateur avec un remplissage uni">
                <a:extLst>
                  <a:ext uri="{FF2B5EF4-FFF2-40B4-BE49-F238E27FC236}">
                    <a16:creationId xmlns:a16="http://schemas.microsoft.com/office/drawing/2014/main" id="{33F303BF-E675-166C-31B0-F18481B6335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45" name="Graphique 44" descr="Utilisateur avec un remplissage uni">
                <a:extLst>
                  <a:ext uri="{FF2B5EF4-FFF2-40B4-BE49-F238E27FC236}">
                    <a16:creationId xmlns:a16="http://schemas.microsoft.com/office/drawing/2014/main" id="{D8303B8B-8D7A-5AC2-D315-75F93C521C6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grpSp>
        <p:pic>
          <p:nvPicPr>
            <p:cNvPr id="42" name="Graphique 41" descr="Calendrier journalier avec un remplissage uni">
              <a:extLst>
                <a:ext uri="{FF2B5EF4-FFF2-40B4-BE49-F238E27FC236}">
                  <a16:creationId xmlns:a16="http://schemas.microsoft.com/office/drawing/2014/main" id="{54E8C468-C10C-1D4F-4C01-FB26C146338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635830" y="3610447"/>
              <a:ext cx="482523" cy="482523"/>
            </a:xfrm>
            <a:prstGeom prst="rect">
              <a:avLst/>
            </a:prstGeom>
          </p:spPr>
        </p:pic>
      </p:grpSp>
      <p:grpSp>
        <p:nvGrpSpPr>
          <p:cNvPr id="49" name="Groupe 48">
            <a:extLst>
              <a:ext uri="{FF2B5EF4-FFF2-40B4-BE49-F238E27FC236}">
                <a16:creationId xmlns:a16="http://schemas.microsoft.com/office/drawing/2014/main" id="{97135D1A-4657-9A0D-5B1F-EA27EEC73FD6}"/>
              </a:ext>
            </a:extLst>
          </p:cNvPr>
          <p:cNvGrpSpPr/>
          <p:nvPr/>
        </p:nvGrpSpPr>
        <p:grpSpPr>
          <a:xfrm>
            <a:off x="3017852" y="2221748"/>
            <a:ext cx="360903" cy="501652"/>
            <a:chOff x="8982504" y="3274976"/>
            <a:chExt cx="654588" cy="909872"/>
          </a:xfrm>
          <a:solidFill>
            <a:srgbClr val="ED7D31"/>
          </a:solidFill>
        </p:grpSpPr>
        <p:pic>
          <p:nvPicPr>
            <p:cNvPr id="50" name="Graphique 49" descr="Utilisateur avec un remplissage uni">
              <a:extLst>
                <a:ext uri="{FF2B5EF4-FFF2-40B4-BE49-F238E27FC236}">
                  <a16:creationId xmlns:a16="http://schemas.microsoft.com/office/drawing/2014/main" id="{922A7535-914A-88A3-3365-3787302F9AE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51" name="Graphique 50" descr="Utilisateur avec un remplissage uni">
              <a:extLst>
                <a:ext uri="{FF2B5EF4-FFF2-40B4-BE49-F238E27FC236}">
                  <a16:creationId xmlns:a16="http://schemas.microsoft.com/office/drawing/2014/main" id="{1A25DFEE-2BE5-EB7B-A4B4-5458872B807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55" name="Graphique 54" descr="Utilisateur avec un remplissage uni">
              <a:extLst>
                <a:ext uri="{FF2B5EF4-FFF2-40B4-BE49-F238E27FC236}">
                  <a16:creationId xmlns:a16="http://schemas.microsoft.com/office/drawing/2014/main" id="{D1F524C6-4457-1E26-C7A5-4400D56A0BD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56" name="Graphique 55" descr="Utilisateur avec un remplissage uni">
              <a:extLst>
                <a:ext uri="{FF2B5EF4-FFF2-40B4-BE49-F238E27FC236}">
                  <a16:creationId xmlns:a16="http://schemas.microsoft.com/office/drawing/2014/main" id="{EE43F78B-0202-A24B-A1F1-7C4C624350D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grpSp>
      <p:grpSp>
        <p:nvGrpSpPr>
          <p:cNvPr id="66" name="Groupe 65">
            <a:extLst>
              <a:ext uri="{FF2B5EF4-FFF2-40B4-BE49-F238E27FC236}">
                <a16:creationId xmlns:a16="http://schemas.microsoft.com/office/drawing/2014/main" id="{9FAFE05F-5640-6BD9-FD19-B9461D27D43C}"/>
              </a:ext>
            </a:extLst>
          </p:cNvPr>
          <p:cNvGrpSpPr/>
          <p:nvPr/>
        </p:nvGrpSpPr>
        <p:grpSpPr>
          <a:xfrm>
            <a:off x="3675609" y="2367293"/>
            <a:ext cx="381699" cy="334774"/>
            <a:chOff x="1869945" y="2729360"/>
            <a:chExt cx="527437" cy="462596"/>
          </a:xfrm>
        </p:grpSpPr>
        <p:pic>
          <p:nvPicPr>
            <p:cNvPr id="62" name="Graphique 61" descr="Utilisateur avec un remplissage uni">
              <a:extLst>
                <a:ext uri="{FF2B5EF4-FFF2-40B4-BE49-F238E27FC236}">
                  <a16:creationId xmlns:a16="http://schemas.microsoft.com/office/drawing/2014/main" id="{F4B0A250-A676-A250-4CD3-0920337FB8D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69945" y="2910486"/>
              <a:ext cx="256032" cy="256032"/>
            </a:xfrm>
            <a:prstGeom prst="rect">
              <a:avLst/>
            </a:prstGeom>
          </p:spPr>
        </p:pic>
        <p:pic>
          <p:nvPicPr>
            <p:cNvPr id="63" name="Graphique 62" descr="Utilisateur avec un remplissage uni">
              <a:extLst>
                <a:ext uri="{FF2B5EF4-FFF2-40B4-BE49-F238E27FC236}">
                  <a16:creationId xmlns:a16="http://schemas.microsoft.com/office/drawing/2014/main" id="{E9212C7D-46D2-5006-2295-10F7491C771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039004" y="2935924"/>
              <a:ext cx="256032" cy="256032"/>
            </a:xfrm>
            <a:prstGeom prst="rect">
              <a:avLst/>
            </a:prstGeom>
          </p:spPr>
        </p:pic>
        <p:pic>
          <p:nvPicPr>
            <p:cNvPr id="64" name="Graphique 63" descr="Utilisateur avec un remplissage uni">
              <a:extLst>
                <a:ext uri="{FF2B5EF4-FFF2-40B4-BE49-F238E27FC236}">
                  <a16:creationId xmlns:a16="http://schemas.microsoft.com/office/drawing/2014/main" id="{D0CB946B-61E4-B414-C1B5-A2F81735629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141350" y="2729360"/>
              <a:ext cx="256032" cy="256032"/>
            </a:xfrm>
            <a:prstGeom prst="rect">
              <a:avLst/>
            </a:prstGeom>
          </p:spPr>
        </p:pic>
      </p:grpSp>
      <p:sp>
        <p:nvSpPr>
          <p:cNvPr id="67" name="Titre 1">
            <a:extLst>
              <a:ext uri="{FF2B5EF4-FFF2-40B4-BE49-F238E27FC236}">
                <a16:creationId xmlns:a16="http://schemas.microsoft.com/office/drawing/2014/main" id="{D833CFFE-18F6-4848-B41A-B2E402E2D222}"/>
              </a:ext>
            </a:extLst>
          </p:cNvPr>
          <p:cNvSpPr txBox="1">
            <a:spLocks/>
          </p:cNvSpPr>
          <p:nvPr/>
        </p:nvSpPr>
        <p:spPr>
          <a:xfrm>
            <a:off x="4748596" y="856734"/>
            <a:ext cx="2224554" cy="369108"/>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b="1" dirty="0"/>
              <a:t>Une Grande Communauté uniquement</a:t>
            </a:r>
          </a:p>
        </p:txBody>
      </p:sp>
      <p:sp>
        <p:nvSpPr>
          <p:cNvPr id="68" name="Titre 1">
            <a:extLst>
              <a:ext uri="{FF2B5EF4-FFF2-40B4-BE49-F238E27FC236}">
                <a16:creationId xmlns:a16="http://schemas.microsoft.com/office/drawing/2014/main" id="{D69B7873-3644-FC47-D696-68AAA6865490}"/>
              </a:ext>
            </a:extLst>
          </p:cNvPr>
          <p:cNvSpPr txBox="1">
            <a:spLocks/>
          </p:cNvSpPr>
          <p:nvPr/>
        </p:nvSpPr>
        <p:spPr>
          <a:xfrm>
            <a:off x="4748596" y="2267805"/>
            <a:ext cx="1465055" cy="412958"/>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b="1" dirty="0"/>
              <a:t>Plusieurs petites Communautés</a:t>
            </a:r>
          </a:p>
        </p:txBody>
      </p:sp>
      <p:sp>
        <p:nvSpPr>
          <p:cNvPr id="69" name="Titre 1">
            <a:extLst>
              <a:ext uri="{FF2B5EF4-FFF2-40B4-BE49-F238E27FC236}">
                <a16:creationId xmlns:a16="http://schemas.microsoft.com/office/drawing/2014/main" id="{26BD1BB8-80E2-7EC1-4745-54223E554394}"/>
              </a:ext>
            </a:extLst>
          </p:cNvPr>
          <p:cNvSpPr txBox="1">
            <a:spLocks/>
          </p:cNvSpPr>
          <p:nvPr/>
        </p:nvSpPr>
        <p:spPr>
          <a:xfrm>
            <a:off x="4748596" y="3759764"/>
            <a:ext cx="1217853" cy="5888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b="1" dirty="0"/>
              <a:t>Une grande réunion sans Communauté</a:t>
            </a:r>
          </a:p>
        </p:txBody>
      </p:sp>
      <p:sp>
        <p:nvSpPr>
          <p:cNvPr id="70" name="Titre 1">
            <a:extLst>
              <a:ext uri="{FF2B5EF4-FFF2-40B4-BE49-F238E27FC236}">
                <a16:creationId xmlns:a16="http://schemas.microsoft.com/office/drawing/2014/main" id="{FB88DB6E-B649-C8EF-868F-7D5529EA9E58}"/>
              </a:ext>
            </a:extLst>
          </p:cNvPr>
          <p:cNvSpPr txBox="1">
            <a:spLocks/>
          </p:cNvSpPr>
          <p:nvPr/>
        </p:nvSpPr>
        <p:spPr>
          <a:xfrm>
            <a:off x="4748596" y="4685541"/>
            <a:ext cx="2082954" cy="412958"/>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b="1" dirty="0"/>
              <a:t>Plusieurs petites réunions sans Communauté</a:t>
            </a:r>
          </a:p>
        </p:txBody>
      </p:sp>
      <p:grpSp>
        <p:nvGrpSpPr>
          <p:cNvPr id="71" name="Groupe 70">
            <a:extLst>
              <a:ext uri="{FF2B5EF4-FFF2-40B4-BE49-F238E27FC236}">
                <a16:creationId xmlns:a16="http://schemas.microsoft.com/office/drawing/2014/main" id="{76E9F2EA-865F-6273-BE5B-AFD325363913}"/>
              </a:ext>
            </a:extLst>
          </p:cNvPr>
          <p:cNvGrpSpPr/>
          <p:nvPr/>
        </p:nvGrpSpPr>
        <p:grpSpPr>
          <a:xfrm>
            <a:off x="3043305" y="3060516"/>
            <a:ext cx="381699" cy="484262"/>
            <a:chOff x="1869945" y="2522796"/>
            <a:chExt cx="527437" cy="669160"/>
          </a:xfrm>
        </p:grpSpPr>
        <p:pic>
          <p:nvPicPr>
            <p:cNvPr id="72" name="Graphique 71" descr="Utilisateur avec un remplissage uni">
              <a:extLst>
                <a:ext uri="{FF2B5EF4-FFF2-40B4-BE49-F238E27FC236}">
                  <a16:creationId xmlns:a16="http://schemas.microsoft.com/office/drawing/2014/main" id="{36105EE2-23AC-E423-B8F2-74231FF9D3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957046" y="2710633"/>
              <a:ext cx="256032" cy="256032"/>
            </a:xfrm>
            <a:prstGeom prst="rect">
              <a:avLst/>
            </a:prstGeom>
          </p:spPr>
        </p:pic>
        <p:pic>
          <p:nvPicPr>
            <p:cNvPr id="73" name="Graphique 72" descr="Utilisateur avec un remplissage uni">
              <a:extLst>
                <a:ext uri="{FF2B5EF4-FFF2-40B4-BE49-F238E27FC236}">
                  <a16:creationId xmlns:a16="http://schemas.microsoft.com/office/drawing/2014/main" id="{693F1CDA-E028-F35A-71A0-8D1D16FC78D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69945" y="2910486"/>
              <a:ext cx="256032" cy="256032"/>
            </a:xfrm>
            <a:prstGeom prst="rect">
              <a:avLst/>
            </a:prstGeom>
          </p:spPr>
        </p:pic>
        <p:pic>
          <p:nvPicPr>
            <p:cNvPr id="74" name="Graphique 73" descr="Utilisateur avec un remplissage uni">
              <a:extLst>
                <a:ext uri="{FF2B5EF4-FFF2-40B4-BE49-F238E27FC236}">
                  <a16:creationId xmlns:a16="http://schemas.microsoft.com/office/drawing/2014/main" id="{1E4AC542-707A-FC6A-833F-B818A4628D6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039004" y="2935924"/>
              <a:ext cx="256032" cy="256032"/>
            </a:xfrm>
            <a:prstGeom prst="rect">
              <a:avLst/>
            </a:prstGeom>
          </p:spPr>
        </p:pic>
        <p:pic>
          <p:nvPicPr>
            <p:cNvPr id="75" name="Graphique 74" descr="Utilisateur avec un remplissage uni">
              <a:extLst>
                <a:ext uri="{FF2B5EF4-FFF2-40B4-BE49-F238E27FC236}">
                  <a16:creationId xmlns:a16="http://schemas.microsoft.com/office/drawing/2014/main" id="{A0EF4754-1C66-852E-76D7-1B5287E303C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141350" y="2729360"/>
              <a:ext cx="256032" cy="256032"/>
            </a:xfrm>
            <a:prstGeom prst="rect">
              <a:avLst/>
            </a:prstGeom>
          </p:spPr>
        </p:pic>
        <p:pic>
          <p:nvPicPr>
            <p:cNvPr id="76" name="Graphique 75" descr="Utilisateur avec un remplissage uni">
              <a:extLst>
                <a:ext uri="{FF2B5EF4-FFF2-40B4-BE49-F238E27FC236}">
                  <a16:creationId xmlns:a16="http://schemas.microsoft.com/office/drawing/2014/main" id="{292E768A-55ED-BC7F-FA56-78BAEB26775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077000" y="2522796"/>
              <a:ext cx="256032" cy="256032"/>
            </a:xfrm>
            <a:prstGeom prst="rect">
              <a:avLst/>
            </a:prstGeom>
          </p:spPr>
        </p:pic>
      </p:grpSp>
      <p:sp>
        <p:nvSpPr>
          <p:cNvPr id="77" name="Titre 1">
            <a:extLst>
              <a:ext uri="{FF2B5EF4-FFF2-40B4-BE49-F238E27FC236}">
                <a16:creationId xmlns:a16="http://schemas.microsoft.com/office/drawing/2014/main" id="{606C8FCB-4139-A7D1-59EF-31EAF8B07D13}"/>
              </a:ext>
            </a:extLst>
          </p:cNvPr>
          <p:cNvSpPr txBox="1">
            <a:spLocks/>
          </p:cNvSpPr>
          <p:nvPr/>
        </p:nvSpPr>
        <p:spPr>
          <a:xfrm>
            <a:off x="4748596" y="3080174"/>
            <a:ext cx="1974210" cy="412958"/>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b="1" dirty="0"/>
              <a:t>Une Communauté et une/des réunion(s) avec plus de personnes</a:t>
            </a:r>
          </a:p>
        </p:txBody>
      </p:sp>
      <p:sp>
        <p:nvSpPr>
          <p:cNvPr id="78" name="Titre 1">
            <a:extLst>
              <a:ext uri="{FF2B5EF4-FFF2-40B4-BE49-F238E27FC236}">
                <a16:creationId xmlns:a16="http://schemas.microsoft.com/office/drawing/2014/main" id="{A6714F4D-F0CE-3C59-BA1B-7DE2335C8B9F}"/>
              </a:ext>
            </a:extLst>
          </p:cNvPr>
          <p:cNvSpPr txBox="1">
            <a:spLocks/>
          </p:cNvSpPr>
          <p:nvPr/>
        </p:nvSpPr>
        <p:spPr>
          <a:xfrm>
            <a:off x="114668" y="840715"/>
            <a:ext cx="2542740" cy="584181"/>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Plus de mutualisation (nombre et temps), coût marginal faible</a:t>
            </a:r>
          </a:p>
        </p:txBody>
      </p:sp>
      <p:sp>
        <p:nvSpPr>
          <p:cNvPr id="79" name="Titre 1">
            <a:extLst>
              <a:ext uri="{FF2B5EF4-FFF2-40B4-BE49-F238E27FC236}">
                <a16:creationId xmlns:a16="http://schemas.microsoft.com/office/drawing/2014/main" id="{33A0A2C7-736F-9A91-E16B-5ED4D7404643}"/>
              </a:ext>
            </a:extLst>
          </p:cNvPr>
          <p:cNvSpPr txBox="1">
            <a:spLocks/>
          </p:cNvSpPr>
          <p:nvPr/>
        </p:nvSpPr>
        <p:spPr>
          <a:xfrm>
            <a:off x="11683" y="6008300"/>
            <a:ext cx="2721019" cy="806376"/>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Meilleure réponse aux contraintes et besoins spécifiques, investissement souvent plus faible pour démarrer l’activité</a:t>
            </a:r>
          </a:p>
        </p:txBody>
      </p:sp>
      <p:sp>
        <p:nvSpPr>
          <p:cNvPr id="81" name="Titre 1">
            <a:extLst>
              <a:ext uri="{FF2B5EF4-FFF2-40B4-BE49-F238E27FC236}">
                <a16:creationId xmlns:a16="http://schemas.microsoft.com/office/drawing/2014/main" id="{92C554B1-59AC-6EB4-1A43-5C181C9EED66}"/>
              </a:ext>
            </a:extLst>
          </p:cNvPr>
          <p:cNvSpPr txBox="1">
            <a:spLocks/>
          </p:cNvSpPr>
          <p:nvPr/>
        </p:nvSpPr>
        <p:spPr>
          <a:xfrm>
            <a:off x="4748596" y="5493713"/>
            <a:ext cx="2082954" cy="412958"/>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b="1" dirty="0"/>
              <a:t>Une approche individuelle avec une/des réunions</a:t>
            </a:r>
          </a:p>
        </p:txBody>
      </p:sp>
      <p:sp>
        <p:nvSpPr>
          <p:cNvPr id="82" name="Titre 1">
            <a:extLst>
              <a:ext uri="{FF2B5EF4-FFF2-40B4-BE49-F238E27FC236}">
                <a16:creationId xmlns:a16="http://schemas.microsoft.com/office/drawing/2014/main" id="{0CE15076-DD92-6FDB-ADF7-B1FCC992D9A0}"/>
              </a:ext>
            </a:extLst>
          </p:cNvPr>
          <p:cNvSpPr txBox="1">
            <a:spLocks/>
          </p:cNvSpPr>
          <p:nvPr/>
        </p:nvSpPr>
        <p:spPr>
          <a:xfrm>
            <a:off x="4748596" y="6190543"/>
            <a:ext cx="2082954" cy="412958"/>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b="1" dirty="0"/>
              <a:t>Approche individuelle uniquement</a:t>
            </a:r>
          </a:p>
        </p:txBody>
      </p:sp>
      <p:grpSp>
        <p:nvGrpSpPr>
          <p:cNvPr id="83" name="Groupe 82">
            <a:extLst>
              <a:ext uri="{FF2B5EF4-FFF2-40B4-BE49-F238E27FC236}">
                <a16:creationId xmlns:a16="http://schemas.microsoft.com/office/drawing/2014/main" id="{260BD0BA-CD5D-BE5D-E339-D544BDBD7BEB}"/>
              </a:ext>
            </a:extLst>
          </p:cNvPr>
          <p:cNvGrpSpPr/>
          <p:nvPr/>
        </p:nvGrpSpPr>
        <p:grpSpPr>
          <a:xfrm>
            <a:off x="3591741" y="3061801"/>
            <a:ext cx="508215" cy="502439"/>
            <a:chOff x="963938" y="3610447"/>
            <a:chExt cx="1154415" cy="1141296"/>
          </a:xfrm>
        </p:grpSpPr>
        <p:grpSp>
          <p:nvGrpSpPr>
            <p:cNvPr id="84" name="Groupe 83">
              <a:extLst>
                <a:ext uri="{FF2B5EF4-FFF2-40B4-BE49-F238E27FC236}">
                  <a16:creationId xmlns:a16="http://schemas.microsoft.com/office/drawing/2014/main" id="{D578CD51-B271-5599-8248-1AF9801F65C8}"/>
                </a:ext>
              </a:extLst>
            </p:cNvPr>
            <p:cNvGrpSpPr/>
            <p:nvPr/>
          </p:nvGrpSpPr>
          <p:grpSpPr>
            <a:xfrm>
              <a:off x="963938" y="3656787"/>
              <a:ext cx="1062451" cy="1094956"/>
              <a:chOff x="9345616" y="3418428"/>
              <a:chExt cx="867558" cy="894101"/>
            </a:xfrm>
            <a:solidFill>
              <a:srgbClr val="ED7D31"/>
            </a:solidFill>
          </p:grpSpPr>
          <p:pic>
            <p:nvPicPr>
              <p:cNvPr id="86" name="Graphique 85" descr="Utilisateur avec un remplissage uni">
                <a:extLst>
                  <a:ext uri="{FF2B5EF4-FFF2-40B4-BE49-F238E27FC236}">
                    <a16:creationId xmlns:a16="http://schemas.microsoft.com/office/drawing/2014/main" id="{7C3C7640-E4FD-E3E3-A805-2D9FB5D57A7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87" name="Graphique 86" descr="Utilisateur avec un remplissage uni">
                <a:extLst>
                  <a:ext uri="{FF2B5EF4-FFF2-40B4-BE49-F238E27FC236}">
                    <a16:creationId xmlns:a16="http://schemas.microsoft.com/office/drawing/2014/main" id="{4963E278-930D-3125-573F-7B48824DD7F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88" name="Graphique 87" descr="Utilisateur avec un remplissage uni">
                <a:extLst>
                  <a:ext uri="{FF2B5EF4-FFF2-40B4-BE49-F238E27FC236}">
                    <a16:creationId xmlns:a16="http://schemas.microsoft.com/office/drawing/2014/main" id="{4AAF551F-FC7E-3333-DF93-038F6C288AE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89" name="Graphique 88" descr="Utilisateur avec un remplissage uni">
                <a:extLst>
                  <a:ext uri="{FF2B5EF4-FFF2-40B4-BE49-F238E27FC236}">
                    <a16:creationId xmlns:a16="http://schemas.microsoft.com/office/drawing/2014/main" id="{8BAF0874-F561-8A9A-0BE3-8603D30F3FA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90" name="Graphique 89" descr="Utilisateur avec un remplissage uni">
                <a:extLst>
                  <a:ext uri="{FF2B5EF4-FFF2-40B4-BE49-F238E27FC236}">
                    <a16:creationId xmlns:a16="http://schemas.microsoft.com/office/drawing/2014/main" id="{4ED407A6-2E7F-5D81-1000-DA39843966D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91" name="Graphique 90" descr="Utilisateur avec un remplissage uni">
                <a:extLst>
                  <a:ext uri="{FF2B5EF4-FFF2-40B4-BE49-F238E27FC236}">
                    <a16:creationId xmlns:a16="http://schemas.microsoft.com/office/drawing/2014/main" id="{AB1D672B-D29E-2234-43E8-079FB24CF76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85" name="Graphique 84" descr="Calendrier journalier avec un remplissage uni">
              <a:extLst>
                <a:ext uri="{FF2B5EF4-FFF2-40B4-BE49-F238E27FC236}">
                  <a16:creationId xmlns:a16="http://schemas.microsoft.com/office/drawing/2014/main" id="{B6FCAC6F-A2FB-3217-48F9-5A51F076DBF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635830" y="3610447"/>
              <a:ext cx="482523" cy="482523"/>
            </a:xfrm>
            <a:prstGeom prst="rect">
              <a:avLst/>
            </a:prstGeom>
          </p:spPr>
        </p:pic>
      </p:grpSp>
      <p:sp>
        <p:nvSpPr>
          <p:cNvPr id="92" name="Signe Plus 91">
            <a:extLst>
              <a:ext uri="{FF2B5EF4-FFF2-40B4-BE49-F238E27FC236}">
                <a16:creationId xmlns:a16="http://schemas.microsoft.com/office/drawing/2014/main" id="{933CCB4F-5C0F-911D-2738-C4286DA08D6C}"/>
              </a:ext>
            </a:extLst>
          </p:cNvPr>
          <p:cNvSpPr/>
          <p:nvPr/>
        </p:nvSpPr>
        <p:spPr>
          <a:xfrm>
            <a:off x="3361168" y="3206933"/>
            <a:ext cx="314610" cy="314610"/>
          </a:xfrm>
          <a:prstGeom prst="mathPlus">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Signe Plus 92">
            <a:extLst>
              <a:ext uri="{FF2B5EF4-FFF2-40B4-BE49-F238E27FC236}">
                <a16:creationId xmlns:a16="http://schemas.microsoft.com/office/drawing/2014/main" id="{91E948C2-25EB-B1EB-859F-8316F37963DB}"/>
              </a:ext>
            </a:extLst>
          </p:cNvPr>
          <p:cNvSpPr/>
          <p:nvPr/>
        </p:nvSpPr>
        <p:spPr>
          <a:xfrm>
            <a:off x="3397684" y="2354535"/>
            <a:ext cx="314610" cy="314610"/>
          </a:xfrm>
          <a:prstGeom prst="mathPlus">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4" name="Signe Plus 93">
            <a:extLst>
              <a:ext uri="{FF2B5EF4-FFF2-40B4-BE49-F238E27FC236}">
                <a16:creationId xmlns:a16="http://schemas.microsoft.com/office/drawing/2014/main" id="{E346226C-CAA9-FC96-E800-103FC5EDE039}"/>
              </a:ext>
            </a:extLst>
          </p:cNvPr>
          <p:cNvSpPr/>
          <p:nvPr/>
        </p:nvSpPr>
        <p:spPr>
          <a:xfrm>
            <a:off x="3368896" y="4759607"/>
            <a:ext cx="314610" cy="314610"/>
          </a:xfrm>
          <a:prstGeom prst="mathPlus">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5" name="Groupe 94">
            <a:extLst>
              <a:ext uri="{FF2B5EF4-FFF2-40B4-BE49-F238E27FC236}">
                <a16:creationId xmlns:a16="http://schemas.microsoft.com/office/drawing/2014/main" id="{A36C16C3-D0A0-3600-9E6B-93379075D089}"/>
              </a:ext>
            </a:extLst>
          </p:cNvPr>
          <p:cNvGrpSpPr/>
          <p:nvPr/>
        </p:nvGrpSpPr>
        <p:grpSpPr>
          <a:xfrm>
            <a:off x="3043305" y="5520845"/>
            <a:ext cx="490908" cy="406939"/>
            <a:chOff x="957404" y="5531480"/>
            <a:chExt cx="1401199" cy="1161525"/>
          </a:xfrm>
        </p:grpSpPr>
        <p:pic>
          <p:nvPicPr>
            <p:cNvPr id="96" name="Graphique 95" descr="Utilisateur avec un remplissage uni">
              <a:extLst>
                <a:ext uri="{FF2B5EF4-FFF2-40B4-BE49-F238E27FC236}">
                  <a16:creationId xmlns:a16="http://schemas.microsoft.com/office/drawing/2014/main" id="{2F647BAB-44AE-5664-D875-CEB52D81A45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7404" y="5582168"/>
              <a:ext cx="411559" cy="411559"/>
            </a:xfrm>
            <a:prstGeom prst="rect">
              <a:avLst/>
            </a:prstGeom>
          </p:spPr>
        </p:pic>
        <p:pic>
          <p:nvPicPr>
            <p:cNvPr id="97" name="Graphique 96" descr="Utilisateur avec un remplissage uni">
              <a:extLst>
                <a:ext uri="{FF2B5EF4-FFF2-40B4-BE49-F238E27FC236}">
                  <a16:creationId xmlns:a16="http://schemas.microsoft.com/office/drawing/2014/main" id="{41136B77-D0A3-8966-47DE-EDC04C0C123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23553" y="6281446"/>
              <a:ext cx="411559" cy="411559"/>
            </a:xfrm>
            <a:prstGeom prst="rect">
              <a:avLst/>
            </a:prstGeom>
          </p:spPr>
        </p:pic>
        <p:pic>
          <p:nvPicPr>
            <p:cNvPr id="98" name="Graphique 97" descr="Utilisateur avec un remplissage uni">
              <a:extLst>
                <a:ext uri="{FF2B5EF4-FFF2-40B4-BE49-F238E27FC236}">
                  <a16:creationId xmlns:a16="http://schemas.microsoft.com/office/drawing/2014/main" id="{3AE871AA-F4DE-1EA4-D4FA-F9C6F5F1DAF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947044" y="6271790"/>
              <a:ext cx="411559" cy="411559"/>
            </a:xfrm>
            <a:prstGeom prst="rect">
              <a:avLst/>
            </a:prstGeom>
          </p:spPr>
        </p:pic>
        <p:pic>
          <p:nvPicPr>
            <p:cNvPr id="99" name="Graphique 98" descr="Utilisateur avec un remplissage uni">
              <a:extLst>
                <a:ext uri="{FF2B5EF4-FFF2-40B4-BE49-F238E27FC236}">
                  <a16:creationId xmlns:a16="http://schemas.microsoft.com/office/drawing/2014/main" id="{6A3325AD-E3BD-5B4F-8D19-815912E2A84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706794" y="5531480"/>
              <a:ext cx="411559" cy="411559"/>
            </a:xfrm>
            <a:prstGeom prst="rect">
              <a:avLst/>
            </a:prstGeom>
          </p:spPr>
        </p:pic>
      </p:grpSp>
      <p:grpSp>
        <p:nvGrpSpPr>
          <p:cNvPr id="100" name="Groupe 99">
            <a:extLst>
              <a:ext uri="{FF2B5EF4-FFF2-40B4-BE49-F238E27FC236}">
                <a16:creationId xmlns:a16="http://schemas.microsoft.com/office/drawing/2014/main" id="{EC217822-F438-0D7A-B8A9-81F4066F0EAD}"/>
              </a:ext>
            </a:extLst>
          </p:cNvPr>
          <p:cNvGrpSpPr/>
          <p:nvPr/>
        </p:nvGrpSpPr>
        <p:grpSpPr>
          <a:xfrm>
            <a:off x="3607081" y="5506146"/>
            <a:ext cx="508216" cy="343012"/>
            <a:chOff x="963936" y="3610447"/>
            <a:chExt cx="1154417" cy="779155"/>
          </a:xfrm>
        </p:grpSpPr>
        <p:grpSp>
          <p:nvGrpSpPr>
            <p:cNvPr id="101" name="Groupe 100">
              <a:extLst>
                <a:ext uri="{FF2B5EF4-FFF2-40B4-BE49-F238E27FC236}">
                  <a16:creationId xmlns:a16="http://schemas.microsoft.com/office/drawing/2014/main" id="{C8D9950B-BE3F-41AC-DA66-C74F2C65DA58}"/>
                </a:ext>
              </a:extLst>
            </p:cNvPr>
            <p:cNvGrpSpPr/>
            <p:nvPr/>
          </p:nvGrpSpPr>
          <p:grpSpPr>
            <a:xfrm>
              <a:off x="963936" y="3656789"/>
              <a:ext cx="766192" cy="732813"/>
              <a:chOff x="9345616" y="3418428"/>
              <a:chExt cx="625644" cy="598388"/>
            </a:xfrm>
            <a:solidFill>
              <a:srgbClr val="ED7D31"/>
            </a:solidFill>
          </p:grpSpPr>
          <p:pic>
            <p:nvPicPr>
              <p:cNvPr id="103" name="Graphique 102" descr="Utilisateur avec un remplissage uni">
                <a:extLst>
                  <a:ext uri="{FF2B5EF4-FFF2-40B4-BE49-F238E27FC236}">
                    <a16:creationId xmlns:a16="http://schemas.microsoft.com/office/drawing/2014/main" id="{8AA85F05-BA95-7913-3E34-FEE5614CF90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EBB65C3F-F40E-E7CA-97F6-5F080D04D3D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6B9E0D3B-F560-7649-2EC8-60AAED995F5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grpSp>
        <p:pic>
          <p:nvPicPr>
            <p:cNvPr id="102" name="Graphique 101" descr="Calendrier journalier avec un remplissage uni">
              <a:extLst>
                <a:ext uri="{FF2B5EF4-FFF2-40B4-BE49-F238E27FC236}">
                  <a16:creationId xmlns:a16="http://schemas.microsoft.com/office/drawing/2014/main" id="{CEDC14A9-6B3B-F767-41A7-9E49DD8EB59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635830" y="3610447"/>
              <a:ext cx="482523" cy="482523"/>
            </a:xfrm>
            <a:prstGeom prst="rect">
              <a:avLst/>
            </a:prstGeom>
          </p:spPr>
        </p:pic>
      </p:grpSp>
      <p:sp>
        <p:nvSpPr>
          <p:cNvPr id="106" name="Signe Plus 105">
            <a:extLst>
              <a:ext uri="{FF2B5EF4-FFF2-40B4-BE49-F238E27FC236}">
                <a16:creationId xmlns:a16="http://schemas.microsoft.com/office/drawing/2014/main" id="{1D298DD2-B92B-699E-9A5B-6DDF345AA3E3}"/>
              </a:ext>
            </a:extLst>
          </p:cNvPr>
          <p:cNvSpPr/>
          <p:nvPr/>
        </p:nvSpPr>
        <p:spPr>
          <a:xfrm>
            <a:off x="3376873" y="5578555"/>
            <a:ext cx="314610" cy="314610"/>
          </a:xfrm>
          <a:prstGeom prst="mathPlus">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Rectangle 106">
            <a:extLst>
              <a:ext uri="{FF2B5EF4-FFF2-40B4-BE49-F238E27FC236}">
                <a16:creationId xmlns:a16="http://schemas.microsoft.com/office/drawing/2014/main" id="{E01451B5-CC51-976B-8156-D9E401EF10A4}"/>
              </a:ext>
            </a:extLst>
          </p:cNvPr>
          <p:cNvSpPr/>
          <p:nvPr/>
        </p:nvSpPr>
        <p:spPr>
          <a:xfrm>
            <a:off x="7371446" y="2955044"/>
            <a:ext cx="3956758" cy="718352"/>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Une conférence sur un sujet spécialisé qui réunit plein de professionnels une fois par an (qui ne font pas forcément communauté), avec une communauté d’organisateurs ou de très motivés qui restent en lien fort et dans le temps.</a:t>
            </a:r>
          </a:p>
        </p:txBody>
      </p:sp>
      <p:grpSp>
        <p:nvGrpSpPr>
          <p:cNvPr id="128" name="Groupe 127">
            <a:extLst>
              <a:ext uri="{FF2B5EF4-FFF2-40B4-BE49-F238E27FC236}">
                <a16:creationId xmlns:a16="http://schemas.microsoft.com/office/drawing/2014/main" id="{5BDF23A7-3558-F6ED-9427-9FE6A50A9607}"/>
              </a:ext>
            </a:extLst>
          </p:cNvPr>
          <p:cNvGrpSpPr/>
          <p:nvPr/>
        </p:nvGrpSpPr>
        <p:grpSpPr>
          <a:xfrm>
            <a:off x="4159710" y="1451803"/>
            <a:ext cx="508215" cy="502439"/>
            <a:chOff x="963938" y="3610447"/>
            <a:chExt cx="1154415" cy="1141296"/>
          </a:xfrm>
        </p:grpSpPr>
        <p:grpSp>
          <p:nvGrpSpPr>
            <p:cNvPr id="129" name="Groupe 128">
              <a:extLst>
                <a:ext uri="{FF2B5EF4-FFF2-40B4-BE49-F238E27FC236}">
                  <a16:creationId xmlns:a16="http://schemas.microsoft.com/office/drawing/2014/main" id="{A3E562BD-9207-73B3-6F9C-3F1D6246760B}"/>
                </a:ext>
              </a:extLst>
            </p:cNvPr>
            <p:cNvGrpSpPr/>
            <p:nvPr/>
          </p:nvGrpSpPr>
          <p:grpSpPr>
            <a:xfrm>
              <a:off x="963938" y="3656787"/>
              <a:ext cx="1062451" cy="1094956"/>
              <a:chOff x="9345616" y="3418428"/>
              <a:chExt cx="867558" cy="894101"/>
            </a:xfrm>
            <a:solidFill>
              <a:srgbClr val="ED7D31"/>
            </a:solidFill>
          </p:grpSpPr>
          <p:pic>
            <p:nvPicPr>
              <p:cNvPr id="131" name="Graphique 130" descr="Utilisateur avec un remplissage uni">
                <a:extLst>
                  <a:ext uri="{FF2B5EF4-FFF2-40B4-BE49-F238E27FC236}">
                    <a16:creationId xmlns:a16="http://schemas.microsoft.com/office/drawing/2014/main" id="{176453FE-2D1A-1B71-F4D2-76AC4A6D582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32" name="Graphique 131" descr="Utilisateur avec un remplissage uni">
                <a:extLst>
                  <a:ext uri="{FF2B5EF4-FFF2-40B4-BE49-F238E27FC236}">
                    <a16:creationId xmlns:a16="http://schemas.microsoft.com/office/drawing/2014/main" id="{B3754F7E-FD7A-570E-235E-921699A1AA3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33" name="Graphique 132" descr="Utilisateur avec un remplissage uni">
                <a:extLst>
                  <a:ext uri="{FF2B5EF4-FFF2-40B4-BE49-F238E27FC236}">
                    <a16:creationId xmlns:a16="http://schemas.microsoft.com/office/drawing/2014/main" id="{7A5F0602-15E3-1C59-39D0-02E68ADF01D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34" name="Graphique 133" descr="Utilisateur avec un remplissage uni">
                <a:extLst>
                  <a:ext uri="{FF2B5EF4-FFF2-40B4-BE49-F238E27FC236}">
                    <a16:creationId xmlns:a16="http://schemas.microsoft.com/office/drawing/2014/main" id="{392ABD37-648B-BF9B-E7F0-AEFC563DB62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35" name="Graphique 134" descr="Utilisateur avec un remplissage uni">
                <a:extLst>
                  <a:ext uri="{FF2B5EF4-FFF2-40B4-BE49-F238E27FC236}">
                    <a16:creationId xmlns:a16="http://schemas.microsoft.com/office/drawing/2014/main" id="{6391F5A3-34D8-48C3-C348-422909A8F01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36" name="Graphique 135" descr="Utilisateur avec un remplissage uni">
                <a:extLst>
                  <a:ext uri="{FF2B5EF4-FFF2-40B4-BE49-F238E27FC236}">
                    <a16:creationId xmlns:a16="http://schemas.microsoft.com/office/drawing/2014/main" id="{9ED55CF8-A966-0407-F4E0-CC6423DB4D7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130" name="Graphique 129" descr="Calendrier journalier avec un remplissage uni">
              <a:extLst>
                <a:ext uri="{FF2B5EF4-FFF2-40B4-BE49-F238E27FC236}">
                  <a16:creationId xmlns:a16="http://schemas.microsoft.com/office/drawing/2014/main" id="{8323AEF9-911C-B3A6-8890-99A926BCA1D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635830" y="3610447"/>
              <a:ext cx="482523" cy="482523"/>
            </a:xfrm>
            <a:prstGeom prst="rect">
              <a:avLst/>
            </a:prstGeom>
          </p:spPr>
        </p:pic>
      </p:grpSp>
      <p:grpSp>
        <p:nvGrpSpPr>
          <p:cNvPr id="137" name="Groupe 136">
            <a:extLst>
              <a:ext uri="{FF2B5EF4-FFF2-40B4-BE49-F238E27FC236}">
                <a16:creationId xmlns:a16="http://schemas.microsoft.com/office/drawing/2014/main" id="{B57B0355-ABB8-C100-AEAC-6B4A43795409}"/>
              </a:ext>
            </a:extLst>
          </p:cNvPr>
          <p:cNvGrpSpPr/>
          <p:nvPr/>
        </p:nvGrpSpPr>
        <p:grpSpPr>
          <a:xfrm>
            <a:off x="3019033" y="1457561"/>
            <a:ext cx="360903" cy="501652"/>
            <a:chOff x="8982504" y="3274976"/>
            <a:chExt cx="654588" cy="909872"/>
          </a:xfrm>
          <a:solidFill>
            <a:srgbClr val="ED7D31"/>
          </a:solidFill>
        </p:grpSpPr>
        <p:pic>
          <p:nvPicPr>
            <p:cNvPr id="138" name="Graphique 137" descr="Utilisateur avec un remplissage uni">
              <a:extLst>
                <a:ext uri="{FF2B5EF4-FFF2-40B4-BE49-F238E27FC236}">
                  <a16:creationId xmlns:a16="http://schemas.microsoft.com/office/drawing/2014/main" id="{4D2F7292-EAEF-14CB-6C5E-5D5A715F4B6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39" name="Graphique 138" descr="Utilisateur avec un remplissage uni">
              <a:extLst>
                <a:ext uri="{FF2B5EF4-FFF2-40B4-BE49-F238E27FC236}">
                  <a16:creationId xmlns:a16="http://schemas.microsoft.com/office/drawing/2014/main" id="{9E94D057-7635-BCD0-D8E6-A93AD985570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8515C095-04B4-871F-A7B8-2426D33553D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25F15EFC-AD9B-CB84-AE4A-4E97BF27901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grpSp>
      <p:grpSp>
        <p:nvGrpSpPr>
          <p:cNvPr id="142" name="Groupe 141">
            <a:extLst>
              <a:ext uri="{FF2B5EF4-FFF2-40B4-BE49-F238E27FC236}">
                <a16:creationId xmlns:a16="http://schemas.microsoft.com/office/drawing/2014/main" id="{FA3C7661-3542-B13D-9170-026A98A34BB4}"/>
              </a:ext>
            </a:extLst>
          </p:cNvPr>
          <p:cNvGrpSpPr/>
          <p:nvPr/>
        </p:nvGrpSpPr>
        <p:grpSpPr>
          <a:xfrm>
            <a:off x="3490243" y="1612033"/>
            <a:ext cx="381699" cy="334774"/>
            <a:chOff x="1869945" y="2729360"/>
            <a:chExt cx="527437" cy="462596"/>
          </a:xfrm>
        </p:grpSpPr>
        <p:pic>
          <p:nvPicPr>
            <p:cNvPr id="143" name="Graphique 142" descr="Utilisateur avec un remplissage uni">
              <a:extLst>
                <a:ext uri="{FF2B5EF4-FFF2-40B4-BE49-F238E27FC236}">
                  <a16:creationId xmlns:a16="http://schemas.microsoft.com/office/drawing/2014/main" id="{FFE1FEC7-ECEA-9D2B-D8EB-69C3CEC1814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69945" y="2910486"/>
              <a:ext cx="256032" cy="256032"/>
            </a:xfrm>
            <a:prstGeom prst="rect">
              <a:avLst/>
            </a:prstGeom>
          </p:spPr>
        </p:pic>
        <p:pic>
          <p:nvPicPr>
            <p:cNvPr id="144" name="Graphique 143" descr="Utilisateur avec un remplissage uni">
              <a:extLst>
                <a:ext uri="{FF2B5EF4-FFF2-40B4-BE49-F238E27FC236}">
                  <a16:creationId xmlns:a16="http://schemas.microsoft.com/office/drawing/2014/main" id="{6C70210D-E0BB-E9B1-28F3-8BF9766C18E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039004" y="2935924"/>
              <a:ext cx="256032" cy="256032"/>
            </a:xfrm>
            <a:prstGeom prst="rect">
              <a:avLst/>
            </a:prstGeom>
          </p:spPr>
        </p:pic>
        <p:pic>
          <p:nvPicPr>
            <p:cNvPr id="145" name="Graphique 144" descr="Utilisateur avec un remplissage uni">
              <a:extLst>
                <a:ext uri="{FF2B5EF4-FFF2-40B4-BE49-F238E27FC236}">
                  <a16:creationId xmlns:a16="http://schemas.microsoft.com/office/drawing/2014/main" id="{D7622D18-D4F9-4DCD-A119-9CCDC3AD430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141350" y="2729360"/>
              <a:ext cx="256032" cy="256032"/>
            </a:xfrm>
            <a:prstGeom prst="rect">
              <a:avLst/>
            </a:prstGeom>
          </p:spPr>
        </p:pic>
      </p:grpSp>
      <p:sp>
        <p:nvSpPr>
          <p:cNvPr id="146" name="Signe Plus 145">
            <a:extLst>
              <a:ext uri="{FF2B5EF4-FFF2-40B4-BE49-F238E27FC236}">
                <a16:creationId xmlns:a16="http://schemas.microsoft.com/office/drawing/2014/main" id="{D30B8206-64FE-D9D8-53D3-0BD1E8693C91}"/>
              </a:ext>
            </a:extLst>
          </p:cNvPr>
          <p:cNvSpPr/>
          <p:nvPr/>
        </p:nvSpPr>
        <p:spPr>
          <a:xfrm>
            <a:off x="3275313" y="1582709"/>
            <a:ext cx="314610" cy="314610"/>
          </a:xfrm>
          <a:prstGeom prst="mathPlus">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 name="Signe Plus 146">
            <a:extLst>
              <a:ext uri="{FF2B5EF4-FFF2-40B4-BE49-F238E27FC236}">
                <a16:creationId xmlns:a16="http://schemas.microsoft.com/office/drawing/2014/main" id="{52A1F139-F8C6-F7D6-C395-CD2773921A80}"/>
              </a:ext>
            </a:extLst>
          </p:cNvPr>
          <p:cNvSpPr/>
          <p:nvPr/>
        </p:nvSpPr>
        <p:spPr>
          <a:xfrm>
            <a:off x="3818032" y="1582709"/>
            <a:ext cx="314610" cy="314610"/>
          </a:xfrm>
          <a:prstGeom prst="mathPlus">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Titre 1">
            <a:extLst>
              <a:ext uri="{FF2B5EF4-FFF2-40B4-BE49-F238E27FC236}">
                <a16:creationId xmlns:a16="http://schemas.microsoft.com/office/drawing/2014/main" id="{55B72B63-6C25-E21F-6EB0-5C155962B535}"/>
              </a:ext>
            </a:extLst>
          </p:cNvPr>
          <p:cNvSpPr txBox="1">
            <a:spLocks/>
          </p:cNvSpPr>
          <p:nvPr/>
        </p:nvSpPr>
        <p:spPr>
          <a:xfrm>
            <a:off x="4757862" y="1427238"/>
            <a:ext cx="2215288" cy="59821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b="1" dirty="0"/>
              <a:t>Plusieurs petites Communautés + une/des réunion(s)</a:t>
            </a:r>
          </a:p>
        </p:txBody>
      </p:sp>
      <p:sp>
        <p:nvSpPr>
          <p:cNvPr id="149" name="Rectangle 148">
            <a:extLst>
              <a:ext uri="{FF2B5EF4-FFF2-40B4-BE49-F238E27FC236}">
                <a16:creationId xmlns:a16="http://schemas.microsoft.com/office/drawing/2014/main" id="{2F6A1F17-E8D5-C6D4-7AFB-3A99050321E3}"/>
              </a:ext>
            </a:extLst>
          </p:cNvPr>
          <p:cNvSpPr/>
          <p:nvPr/>
        </p:nvSpPr>
        <p:spPr>
          <a:xfrm>
            <a:off x="7371446" y="2180468"/>
            <a:ext cx="3956758" cy="718352"/>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Des cellules locales de coachs sur des problématiques très pointues et locales, qui ont intérêt à se réunir par site, mais pour qui « se réunir avec d’autres » présente peu d’intérêt ou trop d’efforts.</a:t>
            </a:r>
          </a:p>
        </p:txBody>
      </p:sp>
      <p:sp>
        <p:nvSpPr>
          <p:cNvPr id="150" name="Rectangle 149">
            <a:extLst>
              <a:ext uri="{FF2B5EF4-FFF2-40B4-BE49-F238E27FC236}">
                <a16:creationId xmlns:a16="http://schemas.microsoft.com/office/drawing/2014/main" id="{D9591E8B-A290-B318-451D-E9BDFB4A9769}"/>
              </a:ext>
            </a:extLst>
          </p:cNvPr>
          <p:cNvSpPr/>
          <p:nvPr/>
        </p:nvSpPr>
        <p:spPr>
          <a:xfrm>
            <a:off x="7371446" y="1405892"/>
            <a:ext cx="3956758" cy="718352"/>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Plusieurs Communautés locales de pratique d’un sujet ou d’un métier, qui se réunissent de temps en temps pour partager entre eux et uniformiser une partie de leurs contenus. Sans se considérer comme un seul groupe.</a:t>
            </a:r>
          </a:p>
        </p:txBody>
      </p:sp>
      <p:sp>
        <p:nvSpPr>
          <p:cNvPr id="151" name="Rectangle 150">
            <a:extLst>
              <a:ext uri="{FF2B5EF4-FFF2-40B4-BE49-F238E27FC236}">
                <a16:creationId xmlns:a16="http://schemas.microsoft.com/office/drawing/2014/main" id="{B1A4CB76-D289-29EE-D028-285D9BCD537E}"/>
              </a:ext>
            </a:extLst>
          </p:cNvPr>
          <p:cNvSpPr/>
          <p:nvPr/>
        </p:nvSpPr>
        <p:spPr>
          <a:xfrm>
            <a:off x="7371446" y="631316"/>
            <a:ext cx="3956758" cy="718352"/>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Un créateur de contenu (par exemple style réseaux sociaux) qui est le seul à produire du contenu pour une Communauté d’abonnés (qui ne sont pas groupés autrement).</a:t>
            </a:r>
          </a:p>
        </p:txBody>
      </p:sp>
      <p:sp>
        <p:nvSpPr>
          <p:cNvPr id="152" name="Rectangle 151">
            <a:extLst>
              <a:ext uri="{FF2B5EF4-FFF2-40B4-BE49-F238E27FC236}">
                <a16:creationId xmlns:a16="http://schemas.microsoft.com/office/drawing/2014/main" id="{F2125D42-A978-C533-20DB-2DBAD7EFE8F9}"/>
              </a:ext>
            </a:extLst>
          </p:cNvPr>
          <p:cNvSpPr/>
          <p:nvPr/>
        </p:nvSpPr>
        <p:spPr>
          <a:xfrm>
            <a:off x="7371446" y="6064524"/>
            <a:ext cx="3956758" cy="718352"/>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Un responsable de soutien psychologique qui doit gérer chaque personne individuellement, en faisant en sorte de respecter la confidentialité et l’anonymat de chacun.</a:t>
            </a:r>
          </a:p>
        </p:txBody>
      </p:sp>
      <p:sp>
        <p:nvSpPr>
          <p:cNvPr id="153" name="Rectangle 152">
            <a:extLst>
              <a:ext uri="{FF2B5EF4-FFF2-40B4-BE49-F238E27FC236}">
                <a16:creationId xmlns:a16="http://schemas.microsoft.com/office/drawing/2014/main" id="{88CA7B00-7247-CAE0-5483-B8B286A5E2CF}"/>
              </a:ext>
            </a:extLst>
          </p:cNvPr>
          <p:cNvSpPr/>
          <p:nvPr/>
        </p:nvSpPr>
        <p:spPr>
          <a:xfrm>
            <a:off x="7371446" y="5289948"/>
            <a:ext cx="3956758" cy="718352"/>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Un formateur en anglais qui fait de la formation individuelle et personnalisée, et qui réunit de temps en temps ses élèves pour des ateliers de travail.</a:t>
            </a:r>
          </a:p>
        </p:txBody>
      </p:sp>
      <p:sp>
        <p:nvSpPr>
          <p:cNvPr id="154" name="Rectangle 153">
            <a:extLst>
              <a:ext uri="{FF2B5EF4-FFF2-40B4-BE49-F238E27FC236}">
                <a16:creationId xmlns:a16="http://schemas.microsoft.com/office/drawing/2014/main" id="{1878409D-BD59-6098-38CA-955B08BF4450}"/>
              </a:ext>
            </a:extLst>
          </p:cNvPr>
          <p:cNvSpPr/>
          <p:nvPr/>
        </p:nvSpPr>
        <p:spPr>
          <a:xfrm>
            <a:off x="7371446" y="4515372"/>
            <a:ext cx="3956758" cy="718352"/>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Dans une équipe Produit, plusieurs sessions de questions réponses avec des utilisateurs qui n’ont pas vocation, ni envie d’être mis dans une Communauté.</a:t>
            </a:r>
          </a:p>
        </p:txBody>
      </p:sp>
      <p:sp>
        <p:nvSpPr>
          <p:cNvPr id="155" name="Rectangle 154">
            <a:extLst>
              <a:ext uri="{FF2B5EF4-FFF2-40B4-BE49-F238E27FC236}">
                <a16:creationId xmlns:a16="http://schemas.microsoft.com/office/drawing/2014/main" id="{006A3396-B8B4-0385-0F47-F47296274FC1}"/>
              </a:ext>
            </a:extLst>
          </p:cNvPr>
          <p:cNvSpPr/>
          <p:nvPr/>
        </p:nvSpPr>
        <p:spPr>
          <a:xfrm>
            <a:off x="7371446" y="3740796"/>
            <a:ext cx="3956758" cy="718352"/>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Une présentation en ligne, ouverte à qui le souhaite, qui n’a pas vocation à se reproduire. Le présentateur ne veut pas avoir à gérer la mise en relation des différents spectateurs.</a:t>
            </a:r>
          </a:p>
        </p:txBody>
      </p:sp>
    </p:spTree>
    <p:extLst>
      <p:ext uri="{BB962C8B-B14F-4D97-AF65-F5344CB8AC3E}">
        <p14:creationId xmlns:p14="http://schemas.microsoft.com/office/powerpoint/2010/main" val="4657451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913701" y="364613"/>
            <a:ext cx="10515600" cy="972139"/>
          </a:xfrm>
        </p:spPr>
        <p:txBody>
          <a:bodyPr>
            <a:normAutofit fontScale="90000"/>
          </a:bodyPr>
          <a:lstStyle/>
          <a:p>
            <a:r>
              <a:rPr lang="fr-FR" dirty="0"/>
              <a:t>L’investissement collectif dans la Communauté</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34654" y="2188015"/>
            <a:ext cx="1722120" cy="1722120"/>
          </a:xfrm>
          <a:prstGeom prst="rect">
            <a:avLst/>
          </a:prstGeom>
        </p:spPr>
      </p:pic>
      <p:grpSp>
        <p:nvGrpSpPr>
          <p:cNvPr id="6" name="Groupe 5">
            <a:extLst>
              <a:ext uri="{FF2B5EF4-FFF2-40B4-BE49-F238E27FC236}">
                <a16:creationId xmlns:a16="http://schemas.microsoft.com/office/drawing/2014/main" id="{7476B3F7-0E49-6E93-93F4-2CCC981FDD10}"/>
              </a:ext>
            </a:extLst>
          </p:cNvPr>
          <p:cNvGrpSpPr/>
          <p:nvPr/>
        </p:nvGrpSpPr>
        <p:grpSpPr>
          <a:xfrm>
            <a:off x="1678797" y="2413758"/>
            <a:ext cx="1507135" cy="1270634"/>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85601AF8-2B04-4E1B-777C-E4413355E47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3E913BB0-FF45-71E9-FA50-B619CC080BD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52716CDC-FB48-B5C6-CF66-93C81E6EDE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23F83B7B-C6FA-2ED2-8553-6F6F0C6131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5D1AB12-E11E-33B6-F232-60FD45CD3A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179153A9-C2D4-FEE9-F6C5-81D0FAA9EA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2294F9BC-F46F-719B-195C-8E1B7051453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031A82AD-99E7-73E7-E1D8-670CE8EEC70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76053F00-0709-53DD-642A-0F70CA86F80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7EA7E823-16A3-8130-20D7-959E93468B4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91FD713F-1A16-30AC-B049-C388F6E8690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8" name="Flèche : droite 17">
            <a:extLst>
              <a:ext uri="{FF2B5EF4-FFF2-40B4-BE49-F238E27FC236}">
                <a16:creationId xmlns:a16="http://schemas.microsoft.com/office/drawing/2014/main" id="{F4781031-0E93-D593-CF10-BDB1AA037E51}"/>
              </a:ext>
            </a:extLst>
          </p:cNvPr>
          <p:cNvSpPr/>
          <p:nvPr/>
        </p:nvSpPr>
        <p:spPr>
          <a:xfrm rot="19508911" flipH="1">
            <a:off x="7368610" y="3025527"/>
            <a:ext cx="1189456" cy="623864"/>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2</a:t>
            </a:r>
          </a:p>
        </p:txBody>
      </p:sp>
      <p:sp>
        <p:nvSpPr>
          <p:cNvPr id="19" name="Flèche : gauche 18">
            <a:extLst>
              <a:ext uri="{FF2B5EF4-FFF2-40B4-BE49-F238E27FC236}">
                <a16:creationId xmlns:a16="http://schemas.microsoft.com/office/drawing/2014/main" id="{6D5580D4-B17B-8DFC-603C-00CBE6E0E36A}"/>
              </a:ext>
            </a:extLst>
          </p:cNvPr>
          <p:cNvSpPr/>
          <p:nvPr/>
        </p:nvSpPr>
        <p:spPr>
          <a:xfrm rot="1525700" flipH="1">
            <a:off x="3561110" y="2966765"/>
            <a:ext cx="1189456" cy="623864"/>
          </a:xfrm>
          <a:prstGeom prst="lef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1</a:t>
            </a:r>
          </a:p>
        </p:txBody>
      </p:sp>
      <p:sp>
        <p:nvSpPr>
          <p:cNvPr id="25" name="Titre 1">
            <a:extLst>
              <a:ext uri="{FF2B5EF4-FFF2-40B4-BE49-F238E27FC236}">
                <a16:creationId xmlns:a16="http://schemas.microsoft.com/office/drawing/2014/main" id="{127D5BF5-5FC9-314C-D2D9-88F28910195A}"/>
              </a:ext>
            </a:extLst>
          </p:cNvPr>
          <p:cNvSpPr txBox="1">
            <a:spLocks/>
          </p:cNvSpPr>
          <p:nvPr/>
        </p:nvSpPr>
        <p:spPr>
          <a:xfrm>
            <a:off x="4771164" y="5161080"/>
            <a:ext cx="2584264"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Communautés de l’entreprise </a:t>
            </a:r>
          </a:p>
        </p:txBody>
      </p:sp>
      <p:sp>
        <p:nvSpPr>
          <p:cNvPr id="26" name="Titre 1">
            <a:extLst>
              <a:ext uri="{FF2B5EF4-FFF2-40B4-BE49-F238E27FC236}">
                <a16:creationId xmlns:a16="http://schemas.microsoft.com/office/drawing/2014/main" id="{D15593DD-8CE1-2ECC-2B5D-DB98437039FD}"/>
              </a:ext>
            </a:extLst>
          </p:cNvPr>
          <p:cNvSpPr txBox="1">
            <a:spLocks/>
          </p:cNvSpPr>
          <p:nvPr/>
        </p:nvSpPr>
        <p:spPr>
          <a:xfrm>
            <a:off x="8726820" y="3771899"/>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t>Entreprise (Institution)</a:t>
            </a:r>
          </a:p>
        </p:txBody>
      </p:sp>
      <p:sp>
        <p:nvSpPr>
          <p:cNvPr id="28" name="Titre 1">
            <a:extLst>
              <a:ext uri="{FF2B5EF4-FFF2-40B4-BE49-F238E27FC236}">
                <a16:creationId xmlns:a16="http://schemas.microsoft.com/office/drawing/2014/main" id="{2B5D222E-E2F2-535F-3F4A-2D35E291BBC5}"/>
              </a:ext>
            </a:extLst>
          </p:cNvPr>
          <p:cNvSpPr txBox="1">
            <a:spLocks/>
          </p:cNvSpPr>
          <p:nvPr/>
        </p:nvSpPr>
        <p:spPr>
          <a:xfrm>
            <a:off x="1579553" y="3599368"/>
            <a:ext cx="1537788" cy="329176"/>
          </a:xfrm>
          <a:prstGeom prst="rect">
            <a:avLst/>
          </a:prstGeom>
        </p:spPr>
        <p:txBody>
          <a:bodyPr vert="horz" lIns="91440" tIns="45720" rIns="91440" bIns="45720" rtlCol="0" anchor="ctr">
            <a:normAutofit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rgbClr val="ED7D31"/>
                </a:solidFill>
              </a:rPr>
              <a:t>Membres</a:t>
            </a:r>
          </a:p>
        </p:txBody>
      </p:sp>
      <p:grpSp>
        <p:nvGrpSpPr>
          <p:cNvPr id="27" name="Groupe 26">
            <a:extLst>
              <a:ext uri="{FF2B5EF4-FFF2-40B4-BE49-F238E27FC236}">
                <a16:creationId xmlns:a16="http://schemas.microsoft.com/office/drawing/2014/main" id="{7A580DB2-2493-ED14-6E4B-FC598FE12FB6}"/>
              </a:ext>
            </a:extLst>
          </p:cNvPr>
          <p:cNvGrpSpPr/>
          <p:nvPr/>
        </p:nvGrpSpPr>
        <p:grpSpPr>
          <a:xfrm>
            <a:off x="5013383" y="3070009"/>
            <a:ext cx="2150970" cy="1947160"/>
            <a:chOff x="-4435634" y="3221970"/>
            <a:chExt cx="4325260" cy="3915430"/>
          </a:xfrm>
        </p:grpSpPr>
        <p:pic>
          <p:nvPicPr>
            <p:cNvPr id="29" name="Espace réservé du contenu 6" descr="Tribunal contour">
              <a:extLst>
                <a:ext uri="{FF2B5EF4-FFF2-40B4-BE49-F238E27FC236}">
                  <a16:creationId xmlns:a16="http://schemas.microsoft.com/office/drawing/2014/main" id="{B86B9F20-2A31-7739-5393-0D5BEC9090DC}"/>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30" name="Groupe 29">
              <a:extLst>
                <a:ext uri="{FF2B5EF4-FFF2-40B4-BE49-F238E27FC236}">
                  <a16:creationId xmlns:a16="http://schemas.microsoft.com/office/drawing/2014/main" id="{F0775CAC-C285-7E0E-171A-EBD9538D8110}"/>
                </a:ext>
              </a:extLst>
            </p:cNvPr>
            <p:cNvGrpSpPr/>
            <p:nvPr/>
          </p:nvGrpSpPr>
          <p:grpSpPr>
            <a:xfrm>
              <a:off x="-4435634" y="4520418"/>
              <a:ext cx="4325260" cy="2616982"/>
              <a:chOff x="-4435634" y="4520418"/>
              <a:chExt cx="4325260" cy="2616982"/>
            </a:xfrm>
          </p:grpSpPr>
          <p:pic>
            <p:nvPicPr>
              <p:cNvPr id="31" name="Espace réservé du contenu 6" descr="Tribunal contour">
                <a:extLst>
                  <a:ext uri="{FF2B5EF4-FFF2-40B4-BE49-F238E27FC236}">
                    <a16:creationId xmlns:a16="http://schemas.microsoft.com/office/drawing/2014/main" id="{C3E53E79-BBC7-15C9-6B44-52FA960CA148}"/>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l="8133" t="37523" r="8805" b="24898"/>
              <a:stretch/>
            </p:blipFill>
            <p:spPr>
              <a:xfrm>
                <a:off x="-4435633" y="4520418"/>
                <a:ext cx="4325259" cy="1956816"/>
              </a:xfrm>
              <a:prstGeom prst="rect">
                <a:avLst/>
              </a:prstGeom>
            </p:spPr>
          </p:pic>
          <p:pic>
            <p:nvPicPr>
              <p:cNvPr id="32" name="Graphique 31" descr="Réussite du groupe avec un remplissage uni">
                <a:extLst>
                  <a:ext uri="{FF2B5EF4-FFF2-40B4-BE49-F238E27FC236}">
                    <a16:creationId xmlns:a16="http://schemas.microsoft.com/office/drawing/2014/main" id="{CCA46203-8BDB-9486-8E9E-F3A07F4B1DC1}"/>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13979" b="19010"/>
              <a:stretch/>
            </p:blipFill>
            <p:spPr>
              <a:xfrm>
                <a:off x="-3132680" y="5325090"/>
                <a:ext cx="1719352" cy="1152144"/>
              </a:xfrm>
              <a:prstGeom prst="rect">
                <a:avLst/>
              </a:prstGeom>
            </p:spPr>
          </p:pic>
          <p:pic>
            <p:nvPicPr>
              <p:cNvPr id="33" name="Espace réservé du contenu 6" descr="Tribunal contour">
                <a:extLst>
                  <a:ext uri="{FF2B5EF4-FFF2-40B4-BE49-F238E27FC236}">
                    <a16:creationId xmlns:a16="http://schemas.microsoft.com/office/drawing/2014/main" id="{168A146A-6EE0-7A7F-59F1-BD9405E4AF51}"/>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8133" t="75103" r="8805" b="12219"/>
              <a:stretch/>
            </p:blipFill>
            <p:spPr>
              <a:xfrm>
                <a:off x="-4435634" y="6477233"/>
                <a:ext cx="4325259" cy="660167"/>
              </a:xfrm>
              <a:prstGeom prst="rect">
                <a:avLst/>
              </a:prstGeom>
            </p:spPr>
          </p:pic>
        </p:grpSp>
      </p:grpSp>
      <p:sp>
        <p:nvSpPr>
          <p:cNvPr id="34" name="Titre 1">
            <a:extLst>
              <a:ext uri="{FF2B5EF4-FFF2-40B4-BE49-F238E27FC236}">
                <a16:creationId xmlns:a16="http://schemas.microsoft.com/office/drawing/2014/main" id="{EA8D100D-B45B-BD23-B7C6-1E2119CA9027}"/>
              </a:ext>
            </a:extLst>
          </p:cNvPr>
          <p:cNvSpPr txBox="1">
            <a:spLocks/>
          </p:cNvSpPr>
          <p:nvPr/>
        </p:nvSpPr>
        <p:spPr>
          <a:xfrm>
            <a:off x="3047076" y="2027497"/>
            <a:ext cx="2326062" cy="723517"/>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solidFill>
                  <a:srgbClr val="ED7D31"/>
                </a:solidFill>
              </a:rPr>
              <a:t>Engagement personnel</a:t>
            </a:r>
          </a:p>
          <a:p>
            <a:pPr algn="ctr"/>
            <a:r>
              <a:rPr lang="fr-FR" sz="1400" dirty="0">
                <a:solidFill>
                  <a:srgbClr val="ED7D31"/>
                </a:solidFill>
              </a:rPr>
              <a:t>Temps personnel</a:t>
            </a:r>
          </a:p>
          <a:p>
            <a:pPr algn="ctr"/>
            <a:r>
              <a:rPr lang="fr-FR" sz="1400" dirty="0">
                <a:solidFill>
                  <a:srgbClr val="ED7D31"/>
                </a:solidFill>
              </a:rPr>
              <a:t>Ressources personnelles</a:t>
            </a:r>
          </a:p>
          <a:p>
            <a:pPr algn="ctr"/>
            <a:r>
              <a:rPr lang="fr-FR" sz="1400" dirty="0">
                <a:solidFill>
                  <a:srgbClr val="ED7D31"/>
                </a:solidFill>
              </a:rPr>
              <a:t>Compétences et réseau</a:t>
            </a:r>
          </a:p>
        </p:txBody>
      </p:sp>
      <p:sp>
        <p:nvSpPr>
          <p:cNvPr id="35" name="Titre 1">
            <a:extLst>
              <a:ext uri="{FF2B5EF4-FFF2-40B4-BE49-F238E27FC236}">
                <a16:creationId xmlns:a16="http://schemas.microsoft.com/office/drawing/2014/main" id="{21718FF6-1F55-7248-9CBA-A4B53790F15F}"/>
              </a:ext>
            </a:extLst>
          </p:cNvPr>
          <p:cNvSpPr txBox="1">
            <a:spLocks/>
          </p:cNvSpPr>
          <p:nvPr/>
        </p:nvSpPr>
        <p:spPr>
          <a:xfrm>
            <a:off x="6732123" y="1688107"/>
            <a:ext cx="2326062" cy="1109896"/>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Engagement institutionnel</a:t>
            </a:r>
          </a:p>
          <a:p>
            <a:pPr algn="ctr"/>
            <a:r>
              <a:rPr lang="fr-FR" sz="1400" dirty="0"/>
              <a:t>Temps de travail</a:t>
            </a:r>
          </a:p>
          <a:p>
            <a:pPr algn="ctr"/>
            <a:r>
              <a:rPr lang="fr-FR" sz="1400" dirty="0"/>
              <a:t>Ressources institutionnelles (locaux, outils, matériels, budgets, …)</a:t>
            </a:r>
          </a:p>
          <a:p>
            <a:pPr algn="ctr"/>
            <a:r>
              <a:rPr lang="fr-FR" sz="1400" dirty="0"/>
              <a:t>Compétences et réseau</a:t>
            </a:r>
          </a:p>
        </p:txBody>
      </p:sp>
    </p:spTree>
    <p:extLst>
      <p:ext uri="{BB962C8B-B14F-4D97-AF65-F5344CB8AC3E}">
        <p14:creationId xmlns:p14="http://schemas.microsoft.com/office/powerpoint/2010/main" val="34552828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38200" y="365125"/>
            <a:ext cx="10515600" cy="972139"/>
          </a:xfrm>
        </p:spPr>
        <p:txBody>
          <a:bodyPr>
            <a:normAutofit/>
          </a:bodyPr>
          <a:lstStyle/>
          <a:p>
            <a:r>
              <a:rPr lang="fr-FR" dirty="0"/>
              <a:t>La mise en commun des ressources</a:t>
            </a:r>
            <a:endParaRPr lang="fr-FR" b="1" dirty="0">
              <a:solidFill>
                <a:srgbClr val="3494BA"/>
              </a:solidFill>
            </a:endParaRPr>
          </a:p>
        </p:txBody>
      </p:sp>
      <p:grpSp>
        <p:nvGrpSpPr>
          <p:cNvPr id="3" name="Groupe 2">
            <a:extLst>
              <a:ext uri="{FF2B5EF4-FFF2-40B4-BE49-F238E27FC236}">
                <a16:creationId xmlns:a16="http://schemas.microsoft.com/office/drawing/2014/main" id="{E117C029-70C5-641A-3150-552FF77C647B}"/>
              </a:ext>
            </a:extLst>
          </p:cNvPr>
          <p:cNvGrpSpPr/>
          <p:nvPr/>
        </p:nvGrpSpPr>
        <p:grpSpPr>
          <a:xfrm>
            <a:off x="5326743" y="2010961"/>
            <a:ext cx="6554031" cy="3048423"/>
            <a:chOff x="3292239" y="1659078"/>
            <a:chExt cx="8777221" cy="4082477"/>
          </a:xfrm>
        </p:grpSpPr>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347340" y="2158986"/>
              <a:ext cx="1722120" cy="1722120"/>
            </a:xfrm>
            <a:prstGeom prst="rect">
              <a:avLst/>
            </a:prstGeom>
          </p:spPr>
        </p:pic>
        <p:grpSp>
          <p:nvGrpSpPr>
            <p:cNvPr id="6" name="Groupe 5">
              <a:extLst>
                <a:ext uri="{FF2B5EF4-FFF2-40B4-BE49-F238E27FC236}">
                  <a16:creationId xmlns:a16="http://schemas.microsoft.com/office/drawing/2014/main" id="{7476B3F7-0E49-6E93-93F4-2CCC981FDD10}"/>
                </a:ext>
              </a:extLst>
            </p:cNvPr>
            <p:cNvGrpSpPr/>
            <p:nvPr/>
          </p:nvGrpSpPr>
          <p:grpSpPr>
            <a:xfrm>
              <a:off x="3391483" y="2384729"/>
              <a:ext cx="1507135" cy="1270634"/>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85601AF8-2B04-4E1B-777C-E4413355E47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3E913BB0-FF45-71E9-FA50-B619CC080BD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52716CDC-FB48-B5C6-CF66-93C81E6EDE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23F83B7B-C6FA-2ED2-8553-6F6F0C6131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5D1AB12-E11E-33B6-F232-60FD45CD3A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179153A9-C2D4-FEE9-F6C5-81D0FAA9EA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2294F9BC-F46F-719B-195C-8E1B7051453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031A82AD-99E7-73E7-E1D8-670CE8EEC70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76053F00-0709-53DD-642A-0F70CA86F80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7EA7E823-16A3-8130-20D7-959E93468B4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91FD713F-1A16-30AC-B049-C388F6E8690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8" name="Flèche : droite 17">
              <a:extLst>
                <a:ext uri="{FF2B5EF4-FFF2-40B4-BE49-F238E27FC236}">
                  <a16:creationId xmlns:a16="http://schemas.microsoft.com/office/drawing/2014/main" id="{F4781031-0E93-D593-CF10-BDB1AA037E51}"/>
                </a:ext>
              </a:extLst>
            </p:cNvPr>
            <p:cNvSpPr/>
            <p:nvPr/>
          </p:nvSpPr>
          <p:spPr>
            <a:xfrm rot="19508911" flipH="1">
              <a:off x="9081296" y="2996498"/>
              <a:ext cx="1189456" cy="623864"/>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2</a:t>
              </a:r>
            </a:p>
          </p:txBody>
        </p:sp>
        <p:sp>
          <p:nvSpPr>
            <p:cNvPr id="19" name="Flèche : gauche 18">
              <a:extLst>
                <a:ext uri="{FF2B5EF4-FFF2-40B4-BE49-F238E27FC236}">
                  <a16:creationId xmlns:a16="http://schemas.microsoft.com/office/drawing/2014/main" id="{6D5580D4-B17B-8DFC-603C-00CBE6E0E36A}"/>
                </a:ext>
              </a:extLst>
            </p:cNvPr>
            <p:cNvSpPr/>
            <p:nvPr/>
          </p:nvSpPr>
          <p:spPr>
            <a:xfrm rot="1525700" flipH="1">
              <a:off x="5273796" y="2937736"/>
              <a:ext cx="1189456" cy="623864"/>
            </a:xfrm>
            <a:prstGeom prst="lef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1</a:t>
              </a:r>
            </a:p>
          </p:txBody>
        </p:sp>
        <p:sp>
          <p:nvSpPr>
            <p:cNvPr id="25" name="Titre 1">
              <a:extLst>
                <a:ext uri="{FF2B5EF4-FFF2-40B4-BE49-F238E27FC236}">
                  <a16:creationId xmlns:a16="http://schemas.microsoft.com/office/drawing/2014/main" id="{127D5BF5-5FC9-314C-D2D9-88F28910195A}"/>
                </a:ext>
              </a:extLst>
            </p:cNvPr>
            <p:cNvSpPr txBox="1">
              <a:spLocks/>
            </p:cNvSpPr>
            <p:nvPr/>
          </p:nvSpPr>
          <p:spPr>
            <a:xfrm>
              <a:off x="6483850" y="5132051"/>
              <a:ext cx="2584264" cy="609504"/>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200" dirty="0"/>
                <a:t>Communautés de l’entreprise </a:t>
              </a:r>
            </a:p>
          </p:txBody>
        </p:sp>
        <p:sp>
          <p:nvSpPr>
            <p:cNvPr id="26" name="Titre 1">
              <a:extLst>
                <a:ext uri="{FF2B5EF4-FFF2-40B4-BE49-F238E27FC236}">
                  <a16:creationId xmlns:a16="http://schemas.microsoft.com/office/drawing/2014/main" id="{D15593DD-8CE1-2ECC-2B5D-DB98437039FD}"/>
                </a:ext>
              </a:extLst>
            </p:cNvPr>
            <p:cNvSpPr txBox="1">
              <a:spLocks/>
            </p:cNvSpPr>
            <p:nvPr/>
          </p:nvSpPr>
          <p:spPr>
            <a:xfrm>
              <a:off x="10439506" y="3742870"/>
              <a:ext cx="1537788" cy="609504"/>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200" b="1" dirty="0"/>
                <a:t>Entreprise (Institution)</a:t>
              </a:r>
            </a:p>
          </p:txBody>
        </p:sp>
        <p:sp>
          <p:nvSpPr>
            <p:cNvPr id="28" name="Titre 1">
              <a:extLst>
                <a:ext uri="{FF2B5EF4-FFF2-40B4-BE49-F238E27FC236}">
                  <a16:creationId xmlns:a16="http://schemas.microsoft.com/office/drawing/2014/main" id="{2B5D222E-E2F2-535F-3F4A-2D35E291BBC5}"/>
                </a:ext>
              </a:extLst>
            </p:cNvPr>
            <p:cNvSpPr txBox="1">
              <a:spLocks/>
            </p:cNvSpPr>
            <p:nvPr/>
          </p:nvSpPr>
          <p:spPr>
            <a:xfrm>
              <a:off x="3292239" y="3570339"/>
              <a:ext cx="1537788" cy="329176"/>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200" b="1" dirty="0">
                  <a:solidFill>
                    <a:srgbClr val="ED7D31"/>
                  </a:solidFill>
                </a:rPr>
                <a:t>Membres</a:t>
              </a:r>
            </a:p>
          </p:txBody>
        </p:sp>
        <p:grpSp>
          <p:nvGrpSpPr>
            <p:cNvPr id="27" name="Groupe 26">
              <a:extLst>
                <a:ext uri="{FF2B5EF4-FFF2-40B4-BE49-F238E27FC236}">
                  <a16:creationId xmlns:a16="http://schemas.microsoft.com/office/drawing/2014/main" id="{7A580DB2-2493-ED14-6E4B-FC598FE12FB6}"/>
                </a:ext>
              </a:extLst>
            </p:cNvPr>
            <p:cNvGrpSpPr/>
            <p:nvPr/>
          </p:nvGrpSpPr>
          <p:grpSpPr>
            <a:xfrm>
              <a:off x="6726069" y="3040980"/>
              <a:ext cx="2150970" cy="1947160"/>
              <a:chOff x="-4435634" y="3221970"/>
              <a:chExt cx="4325260" cy="3915430"/>
            </a:xfrm>
          </p:grpSpPr>
          <p:pic>
            <p:nvPicPr>
              <p:cNvPr id="29" name="Espace réservé du contenu 6" descr="Tribunal contour">
                <a:extLst>
                  <a:ext uri="{FF2B5EF4-FFF2-40B4-BE49-F238E27FC236}">
                    <a16:creationId xmlns:a16="http://schemas.microsoft.com/office/drawing/2014/main" id="{B86B9F20-2A31-7739-5393-0D5BEC9090DC}"/>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30" name="Groupe 29">
                <a:extLst>
                  <a:ext uri="{FF2B5EF4-FFF2-40B4-BE49-F238E27FC236}">
                    <a16:creationId xmlns:a16="http://schemas.microsoft.com/office/drawing/2014/main" id="{F0775CAC-C285-7E0E-171A-EBD9538D8110}"/>
                  </a:ext>
                </a:extLst>
              </p:cNvPr>
              <p:cNvGrpSpPr/>
              <p:nvPr/>
            </p:nvGrpSpPr>
            <p:grpSpPr>
              <a:xfrm>
                <a:off x="-4435634" y="4520418"/>
                <a:ext cx="4325260" cy="2616982"/>
                <a:chOff x="-4435634" y="4520418"/>
                <a:chExt cx="4325260" cy="2616982"/>
              </a:xfrm>
            </p:grpSpPr>
            <p:pic>
              <p:nvPicPr>
                <p:cNvPr id="31" name="Espace réservé du contenu 6" descr="Tribunal contour">
                  <a:extLst>
                    <a:ext uri="{FF2B5EF4-FFF2-40B4-BE49-F238E27FC236}">
                      <a16:creationId xmlns:a16="http://schemas.microsoft.com/office/drawing/2014/main" id="{C3E53E79-BBC7-15C9-6B44-52FA960CA148}"/>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l="8133" t="37523" r="8805" b="24898"/>
                <a:stretch/>
              </p:blipFill>
              <p:spPr>
                <a:xfrm>
                  <a:off x="-4435633" y="4520418"/>
                  <a:ext cx="4325259" cy="1956816"/>
                </a:xfrm>
                <a:prstGeom prst="rect">
                  <a:avLst/>
                </a:prstGeom>
              </p:spPr>
            </p:pic>
            <p:pic>
              <p:nvPicPr>
                <p:cNvPr id="32" name="Graphique 31" descr="Réussite du groupe avec un remplissage uni">
                  <a:extLst>
                    <a:ext uri="{FF2B5EF4-FFF2-40B4-BE49-F238E27FC236}">
                      <a16:creationId xmlns:a16="http://schemas.microsoft.com/office/drawing/2014/main" id="{CCA46203-8BDB-9486-8E9E-F3A07F4B1DC1}"/>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13979" b="19010"/>
                <a:stretch/>
              </p:blipFill>
              <p:spPr>
                <a:xfrm>
                  <a:off x="-3132680" y="5325090"/>
                  <a:ext cx="1719352" cy="1152144"/>
                </a:xfrm>
                <a:prstGeom prst="rect">
                  <a:avLst/>
                </a:prstGeom>
              </p:spPr>
            </p:pic>
            <p:pic>
              <p:nvPicPr>
                <p:cNvPr id="33" name="Espace réservé du contenu 6" descr="Tribunal contour">
                  <a:extLst>
                    <a:ext uri="{FF2B5EF4-FFF2-40B4-BE49-F238E27FC236}">
                      <a16:creationId xmlns:a16="http://schemas.microsoft.com/office/drawing/2014/main" id="{168A146A-6EE0-7A7F-59F1-BD9405E4AF51}"/>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8133" t="75103" r="8805" b="12219"/>
                <a:stretch/>
              </p:blipFill>
              <p:spPr>
                <a:xfrm>
                  <a:off x="-4435634" y="6477233"/>
                  <a:ext cx="4325259" cy="660167"/>
                </a:xfrm>
                <a:prstGeom prst="rect">
                  <a:avLst/>
                </a:prstGeom>
              </p:spPr>
            </p:pic>
          </p:grpSp>
        </p:grpSp>
        <p:sp>
          <p:nvSpPr>
            <p:cNvPr id="34" name="Titre 1">
              <a:extLst>
                <a:ext uri="{FF2B5EF4-FFF2-40B4-BE49-F238E27FC236}">
                  <a16:creationId xmlns:a16="http://schemas.microsoft.com/office/drawing/2014/main" id="{EA8D100D-B45B-BD23-B7C6-1E2119CA9027}"/>
                </a:ext>
              </a:extLst>
            </p:cNvPr>
            <p:cNvSpPr txBox="1">
              <a:spLocks/>
            </p:cNvSpPr>
            <p:nvPr/>
          </p:nvSpPr>
          <p:spPr>
            <a:xfrm>
              <a:off x="4759762" y="1998468"/>
              <a:ext cx="2326062" cy="723517"/>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050" dirty="0">
                  <a:solidFill>
                    <a:srgbClr val="ED7D31"/>
                  </a:solidFill>
                </a:rPr>
                <a:t>Engagement personnel</a:t>
              </a:r>
            </a:p>
            <a:p>
              <a:pPr algn="ctr"/>
              <a:r>
                <a:rPr lang="fr-FR" sz="1050" dirty="0">
                  <a:solidFill>
                    <a:srgbClr val="ED7D31"/>
                  </a:solidFill>
                </a:rPr>
                <a:t>Temps personnel</a:t>
              </a:r>
            </a:p>
            <a:p>
              <a:pPr algn="ctr"/>
              <a:r>
                <a:rPr lang="fr-FR" sz="1050" dirty="0">
                  <a:solidFill>
                    <a:srgbClr val="ED7D31"/>
                  </a:solidFill>
                </a:rPr>
                <a:t>Ressources personnelles</a:t>
              </a:r>
            </a:p>
            <a:p>
              <a:pPr algn="ctr"/>
              <a:r>
                <a:rPr lang="fr-FR" sz="1050" dirty="0">
                  <a:solidFill>
                    <a:srgbClr val="ED7D31"/>
                  </a:solidFill>
                </a:rPr>
                <a:t>Compétences et réseau</a:t>
              </a:r>
            </a:p>
          </p:txBody>
        </p:sp>
        <p:sp>
          <p:nvSpPr>
            <p:cNvPr id="35" name="Titre 1">
              <a:extLst>
                <a:ext uri="{FF2B5EF4-FFF2-40B4-BE49-F238E27FC236}">
                  <a16:creationId xmlns:a16="http://schemas.microsoft.com/office/drawing/2014/main" id="{21718FF6-1F55-7248-9CBA-A4B53790F15F}"/>
                </a:ext>
              </a:extLst>
            </p:cNvPr>
            <p:cNvSpPr txBox="1">
              <a:spLocks/>
            </p:cNvSpPr>
            <p:nvPr/>
          </p:nvSpPr>
          <p:spPr>
            <a:xfrm>
              <a:off x="8444809" y="1659078"/>
              <a:ext cx="2326062" cy="1109896"/>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050" dirty="0"/>
                <a:t>Engagement institutionnel</a:t>
              </a:r>
            </a:p>
            <a:p>
              <a:pPr algn="ctr"/>
              <a:r>
                <a:rPr lang="fr-FR" sz="1050" dirty="0"/>
                <a:t>Temps de travail</a:t>
              </a:r>
            </a:p>
            <a:p>
              <a:pPr algn="ctr"/>
              <a:r>
                <a:rPr lang="fr-FR" sz="1050" dirty="0"/>
                <a:t>Ressources institutionnelles (locaux, outils, matériels, budgets, …)</a:t>
              </a:r>
            </a:p>
            <a:p>
              <a:pPr algn="ctr"/>
              <a:r>
                <a:rPr lang="fr-FR" sz="1050" dirty="0"/>
                <a:t>Compétences et réseau</a:t>
              </a:r>
            </a:p>
          </p:txBody>
        </p:sp>
      </p:grpSp>
      <p:sp>
        <p:nvSpPr>
          <p:cNvPr id="36" name="Espace réservé du contenu 2">
            <a:extLst>
              <a:ext uri="{FF2B5EF4-FFF2-40B4-BE49-F238E27FC236}">
                <a16:creationId xmlns:a16="http://schemas.microsoft.com/office/drawing/2014/main" id="{0A345B07-CE74-F70A-4627-14FBABDF171E}"/>
              </a:ext>
            </a:extLst>
          </p:cNvPr>
          <p:cNvSpPr>
            <a:spLocks noGrp="1"/>
          </p:cNvSpPr>
          <p:nvPr>
            <p:ph idx="1"/>
          </p:nvPr>
        </p:nvSpPr>
        <p:spPr>
          <a:xfrm>
            <a:off x="838200" y="1825625"/>
            <a:ext cx="3275991" cy="4351338"/>
          </a:xfrm>
        </p:spPr>
        <p:txBody>
          <a:bodyPr>
            <a:normAutofit fontScale="92500" lnSpcReduction="10000"/>
          </a:bodyPr>
          <a:lstStyle/>
          <a:p>
            <a:pPr marL="0" indent="0">
              <a:buNone/>
            </a:pPr>
            <a:r>
              <a:rPr lang="fr-FR" sz="1800" dirty="0"/>
              <a:t>En tant que forme d’organisation, une Communauté a aussi pour valeur de </a:t>
            </a:r>
            <a:r>
              <a:rPr lang="fr-FR" sz="1800" b="1" dirty="0"/>
              <a:t>mettre en commun les effets et potentiels</a:t>
            </a:r>
            <a:r>
              <a:rPr lang="fr-FR" sz="1800" dirty="0"/>
              <a:t> des ressources apportées par chacun ou par l’entreprise.</a:t>
            </a:r>
          </a:p>
          <a:p>
            <a:pPr marL="0" indent="0">
              <a:buNone/>
            </a:pPr>
            <a:endParaRPr lang="fr-FR" sz="1800" dirty="0"/>
          </a:p>
          <a:p>
            <a:pPr marL="0" indent="0">
              <a:buNone/>
            </a:pPr>
            <a:r>
              <a:rPr lang="fr-FR" sz="1800" dirty="0"/>
              <a:t>Mieux on identifie les gains de la mise en commun, mieux on comprend la </a:t>
            </a:r>
            <a:r>
              <a:rPr lang="fr-FR" sz="1800" b="1" dirty="0"/>
              <a:t>valeur d’être en Communauté </a:t>
            </a:r>
            <a:r>
              <a:rPr lang="fr-FR" sz="1800" dirty="0"/>
              <a:t>(plutôt qu’en individus par exemple). </a:t>
            </a:r>
          </a:p>
          <a:p>
            <a:pPr marL="0" indent="0">
              <a:buNone/>
            </a:pPr>
            <a:endParaRPr lang="fr-FR" sz="1800" dirty="0"/>
          </a:p>
          <a:p>
            <a:pPr marL="0" indent="0">
              <a:buNone/>
            </a:pPr>
            <a:r>
              <a:rPr lang="fr-FR" sz="1800" dirty="0"/>
              <a:t>Identifier les ressources en commun permet de mieux exploiter les potentiels et décider des activités ou de la structuration de la Communauté.</a:t>
            </a:r>
          </a:p>
        </p:txBody>
      </p:sp>
    </p:spTree>
    <p:extLst>
      <p:ext uri="{BB962C8B-B14F-4D97-AF65-F5344CB8AC3E}">
        <p14:creationId xmlns:p14="http://schemas.microsoft.com/office/powerpoint/2010/main" val="299896891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6EE5C0A-E852-51AE-508F-22F57532E248}"/>
              </a:ext>
            </a:extLst>
          </p:cNvPr>
          <p:cNvSpPr>
            <a:spLocks noGrp="1"/>
          </p:cNvSpPr>
          <p:nvPr>
            <p:ph type="title"/>
          </p:nvPr>
        </p:nvSpPr>
        <p:spPr/>
        <p:txBody>
          <a:bodyPr>
            <a:normAutofit fontScale="90000"/>
          </a:bodyPr>
          <a:lstStyle/>
          <a:p>
            <a:r>
              <a:rPr lang="fr-FR" dirty="0"/>
              <a:t>Répondre à la question </a:t>
            </a:r>
            <a:br>
              <a:rPr lang="fr-FR" dirty="0"/>
            </a:br>
            <a:r>
              <a:rPr lang="fr-FR" i="1" dirty="0">
                <a:solidFill>
                  <a:srgbClr val="3494BA"/>
                </a:solidFill>
              </a:rPr>
              <a:t>« Avec quoi partons nous dans la Communauté? »</a:t>
            </a:r>
          </a:p>
        </p:txBody>
      </p:sp>
      <p:sp>
        <p:nvSpPr>
          <p:cNvPr id="3" name="Espace réservé du contenu 2">
            <a:extLst>
              <a:ext uri="{FF2B5EF4-FFF2-40B4-BE49-F238E27FC236}">
                <a16:creationId xmlns:a16="http://schemas.microsoft.com/office/drawing/2014/main" id="{EE14F615-92A1-A057-AA55-437FC0154B4B}"/>
              </a:ext>
            </a:extLst>
          </p:cNvPr>
          <p:cNvSpPr>
            <a:spLocks noGrp="1"/>
          </p:cNvSpPr>
          <p:nvPr>
            <p:ph idx="1"/>
          </p:nvPr>
        </p:nvSpPr>
        <p:spPr>
          <a:xfrm>
            <a:off x="838200" y="1952625"/>
            <a:ext cx="3836251" cy="4743450"/>
          </a:xfrm>
        </p:spPr>
        <p:txBody>
          <a:bodyPr>
            <a:normAutofit lnSpcReduction="10000"/>
          </a:bodyPr>
          <a:lstStyle/>
          <a:p>
            <a:pPr marL="0" indent="0">
              <a:buNone/>
            </a:pPr>
            <a:r>
              <a:rPr lang="fr-FR" sz="1800" dirty="0"/>
              <a:t>Une Communauté se lance rarement sur seulement du budget, ou seulement parce qu’une salle ou du matériel est à disposition, ou qu’une hiérarchie soutient l’idée. </a:t>
            </a:r>
          </a:p>
          <a:p>
            <a:pPr marL="0" indent="0">
              <a:buNone/>
            </a:pPr>
            <a:endParaRPr lang="fr-FR" sz="1800" dirty="0"/>
          </a:p>
          <a:p>
            <a:pPr marL="0" indent="0">
              <a:buNone/>
            </a:pPr>
            <a:r>
              <a:rPr lang="fr-FR" sz="1800" dirty="0"/>
              <a:t>De même, c’est rarement la motivation seule, sans moyens ou disponibilité commune, qui sera suffisante pour faire vivre correctement une Communauté.</a:t>
            </a:r>
          </a:p>
          <a:p>
            <a:pPr marL="0" indent="0">
              <a:buNone/>
            </a:pPr>
            <a:endParaRPr lang="fr-FR" sz="1800" dirty="0"/>
          </a:p>
          <a:p>
            <a:pPr marL="0" indent="0">
              <a:buNone/>
            </a:pPr>
            <a:r>
              <a:rPr lang="fr-FR" sz="1800" dirty="0"/>
              <a:t>On peut alors faire le point sur </a:t>
            </a:r>
            <a:r>
              <a:rPr lang="fr-FR" sz="1800" i="1" dirty="0">
                <a:solidFill>
                  <a:srgbClr val="3494BA"/>
                </a:solidFill>
              </a:rPr>
              <a:t>« ce que la Communauté détient »</a:t>
            </a:r>
            <a:r>
              <a:rPr lang="fr-FR" sz="1800" dirty="0"/>
              <a:t>, ou </a:t>
            </a:r>
            <a:r>
              <a:rPr lang="fr-FR" sz="1800" i="1" dirty="0">
                <a:solidFill>
                  <a:srgbClr val="3494BA"/>
                </a:solidFill>
              </a:rPr>
              <a:t>« ce à quoi elle a accès aujourd’hui »</a:t>
            </a:r>
            <a:r>
              <a:rPr lang="fr-FR" sz="1800" dirty="0"/>
              <a:t>, et qui lui permet de continuer ou développer son activité. Cela introduit la notion de ressources.</a:t>
            </a:r>
          </a:p>
        </p:txBody>
      </p:sp>
      <p:grpSp>
        <p:nvGrpSpPr>
          <p:cNvPr id="8" name="Groupe 7">
            <a:extLst>
              <a:ext uri="{FF2B5EF4-FFF2-40B4-BE49-F238E27FC236}">
                <a16:creationId xmlns:a16="http://schemas.microsoft.com/office/drawing/2014/main" id="{2537A14C-92E7-A401-1FE7-5F9991BEAB61}"/>
              </a:ext>
            </a:extLst>
          </p:cNvPr>
          <p:cNvGrpSpPr/>
          <p:nvPr/>
        </p:nvGrpSpPr>
        <p:grpSpPr>
          <a:xfrm>
            <a:off x="5123760" y="2891499"/>
            <a:ext cx="2580753" cy="2175782"/>
            <a:chOff x="8982504" y="3274976"/>
            <a:chExt cx="1230670" cy="1037553"/>
          </a:xfrm>
          <a:solidFill>
            <a:srgbClr val="ED7D31"/>
          </a:solidFill>
        </p:grpSpPr>
        <p:pic>
          <p:nvPicPr>
            <p:cNvPr id="10" name="Graphique 9" descr="Utilisateur avec un remplissage uni">
              <a:extLst>
                <a:ext uri="{FF2B5EF4-FFF2-40B4-BE49-F238E27FC236}">
                  <a16:creationId xmlns:a16="http://schemas.microsoft.com/office/drawing/2014/main" id="{1F8E13AB-64ED-E9B6-B2B7-F0CF14014EA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1" name="Graphique 10" descr="Utilisateur avec un remplissage uni">
              <a:extLst>
                <a:ext uri="{FF2B5EF4-FFF2-40B4-BE49-F238E27FC236}">
                  <a16:creationId xmlns:a16="http://schemas.microsoft.com/office/drawing/2014/main" id="{E52DD552-7AB6-3531-625C-11047A45321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2" name="Graphique 11" descr="Utilisateur avec un remplissage uni">
              <a:extLst>
                <a:ext uri="{FF2B5EF4-FFF2-40B4-BE49-F238E27FC236}">
                  <a16:creationId xmlns:a16="http://schemas.microsoft.com/office/drawing/2014/main" id="{31DEDD40-2777-4F61-8E16-8D6D9F08CFF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3" name="Graphique 12" descr="Utilisateur avec un remplissage uni">
              <a:extLst>
                <a:ext uri="{FF2B5EF4-FFF2-40B4-BE49-F238E27FC236}">
                  <a16:creationId xmlns:a16="http://schemas.microsoft.com/office/drawing/2014/main" id="{D1ACCA67-A934-337F-167C-25C91C69310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650AB379-2A6B-BFAD-D994-DE74665E27F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5" name="Graphique 14" descr="Utilisateur avec un remplissage uni">
              <a:extLst>
                <a:ext uri="{FF2B5EF4-FFF2-40B4-BE49-F238E27FC236}">
                  <a16:creationId xmlns:a16="http://schemas.microsoft.com/office/drawing/2014/main" id="{E3AF6D54-FADE-725E-3C99-07219A71B70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6" name="Graphique 15" descr="Utilisateur avec un remplissage uni">
              <a:extLst>
                <a:ext uri="{FF2B5EF4-FFF2-40B4-BE49-F238E27FC236}">
                  <a16:creationId xmlns:a16="http://schemas.microsoft.com/office/drawing/2014/main" id="{9F364DF6-402C-AA6D-F3B2-9CC688D922E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7" name="Graphique 16" descr="Utilisateur avec un remplissage uni">
              <a:extLst>
                <a:ext uri="{FF2B5EF4-FFF2-40B4-BE49-F238E27FC236}">
                  <a16:creationId xmlns:a16="http://schemas.microsoft.com/office/drawing/2014/main" id="{4DDA3694-BF75-1B84-FE2D-64D866DD33D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8" name="Graphique 17" descr="Utilisateur avec un remplissage uni">
              <a:extLst>
                <a:ext uri="{FF2B5EF4-FFF2-40B4-BE49-F238E27FC236}">
                  <a16:creationId xmlns:a16="http://schemas.microsoft.com/office/drawing/2014/main" id="{4F9BF892-A2D0-98AE-FEA0-816056B00E1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9" name="Graphique 18" descr="Utilisateur avec un remplissage uni">
              <a:extLst>
                <a:ext uri="{FF2B5EF4-FFF2-40B4-BE49-F238E27FC236}">
                  <a16:creationId xmlns:a16="http://schemas.microsoft.com/office/drawing/2014/main" id="{707C59E2-057B-7EF2-C8B7-CD3C7D636C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20" name="Graphique 19" descr="Utilisateur avec un remplissage uni">
              <a:extLst>
                <a:ext uri="{FF2B5EF4-FFF2-40B4-BE49-F238E27FC236}">
                  <a16:creationId xmlns:a16="http://schemas.microsoft.com/office/drawing/2014/main" id="{9710CB43-8C1B-D2B8-0766-4DBA74EED10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9" name="Graphique 8" descr="Boîte à archives avec un remplissage uni">
            <a:extLst>
              <a:ext uri="{FF2B5EF4-FFF2-40B4-BE49-F238E27FC236}">
                <a16:creationId xmlns:a16="http://schemas.microsoft.com/office/drawing/2014/main" id="{D52147FA-A8EA-7671-986A-A54EA48C6E8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40825" y="3098152"/>
            <a:ext cx="1993277" cy="1993282"/>
          </a:xfrm>
          <a:prstGeom prst="rect">
            <a:avLst/>
          </a:prstGeom>
        </p:spPr>
      </p:pic>
      <p:sp>
        <p:nvSpPr>
          <p:cNvPr id="21" name="Rectangle 20">
            <a:extLst>
              <a:ext uri="{FF2B5EF4-FFF2-40B4-BE49-F238E27FC236}">
                <a16:creationId xmlns:a16="http://schemas.microsoft.com/office/drawing/2014/main" id="{6DE9E7C0-16C9-D6BB-3218-8245A7CC9F6E}"/>
              </a:ext>
            </a:extLst>
          </p:cNvPr>
          <p:cNvSpPr/>
          <p:nvPr/>
        </p:nvSpPr>
        <p:spPr>
          <a:xfrm>
            <a:off x="4824511" y="5079207"/>
            <a:ext cx="2675764" cy="5594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200" b="1" dirty="0">
                <a:solidFill>
                  <a:srgbClr val="ED7D31"/>
                </a:solidFill>
              </a:rPr>
              <a:t>Membres</a:t>
            </a:r>
            <a:endParaRPr lang="fr-FR" sz="3200" dirty="0">
              <a:solidFill>
                <a:srgbClr val="ED7D31"/>
              </a:solidFill>
            </a:endParaRPr>
          </a:p>
        </p:txBody>
      </p:sp>
      <p:sp>
        <p:nvSpPr>
          <p:cNvPr id="23" name="Rectangle 22">
            <a:extLst>
              <a:ext uri="{FF2B5EF4-FFF2-40B4-BE49-F238E27FC236}">
                <a16:creationId xmlns:a16="http://schemas.microsoft.com/office/drawing/2014/main" id="{F788E46B-191A-6AD0-57A4-79D9A8A6E7CD}"/>
              </a:ext>
            </a:extLst>
          </p:cNvPr>
          <p:cNvSpPr/>
          <p:nvPr/>
        </p:nvSpPr>
        <p:spPr>
          <a:xfrm>
            <a:off x="9240825" y="5075736"/>
            <a:ext cx="1993277" cy="5594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200" b="1" dirty="0">
                <a:solidFill>
                  <a:srgbClr val="3494BA"/>
                </a:solidFill>
              </a:rPr>
              <a:t>Ressource</a:t>
            </a:r>
            <a:endParaRPr lang="fr-FR" sz="3200" dirty="0">
              <a:solidFill>
                <a:srgbClr val="3494BA"/>
              </a:solidFill>
            </a:endParaRPr>
          </a:p>
        </p:txBody>
      </p:sp>
    </p:spTree>
    <p:extLst>
      <p:ext uri="{BB962C8B-B14F-4D97-AF65-F5344CB8AC3E}">
        <p14:creationId xmlns:p14="http://schemas.microsoft.com/office/powerpoint/2010/main" val="234342879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D86BB56-A91F-1A5C-2F75-C45E3C94FB56}"/>
              </a:ext>
            </a:extLst>
          </p:cNvPr>
          <p:cNvSpPr>
            <a:spLocks noGrp="1"/>
          </p:cNvSpPr>
          <p:nvPr>
            <p:ph type="title"/>
          </p:nvPr>
        </p:nvSpPr>
        <p:spPr>
          <a:xfrm>
            <a:off x="838200" y="365126"/>
            <a:ext cx="10515600" cy="556774"/>
          </a:xfrm>
        </p:spPr>
        <p:txBody>
          <a:bodyPr>
            <a:normAutofit fontScale="90000"/>
          </a:bodyPr>
          <a:lstStyle/>
          <a:p>
            <a:r>
              <a:rPr lang="fr-FR" dirty="0"/>
              <a:t>Ressources de Communauté : Définition et types</a:t>
            </a:r>
          </a:p>
        </p:txBody>
      </p:sp>
      <p:grpSp>
        <p:nvGrpSpPr>
          <p:cNvPr id="73" name="Groupe 72">
            <a:extLst>
              <a:ext uri="{FF2B5EF4-FFF2-40B4-BE49-F238E27FC236}">
                <a16:creationId xmlns:a16="http://schemas.microsoft.com/office/drawing/2014/main" id="{AFE9BB57-FB1F-E5D0-E665-8C1B7AA7D04C}"/>
              </a:ext>
            </a:extLst>
          </p:cNvPr>
          <p:cNvGrpSpPr/>
          <p:nvPr/>
        </p:nvGrpSpPr>
        <p:grpSpPr>
          <a:xfrm>
            <a:off x="2532724" y="2350661"/>
            <a:ext cx="1274604" cy="807729"/>
            <a:chOff x="6804504" y="2072289"/>
            <a:chExt cx="1274604" cy="807729"/>
          </a:xfrm>
        </p:grpSpPr>
        <p:sp>
          <p:nvSpPr>
            <p:cNvPr id="25" name="ZoneTexte 24">
              <a:extLst>
                <a:ext uri="{FF2B5EF4-FFF2-40B4-BE49-F238E27FC236}">
                  <a16:creationId xmlns:a16="http://schemas.microsoft.com/office/drawing/2014/main" id="{0B4A08F3-89AE-013D-E238-107CF62B5DD8}"/>
                </a:ext>
              </a:extLst>
            </p:cNvPr>
            <p:cNvSpPr txBox="1"/>
            <p:nvPr/>
          </p:nvSpPr>
          <p:spPr>
            <a:xfrm>
              <a:off x="6804504" y="2603019"/>
              <a:ext cx="1274604" cy="276999"/>
            </a:xfrm>
            <a:prstGeom prst="rect">
              <a:avLst/>
            </a:prstGeom>
            <a:noFill/>
          </p:spPr>
          <p:txBody>
            <a:bodyPr wrap="square">
              <a:spAutoFit/>
            </a:bodyPr>
            <a:lstStyle/>
            <a:p>
              <a:pPr algn="ctr"/>
              <a:r>
                <a:rPr lang="fr-FR" sz="1200" dirty="0"/>
                <a:t>Outils</a:t>
              </a:r>
            </a:p>
          </p:txBody>
        </p:sp>
        <p:pic>
          <p:nvPicPr>
            <p:cNvPr id="4" name="Graphique 3" descr="Chat avec un remplissage uni">
              <a:extLst>
                <a:ext uri="{FF2B5EF4-FFF2-40B4-BE49-F238E27FC236}">
                  <a16:creationId xmlns:a16="http://schemas.microsoft.com/office/drawing/2014/main" id="{6643BB8C-B799-149D-BB84-DA41293DD24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213206" y="2072289"/>
              <a:ext cx="457200" cy="457200"/>
            </a:xfrm>
            <a:prstGeom prst="rect">
              <a:avLst/>
            </a:prstGeom>
          </p:spPr>
        </p:pic>
      </p:grpSp>
      <p:grpSp>
        <p:nvGrpSpPr>
          <p:cNvPr id="74" name="Groupe 73">
            <a:extLst>
              <a:ext uri="{FF2B5EF4-FFF2-40B4-BE49-F238E27FC236}">
                <a16:creationId xmlns:a16="http://schemas.microsoft.com/office/drawing/2014/main" id="{2EC14F84-AB15-2DB0-5924-9BD0E906E422}"/>
              </a:ext>
            </a:extLst>
          </p:cNvPr>
          <p:cNvGrpSpPr/>
          <p:nvPr/>
        </p:nvGrpSpPr>
        <p:grpSpPr>
          <a:xfrm>
            <a:off x="4969656" y="2350661"/>
            <a:ext cx="1032426" cy="807729"/>
            <a:chOff x="5551821" y="2072289"/>
            <a:chExt cx="1032426" cy="807729"/>
          </a:xfrm>
        </p:grpSpPr>
        <p:sp>
          <p:nvSpPr>
            <p:cNvPr id="29" name="ZoneTexte 28">
              <a:extLst>
                <a:ext uri="{FF2B5EF4-FFF2-40B4-BE49-F238E27FC236}">
                  <a16:creationId xmlns:a16="http://schemas.microsoft.com/office/drawing/2014/main" id="{577D4AC4-D4A5-ED8B-EFFE-C2CD9B2F6B98}"/>
                </a:ext>
              </a:extLst>
            </p:cNvPr>
            <p:cNvSpPr txBox="1"/>
            <p:nvPr/>
          </p:nvSpPr>
          <p:spPr>
            <a:xfrm>
              <a:off x="5551821" y="2603019"/>
              <a:ext cx="1032426" cy="276999"/>
            </a:xfrm>
            <a:prstGeom prst="rect">
              <a:avLst/>
            </a:prstGeom>
            <a:noFill/>
          </p:spPr>
          <p:txBody>
            <a:bodyPr wrap="square">
              <a:spAutoFit/>
            </a:bodyPr>
            <a:lstStyle/>
            <a:p>
              <a:pPr algn="ctr"/>
              <a:r>
                <a:rPr lang="fr-FR" sz="1200" dirty="0"/>
                <a:t>Disponibilité</a:t>
              </a:r>
            </a:p>
          </p:txBody>
        </p:sp>
        <p:pic>
          <p:nvPicPr>
            <p:cNvPr id="8" name="Graphique 7" descr="Sablier 60% avec un remplissage uni">
              <a:extLst>
                <a:ext uri="{FF2B5EF4-FFF2-40B4-BE49-F238E27FC236}">
                  <a16:creationId xmlns:a16="http://schemas.microsoft.com/office/drawing/2014/main" id="{92B68037-8B64-9AD6-5C1B-C5397FA33CB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47251" y="2072289"/>
              <a:ext cx="457200" cy="457200"/>
            </a:xfrm>
            <a:prstGeom prst="rect">
              <a:avLst/>
            </a:prstGeom>
          </p:spPr>
        </p:pic>
      </p:grpSp>
      <p:grpSp>
        <p:nvGrpSpPr>
          <p:cNvPr id="75" name="Groupe 74">
            <a:extLst>
              <a:ext uri="{FF2B5EF4-FFF2-40B4-BE49-F238E27FC236}">
                <a16:creationId xmlns:a16="http://schemas.microsoft.com/office/drawing/2014/main" id="{11FC7131-BC17-7773-259D-3F56AE077F2D}"/>
              </a:ext>
            </a:extLst>
          </p:cNvPr>
          <p:cNvGrpSpPr/>
          <p:nvPr/>
        </p:nvGrpSpPr>
        <p:grpSpPr>
          <a:xfrm>
            <a:off x="8484482" y="2342974"/>
            <a:ext cx="1032426" cy="807729"/>
            <a:chOff x="4204166" y="2072289"/>
            <a:chExt cx="1032426" cy="807729"/>
          </a:xfrm>
        </p:grpSpPr>
        <p:sp>
          <p:nvSpPr>
            <p:cNvPr id="23" name="ZoneTexte 22">
              <a:extLst>
                <a:ext uri="{FF2B5EF4-FFF2-40B4-BE49-F238E27FC236}">
                  <a16:creationId xmlns:a16="http://schemas.microsoft.com/office/drawing/2014/main" id="{3EF6FCA9-E698-11FB-2472-8D8D2942EDEB}"/>
                </a:ext>
              </a:extLst>
            </p:cNvPr>
            <p:cNvSpPr txBox="1"/>
            <p:nvPr/>
          </p:nvSpPr>
          <p:spPr>
            <a:xfrm>
              <a:off x="4204166" y="2603019"/>
              <a:ext cx="1032426" cy="276999"/>
            </a:xfrm>
            <a:prstGeom prst="rect">
              <a:avLst/>
            </a:prstGeom>
            <a:noFill/>
          </p:spPr>
          <p:txBody>
            <a:bodyPr wrap="square">
              <a:spAutoFit/>
            </a:bodyPr>
            <a:lstStyle/>
            <a:p>
              <a:pPr algn="ctr"/>
              <a:r>
                <a:rPr lang="fr-FR" sz="1200" dirty="0"/>
                <a:t>Motivations</a:t>
              </a:r>
            </a:p>
          </p:txBody>
        </p:sp>
        <p:pic>
          <p:nvPicPr>
            <p:cNvPr id="10" name="Graphique 9" descr="Flèches de chevron avec un remplissage uni">
              <a:extLst>
                <a:ext uri="{FF2B5EF4-FFF2-40B4-BE49-F238E27FC236}">
                  <a16:creationId xmlns:a16="http://schemas.microsoft.com/office/drawing/2014/main" id="{AF5EE9D0-7F3B-174A-E24A-B60A4D2CA60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491779" y="2072289"/>
              <a:ext cx="457200" cy="457200"/>
            </a:xfrm>
            <a:prstGeom prst="rect">
              <a:avLst/>
            </a:prstGeom>
          </p:spPr>
        </p:pic>
      </p:grpSp>
      <p:grpSp>
        <p:nvGrpSpPr>
          <p:cNvPr id="77" name="Groupe 76">
            <a:extLst>
              <a:ext uri="{FF2B5EF4-FFF2-40B4-BE49-F238E27FC236}">
                <a16:creationId xmlns:a16="http://schemas.microsoft.com/office/drawing/2014/main" id="{A52C728C-C600-2DF1-4411-53A92B935493}"/>
              </a:ext>
            </a:extLst>
          </p:cNvPr>
          <p:cNvGrpSpPr/>
          <p:nvPr/>
        </p:nvGrpSpPr>
        <p:grpSpPr>
          <a:xfrm>
            <a:off x="6135958" y="2342974"/>
            <a:ext cx="1032426" cy="807729"/>
            <a:chOff x="2428298" y="2091339"/>
            <a:chExt cx="1032426" cy="807729"/>
          </a:xfrm>
        </p:grpSpPr>
        <p:sp>
          <p:nvSpPr>
            <p:cNvPr id="22" name="ZoneTexte 21">
              <a:extLst>
                <a:ext uri="{FF2B5EF4-FFF2-40B4-BE49-F238E27FC236}">
                  <a16:creationId xmlns:a16="http://schemas.microsoft.com/office/drawing/2014/main" id="{090E7F8D-D6D3-7C17-C66F-7E90C1839228}"/>
                </a:ext>
              </a:extLst>
            </p:cNvPr>
            <p:cNvSpPr txBox="1"/>
            <p:nvPr/>
          </p:nvSpPr>
          <p:spPr>
            <a:xfrm>
              <a:off x="2428298" y="2622069"/>
              <a:ext cx="1032426" cy="276999"/>
            </a:xfrm>
            <a:prstGeom prst="rect">
              <a:avLst/>
            </a:prstGeom>
            <a:noFill/>
          </p:spPr>
          <p:txBody>
            <a:bodyPr wrap="square">
              <a:spAutoFit/>
            </a:bodyPr>
            <a:lstStyle/>
            <a:p>
              <a:pPr algn="ctr"/>
              <a:r>
                <a:rPr lang="fr-FR" sz="1200" dirty="0"/>
                <a:t>Compétences</a:t>
              </a:r>
            </a:p>
          </p:txBody>
        </p:sp>
        <p:pic>
          <p:nvPicPr>
            <p:cNvPr id="15" name="Graphique 14" descr="Tête avec engrenages avec un remplissage uni">
              <a:extLst>
                <a:ext uri="{FF2B5EF4-FFF2-40B4-BE49-F238E27FC236}">
                  <a16:creationId xmlns:a16="http://schemas.microsoft.com/office/drawing/2014/main" id="{1798E844-7433-688B-7D8A-ED821F5D498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732130" y="2091339"/>
              <a:ext cx="457200" cy="457200"/>
            </a:xfrm>
            <a:prstGeom prst="rect">
              <a:avLst/>
            </a:prstGeom>
          </p:spPr>
        </p:pic>
      </p:grpSp>
      <p:grpSp>
        <p:nvGrpSpPr>
          <p:cNvPr id="78" name="Groupe 77">
            <a:extLst>
              <a:ext uri="{FF2B5EF4-FFF2-40B4-BE49-F238E27FC236}">
                <a16:creationId xmlns:a16="http://schemas.microsoft.com/office/drawing/2014/main" id="{21AC260A-7C34-D463-1322-7320FB1CB7DB}"/>
              </a:ext>
            </a:extLst>
          </p:cNvPr>
          <p:cNvGrpSpPr/>
          <p:nvPr/>
        </p:nvGrpSpPr>
        <p:grpSpPr>
          <a:xfrm>
            <a:off x="1573126" y="2352731"/>
            <a:ext cx="754455" cy="807729"/>
            <a:chOff x="236639" y="2072289"/>
            <a:chExt cx="754455" cy="807729"/>
          </a:xfrm>
        </p:grpSpPr>
        <p:sp>
          <p:nvSpPr>
            <p:cNvPr id="26" name="ZoneTexte 25">
              <a:extLst>
                <a:ext uri="{FF2B5EF4-FFF2-40B4-BE49-F238E27FC236}">
                  <a16:creationId xmlns:a16="http://schemas.microsoft.com/office/drawing/2014/main" id="{9C5F01E5-9AF6-D544-43BE-C107FFD38DFD}"/>
                </a:ext>
              </a:extLst>
            </p:cNvPr>
            <p:cNvSpPr txBox="1"/>
            <p:nvPr/>
          </p:nvSpPr>
          <p:spPr>
            <a:xfrm>
              <a:off x="236639" y="2603019"/>
              <a:ext cx="754455" cy="276999"/>
            </a:xfrm>
            <a:prstGeom prst="rect">
              <a:avLst/>
            </a:prstGeom>
            <a:noFill/>
          </p:spPr>
          <p:txBody>
            <a:bodyPr wrap="square">
              <a:spAutoFit/>
            </a:bodyPr>
            <a:lstStyle/>
            <a:p>
              <a:pPr algn="ctr"/>
              <a:r>
                <a:rPr lang="fr-FR" sz="1200" dirty="0"/>
                <a:t>Matériel</a:t>
              </a:r>
            </a:p>
          </p:txBody>
        </p:sp>
        <p:pic>
          <p:nvPicPr>
            <p:cNvPr id="33" name="Graphique 32" descr="Diable avec un remplissage uni">
              <a:extLst>
                <a:ext uri="{FF2B5EF4-FFF2-40B4-BE49-F238E27FC236}">
                  <a16:creationId xmlns:a16="http://schemas.microsoft.com/office/drawing/2014/main" id="{406FDDF7-CAE8-4CCD-D946-4A161D45D838}"/>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66612" y="2072289"/>
              <a:ext cx="457200" cy="457200"/>
            </a:xfrm>
            <a:prstGeom prst="rect">
              <a:avLst/>
            </a:prstGeom>
          </p:spPr>
        </p:pic>
      </p:grpSp>
      <p:grpSp>
        <p:nvGrpSpPr>
          <p:cNvPr id="76" name="Groupe 75">
            <a:extLst>
              <a:ext uri="{FF2B5EF4-FFF2-40B4-BE49-F238E27FC236}">
                <a16:creationId xmlns:a16="http://schemas.microsoft.com/office/drawing/2014/main" id="{503C91A6-1269-F0EC-5EDB-83C10D9D1771}"/>
              </a:ext>
            </a:extLst>
          </p:cNvPr>
          <p:cNvGrpSpPr/>
          <p:nvPr/>
        </p:nvGrpSpPr>
        <p:grpSpPr>
          <a:xfrm>
            <a:off x="7096238" y="2347584"/>
            <a:ext cx="1381765" cy="807729"/>
            <a:chOff x="1276816" y="2072289"/>
            <a:chExt cx="1381765" cy="807729"/>
          </a:xfrm>
        </p:grpSpPr>
        <p:sp>
          <p:nvSpPr>
            <p:cNvPr id="27" name="ZoneTexte 26">
              <a:extLst>
                <a:ext uri="{FF2B5EF4-FFF2-40B4-BE49-F238E27FC236}">
                  <a16:creationId xmlns:a16="http://schemas.microsoft.com/office/drawing/2014/main" id="{DF8456D8-2B7A-671F-64F9-DADF2132E0AF}"/>
                </a:ext>
              </a:extLst>
            </p:cNvPr>
            <p:cNvSpPr txBox="1"/>
            <p:nvPr/>
          </p:nvSpPr>
          <p:spPr>
            <a:xfrm>
              <a:off x="1276816" y="2603019"/>
              <a:ext cx="1381765" cy="276999"/>
            </a:xfrm>
            <a:prstGeom prst="rect">
              <a:avLst/>
            </a:prstGeom>
            <a:noFill/>
          </p:spPr>
          <p:txBody>
            <a:bodyPr wrap="square">
              <a:spAutoFit/>
            </a:bodyPr>
            <a:lstStyle/>
            <a:p>
              <a:pPr algn="ctr"/>
              <a:r>
                <a:rPr lang="fr-FR" sz="1200" dirty="0"/>
                <a:t>Informations clé</a:t>
              </a:r>
            </a:p>
          </p:txBody>
        </p:sp>
        <p:pic>
          <p:nvPicPr>
            <p:cNvPr id="35" name="Graphique 34" descr="Informations avec un remplissage uni">
              <a:extLst>
                <a:ext uri="{FF2B5EF4-FFF2-40B4-BE49-F238E27FC236}">
                  <a16:creationId xmlns:a16="http://schemas.microsoft.com/office/drawing/2014/main" id="{0BBC0EFC-2F18-EFD9-FE00-BE26921A222E}"/>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726018" y="2072289"/>
              <a:ext cx="478914" cy="478914"/>
            </a:xfrm>
            <a:prstGeom prst="rect">
              <a:avLst/>
            </a:prstGeom>
          </p:spPr>
        </p:pic>
      </p:grpSp>
      <p:grpSp>
        <p:nvGrpSpPr>
          <p:cNvPr id="72" name="Groupe 71">
            <a:extLst>
              <a:ext uri="{FF2B5EF4-FFF2-40B4-BE49-F238E27FC236}">
                <a16:creationId xmlns:a16="http://schemas.microsoft.com/office/drawing/2014/main" id="{438CFB5E-7480-2E9C-8EB4-3A5793737537}"/>
              </a:ext>
            </a:extLst>
          </p:cNvPr>
          <p:cNvGrpSpPr/>
          <p:nvPr/>
        </p:nvGrpSpPr>
        <p:grpSpPr>
          <a:xfrm>
            <a:off x="119521" y="2364982"/>
            <a:ext cx="1274604" cy="807729"/>
            <a:chOff x="8215494" y="2072289"/>
            <a:chExt cx="1274604" cy="807729"/>
          </a:xfrm>
        </p:grpSpPr>
        <p:sp>
          <p:nvSpPr>
            <p:cNvPr id="28" name="ZoneTexte 27">
              <a:extLst>
                <a:ext uri="{FF2B5EF4-FFF2-40B4-BE49-F238E27FC236}">
                  <a16:creationId xmlns:a16="http://schemas.microsoft.com/office/drawing/2014/main" id="{384C4BE0-9DA1-E1E0-C70A-0CA468601473}"/>
                </a:ext>
              </a:extLst>
            </p:cNvPr>
            <p:cNvSpPr txBox="1"/>
            <p:nvPr/>
          </p:nvSpPr>
          <p:spPr>
            <a:xfrm>
              <a:off x="8215494" y="2603019"/>
              <a:ext cx="1274604" cy="276999"/>
            </a:xfrm>
            <a:prstGeom prst="rect">
              <a:avLst/>
            </a:prstGeom>
            <a:noFill/>
          </p:spPr>
          <p:txBody>
            <a:bodyPr wrap="square">
              <a:spAutoFit/>
            </a:bodyPr>
            <a:lstStyle/>
            <a:p>
              <a:pPr algn="ctr"/>
              <a:r>
                <a:rPr lang="fr-FR" sz="1200" dirty="0"/>
                <a:t>Espaces et lieux</a:t>
              </a:r>
            </a:p>
          </p:txBody>
        </p:sp>
        <p:pic>
          <p:nvPicPr>
            <p:cNvPr id="16" name="Graphique 15" descr="Conseil d’administration avec un remplissage uni">
              <a:extLst>
                <a:ext uri="{FF2B5EF4-FFF2-40B4-BE49-F238E27FC236}">
                  <a16:creationId xmlns:a16="http://schemas.microsoft.com/office/drawing/2014/main" id="{3A3C192A-E3B8-5841-FBE3-11B1AE1AC5E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574409" y="2072289"/>
              <a:ext cx="556773" cy="556773"/>
            </a:xfrm>
            <a:prstGeom prst="rect">
              <a:avLst/>
            </a:prstGeom>
          </p:spPr>
        </p:pic>
      </p:grpSp>
      <p:grpSp>
        <p:nvGrpSpPr>
          <p:cNvPr id="71" name="Groupe 70">
            <a:extLst>
              <a:ext uri="{FF2B5EF4-FFF2-40B4-BE49-F238E27FC236}">
                <a16:creationId xmlns:a16="http://schemas.microsoft.com/office/drawing/2014/main" id="{6C2A76DD-2AB7-8B6C-6AD1-28FC963800A3}"/>
              </a:ext>
            </a:extLst>
          </p:cNvPr>
          <p:cNvGrpSpPr/>
          <p:nvPr/>
        </p:nvGrpSpPr>
        <p:grpSpPr>
          <a:xfrm>
            <a:off x="3952101" y="2346479"/>
            <a:ext cx="764501" cy="807729"/>
            <a:chOff x="9827467" y="2072289"/>
            <a:chExt cx="764501" cy="807729"/>
          </a:xfrm>
        </p:grpSpPr>
        <p:pic>
          <p:nvPicPr>
            <p:cNvPr id="30" name="Graphique 29" descr="Tirelire avec un remplissage uni">
              <a:extLst>
                <a:ext uri="{FF2B5EF4-FFF2-40B4-BE49-F238E27FC236}">
                  <a16:creationId xmlns:a16="http://schemas.microsoft.com/office/drawing/2014/main" id="{A521F9B3-78F4-B23A-7574-984E197768B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956969" y="2072289"/>
              <a:ext cx="540000" cy="540000"/>
            </a:xfrm>
            <a:prstGeom prst="rect">
              <a:avLst/>
            </a:prstGeom>
          </p:spPr>
        </p:pic>
        <p:sp>
          <p:nvSpPr>
            <p:cNvPr id="34" name="ZoneTexte 33">
              <a:extLst>
                <a:ext uri="{FF2B5EF4-FFF2-40B4-BE49-F238E27FC236}">
                  <a16:creationId xmlns:a16="http://schemas.microsoft.com/office/drawing/2014/main" id="{F5DD14C4-C882-8049-6EFC-EF34F9163697}"/>
                </a:ext>
              </a:extLst>
            </p:cNvPr>
            <p:cNvSpPr txBox="1"/>
            <p:nvPr/>
          </p:nvSpPr>
          <p:spPr>
            <a:xfrm>
              <a:off x="9827467" y="2603019"/>
              <a:ext cx="764501" cy="276999"/>
            </a:xfrm>
            <a:prstGeom prst="rect">
              <a:avLst/>
            </a:prstGeom>
            <a:noFill/>
          </p:spPr>
          <p:txBody>
            <a:bodyPr wrap="square">
              <a:spAutoFit/>
            </a:bodyPr>
            <a:lstStyle/>
            <a:p>
              <a:pPr algn="ctr"/>
              <a:r>
                <a:rPr lang="fr-FR" sz="1200" dirty="0"/>
                <a:t>Budget</a:t>
              </a:r>
            </a:p>
          </p:txBody>
        </p:sp>
      </p:grpSp>
      <p:grpSp>
        <p:nvGrpSpPr>
          <p:cNvPr id="70" name="Groupe 69">
            <a:extLst>
              <a:ext uri="{FF2B5EF4-FFF2-40B4-BE49-F238E27FC236}">
                <a16:creationId xmlns:a16="http://schemas.microsoft.com/office/drawing/2014/main" id="{ABF2C7D9-2534-D1D4-D5B7-F0BE46949172}"/>
              </a:ext>
            </a:extLst>
          </p:cNvPr>
          <p:cNvGrpSpPr/>
          <p:nvPr/>
        </p:nvGrpSpPr>
        <p:grpSpPr>
          <a:xfrm>
            <a:off x="10958435" y="2350661"/>
            <a:ext cx="764501" cy="807729"/>
            <a:chOff x="11150144" y="2072289"/>
            <a:chExt cx="764501" cy="807729"/>
          </a:xfrm>
        </p:grpSpPr>
        <p:pic>
          <p:nvPicPr>
            <p:cNvPr id="54" name="Graphique 53" descr="Badge point d’interrogation avec un remplissage uni">
              <a:extLst>
                <a:ext uri="{FF2B5EF4-FFF2-40B4-BE49-F238E27FC236}">
                  <a16:creationId xmlns:a16="http://schemas.microsoft.com/office/drawing/2014/main" id="{AEA97396-7DD1-6FDF-9B43-C77D21E8E8C0}"/>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1270657" y="2072289"/>
              <a:ext cx="540000" cy="540000"/>
            </a:xfrm>
            <a:prstGeom prst="rect">
              <a:avLst/>
            </a:prstGeom>
          </p:spPr>
        </p:pic>
        <p:sp>
          <p:nvSpPr>
            <p:cNvPr id="55" name="ZoneTexte 54">
              <a:extLst>
                <a:ext uri="{FF2B5EF4-FFF2-40B4-BE49-F238E27FC236}">
                  <a16:creationId xmlns:a16="http://schemas.microsoft.com/office/drawing/2014/main" id="{4E7AA883-EF04-DA03-1767-DE9DBF6D11DC}"/>
                </a:ext>
              </a:extLst>
            </p:cNvPr>
            <p:cNvSpPr txBox="1"/>
            <p:nvPr/>
          </p:nvSpPr>
          <p:spPr>
            <a:xfrm>
              <a:off x="11150144" y="2603019"/>
              <a:ext cx="764501" cy="276999"/>
            </a:xfrm>
            <a:prstGeom prst="rect">
              <a:avLst/>
            </a:prstGeom>
            <a:noFill/>
          </p:spPr>
          <p:txBody>
            <a:bodyPr wrap="square">
              <a:spAutoFit/>
            </a:bodyPr>
            <a:lstStyle/>
            <a:p>
              <a:pPr algn="ctr"/>
              <a:r>
                <a:rPr lang="fr-FR" sz="1200" dirty="0"/>
                <a:t>Autres</a:t>
              </a:r>
            </a:p>
          </p:txBody>
        </p:sp>
      </p:grpSp>
      <p:grpSp>
        <p:nvGrpSpPr>
          <p:cNvPr id="3" name="Groupe 2">
            <a:extLst>
              <a:ext uri="{FF2B5EF4-FFF2-40B4-BE49-F238E27FC236}">
                <a16:creationId xmlns:a16="http://schemas.microsoft.com/office/drawing/2014/main" id="{13E32D74-FA4C-18D3-1077-9D74EE7B5C00}"/>
              </a:ext>
            </a:extLst>
          </p:cNvPr>
          <p:cNvGrpSpPr/>
          <p:nvPr/>
        </p:nvGrpSpPr>
        <p:grpSpPr>
          <a:xfrm>
            <a:off x="9510758" y="2328229"/>
            <a:ext cx="1326669" cy="827084"/>
            <a:chOff x="9651618" y="1361747"/>
            <a:chExt cx="1326669" cy="827084"/>
          </a:xfrm>
        </p:grpSpPr>
        <p:pic>
          <p:nvPicPr>
            <p:cNvPr id="80" name="Graphique 79" descr="Signe pouce en haut avec un remplissage uni">
              <a:extLst>
                <a:ext uri="{FF2B5EF4-FFF2-40B4-BE49-F238E27FC236}">
                  <a16:creationId xmlns:a16="http://schemas.microsoft.com/office/drawing/2014/main" id="{C136CC31-EAE4-D7FC-9970-11C1DC3A017F}"/>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0057766" y="1361747"/>
              <a:ext cx="514374" cy="514374"/>
            </a:xfrm>
            <a:prstGeom prst="rect">
              <a:avLst/>
            </a:prstGeom>
          </p:spPr>
        </p:pic>
        <p:sp>
          <p:nvSpPr>
            <p:cNvPr id="81" name="ZoneTexte 80">
              <a:extLst>
                <a:ext uri="{FF2B5EF4-FFF2-40B4-BE49-F238E27FC236}">
                  <a16:creationId xmlns:a16="http://schemas.microsoft.com/office/drawing/2014/main" id="{11DB966D-BB60-59D7-580A-E91A38F3B37A}"/>
                </a:ext>
              </a:extLst>
            </p:cNvPr>
            <p:cNvSpPr txBox="1"/>
            <p:nvPr/>
          </p:nvSpPr>
          <p:spPr>
            <a:xfrm>
              <a:off x="9651618" y="1911832"/>
              <a:ext cx="1326669" cy="276999"/>
            </a:xfrm>
            <a:prstGeom prst="rect">
              <a:avLst/>
            </a:prstGeom>
            <a:noFill/>
          </p:spPr>
          <p:txBody>
            <a:bodyPr wrap="square">
              <a:spAutoFit/>
            </a:bodyPr>
            <a:lstStyle/>
            <a:p>
              <a:pPr algn="ctr"/>
              <a:r>
                <a:rPr lang="fr-FR" sz="1200" dirty="0"/>
                <a:t>Soutien extérieur</a:t>
              </a:r>
            </a:p>
          </p:txBody>
        </p:sp>
      </p:grpSp>
      <p:sp>
        <p:nvSpPr>
          <p:cNvPr id="36" name="Espace réservé du contenu 2">
            <a:extLst>
              <a:ext uri="{FF2B5EF4-FFF2-40B4-BE49-F238E27FC236}">
                <a16:creationId xmlns:a16="http://schemas.microsoft.com/office/drawing/2014/main" id="{1BB1FFB8-33B3-7CDF-2C01-6C455F9471D2}"/>
              </a:ext>
            </a:extLst>
          </p:cNvPr>
          <p:cNvSpPr>
            <a:spLocks noGrp="1"/>
          </p:cNvSpPr>
          <p:nvPr>
            <p:ph idx="1"/>
          </p:nvPr>
        </p:nvSpPr>
        <p:spPr>
          <a:xfrm>
            <a:off x="906664" y="1131832"/>
            <a:ext cx="4669483" cy="956063"/>
          </a:xfrm>
        </p:spPr>
        <p:txBody>
          <a:bodyPr>
            <a:normAutofit/>
          </a:bodyPr>
          <a:lstStyle/>
          <a:p>
            <a:pPr marL="0" indent="0">
              <a:buNone/>
            </a:pPr>
            <a:r>
              <a:rPr lang="fr-FR" sz="1400" dirty="0"/>
              <a:t>On appelle ici </a:t>
            </a:r>
            <a:r>
              <a:rPr lang="fr-FR" sz="1400" i="1" dirty="0">
                <a:solidFill>
                  <a:srgbClr val="3494BA"/>
                </a:solidFill>
              </a:rPr>
              <a:t>« ressources de Communauté »  </a:t>
            </a:r>
            <a:r>
              <a:rPr lang="fr-FR" sz="1400" dirty="0"/>
              <a:t>(ou de manière simplifiée </a:t>
            </a:r>
            <a:r>
              <a:rPr lang="fr-FR" sz="1400" i="1" dirty="0">
                <a:solidFill>
                  <a:srgbClr val="3494BA"/>
                </a:solidFill>
              </a:rPr>
              <a:t>« ressources »</a:t>
            </a:r>
            <a:r>
              <a:rPr lang="fr-FR" sz="1400" dirty="0"/>
              <a:t>) tout ce que les </a:t>
            </a:r>
            <a:r>
              <a:rPr lang="fr-FR" sz="1400" b="1" dirty="0"/>
              <a:t>membres pourraient avoir en commun </a:t>
            </a:r>
            <a:r>
              <a:rPr lang="fr-FR" sz="1400" dirty="0"/>
              <a:t>et dont </a:t>
            </a:r>
            <a:r>
              <a:rPr lang="fr-FR" sz="1400" b="1" dirty="0"/>
              <a:t>le fait d’être commun pourrait profiter à la Communauté</a:t>
            </a:r>
            <a:r>
              <a:rPr lang="fr-FR" sz="1400" dirty="0"/>
              <a:t>.</a:t>
            </a:r>
          </a:p>
        </p:txBody>
      </p:sp>
      <p:sp>
        <p:nvSpPr>
          <p:cNvPr id="38" name="Espace réservé du contenu 2">
            <a:extLst>
              <a:ext uri="{FF2B5EF4-FFF2-40B4-BE49-F238E27FC236}">
                <a16:creationId xmlns:a16="http://schemas.microsoft.com/office/drawing/2014/main" id="{50C5D1A8-C676-D449-3C7D-D8012BF867AD}"/>
              </a:ext>
            </a:extLst>
          </p:cNvPr>
          <p:cNvSpPr txBox="1">
            <a:spLocks/>
          </p:cNvSpPr>
          <p:nvPr/>
        </p:nvSpPr>
        <p:spPr>
          <a:xfrm>
            <a:off x="4906838" y="3184962"/>
            <a:ext cx="1102218" cy="3446979"/>
          </a:xfrm>
          <a:prstGeom prst="rect">
            <a:avLst/>
          </a:prstGeom>
          <a:solidFill>
            <a:srgbClr val="3494BA"/>
          </a:solidFill>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solidFill>
                  <a:schemeClr val="bg1"/>
                </a:solidFill>
              </a:rPr>
              <a:t>La </a:t>
            </a:r>
            <a:r>
              <a:rPr lang="fr-FR" sz="1200" b="1" dirty="0">
                <a:solidFill>
                  <a:schemeClr val="bg1"/>
                </a:solidFill>
              </a:rPr>
              <a:t>disponibilité</a:t>
            </a:r>
            <a:r>
              <a:rPr lang="fr-FR" sz="1200" dirty="0">
                <a:solidFill>
                  <a:schemeClr val="bg1"/>
                </a:solidFill>
              </a:rPr>
              <a:t> représente la capacité des membres à effectuer certaines actions. </a:t>
            </a:r>
          </a:p>
          <a:p>
            <a:pPr marL="0" indent="0" algn="ctr">
              <a:buFont typeface="Arial" panose="020B0604020202020204" pitchFamily="34" charset="0"/>
              <a:buNone/>
            </a:pPr>
            <a:r>
              <a:rPr lang="fr-FR" sz="1200" dirty="0">
                <a:solidFill>
                  <a:schemeClr val="bg1"/>
                </a:solidFill>
              </a:rPr>
              <a:t>La </a:t>
            </a:r>
            <a:r>
              <a:rPr lang="fr-FR" sz="1200" b="1" dirty="0">
                <a:solidFill>
                  <a:schemeClr val="bg1"/>
                </a:solidFill>
              </a:rPr>
              <a:t>disponibilité</a:t>
            </a:r>
            <a:r>
              <a:rPr lang="fr-FR" sz="1200" dirty="0">
                <a:solidFill>
                  <a:schemeClr val="bg1"/>
                </a:solidFill>
              </a:rPr>
              <a:t> est une ressource car elle représente du temps de contribution potentiel, ou bien une réduction en coût de mobilisation des membres. </a:t>
            </a:r>
          </a:p>
        </p:txBody>
      </p:sp>
      <p:sp>
        <p:nvSpPr>
          <p:cNvPr id="39" name="Espace réservé du contenu 2">
            <a:extLst>
              <a:ext uri="{FF2B5EF4-FFF2-40B4-BE49-F238E27FC236}">
                <a16:creationId xmlns:a16="http://schemas.microsoft.com/office/drawing/2014/main" id="{478AA27C-7A1C-E481-DDF1-DB86255318A4}"/>
              </a:ext>
            </a:extLst>
          </p:cNvPr>
          <p:cNvSpPr txBox="1">
            <a:spLocks/>
          </p:cNvSpPr>
          <p:nvPr/>
        </p:nvSpPr>
        <p:spPr>
          <a:xfrm>
            <a:off x="6226026" y="1131515"/>
            <a:ext cx="4669483" cy="956063"/>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400" dirty="0"/>
              <a:t>On peut définir différents types de ressources, qui aident à mieux considérer</a:t>
            </a:r>
            <a:r>
              <a:rPr lang="fr-FR" sz="1400" i="1" dirty="0">
                <a:solidFill>
                  <a:srgbClr val="3494BA"/>
                </a:solidFill>
              </a:rPr>
              <a:t> « Ce que possède, maîtrise, ou est déjà dans la Communauté »</a:t>
            </a:r>
            <a:r>
              <a:rPr lang="fr-FR" sz="1400" dirty="0"/>
              <a:t> pour évaluer sa taille ou son intérêt. Ces ressources peuvent être matérielles ou immatérielles ou les deux.</a:t>
            </a:r>
          </a:p>
        </p:txBody>
      </p:sp>
      <p:sp>
        <p:nvSpPr>
          <p:cNvPr id="40" name="Espace réservé du contenu 2">
            <a:extLst>
              <a:ext uri="{FF2B5EF4-FFF2-40B4-BE49-F238E27FC236}">
                <a16:creationId xmlns:a16="http://schemas.microsoft.com/office/drawing/2014/main" id="{9CF27614-26B9-5504-E3CA-7F30069ECA7B}"/>
              </a:ext>
            </a:extLst>
          </p:cNvPr>
          <p:cNvSpPr txBox="1">
            <a:spLocks/>
          </p:cNvSpPr>
          <p:nvPr/>
        </p:nvSpPr>
        <p:spPr>
          <a:xfrm>
            <a:off x="3734954" y="3184962"/>
            <a:ext cx="1102218" cy="3446979"/>
          </a:xfrm>
          <a:prstGeom prst="rect">
            <a:avLst/>
          </a:prstGeom>
          <a:solidFill>
            <a:srgbClr val="3494BA"/>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solidFill>
                  <a:schemeClr val="bg1"/>
                </a:solidFill>
              </a:rPr>
              <a:t>Le </a:t>
            </a:r>
            <a:r>
              <a:rPr lang="fr-FR" sz="1200" b="1" dirty="0">
                <a:solidFill>
                  <a:schemeClr val="bg1"/>
                </a:solidFill>
              </a:rPr>
              <a:t>budget</a:t>
            </a:r>
            <a:r>
              <a:rPr lang="fr-FR" sz="1200" dirty="0">
                <a:solidFill>
                  <a:schemeClr val="bg1"/>
                </a:solidFill>
              </a:rPr>
              <a:t> représente les finances disponibles pour la Communauté.</a:t>
            </a:r>
          </a:p>
          <a:p>
            <a:pPr marL="0" indent="0" algn="ctr">
              <a:buFont typeface="Arial" panose="020B0604020202020204" pitchFamily="34" charset="0"/>
              <a:buNone/>
            </a:pPr>
            <a:r>
              <a:rPr lang="fr-FR" sz="1200" dirty="0">
                <a:solidFill>
                  <a:schemeClr val="bg1"/>
                </a:solidFill>
              </a:rPr>
              <a:t>Le </a:t>
            </a:r>
            <a:r>
              <a:rPr lang="fr-FR" sz="1200" b="1" dirty="0">
                <a:solidFill>
                  <a:schemeClr val="bg1"/>
                </a:solidFill>
              </a:rPr>
              <a:t>budget</a:t>
            </a:r>
            <a:r>
              <a:rPr lang="fr-FR" sz="1200" dirty="0">
                <a:solidFill>
                  <a:schemeClr val="bg1"/>
                </a:solidFill>
              </a:rPr>
              <a:t> est une ressource qui aide à acquérir des ressources d’autres types ou à financer des activités. </a:t>
            </a:r>
          </a:p>
        </p:txBody>
      </p:sp>
      <p:sp>
        <p:nvSpPr>
          <p:cNvPr id="41" name="Espace réservé du contenu 2">
            <a:extLst>
              <a:ext uri="{FF2B5EF4-FFF2-40B4-BE49-F238E27FC236}">
                <a16:creationId xmlns:a16="http://schemas.microsoft.com/office/drawing/2014/main" id="{B474F83F-7588-2FB4-95CB-DDFBD56AFF86}"/>
              </a:ext>
            </a:extLst>
          </p:cNvPr>
          <p:cNvSpPr txBox="1">
            <a:spLocks/>
          </p:cNvSpPr>
          <p:nvPr/>
        </p:nvSpPr>
        <p:spPr>
          <a:xfrm>
            <a:off x="2563070" y="3184962"/>
            <a:ext cx="1102218" cy="3446979"/>
          </a:xfrm>
          <a:prstGeom prst="rect">
            <a:avLst/>
          </a:prstGeom>
          <a:solidFill>
            <a:srgbClr val="3494BA"/>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solidFill>
                  <a:schemeClr val="bg1"/>
                </a:solidFill>
              </a:rPr>
              <a:t>Les </a:t>
            </a:r>
            <a:r>
              <a:rPr lang="fr-FR" sz="1200" b="1" dirty="0">
                <a:solidFill>
                  <a:schemeClr val="bg1"/>
                </a:solidFill>
              </a:rPr>
              <a:t>outils</a:t>
            </a:r>
            <a:r>
              <a:rPr lang="fr-FR" sz="1200" dirty="0">
                <a:solidFill>
                  <a:schemeClr val="bg1"/>
                </a:solidFill>
              </a:rPr>
              <a:t> sont tous les dispositifs techniques ou méthodes utilisables par la Communauté pour gérer sa vie ou atteindre ses buts. </a:t>
            </a:r>
          </a:p>
          <a:p>
            <a:pPr marL="0" indent="0" algn="ctr">
              <a:buFont typeface="Arial" panose="020B0604020202020204" pitchFamily="34" charset="0"/>
              <a:buNone/>
            </a:pPr>
            <a:r>
              <a:rPr lang="fr-FR" sz="1200" dirty="0">
                <a:solidFill>
                  <a:schemeClr val="bg1"/>
                </a:solidFill>
              </a:rPr>
              <a:t>Les </a:t>
            </a:r>
            <a:r>
              <a:rPr lang="fr-FR" sz="1200" b="1" dirty="0">
                <a:solidFill>
                  <a:schemeClr val="bg1"/>
                </a:solidFill>
              </a:rPr>
              <a:t>outils</a:t>
            </a:r>
            <a:r>
              <a:rPr lang="fr-FR" sz="1200" dirty="0">
                <a:solidFill>
                  <a:schemeClr val="bg1"/>
                </a:solidFill>
              </a:rPr>
              <a:t> sont des ressources car ils peuvent multiplier l’efficacité d’une communauté.</a:t>
            </a:r>
          </a:p>
        </p:txBody>
      </p:sp>
      <p:sp>
        <p:nvSpPr>
          <p:cNvPr id="42" name="Espace réservé du contenu 2">
            <a:extLst>
              <a:ext uri="{FF2B5EF4-FFF2-40B4-BE49-F238E27FC236}">
                <a16:creationId xmlns:a16="http://schemas.microsoft.com/office/drawing/2014/main" id="{0D7DA7C2-F707-0297-E9A1-91442F2A7AFB}"/>
              </a:ext>
            </a:extLst>
          </p:cNvPr>
          <p:cNvSpPr txBox="1">
            <a:spLocks/>
          </p:cNvSpPr>
          <p:nvPr/>
        </p:nvSpPr>
        <p:spPr>
          <a:xfrm>
            <a:off x="1376881" y="3184962"/>
            <a:ext cx="1102218" cy="3446979"/>
          </a:xfrm>
          <a:prstGeom prst="rect">
            <a:avLst/>
          </a:prstGeom>
          <a:solidFill>
            <a:srgbClr val="3494BA"/>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solidFill>
                  <a:schemeClr val="bg1"/>
                </a:solidFill>
              </a:rPr>
              <a:t>Le </a:t>
            </a:r>
            <a:r>
              <a:rPr lang="fr-FR" sz="1200" b="1" dirty="0">
                <a:solidFill>
                  <a:schemeClr val="bg1"/>
                </a:solidFill>
              </a:rPr>
              <a:t>matériel</a:t>
            </a:r>
            <a:r>
              <a:rPr lang="fr-FR" sz="1200" dirty="0">
                <a:solidFill>
                  <a:schemeClr val="bg1"/>
                </a:solidFill>
              </a:rPr>
              <a:t> représente l’accès ou la capacité d’usage de biens matériels pour les activités de la Communauté.</a:t>
            </a:r>
          </a:p>
          <a:p>
            <a:pPr marL="0" indent="0" algn="ctr">
              <a:buFont typeface="Arial" panose="020B0604020202020204" pitchFamily="34" charset="0"/>
              <a:buNone/>
            </a:pPr>
            <a:r>
              <a:rPr lang="fr-FR" sz="1200" dirty="0">
                <a:solidFill>
                  <a:schemeClr val="bg1"/>
                </a:solidFill>
              </a:rPr>
              <a:t>Le </a:t>
            </a:r>
            <a:r>
              <a:rPr lang="fr-FR" sz="1200" b="1" dirty="0">
                <a:solidFill>
                  <a:schemeClr val="bg1"/>
                </a:solidFill>
              </a:rPr>
              <a:t>matériel</a:t>
            </a:r>
            <a:r>
              <a:rPr lang="fr-FR" sz="1200" dirty="0">
                <a:solidFill>
                  <a:schemeClr val="bg1"/>
                </a:solidFill>
              </a:rPr>
              <a:t> est une ressource qui a souvent intérêt à être en commun, surtout si son coût est élevé.</a:t>
            </a:r>
          </a:p>
        </p:txBody>
      </p:sp>
      <p:sp>
        <p:nvSpPr>
          <p:cNvPr id="43" name="Espace réservé du contenu 2">
            <a:extLst>
              <a:ext uri="{FF2B5EF4-FFF2-40B4-BE49-F238E27FC236}">
                <a16:creationId xmlns:a16="http://schemas.microsoft.com/office/drawing/2014/main" id="{F8C89207-03DE-4CC9-5BA7-B9C638B9A252}"/>
              </a:ext>
            </a:extLst>
          </p:cNvPr>
          <p:cNvSpPr txBox="1">
            <a:spLocks/>
          </p:cNvSpPr>
          <p:nvPr/>
        </p:nvSpPr>
        <p:spPr>
          <a:xfrm>
            <a:off x="190692" y="3184962"/>
            <a:ext cx="1102218" cy="3446979"/>
          </a:xfrm>
          <a:prstGeom prst="rect">
            <a:avLst/>
          </a:prstGeom>
          <a:solidFill>
            <a:srgbClr val="3494BA"/>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solidFill>
                  <a:schemeClr val="bg1"/>
                </a:solidFill>
              </a:rPr>
              <a:t>Les </a:t>
            </a:r>
            <a:r>
              <a:rPr lang="fr-FR" sz="1200" b="1" dirty="0">
                <a:solidFill>
                  <a:schemeClr val="bg1"/>
                </a:solidFill>
              </a:rPr>
              <a:t>espaces et lieux</a:t>
            </a:r>
            <a:r>
              <a:rPr lang="fr-FR" sz="1200" dirty="0">
                <a:solidFill>
                  <a:schemeClr val="bg1"/>
                </a:solidFill>
              </a:rPr>
              <a:t> sont des accès à des  endroits physiques utilisables pour les activités de la Communauté. </a:t>
            </a:r>
          </a:p>
          <a:p>
            <a:pPr marL="0" indent="0" algn="ctr">
              <a:buFont typeface="Arial" panose="020B0604020202020204" pitchFamily="34" charset="0"/>
              <a:buNone/>
            </a:pPr>
            <a:r>
              <a:rPr lang="fr-FR" sz="1200" dirty="0">
                <a:solidFill>
                  <a:schemeClr val="bg1"/>
                </a:solidFill>
              </a:rPr>
              <a:t>Les </a:t>
            </a:r>
            <a:r>
              <a:rPr lang="fr-FR" sz="1200" b="1" dirty="0">
                <a:solidFill>
                  <a:schemeClr val="bg1"/>
                </a:solidFill>
              </a:rPr>
              <a:t>espaces et lieux </a:t>
            </a:r>
            <a:r>
              <a:rPr lang="fr-FR" sz="1200" dirty="0">
                <a:solidFill>
                  <a:schemeClr val="bg1"/>
                </a:solidFill>
              </a:rPr>
              <a:t>sont ressources qui réduisent le coût de coordination des membres et ouvre des opportunités. </a:t>
            </a:r>
          </a:p>
        </p:txBody>
      </p:sp>
      <p:sp>
        <p:nvSpPr>
          <p:cNvPr id="44" name="Espace réservé du contenu 2">
            <a:extLst>
              <a:ext uri="{FF2B5EF4-FFF2-40B4-BE49-F238E27FC236}">
                <a16:creationId xmlns:a16="http://schemas.microsoft.com/office/drawing/2014/main" id="{F54F891C-8B5F-20C4-174C-05C84CBFF713}"/>
              </a:ext>
            </a:extLst>
          </p:cNvPr>
          <p:cNvSpPr txBox="1">
            <a:spLocks/>
          </p:cNvSpPr>
          <p:nvPr/>
        </p:nvSpPr>
        <p:spPr>
          <a:xfrm>
            <a:off x="10794868" y="3184962"/>
            <a:ext cx="1102218" cy="3446979"/>
          </a:xfrm>
          <a:prstGeom prst="rect">
            <a:avLst/>
          </a:prstGeom>
          <a:solidFill>
            <a:srgbClr val="3494BA"/>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solidFill>
                  <a:schemeClr val="bg1"/>
                </a:solidFill>
              </a:rPr>
              <a:t>Cette catégorie regroupe toutes les autres ressources</a:t>
            </a:r>
          </a:p>
        </p:txBody>
      </p:sp>
      <p:sp>
        <p:nvSpPr>
          <p:cNvPr id="45" name="Espace réservé du contenu 2">
            <a:extLst>
              <a:ext uri="{FF2B5EF4-FFF2-40B4-BE49-F238E27FC236}">
                <a16:creationId xmlns:a16="http://schemas.microsoft.com/office/drawing/2014/main" id="{547B43F4-F7E5-D71C-C481-9F2AC6E4947F}"/>
              </a:ext>
            </a:extLst>
          </p:cNvPr>
          <p:cNvSpPr txBox="1">
            <a:spLocks/>
          </p:cNvSpPr>
          <p:nvPr/>
        </p:nvSpPr>
        <p:spPr>
          <a:xfrm>
            <a:off x="9622984" y="3184962"/>
            <a:ext cx="1102218" cy="3446979"/>
          </a:xfrm>
          <a:prstGeom prst="rect">
            <a:avLst/>
          </a:prstGeom>
          <a:solidFill>
            <a:srgbClr val="3494BA"/>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solidFill>
                  <a:schemeClr val="bg1"/>
                </a:solidFill>
              </a:rPr>
              <a:t>Le </a:t>
            </a:r>
            <a:r>
              <a:rPr lang="fr-FR" sz="1200" b="1" dirty="0">
                <a:solidFill>
                  <a:schemeClr val="bg1"/>
                </a:solidFill>
              </a:rPr>
              <a:t>soutien</a:t>
            </a:r>
            <a:r>
              <a:rPr lang="fr-FR" sz="1200" dirty="0">
                <a:solidFill>
                  <a:schemeClr val="bg1"/>
                </a:solidFill>
              </a:rPr>
              <a:t> </a:t>
            </a:r>
            <a:r>
              <a:rPr lang="fr-FR" sz="1200" b="1" dirty="0">
                <a:solidFill>
                  <a:schemeClr val="bg1"/>
                </a:solidFill>
              </a:rPr>
              <a:t>extérieur</a:t>
            </a:r>
            <a:r>
              <a:rPr lang="fr-FR" sz="1200" dirty="0">
                <a:solidFill>
                  <a:schemeClr val="bg1"/>
                </a:solidFill>
              </a:rPr>
              <a:t> représente tout ce qui est en dehors de la Communauté et qui peut l’assister.</a:t>
            </a:r>
          </a:p>
          <a:p>
            <a:pPr marL="0" indent="0" algn="ctr">
              <a:buFont typeface="Arial" panose="020B0604020202020204" pitchFamily="34" charset="0"/>
              <a:buNone/>
            </a:pPr>
            <a:r>
              <a:rPr lang="fr-FR" sz="1200" dirty="0">
                <a:solidFill>
                  <a:schemeClr val="bg1"/>
                </a:solidFill>
              </a:rPr>
              <a:t>Le </a:t>
            </a:r>
            <a:r>
              <a:rPr lang="fr-FR" sz="1200" b="1" dirty="0">
                <a:solidFill>
                  <a:schemeClr val="bg1"/>
                </a:solidFill>
              </a:rPr>
              <a:t>soutien</a:t>
            </a:r>
            <a:r>
              <a:rPr lang="fr-FR" sz="1200" dirty="0">
                <a:solidFill>
                  <a:schemeClr val="bg1"/>
                </a:solidFill>
              </a:rPr>
              <a:t> </a:t>
            </a:r>
            <a:r>
              <a:rPr lang="fr-FR" sz="1200" b="1" dirty="0">
                <a:solidFill>
                  <a:schemeClr val="bg1"/>
                </a:solidFill>
              </a:rPr>
              <a:t>extérieur</a:t>
            </a:r>
            <a:r>
              <a:rPr lang="fr-FR" sz="1200" dirty="0">
                <a:solidFill>
                  <a:schemeClr val="bg1"/>
                </a:solidFill>
              </a:rPr>
              <a:t> est une ressource car il contribue à développer les autres ressources de la Communauté.</a:t>
            </a:r>
          </a:p>
        </p:txBody>
      </p:sp>
      <p:sp>
        <p:nvSpPr>
          <p:cNvPr id="46" name="Espace réservé du contenu 2">
            <a:extLst>
              <a:ext uri="{FF2B5EF4-FFF2-40B4-BE49-F238E27FC236}">
                <a16:creationId xmlns:a16="http://schemas.microsoft.com/office/drawing/2014/main" id="{A4F9FDA2-29BC-24BD-6936-ABEBC5E66433}"/>
              </a:ext>
            </a:extLst>
          </p:cNvPr>
          <p:cNvSpPr txBox="1">
            <a:spLocks/>
          </p:cNvSpPr>
          <p:nvPr/>
        </p:nvSpPr>
        <p:spPr>
          <a:xfrm>
            <a:off x="8451100" y="3184962"/>
            <a:ext cx="1102218" cy="3446979"/>
          </a:xfrm>
          <a:prstGeom prst="rect">
            <a:avLst/>
          </a:prstGeom>
          <a:solidFill>
            <a:srgbClr val="3494BA"/>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dirty="0">
                <a:solidFill>
                  <a:schemeClr val="bg1"/>
                </a:solidFill>
              </a:rPr>
              <a:t>Les </a:t>
            </a:r>
            <a:r>
              <a:rPr lang="fr-FR" sz="1200" b="1" dirty="0">
                <a:solidFill>
                  <a:schemeClr val="bg1"/>
                </a:solidFill>
              </a:rPr>
              <a:t>motivations</a:t>
            </a:r>
            <a:r>
              <a:rPr lang="fr-FR" sz="1200" dirty="0">
                <a:solidFill>
                  <a:schemeClr val="bg1"/>
                </a:solidFill>
              </a:rPr>
              <a:t> représentent ce qui pousse les membres à contribuer ou agir.</a:t>
            </a:r>
          </a:p>
          <a:p>
            <a:pPr marL="0" indent="0" algn="ctr">
              <a:buNone/>
            </a:pPr>
            <a:r>
              <a:rPr lang="fr-FR" sz="1200" dirty="0">
                <a:solidFill>
                  <a:schemeClr val="bg1"/>
                </a:solidFill>
              </a:rPr>
              <a:t> Les </a:t>
            </a:r>
            <a:r>
              <a:rPr lang="fr-FR" sz="1200" b="1" dirty="0">
                <a:solidFill>
                  <a:schemeClr val="bg1"/>
                </a:solidFill>
              </a:rPr>
              <a:t>motivations </a:t>
            </a:r>
            <a:r>
              <a:rPr lang="fr-FR" sz="1200" dirty="0">
                <a:solidFill>
                  <a:schemeClr val="bg1"/>
                </a:solidFill>
              </a:rPr>
              <a:t>sont des ressources car elles sont des propensions d’engagement d’autres ressources de la part des membres</a:t>
            </a:r>
          </a:p>
        </p:txBody>
      </p:sp>
      <p:sp>
        <p:nvSpPr>
          <p:cNvPr id="47" name="Espace réservé du contenu 2">
            <a:extLst>
              <a:ext uri="{FF2B5EF4-FFF2-40B4-BE49-F238E27FC236}">
                <a16:creationId xmlns:a16="http://schemas.microsoft.com/office/drawing/2014/main" id="{5FB1B26B-100B-96DC-7787-1D08BDF426F6}"/>
              </a:ext>
            </a:extLst>
          </p:cNvPr>
          <p:cNvSpPr txBox="1">
            <a:spLocks/>
          </p:cNvSpPr>
          <p:nvPr/>
        </p:nvSpPr>
        <p:spPr>
          <a:xfrm>
            <a:off x="7264911" y="3184962"/>
            <a:ext cx="1102218" cy="3446979"/>
          </a:xfrm>
          <a:prstGeom prst="rect">
            <a:avLst/>
          </a:prstGeom>
          <a:solidFill>
            <a:srgbClr val="3494BA"/>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solidFill>
                  <a:schemeClr val="bg1"/>
                </a:solidFill>
              </a:rPr>
              <a:t>Les </a:t>
            </a:r>
            <a:r>
              <a:rPr lang="fr-FR" sz="1200" b="1" dirty="0">
                <a:solidFill>
                  <a:schemeClr val="bg1"/>
                </a:solidFill>
              </a:rPr>
              <a:t>informations clés</a:t>
            </a:r>
            <a:r>
              <a:rPr lang="fr-FR" sz="1200" dirty="0">
                <a:solidFill>
                  <a:schemeClr val="bg1"/>
                </a:solidFill>
              </a:rPr>
              <a:t> sont des informations qui peuvent être importantes pour servir le but de la Communauté. </a:t>
            </a:r>
          </a:p>
          <a:p>
            <a:pPr marL="0" indent="0" algn="ctr">
              <a:buFont typeface="Arial" panose="020B0604020202020204" pitchFamily="34" charset="0"/>
              <a:buNone/>
            </a:pPr>
            <a:r>
              <a:rPr lang="fr-FR" sz="1200" dirty="0">
                <a:solidFill>
                  <a:schemeClr val="bg1"/>
                </a:solidFill>
              </a:rPr>
              <a:t>Les </a:t>
            </a:r>
            <a:r>
              <a:rPr lang="fr-FR" sz="1200" b="1" dirty="0">
                <a:solidFill>
                  <a:schemeClr val="bg1"/>
                </a:solidFill>
              </a:rPr>
              <a:t>informations</a:t>
            </a:r>
            <a:r>
              <a:rPr lang="fr-FR" sz="1200" dirty="0">
                <a:solidFill>
                  <a:schemeClr val="bg1"/>
                </a:solidFill>
              </a:rPr>
              <a:t> </a:t>
            </a:r>
            <a:r>
              <a:rPr lang="fr-FR" sz="1200" b="1" dirty="0">
                <a:solidFill>
                  <a:schemeClr val="bg1"/>
                </a:solidFill>
              </a:rPr>
              <a:t>clés</a:t>
            </a:r>
            <a:r>
              <a:rPr lang="fr-FR" sz="1200" dirty="0">
                <a:solidFill>
                  <a:schemeClr val="bg1"/>
                </a:solidFill>
              </a:rPr>
              <a:t> sont des ressources qui permettent d’accéder à d’autres ressources.</a:t>
            </a:r>
          </a:p>
        </p:txBody>
      </p:sp>
      <p:sp>
        <p:nvSpPr>
          <p:cNvPr id="48" name="Espace réservé du contenu 2">
            <a:extLst>
              <a:ext uri="{FF2B5EF4-FFF2-40B4-BE49-F238E27FC236}">
                <a16:creationId xmlns:a16="http://schemas.microsoft.com/office/drawing/2014/main" id="{832C868E-49EA-FE86-7A46-558457860D61}"/>
              </a:ext>
            </a:extLst>
          </p:cNvPr>
          <p:cNvSpPr txBox="1">
            <a:spLocks/>
          </p:cNvSpPr>
          <p:nvPr/>
        </p:nvSpPr>
        <p:spPr>
          <a:xfrm>
            <a:off x="6078722" y="3184962"/>
            <a:ext cx="1102218" cy="3446979"/>
          </a:xfrm>
          <a:prstGeom prst="rect">
            <a:avLst/>
          </a:prstGeom>
          <a:solidFill>
            <a:srgbClr val="3494BA"/>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solidFill>
                  <a:schemeClr val="bg1"/>
                </a:solidFill>
              </a:rPr>
              <a:t>Les </a:t>
            </a:r>
            <a:r>
              <a:rPr lang="fr-FR" sz="1200" b="1" dirty="0">
                <a:solidFill>
                  <a:schemeClr val="bg1"/>
                </a:solidFill>
              </a:rPr>
              <a:t>compétences</a:t>
            </a:r>
            <a:r>
              <a:rPr lang="fr-FR" sz="1200" dirty="0">
                <a:solidFill>
                  <a:schemeClr val="bg1"/>
                </a:solidFill>
              </a:rPr>
              <a:t> sont les capacités qui peuvent être mises au service de la Communauté. Elles ne sont pas forcément celles des membres.</a:t>
            </a:r>
          </a:p>
          <a:p>
            <a:pPr marL="0" indent="0" algn="ctr">
              <a:buFont typeface="Arial" panose="020B0604020202020204" pitchFamily="34" charset="0"/>
              <a:buNone/>
            </a:pPr>
            <a:r>
              <a:rPr lang="fr-FR" sz="1200" dirty="0">
                <a:solidFill>
                  <a:schemeClr val="bg1"/>
                </a:solidFill>
              </a:rPr>
              <a:t>Les </a:t>
            </a:r>
            <a:r>
              <a:rPr lang="fr-FR" sz="1200" b="1" dirty="0">
                <a:solidFill>
                  <a:schemeClr val="bg1"/>
                </a:solidFill>
              </a:rPr>
              <a:t>compétences</a:t>
            </a:r>
            <a:r>
              <a:rPr lang="fr-FR" sz="1200" dirty="0">
                <a:solidFill>
                  <a:schemeClr val="bg1"/>
                </a:solidFill>
              </a:rPr>
              <a:t> sont des ressources immatérielles d’une communauté.</a:t>
            </a:r>
          </a:p>
        </p:txBody>
      </p:sp>
      <p:sp>
        <p:nvSpPr>
          <p:cNvPr id="5" name="Flèche : double flèche horizontale 4">
            <a:extLst>
              <a:ext uri="{FF2B5EF4-FFF2-40B4-BE49-F238E27FC236}">
                <a16:creationId xmlns:a16="http://schemas.microsoft.com/office/drawing/2014/main" id="{49A298F9-7020-8FF4-C03E-6B2A212DB77C}"/>
              </a:ext>
            </a:extLst>
          </p:cNvPr>
          <p:cNvSpPr/>
          <p:nvPr/>
        </p:nvSpPr>
        <p:spPr>
          <a:xfrm>
            <a:off x="119521" y="2018967"/>
            <a:ext cx="10450607" cy="341405"/>
          </a:xfrm>
          <a:prstGeom prst="lef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sz="1200" dirty="0"/>
              <a:t>Ressources matérielles                                                                                                                                                                                                           Ressources immatérielles</a:t>
            </a:r>
          </a:p>
        </p:txBody>
      </p:sp>
    </p:spTree>
    <p:extLst>
      <p:ext uri="{BB962C8B-B14F-4D97-AF65-F5344CB8AC3E}">
        <p14:creationId xmlns:p14="http://schemas.microsoft.com/office/powerpoint/2010/main" val="118336413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D86BB56-A91F-1A5C-2F75-C45E3C94FB56}"/>
              </a:ext>
            </a:extLst>
          </p:cNvPr>
          <p:cNvSpPr>
            <a:spLocks noGrp="1"/>
          </p:cNvSpPr>
          <p:nvPr>
            <p:ph type="title"/>
          </p:nvPr>
        </p:nvSpPr>
        <p:spPr>
          <a:xfrm>
            <a:off x="838200" y="365125"/>
            <a:ext cx="10515600" cy="1035835"/>
          </a:xfrm>
        </p:spPr>
        <p:txBody>
          <a:bodyPr>
            <a:normAutofit fontScale="90000"/>
          </a:bodyPr>
          <a:lstStyle/>
          <a:p>
            <a:r>
              <a:rPr lang="fr-FR" dirty="0"/>
              <a:t>Ressources de Communauté : </a:t>
            </a:r>
            <a:br>
              <a:rPr lang="fr-FR" dirty="0"/>
            </a:br>
            <a:r>
              <a:rPr lang="fr-FR" dirty="0"/>
              <a:t>Exemples de motivations de mise en commun</a:t>
            </a:r>
          </a:p>
        </p:txBody>
      </p:sp>
      <p:sp>
        <p:nvSpPr>
          <p:cNvPr id="60" name="Rectangle 59">
            <a:extLst>
              <a:ext uri="{FF2B5EF4-FFF2-40B4-BE49-F238E27FC236}">
                <a16:creationId xmlns:a16="http://schemas.microsoft.com/office/drawing/2014/main" id="{C98ACB06-3DF1-8C70-0EB8-09A67B22D329}"/>
              </a:ext>
            </a:extLst>
          </p:cNvPr>
          <p:cNvSpPr/>
          <p:nvPr/>
        </p:nvSpPr>
        <p:spPr>
          <a:xfrm>
            <a:off x="1282700" y="2620507"/>
            <a:ext cx="1107924" cy="21444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EXEMPLE</a:t>
            </a:r>
          </a:p>
          <a:p>
            <a:pPr algn="ctr"/>
            <a:endParaRPr lang="fr-FR" sz="1000" dirty="0">
              <a:solidFill>
                <a:schemeClr val="tx1"/>
              </a:solidFill>
            </a:endParaRPr>
          </a:p>
          <a:p>
            <a:pPr algn="ctr"/>
            <a:r>
              <a:rPr lang="fr-FR" sz="1000" dirty="0">
                <a:solidFill>
                  <a:schemeClr val="tx1"/>
                </a:solidFill>
              </a:rPr>
              <a:t>« Si on s’y mettait tous ensemble, on pourrait acheter une caméra de pointe plutôt que de se restreindre chacun à nos téléphones »</a:t>
            </a:r>
          </a:p>
        </p:txBody>
      </p:sp>
      <p:sp>
        <p:nvSpPr>
          <p:cNvPr id="61" name="Rectangle 60">
            <a:extLst>
              <a:ext uri="{FF2B5EF4-FFF2-40B4-BE49-F238E27FC236}">
                <a16:creationId xmlns:a16="http://schemas.microsoft.com/office/drawing/2014/main" id="{D7D56093-2981-25BD-AA7D-06C024A29AC9}"/>
              </a:ext>
            </a:extLst>
          </p:cNvPr>
          <p:cNvSpPr/>
          <p:nvPr/>
        </p:nvSpPr>
        <p:spPr>
          <a:xfrm>
            <a:off x="2484475" y="2626904"/>
            <a:ext cx="1107924" cy="21444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EXEMPLE</a:t>
            </a:r>
          </a:p>
          <a:p>
            <a:pPr algn="ctr"/>
            <a:endParaRPr lang="fr-FR" sz="1000" dirty="0">
              <a:solidFill>
                <a:schemeClr val="tx1"/>
              </a:solidFill>
            </a:endParaRPr>
          </a:p>
          <a:p>
            <a:pPr algn="ctr"/>
            <a:r>
              <a:rPr lang="fr-FR" sz="1000" dirty="0">
                <a:solidFill>
                  <a:schemeClr val="tx1"/>
                </a:solidFill>
              </a:rPr>
              <a:t>« La licence pour ce logiciel de modélisation est très chère par utilisateur, mais vu qu’on n’en a besoin que ponctuellement chacun, on peut en prendre une pour tous »</a:t>
            </a:r>
          </a:p>
        </p:txBody>
      </p:sp>
      <p:sp>
        <p:nvSpPr>
          <p:cNvPr id="62" name="Rectangle 61">
            <a:extLst>
              <a:ext uri="{FF2B5EF4-FFF2-40B4-BE49-F238E27FC236}">
                <a16:creationId xmlns:a16="http://schemas.microsoft.com/office/drawing/2014/main" id="{D035187C-B1C3-B0FA-6872-EA90BB7FDE3E}"/>
              </a:ext>
            </a:extLst>
          </p:cNvPr>
          <p:cNvSpPr/>
          <p:nvPr/>
        </p:nvSpPr>
        <p:spPr>
          <a:xfrm>
            <a:off x="7248964" y="2636085"/>
            <a:ext cx="1107924" cy="21444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EXEMPLE</a:t>
            </a:r>
          </a:p>
          <a:p>
            <a:pPr algn="ctr"/>
            <a:endParaRPr lang="fr-FR" sz="1000" dirty="0">
              <a:solidFill>
                <a:schemeClr val="tx1"/>
              </a:solidFill>
            </a:endParaRPr>
          </a:p>
          <a:p>
            <a:pPr algn="ctr"/>
            <a:r>
              <a:rPr lang="fr-FR" sz="1000" dirty="0">
                <a:solidFill>
                  <a:schemeClr val="tx1"/>
                </a:solidFill>
              </a:rPr>
              <a:t>« Il y a plein de bonnes pratiques sur la gestion de crise un peu partout dans les équipes, mais ils n’en profitent pas les uns les autres.</a:t>
            </a:r>
          </a:p>
        </p:txBody>
      </p:sp>
      <p:sp>
        <p:nvSpPr>
          <p:cNvPr id="63" name="Rectangle 62">
            <a:extLst>
              <a:ext uri="{FF2B5EF4-FFF2-40B4-BE49-F238E27FC236}">
                <a16:creationId xmlns:a16="http://schemas.microsoft.com/office/drawing/2014/main" id="{6BE90F49-3979-7554-B6ED-65E7D84604AB}"/>
              </a:ext>
            </a:extLst>
          </p:cNvPr>
          <p:cNvSpPr/>
          <p:nvPr/>
        </p:nvSpPr>
        <p:spPr>
          <a:xfrm>
            <a:off x="6084202" y="2636085"/>
            <a:ext cx="1107924" cy="21444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EXEMPLE</a:t>
            </a:r>
          </a:p>
          <a:p>
            <a:pPr algn="ctr"/>
            <a:endParaRPr lang="fr-FR" sz="1000" dirty="0">
              <a:solidFill>
                <a:schemeClr val="tx1"/>
              </a:solidFill>
            </a:endParaRPr>
          </a:p>
          <a:p>
            <a:pPr algn="ctr"/>
            <a:r>
              <a:rPr lang="fr-FR" sz="1000" dirty="0">
                <a:solidFill>
                  <a:schemeClr val="tx1"/>
                </a:solidFill>
              </a:rPr>
              <a:t>« Nous avions recruté sans le savoir dans l’équipe B quelqu’un qui s’avère être expert en XYZ. Cela pourrait bien être utile aussi aux équipes A et C »</a:t>
            </a:r>
          </a:p>
        </p:txBody>
      </p:sp>
      <p:sp>
        <p:nvSpPr>
          <p:cNvPr id="64" name="Rectangle 63">
            <a:extLst>
              <a:ext uri="{FF2B5EF4-FFF2-40B4-BE49-F238E27FC236}">
                <a16:creationId xmlns:a16="http://schemas.microsoft.com/office/drawing/2014/main" id="{8387B92C-9210-2F30-50C9-6E985D1CECBC}"/>
              </a:ext>
            </a:extLst>
          </p:cNvPr>
          <p:cNvSpPr/>
          <p:nvPr/>
        </p:nvSpPr>
        <p:spPr>
          <a:xfrm>
            <a:off x="8427602" y="2633417"/>
            <a:ext cx="1107924" cy="21444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EXEMPLE</a:t>
            </a:r>
          </a:p>
          <a:p>
            <a:pPr algn="ctr"/>
            <a:endParaRPr lang="fr-FR" sz="1000" dirty="0">
              <a:solidFill>
                <a:schemeClr val="tx1"/>
              </a:solidFill>
            </a:endParaRPr>
          </a:p>
          <a:p>
            <a:pPr algn="ctr"/>
            <a:r>
              <a:rPr lang="fr-FR" sz="1000" dirty="0">
                <a:solidFill>
                  <a:schemeClr val="tx1"/>
                </a:solidFill>
              </a:rPr>
              <a:t>« Nous sommes beaucoup à être intéressés par les questions de Cybersécurité, et faisons face aux même questionnements chacun de son côté au quotidien. »</a:t>
            </a:r>
          </a:p>
        </p:txBody>
      </p:sp>
      <p:sp>
        <p:nvSpPr>
          <p:cNvPr id="65" name="Rectangle 64">
            <a:extLst>
              <a:ext uri="{FF2B5EF4-FFF2-40B4-BE49-F238E27FC236}">
                <a16:creationId xmlns:a16="http://schemas.microsoft.com/office/drawing/2014/main" id="{AF777877-D4BF-C03A-FE9E-45AEFACA9583}"/>
              </a:ext>
            </a:extLst>
          </p:cNvPr>
          <p:cNvSpPr/>
          <p:nvPr/>
        </p:nvSpPr>
        <p:spPr>
          <a:xfrm>
            <a:off x="4919440" y="2636161"/>
            <a:ext cx="1107924" cy="21444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EXEMPLE</a:t>
            </a:r>
          </a:p>
          <a:p>
            <a:pPr algn="ctr"/>
            <a:endParaRPr lang="fr-FR" sz="1000" dirty="0">
              <a:solidFill>
                <a:schemeClr val="tx1"/>
              </a:solidFill>
            </a:endParaRPr>
          </a:p>
          <a:p>
            <a:pPr algn="ctr"/>
            <a:r>
              <a:rPr lang="fr-FR" sz="1000" dirty="0">
                <a:solidFill>
                  <a:schemeClr val="tx1"/>
                </a:solidFill>
              </a:rPr>
              <a:t>« Beaucoup de personnes sont sur site le vendredi et il y a peu de réunions de travail dans ce créneau horaire là. On pourrait en profiter »</a:t>
            </a:r>
          </a:p>
        </p:txBody>
      </p:sp>
      <p:sp>
        <p:nvSpPr>
          <p:cNvPr id="66" name="Rectangle 65">
            <a:extLst>
              <a:ext uri="{FF2B5EF4-FFF2-40B4-BE49-F238E27FC236}">
                <a16:creationId xmlns:a16="http://schemas.microsoft.com/office/drawing/2014/main" id="{22C37DDB-5850-1DD1-26DD-82F9BE7797AF}"/>
              </a:ext>
            </a:extLst>
          </p:cNvPr>
          <p:cNvSpPr/>
          <p:nvPr/>
        </p:nvSpPr>
        <p:spPr>
          <a:xfrm>
            <a:off x="86724" y="2613637"/>
            <a:ext cx="1107924" cy="21444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EXEMPLE</a:t>
            </a:r>
          </a:p>
          <a:p>
            <a:pPr algn="ctr"/>
            <a:endParaRPr lang="fr-FR" sz="1000" dirty="0">
              <a:solidFill>
                <a:schemeClr val="tx1"/>
              </a:solidFill>
            </a:endParaRPr>
          </a:p>
          <a:p>
            <a:pPr algn="ctr"/>
            <a:endParaRPr lang="fr-FR" sz="1000" dirty="0">
              <a:solidFill>
                <a:schemeClr val="tx1"/>
              </a:solidFill>
            </a:endParaRPr>
          </a:p>
          <a:p>
            <a:pPr algn="ctr"/>
            <a:r>
              <a:rPr lang="fr-FR" sz="1000" dirty="0">
                <a:solidFill>
                  <a:schemeClr val="tx1"/>
                </a:solidFill>
              </a:rPr>
              <a:t>« Nous avons de superbes locaux, on pourrait y organiser tellement d’activités ! »</a:t>
            </a:r>
          </a:p>
        </p:txBody>
      </p:sp>
      <p:sp>
        <p:nvSpPr>
          <p:cNvPr id="67" name="Rectangle 66">
            <a:extLst>
              <a:ext uri="{FF2B5EF4-FFF2-40B4-BE49-F238E27FC236}">
                <a16:creationId xmlns:a16="http://schemas.microsoft.com/office/drawing/2014/main" id="{20ADB691-13C9-51E5-4376-A8387EEF9270}"/>
              </a:ext>
            </a:extLst>
          </p:cNvPr>
          <p:cNvSpPr/>
          <p:nvPr/>
        </p:nvSpPr>
        <p:spPr>
          <a:xfrm>
            <a:off x="3699993" y="2632869"/>
            <a:ext cx="1107924" cy="21444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EXEMPLE</a:t>
            </a:r>
          </a:p>
          <a:p>
            <a:pPr algn="ctr"/>
            <a:endParaRPr lang="fr-FR" sz="1000" dirty="0">
              <a:solidFill>
                <a:schemeClr val="tx1"/>
              </a:solidFill>
            </a:endParaRPr>
          </a:p>
          <a:p>
            <a:pPr algn="ctr"/>
            <a:r>
              <a:rPr lang="fr-FR" sz="1000" dirty="0">
                <a:solidFill>
                  <a:schemeClr val="tx1"/>
                </a:solidFill>
              </a:rPr>
              <a:t>« La ligne innovation n’a pas été dépensée totalement par le département R&amp;D, et si on faisait plutôt un hackathon avec ce qui reste ? »</a:t>
            </a:r>
          </a:p>
        </p:txBody>
      </p:sp>
      <p:sp>
        <p:nvSpPr>
          <p:cNvPr id="68" name="Rectangle 67">
            <a:extLst>
              <a:ext uri="{FF2B5EF4-FFF2-40B4-BE49-F238E27FC236}">
                <a16:creationId xmlns:a16="http://schemas.microsoft.com/office/drawing/2014/main" id="{1FDDDC7A-F6A9-6430-1FE1-5B61A4F6E0B9}"/>
              </a:ext>
            </a:extLst>
          </p:cNvPr>
          <p:cNvSpPr/>
          <p:nvPr/>
        </p:nvSpPr>
        <p:spPr>
          <a:xfrm>
            <a:off x="9612753" y="2633417"/>
            <a:ext cx="1107924" cy="21444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EXEMPLE</a:t>
            </a:r>
          </a:p>
          <a:p>
            <a:pPr algn="ctr"/>
            <a:endParaRPr lang="fr-FR" sz="1000" dirty="0">
              <a:solidFill>
                <a:schemeClr val="tx1"/>
              </a:solidFill>
            </a:endParaRPr>
          </a:p>
          <a:p>
            <a:pPr algn="ctr"/>
            <a:r>
              <a:rPr lang="fr-FR" sz="1000" dirty="0">
                <a:solidFill>
                  <a:schemeClr val="tx1"/>
                </a:solidFill>
              </a:rPr>
              <a:t>« Alice a un public qui le suit sur les réseaux spécialisés, et le comité de direction est à l’écoute de Bob, Charlie a des contacts qui peuvent en trouver d’autres »</a:t>
            </a:r>
          </a:p>
        </p:txBody>
      </p:sp>
      <p:grpSp>
        <p:nvGrpSpPr>
          <p:cNvPr id="69" name="Groupe 68">
            <a:extLst>
              <a:ext uri="{FF2B5EF4-FFF2-40B4-BE49-F238E27FC236}">
                <a16:creationId xmlns:a16="http://schemas.microsoft.com/office/drawing/2014/main" id="{B3A91054-0F81-A06D-49A4-3D7BEF391746}"/>
              </a:ext>
            </a:extLst>
          </p:cNvPr>
          <p:cNvGrpSpPr/>
          <p:nvPr/>
        </p:nvGrpSpPr>
        <p:grpSpPr>
          <a:xfrm>
            <a:off x="0" y="1777630"/>
            <a:ext cx="11744852" cy="850503"/>
            <a:chOff x="363244" y="1304631"/>
            <a:chExt cx="11603415" cy="840262"/>
          </a:xfrm>
        </p:grpSpPr>
        <p:grpSp>
          <p:nvGrpSpPr>
            <p:cNvPr id="79" name="Groupe 78">
              <a:extLst>
                <a:ext uri="{FF2B5EF4-FFF2-40B4-BE49-F238E27FC236}">
                  <a16:creationId xmlns:a16="http://schemas.microsoft.com/office/drawing/2014/main" id="{9F72E4BA-2E4C-6C72-2D3F-3D72BC2E4C0E}"/>
                </a:ext>
              </a:extLst>
            </p:cNvPr>
            <p:cNvGrpSpPr/>
            <p:nvPr/>
          </p:nvGrpSpPr>
          <p:grpSpPr>
            <a:xfrm>
              <a:off x="2776447" y="1327063"/>
              <a:ext cx="1274604" cy="803509"/>
              <a:chOff x="6804504" y="2072289"/>
              <a:chExt cx="1274604" cy="803509"/>
            </a:xfrm>
          </p:grpSpPr>
          <p:sp>
            <p:nvSpPr>
              <p:cNvPr id="109" name="ZoneTexte 108">
                <a:extLst>
                  <a:ext uri="{FF2B5EF4-FFF2-40B4-BE49-F238E27FC236}">
                    <a16:creationId xmlns:a16="http://schemas.microsoft.com/office/drawing/2014/main" id="{D5DC9FB6-B3E6-8942-602F-FCA03CA07F8E}"/>
                  </a:ext>
                </a:extLst>
              </p:cNvPr>
              <p:cNvSpPr txBox="1"/>
              <p:nvPr/>
            </p:nvSpPr>
            <p:spPr>
              <a:xfrm>
                <a:off x="6804504" y="2603019"/>
                <a:ext cx="1274604" cy="272779"/>
              </a:xfrm>
              <a:prstGeom prst="rect">
                <a:avLst/>
              </a:prstGeom>
              <a:noFill/>
            </p:spPr>
            <p:txBody>
              <a:bodyPr wrap="square">
                <a:spAutoFit/>
              </a:bodyPr>
              <a:lstStyle/>
              <a:p>
                <a:pPr algn="ctr"/>
                <a:r>
                  <a:rPr lang="fr-FR" sz="900" dirty="0"/>
                  <a:t>Outils</a:t>
                </a:r>
              </a:p>
            </p:txBody>
          </p:sp>
          <p:pic>
            <p:nvPicPr>
              <p:cNvPr id="110" name="Graphique 109" descr="Chat avec un remplissage uni">
                <a:extLst>
                  <a:ext uri="{FF2B5EF4-FFF2-40B4-BE49-F238E27FC236}">
                    <a16:creationId xmlns:a16="http://schemas.microsoft.com/office/drawing/2014/main" id="{CD7971D7-6BA1-3EA8-03FB-20A1492B986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213206" y="2072289"/>
                <a:ext cx="457200" cy="457200"/>
              </a:xfrm>
              <a:prstGeom prst="rect">
                <a:avLst/>
              </a:prstGeom>
            </p:spPr>
          </p:pic>
        </p:grpSp>
        <p:grpSp>
          <p:nvGrpSpPr>
            <p:cNvPr id="82" name="Groupe 81">
              <a:extLst>
                <a:ext uri="{FF2B5EF4-FFF2-40B4-BE49-F238E27FC236}">
                  <a16:creationId xmlns:a16="http://schemas.microsoft.com/office/drawing/2014/main" id="{40BD025A-B070-04C3-0781-4B5418A7B337}"/>
                </a:ext>
              </a:extLst>
            </p:cNvPr>
            <p:cNvGrpSpPr/>
            <p:nvPr/>
          </p:nvGrpSpPr>
          <p:grpSpPr>
            <a:xfrm>
              <a:off x="5213379" y="1327063"/>
              <a:ext cx="1032426" cy="803509"/>
              <a:chOff x="5551821" y="2072289"/>
              <a:chExt cx="1032426" cy="803509"/>
            </a:xfrm>
          </p:grpSpPr>
          <p:sp>
            <p:nvSpPr>
              <p:cNvPr id="107" name="ZoneTexte 106">
                <a:extLst>
                  <a:ext uri="{FF2B5EF4-FFF2-40B4-BE49-F238E27FC236}">
                    <a16:creationId xmlns:a16="http://schemas.microsoft.com/office/drawing/2014/main" id="{E31655FB-C514-C079-9580-64E55E93B3A0}"/>
                  </a:ext>
                </a:extLst>
              </p:cNvPr>
              <p:cNvSpPr txBox="1"/>
              <p:nvPr/>
            </p:nvSpPr>
            <p:spPr>
              <a:xfrm>
                <a:off x="5551821" y="2603019"/>
                <a:ext cx="1032426" cy="272779"/>
              </a:xfrm>
              <a:prstGeom prst="rect">
                <a:avLst/>
              </a:prstGeom>
              <a:noFill/>
            </p:spPr>
            <p:txBody>
              <a:bodyPr wrap="square">
                <a:spAutoFit/>
              </a:bodyPr>
              <a:lstStyle/>
              <a:p>
                <a:pPr algn="ctr"/>
                <a:r>
                  <a:rPr lang="fr-FR" sz="900" dirty="0"/>
                  <a:t>Disponibilité</a:t>
                </a:r>
              </a:p>
            </p:txBody>
          </p:sp>
          <p:pic>
            <p:nvPicPr>
              <p:cNvPr id="108" name="Graphique 107" descr="Sablier 60% avec un remplissage uni">
                <a:extLst>
                  <a:ext uri="{FF2B5EF4-FFF2-40B4-BE49-F238E27FC236}">
                    <a16:creationId xmlns:a16="http://schemas.microsoft.com/office/drawing/2014/main" id="{397EEDFC-CD4F-A484-4E57-79DD24058B6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47251" y="2072289"/>
                <a:ext cx="457200" cy="457200"/>
              </a:xfrm>
              <a:prstGeom prst="rect">
                <a:avLst/>
              </a:prstGeom>
            </p:spPr>
          </p:pic>
        </p:grpSp>
        <p:grpSp>
          <p:nvGrpSpPr>
            <p:cNvPr id="83" name="Groupe 82">
              <a:extLst>
                <a:ext uri="{FF2B5EF4-FFF2-40B4-BE49-F238E27FC236}">
                  <a16:creationId xmlns:a16="http://schemas.microsoft.com/office/drawing/2014/main" id="{447E4C7E-39A0-0351-BAAE-CB78A3527E76}"/>
                </a:ext>
              </a:extLst>
            </p:cNvPr>
            <p:cNvGrpSpPr/>
            <p:nvPr/>
          </p:nvGrpSpPr>
          <p:grpSpPr>
            <a:xfrm>
              <a:off x="8728205" y="1319376"/>
              <a:ext cx="1032426" cy="803509"/>
              <a:chOff x="4204166" y="2072289"/>
              <a:chExt cx="1032426" cy="803509"/>
            </a:xfrm>
          </p:grpSpPr>
          <p:sp>
            <p:nvSpPr>
              <p:cNvPr id="105" name="ZoneTexte 104">
                <a:extLst>
                  <a:ext uri="{FF2B5EF4-FFF2-40B4-BE49-F238E27FC236}">
                    <a16:creationId xmlns:a16="http://schemas.microsoft.com/office/drawing/2014/main" id="{D938ACB8-75DF-3BAE-8B0E-07C1565C33A9}"/>
                  </a:ext>
                </a:extLst>
              </p:cNvPr>
              <p:cNvSpPr txBox="1"/>
              <p:nvPr/>
            </p:nvSpPr>
            <p:spPr>
              <a:xfrm>
                <a:off x="4204166" y="2603019"/>
                <a:ext cx="1032426" cy="272779"/>
              </a:xfrm>
              <a:prstGeom prst="rect">
                <a:avLst/>
              </a:prstGeom>
              <a:noFill/>
            </p:spPr>
            <p:txBody>
              <a:bodyPr wrap="square">
                <a:spAutoFit/>
              </a:bodyPr>
              <a:lstStyle/>
              <a:p>
                <a:pPr algn="ctr"/>
                <a:r>
                  <a:rPr lang="fr-FR" sz="900" dirty="0"/>
                  <a:t>Motivations</a:t>
                </a:r>
              </a:p>
            </p:txBody>
          </p:sp>
          <p:pic>
            <p:nvPicPr>
              <p:cNvPr id="106" name="Graphique 105" descr="Flèches de chevron avec un remplissage uni">
                <a:extLst>
                  <a:ext uri="{FF2B5EF4-FFF2-40B4-BE49-F238E27FC236}">
                    <a16:creationId xmlns:a16="http://schemas.microsoft.com/office/drawing/2014/main" id="{0CAD572D-E6D5-2612-718D-1321F836E91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491779" y="2072289"/>
                <a:ext cx="457200" cy="457200"/>
              </a:xfrm>
              <a:prstGeom prst="rect">
                <a:avLst/>
              </a:prstGeom>
            </p:spPr>
          </p:pic>
        </p:grpSp>
        <p:grpSp>
          <p:nvGrpSpPr>
            <p:cNvPr id="84" name="Groupe 83">
              <a:extLst>
                <a:ext uri="{FF2B5EF4-FFF2-40B4-BE49-F238E27FC236}">
                  <a16:creationId xmlns:a16="http://schemas.microsoft.com/office/drawing/2014/main" id="{B318F676-FE0F-95D0-366B-B6260BD3B731}"/>
                </a:ext>
              </a:extLst>
            </p:cNvPr>
            <p:cNvGrpSpPr/>
            <p:nvPr/>
          </p:nvGrpSpPr>
          <p:grpSpPr>
            <a:xfrm>
              <a:off x="6379681" y="1319376"/>
              <a:ext cx="1032426" cy="803509"/>
              <a:chOff x="2428298" y="2091339"/>
              <a:chExt cx="1032426" cy="803509"/>
            </a:xfrm>
          </p:grpSpPr>
          <p:sp>
            <p:nvSpPr>
              <p:cNvPr id="103" name="ZoneTexte 102">
                <a:extLst>
                  <a:ext uri="{FF2B5EF4-FFF2-40B4-BE49-F238E27FC236}">
                    <a16:creationId xmlns:a16="http://schemas.microsoft.com/office/drawing/2014/main" id="{999F7B99-49C5-21A5-72D8-56DD3A1A16C5}"/>
                  </a:ext>
                </a:extLst>
              </p:cNvPr>
              <p:cNvSpPr txBox="1"/>
              <p:nvPr/>
            </p:nvSpPr>
            <p:spPr>
              <a:xfrm>
                <a:off x="2428298" y="2622069"/>
                <a:ext cx="1032426" cy="272779"/>
              </a:xfrm>
              <a:prstGeom prst="rect">
                <a:avLst/>
              </a:prstGeom>
              <a:noFill/>
            </p:spPr>
            <p:txBody>
              <a:bodyPr wrap="square">
                <a:spAutoFit/>
              </a:bodyPr>
              <a:lstStyle/>
              <a:p>
                <a:pPr algn="ctr"/>
                <a:r>
                  <a:rPr lang="fr-FR" sz="900" dirty="0"/>
                  <a:t>Compétences</a:t>
                </a:r>
              </a:p>
            </p:txBody>
          </p:sp>
          <p:pic>
            <p:nvPicPr>
              <p:cNvPr id="104" name="Graphique 103" descr="Tête avec engrenages avec un remplissage uni">
                <a:extLst>
                  <a:ext uri="{FF2B5EF4-FFF2-40B4-BE49-F238E27FC236}">
                    <a16:creationId xmlns:a16="http://schemas.microsoft.com/office/drawing/2014/main" id="{536F8B41-E6B7-BE77-0F8B-39928816C23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732130" y="2091339"/>
                <a:ext cx="457200" cy="457200"/>
              </a:xfrm>
              <a:prstGeom prst="rect">
                <a:avLst/>
              </a:prstGeom>
            </p:spPr>
          </p:pic>
        </p:grpSp>
        <p:grpSp>
          <p:nvGrpSpPr>
            <p:cNvPr id="85" name="Groupe 84">
              <a:extLst>
                <a:ext uri="{FF2B5EF4-FFF2-40B4-BE49-F238E27FC236}">
                  <a16:creationId xmlns:a16="http://schemas.microsoft.com/office/drawing/2014/main" id="{D9B29900-8196-02D1-D898-35F901CF82C6}"/>
                </a:ext>
              </a:extLst>
            </p:cNvPr>
            <p:cNvGrpSpPr/>
            <p:nvPr/>
          </p:nvGrpSpPr>
          <p:grpSpPr>
            <a:xfrm>
              <a:off x="1816849" y="1329133"/>
              <a:ext cx="754455" cy="803509"/>
              <a:chOff x="236639" y="2072289"/>
              <a:chExt cx="754455" cy="803509"/>
            </a:xfrm>
          </p:grpSpPr>
          <p:sp>
            <p:nvSpPr>
              <p:cNvPr id="101" name="ZoneTexte 100">
                <a:extLst>
                  <a:ext uri="{FF2B5EF4-FFF2-40B4-BE49-F238E27FC236}">
                    <a16:creationId xmlns:a16="http://schemas.microsoft.com/office/drawing/2014/main" id="{34E06F71-F274-19F1-73FB-6E7835461B1B}"/>
                  </a:ext>
                </a:extLst>
              </p:cNvPr>
              <p:cNvSpPr txBox="1"/>
              <p:nvPr/>
            </p:nvSpPr>
            <p:spPr>
              <a:xfrm>
                <a:off x="236639" y="2603019"/>
                <a:ext cx="754455" cy="272779"/>
              </a:xfrm>
              <a:prstGeom prst="rect">
                <a:avLst/>
              </a:prstGeom>
              <a:noFill/>
            </p:spPr>
            <p:txBody>
              <a:bodyPr wrap="square">
                <a:spAutoFit/>
              </a:bodyPr>
              <a:lstStyle/>
              <a:p>
                <a:pPr algn="ctr"/>
                <a:r>
                  <a:rPr lang="fr-FR" sz="900" dirty="0"/>
                  <a:t>Matériel</a:t>
                </a:r>
              </a:p>
            </p:txBody>
          </p:sp>
          <p:pic>
            <p:nvPicPr>
              <p:cNvPr id="102" name="Graphique 101" descr="Diable avec un remplissage uni">
                <a:extLst>
                  <a:ext uri="{FF2B5EF4-FFF2-40B4-BE49-F238E27FC236}">
                    <a16:creationId xmlns:a16="http://schemas.microsoft.com/office/drawing/2014/main" id="{CFE3C903-D999-5926-B663-6A17303C2E8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66612" y="2072289"/>
                <a:ext cx="457200" cy="457200"/>
              </a:xfrm>
              <a:prstGeom prst="rect">
                <a:avLst/>
              </a:prstGeom>
            </p:spPr>
          </p:pic>
        </p:grpSp>
        <p:grpSp>
          <p:nvGrpSpPr>
            <p:cNvPr id="86" name="Groupe 85">
              <a:extLst>
                <a:ext uri="{FF2B5EF4-FFF2-40B4-BE49-F238E27FC236}">
                  <a16:creationId xmlns:a16="http://schemas.microsoft.com/office/drawing/2014/main" id="{A8086ABA-9F7D-5507-0160-7E00053E22B1}"/>
                </a:ext>
              </a:extLst>
            </p:cNvPr>
            <p:cNvGrpSpPr/>
            <p:nvPr/>
          </p:nvGrpSpPr>
          <p:grpSpPr>
            <a:xfrm>
              <a:off x="7339961" y="1323986"/>
              <a:ext cx="1381765" cy="803509"/>
              <a:chOff x="1276816" y="2072289"/>
              <a:chExt cx="1381765" cy="803509"/>
            </a:xfrm>
          </p:grpSpPr>
          <p:sp>
            <p:nvSpPr>
              <p:cNvPr id="99" name="ZoneTexte 98">
                <a:extLst>
                  <a:ext uri="{FF2B5EF4-FFF2-40B4-BE49-F238E27FC236}">
                    <a16:creationId xmlns:a16="http://schemas.microsoft.com/office/drawing/2014/main" id="{E45F7648-690F-FD80-B58A-5059717C8E65}"/>
                  </a:ext>
                </a:extLst>
              </p:cNvPr>
              <p:cNvSpPr txBox="1"/>
              <p:nvPr/>
            </p:nvSpPr>
            <p:spPr>
              <a:xfrm>
                <a:off x="1276816" y="2603019"/>
                <a:ext cx="1381765" cy="272779"/>
              </a:xfrm>
              <a:prstGeom prst="rect">
                <a:avLst/>
              </a:prstGeom>
              <a:noFill/>
            </p:spPr>
            <p:txBody>
              <a:bodyPr wrap="square">
                <a:spAutoFit/>
              </a:bodyPr>
              <a:lstStyle/>
              <a:p>
                <a:pPr algn="ctr"/>
                <a:r>
                  <a:rPr lang="fr-FR" sz="900" dirty="0"/>
                  <a:t>Informations clé</a:t>
                </a:r>
              </a:p>
            </p:txBody>
          </p:sp>
          <p:pic>
            <p:nvPicPr>
              <p:cNvPr id="100" name="Graphique 99" descr="Informations avec un remplissage uni">
                <a:extLst>
                  <a:ext uri="{FF2B5EF4-FFF2-40B4-BE49-F238E27FC236}">
                    <a16:creationId xmlns:a16="http://schemas.microsoft.com/office/drawing/2014/main" id="{1B7AFE12-14C3-AAF7-D151-85D2E26FA04B}"/>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726018" y="2072289"/>
                <a:ext cx="478914" cy="478914"/>
              </a:xfrm>
              <a:prstGeom prst="rect">
                <a:avLst/>
              </a:prstGeom>
            </p:spPr>
          </p:pic>
        </p:grpSp>
        <p:grpSp>
          <p:nvGrpSpPr>
            <p:cNvPr id="87" name="Groupe 86">
              <a:extLst>
                <a:ext uri="{FF2B5EF4-FFF2-40B4-BE49-F238E27FC236}">
                  <a16:creationId xmlns:a16="http://schemas.microsoft.com/office/drawing/2014/main" id="{DE63F872-AE54-E726-935F-23C09717B59E}"/>
                </a:ext>
              </a:extLst>
            </p:cNvPr>
            <p:cNvGrpSpPr/>
            <p:nvPr/>
          </p:nvGrpSpPr>
          <p:grpSpPr>
            <a:xfrm>
              <a:off x="363244" y="1341384"/>
              <a:ext cx="1274604" cy="803509"/>
              <a:chOff x="8215494" y="2072289"/>
              <a:chExt cx="1274604" cy="803509"/>
            </a:xfrm>
          </p:grpSpPr>
          <p:sp>
            <p:nvSpPr>
              <p:cNvPr id="97" name="ZoneTexte 96">
                <a:extLst>
                  <a:ext uri="{FF2B5EF4-FFF2-40B4-BE49-F238E27FC236}">
                    <a16:creationId xmlns:a16="http://schemas.microsoft.com/office/drawing/2014/main" id="{DC43CF99-938D-0795-E530-30F42DED0111}"/>
                  </a:ext>
                </a:extLst>
              </p:cNvPr>
              <p:cNvSpPr txBox="1"/>
              <p:nvPr/>
            </p:nvSpPr>
            <p:spPr>
              <a:xfrm>
                <a:off x="8215494" y="2603019"/>
                <a:ext cx="1274604" cy="272779"/>
              </a:xfrm>
              <a:prstGeom prst="rect">
                <a:avLst/>
              </a:prstGeom>
              <a:noFill/>
            </p:spPr>
            <p:txBody>
              <a:bodyPr wrap="square">
                <a:spAutoFit/>
              </a:bodyPr>
              <a:lstStyle/>
              <a:p>
                <a:pPr algn="ctr"/>
                <a:r>
                  <a:rPr lang="fr-FR" sz="900" dirty="0"/>
                  <a:t>Espaces et lieux</a:t>
                </a:r>
              </a:p>
            </p:txBody>
          </p:sp>
          <p:pic>
            <p:nvPicPr>
              <p:cNvPr id="98" name="Graphique 97" descr="Conseil d’administration avec un remplissage uni">
                <a:extLst>
                  <a:ext uri="{FF2B5EF4-FFF2-40B4-BE49-F238E27FC236}">
                    <a16:creationId xmlns:a16="http://schemas.microsoft.com/office/drawing/2014/main" id="{B1F73312-B460-9DB9-5AF4-3DCC7F1F012F}"/>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574409" y="2072289"/>
                <a:ext cx="556773" cy="556773"/>
              </a:xfrm>
              <a:prstGeom prst="rect">
                <a:avLst/>
              </a:prstGeom>
            </p:spPr>
          </p:pic>
        </p:grpSp>
        <p:grpSp>
          <p:nvGrpSpPr>
            <p:cNvPr id="88" name="Groupe 87">
              <a:extLst>
                <a:ext uri="{FF2B5EF4-FFF2-40B4-BE49-F238E27FC236}">
                  <a16:creationId xmlns:a16="http://schemas.microsoft.com/office/drawing/2014/main" id="{AD761902-6255-5A3A-7A43-7B2DF8715D96}"/>
                </a:ext>
              </a:extLst>
            </p:cNvPr>
            <p:cNvGrpSpPr/>
            <p:nvPr/>
          </p:nvGrpSpPr>
          <p:grpSpPr>
            <a:xfrm>
              <a:off x="4195824" y="1322881"/>
              <a:ext cx="764501" cy="803509"/>
              <a:chOff x="9827467" y="2072289"/>
              <a:chExt cx="764501" cy="803509"/>
            </a:xfrm>
          </p:grpSpPr>
          <p:pic>
            <p:nvPicPr>
              <p:cNvPr id="95" name="Graphique 94" descr="Tirelire avec un remplissage uni">
                <a:extLst>
                  <a:ext uri="{FF2B5EF4-FFF2-40B4-BE49-F238E27FC236}">
                    <a16:creationId xmlns:a16="http://schemas.microsoft.com/office/drawing/2014/main" id="{BA6F3A29-1F34-A398-88BA-5019B70F08D2}"/>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956969" y="2072289"/>
                <a:ext cx="540000" cy="540000"/>
              </a:xfrm>
              <a:prstGeom prst="rect">
                <a:avLst/>
              </a:prstGeom>
            </p:spPr>
          </p:pic>
          <p:sp>
            <p:nvSpPr>
              <p:cNvPr id="96" name="ZoneTexte 95">
                <a:extLst>
                  <a:ext uri="{FF2B5EF4-FFF2-40B4-BE49-F238E27FC236}">
                    <a16:creationId xmlns:a16="http://schemas.microsoft.com/office/drawing/2014/main" id="{AABDFD66-CC8F-3908-F3A4-078D0C2F94D5}"/>
                  </a:ext>
                </a:extLst>
              </p:cNvPr>
              <p:cNvSpPr txBox="1"/>
              <p:nvPr/>
            </p:nvSpPr>
            <p:spPr>
              <a:xfrm>
                <a:off x="9827467" y="2603019"/>
                <a:ext cx="764501" cy="272779"/>
              </a:xfrm>
              <a:prstGeom prst="rect">
                <a:avLst/>
              </a:prstGeom>
              <a:noFill/>
            </p:spPr>
            <p:txBody>
              <a:bodyPr wrap="square">
                <a:spAutoFit/>
              </a:bodyPr>
              <a:lstStyle/>
              <a:p>
                <a:pPr algn="ctr"/>
                <a:r>
                  <a:rPr lang="fr-FR" sz="900" dirty="0"/>
                  <a:t>Budget</a:t>
                </a:r>
              </a:p>
            </p:txBody>
          </p:sp>
        </p:grpSp>
        <p:grpSp>
          <p:nvGrpSpPr>
            <p:cNvPr id="89" name="Groupe 88">
              <a:extLst>
                <a:ext uri="{FF2B5EF4-FFF2-40B4-BE49-F238E27FC236}">
                  <a16:creationId xmlns:a16="http://schemas.microsoft.com/office/drawing/2014/main" id="{BA9B75FA-E2B2-35A9-B1B0-91BCDF8419BA}"/>
                </a:ext>
              </a:extLst>
            </p:cNvPr>
            <p:cNvGrpSpPr/>
            <p:nvPr/>
          </p:nvGrpSpPr>
          <p:grpSpPr>
            <a:xfrm>
              <a:off x="11202158" y="1327063"/>
              <a:ext cx="764501" cy="803509"/>
              <a:chOff x="11150144" y="2072289"/>
              <a:chExt cx="764501" cy="803509"/>
            </a:xfrm>
          </p:grpSpPr>
          <p:pic>
            <p:nvPicPr>
              <p:cNvPr id="93" name="Graphique 92" descr="Badge point d’interrogation avec un remplissage uni">
                <a:extLst>
                  <a:ext uri="{FF2B5EF4-FFF2-40B4-BE49-F238E27FC236}">
                    <a16:creationId xmlns:a16="http://schemas.microsoft.com/office/drawing/2014/main" id="{44A17640-AC1C-2636-DB65-1D77925D6C4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1270657" y="2072289"/>
                <a:ext cx="540000" cy="540000"/>
              </a:xfrm>
              <a:prstGeom prst="rect">
                <a:avLst/>
              </a:prstGeom>
            </p:spPr>
          </p:pic>
          <p:sp>
            <p:nvSpPr>
              <p:cNvPr id="94" name="ZoneTexte 93">
                <a:extLst>
                  <a:ext uri="{FF2B5EF4-FFF2-40B4-BE49-F238E27FC236}">
                    <a16:creationId xmlns:a16="http://schemas.microsoft.com/office/drawing/2014/main" id="{C75C1A3C-6BE5-763F-C0E3-FF2B9D1ED0C3}"/>
                  </a:ext>
                </a:extLst>
              </p:cNvPr>
              <p:cNvSpPr txBox="1"/>
              <p:nvPr/>
            </p:nvSpPr>
            <p:spPr>
              <a:xfrm>
                <a:off x="11150144" y="2603019"/>
                <a:ext cx="764501" cy="272779"/>
              </a:xfrm>
              <a:prstGeom prst="rect">
                <a:avLst/>
              </a:prstGeom>
              <a:noFill/>
            </p:spPr>
            <p:txBody>
              <a:bodyPr wrap="square">
                <a:spAutoFit/>
              </a:bodyPr>
              <a:lstStyle/>
              <a:p>
                <a:pPr algn="ctr"/>
                <a:r>
                  <a:rPr lang="fr-FR" sz="900" dirty="0"/>
                  <a:t>Autres</a:t>
                </a:r>
              </a:p>
            </p:txBody>
          </p:sp>
        </p:grpSp>
        <p:grpSp>
          <p:nvGrpSpPr>
            <p:cNvPr id="90" name="Groupe 89">
              <a:extLst>
                <a:ext uri="{FF2B5EF4-FFF2-40B4-BE49-F238E27FC236}">
                  <a16:creationId xmlns:a16="http://schemas.microsoft.com/office/drawing/2014/main" id="{45D839D3-695C-C5E3-CDA4-590DE5429440}"/>
                </a:ext>
              </a:extLst>
            </p:cNvPr>
            <p:cNvGrpSpPr/>
            <p:nvPr/>
          </p:nvGrpSpPr>
          <p:grpSpPr>
            <a:xfrm>
              <a:off x="9754481" y="1304631"/>
              <a:ext cx="1326669" cy="822863"/>
              <a:chOff x="9651618" y="1361747"/>
              <a:chExt cx="1326669" cy="822863"/>
            </a:xfrm>
          </p:grpSpPr>
          <p:pic>
            <p:nvPicPr>
              <p:cNvPr id="91" name="Graphique 90" descr="Signe pouce en haut avec un remplissage uni">
                <a:extLst>
                  <a:ext uri="{FF2B5EF4-FFF2-40B4-BE49-F238E27FC236}">
                    <a16:creationId xmlns:a16="http://schemas.microsoft.com/office/drawing/2014/main" id="{8F495387-C0C6-C761-F0C9-DE54C2C9AA75}"/>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0057766" y="1361747"/>
                <a:ext cx="514374" cy="514374"/>
              </a:xfrm>
              <a:prstGeom prst="rect">
                <a:avLst/>
              </a:prstGeom>
            </p:spPr>
          </p:pic>
          <p:sp>
            <p:nvSpPr>
              <p:cNvPr id="92" name="ZoneTexte 91">
                <a:extLst>
                  <a:ext uri="{FF2B5EF4-FFF2-40B4-BE49-F238E27FC236}">
                    <a16:creationId xmlns:a16="http://schemas.microsoft.com/office/drawing/2014/main" id="{2E3CC7A0-42F4-3213-5A45-037902BE872C}"/>
                  </a:ext>
                </a:extLst>
              </p:cNvPr>
              <p:cNvSpPr txBox="1"/>
              <p:nvPr/>
            </p:nvSpPr>
            <p:spPr>
              <a:xfrm>
                <a:off x="9651618" y="1911831"/>
                <a:ext cx="1326669" cy="272779"/>
              </a:xfrm>
              <a:prstGeom prst="rect">
                <a:avLst/>
              </a:prstGeom>
              <a:noFill/>
            </p:spPr>
            <p:txBody>
              <a:bodyPr wrap="square">
                <a:spAutoFit/>
              </a:bodyPr>
              <a:lstStyle/>
              <a:p>
                <a:pPr algn="ctr"/>
                <a:r>
                  <a:rPr lang="fr-FR" sz="900" dirty="0"/>
                  <a:t>Soutien extérieur</a:t>
                </a:r>
              </a:p>
            </p:txBody>
          </p:sp>
        </p:grpSp>
      </p:grpSp>
    </p:spTree>
    <p:extLst>
      <p:ext uri="{BB962C8B-B14F-4D97-AF65-F5344CB8AC3E}">
        <p14:creationId xmlns:p14="http://schemas.microsoft.com/office/powerpoint/2010/main" val="216886577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1E842DC-86DF-3D4B-2C11-D1A96A4CFFA1}"/>
              </a:ext>
            </a:extLst>
          </p:cNvPr>
          <p:cNvSpPr>
            <a:spLocks noGrp="1"/>
          </p:cNvSpPr>
          <p:nvPr>
            <p:ph type="title"/>
          </p:nvPr>
        </p:nvSpPr>
        <p:spPr>
          <a:xfrm>
            <a:off x="838200" y="365125"/>
            <a:ext cx="10515600" cy="1053005"/>
          </a:xfrm>
        </p:spPr>
        <p:txBody>
          <a:bodyPr>
            <a:normAutofit/>
          </a:bodyPr>
          <a:lstStyle/>
          <a:p>
            <a:r>
              <a:rPr lang="fr-FR" sz="3200" dirty="0"/>
              <a:t>Exemples de Communautés et ressources mises en commun correspondantes</a:t>
            </a:r>
          </a:p>
        </p:txBody>
      </p:sp>
      <p:sp>
        <p:nvSpPr>
          <p:cNvPr id="35" name="Rectangle 34">
            <a:extLst>
              <a:ext uri="{FF2B5EF4-FFF2-40B4-BE49-F238E27FC236}">
                <a16:creationId xmlns:a16="http://schemas.microsoft.com/office/drawing/2014/main" id="{B7A6254A-85DA-7B99-9C88-663D3E531F7E}"/>
              </a:ext>
            </a:extLst>
          </p:cNvPr>
          <p:cNvSpPr/>
          <p:nvPr/>
        </p:nvSpPr>
        <p:spPr>
          <a:xfrm>
            <a:off x="2727767" y="257168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Imprimante 3D difficile d’acquisition individuellement</a:t>
            </a:r>
          </a:p>
        </p:txBody>
      </p:sp>
      <p:sp>
        <p:nvSpPr>
          <p:cNvPr id="36" name="Rectangle 35">
            <a:extLst>
              <a:ext uri="{FF2B5EF4-FFF2-40B4-BE49-F238E27FC236}">
                <a16:creationId xmlns:a16="http://schemas.microsoft.com/office/drawing/2014/main" id="{D737F8A7-E064-84C0-9F67-BBD486ED6CEB}"/>
              </a:ext>
            </a:extLst>
          </p:cNvPr>
          <p:cNvSpPr/>
          <p:nvPr/>
        </p:nvSpPr>
        <p:spPr>
          <a:xfrm>
            <a:off x="268919" y="3214710"/>
            <a:ext cx="1115735" cy="9060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Exemple 1 </a:t>
            </a:r>
            <a:r>
              <a:rPr lang="fr-FR" sz="1200" dirty="0">
                <a:solidFill>
                  <a:schemeClr val="tx1"/>
                </a:solidFill>
              </a:rPr>
              <a:t>: </a:t>
            </a:r>
          </a:p>
          <a:p>
            <a:pPr algn="ctr"/>
            <a:r>
              <a:rPr lang="fr-FR" sz="1200" dirty="0">
                <a:solidFill>
                  <a:schemeClr val="tx1"/>
                </a:solidFill>
              </a:rPr>
              <a:t>Une Communauté </a:t>
            </a:r>
            <a:r>
              <a:rPr lang="fr-FR" sz="1200" i="1" dirty="0" err="1">
                <a:solidFill>
                  <a:schemeClr val="tx1"/>
                </a:solidFill>
              </a:rPr>
              <a:t>FabLab</a:t>
            </a:r>
            <a:r>
              <a:rPr lang="fr-FR" sz="1200" i="1" dirty="0">
                <a:solidFill>
                  <a:schemeClr val="tx1"/>
                </a:solidFill>
              </a:rPr>
              <a:t> </a:t>
            </a:r>
            <a:r>
              <a:rPr lang="fr-FR" sz="1200" dirty="0">
                <a:solidFill>
                  <a:schemeClr val="tx1"/>
                </a:solidFill>
              </a:rPr>
              <a:t>de l’entreprise</a:t>
            </a:r>
          </a:p>
        </p:txBody>
      </p:sp>
      <p:sp>
        <p:nvSpPr>
          <p:cNvPr id="37" name="Rectangle 36">
            <a:extLst>
              <a:ext uri="{FF2B5EF4-FFF2-40B4-BE49-F238E27FC236}">
                <a16:creationId xmlns:a16="http://schemas.microsoft.com/office/drawing/2014/main" id="{628E2E7F-005D-9375-0785-C8DA2087C064}"/>
              </a:ext>
            </a:extLst>
          </p:cNvPr>
          <p:cNvSpPr/>
          <p:nvPr/>
        </p:nvSpPr>
        <p:spPr>
          <a:xfrm>
            <a:off x="2727766" y="3282945"/>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Matériel pour idéation et Design </a:t>
            </a:r>
            <a:r>
              <a:rPr lang="fr-FR" sz="800" dirty="0" err="1"/>
              <a:t>Thinking</a:t>
            </a:r>
            <a:r>
              <a:rPr lang="fr-FR" sz="800" dirty="0"/>
              <a:t> (post-it, tableaux, …)</a:t>
            </a:r>
          </a:p>
        </p:txBody>
      </p:sp>
      <p:sp>
        <p:nvSpPr>
          <p:cNvPr id="38" name="Rectangle 37">
            <a:extLst>
              <a:ext uri="{FF2B5EF4-FFF2-40B4-BE49-F238E27FC236}">
                <a16:creationId xmlns:a16="http://schemas.microsoft.com/office/drawing/2014/main" id="{D3766C3D-FED4-C585-84C5-14A09BBF397F}"/>
              </a:ext>
            </a:extLst>
          </p:cNvPr>
          <p:cNvSpPr/>
          <p:nvPr/>
        </p:nvSpPr>
        <p:spPr>
          <a:xfrm>
            <a:off x="187131" y="5297986"/>
            <a:ext cx="1115735" cy="14887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Exemple 2 </a:t>
            </a:r>
            <a:r>
              <a:rPr lang="fr-FR" sz="1200" dirty="0">
                <a:solidFill>
                  <a:schemeClr val="tx1"/>
                </a:solidFill>
              </a:rPr>
              <a:t>: </a:t>
            </a:r>
          </a:p>
          <a:p>
            <a:pPr algn="ctr"/>
            <a:r>
              <a:rPr lang="fr-FR" sz="1200" dirty="0">
                <a:solidFill>
                  <a:schemeClr val="tx1"/>
                </a:solidFill>
              </a:rPr>
              <a:t>Une petite Communauté </a:t>
            </a:r>
            <a:r>
              <a:rPr lang="fr-FR" sz="1200" i="1" dirty="0">
                <a:solidFill>
                  <a:schemeClr val="tx1"/>
                </a:solidFill>
              </a:rPr>
              <a:t>DEVOPS </a:t>
            </a:r>
            <a:r>
              <a:rPr lang="fr-FR" sz="1200" dirty="0">
                <a:solidFill>
                  <a:schemeClr val="tx1"/>
                </a:solidFill>
              </a:rPr>
              <a:t>à l’échelle d’un service (plusieurs équipes)</a:t>
            </a:r>
          </a:p>
        </p:txBody>
      </p:sp>
      <p:sp>
        <p:nvSpPr>
          <p:cNvPr id="39" name="Rectangle 38">
            <a:extLst>
              <a:ext uri="{FF2B5EF4-FFF2-40B4-BE49-F238E27FC236}">
                <a16:creationId xmlns:a16="http://schemas.microsoft.com/office/drawing/2014/main" id="{964A9313-E3A4-41DD-B6A6-78641F092DAE}"/>
              </a:ext>
            </a:extLst>
          </p:cNvPr>
          <p:cNvSpPr/>
          <p:nvPr/>
        </p:nvSpPr>
        <p:spPr>
          <a:xfrm>
            <a:off x="9170602" y="257168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Goût commun pour l’innovation</a:t>
            </a:r>
          </a:p>
        </p:txBody>
      </p:sp>
      <p:sp>
        <p:nvSpPr>
          <p:cNvPr id="40" name="Rectangle 39">
            <a:extLst>
              <a:ext uri="{FF2B5EF4-FFF2-40B4-BE49-F238E27FC236}">
                <a16:creationId xmlns:a16="http://schemas.microsoft.com/office/drawing/2014/main" id="{4CBE2270-C732-8F51-BE49-D5E4CC029AEE}"/>
              </a:ext>
            </a:extLst>
          </p:cNvPr>
          <p:cNvSpPr/>
          <p:nvPr/>
        </p:nvSpPr>
        <p:spPr>
          <a:xfrm>
            <a:off x="1639049" y="257168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Accès à un tiers lieu pour Idéation, échanges,  Fabrication </a:t>
            </a:r>
          </a:p>
        </p:txBody>
      </p:sp>
      <p:sp>
        <p:nvSpPr>
          <p:cNvPr id="42" name="Rectangle 41">
            <a:extLst>
              <a:ext uri="{FF2B5EF4-FFF2-40B4-BE49-F238E27FC236}">
                <a16:creationId xmlns:a16="http://schemas.microsoft.com/office/drawing/2014/main" id="{3EE5A871-87AA-4A1A-2951-DD4788AE587B}"/>
              </a:ext>
            </a:extLst>
          </p:cNvPr>
          <p:cNvSpPr/>
          <p:nvPr/>
        </p:nvSpPr>
        <p:spPr>
          <a:xfrm>
            <a:off x="5958089" y="257168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Présence sur le même site</a:t>
            </a:r>
          </a:p>
        </p:txBody>
      </p:sp>
      <p:sp>
        <p:nvSpPr>
          <p:cNvPr id="43" name="Rectangle 42">
            <a:extLst>
              <a:ext uri="{FF2B5EF4-FFF2-40B4-BE49-F238E27FC236}">
                <a16:creationId xmlns:a16="http://schemas.microsoft.com/office/drawing/2014/main" id="{81C5F310-4401-2752-E8A8-CC24562E3510}"/>
              </a:ext>
            </a:extLst>
          </p:cNvPr>
          <p:cNvSpPr/>
          <p:nvPr/>
        </p:nvSpPr>
        <p:spPr>
          <a:xfrm>
            <a:off x="4925766" y="257168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Budgets innovation de l’entreprise</a:t>
            </a:r>
          </a:p>
        </p:txBody>
      </p:sp>
      <p:sp>
        <p:nvSpPr>
          <p:cNvPr id="44" name="Rectangle 43">
            <a:extLst>
              <a:ext uri="{FF2B5EF4-FFF2-40B4-BE49-F238E27FC236}">
                <a16:creationId xmlns:a16="http://schemas.microsoft.com/office/drawing/2014/main" id="{9B8D0E35-0366-951A-5826-866243627C7F}"/>
              </a:ext>
            </a:extLst>
          </p:cNvPr>
          <p:cNvSpPr/>
          <p:nvPr/>
        </p:nvSpPr>
        <p:spPr>
          <a:xfrm>
            <a:off x="7048973" y="257168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Présence d’un consultant Design </a:t>
            </a:r>
            <a:r>
              <a:rPr lang="fr-FR" sz="800" dirty="0" err="1"/>
              <a:t>Thinking</a:t>
            </a:r>
            <a:r>
              <a:rPr lang="fr-FR" sz="800" dirty="0"/>
              <a:t> à temps partiel</a:t>
            </a:r>
          </a:p>
        </p:txBody>
      </p:sp>
      <p:sp>
        <p:nvSpPr>
          <p:cNvPr id="45" name="Rectangle 44">
            <a:extLst>
              <a:ext uri="{FF2B5EF4-FFF2-40B4-BE49-F238E27FC236}">
                <a16:creationId xmlns:a16="http://schemas.microsoft.com/office/drawing/2014/main" id="{ADFFEE88-D254-E9D9-F08B-3EDED8E78116}"/>
              </a:ext>
            </a:extLst>
          </p:cNvPr>
          <p:cNvSpPr/>
          <p:nvPr/>
        </p:nvSpPr>
        <p:spPr>
          <a:xfrm>
            <a:off x="8041382" y="257168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Expériences des membres dans leurs métiers</a:t>
            </a:r>
          </a:p>
        </p:txBody>
      </p:sp>
      <p:sp>
        <p:nvSpPr>
          <p:cNvPr id="46" name="Rectangle 45">
            <a:extLst>
              <a:ext uri="{FF2B5EF4-FFF2-40B4-BE49-F238E27FC236}">
                <a16:creationId xmlns:a16="http://schemas.microsoft.com/office/drawing/2014/main" id="{99F29B37-1F35-FBDC-C99C-2AD399CC8E53}"/>
              </a:ext>
            </a:extLst>
          </p:cNvPr>
          <p:cNvSpPr/>
          <p:nvPr/>
        </p:nvSpPr>
        <p:spPr>
          <a:xfrm>
            <a:off x="10238007" y="257168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Différents managers dans l’entreprise férus d’innovation</a:t>
            </a:r>
          </a:p>
        </p:txBody>
      </p:sp>
      <p:pic>
        <p:nvPicPr>
          <p:cNvPr id="48" name="Graphique 47" descr="Brainstorming de groupe avec un remplissage uni">
            <a:extLst>
              <a:ext uri="{FF2B5EF4-FFF2-40B4-BE49-F238E27FC236}">
                <a16:creationId xmlns:a16="http://schemas.microsoft.com/office/drawing/2014/main" id="{0B0BEF34-A8D8-D201-7D94-E151938BC73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8466" y="2402365"/>
            <a:ext cx="914400" cy="914400"/>
          </a:xfrm>
          <a:prstGeom prst="rect">
            <a:avLst/>
          </a:prstGeom>
        </p:spPr>
      </p:pic>
      <p:sp>
        <p:nvSpPr>
          <p:cNvPr id="49" name="Rectangle 48">
            <a:extLst>
              <a:ext uri="{FF2B5EF4-FFF2-40B4-BE49-F238E27FC236}">
                <a16:creationId xmlns:a16="http://schemas.microsoft.com/office/drawing/2014/main" id="{1A539637-8B2E-8873-1EAA-E6C83270D938}"/>
              </a:ext>
            </a:extLst>
          </p:cNvPr>
          <p:cNvSpPr/>
          <p:nvPr/>
        </p:nvSpPr>
        <p:spPr>
          <a:xfrm>
            <a:off x="7005214" y="521203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Compétences clés en coaching DEVOPS d’un des membres</a:t>
            </a:r>
          </a:p>
        </p:txBody>
      </p:sp>
      <p:sp>
        <p:nvSpPr>
          <p:cNvPr id="50" name="Rectangle 49">
            <a:extLst>
              <a:ext uri="{FF2B5EF4-FFF2-40B4-BE49-F238E27FC236}">
                <a16:creationId xmlns:a16="http://schemas.microsoft.com/office/drawing/2014/main" id="{9638A160-6404-41D8-03EC-00A2B1D91D69}"/>
              </a:ext>
            </a:extLst>
          </p:cNvPr>
          <p:cNvSpPr/>
          <p:nvPr/>
        </p:nvSpPr>
        <p:spPr>
          <a:xfrm>
            <a:off x="9165663" y="521203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Problèmes individuels similaires sur la chaîne de production</a:t>
            </a:r>
          </a:p>
        </p:txBody>
      </p:sp>
      <p:sp>
        <p:nvSpPr>
          <p:cNvPr id="51" name="Rectangle 50">
            <a:extLst>
              <a:ext uri="{FF2B5EF4-FFF2-40B4-BE49-F238E27FC236}">
                <a16:creationId xmlns:a16="http://schemas.microsoft.com/office/drawing/2014/main" id="{6DE4FCF0-BD90-3557-2A79-D43CEE7A2517}"/>
              </a:ext>
            </a:extLst>
          </p:cNvPr>
          <p:cNvSpPr/>
          <p:nvPr/>
        </p:nvSpPr>
        <p:spPr>
          <a:xfrm>
            <a:off x="5969047" y="521203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Disponibilité Commune le vendredi matin 11H-12H (en ligne) </a:t>
            </a:r>
          </a:p>
        </p:txBody>
      </p:sp>
      <p:sp>
        <p:nvSpPr>
          <p:cNvPr id="52" name="Rectangle 51">
            <a:extLst>
              <a:ext uri="{FF2B5EF4-FFF2-40B4-BE49-F238E27FC236}">
                <a16:creationId xmlns:a16="http://schemas.microsoft.com/office/drawing/2014/main" id="{76F1A250-413D-F9B3-D610-03AF7FBE1D84}"/>
              </a:ext>
            </a:extLst>
          </p:cNvPr>
          <p:cNvSpPr/>
          <p:nvPr/>
        </p:nvSpPr>
        <p:spPr>
          <a:xfrm>
            <a:off x="8041382" y="521997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Liste de contacts dans le réseau professionnel DEVOPS</a:t>
            </a:r>
          </a:p>
        </p:txBody>
      </p:sp>
      <p:sp>
        <p:nvSpPr>
          <p:cNvPr id="53" name="Rectangle 52">
            <a:extLst>
              <a:ext uri="{FF2B5EF4-FFF2-40B4-BE49-F238E27FC236}">
                <a16:creationId xmlns:a16="http://schemas.microsoft.com/office/drawing/2014/main" id="{4EE9938F-0F9A-1936-0969-A8A7A7B7257C}"/>
              </a:ext>
            </a:extLst>
          </p:cNvPr>
          <p:cNvSpPr/>
          <p:nvPr/>
        </p:nvSpPr>
        <p:spPr>
          <a:xfrm>
            <a:off x="3849694" y="5210150"/>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Accès commun à de mêmes outils de discussion</a:t>
            </a:r>
          </a:p>
        </p:txBody>
      </p:sp>
      <p:pic>
        <p:nvPicPr>
          <p:cNvPr id="56" name="Graphique 55" descr="Serveur avec un remplissage uni">
            <a:extLst>
              <a:ext uri="{FF2B5EF4-FFF2-40B4-BE49-F238E27FC236}">
                <a16:creationId xmlns:a16="http://schemas.microsoft.com/office/drawing/2014/main" id="{7FA06B73-2563-9122-4FB3-4DC6DFB3789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8466" y="4521665"/>
            <a:ext cx="776321" cy="776321"/>
          </a:xfrm>
          <a:prstGeom prst="rect">
            <a:avLst/>
          </a:prstGeom>
        </p:spPr>
      </p:pic>
      <p:cxnSp>
        <p:nvCxnSpPr>
          <p:cNvPr id="58" name="Connecteur droit 57">
            <a:extLst>
              <a:ext uri="{FF2B5EF4-FFF2-40B4-BE49-F238E27FC236}">
                <a16:creationId xmlns:a16="http://schemas.microsoft.com/office/drawing/2014/main" id="{636D728F-5C72-1306-0531-65897F487930}"/>
              </a:ext>
            </a:extLst>
          </p:cNvPr>
          <p:cNvCxnSpPr>
            <a:cxnSpLocks/>
          </p:cNvCxnSpPr>
          <p:nvPr/>
        </p:nvCxnSpPr>
        <p:spPr>
          <a:xfrm>
            <a:off x="0" y="4345496"/>
            <a:ext cx="12192000"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Rectangle 60">
            <a:extLst>
              <a:ext uri="{FF2B5EF4-FFF2-40B4-BE49-F238E27FC236}">
                <a16:creationId xmlns:a16="http://schemas.microsoft.com/office/drawing/2014/main" id="{428D93D8-DAAC-21A2-37C7-AB238842B12C}"/>
              </a:ext>
            </a:extLst>
          </p:cNvPr>
          <p:cNvSpPr/>
          <p:nvPr/>
        </p:nvSpPr>
        <p:spPr>
          <a:xfrm>
            <a:off x="8041381" y="604233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Expériences diverses dans le domaine DEVOPS</a:t>
            </a:r>
          </a:p>
        </p:txBody>
      </p:sp>
      <p:sp>
        <p:nvSpPr>
          <p:cNvPr id="62" name="Rectangle 61">
            <a:extLst>
              <a:ext uri="{FF2B5EF4-FFF2-40B4-BE49-F238E27FC236}">
                <a16:creationId xmlns:a16="http://schemas.microsoft.com/office/drawing/2014/main" id="{0071B525-1843-DF06-A0AA-EF456BEC6457}"/>
              </a:ext>
            </a:extLst>
          </p:cNvPr>
          <p:cNvSpPr/>
          <p:nvPr/>
        </p:nvSpPr>
        <p:spPr>
          <a:xfrm>
            <a:off x="7005214" y="604233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Compétences de base des membres dans le DEVOPS</a:t>
            </a:r>
          </a:p>
        </p:txBody>
      </p:sp>
      <p:sp>
        <p:nvSpPr>
          <p:cNvPr id="63" name="Rectangle 62">
            <a:extLst>
              <a:ext uri="{FF2B5EF4-FFF2-40B4-BE49-F238E27FC236}">
                <a16:creationId xmlns:a16="http://schemas.microsoft.com/office/drawing/2014/main" id="{A6CC5983-9B6F-1FD9-A5F2-3E938DE892E8}"/>
              </a:ext>
            </a:extLst>
          </p:cNvPr>
          <p:cNvSpPr/>
          <p:nvPr/>
        </p:nvSpPr>
        <p:spPr>
          <a:xfrm>
            <a:off x="2740145" y="521203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Serveur de test à disposition</a:t>
            </a:r>
          </a:p>
        </p:txBody>
      </p:sp>
      <p:grpSp>
        <p:nvGrpSpPr>
          <p:cNvPr id="94" name="Groupe 93">
            <a:extLst>
              <a:ext uri="{FF2B5EF4-FFF2-40B4-BE49-F238E27FC236}">
                <a16:creationId xmlns:a16="http://schemas.microsoft.com/office/drawing/2014/main" id="{548E21D5-ACD0-4B64-2F08-20FC8D0B196C}"/>
              </a:ext>
            </a:extLst>
          </p:cNvPr>
          <p:cNvGrpSpPr/>
          <p:nvPr/>
        </p:nvGrpSpPr>
        <p:grpSpPr>
          <a:xfrm>
            <a:off x="1502874" y="1704886"/>
            <a:ext cx="10555285" cy="764360"/>
            <a:chOff x="363244" y="1304631"/>
            <a:chExt cx="11603415" cy="840262"/>
          </a:xfrm>
        </p:grpSpPr>
        <p:grpSp>
          <p:nvGrpSpPr>
            <p:cNvPr id="64" name="Groupe 63">
              <a:extLst>
                <a:ext uri="{FF2B5EF4-FFF2-40B4-BE49-F238E27FC236}">
                  <a16:creationId xmlns:a16="http://schemas.microsoft.com/office/drawing/2014/main" id="{6E2D242B-D340-A23F-C918-A546A413BB6E}"/>
                </a:ext>
              </a:extLst>
            </p:cNvPr>
            <p:cNvGrpSpPr/>
            <p:nvPr/>
          </p:nvGrpSpPr>
          <p:grpSpPr>
            <a:xfrm>
              <a:off x="2776447" y="1327063"/>
              <a:ext cx="1274604" cy="803509"/>
              <a:chOff x="6804504" y="2072289"/>
              <a:chExt cx="1274604" cy="803509"/>
            </a:xfrm>
          </p:grpSpPr>
          <p:sp>
            <p:nvSpPr>
              <p:cNvPr id="65" name="ZoneTexte 64">
                <a:extLst>
                  <a:ext uri="{FF2B5EF4-FFF2-40B4-BE49-F238E27FC236}">
                    <a16:creationId xmlns:a16="http://schemas.microsoft.com/office/drawing/2014/main" id="{9A94D015-B85A-8910-3AAE-42A7D78E8181}"/>
                  </a:ext>
                </a:extLst>
              </p:cNvPr>
              <p:cNvSpPr txBox="1"/>
              <p:nvPr/>
            </p:nvSpPr>
            <p:spPr>
              <a:xfrm>
                <a:off x="6804504" y="2603019"/>
                <a:ext cx="1274604" cy="272779"/>
              </a:xfrm>
              <a:prstGeom prst="rect">
                <a:avLst/>
              </a:prstGeom>
              <a:noFill/>
            </p:spPr>
            <p:txBody>
              <a:bodyPr wrap="square">
                <a:spAutoFit/>
              </a:bodyPr>
              <a:lstStyle/>
              <a:p>
                <a:pPr algn="ctr"/>
                <a:r>
                  <a:rPr lang="fr-FR" sz="900" dirty="0"/>
                  <a:t>Outils</a:t>
                </a:r>
              </a:p>
            </p:txBody>
          </p:sp>
          <p:pic>
            <p:nvPicPr>
              <p:cNvPr id="66" name="Graphique 65" descr="Chat avec un remplissage uni">
                <a:extLst>
                  <a:ext uri="{FF2B5EF4-FFF2-40B4-BE49-F238E27FC236}">
                    <a16:creationId xmlns:a16="http://schemas.microsoft.com/office/drawing/2014/main" id="{1C9C6759-F917-DE74-BFDF-9114B38C554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213206" y="2072289"/>
                <a:ext cx="457200" cy="457200"/>
              </a:xfrm>
              <a:prstGeom prst="rect">
                <a:avLst/>
              </a:prstGeom>
            </p:spPr>
          </p:pic>
        </p:grpSp>
        <p:grpSp>
          <p:nvGrpSpPr>
            <p:cNvPr id="67" name="Groupe 66">
              <a:extLst>
                <a:ext uri="{FF2B5EF4-FFF2-40B4-BE49-F238E27FC236}">
                  <a16:creationId xmlns:a16="http://schemas.microsoft.com/office/drawing/2014/main" id="{5A228AA8-C949-E1CC-67CE-63825BE98034}"/>
                </a:ext>
              </a:extLst>
            </p:cNvPr>
            <p:cNvGrpSpPr/>
            <p:nvPr/>
          </p:nvGrpSpPr>
          <p:grpSpPr>
            <a:xfrm>
              <a:off x="5213379" y="1327063"/>
              <a:ext cx="1032426" cy="803509"/>
              <a:chOff x="5551821" y="2072289"/>
              <a:chExt cx="1032426" cy="803509"/>
            </a:xfrm>
          </p:grpSpPr>
          <p:sp>
            <p:nvSpPr>
              <p:cNvPr id="68" name="ZoneTexte 67">
                <a:extLst>
                  <a:ext uri="{FF2B5EF4-FFF2-40B4-BE49-F238E27FC236}">
                    <a16:creationId xmlns:a16="http://schemas.microsoft.com/office/drawing/2014/main" id="{53736CBA-8758-99AB-48C4-F64B1A9EA857}"/>
                  </a:ext>
                </a:extLst>
              </p:cNvPr>
              <p:cNvSpPr txBox="1"/>
              <p:nvPr/>
            </p:nvSpPr>
            <p:spPr>
              <a:xfrm>
                <a:off x="5551821" y="2603019"/>
                <a:ext cx="1032426" cy="272779"/>
              </a:xfrm>
              <a:prstGeom prst="rect">
                <a:avLst/>
              </a:prstGeom>
              <a:noFill/>
            </p:spPr>
            <p:txBody>
              <a:bodyPr wrap="square">
                <a:spAutoFit/>
              </a:bodyPr>
              <a:lstStyle/>
              <a:p>
                <a:pPr algn="ctr"/>
                <a:r>
                  <a:rPr lang="fr-FR" sz="900" dirty="0"/>
                  <a:t>Disponibilité</a:t>
                </a:r>
              </a:p>
            </p:txBody>
          </p:sp>
          <p:pic>
            <p:nvPicPr>
              <p:cNvPr id="69" name="Graphique 68" descr="Sablier 60% avec un remplissage uni">
                <a:extLst>
                  <a:ext uri="{FF2B5EF4-FFF2-40B4-BE49-F238E27FC236}">
                    <a16:creationId xmlns:a16="http://schemas.microsoft.com/office/drawing/2014/main" id="{24B7AD1E-05B3-F909-1C1F-C116415B452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847251" y="2072289"/>
                <a:ext cx="457200" cy="457200"/>
              </a:xfrm>
              <a:prstGeom prst="rect">
                <a:avLst/>
              </a:prstGeom>
            </p:spPr>
          </p:pic>
        </p:grpSp>
        <p:grpSp>
          <p:nvGrpSpPr>
            <p:cNvPr id="70" name="Groupe 69">
              <a:extLst>
                <a:ext uri="{FF2B5EF4-FFF2-40B4-BE49-F238E27FC236}">
                  <a16:creationId xmlns:a16="http://schemas.microsoft.com/office/drawing/2014/main" id="{12BE8059-B61D-BA54-04EE-67E9B8D52DE7}"/>
                </a:ext>
              </a:extLst>
            </p:cNvPr>
            <p:cNvGrpSpPr/>
            <p:nvPr/>
          </p:nvGrpSpPr>
          <p:grpSpPr>
            <a:xfrm>
              <a:off x="8728205" y="1319376"/>
              <a:ext cx="1032426" cy="803509"/>
              <a:chOff x="4204166" y="2072289"/>
              <a:chExt cx="1032426" cy="803509"/>
            </a:xfrm>
          </p:grpSpPr>
          <p:sp>
            <p:nvSpPr>
              <p:cNvPr id="71" name="ZoneTexte 70">
                <a:extLst>
                  <a:ext uri="{FF2B5EF4-FFF2-40B4-BE49-F238E27FC236}">
                    <a16:creationId xmlns:a16="http://schemas.microsoft.com/office/drawing/2014/main" id="{61659DA4-6A19-689C-9827-A74F7DD149BB}"/>
                  </a:ext>
                </a:extLst>
              </p:cNvPr>
              <p:cNvSpPr txBox="1"/>
              <p:nvPr/>
            </p:nvSpPr>
            <p:spPr>
              <a:xfrm>
                <a:off x="4204166" y="2603019"/>
                <a:ext cx="1032426" cy="272779"/>
              </a:xfrm>
              <a:prstGeom prst="rect">
                <a:avLst/>
              </a:prstGeom>
              <a:noFill/>
            </p:spPr>
            <p:txBody>
              <a:bodyPr wrap="square">
                <a:spAutoFit/>
              </a:bodyPr>
              <a:lstStyle/>
              <a:p>
                <a:pPr algn="ctr"/>
                <a:r>
                  <a:rPr lang="fr-FR" sz="900" dirty="0"/>
                  <a:t>Motivations</a:t>
                </a:r>
              </a:p>
            </p:txBody>
          </p:sp>
          <p:pic>
            <p:nvPicPr>
              <p:cNvPr id="72" name="Graphique 71" descr="Flèches de chevron avec un remplissage uni">
                <a:extLst>
                  <a:ext uri="{FF2B5EF4-FFF2-40B4-BE49-F238E27FC236}">
                    <a16:creationId xmlns:a16="http://schemas.microsoft.com/office/drawing/2014/main" id="{941CCFFA-1711-5180-C08E-5C304B789F88}"/>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4491779" y="2072289"/>
                <a:ext cx="457200" cy="457200"/>
              </a:xfrm>
              <a:prstGeom prst="rect">
                <a:avLst/>
              </a:prstGeom>
            </p:spPr>
          </p:pic>
        </p:grpSp>
        <p:grpSp>
          <p:nvGrpSpPr>
            <p:cNvPr id="73" name="Groupe 72">
              <a:extLst>
                <a:ext uri="{FF2B5EF4-FFF2-40B4-BE49-F238E27FC236}">
                  <a16:creationId xmlns:a16="http://schemas.microsoft.com/office/drawing/2014/main" id="{94DB71C3-740D-FBF2-B2E2-7C8FCF262D45}"/>
                </a:ext>
              </a:extLst>
            </p:cNvPr>
            <p:cNvGrpSpPr/>
            <p:nvPr/>
          </p:nvGrpSpPr>
          <p:grpSpPr>
            <a:xfrm>
              <a:off x="6379681" y="1319376"/>
              <a:ext cx="1032426" cy="803509"/>
              <a:chOff x="2428298" y="2091339"/>
              <a:chExt cx="1032426" cy="803509"/>
            </a:xfrm>
          </p:grpSpPr>
          <p:sp>
            <p:nvSpPr>
              <p:cNvPr id="74" name="ZoneTexte 73">
                <a:extLst>
                  <a:ext uri="{FF2B5EF4-FFF2-40B4-BE49-F238E27FC236}">
                    <a16:creationId xmlns:a16="http://schemas.microsoft.com/office/drawing/2014/main" id="{27FC7049-3AF8-77E5-857F-EA33FD2AD2D8}"/>
                  </a:ext>
                </a:extLst>
              </p:cNvPr>
              <p:cNvSpPr txBox="1"/>
              <p:nvPr/>
            </p:nvSpPr>
            <p:spPr>
              <a:xfrm>
                <a:off x="2428298" y="2622069"/>
                <a:ext cx="1032426" cy="272779"/>
              </a:xfrm>
              <a:prstGeom prst="rect">
                <a:avLst/>
              </a:prstGeom>
              <a:noFill/>
            </p:spPr>
            <p:txBody>
              <a:bodyPr wrap="square">
                <a:spAutoFit/>
              </a:bodyPr>
              <a:lstStyle/>
              <a:p>
                <a:pPr algn="ctr"/>
                <a:r>
                  <a:rPr lang="fr-FR" sz="900" dirty="0"/>
                  <a:t>Compétences</a:t>
                </a:r>
              </a:p>
            </p:txBody>
          </p:sp>
          <p:pic>
            <p:nvPicPr>
              <p:cNvPr id="75" name="Graphique 74" descr="Tête avec engrenages avec un remplissage uni">
                <a:extLst>
                  <a:ext uri="{FF2B5EF4-FFF2-40B4-BE49-F238E27FC236}">
                    <a16:creationId xmlns:a16="http://schemas.microsoft.com/office/drawing/2014/main" id="{03EBA360-56DE-934B-E1EA-0B62AB4A3248}"/>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732130" y="2091339"/>
                <a:ext cx="457200" cy="457200"/>
              </a:xfrm>
              <a:prstGeom prst="rect">
                <a:avLst/>
              </a:prstGeom>
            </p:spPr>
          </p:pic>
        </p:grpSp>
        <p:grpSp>
          <p:nvGrpSpPr>
            <p:cNvPr id="76" name="Groupe 75">
              <a:extLst>
                <a:ext uri="{FF2B5EF4-FFF2-40B4-BE49-F238E27FC236}">
                  <a16:creationId xmlns:a16="http://schemas.microsoft.com/office/drawing/2014/main" id="{5B4C24F4-2FC3-85C8-1E3E-619322DBCF64}"/>
                </a:ext>
              </a:extLst>
            </p:cNvPr>
            <p:cNvGrpSpPr/>
            <p:nvPr/>
          </p:nvGrpSpPr>
          <p:grpSpPr>
            <a:xfrm>
              <a:off x="1816849" y="1329133"/>
              <a:ext cx="754455" cy="803509"/>
              <a:chOff x="236639" y="2072289"/>
              <a:chExt cx="754455" cy="803509"/>
            </a:xfrm>
          </p:grpSpPr>
          <p:sp>
            <p:nvSpPr>
              <p:cNvPr id="77" name="ZoneTexte 76">
                <a:extLst>
                  <a:ext uri="{FF2B5EF4-FFF2-40B4-BE49-F238E27FC236}">
                    <a16:creationId xmlns:a16="http://schemas.microsoft.com/office/drawing/2014/main" id="{A72F05E7-232F-55A4-5C97-2EB234920AB0}"/>
                  </a:ext>
                </a:extLst>
              </p:cNvPr>
              <p:cNvSpPr txBox="1"/>
              <p:nvPr/>
            </p:nvSpPr>
            <p:spPr>
              <a:xfrm>
                <a:off x="236639" y="2603019"/>
                <a:ext cx="754455" cy="272779"/>
              </a:xfrm>
              <a:prstGeom prst="rect">
                <a:avLst/>
              </a:prstGeom>
              <a:noFill/>
            </p:spPr>
            <p:txBody>
              <a:bodyPr wrap="square">
                <a:spAutoFit/>
              </a:bodyPr>
              <a:lstStyle/>
              <a:p>
                <a:pPr algn="ctr"/>
                <a:r>
                  <a:rPr lang="fr-FR" sz="900" dirty="0"/>
                  <a:t>Matériel</a:t>
                </a:r>
              </a:p>
            </p:txBody>
          </p:sp>
          <p:pic>
            <p:nvPicPr>
              <p:cNvPr id="78" name="Graphique 77" descr="Diable avec un remplissage uni">
                <a:extLst>
                  <a:ext uri="{FF2B5EF4-FFF2-40B4-BE49-F238E27FC236}">
                    <a16:creationId xmlns:a16="http://schemas.microsoft.com/office/drawing/2014/main" id="{E848D818-0576-2630-C5DB-A437D88DA10F}"/>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66612" y="2072289"/>
                <a:ext cx="457200" cy="457200"/>
              </a:xfrm>
              <a:prstGeom prst="rect">
                <a:avLst/>
              </a:prstGeom>
            </p:spPr>
          </p:pic>
        </p:grpSp>
        <p:grpSp>
          <p:nvGrpSpPr>
            <p:cNvPr id="79" name="Groupe 78">
              <a:extLst>
                <a:ext uri="{FF2B5EF4-FFF2-40B4-BE49-F238E27FC236}">
                  <a16:creationId xmlns:a16="http://schemas.microsoft.com/office/drawing/2014/main" id="{8DFF3699-1836-85A4-D726-C578FBAE499C}"/>
                </a:ext>
              </a:extLst>
            </p:cNvPr>
            <p:cNvGrpSpPr/>
            <p:nvPr/>
          </p:nvGrpSpPr>
          <p:grpSpPr>
            <a:xfrm>
              <a:off x="7339961" y="1323986"/>
              <a:ext cx="1381765" cy="803509"/>
              <a:chOff x="1276816" y="2072289"/>
              <a:chExt cx="1381765" cy="803509"/>
            </a:xfrm>
          </p:grpSpPr>
          <p:sp>
            <p:nvSpPr>
              <p:cNvPr id="80" name="ZoneTexte 79">
                <a:extLst>
                  <a:ext uri="{FF2B5EF4-FFF2-40B4-BE49-F238E27FC236}">
                    <a16:creationId xmlns:a16="http://schemas.microsoft.com/office/drawing/2014/main" id="{E6EF109C-811E-0C6E-C63A-C7D6C7CBD365}"/>
                  </a:ext>
                </a:extLst>
              </p:cNvPr>
              <p:cNvSpPr txBox="1"/>
              <p:nvPr/>
            </p:nvSpPr>
            <p:spPr>
              <a:xfrm>
                <a:off x="1276816" y="2603019"/>
                <a:ext cx="1381765" cy="272779"/>
              </a:xfrm>
              <a:prstGeom prst="rect">
                <a:avLst/>
              </a:prstGeom>
              <a:noFill/>
            </p:spPr>
            <p:txBody>
              <a:bodyPr wrap="square">
                <a:spAutoFit/>
              </a:bodyPr>
              <a:lstStyle/>
              <a:p>
                <a:pPr algn="ctr"/>
                <a:r>
                  <a:rPr lang="fr-FR" sz="900" dirty="0"/>
                  <a:t>Informations clé</a:t>
                </a:r>
              </a:p>
            </p:txBody>
          </p:sp>
          <p:pic>
            <p:nvPicPr>
              <p:cNvPr id="81" name="Graphique 80" descr="Informations avec un remplissage uni">
                <a:extLst>
                  <a:ext uri="{FF2B5EF4-FFF2-40B4-BE49-F238E27FC236}">
                    <a16:creationId xmlns:a16="http://schemas.microsoft.com/office/drawing/2014/main" id="{99BA7930-F0C5-5028-30A2-8EFFBD11C35F}"/>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726018" y="2072289"/>
                <a:ext cx="478914" cy="478914"/>
              </a:xfrm>
              <a:prstGeom prst="rect">
                <a:avLst/>
              </a:prstGeom>
            </p:spPr>
          </p:pic>
        </p:grpSp>
        <p:grpSp>
          <p:nvGrpSpPr>
            <p:cNvPr id="82" name="Groupe 81">
              <a:extLst>
                <a:ext uri="{FF2B5EF4-FFF2-40B4-BE49-F238E27FC236}">
                  <a16:creationId xmlns:a16="http://schemas.microsoft.com/office/drawing/2014/main" id="{E14D742A-1654-3709-83C7-0DEEBCA6B048}"/>
                </a:ext>
              </a:extLst>
            </p:cNvPr>
            <p:cNvGrpSpPr/>
            <p:nvPr/>
          </p:nvGrpSpPr>
          <p:grpSpPr>
            <a:xfrm>
              <a:off x="363244" y="1341384"/>
              <a:ext cx="1274604" cy="803509"/>
              <a:chOff x="8215494" y="2072289"/>
              <a:chExt cx="1274604" cy="803509"/>
            </a:xfrm>
          </p:grpSpPr>
          <p:sp>
            <p:nvSpPr>
              <p:cNvPr id="83" name="ZoneTexte 82">
                <a:extLst>
                  <a:ext uri="{FF2B5EF4-FFF2-40B4-BE49-F238E27FC236}">
                    <a16:creationId xmlns:a16="http://schemas.microsoft.com/office/drawing/2014/main" id="{A9AB7842-DBE2-B714-4434-6513C6C1F944}"/>
                  </a:ext>
                </a:extLst>
              </p:cNvPr>
              <p:cNvSpPr txBox="1"/>
              <p:nvPr/>
            </p:nvSpPr>
            <p:spPr>
              <a:xfrm>
                <a:off x="8215494" y="2603019"/>
                <a:ext cx="1274604" cy="272779"/>
              </a:xfrm>
              <a:prstGeom prst="rect">
                <a:avLst/>
              </a:prstGeom>
              <a:noFill/>
            </p:spPr>
            <p:txBody>
              <a:bodyPr wrap="square">
                <a:spAutoFit/>
              </a:bodyPr>
              <a:lstStyle/>
              <a:p>
                <a:pPr algn="ctr"/>
                <a:r>
                  <a:rPr lang="fr-FR" sz="900" dirty="0"/>
                  <a:t>Espaces et lieux</a:t>
                </a:r>
              </a:p>
            </p:txBody>
          </p:sp>
          <p:pic>
            <p:nvPicPr>
              <p:cNvPr id="84" name="Graphique 83" descr="Conseil d’administration avec un remplissage uni">
                <a:extLst>
                  <a:ext uri="{FF2B5EF4-FFF2-40B4-BE49-F238E27FC236}">
                    <a16:creationId xmlns:a16="http://schemas.microsoft.com/office/drawing/2014/main" id="{EDA1B139-82E3-787F-D5DC-2A6E90BC057B}"/>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8574409" y="2072289"/>
                <a:ext cx="556773" cy="556773"/>
              </a:xfrm>
              <a:prstGeom prst="rect">
                <a:avLst/>
              </a:prstGeom>
            </p:spPr>
          </p:pic>
        </p:grpSp>
        <p:grpSp>
          <p:nvGrpSpPr>
            <p:cNvPr id="85" name="Groupe 84">
              <a:extLst>
                <a:ext uri="{FF2B5EF4-FFF2-40B4-BE49-F238E27FC236}">
                  <a16:creationId xmlns:a16="http://schemas.microsoft.com/office/drawing/2014/main" id="{1E778F9B-F10C-B4B6-9492-58F726B2317A}"/>
                </a:ext>
              </a:extLst>
            </p:cNvPr>
            <p:cNvGrpSpPr/>
            <p:nvPr/>
          </p:nvGrpSpPr>
          <p:grpSpPr>
            <a:xfrm>
              <a:off x="4195824" y="1322881"/>
              <a:ext cx="764501" cy="803509"/>
              <a:chOff x="9827467" y="2072289"/>
              <a:chExt cx="764501" cy="803509"/>
            </a:xfrm>
          </p:grpSpPr>
          <p:pic>
            <p:nvPicPr>
              <p:cNvPr id="86" name="Graphique 85" descr="Tirelire avec un remplissage uni">
                <a:extLst>
                  <a:ext uri="{FF2B5EF4-FFF2-40B4-BE49-F238E27FC236}">
                    <a16:creationId xmlns:a16="http://schemas.microsoft.com/office/drawing/2014/main" id="{9F3AF6B5-B6CE-6DEF-E8C6-26F8F4AEC3F7}"/>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9956969" y="2072289"/>
                <a:ext cx="540000" cy="540000"/>
              </a:xfrm>
              <a:prstGeom prst="rect">
                <a:avLst/>
              </a:prstGeom>
            </p:spPr>
          </p:pic>
          <p:sp>
            <p:nvSpPr>
              <p:cNvPr id="87" name="ZoneTexte 86">
                <a:extLst>
                  <a:ext uri="{FF2B5EF4-FFF2-40B4-BE49-F238E27FC236}">
                    <a16:creationId xmlns:a16="http://schemas.microsoft.com/office/drawing/2014/main" id="{AEDC130F-F161-C626-7CA9-459B131A8BEA}"/>
                  </a:ext>
                </a:extLst>
              </p:cNvPr>
              <p:cNvSpPr txBox="1"/>
              <p:nvPr/>
            </p:nvSpPr>
            <p:spPr>
              <a:xfrm>
                <a:off x="9827467" y="2603019"/>
                <a:ext cx="764501" cy="272779"/>
              </a:xfrm>
              <a:prstGeom prst="rect">
                <a:avLst/>
              </a:prstGeom>
              <a:noFill/>
            </p:spPr>
            <p:txBody>
              <a:bodyPr wrap="square">
                <a:spAutoFit/>
              </a:bodyPr>
              <a:lstStyle/>
              <a:p>
                <a:pPr algn="ctr"/>
                <a:r>
                  <a:rPr lang="fr-FR" sz="900" dirty="0"/>
                  <a:t>Budget</a:t>
                </a:r>
              </a:p>
            </p:txBody>
          </p:sp>
        </p:grpSp>
        <p:grpSp>
          <p:nvGrpSpPr>
            <p:cNvPr id="88" name="Groupe 87">
              <a:extLst>
                <a:ext uri="{FF2B5EF4-FFF2-40B4-BE49-F238E27FC236}">
                  <a16:creationId xmlns:a16="http://schemas.microsoft.com/office/drawing/2014/main" id="{25254C80-A014-B3BD-60B4-D8D88B59511C}"/>
                </a:ext>
              </a:extLst>
            </p:cNvPr>
            <p:cNvGrpSpPr/>
            <p:nvPr/>
          </p:nvGrpSpPr>
          <p:grpSpPr>
            <a:xfrm>
              <a:off x="11202158" y="1327063"/>
              <a:ext cx="764501" cy="803509"/>
              <a:chOff x="11150144" y="2072289"/>
              <a:chExt cx="764501" cy="803509"/>
            </a:xfrm>
          </p:grpSpPr>
          <p:pic>
            <p:nvPicPr>
              <p:cNvPr id="89" name="Graphique 88" descr="Badge point d’interrogation avec un remplissage uni">
                <a:extLst>
                  <a:ext uri="{FF2B5EF4-FFF2-40B4-BE49-F238E27FC236}">
                    <a16:creationId xmlns:a16="http://schemas.microsoft.com/office/drawing/2014/main" id="{AFCBF9BA-1ACE-17C7-603C-2E036E573704}"/>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11270657" y="2072289"/>
                <a:ext cx="540000" cy="540000"/>
              </a:xfrm>
              <a:prstGeom prst="rect">
                <a:avLst/>
              </a:prstGeom>
            </p:spPr>
          </p:pic>
          <p:sp>
            <p:nvSpPr>
              <p:cNvPr id="90" name="ZoneTexte 89">
                <a:extLst>
                  <a:ext uri="{FF2B5EF4-FFF2-40B4-BE49-F238E27FC236}">
                    <a16:creationId xmlns:a16="http://schemas.microsoft.com/office/drawing/2014/main" id="{21389A82-4AE7-D152-F1B6-5CE8838AD01A}"/>
                  </a:ext>
                </a:extLst>
              </p:cNvPr>
              <p:cNvSpPr txBox="1"/>
              <p:nvPr/>
            </p:nvSpPr>
            <p:spPr>
              <a:xfrm>
                <a:off x="11150144" y="2603019"/>
                <a:ext cx="764501" cy="272779"/>
              </a:xfrm>
              <a:prstGeom prst="rect">
                <a:avLst/>
              </a:prstGeom>
              <a:noFill/>
            </p:spPr>
            <p:txBody>
              <a:bodyPr wrap="square">
                <a:spAutoFit/>
              </a:bodyPr>
              <a:lstStyle/>
              <a:p>
                <a:pPr algn="ctr"/>
                <a:r>
                  <a:rPr lang="fr-FR" sz="900" dirty="0"/>
                  <a:t>Autres</a:t>
                </a:r>
              </a:p>
            </p:txBody>
          </p:sp>
        </p:grpSp>
        <p:grpSp>
          <p:nvGrpSpPr>
            <p:cNvPr id="91" name="Groupe 90">
              <a:extLst>
                <a:ext uri="{FF2B5EF4-FFF2-40B4-BE49-F238E27FC236}">
                  <a16:creationId xmlns:a16="http://schemas.microsoft.com/office/drawing/2014/main" id="{61F89F81-5E80-8CA4-74E0-669FB3D0CCE9}"/>
                </a:ext>
              </a:extLst>
            </p:cNvPr>
            <p:cNvGrpSpPr/>
            <p:nvPr/>
          </p:nvGrpSpPr>
          <p:grpSpPr>
            <a:xfrm>
              <a:off x="9754481" y="1304631"/>
              <a:ext cx="1326669" cy="822863"/>
              <a:chOff x="9651618" y="1361747"/>
              <a:chExt cx="1326669" cy="822863"/>
            </a:xfrm>
          </p:grpSpPr>
          <p:pic>
            <p:nvPicPr>
              <p:cNvPr id="92" name="Graphique 91" descr="Signe pouce en haut avec un remplissage uni">
                <a:extLst>
                  <a:ext uri="{FF2B5EF4-FFF2-40B4-BE49-F238E27FC236}">
                    <a16:creationId xmlns:a16="http://schemas.microsoft.com/office/drawing/2014/main" id="{6E4F287D-363C-CAF4-FCDE-03EF3DF08F24}"/>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10057766" y="1361747"/>
                <a:ext cx="514374" cy="514374"/>
              </a:xfrm>
              <a:prstGeom prst="rect">
                <a:avLst/>
              </a:prstGeom>
            </p:spPr>
          </p:pic>
          <p:sp>
            <p:nvSpPr>
              <p:cNvPr id="93" name="ZoneTexte 92">
                <a:extLst>
                  <a:ext uri="{FF2B5EF4-FFF2-40B4-BE49-F238E27FC236}">
                    <a16:creationId xmlns:a16="http://schemas.microsoft.com/office/drawing/2014/main" id="{23D1CD88-E88B-8F64-30B9-C5034EF78F2D}"/>
                  </a:ext>
                </a:extLst>
              </p:cNvPr>
              <p:cNvSpPr txBox="1"/>
              <p:nvPr/>
            </p:nvSpPr>
            <p:spPr>
              <a:xfrm>
                <a:off x="9651618" y="1911831"/>
                <a:ext cx="1326669" cy="272779"/>
              </a:xfrm>
              <a:prstGeom prst="rect">
                <a:avLst/>
              </a:prstGeom>
              <a:noFill/>
            </p:spPr>
            <p:txBody>
              <a:bodyPr wrap="square">
                <a:spAutoFit/>
              </a:bodyPr>
              <a:lstStyle/>
              <a:p>
                <a:pPr algn="ctr"/>
                <a:r>
                  <a:rPr lang="fr-FR" sz="900" dirty="0"/>
                  <a:t>Soutien extérieur</a:t>
                </a:r>
              </a:p>
            </p:txBody>
          </p:sp>
        </p:grpSp>
      </p:grpSp>
      <p:grpSp>
        <p:nvGrpSpPr>
          <p:cNvPr id="95" name="Groupe 94">
            <a:extLst>
              <a:ext uri="{FF2B5EF4-FFF2-40B4-BE49-F238E27FC236}">
                <a16:creationId xmlns:a16="http://schemas.microsoft.com/office/drawing/2014/main" id="{5D5034B1-4656-89BD-9A47-916E4EAA52C3}"/>
              </a:ext>
            </a:extLst>
          </p:cNvPr>
          <p:cNvGrpSpPr/>
          <p:nvPr/>
        </p:nvGrpSpPr>
        <p:grpSpPr>
          <a:xfrm>
            <a:off x="1502874" y="4391930"/>
            <a:ext cx="10555285" cy="764360"/>
            <a:chOff x="363244" y="1304631"/>
            <a:chExt cx="11603415" cy="840262"/>
          </a:xfrm>
        </p:grpSpPr>
        <p:grpSp>
          <p:nvGrpSpPr>
            <p:cNvPr id="96" name="Groupe 95">
              <a:extLst>
                <a:ext uri="{FF2B5EF4-FFF2-40B4-BE49-F238E27FC236}">
                  <a16:creationId xmlns:a16="http://schemas.microsoft.com/office/drawing/2014/main" id="{501D43B8-5BF9-C1D1-01C2-78862E90B99E}"/>
                </a:ext>
              </a:extLst>
            </p:cNvPr>
            <p:cNvGrpSpPr/>
            <p:nvPr/>
          </p:nvGrpSpPr>
          <p:grpSpPr>
            <a:xfrm>
              <a:off x="2776447" y="1327063"/>
              <a:ext cx="1274604" cy="803509"/>
              <a:chOff x="6804504" y="2072289"/>
              <a:chExt cx="1274604" cy="803509"/>
            </a:xfrm>
          </p:grpSpPr>
          <p:sp>
            <p:nvSpPr>
              <p:cNvPr id="124" name="ZoneTexte 123">
                <a:extLst>
                  <a:ext uri="{FF2B5EF4-FFF2-40B4-BE49-F238E27FC236}">
                    <a16:creationId xmlns:a16="http://schemas.microsoft.com/office/drawing/2014/main" id="{6CCEEAFB-5C50-0EFD-1D4F-BD497DB801D8}"/>
                  </a:ext>
                </a:extLst>
              </p:cNvPr>
              <p:cNvSpPr txBox="1"/>
              <p:nvPr/>
            </p:nvSpPr>
            <p:spPr>
              <a:xfrm>
                <a:off x="6804504" y="2603019"/>
                <a:ext cx="1274604" cy="272779"/>
              </a:xfrm>
              <a:prstGeom prst="rect">
                <a:avLst/>
              </a:prstGeom>
              <a:noFill/>
            </p:spPr>
            <p:txBody>
              <a:bodyPr wrap="square">
                <a:spAutoFit/>
              </a:bodyPr>
              <a:lstStyle/>
              <a:p>
                <a:pPr algn="ctr"/>
                <a:r>
                  <a:rPr lang="fr-FR" sz="900" dirty="0"/>
                  <a:t>Outils</a:t>
                </a:r>
              </a:p>
            </p:txBody>
          </p:sp>
          <p:pic>
            <p:nvPicPr>
              <p:cNvPr id="125" name="Graphique 124" descr="Chat avec un remplissage uni">
                <a:extLst>
                  <a:ext uri="{FF2B5EF4-FFF2-40B4-BE49-F238E27FC236}">
                    <a16:creationId xmlns:a16="http://schemas.microsoft.com/office/drawing/2014/main" id="{CE4DA60E-36D2-9A5D-9709-050C1E7C640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213206" y="2072289"/>
                <a:ext cx="457200" cy="457200"/>
              </a:xfrm>
              <a:prstGeom prst="rect">
                <a:avLst/>
              </a:prstGeom>
            </p:spPr>
          </p:pic>
        </p:grpSp>
        <p:grpSp>
          <p:nvGrpSpPr>
            <p:cNvPr id="97" name="Groupe 96">
              <a:extLst>
                <a:ext uri="{FF2B5EF4-FFF2-40B4-BE49-F238E27FC236}">
                  <a16:creationId xmlns:a16="http://schemas.microsoft.com/office/drawing/2014/main" id="{EA6B7B90-A168-E688-B746-73E6F47998E1}"/>
                </a:ext>
              </a:extLst>
            </p:cNvPr>
            <p:cNvGrpSpPr/>
            <p:nvPr/>
          </p:nvGrpSpPr>
          <p:grpSpPr>
            <a:xfrm>
              <a:off x="5213379" y="1327063"/>
              <a:ext cx="1032426" cy="803509"/>
              <a:chOff x="5551821" y="2072289"/>
              <a:chExt cx="1032426" cy="803509"/>
            </a:xfrm>
          </p:grpSpPr>
          <p:sp>
            <p:nvSpPr>
              <p:cNvPr id="122" name="ZoneTexte 121">
                <a:extLst>
                  <a:ext uri="{FF2B5EF4-FFF2-40B4-BE49-F238E27FC236}">
                    <a16:creationId xmlns:a16="http://schemas.microsoft.com/office/drawing/2014/main" id="{7E2FC647-4BFA-B6E9-0A8A-8176C3D222FA}"/>
                  </a:ext>
                </a:extLst>
              </p:cNvPr>
              <p:cNvSpPr txBox="1"/>
              <p:nvPr/>
            </p:nvSpPr>
            <p:spPr>
              <a:xfrm>
                <a:off x="5551821" y="2603019"/>
                <a:ext cx="1032426" cy="272779"/>
              </a:xfrm>
              <a:prstGeom prst="rect">
                <a:avLst/>
              </a:prstGeom>
              <a:noFill/>
            </p:spPr>
            <p:txBody>
              <a:bodyPr wrap="square">
                <a:spAutoFit/>
              </a:bodyPr>
              <a:lstStyle/>
              <a:p>
                <a:pPr algn="ctr"/>
                <a:r>
                  <a:rPr lang="fr-FR" sz="900" dirty="0"/>
                  <a:t>Disponibilité</a:t>
                </a:r>
              </a:p>
            </p:txBody>
          </p:sp>
          <p:pic>
            <p:nvPicPr>
              <p:cNvPr id="123" name="Graphique 122" descr="Sablier 60% avec un remplissage uni">
                <a:extLst>
                  <a:ext uri="{FF2B5EF4-FFF2-40B4-BE49-F238E27FC236}">
                    <a16:creationId xmlns:a16="http://schemas.microsoft.com/office/drawing/2014/main" id="{102461B2-6399-F326-11EE-86DB39962F9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847251" y="2072289"/>
                <a:ext cx="457200" cy="457200"/>
              </a:xfrm>
              <a:prstGeom prst="rect">
                <a:avLst/>
              </a:prstGeom>
            </p:spPr>
          </p:pic>
        </p:grpSp>
        <p:grpSp>
          <p:nvGrpSpPr>
            <p:cNvPr id="98" name="Groupe 97">
              <a:extLst>
                <a:ext uri="{FF2B5EF4-FFF2-40B4-BE49-F238E27FC236}">
                  <a16:creationId xmlns:a16="http://schemas.microsoft.com/office/drawing/2014/main" id="{0AC35887-2C19-4D45-A51E-E732F29923C7}"/>
                </a:ext>
              </a:extLst>
            </p:cNvPr>
            <p:cNvGrpSpPr/>
            <p:nvPr/>
          </p:nvGrpSpPr>
          <p:grpSpPr>
            <a:xfrm>
              <a:off x="8728205" y="1319376"/>
              <a:ext cx="1032426" cy="803509"/>
              <a:chOff x="4204166" y="2072289"/>
              <a:chExt cx="1032426" cy="803509"/>
            </a:xfrm>
          </p:grpSpPr>
          <p:sp>
            <p:nvSpPr>
              <p:cNvPr id="120" name="ZoneTexte 119">
                <a:extLst>
                  <a:ext uri="{FF2B5EF4-FFF2-40B4-BE49-F238E27FC236}">
                    <a16:creationId xmlns:a16="http://schemas.microsoft.com/office/drawing/2014/main" id="{C6186A50-2CCC-CFB5-C494-937A73D33BE5}"/>
                  </a:ext>
                </a:extLst>
              </p:cNvPr>
              <p:cNvSpPr txBox="1"/>
              <p:nvPr/>
            </p:nvSpPr>
            <p:spPr>
              <a:xfrm>
                <a:off x="4204166" y="2603019"/>
                <a:ext cx="1032426" cy="272779"/>
              </a:xfrm>
              <a:prstGeom prst="rect">
                <a:avLst/>
              </a:prstGeom>
              <a:noFill/>
            </p:spPr>
            <p:txBody>
              <a:bodyPr wrap="square">
                <a:spAutoFit/>
              </a:bodyPr>
              <a:lstStyle/>
              <a:p>
                <a:pPr algn="ctr"/>
                <a:r>
                  <a:rPr lang="fr-FR" sz="900" dirty="0"/>
                  <a:t>Motivations</a:t>
                </a:r>
              </a:p>
            </p:txBody>
          </p:sp>
          <p:pic>
            <p:nvPicPr>
              <p:cNvPr id="121" name="Graphique 120" descr="Flèches de chevron avec un remplissage uni">
                <a:extLst>
                  <a:ext uri="{FF2B5EF4-FFF2-40B4-BE49-F238E27FC236}">
                    <a16:creationId xmlns:a16="http://schemas.microsoft.com/office/drawing/2014/main" id="{102B8845-DC1D-9A99-BBEC-C34B171877E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4491779" y="2072289"/>
                <a:ext cx="457200" cy="457200"/>
              </a:xfrm>
              <a:prstGeom prst="rect">
                <a:avLst/>
              </a:prstGeom>
            </p:spPr>
          </p:pic>
        </p:grpSp>
        <p:grpSp>
          <p:nvGrpSpPr>
            <p:cNvPr id="99" name="Groupe 98">
              <a:extLst>
                <a:ext uri="{FF2B5EF4-FFF2-40B4-BE49-F238E27FC236}">
                  <a16:creationId xmlns:a16="http://schemas.microsoft.com/office/drawing/2014/main" id="{3D0B0ED2-787E-3DD4-2236-169DB56D05EC}"/>
                </a:ext>
              </a:extLst>
            </p:cNvPr>
            <p:cNvGrpSpPr/>
            <p:nvPr/>
          </p:nvGrpSpPr>
          <p:grpSpPr>
            <a:xfrm>
              <a:off x="6379681" y="1319376"/>
              <a:ext cx="1032426" cy="803509"/>
              <a:chOff x="2428298" y="2091339"/>
              <a:chExt cx="1032426" cy="803509"/>
            </a:xfrm>
          </p:grpSpPr>
          <p:sp>
            <p:nvSpPr>
              <p:cNvPr id="118" name="ZoneTexte 117">
                <a:extLst>
                  <a:ext uri="{FF2B5EF4-FFF2-40B4-BE49-F238E27FC236}">
                    <a16:creationId xmlns:a16="http://schemas.microsoft.com/office/drawing/2014/main" id="{2BAF3E30-D046-FE7E-2A15-1B4DFA3FAD5B}"/>
                  </a:ext>
                </a:extLst>
              </p:cNvPr>
              <p:cNvSpPr txBox="1"/>
              <p:nvPr/>
            </p:nvSpPr>
            <p:spPr>
              <a:xfrm>
                <a:off x="2428298" y="2622069"/>
                <a:ext cx="1032426" cy="272779"/>
              </a:xfrm>
              <a:prstGeom prst="rect">
                <a:avLst/>
              </a:prstGeom>
              <a:noFill/>
            </p:spPr>
            <p:txBody>
              <a:bodyPr wrap="square">
                <a:spAutoFit/>
              </a:bodyPr>
              <a:lstStyle/>
              <a:p>
                <a:pPr algn="ctr"/>
                <a:r>
                  <a:rPr lang="fr-FR" sz="900" dirty="0"/>
                  <a:t>Compétences</a:t>
                </a:r>
              </a:p>
            </p:txBody>
          </p:sp>
          <p:pic>
            <p:nvPicPr>
              <p:cNvPr id="119" name="Graphique 118" descr="Tête avec engrenages avec un remplissage uni">
                <a:extLst>
                  <a:ext uri="{FF2B5EF4-FFF2-40B4-BE49-F238E27FC236}">
                    <a16:creationId xmlns:a16="http://schemas.microsoft.com/office/drawing/2014/main" id="{C4933C26-B242-3BE5-2A64-301D1FD0927C}"/>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732130" y="2091339"/>
                <a:ext cx="457200" cy="457200"/>
              </a:xfrm>
              <a:prstGeom prst="rect">
                <a:avLst/>
              </a:prstGeom>
            </p:spPr>
          </p:pic>
        </p:grpSp>
        <p:grpSp>
          <p:nvGrpSpPr>
            <p:cNvPr id="100" name="Groupe 99">
              <a:extLst>
                <a:ext uri="{FF2B5EF4-FFF2-40B4-BE49-F238E27FC236}">
                  <a16:creationId xmlns:a16="http://schemas.microsoft.com/office/drawing/2014/main" id="{0AD96B09-5EA2-7DA6-A7DC-635C9D22B507}"/>
                </a:ext>
              </a:extLst>
            </p:cNvPr>
            <p:cNvGrpSpPr/>
            <p:nvPr/>
          </p:nvGrpSpPr>
          <p:grpSpPr>
            <a:xfrm>
              <a:off x="1816849" y="1329133"/>
              <a:ext cx="754455" cy="803509"/>
              <a:chOff x="236639" y="2072289"/>
              <a:chExt cx="754455" cy="803509"/>
            </a:xfrm>
          </p:grpSpPr>
          <p:sp>
            <p:nvSpPr>
              <p:cNvPr id="116" name="ZoneTexte 115">
                <a:extLst>
                  <a:ext uri="{FF2B5EF4-FFF2-40B4-BE49-F238E27FC236}">
                    <a16:creationId xmlns:a16="http://schemas.microsoft.com/office/drawing/2014/main" id="{318AF41A-923C-F912-7679-E3F14E496939}"/>
                  </a:ext>
                </a:extLst>
              </p:cNvPr>
              <p:cNvSpPr txBox="1"/>
              <p:nvPr/>
            </p:nvSpPr>
            <p:spPr>
              <a:xfrm>
                <a:off x="236639" y="2603019"/>
                <a:ext cx="754455" cy="272779"/>
              </a:xfrm>
              <a:prstGeom prst="rect">
                <a:avLst/>
              </a:prstGeom>
              <a:noFill/>
            </p:spPr>
            <p:txBody>
              <a:bodyPr wrap="square">
                <a:spAutoFit/>
              </a:bodyPr>
              <a:lstStyle/>
              <a:p>
                <a:pPr algn="ctr"/>
                <a:r>
                  <a:rPr lang="fr-FR" sz="900" dirty="0"/>
                  <a:t>Matériel</a:t>
                </a:r>
              </a:p>
            </p:txBody>
          </p:sp>
          <p:pic>
            <p:nvPicPr>
              <p:cNvPr id="117" name="Graphique 116" descr="Diable avec un remplissage uni">
                <a:extLst>
                  <a:ext uri="{FF2B5EF4-FFF2-40B4-BE49-F238E27FC236}">
                    <a16:creationId xmlns:a16="http://schemas.microsoft.com/office/drawing/2014/main" id="{C6F77238-ED6D-E029-1DE7-7A4F53FBD835}"/>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66612" y="2072289"/>
                <a:ext cx="457200" cy="457200"/>
              </a:xfrm>
              <a:prstGeom prst="rect">
                <a:avLst/>
              </a:prstGeom>
            </p:spPr>
          </p:pic>
        </p:grpSp>
        <p:grpSp>
          <p:nvGrpSpPr>
            <p:cNvPr id="101" name="Groupe 100">
              <a:extLst>
                <a:ext uri="{FF2B5EF4-FFF2-40B4-BE49-F238E27FC236}">
                  <a16:creationId xmlns:a16="http://schemas.microsoft.com/office/drawing/2014/main" id="{454230B6-9F3F-A65D-2B20-D4AF848142E3}"/>
                </a:ext>
              </a:extLst>
            </p:cNvPr>
            <p:cNvGrpSpPr/>
            <p:nvPr/>
          </p:nvGrpSpPr>
          <p:grpSpPr>
            <a:xfrm>
              <a:off x="7339961" y="1323986"/>
              <a:ext cx="1381765" cy="803509"/>
              <a:chOff x="1276816" y="2072289"/>
              <a:chExt cx="1381765" cy="803509"/>
            </a:xfrm>
          </p:grpSpPr>
          <p:sp>
            <p:nvSpPr>
              <p:cNvPr id="114" name="ZoneTexte 113">
                <a:extLst>
                  <a:ext uri="{FF2B5EF4-FFF2-40B4-BE49-F238E27FC236}">
                    <a16:creationId xmlns:a16="http://schemas.microsoft.com/office/drawing/2014/main" id="{1D6778B9-81E6-5428-90E6-180EA85BDBE6}"/>
                  </a:ext>
                </a:extLst>
              </p:cNvPr>
              <p:cNvSpPr txBox="1"/>
              <p:nvPr/>
            </p:nvSpPr>
            <p:spPr>
              <a:xfrm>
                <a:off x="1276816" y="2603019"/>
                <a:ext cx="1381765" cy="272779"/>
              </a:xfrm>
              <a:prstGeom prst="rect">
                <a:avLst/>
              </a:prstGeom>
              <a:noFill/>
            </p:spPr>
            <p:txBody>
              <a:bodyPr wrap="square">
                <a:spAutoFit/>
              </a:bodyPr>
              <a:lstStyle/>
              <a:p>
                <a:pPr algn="ctr"/>
                <a:r>
                  <a:rPr lang="fr-FR" sz="900" dirty="0"/>
                  <a:t>Informations clé</a:t>
                </a:r>
              </a:p>
            </p:txBody>
          </p:sp>
          <p:pic>
            <p:nvPicPr>
              <p:cNvPr id="115" name="Graphique 114" descr="Informations avec un remplissage uni">
                <a:extLst>
                  <a:ext uri="{FF2B5EF4-FFF2-40B4-BE49-F238E27FC236}">
                    <a16:creationId xmlns:a16="http://schemas.microsoft.com/office/drawing/2014/main" id="{67C0EF3B-C6B8-E5E4-27E5-22ED5792F3C6}"/>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726018" y="2072289"/>
                <a:ext cx="478914" cy="478914"/>
              </a:xfrm>
              <a:prstGeom prst="rect">
                <a:avLst/>
              </a:prstGeom>
            </p:spPr>
          </p:pic>
        </p:grpSp>
        <p:grpSp>
          <p:nvGrpSpPr>
            <p:cNvPr id="102" name="Groupe 101">
              <a:extLst>
                <a:ext uri="{FF2B5EF4-FFF2-40B4-BE49-F238E27FC236}">
                  <a16:creationId xmlns:a16="http://schemas.microsoft.com/office/drawing/2014/main" id="{94170E71-7A4C-F419-FE46-A21983EF3FD6}"/>
                </a:ext>
              </a:extLst>
            </p:cNvPr>
            <p:cNvGrpSpPr/>
            <p:nvPr/>
          </p:nvGrpSpPr>
          <p:grpSpPr>
            <a:xfrm>
              <a:off x="363244" y="1341384"/>
              <a:ext cx="1274604" cy="803509"/>
              <a:chOff x="8215494" y="2072289"/>
              <a:chExt cx="1274604" cy="803509"/>
            </a:xfrm>
          </p:grpSpPr>
          <p:sp>
            <p:nvSpPr>
              <p:cNvPr id="112" name="ZoneTexte 111">
                <a:extLst>
                  <a:ext uri="{FF2B5EF4-FFF2-40B4-BE49-F238E27FC236}">
                    <a16:creationId xmlns:a16="http://schemas.microsoft.com/office/drawing/2014/main" id="{5AEC77AB-21B3-C623-F769-F568CB3A7CE4}"/>
                  </a:ext>
                </a:extLst>
              </p:cNvPr>
              <p:cNvSpPr txBox="1"/>
              <p:nvPr/>
            </p:nvSpPr>
            <p:spPr>
              <a:xfrm>
                <a:off x="8215494" y="2603019"/>
                <a:ext cx="1274604" cy="272779"/>
              </a:xfrm>
              <a:prstGeom prst="rect">
                <a:avLst/>
              </a:prstGeom>
              <a:noFill/>
            </p:spPr>
            <p:txBody>
              <a:bodyPr wrap="square">
                <a:spAutoFit/>
              </a:bodyPr>
              <a:lstStyle/>
              <a:p>
                <a:pPr algn="ctr"/>
                <a:r>
                  <a:rPr lang="fr-FR" sz="900" dirty="0"/>
                  <a:t>Espaces et lieux</a:t>
                </a:r>
              </a:p>
            </p:txBody>
          </p:sp>
          <p:pic>
            <p:nvPicPr>
              <p:cNvPr id="113" name="Graphique 112" descr="Conseil d’administration avec un remplissage uni">
                <a:extLst>
                  <a:ext uri="{FF2B5EF4-FFF2-40B4-BE49-F238E27FC236}">
                    <a16:creationId xmlns:a16="http://schemas.microsoft.com/office/drawing/2014/main" id="{786FB0B3-D4AD-6361-C20C-45DE0E9708D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8574409" y="2072289"/>
                <a:ext cx="556773" cy="556773"/>
              </a:xfrm>
              <a:prstGeom prst="rect">
                <a:avLst/>
              </a:prstGeom>
            </p:spPr>
          </p:pic>
        </p:grpSp>
        <p:grpSp>
          <p:nvGrpSpPr>
            <p:cNvPr id="103" name="Groupe 102">
              <a:extLst>
                <a:ext uri="{FF2B5EF4-FFF2-40B4-BE49-F238E27FC236}">
                  <a16:creationId xmlns:a16="http://schemas.microsoft.com/office/drawing/2014/main" id="{38D68C5E-B559-771C-DD20-BF97D46CF54D}"/>
                </a:ext>
              </a:extLst>
            </p:cNvPr>
            <p:cNvGrpSpPr/>
            <p:nvPr/>
          </p:nvGrpSpPr>
          <p:grpSpPr>
            <a:xfrm>
              <a:off x="4195824" y="1322881"/>
              <a:ext cx="764501" cy="803509"/>
              <a:chOff x="9827467" y="2072289"/>
              <a:chExt cx="764501" cy="803509"/>
            </a:xfrm>
          </p:grpSpPr>
          <p:pic>
            <p:nvPicPr>
              <p:cNvPr id="110" name="Graphique 109" descr="Tirelire avec un remplissage uni">
                <a:extLst>
                  <a:ext uri="{FF2B5EF4-FFF2-40B4-BE49-F238E27FC236}">
                    <a16:creationId xmlns:a16="http://schemas.microsoft.com/office/drawing/2014/main" id="{285882D8-2578-D70A-F2E5-F950ADE7B55F}"/>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9956969" y="2072289"/>
                <a:ext cx="540000" cy="540000"/>
              </a:xfrm>
              <a:prstGeom prst="rect">
                <a:avLst/>
              </a:prstGeom>
            </p:spPr>
          </p:pic>
          <p:sp>
            <p:nvSpPr>
              <p:cNvPr id="111" name="ZoneTexte 110">
                <a:extLst>
                  <a:ext uri="{FF2B5EF4-FFF2-40B4-BE49-F238E27FC236}">
                    <a16:creationId xmlns:a16="http://schemas.microsoft.com/office/drawing/2014/main" id="{80F82779-A03C-AEC6-C957-684B1140CF54}"/>
                  </a:ext>
                </a:extLst>
              </p:cNvPr>
              <p:cNvSpPr txBox="1"/>
              <p:nvPr/>
            </p:nvSpPr>
            <p:spPr>
              <a:xfrm>
                <a:off x="9827467" y="2603019"/>
                <a:ext cx="764501" cy="272779"/>
              </a:xfrm>
              <a:prstGeom prst="rect">
                <a:avLst/>
              </a:prstGeom>
              <a:noFill/>
            </p:spPr>
            <p:txBody>
              <a:bodyPr wrap="square">
                <a:spAutoFit/>
              </a:bodyPr>
              <a:lstStyle/>
              <a:p>
                <a:pPr algn="ctr"/>
                <a:r>
                  <a:rPr lang="fr-FR" sz="900" dirty="0"/>
                  <a:t>Budget</a:t>
                </a:r>
              </a:p>
            </p:txBody>
          </p:sp>
        </p:grpSp>
        <p:grpSp>
          <p:nvGrpSpPr>
            <p:cNvPr id="104" name="Groupe 103">
              <a:extLst>
                <a:ext uri="{FF2B5EF4-FFF2-40B4-BE49-F238E27FC236}">
                  <a16:creationId xmlns:a16="http://schemas.microsoft.com/office/drawing/2014/main" id="{D1118F00-9385-527E-665F-51D64D06A840}"/>
                </a:ext>
              </a:extLst>
            </p:cNvPr>
            <p:cNvGrpSpPr/>
            <p:nvPr/>
          </p:nvGrpSpPr>
          <p:grpSpPr>
            <a:xfrm>
              <a:off x="11202158" y="1327063"/>
              <a:ext cx="764501" cy="803509"/>
              <a:chOff x="11150144" y="2072289"/>
              <a:chExt cx="764501" cy="803509"/>
            </a:xfrm>
          </p:grpSpPr>
          <p:pic>
            <p:nvPicPr>
              <p:cNvPr id="108" name="Graphique 107" descr="Badge point d’interrogation avec un remplissage uni">
                <a:extLst>
                  <a:ext uri="{FF2B5EF4-FFF2-40B4-BE49-F238E27FC236}">
                    <a16:creationId xmlns:a16="http://schemas.microsoft.com/office/drawing/2014/main" id="{0E26C6EB-4E49-87DE-A560-5EB887447CE1}"/>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11270657" y="2072289"/>
                <a:ext cx="540000" cy="540000"/>
              </a:xfrm>
              <a:prstGeom prst="rect">
                <a:avLst/>
              </a:prstGeom>
            </p:spPr>
          </p:pic>
          <p:sp>
            <p:nvSpPr>
              <p:cNvPr id="109" name="ZoneTexte 108">
                <a:extLst>
                  <a:ext uri="{FF2B5EF4-FFF2-40B4-BE49-F238E27FC236}">
                    <a16:creationId xmlns:a16="http://schemas.microsoft.com/office/drawing/2014/main" id="{98373A43-925E-85D1-825E-83E7B763AD19}"/>
                  </a:ext>
                </a:extLst>
              </p:cNvPr>
              <p:cNvSpPr txBox="1"/>
              <p:nvPr/>
            </p:nvSpPr>
            <p:spPr>
              <a:xfrm>
                <a:off x="11150144" y="2603019"/>
                <a:ext cx="764501" cy="272779"/>
              </a:xfrm>
              <a:prstGeom prst="rect">
                <a:avLst/>
              </a:prstGeom>
              <a:noFill/>
            </p:spPr>
            <p:txBody>
              <a:bodyPr wrap="square">
                <a:spAutoFit/>
              </a:bodyPr>
              <a:lstStyle/>
              <a:p>
                <a:pPr algn="ctr"/>
                <a:r>
                  <a:rPr lang="fr-FR" sz="900" dirty="0"/>
                  <a:t>Autres</a:t>
                </a:r>
              </a:p>
            </p:txBody>
          </p:sp>
        </p:grpSp>
        <p:grpSp>
          <p:nvGrpSpPr>
            <p:cNvPr id="105" name="Groupe 104">
              <a:extLst>
                <a:ext uri="{FF2B5EF4-FFF2-40B4-BE49-F238E27FC236}">
                  <a16:creationId xmlns:a16="http://schemas.microsoft.com/office/drawing/2014/main" id="{B75B0159-D9B5-3F9D-0DB7-AB5C03A1F42B}"/>
                </a:ext>
              </a:extLst>
            </p:cNvPr>
            <p:cNvGrpSpPr/>
            <p:nvPr/>
          </p:nvGrpSpPr>
          <p:grpSpPr>
            <a:xfrm>
              <a:off x="9754481" y="1304631"/>
              <a:ext cx="1326669" cy="822863"/>
              <a:chOff x="9651618" y="1361747"/>
              <a:chExt cx="1326669" cy="822863"/>
            </a:xfrm>
          </p:grpSpPr>
          <p:pic>
            <p:nvPicPr>
              <p:cNvPr id="106" name="Graphique 105" descr="Signe pouce en haut avec un remplissage uni">
                <a:extLst>
                  <a:ext uri="{FF2B5EF4-FFF2-40B4-BE49-F238E27FC236}">
                    <a16:creationId xmlns:a16="http://schemas.microsoft.com/office/drawing/2014/main" id="{97C639BE-118E-977F-A625-D62D2B6CD6E2}"/>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10057766" y="1361747"/>
                <a:ext cx="514374" cy="514374"/>
              </a:xfrm>
              <a:prstGeom prst="rect">
                <a:avLst/>
              </a:prstGeom>
            </p:spPr>
          </p:pic>
          <p:sp>
            <p:nvSpPr>
              <p:cNvPr id="107" name="ZoneTexte 106">
                <a:extLst>
                  <a:ext uri="{FF2B5EF4-FFF2-40B4-BE49-F238E27FC236}">
                    <a16:creationId xmlns:a16="http://schemas.microsoft.com/office/drawing/2014/main" id="{37C66942-16E7-26EC-E8F3-87AF58962DBE}"/>
                  </a:ext>
                </a:extLst>
              </p:cNvPr>
              <p:cNvSpPr txBox="1"/>
              <p:nvPr/>
            </p:nvSpPr>
            <p:spPr>
              <a:xfrm>
                <a:off x="9651618" y="1911831"/>
                <a:ext cx="1326669" cy="272779"/>
              </a:xfrm>
              <a:prstGeom prst="rect">
                <a:avLst/>
              </a:prstGeom>
              <a:noFill/>
            </p:spPr>
            <p:txBody>
              <a:bodyPr wrap="square">
                <a:spAutoFit/>
              </a:bodyPr>
              <a:lstStyle/>
              <a:p>
                <a:pPr algn="ctr"/>
                <a:r>
                  <a:rPr lang="fr-FR" sz="900" dirty="0"/>
                  <a:t>Soutien extérieur</a:t>
                </a:r>
              </a:p>
            </p:txBody>
          </p:sp>
        </p:grpSp>
      </p:grpSp>
      <p:sp>
        <p:nvSpPr>
          <p:cNvPr id="126" name="Rectangle 125">
            <a:extLst>
              <a:ext uri="{FF2B5EF4-FFF2-40B4-BE49-F238E27FC236}">
                <a16:creationId xmlns:a16="http://schemas.microsoft.com/office/drawing/2014/main" id="{57767F26-A009-3C04-43DF-DC4A4E9841E8}"/>
              </a:ext>
            </a:extLst>
          </p:cNvPr>
          <p:cNvSpPr/>
          <p:nvPr/>
        </p:nvSpPr>
        <p:spPr>
          <a:xfrm>
            <a:off x="1639049" y="3285047"/>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Accès à un espace pour grandes présentations</a:t>
            </a:r>
          </a:p>
        </p:txBody>
      </p:sp>
    </p:spTree>
    <p:extLst>
      <p:ext uri="{BB962C8B-B14F-4D97-AF65-F5344CB8AC3E}">
        <p14:creationId xmlns:p14="http://schemas.microsoft.com/office/powerpoint/2010/main" val="180798040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D86BB56-A91F-1A5C-2F75-C45E3C94FB56}"/>
              </a:ext>
            </a:extLst>
          </p:cNvPr>
          <p:cNvSpPr>
            <a:spLocks noGrp="1"/>
          </p:cNvSpPr>
          <p:nvPr>
            <p:ph type="title"/>
          </p:nvPr>
        </p:nvSpPr>
        <p:spPr>
          <a:xfrm>
            <a:off x="547965" y="253866"/>
            <a:ext cx="10515600" cy="616431"/>
          </a:xfrm>
        </p:spPr>
        <p:txBody>
          <a:bodyPr>
            <a:normAutofit fontScale="90000"/>
          </a:bodyPr>
          <a:lstStyle/>
          <a:p>
            <a:r>
              <a:rPr lang="fr-FR" dirty="0"/>
              <a:t>Exemples de ressources de communauté</a:t>
            </a:r>
          </a:p>
        </p:txBody>
      </p:sp>
      <p:sp>
        <p:nvSpPr>
          <p:cNvPr id="21" name="Rectangle 20">
            <a:extLst>
              <a:ext uri="{FF2B5EF4-FFF2-40B4-BE49-F238E27FC236}">
                <a16:creationId xmlns:a16="http://schemas.microsoft.com/office/drawing/2014/main" id="{FAD6DFC8-67D5-C2A0-3459-CA13C5A2BD60}"/>
              </a:ext>
            </a:extLst>
          </p:cNvPr>
          <p:cNvSpPr/>
          <p:nvPr/>
        </p:nvSpPr>
        <p:spPr>
          <a:xfrm>
            <a:off x="1340850" y="1737569"/>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à du matériel rare pour le but de la Communauté</a:t>
            </a:r>
          </a:p>
        </p:txBody>
      </p:sp>
      <p:sp>
        <p:nvSpPr>
          <p:cNvPr id="36" name="Rectangle 35">
            <a:extLst>
              <a:ext uri="{FF2B5EF4-FFF2-40B4-BE49-F238E27FC236}">
                <a16:creationId xmlns:a16="http://schemas.microsoft.com/office/drawing/2014/main" id="{9A249C8C-C2C2-D337-3F50-ED2C9C6AC937}"/>
              </a:ext>
            </a:extLst>
          </p:cNvPr>
          <p:cNvSpPr/>
          <p:nvPr/>
        </p:nvSpPr>
        <p:spPr>
          <a:xfrm>
            <a:off x="2542625" y="1737569"/>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commun à un/des outil(s) de discussion, d’interaction </a:t>
            </a:r>
          </a:p>
        </p:txBody>
      </p:sp>
      <p:sp>
        <p:nvSpPr>
          <p:cNvPr id="37" name="Rectangle 36">
            <a:extLst>
              <a:ext uri="{FF2B5EF4-FFF2-40B4-BE49-F238E27FC236}">
                <a16:creationId xmlns:a16="http://schemas.microsoft.com/office/drawing/2014/main" id="{649E66BC-5B59-44A5-1F21-C294666595FA}"/>
              </a:ext>
            </a:extLst>
          </p:cNvPr>
          <p:cNvSpPr/>
          <p:nvPr/>
        </p:nvSpPr>
        <p:spPr>
          <a:xfrm>
            <a:off x="7307114" y="1737569"/>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à des opportunités utiles au but de la Communauté</a:t>
            </a:r>
          </a:p>
        </p:txBody>
      </p:sp>
      <p:sp>
        <p:nvSpPr>
          <p:cNvPr id="38" name="Rectangle 37">
            <a:extLst>
              <a:ext uri="{FF2B5EF4-FFF2-40B4-BE49-F238E27FC236}">
                <a16:creationId xmlns:a16="http://schemas.microsoft.com/office/drawing/2014/main" id="{71E37305-9E34-2945-AEF7-0E6E22D2C6F4}"/>
              </a:ext>
            </a:extLst>
          </p:cNvPr>
          <p:cNvSpPr/>
          <p:nvPr/>
        </p:nvSpPr>
        <p:spPr>
          <a:xfrm>
            <a:off x="6142352" y="1737569"/>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rares et utiles au but de la Communauté</a:t>
            </a:r>
          </a:p>
        </p:txBody>
      </p:sp>
      <p:sp>
        <p:nvSpPr>
          <p:cNvPr id="39" name="Rectangle 38">
            <a:extLst>
              <a:ext uri="{FF2B5EF4-FFF2-40B4-BE49-F238E27FC236}">
                <a16:creationId xmlns:a16="http://schemas.microsoft.com/office/drawing/2014/main" id="{4582655D-9A82-1A3E-C0B7-2700668A5A71}"/>
              </a:ext>
            </a:extLst>
          </p:cNvPr>
          <p:cNvSpPr/>
          <p:nvPr/>
        </p:nvSpPr>
        <p:spPr>
          <a:xfrm>
            <a:off x="6142352" y="246374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utiles au but de la Communauté et transmissibles</a:t>
            </a:r>
          </a:p>
        </p:txBody>
      </p:sp>
      <p:sp>
        <p:nvSpPr>
          <p:cNvPr id="40" name="Rectangle 39">
            <a:extLst>
              <a:ext uri="{FF2B5EF4-FFF2-40B4-BE49-F238E27FC236}">
                <a16:creationId xmlns:a16="http://schemas.microsoft.com/office/drawing/2014/main" id="{9FF6B45A-D637-2B48-25BD-B304A488BEBC}"/>
              </a:ext>
            </a:extLst>
          </p:cNvPr>
          <p:cNvSpPr/>
          <p:nvPr/>
        </p:nvSpPr>
        <p:spPr>
          <a:xfrm>
            <a:off x="8485752" y="1737569"/>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Contraintes ou problèmes individuels similaires</a:t>
            </a:r>
          </a:p>
        </p:txBody>
      </p:sp>
      <p:sp>
        <p:nvSpPr>
          <p:cNvPr id="41" name="Rectangle 40">
            <a:extLst>
              <a:ext uri="{FF2B5EF4-FFF2-40B4-BE49-F238E27FC236}">
                <a16:creationId xmlns:a16="http://schemas.microsoft.com/office/drawing/2014/main" id="{D6506345-39D9-847C-6B42-9FDF9C1E7F22}"/>
              </a:ext>
            </a:extLst>
          </p:cNvPr>
          <p:cNvSpPr/>
          <p:nvPr/>
        </p:nvSpPr>
        <p:spPr>
          <a:xfrm>
            <a:off x="8485752" y="246374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Objectifs ou intérêts</a:t>
            </a:r>
          </a:p>
          <a:p>
            <a:pPr algn="ctr"/>
            <a:r>
              <a:rPr lang="fr-FR" sz="900" dirty="0"/>
              <a:t>individuels similaires</a:t>
            </a:r>
          </a:p>
        </p:txBody>
      </p:sp>
      <p:sp>
        <p:nvSpPr>
          <p:cNvPr id="43" name="Rectangle 42">
            <a:extLst>
              <a:ext uri="{FF2B5EF4-FFF2-40B4-BE49-F238E27FC236}">
                <a16:creationId xmlns:a16="http://schemas.microsoft.com/office/drawing/2014/main" id="{938484C0-2E71-7575-7F82-AE7BF532A780}"/>
              </a:ext>
            </a:extLst>
          </p:cNvPr>
          <p:cNvSpPr/>
          <p:nvPr/>
        </p:nvSpPr>
        <p:spPr>
          <a:xfrm>
            <a:off x="4977590" y="1737569"/>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commune (simultanée) ponctuelle</a:t>
            </a:r>
          </a:p>
        </p:txBody>
      </p:sp>
      <p:sp>
        <p:nvSpPr>
          <p:cNvPr id="44" name="Rectangle 43">
            <a:extLst>
              <a:ext uri="{FF2B5EF4-FFF2-40B4-BE49-F238E27FC236}">
                <a16:creationId xmlns:a16="http://schemas.microsoft.com/office/drawing/2014/main" id="{5D168576-2C43-88D9-7B3C-765289EAD539}"/>
              </a:ext>
            </a:extLst>
          </p:cNvPr>
          <p:cNvSpPr/>
          <p:nvPr/>
        </p:nvSpPr>
        <p:spPr>
          <a:xfrm>
            <a:off x="144874" y="1730699"/>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à un espace de travail collectif (bureaux, </a:t>
            </a:r>
            <a:r>
              <a:rPr lang="fr-FR" sz="900" dirty="0" err="1"/>
              <a:t>etc</a:t>
            </a:r>
            <a:r>
              <a:rPr lang="fr-FR" sz="900" dirty="0"/>
              <a:t>)</a:t>
            </a:r>
          </a:p>
        </p:txBody>
      </p:sp>
      <p:sp>
        <p:nvSpPr>
          <p:cNvPr id="45" name="Rectangle 44">
            <a:extLst>
              <a:ext uri="{FF2B5EF4-FFF2-40B4-BE49-F238E27FC236}">
                <a16:creationId xmlns:a16="http://schemas.microsoft.com/office/drawing/2014/main" id="{6B09B7B1-47CF-579F-468F-4D43BDD55D9A}"/>
              </a:ext>
            </a:extLst>
          </p:cNvPr>
          <p:cNvSpPr/>
          <p:nvPr/>
        </p:nvSpPr>
        <p:spPr>
          <a:xfrm>
            <a:off x="3758143" y="246374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Parts de budgets alloués à d’autres buts que la Communauté</a:t>
            </a:r>
          </a:p>
        </p:txBody>
      </p:sp>
      <p:sp>
        <p:nvSpPr>
          <p:cNvPr id="46" name="Rectangle 45">
            <a:extLst>
              <a:ext uri="{FF2B5EF4-FFF2-40B4-BE49-F238E27FC236}">
                <a16:creationId xmlns:a16="http://schemas.microsoft.com/office/drawing/2014/main" id="{2E6AD128-1B82-24F4-5C3A-2B552CF016B0}"/>
              </a:ext>
            </a:extLst>
          </p:cNvPr>
          <p:cNvSpPr/>
          <p:nvPr/>
        </p:nvSpPr>
        <p:spPr>
          <a:xfrm>
            <a:off x="144874" y="246374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à un espace de cérémonie (grande salle, …)</a:t>
            </a:r>
          </a:p>
        </p:txBody>
      </p:sp>
      <p:sp>
        <p:nvSpPr>
          <p:cNvPr id="47" name="Rectangle 46">
            <a:extLst>
              <a:ext uri="{FF2B5EF4-FFF2-40B4-BE49-F238E27FC236}">
                <a16:creationId xmlns:a16="http://schemas.microsoft.com/office/drawing/2014/main" id="{83E1CEF6-104D-897B-271A-22562153C28A}"/>
              </a:ext>
            </a:extLst>
          </p:cNvPr>
          <p:cNvSpPr/>
          <p:nvPr/>
        </p:nvSpPr>
        <p:spPr>
          <a:xfrm>
            <a:off x="4961027" y="246374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régulière (simultanée) commune</a:t>
            </a:r>
          </a:p>
        </p:txBody>
      </p:sp>
      <p:sp>
        <p:nvSpPr>
          <p:cNvPr id="48" name="Rectangle 47">
            <a:extLst>
              <a:ext uri="{FF2B5EF4-FFF2-40B4-BE49-F238E27FC236}">
                <a16:creationId xmlns:a16="http://schemas.microsoft.com/office/drawing/2014/main" id="{7A758992-6B36-C3B3-159F-F5AD73318EC8}"/>
              </a:ext>
            </a:extLst>
          </p:cNvPr>
          <p:cNvSpPr/>
          <p:nvPr/>
        </p:nvSpPr>
        <p:spPr>
          <a:xfrm>
            <a:off x="4957592" y="319467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Présence commune et ponctuelle sur un lieu donné</a:t>
            </a:r>
          </a:p>
        </p:txBody>
      </p:sp>
      <p:sp>
        <p:nvSpPr>
          <p:cNvPr id="49" name="Rectangle 48">
            <a:extLst>
              <a:ext uri="{FF2B5EF4-FFF2-40B4-BE49-F238E27FC236}">
                <a16:creationId xmlns:a16="http://schemas.microsoft.com/office/drawing/2014/main" id="{C80E7C67-E3F5-992D-0482-590CF405529F}"/>
              </a:ext>
            </a:extLst>
          </p:cNvPr>
          <p:cNvSpPr/>
          <p:nvPr/>
        </p:nvSpPr>
        <p:spPr>
          <a:xfrm>
            <a:off x="4961026" y="393156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Présence commune et régulière sur un lieu donné</a:t>
            </a:r>
          </a:p>
        </p:txBody>
      </p:sp>
      <p:sp>
        <p:nvSpPr>
          <p:cNvPr id="50" name="Rectangle 49">
            <a:extLst>
              <a:ext uri="{FF2B5EF4-FFF2-40B4-BE49-F238E27FC236}">
                <a16:creationId xmlns:a16="http://schemas.microsoft.com/office/drawing/2014/main" id="{19B7EF2F-B6EC-1D08-6FF1-9D8EF7B0FAD8}"/>
              </a:ext>
            </a:extLst>
          </p:cNvPr>
          <p:cNvSpPr/>
          <p:nvPr/>
        </p:nvSpPr>
        <p:spPr>
          <a:xfrm>
            <a:off x="8477564" y="319467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Contraintes ou problèmes collectifs en commun</a:t>
            </a:r>
          </a:p>
        </p:txBody>
      </p:sp>
      <p:sp>
        <p:nvSpPr>
          <p:cNvPr id="51" name="Rectangle 50">
            <a:extLst>
              <a:ext uri="{FF2B5EF4-FFF2-40B4-BE49-F238E27FC236}">
                <a16:creationId xmlns:a16="http://schemas.microsoft.com/office/drawing/2014/main" id="{F307265A-58AE-F542-FB60-1651C59F4001}"/>
              </a:ext>
            </a:extLst>
          </p:cNvPr>
          <p:cNvSpPr/>
          <p:nvPr/>
        </p:nvSpPr>
        <p:spPr>
          <a:xfrm>
            <a:off x="8489577" y="393156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Objectifs ou intérêts collectifs en commun</a:t>
            </a:r>
          </a:p>
        </p:txBody>
      </p:sp>
      <p:sp>
        <p:nvSpPr>
          <p:cNvPr id="52" name="Rectangle 51">
            <a:extLst>
              <a:ext uri="{FF2B5EF4-FFF2-40B4-BE49-F238E27FC236}">
                <a16:creationId xmlns:a16="http://schemas.microsoft.com/office/drawing/2014/main" id="{7103547C-7D15-463D-2016-9670234FB5AF}"/>
              </a:ext>
            </a:extLst>
          </p:cNvPr>
          <p:cNvSpPr/>
          <p:nvPr/>
        </p:nvSpPr>
        <p:spPr>
          <a:xfrm>
            <a:off x="144874" y="319467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à un espace de stockage</a:t>
            </a:r>
          </a:p>
        </p:txBody>
      </p:sp>
      <p:sp>
        <p:nvSpPr>
          <p:cNvPr id="57" name="Rectangle 56">
            <a:extLst>
              <a:ext uri="{FF2B5EF4-FFF2-40B4-BE49-F238E27FC236}">
                <a16:creationId xmlns:a16="http://schemas.microsoft.com/office/drawing/2014/main" id="{2EF98371-B259-0D6B-CA88-4F3422F0DF13}"/>
              </a:ext>
            </a:extLst>
          </p:cNvPr>
          <p:cNvSpPr/>
          <p:nvPr/>
        </p:nvSpPr>
        <p:spPr>
          <a:xfrm>
            <a:off x="7307114" y="246374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à des réseaux et contacts clé pour la Communauté</a:t>
            </a:r>
          </a:p>
        </p:txBody>
      </p:sp>
      <p:sp>
        <p:nvSpPr>
          <p:cNvPr id="58" name="Rectangle 57">
            <a:extLst>
              <a:ext uri="{FF2B5EF4-FFF2-40B4-BE49-F238E27FC236}">
                <a16:creationId xmlns:a16="http://schemas.microsoft.com/office/drawing/2014/main" id="{0EEACCE2-BF27-D3A6-C340-569F2E5880F7}"/>
              </a:ext>
            </a:extLst>
          </p:cNvPr>
          <p:cNvSpPr/>
          <p:nvPr/>
        </p:nvSpPr>
        <p:spPr>
          <a:xfrm>
            <a:off x="144874" y="393156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Espace de confidentialité</a:t>
            </a:r>
          </a:p>
        </p:txBody>
      </p:sp>
      <p:sp>
        <p:nvSpPr>
          <p:cNvPr id="59" name="Rectangle 58">
            <a:extLst>
              <a:ext uri="{FF2B5EF4-FFF2-40B4-BE49-F238E27FC236}">
                <a16:creationId xmlns:a16="http://schemas.microsoft.com/office/drawing/2014/main" id="{1AC6C36D-91FF-4243-A387-2D1542D65BE3}"/>
              </a:ext>
            </a:extLst>
          </p:cNvPr>
          <p:cNvSpPr/>
          <p:nvPr/>
        </p:nvSpPr>
        <p:spPr>
          <a:xfrm>
            <a:off x="2550628" y="246374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commun à un/des outil(s) de travail collaboratif </a:t>
            </a:r>
          </a:p>
        </p:txBody>
      </p:sp>
      <p:sp>
        <p:nvSpPr>
          <p:cNvPr id="60" name="Rectangle 59">
            <a:extLst>
              <a:ext uri="{FF2B5EF4-FFF2-40B4-BE49-F238E27FC236}">
                <a16:creationId xmlns:a16="http://schemas.microsoft.com/office/drawing/2014/main" id="{E17F6D44-5DDC-4796-E2A5-309CBC19DF2F}"/>
              </a:ext>
            </a:extLst>
          </p:cNvPr>
          <p:cNvSpPr/>
          <p:nvPr/>
        </p:nvSpPr>
        <p:spPr>
          <a:xfrm>
            <a:off x="7307114" y="319467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Connaissance des mécanismes administratifs permettant la Communauté</a:t>
            </a:r>
          </a:p>
        </p:txBody>
      </p:sp>
      <p:sp>
        <p:nvSpPr>
          <p:cNvPr id="61" name="Rectangle 60">
            <a:extLst>
              <a:ext uri="{FF2B5EF4-FFF2-40B4-BE49-F238E27FC236}">
                <a16:creationId xmlns:a16="http://schemas.microsoft.com/office/drawing/2014/main" id="{B6AE2C19-7F53-CD84-6628-68D22AF30374}"/>
              </a:ext>
            </a:extLst>
          </p:cNvPr>
          <p:cNvSpPr/>
          <p:nvPr/>
        </p:nvSpPr>
        <p:spPr>
          <a:xfrm>
            <a:off x="6142352" y="319467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de gestion (intérieures) de Communauté</a:t>
            </a:r>
          </a:p>
        </p:txBody>
      </p:sp>
      <p:sp>
        <p:nvSpPr>
          <p:cNvPr id="62" name="Rectangle 61">
            <a:extLst>
              <a:ext uri="{FF2B5EF4-FFF2-40B4-BE49-F238E27FC236}">
                <a16:creationId xmlns:a16="http://schemas.microsoft.com/office/drawing/2014/main" id="{61671DE0-6BFB-AD63-0B31-1BF62481D78D}"/>
              </a:ext>
            </a:extLst>
          </p:cNvPr>
          <p:cNvSpPr/>
          <p:nvPr/>
        </p:nvSpPr>
        <p:spPr>
          <a:xfrm>
            <a:off x="6142352" y="393156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de gestion des liens extérieurs de Communauté</a:t>
            </a:r>
          </a:p>
        </p:txBody>
      </p:sp>
      <p:sp>
        <p:nvSpPr>
          <p:cNvPr id="63" name="Rectangle 62">
            <a:extLst>
              <a:ext uri="{FF2B5EF4-FFF2-40B4-BE49-F238E27FC236}">
                <a16:creationId xmlns:a16="http://schemas.microsoft.com/office/drawing/2014/main" id="{4947D409-7CC3-11AA-E583-FADE00CEF077}"/>
              </a:ext>
            </a:extLst>
          </p:cNvPr>
          <p:cNvSpPr/>
          <p:nvPr/>
        </p:nvSpPr>
        <p:spPr>
          <a:xfrm>
            <a:off x="2542440" y="319467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commun à un/des Espace(s) virtuel(s) pour se retrouver</a:t>
            </a:r>
          </a:p>
        </p:txBody>
      </p:sp>
      <p:sp>
        <p:nvSpPr>
          <p:cNvPr id="64" name="Rectangle 63">
            <a:extLst>
              <a:ext uri="{FF2B5EF4-FFF2-40B4-BE49-F238E27FC236}">
                <a16:creationId xmlns:a16="http://schemas.microsoft.com/office/drawing/2014/main" id="{44EEE249-FCA9-B679-97D7-84D0BC6F9384}"/>
              </a:ext>
            </a:extLst>
          </p:cNvPr>
          <p:cNvSpPr/>
          <p:nvPr/>
        </p:nvSpPr>
        <p:spPr>
          <a:xfrm>
            <a:off x="10851150" y="1737569"/>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sp>
        <p:nvSpPr>
          <p:cNvPr id="65" name="Rectangle 64">
            <a:extLst>
              <a:ext uri="{FF2B5EF4-FFF2-40B4-BE49-F238E27FC236}">
                <a16:creationId xmlns:a16="http://schemas.microsoft.com/office/drawing/2014/main" id="{90A15D3F-2A01-38EF-6703-5111D72BA393}"/>
              </a:ext>
            </a:extLst>
          </p:cNvPr>
          <p:cNvSpPr/>
          <p:nvPr/>
        </p:nvSpPr>
        <p:spPr>
          <a:xfrm>
            <a:off x="3758143" y="1737569"/>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Budget alloués officiellement à la Communauté</a:t>
            </a:r>
          </a:p>
        </p:txBody>
      </p:sp>
      <p:sp>
        <p:nvSpPr>
          <p:cNvPr id="66" name="Rectangle 65">
            <a:extLst>
              <a:ext uri="{FF2B5EF4-FFF2-40B4-BE49-F238E27FC236}">
                <a16:creationId xmlns:a16="http://schemas.microsoft.com/office/drawing/2014/main" id="{BFFD4739-0B05-0C43-41AF-2FE488790B28}"/>
              </a:ext>
            </a:extLst>
          </p:cNvPr>
          <p:cNvSpPr/>
          <p:nvPr/>
        </p:nvSpPr>
        <p:spPr>
          <a:xfrm>
            <a:off x="2542440" y="393156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commun à des outils utiles au but de la Communauté</a:t>
            </a:r>
          </a:p>
        </p:txBody>
      </p:sp>
      <p:sp>
        <p:nvSpPr>
          <p:cNvPr id="67" name="Rectangle 66">
            <a:extLst>
              <a:ext uri="{FF2B5EF4-FFF2-40B4-BE49-F238E27FC236}">
                <a16:creationId xmlns:a16="http://schemas.microsoft.com/office/drawing/2014/main" id="{4D8AA66C-AFA7-1A69-3D97-3A3444E3EC7C}"/>
              </a:ext>
            </a:extLst>
          </p:cNvPr>
          <p:cNvSpPr/>
          <p:nvPr/>
        </p:nvSpPr>
        <p:spPr>
          <a:xfrm>
            <a:off x="7307114" y="393156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à des informations clés pour le but de la Communauté</a:t>
            </a:r>
          </a:p>
        </p:txBody>
      </p:sp>
      <p:sp>
        <p:nvSpPr>
          <p:cNvPr id="68" name="Rectangle 67">
            <a:extLst>
              <a:ext uri="{FF2B5EF4-FFF2-40B4-BE49-F238E27FC236}">
                <a16:creationId xmlns:a16="http://schemas.microsoft.com/office/drawing/2014/main" id="{44DB5F4F-D5E1-8751-19E6-5B73B79D5F6D}"/>
              </a:ext>
            </a:extLst>
          </p:cNvPr>
          <p:cNvSpPr/>
          <p:nvPr/>
        </p:nvSpPr>
        <p:spPr>
          <a:xfrm>
            <a:off x="1331181" y="246374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à du matériel de base pour le but de la Communauté</a:t>
            </a:r>
          </a:p>
        </p:txBody>
      </p:sp>
      <p:sp>
        <p:nvSpPr>
          <p:cNvPr id="82" name="Rectangle 81">
            <a:extLst>
              <a:ext uri="{FF2B5EF4-FFF2-40B4-BE49-F238E27FC236}">
                <a16:creationId xmlns:a16="http://schemas.microsoft.com/office/drawing/2014/main" id="{0D7ABBE7-C777-88A3-6266-0D2409BF4878}"/>
              </a:ext>
            </a:extLst>
          </p:cNvPr>
          <p:cNvSpPr/>
          <p:nvPr/>
        </p:nvSpPr>
        <p:spPr>
          <a:xfrm>
            <a:off x="3758143" y="319467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Contribution financière des membres</a:t>
            </a:r>
          </a:p>
        </p:txBody>
      </p:sp>
      <p:sp>
        <p:nvSpPr>
          <p:cNvPr id="83" name="Rectangle 82">
            <a:extLst>
              <a:ext uri="{FF2B5EF4-FFF2-40B4-BE49-F238E27FC236}">
                <a16:creationId xmlns:a16="http://schemas.microsoft.com/office/drawing/2014/main" id="{944A190E-3DD3-2096-44EF-DDF6F8E1E22B}"/>
              </a:ext>
            </a:extLst>
          </p:cNvPr>
          <p:cNvSpPr/>
          <p:nvPr/>
        </p:nvSpPr>
        <p:spPr>
          <a:xfrm>
            <a:off x="3758143" y="393156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Trésorerie de la Communauté</a:t>
            </a:r>
          </a:p>
        </p:txBody>
      </p:sp>
      <p:sp>
        <p:nvSpPr>
          <p:cNvPr id="84" name="Rectangle 83">
            <a:extLst>
              <a:ext uri="{FF2B5EF4-FFF2-40B4-BE49-F238E27FC236}">
                <a16:creationId xmlns:a16="http://schemas.microsoft.com/office/drawing/2014/main" id="{D3BFD7F5-79BE-7E85-F04E-AB95F119379D}"/>
              </a:ext>
            </a:extLst>
          </p:cNvPr>
          <p:cNvSpPr/>
          <p:nvPr/>
        </p:nvSpPr>
        <p:spPr>
          <a:xfrm>
            <a:off x="9670903" y="1737569"/>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Soutien d’une organisation / institution / réseau</a:t>
            </a:r>
          </a:p>
        </p:txBody>
      </p:sp>
      <p:sp>
        <p:nvSpPr>
          <p:cNvPr id="85" name="Rectangle 84">
            <a:extLst>
              <a:ext uri="{FF2B5EF4-FFF2-40B4-BE49-F238E27FC236}">
                <a16:creationId xmlns:a16="http://schemas.microsoft.com/office/drawing/2014/main" id="{ADE0C92F-773C-8E3D-4839-38FDB05341F3}"/>
              </a:ext>
            </a:extLst>
          </p:cNvPr>
          <p:cNvSpPr/>
          <p:nvPr/>
        </p:nvSpPr>
        <p:spPr>
          <a:xfrm>
            <a:off x="9677613" y="246374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Soutien de personnes clé pour les membres</a:t>
            </a:r>
          </a:p>
        </p:txBody>
      </p:sp>
      <p:sp>
        <p:nvSpPr>
          <p:cNvPr id="86" name="Rectangle 85">
            <a:extLst>
              <a:ext uri="{FF2B5EF4-FFF2-40B4-BE49-F238E27FC236}">
                <a16:creationId xmlns:a16="http://schemas.microsoft.com/office/drawing/2014/main" id="{E6F39F13-6936-DA4B-CC1B-978EB6CB2B01}"/>
              </a:ext>
            </a:extLst>
          </p:cNvPr>
          <p:cNvSpPr/>
          <p:nvPr/>
        </p:nvSpPr>
        <p:spPr>
          <a:xfrm>
            <a:off x="9677613" y="319467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Soutien de personnes clé pour le but de la Communauté</a:t>
            </a:r>
          </a:p>
        </p:txBody>
      </p:sp>
      <p:sp>
        <p:nvSpPr>
          <p:cNvPr id="87" name="Rectangle 86">
            <a:extLst>
              <a:ext uri="{FF2B5EF4-FFF2-40B4-BE49-F238E27FC236}">
                <a16:creationId xmlns:a16="http://schemas.microsoft.com/office/drawing/2014/main" id="{745430B0-170F-6EB9-02DA-86125A47EC23}"/>
              </a:ext>
            </a:extLst>
          </p:cNvPr>
          <p:cNvSpPr/>
          <p:nvPr/>
        </p:nvSpPr>
        <p:spPr>
          <a:xfrm>
            <a:off x="9670903" y="393156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Soutien de personnes clés pour les soutiens</a:t>
            </a:r>
          </a:p>
        </p:txBody>
      </p:sp>
      <p:sp>
        <p:nvSpPr>
          <p:cNvPr id="88" name="Rectangle 87">
            <a:extLst>
              <a:ext uri="{FF2B5EF4-FFF2-40B4-BE49-F238E27FC236}">
                <a16:creationId xmlns:a16="http://schemas.microsoft.com/office/drawing/2014/main" id="{CBEF01A9-4354-6484-1D84-ADB158602E61}"/>
              </a:ext>
            </a:extLst>
          </p:cNvPr>
          <p:cNvSpPr/>
          <p:nvPr/>
        </p:nvSpPr>
        <p:spPr>
          <a:xfrm>
            <a:off x="9670903" y="4667800"/>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Soutien d’un public </a:t>
            </a:r>
          </a:p>
        </p:txBody>
      </p:sp>
      <p:sp>
        <p:nvSpPr>
          <p:cNvPr id="89" name="Rectangle 88">
            <a:extLst>
              <a:ext uri="{FF2B5EF4-FFF2-40B4-BE49-F238E27FC236}">
                <a16:creationId xmlns:a16="http://schemas.microsoft.com/office/drawing/2014/main" id="{E9B0B309-3D1A-66CD-78C4-134A2FAAD9A0}"/>
              </a:ext>
            </a:extLst>
          </p:cNvPr>
          <p:cNvSpPr/>
          <p:nvPr/>
        </p:nvSpPr>
        <p:spPr>
          <a:xfrm>
            <a:off x="3756031" y="4667800"/>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Autres types de budgets utiles à la Communauté</a:t>
            </a:r>
          </a:p>
        </p:txBody>
      </p:sp>
      <p:sp>
        <p:nvSpPr>
          <p:cNvPr id="90" name="Rectangle 89">
            <a:extLst>
              <a:ext uri="{FF2B5EF4-FFF2-40B4-BE49-F238E27FC236}">
                <a16:creationId xmlns:a16="http://schemas.microsoft.com/office/drawing/2014/main" id="{CDBABC14-4A50-E15B-8894-665B598B0FC0}"/>
              </a:ext>
            </a:extLst>
          </p:cNvPr>
          <p:cNvSpPr/>
          <p:nvPr/>
        </p:nvSpPr>
        <p:spPr>
          <a:xfrm>
            <a:off x="144874" y="4667800"/>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Autres types d’espaces utiles à la Communauté</a:t>
            </a:r>
          </a:p>
        </p:txBody>
      </p:sp>
      <p:sp>
        <p:nvSpPr>
          <p:cNvPr id="91" name="Rectangle 90">
            <a:extLst>
              <a:ext uri="{FF2B5EF4-FFF2-40B4-BE49-F238E27FC236}">
                <a16:creationId xmlns:a16="http://schemas.microsoft.com/office/drawing/2014/main" id="{C6DCFD4E-5EC6-EEEF-37A6-6549EE84D1F1}"/>
              </a:ext>
            </a:extLst>
          </p:cNvPr>
          <p:cNvSpPr/>
          <p:nvPr/>
        </p:nvSpPr>
        <p:spPr>
          <a:xfrm>
            <a:off x="2541123" y="541221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Autres types d’outils utiles à la Communauté</a:t>
            </a:r>
          </a:p>
        </p:txBody>
      </p:sp>
      <p:sp>
        <p:nvSpPr>
          <p:cNvPr id="92" name="Rectangle 91">
            <a:extLst>
              <a:ext uri="{FF2B5EF4-FFF2-40B4-BE49-F238E27FC236}">
                <a16:creationId xmlns:a16="http://schemas.microsoft.com/office/drawing/2014/main" id="{4F9F5B1D-61D6-DACB-2C73-91475DB56D61}"/>
              </a:ext>
            </a:extLst>
          </p:cNvPr>
          <p:cNvSpPr/>
          <p:nvPr/>
        </p:nvSpPr>
        <p:spPr>
          <a:xfrm>
            <a:off x="4961026" y="4667800"/>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Capacités de travail individuelles significatives</a:t>
            </a:r>
          </a:p>
        </p:txBody>
      </p:sp>
      <p:sp>
        <p:nvSpPr>
          <p:cNvPr id="93" name="Rectangle 92">
            <a:extLst>
              <a:ext uri="{FF2B5EF4-FFF2-40B4-BE49-F238E27FC236}">
                <a16:creationId xmlns:a16="http://schemas.microsoft.com/office/drawing/2014/main" id="{00045D68-458E-186E-4C8F-6AFBDFECECF1}"/>
              </a:ext>
            </a:extLst>
          </p:cNvPr>
          <p:cNvSpPr/>
          <p:nvPr/>
        </p:nvSpPr>
        <p:spPr>
          <a:xfrm>
            <a:off x="8474904" y="6144034"/>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Autres types de motivations utiles à la Communauté</a:t>
            </a:r>
          </a:p>
        </p:txBody>
      </p:sp>
      <p:sp>
        <p:nvSpPr>
          <p:cNvPr id="94" name="Rectangle 93">
            <a:extLst>
              <a:ext uri="{FF2B5EF4-FFF2-40B4-BE49-F238E27FC236}">
                <a16:creationId xmlns:a16="http://schemas.microsoft.com/office/drawing/2014/main" id="{4BAE5CE8-850A-04C6-5DE8-6649C080C7AE}"/>
              </a:ext>
            </a:extLst>
          </p:cNvPr>
          <p:cNvSpPr/>
          <p:nvPr/>
        </p:nvSpPr>
        <p:spPr>
          <a:xfrm>
            <a:off x="6142352" y="4667800"/>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Autres types de compétences utiles à la Communauté</a:t>
            </a:r>
          </a:p>
        </p:txBody>
      </p:sp>
      <p:sp>
        <p:nvSpPr>
          <p:cNvPr id="96" name="Rectangle 95">
            <a:extLst>
              <a:ext uri="{FF2B5EF4-FFF2-40B4-BE49-F238E27FC236}">
                <a16:creationId xmlns:a16="http://schemas.microsoft.com/office/drawing/2014/main" id="{5DAA2E8E-D7D1-7199-A22C-7A0F0AF5BAA5}"/>
              </a:ext>
            </a:extLst>
          </p:cNvPr>
          <p:cNvSpPr/>
          <p:nvPr/>
        </p:nvSpPr>
        <p:spPr>
          <a:xfrm>
            <a:off x="4955897" y="6144034"/>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Autres types de disponibilités</a:t>
            </a:r>
          </a:p>
        </p:txBody>
      </p:sp>
      <p:sp>
        <p:nvSpPr>
          <p:cNvPr id="97" name="Rectangle 96">
            <a:extLst>
              <a:ext uri="{FF2B5EF4-FFF2-40B4-BE49-F238E27FC236}">
                <a16:creationId xmlns:a16="http://schemas.microsoft.com/office/drawing/2014/main" id="{5EF51896-D1BA-F16D-3BDA-FD265C41E77C}"/>
              </a:ext>
            </a:extLst>
          </p:cNvPr>
          <p:cNvSpPr/>
          <p:nvPr/>
        </p:nvSpPr>
        <p:spPr>
          <a:xfrm>
            <a:off x="9658331" y="6144034"/>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Autres types de soutiens utiles à la Communauté</a:t>
            </a:r>
          </a:p>
        </p:txBody>
      </p:sp>
      <p:sp>
        <p:nvSpPr>
          <p:cNvPr id="99" name="Rectangle 98">
            <a:extLst>
              <a:ext uri="{FF2B5EF4-FFF2-40B4-BE49-F238E27FC236}">
                <a16:creationId xmlns:a16="http://schemas.microsoft.com/office/drawing/2014/main" id="{F4952493-237E-37AD-B459-8D04FD7EED6C}"/>
              </a:ext>
            </a:extLst>
          </p:cNvPr>
          <p:cNvSpPr/>
          <p:nvPr/>
        </p:nvSpPr>
        <p:spPr>
          <a:xfrm>
            <a:off x="2541123" y="4667800"/>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à des outils de renseignement</a:t>
            </a:r>
          </a:p>
        </p:txBody>
      </p:sp>
      <p:sp>
        <p:nvSpPr>
          <p:cNvPr id="100" name="Rectangle 99">
            <a:extLst>
              <a:ext uri="{FF2B5EF4-FFF2-40B4-BE49-F238E27FC236}">
                <a16:creationId xmlns:a16="http://schemas.microsoft.com/office/drawing/2014/main" id="{0F8C51DF-DB1A-37ED-33B0-A4D3BD86D678}"/>
              </a:ext>
            </a:extLst>
          </p:cNvPr>
          <p:cNvSpPr/>
          <p:nvPr/>
        </p:nvSpPr>
        <p:spPr>
          <a:xfrm>
            <a:off x="7307114" y="4667800"/>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Expériences et histoires clés utiles pour la Communauté</a:t>
            </a:r>
          </a:p>
        </p:txBody>
      </p:sp>
      <p:sp>
        <p:nvSpPr>
          <p:cNvPr id="101" name="Rectangle 100">
            <a:extLst>
              <a:ext uri="{FF2B5EF4-FFF2-40B4-BE49-F238E27FC236}">
                <a16:creationId xmlns:a16="http://schemas.microsoft.com/office/drawing/2014/main" id="{CC7AFEF8-FB9F-D9B8-B576-0EFAD1801893}"/>
              </a:ext>
            </a:extLst>
          </p:cNvPr>
          <p:cNvSpPr/>
          <p:nvPr/>
        </p:nvSpPr>
        <p:spPr>
          <a:xfrm>
            <a:off x="7307114" y="6144034"/>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Autres types d’informations utiles à la Communauté</a:t>
            </a:r>
          </a:p>
        </p:txBody>
      </p:sp>
      <p:sp>
        <p:nvSpPr>
          <p:cNvPr id="103" name="Rectangle 102">
            <a:extLst>
              <a:ext uri="{FF2B5EF4-FFF2-40B4-BE49-F238E27FC236}">
                <a16:creationId xmlns:a16="http://schemas.microsoft.com/office/drawing/2014/main" id="{0F31E1DE-5EF7-B5BF-0561-3EBCB83C4BFF}"/>
              </a:ext>
            </a:extLst>
          </p:cNvPr>
          <p:cNvSpPr/>
          <p:nvPr/>
        </p:nvSpPr>
        <p:spPr>
          <a:xfrm>
            <a:off x="8474904" y="4667800"/>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Attention commune à un sujet en particulier</a:t>
            </a:r>
          </a:p>
        </p:txBody>
      </p:sp>
      <p:sp>
        <p:nvSpPr>
          <p:cNvPr id="104" name="Rectangle 103">
            <a:extLst>
              <a:ext uri="{FF2B5EF4-FFF2-40B4-BE49-F238E27FC236}">
                <a16:creationId xmlns:a16="http://schemas.microsoft.com/office/drawing/2014/main" id="{211B6A91-6581-EF33-89BD-EDA12D8F2F1C}"/>
              </a:ext>
            </a:extLst>
          </p:cNvPr>
          <p:cNvSpPr/>
          <p:nvPr/>
        </p:nvSpPr>
        <p:spPr>
          <a:xfrm>
            <a:off x="1322129" y="3194672"/>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à du matériel pour la vie de  la Communauté</a:t>
            </a:r>
          </a:p>
        </p:txBody>
      </p:sp>
      <p:sp>
        <p:nvSpPr>
          <p:cNvPr id="106" name="Rectangle 105">
            <a:extLst>
              <a:ext uri="{FF2B5EF4-FFF2-40B4-BE49-F238E27FC236}">
                <a16:creationId xmlns:a16="http://schemas.microsoft.com/office/drawing/2014/main" id="{9029AF26-E823-2F1E-C9C1-1D1C71BC39F0}"/>
              </a:ext>
            </a:extLst>
          </p:cNvPr>
          <p:cNvSpPr/>
          <p:nvPr/>
        </p:nvSpPr>
        <p:spPr>
          <a:xfrm>
            <a:off x="8474904" y="541221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Habitude individuelle commune déjà en place </a:t>
            </a:r>
          </a:p>
        </p:txBody>
      </p:sp>
      <p:sp>
        <p:nvSpPr>
          <p:cNvPr id="107" name="Rectangle 106">
            <a:extLst>
              <a:ext uri="{FF2B5EF4-FFF2-40B4-BE49-F238E27FC236}">
                <a16:creationId xmlns:a16="http://schemas.microsoft.com/office/drawing/2014/main" id="{C84CB829-21DE-FE4C-CBB2-1E3AD8E62F6A}"/>
              </a:ext>
            </a:extLst>
          </p:cNvPr>
          <p:cNvSpPr/>
          <p:nvPr/>
        </p:nvSpPr>
        <p:spPr>
          <a:xfrm>
            <a:off x="1316132" y="393156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Autres types de matériels</a:t>
            </a:r>
          </a:p>
        </p:txBody>
      </p:sp>
      <p:sp>
        <p:nvSpPr>
          <p:cNvPr id="95" name="Rectangle 94">
            <a:extLst>
              <a:ext uri="{FF2B5EF4-FFF2-40B4-BE49-F238E27FC236}">
                <a16:creationId xmlns:a16="http://schemas.microsoft.com/office/drawing/2014/main" id="{C595B3E8-1F58-DA8D-AE86-47705C15D60D}"/>
              </a:ext>
            </a:extLst>
          </p:cNvPr>
          <p:cNvSpPr/>
          <p:nvPr/>
        </p:nvSpPr>
        <p:spPr>
          <a:xfrm>
            <a:off x="4963714" y="541221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Temps d’attention des membres</a:t>
            </a:r>
          </a:p>
        </p:txBody>
      </p:sp>
      <p:sp>
        <p:nvSpPr>
          <p:cNvPr id="98" name="Rectangle 97">
            <a:extLst>
              <a:ext uri="{FF2B5EF4-FFF2-40B4-BE49-F238E27FC236}">
                <a16:creationId xmlns:a16="http://schemas.microsoft.com/office/drawing/2014/main" id="{E6791E29-2BD4-E01E-BA93-9CD5E4C87753}"/>
              </a:ext>
            </a:extLst>
          </p:cNvPr>
          <p:cNvSpPr/>
          <p:nvPr/>
        </p:nvSpPr>
        <p:spPr>
          <a:xfrm>
            <a:off x="7307114" y="541221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Différences entre les individus permettant des perspectives complémentaires sur un sujet</a:t>
            </a:r>
          </a:p>
        </p:txBody>
      </p:sp>
      <p:grpSp>
        <p:nvGrpSpPr>
          <p:cNvPr id="102" name="Groupe 101">
            <a:extLst>
              <a:ext uri="{FF2B5EF4-FFF2-40B4-BE49-F238E27FC236}">
                <a16:creationId xmlns:a16="http://schemas.microsoft.com/office/drawing/2014/main" id="{7E61783F-A2C0-38BC-ACE3-48C13BEB7F85}"/>
              </a:ext>
            </a:extLst>
          </p:cNvPr>
          <p:cNvGrpSpPr/>
          <p:nvPr/>
        </p:nvGrpSpPr>
        <p:grpSpPr>
          <a:xfrm>
            <a:off x="52579" y="859015"/>
            <a:ext cx="11744852" cy="850503"/>
            <a:chOff x="363244" y="1304631"/>
            <a:chExt cx="11603415" cy="840262"/>
          </a:xfrm>
        </p:grpSpPr>
        <p:grpSp>
          <p:nvGrpSpPr>
            <p:cNvPr id="108" name="Groupe 107">
              <a:extLst>
                <a:ext uri="{FF2B5EF4-FFF2-40B4-BE49-F238E27FC236}">
                  <a16:creationId xmlns:a16="http://schemas.microsoft.com/office/drawing/2014/main" id="{B054E7D6-6A55-3D01-BCC3-D9D2A946D9D0}"/>
                </a:ext>
              </a:extLst>
            </p:cNvPr>
            <p:cNvGrpSpPr/>
            <p:nvPr/>
          </p:nvGrpSpPr>
          <p:grpSpPr>
            <a:xfrm>
              <a:off x="2776447" y="1327063"/>
              <a:ext cx="1274604" cy="803509"/>
              <a:chOff x="6804504" y="2072289"/>
              <a:chExt cx="1274604" cy="803509"/>
            </a:xfrm>
          </p:grpSpPr>
          <p:sp>
            <p:nvSpPr>
              <p:cNvPr id="136" name="ZoneTexte 135">
                <a:extLst>
                  <a:ext uri="{FF2B5EF4-FFF2-40B4-BE49-F238E27FC236}">
                    <a16:creationId xmlns:a16="http://schemas.microsoft.com/office/drawing/2014/main" id="{A9C79D68-C32D-F6E2-1A07-C9A194197F34}"/>
                  </a:ext>
                </a:extLst>
              </p:cNvPr>
              <p:cNvSpPr txBox="1"/>
              <p:nvPr/>
            </p:nvSpPr>
            <p:spPr>
              <a:xfrm>
                <a:off x="6804504" y="2603019"/>
                <a:ext cx="1274604" cy="272779"/>
              </a:xfrm>
              <a:prstGeom prst="rect">
                <a:avLst/>
              </a:prstGeom>
              <a:noFill/>
            </p:spPr>
            <p:txBody>
              <a:bodyPr wrap="square">
                <a:spAutoFit/>
              </a:bodyPr>
              <a:lstStyle/>
              <a:p>
                <a:pPr algn="ctr"/>
                <a:r>
                  <a:rPr lang="fr-FR" sz="900" dirty="0"/>
                  <a:t>Outils</a:t>
                </a:r>
              </a:p>
            </p:txBody>
          </p:sp>
          <p:pic>
            <p:nvPicPr>
              <p:cNvPr id="137" name="Graphique 136" descr="Chat avec un remplissage uni">
                <a:extLst>
                  <a:ext uri="{FF2B5EF4-FFF2-40B4-BE49-F238E27FC236}">
                    <a16:creationId xmlns:a16="http://schemas.microsoft.com/office/drawing/2014/main" id="{D304BD92-C5A5-F070-C8C8-413E2CE610D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213206" y="2072289"/>
                <a:ext cx="457200" cy="457200"/>
              </a:xfrm>
              <a:prstGeom prst="rect">
                <a:avLst/>
              </a:prstGeom>
            </p:spPr>
          </p:pic>
        </p:grpSp>
        <p:grpSp>
          <p:nvGrpSpPr>
            <p:cNvPr id="109" name="Groupe 108">
              <a:extLst>
                <a:ext uri="{FF2B5EF4-FFF2-40B4-BE49-F238E27FC236}">
                  <a16:creationId xmlns:a16="http://schemas.microsoft.com/office/drawing/2014/main" id="{39986ABD-5802-E666-234A-A3178A4791D3}"/>
                </a:ext>
              </a:extLst>
            </p:cNvPr>
            <p:cNvGrpSpPr/>
            <p:nvPr/>
          </p:nvGrpSpPr>
          <p:grpSpPr>
            <a:xfrm>
              <a:off x="5213379" y="1327063"/>
              <a:ext cx="1032426" cy="803509"/>
              <a:chOff x="5551821" y="2072289"/>
              <a:chExt cx="1032426" cy="803509"/>
            </a:xfrm>
          </p:grpSpPr>
          <p:sp>
            <p:nvSpPr>
              <p:cNvPr id="134" name="ZoneTexte 133">
                <a:extLst>
                  <a:ext uri="{FF2B5EF4-FFF2-40B4-BE49-F238E27FC236}">
                    <a16:creationId xmlns:a16="http://schemas.microsoft.com/office/drawing/2014/main" id="{3A1E5782-6A7C-2CB4-ECED-F66E3168ACF1}"/>
                  </a:ext>
                </a:extLst>
              </p:cNvPr>
              <p:cNvSpPr txBox="1"/>
              <p:nvPr/>
            </p:nvSpPr>
            <p:spPr>
              <a:xfrm>
                <a:off x="5551821" y="2603019"/>
                <a:ext cx="1032426" cy="272779"/>
              </a:xfrm>
              <a:prstGeom prst="rect">
                <a:avLst/>
              </a:prstGeom>
              <a:noFill/>
            </p:spPr>
            <p:txBody>
              <a:bodyPr wrap="square">
                <a:spAutoFit/>
              </a:bodyPr>
              <a:lstStyle/>
              <a:p>
                <a:pPr algn="ctr"/>
                <a:r>
                  <a:rPr lang="fr-FR" sz="900" dirty="0"/>
                  <a:t>Disponibilité</a:t>
                </a:r>
              </a:p>
            </p:txBody>
          </p:sp>
          <p:pic>
            <p:nvPicPr>
              <p:cNvPr id="135" name="Graphique 134" descr="Sablier 60% avec un remplissage uni">
                <a:extLst>
                  <a:ext uri="{FF2B5EF4-FFF2-40B4-BE49-F238E27FC236}">
                    <a16:creationId xmlns:a16="http://schemas.microsoft.com/office/drawing/2014/main" id="{E7A2ED9F-911D-B66C-F034-859BA7DDD2D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47251" y="2072289"/>
                <a:ext cx="457200" cy="457200"/>
              </a:xfrm>
              <a:prstGeom prst="rect">
                <a:avLst/>
              </a:prstGeom>
            </p:spPr>
          </p:pic>
        </p:grpSp>
        <p:grpSp>
          <p:nvGrpSpPr>
            <p:cNvPr id="110" name="Groupe 109">
              <a:extLst>
                <a:ext uri="{FF2B5EF4-FFF2-40B4-BE49-F238E27FC236}">
                  <a16:creationId xmlns:a16="http://schemas.microsoft.com/office/drawing/2014/main" id="{1B95BEF2-3B5A-9EF5-EAE3-94598D2DAE7E}"/>
                </a:ext>
              </a:extLst>
            </p:cNvPr>
            <p:cNvGrpSpPr/>
            <p:nvPr/>
          </p:nvGrpSpPr>
          <p:grpSpPr>
            <a:xfrm>
              <a:off x="8728205" y="1319376"/>
              <a:ext cx="1032426" cy="803509"/>
              <a:chOff x="4204166" y="2072289"/>
              <a:chExt cx="1032426" cy="803509"/>
            </a:xfrm>
          </p:grpSpPr>
          <p:sp>
            <p:nvSpPr>
              <p:cNvPr id="132" name="ZoneTexte 131">
                <a:extLst>
                  <a:ext uri="{FF2B5EF4-FFF2-40B4-BE49-F238E27FC236}">
                    <a16:creationId xmlns:a16="http://schemas.microsoft.com/office/drawing/2014/main" id="{C94DC4C5-043B-5AC9-5443-05D93FDD0415}"/>
                  </a:ext>
                </a:extLst>
              </p:cNvPr>
              <p:cNvSpPr txBox="1"/>
              <p:nvPr/>
            </p:nvSpPr>
            <p:spPr>
              <a:xfrm>
                <a:off x="4204166" y="2603019"/>
                <a:ext cx="1032426" cy="272779"/>
              </a:xfrm>
              <a:prstGeom prst="rect">
                <a:avLst/>
              </a:prstGeom>
              <a:noFill/>
            </p:spPr>
            <p:txBody>
              <a:bodyPr wrap="square">
                <a:spAutoFit/>
              </a:bodyPr>
              <a:lstStyle/>
              <a:p>
                <a:pPr algn="ctr"/>
                <a:r>
                  <a:rPr lang="fr-FR" sz="900" dirty="0"/>
                  <a:t>Motivations</a:t>
                </a:r>
              </a:p>
            </p:txBody>
          </p:sp>
          <p:pic>
            <p:nvPicPr>
              <p:cNvPr id="133" name="Graphique 132" descr="Flèches de chevron avec un remplissage uni">
                <a:extLst>
                  <a:ext uri="{FF2B5EF4-FFF2-40B4-BE49-F238E27FC236}">
                    <a16:creationId xmlns:a16="http://schemas.microsoft.com/office/drawing/2014/main" id="{8EEDF308-BB98-208C-9542-6E3235E9585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491779" y="2072289"/>
                <a:ext cx="457200" cy="457200"/>
              </a:xfrm>
              <a:prstGeom prst="rect">
                <a:avLst/>
              </a:prstGeom>
            </p:spPr>
          </p:pic>
        </p:grpSp>
        <p:grpSp>
          <p:nvGrpSpPr>
            <p:cNvPr id="111" name="Groupe 110">
              <a:extLst>
                <a:ext uri="{FF2B5EF4-FFF2-40B4-BE49-F238E27FC236}">
                  <a16:creationId xmlns:a16="http://schemas.microsoft.com/office/drawing/2014/main" id="{27A59E7E-8627-68A8-0C1E-186699F15EAA}"/>
                </a:ext>
              </a:extLst>
            </p:cNvPr>
            <p:cNvGrpSpPr/>
            <p:nvPr/>
          </p:nvGrpSpPr>
          <p:grpSpPr>
            <a:xfrm>
              <a:off x="6379681" y="1319376"/>
              <a:ext cx="1032426" cy="803509"/>
              <a:chOff x="2428298" y="2091339"/>
              <a:chExt cx="1032426" cy="803509"/>
            </a:xfrm>
          </p:grpSpPr>
          <p:sp>
            <p:nvSpPr>
              <p:cNvPr id="130" name="ZoneTexte 129">
                <a:extLst>
                  <a:ext uri="{FF2B5EF4-FFF2-40B4-BE49-F238E27FC236}">
                    <a16:creationId xmlns:a16="http://schemas.microsoft.com/office/drawing/2014/main" id="{22AABAC4-1B78-FDF5-C1E3-277A4B2EB1AD}"/>
                  </a:ext>
                </a:extLst>
              </p:cNvPr>
              <p:cNvSpPr txBox="1"/>
              <p:nvPr/>
            </p:nvSpPr>
            <p:spPr>
              <a:xfrm>
                <a:off x="2428298" y="2622069"/>
                <a:ext cx="1032426" cy="272779"/>
              </a:xfrm>
              <a:prstGeom prst="rect">
                <a:avLst/>
              </a:prstGeom>
              <a:noFill/>
            </p:spPr>
            <p:txBody>
              <a:bodyPr wrap="square">
                <a:spAutoFit/>
              </a:bodyPr>
              <a:lstStyle/>
              <a:p>
                <a:pPr algn="ctr"/>
                <a:r>
                  <a:rPr lang="fr-FR" sz="900" dirty="0"/>
                  <a:t>Compétences</a:t>
                </a:r>
              </a:p>
            </p:txBody>
          </p:sp>
          <p:pic>
            <p:nvPicPr>
              <p:cNvPr id="131" name="Graphique 130" descr="Tête avec engrenages avec un remplissage uni">
                <a:extLst>
                  <a:ext uri="{FF2B5EF4-FFF2-40B4-BE49-F238E27FC236}">
                    <a16:creationId xmlns:a16="http://schemas.microsoft.com/office/drawing/2014/main" id="{FE57CF00-1EE6-75BC-6FF5-16D87D27454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732130" y="2091339"/>
                <a:ext cx="457200" cy="457200"/>
              </a:xfrm>
              <a:prstGeom prst="rect">
                <a:avLst/>
              </a:prstGeom>
            </p:spPr>
          </p:pic>
        </p:grpSp>
        <p:grpSp>
          <p:nvGrpSpPr>
            <p:cNvPr id="112" name="Groupe 111">
              <a:extLst>
                <a:ext uri="{FF2B5EF4-FFF2-40B4-BE49-F238E27FC236}">
                  <a16:creationId xmlns:a16="http://schemas.microsoft.com/office/drawing/2014/main" id="{CC8F86F3-78BA-6C93-8004-69BD1BAA227D}"/>
                </a:ext>
              </a:extLst>
            </p:cNvPr>
            <p:cNvGrpSpPr/>
            <p:nvPr/>
          </p:nvGrpSpPr>
          <p:grpSpPr>
            <a:xfrm>
              <a:off x="1816849" y="1329133"/>
              <a:ext cx="754455" cy="803509"/>
              <a:chOff x="236639" y="2072289"/>
              <a:chExt cx="754455" cy="803509"/>
            </a:xfrm>
          </p:grpSpPr>
          <p:sp>
            <p:nvSpPr>
              <p:cNvPr id="128" name="ZoneTexte 127">
                <a:extLst>
                  <a:ext uri="{FF2B5EF4-FFF2-40B4-BE49-F238E27FC236}">
                    <a16:creationId xmlns:a16="http://schemas.microsoft.com/office/drawing/2014/main" id="{E3AB7499-C24C-4335-62D7-4A2A70823DFF}"/>
                  </a:ext>
                </a:extLst>
              </p:cNvPr>
              <p:cNvSpPr txBox="1"/>
              <p:nvPr/>
            </p:nvSpPr>
            <p:spPr>
              <a:xfrm>
                <a:off x="236639" y="2603019"/>
                <a:ext cx="754455" cy="272779"/>
              </a:xfrm>
              <a:prstGeom prst="rect">
                <a:avLst/>
              </a:prstGeom>
              <a:noFill/>
            </p:spPr>
            <p:txBody>
              <a:bodyPr wrap="square">
                <a:spAutoFit/>
              </a:bodyPr>
              <a:lstStyle/>
              <a:p>
                <a:pPr algn="ctr"/>
                <a:r>
                  <a:rPr lang="fr-FR" sz="900" dirty="0"/>
                  <a:t>Matériel</a:t>
                </a:r>
              </a:p>
            </p:txBody>
          </p:sp>
          <p:pic>
            <p:nvPicPr>
              <p:cNvPr id="129" name="Graphique 128" descr="Diable avec un remplissage uni">
                <a:extLst>
                  <a:ext uri="{FF2B5EF4-FFF2-40B4-BE49-F238E27FC236}">
                    <a16:creationId xmlns:a16="http://schemas.microsoft.com/office/drawing/2014/main" id="{4E386603-D812-522C-591D-330B94ECAAE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66612" y="2072289"/>
                <a:ext cx="457200" cy="457200"/>
              </a:xfrm>
              <a:prstGeom prst="rect">
                <a:avLst/>
              </a:prstGeom>
            </p:spPr>
          </p:pic>
        </p:grpSp>
        <p:grpSp>
          <p:nvGrpSpPr>
            <p:cNvPr id="113" name="Groupe 112">
              <a:extLst>
                <a:ext uri="{FF2B5EF4-FFF2-40B4-BE49-F238E27FC236}">
                  <a16:creationId xmlns:a16="http://schemas.microsoft.com/office/drawing/2014/main" id="{C07AEC85-4A62-9AF1-AA7A-AE1E1CFC6B3F}"/>
                </a:ext>
              </a:extLst>
            </p:cNvPr>
            <p:cNvGrpSpPr/>
            <p:nvPr/>
          </p:nvGrpSpPr>
          <p:grpSpPr>
            <a:xfrm>
              <a:off x="7339961" y="1323986"/>
              <a:ext cx="1381765" cy="803509"/>
              <a:chOff x="1276816" y="2072289"/>
              <a:chExt cx="1381765" cy="803509"/>
            </a:xfrm>
          </p:grpSpPr>
          <p:sp>
            <p:nvSpPr>
              <p:cNvPr id="126" name="ZoneTexte 125">
                <a:extLst>
                  <a:ext uri="{FF2B5EF4-FFF2-40B4-BE49-F238E27FC236}">
                    <a16:creationId xmlns:a16="http://schemas.microsoft.com/office/drawing/2014/main" id="{DEE7577A-0F15-7A02-8F64-26EE3EB7C5DA}"/>
                  </a:ext>
                </a:extLst>
              </p:cNvPr>
              <p:cNvSpPr txBox="1"/>
              <p:nvPr/>
            </p:nvSpPr>
            <p:spPr>
              <a:xfrm>
                <a:off x="1276816" y="2603019"/>
                <a:ext cx="1381765" cy="272779"/>
              </a:xfrm>
              <a:prstGeom prst="rect">
                <a:avLst/>
              </a:prstGeom>
              <a:noFill/>
            </p:spPr>
            <p:txBody>
              <a:bodyPr wrap="square">
                <a:spAutoFit/>
              </a:bodyPr>
              <a:lstStyle/>
              <a:p>
                <a:pPr algn="ctr"/>
                <a:r>
                  <a:rPr lang="fr-FR" sz="900" dirty="0"/>
                  <a:t>Informations clé</a:t>
                </a:r>
              </a:p>
            </p:txBody>
          </p:sp>
          <p:pic>
            <p:nvPicPr>
              <p:cNvPr id="127" name="Graphique 126" descr="Informations avec un remplissage uni">
                <a:extLst>
                  <a:ext uri="{FF2B5EF4-FFF2-40B4-BE49-F238E27FC236}">
                    <a16:creationId xmlns:a16="http://schemas.microsoft.com/office/drawing/2014/main" id="{A25F900D-CA9A-289C-6F80-EF468DABCEB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726018" y="2072289"/>
                <a:ext cx="478914" cy="478914"/>
              </a:xfrm>
              <a:prstGeom prst="rect">
                <a:avLst/>
              </a:prstGeom>
            </p:spPr>
          </p:pic>
        </p:grpSp>
        <p:grpSp>
          <p:nvGrpSpPr>
            <p:cNvPr id="114" name="Groupe 113">
              <a:extLst>
                <a:ext uri="{FF2B5EF4-FFF2-40B4-BE49-F238E27FC236}">
                  <a16:creationId xmlns:a16="http://schemas.microsoft.com/office/drawing/2014/main" id="{698DEBDA-F01A-B1F1-378F-A6B02B02D8AF}"/>
                </a:ext>
              </a:extLst>
            </p:cNvPr>
            <p:cNvGrpSpPr/>
            <p:nvPr/>
          </p:nvGrpSpPr>
          <p:grpSpPr>
            <a:xfrm>
              <a:off x="363244" y="1341384"/>
              <a:ext cx="1274604" cy="803509"/>
              <a:chOff x="8215494" y="2072289"/>
              <a:chExt cx="1274604" cy="803509"/>
            </a:xfrm>
          </p:grpSpPr>
          <p:sp>
            <p:nvSpPr>
              <p:cNvPr id="124" name="ZoneTexte 123">
                <a:extLst>
                  <a:ext uri="{FF2B5EF4-FFF2-40B4-BE49-F238E27FC236}">
                    <a16:creationId xmlns:a16="http://schemas.microsoft.com/office/drawing/2014/main" id="{497C4344-ABC3-E58F-2D46-F31C7F4808B6}"/>
                  </a:ext>
                </a:extLst>
              </p:cNvPr>
              <p:cNvSpPr txBox="1"/>
              <p:nvPr/>
            </p:nvSpPr>
            <p:spPr>
              <a:xfrm>
                <a:off x="8215494" y="2603019"/>
                <a:ext cx="1274604" cy="272779"/>
              </a:xfrm>
              <a:prstGeom prst="rect">
                <a:avLst/>
              </a:prstGeom>
              <a:noFill/>
            </p:spPr>
            <p:txBody>
              <a:bodyPr wrap="square">
                <a:spAutoFit/>
              </a:bodyPr>
              <a:lstStyle/>
              <a:p>
                <a:pPr algn="ctr"/>
                <a:r>
                  <a:rPr lang="fr-FR" sz="900" dirty="0"/>
                  <a:t>Espaces et lieux</a:t>
                </a:r>
              </a:p>
            </p:txBody>
          </p:sp>
          <p:pic>
            <p:nvPicPr>
              <p:cNvPr id="125" name="Graphique 124" descr="Conseil d’administration avec un remplissage uni">
                <a:extLst>
                  <a:ext uri="{FF2B5EF4-FFF2-40B4-BE49-F238E27FC236}">
                    <a16:creationId xmlns:a16="http://schemas.microsoft.com/office/drawing/2014/main" id="{8C5483A9-13B2-8E63-1C0B-513891428603}"/>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574409" y="2072289"/>
                <a:ext cx="556773" cy="556773"/>
              </a:xfrm>
              <a:prstGeom prst="rect">
                <a:avLst/>
              </a:prstGeom>
            </p:spPr>
          </p:pic>
        </p:grpSp>
        <p:grpSp>
          <p:nvGrpSpPr>
            <p:cNvPr id="115" name="Groupe 114">
              <a:extLst>
                <a:ext uri="{FF2B5EF4-FFF2-40B4-BE49-F238E27FC236}">
                  <a16:creationId xmlns:a16="http://schemas.microsoft.com/office/drawing/2014/main" id="{DFCD5D00-E134-C5C0-C38C-B013526262CC}"/>
                </a:ext>
              </a:extLst>
            </p:cNvPr>
            <p:cNvGrpSpPr/>
            <p:nvPr/>
          </p:nvGrpSpPr>
          <p:grpSpPr>
            <a:xfrm>
              <a:off x="4195824" y="1322881"/>
              <a:ext cx="764501" cy="803509"/>
              <a:chOff x="9827467" y="2072289"/>
              <a:chExt cx="764501" cy="803509"/>
            </a:xfrm>
          </p:grpSpPr>
          <p:pic>
            <p:nvPicPr>
              <p:cNvPr id="122" name="Graphique 121" descr="Tirelire avec un remplissage uni">
                <a:extLst>
                  <a:ext uri="{FF2B5EF4-FFF2-40B4-BE49-F238E27FC236}">
                    <a16:creationId xmlns:a16="http://schemas.microsoft.com/office/drawing/2014/main" id="{6DB5ECAE-E5B9-D656-E84B-CDB4D8DF11C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956969" y="2072289"/>
                <a:ext cx="540000" cy="540000"/>
              </a:xfrm>
              <a:prstGeom prst="rect">
                <a:avLst/>
              </a:prstGeom>
            </p:spPr>
          </p:pic>
          <p:sp>
            <p:nvSpPr>
              <p:cNvPr id="123" name="ZoneTexte 122">
                <a:extLst>
                  <a:ext uri="{FF2B5EF4-FFF2-40B4-BE49-F238E27FC236}">
                    <a16:creationId xmlns:a16="http://schemas.microsoft.com/office/drawing/2014/main" id="{F2362EBB-376F-DF9C-50F8-8D7157C3AAA5}"/>
                  </a:ext>
                </a:extLst>
              </p:cNvPr>
              <p:cNvSpPr txBox="1"/>
              <p:nvPr/>
            </p:nvSpPr>
            <p:spPr>
              <a:xfrm>
                <a:off x="9827467" y="2603019"/>
                <a:ext cx="764501" cy="272779"/>
              </a:xfrm>
              <a:prstGeom prst="rect">
                <a:avLst/>
              </a:prstGeom>
              <a:noFill/>
            </p:spPr>
            <p:txBody>
              <a:bodyPr wrap="square">
                <a:spAutoFit/>
              </a:bodyPr>
              <a:lstStyle/>
              <a:p>
                <a:pPr algn="ctr"/>
                <a:r>
                  <a:rPr lang="fr-FR" sz="900" dirty="0"/>
                  <a:t>Budget</a:t>
                </a:r>
              </a:p>
            </p:txBody>
          </p:sp>
        </p:grpSp>
        <p:grpSp>
          <p:nvGrpSpPr>
            <p:cNvPr id="116" name="Groupe 115">
              <a:extLst>
                <a:ext uri="{FF2B5EF4-FFF2-40B4-BE49-F238E27FC236}">
                  <a16:creationId xmlns:a16="http://schemas.microsoft.com/office/drawing/2014/main" id="{FF1E903F-E92A-6D01-B17A-C76FE31ADF9F}"/>
                </a:ext>
              </a:extLst>
            </p:cNvPr>
            <p:cNvGrpSpPr/>
            <p:nvPr/>
          </p:nvGrpSpPr>
          <p:grpSpPr>
            <a:xfrm>
              <a:off x="11202158" y="1327063"/>
              <a:ext cx="764501" cy="803509"/>
              <a:chOff x="11150144" y="2072289"/>
              <a:chExt cx="764501" cy="803509"/>
            </a:xfrm>
          </p:grpSpPr>
          <p:pic>
            <p:nvPicPr>
              <p:cNvPr id="120" name="Graphique 119" descr="Badge point d’interrogation avec un remplissage uni">
                <a:extLst>
                  <a:ext uri="{FF2B5EF4-FFF2-40B4-BE49-F238E27FC236}">
                    <a16:creationId xmlns:a16="http://schemas.microsoft.com/office/drawing/2014/main" id="{8E738AE1-9375-282F-DAD6-943FFE0B380E}"/>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1270657" y="2072289"/>
                <a:ext cx="540000" cy="540000"/>
              </a:xfrm>
              <a:prstGeom prst="rect">
                <a:avLst/>
              </a:prstGeom>
            </p:spPr>
          </p:pic>
          <p:sp>
            <p:nvSpPr>
              <p:cNvPr id="121" name="ZoneTexte 120">
                <a:extLst>
                  <a:ext uri="{FF2B5EF4-FFF2-40B4-BE49-F238E27FC236}">
                    <a16:creationId xmlns:a16="http://schemas.microsoft.com/office/drawing/2014/main" id="{E9C64F6A-1BB5-8977-2E32-2E683754DB7D}"/>
                  </a:ext>
                </a:extLst>
              </p:cNvPr>
              <p:cNvSpPr txBox="1"/>
              <p:nvPr/>
            </p:nvSpPr>
            <p:spPr>
              <a:xfrm>
                <a:off x="11150144" y="2603019"/>
                <a:ext cx="764501" cy="272779"/>
              </a:xfrm>
              <a:prstGeom prst="rect">
                <a:avLst/>
              </a:prstGeom>
              <a:noFill/>
            </p:spPr>
            <p:txBody>
              <a:bodyPr wrap="square">
                <a:spAutoFit/>
              </a:bodyPr>
              <a:lstStyle/>
              <a:p>
                <a:pPr algn="ctr"/>
                <a:r>
                  <a:rPr lang="fr-FR" sz="900" dirty="0"/>
                  <a:t>Autres</a:t>
                </a:r>
              </a:p>
            </p:txBody>
          </p:sp>
        </p:grpSp>
        <p:grpSp>
          <p:nvGrpSpPr>
            <p:cNvPr id="117" name="Groupe 116">
              <a:extLst>
                <a:ext uri="{FF2B5EF4-FFF2-40B4-BE49-F238E27FC236}">
                  <a16:creationId xmlns:a16="http://schemas.microsoft.com/office/drawing/2014/main" id="{E32A19D4-A17B-A831-41F0-81E6188770FF}"/>
                </a:ext>
              </a:extLst>
            </p:cNvPr>
            <p:cNvGrpSpPr/>
            <p:nvPr/>
          </p:nvGrpSpPr>
          <p:grpSpPr>
            <a:xfrm>
              <a:off x="9754481" y="1304631"/>
              <a:ext cx="1326669" cy="822863"/>
              <a:chOff x="9651618" y="1361747"/>
              <a:chExt cx="1326669" cy="822863"/>
            </a:xfrm>
          </p:grpSpPr>
          <p:pic>
            <p:nvPicPr>
              <p:cNvPr id="118" name="Graphique 117" descr="Signe pouce en haut avec un remplissage uni">
                <a:extLst>
                  <a:ext uri="{FF2B5EF4-FFF2-40B4-BE49-F238E27FC236}">
                    <a16:creationId xmlns:a16="http://schemas.microsoft.com/office/drawing/2014/main" id="{78A3BBD3-FDC3-8C3A-ED1F-42C18E2813DD}"/>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0057766" y="1361747"/>
                <a:ext cx="514374" cy="514374"/>
              </a:xfrm>
              <a:prstGeom prst="rect">
                <a:avLst/>
              </a:prstGeom>
            </p:spPr>
          </p:pic>
          <p:sp>
            <p:nvSpPr>
              <p:cNvPr id="119" name="ZoneTexte 118">
                <a:extLst>
                  <a:ext uri="{FF2B5EF4-FFF2-40B4-BE49-F238E27FC236}">
                    <a16:creationId xmlns:a16="http://schemas.microsoft.com/office/drawing/2014/main" id="{6D3C028F-2381-22AD-0446-D67215A9C7D5}"/>
                  </a:ext>
                </a:extLst>
              </p:cNvPr>
              <p:cNvSpPr txBox="1"/>
              <p:nvPr/>
            </p:nvSpPr>
            <p:spPr>
              <a:xfrm>
                <a:off x="9651618" y="1911831"/>
                <a:ext cx="1326669" cy="272779"/>
              </a:xfrm>
              <a:prstGeom prst="rect">
                <a:avLst/>
              </a:prstGeom>
              <a:noFill/>
            </p:spPr>
            <p:txBody>
              <a:bodyPr wrap="square">
                <a:spAutoFit/>
              </a:bodyPr>
              <a:lstStyle/>
              <a:p>
                <a:pPr algn="ctr"/>
                <a:r>
                  <a:rPr lang="fr-FR" sz="900" dirty="0"/>
                  <a:t>Soutien extérieur</a:t>
                </a:r>
              </a:p>
            </p:txBody>
          </p:sp>
        </p:grpSp>
      </p:grpSp>
      <p:sp>
        <p:nvSpPr>
          <p:cNvPr id="105" name="Rectangle 104">
            <a:extLst>
              <a:ext uri="{FF2B5EF4-FFF2-40B4-BE49-F238E27FC236}">
                <a16:creationId xmlns:a16="http://schemas.microsoft.com/office/drawing/2014/main" id="{347E2081-A812-282D-E9C4-FD37A0B27708}"/>
              </a:ext>
            </a:extLst>
          </p:cNvPr>
          <p:cNvSpPr/>
          <p:nvPr/>
        </p:nvSpPr>
        <p:spPr>
          <a:xfrm>
            <a:off x="9670903" y="5405917"/>
            <a:ext cx="110792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Notoriétés ou légitimités  (=multiplicateurs de soutien)</a:t>
            </a:r>
          </a:p>
        </p:txBody>
      </p:sp>
    </p:spTree>
    <p:extLst>
      <p:ext uri="{BB962C8B-B14F-4D97-AF65-F5344CB8AC3E}">
        <p14:creationId xmlns:p14="http://schemas.microsoft.com/office/powerpoint/2010/main" val="114968427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D86BB56-A91F-1A5C-2F75-C45E3C94FB56}"/>
              </a:ext>
            </a:extLst>
          </p:cNvPr>
          <p:cNvSpPr>
            <a:spLocks noGrp="1"/>
          </p:cNvSpPr>
          <p:nvPr>
            <p:ph type="title"/>
          </p:nvPr>
        </p:nvSpPr>
        <p:spPr>
          <a:xfrm>
            <a:off x="838200" y="159391"/>
            <a:ext cx="10515600" cy="821751"/>
          </a:xfrm>
        </p:spPr>
        <p:txBody>
          <a:bodyPr>
            <a:noAutofit/>
          </a:bodyPr>
          <a:lstStyle/>
          <a:p>
            <a:r>
              <a:rPr lang="fr-FR" sz="3600" dirty="0"/>
              <a:t>Exemple d’actions pour accès et mise en commun</a:t>
            </a:r>
            <a:br>
              <a:rPr lang="fr-FR" sz="3600" dirty="0"/>
            </a:br>
            <a:r>
              <a:rPr lang="fr-FR" sz="1400" dirty="0"/>
              <a:t>📅Evènements  , ✍️Contenus, ⚙️Structuration</a:t>
            </a:r>
            <a:endParaRPr lang="fr-FR" sz="3600" dirty="0"/>
          </a:p>
        </p:txBody>
      </p:sp>
      <p:grpSp>
        <p:nvGrpSpPr>
          <p:cNvPr id="36" name="Groupe 35">
            <a:extLst>
              <a:ext uri="{FF2B5EF4-FFF2-40B4-BE49-F238E27FC236}">
                <a16:creationId xmlns:a16="http://schemas.microsoft.com/office/drawing/2014/main" id="{95CDC61F-958A-1DC4-29B0-7CA5F2EAE41D}"/>
              </a:ext>
            </a:extLst>
          </p:cNvPr>
          <p:cNvGrpSpPr/>
          <p:nvPr/>
        </p:nvGrpSpPr>
        <p:grpSpPr>
          <a:xfrm>
            <a:off x="189313" y="1055567"/>
            <a:ext cx="11744852" cy="805231"/>
            <a:chOff x="363244" y="1304631"/>
            <a:chExt cx="11603415" cy="795536"/>
          </a:xfrm>
        </p:grpSpPr>
        <p:grpSp>
          <p:nvGrpSpPr>
            <p:cNvPr id="37" name="Groupe 36">
              <a:extLst>
                <a:ext uri="{FF2B5EF4-FFF2-40B4-BE49-F238E27FC236}">
                  <a16:creationId xmlns:a16="http://schemas.microsoft.com/office/drawing/2014/main" id="{4B62F0FB-99FF-B3CD-A589-3CD8D06C5663}"/>
                </a:ext>
              </a:extLst>
            </p:cNvPr>
            <p:cNvGrpSpPr/>
            <p:nvPr/>
          </p:nvGrpSpPr>
          <p:grpSpPr>
            <a:xfrm>
              <a:off x="2776447" y="1327063"/>
              <a:ext cx="1274604" cy="758783"/>
              <a:chOff x="6804504" y="2072289"/>
              <a:chExt cx="1274604" cy="758783"/>
            </a:xfrm>
          </p:grpSpPr>
          <p:sp>
            <p:nvSpPr>
              <p:cNvPr id="67" name="ZoneTexte 66">
                <a:extLst>
                  <a:ext uri="{FF2B5EF4-FFF2-40B4-BE49-F238E27FC236}">
                    <a16:creationId xmlns:a16="http://schemas.microsoft.com/office/drawing/2014/main" id="{809D2CC5-7CAC-37D8-7283-5CA0A45568E5}"/>
                  </a:ext>
                </a:extLst>
              </p:cNvPr>
              <p:cNvSpPr txBox="1"/>
              <p:nvPr/>
            </p:nvSpPr>
            <p:spPr>
              <a:xfrm>
                <a:off x="6804504" y="2603019"/>
                <a:ext cx="1274604" cy="228053"/>
              </a:xfrm>
              <a:prstGeom prst="rect">
                <a:avLst/>
              </a:prstGeom>
              <a:noFill/>
            </p:spPr>
            <p:txBody>
              <a:bodyPr wrap="square">
                <a:spAutoFit/>
              </a:bodyPr>
              <a:lstStyle/>
              <a:p>
                <a:pPr algn="ctr"/>
                <a:r>
                  <a:rPr lang="fr-FR" sz="900" dirty="0"/>
                  <a:t>Outils</a:t>
                </a:r>
              </a:p>
            </p:txBody>
          </p:sp>
          <p:pic>
            <p:nvPicPr>
              <p:cNvPr id="68" name="Graphique 67" descr="Chat avec un remplissage uni">
                <a:extLst>
                  <a:ext uri="{FF2B5EF4-FFF2-40B4-BE49-F238E27FC236}">
                    <a16:creationId xmlns:a16="http://schemas.microsoft.com/office/drawing/2014/main" id="{0BD61EBA-6B10-E56E-3912-971635114C9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213206" y="2072289"/>
                <a:ext cx="457200" cy="457200"/>
              </a:xfrm>
              <a:prstGeom prst="rect">
                <a:avLst/>
              </a:prstGeom>
            </p:spPr>
          </p:pic>
        </p:grpSp>
        <p:grpSp>
          <p:nvGrpSpPr>
            <p:cNvPr id="38" name="Groupe 37">
              <a:extLst>
                <a:ext uri="{FF2B5EF4-FFF2-40B4-BE49-F238E27FC236}">
                  <a16:creationId xmlns:a16="http://schemas.microsoft.com/office/drawing/2014/main" id="{4A92AA0E-851C-626D-C75B-68E7B50CBD7C}"/>
                </a:ext>
              </a:extLst>
            </p:cNvPr>
            <p:cNvGrpSpPr/>
            <p:nvPr/>
          </p:nvGrpSpPr>
          <p:grpSpPr>
            <a:xfrm>
              <a:off x="5213379" y="1327063"/>
              <a:ext cx="1032426" cy="758783"/>
              <a:chOff x="5551821" y="2072289"/>
              <a:chExt cx="1032426" cy="758783"/>
            </a:xfrm>
          </p:grpSpPr>
          <p:sp>
            <p:nvSpPr>
              <p:cNvPr id="65" name="ZoneTexte 64">
                <a:extLst>
                  <a:ext uri="{FF2B5EF4-FFF2-40B4-BE49-F238E27FC236}">
                    <a16:creationId xmlns:a16="http://schemas.microsoft.com/office/drawing/2014/main" id="{3943B379-6E34-4F0B-525A-FBD6E6D90000}"/>
                  </a:ext>
                </a:extLst>
              </p:cNvPr>
              <p:cNvSpPr txBox="1"/>
              <p:nvPr/>
            </p:nvSpPr>
            <p:spPr>
              <a:xfrm>
                <a:off x="5551821" y="2603019"/>
                <a:ext cx="1032426" cy="228053"/>
              </a:xfrm>
              <a:prstGeom prst="rect">
                <a:avLst/>
              </a:prstGeom>
              <a:noFill/>
            </p:spPr>
            <p:txBody>
              <a:bodyPr wrap="square">
                <a:spAutoFit/>
              </a:bodyPr>
              <a:lstStyle/>
              <a:p>
                <a:pPr algn="ctr"/>
                <a:r>
                  <a:rPr lang="fr-FR" sz="900" dirty="0"/>
                  <a:t>Disponibilité</a:t>
                </a:r>
              </a:p>
            </p:txBody>
          </p:sp>
          <p:pic>
            <p:nvPicPr>
              <p:cNvPr id="66" name="Graphique 65" descr="Sablier 60% avec un remplissage uni">
                <a:extLst>
                  <a:ext uri="{FF2B5EF4-FFF2-40B4-BE49-F238E27FC236}">
                    <a16:creationId xmlns:a16="http://schemas.microsoft.com/office/drawing/2014/main" id="{71D5A62B-D048-246B-B428-2DA4B8B9330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47251" y="2072289"/>
                <a:ext cx="457200" cy="457200"/>
              </a:xfrm>
              <a:prstGeom prst="rect">
                <a:avLst/>
              </a:prstGeom>
            </p:spPr>
          </p:pic>
        </p:grpSp>
        <p:grpSp>
          <p:nvGrpSpPr>
            <p:cNvPr id="39" name="Groupe 38">
              <a:extLst>
                <a:ext uri="{FF2B5EF4-FFF2-40B4-BE49-F238E27FC236}">
                  <a16:creationId xmlns:a16="http://schemas.microsoft.com/office/drawing/2014/main" id="{97D5893B-DBA0-3301-FCE8-EAA193D95A57}"/>
                </a:ext>
              </a:extLst>
            </p:cNvPr>
            <p:cNvGrpSpPr/>
            <p:nvPr/>
          </p:nvGrpSpPr>
          <p:grpSpPr>
            <a:xfrm>
              <a:off x="8728205" y="1319376"/>
              <a:ext cx="1032426" cy="758783"/>
              <a:chOff x="4204166" y="2072289"/>
              <a:chExt cx="1032426" cy="758783"/>
            </a:xfrm>
          </p:grpSpPr>
          <p:sp>
            <p:nvSpPr>
              <p:cNvPr id="63" name="ZoneTexte 62">
                <a:extLst>
                  <a:ext uri="{FF2B5EF4-FFF2-40B4-BE49-F238E27FC236}">
                    <a16:creationId xmlns:a16="http://schemas.microsoft.com/office/drawing/2014/main" id="{20E30EAA-F5F2-AB30-7DA3-86212A14C438}"/>
                  </a:ext>
                </a:extLst>
              </p:cNvPr>
              <p:cNvSpPr txBox="1"/>
              <p:nvPr/>
            </p:nvSpPr>
            <p:spPr>
              <a:xfrm>
                <a:off x="4204166" y="2603019"/>
                <a:ext cx="1032426" cy="228053"/>
              </a:xfrm>
              <a:prstGeom prst="rect">
                <a:avLst/>
              </a:prstGeom>
              <a:noFill/>
            </p:spPr>
            <p:txBody>
              <a:bodyPr wrap="square">
                <a:spAutoFit/>
              </a:bodyPr>
              <a:lstStyle/>
              <a:p>
                <a:pPr algn="ctr"/>
                <a:r>
                  <a:rPr lang="fr-FR" sz="900" dirty="0"/>
                  <a:t>Motivations</a:t>
                </a:r>
              </a:p>
            </p:txBody>
          </p:sp>
          <p:pic>
            <p:nvPicPr>
              <p:cNvPr id="64" name="Graphique 63" descr="Flèches de chevron avec un remplissage uni">
                <a:extLst>
                  <a:ext uri="{FF2B5EF4-FFF2-40B4-BE49-F238E27FC236}">
                    <a16:creationId xmlns:a16="http://schemas.microsoft.com/office/drawing/2014/main" id="{E4A07752-9C3C-76CC-8A44-FFBFDEDABDD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491779" y="2072289"/>
                <a:ext cx="457200" cy="457200"/>
              </a:xfrm>
              <a:prstGeom prst="rect">
                <a:avLst/>
              </a:prstGeom>
            </p:spPr>
          </p:pic>
        </p:grpSp>
        <p:grpSp>
          <p:nvGrpSpPr>
            <p:cNvPr id="40" name="Groupe 39">
              <a:extLst>
                <a:ext uri="{FF2B5EF4-FFF2-40B4-BE49-F238E27FC236}">
                  <a16:creationId xmlns:a16="http://schemas.microsoft.com/office/drawing/2014/main" id="{80B44275-481C-E494-DDED-43BEDA333795}"/>
                </a:ext>
              </a:extLst>
            </p:cNvPr>
            <p:cNvGrpSpPr/>
            <p:nvPr/>
          </p:nvGrpSpPr>
          <p:grpSpPr>
            <a:xfrm>
              <a:off x="6379681" y="1319376"/>
              <a:ext cx="1032426" cy="758783"/>
              <a:chOff x="2428298" y="2091339"/>
              <a:chExt cx="1032426" cy="758783"/>
            </a:xfrm>
          </p:grpSpPr>
          <p:sp>
            <p:nvSpPr>
              <p:cNvPr id="61" name="ZoneTexte 60">
                <a:extLst>
                  <a:ext uri="{FF2B5EF4-FFF2-40B4-BE49-F238E27FC236}">
                    <a16:creationId xmlns:a16="http://schemas.microsoft.com/office/drawing/2014/main" id="{A6E9D0D1-0BE7-A793-70AB-9281CF09EB7F}"/>
                  </a:ext>
                </a:extLst>
              </p:cNvPr>
              <p:cNvSpPr txBox="1"/>
              <p:nvPr/>
            </p:nvSpPr>
            <p:spPr>
              <a:xfrm>
                <a:off x="2428298" y="2622069"/>
                <a:ext cx="1032426" cy="228053"/>
              </a:xfrm>
              <a:prstGeom prst="rect">
                <a:avLst/>
              </a:prstGeom>
              <a:noFill/>
            </p:spPr>
            <p:txBody>
              <a:bodyPr wrap="square">
                <a:spAutoFit/>
              </a:bodyPr>
              <a:lstStyle/>
              <a:p>
                <a:pPr algn="ctr"/>
                <a:r>
                  <a:rPr lang="fr-FR" sz="900" dirty="0"/>
                  <a:t>Compétences</a:t>
                </a:r>
              </a:p>
            </p:txBody>
          </p:sp>
          <p:pic>
            <p:nvPicPr>
              <p:cNvPr id="62" name="Graphique 61" descr="Tête avec engrenages avec un remplissage uni">
                <a:extLst>
                  <a:ext uri="{FF2B5EF4-FFF2-40B4-BE49-F238E27FC236}">
                    <a16:creationId xmlns:a16="http://schemas.microsoft.com/office/drawing/2014/main" id="{761976D8-4D75-EB8F-55B2-C65BBC14641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732130" y="2091339"/>
                <a:ext cx="457200" cy="457200"/>
              </a:xfrm>
              <a:prstGeom prst="rect">
                <a:avLst/>
              </a:prstGeom>
            </p:spPr>
          </p:pic>
        </p:grpSp>
        <p:grpSp>
          <p:nvGrpSpPr>
            <p:cNvPr id="41" name="Groupe 40">
              <a:extLst>
                <a:ext uri="{FF2B5EF4-FFF2-40B4-BE49-F238E27FC236}">
                  <a16:creationId xmlns:a16="http://schemas.microsoft.com/office/drawing/2014/main" id="{27B7FA97-2D11-15A6-F9FA-C8BDE4630B8C}"/>
                </a:ext>
              </a:extLst>
            </p:cNvPr>
            <p:cNvGrpSpPr/>
            <p:nvPr/>
          </p:nvGrpSpPr>
          <p:grpSpPr>
            <a:xfrm>
              <a:off x="1816849" y="1329133"/>
              <a:ext cx="754455" cy="758783"/>
              <a:chOff x="236639" y="2072289"/>
              <a:chExt cx="754455" cy="758783"/>
            </a:xfrm>
          </p:grpSpPr>
          <p:sp>
            <p:nvSpPr>
              <p:cNvPr id="59" name="ZoneTexte 58">
                <a:extLst>
                  <a:ext uri="{FF2B5EF4-FFF2-40B4-BE49-F238E27FC236}">
                    <a16:creationId xmlns:a16="http://schemas.microsoft.com/office/drawing/2014/main" id="{04483922-09DB-683C-7AB4-7AA5269DF310}"/>
                  </a:ext>
                </a:extLst>
              </p:cNvPr>
              <p:cNvSpPr txBox="1"/>
              <p:nvPr/>
            </p:nvSpPr>
            <p:spPr>
              <a:xfrm>
                <a:off x="236639" y="2603019"/>
                <a:ext cx="754455" cy="228053"/>
              </a:xfrm>
              <a:prstGeom prst="rect">
                <a:avLst/>
              </a:prstGeom>
              <a:noFill/>
            </p:spPr>
            <p:txBody>
              <a:bodyPr wrap="square">
                <a:spAutoFit/>
              </a:bodyPr>
              <a:lstStyle/>
              <a:p>
                <a:pPr algn="ctr"/>
                <a:r>
                  <a:rPr lang="fr-FR" sz="900" dirty="0"/>
                  <a:t>Matériel</a:t>
                </a:r>
              </a:p>
            </p:txBody>
          </p:sp>
          <p:pic>
            <p:nvPicPr>
              <p:cNvPr id="60" name="Graphique 59" descr="Diable avec un remplissage uni">
                <a:extLst>
                  <a:ext uri="{FF2B5EF4-FFF2-40B4-BE49-F238E27FC236}">
                    <a16:creationId xmlns:a16="http://schemas.microsoft.com/office/drawing/2014/main" id="{7C42B50A-6C3A-D616-69B6-4C6F8EAA98B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66612" y="2072289"/>
                <a:ext cx="457200" cy="457200"/>
              </a:xfrm>
              <a:prstGeom prst="rect">
                <a:avLst/>
              </a:prstGeom>
            </p:spPr>
          </p:pic>
        </p:grpSp>
        <p:grpSp>
          <p:nvGrpSpPr>
            <p:cNvPr id="42" name="Groupe 41">
              <a:extLst>
                <a:ext uri="{FF2B5EF4-FFF2-40B4-BE49-F238E27FC236}">
                  <a16:creationId xmlns:a16="http://schemas.microsoft.com/office/drawing/2014/main" id="{7A5AC874-6D07-DA6B-B3B8-A34FA6CE34DE}"/>
                </a:ext>
              </a:extLst>
            </p:cNvPr>
            <p:cNvGrpSpPr/>
            <p:nvPr/>
          </p:nvGrpSpPr>
          <p:grpSpPr>
            <a:xfrm>
              <a:off x="7339961" y="1323986"/>
              <a:ext cx="1381765" cy="758783"/>
              <a:chOff x="1276816" y="2072289"/>
              <a:chExt cx="1381765" cy="758783"/>
            </a:xfrm>
          </p:grpSpPr>
          <p:sp>
            <p:nvSpPr>
              <p:cNvPr id="57" name="ZoneTexte 56">
                <a:extLst>
                  <a:ext uri="{FF2B5EF4-FFF2-40B4-BE49-F238E27FC236}">
                    <a16:creationId xmlns:a16="http://schemas.microsoft.com/office/drawing/2014/main" id="{3A5866AA-7752-C029-CA59-70A698F6457D}"/>
                  </a:ext>
                </a:extLst>
              </p:cNvPr>
              <p:cNvSpPr txBox="1"/>
              <p:nvPr/>
            </p:nvSpPr>
            <p:spPr>
              <a:xfrm>
                <a:off x="1276816" y="2603019"/>
                <a:ext cx="1381765" cy="228053"/>
              </a:xfrm>
              <a:prstGeom prst="rect">
                <a:avLst/>
              </a:prstGeom>
              <a:noFill/>
            </p:spPr>
            <p:txBody>
              <a:bodyPr wrap="square">
                <a:spAutoFit/>
              </a:bodyPr>
              <a:lstStyle/>
              <a:p>
                <a:pPr algn="ctr"/>
                <a:r>
                  <a:rPr lang="fr-FR" sz="900" dirty="0"/>
                  <a:t>Informations clé</a:t>
                </a:r>
              </a:p>
            </p:txBody>
          </p:sp>
          <p:pic>
            <p:nvPicPr>
              <p:cNvPr id="58" name="Graphique 57" descr="Informations avec un remplissage uni">
                <a:extLst>
                  <a:ext uri="{FF2B5EF4-FFF2-40B4-BE49-F238E27FC236}">
                    <a16:creationId xmlns:a16="http://schemas.microsoft.com/office/drawing/2014/main" id="{46ED1DD4-A839-DAFE-856A-56B4C1B8DF52}"/>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726018" y="2072289"/>
                <a:ext cx="478914" cy="478914"/>
              </a:xfrm>
              <a:prstGeom prst="rect">
                <a:avLst/>
              </a:prstGeom>
            </p:spPr>
          </p:pic>
        </p:grpSp>
        <p:grpSp>
          <p:nvGrpSpPr>
            <p:cNvPr id="43" name="Groupe 42">
              <a:extLst>
                <a:ext uri="{FF2B5EF4-FFF2-40B4-BE49-F238E27FC236}">
                  <a16:creationId xmlns:a16="http://schemas.microsoft.com/office/drawing/2014/main" id="{9F2B80D6-0C13-EC83-8EA9-96CA4240AAAA}"/>
                </a:ext>
              </a:extLst>
            </p:cNvPr>
            <p:cNvGrpSpPr/>
            <p:nvPr/>
          </p:nvGrpSpPr>
          <p:grpSpPr>
            <a:xfrm>
              <a:off x="363244" y="1341384"/>
              <a:ext cx="1274604" cy="758783"/>
              <a:chOff x="8215494" y="2072289"/>
              <a:chExt cx="1274604" cy="758783"/>
            </a:xfrm>
          </p:grpSpPr>
          <p:sp>
            <p:nvSpPr>
              <p:cNvPr id="53" name="ZoneTexte 52">
                <a:extLst>
                  <a:ext uri="{FF2B5EF4-FFF2-40B4-BE49-F238E27FC236}">
                    <a16:creationId xmlns:a16="http://schemas.microsoft.com/office/drawing/2014/main" id="{07B7D4B7-340E-71A7-1700-D925D2152A7B}"/>
                  </a:ext>
                </a:extLst>
              </p:cNvPr>
              <p:cNvSpPr txBox="1"/>
              <p:nvPr/>
            </p:nvSpPr>
            <p:spPr>
              <a:xfrm>
                <a:off x="8215494" y="2603019"/>
                <a:ext cx="1274604" cy="228053"/>
              </a:xfrm>
              <a:prstGeom prst="rect">
                <a:avLst/>
              </a:prstGeom>
              <a:noFill/>
            </p:spPr>
            <p:txBody>
              <a:bodyPr wrap="square">
                <a:spAutoFit/>
              </a:bodyPr>
              <a:lstStyle/>
              <a:p>
                <a:pPr algn="ctr"/>
                <a:r>
                  <a:rPr lang="fr-FR" sz="900" dirty="0"/>
                  <a:t>Espaces et lieux</a:t>
                </a:r>
              </a:p>
            </p:txBody>
          </p:sp>
          <p:pic>
            <p:nvPicPr>
              <p:cNvPr id="56" name="Graphique 55" descr="Conseil d’administration avec un remplissage uni">
                <a:extLst>
                  <a:ext uri="{FF2B5EF4-FFF2-40B4-BE49-F238E27FC236}">
                    <a16:creationId xmlns:a16="http://schemas.microsoft.com/office/drawing/2014/main" id="{7288624D-AF3C-8149-3CFA-75F1AAC6145E}"/>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574409" y="2072289"/>
                <a:ext cx="556773" cy="556773"/>
              </a:xfrm>
              <a:prstGeom prst="rect">
                <a:avLst/>
              </a:prstGeom>
            </p:spPr>
          </p:pic>
        </p:grpSp>
        <p:grpSp>
          <p:nvGrpSpPr>
            <p:cNvPr id="44" name="Groupe 43">
              <a:extLst>
                <a:ext uri="{FF2B5EF4-FFF2-40B4-BE49-F238E27FC236}">
                  <a16:creationId xmlns:a16="http://schemas.microsoft.com/office/drawing/2014/main" id="{C282A5F8-5CD4-70D4-7A76-694DBBFBA717}"/>
                </a:ext>
              </a:extLst>
            </p:cNvPr>
            <p:cNvGrpSpPr/>
            <p:nvPr/>
          </p:nvGrpSpPr>
          <p:grpSpPr>
            <a:xfrm>
              <a:off x="4195824" y="1322881"/>
              <a:ext cx="764501" cy="758783"/>
              <a:chOff x="9827467" y="2072289"/>
              <a:chExt cx="764501" cy="758783"/>
            </a:xfrm>
          </p:grpSpPr>
          <p:pic>
            <p:nvPicPr>
              <p:cNvPr id="51" name="Graphique 50" descr="Tirelire avec un remplissage uni">
                <a:extLst>
                  <a:ext uri="{FF2B5EF4-FFF2-40B4-BE49-F238E27FC236}">
                    <a16:creationId xmlns:a16="http://schemas.microsoft.com/office/drawing/2014/main" id="{B2D97C5A-E5EF-5010-A429-603ABC67A85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956969" y="2072289"/>
                <a:ext cx="540000" cy="540000"/>
              </a:xfrm>
              <a:prstGeom prst="rect">
                <a:avLst/>
              </a:prstGeom>
            </p:spPr>
          </p:pic>
          <p:sp>
            <p:nvSpPr>
              <p:cNvPr id="52" name="ZoneTexte 51">
                <a:extLst>
                  <a:ext uri="{FF2B5EF4-FFF2-40B4-BE49-F238E27FC236}">
                    <a16:creationId xmlns:a16="http://schemas.microsoft.com/office/drawing/2014/main" id="{B4C6D8EE-DDCF-8E57-8BFD-1CFCCFBAE938}"/>
                  </a:ext>
                </a:extLst>
              </p:cNvPr>
              <p:cNvSpPr txBox="1"/>
              <p:nvPr/>
            </p:nvSpPr>
            <p:spPr>
              <a:xfrm>
                <a:off x="9827467" y="2603019"/>
                <a:ext cx="764501" cy="228053"/>
              </a:xfrm>
              <a:prstGeom prst="rect">
                <a:avLst/>
              </a:prstGeom>
              <a:noFill/>
            </p:spPr>
            <p:txBody>
              <a:bodyPr wrap="square">
                <a:spAutoFit/>
              </a:bodyPr>
              <a:lstStyle/>
              <a:p>
                <a:pPr algn="ctr"/>
                <a:r>
                  <a:rPr lang="fr-FR" sz="900" dirty="0"/>
                  <a:t>Budget</a:t>
                </a:r>
              </a:p>
            </p:txBody>
          </p:sp>
        </p:grpSp>
        <p:grpSp>
          <p:nvGrpSpPr>
            <p:cNvPr id="45" name="Groupe 44">
              <a:extLst>
                <a:ext uri="{FF2B5EF4-FFF2-40B4-BE49-F238E27FC236}">
                  <a16:creationId xmlns:a16="http://schemas.microsoft.com/office/drawing/2014/main" id="{1E96DD67-9BC2-4988-A39E-62352DFCAB56}"/>
                </a:ext>
              </a:extLst>
            </p:cNvPr>
            <p:cNvGrpSpPr/>
            <p:nvPr/>
          </p:nvGrpSpPr>
          <p:grpSpPr>
            <a:xfrm>
              <a:off x="11202158" y="1327063"/>
              <a:ext cx="764501" cy="758783"/>
              <a:chOff x="11150144" y="2072289"/>
              <a:chExt cx="764501" cy="758783"/>
            </a:xfrm>
          </p:grpSpPr>
          <p:pic>
            <p:nvPicPr>
              <p:cNvPr id="49" name="Graphique 48" descr="Badge point d’interrogation avec un remplissage uni">
                <a:extLst>
                  <a:ext uri="{FF2B5EF4-FFF2-40B4-BE49-F238E27FC236}">
                    <a16:creationId xmlns:a16="http://schemas.microsoft.com/office/drawing/2014/main" id="{5DD8048F-1015-8BB0-EF6F-64B907D7C4C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1270657" y="2072289"/>
                <a:ext cx="540000" cy="540000"/>
              </a:xfrm>
              <a:prstGeom prst="rect">
                <a:avLst/>
              </a:prstGeom>
            </p:spPr>
          </p:pic>
          <p:sp>
            <p:nvSpPr>
              <p:cNvPr id="50" name="ZoneTexte 49">
                <a:extLst>
                  <a:ext uri="{FF2B5EF4-FFF2-40B4-BE49-F238E27FC236}">
                    <a16:creationId xmlns:a16="http://schemas.microsoft.com/office/drawing/2014/main" id="{48B6E814-D727-6584-192F-424C1C956C30}"/>
                  </a:ext>
                </a:extLst>
              </p:cNvPr>
              <p:cNvSpPr txBox="1"/>
              <p:nvPr/>
            </p:nvSpPr>
            <p:spPr>
              <a:xfrm>
                <a:off x="11150144" y="2603019"/>
                <a:ext cx="764501" cy="228053"/>
              </a:xfrm>
              <a:prstGeom prst="rect">
                <a:avLst/>
              </a:prstGeom>
              <a:noFill/>
            </p:spPr>
            <p:txBody>
              <a:bodyPr wrap="square">
                <a:spAutoFit/>
              </a:bodyPr>
              <a:lstStyle/>
              <a:p>
                <a:pPr algn="ctr"/>
                <a:r>
                  <a:rPr lang="fr-FR" sz="900" dirty="0"/>
                  <a:t>Autres</a:t>
                </a:r>
              </a:p>
            </p:txBody>
          </p:sp>
        </p:grpSp>
        <p:grpSp>
          <p:nvGrpSpPr>
            <p:cNvPr id="46" name="Groupe 45">
              <a:extLst>
                <a:ext uri="{FF2B5EF4-FFF2-40B4-BE49-F238E27FC236}">
                  <a16:creationId xmlns:a16="http://schemas.microsoft.com/office/drawing/2014/main" id="{ABB9CE65-12B6-2AA1-4B85-52C8898B0BC2}"/>
                </a:ext>
              </a:extLst>
            </p:cNvPr>
            <p:cNvGrpSpPr/>
            <p:nvPr/>
          </p:nvGrpSpPr>
          <p:grpSpPr>
            <a:xfrm>
              <a:off x="9754481" y="1304631"/>
              <a:ext cx="1326669" cy="778137"/>
              <a:chOff x="9651618" y="1361747"/>
              <a:chExt cx="1326669" cy="778137"/>
            </a:xfrm>
          </p:grpSpPr>
          <p:pic>
            <p:nvPicPr>
              <p:cNvPr id="47" name="Graphique 46" descr="Signe pouce en haut avec un remplissage uni">
                <a:extLst>
                  <a:ext uri="{FF2B5EF4-FFF2-40B4-BE49-F238E27FC236}">
                    <a16:creationId xmlns:a16="http://schemas.microsoft.com/office/drawing/2014/main" id="{3F9512C9-5283-BFFA-9569-A632C4CE9E5E}"/>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0057766" y="1361747"/>
                <a:ext cx="514374" cy="514374"/>
              </a:xfrm>
              <a:prstGeom prst="rect">
                <a:avLst/>
              </a:prstGeom>
            </p:spPr>
          </p:pic>
          <p:sp>
            <p:nvSpPr>
              <p:cNvPr id="48" name="ZoneTexte 47">
                <a:extLst>
                  <a:ext uri="{FF2B5EF4-FFF2-40B4-BE49-F238E27FC236}">
                    <a16:creationId xmlns:a16="http://schemas.microsoft.com/office/drawing/2014/main" id="{0914C812-832E-FAEC-7866-BADB84C8C07B}"/>
                  </a:ext>
                </a:extLst>
              </p:cNvPr>
              <p:cNvSpPr txBox="1"/>
              <p:nvPr/>
            </p:nvSpPr>
            <p:spPr>
              <a:xfrm>
                <a:off x="9651618" y="1911831"/>
                <a:ext cx="1326669" cy="228053"/>
              </a:xfrm>
              <a:prstGeom prst="rect">
                <a:avLst/>
              </a:prstGeom>
              <a:noFill/>
            </p:spPr>
            <p:txBody>
              <a:bodyPr wrap="square">
                <a:spAutoFit/>
              </a:bodyPr>
              <a:lstStyle/>
              <a:p>
                <a:pPr algn="ctr"/>
                <a:r>
                  <a:rPr lang="fr-FR" sz="900" dirty="0"/>
                  <a:t>Soutien extérieur</a:t>
                </a:r>
              </a:p>
            </p:txBody>
          </p:sp>
        </p:grpSp>
      </p:grpSp>
      <p:sp>
        <p:nvSpPr>
          <p:cNvPr id="34" name="Rectangle 33">
            <a:extLst>
              <a:ext uri="{FF2B5EF4-FFF2-40B4-BE49-F238E27FC236}">
                <a16:creationId xmlns:a16="http://schemas.microsoft.com/office/drawing/2014/main" id="{D1ED1895-0D8A-CA34-724D-D5E0BBA68960}"/>
              </a:ext>
            </a:extLst>
          </p:cNvPr>
          <p:cNvSpPr/>
          <p:nvPr/>
        </p:nvSpPr>
        <p:spPr>
          <a:xfrm>
            <a:off x="1480214" y="198928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Système d’emprunts tracés (façon Bibliothèque)</a:t>
            </a:r>
          </a:p>
        </p:txBody>
      </p:sp>
      <p:sp>
        <p:nvSpPr>
          <p:cNvPr id="35" name="Rectangle 34">
            <a:extLst>
              <a:ext uri="{FF2B5EF4-FFF2-40B4-BE49-F238E27FC236}">
                <a16:creationId xmlns:a16="http://schemas.microsoft.com/office/drawing/2014/main" id="{D8156C05-6404-EFFA-34DF-5CDDA07C1F7F}"/>
              </a:ext>
            </a:extLst>
          </p:cNvPr>
          <p:cNvSpPr/>
          <p:nvPr/>
        </p:nvSpPr>
        <p:spPr>
          <a:xfrm>
            <a:off x="2696446" y="198928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Achats groupés d’outils Souscription à un forfait de groupe</a:t>
            </a:r>
          </a:p>
        </p:txBody>
      </p:sp>
      <p:sp>
        <p:nvSpPr>
          <p:cNvPr id="54" name="Rectangle 53">
            <a:extLst>
              <a:ext uri="{FF2B5EF4-FFF2-40B4-BE49-F238E27FC236}">
                <a16:creationId xmlns:a16="http://schemas.microsoft.com/office/drawing/2014/main" id="{6282D888-0817-D4C2-71E2-2D35CF729290}"/>
              </a:ext>
            </a:extLst>
          </p:cNvPr>
          <p:cNvSpPr/>
          <p:nvPr/>
        </p:nvSpPr>
        <p:spPr>
          <a:xfrm>
            <a:off x="7446478" y="198928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Annuaire partagé, où chacun peut renseigner ses contacts clés</a:t>
            </a:r>
          </a:p>
        </p:txBody>
      </p:sp>
      <p:sp>
        <p:nvSpPr>
          <p:cNvPr id="55" name="Rectangle 54">
            <a:extLst>
              <a:ext uri="{FF2B5EF4-FFF2-40B4-BE49-F238E27FC236}">
                <a16:creationId xmlns:a16="http://schemas.microsoft.com/office/drawing/2014/main" id="{551ADE27-D48B-8BB0-B9F2-58359DE89928}"/>
              </a:ext>
            </a:extLst>
          </p:cNvPr>
          <p:cNvSpPr/>
          <p:nvPr/>
        </p:nvSpPr>
        <p:spPr>
          <a:xfrm>
            <a:off x="6281716" y="198928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✍️Annuaires de compétences des membres mise à disposition, </a:t>
            </a:r>
            <a:r>
              <a:rPr lang="fr-FR" sz="900" dirty="0" err="1">
                <a:solidFill>
                  <a:schemeClr val="tx1"/>
                </a:solidFill>
              </a:rPr>
              <a:t>OpenSeriousPath</a:t>
            </a:r>
            <a:endParaRPr lang="fr-FR" sz="900" dirty="0">
              <a:solidFill>
                <a:schemeClr val="tx1"/>
              </a:solidFill>
            </a:endParaRPr>
          </a:p>
        </p:txBody>
      </p:sp>
      <p:sp>
        <p:nvSpPr>
          <p:cNvPr id="69" name="Rectangle 68">
            <a:extLst>
              <a:ext uri="{FF2B5EF4-FFF2-40B4-BE49-F238E27FC236}">
                <a16:creationId xmlns:a16="http://schemas.microsoft.com/office/drawing/2014/main" id="{48D1F574-E8E1-3E8C-CBB3-C0EBA772E7DC}"/>
              </a:ext>
            </a:extLst>
          </p:cNvPr>
          <p:cNvSpPr/>
          <p:nvPr/>
        </p:nvSpPr>
        <p:spPr>
          <a:xfrm>
            <a:off x="8625116" y="198928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📅⚙️Vote pour trouver les problèmes communs les plus importants pour la Communauté</a:t>
            </a:r>
          </a:p>
        </p:txBody>
      </p:sp>
      <p:sp>
        <p:nvSpPr>
          <p:cNvPr id="70" name="Rectangle 69">
            <a:extLst>
              <a:ext uri="{FF2B5EF4-FFF2-40B4-BE49-F238E27FC236}">
                <a16:creationId xmlns:a16="http://schemas.microsoft.com/office/drawing/2014/main" id="{DA996435-9B6D-0D67-CF7C-7E78545C7EE1}"/>
              </a:ext>
            </a:extLst>
          </p:cNvPr>
          <p:cNvSpPr/>
          <p:nvPr/>
        </p:nvSpPr>
        <p:spPr>
          <a:xfrm>
            <a:off x="5098568" y="198928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Système pour trouver une disponibilité commune (ex: </a:t>
            </a:r>
            <a:r>
              <a:rPr lang="fr-FR" sz="900" dirty="0" err="1">
                <a:solidFill>
                  <a:schemeClr val="tx1"/>
                </a:solidFill>
              </a:rPr>
              <a:t>Framadate</a:t>
            </a:r>
            <a:r>
              <a:rPr lang="fr-FR" sz="900" dirty="0">
                <a:solidFill>
                  <a:schemeClr val="tx1"/>
                </a:solidFill>
              </a:rPr>
              <a:t>)</a:t>
            </a:r>
          </a:p>
        </p:txBody>
      </p:sp>
      <p:sp>
        <p:nvSpPr>
          <p:cNvPr id="71" name="Rectangle 70">
            <a:extLst>
              <a:ext uri="{FF2B5EF4-FFF2-40B4-BE49-F238E27FC236}">
                <a16:creationId xmlns:a16="http://schemas.microsoft.com/office/drawing/2014/main" id="{96FD31B9-F026-15E7-53F7-01CB7071DAEF}"/>
              </a:ext>
            </a:extLst>
          </p:cNvPr>
          <p:cNvSpPr/>
          <p:nvPr/>
        </p:nvSpPr>
        <p:spPr>
          <a:xfrm>
            <a:off x="284238" y="198321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Location / Investissement groupé dans des locaux</a:t>
            </a:r>
          </a:p>
        </p:txBody>
      </p:sp>
      <p:sp>
        <p:nvSpPr>
          <p:cNvPr id="72" name="Rectangle 71">
            <a:extLst>
              <a:ext uri="{FF2B5EF4-FFF2-40B4-BE49-F238E27FC236}">
                <a16:creationId xmlns:a16="http://schemas.microsoft.com/office/drawing/2014/main" id="{DE855B67-08F4-CE93-23A0-41DCE353E2DA}"/>
              </a:ext>
            </a:extLst>
          </p:cNvPr>
          <p:cNvSpPr/>
          <p:nvPr/>
        </p:nvSpPr>
        <p:spPr>
          <a:xfrm>
            <a:off x="3897507" y="198928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a:t>
            </a:r>
          </a:p>
          <a:p>
            <a:pPr algn="ctr"/>
            <a:r>
              <a:rPr lang="fr-FR" sz="900" dirty="0">
                <a:solidFill>
                  <a:schemeClr val="tx1"/>
                </a:solidFill>
              </a:rPr>
              <a:t>Système de cotisations</a:t>
            </a:r>
          </a:p>
        </p:txBody>
      </p:sp>
      <p:sp>
        <p:nvSpPr>
          <p:cNvPr id="73" name="Rectangle 72">
            <a:extLst>
              <a:ext uri="{FF2B5EF4-FFF2-40B4-BE49-F238E27FC236}">
                <a16:creationId xmlns:a16="http://schemas.microsoft.com/office/drawing/2014/main" id="{9AE97F34-82E6-049C-2229-17A7EBA800CE}"/>
              </a:ext>
            </a:extLst>
          </p:cNvPr>
          <p:cNvSpPr/>
          <p:nvPr/>
        </p:nvSpPr>
        <p:spPr>
          <a:xfrm>
            <a:off x="9810267" y="198928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Etablissement d’un hashtag  qui fédère les soutiens sous une même étiquette</a:t>
            </a:r>
          </a:p>
        </p:txBody>
      </p:sp>
      <p:sp>
        <p:nvSpPr>
          <p:cNvPr id="75" name="Rectangle 74">
            <a:extLst>
              <a:ext uri="{FF2B5EF4-FFF2-40B4-BE49-F238E27FC236}">
                <a16:creationId xmlns:a16="http://schemas.microsoft.com/office/drawing/2014/main" id="{3779F6F0-26B9-146F-E5FB-972DC558936F}"/>
              </a:ext>
            </a:extLst>
          </p:cNvPr>
          <p:cNvSpPr/>
          <p:nvPr/>
        </p:nvSpPr>
        <p:spPr>
          <a:xfrm>
            <a:off x="3897507" y="295065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a:t>
            </a:r>
          </a:p>
          <a:p>
            <a:pPr algn="ctr"/>
            <a:r>
              <a:rPr lang="fr-FR" sz="900" dirty="0">
                <a:solidFill>
                  <a:schemeClr val="tx1"/>
                </a:solidFill>
              </a:rPr>
              <a:t>Création d’un nouveau centre de coût qui cumule les lignes existantes</a:t>
            </a:r>
          </a:p>
        </p:txBody>
      </p:sp>
      <p:sp>
        <p:nvSpPr>
          <p:cNvPr id="76" name="Rectangle 75">
            <a:extLst>
              <a:ext uri="{FF2B5EF4-FFF2-40B4-BE49-F238E27FC236}">
                <a16:creationId xmlns:a16="http://schemas.microsoft.com/office/drawing/2014/main" id="{6D5B4479-F20A-E667-E071-5099E49D94B3}"/>
              </a:ext>
            </a:extLst>
          </p:cNvPr>
          <p:cNvSpPr/>
          <p:nvPr/>
        </p:nvSpPr>
        <p:spPr>
          <a:xfrm>
            <a:off x="280420" y="295065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Demande d’accès à des locaux de plus grande taille en tant que Communauté</a:t>
            </a:r>
          </a:p>
        </p:txBody>
      </p:sp>
      <p:sp>
        <p:nvSpPr>
          <p:cNvPr id="77" name="Rectangle 76">
            <a:extLst>
              <a:ext uri="{FF2B5EF4-FFF2-40B4-BE49-F238E27FC236}">
                <a16:creationId xmlns:a16="http://schemas.microsoft.com/office/drawing/2014/main" id="{E8E1CDAF-6165-588D-C486-08081C8C3F89}"/>
              </a:ext>
            </a:extLst>
          </p:cNvPr>
          <p:cNvSpPr/>
          <p:nvPr/>
        </p:nvSpPr>
        <p:spPr>
          <a:xfrm>
            <a:off x="1480214" y="2959405"/>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Location ou Achat groupé de matériel </a:t>
            </a:r>
          </a:p>
        </p:txBody>
      </p:sp>
      <p:sp>
        <p:nvSpPr>
          <p:cNvPr id="78" name="Rectangle 77">
            <a:extLst>
              <a:ext uri="{FF2B5EF4-FFF2-40B4-BE49-F238E27FC236}">
                <a16:creationId xmlns:a16="http://schemas.microsoft.com/office/drawing/2014/main" id="{C44B2435-DA97-47D8-3027-1D38F44AF4B6}"/>
              </a:ext>
            </a:extLst>
          </p:cNvPr>
          <p:cNvSpPr/>
          <p:nvPr/>
        </p:nvSpPr>
        <p:spPr>
          <a:xfrm>
            <a:off x="1480214" y="3897280"/>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⚙️Création d’une bibliothèque Communautaire (chacun apporte ses livres)</a:t>
            </a:r>
          </a:p>
        </p:txBody>
      </p:sp>
      <p:sp>
        <p:nvSpPr>
          <p:cNvPr id="79" name="Rectangle 78">
            <a:extLst>
              <a:ext uri="{FF2B5EF4-FFF2-40B4-BE49-F238E27FC236}">
                <a16:creationId xmlns:a16="http://schemas.microsoft.com/office/drawing/2014/main" id="{7CAC8A27-4A16-EE49-9E0F-339EBF278191}"/>
              </a:ext>
            </a:extLst>
          </p:cNvPr>
          <p:cNvSpPr/>
          <p:nvPr/>
        </p:nvSpPr>
        <p:spPr>
          <a:xfrm>
            <a:off x="6279086" y="2944647"/>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📅#OpenSeriousHub, bourse à l’entraide entre membres</a:t>
            </a:r>
          </a:p>
        </p:txBody>
      </p:sp>
      <p:sp>
        <p:nvSpPr>
          <p:cNvPr id="80" name="Rectangle 79">
            <a:extLst>
              <a:ext uri="{FF2B5EF4-FFF2-40B4-BE49-F238E27FC236}">
                <a16:creationId xmlns:a16="http://schemas.microsoft.com/office/drawing/2014/main" id="{F960ED34-B133-6A4B-74F3-076CEC3C605D}"/>
              </a:ext>
            </a:extLst>
          </p:cNvPr>
          <p:cNvSpPr/>
          <p:nvPr/>
        </p:nvSpPr>
        <p:spPr>
          <a:xfrm>
            <a:off x="6279086" y="3897280"/>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⚙️📅Système de « clinique » (créneaux avec experts à disposition pour la Communauté)</a:t>
            </a:r>
          </a:p>
        </p:txBody>
      </p:sp>
      <p:sp>
        <p:nvSpPr>
          <p:cNvPr id="81" name="Rectangle 80">
            <a:extLst>
              <a:ext uri="{FF2B5EF4-FFF2-40B4-BE49-F238E27FC236}">
                <a16:creationId xmlns:a16="http://schemas.microsoft.com/office/drawing/2014/main" id="{F6C54652-B609-3FF7-86BF-BDBEC688778E}"/>
              </a:ext>
            </a:extLst>
          </p:cNvPr>
          <p:cNvSpPr/>
          <p:nvPr/>
        </p:nvSpPr>
        <p:spPr>
          <a:xfrm>
            <a:off x="7446478" y="295065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✍️Wiki de la Communauté, ou toute autre forme de base documentaire partagée</a:t>
            </a:r>
          </a:p>
        </p:txBody>
      </p:sp>
      <p:sp>
        <p:nvSpPr>
          <p:cNvPr id="82" name="Rectangle 81">
            <a:extLst>
              <a:ext uri="{FF2B5EF4-FFF2-40B4-BE49-F238E27FC236}">
                <a16:creationId xmlns:a16="http://schemas.microsoft.com/office/drawing/2014/main" id="{DD48C3A2-6525-6A1F-F421-B8F9F94D9AF5}"/>
              </a:ext>
            </a:extLst>
          </p:cNvPr>
          <p:cNvSpPr/>
          <p:nvPr/>
        </p:nvSpPr>
        <p:spPr>
          <a:xfrm>
            <a:off x="7446478" y="3897280"/>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Annuaire partagé de membres et de contacts clés</a:t>
            </a:r>
          </a:p>
        </p:txBody>
      </p:sp>
      <p:sp>
        <p:nvSpPr>
          <p:cNvPr id="83" name="Rectangle 82">
            <a:extLst>
              <a:ext uri="{FF2B5EF4-FFF2-40B4-BE49-F238E27FC236}">
                <a16:creationId xmlns:a16="http://schemas.microsoft.com/office/drawing/2014/main" id="{42D34570-8141-350E-E98B-BBC448B9CD0A}"/>
              </a:ext>
            </a:extLst>
          </p:cNvPr>
          <p:cNvSpPr/>
          <p:nvPr/>
        </p:nvSpPr>
        <p:spPr>
          <a:xfrm>
            <a:off x="8625116" y="2950651"/>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📅Ateliers sur la raison d’être pour fédérer autour d’une cause commune</a:t>
            </a:r>
          </a:p>
        </p:txBody>
      </p:sp>
      <p:sp>
        <p:nvSpPr>
          <p:cNvPr id="84" name="Rectangle 83">
            <a:extLst>
              <a:ext uri="{FF2B5EF4-FFF2-40B4-BE49-F238E27FC236}">
                <a16:creationId xmlns:a16="http://schemas.microsoft.com/office/drawing/2014/main" id="{E03B1376-C1F6-47E4-2B27-4EE83B72F479}"/>
              </a:ext>
            </a:extLst>
          </p:cNvPr>
          <p:cNvSpPr/>
          <p:nvPr/>
        </p:nvSpPr>
        <p:spPr>
          <a:xfrm>
            <a:off x="8625116" y="3897280"/>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✍️Manifeste qui réunit sous une même formulation des motivations de membre</a:t>
            </a:r>
          </a:p>
        </p:txBody>
      </p:sp>
      <p:sp>
        <p:nvSpPr>
          <p:cNvPr id="85" name="Rectangle 84">
            <a:extLst>
              <a:ext uri="{FF2B5EF4-FFF2-40B4-BE49-F238E27FC236}">
                <a16:creationId xmlns:a16="http://schemas.microsoft.com/office/drawing/2014/main" id="{764064D2-4061-FED6-4384-92F4F9D90BBE}"/>
              </a:ext>
            </a:extLst>
          </p:cNvPr>
          <p:cNvSpPr/>
          <p:nvPr/>
        </p:nvSpPr>
        <p:spPr>
          <a:xfrm>
            <a:off x="9810267" y="2944647"/>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📅Organisation d’un événement avec tous les soutiens et sponsors</a:t>
            </a:r>
          </a:p>
        </p:txBody>
      </p:sp>
      <p:sp>
        <p:nvSpPr>
          <p:cNvPr id="86" name="Rectangle 85">
            <a:extLst>
              <a:ext uri="{FF2B5EF4-FFF2-40B4-BE49-F238E27FC236}">
                <a16:creationId xmlns:a16="http://schemas.microsoft.com/office/drawing/2014/main" id="{8BEA5F36-2F8C-F4F5-FB0A-04C162DF0660}"/>
              </a:ext>
            </a:extLst>
          </p:cNvPr>
          <p:cNvSpPr/>
          <p:nvPr/>
        </p:nvSpPr>
        <p:spPr>
          <a:xfrm>
            <a:off x="9810267" y="3897280"/>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✍️Contenu mettant en avant l’ensemble des soutiens (listes de logos, de noms, …)</a:t>
            </a:r>
          </a:p>
        </p:txBody>
      </p:sp>
      <p:sp>
        <p:nvSpPr>
          <p:cNvPr id="87" name="Rectangle 86">
            <a:extLst>
              <a:ext uri="{FF2B5EF4-FFF2-40B4-BE49-F238E27FC236}">
                <a16:creationId xmlns:a16="http://schemas.microsoft.com/office/drawing/2014/main" id="{9B41D08F-9C42-F704-FA72-6D91B9AEFBA2}"/>
              </a:ext>
            </a:extLst>
          </p:cNvPr>
          <p:cNvSpPr/>
          <p:nvPr/>
        </p:nvSpPr>
        <p:spPr>
          <a:xfrm>
            <a:off x="9810267" y="4855376"/>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✍️Livre d’or, système de signature (Manifeste, pétition,…)</a:t>
            </a:r>
          </a:p>
        </p:txBody>
      </p:sp>
      <p:sp>
        <p:nvSpPr>
          <p:cNvPr id="88" name="Rectangle 87">
            <a:extLst>
              <a:ext uri="{FF2B5EF4-FFF2-40B4-BE49-F238E27FC236}">
                <a16:creationId xmlns:a16="http://schemas.microsoft.com/office/drawing/2014/main" id="{E26EF4D8-EE47-E837-252B-688629F88F6B}"/>
              </a:ext>
            </a:extLst>
          </p:cNvPr>
          <p:cNvSpPr/>
          <p:nvPr/>
        </p:nvSpPr>
        <p:spPr>
          <a:xfrm>
            <a:off x="5089365" y="2959405"/>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Système de micro-tâches distribuées faciles à prendre</a:t>
            </a:r>
          </a:p>
        </p:txBody>
      </p:sp>
      <p:sp>
        <p:nvSpPr>
          <p:cNvPr id="89" name="Rectangle 88">
            <a:extLst>
              <a:ext uri="{FF2B5EF4-FFF2-40B4-BE49-F238E27FC236}">
                <a16:creationId xmlns:a16="http://schemas.microsoft.com/office/drawing/2014/main" id="{71A46AB9-CB57-7201-7C30-070AB552EF4F}"/>
              </a:ext>
            </a:extLst>
          </p:cNvPr>
          <p:cNvSpPr/>
          <p:nvPr/>
        </p:nvSpPr>
        <p:spPr>
          <a:xfrm>
            <a:off x="5075023" y="3897280"/>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⚙️Système de rôles à pourvoir </a:t>
            </a:r>
          </a:p>
        </p:txBody>
      </p:sp>
      <p:sp>
        <p:nvSpPr>
          <p:cNvPr id="90" name="Rectangle 89">
            <a:extLst>
              <a:ext uri="{FF2B5EF4-FFF2-40B4-BE49-F238E27FC236}">
                <a16:creationId xmlns:a16="http://schemas.microsoft.com/office/drawing/2014/main" id="{F55E64B6-9BC8-8A59-0C2D-F720EC47FAF3}"/>
              </a:ext>
            </a:extLst>
          </p:cNvPr>
          <p:cNvSpPr/>
          <p:nvPr/>
        </p:nvSpPr>
        <p:spPr>
          <a:xfrm>
            <a:off x="7446986" y="4849374"/>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Partage du code en Open Source ou </a:t>
            </a:r>
            <a:r>
              <a:rPr lang="fr-FR" sz="900" dirty="0" err="1">
                <a:solidFill>
                  <a:schemeClr val="tx1"/>
                </a:solidFill>
              </a:rPr>
              <a:t>Inner</a:t>
            </a:r>
            <a:r>
              <a:rPr lang="fr-FR" sz="900" dirty="0">
                <a:solidFill>
                  <a:schemeClr val="tx1"/>
                </a:solidFill>
              </a:rPr>
              <a:t> Source</a:t>
            </a:r>
          </a:p>
        </p:txBody>
      </p:sp>
      <p:sp>
        <p:nvSpPr>
          <p:cNvPr id="91" name="Rectangle 90">
            <a:extLst>
              <a:ext uri="{FF2B5EF4-FFF2-40B4-BE49-F238E27FC236}">
                <a16:creationId xmlns:a16="http://schemas.microsoft.com/office/drawing/2014/main" id="{EC84DB2A-B8BE-0EEA-DBD7-CBED212CDBF1}"/>
              </a:ext>
            </a:extLst>
          </p:cNvPr>
          <p:cNvSpPr/>
          <p:nvPr/>
        </p:nvSpPr>
        <p:spPr>
          <a:xfrm>
            <a:off x="2688860" y="2941896"/>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Migration de tous les membres sur un seul outil pour une fonction donnée</a:t>
            </a:r>
          </a:p>
        </p:txBody>
      </p:sp>
      <p:sp>
        <p:nvSpPr>
          <p:cNvPr id="92" name="Rectangle 91">
            <a:extLst>
              <a:ext uri="{FF2B5EF4-FFF2-40B4-BE49-F238E27FC236}">
                <a16:creationId xmlns:a16="http://schemas.microsoft.com/office/drawing/2014/main" id="{764E7BCC-B3D2-D26E-3700-7232E121A9F2}"/>
              </a:ext>
            </a:extLst>
          </p:cNvPr>
          <p:cNvSpPr/>
          <p:nvPr/>
        </p:nvSpPr>
        <p:spPr>
          <a:xfrm>
            <a:off x="266702" y="3897280"/>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⚙️Système de réservation et d’usage partagé</a:t>
            </a:r>
          </a:p>
        </p:txBody>
      </p:sp>
      <p:sp>
        <p:nvSpPr>
          <p:cNvPr id="93" name="Rectangle 92">
            <a:extLst>
              <a:ext uri="{FF2B5EF4-FFF2-40B4-BE49-F238E27FC236}">
                <a16:creationId xmlns:a16="http://schemas.microsoft.com/office/drawing/2014/main" id="{0489E1C5-AC50-397D-EEEE-074C1647F794}"/>
              </a:ext>
            </a:extLst>
          </p:cNvPr>
          <p:cNvSpPr/>
          <p:nvPr/>
        </p:nvSpPr>
        <p:spPr>
          <a:xfrm>
            <a:off x="6279086" y="4849374"/>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⚙️Système de questions / réponses et d’appel à l’aide, Forum </a:t>
            </a:r>
          </a:p>
        </p:txBody>
      </p:sp>
      <p:sp>
        <p:nvSpPr>
          <p:cNvPr id="94" name="Rectangle 93">
            <a:extLst>
              <a:ext uri="{FF2B5EF4-FFF2-40B4-BE49-F238E27FC236}">
                <a16:creationId xmlns:a16="http://schemas.microsoft.com/office/drawing/2014/main" id="{DE743799-A43C-1356-5359-6F0D3F6BAB20}"/>
              </a:ext>
            </a:extLst>
          </p:cNvPr>
          <p:cNvSpPr/>
          <p:nvPr/>
        </p:nvSpPr>
        <p:spPr>
          <a:xfrm>
            <a:off x="1488499" y="4899653"/>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Système de petites annonces pour le matériel</a:t>
            </a:r>
          </a:p>
        </p:txBody>
      </p:sp>
      <p:sp>
        <p:nvSpPr>
          <p:cNvPr id="95" name="Rectangle 94">
            <a:extLst>
              <a:ext uri="{FF2B5EF4-FFF2-40B4-BE49-F238E27FC236}">
                <a16:creationId xmlns:a16="http://schemas.microsoft.com/office/drawing/2014/main" id="{EC95F4B4-A947-1C81-917E-6EB1DD8D1763}"/>
              </a:ext>
            </a:extLst>
          </p:cNvPr>
          <p:cNvSpPr/>
          <p:nvPr/>
        </p:nvSpPr>
        <p:spPr>
          <a:xfrm>
            <a:off x="6264046" y="5787506"/>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⚙️Système de mentorat</a:t>
            </a:r>
          </a:p>
        </p:txBody>
      </p:sp>
      <p:sp>
        <p:nvSpPr>
          <p:cNvPr id="96" name="Rectangle 95">
            <a:extLst>
              <a:ext uri="{FF2B5EF4-FFF2-40B4-BE49-F238E27FC236}">
                <a16:creationId xmlns:a16="http://schemas.microsoft.com/office/drawing/2014/main" id="{0E692D29-7708-9F00-6208-D7A68A6B8113}"/>
              </a:ext>
            </a:extLst>
          </p:cNvPr>
          <p:cNvSpPr/>
          <p:nvPr/>
        </p:nvSpPr>
        <p:spPr>
          <a:xfrm>
            <a:off x="5067111" y="4847284"/>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⚙️Sous-groupes de travail sur un même sujet</a:t>
            </a:r>
          </a:p>
        </p:txBody>
      </p:sp>
      <p:sp>
        <p:nvSpPr>
          <p:cNvPr id="97" name="Rectangle 96">
            <a:extLst>
              <a:ext uri="{FF2B5EF4-FFF2-40B4-BE49-F238E27FC236}">
                <a16:creationId xmlns:a16="http://schemas.microsoft.com/office/drawing/2014/main" id="{68947BA8-0A0E-FE7A-D7F8-B6528150A10A}"/>
              </a:ext>
            </a:extLst>
          </p:cNvPr>
          <p:cNvSpPr/>
          <p:nvPr/>
        </p:nvSpPr>
        <p:spPr>
          <a:xfrm>
            <a:off x="7446478" y="5787505"/>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📅✍️⚙️Organisation de retours d’expérience et de partage de bonnes pratiques entre membres</a:t>
            </a:r>
          </a:p>
        </p:txBody>
      </p:sp>
      <p:sp>
        <p:nvSpPr>
          <p:cNvPr id="98" name="Rectangle 97">
            <a:extLst>
              <a:ext uri="{FF2B5EF4-FFF2-40B4-BE49-F238E27FC236}">
                <a16:creationId xmlns:a16="http://schemas.microsoft.com/office/drawing/2014/main" id="{3DC9E27F-3AF9-F0AA-ACE6-AC628D712D25}"/>
              </a:ext>
            </a:extLst>
          </p:cNvPr>
          <p:cNvSpPr/>
          <p:nvPr/>
        </p:nvSpPr>
        <p:spPr>
          <a:xfrm>
            <a:off x="8625116" y="4847284"/>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✍️⚙️Identification de personnes exemplaires incarnant la motivation des membres</a:t>
            </a:r>
          </a:p>
        </p:txBody>
      </p:sp>
      <p:sp>
        <p:nvSpPr>
          <p:cNvPr id="99" name="Rectangle 98">
            <a:extLst>
              <a:ext uri="{FF2B5EF4-FFF2-40B4-BE49-F238E27FC236}">
                <a16:creationId xmlns:a16="http://schemas.microsoft.com/office/drawing/2014/main" id="{5873584B-2CBA-7722-81C5-B94C0FA56DAD}"/>
              </a:ext>
            </a:extLst>
          </p:cNvPr>
          <p:cNvSpPr/>
          <p:nvPr/>
        </p:nvSpPr>
        <p:spPr>
          <a:xfrm>
            <a:off x="8625116" y="5794556"/>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📅Ateliers d’amélioration continue ou d’intelligence collective</a:t>
            </a:r>
          </a:p>
        </p:txBody>
      </p:sp>
      <p:sp>
        <p:nvSpPr>
          <p:cNvPr id="100" name="Rectangle 99">
            <a:extLst>
              <a:ext uri="{FF2B5EF4-FFF2-40B4-BE49-F238E27FC236}">
                <a16:creationId xmlns:a16="http://schemas.microsoft.com/office/drawing/2014/main" id="{3D953D94-2325-532F-A599-AAFB3AF40EE0}"/>
              </a:ext>
            </a:extLst>
          </p:cNvPr>
          <p:cNvSpPr/>
          <p:nvPr/>
        </p:nvSpPr>
        <p:spPr>
          <a:xfrm>
            <a:off x="1493819" y="5869777"/>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⚙️Système de location par la Communauté à prix préférentiels pour les membres</a:t>
            </a:r>
          </a:p>
        </p:txBody>
      </p:sp>
      <p:sp>
        <p:nvSpPr>
          <p:cNvPr id="101" name="Rectangle 100">
            <a:extLst>
              <a:ext uri="{FF2B5EF4-FFF2-40B4-BE49-F238E27FC236}">
                <a16:creationId xmlns:a16="http://schemas.microsoft.com/office/drawing/2014/main" id="{5EF336B2-EF15-BD31-C888-A9C803C863A0}"/>
              </a:ext>
            </a:extLst>
          </p:cNvPr>
          <p:cNvSpPr/>
          <p:nvPr/>
        </p:nvSpPr>
        <p:spPr>
          <a:xfrm>
            <a:off x="2693024" y="3897280"/>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✍️⚙️Banque d’outils et de licences d’usage</a:t>
            </a:r>
          </a:p>
        </p:txBody>
      </p:sp>
      <p:sp>
        <p:nvSpPr>
          <p:cNvPr id="102" name="Rectangle 101">
            <a:extLst>
              <a:ext uri="{FF2B5EF4-FFF2-40B4-BE49-F238E27FC236}">
                <a16:creationId xmlns:a16="http://schemas.microsoft.com/office/drawing/2014/main" id="{DE23311C-E82C-5F13-0DE3-C531207D743B}"/>
              </a:ext>
            </a:extLst>
          </p:cNvPr>
          <p:cNvSpPr/>
          <p:nvPr/>
        </p:nvSpPr>
        <p:spPr>
          <a:xfrm>
            <a:off x="250406" y="4908407"/>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📅Fusion de petits événements en un gros (conférence, …)</a:t>
            </a:r>
          </a:p>
        </p:txBody>
      </p:sp>
      <p:sp>
        <p:nvSpPr>
          <p:cNvPr id="103" name="Rectangle 102">
            <a:extLst>
              <a:ext uri="{FF2B5EF4-FFF2-40B4-BE49-F238E27FC236}">
                <a16:creationId xmlns:a16="http://schemas.microsoft.com/office/drawing/2014/main" id="{7D32E1C0-24A6-74B2-B969-7351EF62795D}"/>
              </a:ext>
            </a:extLst>
          </p:cNvPr>
          <p:cNvSpPr/>
          <p:nvPr/>
        </p:nvSpPr>
        <p:spPr>
          <a:xfrm>
            <a:off x="3896385" y="3897280"/>
            <a:ext cx="1107924" cy="865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Système de crowdfunding et appels à contributions, dons</a:t>
            </a:r>
          </a:p>
        </p:txBody>
      </p:sp>
    </p:spTree>
    <p:extLst>
      <p:ext uri="{BB962C8B-B14F-4D97-AF65-F5344CB8AC3E}">
        <p14:creationId xmlns:p14="http://schemas.microsoft.com/office/powerpoint/2010/main" val="368624428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6EE5C0A-E852-51AE-508F-22F57532E248}"/>
              </a:ext>
            </a:extLst>
          </p:cNvPr>
          <p:cNvSpPr>
            <a:spLocks noGrp="1"/>
          </p:cNvSpPr>
          <p:nvPr>
            <p:ph type="title"/>
          </p:nvPr>
        </p:nvSpPr>
        <p:spPr/>
        <p:txBody>
          <a:bodyPr>
            <a:normAutofit fontScale="90000"/>
          </a:bodyPr>
          <a:lstStyle/>
          <a:p>
            <a:r>
              <a:rPr lang="fr-FR" dirty="0"/>
              <a:t>Répondre à la question </a:t>
            </a:r>
            <a:br>
              <a:rPr lang="fr-FR" dirty="0"/>
            </a:br>
            <a:r>
              <a:rPr lang="fr-FR" i="1" dirty="0">
                <a:solidFill>
                  <a:srgbClr val="3494BA"/>
                </a:solidFill>
              </a:rPr>
              <a:t>« Que nous manque-t-il le plus maintenant dans la Communauté ? »</a:t>
            </a:r>
          </a:p>
        </p:txBody>
      </p:sp>
      <p:sp>
        <p:nvSpPr>
          <p:cNvPr id="3" name="Espace réservé du contenu 2">
            <a:extLst>
              <a:ext uri="{FF2B5EF4-FFF2-40B4-BE49-F238E27FC236}">
                <a16:creationId xmlns:a16="http://schemas.microsoft.com/office/drawing/2014/main" id="{EE14F615-92A1-A057-AA55-437FC0154B4B}"/>
              </a:ext>
            </a:extLst>
          </p:cNvPr>
          <p:cNvSpPr>
            <a:spLocks noGrp="1"/>
          </p:cNvSpPr>
          <p:nvPr>
            <p:ph idx="1"/>
          </p:nvPr>
        </p:nvSpPr>
        <p:spPr>
          <a:xfrm>
            <a:off x="838200" y="2562225"/>
            <a:ext cx="3836251" cy="3614738"/>
          </a:xfrm>
        </p:spPr>
        <p:txBody>
          <a:bodyPr>
            <a:normAutofit lnSpcReduction="10000"/>
          </a:bodyPr>
          <a:lstStyle/>
          <a:p>
            <a:pPr marL="0" indent="0">
              <a:buNone/>
            </a:pPr>
            <a:r>
              <a:rPr lang="fr-FR" sz="1800" dirty="0"/>
              <a:t>Une communauté a besoin de ressources pour ses activités et atteindre son but. </a:t>
            </a:r>
          </a:p>
          <a:p>
            <a:pPr marL="0" indent="0">
              <a:buNone/>
            </a:pPr>
            <a:endParaRPr lang="fr-FR" sz="1800" dirty="0"/>
          </a:p>
          <a:p>
            <a:pPr marL="0" indent="0">
              <a:buNone/>
            </a:pPr>
            <a:r>
              <a:rPr lang="fr-FR" sz="1800" dirty="0"/>
              <a:t>Cela ne veut pas dire qu’elle dispose de toutes ses ressources dès le départ, ou bien qu’elles sont déjà toutes partagées.</a:t>
            </a:r>
          </a:p>
          <a:p>
            <a:pPr marL="0" indent="0">
              <a:buNone/>
            </a:pPr>
            <a:endParaRPr lang="fr-FR" sz="1800" dirty="0"/>
          </a:p>
          <a:p>
            <a:pPr marL="0" indent="0">
              <a:buNone/>
            </a:pPr>
            <a:r>
              <a:rPr lang="fr-FR" sz="1800" dirty="0"/>
              <a:t>Pour cela, au-delà des ressources existantes, on peut faire une analyse des ressources possibles intéressantes, accessibles, déjà mises en commun.</a:t>
            </a:r>
          </a:p>
        </p:txBody>
      </p:sp>
      <p:grpSp>
        <p:nvGrpSpPr>
          <p:cNvPr id="5" name="Groupe 4">
            <a:extLst>
              <a:ext uri="{FF2B5EF4-FFF2-40B4-BE49-F238E27FC236}">
                <a16:creationId xmlns:a16="http://schemas.microsoft.com/office/drawing/2014/main" id="{1CCCA75F-E43F-C7AD-52B6-8789EA1C69B7}"/>
              </a:ext>
            </a:extLst>
          </p:cNvPr>
          <p:cNvGrpSpPr/>
          <p:nvPr/>
        </p:nvGrpSpPr>
        <p:grpSpPr>
          <a:xfrm>
            <a:off x="5123760" y="2891499"/>
            <a:ext cx="6768936" cy="2175782"/>
            <a:chOff x="1797481" y="3401555"/>
            <a:chExt cx="2008109" cy="645479"/>
          </a:xfrm>
        </p:grpSpPr>
        <p:grpSp>
          <p:nvGrpSpPr>
            <p:cNvPr id="6" name="Groupe 5">
              <a:extLst>
                <a:ext uri="{FF2B5EF4-FFF2-40B4-BE49-F238E27FC236}">
                  <a16:creationId xmlns:a16="http://schemas.microsoft.com/office/drawing/2014/main" id="{FAFC8602-B681-B43B-ABA5-8C9A17D7F9B3}"/>
                </a:ext>
              </a:extLst>
            </p:cNvPr>
            <p:cNvGrpSpPr/>
            <p:nvPr/>
          </p:nvGrpSpPr>
          <p:grpSpPr>
            <a:xfrm>
              <a:off x="1797481" y="3401555"/>
              <a:ext cx="2008109" cy="645479"/>
              <a:chOff x="1797480" y="1339838"/>
              <a:chExt cx="3952994" cy="1270634"/>
            </a:xfrm>
          </p:grpSpPr>
          <p:grpSp>
            <p:nvGrpSpPr>
              <p:cNvPr id="8" name="Groupe 7">
                <a:extLst>
                  <a:ext uri="{FF2B5EF4-FFF2-40B4-BE49-F238E27FC236}">
                    <a16:creationId xmlns:a16="http://schemas.microsoft.com/office/drawing/2014/main" id="{2537A14C-92E7-A401-1FE7-5F9991BEAB61}"/>
                  </a:ext>
                </a:extLst>
              </p:cNvPr>
              <p:cNvGrpSpPr/>
              <p:nvPr/>
            </p:nvGrpSpPr>
            <p:grpSpPr>
              <a:xfrm>
                <a:off x="1797480" y="1339838"/>
                <a:ext cx="1507135" cy="1270634"/>
                <a:chOff x="8982504" y="3274976"/>
                <a:chExt cx="1230670" cy="1037553"/>
              </a:xfrm>
              <a:solidFill>
                <a:srgbClr val="ED7D31"/>
              </a:solidFill>
            </p:grpSpPr>
            <p:pic>
              <p:nvPicPr>
                <p:cNvPr id="10" name="Graphique 9" descr="Utilisateur avec un remplissage uni">
                  <a:extLst>
                    <a:ext uri="{FF2B5EF4-FFF2-40B4-BE49-F238E27FC236}">
                      <a16:creationId xmlns:a16="http://schemas.microsoft.com/office/drawing/2014/main" id="{1F8E13AB-64ED-E9B6-B2B7-F0CF14014EA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1" name="Graphique 10" descr="Utilisateur avec un remplissage uni">
                  <a:extLst>
                    <a:ext uri="{FF2B5EF4-FFF2-40B4-BE49-F238E27FC236}">
                      <a16:creationId xmlns:a16="http://schemas.microsoft.com/office/drawing/2014/main" id="{E52DD552-7AB6-3531-625C-11047A45321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2" name="Graphique 11" descr="Utilisateur avec un remplissage uni">
                  <a:extLst>
                    <a:ext uri="{FF2B5EF4-FFF2-40B4-BE49-F238E27FC236}">
                      <a16:creationId xmlns:a16="http://schemas.microsoft.com/office/drawing/2014/main" id="{31DEDD40-2777-4F61-8E16-8D6D9F08CFF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3" name="Graphique 12" descr="Utilisateur avec un remplissage uni">
                  <a:extLst>
                    <a:ext uri="{FF2B5EF4-FFF2-40B4-BE49-F238E27FC236}">
                      <a16:creationId xmlns:a16="http://schemas.microsoft.com/office/drawing/2014/main" id="{D1ACCA67-A934-337F-167C-25C91C69310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650AB379-2A6B-BFAD-D994-DE74665E27F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5" name="Graphique 14" descr="Utilisateur avec un remplissage uni">
                  <a:extLst>
                    <a:ext uri="{FF2B5EF4-FFF2-40B4-BE49-F238E27FC236}">
                      <a16:creationId xmlns:a16="http://schemas.microsoft.com/office/drawing/2014/main" id="{E3AF6D54-FADE-725E-3C99-07219A71B70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6" name="Graphique 15" descr="Utilisateur avec un remplissage uni">
                  <a:extLst>
                    <a:ext uri="{FF2B5EF4-FFF2-40B4-BE49-F238E27FC236}">
                      <a16:creationId xmlns:a16="http://schemas.microsoft.com/office/drawing/2014/main" id="{9F364DF6-402C-AA6D-F3B2-9CC688D922E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7" name="Graphique 16" descr="Utilisateur avec un remplissage uni">
                  <a:extLst>
                    <a:ext uri="{FF2B5EF4-FFF2-40B4-BE49-F238E27FC236}">
                      <a16:creationId xmlns:a16="http://schemas.microsoft.com/office/drawing/2014/main" id="{4DDA3694-BF75-1B84-FE2D-64D866DD33D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8" name="Graphique 17" descr="Utilisateur avec un remplissage uni">
                  <a:extLst>
                    <a:ext uri="{FF2B5EF4-FFF2-40B4-BE49-F238E27FC236}">
                      <a16:creationId xmlns:a16="http://schemas.microsoft.com/office/drawing/2014/main" id="{4F9BF892-A2D0-98AE-FEA0-816056B00E1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9" name="Graphique 18" descr="Utilisateur avec un remplissage uni">
                  <a:extLst>
                    <a:ext uri="{FF2B5EF4-FFF2-40B4-BE49-F238E27FC236}">
                      <a16:creationId xmlns:a16="http://schemas.microsoft.com/office/drawing/2014/main" id="{707C59E2-057B-7EF2-C8B7-CD3C7D636C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20" name="Graphique 19" descr="Utilisateur avec un remplissage uni">
                  <a:extLst>
                    <a:ext uri="{FF2B5EF4-FFF2-40B4-BE49-F238E27FC236}">
                      <a16:creationId xmlns:a16="http://schemas.microsoft.com/office/drawing/2014/main" id="{9710CB43-8C1B-D2B8-0766-4DBA74EED10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9" name="Graphique 8" descr="Boîte à archives avec un remplissage uni">
                <a:extLst>
                  <a:ext uri="{FF2B5EF4-FFF2-40B4-BE49-F238E27FC236}">
                    <a16:creationId xmlns:a16="http://schemas.microsoft.com/office/drawing/2014/main" id="{D52147FA-A8EA-7671-986A-A54EA48C6E8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586419" y="1357994"/>
                <a:ext cx="1164055" cy="1164056"/>
              </a:xfrm>
              <a:prstGeom prst="rect">
                <a:avLst/>
              </a:prstGeom>
            </p:spPr>
          </p:pic>
        </p:grpSp>
        <p:pic>
          <p:nvPicPr>
            <p:cNvPr id="7" name="Graphique 6" descr="Déverrouiller avec un remplissage uni">
              <a:extLst>
                <a:ext uri="{FF2B5EF4-FFF2-40B4-BE49-F238E27FC236}">
                  <a16:creationId xmlns:a16="http://schemas.microsoft.com/office/drawing/2014/main" id="{809631E0-482A-1CC2-3804-DA0DB3CCD76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flipH="1">
              <a:off x="2662387" y="3475174"/>
              <a:ext cx="432779" cy="462545"/>
            </a:xfrm>
            <a:prstGeom prst="rect">
              <a:avLst/>
            </a:prstGeom>
          </p:spPr>
        </p:pic>
      </p:grpSp>
      <p:sp>
        <p:nvSpPr>
          <p:cNvPr id="21" name="Rectangle 20">
            <a:extLst>
              <a:ext uri="{FF2B5EF4-FFF2-40B4-BE49-F238E27FC236}">
                <a16:creationId xmlns:a16="http://schemas.microsoft.com/office/drawing/2014/main" id="{6DE9E7C0-16C9-D6BB-3218-8245A7CC9F6E}"/>
              </a:ext>
            </a:extLst>
          </p:cNvPr>
          <p:cNvSpPr/>
          <p:nvPr/>
        </p:nvSpPr>
        <p:spPr>
          <a:xfrm>
            <a:off x="4824511" y="5079207"/>
            <a:ext cx="2675764" cy="5594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200" b="1" dirty="0">
                <a:solidFill>
                  <a:srgbClr val="ED7D31"/>
                </a:solidFill>
              </a:rPr>
              <a:t>Membres</a:t>
            </a:r>
            <a:endParaRPr lang="fr-FR" sz="3200" dirty="0">
              <a:solidFill>
                <a:srgbClr val="ED7D31"/>
              </a:solidFill>
            </a:endParaRPr>
          </a:p>
        </p:txBody>
      </p:sp>
      <p:sp>
        <p:nvSpPr>
          <p:cNvPr id="22" name="Rectangle 21">
            <a:extLst>
              <a:ext uri="{FF2B5EF4-FFF2-40B4-BE49-F238E27FC236}">
                <a16:creationId xmlns:a16="http://schemas.microsoft.com/office/drawing/2014/main" id="{270C2395-9FEC-0A6E-EE52-6AE1CA95D967}"/>
              </a:ext>
            </a:extLst>
          </p:cNvPr>
          <p:cNvSpPr/>
          <p:nvPr/>
        </p:nvSpPr>
        <p:spPr>
          <a:xfrm>
            <a:off x="7872111" y="4536882"/>
            <a:ext cx="1823570" cy="11399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200" b="1" dirty="0">
                <a:solidFill>
                  <a:schemeClr val="tx1"/>
                </a:solidFill>
              </a:rPr>
              <a:t>Facilité d’accès</a:t>
            </a:r>
            <a:endParaRPr lang="fr-FR" sz="3200" dirty="0">
              <a:solidFill>
                <a:schemeClr val="tx1"/>
              </a:solidFill>
            </a:endParaRPr>
          </a:p>
        </p:txBody>
      </p:sp>
      <p:sp>
        <p:nvSpPr>
          <p:cNvPr id="23" name="Rectangle 22">
            <a:extLst>
              <a:ext uri="{FF2B5EF4-FFF2-40B4-BE49-F238E27FC236}">
                <a16:creationId xmlns:a16="http://schemas.microsoft.com/office/drawing/2014/main" id="{F788E46B-191A-6AD0-57A4-79D9A8A6E7CD}"/>
              </a:ext>
            </a:extLst>
          </p:cNvPr>
          <p:cNvSpPr/>
          <p:nvPr/>
        </p:nvSpPr>
        <p:spPr>
          <a:xfrm>
            <a:off x="9899419" y="4827133"/>
            <a:ext cx="1993277" cy="5594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200" b="1" dirty="0">
                <a:solidFill>
                  <a:srgbClr val="3494BA"/>
                </a:solidFill>
              </a:rPr>
              <a:t>Ressource</a:t>
            </a:r>
            <a:endParaRPr lang="fr-FR" sz="3200" dirty="0">
              <a:solidFill>
                <a:srgbClr val="3494BA"/>
              </a:solidFill>
            </a:endParaRPr>
          </a:p>
        </p:txBody>
      </p:sp>
    </p:spTree>
    <p:extLst>
      <p:ext uri="{BB962C8B-B14F-4D97-AF65-F5344CB8AC3E}">
        <p14:creationId xmlns:p14="http://schemas.microsoft.com/office/powerpoint/2010/main" val="5925063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25A6958-928B-D4FC-BEF4-2BEC97474CBF}"/>
              </a:ext>
            </a:extLst>
          </p:cNvPr>
          <p:cNvSpPr>
            <a:spLocks noGrp="1"/>
          </p:cNvSpPr>
          <p:nvPr>
            <p:ph type="title"/>
          </p:nvPr>
        </p:nvSpPr>
        <p:spPr>
          <a:xfrm>
            <a:off x="838200" y="365125"/>
            <a:ext cx="10515600" cy="799725"/>
          </a:xfrm>
        </p:spPr>
        <p:txBody>
          <a:bodyPr/>
          <a:lstStyle/>
          <a:p>
            <a:r>
              <a:rPr lang="fr-FR" sz="4400" dirty="0"/>
              <a:t>Niveau d’accès commun aux ressources</a:t>
            </a:r>
            <a:endParaRPr lang="fr-FR" dirty="0"/>
          </a:p>
        </p:txBody>
      </p:sp>
      <p:sp>
        <p:nvSpPr>
          <p:cNvPr id="3" name="Espace réservé du contenu 2">
            <a:extLst>
              <a:ext uri="{FF2B5EF4-FFF2-40B4-BE49-F238E27FC236}">
                <a16:creationId xmlns:a16="http://schemas.microsoft.com/office/drawing/2014/main" id="{5492D482-6399-5EF8-D7A0-FBC71049659B}"/>
              </a:ext>
            </a:extLst>
          </p:cNvPr>
          <p:cNvSpPr>
            <a:spLocks noGrp="1"/>
          </p:cNvSpPr>
          <p:nvPr>
            <p:ph idx="1"/>
          </p:nvPr>
        </p:nvSpPr>
        <p:spPr>
          <a:xfrm>
            <a:off x="5731031" y="1705320"/>
            <a:ext cx="5753428" cy="4667250"/>
          </a:xfrm>
        </p:spPr>
        <p:txBody>
          <a:bodyPr>
            <a:normAutofit fontScale="85000" lnSpcReduction="20000"/>
          </a:bodyPr>
          <a:lstStyle/>
          <a:p>
            <a:pPr marL="514350" indent="-514350">
              <a:buFont typeface="+mj-lt"/>
              <a:buAutoNum type="arabicPeriod"/>
            </a:pPr>
            <a:r>
              <a:rPr lang="fr-FR" sz="1800" dirty="0"/>
              <a:t>Intéressant et déjà mis en commun dans la Communauté</a:t>
            </a:r>
          </a:p>
          <a:p>
            <a:pPr marL="514350" indent="-514350">
              <a:buFont typeface="+mj-lt"/>
              <a:buAutoNum type="arabicPeriod"/>
            </a:pPr>
            <a:endParaRPr lang="fr-FR" sz="1800" dirty="0"/>
          </a:p>
          <a:p>
            <a:pPr marL="514350" indent="-514350">
              <a:buFont typeface="+mj-lt"/>
              <a:buAutoNum type="arabicPeriod"/>
            </a:pPr>
            <a:r>
              <a:rPr lang="fr-FR" sz="1800" dirty="0"/>
              <a:t>Intéressant, accessible par la Communauté mais pas (encore) mis en commun</a:t>
            </a:r>
          </a:p>
          <a:p>
            <a:pPr marL="514350" indent="-514350">
              <a:buFont typeface="+mj-lt"/>
              <a:buAutoNum type="arabicPeriod"/>
            </a:pPr>
            <a:endParaRPr lang="fr-FR" sz="1800" dirty="0"/>
          </a:p>
          <a:p>
            <a:pPr marL="514350" indent="-514350">
              <a:buFont typeface="+mj-lt"/>
              <a:buAutoNum type="arabicPeriod"/>
            </a:pPr>
            <a:r>
              <a:rPr lang="fr-FR" sz="1800" dirty="0"/>
              <a:t>Intéressant, manquant et plus facilement accessible en tant que Communauté (vs en individus)</a:t>
            </a:r>
          </a:p>
          <a:p>
            <a:pPr marL="514350" indent="-514350">
              <a:buFont typeface="+mj-lt"/>
              <a:buAutoNum type="arabicPeriod"/>
            </a:pPr>
            <a:endParaRPr lang="fr-FR" sz="1800" dirty="0"/>
          </a:p>
          <a:p>
            <a:pPr marL="514350" indent="-514350">
              <a:buFont typeface="+mj-lt"/>
              <a:buAutoNum type="arabicPeriod"/>
            </a:pPr>
            <a:r>
              <a:rPr lang="fr-FR" sz="1800" dirty="0"/>
              <a:t>Intéressant, manquant et potentiellement accessible, difficulté d’accès inconnue</a:t>
            </a:r>
          </a:p>
          <a:p>
            <a:pPr marL="514350" indent="-514350">
              <a:buFont typeface="+mj-lt"/>
              <a:buAutoNum type="arabicPeriod"/>
            </a:pPr>
            <a:endParaRPr lang="fr-FR" sz="1800" dirty="0"/>
          </a:p>
          <a:p>
            <a:pPr marL="514350" indent="-514350">
              <a:buFont typeface="+mj-lt"/>
              <a:buAutoNum type="arabicPeriod"/>
            </a:pPr>
            <a:r>
              <a:rPr lang="fr-FR" sz="1800" dirty="0"/>
              <a:t>Intéressant, manquant et difficilement accessible, même en tant que Communauté</a:t>
            </a:r>
          </a:p>
          <a:p>
            <a:pPr marL="514350" indent="-514350">
              <a:buFont typeface="+mj-lt"/>
              <a:buAutoNum type="arabicPeriod"/>
            </a:pPr>
            <a:endParaRPr lang="fr-FR" sz="1800" dirty="0"/>
          </a:p>
          <a:p>
            <a:pPr marL="514350" indent="-514350">
              <a:buFont typeface="+mj-lt"/>
              <a:buAutoNum type="arabicPeriod"/>
            </a:pPr>
            <a:r>
              <a:rPr lang="fr-FR" sz="1800" dirty="0"/>
              <a:t>Intérêt inconnu pour la Communauté, manquant</a:t>
            </a:r>
          </a:p>
          <a:p>
            <a:pPr marL="514350" indent="-514350">
              <a:buFont typeface="+mj-lt"/>
              <a:buAutoNum type="arabicPeriod"/>
            </a:pPr>
            <a:endParaRPr lang="fr-FR" sz="1800" dirty="0"/>
          </a:p>
          <a:p>
            <a:pPr marL="514350" indent="-514350">
              <a:buFont typeface="+mj-lt"/>
              <a:buAutoNum type="arabicPeriod"/>
            </a:pPr>
            <a:r>
              <a:rPr lang="fr-FR" sz="1800" dirty="0"/>
              <a:t>Pas intéressant a priori pour une mise en commun dans la Communauté</a:t>
            </a:r>
          </a:p>
        </p:txBody>
      </p:sp>
      <p:sp>
        <p:nvSpPr>
          <p:cNvPr id="4" name="Flèche : haut 3">
            <a:extLst>
              <a:ext uri="{FF2B5EF4-FFF2-40B4-BE49-F238E27FC236}">
                <a16:creationId xmlns:a16="http://schemas.microsoft.com/office/drawing/2014/main" id="{5DDFF665-162C-E501-276C-50DFF7A4AA05}"/>
              </a:ext>
            </a:extLst>
          </p:cNvPr>
          <p:cNvSpPr/>
          <p:nvPr/>
        </p:nvSpPr>
        <p:spPr>
          <a:xfrm>
            <a:off x="5097674" y="1517169"/>
            <a:ext cx="304800" cy="4781852"/>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 name="Groupe 49">
            <a:extLst>
              <a:ext uri="{FF2B5EF4-FFF2-40B4-BE49-F238E27FC236}">
                <a16:creationId xmlns:a16="http://schemas.microsoft.com/office/drawing/2014/main" id="{CE95C40B-4E60-E327-B4E7-B48B7E59BA66}"/>
              </a:ext>
            </a:extLst>
          </p:cNvPr>
          <p:cNvGrpSpPr/>
          <p:nvPr/>
        </p:nvGrpSpPr>
        <p:grpSpPr>
          <a:xfrm>
            <a:off x="4172644" y="1517169"/>
            <a:ext cx="642859" cy="541981"/>
            <a:chOff x="1797480" y="1339838"/>
            <a:chExt cx="1507135" cy="1270634"/>
          </a:xfrm>
        </p:grpSpPr>
        <p:grpSp>
          <p:nvGrpSpPr>
            <p:cNvPr id="37" name="Groupe 36">
              <a:extLst>
                <a:ext uri="{FF2B5EF4-FFF2-40B4-BE49-F238E27FC236}">
                  <a16:creationId xmlns:a16="http://schemas.microsoft.com/office/drawing/2014/main" id="{F3E68AD2-4188-6E3F-CE8E-48023C8DA507}"/>
                </a:ext>
              </a:extLst>
            </p:cNvPr>
            <p:cNvGrpSpPr/>
            <p:nvPr/>
          </p:nvGrpSpPr>
          <p:grpSpPr>
            <a:xfrm>
              <a:off x="1797480" y="1339838"/>
              <a:ext cx="1507135" cy="1270634"/>
              <a:chOff x="8982504" y="3274976"/>
              <a:chExt cx="1230670" cy="1037553"/>
            </a:xfrm>
            <a:solidFill>
              <a:srgbClr val="ED7D31"/>
            </a:solidFill>
          </p:grpSpPr>
          <p:pic>
            <p:nvPicPr>
              <p:cNvPr id="38" name="Graphique 37" descr="Utilisateur avec un remplissage uni">
                <a:extLst>
                  <a:ext uri="{FF2B5EF4-FFF2-40B4-BE49-F238E27FC236}">
                    <a16:creationId xmlns:a16="http://schemas.microsoft.com/office/drawing/2014/main" id="{A2D4ADF5-3133-9534-95A4-7D83B4B6F06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39" name="Graphique 38" descr="Utilisateur avec un remplissage uni">
                <a:extLst>
                  <a:ext uri="{FF2B5EF4-FFF2-40B4-BE49-F238E27FC236}">
                    <a16:creationId xmlns:a16="http://schemas.microsoft.com/office/drawing/2014/main" id="{BC9FB642-1379-45D9-0DCE-5BF0A44CD16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40" name="Graphique 39" descr="Utilisateur avec un remplissage uni">
                <a:extLst>
                  <a:ext uri="{FF2B5EF4-FFF2-40B4-BE49-F238E27FC236}">
                    <a16:creationId xmlns:a16="http://schemas.microsoft.com/office/drawing/2014/main" id="{5882C4BA-6CD1-3BEF-3A3F-7D48D17E13A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41" name="Graphique 40" descr="Utilisateur avec un remplissage uni">
                <a:extLst>
                  <a:ext uri="{FF2B5EF4-FFF2-40B4-BE49-F238E27FC236}">
                    <a16:creationId xmlns:a16="http://schemas.microsoft.com/office/drawing/2014/main" id="{2E7BBAF9-6F82-9230-B0BF-346183A0C0D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42" name="Graphique 41" descr="Utilisateur avec un remplissage uni">
                <a:extLst>
                  <a:ext uri="{FF2B5EF4-FFF2-40B4-BE49-F238E27FC236}">
                    <a16:creationId xmlns:a16="http://schemas.microsoft.com/office/drawing/2014/main" id="{92705040-E00C-6EB6-918A-230C7861E04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43" name="Graphique 42" descr="Utilisateur avec un remplissage uni">
                <a:extLst>
                  <a:ext uri="{FF2B5EF4-FFF2-40B4-BE49-F238E27FC236}">
                    <a16:creationId xmlns:a16="http://schemas.microsoft.com/office/drawing/2014/main" id="{EE5A2B9E-5CB7-4963-E4A9-C4FEB28B135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44" name="Graphique 43" descr="Utilisateur avec un remplissage uni">
                <a:extLst>
                  <a:ext uri="{FF2B5EF4-FFF2-40B4-BE49-F238E27FC236}">
                    <a16:creationId xmlns:a16="http://schemas.microsoft.com/office/drawing/2014/main" id="{6ACC995D-D17E-B8E1-0A73-C2E89027DB6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45" name="Graphique 44" descr="Utilisateur avec un remplissage uni">
                <a:extLst>
                  <a:ext uri="{FF2B5EF4-FFF2-40B4-BE49-F238E27FC236}">
                    <a16:creationId xmlns:a16="http://schemas.microsoft.com/office/drawing/2014/main" id="{E5E59B55-0E7C-CDC0-2191-0CFC2C25AFE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46" name="Graphique 45" descr="Utilisateur avec un remplissage uni">
                <a:extLst>
                  <a:ext uri="{FF2B5EF4-FFF2-40B4-BE49-F238E27FC236}">
                    <a16:creationId xmlns:a16="http://schemas.microsoft.com/office/drawing/2014/main" id="{50DEC2AC-77A3-7D6E-1861-C94894D7E43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47" name="Graphique 46" descr="Utilisateur avec un remplissage uni">
                <a:extLst>
                  <a:ext uri="{FF2B5EF4-FFF2-40B4-BE49-F238E27FC236}">
                    <a16:creationId xmlns:a16="http://schemas.microsoft.com/office/drawing/2014/main" id="{DE8A6CC2-A659-CD52-D7B8-DD6F53F8B6F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48" name="Graphique 47" descr="Utilisateur avec un remplissage uni">
                <a:extLst>
                  <a:ext uri="{FF2B5EF4-FFF2-40B4-BE49-F238E27FC236}">
                    <a16:creationId xmlns:a16="http://schemas.microsoft.com/office/drawing/2014/main" id="{1DA5D61D-93EE-F49C-A51C-FECCD4E7E42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49" name="Graphique 48" descr="Boîte à archives avec un remplissage uni">
              <a:extLst>
                <a:ext uri="{FF2B5EF4-FFF2-40B4-BE49-F238E27FC236}">
                  <a16:creationId xmlns:a16="http://schemas.microsoft.com/office/drawing/2014/main" id="{79C56FB7-D08E-2ACE-8619-6D6FEE6A3D9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164013" y="1631780"/>
              <a:ext cx="795090" cy="795090"/>
            </a:xfrm>
            <a:prstGeom prst="rect">
              <a:avLst/>
            </a:prstGeom>
          </p:spPr>
        </p:pic>
      </p:grpSp>
      <p:grpSp>
        <p:nvGrpSpPr>
          <p:cNvPr id="51" name="Groupe 50">
            <a:extLst>
              <a:ext uri="{FF2B5EF4-FFF2-40B4-BE49-F238E27FC236}">
                <a16:creationId xmlns:a16="http://schemas.microsoft.com/office/drawing/2014/main" id="{46970F60-CEB1-A2C4-8A04-04110E49672B}"/>
              </a:ext>
            </a:extLst>
          </p:cNvPr>
          <p:cNvGrpSpPr/>
          <p:nvPr/>
        </p:nvGrpSpPr>
        <p:grpSpPr>
          <a:xfrm>
            <a:off x="3942660" y="2147055"/>
            <a:ext cx="928257" cy="541981"/>
            <a:chOff x="1797480" y="1339838"/>
            <a:chExt cx="2176227" cy="1270634"/>
          </a:xfrm>
        </p:grpSpPr>
        <p:grpSp>
          <p:nvGrpSpPr>
            <p:cNvPr id="52" name="Groupe 51">
              <a:extLst>
                <a:ext uri="{FF2B5EF4-FFF2-40B4-BE49-F238E27FC236}">
                  <a16:creationId xmlns:a16="http://schemas.microsoft.com/office/drawing/2014/main" id="{60C47F68-6657-452A-4A23-CDD585DD3078}"/>
                </a:ext>
              </a:extLst>
            </p:cNvPr>
            <p:cNvGrpSpPr/>
            <p:nvPr/>
          </p:nvGrpSpPr>
          <p:grpSpPr>
            <a:xfrm>
              <a:off x="1797480" y="1339838"/>
              <a:ext cx="1507135" cy="1270634"/>
              <a:chOff x="8982504" y="3274976"/>
              <a:chExt cx="1230670" cy="1037553"/>
            </a:xfrm>
            <a:solidFill>
              <a:srgbClr val="ED7D31"/>
            </a:solidFill>
          </p:grpSpPr>
          <p:pic>
            <p:nvPicPr>
              <p:cNvPr id="54" name="Graphique 53" descr="Utilisateur avec un remplissage uni">
                <a:extLst>
                  <a:ext uri="{FF2B5EF4-FFF2-40B4-BE49-F238E27FC236}">
                    <a16:creationId xmlns:a16="http://schemas.microsoft.com/office/drawing/2014/main" id="{26DA32A7-968B-D7B2-644D-DAEE9D29DA2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55" name="Graphique 54" descr="Utilisateur avec un remplissage uni">
                <a:extLst>
                  <a:ext uri="{FF2B5EF4-FFF2-40B4-BE49-F238E27FC236}">
                    <a16:creationId xmlns:a16="http://schemas.microsoft.com/office/drawing/2014/main" id="{33A25D70-B1D7-0090-7593-42A8789A427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56" name="Graphique 55" descr="Utilisateur avec un remplissage uni">
                <a:extLst>
                  <a:ext uri="{FF2B5EF4-FFF2-40B4-BE49-F238E27FC236}">
                    <a16:creationId xmlns:a16="http://schemas.microsoft.com/office/drawing/2014/main" id="{5ECFFFBD-74B7-6B54-6E4F-F197DE7701C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57" name="Graphique 56" descr="Utilisateur avec un remplissage uni">
                <a:extLst>
                  <a:ext uri="{FF2B5EF4-FFF2-40B4-BE49-F238E27FC236}">
                    <a16:creationId xmlns:a16="http://schemas.microsoft.com/office/drawing/2014/main" id="{A5A46201-9101-2F41-C14B-459FBCDD272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58" name="Graphique 57" descr="Utilisateur avec un remplissage uni">
                <a:extLst>
                  <a:ext uri="{FF2B5EF4-FFF2-40B4-BE49-F238E27FC236}">
                    <a16:creationId xmlns:a16="http://schemas.microsoft.com/office/drawing/2014/main" id="{571C09BE-B8C2-18C2-BF2D-6F3371BFC2E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59" name="Graphique 58" descr="Utilisateur avec un remplissage uni">
                <a:extLst>
                  <a:ext uri="{FF2B5EF4-FFF2-40B4-BE49-F238E27FC236}">
                    <a16:creationId xmlns:a16="http://schemas.microsoft.com/office/drawing/2014/main" id="{39A1D8F3-19D5-F3A5-FD7B-BC7CF1C078B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60" name="Graphique 59" descr="Utilisateur avec un remplissage uni">
                <a:extLst>
                  <a:ext uri="{FF2B5EF4-FFF2-40B4-BE49-F238E27FC236}">
                    <a16:creationId xmlns:a16="http://schemas.microsoft.com/office/drawing/2014/main" id="{4427166C-2D02-5167-8BF8-A119A387816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61" name="Graphique 60" descr="Utilisateur avec un remplissage uni">
                <a:extLst>
                  <a:ext uri="{FF2B5EF4-FFF2-40B4-BE49-F238E27FC236}">
                    <a16:creationId xmlns:a16="http://schemas.microsoft.com/office/drawing/2014/main" id="{36C65E62-D333-9721-EE3B-1113C6C652B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62" name="Graphique 61" descr="Utilisateur avec un remplissage uni">
                <a:extLst>
                  <a:ext uri="{FF2B5EF4-FFF2-40B4-BE49-F238E27FC236}">
                    <a16:creationId xmlns:a16="http://schemas.microsoft.com/office/drawing/2014/main" id="{AF940474-0E28-99BF-E42D-69BA50538B3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63" name="Graphique 62" descr="Utilisateur avec un remplissage uni">
                <a:extLst>
                  <a:ext uri="{FF2B5EF4-FFF2-40B4-BE49-F238E27FC236}">
                    <a16:creationId xmlns:a16="http://schemas.microsoft.com/office/drawing/2014/main" id="{A030BFFD-B9CD-7768-596D-C1AC2F49051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64" name="Graphique 63" descr="Utilisateur avec un remplissage uni">
                <a:extLst>
                  <a:ext uri="{FF2B5EF4-FFF2-40B4-BE49-F238E27FC236}">
                    <a16:creationId xmlns:a16="http://schemas.microsoft.com/office/drawing/2014/main" id="{9A501410-C12D-E33D-85E2-D3D25290E3E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53" name="Graphique 52" descr="Boîte à archives avec un remplissage uni">
              <a:extLst>
                <a:ext uri="{FF2B5EF4-FFF2-40B4-BE49-F238E27FC236}">
                  <a16:creationId xmlns:a16="http://schemas.microsoft.com/office/drawing/2014/main" id="{284DE7EA-E651-D827-123B-B0F4D34D9E9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178618" y="1572578"/>
              <a:ext cx="795089" cy="795090"/>
            </a:xfrm>
            <a:prstGeom prst="rect">
              <a:avLst/>
            </a:prstGeom>
          </p:spPr>
        </p:pic>
      </p:grpSp>
      <p:grpSp>
        <p:nvGrpSpPr>
          <p:cNvPr id="128" name="Groupe 127">
            <a:extLst>
              <a:ext uri="{FF2B5EF4-FFF2-40B4-BE49-F238E27FC236}">
                <a16:creationId xmlns:a16="http://schemas.microsoft.com/office/drawing/2014/main" id="{17491A81-8C9F-9A7B-DD11-DDD4E0E3D60A}"/>
              </a:ext>
            </a:extLst>
          </p:cNvPr>
          <p:cNvGrpSpPr/>
          <p:nvPr/>
        </p:nvGrpSpPr>
        <p:grpSpPr>
          <a:xfrm>
            <a:off x="3942660" y="2925587"/>
            <a:ext cx="1104068" cy="541981"/>
            <a:chOff x="1797481" y="3401554"/>
            <a:chExt cx="1314902" cy="645478"/>
          </a:xfrm>
        </p:grpSpPr>
        <p:grpSp>
          <p:nvGrpSpPr>
            <p:cNvPr id="65" name="Groupe 64">
              <a:extLst>
                <a:ext uri="{FF2B5EF4-FFF2-40B4-BE49-F238E27FC236}">
                  <a16:creationId xmlns:a16="http://schemas.microsoft.com/office/drawing/2014/main" id="{886F357C-56E8-46F2-4A2E-F35B59561391}"/>
                </a:ext>
              </a:extLst>
            </p:cNvPr>
            <p:cNvGrpSpPr/>
            <p:nvPr/>
          </p:nvGrpSpPr>
          <p:grpSpPr>
            <a:xfrm>
              <a:off x="1797481" y="3401554"/>
              <a:ext cx="1314902" cy="645478"/>
              <a:chOff x="1797480" y="1339838"/>
              <a:chExt cx="2588405" cy="1270634"/>
            </a:xfrm>
          </p:grpSpPr>
          <p:grpSp>
            <p:nvGrpSpPr>
              <p:cNvPr id="66" name="Groupe 65">
                <a:extLst>
                  <a:ext uri="{FF2B5EF4-FFF2-40B4-BE49-F238E27FC236}">
                    <a16:creationId xmlns:a16="http://schemas.microsoft.com/office/drawing/2014/main" id="{E65BE94A-B771-3DB2-4F88-9405407DBCBB}"/>
                  </a:ext>
                </a:extLst>
              </p:cNvPr>
              <p:cNvGrpSpPr/>
              <p:nvPr/>
            </p:nvGrpSpPr>
            <p:grpSpPr>
              <a:xfrm>
                <a:off x="1797480" y="1339838"/>
                <a:ext cx="1507135" cy="1270634"/>
                <a:chOff x="8982504" y="3274976"/>
                <a:chExt cx="1230670" cy="1037553"/>
              </a:xfrm>
              <a:solidFill>
                <a:srgbClr val="ED7D31"/>
              </a:solidFill>
            </p:grpSpPr>
            <p:pic>
              <p:nvPicPr>
                <p:cNvPr id="68" name="Graphique 67" descr="Utilisateur avec un remplissage uni">
                  <a:extLst>
                    <a:ext uri="{FF2B5EF4-FFF2-40B4-BE49-F238E27FC236}">
                      <a16:creationId xmlns:a16="http://schemas.microsoft.com/office/drawing/2014/main" id="{ED6104DB-E2E1-8338-C795-A72E7B2A292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69" name="Graphique 68" descr="Utilisateur avec un remplissage uni">
                  <a:extLst>
                    <a:ext uri="{FF2B5EF4-FFF2-40B4-BE49-F238E27FC236}">
                      <a16:creationId xmlns:a16="http://schemas.microsoft.com/office/drawing/2014/main" id="{11A1137C-520C-2724-26AA-F7FE953B164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70" name="Graphique 69" descr="Utilisateur avec un remplissage uni">
                  <a:extLst>
                    <a:ext uri="{FF2B5EF4-FFF2-40B4-BE49-F238E27FC236}">
                      <a16:creationId xmlns:a16="http://schemas.microsoft.com/office/drawing/2014/main" id="{0C52BDBD-83C3-BA7F-2449-C919B320BC2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71" name="Graphique 70" descr="Utilisateur avec un remplissage uni">
                  <a:extLst>
                    <a:ext uri="{FF2B5EF4-FFF2-40B4-BE49-F238E27FC236}">
                      <a16:creationId xmlns:a16="http://schemas.microsoft.com/office/drawing/2014/main" id="{AF56E4CE-5A1B-8DA0-558E-92C81FE8F99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72" name="Graphique 71" descr="Utilisateur avec un remplissage uni">
                  <a:extLst>
                    <a:ext uri="{FF2B5EF4-FFF2-40B4-BE49-F238E27FC236}">
                      <a16:creationId xmlns:a16="http://schemas.microsoft.com/office/drawing/2014/main" id="{66A4E9DF-1960-353B-4123-9D37C3BC69A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73" name="Graphique 72" descr="Utilisateur avec un remplissage uni">
                  <a:extLst>
                    <a:ext uri="{FF2B5EF4-FFF2-40B4-BE49-F238E27FC236}">
                      <a16:creationId xmlns:a16="http://schemas.microsoft.com/office/drawing/2014/main" id="{E067083F-6C4F-000B-B875-74DE3507767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74" name="Graphique 73" descr="Utilisateur avec un remplissage uni">
                  <a:extLst>
                    <a:ext uri="{FF2B5EF4-FFF2-40B4-BE49-F238E27FC236}">
                      <a16:creationId xmlns:a16="http://schemas.microsoft.com/office/drawing/2014/main" id="{36E71536-154D-5DFF-D763-9FD7406D691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75" name="Graphique 74" descr="Utilisateur avec un remplissage uni">
                  <a:extLst>
                    <a:ext uri="{FF2B5EF4-FFF2-40B4-BE49-F238E27FC236}">
                      <a16:creationId xmlns:a16="http://schemas.microsoft.com/office/drawing/2014/main" id="{1C2268C3-B76B-DE7B-25A6-69109932ED2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76" name="Graphique 75" descr="Utilisateur avec un remplissage uni">
                  <a:extLst>
                    <a:ext uri="{FF2B5EF4-FFF2-40B4-BE49-F238E27FC236}">
                      <a16:creationId xmlns:a16="http://schemas.microsoft.com/office/drawing/2014/main" id="{59A76CF7-B953-75C0-7A3B-34637341C1C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77" name="Graphique 76" descr="Utilisateur avec un remplissage uni">
                  <a:extLst>
                    <a:ext uri="{FF2B5EF4-FFF2-40B4-BE49-F238E27FC236}">
                      <a16:creationId xmlns:a16="http://schemas.microsoft.com/office/drawing/2014/main" id="{121AF902-BEFC-06DD-0C72-15E3D4F59B0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78" name="Graphique 77" descr="Utilisateur avec un remplissage uni">
                  <a:extLst>
                    <a:ext uri="{FF2B5EF4-FFF2-40B4-BE49-F238E27FC236}">
                      <a16:creationId xmlns:a16="http://schemas.microsoft.com/office/drawing/2014/main" id="{C5EF42D5-6F6C-BF91-98B5-E7EA8164C88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67" name="Graphique 66" descr="Boîte à archives avec un remplissage uni">
                <a:extLst>
                  <a:ext uri="{FF2B5EF4-FFF2-40B4-BE49-F238E27FC236}">
                    <a16:creationId xmlns:a16="http://schemas.microsoft.com/office/drawing/2014/main" id="{B8B5FC31-D5DA-EE30-C7AE-A7C1CF836FA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79" name="Graphique 78" descr="Déverrouiller avec un remplissage uni">
              <a:extLst>
                <a:ext uri="{FF2B5EF4-FFF2-40B4-BE49-F238E27FC236}">
                  <a16:creationId xmlns:a16="http://schemas.microsoft.com/office/drawing/2014/main" id="{1B632D33-D7A5-9272-F038-A2FC38FBB4A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flipH="1">
              <a:off x="2498111" y="3408841"/>
              <a:ext cx="432779" cy="462545"/>
            </a:xfrm>
            <a:prstGeom prst="rect">
              <a:avLst/>
            </a:prstGeom>
          </p:spPr>
        </p:pic>
      </p:grpSp>
      <p:grpSp>
        <p:nvGrpSpPr>
          <p:cNvPr id="129" name="Groupe 128">
            <a:extLst>
              <a:ext uri="{FF2B5EF4-FFF2-40B4-BE49-F238E27FC236}">
                <a16:creationId xmlns:a16="http://schemas.microsoft.com/office/drawing/2014/main" id="{30B5E7FF-AB5B-13D5-1285-CE699C6F211C}"/>
              </a:ext>
            </a:extLst>
          </p:cNvPr>
          <p:cNvGrpSpPr/>
          <p:nvPr/>
        </p:nvGrpSpPr>
        <p:grpSpPr>
          <a:xfrm>
            <a:off x="3945288" y="3643032"/>
            <a:ext cx="1104068" cy="541981"/>
            <a:chOff x="1800611" y="4256002"/>
            <a:chExt cx="1314902" cy="645478"/>
          </a:xfrm>
        </p:grpSpPr>
        <p:grpSp>
          <p:nvGrpSpPr>
            <p:cNvPr id="80" name="Groupe 79">
              <a:extLst>
                <a:ext uri="{FF2B5EF4-FFF2-40B4-BE49-F238E27FC236}">
                  <a16:creationId xmlns:a16="http://schemas.microsoft.com/office/drawing/2014/main" id="{3F0D2B1F-F99D-94CB-1779-ED5D16629998}"/>
                </a:ext>
              </a:extLst>
            </p:cNvPr>
            <p:cNvGrpSpPr/>
            <p:nvPr/>
          </p:nvGrpSpPr>
          <p:grpSpPr>
            <a:xfrm>
              <a:off x="1800611" y="4256002"/>
              <a:ext cx="1314902" cy="645478"/>
              <a:chOff x="1797480" y="1339838"/>
              <a:chExt cx="2588405" cy="1270634"/>
            </a:xfrm>
          </p:grpSpPr>
          <p:grpSp>
            <p:nvGrpSpPr>
              <p:cNvPr id="81" name="Groupe 80">
                <a:extLst>
                  <a:ext uri="{FF2B5EF4-FFF2-40B4-BE49-F238E27FC236}">
                    <a16:creationId xmlns:a16="http://schemas.microsoft.com/office/drawing/2014/main" id="{E4039F9F-662F-CFAD-B600-224037E058B7}"/>
                  </a:ext>
                </a:extLst>
              </p:cNvPr>
              <p:cNvGrpSpPr/>
              <p:nvPr/>
            </p:nvGrpSpPr>
            <p:grpSpPr>
              <a:xfrm>
                <a:off x="1797480" y="1339838"/>
                <a:ext cx="1507135" cy="1270634"/>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EF905BFD-064C-4E52-973E-A14E69063D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AB250F2-AEC1-7D22-3944-2F5F6445063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7289B13-DB24-6D79-CFBF-7D589D51379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86" name="Graphique 85" descr="Utilisateur avec un remplissage uni">
                  <a:extLst>
                    <a:ext uri="{FF2B5EF4-FFF2-40B4-BE49-F238E27FC236}">
                      <a16:creationId xmlns:a16="http://schemas.microsoft.com/office/drawing/2014/main" id="{06A1BF65-560B-446E-CFD0-EC4AB672F84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87" name="Graphique 86" descr="Utilisateur avec un remplissage uni">
                  <a:extLst>
                    <a:ext uri="{FF2B5EF4-FFF2-40B4-BE49-F238E27FC236}">
                      <a16:creationId xmlns:a16="http://schemas.microsoft.com/office/drawing/2014/main" id="{0D0C3071-7D64-2FEA-3B4C-0E99D312170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88" name="Graphique 87" descr="Utilisateur avec un remplissage uni">
                  <a:extLst>
                    <a:ext uri="{FF2B5EF4-FFF2-40B4-BE49-F238E27FC236}">
                      <a16:creationId xmlns:a16="http://schemas.microsoft.com/office/drawing/2014/main" id="{C4D15609-9C12-FEF1-EE7F-0ECA961B7CC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89" name="Graphique 88" descr="Utilisateur avec un remplissage uni">
                  <a:extLst>
                    <a:ext uri="{FF2B5EF4-FFF2-40B4-BE49-F238E27FC236}">
                      <a16:creationId xmlns:a16="http://schemas.microsoft.com/office/drawing/2014/main" id="{8DB5C8EB-4ED2-D856-97D0-54004A9B39A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90" name="Graphique 89" descr="Utilisateur avec un remplissage uni">
                  <a:extLst>
                    <a:ext uri="{FF2B5EF4-FFF2-40B4-BE49-F238E27FC236}">
                      <a16:creationId xmlns:a16="http://schemas.microsoft.com/office/drawing/2014/main" id="{9E69CCBB-B3BD-CBBB-0BBF-934030AA250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91" name="Graphique 90" descr="Utilisateur avec un remplissage uni">
                  <a:extLst>
                    <a:ext uri="{FF2B5EF4-FFF2-40B4-BE49-F238E27FC236}">
                      <a16:creationId xmlns:a16="http://schemas.microsoft.com/office/drawing/2014/main" id="{85872754-EE71-C8EE-0C88-B669AEB5D27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92" name="Graphique 91" descr="Utilisateur avec un remplissage uni">
                  <a:extLst>
                    <a:ext uri="{FF2B5EF4-FFF2-40B4-BE49-F238E27FC236}">
                      <a16:creationId xmlns:a16="http://schemas.microsoft.com/office/drawing/2014/main" id="{3C36DF8F-8DFE-87D1-F30D-CD2D5E43244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93" name="Graphique 92" descr="Utilisateur avec un remplissage uni">
                  <a:extLst>
                    <a:ext uri="{FF2B5EF4-FFF2-40B4-BE49-F238E27FC236}">
                      <a16:creationId xmlns:a16="http://schemas.microsoft.com/office/drawing/2014/main" id="{DCE271F6-6FFA-149E-534F-44295B87AE8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82" name="Graphique 81" descr="Boîte à archives avec un remplissage uni">
                <a:extLst>
                  <a:ext uri="{FF2B5EF4-FFF2-40B4-BE49-F238E27FC236}">
                    <a16:creationId xmlns:a16="http://schemas.microsoft.com/office/drawing/2014/main" id="{A414E72C-CE81-3C1C-30F6-779261072BA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95" name="Graphique 94" descr="Verrou avec un remplissage uni">
              <a:extLst>
                <a:ext uri="{FF2B5EF4-FFF2-40B4-BE49-F238E27FC236}">
                  <a16:creationId xmlns:a16="http://schemas.microsoft.com/office/drawing/2014/main" id="{130B863A-4526-1C48-9F0B-155083C04BF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493236" y="4290370"/>
              <a:ext cx="466725" cy="466725"/>
            </a:xfrm>
            <a:prstGeom prst="rect">
              <a:avLst/>
            </a:prstGeom>
          </p:spPr>
        </p:pic>
      </p:grpSp>
      <p:grpSp>
        <p:nvGrpSpPr>
          <p:cNvPr id="130" name="Groupe 129">
            <a:extLst>
              <a:ext uri="{FF2B5EF4-FFF2-40B4-BE49-F238E27FC236}">
                <a16:creationId xmlns:a16="http://schemas.microsoft.com/office/drawing/2014/main" id="{A8838AE9-5C62-6E2A-DC18-EA754E33808A}"/>
              </a:ext>
            </a:extLst>
          </p:cNvPr>
          <p:cNvGrpSpPr/>
          <p:nvPr/>
        </p:nvGrpSpPr>
        <p:grpSpPr>
          <a:xfrm>
            <a:off x="3930074" y="4237752"/>
            <a:ext cx="1104068" cy="646669"/>
            <a:chOff x="1782492" y="4964291"/>
            <a:chExt cx="1314902" cy="770157"/>
          </a:xfrm>
        </p:grpSpPr>
        <p:grpSp>
          <p:nvGrpSpPr>
            <p:cNvPr id="96" name="Groupe 95">
              <a:extLst>
                <a:ext uri="{FF2B5EF4-FFF2-40B4-BE49-F238E27FC236}">
                  <a16:creationId xmlns:a16="http://schemas.microsoft.com/office/drawing/2014/main" id="{EE35B2CC-0414-670F-6CCF-47A86369B549}"/>
                </a:ext>
              </a:extLst>
            </p:cNvPr>
            <p:cNvGrpSpPr/>
            <p:nvPr/>
          </p:nvGrpSpPr>
          <p:grpSpPr>
            <a:xfrm>
              <a:off x="1782492" y="5088970"/>
              <a:ext cx="1314902" cy="645478"/>
              <a:chOff x="1797480" y="1339838"/>
              <a:chExt cx="2588405" cy="1270634"/>
            </a:xfrm>
          </p:grpSpPr>
          <p:grpSp>
            <p:nvGrpSpPr>
              <p:cNvPr id="97" name="Groupe 96">
                <a:extLst>
                  <a:ext uri="{FF2B5EF4-FFF2-40B4-BE49-F238E27FC236}">
                    <a16:creationId xmlns:a16="http://schemas.microsoft.com/office/drawing/2014/main" id="{1C8E641D-9B26-1B5E-205D-35EF380E056C}"/>
                  </a:ext>
                </a:extLst>
              </p:cNvPr>
              <p:cNvGrpSpPr/>
              <p:nvPr/>
            </p:nvGrpSpPr>
            <p:grpSpPr>
              <a:xfrm>
                <a:off x="1797480" y="1339838"/>
                <a:ext cx="1507135" cy="1270634"/>
                <a:chOff x="8982504" y="3274976"/>
                <a:chExt cx="1230670" cy="1037553"/>
              </a:xfrm>
              <a:solidFill>
                <a:srgbClr val="ED7D31"/>
              </a:solidFill>
            </p:grpSpPr>
            <p:pic>
              <p:nvPicPr>
                <p:cNvPr id="99" name="Graphique 98" descr="Utilisateur avec un remplissage uni">
                  <a:extLst>
                    <a:ext uri="{FF2B5EF4-FFF2-40B4-BE49-F238E27FC236}">
                      <a16:creationId xmlns:a16="http://schemas.microsoft.com/office/drawing/2014/main" id="{74AB7D77-8DA2-2AEB-9B30-357EFC312A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E8CD3306-F963-134C-E5F7-707F183A6E1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DEE7B229-4F7C-7DD8-EA7E-F50A4DF068B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D2AC4588-3B89-1B37-9BA6-A9B1820D5B5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9D448320-850A-2D3B-F23F-86BF9A59564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F02C5214-D5AB-A4A4-A7A5-8765FB186C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94E7ABE7-3724-F6AA-DAFF-C0EE577A46E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06" name="Graphique 105" descr="Utilisateur avec un remplissage uni">
                  <a:extLst>
                    <a:ext uri="{FF2B5EF4-FFF2-40B4-BE49-F238E27FC236}">
                      <a16:creationId xmlns:a16="http://schemas.microsoft.com/office/drawing/2014/main" id="{535C7E9E-5CE2-A15F-A6A2-259ADE73BEC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07" name="Graphique 106" descr="Utilisateur avec un remplissage uni">
                  <a:extLst>
                    <a:ext uri="{FF2B5EF4-FFF2-40B4-BE49-F238E27FC236}">
                      <a16:creationId xmlns:a16="http://schemas.microsoft.com/office/drawing/2014/main" id="{6DEC118A-288F-4857-E5CA-020FD879851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08" name="Graphique 107" descr="Utilisateur avec un remplissage uni">
                  <a:extLst>
                    <a:ext uri="{FF2B5EF4-FFF2-40B4-BE49-F238E27FC236}">
                      <a16:creationId xmlns:a16="http://schemas.microsoft.com/office/drawing/2014/main" id="{10AF6A3C-D03E-F0D5-2992-F025649DC21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09" name="Graphique 108" descr="Utilisateur avec un remplissage uni">
                  <a:extLst>
                    <a:ext uri="{FF2B5EF4-FFF2-40B4-BE49-F238E27FC236}">
                      <a16:creationId xmlns:a16="http://schemas.microsoft.com/office/drawing/2014/main" id="{3F2C8BD5-751C-A2D1-650E-D3334DFB49F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98" name="Graphique 97" descr="Boîte à archives avec un remplissage uni">
                <a:extLst>
                  <a:ext uri="{FF2B5EF4-FFF2-40B4-BE49-F238E27FC236}">
                    <a16:creationId xmlns:a16="http://schemas.microsoft.com/office/drawing/2014/main" id="{A65DB922-BE62-D612-C041-749D3209245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10" name="Graphique 109" descr="Verrou avec un remplissage uni">
              <a:extLst>
                <a:ext uri="{FF2B5EF4-FFF2-40B4-BE49-F238E27FC236}">
                  <a16:creationId xmlns:a16="http://schemas.microsoft.com/office/drawing/2014/main" id="{976D87B3-F636-8D86-C943-CCBCCC462D7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293077" y="4964291"/>
              <a:ext cx="743725" cy="743725"/>
            </a:xfrm>
            <a:prstGeom prst="rect">
              <a:avLst/>
            </a:prstGeom>
          </p:spPr>
        </p:pic>
      </p:grpSp>
      <p:grpSp>
        <p:nvGrpSpPr>
          <p:cNvPr id="131" name="Groupe 130">
            <a:extLst>
              <a:ext uri="{FF2B5EF4-FFF2-40B4-BE49-F238E27FC236}">
                <a16:creationId xmlns:a16="http://schemas.microsoft.com/office/drawing/2014/main" id="{C4FF3E09-D077-18EB-9F78-23A7414A4506}"/>
              </a:ext>
            </a:extLst>
          </p:cNvPr>
          <p:cNvGrpSpPr/>
          <p:nvPr/>
        </p:nvGrpSpPr>
        <p:grpSpPr>
          <a:xfrm>
            <a:off x="3912955" y="5705324"/>
            <a:ext cx="1123328" cy="541981"/>
            <a:chOff x="1804205" y="5917781"/>
            <a:chExt cx="1337840" cy="645478"/>
          </a:xfrm>
        </p:grpSpPr>
        <p:grpSp>
          <p:nvGrpSpPr>
            <p:cNvPr id="111" name="Groupe 110">
              <a:extLst>
                <a:ext uri="{FF2B5EF4-FFF2-40B4-BE49-F238E27FC236}">
                  <a16:creationId xmlns:a16="http://schemas.microsoft.com/office/drawing/2014/main" id="{47AC6DA8-C251-CDAF-39F1-310171577DC4}"/>
                </a:ext>
              </a:extLst>
            </p:cNvPr>
            <p:cNvGrpSpPr/>
            <p:nvPr/>
          </p:nvGrpSpPr>
          <p:grpSpPr>
            <a:xfrm>
              <a:off x="1804205" y="5917781"/>
              <a:ext cx="1314902" cy="645478"/>
              <a:chOff x="1797480" y="1339838"/>
              <a:chExt cx="2588405" cy="1270634"/>
            </a:xfrm>
          </p:grpSpPr>
          <p:grpSp>
            <p:nvGrpSpPr>
              <p:cNvPr id="112" name="Groupe 111">
                <a:extLst>
                  <a:ext uri="{FF2B5EF4-FFF2-40B4-BE49-F238E27FC236}">
                    <a16:creationId xmlns:a16="http://schemas.microsoft.com/office/drawing/2014/main" id="{2F6C5867-908C-92C8-17D1-7465D6FE1C28}"/>
                  </a:ext>
                </a:extLst>
              </p:cNvPr>
              <p:cNvGrpSpPr/>
              <p:nvPr/>
            </p:nvGrpSpPr>
            <p:grpSpPr>
              <a:xfrm>
                <a:off x="1797480" y="1339838"/>
                <a:ext cx="1507135" cy="1270634"/>
                <a:chOff x="8982504" y="3274976"/>
                <a:chExt cx="1230670" cy="1037553"/>
              </a:xfrm>
              <a:solidFill>
                <a:srgbClr val="ED7D31"/>
              </a:solidFill>
            </p:grpSpPr>
            <p:pic>
              <p:nvPicPr>
                <p:cNvPr id="114" name="Graphique 113" descr="Utilisateur avec un remplissage uni">
                  <a:extLst>
                    <a:ext uri="{FF2B5EF4-FFF2-40B4-BE49-F238E27FC236}">
                      <a16:creationId xmlns:a16="http://schemas.microsoft.com/office/drawing/2014/main" id="{4EE4F826-3179-1FFC-4D50-D9A9B958DBF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15" name="Graphique 114" descr="Utilisateur avec un remplissage uni">
                  <a:extLst>
                    <a:ext uri="{FF2B5EF4-FFF2-40B4-BE49-F238E27FC236}">
                      <a16:creationId xmlns:a16="http://schemas.microsoft.com/office/drawing/2014/main" id="{D410C184-D743-2568-DED7-E7D86C440F8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16" name="Graphique 115" descr="Utilisateur avec un remplissage uni">
                  <a:extLst>
                    <a:ext uri="{FF2B5EF4-FFF2-40B4-BE49-F238E27FC236}">
                      <a16:creationId xmlns:a16="http://schemas.microsoft.com/office/drawing/2014/main" id="{D008702B-645A-372E-A1ED-4578330EA61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17" name="Graphique 116" descr="Utilisateur avec un remplissage uni">
                  <a:extLst>
                    <a:ext uri="{FF2B5EF4-FFF2-40B4-BE49-F238E27FC236}">
                      <a16:creationId xmlns:a16="http://schemas.microsoft.com/office/drawing/2014/main" id="{CB8FDC1A-2488-9D02-576A-78DD4B96DED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3D9FB2E5-314C-ED86-AE1A-2A2C182B085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E45F9035-DFE5-88D8-0AE0-A1AB5D711D5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20" name="Graphique 119" descr="Utilisateur avec un remplissage uni">
                  <a:extLst>
                    <a:ext uri="{FF2B5EF4-FFF2-40B4-BE49-F238E27FC236}">
                      <a16:creationId xmlns:a16="http://schemas.microsoft.com/office/drawing/2014/main" id="{1368BBC4-E22C-D141-1A01-80EA5022AD0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21" name="Graphique 120" descr="Utilisateur avec un remplissage uni">
                  <a:extLst>
                    <a:ext uri="{FF2B5EF4-FFF2-40B4-BE49-F238E27FC236}">
                      <a16:creationId xmlns:a16="http://schemas.microsoft.com/office/drawing/2014/main" id="{BF3FEC9A-F02A-D8E0-6749-4E367C5FCB6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EE6EBF84-D618-0DA6-F1D2-F7B388DAAD9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7A8D9076-6766-21CA-5A24-EFB8BDD6A06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4C3D20AD-E377-40B9-D9BF-F9124B08808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13" name="Graphique 112" descr="Boîte à archives avec un remplissage uni">
                <a:extLst>
                  <a:ext uri="{FF2B5EF4-FFF2-40B4-BE49-F238E27FC236}">
                    <a16:creationId xmlns:a16="http://schemas.microsoft.com/office/drawing/2014/main" id="{E8862F55-B6F8-AD71-EDAE-05EE6F269C6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27" name="Graphique 126" descr="Fermer avec un remplissage uni">
              <a:extLst>
                <a:ext uri="{FF2B5EF4-FFF2-40B4-BE49-F238E27FC236}">
                  <a16:creationId xmlns:a16="http://schemas.microsoft.com/office/drawing/2014/main" id="{3D987C9B-FEA3-C634-6FFB-0393618E901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668633" y="5995180"/>
              <a:ext cx="473412" cy="473412"/>
            </a:xfrm>
            <a:prstGeom prst="rect">
              <a:avLst/>
            </a:prstGeom>
          </p:spPr>
        </p:pic>
      </p:grpSp>
      <p:grpSp>
        <p:nvGrpSpPr>
          <p:cNvPr id="152" name="Groupe 151">
            <a:extLst>
              <a:ext uri="{FF2B5EF4-FFF2-40B4-BE49-F238E27FC236}">
                <a16:creationId xmlns:a16="http://schemas.microsoft.com/office/drawing/2014/main" id="{FC081C70-7E80-2C06-33C2-1E8BDF35FD84}"/>
              </a:ext>
            </a:extLst>
          </p:cNvPr>
          <p:cNvGrpSpPr/>
          <p:nvPr/>
        </p:nvGrpSpPr>
        <p:grpSpPr>
          <a:xfrm>
            <a:off x="3922585" y="5035084"/>
            <a:ext cx="1104068" cy="541981"/>
            <a:chOff x="1775004" y="5236420"/>
            <a:chExt cx="1104068" cy="541981"/>
          </a:xfrm>
        </p:grpSpPr>
        <p:grpSp>
          <p:nvGrpSpPr>
            <p:cNvPr id="135" name="Groupe 134">
              <a:extLst>
                <a:ext uri="{FF2B5EF4-FFF2-40B4-BE49-F238E27FC236}">
                  <a16:creationId xmlns:a16="http://schemas.microsoft.com/office/drawing/2014/main" id="{E878F8BD-12E3-FE7F-FF39-F3E18BC01827}"/>
                </a:ext>
              </a:extLst>
            </p:cNvPr>
            <p:cNvGrpSpPr/>
            <p:nvPr/>
          </p:nvGrpSpPr>
          <p:grpSpPr>
            <a:xfrm>
              <a:off x="1775004" y="5236420"/>
              <a:ext cx="1104068" cy="541981"/>
              <a:chOff x="1797480" y="1339838"/>
              <a:chExt cx="2588405" cy="1270634"/>
            </a:xfrm>
          </p:grpSpPr>
          <p:grpSp>
            <p:nvGrpSpPr>
              <p:cNvPr id="137" name="Groupe 136">
                <a:extLst>
                  <a:ext uri="{FF2B5EF4-FFF2-40B4-BE49-F238E27FC236}">
                    <a16:creationId xmlns:a16="http://schemas.microsoft.com/office/drawing/2014/main" id="{70895B7A-A28D-7CDC-FD4D-3CB0B517561E}"/>
                  </a:ext>
                </a:extLst>
              </p:cNvPr>
              <p:cNvGrpSpPr/>
              <p:nvPr/>
            </p:nvGrpSpPr>
            <p:grpSpPr>
              <a:xfrm>
                <a:off x="1797480" y="1339838"/>
                <a:ext cx="1507135" cy="1270634"/>
                <a:chOff x="8982504" y="3274976"/>
                <a:chExt cx="1230670" cy="1037553"/>
              </a:xfrm>
              <a:solidFill>
                <a:srgbClr val="ED7D31"/>
              </a:solidFill>
            </p:grpSpPr>
            <p:pic>
              <p:nvPicPr>
                <p:cNvPr id="139" name="Graphique 138" descr="Utilisateur avec un remplissage uni">
                  <a:extLst>
                    <a:ext uri="{FF2B5EF4-FFF2-40B4-BE49-F238E27FC236}">
                      <a16:creationId xmlns:a16="http://schemas.microsoft.com/office/drawing/2014/main" id="{B3DC0768-DD96-5C73-99E8-B52706D68B6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554D9CB4-46FA-1FED-6F75-067C6A38577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09796F56-D08F-63ED-CC8A-DAADE35DB4A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42" name="Graphique 141" descr="Utilisateur avec un remplissage uni">
                  <a:extLst>
                    <a:ext uri="{FF2B5EF4-FFF2-40B4-BE49-F238E27FC236}">
                      <a16:creationId xmlns:a16="http://schemas.microsoft.com/office/drawing/2014/main" id="{640D68B0-C4D9-B68A-DBE6-8FA949CD5A1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43" name="Graphique 142" descr="Utilisateur avec un remplissage uni">
                  <a:extLst>
                    <a:ext uri="{FF2B5EF4-FFF2-40B4-BE49-F238E27FC236}">
                      <a16:creationId xmlns:a16="http://schemas.microsoft.com/office/drawing/2014/main" id="{4B299DCD-7CFF-AAF0-6DAC-B41233DAF2E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44" name="Graphique 143" descr="Utilisateur avec un remplissage uni">
                  <a:extLst>
                    <a:ext uri="{FF2B5EF4-FFF2-40B4-BE49-F238E27FC236}">
                      <a16:creationId xmlns:a16="http://schemas.microsoft.com/office/drawing/2014/main" id="{77DD0ABB-408C-C966-4A35-D52B1B4CCA4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45" name="Graphique 144" descr="Utilisateur avec un remplissage uni">
                  <a:extLst>
                    <a:ext uri="{FF2B5EF4-FFF2-40B4-BE49-F238E27FC236}">
                      <a16:creationId xmlns:a16="http://schemas.microsoft.com/office/drawing/2014/main" id="{8C519DD9-7C73-4DD4-B0BE-EE77DAD799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46" name="Graphique 145" descr="Utilisateur avec un remplissage uni">
                  <a:extLst>
                    <a:ext uri="{FF2B5EF4-FFF2-40B4-BE49-F238E27FC236}">
                      <a16:creationId xmlns:a16="http://schemas.microsoft.com/office/drawing/2014/main" id="{4D1197AA-19E7-4E3F-4862-74E3C505158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47" name="Graphique 146" descr="Utilisateur avec un remplissage uni">
                  <a:extLst>
                    <a:ext uri="{FF2B5EF4-FFF2-40B4-BE49-F238E27FC236}">
                      <a16:creationId xmlns:a16="http://schemas.microsoft.com/office/drawing/2014/main" id="{D23DC3B2-821D-5BD3-4AEC-01D81E6534C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81B25ABF-0B2C-6015-97A0-FC42669A847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7C4503DF-D490-775F-1E4C-E09BE8F9BA2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38" name="Graphique 137" descr="Boîte à archives avec un remplissage uni">
                <a:extLst>
                  <a:ext uri="{FF2B5EF4-FFF2-40B4-BE49-F238E27FC236}">
                    <a16:creationId xmlns:a16="http://schemas.microsoft.com/office/drawing/2014/main" id="{03258FCD-40F3-F9F8-72E8-910A591075B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51" name="Graphique 150" descr="Point d’interrogation avec un remplissage uni">
              <a:extLst>
                <a:ext uri="{FF2B5EF4-FFF2-40B4-BE49-F238E27FC236}">
                  <a16:creationId xmlns:a16="http://schemas.microsoft.com/office/drawing/2014/main" id="{C36E2C47-6B5C-E7ED-4F86-5DF5E959FEE1}"/>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537302" y="5319965"/>
              <a:ext cx="332767" cy="332767"/>
            </a:xfrm>
            <a:prstGeom prst="rect">
              <a:avLst/>
            </a:prstGeom>
          </p:spPr>
        </p:pic>
      </p:grpSp>
      <p:sp>
        <p:nvSpPr>
          <p:cNvPr id="5" name="Accolade ouvrante 4">
            <a:extLst>
              <a:ext uri="{FF2B5EF4-FFF2-40B4-BE49-F238E27FC236}">
                <a16:creationId xmlns:a16="http://schemas.microsoft.com/office/drawing/2014/main" id="{D158F4EE-B080-BEA4-557A-2E6C0C43E483}"/>
              </a:ext>
            </a:extLst>
          </p:cNvPr>
          <p:cNvSpPr/>
          <p:nvPr/>
        </p:nvSpPr>
        <p:spPr>
          <a:xfrm>
            <a:off x="1069158" y="1517046"/>
            <a:ext cx="553833" cy="3367375"/>
          </a:xfrm>
          <a:prstGeom prst="leftBrace">
            <a:avLst/>
          </a:prstGeom>
          <a:ln w="38100"/>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5" name="Accolade ouvrante 124">
            <a:extLst>
              <a:ext uri="{FF2B5EF4-FFF2-40B4-BE49-F238E27FC236}">
                <a16:creationId xmlns:a16="http://schemas.microsoft.com/office/drawing/2014/main" id="{FC32CB10-50AE-7FFB-254F-D1C53E716298}"/>
              </a:ext>
            </a:extLst>
          </p:cNvPr>
          <p:cNvSpPr/>
          <p:nvPr/>
        </p:nvSpPr>
        <p:spPr>
          <a:xfrm>
            <a:off x="2474420" y="1503476"/>
            <a:ext cx="553833" cy="2681537"/>
          </a:xfrm>
          <a:prstGeom prst="leftBrace">
            <a:avLst/>
          </a:prstGeom>
          <a:ln w="38100"/>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6" name="Espace réservé du contenu 2">
            <a:extLst>
              <a:ext uri="{FF2B5EF4-FFF2-40B4-BE49-F238E27FC236}">
                <a16:creationId xmlns:a16="http://schemas.microsoft.com/office/drawing/2014/main" id="{7A3DC4A3-80A5-AC08-4CF1-D320D1EA1680}"/>
              </a:ext>
            </a:extLst>
          </p:cNvPr>
          <p:cNvSpPr txBox="1">
            <a:spLocks/>
          </p:cNvSpPr>
          <p:nvPr/>
        </p:nvSpPr>
        <p:spPr>
          <a:xfrm>
            <a:off x="1455178" y="2628031"/>
            <a:ext cx="1387549" cy="460264"/>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fr-FR" sz="1800" dirty="0"/>
              <a:t>Ressources Accessibles</a:t>
            </a:r>
          </a:p>
        </p:txBody>
      </p:sp>
      <p:sp>
        <p:nvSpPr>
          <p:cNvPr id="132" name="Espace réservé du contenu 2">
            <a:extLst>
              <a:ext uri="{FF2B5EF4-FFF2-40B4-BE49-F238E27FC236}">
                <a16:creationId xmlns:a16="http://schemas.microsoft.com/office/drawing/2014/main" id="{C21780DC-BCE0-427D-52F8-6D223CE2DBAE}"/>
              </a:ext>
            </a:extLst>
          </p:cNvPr>
          <p:cNvSpPr txBox="1">
            <a:spLocks/>
          </p:cNvSpPr>
          <p:nvPr/>
        </p:nvSpPr>
        <p:spPr>
          <a:xfrm>
            <a:off x="48253" y="3198868"/>
            <a:ext cx="1387549" cy="460264"/>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fr-FR" sz="1800" dirty="0"/>
              <a:t>Ressources Intéressantes</a:t>
            </a:r>
          </a:p>
        </p:txBody>
      </p:sp>
      <p:sp>
        <p:nvSpPr>
          <p:cNvPr id="133" name="Accolade ouvrante 132">
            <a:extLst>
              <a:ext uri="{FF2B5EF4-FFF2-40B4-BE49-F238E27FC236}">
                <a16:creationId xmlns:a16="http://schemas.microsoft.com/office/drawing/2014/main" id="{49731C9A-FA6B-B634-9DDB-B477874E64E8}"/>
              </a:ext>
            </a:extLst>
          </p:cNvPr>
          <p:cNvSpPr/>
          <p:nvPr/>
        </p:nvSpPr>
        <p:spPr>
          <a:xfrm>
            <a:off x="3197658" y="3049776"/>
            <a:ext cx="553833" cy="3108177"/>
          </a:xfrm>
          <a:prstGeom prst="leftBrace">
            <a:avLst/>
          </a:prstGeom>
          <a:ln w="38100"/>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34" name="Espace réservé du contenu 2">
            <a:extLst>
              <a:ext uri="{FF2B5EF4-FFF2-40B4-BE49-F238E27FC236}">
                <a16:creationId xmlns:a16="http://schemas.microsoft.com/office/drawing/2014/main" id="{6C4D4582-099C-44AA-5F00-C627F9147707}"/>
              </a:ext>
            </a:extLst>
          </p:cNvPr>
          <p:cNvSpPr txBox="1">
            <a:spLocks/>
          </p:cNvSpPr>
          <p:nvPr/>
        </p:nvSpPr>
        <p:spPr>
          <a:xfrm>
            <a:off x="1987617" y="4478741"/>
            <a:ext cx="1387549" cy="460264"/>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fr-FR" sz="1800" dirty="0"/>
              <a:t>Ressources manquantes</a:t>
            </a:r>
          </a:p>
        </p:txBody>
      </p:sp>
    </p:spTree>
    <p:extLst>
      <p:ext uri="{BB962C8B-B14F-4D97-AF65-F5344CB8AC3E}">
        <p14:creationId xmlns:p14="http://schemas.microsoft.com/office/powerpoint/2010/main" val="74662817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25A6958-928B-D4FC-BEF4-2BEC97474CBF}"/>
              </a:ext>
            </a:extLst>
          </p:cNvPr>
          <p:cNvSpPr>
            <a:spLocks noGrp="1"/>
          </p:cNvSpPr>
          <p:nvPr>
            <p:ph type="title"/>
          </p:nvPr>
        </p:nvSpPr>
        <p:spPr>
          <a:xfrm>
            <a:off x="838200" y="365125"/>
            <a:ext cx="10515600" cy="799725"/>
          </a:xfrm>
        </p:spPr>
        <p:txBody>
          <a:bodyPr>
            <a:noAutofit/>
          </a:bodyPr>
          <a:lstStyle/>
          <a:p>
            <a:r>
              <a:rPr lang="fr-FR" sz="2400" dirty="0"/>
              <a:t>Niveau d’accès commun aux ressources</a:t>
            </a:r>
            <a:br>
              <a:rPr lang="fr-FR" sz="2400" dirty="0"/>
            </a:br>
            <a:r>
              <a:rPr lang="fr-FR" sz="2400" dirty="0"/>
              <a:t>Comprendre les niveaux : </a:t>
            </a:r>
            <a:br>
              <a:rPr lang="fr-FR" sz="2400" dirty="0"/>
            </a:br>
            <a:r>
              <a:rPr lang="fr-FR" sz="2400" dirty="0"/>
              <a:t>Signe de positionnement à un niveau donné</a:t>
            </a:r>
          </a:p>
        </p:txBody>
      </p:sp>
      <p:sp>
        <p:nvSpPr>
          <p:cNvPr id="4" name="Flèche : haut 3">
            <a:extLst>
              <a:ext uri="{FF2B5EF4-FFF2-40B4-BE49-F238E27FC236}">
                <a16:creationId xmlns:a16="http://schemas.microsoft.com/office/drawing/2014/main" id="{5DDFF665-162C-E501-276C-50DFF7A4AA05}"/>
              </a:ext>
            </a:extLst>
          </p:cNvPr>
          <p:cNvSpPr/>
          <p:nvPr/>
        </p:nvSpPr>
        <p:spPr>
          <a:xfrm>
            <a:off x="2950093" y="1718505"/>
            <a:ext cx="304800" cy="4781852"/>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 name="Groupe 49">
            <a:extLst>
              <a:ext uri="{FF2B5EF4-FFF2-40B4-BE49-F238E27FC236}">
                <a16:creationId xmlns:a16="http://schemas.microsoft.com/office/drawing/2014/main" id="{CE95C40B-4E60-E327-B4E7-B48B7E59BA66}"/>
              </a:ext>
            </a:extLst>
          </p:cNvPr>
          <p:cNvGrpSpPr/>
          <p:nvPr/>
        </p:nvGrpSpPr>
        <p:grpSpPr>
          <a:xfrm>
            <a:off x="2025063" y="1718505"/>
            <a:ext cx="642859" cy="541981"/>
            <a:chOff x="1797480" y="1339838"/>
            <a:chExt cx="1507135" cy="1270634"/>
          </a:xfrm>
        </p:grpSpPr>
        <p:grpSp>
          <p:nvGrpSpPr>
            <p:cNvPr id="37" name="Groupe 36">
              <a:extLst>
                <a:ext uri="{FF2B5EF4-FFF2-40B4-BE49-F238E27FC236}">
                  <a16:creationId xmlns:a16="http://schemas.microsoft.com/office/drawing/2014/main" id="{F3E68AD2-4188-6E3F-CE8E-48023C8DA507}"/>
                </a:ext>
              </a:extLst>
            </p:cNvPr>
            <p:cNvGrpSpPr/>
            <p:nvPr/>
          </p:nvGrpSpPr>
          <p:grpSpPr>
            <a:xfrm>
              <a:off x="1797480" y="1339838"/>
              <a:ext cx="1507135" cy="1270634"/>
              <a:chOff x="8982504" y="3274976"/>
              <a:chExt cx="1230670" cy="1037553"/>
            </a:xfrm>
            <a:solidFill>
              <a:srgbClr val="ED7D31"/>
            </a:solidFill>
          </p:grpSpPr>
          <p:pic>
            <p:nvPicPr>
              <p:cNvPr id="38" name="Graphique 37" descr="Utilisateur avec un remplissage uni">
                <a:extLst>
                  <a:ext uri="{FF2B5EF4-FFF2-40B4-BE49-F238E27FC236}">
                    <a16:creationId xmlns:a16="http://schemas.microsoft.com/office/drawing/2014/main" id="{A2D4ADF5-3133-9534-95A4-7D83B4B6F06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39" name="Graphique 38" descr="Utilisateur avec un remplissage uni">
                <a:extLst>
                  <a:ext uri="{FF2B5EF4-FFF2-40B4-BE49-F238E27FC236}">
                    <a16:creationId xmlns:a16="http://schemas.microsoft.com/office/drawing/2014/main" id="{BC9FB642-1379-45D9-0DCE-5BF0A44CD16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40" name="Graphique 39" descr="Utilisateur avec un remplissage uni">
                <a:extLst>
                  <a:ext uri="{FF2B5EF4-FFF2-40B4-BE49-F238E27FC236}">
                    <a16:creationId xmlns:a16="http://schemas.microsoft.com/office/drawing/2014/main" id="{5882C4BA-6CD1-3BEF-3A3F-7D48D17E13A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41" name="Graphique 40" descr="Utilisateur avec un remplissage uni">
                <a:extLst>
                  <a:ext uri="{FF2B5EF4-FFF2-40B4-BE49-F238E27FC236}">
                    <a16:creationId xmlns:a16="http://schemas.microsoft.com/office/drawing/2014/main" id="{2E7BBAF9-6F82-9230-B0BF-346183A0C0D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42" name="Graphique 41" descr="Utilisateur avec un remplissage uni">
                <a:extLst>
                  <a:ext uri="{FF2B5EF4-FFF2-40B4-BE49-F238E27FC236}">
                    <a16:creationId xmlns:a16="http://schemas.microsoft.com/office/drawing/2014/main" id="{92705040-E00C-6EB6-918A-230C7861E04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43" name="Graphique 42" descr="Utilisateur avec un remplissage uni">
                <a:extLst>
                  <a:ext uri="{FF2B5EF4-FFF2-40B4-BE49-F238E27FC236}">
                    <a16:creationId xmlns:a16="http://schemas.microsoft.com/office/drawing/2014/main" id="{EE5A2B9E-5CB7-4963-E4A9-C4FEB28B135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44" name="Graphique 43" descr="Utilisateur avec un remplissage uni">
                <a:extLst>
                  <a:ext uri="{FF2B5EF4-FFF2-40B4-BE49-F238E27FC236}">
                    <a16:creationId xmlns:a16="http://schemas.microsoft.com/office/drawing/2014/main" id="{6ACC995D-D17E-B8E1-0A73-C2E89027DB6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45" name="Graphique 44" descr="Utilisateur avec un remplissage uni">
                <a:extLst>
                  <a:ext uri="{FF2B5EF4-FFF2-40B4-BE49-F238E27FC236}">
                    <a16:creationId xmlns:a16="http://schemas.microsoft.com/office/drawing/2014/main" id="{E5E59B55-0E7C-CDC0-2191-0CFC2C25AFE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46" name="Graphique 45" descr="Utilisateur avec un remplissage uni">
                <a:extLst>
                  <a:ext uri="{FF2B5EF4-FFF2-40B4-BE49-F238E27FC236}">
                    <a16:creationId xmlns:a16="http://schemas.microsoft.com/office/drawing/2014/main" id="{50DEC2AC-77A3-7D6E-1861-C94894D7E43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47" name="Graphique 46" descr="Utilisateur avec un remplissage uni">
                <a:extLst>
                  <a:ext uri="{FF2B5EF4-FFF2-40B4-BE49-F238E27FC236}">
                    <a16:creationId xmlns:a16="http://schemas.microsoft.com/office/drawing/2014/main" id="{DE8A6CC2-A659-CD52-D7B8-DD6F53F8B6F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48" name="Graphique 47" descr="Utilisateur avec un remplissage uni">
                <a:extLst>
                  <a:ext uri="{FF2B5EF4-FFF2-40B4-BE49-F238E27FC236}">
                    <a16:creationId xmlns:a16="http://schemas.microsoft.com/office/drawing/2014/main" id="{1DA5D61D-93EE-F49C-A51C-FECCD4E7E42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49" name="Graphique 48" descr="Boîte à archives avec un remplissage uni">
              <a:extLst>
                <a:ext uri="{FF2B5EF4-FFF2-40B4-BE49-F238E27FC236}">
                  <a16:creationId xmlns:a16="http://schemas.microsoft.com/office/drawing/2014/main" id="{79C56FB7-D08E-2ACE-8619-6D6FEE6A3D9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164013" y="1631780"/>
              <a:ext cx="795090" cy="795090"/>
            </a:xfrm>
            <a:prstGeom prst="rect">
              <a:avLst/>
            </a:prstGeom>
          </p:spPr>
        </p:pic>
      </p:grpSp>
      <p:grpSp>
        <p:nvGrpSpPr>
          <p:cNvPr id="51" name="Groupe 50">
            <a:extLst>
              <a:ext uri="{FF2B5EF4-FFF2-40B4-BE49-F238E27FC236}">
                <a16:creationId xmlns:a16="http://schemas.microsoft.com/office/drawing/2014/main" id="{46970F60-CEB1-A2C4-8A04-04110E49672B}"/>
              </a:ext>
            </a:extLst>
          </p:cNvPr>
          <p:cNvGrpSpPr/>
          <p:nvPr/>
        </p:nvGrpSpPr>
        <p:grpSpPr>
          <a:xfrm>
            <a:off x="1795079" y="2348391"/>
            <a:ext cx="928257" cy="541981"/>
            <a:chOff x="1797480" y="1339838"/>
            <a:chExt cx="2176227" cy="1270634"/>
          </a:xfrm>
        </p:grpSpPr>
        <p:grpSp>
          <p:nvGrpSpPr>
            <p:cNvPr id="52" name="Groupe 51">
              <a:extLst>
                <a:ext uri="{FF2B5EF4-FFF2-40B4-BE49-F238E27FC236}">
                  <a16:creationId xmlns:a16="http://schemas.microsoft.com/office/drawing/2014/main" id="{60C47F68-6657-452A-4A23-CDD585DD3078}"/>
                </a:ext>
              </a:extLst>
            </p:cNvPr>
            <p:cNvGrpSpPr/>
            <p:nvPr/>
          </p:nvGrpSpPr>
          <p:grpSpPr>
            <a:xfrm>
              <a:off x="1797480" y="1339838"/>
              <a:ext cx="1507135" cy="1270634"/>
              <a:chOff x="8982504" y="3274976"/>
              <a:chExt cx="1230670" cy="1037553"/>
            </a:xfrm>
            <a:solidFill>
              <a:srgbClr val="ED7D31"/>
            </a:solidFill>
          </p:grpSpPr>
          <p:pic>
            <p:nvPicPr>
              <p:cNvPr id="54" name="Graphique 53" descr="Utilisateur avec un remplissage uni">
                <a:extLst>
                  <a:ext uri="{FF2B5EF4-FFF2-40B4-BE49-F238E27FC236}">
                    <a16:creationId xmlns:a16="http://schemas.microsoft.com/office/drawing/2014/main" id="{26DA32A7-968B-D7B2-644D-DAEE9D29DA2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55" name="Graphique 54" descr="Utilisateur avec un remplissage uni">
                <a:extLst>
                  <a:ext uri="{FF2B5EF4-FFF2-40B4-BE49-F238E27FC236}">
                    <a16:creationId xmlns:a16="http://schemas.microsoft.com/office/drawing/2014/main" id="{33A25D70-B1D7-0090-7593-42A8789A427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56" name="Graphique 55" descr="Utilisateur avec un remplissage uni">
                <a:extLst>
                  <a:ext uri="{FF2B5EF4-FFF2-40B4-BE49-F238E27FC236}">
                    <a16:creationId xmlns:a16="http://schemas.microsoft.com/office/drawing/2014/main" id="{5ECFFFBD-74B7-6B54-6E4F-F197DE7701C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57" name="Graphique 56" descr="Utilisateur avec un remplissage uni">
                <a:extLst>
                  <a:ext uri="{FF2B5EF4-FFF2-40B4-BE49-F238E27FC236}">
                    <a16:creationId xmlns:a16="http://schemas.microsoft.com/office/drawing/2014/main" id="{A5A46201-9101-2F41-C14B-459FBCDD272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58" name="Graphique 57" descr="Utilisateur avec un remplissage uni">
                <a:extLst>
                  <a:ext uri="{FF2B5EF4-FFF2-40B4-BE49-F238E27FC236}">
                    <a16:creationId xmlns:a16="http://schemas.microsoft.com/office/drawing/2014/main" id="{571C09BE-B8C2-18C2-BF2D-6F3371BFC2E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59" name="Graphique 58" descr="Utilisateur avec un remplissage uni">
                <a:extLst>
                  <a:ext uri="{FF2B5EF4-FFF2-40B4-BE49-F238E27FC236}">
                    <a16:creationId xmlns:a16="http://schemas.microsoft.com/office/drawing/2014/main" id="{39A1D8F3-19D5-F3A5-FD7B-BC7CF1C078B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60" name="Graphique 59" descr="Utilisateur avec un remplissage uni">
                <a:extLst>
                  <a:ext uri="{FF2B5EF4-FFF2-40B4-BE49-F238E27FC236}">
                    <a16:creationId xmlns:a16="http://schemas.microsoft.com/office/drawing/2014/main" id="{4427166C-2D02-5167-8BF8-A119A387816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61" name="Graphique 60" descr="Utilisateur avec un remplissage uni">
                <a:extLst>
                  <a:ext uri="{FF2B5EF4-FFF2-40B4-BE49-F238E27FC236}">
                    <a16:creationId xmlns:a16="http://schemas.microsoft.com/office/drawing/2014/main" id="{36C65E62-D333-9721-EE3B-1113C6C652B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62" name="Graphique 61" descr="Utilisateur avec un remplissage uni">
                <a:extLst>
                  <a:ext uri="{FF2B5EF4-FFF2-40B4-BE49-F238E27FC236}">
                    <a16:creationId xmlns:a16="http://schemas.microsoft.com/office/drawing/2014/main" id="{AF940474-0E28-99BF-E42D-69BA50538B3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63" name="Graphique 62" descr="Utilisateur avec un remplissage uni">
                <a:extLst>
                  <a:ext uri="{FF2B5EF4-FFF2-40B4-BE49-F238E27FC236}">
                    <a16:creationId xmlns:a16="http://schemas.microsoft.com/office/drawing/2014/main" id="{A030BFFD-B9CD-7768-596D-C1AC2F49051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64" name="Graphique 63" descr="Utilisateur avec un remplissage uni">
                <a:extLst>
                  <a:ext uri="{FF2B5EF4-FFF2-40B4-BE49-F238E27FC236}">
                    <a16:creationId xmlns:a16="http://schemas.microsoft.com/office/drawing/2014/main" id="{9A501410-C12D-E33D-85E2-D3D25290E3E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53" name="Graphique 52" descr="Boîte à archives avec un remplissage uni">
              <a:extLst>
                <a:ext uri="{FF2B5EF4-FFF2-40B4-BE49-F238E27FC236}">
                  <a16:creationId xmlns:a16="http://schemas.microsoft.com/office/drawing/2014/main" id="{284DE7EA-E651-D827-123B-B0F4D34D9E9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178618" y="1572578"/>
              <a:ext cx="795089" cy="795090"/>
            </a:xfrm>
            <a:prstGeom prst="rect">
              <a:avLst/>
            </a:prstGeom>
          </p:spPr>
        </p:pic>
      </p:grpSp>
      <p:grpSp>
        <p:nvGrpSpPr>
          <p:cNvPr id="128" name="Groupe 127">
            <a:extLst>
              <a:ext uri="{FF2B5EF4-FFF2-40B4-BE49-F238E27FC236}">
                <a16:creationId xmlns:a16="http://schemas.microsoft.com/office/drawing/2014/main" id="{17491A81-8C9F-9A7B-DD11-DDD4E0E3D60A}"/>
              </a:ext>
            </a:extLst>
          </p:cNvPr>
          <p:cNvGrpSpPr/>
          <p:nvPr/>
        </p:nvGrpSpPr>
        <p:grpSpPr>
          <a:xfrm>
            <a:off x="1795079" y="3126923"/>
            <a:ext cx="1104068" cy="541981"/>
            <a:chOff x="1797481" y="3401554"/>
            <a:chExt cx="1314902" cy="645478"/>
          </a:xfrm>
        </p:grpSpPr>
        <p:grpSp>
          <p:nvGrpSpPr>
            <p:cNvPr id="65" name="Groupe 64">
              <a:extLst>
                <a:ext uri="{FF2B5EF4-FFF2-40B4-BE49-F238E27FC236}">
                  <a16:creationId xmlns:a16="http://schemas.microsoft.com/office/drawing/2014/main" id="{886F357C-56E8-46F2-4A2E-F35B59561391}"/>
                </a:ext>
              </a:extLst>
            </p:cNvPr>
            <p:cNvGrpSpPr/>
            <p:nvPr/>
          </p:nvGrpSpPr>
          <p:grpSpPr>
            <a:xfrm>
              <a:off x="1797481" y="3401554"/>
              <a:ext cx="1314902" cy="645478"/>
              <a:chOff x="1797480" y="1339838"/>
              <a:chExt cx="2588405" cy="1270634"/>
            </a:xfrm>
          </p:grpSpPr>
          <p:grpSp>
            <p:nvGrpSpPr>
              <p:cNvPr id="66" name="Groupe 65">
                <a:extLst>
                  <a:ext uri="{FF2B5EF4-FFF2-40B4-BE49-F238E27FC236}">
                    <a16:creationId xmlns:a16="http://schemas.microsoft.com/office/drawing/2014/main" id="{E65BE94A-B771-3DB2-4F88-9405407DBCBB}"/>
                  </a:ext>
                </a:extLst>
              </p:cNvPr>
              <p:cNvGrpSpPr/>
              <p:nvPr/>
            </p:nvGrpSpPr>
            <p:grpSpPr>
              <a:xfrm>
                <a:off x="1797480" y="1339838"/>
                <a:ext cx="1507135" cy="1270634"/>
                <a:chOff x="8982504" y="3274976"/>
                <a:chExt cx="1230670" cy="1037553"/>
              </a:xfrm>
              <a:solidFill>
                <a:srgbClr val="ED7D31"/>
              </a:solidFill>
            </p:grpSpPr>
            <p:pic>
              <p:nvPicPr>
                <p:cNvPr id="68" name="Graphique 67" descr="Utilisateur avec un remplissage uni">
                  <a:extLst>
                    <a:ext uri="{FF2B5EF4-FFF2-40B4-BE49-F238E27FC236}">
                      <a16:creationId xmlns:a16="http://schemas.microsoft.com/office/drawing/2014/main" id="{ED6104DB-E2E1-8338-C795-A72E7B2A292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69" name="Graphique 68" descr="Utilisateur avec un remplissage uni">
                  <a:extLst>
                    <a:ext uri="{FF2B5EF4-FFF2-40B4-BE49-F238E27FC236}">
                      <a16:creationId xmlns:a16="http://schemas.microsoft.com/office/drawing/2014/main" id="{11A1137C-520C-2724-26AA-F7FE953B164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70" name="Graphique 69" descr="Utilisateur avec un remplissage uni">
                  <a:extLst>
                    <a:ext uri="{FF2B5EF4-FFF2-40B4-BE49-F238E27FC236}">
                      <a16:creationId xmlns:a16="http://schemas.microsoft.com/office/drawing/2014/main" id="{0C52BDBD-83C3-BA7F-2449-C919B320BC2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71" name="Graphique 70" descr="Utilisateur avec un remplissage uni">
                  <a:extLst>
                    <a:ext uri="{FF2B5EF4-FFF2-40B4-BE49-F238E27FC236}">
                      <a16:creationId xmlns:a16="http://schemas.microsoft.com/office/drawing/2014/main" id="{AF56E4CE-5A1B-8DA0-558E-92C81FE8F99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72" name="Graphique 71" descr="Utilisateur avec un remplissage uni">
                  <a:extLst>
                    <a:ext uri="{FF2B5EF4-FFF2-40B4-BE49-F238E27FC236}">
                      <a16:creationId xmlns:a16="http://schemas.microsoft.com/office/drawing/2014/main" id="{66A4E9DF-1960-353B-4123-9D37C3BC69A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73" name="Graphique 72" descr="Utilisateur avec un remplissage uni">
                  <a:extLst>
                    <a:ext uri="{FF2B5EF4-FFF2-40B4-BE49-F238E27FC236}">
                      <a16:creationId xmlns:a16="http://schemas.microsoft.com/office/drawing/2014/main" id="{E067083F-6C4F-000B-B875-74DE3507767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74" name="Graphique 73" descr="Utilisateur avec un remplissage uni">
                  <a:extLst>
                    <a:ext uri="{FF2B5EF4-FFF2-40B4-BE49-F238E27FC236}">
                      <a16:creationId xmlns:a16="http://schemas.microsoft.com/office/drawing/2014/main" id="{36E71536-154D-5DFF-D763-9FD7406D691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75" name="Graphique 74" descr="Utilisateur avec un remplissage uni">
                  <a:extLst>
                    <a:ext uri="{FF2B5EF4-FFF2-40B4-BE49-F238E27FC236}">
                      <a16:creationId xmlns:a16="http://schemas.microsoft.com/office/drawing/2014/main" id="{1C2268C3-B76B-DE7B-25A6-69109932ED2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76" name="Graphique 75" descr="Utilisateur avec un remplissage uni">
                  <a:extLst>
                    <a:ext uri="{FF2B5EF4-FFF2-40B4-BE49-F238E27FC236}">
                      <a16:creationId xmlns:a16="http://schemas.microsoft.com/office/drawing/2014/main" id="{59A76CF7-B953-75C0-7A3B-34637341C1C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77" name="Graphique 76" descr="Utilisateur avec un remplissage uni">
                  <a:extLst>
                    <a:ext uri="{FF2B5EF4-FFF2-40B4-BE49-F238E27FC236}">
                      <a16:creationId xmlns:a16="http://schemas.microsoft.com/office/drawing/2014/main" id="{121AF902-BEFC-06DD-0C72-15E3D4F59B0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78" name="Graphique 77" descr="Utilisateur avec un remplissage uni">
                  <a:extLst>
                    <a:ext uri="{FF2B5EF4-FFF2-40B4-BE49-F238E27FC236}">
                      <a16:creationId xmlns:a16="http://schemas.microsoft.com/office/drawing/2014/main" id="{C5EF42D5-6F6C-BF91-98B5-E7EA8164C88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67" name="Graphique 66" descr="Boîte à archives avec un remplissage uni">
                <a:extLst>
                  <a:ext uri="{FF2B5EF4-FFF2-40B4-BE49-F238E27FC236}">
                    <a16:creationId xmlns:a16="http://schemas.microsoft.com/office/drawing/2014/main" id="{B8B5FC31-D5DA-EE30-C7AE-A7C1CF836FA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79" name="Graphique 78" descr="Déverrouiller avec un remplissage uni">
              <a:extLst>
                <a:ext uri="{FF2B5EF4-FFF2-40B4-BE49-F238E27FC236}">
                  <a16:creationId xmlns:a16="http://schemas.microsoft.com/office/drawing/2014/main" id="{1B632D33-D7A5-9272-F038-A2FC38FBB4A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flipH="1">
              <a:off x="2498111" y="3408841"/>
              <a:ext cx="432779" cy="462545"/>
            </a:xfrm>
            <a:prstGeom prst="rect">
              <a:avLst/>
            </a:prstGeom>
          </p:spPr>
        </p:pic>
      </p:grpSp>
      <p:grpSp>
        <p:nvGrpSpPr>
          <p:cNvPr id="129" name="Groupe 128">
            <a:extLst>
              <a:ext uri="{FF2B5EF4-FFF2-40B4-BE49-F238E27FC236}">
                <a16:creationId xmlns:a16="http://schemas.microsoft.com/office/drawing/2014/main" id="{30B5E7FF-AB5B-13D5-1285-CE699C6F211C}"/>
              </a:ext>
            </a:extLst>
          </p:cNvPr>
          <p:cNvGrpSpPr/>
          <p:nvPr/>
        </p:nvGrpSpPr>
        <p:grpSpPr>
          <a:xfrm>
            <a:off x="1797707" y="3844368"/>
            <a:ext cx="1104068" cy="541981"/>
            <a:chOff x="1800611" y="4256002"/>
            <a:chExt cx="1314902" cy="645478"/>
          </a:xfrm>
        </p:grpSpPr>
        <p:grpSp>
          <p:nvGrpSpPr>
            <p:cNvPr id="80" name="Groupe 79">
              <a:extLst>
                <a:ext uri="{FF2B5EF4-FFF2-40B4-BE49-F238E27FC236}">
                  <a16:creationId xmlns:a16="http://schemas.microsoft.com/office/drawing/2014/main" id="{3F0D2B1F-F99D-94CB-1779-ED5D16629998}"/>
                </a:ext>
              </a:extLst>
            </p:cNvPr>
            <p:cNvGrpSpPr/>
            <p:nvPr/>
          </p:nvGrpSpPr>
          <p:grpSpPr>
            <a:xfrm>
              <a:off x="1800611" y="4256002"/>
              <a:ext cx="1314902" cy="645478"/>
              <a:chOff x="1797480" y="1339838"/>
              <a:chExt cx="2588405" cy="1270634"/>
            </a:xfrm>
          </p:grpSpPr>
          <p:grpSp>
            <p:nvGrpSpPr>
              <p:cNvPr id="81" name="Groupe 80">
                <a:extLst>
                  <a:ext uri="{FF2B5EF4-FFF2-40B4-BE49-F238E27FC236}">
                    <a16:creationId xmlns:a16="http://schemas.microsoft.com/office/drawing/2014/main" id="{E4039F9F-662F-CFAD-B600-224037E058B7}"/>
                  </a:ext>
                </a:extLst>
              </p:cNvPr>
              <p:cNvGrpSpPr/>
              <p:nvPr/>
            </p:nvGrpSpPr>
            <p:grpSpPr>
              <a:xfrm>
                <a:off x="1797480" y="1339838"/>
                <a:ext cx="1507135" cy="1270634"/>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EF905BFD-064C-4E52-973E-A14E69063D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AB250F2-AEC1-7D22-3944-2F5F6445063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7289B13-DB24-6D79-CFBF-7D589D51379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86" name="Graphique 85" descr="Utilisateur avec un remplissage uni">
                  <a:extLst>
                    <a:ext uri="{FF2B5EF4-FFF2-40B4-BE49-F238E27FC236}">
                      <a16:creationId xmlns:a16="http://schemas.microsoft.com/office/drawing/2014/main" id="{06A1BF65-560B-446E-CFD0-EC4AB672F84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87" name="Graphique 86" descr="Utilisateur avec un remplissage uni">
                  <a:extLst>
                    <a:ext uri="{FF2B5EF4-FFF2-40B4-BE49-F238E27FC236}">
                      <a16:creationId xmlns:a16="http://schemas.microsoft.com/office/drawing/2014/main" id="{0D0C3071-7D64-2FEA-3B4C-0E99D312170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88" name="Graphique 87" descr="Utilisateur avec un remplissage uni">
                  <a:extLst>
                    <a:ext uri="{FF2B5EF4-FFF2-40B4-BE49-F238E27FC236}">
                      <a16:creationId xmlns:a16="http://schemas.microsoft.com/office/drawing/2014/main" id="{C4D15609-9C12-FEF1-EE7F-0ECA961B7CC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89" name="Graphique 88" descr="Utilisateur avec un remplissage uni">
                  <a:extLst>
                    <a:ext uri="{FF2B5EF4-FFF2-40B4-BE49-F238E27FC236}">
                      <a16:creationId xmlns:a16="http://schemas.microsoft.com/office/drawing/2014/main" id="{8DB5C8EB-4ED2-D856-97D0-54004A9B39A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90" name="Graphique 89" descr="Utilisateur avec un remplissage uni">
                  <a:extLst>
                    <a:ext uri="{FF2B5EF4-FFF2-40B4-BE49-F238E27FC236}">
                      <a16:creationId xmlns:a16="http://schemas.microsoft.com/office/drawing/2014/main" id="{9E69CCBB-B3BD-CBBB-0BBF-934030AA250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91" name="Graphique 90" descr="Utilisateur avec un remplissage uni">
                  <a:extLst>
                    <a:ext uri="{FF2B5EF4-FFF2-40B4-BE49-F238E27FC236}">
                      <a16:creationId xmlns:a16="http://schemas.microsoft.com/office/drawing/2014/main" id="{85872754-EE71-C8EE-0C88-B669AEB5D27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92" name="Graphique 91" descr="Utilisateur avec un remplissage uni">
                  <a:extLst>
                    <a:ext uri="{FF2B5EF4-FFF2-40B4-BE49-F238E27FC236}">
                      <a16:creationId xmlns:a16="http://schemas.microsoft.com/office/drawing/2014/main" id="{3C36DF8F-8DFE-87D1-F30D-CD2D5E43244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93" name="Graphique 92" descr="Utilisateur avec un remplissage uni">
                  <a:extLst>
                    <a:ext uri="{FF2B5EF4-FFF2-40B4-BE49-F238E27FC236}">
                      <a16:creationId xmlns:a16="http://schemas.microsoft.com/office/drawing/2014/main" id="{DCE271F6-6FFA-149E-534F-44295B87AE8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82" name="Graphique 81" descr="Boîte à archives avec un remplissage uni">
                <a:extLst>
                  <a:ext uri="{FF2B5EF4-FFF2-40B4-BE49-F238E27FC236}">
                    <a16:creationId xmlns:a16="http://schemas.microsoft.com/office/drawing/2014/main" id="{A414E72C-CE81-3C1C-30F6-779261072BA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95" name="Graphique 94" descr="Verrou avec un remplissage uni">
              <a:extLst>
                <a:ext uri="{FF2B5EF4-FFF2-40B4-BE49-F238E27FC236}">
                  <a16:creationId xmlns:a16="http://schemas.microsoft.com/office/drawing/2014/main" id="{130B863A-4526-1C48-9F0B-155083C04BF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493236" y="4290370"/>
              <a:ext cx="466725" cy="466725"/>
            </a:xfrm>
            <a:prstGeom prst="rect">
              <a:avLst/>
            </a:prstGeom>
          </p:spPr>
        </p:pic>
      </p:grpSp>
      <p:grpSp>
        <p:nvGrpSpPr>
          <p:cNvPr id="130" name="Groupe 129">
            <a:extLst>
              <a:ext uri="{FF2B5EF4-FFF2-40B4-BE49-F238E27FC236}">
                <a16:creationId xmlns:a16="http://schemas.microsoft.com/office/drawing/2014/main" id="{A8838AE9-5C62-6E2A-DC18-EA754E33808A}"/>
              </a:ext>
            </a:extLst>
          </p:cNvPr>
          <p:cNvGrpSpPr/>
          <p:nvPr/>
        </p:nvGrpSpPr>
        <p:grpSpPr>
          <a:xfrm>
            <a:off x="1782493" y="4439088"/>
            <a:ext cx="1104068" cy="646669"/>
            <a:chOff x="1782492" y="4964291"/>
            <a:chExt cx="1314902" cy="770157"/>
          </a:xfrm>
        </p:grpSpPr>
        <p:grpSp>
          <p:nvGrpSpPr>
            <p:cNvPr id="96" name="Groupe 95">
              <a:extLst>
                <a:ext uri="{FF2B5EF4-FFF2-40B4-BE49-F238E27FC236}">
                  <a16:creationId xmlns:a16="http://schemas.microsoft.com/office/drawing/2014/main" id="{EE35B2CC-0414-670F-6CCF-47A86369B549}"/>
                </a:ext>
              </a:extLst>
            </p:cNvPr>
            <p:cNvGrpSpPr/>
            <p:nvPr/>
          </p:nvGrpSpPr>
          <p:grpSpPr>
            <a:xfrm>
              <a:off x="1782492" y="5088970"/>
              <a:ext cx="1314902" cy="645478"/>
              <a:chOff x="1797480" y="1339838"/>
              <a:chExt cx="2588405" cy="1270634"/>
            </a:xfrm>
          </p:grpSpPr>
          <p:grpSp>
            <p:nvGrpSpPr>
              <p:cNvPr id="97" name="Groupe 96">
                <a:extLst>
                  <a:ext uri="{FF2B5EF4-FFF2-40B4-BE49-F238E27FC236}">
                    <a16:creationId xmlns:a16="http://schemas.microsoft.com/office/drawing/2014/main" id="{1C8E641D-9B26-1B5E-205D-35EF380E056C}"/>
                  </a:ext>
                </a:extLst>
              </p:cNvPr>
              <p:cNvGrpSpPr/>
              <p:nvPr/>
            </p:nvGrpSpPr>
            <p:grpSpPr>
              <a:xfrm>
                <a:off x="1797480" y="1339838"/>
                <a:ext cx="1507135" cy="1270634"/>
                <a:chOff x="8982504" y="3274976"/>
                <a:chExt cx="1230670" cy="1037553"/>
              </a:xfrm>
              <a:solidFill>
                <a:srgbClr val="ED7D31"/>
              </a:solidFill>
            </p:grpSpPr>
            <p:pic>
              <p:nvPicPr>
                <p:cNvPr id="99" name="Graphique 98" descr="Utilisateur avec un remplissage uni">
                  <a:extLst>
                    <a:ext uri="{FF2B5EF4-FFF2-40B4-BE49-F238E27FC236}">
                      <a16:creationId xmlns:a16="http://schemas.microsoft.com/office/drawing/2014/main" id="{74AB7D77-8DA2-2AEB-9B30-357EFC312A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E8CD3306-F963-134C-E5F7-707F183A6E1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DEE7B229-4F7C-7DD8-EA7E-F50A4DF068B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D2AC4588-3B89-1B37-9BA6-A9B1820D5B5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9D448320-850A-2D3B-F23F-86BF9A59564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F02C5214-D5AB-A4A4-A7A5-8765FB186C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94E7ABE7-3724-F6AA-DAFF-C0EE577A46E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06" name="Graphique 105" descr="Utilisateur avec un remplissage uni">
                  <a:extLst>
                    <a:ext uri="{FF2B5EF4-FFF2-40B4-BE49-F238E27FC236}">
                      <a16:creationId xmlns:a16="http://schemas.microsoft.com/office/drawing/2014/main" id="{535C7E9E-5CE2-A15F-A6A2-259ADE73BEC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07" name="Graphique 106" descr="Utilisateur avec un remplissage uni">
                  <a:extLst>
                    <a:ext uri="{FF2B5EF4-FFF2-40B4-BE49-F238E27FC236}">
                      <a16:creationId xmlns:a16="http://schemas.microsoft.com/office/drawing/2014/main" id="{6DEC118A-288F-4857-E5CA-020FD879851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08" name="Graphique 107" descr="Utilisateur avec un remplissage uni">
                  <a:extLst>
                    <a:ext uri="{FF2B5EF4-FFF2-40B4-BE49-F238E27FC236}">
                      <a16:creationId xmlns:a16="http://schemas.microsoft.com/office/drawing/2014/main" id="{10AF6A3C-D03E-F0D5-2992-F025649DC21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09" name="Graphique 108" descr="Utilisateur avec un remplissage uni">
                  <a:extLst>
                    <a:ext uri="{FF2B5EF4-FFF2-40B4-BE49-F238E27FC236}">
                      <a16:creationId xmlns:a16="http://schemas.microsoft.com/office/drawing/2014/main" id="{3F2C8BD5-751C-A2D1-650E-D3334DFB49F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98" name="Graphique 97" descr="Boîte à archives avec un remplissage uni">
                <a:extLst>
                  <a:ext uri="{FF2B5EF4-FFF2-40B4-BE49-F238E27FC236}">
                    <a16:creationId xmlns:a16="http://schemas.microsoft.com/office/drawing/2014/main" id="{A65DB922-BE62-D612-C041-749D3209245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10" name="Graphique 109" descr="Verrou avec un remplissage uni">
              <a:extLst>
                <a:ext uri="{FF2B5EF4-FFF2-40B4-BE49-F238E27FC236}">
                  <a16:creationId xmlns:a16="http://schemas.microsoft.com/office/drawing/2014/main" id="{976D87B3-F636-8D86-C943-CCBCCC462D7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293077" y="4964291"/>
              <a:ext cx="743725" cy="743725"/>
            </a:xfrm>
            <a:prstGeom prst="rect">
              <a:avLst/>
            </a:prstGeom>
          </p:spPr>
        </p:pic>
      </p:grpSp>
      <p:grpSp>
        <p:nvGrpSpPr>
          <p:cNvPr id="131" name="Groupe 130">
            <a:extLst>
              <a:ext uri="{FF2B5EF4-FFF2-40B4-BE49-F238E27FC236}">
                <a16:creationId xmlns:a16="http://schemas.microsoft.com/office/drawing/2014/main" id="{C4FF3E09-D077-18EB-9F78-23A7414A4506}"/>
              </a:ext>
            </a:extLst>
          </p:cNvPr>
          <p:cNvGrpSpPr/>
          <p:nvPr/>
        </p:nvGrpSpPr>
        <p:grpSpPr>
          <a:xfrm>
            <a:off x="1776182" y="6041962"/>
            <a:ext cx="1123328" cy="541981"/>
            <a:chOff x="1804205" y="5917781"/>
            <a:chExt cx="1337840" cy="645478"/>
          </a:xfrm>
        </p:grpSpPr>
        <p:grpSp>
          <p:nvGrpSpPr>
            <p:cNvPr id="111" name="Groupe 110">
              <a:extLst>
                <a:ext uri="{FF2B5EF4-FFF2-40B4-BE49-F238E27FC236}">
                  <a16:creationId xmlns:a16="http://schemas.microsoft.com/office/drawing/2014/main" id="{47AC6DA8-C251-CDAF-39F1-310171577DC4}"/>
                </a:ext>
              </a:extLst>
            </p:cNvPr>
            <p:cNvGrpSpPr/>
            <p:nvPr/>
          </p:nvGrpSpPr>
          <p:grpSpPr>
            <a:xfrm>
              <a:off x="1804205" y="5917781"/>
              <a:ext cx="1314902" cy="645478"/>
              <a:chOff x="1797480" y="1339838"/>
              <a:chExt cx="2588405" cy="1270634"/>
            </a:xfrm>
          </p:grpSpPr>
          <p:grpSp>
            <p:nvGrpSpPr>
              <p:cNvPr id="112" name="Groupe 111">
                <a:extLst>
                  <a:ext uri="{FF2B5EF4-FFF2-40B4-BE49-F238E27FC236}">
                    <a16:creationId xmlns:a16="http://schemas.microsoft.com/office/drawing/2014/main" id="{2F6C5867-908C-92C8-17D1-7465D6FE1C28}"/>
                  </a:ext>
                </a:extLst>
              </p:cNvPr>
              <p:cNvGrpSpPr/>
              <p:nvPr/>
            </p:nvGrpSpPr>
            <p:grpSpPr>
              <a:xfrm>
                <a:off x="1797480" y="1339838"/>
                <a:ext cx="1507135" cy="1270634"/>
                <a:chOff x="8982504" y="3274976"/>
                <a:chExt cx="1230670" cy="1037553"/>
              </a:xfrm>
              <a:solidFill>
                <a:srgbClr val="ED7D31"/>
              </a:solidFill>
            </p:grpSpPr>
            <p:pic>
              <p:nvPicPr>
                <p:cNvPr id="114" name="Graphique 113" descr="Utilisateur avec un remplissage uni">
                  <a:extLst>
                    <a:ext uri="{FF2B5EF4-FFF2-40B4-BE49-F238E27FC236}">
                      <a16:creationId xmlns:a16="http://schemas.microsoft.com/office/drawing/2014/main" id="{4EE4F826-3179-1FFC-4D50-D9A9B958DBF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15" name="Graphique 114" descr="Utilisateur avec un remplissage uni">
                  <a:extLst>
                    <a:ext uri="{FF2B5EF4-FFF2-40B4-BE49-F238E27FC236}">
                      <a16:creationId xmlns:a16="http://schemas.microsoft.com/office/drawing/2014/main" id="{D410C184-D743-2568-DED7-E7D86C440F8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16" name="Graphique 115" descr="Utilisateur avec un remplissage uni">
                  <a:extLst>
                    <a:ext uri="{FF2B5EF4-FFF2-40B4-BE49-F238E27FC236}">
                      <a16:creationId xmlns:a16="http://schemas.microsoft.com/office/drawing/2014/main" id="{D008702B-645A-372E-A1ED-4578330EA61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17" name="Graphique 116" descr="Utilisateur avec un remplissage uni">
                  <a:extLst>
                    <a:ext uri="{FF2B5EF4-FFF2-40B4-BE49-F238E27FC236}">
                      <a16:creationId xmlns:a16="http://schemas.microsoft.com/office/drawing/2014/main" id="{CB8FDC1A-2488-9D02-576A-78DD4B96DED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3D9FB2E5-314C-ED86-AE1A-2A2C182B085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E45F9035-DFE5-88D8-0AE0-A1AB5D711D5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20" name="Graphique 119" descr="Utilisateur avec un remplissage uni">
                  <a:extLst>
                    <a:ext uri="{FF2B5EF4-FFF2-40B4-BE49-F238E27FC236}">
                      <a16:creationId xmlns:a16="http://schemas.microsoft.com/office/drawing/2014/main" id="{1368BBC4-E22C-D141-1A01-80EA5022AD0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21" name="Graphique 120" descr="Utilisateur avec un remplissage uni">
                  <a:extLst>
                    <a:ext uri="{FF2B5EF4-FFF2-40B4-BE49-F238E27FC236}">
                      <a16:creationId xmlns:a16="http://schemas.microsoft.com/office/drawing/2014/main" id="{BF3FEC9A-F02A-D8E0-6749-4E367C5FCB6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EE6EBF84-D618-0DA6-F1D2-F7B388DAAD9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7A8D9076-6766-21CA-5A24-EFB8BDD6A06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4C3D20AD-E377-40B9-D9BF-F9124B08808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13" name="Graphique 112" descr="Boîte à archives avec un remplissage uni">
                <a:extLst>
                  <a:ext uri="{FF2B5EF4-FFF2-40B4-BE49-F238E27FC236}">
                    <a16:creationId xmlns:a16="http://schemas.microsoft.com/office/drawing/2014/main" id="{E8862F55-B6F8-AD71-EDAE-05EE6F269C6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27" name="Graphique 126" descr="Fermer avec un remplissage uni">
              <a:extLst>
                <a:ext uri="{FF2B5EF4-FFF2-40B4-BE49-F238E27FC236}">
                  <a16:creationId xmlns:a16="http://schemas.microsoft.com/office/drawing/2014/main" id="{3D987C9B-FEA3-C634-6FFB-0393618E901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668633" y="5995180"/>
              <a:ext cx="473412" cy="473412"/>
            </a:xfrm>
            <a:prstGeom prst="rect">
              <a:avLst/>
            </a:prstGeom>
          </p:spPr>
        </p:pic>
      </p:grpSp>
      <p:grpSp>
        <p:nvGrpSpPr>
          <p:cNvPr id="152" name="Groupe 151">
            <a:extLst>
              <a:ext uri="{FF2B5EF4-FFF2-40B4-BE49-F238E27FC236}">
                <a16:creationId xmlns:a16="http://schemas.microsoft.com/office/drawing/2014/main" id="{FC081C70-7E80-2C06-33C2-1E8BDF35FD84}"/>
              </a:ext>
            </a:extLst>
          </p:cNvPr>
          <p:cNvGrpSpPr/>
          <p:nvPr/>
        </p:nvGrpSpPr>
        <p:grpSpPr>
          <a:xfrm>
            <a:off x="1762164" y="5278245"/>
            <a:ext cx="1104068" cy="541981"/>
            <a:chOff x="1775004" y="5236420"/>
            <a:chExt cx="1104068" cy="541981"/>
          </a:xfrm>
        </p:grpSpPr>
        <p:grpSp>
          <p:nvGrpSpPr>
            <p:cNvPr id="135" name="Groupe 134">
              <a:extLst>
                <a:ext uri="{FF2B5EF4-FFF2-40B4-BE49-F238E27FC236}">
                  <a16:creationId xmlns:a16="http://schemas.microsoft.com/office/drawing/2014/main" id="{E878F8BD-12E3-FE7F-FF39-F3E18BC01827}"/>
                </a:ext>
              </a:extLst>
            </p:cNvPr>
            <p:cNvGrpSpPr/>
            <p:nvPr/>
          </p:nvGrpSpPr>
          <p:grpSpPr>
            <a:xfrm>
              <a:off x="1775004" y="5236420"/>
              <a:ext cx="1104068" cy="541981"/>
              <a:chOff x="1797480" y="1339838"/>
              <a:chExt cx="2588405" cy="1270634"/>
            </a:xfrm>
          </p:grpSpPr>
          <p:grpSp>
            <p:nvGrpSpPr>
              <p:cNvPr id="137" name="Groupe 136">
                <a:extLst>
                  <a:ext uri="{FF2B5EF4-FFF2-40B4-BE49-F238E27FC236}">
                    <a16:creationId xmlns:a16="http://schemas.microsoft.com/office/drawing/2014/main" id="{70895B7A-A28D-7CDC-FD4D-3CB0B517561E}"/>
                  </a:ext>
                </a:extLst>
              </p:cNvPr>
              <p:cNvGrpSpPr/>
              <p:nvPr/>
            </p:nvGrpSpPr>
            <p:grpSpPr>
              <a:xfrm>
                <a:off x="1797480" y="1339838"/>
                <a:ext cx="1507135" cy="1270634"/>
                <a:chOff x="8982504" y="3274976"/>
                <a:chExt cx="1230670" cy="1037553"/>
              </a:xfrm>
              <a:solidFill>
                <a:srgbClr val="ED7D31"/>
              </a:solidFill>
            </p:grpSpPr>
            <p:pic>
              <p:nvPicPr>
                <p:cNvPr id="139" name="Graphique 138" descr="Utilisateur avec un remplissage uni">
                  <a:extLst>
                    <a:ext uri="{FF2B5EF4-FFF2-40B4-BE49-F238E27FC236}">
                      <a16:creationId xmlns:a16="http://schemas.microsoft.com/office/drawing/2014/main" id="{B3DC0768-DD96-5C73-99E8-B52706D68B6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554D9CB4-46FA-1FED-6F75-067C6A38577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09796F56-D08F-63ED-CC8A-DAADE35DB4A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42" name="Graphique 141" descr="Utilisateur avec un remplissage uni">
                  <a:extLst>
                    <a:ext uri="{FF2B5EF4-FFF2-40B4-BE49-F238E27FC236}">
                      <a16:creationId xmlns:a16="http://schemas.microsoft.com/office/drawing/2014/main" id="{640D68B0-C4D9-B68A-DBE6-8FA949CD5A1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43" name="Graphique 142" descr="Utilisateur avec un remplissage uni">
                  <a:extLst>
                    <a:ext uri="{FF2B5EF4-FFF2-40B4-BE49-F238E27FC236}">
                      <a16:creationId xmlns:a16="http://schemas.microsoft.com/office/drawing/2014/main" id="{4B299DCD-7CFF-AAF0-6DAC-B41233DAF2E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44" name="Graphique 143" descr="Utilisateur avec un remplissage uni">
                  <a:extLst>
                    <a:ext uri="{FF2B5EF4-FFF2-40B4-BE49-F238E27FC236}">
                      <a16:creationId xmlns:a16="http://schemas.microsoft.com/office/drawing/2014/main" id="{77DD0ABB-408C-C966-4A35-D52B1B4CCA4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45" name="Graphique 144" descr="Utilisateur avec un remplissage uni">
                  <a:extLst>
                    <a:ext uri="{FF2B5EF4-FFF2-40B4-BE49-F238E27FC236}">
                      <a16:creationId xmlns:a16="http://schemas.microsoft.com/office/drawing/2014/main" id="{8C519DD9-7C73-4DD4-B0BE-EE77DAD799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46" name="Graphique 145" descr="Utilisateur avec un remplissage uni">
                  <a:extLst>
                    <a:ext uri="{FF2B5EF4-FFF2-40B4-BE49-F238E27FC236}">
                      <a16:creationId xmlns:a16="http://schemas.microsoft.com/office/drawing/2014/main" id="{4D1197AA-19E7-4E3F-4862-74E3C505158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47" name="Graphique 146" descr="Utilisateur avec un remplissage uni">
                  <a:extLst>
                    <a:ext uri="{FF2B5EF4-FFF2-40B4-BE49-F238E27FC236}">
                      <a16:creationId xmlns:a16="http://schemas.microsoft.com/office/drawing/2014/main" id="{D23DC3B2-821D-5BD3-4AEC-01D81E6534C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81B25ABF-0B2C-6015-97A0-FC42669A847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7C4503DF-D490-775F-1E4C-E09BE8F9BA2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38" name="Graphique 137" descr="Boîte à archives avec un remplissage uni">
                <a:extLst>
                  <a:ext uri="{FF2B5EF4-FFF2-40B4-BE49-F238E27FC236}">
                    <a16:creationId xmlns:a16="http://schemas.microsoft.com/office/drawing/2014/main" id="{03258FCD-40F3-F9F8-72E8-910A591075B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51" name="Graphique 150" descr="Point d’interrogation avec un remplissage uni">
              <a:extLst>
                <a:ext uri="{FF2B5EF4-FFF2-40B4-BE49-F238E27FC236}">
                  <a16:creationId xmlns:a16="http://schemas.microsoft.com/office/drawing/2014/main" id="{C36E2C47-6B5C-E7ED-4F86-5DF5E959FEE1}"/>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537302" y="5319965"/>
              <a:ext cx="332767" cy="332767"/>
            </a:xfrm>
            <a:prstGeom prst="rect">
              <a:avLst/>
            </a:prstGeom>
          </p:spPr>
        </p:pic>
      </p:grpSp>
      <p:sp>
        <p:nvSpPr>
          <p:cNvPr id="125" name="ZoneTexte 124">
            <a:extLst>
              <a:ext uri="{FF2B5EF4-FFF2-40B4-BE49-F238E27FC236}">
                <a16:creationId xmlns:a16="http://schemas.microsoft.com/office/drawing/2014/main" id="{41312199-2379-B225-A734-CD04F20F5CC2}"/>
              </a:ext>
            </a:extLst>
          </p:cNvPr>
          <p:cNvSpPr txBox="1"/>
          <p:nvPr/>
        </p:nvSpPr>
        <p:spPr>
          <a:xfrm>
            <a:off x="231192" y="1711868"/>
            <a:ext cx="1692000" cy="720000"/>
          </a:xfrm>
          <a:prstGeom prst="rect">
            <a:avLst/>
          </a:prstGeom>
          <a:noFill/>
        </p:spPr>
        <p:txBody>
          <a:bodyPr wrap="square">
            <a:spAutoFit/>
          </a:bodyPr>
          <a:lstStyle/>
          <a:p>
            <a:r>
              <a:rPr lang="fr-FR" sz="1050" dirty="0"/>
              <a:t>Intéressant et déjà mis en commun dans la Communauté</a:t>
            </a:r>
          </a:p>
        </p:txBody>
      </p:sp>
      <p:sp>
        <p:nvSpPr>
          <p:cNvPr id="126" name="ZoneTexte 125">
            <a:extLst>
              <a:ext uri="{FF2B5EF4-FFF2-40B4-BE49-F238E27FC236}">
                <a16:creationId xmlns:a16="http://schemas.microsoft.com/office/drawing/2014/main" id="{B4C3396E-51E3-C666-2190-19E981CB0ED3}"/>
              </a:ext>
            </a:extLst>
          </p:cNvPr>
          <p:cNvSpPr txBox="1"/>
          <p:nvPr/>
        </p:nvSpPr>
        <p:spPr>
          <a:xfrm>
            <a:off x="206061" y="2359332"/>
            <a:ext cx="1692000" cy="720000"/>
          </a:xfrm>
          <a:prstGeom prst="rect">
            <a:avLst/>
          </a:prstGeom>
          <a:noFill/>
        </p:spPr>
        <p:txBody>
          <a:bodyPr wrap="square">
            <a:spAutoFit/>
          </a:bodyPr>
          <a:lstStyle/>
          <a:p>
            <a:r>
              <a:rPr lang="fr-FR" sz="1050" dirty="0"/>
              <a:t>Intéressant, accessible par la Communauté mais pas (encore) mis en commun</a:t>
            </a:r>
          </a:p>
        </p:txBody>
      </p:sp>
      <p:sp>
        <p:nvSpPr>
          <p:cNvPr id="132" name="ZoneTexte 131">
            <a:extLst>
              <a:ext uri="{FF2B5EF4-FFF2-40B4-BE49-F238E27FC236}">
                <a16:creationId xmlns:a16="http://schemas.microsoft.com/office/drawing/2014/main" id="{C9B008FF-3693-924A-5783-4671823D7939}"/>
              </a:ext>
            </a:extLst>
          </p:cNvPr>
          <p:cNvSpPr txBox="1"/>
          <p:nvPr/>
        </p:nvSpPr>
        <p:spPr>
          <a:xfrm>
            <a:off x="189980" y="3099250"/>
            <a:ext cx="1692000" cy="720000"/>
          </a:xfrm>
          <a:prstGeom prst="rect">
            <a:avLst/>
          </a:prstGeom>
          <a:noFill/>
        </p:spPr>
        <p:txBody>
          <a:bodyPr wrap="square">
            <a:spAutoFit/>
          </a:bodyPr>
          <a:lstStyle/>
          <a:p>
            <a:r>
              <a:rPr lang="fr-FR" sz="1050" dirty="0"/>
              <a:t>Intéressant, manquant et plus facilement accessible en tant que Communauté (vs en individus)</a:t>
            </a:r>
          </a:p>
        </p:txBody>
      </p:sp>
      <p:sp>
        <p:nvSpPr>
          <p:cNvPr id="133" name="ZoneTexte 132">
            <a:extLst>
              <a:ext uri="{FF2B5EF4-FFF2-40B4-BE49-F238E27FC236}">
                <a16:creationId xmlns:a16="http://schemas.microsoft.com/office/drawing/2014/main" id="{C95EA7EB-6E10-9E09-F010-40259B68923B}"/>
              </a:ext>
            </a:extLst>
          </p:cNvPr>
          <p:cNvSpPr txBox="1"/>
          <p:nvPr/>
        </p:nvSpPr>
        <p:spPr>
          <a:xfrm>
            <a:off x="171511" y="3871868"/>
            <a:ext cx="1692000" cy="720000"/>
          </a:xfrm>
          <a:prstGeom prst="rect">
            <a:avLst/>
          </a:prstGeom>
          <a:noFill/>
        </p:spPr>
        <p:txBody>
          <a:bodyPr wrap="square">
            <a:spAutoFit/>
          </a:bodyPr>
          <a:lstStyle/>
          <a:p>
            <a:r>
              <a:rPr lang="fr-FR" sz="1050" dirty="0"/>
              <a:t>Intéressant, manquant et potentiellement accessible, difficulté d’accès inconnue</a:t>
            </a:r>
          </a:p>
        </p:txBody>
      </p:sp>
      <p:sp>
        <p:nvSpPr>
          <p:cNvPr id="134" name="ZoneTexte 133">
            <a:extLst>
              <a:ext uri="{FF2B5EF4-FFF2-40B4-BE49-F238E27FC236}">
                <a16:creationId xmlns:a16="http://schemas.microsoft.com/office/drawing/2014/main" id="{1FCAA3B0-1DE0-F7CF-0C53-00CCEDCA9365}"/>
              </a:ext>
            </a:extLst>
          </p:cNvPr>
          <p:cNvSpPr txBox="1"/>
          <p:nvPr/>
        </p:nvSpPr>
        <p:spPr>
          <a:xfrm>
            <a:off x="164065" y="4514628"/>
            <a:ext cx="1692000" cy="720000"/>
          </a:xfrm>
          <a:prstGeom prst="rect">
            <a:avLst/>
          </a:prstGeom>
          <a:noFill/>
        </p:spPr>
        <p:txBody>
          <a:bodyPr wrap="square">
            <a:spAutoFit/>
          </a:bodyPr>
          <a:lstStyle/>
          <a:p>
            <a:r>
              <a:rPr lang="fr-FR" sz="1050" dirty="0"/>
              <a:t>Intéressant, manquant et difficilement accessible, même en tant que Communauté</a:t>
            </a:r>
          </a:p>
        </p:txBody>
      </p:sp>
      <p:sp>
        <p:nvSpPr>
          <p:cNvPr id="136" name="ZoneTexte 135">
            <a:extLst>
              <a:ext uri="{FF2B5EF4-FFF2-40B4-BE49-F238E27FC236}">
                <a16:creationId xmlns:a16="http://schemas.microsoft.com/office/drawing/2014/main" id="{CDE170CF-66A1-D9B4-3D36-96CFC8515118}"/>
              </a:ext>
            </a:extLst>
          </p:cNvPr>
          <p:cNvSpPr txBox="1"/>
          <p:nvPr/>
        </p:nvSpPr>
        <p:spPr>
          <a:xfrm>
            <a:off x="126852" y="5386344"/>
            <a:ext cx="1549313" cy="415498"/>
          </a:xfrm>
          <a:prstGeom prst="rect">
            <a:avLst/>
          </a:prstGeom>
          <a:noFill/>
        </p:spPr>
        <p:txBody>
          <a:bodyPr wrap="square">
            <a:spAutoFit/>
          </a:bodyPr>
          <a:lstStyle/>
          <a:p>
            <a:r>
              <a:rPr lang="fr-FR" sz="1050" dirty="0"/>
              <a:t>Intérêt inconnu pour la Communauté, manquant</a:t>
            </a:r>
          </a:p>
        </p:txBody>
      </p:sp>
      <p:sp>
        <p:nvSpPr>
          <p:cNvPr id="150" name="Espace réservé du contenu 2">
            <a:extLst>
              <a:ext uri="{FF2B5EF4-FFF2-40B4-BE49-F238E27FC236}">
                <a16:creationId xmlns:a16="http://schemas.microsoft.com/office/drawing/2014/main" id="{C0C00D08-CB45-EA38-772C-30A49E6D6920}"/>
              </a:ext>
            </a:extLst>
          </p:cNvPr>
          <p:cNvSpPr>
            <a:spLocks noGrp="1"/>
          </p:cNvSpPr>
          <p:nvPr>
            <p:ph idx="1"/>
          </p:nvPr>
        </p:nvSpPr>
        <p:spPr>
          <a:xfrm>
            <a:off x="145387" y="6096357"/>
            <a:ext cx="1630795" cy="691911"/>
          </a:xfrm>
        </p:spPr>
        <p:txBody>
          <a:bodyPr>
            <a:normAutofit/>
          </a:bodyPr>
          <a:lstStyle/>
          <a:p>
            <a:pPr marL="0" indent="0">
              <a:buNone/>
            </a:pPr>
            <a:r>
              <a:rPr lang="fr-FR" sz="1050" dirty="0"/>
              <a:t>Pas intéressant a priori pour une mise en commun la Communauté</a:t>
            </a:r>
          </a:p>
        </p:txBody>
      </p:sp>
      <p:sp>
        <p:nvSpPr>
          <p:cNvPr id="153" name="Rectangle 152">
            <a:extLst>
              <a:ext uri="{FF2B5EF4-FFF2-40B4-BE49-F238E27FC236}">
                <a16:creationId xmlns:a16="http://schemas.microsoft.com/office/drawing/2014/main" id="{5BF5050F-7969-51B5-AAD3-EB304FC14B63}"/>
              </a:ext>
            </a:extLst>
          </p:cNvPr>
          <p:cNvSpPr/>
          <p:nvPr/>
        </p:nvSpPr>
        <p:spPr>
          <a:xfrm>
            <a:off x="3324824" y="1533525"/>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ressource est déjà utilisée par plusieurs membres (ex: Bibliothèque partagée)</a:t>
            </a:r>
          </a:p>
        </p:txBody>
      </p:sp>
      <p:sp>
        <p:nvSpPr>
          <p:cNvPr id="155" name="Rectangle 154">
            <a:extLst>
              <a:ext uri="{FF2B5EF4-FFF2-40B4-BE49-F238E27FC236}">
                <a16:creationId xmlns:a16="http://schemas.microsoft.com/office/drawing/2014/main" id="{EEED8351-94F6-B205-1BB6-0E5B6A8D753D}"/>
              </a:ext>
            </a:extLst>
          </p:cNvPr>
          <p:cNvSpPr/>
          <p:nvPr/>
        </p:nvSpPr>
        <p:spPr>
          <a:xfrm>
            <a:off x="6856928" y="1533525"/>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a mis en place des dispositions pour partager la ressource (ex: Système de partage du budget)</a:t>
            </a:r>
          </a:p>
        </p:txBody>
      </p:sp>
      <p:sp>
        <p:nvSpPr>
          <p:cNvPr id="157" name="Rectangle 156">
            <a:extLst>
              <a:ext uri="{FF2B5EF4-FFF2-40B4-BE49-F238E27FC236}">
                <a16:creationId xmlns:a16="http://schemas.microsoft.com/office/drawing/2014/main" id="{67517944-A11E-73DB-9060-A51C96B73AEB}"/>
              </a:ext>
            </a:extLst>
          </p:cNvPr>
          <p:cNvSpPr/>
          <p:nvPr/>
        </p:nvSpPr>
        <p:spPr>
          <a:xfrm>
            <a:off x="5090876" y="1533525"/>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Tous les membres sont au courant que cette ressource peut servir la Communauté (ex: Base de connaissances)</a:t>
            </a:r>
          </a:p>
        </p:txBody>
      </p:sp>
      <p:sp>
        <p:nvSpPr>
          <p:cNvPr id="158" name="Rectangle 157">
            <a:extLst>
              <a:ext uri="{FF2B5EF4-FFF2-40B4-BE49-F238E27FC236}">
                <a16:creationId xmlns:a16="http://schemas.microsoft.com/office/drawing/2014/main" id="{9935565B-78F1-A2A9-000B-D80832FDD0A9}"/>
              </a:ext>
            </a:extLst>
          </p:cNvPr>
          <p:cNvSpPr/>
          <p:nvPr/>
        </p:nvSpPr>
        <p:spPr>
          <a:xfrm>
            <a:off x="3324824" y="2283009"/>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Un des membres détient la ressource prête à partager mais les autres ne sont pas au courant (ex: Expertise discrète)</a:t>
            </a:r>
          </a:p>
        </p:txBody>
      </p:sp>
      <p:sp>
        <p:nvSpPr>
          <p:cNvPr id="160" name="Rectangle 159">
            <a:extLst>
              <a:ext uri="{FF2B5EF4-FFF2-40B4-BE49-F238E27FC236}">
                <a16:creationId xmlns:a16="http://schemas.microsoft.com/office/drawing/2014/main" id="{ED79A25E-A853-6A4F-F705-08697B9008FB}"/>
              </a:ext>
            </a:extLst>
          </p:cNvPr>
          <p:cNvSpPr/>
          <p:nvPr/>
        </p:nvSpPr>
        <p:spPr>
          <a:xfrm>
            <a:off x="6852807" y="2282662"/>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Un des membres détient la ressource mais ne l’a pas encore mis en commun</a:t>
            </a:r>
          </a:p>
          <a:p>
            <a:pPr algn="ctr"/>
            <a:r>
              <a:rPr lang="fr-FR" sz="900" dirty="0">
                <a:solidFill>
                  <a:schemeClr val="tx1"/>
                </a:solidFill>
              </a:rPr>
              <a:t>(ex: liste de contacts)</a:t>
            </a:r>
          </a:p>
        </p:txBody>
      </p:sp>
      <p:sp>
        <p:nvSpPr>
          <p:cNvPr id="162" name="Rectangle 161">
            <a:extLst>
              <a:ext uri="{FF2B5EF4-FFF2-40B4-BE49-F238E27FC236}">
                <a16:creationId xmlns:a16="http://schemas.microsoft.com/office/drawing/2014/main" id="{A71F5B9E-F106-D606-A7D6-2DA6E47FF9FB}"/>
              </a:ext>
            </a:extLst>
          </p:cNvPr>
          <p:cNvSpPr/>
          <p:nvPr/>
        </p:nvSpPr>
        <p:spPr>
          <a:xfrm>
            <a:off x="5086755" y="2282662"/>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Un des membres détient la ressource mais les autres ne la voient pas encore comme ressource (ex: outil récent)</a:t>
            </a:r>
          </a:p>
        </p:txBody>
      </p:sp>
      <p:sp>
        <p:nvSpPr>
          <p:cNvPr id="163" name="Rectangle 162">
            <a:extLst>
              <a:ext uri="{FF2B5EF4-FFF2-40B4-BE49-F238E27FC236}">
                <a16:creationId xmlns:a16="http://schemas.microsoft.com/office/drawing/2014/main" id="{346CC039-40D0-0DE7-C15B-FD8D3408206C}"/>
              </a:ext>
            </a:extLst>
          </p:cNvPr>
          <p:cNvSpPr/>
          <p:nvPr/>
        </p:nvSpPr>
        <p:spPr>
          <a:xfrm>
            <a:off x="3324824" y="3032492"/>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En étant nombreux, les membres peuvent se grouper et réduire le coût de la ressource (ex: location d’un matériel)</a:t>
            </a:r>
          </a:p>
        </p:txBody>
      </p:sp>
      <p:sp>
        <p:nvSpPr>
          <p:cNvPr id="165" name="Rectangle 164">
            <a:extLst>
              <a:ext uri="{FF2B5EF4-FFF2-40B4-BE49-F238E27FC236}">
                <a16:creationId xmlns:a16="http://schemas.microsoft.com/office/drawing/2014/main" id="{4CC77117-4C28-F095-8941-5D503993F769}"/>
              </a:ext>
            </a:extLst>
          </p:cNvPr>
          <p:cNvSpPr/>
          <p:nvPr/>
        </p:nvSpPr>
        <p:spPr>
          <a:xfrm>
            <a:off x="6852807" y="3027854"/>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En étant officiellement une Communauté, les membres ont un statut qui facilite l’accès à la ressource (ex: ligne de budget)</a:t>
            </a:r>
          </a:p>
        </p:txBody>
      </p:sp>
      <p:sp>
        <p:nvSpPr>
          <p:cNvPr id="167" name="Rectangle 166">
            <a:extLst>
              <a:ext uri="{FF2B5EF4-FFF2-40B4-BE49-F238E27FC236}">
                <a16:creationId xmlns:a16="http://schemas.microsoft.com/office/drawing/2014/main" id="{8CE54DD4-C496-8722-7A59-9597562E1C7B}"/>
              </a:ext>
            </a:extLst>
          </p:cNvPr>
          <p:cNvSpPr/>
          <p:nvPr/>
        </p:nvSpPr>
        <p:spPr>
          <a:xfrm>
            <a:off x="5086755" y="3027854"/>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En étant nombreux, les membres rendent une ressource intéressante (ex: disponibilité commune)</a:t>
            </a:r>
          </a:p>
        </p:txBody>
      </p:sp>
      <p:sp>
        <p:nvSpPr>
          <p:cNvPr id="183" name="Rectangle 182">
            <a:extLst>
              <a:ext uri="{FF2B5EF4-FFF2-40B4-BE49-F238E27FC236}">
                <a16:creationId xmlns:a16="http://schemas.microsoft.com/office/drawing/2014/main" id="{BD84D665-5CE9-9DB0-EC43-DA73D6073CF8}"/>
              </a:ext>
            </a:extLst>
          </p:cNvPr>
          <p:cNvSpPr/>
          <p:nvPr/>
        </p:nvSpPr>
        <p:spPr>
          <a:xfrm>
            <a:off x="3324824" y="3781975"/>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a identifié cette ressource mais ne sait pas comment l’acquérir (ex: soutien hiérarchique)</a:t>
            </a:r>
          </a:p>
        </p:txBody>
      </p:sp>
      <p:sp>
        <p:nvSpPr>
          <p:cNvPr id="187" name="Rectangle 186">
            <a:extLst>
              <a:ext uri="{FF2B5EF4-FFF2-40B4-BE49-F238E27FC236}">
                <a16:creationId xmlns:a16="http://schemas.microsoft.com/office/drawing/2014/main" id="{554FDB71-08DC-049A-3F94-907C0414CCD5}"/>
              </a:ext>
            </a:extLst>
          </p:cNvPr>
          <p:cNvSpPr/>
          <p:nvPr/>
        </p:nvSpPr>
        <p:spPr>
          <a:xfrm>
            <a:off x="5086755" y="3781975"/>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Cette ressource est facile d’accès pour un, mais la mise en commun peut être complexe (ex: expérience riche et longue)</a:t>
            </a:r>
          </a:p>
        </p:txBody>
      </p:sp>
      <p:sp>
        <p:nvSpPr>
          <p:cNvPr id="188" name="Rectangle 187">
            <a:extLst>
              <a:ext uri="{FF2B5EF4-FFF2-40B4-BE49-F238E27FC236}">
                <a16:creationId xmlns:a16="http://schemas.microsoft.com/office/drawing/2014/main" id="{057891A2-0B67-E31B-F668-D1F27EE3EA10}"/>
              </a:ext>
            </a:extLst>
          </p:cNvPr>
          <p:cNvSpPr/>
          <p:nvPr/>
        </p:nvSpPr>
        <p:spPr>
          <a:xfrm>
            <a:off x="3324824" y="4531458"/>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ressource est intéressante mais trop difficile à acquérir </a:t>
            </a:r>
          </a:p>
          <a:p>
            <a:pPr algn="ctr"/>
            <a:r>
              <a:rPr lang="fr-FR" sz="900" dirty="0">
                <a:solidFill>
                  <a:schemeClr val="tx1"/>
                </a:solidFill>
              </a:rPr>
              <a:t>(ex: Locaux idéaux mais trop chers, même en groupe)</a:t>
            </a:r>
          </a:p>
        </p:txBody>
      </p:sp>
      <p:sp>
        <p:nvSpPr>
          <p:cNvPr id="192" name="Rectangle 191">
            <a:extLst>
              <a:ext uri="{FF2B5EF4-FFF2-40B4-BE49-F238E27FC236}">
                <a16:creationId xmlns:a16="http://schemas.microsoft.com/office/drawing/2014/main" id="{BE0BEF53-5F2F-54C4-9C1B-D67EB126758C}"/>
              </a:ext>
            </a:extLst>
          </p:cNvPr>
          <p:cNvSpPr/>
          <p:nvPr/>
        </p:nvSpPr>
        <p:spPr>
          <a:xfrm>
            <a:off x="5086755" y="4530941"/>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ressource est intéressante mais trop difficile à mettre en commun une fois « acquise » (ex: Compétence de pointe)</a:t>
            </a:r>
          </a:p>
        </p:txBody>
      </p:sp>
      <p:sp>
        <p:nvSpPr>
          <p:cNvPr id="193" name="Rectangle 192">
            <a:extLst>
              <a:ext uri="{FF2B5EF4-FFF2-40B4-BE49-F238E27FC236}">
                <a16:creationId xmlns:a16="http://schemas.microsoft.com/office/drawing/2014/main" id="{C44219FE-D879-C992-98AD-0B57B9DB91A0}"/>
              </a:ext>
            </a:extLst>
          </p:cNvPr>
          <p:cNvSpPr/>
          <p:nvPr/>
        </p:nvSpPr>
        <p:spPr>
          <a:xfrm>
            <a:off x="3324823" y="5280941"/>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Un des membres détient la ressource sans savoir qu’elle peut être utile aux autres</a:t>
            </a:r>
          </a:p>
          <a:p>
            <a:pPr algn="ctr"/>
            <a:r>
              <a:rPr lang="fr-FR" sz="900" dirty="0">
                <a:solidFill>
                  <a:schemeClr val="tx1"/>
                </a:solidFill>
              </a:rPr>
              <a:t>(ex: Contacts clé)</a:t>
            </a:r>
          </a:p>
        </p:txBody>
      </p:sp>
      <p:sp>
        <p:nvSpPr>
          <p:cNvPr id="195" name="Rectangle 194">
            <a:extLst>
              <a:ext uri="{FF2B5EF4-FFF2-40B4-BE49-F238E27FC236}">
                <a16:creationId xmlns:a16="http://schemas.microsoft.com/office/drawing/2014/main" id="{7381D7DE-2DE8-35D1-EA94-2F49D31954F3}"/>
              </a:ext>
            </a:extLst>
          </p:cNvPr>
          <p:cNvSpPr/>
          <p:nvPr/>
        </p:nvSpPr>
        <p:spPr>
          <a:xfrm>
            <a:off x="6852807" y="5280941"/>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Il est difficile de savoir si c’est vraiment une ressource (ex: Problème similaire chez tous les membres)</a:t>
            </a:r>
          </a:p>
        </p:txBody>
      </p:sp>
      <p:sp>
        <p:nvSpPr>
          <p:cNvPr id="197" name="Rectangle 196">
            <a:extLst>
              <a:ext uri="{FF2B5EF4-FFF2-40B4-BE49-F238E27FC236}">
                <a16:creationId xmlns:a16="http://schemas.microsoft.com/office/drawing/2014/main" id="{BA5C255E-E2BB-181B-3925-AAF95A780178}"/>
              </a:ext>
            </a:extLst>
          </p:cNvPr>
          <p:cNvSpPr/>
          <p:nvPr/>
        </p:nvSpPr>
        <p:spPr>
          <a:xfrm>
            <a:off x="5086755" y="5280941"/>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L’effet de la ressource sur la Communauté est encore inconnu (ex: soutien du public)</a:t>
            </a:r>
          </a:p>
        </p:txBody>
      </p:sp>
      <p:sp>
        <p:nvSpPr>
          <p:cNvPr id="198" name="Rectangle 197">
            <a:extLst>
              <a:ext uri="{FF2B5EF4-FFF2-40B4-BE49-F238E27FC236}">
                <a16:creationId xmlns:a16="http://schemas.microsoft.com/office/drawing/2014/main" id="{F58ECD70-0059-2201-AB4A-042A7CDDDED3}"/>
              </a:ext>
            </a:extLst>
          </p:cNvPr>
          <p:cNvSpPr/>
          <p:nvPr/>
        </p:nvSpPr>
        <p:spPr>
          <a:xfrm>
            <a:off x="3324824" y="6030426"/>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On pensait cette ressource utile mais au final elle ne l’est pas (ex: une salle trop loin de tous les membres)</a:t>
            </a:r>
          </a:p>
        </p:txBody>
      </p:sp>
      <p:sp>
        <p:nvSpPr>
          <p:cNvPr id="202" name="Rectangle 201">
            <a:extLst>
              <a:ext uri="{FF2B5EF4-FFF2-40B4-BE49-F238E27FC236}">
                <a16:creationId xmlns:a16="http://schemas.microsoft.com/office/drawing/2014/main" id="{CCCADFF5-DB17-ECEE-AF6A-C64301D90A6D}"/>
              </a:ext>
            </a:extLst>
          </p:cNvPr>
          <p:cNvSpPr/>
          <p:nvPr/>
        </p:nvSpPr>
        <p:spPr>
          <a:xfrm>
            <a:off x="5086755" y="6034909"/>
            <a:ext cx="1692000" cy="599207"/>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Cette ressource pourrait être utile mais une autre fait déjà l’affaire (ex: un outil de discussion alternatif)</a:t>
            </a:r>
          </a:p>
        </p:txBody>
      </p:sp>
    </p:spTree>
    <p:extLst>
      <p:ext uri="{BB962C8B-B14F-4D97-AF65-F5344CB8AC3E}">
        <p14:creationId xmlns:p14="http://schemas.microsoft.com/office/powerpoint/2010/main" val="354577946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0FEA3ED-05E5-44E0-86FB-276C165223EB}"/>
              </a:ext>
            </a:extLst>
          </p:cNvPr>
          <p:cNvSpPr>
            <a:spLocks noGrp="1"/>
          </p:cNvSpPr>
          <p:nvPr>
            <p:ph type="title"/>
          </p:nvPr>
        </p:nvSpPr>
        <p:spPr>
          <a:xfrm>
            <a:off x="838200" y="365125"/>
            <a:ext cx="10515600" cy="633165"/>
          </a:xfrm>
        </p:spPr>
        <p:txBody>
          <a:bodyPr>
            <a:normAutofit fontScale="90000"/>
          </a:bodyPr>
          <a:lstStyle/>
          <a:p>
            <a:r>
              <a:rPr lang="fr-FR" sz="4000" dirty="0"/>
              <a:t>Exemple d’analyse de ressources de Communauté</a:t>
            </a:r>
          </a:p>
        </p:txBody>
      </p:sp>
      <p:sp>
        <p:nvSpPr>
          <p:cNvPr id="97" name="Flèche : haut 96">
            <a:extLst>
              <a:ext uri="{FF2B5EF4-FFF2-40B4-BE49-F238E27FC236}">
                <a16:creationId xmlns:a16="http://schemas.microsoft.com/office/drawing/2014/main" id="{AE89BA1B-419E-63FB-3C74-B37D74D67CAC}"/>
              </a:ext>
            </a:extLst>
          </p:cNvPr>
          <p:cNvSpPr/>
          <p:nvPr/>
        </p:nvSpPr>
        <p:spPr>
          <a:xfrm>
            <a:off x="2188266" y="1187557"/>
            <a:ext cx="304800" cy="4188155"/>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8" name="Groupe 97">
            <a:extLst>
              <a:ext uri="{FF2B5EF4-FFF2-40B4-BE49-F238E27FC236}">
                <a16:creationId xmlns:a16="http://schemas.microsoft.com/office/drawing/2014/main" id="{D9AFE5F4-4254-4E88-1E0A-ED1D23FA3FDA}"/>
              </a:ext>
            </a:extLst>
          </p:cNvPr>
          <p:cNvGrpSpPr/>
          <p:nvPr/>
        </p:nvGrpSpPr>
        <p:grpSpPr>
          <a:xfrm>
            <a:off x="1263236" y="1187557"/>
            <a:ext cx="642859" cy="541981"/>
            <a:chOff x="1797480" y="1339838"/>
            <a:chExt cx="1507135" cy="1270634"/>
          </a:xfrm>
        </p:grpSpPr>
        <p:grpSp>
          <p:nvGrpSpPr>
            <p:cNvPr id="99" name="Groupe 98">
              <a:extLst>
                <a:ext uri="{FF2B5EF4-FFF2-40B4-BE49-F238E27FC236}">
                  <a16:creationId xmlns:a16="http://schemas.microsoft.com/office/drawing/2014/main" id="{950FC174-2A8C-F2C7-A445-74EACE087F0C}"/>
                </a:ext>
              </a:extLst>
            </p:cNvPr>
            <p:cNvGrpSpPr/>
            <p:nvPr/>
          </p:nvGrpSpPr>
          <p:grpSpPr>
            <a:xfrm>
              <a:off x="1797480" y="1339838"/>
              <a:ext cx="1507135" cy="1270634"/>
              <a:chOff x="8982504" y="3274976"/>
              <a:chExt cx="1230670" cy="1037553"/>
            </a:xfrm>
            <a:solidFill>
              <a:srgbClr val="ED7D31"/>
            </a:solidFill>
          </p:grpSpPr>
          <p:pic>
            <p:nvPicPr>
              <p:cNvPr id="101" name="Graphique 100" descr="Utilisateur avec un remplissage uni">
                <a:extLst>
                  <a:ext uri="{FF2B5EF4-FFF2-40B4-BE49-F238E27FC236}">
                    <a16:creationId xmlns:a16="http://schemas.microsoft.com/office/drawing/2014/main" id="{9F799E07-E035-D82E-B88F-A1C30E24B00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D634C716-6C7B-6A39-BC03-2508E5A4B46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AC087E2-37A9-7045-BEF5-6F08236C709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87F86FAF-C521-39C2-648F-EA0C760BF7E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F949EF51-658E-96A6-0FDF-7DF2D13B4A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06" name="Graphique 105" descr="Utilisateur avec un remplissage uni">
                <a:extLst>
                  <a:ext uri="{FF2B5EF4-FFF2-40B4-BE49-F238E27FC236}">
                    <a16:creationId xmlns:a16="http://schemas.microsoft.com/office/drawing/2014/main" id="{A95E8976-445F-1106-7223-0122A97BB70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07" name="Graphique 106" descr="Utilisateur avec un remplissage uni">
                <a:extLst>
                  <a:ext uri="{FF2B5EF4-FFF2-40B4-BE49-F238E27FC236}">
                    <a16:creationId xmlns:a16="http://schemas.microsoft.com/office/drawing/2014/main" id="{CC038618-2C40-504C-3DF4-CA7D56CAB97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08" name="Graphique 107" descr="Utilisateur avec un remplissage uni">
                <a:extLst>
                  <a:ext uri="{FF2B5EF4-FFF2-40B4-BE49-F238E27FC236}">
                    <a16:creationId xmlns:a16="http://schemas.microsoft.com/office/drawing/2014/main" id="{92F0BCBB-FC1F-98EA-E265-76EE4AE0446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09" name="Graphique 108" descr="Utilisateur avec un remplissage uni">
                <a:extLst>
                  <a:ext uri="{FF2B5EF4-FFF2-40B4-BE49-F238E27FC236}">
                    <a16:creationId xmlns:a16="http://schemas.microsoft.com/office/drawing/2014/main" id="{787601DB-53FF-6153-9432-EE7BDE70219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10" name="Graphique 109" descr="Utilisateur avec un remplissage uni">
                <a:extLst>
                  <a:ext uri="{FF2B5EF4-FFF2-40B4-BE49-F238E27FC236}">
                    <a16:creationId xmlns:a16="http://schemas.microsoft.com/office/drawing/2014/main" id="{8BC7269C-443D-E67F-5F19-A9854E4839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11" name="Graphique 110" descr="Utilisateur avec un remplissage uni">
                <a:extLst>
                  <a:ext uri="{FF2B5EF4-FFF2-40B4-BE49-F238E27FC236}">
                    <a16:creationId xmlns:a16="http://schemas.microsoft.com/office/drawing/2014/main" id="{A1613045-850B-66A4-1284-8E31FBC2FFA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00" name="Graphique 99" descr="Boîte à archives avec un remplissage uni">
              <a:extLst>
                <a:ext uri="{FF2B5EF4-FFF2-40B4-BE49-F238E27FC236}">
                  <a16:creationId xmlns:a16="http://schemas.microsoft.com/office/drawing/2014/main" id="{87961DF1-41B6-973F-640C-4DEDBF8561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164013" y="1631780"/>
              <a:ext cx="795090" cy="795090"/>
            </a:xfrm>
            <a:prstGeom prst="rect">
              <a:avLst/>
            </a:prstGeom>
          </p:spPr>
        </p:pic>
      </p:grpSp>
      <p:grpSp>
        <p:nvGrpSpPr>
          <p:cNvPr id="112" name="Groupe 111">
            <a:extLst>
              <a:ext uri="{FF2B5EF4-FFF2-40B4-BE49-F238E27FC236}">
                <a16:creationId xmlns:a16="http://schemas.microsoft.com/office/drawing/2014/main" id="{F29BCC2C-AF9F-E535-6D57-4706E786826F}"/>
              </a:ext>
            </a:extLst>
          </p:cNvPr>
          <p:cNvGrpSpPr/>
          <p:nvPr/>
        </p:nvGrpSpPr>
        <p:grpSpPr>
          <a:xfrm>
            <a:off x="1205435" y="1836377"/>
            <a:ext cx="928257" cy="541981"/>
            <a:chOff x="1797480" y="1339838"/>
            <a:chExt cx="2176227" cy="1270634"/>
          </a:xfrm>
        </p:grpSpPr>
        <p:grpSp>
          <p:nvGrpSpPr>
            <p:cNvPr id="113" name="Groupe 112">
              <a:extLst>
                <a:ext uri="{FF2B5EF4-FFF2-40B4-BE49-F238E27FC236}">
                  <a16:creationId xmlns:a16="http://schemas.microsoft.com/office/drawing/2014/main" id="{D02DE41C-34FA-4ADF-A86C-28A9B48A45BA}"/>
                </a:ext>
              </a:extLst>
            </p:cNvPr>
            <p:cNvGrpSpPr/>
            <p:nvPr/>
          </p:nvGrpSpPr>
          <p:grpSpPr>
            <a:xfrm>
              <a:off x="1797480" y="1339838"/>
              <a:ext cx="1507135" cy="1270634"/>
              <a:chOff x="8982504" y="3274976"/>
              <a:chExt cx="1230670" cy="1037553"/>
            </a:xfrm>
            <a:solidFill>
              <a:srgbClr val="ED7D31"/>
            </a:solidFill>
          </p:grpSpPr>
          <p:pic>
            <p:nvPicPr>
              <p:cNvPr id="115" name="Graphique 114" descr="Utilisateur avec un remplissage uni">
                <a:extLst>
                  <a:ext uri="{FF2B5EF4-FFF2-40B4-BE49-F238E27FC236}">
                    <a16:creationId xmlns:a16="http://schemas.microsoft.com/office/drawing/2014/main" id="{7DD52728-B979-4735-9302-8FAADA586C1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16" name="Graphique 115" descr="Utilisateur avec un remplissage uni">
                <a:extLst>
                  <a:ext uri="{FF2B5EF4-FFF2-40B4-BE49-F238E27FC236}">
                    <a16:creationId xmlns:a16="http://schemas.microsoft.com/office/drawing/2014/main" id="{70C34291-3CD9-7411-25AF-30D24DF1314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17" name="Graphique 116" descr="Utilisateur avec un remplissage uni">
                <a:extLst>
                  <a:ext uri="{FF2B5EF4-FFF2-40B4-BE49-F238E27FC236}">
                    <a16:creationId xmlns:a16="http://schemas.microsoft.com/office/drawing/2014/main" id="{279D435E-3813-6FC3-55E6-35504864488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2398F617-C4CF-3C88-AE58-D52C4D4D589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9B69D1AC-0F96-FD3D-51A6-1FD1846CFAC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20" name="Graphique 119" descr="Utilisateur avec un remplissage uni">
                <a:extLst>
                  <a:ext uri="{FF2B5EF4-FFF2-40B4-BE49-F238E27FC236}">
                    <a16:creationId xmlns:a16="http://schemas.microsoft.com/office/drawing/2014/main" id="{D18EB99D-0FD7-56C8-DB98-4D4F556489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21" name="Graphique 120" descr="Utilisateur avec un remplissage uni">
                <a:extLst>
                  <a:ext uri="{FF2B5EF4-FFF2-40B4-BE49-F238E27FC236}">
                    <a16:creationId xmlns:a16="http://schemas.microsoft.com/office/drawing/2014/main" id="{2825E89F-CD09-728D-FD63-D516A0C7F52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C11AD3B4-5DA2-81EA-7013-DE0DE87023A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5F8AC828-A739-3B4E-914F-2C7740CE9CC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053335BE-539E-57B4-7312-A35C5D47ACF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25" name="Graphique 124" descr="Utilisateur avec un remplissage uni">
                <a:extLst>
                  <a:ext uri="{FF2B5EF4-FFF2-40B4-BE49-F238E27FC236}">
                    <a16:creationId xmlns:a16="http://schemas.microsoft.com/office/drawing/2014/main" id="{2BE71045-A682-A6C1-5DB3-87C63D75742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14" name="Graphique 113" descr="Boîte à archives avec un remplissage uni">
              <a:extLst>
                <a:ext uri="{FF2B5EF4-FFF2-40B4-BE49-F238E27FC236}">
                  <a16:creationId xmlns:a16="http://schemas.microsoft.com/office/drawing/2014/main" id="{862ADCD5-6BF2-F044-86AF-17B38C46673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178618" y="1572578"/>
              <a:ext cx="795089" cy="795090"/>
            </a:xfrm>
            <a:prstGeom prst="rect">
              <a:avLst/>
            </a:prstGeom>
          </p:spPr>
        </p:pic>
      </p:grpSp>
      <p:grpSp>
        <p:nvGrpSpPr>
          <p:cNvPr id="126" name="Groupe 125">
            <a:extLst>
              <a:ext uri="{FF2B5EF4-FFF2-40B4-BE49-F238E27FC236}">
                <a16:creationId xmlns:a16="http://schemas.microsoft.com/office/drawing/2014/main" id="{30C34A92-9FA7-E5AB-40AE-77EB6EEBD4E8}"/>
              </a:ext>
            </a:extLst>
          </p:cNvPr>
          <p:cNvGrpSpPr/>
          <p:nvPr/>
        </p:nvGrpSpPr>
        <p:grpSpPr>
          <a:xfrm>
            <a:off x="1033252" y="2595975"/>
            <a:ext cx="1104068" cy="541981"/>
            <a:chOff x="1797481" y="3401554"/>
            <a:chExt cx="1314902" cy="645478"/>
          </a:xfrm>
        </p:grpSpPr>
        <p:grpSp>
          <p:nvGrpSpPr>
            <p:cNvPr id="127" name="Groupe 126">
              <a:extLst>
                <a:ext uri="{FF2B5EF4-FFF2-40B4-BE49-F238E27FC236}">
                  <a16:creationId xmlns:a16="http://schemas.microsoft.com/office/drawing/2014/main" id="{D7FCD4ED-4143-62F3-EC43-52FF07E73851}"/>
                </a:ext>
              </a:extLst>
            </p:cNvPr>
            <p:cNvGrpSpPr/>
            <p:nvPr/>
          </p:nvGrpSpPr>
          <p:grpSpPr>
            <a:xfrm>
              <a:off x="1797481" y="3401554"/>
              <a:ext cx="1314902" cy="645478"/>
              <a:chOff x="1797480" y="1339838"/>
              <a:chExt cx="2588405" cy="1270634"/>
            </a:xfrm>
          </p:grpSpPr>
          <p:grpSp>
            <p:nvGrpSpPr>
              <p:cNvPr id="129" name="Groupe 128">
                <a:extLst>
                  <a:ext uri="{FF2B5EF4-FFF2-40B4-BE49-F238E27FC236}">
                    <a16:creationId xmlns:a16="http://schemas.microsoft.com/office/drawing/2014/main" id="{4DFE496F-FCF0-988B-C261-CFFF1DDAF8BA}"/>
                  </a:ext>
                </a:extLst>
              </p:cNvPr>
              <p:cNvGrpSpPr/>
              <p:nvPr/>
            </p:nvGrpSpPr>
            <p:grpSpPr>
              <a:xfrm>
                <a:off x="1797480" y="1339838"/>
                <a:ext cx="1507135" cy="1270634"/>
                <a:chOff x="8982504" y="3274976"/>
                <a:chExt cx="1230670" cy="1037553"/>
              </a:xfrm>
              <a:solidFill>
                <a:srgbClr val="ED7D31"/>
              </a:solidFill>
            </p:grpSpPr>
            <p:pic>
              <p:nvPicPr>
                <p:cNvPr id="131" name="Graphique 130" descr="Utilisateur avec un remplissage uni">
                  <a:extLst>
                    <a:ext uri="{FF2B5EF4-FFF2-40B4-BE49-F238E27FC236}">
                      <a16:creationId xmlns:a16="http://schemas.microsoft.com/office/drawing/2014/main" id="{65593941-3099-8CE5-0DEC-F1556F0DEF8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32" name="Graphique 131" descr="Utilisateur avec un remplissage uni">
                  <a:extLst>
                    <a:ext uri="{FF2B5EF4-FFF2-40B4-BE49-F238E27FC236}">
                      <a16:creationId xmlns:a16="http://schemas.microsoft.com/office/drawing/2014/main" id="{D38B1CF9-4E3A-7B24-EDB0-7DFCB4739D8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33" name="Graphique 132" descr="Utilisateur avec un remplissage uni">
                  <a:extLst>
                    <a:ext uri="{FF2B5EF4-FFF2-40B4-BE49-F238E27FC236}">
                      <a16:creationId xmlns:a16="http://schemas.microsoft.com/office/drawing/2014/main" id="{5921E86C-6652-62A2-E6D5-2A2C573EB62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34" name="Graphique 133" descr="Utilisateur avec un remplissage uni">
                  <a:extLst>
                    <a:ext uri="{FF2B5EF4-FFF2-40B4-BE49-F238E27FC236}">
                      <a16:creationId xmlns:a16="http://schemas.microsoft.com/office/drawing/2014/main" id="{90D1938C-21C9-B52E-F22D-82102A19820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35" name="Graphique 134" descr="Utilisateur avec un remplissage uni">
                  <a:extLst>
                    <a:ext uri="{FF2B5EF4-FFF2-40B4-BE49-F238E27FC236}">
                      <a16:creationId xmlns:a16="http://schemas.microsoft.com/office/drawing/2014/main" id="{91358773-5FC5-70C7-90CA-F74FE916077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36" name="Graphique 135" descr="Utilisateur avec un remplissage uni">
                  <a:extLst>
                    <a:ext uri="{FF2B5EF4-FFF2-40B4-BE49-F238E27FC236}">
                      <a16:creationId xmlns:a16="http://schemas.microsoft.com/office/drawing/2014/main" id="{5DBA6000-E7DD-6860-2D3D-2561412B41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37" name="Graphique 136" descr="Utilisateur avec un remplissage uni">
                  <a:extLst>
                    <a:ext uri="{FF2B5EF4-FFF2-40B4-BE49-F238E27FC236}">
                      <a16:creationId xmlns:a16="http://schemas.microsoft.com/office/drawing/2014/main" id="{5523E782-4802-D77F-6352-C00A1E0D4B1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38" name="Graphique 137" descr="Utilisateur avec un remplissage uni">
                  <a:extLst>
                    <a:ext uri="{FF2B5EF4-FFF2-40B4-BE49-F238E27FC236}">
                      <a16:creationId xmlns:a16="http://schemas.microsoft.com/office/drawing/2014/main" id="{65C29A5C-4970-86A7-4514-6DE0CA03029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39" name="Graphique 138" descr="Utilisateur avec un remplissage uni">
                  <a:extLst>
                    <a:ext uri="{FF2B5EF4-FFF2-40B4-BE49-F238E27FC236}">
                      <a16:creationId xmlns:a16="http://schemas.microsoft.com/office/drawing/2014/main" id="{823DB485-5243-BC08-0943-3EDAD810232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0A6FF9A6-7DF6-F536-17D9-58335AB788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B80FE338-208E-FEF0-E42E-1CBCA564B43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30" name="Graphique 129" descr="Boîte à archives avec un remplissage uni">
                <a:extLst>
                  <a:ext uri="{FF2B5EF4-FFF2-40B4-BE49-F238E27FC236}">
                    <a16:creationId xmlns:a16="http://schemas.microsoft.com/office/drawing/2014/main" id="{60EB9EB9-5223-4CB4-53D4-942FD7DF93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28" name="Graphique 127" descr="Déverrouiller avec un remplissage uni">
              <a:extLst>
                <a:ext uri="{FF2B5EF4-FFF2-40B4-BE49-F238E27FC236}">
                  <a16:creationId xmlns:a16="http://schemas.microsoft.com/office/drawing/2014/main" id="{D782765A-D0ED-613C-3CBB-11E8EBAA0C7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flipH="1">
              <a:off x="2498111" y="3408841"/>
              <a:ext cx="432779" cy="462545"/>
            </a:xfrm>
            <a:prstGeom prst="rect">
              <a:avLst/>
            </a:prstGeom>
          </p:spPr>
        </p:pic>
      </p:grpSp>
      <p:grpSp>
        <p:nvGrpSpPr>
          <p:cNvPr id="142" name="Groupe 141">
            <a:extLst>
              <a:ext uri="{FF2B5EF4-FFF2-40B4-BE49-F238E27FC236}">
                <a16:creationId xmlns:a16="http://schemas.microsoft.com/office/drawing/2014/main" id="{7C9FF69A-4656-B3FC-8D15-940A846DC8B7}"/>
              </a:ext>
            </a:extLst>
          </p:cNvPr>
          <p:cNvGrpSpPr/>
          <p:nvPr/>
        </p:nvGrpSpPr>
        <p:grpSpPr>
          <a:xfrm>
            <a:off x="1035880" y="3313420"/>
            <a:ext cx="1104068" cy="541981"/>
            <a:chOff x="1800611" y="4256002"/>
            <a:chExt cx="1314902" cy="645478"/>
          </a:xfrm>
        </p:grpSpPr>
        <p:grpSp>
          <p:nvGrpSpPr>
            <p:cNvPr id="143" name="Groupe 142">
              <a:extLst>
                <a:ext uri="{FF2B5EF4-FFF2-40B4-BE49-F238E27FC236}">
                  <a16:creationId xmlns:a16="http://schemas.microsoft.com/office/drawing/2014/main" id="{1C144AA4-47EF-EAB2-0C34-5E0733CBFA25}"/>
                </a:ext>
              </a:extLst>
            </p:cNvPr>
            <p:cNvGrpSpPr/>
            <p:nvPr/>
          </p:nvGrpSpPr>
          <p:grpSpPr>
            <a:xfrm>
              <a:off x="1800611" y="4256002"/>
              <a:ext cx="1314902" cy="645478"/>
              <a:chOff x="1797480" y="1339838"/>
              <a:chExt cx="2588405" cy="1270634"/>
            </a:xfrm>
          </p:grpSpPr>
          <p:grpSp>
            <p:nvGrpSpPr>
              <p:cNvPr id="145" name="Groupe 144">
                <a:extLst>
                  <a:ext uri="{FF2B5EF4-FFF2-40B4-BE49-F238E27FC236}">
                    <a16:creationId xmlns:a16="http://schemas.microsoft.com/office/drawing/2014/main" id="{763AD210-AE17-667E-924D-FA200103688A}"/>
                  </a:ext>
                </a:extLst>
              </p:cNvPr>
              <p:cNvGrpSpPr/>
              <p:nvPr/>
            </p:nvGrpSpPr>
            <p:grpSpPr>
              <a:xfrm>
                <a:off x="1797480" y="1339838"/>
                <a:ext cx="1507135" cy="1270634"/>
                <a:chOff x="8982504" y="3274976"/>
                <a:chExt cx="1230670" cy="1037553"/>
              </a:xfrm>
              <a:solidFill>
                <a:srgbClr val="ED7D31"/>
              </a:solidFill>
            </p:grpSpPr>
            <p:pic>
              <p:nvPicPr>
                <p:cNvPr id="147" name="Graphique 146" descr="Utilisateur avec un remplissage uni">
                  <a:extLst>
                    <a:ext uri="{FF2B5EF4-FFF2-40B4-BE49-F238E27FC236}">
                      <a16:creationId xmlns:a16="http://schemas.microsoft.com/office/drawing/2014/main" id="{76A43EBB-552D-D215-DB8D-5B5075C5D72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2382845E-EE64-B55C-0E51-17BF86C19F1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B1C44714-6F1A-24C0-977E-F5BF5F7BD31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50" name="Graphique 149" descr="Utilisateur avec un remplissage uni">
                  <a:extLst>
                    <a:ext uri="{FF2B5EF4-FFF2-40B4-BE49-F238E27FC236}">
                      <a16:creationId xmlns:a16="http://schemas.microsoft.com/office/drawing/2014/main" id="{2D001668-57FC-54A1-2D5B-7A8CE70DABF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51" name="Graphique 150" descr="Utilisateur avec un remplissage uni">
                  <a:extLst>
                    <a:ext uri="{FF2B5EF4-FFF2-40B4-BE49-F238E27FC236}">
                      <a16:creationId xmlns:a16="http://schemas.microsoft.com/office/drawing/2014/main" id="{ADDEDA45-95E8-78E7-7865-4D8970A7A81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52" name="Graphique 151" descr="Utilisateur avec un remplissage uni">
                  <a:extLst>
                    <a:ext uri="{FF2B5EF4-FFF2-40B4-BE49-F238E27FC236}">
                      <a16:creationId xmlns:a16="http://schemas.microsoft.com/office/drawing/2014/main" id="{2309201C-A827-EEA7-F145-1ACD494F367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53" name="Graphique 152" descr="Utilisateur avec un remplissage uni">
                  <a:extLst>
                    <a:ext uri="{FF2B5EF4-FFF2-40B4-BE49-F238E27FC236}">
                      <a16:creationId xmlns:a16="http://schemas.microsoft.com/office/drawing/2014/main" id="{EDF70FEF-CBCD-CC31-AAD9-45BE9866167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54" name="Graphique 153" descr="Utilisateur avec un remplissage uni">
                  <a:extLst>
                    <a:ext uri="{FF2B5EF4-FFF2-40B4-BE49-F238E27FC236}">
                      <a16:creationId xmlns:a16="http://schemas.microsoft.com/office/drawing/2014/main" id="{0E6F1FC4-1E45-17AC-CD58-F79BB71FA8A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55" name="Graphique 154" descr="Utilisateur avec un remplissage uni">
                  <a:extLst>
                    <a:ext uri="{FF2B5EF4-FFF2-40B4-BE49-F238E27FC236}">
                      <a16:creationId xmlns:a16="http://schemas.microsoft.com/office/drawing/2014/main" id="{B2131C9B-E4FB-D332-749E-76BF04BD1AF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56" name="Graphique 155" descr="Utilisateur avec un remplissage uni">
                  <a:extLst>
                    <a:ext uri="{FF2B5EF4-FFF2-40B4-BE49-F238E27FC236}">
                      <a16:creationId xmlns:a16="http://schemas.microsoft.com/office/drawing/2014/main" id="{A8DF361A-21FA-7FDC-E3CD-831A740556B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57" name="Graphique 156" descr="Utilisateur avec un remplissage uni">
                  <a:extLst>
                    <a:ext uri="{FF2B5EF4-FFF2-40B4-BE49-F238E27FC236}">
                      <a16:creationId xmlns:a16="http://schemas.microsoft.com/office/drawing/2014/main" id="{A5BEA45A-42C1-FFBF-94ED-D0D545A4707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46" name="Graphique 145" descr="Boîte à archives avec un remplissage uni">
                <a:extLst>
                  <a:ext uri="{FF2B5EF4-FFF2-40B4-BE49-F238E27FC236}">
                    <a16:creationId xmlns:a16="http://schemas.microsoft.com/office/drawing/2014/main" id="{F405E83A-DBE4-90C1-DFD0-1E4D01110F0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44" name="Graphique 143" descr="Verrou avec un remplissage uni">
              <a:extLst>
                <a:ext uri="{FF2B5EF4-FFF2-40B4-BE49-F238E27FC236}">
                  <a16:creationId xmlns:a16="http://schemas.microsoft.com/office/drawing/2014/main" id="{8D408278-267D-C752-C581-E206DACDC5E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493236" y="4290370"/>
              <a:ext cx="466725" cy="466725"/>
            </a:xfrm>
            <a:prstGeom prst="rect">
              <a:avLst/>
            </a:prstGeom>
          </p:spPr>
        </p:pic>
      </p:grpSp>
      <p:grpSp>
        <p:nvGrpSpPr>
          <p:cNvPr id="158" name="Groupe 157">
            <a:extLst>
              <a:ext uri="{FF2B5EF4-FFF2-40B4-BE49-F238E27FC236}">
                <a16:creationId xmlns:a16="http://schemas.microsoft.com/office/drawing/2014/main" id="{4346BC1D-D789-17CD-DE58-BEFD6CD8E981}"/>
              </a:ext>
            </a:extLst>
          </p:cNvPr>
          <p:cNvGrpSpPr/>
          <p:nvPr/>
        </p:nvGrpSpPr>
        <p:grpSpPr>
          <a:xfrm>
            <a:off x="1020666" y="3908140"/>
            <a:ext cx="1104068" cy="646669"/>
            <a:chOff x="1782492" y="4964291"/>
            <a:chExt cx="1314902" cy="770157"/>
          </a:xfrm>
        </p:grpSpPr>
        <p:grpSp>
          <p:nvGrpSpPr>
            <p:cNvPr id="159" name="Groupe 158">
              <a:extLst>
                <a:ext uri="{FF2B5EF4-FFF2-40B4-BE49-F238E27FC236}">
                  <a16:creationId xmlns:a16="http://schemas.microsoft.com/office/drawing/2014/main" id="{51A2E2FC-3457-CE7C-2854-0BF42938E11B}"/>
                </a:ext>
              </a:extLst>
            </p:cNvPr>
            <p:cNvGrpSpPr/>
            <p:nvPr/>
          </p:nvGrpSpPr>
          <p:grpSpPr>
            <a:xfrm>
              <a:off x="1782492" y="5088970"/>
              <a:ext cx="1314902" cy="645478"/>
              <a:chOff x="1797480" y="1339838"/>
              <a:chExt cx="2588405" cy="1270634"/>
            </a:xfrm>
          </p:grpSpPr>
          <p:grpSp>
            <p:nvGrpSpPr>
              <p:cNvPr id="161" name="Groupe 160">
                <a:extLst>
                  <a:ext uri="{FF2B5EF4-FFF2-40B4-BE49-F238E27FC236}">
                    <a16:creationId xmlns:a16="http://schemas.microsoft.com/office/drawing/2014/main" id="{183A8716-1F8D-5C40-816D-233AE8D3342C}"/>
                  </a:ext>
                </a:extLst>
              </p:cNvPr>
              <p:cNvGrpSpPr/>
              <p:nvPr/>
            </p:nvGrpSpPr>
            <p:grpSpPr>
              <a:xfrm>
                <a:off x="1797480" y="1339838"/>
                <a:ext cx="1507135" cy="1270634"/>
                <a:chOff x="8982504" y="3274976"/>
                <a:chExt cx="1230670" cy="1037553"/>
              </a:xfrm>
              <a:solidFill>
                <a:srgbClr val="ED7D31"/>
              </a:solidFill>
            </p:grpSpPr>
            <p:pic>
              <p:nvPicPr>
                <p:cNvPr id="163" name="Graphique 162" descr="Utilisateur avec un remplissage uni">
                  <a:extLst>
                    <a:ext uri="{FF2B5EF4-FFF2-40B4-BE49-F238E27FC236}">
                      <a16:creationId xmlns:a16="http://schemas.microsoft.com/office/drawing/2014/main" id="{A6B9F7F4-E58F-22CF-41E0-BCB6042EF00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64" name="Graphique 163" descr="Utilisateur avec un remplissage uni">
                  <a:extLst>
                    <a:ext uri="{FF2B5EF4-FFF2-40B4-BE49-F238E27FC236}">
                      <a16:creationId xmlns:a16="http://schemas.microsoft.com/office/drawing/2014/main" id="{103EFAA9-DED0-2DF8-4BC5-F05FA0A911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65" name="Graphique 164" descr="Utilisateur avec un remplissage uni">
                  <a:extLst>
                    <a:ext uri="{FF2B5EF4-FFF2-40B4-BE49-F238E27FC236}">
                      <a16:creationId xmlns:a16="http://schemas.microsoft.com/office/drawing/2014/main" id="{F39E1A3C-9BEF-2AFC-5076-4AF594E6C38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66" name="Graphique 165" descr="Utilisateur avec un remplissage uni">
                  <a:extLst>
                    <a:ext uri="{FF2B5EF4-FFF2-40B4-BE49-F238E27FC236}">
                      <a16:creationId xmlns:a16="http://schemas.microsoft.com/office/drawing/2014/main" id="{84343633-49E6-7B9F-ABE8-D19DB29BF74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67" name="Graphique 166" descr="Utilisateur avec un remplissage uni">
                  <a:extLst>
                    <a:ext uri="{FF2B5EF4-FFF2-40B4-BE49-F238E27FC236}">
                      <a16:creationId xmlns:a16="http://schemas.microsoft.com/office/drawing/2014/main" id="{B050891C-8045-4450-30B2-17D8707BEDC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68" name="Graphique 167" descr="Utilisateur avec un remplissage uni">
                  <a:extLst>
                    <a:ext uri="{FF2B5EF4-FFF2-40B4-BE49-F238E27FC236}">
                      <a16:creationId xmlns:a16="http://schemas.microsoft.com/office/drawing/2014/main" id="{287E5492-B945-B226-9D94-B986737C656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69" name="Graphique 168" descr="Utilisateur avec un remplissage uni">
                  <a:extLst>
                    <a:ext uri="{FF2B5EF4-FFF2-40B4-BE49-F238E27FC236}">
                      <a16:creationId xmlns:a16="http://schemas.microsoft.com/office/drawing/2014/main" id="{6D6333E7-1240-CCED-EE9B-2DA85C38F0C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70" name="Graphique 169" descr="Utilisateur avec un remplissage uni">
                  <a:extLst>
                    <a:ext uri="{FF2B5EF4-FFF2-40B4-BE49-F238E27FC236}">
                      <a16:creationId xmlns:a16="http://schemas.microsoft.com/office/drawing/2014/main" id="{D37F7303-B51D-C55A-9C45-ACBF7FF974F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71" name="Graphique 170" descr="Utilisateur avec un remplissage uni">
                  <a:extLst>
                    <a:ext uri="{FF2B5EF4-FFF2-40B4-BE49-F238E27FC236}">
                      <a16:creationId xmlns:a16="http://schemas.microsoft.com/office/drawing/2014/main" id="{6C9E8642-D991-2AE2-3CAE-BA471A39BA6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72" name="Graphique 171" descr="Utilisateur avec un remplissage uni">
                  <a:extLst>
                    <a:ext uri="{FF2B5EF4-FFF2-40B4-BE49-F238E27FC236}">
                      <a16:creationId xmlns:a16="http://schemas.microsoft.com/office/drawing/2014/main" id="{CF8B3F70-949E-789D-03D6-C84BFD6EBB9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73" name="Graphique 172" descr="Utilisateur avec un remplissage uni">
                  <a:extLst>
                    <a:ext uri="{FF2B5EF4-FFF2-40B4-BE49-F238E27FC236}">
                      <a16:creationId xmlns:a16="http://schemas.microsoft.com/office/drawing/2014/main" id="{D8056C49-8486-7068-D54E-311C3D97B0C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62" name="Graphique 161" descr="Boîte à archives avec un remplissage uni">
                <a:extLst>
                  <a:ext uri="{FF2B5EF4-FFF2-40B4-BE49-F238E27FC236}">
                    <a16:creationId xmlns:a16="http://schemas.microsoft.com/office/drawing/2014/main" id="{92DB3A34-957B-01C3-3CAA-6DD6045CAA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60" name="Graphique 159" descr="Verrou avec un remplissage uni">
              <a:extLst>
                <a:ext uri="{FF2B5EF4-FFF2-40B4-BE49-F238E27FC236}">
                  <a16:creationId xmlns:a16="http://schemas.microsoft.com/office/drawing/2014/main" id="{CFE2D4FF-C8FB-8EF2-887C-0ABBEE0A2E6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293077" y="4964291"/>
              <a:ext cx="743725" cy="743725"/>
            </a:xfrm>
            <a:prstGeom prst="rect">
              <a:avLst/>
            </a:prstGeom>
          </p:spPr>
        </p:pic>
      </p:grpSp>
      <p:grpSp>
        <p:nvGrpSpPr>
          <p:cNvPr id="174" name="Groupe 173">
            <a:extLst>
              <a:ext uri="{FF2B5EF4-FFF2-40B4-BE49-F238E27FC236}">
                <a16:creationId xmlns:a16="http://schemas.microsoft.com/office/drawing/2014/main" id="{15213990-315C-8E1E-5478-A08D0EFF1AB0}"/>
              </a:ext>
            </a:extLst>
          </p:cNvPr>
          <p:cNvGrpSpPr/>
          <p:nvPr/>
        </p:nvGrpSpPr>
        <p:grpSpPr>
          <a:xfrm>
            <a:off x="1007610" y="6145797"/>
            <a:ext cx="1123328" cy="541981"/>
            <a:chOff x="1804205" y="5917781"/>
            <a:chExt cx="1337840" cy="645478"/>
          </a:xfrm>
        </p:grpSpPr>
        <p:grpSp>
          <p:nvGrpSpPr>
            <p:cNvPr id="175" name="Groupe 174">
              <a:extLst>
                <a:ext uri="{FF2B5EF4-FFF2-40B4-BE49-F238E27FC236}">
                  <a16:creationId xmlns:a16="http://schemas.microsoft.com/office/drawing/2014/main" id="{E2CCD889-6624-E8F1-01DB-FB866D91E4FC}"/>
                </a:ext>
              </a:extLst>
            </p:cNvPr>
            <p:cNvGrpSpPr/>
            <p:nvPr/>
          </p:nvGrpSpPr>
          <p:grpSpPr>
            <a:xfrm>
              <a:off x="1804205" y="5917781"/>
              <a:ext cx="1314902" cy="645478"/>
              <a:chOff x="1797480" y="1339838"/>
              <a:chExt cx="2588405" cy="1270634"/>
            </a:xfrm>
          </p:grpSpPr>
          <p:grpSp>
            <p:nvGrpSpPr>
              <p:cNvPr id="177" name="Groupe 176">
                <a:extLst>
                  <a:ext uri="{FF2B5EF4-FFF2-40B4-BE49-F238E27FC236}">
                    <a16:creationId xmlns:a16="http://schemas.microsoft.com/office/drawing/2014/main" id="{04982C7C-EEBE-2A25-AAFC-4ED49CA05702}"/>
                  </a:ext>
                </a:extLst>
              </p:cNvPr>
              <p:cNvGrpSpPr/>
              <p:nvPr/>
            </p:nvGrpSpPr>
            <p:grpSpPr>
              <a:xfrm>
                <a:off x="1797480" y="1339838"/>
                <a:ext cx="1507135" cy="1270634"/>
                <a:chOff x="8982504" y="3274976"/>
                <a:chExt cx="1230670" cy="1037553"/>
              </a:xfrm>
              <a:solidFill>
                <a:srgbClr val="ED7D31"/>
              </a:solidFill>
            </p:grpSpPr>
            <p:pic>
              <p:nvPicPr>
                <p:cNvPr id="179" name="Graphique 178" descr="Utilisateur avec un remplissage uni">
                  <a:extLst>
                    <a:ext uri="{FF2B5EF4-FFF2-40B4-BE49-F238E27FC236}">
                      <a16:creationId xmlns:a16="http://schemas.microsoft.com/office/drawing/2014/main" id="{7A439E10-862B-0926-D99B-129A7A819FA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80" name="Graphique 179" descr="Utilisateur avec un remplissage uni">
                  <a:extLst>
                    <a:ext uri="{FF2B5EF4-FFF2-40B4-BE49-F238E27FC236}">
                      <a16:creationId xmlns:a16="http://schemas.microsoft.com/office/drawing/2014/main" id="{B3B6C31B-8F31-1C7B-8A6F-D74DE673E1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81" name="Graphique 180" descr="Utilisateur avec un remplissage uni">
                  <a:extLst>
                    <a:ext uri="{FF2B5EF4-FFF2-40B4-BE49-F238E27FC236}">
                      <a16:creationId xmlns:a16="http://schemas.microsoft.com/office/drawing/2014/main" id="{6D328606-24DE-5A14-BB98-C0654CBB856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82" name="Graphique 181" descr="Utilisateur avec un remplissage uni">
                  <a:extLst>
                    <a:ext uri="{FF2B5EF4-FFF2-40B4-BE49-F238E27FC236}">
                      <a16:creationId xmlns:a16="http://schemas.microsoft.com/office/drawing/2014/main" id="{19D019E2-A755-3D57-5D52-3E2A3BBCD38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83" name="Graphique 182" descr="Utilisateur avec un remplissage uni">
                  <a:extLst>
                    <a:ext uri="{FF2B5EF4-FFF2-40B4-BE49-F238E27FC236}">
                      <a16:creationId xmlns:a16="http://schemas.microsoft.com/office/drawing/2014/main" id="{65BD2B74-2AA3-56F8-35A8-5F9FF010B07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84" name="Graphique 183" descr="Utilisateur avec un remplissage uni">
                  <a:extLst>
                    <a:ext uri="{FF2B5EF4-FFF2-40B4-BE49-F238E27FC236}">
                      <a16:creationId xmlns:a16="http://schemas.microsoft.com/office/drawing/2014/main" id="{1EA59C5A-50FE-CA9E-CBB0-52BFCBF88A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85" name="Graphique 184" descr="Utilisateur avec un remplissage uni">
                  <a:extLst>
                    <a:ext uri="{FF2B5EF4-FFF2-40B4-BE49-F238E27FC236}">
                      <a16:creationId xmlns:a16="http://schemas.microsoft.com/office/drawing/2014/main" id="{2F6409A6-16A2-4FD8-00DE-5390368CC2D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86" name="Graphique 185" descr="Utilisateur avec un remplissage uni">
                  <a:extLst>
                    <a:ext uri="{FF2B5EF4-FFF2-40B4-BE49-F238E27FC236}">
                      <a16:creationId xmlns:a16="http://schemas.microsoft.com/office/drawing/2014/main" id="{BEBCE3C3-0784-10EE-5495-2404AD5F5DE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87" name="Graphique 186" descr="Utilisateur avec un remplissage uni">
                  <a:extLst>
                    <a:ext uri="{FF2B5EF4-FFF2-40B4-BE49-F238E27FC236}">
                      <a16:creationId xmlns:a16="http://schemas.microsoft.com/office/drawing/2014/main" id="{8219943F-F59B-9F27-6937-CDF79968DD3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88" name="Graphique 187" descr="Utilisateur avec un remplissage uni">
                  <a:extLst>
                    <a:ext uri="{FF2B5EF4-FFF2-40B4-BE49-F238E27FC236}">
                      <a16:creationId xmlns:a16="http://schemas.microsoft.com/office/drawing/2014/main" id="{8034E019-FC31-3F60-9ED5-A33BC012B0A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89" name="Graphique 188" descr="Utilisateur avec un remplissage uni">
                  <a:extLst>
                    <a:ext uri="{FF2B5EF4-FFF2-40B4-BE49-F238E27FC236}">
                      <a16:creationId xmlns:a16="http://schemas.microsoft.com/office/drawing/2014/main" id="{4B4E9721-81F3-FAB5-5A8B-19A370B4076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78" name="Graphique 177" descr="Boîte à archives avec un remplissage uni">
                <a:extLst>
                  <a:ext uri="{FF2B5EF4-FFF2-40B4-BE49-F238E27FC236}">
                    <a16:creationId xmlns:a16="http://schemas.microsoft.com/office/drawing/2014/main" id="{46FF9A12-3CE1-36B8-907E-CB95AD6129F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76" name="Graphique 175" descr="Fermer avec un remplissage uni">
              <a:extLst>
                <a:ext uri="{FF2B5EF4-FFF2-40B4-BE49-F238E27FC236}">
                  <a16:creationId xmlns:a16="http://schemas.microsoft.com/office/drawing/2014/main" id="{3CB870FA-38CE-E1BF-BB0E-C055676D681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668633" y="5995180"/>
              <a:ext cx="473412" cy="473412"/>
            </a:xfrm>
            <a:prstGeom prst="rect">
              <a:avLst/>
            </a:prstGeom>
          </p:spPr>
        </p:pic>
      </p:grpSp>
      <p:grpSp>
        <p:nvGrpSpPr>
          <p:cNvPr id="190" name="Groupe 189">
            <a:extLst>
              <a:ext uri="{FF2B5EF4-FFF2-40B4-BE49-F238E27FC236}">
                <a16:creationId xmlns:a16="http://schemas.microsoft.com/office/drawing/2014/main" id="{E2DFE3DC-5000-74DF-481B-B04A2AA7171E}"/>
              </a:ext>
            </a:extLst>
          </p:cNvPr>
          <p:cNvGrpSpPr/>
          <p:nvPr/>
        </p:nvGrpSpPr>
        <p:grpSpPr>
          <a:xfrm>
            <a:off x="1013177" y="4705472"/>
            <a:ext cx="1104068" cy="541981"/>
            <a:chOff x="1775004" y="5236420"/>
            <a:chExt cx="1104068" cy="541981"/>
          </a:xfrm>
        </p:grpSpPr>
        <p:grpSp>
          <p:nvGrpSpPr>
            <p:cNvPr id="191" name="Groupe 190">
              <a:extLst>
                <a:ext uri="{FF2B5EF4-FFF2-40B4-BE49-F238E27FC236}">
                  <a16:creationId xmlns:a16="http://schemas.microsoft.com/office/drawing/2014/main" id="{536F50DF-7F12-FA6A-2298-74E7496B68C0}"/>
                </a:ext>
              </a:extLst>
            </p:cNvPr>
            <p:cNvGrpSpPr/>
            <p:nvPr/>
          </p:nvGrpSpPr>
          <p:grpSpPr>
            <a:xfrm>
              <a:off x="1775004" y="5236420"/>
              <a:ext cx="1104068" cy="541981"/>
              <a:chOff x="1797480" y="1339838"/>
              <a:chExt cx="2588405" cy="1270634"/>
            </a:xfrm>
          </p:grpSpPr>
          <p:grpSp>
            <p:nvGrpSpPr>
              <p:cNvPr id="193" name="Groupe 192">
                <a:extLst>
                  <a:ext uri="{FF2B5EF4-FFF2-40B4-BE49-F238E27FC236}">
                    <a16:creationId xmlns:a16="http://schemas.microsoft.com/office/drawing/2014/main" id="{70913C03-9C56-C18E-36DB-DA2213BB9F7D}"/>
                  </a:ext>
                </a:extLst>
              </p:cNvPr>
              <p:cNvGrpSpPr/>
              <p:nvPr/>
            </p:nvGrpSpPr>
            <p:grpSpPr>
              <a:xfrm>
                <a:off x="1797480" y="1339838"/>
                <a:ext cx="1507135" cy="1270634"/>
                <a:chOff x="8982504" y="3274976"/>
                <a:chExt cx="1230670" cy="1037553"/>
              </a:xfrm>
              <a:solidFill>
                <a:srgbClr val="ED7D31"/>
              </a:solidFill>
            </p:grpSpPr>
            <p:pic>
              <p:nvPicPr>
                <p:cNvPr id="195" name="Graphique 194" descr="Utilisateur avec un remplissage uni">
                  <a:extLst>
                    <a:ext uri="{FF2B5EF4-FFF2-40B4-BE49-F238E27FC236}">
                      <a16:creationId xmlns:a16="http://schemas.microsoft.com/office/drawing/2014/main" id="{1A792F5F-DECB-AE8D-B393-B1CF7256912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96" name="Graphique 195" descr="Utilisateur avec un remplissage uni">
                  <a:extLst>
                    <a:ext uri="{FF2B5EF4-FFF2-40B4-BE49-F238E27FC236}">
                      <a16:creationId xmlns:a16="http://schemas.microsoft.com/office/drawing/2014/main" id="{4E51F12E-307F-D985-9D55-0699BB2F695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97" name="Graphique 196" descr="Utilisateur avec un remplissage uni">
                  <a:extLst>
                    <a:ext uri="{FF2B5EF4-FFF2-40B4-BE49-F238E27FC236}">
                      <a16:creationId xmlns:a16="http://schemas.microsoft.com/office/drawing/2014/main" id="{33B8A215-E1DE-3323-DA8B-66906C85C88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98" name="Graphique 197" descr="Utilisateur avec un remplissage uni">
                  <a:extLst>
                    <a:ext uri="{FF2B5EF4-FFF2-40B4-BE49-F238E27FC236}">
                      <a16:creationId xmlns:a16="http://schemas.microsoft.com/office/drawing/2014/main" id="{2BF73653-DE82-7057-BBA8-983902A93EF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99" name="Graphique 198" descr="Utilisateur avec un remplissage uni">
                  <a:extLst>
                    <a:ext uri="{FF2B5EF4-FFF2-40B4-BE49-F238E27FC236}">
                      <a16:creationId xmlns:a16="http://schemas.microsoft.com/office/drawing/2014/main" id="{A3DC5F0F-09FF-BF17-851B-A4A7A7BED2D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200" name="Graphique 199" descr="Utilisateur avec un remplissage uni">
                  <a:extLst>
                    <a:ext uri="{FF2B5EF4-FFF2-40B4-BE49-F238E27FC236}">
                      <a16:creationId xmlns:a16="http://schemas.microsoft.com/office/drawing/2014/main" id="{5E6112EC-DB61-02E4-02B0-6C87ACAAC3C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201" name="Graphique 200" descr="Utilisateur avec un remplissage uni">
                  <a:extLst>
                    <a:ext uri="{FF2B5EF4-FFF2-40B4-BE49-F238E27FC236}">
                      <a16:creationId xmlns:a16="http://schemas.microsoft.com/office/drawing/2014/main" id="{F3F6226F-C40A-62CD-35FD-E452CD4CB80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202" name="Graphique 201" descr="Utilisateur avec un remplissage uni">
                  <a:extLst>
                    <a:ext uri="{FF2B5EF4-FFF2-40B4-BE49-F238E27FC236}">
                      <a16:creationId xmlns:a16="http://schemas.microsoft.com/office/drawing/2014/main" id="{B5296262-E48F-E412-D648-6AE34ED41D2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203" name="Graphique 202" descr="Utilisateur avec un remplissage uni">
                  <a:extLst>
                    <a:ext uri="{FF2B5EF4-FFF2-40B4-BE49-F238E27FC236}">
                      <a16:creationId xmlns:a16="http://schemas.microsoft.com/office/drawing/2014/main" id="{6988945F-F904-7794-36B2-899233184CB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204" name="Graphique 203" descr="Utilisateur avec un remplissage uni">
                  <a:extLst>
                    <a:ext uri="{FF2B5EF4-FFF2-40B4-BE49-F238E27FC236}">
                      <a16:creationId xmlns:a16="http://schemas.microsoft.com/office/drawing/2014/main" id="{6DED6733-3FF8-B4B5-7339-BE485715841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205" name="Graphique 204" descr="Utilisateur avec un remplissage uni">
                  <a:extLst>
                    <a:ext uri="{FF2B5EF4-FFF2-40B4-BE49-F238E27FC236}">
                      <a16:creationId xmlns:a16="http://schemas.microsoft.com/office/drawing/2014/main" id="{334682CC-BE6A-91C0-C58C-5DD66C66F13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94" name="Graphique 193" descr="Boîte à archives avec un remplissage uni">
                <a:extLst>
                  <a:ext uri="{FF2B5EF4-FFF2-40B4-BE49-F238E27FC236}">
                    <a16:creationId xmlns:a16="http://schemas.microsoft.com/office/drawing/2014/main" id="{14A62B46-EE3B-CE31-7BF8-B90685F7B1D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92" name="Graphique 191" descr="Point d’interrogation avec un remplissage uni">
              <a:extLst>
                <a:ext uri="{FF2B5EF4-FFF2-40B4-BE49-F238E27FC236}">
                  <a16:creationId xmlns:a16="http://schemas.microsoft.com/office/drawing/2014/main" id="{07E65EEB-783B-5FBF-AA0F-14DD8811E06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537302" y="5319965"/>
              <a:ext cx="332767" cy="332767"/>
            </a:xfrm>
            <a:prstGeom prst="rect">
              <a:avLst/>
            </a:prstGeom>
          </p:spPr>
        </p:pic>
      </p:grpSp>
      <p:sp>
        <p:nvSpPr>
          <p:cNvPr id="237" name="Espace réservé du contenu 2">
            <a:extLst>
              <a:ext uri="{FF2B5EF4-FFF2-40B4-BE49-F238E27FC236}">
                <a16:creationId xmlns:a16="http://schemas.microsoft.com/office/drawing/2014/main" id="{44C1547B-693F-F337-93E6-4A05250F93B6}"/>
              </a:ext>
            </a:extLst>
          </p:cNvPr>
          <p:cNvSpPr>
            <a:spLocks noGrp="1"/>
          </p:cNvSpPr>
          <p:nvPr>
            <p:ph idx="1"/>
          </p:nvPr>
        </p:nvSpPr>
        <p:spPr>
          <a:xfrm>
            <a:off x="-16218" y="6167171"/>
            <a:ext cx="901401" cy="691911"/>
          </a:xfrm>
        </p:spPr>
        <p:txBody>
          <a:bodyPr>
            <a:normAutofit/>
          </a:bodyPr>
          <a:lstStyle/>
          <a:p>
            <a:pPr marL="0" indent="0">
              <a:buNone/>
            </a:pPr>
            <a:r>
              <a:rPr lang="fr-FR" sz="800" dirty="0"/>
              <a:t>Pas intéressant a priori pour une mise en commun la Communauté</a:t>
            </a:r>
          </a:p>
        </p:txBody>
      </p:sp>
      <p:sp>
        <p:nvSpPr>
          <p:cNvPr id="239" name="ZoneTexte 238">
            <a:extLst>
              <a:ext uri="{FF2B5EF4-FFF2-40B4-BE49-F238E27FC236}">
                <a16:creationId xmlns:a16="http://schemas.microsoft.com/office/drawing/2014/main" id="{9C352F48-4DEF-67B5-8C6C-75A8BDD57B23}"/>
              </a:ext>
            </a:extLst>
          </p:cNvPr>
          <p:cNvSpPr txBox="1"/>
          <p:nvPr/>
        </p:nvSpPr>
        <p:spPr>
          <a:xfrm>
            <a:off x="4396" y="1152544"/>
            <a:ext cx="847118" cy="584775"/>
          </a:xfrm>
          <a:prstGeom prst="rect">
            <a:avLst/>
          </a:prstGeom>
          <a:noFill/>
        </p:spPr>
        <p:txBody>
          <a:bodyPr wrap="square">
            <a:spAutoFit/>
          </a:bodyPr>
          <a:lstStyle/>
          <a:p>
            <a:r>
              <a:rPr lang="fr-FR" sz="800" dirty="0"/>
              <a:t>Intéressant et déjà mis en commun dans la Communauté</a:t>
            </a:r>
          </a:p>
        </p:txBody>
      </p:sp>
      <p:sp>
        <p:nvSpPr>
          <p:cNvPr id="241" name="ZoneTexte 240">
            <a:extLst>
              <a:ext uri="{FF2B5EF4-FFF2-40B4-BE49-F238E27FC236}">
                <a16:creationId xmlns:a16="http://schemas.microsoft.com/office/drawing/2014/main" id="{8FE25871-645B-8579-8BC0-869918B99486}"/>
              </a:ext>
            </a:extLst>
          </p:cNvPr>
          <p:cNvSpPr txBox="1"/>
          <p:nvPr/>
        </p:nvSpPr>
        <p:spPr>
          <a:xfrm>
            <a:off x="7944" y="1767083"/>
            <a:ext cx="912509" cy="707886"/>
          </a:xfrm>
          <a:prstGeom prst="rect">
            <a:avLst/>
          </a:prstGeom>
          <a:noFill/>
        </p:spPr>
        <p:txBody>
          <a:bodyPr wrap="square">
            <a:spAutoFit/>
          </a:bodyPr>
          <a:lstStyle/>
          <a:p>
            <a:r>
              <a:rPr lang="fr-FR" sz="800" dirty="0"/>
              <a:t>Intéressant, accessible par la Communauté mais pas (encore) mis en commun</a:t>
            </a:r>
          </a:p>
        </p:txBody>
      </p:sp>
      <p:sp>
        <p:nvSpPr>
          <p:cNvPr id="243" name="ZoneTexte 242">
            <a:extLst>
              <a:ext uri="{FF2B5EF4-FFF2-40B4-BE49-F238E27FC236}">
                <a16:creationId xmlns:a16="http://schemas.microsoft.com/office/drawing/2014/main" id="{3EDCD8E2-F088-1B7E-1EB0-2D07DA5B2813}"/>
              </a:ext>
            </a:extLst>
          </p:cNvPr>
          <p:cNvSpPr txBox="1"/>
          <p:nvPr/>
        </p:nvSpPr>
        <p:spPr>
          <a:xfrm>
            <a:off x="-2929" y="2511054"/>
            <a:ext cx="1109944" cy="830997"/>
          </a:xfrm>
          <a:prstGeom prst="rect">
            <a:avLst/>
          </a:prstGeom>
          <a:noFill/>
        </p:spPr>
        <p:txBody>
          <a:bodyPr wrap="square">
            <a:spAutoFit/>
          </a:bodyPr>
          <a:lstStyle/>
          <a:p>
            <a:r>
              <a:rPr lang="fr-FR" sz="800" dirty="0"/>
              <a:t>Intéressant, manquant et plus facilement accessible en tant que Communauté (vs en individus)</a:t>
            </a:r>
          </a:p>
        </p:txBody>
      </p:sp>
      <p:sp>
        <p:nvSpPr>
          <p:cNvPr id="245" name="ZoneTexte 244">
            <a:extLst>
              <a:ext uri="{FF2B5EF4-FFF2-40B4-BE49-F238E27FC236}">
                <a16:creationId xmlns:a16="http://schemas.microsoft.com/office/drawing/2014/main" id="{7579BFDE-954F-BBAB-F2BA-44B841B0B6CC}"/>
              </a:ext>
            </a:extLst>
          </p:cNvPr>
          <p:cNvSpPr txBox="1"/>
          <p:nvPr/>
        </p:nvSpPr>
        <p:spPr>
          <a:xfrm>
            <a:off x="-1939" y="3353231"/>
            <a:ext cx="1156579" cy="584775"/>
          </a:xfrm>
          <a:prstGeom prst="rect">
            <a:avLst/>
          </a:prstGeom>
          <a:noFill/>
        </p:spPr>
        <p:txBody>
          <a:bodyPr wrap="square">
            <a:spAutoFit/>
          </a:bodyPr>
          <a:lstStyle/>
          <a:p>
            <a:r>
              <a:rPr lang="fr-FR" sz="800" dirty="0"/>
              <a:t>Intéressant, manquant et potentiellement accessible, difficulté d’accès inconnue</a:t>
            </a:r>
          </a:p>
        </p:txBody>
      </p:sp>
      <p:sp>
        <p:nvSpPr>
          <p:cNvPr id="247" name="ZoneTexte 246">
            <a:extLst>
              <a:ext uri="{FF2B5EF4-FFF2-40B4-BE49-F238E27FC236}">
                <a16:creationId xmlns:a16="http://schemas.microsoft.com/office/drawing/2014/main" id="{60ED9165-D930-6C61-DE1F-2DD9D2F8A871}"/>
              </a:ext>
            </a:extLst>
          </p:cNvPr>
          <p:cNvSpPr txBox="1"/>
          <p:nvPr/>
        </p:nvSpPr>
        <p:spPr>
          <a:xfrm>
            <a:off x="-24473" y="3996508"/>
            <a:ext cx="1147993" cy="584775"/>
          </a:xfrm>
          <a:prstGeom prst="rect">
            <a:avLst/>
          </a:prstGeom>
          <a:noFill/>
        </p:spPr>
        <p:txBody>
          <a:bodyPr wrap="square">
            <a:spAutoFit/>
          </a:bodyPr>
          <a:lstStyle/>
          <a:p>
            <a:r>
              <a:rPr lang="fr-FR" sz="800" dirty="0"/>
              <a:t>Intéressant, manquant et difficilement accessible, même en tant que Communauté</a:t>
            </a:r>
          </a:p>
        </p:txBody>
      </p:sp>
      <p:sp>
        <p:nvSpPr>
          <p:cNvPr id="249" name="ZoneTexte 248">
            <a:extLst>
              <a:ext uri="{FF2B5EF4-FFF2-40B4-BE49-F238E27FC236}">
                <a16:creationId xmlns:a16="http://schemas.microsoft.com/office/drawing/2014/main" id="{E66E1407-4585-DDE0-5F8E-A867015AB977}"/>
              </a:ext>
            </a:extLst>
          </p:cNvPr>
          <p:cNvSpPr txBox="1"/>
          <p:nvPr/>
        </p:nvSpPr>
        <p:spPr>
          <a:xfrm>
            <a:off x="-48029" y="4749645"/>
            <a:ext cx="1063951" cy="461665"/>
          </a:xfrm>
          <a:prstGeom prst="rect">
            <a:avLst/>
          </a:prstGeom>
          <a:noFill/>
        </p:spPr>
        <p:txBody>
          <a:bodyPr wrap="square">
            <a:spAutoFit/>
          </a:bodyPr>
          <a:lstStyle/>
          <a:p>
            <a:r>
              <a:rPr lang="fr-FR" sz="800" dirty="0"/>
              <a:t>Intérêt inconnu pour la Communauté, manquant</a:t>
            </a:r>
          </a:p>
        </p:txBody>
      </p:sp>
      <p:grpSp>
        <p:nvGrpSpPr>
          <p:cNvPr id="238" name="Groupe 237">
            <a:extLst>
              <a:ext uri="{FF2B5EF4-FFF2-40B4-BE49-F238E27FC236}">
                <a16:creationId xmlns:a16="http://schemas.microsoft.com/office/drawing/2014/main" id="{AD636271-10E4-C2A3-E209-C8C21DE31ABA}"/>
              </a:ext>
            </a:extLst>
          </p:cNvPr>
          <p:cNvGrpSpPr/>
          <p:nvPr/>
        </p:nvGrpSpPr>
        <p:grpSpPr>
          <a:xfrm>
            <a:off x="2493066" y="5375712"/>
            <a:ext cx="9598525" cy="695076"/>
            <a:chOff x="363244" y="1304631"/>
            <a:chExt cx="11603415" cy="840262"/>
          </a:xfrm>
        </p:grpSpPr>
        <p:grpSp>
          <p:nvGrpSpPr>
            <p:cNvPr id="240" name="Groupe 239">
              <a:extLst>
                <a:ext uri="{FF2B5EF4-FFF2-40B4-BE49-F238E27FC236}">
                  <a16:creationId xmlns:a16="http://schemas.microsoft.com/office/drawing/2014/main" id="{367F7E51-9450-3400-B6B4-4676F5F1C539}"/>
                </a:ext>
              </a:extLst>
            </p:cNvPr>
            <p:cNvGrpSpPr/>
            <p:nvPr/>
          </p:nvGrpSpPr>
          <p:grpSpPr>
            <a:xfrm>
              <a:off x="2776447" y="1327063"/>
              <a:ext cx="1274604" cy="803509"/>
              <a:chOff x="6804504" y="2072289"/>
              <a:chExt cx="1274604" cy="803509"/>
            </a:xfrm>
          </p:grpSpPr>
          <p:sp>
            <p:nvSpPr>
              <p:cNvPr id="273" name="ZoneTexte 272">
                <a:extLst>
                  <a:ext uri="{FF2B5EF4-FFF2-40B4-BE49-F238E27FC236}">
                    <a16:creationId xmlns:a16="http://schemas.microsoft.com/office/drawing/2014/main" id="{2E733B68-006B-6CFC-A206-E03AB41EDC9F}"/>
                  </a:ext>
                </a:extLst>
              </p:cNvPr>
              <p:cNvSpPr txBox="1"/>
              <p:nvPr/>
            </p:nvSpPr>
            <p:spPr>
              <a:xfrm>
                <a:off x="6804504" y="2603019"/>
                <a:ext cx="1274604" cy="272779"/>
              </a:xfrm>
              <a:prstGeom prst="rect">
                <a:avLst/>
              </a:prstGeom>
              <a:noFill/>
            </p:spPr>
            <p:txBody>
              <a:bodyPr wrap="square">
                <a:spAutoFit/>
              </a:bodyPr>
              <a:lstStyle/>
              <a:p>
                <a:pPr algn="ctr"/>
                <a:r>
                  <a:rPr lang="fr-FR" sz="900" dirty="0"/>
                  <a:t>Outils</a:t>
                </a:r>
              </a:p>
            </p:txBody>
          </p:sp>
          <p:pic>
            <p:nvPicPr>
              <p:cNvPr id="274" name="Graphique 273" descr="Chat avec un remplissage uni">
                <a:extLst>
                  <a:ext uri="{FF2B5EF4-FFF2-40B4-BE49-F238E27FC236}">
                    <a16:creationId xmlns:a16="http://schemas.microsoft.com/office/drawing/2014/main" id="{6D5E2E4C-1B49-3C08-805A-0ED3385AB980}"/>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7213206" y="2072289"/>
                <a:ext cx="457200" cy="457200"/>
              </a:xfrm>
              <a:prstGeom prst="rect">
                <a:avLst/>
              </a:prstGeom>
            </p:spPr>
          </p:pic>
        </p:grpSp>
        <p:grpSp>
          <p:nvGrpSpPr>
            <p:cNvPr id="242" name="Groupe 241">
              <a:extLst>
                <a:ext uri="{FF2B5EF4-FFF2-40B4-BE49-F238E27FC236}">
                  <a16:creationId xmlns:a16="http://schemas.microsoft.com/office/drawing/2014/main" id="{35690C9E-3C29-9B11-883C-89205F606181}"/>
                </a:ext>
              </a:extLst>
            </p:cNvPr>
            <p:cNvGrpSpPr/>
            <p:nvPr/>
          </p:nvGrpSpPr>
          <p:grpSpPr>
            <a:xfrm>
              <a:off x="5213379" y="1327063"/>
              <a:ext cx="1032426" cy="803509"/>
              <a:chOff x="5551821" y="2072289"/>
              <a:chExt cx="1032426" cy="803509"/>
            </a:xfrm>
          </p:grpSpPr>
          <p:sp>
            <p:nvSpPr>
              <p:cNvPr id="271" name="ZoneTexte 270">
                <a:extLst>
                  <a:ext uri="{FF2B5EF4-FFF2-40B4-BE49-F238E27FC236}">
                    <a16:creationId xmlns:a16="http://schemas.microsoft.com/office/drawing/2014/main" id="{1DD9D306-B948-E164-7819-5FCA5093B711}"/>
                  </a:ext>
                </a:extLst>
              </p:cNvPr>
              <p:cNvSpPr txBox="1"/>
              <p:nvPr/>
            </p:nvSpPr>
            <p:spPr>
              <a:xfrm>
                <a:off x="5551821" y="2603019"/>
                <a:ext cx="1032426" cy="272779"/>
              </a:xfrm>
              <a:prstGeom prst="rect">
                <a:avLst/>
              </a:prstGeom>
              <a:noFill/>
            </p:spPr>
            <p:txBody>
              <a:bodyPr wrap="square">
                <a:spAutoFit/>
              </a:bodyPr>
              <a:lstStyle/>
              <a:p>
                <a:pPr algn="ctr"/>
                <a:r>
                  <a:rPr lang="fr-FR" sz="900" dirty="0"/>
                  <a:t>Disponibilité</a:t>
                </a:r>
              </a:p>
            </p:txBody>
          </p:sp>
          <p:pic>
            <p:nvPicPr>
              <p:cNvPr id="272" name="Graphique 271" descr="Sablier 60% avec un remplissage uni">
                <a:extLst>
                  <a:ext uri="{FF2B5EF4-FFF2-40B4-BE49-F238E27FC236}">
                    <a16:creationId xmlns:a16="http://schemas.microsoft.com/office/drawing/2014/main" id="{B34F6221-9CCF-A33C-9480-C3AD0D135AB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847251" y="2072289"/>
                <a:ext cx="457200" cy="457200"/>
              </a:xfrm>
              <a:prstGeom prst="rect">
                <a:avLst/>
              </a:prstGeom>
            </p:spPr>
          </p:pic>
        </p:grpSp>
        <p:grpSp>
          <p:nvGrpSpPr>
            <p:cNvPr id="244" name="Groupe 243">
              <a:extLst>
                <a:ext uri="{FF2B5EF4-FFF2-40B4-BE49-F238E27FC236}">
                  <a16:creationId xmlns:a16="http://schemas.microsoft.com/office/drawing/2014/main" id="{848A497A-2205-3099-B925-C4E4F70F92CC}"/>
                </a:ext>
              </a:extLst>
            </p:cNvPr>
            <p:cNvGrpSpPr/>
            <p:nvPr/>
          </p:nvGrpSpPr>
          <p:grpSpPr>
            <a:xfrm>
              <a:off x="8728205" y="1319376"/>
              <a:ext cx="1032426" cy="803509"/>
              <a:chOff x="4204166" y="2072289"/>
              <a:chExt cx="1032426" cy="803509"/>
            </a:xfrm>
          </p:grpSpPr>
          <p:sp>
            <p:nvSpPr>
              <p:cNvPr id="269" name="ZoneTexte 268">
                <a:extLst>
                  <a:ext uri="{FF2B5EF4-FFF2-40B4-BE49-F238E27FC236}">
                    <a16:creationId xmlns:a16="http://schemas.microsoft.com/office/drawing/2014/main" id="{9890C381-1EC5-742E-DA51-815A71F9D03D}"/>
                  </a:ext>
                </a:extLst>
              </p:cNvPr>
              <p:cNvSpPr txBox="1"/>
              <p:nvPr/>
            </p:nvSpPr>
            <p:spPr>
              <a:xfrm>
                <a:off x="4204166" y="2603019"/>
                <a:ext cx="1032426" cy="272779"/>
              </a:xfrm>
              <a:prstGeom prst="rect">
                <a:avLst/>
              </a:prstGeom>
              <a:noFill/>
            </p:spPr>
            <p:txBody>
              <a:bodyPr wrap="square">
                <a:spAutoFit/>
              </a:bodyPr>
              <a:lstStyle/>
              <a:p>
                <a:pPr algn="ctr"/>
                <a:r>
                  <a:rPr lang="fr-FR" sz="900" dirty="0"/>
                  <a:t>Motivations</a:t>
                </a:r>
              </a:p>
            </p:txBody>
          </p:sp>
          <p:pic>
            <p:nvPicPr>
              <p:cNvPr id="270" name="Graphique 269" descr="Flèches de chevron avec un remplissage uni">
                <a:extLst>
                  <a:ext uri="{FF2B5EF4-FFF2-40B4-BE49-F238E27FC236}">
                    <a16:creationId xmlns:a16="http://schemas.microsoft.com/office/drawing/2014/main" id="{7093539A-7CDB-512A-CAB8-D5D20049C376}"/>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4491779" y="2072289"/>
                <a:ext cx="457200" cy="457200"/>
              </a:xfrm>
              <a:prstGeom prst="rect">
                <a:avLst/>
              </a:prstGeom>
            </p:spPr>
          </p:pic>
        </p:grpSp>
        <p:grpSp>
          <p:nvGrpSpPr>
            <p:cNvPr id="246" name="Groupe 245">
              <a:extLst>
                <a:ext uri="{FF2B5EF4-FFF2-40B4-BE49-F238E27FC236}">
                  <a16:creationId xmlns:a16="http://schemas.microsoft.com/office/drawing/2014/main" id="{2D1F3E7B-767F-56D8-1FDC-D1D5965A701B}"/>
                </a:ext>
              </a:extLst>
            </p:cNvPr>
            <p:cNvGrpSpPr/>
            <p:nvPr/>
          </p:nvGrpSpPr>
          <p:grpSpPr>
            <a:xfrm>
              <a:off x="6379681" y="1319376"/>
              <a:ext cx="1032426" cy="803509"/>
              <a:chOff x="2428298" y="2091339"/>
              <a:chExt cx="1032426" cy="803509"/>
            </a:xfrm>
          </p:grpSpPr>
          <p:sp>
            <p:nvSpPr>
              <p:cNvPr id="267" name="ZoneTexte 266">
                <a:extLst>
                  <a:ext uri="{FF2B5EF4-FFF2-40B4-BE49-F238E27FC236}">
                    <a16:creationId xmlns:a16="http://schemas.microsoft.com/office/drawing/2014/main" id="{FE2D0AD7-E841-9C0F-72CA-1E859B1AA5DF}"/>
                  </a:ext>
                </a:extLst>
              </p:cNvPr>
              <p:cNvSpPr txBox="1"/>
              <p:nvPr/>
            </p:nvSpPr>
            <p:spPr>
              <a:xfrm>
                <a:off x="2428298" y="2622069"/>
                <a:ext cx="1032426" cy="272779"/>
              </a:xfrm>
              <a:prstGeom prst="rect">
                <a:avLst/>
              </a:prstGeom>
              <a:noFill/>
            </p:spPr>
            <p:txBody>
              <a:bodyPr wrap="square">
                <a:spAutoFit/>
              </a:bodyPr>
              <a:lstStyle/>
              <a:p>
                <a:pPr algn="ctr"/>
                <a:r>
                  <a:rPr lang="fr-FR" sz="900" dirty="0"/>
                  <a:t>Compétences</a:t>
                </a:r>
              </a:p>
            </p:txBody>
          </p:sp>
          <p:pic>
            <p:nvPicPr>
              <p:cNvPr id="268" name="Graphique 267" descr="Tête avec engrenages avec un remplissage uni">
                <a:extLst>
                  <a:ext uri="{FF2B5EF4-FFF2-40B4-BE49-F238E27FC236}">
                    <a16:creationId xmlns:a16="http://schemas.microsoft.com/office/drawing/2014/main" id="{F359F596-7AE2-0C20-E23B-7217161B4C67}"/>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2732130" y="2091339"/>
                <a:ext cx="457200" cy="457200"/>
              </a:xfrm>
              <a:prstGeom prst="rect">
                <a:avLst/>
              </a:prstGeom>
            </p:spPr>
          </p:pic>
        </p:grpSp>
        <p:grpSp>
          <p:nvGrpSpPr>
            <p:cNvPr id="248" name="Groupe 247">
              <a:extLst>
                <a:ext uri="{FF2B5EF4-FFF2-40B4-BE49-F238E27FC236}">
                  <a16:creationId xmlns:a16="http://schemas.microsoft.com/office/drawing/2014/main" id="{9C646510-C606-5368-E69E-7FE9BFBCD3E6}"/>
                </a:ext>
              </a:extLst>
            </p:cNvPr>
            <p:cNvGrpSpPr/>
            <p:nvPr/>
          </p:nvGrpSpPr>
          <p:grpSpPr>
            <a:xfrm>
              <a:off x="1816849" y="1329133"/>
              <a:ext cx="754455" cy="803509"/>
              <a:chOff x="236639" y="2072289"/>
              <a:chExt cx="754455" cy="803509"/>
            </a:xfrm>
          </p:grpSpPr>
          <p:sp>
            <p:nvSpPr>
              <p:cNvPr id="265" name="ZoneTexte 264">
                <a:extLst>
                  <a:ext uri="{FF2B5EF4-FFF2-40B4-BE49-F238E27FC236}">
                    <a16:creationId xmlns:a16="http://schemas.microsoft.com/office/drawing/2014/main" id="{AC416C18-5047-EFB5-9673-5413EF139540}"/>
                  </a:ext>
                </a:extLst>
              </p:cNvPr>
              <p:cNvSpPr txBox="1"/>
              <p:nvPr/>
            </p:nvSpPr>
            <p:spPr>
              <a:xfrm>
                <a:off x="236639" y="2603019"/>
                <a:ext cx="754455" cy="272779"/>
              </a:xfrm>
              <a:prstGeom prst="rect">
                <a:avLst/>
              </a:prstGeom>
              <a:noFill/>
            </p:spPr>
            <p:txBody>
              <a:bodyPr wrap="square">
                <a:spAutoFit/>
              </a:bodyPr>
              <a:lstStyle/>
              <a:p>
                <a:pPr algn="ctr"/>
                <a:r>
                  <a:rPr lang="fr-FR" sz="900" dirty="0"/>
                  <a:t>Matériel</a:t>
                </a:r>
              </a:p>
            </p:txBody>
          </p:sp>
          <p:pic>
            <p:nvPicPr>
              <p:cNvPr id="266" name="Graphique 265" descr="Diable avec un remplissage uni">
                <a:extLst>
                  <a:ext uri="{FF2B5EF4-FFF2-40B4-BE49-F238E27FC236}">
                    <a16:creationId xmlns:a16="http://schemas.microsoft.com/office/drawing/2014/main" id="{C40EFC58-1DC2-7144-E220-4312B282A461}"/>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366612" y="2072289"/>
                <a:ext cx="457200" cy="457200"/>
              </a:xfrm>
              <a:prstGeom prst="rect">
                <a:avLst/>
              </a:prstGeom>
            </p:spPr>
          </p:pic>
        </p:grpSp>
        <p:grpSp>
          <p:nvGrpSpPr>
            <p:cNvPr id="250" name="Groupe 249">
              <a:extLst>
                <a:ext uri="{FF2B5EF4-FFF2-40B4-BE49-F238E27FC236}">
                  <a16:creationId xmlns:a16="http://schemas.microsoft.com/office/drawing/2014/main" id="{43BE3778-A066-7163-36FE-87081C2D90ED}"/>
                </a:ext>
              </a:extLst>
            </p:cNvPr>
            <p:cNvGrpSpPr/>
            <p:nvPr/>
          </p:nvGrpSpPr>
          <p:grpSpPr>
            <a:xfrm>
              <a:off x="7339961" y="1323986"/>
              <a:ext cx="1381765" cy="803509"/>
              <a:chOff x="1276816" y="2072289"/>
              <a:chExt cx="1381765" cy="803509"/>
            </a:xfrm>
          </p:grpSpPr>
          <p:sp>
            <p:nvSpPr>
              <p:cNvPr id="263" name="ZoneTexte 262">
                <a:extLst>
                  <a:ext uri="{FF2B5EF4-FFF2-40B4-BE49-F238E27FC236}">
                    <a16:creationId xmlns:a16="http://schemas.microsoft.com/office/drawing/2014/main" id="{85B1B433-A184-BEDF-BB68-CD91EEA657F7}"/>
                  </a:ext>
                </a:extLst>
              </p:cNvPr>
              <p:cNvSpPr txBox="1"/>
              <p:nvPr/>
            </p:nvSpPr>
            <p:spPr>
              <a:xfrm>
                <a:off x="1276816" y="2603019"/>
                <a:ext cx="1381765" cy="272779"/>
              </a:xfrm>
              <a:prstGeom prst="rect">
                <a:avLst/>
              </a:prstGeom>
              <a:noFill/>
            </p:spPr>
            <p:txBody>
              <a:bodyPr wrap="square">
                <a:spAutoFit/>
              </a:bodyPr>
              <a:lstStyle/>
              <a:p>
                <a:pPr algn="ctr"/>
                <a:r>
                  <a:rPr lang="fr-FR" sz="900" dirty="0"/>
                  <a:t>Informations clé</a:t>
                </a:r>
              </a:p>
            </p:txBody>
          </p:sp>
          <p:pic>
            <p:nvPicPr>
              <p:cNvPr id="264" name="Graphique 263" descr="Informations avec un remplissage uni">
                <a:extLst>
                  <a:ext uri="{FF2B5EF4-FFF2-40B4-BE49-F238E27FC236}">
                    <a16:creationId xmlns:a16="http://schemas.microsoft.com/office/drawing/2014/main" id="{9EA80B56-E633-1BF1-1F13-0043D9E5E201}"/>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1726018" y="2072289"/>
                <a:ext cx="478914" cy="478914"/>
              </a:xfrm>
              <a:prstGeom prst="rect">
                <a:avLst/>
              </a:prstGeom>
            </p:spPr>
          </p:pic>
        </p:grpSp>
        <p:grpSp>
          <p:nvGrpSpPr>
            <p:cNvPr id="251" name="Groupe 250">
              <a:extLst>
                <a:ext uri="{FF2B5EF4-FFF2-40B4-BE49-F238E27FC236}">
                  <a16:creationId xmlns:a16="http://schemas.microsoft.com/office/drawing/2014/main" id="{57112D31-ED9C-4872-3C96-4B6DFBB57430}"/>
                </a:ext>
              </a:extLst>
            </p:cNvPr>
            <p:cNvGrpSpPr/>
            <p:nvPr/>
          </p:nvGrpSpPr>
          <p:grpSpPr>
            <a:xfrm>
              <a:off x="363244" y="1341384"/>
              <a:ext cx="1274604" cy="803509"/>
              <a:chOff x="8215494" y="2072289"/>
              <a:chExt cx="1274604" cy="803509"/>
            </a:xfrm>
          </p:grpSpPr>
          <p:sp>
            <p:nvSpPr>
              <p:cNvPr id="261" name="ZoneTexte 260">
                <a:extLst>
                  <a:ext uri="{FF2B5EF4-FFF2-40B4-BE49-F238E27FC236}">
                    <a16:creationId xmlns:a16="http://schemas.microsoft.com/office/drawing/2014/main" id="{C30FB968-8D2A-990B-C088-A8F071D9A5EB}"/>
                  </a:ext>
                </a:extLst>
              </p:cNvPr>
              <p:cNvSpPr txBox="1"/>
              <p:nvPr/>
            </p:nvSpPr>
            <p:spPr>
              <a:xfrm>
                <a:off x="8215494" y="2603019"/>
                <a:ext cx="1274604" cy="272779"/>
              </a:xfrm>
              <a:prstGeom prst="rect">
                <a:avLst/>
              </a:prstGeom>
              <a:noFill/>
            </p:spPr>
            <p:txBody>
              <a:bodyPr wrap="square">
                <a:spAutoFit/>
              </a:bodyPr>
              <a:lstStyle/>
              <a:p>
                <a:pPr algn="ctr"/>
                <a:r>
                  <a:rPr lang="fr-FR" sz="900" dirty="0"/>
                  <a:t>Espaces et lieux</a:t>
                </a:r>
              </a:p>
            </p:txBody>
          </p:sp>
          <p:pic>
            <p:nvPicPr>
              <p:cNvPr id="262" name="Graphique 261" descr="Conseil d’administration avec un remplissage uni">
                <a:extLst>
                  <a:ext uri="{FF2B5EF4-FFF2-40B4-BE49-F238E27FC236}">
                    <a16:creationId xmlns:a16="http://schemas.microsoft.com/office/drawing/2014/main" id="{BD5BF51F-C56C-319D-06FA-5A053223CE31}"/>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8574409" y="2072289"/>
                <a:ext cx="556773" cy="556773"/>
              </a:xfrm>
              <a:prstGeom prst="rect">
                <a:avLst/>
              </a:prstGeom>
            </p:spPr>
          </p:pic>
        </p:grpSp>
        <p:grpSp>
          <p:nvGrpSpPr>
            <p:cNvPr id="252" name="Groupe 251">
              <a:extLst>
                <a:ext uri="{FF2B5EF4-FFF2-40B4-BE49-F238E27FC236}">
                  <a16:creationId xmlns:a16="http://schemas.microsoft.com/office/drawing/2014/main" id="{50AACDE2-4396-6049-1286-DF2F4C234A48}"/>
                </a:ext>
              </a:extLst>
            </p:cNvPr>
            <p:cNvGrpSpPr/>
            <p:nvPr/>
          </p:nvGrpSpPr>
          <p:grpSpPr>
            <a:xfrm>
              <a:off x="4195824" y="1322881"/>
              <a:ext cx="764501" cy="803509"/>
              <a:chOff x="9827467" y="2072289"/>
              <a:chExt cx="764501" cy="803509"/>
            </a:xfrm>
          </p:grpSpPr>
          <p:pic>
            <p:nvPicPr>
              <p:cNvPr id="259" name="Graphique 258" descr="Tirelire avec un remplissage uni">
                <a:extLst>
                  <a:ext uri="{FF2B5EF4-FFF2-40B4-BE49-F238E27FC236}">
                    <a16:creationId xmlns:a16="http://schemas.microsoft.com/office/drawing/2014/main" id="{86115235-CC1B-AA3A-B781-36BB7DD0A6E8}"/>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956969" y="2072289"/>
                <a:ext cx="540000" cy="540000"/>
              </a:xfrm>
              <a:prstGeom prst="rect">
                <a:avLst/>
              </a:prstGeom>
            </p:spPr>
          </p:pic>
          <p:sp>
            <p:nvSpPr>
              <p:cNvPr id="260" name="ZoneTexte 259">
                <a:extLst>
                  <a:ext uri="{FF2B5EF4-FFF2-40B4-BE49-F238E27FC236}">
                    <a16:creationId xmlns:a16="http://schemas.microsoft.com/office/drawing/2014/main" id="{A5651F6E-4651-BEF8-7341-09A8BB320570}"/>
                  </a:ext>
                </a:extLst>
              </p:cNvPr>
              <p:cNvSpPr txBox="1"/>
              <p:nvPr/>
            </p:nvSpPr>
            <p:spPr>
              <a:xfrm>
                <a:off x="9827467" y="2603019"/>
                <a:ext cx="764501" cy="272779"/>
              </a:xfrm>
              <a:prstGeom prst="rect">
                <a:avLst/>
              </a:prstGeom>
              <a:noFill/>
            </p:spPr>
            <p:txBody>
              <a:bodyPr wrap="square">
                <a:spAutoFit/>
              </a:bodyPr>
              <a:lstStyle/>
              <a:p>
                <a:pPr algn="ctr"/>
                <a:r>
                  <a:rPr lang="fr-FR" sz="900" dirty="0"/>
                  <a:t>Budget</a:t>
                </a:r>
              </a:p>
            </p:txBody>
          </p:sp>
        </p:grpSp>
        <p:grpSp>
          <p:nvGrpSpPr>
            <p:cNvPr id="253" name="Groupe 252">
              <a:extLst>
                <a:ext uri="{FF2B5EF4-FFF2-40B4-BE49-F238E27FC236}">
                  <a16:creationId xmlns:a16="http://schemas.microsoft.com/office/drawing/2014/main" id="{3A6A70A4-AA2C-76B0-E520-247561B1403F}"/>
                </a:ext>
              </a:extLst>
            </p:cNvPr>
            <p:cNvGrpSpPr/>
            <p:nvPr/>
          </p:nvGrpSpPr>
          <p:grpSpPr>
            <a:xfrm>
              <a:off x="11202158" y="1327063"/>
              <a:ext cx="764501" cy="803509"/>
              <a:chOff x="11150144" y="2072289"/>
              <a:chExt cx="764501" cy="803509"/>
            </a:xfrm>
          </p:grpSpPr>
          <p:pic>
            <p:nvPicPr>
              <p:cNvPr id="257" name="Graphique 256" descr="Badge point d’interrogation avec un remplissage uni">
                <a:extLst>
                  <a:ext uri="{FF2B5EF4-FFF2-40B4-BE49-F238E27FC236}">
                    <a16:creationId xmlns:a16="http://schemas.microsoft.com/office/drawing/2014/main" id="{37F2C1BF-2F69-EFB1-F5B5-1B404D232F84}"/>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11270657" y="2072289"/>
                <a:ext cx="540000" cy="540000"/>
              </a:xfrm>
              <a:prstGeom prst="rect">
                <a:avLst/>
              </a:prstGeom>
            </p:spPr>
          </p:pic>
          <p:sp>
            <p:nvSpPr>
              <p:cNvPr id="258" name="ZoneTexte 257">
                <a:extLst>
                  <a:ext uri="{FF2B5EF4-FFF2-40B4-BE49-F238E27FC236}">
                    <a16:creationId xmlns:a16="http://schemas.microsoft.com/office/drawing/2014/main" id="{E39E313A-C7E6-2F6A-18EA-06BD968D518C}"/>
                  </a:ext>
                </a:extLst>
              </p:cNvPr>
              <p:cNvSpPr txBox="1"/>
              <p:nvPr/>
            </p:nvSpPr>
            <p:spPr>
              <a:xfrm>
                <a:off x="11150144" y="2603019"/>
                <a:ext cx="764501" cy="272779"/>
              </a:xfrm>
              <a:prstGeom prst="rect">
                <a:avLst/>
              </a:prstGeom>
              <a:noFill/>
            </p:spPr>
            <p:txBody>
              <a:bodyPr wrap="square">
                <a:spAutoFit/>
              </a:bodyPr>
              <a:lstStyle/>
              <a:p>
                <a:pPr algn="ctr"/>
                <a:r>
                  <a:rPr lang="fr-FR" sz="900" dirty="0"/>
                  <a:t>Autres</a:t>
                </a:r>
              </a:p>
            </p:txBody>
          </p:sp>
        </p:grpSp>
        <p:grpSp>
          <p:nvGrpSpPr>
            <p:cNvPr id="254" name="Groupe 253">
              <a:extLst>
                <a:ext uri="{FF2B5EF4-FFF2-40B4-BE49-F238E27FC236}">
                  <a16:creationId xmlns:a16="http://schemas.microsoft.com/office/drawing/2014/main" id="{9EEA15AA-FAA9-9223-4BA3-E99B08D2091C}"/>
                </a:ext>
              </a:extLst>
            </p:cNvPr>
            <p:cNvGrpSpPr/>
            <p:nvPr/>
          </p:nvGrpSpPr>
          <p:grpSpPr>
            <a:xfrm>
              <a:off x="9754481" y="1304631"/>
              <a:ext cx="1326669" cy="822863"/>
              <a:chOff x="9651618" y="1361747"/>
              <a:chExt cx="1326669" cy="822863"/>
            </a:xfrm>
          </p:grpSpPr>
          <p:pic>
            <p:nvPicPr>
              <p:cNvPr id="255" name="Graphique 254" descr="Signe pouce en haut avec un remplissage uni">
                <a:extLst>
                  <a:ext uri="{FF2B5EF4-FFF2-40B4-BE49-F238E27FC236}">
                    <a16:creationId xmlns:a16="http://schemas.microsoft.com/office/drawing/2014/main" id="{FF31F156-3A3A-116D-6B3D-02ED705BD03B}"/>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10057766" y="1361747"/>
                <a:ext cx="514374" cy="514374"/>
              </a:xfrm>
              <a:prstGeom prst="rect">
                <a:avLst/>
              </a:prstGeom>
            </p:spPr>
          </p:pic>
          <p:sp>
            <p:nvSpPr>
              <p:cNvPr id="256" name="ZoneTexte 255">
                <a:extLst>
                  <a:ext uri="{FF2B5EF4-FFF2-40B4-BE49-F238E27FC236}">
                    <a16:creationId xmlns:a16="http://schemas.microsoft.com/office/drawing/2014/main" id="{9880EDA7-0F3F-6988-3006-364FA7EF745A}"/>
                  </a:ext>
                </a:extLst>
              </p:cNvPr>
              <p:cNvSpPr txBox="1"/>
              <p:nvPr/>
            </p:nvSpPr>
            <p:spPr>
              <a:xfrm>
                <a:off x="9651618" y="1911831"/>
                <a:ext cx="1326669" cy="272779"/>
              </a:xfrm>
              <a:prstGeom prst="rect">
                <a:avLst/>
              </a:prstGeom>
              <a:noFill/>
            </p:spPr>
            <p:txBody>
              <a:bodyPr wrap="square">
                <a:spAutoFit/>
              </a:bodyPr>
              <a:lstStyle/>
              <a:p>
                <a:pPr algn="ctr"/>
                <a:r>
                  <a:rPr lang="fr-FR" sz="900" dirty="0"/>
                  <a:t>Soutien extérieur</a:t>
                </a:r>
              </a:p>
            </p:txBody>
          </p:sp>
        </p:grpSp>
      </p:grpSp>
      <p:sp>
        <p:nvSpPr>
          <p:cNvPr id="206" name="Rectangle 205">
            <a:extLst>
              <a:ext uri="{FF2B5EF4-FFF2-40B4-BE49-F238E27FC236}">
                <a16:creationId xmlns:a16="http://schemas.microsoft.com/office/drawing/2014/main" id="{3DB71E1E-4C40-3CE1-8CD4-08A47F58E3E2}"/>
              </a:ext>
            </a:extLst>
          </p:cNvPr>
          <p:cNvSpPr/>
          <p:nvPr/>
        </p:nvSpPr>
        <p:spPr>
          <a:xfrm>
            <a:off x="11081777" y="82599"/>
            <a:ext cx="1115735" cy="9060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Exemple 1 </a:t>
            </a:r>
            <a:r>
              <a:rPr lang="fr-FR" sz="1200" dirty="0">
                <a:solidFill>
                  <a:schemeClr val="tx1"/>
                </a:solidFill>
              </a:rPr>
              <a:t>: </a:t>
            </a:r>
          </a:p>
          <a:p>
            <a:pPr algn="ctr"/>
            <a:r>
              <a:rPr lang="fr-FR" sz="1200" dirty="0">
                <a:solidFill>
                  <a:schemeClr val="tx1"/>
                </a:solidFill>
              </a:rPr>
              <a:t>Une Communauté </a:t>
            </a:r>
            <a:r>
              <a:rPr lang="fr-FR" sz="1200" i="1" dirty="0" err="1">
                <a:solidFill>
                  <a:schemeClr val="tx1"/>
                </a:solidFill>
              </a:rPr>
              <a:t>FabLab</a:t>
            </a:r>
            <a:r>
              <a:rPr lang="fr-FR" sz="1200" i="1" dirty="0">
                <a:solidFill>
                  <a:schemeClr val="tx1"/>
                </a:solidFill>
              </a:rPr>
              <a:t> </a:t>
            </a:r>
            <a:r>
              <a:rPr lang="fr-FR" sz="1200" dirty="0">
                <a:solidFill>
                  <a:schemeClr val="tx1"/>
                </a:solidFill>
              </a:rPr>
              <a:t>de l’entreprise</a:t>
            </a:r>
          </a:p>
        </p:txBody>
      </p:sp>
      <p:pic>
        <p:nvPicPr>
          <p:cNvPr id="207" name="Graphique 206" descr="Brainstorming de groupe avec un remplissage uni">
            <a:extLst>
              <a:ext uri="{FF2B5EF4-FFF2-40B4-BE49-F238E27FC236}">
                <a16:creationId xmlns:a16="http://schemas.microsoft.com/office/drawing/2014/main" id="{B5B822AB-D99F-7D78-2E61-3A1CEBC4F391}"/>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10266421" y="19728"/>
            <a:ext cx="914400" cy="914400"/>
          </a:xfrm>
          <a:prstGeom prst="rect">
            <a:avLst/>
          </a:prstGeom>
        </p:spPr>
      </p:pic>
      <p:sp>
        <p:nvSpPr>
          <p:cNvPr id="208" name="Rectangle 207">
            <a:extLst>
              <a:ext uri="{FF2B5EF4-FFF2-40B4-BE49-F238E27FC236}">
                <a16:creationId xmlns:a16="http://schemas.microsoft.com/office/drawing/2014/main" id="{F112FA8E-74D7-4622-8908-A6BDC5837107}"/>
              </a:ext>
            </a:extLst>
          </p:cNvPr>
          <p:cNvSpPr/>
          <p:nvPr/>
        </p:nvSpPr>
        <p:spPr>
          <a:xfrm>
            <a:off x="3611155" y="998290"/>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Imprimante 3D difficile d’acquisition individuellement</a:t>
            </a:r>
          </a:p>
        </p:txBody>
      </p:sp>
      <p:sp>
        <p:nvSpPr>
          <p:cNvPr id="210" name="Rectangle 209">
            <a:extLst>
              <a:ext uri="{FF2B5EF4-FFF2-40B4-BE49-F238E27FC236}">
                <a16:creationId xmlns:a16="http://schemas.microsoft.com/office/drawing/2014/main" id="{09C138EE-AC0C-EAE3-F3CF-AC42A8285194}"/>
              </a:ext>
            </a:extLst>
          </p:cNvPr>
          <p:cNvSpPr/>
          <p:nvPr/>
        </p:nvSpPr>
        <p:spPr>
          <a:xfrm>
            <a:off x="9395191" y="1012834"/>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Goût commun pour l’innovation</a:t>
            </a:r>
          </a:p>
        </p:txBody>
      </p:sp>
      <p:sp>
        <p:nvSpPr>
          <p:cNvPr id="211" name="Rectangle 210">
            <a:extLst>
              <a:ext uri="{FF2B5EF4-FFF2-40B4-BE49-F238E27FC236}">
                <a16:creationId xmlns:a16="http://schemas.microsoft.com/office/drawing/2014/main" id="{E7785DE1-3651-C54F-CB02-A382B2BF29DB}"/>
              </a:ext>
            </a:extLst>
          </p:cNvPr>
          <p:cNvSpPr/>
          <p:nvPr/>
        </p:nvSpPr>
        <p:spPr>
          <a:xfrm>
            <a:off x="2582722" y="998290"/>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Accès à un tiers lieu pour Idéation, échanges,  Fabrication </a:t>
            </a:r>
          </a:p>
        </p:txBody>
      </p:sp>
      <p:sp>
        <p:nvSpPr>
          <p:cNvPr id="212" name="Rectangle 211">
            <a:extLst>
              <a:ext uri="{FF2B5EF4-FFF2-40B4-BE49-F238E27FC236}">
                <a16:creationId xmlns:a16="http://schemas.microsoft.com/office/drawing/2014/main" id="{582CEF81-2978-0B33-2A40-E781C86BDA16}"/>
              </a:ext>
            </a:extLst>
          </p:cNvPr>
          <p:cNvSpPr/>
          <p:nvPr/>
        </p:nvSpPr>
        <p:spPr>
          <a:xfrm>
            <a:off x="6541625" y="1002907"/>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Présence des membres sur le même site</a:t>
            </a:r>
          </a:p>
        </p:txBody>
      </p:sp>
      <p:sp>
        <p:nvSpPr>
          <p:cNvPr id="213" name="Rectangle 212">
            <a:extLst>
              <a:ext uri="{FF2B5EF4-FFF2-40B4-BE49-F238E27FC236}">
                <a16:creationId xmlns:a16="http://schemas.microsoft.com/office/drawing/2014/main" id="{F7DF591F-DABD-6073-1C5C-F695E4C60167}"/>
              </a:ext>
            </a:extLst>
          </p:cNvPr>
          <p:cNvSpPr/>
          <p:nvPr/>
        </p:nvSpPr>
        <p:spPr>
          <a:xfrm>
            <a:off x="5549082" y="100286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Budgets innovation de l’entreprise</a:t>
            </a:r>
          </a:p>
        </p:txBody>
      </p:sp>
      <p:sp>
        <p:nvSpPr>
          <p:cNvPr id="214" name="Rectangle 213">
            <a:extLst>
              <a:ext uri="{FF2B5EF4-FFF2-40B4-BE49-F238E27FC236}">
                <a16:creationId xmlns:a16="http://schemas.microsoft.com/office/drawing/2014/main" id="{EC3435A5-F4C5-9C98-5F67-F492E1DF8475}"/>
              </a:ext>
            </a:extLst>
          </p:cNvPr>
          <p:cNvSpPr/>
          <p:nvPr/>
        </p:nvSpPr>
        <p:spPr>
          <a:xfrm>
            <a:off x="7501566" y="100286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Présence d’un consultant Design </a:t>
            </a:r>
            <a:r>
              <a:rPr lang="fr-FR" sz="800" dirty="0" err="1"/>
              <a:t>Thinking</a:t>
            </a:r>
            <a:r>
              <a:rPr lang="fr-FR" sz="800" dirty="0"/>
              <a:t> à temps partiel</a:t>
            </a:r>
          </a:p>
        </p:txBody>
      </p:sp>
      <p:sp>
        <p:nvSpPr>
          <p:cNvPr id="215" name="Rectangle 214">
            <a:extLst>
              <a:ext uri="{FF2B5EF4-FFF2-40B4-BE49-F238E27FC236}">
                <a16:creationId xmlns:a16="http://schemas.microsoft.com/office/drawing/2014/main" id="{30C5AD7F-7E16-B7D8-47FC-88EB55C04E8F}"/>
              </a:ext>
            </a:extLst>
          </p:cNvPr>
          <p:cNvSpPr/>
          <p:nvPr/>
        </p:nvSpPr>
        <p:spPr>
          <a:xfrm>
            <a:off x="8432179" y="100286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Expériences des membres dans leurs métiers</a:t>
            </a:r>
          </a:p>
        </p:txBody>
      </p:sp>
      <p:sp>
        <p:nvSpPr>
          <p:cNvPr id="216" name="Rectangle 215">
            <a:extLst>
              <a:ext uri="{FF2B5EF4-FFF2-40B4-BE49-F238E27FC236}">
                <a16:creationId xmlns:a16="http://schemas.microsoft.com/office/drawing/2014/main" id="{9FAE2F03-E28F-6F18-C06B-3391A16D729F}"/>
              </a:ext>
            </a:extLst>
          </p:cNvPr>
          <p:cNvSpPr/>
          <p:nvPr/>
        </p:nvSpPr>
        <p:spPr>
          <a:xfrm>
            <a:off x="10361965" y="1012834"/>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Différents managers dans l’entreprise férus d’innovation</a:t>
            </a:r>
          </a:p>
        </p:txBody>
      </p:sp>
      <p:sp>
        <p:nvSpPr>
          <p:cNvPr id="218" name="Rectangle 217">
            <a:extLst>
              <a:ext uri="{FF2B5EF4-FFF2-40B4-BE49-F238E27FC236}">
                <a16:creationId xmlns:a16="http://schemas.microsoft.com/office/drawing/2014/main" id="{9EFD17FA-C2DA-4C3F-F0DB-8013AF5A6F5B}"/>
              </a:ext>
            </a:extLst>
          </p:cNvPr>
          <p:cNvSpPr/>
          <p:nvPr/>
        </p:nvSpPr>
        <p:spPr>
          <a:xfrm>
            <a:off x="8422769" y="172697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Une liste potentielle des  contacts pour faire tester les futures idées</a:t>
            </a:r>
          </a:p>
        </p:txBody>
      </p:sp>
      <p:sp>
        <p:nvSpPr>
          <p:cNvPr id="219" name="Rectangle 218">
            <a:extLst>
              <a:ext uri="{FF2B5EF4-FFF2-40B4-BE49-F238E27FC236}">
                <a16:creationId xmlns:a16="http://schemas.microsoft.com/office/drawing/2014/main" id="{7F24163E-1222-E00A-7E62-9AFDCBA3231B}"/>
              </a:ext>
            </a:extLst>
          </p:cNvPr>
          <p:cNvSpPr/>
          <p:nvPr/>
        </p:nvSpPr>
        <p:spPr>
          <a:xfrm>
            <a:off x="5543677" y="256543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Des rallonges de budget possibles en tant que Communauté</a:t>
            </a:r>
          </a:p>
        </p:txBody>
      </p:sp>
      <p:sp>
        <p:nvSpPr>
          <p:cNvPr id="220" name="Rectangle 219">
            <a:extLst>
              <a:ext uri="{FF2B5EF4-FFF2-40B4-BE49-F238E27FC236}">
                <a16:creationId xmlns:a16="http://schemas.microsoft.com/office/drawing/2014/main" id="{3FF9EAC9-C40C-0763-21AA-CF3E663C26EA}"/>
              </a:ext>
            </a:extLst>
          </p:cNvPr>
          <p:cNvSpPr/>
          <p:nvPr/>
        </p:nvSpPr>
        <p:spPr>
          <a:xfrm>
            <a:off x="3607157" y="3995596"/>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Une usine chère pour industrialiser les futures bonnes idées</a:t>
            </a:r>
          </a:p>
        </p:txBody>
      </p:sp>
      <p:sp>
        <p:nvSpPr>
          <p:cNvPr id="221" name="Rectangle 220">
            <a:extLst>
              <a:ext uri="{FF2B5EF4-FFF2-40B4-BE49-F238E27FC236}">
                <a16:creationId xmlns:a16="http://schemas.microsoft.com/office/drawing/2014/main" id="{919D42ED-C0A0-BD5C-2BCD-D1D5A0521455}"/>
              </a:ext>
            </a:extLst>
          </p:cNvPr>
          <p:cNvSpPr/>
          <p:nvPr/>
        </p:nvSpPr>
        <p:spPr>
          <a:xfrm>
            <a:off x="4622349" y="4704317"/>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Un outil d’innovation que personne ne connaît pour l’instant</a:t>
            </a:r>
          </a:p>
        </p:txBody>
      </p:sp>
      <p:sp>
        <p:nvSpPr>
          <p:cNvPr id="222" name="Rectangle 221">
            <a:extLst>
              <a:ext uri="{FF2B5EF4-FFF2-40B4-BE49-F238E27FC236}">
                <a16:creationId xmlns:a16="http://schemas.microsoft.com/office/drawing/2014/main" id="{1369D845-18C7-36B8-7AE6-395983B8C541}"/>
              </a:ext>
            </a:extLst>
          </p:cNvPr>
          <p:cNvSpPr/>
          <p:nvPr/>
        </p:nvSpPr>
        <p:spPr>
          <a:xfrm>
            <a:off x="8428794" y="3965071"/>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t>20 ans d’expérience en innovation par un membre qui ne parle pas la langue des autres</a:t>
            </a:r>
          </a:p>
        </p:txBody>
      </p:sp>
      <p:sp>
        <p:nvSpPr>
          <p:cNvPr id="223" name="Rectangle 222">
            <a:extLst>
              <a:ext uri="{FF2B5EF4-FFF2-40B4-BE49-F238E27FC236}">
                <a16:creationId xmlns:a16="http://schemas.microsoft.com/office/drawing/2014/main" id="{3B5A906E-B3E3-73DC-883F-9F0E83503AC8}"/>
              </a:ext>
            </a:extLst>
          </p:cNvPr>
          <p:cNvSpPr/>
          <p:nvPr/>
        </p:nvSpPr>
        <p:spPr>
          <a:xfrm>
            <a:off x="9407332" y="324693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De potentiels objectifs similaires chez tous les membres</a:t>
            </a:r>
          </a:p>
        </p:txBody>
      </p:sp>
      <p:sp>
        <p:nvSpPr>
          <p:cNvPr id="224" name="Rectangle 223">
            <a:extLst>
              <a:ext uri="{FF2B5EF4-FFF2-40B4-BE49-F238E27FC236}">
                <a16:creationId xmlns:a16="http://schemas.microsoft.com/office/drawing/2014/main" id="{99DA6170-9A78-A61D-17F9-2F754E2F05AB}"/>
              </a:ext>
            </a:extLst>
          </p:cNvPr>
          <p:cNvSpPr/>
          <p:nvPr/>
        </p:nvSpPr>
        <p:spPr>
          <a:xfrm>
            <a:off x="10358392" y="6121379"/>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Le soutien d’une personne toxique pour la Communauté</a:t>
            </a:r>
          </a:p>
        </p:txBody>
      </p:sp>
    </p:spTree>
    <p:extLst>
      <p:ext uri="{BB962C8B-B14F-4D97-AF65-F5344CB8AC3E}">
        <p14:creationId xmlns:p14="http://schemas.microsoft.com/office/powerpoint/2010/main" val="342478551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0FEA3ED-05E5-44E0-86FB-276C165223EB}"/>
              </a:ext>
            </a:extLst>
          </p:cNvPr>
          <p:cNvSpPr>
            <a:spLocks noGrp="1"/>
          </p:cNvSpPr>
          <p:nvPr>
            <p:ph type="title"/>
          </p:nvPr>
        </p:nvSpPr>
        <p:spPr>
          <a:xfrm>
            <a:off x="838200" y="365125"/>
            <a:ext cx="10515600" cy="633165"/>
          </a:xfrm>
        </p:spPr>
        <p:txBody>
          <a:bodyPr>
            <a:normAutofit fontScale="90000"/>
          </a:bodyPr>
          <a:lstStyle/>
          <a:p>
            <a:r>
              <a:rPr lang="fr-FR" sz="4000" dirty="0"/>
              <a:t>Exemple d’analyse de ressources de Communauté</a:t>
            </a:r>
          </a:p>
        </p:txBody>
      </p:sp>
      <p:sp>
        <p:nvSpPr>
          <p:cNvPr id="97" name="Flèche : haut 96">
            <a:extLst>
              <a:ext uri="{FF2B5EF4-FFF2-40B4-BE49-F238E27FC236}">
                <a16:creationId xmlns:a16="http://schemas.microsoft.com/office/drawing/2014/main" id="{AE89BA1B-419E-63FB-3C74-B37D74D67CAC}"/>
              </a:ext>
            </a:extLst>
          </p:cNvPr>
          <p:cNvSpPr/>
          <p:nvPr/>
        </p:nvSpPr>
        <p:spPr>
          <a:xfrm>
            <a:off x="2188266" y="1187557"/>
            <a:ext cx="304800" cy="4188155"/>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8" name="Groupe 97">
            <a:extLst>
              <a:ext uri="{FF2B5EF4-FFF2-40B4-BE49-F238E27FC236}">
                <a16:creationId xmlns:a16="http://schemas.microsoft.com/office/drawing/2014/main" id="{D9AFE5F4-4254-4E88-1E0A-ED1D23FA3FDA}"/>
              </a:ext>
            </a:extLst>
          </p:cNvPr>
          <p:cNvGrpSpPr/>
          <p:nvPr/>
        </p:nvGrpSpPr>
        <p:grpSpPr>
          <a:xfrm>
            <a:off x="1263236" y="1187557"/>
            <a:ext cx="642859" cy="541981"/>
            <a:chOff x="1797480" y="1339838"/>
            <a:chExt cx="1507135" cy="1270634"/>
          </a:xfrm>
        </p:grpSpPr>
        <p:grpSp>
          <p:nvGrpSpPr>
            <p:cNvPr id="99" name="Groupe 98">
              <a:extLst>
                <a:ext uri="{FF2B5EF4-FFF2-40B4-BE49-F238E27FC236}">
                  <a16:creationId xmlns:a16="http://schemas.microsoft.com/office/drawing/2014/main" id="{950FC174-2A8C-F2C7-A445-74EACE087F0C}"/>
                </a:ext>
              </a:extLst>
            </p:cNvPr>
            <p:cNvGrpSpPr/>
            <p:nvPr/>
          </p:nvGrpSpPr>
          <p:grpSpPr>
            <a:xfrm>
              <a:off x="1797480" y="1339838"/>
              <a:ext cx="1507135" cy="1270634"/>
              <a:chOff x="8982504" y="3274976"/>
              <a:chExt cx="1230670" cy="1037553"/>
            </a:xfrm>
            <a:solidFill>
              <a:srgbClr val="ED7D31"/>
            </a:solidFill>
          </p:grpSpPr>
          <p:pic>
            <p:nvPicPr>
              <p:cNvPr id="101" name="Graphique 100" descr="Utilisateur avec un remplissage uni">
                <a:extLst>
                  <a:ext uri="{FF2B5EF4-FFF2-40B4-BE49-F238E27FC236}">
                    <a16:creationId xmlns:a16="http://schemas.microsoft.com/office/drawing/2014/main" id="{9F799E07-E035-D82E-B88F-A1C30E24B00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D634C716-6C7B-6A39-BC03-2508E5A4B46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AC087E2-37A9-7045-BEF5-6F08236C709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87F86FAF-C521-39C2-648F-EA0C760BF7E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F949EF51-658E-96A6-0FDF-7DF2D13B4A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06" name="Graphique 105" descr="Utilisateur avec un remplissage uni">
                <a:extLst>
                  <a:ext uri="{FF2B5EF4-FFF2-40B4-BE49-F238E27FC236}">
                    <a16:creationId xmlns:a16="http://schemas.microsoft.com/office/drawing/2014/main" id="{A95E8976-445F-1106-7223-0122A97BB70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07" name="Graphique 106" descr="Utilisateur avec un remplissage uni">
                <a:extLst>
                  <a:ext uri="{FF2B5EF4-FFF2-40B4-BE49-F238E27FC236}">
                    <a16:creationId xmlns:a16="http://schemas.microsoft.com/office/drawing/2014/main" id="{CC038618-2C40-504C-3DF4-CA7D56CAB97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08" name="Graphique 107" descr="Utilisateur avec un remplissage uni">
                <a:extLst>
                  <a:ext uri="{FF2B5EF4-FFF2-40B4-BE49-F238E27FC236}">
                    <a16:creationId xmlns:a16="http://schemas.microsoft.com/office/drawing/2014/main" id="{92F0BCBB-FC1F-98EA-E265-76EE4AE0446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09" name="Graphique 108" descr="Utilisateur avec un remplissage uni">
                <a:extLst>
                  <a:ext uri="{FF2B5EF4-FFF2-40B4-BE49-F238E27FC236}">
                    <a16:creationId xmlns:a16="http://schemas.microsoft.com/office/drawing/2014/main" id="{787601DB-53FF-6153-9432-EE7BDE70219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10" name="Graphique 109" descr="Utilisateur avec un remplissage uni">
                <a:extLst>
                  <a:ext uri="{FF2B5EF4-FFF2-40B4-BE49-F238E27FC236}">
                    <a16:creationId xmlns:a16="http://schemas.microsoft.com/office/drawing/2014/main" id="{8BC7269C-443D-E67F-5F19-A9854E4839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11" name="Graphique 110" descr="Utilisateur avec un remplissage uni">
                <a:extLst>
                  <a:ext uri="{FF2B5EF4-FFF2-40B4-BE49-F238E27FC236}">
                    <a16:creationId xmlns:a16="http://schemas.microsoft.com/office/drawing/2014/main" id="{A1613045-850B-66A4-1284-8E31FBC2FFA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00" name="Graphique 99" descr="Boîte à archives avec un remplissage uni">
              <a:extLst>
                <a:ext uri="{FF2B5EF4-FFF2-40B4-BE49-F238E27FC236}">
                  <a16:creationId xmlns:a16="http://schemas.microsoft.com/office/drawing/2014/main" id="{87961DF1-41B6-973F-640C-4DEDBF8561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164013" y="1631780"/>
              <a:ext cx="795090" cy="795090"/>
            </a:xfrm>
            <a:prstGeom prst="rect">
              <a:avLst/>
            </a:prstGeom>
          </p:spPr>
        </p:pic>
      </p:grpSp>
      <p:grpSp>
        <p:nvGrpSpPr>
          <p:cNvPr id="112" name="Groupe 111">
            <a:extLst>
              <a:ext uri="{FF2B5EF4-FFF2-40B4-BE49-F238E27FC236}">
                <a16:creationId xmlns:a16="http://schemas.microsoft.com/office/drawing/2014/main" id="{F29BCC2C-AF9F-E535-6D57-4706E786826F}"/>
              </a:ext>
            </a:extLst>
          </p:cNvPr>
          <p:cNvGrpSpPr/>
          <p:nvPr/>
        </p:nvGrpSpPr>
        <p:grpSpPr>
          <a:xfrm>
            <a:off x="1205435" y="1836377"/>
            <a:ext cx="928257" cy="541981"/>
            <a:chOff x="1797480" y="1339838"/>
            <a:chExt cx="2176227" cy="1270634"/>
          </a:xfrm>
        </p:grpSpPr>
        <p:grpSp>
          <p:nvGrpSpPr>
            <p:cNvPr id="113" name="Groupe 112">
              <a:extLst>
                <a:ext uri="{FF2B5EF4-FFF2-40B4-BE49-F238E27FC236}">
                  <a16:creationId xmlns:a16="http://schemas.microsoft.com/office/drawing/2014/main" id="{D02DE41C-34FA-4ADF-A86C-28A9B48A45BA}"/>
                </a:ext>
              </a:extLst>
            </p:cNvPr>
            <p:cNvGrpSpPr/>
            <p:nvPr/>
          </p:nvGrpSpPr>
          <p:grpSpPr>
            <a:xfrm>
              <a:off x="1797480" y="1339838"/>
              <a:ext cx="1507135" cy="1270634"/>
              <a:chOff x="8982504" y="3274976"/>
              <a:chExt cx="1230670" cy="1037553"/>
            </a:xfrm>
            <a:solidFill>
              <a:srgbClr val="ED7D31"/>
            </a:solidFill>
          </p:grpSpPr>
          <p:pic>
            <p:nvPicPr>
              <p:cNvPr id="115" name="Graphique 114" descr="Utilisateur avec un remplissage uni">
                <a:extLst>
                  <a:ext uri="{FF2B5EF4-FFF2-40B4-BE49-F238E27FC236}">
                    <a16:creationId xmlns:a16="http://schemas.microsoft.com/office/drawing/2014/main" id="{7DD52728-B979-4735-9302-8FAADA586C1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16" name="Graphique 115" descr="Utilisateur avec un remplissage uni">
                <a:extLst>
                  <a:ext uri="{FF2B5EF4-FFF2-40B4-BE49-F238E27FC236}">
                    <a16:creationId xmlns:a16="http://schemas.microsoft.com/office/drawing/2014/main" id="{70C34291-3CD9-7411-25AF-30D24DF1314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17" name="Graphique 116" descr="Utilisateur avec un remplissage uni">
                <a:extLst>
                  <a:ext uri="{FF2B5EF4-FFF2-40B4-BE49-F238E27FC236}">
                    <a16:creationId xmlns:a16="http://schemas.microsoft.com/office/drawing/2014/main" id="{279D435E-3813-6FC3-55E6-35504864488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2398F617-C4CF-3C88-AE58-D52C4D4D589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9B69D1AC-0F96-FD3D-51A6-1FD1846CFAC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20" name="Graphique 119" descr="Utilisateur avec un remplissage uni">
                <a:extLst>
                  <a:ext uri="{FF2B5EF4-FFF2-40B4-BE49-F238E27FC236}">
                    <a16:creationId xmlns:a16="http://schemas.microsoft.com/office/drawing/2014/main" id="{D18EB99D-0FD7-56C8-DB98-4D4F556489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21" name="Graphique 120" descr="Utilisateur avec un remplissage uni">
                <a:extLst>
                  <a:ext uri="{FF2B5EF4-FFF2-40B4-BE49-F238E27FC236}">
                    <a16:creationId xmlns:a16="http://schemas.microsoft.com/office/drawing/2014/main" id="{2825E89F-CD09-728D-FD63-D516A0C7F52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C11AD3B4-5DA2-81EA-7013-DE0DE87023A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5F8AC828-A739-3B4E-914F-2C7740CE9CC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053335BE-539E-57B4-7312-A35C5D47ACF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25" name="Graphique 124" descr="Utilisateur avec un remplissage uni">
                <a:extLst>
                  <a:ext uri="{FF2B5EF4-FFF2-40B4-BE49-F238E27FC236}">
                    <a16:creationId xmlns:a16="http://schemas.microsoft.com/office/drawing/2014/main" id="{2BE71045-A682-A6C1-5DB3-87C63D75742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14" name="Graphique 113" descr="Boîte à archives avec un remplissage uni">
              <a:extLst>
                <a:ext uri="{FF2B5EF4-FFF2-40B4-BE49-F238E27FC236}">
                  <a16:creationId xmlns:a16="http://schemas.microsoft.com/office/drawing/2014/main" id="{862ADCD5-6BF2-F044-86AF-17B38C46673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178618" y="1572578"/>
              <a:ext cx="795089" cy="795090"/>
            </a:xfrm>
            <a:prstGeom prst="rect">
              <a:avLst/>
            </a:prstGeom>
          </p:spPr>
        </p:pic>
      </p:grpSp>
      <p:grpSp>
        <p:nvGrpSpPr>
          <p:cNvPr id="126" name="Groupe 125">
            <a:extLst>
              <a:ext uri="{FF2B5EF4-FFF2-40B4-BE49-F238E27FC236}">
                <a16:creationId xmlns:a16="http://schemas.microsoft.com/office/drawing/2014/main" id="{30C34A92-9FA7-E5AB-40AE-77EB6EEBD4E8}"/>
              </a:ext>
            </a:extLst>
          </p:cNvPr>
          <p:cNvGrpSpPr/>
          <p:nvPr/>
        </p:nvGrpSpPr>
        <p:grpSpPr>
          <a:xfrm>
            <a:off x="1033252" y="2595975"/>
            <a:ext cx="1104068" cy="541981"/>
            <a:chOff x="1797481" y="3401554"/>
            <a:chExt cx="1314902" cy="645478"/>
          </a:xfrm>
        </p:grpSpPr>
        <p:grpSp>
          <p:nvGrpSpPr>
            <p:cNvPr id="127" name="Groupe 126">
              <a:extLst>
                <a:ext uri="{FF2B5EF4-FFF2-40B4-BE49-F238E27FC236}">
                  <a16:creationId xmlns:a16="http://schemas.microsoft.com/office/drawing/2014/main" id="{D7FCD4ED-4143-62F3-EC43-52FF07E73851}"/>
                </a:ext>
              </a:extLst>
            </p:cNvPr>
            <p:cNvGrpSpPr/>
            <p:nvPr/>
          </p:nvGrpSpPr>
          <p:grpSpPr>
            <a:xfrm>
              <a:off x="1797481" y="3401554"/>
              <a:ext cx="1314902" cy="645478"/>
              <a:chOff x="1797480" y="1339838"/>
              <a:chExt cx="2588405" cy="1270634"/>
            </a:xfrm>
          </p:grpSpPr>
          <p:grpSp>
            <p:nvGrpSpPr>
              <p:cNvPr id="129" name="Groupe 128">
                <a:extLst>
                  <a:ext uri="{FF2B5EF4-FFF2-40B4-BE49-F238E27FC236}">
                    <a16:creationId xmlns:a16="http://schemas.microsoft.com/office/drawing/2014/main" id="{4DFE496F-FCF0-988B-C261-CFFF1DDAF8BA}"/>
                  </a:ext>
                </a:extLst>
              </p:cNvPr>
              <p:cNvGrpSpPr/>
              <p:nvPr/>
            </p:nvGrpSpPr>
            <p:grpSpPr>
              <a:xfrm>
                <a:off x="1797480" y="1339838"/>
                <a:ext cx="1507135" cy="1270634"/>
                <a:chOff x="8982504" y="3274976"/>
                <a:chExt cx="1230670" cy="1037553"/>
              </a:xfrm>
              <a:solidFill>
                <a:srgbClr val="ED7D31"/>
              </a:solidFill>
            </p:grpSpPr>
            <p:pic>
              <p:nvPicPr>
                <p:cNvPr id="131" name="Graphique 130" descr="Utilisateur avec un remplissage uni">
                  <a:extLst>
                    <a:ext uri="{FF2B5EF4-FFF2-40B4-BE49-F238E27FC236}">
                      <a16:creationId xmlns:a16="http://schemas.microsoft.com/office/drawing/2014/main" id="{65593941-3099-8CE5-0DEC-F1556F0DEF8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32" name="Graphique 131" descr="Utilisateur avec un remplissage uni">
                  <a:extLst>
                    <a:ext uri="{FF2B5EF4-FFF2-40B4-BE49-F238E27FC236}">
                      <a16:creationId xmlns:a16="http://schemas.microsoft.com/office/drawing/2014/main" id="{D38B1CF9-4E3A-7B24-EDB0-7DFCB4739D8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33" name="Graphique 132" descr="Utilisateur avec un remplissage uni">
                  <a:extLst>
                    <a:ext uri="{FF2B5EF4-FFF2-40B4-BE49-F238E27FC236}">
                      <a16:creationId xmlns:a16="http://schemas.microsoft.com/office/drawing/2014/main" id="{5921E86C-6652-62A2-E6D5-2A2C573EB62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34" name="Graphique 133" descr="Utilisateur avec un remplissage uni">
                  <a:extLst>
                    <a:ext uri="{FF2B5EF4-FFF2-40B4-BE49-F238E27FC236}">
                      <a16:creationId xmlns:a16="http://schemas.microsoft.com/office/drawing/2014/main" id="{90D1938C-21C9-B52E-F22D-82102A19820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35" name="Graphique 134" descr="Utilisateur avec un remplissage uni">
                  <a:extLst>
                    <a:ext uri="{FF2B5EF4-FFF2-40B4-BE49-F238E27FC236}">
                      <a16:creationId xmlns:a16="http://schemas.microsoft.com/office/drawing/2014/main" id="{91358773-5FC5-70C7-90CA-F74FE916077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36" name="Graphique 135" descr="Utilisateur avec un remplissage uni">
                  <a:extLst>
                    <a:ext uri="{FF2B5EF4-FFF2-40B4-BE49-F238E27FC236}">
                      <a16:creationId xmlns:a16="http://schemas.microsoft.com/office/drawing/2014/main" id="{5DBA6000-E7DD-6860-2D3D-2561412B41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37" name="Graphique 136" descr="Utilisateur avec un remplissage uni">
                  <a:extLst>
                    <a:ext uri="{FF2B5EF4-FFF2-40B4-BE49-F238E27FC236}">
                      <a16:creationId xmlns:a16="http://schemas.microsoft.com/office/drawing/2014/main" id="{5523E782-4802-D77F-6352-C00A1E0D4B1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38" name="Graphique 137" descr="Utilisateur avec un remplissage uni">
                  <a:extLst>
                    <a:ext uri="{FF2B5EF4-FFF2-40B4-BE49-F238E27FC236}">
                      <a16:creationId xmlns:a16="http://schemas.microsoft.com/office/drawing/2014/main" id="{65C29A5C-4970-86A7-4514-6DE0CA03029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39" name="Graphique 138" descr="Utilisateur avec un remplissage uni">
                  <a:extLst>
                    <a:ext uri="{FF2B5EF4-FFF2-40B4-BE49-F238E27FC236}">
                      <a16:creationId xmlns:a16="http://schemas.microsoft.com/office/drawing/2014/main" id="{823DB485-5243-BC08-0943-3EDAD810232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0A6FF9A6-7DF6-F536-17D9-58335AB788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B80FE338-208E-FEF0-E42E-1CBCA564B43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30" name="Graphique 129" descr="Boîte à archives avec un remplissage uni">
                <a:extLst>
                  <a:ext uri="{FF2B5EF4-FFF2-40B4-BE49-F238E27FC236}">
                    <a16:creationId xmlns:a16="http://schemas.microsoft.com/office/drawing/2014/main" id="{60EB9EB9-5223-4CB4-53D4-942FD7DF93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28" name="Graphique 127" descr="Déverrouiller avec un remplissage uni">
              <a:extLst>
                <a:ext uri="{FF2B5EF4-FFF2-40B4-BE49-F238E27FC236}">
                  <a16:creationId xmlns:a16="http://schemas.microsoft.com/office/drawing/2014/main" id="{D782765A-D0ED-613C-3CBB-11E8EBAA0C7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flipH="1">
              <a:off x="2498111" y="3408841"/>
              <a:ext cx="432779" cy="462545"/>
            </a:xfrm>
            <a:prstGeom prst="rect">
              <a:avLst/>
            </a:prstGeom>
          </p:spPr>
        </p:pic>
      </p:grpSp>
      <p:grpSp>
        <p:nvGrpSpPr>
          <p:cNvPr id="142" name="Groupe 141">
            <a:extLst>
              <a:ext uri="{FF2B5EF4-FFF2-40B4-BE49-F238E27FC236}">
                <a16:creationId xmlns:a16="http://schemas.microsoft.com/office/drawing/2014/main" id="{7C9FF69A-4656-B3FC-8D15-940A846DC8B7}"/>
              </a:ext>
            </a:extLst>
          </p:cNvPr>
          <p:cNvGrpSpPr/>
          <p:nvPr/>
        </p:nvGrpSpPr>
        <p:grpSpPr>
          <a:xfrm>
            <a:off x="1035880" y="3313420"/>
            <a:ext cx="1104068" cy="541981"/>
            <a:chOff x="1800611" y="4256002"/>
            <a:chExt cx="1314902" cy="645478"/>
          </a:xfrm>
        </p:grpSpPr>
        <p:grpSp>
          <p:nvGrpSpPr>
            <p:cNvPr id="143" name="Groupe 142">
              <a:extLst>
                <a:ext uri="{FF2B5EF4-FFF2-40B4-BE49-F238E27FC236}">
                  <a16:creationId xmlns:a16="http://schemas.microsoft.com/office/drawing/2014/main" id="{1C144AA4-47EF-EAB2-0C34-5E0733CBFA25}"/>
                </a:ext>
              </a:extLst>
            </p:cNvPr>
            <p:cNvGrpSpPr/>
            <p:nvPr/>
          </p:nvGrpSpPr>
          <p:grpSpPr>
            <a:xfrm>
              <a:off x="1800611" y="4256002"/>
              <a:ext cx="1314902" cy="645478"/>
              <a:chOff x="1797480" y="1339838"/>
              <a:chExt cx="2588405" cy="1270634"/>
            </a:xfrm>
          </p:grpSpPr>
          <p:grpSp>
            <p:nvGrpSpPr>
              <p:cNvPr id="145" name="Groupe 144">
                <a:extLst>
                  <a:ext uri="{FF2B5EF4-FFF2-40B4-BE49-F238E27FC236}">
                    <a16:creationId xmlns:a16="http://schemas.microsoft.com/office/drawing/2014/main" id="{763AD210-AE17-667E-924D-FA200103688A}"/>
                  </a:ext>
                </a:extLst>
              </p:cNvPr>
              <p:cNvGrpSpPr/>
              <p:nvPr/>
            </p:nvGrpSpPr>
            <p:grpSpPr>
              <a:xfrm>
                <a:off x="1797480" y="1339838"/>
                <a:ext cx="1507135" cy="1270634"/>
                <a:chOff x="8982504" y="3274976"/>
                <a:chExt cx="1230670" cy="1037553"/>
              </a:xfrm>
              <a:solidFill>
                <a:srgbClr val="ED7D31"/>
              </a:solidFill>
            </p:grpSpPr>
            <p:pic>
              <p:nvPicPr>
                <p:cNvPr id="147" name="Graphique 146" descr="Utilisateur avec un remplissage uni">
                  <a:extLst>
                    <a:ext uri="{FF2B5EF4-FFF2-40B4-BE49-F238E27FC236}">
                      <a16:creationId xmlns:a16="http://schemas.microsoft.com/office/drawing/2014/main" id="{76A43EBB-552D-D215-DB8D-5B5075C5D72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2382845E-EE64-B55C-0E51-17BF86C19F1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B1C44714-6F1A-24C0-977E-F5BF5F7BD31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50" name="Graphique 149" descr="Utilisateur avec un remplissage uni">
                  <a:extLst>
                    <a:ext uri="{FF2B5EF4-FFF2-40B4-BE49-F238E27FC236}">
                      <a16:creationId xmlns:a16="http://schemas.microsoft.com/office/drawing/2014/main" id="{2D001668-57FC-54A1-2D5B-7A8CE70DABF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51" name="Graphique 150" descr="Utilisateur avec un remplissage uni">
                  <a:extLst>
                    <a:ext uri="{FF2B5EF4-FFF2-40B4-BE49-F238E27FC236}">
                      <a16:creationId xmlns:a16="http://schemas.microsoft.com/office/drawing/2014/main" id="{ADDEDA45-95E8-78E7-7865-4D8970A7A81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52" name="Graphique 151" descr="Utilisateur avec un remplissage uni">
                  <a:extLst>
                    <a:ext uri="{FF2B5EF4-FFF2-40B4-BE49-F238E27FC236}">
                      <a16:creationId xmlns:a16="http://schemas.microsoft.com/office/drawing/2014/main" id="{2309201C-A827-EEA7-F145-1ACD494F367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53" name="Graphique 152" descr="Utilisateur avec un remplissage uni">
                  <a:extLst>
                    <a:ext uri="{FF2B5EF4-FFF2-40B4-BE49-F238E27FC236}">
                      <a16:creationId xmlns:a16="http://schemas.microsoft.com/office/drawing/2014/main" id="{EDF70FEF-CBCD-CC31-AAD9-45BE9866167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54" name="Graphique 153" descr="Utilisateur avec un remplissage uni">
                  <a:extLst>
                    <a:ext uri="{FF2B5EF4-FFF2-40B4-BE49-F238E27FC236}">
                      <a16:creationId xmlns:a16="http://schemas.microsoft.com/office/drawing/2014/main" id="{0E6F1FC4-1E45-17AC-CD58-F79BB71FA8A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55" name="Graphique 154" descr="Utilisateur avec un remplissage uni">
                  <a:extLst>
                    <a:ext uri="{FF2B5EF4-FFF2-40B4-BE49-F238E27FC236}">
                      <a16:creationId xmlns:a16="http://schemas.microsoft.com/office/drawing/2014/main" id="{B2131C9B-E4FB-D332-749E-76BF04BD1AF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56" name="Graphique 155" descr="Utilisateur avec un remplissage uni">
                  <a:extLst>
                    <a:ext uri="{FF2B5EF4-FFF2-40B4-BE49-F238E27FC236}">
                      <a16:creationId xmlns:a16="http://schemas.microsoft.com/office/drawing/2014/main" id="{A8DF361A-21FA-7FDC-E3CD-831A740556B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57" name="Graphique 156" descr="Utilisateur avec un remplissage uni">
                  <a:extLst>
                    <a:ext uri="{FF2B5EF4-FFF2-40B4-BE49-F238E27FC236}">
                      <a16:creationId xmlns:a16="http://schemas.microsoft.com/office/drawing/2014/main" id="{A5BEA45A-42C1-FFBF-94ED-D0D545A4707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46" name="Graphique 145" descr="Boîte à archives avec un remplissage uni">
                <a:extLst>
                  <a:ext uri="{FF2B5EF4-FFF2-40B4-BE49-F238E27FC236}">
                    <a16:creationId xmlns:a16="http://schemas.microsoft.com/office/drawing/2014/main" id="{F405E83A-DBE4-90C1-DFD0-1E4D01110F0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44" name="Graphique 143" descr="Verrou avec un remplissage uni">
              <a:extLst>
                <a:ext uri="{FF2B5EF4-FFF2-40B4-BE49-F238E27FC236}">
                  <a16:creationId xmlns:a16="http://schemas.microsoft.com/office/drawing/2014/main" id="{8D408278-267D-C752-C581-E206DACDC5E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493236" y="4290370"/>
              <a:ext cx="466725" cy="466725"/>
            </a:xfrm>
            <a:prstGeom prst="rect">
              <a:avLst/>
            </a:prstGeom>
          </p:spPr>
        </p:pic>
      </p:grpSp>
      <p:grpSp>
        <p:nvGrpSpPr>
          <p:cNvPr id="158" name="Groupe 157">
            <a:extLst>
              <a:ext uri="{FF2B5EF4-FFF2-40B4-BE49-F238E27FC236}">
                <a16:creationId xmlns:a16="http://schemas.microsoft.com/office/drawing/2014/main" id="{4346BC1D-D789-17CD-DE58-BEFD6CD8E981}"/>
              </a:ext>
            </a:extLst>
          </p:cNvPr>
          <p:cNvGrpSpPr/>
          <p:nvPr/>
        </p:nvGrpSpPr>
        <p:grpSpPr>
          <a:xfrm>
            <a:off x="1020666" y="3908140"/>
            <a:ext cx="1104068" cy="646669"/>
            <a:chOff x="1782492" y="4964291"/>
            <a:chExt cx="1314902" cy="770157"/>
          </a:xfrm>
        </p:grpSpPr>
        <p:grpSp>
          <p:nvGrpSpPr>
            <p:cNvPr id="159" name="Groupe 158">
              <a:extLst>
                <a:ext uri="{FF2B5EF4-FFF2-40B4-BE49-F238E27FC236}">
                  <a16:creationId xmlns:a16="http://schemas.microsoft.com/office/drawing/2014/main" id="{51A2E2FC-3457-CE7C-2854-0BF42938E11B}"/>
                </a:ext>
              </a:extLst>
            </p:cNvPr>
            <p:cNvGrpSpPr/>
            <p:nvPr/>
          </p:nvGrpSpPr>
          <p:grpSpPr>
            <a:xfrm>
              <a:off x="1782492" y="5088970"/>
              <a:ext cx="1314902" cy="645478"/>
              <a:chOff x="1797480" y="1339838"/>
              <a:chExt cx="2588405" cy="1270634"/>
            </a:xfrm>
          </p:grpSpPr>
          <p:grpSp>
            <p:nvGrpSpPr>
              <p:cNvPr id="161" name="Groupe 160">
                <a:extLst>
                  <a:ext uri="{FF2B5EF4-FFF2-40B4-BE49-F238E27FC236}">
                    <a16:creationId xmlns:a16="http://schemas.microsoft.com/office/drawing/2014/main" id="{183A8716-1F8D-5C40-816D-233AE8D3342C}"/>
                  </a:ext>
                </a:extLst>
              </p:cNvPr>
              <p:cNvGrpSpPr/>
              <p:nvPr/>
            </p:nvGrpSpPr>
            <p:grpSpPr>
              <a:xfrm>
                <a:off x="1797480" y="1339838"/>
                <a:ext cx="1507135" cy="1270634"/>
                <a:chOff x="8982504" y="3274976"/>
                <a:chExt cx="1230670" cy="1037553"/>
              </a:xfrm>
              <a:solidFill>
                <a:srgbClr val="ED7D31"/>
              </a:solidFill>
            </p:grpSpPr>
            <p:pic>
              <p:nvPicPr>
                <p:cNvPr id="163" name="Graphique 162" descr="Utilisateur avec un remplissage uni">
                  <a:extLst>
                    <a:ext uri="{FF2B5EF4-FFF2-40B4-BE49-F238E27FC236}">
                      <a16:creationId xmlns:a16="http://schemas.microsoft.com/office/drawing/2014/main" id="{A6B9F7F4-E58F-22CF-41E0-BCB6042EF00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64" name="Graphique 163" descr="Utilisateur avec un remplissage uni">
                  <a:extLst>
                    <a:ext uri="{FF2B5EF4-FFF2-40B4-BE49-F238E27FC236}">
                      <a16:creationId xmlns:a16="http://schemas.microsoft.com/office/drawing/2014/main" id="{103EFAA9-DED0-2DF8-4BC5-F05FA0A911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65" name="Graphique 164" descr="Utilisateur avec un remplissage uni">
                  <a:extLst>
                    <a:ext uri="{FF2B5EF4-FFF2-40B4-BE49-F238E27FC236}">
                      <a16:creationId xmlns:a16="http://schemas.microsoft.com/office/drawing/2014/main" id="{F39E1A3C-9BEF-2AFC-5076-4AF594E6C38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66" name="Graphique 165" descr="Utilisateur avec un remplissage uni">
                  <a:extLst>
                    <a:ext uri="{FF2B5EF4-FFF2-40B4-BE49-F238E27FC236}">
                      <a16:creationId xmlns:a16="http://schemas.microsoft.com/office/drawing/2014/main" id="{84343633-49E6-7B9F-ABE8-D19DB29BF74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67" name="Graphique 166" descr="Utilisateur avec un remplissage uni">
                  <a:extLst>
                    <a:ext uri="{FF2B5EF4-FFF2-40B4-BE49-F238E27FC236}">
                      <a16:creationId xmlns:a16="http://schemas.microsoft.com/office/drawing/2014/main" id="{B050891C-8045-4450-30B2-17D8707BEDC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68" name="Graphique 167" descr="Utilisateur avec un remplissage uni">
                  <a:extLst>
                    <a:ext uri="{FF2B5EF4-FFF2-40B4-BE49-F238E27FC236}">
                      <a16:creationId xmlns:a16="http://schemas.microsoft.com/office/drawing/2014/main" id="{287E5492-B945-B226-9D94-B986737C656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69" name="Graphique 168" descr="Utilisateur avec un remplissage uni">
                  <a:extLst>
                    <a:ext uri="{FF2B5EF4-FFF2-40B4-BE49-F238E27FC236}">
                      <a16:creationId xmlns:a16="http://schemas.microsoft.com/office/drawing/2014/main" id="{6D6333E7-1240-CCED-EE9B-2DA85C38F0C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70" name="Graphique 169" descr="Utilisateur avec un remplissage uni">
                  <a:extLst>
                    <a:ext uri="{FF2B5EF4-FFF2-40B4-BE49-F238E27FC236}">
                      <a16:creationId xmlns:a16="http://schemas.microsoft.com/office/drawing/2014/main" id="{D37F7303-B51D-C55A-9C45-ACBF7FF974F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71" name="Graphique 170" descr="Utilisateur avec un remplissage uni">
                  <a:extLst>
                    <a:ext uri="{FF2B5EF4-FFF2-40B4-BE49-F238E27FC236}">
                      <a16:creationId xmlns:a16="http://schemas.microsoft.com/office/drawing/2014/main" id="{6C9E8642-D991-2AE2-3CAE-BA471A39BA6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72" name="Graphique 171" descr="Utilisateur avec un remplissage uni">
                  <a:extLst>
                    <a:ext uri="{FF2B5EF4-FFF2-40B4-BE49-F238E27FC236}">
                      <a16:creationId xmlns:a16="http://schemas.microsoft.com/office/drawing/2014/main" id="{CF8B3F70-949E-789D-03D6-C84BFD6EBB9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73" name="Graphique 172" descr="Utilisateur avec un remplissage uni">
                  <a:extLst>
                    <a:ext uri="{FF2B5EF4-FFF2-40B4-BE49-F238E27FC236}">
                      <a16:creationId xmlns:a16="http://schemas.microsoft.com/office/drawing/2014/main" id="{D8056C49-8486-7068-D54E-311C3D97B0C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62" name="Graphique 161" descr="Boîte à archives avec un remplissage uni">
                <a:extLst>
                  <a:ext uri="{FF2B5EF4-FFF2-40B4-BE49-F238E27FC236}">
                    <a16:creationId xmlns:a16="http://schemas.microsoft.com/office/drawing/2014/main" id="{92DB3A34-957B-01C3-3CAA-6DD6045CAA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60" name="Graphique 159" descr="Verrou avec un remplissage uni">
              <a:extLst>
                <a:ext uri="{FF2B5EF4-FFF2-40B4-BE49-F238E27FC236}">
                  <a16:creationId xmlns:a16="http://schemas.microsoft.com/office/drawing/2014/main" id="{CFE2D4FF-C8FB-8EF2-887C-0ABBEE0A2E6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293077" y="4964291"/>
              <a:ext cx="743725" cy="743725"/>
            </a:xfrm>
            <a:prstGeom prst="rect">
              <a:avLst/>
            </a:prstGeom>
          </p:spPr>
        </p:pic>
      </p:grpSp>
      <p:grpSp>
        <p:nvGrpSpPr>
          <p:cNvPr id="174" name="Groupe 173">
            <a:extLst>
              <a:ext uri="{FF2B5EF4-FFF2-40B4-BE49-F238E27FC236}">
                <a16:creationId xmlns:a16="http://schemas.microsoft.com/office/drawing/2014/main" id="{15213990-315C-8E1E-5478-A08D0EFF1AB0}"/>
              </a:ext>
            </a:extLst>
          </p:cNvPr>
          <p:cNvGrpSpPr/>
          <p:nvPr/>
        </p:nvGrpSpPr>
        <p:grpSpPr>
          <a:xfrm>
            <a:off x="1007610" y="6145797"/>
            <a:ext cx="1123328" cy="541981"/>
            <a:chOff x="1804205" y="5917781"/>
            <a:chExt cx="1337840" cy="645478"/>
          </a:xfrm>
        </p:grpSpPr>
        <p:grpSp>
          <p:nvGrpSpPr>
            <p:cNvPr id="175" name="Groupe 174">
              <a:extLst>
                <a:ext uri="{FF2B5EF4-FFF2-40B4-BE49-F238E27FC236}">
                  <a16:creationId xmlns:a16="http://schemas.microsoft.com/office/drawing/2014/main" id="{E2CCD889-6624-E8F1-01DB-FB866D91E4FC}"/>
                </a:ext>
              </a:extLst>
            </p:cNvPr>
            <p:cNvGrpSpPr/>
            <p:nvPr/>
          </p:nvGrpSpPr>
          <p:grpSpPr>
            <a:xfrm>
              <a:off x="1804205" y="5917781"/>
              <a:ext cx="1314902" cy="645478"/>
              <a:chOff x="1797480" y="1339838"/>
              <a:chExt cx="2588405" cy="1270634"/>
            </a:xfrm>
          </p:grpSpPr>
          <p:grpSp>
            <p:nvGrpSpPr>
              <p:cNvPr id="177" name="Groupe 176">
                <a:extLst>
                  <a:ext uri="{FF2B5EF4-FFF2-40B4-BE49-F238E27FC236}">
                    <a16:creationId xmlns:a16="http://schemas.microsoft.com/office/drawing/2014/main" id="{04982C7C-EEBE-2A25-AAFC-4ED49CA05702}"/>
                  </a:ext>
                </a:extLst>
              </p:cNvPr>
              <p:cNvGrpSpPr/>
              <p:nvPr/>
            </p:nvGrpSpPr>
            <p:grpSpPr>
              <a:xfrm>
                <a:off x="1797480" y="1339838"/>
                <a:ext cx="1507135" cy="1270634"/>
                <a:chOff x="8982504" y="3274976"/>
                <a:chExt cx="1230670" cy="1037553"/>
              </a:xfrm>
              <a:solidFill>
                <a:srgbClr val="ED7D31"/>
              </a:solidFill>
            </p:grpSpPr>
            <p:pic>
              <p:nvPicPr>
                <p:cNvPr id="179" name="Graphique 178" descr="Utilisateur avec un remplissage uni">
                  <a:extLst>
                    <a:ext uri="{FF2B5EF4-FFF2-40B4-BE49-F238E27FC236}">
                      <a16:creationId xmlns:a16="http://schemas.microsoft.com/office/drawing/2014/main" id="{7A439E10-862B-0926-D99B-129A7A819FA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80" name="Graphique 179" descr="Utilisateur avec un remplissage uni">
                  <a:extLst>
                    <a:ext uri="{FF2B5EF4-FFF2-40B4-BE49-F238E27FC236}">
                      <a16:creationId xmlns:a16="http://schemas.microsoft.com/office/drawing/2014/main" id="{B3B6C31B-8F31-1C7B-8A6F-D74DE673E1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81" name="Graphique 180" descr="Utilisateur avec un remplissage uni">
                  <a:extLst>
                    <a:ext uri="{FF2B5EF4-FFF2-40B4-BE49-F238E27FC236}">
                      <a16:creationId xmlns:a16="http://schemas.microsoft.com/office/drawing/2014/main" id="{6D328606-24DE-5A14-BB98-C0654CBB856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82" name="Graphique 181" descr="Utilisateur avec un remplissage uni">
                  <a:extLst>
                    <a:ext uri="{FF2B5EF4-FFF2-40B4-BE49-F238E27FC236}">
                      <a16:creationId xmlns:a16="http://schemas.microsoft.com/office/drawing/2014/main" id="{19D019E2-A755-3D57-5D52-3E2A3BBCD38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83" name="Graphique 182" descr="Utilisateur avec un remplissage uni">
                  <a:extLst>
                    <a:ext uri="{FF2B5EF4-FFF2-40B4-BE49-F238E27FC236}">
                      <a16:creationId xmlns:a16="http://schemas.microsoft.com/office/drawing/2014/main" id="{65BD2B74-2AA3-56F8-35A8-5F9FF010B07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84" name="Graphique 183" descr="Utilisateur avec un remplissage uni">
                  <a:extLst>
                    <a:ext uri="{FF2B5EF4-FFF2-40B4-BE49-F238E27FC236}">
                      <a16:creationId xmlns:a16="http://schemas.microsoft.com/office/drawing/2014/main" id="{1EA59C5A-50FE-CA9E-CBB0-52BFCBF88A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85" name="Graphique 184" descr="Utilisateur avec un remplissage uni">
                  <a:extLst>
                    <a:ext uri="{FF2B5EF4-FFF2-40B4-BE49-F238E27FC236}">
                      <a16:creationId xmlns:a16="http://schemas.microsoft.com/office/drawing/2014/main" id="{2F6409A6-16A2-4FD8-00DE-5390368CC2D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86" name="Graphique 185" descr="Utilisateur avec un remplissage uni">
                  <a:extLst>
                    <a:ext uri="{FF2B5EF4-FFF2-40B4-BE49-F238E27FC236}">
                      <a16:creationId xmlns:a16="http://schemas.microsoft.com/office/drawing/2014/main" id="{BEBCE3C3-0784-10EE-5495-2404AD5F5DE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87" name="Graphique 186" descr="Utilisateur avec un remplissage uni">
                  <a:extLst>
                    <a:ext uri="{FF2B5EF4-FFF2-40B4-BE49-F238E27FC236}">
                      <a16:creationId xmlns:a16="http://schemas.microsoft.com/office/drawing/2014/main" id="{8219943F-F59B-9F27-6937-CDF79968DD3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88" name="Graphique 187" descr="Utilisateur avec un remplissage uni">
                  <a:extLst>
                    <a:ext uri="{FF2B5EF4-FFF2-40B4-BE49-F238E27FC236}">
                      <a16:creationId xmlns:a16="http://schemas.microsoft.com/office/drawing/2014/main" id="{8034E019-FC31-3F60-9ED5-A33BC012B0A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89" name="Graphique 188" descr="Utilisateur avec un remplissage uni">
                  <a:extLst>
                    <a:ext uri="{FF2B5EF4-FFF2-40B4-BE49-F238E27FC236}">
                      <a16:creationId xmlns:a16="http://schemas.microsoft.com/office/drawing/2014/main" id="{4B4E9721-81F3-FAB5-5A8B-19A370B4076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78" name="Graphique 177" descr="Boîte à archives avec un remplissage uni">
                <a:extLst>
                  <a:ext uri="{FF2B5EF4-FFF2-40B4-BE49-F238E27FC236}">
                    <a16:creationId xmlns:a16="http://schemas.microsoft.com/office/drawing/2014/main" id="{46FF9A12-3CE1-36B8-907E-CB95AD6129F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76" name="Graphique 175" descr="Fermer avec un remplissage uni">
              <a:extLst>
                <a:ext uri="{FF2B5EF4-FFF2-40B4-BE49-F238E27FC236}">
                  <a16:creationId xmlns:a16="http://schemas.microsoft.com/office/drawing/2014/main" id="{3CB870FA-38CE-E1BF-BB0E-C055676D681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668633" y="5995180"/>
              <a:ext cx="473412" cy="473412"/>
            </a:xfrm>
            <a:prstGeom prst="rect">
              <a:avLst/>
            </a:prstGeom>
          </p:spPr>
        </p:pic>
      </p:grpSp>
      <p:grpSp>
        <p:nvGrpSpPr>
          <p:cNvPr id="190" name="Groupe 189">
            <a:extLst>
              <a:ext uri="{FF2B5EF4-FFF2-40B4-BE49-F238E27FC236}">
                <a16:creationId xmlns:a16="http://schemas.microsoft.com/office/drawing/2014/main" id="{E2DFE3DC-5000-74DF-481B-B04A2AA7171E}"/>
              </a:ext>
            </a:extLst>
          </p:cNvPr>
          <p:cNvGrpSpPr/>
          <p:nvPr/>
        </p:nvGrpSpPr>
        <p:grpSpPr>
          <a:xfrm>
            <a:off x="1013177" y="4705472"/>
            <a:ext cx="1104068" cy="541981"/>
            <a:chOff x="1775004" y="5236420"/>
            <a:chExt cx="1104068" cy="541981"/>
          </a:xfrm>
        </p:grpSpPr>
        <p:grpSp>
          <p:nvGrpSpPr>
            <p:cNvPr id="191" name="Groupe 190">
              <a:extLst>
                <a:ext uri="{FF2B5EF4-FFF2-40B4-BE49-F238E27FC236}">
                  <a16:creationId xmlns:a16="http://schemas.microsoft.com/office/drawing/2014/main" id="{536F50DF-7F12-FA6A-2298-74E7496B68C0}"/>
                </a:ext>
              </a:extLst>
            </p:cNvPr>
            <p:cNvGrpSpPr/>
            <p:nvPr/>
          </p:nvGrpSpPr>
          <p:grpSpPr>
            <a:xfrm>
              <a:off x="1775004" y="5236420"/>
              <a:ext cx="1104068" cy="541981"/>
              <a:chOff x="1797480" y="1339838"/>
              <a:chExt cx="2588405" cy="1270634"/>
            </a:xfrm>
          </p:grpSpPr>
          <p:grpSp>
            <p:nvGrpSpPr>
              <p:cNvPr id="193" name="Groupe 192">
                <a:extLst>
                  <a:ext uri="{FF2B5EF4-FFF2-40B4-BE49-F238E27FC236}">
                    <a16:creationId xmlns:a16="http://schemas.microsoft.com/office/drawing/2014/main" id="{70913C03-9C56-C18E-36DB-DA2213BB9F7D}"/>
                  </a:ext>
                </a:extLst>
              </p:cNvPr>
              <p:cNvGrpSpPr/>
              <p:nvPr/>
            </p:nvGrpSpPr>
            <p:grpSpPr>
              <a:xfrm>
                <a:off x="1797480" y="1339838"/>
                <a:ext cx="1507135" cy="1270634"/>
                <a:chOff x="8982504" y="3274976"/>
                <a:chExt cx="1230670" cy="1037553"/>
              </a:xfrm>
              <a:solidFill>
                <a:srgbClr val="ED7D31"/>
              </a:solidFill>
            </p:grpSpPr>
            <p:pic>
              <p:nvPicPr>
                <p:cNvPr id="195" name="Graphique 194" descr="Utilisateur avec un remplissage uni">
                  <a:extLst>
                    <a:ext uri="{FF2B5EF4-FFF2-40B4-BE49-F238E27FC236}">
                      <a16:creationId xmlns:a16="http://schemas.microsoft.com/office/drawing/2014/main" id="{1A792F5F-DECB-AE8D-B393-B1CF7256912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96" name="Graphique 195" descr="Utilisateur avec un remplissage uni">
                  <a:extLst>
                    <a:ext uri="{FF2B5EF4-FFF2-40B4-BE49-F238E27FC236}">
                      <a16:creationId xmlns:a16="http://schemas.microsoft.com/office/drawing/2014/main" id="{4E51F12E-307F-D985-9D55-0699BB2F695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97" name="Graphique 196" descr="Utilisateur avec un remplissage uni">
                  <a:extLst>
                    <a:ext uri="{FF2B5EF4-FFF2-40B4-BE49-F238E27FC236}">
                      <a16:creationId xmlns:a16="http://schemas.microsoft.com/office/drawing/2014/main" id="{33B8A215-E1DE-3323-DA8B-66906C85C88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98" name="Graphique 197" descr="Utilisateur avec un remplissage uni">
                  <a:extLst>
                    <a:ext uri="{FF2B5EF4-FFF2-40B4-BE49-F238E27FC236}">
                      <a16:creationId xmlns:a16="http://schemas.microsoft.com/office/drawing/2014/main" id="{2BF73653-DE82-7057-BBA8-983902A93EF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99" name="Graphique 198" descr="Utilisateur avec un remplissage uni">
                  <a:extLst>
                    <a:ext uri="{FF2B5EF4-FFF2-40B4-BE49-F238E27FC236}">
                      <a16:creationId xmlns:a16="http://schemas.microsoft.com/office/drawing/2014/main" id="{A3DC5F0F-09FF-BF17-851B-A4A7A7BED2D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200" name="Graphique 199" descr="Utilisateur avec un remplissage uni">
                  <a:extLst>
                    <a:ext uri="{FF2B5EF4-FFF2-40B4-BE49-F238E27FC236}">
                      <a16:creationId xmlns:a16="http://schemas.microsoft.com/office/drawing/2014/main" id="{5E6112EC-DB61-02E4-02B0-6C87ACAAC3C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201" name="Graphique 200" descr="Utilisateur avec un remplissage uni">
                  <a:extLst>
                    <a:ext uri="{FF2B5EF4-FFF2-40B4-BE49-F238E27FC236}">
                      <a16:creationId xmlns:a16="http://schemas.microsoft.com/office/drawing/2014/main" id="{F3F6226F-C40A-62CD-35FD-E452CD4CB80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202" name="Graphique 201" descr="Utilisateur avec un remplissage uni">
                  <a:extLst>
                    <a:ext uri="{FF2B5EF4-FFF2-40B4-BE49-F238E27FC236}">
                      <a16:creationId xmlns:a16="http://schemas.microsoft.com/office/drawing/2014/main" id="{B5296262-E48F-E412-D648-6AE34ED41D2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203" name="Graphique 202" descr="Utilisateur avec un remplissage uni">
                  <a:extLst>
                    <a:ext uri="{FF2B5EF4-FFF2-40B4-BE49-F238E27FC236}">
                      <a16:creationId xmlns:a16="http://schemas.microsoft.com/office/drawing/2014/main" id="{6988945F-F904-7794-36B2-899233184CB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204" name="Graphique 203" descr="Utilisateur avec un remplissage uni">
                  <a:extLst>
                    <a:ext uri="{FF2B5EF4-FFF2-40B4-BE49-F238E27FC236}">
                      <a16:creationId xmlns:a16="http://schemas.microsoft.com/office/drawing/2014/main" id="{6DED6733-3FF8-B4B5-7339-BE485715841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205" name="Graphique 204" descr="Utilisateur avec un remplissage uni">
                  <a:extLst>
                    <a:ext uri="{FF2B5EF4-FFF2-40B4-BE49-F238E27FC236}">
                      <a16:creationId xmlns:a16="http://schemas.microsoft.com/office/drawing/2014/main" id="{334682CC-BE6A-91C0-C58C-5DD66C66F13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94" name="Graphique 193" descr="Boîte à archives avec un remplissage uni">
                <a:extLst>
                  <a:ext uri="{FF2B5EF4-FFF2-40B4-BE49-F238E27FC236}">
                    <a16:creationId xmlns:a16="http://schemas.microsoft.com/office/drawing/2014/main" id="{14A62B46-EE3B-CE31-7BF8-B90685F7B1D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92" name="Graphique 191" descr="Point d’interrogation avec un remplissage uni">
              <a:extLst>
                <a:ext uri="{FF2B5EF4-FFF2-40B4-BE49-F238E27FC236}">
                  <a16:creationId xmlns:a16="http://schemas.microsoft.com/office/drawing/2014/main" id="{07E65EEB-783B-5FBF-AA0F-14DD8811E06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537302" y="5319965"/>
              <a:ext cx="332767" cy="332767"/>
            </a:xfrm>
            <a:prstGeom prst="rect">
              <a:avLst/>
            </a:prstGeom>
          </p:spPr>
        </p:pic>
      </p:grpSp>
      <p:sp>
        <p:nvSpPr>
          <p:cNvPr id="237" name="Espace réservé du contenu 2">
            <a:extLst>
              <a:ext uri="{FF2B5EF4-FFF2-40B4-BE49-F238E27FC236}">
                <a16:creationId xmlns:a16="http://schemas.microsoft.com/office/drawing/2014/main" id="{44C1547B-693F-F337-93E6-4A05250F93B6}"/>
              </a:ext>
            </a:extLst>
          </p:cNvPr>
          <p:cNvSpPr>
            <a:spLocks noGrp="1"/>
          </p:cNvSpPr>
          <p:nvPr>
            <p:ph idx="1"/>
          </p:nvPr>
        </p:nvSpPr>
        <p:spPr>
          <a:xfrm>
            <a:off x="-16218" y="6167171"/>
            <a:ext cx="901401" cy="691911"/>
          </a:xfrm>
        </p:spPr>
        <p:txBody>
          <a:bodyPr>
            <a:normAutofit/>
          </a:bodyPr>
          <a:lstStyle/>
          <a:p>
            <a:pPr marL="0" indent="0">
              <a:buNone/>
            </a:pPr>
            <a:r>
              <a:rPr lang="fr-FR" sz="800" dirty="0"/>
              <a:t>Pas intéressant a priori pour une mise en commun la Communauté</a:t>
            </a:r>
          </a:p>
        </p:txBody>
      </p:sp>
      <p:sp>
        <p:nvSpPr>
          <p:cNvPr id="239" name="ZoneTexte 238">
            <a:extLst>
              <a:ext uri="{FF2B5EF4-FFF2-40B4-BE49-F238E27FC236}">
                <a16:creationId xmlns:a16="http://schemas.microsoft.com/office/drawing/2014/main" id="{9C352F48-4DEF-67B5-8C6C-75A8BDD57B23}"/>
              </a:ext>
            </a:extLst>
          </p:cNvPr>
          <p:cNvSpPr txBox="1"/>
          <p:nvPr/>
        </p:nvSpPr>
        <p:spPr>
          <a:xfrm>
            <a:off x="4396" y="1152544"/>
            <a:ext cx="847118" cy="584775"/>
          </a:xfrm>
          <a:prstGeom prst="rect">
            <a:avLst/>
          </a:prstGeom>
          <a:noFill/>
        </p:spPr>
        <p:txBody>
          <a:bodyPr wrap="square">
            <a:spAutoFit/>
          </a:bodyPr>
          <a:lstStyle/>
          <a:p>
            <a:r>
              <a:rPr lang="fr-FR" sz="800" dirty="0"/>
              <a:t>Intéressant et déjà mis en commun dans la Communauté</a:t>
            </a:r>
          </a:p>
        </p:txBody>
      </p:sp>
      <p:sp>
        <p:nvSpPr>
          <p:cNvPr id="241" name="ZoneTexte 240">
            <a:extLst>
              <a:ext uri="{FF2B5EF4-FFF2-40B4-BE49-F238E27FC236}">
                <a16:creationId xmlns:a16="http://schemas.microsoft.com/office/drawing/2014/main" id="{8FE25871-645B-8579-8BC0-869918B99486}"/>
              </a:ext>
            </a:extLst>
          </p:cNvPr>
          <p:cNvSpPr txBox="1"/>
          <p:nvPr/>
        </p:nvSpPr>
        <p:spPr>
          <a:xfrm>
            <a:off x="7944" y="1767083"/>
            <a:ext cx="912509" cy="707886"/>
          </a:xfrm>
          <a:prstGeom prst="rect">
            <a:avLst/>
          </a:prstGeom>
          <a:noFill/>
        </p:spPr>
        <p:txBody>
          <a:bodyPr wrap="square">
            <a:spAutoFit/>
          </a:bodyPr>
          <a:lstStyle/>
          <a:p>
            <a:r>
              <a:rPr lang="fr-FR" sz="800" dirty="0"/>
              <a:t>Intéressant, accessible par la Communauté mais pas (encore) mis en commun</a:t>
            </a:r>
          </a:p>
        </p:txBody>
      </p:sp>
      <p:sp>
        <p:nvSpPr>
          <p:cNvPr id="243" name="ZoneTexte 242">
            <a:extLst>
              <a:ext uri="{FF2B5EF4-FFF2-40B4-BE49-F238E27FC236}">
                <a16:creationId xmlns:a16="http://schemas.microsoft.com/office/drawing/2014/main" id="{3EDCD8E2-F088-1B7E-1EB0-2D07DA5B2813}"/>
              </a:ext>
            </a:extLst>
          </p:cNvPr>
          <p:cNvSpPr txBox="1"/>
          <p:nvPr/>
        </p:nvSpPr>
        <p:spPr>
          <a:xfrm>
            <a:off x="-2929" y="2511054"/>
            <a:ext cx="1109944" cy="830997"/>
          </a:xfrm>
          <a:prstGeom prst="rect">
            <a:avLst/>
          </a:prstGeom>
          <a:noFill/>
        </p:spPr>
        <p:txBody>
          <a:bodyPr wrap="square">
            <a:spAutoFit/>
          </a:bodyPr>
          <a:lstStyle/>
          <a:p>
            <a:r>
              <a:rPr lang="fr-FR" sz="800" dirty="0"/>
              <a:t>Intéressant, manquant et plus facilement accessible en tant que Communauté (vs en individus)</a:t>
            </a:r>
          </a:p>
        </p:txBody>
      </p:sp>
      <p:sp>
        <p:nvSpPr>
          <p:cNvPr id="245" name="ZoneTexte 244">
            <a:extLst>
              <a:ext uri="{FF2B5EF4-FFF2-40B4-BE49-F238E27FC236}">
                <a16:creationId xmlns:a16="http://schemas.microsoft.com/office/drawing/2014/main" id="{7579BFDE-954F-BBAB-F2BA-44B841B0B6CC}"/>
              </a:ext>
            </a:extLst>
          </p:cNvPr>
          <p:cNvSpPr txBox="1"/>
          <p:nvPr/>
        </p:nvSpPr>
        <p:spPr>
          <a:xfrm>
            <a:off x="-1939" y="3353231"/>
            <a:ext cx="1156579" cy="584775"/>
          </a:xfrm>
          <a:prstGeom prst="rect">
            <a:avLst/>
          </a:prstGeom>
          <a:noFill/>
        </p:spPr>
        <p:txBody>
          <a:bodyPr wrap="square">
            <a:spAutoFit/>
          </a:bodyPr>
          <a:lstStyle/>
          <a:p>
            <a:r>
              <a:rPr lang="fr-FR" sz="800" dirty="0"/>
              <a:t>Intéressant, manquant et potentiellement accessible, difficulté d’accès inconnue</a:t>
            </a:r>
          </a:p>
        </p:txBody>
      </p:sp>
      <p:sp>
        <p:nvSpPr>
          <p:cNvPr id="247" name="ZoneTexte 246">
            <a:extLst>
              <a:ext uri="{FF2B5EF4-FFF2-40B4-BE49-F238E27FC236}">
                <a16:creationId xmlns:a16="http://schemas.microsoft.com/office/drawing/2014/main" id="{60ED9165-D930-6C61-DE1F-2DD9D2F8A871}"/>
              </a:ext>
            </a:extLst>
          </p:cNvPr>
          <p:cNvSpPr txBox="1"/>
          <p:nvPr/>
        </p:nvSpPr>
        <p:spPr>
          <a:xfrm>
            <a:off x="-24473" y="3996508"/>
            <a:ext cx="1147993" cy="584775"/>
          </a:xfrm>
          <a:prstGeom prst="rect">
            <a:avLst/>
          </a:prstGeom>
          <a:noFill/>
        </p:spPr>
        <p:txBody>
          <a:bodyPr wrap="square">
            <a:spAutoFit/>
          </a:bodyPr>
          <a:lstStyle/>
          <a:p>
            <a:r>
              <a:rPr lang="fr-FR" sz="800" dirty="0"/>
              <a:t>Intéressant, manquant et difficilement accessible, même en tant que Communauté</a:t>
            </a:r>
          </a:p>
        </p:txBody>
      </p:sp>
      <p:sp>
        <p:nvSpPr>
          <p:cNvPr id="249" name="ZoneTexte 248">
            <a:extLst>
              <a:ext uri="{FF2B5EF4-FFF2-40B4-BE49-F238E27FC236}">
                <a16:creationId xmlns:a16="http://schemas.microsoft.com/office/drawing/2014/main" id="{E66E1407-4585-DDE0-5F8E-A867015AB977}"/>
              </a:ext>
            </a:extLst>
          </p:cNvPr>
          <p:cNvSpPr txBox="1"/>
          <p:nvPr/>
        </p:nvSpPr>
        <p:spPr>
          <a:xfrm>
            <a:off x="-48029" y="4749645"/>
            <a:ext cx="1063951" cy="461665"/>
          </a:xfrm>
          <a:prstGeom prst="rect">
            <a:avLst/>
          </a:prstGeom>
          <a:noFill/>
        </p:spPr>
        <p:txBody>
          <a:bodyPr wrap="square">
            <a:spAutoFit/>
          </a:bodyPr>
          <a:lstStyle/>
          <a:p>
            <a:r>
              <a:rPr lang="fr-FR" sz="800" dirty="0"/>
              <a:t>Intérêt inconnu pour la Communauté, manquant</a:t>
            </a:r>
          </a:p>
        </p:txBody>
      </p:sp>
      <p:grpSp>
        <p:nvGrpSpPr>
          <p:cNvPr id="238" name="Groupe 237">
            <a:extLst>
              <a:ext uri="{FF2B5EF4-FFF2-40B4-BE49-F238E27FC236}">
                <a16:creationId xmlns:a16="http://schemas.microsoft.com/office/drawing/2014/main" id="{AD636271-10E4-C2A3-E209-C8C21DE31ABA}"/>
              </a:ext>
            </a:extLst>
          </p:cNvPr>
          <p:cNvGrpSpPr/>
          <p:nvPr/>
        </p:nvGrpSpPr>
        <p:grpSpPr>
          <a:xfrm>
            <a:off x="2493066" y="5375712"/>
            <a:ext cx="9598525" cy="695076"/>
            <a:chOff x="363244" y="1304631"/>
            <a:chExt cx="11603415" cy="840262"/>
          </a:xfrm>
        </p:grpSpPr>
        <p:grpSp>
          <p:nvGrpSpPr>
            <p:cNvPr id="240" name="Groupe 239">
              <a:extLst>
                <a:ext uri="{FF2B5EF4-FFF2-40B4-BE49-F238E27FC236}">
                  <a16:creationId xmlns:a16="http://schemas.microsoft.com/office/drawing/2014/main" id="{367F7E51-9450-3400-B6B4-4676F5F1C539}"/>
                </a:ext>
              </a:extLst>
            </p:cNvPr>
            <p:cNvGrpSpPr/>
            <p:nvPr/>
          </p:nvGrpSpPr>
          <p:grpSpPr>
            <a:xfrm>
              <a:off x="2776447" y="1327063"/>
              <a:ext cx="1274604" cy="803509"/>
              <a:chOff x="6804504" y="2072289"/>
              <a:chExt cx="1274604" cy="803509"/>
            </a:xfrm>
          </p:grpSpPr>
          <p:sp>
            <p:nvSpPr>
              <p:cNvPr id="273" name="ZoneTexte 272">
                <a:extLst>
                  <a:ext uri="{FF2B5EF4-FFF2-40B4-BE49-F238E27FC236}">
                    <a16:creationId xmlns:a16="http://schemas.microsoft.com/office/drawing/2014/main" id="{2E733B68-006B-6CFC-A206-E03AB41EDC9F}"/>
                  </a:ext>
                </a:extLst>
              </p:cNvPr>
              <p:cNvSpPr txBox="1"/>
              <p:nvPr/>
            </p:nvSpPr>
            <p:spPr>
              <a:xfrm>
                <a:off x="6804504" y="2603019"/>
                <a:ext cx="1274604" cy="272779"/>
              </a:xfrm>
              <a:prstGeom prst="rect">
                <a:avLst/>
              </a:prstGeom>
              <a:noFill/>
            </p:spPr>
            <p:txBody>
              <a:bodyPr wrap="square">
                <a:spAutoFit/>
              </a:bodyPr>
              <a:lstStyle/>
              <a:p>
                <a:pPr algn="ctr"/>
                <a:r>
                  <a:rPr lang="fr-FR" sz="900" dirty="0"/>
                  <a:t>Outils</a:t>
                </a:r>
              </a:p>
            </p:txBody>
          </p:sp>
          <p:pic>
            <p:nvPicPr>
              <p:cNvPr id="274" name="Graphique 273" descr="Chat avec un remplissage uni">
                <a:extLst>
                  <a:ext uri="{FF2B5EF4-FFF2-40B4-BE49-F238E27FC236}">
                    <a16:creationId xmlns:a16="http://schemas.microsoft.com/office/drawing/2014/main" id="{6D5E2E4C-1B49-3C08-805A-0ED3385AB980}"/>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7213206" y="2072289"/>
                <a:ext cx="457200" cy="457200"/>
              </a:xfrm>
              <a:prstGeom prst="rect">
                <a:avLst/>
              </a:prstGeom>
            </p:spPr>
          </p:pic>
        </p:grpSp>
        <p:grpSp>
          <p:nvGrpSpPr>
            <p:cNvPr id="242" name="Groupe 241">
              <a:extLst>
                <a:ext uri="{FF2B5EF4-FFF2-40B4-BE49-F238E27FC236}">
                  <a16:creationId xmlns:a16="http://schemas.microsoft.com/office/drawing/2014/main" id="{35690C9E-3C29-9B11-883C-89205F606181}"/>
                </a:ext>
              </a:extLst>
            </p:cNvPr>
            <p:cNvGrpSpPr/>
            <p:nvPr/>
          </p:nvGrpSpPr>
          <p:grpSpPr>
            <a:xfrm>
              <a:off x="5213379" y="1327063"/>
              <a:ext cx="1032426" cy="803509"/>
              <a:chOff x="5551821" y="2072289"/>
              <a:chExt cx="1032426" cy="803509"/>
            </a:xfrm>
          </p:grpSpPr>
          <p:sp>
            <p:nvSpPr>
              <p:cNvPr id="271" name="ZoneTexte 270">
                <a:extLst>
                  <a:ext uri="{FF2B5EF4-FFF2-40B4-BE49-F238E27FC236}">
                    <a16:creationId xmlns:a16="http://schemas.microsoft.com/office/drawing/2014/main" id="{1DD9D306-B948-E164-7819-5FCA5093B711}"/>
                  </a:ext>
                </a:extLst>
              </p:cNvPr>
              <p:cNvSpPr txBox="1"/>
              <p:nvPr/>
            </p:nvSpPr>
            <p:spPr>
              <a:xfrm>
                <a:off x="5551821" y="2603019"/>
                <a:ext cx="1032426" cy="272779"/>
              </a:xfrm>
              <a:prstGeom prst="rect">
                <a:avLst/>
              </a:prstGeom>
              <a:noFill/>
            </p:spPr>
            <p:txBody>
              <a:bodyPr wrap="square">
                <a:spAutoFit/>
              </a:bodyPr>
              <a:lstStyle/>
              <a:p>
                <a:pPr algn="ctr"/>
                <a:r>
                  <a:rPr lang="fr-FR" sz="900" dirty="0"/>
                  <a:t>Disponibilité</a:t>
                </a:r>
              </a:p>
            </p:txBody>
          </p:sp>
          <p:pic>
            <p:nvPicPr>
              <p:cNvPr id="272" name="Graphique 271" descr="Sablier 60% avec un remplissage uni">
                <a:extLst>
                  <a:ext uri="{FF2B5EF4-FFF2-40B4-BE49-F238E27FC236}">
                    <a16:creationId xmlns:a16="http://schemas.microsoft.com/office/drawing/2014/main" id="{B34F6221-9CCF-A33C-9480-C3AD0D135AB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847251" y="2072289"/>
                <a:ext cx="457200" cy="457200"/>
              </a:xfrm>
              <a:prstGeom prst="rect">
                <a:avLst/>
              </a:prstGeom>
            </p:spPr>
          </p:pic>
        </p:grpSp>
        <p:grpSp>
          <p:nvGrpSpPr>
            <p:cNvPr id="244" name="Groupe 243">
              <a:extLst>
                <a:ext uri="{FF2B5EF4-FFF2-40B4-BE49-F238E27FC236}">
                  <a16:creationId xmlns:a16="http://schemas.microsoft.com/office/drawing/2014/main" id="{848A497A-2205-3099-B925-C4E4F70F92CC}"/>
                </a:ext>
              </a:extLst>
            </p:cNvPr>
            <p:cNvGrpSpPr/>
            <p:nvPr/>
          </p:nvGrpSpPr>
          <p:grpSpPr>
            <a:xfrm>
              <a:off x="8728205" y="1319376"/>
              <a:ext cx="1032426" cy="803509"/>
              <a:chOff x="4204166" y="2072289"/>
              <a:chExt cx="1032426" cy="803509"/>
            </a:xfrm>
          </p:grpSpPr>
          <p:sp>
            <p:nvSpPr>
              <p:cNvPr id="269" name="ZoneTexte 268">
                <a:extLst>
                  <a:ext uri="{FF2B5EF4-FFF2-40B4-BE49-F238E27FC236}">
                    <a16:creationId xmlns:a16="http://schemas.microsoft.com/office/drawing/2014/main" id="{9890C381-1EC5-742E-DA51-815A71F9D03D}"/>
                  </a:ext>
                </a:extLst>
              </p:cNvPr>
              <p:cNvSpPr txBox="1"/>
              <p:nvPr/>
            </p:nvSpPr>
            <p:spPr>
              <a:xfrm>
                <a:off x="4204166" y="2603019"/>
                <a:ext cx="1032426" cy="272779"/>
              </a:xfrm>
              <a:prstGeom prst="rect">
                <a:avLst/>
              </a:prstGeom>
              <a:noFill/>
            </p:spPr>
            <p:txBody>
              <a:bodyPr wrap="square">
                <a:spAutoFit/>
              </a:bodyPr>
              <a:lstStyle/>
              <a:p>
                <a:pPr algn="ctr"/>
                <a:r>
                  <a:rPr lang="fr-FR" sz="900" dirty="0"/>
                  <a:t>Motivations</a:t>
                </a:r>
              </a:p>
            </p:txBody>
          </p:sp>
          <p:pic>
            <p:nvPicPr>
              <p:cNvPr id="270" name="Graphique 269" descr="Flèches de chevron avec un remplissage uni">
                <a:extLst>
                  <a:ext uri="{FF2B5EF4-FFF2-40B4-BE49-F238E27FC236}">
                    <a16:creationId xmlns:a16="http://schemas.microsoft.com/office/drawing/2014/main" id="{7093539A-7CDB-512A-CAB8-D5D20049C376}"/>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4491779" y="2072289"/>
                <a:ext cx="457200" cy="457200"/>
              </a:xfrm>
              <a:prstGeom prst="rect">
                <a:avLst/>
              </a:prstGeom>
            </p:spPr>
          </p:pic>
        </p:grpSp>
        <p:grpSp>
          <p:nvGrpSpPr>
            <p:cNvPr id="246" name="Groupe 245">
              <a:extLst>
                <a:ext uri="{FF2B5EF4-FFF2-40B4-BE49-F238E27FC236}">
                  <a16:creationId xmlns:a16="http://schemas.microsoft.com/office/drawing/2014/main" id="{2D1F3E7B-767F-56D8-1FDC-D1D5965A701B}"/>
                </a:ext>
              </a:extLst>
            </p:cNvPr>
            <p:cNvGrpSpPr/>
            <p:nvPr/>
          </p:nvGrpSpPr>
          <p:grpSpPr>
            <a:xfrm>
              <a:off x="6379681" y="1319376"/>
              <a:ext cx="1032426" cy="803509"/>
              <a:chOff x="2428298" y="2091339"/>
              <a:chExt cx="1032426" cy="803509"/>
            </a:xfrm>
          </p:grpSpPr>
          <p:sp>
            <p:nvSpPr>
              <p:cNvPr id="267" name="ZoneTexte 266">
                <a:extLst>
                  <a:ext uri="{FF2B5EF4-FFF2-40B4-BE49-F238E27FC236}">
                    <a16:creationId xmlns:a16="http://schemas.microsoft.com/office/drawing/2014/main" id="{FE2D0AD7-E841-9C0F-72CA-1E859B1AA5DF}"/>
                  </a:ext>
                </a:extLst>
              </p:cNvPr>
              <p:cNvSpPr txBox="1"/>
              <p:nvPr/>
            </p:nvSpPr>
            <p:spPr>
              <a:xfrm>
                <a:off x="2428298" y="2622069"/>
                <a:ext cx="1032426" cy="272779"/>
              </a:xfrm>
              <a:prstGeom prst="rect">
                <a:avLst/>
              </a:prstGeom>
              <a:noFill/>
            </p:spPr>
            <p:txBody>
              <a:bodyPr wrap="square">
                <a:spAutoFit/>
              </a:bodyPr>
              <a:lstStyle/>
              <a:p>
                <a:pPr algn="ctr"/>
                <a:r>
                  <a:rPr lang="fr-FR" sz="900" dirty="0"/>
                  <a:t>Compétences</a:t>
                </a:r>
              </a:p>
            </p:txBody>
          </p:sp>
          <p:pic>
            <p:nvPicPr>
              <p:cNvPr id="268" name="Graphique 267" descr="Tête avec engrenages avec un remplissage uni">
                <a:extLst>
                  <a:ext uri="{FF2B5EF4-FFF2-40B4-BE49-F238E27FC236}">
                    <a16:creationId xmlns:a16="http://schemas.microsoft.com/office/drawing/2014/main" id="{F359F596-7AE2-0C20-E23B-7217161B4C67}"/>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2732130" y="2091339"/>
                <a:ext cx="457200" cy="457200"/>
              </a:xfrm>
              <a:prstGeom prst="rect">
                <a:avLst/>
              </a:prstGeom>
            </p:spPr>
          </p:pic>
        </p:grpSp>
        <p:grpSp>
          <p:nvGrpSpPr>
            <p:cNvPr id="248" name="Groupe 247">
              <a:extLst>
                <a:ext uri="{FF2B5EF4-FFF2-40B4-BE49-F238E27FC236}">
                  <a16:creationId xmlns:a16="http://schemas.microsoft.com/office/drawing/2014/main" id="{9C646510-C606-5368-E69E-7FE9BFBCD3E6}"/>
                </a:ext>
              </a:extLst>
            </p:cNvPr>
            <p:cNvGrpSpPr/>
            <p:nvPr/>
          </p:nvGrpSpPr>
          <p:grpSpPr>
            <a:xfrm>
              <a:off x="1816849" y="1329133"/>
              <a:ext cx="754455" cy="803509"/>
              <a:chOff x="236639" y="2072289"/>
              <a:chExt cx="754455" cy="803509"/>
            </a:xfrm>
          </p:grpSpPr>
          <p:sp>
            <p:nvSpPr>
              <p:cNvPr id="265" name="ZoneTexte 264">
                <a:extLst>
                  <a:ext uri="{FF2B5EF4-FFF2-40B4-BE49-F238E27FC236}">
                    <a16:creationId xmlns:a16="http://schemas.microsoft.com/office/drawing/2014/main" id="{AC416C18-5047-EFB5-9673-5413EF139540}"/>
                  </a:ext>
                </a:extLst>
              </p:cNvPr>
              <p:cNvSpPr txBox="1"/>
              <p:nvPr/>
            </p:nvSpPr>
            <p:spPr>
              <a:xfrm>
                <a:off x="236639" y="2603019"/>
                <a:ext cx="754455" cy="272779"/>
              </a:xfrm>
              <a:prstGeom prst="rect">
                <a:avLst/>
              </a:prstGeom>
              <a:noFill/>
            </p:spPr>
            <p:txBody>
              <a:bodyPr wrap="square">
                <a:spAutoFit/>
              </a:bodyPr>
              <a:lstStyle/>
              <a:p>
                <a:pPr algn="ctr"/>
                <a:r>
                  <a:rPr lang="fr-FR" sz="900" dirty="0"/>
                  <a:t>Matériel</a:t>
                </a:r>
              </a:p>
            </p:txBody>
          </p:sp>
          <p:pic>
            <p:nvPicPr>
              <p:cNvPr id="266" name="Graphique 265" descr="Diable avec un remplissage uni">
                <a:extLst>
                  <a:ext uri="{FF2B5EF4-FFF2-40B4-BE49-F238E27FC236}">
                    <a16:creationId xmlns:a16="http://schemas.microsoft.com/office/drawing/2014/main" id="{C40EFC58-1DC2-7144-E220-4312B282A461}"/>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366612" y="2072289"/>
                <a:ext cx="457200" cy="457200"/>
              </a:xfrm>
              <a:prstGeom prst="rect">
                <a:avLst/>
              </a:prstGeom>
            </p:spPr>
          </p:pic>
        </p:grpSp>
        <p:grpSp>
          <p:nvGrpSpPr>
            <p:cNvPr id="250" name="Groupe 249">
              <a:extLst>
                <a:ext uri="{FF2B5EF4-FFF2-40B4-BE49-F238E27FC236}">
                  <a16:creationId xmlns:a16="http://schemas.microsoft.com/office/drawing/2014/main" id="{43BE3778-A066-7163-36FE-87081C2D90ED}"/>
                </a:ext>
              </a:extLst>
            </p:cNvPr>
            <p:cNvGrpSpPr/>
            <p:nvPr/>
          </p:nvGrpSpPr>
          <p:grpSpPr>
            <a:xfrm>
              <a:off x="7339961" y="1323986"/>
              <a:ext cx="1381765" cy="803509"/>
              <a:chOff x="1276816" y="2072289"/>
              <a:chExt cx="1381765" cy="803509"/>
            </a:xfrm>
          </p:grpSpPr>
          <p:sp>
            <p:nvSpPr>
              <p:cNvPr id="263" name="ZoneTexte 262">
                <a:extLst>
                  <a:ext uri="{FF2B5EF4-FFF2-40B4-BE49-F238E27FC236}">
                    <a16:creationId xmlns:a16="http://schemas.microsoft.com/office/drawing/2014/main" id="{85B1B433-A184-BEDF-BB68-CD91EEA657F7}"/>
                  </a:ext>
                </a:extLst>
              </p:cNvPr>
              <p:cNvSpPr txBox="1"/>
              <p:nvPr/>
            </p:nvSpPr>
            <p:spPr>
              <a:xfrm>
                <a:off x="1276816" y="2603019"/>
                <a:ext cx="1381765" cy="272779"/>
              </a:xfrm>
              <a:prstGeom prst="rect">
                <a:avLst/>
              </a:prstGeom>
              <a:noFill/>
            </p:spPr>
            <p:txBody>
              <a:bodyPr wrap="square">
                <a:spAutoFit/>
              </a:bodyPr>
              <a:lstStyle/>
              <a:p>
                <a:pPr algn="ctr"/>
                <a:r>
                  <a:rPr lang="fr-FR" sz="900" dirty="0"/>
                  <a:t>Informations clé</a:t>
                </a:r>
              </a:p>
            </p:txBody>
          </p:sp>
          <p:pic>
            <p:nvPicPr>
              <p:cNvPr id="264" name="Graphique 263" descr="Informations avec un remplissage uni">
                <a:extLst>
                  <a:ext uri="{FF2B5EF4-FFF2-40B4-BE49-F238E27FC236}">
                    <a16:creationId xmlns:a16="http://schemas.microsoft.com/office/drawing/2014/main" id="{9EA80B56-E633-1BF1-1F13-0043D9E5E201}"/>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1726018" y="2072289"/>
                <a:ext cx="478914" cy="478914"/>
              </a:xfrm>
              <a:prstGeom prst="rect">
                <a:avLst/>
              </a:prstGeom>
            </p:spPr>
          </p:pic>
        </p:grpSp>
        <p:grpSp>
          <p:nvGrpSpPr>
            <p:cNvPr id="251" name="Groupe 250">
              <a:extLst>
                <a:ext uri="{FF2B5EF4-FFF2-40B4-BE49-F238E27FC236}">
                  <a16:creationId xmlns:a16="http://schemas.microsoft.com/office/drawing/2014/main" id="{57112D31-ED9C-4872-3C96-4B6DFBB57430}"/>
                </a:ext>
              </a:extLst>
            </p:cNvPr>
            <p:cNvGrpSpPr/>
            <p:nvPr/>
          </p:nvGrpSpPr>
          <p:grpSpPr>
            <a:xfrm>
              <a:off x="363244" y="1341384"/>
              <a:ext cx="1274604" cy="803509"/>
              <a:chOff x="8215494" y="2072289"/>
              <a:chExt cx="1274604" cy="803509"/>
            </a:xfrm>
          </p:grpSpPr>
          <p:sp>
            <p:nvSpPr>
              <p:cNvPr id="261" name="ZoneTexte 260">
                <a:extLst>
                  <a:ext uri="{FF2B5EF4-FFF2-40B4-BE49-F238E27FC236}">
                    <a16:creationId xmlns:a16="http://schemas.microsoft.com/office/drawing/2014/main" id="{C30FB968-8D2A-990B-C088-A8F071D9A5EB}"/>
                  </a:ext>
                </a:extLst>
              </p:cNvPr>
              <p:cNvSpPr txBox="1"/>
              <p:nvPr/>
            </p:nvSpPr>
            <p:spPr>
              <a:xfrm>
                <a:off x="8215494" y="2603019"/>
                <a:ext cx="1274604" cy="272779"/>
              </a:xfrm>
              <a:prstGeom prst="rect">
                <a:avLst/>
              </a:prstGeom>
              <a:noFill/>
            </p:spPr>
            <p:txBody>
              <a:bodyPr wrap="square">
                <a:spAutoFit/>
              </a:bodyPr>
              <a:lstStyle/>
              <a:p>
                <a:pPr algn="ctr"/>
                <a:r>
                  <a:rPr lang="fr-FR" sz="900" dirty="0"/>
                  <a:t>Espaces et lieux</a:t>
                </a:r>
              </a:p>
            </p:txBody>
          </p:sp>
          <p:pic>
            <p:nvPicPr>
              <p:cNvPr id="262" name="Graphique 261" descr="Conseil d’administration avec un remplissage uni">
                <a:extLst>
                  <a:ext uri="{FF2B5EF4-FFF2-40B4-BE49-F238E27FC236}">
                    <a16:creationId xmlns:a16="http://schemas.microsoft.com/office/drawing/2014/main" id="{BD5BF51F-C56C-319D-06FA-5A053223CE31}"/>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8574409" y="2072289"/>
                <a:ext cx="556773" cy="556773"/>
              </a:xfrm>
              <a:prstGeom prst="rect">
                <a:avLst/>
              </a:prstGeom>
            </p:spPr>
          </p:pic>
        </p:grpSp>
        <p:grpSp>
          <p:nvGrpSpPr>
            <p:cNvPr id="252" name="Groupe 251">
              <a:extLst>
                <a:ext uri="{FF2B5EF4-FFF2-40B4-BE49-F238E27FC236}">
                  <a16:creationId xmlns:a16="http://schemas.microsoft.com/office/drawing/2014/main" id="{50AACDE2-4396-6049-1286-DF2F4C234A48}"/>
                </a:ext>
              </a:extLst>
            </p:cNvPr>
            <p:cNvGrpSpPr/>
            <p:nvPr/>
          </p:nvGrpSpPr>
          <p:grpSpPr>
            <a:xfrm>
              <a:off x="4195824" y="1322881"/>
              <a:ext cx="764501" cy="803509"/>
              <a:chOff x="9827467" y="2072289"/>
              <a:chExt cx="764501" cy="803509"/>
            </a:xfrm>
          </p:grpSpPr>
          <p:pic>
            <p:nvPicPr>
              <p:cNvPr id="259" name="Graphique 258" descr="Tirelire avec un remplissage uni">
                <a:extLst>
                  <a:ext uri="{FF2B5EF4-FFF2-40B4-BE49-F238E27FC236}">
                    <a16:creationId xmlns:a16="http://schemas.microsoft.com/office/drawing/2014/main" id="{86115235-CC1B-AA3A-B781-36BB7DD0A6E8}"/>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956969" y="2072289"/>
                <a:ext cx="540000" cy="540000"/>
              </a:xfrm>
              <a:prstGeom prst="rect">
                <a:avLst/>
              </a:prstGeom>
            </p:spPr>
          </p:pic>
          <p:sp>
            <p:nvSpPr>
              <p:cNvPr id="260" name="ZoneTexte 259">
                <a:extLst>
                  <a:ext uri="{FF2B5EF4-FFF2-40B4-BE49-F238E27FC236}">
                    <a16:creationId xmlns:a16="http://schemas.microsoft.com/office/drawing/2014/main" id="{A5651F6E-4651-BEF8-7341-09A8BB320570}"/>
                  </a:ext>
                </a:extLst>
              </p:cNvPr>
              <p:cNvSpPr txBox="1"/>
              <p:nvPr/>
            </p:nvSpPr>
            <p:spPr>
              <a:xfrm>
                <a:off x="9827467" y="2603019"/>
                <a:ext cx="764501" cy="272779"/>
              </a:xfrm>
              <a:prstGeom prst="rect">
                <a:avLst/>
              </a:prstGeom>
              <a:noFill/>
            </p:spPr>
            <p:txBody>
              <a:bodyPr wrap="square">
                <a:spAutoFit/>
              </a:bodyPr>
              <a:lstStyle/>
              <a:p>
                <a:pPr algn="ctr"/>
                <a:r>
                  <a:rPr lang="fr-FR" sz="900" dirty="0"/>
                  <a:t>Budget</a:t>
                </a:r>
              </a:p>
            </p:txBody>
          </p:sp>
        </p:grpSp>
        <p:grpSp>
          <p:nvGrpSpPr>
            <p:cNvPr id="253" name="Groupe 252">
              <a:extLst>
                <a:ext uri="{FF2B5EF4-FFF2-40B4-BE49-F238E27FC236}">
                  <a16:creationId xmlns:a16="http://schemas.microsoft.com/office/drawing/2014/main" id="{3A6A70A4-AA2C-76B0-E520-247561B1403F}"/>
                </a:ext>
              </a:extLst>
            </p:cNvPr>
            <p:cNvGrpSpPr/>
            <p:nvPr/>
          </p:nvGrpSpPr>
          <p:grpSpPr>
            <a:xfrm>
              <a:off x="11202158" y="1327063"/>
              <a:ext cx="764501" cy="803509"/>
              <a:chOff x="11150144" y="2072289"/>
              <a:chExt cx="764501" cy="803509"/>
            </a:xfrm>
          </p:grpSpPr>
          <p:pic>
            <p:nvPicPr>
              <p:cNvPr id="257" name="Graphique 256" descr="Badge point d’interrogation avec un remplissage uni">
                <a:extLst>
                  <a:ext uri="{FF2B5EF4-FFF2-40B4-BE49-F238E27FC236}">
                    <a16:creationId xmlns:a16="http://schemas.microsoft.com/office/drawing/2014/main" id="{37F2C1BF-2F69-EFB1-F5B5-1B404D232F84}"/>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11270657" y="2072289"/>
                <a:ext cx="540000" cy="540000"/>
              </a:xfrm>
              <a:prstGeom prst="rect">
                <a:avLst/>
              </a:prstGeom>
            </p:spPr>
          </p:pic>
          <p:sp>
            <p:nvSpPr>
              <p:cNvPr id="258" name="ZoneTexte 257">
                <a:extLst>
                  <a:ext uri="{FF2B5EF4-FFF2-40B4-BE49-F238E27FC236}">
                    <a16:creationId xmlns:a16="http://schemas.microsoft.com/office/drawing/2014/main" id="{E39E313A-C7E6-2F6A-18EA-06BD968D518C}"/>
                  </a:ext>
                </a:extLst>
              </p:cNvPr>
              <p:cNvSpPr txBox="1"/>
              <p:nvPr/>
            </p:nvSpPr>
            <p:spPr>
              <a:xfrm>
                <a:off x="11150144" y="2603019"/>
                <a:ext cx="764501" cy="272779"/>
              </a:xfrm>
              <a:prstGeom prst="rect">
                <a:avLst/>
              </a:prstGeom>
              <a:noFill/>
            </p:spPr>
            <p:txBody>
              <a:bodyPr wrap="square">
                <a:spAutoFit/>
              </a:bodyPr>
              <a:lstStyle/>
              <a:p>
                <a:pPr algn="ctr"/>
                <a:r>
                  <a:rPr lang="fr-FR" sz="900" dirty="0"/>
                  <a:t>Autres</a:t>
                </a:r>
              </a:p>
            </p:txBody>
          </p:sp>
        </p:grpSp>
        <p:grpSp>
          <p:nvGrpSpPr>
            <p:cNvPr id="254" name="Groupe 253">
              <a:extLst>
                <a:ext uri="{FF2B5EF4-FFF2-40B4-BE49-F238E27FC236}">
                  <a16:creationId xmlns:a16="http://schemas.microsoft.com/office/drawing/2014/main" id="{9EEA15AA-FAA9-9223-4BA3-E99B08D2091C}"/>
                </a:ext>
              </a:extLst>
            </p:cNvPr>
            <p:cNvGrpSpPr/>
            <p:nvPr/>
          </p:nvGrpSpPr>
          <p:grpSpPr>
            <a:xfrm>
              <a:off x="9754481" y="1304631"/>
              <a:ext cx="1326669" cy="822863"/>
              <a:chOff x="9651618" y="1361747"/>
              <a:chExt cx="1326669" cy="822863"/>
            </a:xfrm>
          </p:grpSpPr>
          <p:pic>
            <p:nvPicPr>
              <p:cNvPr id="255" name="Graphique 254" descr="Signe pouce en haut avec un remplissage uni">
                <a:extLst>
                  <a:ext uri="{FF2B5EF4-FFF2-40B4-BE49-F238E27FC236}">
                    <a16:creationId xmlns:a16="http://schemas.microsoft.com/office/drawing/2014/main" id="{FF31F156-3A3A-116D-6B3D-02ED705BD03B}"/>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10057766" y="1361747"/>
                <a:ext cx="514374" cy="514374"/>
              </a:xfrm>
              <a:prstGeom prst="rect">
                <a:avLst/>
              </a:prstGeom>
            </p:spPr>
          </p:pic>
          <p:sp>
            <p:nvSpPr>
              <p:cNvPr id="256" name="ZoneTexte 255">
                <a:extLst>
                  <a:ext uri="{FF2B5EF4-FFF2-40B4-BE49-F238E27FC236}">
                    <a16:creationId xmlns:a16="http://schemas.microsoft.com/office/drawing/2014/main" id="{9880EDA7-0F3F-6988-3006-364FA7EF745A}"/>
                  </a:ext>
                </a:extLst>
              </p:cNvPr>
              <p:cNvSpPr txBox="1"/>
              <p:nvPr/>
            </p:nvSpPr>
            <p:spPr>
              <a:xfrm>
                <a:off x="9651618" y="1911831"/>
                <a:ext cx="1326669" cy="272779"/>
              </a:xfrm>
              <a:prstGeom prst="rect">
                <a:avLst/>
              </a:prstGeom>
              <a:noFill/>
            </p:spPr>
            <p:txBody>
              <a:bodyPr wrap="square">
                <a:spAutoFit/>
              </a:bodyPr>
              <a:lstStyle/>
              <a:p>
                <a:pPr algn="ctr"/>
                <a:r>
                  <a:rPr lang="fr-FR" sz="900" dirty="0"/>
                  <a:t>Soutien extérieur</a:t>
                </a:r>
              </a:p>
            </p:txBody>
          </p:sp>
        </p:grpSp>
      </p:grpSp>
      <p:pic>
        <p:nvPicPr>
          <p:cNvPr id="208" name="Graphique 207" descr="Serveur avec un remplissage uni">
            <a:extLst>
              <a:ext uri="{FF2B5EF4-FFF2-40B4-BE49-F238E27FC236}">
                <a16:creationId xmlns:a16="http://schemas.microsoft.com/office/drawing/2014/main" id="{17E6F58F-6ABD-B450-E984-D28D960C476D}"/>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10422202" y="147443"/>
            <a:ext cx="776321" cy="776321"/>
          </a:xfrm>
          <a:prstGeom prst="rect">
            <a:avLst/>
          </a:prstGeom>
        </p:spPr>
      </p:pic>
      <p:sp>
        <p:nvSpPr>
          <p:cNvPr id="209" name="Rectangle 208">
            <a:extLst>
              <a:ext uri="{FF2B5EF4-FFF2-40B4-BE49-F238E27FC236}">
                <a16:creationId xmlns:a16="http://schemas.microsoft.com/office/drawing/2014/main" id="{48A9892E-CDB3-82B7-7796-75AC232E0B48}"/>
              </a:ext>
            </a:extLst>
          </p:cNvPr>
          <p:cNvSpPr/>
          <p:nvPr/>
        </p:nvSpPr>
        <p:spPr>
          <a:xfrm>
            <a:off x="11073498" y="79175"/>
            <a:ext cx="1115735" cy="14887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Exemple 2 </a:t>
            </a:r>
            <a:r>
              <a:rPr lang="fr-FR" sz="1200" dirty="0">
                <a:solidFill>
                  <a:schemeClr val="tx1"/>
                </a:solidFill>
              </a:rPr>
              <a:t>: </a:t>
            </a:r>
          </a:p>
          <a:p>
            <a:pPr algn="ctr"/>
            <a:r>
              <a:rPr lang="fr-FR" sz="1200" dirty="0">
                <a:solidFill>
                  <a:schemeClr val="tx1"/>
                </a:solidFill>
              </a:rPr>
              <a:t>Une petite Communauté </a:t>
            </a:r>
            <a:r>
              <a:rPr lang="fr-FR" sz="1200" i="1" dirty="0">
                <a:solidFill>
                  <a:schemeClr val="tx1"/>
                </a:solidFill>
              </a:rPr>
              <a:t>DEVOPS </a:t>
            </a:r>
            <a:r>
              <a:rPr lang="fr-FR" sz="1200" dirty="0">
                <a:solidFill>
                  <a:schemeClr val="tx1"/>
                </a:solidFill>
              </a:rPr>
              <a:t>à l’échelle d’un service (plusieurs équipes)</a:t>
            </a:r>
          </a:p>
        </p:txBody>
      </p:sp>
      <p:sp>
        <p:nvSpPr>
          <p:cNvPr id="210" name="Rectangle 209">
            <a:extLst>
              <a:ext uri="{FF2B5EF4-FFF2-40B4-BE49-F238E27FC236}">
                <a16:creationId xmlns:a16="http://schemas.microsoft.com/office/drawing/2014/main" id="{5330A97D-DEEF-5929-225A-D2A39BFBC4A8}"/>
              </a:ext>
            </a:extLst>
          </p:cNvPr>
          <p:cNvSpPr/>
          <p:nvPr/>
        </p:nvSpPr>
        <p:spPr>
          <a:xfrm>
            <a:off x="7426333" y="1048281"/>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Compétences clés en coaching DEVOPS d’un des membres</a:t>
            </a:r>
          </a:p>
        </p:txBody>
      </p:sp>
      <p:sp>
        <p:nvSpPr>
          <p:cNvPr id="211" name="Rectangle 210">
            <a:extLst>
              <a:ext uri="{FF2B5EF4-FFF2-40B4-BE49-F238E27FC236}">
                <a16:creationId xmlns:a16="http://schemas.microsoft.com/office/drawing/2014/main" id="{76D8E353-8377-06EE-EACA-E7BF93967733}"/>
              </a:ext>
            </a:extLst>
          </p:cNvPr>
          <p:cNvSpPr/>
          <p:nvPr/>
        </p:nvSpPr>
        <p:spPr>
          <a:xfrm>
            <a:off x="9345205" y="1048281"/>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Problèmes individuels similaires sur la chaîne de production</a:t>
            </a:r>
          </a:p>
        </p:txBody>
      </p:sp>
      <p:sp>
        <p:nvSpPr>
          <p:cNvPr id="212" name="Rectangle 211">
            <a:extLst>
              <a:ext uri="{FF2B5EF4-FFF2-40B4-BE49-F238E27FC236}">
                <a16:creationId xmlns:a16="http://schemas.microsoft.com/office/drawing/2014/main" id="{4B383EDA-F7FE-4C8E-B369-FFD6970D9139}"/>
              </a:ext>
            </a:extLst>
          </p:cNvPr>
          <p:cNvSpPr/>
          <p:nvPr/>
        </p:nvSpPr>
        <p:spPr>
          <a:xfrm>
            <a:off x="6520469" y="1059115"/>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Disponibilité Commune le vendredi matin 11H-12H (en ligne) </a:t>
            </a:r>
          </a:p>
        </p:txBody>
      </p:sp>
      <p:sp>
        <p:nvSpPr>
          <p:cNvPr id="213" name="Rectangle 212">
            <a:extLst>
              <a:ext uri="{FF2B5EF4-FFF2-40B4-BE49-F238E27FC236}">
                <a16:creationId xmlns:a16="http://schemas.microsoft.com/office/drawing/2014/main" id="{8114F70B-E94E-5A8C-8782-CF243A7DEC71}"/>
              </a:ext>
            </a:extLst>
          </p:cNvPr>
          <p:cNvSpPr/>
          <p:nvPr/>
        </p:nvSpPr>
        <p:spPr>
          <a:xfrm>
            <a:off x="8373727" y="1048281"/>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Liste de contacts dans le réseau professionnel DEVOPS</a:t>
            </a:r>
          </a:p>
        </p:txBody>
      </p:sp>
      <p:sp>
        <p:nvSpPr>
          <p:cNvPr id="214" name="Rectangle 213">
            <a:extLst>
              <a:ext uri="{FF2B5EF4-FFF2-40B4-BE49-F238E27FC236}">
                <a16:creationId xmlns:a16="http://schemas.microsoft.com/office/drawing/2014/main" id="{03539B00-31AA-A275-5C21-3BD37BCA0A0C}"/>
              </a:ext>
            </a:extLst>
          </p:cNvPr>
          <p:cNvSpPr/>
          <p:nvPr/>
        </p:nvSpPr>
        <p:spPr>
          <a:xfrm>
            <a:off x="4546724" y="1059115"/>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Accès commun à de mêmes outils de discussion</a:t>
            </a:r>
          </a:p>
        </p:txBody>
      </p:sp>
      <p:sp>
        <p:nvSpPr>
          <p:cNvPr id="217" name="Rectangle 216">
            <a:extLst>
              <a:ext uri="{FF2B5EF4-FFF2-40B4-BE49-F238E27FC236}">
                <a16:creationId xmlns:a16="http://schemas.microsoft.com/office/drawing/2014/main" id="{7CEF2E2B-45EB-B995-8DFC-6A7A8E8B62A0}"/>
              </a:ext>
            </a:extLst>
          </p:cNvPr>
          <p:cNvSpPr/>
          <p:nvPr/>
        </p:nvSpPr>
        <p:spPr>
          <a:xfrm>
            <a:off x="3556817" y="1059115"/>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Serveur de test à disposition</a:t>
            </a:r>
          </a:p>
        </p:txBody>
      </p:sp>
      <p:sp>
        <p:nvSpPr>
          <p:cNvPr id="218" name="Rectangle 217">
            <a:extLst>
              <a:ext uri="{FF2B5EF4-FFF2-40B4-BE49-F238E27FC236}">
                <a16:creationId xmlns:a16="http://schemas.microsoft.com/office/drawing/2014/main" id="{738BC050-54FF-C7EE-A7DC-4F0985ECA9B1}"/>
              </a:ext>
            </a:extLst>
          </p:cNvPr>
          <p:cNvSpPr/>
          <p:nvPr/>
        </p:nvSpPr>
        <p:spPr>
          <a:xfrm>
            <a:off x="7485760" y="6154245"/>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Compétences dans un outil retiré du marché</a:t>
            </a:r>
          </a:p>
        </p:txBody>
      </p:sp>
      <p:sp>
        <p:nvSpPr>
          <p:cNvPr id="219" name="Rectangle 218">
            <a:extLst>
              <a:ext uri="{FF2B5EF4-FFF2-40B4-BE49-F238E27FC236}">
                <a16:creationId xmlns:a16="http://schemas.microsoft.com/office/drawing/2014/main" id="{EB4ABC4E-8F52-951C-5D1F-EDA976B419CE}"/>
              </a:ext>
            </a:extLst>
          </p:cNvPr>
          <p:cNvSpPr/>
          <p:nvPr/>
        </p:nvSpPr>
        <p:spPr>
          <a:xfrm>
            <a:off x="5582695" y="2548218"/>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Budget possible pour un alternant pour la Communauté</a:t>
            </a:r>
          </a:p>
        </p:txBody>
      </p:sp>
      <p:sp>
        <p:nvSpPr>
          <p:cNvPr id="220" name="Rectangle 219">
            <a:extLst>
              <a:ext uri="{FF2B5EF4-FFF2-40B4-BE49-F238E27FC236}">
                <a16:creationId xmlns:a16="http://schemas.microsoft.com/office/drawing/2014/main" id="{DB581243-4CAF-E684-8E89-73141B440F05}"/>
              </a:ext>
            </a:extLst>
          </p:cNvPr>
          <p:cNvSpPr/>
          <p:nvPr/>
        </p:nvSpPr>
        <p:spPr>
          <a:xfrm>
            <a:off x="2564087" y="1772797"/>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Salles de réunion possibles le créneau de disponibilité</a:t>
            </a:r>
          </a:p>
        </p:txBody>
      </p:sp>
      <p:sp>
        <p:nvSpPr>
          <p:cNvPr id="221" name="Rectangle 220">
            <a:extLst>
              <a:ext uri="{FF2B5EF4-FFF2-40B4-BE49-F238E27FC236}">
                <a16:creationId xmlns:a16="http://schemas.microsoft.com/office/drawing/2014/main" id="{68CE908B-3108-997D-6AB7-08C330EE2458}"/>
              </a:ext>
            </a:extLst>
          </p:cNvPr>
          <p:cNvSpPr/>
          <p:nvPr/>
        </p:nvSpPr>
        <p:spPr>
          <a:xfrm>
            <a:off x="4546723" y="4657715"/>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Outils DEVOPS open source pas encore connus de la Communauté</a:t>
            </a:r>
          </a:p>
        </p:txBody>
      </p:sp>
      <p:sp>
        <p:nvSpPr>
          <p:cNvPr id="222" name="Rectangle 221">
            <a:extLst>
              <a:ext uri="{FF2B5EF4-FFF2-40B4-BE49-F238E27FC236}">
                <a16:creationId xmlns:a16="http://schemas.microsoft.com/office/drawing/2014/main" id="{50A30EED-689C-54EA-3115-4EA512CEB2EE}"/>
              </a:ext>
            </a:extLst>
          </p:cNvPr>
          <p:cNvSpPr/>
          <p:nvPr/>
        </p:nvSpPr>
        <p:spPr>
          <a:xfrm>
            <a:off x="7420328" y="3304068"/>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Expert mondial en DEVOPS dans le service d’à côté</a:t>
            </a:r>
          </a:p>
        </p:txBody>
      </p:sp>
      <p:sp>
        <p:nvSpPr>
          <p:cNvPr id="223" name="Rectangle 222">
            <a:extLst>
              <a:ext uri="{FF2B5EF4-FFF2-40B4-BE49-F238E27FC236}">
                <a16:creationId xmlns:a16="http://schemas.microsoft.com/office/drawing/2014/main" id="{C2D450D0-6257-FB4C-630E-8C262A1171D3}"/>
              </a:ext>
            </a:extLst>
          </p:cNvPr>
          <p:cNvSpPr/>
          <p:nvPr/>
        </p:nvSpPr>
        <p:spPr>
          <a:xfrm>
            <a:off x="10376094" y="3910410"/>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Soutien (possible ?) de la Direction (</a:t>
            </a:r>
            <a:r>
              <a:rPr lang="fr-FR" sz="800" dirty="0" err="1"/>
              <a:t>ComEx</a:t>
            </a:r>
            <a:r>
              <a:rPr lang="fr-FR" sz="800" dirty="0"/>
              <a:t>) pour le DEVOPS</a:t>
            </a:r>
          </a:p>
        </p:txBody>
      </p:sp>
    </p:spTree>
    <p:extLst>
      <p:ext uri="{BB962C8B-B14F-4D97-AF65-F5344CB8AC3E}">
        <p14:creationId xmlns:p14="http://schemas.microsoft.com/office/powerpoint/2010/main" val="182001405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3A3F6E7-1F8B-DE8D-FD17-4DB5B4F0372E}"/>
              </a:ext>
            </a:extLst>
          </p:cNvPr>
          <p:cNvSpPr>
            <a:spLocks noGrp="1"/>
          </p:cNvSpPr>
          <p:nvPr>
            <p:ph type="title"/>
          </p:nvPr>
        </p:nvSpPr>
        <p:spPr>
          <a:xfrm>
            <a:off x="838200" y="365126"/>
            <a:ext cx="10515600" cy="1195226"/>
          </a:xfrm>
        </p:spPr>
        <p:txBody>
          <a:bodyPr>
            <a:normAutofit/>
          </a:bodyPr>
          <a:lstStyle/>
          <a:p>
            <a:r>
              <a:rPr lang="fr-FR" sz="2800" dirty="0"/>
              <a:t>Avantages et inconvénients d’une tactique orientée </a:t>
            </a:r>
            <a:br>
              <a:rPr lang="fr-FR" sz="2800" dirty="0"/>
            </a:br>
            <a:r>
              <a:rPr lang="fr-FR" sz="4000" b="1" dirty="0"/>
              <a:t>UNIQUEMENT</a:t>
            </a:r>
            <a:r>
              <a:rPr lang="fr-FR" sz="2800" b="1" dirty="0"/>
              <a:t> </a:t>
            </a:r>
            <a:r>
              <a:rPr lang="fr-FR" sz="2800" dirty="0"/>
              <a:t>« Mise en commun de ressources »</a:t>
            </a:r>
          </a:p>
        </p:txBody>
      </p:sp>
      <p:sp>
        <p:nvSpPr>
          <p:cNvPr id="3" name="Espace réservé du contenu 2">
            <a:extLst>
              <a:ext uri="{FF2B5EF4-FFF2-40B4-BE49-F238E27FC236}">
                <a16:creationId xmlns:a16="http://schemas.microsoft.com/office/drawing/2014/main" id="{8EF6188B-9924-61D8-C61B-CF24083FF50A}"/>
              </a:ext>
            </a:extLst>
          </p:cNvPr>
          <p:cNvSpPr>
            <a:spLocks noGrp="1"/>
          </p:cNvSpPr>
          <p:nvPr>
            <p:ph idx="1"/>
          </p:nvPr>
        </p:nvSpPr>
        <p:spPr>
          <a:xfrm>
            <a:off x="838200" y="1825624"/>
            <a:ext cx="4563359" cy="4944292"/>
          </a:xfrm>
        </p:spPr>
        <p:txBody>
          <a:bodyPr>
            <a:normAutofit/>
          </a:bodyPr>
          <a:lstStyle/>
          <a:p>
            <a:pPr marL="0" indent="0">
              <a:buNone/>
            </a:pPr>
            <a:r>
              <a:rPr lang="fr-FR" b="1" dirty="0">
                <a:solidFill>
                  <a:srgbClr val="00B050"/>
                </a:solidFill>
              </a:rPr>
              <a:t>Avantages</a:t>
            </a:r>
            <a:r>
              <a:rPr lang="fr-FR" dirty="0"/>
              <a:t> : Opportunisme facilité et indicateurs de performance faciles car liés à la mutualisation</a:t>
            </a:r>
          </a:p>
          <a:p>
            <a:pPr lvl="1"/>
            <a:r>
              <a:rPr lang="fr-FR" sz="1800" b="1" dirty="0"/>
              <a:t>Valeur totale des ressources accessibles à un grand nombre </a:t>
            </a:r>
            <a:r>
              <a:rPr lang="fr-FR" sz="1800" dirty="0"/>
              <a:t>(devrait augmenter):</a:t>
            </a:r>
          </a:p>
          <a:p>
            <a:pPr lvl="1"/>
            <a:r>
              <a:rPr lang="fr-FR" sz="1800" b="1" dirty="0"/>
              <a:t>Coût moyen par membre</a:t>
            </a:r>
            <a:r>
              <a:rPr lang="fr-FR" sz="1800" dirty="0"/>
              <a:t> d'une ressource donnée (devrait baisser). </a:t>
            </a:r>
            <a:endParaRPr lang="fr-FR" sz="1800" i="1" dirty="0">
              <a:solidFill>
                <a:srgbClr val="00B050"/>
              </a:solidFill>
              <a:sym typeface="Wingdings" panose="05000000000000000000" pitchFamily="2" charset="2"/>
            </a:endParaRPr>
          </a:p>
          <a:p>
            <a:pPr lvl="1"/>
            <a:r>
              <a:rPr lang="fr-FR" sz="1800" b="1" dirty="0"/>
              <a:t>Taux d'usage de ressources </a:t>
            </a:r>
            <a:r>
              <a:rPr lang="fr-FR" sz="1800" dirty="0"/>
              <a:t>dans lesquelles on a déjà investi (devrait augmenter). </a:t>
            </a:r>
          </a:p>
        </p:txBody>
      </p:sp>
      <p:sp>
        <p:nvSpPr>
          <p:cNvPr id="4" name="Espace réservé du contenu 2">
            <a:extLst>
              <a:ext uri="{FF2B5EF4-FFF2-40B4-BE49-F238E27FC236}">
                <a16:creationId xmlns:a16="http://schemas.microsoft.com/office/drawing/2014/main" id="{B6827EC9-DAA6-F238-F174-83E6DA2E1276}"/>
              </a:ext>
            </a:extLst>
          </p:cNvPr>
          <p:cNvSpPr txBox="1">
            <a:spLocks/>
          </p:cNvSpPr>
          <p:nvPr/>
        </p:nvSpPr>
        <p:spPr>
          <a:xfrm>
            <a:off x="6202052" y="1825624"/>
            <a:ext cx="4563359" cy="4944292"/>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b="1" dirty="0">
                <a:solidFill>
                  <a:srgbClr val="FF0000"/>
                </a:solidFill>
              </a:rPr>
              <a:t>Inconvénients</a:t>
            </a:r>
            <a:r>
              <a:rPr lang="fr-FR" dirty="0"/>
              <a:t> : Approche qui met de côté beaucoup de complexité et de risques</a:t>
            </a:r>
          </a:p>
          <a:p>
            <a:pPr lvl="1"/>
            <a:r>
              <a:rPr lang="fr-FR" sz="1800" dirty="0"/>
              <a:t>Limites de l’opportunisme et </a:t>
            </a:r>
            <a:r>
              <a:rPr lang="fr-FR" sz="1800" b="1" dirty="0"/>
              <a:t>épuisement des ressources</a:t>
            </a:r>
            <a:r>
              <a:rPr lang="fr-FR" sz="1800" dirty="0"/>
              <a:t>.</a:t>
            </a:r>
            <a:endParaRPr lang="fr-FR" sz="1800" i="1" dirty="0">
              <a:solidFill>
                <a:srgbClr val="FF0000"/>
              </a:solidFill>
            </a:endParaRPr>
          </a:p>
          <a:p>
            <a:pPr lvl="1"/>
            <a:r>
              <a:rPr lang="fr-FR" sz="1800" dirty="0"/>
              <a:t>Pas de réflexion sur les </a:t>
            </a:r>
            <a:r>
              <a:rPr lang="fr-FR" sz="1800" b="1" dirty="0"/>
              <a:t>ressources créées par la Communauté</a:t>
            </a:r>
            <a:r>
              <a:rPr lang="fr-FR" sz="1800" dirty="0"/>
              <a:t>.</a:t>
            </a:r>
          </a:p>
          <a:p>
            <a:pPr lvl="1"/>
            <a:r>
              <a:rPr lang="fr-FR" sz="1800" dirty="0"/>
              <a:t>Pas de réflexion sur </a:t>
            </a:r>
            <a:r>
              <a:rPr lang="fr-FR" sz="1800" b="1" dirty="0"/>
              <a:t>les motivations</a:t>
            </a:r>
            <a:r>
              <a:rPr lang="fr-FR" sz="1800" dirty="0"/>
              <a:t>. </a:t>
            </a:r>
          </a:p>
          <a:p>
            <a:pPr lvl="1"/>
            <a:r>
              <a:rPr lang="fr-FR" sz="1800" dirty="0"/>
              <a:t>Pousse à maximiser le nombre de membres </a:t>
            </a:r>
            <a:r>
              <a:rPr lang="fr-FR" sz="1800" b="1" dirty="0"/>
              <a:t>sans regard sur les effets de bord et les risques liés au grand nombre</a:t>
            </a:r>
            <a:r>
              <a:rPr lang="fr-FR" sz="1800" dirty="0"/>
              <a:t>. </a:t>
            </a:r>
            <a:r>
              <a:rPr lang="fr-FR" sz="1800" i="1" dirty="0">
                <a:solidFill>
                  <a:srgbClr val="FF0000"/>
                </a:solidFill>
              </a:rPr>
              <a:t> </a:t>
            </a:r>
          </a:p>
          <a:p>
            <a:pPr lvl="1"/>
            <a:r>
              <a:rPr lang="fr-FR" sz="1800" dirty="0"/>
              <a:t>Effet de </a:t>
            </a:r>
            <a:r>
              <a:rPr lang="fr-FR" sz="1800" b="1" dirty="0"/>
              <a:t>saturation </a:t>
            </a:r>
            <a:r>
              <a:rPr lang="fr-FR" sz="1800" dirty="0"/>
              <a:t>(limite de partage)</a:t>
            </a:r>
            <a:r>
              <a:rPr lang="fr-FR" sz="1800" b="1" dirty="0"/>
              <a:t> d’une ressource</a:t>
            </a:r>
            <a:r>
              <a:rPr lang="fr-FR" sz="1800" dirty="0"/>
              <a:t>. </a:t>
            </a:r>
            <a:endParaRPr lang="fr-FR" sz="1800" i="1" dirty="0">
              <a:solidFill>
                <a:srgbClr val="FF0000"/>
              </a:solidFill>
            </a:endParaRPr>
          </a:p>
          <a:p>
            <a:pPr lvl="1"/>
            <a:r>
              <a:rPr lang="fr-FR" sz="1800" dirty="0"/>
              <a:t>Effet d’opportunisme des membres consommateurs et </a:t>
            </a:r>
            <a:r>
              <a:rPr lang="fr-FR" sz="1800" b="1" dirty="0"/>
              <a:t>asymétrie d’engagement</a:t>
            </a:r>
            <a:r>
              <a:rPr lang="fr-FR" sz="1800" dirty="0"/>
              <a:t>. </a:t>
            </a:r>
          </a:p>
        </p:txBody>
      </p:sp>
    </p:spTree>
    <p:extLst>
      <p:ext uri="{BB962C8B-B14F-4D97-AF65-F5344CB8AC3E}">
        <p14:creationId xmlns:p14="http://schemas.microsoft.com/office/powerpoint/2010/main" val="357907787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723E1A2-190A-A384-98CB-9A14D89C0CE3}"/>
              </a:ext>
            </a:extLst>
          </p:cNvPr>
          <p:cNvSpPr>
            <a:spLocks noGrp="1"/>
          </p:cNvSpPr>
          <p:nvPr>
            <p:ph type="title"/>
          </p:nvPr>
        </p:nvSpPr>
        <p:spPr/>
        <p:txBody>
          <a:bodyPr>
            <a:normAutofit fontScale="90000"/>
          </a:bodyPr>
          <a:lstStyle/>
          <a:p>
            <a:r>
              <a:rPr lang="fr-FR" sz="3600" dirty="0"/>
              <a:t>La valeur d’être ensemble</a:t>
            </a:r>
            <a:br>
              <a:rPr lang="fr-FR" sz="3600" dirty="0"/>
            </a:br>
            <a:r>
              <a:rPr lang="fr-FR" sz="3600" dirty="0"/>
              <a:t>Cas de Similarités et différences marquées entre membres</a:t>
            </a:r>
          </a:p>
        </p:txBody>
      </p:sp>
      <p:sp>
        <p:nvSpPr>
          <p:cNvPr id="3" name="Espace réservé du contenu 2">
            <a:extLst>
              <a:ext uri="{FF2B5EF4-FFF2-40B4-BE49-F238E27FC236}">
                <a16:creationId xmlns:a16="http://schemas.microsoft.com/office/drawing/2014/main" id="{03F543E7-2D1F-4FD6-F846-994C8D745EB0}"/>
              </a:ext>
            </a:extLst>
          </p:cNvPr>
          <p:cNvSpPr>
            <a:spLocks noGrp="1"/>
          </p:cNvSpPr>
          <p:nvPr>
            <p:ph idx="1"/>
          </p:nvPr>
        </p:nvSpPr>
        <p:spPr>
          <a:xfrm>
            <a:off x="180660" y="1814824"/>
            <a:ext cx="2809790" cy="4845325"/>
          </a:xfrm>
        </p:spPr>
        <p:txBody>
          <a:bodyPr>
            <a:normAutofit fontScale="92500" lnSpcReduction="10000"/>
          </a:bodyPr>
          <a:lstStyle/>
          <a:p>
            <a:pPr marL="0" indent="0">
              <a:buNone/>
            </a:pPr>
            <a:r>
              <a:rPr lang="fr-FR" sz="1400" dirty="0"/>
              <a:t>Suivant l’angle sous lequel on considère les membres d’une Communauté, ils peuvent avoir des points communs et des différences. Les membres n’étant pas des clones à la vie identique, il y a toujours des différences. Les membres n’étant pas non plus dans la Communauté par hasard, il y a toujours des points communs.</a:t>
            </a:r>
          </a:p>
          <a:p>
            <a:pPr marL="0" indent="0">
              <a:buNone/>
            </a:pPr>
            <a:r>
              <a:rPr lang="fr-FR" sz="1400" dirty="0"/>
              <a:t>Ces différences et points communs peuvent constituer une source de difficultés ou bien d’opportunités pour qui sait les saisir. </a:t>
            </a:r>
          </a:p>
          <a:p>
            <a:pPr marL="0" indent="0">
              <a:buNone/>
            </a:pPr>
            <a:r>
              <a:rPr lang="fr-FR" sz="1400" dirty="0"/>
              <a:t>En cherchant bien les caractéristiques, il est très facile de trouver au moins quelques similarités fortes ou différences fortes. </a:t>
            </a:r>
          </a:p>
          <a:p>
            <a:pPr marL="0" indent="0">
              <a:buNone/>
            </a:pPr>
            <a:r>
              <a:rPr lang="fr-FR" sz="1400" dirty="0"/>
              <a:t>Une fois identifiées, il peut être intéressant de bien savoir exploiter ces conditions, et ainsi mettre en avant la valeur d’être en Communauté. Mal utilisées, ces conditions peuvent être vécues comme des contraintes d’être en Communauté.</a:t>
            </a:r>
          </a:p>
        </p:txBody>
      </p:sp>
      <p:grpSp>
        <p:nvGrpSpPr>
          <p:cNvPr id="43" name="Groupe 42">
            <a:extLst>
              <a:ext uri="{FF2B5EF4-FFF2-40B4-BE49-F238E27FC236}">
                <a16:creationId xmlns:a16="http://schemas.microsoft.com/office/drawing/2014/main" id="{42C69A82-6AA2-71B2-CF9D-2988C3C35D62}"/>
              </a:ext>
            </a:extLst>
          </p:cNvPr>
          <p:cNvGrpSpPr/>
          <p:nvPr/>
        </p:nvGrpSpPr>
        <p:grpSpPr>
          <a:xfrm>
            <a:off x="3100251" y="2295756"/>
            <a:ext cx="8673737" cy="2063651"/>
            <a:chOff x="2201357" y="2299871"/>
            <a:chExt cx="9990643" cy="2376969"/>
          </a:xfrm>
        </p:grpSpPr>
        <p:sp>
          <p:nvSpPr>
            <p:cNvPr id="4" name="Flèche : double flèche horizontale 3">
              <a:extLst>
                <a:ext uri="{FF2B5EF4-FFF2-40B4-BE49-F238E27FC236}">
                  <a16:creationId xmlns:a16="http://schemas.microsoft.com/office/drawing/2014/main" id="{56A64584-73D0-A23F-B100-D16C8D367879}"/>
                </a:ext>
              </a:extLst>
            </p:cNvPr>
            <p:cNvSpPr/>
            <p:nvPr/>
          </p:nvSpPr>
          <p:spPr>
            <a:xfrm>
              <a:off x="3036888" y="3716994"/>
              <a:ext cx="8316913" cy="959846"/>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a:t>Sur une même caractéristique donnée</a:t>
              </a:r>
            </a:p>
          </p:txBody>
        </p:sp>
        <p:grpSp>
          <p:nvGrpSpPr>
            <p:cNvPr id="37" name="Groupe 36">
              <a:extLst>
                <a:ext uri="{FF2B5EF4-FFF2-40B4-BE49-F238E27FC236}">
                  <a16:creationId xmlns:a16="http://schemas.microsoft.com/office/drawing/2014/main" id="{E2D2D6BB-4806-496A-8CE3-D9E432AD20DA}"/>
                </a:ext>
              </a:extLst>
            </p:cNvPr>
            <p:cNvGrpSpPr/>
            <p:nvPr/>
          </p:nvGrpSpPr>
          <p:grpSpPr>
            <a:xfrm>
              <a:off x="2201357" y="2994046"/>
              <a:ext cx="2781592" cy="835533"/>
              <a:chOff x="3314408" y="2957049"/>
              <a:chExt cx="2781592" cy="835533"/>
            </a:xfrm>
          </p:grpSpPr>
          <p:grpSp>
            <p:nvGrpSpPr>
              <p:cNvPr id="21" name="Groupe 20">
                <a:extLst>
                  <a:ext uri="{FF2B5EF4-FFF2-40B4-BE49-F238E27FC236}">
                    <a16:creationId xmlns:a16="http://schemas.microsoft.com/office/drawing/2014/main" id="{9C5EBD47-21D4-9E29-8018-E2DFD58E5E6D}"/>
                  </a:ext>
                </a:extLst>
              </p:cNvPr>
              <p:cNvGrpSpPr/>
              <p:nvPr/>
            </p:nvGrpSpPr>
            <p:grpSpPr>
              <a:xfrm>
                <a:off x="3314408" y="2957049"/>
                <a:ext cx="2781592" cy="835533"/>
                <a:chOff x="3749837" y="3012255"/>
                <a:chExt cx="2346163" cy="704739"/>
              </a:xfrm>
            </p:grpSpPr>
            <p:pic>
              <p:nvPicPr>
                <p:cNvPr id="18" name="Graphique 17" descr="Utilisateur avec un remplissage uni">
                  <a:extLst>
                    <a:ext uri="{FF2B5EF4-FFF2-40B4-BE49-F238E27FC236}">
                      <a16:creationId xmlns:a16="http://schemas.microsoft.com/office/drawing/2014/main" id="{D4F6FA0C-3B52-FEB9-CCAD-5EA8851D364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49837" y="3012257"/>
                  <a:ext cx="704737" cy="704737"/>
                </a:xfrm>
                <a:prstGeom prst="rect">
                  <a:avLst/>
                </a:prstGeom>
              </p:spPr>
            </p:pic>
            <p:pic>
              <p:nvPicPr>
                <p:cNvPr id="19" name="Graphique 18" descr="Utilisateur avec un remplissage uni">
                  <a:extLst>
                    <a:ext uri="{FF2B5EF4-FFF2-40B4-BE49-F238E27FC236}">
                      <a16:creationId xmlns:a16="http://schemas.microsoft.com/office/drawing/2014/main" id="{BE84870B-D091-ED58-9618-A973564B52D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570550" y="3012256"/>
                  <a:ext cx="704737" cy="704737"/>
                </a:xfrm>
                <a:prstGeom prst="rect">
                  <a:avLst/>
                </a:prstGeom>
              </p:spPr>
            </p:pic>
            <p:pic>
              <p:nvPicPr>
                <p:cNvPr id="20" name="Graphique 19" descr="Utilisateur avec un remplissage uni">
                  <a:extLst>
                    <a:ext uri="{FF2B5EF4-FFF2-40B4-BE49-F238E27FC236}">
                      <a16:creationId xmlns:a16="http://schemas.microsoft.com/office/drawing/2014/main" id="{D0F9C3A7-0305-F586-4819-D7EA8AFE5FD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391263" y="3012255"/>
                  <a:ext cx="704737" cy="704737"/>
                </a:xfrm>
                <a:prstGeom prst="rect">
                  <a:avLst/>
                </a:prstGeom>
              </p:spPr>
            </p:pic>
          </p:grpSp>
          <p:sp>
            <p:nvSpPr>
              <p:cNvPr id="30" name="Est égal à 29">
                <a:extLst>
                  <a:ext uri="{FF2B5EF4-FFF2-40B4-BE49-F238E27FC236}">
                    <a16:creationId xmlns:a16="http://schemas.microsoft.com/office/drawing/2014/main" id="{E69D25C7-7179-BDC7-202D-1E3DCB968B44}"/>
                  </a:ext>
                </a:extLst>
              </p:cNvPr>
              <p:cNvSpPr/>
              <p:nvPr/>
            </p:nvSpPr>
            <p:spPr>
              <a:xfrm>
                <a:off x="3981020" y="3260276"/>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1" name="Est égal à 30">
                <a:extLst>
                  <a:ext uri="{FF2B5EF4-FFF2-40B4-BE49-F238E27FC236}">
                    <a16:creationId xmlns:a16="http://schemas.microsoft.com/office/drawing/2014/main" id="{9AAF71E7-B48F-FB5C-E1C6-EC2ADD98D8F1}"/>
                  </a:ext>
                </a:extLst>
              </p:cNvPr>
              <p:cNvSpPr/>
              <p:nvPr/>
            </p:nvSpPr>
            <p:spPr>
              <a:xfrm>
                <a:off x="4955907" y="3260275"/>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grpSp>
          <p:nvGrpSpPr>
            <p:cNvPr id="39" name="Groupe 38">
              <a:extLst>
                <a:ext uri="{FF2B5EF4-FFF2-40B4-BE49-F238E27FC236}">
                  <a16:creationId xmlns:a16="http://schemas.microsoft.com/office/drawing/2014/main" id="{8E4E97C5-C7F5-5401-2F6F-F236510ECF99}"/>
                </a:ext>
              </a:extLst>
            </p:cNvPr>
            <p:cNvGrpSpPr/>
            <p:nvPr/>
          </p:nvGrpSpPr>
          <p:grpSpPr>
            <a:xfrm>
              <a:off x="5929056" y="3011232"/>
              <a:ext cx="2781592" cy="835533"/>
              <a:chOff x="6515538" y="4457086"/>
              <a:chExt cx="2781592" cy="835533"/>
            </a:xfrm>
          </p:grpSpPr>
          <p:grpSp>
            <p:nvGrpSpPr>
              <p:cNvPr id="26" name="Groupe 25">
                <a:extLst>
                  <a:ext uri="{FF2B5EF4-FFF2-40B4-BE49-F238E27FC236}">
                    <a16:creationId xmlns:a16="http://schemas.microsoft.com/office/drawing/2014/main" id="{AEB32FB6-0718-F16D-8EEB-92F6F3EDC922}"/>
                  </a:ext>
                </a:extLst>
              </p:cNvPr>
              <p:cNvGrpSpPr/>
              <p:nvPr/>
            </p:nvGrpSpPr>
            <p:grpSpPr>
              <a:xfrm>
                <a:off x="6515538" y="4457086"/>
                <a:ext cx="2781592" cy="835533"/>
                <a:chOff x="3749837" y="3012255"/>
                <a:chExt cx="2346163" cy="704739"/>
              </a:xfrm>
            </p:grpSpPr>
            <p:pic>
              <p:nvPicPr>
                <p:cNvPr id="27" name="Graphique 26" descr="Utilisateur avec un remplissage uni">
                  <a:extLst>
                    <a:ext uri="{FF2B5EF4-FFF2-40B4-BE49-F238E27FC236}">
                      <a16:creationId xmlns:a16="http://schemas.microsoft.com/office/drawing/2014/main" id="{1531D23A-90BB-E624-1BF3-5C5A4A2F95E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49837" y="3012257"/>
                  <a:ext cx="704737" cy="704737"/>
                </a:xfrm>
                <a:prstGeom prst="rect">
                  <a:avLst/>
                </a:prstGeom>
              </p:spPr>
            </p:pic>
            <p:pic>
              <p:nvPicPr>
                <p:cNvPr id="28" name="Graphique 27" descr="Utilisateur avec un remplissage uni">
                  <a:extLst>
                    <a:ext uri="{FF2B5EF4-FFF2-40B4-BE49-F238E27FC236}">
                      <a16:creationId xmlns:a16="http://schemas.microsoft.com/office/drawing/2014/main" id="{C5B3B1AD-55D0-061C-275A-621A0A2969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570550" y="3012256"/>
                  <a:ext cx="704737" cy="704737"/>
                </a:xfrm>
                <a:prstGeom prst="rect">
                  <a:avLst/>
                </a:prstGeom>
              </p:spPr>
            </p:pic>
            <p:pic>
              <p:nvPicPr>
                <p:cNvPr id="29" name="Graphique 28" descr="Utilisateur avec un remplissage uni">
                  <a:extLst>
                    <a:ext uri="{FF2B5EF4-FFF2-40B4-BE49-F238E27FC236}">
                      <a16:creationId xmlns:a16="http://schemas.microsoft.com/office/drawing/2014/main" id="{FB5244CE-6E32-E02D-325D-EFF0F61807B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391263" y="3012255"/>
                  <a:ext cx="704737" cy="704737"/>
                </a:xfrm>
                <a:prstGeom prst="rect">
                  <a:avLst/>
                </a:prstGeom>
              </p:spPr>
            </p:pic>
          </p:grpSp>
          <p:sp>
            <p:nvSpPr>
              <p:cNvPr id="32" name="Est égal à 31">
                <a:extLst>
                  <a:ext uri="{FF2B5EF4-FFF2-40B4-BE49-F238E27FC236}">
                    <a16:creationId xmlns:a16="http://schemas.microsoft.com/office/drawing/2014/main" id="{F02B165F-BE80-E204-ABE8-AE1EF07840BA}"/>
                  </a:ext>
                </a:extLst>
              </p:cNvPr>
              <p:cNvSpPr/>
              <p:nvPr/>
            </p:nvSpPr>
            <p:spPr>
              <a:xfrm>
                <a:off x="7163530" y="4793936"/>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4" name="Non égal 33">
                <a:extLst>
                  <a:ext uri="{FF2B5EF4-FFF2-40B4-BE49-F238E27FC236}">
                    <a16:creationId xmlns:a16="http://schemas.microsoft.com/office/drawing/2014/main" id="{CDDE2C51-6BBE-FF20-8086-B40F4C0DADC2}"/>
                  </a:ext>
                </a:extLst>
              </p:cNvPr>
              <p:cNvSpPr/>
              <p:nvPr/>
            </p:nvSpPr>
            <p:spPr>
              <a:xfrm>
                <a:off x="8154413" y="4793935"/>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grpSp>
          <p:nvGrpSpPr>
            <p:cNvPr id="38" name="Groupe 37">
              <a:extLst>
                <a:ext uri="{FF2B5EF4-FFF2-40B4-BE49-F238E27FC236}">
                  <a16:creationId xmlns:a16="http://schemas.microsoft.com/office/drawing/2014/main" id="{8D78DD28-D2E0-A34F-732C-9CAC44EA3792}"/>
                </a:ext>
              </a:extLst>
            </p:cNvPr>
            <p:cNvGrpSpPr/>
            <p:nvPr/>
          </p:nvGrpSpPr>
          <p:grpSpPr>
            <a:xfrm>
              <a:off x="9656756" y="2994046"/>
              <a:ext cx="2535244" cy="761535"/>
              <a:chOff x="9656756" y="2994046"/>
              <a:chExt cx="2535244" cy="761535"/>
            </a:xfrm>
          </p:grpSpPr>
          <p:grpSp>
            <p:nvGrpSpPr>
              <p:cNvPr id="22" name="Groupe 21">
                <a:extLst>
                  <a:ext uri="{FF2B5EF4-FFF2-40B4-BE49-F238E27FC236}">
                    <a16:creationId xmlns:a16="http://schemas.microsoft.com/office/drawing/2014/main" id="{4A18BF48-B8C6-F38A-3296-36768B899A6D}"/>
                  </a:ext>
                </a:extLst>
              </p:cNvPr>
              <p:cNvGrpSpPr/>
              <p:nvPr/>
            </p:nvGrpSpPr>
            <p:grpSpPr>
              <a:xfrm>
                <a:off x="9656756" y="2994046"/>
                <a:ext cx="2535244" cy="761535"/>
                <a:chOff x="3749837" y="3012255"/>
                <a:chExt cx="2346163" cy="704739"/>
              </a:xfrm>
            </p:grpSpPr>
            <p:pic>
              <p:nvPicPr>
                <p:cNvPr id="23" name="Graphique 22" descr="Utilisateur avec un remplissage uni">
                  <a:extLst>
                    <a:ext uri="{FF2B5EF4-FFF2-40B4-BE49-F238E27FC236}">
                      <a16:creationId xmlns:a16="http://schemas.microsoft.com/office/drawing/2014/main" id="{8043D05E-53D7-4E80-2C99-CC11694399C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49837" y="3012257"/>
                  <a:ext cx="704737" cy="704737"/>
                </a:xfrm>
                <a:prstGeom prst="rect">
                  <a:avLst/>
                </a:prstGeom>
              </p:spPr>
            </p:pic>
            <p:pic>
              <p:nvPicPr>
                <p:cNvPr id="24" name="Graphique 23" descr="Utilisateur avec un remplissage uni">
                  <a:extLst>
                    <a:ext uri="{FF2B5EF4-FFF2-40B4-BE49-F238E27FC236}">
                      <a16:creationId xmlns:a16="http://schemas.microsoft.com/office/drawing/2014/main" id="{D7B01B07-82E5-D12D-6742-17D8C4F1D36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570550" y="3012256"/>
                  <a:ext cx="704737" cy="704737"/>
                </a:xfrm>
                <a:prstGeom prst="rect">
                  <a:avLst/>
                </a:prstGeom>
              </p:spPr>
            </p:pic>
            <p:pic>
              <p:nvPicPr>
                <p:cNvPr id="25" name="Graphique 24" descr="Utilisateur avec un remplissage uni">
                  <a:extLst>
                    <a:ext uri="{FF2B5EF4-FFF2-40B4-BE49-F238E27FC236}">
                      <a16:creationId xmlns:a16="http://schemas.microsoft.com/office/drawing/2014/main" id="{1D47F3DF-9899-1FCB-C6FD-052C5BFAE4D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391263" y="3012255"/>
                  <a:ext cx="704737" cy="704737"/>
                </a:xfrm>
                <a:prstGeom prst="rect">
                  <a:avLst/>
                </a:prstGeom>
              </p:spPr>
            </p:pic>
          </p:grpSp>
          <p:sp>
            <p:nvSpPr>
              <p:cNvPr id="35" name="Non égal 34">
                <a:extLst>
                  <a:ext uri="{FF2B5EF4-FFF2-40B4-BE49-F238E27FC236}">
                    <a16:creationId xmlns:a16="http://schemas.microsoft.com/office/drawing/2014/main" id="{D7361678-92DC-568B-827F-D576714CFC1F}"/>
                  </a:ext>
                </a:extLst>
              </p:cNvPr>
              <p:cNvSpPr/>
              <p:nvPr/>
            </p:nvSpPr>
            <p:spPr>
              <a:xfrm>
                <a:off x="10242513" y="3271894"/>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6" name="Non égal 35">
                <a:extLst>
                  <a:ext uri="{FF2B5EF4-FFF2-40B4-BE49-F238E27FC236}">
                    <a16:creationId xmlns:a16="http://schemas.microsoft.com/office/drawing/2014/main" id="{1EBDC39D-8485-5EAF-41DC-B1A710F9FB7E}"/>
                  </a:ext>
                </a:extLst>
              </p:cNvPr>
              <p:cNvSpPr/>
              <p:nvPr/>
            </p:nvSpPr>
            <p:spPr>
              <a:xfrm>
                <a:off x="11129369" y="3260275"/>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40" name="ZoneTexte 39">
              <a:extLst>
                <a:ext uri="{FF2B5EF4-FFF2-40B4-BE49-F238E27FC236}">
                  <a16:creationId xmlns:a16="http://schemas.microsoft.com/office/drawing/2014/main" id="{9A7393B5-91A5-7ABF-D945-F1AEB30F547B}"/>
                </a:ext>
              </a:extLst>
            </p:cNvPr>
            <p:cNvSpPr txBox="1"/>
            <p:nvPr/>
          </p:nvSpPr>
          <p:spPr>
            <a:xfrm>
              <a:off x="2664690" y="2621769"/>
              <a:ext cx="1854925" cy="354506"/>
            </a:xfrm>
            <a:prstGeom prst="rect">
              <a:avLst/>
            </a:prstGeom>
            <a:noFill/>
          </p:spPr>
          <p:txBody>
            <a:bodyPr wrap="square" anchor="ctr">
              <a:spAutoFit/>
            </a:bodyPr>
            <a:lstStyle/>
            <a:p>
              <a:pPr algn="ctr"/>
              <a:r>
                <a:rPr lang="fr-FR" sz="1400"/>
                <a:t>Similarité fortes</a:t>
              </a:r>
            </a:p>
          </p:txBody>
        </p:sp>
        <p:sp>
          <p:nvSpPr>
            <p:cNvPr id="41" name="ZoneTexte 40">
              <a:extLst>
                <a:ext uri="{FF2B5EF4-FFF2-40B4-BE49-F238E27FC236}">
                  <a16:creationId xmlns:a16="http://schemas.microsoft.com/office/drawing/2014/main" id="{DEE5386C-5734-DF2F-70CC-31D950B3C81B}"/>
                </a:ext>
              </a:extLst>
            </p:cNvPr>
            <p:cNvSpPr txBox="1"/>
            <p:nvPr/>
          </p:nvSpPr>
          <p:spPr>
            <a:xfrm>
              <a:off x="6257554" y="2299871"/>
              <a:ext cx="2124594" cy="602659"/>
            </a:xfrm>
            <a:prstGeom prst="rect">
              <a:avLst/>
            </a:prstGeom>
            <a:noFill/>
          </p:spPr>
          <p:txBody>
            <a:bodyPr wrap="square" anchor="ctr">
              <a:spAutoFit/>
            </a:bodyPr>
            <a:lstStyle/>
            <a:p>
              <a:pPr algn="ctr"/>
              <a:r>
                <a:rPr lang="fr-FR" sz="1400"/>
                <a:t>Ni similarité fortes, ni différences fortes</a:t>
              </a:r>
            </a:p>
          </p:txBody>
        </p:sp>
        <p:sp>
          <p:nvSpPr>
            <p:cNvPr id="42" name="ZoneTexte 41">
              <a:extLst>
                <a:ext uri="{FF2B5EF4-FFF2-40B4-BE49-F238E27FC236}">
                  <a16:creationId xmlns:a16="http://schemas.microsoft.com/office/drawing/2014/main" id="{7D078013-6FF7-DD20-9EED-7621C1F38987}"/>
                </a:ext>
              </a:extLst>
            </p:cNvPr>
            <p:cNvSpPr txBox="1"/>
            <p:nvPr/>
          </p:nvSpPr>
          <p:spPr>
            <a:xfrm>
              <a:off x="10123576" y="2628553"/>
              <a:ext cx="1854925" cy="354506"/>
            </a:xfrm>
            <a:prstGeom prst="rect">
              <a:avLst/>
            </a:prstGeom>
            <a:noFill/>
          </p:spPr>
          <p:txBody>
            <a:bodyPr wrap="square" anchor="ctr">
              <a:spAutoFit/>
            </a:bodyPr>
            <a:lstStyle/>
            <a:p>
              <a:pPr algn="ctr"/>
              <a:r>
                <a:rPr lang="fr-FR" sz="1400"/>
                <a:t>Différences fortes</a:t>
              </a:r>
            </a:p>
          </p:txBody>
        </p:sp>
      </p:grpSp>
      <p:sp>
        <p:nvSpPr>
          <p:cNvPr id="46" name="ZoneTexte 45">
            <a:extLst>
              <a:ext uri="{FF2B5EF4-FFF2-40B4-BE49-F238E27FC236}">
                <a16:creationId xmlns:a16="http://schemas.microsoft.com/office/drawing/2014/main" id="{E79532E7-E56C-A957-F39A-E8135CC3861A}"/>
              </a:ext>
            </a:extLst>
          </p:cNvPr>
          <p:cNvSpPr txBox="1"/>
          <p:nvPr/>
        </p:nvSpPr>
        <p:spPr>
          <a:xfrm>
            <a:off x="3100251" y="4414997"/>
            <a:ext cx="1269137" cy="784830"/>
          </a:xfrm>
          <a:prstGeom prst="rect">
            <a:avLst/>
          </a:prstGeom>
          <a:solidFill>
            <a:srgbClr val="54FFB3"/>
          </a:solidFill>
        </p:spPr>
        <p:txBody>
          <a:bodyPr wrap="square" anchor="ctr">
            <a:noAutofit/>
          </a:bodyPr>
          <a:lstStyle/>
          <a:p>
            <a:pPr algn="ctr"/>
            <a:r>
              <a:rPr lang="fr-FR" sz="1000" dirty="0"/>
              <a:t>Plus grande facilité d’interactions et de choix grâce aux références communes</a:t>
            </a:r>
          </a:p>
        </p:txBody>
      </p:sp>
      <p:sp>
        <p:nvSpPr>
          <p:cNvPr id="47" name="ZoneTexte 46">
            <a:extLst>
              <a:ext uri="{FF2B5EF4-FFF2-40B4-BE49-F238E27FC236}">
                <a16:creationId xmlns:a16="http://schemas.microsoft.com/office/drawing/2014/main" id="{766DB8A1-5D4F-7C91-0039-02A113023B6D}"/>
              </a:ext>
            </a:extLst>
          </p:cNvPr>
          <p:cNvSpPr txBox="1"/>
          <p:nvPr/>
        </p:nvSpPr>
        <p:spPr>
          <a:xfrm>
            <a:off x="4428625" y="4410090"/>
            <a:ext cx="1269137" cy="784830"/>
          </a:xfrm>
          <a:prstGeom prst="rect">
            <a:avLst/>
          </a:prstGeom>
          <a:solidFill>
            <a:srgbClr val="54FFB3"/>
          </a:solidFill>
        </p:spPr>
        <p:txBody>
          <a:bodyPr wrap="square" anchor="ctr">
            <a:noAutofit/>
          </a:bodyPr>
          <a:lstStyle/>
          <a:p>
            <a:pPr algn="ctr"/>
            <a:r>
              <a:rPr lang="fr-FR" sz="1000" dirty="0"/>
              <a:t>Sentiment d’appartenance par ressemblance</a:t>
            </a:r>
          </a:p>
        </p:txBody>
      </p:sp>
      <p:sp>
        <p:nvSpPr>
          <p:cNvPr id="48" name="ZoneTexte 47">
            <a:extLst>
              <a:ext uri="{FF2B5EF4-FFF2-40B4-BE49-F238E27FC236}">
                <a16:creationId xmlns:a16="http://schemas.microsoft.com/office/drawing/2014/main" id="{AE19884E-6348-E707-18C1-D06BE7A83500}"/>
              </a:ext>
            </a:extLst>
          </p:cNvPr>
          <p:cNvSpPr txBox="1"/>
          <p:nvPr/>
        </p:nvSpPr>
        <p:spPr>
          <a:xfrm>
            <a:off x="3100251" y="5290048"/>
            <a:ext cx="1269137" cy="784830"/>
          </a:xfrm>
          <a:prstGeom prst="rect">
            <a:avLst/>
          </a:prstGeom>
          <a:solidFill>
            <a:srgbClr val="FF7C80"/>
          </a:solidFill>
        </p:spPr>
        <p:txBody>
          <a:bodyPr wrap="square" anchor="ctr">
            <a:noAutofit/>
          </a:bodyPr>
          <a:lstStyle/>
          <a:p>
            <a:pPr algn="ctr"/>
            <a:r>
              <a:rPr lang="fr-FR" sz="1000" dirty="0"/>
              <a:t>Risque de manque d’innovation, de créativité « out-of-the-box », et de fermeture</a:t>
            </a:r>
          </a:p>
        </p:txBody>
      </p:sp>
      <p:sp>
        <p:nvSpPr>
          <p:cNvPr id="49" name="ZoneTexte 48">
            <a:extLst>
              <a:ext uri="{FF2B5EF4-FFF2-40B4-BE49-F238E27FC236}">
                <a16:creationId xmlns:a16="http://schemas.microsoft.com/office/drawing/2014/main" id="{CC305E4C-EBA4-B2A0-A18D-00DE020EACFF}"/>
              </a:ext>
            </a:extLst>
          </p:cNvPr>
          <p:cNvSpPr txBox="1"/>
          <p:nvPr/>
        </p:nvSpPr>
        <p:spPr>
          <a:xfrm>
            <a:off x="4428625" y="5290048"/>
            <a:ext cx="1269137" cy="784830"/>
          </a:xfrm>
          <a:prstGeom prst="rect">
            <a:avLst/>
          </a:prstGeom>
          <a:solidFill>
            <a:srgbClr val="FF7C80"/>
          </a:solidFill>
        </p:spPr>
        <p:txBody>
          <a:bodyPr wrap="square" anchor="ctr">
            <a:noAutofit/>
          </a:bodyPr>
          <a:lstStyle/>
          <a:p>
            <a:pPr algn="ctr"/>
            <a:r>
              <a:rPr lang="fr-FR" sz="1000" dirty="0"/>
              <a:t>Risque d’entre soi, de repli sur soi et de rejet (réel ou perçu) de l’extérieur de la Communauté</a:t>
            </a:r>
          </a:p>
        </p:txBody>
      </p:sp>
      <p:sp>
        <p:nvSpPr>
          <p:cNvPr id="50" name="ZoneTexte 49">
            <a:extLst>
              <a:ext uri="{FF2B5EF4-FFF2-40B4-BE49-F238E27FC236}">
                <a16:creationId xmlns:a16="http://schemas.microsoft.com/office/drawing/2014/main" id="{CC75BD33-8266-2C00-895E-CE3B0B88C1C5}"/>
              </a:ext>
            </a:extLst>
          </p:cNvPr>
          <p:cNvSpPr txBox="1"/>
          <p:nvPr/>
        </p:nvSpPr>
        <p:spPr>
          <a:xfrm>
            <a:off x="6899165" y="4410090"/>
            <a:ext cx="1269137" cy="784830"/>
          </a:xfrm>
          <a:prstGeom prst="rect">
            <a:avLst/>
          </a:prstGeom>
          <a:solidFill>
            <a:srgbClr val="54FFB3"/>
          </a:solidFill>
        </p:spPr>
        <p:txBody>
          <a:bodyPr wrap="square" anchor="ctr">
            <a:noAutofit/>
          </a:bodyPr>
          <a:lstStyle/>
          <a:p>
            <a:pPr algn="ctr"/>
            <a:r>
              <a:rPr lang="fr-FR" sz="1000" dirty="0"/>
              <a:t>Moins de risques liés à l’un ou l’autre des extrêmes (différences ou similarités)</a:t>
            </a:r>
          </a:p>
        </p:txBody>
      </p:sp>
      <p:sp>
        <p:nvSpPr>
          <p:cNvPr id="51" name="ZoneTexte 50">
            <a:extLst>
              <a:ext uri="{FF2B5EF4-FFF2-40B4-BE49-F238E27FC236}">
                <a16:creationId xmlns:a16="http://schemas.microsoft.com/office/drawing/2014/main" id="{96EEEFBB-D40D-96B2-F141-87A6EFA7E1D7}"/>
              </a:ext>
            </a:extLst>
          </p:cNvPr>
          <p:cNvSpPr txBox="1"/>
          <p:nvPr/>
        </p:nvSpPr>
        <p:spPr>
          <a:xfrm>
            <a:off x="6899165" y="5290048"/>
            <a:ext cx="1269137" cy="784830"/>
          </a:xfrm>
          <a:prstGeom prst="rect">
            <a:avLst/>
          </a:prstGeom>
          <a:solidFill>
            <a:srgbClr val="FF7C80"/>
          </a:solidFill>
        </p:spPr>
        <p:txBody>
          <a:bodyPr wrap="square" anchor="ctr">
            <a:noAutofit/>
          </a:bodyPr>
          <a:lstStyle/>
          <a:p>
            <a:pPr algn="ctr"/>
            <a:r>
              <a:rPr lang="fr-FR" sz="1000" dirty="0"/>
              <a:t>Moins de potentiel pour mettre en avant la contribution les uns pour les autres</a:t>
            </a:r>
          </a:p>
        </p:txBody>
      </p:sp>
      <p:sp>
        <p:nvSpPr>
          <p:cNvPr id="52" name="ZoneTexte 51">
            <a:extLst>
              <a:ext uri="{FF2B5EF4-FFF2-40B4-BE49-F238E27FC236}">
                <a16:creationId xmlns:a16="http://schemas.microsoft.com/office/drawing/2014/main" id="{0D3F1F1E-DD5A-6283-7D67-E13EBFCCB97E}"/>
              </a:ext>
            </a:extLst>
          </p:cNvPr>
          <p:cNvSpPr txBox="1"/>
          <p:nvPr/>
        </p:nvSpPr>
        <p:spPr>
          <a:xfrm>
            <a:off x="9572924" y="4410090"/>
            <a:ext cx="1269137" cy="784830"/>
          </a:xfrm>
          <a:prstGeom prst="rect">
            <a:avLst/>
          </a:prstGeom>
          <a:solidFill>
            <a:srgbClr val="54FFB3"/>
          </a:solidFill>
        </p:spPr>
        <p:txBody>
          <a:bodyPr wrap="square" anchor="ctr">
            <a:noAutofit/>
          </a:bodyPr>
          <a:lstStyle/>
          <a:p>
            <a:pPr algn="ctr"/>
            <a:r>
              <a:rPr lang="fr-FR" sz="1000" dirty="0"/>
              <a:t>Diversité saillante et potentiel d’apprentissage entre individus plus élevé</a:t>
            </a:r>
          </a:p>
        </p:txBody>
      </p:sp>
      <p:sp>
        <p:nvSpPr>
          <p:cNvPr id="53" name="ZoneTexte 52">
            <a:extLst>
              <a:ext uri="{FF2B5EF4-FFF2-40B4-BE49-F238E27FC236}">
                <a16:creationId xmlns:a16="http://schemas.microsoft.com/office/drawing/2014/main" id="{FDFA6101-3D38-4E97-7219-FCC0A018C2BE}"/>
              </a:ext>
            </a:extLst>
          </p:cNvPr>
          <p:cNvSpPr txBox="1"/>
          <p:nvPr/>
        </p:nvSpPr>
        <p:spPr>
          <a:xfrm>
            <a:off x="10901298" y="4405183"/>
            <a:ext cx="1269137" cy="784830"/>
          </a:xfrm>
          <a:prstGeom prst="rect">
            <a:avLst/>
          </a:prstGeom>
          <a:solidFill>
            <a:srgbClr val="54FFB3"/>
          </a:solidFill>
        </p:spPr>
        <p:txBody>
          <a:bodyPr wrap="square" anchor="ctr">
            <a:noAutofit/>
          </a:bodyPr>
          <a:lstStyle/>
          <a:p>
            <a:pPr algn="ctr"/>
            <a:r>
              <a:rPr lang="fr-FR" sz="1000" dirty="0"/>
              <a:t>Plus grandes chances de complémentarité</a:t>
            </a:r>
          </a:p>
        </p:txBody>
      </p:sp>
      <p:sp>
        <p:nvSpPr>
          <p:cNvPr id="54" name="ZoneTexte 53">
            <a:extLst>
              <a:ext uri="{FF2B5EF4-FFF2-40B4-BE49-F238E27FC236}">
                <a16:creationId xmlns:a16="http://schemas.microsoft.com/office/drawing/2014/main" id="{15E82A9A-06B0-58A9-F9FB-4586B909066C}"/>
              </a:ext>
            </a:extLst>
          </p:cNvPr>
          <p:cNvSpPr txBox="1"/>
          <p:nvPr/>
        </p:nvSpPr>
        <p:spPr>
          <a:xfrm>
            <a:off x="9572924" y="5285141"/>
            <a:ext cx="1269137" cy="784830"/>
          </a:xfrm>
          <a:prstGeom prst="rect">
            <a:avLst/>
          </a:prstGeom>
          <a:solidFill>
            <a:srgbClr val="FF7C80"/>
          </a:solidFill>
        </p:spPr>
        <p:txBody>
          <a:bodyPr wrap="square" anchor="ctr">
            <a:noAutofit/>
          </a:bodyPr>
          <a:lstStyle/>
          <a:p>
            <a:pPr algn="ctr"/>
            <a:r>
              <a:rPr lang="fr-FR" sz="1000" dirty="0"/>
              <a:t>Effort plus élevé d’adaptation individuelle</a:t>
            </a:r>
          </a:p>
        </p:txBody>
      </p:sp>
      <p:sp>
        <p:nvSpPr>
          <p:cNvPr id="55" name="ZoneTexte 54">
            <a:extLst>
              <a:ext uri="{FF2B5EF4-FFF2-40B4-BE49-F238E27FC236}">
                <a16:creationId xmlns:a16="http://schemas.microsoft.com/office/drawing/2014/main" id="{AA2F8086-EACE-BC8A-A243-2015B2469E65}"/>
              </a:ext>
            </a:extLst>
          </p:cNvPr>
          <p:cNvSpPr txBox="1"/>
          <p:nvPr/>
        </p:nvSpPr>
        <p:spPr>
          <a:xfrm>
            <a:off x="10901298" y="5285141"/>
            <a:ext cx="1269137" cy="784830"/>
          </a:xfrm>
          <a:prstGeom prst="rect">
            <a:avLst/>
          </a:prstGeom>
          <a:solidFill>
            <a:srgbClr val="FF7C80"/>
          </a:solidFill>
        </p:spPr>
        <p:txBody>
          <a:bodyPr wrap="square" anchor="ctr">
            <a:noAutofit/>
          </a:bodyPr>
          <a:lstStyle/>
          <a:p>
            <a:pPr algn="ctr"/>
            <a:r>
              <a:rPr lang="fr-FR" sz="1000" dirty="0"/>
              <a:t>Choix collectifs et consensus plus difficiles à atteindre</a:t>
            </a:r>
          </a:p>
        </p:txBody>
      </p:sp>
    </p:spTree>
    <p:extLst>
      <p:ext uri="{BB962C8B-B14F-4D97-AF65-F5344CB8AC3E}">
        <p14:creationId xmlns:p14="http://schemas.microsoft.com/office/powerpoint/2010/main" val="428760454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723E1A2-190A-A384-98CB-9A14D89C0CE3}"/>
              </a:ext>
            </a:extLst>
          </p:cNvPr>
          <p:cNvSpPr>
            <a:spLocks noGrp="1"/>
          </p:cNvSpPr>
          <p:nvPr>
            <p:ph type="title"/>
          </p:nvPr>
        </p:nvSpPr>
        <p:spPr/>
        <p:txBody>
          <a:bodyPr>
            <a:normAutofit fontScale="90000"/>
          </a:bodyPr>
          <a:lstStyle/>
          <a:p>
            <a:r>
              <a:rPr lang="fr-FR" sz="3600" dirty="0"/>
              <a:t>Cas de Similarités et différences marquées entre membres</a:t>
            </a:r>
            <a:br>
              <a:rPr lang="fr-FR" sz="3600" dirty="0"/>
            </a:br>
            <a:r>
              <a:rPr lang="fr-FR" sz="3600" dirty="0"/>
              <a:t>Actions types</a:t>
            </a:r>
            <a:br>
              <a:rPr lang="fr-FR" sz="3600" dirty="0"/>
            </a:br>
            <a:r>
              <a:rPr lang="fr-FR" sz="1600" dirty="0"/>
              <a:t>📅Evènements  , ✍️Contenus, ⚙️Structuration de Communauté</a:t>
            </a:r>
            <a:br>
              <a:rPr lang="fr-FR" sz="1600" dirty="0"/>
            </a:br>
            <a:r>
              <a:rPr lang="fr-FR" sz="1600" dirty="0"/>
              <a:t>📅+⚙️Structuration de moments, ✍️+⚙️ Structuration de Contenus</a:t>
            </a:r>
            <a:endParaRPr lang="fr-FR" sz="3600" dirty="0"/>
          </a:p>
        </p:txBody>
      </p:sp>
      <p:sp>
        <p:nvSpPr>
          <p:cNvPr id="3" name="Espace réservé du contenu 2">
            <a:extLst>
              <a:ext uri="{FF2B5EF4-FFF2-40B4-BE49-F238E27FC236}">
                <a16:creationId xmlns:a16="http://schemas.microsoft.com/office/drawing/2014/main" id="{03F543E7-2D1F-4FD6-F846-994C8D745EB0}"/>
              </a:ext>
            </a:extLst>
          </p:cNvPr>
          <p:cNvSpPr>
            <a:spLocks noGrp="1"/>
          </p:cNvSpPr>
          <p:nvPr>
            <p:ph idx="1"/>
          </p:nvPr>
        </p:nvSpPr>
        <p:spPr>
          <a:xfrm>
            <a:off x="399398" y="1936744"/>
            <a:ext cx="2809790" cy="4845325"/>
          </a:xfrm>
        </p:spPr>
        <p:txBody>
          <a:bodyPr>
            <a:normAutofit/>
          </a:bodyPr>
          <a:lstStyle/>
          <a:p>
            <a:pPr marL="0" indent="0">
              <a:buNone/>
            </a:pPr>
            <a:r>
              <a:rPr lang="fr-FR" sz="1400" dirty="0"/>
              <a:t>Il est libre à chacun de considérer à partir de quand une similarité ou une différence est forte. </a:t>
            </a:r>
          </a:p>
          <a:p>
            <a:pPr marL="0" indent="0">
              <a:buNone/>
            </a:pPr>
            <a:r>
              <a:rPr lang="fr-FR" sz="1400" dirty="0"/>
              <a:t>Une règle approximative peut être de considérer qu’une similarité sur une caractéristique est forte si plus de 80% des membres partagent cette caractéristique, et qu’une différence est forte si pour chaque membre, il y a plus de 50% des membres qui sont différents sur cette caractéristique.</a:t>
            </a:r>
          </a:p>
          <a:p>
            <a:pPr marL="0" indent="0">
              <a:buNone/>
            </a:pPr>
            <a:r>
              <a:rPr lang="fr-FR" sz="1400" dirty="0"/>
              <a:t>Sur un terrain opérationnel plus concret, ces similarités et différences peuvent être remarquées ou exploitées à l’échelle d’une activité seulement (sans besoin que cela s’applique sur toute la Communauté). Par exemple, si sur un événement donné, les niveaux de compétence sont différents, on peut l’exploiter sur le moment.</a:t>
            </a:r>
          </a:p>
        </p:txBody>
      </p:sp>
      <p:grpSp>
        <p:nvGrpSpPr>
          <p:cNvPr id="43" name="Groupe 42">
            <a:extLst>
              <a:ext uri="{FF2B5EF4-FFF2-40B4-BE49-F238E27FC236}">
                <a16:creationId xmlns:a16="http://schemas.microsoft.com/office/drawing/2014/main" id="{42C69A82-6AA2-71B2-CF9D-2988C3C35D62}"/>
              </a:ext>
            </a:extLst>
          </p:cNvPr>
          <p:cNvGrpSpPr/>
          <p:nvPr/>
        </p:nvGrpSpPr>
        <p:grpSpPr>
          <a:xfrm>
            <a:off x="3100251" y="2295756"/>
            <a:ext cx="8673737" cy="2063651"/>
            <a:chOff x="2201357" y="2299871"/>
            <a:chExt cx="9990643" cy="2376969"/>
          </a:xfrm>
        </p:grpSpPr>
        <p:sp>
          <p:nvSpPr>
            <p:cNvPr id="4" name="Flèche : double flèche horizontale 3">
              <a:extLst>
                <a:ext uri="{FF2B5EF4-FFF2-40B4-BE49-F238E27FC236}">
                  <a16:creationId xmlns:a16="http://schemas.microsoft.com/office/drawing/2014/main" id="{56A64584-73D0-A23F-B100-D16C8D367879}"/>
                </a:ext>
              </a:extLst>
            </p:cNvPr>
            <p:cNvSpPr/>
            <p:nvPr/>
          </p:nvSpPr>
          <p:spPr>
            <a:xfrm>
              <a:off x="3036888" y="3716994"/>
              <a:ext cx="8316913" cy="959846"/>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Sur une même caractéristique donnée</a:t>
              </a:r>
            </a:p>
          </p:txBody>
        </p:sp>
        <p:grpSp>
          <p:nvGrpSpPr>
            <p:cNvPr id="37" name="Groupe 36">
              <a:extLst>
                <a:ext uri="{FF2B5EF4-FFF2-40B4-BE49-F238E27FC236}">
                  <a16:creationId xmlns:a16="http://schemas.microsoft.com/office/drawing/2014/main" id="{E2D2D6BB-4806-496A-8CE3-D9E432AD20DA}"/>
                </a:ext>
              </a:extLst>
            </p:cNvPr>
            <p:cNvGrpSpPr/>
            <p:nvPr/>
          </p:nvGrpSpPr>
          <p:grpSpPr>
            <a:xfrm>
              <a:off x="2201357" y="2994046"/>
              <a:ext cx="2781592" cy="835533"/>
              <a:chOff x="3314408" y="2957049"/>
              <a:chExt cx="2781592" cy="835533"/>
            </a:xfrm>
          </p:grpSpPr>
          <p:grpSp>
            <p:nvGrpSpPr>
              <p:cNvPr id="21" name="Groupe 20">
                <a:extLst>
                  <a:ext uri="{FF2B5EF4-FFF2-40B4-BE49-F238E27FC236}">
                    <a16:creationId xmlns:a16="http://schemas.microsoft.com/office/drawing/2014/main" id="{9C5EBD47-21D4-9E29-8018-E2DFD58E5E6D}"/>
                  </a:ext>
                </a:extLst>
              </p:cNvPr>
              <p:cNvGrpSpPr/>
              <p:nvPr/>
            </p:nvGrpSpPr>
            <p:grpSpPr>
              <a:xfrm>
                <a:off x="3314408" y="2957049"/>
                <a:ext cx="2781592" cy="835533"/>
                <a:chOff x="3749837" y="3012255"/>
                <a:chExt cx="2346163" cy="704739"/>
              </a:xfrm>
            </p:grpSpPr>
            <p:pic>
              <p:nvPicPr>
                <p:cNvPr id="18" name="Graphique 17" descr="Utilisateur avec un remplissage uni">
                  <a:extLst>
                    <a:ext uri="{FF2B5EF4-FFF2-40B4-BE49-F238E27FC236}">
                      <a16:creationId xmlns:a16="http://schemas.microsoft.com/office/drawing/2014/main" id="{D4F6FA0C-3B52-FEB9-CCAD-5EA8851D364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49837" y="3012257"/>
                  <a:ext cx="704737" cy="704737"/>
                </a:xfrm>
                <a:prstGeom prst="rect">
                  <a:avLst/>
                </a:prstGeom>
              </p:spPr>
            </p:pic>
            <p:pic>
              <p:nvPicPr>
                <p:cNvPr id="19" name="Graphique 18" descr="Utilisateur avec un remplissage uni">
                  <a:extLst>
                    <a:ext uri="{FF2B5EF4-FFF2-40B4-BE49-F238E27FC236}">
                      <a16:creationId xmlns:a16="http://schemas.microsoft.com/office/drawing/2014/main" id="{BE84870B-D091-ED58-9618-A973564B52D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570550" y="3012256"/>
                  <a:ext cx="704737" cy="704737"/>
                </a:xfrm>
                <a:prstGeom prst="rect">
                  <a:avLst/>
                </a:prstGeom>
              </p:spPr>
            </p:pic>
            <p:pic>
              <p:nvPicPr>
                <p:cNvPr id="20" name="Graphique 19" descr="Utilisateur avec un remplissage uni">
                  <a:extLst>
                    <a:ext uri="{FF2B5EF4-FFF2-40B4-BE49-F238E27FC236}">
                      <a16:creationId xmlns:a16="http://schemas.microsoft.com/office/drawing/2014/main" id="{D0F9C3A7-0305-F586-4819-D7EA8AFE5FD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391263" y="3012255"/>
                  <a:ext cx="704737" cy="704737"/>
                </a:xfrm>
                <a:prstGeom prst="rect">
                  <a:avLst/>
                </a:prstGeom>
              </p:spPr>
            </p:pic>
          </p:grpSp>
          <p:sp>
            <p:nvSpPr>
              <p:cNvPr id="30" name="Est égal à 29">
                <a:extLst>
                  <a:ext uri="{FF2B5EF4-FFF2-40B4-BE49-F238E27FC236}">
                    <a16:creationId xmlns:a16="http://schemas.microsoft.com/office/drawing/2014/main" id="{E69D25C7-7179-BDC7-202D-1E3DCB968B44}"/>
                  </a:ext>
                </a:extLst>
              </p:cNvPr>
              <p:cNvSpPr/>
              <p:nvPr/>
            </p:nvSpPr>
            <p:spPr>
              <a:xfrm>
                <a:off x="3981020" y="3260276"/>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1" name="Est égal à 30">
                <a:extLst>
                  <a:ext uri="{FF2B5EF4-FFF2-40B4-BE49-F238E27FC236}">
                    <a16:creationId xmlns:a16="http://schemas.microsoft.com/office/drawing/2014/main" id="{9AAF71E7-B48F-FB5C-E1C6-EC2ADD98D8F1}"/>
                  </a:ext>
                </a:extLst>
              </p:cNvPr>
              <p:cNvSpPr/>
              <p:nvPr/>
            </p:nvSpPr>
            <p:spPr>
              <a:xfrm>
                <a:off x="4955907" y="3260275"/>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grpSp>
          <p:nvGrpSpPr>
            <p:cNvPr id="39" name="Groupe 38">
              <a:extLst>
                <a:ext uri="{FF2B5EF4-FFF2-40B4-BE49-F238E27FC236}">
                  <a16:creationId xmlns:a16="http://schemas.microsoft.com/office/drawing/2014/main" id="{8E4E97C5-C7F5-5401-2F6F-F236510ECF99}"/>
                </a:ext>
              </a:extLst>
            </p:cNvPr>
            <p:cNvGrpSpPr/>
            <p:nvPr/>
          </p:nvGrpSpPr>
          <p:grpSpPr>
            <a:xfrm>
              <a:off x="5929056" y="3011232"/>
              <a:ext cx="2781592" cy="835533"/>
              <a:chOff x="6515538" y="4457086"/>
              <a:chExt cx="2781592" cy="835533"/>
            </a:xfrm>
          </p:grpSpPr>
          <p:grpSp>
            <p:nvGrpSpPr>
              <p:cNvPr id="26" name="Groupe 25">
                <a:extLst>
                  <a:ext uri="{FF2B5EF4-FFF2-40B4-BE49-F238E27FC236}">
                    <a16:creationId xmlns:a16="http://schemas.microsoft.com/office/drawing/2014/main" id="{AEB32FB6-0718-F16D-8EEB-92F6F3EDC922}"/>
                  </a:ext>
                </a:extLst>
              </p:cNvPr>
              <p:cNvGrpSpPr/>
              <p:nvPr/>
            </p:nvGrpSpPr>
            <p:grpSpPr>
              <a:xfrm>
                <a:off x="6515538" y="4457086"/>
                <a:ext cx="2781592" cy="835533"/>
                <a:chOff x="3749837" y="3012255"/>
                <a:chExt cx="2346163" cy="704739"/>
              </a:xfrm>
            </p:grpSpPr>
            <p:pic>
              <p:nvPicPr>
                <p:cNvPr id="27" name="Graphique 26" descr="Utilisateur avec un remplissage uni">
                  <a:extLst>
                    <a:ext uri="{FF2B5EF4-FFF2-40B4-BE49-F238E27FC236}">
                      <a16:creationId xmlns:a16="http://schemas.microsoft.com/office/drawing/2014/main" id="{1531D23A-90BB-E624-1BF3-5C5A4A2F95E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49837" y="3012257"/>
                  <a:ext cx="704737" cy="704737"/>
                </a:xfrm>
                <a:prstGeom prst="rect">
                  <a:avLst/>
                </a:prstGeom>
              </p:spPr>
            </p:pic>
            <p:pic>
              <p:nvPicPr>
                <p:cNvPr id="28" name="Graphique 27" descr="Utilisateur avec un remplissage uni">
                  <a:extLst>
                    <a:ext uri="{FF2B5EF4-FFF2-40B4-BE49-F238E27FC236}">
                      <a16:creationId xmlns:a16="http://schemas.microsoft.com/office/drawing/2014/main" id="{C5B3B1AD-55D0-061C-275A-621A0A2969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570550" y="3012256"/>
                  <a:ext cx="704737" cy="704737"/>
                </a:xfrm>
                <a:prstGeom prst="rect">
                  <a:avLst/>
                </a:prstGeom>
              </p:spPr>
            </p:pic>
            <p:pic>
              <p:nvPicPr>
                <p:cNvPr id="29" name="Graphique 28" descr="Utilisateur avec un remplissage uni">
                  <a:extLst>
                    <a:ext uri="{FF2B5EF4-FFF2-40B4-BE49-F238E27FC236}">
                      <a16:creationId xmlns:a16="http://schemas.microsoft.com/office/drawing/2014/main" id="{FB5244CE-6E32-E02D-325D-EFF0F61807B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391263" y="3012255"/>
                  <a:ext cx="704737" cy="704737"/>
                </a:xfrm>
                <a:prstGeom prst="rect">
                  <a:avLst/>
                </a:prstGeom>
              </p:spPr>
            </p:pic>
          </p:grpSp>
          <p:sp>
            <p:nvSpPr>
              <p:cNvPr id="32" name="Est égal à 31">
                <a:extLst>
                  <a:ext uri="{FF2B5EF4-FFF2-40B4-BE49-F238E27FC236}">
                    <a16:creationId xmlns:a16="http://schemas.microsoft.com/office/drawing/2014/main" id="{F02B165F-BE80-E204-ABE8-AE1EF07840BA}"/>
                  </a:ext>
                </a:extLst>
              </p:cNvPr>
              <p:cNvSpPr/>
              <p:nvPr/>
            </p:nvSpPr>
            <p:spPr>
              <a:xfrm>
                <a:off x="7163530" y="4793936"/>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4" name="Non égal 33">
                <a:extLst>
                  <a:ext uri="{FF2B5EF4-FFF2-40B4-BE49-F238E27FC236}">
                    <a16:creationId xmlns:a16="http://schemas.microsoft.com/office/drawing/2014/main" id="{CDDE2C51-6BBE-FF20-8086-B40F4C0DADC2}"/>
                  </a:ext>
                </a:extLst>
              </p:cNvPr>
              <p:cNvSpPr/>
              <p:nvPr/>
            </p:nvSpPr>
            <p:spPr>
              <a:xfrm>
                <a:off x="8154413" y="4793935"/>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grpSp>
          <p:nvGrpSpPr>
            <p:cNvPr id="38" name="Groupe 37">
              <a:extLst>
                <a:ext uri="{FF2B5EF4-FFF2-40B4-BE49-F238E27FC236}">
                  <a16:creationId xmlns:a16="http://schemas.microsoft.com/office/drawing/2014/main" id="{8D78DD28-D2E0-A34F-732C-9CAC44EA3792}"/>
                </a:ext>
              </a:extLst>
            </p:cNvPr>
            <p:cNvGrpSpPr/>
            <p:nvPr/>
          </p:nvGrpSpPr>
          <p:grpSpPr>
            <a:xfrm>
              <a:off x="9656756" y="2994046"/>
              <a:ext cx="2535244" cy="761535"/>
              <a:chOff x="9656756" y="2994046"/>
              <a:chExt cx="2535244" cy="761535"/>
            </a:xfrm>
          </p:grpSpPr>
          <p:grpSp>
            <p:nvGrpSpPr>
              <p:cNvPr id="22" name="Groupe 21">
                <a:extLst>
                  <a:ext uri="{FF2B5EF4-FFF2-40B4-BE49-F238E27FC236}">
                    <a16:creationId xmlns:a16="http://schemas.microsoft.com/office/drawing/2014/main" id="{4A18BF48-B8C6-F38A-3296-36768B899A6D}"/>
                  </a:ext>
                </a:extLst>
              </p:cNvPr>
              <p:cNvGrpSpPr/>
              <p:nvPr/>
            </p:nvGrpSpPr>
            <p:grpSpPr>
              <a:xfrm>
                <a:off x="9656756" y="2994046"/>
                <a:ext cx="2535244" cy="761535"/>
                <a:chOff x="3749837" y="3012255"/>
                <a:chExt cx="2346163" cy="704739"/>
              </a:xfrm>
            </p:grpSpPr>
            <p:pic>
              <p:nvPicPr>
                <p:cNvPr id="23" name="Graphique 22" descr="Utilisateur avec un remplissage uni">
                  <a:extLst>
                    <a:ext uri="{FF2B5EF4-FFF2-40B4-BE49-F238E27FC236}">
                      <a16:creationId xmlns:a16="http://schemas.microsoft.com/office/drawing/2014/main" id="{8043D05E-53D7-4E80-2C99-CC11694399C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49837" y="3012257"/>
                  <a:ext cx="704737" cy="704737"/>
                </a:xfrm>
                <a:prstGeom prst="rect">
                  <a:avLst/>
                </a:prstGeom>
              </p:spPr>
            </p:pic>
            <p:pic>
              <p:nvPicPr>
                <p:cNvPr id="24" name="Graphique 23" descr="Utilisateur avec un remplissage uni">
                  <a:extLst>
                    <a:ext uri="{FF2B5EF4-FFF2-40B4-BE49-F238E27FC236}">
                      <a16:creationId xmlns:a16="http://schemas.microsoft.com/office/drawing/2014/main" id="{D7B01B07-82E5-D12D-6742-17D8C4F1D36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570550" y="3012256"/>
                  <a:ext cx="704737" cy="704737"/>
                </a:xfrm>
                <a:prstGeom prst="rect">
                  <a:avLst/>
                </a:prstGeom>
              </p:spPr>
            </p:pic>
            <p:pic>
              <p:nvPicPr>
                <p:cNvPr id="25" name="Graphique 24" descr="Utilisateur avec un remplissage uni">
                  <a:extLst>
                    <a:ext uri="{FF2B5EF4-FFF2-40B4-BE49-F238E27FC236}">
                      <a16:creationId xmlns:a16="http://schemas.microsoft.com/office/drawing/2014/main" id="{1D47F3DF-9899-1FCB-C6FD-052C5BFAE4D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391263" y="3012255"/>
                  <a:ext cx="704737" cy="704737"/>
                </a:xfrm>
                <a:prstGeom prst="rect">
                  <a:avLst/>
                </a:prstGeom>
              </p:spPr>
            </p:pic>
          </p:grpSp>
          <p:sp>
            <p:nvSpPr>
              <p:cNvPr id="35" name="Non égal 34">
                <a:extLst>
                  <a:ext uri="{FF2B5EF4-FFF2-40B4-BE49-F238E27FC236}">
                    <a16:creationId xmlns:a16="http://schemas.microsoft.com/office/drawing/2014/main" id="{D7361678-92DC-568B-827F-D576714CFC1F}"/>
                  </a:ext>
                </a:extLst>
              </p:cNvPr>
              <p:cNvSpPr/>
              <p:nvPr/>
            </p:nvSpPr>
            <p:spPr>
              <a:xfrm>
                <a:off x="10242513" y="3271894"/>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6" name="Non égal 35">
                <a:extLst>
                  <a:ext uri="{FF2B5EF4-FFF2-40B4-BE49-F238E27FC236}">
                    <a16:creationId xmlns:a16="http://schemas.microsoft.com/office/drawing/2014/main" id="{1EBDC39D-8485-5EAF-41DC-B1A710F9FB7E}"/>
                  </a:ext>
                </a:extLst>
              </p:cNvPr>
              <p:cNvSpPr/>
              <p:nvPr/>
            </p:nvSpPr>
            <p:spPr>
              <a:xfrm>
                <a:off x="11129369" y="3260275"/>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40" name="ZoneTexte 39">
              <a:extLst>
                <a:ext uri="{FF2B5EF4-FFF2-40B4-BE49-F238E27FC236}">
                  <a16:creationId xmlns:a16="http://schemas.microsoft.com/office/drawing/2014/main" id="{9A7393B5-91A5-7ABF-D945-F1AEB30F547B}"/>
                </a:ext>
              </a:extLst>
            </p:cNvPr>
            <p:cNvSpPr txBox="1"/>
            <p:nvPr/>
          </p:nvSpPr>
          <p:spPr>
            <a:xfrm>
              <a:off x="2664690" y="2645132"/>
              <a:ext cx="1854925" cy="307777"/>
            </a:xfrm>
            <a:prstGeom prst="rect">
              <a:avLst/>
            </a:prstGeom>
            <a:noFill/>
          </p:spPr>
          <p:txBody>
            <a:bodyPr wrap="square" anchor="ctr">
              <a:spAutoFit/>
            </a:bodyPr>
            <a:lstStyle/>
            <a:p>
              <a:pPr algn="ctr"/>
              <a:r>
                <a:rPr lang="fr-FR" sz="1400" dirty="0"/>
                <a:t>Similarité fortes</a:t>
              </a:r>
            </a:p>
          </p:txBody>
        </p:sp>
        <p:sp>
          <p:nvSpPr>
            <p:cNvPr id="41" name="ZoneTexte 40">
              <a:extLst>
                <a:ext uri="{FF2B5EF4-FFF2-40B4-BE49-F238E27FC236}">
                  <a16:creationId xmlns:a16="http://schemas.microsoft.com/office/drawing/2014/main" id="{DEE5386C-5734-DF2F-70CC-31D950B3C81B}"/>
                </a:ext>
              </a:extLst>
            </p:cNvPr>
            <p:cNvSpPr txBox="1"/>
            <p:nvPr/>
          </p:nvSpPr>
          <p:spPr>
            <a:xfrm>
              <a:off x="6257554" y="2299871"/>
              <a:ext cx="2124594" cy="602659"/>
            </a:xfrm>
            <a:prstGeom prst="rect">
              <a:avLst/>
            </a:prstGeom>
            <a:noFill/>
          </p:spPr>
          <p:txBody>
            <a:bodyPr wrap="square" anchor="ctr">
              <a:spAutoFit/>
            </a:bodyPr>
            <a:lstStyle/>
            <a:p>
              <a:pPr algn="ctr"/>
              <a:r>
                <a:rPr lang="fr-FR" sz="1400" dirty="0"/>
                <a:t>Ni similarité fortes, ni différences fortes</a:t>
              </a:r>
            </a:p>
          </p:txBody>
        </p:sp>
        <p:sp>
          <p:nvSpPr>
            <p:cNvPr id="42" name="ZoneTexte 41">
              <a:extLst>
                <a:ext uri="{FF2B5EF4-FFF2-40B4-BE49-F238E27FC236}">
                  <a16:creationId xmlns:a16="http://schemas.microsoft.com/office/drawing/2014/main" id="{7D078013-6FF7-DD20-9EED-7621C1F38987}"/>
                </a:ext>
              </a:extLst>
            </p:cNvPr>
            <p:cNvSpPr txBox="1"/>
            <p:nvPr/>
          </p:nvSpPr>
          <p:spPr>
            <a:xfrm>
              <a:off x="10123576" y="2651917"/>
              <a:ext cx="1854925" cy="307777"/>
            </a:xfrm>
            <a:prstGeom prst="rect">
              <a:avLst/>
            </a:prstGeom>
            <a:noFill/>
          </p:spPr>
          <p:txBody>
            <a:bodyPr wrap="square" anchor="ctr">
              <a:spAutoFit/>
            </a:bodyPr>
            <a:lstStyle/>
            <a:p>
              <a:pPr algn="ctr"/>
              <a:r>
                <a:rPr lang="fr-FR" sz="1400" dirty="0"/>
                <a:t>Différences fortes</a:t>
              </a:r>
            </a:p>
          </p:txBody>
        </p:sp>
      </p:grpSp>
      <p:sp>
        <p:nvSpPr>
          <p:cNvPr id="33" name="ZoneTexte 32">
            <a:extLst>
              <a:ext uri="{FF2B5EF4-FFF2-40B4-BE49-F238E27FC236}">
                <a16:creationId xmlns:a16="http://schemas.microsoft.com/office/drawing/2014/main" id="{622560B2-C142-6522-D8FB-1A295087825E}"/>
              </a:ext>
            </a:extLst>
          </p:cNvPr>
          <p:cNvSpPr txBox="1"/>
          <p:nvPr/>
        </p:nvSpPr>
        <p:spPr>
          <a:xfrm>
            <a:off x="3100251" y="4414997"/>
            <a:ext cx="1269137" cy="784830"/>
          </a:xfrm>
          <a:prstGeom prst="rect">
            <a:avLst/>
          </a:prstGeom>
          <a:solidFill>
            <a:schemeClr val="bg1">
              <a:lumMod val="85000"/>
            </a:schemeClr>
          </a:solidFill>
        </p:spPr>
        <p:txBody>
          <a:bodyPr wrap="square" anchor="ctr">
            <a:noAutofit/>
          </a:bodyPr>
          <a:lstStyle/>
          <a:p>
            <a:pPr algn="ctr"/>
            <a:r>
              <a:rPr lang="fr-FR" sz="1000" dirty="0"/>
              <a:t>📅Organisation mutualisée </a:t>
            </a:r>
          </a:p>
          <a:p>
            <a:pPr algn="ctr"/>
            <a:r>
              <a:rPr lang="fr-FR" sz="1000" dirty="0"/>
              <a:t>d’événements adaptés au point commun</a:t>
            </a:r>
          </a:p>
        </p:txBody>
      </p:sp>
      <p:sp>
        <p:nvSpPr>
          <p:cNvPr id="44" name="ZoneTexte 43">
            <a:extLst>
              <a:ext uri="{FF2B5EF4-FFF2-40B4-BE49-F238E27FC236}">
                <a16:creationId xmlns:a16="http://schemas.microsoft.com/office/drawing/2014/main" id="{F3201721-2517-C876-897A-AC840A17D0D6}"/>
              </a:ext>
            </a:extLst>
          </p:cNvPr>
          <p:cNvSpPr txBox="1"/>
          <p:nvPr/>
        </p:nvSpPr>
        <p:spPr>
          <a:xfrm>
            <a:off x="4428625" y="4410090"/>
            <a:ext cx="1269137" cy="784830"/>
          </a:xfrm>
          <a:prstGeom prst="rect">
            <a:avLst/>
          </a:prstGeom>
          <a:solidFill>
            <a:schemeClr val="bg1">
              <a:lumMod val="85000"/>
            </a:schemeClr>
          </a:solidFill>
        </p:spPr>
        <p:txBody>
          <a:bodyPr wrap="square" anchor="ctr">
            <a:noAutofit/>
          </a:bodyPr>
          <a:lstStyle/>
          <a:p>
            <a:pPr algn="ctr"/>
            <a:r>
              <a:rPr lang="fr-FR" sz="1000" dirty="0"/>
              <a:t>✍️Curation ou création  mutualisée de contenus adaptés au point commun</a:t>
            </a:r>
          </a:p>
        </p:txBody>
      </p:sp>
      <p:sp>
        <p:nvSpPr>
          <p:cNvPr id="48" name="ZoneTexte 47">
            <a:extLst>
              <a:ext uri="{FF2B5EF4-FFF2-40B4-BE49-F238E27FC236}">
                <a16:creationId xmlns:a16="http://schemas.microsoft.com/office/drawing/2014/main" id="{79DA5584-B856-9E7C-F3F3-229A35D24458}"/>
              </a:ext>
            </a:extLst>
          </p:cNvPr>
          <p:cNvSpPr txBox="1"/>
          <p:nvPr/>
        </p:nvSpPr>
        <p:spPr>
          <a:xfrm>
            <a:off x="6899165" y="4410090"/>
            <a:ext cx="1269137" cy="784830"/>
          </a:xfrm>
          <a:prstGeom prst="rect">
            <a:avLst/>
          </a:prstGeom>
          <a:solidFill>
            <a:schemeClr val="bg1">
              <a:lumMod val="85000"/>
            </a:schemeClr>
          </a:solidFill>
        </p:spPr>
        <p:txBody>
          <a:bodyPr wrap="square" anchor="ctr">
            <a:noAutofit/>
          </a:bodyPr>
          <a:lstStyle/>
          <a:p>
            <a:pPr algn="ctr"/>
            <a:r>
              <a:rPr lang="fr-FR" sz="1000" dirty="0"/>
              <a:t>📅Ateliers d’expression des identités ou renseignement plus fin sur les identités</a:t>
            </a:r>
          </a:p>
        </p:txBody>
      </p:sp>
      <p:sp>
        <p:nvSpPr>
          <p:cNvPr id="49" name="ZoneTexte 48">
            <a:extLst>
              <a:ext uri="{FF2B5EF4-FFF2-40B4-BE49-F238E27FC236}">
                <a16:creationId xmlns:a16="http://schemas.microsoft.com/office/drawing/2014/main" id="{58E2765E-3FEA-8BAB-B559-FD0C7264ED97}"/>
              </a:ext>
            </a:extLst>
          </p:cNvPr>
          <p:cNvSpPr txBox="1"/>
          <p:nvPr/>
        </p:nvSpPr>
        <p:spPr>
          <a:xfrm>
            <a:off x="6899165" y="5290048"/>
            <a:ext cx="1269137" cy="784830"/>
          </a:xfrm>
          <a:prstGeom prst="rect">
            <a:avLst/>
          </a:prstGeom>
          <a:solidFill>
            <a:schemeClr val="bg1">
              <a:lumMod val="85000"/>
            </a:schemeClr>
          </a:solidFill>
        </p:spPr>
        <p:txBody>
          <a:bodyPr wrap="square" anchor="ctr">
            <a:noAutofit/>
          </a:bodyPr>
          <a:lstStyle/>
          <a:p>
            <a:pPr algn="ctr"/>
            <a:r>
              <a:rPr lang="fr-FR" sz="1000" dirty="0"/>
              <a:t>⚙️Composition de sous-groupes qui avec similarités ou différences saillantes</a:t>
            </a:r>
          </a:p>
        </p:txBody>
      </p:sp>
      <p:sp>
        <p:nvSpPr>
          <p:cNvPr id="50" name="ZoneTexte 49">
            <a:extLst>
              <a:ext uri="{FF2B5EF4-FFF2-40B4-BE49-F238E27FC236}">
                <a16:creationId xmlns:a16="http://schemas.microsoft.com/office/drawing/2014/main" id="{1C2D7DD3-4A0B-0B38-02B7-0B2AE5511B66}"/>
              </a:ext>
            </a:extLst>
          </p:cNvPr>
          <p:cNvSpPr txBox="1"/>
          <p:nvPr/>
        </p:nvSpPr>
        <p:spPr>
          <a:xfrm>
            <a:off x="9572924" y="4410090"/>
            <a:ext cx="1269137" cy="784830"/>
          </a:xfrm>
          <a:prstGeom prst="rect">
            <a:avLst/>
          </a:prstGeom>
          <a:solidFill>
            <a:schemeClr val="bg1">
              <a:lumMod val="85000"/>
            </a:schemeClr>
          </a:solidFill>
        </p:spPr>
        <p:txBody>
          <a:bodyPr wrap="square" anchor="ctr">
            <a:noAutofit/>
          </a:bodyPr>
          <a:lstStyle/>
          <a:p>
            <a:pPr algn="ctr"/>
            <a:r>
              <a:rPr lang="fr-FR" sz="1000" dirty="0"/>
              <a:t>📅Evénements d’interactions et d’échanges basés sur les points différenciants</a:t>
            </a:r>
          </a:p>
        </p:txBody>
      </p:sp>
      <p:sp>
        <p:nvSpPr>
          <p:cNvPr id="51" name="ZoneTexte 50">
            <a:extLst>
              <a:ext uri="{FF2B5EF4-FFF2-40B4-BE49-F238E27FC236}">
                <a16:creationId xmlns:a16="http://schemas.microsoft.com/office/drawing/2014/main" id="{FEBE6856-2EEE-E324-8266-6BDB139E8C3D}"/>
              </a:ext>
            </a:extLst>
          </p:cNvPr>
          <p:cNvSpPr txBox="1"/>
          <p:nvPr/>
        </p:nvSpPr>
        <p:spPr>
          <a:xfrm>
            <a:off x="10901298" y="4405183"/>
            <a:ext cx="1269137" cy="784830"/>
          </a:xfrm>
          <a:prstGeom prst="rect">
            <a:avLst/>
          </a:prstGeom>
          <a:solidFill>
            <a:schemeClr val="bg1">
              <a:lumMod val="85000"/>
            </a:schemeClr>
          </a:solidFill>
        </p:spPr>
        <p:txBody>
          <a:bodyPr wrap="square" anchor="ctr">
            <a:noAutofit/>
          </a:bodyPr>
          <a:lstStyle/>
          <a:p>
            <a:pPr algn="ctr"/>
            <a:r>
              <a:rPr lang="fr-FR" sz="1000" dirty="0"/>
              <a:t>✍️Contenus adaptatifs « One size </a:t>
            </a:r>
            <a:r>
              <a:rPr lang="fr-FR" sz="1000" dirty="0" err="1"/>
              <a:t>fits</a:t>
            </a:r>
            <a:r>
              <a:rPr lang="fr-FR" sz="1000" dirty="0"/>
              <a:t> all » ou bien avec différents niveaux de profondeur</a:t>
            </a:r>
          </a:p>
        </p:txBody>
      </p:sp>
      <p:sp>
        <p:nvSpPr>
          <p:cNvPr id="52" name="ZoneTexte 51">
            <a:extLst>
              <a:ext uri="{FF2B5EF4-FFF2-40B4-BE49-F238E27FC236}">
                <a16:creationId xmlns:a16="http://schemas.microsoft.com/office/drawing/2014/main" id="{49F2231C-10D9-3FAF-0364-C382C67ABBC3}"/>
              </a:ext>
            </a:extLst>
          </p:cNvPr>
          <p:cNvSpPr txBox="1"/>
          <p:nvPr/>
        </p:nvSpPr>
        <p:spPr>
          <a:xfrm>
            <a:off x="9572924" y="5285141"/>
            <a:ext cx="1269137" cy="784830"/>
          </a:xfrm>
          <a:prstGeom prst="rect">
            <a:avLst/>
          </a:prstGeom>
          <a:solidFill>
            <a:schemeClr val="bg1">
              <a:lumMod val="85000"/>
            </a:schemeClr>
          </a:solidFill>
        </p:spPr>
        <p:txBody>
          <a:bodyPr wrap="square" anchor="ctr">
            <a:noAutofit/>
          </a:bodyPr>
          <a:lstStyle/>
          <a:p>
            <a:pPr algn="ctr"/>
            <a:r>
              <a:rPr lang="fr-FR" sz="1000" dirty="0"/>
              <a:t>📅Organisation d’événements par sous-population ayant des points communs</a:t>
            </a:r>
          </a:p>
        </p:txBody>
      </p:sp>
      <p:sp>
        <p:nvSpPr>
          <p:cNvPr id="53" name="ZoneTexte 52">
            <a:extLst>
              <a:ext uri="{FF2B5EF4-FFF2-40B4-BE49-F238E27FC236}">
                <a16:creationId xmlns:a16="http://schemas.microsoft.com/office/drawing/2014/main" id="{52BFC234-4ED5-3EFA-7131-593C36012FCF}"/>
              </a:ext>
            </a:extLst>
          </p:cNvPr>
          <p:cNvSpPr txBox="1"/>
          <p:nvPr/>
        </p:nvSpPr>
        <p:spPr>
          <a:xfrm>
            <a:off x="10901298" y="5285141"/>
            <a:ext cx="1269137" cy="784830"/>
          </a:xfrm>
          <a:prstGeom prst="rect">
            <a:avLst/>
          </a:prstGeom>
          <a:solidFill>
            <a:schemeClr val="bg1">
              <a:lumMod val="85000"/>
            </a:schemeClr>
          </a:solidFill>
        </p:spPr>
        <p:txBody>
          <a:bodyPr wrap="square" anchor="ctr">
            <a:noAutofit/>
          </a:bodyPr>
          <a:lstStyle/>
          <a:p>
            <a:pPr algn="ctr"/>
            <a:r>
              <a:rPr lang="fr-FR" sz="1000" dirty="0"/>
              <a:t>✍️Classement des contenus par sous-population</a:t>
            </a:r>
          </a:p>
        </p:txBody>
      </p:sp>
    </p:spTree>
    <p:extLst>
      <p:ext uri="{BB962C8B-B14F-4D97-AF65-F5344CB8AC3E}">
        <p14:creationId xmlns:p14="http://schemas.microsoft.com/office/powerpoint/2010/main" val="278598917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BBDA4AA-4C8D-0DC5-A5C8-1F97F9912067}"/>
              </a:ext>
            </a:extLst>
          </p:cNvPr>
          <p:cNvSpPr>
            <a:spLocks noGrp="1"/>
          </p:cNvSpPr>
          <p:nvPr>
            <p:ph type="title"/>
          </p:nvPr>
        </p:nvSpPr>
        <p:spPr/>
        <p:txBody>
          <a:bodyPr anchor="t">
            <a:noAutofit/>
          </a:bodyPr>
          <a:lstStyle/>
          <a:p>
            <a:r>
              <a:rPr lang="fr-FR" sz="3200" dirty="0"/>
              <a:t>Exemples de critères sur lesquels trouver et mettre à profit des similarités ou des différences marquées</a:t>
            </a:r>
          </a:p>
        </p:txBody>
      </p:sp>
      <p:grpSp>
        <p:nvGrpSpPr>
          <p:cNvPr id="28" name="Groupe 27">
            <a:extLst>
              <a:ext uri="{FF2B5EF4-FFF2-40B4-BE49-F238E27FC236}">
                <a16:creationId xmlns:a16="http://schemas.microsoft.com/office/drawing/2014/main" id="{E454D88F-C757-633B-012C-5EB78D0163F3}"/>
              </a:ext>
            </a:extLst>
          </p:cNvPr>
          <p:cNvGrpSpPr/>
          <p:nvPr/>
        </p:nvGrpSpPr>
        <p:grpSpPr>
          <a:xfrm>
            <a:off x="2137265" y="2214097"/>
            <a:ext cx="1902981" cy="1001115"/>
            <a:chOff x="4854717" y="4676187"/>
            <a:chExt cx="2020389" cy="1062879"/>
          </a:xfrm>
        </p:grpSpPr>
        <p:sp>
          <p:nvSpPr>
            <p:cNvPr id="8" name="ZoneTexte 7">
              <a:extLst>
                <a:ext uri="{FF2B5EF4-FFF2-40B4-BE49-F238E27FC236}">
                  <a16:creationId xmlns:a16="http://schemas.microsoft.com/office/drawing/2014/main" id="{11491212-1FAA-DDB4-1943-D43017EEB703}"/>
                </a:ext>
              </a:extLst>
            </p:cNvPr>
            <p:cNvSpPr txBox="1"/>
            <p:nvPr/>
          </p:nvSpPr>
          <p:spPr>
            <a:xfrm>
              <a:off x="4854717" y="5183566"/>
              <a:ext cx="2020389" cy="555500"/>
            </a:xfrm>
            <a:prstGeom prst="rect">
              <a:avLst/>
            </a:prstGeom>
            <a:solidFill>
              <a:srgbClr val="ED7D31"/>
            </a:solidFill>
          </p:spPr>
          <p:txBody>
            <a:bodyPr wrap="square" anchor="t">
              <a:spAutoFit/>
            </a:bodyPr>
            <a:lstStyle/>
            <a:p>
              <a:pPr algn="ctr"/>
              <a:r>
                <a:rPr lang="fr-FR" sz="1400" dirty="0"/>
                <a:t>Personnalités et approches</a:t>
              </a:r>
            </a:p>
          </p:txBody>
        </p:sp>
        <p:pic>
          <p:nvPicPr>
            <p:cNvPr id="9" name="Graphique 8" descr="Visage de diable avec remplissage solide avec un remplissage uni">
              <a:extLst>
                <a:ext uri="{FF2B5EF4-FFF2-40B4-BE49-F238E27FC236}">
                  <a16:creationId xmlns:a16="http://schemas.microsoft.com/office/drawing/2014/main" id="{32394290-4DFF-DB65-857F-05AB935DE0E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935995" y="4676187"/>
              <a:ext cx="457200" cy="457200"/>
            </a:xfrm>
            <a:prstGeom prst="rect">
              <a:avLst/>
            </a:prstGeom>
          </p:spPr>
        </p:pic>
        <p:pic>
          <p:nvPicPr>
            <p:cNvPr id="10" name="Graphique 9" descr="Visage sans expression avec remplissage uni avec un remplissage uni">
              <a:extLst>
                <a:ext uri="{FF2B5EF4-FFF2-40B4-BE49-F238E27FC236}">
                  <a16:creationId xmlns:a16="http://schemas.microsoft.com/office/drawing/2014/main" id="{AEE4696A-5665-E932-5485-9FE5C37C9DA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363777" y="4676187"/>
              <a:ext cx="457200" cy="457200"/>
            </a:xfrm>
            <a:prstGeom prst="rect">
              <a:avLst/>
            </a:prstGeom>
          </p:spPr>
        </p:pic>
        <p:pic>
          <p:nvPicPr>
            <p:cNvPr id="11" name="Graphique 10" descr="Visage d’ange avec remplissage uni avec un remplissage uni">
              <a:extLst>
                <a:ext uri="{FF2B5EF4-FFF2-40B4-BE49-F238E27FC236}">
                  <a16:creationId xmlns:a16="http://schemas.microsoft.com/office/drawing/2014/main" id="{3827B282-0EB7-DBEB-A15F-7FB2D6977DC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816624" y="4676187"/>
              <a:ext cx="457200" cy="457200"/>
            </a:xfrm>
            <a:prstGeom prst="rect">
              <a:avLst/>
            </a:prstGeom>
          </p:spPr>
        </p:pic>
        <p:pic>
          <p:nvPicPr>
            <p:cNvPr id="12" name="Graphique 11" descr="Visage touché par une étoile avec remplissage uni avec un remplissage uni">
              <a:extLst>
                <a:ext uri="{FF2B5EF4-FFF2-40B4-BE49-F238E27FC236}">
                  <a16:creationId xmlns:a16="http://schemas.microsoft.com/office/drawing/2014/main" id="{24C304E9-8462-D4C4-8319-1E96336D280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273825" y="4676187"/>
              <a:ext cx="457200" cy="457200"/>
            </a:xfrm>
            <a:prstGeom prst="rect">
              <a:avLst/>
            </a:prstGeom>
          </p:spPr>
        </p:pic>
      </p:grpSp>
      <p:grpSp>
        <p:nvGrpSpPr>
          <p:cNvPr id="6" name="Groupe 5">
            <a:extLst>
              <a:ext uri="{FF2B5EF4-FFF2-40B4-BE49-F238E27FC236}">
                <a16:creationId xmlns:a16="http://schemas.microsoft.com/office/drawing/2014/main" id="{B3B64A39-0B8D-724B-D582-B5A99529FCBD}"/>
              </a:ext>
            </a:extLst>
          </p:cNvPr>
          <p:cNvGrpSpPr/>
          <p:nvPr/>
        </p:nvGrpSpPr>
        <p:grpSpPr>
          <a:xfrm>
            <a:off x="10169567" y="2022783"/>
            <a:ext cx="1902980" cy="1190286"/>
            <a:chOff x="2330403" y="2169660"/>
            <a:chExt cx="2020389" cy="1263723"/>
          </a:xfrm>
        </p:grpSpPr>
        <p:sp>
          <p:nvSpPr>
            <p:cNvPr id="13" name="ZoneTexte 12">
              <a:extLst>
                <a:ext uri="{FF2B5EF4-FFF2-40B4-BE49-F238E27FC236}">
                  <a16:creationId xmlns:a16="http://schemas.microsoft.com/office/drawing/2014/main" id="{D928F4C3-7D86-5B60-494C-E9B381D86B1F}"/>
                </a:ext>
              </a:extLst>
            </p:cNvPr>
            <p:cNvSpPr txBox="1"/>
            <p:nvPr/>
          </p:nvSpPr>
          <p:spPr>
            <a:xfrm>
              <a:off x="2330403" y="2877882"/>
              <a:ext cx="2020389" cy="555501"/>
            </a:xfrm>
            <a:prstGeom prst="rect">
              <a:avLst/>
            </a:prstGeom>
            <a:solidFill>
              <a:srgbClr val="ED7D31"/>
            </a:solidFill>
          </p:spPr>
          <p:txBody>
            <a:bodyPr wrap="square" anchor="t">
              <a:spAutoFit/>
            </a:bodyPr>
            <a:lstStyle/>
            <a:p>
              <a:pPr algn="ctr"/>
              <a:r>
                <a:rPr lang="fr-FR" sz="1400" dirty="0"/>
                <a:t>Compétences </a:t>
              </a:r>
            </a:p>
            <a:p>
              <a:pPr algn="ctr"/>
              <a:r>
                <a:rPr lang="fr-FR" sz="1400" dirty="0"/>
                <a:t>et métiers</a:t>
              </a:r>
            </a:p>
          </p:txBody>
        </p:sp>
        <p:pic>
          <p:nvPicPr>
            <p:cNvPr id="14" name="Graphique 13" descr="Homme électricien avec un remplissage uni">
              <a:extLst>
                <a:ext uri="{FF2B5EF4-FFF2-40B4-BE49-F238E27FC236}">
                  <a16:creationId xmlns:a16="http://schemas.microsoft.com/office/drawing/2014/main" id="{524EF7CC-402E-5C1B-9FA6-FB96441D9EB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510959" y="2235850"/>
              <a:ext cx="647700" cy="647700"/>
            </a:xfrm>
            <a:prstGeom prst="rect">
              <a:avLst/>
            </a:prstGeom>
          </p:spPr>
        </p:pic>
        <p:pic>
          <p:nvPicPr>
            <p:cNvPr id="15" name="Graphique 14" descr="Programmatrice avec un remplissage uni">
              <a:extLst>
                <a:ext uri="{FF2B5EF4-FFF2-40B4-BE49-F238E27FC236}">
                  <a16:creationId xmlns:a16="http://schemas.microsoft.com/office/drawing/2014/main" id="{81096702-AB7E-060A-40A4-10A2050A08B9}"/>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016748" y="2169660"/>
              <a:ext cx="647700" cy="647700"/>
            </a:xfrm>
            <a:prstGeom prst="rect">
              <a:avLst/>
            </a:prstGeom>
          </p:spPr>
        </p:pic>
        <p:pic>
          <p:nvPicPr>
            <p:cNvPr id="16" name="Graphique 15" descr="Employé de bureau avec un remplissage uni">
              <a:extLst>
                <a:ext uri="{FF2B5EF4-FFF2-40B4-BE49-F238E27FC236}">
                  <a16:creationId xmlns:a16="http://schemas.microsoft.com/office/drawing/2014/main" id="{AED7EFFA-DEA0-714A-D265-49BFBD29E238}"/>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522537" y="2199495"/>
              <a:ext cx="647700" cy="647700"/>
            </a:xfrm>
            <a:prstGeom prst="rect">
              <a:avLst/>
            </a:prstGeom>
          </p:spPr>
        </p:pic>
      </p:grpSp>
      <p:grpSp>
        <p:nvGrpSpPr>
          <p:cNvPr id="27" name="Groupe 26">
            <a:extLst>
              <a:ext uri="{FF2B5EF4-FFF2-40B4-BE49-F238E27FC236}">
                <a16:creationId xmlns:a16="http://schemas.microsoft.com/office/drawing/2014/main" id="{A7548E93-F42C-8872-0CEF-229C3811F8CD}"/>
              </a:ext>
            </a:extLst>
          </p:cNvPr>
          <p:cNvGrpSpPr/>
          <p:nvPr/>
        </p:nvGrpSpPr>
        <p:grpSpPr>
          <a:xfrm>
            <a:off x="3979617" y="1746365"/>
            <a:ext cx="2061623" cy="1466704"/>
            <a:chOff x="2190007" y="4181870"/>
            <a:chExt cx="2188819" cy="1557195"/>
          </a:xfrm>
        </p:grpSpPr>
        <p:sp>
          <p:nvSpPr>
            <p:cNvPr id="17" name="ZoneTexte 16">
              <a:extLst>
                <a:ext uri="{FF2B5EF4-FFF2-40B4-BE49-F238E27FC236}">
                  <a16:creationId xmlns:a16="http://schemas.microsoft.com/office/drawing/2014/main" id="{F5F6F415-6DE8-0F8D-8F12-2D8602A19999}"/>
                </a:ext>
              </a:extLst>
            </p:cNvPr>
            <p:cNvSpPr txBox="1"/>
            <p:nvPr/>
          </p:nvSpPr>
          <p:spPr>
            <a:xfrm>
              <a:off x="2358438" y="5183564"/>
              <a:ext cx="2020388" cy="555501"/>
            </a:xfrm>
            <a:prstGeom prst="rect">
              <a:avLst/>
            </a:prstGeom>
            <a:solidFill>
              <a:srgbClr val="ED7D31"/>
            </a:solidFill>
          </p:spPr>
          <p:txBody>
            <a:bodyPr wrap="square" anchor="t">
              <a:spAutoFit/>
            </a:bodyPr>
            <a:lstStyle/>
            <a:p>
              <a:pPr algn="ctr"/>
              <a:r>
                <a:rPr lang="fr-FR" sz="1400" dirty="0"/>
                <a:t>Contextes du quotidien (hors Communauté)</a:t>
              </a:r>
            </a:p>
          </p:txBody>
        </p:sp>
        <p:pic>
          <p:nvPicPr>
            <p:cNvPr id="18" name="Graphique 17" descr="Bâtiment avec un remplissage uni">
              <a:extLst>
                <a:ext uri="{FF2B5EF4-FFF2-40B4-BE49-F238E27FC236}">
                  <a16:creationId xmlns:a16="http://schemas.microsoft.com/office/drawing/2014/main" id="{0B12D3F1-5624-965F-3FC1-EECFE8AABAA0}"/>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2190007" y="4181870"/>
              <a:ext cx="914400" cy="914400"/>
            </a:xfrm>
            <a:prstGeom prst="rect">
              <a:avLst/>
            </a:prstGeom>
          </p:spPr>
        </p:pic>
        <p:pic>
          <p:nvPicPr>
            <p:cNvPr id="19" name="Graphique 18" descr="Utilisateur avec un remplissage uni">
              <a:extLst>
                <a:ext uri="{FF2B5EF4-FFF2-40B4-BE49-F238E27FC236}">
                  <a16:creationId xmlns:a16="http://schemas.microsoft.com/office/drawing/2014/main" id="{66DD2E2F-C463-9B43-5F5C-33CB01E5316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392176" y="4708630"/>
              <a:ext cx="429166" cy="429166"/>
            </a:xfrm>
            <a:prstGeom prst="rect">
              <a:avLst/>
            </a:prstGeom>
          </p:spPr>
        </p:pic>
        <p:pic>
          <p:nvPicPr>
            <p:cNvPr id="20" name="Graphique 19" descr="Logement avec un remplissage uni">
              <a:extLst>
                <a:ext uri="{FF2B5EF4-FFF2-40B4-BE49-F238E27FC236}">
                  <a16:creationId xmlns:a16="http://schemas.microsoft.com/office/drawing/2014/main" id="{B6EA78DC-BE62-EA46-1E80-C3121FE57E22}"/>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001242" y="4435429"/>
              <a:ext cx="631053" cy="631053"/>
            </a:xfrm>
            <a:prstGeom prst="rect">
              <a:avLst/>
            </a:prstGeom>
          </p:spPr>
        </p:pic>
        <p:pic>
          <p:nvPicPr>
            <p:cNvPr id="21" name="Graphique 20" descr="Utilisateur avec un remplissage uni">
              <a:extLst>
                <a:ext uri="{FF2B5EF4-FFF2-40B4-BE49-F238E27FC236}">
                  <a16:creationId xmlns:a16="http://schemas.microsoft.com/office/drawing/2014/main" id="{C36D81B0-3832-C9B6-C303-EFE1B2093299}"/>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102186" y="4719496"/>
              <a:ext cx="429166" cy="429166"/>
            </a:xfrm>
            <a:prstGeom prst="rect">
              <a:avLst/>
            </a:prstGeom>
          </p:spPr>
        </p:pic>
        <p:pic>
          <p:nvPicPr>
            <p:cNvPr id="22" name="Graphique 21" descr="Bateau remorqueur avec un remplissage uni">
              <a:extLst>
                <a:ext uri="{FF2B5EF4-FFF2-40B4-BE49-F238E27FC236}">
                  <a16:creationId xmlns:a16="http://schemas.microsoft.com/office/drawing/2014/main" id="{882E2FEA-94A2-537B-6CA7-B34C9BB75956}"/>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3632295" y="4366264"/>
              <a:ext cx="738664" cy="738664"/>
            </a:xfrm>
            <a:prstGeom prst="rect">
              <a:avLst/>
            </a:prstGeom>
          </p:spPr>
        </p:pic>
        <p:pic>
          <p:nvPicPr>
            <p:cNvPr id="23" name="Graphique 22" descr="Utilisateur avec un remplissage uni">
              <a:extLst>
                <a:ext uri="{FF2B5EF4-FFF2-40B4-BE49-F238E27FC236}">
                  <a16:creationId xmlns:a16="http://schemas.microsoft.com/office/drawing/2014/main" id="{F2A15CA9-A1A2-6ABB-4EC1-04C5CCDD73F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787044" y="4722954"/>
              <a:ext cx="429166" cy="429166"/>
            </a:xfrm>
            <a:prstGeom prst="rect">
              <a:avLst/>
            </a:prstGeom>
          </p:spPr>
        </p:pic>
      </p:grpSp>
      <p:grpSp>
        <p:nvGrpSpPr>
          <p:cNvPr id="5" name="Groupe 4">
            <a:extLst>
              <a:ext uri="{FF2B5EF4-FFF2-40B4-BE49-F238E27FC236}">
                <a16:creationId xmlns:a16="http://schemas.microsoft.com/office/drawing/2014/main" id="{DCCD9BED-3BE1-36BB-AD07-0E1445A109D7}"/>
              </a:ext>
            </a:extLst>
          </p:cNvPr>
          <p:cNvGrpSpPr/>
          <p:nvPr/>
        </p:nvGrpSpPr>
        <p:grpSpPr>
          <a:xfrm>
            <a:off x="8180089" y="1958917"/>
            <a:ext cx="1902980" cy="1472541"/>
            <a:chOff x="4854717" y="2092078"/>
            <a:chExt cx="2020389" cy="1563392"/>
          </a:xfrm>
        </p:grpSpPr>
        <p:sp>
          <p:nvSpPr>
            <p:cNvPr id="4" name="ZoneTexte 3">
              <a:extLst>
                <a:ext uri="{FF2B5EF4-FFF2-40B4-BE49-F238E27FC236}">
                  <a16:creationId xmlns:a16="http://schemas.microsoft.com/office/drawing/2014/main" id="{7789951D-0FF6-C354-D823-4B0AED6BB9C9}"/>
                </a:ext>
              </a:extLst>
            </p:cNvPr>
            <p:cNvSpPr txBox="1"/>
            <p:nvPr/>
          </p:nvSpPr>
          <p:spPr>
            <a:xfrm>
              <a:off x="4854717" y="2871233"/>
              <a:ext cx="2020389" cy="784237"/>
            </a:xfrm>
            <a:prstGeom prst="rect">
              <a:avLst/>
            </a:prstGeom>
            <a:solidFill>
              <a:srgbClr val="ED7D31"/>
            </a:solidFill>
          </p:spPr>
          <p:txBody>
            <a:bodyPr wrap="square" anchor="t">
              <a:spAutoFit/>
            </a:bodyPr>
            <a:lstStyle/>
            <a:p>
              <a:pPr algn="ctr"/>
              <a:r>
                <a:rPr lang="fr-FR" sz="1400" dirty="0"/>
                <a:t>Niveau de maîtrise sur une compétence commune</a:t>
              </a:r>
            </a:p>
          </p:txBody>
        </p:sp>
        <p:pic>
          <p:nvPicPr>
            <p:cNvPr id="7" name="Graphique 6" descr="Héroïne avec un remplissage uni">
              <a:extLst>
                <a:ext uri="{FF2B5EF4-FFF2-40B4-BE49-F238E27FC236}">
                  <a16:creationId xmlns:a16="http://schemas.microsoft.com/office/drawing/2014/main" id="{BE57F35A-07C6-2383-D914-1FB1A831C5E8}"/>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6075799" y="2092078"/>
              <a:ext cx="696685" cy="696685"/>
            </a:xfrm>
            <a:prstGeom prst="rect">
              <a:avLst/>
            </a:prstGeom>
          </p:spPr>
        </p:pic>
        <p:pic>
          <p:nvPicPr>
            <p:cNvPr id="29" name="Graphique 28" descr="Courir avec un remplissage uni">
              <a:extLst>
                <a:ext uri="{FF2B5EF4-FFF2-40B4-BE49-F238E27FC236}">
                  <a16:creationId xmlns:a16="http://schemas.microsoft.com/office/drawing/2014/main" id="{5A015255-72FC-B884-11B5-0A859B3B4021}"/>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5463753" y="2144818"/>
              <a:ext cx="611345" cy="611345"/>
            </a:xfrm>
            <a:prstGeom prst="rect">
              <a:avLst/>
            </a:prstGeom>
          </p:spPr>
        </p:pic>
        <p:pic>
          <p:nvPicPr>
            <p:cNvPr id="31" name="Graphique 30" descr="Marcher avec un remplissage uni">
              <a:extLst>
                <a:ext uri="{FF2B5EF4-FFF2-40B4-BE49-F238E27FC236}">
                  <a16:creationId xmlns:a16="http://schemas.microsoft.com/office/drawing/2014/main" id="{38ED8EF2-6EB1-5A7F-B6CF-879420327F42}"/>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4946169" y="2144819"/>
              <a:ext cx="611345" cy="611345"/>
            </a:xfrm>
            <a:prstGeom prst="rect">
              <a:avLst/>
            </a:prstGeom>
          </p:spPr>
        </p:pic>
      </p:grpSp>
      <p:grpSp>
        <p:nvGrpSpPr>
          <p:cNvPr id="3" name="Groupe 2">
            <a:extLst>
              <a:ext uri="{FF2B5EF4-FFF2-40B4-BE49-F238E27FC236}">
                <a16:creationId xmlns:a16="http://schemas.microsoft.com/office/drawing/2014/main" id="{CFD3720E-FD1A-AB57-9E8F-B8F3244844AF}"/>
              </a:ext>
            </a:extLst>
          </p:cNvPr>
          <p:cNvGrpSpPr/>
          <p:nvPr/>
        </p:nvGrpSpPr>
        <p:grpSpPr>
          <a:xfrm>
            <a:off x="6169521" y="2022783"/>
            <a:ext cx="1902980" cy="1401786"/>
            <a:chOff x="7341874" y="2059479"/>
            <a:chExt cx="2020389" cy="1488271"/>
          </a:xfrm>
        </p:grpSpPr>
        <p:sp>
          <p:nvSpPr>
            <p:cNvPr id="24" name="ZoneTexte 23">
              <a:extLst>
                <a:ext uri="{FF2B5EF4-FFF2-40B4-BE49-F238E27FC236}">
                  <a16:creationId xmlns:a16="http://schemas.microsoft.com/office/drawing/2014/main" id="{FF84BE49-5CB8-DC34-F784-D7C195CE0C52}"/>
                </a:ext>
              </a:extLst>
            </p:cNvPr>
            <p:cNvSpPr txBox="1"/>
            <p:nvPr/>
          </p:nvSpPr>
          <p:spPr>
            <a:xfrm>
              <a:off x="7341874" y="2763513"/>
              <a:ext cx="2020389" cy="784237"/>
            </a:xfrm>
            <a:prstGeom prst="rect">
              <a:avLst/>
            </a:prstGeom>
            <a:solidFill>
              <a:srgbClr val="ED7D31"/>
            </a:solidFill>
          </p:spPr>
          <p:txBody>
            <a:bodyPr wrap="square" anchor="t">
              <a:spAutoFit/>
            </a:bodyPr>
            <a:lstStyle/>
            <a:p>
              <a:pPr algn="ctr"/>
              <a:r>
                <a:rPr lang="fr-FR" sz="1400" dirty="0"/>
                <a:t>Niveau d’expérience sur un sujet donné commun</a:t>
              </a:r>
            </a:p>
          </p:txBody>
        </p:sp>
        <p:pic>
          <p:nvPicPr>
            <p:cNvPr id="25" name="Graphique 24" descr="Bébé avec un remplissage uni">
              <a:extLst>
                <a:ext uri="{FF2B5EF4-FFF2-40B4-BE49-F238E27FC236}">
                  <a16:creationId xmlns:a16="http://schemas.microsoft.com/office/drawing/2014/main" id="{2513FDF1-9B57-BFCF-CC07-C08FE7D6A10C}"/>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7602478" y="2437089"/>
              <a:ext cx="348308" cy="348308"/>
            </a:xfrm>
            <a:prstGeom prst="rect">
              <a:avLst/>
            </a:prstGeom>
          </p:spPr>
        </p:pic>
        <p:pic>
          <p:nvPicPr>
            <p:cNvPr id="26" name="Graphique 25" descr="Personne confuse avec un remplissage uni">
              <a:extLst>
                <a:ext uri="{FF2B5EF4-FFF2-40B4-BE49-F238E27FC236}">
                  <a16:creationId xmlns:a16="http://schemas.microsoft.com/office/drawing/2014/main" id="{8CBC57BF-56E6-BBD6-95FE-ECBD2F09B93F}"/>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8353337" y="2059479"/>
              <a:ext cx="696685" cy="696685"/>
            </a:xfrm>
            <a:prstGeom prst="rect">
              <a:avLst/>
            </a:prstGeom>
          </p:spPr>
        </p:pic>
        <p:pic>
          <p:nvPicPr>
            <p:cNvPr id="33" name="Graphique 32" descr="Enfant avec ballon avec un remplissage uni">
              <a:extLst>
                <a:ext uri="{FF2B5EF4-FFF2-40B4-BE49-F238E27FC236}">
                  <a16:creationId xmlns:a16="http://schemas.microsoft.com/office/drawing/2014/main" id="{C82CD10B-DC48-4C2A-E0EE-72B94CA353F0}"/>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7846425" y="2092078"/>
              <a:ext cx="672638" cy="672638"/>
            </a:xfrm>
            <a:prstGeom prst="rect">
              <a:avLst/>
            </a:prstGeom>
          </p:spPr>
        </p:pic>
      </p:grpSp>
      <p:grpSp>
        <p:nvGrpSpPr>
          <p:cNvPr id="122" name="Groupe 121">
            <a:extLst>
              <a:ext uri="{FF2B5EF4-FFF2-40B4-BE49-F238E27FC236}">
                <a16:creationId xmlns:a16="http://schemas.microsoft.com/office/drawing/2014/main" id="{0B4C8DC8-119E-7F59-8AE6-57AF4FA90C41}"/>
              </a:ext>
            </a:extLst>
          </p:cNvPr>
          <p:cNvGrpSpPr/>
          <p:nvPr/>
        </p:nvGrpSpPr>
        <p:grpSpPr>
          <a:xfrm>
            <a:off x="119453" y="1586142"/>
            <a:ext cx="1913714" cy="1843834"/>
            <a:chOff x="119453" y="1586142"/>
            <a:chExt cx="1913714" cy="1843834"/>
          </a:xfrm>
        </p:grpSpPr>
        <p:sp>
          <p:nvSpPr>
            <p:cNvPr id="34" name="ZoneTexte 33">
              <a:extLst>
                <a:ext uri="{FF2B5EF4-FFF2-40B4-BE49-F238E27FC236}">
                  <a16:creationId xmlns:a16="http://schemas.microsoft.com/office/drawing/2014/main" id="{18434076-731E-F2B0-9BAA-DCCF8B707F9E}"/>
                </a:ext>
              </a:extLst>
            </p:cNvPr>
            <p:cNvSpPr txBox="1"/>
            <p:nvPr/>
          </p:nvSpPr>
          <p:spPr>
            <a:xfrm>
              <a:off x="119453" y="2691312"/>
              <a:ext cx="1902980" cy="738664"/>
            </a:xfrm>
            <a:prstGeom prst="rect">
              <a:avLst/>
            </a:prstGeom>
            <a:solidFill>
              <a:srgbClr val="ED7D31"/>
            </a:solidFill>
          </p:spPr>
          <p:txBody>
            <a:bodyPr wrap="square" anchor="t">
              <a:spAutoFit/>
            </a:bodyPr>
            <a:lstStyle/>
            <a:p>
              <a:pPr algn="ctr"/>
              <a:r>
                <a:rPr lang="fr-FR" sz="1400" dirty="0"/>
                <a:t>Affinités, goûts personnels (hors sujet de la Communauté)</a:t>
              </a:r>
            </a:p>
          </p:txBody>
        </p:sp>
        <p:grpSp>
          <p:nvGrpSpPr>
            <p:cNvPr id="115" name="Groupe 114">
              <a:extLst>
                <a:ext uri="{FF2B5EF4-FFF2-40B4-BE49-F238E27FC236}">
                  <a16:creationId xmlns:a16="http://schemas.microsoft.com/office/drawing/2014/main" id="{BA8E4AEF-41C6-3846-E1C3-A22B9F73BD75}"/>
                </a:ext>
              </a:extLst>
            </p:cNvPr>
            <p:cNvGrpSpPr/>
            <p:nvPr/>
          </p:nvGrpSpPr>
          <p:grpSpPr>
            <a:xfrm>
              <a:off x="175279" y="1586142"/>
              <a:ext cx="1857888" cy="1085324"/>
              <a:chOff x="166428" y="1484033"/>
              <a:chExt cx="1857888" cy="1085324"/>
            </a:xfrm>
          </p:grpSpPr>
          <p:pic>
            <p:nvPicPr>
              <p:cNvPr id="57" name="Graphique 56" descr="Voyage avec un remplissage uni">
                <a:extLst>
                  <a:ext uri="{FF2B5EF4-FFF2-40B4-BE49-F238E27FC236}">
                    <a16:creationId xmlns:a16="http://schemas.microsoft.com/office/drawing/2014/main" id="{1D3ECACB-66C6-6E46-06A5-CAF61E284100}"/>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166428" y="1484033"/>
                <a:ext cx="557331" cy="557332"/>
              </a:xfrm>
              <a:prstGeom prst="rect">
                <a:avLst/>
              </a:prstGeom>
            </p:spPr>
          </p:pic>
          <p:pic>
            <p:nvPicPr>
              <p:cNvPr id="59" name="Graphique 58" descr="Fouet avec un remplissage uni">
                <a:extLst>
                  <a:ext uri="{FF2B5EF4-FFF2-40B4-BE49-F238E27FC236}">
                    <a16:creationId xmlns:a16="http://schemas.microsoft.com/office/drawing/2014/main" id="{5CB01F36-8627-DE13-2A05-8A35D211F785}"/>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846084" y="1492126"/>
                <a:ext cx="557331" cy="557332"/>
              </a:xfrm>
              <a:prstGeom prst="rect">
                <a:avLst/>
              </a:prstGeom>
            </p:spPr>
          </p:pic>
          <p:pic>
            <p:nvPicPr>
              <p:cNvPr id="61" name="Graphique 60" descr="Ballon de football avec un remplissage uni">
                <a:extLst>
                  <a:ext uri="{FF2B5EF4-FFF2-40B4-BE49-F238E27FC236}">
                    <a16:creationId xmlns:a16="http://schemas.microsoft.com/office/drawing/2014/main" id="{78A4F9F0-B772-16C6-E818-CDCB2734FBA5}"/>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1466985" y="1505774"/>
                <a:ext cx="557331" cy="557332"/>
              </a:xfrm>
              <a:prstGeom prst="rect">
                <a:avLst/>
              </a:prstGeom>
            </p:spPr>
          </p:pic>
          <p:pic>
            <p:nvPicPr>
              <p:cNvPr id="47" name="Graphique 46" descr="Cœur avec un remplissage uni">
                <a:extLst>
                  <a:ext uri="{FF2B5EF4-FFF2-40B4-BE49-F238E27FC236}">
                    <a16:creationId xmlns:a16="http://schemas.microsoft.com/office/drawing/2014/main" id="{4E11C373-DAC9-1648-7C96-B9BAE207232F}"/>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343418" y="1777461"/>
                <a:ext cx="333402" cy="333402"/>
              </a:xfrm>
              <a:prstGeom prst="rect">
                <a:avLst/>
              </a:prstGeom>
            </p:spPr>
          </p:pic>
          <p:pic>
            <p:nvPicPr>
              <p:cNvPr id="48" name="Graphique 47" descr="Utilisateur avec un remplissage uni">
                <a:extLst>
                  <a:ext uri="{FF2B5EF4-FFF2-40B4-BE49-F238E27FC236}">
                    <a16:creationId xmlns:a16="http://schemas.microsoft.com/office/drawing/2014/main" id="{090B817F-8335-FC8E-D3A0-D429C65F0A06}"/>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43194" y="2165130"/>
                <a:ext cx="404226" cy="404227"/>
              </a:xfrm>
              <a:prstGeom prst="rect">
                <a:avLst/>
              </a:prstGeom>
            </p:spPr>
          </p:pic>
          <p:pic>
            <p:nvPicPr>
              <p:cNvPr id="49" name="Graphique 48" descr="Utilisateur avec un remplissage uni">
                <a:extLst>
                  <a:ext uri="{FF2B5EF4-FFF2-40B4-BE49-F238E27FC236}">
                    <a16:creationId xmlns:a16="http://schemas.microsoft.com/office/drawing/2014/main" id="{9082598D-4F33-1020-609E-47D9842AF1BD}"/>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906700" y="2165130"/>
                <a:ext cx="404226" cy="404227"/>
              </a:xfrm>
              <a:prstGeom prst="rect">
                <a:avLst/>
              </a:prstGeom>
            </p:spPr>
          </p:pic>
          <p:pic>
            <p:nvPicPr>
              <p:cNvPr id="51" name="Graphique 50" descr="Cœur avec un remplissage uni">
                <a:extLst>
                  <a:ext uri="{FF2B5EF4-FFF2-40B4-BE49-F238E27FC236}">
                    <a16:creationId xmlns:a16="http://schemas.microsoft.com/office/drawing/2014/main" id="{5D635522-C8AC-A658-A6D1-654E50F7CEA9}"/>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977524" y="1785553"/>
                <a:ext cx="333402" cy="333402"/>
              </a:xfrm>
              <a:prstGeom prst="rect">
                <a:avLst/>
              </a:prstGeom>
            </p:spPr>
          </p:pic>
          <p:pic>
            <p:nvPicPr>
              <p:cNvPr id="50" name="Graphique 49" descr="Utilisateur avec un remplissage uni">
                <a:extLst>
                  <a:ext uri="{FF2B5EF4-FFF2-40B4-BE49-F238E27FC236}">
                    <a16:creationId xmlns:a16="http://schemas.microsoft.com/office/drawing/2014/main" id="{80BF9C80-E86D-802E-5605-E565A3E1C2A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557003" y="2165130"/>
                <a:ext cx="404226" cy="404227"/>
              </a:xfrm>
              <a:prstGeom prst="rect">
                <a:avLst/>
              </a:prstGeom>
            </p:spPr>
          </p:pic>
          <p:pic>
            <p:nvPicPr>
              <p:cNvPr id="52" name="Graphique 51" descr="Cœur avec un remplissage uni">
                <a:extLst>
                  <a:ext uri="{FF2B5EF4-FFF2-40B4-BE49-F238E27FC236}">
                    <a16:creationId xmlns:a16="http://schemas.microsoft.com/office/drawing/2014/main" id="{2721366C-FFBD-D33D-640C-B8E272F2E29C}"/>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1627827" y="1785553"/>
                <a:ext cx="333402" cy="333402"/>
              </a:xfrm>
              <a:prstGeom prst="rect">
                <a:avLst/>
              </a:prstGeom>
            </p:spPr>
          </p:pic>
        </p:grpSp>
      </p:grpSp>
      <p:sp>
        <p:nvSpPr>
          <p:cNvPr id="43" name="Flèche : double flèche horizontale 42">
            <a:extLst>
              <a:ext uri="{FF2B5EF4-FFF2-40B4-BE49-F238E27FC236}">
                <a16:creationId xmlns:a16="http://schemas.microsoft.com/office/drawing/2014/main" id="{51B9CA7E-8924-30FA-FAF9-E607276F0A02}"/>
              </a:ext>
            </a:extLst>
          </p:cNvPr>
          <p:cNvSpPr/>
          <p:nvPr/>
        </p:nvSpPr>
        <p:spPr>
          <a:xfrm>
            <a:off x="119453" y="3669305"/>
            <a:ext cx="11953094" cy="738663"/>
          </a:xfrm>
          <a:prstGeom prst="leftRightArrow">
            <a:avLst/>
          </a:prstGeom>
          <a:gradFill>
            <a:gsLst>
              <a:gs pos="23000">
                <a:srgbClr val="ED7D31"/>
              </a:gs>
              <a:gs pos="0">
                <a:srgbClr val="ED7D31"/>
              </a:gs>
              <a:gs pos="71000">
                <a:schemeClr val="tx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solidFill>
                  <a:schemeClr val="tx1"/>
                </a:solidFill>
              </a:rPr>
              <a:t>Caractéristiques d’ordre personnel					        </a:t>
            </a:r>
            <a:r>
              <a:rPr lang="fr-FR" dirty="0">
                <a:solidFill>
                  <a:schemeClr val="bg1"/>
                </a:solidFill>
              </a:rPr>
              <a:t>Caractéristiques d’ordre professionnel</a:t>
            </a:r>
          </a:p>
        </p:txBody>
      </p:sp>
      <p:grpSp>
        <p:nvGrpSpPr>
          <p:cNvPr id="129" name="Groupe 128">
            <a:extLst>
              <a:ext uri="{FF2B5EF4-FFF2-40B4-BE49-F238E27FC236}">
                <a16:creationId xmlns:a16="http://schemas.microsoft.com/office/drawing/2014/main" id="{B412DBAF-7E42-9D96-F39A-AEFF22638630}"/>
              </a:ext>
            </a:extLst>
          </p:cNvPr>
          <p:cNvGrpSpPr/>
          <p:nvPr/>
        </p:nvGrpSpPr>
        <p:grpSpPr>
          <a:xfrm>
            <a:off x="2137265" y="4355643"/>
            <a:ext cx="1938833" cy="1771472"/>
            <a:chOff x="2137265" y="4355643"/>
            <a:chExt cx="1938833" cy="1771472"/>
          </a:xfrm>
        </p:grpSpPr>
        <p:sp>
          <p:nvSpPr>
            <p:cNvPr id="62" name="ZoneTexte 61">
              <a:extLst>
                <a:ext uri="{FF2B5EF4-FFF2-40B4-BE49-F238E27FC236}">
                  <a16:creationId xmlns:a16="http://schemas.microsoft.com/office/drawing/2014/main" id="{A24C3ECB-6158-8769-40E6-CE95FED26E65}"/>
                </a:ext>
              </a:extLst>
            </p:cNvPr>
            <p:cNvSpPr txBox="1"/>
            <p:nvPr/>
          </p:nvSpPr>
          <p:spPr>
            <a:xfrm>
              <a:off x="2137265" y="5603895"/>
              <a:ext cx="1902980" cy="523220"/>
            </a:xfrm>
            <a:prstGeom prst="rect">
              <a:avLst/>
            </a:prstGeom>
            <a:solidFill>
              <a:srgbClr val="ED7D31"/>
            </a:solidFill>
          </p:spPr>
          <p:txBody>
            <a:bodyPr wrap="square" anchor="t">
              <a:spAutoFit/>
            </a:bodyPr>
            <a:lstStyle/>
            <a:p>
              <a:pPr algn="ctr"/>
              <a:r>
                <a:rPr lang="fr-FR" sz="1400" dirty="0"/>
                <a:t>Objectifs personnels liés à la Communauté</a:t>
              </a:r>
            </a:p>
          </p:txBody>
        </p:sp>
        <p:grpSp>
          <p:nvGrpSpPr>
            <p:cNvPr id="32" name="Groupe 31">
              <a:extLst>
                <a:ext uri="{FF2B5EF4-FFF2-40B4-BE49-F238E27FC236}">
                  <a16:creationId xmlns:a16="http://schemas.microsoft.com/office/drawing/2014/main" id="{7B552993-CB91-A748-BEA4-EFCF591776DF}"/>
                </a:ext>
              </a:extLst>
            </p:cNvPr>
            <p:cNvGrpSpPr/>
            <p:nvPr/>
          </p:nvGrpSpPr>
          <p:grpSpPr>
            <a:xfrm>
              <a:off x="2208267" y="4355643"/>
              <a:ext cx="1867831" cy="738663"/>
              <a:chOff x="2242123" y="4466168"/>
              <a:chExt cx="2594570" cy="1026064"/>
            </a:xfrm>
            <a:solidFill>
              <a:schemeClr val="tx1"/>
            </a:solidFill>
          </p:grpSpPr>
          <p:pic>
            <p:nvPicPr>
              <p:cNvPr id="66" name="Graphique 65" descr="Globe terrestre : Europe et Afrique avec un remplissage uni">
                <a:extLst>
                  <a:ext uri="{FF2B5EF4-FFF2-40B4-BE49-F238E27FC236}">
                    <a16:creationId xmlns:a16="http://schemas.microsoft.com/office/drawing/2014/main" id="{E541A1EC-D191-6905-681B-6E7EBABEF428}"/>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2242123" y="4548730"/>
                <a:ext cx="914402" cy="914402"/>
              </a:xfrm>
              <a:prstGeom prst="rect">
                <a:avLst/>
              </a:prstGeom>
            </p:spPr>
          </p:pic>
          <p:pic>
            <p:nvPicPr>
              <p:cNvPr id="67" name="Graphique 66" descr="Poignée de main avec un remplissage uni">
                <a:extLst>
                  <a:ext uri="{FF2B5EF4-FFF2-40B4-BE49-F238E27FC236}">
                    <a16:creationId xmlns:a16="http://schemas.microsoft.com/office/drawing/2014/main" id="{C1D6BBA1-B4D5-8346-7C38-387F0AA4C56F}"/>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a:off x="3084465" y="4577831"/>
                <a:ext cx="914401" cy="914401"/>
              </a:xfrm>
              <a:prstGeom prst="rect">
                <a:avLst/>
              </a:prstGeom>
            </p:spPr>
          </p:pic>
          <p:pic>
            <p:nvPicPr>
              <p:cNvPr id="68" name="Graphique 67" descr="Presse-papiers vérifié avec un remplissage uni">
                <a:extLst>
                  <a:ext uri="{FF2B5EF4-FFF2-40B4-BE49-F238E27FC236}">
                    <a16:creationId xmlns:a16="http://schemas.microsoft.com/office/drawing/2014/main" id="{32F3CB28-D801-7F29-C0B6-EFD948C91E8C}"/>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3904537" y="4466168"/>
                <a:ext cx="932156" cy="932156"/>
              </a:xfrm>
              <a:prstGeom prst="rect">
                <a:avLst/>
              </a:prstGeom>
            </p:spPr>
          </p:pic>
        </p:grpSp>
        <p:pic>
          <p:nvPicPr>
            <p:cNvPr id="69" name="Graphique 68" descr="Utilisateur avec un remplissage uni">
              <a:extLst>
                <a:ext uri="{FF2B5EF4-FFF2-40B4-BE49-F238E27FC236}">
                  <a16:creationId xmlns:a16="http://schemas.microsoft.com/office/drawing/2014/main" id="{838A0576-8AED-76E9-4581-C91BFCF5A14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218158" y="5191381"/>
              <a:ext cx="404226" cy="404227"/>
            </a:xfrm>
            <a:prstGeom prst="rect">
              <a:avLst/>
            </a:prstGeom>
          </p:spPr>
        </p:pic>
        <p:pic>
          <p:nvPicPr>
            <p:cNvPr id="70" name="Graphique 69" descr="Utilisateur avec un remplissage uni">
              <a:extLst>
                <a:ext uri="{FF2B5EF4-FFF2-40B4-BE49-F238E27FC236}">
                  <a16:creationId xmlns:a16="http://schemas.microsoft.com/office/drawing/2014/main" id="{A62DA672-3917-121D-5FCF-851975AF2BE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881664" y="5191381"/>
              <a:ext cx="404226" cy="404227"/>
            </a:xfrm>
            <a:prstGeom prst="rect">
              <a:avLst/>
            </a:prstGeom>
          </p:spPr>
        </p:pic>
        <p:pic>
          <p:nvPicPr>
            <p:cNvPr id="71" name="Graphique 70" descr="Utilisateur avec un remplissage uni">
              <a:extLst>
                <a:ext uri="{FF2B5EF4-FFF2-40B4-BE49-F238E27FC236}">
                  <a16:creationId xmlns:a16="http://schemas.microsoft.com/office/drawing/2014/main" id="{257795E2-1530-4C07-0999-7FA973896670}"/>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531967" y="5191381"/>
              <a:ext cx="404226" cy="404227"/>
            </a:xfrm>
            <a:prstGeom prst="rect">
              <a:avLst/>
            </a:prstGeom>
          </p:spPr>
        </p:pic>
        <p:pic>
          <p:nvPicPr>
            <p:cNvPr id="74" name="Graphique 73" descr="Mille avec un remplissage uni">
              <a:extLst>
                <a:ext uri="{FF2B5EF4-FFF2-40B4-BE49-F238E27FC236}">
                  <a16:creationId xmlns:a16="http://schemas.microsoft.com/office/drawing/2014/main" id="{5980B703-E7AD-92C2-3FC6-E48009472409}"/>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rcRect/>
            <a:stretch/>
          </p:blipFill>
          <p:spPr>
            <a:xfrm>
              <a:off x="3732611" y="4821411"/>
              <a:ext cx="307634" cy="307634"/>
            </a:xfrm>
            <a:prstGeom prst="rect">
              <a:avLst/>
            </a:prstGeom>
          </p:spPr>
        </p:pic>
        <p:pic>
          <p:nvPicPr>
            <p:cNvPr id="75" name="Graphique 74" descr="Mille avec un remplissage uni">
              <a:extLst>
                <a:ext uri="{FF2B5EF4-FFF2-40B4-BE49-F238E27FC236}">
                  <a16:creationId xmlns:a16="http://schemas.microsoft.com/office/drawing/2014/main" id="{C23838EE-99AC-7BE2-C780-C0C449251054}"/>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rcRect/>
            <a:stretch/>
          </p:blipFill>
          <p:spPr>
            <a:xfrm>
              <a:off x="3104772" y="4814232"/>
              <a:ext cx="307634" cy="307634"/>
            </a:xfrm>
            <a:prstGeom prst="rect">
              <a:avLst/>
            </a:prstGeom>
          </p:spPr>
        </p:pic>
        <p:pic>
          <p:nvPicPr>
            <p:cNvPr id="76" name="Graphique 75" descr="Mille avec un remplissage uni">
              <a:extLst>
                <a:ext uri="{FF2B5EF4-FFF2-40B4-BE49-F238E27FC236}">
                  <a16:creationId xmlns:a16="http://schemas.microsoft.com/office/drawing/2014/main" id="{E7E25B80-5DCE-45A5-FD10-FCECE3576B46}"/>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rcRect/>
            <a:stretch/>
          </p:blipFill>
          <p:spPr>
            <a:xfrm>
              <a:off x="2524208" y="4807622"/>
              <a:ext cx="307634" cy="307634"/>
            </a:xfrm>
            <a:prstGeom prst="rect">
              <a:avLst/>
            </a:prstGeom>
          </p:spPr>
        </p:pic>
      </p:grpSp>
      <p:grpSp>
        <p:nvGrpSpPr>
          <p:cNvPr id="130" name="Groupe 129">
            <a:extLst>
              <a:ext uri="{FF2B5EF4-FFF2-40B4-BE49-F238E27FC236}">
                <a16:creationId xmlns:a16="http://schemas.microsoft.com/office/drawing/2014/main" id="{E2252573-089A-904A-DBA6-E847D7AC1A1A}"/>
              </a:ext>
            </a:extLst>
          </p:cNvPr>
          <p:cNvGrpSpPr/>
          <p:nvPr/>
        </p:nvGrpSpPr>
        <p:grpSpPr>
          <a:xfrm>
            <a:off x="119453" y="4890124"/>
            <a:ext cx="1902980" cy="1452435"/>
            <a:chOff x="119453" y="4890124"/>
            <a:chExt cx="1902980" cy="1452435"/>
          </a:xfrm>
        </p:grpSpPr>
        <p:sp>
          <p:nvSpPr>
            <p:cNvPr id="60" name="ZoneTexte 59">
              <a:extLst>
                <a:ext uri="{FF2B5EF4-FFF2-40B4-BE49-F238E27FC236}">
                  <a16:creationId xmlns:a16="http://schemas.microsoft.com/office/drawing/2014/main" id="{FE051053-B439-9C7F-CFE8-F0BB5A1B3971}"/>
                </a:ext>
              </a:extLst>
            </p:cNvPr>
            <p:cNvSpPr txBox="1"/>
            <p:nvPr/>
          </p:nvSpPr>
          <p:spPr>
            <a:xfrm>
              <a:off x="119453" y="5603895"/>
              <a:ext cx="1902980" cy="738664"/>
            </a:xfrm>
            <a:prstGeom prst="rect">
              <a:avLst/>
            </a:prstGeom>
            <a:solidFill>
              <a:srgbClr val="ED7D31"/>
            </a:solidFill>
          </p:spPr>
          <p:txBody>
            <a:bodyPr wrap="square" anchor="t">
              <a:spAutoFit/>
            </a:bodyPr>
            <a:lstStyle/>
            <a:p>
              <a:pPr algn="ctr"/>
              <a:r>
                <a:rPr lang="fr-FR" sz="1400" dirty="0"/>
                <a:t>Appartenances et caractéristiques  démographiques</a:t>
              </a:r>
            </a:p>
          </p:txBody>
        </p:sp>
        <p:grpSp>
          <p:nvGrpSpPr>
            <p:cNvPr id="41" name="Groupe 40">
              <a:extLst>
                <a:ext uri="{FF2B5EF4-FFF2-40B4-BE49-F238E27FC236}">
                  <a16:creationId xmlns:a16="http://schemas.microsoft.com/office/drawing/2014/main" id="{F1391F50-E11F-E2DB-3274-32D6FF822470}"/>
                </a:ext>
              </a:extLst>
            </p:cNvPr>
            <p:cNvGrpSpPr/>
            <p:nvPr/>
          </p:nvGrpSpPr>
          <p:grpSpPr>
            <a:xfrm>
              <a:off x="156067" y="4890124"/>
              <a:ext cx="1735039" cy="710452"/>
              <a:chOff x="-86422" y="4604282"/>
              <a:chExt cx="2286298" cy="936178"/>
            </a:xfrm>
            <a:solidFill>
              <a:srgbClr val="ED7D31"/>
            </a:solidFill>
          </p:grpSpPr>
          <p:pic>
            <p:nvPicPr>
              <p:cNvPr id="36" name="Graphique 35" descr="Homme avec un remplissage uni">
                <a:extLst>
                  <a:ext uri="{FF2B5EF4-FFF2-40B4-BE49-F238E27FC236}">
                    <a16:creationId xmlns:a16="http://schemas.microsoft.com/office/drawing/2014/main" id="{314BE1D3-F398-12AF-5333-C6941E77FD0F}"/>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550681" y="4616157"/>
                <a:ext cx="914400" cy="914400"/>
              </a:xfrm>
              <a:prstGeom prst="rect">
                <a:avLst/>
              </a:prstGeom>
            </p:spPr>
          </p:pic>
          <p:pic>
            <p:nvPicPr>
              <p:cNvPr id="38" name="Graphique 37" descr="Homme avec canne avec un remplissage uni">
                <a:extLst>
                  <a:ext uri="{FF2B5EF4-FFF2-40B4-BE49-F238E27FC236}">
                    <a16:creationId xmlns:a16="http://schemas.microsoft.com/office/drawing/2014/main" id="{3A6DD3E2-CC4D-C74B-A9A2-FECFC5B43603}"/>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1285476" y="4604282"/>
                <a:ext cx="914400" cy="914400"/>
              </a:xfrm>
              <a:prstGeom prst="rect">
                <a:avLst/>
              </a:prstGeom>
            </p:spPr>
          </p:pic>
          <p:pic>
            <p:nvPicPr>
              <p:cNvPr id="40" name="Graphique 39" descr="Femme enceinte avec un remplissage uni">
                <a:extLst>
                  <a:ext uri="{FF2B5EF4-FFF2-40B4-BE49-F238E27FC236}">
                    <a16:creationId xmlns:a16="http://schemas.microsoft.com/office/drawing/2014/main" id="{52DEC283-2451-3920-D2DA-164704BBBEEE}"/>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86422" y="4626060"/>
                <a:ext cx="914400" cy="914400"/>
              </a:xfrm>
              <a:prstGeom prst="rect">
                <a:avLst/>
              </a:prstGeom>
            </p:spPr>
          </p:pic>
        </p:grpSp>
      </p:grpSp>
      <p:grpSp>
        <p:nvGrpSpPr>
          <p:cNvPr id="128" name="Groupe 127">
            <a:extLst>
              <a:ext uri="{FF2B5EF4-FFF2-40B4-BE49-F238E27FC236}">
                <a16:creationId xmlns:a16="http://schemas.microsoft.com/office/drawing/2014/main" id="{4A5A915A-334F-C749-0B5B-FC8A12F934F8}"/>
              </a:ext>
            </a:extLst>
          </p:cNvPr>
          <p:cNvGrpSpPr/>
          <p:nvPr/>
        </p:nvGrpSpPr>
        <p:grpSpPr>
          <a:xfrm>
            <a:off x="4138260" y="4455964"/>
            <a:ext cx="1993438" cy="1671151"/>
            <a:chOff x="4138260" y="4455964"/>
            <a:chExt cx="1993438" cy="1671151"/>
          </a:xfrm>
        </p:grpSpPr>
        <p:sp>
          <p:nvSpPr>
            <p:cNvPr id="63" name="ZoneTexte 62">
              <a:extLst>
                <a:ext uri="{FF2B5EF4-FFF2-40B4-BE49-F238E27FC236}">
                  <a16:creationId xmlns:a16="http://schemas.microsoft.com/office/drawing/2014/main" id="{4E61D724-49D1-CC22-5F69-5D02F421FC14}"/>
                </a:ext>
              </a:extLst>
            </p:cNvPr>
            <p:cNvSpPr txBox="1"/>
            <p:nvPr/>
          </p:nvSpPr>
          <p:spPr>
            <a:xfrm>
              <a:off x="4138260" y="5603895"/>
              <a:ext cx="1902980" cy="523220"/>
            </a:xfrm>
            <a:prstGeom prst="rect">
              <a:avLst/>
            </a:prstGeom>
            <a:solidFill>
              <a:srgbClr val="ED7D31"/>
            </a:solidFill>
          </p:spPr>
          <p:txBody>
            <a:bodyPr wrap="square" anchor="t">
              <a:spAutoFit/>
            </a:bodyPr>
            <a:lstStyle/>
            <a:p>
              <a:pPr algn="ctr"/>
              <a:r>
                <a:rPr lang="fr-FR" sz="1400" dirty="0"/>
                <a:t>Langues de travail, langues de confort</a:t>
              </a:r>
            </a:p>
          </p:txBody>
        </p:sp>
        <p:pic>
          <p:nvPicPr>
            <p:cNvPr id="89" name="Graphique 88" descr="Utilisateur avec un remplissage uni">
              <a:extLst>
                <a:ext uri="{FF2B5EF4-FFF2-40B4-BE49-F238E27FC236}">
                  <a16:creationId xmlns:a16="http://schemas.microsoft.com/office/drawing/2014/main" id="{939B7F15-BE82-314E-911F-EA9441F8AA26}"/>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4240717" y="5199668"/>
              <a:ext cx="404226" cy="404227"/>
            </a:xfrm>
            <a:prstGeom prst="rect">
              <a:avLst/>
            </a:prstGeom>
          </p:spPr>
        </p:pic>
        <p:pic>
          <p:nvPicPr>
            <p:cNvPr id="90" name="Graphique 89" descr="Utilisateur avec un remplissage uni">
              <a:extLst>
                <a:ext uri="{FF2B5EF4-FFF2-40B4-BE49-F238E27FC236}">
                  <a16:creationId xmlns:a16="http://schemas.microsoft.com/office/drawing/2014/main" id="{67B2321F-BB7D-549C-016E-C8C8C84A116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4904223" y="5199668"/>
              <a:ext cx="404226" cy="404227"/>
            </a:xfrm>
            <a:prstGeom prst="rect">
              <a:avLst/>
            </a:prstGeom>
          </p:spPr>
        </p:pic>
        <p:pic>
          <p:nvPicPr>
            <p:cNvPr id="91" name="Graphique 90" descr="Utilisateur avec un remplissage uni">
              <a:extLst>
                <a:ext uri="{FF2B5EF4-FFF2-40B4-BE49-F238E27FC236}">
                  <a16:creationId xmlns:a16="http://schemas.microsoft.com/office/drawing/2014/main" id="{A46FACD1-622F-5F37-0F53-F3A910DD896D}"/>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554526" y="5199668"/>
              <a:ext cx="404226" cy="404227"/>
            </a:xfrm>
            <a:prstGeom prst="rect">
              <a:avLst/>
            </a:prstGeom>
          </p:spPr>
        </p:pic>
        <p:sp>
          <p:nvSpPr>
            <p:cNvPr id="92" name="Bulle narrative : ronde 91">
              <a:extLst>
                <a:ext uri="{FF2B5EF4-FFF2-40B4-BE49-F238E27FC236}">
                  <a16:creationId xmlns:a16="http://schemas.microsoft.com/office/drawing/2014/main" id="{8DE5D771-FC76-06CF-1B09-A70422AF3A45}"/>
                </a:ext>
              </a:extLst>
            </p:cNvPr>
            <p:cNvSpPr/>
            <p:nvPr/>
          </p:nvSpPr>
          <p:spPr>
            <a:xfrm>
              <a:off x="4164917" y="4475901"/>
              <a:ext cx="673871" cy="618405"/>
            </a:xfrm>
            <a:prstGeom prst="wedgeEllipseCallout">
              <a:avLst>
                <a:gd name="adj1" fmla="val -10494"/>
                <a:gd name="adj2" fmla="val 625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Bulle narrative : ronde 92">
              <a:extLst>
                <a:ext uri="{FF2B5EF4-FFF2-40B4-BE49-F238E27FC236}">
                  <a16:creationId xmlns:a16="http://schemas.microsoft.com/office/drawing/2014/main" id="{CCE8E3C2-FEF7-2D99-3BEA-1515D7B21E57}"/>
                </a:ext>
              </a:extLst>
            </p:cNvPr>
            <p:cNvSpPr/>
            <p:nvPr/>
          </p:nvSpPr>
          <p:spPr>
            <a:xfrm>
              <a:off x="4796239" y="4475901"/>
              <a:ext cx="673871" cy="618405"/>
            </a:xfrm>
            <a:prstGeom prst="wedgeEllipseCallout">
              <a:avLst>
                <a:gd name="adj1" fmla="val -10494"/>
                <a:gd name="adj2" fmla="val 625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4" name="Bulle narrative : ronde 93">
              <a:extLst>
                <a:ext uri="{FF2B5EF4-FFF2-40B4-BE49-F238E27FC236}">
                  <a16:creationId xmlns:a16="http://schemas.microsoft.com/office/drawing/2014/main" id="{8A0DBD25-656D-9EF2-C6E6-ACEE193C554A}"/>
                </a:ext>
              </a:extLst>
            </p:cNvPr>
            <p:cNvSpPr/>
            <p:nvPr/>
          </p:nvSpPr>
          <p:spPr>
            <a:xfrm>
              <a:off x="5457827" y="4455964"/>
              <a:ext cx="673871" cy="618405"/>
            </a:xfrm>
            <a:prstGeom prst="wedgeEllipseCallout">
              <a:avLst>
                <a:gd name="adj1" fmla="val -4032"/>
                <a:gd name="adj2" fmla="val 66725"/>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95" name="Graphique 94" descr="Croissant avec un remplissage uni">
              <a:extLst>
                <a:ext uri="{FF2B5EF4-FFF2-40B4-BE49-F238E27FC236}">
                  <a16:creationId xmlns:a16="http://schemas.microsoft.com/office/drawing/2014/main" id="{69C124A7-F5CF-EA83-8F72-FF20934A37AC}"/>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4239650" y="4565596"/>
              <a:ext cx="468156" cy="468156"/>
            </a:xfrm>
            <a:prstGeom prst="rect">
              <a:avLst/>
            </a:prstGeom>
          </p:spPr>
        </p:pic>
        <p:pic>
          <p:nvPicPr>
            <p:cNvPr id="96" name="Graphique 95" descr="Burger et boisson avec un remplissage uni">
              <a:extLst>
                <a:ext uri="{FF2B5EF4-FFF2-40B4-BE49-F238E27FC236}">
                  <a16:creationId xmlns:a16="http://schemas.microsoft.com/office/drawing/2014/main" id="{6202FDD0-B99C-55EF-36DD-E1F5F5D85C9A}"/>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4912462" y="4514581"/>
              <a:ext cx="459274" cy="459274"/>
            </a:xfrm>
            <a:prstGeom prst="rect">
              <a:avLst/>
            </a:prstGeom>
          </p:spPr>
        </p:pic>
        <p:pic>
          <p:nvPicPr>
            <p:cNvPr id="98" name="Graphique 97" descr="Pâtes avec un remplissage uni">
              <a:extLst>
                <a:ext uri="{FF2B5EF4-FFF2-40B4-BE49-F238E27FC236}">
                  <a16:creationId xmlns:a16="http://schemas.microsoft.com/office/drawing/2014/main" id="{E24E3172-96DC-77B0-A7C5-96FD2EF4ED93}"/>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5581428" y="4576778"/>
              <a:ext cx="416649" cy="416649"/>
            </a:xfrm>
            <a:prstGeom prst="rect">
              <a:avLst/>
            </a:prstGeom>
          </p:spPr>
        </p:pic>
      </p:grpSp>
      <p:grpSp>
        <p:nvGrpSpPr>
          <p:cNvPr id="123" name="Groupe 122">
            <a:extLst>
              <a:ext uri="{FF2B5EF4-FFF2-40B4-BE49-F238E27FC236}">
                <a16:creationId xmlns:a16="http://schemas.microsoft.com/office/drawing/2014/main" id="{933E3AA6-0DF8-D2D0-0CAC-14C9A7D85D11}"/>
              </a:ext>
            </a:extLst>
          </p:cNvPr>
          <p:cNvGrpSpPr/>
          <p:nvPr/>
        </p:nvGrpSpPr>
        <p:grpSpPr>
          <a:xfrm>
            <a:off x="10169567" y="4901523"/>
            <a:ext cx="1902980" cy="1441036"/>
            <a:chOff x="10169567" y="4901523"/>
            <a:chExt cx="1902980" cy="1441036"/>
          </a:xfrm>
        </p:grpSpPr>
        <p:sp>
          <p:nvSpPr>
            <p:cNvPr id="65" name="ZoneTexte 64">
              <a:extLst>
                <a:ext uri="{FF2B5EF4-FFF2-40B4-BE49-F238E27FC236}">
                  <a16:creationId xmlns:a16="http://schemas.microsoft.com/office/drawing/2014/main" id="{2203214E-320E-1287-EA28-5107FF33F04E}"/>
                </a:ext>
              </a:extLst>
            </p:cNvPr>
            <p:cNvSpPr txBox="1"/>
            <p:nvPr/>
          </p:nvSpPr>
          <p:spPr>
            <a:xfrm>
              <a:off x="10169567" y="5603895"/>
              <a:ext cx="1902980" cy="738664"/>
            </a:xfrm>
            <a:prstGeom prst="rect">
              <a:avLst/>
            </a:prstGeom>
            <a:solidFill>
              <a:srgbClr val="ED7D31"/>
            </a:solidFill>
          </p:spPr>
          <p:txBody>
            <a:bodyPr wrap="square" anchor="t">
              <a:spAutoFit/>
            </a:bodyPr>
            <a:lstStyle/>
            <a:p>
              <a:pPr algn="ctr"/>
              <a:r>
                <a:rPr lang="fr-FR" sz="1400" dirty="0"/>
                <a:t>Styles de pratiques d’une même discipline ou d’un même métier</a:t>
              </a:r>
            </a:p>
          </p:txBody>
        </p:sp>
        <p:grpSp>
          <p:nvGrpSpPr>
            <p:cNvPr id="107" name="Groupe 106">
              <a:extLst>
                <a:ext uri="{FF2B5EF4-FFF2-40B4-BE49-F238E27FC236}">
                  <a16:creationId xmlns:a16="http://schemas.microsoft.com/office/drawing/2014/main" id="{67A2E784-6E46-82E8-C984-3DD3AB2CC2E2}"/>
                </a:ext>
              </a:extLst>
            </p:cNvPr>
            <p:cNvGrpSpPr/>
            <p:nvPr/>
          </p:nvGrpSpPr>
          <p:grpSpPr>
            <a:xfrm>
              <a:off x="10239970" y="4901523"/>
              <a:ext cx="1718580" cy="596624"/>
              <a:chOff x="10276660" y="4855900"/>
              <a:chExt cx="1577642" cy="545881"/>
            </a:xfrm>
          </p:grpSpPr>
          <p:pic>
            <p:nvPicPr>
              <p:cNvPr id="100" name="Graphique 99" descr="Danse avec un remplissage uni">
                <a:extLst>
                  <a:ext uri="{FF2B5EF4-FFF2-40B4-BE49-F238E27FC236}">
                    <a16:creationId xmlns:a16="http://schemas.microsoft.com/office/drawing/2014/main" id="{4E9DD2B2-DB22-B002-8BBD-6BA95B4FE048}"/>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a:off x="10276660" y="4864187"/>
                <a:ext cx="537594" cy="537594"/>
              </a:xfrm>
              <a:prstGeom prst="rect">
                <a:avLst/>
              </a:prstGeom>
            </p:spPr>
          </p:pic>
          <p:pic>
            <p:nvPicPr>
              <p:cNvPr id="104" name="Graphique 103" descr="Gymnaste : routine au sol avec un remplissage uni">
                <a:extLst>
                  <a:ext uri="{FF2B5EF4-FFF2-40B4-BE49-F238E27FC236}">
                    <a16:creationId xmlns:a16="http://schemas.microsoft.com/office/drawing/2014/main" id="{06BCFABA-BE16-DC8F-B2AF-CE65F6710B5B}"/>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10814254" y="4859078"/>
                <a:ext cx="537594" cy="537594"/>
              </a:xfrm>
              <a:prstGeom prst="rect">
                <a:avLst/>
              </a:prstGeom>
            </p:spPr>
          </p:pic>
          <p:pic>
            <p:nvPicPr>
              <p:cNvPr id="106" name="Graphique 105" descr="Yoga avec un remplissage uni">
                <a:extLst>
                  <a:ext uri="{FF2B5EF4-FFF2-40B4-BE49-F238E27FC236}">
                    <a16:creationId xmlns:a16="http://schemas.microsoft.com/office/drawing/2014/main" id="{97D74324-8BD9-5070-C26A-ED9E0975BBF7}"/>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11316708" y="4855900"/>
                <a:ext cx="537594" cy="537594"/>
              </a:xfrm>
              <a:prstGeom prst="rect">
                <a:avLst/>
              </a:prstGeom>
            </p:spPr>
          </p:pic>
        </p:grpSp>
      </p:grpSp>
      <p:grpSp>
        <p:nvGrpSpPr>
          <p:cNvPr id="127" name="Groupe 126">
            <a:extLst>
              <a:ext uri="{FF2B5EF4-FFF2-40B4-BE49-F238E27FC236}">
                <a16:creationId xmlns:a16="http://schemas.microsoft.com/office/drawing/2014/main" id="{ABB061E9-8CB2-83B1-3EB3-F75E3118E95D}"/>
              </a:ext>
            </a:extLst>
          </p:cNvPr>
          <p:cNvGrpSpPr/>
          <p:nvPr/>
        </p:nvGrpSpPr>
        <p:grpSpPr>
          <a:xfrm>
            <a:off x="6169521" y="4398671"/>
            <a:ext cx="2048268" cy="1943888"/>
            <a:chOff x="6169521" y="4398671"/>
            <a:chExt cx="2048268" cy="1943888"/>
          </a:xfrm>
        </p:grpSpPr>
        <p:sp>
          <p:nvSpPr>
            <p:cNvPr id="45" name="ZoneTexte 44">
              <a:extLst>
                <a:ext uri="{FF2B5EF4-FFF2-40B4-BE49-F238E27FC236}">
                  <a16:creationId xmlns:a16="http://schemas.microsoft.com/office/drawing/2014/main" id="{3E9371A9-5E23-6A5D-26A2-9514AB78BB6C}"/>
                </a:ext>
              </a:extLst>
            </p:cNvPr>
            <p:cNvSpPr txBox="1"/>
            <p:nvPr/>
          </p:nvSpPr>
          <p:spPr>
            <a:xfrm>
              <a:off x="6169521" y="5603895"/>
              <a:ext cx="1902980" cy="738664"/>
            </a:xfrm>
            <a:prstGeom prst="rect">
              <a:avLst/>
            </a:prstGeom>
            <a:solidFill>
              <a:srgbClr val="ED7D31"/>
            </a:solidFill>
          </p:spPr>
          <p:txBody>
            <a:bodyPr wrap="square" anchor="t">
              <a:spAutoFit/>
            </a:bodyPr>
            <a:lstStyle/>
            <a:p>
              <a:pPr algn="ctr"/>
              <a:r>
                <a:rPr lang="fr-FR" sz="1400" dirty="0"/>
                <a:t>Origines professionnelles ou passé professionnel</a:t>
              </a:r>
            </a:p>
          </p:txBody>
        </p:sp>
        <p:pic>
          <p:nvPicPr>
            <p:cNvPr id="108" name="Graphique 107" descr="Utilisateur avec un remplissage uni">
              <a:extLst>
                <a:ext uri="{FF2B5EF4-FFF2-40B4-BE49-F238E27FC236}">
                  <a16:creationId xmlns:a16="http://schemas.microsoft.com/office/drawing/2014/main" id="{2B4F8447-70AE-B8AD-5BA5-8839BCDBDFE0}"/>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6266962" y="5198861"/>
              <a:ext cx="404226" cy="404227"/>
            </a:xfrm>
            <a:prstGeom prst="rect">
              <a:avLst/>
            </a:prstGeom>
          </p:spPr>
        </p:pic>
        <p:pic>
          <p:nvPicPr>
            <p:cNvPr id="109" name="Graphique 108" descr="Utilisateur avec un remplissage uni">
              <a:extLst>
                <a:ext uri="{FF2B5EF4-FFF2-40B4-BE49-F238E27FC236}">
                  <a16:creationId xmlns:a16="http://schemas.microsoft.com/office/drawing/2014/main" id="{EF81EBFE-4FF4-8316-7B01-4E61B3DCF84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6930468" y="5198861"/>
              <a:ext cx="404226" cy="404227"/>
            </a:xfrm>
            <a:prstGeom prst="rect">
              <a:avLst/>
            </a:prstGeom>
          </p:spPr>
        </p:pic>
        <p:pic>
          <p:nvPicPr>
            <p:cNvPr id="110" name="Graphique 109" descr="Utilisateur avec un remplissage uni">
              <a:extLst>
                <a:ext uri="{FF2B5EF4-FFF2-40B4-BE49-F238E27FC236}">
                  <a16:creationId xmlns:a16="http://schemas.microsoft.com/office/drawing/2014/main" id="{D006E7A4-13F1-4AE8-11B8-576913A79BFD}"/>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580771" y="5198861"/>
              <a:ext cx="404226" cy="404227"/>
            </a:xfrm>
            <a:prstGeom prst="rect">
              <a:avLst/>
            </a:prstGeom>
          </p:spPr>
        </p:pic>
        <p:sp>
          <p:nvSpPr>
            <p:cNvPr id="112" name="Phylactère : pensées 111">
              <a:extLst>
                <a:ext uri="{FF2B5EF4-FFF2-40B4-BE49-F238E27FC236}">
                  <a16:creationId xmlns:a16="http://schemas.microsoft.com/office/drawing/2014/main" id="{A40641AA-C801-60FF-69CB-E0CFAAB81800}"/>
                </a:ext>
              </a:extLst>
            </p:cNvPr>
            <p:cNvSpPr/>
            <p:nvPr/>
          </p:nvSpPr>
          <p:spPr>
            <a:xfrm>
              <a:off x="6177400" y="4436029"/>
              <a:ext cx="753067" cy="637328"/>
            </a:xfrm>
            <a:prstGeom prst="cloudCallout">
              <a:avLst>
                <a:gd name="adj1" fmla="val -2569"/>
                <a:gd name="adj2" fmla="val 72065"/>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3" name="Phylactère : pensées 112">
              <a:extLst>
                <a:ext uri="{FF2B5EF4-FFF2-40B4-BE49-F238E27FC236}">
                  <a16:creationId xmlns:a16="http://schemas.microsoft.com/office/drawing/2014/main" id="{BAE1E55F-62B6-54E0-DDDA-64A37E1F6237}"/>
                </a:ext>
              </a:extLst>
            </p:cNvPr>
            <p:cNvSpPr/>
            <p:nvPr/>
          </p:nvSpPr>
          <p:spPr>
            <a:xfrm>
              <a:off x="6830383" y="4407968"/>
              <a:ext cx="753067" cy="637328"/>
            </a:xfrm>
            <a:prstGeom prst="cloudCallout">
              <a:avLst>
                <a:gd name="adj1" fmla="val -2569"/>
                <a:gd name="adj2" fmla="val 72065"/>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4" name="Phylactère : pensées 113">
              <a:extLst>
                <a:ext uri="{FF2B5EF4-FFF2-40B4-BE49-F238E27FC236}">
                  <a16:creationId xmlns:a16="http://schemas.microsoft.com/office/drawing/2014/main" id="{8F6E745B-EA32-4C80-1E48-828B1D90D84F}"/>
                </a:ext>
              </a:extLst>
            </p:cNvPr>
            <p:cNvSpPr/>
            <p:nvPr/>
          </p:nvSpPr>
          <p:spPr>
            <a:xfrm>
              <a:off x="7464722" y="4398671"/>
              <a:ext cx="753067" cy="637328"/>
            </a:xfrm>
            <a:prstGeom prst="cloudCallout">
              <a:avLst>
                <a:gd name="adj1" fmla="val -2569"/>
                <a:gd name="adj2" fmla="val 72065"/>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17" name="Graphique 116" descr="Serveuse avec un remplissage uni">
              <a:extLst>
                <a:ext uri="{FF2B5EF4-FFF2-40B4-BE49-F238E27FC236}">
                  <a16:creationId xmlns:a16="http://schemas.microsoft.com/office/drawing/2014/main" id="{975AF84B-C616-DF86-B456-4962F4E699D2}"/>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6318837" y="4492544"/>
              <a:ext cx="475753" cy="475753"/>
            </a:xfrm>
            <a:prstGeom prst="rect">
              <a:avLst/>
            </a:prstGeom>
          </p:spPr>
        </p:pic>
        <p:pic>
          <p:nvPicPr>
            <p:cNvPr id="119" name="Graphique 118" descr="Femme soudeuse avec un remplissage uni">
              <a:extLst>
                <a:ext uri="{FF2B5EF4-FFF2-40B4-BE49-F238E27FC236}">
                  <a16:creationId xmlns:a16="http://schemas.microsoft.com/office/drawing/2014/main" id="{DB347D80-E199-2F3D-03B5-2FA84EFF1A7C}"/>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6965616" y="4455964"/>
              <a:ext cx="475753" cy="475753"/>
            </a:xfrm>
            <a:prstGeom prst="rect">
              <a:avLst/>
            </a:prstGeom>
          </p:spPr>
        </p:pic>
        <p:pic>
          <p:nvPicPr>
            <p:cNvPr id="121" name="Graphique 120" descr="Femme juge avec un remplissage uni">
              <a:extLst>
                <a:ext uri="{FF2B5EF4-FFF2-40B4-BE49-F238E27FC236}">
                  <a16:creationId xmlns:a16="http://schemas.microsoft.com/office/drawing/2014/main" id="{4FC50227-822D-BB70-CA2D-5DB37ED5B326}"/>
                </a:ext>
              </a:extLst>
            </p:cNvPr>
            <p:cNvPicPr>
              <a:picLocks noChangeAspect="1"/>
            </p:cNvPicPr>
            <p:nvPr/>
          </p:nvPicPr>
          <p:blipFill>
            <a:blip r:embed="rId74">
              <a:extLst>
                <a:ext uri="{28A0092B-C50C-407E-A947-70E740481C1C}">
                  <a14:useLocalDpi xmlns:a14="http://schemas.microsoft.com/office/drawing/2010/main" val="0"/>
                </a:ext>
                <a:ext uri="{96DAC541-7B7A-43D3-8B79-37D633B846F1}">
                  <asvg:svgBlip xmlns:asvg="http://schemas.microsoft.com/office/drawing/2016/SVG/main" r:embed="rId75"/>
                </a:ext>
              </a:extLst>
            </a:blip>
            <a:stretch>
              <a:fillRect/>
            </a:stretch>
          </p:blipFill>
          <p:spPr>
            <a:xfrm>
              <a:off x="7596748" y="4468631"/>
              <a:ext cx="475753" cy="475753"/>
            </a:xfrm>
            <a:prstGeom prst="rect">
              <a:avLst/>
            </a:prstGeom>
          </p:spPr>
        </p:pic>
      </p:grpSp>
      <p:grpSp>
        <p:nvGrpSpPr>
          <p:cNvPr id="126" name="Groupe 125">
            <a:extLst>
              <a:ext uri="{FF2B5EF4-FFF2-40B4-BE49-F238E27FC236}">
                <a16:creationId xmlns:a16="http://schemas.microsoft.com/office/drawing/2014/main" id="{1EE0E647-F500-F5A0-EFFB-A8EACC2888FA}"/>
              </a:ext>
            </a:extLst>
          </p:cNvPr>
          <p:cNvGrpSpPr/>
          <p:nvPr/>
        </p:nvGrpSpPr>
        <p:grpSpPr>
          <a:xfrm>
            <a:off x="8169544" y="4593734"/>
            <a:ext cx="1902980" cy="1964268"/>
            <a:chOff x="8169544" y="4593734"/>
            <a:chExt cx="1902980" cy="1964268"/>
          </a:xfrm>
        </p:grpSpPr>
        <p:sp>
          <p:nvSpPr>
            <p:cNvPr id="64" name="ZoneTexte 63">
              <a:extLst>
                <a:ext uri="{FF2B5EF4-FFF2-40B4-BE49-F238E27FC236}">
                  <a16:creationId xmlns:a16="http://schemas.microsoft.com/office/drawing/2014/main" id="{61FA591B-8DC9-06CD-90A7-20051BD7A092}"/>
                </a:ext>
              </a:extLst>
            </p:cNvPr>
            <p:cNvSpPr txBox="1"/>
            <p:nvPr/>
          </p:nvSpPr>
          <p:spPr>
            <a:xfrm>
              <a:off x="8169544" y="5603895"/>
              <a:ext cx="1902980" cy="954107"/>
            </a:xfrm>
            <a:prstGeom prst="rect">
              <a:avLst/>
            </a:prstGeom>
            <a:solidFill>
              <a:srgbClr val="ED7D31"/>
            </a:solidFill>
          </p:spPr>
          <p:txBody>
            <a:bodyPr wrap="square" anchor="t">
              <a:spAutoFit/>
            </a:bodyPr>
            <a:lstStyle/>
            <a:p>
              <a:pPr algn="ctr"/>
              <a:r>
                <a:rPr lang="fr-FR" sz="1400" dirty="0"/>
                <a:t>Niveaux de reconnaissance extérieure sur une compétence commune</a:t>
              </a:r>
            </a:p>
          </p:txBody>
        </p:sp>
        <p:pic>
          <p:nvPicPr>
            <p:cNvPr id="77" name="Graphique 76" descr="Trophée avec un remplissage uni">
              <a:extLst>
                <a:ext uri="{FF2B5EF4-FFF2-40B4-BE49-F238E27FC236}">
                  <a16:creationId xmlns:a16="http://schemas.microsoft.com/office/drawing/2014/main" id="{780AE7D3-35FE-5BCF-30FF-68BBAC4266A5}"/>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9424926" y="4593734"/>
              <a:ext cx="596624" cy="596624"/>
            </a:xfrm>
            <a:prstGeom prst="rect">
              <a:avLst/>
            </a:prstGeom>
          </p:spPr>
        </p:pic>
        <p:pic>
          <p:nvPicPr>
            <p:cNvPr id="79" name="Graphique 78" descr="Médaille avec un remplissage uni">
              <a:extLst>
                <a:ext uri="{FF2B5EF4-FFF2-40B4-BE49-F238E27FC236}">
                  <a16:creationId xmlns:a16="http://schemas.microsoft.com/office/drawing/2014/main" id="{C6A72D04-4E3C-4A64-AC07-952474C8CE8F}"/>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8836153" y="4602237"/>
              <a:ext cx="596624" cy="596624"/>
            </a:xfrm>
            <a:prstGeom prst="rect">
              <a:avLst/>
            </a:prstGeom>
          </p:spPr>
        </p:pic>
        <p:pic>
          <p:nvPicPr>
            <p:cNvPr id="80" name="Graphique 79" descr="Utilisateur avec un remplissage uni">
              <a:extLst>
                <a:ext uri="{FF2B5EF4-FFF2-40B4-BE49-F238E27FC236}">
                  <a16:creationId xmlns:a16="http://schemas.microsoft.com/office/drawing/2014/main" id="{784C6708-BCBE-5E5A-8594-C6B892880D7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8268375" y="5191381"/>
              <a:ext cx="404226" cy="404227"/>
            </a:xfrm>
            <a:prstGeom prst="rect">
              <a:avLst/>
            </a:prstGeom>
          </p:spPr>
        </p:pic>
        <p:pic>
          <p:nvPicPr>
            <p:cNvPr id="81" name="Graphique 80" descr="Utilisateur avec un remplissage uni">
              <a:extLst>
                <a:ext uri="{FF2B5EF4-FFF2-40B4-BE49-F238E27FC236}">
                  <a16:creationId xmlns:a16="http://schemas.microsoft.com/office/drawing/2014/main" id="{4822B66A-ECBB-4B25-0F93-3BE3DDA6C35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8931881" y="5191381"/>
              <a:ext cx="404226" cy="404227"/>
            </a:xfrm>
            <a:prstGeom prst="rect">
              <a:avLst/>
            </a:prstGeom>
          </p:spPr>
        </p:pic>
        <p:pic>
          <p:nvPicPr>
            <p:cNvPr id="82" name="Graphique 81" descr="Utilisateur avec un remplissage uni">
              <a:extLst>
                <a:ext uri="{FF2B5EF4-FFF2-40B4-BE49-F238E27FC236}">
                  <a16:creationId xmlns:a16="http://schemas.microsoft.com/office/drawing/2014/main" id="{5341E378-DD2A-B79D-A899-E49FAF58347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9582184" y="5191381"/>
              <a:ext cx="404226" cy="404227"/>
            </a:xfrm>
            <a:prstGeom prst="rect">
              <a:avLst/>
            </a:prstGeom>
          </p:spPr>
        </p:pic>
        <p:pic>
          <p:nvPicPr>
            <p:cNvPr id="125" name="Graphique 124" descr="Signe pouce en haut avec un remplissage uni">
              <a:extLst>
                <a:ext uri="{FF2B5EF4-FFF2-40B4-BE49-F238E27FC236}">
                  <a16:creationId xmlns:a16="http://schemas.microsoft.com/office/drawing/2014/main" id="{B6F776BD-3D5F-9D44-A094-39724C21D36B}"/>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8306608" y="4657979"/>
              <a:ext cx="404227" cy="404227"/>
            </a:xfrm>
            <a:prstGeom prst="rect">
              <a:avLst/>
            </a:prstGeom>
          </p:spPr>
        </p:pic>
      </p:grpSp>
    </p:spTree>
    <p:extLst>
      <p:ext uri="{BB962C8B-B14F-4D97-AF65-F5344CB8AC3E}">
        <p14:creationId xmlns:p14="http://schemas.microsoft.com/office/powerpoint/2010/main" val="108297174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lèche : double flèche horizontale 3">
            <a:extLst>
              <a:ext uri="{FF2B5EF4-FFF2-40B4-BE49-F238E27FC236}">
                <a16:creationId xmlns:a16="http://schemas.microsoft.com/office/drawing/2014/main" id="{56A64584-73D0-A23F-B100-D16C8D367879}"/>
              </a:ext>
            </a:extLst>
          </p:cNvPr>
          <p:cNvSpPr/>
          <p:nvPr/>
        </p:nvSpPr>
        <p:spPr>
          <a:xfrm>
            <a:off x="4712931" y="2544979"/>
            <a:ext cx="2675981" cy="296091"/>
          </a:xfrm>
          <a:prstGeom prst="lef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6" name="ZoneTexte 5">
            <a:extLst>
              <a:ext uri="{FF2B5EF4-FFF2-40B4-BE49-F238E27FC236}">
                <a16:creationId xmlns:a16="http://schemas.microsoft.com/office/drawing/2014/main" id="{2A5DB254-B882-DACC-8488-F541488CA514}"/>
              </a:ext>
            </a:extLst>
          </p:cNvPr>
          <p:cNvSpPr txBox="1"/>
          <p:nvPr/>
        </p:nvSpPr>
        <p:spPr>
          <a:xfrm>
            <a:off x="7388912" y="2360925"/>
            <a:ext cx="2020389" cy="738664"/>
          </a:xfrm>
          <a:prstGeom prst="rect">
            <a:avLst/>
          </a:prstGeom>
          <a:solidFill>
            <a:srgbClr val="ED7D31"/>
          </a:solidFill>
        </p:spPr>
        <p:txBody>
          <a:bodyPr wrap="square" anchor="ctr">
            <a:spAutoFit/>
          </a:bodyPr>
          <a:lstStyle/>
          <a:p>
            <a:pPr algn="ctr"/>
            <a:r>
              <a:rPr lang="fr-FR" sz="1400" dirty="0"/>
              <a:t>Différences fortes de compétences et de métiers</a:t>
            </a:r>
          </a:p>
        </p:txBody>
      </p:sp>
      <p:sp>
        <p:nvSpPr>
          <p:cNvPr id="8" name="ZoneTexte 7">
            <a:extLst>
              <a:ext uri="{FF2B5EF4-FFF2-40B4-BE49-F238E27FC236}">
                <a16:creationId xmlns:a16="http://schemas.microsoft.com/office/drawing/2014/main" id="{79974BCF-0D29-8760-A403-924E1C4BCA9A}"/>
              </a:ext>
            </a:extLst>
          </p:cNvPr>
          <p:cNvSpPr txBox="1"/>
          <p:nvPr/>
        </p:nvSpPr>
        <p:spPr>
          <a:xfrm>
            <a:off x="2863339" y="2366807"/>
            <a:ext cx="1854925" cy="738664"/>
          </a:xfrm>
          <a:prstGeom prst="rect">
            <a:avLst/>
          </a:prstGeom>
          <a:solidFill>
            <a:srgbClr val="ED7D31"/>
          </a:solidFill>
        </p:spPr>
        <p:txBody>
          <a:bodyPr wrap="square" anchor="ctr">
            <a:spAutoFit/>
          </a:bodyPr>
          <a:lstStyle/>
          <a:p>
            <a:pPr algn="ctr"/>
            <a:r>
              <a:rPr lang="fr-FR" sz="1400" dirty="0"/>
              <a:t>Similarité fortes de compétences et de métiers</a:t>
            </a:r>
          </a:p>
        </p:txBody>
      </p:sp>
      <p:sp>
        <p:nvSpPr>
          <p:cNvPr id="51" name="ZoneTexte 50">
            <a:extLst>
              <a:ext uri="{FF2B5EF4-FFF2-40B4-BE49-F238E27FC236}">
                <a16:creationId xmlns:a16="http://schemas.microsoft.com/office/drawing/2014/main" id="{28321992-7F2B-D21E-2E33-FD96A71C53F9}"/>
              </a:ext>
            </a:extLst>
          </p:cNvPr>
          <p:cNvSpPr txBox="1"/>
          <p:nvPr/>
        </p:nvSpPr>
        <p:spPr>
          <a:xfrm>
            <a:off x="9468538" y="2625456"/>
            <a:ext cx="1269137" cy="784830"/>
          </a:xfrm>
          <a:prstGeom prst="rect">
            <a:avLst/>
          </a:prstGeom>
          <a:solidFill>
            <a:srgbClr val="54FFB3"/>
          </a:solidFill>
        </p:spPr>
        <p:txBody>
          <a:bodyPr wrap="square" anchor="ctr">
            <a:noAutofit/>
          </a:bodyPr>
          <a:lstStyle/>
          <a:p>
            <a:pPr algn="ctr"/>
            <a:r>
              <a:rPr lang="fr-FR" sz="1000" dirty="0"/>
              <a:t>Opportunités d’aborder des sujets ou de lancer des initiatives pluridisciplinaires </a:t>
            </a:r>
          </a:p>
        </p:txBody>
      </p:sp>
      <p:sp>
        <p:nvSpPr>
          <p:cNvPr id="52" name="ZoneTexte 51">
            <a:extLst>
              <a:ext uri="{FF2B5EF4-FFF2-40B4-BE49-F238E27FC236}">
                <a16:creationId xmlns:a16="http://schemas.microsoft.com/office/drawing/2014/main" id="{843A05F4-B41A-4694-38A4-297CBD0F4F10}"/>
              </a:ext>
            </a:extLst>
          </p:cNvPr>
          <p:cNvSpPr txBox="1"/>
          <p:nvPr/>
        </p:nvSpPr>
        <p:spPr>
          <a:xfrm>
            <a:off x="10796912" y="2620549"/>
            <a:ext cx="1269137" cy="784830"/>
          </a:xfrm>
          <a:prstGeom prst="rect">
            <a:avLst/>
          </a:prstGeom>
          <a:solidFill>
            <a:srgbClr val="54FFB3"/>
          </a:solidFill>
        </p:spPr>
        <p:txBody>
          <a:bodyPr wrap="square" anchor="ctr">
            <a:noAutofit/>
          </a:bodyPr>
          <a:lstStyle/>
          <a:p>
            <a:pPr algn="ctr"/>
            <a:r>
              <a:rPr lang="fr-FR" sz="1000" dirty="0"/>
              <a:t>Plus grande facilité à aborder les sujets transverses</a:t>
            </a:r>
          </a:p>
        </p:txBody>
      </p:sp>
      <p:sp>
        <p:nvSpPr>
          <p:cNvPr id="53" name="ZoneTexte 52">
            <a:extLst>
              <a:ext uri="{FF2B5EF4-FFF2-40B4-BE49-F238E27FC236}">
                <a16:creationId xmlns:a16="http://schemas.microsoft.com/office/drawing/2014/main" id="{3F5D9FC4-086E-94A7-DB1C-1B042586C6EC}"/>
              </a:ext>
            </a:extLst>
          </p:cNvPr>
          <p:cNvSpPr txBox="1"/>
          <p:nvPr/>
        </p:nvSpPr>
        <p:spPr>
          <a:xfrm>
            <a:off x="945572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des volontaires « Impact écologique » de tous bords</a:t>
            </a:r>
          </a:p>
        </p:txBody>
      </p:sp>
      <p:sp>
        <p:nvSpPr>
          <p:cNvPr id="54" name="ZoneTexte 53">
            <a:extLst>
              <a:ext uri="{FF2B5EF4-FFF2-40B4-BE49-F238E27FC236}">
                <a16:creationId xmlns:a16="http://schemas.microsoft.com/office/drawing/2014/main" id="{78DE3FA2-7181-D580-DC2B-7EEBA634F374}"/>
              </a:ext>
            </a:extLst>
          </p:cNvPr>
          <p:cNvSpPr txBox="1"/>
          <p:nvPr/>
        </p:nvSpPr>
        <p:spPr>
          <a:xfrm>
            <a:off x="1078409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des ambassadeurs internes de tous les départements  de l’entreprise</a:t>
            </a:r>
          </a:p>
        </p:txBody>
      </p:sp>
      <p:sp>
        <p:nvSpPr>
          <p:cNvPr id="56" name="ZoneTexte 55">
            <a:extLst>
              <a:ext uri="{FF2B5EF4-FFF2-40B4-BE49-F238E27FC236}">
                <a16:creationId xmlns:a16="http://schemas.microsoft.com/office/drawing/2014/main" id="{9E1201AC-5400-12CD-67FE-66A1CAA3551D}"/>
              </a:ext>
            </a:extLst>
          </p:cNvPr>
          <p:cNvSpPr txBox="1"/>
          <p:nvPr/>
        </p:nvSpPr>
        <p:spPr>
          <a:xfrm>
            <a:off x="9455723" y="4028237"/>
            <a:ext cx="1269137" cy="784830"/>
          </a:xfrm>
          <a:prstGeom prst="rect">
            <a:avLst/>
          </a:prstGeom>
          <a:solidFill>
            <a:srgbClr val="FF7C80"/>
          </a:solidFill>
        </p:spPr>
        <p:txBody>
          <a:bodyPr wrap="square" anchor="ctr">
            <a:noAutofit/>
          </a:bodyPr>
          <a:lstStyle/>
          <a:p>
            <a:pPr algn="ctr"/>
            <a:r>
              <a:rPr lang="fr-FR" sz="1000" dirty="0"/>
              <a:t>Peut nécessiter plus de temps et d’efforts pour trouver des sujets communs</a:t>
            </a:r>
          </a:p>
        </p:txBody>
      </p:sp>
      <p:sp>
        <p:nvSpPr>
          <p:cNvPr id="57" name="ZoneTexte 56">
            <a:extLst>
              <a:ext uri="{FF2B5EF4-FFF2-40B4-BE49-F238E27FC236}">
                <a16:creationId xmlns:a16="http://schemas.microsoft.com/office/drawing/2014/main" id="{C3F99FCB-EC1D-A2A9-5CEE-5D5910226FC4}"/>
              </a:ext>
            </a:extLst>
          </p:cNvPr>
          <p:cNvSpPr txBox="1"/>
          <p:nvPr/>
        </p:nvSpPr>
        <p:spPr>
          <a:xfrm>
            <a:off x="10784097" y="4028237"/>
            <a:ext cx="1269137" cy="784830"/>
          </a:xfrm>
          <a:prstGeom prst="rect">
            <a:avLst/>
          </a:prstGeom>
          <a:solidFill>
            <a:srgbClr val="FF7C80"/>
          </a:solidFill>
        </p:spPr>
        <p:txBody>
          <a:bodyPr wrap="square" anchor="ctr">
            <a:noAutofit/>
          </a:bodyPr>
          <a:lstStyle/>
          <a:p>
            <a:pPr algn="ctr"/>
            <a:r>
              <a:rPr lang="fr-FR" sz="1000" dirty="0"/>
              <a:t>Potentielle frustration de ne pas pouvoir creuser le fond de sa propre discipline</a:t>
            </a:r>
          </a:p>
        </p:txBody>
      </p:sp>
      <p:sp>
        <p:nvSpPr>
          <p:cNvPr id="47" name="ZoneTexte 46">
            <a:extLst>
              <a:ext uri="{FF2B5EF4-FFF2-40B4-BE49-F238E27FC236}">
                <a16:creationId xmlns:a16="http://schemas.microsoft.com/office/drawing/2014/main" id="{DC34A362-59C6-88E4-D742-DBB9FF55CC81}"/>
              </a:ext>
            </a:extLst>
          </p:cNvPr>
          <p:cNvSpPr txBox="1"/>
          <p:nvPr/>
        </p:nvSpPr>
        <p:spPr>
          <a:xfrm>
            <a:off x="188984" y="2615642"/>
            <a:ext cx="1269137" cy="784830"/>
          </a:xfrm>
          <a:prstGeom prst="rect">
            <a:avLst/>
          </a:prstGeom>
          <a:solidFill>
            <a:srgbClr val="54FFB3"/>
          </a:solidFill>
        </p:spPr>
        <p:txBody>
          <a:bodyPr wrap="square" anchor="ctr">
            <a:noAutofit/>
          </a:bodyPr>
          <a:lstStyle/>
          <a:p>
            <a:pPr algn="ctr"/>
            <a:r>
              <a:rPr lang="fr-FR" sz="1000" dirty="0"/>
              <a:t>Opportunités d’aborder des difficultés rarement comprises en dehors du métier </a:t>
            </a:r>
          </a:p>
        </p:txBody>
      </p:sp>
      <p:sp>
        <p:nvSpPr>
          <p:cNvPr id="48" name="ZoneTexte 47">
            <a:extLst>
              <a:ext uri="{FF2B5EF4-FFF2-40B4-BE49-F238E27FC236}">
                <a16:creationId xmlns:a16="http://schemas.microsoft.com/office/drawing/2014/main" id="{23CCAFA3-5C21-BFE3-0E41-DFA6DA336BC2}"/>
              </a:ext>
            </a:extLst>
          </p:cNvPr>
          <p:cNvSpPr txBox="1"/>
          <p:nvPr/>
        </p:nvSpPr>
        <p:spPr>
          <a:xfrm>
            <a:off x="1517358" y="2610735"/>
            <a:ext cx="1269137" cy="784830"/>
          </a:xfrm>
          <a:prstGeom prst="rect">
            <a:avLst/>
          </a:prstGeom>
          <a:solidFill>
            <a:srgbClr val="54FFB3"/>
          </a:solidFill>
        </p:spPr>
        <p:txBody>
          <a:bodyPr wrap="square" anchor="ctr">
            <a:noAutofit/>
          </a:bodyPr>
          <a:lstStyle/>
          <a:p>
            <a:pPr algn="ctr"/>
            <a:r>
              <a:rPr lang="fr-FR" sz="1000" dirty="0"/>
              <a:t>Opportunités pour approfondir l’apprentissage de la  compétence ou du métier</a:t>
            </a:r>
          </a:p>
        </p:txBody>
      </p:sp>
      <p:sp>
        <p:nvSpPr>
          <p:cNvPr id="49" name="ZoneTexte 48">
            <a:extLst>
              <a:ext uri="{FF2B5EF4-FFF2-40B4-BE49-F238E27FC236}">
                <a16:creationId xmlns:a16="http://schemas.microsoft.com/office/drawing/2014/main" id="{3F2E95BE-06A0-37E0-F90F-8F8361C86BDE}"/>
              </a:ext>
            </a:extLst>
          </p:cNvPr>
          <p:cNvSpPr txBox="1"/>
          <p:nvPr/>
        </p:nvSpPr>
        <p:spPr>
          <a:xfrm>
            <a:off x="18898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des coachs professionnels dans la technologie et méthode XYZ </a:t>
            </a:r>
          </a:p>
        </p:txBody>
      </p:sp>
      <p:sp>
        <p:nvSpPr>
          <p:cNvPr id="50" name="ZoneTexte 49">
            <a:extLst>
              <a:ext uri="{FF2B5EF4-FFF2-40B4-BE49-F238E27FC236}">
                <a16:creationId xmlns:a16="http://schemas.microsoft.com/office/drawing/2014/main" id="{5E58DCA4-5AC7-6788-6B25-3FEACFE32C39}"/>
              </a:ext>
            </a:extLst>
          </p:cNvPr>
          <p:cNvSpPr txBox="1"/>
          <p:nvPr/>
        </p:nvSpPr>
        <p:spPr>
          <a:xfrm>
            <a:off x="151735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de tous les consultants Product </a:t>
            </a:r>
            <a:r>
              <a:rPr lang="fr-FR" sz="1000" dirty="0" err="1"/>
              <a:t>Owners</a:t>
            </a:r>
            <a:r>
              <a:rPr lang="fr-FR" sz="1000" dirty="0"/>
              <a:t> de l’entreprise</a:t>
            </a:r>
          </a:p>
        </p:txBody>
      </p:sp>
      <p:sp>
        <p:nvSpPr>
          <p:cNvPr id="58" name="ZoneTexte 57">
            <a:extLst>
              <a:ext uri="{FF2B5EF4-FFF2-40B4-BE49-F238E27FC236}">
                <a16:creationId xmlns:a16="http://schemas.microsoft.com/office/drawing/2014/main" id="{E8DBD87D-6BAB-7936-0AF0-5DC01799F47F}"/>
              </a:ext>
            </a:extLst>
          </p:cNvPr>
          <p:cNvSpPr txBox="1"/>
          <p:nvPr/>
        </p:nvSpPr>
        <p:spPr>
          <a:xfrm>
            <a:off x="188984" y="4068990"/>
            <a:ext cx="1269137" cy="784830"/>
          </a:xfrm>
          <a:prstGeom prst="rect">
            <a:avLst/>
          </a:prstGeom>
          <a:solidFill>
            <a:srgbClr val="FF7C80"/>
          </a:solidFill>
        </p:spPr>
        <p:txBody>
          <a:bodyPr wrap="square" anchor="ctr">
            <a:noAutofit/>
          </a:bodyPr>
          <a:lstStyle/>
          <a:p>
            <a:pPr algn="ctr"/>
            <a:r>
              <a:rPr lang="fr-FR" sz="1000" dirty="0"/>
              <a:t>Difficulté à s’ouvrir à des logiques ou des problèmes en dehors du métier commun</a:t>
            </a:r>
          </a:p>
        </p:txBody>
      </p:sp>
      <p:sp>
        <p:nvSpPr>
          <p:cNvPr id="59" name="ZoneTexte 58">
            <a:extLst>
              <a:ext uri="{FF2B5EF4-FFF2-40B4-BE49-F238E27FC236}">
                <a16:creationId xmlns:a16="http://schemas.microsoft.com/office/drawing/2014/main" id="{A20FAF36-4079-42D6-19D2-83094F4D7B7B}"/>
              </a:ext>
            </a:extLst>
          </p:cNvPr>
          <p:cNvSpPr txBox="1"/>
          <p:nvPr/>
        </p:nvSpPr>
        <p:spPr>
          <a:xfrm>
            <a:off x="1517358" y="4068990"/>
            <a:ext cx="1269137" cy="784830"/>
          </a:xfrm>
          <a:prstGeom prst="rect">
            <a:avLst/>
          </a:prstGeom>
          <a:solidFill>
            <a:srgbClr val="FF7C80"/>
          </a:solidFill>
        </p:spPr>
        <p:txBody>
          <a:bodyPr wrap="square" anchor="ctr">
            <a:noAutofit/>
          </a:bodyPr>
          <a:lstStyle/>
          <a:p>
            <a:pPr algn="ctr"/>
            <a:r>
              <a:rPr lang="fr-FR" sz="1000" dirty="0"/>
              <a:t>Approfondissement qui risque de faire perdre le lien avec les réalités locales et courantes</a:t>
            </a:r>
          </a:p>
        </p:txBody>
      </p:sp>
      <p:sp>
        <p:nvSpPr>
          <p:cNvPr id="44" name="ZoneTexte 43">
            <a:extLst>
              <a:ext uri="{FF2B5EF4-FFF2-40B4-BE49-F238E27FC236}">
                <a16:creationId xmlns:a16="http://schemas.microsoft.com/office/drawing/2014/main" id="{AE2F8F53-8187-23C6-5076-F1395AB3E3EE}"/>
              </a:ext>
            </a:extLst>
          </p:cNvPr>
          <p:cNvSpPr txBox="1"/>
          <p:nvPr/>
        </p:nvSpPr>
        <p:spPr>
          <a:xfrm>
            <a:off x="6561500" y="3254681"/>
            <a:ext cx="1269137" cy="784830"/>
          </a:xfrm>
          <a:prstGeom prst="rect">
            <a:avLst/>
          </a:prstGeom>
          <a:solidFill>
            <a:schemeClr val="bg1">
              <a:lumMod val="95000"/>
            </a:schemeClr>
          </a:solidFill>
          <a:ln>
            <a:noFill/>
          </a:ln>
        </p:spPr>
        <p:txBody>
          <a:bodyPr wrap="square" anchor="ctr">
            <a:noAutofit/>
          </a:bodyPr>
          <a:lstStyle/>
          <a:p>
            <a:pPr algn="ctr"/>
            <a:r>
              <a:rPr lang="fr-FR" sz="1000" dirty="0"/>
              <a:t>⚙️Lancement d’initiatives nécessitant des compétences de plusieurs métiers</a:t>
            </a:r>
          </a:p>
        </p:txBody>
      </p:sp>
      <p:sp>
        <p:nvSpPr>
          <p:cNvPr id="45" name="ZoneTexte 44">
            <a:extLst>
              <a:ext uri="{FF2B5EF4-FFF2-40B4-BE49-F238E27FC236}">
                <a16:creationId xmlns:a16="http://schemas.microsoft.com/office/drawing/2014/main" id="{BFDD295E-84BF-5F6A-B9F3-AD493E96B4AA}"/>
              </a:ext>
            </a:extLst>
          </p:cNvPr>
          <p:cNvSpPr txBox="1"/>
          <p:nvPr/>
        </p:nvSpPr>
        <p:spPr>
          <a:xfrm>
            <a:off x="7897088" y="3254681"/>
            <a:ext cx="1269137" cy="784830"/>
          </a:xfrm>
          <a:prstGeom prst="rect">
            <a:avLst/>
          </a:prstGeom>
          <a:solidFill>
            <a:schemeClr val="bg1">
              <a:lumMod val="95000"/>
            </a:schemeClr>
          </a:solidFill>
          <a:ln>
            <a:noFill/>
          </a:ln>
        </p:spPr>
        <p:txBody>
          <a:bodyPr wrap="square" anchor="ctr">
            <a:noAutofit/>
          </a:bodyPr>
          <a:lstStyle/>
          <a:p>
            <a:pPr algn="ctr"/>
            <a:r>
              <a:rPr lang="fr-FR" sz="1000" dirty="0"/>
              <a:t>📅Organisation de moments d’immersion dans les métiers de chacun</a:t>
            </a:r>
          </a:p>
        </p:txBody>
      </p:sp>
      <p:sp>
        <p:nvSpPr>
          <p:cNvPr id="46" name="ZoneTexte 45">
            <a:extLst>
              <a:ext uri="{FF2B5EF4-FFF2-40B4-BE49-F238E27FC236}">
                <a16:creationId xmlns:a16="http://schemas.microsoft.com/office/drawing/2014/main" id="{62D28E68-E959-736D-5B54-8EFC51E216B4}"/>
              </a:ext>
            </a:extLst>
          </p:cNvPr>
          <p:cNvSpPr txBox="1"/>
          <p:nvPr/>
        </p:nvSpPr>
        <p:spPr>
          <a:xfrm>
            <a:off x="3354402" y="1942436"/>
            <a:ext cx="902360" cy="307777"/>
          </a:xfrm>
          <a:prstGeom prst="rect">
            <a:avLst/>
          </a:prstGeom>
          <a:noFill/>
        </p:spPr>
        <p:txBody>
          <a:bodyPr wrap="square" anchor="ctr">
            <a:spAutoFit/>
          </a:bodyPr>
          <a:lstStyle/>
          <a:p>
            <a:pPr algn="ctr"/>
            <a:r>
              <a:rPr lang="fr-FR" sz="1400" dirty="0"/>
              <a:t>ou</a:t>
            </a:r>
          </a:p>
        </p:txBody>
      </p:sp>
      <p:pic>
        <p:nvPicPr>
          <p:cNvPr id="55" name="Graphique 54" descr="Homme électricien avec un remplissage uni">
            <a:extLst>
              <a:ext uri="{FF2B5EF4-FFF2-40B4-BE49-F238E27FC236}">
                <a16:creationId xmlns:a16="http://schemas.microsoft.com/office/drawing/2014/main" id="{1E969CEE-9E59-28E7-EEDA-98CB06D1545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551482" y="1709615"/>
            <a:ext cx="647700" cy="647700"/>
          </a:xfrm>
          <a:prstGeom prst="rect">
            <a:avLst/>
          </a:prstGeom>
        </p:spPr>
      </p:pic>
      <p:pic>
        <p:nvPicPr>
          <p:cNvPr id="60" name="Graphique 59" descr="Programmatrice avec un remplissage uni">
            <a:extLst>
              <a:ext uri="{FF2B5EF4-FFF2-40B4-BE49-F238E27FC236}">
                <a16:creationId xmlns:a16="http://schemas.microsoft.com/office/drawing/2014/main" id="{517676AD-A790-0BF9-B7CE-6729432878E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057271" y="1643425"/>
            <a:ext cx="647700" cy="647700"/>
          </a:xfrm>
          <a:prstGeom prst="rect">
            <a:avLst/>
          </a:prstGeom>
        </p:spPr>
      </p:pic>
      <p:pic>
        <p:nvPicPr>
          <p:cNvPr id="61" name="Graphique 60" descr="Employé de bureau avec un remplissage uni">
            <a:extLst>
              <a:ext uri="{FF2B5EF4-FFF2-40B4-BE49-F238E27FC236}">
                <a16:creationId xmlns:a16="http://schemas.microsoft.com/office/drawing/2014/main" id="{2740613C-E067-6848-09F0-CA4E6B5C0DC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563060" y="1673260"/>
            <a:ext cx="647700" cy="647700"/>
          </a:xfrm>
          <a:prstGeom prst="rect">
            <a:avLst/>
          </a:prstGeom>
        </p:spPr>
      </p:pic>
      <p:pic>
        <p:nvPicPr>
          <p:cNvPr id="62" name="Graphique 61" descr="Homme électricien avec un remplissage uni">
            <a:extLst>
              <a:ext uri="{FF2B5EF4-FFF2-40B4-BE49-F238E27FC236}">
                <a16:creationId xmlns:a16="http://schemas.microsoft.com/office/drawing/2014/main" id="{1B7E2714-0980-4057-944E-6A35F80D934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406746" y="1919575"/>
            <a:ext cx="404135" cy="404136"/>
          </a:xfrm>
          <a:prstGeom prst="rect">
            <a:avLst/>
          </a:prstGeom>
        </p:spPr>
      </p:pic>
      <p:pic>
        <p:nvPicPr>
          <p:cNvPr id="63" name="Graphique 62" descr="Programmatrice avec un remplissage uni">
            <a:extLst>
              <a:ext uri="{FF2B5EF4-FFF2-40B4-BE49-F238E27FC236}">
                <a16:creationId xmlns:a16="http://schemas.microsoft.com/office/drawing/2014/main" id="{E08BC87B-AD2E-2AB7-0E36-05665399C88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41097" y="1897574"/>
            <a:ext cx="404135" cy="404136"/>
          </a:xfrm>
          <a:prstGeom prst="rect">
            <a:avLst/>
          </a:prstGeom>
        </p:spPr>
      </p:pic>
      <p:pic>
        <p:nvPicPr>
          <p:cNvPr id="64" name="Graphique 63" descr="Programmatrice avec un remplissage uni">
            <a:extLst>
              <a:ext uri="{FF2B5EF4-FFF2-40B4-BE49-F238E27FC236}">
                <a16:creationId xmlns:a16="http://schemas.microsoft.com/office/drawing/2014/main" id="{1C45AF71-94D2-27C4-9533-62609E7BA89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126471" y="1897574"/>
            <a:ext cx="404135" cy="404136"/>
          </a:xfrm>
          <a:prstGeom prst="rect">
            <a:avLst/>
          </a:prstGeom>
        </p:spPr>
      </p:pic>
      <p:pic>
        <p:nvPicPr>
          <p:cNvPr id="65" name="Graphique 64" descr="Programmatrice avec un remplissage uni">
            <a:extLst>
              <a:ext uri="{FF2B5EF4-FFF2-40B4-BE49-F238E27FC236}">
                <a16:creationId xmlns:a16="http://schemas.microsoft.com/office/drawing/2014/main" id="{FC2DE898-067C-1AE0-7FFC-04A75FB4337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420533" y="1895501"/>
            <a:ext cx="404135" cy="404136"/>
          </a:xfrm>
          <a:prstGeom prst="rect">
            <a:avLst/>
          </a:prstGeom>
        </p:spPr>
      </p:pic>
      <p:pic>
        <p:nvPicPr>
          <p:cNvPr id="66" name="Graphique 65" descr="Homme électricien avec un remplissage uni">
            <a:extLst>
              <a:ext uri="{FF2B5EF4-FFF2-40B4-BE49-F238E27FC236}">
                <a16:creationId xmlns:a16="http://schemas.microsoft.com/office/drawing/2014/main" id="{268B4ADA-F96E-8B16-2B6F-165B30B7C08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102084" y="1930575"/>
            <a:ext cx="404135" cy="404136"/>
          </a:xfrm>
          <a:prstGeom prst="rect">
            <a:avLst/>
          </a:prstGeom>
        </p:spPr>
      </p:pic>
      <p:pic>
        <p:nvPicPr>
          <p:cNvPr id="67" name="Graphique 66" descr="Homme électricien avec un remplissage uni">
            <a:extLst>
              <a:ext uri="{FF2B5EF4-FFF2-40B4-BE49-F238E27FC236}">
                <a16:creationId xmlns:a16="http://schemas.microsoft.com/office/drawing/2014/main" id="{24BE6457-9BC3-FC39-6753-0A121E3A172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786495" y="1930575"/>
            <a:ext cx="404135" cy="404136"/>
          </a:xfrm>
          <a:prstGeom prst="rect">
            <a:avLst/>
          </a:prstGeom>
        </p:spPr>
      </p:pic>
      <p:sp>
        <p:nvSpPr>
          <p:cNvPr id="68" name="ZoneTexte 67">
            <a:extLst>
              <a:ext uri="{FF2B5EF4-FFF2-40B4-BE49-F238E27FC236}">
                <a16:creationId xmlns:a16="http://schemas.microsoft.com/office/drawing/2014/main" id="{6986A3CF-307E-B257-E5D0-BAFD9688BAEE}"/>
              </a:ext>
            </a:extLst>
          </p:cNvPr>
          <p:cNvSpPr txBox="1"/>
          <p:nvPr/>
        </p:nvSpPr>
        <p:spPr>
          <a:xfrm>
            <a:off x="3022266" y="3239774"/>
            <a:ext cx="1269137" cy="784830"/>
          </a:xfrm>
          <a:prstGeom prst="rect">
            <a:avLst/>
          </a:prstGeom>
          <a:solidFill>
            <a:schemeClr val="bg1">
              <a:lumMod val="95000"/>
            </a:schemeClr>
          </a:solidFill>
          <a:ln>
            <a:noFill/>
          </a:ln>
        </p:spPr>
        <p:txBody>
          <a:bodyPr wrap="square" anchor="ctr">
            <a:noAutofit/>
          </a:bodyPr>
          <a:lstStyle/>
          <a:p>
            <a:pPr algn="ctr"/>
            <a:r>
              <a:rPr lang="fr-FR" sz="1000" dirty="0"/>
              <a:t>📅✍️Base de connaissances liées aux compétences ou au métier commun</a:t>
            </a:r>
          </a:p>
        </p:txBody>
      </p:sp>
      <p:sp>
        <p:nvSpPr>
          <p:cNvPr id="69" name="ZoneTexte 68">
            <a:extLst>
              <a:ext uri="{FF2B5EF4-FFF2-40B4-BE49-F238E27FC236}">
                <a16:creationId xmlns:a16="http://schemas.microsoft.com/office/drawing/2014/main" id="{E6BD8EC0-1BCD-C5D7-2640-0872E537C8EE}"/>
              </a:ext>
            </a:extLst>
          </p:cNvPr>
          <p:cNvSpPr txBox="1"/>
          <p:nvPr/>
        </p:nvSpPr>
        <p:spPr>
          <a:xfrm>
            <a:off x="4357854" y="3239774"/>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de revue collective de productions ou de travaux</a:t>
            </a:r>
          </a:p>
        </p:txBody>
      </p:sp>
      <p:sp>
        <p:nvSpPr>
          <p:cNvPr id="70" name="ZoneTexte 69">
            <a:extLst>
              <a:ext uri="{FF2B5EF4-FFF2-40B4-BE49-F238E27FC236}">
                <a16:creationId xmlns:a16="http://schemas.microsoft.com/office/drawing/2014/main" id="{412A5283-BCCF-8DEE-2C56-2169FE77484B}"/>
              </a:ext>
            </a:extLst>
          </p:cNvPr>
          <p:cNvSpPr txBox="1"/>
          <p:nvPr/>
        </p:nvSpPr>
        <p:spPr>
          <a:xfrm>
            <a:off x="3022266" y="4106026"/>
            <a:ext cx="1269137" cy="784830"/>
          </a:xfrm>
          <a:prstGeom prst="rect">
            <a:avLst/>
          </a:prstGeom>
          <a:solidFill>
            <a:schemeClr val="bg1">
              <a:lumMod val="95000"/>
            </a:schemeClr>
          </a:solidFill>
          <a:ln>
            <a:noFill/>
          </a:ln>
        </p:spPr>
        <p:txBody>
          <a:bodyPr wrap="square" anchor="ctr">
            <a:noAutofit/>
          </a:bodyPr>
          <a:lstStyle/>
          <a:p>
            <a:pPr algn="ctr"/>
            <a:r>
              <a:rPr lang="fr-FR" sz="1000" dirty="0"/>
              <a:t>📅✍️⚙️Co-définition des bonnes pratiques locales liées au métier</a:t>
            </a:r>
          </a:p>
        </p:txBody>
      </p:sp>
      <p:sp>
        <p:nvSpPr>
          <p:cNvPr id="71" name="ZoneTexte 70">
            <a:extLst>
              <a:ext uri="{FF2B5EF4-FFF2-40B4-BE49-F238E27FC236}">
                <a16:creationId xmlns:a16="http://schemas.microsoft.com/office/drawing/2014/main" id="{84D88AFF-80AF-3B05-678D-DCB3BE16BA22}"/>
              </a:ext>
            </a:extLst>
          </p:cNvPr>
          <p:cNvSpPr txBox="1"/>
          <p:nvPr/>
        </p:nvSpPr>
        <p:spPr>
          <a:xfrm>
            <a:off x="4357854" y="4106026"/>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de cocréation simultanée (mob programming, fresques, etc.)</a:t>
            </a:r>
          </a:p>
        </p:txBody>
      </p:sp>
      <p:sp>
        <p:nvSpPr>
          <p:cNvPr id="72" name="ZoneTexte 71">
            <a:extLst>
              <a:ext uri="{FF2B5EF4-FFF2-40B4-BE49-F238E27FC236}">
                <a16:creationId xmlns:a16="http://schemas.microsoft.com/office/drawing/2014/main" id="{0819E6CE-A52C-270B-D110-798DDA148C2A}"/>
              </a:ext>
            </a:extLst>
          </p:cNvPr>
          <p:cNvSpPr txBox="1"/>
          <p:nvPr/>
        </p:nvSpPr>
        <p:spPr>
          <a:xfrm>
            <a:off x="6561500" y="4106026"/>
            <a:ext cx="1269137" cy="784830"/>
          </a:xfrm>
          <a:prstGeom prst="rect">
            <a:avLst/>
          </a:prstGeom>
          <a:solidFill>
            <a:schemeClr val="bg1">
              <a:lumMod val="95000"/>
            </a:schemeClr>
          </a:solidFill>
          <a:ln>
            <a:noFill/>
          </a:ln>
        </p:spPr>
        <p:txBody>
          <a:bodyPr wrap="square" anchor="ctr">
            <a:noAutofit/>
          </a:bodyPr>
          <a:lstStyle/>
          <a:p>
            <a:pPr algn="ctr"/>
            <a:r>
              <a:rPr lang="fr-FR" sz="1000" dirty="0"/>
              <a:t>✍️⚙️Co-construction des processus et d’une gouvernance entre disciplines</a:t>
            </a:r>
          </a:p>
        </p:txBody>
      </p:sp>
      <p:sp>
        <p:nvSpPr>
          <p:cNvPr id="73" name="ZoneTexte 72">
            <a:extLst>
              <a:ext uri="{FF2B5EF4-FFF2-40B4-BE49-F238E27FC236}">
                <a16:creationId xmlns:a16="http://schemas.microsoft.com/office/drawing/2014/main" id="{484A8DBE-F54E-9826-107C-C0C01F04EBFB}"/>
              </a:ext>
            </a:extLst>
          </p:cNvPr>
          <p:cNvSpPr txBox="1"/>
          <p:nvPr/>
        </p:nvSpPr>
        <p:spPr>
          <a:xfrm>
            <a:off x="7897088" y="4106026"/>
            <a:ext cx="1269137" cy="784830"/>
          </a:xfrm>
          <a:prstGeom prst="rect">
            <a:avLst/>
          </a:prstGeom>
          <a:solidFill>
            <a:schemeClr val="bg1">
              <a:lumMod val="95000"/>
            </a:schemeClr>
          </a:solidFill>
          <a:ln>
            <a:noFill/>
          </a:ln>
        </p:spPr>
        <p:txBody>
          <a:bodyPr wrap="square" anchor="ctr">
            <a:noAutofit/>
          </a:bodyPr>
          <a:lstStyle/>
          <a:p>
            <a:pPr algn="ctr"/>
            <a:r>
              <a:rPr lang="fr-FR" sz="1000" dirty="0"/>
              <a:t>📅Evènements « Comment mieux travailler entre métier X et métier Y»</a:t>
            </a:r>
          </a:p>
        </p:txBody>
      </p:sp>
      <p:sp>
        <p:nvSpPr>
          <p:cNvPr id="74" name="ZoneTexte 73">
            <a:extLst>
              <a:ext uri="{FF2B5EF4-FFF2-40B4-BE49-F238E27FC236}">
                <a16:creationId xmlns:a16="http://schemas.microsoft.com/office/drawing/2014/main" id="{D26E1A88-E639-858A-2B8C-3AFBC2677BD3}"/>
              </a:ext>
            </a:extLst>
          </p:cNvPr>
          <p:cNvSpPr txBox="1"/>
          <p:nvPr/>
        </p:nvSpPr>
        <p:spPr>
          <a:xfrm>
            <a:off x="3022266" y="4972278"/>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d’amélioration continue sur les règles qui régissent le métier</a:t>
            </a:r>
          </a:p>
        </p:txBody>
      </p:sp>
      <p:sp>
        <p:nvSpPr>
          <p:cNvPr id="75" name="ZoneTexte 74">
            <a:extLst>
              <a:ext uri="{FF2B5EF4-FFF2-40B4-BE49-F238E27FC236}">
                <a16:creationId xmlns:a16="http://schemas.microsoft.com/office/drawing/2014/main" id="{D92E9729-A907-DCF4-91F5-D15B83AE20D7}"/>
              </a:ext>
            </a:extLst>
          </p:cNvPr>
          <p:cNvSpPr txBox="1"/>
          <p:nvPr/>
        </p:nvSpPr>
        <p:spPr>
          <a:xfrm>
            <a:off x="4357854" y="4972278"/>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de co-développement ou d’intervision centrés autour du métier</a:t>
            </a:r>
          </a:p>
        </p:txBody>
      </p:sp>
      <p:sp>
        <p:nvSpPr>
          <p:cNvPr id="76" name="ZoneTexte 75">
            <a:extLst>
              <a:ext uri="{FF2B5EF4-FFF2-40B4-BE49-F238E27FC236}">
                <a16:creationId xmlns:a16="http://schemas.microsoft.com/office/drawing/2014/main" id="{BAE1128B-2C95-128B-9D02-C5BBFED9BCA8}"/>
              </a:ext>
            </a:extLst>
          </p:cNvPr>
          <p:cNvSpPr txBox="1"/>
          <p:nvPr/>
        </p:nvSpPr>
        <p:spPr>
          <a:xfrm>
            <a:off x="3022266" y="5838530"/>
            <a:ext cx="1269137" cy="784830"/>
          </a:xfrm>
          <a:prstGeom prst="rect">
            <a:avLst/>
          </a:prstGeom>
          <a:solidFill>
            <a:schemeClr val="bg1">
              <a:lumMod val="95000"/>
            </a:schemeClr>
          </a:solidFill>
          <a:ln>
            <a:noFill/>
          </a:ln>
        </p:spPr>
        <p:txBody>
          <a:bodyPr wrap="square" anchor="ctr">
            <a:noAutofit/>
          </a:bodyPr>
          <a:lstStyle/>
          <a:p>
            <a:pPr algn="ctr"/>
            <a:r>
              <a:rPr lang="fr-FR" sz="1000" dirty="0"/>
              <a:t>⚙️Groupement des demandes liées au métier (processus, gouvernance, budget..)</a:t>
            </a:r>
          </a:p>
        </p:txBody>
      </p:sp>
      <p:sp>
        <p:nvSpPr>
          <p:cNvPr id="77" name="ZoneTexte 76">
            <a:extLst>
              <a:ext uri="{FF2B5EF4-FFF2-40B4-BE49-F238E27FC236}">
                <a16:creationId xmlns:a16="http://schemas.microsoft.com/office/drawing/2014/main" id="{9F2A6B6D-21DA-1A7C-3137-66B212EE9A1D}"/>
              </a:ext>
            </a:extLst>
          </p:cNvPr>
          <p:cNvSpPr txBox="1"/>
          <p:nvPr/>
        </p:nvSpPr>
        <p:spPr>
          <a:xfrm>
            <a:off x="4357854" y="5838530"/>
            <a:ext cx="1269137" cy="784830"/>
          </a:xfrm>
          <a:prstGeom prst="rect">
            <a:avLst/>
          </a:prstGeom>
          <a:solidFill>
            <a:schemeClr val="bg1">
              <a:lumMod val="95000"/>
            </a:schemeClr>
          </a:solidFill>
          <a:ln>
            <a:noFill/>
          </a:ln>
        </p:spPr>
        <p:txBody>
          <a:bodyPr wrap="square" anchor="ctr">
            <a:noAutofit/>
          </a:bodyPr>
          <a:lstStyle/>
          <a:p>
            <a:pPr algn="ctr"/>
            <a:r>
              <a:rPr lang="fr-FR" sz="1000" dirty="0"/>
              <a:t>📅✍️ Evénements ou contenus liés à un thème particulier du métier</a:t>
            </a:r>
          </a:p>
        </p:txBody>
      </p:sp>
      <p:sp>
        <p:nvSpPr>
          <p:cNvPr id="78" name="ZoneTexte 77">
            <a:extLst>
              <a:ext uri="{FF2B5EF4-FFF2-40B4-BE49-F238E27FC236}">
                <a16:creationId xmlns:a16="http://schemas.microsoft.com/office/drawing/2014/main" id="{A095E1C0-1AE2-01FC-2B3B-3BA7115F3EBB}"/>
              </a:ext>
            </a:extLst>
          </p:cNvPr>
          <p:cNvSpPr txBox="1"/>
          <p:nvPr/>
        </p:nvSpPr>
        <p:spPr>
          <a:xfrm>
            <a:off x="6561500" y="4972278"/>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d’amélioration continue des interfaces entre disciplines</a:t>
            </a:r>
          </a:p>
        </p:txBody>
      </p:sp>
      <p:sp>
        <p:nvSpPr>
          <p:cNvPr id="79" name="ZoneTexte 78">
            <a:extLst>
              <a:ext uri="{FF2B5EF4-FFF2-40B4-BE49-F238E27FC236}">
                <a16:creationId xmlns:a16="http://schemas.microsoft.com/office/drawing/2014/main" id="{D8894A22-2BD9-EC0F-CA04-DDF5828252EA}"/>
              </a:ext>
            </a:extLst>
          </p:cNvPr>
          <p:cNvSpPr txBox="1"/>
          <p:nvPr/>
        </p:nvSpPr>
        <p:spPr>
          <a:xfrm>
            <a:off x="7897088" y="4972278"/>
            <a:ext cx="1269137" cy="784830"/>
          </a:xfrm>
          <a:prstGeom prst="rect">
            <a:avLst/>
          </a:prstGeom>
          <a:solidFill>
            <a:schemeClr val="bg1">
              <a:lumMod val="95000"/>
            </a:schemeClr>
          </a:solidFill>
          <a:ln>
            <a:noFill/>
          </a:ln>
        </p:spPr>
        <p:txBody>
          <a:bodyPr wrap="square" anchor="ctr">
            <a:noAutofit/>
          </a:bodyPr>
          <a:lstStyle/>
          <a:p>
            <a:pPr algn="ctr"/>
            <a:r>
              <a:rPr lang="fr-FR" sz="1000" dirty="0"/>
              <a:t>✍️ Contenus sur « Comment mieux travailler entre métier X et métier Y»</a:t>
            </a:r>
          </a:p>
        </p:txBody>
      </p:sp>
      <p:sp>
        <p:nvSpPr>
          <p:cNvPr id="80" name="ZoneTexte 79">
            <a:extLst>
              <a:ext uri="{FF2B5EF4-FFF2-40B4-BE49-F238E27FC236}">
                <a16:creationId xmlns:a16="http://schemas.microsoft.com/office/drawing/2014/main" id="{CA8C4443-AE94-462B-5869-688BDF4F3732}"/>
              </a:ext>
            </a:extLst>
          </p:cNvPr>
          <p:cNvSpPr txBox="1"/>
          <p:nvPr/>
        </p:nvSpPr>
        <p:spPr>
          <a:xfrm>
            <a:off x="6561500" y="5838530"/>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⚙️Systèmes de guichets et de points de contacts « entre métiers » pour mieux s’y retrouver</a:t>
            </a:r>
          </a:p>
        </p:txBody>
      </p:sp>
      <p:sp>
        <p:nvSpPr>
          <p:cNvPr id="81" name="ZoneTexte 80">
            <a:extLst>
              <a:ext uri="{FF2B5EF4-FFF2-40B4-BE49-F238E27FC236}">
                <a16:creationId xmlns:a16="http://schemas.microsoft.com/office/drawing/2014/main" id="{36687BAB-FBDD-6601-3098-048E2BF900DF}"/>
              </a:ext>
            </a:extLst>
          </p:cNvPr>
          <p:cNvSpPr txBox="1"/>
          <p:nvPr/>
        </p:nvSpPr>
        <p:spPr>
          <a:xfrm>
            <a:off x="7897088" y="5838530"/>
            <a:ext cx="1269137" cy="784830"/>
          </a:xfrm>
          <a:prstGeom prst="rect">
            <a:avLst/>
          </a:prstGeom>
          <a:solidFill>
            <a:schemeClr val="bg1">
              <a:lumMod val="95000"/>
            </a:schemeClr>
          </a:solidFill>
          <a:ln>
            <a:noFill/>
          </a:ln>
        </p:spPr>
        <p:txBody>
          <a:bodyPr wrap="square" anchor="ctr">
            <a:noAutofit/>
          </a:bodyPr>
          <a:lstStyle/>
          <a:p>
            <a:pPr algn="ctr"/>
            <a:r>
              <a:rPr lang="fr-FR" sz="1000" dirty="0"/>
              <a:t>⚙️Constitution d’un </a:t>
            </a:r>
            <a:r>
              <a:rPr lang="fr-FR" sz="1000" dirty="0" err="1"/>
              <a:t>backlog</a:t>
            </a:r>
            <a:r>
              <a:rPr lang="fr-FR" sz="1000" dirty="0"/>
              <a:t> transverse</a:t>
            </a:r>
          </a:p>
        </p:txBody>
      </p:sp>
      <p:sp>
        <p:nvSpPr>
          <p:cNvPr id="82" name="Titre 1">
            <a:extLst>
              <a:ext uri="{FF2B5EF4-FFF2-40B4-BE49-F238E27FC236}">
                <a16:creationId xmlns:a16="http://schemas.microsoft.com/office/drawing/2014/main" id="{B35CF975-9911-5606-5D27-32A61C608359}"/>
              </a:ext>
            </a:extLst>
          </p:cNvPr>
          <p:cNvSpPr>
            <a:spLocks noGrp="1"/>
          </p:cNvSpPr>
          <p:nvPr>
            <p:ph type="title"/>
          </p:nvPr>
        </p:nvSpPr>
        <p:spPr>
          <a:xfrm>
            <a:off x="542108" y="364488"/>
            <a:ext cx="10515600" cy="738663"/>
          </a:xfrm>
        </p:spPr>
        <p:txBody>
          <a:bodyPr>
            <a:noAutofit/>
          </a:bodyPr>
          <a:lstStyle/>
          <a:p>
            <a:r>
              <a:rPr lang="fr-FR" sz="3200" dirty="0"/>
              <a:t>Similarités et différences marquées</a:t>
            </a:r>
            <a:br>
              <a:rPr lang="fr-FR" sz="3200" dirty="0"/>
            </a:br>
            <a:r>
              <a:rPr lang="fr-FR" sz="2000" dirty="0"/>
              <a:t>Exemples de situations, d’</a:t>
            </a:r>
            <a:r>
              <a:rPr lang="fr-FR" sz="2000" dirty="0">
                <a:solidFill>
                  <a:srgbClr val="00B050"/>
                </a:solidFill>
              </a:rPr>
              <a:t>avantages</a:t>
            </a:r>
            <a:r>
              <a:rPr lang="fr-FR" sz="2000" dirty="0"/>
              <a:t>, d’</a:t>
            </a:r>
            <a:r>
              <a:rPr lang="fr-FR" sz="2000" dirty="0">
                <a:solidFill>
                  <a:srgbClr val="FF0000"/>
                </a:solidFill>
              </a:rPr>
              <a:t>inconvénients, </a:t>
            </a:r>
            <a:r>
              <a:rPr lang="fr-FR" sz="2000" dirty="0"/>
              <a:t>d’</a:t>
            </a:r>
            <a:r>
              <a:rPr lang="fr-FR" sz="2000" dirty="0">
                <a:solidFill>
                  <a:schemeClr val="bg1">
                    <a:lumMod val="50000"/>
                  </a:schemeClr>
                </a:solidFill>
              </a:rPr>
              <a:t>actions </a:t>
            </a:r>
            <a:r>
              <a:rPr lang="fr-FR" sz="2000" dirty="0"/>
              <a:t>associées</a:t>
            </a:r>
            <a:br>
              <a:rPr lang="fr-FR" sz="2000" dirty="0"/>
            </a:br>
            <a:r>
              <a:rPr lang="fr-FR" sz="1000" dirty="0"/>
              <a:t>📅Evènements  , ✍️Contenus, ⚙️Structuration de Communauté, 📅+⚙️Structuration de moments, ✍️+⚙️ Structuration de Contenus</a:t>
            </a:r>
          </a:p>
        </p:txBody>
      </p:sp>
      <p:sp>
        <p:nvSpPr>
          <p:cNvPr id="83" name="Rectangle 82">
            <a:extLst>
              <a:ext uri="{FF2B5EF4-FFF2-40B4-BE49-F238E27FC236}">
                <a16:creationId xmlns:a16="http://schemas.microsoft.com/office/drawing/2014/main" id="{227BC654-094F-5D05-DF02-EEF423730A36}"/>
              </a:ext>
            </a:extLst>
          </p:cNvPr>
          <p:cNvSpPr/>
          <p:nvPr/>
        </p:nvSpPr>
        <p:spPr>
          <a:xfrm>
            <a:off x="1942249" y="775062"/>
            <a:ext cx="1027374" cy="20900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423229784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723E1A2-190A-A384-98CB-9A14D89C0CE3}"/>
              </a:ext>
            </a:extLst>
          </p:cNvPr>
          <p:cNvSpPr>
            <a:spLocks noGrp="1"/>
          </p:cNvSpPr>
          <p:nvPr>
            <p:ph type="title"/>
          </p:nvPr>
        </p:nvSpPr>
        <p:spPr>
          <a:xfrm>
            <a:off x="542108" y="364488"/>
            <a:ext cx="10515600" cy="738663"/>
          </a:xfrm>
        </p:spPr>
        <p:txBody>
          <a:bodyPr>
            <a:noAutofit/>
          </a:bodyPr>
          <a:lstStyle/>
          <a:p>
            <a:r>
              <a:rPr lang="fr-FR" sz="3200" dirty="0"/>
              <a:t>Similarités et différences marquées</a:t>
            </a:r>
            <a:br>
              <a:rPr lang="fr-FR" sz="3200" dirty="0"/>
            </a:br>
            <a:r>
              <a:rPr lang="fr-FR" sz="2000" dirty="0"/>
              <a:t>Exemples de situations, d’avantages, d’inconvénients, d’actions associées</a:t>
            </a:r>
            <a:br>
              <a:rPr lang="fr-FR" sz="2000" dirty="0"/>
            </a:br>
            <a:r>
              <a:rPr lang="fr-FR" sz="1000" dirty="0"/>
              <a:t>📅Evènements  , ✍️Contenus, ⚙️Structuration de Communauté, 📅+⚙️Structuration de moments, ✍️+⚙️ Structuration de Contenus</a:t>
            </a:r>
          </a:p>
        </p:txBody>
      </p:sp>
      <p:sp>
        <p:nvSpPr>
          <p:cNvPr id="4" name="Flèche : double flèche horizontale 3">
            <a:extLst>
              <a:ext uri="{FF2B5EF4-FFF2-40B4-BE49-F238E27FC236}">
                <a16:creationId xmlns:a16="http://schemas.microsoft.com/office/drawing/2014/main" id="{56A64584-73D0-A23F-B100-D16C8D367879}"/>
              </a:ext>
            </a:extLst>
          </p:cNvPr>
          <p:cNvSpPr/>
          <p:nvPr/>
        </p:nvSpPr>
        <p:spPr>
          <a:xfrm>
            <a:off x="4712931" y="2544979"/>
            <a:ext cx="2675981" cy="296091"/>
          </a:xfrm>
          <a:prstGeom prst="lef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6" name="ZoneTexte 5">
            <a:extLst>
              <a:ext uri="{FF2B5EF4-FFF2-40B4-BE49-F238E27FC236}">
                <a16:creationId xmlns:a16="http://schemas.microsoft.com/office/drawing/2014/main" id="{2A5DB254-B882-DACC-8488-F541488CA514}"/>
              </a:ext>
            </a:extLst>
          </p:cNvPr>
          <p:cNvSpPr txBox="1"/>
          <p:nvPr/>
        </p:nvSpPr>
        <p:spPr>
          <a:xfrm>
            <a:off x="7388912" y="2310276"/>
            <a:ext cx="2020389" cy="738664"/>
          </a:xfrm>
          <a:prstGeom prst="rect">
            <a:avLst/>
          </a:prstGeom>
          <a:solidFill>
            <a:srgbClr val="ED7D31"/>
          </a:solidFill>
        </p:spPr>
        <p:txBody>
          <a:bodyPr wrap="square" anchor="ctr">
            <a:spAutoFit/>
          </a:bodyPr>
          <a:lstStyle/>
          <a:p>
            <a:pPr algn="ctr"/>
            <a:r>
              <a:rPr lang="fr-FR" sz="1400" dirty="0"/>
              <a:t>Niveaux très différents sur une compétence commune</a:t>
            </a:r>
          </a:p>
        </p:txBody>
      </p:sp>
      <p:sp>
        <p:nvSpPr>
          <p:cNvPr id="8" name="ZoneTexte 7">
            <a:extLst>
              <a:ext uri="{FF2B5EF4-FFF2-40B4-BE49-F238E27FC236}">
                <a16:creationId xmlns:a16="http://schemas.microsoft.com/office/drawing/2014/main" id="{79974BCF-0D29-8760-A403-924E1C4BCA9A}"/>
              </a:ext>
            </a:extLst>
          </p:cNvPr>
          <p:cNvSpPr txBox="1"/>
          <p:nvPr/>
        </p:nvSpPr>
        <p:spPr>
          <a:xfrm>
            <a:off x="2879778" y="2310276"/>
            <a:ext cx="1854925" cy="738664"/>
          </a:xfrm>
          <a:prstGeom prst="rect">
            <a:avLst/>
          </a:prstGeom>
          <a:solidFill>
            <a:srgbClr val="ED7D31"/>
          </a:solidFill>
        </p:spPr>
        <p:txBody>
          <a:bodyPr wrap="square" anchor="ctr">
            <a:spAutoFit/>
          </a:bodyPr>
          <a:lstStyle/>
          <a:p>
            <a:pPr algn="ctr"/>
            <a:r>
              <a:rPr lang="fr-FR" sz="1400" dirty="0"/>
              <a:t>Niveaux très similaires sur une compétence commune</a:t>
            </a:r>
          </a:p>
        </p:txBody>
      </p:sp>
      <p:sp>
        <p:nvSpPr>
          <p:cNvPr id="18" name="Rectangle 17">
            <a:extLst>
              <a:ext uri="{FF2B5EF4-FFF2-40B4-BE49-F238E27FC236}">
                <a16:creationId xmlns:a16="http://schemas.microsoft.com/office/drawing/2014/main" id="{9000FF28-7C11-3C84-5B57-9738ADD2170E}"/>
              </a:ext>
            </a:extLst>
          </p:cNvPr>
          <p:cNvSpPr/>
          <p:nvPr/>
        </p:nvSpPr>
        <p:spPr>
          <a:xfrm>
            <a:off x="1942249" y="775062"/>
            <a:ext cx="1027374" cy="19159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pic>
        <p:nvPicPr>
          <p:cNvPr id="24" name="Graphique 23" descr="Héroïne avec un remplissage uni">
            <a:extLst>
              <a:ext uri="{FF2B5EF4-FFF2-40B4-BE49-F238E27FC236}">
                <a16:creationId xmlns:a16="http://schemas.microsoft.com/office/drawing/2014/main" id="{1FFCDEFE-2C7F-3AB6-EBB1-589819D4C61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568535" y="1580507"/>
            <a:ext cx="696685" cy="696685"/>
          </a:xfrm>
          <a:prstGeom prst="rect">
            <a:avLst/>
          </a:prstGeom>
        </p:spPr>
      </p:pic>
      <p:grpSp>
        <p:nvGrpSpPr>
          <p:cNvPr id="60" name="Groupe 59">
            <a:extLst>
              <a:ext uri="{FF2B5EF4-FFF2-40B4-BE49-F238E27FC236}">
                <a16:creationId xmlns:a16="http://schemas.microsoft.com/office/drawing/2014/main" id="{3F3D695E-1E5D-A0A4-7946-CC91A10B1321}"/>
              </a:ext>
            </a:extLst>
          </p:cNvPr>
          <p:cNvGrpSpPr/>
          <p:nvPr/>
        </p:nvGrpSpPr>
        <p:grpSpPr>
          <a:xfrm>
            <a:off x="3382291" y="1855804"/>
            <a:ext cx="1365395" cy="421388"/>
            <a:chOff x="3172546" y="1704438"/>
            <a:chExt cx="1833833" cy="565957"/>
          </a:xfrm>
        </p:grpSpPr>
        <p:sp>
          <p:nvSpPr>
            <p:cNvPr id="28" name="ZoneTexte 27">
              <a:extLst>
                <a:ext uri="{FF2B5EF4-FFF2-40B4-BE49-F238E27FC236}">
                  <a16:creationId xmlns:a16="http://schemas.microsoft.com/office/drawing/2014/main" id="{151FE5A7-8679-9762-F387-12E4D2DE6775}"/>
                </a:ext>
              </a:extLst>
            </p:cNvPr>
            <p:cNvSpPr txBox="1"/>
            <p:nvPr/>
          </p:nvSpPr>
          <p:spPr>
            <a:xfrm>
              <a:off x="3172546" y="1795249"/>
              <a:ext cx="902360" cy="413369"/>
            </a:xfrm>
            <a:prstGeom prst="rect">
              <a:avLst/>
            </a:prstGeom>
            <a:noFill/>
          </p:spPr>
          <p:txBody>
            <a:bodyPr wrap="square" anchor="ctr">
              <a:spAutoFit/>
            </a:bodyPr>
            <a:lstStyle/>
            <a:p>
              <a:pPr algn="ctr"/>
              <a:r>
                <a:rPr lang="fr-FR" sz="1400" dirty="0"/>
                <a:t>ou</a:t>
              </a:r>
            </a:p>
          </p:txBody>
        </p:sp>
        <p:pic>
          <p:nvPicPr>
            <p:cNvPr id="29" name="Graphique 28" descr="Héroïne avec un remplissage uni">
              <a:extLst>
                <a:ext uri="{FF2B5EF4-FFF2-40B4-BE49-F238E27FC236}">
                  <a16:creationId xmlns:a16="http://schemas.microsoft.com/office/drawing/2014/main" id="{7FC7714A-EB37-3C3C-31ED-A77C4210480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09344" y="1704438"/>
              <a:ext cx="565956" cy="565956"/>
            </a:xfrm>
            <a:prstGeom prst="rect">
              <a:avLst/>
            </a:prstGeom>
          </p:spPr>
        </p:pic>
        <p:pic>
          <p:nvPicPr>
            <p:cNvPr id="30" name="Graphique 29" descr="Héroïne avec un remplissage uni">
              <a:extLst>
                <a:ext uri="{FF2B5EF4-FFF2-40B4-BE49-F238E27FC236}">
                  <a16:creationId xmlns:a16="http://schemas.microsoft.com/office/drawing/2014/main" id="{2044259F-8D47-FC4E-E838-68BC60B775F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083761" y="1704439"/>
              <a:ext cx="565956" cy="565956"/>
            </a:xfrm>
            <a:prstGeom prst="rect">
              <a:avLst/>
            </a:prstGeom>
          </p:spPr>
        </p:pic>
        <p:pic>
          <p:nvPicPr>
            <p:cNvPr id="31" name="Graphique 30" descr="Héroïne avec un remplissage uni">
              <a:extLst>
                <a:ext uri="{FF2B5EF4-FFF2-40B4-BE49-F238E27FC236}">
                  <a16:creationId xmlns:a16="http://schemas.microsoft.com/office/drawing/2014/main" id="{A87BCC28-22D8-97B4-93A8-E70DF36FA06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440423" y="1704439"/>
              <a:ext cx="565956" cy="565956"/>
            </a:xfrm>
            <a:prstGeom prst="rect">
              <a:avLst/>
            </a:prstGeom>
          </p:spPr>
        </p:pic>
      </p:grpSp>
      <p:sp>
        <p:nvSpPr>
          <p:cNvPr id="51" name="ZoneTexte 50">
            <a:extLst>
              <a:ext uri="{FF2B5EF4-FFF2-40B4-BE49-F238E27FC236}">
                <a16:creationId xmlns:a16="http://schemas.microsoft.com/office/drawing/2014/main" id="{28321992-7F2B-D21E-2E33-FD96A71C53F9}"/>
              </a:ext>
            </a:extLst>
          </p:cNvPr>
          <p:cNvSpPr txBox="1"/>
          <p:nvPr/>
        </p:nvSpPr>
        <p:spPr>
          <a:xfrm>
            <a:off x="9468538" y="2625456"/>
            <a:ext cx="1269137" cy="784830"/>
          </a:xfrm>
          <a:prstGeom prst="rect">
            <a:avLst/>
          </a:prstGeom>
          <a:solidFill>
            <a:srgbClr val="54FFB3"/>
          </a:solidFill>
        </p:spPr>
        <p:txBody>
          <a:bodyPr wrap="square" anchor="ctr">
            <a:noAutofit/>
          </a:bodyPr>
          <a:lstStyle/>
          <a:p>
            <a:pPr algn="ctr"/>
            <a:r>
              <a:rPr lang="fr-FR" sz="1000" dirty="0"/>
              <a:t>Opportunités d’organiser de la transmission et de l’apprentissage entre membres</a:t>
            </a:r>
          </a:p>
        </p:txBody>
      </p:sp>
      <p:sp>
        <p:nvSpPr>
          <p:cNvPr id="52" name="ZoneTexte 51">
            <a:extLst>
              <a:ext uri="{FF2B5EF4-FFF2-40B4-BE49-F238E27FC236}">
                <a16:creationId xmlns:a16="http://schemas.microsoft.com/office/drawing/2014/main" id="{843A05F4-B41A-4694-38A4-297CBD0F4F10}"/>
              </a:ext>
            </a:extLst>
          </p:cNvPr>
          <p:cNvSpPr txBox="1"/>
          <p:nvPr/>
        </p:nvSpPr>
        <p:spPr>
          <a:xfrm>
            <a:off x="10796912" y="2620549"/>
            <a:ext cx="1269137" cy="784830"/>
          </a:xfrm>
          <a:prstGeom prst="rect">
            <a:avLst/>
          </a:prstGeom>
          <a:solidFill>
            <a:srgbClr val="54FFB3"/>
          </a:solidFill>
        </p:spPr>
        <p:txBody>
          <a:bodyPr wrap="square" anchor="ctr">
            <a:noAutofit/>
          </a:bodyPr>
          <a:lstStyle/>
          <a:p>
            <a:pPr algn="ctr"/>
            <a:r>
              <a:rPr lang="fr-FR" sz="1000" dirty="0"/>
              <a:t>Opportunités pour développer de la reconnaissance pour le niveau acquis dans la compétence</a:t>
            </a:r>
          </a:p>
        </p:txBody>
      </p:sp>
      <p:sp>
        <p:nvSpPr>
          <p:cNvPr id="53" name="ZoneTexte 52">
            <a:extLst>
              <a:ext uri="{FF2B5EF4-FFF2-40B4-BE49-F238E27FC236}">
                <a16:creationId xmlns:a16="http://schemas.microsoft.com/office/drawing/2014/main" id="{3F5D9FC4-086E-94A7-DB1C-1B042586C6EC}"/>
              </a:ext>
            </a:extLst>
          </p:cNvPr>
          <p:cNvSpPr txBox="1"/>
          <p:nvPr/>
        </p:nvSpPr>
        <p:spPr>
          <a:xfrm>
            <a:off x="945572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Il y a un grand mélange de novices et d’experts sur le sujet XYZ</a:t>
            </a:r>
          </a:p>
        </p:txBody>
      </p:sp>
      <p:sp>
        <p:nvSpPr>
          <p:cNvPr id="54" name="ZoneTexte 53">
            <a:extLst>
              <a:ext uri="{FF2B5EF4-FFF2-40B4-BE49-F238E27FC236}">
                <a16:creationId xmlns:a16="http://schemas.microsoft.com/office/drawing/2014/main" id="{78DE3FA2-7181-D580-DC2B-7EEBA634F374}"/>
              </a:ext>
            </a:extLst>
          </p:cNvPr>
          <p:cNvSpPr txBox="1"/>
          <p:nvPr/>
        </p:nvSpPr>
        <p:spPr>
          <a:xfrm>
            <a:off x="1078409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Les niveaux d’expérience en ABCD sont très disparates </a:t>
            </a:r>
          </a:p>
        </p:txBody>
      </p:sp>
      <p:sp>
        <p:nvSpPr>
          <p:cNvPr id="56" name="ZoneTexte 55">
            <a:extLst>
              <a:ext uri="{FF2B5EF4-FFF2-40B4-BE49-F238E27FC236}">
                <a16:creationId xmlns:a16="http://schemas.microsoft.com/office/drawing/2014/main" id="{9E1201AC-5400-12CD-67FE-66A1CAA3551D}"/>
              </a:ext>
            </a:extLst>
          </p:cNvPr>
          <p:cNvSpPr txBox="1"/>
          <p:nvPr/>
        </p:nvSpPr>
        <p:spPr>
          <a:xfrm>
            <a:off x="9455723" y="4028237"/>
            <a:ext cx="1269137" cy="784830"/>
          </a:xfrm>
          <a:prstGeom prst="rect">
            <a:avLst/>
          </a:prstGeom>
          <a:solidFill>
            <a:srgbClr val="FF7C80"/>
          </a:solidFill>
        </p:spPr>
        <p:txBody>
          <a:bodyPr wrap="square" anchor="ctr">
            <a:noAutofit/>
          </a:bodyPr>
          <a:lstStyle/>
          <a:p>
            <a:pPr algn="ctr"/>
            <a:r>
              <a:rPr lang="fr-FR" sz="1000" dirty="0"/>
              <a:t>Grands risques de difficulté ou d’ennui pour un événement ou contenu d’un niveau donné</a:t>
            </a:r>
          </a:p>
        </p:txBody>
      </p:sp>
      <p:sp>
        <p:nvSpPr>
          <p:cNvPr id="57" name="ZoneTexte 56">
            <a:extLst>
              <a:ext uri="{FF2B5EF4-FFF2-40B4-BE49-F238E27FC236}">
                <a16:creationId xmlns:a16="http://schemas.microsoft.com/office/drawing/2014/main" id="{C3F99FCB-EC1D-A2A9-5CEE-5D5910226FC4}"/>
              </a:ext>
            </a:extLst>
          </p:cNvPr>
          <p:cNvSpPr txBox="1"/>
          <p:nvPr/>
        </p:nvSpPr>
        <p:spPr>
          <a:xfrm>
            <a:off x="10784097" y="4028237"/>
            <a:ext cx="1269137" cy="784830"/>
          </a:xfrm>
          <a:prstGeom prst="rect">
            <a:avLst/>
          </a:prstGeom>
          <a:solidFill>
            <a:srgbClr val="FF7C80"/>
          </a:solidFill>
        </p:spPr>
        <p:txBody>
          <a:bodyPr wrap="square" anchor="ctr">
            <a:noAutofit/>
          </a:bodyPr>
          <a:lstStyle/>
          <a:p>
            <a:pPr algn="ctr"/>
            <a:r>
              <a:rPr lang="fr-FR" sz="1000" dirty="0"/>
              <a:t>Risques de divisions, de blessure d’ego pour les très compétents, de peur pour les débutants</a:t>
            </a:r>
          </a:p>
        </p:txBody>
      </p:sp>
      <p:sp>
        <p:nvSpPr>
          <p:cNvPr id="47" name="ZoneTexte 46">
            <a:extLst>
              <a:ext uri="{FF2B5EF4-FFF2-40B4-BE49-F238E27FC236}">
                <a16:creationId xmlns:a16="http://schemas.microsoft.com/office/drawing/2014/main" id="{DC34A362-59C6-88E4-D742-DBB9FF55CC81}"/>
              </a:ext>
            </a:extLst>
          </p:cNvPr>
          <p:cNvSpPr txBox="1"/>
          <p:nvPr/>
        </p:nvSpPr>
        <p:spPr>
          <a:xfrm>
            <a:off x="188984" y="2615642"/>
            <a:ext cx="1269137" cy="784830"/>
          </a:xfrm>
          <a:prstGeom prst="rect">
            <a:avLst/>
          </a:prstGeom>
          <a:solidFill>
            <a:srgbClr val="54FFB3"/>
          </a:solidFill>
        </p:spPr>
        <p:txBody>
          <a:bodyPr wrap="square" anchor="ctr">
            <a:noAutofit/>
          </a:bodyPr>
          <a:lstStyle/>
          <a:p>
            <a:pPr algn="ctr"/>
            <a:r>
              <a:rPr lang="fr-FR" sz="1000" dirty="0"/>
              <a:t>Opportunités de mutualiser des moments et contenus d’apprentissage</a:t>
            </a:r>
          </a:p>
        </p:txBody>
      </p:sp>
      <p:sp>
        <p:nvSpPr>
          <p:cNvPr id="48" name="ZoneTexte 47">
            <a:extLst>
              <a:ext uri="{FF2B5EF4-FFF2-40B4-BE49-F238E27FC236}">
                <a16:creationId xmlns:a16="http://schemas.microsoft.com/office/drawing/2014/main" id="{23CCAFA3-5C21-BFE3-0E41-DFA6DA336BC2}"/>
              </a:ext>
            </a:extLst>
          </p:cNvPr>
          <p:cNvSpPr txBox="1"/>
          <p:nvPr/>
        </p:nvSpPr>
        <p:spPr>
          <a:xfrm>
            <a:off x="1517358" y="2610735"/>
            <a:ext cx="1269137" cy="784830"/>
          </a:xfrm>
          <a:prstGeom prst="rect">
            <a:avLst/>
          </a:prstGeom>
          <a:solidFill>
            <a:srgbClr val="54FFB3"/>
          </a:solidFill>
        </p:spPr>
        <p:txBody>
          <a:bodyPr wrap="square" anchor="ctr">
            <a:noAutofit/>
          </a:bodyPr>
          <a:lstStyle/>
          <a:p>
            <a:pPr algn="ctr"/>
            <a:r>
              <a:rPr lang="fr-FR" sz="1000" dirty="0"/>
              <a:t>Sentiment de ressemblance sur les vécus sur la compétence en question</a:t>
            </a:r>
          </a:p>
        </p:txBody>
      </p:sp>
      <p:sp>
        <p:nvSpPr>
          <p:cNvPr id="49" name="ZoneTexte 48">
            <a:extLst>
              <a:ext uri="{FF2B5EF4-FFF2-40B4-BE49-F238E27FC236}">
                <a16:creationId xmlns:a16="http://schemas.microsoft.com/office/drawing/2014/main" id="{3F2E95BE-06A0-37E0-F90F-8F8361C86BDE}"/>
              </a:ext>
            </a:extLst>
          </p:cNvPr>
          <p:cNvSpPr txBox="1"/>
          <p:nvPr/>
        </p:nvSpPr>
        <p:spPr>
          <a:xfrm>
            <a:off x="18898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Les membres sont beaucoup de débutants curieux sur la compétence XYZ</a:t>
            </a:r>
          </a:p>
        </p:txBody>
      </p:sp>
      <p:sp>
        <p:nvSpPr>
          <p:cNvPr id="50" name="ZoneTexte 49">
            <a:extLst>
              <a:ext uri="{FF2B5EF4-FFF2-40B4-BE49-F238E27FC236}">
                <a16:creationId xmlns:a16="http://schemas.microsoft.com/office/drawing/2014/main" id="{5E58DCA4-5AC7-6788-6B25-3FEACFE32C39}"/>
              </a:ext>
            </a:extLst>
          </p:cNvPr>
          <p:cNvSpPr txBox="1"/>
          <p:nvPr/>
        </p:nvSpPr>
        <p:spPr>
          <a:xfrm>
            <a:off x="151735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Les membres sont beaucoup des experts de la compétence XYZ</a:t>
            </a:r>
          </a:p>
        </p:txBody>
      </p:sp>
      <p:sp>
        <p:nvSpPr>
          <p:cNvPr id="58" name="ZoneTexte 57">
            <a:extLst>
              <a:ext uri="{FF2B5EF4-FFF2-40B4-BE49-F238E27FC236}">
                <a16:creationId xmlns:a16="http://schemas.microsoft.com/office/drawing/2014/main" id="{E8DBD87D-6BAB-7936-0AF0-5DC01799F47F}"/>
              </a:ext>
            </a:extLst>
          </p:cNvPr>
          <p:cNvSpPr txBox="1"/>
          <p:nvPr/>
        </p:nvSpPr>
        <p:spPr>
          <a:xfrm>
            <a:off x="188984" y="4068990"/>
            <a:ext cx="1269137" cy="784830"/>
          </a:xfrm>
          <a:prstGeom prst="rect">
            <a:avLst/>
          </a:prstGeom>
          <a:solidFill>
            <a:srgbClr val="FF7C80"/>
          </a:solidFill>
        </p:spPr>
        <p:txBody>
          <a:bodyPr wrap="square" anchor="ctr">
            <a:noAutofit/>
          </a:bodyPr>
          <a:lstStyle/>
          <a:p>
            <a:pPr algn="ctr"/>
            <a:r>
              <a:rPr lang="fr-FR" sz="1000" dirty="0"/>
              <a:t>Risque de perte d’intérêt pour les minorités qui ne sont pas au niveau des autres</a:t>
            </a:r>
          </a:p>
        </p:txBody>
      </p:sp>
      <p:sp>
        <p:nvSpPr>
          <p:cNvPr id="59" name="ZoneTexte 58">
            <a:extLst>
              <a:ext uri="{FF2B5EF4-FFF2-40B4-BE49-F238E27FC236}">
                <a16:creationId xmlns:a16="http://schemas.microsoft.com/office/drawing/2014/main" id="{A20FAF36-4079-42D6-19D2-83094F4D7B7B}"/>
              </a:ext>
            </a:extLst>
          </p:cNvPr>
          <p:cNvSpPr txBox="1"/>
          <p:nvPr/>
        </p:nvSpPr>
        <p:spPr>
          <a:xfrm>
            <a:off x="1517358" y="4068990"/>
            <a:ext cx="1269137" cy="784830"/>
          </a:xfrm>
          <a:prstGeom prst="rect">
            <a:avLst/>
          </a:prstGeom>
          <a:solidFill>
            <a:srgbClr val="FF7C80"/>
          </a:solidFill>
        </p:spPr>
        <p:txBody>
          <a:bodyPr wrap="square" anchor="ctr">
            <a:noAutofit/>
          </a:bodyPr>
          <a:lstStyle/>
          <a:p>
            <a:pPr algn="ctr"/>
            <a:r>
              <a:rPr lang="fr-FR" sz="1000" dirty="0"/>
              <a:t>Risque de questionnement sur l’utilité de la Communauté en l’absence d’avancés</a:t>
            </a:r>
          </a:p>
        </p:txBody>
      </p:sp>
      <p:sp>
        <p:nvSpPr>
          <p:cNvPr id="63" name="ZoneTexte 62">
            <a:extLst>
              <a:ext uri="{FF2B5EF4-FFF2-40B4-BE49-F238E27FC236}">
                <a16:creationId xmlns:a16="http://schemas.microsoft.com/office/drawing/2014/main" id="{B3C45B2F-4E6B-531F-FD0F-FE9F818B516C}"/>
              </a:ext>
            </a:extLst>
          </p:cNvPr>
          <p:cNvSpPr txBox="1"/>
          <p:nvPr/>
        </p:nvSpPr>
        <p:spPr>
          <a:xfrm>
            <a:off x="6598378" y="3232101"/>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 de mentoring, de sous-groupes thématiques menés par un membre, …</a:t>
            </a:r>
          </a:p>
        </p:txBody>
      </p:sp>
      <p:sp>
        <p:nvSpPr>
          <p:cNvPr id="64" name="ZoneTexte 63">
            <a:extLst>
              <a:ext uri="{FF2B5EF4-FFF2-40B4-BE49-F238E27FC236}">
                <a16:creationId xmlns:a16="http://schemas.microsoft.com/office/drawing/2014/main" id="{83BAB155-5B1E-1E19-9244-F6584A0E7C4C}"/>
              </a:ext>
            </a:extLst>
          </p:cNvPr>
          <p:cNvSpPr txBox="1"/>
          <p:nvPr/>
        </p:nvSpPr>
        <p:spPr>
          <a:xfrm>
            <a:off x="7933966" y="3232101"/>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⚙️Systèmes de niveaux basés sur le niveau de compétence, </a:t>
            </a:r>
          </a:p>
        </p:txBody>
      </p:sp>
      <p:sp>
        <p:nvSpPr>
          <p:cNvPr id="65" name="ZoneTexte 64">
            <a:extLst>
              <a:ext uri="{FF2B5EF4-FFF2-40B4-BE49-F238E27FC236}">
                <a16:creationId xmlns:a16="http://schemas.microsoft.com/office/drawing/2014/main" id="{9CEDFF7D-6AC6-BA35-6F6B-2FC31964F5E4}"/>
              </a:ext>
            </a:extLst>
          </p:cNvPr>
          <p:cNvSpPr txBox="1"/>
          <p:nvPr/>
        </p:nvSpPr>
        <p:spPr>
          <a:xfrm>
            <a:off x="3059144" y="3232101"/>
            <a:ext cx="1269137" cy="784830"/>
          </a:xfrm>
          <a:prstGeom prst="rect">
            <a:avLst/>
          </a:prstGeom>
          <a:solidFill>
            <a:schemeClr val="bg1">
              <a:lumMod val="95000"/>
            </a:schemeClr>
          </a:solidFill>
          <a:ln>
            <a:noFill/>
          </a:ln>
        </p:spPr>
        <p:txBody>
          <a:bodyPr wrap="square" anchor="ctr">
            <a:noAutofit/>
          </a:bodyPr>
          <a:lstStyle/>
          <a:p>
            <a:pPr algn="ctr"/>
            <a:r>
              <a:rPr lang="fr-FR" sz="1000" dirty="0"/>
              <a:t>⚙️📅✍️</a:t>
            </a:r>
          </a:p>
          <a:p>
            <a:pPr algn="ctr"/>
            <a:r>
              <a:rPr lang="fr-FR" sz="1000" dirty="0"/>
              <a:t>Préparation collective de certifications ou de diplômes</a:t>
            </a:r>
          </a:p>
        </p:txBody>
      </p:sp>
      <p:sp>
        <p:nvSpPr>
          <p:cNvPr id="66" name="ZoneTexte 65">
            <a:extLst>
              <a:ext uri="{FF2B5EF4-FFF2-40B4-BE49-F238E27FC236}">
                <a16:creationId xmlns:a16="http://schemas.microsoft.com/office/drawing/2014/main" id="{8CC4ADAA-464E-E1C2-952F-C19369CC1F29}"/>
              </a:ext>
            </a:extLst>
          </p:cNvPr>
          <p:cNvSpPr txBox="1"/>
          <p:nvPr/>
        </p:nvSpPr>
        <p:spPr>
          <a:xfrm>
            <a:off x="4394732" y="3232101"/>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⚙️Systèmes de binôme de motivation pour l’apprentissage</a:t>
            </a:r>
          </a:p>
        </p:txBody>
      </p:sp>
      <p:sp>
        <p:nvSpPr>
          <p:cNvPr id="67" name="ZoneTexte 66">
            <a:extLst>
              <a:ext uri="{FF2B5EF4-FFF2-40B4-BE49-F238E27FC236}">
                <a16:creationId xmlns:a16="http://schemas.microsoft.com/office/drawing/2014/main" id="{DD029A11-3429-8E84-916B-30CD26142C5A}"/>
              </a:ext>
            </a:extLst>
          </p:cNvPr>
          <p:cNvSpPr txBox="1"/>
          <p:nvPr/>
        </p:nvSpPr>
        <p:spPr>
          <a:xfrm>
            <a:off x="3059144" y="4098353"/>
            <a:ext cx="1269137" cy="784830"/>
          </a:xfrm>
          <a:prstGeom prst="rect">
            <a:avLst/>
          </a:prstGeom>
          <a:solidFill>
            <a:schemeClr val="bg1">
              <a:lumMod val="95000"/>
            </a:schemeClr>
          </a:solidFill>
          <a:ln>
            <a:noFill/>
          </a:ln>
        </p:spPr>
        <p:txBody>
          <a:bodyPr wrap="square" anchor="ctr">
            <a:noAutofit/>
          </a:bodyPr>
          <a:lstStyle/>
          <a:p>
            <a:pPr algn="ctr"/>
            <a:r>
              <a:rPr lang="fr-FR" sz="1000" dirty="0"/>
              <a:t>📅Sessions d’apprentissages entre pairs</a:t>
            </a:r>
          </a:p>
        </p:txBody>
      </p:sp>
      <p:sp>
        <p:nvSpPr>
          <p:cNvPr id="68" name="ZoneTexte 67">
            <a:extLst>
              <a:ext uri="{FF2B5EF4-FFF2-40B4-BE49-F238E27FC236}">
                <a16:creationId xmlns:a16="http://schemas.microsoft.com/office/drawing/2014/main" id="{10D7FC4A-C09B-6F0A-53D1-985DCE5033AC}"/>
              </a:ext>
            </a:extLst>
          </p:cNvPr>
          <p:cNvSpPr txBox="1"/>
          <p:nvPr/>
        </p:nvSpPr>
        <p:spPr>
          <a:xfrm>
            <a:off x="4394732" y="4098353"/>
            <a:ext cx="1269137" cy="784830"/>
          </a:xfrm>
          <a:prstGeom prst="rect">
            <a:avLst/>
          </a:prstGeom>
          <a:solidFill>
            <a:schemeClr val="bg1">
              <a:lumMod val="95000"/>
            </a:schemeClr>
          </a:solidFill>
          <a:ln>
            <a:noFill/>
          </a:ln>
        </p:spPr>
        <p:txBody>
          <a:bodyPr wrap="square" anchor="ctr">
            <a:noAutofit/>
          </a:bodyPr>
          <a:lstStyle/>
          <a:p>
            <a:pPr algn="ctr"/>
            <a:r>
              <a:rPr lang="fr-FR" sz="1000" dirty="0"/>
              <a:t>📅Sessions de </a:t>
            </a:r>
            <a:r>
              <a:rPr lang="fr-FR" sz="1000" dirty="0" err="1"/>
              <a:t>co</a:t>
            </a:r>
            <a:r>
              <a:rPr lang="fr-FR" sz="1000" dirty="0"/>
              <a:t>-consommation de contenus (regarder une vidéo ensemble, etc.)</a:t>
            </a:r>
          </a:p>
        </p:txBody>
      </p:sp>
      <p:sp>
        <p:nvSpPr>
          <p:cNvPr id="69" name="ZoneTexte 68">
            <a:extLst>
              <a:ext uri="{FF2B5EF4-FFF2-40B4-BE49-F238E27FC236}">
                <a16:creationId xmlns:a16="http://schemas.microsoft.com/office/drawing/2014/main" id="{8C6F9452-BEC4-BB98-F766-F244B0F724EB}"/>
              </a:ext>
            </a:extLst>
          </p:cNvPr>
          <p:cNvSpPr txBox="1"/>
          <p:nvPr/>
        </p:nvSpPr>
        <p:spPr>
          <a:xfrm>
            <a:off x="6598378" y="4098353"/>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 de clinique (guichet d’assistance par des membres avancés)</a:t>
            </a:r>
          </a:p>
        </p:txBody>
      </p:sp>
      <p:sp>
        <p:nvSpPr>
          <p:cNvPr id="70" name="ZoneTexte 69">
            <a:extLst>
              <a:ext uri="{FF2B5EF4-FFF2-40B4-BE49-F238E27FC236}">
                <a16:creationId xmlns:a16="http://schemas.microsoft.com/office/drawing/2014/main" id="{ACA08B18-865B-5DFE-B4F7-1D37332DB5B0}"/>
              </a:ext>
            </a:extLst>
          </p:cNvPr>
          <p:cNvSpPr txBox="1"/>
          <p:nvPr/>
        </p:nvSpPr>
        <p:spPr>
          <a:xfrm>
            <a:off x="7933966" y="4098353"/>
            <a:ext cx="1269137" cy="784830"/>
          </a:xfrm>
          <a:prstGeom prst="rect">
            <a:avLst/>
          </a:prstGeom>
          <a:solidFill>
            <a:schemeClr val="bg1">
              <a:lumMod val="95000"/>
            </a:schemeClr>
          </a:solidFill>
          <a:ln>
            <a:noFill/>
          </a:ln>
        </p:spPr>
        <p:txBody>
          <a:bodyPr wrap="square" anchor="ctr">
            <a:noAutofit/>
          </a:bodyPr>
          <a:lstStyle/>
          <a:p>
            <a:pPr algn="ctr"/>
            <a:r>
              <a:rPr lang="fr-FR" sz="1000" dirty="0"/>
              <a:t>✍️#OpenSeriousPath sur la compétence pour se positionner sur l’échelle de transmission</a:t>
            </a:r>
          </a:p>
        </p:txBody>
      </p:sp>
      <p:sp>
        <p:nvSpPr>
          <p:cNvPr id="71" name="ZoneTexte 70">
            <a:extLst>
              <a:ext uri="{FF2B5EF4-FFF2-40B4-BE49-F238E27FC236}">
                <a16:creationId xmlns:a16="http://schemas.microsoft.com/office/drawing/2014/main" id="{9F4560C2-2DBD-32BF-7C37-45CD1608A3A3}"/>
              </a:ext>
            </a:extLst>
          </p:cNvPr>
          <p:cNvSpPr txBox="1"/>
          <p:nvPr/>
        </p:nvSpPr>
        <p:spPr>
          <a:xfrm>
            <a:off x="3059144" y="4964605"/>
            <a:ext cx="1269137" cy="784830"/>
          </a:xfrm>
          <a:prstGeom prst="rect">
            <a:avLst/>
          </a:prstGeom>
          <a:solidFill>
            <a:schemeClr val="bg1">
              <a:lumMod val="95000"/>
            </a:schemeClr>
          </a:solidFill>
          <a:ln>
            <a:noFill/>
          </a:ln>
        </p:spPr>
        <p:txBody>
          <a:bodyPr wrap="square" anchor="ctr">
            <a:noAutofit/>
          </a:bodyPr>
          <a:lstStyle/>
          <a:p>
            <a:pPr algn="ctr"/>
            <a:r>
              <a:rPr lang="fr-FR" sz="1000" dirty="0"/>
              <a:t>⚙️Acquisition mutualisée de ressources (documentations, interventions…)</a:t>
            </a:r>
          </a:p>
        </p:txBody>
      </p:sp>
      <p:sp>
        <p:nvSpPr>
          <p:cNvPr id="72" name="ZoneTexte 71">
            <a:extLst>
              <a:ext uri="{FF2B5EF4-FFF2-40B4-BE49-F238E27FC236}">
                <a16:creationId xmlns:a16="http://schemas.microsoft.com/office/drawing/2014/main" id="{AEB0CD5C-1F76-E8C3-45D2-C298024B4C84}"/>
              </a:ext>
            </a:extLst>
          </p:cNvPr>
          <p:cNvSpPr txBox="1"/>
          <p:nvPr/>
        </p:nvSpPr>
        <p:spPr>
          <a:xfrm>
            <a:off x="4394732" y="4964605"/>
            <a:ext cx="1269137" cy="784830"/>
          </a:xfrm>
          <a:prstGeom prst="rect">
            <a:avLst/>
          </a:prstGeom>
          <a:solidFill>
            <a:schemeClr val="bg1">
              <a:lumMod val="95000"/>
            </a:schemeClr>
          </a:solidFill>
          <a:ln>
            <a:noFill/>
          </a:ln>
        </p:spPr>
        <p:txBody>
          <a:bodyPr wrap="square" anchor="ctr">
            <a:noAutofit/>
          </a:bodyPr>
          <a:lstStyle/>
          <a:p>
            <a:pPr algn="ctr"/>
            <a:r>
              <a:rPr lang="fr-FR" sz="1000" dirty="0"/>
              <a:t>⚙️Club de lecture</a:t>
            </a:r>
          </a:p>
        </p:txBody>
      </p:sp>
      <p:sp>
        <p:nvSpPr>
          <p:cNvPr id="73" name="ZoneTexte 72">
            <a:extLst>
              <a:ext uri="{FF2B5EF4-FFF2-40B4-BE49-F238E27FC236}">
                <a16:creationId xmlns:a16="http://schemas.microsoft.com/office/drawing/2014/main" id="{C319A0B8-2856-49C5-EB89-376FB1AE0677}"/>
              </a:ext>
            </a:extLst>
          </p:cNvPr>
          <p:cNvSpPr txBox="1"/>
          <p:nvPr/>
        </p:nvSpPr>
        <p:spPr>
          <a:xfrm>
            <a:off x="3059144" y="5830857"/>
            <a:ext cx="1269137" cy="784830"/>
          </a:xfrm>
          <a:prstGeom prst="rect">
            <a:avLst/>
          </a:prstGeom>
          <a:solidFill>
            <a:schemeClr val="bg1">
              <a:lumMod val="95000"/>
            </a:schemeClr>
          </a:solidFill>
          <a:ln>
            <a:noFill/>
          </a:ln>
        </p:spPr>
        <p:txBody>
          <a:bodyPr wrap="square" anchor="ctr">
            <a:noAutofit/>
          </a:bodyPr>
          <a:lstStyle/>
          <a:p>
            <a:pPr algn="ctr"/>
            <a:r>
              <a:rPr lang="fr-FR" sz="1000" dirty="0"/>
              <a:t>⚙️+📅Calibrage des événements pour le niveau de la Communauté</a:t>
            </a:r>
          </a:p>
        </p:txBody>
      </p:sp>
      <p:sp>
        <p:nvSpPr>
          <p:cNvPr id="74" name="ZoneTexte 73">
            <a:extLst>
              <a:ext uri="{FF2B5EF4-FFF2-40B4-BE49-F238E27FC236}">
                <a16:creationId xmlns:a16="http://schemas.microsoft.com/office/drawing/2014/main" id="{32D459E2-BAAE-D322-3A94-CDCD45DB2A0C}"/>
              </a:ext>
            </a:extLst>
          </p:cNvPr>
          <p:cNvSpPr txBox="1"/>
          <p:nvPr/>
        </p:nvSpPr>
        <p:spPr>
          <a:xfrm>
            <a:off x="4394732" y="5830857"/>
            <a:ext cx="1269137" cy="784830"/>
          </a:xfrm>
          <a:prstGeom prst="rect">
            <a:avLst/>
          </a:prstGeom>
          <a:solidFill>
            <a:schemeClr val="bg1">
              <a:lumMod val="95000"/>
            </a:schemeClr>
          </a:solidFill>
          <a:ln>
            <a:noFill/>
          </a:ln>
        </p:spPr>
        <p:txBody>
          <a:bodyPr wrap="square" anchor="ctr">
            <a:noAutofit/>
          </a:bodyPr>
          <a:lstStyle/>
          <a:p>
            <a:pPr algn="ctr"/>
            <a:r>
              <a:rPr lang="fr-FR" sz="1000" dirty="0"/>
              <a:t>⚙️+✍️ Calibrage du des contenus pour le niveau de la Communauté</a:t>
            </a:r>
          </a:p>
        </p:txBody>
      </p:sp>
      <p:sp>
        <p:nvSpPr>
          <p:cNvPr id="75" name="ZoneTexte 74">
            <a:extLst>
              <a:ext uri="{FF2B5EF4-FFF2-40B4-BE49-F238E27FC236}">
                <a16:creationId xmlns:a16="http://schemas.microsoft.com/office/drawing/2014/main" id="{9D143AFA-1BB6-21E8-8111-AF09756FC09A}"/>
              </a:ext>
            </a:extLst>
          </p:cNvPr>
          <p:cNvSpPr txBox="1"/>
          <p:nvPr/>
        </p:nvSpPr>
        <p:spPr>
          <a:xfrm>
            <a:off x="6598378" y="4964605"/>
            <a:ext cx="1269137" cy="784830"/>
          </a:xfrm>
          <a:prstGeom prst="rect">
            <a:avLst/>
          </a:prstGeom>
          <a:solidFill>
            <a:schemeClr val="bg1">
              <a:lumMod val="95000"/>
            </a:schemeClr>
          </a:solidFill>
          <a:ln>
            <a:noFill/>
          </a:ln>
        </p:spPr>
        <p:txBody>
          <a:bodyPr wrap="square" anchor="ctr">
            <a:noAutofit/>
          </a:bodyPr>
          <a:lstStyle/>
          <a:p>
            <a:pPr algn="ctr"/>
            <a:r>
              <a:rPr lang="fr-FR" sz="1000" dirty="0"/>
              <a:t>⚙️Forum d’entraides, outil d’interaction pour assistance mutuelle</a:t>
            </a:r>
          </a:p>
        </p:txBody>
      </p:sp>
      <p:sp>
        <p:nvSpPr>
          <p:cNvPr id="76" name="ZoneTexte 75">
            <a:extLst>
              <a:ext uri="{FF2B5EF4-FFF2-40B4-BE49-F238E27FC236}">
                <a16:creationId xmlns:a16="http://schemas.microsoft.com/office/drawing/2014/main" id="{EC3F5E03-8182-71DA-13E4-EE851BBA5D45}"/>
              </a:ext>
            </a:extLst>
          </p:cNvPr>
          <p:cNvSpPr txBox="1"/>
          <p:nvPr/>
        </p:nvSpPr>
        <p:spPr>
          <a:xfrm>
            <a:off x="7933966" y="4964605"/>
            <a:ext cx="1269137" cy="784830"/>
          </a:xfrm>
          <a:prstGeom prst="rect">
            <a:avLst/>
          </a:prstGeom>
          <a:solidFill>
            <a:schemeClr val="bg1">
              <a:lumMod val="95000"/>
            </a:schemeClr>
          </a:solidFill>
          <a:ln>
            <a:noFill/>
          </a:ln>
        </p:spPr>
        <p:txBody>
          <a:bodyPr wrap="square" anchor="ctr">
            <a:noAutofit/>
          </a:bodyPr>
          <a:lstStyle/>
          <a:p>
            <a:pPr algn="ctr"/>
            <a:r>
              <a:rPr lang="fr-FR" sz="1000" dirty="0"/>
              <a:t>⚙️📅✍️Sous-groupes de niveau avec leurs propres événements et/ou contenus adaptés</a:t>
            </a:r>
          </a:p>
        </p:txBody>
      </p:sp>
      <p:sp>
        <p:nvSpPr>
          <p:cNvPr id="77" name="ZoneTexte 76">
            <a:extLst>
              <a:ext uri="{FF2B5EF4-FFF2-40B4-BE49-F238E27FC236}">
                <a16:creationId xmlns:a16="http://schemas.microsoft.com/office/drawing/2014/main" id="{C0320BE1-A2B7-8761-29D5-D09FEF522983}"/>
              </a:ext>
            </a:extLst>
          </p:cNvPr>
          <p:cNvSpPr txBox="1"/>
          <p:nvPr/>
        </p:nvSpPr>
        <p:spPr>
          <a:xfrm>
            <a:off x="6598378" y="5830857"/>
            <a:ext cx="1269137" cy="784830"/>
          </a:xfrm>
          <a:prstGeom prst="rect">
            <a:avLst/>
          </a:prstGeom>
          <a:solidFill>
            <a:schemeClr val="bg1">
              <a:lumMod val="95000"/>
            </a:schemeClr>
          </a:solidFill>
          <a:ln>
            <a:noFill/>
          </a:ln>
        </p:spPr>
        <p:txBody>
          <a:bodyPr wrap="square" anchor="ctr">
            <a:noAutofit/>
          </a:bodyPr>
          <a:lstStyle/>
          <a:p>
            <a:pPr algn="ctr"/>
            <a:r>
              <a:rPr lang="fr-FR" sz="1000" dirty="0"/>
              <a:t>⚙️✍️Documentation d’assistance et de support (FAQ)</a:t>
            </a:r>
          </a:p>
        </p:txBody>
      </p:sp>
      <p:sp>
        <p:nvSpPr>
          <p:cNvPr id="78" name="ZoneTexte 77">
            <a:extLst>
              <a:ext uri="{FF2B5EF4-FFF2-40B4-BE49-F238E27FC236}">
                <a16:creationId xmlns:a16="http://schemas.microsoft.com/office/drawing/2014/main" id="{6B00D713-AA47-9831-216C-5B6C61BD5815}"/>
              </a:ext>
            </a:extLst>
          </p:cNvPr>
          <p:cNvSpPr txBox="1"/>
          <p:nvPr/>
        </p:nvSpPr>
        <p:spPr>
          <a:xfrm>
            <a:off x="7933966" y="5830857"/>
            <a:ext cx="1269137" cy="784830"/>
          </a:xfrm>
          <a:prstGeom prst="rect">
            <a:avLst/>
          </a:prstGeom>
          <a:solidFill>
            <a:schemeClr val="bg1">
              <a:lumMod val="95000"/>
            </a:schemeClr>
          </a:solidFill>
          <a:ln>
            <a:noFill/>
          </a:ln>
        </p:spPr>
        <p:txBody>
          <a:bodyPr wrap="square" anchor="ctr">
            <a:noAutofit/>
          </a:bodyPr>
          <a:lstStyle/>
          <a:p>
            <a:pPr algn="ctr"/>
            <a:r>
              <a:rPr lang="fr-FR" sz="1000" dirty="0"/>
              <a:t>⚙️📅✍️Parcours pédagogiques avec différents points d’entrée selon le niveau</a:t>
            </a:r>
          </a:p>
        </p:txBody>
      </p:sp>
      <p:pic>
        <p:nvPicPr>
          <p:cNvPr id="55" name="Graphique 54" descr="Courir avec un remplissage uni">
            <a:extLst>
              <a:ext uri="{FF2B5EF4-FFF2-40B4-BE49-F238E27FC236}">
                <a16:creationId xmlns:a16="http://schemas.microsoft.com/office/drawing/2014/main" id="{C9C15014-1BEE-0BA7-1411-19E2CF8D107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961900" y="1626383"/>
            <a:ext cx="611345" cy="611345"/>
          </a:xfrm>
          <a:prstGeom prst="rect">
            <a:avLst/>
          </a:prstGeom>
        </p:spPr>
      </p:pic>
      <p:pic>
        <p:nvPicPr>
          <p:cNvPr id="61" name="Graphique 60" descr="Marcher avec un remplissage uni">
            <a:extLst>
              <a:ext uri="{FF2B5EF4-FFF2-40B4-BE49-F238E27FC236}">
                <a16:creationId xmlns:a16="http://schemas.microsoft.com/office/drawing/2014/main" id="{D4674E32-7301-913C-DA9E-F92EDAE3DB1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444316" y="1626384"/>
            <a:ext cx="611345" cy="611345"/>
          </a:xfrm>
          <a:prstGeom prst="rect">
            <a:avLst/>
          </a:prstGeom>
        </p:spPr>
      </p:pic>
      <p:pic>
        <p:nvPicPr>
          <p:cNvPr id="62" name="Graphique 61" descr="Marcher avec un remplissage uni">
            <a:extLst>
              <a:ext uri="{FF2B5EF4-FFF2-40B4-BE49-F238E27FC236}">
                <a16:creationId xmlns:a16="http://schemas.microsoft.com/office/drawing/2014/main" id="{AA15F8B7-D895-869F-4333-7C09C567BE3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901286" y="1866610"/>
            <a:ext cx="382220" cy="382220"/>
          </a:xfrm>
          <a:prstGeom prst="rect">
            <a:avLst/>
          </a:prstGeom>
        </p:spPr>
      </p:pic>
      <p:pic>
        <p:nvPicPr>
          <p:cNvPr id="79" name="Graphique 78" descr="Marcher avec un remplissage uni">
            <a:extLst>
              <a:ext uri="{FF2B5EF4-FFF2-40B4-BE49-F238E27FC236}">
                <a16:creationId xmlns:a16="http://schemas.microsoft.com/office/drawing/2014/main" id="{183089EE-7373-D51A-FCEC-85F0CDE14E4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77168" y="1866610"/>
            <a:ext cx="382220" cy="382220"/>
          </a:xfrm>
          <a:prstGeom prst="rect">
            <a:avLst/>
          </a:prstGeom>
        </p:spPr>
      </p:pic>
      <p:pic>
        <p:nvPicPr>
          <p:cNvPr id="80" name="Graphique 79" descr="Marcher avec un remplissage uni">
            <a:extLst>
              <a:ext uri="{FF2B5EF4-FFF2-40B4-BE49-F238E27FC236}">
                <a16:creationId xmlns:a16="http://schemas.microsoft.com/office/drawing/2014/main" id="{034549AA-52A2-89B8-92F7-660A42CC260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267672" y="1873136"/>
            <a:ext cx="382220" cy="382220"/>
          </a:xfrm>
          <a:prstGeom prst="rect">
            <a:avLst/>
          </a:prstGeom>
        </p:spPr>
      </p:pic>
    </p:spTree>
    <p:extLst>
      <p:ext uri="{BB962C8B-B14F-4D97-AF65-F5344CB8AC3E}">
        <p14:creationId xmlns:p14="http://schemas.microsoft.com/office/powerpoint/2010/main" val="4154304581"/>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lèche : double flèche horizontale 3">
            <a:extLst>
              <a:ext uri="{FF2B5EF4-FFF2-40B4-BE49-F238E27FC236}">
                <a16:creationId xmlns:a16="http://schemas.microsoft.com/office/drawing/2014/main" id="{56A64584-73D0-A23F-B100-D16C8D367879}"/>
              </a:ext>
            </a:extLst>
          </p:cNvPr>
          <p:cNvSpPr/>
          <p:nvPr/>
        </p:nvSpPr>
        <p:spPr>
          <a:xfrm>
            <a:off x="4712931" y="2544979"/>
            <a:ext cx="2675981" cy="296091"/>
          </a:xfrm>
          <a:prstGeom prst="lef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6" name="ZoneTexte 5">
            <a:extLst>
              <a:ext uri="{FF2B5EF4-FFF2-40B4-BE49-F238E27FC236}">
                <a16:creationId xmlns:a16="http://schemas.microsoft.com/office/drawing/2014/main" id="{2A5DB254-B882-DACC-8488-F541488CA514}"/>
              </a:ext>
            </a:extLst>
          </p:cNvPr>
          <p:cNvSpPr txBox="1"/>
          <p:nvPr/>
        </p:nvSpPr>
        <p:spPr>
          <a:xfrm>
            <a:off x="7388912" y="2360925"/>
            <a:ext cx="2020389" cy="738664"/>
          </a:xfrm>
          <a:prstGeom prst="rect">
            <a:avLst/>
          </a:prstGeom>
          <a:solidFill>
            <a:srgbClr val="ED7D31"/>
          </a:solidFill>
        </p:spPr>
        <p:txBody>
          <a:bodyPr wrap="square" anchor="ctr">
            <a:spAutoFit/>
          </a:bodyPr>
          <a:lstStyle/>
          <a:p>
            <a:pPr algn="ctr"/>
            <a:r>
              <a:rPr lang="fr-FR" sz="1400" dirty="0"/>
              <a:t>Différences fortes en termes de contextes du quotidien</a:t>
            </a:r>
          </a:p>
        </p:txBody>
      </p:sp>
      <p:sp>
        <p:nvSpPr>
          <p:cNvPr id="8" name="ZoneTexte 7">
            <a:extLst>
              <a:ext uri="{FF2B5EF4-FFF2-40B4-BE49-F238E27FC236}">
                <a16:creationId xmlns:a16="http://schemas.microsoft.com/office/drawing/2014/main" id="{79974BCF-0D29-8760-A403-924E1C4BCA9A}"/>
              </a:ext>
            </a:extLst>
          </p:cNvPr>
          <p:cNvSpPr txBox="1"/>
          <p:nvPr/>
        </p:nvSpPr>
        <p:spPr>
          <a:xfrm>
            <a:off x="2863339" y="2366807"/>
            <a:ext cx="1854925" cy="738664"/>
          </a:xfrm>
          <a:prstGeom prst="rect">
            <a:avLst/>
          </a:prstGeom>
          <a:solidFill>
            <a:srgbClr val="ED7D31"/>
          </a:solidFill>
        </p:spPr>
        <p:txBody>
          <a:bodyPr wrap="square" anchor="ctr">
            <a:spAutoFit/>
          </a:bodyPr>
          <a:lstStyle/>
          <a:p>
            <a:pPr algn="ctr"/>
            <a:r>
              <a:rPr lang="fr-FR" sz="1400" dirty="0"/>
              <a:t>Similarités fortes en termes de contextes du quotidien</a:t>
            </a:r>
          </a:p>
        </p:txBody>
      </p:sp>
      <p:sp>
        <p:nvSpPr>
          <p:cNvPr id="51" name="ZoneTexte 50">
            <a:extLst>
              <a:ext uri="{FF2B5EF4-FFF2-40B4-BE49-F238E27FC236}">
                <a16:creationId xmlns:a16="http://schemas.microsoft.com/office/drawing/2014/main" id="{28321992-7F2B-D21E-2E33-FD96A71C53F9}"/>
              </a:ext>
            </a:extLst>
          </p:cNvPr>
          <p:cNvSpPr txBox="1"/>
          <p:nvPr/>
        </p:nvSpPr>
        <p:spPr>
          <a:xfrm>
            <a:off x="9468538" y="2625456"/>
            <a:ext cx="1269137" cy="784830"/>
          </a:xfrm>
          <a:prstGeom prst="rect">
            <a:avLst/>
          </a:prstGeom>
          <a:solidFill>
            <a:srgbClr val="54FFB3"/>
          </a:solidFill>
        </p:spPr>
        <p:txBody>
          <a:bodyPr wrap="square" anchor="ctr">
            <a:noAutofit/>
          </a:bodyPr>
          <a:lstStyle/>
          <a:p>
            <a:pPr algn="ctr"/>
            <a:r>
              <a:rPr lang="fr-FR" sz="1000" dirty="0"/>
              <a:t>Opportunités de prendre beaucoup de recul par l’interaction avec les autres</a:t>
            </a:r>
          </a:p>
        </p:txBody>
      </p:sp>
      <p:sp>
        <p:nvSpPr>
          <p:cNvPr id="52" name="ZoneTexte 51">
            <a:extLst>
              <a:ext uri="{FF2B5EF4-FFF2-40B4-BE49-F238E27FC236}">
                <a16:creationId xmlns:a16="http://schemas.microsoft.com/office/drawing/2014/main" id="{843A05F4-B41A-4694-38A4-297CBD0F4F10}"/>
              </a:ext>
            </a:extLst>
          </p:cNvPr>
          <p:cNvSpPr txBox="1"/>
          <p:nvPr/>
        </p:nvSpPr>
        <p:spPr>
          <a:xfrm>
            <a:off x="10796912" y="2620549"/>
            <a:ext cx="1269137" cy="784830"/>
          </a:xfrm>
          <a:prstGeom prst="rect">
            <a:avLst/>
          </a:prstGeom>
          <a:solidFill>
            <a:srgbClr val="54FFB3"/>
          </a:solidFill>
        </p:spPr>
        <p:txBody>
          <a:bodyPr wrap="square" anchor="ctr">
            <a:noAutofit/>
          </a:bodyPr>
          <a:lstStyle/>
          <a:p>
            <a:pPr algn="ctr"/>
            <a:r>
              <a:rPr lang="fr-FR" sz="1000" dirty="0"/>
              <a:t>Opportunités de créer, vivre et transmettre des connaissances de grande portée</a:t>
            </a:r>
          </a:p>
        </p:txBody>
      </p:sp>
      <p:sp>
        <p:nvSpPr>
          <p:cNvPr id="53" name="ZoneTexte 52">
            <a:extLst>
              <a:ext uri="{FF2B5EF4-FFF2-40B4-BE49-F238E27FC236}">
                <a16:creationId xmlns:a16="http://schemas.microsoft.com/office/drawing/2014/main" id="{3F5D9FC4-086E-94A7-DB1C-1B042586C6EC}"/>
              </a:ext>
            </a:extLst>
          </p:cNvPr>
          <p:cNvSpPr txBox="1"/>
          <p:nvPr/>
        </p:nvSpPr>
        <p:spPr>
          <a:xfrm>
            <a:off x="945572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Membres chacun dans des équipes à différentes maturités et différentes pratiques</a:t>
            </a:r>
          </a:p>
        </p:txBody>
      </p:sp>
      <p:sp>
        <p:nvSpPr>
          <p:cNvPr id="54" name="ZoneTexte 53">
            <a:extLst>
              <a:ext uri="{FF2B5EF4-FFF2-40B4-BE49-F238E27FC236}">
                <a16:creationId xmlns:a16="http://schemas.microsoft.com/office/drawing/2014/main" id="{78DE3FA2-7181-D580-DC2B-7EEBA634F374}"/>
              </a:ext>
            </a:extLst>
          </p:cNvPr>
          <p:cNvSpPr txBox="1"/>
          <p:nvPr/>
        </p:nvSpPr>
        <p:spPr>
          <a:xfrm>
            <a:off x="1078409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transverse à l’échelle de toute l’entreprise, avec membres disparates</a:t>
            </a:r>
          </a:p>
        </p:txBody>
      </p:sp>
      <p:sp>
        <p:nvSpPr>
          <p:cNvPr id="56" name="ZoneTexte 55">
            <a:extLst>
              <a:ext uri="{FF2B5EF4-FFF2-40B4-BE49-F238E27FC236}">
                <a16:creationId xmlns:a16="http://schemas.microsoft.com/office/drawing/2014/main" id="{9E1201AC-5400-12CD-67FE-66A1CAA3551D}"/>
              </a:ext>
            </a:extLst>
          </p:cNvPr>
          <p:cNvSpPr txBox="1"/>
          <p:nvPr/>
        </p:nvSpPr>
        <p:spPr>
          <a:xfrm>
            <a:off x="9455723" y="4028237"/>
            <a:ext cx="1269137" cy="784830"/>
          </a:xfrm>
          <a:prstGeom prst="rect">
            <a:avLst/>
          </a:prstGeom>
          <a:solidFill>
            <a:srgbClr val="FF7C80"/>
          </a:solidFill>
        </p:spPr>
        <p:txBody>
          <a:bodyPr wrap="square" anchor="ctr">
            <a:noAutofit/>
          </a:bodyPr>
          <a:lstStyle/>
          <a:p>
            <a:pPr algn="ctr"/>
            <a:r>
              <a:rPr lang="fr-FR" sz="1000" dirty="0"/>
              <a:t>Nécessite plus de temps et d’efforts pour se retrouver et s’établir</a:t>
            </a:r>
          </a:p>
        </p:txBody>
      </p:sp>
      <p:sp>
        <p:nvSpPr>
          <p:cNvPr id="57" name="ZoneTexte 56">
            <a:extLst>
              <a:ext uri="{FF2B5EF4-FFF2-40B4-BE49-F238E27FC236}">
                <a16:creationId xmlns:a16="http://schemas.microsoft.com/office/drawing/2014/main" id="{C3F99FCB-EC1D-A2A9-5CEE-5D5910226FC4}"/>
              </a:ext>
            </a:extLst>
          </p:cNvPr>
          <p:cNvSpPr txBox="1"/>
          <p:nvPr/>
        </p:nvSpPr>
        <p:spPr>
          <a:xfrm>
            <a:off x="10784097" y="4028237"/>
            <a:ext cx="1269137" cy="784830"/>
          </a:xfrm>
          <a:prstGeom prst="rect">
            <a:avLst/>
          </a:prstGeom>
          <a:solidFill>
            <a:srgbClr val="FF7C80"/>
          </a:solidFill>
        </p:spPr>
        <p:txBody>
          <a:bodyPr wrap="square" anchor="ctr">
            <a:noAutofit/>
          </a:bodyPr>
          <a:lstStyle/>
          <a:p>
            <a:pPr algn="ctr"/>
            <a:r>
              <a:rPr lang="fr-FR" sz="1000" dirty="0"/>
              <a:t>Risque de manque d’applicabilité des recommandations venant des autres membres</a:t>
            </a:r>
          </a:p>
        </p:txBody>
      </p:sp>
      <p:sp>
        <p:nvSpPr>
          <p:cNvPr id="47" name="ZoneTexte 46">
            <a:extLst>
              <a:ext uri="{FF2B5EF4-FFF2-40B4-BE49-F238E27FC236}">
                <a16:creationId xmlns:a16="http://schemas.microsoft.com/office/drawing/2014/main" id="{DC34A362-59C6-88E4-D742-DBB9FF55CC81}"/>
              </a:ext>
            </a:extLst>
          </p:cNvPr>
          <p:cNvSpPr txBox="1"/>
          <p:nvPr/>
        </p:nvSpPr>
        <p:spPr>
          <a:xfrm>
            <a:off x="188984" y="2615642"/>
            <a:ext cx="1269137" cy="784830"/>
          </a:xfrm>
          <a:prstGeom prst="rect">
            <a:avLst/>
          </a:prstGeom>
          <a:solidFill>
            <a:srgbClr val="54FFB3"/>
          </a:solidFill>
        </p:spPr>
        <p:txBody>
          <a:bodyPr wrap="square" anchor="ctr">
            <a:noAutofit/>
          </a:bodyPr>
          <a:lstStyle/>
          <a:p>
            <a:pPr algn="ctr"/>
            <a:r>
              <a:rPr lang="fr-FR" sz="1000" dirty="0"/>
              <a:t>Opportunités de creuser ou d’améliorer (intervenir sur) le contexte commun</a:t>
            </a:r>
          </a:p>
        </p:txBody>
      </p:sp>
      <p:sp>
        <p:nvSpPr>
          <p:cNvPr id="48" name="ZoneTexte 47">
            <a:extLst>
              <a:ext uri="{FF2B5EF4-FFF2-40B4-BE49-F238E27FC236}">
                <a16:creationId xmlns:a16="http://schemas.microsoft.com/office/drawing/2014/main" id="{23CCAFA3-5C21-BFE3-0E41-DFA6DA336BC2}"/>
              </a:ext>
            </a:extLst>
          </p:cNvPr>
          <p:cNvSpPr txBox="1"/>
          <p:nvPr/>
        </p:nvSpPr>
        <p:spPr>
          <a:xfrm>
            <a:off x="1517358" y="2610735"/>
            <a:ext cx="1269137" cy="784830"/>
          </a:xfrm>
          <a:prstGeom prst="rect">
            <a:avLst/>
          </a:prstGeom>
          <a:solidFill>
            <a:srgbClr val="54FFB3"/>
          </a:solidFill>
        </p:spPr>
        <p:txBody>
          <a:bodyPr wrap="square" anchor="ctr">
            <a:noAutofit/>
          </a:bodyPr>
          <a:lstStyle/>
          <a:p>
            <a:pPr algn="ctr"/>
            <a:r>
              <a:rPr lang="fr-FR" sz="1000" dirty="0"/>
              <a:t>Plus grandes chances d’établir une logistique commune (lieux, horaires, outils, …)</a:t>
            </a:r>
          </a:p>
        </p:txBody>
      </p:sp>
      <p:sp>
        <p:nvSpPr>
          <p:cNvPr id="49" name="ZoneTexte 48">
            <a:extLst>
              <a:ext uri="{FF2B5EF4-FFF2-40B4-BE49-F238E27FC236}">
                <a16:creationId xmlns:a16="http://schemas.microsoft.com/office/drawing/2014/main" id="{3F2E95BE-06A0-37E0-F90F-8F8361C86BDE}"/>
              </a:ext>
            </a:extLst>
          </p:cNvPr>
          <p:cNvSpPr txBox="1"/>
          <p:nvPr/>
        </p:nvSpPr>
        <p:spPr>
          <a:xfrm>
            <a:off x="18898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Membres d’une même équipe ou service qui se retrouvent pour des moments différents</a:t>
            </a:r>
          </a:p>
        </p:txBody>
      </p:sp>
      <p:sp>
        <p:nvSpPr>
          <p:cNvPr id="50" name="ZoneTexte 49">
            <a:extLst>
              <a:ext uri="{FF2B5EF4-FFF2-40B4-BE49-F238E27FC236}">
                <a16:creationId xmlns:a16="http://schemas.microsoft.com/office/drawing/2014/main" id="{5E58DCA4-5AC7-6788-6B25-3FEACFE32C39}"/>
              </a:ext>
            </a:extLst>
          </p:cNvPr>
          <p:cNvSpPr txBox="1"/>
          <p:nvPr/>
        </p:nvSpPr>
        <p:spPr>
          <a:xfrm>
            <a:off x="151735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sur un sujet de niche, lui même dans un secteur de niche</a:t>
            </a:r>
          </a:p>
        </p:txBody>
      </p:sp>
      <p:sp>
        <p:nvSpPr>
          <p:cNvPr id="58" name="ZoneTexte 57">
            <a:extLst>
              <a:ext uri="{FF2B5EF4-FFF2-40B4-BE49-F238E27FC236}">
                <a16:creationId xmlns:a16="http://schemas.microsoft.com/office/drawing/2014/main" id="{E8DBD87D-6BAB-7936-0AF0-5DC01799F47F}"/>
              </a:ext>
            </a:extLst>
          </p:cNvPr>
          <p:cNvSpPr txBox="1"/>
          <p:nvPr/>
        </p:nvSpPr>
        <p:spPr>
          <a:xfrm>
            <a:off x="188984" y="4068990"/>
            <a:ext cx="1269137" cy="784830"/>
          </a:xfrm>
          <a:prstGeom prst="rect">
            <a:avLst/>
          </a:prstGeom>
          <a:solidFill>
            <a:srgbClr val="FF7C80"/>
          </a:solidFill>
        </p:spPr>
        <p:txBody>
          <a:bodyPr wrap="square" anchor="ctr">
            <a:noAutofit/>
          </a:bodyPr>
          <a:lstStyle/>
          <a:p>
            <a:pPr algn="ctr"/>
            <a:r>
              <a:rPr lang="fr-FR" sz="1000" dirty="0"/>
              <a:t>Risque de manque de respiration par rapport au quotidien</a:t>
            </a:r>
          </a:p>
        </p:txBody>
      </p:sp>
      <p:sp>
        <p:nvSpPr>
          <p:cNvPr id="59" name="ZoneTexte 58">
            <a:extLst>
              <a:ext uri="{FF2B5EF4-FFF2-40B4-BE49-F238E27FC236}">
                <a16:creationId xmlns:a16="http://schemas.microsoft.com/office/drawing/2014/main" id="{A20FAF36-4079-42D6-19D2-83094F4D7B7B}"/>
              </a:ext>
            </a:extLst>
          </p:cNvPr>
          <p:cNvSpPr txBox="1"/>
          <p:nvPr/>
        </p:nvSpPr>
        <p:spPr>
          <a:xfrm>
            <a:off x="1517358" y="4068990"/>
            <a:ext cx="1269137" cy="784830"/>
          </a:xfrm>
          <a:prstGeom prst="rect">
            <a:avLst/>
          </a:prstGeom>
          <a:solidFill>
            <a:srgbClr val="FF7C80"/>
          </a:solidFill>
        </p:spPr>
        <p:txBody>
          <a:bodyPr wrap="square" anchor="ctr">
            <a:noAutofit/>
          </a:bodyPr>
          <a:lstStyle/>
          <a:p>
            <a:pPr algn="ctr"/>
            <a:r>
              <a:rPr lang="fr-FR" sz="1000" dirty="0"/>
              <a:t>Moins de prise de recul par rapport au contexte, risques de zones d’ombres collectives</a:t>
            </a:r>
          </a:p>
        </p:txBody>
      </p:sp>
      <p:sp>
        <p:nvSpPr>
          <p:cNvPr id="44" name="ZoneTexte 43">
            <a:extLst>
              <a:ext uri="{FF2B5EF4-FFF2-40B4-BE49-F238E27FC236}">
                <a16:creationId xmlns:a16="http://schemas.microsoft.com/office/drawing/2014/main" id="{AE2F8F53-8187-23C6-5076-F1395AB3E3EE}"/>
              </a:ext>
            </a:extLst>
          </p:cNvPr>
          <p:cNvSpPr txBox="1"/>
          <p:nvPr/>
        </p:nvSpPr>
        <p:spPr>
          <a:xfrm>
            <a:off x="6561500" y="3254681"/>
            <a:ext cx="1269137" cy="784830"/>
          </a:xfrm>
          <a:prstGeom prst="rect">
            <a:avLst/>
          </a:prstGeom>
          <a:solidFill>
            <a:schemeClr val="bg1">
              <a:lumMod val="95000"/>
            </a:schemeClr>
          </a:solidFill>
          <a:ln>
            <a:noFill/>
          </a:ln>
        </p:spPr>
        <p:txBody>
          <a:bodyPr wrap="square" anchor="ctr">
            <a:noAutofit/>
          </a:bodyPr>
          <a:lstStyle/>
          <a:p>
            <a:pPr algn="ctr"/>
            <a:r>
              <a:rPr lang="fr-FR" sz="1000" dirty="0"/>
              <a:t>✍️Co-écriture des différences entre contextes, et des pratiques à  adapter</a:t>
            </a:r>
          </a:p>
        </p:txBody>
      </p:sp>
      <p:sp>
        <p:nvSpPr>
          <p:cNvPr id="45" name="ZoneTexte 44">
            <a:extLst>
              <a:ext uri="{FF2B5EF4-FFF2-40B4-BE49-F238E27FC236}">
                <a16:creationId xmlns:a16="http://schemas.microsoft.com/office/drawing/2014/main" id="{BFDD295E-84BF-5F6A-B9F3-AD493E96B4AA}"/>
              </a:ext>
            </a:extLst>
          </p:cNvPr>
          <p:cNvSpPr txBox="1"/>
          <p:nvPr/>
        </p:nvSpPr>
        <p:spPr>
          <a:xfrm>
            <a:off x="7897088" y="3254681"/>
            <a:ext cx="1269137" cy="784830"/>
          </a:xfrm>
          <a:prstGeom prst="rect">
            <a:avLst/>
          </a:prstGeom>
          <a:solidFill>
            <a:schemeClr val="bg1">
              <a:lumMod val="95000"/>
            </a:schemeClr>
          </a:solidFill>
          <a:ln>
            <a:noFill/>
          </a:ln>
        </p:spPr>
        <p:txBody>
          <a:bodyPr wrap="square" anchor="ctr">
            <a:noAutofit/>
          </a:bodyPr>
          <a:lstStyle/>
          <a:p>
            <a:pPr algn="ctr"/>
            <a:r>
              <a:rPr lang="fr-FR" sz="1000" dirty="0"/>
              <a:t>📅✍️Retours d’expériences sous formes d’événements ou de contenus</a:t>
            </a:r>
          </a:p>
        </p:txBody>
      </p:sp>
      <p:sp>
        <p:nvSpPr>
          <p:cNvPr id="68" name="ZoneTexte 67">
            <a:extLst>
              <a:ext uri="{FF2B5EF4-FFF2-40B4-BE49-F238E27FC236}">
                <a16:creationId xmlns:a16="http://schemas.microsoft.com/office/drawing/2014/main" id="{6986A3CF-307E-B257-E5D0-BAFD9688BAEE}"/>
              </a:ext>
            </a:extLst>
          </p:cNvPr>
          <p:cNvSpPr txBox="1"/>
          <p:nvPr/>
        </p:nvSpPr>
        <p:spPr>
          <a:xfrm>
            <a:off x="3022266" y="3239774"/>
            <a:ext cx="1269137" cy="784830"/>
          </a:xfrm>
          <a:prstGeom prst="rect">
            <a:avLst/>
          </a:prstGeom>
          <a:solidFill>
            <a:schemeClr val="bg1">
              <a:lumMod val="95000"/>
            </a:schemeClr>
          </a:solidFill>
          <a:ln>
            <a:noFill/>
          </a:ln>
        </p:spPr>
        <p:txBody>
          <a:bodyPr wrap="square" anchor="ctr">
            <a:noAutofit/>
          </a:bodyPr>
          <a:lstStyle/>
          <a:p>
            <a:pPr algn="ctr"/>
            <a:r>
              <a:rPr lang="fr-FR" sz="1000" dirty="0"/>
              <a:t>📅Moments entre membres avec d’autres règles et formes de relations qu’au quotidien</a:t>
            </a:r>
          </a:p>
        </p:txBody>
      </p:sp>
      <p:sp>
        <p:nvSpPr>
          <p:cNvPr id="69" name="ZoneTexte 68">
            <a:extLst>
              <a:ext uri="{FF2B5EF4-FFF2-40B4-BE49-F238E27FC236}">
                <a16:creationId xmlns:a16="http://schemas.microsoft.com/office/drawing/2014/main" id="{E6BD8EC0-1BCD-C5D7-2640-0872E537C8EE}"/>
              </a:ext>
            </a:extLst>
          </p:cNvPr>
          <p:cNvSpPr txBox="1"/>
          <p:nvPr/>
        </p:nvSpPr>
        <p:spPr>
          <a:xfrm>
            <a:off x="4357854" y="3239774"/>
            <a:ext cx="1269137" cy="784830"/>
          </a:xfrm>
          <a:prstGeom prst="rect">
            <a:avLst/>
          </a:prstGeom>
          <a:solidFill>
            <a:schemeClr val="bg1">
              <a:lumMod val="95000"/>
            </a:schemeClr>
          </a:solidFill>
          <a:ln>
            <a:noFill/>
          </a:ln>
        </p:spPr>
        <p:txBody>
          <a:bodyPr wrap="square" anchor="ctr">
            <a:noAutofit/>
          </a:bodyPr>
          <a:lstStyle/>
          <a:p>
            <a:pPr algn="ctr"/>
            <a:r>
              <a:rPr lang="fr-FR" sz="1000" dirty="0"/>
              <a:t>✍️Co-écriture d’un recueil des bonnes pratiques locales (ou liées au contexte)</a:t>
            </a:r>
          </a:p>
        </p:txBody>
      </p:sp>
      <p:sp>
        <p:nvSpPr>
          <p:cNvPr id="70" name="ZoneTexte 69">
            <a:extLst>
              <a:ext uri="{FF2B5EF4-FFF2-40B4-BE49-F238E27FC236}">
                <a16:creationId xmlns:a16="http://schemas.microsoft.com/office/drawing/2014/main" id="{412A5283-BCCF-8DEE-2C56-2169FE77484B}"/>
              </a:ext>
            </a:extLst>
          </p:cNvPr>
          <p:cNvSpPr txBox="1"/>
          <p:nvPr/>
        </p:nvSpPr>
        <p:spPr>
          <a:xfrm>
            <a:off x="3022266" y="4106026"/>
            <a:ext cx="1269137" cy="784830"/>
          </a:xfrm>
          <a:prstGeom prst="rect">
            <a:avLst/>
          </a:prstGeom>
          <a:solidFill>
            <a:schemeClr val="bg1">
              <a:lumMod val="95000"/>
            </a:schemeClr>
          </a:solidFill>
          <a:ln>
            <a:noFill/>
          </a:ln>
        </p:spPr>
        <p:txBody>
          <a:bodyPr wrap="square" anchor="ctr">
            <a:noAutofit/>
          </a:bodyPr>
          <a:lstStyle/>
          <a:p>
            <a:pPr algn="ctr"/>
            <a:r>
              <a:rPr lang="fr-FR" sz="1000" dirty="0"/>
              <a:t>📅✍️Audit collaboratif et recueils d’avis, d’information sur le contexte commun</a:t>
            </a:r>
          </a:p>
        </p:txBody>
      </p:sp>
      <p:sp>
        <p:nvSpPr>
          <p:cNvPr id="71" name="ZoneTexte 70">
            <a:extLst>
              <a:ext uri="{FF2B5EF4-FFF2-40B4-BE49-F238E27FC236}">
                <a16:creationId xmlns:a16="http://schemas.microsoft.com/office/drawing/2014/main" id="{84D88AFF-80AF-3B05-678D-DCB3BE16BA22}"/>
              </a:ext>
            </a:extLst>
          </p:cNvPr>
          <p:cNvSpPr txBox="1"/>
          <p:nvPr/>
        </p:nvSpPr>
        <p:spPr>
          <a:xfrm>
            <a:off x="4357854" y="4106026"/>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d’amélioration continue du contexte commun</a:t>
            </a:r>
          </a:p>
        </p:txBody>
      </p:sp>
      <p:sp>
        <p:nvSpPr>
          <p:cNvPr id="72" name="ZoneTexte 71">
            <a:extLst>
              <a:ext uri="{FF2B5EF4-FFF2-40B4-BE49-F238E27FC236}">
                <a16:creationId xmlns:a16="http://schemas.microsoft.com/office/drawing/2014/main" id="{0819E6CE-A52C-270B-D110-798DDA148C2A}"/>
              </a:ext>
            </a:extLst>
          </p:cNvPr>
          <p:cNvSpPr txBox="1"/>
          <p:nvPr/>
        </p:nvSpPr>
        <p:spPr>
          <a:xfrm>
            <a:off x="6561500" y="4106026"/>
            <a:ext cx="1269137" cy="784830"/>
          </a:xfrm>
          <a:prstGeom prst="rect">
            <a:avLst/>
          </a:prstGeom>
          <a:solidFill>
            <a:schemeClr val="bg1">
              <a:lumMod val="95000"/>
            </a:schemeClr>
          </a:solidFill>
          <a:ln>
            <a:noFill/>
          </a:ln>
        </p:spPr>
        <p:txBody>
          <a:bodyPr wrap="square" anchor="ctr">
            <a:noAutofit/>
          </a:bodyPr>
          <a:lstStyle/>
          <a:p>
            <a:pPr algn="ctr"/>
            <a:r>
              <a:rPr lang="fr-FR" sz="1000" dirty="0"/>
              <a:t>⚙️Groupes de co-développement qui bénéficient de beaucoup de recul</a:t>
            </a:r>
          </a:p>
        </p:txBody>
      </p:sp>
      <p:sp>
        <p:nvSpPr>
          <p:cNvPr id="73" name="ZoneTexte 72">
            <a:extLst>
              <a:ext uri="{FF2B5EF4-FFF2-40B4-BE49-F238E27FC236}">
                <a16:creationId xmlns:a16="http://schemas.microsoft.com/office/drawing/2014/main" id="{484A8DBE-F54E-9826-107C-C0C01F04EBFB}"/>
              </a:ext>
            </a:extLst>
          </p:cNvPr>
          <p:cNvSpPr txBox="1"/>
          <p:nvPr/>
        </p:nvSpPr>
        <p:spPr>
          <a:xfrm>
            <a:off x="7897088" y="4106026"/>
            <a:ext cx="1269137" cy="784830"/>
          </a:xfrm>
          <a:prstGeom prst="rect">
            <a:avLst/>
          </a:prstGeom>
          <a:solidFill>
            <a:schemeClr val="bg1">
              <a:lumMod val="95000"/>
            </a:schemeClr>
          </a:solidFill>
          <a:ln>
            <a:noFill/>
          </a:ln>
        </p:spPr>
        <p:txBody>
          <a:bodyPr wrap="square" anchor="ctr">
            <a:noAutofit/>
          </a:bodyPr>
          <a:lstStyle/>
          <a:p>
            <a:pPr algn="ctr"/>
            <a:r>
              <a:rPr lang="fr-FR" sz="1000" dirty="0"/>
              <a:t>✍️Co-construction d’un langage commun ou d’un référentiel commun pour se comprendre</a:t>
            </a:r>
          </a:p>
        </p:txBody>
      </p:sp>
      <p:sp>
        <p:nvSpPr>
          <p:cNvPr id="74" name="ZoneTexte 73">
            <a:extLst>
              <a:ext uri="{FF2B5EF4-FFF2-40B4-BE49-F238E27FC236}">
                <a16:creationId xmlns:a16="http://schemas.microsoft.com/office/drawing/2014/main" id="{D26E1A88-E639-858A-2B8C-3AFBC2677BD3}"/>
              </a:ext>
            </a:extLst>
          </p:cNvPr>
          <p:cNvSpPr txBox="1"/>
          <p:nvPr/>
        </p:nvSpPr>
        <p:spPr>
          <a:xfrm>
            <a:off x="3022266" y="4972278"/>
            <a:ext cx="1269137" cy="784830"/>
          </a:xfrm>
          <a:prstGeom prst="rect">
            <a:avLst/>
          </a:prstGeom>
          <a:solidFill>
            <a:schemeClr val="bg1">
              <a:lumMod val="95000"/>
            </a:schemeClr>
          </a:solidFill>
          <a:ln>
            <a:noFill/>
          </a:ln>
        </p:spPr>
        <p:txBody>
          <a:bodyPr wrap="square" anchor="ctr">
            <a:noAutofit/>
          </a:bodyPr>
          <a:lstStyle/>
          <a:p>
            <a:pPr algn="ctr"/>
            <a:r>
              <a:rPr lang="fr-FR" sz="1000" dirty="0"/>
              <a:t>✍️⚙️Mise en place d’une liste de tâches ou de projets locaux</a:t>
            </a:r>
          </a:p>
        </p:txBody>
      </p:sp>
      <p:sp>
        <p:nvSpPr>
          <p:cNvPr id="75" name="ZoneTexte 74">
            <a:extLst>
              <a:ext uri="{FF2B5EF4-FFF2-40B4-BE49-F238E27FC236}">
                <a16:creationId xmlns:a16="http://schemas.microsoft.com/office/drawing/2014/main" id="{D92E9729-A907-DCF4-91F5-D15B83AE20D7}"/>
              </a:ext>
            </a:extLst>
          </p:cNvPr>
          <p:cNvSpPr txBox="1"/>
          <p:nvPr/>
        </p:nvSpPr>
        <p:spPr>
          <a:xfrm>
            <a:off x="4357854" y="4972278"/>
            <a:ext cx="1269137" cy="784830"/>
          </a:xfrm>
          <a:prstGeom prst="rect">
            <a:avLst/>
          </a:prstGeom>
          <a:solidFill>
            <a:schemeClr val="bg1">
              <a:lumMod val="95000"/>
            </a:schemeClr>
          </a:solidFill>
          <a:ln>
            <a:noFill/>
          </a:ln>
        </p:spPr>
        <p:txBody>
          <a:bodyPr wrap="square" anchor="ctr">
            <a:noAutofit/>
          </a:bodyPr>
          <a:lstStyle/>
          <a:p>
            <a:pPr algn="ctr"/>
            <a:r>
              <a:rPr lang="fr-FR" sz="1000" dirty="0"/>
              <a:t>(Si même contexte local) 📅Forum local, visites mutuelles locales</a:t>
            </a:r>
          </a:p>
        </p:txBody>
      </p:sp>
      <p:sp>
        <p:nvSpPr>
          <p:cNvPr id="76" name="ZoneTexte 75">
            <a:extLst>
              <a:ext uri="{FF2B5EF4-FFF2-40B4-BE49-F238E27FC236}">
                <a16:creationId xmlns:a16="http://schemas.microsoft.com/office/drawing/2014/main" id="{BAE1128B-2C95-128B-9D02-C5BBFED9BCA8}"/>
              </a:ext>
            </a:extLst>
          </p:cNvPr>
          <p:cNvSpPr txBox="1"/>
          <p:nvPr/>
        </p:nvSpPr>
        <p:spPr>
          <a:xfrm>
            <a:off x="3022266" y="5838530"/>
            <a:ext cx="1269137" cy="784830"/>
          </a:xfrm>
          <a:prstGeom prst="rect">
            <a:avLst/>
          </a:prstGeom>
          <a:solidFill>
            <a:schemeClr val="bg1">
              <a:lumMod val="95000"/>
            </a:schemeClr>
          </a:solidFill>
          <a:ln>
            <a:noFill/>
          </a:ln>
        </p:spPr>
        <p:txBody>
          <a:bodyPr wrap="square" anchor="ctr">
            <a:noAutofit/>
          </a:bodyPr>
          <a:lstStyle/>
          <a:p>
            <a:pPr algn="ctr"/>
            <a:r>
              <a:rPr lang="fr-FR" sz="1000" dirty="0"/>
              <a:t>(Si même contexte local) ⚙️Mise en place de systèmes de ressources partagées</a:t>
            </a:r>
          </a:p>
        </p:txBody>
      </p:sp>
      <p:sp>
        <p:nvSpPr>
          <p:cNvPr id="77" name="ZoneTexte 76">
            <a:extLst>
              <a:ext uri="{FF2B5EF4-FFF2-40B4-BE49-F238E27FC236}">
                <a16:creationId xmlns:a16="http://schemas.microsoft.com/office/drawing/2014/main" id="{9F2A6B6D-21DA-1A7C-3137-66B212EE9A1D}"/>
              </a:ext>
            </a:extLst>
          </p:cNvPr>
          <p:cNvSpPr txBox="1"/>
          <p:nvPr/>
        </p:nvSpPr>
        <p:spPr>
          <a:xfrm>
            <a:off x="4357854" y="5838530"/>
            <a:ext cx="1269137" cy="784830"/>
          </a:xfrm>
          <a:prstGeom prst="rect">
            <a:avLst/>
          </a:prstGeom>
          <a:solidFill>
            <a:schemeClr val="bg1">
              <a:lumMod val="95000"/>
            </a:schemeClr>
          </a:solidFill>
          <a:ln>
            <a:noFill/>
          </a:ln>
        </p:spPr>
        <p:txBody>
          <a:bodyPr wrap="square" anchor="ctr">
            <a:noAutofit/>
          </a:bodyPr>
          <a:lstStyle/>
          <a:p>
            <a:pPr algn="ctr"/>
            <a:r>
              <a:rPr lang="fr-FR" sz="1000" dirty="0"/>
              <a:t>⚙️Groupe de discussion sur les difficultés liées au contexte</a:t>
            </a:r>
          </a:p>
        </p:txBody>
      </p:sp>
      <p:sp>
        <p:nvSpPr>
          <p:cNvPr id="78" name="ZoneTexte 77">
            <a:extLst>
              <a:ext uri="{FF2B5EF4-FFF2-40B4-BE49-F238E27FC236}">
                <a16:creationId xmlns:a16="http://schemas.microsoft.com/office/drawing/2014/main" id="{A095E1C0-1AE2-01FC-2B3B-3BA7115F3EBB}"/>
              </a:ext>
            </a:extLst>
          </p:cNvPr>
          <p:cNvSpPr txBox="1"/>
          <p:nvPr/>
        </p:nvSpPr>
        <p:spPr>
          <a:xfrm>
            <a:off x="6561500" y="4972278"/>
            <a:ext cx="1269137" cy="784830"/>
          </a:xfrm>
          <a:prstGeom prst="rect">
            <a:avLst/>
          </a:prstGeom>
          <a:solidFill>
            <a:schemeClr val="bg1">
              <a:lumMod val="95000"/>
            </a:schemeClr>
          </a:solidFill>
          <a:ln>
            <a:noFill/>
          </a:ln>
        </p:spPr>
        <p:txBody>
          <a:bodyPr wrap="square" anchor="ctr">
            <a:noAutofit/>
          </a:bodyPr>
          <a:lstStyle/>
          <a:p>
            <a:pPr algn="ctr"/>
            <a:r>
              <a:rPr lang="fr-FR" sz="1000" dirty="0"/>
              <a:t>📅Organisation de safaris (visite et présentation locale par un des membres aux autres)</a:t>
            </a:r>
          </a:p>
        </p:txBody>
      </p:sp>
      <p:sp>
        <p:nvSpPr>
          <p:cNvPr id="79" name="ZoneTexte 78">
            <a:extLst>
              <a:ext uri="{FF2B5EF4-FFF2-40B4-BE49-F238E27FC236}">
                <a16:creationId xmlns:a16="http://schemas.microsoft.com/office/drawing/2014/main" id="{D8894A22-2BD9-EC0F-CA04-DDF5828252EA}"/>
              </a:ext>
            </a:extLst>
          </p:cNvPr>
          <p:cNvSpPr txBox="1"/>
          <p:nvPr/>
        </p:nvSpPr>
        <p:spPr>
          <a:xfrm>
            <a:off x="7897088" y="4972278"/>
            <a:ext cx="1269137" cy="784830"/>
          </a:xfrm>
          <a:prstGeom prst="rect">
            <a:avLst/>
          </a:prstGeom>
          <a:solidFill>
            <a:schemeClr val="bg1">
              <a:lumMod val="95000"/>
            </a:schemeClr>
          </a:solidFill>
          <a:ln>
            <a:noFill/>
          </a:ln>
        </p:spPr>
        <p:txBody>
          <a:bodyPr wrap="square" anchor="ctr">
            <a:noAutofit/>
          </a:bodyPr>
          <a:lstStyle/>
          <a:p>
            <a:pPr algn="ctr"/>
            <a:r>
              <a:rPr lang="fr-FR" sz="1000" dirty="0"/>
              <a:t>📅Evénements centrés autour d’un concept ciblé, décliné dans des contextes différents</a:t>
            </a:r>
          </a:p>
        </p:txBody>
      </p:sp>
      <p:sp>
        <p:nvSpPr>
          <p:cNvPr id="80" name="ZoneTexte 79">
            <a:extLst>
              <a:ext uri="{FF2B5EF4-FFF2-40B4-BE49-F238E27FC236}">
                <a16:creationId xmlns:a16="http://schemas.microsoft.com/office/drawing/2014/main" id="{CA8C4443-AE94-462B-5869-688BDF4F3732}"/>
              </a:ext>
            </a:extLst>
          </p:cNvPr>
          <p:cNvSpPr txBox="1"/>
          <p:nvPr/>
        </p:nvSpPr>
        <p:spPr>
          <a:xfrm>
            <a:off x="6561500" y="5838530"/>
            <a:ext cx="1269137" cy="784830"/>
          </a:xfrm>
          <a:prstGeom prst="rect">
            <a:avLst/>
          </a:prstGeom>
          <a:solidFill>
            <a:schemeClr val="bg1">
              <a:lumMod val="95000"/>
            </a:schemeClr>
          </a:solidFill>
          <a:ln>
            <a:noFill/>
          </a:ln>
        </p:spPr>
        <p:txBody>
          <a:bodyPr wrap="square" anchor="ctr">
            <a:noAutofit/>
          </a:bodyPr>
          <a:lstStyle/>
          <a:p>
            <a:pPr algn="ctr"/>
            <a:r>
              <a:rPr lang="fr-FR" sz="1000" dirty="0"/>
              <a:t>⚙️Organisation d’assistance extérieure (invités pour intervention ponctuelle, etc.)</a:t>
            </a:r>
          </a:p>
        </p:txBody>
      </p:sp>
      <p:sp>
        <p:nvSpPr>
          <p:cNvPr id="81" name="ZoneTexte 80">
            <a:extLst>
              <a:ext uri="{FF2B5EF4-FFF2-40B4-BE49-F238E27FC236}">
                <a16:creationId xmlns:a16="http://schemas.microsoft.com/office/drawing/2014/main" id="{36687BAB-FBDD-6601-3098-048E2BF900DF}"/>
              </a:ext>
            </a:extLst>
          </p:cNvPr>
          <p:cNvSpPr txBox="1"/>
          <p:nvPr/>
        </p:nvSpPr>
        <p:spPr>
          <a:xfrm>
            <a:off x="7897088" y="5838530"/>
            <a:ext cx="1269137" cy="784830"/>
          </a:xfrm>
          <a:prstGeom prst="rect">
            <a:avLst/>
          </a:prstGeom>
          <a:solidFill>
            <a:schemeClr val="bg1">
              <a:lumMod val="95000"/>
            </a:schemeClr>
          </a:solidFill>
          <a:ln>
            <a:noFill/>
          </a:ln>
        </p:spPr>
        <p:txBody>
          <a:bodyPr wrap="square" anchor="ctr">
            <a:noAutofit/>
          </a:bodyPr>
          <a:lstStyle/>
          <a:p>
            <a:pPr algn="ctr"/>
            <a:r>
              <a:rPr lang="fr-FR" sz="1000" dirty="0"/>
              <a:t>📅Organisation de présentations locales par des invités membres</a:t>
            </a:r>
          </a:p>
        </p:txBody>
      </p:sp>
      <p:grpSp>
        <p:nvGrpSpPr>
          <p:cNvPr id="82" name="Groupe 81">
            <a:extLst>
              <a:ext uri="{FF2B5EF4-FFF2-40B4-BE49-F238E27FC236}">
                <a16:creationId xmlns:a16="http://schemas.microsoft.com/office/drawing/2014/main" id="{0B5AA363-60C6-FB4A-CF84-79AAF62DD207}"/>
              </a:ext>
            </a:extLst>
          </p:cNvPr>
          <p:cNvGrpSpPr/>
          <p:nvPr/>
        </p:nvGrpSpPr>
        <p:grpSpPr>
          <a:xfrm>
            <a:off x="2845732" y="1425610"/>
            <a:ext cx="1926112" cy="914400"/>
            <a:chOff x="2473420" y="4353449"/>
            <a:chExt cx="2124069" cy="1008378"/>
          </a:xfrm>
        </p:grpSpPr>
        <p:sp>
          <p:nvSpPr>
            <p:cNvPr id="83" name="ZoneTexte 82">
              <a:extLst>
                <a:ext uri="{FF2B5EF4-FFF2-40B4-BE49-F238E27FC236}">
                  <a16:creationId xmlns:a16="http://schemas.microsoft.com/office/drawing/2014/main" id="{97905173-87A5-C156-D3AB-208731004CFE}"/>
                </a:ext>
              </a:extLst>
            </p:cNvPr>
            <p:cNvSpPr txBox="1"/>
            <p:nvPr/>
          </p:nvSpPr>
          <p:spPr>
            <a:xfrm>
              <a:off x="3048721" y="4909451"/>
              <a:ext cx="902360" cy="307777"/>
            </a:xfrm>
            <a:prstGeom prst="rect">
              <a:avLst/>
            </a:prstGeom>
            <a:noFill/>
          </p:spPr>
          <p:txBody>
            <a:bodyPr wrap="square" anchor="ctr">
              <a:spAutoFit/>
            </a:bodyPr>
            <a:lstStyle/>
            <a:p>
              <a:pPr algn="ctr"/>
              <a:r>
                <a:rPr lang="fr-FR" sz="1400" dirty="0"/>
                <a:t>ou</a:t>
              </a:r>
            </a:p>
          </p:txBody>
        </p:sp>
        <p:pic>
          <p:nvPicPr>
            <p:cNvPr id="84" name="Graphique 83" descr="Bâtiment avec un remplissage uni">
              <a:extLst>
                <a:ext uri="{FF2B5EF4-FFF2-40B4-BE49-F238E27FC236}">
                  <a16:creationId xmlns:a16="http://schemas.microsoft.com/office/drawing/2014/main" id="{71AF1306-D999-4A28-6C97-E96B39E5C0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79428" y="4401894"/>
              <a:ext cx="914400" cy="914400"/>
            </a:xfrm>
            <a:prstGeom prst="rect">
              <a:avLst/>
            </a:prstGeom>
          </p:spPr>
        </p:pic>
        <p:pic>
          <p:nvPicPr>
            <p:cNvPr id="85" name="Graphique 84" descr="Utilisateur avec un remplissage uni">
              <a:extLst>
                <a:ext uri="{FF2B5EF4-FFF2-40B4-BE49-F238E27FC236}">
                  <a16:creationId xmlns:a16="http://schemas.microsoft.com/office/drawing/2014/main" id="{78B25CA0-7890-E140-0186-B2F3145334F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473420" y="4928654"/>
              <a:ext cx="429166" cy="429166"/>
            </a:xfrm>
            <a:prstGeom prst="rect">
              <a:avLst/>
            </a:prstGeom>
          </p:spPr>
        </p:pic>
        <p:pic>
          <p:nvPicPr>
            <p:cNvPr id="86" name="Graphique 85" descr="Utilisateur avec un remplissage uni">
              <a:extLst>
                <a:ext uri="{FF2B5EF4-FFF2-40B4-BE49-F238E27FC236}">
                  <a16:creationId xmlns:a16="http://schemas.microsoft.com/office/drawing/2014/main" id="{724B5FCA-A013-72EC-4479-CDCA407FF8F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781597" y="4928654"/>
              <a:ext cx="429166" cy="429166"/>
            </a:xfrm>
            <a:prstGeom prst="rect">
              <a:avLst/>
            </a:prstGeom>
          </p:spPr>
        </p:pic>
        <p:pic>
          <p:nvPicPr>
            <p:cNvPr id="87" name="Graphique 86" descr="Utilisateur avec un remplissage uni">
              <a:extLst>
                <a:ext uri="{FF2B5EF4-FFF2-40B4-BE49-F238E27FC236}">
                  <a16:creationId xmlns:a16="http://schemas.microsoft.com/office/drawing/2014/main" id="{A1282079-87FC-D37A-0D63-42DB5D551EA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083850" y="4932661"/>
              <a:ext cx="429166" cy="429166"/>
            </a:xfrm>
            <a:prstGeom prst="rect">
              <a:avLst/>
            </a:prstGeom>
          </p:spPr>
        </p:pic>
        <p:pic>
          <p:nvPicPr>
            <p:cNvPr id="88" name="Graphique 87" descr="Logement avec un remplissage uni">
              <a:extLst>
                <a:ext uri="{FF2B5EF4-FFF2-40B4-BE49-F238E27FC236}">
                  <a16:creationId xmlns:a16="http://schemas.microsoft.com/office/drawing/2014/main" id="{FC5D9181-9C6D-70BA-56C3-7D1A0C2CED5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622807" y="4353449"/>
              <a:ext cx="914400" cy="914400"/>
            </a:xfrm>
            <a:prstGeom prst="rect">
              <a:avLst/>
            </a:prstGeom>
          </p:spPr>
        </p:pic>
        <p:pic>
          <p:nvPicPr>
            <p:cNvPr id="89" name="Graphique 88" descr="Utilisateur avec un remplissage uni">
              <a:extLst>
                <a:ext uri="{FF2B5EF4-FFF2-40B4-BE49-F238E27FC236}">
                  <a16:creationId xmlns:a16="http://schemas.microsoft.com/office/drawing/2014/main" id="{1C0AE674-A253-3A27-0372-AEAB9EEC0A4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57893" y="4920863"/>
              <a:ext cx="429166" cy="429166"/>
            </a:xfrm>
            <a:prstGeom prst="rect">
              <a:avLst/>
            </a:prstGeom>
          </p:spPr>
        </p:pic>
        <p:pic>
          <p:nvPicPr>
            <p:cNvPr id="90" name="Graphique 89" descr="Utilisateur avec un remplissage uni">
              <a:extLst>
                <a:ext uri="{FF2B5EF4-FFF2-40B4-BE49-F238E27FC236}">
                  <a16:creationId xmlns:a16="http://schemas.microsoft.com/office/drawing/2014/main" id="{0BD5D81B-F51B-F43C-E9AD-6716B2093CE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66070" y="4920863"/>
              <a:ext cx="429166" cy="429166"/>
            </a:xfrm>
            <a:prstGeom prst="rect">
              <a:avLst/>
            </a:prstGeom>
          </p:spPr>
        </p:pic>
        <p:pic>
          <p:nvPicPr>
            <p:cNvPr id="91" name="Graphique 90" descr="Utilisateur avec un remplissage uni">
              <a:extLst>
                <a:ext uri="{FF2B5EF4-FFF2-40B4-BE49-F238E27FC236}">
                  <a16:creationId xmlns:a16="http://schemas.microsoft.com/office/drawing/2014/main" id="{E3C03B4A-40DC-1735-1F09-26F4AEE68C5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168323" y="4924870"/>
              <a:ext cx="429166" cy="429166"/>
            </a:xfrm>
            <a:prstGeom prst="rect">
              <a:avLst/>
            </a:prstGeom>
          </p:spPr>
        </p:pic>
      </p:grpSp>
      <p:pic>
        <p:nvPicPr>
          <p:cNvPr id="92" name="Graphique 91" descr="Bâtiment avec un remplissage uni">
            <a:extLst>
              <a:ext uri="{FF2B5EF4-FFF2-40B4-BE49-F238E27FC236}">
                <a16:creationId xmlns:a16="http://schemas.microsoft.com/office/drawing/2014/main" id="{D137B533-0D1E-1D25-529D-FC24AB9F38B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228172" y="1387218"/>
            <a:ext cx="914400" cy="914400"/>
          </a:xfrm>
          <a:prstGeom prst="rect">
            <a:avLst/>
          </a:prstGeom>
        </p:spPr>
      </p:pic>
      <p:pic>
        <p:nvPicPr>
          <p:cNvPr id="93" name="Graphique 92" descr="Utilisateur avec un remplissage uni">
            <a:extLst>
              <a:ext uri="{FF2B5EF4-FFF2-40B4-BE49-F238E27FC236}">
                <a16:creationId xmlns:a16="http://schemas.microsoft.com/office/drawing/2014/main" id="{D728FAB9-B6B3-4FD9-6824-4C75D56E3C6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430341" y="1913978"/>
            <a:ext cx="429166" cy="429166"/>
          </a:xfrm>
          <a:prstGeom prst="rect">
            <a:avLst/>
          </a:prstGeom>
        </p:spPr>
      </p:pic>
      <p:pic>
        <p:nvPicPr>
          <p:cNvPr id="94" name="Graphique 93" descr="Logement avec un remplissage uni">
            <a:extLst>
              <a:ext uri="{FF2B5EF4-FFF2-40B4-BE49-F238E27FC236}">
                <a16:creationId xmlns:a16="http://schemas.microsoft.com/office/drawing/2014/main" id="{BD986BB5-974E-A4D4-E89C-F35A101BC24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039407" y="1640777"/>
            <a:ext cx="631053" cy="631053"/>
          </a:xfrm>
          <a:prstGeom prst="rect">
            <a:avLst/>
          </a:prstGeom>
        </p:spPr>
      </p:pic>
      <p:pic>
        <p:nvPicPr>
          <p:cNvPr id="95" name="Graphique 94" descr="Utilisateur avec un remplissage uni">
            <a:extLst>
              <a:ext uri="{FF2B5EF4-FFF2-40B4-BE49-F238E27FC236}">
                <a16:creationId xmlns:a16="http://schemas.microsoft.com/office/drawing/2014/main" id="{648DE3E5-9D2F-503C-91F8-EB06BBCDEA0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140351" y="1924844"/>
            <a:ext cx="429166" cy="429166"/>
          </a:xfrm>
          <a:prstGeom prst="rect">
            <a:avLst/>
          </a:prstGeom>
        </p:spPr>
      </p:pic>
      <p:pic>
        <p:nvPicPr>
          <p:cNvPr id="5" name="Graphique 4" descr="Bateau remorqueur avec un remplissage uni">
            <a:extLst>
              <a:ext uri="{FF2B5EF4-FFF2-40B4-BE49-F238E27FC236}">
                <a16:creationId xmlns:a16="http://schemas.microsoft.com/office/drawing/2014/main" id="{22B5B2ED-BAC9-934D-2D57-5D16D2B3A1B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670460" y="1571612"/>
            <a:ext cx="738664" cy="738664"/>
          </a:xfrm>
          <a:prstGeom prst="rect">
            <a:avLst/>
          </a:prstGeom>
        </p:spPr>
      </p:pic>
      <p:pic>
        <p:nvPicPr>
          <p:cNvPr id="96" name="Graphique 95" descr="Utilisateur avec un remplissage uni">
            <a:extLst>
              <a:ext uri="{FF2B5EF4-FFF2-40B4-BE49-F238E27FC236}">
                <a16:creationId xmlns:a16="http://schemas.microsoft.com/office/drawing/2014/main" id="{1C51B566-BF8D-0D7D-708B-F23D483DBF9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825209" y="1928302"/>
            <a:ext cx="429166" cy="429166"/>
          </a:xfrm>
          <a:prstGeom prst="rect">
            <a:avLst/>
          </a:prstGeom>
        </p:spPr>
      </p:pic>
      <p:sp>
        <p:nvSpPr>
          <p:cNvPr id="55" name="Titre 1">
            <a:extLst>
              <a:ext uri="{FF2B5EF4-FFF2-40B4-BE49-F238E27FC236}">
                <a16:creationId xmlns:a16="http://schemas.microsoft.com/office/drawing/2014/main" id="{D0910412-5E1B-BD1B-6ADF-8C014002EC94}"/>
              </a:ext>
            </a:extLst>
          </p:cNvPr>
          <p:cNvSpPr>
            <a:spLocks noGrp="1"/>
          </p:cNvSpPr>
          <p:nvPr>
            <p:ph type="title"/>
          </p:nvPr>
        </p:nvSpPr>
        <p:spPr>
          <a:xfrm>
            <a:off x="542108" y="364488"/>
            <a:ext cx="10515600" cy="738663"/>
          </a:xfrm>
        </p:spPr>
        <p:txBody>
          <a:bodyPr>
            <a:noAutofit/>
          </a:bodyPr>
          <a:lstStyle/>
          <a:p>
            <a:r>
              <a:rPr lang="fr-FR" sz="3200" dirty="0"/>
              <a:t>Similarités et différences marquées</a:t>
            </a:r>
            <a:br>
              <a:rPr lang="fr-FR" sz="3200" dirty="0"/>
            </a:br>
            <a:r>
              <a:rPr lang="fr-FR" sz="2000" dirty="0"/>
              <a:t>Exemples de situations, d’</a:t>
            </a:r>
            <a:r>
              <a:rPr lang="fr-FR" sz="2000" dirty="0">
                <a:solidFill>
                  <a:srgbClr val="00B050"/>
                </a:solidFill>
              </a:rPr>
              <a:t>avantages</a:t>
            </a:r>
            <a:r>
              <a:rPr lang="fr-FR" sz="2000" dirty="0"/>
              <a:t>, d’</a:t>
            </a:r>
            <a:r>
              <a:rPr lang="fr-FR" sz="2000" dirty="0">
                <a:solidFill>
                  <a:srgbClr val="FF0000"/>
                </a:solidFill>
              </a:rPr>
              <a:t>inconvénients, </a:t>
            </a:r>
            <a:r>
              <a:rPr lang="fr-FR" sz="2000" dirty="0"/>
              <a:t>d’</a:t>
            </a:r>
            <a:r>
              <a:rPr lang="fr-FR" sz="2000" dirty="0">
                <a:solidFill>
                  <a:schemeClr val="bg1">
                    <a:lumMod val="50000"/>
                  </a:schemeClr>
                </a:solidFill>
              </a:rPr>
              <a:t>actions </a:t>
            </a:r>
            <a:r>
              <a:rPr lang="fr-FR" sz="2000" dirty="0"/>
              <a:t>associées</a:t>
            </a:r>
            <a:br>
              <a:rPr lang="fr-FR" sz="2000" dirty="0"/>
            </a:br>
            <a:r>
              <a:rPr lang="fr-FR" sz="1000" dirty="0"/>
              <a:t>📅Evènements  , ✍️Contenus, ⚙️Structuration de Communauté, 📅+⚙️Structuration de moments, ✍️+⚙️ Structuration de Contenus</a:t>
            </a:r>
          </a:p>
        </p:txBody>
      </p:sp>
      <p:sp>
        <p:nvSpPr>
          <p:cNvPr id="60" name="Rectangle 59">
            <a:extLst>
              <a:ext uri="{FF2B5EF4-FFF2-40B4-BE49-F238E27FC236}">
                <a16:creationId xmlns:a16="http://schemas.microsoft.com/office/drawing/2014/main" id="{7DEDF455-7F02-B929-92D0-D7BFDF9A25AC}"/>
              </a:ext>
            </a:extLst>
          </p:cNvPr>
          <p:cNvSpPr/>
          <p:nvPr/>
        </p:nvSpPr>
        <p:spPr>
          <a:xfrm>
            <a:off x="1942249" y="775062"/>
            <a:ext cx="1027374" cy="20900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70865032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723E1A2-190A-A384-98CB-9A14D89C0CE3}"/>
              </a:ext>
            </a:extLst>
          </p:cNvPr>
          <p:cNvSpPr>
            <a:spLocks noGrp="1"/>
          </p:cNvSpPr>
          <p:nvPr>
            <p:ph type="title"/>
          </p:nvPr>
        </p:nvSpPr>
        <p:spPr>
          <a:xfrm>
            <a:off x="542108" y="364488"/>
            <a:ext cx="10515600" cy="738663"/>
          </a:xfrm>
        </p:spPr>
        <p:txBody>
          <a:bodyPr>
            <a:noAutofit/>
          </a:bodyPr>
          <a:lstStyle/>
          <a:p>
            <a:r>
              <a:rPr lang="fr-FR" sz="3200" dirty="0"/>
              <a:t>Similarités et différences marquées</a:t>
            </a:r>
            <a:br>
              <a:rPr lang="fr-FR" sz="3200" dirty="0"/>
            </a:br>
            <a:r>
              <a:rPr lang="fr-FR" sz="2000" dirty="0"/>
              <a:t>Exemples de situations, d’</a:t>
            </a:r>
            <a:r>
              <a:rPr lang="fr-FR" sz="2000" dirty="0">
                <a:solidFill>
                  <a:srgbClr val="00B050"/>
                </a:solidFill>
              </a:rPr>
              <a:t>avantages</a:t>
            </a:r>
            <a:r>
              <a:rPr lang="fr-FR" sz="2000" dirty="0"/>
              <a:t>, d’</a:t>
            </a:r>
            <a:r>
              <a:rPr lang="fr-FR" sz="2000" dirty="0">
                <a:solidFill>
                  <a:srgbClr val="FF0000"/>
                </a:solidFill>
              </a:rPr>
              <a:t>inconvénients, </a:t>
            </a:r>
            <a:r>
              <a:rPr lang="fr-FR" sz="2000" dirty="0"/>
              <a:t>d’</a:t>
            </a:r>
            <a:r>
              <a:rPr lang="fr-FR" sz="2000" dirty="0">
                <a:solidFill>
                  <a:schemeClr val="bg1">
                    <a:lumMod val="50000"/>
                  </a:schemeClr>
                </a:solidFill>
              </a:rPr>
              <a:t>actions </a:t>
            </a:r>
            <a:r>
              <a:rPr lang="fr-FR" sz="2000" dirty="0"/>
              <a:t>associées</a:t>
            </a:r>
            <a:br>
              <a:rPr lang="fr-FR" sz="2000" dirty="0"/>
            </a:br>
            <a:r>
              <a:rPr lang="fr-FR" sz="1000" dirty="0"/>
              <a:t>📅Evènements  , ✍️Contenus, ⚙️Structuration de Communauté, 📅+⚙️Structuration de moments, ✍️+⚙️ Structuration de Contenus</a:t>
            </a:r>
          </a:p>
        </p:txBody>
      </p:sp>
      <p:sp>
        <p:nvSpPr>
          <p:cNvPr id="4" name="Flèche : double flèche horizontale 3">
            <a:extLst>
              <a:ext uri="{FF2B5EF4-FFF2-40B4-BE49-F238E27FC236}">
                <a16:creationId xmlns:a16="http://schemas.microsoft.com/office/drawing/2014/main" id="{56A64584-73D0-A23F-B100-D16C8D367879}"/>
              </a:ext>
            </a:extLst>
          </p:cNvPr>
          <p:cNvSpPr/>
          <p:nvPr/>
        </p:nvSpPr>
        <p:spPr>
          <a:xfrm>
            <a:off x="4712931" y="2544979"/>
            <a:ext cx="2675981" cy="296091"/>
          </a:xfrm>
          <a:prstGeom prst="lef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6" name="ZoneTexte 5">
            <a:extLst>
              <a:ext uri="{FF2B5EF4-FFF2-40B4-BE49-F238E27FC236}">
                <a16:creationId xmlns:a16="http://schemas.microsoft.com/office/drawing/2014/main" id="{2A5DB254-B882-DACC-8488-F541488CA514}"/>
              </a:ext>
            </a:extLst>
          </p:cNvPr>
          <p:cNvSpPr txBox="1"/>
          <p:nvPr/>
        </p:nvSpPr>
        <p:spPr>
          <a:xfrm>
            <a:off x="7388912" y="2360925"/>
            <a:ext cx="2020389" cy="738664"/>
          </a:xfrm>
          <a:prstGeom prst="rect">
            <a:avLst/>
          </a:prstGeom>
          <a:solidFill>
            <a:srgbClr val="ED7D31"/>
          </a:solidFill>
        </p:spPr>
        <p:txBody>
          <a:bodyPr wrap="square" anchor="ctr">
            <a:spAutoFit/>
          </a:bodyPr>
          <a:lstStyle/>
          <a:p>
            <a:pPr algn="ctr"/>
            <a:r>
              <a:rPr lang="fr-FR" sz="1400" dirty="0"/>
              <a:t>Différences fortes de personnalités et d’approches</a:t>
            </a:r>
          </a:p>
        </p:txBody>
      </p:sp>
      <p:sp>
        <p:nvSpPr>
          <p:cNvPr id="8" name="ZoneTexte 7">
            <a:extLst>
              <a:ext uri="{FF2B5EF4-FFF2-40B4-BE49-F238E27FC236}">
                <a16:creationId xmlns:a16="http://schemas.microsoft.com/office/drawing/2014/main" id="{79974BCF-0D29-8760-A403-924E1C4BCA9A}"/>
              </a:ext>
            </a:extLst>
          </p:cNvPr>
          <p:cNvSpPr txBox="1"/>
          <p:nvPr/>
        </p:nvSpPr>
        <p:spPr>
          <a:xfrm>
            <a:off x="2863339" y="2366807"/>
            <a:ext cx="1854925" cy="738664"/>
          </a:xfrm>
          <a:prstGeom prst="rect">
            <a:avLst/>
          </a:prstGeom>
          <a:solidFill>
            <a:srgbClr val="ED7D31"/>
          </a:solidFill>
        </p:spPr>
        <p:txBody>
          <a:bodyPr wrap="square" anchor="ctr">
            <a:spAutoFit/>
          </a:bodyPr>
          <a:lstStyle/>
          <a:p>
            <a:pPr algn="ctr"/>
            <a:r>
              <a:rPr lang="fr-FR" sz="1400" dirty="0"/>
              <a:t>Similarités fortes de personnalités et d’approches</a:t>
            </a:r>
          </a:p>
        </p:txBody>
      </p:sp>
      <p:sp>
        <p:nvSpPr>
          <p:cNvPr id="18" name="Rectangle 17">
            <a:extLst>
              <a:ext uri="{FF2B5EF4-FFF2-40B4-BE49-F238E27FC236}">
                <a16:creationId xmlns:a16="http://schemas.microsoft.com/office/drawing/2014/main" id="{9000FF28-7C11-3C84-5B57-9738ADD2170E}"/>
              </a:ext>
            </a:extLst>
          </p:cNvPr>
          <p:cNvSpPr/>
          <p:nvPr/>
        </p:nvSpPr>
        <p:spPr>
          <a:xfrm>
            <a:off x="1942249" y="775062"/>
            <a:ext cx="1027374" cy="20900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ZoneTexte 50">
            <a:extLst>
              <a:ext uri="{FF2B5EF4-FFF2-40B4-BE49-F238E27FC236}">
                <a16:creationId xmlns:a16="http://schemas.microsoft.com/office/drawing/2014/main" id="{28321992-7F2B-D21E-2E33-FD96A71C53F9}"/>
              </a:ext>
            </a:extLst>
          </p:cNvPr>
          <p:cNvSpPr txBox="1"/>
          <p:nvPr/>
        </p:nvSpPr>
        <p:spPr>
          <a:xfrm>
            <a:off x="9468538" y="2625456"/>
            <a:ext cx="1269137" cy="784830"/>
          </a:xfrm>
          <a:prstGeom prst="rect">
            <a:avLst/>
          </a:prstGeom>
          <a:solidFill>
            <a:srgbClr val="54FFB3"/>
          </a:solidFill>
        </p:spPr>
        <p:txBody>
          <a:bodyPr wrap="square" anchor="ctr">
            <a:noAutofit/>
          </a:bodyPr>
          <a:lstStyle/>
          <a:p>
            <a:pPr algn="ctr"/>
            <a:r>
              <a:rPr lang="fr-FR" sz="1000" dirty="0"/>
              <a:t>Richesse des interactions, ouverture d’esprit à d’autres schémas, façon de penser</a:t>
            </a:r>
          </a:p>
        </p:txBody>
      </p:sp>
      <p:sp>
        <p:nvSpPr>
          <p:cNvPr id="52" name="ZoneTexte 51">
            <a:extLst>
              <a:ext uri="{FF2B5EF4-FFF2-40B4-BE49-F238E27FC236}">
                <a16:creationId xmlns:a16="http://schemas.microsoft.com/office/drawing/2014/main" id="{843A05F4-B41A-4694-38A4-297CBD0F4F10}"/>
              </a:ext>
            </a:extLst>
          </p:cNvPr>
          <p:cNvSpPr txBox="1"/>
          <p:nvPr/>
        </p:nvSpPr>
        <p:spPr>
          <a:xfrm>
            <a:off x="10796912" y="2620549"/>
            <a:ext cx="1269137" cy="784830"/>
          </a:xfrm>
          <a:prstGeom prst="rect">
            <a:avLst/>
          </a:prstGeom>
          <a:solidFill>
            <a:srgbClr val="54FFB3"/>
          </a:solidFill>
        </p:spPr>
        <p:txBody>
          <a:bodyPr wrap="square" anchor="ctr">
            <a:noAutofit/>
          </a:bodyPr>
          <a:lstStyle/>
          <a:p>
            <a:pPr algn="ctr"/>
            <a:r>
              <a:rPr lang="fr-FR" sz="1000" dirty="0"/>
              <a:t>Opportunités d’effet de complémentarité sur les personnalités et les interactions</a:t>
            </a:r>
          </a:p>
        </p:txBody>
      </p:sp>
      <p:sp>
        <p:nvSpPr>
          <p:cNvPr id="53" name="ZoneTexte 52">
            <a:extLst>
              <a:ext uri="{FF2B5EF4-FFF2-40B4-BE49-F238E27FC236}">
                <a16:creationId xmlns:a16="http://schemas.microsoft.com/office/drawing/2014/main" id="{3F5D9FC4-086E-94A7-DB1C-1B042586C6EC}"/>
              </a:ext>
            </a:extLst>
          </p:cNvPr>
          <p:cNvSpPr txBox="1"/>
          <p:nvPr/>
        </p:nvSpPr>
        <p:spPr>
          <a:xfrm>
            <a:off x="945572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sur l’organisation de l’événement annuel de l’entreprise, avec profils diversifiés</a:t>
            </a:r>
          </a:p>
        </p:txBody>
      </p:sp>
      <p:sp>
        <p:nvSpPr>
          <p:cNvPr id="54" name="ZoneTexte 53">
            <a:extLst>
              <a:ext uri="{FF2B5EF4-FFF2-40B4-BE49-F238E27FC236}">
                <a16:creationId xmlns:a16="http://schemas.microsoft.com/office/drawing/2014/main" id="{78DE3FA2-7181-D580-DC2B-7EEBA634F374}"/>
              </a:ext>
            </a:extLst>
          </p:cNvPr>
          <p:cNvSpPr txBox="1"/>
          <p:nvPr/>
        </p:nvSpPr>
        <p:spPr>
          <a:xfrm>
            <a:off x="1078409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des managers, avec différents styles et approches du management</a:t>
            </a:r>
          </a:p>
        </p:txBody>
      </p:sp>
      <p:sp>
        <p:nvSpPr>
          <p:cNvPr id="56" name="ZoneTexte 55">
            <a:extLst>
              <a:ext uri="{FF2B5EF4-FFF2-40B4-BE49-F238E27FC236}">
                <a16:creationId xmlns:a16="http://schemas.microsoft.com/office/drawing/2014/main" id="{9E1201AC-5400-12CD-67FE-66A1CAA3551D}"/>
              </a:ext>
            </a:extLst>
          </p:cNvPr>
          <p:cNvSpPr txBox="1"/>
          <p:nvPr/>
        </p:nvSpPr>
        <p:spPr>
          <a:xfrm>
            <a:off x="9455723" y="4028237"/>
            <a:ext cx="1269137" cy="784830"/>
          </a:xfrm>
          <a:prstGeom prst="rect">
            <a:avLst/>
          </a:prstGeom>
          <a:solidFill>
            <a:srgbClr val="FF7C80"/>
          </a:solidFill>
        </p:spPr>
        <p:txBody>
          <a:bodyPr wrap="square" anchor="ctr">
            <a:noAutofit/>
          </a:bodyPr>
          <a:lstStyle/>
          <a:p>
            <a:pPr algn="ctr"/>
            <a:r>
              <a:rPr lang="fr-FR" sz="1000" dirty="0"/>
              <a:t>Peut nécessiter plus de temps et d’efforts pour se mettre d’accord</a:t>
            </a:r>
          </a:p>
        </p:txBody>
      </p:sp>
      <p:sp>
        <p:nvSpPr>
          <p:cNvPr id="57" name="ZoneTexte 56">
            <a:extLst>
              <a:ext uri="{FF2B5EF4-FFF2-40B4-BE49-F238E27FC236}">
                <a16:creationId xmlns:a16="http://schemas.microsoft.com/office/drawing/2014/main" id="{C3F99FCB-EC1D-A2A9-5CEE-5D5910226FC4}"/>
              </a:ext>
            </a:extLst>
          </p:cNvPr>
          <p:cNvSpPr txBox="1"/>
          <p:nvPr/>
        </p:nvSpPr>
        <p:spPr>
          <a:xfrm>
            <a:off x="10784097" y="4028237"/>
            <a:ext cx="1269137" cy="784830"/>
          </a:xfrm>
          <a:prstGeom prst="rect">
            <a:avLst/>
          </a:prstGeom>
          <a:solidFill>
            <a:srgbClr val="FF7C80"/>
          </a:solidFill>
        </p:spPr>
        <p:txBody>
          <a:bodyPr wrap="square" anchor="ctr">
            <a:noAutofit/>
          </a:bodyPr>
          <a:lstStyle/>
          <a:p>
            <a:pPr algn="ctr"/>
            <a:r>
              <a:rPr lang="fr-FR" sz="1000" dirty="0"/>
              <a:t>Risques de conflits, mésententes sur les décisions collectives</a:t>
            </a:r>
          </a:p>
        </p:txBody>
      </p:sp>
      <p:sp>
        <p:nvSpPr>
          <p:cNvPr id="47" name="ZoneTexte 46">
            <a:extLst>
              <a:ext uri="{FF2B5EF4-FFF2-40B4-BE49-F238E27FC236}">
                <a16:creationId xmlns:a16="http://schemas.microsoft.com/office/drawing/2014/main" id="{DC34A362-59C6-88E4-D742-DBB9FF55CC81}"/>
              </a:ext>
            </a:extLst>
          </p:cNvPr>
          <p:cNvSpPr txBox="1"/>
          <p:nvPr/>
        </p:nvSpPr>
        <p:spPr>
          <a:xfrm>
            <a:off x="188984" y="2615642"/>
            <a:ext cx="1269137" cy="784830"/>
          </a:xfrm>
          <a:prstGeom prst="rect">
            <a:avLst/>
          </a:prstGeom>
          <a:solidFill>
            <a:srgbClr val="54FFB3"/>
          </a:solidFill>
        </p:spPr>
        <p:txBody>
          <a:bodyPr wrap="square" anchor="ctr">
            <a:noAutofit/>
          </a:bodyPr>
          <a:lstStyle/>
          <a:p>
            <a:pPr algn="ctr"/>
            <a:r>
              <a:rPr lang="fr-FR" sz="1000" dirty="0"/>
              <a:t>Plus grande de démarrage, « Impression de déjà se connaître et de se comprendre »</a:t>
            </a:r>
          </a:p>
        </p:txBody>
      </p:sp>
      <p:sp>
        <p:nvSpPr>
          <p:cNvPr id="48" name="ZoneTexte 47">
            <a:extLst>
              <a:ext uri="{FF2B5EF4-FFF2-40B4-BE49-F238E27FC236}">
                <a16:creationId xmlns:a16="http://schemas.microsoft.com/office/drawing/2014/main" id="{23CCAFA3-5C21-BFE3-0E41-DFA6DA336BC2}"/>
              </a:ext>
            </a:extLst>
          </p:cNvPr>
          <p:cNvSpPr txBox="1"/>
          <p:nvPr/>
        </p:nvSpPr>
        <p:spPr>
          <a:xfrm>
            <a:off x="1517358" y="2610735"/>
            <a:ext cx="1269137" cy="784830"/>
          </a:xfrm>
          <a:prstGeom prst="rect">
            <a:avLst/>
          </a:prstGeom>
          <a:solidFill>
            <a:srgbClr val="54FFB3"/>
          </a:solidFill>
        </p:spPr>
        <p:txBody>
          <a:bodyPr wrap="square" anchor="ctr">
            <a:noAutofit/>
          </a:bodyPr>
          <a:lstStyle/>
          <a:p>
            <a:pPr algn="ctr"/>
            <a:r>
              <a:rPr lang="fr-FR" sz="1000" dirty="0"/>
              <a:t>Plus grandes chances d’affinités et d’alignement sur l’approche</a:t>
            </a:r>
          </a:p>
        </p:txBody>
      </p:sp>
      <p:sp>
        <p:nvSpPr>
          <p:cNvPr id="49" name="ZoneTexte 48">
            <a:extLst>
              <a:ext uri="{FF2B5EF4-FFF2-40B4-BE49-F238E27FC236}">
                <a16:creationId xmlns:a16="http://schemas.microsoft.com/office/drawing/2014/main" id="{3F2E95BE-06A0-37E0-F90F-8F8361C86BDE}"/>
              </a:ext>
            </a:extLst>
          </p:cNvPr>
          <p:cNvSpPr txBox="1"/>
          <p:nvPr/>
        </p:nvSpPr>
        <p:spPr>
          <a:xfrm>
            <a:off x="18898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d’innovation avec plein de curieux, aventureux, testeurs, créatifs</a:t>
            </a:r>
          </a:p>
        </p:txBody>
      </p:sp>
      <p:sp>
        <p:nvSpPr>
          <p:cNvPr id="50" name="ZoneTexte 49">
            <a:extLst>
              <a:ext uri="{FF2B5EF4-FFF2-40B4-BE49-F238E27FC236}">
                <a16:creationId xmlns:a16="http://schemas.microsoft.com/office/drawing/2014/main" id="{5E58DCA4-5AC7-6788-6B25-3FEACFE32C39}"/>
              </a:ext>
            </a:extLst>
          </p:cNvPr>
          <p:cNvSpPr txBox="1"/>
          <p:nvPr/>
        </p:nvSpPr>
        <p:spPr>
          <a:xfrm>
            <a:off x="151735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 Soft </a:t>
            </a:r>
            <a:r>
              <a:rPr lang="fr-FR" sz="1000" dirty="0" err="1"/>
              <a:t>Skills</a:t>
            </a:r>
            <a:r>
              <a:rPr lang="fr-FR" sz="1000" dirty="0"/>
              <a:t> » avec membres majoritairement empathiques</a:t>
            </a:r>
          </a:p>
        </p:txBody>
      </p:sp>
      <p:sp>
        <p:nvSpPr>
          <p:cNvPr id="58" name="ZoneTexte 57">
            <a:extLst>
              <a:ext uri="{FF2B5EF4-FFF2-40B4-BE49-F238E27FC236}">
                <a16:creationId xmlns:a16="http://schemas.microsoft.com/office/drawing/2014/main" id="{E8DBD87D-6BAB-7936-0AF0-5DC01799F47F}"/>
              </a:ext>
            </a:extLst>
          </p:cNvPr>
          <p:cNvSpPr txBox="1"/>
          <p:nvPr/>
        </p:nvSpPr>
        <p:spPr>
          <a:xfrm>
            <a:off x="188984" y="4068990"/>
            <a:ext cx="1269137" cy="784830"/>
          </a:xfrm>
          <a:prstGeom prst="rect">
            <a:avLst/>
          </a:prstGeom>
          <a:solidFill>
            <a:srgbClr val="FF7C80"/>
          </a:solidFill>
        </p:spPr>
        <p:txBody>
          <a:bodyPr wrap="square" anchor="ctr">
            <a:noAutofit/>
          </a:bodyPr>
          <a:lstStyle/>
          <a:p>
            <a:pPr algn="ctr"/>
            <a:r>
              <a:rPr lang="fr-FR" sz="1000" dirty="0"/>
              <a:t>La proximité informelle risque de mettre de côté très longtemps la formalisation </a:t>
            </a:r>
          </a:p>
        </p:txBody>
      </p:sp>
      <p:sp>
        <p:nvSpPr>
          <p:cNvPr id="59" name="ZoneTexte 58">
            <a:extLst>
              <a:ext uri="{FF2B5EF4-FFF2-40B4-BE49-F238E27FC236}">
                <a16:creationId xmlns:a16="http://schemas.microsoft.com/office/drawing/2014/main" id="{A20FAF36-4079-42D6-19D2-83094F4D7B7B}"/>
              </a:ext>
            </a:extLst>
          </p:cNvPr>
          <p:cNvSpPr txBox="1"/>
          <p:nvPr/>
        </p:nvSpPr>
        <p:spPr>
          <a:xfrm>
            <a:off x="1517358" y="4068990"/>
            <a:ext cx="1269137" cy="784830"/>
          </a:xfrm>
          <a:prstGeom prst="rect">
            <a:avLst/>
          </a:prstGeom>
          <a:solidFill>
            <a:srgbClr val="FF7C80"/>
          </a:solidFill>
        </p:spPr>
        <p:txBody>
          <a:bodyPr wrap="square" anchor="ctr">
            <a:noAutofit/>
          </a:bodyPr>
          <a:lstStyle/>
          <a:p>
            <a:pPr algn="ctr"/>
            <a:r>
              <a:rPr lang="fr-FR" sz="1000" dirty="0"/>
              <a:t>Risque d’exclusion ou de fermeture vis-à-vis de personnalités différentes</a:t>
            </a:r>
          </a:p>
        </p:txBody>
      </p:sp>
      <p:grpSp>
        <p:nvGrpSpPr>
          <p:cNvPr id="32" name="Groupe 31">
            <a:extLst>
              <a:ext uri="{FF2B5EF4-FFF2-40B4-BE49-F238E27FC236}">
                <a16:creationId xmlns:a16="http://schemas.microsoft.com/office/drawing/2014/main" id="{9B119CD2-50D6-61CC-4BF9-FE065DBB9354}"/>
              </a:ext>
            </a:extLst>
          </p:cNvPr>
          <p:cNvGrpSpPr/>
          <p:nvPr/>
        </p:nvGrpSpPr>
        <p:grpSpPr>
          <a:xfrm>
            <a:off x="2879778" y="1941836"/>
            <a:ext cx="1807457" cy="321139"/>
            <a:chOff x="2302056" y="1744362"/>
            <a:chExt cx="2653999" cy="471548"/>
          </a:xfrm>
        </p:grpSpPr>
        <p:sp>
          <p:nvSpPr>
            <p:cNvPr id="33" name="ZoneTexte 32">
              <a:extLst>
                <a:ext uri="{FF2B5EF4-FFF2-40B4-BE49-F238E27FC236}">
                  <a16:creationId xmlns:a16="http://schemas.microsoft.com/office/drawing/2014/main" id="{3A84DB7C-EE69-EB46-D1C9-A37913F8B615}"/>
                </a:ext>
              </a:extLst>
            </p:cNvPr>
            <p:cNvSpPr txBox="1"/>
            <p:nvPr/>
          </p:nvSpPr>
          <p:spPr>
            <a:xfrm>
              <a:off x="3140977" y="1908133"/>
              <a:ext cx="902360" cy="307777"/>
            </a:xfrm>
            <a:prstGeom prst="rect">
              <a:avLst/>
            </a:prstGeom>
            <a:noFill/>
          </p:spPr>
          <p:txBody>
            <a:bodyPr wrap="square" anchor="ctr">
              <a:spAutoFit/>
            </a:bodyPr>
            <a:lstStyle/>
            <a:p>
              <a:pPr algn="ctr"/>
              <a:r>
                <a:rPr lang="fr-FR" sz="1400" dirty="0"/>
                <a:t>ou</a:t>
              </a:r>
            </a:p>
          </p:txBody>
        </p:sp>
        <p:pic>
          <p:nvPicPr>
            <p:cNvPr id="34" name="Graphique 33" descr="Visage sans expression avec remplissage uni avec un remplissage uni">
              <a:extLst>
                <a:ext uri="{FF2B5EF4-FFF2-40B4-BE49-F238E27FC236}">
                  <a16:creationId xmlns:a16="http://schemas.microsoft.com/office/drawing/2014/main" id="{C5C20F6C-E483-E35B-0B7E-C14CBB05599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24665" y="1744362"/>
              <a:ext cx="457200" cy="457200"/>
            </a:xfrm>
            <a:prstGeom prst="rect">
              <a:avLst/>
            </a:prstGeom>
          </p:spPr>
        </p:pic>
        <p:pic>
          <p:nvPicPr>
            <p:cNvPr id="35" name="Graphique 34" descr="Visage sans expression avec remplissage uni avec un remplissage uni">
              <a:extLst>
                <a:ext uri="{FF2B5EF4-FFF2-40B4-BE49-F238E27FC236}">
                  <a16:creationId xmlns:a16="http://schemas.microsoft.com/office/drawing/2014/main" id="{1A0C4B18-05BB-C7A4-34E2-D445C919C60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20855" y="1744362"/>
              <a:ext cx="457200" cy="457200"/>
            </a:xfrm>
            <a:prstGeom prst="rect">
              <a:avLst/>
            </a:prstGeom>
          </p:spPr>
        </p:pic>
        <p:pic>
          <p:nvPicPr>
            <p:cNvPr id="36" name="Graphique 35" descr="Visage sans expression avec remplissage uni avec un remplissage uni">
              <a:extLst>
                <a:ext uri="{FF2B5EF4-FFF2-40B4-BE49-F238E27FC236}">
                  <a16:creationId xmlns:a16="http://schemas.microsoft.com/office/drawing/2014/main" id="{1F8BB3DD-FEB8-69A7-4ABF-232D3F418A7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498855" y="1744362"/>
              <a:ext cx="457200" cy="457200"/>
            </a:xfrm>
            <a:prstGeom prst="rect">
              <a:avLst/>
            </a:prstGeom>
          </p:spPr>
        </p:pic>
        <p:pic>
          <p:nvPicPr>
            <p:cNvPr id="37" name="Graphique 36" descr="Visage touché par une étoile avec remplissage uni avec un remplissage uni">
              <a:extLst>
                <a:ext uri="{FF2B5EF4-FFF2-40B4-BE49-F238E27FC236}">
                  <a16:creationId xmlns:a16="http://schemas.microsoft.com/office/drawing/2014/main" id="{DBF699FE-93D7-C5F4-894A-04E425442FB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053574" y="1744362"/>
              <a:ext cx="457200" cy="457200"/>
            </a:xfrm>
            <a:prstGeom prst="rect">
              <a:avLst/>
            </a:prstGeom>
          </p:spPr>
        </p:pic>
        <p:pic>
          <p:nvPicPr>
            <p:cNvPr id="38" name="Graphique 37" descr="Visage touché par une étoile avec remplissage uni avec un remplissage uni">
              <a:extLst>
                <a:ext uri="{FF2B5EF4-FFF2-40B4-BE49-F238E27FC236}">
                  <a16:creationId xmlns:a16="http://schemas.microsoft.com/office/drawing/2014/main" id="{B4DE9DBC-98B5-5FD4-8ECD-E6CE554CB3B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677622" y="1744362"/>
              <a:ext cx="457200" cy="457200"/>
            </a:xfrm>
            <a:prstGeom prst="rect">
              <a:avLst/>
            </a:prstGeom>
          </p:spPr>
        </p:pic>
        <p:pic>
          <p:nvPicPr>
            <p:cNvPr id="39" name="Graphique 38" descr="Visage touché par une étoile avec remplissage uni avec un remplissage uni">
              <a:extLst>
                <a:ext uri="{FF2B5EF4-FFF2-40B4-BE49-F238E27FC236}">
                  <a16:creationId xmlns:a16="http://schemas.microsoft.com/office/drawing/2014/main" id="{4D45E3EA-D6BA-FDF9-6345-3F94756B794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302056" y="1744362"/>
              <a:ext cx="457200" cy="457200"/>
            </a:xfrm>
            <a:prstGeom prst="rect">
              <a:avLst/>
            </a:prstGeom>
          </p:spPr>
        </p:pic>
      </p:grpSp>
      <p:pic>
        <p:nvPicPr>
          <p:cNvPr id="40" name="Graphique 39" descr="Visage de diable avec remplissage solide avec un remplissage uni">
            <a:extLst>
              <a:ext uri="{FF2B5EF4-FFF2-40B4-BE49-F238E27FC236}">
                <a16:creationId xmlns:a16="http://schemas.microsoft.com/office/drawing/2014/main" id="{4FF323F5-B083-39E7-9C96-FEBBA42418B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517192" y="1805775"/>
            <a:ext cx="457200" cy="457200"/>
          </a:xfrm>
          <a:prstGeom prst="rect">
            <a:avLst/>
          </a:prstGeom>
        </p:spPr>
      </p:pic>
      <p:pic>
        <p:nvPicPr>
          <p:cNvPr id="41" name="Graphique 40" descr="Visage sans expression avec remplissage uni avec un remplissage uni">
            <a:extLst>
              <a:ext uri="{FF2B5EF4-FFF2-40B4-BE49-F238E27FC236}">
                <a16:creationId xmlns:a16="http://schemas.microsoft.com/office/drawing/2014/main" id="{F6AA9479-7F1E-26BC-21B1-E3CD806CA1C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944974" y="1805775"/>
            <a:ext cx="457200" cy="457200"/>
          </a:xfrm>
          <a:prstGeom prst="rect">
            <a:avLst/>
          </a:prstGeom>
        </p:spPr>
      </p:pic>
      <p:pic>
        <p:nvPicPr>
          <p:cNvPr id="42" name="Graphique 41" descr="Visage d’ange avec remplissage uni avec un remplissage uni">
            <a:extLst>
              <a:ext uri="{FF2B5EF4-FFF2-40B4-BE49-F238E27FC236}">
                <a16:creationId xmlns:a16="http://schemas.microsoft.com/office/drawing/2014/main" id="{7003DD36-DC59-8BEC-DF10-2E32A6BFA55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397821" y="1805775"/>
            <a:ext cx="457200" cy="457200"/>
          </a:xfrm>
          <a:prstGeom prst="rect">
            <a:avLst/>
          </a:prstGeom>
        </p:spPr>
      </p:pic>
      <p:pic>
        <p:nvPicPr>
          <p:cNvPr id="43" name="Graphique 42" descr="Visage touché par une étoile avec remplissage uni avec un remplissage uni">
            <a:extLst>
              <a:ext uri="{FF2B5EF4-FFF2-40B4-BE49-F238E27FC236}">
                <a16:creationId xmlns:a16="http://schemas.microsoft.com/office/drawing/2014/main" id="{F19CC728-0112-5F18-6177-9866858CD86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855022" y="1805775"/>
            <a:ext cx="457200" cy="457200"/>
          </a:xfrm>
          <a:prstGeom prst="rect">
            <a:avLst/>
          </a:prstGeom>
        </p:spPr>
      </p:pic>
      <p:sp>
        <p:nvSpPr>
          <p:cNvPr id="44" name="ZoneTexte 43">
            <a:extLst>
              <a:ext uri="{FF2B5EF4-FFF2-40B4-BE49-F238E27FC236}">
                <a16:creationId xmlns:a16="http://schemas.microsoft.com/office/drawing/2014/main" id="{AE2F8F53-8187-23C6-5076-F1395AB3E3EE}"/>
              </a:ext>
            </a:extLst>
          </p:cNvPr>
          <p:cNvSpPr txBox="1"/>
          <p:nvPr/>
        </p:nvSpPr>
        <p:spPr>
          <a:xfrm>
            <a:off x="6544555" y="3312388"/>
            <a:ext cx="1269137" cy="784830"/>
          </a:xfrm>
          <a:prstGeom prst="rect">
            <a:avLst/>
          </a:prstGeom>
          <a:solidFill>
            <a:schemeClr val="bg1">
              <a:lumMod val="95000"/>
            </a:schemeClr>
          </a:solidFill>
          <a:ln>
            <a:noFill/>
          </a:ln>
        </p:spPr>
        <p:txBody>
          <a:bodyPr wrap="square" anchor="ctr">
            <a:noAutofit/>
          </a:bodyPr>
          <a:lstStyle/>
          <a:p>
            <a:pPr algn="ctr"/>
            <a:r>
              <a:rPr lang="fr-FR" sz="1000" dirty="0"/>
              <a:t>📅Atelier « Les 6 chapeaux de Bono » pour aborder des sujets sous différents angles</a:t>
            </a:r>
          </a:p>
        </p:txBody>
      </p:sp>
      <p:sp>
        <p:nvSpPr>
          <p:cNvPr id="45" name="ZoneTexte 44">
            <a:extLst>
              <a:ext uri="{FF2B5EF4-FFF2-40B4-BE49-F238E27FC236}">
                <a16:creationId xmlns:a16="http://schemas.microsoft.com/office/drawing/2014/main" id="{BFDD295E-84BF-5F6A-B9F3-AD493E96B4AA}"/>
              </a:ext>
            </a:extLst>
          </p:cNvPr>
          <p:cNvSpPr txBox="1"/>
          <p:nvPr/>
        </p:nvSpPr>
        <p:spPr>
          <a:xfrm>
            <a:off x="7880143" y="3312388"/>
            <a:ext cx="1269137" cy="784830"/>
          </a:xfrm>
          <a:prstGeom prst="rect">
            <a:avLst/>
          </a:prstGeom>
          <a:solidFill>
            <a:schemeClr val="bg1">
              <a:lumMod val="95000"/>
            </a:schemeClr>
          </a:solidFill>
          <a:ln>
            <a:noFill/>
          </a:ln>
        </p:spPr>
        <p:txBody>
          <a:bodyPr wrap="square" anchor="ctr">
            <a:noAutofit/>
          </a:bodyPr>
          <a:lstStyle/>
          <a:p>
            <a:pPr algn="ctr"/>
            <a:r>
              <a:rPr lang="fr-FR" sz="1000" dirty="0"/>
              <a:t>📅 Découverte de grilles de lectures pour connaissance de soi et des différences de chacun</a:t>
            </a:r>
          </a:p>
        </p:txBody>
      </p:sp>
      <p:sp>
        <p:nvSpPr>
          <p:cNvPr id="63" name="ZoneTexte 62">
            <a:extLst>
              <a:ext uri="{FF2B5EF4-FFF2-40B4-BE49-F238E27FC236}">
                <a16:creationId xmlns:a16="http://schemas.microsoft.com/office/drawing/2014/main" id="{A02E28D0-0657-515E-41BB-8FBBB40FC45B}"/>
              </a:ext>
            </a:extLst>
          </p:cNvPr>
          <p:cNvSpPr txBox="1"/>
          <p:nvPr/>
        </p:nvSpPr>
        <p:spPr>
          <a:xfrm>
            <a:off x="3042722" y="3314265"/>
            <a:ext cx="1269137" cy="784830"/>
          </a:xfrm>
          <a:prstGeom prst="rect">
            <a:avLst/>
          </a:prstGeom>
          <a:solidFill>
            <a:schemeClr val="bg1">
              <a:lumMod val="95000"/>
            </a:schemeClr>
          </a:solidFill>
          <a:ln>
            <a:noFill/>
          </a:ln>
        </p:spPr>
        <p:txBody>
          <a:bodyPr wrap="square" anchor="ctr">
            <a:noAutofit/>
          </a:bodyPr>
          <a:lstStyle/>
          <a:p>
            <a:pPr algn="ctr"/>
            <a:r>
              <a:rPr lang="fr-FR" sz="1000" dirty="0"/>
              <a:t>📅Groupes de soutien</a:t>
            </a:r>
          </a:p>
        </p:txBody>
      </p:sp>
      <p:sp>
        <p:nvSpPr>
          <p:cNvPr id="64" name="ZoneTexte 63">
            <a:extLst>
              <a:ext uri="{FF2B5EF4-FFF2-40B4-BE49-F238E27FC236}">
                <a16:creationId xmlns:a16="http://schemas.microsoft.com/office/drawing/2014/main" id="{7ABB0BA2-198E-4B64-6783-94049364158B}"/>
              </a:ext>
            </a:extLst>
          </p:cNvPr>
          <p:cNvSpPr txBox="1"/>
          <p:nvPr/>
        </p:nvSpPr>
        <p:spPr>
          <a:xfrm>
            <a:off x="4378310" y="3314265"/>
            <a:ext cx="1269137" cy="784830"/>
          </a:xfrm>
          <a:prstGeom prst="rect">
            <a:avLst/>
          </a:prstGeom>
          <a:solidFill>
            <a:schemeClr val="bg1">
              <a:lumMod val="95000"/>
            </a:schemeClr>
          </a:solidFill>
          <a:ln>
            <a:noFill/>
          </a:ln>
        </p:spPr>
        <p:txBody>
          <a:bodyPr wrap="square" anchor="ctr">
            <a:noAutofit/>
          </a:bodyPr>
          <a:lstStyle/>
          <a:p>
            <a:pPr algn="ctr"/>
            <a:r>
              <a:rPr lang="fr-FR" sz="1000" dirty="0"/>
              <a:t>✍️Co-écriture des valeurs (facilitée), manifeste, et autres artefacts</a:t>
            </a:r>
          </a:p>
        </p:txBody>
      </p:sp>
      <p:sp>
        <p:nvSpPr>
          <p:cNvPr id="65" name="ZoneTexte 64">
            <a:extLst>
              <a:ext uri="{FF2B5EF4-FFF2-40B4-BE49-F238E27FC236}">
                <a16:creationId xmlns:a16="http://schemas.microsoft.com/office/drawing/2014/main" id="{7C39BC48-A41B-4D24-21C6-7C26F6D0976C}"/>
              </a:ext>
            </a:extLst>
          </p:cNvPr>
          <p:cNvSpPr txBox="1"/>
          <p:nvPr/>
        </p:nvSpPr>
        <p:spPr>
          <a:xfrm>
            <a:off x="3042722" y="4180517"/>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⚙️Systèmes de mentoring</a:t>
            </a:r>
          </a:p>
        </p:txBody>
      </p:sp>
      <p:sp>
        <p:nvSpPr>
          <p:cNvPr id="66" name="ZoneTexte 65">
            <a:extLst>
              <a:ext uri="{FF2B5EF4-FFF2-40B4-BE49-F238E27FC236}">
                <a16:creationId xmlns:a16="http://schemas.microsoft.com/office/drawing/2014/main" id="{33F667CA-2895-0F45-9222-DE517464535F}"/>
              </a:ext>
            </a:extLst>
          </p:cNvPr>
          <p:cNvSpPr txBox="1"/>
          <p:nvPr/>
        </p:nvSpPr>
        <p:spPr>
          <a:xfrm>
            <a:off x="4378310" y="4180517"/>
            <a:ext cx="1269137" cy="784830"/>
          </a:xfrm>
          <a:prstGeom prst="rect">
            <a:avLst/>
          </a:prstGeom>
          <a:solidFill>
            <a:schemeClr val="bg1">
              <a:lumMod val="95000"/>
            </a:schemeClr>
          </a:solidFill>
          <a:ln>
            <a:noFill/>
          </a:ln>
        </p:spPr>
        <p:txBody>
          <a:bodyPr wrap="square" anchor="ctr">
            <a:noAutofit/>
          </a:bodyPr>
          <a:lstStyle/>
          <a:p>
            <a:pPr algn="ctr"/>
            <a:r>
              <a:rPr lang="fr-FR" sz="1000" dirty="0"/>
              <a:t>✍️Contenus (ex: vidéo) de « réaction » (à des événements ou à des contenus)</a:t>
            </a:r>
          </a:p>
        </p:txBody>
      </p:sp>
      <p:sp>
        <p:nvSpPr>
          <p:cNvPr id="67" name="ZoneTexte 66">
            <a:extLst>
              <a:ext uri="{FF2B5EF4-FFF2-40B4-BE49-F238E27FC236}">
                <a16:creationId xmlns:a16="http://schemas.microsoft.com/office/drawing/2014/main" id="{671C9815-EE1D-AE0D-8CD0-8A59AA9E93DA}"/>
              </a:ext>
            </a:extLst>
          </p:cNvPr>
          <p:cNvSpPr txBox="1"/>
          <p:nvPr/>
        </p:nvSpPr>
        <p:spPr>
          <a:xfrm>
            <a:off x="6544555" y="4163733"/>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innovation et idéation utilisant différentes formes de créativité</a:t>
            </a:r>
          </a:p>
        </p:txBody>
      </p:sp>
      <p:sp>
        <p:nvSpPr>
          <p:cNvPr id="68" name="ZoneTexte 67">
            <a:extLst>
              <a:ext uri="{FF2B5EF4-FFF2-40B4-BE49-F238E27FC236}">
                <a16:creationId xmlns:a16="http://schemas.microsoft.com/office/drawing/2014/main" id="{5291CC23-13A1-812D-C640-F8A7EAC88035}"/>
              </a:ext>
            </a:extLst>
          </p:cNvPr>
          <p:cNvSpPr txBox="1"/>
          <p:nvPr/>
        </p:nvSpPr>
        <p:spPr>
          <a:xfrm>
            <a:off x="7880143" y="4163733"/>
            <a:ext cx="1269137" cy="784830"/>
          </a:xfrm>
          <a:prstGeom prst="rect">
            <a:avLst/>
          </a:prstGeom>
          <a:solidFill>
            <a:schemeClr val="bg1">
              <a:lumMod val="95000"/>
            </a:schemeClr>
          </a:solidFill>
          <a:ln>
            <a:noFill/>
          </a:ln>
        </p:spPr>
        <p:txBody>
          <a:bodyPr wrap="square" anchor="ctr">
            <a:noAutofit/>
          </a:bodyPr>
          <a:lstStyle/>
          <a:p>
            <a:pPr algn="ctr"/>
            <a:r>
              <a:rPr lang="fr-FR" sz="1000" dirty="0"/>
              <a:t>📅Organisation de tests de personnalités (Hogan, </a:t>
            </a:r>
            <a:r>
              <a:rPr lang="fr-FR" sz="1000" dirty="0" err="1"/>
              <a:t>etc</a:t>
            </a:r>
            <a:r>
              <a:rPr lang="fr-FR" sz="1000" dirty="0"/>
              <a:t>) et échanges sur le résultat</a:t>
            </a:r>
          </a:p>
        </p:txBody>
      </p:sp>
      <p:sp>
        <p:nvSpPr>
          <p:cNvPr id="69" name="ZoneTexte 68">
            <a:extLst>
              <a:ext uri="{FF2B5EF4-FFF2-40B4-BE49-F238E27FC236}">
                <a16:creationId xmlns:a16="http://schemas.microsoft.com/office/drawing/2014/main" id="{0CFBE801-F3DF-A757-11F7-9CAA020CBD34}"/>
              </a:ext>
            </a:extLst>
          </p:cNvPr>
          <p:cNvSpPr txBox="1"/>
          <p:nvPr/>
        </p:nvSpPr>
        <p:spPr>
          <a:xfrm>
            <a:off x="3042722" y="5046769"/>
            <a:ext cx="1269137" cy="784830"/>
          </a:xfrm>
          <a:prstGeom prst="rect">
            <a:avLst/>
          </a:prstGeom>
          <a:solidFill>
            <a:schemeClr val="bg1">
              <a:lumMod val="95000"/>
            </a:schemeClr>
          </a:solidFill>
          <a:ln>
            <a:noFill/>
          </a:ln>
        </p:spPr>
        <p:txBody>
          <a:bodyPr wrap="square" anchor="ctr">
            <a:noAutofit/>
          </a:bodyPr>
          <a:lstStyle/>
          <a:p>
            <a:pPr algn="ctr"/>
            <a:r>
              <a:rPr lang="fr-FR" sz="1000" dirty="0"/>
              <a:t>⚙️Choix d’activités correspondant aux traits de personnalité communs</a:t>
            </a:r>
          </a:p>
        </p:txBody>
      </p:sp>
      <p:sp>
        <p:nvSpPr>
          <p:cNvPr id="70" name="ZoneTexte 69">
            <a:extLst>
              <a:ext uri="{FF2B5EF4-FFF2-40B4-BE49-F238E27FC236}">
                <a16:creationId xmlns:a16="http://schemas.microsoft.com/office/drawing/2014/main" id="{DFF59CF9-B607-FAC8-1739-F3D8BAF090F6}"/>
              </a:ext>
            </a:extLst>
          </p:cNvPr>
          <p:cNvSpPr txBox="1"/>
          <p:nvPr/>
        </p:nvSpPr>
        <p:spPr>
          <a:xfrm>
            <a:off x="4378310" y="5046769"/>
            <a:ext cx="1269137" cy="784830"/>
          </a:xfrm>
          <a:prstGeom prst="rect">
            <a:avLst/>
          </a:prstGeom>
          <a:solidFill>
            <a:schemeClr val="bg1">
              <a:lumMod val="95000"/>
            </a:schemeClr>
          </a:solidFill>
          <a:ln>
            <a:noFill/>
          </a:ln>
        </p:spPr>
        <p:txBody>
          <a:bodyPr wrap="square" anchor="ctr">
            <a:noAutofit/>
          </a:bodyPr>
          <a:lstStyle/>
          <a:p>
            <a:pPr algn="ctr"/>
            <a:r>
              <a:rPr lang="fr-FR" sz="1000" dirty="0"/>
              <a:t>📅️✍️Evènements ou contenus « Comment faire X quand on est Y… »</a:t>
            </a:r>
          </a:p>
        </p:txBody>
      </p:sp>
      <p:sp>
        <p:nvSpPr>
          <p:cNvPr id="71" name="ZoneTexte 70">
            <a:extLst>
              <a:ext uri="{FF2B5EF4-FFF2-40B4-BE49-F238E27FC236}">
                <a16:creationId xmlns:a16="http://schemas.microsoft.com/office/drawing/2014/main" id="{DD8E4BCA-FAD2-921E-B86A-A9BC25782F0A}"/>
              </a:ext>
            </a:extLst>
          </p:cNvPr>
          <p:cNvSpPr txBox="1"/>
          <p:nvPr/>
        </p:nvSpPr>
        <p:spPr>
          <a:xfrm>
            <a:off x="3042720" y="5913021"/>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d’amélioration continue axés valeurs (et dissonances)</a:t>
            </a:r>
          </a:p>
        </p:txBody>
      </p:sp>
      <p:sp>
        <p:nvSpPr>
          <p:cNvPr id="72" name="ZoneTexte 71">
            <a:extLst>
              <a:ext uri="{FF2B5EF4-FFF2-40B4-BE49-F238E27FC236}">
                <a16:creationId xmlns:a16="http://schemas.microsoft.com/office/drawing/2014/main" id="{B4FA0706-2AAB-458A-1B19-F94B9F48B3FD}"/>
              </a:ext>
            </a:extLst>
          </p:cNvPr>
          <p:cNvSpPr txBox="1"/>
          <p:nvPr/>
        </p:nvSpPr>
        <p:spPr>
          <a:xfrm>
            <a:off x="4378310" y="5913021"/>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pour faire réaliser les risque de la pensée de groupe et les zones d’ombre collectives</a:t>
            </a:r>
          </a:p>
        </p:txBody>
      </p:sp>
      <p:sp>
        <p:nvSpPr>
          <p:cNvPr id="73" name="ZoneTexte 72">
            <a:extLst>
              <a:ext uri="{FF2B5EF4-FFF2-40B4-BE49-F238E27FC236}">
                <a16:creationId xmlns:a16="http://schemas.microsoft.com/office/drawing/2014/main" id="{8FA7103E-3962-5AE5-DAED-0070E54F1287}"/>
              </a:ext>
            </a:extLst>
          </p:cNvPr>
          <p:cNvSpPr txBox="1"/>
          <p:nvPr/>
        </p:nvSpPr>
        <p:spPr>
          <a:xfrm>
            <a:off x="6544555" y="5029985"/>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 </a:t>
            </a:r>
            <a:r>
              <a:rPr lang="fr-FR" sz="1000" dirty="0" err="1"/>
              <a:t>Belbin</a:t>
            </a:r>
            <a:r>
              <a:rPr lang="fr-FR" sz="1000" dirty="0"/>
              <a:t> » sur les formes de contribution préférées de chacun</a:t>
            </a:r>
          </a:p>
        </p:txBody>
      </p:sp>
      <p:sp>
        <p:nvSpPr>
          <p:cNvPr id="74" name="ZoneTexte 73">
            <a:extLst>
              <a:ext uri="{FF2B5EF4-FFF2-40B4-BE49-F238E27FC236}">
                <a16:creationId xmlns:a16="http://schemas.microsoft.com/office/drawing/2014/main" id="{C4BD46CC-E229-F3EC-A0E4-953C572FCC1D}"/>
              </a:ext>
            </a:extLst>
          </p:cNvPr>
          <p:cNvSpPr txBox="1"/>
          <p:nvPr/>
        </p:nvSpPr>
        <p:spPr>
          <a:xfrm>
            <a:off x="7880143" y="5029985"/>
            <a:ext cx="1269137" cy="784830"/>
          </a:xfrm>
          <a:prstGeom prst="rect">
            <a:avLst/>
          </a:prstGeom>
          <a:solidFill>
            <a:schemeClr val="bg1">
              <a:lumMod val="95000"/>
            </a:schemeClr>
          </a:solidFill>
          <a:ln>
            <a:noFill/>
          </a:ln>
        </p:spPr>
        <p:txBody>
          <a:bodyPr wrap="square" anchor="ctr">
            <a:noAutofit/>
          </a:bodyPr>
          <a:lstStyle/>
          <a:p>
            <a:pPr algn="ctr"/>
            <a:r>
              <a:rPr lang="fr-FR" sz="1000" dirty="0"/>
              <a:t>📅Organisation de Serious Games nécessitant des approches complémentaires</a:t>
            </a:r>
          </a:p>
        </p:txBody>
      </p:sp>
      <p:sp>
        <p:nvSpPr>
          <p:cNvPr id="75" name="ZoneTexte 74">
            <a:extLst>
              <a:ext uri="{FF2B5EF4-FFF2-40B4-BE49-F238E27FC236}">
                <a16:creationId xmlns:a16="http://schemas.microsoft.com/office/drawing/2014/main" id="{12F2AD30-6127-7FA7-707C-B12C49EED12B}"/>
              </a:ext>
            </a:extLst>
          </p:cNvPr>
          <p:cNvSpPr txBox="1"/>
          <p:nvPr/>
        </p:nvSpPr>
        <p:spPr>
          <a:xfrm>
            <a:off x="6544555" y="5896237"/>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sur la gestion de conflits et des interactions</a:t>
            </a:r>
          </a:p>
        </p:txBody>
      </p:sp>
      <p:sp>
        <p:nvSpPr>
          <p:cNvPr id="76" name="ZoneTexte 75">
            <a:extLst>
              <a:ext uri="{FF2B5EF4-FFF2-40B4-BE49-F238E27FC236}">
                <a16:creationId xmlns:a16="http://schemas.microsoft.com/office/drawing/2014/main" id="{EFBEFD30-8481-8727-C730-138B715DC352}"/>
              </a:ext>
            </a:extLst>
          </p:cNvPr>
          <p:cNvSpPr txBox="1"/>
          <p:nvPr/>
        </p:nvSpPr>
        <p:spPr>
          <a:xfrm>
            <a:off x="7880143" y="5896237"/>
            <a:ext cx="1269137" cy="784830"/>
          </a:xfrm>
          <a:prstGeom prst="rect">
            <a:avLst/>
          </a:prstGeom>
          <a:solidFill>
            <a:schemeClr val="bg1">
              <a:lumMod val="95000"/>
            </a:schemeClr>
          </a:solidFill>
          <a:ln>
            <a:noFill/>
          </a:ln>
        </p:spPr>
        <p:txBody>
          <a:bodyPr wrap="square" anchor="ctr">
            <a:noAutofit/>
          </a:bodyPr>
          <a:lstStyle/>
          <a:p>
            <a:pPr algn="ctr"/>
            <a:r>
              <a:rPr lang="fr-FR" sz="1000" dirty="0"/>
              <a:t>📅+⚙️Debriefing d’événements reposant sur la complémentarité des approches</a:t>
            </a:r>
          </a:p>
        </p:txBody>
      </p:sp>
    </p:spTree>
    <p:extLst>
      <p:ext uri="{BB962C8B-B14F-4D97-AF65-F5344CB8AC3E}">
        <p14:creationId xmlns:p14="http://schemas.microsoft.com/office/powerpoint/2010/main" val="11740926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lèche : double flèche horizontale 3">
            <a:extLst>
              <a:ext uri="{FF2B5EF4-FFF2-40B4-BE49-F238E27FC236}">
                <a16:creationId xmlns:a16="http://schemas.microsoft.com/office/drawing/2014/main" id="{56A64584-73D0-A23F-B100-D16C8D367879}"/>
              </a:ext>
            </a:extLst>
          </p:cNvPr>
          <p:cNvSpPr/>
          <p:nvPr/>
        </p:nvSpPr>
        <p:spPr>
          <a:xfrm>
            <a:off x="4712931" y="2544979"/>
            <a:ext cx="2675981" cy="296091"/>
          </a:xfrm>
          <a:prstGeom prst="lef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6" name="ZoneTexte 5">
            <a:extLst>
              <a:ext uri="{FF2B5EF4-FFF2-40B4-BE49-F238E27FC236}">
                <a16:creationId xmlns:a16="http://schemas.microsoft.com/office/drawing/2014/main" id="{2A5DB254-B882-DACC-8488-F541488CA514}"/>
              </a:ext>
            </a:extLst>
          </p:cNvPr>
          <p:cNvSpPr txBox="1"/>
          <p:nvPr/>
        </p:nvSpPr>
        <p:spPr>
          <a:xfrm>
            <a:off x="7388912" y="2202555"/>
            <a:ext cx="2020389" cy="954107"/>
          </a:xfrm>
          <a:prstGeom prst="rect">
            <a:avLst/>
          </a:prstGeom>
          <a:solidFill>
            <a:srgbClr val="ED7D31"/>
          </a:solidFill>
        </p:spPr>
        <p:txBody>
          <a:bodyPr wrap="square" anchor="ctr">
            <a:spAutoFit/>
          </a:bodyPr>
          <a:lstStyle/>
          <a:p>
            <a:pPr algn="ctr"/>
            <a:r>
              <a:rPr lang="fr-FR" sz="1400" dirty="0"/>
              <a:t>Affinités, goûts personnels différents (non liés au sujet de la Communauté)</a:t>
            </a:r>
          </a:p>
        </p:txBody>
      </p:sp>
      <p:sp>
        <p:nvSpPr>
          <p:cNvPr id="8" name="ZoneTexte 7">
            <a:extLst>
              <a:ext uri="{FF2B5EF4-FFF2-40B4-BE49-F238E27FC236}">
                <a16:creationId xmlns:a16="http://schemas.microsoft.com/office/drawing/2014/main" id="{79974BCF-0D29-8760-A403-924E1C4BCA9A}"/>
              </a:ext>
            </a:extLst>
          </p:cNvPr>
          <p:cNvSpPr txBox="1"/>
          <p:nvPr/>
        </p:nvSpPr>
        <p:spPr>
          <a:xfrm>
            <a:off x="2879778" y="2202555"/>
            <a:ext cx="1854925" cy="954107"/>
          </a:xfrm>
          <a:prstGeom prst="rect">
            <a:avLst/>
          </a:prstGeom>
          <a:solidFill>
            <a:srgbClr val="ED7D31"/>
          </a:solidFill>
        </p:spPr>
        <p:txBody>
          <a:bodyPr wrap="square" anchor="ctr">
            <a:spAutoFit/>
          </a:bodyPr>
          <a:lstStyle/>
          <a:p>
            <a:pPr algn="ctr"/>
            <a:r>
              <a:rPr lang="fr-FR" sz="1400" dirty="0"/>
              <a:t>Affinités, goûts personnels similaires (non liés au sujet de la Communauté)</a:t>
            </a:r>
          </a:p>
        </p:txBody>
      </p:sp>
      <p:sp>
        <p:nvSpPr>
          <p:cNvPr id="28" name="ZoneTexte 27">
            <a:extLst>
              <a:ext uri="{FF2B5EF4-FFF2-40B4-BE49-F238E27FC236}">
                <a16:creationId xmlns:a16="http://schemas.microsoft.com/office/drawing/2014/main" id="{151FE5A7-8679-9762-F387-12E4D2DE6775}"/>
              </a:ext>
            </a:extLst>
          </p:cNvPr>
          <p:cNvSpPr txBox="1"/>
          <p:nvPr/>
        </p:nvSpPr>
        <p:spPr>
          <a:xfrm>
            <a:off x="3442229" y="1973331"/>
            <a:ext cx="671859" cy="229158"/>
          </a:xfrm>
          <a:prstGeom prst="rect">
            <a:avLst/>
          </a:prstGeom>
          <a:noFill/>
        </p:spPr>
        <p:txBody>
          <a:bodyPr wrap="square" anchor="ctr">
            <a:spAutoFit/>
          </a:bodyPr>
          <a:lstStyle/>
          <a:p>
            <a:pPr algn="ctr"/>
            <a:r>
              <a:rPr lang="fr-FR" sz="1400" dirty="0"/>
              <a:t>ou</a:t>
            </a:r>
          </a:p>
        </p:txBody>
      </p:sp>
      <p:sp>
        <p:nvSpPr>
          <p:cNvPr id="51" name="ZoneTexte 50">
            <a:extLst>
              <a:ext uri="{FF2B5EF4-FFF2-40B4-BE49-F238E27FC236}">
                <a16:creationId xmlns:a16="http://schemas.microsoft.com/office/drawing/2014/main" id="{28321992-7F2B-D21E-2E33-FD96A71C53F9}"/>
              </a:ext>
            </a:extLst>
          </p:cNvPr>
          <p:cNvSpPr txBox="1"/>
          <p:nvPr/>
        </p:nvSpPr>
        <p:spPr>
          <a:xfrm>
            <a:off x="9468538" y="2625456"/>
            <a:ext cx="1269137" cy="784830"/>
          </a:xfrm>
          <a:prstGeom prst="rect">
            <a:avLst/>
          </a:prstGeom>
          <a:solidFill>
            <a:srgbClr val="54FFB3"/>
          </a:solidFill>
        </p:spPr>
        <p:txBody>
          <a:bodyPr wrap="square" anchor="ctr">
            <a:noAutofit/>
          </a:bodyPr>
          <a:lstStyle/>
          <a:p>
            <a:pPr algn="ctr"/>
            <a:r>
              <a:rPr lang="fr-FR" sz="1000" dirty="0"/>
              <a:t>Opportunités de découvrir des univers différents (à grande distance du quotidien)</a:t>
            </a:r>
          </a:p>
        </p:txBody>
      </p:sp>
      <p:sp>
        <p:nvSpPr>
          <p:cNvPr id="52" name="ZoneTexte 51">
            <a:extLst>
              <a:ext uri="{FF2B5EF4-FFF2-40B4-BE49-F238E27FC236}">
                <a16:creationId xmlns:a16="http://schemas.microsoft.com/office/drawing/2014/main" id="{843A05F4-B41A-4694-38A4-297CBD0F4F10}"/>
              </a:ext>
            </a:extLst>
          </p:cNvPr>
          <p:cNvSpPr txBox="1"/>
          <p:nvPr/>
        </p:nvSpPr>
        <p:spPr>
          <a:xfrm>
            <a:off x="10796912" y="2620549"/>
            <a:ext cx="1269137" cy="784830"/>
          </a:xfrm>
          <a:prstGeom prst="rect">
            <a:avLst/>
          </a:prstGeom>
          <a:solidFill>
            <a:srgbClr val="54FFB3"/>
          </a:solidFill>
        </p:spPr>
        <p:txBody>
          <a:bodyPr wrap="square" anchor="ctr">
            <a:noAutofit/>
          </a:bodyPr>
          <a:lstStyle/>
          <a:p>
            <a:pPr algn="ctr"/>
            <a:r>
              <a:rPr lang="fr-FR" sz="1000" dirty="0"/>
              <a:t>Mise en avant possible d’une diversité des personnes de la Communauté</a:t>
            </a:r>
          </a:p>
        </p:txBody>
      </p:sp>
      <p:sp>
        <p:nvSpPr>
          <p:cNvPr id="53" name="ZoneTexte 52">
            <a:extLst>
              <a:ext uri="{FF2B5EF4-FFF2-40B4-BE49-F238E27FC236}">
                <a16:creationId xmlns:a16="http://schemas.microsoft.com/office/drawing/2014/main" id="{3F5D9FC4-086E-94A7-DB1C-1B042586C6EC}"/>
              </a:ext>
            </a:extLst>
          </p:cNvPr>
          <p:cNvSpPr txBox="1"/>
          <p:nvPr/>
        </p:nvSpPr>
        <p:spPr>
          <a:xfrm>
            <a:off x="945572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La Communauté de pratique ABCD a des membres aux passions très diversifiées</a:t>
            </a:r>
          </a:p>
        </p:txBody>
      </p:sp>
      <p:sp>
        <p:nvSpPr>
          <p:cNvPr id="54" name="ZoneTexte 53">
            <a:extLst>
              <a:ext uri="{FF2B5EF4-FFF2-40B4-BE49-F238E27FC236}">
                <a16:creationId xmlns:a16="http://schemas.microsoft.com/office/drawing/2014/main" id="{78DE3FA2-7181-D580-DC2B-7EEBA634F374}"/>
              </a:ext>
            </a:extLst>
          </p:cNvPr>
          <p:cNvSpPr txBox="1"/>
          <p:nvPr/>
        </p:nvSpPr>
        <p:spPr>
          <a:xfrm>
            <a:off x="1078409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Les membres de la Communauté du département EFGH ont des goûts très différents</a:t>
            </a:r>
          </a:p>
        </p:txBody>
      </p:sp>
      <p:sp>
        <p:nvSpPr>
          <p:cNvPr id="56" name="ZoneTexte 55">
            <a:extLst>
              <a:ext uri="{FF2B5EF4-FFF2-40B4-BE49-F238E27FC236}">
                <a16:creationId xmlns:a16="http://schemas.microsoft.com/office/drawing/2014/main" id="{9E1201AC-5400-12CD-67FE-66A1CAA3551D}"/>
              </a:ext>
            </a:extLst>
          </p:cNvPr>
          <p:cNvSpPr txBox="1"/>
          <p:nvPr/>
        </p:nvSpPr>
        <p:spPr>
          <a:xfrm>
            <a:off x="9455723" y="4028237"/>
            <a:ext cx="1269137" cy="784830"/>
          </a:xfrm>
          <a:prstGeom prst="rect">
            <a:avLst/>
          </a:prstGeom>
          <a:solidFill>
            <a:srgbClr val="FF7C80"/>
          </a:solidFill>
        </p:spPr>
        <p:txBody>
          <a:bodyPr wrap="square" anchor="ctr">
            <a:noAutofit/>
          </a:bodyPr>
          <a:lstStyle/>
          <a:p>
            <a:pPr algn="ctr"/>
            <a:r>
              <a:rPr lang="fr-FR" sz="1000" dirty="0"/>
              <a:t>Moins d’arguments d’accroche initiale entre membres (en plus du sujet de la Communauté)</a:t>
            </a:r>
          </a:p>
        </p:txBody>
      </p:sp>
      <p:sp>
        <p:nvSpPr>
          <p:cNvPr id="57" name="ZoneTexte 56">
            <a:extLst>
              <a:ext uri="{FF2B5EF4-FFF2-40B4-BE49-F238E27FC236}">
                <a16:creationId xmlns:a16="http://schemas.microsoft.com/office/drawing/2014/main" id="{C3F99FCB-EC1D-A2A9-5CEE-5D5910226FC4}"/>
              </a:ext>
            </a:extLst>
          </p:cNvPr>
          <p:cNvSpPr txBox="1"/>
          <p:nvPr/>
        </p:nvSpPr>
        <p:spPr>
          <a:xfrm>
            <a:off x="10784097" y="4028237"/>
            <a:ext cx="1269137" cy="784830"/>
          </a:xfrm>
          <a:prstGeom prst="rect">
            <a:avLst/>
          </a:prstGeom>
          <a:solidFill>
            <a:srgbClr val="FF7C80"/>
          </a:solidFill>
        </p:spPr>
        <p:txBody>
          <a:bodyPr wrap="square" anchor="ctr">
            <a:noAutofit/>
          </a:bodyPr>
          <a:lstStyle/>
          <a:p>
            <a:pPr algn="ctr"/>
            <a:r>
              <a:rPr lang="fr-FR" sz="1000" dirty="0"/>
              <a:t>Difficulté d’accéder ou d’exploiter ces informations en entreprise selon limites pro/perso</a:t>
            </a:r>
          </a:p>
        </p:txBody>
      </p:sp>
      <p:sp>
        <p:nvSpPr>
          <p:cNvPr id="47" name="ZoneTexte 46">
            <a:extLst>
              <a:ext uri="{FF2B5EF4-FFF2-40B4-BE49-F238E27FC236}">
                <a16:creationId xmlns:a16="http://schemas.microsoft.com/office/drawing/2014/main" id="{DC34A362-59C6-88E4-D742-DBB9FF55CC81}"/>
              </a:ext>
            </a:extLst>
          </p:cNvPr>
          <p:cNvSpPr txBox="1"/>
          <p:nvPr/>
        </p:nvSpPr>
        <p:spPr>
          <a:xfrm>
            <a:off x="188984" y="2615642"/>
            <a:ext cx="1269137" cy="784830"/>
          </a:xfrm>
          <a:prstGeom prst="rect">
            <a:avLst/>
          </a:prstGeom>
          <a:solidFill>
            <a:srgbClr val="54FFB3"/>
          </a:solidFill>
        </p:spPr>
        <p:txBody>
          <a:bodyPr wrap="square" anchor="ctr">
            <a:noAutofit/>
          </a:bodyPr>
          <a:lstStyle/>
          <a:p>
            <a:pPr algn="ctr"/>
            <a:r>
              <a:rPr lang="fr-FR" sz="1000" dirty="0"/>
              <a:t>Opportunités de développement de liens supplémentaires (par ressemblance)</a:t>
            </a:r>
          </a:p>
        </p:txBody>
      </p:sp>
      <p:sp>
        <p:nvSpPr>
          <p:cNvPr id="48" name="ZoneTexte 47">
            <a:extLst>
              <a:ext uri="{FF2B5EF4-FFF2-40B4-BE49-F238E27FC236}">
                <a16:creationId xmlns:a16="http://schemas.microsoft.com/office/drawing/2014/main" id="{23CCAFA3-5C21-BFE3-0E41-DFA6DA336BC2}"/>
              </a:ext>
            </a:extLst>
          </p:cNvPr>
          <p:cNvSpPr txBox="1"/>
          <p:nvPr/>
        </p:nvSpPr>
        <p:spPr>
          <a:xfrm>
            <a:off x="1517358" y="2610735"/>
            <a:ext cx="1269137" cy="784830"/>
          </a:xfrm>
          <a:prstGeom prst="rect">
            <a:avLst/>
          </a:prstGeom>
          <a:solidFill>
            <a:srgbClr val="54FFB3"/>
          </a:solidFill>
        </p:spPr>
        <p:txBody>
          <a:bodyPr wrap="square" anchor="ctr">
            <a:noAutofit/>
          </a:bodyPr>
          <a:lstStyle/>
          <a:p>
            <a:pPr algn="ctr"/>
            <a:r>
              <a:rPr lang="fr-FR" sz="1000" dirty="0"/>
              <a:t>Opportunités de sentiment d’appartenance locale plus forte</a:t>
            </a:r>
          </a:p>
        </p:txBody>
      </p:sp>
      <p:sp>
        <p:nvSpPr>
          <p:cNvPr id="49" name="ZoneTexte 48">
            <a:extLst>
              <a:ext uri="{FF2B5EF4-FFF2-40B4-BE49-F238E27FC236}">
                <a16:creationId xmlns:a16="http://schemas.microsoft.com/office/drawing/2014/main" id="{3F2E95BE-06A0-37E0-F90F-8F8361C86BDE}"/>
              </a:ext>
            </a:extLst>
          </p:cNvPr>
          <p:cNvSpPr txBox="1"/>
          <p:nvPr/>
        </p:nvSpPr>
        <p:spPr>
          <a:xfrm>
            <a:off x="18898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Sous-groupe des fans de football dans la Communauté RSE</a:t>
            </a:r>
          </a:p>
        </p:txBody>
      </p:sp>
      <p:sp>
        <p:nvSpPr>
          <p:cNvPr id="50" name="ZoneTexte 49">
            <a:extLst>
              <a:ext uri="{FF2B5EF4-FFF2-40B4-BE49-F238E27FC236}">
                <a16:creationId xmlns:a16="http://schemas.microsoft.com/office/drawing/2014/main" id="{5E58DCA4-5AC7-6788-6B25-3FEACFE32C39}"/>
              </a:ext>
            </a:extLst>
          </p:cNvPr>
          <p:cNvSpPr txBox="1"/>
          <p:nvPr/>
        </p:nvSpPr>
        <p:spPr>
          <a:xfrm>
            <a:off x="151735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Par un hasard fortuit, les membres de la Communauté XYZ sont tous fans de jeux de rôle</a:t>
            </a:r>
          </a:p>
        </p:txBody>
      </p:sp>
      <p:sp>
        <p:nvSpPr>
          <p:cNvPr id="58" name="ZoneTexte 57">
            <a:extLst>
              <a:ext uri="{FF2B5EF4-FFF2-40B4-BE49-F238E27FC236}">
                <a16:creationId xmlns:a16="http://schemas.microsoft.com/office/drawing/2014/main" id="{E8DBD87D-6BAB-7936-0AF0-5DC01799F47F}"/>
              </a:ext>
            </a:extLst>
          </p:cNvPr>
          <p:cNvSpPr txBox="1"/>
          <p:nvPr/>
        </p:nvSpPr>
        <p:spPr>
          <a:xfrm>
            <a:off x="188984" y="4068990"/>
            <a:ext cx="1269137" cy="784830"/>
          </a:xfrm>
          <a:prstGeom prst="rect">
            <a:avLst/>
          </a:prstGeom>
          <a:solidFill>
            <a:srgbClr val="FF7C80"/>
          </a:solidFill>
        </p:spPr>
        <p:txBody>
          <a:bodyPr wrap="square" anchor="ctr">
            <a:noAutofit/>
          </a:bodyPr>
          <a:lstStyle/>
          <a:p>
            <a:pPr algn="ctr"/>
            <a:r>
              <a:rPr lang="fr-FR" sz="1000" dirty="0"/>
              <a:t>Risques d’exclusion des minorités qui ne sont pas liées par les affinités malgré liaison par le sujet de la Communauté</a:t>
            </a:r>
          </a:p>
        </p:txBody>
      </p:sp>
      <p:sp>
        <p:nvSpPr>
          <p:cNvPr id="59" name="ZoneTexte 58">
            <a:extLst>
              <a:ext uri="{FF2B5EF4-FFF2-40B4-BE49-F238E27FC236}">
                <a16:creationId xmlns:a16="http://schemas.microsoft.com/office/drawing/2014/main" id="{A20FAF36-4079-42D6-19D2-83094F4D7B7B}"/>
              </a:ext>
            </a:extLst>
          </p:cNvPr>
          <p:cNvSpPr txBox="1"/>
          <p:nvPr/>
        </p:nvSpPr>
        <p:spPr>
          <a:xfrm>
            <a:off x="1517358" y="4068990"/>
            <a:ext cx="1269137" cy="784830"/>
          </a:xfrm>
          <a:prstGeom prst="rect">
            <a:avLst/>
          </a:prstGeom>
          <a:solidFill>
            <a:srgbClr val="FF7C80"/>
          </a:solidFill>
        </p:spPr>
        <p:txBody>
          <a:bodyPr wrap="square" anchor="ctr">
            <a:noAutofit/>
          </a:bodyPr>
          <a:lstStyle/>
          <a:p>
            <a:pPr algn="ctr"/>
            <a:r>
              <a:rPr lang="fr-FR" sz="1000" dirty="0"/>
              <a:t>Risques de dérive du sujet ou des activités de la Communauté vers les affinités</a:t>
            </a:r>
          </a:p>
        </p:txBody>
      </p:sp>
      <p:sp>
        <p:nvSpPr>
          <p:cNvPr id="63" name="ZoneTexte 62">
            <a:extLst>
              <a:ext uri="{FF2B5EF4-FFF2-40B4-BE49-F238E27FC236}">
                <a16:creationId xmlns:a16="http://schemas.microsoft.com/office/drawing/2014/main" id="{B3C45B2F-4E6B-531F-FD0F-FE9F818B516C}"/>
              </a:ext>
            </a:extLst>
          </p:cNvPr>
          <p:cNvSpPr txBox="1"/>
          <p:nvPr/>
        </p:nvSpPr>
        <p:spPr>
          <a:xfrm>
            <a:off x="6594771" y="3314265"/>
            <a:ext cx="1269137" cy="784830"/>
          </a:xfrm>
          <a:prstGeom prst="rect">
            <a:avLst/>
          </a:prstGeom>
          <a:solidFill>
            <a:schemeClr val="bg1">
              <a:lumMod val="95000"/>
            </a:schemeClr>
          </a:solidFill>
          <a:ln>
            <a:noFill/>
          </a:ln>
        </p:spPr>
        <p:txBody>
          <a:bodyPr wrap="square" anchor="ctr">
            <a:noAutofit/>
          </a:bodyPr>
          <a:lstStyle/>
          <a:p>
            <a:pPr algn="ctr"/>
            <a:r>
              <a:rPr lang="fr-FR" sz="1000" dirty="0"/>
              <a:t>📅Organisation de tour de découvertes des hobbies de chacun</a:t>
            </a:r>
          </a:p>
        </p:txBody>
      </p:sp>
      <p:sp>
        <p:nvSpPr>
          <p:cNvPr id="64" name="ZoneTexte 63">
            <a:extLst>
              <a:ext uri="{FF2B5EF4-FFF2-40B4-BE49-F238E27FC236}">
                <a16:creationId xmlns:a16="http://schemas.microsoft.com/office/drawing/2014/main" id="{83BAB155-5B1E-1E19-9244-F6584A0E7C4C}"/>
              </a:ext>
            </a:extLst>
          </p:cNvPr>
          <p:cNvSpPr txBox="1"/>
          <p:nvPr/>
        </p:nvSpPr>
        <p:spPr>
          <a:xfrm>
            <a:off x="7930359" y="3314265"/>
            <a:ext cx="1269137" cy="784830"/>
          </a:xfrm>
          <a:prstGeom prst="rect">
            <a:avLst/>
          </a:prstGeom>
          <a:solidFill>
            <a:schemeClr val="bg1">
              <a:lumMod val="95000"/>
            </a:schemeClr>
          </a:solidFill>
          <a:ln>
            <a:noFill/>
          </a:ln>
        </p:spPr>
        <p:txBody>
          <a:bodyPr wrap="square" anchor="ctr">
            <a:noAutofit/>
          </a:bodyPr>
          <a:lstStyle/>
          <a:p>
            <a:pPr algn="ctr"/>
            <a:r>
              <a:rPr lang="fr-FR" sz="1000" dirty="0"/>
              <a:t>📅Ateliers de créativité utilisant les univers de chacun</a:t>
            </a:r>
          </a:p>
        </p:txBody>
      </p:sp>
      <p:sp>
        <p:nvSpPr>
          <p:cNvPr id="69" name="ZoneTexte 68">
            <a:extLst>
              <a:ext uri="{FF2B5EF4-FFF2-40B4-BE49-F238E27FC236}">
                <a16:creationId xmlns:a16="http://schemas.microsoft.com/office/drawing/2014/main" id="{8C6F9452-BEC4-BB98-F766-F244B0F724EB}"/>
              </a:ext>
            </a:extLst>
          </p:cNvPr>
          <p:cNvSpPr txBox="1"/>
          <p:nvPr/>
        </p:nvSpPr>
        <p:spPr>
          <a:xfrm>
            <a:off x="6594771" y="4180517"/>
            <a:ext cx="1269137" cy="784830"/>
          </a:xfrm>
          <a:prstGeom prst="rect">
            <a:avLst/>
          </a:prstGeom>
          <a:solidFill>
            <a:schemeClr val="bg1">
              <a:lumMod val="95000"/>
            </a:schemeClr>
          </a:solidFill>
          <a:ln>
            <a:noFill/>
          </a:ln>
        </p:spPr>
        <p:txBody>
          <a:bodyPr wrap="square" anchor="ctr">
            <a:noAutofit/>
          </a:bodyPr>
          <a:lstStyle/>
          <a:p>
            <a:pPr algn="ctr"/>
            <a:r>
              <a:rPr lang="fr-FR" sz="1000" dirty="0"/>
              <a:t>⚙️Création de sous-groupes d’affinités</a:t>
            </a:r>
          </a:p>
        </p:txBody>
      </p:sp>
      <p:pic>
        <p:nvPicPr>
          <p:cNvPr id="55" name="Graphique 54" descr="Fouet avec un remplissage uni">
            <a:extLst>
              <a:ext uri="{FF2B5EF4-FFF2-40B4-BE49-F238E27FC236}">
                <a16:creationId xmlns:a16="http://schemas.microsoft.com/office/drawing/2014/main" id="{6461EB31-2532-2BB8-15C5-692C7B04FF4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190697" y="1243662"/>
            <a:ext cx="591717" cy="591717"/>
          </a:xfrm>
          <a:prstGeom prst="rect">
            <a:avLst/>
          </a:prstGeom>
        </p:spPr>
      </p:pic>
      <p:grpSp>
        <p:nvGrpSpPr>
          <p:cNvPr id="3" name="Groupe 2">
            <a:extLst>
              <a:ext uri="{FF2B5EF4-FFF2-40B4-BE49-F238E27FC236}">
                <a16:creationId xmlns:a16="http://schemas.microsoft.com/office/drawing/2014/main" id="{FD635D61-1F6C-6538-868A-44B3FEEACD69}"/>
              </a:ext>
            </a:extLst>
          </p:cNvPr>
          <p:cNvGrpSpPr/>
          <p:nvPr/>
        </p:nvGrpSpPr>
        <p:grpSpPr>
          <a:xfrm>
            <a:off x="7469108" y="1235070"/>
            <a:ext cx="591717" cy="1000670"/>
            <a:chOff x="7469108" y="1235070"/>
            <a:chExt cx="591717" cy="1000670"/>
          </a:xfrm>
        </p:grpSpPr>
        <p:pic>
          <p:nvPicPr>
            <p:cNvPr id="45" name="Graphique 44" descr="Voyage avec un remplissage uni">
              <a:extLst>
                <a:ext uri="{FF2B5EF4-FFF2-40B4-BE49-F238E27FC236}">
                  <a16:creationId xmlns:a16="http://schemas.microsoft.com/office/drawing/2014/main" id="{DBC81087-A53C-1829-1835-9EEFE888073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469108" y="1235070"/>
              <a:ext cx="591717" cy="591717"/>
            </a:xfrm>
            <a:prstGeom prst="rect">
              <a:avLst/>
            </a:prstGeom>
          </p:spPr>
        </p:pic>
        <p:pic>
          <p:nvPicPr>
            <p:cNvPr id="61" name="Graphique 60" descr="Cœur avec un remplissage uni">
              <a:extLst>
                <a:ext uri="{FF2B5EF4-FFF2-40B4-BE49-F238E27FC236}">
                  <a16:creationId xmlns:a16="http://schemas.microsoft.com/office/drawing/2014/main" id="{0DB42FCF-DC8A-867E-A5B0-1502CD8F069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57018" y="1546602"/>
              <a:ext cx="353972" cy="353972"/>
            </a:xfrm>
            <a:prstGeom prst="rect">
              <a:avLst/>
            </a:prstGeom>
          </p:spPr>
        </p:pic>
        <p:pic>
          <p:nvPicPr>
            <p:cNvPr id="62" name="Graphique 61" descr="Utilisateur avec un remplissage uni">
              <a:extLst>
                <a:ext uri="{FF2B5EF4-FFF2-40B4-BE49-F238E27FC236}">
                  <a16:creationId xmlns:a16="http://schemas.microsoft.com/office/drawing/2014/main" id="{81EB23C9-1527-1845-84AD-2EC77510255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547982" y="1806574"/>
              <a:ext cx="429166" cy="429166"/>
            </a:xfrm>
            <a:prstGeom prst="rect">
              <a:avLst/>
            </a:prstGeom>
          </p:spPr>
        </p:pic>
      </p:grpSp>
      <p:pic>
        <p:nvPicPr>
          <p:cNvPr id="79" name="Graphique 78" descr="Utilisateur avec un remplissage uni">
            <a:extLst>
              <a:ext uri="{FF2B5EF4-FFF2-40B4-BE49-F238E27FC236}">
                <a16:creationId xmlns:a16="http://schemas.microsoft.com/office/drawing/2014/main" id="{8EE1D7B1-2983-F597-2745-7F7F5DB6BD7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252425" y="1806574"/>
            <a:ext cx="429166" cy="429166"/>
          </a:xfrm>
          <a:prstGeom prst="rect">
            <a:avLst/>
          </a:prstGeom>
        </p:spPr>
      </p:pic>
      <p:pic>
        <p:nvPicPr>
          <p:cNvPr id="80" name="Graphique 79" descr="Cœur avec un remplissage uni">
            <a:extLst>
              <a:ext uri="{FF2B5EF4-FFF2-40B4-BE49-F238E27FC236}">
                <a16:creationId xmlns:a16="http://schemas.microsoft.com/office/drawing/2014/main" id="{8BDED52C-6C25-C577-043A-F11940D589A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330247" y="1555193"/>
            <a:ext cx="353972" cy="353972"/>
          </a:xfrm>
          <a:prstGeom prst="rect">
            <a:avLst/>
          </a:prstGeom>
        </p:spPr>
      </p:pic>
      <p:grpSp>
        <p:nvGrpSpPr>
          <p:cNvPr id="5" name="Groupe 4">
            <a:extLst>
              <a:ext uri="{FF2B5EF4-FFF2-40B4-BE49-F238E27FC236}">
                <a16:creationId xmlns:a16="http://schemas.microsoft.com/office/drawing/2014/main" id="{A422D3B8-E0E8-593F-AF78-D36EDEFB9D79}"/>
              </a:ext>
            </a:extLst>
          </p:cNvPr>
          <p:cNvGrpSpPr/>
          <p:nvPr/>
        </p:nvGrpSpPr>
        <p:grpSpPr>
          <a:xfrm>
            <a:off x="8849906" y="1258152"/>
            <a:ext cx="591717" cy="977588"/>
            <a:chOff x="8849906" y="1258152"/>
            <a:chExt cx="591717" cy="977588"/>
          </a:xfrm>
        </p:grpSpPr>
        <p:pic>
          <p:nvPicPr>
            <p:cNvPr id="60" name="Graphique 59" descr="Ballon de football avec un remplissage uni">
              <a:extLst>
                <a:ext uri="{FF2B5EF4-FFF2-40B4-BE49-F238E27FC236}">
                  <a16:creationId xmlns:a16="http://schemas.microsoft.com/office/drawing/2014/main" id="{DA071195-0139-A5FE-972D-1C48F993D55F}"/>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849906" y="1258152"/>
              <a:ext cx="591717" cy="591717"/>
            </a:xfrm>
            <a:prstGeom prst="rect">
              <a:avLst/>
            </a:prstGeom>
          </p:spPr>
        </p:pic>
        <p:pic>
          <p:nvPicPr>
            <p:cNvPr id="89" name="Graphique 88" descr="Utilisateur avec un remplissage uni">
              <a:extLst>
                <a:ext uri="{FF2B5EF4-FFF2-40B4-BE49-F238E27FC236}">
                  <a16:creationId xmlns:a16="http://schemas.microsoft.com/office/drawing/2014/main" id="{0FE59C7F-9DF5-D0D6-6046-3FBE27F3D9E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42850" y="1806574"/>
              <a:ext cx="429166" cy="429166"/>
            </a:xfrm>
            <a:prstGeom prst="rect">
              <a:avLst/>
            </a:prstGeom>
          </p:spPr>
        </p:pic>
        <p:pic>
          <p:nvPicPr>
            <p:cNvPr id="90" name="Graphique 89" descr="Cœur avec un remplissage uni">
              <a:extLst>
                <a:ext uri="{FF2B5EF4-FFF2-40B4-BE49-F238E27FC236}">
                  <a16:creationId xmlns:a16="http://schemas.microsoft.com/office/drawing/2014/main" id="{4837C58D-E521-749A-FF35-FC89421BEB2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20672" y="1555193"/>
              <a:ext cx="353972" cy="353972"/>
            </a:xfrm>
            <a:prstGeom prst="rect">
              <a:avLst/>
            </a:prstGeom>
          </p:spPr>
        </p:pic>
      </p:grpSp>
      <p:grpSp>
        <p:nvGrpSpPr>
          <p:cNvPr id="91" name="Groupe 90">
            <a:extLst>
              <a:ext uri="{FF2B5EF4-FFF2-40B4-BE49-F238E27FC236}">
                <a16:creationId xmlns:a16="http://schemas.microsoft.com/office/drawing/2014/main" id="{110BB190-7D54-32BB-9421-DD50B7975058}"/>
              </a:ext>
            </a:extLst>
          </p:cNvPr>
          <p:cNvGrpSpPr/>
          <p:nvPr/>
        </p:nvGrpSpPr>
        <p:grpSpPr>
          <a:xfrm>
            <a:off x="2947190" y="1565798"/>
            <a:ext cx="376489" cy="636691"/>
            <a:chOff x="7469108" y="1235070"/>
            <a:chExt cx="591717" cy="1000670"/>
          </a:xfrm>
        </p:grpSpPr>
        <p:pic>
          <p:nvPicPr>
            <p:cNvPr id="92" name="Graphique 91" descr="Voyage avec un remplissage uni">
              <a:extLst>
                <a:ext uri="{FF2B5EF4-FFF2-40B4-BE49-F238E27FC236}">
                  <a16:creationId xmlns:a16="http://schemas.microsoft.com/office/drawing/2014/main" id="{335FE063-F111-A981-D883-7393CC6D3C5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469108" y="1235070"/>
              <a:ext cx="591717" cy="591717"/>
            </a:xfrm>
            <a:prstGeom prst="rect">
              <a:avLst/>
            </a:prstGeom>
          </p:spPr>
        </p:pic>
        <p:pic>
          <p:nvPicPr>
            <p:cNvPr id="93" name="Graphique 92" descr="Cœur avec un remplissage uni">
              <a:extLst>
                <a:ext uri="{FF2B5EF4-FFF2-40B4-BE49-F238E27FC236}">
                  <a16:creationId xmlns:a16="http://schemas.microsoft.com/office/drawing/2014/main" id="{A8000D3E-506C-B05E-0496-16A542B763C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57018" y="1546602"/>
              <a:ext cx="353972" cy="353972"/>
            </a:xfrm>
            <a:prstGeom prst="rect">
              <a:avLst/>
            </a:prstGeom>
          </p:spPr>
        </p:pic>
        <p:pic>
          <p:nvPicPr>
            <p:cNvPr id="94" name="Graphique 93" descr="Utilisateur avec un remplissage uni">
              <a:extLst>
                <a:ext uri="{FF2B5EF4-FFF2-40B4-BE49-F238E27FC236}">
                  <a16:creationId xmlns:a16="http://schemas.microsoft.com/office/drawing/2014/main" id="{44A24D91-8451-87CE-A728-22B0863FE79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547982" y="1806574"/>
              <a:ext cx="429166" cy="429166"/>
            </a:xfrm>
            <a:prstGeom prst="rect">
              <a:avLst/>
            </a:prstGeom>
          </p:spPr>
        </p:pic>
      </p:grpSp>
      <p:grpSp>
        <p:nvGrpSpPr>
          <p:cNvPr id="95" name="Groupe 94">
            <a:extLst>
              <a:ext uri="{FF2B5EF4-FFF2-40B4-BE49-F238E27FC236}">
                <a16:creationId xmlns:a16="http://schemas.microsoft.com/office/drawing/2014/main" id="{9D70CB4D-8716-D2D5-1987-3674AE4FEA6F}"/>
              </a:ext>
            </a:extLst>
          </p:cNvPr>
          <p:cNvGrpSpPr/>
          <p:nvPr/>
        </p:nvGrpSpPr>
        <p:grpSpPr>
          <a:xfrm>
            <a:off x="3180970" y="1565798"/>
            <a:ext cx="376489" cy="636691"/>
            <a:chOff x="7469108" y="1235070"/>
            <a:chExt cx="591717" cy="1000670"/>
          </a:xfrm>
        </p:grpSpPr>
        <p:pic>
          <p:nvPicPr>
            <p:cNvPr id="96" name="Graphique 95" descr="Voyage avec un remplissage uni">
              <a:extLst>
                <a:ext uri="{FF2B5EF4-FFF2-40B4-BE49-F238E27FC236}">
                  <a16:creationId xmlns:a16="http://schemas.microsoft.com/office/drawing/2014/main" id="{9F5479F4-DFB1-D524-6CCD-9A850127548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469108" y="1235070"/>
              <a:ext cx="591717" cy="591717"/>
            </a:xfrm>
            <a:prstGeom prst="rect">
              <a:avLst/>
            </a:prstGeom>
          </p:spPr>
        </p:pic>
        <p:pic>
          <p:nvPicPr>
            <p:cNvPr id="97" name="Graphique 96" descr="Cœur avec un remplissage uni">
              <a:extLst>
                <a:ext uri="{FF2B5EF4-FFF2-40B4-BE49-F238E27FC236}">
                  <a16:creationId xmlns:a16="http://schemas.microsoft.com/office/drawing/2014/main" id="{0C625201-ED28-7168-70B2-A3F89E65418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57018" y="1546602"/>
              <a:ext cx="353972" cy="353972"/>
            </a:xfrm>
            <a:prstGeom prst="rect">
              <a:avLst/>
            </a:prstGeom>
          </p:spPr>
        </p:pic>
        <p:pic>
          <p:nvPicPr>
            <p:cNvPr id="98" name="Graphique 97" descr="Utilisateur avec un remplissage uni">
              <a:extLst>
                <a:ext uri="{FF2B5EF4-FFF2-40B4-BE49-F238E27FC236}">
                  <a16:creationId xmlns:a16="http://schemas.microsoft.com/office/drawing/2014/main" id="{17C61F1D-818F-7F1F-AE16-E5764E4DA19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547982" y="1806574"/>
              <a:ext cx="429166" cy="429166"/>
            </a:xfrm>
            <a:prstGeom prst="rect">
              <a:avLst/>
            </a:prstGeom>
          </p:spPr>
        </p:pic>
      </p:grpSp>
      <p:grpSp>
        <p:nvGrpSpPr>
          <p:cNvPr id="99" name="Groupe 98">
            <a:extLst>
              <a:ext uri="{FF2B5EF4-FFF2-40B4-BE49-F238E27FC236}">
                <a16:creationId xmlns:a16="http://schemas.microsoft.com/office/drawing/2014/main" id="{5A37D0CB-7595-9710-2A44-CFAAA395D016}"/>
              </a:ext>
            </a:extLst>
          </p:cNvPr>
          <p:cNvGrpSpPr/>
          <p:nvPr/>
        </p:nvGrpSpPr>
        <p:grpSpPr>
          <a:xfrm>
            <a:off x="3389999" y="1565798"/>
            <a:ext cx="376489" cy="636691"/>
            <a:chOff x="7469108" y="1235070"/>
            <a:chExt cx="591717" cy="1000670"/>
          </a:xfrm>
        </p:grpSpPr>
        <p:pic>
          <p:nvPicPr>
            <p:cNvPr id="100" name="Graphique 99" descr="Voyage avec un remplissage uni">
              <a:extLst>
                <a:ext uri="{FF2B5EF4-FFF2-40B4-BE49-F238E27FC236}">
                  <a16:creationId xmlns:a16="http://schemas.microsoft.com/office/drawing/2014/main" id="{8A91A2D3-DE61-7448-FBFA-F44BEF46475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469108" y="1235070"/>
              <a:ext cx="591717" cy="591717"/>
            </a:xfrm>
            <a:prstGeom prst="rect">
              <a:avLst/>
            </a:prstGeom>
          </p:spPr>
        </p:pic>
        <p:pic>
          <p:nvPicPr>
            <p:cNvPr id="101" name="Graphique 100" descr="Cœur avec un remplissage uni">
              <a:extLst>
                <a:ext uri="{FF2B5EF4-FFF2-40B4-BE49-F238E27FC236}">
                  <a16:creationId xmlns:a16="http://schemas.microsoft.com/office/drawing/2014/main" id="{DD4AC06F-6575-ED06-D365-29B8ADF8199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57018" y="1546602"/>
              <a:ext cx="353972" cy="353972"/>
            </a:xfrm>
            <a:prstGeom prst="rect">
              <a:avLst/>
            </a:prstGeom>
          </p:spPr>
        </p:pic>
        <p:pic>
          <p:nvPicPr>
            <p:cNvPr id="102" name="Graphique 101" descr="Utilisateur avec un remplissage uni">
              <a:extLst>
                <a:ext uri="{FF2B5EF4-FFF2-40B4-BE49-F238E27FC236}">
                  <a16:creationId xmlns:a16="http://schemas.microsoft.com/office/drawing/2014/main" id="{5996D3B8-4026-1154-8174-7B0F9E4226A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547982" y="1806574"/>
              <a:ext cx="429166" cy="429166"/>
            </a:xfrm>
            <a:prstGeom prst="rect">
              <a:avLst/>
            </a:prstGeom>
          </p:spPr>
        </p:pic>
      </p:grpSp>
      <p:grpSp>
        <p:nvGrpSpPr>
          <p:cNvPr id="103" name="Groupe 102">
            <a:extLst>
              <a:ext uri="{FF2B5EF4-FFF2-40B4-BE49-F238E27FC236}">
                <a16:creationId xmlns:a16="http://schemas.microsoft.com/office/drawing/2014/main" id="{F78D5B2E-6C6F-2DA7-BFC5-252DAE453E74}"/>
              </a:ext>
            </a:extLst>
          </p:cNvPr>
          <p:cNvGrpSpPr/>
          <p:nvPr/>
        </p:nvGrpSpPr>
        <p:grpSpPr>
          <a:xfrm>
            <a:off x="3859432" y="1560469"/>
            <a:ext cx="382727" cy="632311"/>
            <a:chOff x="8849906" y="1258152"/>
            <a:chExt cx="591717" cy="977588"/>
          </a:xfrm>
        </p:grpSpPr>
        <p:pic>
          <p:nvPicPr>
            <p:cNvPr id="104" name="Graphique 103" descr="Ballon de football avec un remplissage uni">
              <a:extLst>
                <a:ext uri="{FF2B5EF4-FFF2-40B4-BE49-F238E27FC236}">
                  <a16:creationId xmlns:a16="http://schemas.microsoft.com/office/drawing/2014/main" id="{00B5304E-E251-6E32-E1BE-89B6BB9A07E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849906" y="1258152"/>
              <a:ext cx="591717" cy="591717"/>
            </a:xfrm>
            <a:prstGeom prst="rect">
              <a:avLst/>
            </a:prstGeom>
          </p:spPr>
        </p:pic>
        <p:pic>
          <p:nvPicPr>
            <p:cNvPr id="105" name="Graphique 104" descr="Utilisateur avec un remplissage uni">
              <a:extLst>
                <a:ext uri="{FF2B5EF4-FFF2-40B4-BE49-F238E27FC236}">
                  <a16:creationId xmlns:a16="http://schemas.microsoft.com/office/drawing/2014/main" id="{61EDF635-2621-2E74-A048-A764BFDAC28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42850" y="1806574"/>
              <a:ext cx="429166" cy="429166"/>
            </a:xfrm>
            <a:prstGeom prst="rect">
              <a:avLst/>
            </a:prstGeom>
          </p:spPr>
        </p:pic>
        <p:pic>
          <p:nvPicPr>
            <p:cNvPr id="106" name="Graphique 105" descr="Cœur avec un remplissage uni">
              <a:extLst>
                <a:ext uri="{FF2B5EF4-FFF2-40B4-BE49-F238E27FC236}">
                  <a16:creationId xmlns:a16="http://schemas.microsoft.com/office/drawing/2014/main" id="{027FE72B-4765-9CBF-BBF7-750701B32D6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20672" y="1555193"/>
              <a:ext cx="353972" cy="353972"/>
            </a:xfrm>
            <a:prstGeom prst="rect">
              <a:avLst/>
            </a:prstGeom>
          </p:spPr>
        </p:pic>
      </p:grpSp>
      <p:grpSp>
        <p:nvGrpSpPr>
          <p:cNvPr id="107" name="Groupe 106">
            <a:extLst>
              <a:ext uri="{FF2B5EF4-FFF2-40B4-BE49-F238E27FC236}">
                <a16:creationId xmlns:a16="http://schemas.microsoft.com/office/drawing/2014/main" id="{4D2C17C8-445E-CEDE-39B2-A2B69CB60A74}"/>
              </a:ext>
            </a:extLst>
          </p:cNvPr>
          <p:cNvGrpSpPr/>
          <p:nvPr/>
        </p:nvGrpSpPr>
        <p:grpSpPr>
          <a:xfrm>
            <a:off x="4119430" y="1560469"/>
            <a:ext cx="382727" cy="632311"/>
            <a:chOff x="8849906" y="1258152"/>
            <a:chExt cx="591717" cy="977588"/>
          </a:xfrm>
        </p:grpSpPr>
        <p:pic>
          <p:nvPicPr>
            <p:cNvPr id="108" name="Graphique 107" descr="Ballon de football avec un remplissage uni">
              <a:extLst>
                <a:ext uri="{FF2B5EF4-FFF2-40B4-BE49-F238E27FC236}">
                  <a16:creationId xmlns:a16="http://schemas.microsoft.com/office/drawing/2014/main" id="{D998BAC4-E634-013F-60D0-4F449F801E9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849906" y="1258152"/>
              <a:ext cx="591717" cy="591717"/>
            </a:xfrm>
            <a:prstGeom prst="rect">
              <a:avLst/>
            </a:prstGeom>
          </p:spPr>
        </p:pic>
        <p:pic>
          <p:nvPicPr>
            <p:cNvPr id="109" name="Graphique 108" descr="Utilisateur avec un remplissage uni">
              <a:extLst>
                <a:ext uri="{FF2B5EF4-FFF2-40B4-BE49-F238E27FC236}">
                  <a16:creationId xmlns:a16="http://schemas.microsoft.com/office/drawing/2014/main" id="{481E3921-CC19-A1C2-3700-FCA85098C51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42850" y="1806574"/>
              <a:ext cx="429166" cy="429166"/>
            </a:xfrm>
            <a:prstGeom prst="rect">
              <a:avLst/>
            </a:prstGeom>
          </p:spPr>
        </p:pic>
        <p:pic>
          <p:nvPicPr>
            <p:cNvPr id="110" name="Graphique 109" descr="Cœur avec un remplissage uni">
              <a:extLst>
                <a:ext uri="{FF2B5EF4-FFF2-40B4-BE49-F238E27FC236}">
                  <a16:creationId xmlns:a16="http://schemas.microsoft.com/office/drawing/2014/main" id="{948F0096-BDEF-4F31-0FE6-1D1E5989479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20672" y="1555193"/>
              <a:ext cx="353972" cy="353972"/>
            </a:xfrm>
            <a:prstGeom prst="rect">
              <a:avLst/>
            </a:prstGeom>
          </p:spPr>
        </p:pic>
      </p:grpSp>
      <p:grpSp>
        <p:nvGrpSpPr>
          <p:cNvPr id="111" name="Groupe 110">
            <a:extLst>
              <a:ext uri="{FF2B5EF4-FFF2-40B4-BE49-F238E27FC236}">
                <a16:creationId xmlns:a16="http://schemas.microsoft.com/office/drawing/2014/main" id="{A3425C4B-C74B-B9C6-F8A3-9FFDD3BC2622}"/>
              </a:ext>
            </a:extLst>
          </p:cNvPr>
          <p:cNvGrpSpPr/>
          <p:nvPr/>
        </p:nvGrpSpPr>
        <p:grpSpPr>
          <a:xfrm>
            <a:off x="4372031" y="1560469"/>
            <a:ext cx="382727" cy="632311"/>
            <a:chOff x="8849906" y="1258152"/>
            <a:chExt cx="591717" cy="977588"/>
          </a:xfrm>
        </p:grpSpPr>
        <p:pic>
          <p:nvPicPr>
            <p:cNvPr id="112" name="Graphique 111" descr="Ballon de football avec un remplissage uni">
              <a:extLst>
                <a:ext uri="{FF2B5EF4-FFF2-40B4-BE49-F238E27FC236}">
                  <a16:creationId xmlns:a16="http://schemas.microsoft.com/office/drawing/2014/main" id="{8D8BC09C-1B2C-8B03-0D2E-BB2D8C7BB06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849906" y="1258152"/>
              <a:ext cx="591717" cy="591717"/>
            </a:xfrm>
            <a:prstGeom prst="rect">
              <a:avLst/>
            </a:prstGeom>
          </p:spPr>
        </p:pic>
        <p:pic>
          <p:nvPicPr>
            <p:cNvPr id="113" name="Graphique 112" descr="Utilisateur avec un remplissage uni">
              <a:extLst>
                <a:ext uri="{FF2B5EF4-FFF2-40B4-BE49-F238E27FC236}">
                  <a16:creationId xmlns:a16="http://schemas.microsoft.com/office/drawing/2014/main" id="{7E1C9409-9521-90C1-BD8B-0588EA9B2F7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42850" y="1806574"/>
              <a:ext cx="429166" cy="429166"/>
            </a:xfrm>
            <a:prstGeom prst="rect">
              <a:avLst/>
            </a:prstGeom>
          </p:spPr>
        </p:pic>
        <p:pic>
          <p:nvPicPr>
            <p:cNvPr id="114" name="Graphique 113" descr="Cœur avec un remplissage uni">
              <a:extLst>
                <a:ext uri="{FF2B5EF4-FFF2-40B4-BE49-F238E27FC236}">
                  <a16:creationId xmlns:a16="http://schemas.microsoft.com/office/drawing/2014/main" id="{F23549F1-F4AD-318C-2862-C695726F070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20672" y="1555193"/>
              <a:ext cx="353972" cy="353972"/>
            </a:xfrm>
            <a:prstGeom prst="rect">
              <a:avLst/>
            </a:prstGeom>
          </p:spPr>
        </p:pic>
      </p:grpSp>
      <p:sp>
        <p:nvSpPr>
          <p:cNvPr id="115" name="Titre 1">
            <a:extLst>
              <a:ext uri="{FF2B5EF4-FFF2-40B4-BE49-F238E27FC236}">
                <a16:creationId xmlns:a16="http://schemas.microsoft.com/office/drawing/2014/main" id="{32E98C79-FEE6-925D-A151-53B1602EB190}"/>
              </a:ext>
            </a:extLst>
          </p:cNvPr>
          <p:cNvSpPr>
            <a:spLocks noGrp="1"/>
          </p:cNvSpPr>
          <p:nvPr>
            <p:ph type="title"/>
          </p:nvPr>
        </p:nvSpPr>
        <p:spPr>
          <a:xfrm>
            <a:off x="542108" y="364488"/>
            <a:ext cx="10515600" cy="738663"/>
          </a:xfrm>
        </p:spPr>
        <p:txBody>
          <a:bodyPr>
            <a:noAutofit/>
          </a:bodyPr>
          <a:lstStyle/>
          <a:p>
            <a:r>
              <a:rPr lang="fr-FR" sz="3200" dirty="0"/>
              <a:t>Similarités et différences marquées</a:t>
            </a:r>
            <a:br>
              <a:rPr lang="fr-FR" sz="3200" dirty="0"/>
            </a:br>
            <a:r>
              <a:rPr lang="fr-FR" sz="2000" dirty="0"/>
              <a:t>Exemples de situations, d’</a:t>
            </a:r>
            <a:r>
              <a:rPr lang="fr-FR" sz="2000" dirty="0">
                <a:solidFill>
                  <a:srgbClr val="00B050"/>
                </a:solidFill>
              </a:rPr>
              <a:t>avantages</a:t>
            </a:r>
            <a:r>
              <a:rPr lang="fr-FR" sz="2000" dirty="0"/>
              <a:t>, d’</a:t>
            </a:r>
            <a:r>
              <a:rPr lang="fr-FR" sz="2000" dirty="0">
                <a:solidFill>
                  <a:srgbClr val="FF0000"/>
                </a:solidFill>
              </a:rPr>
              <a:t>inconvénients, </a:t>
            </a:r>
            <a:r>
              <a:rPr lang="fr-FR" sz="2000" dirty="0"/>
              <a:t>d’</a:t>
            </a:r>
            <a:r>
              <a:rPr lang="fr-FR" sz="2000" dirty="0">
                <a:solidFill>
                  <a:schemeClr val="bg1">
                    <a:lumMod val="50000"/>
                  </a:schemeClr>
                </a:solidFill>
              </a:rPr>
              <a:t>actions </a:t>
            </a:r>
            <a:r>
              <a:rPr lang="fr-FR" sz="2000" dirty="0"/>
              <a:t>associées</a:t>
            </a:r>
            <a:br>
              <a:rPr lang="fr-FR" sz="2000" dirty="0"/>
            </a:br>
            <a:r>
              <a:rPr lang="fr-FR" sz="1000" dirty="0"/>
              <a:t>📅Evènements  , ✍️Contenus, ⚙️Structuration de Communauté, 📅+⚙️Structuration de moments, ✍️+⚙️ Structuration de Contenus</a:t>
            </a:r>
          </a:p>
        </p:txBody>
      </p:sp>
      <p:sp>
        <p:nvSpPr>
          <p:cNvPr id="116" name="Rectangle 115">
            <a:extLst>
              <a:ext uri="{FF2B5EF4-FFF2-40B4-BE49-F238E27FC236}">
                <a16:creationId xmlns:a16="http://schemas.microsoft.com/office/drawing/2014/main" id="{57C8F273-E26A-EA9C-90D3-4909A45FFA77}"/>
              </a:ext>
            </a:extLst>
          </p:cNvPr>
          <p:cNvSpPr/>
          <p:nvPr/>
        </p:nvSpPr>
        <p:spPr>
          <a:xfrm>
            <a:off x="1942249" y="775062"/>
            <a:ext cx="1027374" cy="20900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ZoneTexte 80">
            <a:extLst>
              <a:ext uri="{FF2B5EF4-FFF2-40B4-BE49-F238E27FC236}">
                <a16:creationId xmlns:a16="http://schemas.microsoft.com/office/drawing/2014/main" id="{6FAE982C-B5DA-501C-37BA-939EEF46EA81}"/>
              </a:ext>
            </a:extLst>
          </p:cNvPr>
          <p:cNvSpPr txBox="1"/>
          <p:nvPr/>
        </p:nvSpPr>
        <p:spPr>
          <a:xfrm>
            <a:off x="3042722" y="3314265"/>
            <a:ext cx="1269137" cy="784830"/>
          </a:xfrm>
          <a:prstGeom prst="rect">
            <a:avLst/>
          </a:prstGeom>
          <a:solidFill>
            <a:schemeClr val="bg1">
              <a:lumMod val="95000"/>
            </a:schemeClr>
          </a:solidFill>
          <a:ln>
            <a:noFill/>
          </a:ln>
        </p:spPr>
        <p:txBody>
          <a:bodyPr wrap="square" anchor="ctr">
            <a:noAutofit/>
          </a:bodyPr>
          <a:lstStyle/>
          <a:p>
            <a:pPr algn="ctr"/>
            <a:r>
              <a:rPr lang="fr-FR" sz="1000" dirty="0"/>
              <a:t>📅Achat ou organisation groupée d’activités (cadre perso)</a:t>
            </a:r>
          </a:p>
        </p:txBody>
      </p:sp>
      <p:sp>
        <p:nvSpPr>
          <p:cNvPr id="82" name="ZoneTexte 81">
            <a:extLst>
              <a:ext uri="{FF2B5EF4-FFF2-40B4-BE49-F238E27FC236}">
                <a16:creationId xmlns:a16="http://schemas.microsoft.com/office/drawing/2014/main" id="{3D1E4051-A602-D97A-9AE0-B58D47A63B8B}"/>
              </a:ext>
            </a:extLst>
          </p:cNvPr>
          <p:cNvSpPr txBox="1"/>
          <p:nvPr/>
        </p:nvSpPr>
        <p:spPr>
          <a:xfrm>
            <a:off x="4378310" y="3314265"/>
            <a:ext cx="1269137" cy="784830"/>
          </a:xfrm>
          <a:prstGeom prst="rect">
            <a:avLst/>
          </a:prstGeom>
          <a:solidFill>
            <a:schemeClr val="bg1">
              <a:lumMod val="95000"/>
            </a:schemeClr>
          </a:solidFill>
          <a:ln>
            <a:noFill/>
          </a:ln>
        </p:spPr>
        <p:txBody>
          <a:bodyPr wrap="square" anchor="ctr">
            <a:noAutofit/>
          </a:bodyPr>
          <a:lstStyle/>
          <a:p>
            <a:pPr algn="ctr"/>
            <a:r>
              <a:rPr lang="fr-FR" sz="1000" dirty="0"/>
              <a:t>✍️Contenus « Le lien entre {sujet de la communauté} et {affinité commune] »</a:t>
            </a:r>
          </a:p>
        </p:txBody>
      </p:sp>
      <p:sp>
        <p:nvSpPr>
          <p:cNvPr id="83" name="ZoneTexte 82">
            <a:extLst>
              <a:ext uri="{FF2B5EF4-FFF2-40B4-BE49-F238E27FC236}">
                <a16:creationId xmlns:a16="http://schemas.microsoft.com/office/drawing/2014/main" id="{A9F99B62-3CAD-6952-8A49-FC0D595BCC6B}"/>
              </a:ext>
            </a:extLst>
          </p:cNvPr>
          <p:cNvSpPr txBox="1"/>
          <p:nvPr/>
        </p:nvSpPr>
        <p:spPr>
          <a:xfrm>
            <a:off x="3042722" y="4180517"/>
            <a:ext cx="1269137" cy="784830"/>
          </a:xfrm>
          <a:prstGeom prst="rect">
            <a:avLst/>
          </a:prstGeom>
          <a:solidFill>
            <a:schemeClr val="bg1">
              <a:lumMod val="95000"/>
            </a:schemeClr>
          </a:solidFill>
          <a:ln>
            <a:noFill/>
          </a:ln>
        </p:spPr>
        <p:txBody>
          <a:bodyPr wrap="square" anchor="ctr">
            <a:noAutofit/>
          </a:bodyPr>
          <a:lstStyle/>
          <a:p>
            <a:pPr algn="ctr"/>
            <a:r>
              <a:rPr lang="fr-FR" sz="1000" dirty="0"/>
              <a:t>⚙️Mise en place d’une salle de discussion dédiée à l’affinité commune</a:t>
            </a:r>
          </a:p>
        </p:txBody>
      </p:sp>
    </p:spTree>
    <p:extLst>
      <p:ext uri="{BB962C8B-B14F-4D97-AF65-F5344CB8AC3E}">
        <p14:creationId xmlns:p14="http://schemas.microsoft.com/office/powerpoint/2010/main" val="260235022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lèche : double flèche horizontale 3">
            <a:extLst>
              <a:ext uri="{FF2B5EF4-FFF2-40B4-BE49-F238E27FC236}">
                <a16:creationId xmlns:a16="http://schemas.microsoft.com/office/drawing/2014/main" id="{56A64584-73D0-A23F-B100-D16C8D367879}"/>
              </a:ext>
            </a:extLst>
          </p:cNvPr>
          <p:cNvSpPr/>
          <p:nvPr/>
        </p:nvSpPr>
        <p:spPr>
          <a:xfrm>
            <a:off x="4712931" y="2544979"/>
            <a:ext cx="2675981" cy="296091"/>
          </a:xfrm>
          <a:prstGeom prst="lef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6" name="ZoneTexte 5">
            <a:extLst>
              <a:ext uri="{FF2B5EF4-FFF2-40B4-BE49-F238E27FC236}">
                <a16:creationId xmlns:a16="http://schemas.microsoft.com/office/drawing/2014/main" id="{2A5DB254-B882-DACC-8488-F541488CA514}"/>
              </a:ext>
            </a:extLst>
          </p:cNvPr>
          <p:cNvSpPr txBox="1"/>
          <p:nvPr/>
        </p:nvSpPr>
        <p:spPr>
          <a:xfrm>
            <a:off x="7388912" y="2310276"/>
            <a:ext cx="2020389" cy="738664"/>
          </a:xfrm>
          <a:prstGeom prst="rect">
            <a:avLst/>
          </a:prstGeom>
          <a:solidFill>
            <a:srgbClr val="ED7D31"/>
          </a:solidFill>
        </p:spPr>
        <p:txBody>
          <a:bodyPr wrap="square" anchor="ctr">
            <a:spAutoFit/>
          </a:bodyPr>
          <a:lstStyle/>
          <a:p>
            <a:pPr algn="ctr"/>
            <a:r>
              <a:rPr lang="fr-FR" sz="1400" dirty="0"/>
              <a:t>Niveaux d’expérience différents sur un sujet donné commun</a:t>
            </a:r>
          </a:p>
        </p:txBody>
      </p:sp>
      <p:sp>
        <p:nvSpPr>
          <p:cNvPr id="8" name="ZoneTexte 7">
            <a:extLst>
              <a:ext uri="{FF2B5EF4-FFF2-40B4-BE49-F238E27FC236}">
                <a16:creationId xmlns:a16="http://schemas.microsoft.com/office/drawing/2014/main" id="{79974BCF-0D29-8760-A403-924E1C4BCA9A}"/>
              </a:ext>
            </a:extLst>
          </p:cNvPr>
          <p:cNvSpPr txBox="1"/>
          <p:nvPr/>
        </p:nvSpPr>
        <p:spPr>
          <a:xfrm>
            <a:off x="2879778" y="2310276"/>
            <a:ext cx="1854925" cy="738664"/>
          </a:xfrm>
          <a:prstGeom prst="rect">
            <a:avLst/>
          </a:prstGeom>
          <a:solidFill>
            <a:srgbClr val="ED7D31"/>
          </a:solidFill>
        </p:spPr>
        <p:txBody>
          <a:bodyPr wrap="square" anchor="ctr">
            <a:spAutoFit/>
          </a:bodyPr>
          <a:lstStyle/>
          <a:p>
            <a:pPr algn="ctr"/>
            <a:r>
              <a:rPr lang="fr-FR" sz="1400" dirty="0"/>
              <a:t>Niveau d’expérience similaire sur un sujet donné commun</a:t>
            </a:r>
          </a:p>
        </p:txBody>
      </p:sp>
      <p:sp>
        <p:nvSpPr>
          <p:cNvPr id="28" name="ZoneTexte 27">
            <a:extLst>
              <a:ext uri="{FF2B5EF4-FFF2-40B4-BE49-F238E27FC236}">
                <a16:creationId xmlns:a16="http://schemas.microsoft.com/office/drawing/2014/main" id="{151FE5A7-8679-9762-F387-12E4D2DE6775}"/>
              </a:ext>
            </a:extLst>
          </p:cNvPr>
          <p:cNvSpPr txBox="1"/>
          <p:nvPr/>
        </p:nvSpPr>
        <p:spPr>
          <a:xfrm>
            <a:off x="3382291" y="1962726"/>
            <a:ext cx="671859" cy="229158"/>
          </a:xfrm>
          <a:prstGeom prst="rect">
            <a:avLst/>
          </a:prstGeom>
          <a:noFill/>
        </p:spPr>
        <p:txBody>
          <a:bodyPr wrap="square" anchor="ctr">
            <a:spAutoFit/>
          </a:bodyPr>
          <a:lstStyle/>
          <a:p>
            <a:pPr algn="ctr"/>
            <a:r>
              <a:rPr lang="fr-FR" sz="1400" dirty="0"/>
              <a:t>ou</a:t>
            </a:r>
          </a:p>
        </p:txBody>
      </p:sp>
      <p:sp>
        <p:nvSpPr>
          <p:cNvPr id="51" name="ZoneTexte 50">
            <a:extLst>
              <a:ext uri="{FF2B5EF4-FFF2-40B4-BE49-F238E27FC236}">
                <a16:creationId xmlns:a16="http://schemas.microsoft.com/office/drawing/2014/main" id="{28321992-7F2B-D21E-2E33-FD96A71C53F9}"/>
              </a:ext>
            </a:extLst>
          </p:cNvPr>
          <p:cNvSpPr txBox="1"/>
          <p:nvPr/>
        </p:nvSpPr>
        <p:spPr>
          <a:xfrm>
            <a:off x="9468538" y="2625456"/>
            <a:ext cx="1269137" cy="784830"/>
          </a:xfrm>
          <a:prstGeom prst="rect">
            <a:avLst/>
          </a:prstGeom>
          <a:solidFill>
            <a:srgbClr val="54FFB3"/>
          </a:solidFill>
        </p:spPr>
        <p:txBody>
          <a:bodyPr wrap="square" anchor="ctr">
            <a:noAutofit/>
          </a:bodyPr>
          <a:lstStyle/>
          <a:p>
            <a:pPr algn="ctr"/>
            <a:r>
              <a:rPr lang="fr-FR" sz="1000" dirty="0"/>
              <a:t>Permet de re-expliciter les « évidences », de rester dans l’état d’apprentissage</a:t>
            </a:r>
          </a:p>
        </p:txBody>
      </p:sp>
      <p:sp>
        <p:nvSpPr>
          <p:cNvPr id="52" name="ZoneTexte 51">
            <a:extLst>
              <a:ext uri="{FF2B5EF4-FFF2-40B4-BE49-F238E27FC236}">
                <a16:creationId xmlns:a16="http://schemas.microsoft.com/office/drawing/2014/main" id="{843A05F4-B41A-4694-38A4-297CBD0F4F10}"/>
              </a:ext>
            </a:extLst>
          </p:cNvPr>
          <p:cNvSpPr txBox="1"/>
          <p:nvPr/>
        </p:nvSpPr>
        <p:spPr>
          <a:xfrm>
            <a:off x="10796912" y="2620549"/>
            <a:ext cx="1269137" cy="784830"/>
          </a:xfrm>
          <a:prstGeom prst="rect">
            <a:avLst/>
          </a:prstGeom>
          <a:solidFill>
            <a:srgbClr val="54FFB3"/>
          </a:solidFill>
        </p:spPr>
        <p:txBody>
          <a:bodyPr wrap="square" anchor="ctr">
            <a:noAutofit/>
          </a:bodyPr>
          <a:lstStyle/>
          <a:p>
            <a:pPr algn="ctr"/>
            <a:r>
              <a:rPr lang="fr-FR" sz="1000" dirty="0"/>
              <a:t>Opportunités de transmettre et de reconnaître l’expérience de chacun</a:t>
            </a:r>
          </a:p>
        </p:txBody>
      </p:sp>
      <p:sp>
        <p:nvSpPr>
          <p:cNvPr id="53" name="ZoneTexte 52">
            <a:extLst>
              <a:ext uri="{FF2B5EF4-FFF2-40B4-BE49-F238E27FC236}">
                <a16:creationId xmlns:a16="http://schemas.microsoft.com/office/drawing/2014/main" id="{3F5D9FC4-086E-94A7-DB1C-1B042586C6EC}"/>
              </a:ext>
            </a:extLst>
          </p:cNvPr>
          <p:cNvSpPr txBox="1"/>
          <p:nvPr/>
        </p:nvSpPr>
        <p:spPr>
          <a:xfrm>
            <a:off x="945572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d’introduction et d’approfondissement de Cybersécurité (tous niveaux)</a:t>
            </a:r>
          </a:p>
        </p:txBody>
      </p:sp>
      <p:sp>
        <p:nvSpPr>
          <p:cNvPr id="54" name="ZoneTexte 53">
            <a:extLst>
              <a:ext uri="{FF2B5EF4-FFF2-40B4-BE49-F238E27FC236}">
                <a16:creationId xmlns:a16="http://schemas.microsoft.com/office/drawing/2014/main" id="{78DE3FA2-7181-D580-DC2B-7EEBA634F374}"/>
              </a:ext>
            </a:extLst>
          </p:cNvPr>
          <p:cNvSpPr txBox="1"/>
          <p:nvPr/>
        </p:nvSpPr>
        <p:spPr>
          <a:xfrm>
            <a:off x="1078409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Communautés d’ambassadeurs internes avec différents niveaux d’ancienneté</a:t>
            </a:r>
          </a:p>
        </p:txBody>
      </p:sp>
      <p:sp>
        <p:nvSpPr>
          <p:cNvPr id="56" name="ZoneTexte 55">
            <a:extLst>
              <a:ext uri="{FF2B5EF4-FFF2-40B4-BE49-F238E27FC236}">
                <a16:creationId xmlns:a16="http://schemas.microsoft.com/office/drawing/2014/main" id="{9E1201AC-5400-12CD-67FE-66A1CAA3551D}"/>
              </a:ext>
            </a:extLst>
          </p:cNvPr>
          <p:cNvSpPr txBox="1"/>
          <p:nvPr/>
        </p:nvSpPr>
        <p:spPr>
          <a:xfrm>
            <a:off x="9455723" y="4028237"/>
            <a:ext cx="1269137" cy="784830"/>
          </a:xfrm>
          <a:prstGeom prst="rect">
            <a:avLst/>
          </a:prstGeom>
          <a:solidFill>
            <a:srgbClr val="FF7C80"/>
          </a:solidFill>
        </p:spPr>
        <p:txBody>
          <a:bodyPr wrap="square" anchor="ctr">
            <a:noAutofit/>
          </a:bodyPr>
          <a:lstStyle/>
          <a:p>
            <a:pPr algn="ctr"/>
            <a:r>
              <a:rPr lang="fr-FR" sz="1000" dirty="0"/>
              <a:t>Risque d’ennui, de manque de repères, ou d’intérêts différents selon la maturité</a:t>
            </a:r>
          </a:p>
        </p:txBody>
      </p:sp>
      <p:sp>
        <p:nvSpPr>
          <p:cNvPr id="57" name="ZoneTexte 56">
            <a:extLst>
              <a:ext uri="{FF2B5EF4-FFF2-40B4-BE49-F238E27FC236}">
                <a16:creationId xmlns:a16="http://schemas.microsoft.com/office/drawing/2014/main" id="{C3F99FCB-EC1D-A2A9-5CEE-5D5910226FC4}"/>
              </a:ext>
            </a:extLst>
          </p:cNvPr>
          <p:cNvSpPr txBox="1"/>
          <p:nvPr/>
        </p:nvSpPr>
        <p:spPr>
          <a:xfrm>
            <a:off x="10784097" y="4028237"/>
            <a:ext cx="1269137" cy="784830"/>
          </a:xfrm>
          <a:prstGeom prst="rect">
            <a:avLst/>
          </a:prstGeom>
          <a:solidFill>
            <a:srgbClr val="FF7C80"/>
          </a:solidFill>
        </p:spPr>
        <p:txBody>
          <a:bodyPr wrap="square" anchor="ctr">
            <a:noAutofit/>
          </a:bodyPr>
          <a:lstStyle/>
          <a:p>
            <a:pPr algn="ctr"/>
            <a:r>
              <a:rPr lang="fr-FR" sz="1000" dirty="0"/>
              <a:t>Risque de ne pas avoir le même niveau d’énergie entre les membres, risque de déphasage</a:t>
            </a:r>
          </a:p>
        </p:txBody>
      </p:sp>
      <p:sp>
        <p:nvSpPr>
          <p:cNvPr id="47" name="ZoneTexte 46">
            <a:extLst>
              <a:ext uri="{FF2B5EF4-FFF2-40B4-BE49-F238E27FC236}">
                <a16:creationId xmlns:a16="http://schemas.microsoft.com/office/drawing/2014/main" id="{DC34A362-59C6-88E4-D742-DBB9FF55CC81}"/>
              </a:ext>
            </a:extLst>
          </p:cNvPr>
          <p:cNvSpPr txBox="1"/>
          <p:nvPr/>
        </p:nvSpPr>
        <p:spPr>
          <a:xfrm>
            <a:off x="188984" y="2615642"/>
            <a:ext cx="1269137" cy="784830"/>
          </a:xfrm>
          <a:prstGeom prst="rect">
            <a:avLst/>
          </a:prstGeom>
          <a:solidFill>
            <a:srgbClr val="54FFB3"/>
          </a:solidFill>
        </p:spPr>
        <p:txBody>
          <a:bodyPr wrap="square" anchor="ctr">
            <a:noAutofit/>
          </a:bodyPr>
          <a:lstStyle/>
          <a:p>
            <a:pPr algn="ctr"/>
            <a:r>
              <a:rPr lang="fr-FR" sz="1000" dirty="0"/>
              <a:t>Opportunités de réfléchir sur des problématiques similaires d’un point de vue carrière</a:t>
            </a:r>
          </a:p>
        </p:txBody>
      </p:sp>
      <p:sp>
        <p:nvSpPr>
          <p:cNvPr id="48" name="ZoneTexte 47">
            <a:extLst>
              <a:ext uri="{FF2B5EF4-FFF2-40B4-BE49-F238E27FC236}">
                <a16:creationId xmlns:a16="http://schemas.microsoft.com/office/drawing/2014/main" id="{23CCAFA3-5C21-BFE3-0E41-DFA6DA336BC2}"/>
              </a:ext>
            </a:extLst>
          </p:cNvPr>
          <p:cNvSpPr txBox="1"/>
          <p:nvPr/>
        </p:nvSpPr>
        <p:spPr>
          <a:xfrm>
            <a:off x="1517358" y="2610735"/>
            <a:ext cx="1269137" cy="784830"/>
          </a:xfrm>
          <a:prstGeom prst="rect">
            <a:avLst/>
          </a:prstGeom>
          <a:solidFill>
            <a:srgbClr val="54FFB3"/>
          </a:solidFill>
        </p:spPr>
        <p:txBody>
          <a:bodyPr wrap="square" anchor="ctr">
            <a:noAutofit/>
          </a:bodyPr>
          <a:lstStyle/>
          <a:p>
            <a:pPr algn="ctr"/>
            <a:r>
              <a:rPr lang="fr-FR" sz="1000" dirty="0"/>
              <a:t>Ajustement plus facile sur le niveau des contenus</a:t>
            </a:r>
          </a:p>
        </p:txBody>
      </p:sp>
      <p:sp>
        <p:nvSpPr>
          <p:cNvPr id="49" name="ZoneTexte 48">
            <a:extLst>
              <a:ext uri="{FF2B5EF4-FFF2-40B4-BE49-F238E27FC236}">
                <a16:creationId xmlns:a16="http://schemas.microsoft.com/office/drawing/2014/main" id="{3F2E95BE-06A0-37E0-F90F-8F8361C86BDE}"/>
              </a:ext>
            </a:extLst>
          </p:cNvPr>
          <p:cNvSpPr txBox="1"/>
          <p:nvPr/>
        </p:nvSpPr>
        <p:spPr>
          <a:xfrm>
            <a:off x="188984" y="1530353"/>
            <a:ext cx="1269137" cy="784830"/>
          </a:xfrm>
          <a:prstGeom prst="rect">
            <a:avLst/>
          </a:prstGeom>
          <a:solidFill>
            <a:schemeClr val="bg1"/>
          </a:solidFill>
          <a:ln>
            <a:solidFill>
              <a:schemeClr val="tx1"/>
            </a:solidFill>
          </a:ln>
        </p:spPr>
        <p:txBody>
          <a:bodyPr wrap="square" anchor="ctr">
            <a:noAutofit/>
          </a:bodyPr>
          <a:lstStyle/>
          <a:p>
            <a:pPr algn="ctr"/>
            <a:r>
              <a:rPr lang="fr-FR" sz="1000" dirty="0"/>
              <a:t>Groupes de débutants en agilité d’entreprise souhaitant se lancer dans le sujet</a:t>
            </a:r>
          </a:p>
        </p:txBody>
      </p:sp>
      <p:sp>
        <p:nvSpPr>
          <p:cNvPr id="50" name="ZoneTexte 49">
            <a:extLst>
              <a:ext uri="{FF2B5EF4-FFF2-40B4-BE49-F238E27FC236}">
                <a16:creationId xmlns:a16="http://schemas.microsoft.com/office/drawing/2014/main" id="{5E58DCA4-5AC7-6788-6B25-3FEACFE32C39}"/>
              </a:ext>
            </a:extLst>
          </p:cNvPr>
          <p:cNvSpPr txBox="1"/>
          <p:nvPr/>
        </p:nvSpPr>
        <p:spPr>
          <a:xfrm>
            <a:off x="1517358" y="1525446"/>
            <a:ext cx="1269137" cy="784830"/>
          </a:xfrm>
          <a:prstGeom prst="rect">
            <a:avLst/>
          </a:prstGeom>
          <a:solidFill>
            <a:schemeClr val="bg1"/>
          </a:solidFill>
          <a:ln>
            <a:solidFill>
              <a:schemeClr val="tx1"/>
            </a:solidFill>
          </a:ln>
        </p:spPr>
        <p:txBody>
          <a:bodyPr wrap="square" anchor="ctr">
            <a:noAutofit/>
          </a:bodyPr>
          <a:lstStyle/>
          <a:p>
            <a:pPr algn="ctr"/>
            <a:r>
              <a:rPr lang="fr-FR" sz="1000" dirty="0"/>
              <a:t>Communauté très sélective des experts d’un sujet de niche </a:t>
            </a:r>
          </a:p>
        </p:txBody>
      </p:sp>
      <p:sp>
        <p:nvSpPr>
          <p:cNvPr id="58" name="ZoneTexte 57">
            <a:extLst>
              <a:ext uri="{FF2B5EF4-FFF2-40B4-BE49-F238E27FC236}">
                <a16:creationId xmlns:a16="http://schemas.microsoft.com/office/drawing/2014/main" id="{E8DBD87D-6BAB-7936-0AF0-5DC01799F47F}"/>
              </a:ext>
            </a:extLst>
          </p:cNvPr>
          <p:cNvSpPr txBox="1"/>
          <p:nvPr/>
        </p:nvSpPr>
        <p:spPr>
          <a:xfrm>
            <a:off x="188984" y="4068990"/>
            <a:ext cx="1269137" cy="784830"/>
          </a:xfrm>
          <a:prstGeom prst="rect">
            <a:avLst/>
          </a:prstGeom>
          <a:solidFill>
            <a:srgbClr val="FF7C80"/>
          </a:solidFill>
        </p:spPr>
        <p:txBody>
          <a:bodyPr wrap="square" anchor="ctr">
            <a:noAutofit/>
          </a:bodyPr>
          <a:lstStyle/>
          <a:p>
            <a:pPr algn="ctr"/>
            <a:r>
              <a:rPr lang="fr-FR" sz="1000" dirty="0"/>
              <a:t>Pour certains groupes, risque d’effet </a:t>
            </a:r>
            <a:r>
              <a:rPr lang="fr-FR" sz="1000" dirty="0" err="1"/>
              <a:t>Dunning</a:t>
            </a:r>
            <a:r>
              <a:rPr lang="fr-FR" sz="1000" dirty="0"/>
              <a:t> Kruger de groupe</a:t>
            </a:r>
          </a:p>
        </p:txBody>
      </p:sp>
      <p:sp>
        <p:nvSpPr>
          <p:cNvPr id="59" name="ZoneTexte 58">
            <a:extLst>
              <a:ext uri="{FF2B5EF4-FFF2-40B4-BE49-F238E27FC236}">
                <a16:creationId xmlns:a16="http://schemas.microsoft.com/office/drawing/2014/main" id="{A20FAF36-4079-42D6-19D2-83094F4D7B7B}"/>
              </a:ext>
            </a:extLst>
          </p:cNvPr>
          <p:cNvSpPr txBox="1"/>
          <p:nvPr/>
        </p:nvSpPr>
        <p:spPr>
          <a:xfrm>
            <a:off x="1517358" y="4068990"/>
            <a:ext cx="1269137" cy="784830"/>
          </a:xfrm>
          <a:prstGeom prst="rect">
            <a:avLst/>
          </a:prstGeom>
          <a:solidFill>
            <a:srgbClr val="FF7C80"/>
          </a:solidFill>
        </p:spPr>
        <p:txBody>
          <a:bodyPr wrap="square" anchor="ctr">
            <a:noAutofit/>
          </a:bodyPr>
          <a:lstStyle/>
          <a:p>
            <a:pPr algn="ctr"/>
            <a:r>
              <a:rPr lang="fr-FR" sz="1000" dirty="0"/>
              <a:t>Pour groupes « expérimentés », risque de perte du sens des réalités des débutants </a:t>
            </a:r>
          </a:p>
        </p:txBody>
      </p:sp>
      <p:sp>
        <p:nvSpPr>
          <p:cNvPr id="63" name="ZoneTexte 62">
            <a:extLst>
              <a:ext uri="{FF2B5EF4-FFF2-40B4-BE49-F238E27FC236}">
                <a16:creationId xmlns:a16="http://schemas.microsoft.com/office/drawing/2014/main" id="{B3C45B2F-4E6B-531F-FD0F-FE9F818B516C}"/>
              </a:ext>
            </a:extLst>
          </p:cNvPr>
          <p:cNvSpPr txBox="1"/>
          <p:nvPr/>
        </p:nvSpPr>
        <p:spPr>
          <a:xfrm>
            <a:off x="6598378" y="3304361"/>
            <a:ext cx="1269137" cy="784830"/>
          </a:xfrm>
          <a:prstGeom prst="rect">
            <a:avLst/>
          </a:prstGeom>
          <a:solidFill>
            <a:schemeClr val="bg1">
              <a:lumMod val="95000"/>
            </a:schemeClr>
          </a:solidFill>
          <a:ln>
            <a:noFill/>
          </a:ln>
        </p:spPr>
        <p:txBody>
          <a:bodyPr wrap="square" anchor="ctr">
            <a:noAutofit/>
          </a:bodyPr>
          <a:lstStyle/>
          <a:p>
            <a:pPr algn="ctr"/>
            <a:r>
              <a:rPr lang="fr-FR" sz="1000" dirty="0"/>
              <a:t>📅Organisation de transmission entre membres sur les connaissances tacites</a:t>
            </a:r>
          </a:p>
        </p:txBody>
      </p:sp>
      <p:sp>
        <p:nvSpPr>
          <p:cNvPr id="64" name="ZoneTexte 63">
            <a:extLst>
              <a:ext uri="{FF2B5EF4-FFF2-40B4-BE49-F238E27FC236}">
                <a16:creationId xmlns:a16="http://schemas.microsoft.com/office/drawing/2014/main" id="{83BAB155-5B1E-1E19-9244-F6584A0E7C4C}"/>
              </a:ext>
            </a:extLst>
          </p:cNvPr>
          <p:cNvSpPr txBox="1"/>
          <p:nvPr/>
        </p:nvSpPr>
        <p:spPr>
          <a:xfrm>
            <a:off x="7933966" y="3304361"/>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 de support opérationnel de différents niveaux (L1, L2,…)</a:t>
            </a:r>
          </a:p>
        </p:txBody>
      </p:sp>
      <p:sp>
        <p:nvSpPr>
          <p:cNvPr id="69" name="ZoneTexte 68">
            <a:extLst>
              <a:ext uri="{FF2B5EF4-FFF2-40B4-BE49-F238E27FC236}">
                <a16:creationId xmlns:a16="http://schemas.microsoft.com/office/drawing/2014/main" id="{8C6F9452-BEC4-BB98-F766-F244B0F724EB}"/>
              </a:ext>
            </a:extLst>
          </p:cNvPr>
          <p:cNvSpPr txBox="1"/>
          <p:nvPr/>
        </p:nvSpPr>
        <p:spPr>
          <a:xfrm>
            <a:off x="6598378" y="4170613"/>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 de mentoring</a:t>
            </a:r>
          </a:p>
        </p:txBody>
      </p:sp>
      <p:sp>
        <p:nvSpPr>
          <p:cNvPr id="70" name="ZoneTexte 69">
            <a:extLst>
              <a:ext uri="{FF2B5EF4-FFF2-40B4-BE49-F238E27FC236}">
                <a16:creationId xmlns:a16="http://schemas.microsoft.com/office/drawing/2014/main" id="{ACA08B18-865B-5DFE-B4F7-1D37332DB5B0}"/>
              </a:ext>
            </a:extLst>
          </p:cNvPr>
          <p:cNvSpPr txBox="1"/>
          <p:nvPr/>
        </p:nvSpPr>
        <p:spPr>
          <a:xfrm>
            <a:off x="7933966" y="4170613"/>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 de grades</a:t>
            </a:r>
          </a:p>
        </p:txBody>
      </p:sp>
      <p:sp>
        <p:nvSpPr>
          <p:cNvPr id="75" name="ZoneTexte 74">
            <a:extLst>
              <a:ext uri="{FF2B5EF4-FFF2-40B4-BE49-F238E27FC236}">
                <a16:creationId xmlns:a16="http://schemas.microsoft.com/office/drawing/2014/main" id="{9D143AFA-1BB6-21E8-8111-AF09756FC09A}"/>
              </a:ext>
            </a:extLst>
          </p:cNvPr>
          <p:cNvSpPr txBox="1"/>
          <p:nvPr/>
        </p:nvSpPr>
        <p:spPr>
          <a:xfrm>
            <a:off x="6598378" y="5036865"/>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 de parrainage</a:t>
            </a:r>
          </a:p>
        </p:txBody>
      </p:sp>
      <p:sp>
        <p:nvSpPr>
          <p:cNvPr id="76" name="ZoneTexte 75">
            <a:extLst>
              <a:ext uri="{FF2B5EF4-FFF2-40B4-BE49-F238E27FC236}">
                <a16:creationId xmlns:a16="http://schemas.microsoft.com/office/drawing/2014/main" id="{EC3F5E03-8182-71DA-13E4-EE851BBA5D45}"/>
              </a:ext>
            </a:extLst>
          </p:cNvPr>
          <p:cNvSpPr txBox="1"/>
          <p:nvPr/>
        </p:nvSpPr>
        <p:spPr>
          <a:xfrm>
            <a:off x="7933966" y="5036865"/>
            <a:ext cx="1269137" cy="784830"/>
          </a:xfrm>
          <a:prstGeom prst="rect">
            <a:avLst/>
          </a:prstGeom>
          <a:solidFill>
            <a:schemeClr val="bg1">
              <a:lumMod val="95000"/>
            </a:schemeClr>
          </a:solidFill>
          <a:ln>
            <a:noFill/>
          </a:ln>
        </p:spPr>
        <p:txBody>
          <a:bodyPr wrap="square" anchor="ctr">
            <a:noAutofit/>
          </a:bodyPr>
          <a:lstStyle/>
          <a:p>
            <a:pPr algn="ctr"/>
            <a:r>
              <a:rPr lang="fr-FR" sz="1000" dirty="0"/>
              <a:t>✍️Base de données des trucs et astuces informelles </a:t>
            </a:r>
          </a:p>
        </p:txBody>
      </p:sp>
      <p:sp>
        <p:nvSpPr>
          <p:cNvPr id="77" name="ZoneTexte 76">
            <a:extLst>
              <a:ext uri="{FF2B5EF4-FFF2-40B4-BE49-F238E27FC236}">
                <a16:creationId xmlns:a16="http://schemas.microsoft.com/office/drawing/2014/main" id="{C0320BE1-A2B7-8761-29D5-D09FEF522983}"/>
              </a:ext>
            </a:extLst>
          </p:cNvPr>
          <p:cNvSpPr txBox="1"/>
          <p:nvPr/>
        </p:nvSpPr>
        <p:spPr>
          <a:xfrm>
            <a:off x="6598378" y="5903117"/>
            <a:ext cx="1269137" cy="784830"/>
          </a:xfrm>
          <a:prstGeom prst="rect">
            <a:avLst/>
          </a:prstGeom>
          <a:solidFill>
            <a:schemeClr val="bg1">
              <a:lumMod val="95000"/>
            </a:schemeClr>
          </a:solidFill>
          <a:ln>
            <a:noFill/>
          </a:ln>
        </p:spPr>
        <p:txBody>
          <a:bodyPr wrap="square" anchor="ctr">
            <a:noAutofit/>
          </a:bodyPr>
          <a:lstStyle/>
          <a:p>
            <a:pPr algn="ctr"/>
            <a:r>
              <a:rPr lang="fr-FR" sz="1000" dirty="0"/>
              <a:t>✍️Cocréation d’un parcours d’apprentissage ou d’expériences à vivre sur un sujet donné</a:t>
            </a:r>
          </a:p>
        </p:txBody>
      </p:sp>
      <p:sp>
        <p:nvSpPr>
          <p:cNvPr id="78" name="ZoneTexte 77">
            <a:extLst>
              <a:ext uri="{FF2B5EF4-FFF2-40B4-BE49-F238E27FC236}">
                <a16:creationId xmlns:a16="http://schemas.microsoft.com/office/drawing/2014/main" id="{6B00D713-AA47-9831-216C-5B6C61BD5815}"/>
              </a:ext>
            </a:extLst>
          </p:cNvPr>
          <p:cNvSpPr txBox="1"/>
          <p:nvPr/>
        </p:nvSpPr>
        <p:spPr>
          <a:xfrm>
            <a:off x="7933966" y="5903117"/>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 de FAQ</a:t>
            </a:r>
          </a:p>
          <a:p>
            <a:pPr algn="ctr"/>
            <a:endParaRPr lang="fr-FR" sz="1000" dirty="0"/>
          </a:p>
        </p:txBody>
      </p:sp>
      <p:pic>
        <p:nvPicPr>
          <p:cNvPr id="46" name="Graphique 45" descr="Bébé avec un remplissage uni">
            <a:extLst>
              <a:ext uri="{FF2B5EF4-FFF2-40B4-BE49-F238E27FC236}">
                <a16:creationId xmlns:a16="http://schemas.microsoft.com/office/drawing/2014/main" id="{D12D395F-41A0-D19B-4081-516BA6B1DC6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755559" y="1935873"/>
            <a:ext cx="348308" cy="348308"/>
          </a:xfrm>
          <a:prstGeom prst="rect">
            <a:avLst/>
          </a:prstGeom>
        </p:spPr>
      </p:pic>
      <p:pic>
        <p:nvPicPr>
          <p:cNvPr id="81" name="Graphique 80" descr="Personne confuse avec un remplissage uni">
            <a:extLst>
              <a:ext uri="{FF2B5EF4-FFF2-40B4-BE49-F238E27FC236}">
                <a16:creationId xmlns:a16="http://schemas.microsoft.com/office/drawing/2014/main" id="{A89F4924-FFEE-5968-78A0-072339A3D91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506418" y="1558263"/>
            <a:ext cx="696685" cy="696685"/>
          </a:xfrm>
          <a:prstGeom prst="rect">
            <a:avLst/>
          </a:prstGeom>
        </p:spPr>
      </p:pic>
      <p:pic>
        <p:nvPicPr>
          <p:cNvPr id="82" name="Graphique 81" descr="Enfant avec ballon avec un remplissage uni">
            <a:extLst>
              <a:ext uri="{FF2B5EF4-FFF2-40B4-BE49-F238E27FC236}">
                <a16:creationId xmlns:a16="http://schemas.microsoft.com/office/drawing/2014/main" id="{8AE6433B-69D4-0A28-4FE9-68DBEB1A67E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999506" y="1590862"/>
            <a:ext cx="672638" cy="672638"/>
          </a:xfrm>
          <a:prstGeom prst="rect">
            <a:avLst/>
          </a:prstGeom>
        </p:spPr>
      </p:pic>
      <p:pic>
        <p:nvPicPr>
          <p:cNvPr id="83" name="Graphique 82" descr="Bébé avec un remplissage uni">
            <a:extLst>
              <a:ext uri="{FF2B5EF4-FFF2-40B4-BE49-F238E27FC236}">
                <a16:creationId xmlns:a16="http://schemas.microsoft.com/office/drawing/2014/main" id="{5325396C-5E79-25E0-EA13-0F3026E6E30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54898" y="1843576"/>
            <a:ext cx="348308" cy="348308"/>
          </a:xfrm>
          <a:prstGeom prst="rect">
            <a:avLst/>
          </a:prstGeom>
        </p:spPr>
      </p:pic>
      <p:pic>
        <p:nvPicPr>
          <p:cNvPr id="84" name="Graphique 83" descr="Bébé avec un remplissage uni">
            <a:extLst>
              <a:ext uri="{FF2B5EF4-FFF2-40B4-BE49-F238E27FC236}">
                <a16:creationId xmlns:a16="http://schemas.microsoft.com/office/drawing/2014/main" id="{51DB0C99-F49C-3C64-7BEB-5AD3C87A200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58671" y="1843576"/>
            <a:ext cx="348308" cy="348308"/>
          </a:xfrm>
          <a:prstGeom prst="rect">
            <a:avLst/>
          </a:prstGeom>
        </p:spPr>
      </p:pic>
      <p:pic>
        <p:nvPicPr>
          <p:cNvPr id="85" name="Graphique 84" descr="Bébé avec un remplissage uni">
            <a:extLst>
              <a:ext uri="{FF2B5EF4-FFF2-40B4-BE49-F238E27FC236}">
                <a16:creationId xmlns:a16="http://schemas.microsoft.com/office/drawing/2014/main" id="{274F8FDC-1608-B560-1F10-5DD860A65AE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271609" y="1843576"/>
            <a:ext cx="348308" cy="348308"/>
          </a:xfrm>
          <a:prstGeom prst="rect">
            <a:avLst/>
          </a:prstGeom>
        </p:spPr>
      </p:pic>
      <p:pic>
        <p:nvPicPr>
          <p:cNvPr id="86" name="Graphique 85" descr="Enfant avec ballon avec un remplissage uni">
            <a:extLst>
              <a:ext uri="{FF2B5EF4-FFF2-40B4-BE49-F238E27FC236}">
                <a16:creationId xmlns:a16="http://schemas.microsoft.com/office/drawing/2014/main" id="{D9A452F7-55BE-268F-C5CF-763C26EA0B9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665202" y="1558263"/>
            <a:ext cx="672638" cy="672638"/>
          </a:xfrm>
          <a:prstGeom prst="rect">
            <a:avLst/>
          </a:prstGeom>
        </p:spPr>
      </p:pic>
      <p:pic>
        <p:nvPicPr>
          <p:cNvPr id="87" name="Graphique 86" descr="Enfant avec ballon avec un remplissage uni">
            <a:extLst>
              <a:ext uri="{FF2B5EF4-FFF2-40B4-BE49-F238E27FC236}">
                <a16:creationId xmlns:a16="http://schemas.microsoft.com/office/drawing/2014/main" id="{C4488871-3E83-8960-3678-6F002D5B6B1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68193" y="1554483"/>
            <a:ext cx="672638" cy="672638"/>
          </a:xfrm>
          <a:prstGeom prst="rect">
            <a:avLst/>
          </a:prstGeom>
        </p:spPr>
      </p:pic>
      <p:pic>
        <p:nvPicPr>
          <p:cNvPr id="88" name="Graphique 87" descr="Enfant avec ballon avec un remplissage uni">
            <a:extLst>
              <a:ext uri="{FF2B5EF4-FFF2-40B4-BE49-F238E27FC236}">
                <a16:creationId xmlns:a16="http://schemas.microsoft.com/office/drawing/2014/main" id="{36181B1F-EE3B-0090-CFF1-8BDBB480F38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091623" y="1554483"/>
            <a:ext cx="672638" cy="672638"/>
          </a:xfrm>
          <a:prstGeom prst="rect">
            <a:avLst/>
          </a:prstGeom>
        </p:spPr>
      </p:pic>
      <p:sp>
        <p:nvSpPr>
          <p:cNvPr id="89" name="Titre 1">
            <a:extLst>
              <a:ext uri="{FF2B5EF4-FFF2-40B4-BE49-F238E27FC236}">
                <a16:creationId xmlns:a16="http://schemas.microsoft.com/office/drawing/2014/main" id="{D45E9EDE-01C4-579B-83B5-126EFCEB71BE}"/>
              </a:ext>
            </a:extLst>
          </p:cNvPr>
          <p:cNvSpPr txBox="1">
            <a:spLocks/>
          </p:cNvSpPr>
          <p:nvPr/>
        </p:nvSpPr>
        <p:spPr>
          <a:xfrm>
            <a:off x="542108" y="364488"/>
            <a:ext cx="10515600" cy="738663"/>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3200"/>
              <a:t>Similarités et différences marquées</a:t>
            </a:r>
            <a:br>
              <a:rPr lang="fr-FR" sz="3200"/>
            </a:br>
            <a:r>
              <a:rPr lang="fr-FR" sz="2000"/>
              <a:t>Exemples de situations, d’</a:t>
            </a:r>
            <a:r>
              <a:rPr lang="fr-FR" sz="2000">
                <a:solidFill>
                  <a:srgbClr val="00B050"/>
                </a:solidFill>
              </a:rPr>
              <a:t>avantages</a:t>
            </a:r>
            <a:r>
              <a:rPr lang="fr-FR" sz="2000"/>
              <a:t>, d’</a:t>
            </a:r>
            <a:r>
              <a:rPr lang="fr-FR" sz="2000">
                <a:solidFill>
                  <a:srgbClr val="FF0000"/>
                </a:solidFill>
              </a:rPr>
              <a:t>inconvénients, </a:t>
            </a:r>
            <a:r>
              <a:rPr lang="fr-FR" sz="2000"/>
              <a:t>d’</a:t>
            </a:r>
            <a:r>
              <a:rPr lang="fr-FR" sz="2000">
                <a:solidFill>
                  <a:schemeClr val="bg1">
                    <a:lumMod val="50000"/>
                  </a:schemeClr>
                </a:solidFill>
              </a:rPr>
              <a:t>actions </a:t>
            </a:r>
            <a:r>
              <a:rPr lang="fr-FR" sz="2000"/>
              <a:t>associées</a:t>
            </a:r>
            <a:br>
              <a:rPr lang="fr-FR" sz="2000"/>
            </a:br>
            <a:r>
              <a:rPr lang="fr-FR" sz="1000"/>
              <a:t>📅Evènements  , ✍️Contenus, ⚙️Structuration de Communauté, 📅+⚙️Structuration de moments, ✍️+⚙️ Structuration de Contenus</a:t>
            </a:r>
            <a:endParaRPr lang="fr-FR" sz="1000" dirty="0"/>
          </a:p>
        </p:txBody>
      </p:sp>
      <p:sp>
        <p:nvSpPr>
          <p:cNvPr id="90" name="Rectangle 89">
            <a:extLst>
              <a:ext uri="{FF2B5EF4-FFF2-40B4-BE49-F238E27FC236}">
                <a16:creationId xmlns:a16="http://schemas.microsoft.com/office/drawing/2014/main" id="{9BD8D726-02D7-07C3-2563-F033B3E8BD15}"/>
              </a:ext>
            </a:extLst>
          </p:cNvPr>
          <p:cNvSpPr/>
          <p:nvPr/>
        </p:nvSpPr>
        <p:spPr>
          <a:xfrm>
            <a:off x="1942249" y="775062"/>
            <a:ext cx="1027374" cy="20900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ZoneTexte 44">
            <a:extLst>
              <a:ext uri="{FF2B5EF4-FFF2-40B4-BE49-F238E27FC236}">
                <a16:creationId xmlns:a16="http://schemas.microsoft.com/office/drawing/2014/main" id="{D58026B1-9DDD-0605-EE3F-9B054426DC42}"/>
              </a:ext>
            </a:extLst>
          </p:cNvPr>
          <p:cNvSpPr txBox="1"/>
          <p:nvPr/>
        </p:nvSpPr>
        <p:spPr>
          <a:xfrm>
            <a:off x="3042722" y="3314265"/>
            <a:ext cx="1269137" cy="784830"/>
          </a:xfrm>
          <a:prstGeom prst="rect">
            <a:avLst/>
          </a:prstGeom>
          <a:solidFill>
            <a:schemeClr val="bg1">
              <a:lumMod val="95000"/>
            </a:schemeClr>
          </a:solidFill>
          <a:ln>
            <a:noFill/>
          </a:ln>
        </p:spPr>
        <p:txBody>
          <a:bodyPr wrap="square" anchor="ctr">
            <a:noAutofit/>
          </a:bodyPr>
          <a:lstStyle/>
          <a:p>
            <a:pPr algn="ctr"/>
            <a:r>
              <a:rPr lang="fr-FR" sz="1000" dirty="0"/>
              <a:t>📅✍️Bourse des opportunités de mobilité entre membres</a:t>
            </a:r>
          </a:p>
        </p:txBody>
      </p:sp>
      <p:sp>
        <p:nvSpPr>
          <p:cNvPr id="55" name="ZoneTexte 54">
            <a:extLst>
              <a:ext uri="{FF2B5EF4-FFF2-40B4-BE49-F238E27FC236}">
                <a16:creationId xmlns:a16="http://schemas.microsoft.com/office/drawing/2014/main" id="{5349CC77-6348-CE8F-D165-2D719B689D4D}"/>
              </a:ext>
            </a:extLst>
          </p:cNvPr>
          <p:cNvSpPr txBox="1"/>
          <p:nvPr/>
        </p:nvSpPr>
        <p:spPr>
          <a:xfrm>
            <a:off x="4378310" y="3314265"/>
            <a:ext cx="1269137" cy="784830"/>
          </a:xfrm>
          <a:prstGeom prst="rect">
            <a:avLst/>
          </a:prstGeom>
          <a:solidFill>
            <a:schemeClr val="bg1">
              <a:lumMod val="95000"/>
            </a:schemeClr>
          </a:solidFill>
          <a:ln>
            <a:noFill/>
          </a:ln>
        </p:spPr>
        <p:txBody>
          <a:bodyPr wrap="square" anchor="ctr">
            <a:noAutofit/>
          </a:bodyPr>
          <a:lstStyle/>
          <a:p>
            <a:pPr algn="ctr"/>
            <a:r>
              <a:rPr lang="fr-FR" sz="1000" dirty="0"/>
              <a:t>📅✍️(Pour groupes avancés) Tour complet des retours d’expériences</a:t>
            </a:r>
          </a:p>
        </p:txBody>
      </p:sp>
      <p:sp>
        <p:nvSpPr>
          <p:cNvPr id="60" name="ZoneTexte 59">
            <a:extLst>
              <a:ext uri="{FF2B5EF4-FFF2-40B4-BE49-F238E27FC236}">
                <a16:creationId xmlns:a16="http://schemas.microsoft.com/office/drawing/2014/main" id="{B5405B74-7B8F-CB9E-612B-75AD1D498AB0}"/>
              </a:ext>
            </a:extLst>
          </p:cNvPr>
          <p:cNvSpPr txBox="1"/>
          <p:nvPr/>
        </p:nvSpPr>
        <p:spPr>
          <a:xfrm>
            <a:off x="3042722" y="4180517"/>
            <a:ext cx="1269137" cy="784830"/>
          </a:xfrm>
          <a:prstGeom prst="rect">
            <a:avLst/>
          </a:prstGeom>
          <a:solidFill>
            <a:schemeClr val="bg1">
              <a:lumMod val="95000"/>
            </a:schemeClr>
          </a:solidFill>
          <a:ln>
            <a:noFill/>
          </a:ln>
        </p:spPr>
        <p:txBody>
          <a:bodyPr wrap="square" anchor="ctr">
            <a:noAutofit/>
          </a:bodyPr>
          <a:lstStyle/>
          <a:p>
            <a:pPr algn="ctr"/>
            <a:r>
              <a:rPr lang="fr-FR" sz="1000" dirty="0"/>
              <a:t>✍️Curation et partage de contenus adaptés au niveau de la Communauté</a:t>
            </a:r>
          </a:p>
        </p:txBody>
      </p:sp>
      <p:sp>
        <p:nvSpPr>
          <p:cNvPr id="61" name="ZoneTexte 60">
            <a:extLst>
              <a:ext uri="{FF2B5EF4-FFF2-40B4-BE49-F238E27FC236}">
                <a16:creationId xmlns:a16="http://schemas.microsoft.com/office/drawing/2014/main" id="{A577C4FB-0343-BDEF-062F-A17B28BF97FC}"/>
              </a:ext>
            </a:extLst>
          </p:cNvPr>
          <p:cNvSpPr txBox="1"/>
          <p:nvPr/>
        </p:nvSpPr>
        <p:spPr>
          <a:xfrm>
            <a:off x="4378310" y="4180517"/>
            <a:ext cx="1269137" cy="784830"/>
          </a:xfrm>
          <a:prstGeom prst="rect">
            <a:avLst/>
          </a:prstGeom>
          <a:solidFill>
            <a:schemeClr val="bg1">
              <a:lumMod val="95000"/>
            </a:schemeClr>
          </a:solidFill>
          <a:ln>
            <a:noFill/>
          </a:ln>
        </p:spPr>
        <p:txBody>
          <a:bodyPr wrap="square" anchor="ctr">
            <a:noAutofit/>
          </a:bodyPr>
          <a:lstStyle/>
          <a:p>
            <a:pPr algn="ctr"/>
            <a:r>
              <a:rPr lang="fr-FR" sz="1000" dirty="0"/>
              <a:t>📅Participation à des événements pour même niveau (meetups, conférences…)</a:t>
            </a:r>
          </a:p>
        </p:txBody>
      </p:sp>
      <p:sp>
        <p:nvSpPr>
          <p:cNvPr id="62" name="ZoneTexte 61">
            <a:extLst>
              <a:ext uri="{FF2B5EF4-FFF2-40B4-BE49-F238E27FC236}">
                <a16:creationId xmlns:a16="http://schemas.microsoft.com/office/drawing/2014/main" id="{81E87C01-7AAA-080E-EFCC-A9251A5A0ADF}"/>
              </a:ext>
            </a:extLst>
          </p:cNvPr>
          <p:cNvSpPr txBox="1"/>
          <p:nvPr/>
        </p:nvSpPr>
        <p:spPr>
          <a:xfrm>
            <a:off x="3042722" y="5046769"/>
            <a:ext cx="1269137" cy="784830"/>
          </a:xfrm>
          <a:prstGeom prst="rect">
            <a:avLst/>
          </a:prstGeom>
          <a:solidFill>
            <a:schemeClr val="bg1">
              <a:lumMod val="95000"/>
            </a:schemeClr>
          </a:solidFill>
          <a:ln>
            <a:noFill/>
          </a:ln>
        </p:spPr>
        <p:txBody>
          <a:bodyPr wrap="square" anchor="ctr">
            <a:noAutofit/>
          </a:bodyPr>
          <a:lstStyle/>
          <a:p>
            <a:pPr algn="ctr"/>
            <a:r>
              <a:rPr lang="fr-FR" sz="1000" dirty="0"/>
              <a:t>📅⚙️Système d’épreuve à l’entrée</a:t>
            </a:r>
          </a:p>
        </p:txBody>
      </p:sp>
      <p:sp>
        <p:nvSpPr>
          <p:cNvPr id="79" name="ZoneTexte 78">
            <a:extLst>
              <a:ext uri="{FF2B5EF4-FFF2-40B4-BE49-F238E27FC236}">
                <a16:creationId xmlns:a16="http://schemas.microsoft.com/office/drawing/2014/main" id="{A9E39114-01A3-155D-854A-449937FA3606}"/>
              </a:ext>
            </a:extLst>
          </p:cNvPr>
          <p:cNvSpPr txBox="1"/>
          <p:nvPr/>
        </p:nvSpPr>
        <p:spPr>
          <a:xfrm>
            <a:off x="4378310" y="5046769"/>
            <a:ext cx="1269137" cy="784830"/>
          </a:xfrm>
          <a:prstGeom prst="rect">
            <a:avLst/>
          </a:prstGeom>
          <a:solidFill>
            <a:schemeClr val="bg1">
              <a:lumMod val="95000"/>
            </a:schemeClr>
          </a:solidFill>
          <a:ln>
            <a:noFill/>
          </a:ln>
        </p:spPr>
        <p:txBody>
          <a:bodyPr wrap="square" anchor="ctr">
            <a:noAutofit/>
          </a:bodyPr>
          <a:lstStyle/>
          <a:p>
            <a:pPr algn="ctr"/>
            <a:r>
              <a:rPr lang="fr-FR" sz="1000" dirty="0"/>
              <a:t>✍️Co-écriture de contenu pour niveau d’expérience particulier (ex: X pour débutants, …)</a:t>
            </a:r>
          </a:p>
        </p:txBody>
      </p:sp>
      <p:sp>
        <p:nvSpPr>
          <p:cNvPr id="80" name="ZoneTexte 79">
            <a:extLst>
              <a:ext uri="{FF2B5EF4-FFF2-40B4-BE49-F238E27FC236}">
                <a16:creationId xmlns:a16="http://schemas.microsoft.com/office/drawing/2014/main" id="{157EA12E-7107-A8BF-E86B-8F5E1891AD0A}"/>
              </a:ext>
            </a:extLst>
          </p:cNvPr>
          <p:cNvSpPr txBox="1"/>
          <p:nvPr/>
        </p:nvSpPr>
        <p:spPr>
          <a:xfrm>
            <a:off x="3042722" y="5913021"/>
            <a:ext cx="1269137" cy="784830"/>
          </a:xfrm>
          <a:prstGeom prst="rect">
            <a:avLst/>
          </a:prstGeom>
          <a:solidFill>
            <a:schemeClr val="bg1">
              <a:lumMod val="95000"/>
            </a:schemeClr>
          </a:solidFill>
          <a:ln>
            <a:noFill/>
          </a:ln>
        </p:spPr>
        <p:txBody>
          <a:bodyPr wrap="square" anchor="ctr">
            <a:noAutofit/>
          </a:bodyPr>
          <a:lstStyle/>
          <a:p>
            <a:pPr algn="ctr"/>
            <a:r>
              <a:rPr lang="fr-FR" sz="1000" dirty="0"/>
              <a:t>📅Invitation d’intervenants du niveau « juste au dessus » pour apprendre ensemble</a:t>
            </a:r>
          </a:p>
        </p:txBody>
      </p:sp>
      <p:sp>
        <p:nvSpPr>
          <p:cNvPr id="91" name="ZoneTexte 90">
            <a:extLst>
              <a:ext uri="{FF2B5EF4-FFF2-40B4-BE49-F238E27FC236}">
                <a16:creationId xmlns:a16="http://schemas.microsoft.com/office/drawing/2014/main" id="{D88E12E7-9C71-0A7B-43EC-5B851D8CFCE9}"/>
              </a:ext>
            </a:extLst>
          </p:cNvPr>
          <p:cNvSpPr txBox="1"/>
          <p:nvPr/>
        </p:nvSpPr>
        <p:spPr>
          <a:xfrm>
            <a:off x="4378310" y="5913021"/>
            <a:ext cx="1269137" cy="784830"/>
          </a:xfrm>
          <a:prstGeom prst="rect">
            <a:avLst/>
          </a:prstGeom>
          <a:solidFill>
            <a:schemeClr val="bg1">
              <a:lumMod val="95000"/>
            </a:schemeClr>
          </a:solidFill>
          <a:ln>
            <a:noFill/>
          </a:ln>
        </p:spPr>
        <p:txBody>
          <a:bodyPr wrap="square" anchor="ctr">
            <a:noAutofit/>
          </a:bodyPr>
          <a:lstStyle/>
          <a:p>
            <a:pPr algn="ctr"/>
            <a:r>
              <a:rPr lang="fr-FR" sz="1000" dirty="0"/>
              <a:t>⚙️Recherche collective de parrains ou mentors extérieurs à la Communauté</a:t>
            </a:r>
          </a:p>
        </p:txBody>
      </p:sp>
    </p:spTree>
    <p:extLst>
      <p:ext uri="{BB962C8B-B14F-4D97-AF65-F5344CB8AC3E}">
        <p14:creationId xmlns:p14="http://schemas.microsoft.com/office/powerpoint/2010/main" val="389574653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E6CB078-AC3C-1224-A1E2-CDF770F7124B}"/>
              </a:ext>
            </a:extLst>
          </p:cNvPr>
          <p:cNvSpPr>
            <a:spLocks noGrp="1"/>
          </p:cNvSpPr>
          <p:nvPr>
            <p:ph type="title"/>
          </p:nvPr>
        </p:nvSpPr>
        <p:spPr>
          <a:xfrm>
            <a:off x="838200" y="365126"/>
            <a:ext cx="10515600" cy="1139852"/>
          </a:xfrm>
        </p:spPr>
        <p:txBody>
          <a:bodyPr>
            <a:normAutofit/>
          </a:bodyPr>
          <a:lstStyle/>
          <a:p>
            <a:r>
              <a:rPr lang="fr-FR" sz="2400" dirty="0"/>
              <a:t>Faire le bilan sur les différences et similarités mises à profit dans la Communauté</a:t>
            </a:r>
            <a:br>
              <a:rPr lang="fr-FR" sz="2400" dirty="0"/>
            </a:br>
            <a:r>
              <a:rPr lang="fr-FR" sz="2400" dirty="0"/>
              <a:t>Remplir les critères d’une Communauté selon le statut du critère</a:t>
            </a:r>
            <a:br>
              <a:rPr lang="fr-FR" sz="2400" dirty="0"/>
            </a:br>
            <a:r>
              <a:rPr lang="fr-FR" sz="2400" dirty="0"/>
              <a:t>Identifier un potentiel de valeur entre membres</a:t>
            </a:r>
          </a:p>
        </p:txBody>
      </p:sp>
      <p:grpSp>
        <p:nvGrpSpPr>
          <p:cNvPr id="4" name="Groupe 3">
            <a:extLst>
              <a:ext uri="{FF2B5EF4-FFF2-40B4-BE49-F238E27FC236}">
                <a16:creationId xmlns:a16="http://schemas.microsoft.com/office/drawing/2014/main" id="{FD531E24-15A8-D0EF-C8E7-E67B91E469CE}"/>
              </a:ext>
            </a:extLst>
          </p:cNvPr>
          <p:cNvGrpSpPr/>
          <p:nvPr/>
        </p:nvGrpSpPr>
        <p:grpSpPr>
          <a:xfrm>
            <a:off x="5794360" y="1693791"/>
            <a:ext cx="6207139" cy="1285419"/>
            <a:chOff x="2201357" y="2081052"/>
            <a:chExt cx="9990643" cy="2068935"/>
          </a:xfrm>
        </p:grpSpPr>
        <p:sp>
          <p:nvSpPr>
            <p:cNvPr id="5" name="Flèche : double flèche horizontale 4">
              <a:extLst>
                <a:ext uri="{FF2B5EF4-FFF2-40B4-BE49-F238E27FC236}">
                  <a16:creationId xmlns:a16="http://schemas.microsoft.com/office/drawing/2014/main" id="{D22A07AE-03C8-18C2-CB43-F23A89424136}"/>
                </a:ext>
              </a:extLst>
            </p:cNvPr>
            <p:cNvSpPr/>
            <p:nvPr/>
          </p:nvSpPr>
          <p:spPr>
            <a:xfrm>
              <a:off x="2414511" y="3716995"/>
              <a:ext cx="9777489" cy="432992"/>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Sur une même caractéristique donnée</a:t>
              </a:r>
            </a:p>
          </p:txBody>
        </p:sp>
        <p:grpSp>
          <p:nvGrpSpPr>
            <p:cNvPr id="6" name="Groupe 5">
              <a:extLst>
                <a:ext uri="{FF2B5EF4-FFF2-40B4-BE49-F238E27FC236}">
                  <a16:creationId xmlns:a16="http://schemas.microsoft.com/office/drawing/2014/main" id="{CA1E334B-3364-C417-E15F-C3FEB7980DD7}"/>
                </a:ext>
              </a:extLst>
            </p:cNvPr>
            <p:cNvGrpSpPr/>
            <p:nvPr/>
          </p:nvGrpSpPr>
          <p:grpSpPr>
            <a:xfrm>
              <a:off x="2201357" y="2994046"/>
              <a:ext cx="2781592" cy="835533"/>
              <a:chOff x="3314408" y="2957049"/>
              <a:chExt cx="2781592" cy="835533"/>
            </a:xfrm>
          </p:grpSpPr>
          <p:grpSp>
            <p:nvGrpSpPr>
              <p:cNvPr id="24" name="Groupe 23">
                <a:extLst>
                  <a:ext uri="{FF2B5EF4-FFF2-40B4-BE49-F238E27FC236}">
                    <a16:creationId xmlns:a16="http://schemas.microsoft.com/office/drawing/2014/main" id="{1C866111-1CB9-3854-B1D9-1E0653F37C8D}"/>
                  </a:ext>
                </a:extLst>
              </p:cNvPr>
              <p:cNvGrpSpPr/>
              <p:nvPr/>
            </p:nvGrpSpPr>
            <p:grpSpPr>
              <a:xfrm>
                <a:off x="3314408" y="2957049"/>
                <a:ext cx="2781592" cy="835533"/>
                <a:chOff x="3749837" y="3012255"/>
                <a:chExt cx="2346163" cy="704739"/>
              </a:xfrm>
            </p:grpSpPr>
            <p:pic>
              <p:nvPicPr>
                <p:cNvPr id="27" name="Graphique 26" descr="Utilisateur avec un remplissage uni">
                  <a:extLst>
                    <a:ext uri="{FF2B5EF4-FFF2-40B4-BE49-F238E27FC236}">
                      <a16:creationId xmlns:a16="http://schemas.microsoft.com/office/drawing/2014/main" id="{6A1774CA-7742-9992-B061-433C338170E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49837" y="3012257"/>
                  <a:ext cx="704737" cy="704737"/>
                </a:xfrm>
                <a:prstGeom prst="rect">
                  <a:avLst/>
                </a:prstGeom>
              </p:spPr>
            </p:pic>
            <p:pic>
              <p:nvPicPr>
                <p:cNvPr id="28" name="Graphique 27" descr="Utilisateur avec un remplissage uni">
                  <a:extLst>
                    <a:ext uri="{FF2B5EF4-FFF2-40B4-BE49-F238E27FC236}">
                      <a16:creationId xmlns:a16="http://schemas.microsoft.com/office/drawing/2014/main" id="{10BEF400-47C7-D6E8-AC97-3F1BC40BE37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570550" y="3012256"/>
                  <a:ext cx="704737" cy="704737"/>
                </a:xfrm>
                <a:prstGeom prst="rect">
                  <a:avLst/>
                </a:prstGeom>
              </p:spPr>
            </p:pic>
            <p:pic>
              <p:nvPicPr>
                <p:cNvPr id="29" name="Graphique 28" descr="Utilisateur avec un remplissage uni">
                  <a:extLst>
                    <a:ext uri="{FF2B5EF4-FFF2-40B4-BE49-F238E27FC236}">
                      <a16:creationId xmlns:a16="http://schemas.microsoft.com/office/drawing/2014/main" id="{96BD2A2E-8A9E-7CA4-2C07-889128072BB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391263" y="3012255"/>
                  <a:ext cx="704737" cy="704737"/>
                </a:xfrm>
                <a:prstGeom prst="rect">
                  <a:avLst/>
                </a:prstGeom>
              </p:spPr>
            </p:pic>
          </p:grpSp>
          <p:sp>
            <p:nvSpPr>
              <p:cNvPr id="25" name="Est égal à 24">
                <a:extLst>
                  <a:ext uri="{FF2B5EF4-FFF2-40B4-BE49-F238E27FC236}">
                    <a16:creationId xmlns:a16="http://schemas.microsoft.com/office/drawing/2014/main" id="{52AF9370-131B-2B69-BCD8-3680A851C94C}"/>
                  </a:ext>
                </a:extLst>
              </p:cNvPr>
              <p:cNvSpPr/>
              <p:nvPr/>
            </p:nvSpPr>
            <p:spPr>
              <a:xfrm>
                <a:off x="3981020" y="3260276"/>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solidFill>
                    <a:schemeClr val="tx1"/>
                  </a:solidFill>
                </a:endParaRPr>
              </a:p>
            </p:txBody>
          </p:sp>
          <p:sp>
            <p:nvSpPr>
              <p:cNvPr id="26" name="Est égal à 25">
                <a:extLst>
                  <a:ext uri="{FF2B5EF4-FFF2-40B4-BE49-F238E27FC236}">
                    <a16:creationId xmlns:a16="http://schemas.microsoft.com/office/drawing/2014/main" id="{DFF6BC28-C7C0-DF02-2B10-DE344DC52713}"/>
                  </a:ext>
                </a:extLst>
              </p:cNvPr>
              <p:cNvSpPr/>
              <p:nvPr/>
            </p:nvSpPr>
            <p:spPr>
              <a:xfrm>
                <a:off x="4955907" y="3260275"/>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solidFill>
                    <a:schemeClr val="tx1"/>
                  </a:solidFill>
                </a:endParaRPr>
              </a:p>
            </p:txBody>
          </p:sp>
        </p:grpSp>
        <p:grpSp>
          <p:nvGrpSpPr>
            <p:cNvPr id="7" name="Groupe 6">
              <a:extLst>
                <a:ext uri="{FF2B5EF4-FFF2-40B4-BE49-F238E27FC236}">
                  <a16:creationId xmlns:a16="http://schemas.microsoft.com/office/drawing/2014/main" id="{960EA45F-C9BB-A48E-15E4-15CD155FC2A6}"/>
                </a:ext>
              </a:extLst>
            </p:cNvPr>
            <p:cNvGrpSpPr/>
            <p:nvPr/>
          </p:nvGrpSpPr>
          <p:grpSpPr>
            <a:xfrm>
              <a:off x="5929056" y="3011232"/>
              <a:ext cx="2781592" cy="835533"/>
              <a:chOff x="6515538" y="4457086"/>
              <a:chExt cx="2781592" cy="835533"/>
            </a:xfrm>
          </p:grpSpPr>
          <p:grpSp>
            <p:nvGrpSpPr>
              <p:cNvPr id="18" name="Groupe 17">
                <a:extLst>
                  <a:ext uri="{FF2B5EF4-FFF2-40B4-BE49-F238E27FC236}">
                    <a16:creationId xmlns:a16="http://schemas.microsoft.com/office/drawing/2014/main" id="{D0138722-961F-3935-E3E0-8EC8F6FFE3B8}"/>
                  </a:ext>
                </a:extLst>
              </p:cNvPr>
              <p:cNvGrpSpPr/>
              <p:nvPr/>
            </p:nvGrpSpPr>
            <p:grpSpPr>
              <a:xfrm>
                <a:off x="6515538" y="4457086"/>
                <a:ext cx="2781592" cy="835533"/>
                <a:chOff x="3749837" y="3012255"/>
                <a:chExt cx="2346163" cy="704739"/>
              </a:xfrm>
            </p:grpSpPr>
            <p:pic>
              <p:nvPicPr>
                <p:cNvPr id="21" name="Graphique 20" descr="Utilisateur avec un remplissage uni">
                  <a:extLst>
                    <a:ext uri="{FF2B5EF4-FFF2-40B4-BE49-F238E27FC236}">
                      <a16:creationId xmlns:a16="http://schemas.microsoft.com/office/drawing/2014/main" id="{D33394C5-B498-30C9-F492-BD5766DC1AD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49837" y="3012257"/>
                  <a:ext cx="704737" cy="704737"/>
                </a:xfrm>
                <a:prstGeom prst="rect">
                  <a:avLst/>
                </a:prstGeom>
              </p:spPr>
            </p:pic>
            <p:pic>
              <p:nvPicPr>
                <p:cNvPr id="22" name="Graphique 21" descr="Utilisateur avec un remplissage uni">
                  <a:extLst>
                    <a:ext uri="{FF2B5EF4-FFF2-40B4-BE49-F238E27FC236}">
                      <a16:creationId xmlns:a16="http://schemas.microsoft.com/office/drawing/2014/main" id="{B207024C-A1CD-945F-90AF-251068B136C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570550" y="3012256"/>
                  <a:ext cx="704737" cy="704737"/>
                </a:xfrm>
                <a:prstGeom prst="rect">
                  <a:avLst/>
                </a:prstGeom>
              </p:spPr>
            </p:pic>
            <p:pic>
              <p:nvPicPr>
                <p:cNvPr id="23" name="Graphique 22" descr="Utilisateur avec un remplissage uni">
                  <a:extLst>
                    <a:ext uri="{FF2B5EF4-FFF2-40B4-BE49-F238E27FC236}">
                      <a16:creationId xmlns:a16="http://schemas.microsoft.com/office/drawing/2014/main" id="{E8074C6C-7DF5-1FEA-36AB-2A3B35719D1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391263" y="3012255"/>
                  <a:ext cx="704737" cy="704737"/>
                </a:xfrm>
                <a:prstGeom prst="rect">
                  <a:avLst/>
                </a:prstGeom>
              </p:spPr>
            </p:pic>
          </p:grpSp>
          <p:sp>
            <p:nvSpPr>
              <p:cNvPr id="19" name="Est égal à 18">
                <a:extLst>
                  <a:ext uri="{FF2B5EF4-FFF2-40B4-BE49-F238E27FC236}">
                    <a16:creationId xmlns:a16="http://schemas.microsoft.com/office/drawing/2014/main" id="{7DD797CD-987B-9BCE-86C7-3B7294D6F728}"/>
                  </a:ext>
                </a:extLst>
              </p:cNvPr>
              <p:cNvSpPr/>
              <p:nvPr/>
            </p:nvSpPr>
            <p:spPr>
              <a:xfrm>
                <a:off x="7163530" y="4793936"/>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solidFill>
                    <a:schemeClr val="tx1"/>
                  </a:solidFill>
                </a:endParaRPr>
              </a:p>
            </p:txBody>
          </p:sp>
          <p:sp>
            <p:nvSpPr>
              <p:cNvPr id="20" name="Non égal 19">
                <a:extLst>
                  <a:ext uri="{FF2B5EF4-FFF2-40B4-BE49-F238E27FC236}">
                    <a16:creationId xmlns:a16="http://schemas.microsoft.com/office/drawing/2014/main" id="{492C63B1-55D4-EDE1-ACA4-D3D9A0FAEDB7}"/>
                  </a:ext>
                </a:extLst>
              </p:cNvPr>
              <p:cNvSpPr/>
              <p:nvPr/>
            </p:nvSpPr>
            <p:spPr>
              <a:xfrm>
                <a:off x="8154413" y="4793935"/>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solidFill>
                    <a:schemeClr val="tx1"/>
                  </a:solidFill>
                </a:endParaRPr>
              </a:p>
            </p:txBody>
          </p:sp>
        </p:grpSp>
        <p:grpSp>
          <p:nvGrpSpPr>
            <p:cNvPr id="8" name="Groupe 7">
              <a:extLst>
                <a:ext uri="{FF2B5EF4-FFF2-40B4-BE49-F238E27FC236}">
                  <a16:creationId xmlns:a16="http://schemas.microsoft.com/office/drawing/2014/main" id="{A3531CD3-90AF-E3D0-5DF6-02F2CEF581D4}"/>
                </a:ext>
              </a:extLst>
            </p:cNvPr>
            <p:cNvGrpSpPr/>
            <p:nvPr/>
          </p:nvGrpSpPr>
          <p:grpSpPr>
            <a:xfrm>
              <a:off x="9656756" y="2994046"/>
              <a:ext cx="2535244" cy="761535"/>
              <a:chOff x="9656756" y="2994046"/>
              <a:chExt cx="2535244" cy="761535"/>
            </a:xfrm>
          </p:grpSpPr>
          <p:grpSp>
            <p:nvGrpSpPr>
              <p:cNvPr id="12" name="Groupe 11">
                <a:extLst>
                  <a:ext uri="{FF2B5EF4-FFF2-40B4-BE49-F238E27FC236}">
                    <a16:creationId xmlns:a16="http://schemas.microsoft.com/office/drawing/2014/main" id="{C9C880D5-6416-D6E6-55D7-9EBB1A4FF551}"/>
                  </a:ext>
                </a:extLst>
              </p:cNvPr>
              <p:cNvGrpSpPr/>
              <p:nvPr/>
            </p:nvGrpSpPr>
            <p:grpSpPr>
              <a:xfrm>
                <a:off x="9656756" y="2994046"/>
                <a:ext cx="2535244" cy="761535"/>
                <a:chOff x="3749837" y="3012255"/>
                <a:chExt cx="2346163" cy="704739"/>
              </a:xfrm>
            </p:grpSpPr>
            <p:pic>
              <p:nvPicPr>
                <p:cNvPr id="15" name="Graphique 14" descr="Utilisateur avec un remplissage uni">
                  <a:extLst>
                    <a:ext uri="{FF2B5EF4-FFF2-40B4-BE49-F238E27FC236}">
                      <a16:creationId xmlns:a16="http://schemas.microsoft.com/office/drawing/2014/main" id="{292681EA-0AB4-F99D-6CB4-04207FEA078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49837" y="3012257"/>
                  <a:ext cx="704737" cy="704737"/>
                </a:xfrm>
                <a:prstGeom prst="rect">
                  <a:avLst/>
                </a:prstGeom>
              </p:spPr>
            </p:pic>
            <p:pic>
              <p:nvPicPr>
                <p:cNvPr id="16" name="Graphique 15" descr="Utilisateur avec un remplissage uni">
                  <a:extLst>
                    <a:ext uri="{FF2B5EF4-FFF2-40B4-BE49-F238E27FC236}">
                      <a16:creationId xmlns:a16="http://schemas.microsoft.com/office/drawing/2014/main" id="{29F1C1E5-F369-C21C-B77D-EC910F87424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570550" y="3012256"/>
                  <a:ext cx="704737" cy="704737"/>
                </a:xfrm>
                <a:prstGeom prst="rect">
                  <a:avLst/>
                </a:prstGeom>
              </p:spPr>
            </p:pic>
            <p:pic>
              <p:nvPicPr>
                <p:cNvPr id="17" name="Graphique 16" descr="Utilisateur avec un remplissage uni">
                  <a:extLst>
                    <a:ext uri="{FF2B5EF4-FFF2-40B4-BE49-F238E27FC236}">
                      <a16:creationId xmlns:a16="http://schemas.microsoft.com/office/drawing/2014/main" id="{01F4E908-24DF-80A8-CC72-1E9CB4576EB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391263" y="3012255"/>
                  <a:ext cx="704737" cy="704737"/>
                </a:xfrm>
                <a:prstGeom prst="rect">
                  <a:avLst/>
                </a:prstGeom>
              </p:spPr>
            </p:pic>
          </p:grpSp>
          <p:sp>
            <p:nvSpPr>
              <p:cNvPr id="13" name="Non égal 12">
                <a:extLst>
                  <a:ext uri="{FF2B5EF4-FFF2-40B4-BE49-F238E27FC236}">
                    <a16:creationId xmlns:a16="http://schemas.microsoft.com/office/drawing/2014/main" id="{832D3DBF-83A3-ECA2-B95D-72BA34A9FD8E}"/>
                  </a:ext>
                </a:extLst>
              </p:cNvPr>
              <p:cNvSpPr/>
              <p:nvPr/>
            </p:nvSpPr>
            <p:spPr>
              <a:xfrm>
                <a:off x="10242513" y="3271894"/>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solidFill>
                    <a:schemeClr val="tx1"/>
                  </a:solidFill>
                </a:endParaRPr>
              </a:p>
            </p:txBody>
          </p:sp>
          <p:sp>
            <p:nvSpPr>
              <p:cNvPr id="14" name="Non égal 13">
                <a:extLst>
                  <a:ext uri="{FF2B5EF4-FFF2-40B4-BE49-F238E27FC236}">
                    <a16:creationId xmlns:a16="http://schemas.microsoft.com/office/drawing/2014/main" id="{42F8B8F4-336A-6530-A7E9-FFDDC09655F3}"/>
                  </a:ext>
                </a:extLst>
              </p:cNvPr>
              <p:cNvSpPr/>
              <p:nvPr/>
            </p:nvSpPr>
            <p:spPr>
              <a:xfrm>
                <a:off x="11129369" y="3260275"/>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solidFill>
                    <a:schemeClr val="tx1"/>
                  </a:solidFill>
                </a:endParaRPr>
              </a:p>
            </p:txBody>
          </p:sp>
        </p:grpSp>
        <p:sp>
          <p:nvSpPr>
            <p:cNvPr id="9" name="ZoneTexte 8">
              <a:extLst>
                <a:ext uri="{FF2B5EF4-FFF2-40B4-BE49-F238E27FC236}">
                  <a16:creationId xmlns:a16="http://schemas.microsoft.com/office/drawing/2014/main" id="{B6210734-D87B-A51A-7E61-E5639A9D59B1}"/>
                </a:ext>
              </a:extLst>
            </p:cNvPr>
            <p:cNvSpPr txBox="1"/>
            <p:nvPr/>
          </p:nvSpPr>
          <p:spPr>
            <a:xfrm>
              <a:off x="2664691" y="2427488"/>
              <a:ext cx="1854925" cy="743069"/>
            </a:xfrm>
            <a:prstGeom prst="rect">
              <a:avLst/>
            </a:prstGeom>
            <a:noFill/>
          </p:spPr>
          <p:txBody>
            <a:bodyPr wrap="square" anchor="ctr">
              <a:spAutoFit/>
            </a:bodyPr>
            <a:lstStyle/>
            <a:p>
              <a:pPr algn="ctr"/>
              <a:r>
                <a:rPr lang="fr-FR" sz="1200" dirty="0"/>
                <a:t>Similarités fortes</a:t>
              </a:r>
            </a:p>
          </p:txBody>
        </p:sp>
        <p:sp>
          <p:nvSpPr>
            <p:cNvPr id="10" name="ZoneTexte 9">
              <a:extLst>
                <a:ext uri="{FF2B5EF4-FFF2-40B4-BE49-F238E27FC236}">
                  <a16:creationId xmlns:a16="http://schemas.microsoft.com/office/drawing/2014/main" id="{5AE8B0D8-B836-59C6-342B-5900DCC49B19}"/>
                </a:ext>
              </a:extLst>
            </p:cNvPr>
            <p:cNvSpPr txBox="1"/>
            <p:nvPr/>
          </p:nvSpPr>
          <p:spPr>
            <a:xfrm>
              <a:off x="6257554" y="2081052"/>
              <a:ext cx="2124594" cy="1040296"/>
            </a:xfrm>
            <a:prstGeom prst="rect">
              <a:avLst/>
            </a:prstGeom>
            <a:noFill/>
          </p:spPr>
          <p:txBody>
            <a:bodyPr wrap="square" anchor="ctr">
              <a:spAutoFit/>
            </a:bodyPr>
            <a:lstStyle/>
            <a:p>
              <a:pPr algn="ctr"/>
              <a:r>
                <a:rPr lang="fr-FR" sz="1200" dirty="0"/>
                <a:t>Ni similarités fortes, ni différences fortes</a:t>
              </a:r>
            </a:p>
          </p:txBody>
        </p:sp>
        <p:sp>
          <p:nvSpPr>
            <p:cNvPr id="11" name="ZoneTexte 10">
              <a:extLst>
                <a:ext uri="{FF2B5EF4-FFF2-40B4-BE49-F238E27FC236}">
                  <a16:creationId xmlns:a16="http://schemas.microsoft.com/office/drawing/2014/main" id="{81848903-190F-D8B0-343D-1EFD89CEEF55}"/>
                </a:ext>
              </a:extLst>
            </p:cNvPr>
            <p:cNvSpPr txBox="1"/>
            <p:nvPr/>
          </p:nvSpPr>
          <p:spPr>
            <a:xfrm>
              <a:off x="10123576" y="2434272"/>
              <a:ext cx="1854925" cy="743069"/>
            </a:xfrm>
            <a:prstGeom prst="rect">
              <a:avLst/>
            </a:prstGeom>
            <a:noFill/>
          </p:spPr>
          <p:txBody>
            <a:bodyPr wrap="square" anchor="ctr">
              <a:spAutoFit/>
            </a:bodyPr>
            <a:lstStyle/>
            <a:p>
              <a:pPr algn="ctr"/>
              <a:r>
                <a:rPr lang="fr-FR" sz="1200"/>
                <a:t>Différences fortes</a:t>
              </a:r>
            </a:p>
          </p:txBody>
        </p:sp>
      </p:grpSp>
      <p:grpSp>
        <p:nvGrpSpPr>
          <p:cNvPr id="131" name="Groupe 130">
            <a:extLst>
              <a:ext uri="{FF2B5EF4-FFF2-40B4-BE49-F238E27FC236}">
                <a16:creationId xmlns:a16="http://schemas.microsoft.com/office/drawing/2014/main" id="{17247AFD-838D-FFDB-D0D5-80D5758C1AF3}"/>
              </a:ext>
            </a:extLst>
          </p:cNvPr>
          <p:cNvGrpSpPr/>
          <p:nvPr/>
        </p:nvGrpSpPr>
        <p:grpSpPr>
          <a:xfrm>
            <a:off x="4371277" y="3127318"/>
            <a:ext cx="1573827" cy="3599562"/>
            <a:chOff x="3512967" y="3103464"/>
            <a:chExt cx="1743952" cy="3262683"/>
          </a:xfrm>
        </p:grpSpPr>
        <p:sp>
          <p:nvSpPr>
            <p:cNvPr id="30" name="ZoneTexte 29">
              <a:extLst>
                <a:ext uri="{FF2B5EF4-FFF2-40B4-BE49-F238E27FC236}">
                  <a16:creationId xmlns:a16="http://schemas.microsoft.com/office/drawing/2014/main" id="{E51279A9-7B8C-A3F3-5BF2-27292BAE9608}"/>
                </a:ext>
              </a:extLst>
            </p:cNvPr>
            <p:cNvSpPr txBox="1"/>
            <p:nvPr/>
          </p:nvSpPr>
          <p:spPr>
            <a:xfrm>
              <a:off x="3512967" y="3308309"/>
              <a:ext cx="1610420" cy="418458"/>
            </a:xfrm>
            <a:prstGeom prst="rect">
              <a:avLst/>
            </a:prstGeom>
            <a:noFill/>
          </p:spPr>
          <p:txBody>
            <a:bodyPr wrap="square" anchor="ctr">
              <a:spAutoFit/>
            </a:bodyPr>
            <a:lstStyle/>
            <a:p>
              <a:pPr algn="ctr"/>
              <a:r>
                <a:rPr lang="fr-FR" sz="1200" dirty="0"/>
                <a:t>Mis à profit, Exploité</a:t>
              </a:r>
            </a:p>
          </p:txBody>
        </p:sp>
        <p:sp>
          <p:nvSpPr>
            <p:cNvPr id="31" name="ZoneTexte 30">
              <a:extLst>
                <a:ext uri="{FF2B5EF4-FFF2-40B4-BE49-F238E27FC236}">
                  <a16:creationId xmlns:a16="http://schemas.microsoft.com/office/drawing/2014/main" id="{C77AF570-1996-58D0-680F-5F80A8BE1604}"/>
                </a:ext>
              </a:extLst>
            </p:cNvPr>
            <p:cNvSpPr txBox="1"/>
            <p:nvPr/>
          </p:nvSpPr>
          <p:spPr>
            <a:xfrm>
              <a:off x="3512967" y="3905398"/>
              <a:ext cx="1610420" cy="418458"/>
            </a:xfrm>
            <a:prstGeom prst="rect">
              <a:avLst/>
            </a:prstGeom>
            <a:noFill/>
          </p:spPr>
          <p:txBody>
            <a:bodyPr wrap="square" anchor="ctr">
              <a:spAutoFit/>
            </a:bodyPr>
            <a:lstStyle/>
            <a:p>
              <a:pPr algn="ctr"/>
              <a:r>
                <a:rPr lang="fr-FR" sz="1200" dirty="0"/>
                <a:t>Exploitable sous-exploité</a:t>
              </a:r>
            </a:p>
          </p:txBody>
        </p:sp>
        <p:sp>
          <p:nvSpPr>
            <p:cNvPr id="32" name="ZoneTexte 31">
              <a:extLst>
                <a:ext uri="{FF2B5EF4-FFF2-40B4-BE49-F238E27FC236}">
                  <a16:creationId xmlns:a16="http://schemas.microsoft.com/office/drawing/2014/main" id="{90957747-89D7-6F09-40D6-BA262D3D51F8}"/>
                </a:ext>
              </a:extLst>
            </p:cNvPr>
            <p:cNvSpPr txBox="1"/>
            <p:nvPr/>
          </p:nvSpPr>
          <p:spPr>
            <a:xfrm>
              <a:off x="3512968" y="4525577"/>
              <a:ext cx="1610420" cy="418458"/>
            </a:xfrm>
            <a:prstGeom prst="rect">
              <a:avLst/>
            </a:prstGeom>
            <a:noFill/>
          </p:spPr>
          <p:txBody>
            <a:bodyPr wrap="square" anchor="ctr">
              <a:spAutoFit/>
            </a:bodyPr>
            <a:lstStyle/>
            <a:p>
              <a:pPr algn="ctr"/>
              <a:r>
                <a:rPr lang="fr-FR" sz="1200" dirty="0"/>
                <a:t>Exploitable pas exploité</a:t>
              </a:r>
            </a:p>
          </p:txBody>
        </p:sp>
        <p:sp>
          <p:nvSpPr>
            <p:cNvPr id="33" name="ZoneTexte 32">
              <a:extLst>
                <a:ext uri="{FF2B5EF4-FFF2-40B4-BE49-F238E27FC236}">
                  <a16:creationId xmlns:a16="http://schemas.microsoft.com/office/drawing/2014/main" id="{68711847-4E0C-8794-8EF8-4D8C71799745}"/>
                </a:ext>
              </a:extLst>
            </p:cNvPr>
            <p:cNvSpPr txBox="1"/>
            <p:nvPr/>
          </p:nvSpPr>
          <p:spPr>
            <a:xfrm>
              <a:off x="3512968" y="5091633"/>
              <a:ext cx="1610420" cy="418458"/>
            </a:xfrm>
            <a:prstGeom prst="rect">
              <a:avLst/>
            </a:prstGeom>
            <a:noFill/>
          </p:spPr>
          <p:txBody>
            <a:bodyPr wrap="square" anchor="ctr">
              <a:spAutoFit/>
            </a:bodyPr>
            <a:lstStyle/>
            <a:p>
              <a:pPr algn="ctr"/>
              <a:r>
                <a:rPr lang="fr-FR" sz="1200" dirty="0"/>
                <a:t>Connu pas exploitable</a:t>
              </a:r>
            </a:p>
          </p:txBody>
        </p:sp>
        <p:sp>
          <p:nvSpPr>
            <p:cNvPr id="34" name="ZoneTexte 33">
              <a:extLst>
                <a:ext uri="{FF2B5EF4-FFF2-40B4-BE49-F238E27FC236}">
                  <a16:creationId xmlns:a16="http://schemas.microsoft.com/office/drawing/2014/main" id="{DD348C66-D3E7-2088-7389-91474E7AF58E}"/>
                </a:ext>
              </a:extLst>
            </p:cNvPr>
            <p:cNvSpPr txBox="1"/>
            <p:nvPr/>
          </p:nvSpPr>
          <p:spPr>
            <a:xfrm>
              <a:off x="3512967" y="5750227"/>
              <a:ext cx="1610420" cy="585842"/>
            </a:xfrm>
            <a:prstGeom prst="rect">
              <a:avLst/>
            </a:prstGeom>
            <a:noFill/>
          </p:spPr>
          <p:txBody>
            <a:bodyPr wrap="square" anchor="ctr">
              <a:spAutoFit/>
            </a:bodyPr>
            <a:lstStyle/>
            <a:p>
              <a:pPr algn="ctr"/>
              <a:r>
                <a:rPr lang="fr-FR" sz="1200" dirty="0"/>
                <a:t>Niveau de similarité ou de différence inconnu</a:t>
              </a:r>
            </a:p>
          </p:txBody>
        </p:sp>
        <p:sp>
          <p:nvSpPr>
            <p:cNvPr id="35" name="Flèche : haut 34">
              <a:extLst>
                <a:ext uri="{FF2B5EF4-FFF2-40B4-BE49-F238E27FC236}">
                  <a16:creationId xmlns:a16="http://schemas.microsoft.com/office/drawing/2014/main" id="{47996E04-5407-375A-BF56-7474F6578292}"/>
                </a:ext>
              </a:extLst>
            </p:cNvPr>
            <p:cNvSpPr/>
            <p:nvPr/>
          </p:nvSpPr>
          <p:spPr>
            <a:xfrm>
              <a:off x="4989856" y="3103464"/>
              <a:ext cx="267063" cy="3262683"/>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grpSp>
      <p:grpSp>
        <p:nvGrpSpPr>
          <p:cNvPr id="36" name="Groupe 35">
            <a:extLst>
              <a:ext uri="{FF2B5EF4-FFF2-40B4-BE49-F238E27FC236}">
                <a16:creationId xmlns:a16="http://schemas.microsoft.com/office/drawing/2014/main" id="{47D8E9D5-798D-0A8E-0419-691DA4CFB5CC}"/>
              </a:ext>
            </a:extLst>
          </p:cNvPr>
          <p:cNvGrpSpPr/>
          <p:nvPr/>
        </p:nvGrpSpPr>
        <p:grpSpPr>
          <a:xfrm>
            <a:off x="55960" y="4751414"/>
            <a:ext cx="1130844" cy="622542"/>
            <a:chOff x="4854717" y="4676187"/>
            <a:chExt cx="2020389" cy="1112245"/>
          </a:xfrm>
        </p:grpSpPr>
        <p:sp>
          <p:nvSpPr>
            <p:cNvPr id="37" name="ZoneTexte 36">
              <a:extLst>
                <a:ext uri="{FF2B5EF4-FFF2-40B4-BE49-F238E27FC236}">
                  <a16:creationId xmlns:a16="http://schemas.microsoft.com/office/drawing/2014/main" id="{CE64C66A-5C03-B8A6-BF29-2A61E2C98C1A}"/>
                </a:ext>
              </a:extLst>
            </p:cNvPr>
            <p:cNvSpPr txBox="1"/>
            <p:nvPr/>
          </p:nvSpPr>
          <p:spPr>
            <a:xfrm>
              <a:off x="4854717" y="5183565"/>
              <a:ext cx="2020389" cy="604867"/>
            </a:xfrm>
            <a:prstGeom prst="rect">
              <a:avLst/>
            </a:prstGeom>
            <a:solidFill>
              <a:srgbClr val="ED7D31"/>
            </a:solidFill>
          </p:spPr>
          <p:txBody>
            <a:bodyPr wrap="square" anchor="t">
              <a:spAutoFit/>
            </a:bodyPr>
            <a:lstStyle/>
            <a:p>
              <a:pPr algn="ctr"/>
              <a:r>
                <a:rPr lang="fr-FR" sz="800" dirty="0"/>
                <a:t>Personnalités et approches</a:t>
              </a:r>
            </a:p>
          </p:txBody>
        </p:sp>
        <p:pic>
          <p:nvPicPr>
            <p:cNvPr id="38" name="Graphique 37" descr="Visage de diable avec remplissage solide avec un remplissage uni">
              <a:extLst>
                <a:ext uri="{FF2B5EF4-FFF2-40B4-BE49-F238E27FC236}">
                  <a16:creationId xmlns:a16="http://schemas.microsoft.com/office/drawing/2014/main" id="{5BBC287B-F6FF-82A9-6A1D-B0649A349C6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935995" y="4676187"/>
              <a:ext cx="457200" cy="457200"/>
            </a:xfrm>
            <a:prstGeom prst="rect">
              <a:avLst/>
            </a:prstGeom>
          </p:spPr>
        </p:pic>
        <p:pic>
          <p:nvPicPr>
            <p:cNvPr id="39" name="Graphique 38" descr="Visage sans expression avec remplissage uni avec un remplissage uni">
              <a:extLst>
                <a:ext uri="{FF2B5EF4-FFF2-40B4-BE49-F238E27FC236}">
                  <a16:creationId xmlns:a16="http://schemas.microsoft.com/office/drawing/2014/main" id="{DC606349-FD4E-E556-3474-1389C5FA50A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363777" y="4676187"/>
              <a:ext cx="457200" cy="457200"/>
            </a:xfrm>
            <a:prstGeom prst="rect">
              <a:avLst/>
            </a:prstGeom>
          </p:spPr>
        </p:pic>
        <p:pic>
          <p:nvPicPr>
            <p:cNvPr id="40" name="Graphique 39" descr="Visage d’ange avec remplissage uni avec un remplissage uni">
              <a:extLst>
                <a:ext uri="{FF2B5EF4-FFF2-40B4-BE49-F238E27FC236}">
                  <a16:creationId xmlns:a16="http://schemas.microsoft.com/office/drawing/2014/main" id="{7E971252-DFBE-5B24-3265-310C3D83EC0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816624" y="4676187"/>
              <a:ext cx="457200" cy="457200"/>
            </a:xfrm>
            <a:prstGeom prst="rect">
              <a:avLst/>
            </a:prstGeom>
          </p:spPr>
        </p:pic>
        <p:pic>
          <p:nvPicPr>
            <p:cNvPr id="41" name="Graphique 40" descr="Visage touché par une étoile avec remplissage uni avec un remplissage uni">
              <a:extLst>
                <a:ext uri="{FF2B5EF4-FFF2-40B4-BE49-F238E27FC236}">
                  <a16:creationId xmlns:a16="http://schemas.microsoft.com/office/drawing/2014/main" id="{103801B6-C0B1-B208-3787-78D5D78EA88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273825" y="4676187"/>
              <a:ext cx="457200" cy="457200"/>
            </a:xfrm>
            <a:prstGeom prst="rect">
              <a:avLst/>
            </a:prstGeom>
          </p:spPr>
        </p:pic>
      </p:grpSp>
      <p:grpSp>
        <p:nvGrpSpPr>
          <p:cNvPr id="42" name="Groupe 41">
            <a:extLst>
              <a:ext uri="{FF2B5EF4-FFF2-40B4-BE49-F238E27FC236}">
                <a16:creationId xmlns:a16="http://schemas.microsoft.com/office/drawing/2014/main" id="{98325966-18A3-55A6-0E7F-CD49550E7F77}"/>
              </a:ext>
            </a:extLst>
          </p:cNvPr>
          <p:cNvGrpSpPr/>
          <p:nvPr/>
        </p:nvGrpSpPr>
        <p:grpSpPr>
          <a:xfrm>
            <a:off x="2524043" y="3670016"/>
            <a:ext cx="1130844" cy="734957"/>
            <a:chOff x="2330403" y="2169660"/>
            <a:chExt cx="2020389" cy="1313089"/>
          </a:xfrm>
        </p:grpSpPr>
        <p:sp>
          <p:nvSpPr>
            <p:cNvPr id="43" name="ZoneTexte 42">
              <a:extLst>
                <a:ext uri="{FF2B5EF4-FFF2-40B4-BE49-F238E27FC236}">
                  <a16:creationId xmlns:a16="http://schemas.microsoft.com/office/drawing/2014/main" id="{E96611FD-B76E-4089-2030-77BCDC45AB8E}"/>
                </a:ext>
              </a:extLst>
            </p:cNvPr>
            <p:cNvSpPr txBox="1"/>
            <p:nvPr/>
          </p:nvSpPr>
          <p:spPr>
            <a:xfrm>
              <a:off x="2330403" y="2877882"/>
              <a:ext cx="2020389" cy="604867"/>
            </a:xfrm>
            <a:prstGeom prst="rect">
              <a:avLst/>
            </a:prstGeom>
            <a:solidFill>
              <a:srgbClr val="ED7D31"/>
            </a:solidFill>
          </p:spPr>
          <p:txBody>
            <a:bodyPr wrap="square" anchor="t">
              <a:spAutoFit/>
            </a:bodyPr>
            <a:lstStyle/>
            <a:p>
              <a:pPr algn="ctr"/>
              <a:r>
                <a:rPr lang="fr-FR" sz="800" dirty="0"/>
                <a:t>Compétences </a:t>
              </a:r>
            </a:p>
            <a:p>
              <a:pPr algn="ctr"/>
              <a:r>
                <a:rPr lang="fr-FR" sz="800" dirty="0"/>
                <a:t>et métiers</a:t>
              </a:r>
            </a:p>
          </p:txBody>
        </p:sp>
        <p:pic>
          <p:nvPicPr>
            <p:cNvPr id="44" name="Graphique 43" descr="Homme électricien avec un remplissage uni">
              <a:extLst>
                <a:ext uri="{FF2B5EF4-FFF2-40B4-BE49-F238E27FC236}">
                  <a16:creationId xmlns:a16="http://schemas.microsoft.com/office/drawing/2014/main" id="{98EA764E-8CC3-65E6-F32B-2670896F006B}"/>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510959" y="2235850"/>
              <a:ext cx="647700" cy="647700"/>
            </a:xfrm>
            <a:prstGeom prst="rect">
              <a:avLst/>
            </a:prstGeom>
          </p:spPr>
        </p:pic>
        <p:pic>
          <p:nvPicPr>
            <p:cNvPr id="45" name="Graphique 44" descr="Programmatrice avec un remplissage uni">
              <a:extLst>
                <a:ext uri="{FF2B5EF4-FFF2-40B4-BE49-F238E27FC236}">
                  <a16:creationId xmlns:a16="http://schemas.microsoft.com/office/drawing/2014/main" id="{3F98C89A-4049-9BF6-87DC-8C65FC46934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016748" y="2169660"/>
              <a:ext cx="647700" cy="647700"/>
            </a:xfrm>
            <a:prstGeom prst="rect">
              <a:avLst/>
            </a:prstGeom>
          </p:spPr>
        </p:pic>
        <p:pic>
          <p:nvPicPr>
            <p:cNvPr id="46" name="Graphique 45" descr="Employé de bureau avec un remplissage uni">
              <a:extLst>
                <a:ext uri="{FF2B5EF4-FFF2-40B4-BE49-F238E27FC236}">
                  <a16:creationId xmlns:a16="http://schemas.microsoft.com/office/drawing/2014/main" id="{29361E49-0959-330C-46AA-A5FA90D81D28}"/>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3522537" y="2199495"/>
              <a:ext cx="647700" cy="647700"/>
            </a:xfrm>
            <a:prstGeom prst="rect">
              <a:avLst/>
            </a:prstGeom>
          </p:spPr>
        </p:pic>
      </p:grpSp>
      <p:grpSp>
        <p:nvGrpSpPr>
          <p:cNvPr id="47" name="Groupe 46">
            <a:extLst>
              <a:ext uri="{FF2B5EF4-FFF2-40B4-BE49-F238E27FC236}">
                <a16:creationId xmlns:a16="http://schemas.microsoft.com/office/drawing/2014/main" id="{ACD620FF-19D3-3083-15EB-618A9F953CB1}"/>
              </a:ext>
            </a:extLst>
          </p:cNvPr>
          <p:cNvGrpSpPr/>
          <p:nvPr/>
        </p:nvGrpSpPr>
        <p:grpSpPr>
          <a:xfrm>
            <a:off x="1256724" y="3462365"/>
            <a:ext cx="1225117" cy="1022329"/>
            <a:chOff x="2190007" y="4181870"/>
            <a:chExt cx="2188819" cy="1826514"/>
          </a:xfrm>
        </p:grpSpPr>
        <p:sp>
          <p:nvSpPr>
            <p:cNvPr id="48" name="ZoneTexte 47">
              <a:extLst>
                <a:ext uri="{FF2B5EF4-FFF2-40B4-BE49-F238E27FC236}">
                  <a16:creationId xmlns:a16="http://schemas.microsoft.com/office/drawing/2014/main" id="{9ADDB24A-7F01-6E2C-9EC3-CA812B5F1943}"/>
                </a:ext>
              </a:extLst>
            </p:cNvPr>
            <p:cNvSpPr txBox="1"/>
            <p:nvPr/>
          </p:nvSpPr>
          <p:spPr>
            <a:xfrm>
              <a:off x="2358439" y="5183564"/>
              <a:ext cx="2020387" cy="824820"/>
            </a:xfrm>
            <a:prstGeom prst="rect">
              <a:avLst/>
            </a:prstGeom>
            <a:solidFill>
              <a:srgbClr val="ED7D31"/>
            </a:solidFill>
          </p:spPr>
          <p:txBody>
            <a:bodyPr wrap="square" anchor="t">
              <a:spAutoFit/>
            </a:bodyPr>
            <a:lstStyle/>
            <a:p>
              <a:pPr algn="ctr"/>
              <a:r>
                <a:rPr lang="fr-FR" sz="800" dirty="0"/>
                <a:t>Contextes du quotidien (hors Communauté)</a:t>
              </a:r>
            </a:p>
          </p:txBody>
        </p:sp>
        <p:pic>
          <p:nvPicPr>
            <p:cNvPr id="49" name="Graphique 48" descr="Bâtiment avec un remplissage uni">
              <a:extLst>
                <a:ext uri="{FF2B5EF4-FFF2-40B4-BE49-F238E27FC236}">
                  <a16:creationId xmlns:a16="http://schemas.microsoft.com/office/drawing/2014/main" id="{75E41FF0-35EB-538A-1884-717093E86E7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190007" y="4181870"/>
              <a:ext cx="914400" cy="914400"/>
            </a:xfrm>
            <a:prstGeom prst="rect">
              <a:avLst/>
            </a:prstGeom>
          </p:spPr>
        </p:pic>
        <p:pic>
          <p:nvPicPr>
            <p:cNvPr id="50" name="Graphique 49" descr="Utilisateur avec un remplissage uni">
              <a:extLst>
                <a:ext uri="{FF2B5EF4-FFF2-40B4-BE49-F238E27FC236}">
                  <a16:creationId xmlns:a16="http://schemas.microsoft.com/office/drawing/2014/main" id="{3440E2AE-DE92-2BC2-5F81-90E166C396B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392176" y="4708630"/>
              <a:ext cx="429166" cy="429166"/>
            </a:xfrm>
            <a:prstGeom prst="rect">
              <a:avLst/>
            </a:prstGeom>
          </p:spPr>
        </p:pic>
        <p:pic>
          <p:nvPicPr>
            <p:cNvPr id="51" name="Graphique 50" descr="Logement avec un remplissage uni">
              <a:extLst>
                <a:ext uri="{FF2B5EF4-FFF2-40B4-BE49-F238E27FC236}">
                  <a16:creationId xmlns:a16="http://schemas.microsoft.com/office/drawing/2014/main" id="{94F65C76-BB36-84FC-6AED-1E3E4D68692D}"/>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001242" y="4435429"/>
              <a:ext cx="631053" cy="631053"/>
            </a:xfrm>
            <a:prstGeom prst="rect">
              <a:avLst/>
            </a:prstGeom>
          </p:spPr>
        </p:pic>
        <p:pic>
          <p:nvPicPr>
            <p:cNvPr id="52" name="Graphique 51" descr="Utilisateur avec un remplissage uni">
              <a:extLst>
                <a:ext uri="{FF2B5EF4-FFF2-40B4-BE49-F238E27FC236}">
                  <a16:creationId xmlns:a16="http://schemas.microsoft.com/office/drawing/2014/main" id="{E1101795-207B-6458-66CB-2AAF636D5E5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102186" y="4719496"/>
              <a:ext cx="429166" cy="429166"/>
            </a:xfrm>
            <a:prstGeom prst="rect">
              <a:avLst/>
            </a:prstGeom>
          </p:spPr>
        </p:pic>
        <p:pic>
          <p:nvPicPr>
            <p:cNvPr id="53" name="Graphique 52" descr="Bateau remorqueur avec un remplissage uni">
              <a:extLst>
                <a:ext uri="{FF2B5EF4-FFF2-40B4-BE49-F238E27FC236}">
                  <a16:creationId xmlns:a16="http://schemas.microsoft.com/office/drawing/2014/main" id="{535DE9C9-8A7F-C190-7BC9-51D98C9475B7}"/>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3632295" y="4366264"/>
              <a:ext cx="738664" cy="738664"/>
            </a:xfrm>
            <a:prstGeom prst="rect">
              <a:avLst/>
            </a:prstGeom>
          </p:spPr>
        </p:pic>
        <p:pic>
          <p:nvPicPr>
            <p:cNvPr id="54" name="Graphique 53" descr="Utilisateur avec un remplissage uni">
              <a:extLst>
                <a:ext uri="{FF2B5EF4-FFF2-40B4-BE49-F238E27FC236}">
                  <a16:creationId xmlns:a16="http://schemas.microsoft.com/office/drawing/2014/main" id="{728BE4D3-E9E2-C3F0-EA69-AA770953CC0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87044" y="4722954"/>
              <a:ext cx="429166" cy="429166"/>
            </a:xfrm>
            <a:prstGeom prst="rect">
              <a:avLst/>
            </a:prstGeom>
          </p:spPr>
        </p:pic>
      </p:grpSp>
      <p:grpSp>
        <p:nvGrpSpPr>
          <p:cNvPr id="55" name="Groupe 54">
            <a:extLst>
              <a:ext uri="{FF2B5EF4-FFF2-40B4-BE49-F238E27FC236}">
                <a16:creationId xmlns:a16="http://schemas.microsoft.com/office/drawing/2014/main" id="{8356CC4D-5065-7CEE-7F8D-4B626FDABC2A}"/>
              </a:ext>
            </a:extLst>
          </p:cNvPr>
          <p:cNvGrpSpPr/>
          <p:nvPr/>
        </p:nvGrpSpPr>
        <p:grpSpPr>
          <a:xfrm>
            <a:off x="1301139" y="4564558"/>
            <a:ext cx="1130844" cy="897771"/>
            <a:chOff x="4854717" y="2092078"/>
            <a:chExt cx="2020389" cy="1603975"/>
          </a:xfrm>
        </p:grpSpPr>
        <p:sp>
          <p:nvSpPr>
            <p:cNvPr id="56" name="ZoneTexte 55">
              <a:extLst>
                <a:ext uri="{FF2B5EF4-FFF2-40B4-BE49-F238E27FC236}">
                  <a16:creationId xmlns:a16="http://schemas.microsoft.com/office/drawing/2014/main" id="{7FC24C61-C44F-3C9F-E94D-4177B09C514F}"/>
                </a:ext>
              </a:extLst>
            </p:cNvPr>
            <p:cNvSpPr txBox="1"/>
            <p:nvPr/>
          </p:nvSpPr>
          <p:spPr>
            <a:xfrm>
              <a:off x="4854717" y="2871233"/>
              <a:ext cx="2020389" cy="824820"/>
            </a:xfrm>
            <a:prstGeom prst="rect">
              <a:avLst/>
            </a:prstGeom>
            <a:solidFill>
              <a:srgbClr val="ED7D31"/>
            </a:solidFill>
          </p:spPr>
          <p:txBody>
            <a:bodyPr wrap="square" anchor="t">
              <a:spAutoFit/>
            </a:bodyPr>
            <a:lstStyle/>
            <a:p>
              <a:pPr algn="ctr"/>
              <a:r>
                <a:rPr lang="fr-FR" sz="800" dirty="0"/>
                <a:t>Niveau de maîtrise sur une compétence commune</a:t>
              </a:r>
            </a:p>
          </p:txBody>
        </p:sp>
        <p:pic>
          <p:nvPicPr>
            <p:cNvPr id="57" name="Graphique 56" descr="Héroïne avec un remplissage uni">
              <a:extLst>
                <a:ext uri="{FF2B5EF4-FFF2-40B4-BE49-F238E27FC236}">
                  <a16:creationId xmlns:a16="http://schemas.microsoft.com/office/drawing/2014/main" id="{142670C3-C0D2-67B5-1E5C-223D7B89D277}"/>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6075799" y="2092078"/>
              <a:ext cx="696685" cy="696685"/>
            </a:xfrm>
            <a:prstGeom prst="rect">
              <a:avLst/>
            </a:prstGeom>
          </p:spPr>
        </p:pic>
        <p:pic>
          <p:nvPicPr>
            <p:cNvPr id="58" name="Graphique 57" descr="Courir avec un remplissage uni">
              <a:extLst>
                <a:ext uri="{FF2B5EF4-FFF2-40B4-BE49-F238E27FC236}">
                  <a16:creationId xmlns:a16="http://schemas.microsoft.com/office/drawing/2014/main" id="{9FC36805-7837-591B-224D-510DAAA96365}"/>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5463753" y="2144818"/>
              <a:ext cx="611345" cy="611345"/>
            </a:xfrm>
            <a:prstGeom prst="rect">
              <a:avLst/>
            </a:prstGeom>
          </p:spPr>
        </p:pic>
        <p:pic>
          <p:nvPicPr>
            <p:cNvPr id="59" name="Graphique 58" descr="Marcher avec un remplissage uni">
              <a:extLst>
                <a:ext uri="{FF2B5EF4-FFF2-40B4-BE49-F238E27FC236}">
                  <a16:creationId xmlns:a16="http://schemas.microsoft.com/office/drawing/2014/main" id="{4396499F-1398-8124-9EAD-15C39F717D74}"/>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4946169" y="2144819"/>
              <a:ext cx="611345" cy="611345"/>
            </a:xfrm>
            <a:prstGeom prst="rect">
              <a:avLst/>
            </a:prstGeom>
          </p:spPr>
        </p:pic>
      </p:grpSp>
      <p:grpSp>
        <p:nvGrpSpPr>
          <p:cNvPr id="60" name="Groupe 59">
            <a:extLst>
              <a:ext uri="{FF2B5EF4-FFF2-40B4-BE49-F238E27FC236}">
                <a16:creationId xmlns:a16="http://schemas.microsoft.com/office/drawing/2014/main" id="{8422FBE2-9624-A0D5-9112-5D9CB37D424A}"/>
              </a:ext>
            </a:extLst>
          </p:cNvPr>
          <p:cNvGrpSpPr/>
          <p:nvPr/>
        </p:nvGrpSpPr>
        <p:grpSpPr>
          <a:xfrm>
            <a:off x="1349522" y="2652227"/>
            <a:ext cx="1130844" cy="855725"/>
            <a:chOff x="7341874" y="2059479"/>
            <a:chExt cx="2020389" cy="1528854"/>
          </a:xfrm>
        </p:grpSpPr>
        <p:sp>
          <p:nvSpPr>
            <p:cNvPr id="61" name="ZoneTexte 60">
              <a:extLst>
                <a:ext uri="{FF2B5EF4-FFF2-40B4-BE49-F238E27FC236}">
                  <a16:creationId xmlns:a16="http://schemas.microsoft.com/office/drawing/2014/main" id="{717ED592-D64D-347A-86A2-D9054C83603B}"/>
                </a:ext>
              </a:extLst>
            </p:cNvPr>
            <p:cNvSpPr txBox="1"/>
            <p:nvPr/>
          </p:nvSpPr>
          <p:spPr>
            <a:xfrm>
              <a:off x="7341874" y="2763514"/>
              <a:ext cx="2020389" cy="824819"/>
            </a:xfrm>
            <a:prstGeom prst="rect">
              <a:avLst/>
            </a:prstGeom>
            <a:solidFill>
              <a:srgbClr val="ED7D31"/>
            </a:solidFill>
          </p:spPr>
          <p:txBody>
            <a:bodyPr wrap="square" anchor="t">
              <a:spAutoFit/>
            </a:bodyPr>
            <a:lstStyle/>
            <a:p>
              <a:pPr algn="ctr"/>
              <a:r>
                <a:rPr lang="fr-FR" sz="800" dirty="0"/>
                <a:t>Niveau d’expérience sur un sujet donné commun</a:t>
              </a:r>
            </a:p>
          </p:txBody>
        </p:sp>
        <p:pic>
          <p:nvPicPr>
            <p:cNvPr id="62" name="Graphique 61" descr="Bébé avec un remplissage uni">
              <a:extLst>
                <a:ext uri="{FF2B5EF4-FFF2-40B4-BE49-F238E27FC236}">
                  <a16:creationId xmlns:a16="http://schemas.microsoft.com/office/drawing/2014/main" id="{F78BB9E3-DE96-9E6A-339F-D8A9FB71D2E8}"/>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7602478" y="2437089"/>
              <a:ext cx="348308" cy="348308"/>
            </a:xfrm>
            <a:prstGeom prst="rect">
              <a:avLst/>
            </a:prstGeom>
          </p:spPr>
        </p:pic>
        <p:pic>
          <p:nvPicPr>
            <p:cNvPr id="63" name="Graphique 62" descr="Personne confuse avec un remplissage uni">
              <a:extLst>
                <a:ext uri="{FF2B5EF4-FFF2-40B4-BE49-F238E27FC236}">
                  <a16:creationId xmlns:a16="http://schemas.microsoft.com/office/drawing/2014/main" id="{F1EDA3F8-7BF3-46BC-5D55-AC0D81B9AE42}"/>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8353337" y="2059479"/>
              <a:ext cx="696685" cy="696685"/>
            </a:xfrm>
            <a:prstGeom prst="rect">
              <a:avLst/>
            </a:prstGeom>
          </p:spPr>
        </p:pic>
        <p:pic>
          <p:nvPicPr>
            <p:cNvPr id="64" name="Graphique 63" descr="Enfant avec ballon avec un remplissage uni">
              <a:extLst>
                <a:ext uri="{FF2B5EF4-FFF2-40B4-BE49-F238E27FC236}">
                  <a16:creationId xmlns:a16="http://schemas.microsoft.com/office/drawing/2014/main" id="{301F0773-3F21-9358-0CA7-41EA1DD92D7D}"/>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7846425" y="2092078"/>
              <a:ext cx="672638" cy="672638"/>
            </a:xfrm>
            <a:prstGeom prst="rect">
              <a:avLst/>
            </a:prstGeom>
          </p:spPr>
        </p:pic>
      </p:grpSp>
      <p:grpSp>
        <p:nvGrpSpPr>
          <p:cNvPr id="65" name="Groupe 64">
            <a:extLst>
              <a:ext uri="{FF2B5EF4-FFF2-40B4-BE49-F238E27FC236}">
                <a16:creationId xmlns:a16="http://schemas.microsoft.com/office/drawing/2014/main" id="{146E4937-8E15-A92B-40F8-E22210B7E973}"/>
              </a:ext>
            </a:extLst>
          </p:cNvPr>
          <p:cNvGrpSpPr/>
          <p:nvPr/>
        </p:nvGrpSpPr>
        <p:grpSpPr>
          <a:xfrm>
            <a:off x="130435" y="2407261"/>
            <a:ext cx="1137223" cy="1118411"/>
            <a:chOff x="119453" y="1586142"/>
            <a:chExt cx="1913714" cy="1882057"/>
          </a:xfrm>
        </p:grpSpPr>
        <p:sp>
          <p:nvSpPr>
            <p:cNvPr id="66" name="ZoneTexte 65">
              <a:extLst>
                <a:ext uri="{FF2B5EF4-FFF2-40B4-BE49-F238E27FC236}">
                  <a16:creationId xmlns:a16="http://schemas.microsoft.com/office/drawing/2014/main" id="{3310E319-6A89-6DB2-3DCB-85AA2D33B3DE}"/>
                </a:ext>
              </a:extLst>
            </p:cNvPr>
            <p:cNvSpPr txBox="1"/>
            <p:nvPr/>
          </p:nvSpPr>
          <p:spPr>
            <a:xfrm>
              <a:off x="119453" y="2691311"/>
              <a:ext cx="1902979" cy="776888"/>
            </a:xfrm>
            <a:prstGeom prst="rect">
              <a:avLst/>
            </a:prstGeom>
            <a:solidFill>
              <a:srgbClr val="ED7D31"/>
            </a:solidFill>
          </p:spPr>
          <p:txBody>
            <a:bodyPr wrap="square" anchor="t">
              <a:spAutoFit/>
            </a:bodyPr>
            <a:lstStyle/>
            <a:p>
              <a:pPr algn="ctr"/>
              <a:r>
                <a:rPr lang="fr-FR" sz="800" dirty="0"/>
                <a:t>Affinités, goûts personnels (hors sujet de la Communauté)</a:t>
              </a:r>
            </a:p>
          </p:txBody>
        </p:sp>
        <p:grpSp>
          <p:nvGrpSpPr>
            <p:cNvPr id="67" name="Groupe 66">
              <a:extLst>
                <a:ext uri="{FF2B5EF4-FFF2-40B4-BE49-F238E27FC236}">
                  <a16:creationId xmlns:a16="http://schemas.microsoft.com/office/drawing/2014/main" id="{4FDC0B76-0E20-C426-1F5E-6435EED47329}"/>
                </a:ext>
              </a:extLst>
            </p:cNvPr>
            <p:cNvGrpSpPr/>
            <p:nvPr/>
          </p:nvGrpSpPr>
          <p:grpSpPr>
            <a:xfrm>
              <a:off x="175279" y="1586142"/>
              <a:ext cx="1857888" cy="1085324"/>
              <a:chOff x="166428" y="1484033"/>
              <a:chExt cx="1857888" cy="1085324"/>
            </a:xfrm>
          </p:grpSpPr>
          <p:pic>
            <p:nvPicPr>
              <p:cNvPr id="68" name="Graphique 67" descr="Voyage avec un remplissage uni">
                <a:extLst>
                  <a:ext uri="{FF2B5EF4-FFF2-40B4-BE49-F238E27FC236}">
                    <a16:creationId xmlns:a16="http://schemas.microsoft.com/office/drawing/2014/main" id="{5D6DC054-1090-0BE1-0A98-117A428446EC}"/>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166428" y="1484033"/>
                <a:ext cx="557331" cy="557332"/>
              </a:xfrm>
              <a:prstGeom prst="rect">
                <a:avLst/>
              </a:prstGeom>
            </p:spPr>
          </p:pic>
          <p:pic>
            <p:nvPicPr>
              <p:cNvPr id="69" name="Graphique 68" descr="Fouet avec un remplissage uni">
                <a:extLst>
                  <a:ext uri="{FF2B5EF4-FFF2-40B4-BE49-F238E27FC236}">
                    <a16:creationId xmlns:a16="http://schemas.microsoft.com/office/drawing/2014/main" id="{E145E737-ADF7-150A-FAE5-774D4BED2C0B}"/>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846084" y="1492126"/>
                <a:ext cx="557331" cy="557332"/>
              </a:xfrm>
              <a:prstGeom prst="rect">
                <a:avLst/>
              </a:prstGeom>
            </p:spPr>
          </p:pic>
          <p:pic>
            <p:nvPicPr>
              <p:cNvPr id="70" name="Graphique 69" descr="Ballon de football avec un remplissage uni">
                <a:extLst>
                  <a:ext uri="{FF2B5EF4-FFF2-40B4-BE49-F238E27FC236}">
                    <a16:creationId xmlns:a16="http://schemas.microsoft.com/office/drawing/2014/main" id="{5899BFFB-0B99-FC28-DED4-63E794A89419}"/>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1466985" y="1505774"/>
                <a:ext cx="557331" cy="557332"/>
              </a:xfrm>
              <a:prstGeom prst="rect">
                <a:avLst/>
              </a:prstGeom>
            </p:spPr>
          </p:pic>
          <p:pic>
            <p:nvPicPr>
              <p:cNvPr id="71" name="Graphique 70" descr="Cœur avec un remplissage uni">
                <a:extLst>
                  <a:ext uri="{FF2B5EF4-FFF2-40B4-BE49-F238E27FC236}">
                    <a16:creationId xmlns:a16="http://schemas.microsoft.com/office/drawing/2014/main" id="{D25E6F56-602F-C127-0592-AE6F0AF1BF1B}"/>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343418" y="1777461"/>
                <a:ext cx="333402" cy="333402"/>
              </a:xfrm>
              <a:prstGeom prst="rect">
                <a:avLst/>
              </a:prstGeom>
            </p:spPr>
          </p:pic>
          <p:pic>
            <p:nvPicPr>
              <p:cNvPr id="72" name="Graphique 71" descr="Utilisateur avec un remplissage uni">
                <a:extLst>
                  <a:ext uri="{FF2B5EF4-FFF2-40B4-BE49-F238E27FC236}">
                    <a16:creationId xmlns:a16="http://schemas.microsoft.com/office/drawing/2014/main" id="{FB2D7625-F127-E297-2BDB-131A29D0730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43194" y="2165130"/>
                <a:ext cx="404226" cy="404227"/>
              </a:xfrm>
              <a:prstGeom prst="rect">
                <a:avLst/>
              </a:prstGeom>
            </p:spPr>
          </p:pic>
          <p:pic>
            <p:nvPicPr>
              <p:cNvPr id="73" name="Graphique 72" descr="Utilisateur avec un remplissage uni">
                <a:extLst>
                  <a:ext uri="{FF2B5EF4-FFF2-40B4-BE49-F238E27FC236}">
                    <a16:creationId xmlns:a16="http://schemas.microsoft.com/office/drawing/2014/main" id="{5FDFFA06-7376-F6DC-EA9B-6244F145F12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6700" y="2165130"/>
                <a:ext cx="404226" cy="404227"/>
              </a:xfrm>
              <a:prstGeom prst="rect">
                <a:avLst/>
              </a:prstGeom>
            </p:spPr>
          </p:pic>
          <p:pic>
            <p:nvPicPr>
              <p:cNvPr id="74" name="Graphique 73" descr="Cœur avec un remplissage uni">
                <a:extLst>
                  <a:ext uri="{FF2B5EF4-FFF2-40B4-BE49-F238E27FC236}">
                    <a16:creationId xmlns:a16="http://schemas.microsoft.com/office/drawing/2014/main" id="{6C64A556-1647-8CE2-A60F-97521BAA1587}"/>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977524" y="1785553"/>
                <a:ext cx="333402" cy="333402"/>
              </a:xfrm>
              <a:prstGeom prst="rect">
                <a:avLst/>
              </a:prstGeom>
            </p:spPr>
          </p:pic>
          <p:pic>
            <p:nvPicPr>
              <p:cNvPr id="75" name="Graphique 74" descr="Utilisateur avec un remplissage uni">
                <a:extLst>
                  <a:ext uri="{FF2B5EF4-FFF2-40B4-BE49-F238E27FC236}">
                    <a16:creationId xmlns:a16="http://schemas.microsoft.com/office/drawing/2014/main" id="{1D0DC0B8-F725-F80D-192D-7D3F32E7400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557003" y="2165130"/>
                <a:ext cx="404226" cy="404227"/>
              </a:xfrm>
              <a:prstGeom prst="rect">
                <a:avLst/>
              </a:prstGeom>
            </p:spPr>
          </p:pic>
          <p:pic>
            <p:nvPicPr>
              <p:cNvPr id="76" name="Graphique 75" descr="Cœur avec un remplissage uni">
                <a:extLst>
                  <a:ext uri="{FF2B5EF4-FFF2-40B4-BE49-F238E27FC236}">
                    <a16:creationId xmlns:a16="http://schemas.microsoft.com/office/drawing/2014/main" id="{92F36302-62B9-B887-5186-DA995A1D7D8C}"/>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1627827" y="1785553"/>
                <a:ext cx="333402" cy="333402"/>
              </a:xfrm>
              <a:prstGeom prst="rect">
                <a:avLst/>
              </a:prstGeom>
            </p:spPr>
          </p:pic>
        </p:grpSp>
      </p:grpSp>
      <p:grpSp>
        <p:nvGrpSpPr>
          <p:cNvPr id="77" name="Groupe 76">
            <a:extLst>
              <a:ext uri="{FF2B5EF4-FFF2-40B4-BE49-F238E27FC236}">
                <a16:creationId xmlns:a16="http://schemas.microsoft.com/office/drawing/2014/main" id="{454F8267-5517-6F78-D9D6-C46A7A3FC929}"/>
              </a:ext>
            </a:extLst>
          </p:cNvPr>
          <p:cNvGrpSpPr/>
          <p:nvPr/>
        </p:nvGrpSpPr>
        <p:grpSpPr>
          <a:xfrm>
            <a:off x="60262" y="5326426"/>
            <a:ext cx="1152150" cy="1080327"/>
            <a:chOff x="2137265" y="4355643"/>
            <a:chExt cx="1938833" cy="1817969"/>
          </a:xfrm>
        </p:grpSpPr>
        <p:sp>
          <p:nvSpPr>
            <p:cNvPr id="78" name="ZoneTexte 77">
              <a:extLst>
                <a:ext uri="{FF2B5EF4-FFF2-40B4-BE49-F238E27FC236}">
                  <a16:creationId xmlns:a16="http://schemas.microsoft.com/office/drawing/2014/main" id="{A3DF7585-1B9D-4DCC-22D9-E02139F54B81}"/>
                </a:ext>
              </a:extLst>
            </p:cNvPr>
            <p:cNvSpPr txBox="1"/>
            <p:nvPr/>
          </p:nvSpPr>
          <p:spPr>
            <a:xfrm>
              <a:off x="2137265" y="5603895"/>
              <a:ext cx="1902979" cy="569717"/>
            </a:xfrm>
            <a:prstGeom prst="rect">
              <a:avLst/>
            </a:prstGeom>
            <a:solidFill>
              <a:srgbClr val="ED7D31"/>
            </a:solidFill>
          </p:spPr>
          <p:txBody>
            <a:bodyPr wrap="square" anchor="t">
              <a:spAutoFit/>
            </a:bodyPr>
            <a:lstStyle/>
            <a:p>
              <a:pPr algn="ctr"/>
              <a:r>
                <a:rPr lang="fr-FR" sz="800" dirty="0"/>
                <a:t>Objectifs personnels liés à la Communauté</a:t>
              </a:r>
            </a:p>
          </p:txBody>
        </p:sp>
        <p:grpSp>
          <p:nvGrpSpPr>
            <p:cNvPr id="79" name="Groupe 78">
              <a:extLst>
                <a:ext uri="{FF2B5EF4-FFF2-40B4-BE49-F238E27FC236}">
                  <a16:creationId xmlns:a16="http://schemas.microsoft.com/office/drawing/2014/main" id="{6B642433-F985-0D33-2523-03A74435D8FC}"/>
                </a:ext>
              </a:extLst>
            </p:cNvPr>
            <p:cNvGrpSpPr/>
            <p:nvPr/>
          </p:nvGrpSpPr>
          <p:grpSpPr>
            <a:xfrm>
              <a:off x="2208267" y="4355643"/>
              <a:ext cx="1867831" cy="738663"/>
              <a:chOff x="2242123" y="4466168"/>
              <a:chExt cx="2594570" cy="1026064"/>
            </a:xfrm>
            <a:solidFill>
              <a:schemeClr val="tx1"/>
            </a:solidFill>
          </p:grpSpPr>
          <p:pic>
            <p:nvPicPr>
              <p:cNvPr id="86" name="Graphique 85" descr="Globe terrestre : Europe et Afrique avec un remplissage uni">
                <a:extLst>
                  <a:ext uri="{FF2B5EF4-FFF2-40B4-BE49-F238E27FC236}">
                    <a16:creationId xmlns:a16="http://schemas.microsoft.com/office/drawing/2014/main" id="{4AAA0C36-1F91-F218-3645-BD93F6547F65}"/>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2242123" y="4548730"/>
                <a:ext cx="914402" cy="914402"/>
              </a:xfrm>
              <a:prstGeom prst="rect">
                <a:avLst/>
              </a:prstGeom>
            </p:spPr>
          </p:pic>
          <p:pic>
            <p:nvPicPr>
              <p:cNvPr id="87" name="Graphique 86" descr="Poignée de main avec un remplissage uni">
                <a:extLst>
                  <a:ext uri="{FF2B5EF4-FFF2-40B4-BE49-F238E27FC236}">
                    <a16:creationId xmlns:a16="http://schemas.microsoft.com/office/drawing/2014/main" id="{0E1AAFB3-8F53-FA14-D9BB-CA23A5791933}"/>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a:off x="3084465" y="4577831"/>
                <a:ext cx="914401" cy="914401"/>
              </a:xfrm>
              <a:prstGeom prst="rect">
                <a:avLst/>
              </a:prstGeom>
            </p:spPr>
          </p:pic>
          <p:pic>
            <p:nvPicPr>
              <p:cNvPr id="88" name="Graphique 87" descr="Presse-papiers vérifié avec un remplissage uni">
                <a:extLst>
                  <a:ext uri="{FF2B5EF4-FFF2-40B4-BE49-F238E27FC236}">
                    <a16:creationId xmlns:a16="http://schemas.microsoft.com/office/drawing/2014/main" id="{95C481E4-FB14-687D-A30B-81B07686915B}"/>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3904537" y="4466168"/>
                <a:ext cx="932156" cy="932156"/>
              </a:xfrm>
              <a:prstGeom prst="rect">
                <a:avLst/>
              </a:prstGeom>
            </p:spPr>
          </p:pic>
        </p:grpSp>
        <p:pic>
          <p:nvPicPr>
            <p:cNvPr id="80" name="Graphique 79" descr="Utilisateur avec un remplissage uni">
              <a:extLst>
                <a:ext uri="{FF2B5EF4-FFF2-40B4-BE49-F238E27FC236}">
                  <a16:creationId xmlns:a16="http://schemas.microsoft.com/office/drawing/2014/main" id="{F31B7458-AC6A-C6FD-2564-6BE723679B9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218158" y="5191381"/>
              <a:ext cx="404226" cy="404227"/>
            </a:xfrm>
            <a:prstGeom prst="rect">
              <a:avLst/>
            </a:prstGeom>
          </p:spPr>
        </p:pic>
        <p:pic>
          <p:nvPicPr>
            <p:cNvPr id="81" name="Graphique 80" descr="Utilisateur avec un remplissage uni">
              <a:extLst>
                <a:ext uri="{FF2B5EF4-FFF2-40B4-BE49-F238E27FC236}">
                  <a16:creationId xmlns:a16="http://schemas.microsoft.com/office/drawing/2014/main" id="{9AF8F9D6-82F3-29D8-B896-0371FB4BBF2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81664" y="5191381"/>
              <a:ext cx="404226" cy="404227"/>
            </a:xfrm>
            <a:prstGeom prst="rect">
              <a:avLst/>
            </a:prstGeom>
          </p:spPr>
        </p:pic>
        <p:pic>
          <p:nvPicPr>
            <p:cNvPr id="82" name="Graphique 81" descr="Utilisateur avec un remplissage uni">
              <a:extLst>
                <a:ext uri="{FF2B5EF4-FFF2-40B4-BE49-F238E27FC236}">
                  <a16:creationId xmlns:a16="http://schemas.microsoft.com/office/drawing/2014/main" id="{5570CEF3-45AB-427C-E218-CBD089AA0E1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531967" y="5191381"/>
              <a:ext cx="404226" cy="404227"/>
            </a:xfrm>
            <a:prstGeom prst="rect">
              <a:avLst/>
            </a:prstGeom>
          </p:spPr>
        </p:pic>
        <p:pic>
          <p:nvPicPr>
            <p:cNvPr id="83" name="Graphique 82" descr="Mille avec un remplissage uni">
              <a:extLst>
                <a:ext uri="{FF2B5EF4-FFF2-40B4-BE49-F238E27FC236}">
                  <a16:creationId xmlns:a16="http://schemas.microsoft.com/office/drawing/2014/main" id="{A9DE1A82-67E1-52A6-5198-ABF751607E13}"/>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rcRect/>
            <a:stretch/>
          </p:blipFill>
          <p:spPr>
            <a:xfrm>
              <a:off x="3732611" y="4821411"/>
              <a:ext cx="307634" cy="307634"/>
            </a:xfrm>
            <a:prstGeom prst="rect">
              <a:avLst/>
            </a:prstGeom>
          </p:spPr>
        </p:pic>
        <p:pic>
          <p:nvPicPr>
            <p:cNvPr id="84" name="Graphique 83" descr="Mille avec un remplissage uni">
              <a:extLst>
                <a:ext uri="{FF2B5EF4-FFF2-40B4-BE49-F238E27FC236}">
                  <a16:creationId xmlns:a16="http://schemas.microsoft.com/office/drawing/2014/main" id="{00EAF6CB-C874-B9F6-F515-9E29A1FFFE8A}"/>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rcRect/>
            <a:stretch/>
          </p:blipFill>
          <p:spPr>
            <a:xfrm>
              <a:off x="3104772" y="4814232"/>
              <a:ext cx="307634" cy="307634"/>
            </a:xfrm>
            <a:prstGeom prst="rect">
              <a:avLst/>
            </a:prstGeom>
          </p:spPr>
        </p:pic>
        <p:pic>
          <p:nvPicPr>
            <p:cNvPr id="85" name="Graphique 84" descr="Mille avec un remplissage uni">
              <a:extLst>
                <a:ext uri="{FF2B5EF4-FFF2-40B4-BE49-F238E27FC236}">
                  <a16:creationId xmlns:a16="http://schemas.microsoft.com/office/drawing/2014/main" id="{72DBBEDB-1A14-E181-7497-B0412084BE88}"/>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rcRect/>
            <a:stretch/>
          </p:blipFill>
          <p:spPr>
            <a:xfrm>
              <a:off x="2524208" y="4807622"/>
              <a:ext cx="307634" cy="307634"/>
            </a:xfrm>
            <a:prstGeom prst="rect">
              <a:avLst/>
            </a:prstGeom>
          </p:spPr>
        </p:pic>
      </p:grpSp>
      <p:grpSp>
        <p:nvGrpSpPr>
          <p:cNvPr id="89" name="Groupe 88">
            <a:extLst>
              <a:ext uri="{FF2B5EF4-FFF2-40B4-BE49-F238E27FC236}">
                <a16:creationId xmlns:a16="http://schemas.microsoft.com/office/drawing/2014/main" id="{035622AB-9CFC-6BF6-EB28-DBDC2A3D1BC6}"/>
              </a:ext>
            </a:extLst>
          </p:cNvPr>
          <p:cNvGrpSpPr/>
          <p:nvPr/>
        </p:nvGrpSpPr>
        <p:grpSpPr>
          <a:xfrm>
            <a:off x="80181" y="3599839"/>
            <a:ext cx="1130844" cy="885823"/>
            <a:chOff x="119453" y="4890124"/>
            <a:chExt cx="1902980" cy="1490660"/>
          </a:xfrm>
        </p:grpSpPr>
        <p:sp>
          <p:nvSpPr>
            <p:cNvPr id="90" name="ZoneTexte 89">
              <a:extLst>
                <a:ext uri="{FF2B5EF4-FFF2-40B4-BE49-F238E27FC236}">
                  <a16:creationId xmlns:a16="http://schemas.microsoft.com/office/drawing/2014/main" id="{2061F89B-5537-8144-07E0-F9D3974C6F6B}"/>
                </a:ext>
              </a:extLst>
            </p:cNvPr>
            <p:cNvSpPr txBox="1"/>
            <p:nvPr/>
          </p:nvSpPr>
          <p:spPr>
            <a:xfrm>
              <a:off x="119453" y="5603896"/>
              <a:ext cx="1902980" cy="776888"/>
            </a:xfrm>
            <a:prstGeom prst="rect">
              <a:avLst/>
            </a:prstGeom>
            <a:solidFill>
              <a:srgbClr val="ED7D31"/>
            </a:solidFill>
          </p:spPr>
          <p:txBody>
            <a:bodyPr wrap="square" anchor="t">
              <a:spAutoFit/>
            </a:bodyPr>
            <a:lstStyle/>
            <a:p>
              <a:pPr algn="ctr"/>
              <a:r>
                <a:rPr lang="fr-FR" sz="800" dirty="0"/>
                <a:t>Appartenances et caractéristiques  démographiques</a:t>
              </a:r>
            </a:p>
          </p:txBody>
        </p:sp>
        <p:grpSp>
          <p:nvGrpSpPr>
            <p:cNvPr id="91" name="Groupe 90">
              <a:extLst>
                <a:ext uri="{FF2B5EF4-FFF2-40B4-BE49-F238E27FC236}">
                  <a16:creationId xmlns:a16="http://schemas.microsoft.com/office/drawing/2014/main" id="{8686012E-CD99-4188-ECB9-97DBD78B16FE}"/>
                </a:ext>
              </a:extLst>
            </p:cNvPr>
            <p:cNvGrpSpPr/>
            <p:nvPr/>
          </p:nvGrpSpPr>
          <p:grpSpPr>
            <a:xfrm>
              <a:off x="156067" y="4890124"/>
              <a:ext cx="1735039" cy="710452"/>
              <a:chOff x="-86422" y="4604282"/>
              <a:chExt cx="2286298" cy="936178"/>
            </a:xfrm>
            <a:solidFill>
              <a:srgbClr val="ED7D31"/>
            </a:solidFill>
          </p:grpSpPr>
          <p:pic>
            <p:nvPicPr>
              <p:cNvPr id="92" name="Graphique 91" descr="Homme avec un remplissage uni">
                <a:extLst>
                  <a:ext uri="{FF2B5EF4-FFF2-40B4-BE49-F238E27FC236}">
                    <a16:creationId xmlns:a16="http://schemas.microsoft.com/office/drawing/2014/main" id="{DDB5AB43-CB62-91FE-5B2D-E00B3BB54AF7}"/>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550681" y="4616157"/>
                <a:ext cx="914400" cy="914400"/>
              </a:xfrm>
              <a:prstGeom prst="rect">
                <a:avLst/>
              </a:prstGeom>
            </p:spPr>
          </p:pic>
          <p:pic>
            <p:nvPicPr>
              <p:cNvPr id="93" name="Graphique 92" descr="Homme avec canne avec un remplissage uni">
                <a:extLst>
                  <a:ext uri="{FF2B5EF4-FFF2-40B4-BE49-F238E27FC236}">
                    <a16:creationId xmlns:a16="http://schemas.microsoft.com/office/drawing/2014/main" id="{8D3791B4-1D80-63BF-9B6C-D6CECFB63C04}"/>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1285476" y="4604282"/>
                <a:ext cx="914400" cy="914400"/>
              </a:xfrm>
              <a:prstGeom prst="rect">
                <a:avLst/>
              </a:prstGeom>
            </p:spPr>
          </p:pic>
          <p:pic>
            <p:nvPicPr>
              <p:cNvPr id="94" name="Graphique 93" descr="Femme enceinte avec un remplissage uni">
                <a:extLst>
                  <a:ext uri="{FF2B5EF4-FFF2-40B4-BE49-F238E27FC236}">
                    <a16:creationId xmlns:a16="http://schemas.microsoft.com/office/drawing/2014/main" id="{478D9C71-6D52-0072-12BA-F7C459B411A5}"/>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86422" y="4626060"/>
                <a:ext cx="914400" cy="914400"/>
              </a:xfrm>
              <a:prstGeom prst="rect">
                <a:avLst/>
              </a:prstGeom>
            </p:spPr>
          </p:pic>
        </p:grpSp>
      </p:grpSp>
      <p:grpSp>
        <p:nvGrpSpPr>
          <p:cNvPr id="95" name="Groupe 94">
            <a:extLst>
              <a:ext uri="{FF2B5EF4-FFF2-40B4-BE49-F238E27FC236}">
                <a16:creationId xmlns:a16="http://schemas.microsoft.com/office/drawing/2014/main" id="{1B8B2A63-6FCE-2B2C-92D2-24F38B299699}"/>
              </a:ext>
            </a:extLst>
          </p:cNvPr>
          <p:cNvGrpSpPr/>
          <p:nvPr/>
        </p:nvGrpSpPr>
        <p:grpSpPr>
          <a:xfrm>
            <a:off x="2536062" y="2384351"/>
            <a:ext cx="1184599" cy="1020711"/>
            <a:chOff x="4138260" y="4455964"/>
            <a:chExt cx="1993438" cy="1717648"/>
          </a:xfrm>
        </p:grpSpPr>
        <p:sp>
          <p:nvSpPr>
            <p:cNvPr id="96" name="ZoneTexte 95">
              <a:extLst>
                <a:ext uri="{FF2B5EF4-FFF2-40B4-BE49-F238E27FC236}">
                  <a16:creationId xmlns:a16="http://schemas.microsoft.com/office/drawing/2014/main" id="{06279414-7B46-197F-E4F0-60CA2077AA68}"/>
                </a:ext>
              </a:extLst>
            </p:cNvPr>
            <p:cNvSpPr txBox="1"/>
            <p:nvPr/>
          </p:nvSpPr>
          <p:spPr>
            <a:xfrm>
              <a:off x="4138260" y="5603895"/>
              <a:ext cx="1902979" cy="569717"/>
            </a:xfrm>
            <a:prstGeom prst="rect">
              <a:avLst/>
            </a:prstGeom>
            <a:solidFill>
              <a:srgbClr val="ED7D31"/>
            </a:solidFill>
          </p:spPr>
          <p:txBody>
            <a:bodyPr wrap="square" anchor="t">
              <a:spAutoFit/>
            </a:bodyPr>
            <a:lstStyle/>
            <a:p>
              <a:pPr algn="ctr"/>
              <a:r>
                <a:rPr lang="fr-FR" sz="800" dirty="0"/>
                <a:t>Langues de travail, langues de confort</a:t>
              </a:r>
            </a:p>
          </p:txBody>
        </p:sp>
        <p:pic>
          <p:nvPicPr>
            <p:cNvPr id="97" name="Graphique 96" descr="Utilisateur avec un remplissage uni">
              <a:extLst>
                <a:ext uri="{FF2B5EF4-FFF2-40B4-BE49-F238E27FC236}">
                  <a16:creationId xmlns:a16="http://schemas.microsoft.com/office/drawing/2014/main" id="{968B9002-F63B-ACFD-F1B2-E535857BA1E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240717" y="5199668"/>
              <a:ext cx="404226" cy="404227"/>
            </a:xfrm>
            <a:prstGeom prst="rect">
              <a:avLst/>
            </a:prstGeom>
          </p:spPr>
        </p:pic>
        <p:pic>
          <p:nvPicPr>
            <p:cNvPr id="98" name="Graphique 97" descr="Utilisateur avec un remplissage uni">
              <a:extLst>
                <a:ext uri="{FF2B5EF4-FFF2-40B4-BE49-F238E27FC236}">
                  <a16:creationId xmlns:a16="http://schemas.microsoft.com/office/drawing/2014/main" id="{8A383563-248E-8AF5-4D43-41EA90AC03F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904223" y="5199668"/>
              <a:ext cx="404226" cy="404227"/>
            </a:xfrm>
            <a:prstGeom prst="rect">
              <a:avLst/>
            </a:prstGeom>
          </p:spPr>
        </p:pic>
        <p:pic>
          <p:nvPicPr>
            <p:cNvPr id="99" name="Graphique 98" descr="Utilisateur avec un remplissage uni">
              <a:extLst>
                <a:ext uri="{FF2B5EF4-FFF2-40B4-BE49-F238E27FC236}">
                  <a16:creationId xmlns:a16="http://schemas.microsoft.com/office/drawing/2014/main" id="{3EE15B98-B8AA-562A-6B48-4191B1286DC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554526" y="5199668"/>
              <a:ext cx="404226" cy="404227"/>
            </a:xfrm>
            <a:prstGeom prst="rect">
              <a:avLst/>
            </a:prstGeom>
          </p:spPr>
        </p:pic>
        <p:sp>
          <p:nvSpPr>
            <p:cNvPr id="100" name="Bulle narrative : ronde 99">
              <a:extLst>
                <a:ext uri="{FF2B5EF4-FFF2-40B4-BE49-F238E27FC236}">
                  <a16:creationId xmlns:a16="http://schemas.microsoft.com/office/drawing/2014/main" id="{D3796316-F080-D3F7-EB7B-23A5AFE221E5}"/>
                </a:ext>
              </a:extLst>
            </p:cNvPr>
            <p:cNvSpPr/>
            <p:nvPr/>
          </p:nvSpPr>
          <p:spPr>
            <a:xfrm>
              <a:off x="4164917" y="4475901"/>
              <a:ext cx="673871" cy="618405"/>
            </a:xfrm>
            <a:prstGeom prst="wedgeEllipseCallout">
              <a:avLst>
                <a:gd name="adj1" fmla="val -10494"/>
                <a:gd name="adj2" fmla="val 625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101" name="Bulle narrative : ronde 100">
              <a:extLst>
                <a:ext uri="{FF2B5EF4-FFF2-40B4-BE49-F238E27FC236}">
                  <a16:creationId xmlns:a16="http://schemas.microsoft.com/office/drawing/2014/main" id="{5DF0FC57-A43D-98E9-2B56-F2C03C130E2A}"/>
                </a:ext>
              </a:extLst>
            </p:cNvPr>
            <p:cNvSpPr/>
            <p:nvPr/>
          </p:nvSpPr>
          <p:spPr>
            <a:xfrm>
              <a:off x="4796239" y="4475901"/>
              <a:ext cx="673871" cy="618405"/>
            </a:xfrm>
            <a:prstGeom prst="wedgeEllipseCallout">
              <a:avLst>
                <a:gd name="adj1" fmla="val -10494"/>
                <a:gd name="adj2" fmla="val 625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102" name="Bulle narrative : ronde 101">
              <a:extLst>
                <a:ext uri="{FF2B5EF4-FFF2-40B4-BE49-F238E27FC236}">
                  <a16:creationId xmlns:a16="http://schemas.microsoft.com/office/drawing/2014/main" id="{95E8A2CB-4240-330A-95E5-8F826BF989C0}"/>
                </a:ext>
              </a:extLst>
            </p:cNvPr>
            <p:cNvSpPr/>
            <p:nvPr/>
          </p:nvSpPr>
          <p:spPr>
            <a:xfrm>
              <a:off x="5457827" y="4455964"/>
              <a:ext cx="673871" cy="618405"/>
            </a:xfrm>
            <a:prstGeom prst="wedgeEllipseCallout">
              <a:avLst>
                <a:gd name="adj1" fmla="val -4032"/>
                <a:gd name="adj2" fmla="val 66725"/>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103" name="Graphique 102" descr="Croissant avec un remplissage uni">
              <a:extLst>
                <a:ext uri="{FF2B5EF4-FFF2-40B4-BE49-F238E27FC236}">
                  <a16:creationId xmlns:a16="http://schemas.microsoft.com/office/drawing/2014/main" id="{87F8FD48-7123-EB32-8088-24F4A4DF4CBB}"/>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4239650" y="4565596"/>
              <a:ext cx="468156" cy="468156"/>
            </a:xfrm>
            <a:prstGeom prst="rect">
              <a:avLst/>
            </a:prstGeom>
          </p:spPr>
        </p:pic>
        <p:pic>
          <p:nvPicPr>
            <p:cNvPr id="104" name="Graphique 103" descr="Burger et boisson avec un remplissage uni">
              <a:extLst>
                <a:ext uri="{FF2B5EF4-FFF2-40B4-BE49-F238E27FC236}">
                  <a16:creationId xmlns:a16="http://schemas.microsoft.com/office/drawing/2014/main" id="{BC9974DE-AAF4-82EA-EFD1-FC41211CB397}"/>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4912462" y="4514581"/>
              <a:ext cx="459274" cy="459274"/>
            </a:xfrm>
            <a:prstGeom prst="rect">
              <a:avLst/>
            </a:prstGeom>
          </p:spPr>
        </p:pic>
        <p:pic>
          <p:nvPicPr>
            <p:cNvPr id="105" name="Graphique 104" descr="Pâtes avec un remplissage uni">
              <a:extLst>
                <a:ext uri="{FF2B5EF4-FFF2-40B4-BE49-F238E27FC236}">
                  <a16:creationId xmlns:a16="http://schemas.microsoft.com/office/drawing/2014/main" id="{541F2F0B-A4EC-27B4-4D6D-18AD6D07F034}"/>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5581428" y="4576778"/>
              <a:ext cx="416649" cy="416649"/>
            </a:xfrm>
            <a:prstGeom prst="rect">
              <a:avLst/>
            </a:prstGeom>
          </p:spPr>
        </p:pic>
      </p:grpSp>
      <p:grpSp>
        <p:nvGrpSpPr>
          <p:cNvPr id="106" name="Groupe 105">
            <a:extLst>
              <a:ext uri="{FF2B5EF4-FFF2-40B4-BE49-F238E27FC236}">
                <a16:creationId xmlns:a16="http://schemas.microsoft.com/office/drawing/2014/main" id="{B6F97DED-054D-24F2-EFE4-CC7724DB702C}"/>
              </a:ext>
            </a:extLst>
          </p:cNvPr>
          <p:cNvGrpSpPr/>
          <p:nvPr/>
        </p:nvGrpSpPr>
        <p:grpSpPr>
          <a:xfrm>
            <a:off x="2473606" y="4599489"/>
            <a:ext cx="1130844" cy="879049"/>
            <a:chOff x="10169567" y="4901523"/>
            <a:chExt cx="1902980" cy="1479260"/>
          </a:xfrm>
        </p:grpSpPr>
        <p:sp>
          <p:nvSpPr>
            <p:cNvPr id="107" name="ZoneTexte 106">
              <a:extLst>
                <a:ext uri="{FF2B5EF4-FFF2-40B4-BE49-F238E27FC236}">
                  <a16:creationId xmlns:a16="http://schemas.microsoft.com/office/drawing/2014/main" id="{64379734-B89A-2011-8D2F-586D4E87518E}"/>
                </a:ext>
              </a:extLst>
            </p:cNvPr>
            <p:cNvSpPr txBox="1"/>
            <p:nvPr/>
          </p:nvSpPr>
          <p:spPr>
            <a:xfrm>
              <a:off x="10169567" y="5603895"/>
              <a:ext cx="1902980" cy="776888"/>
            </a:xfrm>
            <a:prstGeom prst="rect">
              <a:avLst/>
            </a:prstGeom>
            <a:solidFill>
              <a:srgbClr val="ED7D31"/>
            </a:solidFill>
          </p:spPr>
          <p:txBody>
            <a:bodyPr wrap="square" anchor="t">
              <a:spAutoFit/>
            </a:bodyPr>
            <a:lstStyle/>
            <a:p>
              <a:pPr algn="ctr"/>
              <a:r>
                <a:rPr lang="fr-FR" sz="800" dirty="0"/>
                <a:t>Styles de pratiques d’une même discipline ou d’un même métier</a:t>
              </a:r>
            </a:p>
          </p:txBody>
        </p:sp>
        <p:grpSp>
          <p:nvGrpSpPr>
            <p:cNvPr id="108" name="Groupe 107">
              <a:extLst>
                <a:ext uri="{FF2B5EF4-FFF2-40B4-BE49-F238E27FC236}">
                  <a16:creationId xmlns:a16="http://schemas.microsoft.com/office/drawing/2014/main" id="{978AE08E-DC6B-D843-8535-D9E7611B6B04}"/>
                </a:ext>
              </a:extLst>
            </p:cNvPr>
            <p:cNvGrpSpPr/>
            <p:nvPr/>
          </p:nvGrpSpPr>
          <p:grpSpPr>
            <a:xfrm>
              <a:off x="10239970" y="4901523"/>
              <a:ext cx="1718580" cy="596624"/>
              <a:chOff x="10276660" y="4855900"/>
              <a:chExt cx="1577642" cy="545881"/>
            </a:xfrm>
          </p:grpSpPr>
          <p:pic>
            <p:nvPicPr>
              <p:cNvPr id="109" name="Graphique 108" descr="Danse avec un remplissage uni">
                <a:extLst>
                  <a:ext uri="{FF2B5EF4-FFF2-40B4-BE49-F238E27FC236}">
                    <a16:creationId xmlns:a16="http://schemas.microsoft.com/office/drawing/2014/main" id="{FDBB8465-7AA4-E9F5-AB80-8DB0EEFF23D3}"/>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a:off x="10276660" y="4864187"/>
                <a:ext cx="537594" cy="537594"/>
              </a:xfrm>
              <a:prstGeom prst="rect">
                <a:avLst/>
              </a:prstGeom>
            </p:spPr>
          </p:pic>
          <p:pic>
            <p:nvPicPr>
              <p:cNvPr id="110" name="Graphique 109" descr="Gymnaste : routine au sol avec un remplissage uni">
                <a:extLst>
                  <a:ext uri="{FF2B5EF4-FFF2-40B4-BE49-F238E27FC236}">
                    <a16:creationId xmlns:a16="http://schemas.microsoft.com/office/drawing/2014/main" id="{11ECEB08-15EE-2C12-5DE1-61554446B8C0}"/>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10814254" y="4859078"/>
                <a:ext cx="537594" cy="537594"/>
              </a:xfrm>
              <a:prstGeom prst="rect">
                <a:avLst/>
              </a:prstGeom>
            </p:spPr>
          </p:pic>
          <p:pic>
            <p:nvPicPr>
              <p:cNvPr id="111" name="Graphique 110" descr="Yoga avec un remplissage uni">
                <a:extLst>
                  <a:ext uri="{FF2B5EF4-FFF2-40B4-BE49-F238E27FC236}">
                    <a16:creationId xmlns:a16="http://schemas.microsoft.com/office/drawing/2014/main" id="{4A797821-2D60-2BE4-E296-DC70C3738A97}"/>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11316708" y="4855900"/>
                <a:ext cx="537594" cy="537594"/>
              </a:xfrm>
              <a:prstGeom prst="rect">
                <a:avLst/>
              </a:prstGeom>
            </p:spPr>
          </p:pic>
        </p:grpSp>
      </p:grpSp>
      <p:grpSp>
        <p:nvGrpSpPr>
          <p:cNvPr id="112" name="Groupe 111">
            <a:extLst>
              <a:ext uri="{FF2B5EF4-FFF2-40B4-BE49-F238E27FC236}">
                <a16:creationId xmlns:a16="http://schemas.microsoft.com/office/drawing/2014/main" id="{BB055B93-32B0-025F-F66F-211770E76E1B}"/>
              </a:ext>
            </a:extLst>
          </p:cNvPr>
          <p:cNvGrpSpPr/>
          <p:nvPr/>
        </p:nvGrpSpPr>
        <p:grpSpPr>
          <a:xfrm>
            <a:off x="2495399" y="5373956"/>
            <a:ext cx="1217182" cy="1177868"/>
            <a:chOff x="6169521" y="4398671"/>
            <a:chExt cx="2048268" cy="1982111"/>
          </a:xfrm>
        </p:grpSpPr>
        <p:sp>
          <p:nvSpPr>
            <p:cNvPr id="113" name="ZoneTexte 112">
              <a:extLst>
                <a:ext uri="{FF2B5EF4-FFF2-40B4-BE49-F238E27FC236}">
                  <a16:creationId xmlns:a16="http://schemas.microsoft.com/office/drawing/2014/main" id="{3AD6A57A-028D-FDC9-F974-04C6F8CBE27A}"/>
                </a:ext>
              </a:extLst>
            </p:cNvPr>
            <p:cNvSpPr txBox="1"/>
            <p:nvPr/>
          </p:nvSpPr>
          <p:spPr>
            <a:xfrm>
              <a:off x="6169521" y="5603894"/>
              <a:ext cx="1902981" cy="776888"/>
            </a:xfrm>
            <a:prstGeom prst="rect">
              <a:avLst/>
            </a:prstGeom>
            <a:solidFill>
              <a:srgbClr val="ED7D31"/>
            </a:solidFill>
          </p:spPr>
          <p:txBody>
            <a:bodyPr wrap="square" anchor="t">
              <a:spAutoFit/>
            </a:bodyPr>
            <a:lstStyle/>
            <a:p>
              <a:pPr algn="ctr"/>
              <a:r>
                <a:rPr lang="fr-FR" sz="800" dirty="0"/>
                <a:t>Origines professionnelles ou passé professionnel</a:t>
              </a:r>
            </a:p>
          </p:txBody>
        </p:sp>
        <p:pic>
          <p:nvPicPr>
            <p:cNvPr id="114" name="Graphique 113" descr="Utilisateur avec un remplissage uni">
              <a:extLst>
                <a:ext uri="{FF2B5EF4-FFF2-40B4-BE49-F238E27FC236}">
                  <a16:creationId xmlns:a16="http://schemas.microsoft.com/office/drawing/2014/main" id="{0F65478B-FBB7-2B3F-B366-3667C517506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66962" y="5198861"/>
              <a:ext cx="404226" cy="404227"/>
            </a:xfrm>
            <a:prstGeom prst="rect">
              <a:avLst/>
            </a:prstGeom>
          </p:spPr>
        </p:pic>
        <p:pic>
          <p:nvPicPr>
            <p:cNvPr id="115" name="Graphique 114" descr="Utilisateur avec un remplissage uni">
              <a:extLst>
                <a:ext uri="{FF2B5EF4-FFF2-40B4-BE49-F238E27FC236}">
                  <a16:creationId xmlns:a16="http://schemas.microsoft.com/office/drawing/2014/main" id="{29E942B8-75E8-C83A-1A01-03195638FDE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930468" y="5198861"/>
              <a:ext cx="404226" cy="404227"/>
            </a:xfrm>
            <a:prstGeom prst="rect">
              <a:avLst/>
            </a:prstGeom>
          </p:spPr>
        </p:pic>
        <p:pic>
          <p:nvPicPr>
            <p:cNvPr id="116" name="Graphique 115" descr="Utilisateur avec un remplissage uni">
              <a:extLst>
                <a:ext uri="{FF2B5EF4-FFF2-40B4-BE49-F238E27FC236}">
                  <a16:creationId xmlns:a16="http://schemas.microsoft.com/office/drawing/2014/main" id="{F7CBD21F-16AC-321F-8C8E-708E7D0B3C1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580771" y="5198861"/>
              <a:ext cx="404226" cy="404227"/>
            </a:xfrm>
            <a:prstGeom prst="rect">
              <a:avLst/>
            </a:prstGeom>
          </p:spPr>
        </p:pic>
        <p:sp>
          <p:nvSpPr>
            <p:cNvPr id="117" name="Phylactère : pensées 116">
              <a:extLst>
                <a:ext uri="{FF2B5EF4-FFF2-40B4-BE49-F238E27FC236}">
                  <a16:creationId xmlns:a16="http://schemas.microsoft.com/office/drawing/2014/main" id="{29FCB03B-354A-AB84-FDA8-A7123E25D643}"/>
                </a:ext>
              </a:extLst>
            </p:cNvPr>
            <p:cNvSpPr/>
            <p:nvPr/>
          </p:nvSpPr>
          <p:spPr>
            <a:xfrm>
              <a:off x="6177400" y="4436029"/>
              <a:ext cx="753067" cy="637328"/>
            </a:xfrm>
            <a:prstGeom prst="cloudCallout">
              <a:avLst>
                <a:gd name="adj1" fmla="val -2569"/>
                <a:gd name="adj2" fmla="val 72065"/>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118" name="Phylactère : pensées 117">
              <a:extLst>
                <a:ext uri="{FF2B5EF4-FFF2-40B4-BE49-F238E27FC236}">
                  <a16:creationId xmlns:a16="http://schemas.microsoft.com/office/drawing/2014/main" id="{98A69F5C-1E21-01B6-6BBC-58606EF26712}"/>
                </a:ext>
              </a:extLst>
            </p:cNvPr>
            <p:cNvSpPr/>
            <p:nvPr/>
          </p:nvSpPr>
          <p:spPr>
            <a:xfrm>
              <a:off x="6830383" y="4407968"/>
              <a:ext cx="753067" cy="637328"/>
            </a:xfrm>
            <a:prstGeom prst="cloudCallout">
              <a:avLst>
                <a:gd name="adj1" fmla="val -2569"/>
                <a:gd name="adj2" fmla="val 72065"/>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119" name="Phylactère : pensées 118">
              <a:extLst>
                <a:ext uri="{FF2B5EF4-FFF2-40B4-BE49-F238E27FC236}">
                  <a16:creationId xmlns:a16="http://schemas.microsoft.com/office/drawing/2014/main" id="{CD0A2C40-4E61-1450-D488-DB45C4340DB7}"/>
                </a:ext>
              </a:extLst>
            </p:cNvPr>
            <p:cNvSpPr/>
            <p:nvPr/>
          </p:nvSpPr>
          <p:spPr>
            <a:xfrm>
              <a:off x="7464722" y="4398671"/>
              <a:ext cx="753067" cy="637328"/>
            </a:xfrm>
            <a:prstGeom prst="cloudCallout">
              <a:avLst>
                <a:gd name="adj1" fmla="val -2569"/>
                <a:gd name="adj2" fmla="val 72065"/>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120" name="Graphique 119" descr="Serveuse avec un remplissage uni">
              <a:extLst>
                <a:ext uri="{FF2B5EF4-FFF2-40B4-BE49-F238E27FC236}">
                  <a16:creationId xmlns:a16="http://schemas.microsoft.com/office/drawing/2014/main" id="{A6AC1E1F-51E1-C098-AF88-6CF070385C9A}"/>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6318837" y="4492544"/>
              <a:ext cx="475753" cy="475753"/>
            </a:xfrm>
            <a:prstGeom prst="rect">
              <a:avLst/>
            </a:prstGeom>
          </p:spPr>
        </p:pic>
        <p:pic>
          <p:nvPicPr>
            <p:cNvPr id="121" name="Graphique 120" descr="Femme soudeuse avec un remplissage uni">
              <a:extLst>
                <a:ext uri="{FF2B5EF4-FFF2-40B4-BE49-F238E27FC236}">
                  <a16:creationId xmlns:a16="http://schemas.microsoft.com/office/drawing/2014/main" id="{6808E9DD-85AE-440B-166C-A4E1E7CA385E}"/>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6965616" y="4455964"/>
              <a:ext cx="475753" cy="475753"/>
            </a:xfrm>
            <a:prstGeom prst="rect">
              <a:avLst/>
            </a:prstGeom>
          </p:spPr>
        </p:pic>
        <p:pic>
          <p:nvPicPr>
            <p:cNvPr id="122" name="Graphique 121" descr="Femme juge avec un remplissage uni">
              <a:extLst>
                <a:ext uri="{FF2B5EF4-FFF2-40B4-BE49-F238E27FC236}">
                  <a16:creationId xmlns:a16="http://schemas.microsoft.com/office/drawing/2014/main" id="{680BC681-5893-6520-5157-8023D79CEE54}"/>
                </a:ext>
              </a:extLst>
            </p:cNvPr>
            <p:cNvPicPr>
              <a:picLocks noChangeAspect="1"/>
            </p:cNvPicPr>
            <p:nvPr/>
          </p:nvPicPr>
          <p:blipFill>
            <a:blip r:embed="rId74">
              <a:extLst>
                <a:ext uri="{28A0092B-C50C-407E-A947-70E740481C1C}">
                  <a14:useLocalDpi xmlns:a14="http://schemas.microsoft.com/office/drawing/2010/main" val="0"/>
                </a:ext>
                <a:ext uri="{96DAC541-7B7A-43D3-8B79-37D633B846F1}">
                  <asvg:svgBlip xmlns:asvg="http://schemas.microsoft.com/office/drawing/2016/SVG/main" r:embed="rId75"/>
                </a:ext>
              </a:extLst>
            </a:blip>
            <a:stretch>
              <a:fillRect/>
            </a:stretch>
          </p:blipFill>
          <p:spPr>
            <a:xfrm>
              <a:off x="7596748" y="4468631"/>
              <a:ext cx="475753" cy="475753"/>
            </a:xfrm>
            <a:prstGeom prst="rect">
              <a:avLst/>
            </a:prstGeom>
          </p:spPr>
        </p:pic>
      </p:grpSp>
      <p:grpSp>
        <p:nvGrpSpPr>
          <p:cNvPr id="123" name="Groupe 122">
            <a:extLst>
              <a:ext uri="{FF2B5EF4-FFF2-40B4-BE49-F238E27FC236}">
                <a16:creationId xmlns:a16="http://schemas.microsoft.com/office/drawing/2014/main" id="{D4EF21A2-218B-BE3C-4FE9-E1312BD5AD36}"/>
              </a:ext>
            </a:extLst>
          </p:cNvPr>
          <p:cNvGrpSpPr/>
          <p:nvPr/>
        </p:nvGrpSpPr>
        <p:grpSpPr>
          <a:xfrm>
            <a:off x="1261007" y="5469825"/>
            <a:ext cx="1130844" cy="1308173"/>
            <a:chOff x="8169544" y="4593734"/>
            <a:chExt cx="1902980" cy="2201389"/>
          </a:xfrm>
        </p:grpSpPr>
        <p:sp>
          <p:nvSpPr>
            <p:cNvPr id="124" name="ZoneTexte 123">
              <a:extLst>
                <a:ext uri="{FF2B5EF4-FFF2-40B4-BE49-F238E27FC236}">
                  <a16:creationId xmlns:a16="http://schemas.microsoft.com/office/drawing/2014/main" id="{9AE79F72-0536-A9E0-9AF0-7674FF00A37D}"/>
                </a:ext>
              </a:extLst>
            </p:cNvPr>
            <p:cNvSpPr txBox="1"/>
            <p:nvPr/>
          </p:nvSpPr>
          <p:spPr>
            <a:xfrm>
              <a:off x="8169544" y="5603895"/>
              <a:ext cx="1902980" cy="1191228"/>
            </a:xfrm>
            <a:prstGeom prst="rect">
              <a:avLst/>
            </a:prstGeom>
            <a:solidFill>
              <a:srgbClr val="ED7D31"/>
            </a:solidFill>
          </p:spPr>
          <p:txBody>
            <a:bodyPr wrap="square" anchor="t">
              <a:spAutoFit/>
            </a:bodyPr>
            <a:lstStyle/>
            <a:p>
              <a:pPr algn="ctr"/>
              <a:r>
                <a:rPr lang="fr-FR" sz="800" dirty="0"/>
                <a:t>Niveaux de reconnaissance extérieure sur une compétence commune</a:t>
              </a:r>
            </a:p>
          </p:txBody>
        </p:sp>
        <p:pic>
          <p:nvPicPr>
            <p:cNvPr id="125" name="Graphique 124" descr="Trophée avec un remplissage uni">
              <a:extLst>
                <a:ext uri="{FF2B5EF4-FFF2-40B4-BE49-F238E27FC236}">
                  <a16:creationId xmlns:a16="http://schemas.microsoft.com/office/drawing/2014/main" id="{D1D8E8BF-952B-9D99-C2E8-803E8B32E219}"/>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9424926" y="4593734"/>
              <a:ext cx="596624" cy="596624"/>
            </a:xfrm>
            <a:prstGeom prst="rect">
              <a:avLst/>
            </a:prstGeom>
          </p:spPr>
        </p:pic>
        <p:pic>
          <p:nvPicPr>
            <p:cNvPr id="126" name="Graphique 125" descr="Médaille avec un remplissage uni">
              <a:extLst>
                <a:ext uri="{FF2B5EF4-FFF2-40B4-BE49-F238E27FC236}">
                  <a16:creationId xmlns:a16="http://schemas.microsoft.com/office/drawing/2014/main" id="{151B2175-5057-9F09-205D-69F0B955D31B}"/>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8836153" y="4602237"/>
              <a:ext cx="596624" cy="596624"/>
            </a:xfrm>
            <a:prstGeom prst="rect">
              <a:avLst/>
            </a:prstGeom>
          </p:spPr>
        </p:pic>
        <p:pic>
          <p:nvPicPr>
            <p:cNvPr id="127" name="Graphique 126" descr="Utilisateur avec un remplissage uni">
              <a:extLst>
                <a:ext uri="{FF2B5EF4-FFF2-40B4-BE49-F238E27FC236}">
                  <a16:creationId xmlns:a16="http://schemas.microsoft.com/office/drawing/2014/main" id="{F631C639-F0AD-EFFD-5899-E98230ADA96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268375" y="5191381"/>
              <a:ext cx="404226" cy="404227"/>
            </a:xfrm>
            <a:prstGeom prst="rect">
              <a:avLst/>
            </a:prstGeom>
          </p:spPr>
        </p:pic>
        <p:pic>
          <p:nvPicPr>
            <p:cNvPr id="128" name="Graphique 127" descr="Utilisateur avec un remplissage uni">
              <a:extLst>
                <a:ext uri="{FF2B5EF4-FFF2-40B4-BE49-F238E27FC236}">
                  <a16:creationId xmlns:a16="http://schemas.microsoft.com/office/drawing/2014/main" id="{973B97B9-4894-8E06-704F-276605B64E0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31881" y="5191381"/>
              <a:ext cx="404226" cy="404227"/>
            </a:xfrm>
            <a:prstGeom prst="rect">
              <a:avLst/>
            </a:prstGeom>
          </p:spPr>
        </p:pic>
        <p:pic>
          <p:nvPicPr>
            <p:cNvPr id="129" name="Graphique 128" descr="Utilisateur avec un remplissage uni">
              <a:extLst>
                <a:ext uri="{FF2B5EF4-FFF2-40B4-BE49-F238E27FC236}">
                  <a16:creationId xmlns:a16="http://schemas.microsoft.com/office/drawing/2014/main" id="{546072CA-58EE-8C25-27F8-CDBBA2D31F9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82184" y="5191381"/>
              <a:ext cx="404226" cy="404227"/>
            </a:xfrm>
            <a:prstGeom prst="rect">
              <a:avLst/>
            </a:prstGeom>
          </p:spPr>
        </p:pic>
        <p:pic>
          <p:nvPicPr>
            <p:cNvPr id="130" name="Graphique 129" descr="Signe pouce en haut avec un remplissage uni">
              <a:extLst>
                <a:ext uri="{FF2B5EF4-FFF2-40B4-BE49-F238E27FC236}">
                  <a16:creationId xmlns:a16="http://schemas.microsoft.com/office/drawing/2014/main" id="{5AEA209C-9B39-8813-B951-56E8C7989258}"/>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8306608" y="4657979"/>
              <a:ext cx="404227" cy="404227"/>
            </a:xfrm>
            <a:prstGeom prst="rect">
              <a:avLst/>
            </a:prstGeom>
          </p:spPr>
        </p:pic>
      </p:grpSp>
      <p:pic>
        <p:nvPicPr>
          <p:cNvPr id="133" name="Graphique 132" descr="Retour avec un remplissage uni">
            <a:extLst>
              <a:ext uri="{FF2B5EF4-FFF2-40B4-BE49-F238E27FC236}">
                <a16:creationId xmlns:a16="http://schemas.microsoft.com/office/drawing/2014/main" id="{D3EACD0C-C862-94E6-F3A5-98E2797D435C}"/>
              </a:ext>
            </a:extLst>
          </p:cNvPr>
          <p:cNvPicPr>
            <a:picLocks noChangeAspect="1"/>
          </p:cNvPicPr>
          <p:nvPr/>
        </p:nvPicPr>
        <p:blipFill>
          <a:blip r:embed="rId82">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rot="838547">
            <a:off x="3698109" y="1875465"/>
            <a:ext cx="3522958" cy="2479479"/>
          </a:xfrm>
          <a:prstGeom prst="rect">
            <a:avLst/>
          </a:prstGeom>
        </p:spPr>
      </p:pic>
    </p:spTree>
    <p:extLst>
      <p:ext uri="{BB962C8B-B14F-4D97-AF65-F5344CB8AC3E}">
        <p14:creationId xmlns:p14="http://schemas.microsoft.com/office/powerpoint/2010/main" val="208633645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38200" y="365125"/>
            <a:ext cx="10515600" cy="972139"/>
          </a:xfrm>
        </p:spPr>
        <p:txBody>
          <a:bodyPr>
            <a:normAutofit fontScale="90000"/>
          </a:bodyPr>
          <a:lstStyle/>
          <a:p>
            <a:pPr algn="ctr"/>
            <a:r>
              <a:rPr lang="fr-FR" dirty="0"/>
              <a:t>Les Communautés sont des </a:t>
            </a:r>
            <a:r>
              <a:rPr lang="fr-FR" b="1" dirty="0">
                <a:solidFill>
                  <a:srgbClr val="3494BA"/>
                </a:solidFill>
              </a:rPr>
              <a:t>formes collectives d’échange</a:t>
            </a: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9648" y="1508115"/>
            <a:ext cx="1722120" cy="1722120"/>
          </a:xfrm>
          <a:prstGeom prst="rect">
            <a:avLst/>
          </a:prstGeom>
        </p:spPr>
      </p:pic>
      <p:grpSp>
        <p:nvGrpSpPr>
          <p:cNvPr id="6" name="Groupe 5">
            <a:extLst>
              <a:ext uri="{FF2B5EF4-FFF2-40B4-BE49-F238E27FC236}">
                <a16:creationId xmlns:a16="http://schemas.microsoft.com/office/drawing/2014/main" id="{7476B3F7-0E49-6E93-93F4-2CCC981FDD10}"/>
              </a:ext>
            </a:extLst>
          </p:cNvPr>
          <p:cNvGrpSpPr/>
          <p:nvPr/>
        </p:nvGrpSpPr>
        <p:grpSpPr>
          <a:xfrm>
            <a:off x="1673791" y="1733858"/>
            <a:ext cx="1507135" cy="1270634"/>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85601AF8-2B04-4E1B-777C-E4413355E47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3E913BB0-FF45-71E9-FA50-B619CC080BD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52716CDC-FB48-B5C6-CF66-93C81E6EDE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23F83B7B-C6FA-2ED2-8553-6F6F0C6131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5D1AB12-E11E-33B6-F232-60FD45CD3A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179153A9-C2D4-FEE9-F6C5-81D0FAA9EA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2294F9BC-F46F-719B-195C-8E1B7051453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031A82AD-99E7-73E7-E1D8-670CE8EEC70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76053F00-0709-53DD-642A-0F70CA86F80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7EA7E823-16A3-8130-20D7-959E93468B4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91FD713F-1A16-30AC-B049-C388F6E8690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8" name="Flèche : droite 17">
            <a:extLst>
              <a:ext uri="{FF2B5EF4-FFF2-40B4-BE49-F238E27FC236}">
                <a16:creationId xmlns:a16="http://schemas.microsoft.com/office/drawing/2014/main" id="{F4781031-0E93-D593-CF10-BDB1AA037E51}"/>
              </a:ext>
            </a:extLst>
          </p:cNvPr>
          <p:cNvSpPr/>
          <p:nvPr/>
        </p:nvSpPr>
        <p:spPr>
          <a:xfrm rot="19508911" flipH="1">
            <a:off x="7368610" y="3025527"/>
            <a:ext cx="1189456" cy="623864"/>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2</a:t>
            </a:r>
          </a:p>
        </p:txBody>
      </p:sp>
      <p:sp>
        <p:nvSpPr>
          <p:cNvPr id="19" name="Flèche : gauche 18">
            <a:extLst>
              <a:ext uri="{FF2B5EF4-FFF2-40B4-BE49-F238E27FC236}">
                <a16:creationId xmlns:a16="http://schemas.microsoft.com/office/drawing/2014/main" id="{6D5580D4-B17B-8DFC-603C-00CBE6E0E36A}"/>
              </a:ext>
            </a:extLst>
          </p:cNvPr>
          <p:cNvSpPr/>
          <p:nvPr/>
        </p:nvSpPr>
        <p:spPr>
          <a:xfrm rot="1525700" flipH="1">
            <a:off x="3685118" y="2956595"/>
            <a:ext cx="1189456" cy="623864"/>
          </a:xfrm>
          <a:prstGeom prst="lef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1</a:t>
            </a:r>
          </a:p>
        </p:txBody>
      </p:sp>
      <p:sp>
        <p:nvSpPr>
          <p:cNvPr id="25" name="Titre 1">
            <a:extLst>
              <a:ext uri="{FF2B5EF4-FFF2-40B4-BE49-F238E27FC236}">
                <a16:creationId xmlns:a16="http://schemas.microsoft.com/office/drawing/2014/main" id="{127D5BF5-5FC9-314C-D2D9-88F28910195A}"/>
              </a:ext>
            </a:extLst>
          </p:cNvPr>
          <p:cNvSpPr txBox="1">
            <a:spLocks/>
          </p:cNvSpPr>
          <p:nvPr/>
        </p:nvSpPr>
        <p:spPr>
          <a:xfrm>
            <a:off x="4771164" y="5161080"/>
            <a:ext cx="2584264"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Communautés de l’entreprise </a:t>
            </a:r>
          </a:p>
        </p:txBody>
      </p:sp>
      <p:sp>
        <p:nvSpPr>
          <p:cNvPr id="26" name="Titre 1">
            <a:extLst>
              <a:ext uri="{FF2B5EF4-FFF2-40B4-BE49-F238E27FC236}">
                <a16:creationId xmlns:a16="http://schemas.microsoft.com/office/drawing/2014/main" id="{D15593DD-8CE1-2ECC-2B5D-DB98437039FD}"/>
              </a:ext>
            </a:extLst>
          </p:cNvPr>
          <p:cNvSpPr txBox="1">
            <a:spLocks/>
          </p:cNvSpPr>
          <p:nvPr/>
        </p:nvSpPr>
        <p:spPr>
          <a:xfrm>
            <a:off x="8743885" y="3070009"/>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t>Entreprise (Institution)</a:t>
            </a:r>
          </a:p>
        </p:txBody>
      </p:sp>
      <p:sp>
        <p:nvSpPr>
          <p:cNvPr id="27" name="Titre 1">
            <a:extLst>
              <a:ext uri="{FF2B5EF4-FFF2-40B4-BE49-F238E27FC236}">
                <a16:creationId xmlns:a16="http://schemas.microsoft.com/office/drawing/2014/main" id="{999162AA-BCDD-DA6A-2370-E19673740052}"/>
              </a:ext>
            </a:extLst>
          </p:cNvPr>
          <p:cNvSpPr txBox="1">
            <a:spLocks/>
          </p:cNvSpPr>
          <p:nvPr/>
        </p:nvSpPr>
        <p:spPr>
          <a:xfrm>
            <a:off x="3605358" y="5754166"/>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solidFill>
                  <a:srgbClr val="ED7D31"/>
                </a:solidFill>
              </a:rPr>
              <a:t>Valeur pour les membres</a:t>
            </a:r>
          </a:p>
        </p:txBody>
      </p:sp>
      <p:sp>
        <p:nvSpPr>
          <p:cNvPr id="28" name="Titre 1">
            <a:extLst>
              <a:ext uri="{FF2B5EF4-FFF2-40B4-BE49-F238E27FC236}">
                <a16:creationId xmlns:a16="http://schemas.microsoft.com/office/drawing/2014/main" id="{2B5D222E-E2F2-535F-3F4A-2D35E291BBC5}"/>
              </a:ext>
            </a:extLst>
          </p:cNvPr>
          <p:cNvSpPr txBox="1">
            <a:spLocks/>
          </p:cNvSpPr>
          <p:nvPr/>
        </p:nvSpPr>
        <p:spPr>
          <a:xfrm>
            <a:off x="1618427" y="2920397"/>
            <a:ext cx="1537788" cy="329176"/>
          </a:xfrm>
          <a:prstGeom prst="rect">
            <a:avLst/>
          </a:prstGeom>
        </p:spPr>
        <p:txBody>
          <a:bodyPr vert="horz" lIns="91440" tIns="45720" rIns="91440" bIns="45720" rtlCol="0" anchor="ctr">
            <a:normAutofit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rgbClr val="ED7D31"/>
                </a:solidFill>
              </a:rPr>
              <a:t>Membres</a:t>
            </a:r>
          </a:p>
        </p:txBody>
      </p:sp>
      <p:grpSp>
        <p:nvGrpSpPr>
          <p:cNvPr id="97" name="Groupe 96">
            <a:extLst>
              <a:ext uri="{FF2B5EF4-FFF2-40B4-BE49-F238E27FC236}">
                <a16:creationId xmlns:a16="http://schemas.microsoft.com/office/drawing/2014/main" id="{E66F39EF-C59C-A783-BED5-226F02E84E36}"/>
              </a:ext>
            </a:extLst>
          </p:cNvPr>
          <p:cNvGrpSpPr/>
          <p:nvPr/>
        </p:nvGrpSpPr>
        <p:grpSpPr>
          <a:xfrm>
            <a:off x="419056" y="3833473"/>
            <a:ext cx="3321816" cy="2744288"/>
            <a:chOff x="-140890" y="3597102"/>
            <a:chExt cx="3910424" cy="3234360"/>
          </a:xfrm>
        </p:grpSpPr>
        <p:grpSp>
          <p:nvGrpSpPr>
            <p:cNvPr id="52" name="Groupe 51">
              <a:extLst>
                <a:ext uri="{FF2B5EF4-FFF2-40B4-BE49-F238E27FC236}">
                  <a16:creationId xmlns:a16="http://schemas.microsoft.com/office/drawing/2014/main" id="{212FDDD6-BFCE-3CAE-FD6D-8F681F6006AE}"/>
                </a:ext>
              </a:extLst>
            </p:cNvPr>
            <p:cNvGrpSpPr/>
            <p:nvPr/>
          </p:nvGrpSpPr>
          <p:grpSpPr>
            <a:xfrm>
              <a:off x="-140890" y="5754169"/>
              <a:ext cx="1537787" cy="922929"/>
              <a:chOff x="8129937" y="4169500"/>
              <a:chExt cx="1286847" cy="772323"/>
            </a:xfrm>
          </p:grpSpPr>
          <p:pic>
            <p:nvPicPr>
              <p:cNvPr id="53" name="Graphique 52" descr="Poignée de main avec un remplissage uni">
                <a:extLst>
                  <a:ext uri="{FF2B5EF4-FFF2-40B4-BE49-F238E27FC236}">
                    <a16:creationId xmlns:a16="http://schemas.microsoft.com/office/drawing/2014/main" id="{6B23F2EC-B1E2-A9B7-DB09-B2BD0369259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378292" y="4169500"/>
                <a:ext cx="703975" cy="703975"/>
              </a:xfrm>
              <a:prstGeom prst="rect">
                <a:avLst/>
              </a:prstGeom>
            </p:spPr>
          </p:pic>
          <p:sp>
            <p:nvSpPr>
              <p:cNvPr id="54" name="ZoneTexte 53">
                <a:extLst>
                  <a:ext uri="{FF2B5EF4-FFF2-40B4-BE49-F238E27FC236}">
                    <a16:creationId xmlns:a16="http://schemas.microsoft.com/office/drawing/2014/main" id="{71F63E6D-DAF8-D1B0-30ED-ECDBF00F1281}"/>
                  </a:ext>
                </a:extLst>
              </p:cNvPr>
              <p:cNvSpPr txBox="1"/>
              <p:nvPr/>
            </p:nvSpPr>
            <p:spPr>
              <a:xfrm>
                <a:off x="8129937" y="4747307"/>
                <a:ext cx="1286847" cy="194516"/>
              </a:xfrm>
              <a:prstGeom prst="rect">
                <a:avLst/>
              </a:prstGeom>
              <a:noFill/>
            </p:spPr>
            <p:txBody>
              <a:bodyPr wrap="square">
                <a:spAutoFit/>
              </a:bodyPr>
              <a:lstStyle/>
              <a:p>
                <a:pPr algn="ctr"/>
                <a:r>
                  <a:rPr lang="fr-FR" sz="800" dirty="0">
                    <a:solidFill>
                      <a:srgbClr val="ED7D31"/>
                    </a:solidFill>
                  </a:rPr>
                  <a:t>Lien avec les autres</a:t>
                </a:r>
              </a:p>
            </p:txBody>
          </p:sp>
        </p:grpSp>
        <p:grpSp>
          <p:nvGrpSpPr>
            <p:cNvPr id="55" name="Groupe 54">
              <a:extLst>
                <a:ext uri="{FF2B5EF4-FFF2-40B4-BE49-F238E27FC236}">
                  <a16:creationId xmlns:a16="http://schemas.microsoft.com/office/drawing/2014/main" id="{38F2F5A5-FB31-B6A3-CA87-8D1467906F2C}"/>
                </a:ext>
              </a:extLst>
            </p:cNvPr>
            <p:cNvGrpSpPr/>
            <p:nvPr/>
          </p:nvGrpSpPr>
          <p:grpSpPr>
            <a:xfrm>
              <a:off x="-8745" y="4861826"/>
              <a:ext cx="1095214" cy="882222"/>
              <a:chOff x="1718551" y="4252127"/>
              <a:chExt cx="916494" cy="738258"/>
            </a:xfrm>
          </p:grpSpPr>
          <p:grpSp>
            <p:nvGrpSpPr>
              <p:cNvPr id="56" name="Groupe 55">
                <a:extLst>
                  <a:ext uri="{FF2B5EF4-FFF2-40B4-BE49-F238E27FC236}">
                    <a16:creationId xmlns:a16="http://schemas.microsoft.com/office/drawing/2014/main" id="{02003F08-E0A4-FA31-1416-689D7654B376}"/>
                  </a:ext>
                </a:extLst>
              </p:cNvPr>
              <p:cNvGrpSpPr/>
              <p:nvPr/>
            </p:nvGrpSpPr>
            <p:grpSpPr>
              <a:xfrm>
                <a:off x="1812986" y="4252127"/>
                <a:ext cx="788755" cy="483536"/>
                <a:chOff x="8496164" y="663605"/>
                <a:chExt cx="2837988" cy="1739790"/>
              </a:xfrm>
            </p:grpSpPr>
            <p:pic>
              <p:nvPicPr>
                <p:cNvPr id="58" name="Graphique 57" descr="Évaluation 3 étoiles avec un remplissage uni">
                  <a:extLst>
                    <a:ext uri="{FF2B5EF4-FFF2-40B4-BE49-F238E27FC236}">
                      <a16:creationId xmlns:a16="http://schemas.microsoft.com/office/drawing/2014/main" id="{B77ADE86-1E69-298C-D46E-BDDAD4D0AB6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96164" y="663605"/>
                  <a:ext cx="1739790" cy="1739790"/>
                </a:xfrm>
                <a:prstGeom prst="rect">
                  <a:avLst/>
                </a:prstGeom>
              </p:spPr>
            </p:pic>
            <p:pic>
              <p:nvPicPr>
                <p:cNvPr id="59" name="Graphique 58" descr="Évaluation 3 étoiles avec un remplissage uni">
                  <a:extLst>
                    <a:ext uri="{FF2B5EF4-FFF2-40B4-BE49-F238E27FC236}">
                      <a16:creationId xmlns:a16="http://schemas.microsoft.com/office/drawing/2014/main" id="{64ED05D3-C519-4A62-EE67-8127AEF8D3DE}"/>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l="33972"/>
                <a:stretch/>
              </p:blipFill>
              <p:spPr>
                <a:xfrm>
                  <a:off x="10185399" y="663605"/>
                  <a:ext cx="1148753" cy="1739790"/>
                </a:xfrm>
                <a:prstGeom prst="rect">
                  <a:avLst/>
                </a:prstGeom>
              </p:spPr>
            </p:pic>
          </p:grpSp>
          <p:sp>
            <p:nvSpPr>
              <p:cNvPr id="57" name="ZoneTexte 56">
                <a:extLst>
                  <a:ext uri="{FF2B5EF4-FFF2-40B4-BE49-F238E27FC236}">
                    <a16:creationId xmlns:a16="http://schemas.microsoft.com/office/drawing/2014/main" id="{9A6E7B02-75FC-9D78-5E9C-E1898D586D19}"/>
                  </a:ext>
                </a:extLst>
              </p:cNvPr>
              <p:cNvSpPr txBox="1"/>
              <p:nvPr/>
            </p:nvSpPr>
            <p:spPr>
              <a:xfrm>
                <a:off x="1718551" y="4684718"/>
                <a:ext cx="916494" cy="305667"/>
              </a:xfrm>
              <a:prstGeom prst="rect">
                <a:avLst/>
              </a:prstGeom>
              <a:noFill/>
            </p:spPr>
            <p:txBody>
              <a:bodyPr wrap="square">
                <a:spAutoFit/>
              </a:bodyPr>
              <a:lstStyle/>
              <a:p>
                <a:pPr algn="ctr"/>
                <a:r>
                  <a:rPr lang="fr-FR" sz="800" dirty="0">
                    <a:solidFill>
                      <a:srgbClr val="ED7D31"/>
                    </a:solidFill>
                  </a:rPr>
                  <a:t>Stimulation et bien être</a:t>
                </a:r>
              </a:p>
            </p:txBody>
          </p:sp>
        </p:grpSp>
        <p:grpSp>
          <p:nvGrpSpPr>
            <p:cNvPr id="60" name="Groupe 59">
              <a:extLst>
                <a:ext uri="{FF2B5EF4-FFF2-40B4-BE49-F238E27FC236}">
                  <a16:creationId xmlns:a16="http://schemas.microsoft.com/office/drawing/2014/main" id="{1BF77472-2A66-B1FF-B625-B09A27A277E2}"/>
                </a:ext>
              </a:extLst>
            </p:cNvPr>
            <p:cNvGrpSpPr/>
            <p:nvPr/>
          </p:nvGrpSpPr>
          <p:grpSpPr>
            <a:xfrm>
              <a:off x="2272155" y="5975035"/>
              <a:ext cx="1386196" cy="727816"/>
              <a:chOff x="476026" y="4189903"/>
              <a:chExt cx="1159993" cy="609049"/>
            </a:xfrm>
          </p:grpSpPr>
          <p:sp>
            <p:nvSpPr>
              <p:cNvPr id="61" name="ZoneTexte 60">
                <a:extLst>
                  <a:ext uri="{FF2B5EF4-FFF2-40B4-BE49-F238E27FC236}">
                    <a16:creationId xmlns:a16="http://schemas.microsoft.com/office/drawing/2014/main" id="{579FC644-685F-5E10-ECAE-BA3F43768256}"/>
                  </a:ext>
                </a:extLst>
              </p:cNvPr>
              <p:cNvSpPr txBox="1"/>
              <p:nvPr/>
            </p:nvSpPr>
            <p:spPr>
              <a:xfrm>
                <a:off x="476026" y="4604436"/>
                <a:ext cx="1159993" cy="194516"/>
              </a:xfrm>
              <a:prstGeom prst="rect">
                <a:avLst/>
              </a:prstGeom>
              <a:noFill/>
            </p:spPr>
            <p:txBody>
              <a:bodyPr wrap="square">
                <a:spAutoFit/>
              </a:bodyPr>
              <a:lstStyle/>
              <a:p>
                <a:pPr algn="ctr"/>
                <a:r>
                  <a:rPr lang="fr-FR" sz="800" dirty="0">
                    <a:solidFill>
                      <a:srgbClr val="ED7D31"/>
                    </a:solidFill>
                  </a:rPr>
                  <a:t>Liberté et temps libre</a:t>
                </a:r>
              </a:p>
            </p:txBody>
          </p:sp>
          <p:pic>
            <p:nvPicPr>
              <p:cNvPr id="62" name="Graphique 61" descr="Sablier plein avec un remplissage uni">
                <a:extLst>
                  <a:ext uri="{FF2B5EF4-FFF2-40B4-BE49-F238E27FC236}">
                    <a16:creationId xmlns:a16="http://schemas.microsoft.com/office/drawing/2014/main" id="{9CBF49BC-1FF4-AB8F-AF61-800A9DD1580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63793" y="4189903"/>
                <a:ext cx="384459" cy="384459"/>
              </a:xfrm>
              <a:prstGeom prst="rect">
                <a:avLst/>
              </a:prstGeom>
            </p:spPr>
          </p:pic>
        </p:grpSp>
        <p:grpSp>
          <p:nvGrpSpPr>
            <p:cNvPr id="63" name="Groupe 62">
              <a:extLst>
                <a:ext uri="{FF2B5EF4-FFF2-40B4-BE49-F238E27FC236}">
                  <a16:creationId xmlns:a16="http://schemas.microsoft.com/office/drawing/2014/main" id="{5C18C28A-EF67-ABB3-2335-82CB5962FD64}"/>
                </a:ext>
              </a:extLst>
            </p:cNvPr>
            <p:cNvGrpSpPr/>
            <p:nvPr/>
          </p:nvGrpSpPr>
          <p:grpSpPr>
            <a:xfrm>
              <a:off x="2181210" y="4763092"/>
              <a:ext cx="1588324" cy="997759"/>
              <a:chOff x="9261999" y="4264199"/>
              <a:chExt cx="1329135" cy="834941"/>
            </a:xfrm>
          </p:grpSpPr>
          <p:sp>
            <p:nvSpPr>
              <p:cNvPr id="64" name="ZoneTexte 63">
                <a:extLst>
                  <a:ext uri="{FF2B5EF4-FFF2-40B4-BE49-F238E27FC236}">
                    <a16:creationId xmlns:a16="http://schemas.microsoft.com/office/drawing/2014/main" id="{01EEB655-B951-4281-B089-966833675D16}"/>
                  </a:ext>
                </a:extLst>
              </p:cNvPr>
              <p:cNvSpPr txBox="1"/>
              <p:nvPr/>
            </p:nvSpPr>
            <p:spPr>
              <a:xfrm>
                <a:off x="9261999" y="4793473"/>
                <a:ext cx="1329135" cy="305667"/>
              </a:xfrm>
              <a:prstGeom prst="rect">
                <a:avLst/>
              </a:prstGeom>
              <a:noFill/>
            </p:spPr>
            <p:txBody>
              <a:bodyPr wrap="square">
                <a:spAutoFit/>
              </a:bodyPr>
              <a:lstStyle/>
              <a:p>
                <a:pPr algn="ctr"/>
                <a:r>
                  <a:rPr lang="fr-FR" sz="800" dirty="0">
                    <a:solidFill>
                      <a:srgbClr val="ED7D31"/>
                    </a:solidFill>
                  </a:rPr>
                  <a:t>Satisfaction des obligations et responsabilités existantes</a:t>
                </a:r>
              </a:p>
            </p:txBody>
          </p:sp>
          <p:pic>
            <p:nvPicPr>
              <p:cNvPr id="65" name="Graphique 64" descr="Presse-papiers vérifié avec un remplissage uni">
                <a:extLst>
                  <a:ext uri="{FF2B5EF4-FFF2-40B4-BE49-F238E27FC236}">
                    <a16:creationId xmlns:a16="http://schemas.microsoft.com/office/drawing/2014/main" id="{448751C9-5DF4-4B80-1998-52556ECFF9C6}"/>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736710" y="4264199"/>
                <a:ext cx="491025" cy="491024"/>
              </a:xfrm>
              <a:prstGeom prst="rect">
                <a:avLst/>
              </a:prstGeom>
            </p:spPr>
          </p:pic>
        </p:grpSp>
        <p:grpSp>
          <p:nvGrpSpPr>
            <p:cNvPr id="66" name="Groupe 65">
              <a:extLst>
                <a:ext uri="{FF2B5EF4-FFF2-40B4-BE49-F238E27FC236}">
                  <a16:creationId xmlns:a16="http://schemas.microsoft.com/office/drawing/2014/main" id="{71B0E8E7-B96F-BCEA-3806-06230590E651}"/>
                </a:ext>
              </a:extLst>
            </p:cNvPr>
            <p:cNvGrpSpPr/>
            <p:nvPr/>
          </p:nvGrpSpPr>
          <p:grpSpPr>
            <a:xfrm>
              <a:off x="9553" y="3732690"/>
              <a:ext cx="1243406" cy="1018342"/>
              <a:chOff x="2837626" y="4300316"/>
              <a:chExt cx="1185459" cy="852166"/>
            </a:xfrm>
          </p:grpSpPr>
          <p:pic>
            <p:nvPicPr>
              <p:cNvPr id="67" name="Graphique 66" descr="Aspiration avec un remplissage uni">
                <a:extLst>
                  <a:ext uri="{FF2B5EF4-FFF2-40B4-BE49-F238E27FC236}">
                    <a16:creationId xmlns:a16="http://schemas.microsoft.com/office/drawing/2014/main" id="{68655656-B4C6-5817-1FD0-413BE6FF8A7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147046" y="4300316"/>
                <a:ext cx="585744" cy="473265"/>
              </a:xfrm>
              <a:prstGeom prst="rect">
                <a:avLst/>
              </a:prstGeom>
            </p:spPr>
          </p:pic>
          <p:sp>
            <p:nvSpPr>
              <p:cNvPr id="68" name="ZoneTexte 67">
                <a:extLst>
                  <a:ext uri="{FF2B5EF4-FFF2-40B4-BE49-F238E27FC236}">
                    <a16:creationId xmlns:a16="http://schemas.microsoft.com/office/drawing/2014/main" id="{FFD7AB0F-9B07-367D-555E-58633287872C}"/>
                  </a:ext>
                </a:extLst>
              </p:cNvPr>
              <p:cNvSpPr txBox="1"/>
              <p:nvPr/>
            </p:nvSpPr>
            <p:spPr>
              <a:xfrm>
                <a:off x="2837626" y="4735663"/>
                <a:ext cx="1185459" cy="416819"/>
              </a:xfrm>
              <a:prstGeom prst="rect">
                <a:avLst/>
              </a:prstGeom>
              <a:noFill/>
            </p:spPr>
            <p:txBody>
              <a:bodyPr wrap="square">
                <a:spAutoFit/>
              </a:bodyPr>
              <a:lstStyle/>
              <a:p>
                <a:pPr algn="ctr"/>
                <a:r>
                  <a:rPr lang="fr-FR" sz="800" dirty="0">
                    <a:solidFill>
                      <a:srgbClr val="ED7D31"/>
                    </a:solidFill>
                  </a:rPr>
                  <a:t>Développement de compétences et réalisation de soi</a:t>
                </a:r>
              </a:p>
            </p:txBody>
          </p:sp>
        </p:grpSp>
        <p:grpSp>
          <p:nvGrpSpPr>
            <p:cNvPr id="69" name="Groupe 68">
              <a:extLst>
                <a:ext uri="{FF2B5EF4-FFF2-40B4-BE49-F238E27FC236}">
                  <a16:creationId xmlns:a16="http://schemas.microsoft.com/office/drawing/2014/main" id="{159E6E55-4EA8-71EC-C5AD-203D66233400}"/>
                </a:ext>
              </a:extLst>
            </p:cNvPr>
            <p:cNvGrpSpPr/>
            <p:nvPr/>
          </p:nvGrpSpPr>
          <p:grpSpPr>
            <a:xfrm>
              <a:off x="2450530" y="3597102"/>
              <a:ext cx="1195708" cy="916152"/>
              <a:chOff x="6088603" y="4144848"/>
              <a:chExt cx="1000589" cy="766653"/>
            </a:xfrm>
          </p:grpSpPr>
          <p:pic>
            <p:nvPicPr>
              <p:cNvPr id="70" name="Graphique 69" descr="Globe terrestre : Europe et Afrique avec un remplissage uni">
                <a:extLst>
                  <a:ext uri="{FF2B5EF4-FFF2-40B4-BE49-F238E27FC236}">
                    <a16:creationId xmlns:a16="http://schemas.microsoft.com/office/drawing/2014/main" id="{9032F40F-0EBD-B601-F22C-05DA8A722BD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6278977" y="4144848"/>
                <a:ext cx="643205" cy="643205"/>
              </a:xfrm>
              <a:prstGeom prst="rect">
                <a:avLst/>
              </a:prstGeom>
            </p:spPr>
          </p:pic>
          <p:sp>
            <p:nvSpPr>
              <p:cNvPr id="71" name="ZoneTexte 70">
                <a:extLst>
                  <a:ext uri="{FF2B5EF4-FFF2-40B4-BE49-F238E27FC236}">
                    <a16:creationId xmlns:a16="http://schemas.microsoft.com/office/drawing/2014/main" id="{0FD20FD3-36DA-7DA2-BB96-8A4D4791756C}"/>
                  </a:ext>
                </a:extLst>
              </p:cNvPr>
              <p:cNvSpPr txBox="1"/>
              <p:nvPr/>
            </p:nvSpPr>
            <p:spPr>
              <a:xfrm>
                <a:off x="6088603" y="4716985"/>
                <a:ext cx="1000589" cy="194516"/>
              </a:xfrm>
              <a:prstGeom prst="rect">
                <a:avLst/>
              </a:prstGeom>
              <a:noFill/>
            </p:spPr>
            <p:txBody>
              <a:bodyPr wrap="square">
                <a:spAutoFit/>
              </a:bodyPr>
              <a:lstStyle/>
              <a:p>
                <a:pPr algn="ctr"/>
                <a:r>
                  <a:rPr lang="fr-FR" sz="800" dirty="0">
                    <a:solidFill>
                      <a:srgbClr val="ED7D31"/>
                    </a:solidFill>
                  </a:rPr>
                  <a:t>Impact positif et sens</a:t>
                </a:r>
              </a:p>
            </p:txBody>
          </p:sp>
        </p:grpSp>
        <p:grpSp>
          <p:nvGrpSpPr>
            <p:cNvPr id="72" name="Groupe 71">
              <a:extLst>
                <a:ext uri="{FF2B5EF4-FFF2-40B4-BE49-F238E27FC236}">
                  <a16:creationId xmlns:a16="http://schemas.microsoft.com/office/drawing/2014/main" id="{A71D33F1-0361-5DE9-4D0D-B17CD01E0699}"/>
                </a:ext>
              </a:extLst>
            </p:cNvPr>
            <p:cNvGrpSpPr/>
            <p:nvPr/>
          </p:nvGrpSpPr>
          <p:grpSpPr>
            <a:xfrm>
              <a:off x="1274367" y="4956928"/>
              <a:ext cx="987543" cy="790803"/>
              <a:chOff x="7187274" y="4362847"/>
              <a:chExt cx="826392" cy="661756"/>
            </a:xfrm>
          </p:grpSpPr>
          <p:pic>
            <p:nvPicPr>
              <p:cNvPr id="73" name="Graphique 72" descr="Coffre au trésor avec un remplissage uni">
                <a:extLst>
                  <a:ext uri="{FF2B5EF4-FFF2-40B4-BE49-F238E27FC236}">
                    <a16:creationId xmlns:a16="http://schemas.microsoft.com/office/drawing/2014/main" id="{FE8E0EFD-4F6A-A82E-AECF-03EC2A93E3E0}"/>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414162" y="4362847"/>
                <a:ext cx="384457" cy="384458"/>
              </a:xfrm>
              <a:prstGeom prst="rect">
                <a:avLst/>
              </a:prstGeom>
            </p:spPr>
          </p:pic>
          <p:sp>
            <p:nvSpPr>
              <p:cNvPr id="74" name="ZoneTexte 73">
                <a:extLst>
                  <a:ext uri="{FF2B5EF4-FFF2-40B4-BE49-F238E27FC236}">
                    <a16:creationId xmlns:a16="http://schemas.microsoft.com/office/drawing/2014/main" id="{6F33E9F8-32CD-3ACE-7DD8-FBC3C72EEFCF}"/>
                  </a:ext>
                </a:extLst>
              </p:cNvPr>
              <p:cNvSpPr txBox="1"/>
              <p:nvPr/>
            </p:nvSpPr>
            <p:spPr>
              <a:xfrm>
                <a:off x="7187274" y="4718937"/>
                <a:ext cx="826392" cy="305666"/>
              </a:xfrm>
              <a:prstGeom prst="rect">
                <a:avLst/>
              </a:prstGeom>
              <a:noFill/>
            </p:spPr>
            <p:txBody>
              <a:bodyPr wrap="square">
                <a:spAutoFit/>
              </a:bodyPr>
              <a:lstStyle/>
              <a:p>
                <a:pPr algn="ctr"/>
                <a:r>
                  <a:rPr lang="fr-FR" sz="800" dirty="0">
                    <a:solidFill>
                      <a:srgbClr val="ED7D31"/>
                    </a:solidFill>
                  </a:rPr>
                  <a:t>Bien matériels et financiers</a:t>
                </a:r>
              </a:p>
            </p:txBody>
          </p:sp>
        </p:grpSp>
        <p:pic>
          <p:nvPicPr>
            <p:cNvPr id="76" name="Graphique 75" descr="Pinceau avec un remplissage uni">
              <a:extLst>
                <a:ext uri="{FF2B5EF4-FFF2-40B4-BE49-F238E27FC236}">
                  <a16:creationId xmlns:a16="http://schemas.microsoft.com/office/drawing/2014/main" id="{63ACBCA3-C5B0-780B-3704-CC4A49CD2FB4}"/>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445494" y="5804063"/>
              <a:ext cx="613032" cy="613032"/>
            </a:xfrm>
            <a:prstGeom prst="rect">
              <a:avLst/>
            </a:prstGeom>
          </p:spPr>
        </p:pic>
        <p:sp>
          <p:nvSpPr>
            <p:cNvPr id="77" name="ZoneTexte 76">
              <a:extLst>
                <a:ext uri="{FF2B5EF4-FFF2-40B4-BE49-F238E27FC236}">
                  <a16:creationId xmlns:a16="http://schemas.microsoft.com/office/drawing/2014/main" id="{65136D71-DEFA-1868-77DC-4D02E6EED60E}"/>
                </a:ext>
              </a:extLst>
            </p:cNvPr>
            <p:cNvSpPr txBox="1"/>
            <p:nvPr/>
          </p:nvSpPr>
          <p:spPr>
            <a:xfrm>
              <a:off x="1105594" y="6466188"/>
              <a:ext cx="1195708" cy="365274"/>
            </a:xfrm>
            <a:prstGeom prst="rect">
              <a:avLst/>
            </a:prstGeom>
            <a:noFill/>
          </p:spPr>
          <p:txBody>
            <a:bodyPr wrap="square">
              <a:spAutoFit/>
            </a:bodyPr>
            <a:lstStyle/>
            <a:p>
              <a:pPr algn="ctr"/>
              <a:r>
                <a:rPr lang="fr-FR" sz="800" dirty="0">
                  <a:solidFill>
                    <a:srgbClr val="ED7D31"/>
                  </a:solidFill>
                </a:rPr>
                <a:t>Espace créatif et expression de soi</a:t>
              </a:r>
            </a:p>
          </p:txBody>
        </p:sp>
        <p:grpSp>
          <p:nvGrpSpPr>
            <p:cNvPr id="78" name="Groupe 77">
              <a:extLst>
                <a:ext uri="{FF2B5EF4-FFF2-40B4-BE49-F238E27FC236}">
                  <a16:creationId xmlns:a16="http://schemas.microsoft.com/office/drawing/2014/main" id="{6915DBF0-89D8-7D7A-D3C1-D6E508AEADD7}"/>
                </a:ext>
              </a:extLst>
            </p:cNvPr>
            <p:cNvGrpSpPr/>
            <p:nvPr/>
          </p:nvGrpSpPr>
          <p:grpSpPr>
            <a:xfrm>
              <a:off x="1305234" y="3619701"/>
              <a:ext cx="1042385" cy="1031410"/>
              <a:chOff x="4122509" y="4187837"/>
              <a:chExt cx="872285" cy="863104"/>
            </a:xfrm>
          </p:grpSpPr>
          <p:pic>
            <p:nvPicPr>
              <p:cNvPr id="79" name="Graphique 78" descr="Utilisateurs avec un remplissage uni">
                <a:extLst>
                  <a:ext uri="{FF2B5EF4-FFF2-40B4-BE49-F238E27FC236}">
                    <a16:creationId xmlns:a16="http://schemas.microsoft.com/office/drawing/2014/main" id="{B43F3FB6-638E-2AEB-4930-1F4878DF764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4278095" y="4187837"/>
                <a:ext cx="590398" cy="590398"/>
              </a:xfrm>
              <a:prstGeom prst="rect">
                <a:avLst/>
              </a:prstGeom>
            </p:spPr>
          </p:pic>
          <p:sp>
            <p:nvSpPr>
              <p:cNvPr id="80" name="ZoneTexte 79">
                <a:extLst>
                  <a:ext uri="{FF2B5EF4-FFF2-40B4-BE49-F238E27FC236}">
                    <a16:creationId xmlns:a16="http://schemas.microsoft.com/office/drawing/2014/main" id="{E612FC72-478B-3DCA-26C7-3626B80CE81F}"/>
                  </a:ext>
                </a:extLst>
              </p:cNvPr>
              <p:cNvSpPr txBox="1"/>
              <p:nvPr/>
            </p:nvSpPr>
            <p:spPr>
              <a:xfrm>
                <a:off x="4122509" y="4745273"/>
                <a:ext cx="872285" cy="305668"/>
              </a:xfrm>
              <a:prstGeom prst="rect">
                <a:avLst/>
              </a:prstGeom>
              <a:noFill/>
            </p:spPr>
            <p:txBody>
              <a:bodyPr wrap="square">
                <a:spAutoFit/>
              </a:bodyPr>
              <a:lstStyle/>
              <a:p>
                <a:pPr algn="ctr"/>
                <a:r>
                  <a:rPr lang="fr-FR" sz="800" dirty="0">
                    <a:solidFill>
                      <a:srgbClr val="ED7D31"/>
                    </a:solidFill>
                  </a:rPr>
                  <a:t>Reconnaissance sociale </a:t>
                </a:r>
              </a:p>
            </p:txBody>
          </p:sp>
        </p:grpSp>
      </p:grpSp>
      <p:sp>
        <p:nvSpPr>
          <p:cNvPr id="86" name="Titre 1">
            <a:extLst>
              <a:ext uri="{FF2B5EF4-FFF2-40B4-BE49-F238E27FC236}">
                <a16:creationId xmlns:a16="http://schemas.microsoft.com/office/drawing/2014/main" id="{54DB4ED1-A6C8-69AB-C24C-C157B0CBB5AF}"/>
              </a:ext>
            </a:extLst>
          </p:cNvPr>
          <p:cNvSpPr txBox="1">
            <a:spLocks/>
          </p:cNvSpPr>
          <p:nvPr/>
        </p:nvSpPr>
        <p:spPr>
          <a:xfrm>
            <a:off x="7292022" y="5770584"/>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Valeur pour l’entreprise</a:t>
            </a:r>
          </a:p>
        </p:txBody>
      </p:sp>
      <p:pic>
        <p:nvPicPr>
          <p:cNvPr id="87" name="Graphique 86" descr="Tendance à la hausse avec un remplissage uni">
            <a:extLst>
              <a:ext uri="{FF2B5EF4-FFF2-40B4-BE49-F238E27FC236}">
                <a16:creationId xmlns:a16="http://schemas.microsoft.com/office/drawing/2014/main" id="{FBD2119B-07DB-72EC-8B0C-9A241ECE8306}"/>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10905462" y="4613258"/>
            <a:ext cx="890780" cy="868055"/>
          </a:xfrm>
          <a:prstGeom prst="rect">
            <a:avLst/>
          </a:prstGeom>
        </p:spPr>
      </p:pic>
      <p:pic>
        <p:nvPicPr>
          <p:cNvPr id="88" name="Graphique 87" descr="Croissance de l'activité avec un remplissage uni">
            <a:extLst>
              <a:ext uri="{FF2B5EF4-FFF2-40B4-BE49-F238E27FC236}">
                <a16:creationId xmlns:a16="http://schemas.microsoft.com/office/drawing/2014/main" id="{C4203BDE-06C0-4702-213A-BFE1260A52F5}"/>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8848655" y="4684493"/>
            <a:ext cx="785986" cy="785986"/>
          </a:xfrm>
          <a:prstGeom prst="rect">
            <a:avLst/>
          </a:prstGeom>
        </p:spPr>
      </p:pic>
      <p:pic>
        <p:nvPicPr>
          <p:cNvPr id="89" name="Graphique 88" descr="Tableau décisionnel avec un remplissage uni">
            <a:extLst>
              <a:ext uri="{FF2B5EF4-FFF2-40B4-BE49-F238E27FC236}">
                <a16:creationId xmlns:a16="http://schemas.microsoft.com/office/drawing/2014/main" id="{67CBD2A2-28D5-F025-0022-5DC57C3B58DF}"/>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901673" y="4661317"/>
            <a:ext cx="762463" cy="762463"/>
          </a:xfrm>
          <a:prstGeom prst="rect">
            <a:avLst/>
          </a:prstGeom>
        </p:spPr>
      </p:pic>
      <p:sp>
        <p:nvSpPr>
          <p:cNvPr id="90" name="Titre 1">
            <a:extLst>
              <a:ext uri="{FF2B5EF4-FFF2-40B4-BE49-F238E27FC236}">
                <a16:creationId xmlns:a16="http://schemas.microsoft.com/office/drawing/2014/main" id="{531BC4A3-DFC9-3E26-6CB4-F1C375EAD0A7}"/>
              </a:ext>
            </a:extLst>
          </p:cNvPr>
          <p:cNvSpPr txBox="1">
            <a:spLocks/>
          </p:cNvSpPr>
          <p:nvPr/>
        </p:nvSpPr>
        <p:spPr>
          <a:xfrm>
            <a:off x="10899454" y="5412259"/>
            <a:ext cx="959170" cy="419369"/>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800" dirty="0"/>
              <a:t>Améliorations commerciales</a:t>
            </a:r>
          </a:p>
        </p:txBody>
      </p:sp>
      <p:sp>
        <p:nvSpPr>
          <p:cNvPr id="91" name="Titre 1">
            <a:extLst>
              <a:ext uri="{FF2B5EF4-FFF2-40B4-BE49-F238E27FC236}">
                <a16:creationId xmlns:a16="http://schemas.microsoft.com/office/drawing/2014/main" id="{75563AF1-17E3-C42E-48C3-91D0B2F43AB4}"/>
              </a:ext>
            </a:extLst>
          </p:cNvPr>
          <p:cNvSpPr txBox="1">
            <a:spLocks/>
          </p:cNvSpPr>
          <p:nvPr/>
        </p:nvSpPr>
        <p:spPr>
          <a:xfrm>
            <a:off x="9762435" y="5412259"/>
            <a:ext cx="1038476"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800" dirty="0"/>
              <a:t>Améliorations opérationnelles et service du but de l’entreprise</a:t>
            </a:r>
          </a:p>
        </p:txBody>
      </p:sp>
      <p:sp>
        <p:nvSpPr>
          <p:cNvPr id="92" name="Titre 1">
            <a:extLst>
              <a:ext uri="{FF2B5EF4-FFF2-40B4-BE49-F238E27FC236}">
                <a16:creationId xmlns:a16="http://schemas.microsoft.com/office/drawing/2014/main" id="{7D2874AD-1342-526D-805B-A0748E0F8A80}"/>
              </a:ext>
            </a:extLst>
          </p:cNvPr>
          <p:cNvSpPr txBox="1">
            <a:spLocks/>
          </p:cNvSpPr>
          <p:nvPr/>
        </p:nvSpPr>
        <p:spPr>
          <a:xfrm>
            <a:off x="8722410" y="5412259"/>
            <a:ext cx="1038476" cy="47856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800" dirty="0"/>
              <a:t>Améliorations ressources humaines</a:t>
            </a:r>
          </a:p>
        </p:txBody>
      </p:sp>
      <p:sp>
        <p:nvSpPr>
          <p:cNvPr id="93" name="Titre 1">
            <a:extLst>
              <a:ext uri="{FF2B5EF4-FFF2-40B4-BE49-F238E27FC236}">
                <a16:creationId xmlns:a16="http://schemas.microsoft.com/office/drawing/2014/main" id="{01B18F68-462F-F079-71BB-50C1CBD08D17}"/>
              </a:ext>
            </a:extLst>
          </p:cNvPr>
          <p:cNvSpPr txBox="1">
            <a:spLocks/>
          </p:cNvSpPr>
          <p:nvPr/>
        </p:nvSpPr>
        <p:spPr>
          <a:xfrm>
            <a:off x="3047076" y="2027497"/>
            <a:ext cx="2326062" cy="723517"/>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solidFill>
                  <a:srgbClr val="ED7D31"/>
                </a:solidFill>
              </a:rPr>
              <a:t>Engagement personnel</a:t>
            </a:r>
          </a:p>
          <a:p>
            <a:pPr algn="ctr"/>
            <a:r>
              <a:rPr lang="fr-FR" sz="1400" dirty="0">
                <a:solidFill>
                  <a:srgbClr val="ED7D31"/>
                </a:solidFill>
              </a:rPr>
              <a:t>Temps personnel</a:t>
            </a:r>
          </a:p>
          <a:p>
            <a:pPr algn="ctr"/>
            <a:r>
              <a:rPr lang="fr-FR" sz="1400" dirty="0">
                <a:solidFill>
                  <a:srgbClr val="ED7D31"/>
                </a:solidFill>
              </a:rPr>
              <a:t>Ressources personnelles</a:t>
            </a:r>
          </a:p>
          <a:p>
            <a:pPr algn="ctr"/>
            <a:r>
              <a:rPr lang="fr-FR" sz="1400" dirty="0">
                <a:solidFill>
                  <a:srgbClr val="ED7D31"/>
                </a:solidFill>
              </a:rPr>
              <a:t>Compétences et réseau</a:t>
            </a:r>
          </a:p>
        </p:txBody>
      </p:sp>
      <p:sp>
        <p:nvSpPr>
          <p:cNvPr id="94" name="Titre 1">
            <a:extLst>
              <a:ext uri="{FF2B5EF4-FFF2-40B4-BE49-F238E27FC236}">
                <a16:creationId xmlns:a16="http://schemas.microsoft.com/office/drawing/2014/main" id="{3464712B-55B5-55A2-C721-B5A2CD0C25C0}"/>
              </a:ext>
            </a:extLst>
          </p:cNvPr>
          <p:cNvSpPr txBox="1">
            <a:spLocks/>
          </p:cNvSpPr>
          <p:nvPr/>
        </p:nvSpPr>
        <p:spPr>
          <a:xfrm>
            <a:off x="6732123" y="1688107"/>
            <a:ext cx="2326062" cy="1109896"/>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Engagement institutionnel</a:t>
            </a:r>
          </a:p>
          <a:p>
            <a:pPr algn="ctr"/>
            <a:r>
              <a:rPr lang="fr-FR" sz="1400" dirty="0"/>
              <a:t>Temps de travail</a:t>
            </a:r>
          </a:p>
          <a:p>
            <a:pPr algn="ctr"/>
            <a:r>
              <a:rPr lang="fr-FR" sz="1400" dirty="0"/>
              <a:t>Ressources institutionnelles (locaux, outils, matériels, budgets, …)</a:t>
            </a:r>
          </a:p>
          <a:p>
            <a:pPr algn="ctr"/>
            <a:r>
              <a:rPr lang="fr-FR" sz="1400" dirty="0"/>
              <a:t>Compétences et réseau</a:t>
            </a:r>
          </a:p>
        </p:txBody>
      </p:sp>
      <p:sp>
        <p:nvSpPr>
          <p:cNvPr id="95" name="Flèche : droite 94">
            <a:extLst>
              <a:ext uri="{FF2B5EF4-FFF2-40B4-BE49-F238E27FC236}">
                <a16:creationId xmlns:a16="http://schemas.microsoft.com/office/drawing/2014/main" id="{E4528571-20B7-D4C9-14F8-1948808D3577}"/>
              </a:ext>
            </a:extLst>
          </p:cNvPr>
          <p:cNvSpPr/>
          <p:nvPr/>
        </p:nvSpPr>
        <p:spPr>
          <a:xfrm rot="19508911" flipH="1">
            <a:off x="3647794" y="4945226"/>
            <a:ext cx="1189456" cy="623864"/>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3</a:t>
            </a:r>
          </a:p>
        </p:txBody>
      </p:sp>
      <p:sp>
        <p:nvSpPr>
          <p:cNvPr id="96" name="Flèche : gauche 95">
            <a:extLst>
              <a:ext uri="{FF2B5EF4-FFF2-40B4-BE49-F238E27FC236}">
                <a16:creationId xmlns:a16="http://schemas.microsoft.com/office/drawing/2014/main" id="{193DE573-A714-FF47-E3C4-3D16089543C7}"/>
              </a:ext>
            </a:extLst>
          </p:cNvPr>
          <p:cNvSpPr/>
          <p:nvPr/>
        </p:nvSpPr>
        <p:spPr>
          <a:xfrm rot="1525700" flipH="1">
            <a:off x="7393126" y="4896634"/>
            <a:ext cx="1189456" cy="623864"/>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4</a:t>
            </a:r>
          </a:p>
        </p:txBody>
      </p:sp>
      <p:grpSp>
        <p:nvGrpSpPr>
          <p:cNvPr id="23" name="Groupe 22">
            <a:extLst>
              <a:ext uri="{FF2B5EF4-FFF2-40B4-BE49-F238E27FC236}">
                <a16:creationId xmlns:a16="http://schemas.microsoft.com/office/drawing/2014/main" id="{0486BA1B-E53B-A333-EFCC-85B454A89754}"/>
              </a:ext>
            </a:extLst>
          </p:cNvPr>
          <p:cNvGrpSpPr/>
          <p:nvPr/>
        </p:nvGrpSpPr>
        <p:grpSpPr>
          <a:xfrm>
            <a:off x="5013383" y="3070009"/>
            <a:ext cx="2150970" cy="1947160"/>
            <a:chOff x="-4435634" y="3221970"/>
            <a:chExt cx="4325260" cy="3915430"/>
          </a:xfrm>
        </p:grpSpPr>
        <p:pic>
          <p:nvPicPr>
            <p:cNvPr id="82" name="Espace réservé du contenu 6" descr="Tribunal contour">
              <a:extLst>
                <a:ext uri="{FF2B5EF4-FFF2-40B4-BE49-F238E27FC236}">
                  <a16:creationId xmlns:a16="http://schemas.microsoft.com/office/drawing/2014/main" id="{0048AB52-3025-E584-7E0B-C2E5A1DA2F4E}"/>
                </a:ext>
              </a:extLst>
            </p:cNvPr>
            <p:cNvPicPr>
              <a:picLocks noChangeAspect="1"/>
            </p:cNvPicPr>
            <p:nvPr/>
          </p:nvPicPr>
          <p:blipFill rotWithShape="1">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rcRect l="8133" t="12060" r="8805" b="62496"/>
            <a:stretch/>
          </p:blipFill>
          <p:spPr>
            <a:xfrm>
              <a:off x="-4435633" y="3221970"/>
              <a:ext cx="4325259" cy="1324928"/>
            </a:xfrm>
            <a:prstGeom prst="rect">
              <a:avLst/>
            </a:prstGeom>
          </p:spPr>
        </p:pic>
        <p:grpSp>
          <p:nvGrpSpPr>
            <p:cNvPr id="4" name="Groupe 3">
              <a:extLst>
                <a:ext uri="{FF2B5EF4-FFF2-40B4-BE49-F238E27FC236}">
                  <a16:creationId xmlns:a16="http://schemas.microsoft.com/office/drawing/2014/main" id="{EC0C1042-3EE9-1DE3-ABE3-9140EC044CFC}"/>
                </a:ext>
              </a:extLst>
            </p:cNvPr>
            <p:cNvGrpSpPr/>
            <p:nvPr/>
          </p:nvGrpSpPr>
          <p:grpSpPr>
            <a:xfrm>
              <a:off x="-4435634" y="4520418"/>
              <a:ext cx="4325260" cy="2616982"/>
              <a:chOff x="-4435634" y="4520418"/>
              <a:chExt cx="4325260" cy="2616982"/>
            </a:xfrm>
          </p:grpSpPr>
          <p:pic>
            <p:nvPicPr>
              <p:cNvPr id="81" name="Espace réservé du contenu 6" descr="Tribunal contour">
                <a:extLst>
                  <a:ext uri="{FF2B5EF4-FFF2-40B4-BE49-F238E27FC236}">
                    <a16:creationId xmlns:a16="http://schemas.microsoft.com/office/drawing/2014/main" id="{DBE98C10-6064-2014-1DF8-EB002D91B0F8}"/>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l="8133" t="37523" r="8805" b="24898"/>
              <a:stretch/>
            </p:blipFill>
            <p:spPr>
              <a:xfrm>
                <a:off x="-4435633" y="4520418"/>
                <a:ext cx="4325259" cy="1956816"/>
              </a:xfrm>
              <a:prstGeom prst="rect">
                <a:avLst/>
              </a:prstGeom>
            </p:spPr>
          </p:pic>
          <p:pic>
            <p:nvPicPr>
              <p:cNvPr id="83" name="Graphique 82" descr="Réussite du groupe avec un remplissage uni">
                <a:extLst>
                  <a:ext uri="{FF2B5EF4-FFF2-40B4-BE49-F238E27FC236}">
                    <a16:creationId xmlns:a16="http://schemas.microsoft.com/office/drawing/2014/main" id="{2873EA60-A4CA-F51E-1481-272028E18DEF}"/>
                  </a:ext>
                </a:extLst>
              </p:cNvPr>
              <p:cNvPicPr>
                <a:picLocks noChangeAspect="1"/>
              </p:cNvPicPr>
              <p:nvPr/>
            </p:nvPicPr>
            <p:blipFill rotWithShape="1">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rcRect t="13979" b="19010"/>
              <a:stretch/>
            </p:blipFill>
            <p:spPr>
              <a:xfrm>
                <a:off x="-3132680" y="5325090"/>
                <a:ext cx="1719352" cy="1152144"/>
              </a:xfrm>
              <a:prstGeom prst="rect">
                <a:avLst/>
              </a:prstGeom>
            </p:spPr>
          </p:pic>
          <p:pic>
            <p:nvPicPr>
              <p:cNvPr id="98" name="Espace réservé du contenu 6" descr="Tribunal contour">
                <a:extLst>
                  <a:ext uri="{FF2B5EF4-FFF2-40B4-BE49-F238E27FC236}">
                    <a16:creationId xmlns:a16="http://schemas.microsoft.com/office/drawing/2014/main" id="{95CD136F-E9DC-D6DA-3BDE-C0AB49517224}"/>
                  </a:ext>
                </a:extLst>
              </p:cNvPr>
              <p:cNvPicPr>
                <a:picLocks noChangeAspect="1"/>
              </p:cNvPicPr>
              <p:nvPr/>
            </p:nvPicPr>
            <p:blipFill rotWithShape="1">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rcRect l="8133" t="75103" r="8805" b="12219"/>
              <a:stretch/>
            </p:blipFill>
            <p:spPr>
              <a:xfrm>
                <a:off x="-4435634" y="6477233"/>
                <a:ext cx="4325259" cy="660167"/>
              </a:xfrm>
              <a:prstGeom prst="rect">
                <a:avLst/>
              </a:prstGeom>
            </p:spPr>
          </p:pic>
        </p:grpSp>
      </p:grpSp>
    </p:spTree>
    <p:extLst>
      <p:ext uri="{BB962C8B-B14F-4D97-AF65-F5344CB8AC3E}">
        <p14:creationId xmlns:p14="http://schemas.microsoft.com/office/powerpoint/2010/main" val="208049206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F56A8B6F-7B2B-4274-BA19-1D51E371D780}"/>
              </a:ext>
            </a:extLst>
          </p:cNvPr>
          <p:cNvSpPr/>
          <p:nvPr/>
        </p:nvSpPr>
        <p:spPr>
          <a:xfrm>
            <a:off x="3331128" y="1403919"/>
            <a:ext cx="1802162" cy="1802162"/>
          </a:xfrm>
          <a:prstGeom prst="rect">
            <a:avLst/>
          </a:prstGeom>
          <a:gradFill>
            <a:gsLst>
              <a:gs pos="50000">
                <a:srgbClr val="ED7D31"/>
              </a:gs>
              <a:gs pos="49000">
                <a:schemeClr val="bg1">
                  <a:lumMod val="75000"/>
                </a:schemeClr>
              </a:gs>
              <a:gs pos="100000">
                <a:srgbClr val="ED7D31"/>
              </a:gs>
              <a:gs pos="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r>
              <a:rPr lang="fr-FR" sz="1600" b="1" kern="1200" dirty="0"/>
              <a:t>Exemple : </a:t>
            </a:r>
            <a:r>
              <a:rPr lang="fr-FR" sz="1600" b="0" kern="1200" dirty="0"/>
              <a:t>Communauté de partages d’affaires</a:t>
            </a:r>
          </a:p>
        </p:txBody>
      </p:sp>
      <p:sp>
        <p:nvSpPr>
          <p:cNvPr id="5" name="Rectangle 4">
            <a:extLst>
              <a:ext uri="{FF2B5EF4-FFF2-40B4-BE49-F238E27FC236}">
                <a16:creationId xmlns:a16="http://schemas.microsoft.com/office/drawing/2014/main" id="{975046E2-1215-4482-8565-DBAA09FF9947}"/>
              </a:ext>
            </a:extLst>
          </p:cNvPr>
          <p:cNvSpPr/>
          <p:nvPr/>
        </p:nvSpPr>
        <p:spPr>
          <a:xfrm>
            <a:off x="5448669" y="1403919"/>
            <a:ext cx="1802162" cy="1802162"/>
          </a:xfrm>
          <a:prstGeom prst="rect">
            <a:avLst/>
          </a:prstGeom>
          <a:gradFill>
            <a:gsLst>
              <a:gs pos="50000">
                <a:srgbClr val="3494BA"/>
              </a:gs>
              <a:gs pos="100000">
                <a:schemeClr val="bg1">
                  <a:lumMod val="75000"/>
                </a:schemeClr>
              </a:gs>
              <a:gs pos="0">
                <a:srgbClr val="3494BA"/>
              </a:gs>
              <a:gs pos="5100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r>
              <a:rPr lang="fr-FR" sz="1600" b="1" dirty="0"/>
              <a:t>Exemple : </a:t>
            </a:r>
            <a:r>
              <a:rPr lang="fr-FR" sz="1600" dirty="0"/>
              <a:t>Communauté Cybersécurité</a:t>
            </a:r>
          </a:p>
        </p:txBody>
      </p:sp>
      <p:sp>
        <p:nvSpPr>
          <p:cNvPr id="6" name="Rectangle 5">
            <a:extLst>
              <a:ext uri="{FF2B5EF4-FFF2-40B4-BE49-F238E27FC236}">
                <a16:creationId xmlns:a16="http://schemas.microsoft.com/office/drawing/2014/main" id="{3F35980F-0F77-49E7-B054-3D2EA0E32091}"/>
              </a:ext>
            </a:extLst>
          </p:cNvPr>
          <p:cNvSpPr/>
          <p:nvPr/>
        </p:nvSpPr>
        <p:spPr>
          <a:xfrm>
            <a:off x="3331128" y="3521460"/>
            <a:ext cx="1802162" cy="1802162"/>
          </a:xfrm>
          <a:prstGeom prst="rect">
            <a:avLst/>
          </a:prstGeom>
          <a:solidFill>
            <a:srgbClr val="ED7D31"/>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r>
              <a:rPr lang="fr-FR" sz="1600" b="1" kern="1200" dirty="0"/>
              <a:t>Exemple : </a:t>
            </a:r>
            <a:r>
              <a:rPr lang="fr-FR" sz="1600" kern="1200" dirty="0"/>
              <a:t>Club de Football de l’entreprise </a:t>
            </a:r>
          </a:p>
        </p:txBody>
      </p:sp>
      <p:sp>
        <p:nvSpPr>
          <p:cNvPr id="7" name="Rectangle 6">
            <a:extLst>
              <a:ext uri="{FF2B5EF4-FFF2-40B4-BE49-F238E27FC236}">
                <a16:creationId xmlns:a16="http://schemas.microsoft.com/office/drawing/2014/main" id="{F57C2BF0-8E8E-484F-B5C7-CCD2EC96C05B}"/>
              </a:ext>
            </a:extLst>
          </p:cNvPr>
          <p:cNvSpPr/>
          <p:nvPr/>
        </p:nvSpPr>
        <p:spPr>
          <a:xfrm>
            <a:off x="5448669" y="3521460"/>
            <a:ext cx="1802162" cy="1802162"/>
          </a:xfrm>
          <a:prstGeom prst="rect">
            <a:avLst/>
          </a:prstGeom>
          <a:gradFill>
            <a:gsLst>
              <a:gs pos="50000">
                <a:srgbClr val="ED7D31"/>
              </a:gs>
              <a:gs pos="49000">
                <a:schemeClr val="bg1">
                  <a:lumMod val="75000"/>
                </a:schemeClr>
              </a:gs>
              <a:gs pos="100000">
                <a:srgbClr val="ED7D31"/>
              </a:gs>
              <a:gs pos="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r>
              <a:rPr lang="fr-FR" sz="1600" b="1" dirty="0"/>
              <a:t>Exemple : </a:t>
            </a:r>
          </a:p>
          <a:p>
            <a:pPr algn="ctr" defTabSz="889000">
              <a:lnSpc>
                <a:spcPct val="90000"/>
              </a:lnSpc>
              <a:spcBef>
                <a:spcPct val="0"/>
              </a:spcBef>
              <a:spcAft>
                <a:spcPct val="35000"/>
              </a:spcAft>
            </a:pPr>
            <a:r>
              <a:rPr lang="fr-FR" sz="1600" dirty="0"/>
              <a:t>Alumni de l’entreprise</a:t>
            </a:r>
          </a:p>
        </p:txBody>
      </p:sp>
      <p:pic>
        <p:nvPicPr>
          <p:cNvPr id="18" name="Image 17" descr="Une image contenant herbe, football, personne, boule&#10;&#10;Description générée automatiquement">
            <a:extLst>
              <a:ext uri="{FF2B5EF4-FFF2-40B4-BE49-F238E27FC236}">
                <a16:creationId xmlns:a16="http://schemas.microsoft.com/office/drawing/2014/main" id="{2506B2F1-B10D-46AF-9BD5-692E2CE98ADE}"/>
              </a:ext>
            </a:extLst>
          </p:cNvPr>
          <p:cNvPicPr>
            <a:picLocks noChangeAspect="1"/>
          </p:cNvPicPr>
          <p:nvPr/>
        </p:nvPicPr>
        <p:blipFill>
          <a:blip r:embed="rId2">
            <a:extLst>
              <a:ext uri="{28A0092B-C50C-407E-A947-70E740481C1C}">
                <a14:useLocalDpi xmlns:a14="http://schemas.microsoft.com/office/drawing/2010/main" val="0"/>
              </a:ext>
              <a:ext uri="{837473B0-CC2E-450A-ABE3-18F120FF3D39}">
                <a1611:picAttrSrcUrl xmlns:a1611="http://schemas.microsoft.com/office/drawing/2016/11/main" r:id="rId3"/>
              </a:ext>
            </a:extLst>
          </a:blip>
          <a:stretch>
            <a:fillRect/>
          </a:stretch>
        </p:blipFill>
        <p:spPr>
          <a:xfrm>
            <a:off x="3574918" y="5213191"/>
            <a:ext cx="1314581" cy="851620"/>
          </a:xfrm>
          <a:prstGeom prst="rect">
            <a:avLst/>
          </a:prstGeom>
        </p:spPr>
      </p:pic>
      <p:pic>
        <p:nvPicPr>
          <p:cNvPr id="23" name="Image 22" descr="Une image contenant texte&#10;&#10;Description générée automatiquement">
            <a:extLst>
              <a:ext uri="{FF2B5EF4-FFF2-40B4-BE49-F238E27FC236}">
                <a16:creationId xmlns:a16="http://schemas.microsoft.com/office/drawing/2014/main" id="{4D6C15D6-9B81-4A92-A130-F0B218FA4869}"/>
              </a:ext>
            </a:extLst>
          </p:cNvPr>
          <p:cNvPicPr>
            <a:picLocks noChangeAspect="1"/>
          </p:cNvPicPr>
          <p:nvPr/>
        </p:nvPicPr>
        <p:blipFill>
          <a:blip r:embed="rId4">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5640315" y="776075"/>
            <a:ext cx="1405807" cy="835037"/>
          </a:xfrm>
          <a:prstGeom prst="rect">
            <a:avLst/>
          </a:prstGeom>
        </p:spPr>
      </p:pic>
      <p:pic>
        <p:nvPicPr>
          <p:cNvPr id="26" name="Image 25" descr="Une image contenant personne, intérieur, ordinateur, table&#10;&#10;Description générée automatiquement">
            <a:extLst>
              <a:ext uri="{FF2B5EF4-FFF2-40B4-BE49-F238E27FC236}">
                <a16:creationId xmlns:a16="http://schemas.microsoft.com/office/drawing/2014/main" id="{C305FB46-4485-4DB1-8AB1-5DF4A67323D1}"/>
              </a:ext>
            </a:extLst>
          </p:cNvPr>
          <p:cNvPicPr>
            <a:picLocks noChangeAspect="1"/>
          </p:cNvPicPr>
          <p:nvPr/>
        </p:nvPicPr>
        <p:blipFill>
          <a:blip r:embed="rId6">
            <a:extLst>
              <a:ext uri="{28A0092B-C50C-407E-A947-70E740481C1C}">
                <a14:useLocalDpi xmlns:a14="http://schemas.microsoft.com/office/drawing/2010/main" val="0"/>
              </a:ext>
              <a:ext uri="{837473B0-CC2E-450A-ABE3-18F120FF3D39}">
                <a1611:picAttrSrcUrl xmlns:a1611="http://schemas.microsoft.com/office/drawing/2016/11/main" r:id="rId7"/>
              </a:ext>
            </a:extLst>
          </a:blip>
          <a:stretch>
            <a:fillRect/>
          </a:stretch>
        </p:blipFill>
        <p:spPr>
          <a:xfrm>
            <a:off x="5660259" y="5166411"/>
            <a:ext cx="1425243" cy="950162"/>
          </a:xfrm>
          <a:prstGeom prst="rect">
            <a:avLst/>
          </a:prstGeom>
        </p:spPr>
      </p:pic>
      <p:sp>
        <p:nvSpPr>
          <p:cNvPr id="29" name="ZoneTexte 28">
            <a:extLst>
              <a:ext uri="{FF2B5EF4-FFF2-40B4-BE49-F238E27FC236}">
                <a16:creationId xmlns:a16="http://schemas.microsoft.com/office/drawing/2014/main" id="{CBB50324-226E-4B8A-9AF9-96E3C335CCCD}"/>
              </a:ext>
            </a:extLst>
          </p:cNvPr>
          <p:cNvSpPr txBox="1"/>
          <p:nvPr/>
        </p:nvSpPr>
        <p:spPr>
          <a:xfrm>
            <a:off x="4768759" y="85715"/>
            <a:ext cx="3396245" cy="646331"/>
          </a:xfrm>
          <a:prstGeom prst="rect">
            <a:avLst/>
          </a:prstGeom>
          <a:noFill/>
        </p:spPr>
        <p:txBody>
          <a:bodyPr wrap="square">
            <a:spAutoFit/>
          </a:bodyPr>
          <a:lstStyle/>
          <a:p>
            <a:pPr lvl="0" algn="ctr"/>
            <a:r>
              <a:rPr lang="fr-FR" sz="1400" dirty="0"/>
              <a:t>Valeur Business Directe</a:t>
            </a:r>
          </a:p>
          <a:p>
            <a:pPr lvl="0" algn="ctr"/>
            <a:r>
              <a:rPr lang="fr-FR" sz="1100" i="1" dirty="0"/>
              <a:t>(L’activité de la communauté remplit directement une obligation, un objectif ou un besoin de l’entreprise)</a:t>
            </a:r>
          </a:p>
        </p:txBody>
      </p:sp>
      <p:sp>
        <p:nvSpPr>
          <p:cNvPr id="30" name="ZoneTexte 29">
            <a:extLst>
              <a:ext uri="{FF2B5EF4-FFF2-40B4-BE49-F238E27FC236}">
                <a16:creationId xmlns:a16="http://schemas.microsoft.com/office/drawing/2014/main" id="{B6C16B1D-FA36-4119-B1CD-371D0C97DDD2}"/>
              </a:ext>
            </a:extLst>
          </p:cNvPr>
          <p:cNvSpPr txBox="1"/>
          <p:nvPr/>
        </p:nvSpPr>
        <p:spPr>
          <a:xfrm>
            <a:off x="4768759" y="6140278"/>
            <a:ext cx="3161981" cy="807913"/>
          </a:xfrm>
          <a:prstGeom prst="rect">
            <a:avLst/>
          </a:prstGeom>
          <a:noFill/>
        </p:spPr>
        <p:txBody>
          <a:bodyPr wrap="square">
            <a:spAutoFit/>
          </a:bodyPr>
          <a:lstStyle/>
          <a:p>
            <a:pPr lvl="0" algn="ctr"/>
            <a:r>
              <a:rPr lang="fr-FR" dirty="0"/>
              <a:t>Valeur Business indirecte</a:t>
            </a:r>
          </a:p>
          <a:p>
            <a:pPr algn="ctr"/>
            <a:r>
              <a:rPr lang="fr-FR" sz="1050" i="1" dirty="0"/>
              <a:t>(L’activité de la communauté a un effet améliorant une obligation, un objectif ou un besoin de l’entreprise)</a:t>
            </a:r>
            <a:r>
              <a:rPr lang="fr-FR" dirty="0"/>
              <a:t> </a:t>
            </a:r>
          </a:p>
        </p:txBody>
      </p:sp>
      <p:sp>
        <p:nvSpPr>
          <p:cNvPr id="31" name="ZoneTexte 30">
            <a:extLst>
              <a:ext uri="{FF2B5EF4-FFF2-40B4-BE49-F238E27FC236}">
                <a16:creationId xmlns:a16="http://schemas.microsoft.com/office/drawing/2014/main" id="{0C628DBD-0EB1-4A75-9284-82CA232A7E65}"/>
              </a:ext>
            </a:extLst>
          </p:cNvPr>
          <p:cNvSpPr txBox="1"/>
          <p:nvPr/>
        </p:nvSpPr>
        <p:spPr>
          <a:xfrm>
            <a:off x="9716066" y="2671407"/>
            <a:ext cx="1499122" cy="1477328"/>
          </a:xfrm>
          <a:prstGeom prst="rect">
            <a:avLst/>
          </a:prstGeom>
          <a:noFill/>
        </p:spPr>
        <p:txBody>
          <a:bodyPr wrap="square">
            <a:spAutoFit/>
          </a:bodyPr>
          <a:lstStyle/>
          <a:p>
            <a:pPr lvl="0" algn="ctr"/>
            <a:r>
              <a:rPr lang="fr-FR" dirty="0"/>
              <a:t>La Communauté bénéficie surtout aux  non-membres</a:t>
            </a:r>
          </a:p>
        </p:txBody>
      </p:sp>
      <p:sp>
        <p:nvSpPr>
          <p:cNvPr id="32" name="ZoneTexte 31">
            <a:extLst>
              <a:ext uri="{FF2B5EF4-FFF2-40B4-BE49-F238E27FC236}">
                <a16:creationId xmlns:a16="http://schemas.microsoft.com/office/drawing/2014/main" id="{F52BBE30-A0C8-4495-88A5-2E5EC0449CE9}"/>
              </a:ext>
            </a:extLst>
          </p:cNvPr>
          <p:cNvSpPr txBox="1"/>
          <p:nvPr/>
        </p:nvSpPr>
        <p:spPr>
          <a:xfrm>
            <a:off x="1469906" y="2603165"/>
            <a:ext cx="1554474" cy="1477328"/>
          </a:xfrm>
          <a:prstGeom prst="rect">
            <a:avLst/>
          </a:prstGeom>
          <a:noFill/>
        </p:spPr>
        <p:txBody>
          <a:bodyPr wrap="square">
            <a:spAutoFit/>
          </a:bodyPr>
          <a:lstStyle/>
          <a:p>
            <a:pPr lvl="0" algn="ctr"/>
            <a:r>
              <a:rPr lang="fr-FR" dirty="0"/>
              <a:t>La Communauté bénéficie surtout aux membres</a:t>
            </a:r>
          </a:p>
        </p:txBody>
      </p:sp>
      <p:pic>
        <p:nvPicPr>
          <p:cNvPr id="34" name="Image 33" descr="Une image contenant personne, debout, intérieur, gens&#10;&#10;Description générée automatiquement">
            <a:extLst>
              <a:ext uri="{FF2B5EF4-FFF2-40B4-BE49-F238E27FC236}">
                <a16:creationId xmlns:a16="http://schemas.microsoft.com/office/drawing/2014/main" id="{10A60A4F-5E47-466F-B542-B30C49924885}"/>
              </a:ext>
            </a:extLst>
          </p:cNvPr>
          <p:cNvPicPr>
            <a:picLocks noChangeAspect="1"/>
          </p:cNvPicPr>
          <p:nvPr/>
        </p:nvPicPr>
        <p:blipFill rotWithShape="1">
          <a:blip r:embed="rId8">
            <a:extLst>
              <a:ext uri="{28A0092B-C50C-407E-A947-70E740481C1C}">
                <a14:useLocalDpi xmlns:a14="http://schemas.microsoft.com/office/drawing/2010/main" val="0"/>
              </a:ext>
              <a:ext uri="{837473B0-CC2E-450A-ABE3-18F120FF3D39}">
                <a1611:picAttrSrcUrl xmlns:a1611="http://schemas.microsoft.com/office/drawing/2016/11/main" r:id="rId9"/>
              </a:ext>
            </a:extLst>
          </a:blip>
          <a:srcRect t="3183"/>
          <a:stretch/>
        </p:blipFill>
        <p:spPr>
          <a:xfrm>
            <a:off x="3564515" y="790602"/>
            <a:ext cx="1360919" cy="808461"/>
          </a:xfrm>
          <a:prstGeom prst="rect">
            <a:avLst/>
          </a:prstGeom>
        </p:spPr>
      </p:pic>
      <p:sp>
        <p:nvSpPr>
          <p:cNvPr id="8" name="Flèche : double flèche horizontale 7">
            <a:extLst>
              <a:ext uri="{FF2B5EF4-FFF2-40B4-BE49-F238E27FC236}">
                <a16:creationId xmlns:a16="http://schemas.microsoft.com/office/drawing/2014/main" id="{46D448A5-04D2-4338-87C8-44734644160A}"/>
              </a:ext>
            </a:extLst>
          </p:cNvPr>
          <p:cNvSpPr/>
          <p:nvPr/>
        </p:nvSpPr>
        <p:spPr>
          <a:xfrm>
            <a:off x="3119449" y="3179105"/>
            <a:ext cx="6506293" cy="369332"/>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Flèche : double flèche horizontale 18">
            <a:extLst>
              <a:ext uri="{FF2B5EF4-FFF2-40B4-BE49-F238E27FC236}">
                <a16:creationId xmlns:a16="http://schemas.microsoft.com/office/drawing/2014/main" id="{23A68AB3-D239-4102-8951-70EE76CD228D}"/>
              </a:ext>
            </a:extLst>
          </p:cNvPr>
          <p:cNvSpPr/>
          <p:nvPr/>
        </p:nvSpPr>
        <p:spPr>
          <a:xfrm rot="5400000">
            <a:off x="3079646" y="3199890"/>
            <a:ext cx="4438583" cy="369332"/>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Flèche : double flèche horizontale 19">
            <a:extLst>
              <a:ext uri="{FF2B5EF4-FFF2-40B4-BE49-F238E27FC236}">
                <a16:creationId xmlns:a16="http://schemas.microsoft.com/office/drawing/2014/main" id="{92AC707B-1BC2-4855-9468-0179644B69D9}"/>
              </a:ext>
            </a:extLst>
          </p:cNvPr>
          <p:cNvSpPr/>
          <p:nvPr/>
        </p:nvSpPr>
        <p:spPr>
          <a:xfrm rot="5400000">
            <a:off x="5169187" y="3199890"/>
            <a:ext cx="4438583" cy="369332"/>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 name="Rectangle 20">
            <a:extLst>
              <a:ext uri="{FF2B5EF4-FFF2-40B4-BE49-F238E27FC236}">
                <a16:creationId xmlns:a16="http://schemas.microsoft.com/office/drawing/2014/main" id="{C31F0474-DF73-4708-9AFB-4D7C752CD571}"/>
              </a:ext>
            </a:extLst>
          </p:cNvPr>
          <p:cNvSpPr/>
          <p:nvPr/>
        </p:nvSpPr>
        <p:spPr>
          <a:xfrm>
            <a:off x="7543683" y="1403919"/>
            <a:ext cx="1802162" cy="1802162"/>
          </a:xfrm>
          <a:prstGeom prst="rect">
            <a:avLst/>
          </a:prstGeom>
          <a:solidFill>
            <a:srgbClr val="3494BA"/>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r>
              <a:rPr lang="fr-FR" sz="1600" b="1" kern="1200" dirty="0"/>
              <a:t>Exemple : </a:t>
            </a:r>
          </a:p>
          <a:p>
            <a:pPr marL="0" lvl="0" indent="0" algn="ctr" defTabSz="889000">
              <a:lnSpc>
                <a:spcPct val="90000"/>
              </a:lnSpc>
              <a:spcBef>
                <a:spcPct val="0"/>
              </a:spcBef>
              <a:spcAft>
                <a:spcPct val="35000"/>
              </a:spcAft>
              <a:buNone/>
            </a:pPr>
            <a:r>
              <a:rPr lang="fr-FR" sz="1600" dirty="0"/>
              <a:t>Communauté de suivi / régulation d’un sujet légal peu apprécié important pour les affaires</a:t>
            </a:r>
            <a:endParaRPr lang="fr-FR" sz="1600" kern="1200" dirty="0"/>
          </a:p>
        </p:txBody>
      </p:sp>
      <p:sp>
        <p:nvSpPr>
          <p:cNvPr id="22" name="Rectangle 21">
            <a:extLst>
              <a:ext uri="{FF2B5EF4-FFF2-40B4-BE49-F238E27FC236}">
                <a16:creationId xmlns:a16="http://schemas.microsoft.com/office/drawing/2014/main" id="{2DFB846F-1799-4ED6-8B7D-108FD9D2617F}"/>
              </a:ext>
            </a:extLst>
          </p:cNvPr>
          <p:cNvSpPr/>
          <p:nvPr/>
        </p:nvSpPr>
        <p:spPr>
          <a:xfrm>
            <a:off x="7543683" y="3521460"/>
            <a:ext cx="1802162" cy="1802162"/>
          </a:xfrm>
          <a:prstGeom prst="rect">
            <a:avLst/>
          </a:prstGeom>
          <a:gradFill>
            <a:gsLst>
              <a:gs pos="50000">
                <a:srgbClr val="3494BA"/>
              </a:gs>
              <a:gs pos="100000">
                <a:schemeClr val="bg1">
                  <a:lumMod val="75000"/>
                </a:schemeClr>
              </a:gs>
              <a:gs pos="0">
                <a:srgbClr val="3494BA"/>
              </a:gs>
              <a:gs pos="5100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r>
              <a:rPr lang="fr-FR" sz="1600" b="1" dirty="0"/>
              <a:t>Exemple :</a:t>
            </a:r>
          </a:p>
          <a:p>
            <a:pPr algn="ctr" defTabSz="889000">
              <a:lnSpc>
                <a:spcPct val="90000"/>
              </a:lnSpc>
              <a:spcBef>
                <a:spcPct val="0"/>
              </a:spcBef>
              <a:spcAft>
                <a:spcPct val="35000"/>
              </a:spcAft>
            </a:pPr>
            <a:r>
              <a:rPr lang="fr-FR" sz="1600" dirty="0"/>
              <a:t>Communauté de </a:t>
            </a:r>
            <a:r>
              <a:rPr lang="fr-FR" sz="1600" dirty="0" err="1"/>
              <a:t>reporting</a:t>
            </a:r>
            <a:r>
              <a:rPr lang="fr-FR" sz="1600" dirty="0"/>
              <a:t> sur un sujet peu apprécié mais utile au management</a:t>
            </a:r>
          </a:p>
        </p:txBody>
      </p:sp>
      <p:sp>
        <p:nvSpPr>
          <p:cNvPr id="24" name="ZoneTexte 23">
            <a:extLst>
              <a:ext uri="{FF2B5EF4-FFF2-40B4-BE49-F238E27FC236}">
                <a16:creationId xmlns:a16="http://schemas.microsoft.com/office/drawing/2014/main" id="{51611692-850B-48E5-B3F1-BC487713CBA6}"/>
              </a:ext>
            </a:extLst>
          </p:cNvPr>
          <p:cNvSpPr txBox="1"/>
          <p:nvPr/>
        </p:nvSpPr>
        <p:spPr>
          <a:xfrm>
            <a:off x="5450990" y="2886717"/>
            <a:ext cx="1752822" cy="954107"/>
          </a:xfrm>
          <a:prstGeom prst="rect">
            <a:avLst/>
          </a:prstGeom>
          <a:noFill/>
        </p:spPr>
        <p:txBody>
          <a:bodyPr wrap="square">
            <a:spAutoFit/>
          </a:bodyPr>
          <a:lstStyle/>
          <a:p>
            <a:pPr lvl="0" algn="ctr"/>
            <a:r>
              <a:rPr lang="fr-FR" sz="1400" b="1" dirty="0"/>
              <a:t>La Communauté bénéficie aux membres et non membres</a:t>
            </a:r>
          </a:p>
        </p:txBody>
      </p:sp>
      <p:pic>
        <p:nvPicPr>
          <p:cNvPr id="3" name="Image 2" descr="Une image contenant fermer, outil, argent&#10;&#10;Description générée automatiquement">
            <a:extLst>
              <a:ext uri="{FF2B5EF4-FFF2-40B4-BE49-F238E27FC236}">
                <a16:creationId xmlns:a16="http://schemas.microsoft.com/office/drawing/2014/main" id="{3D2DBEB4-AF50-1D71-AE6D-2F2506F22BD0}"/>
              </a:ext>
            </a:extLst>
          </p:cNvPr>
          <p:cNvPicPr>
            <a:picLocks noChangeAspect="1"/>
          </p:cNvPicPr>
          <p:nvPr/>
        </p:nvPicPr>
        <p:blipFill>
          <a:blip r:embed="rId10" cstate="email">
            <a:extLst>
              <a:ext uri="{28A0092B-C50C-407E-A947-70E740481C1C}">
                <a14:useLocalDpi xmlns:a14="http://schemas.microsoft.com/office/drawing/2010/main"/>
              </a:ext>
              <a:ext uri="{837473B0-CC2E-450A-ABE3-18F120FF3D39}">
                <a1611:picAttrSrcUrl xmlns:a1611="http://schemas.microsoft.com/office/drawing/2016/11/main" r:id="rId11"/>
              </a:ext>
            </a:extLst>
          </a:blip>
          <a:stretch>
            <a:fillRect/>
          </a:stretch>
        </p:blipFill>
        <p:spPr>
          <a:xfrm>
            <a:off x="7828757" y="851374"/>
            <a:ext cx="1232014" cy="655987"/>
          </a:xfrm>
          <a:prstGeom prst="rect">
            <a:avLst/>
          </a:prstGeom>
        </p:spPr>
      </p:pic>
      <p:pic>
        <p:nvPicPr>
          <p:cNvPr id="11" name="Image 10">
            <a:extLst>
              <a:ext uri="{FF2B5EF4-FFF2-40B4-BE49-F238E27FC236}">
                <a16:creationId xmlns:a16="http://schemas.microsoft.com/office/drawing/2014/main" id="{12587A32-2885-E9AA-5CD0-BF2F36273CB8}"/>
              </a:ext>
            </a:extLst>
          </p:cNvPr>
          <p:cNvPicPr>
            <a:picLocks noChangeAspect="1"/>
          </p:cNvPicPr>
          <p:nvPr/>
        </p:nvPicPr>
        <p:blipFill>
          <a:blip r:embed="rId12" cstate="email">
            <a:extLst>
              <a:ext uri="{28A0092B-C50C-407E-A947-70E740481C1C}">
                <a14:useLocalDpi xmlns:a14="http://schemas.microsoft.com/office/drawing/2010/main"/>
              </a:ext>
              <a:ext uri="{837473B0-CC2E-450A-ABE3-18F120FF3D39}">
                <a1611:picAttrSrcUrl xmlns:a1611="http://schemas.microsoft.com/office/drawing/2016/11/main" r:id="rId13"/>
              </a:ext>
            </a:extLst>
          </a:blip>
          <a:stretch>
            <a:fillRect/>
          </a:stretch>
        </p:blipFill>
        <p:spPr>
          <a:xfrm>
            <a:off x="7732142" y="5250707"/>
            <a:ext cx="1425243" cy="801700"/>
          </a:xfrm>
          <a:prstGeom prst="rect">
            <a:avLst/>
          </a:prstGeom>
        </p:spPr>
      </p:pic>
      <p:pic>
        <p:nvPicPr>
          <p:cNvPr id="25" name="Graphique 24" descr="Bâtiment avec un remplissage uni">
            <a:extLst>
              <a:ext uri="{FF2B5EF4-FFF2-40B4-BE49-F238E27FC236}">
                <a16:creationId xmlns:a16="http://schemas.microsoft.com/office/drawing/2014/main" id="{EDA14D6E-B049-1061-9E82-C7DF338EEBAB}"/>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604567" y="949287"/>
            <a:ext cx="1722120" cy="1722120"/>
          </a:xfrm>
          <a:prstGeom prst="rect">
            <a:avLst/>
          </a:prstGeom>
        </p:spPr>
      </p:pic>
      <p:grpSp>
        <p:nvGrpSpPr>
          <p:cNvPr id="27" name="Groupe 26">
            <a:extLst>
              <a:ext uri="{FF2B5EF4-FFF2-40B4-BE49-F238E27FC236}">
                <a16:creationId xmlns:a16="http://schemas.microsoft.com/office/drawing/2014/main" id="{B295E458-0716-6F88-4401-B474FFB80F78}"/>
              </a:ext>
            </a:extLst>
          </p:cNvPr>
          <p:cNvGrpSpPr/>
          <p:nvPr/>
        </p:nvGrpSpPr>
        <p:grpSpPr>
          <a:xfrm>
            <a:off x="1496992" y="1405682"/>
            <a:ext cx="1507135" cy="1270634"/>
            <a:chOff x="8982504" y="3274976"/>
            <a:chExt cx="1230670" cy="1037553"/>
          </a:xfrm>
          <a:solidFill>
            <a:srgbClr val="ED7D31"/>
          </a:solidFill>
        </p:grpSpPr>
        <p:pic>
          <p:nvPicPr>
            <p:cNvPr id="28" name="Graphique 27" descr="Utilisateur avec un remplissage uni">
              <a:extLst>
                <a:ext uri="{FF2B5EF4-FFF2-40B4-BE49-F238E27FC236}">
                  <a16:creationId xmlns:a16="http://schemas.microsoft.com/office/drawing/2014/main" id="{2F92EBE3-9631-EB94-9F54-3A2F1B7F9F7F}"/>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301028" y="3274976"/>
              <a:ext cx="336064" cy="336064"/>
            </a:xfrm>
            <a:prstGeom prst="rect">
              <a:avLst/>
            </a:prstGeom>
          </p:spPr>
        </p:pic>
        <p:pic>
          <p:nvPicPr>
            <p:cNvPr id="33" name="Graphique 32" descr="Utilisateur avec un remplissage uni">
              <a:extLst>
                <a:ext uri="{FF2B5EF4-FFF2-40B4-BE49-F238E27FC236}">
                  <a16:creationId xmlns:a16="http://schemas.microsoft.com/office/drawing/2014/main" id="{4F576CD6-F87F-D427-B846-4605B7A401A4}"/>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054140" y="3512720"/>
              <a:ext cx="336064" cy="336064"/>
            </a:xfrm>
            <a:prstGeom prst="rect">
              <a:avLst/>
            </a:prstGeom>
          </p:spPr>
        </p:pic>
        <p:pic>
          <p:nvPicPr>
            <p:cNvPr id="35" name="Graphique 34" descr="Utilisateur avec un remplissage uni">
              <a:extLst>
                <a:ext uri="{FF2B5EF4-FFF2-40B4-BE49-F238E27FC236}">
                  <a16:creationId xmlns:a16="http://schemas.microsoft.com/office/drawing/2014/main" id="{76995C79-5A6E-3F12-4E39-299769581CD8}"/>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345616" y="3561880"/>
              <a:ext cx="336064" cy="336064"/>
            </a:xfrm>
            <a:prstGeom prst="rect">
              <a:avLst/>
            </a:prstGeom>
          </p:spPr>
        </p:pic>
        <p:pic>
          <p:nvPicPr>
            <p:cNvPr id="36" name="Graphique 35" descr="Utilisateur avec un remplissage uni">
              <a:extLst>
                <a:ext uri="{FF2B5EF4-FFF2-40B4-BE49-F238E27FC236}">
                  <a16:creationId xmlns:a16="http://schemas.microsoft.com/office/drawing/2014/main" id="{EB876AD1-7124-D05E-DBD9-7C6A09593A92}"/>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592504" y="3418428"/>
              <a:ext cx="336064" cy="336064"/>
            </a:xfrm>
            <a:prstGeom prst="rect">
              <a:avLst/>
            </a:prstGeom>
          </p:spPr>
        </p:pic>
        <p:pic>
          <p:nvPicPr>
            <p:cNvPr id="37" name="Graphique 36" descr="Utilisateur avec un remplissage uni">
              <a:extLst>
                <a:ext uri="{FF2B5EF4-FFF2-40B4-BE49-F238E27FC236}">
                  <a16:creationId xmlns:a16="http://schemas.microsoft.com/office/drawing/2014/main" id="{760D8918-D512-725C-46BE-B72E3600808F}"/>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635196" y="3680752"/>
              <a:ext cx="336064" cy="336064"/>
            </a:xfrm>
            <a:prstGeom prst="rect">
              <a:avLst/>
            </a:prstGeom>
          </p:spPr>
        </p:pic>
        <p:pic>
          <p:nvPicPr>
            <p:cNvPr id="38" name="Graphique 37" descr="Utilisateur avec un remplissage uni">
              <a:extLst>
                <a:ext uri="{FF2B5EF4-FFF2-40B4-BE49-F238E27FC236}">
                  <a16:creationId xmlns:a16="http://schemas.microsoft.com/office/drawing/2014/main" id="{04A3A0C6-F560-69F5-BBDF-F5136D509BD5}"/>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256440" y="3848784"/>
              <a:ext cx="336064" cy="336064"/>
            </a:xfrm>
            <a:prstGeom prst="rect">
              <a:avLst/>
            </a:prstGeom>
          </p:spPr>
        </p:pic>
        <p:pic>
          <p:nvPicPr>
            <p:cNvPr id="39" name="Graphique 38" descr="Utilisateur avec un remplissage uni">
              <a:extLst>
                <a:ext uri="{FF2B5EF4-FFF2-40B4-BE49-F238E27FC236}">
                  <a16:creationId xmlns:a16="http://schemas.microsoft.com/office/drawing/2014/main" id="{7DABF92F-06CC-B26C-B4BB-FA96392CB32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982504" y="3835028"/>
              <a:ext cx="336064" cy="336064"/>
            </a:xfrm>
            <a:prstGeom prst="rect">
              <a:avLst/>
            </a:prstGeom>
          </p:spPr>
        </p:pic>
        <p:pic>
          <p:nvPicPr>
            <p:cNvPr id="40" name="Graphique 39" descr="Utilisateur avec un remplissage uni">
              <a:extLst>
                <a:ext uri="{FF2B5EF4-FFF2-40B4-BE49-F238E27FC236}">
                  <a16:creationId xmlns:a16="http://schemas.microsoft.com/office/drawing/2014/main" id="{0952D7EB-FEAA-0D66-41F6-476CC88044FA}"/>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520868" y="3943076"/>
              <a:ext cx="336064" cy="336064"/>
            </a:xfrm>
            <a:prstGeom prst="rect">
              <a:avLst/>
            </a:prstGeom>
          </p:spPr>
        </p:pic>
        <p:pic>
          <p:nvPicPr>
            <p:cNvPr id="41" name="Graphique 40" descr="Utilisateur avec un remplissage uni">
              <a:extLst>
                <a:ext uri="{FF2B5EF4-FFF2-40B4-BE49-F238E27FC236}">
                  <a16:creationId xmlns:a16="http://schemas.microsoft.com/office/drawing/2014/main" id="{080D294A-B034-0103-0ABB-92EEF428C175}"/>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742772" y="3976465"/>
              <a:ext cx="336064" cy="336064"/>
            </a:xfrm>
            <a:prstGeom prst="rect">
              <a:avLst/>
            </a:prstGeom>
          </p:spPr>
        </p:pic>
        <p:pic>
          <p:nvPicPr>
            <p:cNvPr id="42" name="Graphique 41" descr="Utilisateur avec un remplissage uni">
              <a:extLst>
                <a:ext uri="{FF2B5EF4-FFF2-40B4-BE49-F238E27FC236}">
                  <a16:creationId xmlns:a16="http://schemas.microsoft.com/office/drawing/2014/main" id="{489E33EE-975A-3201-8C1D-31B0DF12CF04}"/>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877110" y="3705332"/>
              <a:ext cx="336064" cy="336064"/>
            </a:xfrm>
            <a:prstGeom prst="rect">
              <a:avLst/>
            </a:prstGeom>
          </p:spPr>
        </p:pic>
        <p:pic>
          <p:nvPicPr>
            <p:cNvPr id="43" name="Graphique 42" descr="Utilisateur avec un remplissage uni">
              <a:extLst>
                <a:ext uri="{FF2B5EF4-FFF2-40B4-BE49-F238E27FC236}">
                  <a16:creationId xmlns:a16="http://schemas.microsoft.com/office/drawing/2014/main" id="{48DFDAB0-FED7-F82F-462D-D13CAE29ECF5}"/>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856932" y="3429000"/>
              <a:ext cx="336064" cy="336064"/>
            </a:xfrm>
            <a:prstGeom prst="rect">
              <a:avLst/>
            </a:prstGeom>
          </p:spPr>
        </p:pic>
      </p:grpSp>
    </p:spTree>
    <p:extLst>
      <p:ext uri="{BB962C8B-B14F-4D97-AF65-F5344CB8AC3E}">
        <p14:creationId xmlns:p14="http://schemas.microsoft.com/office/powerpoint/2010/main" val="3098309932"/>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2815280-3808-6090-E093-4A076AE7A4DA}"/>
              </a:ext>
            </a:extLst>
          </p:cNvPr>
          <p:cNvSpPr>
            <a:spLocks noGrp="1"/>
          </p:cNvSpPr>
          <p:nvPr>
            <p:ph type="title"/>
          </p:nvPr>
        </p:nvSpPr>
        <p:spPr>
          <a:xfrm>
            <a:off x="838200" y="365125"/>
            <a:ext cx="10515600" cy="458599"/>
          </a:xfrm>
        </p:spPr>
        <p:txBody>
          <a:bodyPr>
            <a:normAutofit fontScale="90000"/>
          </a:bodyPr>
          <a:lstStyle/>
          <a:p>
            <a:r>
              <a:rPr lang="fr-FR" sz="3600" dirty="0"/>
              <a:t>Composer la Communauté selon les contraintes</a:t>
            </a:r>
          </a:p>
        </p:txBody>
      </p:sp>
      <p:sp>
        <p:nvSpPr>
          <p:cNvPr id="3" name="Espace réservé du contenu 2">
            <a:extLst>
              <a:ext uri="{FF2B5EF4-FFF2-40B4-BE49-F238E27FC236}">
                <a16:creationId xmlns:a16="http://schemas.microsoft.com/office/drawing/2014/main" id="{3DF3C4CC-F4B2-E7D9-F103-2B791599F036}"/>
              </a:ext>
            </a:extLst>
          </p:cNvPr>
          <p:cNvSpPr>
            <a:spLocks noGrp="1"/>
          </p:cNvSpPr>
          <p:nvPr>
            <p:ph idx="1"/>
          </p:nvPr>
        </p:nvSpPr>
        <p:spPr>
          <a:xfrm>
            <a:off x="0" y="2545464"/>
            <a:ext cx="3778903" cy="530402"/>
          </a:xfrm>
        </p:spPr>
        <p:txBody>
          <a:bodyPr>
            <a:noAutofit/>
          </a:bodyPr>
          <a:lstStyle/>
          <a:p>
            <a:pPr marL="0" indent="0" algn="ctr">
              <a:buNone/>
            </a:pPr>
            <a:r>
              <a:rPr lang="fr-FR" sz="1800" b="1" dirty="0">
                <a:solidFill>
                  <a:srgbClr val="ED7D31"/>
                </a:solidFill>
              </a:rPr>
              <a:t>Contrainte uniquement sur l’identité des membres</a:t>
            </a:r>
            <a:endParaRPr lang="fr-FR" sz="1800" dirty="0">
              <a:sym typeface="Wingdings" panose="05000000000000000000" pitchFamily="2" charset="2"/>
            </a:endParaRPr>
          </a:p>
        </p:txBody>
      </p:sp>
      <p:grpSp>
        <p:nvGrpSpPr>
          <p:cNvPr id="43" name="Groupe 42">
            <a:extLst>
              <a:ext uri="{FF2B5EF4-FFF2-40B4-BE49-F238E27FC236}">
                <a16:creationId xmlns:a16="http://schemas.microsoft.com/office/drawing/2014/main" id="{F6B3F5ED-A0C4-455C-6763-A79564F7B643}"/>
              </a:ext>
            </a:extLst>
          </p:cNvPr>
          <p:cNvGrpSpPr/>
          <p:nvPr/>
        </p:nvGrpSpPr>
        <p:grpSpPr>
          <a:xfrm>
            <a:off x="1040632" y="1148000"/>
            <a:ext cx="1723979" cy="1270634"/>
            <a:chOff x="596645" y="1690688"/>
            <a:chExt cx="1723979" cy="1270634"/>
          </a:xfrm>
        </p:grpSpPr>
        <p:grpSp>
          <p:nvGrpSpPr>
            <p:cNvPr id="4" name="Groupe 3">
              <a:extLst>
                <a:ext uri="{FF2B5EF4-FFF2-40B4-BE49-F238E27FC236}">
                  <a16:creationId xmlns:a16="http://schemas.microsoft.com/office/drawing/2014/main" id="{663F06F5-0301-2EE3-D56B-F35AD5D2ECB4}"/>
                </a:ext>
              </a:extLst>
            </p:cNvPr>
            <p:cNvGrpSpPr/>
            <p:nvPr/>
          </p:nvGrpSpPr>
          <p:grpSpPr>
            <a:xfrm>
              <a:off x="698431" y="1690688"/>
              <a:ext cx="1507135" cy="1270634"/>
              <a:chOff x="8982504" y="3274976"/>
              <a:chExt cx="1230670" cy="1037553"/>
            </a:xfrm>
            <a:solidFill>
              <a:srgbClr val="ED7D31"/>
            </a:solidFill>
          </p:grpSpPr>
          <p:pic>
            <p:nvPicPr>
              <p:cNvPr id="5" name="Graphique 4" descr="Utilisateur avec un remplissage uni">
                <a:extLst>
                  <a:ext uri="{FF2B5EF4-FFF2-40B4-BE49-F238E27FC236}">
                    <a16:creationId xmlns:a16="http://schemas.microsoft.com/office/drawing/2014/main" id="{A240BEBD-7823-74F1-AB0F-CCCB388A9F0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6" name="Graphique 5" descr="Utilisateur avec un remplissage uni">
                <a:extLst>
                  <a:ext uri="{FF2B5EF4-FFF2-40B4-BE49-F238E27FC236}">
                    <a16:creationId xmlns:a16="http://schemas.microsoft.com/office/drawing/2014/main" id="{6F1CC058-BCC9-5FB2-2704-764DDF53C5D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7" name="Graphique 6" descr="Utilisateur avec un remplissage uni">
                <a:extLst>
                  <a:ext uri="{FF2B5EF4-FFF2-40B4-BE49-F238E27FC236}">
                    <a16:creationId xmlns:a16="http://schemas.microsoft.com/office/drawing/2014/main" id="{D572E1E4-67D4-B42A-1E40-71D0DD1B18F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8" name="Graphique 7" descr="Utilisateur avec un remplissage uni">
                <a:extLst>
                  <a:ext uri="{FF2B5EF4-FFF2-40B4-BE49-F238E27FC236}">
                    <a16:creationId xmlns:a16="http://schemas.microsoft.com/office/drawing/2014/main" id="{67A5A2AD-95B0-36F4-B496-76BE720C8DD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9" name="Graphique 8" descr="Utilisateur avec un remplissage uni">
                <a:extLst>
                  <a:ext uri="{FF2B5EF4-FFF2-40B4-BE49-F238E27FC236}">
                    <a16:creationId xmlns:a16="http://schemas.microsoft.com/office/drawing/2014/main" id="{2AB43F34-1760-00F5-9B04-CC526415B5F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0" name="Graphique 9" descr="Utilisateur avec un remplissage uni">
                <a:extLst>
                  <a:ext uri="{FF2B5EF4-FFF2-40B4-BE49-F238E27FC236}">
                    <a16:creationId xmlns:a16="http://schemas.microsoft.com/office/drawing/2014/main" id="{8E3CA1F4-20CA-CCAD-BCBA-88EAB7A6027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1" name="Graphique 10" descr="Utilisateur avec un remplissage uni">
                <a:extLst>
                  <a:ext uri="{FF2B5EF4-FFF2-40B4-BE49-F238E27FC236}">
                    <a16:creationId xmlns:a16="http://schemas.microsoft.com/office/drawing/2014/main" id="{BFDF1D8C-E567-AA96-7334-2E4EDA576F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2" name="Graphique 11" descr="Utilisateur avec un remplissage uni">
                <a:extLst>
                  <a:ext uri="{FF2B5EF4-FFF2-40B4-BE49-F238E27FC236}">
                    <a16:creationId xmlns:a16="http://schemas.microsoft.com/office/drawing/2014/main" id="{FEFF57DD-ED49-302F-A457-19EC22E9F83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3" name="Graphique 12" descr="Utilisateur avec un remplissage uni">
                <a:extLst>
                  <a:ext uri="{FF2B5EF4-FFF2-40B4-BE49-F238E27FC236}">
                    <a16:creationId xmlns:a16="http://schemas.microsoft.com/office/drawing/2014/main" id="{C9BC6DBA-93E5-E904-3C67-159B8BA8E36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4" name="Graphique 13" descr="Utilisateur avec un remplissage uni">
                <a:extLst>
                  <a:ext uri="{FF2B5EF4-FFF2-40B4-BE49-F238E27FC236}">
                    <a16:creationId xmlns:a16="http://schemas.microsoft.com/office/drawing/2014/main" id="{7430E99E-CA8A-3DE4-3060-4E3F31B8756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5" name="Graphique 14" descr="Utilisateur avec un remplissage uni">
                <a:extLst>
                  <a:ext uri="{FF2B5EF4-FFF2-40B4-BE49-F238E27FC236}">
                    <a16:creationId xmlns:a16="http://schemas.microsoft.com/office/drawing/2014/main" id="{E356949E-92A9-A78C-48F0-1BBA74F9479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sp>
          <p:nvSpPr>
            <p:cNvPr id="31" name="Rectangle 30">
              <a:extLst>
                <a:ext uri="{FF2B5EF4-FFF2-40B4-BE49-F238E27FC236}">
                  <a16:creationId xmlns:a16="http://schemas.microsoft.com/office/drawing/2014/main" id="{B93835B9-1E06-1204-3E25-E18176B022DD}"/>
                </a:ext>
              </a:extLst>
            </p:cNvPr>
            <p:cNvSpPr/>
            <p:nvPr/>
          </p:nvSpPr>
          <p:spPr>
            <a:xfrm>
              <a:off x="596645" y="1690688"/>
              <a:ext cx="1723979" cy="1242000"/>
            </a:xfrm>
            <a:prstGeom prst="rect">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 name="Groupe 43">
            <a:extLst>
              <a:ext uri="{FF2B5EF4-FFF2-40B4-BE49-F238E27FC236}">
                <a16:creationId xmlns:a16="http://schemas.microsoft.com/office/drawing/2014/main" id="{57481A64-9BC6-16DC-ECD0-9E282B68E320}"/>
              </a:ext>
            </a:extLst>
          </p:cNvPr>
          <p:cNvGrpSpPr/>
          <p:nvPr/>
        </p:nvGrpSpPr>
        <p:grpSpPr>
          <a:xfrm>
            <a:off x="5092351" y="1148000"/>
            <a:ext cx="1723979" cy="1242000"/>
            <a:chOff x="572068" y="3309027"/>
            <a:chExt cx="1723979" cy="1242000"/>
          </a:xfrm>
        </p:grpSpPr>
        <p:pic>
          <p:nvPicPr>
            <p:cNvPr id="16" name="Graphique 15" descr="Bâtiment avec un remplissage uni">
              <a:extLst>
                <a:ext uri="{FF2B5EF4-FFF2-40B4-BE49-F238E27FC236}">
                  <a16:creationId xmlns:a16="http://schemas.microsoft.com/office/drawing/2014/main" id="{F86D706B-FFB5-98BC-2420-00A6D3658F3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07844" y="3327401"/>
              <a:ext cx="1220336" cy="1220336"/>
            </a:xfrm>
            <a:prstGeom prst="rect">
              <a:avLst/>
            </a:prstGeom>
          </p:spPr>
        </p:pic>
        <p:sp>
          <p:nvSpPr>
            <p:cNvPr id="32" name="Rectangle 31">
              <a:extLst>
                <a:ext uri="{FF2B5EF4-FFF2-40B4-BE49-F238E27FC236}">
                  <a16:creationId xmlns:a16="http://schemas.microsoft.com/office/drawing/2014/main" id="{AF245388-A4E7-71FB-9279-087941EA7D82}"/>
                </a:ext>
              </a:extLst>
            </p:cNvPr>
            <p:cNvSpPr/>
            <p:nvPr/>
          </p:nvSpPr>
          <p:spPr>
            <a:xfrm>
              <a:off x="572068" y="3309027"/>
              <a:ext cx="1723979" cy="1242000"/>
            </a:xfrm>
            <a:prstGeom prst="rect">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 name="Groupe 44">
            <a:extLst>
              <a:ext uri="{FF2B5EF4-FFF2-40B4-BE49-F238E27FC236}">
                <a16:creationId xmlns:a16="http://schemas.microsoft.com/office/drawing/2014/main" id="{11CF2BD3-B6EA-CBFF-4FC0-79974F3C4BAA}"/>
              </a:ext>
            </a:extLst>
          </p:cNvPr>
          <p:cNvGrpSpPr/>
          <p:nvPr/>
        </p:nvGrpSpPr>
        <p:grpSpPr>
          <a:xfrm>
            <a:off x="8977366" y="1148000"/>
            <a:ext cx="1888459" cy="1320931"/>
            <a:chOff x="456876" y="4905703"/>
            <a:chExt cx="1888459" cy="1320931"/>
          </a:xfrm>
        </p:grpSpPr>
        <p:pic>
          <p:nvPicPr>
            <p:cNvPr id="17" name="Graphique 16" descr="Bâtiment avec un remplissage uni">
              <a:extLst>
                <a:ext uri="{FF2B5EF4-FFF2-40B4-BE49-F238E27FC236}">
                  <a16:creationId xmlns:a16="http://schemas.microsoft.com/office/drawing/2014/main" id="{22A68880-190C-97D3-9128-5E643406B9E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56876" y="4956001"/>
              <a:ext cx="1220336" cy="1220336"/>
            </a:xfrm>
            <a:prstGeom prst="rect">
              <a:avLst/>
            </a:prstGeom>
          </p:spPr>
        </p:pic>
        <p:grpSp>
          <p:nvGrpSpPr>
            <p:cNvPr id="18" name="Groupe 17">
              <a:extLst>
                <a:ext uri="{FF2B5EF4-FFF2-40B4-BE49-F238E27FC236}">
                  <a16:creationId xmlns:a16="http://schemas.microsoft.com/office/drawing/2014/main" id="{5A76D711-836A-3314-4784-B5EB41666D1D}"/>
                </a:ext>
              </a:extLst>
            </p:cNvPr>
            <p:cNvGrpSpPr/>
            <p:nvPr/>
          </p:nvGrpSpPr>
          <p:grpSpPr>
            <a:xfrm>
              <a:off x="838200" y="4905703"/>
              <a:ext cx="1507135" cy="1270634"/>
              <a:chOff x="8982504" y="3274976"/>
              <a:chExt cx="1230670" cy="1037553"/>
            </a:xfrm>
            <a:solidFill>
              <a:srgbClr val="ED7D31"/>
            </a:solidFill>
          </p:grpSpPr>
          <p:pic>
            <p:nvPicPr>
              <p:cNvPr id="19" name="Graphique 18" descr="Utilisateur avec un remplissage uni">
                <a:extLst>
                  <a:ext uri="{FF2B5EF4-FFF2-40B4-BE49-F238E27FC236}">
                    <a16:creationId xmlns:a16="http://schemas.microsoft.com/office/drawing/2014/main" id="{8297ADD9-8476-2315-1A35-48633347209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20" name="Graphique 19" descr="Utilisateur avec un remplissage uni">
                <a:extLst>
                  <a:ext uri="{FF2B5EF4-FFF2-40B4-BE49-F238E27FC236}">
                    <a16:creationId xmlns:a16="http://schemas.microsoft.com/office/drawing/2014/main" id="{A306D1A3-C843-C188-FE99-02705793FFF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21" name="Graphique 20" descr="Utilisateur avec un remplissage uni">
                <a:extLst>
                  <a:ext uri="{FF2B5EF4-FFF2-40B4-BE49-F238E27FC236}">
                    <a16:creationId xmlns:a16="http://schemas.microsoft.com/office/drawing/2014/main" id="{2F280944-3F56-1918-9B85-73BDE8A731D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22" name="Graphique 21" descr="Utilisateur avec un remplissage uni">
                <a:extLst>
                  <a:ext uri="{FF2B5EF4-FFF2-40B4-BE49-F238E27FC236}">
                    <a16:creationId xmlns:a16="http://schemas.microsoft.com/office/drawing/2014/main" id="{05D4E1C0-7DF5-BAE1-F13B-F406B526DBB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23" name="Graphique 22" descr="Utilisateur avec un remplissage uni">
                <a:extLst>
                  <a:ext uri="{FF2B5EF4-FFF2-40B4-BE49-F238E27FC236}">
                    <a16:creationId xmlns:a16="http://schemas.microsoft.com/office/drawing/2014/main" id="{03DC53A3-2859-0A08-E7B5-BD106A52589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24" name="Graphique 23" descr="Utilisateur avec un remplissage uni">
                <a:extLst>
                  <a:ext uri="{FF2B5EF4-FFF2-40B4-BE49-F238E27FC236}">
                    <a16:creationId xmlns:a16="http://schemas.microsoft.com/office/drawing/2014/main" id="{3ED599E0-44A5-BD51-1243-AE033C49159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25" name="Graphique 24" descr="Utilisateur avec un remplissage uni">
                <a:extLst>
                  <a:ext uri="{FF2B5EF4-FFF2-40B4-BE49-F238E27FC236}">
                    <a16:creationId xmlns:a16="http://schemas.microsoft.com/office/drawing/2014/main" id="{A3619DDF-437F-5816-B6FD-09F04FCB7A1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26" name="Graphique 25" descr="Utilisateur avec un remplissage uni">
                <a:extLst>
                  <a:ext uri="{FF2B5EF4-FFF2-40B4-BE49-F238E27FC236}">
                    <a16:creationId xmlns:a16="http://schemas.microsoft.com/office/drawing/2014/main" id="{C49EE3E9-F6DC-38C8-82FB-2AA30AF93E0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27" name="Graphique 26" descr="Utilisateur avec un remplissage uni">
                <a:extLst>
                  <a:ext uri="{FF2B5EF4-FFF2-40B4-BE49-F238E27FC236}">
                    <a16:creationId xmlns:a16="http://schemas.microsoft.com/office/drawing/2014/main" id="{A76C77E8-7796-8653-40D8-1305716F214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28" name="Graphique 27" descr="Utilisateur avec un remplissage uni">
                <a:extLst>
                  <a:ext uri="{FF2B5EF4-FFF2-40B4-BE49-F238E27FC236}">
                    <a16:creationId xmlns:a16="http://schemas.microsoft.com/office/drawing/2014/main" id="{98081D5A-6B24-0BAC-4E77-087AF4BBE0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29" name="Graphique 28" descr="Utilisateur avec un remplissage uni">
                <a:extLst>
                  <a:ext uri="{FF2B5EF4-FFF2-40B4-BE49-F238E27FC236}">
                    <a16:creationId xmlns:a16="http://schemas.microsoft.com/office/drawing/2014/main" id="{848BC60F-3D7B-05D8-E890-E70626CFFFF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sp>
          <p:nvSpPr>
            <p:cNvPr id="33" name="Rectangle 32">
              <a:extLst>
                <a:ext uri="{FF2B5EF4-FFF2-40B4-BE49-F238E27FC236}">
                  <a16:creationId xmlns:a16="http://schemas.microsoft.com/office/drawing/2014/main" id="{7F1F7F34-0AAF-65AA-6494-9FAA396E511A}"/>
                </a:ext>
              </a:extLst>
            </p:cNvPr>
            <p:cNvSpPr/>
            <p:nvPr/>
          </p:nvSpPr>
          <p:spPr>
            <a:xfrm>
              <a:off x="583475" y="4917913"/>
              <a:ext cx="1723979" cy="1308721"/>
            </a:xfrm>
            <a:prstGeom prst="rect">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5" name="ZoneTexte 34">
            <a:extLst>
              <a:ext uri="{FF2B5EF4-FFF2-40B4-BE49-F238E27FC236}">
                <a16:creationId xmlns:a16="http://schemas.microsoft.com/office/drawing/2014/main" id="{0FB55D50-1DD3-4816-0AC0-B7F2A6E32352}"/>
              </a:ext>
            </a:extLst>
          </p:cNvPr>
          <p:cNvSpPr txBox="1"/>
          <p:nvPr/>
        </p:nvSpPr>
        <p:spPr>
          <a:xfrm>
            <a:off x="251162" y="5339424"/>
            <a:ext cx="3317171" cy="738664"/>
          </a:xfrm>
          <a:prstGeom prst="rect">
            <a:avLst/>
          </a:prstGeom>
          <a:solidFill>
            <a:schemeClr val="bg1"/>
          </a:solidFill>
          <a:ln>
            <a:solidFill>
              <a:schemeClr val="tx1"/>
            </a:solidFill>
          </a:ln>
        </p:spPr>
        <p:txBody>
          <a:bodyPr wrap="square">
            <a:spAutoFit/>
          </a:bodyPr>
          <a:lstStyle/>
          <a:p>
            <a:r>
              <a:rPr lang="fr-FR" sz="1400" dirty="0"/>
              <a:t>Exemple : une Communauté créée sur la base d’un département, pour développer la rétention</a:t>
            </a:r>
          </a:p>
        </p:txBody>
      </p:sp>
      <p:sp>
        <p:nvSpPr>
          <p:cNvPr id="38" name="ZoneTexte 37">
            <a:extLst>
              <a:ext uri="{FF2B5EF4-FFF2-40B4-BE49-F238E27FC236}">
                <a16:creationId xmlns:a16="http://schemas.microsoft.com/office/drawing/2014/main" id="{42E62D3F-B4A8-B236-B773-67241E47FE94}"/>
              </a:ext>
            </a:extLst>
          </p:cNvPr>
          <p:cNvSpPr txBox="1"/>
          <p:nvPr/>
        </p:nvSpPr>
        <p:spPr>
          <a:xfrm>
            <a:off x="4300319" y="5330721"/>
            <a:ext cx="3317171" cy="738664"/>
          </a:xfrm>
          <a:prstGeom prst="rect">
            <a:avLst/>
          </a:prstGeom>
          <a:solidFill>
            <a:schemeClr val="bg1"/>
          </a:solidFill>
          <a:ln>
            <a:solidFill>
              <a:schemeClr val="tx1"/>
            </a:solidFill>
          </a:ln>
        </p:spPr>
        <p:txBody>
          <a:bodyPr wrap="square">
            <a:spAutoFit/>
          </a:bodyPr>
          <a:lstStyle/>
          <a:p>
            <a:r>
              <a:rPr lang="fr-FR" sz="1400" dirty="0"/>
              <a:t>Exemple : une Communauté créée sur la base d’un sujet stratégique pour l’entreprise</a:t>
            </a:r>
          </a:p>
        </p:txBody>
      </p:sp>
      <p:sp>
        <p:nvSpPr>
          <p:cNvPr id="39" name="ZoneTexte 38">
            <a:extLst>
              <a:ext uri="{FF2B5EF4-FFF2-40B4-BE49-F238E27FC236}">
                <a16:creationId xmlns:a16="http://schemas.microsoft.com/office/drawing/2014/main" id="{80188ADA-31A2-6E8F-B4FE-85802460C080}"/>
              </a:ext>
            </a:extLst>
          </p:cNvPr>
          <p:cNvSpPr txBox="1"/>
          <p:nvPr/>
        </p:nvSpPr>
        <p:spPr>
          <a:xfrm>
            <a:off x="8482022" y="5296834"/>
            <a:ext cx="3317171" cy="738664"/>
          </a:xfrm>
          <a:prstGeom prst="rect">
            <a:avLst/>
          </a:prstGeom>
          <a:solidFill>
            <a:schemeClr val="bg1"/>
          </a:solidFill>
          <a:ln>
            <a:solidFill>
              <a:schemeClr val="tx1"/>
            </a:solidFill>
          </a:ln>
        </p:spPr>
        <p:txBody>
          <a:bodyPr wrap="square">
            <a:spAutoFit/>
          </a:bodyPr>
          <a:lstStyle/>
          <a:p>
            <a:r>
              <a:rPr lang="fr-FR" sz="1400" dirty="0"/>
              <a:t>Exemple : une Communauté créée sur la base d’un département, avec une vocation de développer une activité stratégique </a:t>
            </a:r>
          </a:p>
        </p:txBody>
      </p:sp>
      <p:sp>
        <p:nvSpPr>
          <p:cNvPr id="40" name="Espace réservé du contenu 2">
            <a:extLst>
              <a:ext uri="{FF2B5EF4-FFF2-40B4-BE49-F238E27FC236}">
                <a16:creationId xmlns:a16="http://schemas.microsoft.com/office/drawing/2014/main" id="{CD25DE1A-AAAD-E1D9-2FC6-E96BCE1D6AC1}"/>
              </a:ext>
            </a:extLst>
          </p:cNvPr>
          <p:cNvSpPr txBox="1">
            <a:spLocks/>
          </p:cNvSpPr>
          <p:nvPr/>
        </p:nvSpPr>
        <p:spPr>
          <a:xfrm>
            <a:off x="8268555" y="2545463"/>
            <a:ext cx="3778903" cy="889027"/>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800" b="1" dirty="0">
                <a:solidFill>
                  <a:srgbClr val="3494BA"/>
                </a:solidFill>
                <a:sym typeface="Wingdings" panose="05000000000000000000" pitchFamily="2" charset="2"/>
              </a:rPr>
              <a:t>Contraintes à la fois sur l’identité des membres et la valeur attendue pour l’entreprise</a:t>
            </a:r>
            <a:r>
              <a:rPr lang="fr-FR" sz="1800" dirty="0">
                <a:sym typeface="Wingdings" panose="05000000000000000000" pitchFamily="2" charset="2"/>
              </a:rPr>
              <a:t> </a:t>
            </a:r>
            <a:endParaRPr lang="fr-FR" sz="1800" dirty="0"/>
          </a:p>
        </p:txBody>
      </p:sp>
      <p:sp>
        <p:nvSpPr>
          <p:cNvPr id="41" name="Espace réservé du contenu 2">
            <a:extLst>
              <a:ext uri="{FF2B5EF4-FFF2-40B4-BE49-F238E27FC236}">
                <a16:creationId xmlns:a16="http://schemas.microsoft.com/office/drawing/2014/main" id="{15B8CE9A-7ADD-384B-8373-08116B216391}"/>
              </a:ext>
            </a:extLst>
          </p:cNvPr>
          <p:cNvSpPr txBox="1">
            <a:spLocks/>
          </p:cNvSpPr>
          <p:nvPr/>
        </p:nvSpPr>
        <p:spPr>
          <a:xfrm>
            <a:off x="4178991" y="2545463"/>
            <a:ext cx="3778903" cy="55479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800" b="1" dirty="0">
                <a:sym typeface="Wingdings" panose="05000000000000000000" pitchFamily="2" charset="2"/>
              </a:rPr>
              <a:t>Contrainte uniquement sur la valeur attendue pour l’entreprise</a:t>
            </a:r>
            <a:r>
              <a:rPr lang="fr-FR" sz="1800" dirty="0">
                <a:sym typeface="Wingdings" panose="05000000000000000000" pitchFamily="2" charset="2"/>
              </a:rPr>
              <a:t> </a:t>
            </a:r>
          </a:p>
        </p:txBody>
      </p:sp>
      <p:sp>
        <p:nvSpPr>
          <p:cNvPr id="30" name="ZoneTexte 29">
            <a:extLst>
              <a:ext uri="{FF2B5EF4-FFF2-40B4-BE49-F238E27FC236}">
                <a16:creationId xmlns:a16="http://schemas.microsoft.com/office/drawing/2014/main" id="{26440134-3BAB-D314-2CFA-C9CA38963481}"/>
              </a:ext>
            </a:extLst>
          </p:cNvPr>
          <p:cNvSpPr txBox="1"/>
          <p:nvPr/>
        </p:nvSpPr>
        <p:spPr>
          <a:xfrm>
            <a:off x="244035" y="4231963"/>
            <a:ext cx="3317171" cy="523220"/>
          </a:xfrm>
          <a:prstGeom prst="rect">
            <a:avLst/>
          </a:prstGeom>
          <a:solidFill>
            <a:schemeClr val="bg1">
              <a:lumMod val="75000"/>
            </a:schemeClr>
          </a:solidFill>
          <a:ln>
            <a:solidFill>
              <a:schemeClr val="tx1"/>
            </a:solidFill>
          </a:ln>
        </p:spPr>
        <p:txBody>
          <a:bodyPr wrap="square">
            <a:spAutoFit/>
          </a:bodyPr>
          <a:lstStyle/>
          <a:p>
            <a:pPr algn="ctr"/>
            <a:r>
              <a:rPr lang="fr-FR" sz="1400" dirty="0">
                <a:sym typeface="Wingdings" panose="05000000000000000000" pitchFamily="2" charset="2"/>
              </a:rPr>
              <a:t>Choisir les activités qui ont le plus de valeur pour eux</a:t>
            </a:r>
            <a:endParaRPr lang="fr-FR" sz="1400" dirty="0"/>
          </a:p>
        </p:txBody>
      </p:sp>
      <p:sp>
        <p:nvSpPr>
          <p:cNvPr id="34" name="ZoneTexte 33">
            <a:extLst>
              <a:ext uri="{FF2B5EF4-FFF2-40B4-BE49-F238E27FC236}">
                <a16:creationId xmlns:a16="http://schemas.microsoft.com/office/drawing/2014/main" id="{465BBAE1-866E-2CB8-F611-A23331D0C497}"/>
              </a:ext>
            </a:extLst>
          </p:cNvPr>
          <p:cNvSpPr txBox="1"/>
          <p:nvPr/>
        </p:nvSpPr>
        <p:spPr>
          <a:xfrm>
            <a:off x="4300319" y="4231963"/>
            <a:ext cx="3317171" cy="523220"/>
          </a:xfrm>
          <a:prstGeom prst="rect">
            <a:avLst/>
          </a:prstGeom>
          <a:solidFill>
            <a:schemeClr val="bg1">
              <a:lumMod val="75000"/>
            </a:schemeClr>
          </a:solidFill>
          <a:ln>
            <a:solidFill>
              <a:schemeClr val="tx1"/>
            </a:solidFill>
          </a:ln>
        </p:spPr>
        <p:txBody>
          <a:bodyPr wrap="square">
            <a:spAutoFit/>
          </a:bodyPr>
          <a:lstStyle/>
          <a:p>
            <a:pPr algn="ctr"/>
            <a:r>
              <a:rPr lang="fr-FR" sz="1400" dirty="0">
                <a:sym typeface="Wingdings" panose="05000000000000000000" pitchFamily="2" charset="2"/>
              </a:rPr>
              <a:t>Identifier les membres potentiels les plus motivés par les activités correspondantes</a:t>
            </a:r>
            <a:endParaRPr lang="fr-FR" sz="1400" dirty="0"/>
          </a:p>
        </p:txBody>
      </p:sp>
      <p:sp>
        <p:nvSpPr>
          <p:cNvPr id="36" name="ZoneTexte 35">
            <a:extLst>
              <a:ext uri="{FF2B5EF4-FFF2-40B4-BE49-F238E27FC236}">
                <a16:creationId xmlns:a16="http://schemas.microsoft.com/office/drawing/2014/main" id="{A3DD732F-7D9E-C112-D270-BE7D391763DF}"/>
              </a:ext>
            </a:extLst>
          </p:cNvPr>
          <p:cNvSpPr txBox="1"/>
          <p:nvPr/>
        </p:nvSpPr>
        <p:spPr>
          <a:xfrm>
            <a:off x="8482020" y="3395480"/>
            <a:ext cx="3317171" cy="738664"/>
          </a:xfrm>
          <a:prstGeom prst="rect">
            <a:avLst/>
          </a:prstGeom>
          <a:solidFill>
            <a:schemeClr val="bg1">
              <a:lumMod val="75000"/>
            </a:schemeClr>
          </a:solidFill>
          <a:ln>
            <a:solidFill>
              <a:schemeClr val="tx1"/>
            </a:solidFill>
          </a:ln>
        </p:spPr>
        <p:txBody>
          <a:bodyPr wrap="square">
            <a:spAutoFit/>
          </a:bodyPr>
          <a:lstStyle/>
          <a:p>
            <a:pPr algn="ctr"/>
            <a:r>
              <a:rPr lang="fr-FR" sz="1400" dirty="0">
                <a:sym typeface="Wingdings" panose="05000000000000000000" pitchFamily="2" charset="2"/>
              </a:rPr>
              <a:t>Trouver les points communs qui apportent à la fois de la valeur pour les membres et pour l’entreprise</a:t>
            </a:r>
            <a:endParaRPr lang="fr-FR" sz="1400" dirty="0"/>
          </a:p>
        </p:txBody>
      </p:sp>
      <p:sp>
        <p:nvSpPr>
          <p:cNvPr id="37" name="ZoneTexte 36">
            <a:extLst>
              <a:ext uri="{FF2B5EF4-FFF2-40B4-BE49-F238E27FC236}">
                <a16:creationId xmlns:a16="http://schemas.microsoft.com/office/drawing/2014/main" id="{DE5D41B6-7ACB-1153-993E-750FF057ED83}"/>
              </a:ext>
            </a:extLst>
          </p:cNvPr>
          <p:cNvSpPr txBox="1"/>
          <p:nvPr/>
        </p:nvSpPr>
        <p:spPr>
          <a:xfrm>
            <a:off x="8482022" y="4874509"/>
            <a:ext cx="3317171" cy="307777"/>
          </a:xfrm>
          <a:prstGeom prst="rect">
            <a:avLst/>
          </a:prstGeom>
          <a:solidFill>
            <a:schemeClr val="bg1">
              <a:lumMod val="75000"/>
            </a:schemeClr>
          </a:solidFill>
          <a:ln>
            <a:solidFill>
              <a:schemeClr val="tx1"/>
            </a:solidFill>
          </a:ln>
        </p:spPr>
        <p:txBody>
          <a:bodyPr wrap="square">
            <a:spAutoFit/>
          </a:bodyPr>
          <a:lstStyle/>
          <a:p>
            <a:pPr algn="ctr"/>
            <a:r>
              <a:rPr lang="fr-FR" sz="1400" dirty="0">
                <a:sym typeface="Wingdings" panose="05000000000000000000" pitchFamily="2" charset="2"/>
              </a:rPr>
              <a:t>Equilibrer les actions</a:t>
            </a:r>
            <a:endParaRPr lang="fr-FR" sz="1400" dirty="0"/>
          </a:p>
        </p:txBody>
      </p:sp>
      <p:sp>
        <p:nvSpPr>
          <p:cNvPr id="42" name="ZoneTexte 41">
            <a:extLst>
              <a:ext uri="{FF2B5EF4-FFF2-40B4-BE49-F238E27FC236}">
                <a16:creationId xmlns:a16="http://schemas.microsoft.com/office/drawing/2014/main" id="{4BBC9EDB-304B-476B-5BB2-CC0151AA134A}"/>
              </a:ext>
            </a:extLst>
          </p:cNvPr>
          <p:cNvSpPr txBox="1"/>
          <p:nvPr/>
        </p:nvSpPr>
        <p:spPr>
          <a:xfrm>
            <a:off x="8482021" y="4236741"/>
            <a:ext cx="3317171" cy="523220"/>
          </a:xfrm>
          <a:prstGeom prst="rect">
            <a:avLst/>
          </a:prstGeom>
          <a:solidFill>
            <a:schemeClr val="bg1">
              <a:lumMod val="75000"/>
            </a:schemeClr>
          </a:solidFill>
          <a:ln>
            <a:solidFill>
              <a:schemeClr val="tx1"/>
            </a:solidFill>
          </a:ln>
        </p:spPr>
        <p:txBody>
          <a:bodyPr wrap="square">
            <a:spAutoFit/>
          </a:bodyPr>
          <a:lstStyle/>
          <a:p>
            <a:pPr algn="ctr"/>
            <a:r>
              <a:rPr lang="fr-FR" sz="1400" dirty="0">
                <a:sym typeface="Wingdings" panose="05000000000000000000" pitchFamily="2" charset="2"/>
              </a:rPr>
              <a:t>Fournir des moyens (temps disponible, etc.) d’assurer une forme d’obligation</a:t>
            </a:r>
            <a:endParaRPr lang="fr-FR" sz="1400" dirty="0"/>
          </a:p>
        </p:txBody>
      </p:sp>
    </p:spTree>
    <p:extLst>
      <p:ext uri="{BB962C8B-B14F-4D97-AF65-F5344CB8AC3E}">
        <p14:creationId xmlns:p14="http://schemas.microsoft.com/office/powerpoint/2010/main" val="2027657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38200" y="365125"/>
            <a:ext cx="10515600" cy="972139"/>
          </a:xfrm>
        </p:spPr>
        <p:txBody>
          <a:bodyPr>
            <a:normAutofit/>
          </a:bodyPr>
          <a:lstStyle/>
          <a:p>
            <a:r>
              <a:rPr lang="fr-FR" dirty="0"/>
              <a:t>La Valeur pour </a:t>
            </a:r>
            <a:r>
              <a:rPr lang="fr-FR" b="1" dirty="0"/>
              <a:t>l’entreprise</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34654" y="2188015"/>
            <a:ext cx="1722120" cy="1722120"/>
          </a:xfrm>
          <a:prstGeom prst="rect">
            <a:avLst/>
          </a:prstGeom>
        </p:spPr>
      </p:pic>
      <p:sp>
        <p:nvSpPr>
          <p:cNvPr id="25" name="Titre 1">
            <a:extLst>
              <a:ext uri="{FF2B5EF4-FFF2-40B4-BE49-F238E27FC236}">
                <a16:creationId xmlns:a16="http://schemas.microsoft.com/office/drawing/2014/main" id="{127D5BF5-5FC9-314C-D2D9-88F28910195A}"/>
              </a:ext>
            </a:extLst>
          </p:cNvPr>
          <p:cNvSpPr txBox="1">
            <a:spLocks/>
          </p:cNvSpPr>
          <p:nvPr/>
        </p:nvSpPr>
        <p:spPr>
          <a:xfrm>
            <a:off x="4771164" y="5161080"/>
            <a:ext cx="2584264"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Communautés de l’entreprise </a:t>
            </a:r>
          </a:p>
        </p:txBody>
      </p:sp>
      <p:sp>
        <p:nvSpPr>
          <p:cNvPr id="26" name="Titre 1">
            <a:extLst>
              <a:ext uri="{FF2B5EF4-FFF2-40B4-BE49-F238E27FC236}">
                <a16:creationId xmlns:a16="http://schemas.microsoft.com/office/drawing/2014/main" id="{D15593DD-8CE1-2ECC-2B5D-DB98437039FD}"/>
              </a:ext>
            </a:extLst>
          </p:cNvPr>
          <p:cNvSpPr txBox="1">
            <a:spLocks/>
          </p:cNvSpPr>
          <p:nvPr/>
        </p:nvSpPr>
        <p:spPr>
          <a:xfrm>
            <a:off x="9979559" y="2743587"/>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t>Entreprise (Institution)</a:t>
            </a:r>
          </a:p>
        </p:txBody>
      </p:sp>
      <p:sp>
        <p:nvSpPr>
          <p:cNvPr id="96" name="Flèche : gauche 95">
            <a:extLst>
              <a:ext uri="{FF2B5EF4-FFF2-40B4-BE49-F238E27FC236}">
                <a16:creationId xmlns:a16="http://schemas.microsoft.com/office/drawing/2014/main" id="{193DE573-A714-FF47-E3C4-3D16089543C7}"/>
              </a:ext>
            </a:extLst>
          </p:cNvPr>
          <p:cNvSpPr/>
          <p:nvPr/>
        </p:nvSpPr>
        <p:spPr>
          <a:xfrm rot="1525700" flipH="1">
            <a:off x="7393126" y="4896634"/>
            <a:ext cx="1189456" cy="623864"/>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4</a:t>
            </a:r>
          </a:p>
        </p:txBody>
      </p:sp>
      <p:pic>
        <p:nvPicPr>
          <p:cNvPr id="81" name="Graphique 80" descr="Tendance à la hausse avec un remplissage uni">
            <a:extLst>
              <a:ext uri="{FF2B5EF4-FFF2-40B4-BE49-F238E27FC236}">
                <a16:creationId xmlns:a16="http://schemas.microsoft.com/office/drawing/2014/main" id="{4D98C9FA-E3CF-E0CD-FDA0-F8F50807770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905462" y="4613258"/>
            <a:ext cx="890780" cy="868055"/>
          </a:xfrm>
          <a:prstGeom prst="rect">
            <a:avLst/>
          </a:prstGeom>
        </p:spPr>
      </p:pic>
      <p:pic>
        <p:nvPicPr>
          <p:cNvPr id="82" name="Graphique 81" descr="Croissance de l'activité avec un remplissage uni">
            <a:extLst>
              <a:ext uri="{FF2B5EF4-FFF2-40B4-BE49-F238E27FC236}">
                <a16:creationId xmlns:a16="http://schemas.microsoft.com/office/drawing/2014/main" id="{D5277E67-17CD-5C27-C988-2D332AF03E1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848655" y="4684493"/>
            <a:ext cx="785986" cy="785986"/>
          </a:xfrm>
          <a:prstGeom prst="rect">
            <a:avLst/>
          </a:prstGeom>
        </p:spPr>
      </p:pic>
      <p:pic>
        <p:nvPicPr>
          <p:cNvPr id="83" name="Graphique 82" descr="Tableau décisionnel avec un remplissage uni">
            <a:extLst>
              <a:ext uri="{FF2B5EF4-FFF2-40B4-BE49-F238E27FC236}">
                <a16:creationId xmlns:a16="http://schemas.microsoft.com/office/drawing/2014/main" id="{BC1AEA9C-2398-0FCA-6E46-77C44ED5C4E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901673" y="4661317"/>
            <a:ext cx="762463" cy="762463"/>
          </a:xfrm>
          <a:prstGeom prst="rect">
            <a:avLst/>
          </a:prstGeom>
        </p:spPr>
      </p:pic>
      <p:sp>
        <p:nvSpPr>
          <p:cNvPr id="84" name="Titre 1">
            <a:extLst>
              <a:ext uri="{FF2B5EF4-FFF2-40B4-BE49-F238E27FC236}">
                <a16:creationId xmlns:a16="http://schemas.microsoft.com/office/drawing/2014/main" id="{9887D8DF-B692-3D2E-787E-0ADFF95F2081}"/>
              </a:ext>
            </a:extLst>
          </p:cNvPr>
          <p:cNvSpPr txBox="1">
            <a:spLocks/>
          </p:cNvSpPr>
          <p:nvPr/>
        </p:nvSpPr>
        <p:spPr>
          <a:xfrm>
            <a:off x="10899454" y="5412259"/>
            <a:ext cx="959170" cy="419369"/>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800" dirty="0"/>
              <a:t>Améliorations commerciales</a:t>
            </a:r>
          </a:p>
        </p:txBody>
      </p:sp>
      <p:sp>
        <p:nvSpPr>
          <p:cNvPr id="85" name="Titre 1">
            <a:extLst>
              <a:ext uri="{FF2B5EF4-FFF2-40B4-BE49-F238E27FC236}">
                <a16:creationId xmlns:a16="http://schemas.microsoft.com/office/drawing/2014/main" id="{B98B9C4F-2CC5-4925-4076-3CA461FADE31}"/>
              </a:ext>
            </a:extLst>
          </p:cNvPr>
          <p:cNvSpPr txBox="1">
            <a:spLocks/>
          </p:cNvSpPr>
          <p:nvPr/>
        </p:nvSpPr>
        <p:spPr>
          <a:xfrm>
            <a:off x="9762435" y="5412259"/>
            <a:ext cx="1038476"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800" dirty="0"/>
              <a:t>Améliorations opérationnelles et service du but de l’entreprise</a:t>
            </a:r>
          </a:p>
        </p:txBody>
      </p:sp>
      <p:sp>
        <p:nvSpPr>
          <p:cNvPr id="97" name="Titre 1">
            <a:extLst>
              <a:ext uri="{FF2B5EF4-FFF2-40B4-BE49-F238E27FC236}">
                <a16:creationId xmlns:a16="http://schemas.microsoft.com/office/drawing/2014/main" id="{EF7BD9E0-E45C-C61B-E480-06965127C39F}"/>
              </a:ext>
            </a:extLst>
          </p:cNvPr>
          <p:cNvSpPr txBox="1">
            <a:spLocks/>
          </p:cNvSpPr>
          <p:nvPr/>
        </p:nvSpPr>
        <p:spPr>
          <a:xfrm>
            <a:off x="8722410" y="5412259"/>
            <a:ext cx="1038476" cy="47856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800" dirty="0"/>
              <a:t>Améliorations ressources humaines</a:t>
            </a:r>
          </a:p>
        </p:txBody>
      </p:sp>
      <p:grpSp>
        <p:nvGrpSpPr>
          <p:cNvPr id="16" name="Groupe 15">
            <a:extLst>
              <a:ext uri="{FF2B5EF4-FFF2-40B4-BE49-F238E27FC236}">
                <a16:creationId xmlns:a16="http://schemas.microsoft.com/office/drawing/2014/main" id="{6E1F1C15-AEA8-4C2D-9C0E-72A012123D1C}"/>
              </a:ext>
            </a:extLst>
          </p:cNvPr>
          <p:cNvGrpSpPr/>
          <p:nvPr/>
        </p:nvGrpSpPr>
        <p:grpSpPr>
          <a:xfrm>
            <a:off x="5013383" y="3070009"/>
            <a:ext cx="2150970" cy="1947160"/>
            <a:chOff x="-4435634" y="3221970"/>
            <a:chExt cx="4325260" cy="3915430"/>
          </a:xfrm>
        </p:grpSpPr>
        <p:pic>
          <p:nvPicPr>
            <p:cNvPr id="17" name="Espace réservé du contenu 6" descr="Tribunal contour">
              <a:extLst>
                <a:ext uri="{FF2B5EF4-FFF2-40B4-BE49-F238E27FC236}">
                  <a16:creationId xmlns:a16="http://schemas.microsoft.com/office/drawing/2014/main" id="{8F0C423E-59F5-B986-26F1-2F658939A041}"/>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l="8133" t="12060" r="8805" b="62496"/>
            <a:stretch/>
          </p:blipFill>
          <p:spPr>
            <a:xfrm>
              <a:off x="-4435633" y="3221970"/>
              <a:ext cx="4325259" cy="1324928"/>
            </a:xfrm>
            <a:prstGeom prst="rect">
              <a:avLst/>
            </a:prstGeom>
          </p:spPr>
        </p:pic>
        <p:grpSp>
          <p:nvGrpSpPr>
            <p:cNvPr id="18" name="Groupe 17">
              <a:extLst>
                <a:ext uri="{FF2B5EF4-FFF2-40B4-BE49-F238E27FC236}">
                  <a16:creationId xmlns:a16="http://schemas.microsoft.com/office/drawing/2014/main" id="{E0F9262F-D45F-FEF0-39CC-627E37F4511E}"/>
                </a:ext>
              </a:extLst>
            </p:cNvPr>
            <p:cNvGrpSpPr/>
            <p:nvPr/>
          </p:nvGrpSpPr>
          <p:grpSpPr>
            <a:xfrm>
              <a:off x="-4435634" y="4520418"/>
              <a:ext cx="4325260" cy="2616982"/>
              <a:chOff x="-4435634" y="4520418"/>
              <a:chExt cx="4325260" cy="2616982"/>
            </a:xfrm>
          </p:grpSpPr>
          <p:pic>
            <p:nvPicPr>
              <p:cNvPr id="19" name="Espace réservé du contenu 6" descr="Tribunal contour">
                <a:extLst>
                  <a:ext uri="{FF2B5EF4-FFF2-40B4-BE49-F238E27FC236}">
                    <a16:creationId xmlns:a16="http://schemas.microsoft.com/office/drawing/2014/main" id="{3B40F71A-6699-C337-238F-BEBE73F5FDDB}"/>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8133" t="37523" r="8805" b="24898"/>
              <a:stretch/>
            </p:blipFill>
            <p:spPr>
              <a:xfrm>
                <a:off x="-4435633" y="4520418"/>
                <a:ext cx="4325259" cy="1956816"/>
              </a:xfrm>
              <a:prstGeom prst="rect">
                <a:avLst/>
              </a:prstGeom>
            </p:spPr>
          </p:pic>
          <p:pic>
            <p:nvPicPr>
              <p:cNvPr id="23" name="Graphique 22" descr="Réussite du groupe avec un remplissage uni">
                <a:extLst>
                  <a:ext uri="{FF2B5EF4-FFF2-40B4-BE49-F238E27FC236}">
                    <a16:creationId xmlns:a16="http://schemas.microsoft.com/office/drawing/2014/main" id="{EA61DC4C-943A-A1F6-28E6-56DC5D1ABA61}"/>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t="13979" b="19010"/>
              <a:stretch/>
            </p:blipFill>
            <p:spPr>
              <a:xfrm>
                <a:off x="-3132680" y="5325090"/>
                <a:ext cx="1719352" cy="1152144"/>
              </a:xfrm>
              <a:prstGeom prst="rect">
                <a:avLst/>
              </a:prstGeom>
            </p:spPr>
          </p:pic>
          <p:pic>
            <p:nvPicPr>
              <p:cNvPr id="24" name="Espace réservé du contenu 6" descr="Tribunal contour">
                <a:extLst>
                  <a:ext uri="{FF2B5EF4-FFF2-40B4-BE49-F238E27FC236}">
                    <a16:creationId xmlns:a16="http://schemas.microsoft.com/office/drawing/2014/main" id="{D68B893C-B621-E6EE-5498-29B9282F97C3}"/>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l="8133" t="75103" r="8805" b="12219"/>
              <a:stretch/>
            </p:blipFill>
            <p:spPr>
              <a:xfrm>
                <a:off x="-4435634" y="6477233"/>
                <a:ext cx="4325259" cy="660167"/>
              </a:xfrm>
              <a:prstGeom prst="rect">
                <a:avLst/>
              </a:prstGeom>
            </p:spPr>
          </p:pic>
        </p:grpSp>
      </p:grpSp>
    </p:spTree>
    <p:extLst>
      <p:ext uri="{BB962C8B-B14F-4D97-AF65-F5344CB8AC3E}">
        <p14:creationId xmlns:p14="http://schemas.microsoft.com/office/powerpoint/2010/main" val="371475418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FB924271-1766-4860-87FD-764EBCDD88A9}"/>
              </a:ext>
            </a:extLst>
          </p:cNvPr>
          <p:cNvSpPr/>
          <p:nvPr/>
        </p:nvSpPr>
        <p:spPr>
          <a:xfrm>
            <a:off x="7076693" y="808764"/>
            <a:ext cx="4557322"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Formation</a:t>
            </a:r>
          </a:p>
        </p:txBody>
      </p:sp>
      <p:sp>
        <p:nvSpPr>
          <p:cNvPr id="10" name="Rectangle 9">
            <a:extLst>
              <a:ext uri="{FF2B5EF4-FFF2-40B4-BE49-F238E27FC236}">
                <a16:creationId xmlns:a16="http://schemas.microsoft.com/office/drawing/2014/main" id="{2501587D-2A35-40FA-AA67-0691582C6660}"/>
              </a:ext>
            </a:extLst>
          </p:cNvPr>
          <p:cNvSpPr/>
          <p:nvPr/>
        </p:nvSpPr>
        <p:spPr>
          <a:xfrm>
            <a:off x="7076693" y="1144324"/>
            <a:ext cx="4557322"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Développement RH / Carrières</a:t>
            </a:r>
          </a:p>
        </p:txBody>
      </p:sp>
      <p:sp>
        <p:nvSpPr>
          <p:cNvPr id="11" name="Rectangle 10">
            <a:extLst>
              <a:ext uri="{FF2B5EF4-FFF2-40B4-BE49-F238E27FC236}">
                <a16:creationId xmlns:a16="http://schemas.microsoft.com/office/drawing/2014/main" id="{E6A08F4C-661E-40BE-96ED-BFD25554A220}"/>
              </a:ext>
            </a:extLst>
          </p:cNvPr>
          <p:cNvSpPr/>
          <p:nvPr/>
        </p:nvSpPr>
        <p:spPr>
          <a:xfrm>
            <a:off x="7076693" y="1479884"/>
            <a:ext cx="4557322"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Recrutement</a:t>
            </a:r>
          </a:p>
        </p:txBody>
      </p:sp>
      <p:sp>
        <p:nvSpPr>
          <p:cNvPr id="12" name="Rectangle 11">
            <a:extLst>
              <a:ext uri="{FF2B5EF4-FFF2-40B4-BE49-F238E27FC236}">
                <a16:creationId xmlns:a16="http://schemas.microsoft.com/office/drawing/2014/main" id="{FE3C91C6-9C6B-4EE9-9281-ABBC29940D03}"/>
              </a:ext>
            </a:extLst>
          </p:cNvPr>
          <p:cNvSpPr/>
          <p:nvPr/>
        </p:nvSpPr>
        <p:spPr>
          <a:xfrm>
            <a:off x="7076693" y="1815444"/>
            <a:ext cx="4557321"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Intégration des collaborateurs</a:t>
            </a:r>
          </a:p>
        </p:txBody>
      </p:sp>
      <p:sp>
        <p:nvSpPr>
          <p:cNvPr id="14" name="Accolade ouvrante 13">
            <a:extLst>
              <a:ext uri="{FF2B5EF4-FFF2-40B4-BE49-F238E27FC236}">
                <a16:creationId xmlns:a16="http://schemas.microsoft.com/office/drawing/2014/main" id="{350ACD8B-9B59-4C5D-9B07-D9A464425B78}"/>
              </a:ext>
            </a:extLst>
          </p:cNvPr>
          <p:cNvSpPr/>
          <p:nvPr/>
        </p:nvSpPr>
        <p:spPr>
          <a:xfrm>
            <a:off x="6562994" y="724874"/>
            <a:ext cx="442606" cy="1510020"/>
          </a:xfrm>
          <a:prstGeom prst="leftBrace">
            <a:avLst/>
          </a:prstGeom>
          <a:ln w="76200">
            <a:solidFill>
              <a:srgbClr val="ED7D3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5" name="Rectangle 14">
            <a:extLst>
              <a:ext uri="{FF2B5EF4-FFF2-40B4-BE49-F238E27FC236}">
                <a16:creationId xmlns:a16="http://schemas.microsoft.com/office/drawing/2014/main" id="{342E8E1D-1EB9-4E76-ABCF-3E25ECE77931}"/>
              </a:ext>
            </a:extLst>
          </p:cNvPr>
          <p:cNvSpPr/>
          <p:nvPr/>
        </p:nvSpPr>
        <p:spPr>
          <a:xfrm>
            <a:off x="7076693" y="2715734"/>
            <a:ext cx="4557322"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Développement de l'activité</a:t>
            </a:r>
          </a:p>
        </p:txBody>
      </p:sp>
      <p:sp>
        <p:nvSpPr>
          <p:cNvPr id="16" name="Rectangle 15">
            <a:extLst>
              <a:ext uri="{FF2B5EF4-FFF2-40B4-BE49-F238E27FC236}">
                <a16:creationId xmlns:a16="http://schemas.microsoft.com/office/drawing/2014/main" id="{8DD8E177-EB7E-4B3F-8773-4C81E10C8921}"/>
              </a:ext>
            </a:extLst>
          </p:cNvPr>
          <p:cNvSpPr/>
          <p:nvPr/>
        </p:nvSpPr>
        <p:spPr>
          <a:xfrm>
            <a:off x="7076693" y="3051294"/>
            <a:ext cx="4557322"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Communication externe</a:t>
            </a:r>
          </a:p>
        </p:txBody>
      </p:sp>
      <p:sp>
        <p:nvSpPr>
          <p:cNvPr id="19" name="Accolade ouvrante 18">
            <a:extLst>
              <a:ext uri="{FF2B5EF4-FFF2-40B4-BE49-F238E27FC236}">
                <a16:creationId xmlns:a16="http://schemas.microsoft.com/office/drawing/2014/main" id="{3EE1A150-FA89-4AD0-BCFA-4A1FC942701F}"/>
              </a:ext>
            </a:extLst>
          </p:cNvPr>
          <p:cNvSpPr/>
          <p:nvPr/>
        </p:nvSpPr>
        <p:spPr>
          <a:xfrm>
            <a:off x="6562994" y="2576694"/>
            <a:ext cx="442606" cy="914400"/>
          </a:xfrm>
          <a:prstGeom prst="leftBrace">
            <a:avLst/>
          </a:prstGeom>
          <a:ln w="76200">
            <a:solidFill>
              <a:srgbClr val="ED7D3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20" name="Rectangle 19">
            <a:extLst>
              <a:ext uri="{FF2B5EF4-FFF2-40B4-BE49-F238E27FC236}">
                <a16:creationId xmlns:a16="http://schemas.microsoft.com/office/drawing/2014/main" id="{16101FBF-E754-451B-A30A-035D498700B3}"/>
              </a:ext>
            </a:extLst>
          </p:cNvPr>
          <p:cNvSpPr/>
          <p:nvPr/>
        </p:nvSpPr>
        <p:spPr>
          <a:xfrm>
            <a:off x="7076693" y="4656260"/>
            <a:ext cx="4557322"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t>Knowledge</a:t>
            </a:r>
            <a:r>
              <a:rPr lang="fr-FR" dirty="0"/>
              <a:t> Management</a:t>
            </a:r>
          </a:p>
        </p:txBody>
      </p:sp>
      <p:sp>
        <p:nvSpPr>
          <p:cNvPr id="21" name="Rectangle 20">
            <a:extLst>
              <a:ext uri="{FF2B5EF4-FFF2-40B4-BE49-F238E27FC236}">
                <a16:creationId xmlns:a16="http://schemas.microsoft.com/office/drawing/2014/main" id="{A4E1EC49-A339-4B7C-A13A-4AC1CF267DB2}"/>
              </a:ext>
            </a:extLst>
          </p:cNvPr>
          <p:cNvSpPr/>
          <p:nvPr/>
        </p:nvSpPr>
        <p:spPr>
          <a:xfrm>
            <a:off x="7076693" y="4991820"/>
            <a:ext cx="4557322"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Management</a:t>
            </a:r>
          </a:p>
        </p:txBody>
      </p:sp>
      <p:sp>
        <p:nvSpPr>
          <p:cNvPr id="22" name="Rectangle 21">
            <a:extLst>
              <a:ext uri="{FF2B5EF4-FFF2-40B4-BE49-F238E27FC236}">
                <a16:creationId xmlns:a16="http://schemas.microsoft.com/office/drawing/2014/main" id="{AB80C92E-30A9-4195-863D-02DB55933898}"/>
              </a:ext>
            </a:extLst>
          </p:cNvPr>
          <p:cNvSpPr/>
          <p:nvPr/>
        </p:nvSpPr>
        <p:spPr>
          <a:xfrm>
            <a:off x="7076693" y="5327380"/>
            <a:ext cx="4557322"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Gestion de l’innovation</a:t>
            </a:r>
          </a:p>
        </p:txBody>
      </p:sp>
      <p:sp>
        <p:nvSpPr>
          <p:cNvPr id="23" name="Rectangle 22">
            <a:extLst>
              <a:ext uri="{FF2B5EF4-FFF2-40B4-BE49-F238E27FC236}">
                <a16:creationId xmlns:a16="http://schemas.microsoft.com/office/drawing/2014/main" id="{33151877-A876-4C5F-8C5F-C98DD3F5A1B8}"/>
              </a:ext>
            </a:extLst>
          </p:cNvPr>
          <p:cNvSpPr/>
          <p:nvPr/>
        </p:nvSpPr>
        <p:spPr>
          <a:xfrm>
            <a:off x="7076693" y="5662940"/>
            <a:ext cx="4557321"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Transformation</a:t>
            </a:r>
          </a:p>
        </p:txBody>
      </p:sp>
      <p:sp>
        <p:nvSpPr>
          <p:cNvPr id="24" name="Accolade ouvrante 23">
            <a:extLst>
              <a:ext uri="{FF2B5EF4-FFF2-40B4-BE49-F238E27FC236}">
                <a16:creationId xmlns:a16="http://schemas.microsoft.com/office/drawing/2014/main" id="{05581499-381D-4693-8731-86A46BB909F5}"/>
              </a:ext>
            </a:extLst>
          </p:cNvPr>
          <p:cNvSpPr/>
          <p:nvPr/>
        </p:nvSpPr>
        <p:spPr>
          <a:xfrm>
            <a:off x="6562994" y="3943194"/>
            <a:ext cx="442606" cy="2105640"/>
          </a:xfrm>
          <a:prstGeom prst="leftBrace">
            <a:avLst/>
          </a:prstGeom>
          <a:ln w="76200">
            <a:solidFill>
              <a:srgbClr val="ED7D3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25" name="Rectangle 24">
            <a:extLst>
              <a:ext uri="{FF2B5EF4-FFF2-40B4-BE49-F238E27FC236}">
                <a16:creationId xmlns:a16="http://schemas.microsoft.com/office/drawing/2014/main" id="{5FAA7977-B8A0-465D-BA1A-C2D4D44A7603}"/>
              </a:ext>
            </a:extLst>
          </p:cNvPr>
          <p:cNvSpPr/>
          <p:nvPr/>
        </p:nvSpPr>
        <p:spPr>
          <a:xfrm>
            <a:off x="4693346" y="1051568"/>
            <a:ext cx="1669408" cy="856633"/>
          </a:xfrm>
          <a:prstGeom prst="rect">
            <a:avLst/>
          </a:prstGeom>
          <a:solidFill>
            <a:srgbClr val="ED7D3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Lignes RH</a:t>
            </a:r>
          </a:p>
        </p:txBody>
      </p:sp>
      <p:sp>
        <p:nvSpPr>
          <p:cNvPr id="26" name="Rectangle 25">
            <a:extLst>
              <a:ext uri="{FF2B5EF4-FFF2-40B4-BE49-F238E27FC236}">
                <a16:creationId xmlns:a16="http://schemas.microsoft.com/office/drawing/2014/main" id="{FB80B221-6F8E-43B3-A338-7505B53C9B92}"/>
              </a:ext>
            </a:extLst>
          </p:cNvPr>
          <p:cNvSpPr/>
          <p:nvPr/>
        </p:nvSpPr>
        <p:spPr>
          <a:xfrm>
            <a:off x="4714839" y="2605578"/>
            <a:ext cx="1669408" cy="856633"/>
          </a:xfrm>
          <a:prstGeom prst="rect">
            <a:avLst/>
          </a:prstGeom>
          <a:solidFill>
            <a:srgbClr val="ED7D3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Lignes commerciales</a:t>
            </a:r>
          </a:p>
        </p:txBody>
      </p:sp>
      <p:sp>
        <p:nvSpPr>
          <p:cNvPr id="27" name="Rectangle 26">
            <a:extLst>
              <a:ext uri="{FF2B5EF4-FFF2-40B4-BE49-F238E27FC236}">
                <a16:creationId xmlns:a16="http://schemas.microsoft.com/office/drawing/2014/main" id="{A891D1E7-2C3B-439D-A8EC-23049C852952}"/>
              </a:ext>
            </a:extLst>
          </p:cNvPr>
          <p:cNvSpPr/>
          <p:nvPr/>
        </p:nvSpPr>
        <p:spPr>
          <a:xfrm>
            <a:off x="4687224" y="4567698"/>
            <a:ext cx="1669408" cy="856633"/>
          </a:xfrm>
          <a:prstGeom prst="rect">
            <a:avLst/>
          </a:prstGeom>
          <a:solidFill>
            <a:srgbClr val="ED7D3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Lignes Opérations</a:t>
            </a:r>
          </a:p>
        </p:txBody>
      </p:sp>
      <p:pic>
        <p:nvPicPr>
          <p:cNvPr id="29" name="Graphique 28" descr="Outils avec un remplissage uni">
            <a:extLst>
              <a:ext uri="{FF2B5EF4-FFF2-40B4-BE49-F238E27FC236}">
                <a16:creationId xmlns:a16="http://schemas.microsoft.com/office/drawing/2014/main" id="{CB2F4CD9-310B-4B48-B77D-EA2795C13AA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250503" y="4110498"/>
            <a:ext cx="914400" cy="914400"/>
          </a:xfrm>
          <a:prstGeom prst="rect">
            <a:avLst/>
          </a:prstGeom>
        </p:spPr>
      </p:pic>
      <p:pic>
        <p:nvPicPr>
          <p:cNvPr id="31" name="Graphique 30" descr="Chariot de courses avec un remplissage uni">
            <a:extLst>
              <a:ext uri="{FF2B5EF4-FFF2-40B4-BE49-F238E27FC236}">
                <a16:creationId xmlns:a16="http://schemas.microsoft.com/office/drawing/2014/main" id="{4D732942-9191-48A7-AFB8-23D33EBB8F8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250503" y="2186155"/>
            <a:ext cx="914400" cy="914400"/>
          </a:xfrm>
          <a:prstGeom prst="rect">
            <a:avLst/>
          </a:prstGeom>
        </p:spPr>
      </p:pic>
      <p:pic>
        <p:nvPicPr>
          <p:cNvPr id="33" name="Graphique 32" descr="Carnet d'adresses avec un remplissage uni">
            <a:extLst>
              <a:ext uri="{FF2B5EF4-FFF2-40B4-BE49-F238E27FC236}">
                <a16:creationId xmlns:a16="http://schemas.microsoft.com/office/drawing/2014/main" id="{35FE46D8-0BD2-4A81-B816-2CC77330A4F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176323" y="433643"/>
            <a:ext cx="914400" cy="914400"/>
          </a:xfrm>
          <a:prstGeom prst="rect">
            <a:avLst/>
          </a:prstGeom>
        </p:spPr>
      </p:pic>
      <p:sp>
        <p:nvSpPr>
          <p:cNvPr id="34" name="Rectangle 33">
            <a:extLst>
              <a:ext uri="{FF2B5EF4-FFF2-40B4-BE49-F238E27FC236}">
                <a16:creationId xmlns:a16="http://schemas.microsoft.com/office/drawing/2014/main" id="{AA6F103F-165F-4E3B-93CF-FDDD3EB5372A}"/>
              </a:ext>
            </a:extLst>
          </p:cNvPr>
          <p:cNvSpPr/>
          <p:nvPr/>
        </p:nvSpPr>
        <p:spPr>
          <a:xfrm>
            <a:off x="7076693" y="4320700"/>
            <a:ext cx="4557322"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Qualité et méthodes</a:t>
            </a:r>
          </a:p>
        </p:txBody>
      </p:sp>
      <p:sp>
        <p:nvSpPr>
          <p:cNvPr id="35" name="Rectangle 34">
            <a:extLst>
              <a:ext uri="{FF2B5EF4-FFF2-40B4-BE49-F238E27FC236}">
                <a16:creationId xmlns:a16="http://schemas.microsoft.com/office/drawing/2014/main" id="{600479EE-4DAA-4997-8FF7-0D414F0E60CF}"/>
              </a:ext>
            </a:extLst>
          </p:cNvPr>
          <p:cNvSpPr/>
          <p:nvPr/>
        </p:nvSpPr>
        <p:spPr>
          <a:xfrm>
            <a:off x="7076692" y="3985140"/>
            <a:ext cx="4557322" cy="335560"/>
          </a:xfrm>
          <a:prstGeom prst="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Projets</a:t>
            </a:r>
          </a:p>
        </p:txBody>
      </p:sp>
      <p:pic>
        <p:nvPicPr>
          <p:cNvPr id="38" name="Graphique 37" descr="Euro avec un remplissage uni">
            <a:extLst>
              <a:ext uri="{FF2B5EF4-FFF2-40B4-BE49-F238E27FC236}">
                <a16:creationId xmlns:a16="http://schemas.microsoft.com/office/drawing/2014/main" id="{82AABB45-6E80-4781-82CD-F349AAEBABC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24515" y="2108485"/>
            <a:ext cx="2105640" cy="2105640"/>
          </a:xfrm>
          <a:prstGeom prst="rect">
            <a:avLst/>
          </a:prstGeom>
        </p:spPr>
      </p:pic>
      <p:sp>
        <p:nvSpPr>
          <p:cNvPr id="39" name="Accolade ouvrante 38">
            <a:extLst>
              <a:ext uri="{FF2B5EF4-FFF2-40B4-BE49-F238E27FC236}">
                <a16:creationId xmlns:a16="http://schemas.microsoft.com/office/drawing/2014/main" id="{2866FBA9-9AAB-4AE5-B254-4684598FC6A4}"/>
              </a:ext>
            </a:extLst>
          </p:cNvPr>
          <p:cNvSpPr/>
          <p:nvPr/>
        </p:nvSpPr>
        <p:spPr>
          <a:xfrm>
            <a:off x="3272233" y="1051568"/>
            <a:ext cx="558449" cy="4325764"/>
          </a:xfrm>
          <a:prstGeom prst="leftBrace">
            <a:avLst/>
          </a:prstGeom>
          <a:ln w="76200">
            <a:solidFill>
              <a:srgbClr val="3494BA"/>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28" name="Titre 8">
            <a:extLst>
              <a:ext uri="{FF2B5EF4-FFF2-40B4-BE49-F238E27FC236}">
                <a16:creationId xmlns:a16="http://schemas.microsoft.com/office/drawing/2014/main" id="{00A6554F-2AE5-4ECC-9B6E-6F492185D450}"/>
              </a:ext>
            </a:extLst>
          </p:cNvPr>
          <p:cNvSpPr txBox="1">
            <a:spLocks/>
          </p:cNvSpPr>
          <p:nvPr/>
        </p:nvSpPr>
        <p:spPr>
          <a:xfrm>
            <a:off x="228737" y="4214125"/>
            <a:ext cx="3092331" cy="1931494"/>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3200" dirty="0"/>
              <a:t>Budgets classiques pour communautés d’entreprise</a:t>
            </a:r>
          </a:p>
        </p:txBody>
      </p:sp>
    </p:spTree>
    <p:extLst>
      <p:ext uri="{BB962C8B-B14F-4D97-AF65-F5344CB8AC3E}">
        <p14:creationId xmlns:p14="http://schemas.microsoft.com/office/powerpoint/2010/main" val="427827111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C7734F7-24F4-DB9B-35E4-C0D588B1C7C5}"/>
              </a:ext>
            </a:extLst>
          </p:cNvPr>
          <p:cNvSpPr>
            <a:spLocks noGrp="1"/>
          </p:cNvSpPr>
          <p:nvPr>
            <p:ph type="title"/>
          </p:nvPr>
        </p:nvSpPr>
        <p:spPr>
          <a:xfrm>
            <a:off x="838200" y="365126"/>
            <a:ext cx="10515600" cy="1159950"/>
          </a:xfrm>
        </p:spPr>
        <p:txBody>
          <a:bodyPr>
            <a:normAutofit fontScale="90000"/>
          </a:bodyPr>
          <a:lstStyle/>
          <a:p>
            <a:r>
              <a:rPr lang="fr-FR" dirty="0"/>
              <a:t>Fonctions d’entreprise souvent impactées par les Communautés d’entreprise</a:t>
            </a:r>
          </a:p>
        </p:txBody>
      </p:sp>
      <p:grpSp>
        <p:nvGrpSpPr>
          <p:cNvPr id="3" name="Groupe 2">
            <a:extLst>
              <a:ext uri="{FF2B5EF4-FFF2-40B4-BE49-F238E27FC236}">
                <a16:creationId xmlns:a16="http://schemas.microsoft.com/office/drawing/2014/main" id="{FC2141E9-F54D-1F54-B324-2564AEF20D24}"/>
              </a:ext>
            </a:extLst>
          </p:cNvPr>
          <p:cNvGrpSpPr/>
          <p:nvPr/>
        </p:nvGrpSpPr>
        <p:grpSpPr>
          <a:xfrm>
            <a:off x="6504043" y="2073196"/>
            <a:ext cx="1188000" cy="1059664"/>
            <a:chOff x="6597866" y="3344326"/>
            <a:chExt cx="1188000" cy="1059664"/>
          </a:xfrm>
        </p:grpSpPr>
        <p:sp>
          <p:nvSpPr>
            <p:cNvPr id="4" name="Rectangle 3">
              <a:extLst>
                <a:ext uri="{FF2B5EF4-FFF2-40B4-BE49-F238E27FC236}">
                  <a16:creationId xmlns:a16="http://schemas.microsoft.com/office/drawing/2014/main" id="{0E822B17-C9F3-75DB-27BD-369F1AB35014}"/>
                </a:ext>
              </a:extLst>
            </p:cNvPr>
            <p:cNvSpPr/>
            <p:nvPr/>
          </p:nvSpPr>
          <p:spPr>
            <a:xfrm>
              <a:off x="6597866" y="3890367"/>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RH</a:t>
              </a:r>
            </a:p>
            <a:p>
              <a:pPr algn="ctr"/>
              <a:r>
                <a:rPr lang="fr-FR" sz="1200" dirty="0">
                  <a:solidFill>
                    <a:schemeClr val="tx1"/>
                  </a:solidFill>
                </a:rPr>
                <a:t>Carrières</a:t>
              </a:r>
            </a:p>
          </p:txBody>
        </p:sp>
        <p:grpSp>
          <p:nvGrpSpPr>
            <p:cNvPr id="5" name="Groupe 4">
              <a:extLst>
                <a:ext uri="{FF2B5EF4-FFF2-40B4-BE49-F238E27FC236}">
                  <a16:creationId xmlns:a16="http://schemas.microsoft.com/office/drawing/2014/main" id="{62AAFA05-AD86-8E3A-BA60-6792E59984B2}"/>
                </a:ext>
              </a:extLst>
            </p:cNvPr>
            <p:cNvGrpSpPr/>
            <p:nvPr/>
          </p:nvGrpSpPr>
          <p:grpSpPr>
            <a:xfrm>
              <a:off x="6650513" y="3344326"/>
              <a:ext cx="1020563" cy="496065"/>
              <a:chOff x="6713702" y="745208"/>
              <a:chExt cx="4891967" cy="2377838"/>
            </a:xfrm>
          </p:grpSpPr>
          <p:pic>
            <p:nvPicPr>
              <p:cNvPr id="6" name="Graphique 5" descr="Ramper avec un remplissage uni">
                <a:extLst>
                  <a:ext uri="{FF2B5EF4-FFF2-40B4-BE49-F238E27FC236}">
                    <a16:creationId xmlns:a16="http://schemas.microsoft.com/office/drawing/2014/main" id="{7D2AB02E-84C2-3A1F-173C-C4E2B9009B8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713702" y="2208646"/>
                <a:ext cx="914400" cy="914400"/>
              </a:xfrm>
              <a:prstGeom prst="rect">
                <a:avLst/>
              </a:prstGeom>
            </p:spPr>
          </p:pic>
          <p:pic>
            <p:nvPicPr>
              <p:cNvPr id="7" name="Graphique 6" descr="Marcher avec un remplissage uni">
                <a:extLst>
                  <a:ext uri="{FF2B5EF4-FFF2-40B4-BE49-F238E27FC236}">
                    <a16:creationId xmlns:a16="http://schemas.microsoft.com/office/drawing/2014/main" id="{B2F92B0A-A8EB-D080-4F56-88BFBDD626C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650711" y="1900170"/>
                <a:ext cx="914400" cy="914400"/>
              </a:xfrm>
              <a:prstGeom prst="rect">
                <a:avLst/>
              </a:prstGeom>
            </p:spPr>
          </p:pic>
          <p:pic>
            <p:nvPicPr>
              <p:cNvPr id="8" name="Graphique 7" descr="Courir avec un remplissage uni">
                <a:extLst>
                  <a:ext uri="{FF2B5EF4-FFF2-40B4-BE49-F238E27FC236}">
                    <a16:creationId xmlns:a16="http://schemas.microsoft.com/office/drawing/2014/main" id="{9BEB052B-97AD-5476-EBAE-79A84685266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587720" y="1591693"/>
                <a:ext cx="914400" cy="914400"/>
              </a:xfrm>
              <a:prstGeom prst="rect">
                <a:avLst/>
              </a:prstGeom>
            </p:spPr>
          </p:pic>
          <p:pic>
            <p:nvPicPr>
              <p:cNvPr id="9" name="Graphique 8" descr="Héros avec un remplissage uni">
                <a:extLst>
                  <a:ext uri="{FF2B5EF4-FFF2-40B4-BE49-F238E27FC236}">
                    <a16:creationId xmlns:a16="http://schemas.microsoft.com/office/drawing/2014/main" id="{FC022DF0-4B26-F88D-21AE-E556054B106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691269" y="745208"/>
                <a:ext cx="914400" cy="914400"/>
              </a:xfrm>
              <a:prstGeom prst="rect">
                <a:avLst/>
              </a:prstGeom>
            </p:spPr>
          </p:pic>
          <p:pic>
            <p:nvPicPr>
              <p:cNvPr id="10" name="Graphique 9" descr="Aspiration avec un remplissage uni">
                <a:extLst>
                  <a:ext uri="{FF2B5EF4-FFF2-40B4-BE49-F238E27FC236}">
                    <a16:creationId xmlns:a16="http://schemas.microsoft.com/office/drawing/2014/main" id="{2D14AF68-2FCB-2443-7B62-51A8D7793CB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524729" y="1053685"/>
                <a:ext cx="1143931" cy="1143931"/>
              </a:xfrm>
              <a:prstGeom prst="rect">
                <a:avLst/>
              </a:prstGeom>
            </p:spPr>
          </p:pic>
        </p:grpSp>
      </p:grpSp>
      <p:grpSp>
        <p:nvGrpSpPr>
          <p:cNvPr id="11" name="Groupe 10">
            <a:extLst>
              <a:ext uri="{FF2B5EF4-FFF2-40B4-BE49-F238E27FC236}">
                <a16:creationId xmlns:a16="http://schemas.microsoft.com/office/drawing/2014/main" id="{275B0D78-4243-3027-B862-932CBAC5EA90}"/>
              </a:ext>
            </a:extLst>
          </p:cNvPr>
          <p:cNvGrpSpPr/>
          <p:nvPr/>
        </p:nvGrpSpPr>
        <p:grpSpPr>
          <a:xfrm>
            <a:off x="2742113" y="2098539"/>
            <a:ext cx="1188000" cy="1034321"/>
            <a:chOff x="1241541" y="3369669"/>
            <a:chExt cx="1188000" cy="1034321"/>
          </a:xfrm>
        </p:grpSpPr>
        <p:sp>
          <p:nvSpPr>
            <p:cNvPr id="12" name="Rectangle 11">
              <a:extLst>
                <a:ext uri="{FF2B5EF4-FFF2-40B4-BE49-F238E27FC236}">
                  <a16:creationId xmlns:a16="http://schemas.microsoft.com/office/drawing/2014/main" id="{E05A3891-9A75-3837-CF44-5B7059FDA05D}"/>
                </a:ext>
              </a:extLst>
            </p:cNvPr>
            <p:cNvSpPr/>
            <p:nvPr/>
          </p:nvSpPr>
          <p:spPr>
            <a:xfrm>
              <a:off x="1241541" y="3890367"/>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a:solidFill>
                    <a:schemeClr val="tx1"/>
                  </a:solidFill>
                </a:rPr>
                <a:t>RH</a:t>
              </a:r>
            </a:p>
            <a:p>
              <a:pPr algn="ctr"/>
              <a:r>
                <a:rPr lang="fr-FR" sz="1200">
                  <a:solidFill>
                    <a:schemeClr val="tx1"/>
                  </a:solidFill>
                </a:rPr>
                <a:t>Recrutement</a:t>
              </a:r>
            </a:p>
          </p:txBody>
        </p:sp>
        <p:pic>
          <p:nvPicPr>
            <p:cNvPr id="14" name="Graphique 13" descr="Salle de conseil avec un remplissage uni">
              <a:extLst>
                <a:ext uri="{FF2B5EF4-FFF2-40B4-BE49-F238E27FC236}">
                  <a16:creationId xmlns:a16="http://schemas.microsoft.com/office/drawing/2014/main" id="{35FC033A-E2E5-5119-7913-3CF6219B85E4}"/>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b="16472"/>
            <a:stretch/>
          </p:blipFill>
          <p:spPr>
            <a:xfrm>
              <a:off x="1632360" y="3369669"/>
              <a:ext cx="551732" cy="460853"/>
            </a:xfrm>
            <a:prstGeom prst="rect">
              <a:avLst/>
            </a:prstGeom>
          </p:spPr>
        </p:pic>
      </p:grpSp>
      <p:grpSp>
        <p:nvGrpSpPr>
          <p:cNvPr id="16" name="Groupe 15">
            <a:extLst>
              <a:ext uri="{FF2B5EF4-FFF2-40B4-BE49-F238E27FC236}">
                <a16:creationId xmlns:a16="http://schemas.microsoft.com/office/drawing/2014/main" id="{8FFC048A-8258-D81A-565B-1BADAD081E58}"/>
              </a:ext>
            </a:extLst>
          </p:cNvPr>
          <p:cNvGrpSpPr/>
          <p:nvPr/>
        </p:nvGrpSpPr>
        <p:grpSpPr>
          <a:xfrm>
            <a:off x="3995935" y="1943285"/>
            <a:ext cx="1188000" cy="1189575"/>
            <a:chOff x="2998706" y="3222767"/>
            <a:chExt cx="1188000" cy="1189575"/>
          </a:xfrm>
        </p:grpSpPr>
        <p:sp>
          <p:nvSpPr>
            <p:cNvPr id="17" name="Rectangle 16">
              <a:extLst>
                <a:ext uri="{FF2B5EF4-FFF2-40B4-BE49-F238E27FC236}">
                  <a16:creationId xmlns:a16="http://schemas.microsoft.com/office/drawing/2014/main" id="{A5850F82-2571-B9EA-F9DD-83693158BC85}"/>
                </a:ext>
              </a:extLst>
            </p:cNvPr>
            <p:cNvSpPr/>
            <p:nvPr/>
          </p:nvSpPr>
          <p:spPr>
            <a:xfrm>
              <a:off x="2998706" y="3898719"/>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a:solidFill>
                    <a:schemeClr val="tx1"/>
                  </a:solidFill>
                </a:rPr>
                <a:t>RH</a:t>
              </a:r>
            </a:p>
            <a:p>
              <a:pPr algn="ctr"/>
              <a:r>
                <a:rPr lang="fr-FR" sz="1200">
                  <a:solidFill>
                    <a:schemeClr val="tx1"/>
                  </a:solidFill>
                </a:rPr>
                <a:t>Intégration</a:t>
              </a:r>
            </a:p>
          </p:txBody>
        </p:sp>
        <p:grpSp>
          <p:nvGrpSpPr>
            <p:cNvPr id="18" name="Groupe 17">
              <a:extLst>
                <a:ext uri="{FF2B5EF4-FFF2-40B4-BE49-F238E27FC236}">
                  <a16:creationId xmlns:a16="http://schemas.microsoft.com/office/drawing/2014/main" id="{946746FB-2130-DCD4-25BF-2BBCC0DA0A4B}"/>
                </a:ext>
              </a:extLst>
            </p:cNvPr>
            <p:cNvGrpSpPr/>
            <p:nvPr/>
          </p:nvGrpSpPr>
          <p:grpSpPr>
            <a:xfrm>
              <a:off x="3130879" y="3222767"/>
              <a:ext cx="935471" cy="541840"/>
              <a:chOff x="626984" y="628802"/>
              <a:chExt cx="5131851" cy="2356880"/>
            </a:xfrm>
          </p:grpSpPr>
          <p:cxnSp>
            <p:nvCxnSpPr>
              <p:cNvPr id="19" name="Connecteur droit avec flèche 18">
                <a:extLst>
                  <a:ext uri="{FF2B5EF4-FFF2-40B4-BE49-F238E27FC236}">
                    <a16:creationId xmlns:a16="http://schemas.microsoft.com/office/drawing/2014/main" id="{B4107C17-9983-19C4-FB5B-D902D4ABDDED}"/>
                  </a:ext>
                </a:extLst>
              </p:cNvPr>
              <p:cNvCxnSpPr>
                <a:cxnSpLocks/>
              </p:cNvCxnSpPr>
              <p:nvPr/>
            </p:nvCxnSpPr>
            <p:spPr>
              <a:xfrm flipV="1">
                <a:off x="626984" y="1565043"/>
                <a:ext cx="5131851" cy="1210667"/>
              </a:xfrm>
              <a:prstGeom prst="straightConnector1">
                <a:avLst/>
              </a:prstGeom>
              <a:ln w="57150">
                <a:prstDash val="dash"/>
                <a:tailEnd type="triangle"/>
              </a:ln>
            </p:spPr>
            <p:style>
              <a:lnRef idx="1">
                <a:schemeClr val="accent1"/>
              </a:lnRef>
              <a:fillRef idx="0">
                <a:schemeClr val="accent1"/>
              </a:fillRef>
              <a:effectRef idx="0">
                <a:schemeClr val="accent1"/>
              </a:effectRef>
              <a:fontRef idx="minor">
                <a:schemeClr val="tx1"/>
              </a:fontRef>
            </p:style>
          </p:cxnSp>
          <p:pic>
            <p:nvPicPr>
              <p:cNvPr id="20" name="Graphique 19" descr="Personne confuse avec un remplissage uni">
                <a:extLst>
                  <a:ext uri="{FF2B5EF4-FFF2-40B4-BE49-F238E27FC236}">
                    <a16:creationId xmlns:a16="http://schemas.microsoft.com/office/drawing/2014/main" id="{06634806-45FD-D325-E296-7672495BD20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604967" y="1805997"/>
                <a:ext cx="940978" cy="940978"/>
              </a:xfrm>
              <a:prstGeom prst="rect">
                <a:avLst/>
              </a:prstGeom>
            </p:spPr>
          </p:pic>
          <p:pic>
            <p:nvPicPr>
              <p:cNvPr id="21" name="Graphique 20" descr="Réussite du groupe avec un remplissage uni">
                <a:extLst>
                  <a:ext uri="{FF2B5EF4-FFF2-40B4-BE49-F238E27FC236}">
                    <a16:creationId xmlns:a16="http://schemas.microsoft.com/office/drawing/2014/main" id="{19677817-DC75-BFC7-112C-CEAE942DEA8A}"/>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4228767" y="628802"/>
                <a:ext cx="1492354" cy="1492354"/>
              </a:xfrm>
              <a:prstGeom prst="rect">
                <a:avLst/>
              </a:prstGeom>
            </p:spPr>
          </p:pic>
          <p:pic>
            <p:nvPicPr>
              <p:cNvPr id="22" name="Graphique 21" descr="Personne confuse avec un remplissage uni">
                <a:extLst>
                  <a:ext uri="{FF2B5EF4-FFF2-40B4-BE49-F238E27FC236}">
                    <a16:creationId xmlns:a16="http://schemas.microsoft.com/office/drawing/2014/main" id="{34BFB99D-EC9F-03BC-5D21-1757224431D3}"/>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479567" y="1609677"/>
                <a:ext cx="940978" cy="940978"/>
              </a:xfrm>
              <a:prstGeom prst="rect">
                <a:avLst/>
              </a:prstGeom>
            </p:spPr>
          </p:pic>
          <p:pic>
            <p:nvPicPr>
              <p:cNvPr id="23" name="Graphique 22" descr="Personne confuse avec un remplissage uni">
                <a:extLst>
                  <a:ext uri="{FF2B5EF4-FFF2-40B4-BE49-F238E27FC236}">
                    <a16:creationId xmlns:a16="http://schemas.microsoft.com/office/drawing/2014/main" id="{1F9FB011-0A54-B35B-B4FE-FADB45010775}"/>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656694" y="2044704"/>
                <a:ext cx="940978" cy="940978"/>
              </a:xfrm>
              <a:prstGeom prst="rect">
                <a:avLst/>
              </a:prstGeom>
            </p:spPr>
          </p:pic>
          <p:pic>
            <p:nvPicPr>
              <p:cNvPr id="24" name="Graphique 23" descr="Personne confuse avec un remplissage uni">
                <a:extLst>
                  <a:ext uri="{FF2B5EF4-FFF2-40B4-BE49-F238E27FC236}">
                    <a16:creationId xmlns:a16="http://schemas.microsoft.com/office/drawing/2014/main" id="{8C5F77A3-C07C-3229-4496-75F18D3A0607}"/>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3293254" y="1399398"/>
                <a:ext cx="940978" cy="940978"/>
              </a:xfrm>
              <a:prstGeom prst="rect">
                <a:avLst/>
              </a:prstGeom>
            </p:spPr>
          </p:pic>
          <p:pic>
            <p:nvPicPr>
              <p:cNvPr id="25" name="Graphique 24" descr="Personne confuse avec un remplissage uni">
                <a:extLst>
                  <a:ext uri="{FF2B5EF4-FFF2-40B4-BE49-F238E27FC236}">
                    <a16:creationId xmlns:a16="http://schemas.microsoft.com/office/drawing/2014/main" id="{1FA315CE-8386-1B8C-C0B4-86523AA40FA2}"/>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4234476" y="1189119"/>
                <a:ext cx="940978" cy="940978"/>
              </a:xfrm>
              <a:prstGeom prst="rect">
                <a:avLst/>
              </a:prstGeom>
            </p:spPr>
          </p:pic>
        </p:grpSp>
      </p:grpSp>
      <p:grpSp>
        <p:nvGrpSpPr>
          <p:cNvPr id="26" name="Groupe 25">
            <a:extLst>
              <a:ext uri="{FF2B5EF4-FFF2-40B4-BE49-F238E27FC236}">
                <a16:creationId xmlns:a16="http://schemas.microsoft.com/office/drawing/2014/main" id="{CF467253-E560-BAE7-2435-87C3D401CE9D}"/>
              </a:ext>
            </a:extLst>
          </p:cNvPr>
          <p:cNvGrpSpPr/>
          <p:nvPr/>
        </p:nvGrpSpPr>
        <p:grpSpPr>
          <a:xfrm>
            <a:off x="5244199" y="1554134"/>
            <a:ext cx="1188000" cy="1569057"/>
            <a:chOff x="4859249" y="2834933"/>
            <a:chExt cx="1188000" cy="1569057"/>
          </a:xfrm>
        </p:grpSpPr>
        <p:sp>
          <p:nvSpPr>
            <p:cNvPr id="27" name="Rectangle 26">
              <a:extLst>
                <a:ext uri="{FF2B5EF4-FFF2-40B4-BE49-F238E27FC236}">
                  <a16:creationId xmlns:a16="http://schemas.microsoft.com/office/drawing/2014/main" id="{FF59E364-FC33-09F8-F528-C9E097DA4CF1}"/>
                </a:ext>
              </a:extLst>
            </p:cNvPr>
            <p:cNvSpPr/>
            <p:nvPr/>
          </p:nvSpPr>
          <p:spPr>
            <a:xfrm>
              <a:off x="4859249" y="3890367"/>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RH</a:t>
              </a:r>
            </a:p>
            <a:p>
              <a:pPr algn="ctr"/>
              <a:r>
                <a:rPr lang="fr-FR" sz="1200" dirty="0">
                  <a:solidFill>
                    <a:schemeClr val="tx1"/>
                  </a:solidFill>
                </a:rPr>
                <a:t>Formation</a:t>
              </a:r>
            </a:p>
          </p:txBody>
        </p:sp>
        <p:grpSp>
          <p:nvGrpSpPr>
            <p:cNvPr id="28" name="Groupe 27">
              <a:extLst>
                <a:ext uri="{FF2B5EF4-FFF2-40B4-BE49-F238E27FC236}">
                  <a16:creationId xmlns:a16="http://schemas.microsoft.com/office/drawing/2014/main" id="{EDF43212-5B7B-9817-CAA4-D8324672EBFA}"/>
                </a:ext>
              </a:extLst>
            </p:cNvPr>
            <p:cNvGrpSpPr/>
            <p:nvPr/>
          </p:nvGrpSpPr>
          <p:grpSpPr>
            <a:xfrm>
              <a:off x="4953396" y="2834933"/>
              <a:ext cx="1021038" cy="1060714"/>
              <a:chOff x="1793893" y="3948469"/>
              <a:chExt cx="2716107" cy="2749848"/>
            </a:xfrm>
          </p:grpSpPr>
          <p:pic>
            <p:nvPicPr>
              <p:cNvPr id="29" name="Graphique 28" descr="Diplôme roulé avec un remplissage uni">
                <a:extLst>
                  <a:ext uri="{FF2B5EF4-FFF2-40B4-BE49-F238E27FC236}">
                    <a16:creationId xmlns:a16="http://schemas.microsoft.com/office/drawing/2014/main" id="{4547350E-BF5C-0612-A3B2-83A5BACD3FBB}"/>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2976734" y="5783917"/>
                <a:ext cx="914400" cy="914400"/>
              </a:xfrm>
              <a:prstGeom prst="rect">
                <a:avLst/>
              </a:prstGeom>
            </p:spPr>
          </p:pic>
          <p:grpSp>
            <p:nvGrpSpPr>
              <p:cNvPr id="30" name="Groupe 29">
                <a:extLst>
                  <a:ext uri="{FF2B5EF4-FFF2-40B4-BE49-F238E27FC236}">
                    <a16:creationId xmlns:a16="http://schemas.microsoft.com/office/drawing/2014/main" id="{F95D13D1-4600-FAB6-28F8-7464E27B3CA8}"/>
                  </a:ext>
                </a:extLst>
              </p:cNvPr>
              <p:cNvGrpSpPr/>
              <p:nvPr/>
            </p:nvGrpSpPr>
            <p:grpSpPr>
              <a:xfrm>
                <a:off x="1793893" y="3948469"/>
                <a:ext cx="2716107" cy="2284168"/>
                <a:chOff x="1793893" y="3948469"/>
                <a:chExt cx="2716107" cy="2284168"/>
              </a:xfrm>
            </p:grpSpPr>
            <p:sp>
              <p:nvSpPr>
                <p:cNvPr id="31" name="Ellipse 30">
                  <a:extLst>
                    <a:ext uri="{FF2B5EF4-FFF2-40B4-BE49-F238E27FC236}">
                      <a16:creationId xmlns:a16="http://schemas.microsoft.com/office/drawing/2014/main" id="{4C726E69-810F-05E8-CCE3-03016B4DDC6F}"/>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32" name="Graphique 31" descr="Transférer avec un remplissage uni">
                  <a:extLst>
                    <a:ext uri="{FF2B5EF4-FFF2-40B4-BE49-F238E27FC236}">
                      <a16:creationId xmlns:a16="http://schemas.microsoft.com/office/drawing/2014/main" id="{21C540DB-765E-811D-A1E7-3E1542B72F25}"/>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1979208" y="4142052"/>
                  <a:ext cx="914400" cy="914400"/>
                </a:xfrm>
                <a:prstGeom prst="rect">
                  <a:avLst/>
                </a:prstGeom>
              </p:spPr>
            </p:pic>
            <p:pic>
              <p:nvPicPr>
                <p:cNvPr id="33" name="Graphique 32" descr="Toque d'étudiant avec un remplissage uni">
                  <a:extLst>
                    <a:ext uri="{FF2B5EF4-FFF2-40B4-BE49-F238E27FC236}">
                      <a16:creationId xmlns:a16="http://schemas.microsoft.com/office/drawing/2014/main" id="{67FCC80A-4DB4-9FC6-EF23-1AECC95F34D1}"/>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3260713" y="3948469"/>
                  <a:ext cx="914400" cy="914400"/>
                </a:xfrm>
                <a:prstGeom prst="rect">
                  <a:avLst/>
                </a:prstGeom>
              </p:spPr>
            </p:pic>
            <p:pic>
              <p:nvPicPr>
                <p:cNvPr id="34" name="Graphique 33" descr="Idée avec un remplissage uni">
                  <a:extLst>
                    <a:ext uri="{FF2B5EF4-FFF2-40B4-BE49-F238E27FC236}">
                      <a16:creationId xmlns:a16="http://schemas.microsoft.com/office/drawing/2014/main" id="{B46F102D-979F-6439-E333-62177D178C2E}"/>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1793893" y="5264448"/>
                  <a:ext cx="914400" cy="914400"/>
                </a:xfrm>
                <a:prstGeom prst="rect">
                  <a:avLst/>
                </a:prstGeom>
              </p:spPr>
            </p:pic>
            <p:pic>
              <p:nvPicPr>
                <p:cNvPr id="35" name="Graphique 34" descr="Chat avec un remplissage uni">
                  <a:extLst>
                    <a:ext uri="{FF2B5EF4-FFF2-40B4-BE49-F238E27FC236}">
                      <a16:creationId xmlns:a16="http://schemas.microsoft.com/office/drawing/2014/main" id="{0F584F54-8A1C-8B2B-A486-2BD86B387455}"/>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3595600" y="4881866"/>
                  <a:ext cx="914400" cy="914400"/>
                </a:xfrm>
                <a:prstGeom prst="rect">
                  <a:avLst/>
                </a:prstGeom>
              </p:spPr>
            </p:pic>
          </p:grpSp>
        </p:grpSp>
      </p:grpSp>
      <p:grpSp>
        <p:nvGrpSpPr>
          <p:cNvPr id="36" name="Groupe 35">
            <a:extLst>
              <a:ext uri="{FF2B5EF4-FFF2-40B4-BE49-F238E27FC236}">
                <a16:creationId xmlns:a16="http://schemas.microsoft.com/office/drawing/2014/main" id="{A2EE2608-55B8-6E6E-3457-08486E9E66C5}"/>
              </a:ext>
            </a:extLst>
          </p:cNvPr>
          <p:cNvGrpSpPr/>
          <p:nvPr/>
        </p:nvGrpSpPr>
        <p:grpSpPr>
          <a:xfrm>
            <a:off x="2690642" y="3335142"/>
            <a:ext cx="1188000" cy="1570992"/>
            <a:chOff x="1263318" y="4795766"/>
            <a:chExt cx="1188000" cy="1570992"/>
          </a:xfrm>
        </p:grpSpPr>
        <p:sp>
          <p:nvSpPr>
            <p:cNvPr id="37" name="Rectangle 36">
              <a:extLst>
                <a:ext uri="{FF2B5EF4-FFF2-40B4-BE49-F238E27FC236}">
                  <a16:creationId xmlns:a16="http://schemas.microsoft.com/office/drawing/2014/main" id="{308F8B54-52A8-5DA2-4E56-66E1185B5DDA}"/>
                </a:ext>
              </a:extLst>
            </p:cNvPr>
            <p:cNvSpPr/>
            <p:nvPr/>
          </p:nvSpPr>
          <p:spPr>
            <a:xfrm>
              <a:off x="1263318" y="5711008"/>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Opérations</a:t>
              </a:r>
            </a:p>
            <a:p>
              <a:pPr algn="ctr"/>
              <a:r>
                <a:rPr lang="fr-FR" sz="1200" dirty="0">
                  <a:solidFill>
                    <a:schemeClr val="tx1"/>
                  </a:solidFill>
                </a:rPr>
                <a:t>Projets</a:t>
              </a:r>
            </a:p>
          </p:txBody>
        </p:sp>
        <p:grpSp>
          <p:nvGrpSpPr>
            <p:cNvPr id="38" name="Groupe 37">
              <a:extLst>
                <a:ext uri="{FF2B5EF4-FFF2-40B4-BE49-F238E27FC236}">
                  <a16:creationId xmlns:a16="http://schemas.microsoft.com/office/drawing/2014/main" id="{544B5BE2-8597-75B5-E141-7CA8DFA1225E}"/>
                </a:ext>
              </a:extLst>
            </p:cNvPr>
            <p:cNvGrpSpPr/>
            <p:nvPr/>
          </p:nvGrpSpPr>
          <p:grpSpPr>
            <a:xfrm>
              <a:off x="1366615" y="4795766"/>
              <a:ext cx="1006494" cy="888801"/>
              <a:chOff x="7967905" y="574228"/>
              <a:chExt cx="2945866" cy="2601395"/>
            </a:xfrm>
          </p:grpSpPr>
          <p:sp>
            <p:nvSpPr>
              <p:cNvPr id="39" name="Ellipse 38">
                <a:extLst>
                  <a:ext uri="{FF2B5EF4-FFF2-40B4-BE49-F238E27FC236}">
                    <a16:creationId xmlns:a16="http://schemas.microsoft.com/office/drawing/2014/main" id="{6A4A6DAE-35AC-8258-D925-FC787311C378}"/>
                  </a:ext>
                </a:extLst>
              </p:cNvPr>
              <p:cNvSpPr/>
              <p:nvPr/>
            </p:nvSpPr>
            <p:spPr>
              <a:xfrm>
                <a:off x="8454825" y="965640"/>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0" name="Graphique 39" descr="Dossier ouvert avec un remplissage uni">
                <a:extLst>
                  <a:ext uri="{FF2B5EF4-FFF2-40B4-BE49-F238E27FC236}">
                    <a16:creationId xmlns:a16="http://schemas.microsoft.com/office/drawing/2014/main" id="{E2CD4880-0FB0-B496-988F-7382C90E062F}"/>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7967905" y="1044764"/>
                <a:ext cx="914400" cy="914400"/>
              </a:xfrm>
              <a:prstGeom prst="rect">
                <a:avLst/>
              </a:prstGeom>
            </p:spPr>
          </p:pic>
          <p:pic>
            <p:nvPicPr>
              <p:cNvPr id="41" name="Graphique 40" descr="Diagramme de Gantt avec un remplissage uni">
                <a:extLst>
                  <a:ext uri="{FF2B5EF4-FFF2-40B4-BE49-F238E27FC236}">
                    <a16:creationId xmlns:a16="http://schemas.microsoft.com/office/drawing/2014/main" id="{9208EE1B-BBC9-DBAE-67F1-AC38790B28CA}"/>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8454079" y="2190978"/>
                <a:ext cx="914400" cy="914400"/>
              </a:xfrm>
              <a:prstGeom prst="rect">
                <a:avLst/>
              </a:prstGeom>
            </p:spPr>
          </p:pic>
          <p:pic>
            <p:nvPicPr>
              <p:cNvPr id="42" name="Graphique 41" descr="Calendrier mensuel avec un remplissage uni">
                <a:extLst>
                  <a:ext uri="{FF2B5EF4-FFF2-40B4-BE49-F238E27FC236}">
                    <a16:creationId xmlns:a16="http://schemas.microsoft.com/office/drawing/2014/main" id="{A69A9225-E0B0-D5FB-C2D2-873B583C037C}"/>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9597330" y="2261223"/>
                <a:ext cx="914400" cy="914400"/>
              </a:xfrm>
              <a:prstGeom prst="rect">
                <a:avLst/>
              </a:prstGeom>
            </p:spPr>
          </p:pic>
          <p:pic>
            <p:nvPicPr>
              <p:cNvPr id="43" name="Graphique 42" descr="Priorités avec un remplissage uni">
                <a:extLst>
                  <a:ext uri="{FF2B5EF4-FFF2-40B4-BE49-F238E27FC236}">
                    <a16:creationId xmlns:a16="http://schemas.microsoft.com/office/drawing/2014/main" id="{AABC2E99-4CEA-5CC1-6B61-4E8296689C01}"/>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flipV="1">
                <a:off x="8952575" y="574228"/>
                <a:ext cx="914400" cy="1089697"/>
              </a:xfrm>
              <a:prstGeom prst="rect">
                <a:avLst/>
              </a:prstGeom>
            </p:spPr>
          </p:pic>
          <p:pic>
            <p:nvPicPr>
              <p:cNvPr id="44" name="Graphique 43" descr="Graphique à barres avec tendance à la baisse avec un remplissage uni">
                <a:extLst>
                  <a:ext uri="{FF2B5EF4-FFF2-40B4-BE49-F238E27FC236}">
                    <a16:creationId xmlns:a16="http://schemas.microsoft.com/office/drawing/2014/main" id="{64A8648A-8079-B00F-3868-93669CF704ED}"/>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9999371" y="992534"/>
                <a:ext cx="914400" cy="914400"/>
              </a:xfrm>
              <a:prstGeom prst="rect">
                <a:avLst/>
              </a:prstGeom>
            </p:spPr>
          </p:pic>
        </p:grpSp>
      </p:grpSp>
      <p:grpSp>
        <p:nvGrpSpPr>
          <p:cNvPr id="45" name="Groupe 44">
            <a:extLst>
              <a:ext uri="{FF2B5EF4-FFF2-40B4-BE49-F238E27FC236}">
                <a16:creationId xmlns:a16="http://schemas.microsoft.com/office/drawing/2014/main" id="{A9009A62-A0D0-F514-CBB8-AD46C81DC5BF}"/>
              </a:ext>
            </a:extLst>
          </p:cNvPr>
          <p:cNvGrpSpPr/>
          <p:nvPr/>
        </p:nvGrpSpPr>
        <p:grpSpPr>
          <a:xfrm>
            <a:off x="3960430" y="3412658"/>
            <a:ext cx="1188000" cy="1498161"/>
            <a:chOff x="2945394" y="4865339"/>
            <a:chExt cx="1188000" cy="1498161"/>
          </a:xfrm>
        </p:grpSpPr>
        <p:sp>
          <p:nvSpPr>
            <p:cNvPr id="46" name="Rectangle 45">
              <a:extLst>
                <a:ext uri="{FF2B5EF4-FFF2-40B4-BE49-F238E27FC236}">
                  <a16:creationId xmlns:a16="http://schemas.microsoft.com/office/drawing/2014/main" id="{D6A337D5-7B07-7FAC-002F-2D0A74C816A7}"/>
                </a:ext>
              </a:extLst>
            </p:cNvPr>
            <p:cNvSpPr/>
            <p:nvPr/>
          </p:nvSpPr>
          <p:spPr>
            <a:xfrm>
              <a:off x="2945394" y="5707750"/>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Opérations</a:t>
              </a:r>
            </a:p>
            <a:p>
              <a:pPr algn="ctr"/>
              <a:r>
                <a:rPr lang="fr-FR" sz="1200" dirty="0">
                  <a:solidFill>
                    <a:schemeClr val="tx1"/>
                  </a:solidFill>
                </a:rPr>
                <a:t>Qualité &amp; Méthodes</a:t>
              </a:r>
            </a:p>
          </p:txBody>
        </p:sp>
        <p:grpSp>
          <p:nvGrpSpPr>
            <p:cNvPr id="47" name="Groupe 46">
              <a:extLst>
                <a:ext uri="{FF2B5EF4-FFF2-40B4-BE49-F238E27FC236}">
                  <a16:creationId xmlns:a16="http://schemas.microsoft.com/office/drawing/2014/main" id="{0270F3AB-1827-C3D9-6EAC-487D5F65AEC9}"/>
                </a:ext>
              </a:extLst>
            </p:cNvPr>
            <p:cNvGrpSpPr/>
            <p:nvPr/>
          </p:nvGrpSpPr>
          <p:grpSpPr>
            <a:xfrm>
              <a:off x="3034186" y="4865339"/>
              <a:ext cx="962635" cy="814307"/>
              <a:chOff x="1619081" y="3908041"/>
              <a:chExt cx="3348357" cy="2476948"/>
            </a:xfrm>
          </p:grpSpPr>
          <p:pic>
            <p:nvPicPr>
              <p:cNvPr id="48" name="Graphique 47" descr="Graphique en radar avec un remplissage uni">
                <a:extLst>
                  <a:ext uri="{FF2B5EF4-FFF2-40B4-BE49-F238E27FC236}">
                    <a16:creationId xmlns:a16="http://schemas.microsoft.com/office/drawing/2014/main" id="{D0788FFE-852D-8121-9347-E714D061AF21}"/>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a:off x="1619081" y="5084439"/>
                <a:ext cx="1290292" cy="1290292"/>
              </a:xfrm>
              <a:prstGeom prst="rect">
                <a:avLst/>
              </a:prstGeom>
            </p:spPr>
          </p:pic>
          <p:pic>
            <p:nvPicPr>
              <p:cNvPr id="49" name="Graphique 48" descr="Compteur bas avec un remplissage uni">
                <a:extLst>
                  <a:ext uri="{FF2B5EF4-FFF2-40B4-BE49-F238E27FC236}">
                    <a16:creationId xmlns:a16="http://schemas.microsoft.com/office/drawing/2014/main" id="{5A9737BA-5A05-9E98-8EB5-BE78664E3226}"/>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flipH="1">
                <a:off x="2795861" y="3908041"/>
                <a:ext cx="898916" cy="914400"/>
              </a:xfrm>
              <a:prstGeom prst="rect">
                <a:avLst/>
              </a:prstGeom>
            </p:spPr>
          </p:pic>
          <p:pic>
            <p:nvPicPr>
              <p:cNvPr id="50" name="Graphique 49" descr="Cercles avec flèches avec un remplissage uni">
                <a:extLst>
                  <a:ext uri="{FF2B5EF4-FFF2-40B4-BE49-F238E27FC236}">
                    <a16:creationId xmlns:a16="http://schemas.microsoft.com/office/drawing/2014/main" id="{4149FE85-8B68-F7C3-F45B-52E2B39A7EED}"/>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rot="18361995">
                <a:off x="2644083" y="4661879"/>
                <a:ext cx="1172888" cy="1172888"/>
              </a:xfrm>
              <a:prstGeom prst="rect">
                <a:avLst/>
              </a:prstGeom>
            </p:spPr>
          </p:pic>
          <p:pic>
            <p:nvPicPr>
              <p:cNvPr id="51" name="Graphique 50" descr="Presse-papiers badge avec un remplissage uni">
                <a:extLst>
                  <a:ext uri="{FF2B5EF4-FFF2-40B4-BE49-F238E27FC236}">
                    <a16:creationId xmlns:a16="http://schemas.microsoft.com/office/drawing/2014/main" id="{DB84547A-27FB-FA6D-BEFF-2B96AB5DAEA1}"/>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3755728" y="5173279"/>
                <a:ext cx="1211710" cy="1211710"/>
              </a:xfrm>
              <a:prstGeom prst="rect">
                <a:avLst/>
              </a:prstGeom>
            </p:spPr>
          </p:pic>
        </p:grpSp>
      </p:grpSp>
      <p:grpSp>
        <p:nvGrpSpPr>
          <p:cNvPr id="52" name="Groupe 51">
            <a:extLst>
              <a:ext uri="{FF2B5EF4-FFF2-40B4-BE49-F238E27FC236}">
                <a16:creationId xmlns:a16="http://schemas.microsoft.com/office/drawing/2014/main" id="{CDA68888-DD39-2B65-19A1-B5EAE15152DD}"/>
              </a:ext>
            </a:extLst>
          </p:cNvPr>
          <p:cNvGrpSpPr/>
          <p:nvPr/>
        </p:nvGrpSpPr>
        <p:grpSpPr>
          <a:xfrm>
            <a:off x="5214616" y="3598192"/>
            <a:ext cx="1188000" cy="1306257"/>
            <a:chOff x="4704331" y="5050873"/>
            <a:chExt cx="1188000" cy="1306257"/>
          </a:xfrm>
        </p:grpSpPr>
        <p:sp>
          <p:nvSpPr>
            <p:cNvPr id="53" name="Rectangle 52">
              <a:extLst>
                <a:ext uri="{FF2B5EF4-FFF2-40B4-BE49-F238E27FC236}">
                  <a16:creationId xmlns:a16="http://schemas.microsoft.com/office/drawing/2014/main" id="{A5627BD9-8037-29C4-59D9-10F8BCA89D92}"/>
                </a:ext>
              </a:extLst>
            </p:cNvPr>
            <p:cNvSpPr/>
            <p:nvPr/>
          </p:nvSpPr>
          <p:spPr>
            <a:xfrm>
              <a:off x="4704331" y="5701380"/>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Opérations</a:t>
              </a:r>
            </a:p>
            <a:p>
              <a:pPr algn="ctr"/>
              <a:r>
                <a:rPr lang="fr-FR" sz="1200" dirty="0">
                  <a:solidFill>
                    <a:schemeClr val="tx1"/>
                  </a:solidFill>
                </a:rPr>
                <a:t>Gestion des connaissances</a:t>
              </a:r>
            </a:p>
          </p:txBody>
        </p:sp>
        <p:grpSp>
          <p:nvGrpSpPr>
            <p:cNvPr id="54" name="Groupe 53">
              <a:extLst>
                <a:ext uri="{FF2B5EF4-FFF2-40B4-BE49-F238E27FC236}">
                  <a16:creationId xmlns:a16="http://schemas.microsoft.com/office/drawing/2014/main" id="{5DF257F5-D665-04B7-F762-5248EC799D8C}"/>
                </a:ext>
              </a:extLst>
            </p:cNvPr>
            <p:cNvGrpSpPr/>
            <p:nvPr/>
          </p:nvGrpSpPr>
          <p:grpSpPr>
            <a:xfrm>
              <a:off x="4771800" y="5050873"/>
              <a:ext cx="1076472" cy="553441"/>
              <a:chOff x="6389474" y="3987996"/>
              <a:chExt cx="5385544" cy="2536749"/>
            </a:xfrm>
          </p:grpSpPr>
          <p:cxnSp>
            <p:nvCxnSpPr>
              <p:cNvPr id="55" name="Connecteur droit avec flèche 54">
                <a:extLst>
                  <a:ext uri="{FF2B5EF4-FFF2-40B4-BE49-F238E27FC236}">
                    <a16:creationId xmlns:a16="http://schemas.microsoft.com/office/drawing/2014/main" id="{2B96F61B-6F14-E5FE-605C-33F361705477}"/>
                  </a:ext>
                </a:extLst>
              </p:cNvPr>
              <p:cNvCxnSpPr>
                <a:cxnSpLocks/>
              </p:cNvCxnSpPr>
              <p:nvPr/>
            </p:nvCxnSpPr>
            <p:spPr>
              <a:xfrm flipV="1">
                <a:off x="6535271" y="6100758"/>
                <a:ext cx="1486117" cy="22439"/>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56" name="Graphique 55" descr="Télécharger du cloud avec un remplissage uni">
                <a:extLst>
                  <a:ext uri="{FF2B5EF4-FFF2-40B4-BE49-F238E27FC236}">
                    <a16:creationId xmlns:a16="http://schemas.microsoft.com/office/drawing/2014/main" id="{634F63B9-9BD1-D7A8-9147-9B6BC079681B}"/>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8320900" y="3987996"/>
                <a:ext cx="675060" cy="675060"/>
              </a:xfrm>
              <a:prstGeom prst="rect">
                <a:avLst/>
              </a:prstGeom>
            </p:spPr>
          </p:pic>
          <p:pic>
            <p:nvPicPr>
              <p:cNvPr id="57" name="Graphique 56" descr="Serveur avec un remplissage uni">
                <a:extLst>
                  <a:ext uri="{FF2B5EF4-FFF2-40B4-BE49-F238E27FC236}">
                    <a16:creationId xmlns:a16="http://schemas.microsoft.com/office/drawing/2014/main" id="{CF619E1C-D3B1-16F6-DFA7-4396650C6267}"/>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8995960" y="3987996"/>
                <a:ext cx="675060" cy="675060"/>
              </a:xfrm>
              <a:prstGeom prst="rect">
                <a:avLst/>
              </a:prstGeom>
            </p:spPr>
          </p:pic>
          <p:pic>
            <p:nvPicPr>
              <p:cNvPr id="58" name="Graphique 57" descr="Tête avec engrenages avec un remplissage uni">
                <a:extLst>
                  <a:ext uri="{FF2B5EF4-FFF2-40B4-BE49-F238E27FC236}">
                    <a16:creationId xmlns:a16="http://schemas.microsoft.com/office/drawing/2014/main" id="{4CD0D250-0975-1E92-A88F-A7AF91974821}"/>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6389474" y="5495508"/>
                <a:ext cx="914400" cy="914400"/>
              </a:xfrm>
              <a:prstGeom prst="rect">
                <a:avLst/>
              </a:prstGeom>
            </p:spPr>
          </p:pic>
          <p:sp>
            <p:nvSpPr>
              <p:cNvPr id="59" name="Flèche : droite 58">
                <a:extLst>
                  <a:ext uri="{FF2B5EF4-FFF2-40B4-BE49-F238E27FC236}">
                    <a16:creationId xmlns:a16="http://schemas.microsoft.com/office/drawing/2014/main" id="{C57C23A5-703C-2ECA-189A-B9955AA2B508}"/>
                  </a:ext>
                </a:extLst>
              </p:cNvPr>
              <p:cNvSpPr/>
              <p:nvPr/>
            </p:nvSpPr>
            <p:spPr>
              <a:xfrm rot="2221843">
                <a:off x="9714954" y="4900835"/>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60" name="Graphique 59" descr="Enseignant avec un remplissage uni">
                <a:extLst>
                  <a:ext uri="{FF2B5EF4-FFF2-40B4-BE49-F238E27FC236}">
                    <a16:creationId xmlns:a16="http://schemas.microsoft.com/office/drawing/2014/main" id="{7A0E605B-5EC4-CEE3-EA83-63968162867B}"/>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8353404" y="4668590"/>
                <a:ext cx="639776" cy="639776"/>
              </a:xfrm>
              <a:prstGeom prst="rect">
                <a:avLst/>
              </a:prstGeom>
            </p:spPr>
          </p:pic>
          <p:cxnSp>
            <p:nvCxnSpPr>
              <p:cNvPr id="61" name="Connecteur droit avec flèche 60">
                <a:extLst>
                  <a:ext uri="{FF2B5EF4-FFF2-40B4-BE49-F238E27FC236}">
                    <a16:creationId xmlns:a16="http://schemas.microsoft.com/office/drawing/2014/main" id="{7D64A95F-3E8F-DC92-2054-BC12A2FB7B82}"/>
                  </a:ext>
                </a:extLst>
              </p:cNvPr>
              <p:cNvCxnSpPr>
                <a:cxnSpLocks/>
              </p:cNvCxnSpPr>
              <p:nvPr/>
            </p:nvCxnSpPr>
            <p:spPr>
              <a:xfrm flipV="1">
                <a:off x="9709150" y="6092806"/>
                <a:ext cx="2065868" cy="15905"/>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62" name="Graphique 61" descr="Tête avec engrenages avec un remplissage uni">
                <a:extLst>
                  <a:ext uri="{FF2B5EF4-FFF2-40B4-BE49-F238E27FC236}">
                    <a16:creationId xmlns:a16="http://schemas.microsoft.com/office/drawing/2014/main" id="{5354BBCD-025B-306B-F84D-0A2ED17E77B3}"/>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10652219" y="5495508"/>
                <a:ext cx="914400" cy="914400"/>
              </a:xfrm>
              <a:prstGeom prst="rect">
                <a:avLst/>
              </a:prstGeom>
            </p:spPr>
          </p:pic>
          <p:sp>
            <p:nvSpPr>
              <p:cNvPr id="63" name="Flèche : droite 62">
                <a:extLst>
                  <a:ext uri="{FF2B5EF4-FFF2-40B4-BE49-F238E27FC236}">
                    <a16:creationId xmlns:a16="http://schemas.microsoft.com/office/drawing/2014/main" id="{0CBCDEFC-C522-CA7E-42E8-2048EC532312}"/>
                  </a:ext>
                </a:extLst>
              </p:cNvPr>
              <p:cNvSpPr/>
              <p:nvPr/>
            </p:nvSpPr>
            <p:spPr>
              <a:xfrm rot="18844370">
                <a:off x="7386229" y="4956663"/>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64" name="Graphique 63" descr="Groupe de personnes avec un remplissage uni">
                <a:extLst>
                  <a:ext uri="{FF2B5EF4-FFF2-40B4-BE49-F238E27FC236}">
                    <a16:creationId xmlns:a16="http://schemas.microsoft.com/office/drawing/2014/main" id="{44A80284-89DD-F718-8D11-706640094B4E}"/>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a:off x="9025684" y="4682443"/>
                <a:ext cx="565880" cy="565880"/>
              </a:xfrm>
              <a:prstGeom prst="rect">
                <a:avLst/>
              </a:prstGeom>
            </p:spPr>
          </p:pic>
          <p:pic>
            <p:nvPicPr>
              <p:cNvPr id="65" name="Graphique 64" descr="Stop avec un remplissage uni">
                <a:extLst>
                  <a:ext uri="{FF2B5EF4-FFF2-40B4-BE49-F238E27FC236}">
                    <a16:creationId xmlns:a16="http://schemas.microsoft.com/office/drawing/2014/main" id="{F4903EB1-DA8E-EF77-8C77-4EFAE0425FBC}"/>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7905881" y="5610345"/>
                <a:ext cx="914400" cy="914400"/>
              </a:xfrm>
              <a:prstGeom prst="rect">
                <a:avLst/>
              </a:prstGeom>
            </p:spPr>
          </p:pic>
          <p:grpSp>
            <p:nvGrpSpPr>
              <p:cNvPr id="66" name="Groupe 65">
                <a:extLst>
                  <a:ext uri="{FF2B5EF4-FFF2-40B4-BE49-F238E27FC236}">
                    <a16:creationId xmlns:a16="http://schemas.microsoft.com/office/drawing/2014/main" id="{33101674-8392-FB41-2597-2E8ABE9CCCF7}"/>
                  </a:ext>
                </a:extLst>
              </p:cNvPr>
              <p:cNvGrpSpPr/>
              <p:nvPr/>
            </p:nvGrpSpPr>
            <p:grpSpPr>
              <a:xfrm>
                <a:off x="9279050" y="5495508"/>
                <a:ext cx="914400" cy="914400"/>
                <a:chOff x="9251950" y="5495508"/>
                <a:chExt cx="914400" cy="914400"/>
              </a:xfrm>
            </p:grpSpPr>
            <p:pic>
              <p:nvPicPr>
                <p:cNvPr id="67" name="Graphique 66" descr="Tête avec engrenages avec un remplissage uni">
                  <a:extLst>
                    <a:ext uri="{FF2B5EF4-FFF2-40B4-BE49-F238E27FC236}">
                      <a16:creationId xmlns:a16="http://schemas.microsoft.com/office/drawing/2014/main" id="{D8B28275-3FEF-F912-6408-0B680CFBA070}"/>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9251950" y="5495508"/>
                  <a:ext cx="914400" cy="914400"/>
                </a:xfrm>
                <a:prstGeom prst="rect">
                  <a:avLst/>
                </a:prstGeom>
              </p:spPr>
            </p:pic>
            <p:sp>
              <p:nvSpPr>
                <p:cNvPr id="68" name="Rectangle 67">
                  <a:extLst>
                    <a:ext uri="{FF2B5EF4-FFF2-40B4-BE49-F238E27FC236}">
                      <a16:creationId xmlns:a16="http://schemas.microsoft.com/office/drawing/2014/main" id="{332B1205-8CCF-2FEB-A8F1-1308187F8365}"/>
                    </a:ext>
                  </a:extLst>
                </p:cNvPr>
                <p:cNvSpPr/>
                <p:nvPr/>
              </p:nvSpPr>
              <p:spPr>
                <a:xfrm>
                  <a:off x="9453160" y="5700257"/>
                  <a:ext cx="402041" cy="33468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a:extLst>
                    <a:ext uri="{FF2B5EF4-FFF2-40B4-BE49-F238E27FC236}">
                      <a16:creationId xmlns:a16="http://schemas.microsoft.com/office/drawing/2014/main" id="{24185C04-CEE5-121F-3B69-56BF9D3567B7}"/>
                    </a:ext>
                  </a:extLst>
                </p:cNvPr>
                <p:cNvSpPr/>
                <p:nvPr/>
              </p:nvSpPr>
              <p:spPr>
                <a:xfrm>
                  <a:off x="9566945" y="5606948"/>
                  <a:ext cx="262408" cy="34576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grpSp>
        <p:nvGrpSpPr>
          <p:cNvPr id="70" name="Groupe 69">
            <a:extLst>
              <a:ext uri="{FF2B5EF4-FFF2-40B4-BE49-F238E27FC236}">
                <a16:creationId xmlns:a16="http://schemas.microsoft.com/office/drawing/2014/main" id="{DC8F38A3-A9F3-B97D-07EF-23151FFBF793}"/>
              </a:ext>
            </a:extLst>
          </p:cNvPr>
          <p:cNvGrpSpPr/>
          <p:nvPr/>
        </p:nvGrpSpPr>
        <p:grpSpPr>
          <a:xfrm>
            <a:off x="9007128" y="3734067"/>
            <a:ext cx="1188000" cy="1172315"/>
            <a:chOff x="9979734" y="5177643"/>
            <a:chExt cx="1188000" cy="1172315"/>
          </a:xfrm>
        </p:grpSpPr>
        <p:sp>
          <p:nvSpPr>
            <p:cNvPr id="71" name="Rectangle 70">
              <a:extLst>
                <a:ext uri="{FF2B5EF4-FFF2-40B4-BE49-F238E27FC236}">
                  <a16:creationId xmlns:a16="http://schemas.microsoft.com/office/drawing/2014/main" id="{3431351B-7CD7-4B55-82B0-E016314C7E84}"/>
                </a:ext>
              </a:extLst>
            </p:cNvPr>
            <p:cNvSpPr/>
            <p:nvPr/>
          </p:nvSpPr>
          <p:spPr>
            <a:xfrm>
              <a:off x="9979734" y="5694208"/>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Opérations</a:t>
              </a:r>
            </a:p>
            <a:p>
              <a:pPr algn="ctr"/>
              <a:r>
                <a:rPr lang="fr-FR" sz="1200" dirty="0">
                  <a:solidFill>
                    <a:schemeClr val="tx1"/>
                  </a:solidFill>
                </a:rPr>
                <a:t>Transformation d’entreprise</a:t>
              </a:r>
            </a:p>
          </p:txBody>
        </p:sp>
        <p:grpSp>
          <p:nvGrpSpPr>
            <p:cNvPr id="72" name="Groupe 71">
              <a:extLst>
                <a:ext uri="{FF2B5EF4-FFF2-40B4-BE49-F238E27FC236}">
                  <a16:creationId xmlns:a16="http://schemas.microsoft.com/office/drawing/2014/main" id="{B496AF43-F9C5-BF20-05FB-C78C09D3693C}"/>
                </a:ext>
              </a:extLst>
            </p:cNvPr>
            <p:cNvGrpSpPr/>
            <p:nvPr/>
          </p:nvGrpSpPr>
          <p:grpSpPr>
            <a:xfrm>
              <a:off x="10053885" y="5177643"/>
              <a:ext cx="1025143" cy="399185"/>
              <a:chOff x="6479122" y="1406591"/>
              <a:chExt cx="5241664" cy="1686141"/>
            </a:xfrm>
          </p:grpSpPr>
          <p:pic>
            <p:nvPicPr>
              <p:cNvPr id="73" name="Graphique 72" descr="Soucoupe volante avec un remplissage uni">
                <a:extLst>
                  <a:ext uri="{FF2B5EF4-FFF2-40B4-BE49-F238E27FC236}">
                    <a16:creationId xmlns:a16="http://schemas.microsoft.com/office/drawing/2014/main" id="{F8346BEE-4D86-3A70-03E4-13FE21263ABB}"/>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10806386" y="1406591"/>
                <a:ext cx="914400" cy="914400"/>
              </a:xfrm>
              <a:prstGeom prst="rect">
                <a:avLst/>
              </a:prstGeom>
            </p:spPr>
          </p:pic>
          <p:pic>
            <p:nvPicPr>
              <p:cNvPr id="74" name="Graphique 73" descr="Usine avec un remplissage uni">
                <a:extLst>
                  <a:ext uri="{FF2B5EF4-FFF2-40B4-BE49-F238E27FC236}">
                    <a16:creationId xmlns:a16="http://schemas.microsoft.com/office/drawing/2014/main" id="{C5771A85-2129-7D5F-57B1-4F4E0F27B676}"/>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8642754" y="1406591"/>
                <a:ext cx="914400" cy="914400"/>
              </a:xfrm>
              <a:prstGeom prst="rect">
                <a:avLst/>
              </a:prstGeom>
            </p:spPr>
          </p:pic>
          <p:pic>
            <p:nvPicPr>
              <p:cNvPr id="75" name="Graphique 74" descr="Pyramide avec un remplissage uni">
                <a:extLst>
                  <a:ext uri="{FF2B5EF4-FFF2-40B4-BE49-F238E27FC236}">
                    <a16:creationId xmlns:a16="http://schemas.microsoft.com/office/drawing/2014/main" id="{8A43E890-9615-1C5C-06A2-63A1E60D265B}"/>
                  </a:ext>
                </a:extLst>
              </p:cNvPr>
              <p:cNvPicPr>
                <a:picLocks noChangeAspect="1"/>
              </p:cNvPicPr>
              <p:nvPr/>
            </p:nvPicPr>
            <p:blipFill>
              <a:blip r:embed="rId74">
                <a:extLst>
                  <a:ext uri="{28A0092B-C50C-407E-A947-70E740481C1C}">
                    <a14:useLocalDpi xmlns:a14="http://schemas.microsoft.com/office/drawing/2010/main" val="0"/>
                  </a:ext>
                  <a:ext uri="{96DAC541-7B7A-43D3-8B79-37D633B846F1}">
                    <asvg:svgBlip xmlns:asvg="http://schemas.microsoft.com/office/drawing/2016/SVG/main" r:embed="rId75"/>
                  </a:ext>
                </a:extLst>
              </a:blip>
              <a:stretch>
                <a:fillRect/>
              </a:stretch>
            </p:blipFill>
            <p:spPr>
              <a:xfrm>
                <a:off x="6479122" y="1406591"/>
                <a:ext cx="914400" cy="914400"/>
              </a:xfrm>
              <a:prstGeom prst="rect">
                <a:avLst/>
              </a:prstGeom>
            </p:spPr>
          </p:pic>
          <p:pic>
            <p:nvPicPr>
              <p:cNvPr id="76" name="Graphique 75" descr="Bâtiment avec un remplissage uni">
                <a:extLst>
                  <a:ext uri="{FF2B5EF4-FFF2-40B4-BE49-F238E27FC236}">
                    <a16:creationId xmlns:a16="http://schemas.microsoft.com/office/drawing/2014/main" id="{25F5BEF3-05E8-B654-3172-6F751A65AE25}"/>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9724570" y="2178332"/>
                <a:ext cx="914400" cy="914400"/>
              </a:xfrm>
              <a:prstGeom prst="rect">
                <a:avLst/>
              </a:prstGeom>
            </p:spPr>
          </p:pic>
          <p:pic>
            <p:nvPicPr>
              <p:cNvPr id="77" name="Graphique 76" descr="Scène de château avec un remplissage uni">
                <a:extLst>
                  <a:ext uri="{FF2B5EF4-FFF2-40B4-BE49-F238E27FC236}">
                    <a16:creationId xmlns:a16="http://schemas.microsoft.com/office/drawing/2014/main" id="{A1AD523D-570D-39A0-419B-3C4A6849A4EA}"/>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7560938" y="2178332"/>
                <a:ext cx="914400" cy="914400"/>
              </a:xfrm>
              <a:prstGeom prst="rect">
                <a:avLst/>
              </a:prstGeom>
            </p:spPr>
          </p:pic>
          <p:sp>
            <p:nvSpPr>
              <p:cNvPr id="78" name="Flèche : droite 77">
                <a:extLst>
                  <a:ext uri="{FF2B5EF4-FFF2-40B4-BE49-F238E27FC236}">
                    <a16:creationId xmlns:a16="http://schemas.microsoft.com/office/drawing/2014/main" id="{257384C2-ECF8-A78D-CED8-5316B4D163AF}"/>
                  </a:ext>
                </a:extLst>
              </p:cNvPr>
              <p:cNvSpPr/>
              <p:nvPr/>
            </p:nvSpPr>
            <p:spPr>
              <a:xfrm rot="2412443">
                <a:off x="7420834" y="196308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Flèche : droite 78">
                <a:extLst>
                  <a:ext uri="{FF2B5EF4-FFF2-40B4-BE49-F238E27FC236}">
                    <a16:creationId xmlns:a16="http://schemas.microsoft.com/office/drawing/2014/main" id="{FB9455DD-C235-530B-3534-47DE62B447EE}"/>
                  </a:ext>
                </a:extLst>
              </p:cNvPr>
              <p:cNvSpPr/>
              <p:nvPr/>
            </p:nvSpPr>
            <p:spPr>
              <a:xfrm rot="19318800">
                <a:off x="8295844"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Flèche : droite 79">
                <a:extLst>
                  <a:ext uri="{FF2B5EF4-FFF2-40B4-BE49-F238E27FC236}">
                    <a16:creationId xmlns:a16="http://schemas.microsoft.com/office/drawing/2014/main" id="{329866B7-82F0-6C37-E236-CBF0CC1C400F}"/>
                  </a:ext>
                </a:extLst>
              </p:cNvPr>
              <p:cNvSpPr/>
              <p:nvPr/>
            </p:nvSpPr>
            <p:spPr>
              <a:xfrm rot="19318800">
                <a:off x="10452959"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Flèche : droite 80">
                <a:extLst>
                  <a:ext uri="{FF2B5EF4-FFF2-40B4-BE49-F238E27FC236}">
                    <a16:creationId xmlns:a16="http://schemas.microsoft.com/office/drawing/2014/main" id="{16ED9F43-2FBB-9212-9888-CADE3C046E7D}"/>
                  </a:ext>
                </a:extLst>
              </p:cNvPr>
              <p:cNvSpPr/>
              <p:nvPr/>
            </p:nvSpPr>
            <p:spPr>
              <a:xfrm rot="2412443">
                <a:off x="9514335" y="192072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82" name="Groupe 81">
            <a:extLst>
              <a:ext uri="{FF2B5EF4-FFF2-40B4-BE49-F238E27FC236}">
                <a16:creationId xmlns:a16="http://schemas.microsoft.com/office/drawing/2014/main" id="{AA25FFCB-35F9-D672-821F-140556A7A79D}"/>
              </a:ext>
            </a:extLst>
          </p:cNvPr>
          <p:cNvGrpSpPr/>
          <p:nvPr/>
        </p:nvGrpSpPr>
        <p:grpSpPr>
          <a:xfrm>
            <a:off x="3990377" y="5317467"/>
            <a:ext cx="1188000" cy="1351257"/>
            <a:chOff x="9927646" y="3089935"/>
            <a:chExt cx="1188000" cy="1351257"/>
          </a:xfrm>
        </p:grpSpPr>
        <p:sp>
          <p:nvSpPr>
            <p:cNvPr id="83" name="Rectangle 82">
              <a:extLst>
                <a:ext uri="{FF2B5EF4-FFF2-40B4-BE49-F238E27FC236}">
                  <a16:creationId xmlns:a16="http://schemas.microsoft.com/office/drawing/2014/main" id="{65BCBC90-B903-1663-B51D-7B9A06C81185}"/>
                </a:ext>
              </a:extLst>
            </p:cNvPr>
            <p:cNvSpPr/>
            <p:nvPr/>
          </p:nvSpPr>
          <p:spPr>
            <a:xfrm>
              <a:off x="9927646" y="3927569"/>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Vente</a:t>
              </a:r>
            </a:p>
            <a:p>
              <a:pPr algn="ctr"/>
              <a:r>
                <a:rPr lang="fr-FR" sz="1200" dirty="0">
                  <a:solidFill>
                    <a:schemeClr val="tx1"/>
                  </a:solidFill>
                </a:rPr>
                <a:t>Communication externe</a:t>
              </a:r>
            </a:p>
          </p:txBody>
        </p:sp>
        <p:grpSp>
          <p:nvGrpSpPr>
            <p:cNvPr id="84" name="Groupe 83">
              <a:extLst>
                <a:ext uri="{FF2B5EF4-FFF2-40B4-BE49-F238E27FC236}">
                  <a16:creationId xmlns:a16="http://schemas.microsoft.com/office/drawing/2014/main" id="{2346174A-234D-9251-D27C-CB433B6FB9C5}"/>
                </a:ext>
              </a:extLst>
            </p:cNvPr>
            <p:cNvGrpSpPr/>
            <p:nvPr/>
          </p:nvGrpSpPr>
          <p:grpSpPr>
            <a:xfrm>
              <a:off x="10028058" y="3089935"/>
              <a:ext cx="999718" cy="764069"/>
              <a:chOff x="7993201" y="3990786"/>
              <a:chExt cx="3083654" cy="2356787"/>
            </a:xfrm>
          </p:grpSpPr>
          <p:pic>
            <p:nvPicPr>
              <p:cNvPr id="85" name="Graphique 84" descr="Podcasting avec un remplissage uni">
                <a:extLst>
                  <a:ext uri="{FF2B5EF4-FFF2-40B4-BE49-F238E27FC236}">
                    <a16:creationId xmlns:a16="http://schemas.microsoft.com/office/drawing/2014/main" id="{85C5A946-BAFB-9ACF-A9CC-81AC640D9F0F}"/>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7993201" y="3990786"/>
                <a:ext cx="914400" cy="914400"/>
              </a:xfrm>
              <a:prstGeom prst="rect">
                <a:avLst/>
              </a:prstGeom>
            </p:spPr>
          </p:pic>
          <p:pic>
            <p:nvPicPr>
              <p:cNvPr id="86" name="Graphique 85" descr="Vlog avec un remplissage uni">
                <a:extLst>
                  <a:ext uri="{FF2B5EF4-FFF2-40B4-BE49-F238E27FC236}">
                    <a16:creationId xmlns:a16="http://schemas.microsoft.com/office/drawing/2014/main" id="{E3F6EFC0-8F10-FE85-B461-5D61755111D3}"/>
                  </a:ext>
                </a:extLst>
              </p:cNvPr>
              <p:cNvPicPr>
                <a:picLocks noChangeAspect="1"/>
              </p:cNvPicPr>
              <p:nvPr/>
            </p:nvPicPr>
            <p:blipFill>
              <a:blip r:embed="rId82">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8000671" y="5433173"/>
                <a:ext cx="914400" cy="914400"/>
              </a:xfrm>
              <a:prstGeom prst="rect">
                <a:avLst/>
              </a:prstGeom>
            </p:spPr>
          </p:pic>
          <p:pic>
            <p:nvPicPr>
              <p:cNvPr id="87" name="Graphique 86" descr="Journal avec un remplissage uni">
                <a:extLst>
                  <a:ext uri="{FF2B5EF4-FFF2-40B4-BE49-F238E27FC236}">
                    <a16:creationId xmlns:a16="http://schemas.microsoft.com/office/drawing/2014/main" id="{C0DF6CFC-27FB-2AD9-E097-A09B3D08A739}"/>
                  </a:ext>
                </a:extLst>
              </p:cNvPr>
              <p:cNvPicPr>
                <a:picLocks noChangeAspect="1"/>
              </p:cNvPicPr>
              <p:nvPr/>
            </p:nvPicPr>
            <p:blipFill>
              <a:blip r:embed="rId84">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10162455" y="4013608"/>
                <a:ext cx="914400" cy="914400"/>
              </a:xfrm>
              <a:prstGeom prst="rect">
                <a:avLst/>
              </a:prstGeom>
            </p:spPr>
          </p:pic>
          <p:pic>
            <p:nvPicPr>
              <p:cNvPr id="88" name="Graphique 87" descr="Réseau en ligne avec un remplissage uni">
                <a:extLst>
                  <a:ext uri="{FF2B5EF4-FFF2-40B4-BE49-F238E27FC236}">
                    <a16:creationId xmlns:a16="http://schemas.microsoft.com/office/drawing/2014/main" id="{1C25B4CB-01D4-2A0D-24CF-89F0F1531F18}"/>
                  </a:ext>
                </a:extLst>
              </p:cNvPr>
              <p:cNvPicPr>
                <a:picLocks noChangeAspect="1"/>
              </p:cNvPicPr>
              <p:nvPr/>
            </p:nvPicPr>
            <p:blipFill>
              <a:blip r:embed="rId86">
                <a:extLst>
                  <a:ext uri="{28A0092B-C50C-407E-A947-70E740481C1C}">
                    <a14:useLocalDpi xmlns:a14="http://schemas.microsoft.com/office/drawing/2010/main" val="0"/>
                  </a:ext>
                  <a:ext uri="{96DAC541-7B7A-43D3-8B79-37D633B846F1}">
                    <asvg:svgBlip xmlns:asvg="http://schemas.microsoft.com/office/drawing/2016/SVG/main" r:embed="rId87"/>
                  </a:ext>
                </a:extLst>
              </a:blip>
              <a:stretch>
                <a:fillRect/>
              </a:stretch>
            </p:blipFill>
            <p:spPr>
              <a:xfrm>
                <a:off x="10066135" y="5341229"/>
                <a:ext cx="914400" cy="914400"/>
              </a:xfrm>
              <a:prstGeom prst="rect">
                <a:avLst/>
              </a:prstGeom>
            </p:spPr>
          </p:pic>
          <p:grpSp>
            <p:nvGrpSpPr>
              <p:cNvPr id="89" name="Groupe 88">
                <a:extLst>
                  <a:ext uri="{FF2B5EF4-FFF2-40B4-BE49-F238E27FC236}">
                    <a16:creationId xmlns:a16="http://schemas.microsoft.com/office/drawing/2014/main" id="{6E55220F-98AC-E2CD-CEF5-864A7ED96368}"/>
                  </a:ext>
                </a:extLst>
              </p:cNvPr>
              <p:cNvGrpSpPr/>
              <p:nvPr/>
            </p:nvGrpSpPr>
            <p:grpSpPr>
              <a:xfrm>
                <a:off x="8632968" y="4529072"/>
                <a:ext cx="1791083" cy="1287429"/>
                <a:chOff x="8274918" y="4478329"/>
                <a:chExt cx="1791083" cy="1287429"/>
              </a:xfrm>
            </p:grpSpPr>
            <p:pic>
              <p:nvPicPr>
                <p:cNvPr id="90" name="Graphique 89" descr="Bâtiment avec un remplissage uni">
                  <a:extLst>
                    <a:ext uri="{FF2B5EF4-FFF2-40B4-BE49-F238E27FC236}">
                      <a16:creationId xmlns:a16="http://schemas.microsoft.com/office/drawing/2014/main" id="{DD5C8273-7505-BC00-D010-F53CF6FF2985}"/>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8725807" y="4753283"/>
                  <a:ext cx="914400" cy="914400"/>
                </a:xfrm>
                <a:prstGeom prst="rect">
                  <a:avLst/>
                </a:prstGeom>
              </p:spPr>
            </p:pic>
            <p:sp>
              <p:nvSpPr>
                <p:cNvPr id="91" name="Flèche : droite 90">
                  <a:extLst>
                    <a:ext uri="{FF2B5EF4-FFF2-40B4-BE49-F238E27FC236}">
                      <a16:creationId xmlns:a16="http://schemas.microsoft.com/office/drawing/2014/main" id="{DED92ACF-6A4D-BDE8-E7C0-513429D536DB}"/>
                    </a:ext>
                  </a:extLst>
                </p:cNvPr>
                <p:cNvSpPr/>
                <p:nvPr/>
              </p:nvSpPr>
              <p:spPr>
                <a:xfrm rot="19318800">
                  <a:off x="9688254" y="447832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Flèche : droite 91">
                  <a:extLst>
                    <a:ext uri="{FF2B5EF4-FFF2-40B4-BE49-F238E27FC236}">
                      <a16:creationId xmlns:a16="http://schemas.microsoft.com/office/drawing/2014/main" id="{F90BBBB5-DFFF-80C0-A4CD-53143E506938}"/>
                    </a:ext>
                  </a:extLst>
                </p:cNvPr>
                <p:cNvSpPr/>
                <p:nvPr/>
              </p:nvSpPr>
              <p:spPr>
                <a:xfrm rot="2412443">
                  <a:off x="9689689" y="536291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Flèche : droite 92">
                  <a:extLst>
                    <a:ext uri="{FF2B5EF4-FFF2-40B4-BE49-F238E27FC236}">
                      <a16:creationId xmlns:a16="http://schemas.microsoft.com/office/drawing/2014/main" id="{39517C9D-4440-6CCB-4EF7-E9BAC13B43F6}"/>
                    </a:ext>
                  </a:extLst>
                </p:cNvPr>
                <p:cNvSpPr/>
                <p:nvPr/>
              </p:nvSpPr>
              <p:spPr>
                <a:xfrm rot="8279483">
                  <a:off x="8287182" y="5362622"/>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4" name="Flèche : droite 93">
                  <a:extLst>
                    <a:ext uri="{FF2B5EF4-FFF2-40B4-BE49-F238E27FC236}">
                      <a16:creationId xmlns:a16="http://schemas.microsoft.com/office/drawing/2014/main" id="{50D2094D-507B-B5A8-4949-DB0801FA220A}"/>
                    </a:ext>
                  </a:extLst>
                </p:cNvPr>
                <p:cNvSpPr/>
                <p:nvPr/>
              </p:nvSpPr>
              <p:spPr>
                <a:xfrm rot="13573193">
                  <a:off x="8288184" y="447896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grpSp>
        <p:nvGrpSpPr>
          <p:cNvPr id="95" name="Groupe 94">
            <a:extLst>
              <a:ext uri="{FF2B5EF4-FFF2-40B4-BE49-F238E27FC236}">
                <a16:creationId xmlns:a16="http://schemas.microsoft.com/office/drawing/2014/main" id="{FBD3CCDB-ECEF-048E-8189-6BB64C7AEA7B}"/>
              </a:ext>
            </a:extLst>
          </p:cNvPr>
          <p:cNvGrpSpPr/>
          <p:nvPr/>
        </p:nvGrpSpPr>
        <p:grpSpPr>
          <a:xfrm>
            <a:off x="6469867" y="3519776"/>
            <a:ext cx="1188000" cy="1391043"/>
            <a:chOff x="6450988" y="4963473"/>
            <a:chExt cx="1188000" cy="1391043"/>
          </a:xfrm>
        </p:grpSpPr>
        <p:sp>
          <p:nvSpPr>
            <p:cNvPr id="96" name="Rectangle 95">
              <a:extLst>
                <a:ext uri="{FF2B5EF4-FFF2-40B4-BE49-F238E27FC236}">
                  <a16:creationId xmlns:a16="http://schemas.microsoft.com/office/drawing/2014/main" id="{124C4E93-80F8-C590-6C97-CB0914C1EE90}"/>
                </a:ext>
              </a:extLst>
            </p:cNvPr>
            <p:cNvSpPr/>
            <p:nvPr/>
          </p:nvSpPr>
          <p:spPr>
            <a:xfrm>
              <a:off x="6450988" y="5698766"/>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Opérations </a:t>
              </a:r>
            </a:p>
            <a:p>
              <a:pPr algn="ctr"/>
              <a:r>
                <a:rPr lang="fr-FR" sz="1200" dirty="0">
                  <a:solidFill>
                    <a:schemeClr val="tx1"/>
                  </a:solidFill>
                </a:rPr>
                <a:t>Management Transverse</a:t>
              </a:r>
            </a:p>
          </p:txBody>
        </p:sp>
        <p:grpSp>
          <p:nvGrpSpPr>
            <p:cNvPr id="97" name="Groupe 96">
              <a:extLst>
                <a:ext uri="{FF2B5EF4-FFF2-40B4-BE49-F238E27FC236}">
                  <a16:creationId xmlns:a16="http://schemas.microsoft.com/office/drawing/2014/main" id="{40061679-B8E0-4FEE-3C33-EE70CC8255EC}"/>
                </a:ext>
              </a:extLst>
            </p:cNvPr>
            <p:cNvGrpSpPr/>
            <p:nvPr/>
          </p:nvGrpSpPr>
          <p:grpSpPr>
            <a:xfrm>
              <a:off x="6677241" y="4963473"/>
              <a:ext cx="730189" cy="610409"/>
              <a:chOff x="1734369" y="510800"/>
              <a:chExt cx="2873060" cy="2423359"/>
            </a:xfrm>
          </p:grpSpPr>
          <p:pic>
            <p:nvPicPr>
              <p:cNvPr id="98" name="Graphique 97" descr="Avertissement avec un remplissage uni">
                <a:extLst>
                  <a:ext uri="{FF2B5EF4-FFF2-40B4-BE49-F238E27FC236}">
                    <a16:creationId xmlns:a16="http://schemas.microsoft.com/office/drawing/2014/main" id="{3B66A365-5411-7F8C-AE2A-2A676D8A7A20}"/>
                  </a:ext>
                </a:extLst>
              </p:cNvPr>
              <p:cNvPicPr>
                <a:picLocks noChangeAspect="1"/>
              </p:cNvPicPr>
              <p:nvPr/>
            </p:nvPicPr>
            <p:blipFill>
              <a:blip r:embed="rId88">
                <a:extLst>
                  <a:ext uri="{28A0092B-C50C-407E-A947-70E740481C1C}">
                    <a14:useLocalDpi xmlns:a14="http://schemas.microsoft.com/office/drawing/2010/main" val="0"/>
                  </a:ext>
                  <a:ext uri="{96DAC541-7B7A-43D3-8B79-37D633B846F1}">
                    <asvg:svgBlip xmlns:asvg="http://schemas.microsoft.com/office/drawing/2016/SVG/main" r:embed="rId89"/>
                  </a:ext>
                </a:extLst>
              </a:blip>
              <a:stretch>
                <a:fillRect/>
              </a:stretch>
            </p:blipFill>
            <p:spPr>
              <a:xfrm>
                <a:off x="1734369" y="1978134"/>
                <a:ext cx="914400" cy="914400"/>
              </a:xfrm>
              <a:prstGeom prst="rect">
                <a:avLst/>
              </a:prstGeom>
            </p:spPr>
          </p:pic>
          <p:pic>
            <p:nvPicPr>
              <p:cNvPr id="99" name="Graphique 98" descr="Chat avec un remplissage uni">
                <a:extLst>
                  <a:ext uri="{FF2B5EF4-FFF2-40B4-BE49-F238E27FC236}">
                    <a16:creationId xmlns:a16="http://schemas.microsoft.com/office/drawing/2014/main" id="{20E91D0F-B2DF-55D6-8958-8BB97774F14E}"/>
                  </a:ext>
                </a:extLst>
              </p:cNvPr>
              <p:cNvPicPr>
                <a:picLocks noChangeAspect="1"/>
              </p:cNvPicPr>
              <p:nvPr/>
            </p:nvPicPr>
            <p:blipFill>
              <a:blip r:embed="rId90">
                <a:extLst>
                  <a:ext uri="{28A0092B-C50C-407E-A947-70E740481C1C}">
                    <a14:useLocalDpi xmlns:a14="http://schemas.microsoft.com/office/drawing/2010/main" val="0"/>
                  </a:ext>
                  <a:ext uri="{96DAC541-7B7A-43D3-8B79-37D633B846F1}">
                    <asvg:svgBlip xmlns:asvg="http://schemas.microsoft.com/office/drawing/2016/SVG/main" r:embed="rId91"/>
                  </a:ext>
                </a:extLst>
              </a:blip>
              <a:stretch>
                <a:fillRect/>
              </a:stretch>
            </p:blipFill>
            <p:spPr>
              <a:xfrm>
                <a:off x="2713699" y="1562559"/>
                <a:ext cx="914400" cy="914400"/>
              </a:xfrm>
              <a:prstGeom prst="rect">
                <a:avLst/>
              </a:prstGeom>
            </p:spPr>
          </p:pic>
          <p:pic>
            <p:nvPicPr>
              <p:cNvPr id="100" name="Graphique 99" descr="Liste de contrôle avec un remplissage uni">
                <a:extLst>
                  <a:ext uri="{FF2B5EF4-FFF2-40B4-BE49-F238E27FC236}">
                    <a16:creationId xmlns:a16="http://schemas.microsoft.com/office/drawing/2014/main" id="{1B9EA0DE-C886-908A-8F7E-906D7166A784}"/>
                  </a:ext>
                </a:extLst>
              </p:cNvPr>
              <p:cNvPicPr>
                <a:picLocks noChangeAspect="1"/>
              </p:cNvPicPr>
              <p:nvPr/>
            </p:nvPicPr>
            <p:blipFill>
              <a:blip r:embed="rId92">
                <a:extLst>
                  <a:ext uri="{28A0092B-C50C-407E-A947-70E740481C1C}">
                    <a14:useLocalDpi xmlns:a14="http://schemas.microsoft.com/office/drawing/2010/main" val="0"/>
                  </a:ext>
                  <a:ext uri="{96DAC541-7B7A-43D3-8B79-37D633B846F1}">
                    <asvg:svgBlip xmlns:asvg="http://schemas.microsoft.com/office/drawing/2016/SVG/main" r:embed="rId93"/>
                  </a:ext>
                </a:extLst>
              </a:blip>
              <a:stretch>
                <a:fillRect/>
              </a:stretch>
            </p:blipFill>
            <p:spPr>
              <a:xfrm>
                <a:off x="3693029" y="2019759"/>
                <a:ext cx="914400" cy="914400"/>
              </a:xfrm>
              <a:prstGeom prst="rect">
                <a:avLst/>
              </a:prstGeom>
            </p:spPr>
          </p:pic>
          <p:pic>
            <p:nvPicPr>
              <p:cNvPr id="101" name="Graphique 100" descr="Synchronisation avec le cloud avec un remplissage uni">
                <a:extLst>
                  <a:ext uri="{FF2B5EF4-FFF2-40B4-BE49-F238E27FC236}">
                    <a16:creationId xmlns:a16="http://schemas.microsoft.com/office/drawing/2014/main" id="{F6EFB065-BD7D-7A28-9A60-27D0C742BFF5}"/>
                  </a:ext>
                </a:extLst>
              </p:cNvPr>
              <p:cNvPicPr>
                <a:picLocks noChangeAspect="1"/>
              </p:cNvPicPr>
              <p:nvPr/>
            </p:nvPicPr>
            <p:blipFill>
              <a:blip r:embed="rId94">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2778630" y="510800"/>
                <a:ext cx="914400" cy="914400"/>
              </a:xfrm>
              <a:prstGeom prst="rect">
                <a:avLst/>
              </a:prstGeom>
            </p:spPr>
          </p:pic>
        </p:grpSp>
      </p:grpSp>
      <p:grpSp>
        <p:nvGrpSpPr>
          <p:cNvPr id="102" name="Groupe 101">
            <a:extLst>
              <a:ext uri="{FF2B5EF4-FFF2-40B4-BE49-F238E27FC236}">
                <a16:creationId xmlns:a16="http://schemas.microsoft.com/office/drawing/2014/main" id="{16045C64-714C-B6B5-CA31-3BCCF53389A3}"/>
              </a:ext>
            </a:extLst>
          </p:cNvPr>
          <p:cNvGrpSpPr/>
          <p:nvPr/>
        </p:nvGrpSpPr>
        <p:grpSpPr>
          <a:xfrm>
            <a:off x="7751397" y="3302928"/>
            <a:ext cx="1188000" cy="1607891"/>
            <a:chOff x="8188500" y="4755609"/>
            <a:chExt cx="1188000" cy="1607891"/>
          </a:xfrm>
        </p:grpSpPr>
        <p:sp>
          <p:nvSpPr>
            <p:cNvPr id="103" name="Rectangle 102">
              <a:extLst>
                <a:ext uri="{FF2B5EF4-FFF2-40B4-BE49-F238E27FC236}">
                  <a16:creationId xmlns:a16="http://schemas.microsoft.com/office/drawing/2014/main" id="{4841F36C-BD6A-9AFF-F8DB-1B4D37BDCD1F}"/>
                </a:ext>
              </a:extLst>
            </p:cNvPr>
            <p:cNvSpPr/>
            <p:nvPr/>
          </p:nvSpPr>
          <p:spPr>
            <a:xfrm>
              <a:off x="8188500" y="5707750"/>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Opérations </a:t>
              </a:r>
            </a:p>
            <a:p>
              <a:pPr algn="ctr"/>
              <a:r>
                <a:rPr lang="fr-FR" sz="1200" dirty="0">
                  <a:solidFill>
                    <a:schemeClr val="tx1"/>
                  </a:solidFill>
                </a:rPr>
                <a:t>Innovation</a:t>
              </a:r>
            </a:p>
          </p:txBody>
        </p:sp>
        <p:grpSp>
          <p:nvGrpSpPr>
            <p:cNvPr id="104" name="Groupe 103">
              <a:extLst>
                <a:ext uri="{FF2B5EF4-FFF2-40B4-BE49-F238E27FC236}">
                  <a16:creationId xmlns:a16="http://schemas.microsoft.com/office/drawing/2014/main" id="{E731CF47-818F-DD39-66B1-5844F10D8359}"/>
                </a:ext>
              </a:extLst>
            </p:cNvPr>
            <p:cNvGrpSpPr/>
            <p:nvPr/>
          </p:nvGrpSpPr>
          <p:grpSpPr>
            <a:xfrm>
              <a:off x="8302488" y="4755609"/>
              <a:ext cx="985193" cy="908867"/>
              <a:chOff x="1770451" y="635328"/>
              <a:chExt cx="2847387" cy="2660604"/>
            </a:xfrm>
          </p:grpSpPr>
          <p:sp>
            <p:nvSpPr>
              <p:cNvPr id="105" name="Ellipse 104">
                <a:extLst>
                  <a:ext uri="{FF2B5EF4-FFF2-40B4-BE49-F238E27FC236}">
                    <a16:creationId xmlns:a16="http://schemas.microsoft.com/office/drawing/2014/main" id="{50A51355-0F42-2021-A855-08EA470B84F4}"/>
                  </a:ext>
                </a:extLst>
              </p:cNvPr>
              <p:cNvSpPr/>
              <p:nvPr/>
            </p:nvSpPr>
            <p:spPr>
              <a:xfrm>
                <a:off x="2285862" y="956143"/>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06" name="Graphique 105" descr="Lunettes 3D avec un remplissage uni">
                <a:extLst>
                  <a:ext uri="{FF2B5EF4-FFF2-40B4-BE49-F238E27FC236}">
                    <a16:creationId xmlns:a16="http://schemas.microsoft.com/office/drawing/2014/main" id="{6A3153F2-416D-771C-6AD2-CCF523E15FCB}"/>
                  </a:ext>
                </a:extLst>
              </p:cNvPr>
              <p:cNvPicPr>
                <a:picLocks noChangeAspect="1"/>
              </p:cNvPicPr>
              <p:nvPr/>
            </p:nvPicPr>
            <p:blipFill>
              <a:blip r:embed="rId96">
                <a:extLst>
                  <a:ext uri="{28A0092B-C50C-407E-A947-70E740481C1C}">
                    <a14:useLocalDpi xmlns:a14="http://schemas.microsoft.com/office/drawing/2010/main" val="0"/>
                  </a:ext>
                  <a:ext uri="{96DAC541-7B7A-43D3-8B79-37D633B846F1}">
                    <asvg:svgBlip xmlns:asvg="http://schemas.microsoft.com/office/drawing/2016/SVG/main" r:embed="rId97"/>
                  </a:ext>
                </a:extLst>
              </a:blip>
              <a:stretch>
                <a:fillRect/>
              </a:stretch>
            </p:blipFill>
            <p:spPr>
              <a:xfrm>
                <a:off x="2339651" y="643202"/>
                <a:ext cx="914400" cy="914400"/>
              </a:xfrm>
              <a:prstGeom prst="rect">
                <a:avLst/>
              </a:prstGeom>
            </p:spPr>
          </p:pic>
          <p:pic>
            <p:nvPicPr>
              <p:cNvPr id="107" name="Graphique 106" descr="Mannequin test avec un remplissage uni">
                <a:extLst>
                  <a:ext uri="{FF2B5EF4-FFF2-40B4-BE49-F238E27FC236}">
                    <a16:creationId xmlns:a16="http://schemas.microsoft.com/office/drawing/2014/main" id="{2F0D46E3-A6CE-A177-5951-05606F898F3F}"/>
                  </a:ext>
                </a:extLst>
              </p:cNvPr>
              <p:cNvPicPr>
                <a:picLocks noChangeAspect="1"/>
              </p:cNvPicPr>
              <p:nvPr/>
            </p:nvPicPr>
            <p:blipFill>
              <a:blip r:embed="rId98">
                <a:extLst>
                  <a:ext uri="{28A0092B-C50C-407E-A947-70E740481C1C}">
                    <a14:useLocalDpi xmlns:a14="http://schemas.microsoft.com/office/drawing/2010/main" val="0"/>
                  </a:ext>
                  <a:ext uri="{96DAC541-7B7A-43D3-8B79-37D633B846F1}">
                    <asvg:svgBlip xmlns:asvg="http://schemas.microsoft.com/office/drawing/2016/SVG/main" r:embed="rId99"/>
                  </a:ext>
                </a:extLst>
              </a:blip>
              <a:stretch>
                <a:fillRect/>
              </a:stretch>
            </p:blipFill>
            <p:spPr>
              <a:xfrm>
                <a:off x="2825957" y="2381532"/>
                <a:ext cx="914400" cy="914400"/>
              </a:xfrm>
              <a:prstGeom prst="rect">
                <a:avLst/>
              </a:prstGeom>
            </p:spPr>
          </p:pic>
          <p:pic>
            <p:nvPicPr>
              <p:cNvPr id="108" name="Graphique 107" descr="Homme scientifique avec un remplissage uni">
                <a:extLst>
                  <a:ext uri="{FF2B5EF4-FFF2-40B4-BE49-F238E27FC236}">
                    <a16:creationId xmlns:a16="http://schemas.microsoft.com/office/drawing/2014/main" id="{F131B2EA-1611-B4B0-5C62-D558A78D4B94}"/>
                  </a:ext>
                </a:extLst>
              </p:cNvPr>
              <p:cNvPicPr>
                <a:picLocks noChangeAspect="1"/>
              </p:cNvPicPr>
              <p:nvPr/>
            </p:nvPicPr>
            <p:blipFill>
              <a:blip r:embed="rId100">
                <a:extLst>
                  <a:ext uri="{28A0092B-C50C-407E-A947-70E740481C1C}">
                    <a14:useLocalDpi xmlns:a14="http://schemas.microsoft.com/office/drawing/2010/main" val="0"/>
                  </a:ext>
                  <a:ext uri="{96DAC541-7B7A-43D3-8B79-37D633B846F1}">
                    <asvg:svgBlip xmlns:asvg="http://schemas.microsoft.com/office/drawing/2016/SVG/main" r:embed="rId101"/>
                  </a:ext>
                </a:extLst>
              </a:blip>
              <a:stretch>
                <a:fillRect/>
              </a:stretch>
            </p:blipFill>
            <p:spPr>
              <a:xfrm>
                <a:off x="3612503" y="635328"/>
                <a:ext cx="914400" cy="914400"/>
              </a:xfrm>
              <a:prstGeom prst="rect">
                <a:avLst/>
              </a:prstGeom>
            </p:spPr>
          </p:pic>
          <p:pic>
            <p:nvPicPr>
              <p:cNvPr id="109" name="Graphique 108" descr="Presse-papiers mixte avec un remplissage uni">
                <a:extLst>
                  <a:ext uri="{FF2B5EF4-FFF2-40B4-BE49-F238E27FC236}">
                    <a16:creationId xmlns:a16="http://schemas.microsoft.com/office/drawing/2014/main" id="{A23EACEB-6024-F547-36EA-6625A2AD35EC}"/>
                  </a:ext>
                </a:extLst>
              </p:cNvPr>
              <p:cNvPicPr>
                <a:picLocks noChangeAspect="1"/>
              </p:cNvPicPr>
              <p:nvPr/>
            </p:nvPicPr>
            <p:blipFill>
              <a:blip r:embed="rId102">
                <a:extLst>
                  <a:ext uri="{28A0092B-C50C-407E-A947-70E740481C1C}">
                    <a14:useLocalDpi xmlns:a14="http://schemas.microsoft.com/office/drawing/2010/main" val="0"/>
                  </a:ext>
                  <a:ext uri="{96DAC541-7B7A-43D3-8B79-37D633B846F1}">
                    <asvg:svgBlip xmlns:asvg="http://schemas.microsoft.com/office/drawing/2016/SVG/main" r:embed="rId103"/>
                  </a:ext>
                </a:extLst>
              </a:blip>
              <a:stretch>
                <a:fillRect/>
              </a:stretch>
            </p:blipFill>
            <p:spPr>
              <a:xfrm>
                <a:off x="3703438" y="1819176"/>
                <a:ext cx="914400" cy="914400"/>
              </a:xfrm>
              <a:prstGeom prst="rect">
                <a:avLst/>
              </a:prstGeom>
            </p:spPr>
          </p:pic>
          <p:pic>
            <p:nvPicPr>
              <p:cNvPr id="110" name="Graphique 109" descr="Brainstorming de groupe avec un remplissage uni">
                <a:extLst>
                  <a:ext uri="{FF2B5EF4-FFF2-40B4-BE49-F238E27FC236}">
                    <a16:creationId xmlns:a16="http://schemas.microsoft.com/office/drawing/2014/main" id="{BEF747BE-35DD-34B6-B956-7A751E3C4C6B}"/>
                  </a:ext>
                </a:extLst>
              </p:cNvPr>
              <p:cNvPicPr>
                <a:picLocks noChangeAspect="1"/>
              </p:cNvPicPr>
              <p:nvPr/>
            </p:nvPicPr>
            <p:blipFill>
              <a:blip r:embed="rId104">
                <a:extLst>
                  <a:ext uri="{28A0092B-C50C-407E-A947-70E740481C1C}">
                    <a14:useLocalDpi xmlns:a14="http://schemas.microsoft.com/office/drawing/2010/main" val="0"/>
                  </a:ext>
                  <a:ext uri="{96DAC541-7B7A-43D3-8B79-37D633B846F1}">
                    <asvg:svgBlip xmlns:asvg="http://schemas.microsoft.com/office/drawing/2016/SVG/main" r:embed="rId105"/>
                  </a:ext>
                </a:extLst>
              </a:blip>
              <a:stretch>
                <a:fillRect/>
              </a:stretch>
            </p:blipFill>
            <p:spPr>
              <a:xfrm>
                <a:off x="1770451" y="1557602"/>
                <a:ext cx="914400" cy="914400"/>
              </a:xfrm>
              <a:prstGeom prst="rect">
                <a:avLst/>
              </a:prstGeom>
            </p:spPr>
          </p:pic>
        </p:grpSp>
      </p:grpSp>
      <p:grpSp>
        <p:nvGrpSpPr>
          <p:cNvPr id="111" name="Groupe 110">
            <a:extLst>
              <a:ext uri="{FF2B5EF4-FFF2-40B4-BE49-F238E27FC236}">
                <a16:creationId xmlns:a16="http://schemas.microsoft.com/office/drawing/2014/main" id="{2E901416-90E6-94D6-AAB2-8F62CB3E04D8}"/>
              </a:ext>
            </a:extLst>
          </p:cNvPr>
          <p:cNvGrpSpPr/>
          <p:nvPr/>
        </p:nvGrpSpPr>
        <p:grpSpPr>
          <a:xfrm>
            <a:off x="2742113" y="5586548"/>
            <a:ext cx="1188000" cy="1082176"/>
            <a:chOff x="8224358" y="3342553"/>
            <a:chExt cx="1188000" cy="1082176"/>
          </a:xfrm>
        </p:grpSpPr>
        <p:sp>
          <p:nvSpPr>
            <p:cNvPr id="112" name="Rectangle 111">
              <a:extLst>
                <a:ext uri="{FF2B5EF4-FFF2-40B4-BE49-F238E27FC236}">
                  <a16:creationId xmlns:a16="http://schemas.microsoft.com/office/drawing/2014/main" id="{87DBFAF5-1639-B12A-C0AF-7C53C4F5BFBB}"/>
                </a:ext>
              </a:extLst>
            </p:cNvPr>
            <p:cNvSpPr/>
            <p:nvPr/>
          </p:nvSpPr>
          <p:spPr>
            <a:xfrm>
              <a:off x="8224358" y="3911106"/>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Vente</a:t>
              </a:r>
            </a:p>
            <a:p>
              <a:pPr algn="ctr"/>
              <a:r>
                <a:rPr lang="fr-FR" sz="1200" dirty="0">
                  <a:solidFill>
                    <a:schemeClr val="tx1"/>
                  </a:solidFill>
                </a:rPr>
                <a:t>Développement commercial</a:t>
              </a:r>
            </a:p>
          </p:txBody>
        </p:sp>
        <p:grpSp>
          <p:nvGrpSpPr>
            <p:cNvPr id="113" name="Groupe 112">
              <a:extLst>
                <a:ext uri="{FF2B5EF4-FFF2-40B4-BE49-F238E27FC236}">
                  <a16:creationId xmlns:a16="http://schemas.microsoft.com/office/drawing/2014/main" id="{09BAEB5C-0A29-E10D-87F7-D8433129E1FC}"/>
                </a:ext>
              </a:extLst>
            </p:cNvPr>
            <p:cNvGrpSpPr/>
            <p:nvPr/>
          </p:nvGrpSpPr>
          <p:grpSpPr>
            <a:xfrm>
              <a:off x="8256771" y="3342553"/>
              <a:ext cx="1126180" cy="424682"/>
              <a:chOff x="1677224" y="4399902"/>
              <a:chExt cx="3984628" cy="1541940"/>
            </a:xfrm>
          </p:grpSpPr>
          <p:pic>
            <p:nvPicPr>
              <p:cNvPr id="114" name="Graphique 113" descr="Poignée de main avec un remplissage uni">
                <a:extLst>
                  <a:ext uri="{FF2B5EF4-FFF2-40B4-BE49-F238E27FC236}">
                    <a16:creationId xmlns:a16="http://schemas.microsoft.com/office/drawing/2014/main" id="{D9EFA9FF-5418-2204-9F53-5D4FD736B346}"/>
                  </a:ext>
                </a:extLst>
              </p:cNvPr>
              <p:cNvPicPr>
                <a:picLocks noChangeAspect="1"/>
              </p:cNvPicPr>
              <p:nvPr/>
            </p:nvPicPr>
            <p:blipFill>
              <a:blip r:embed="rId106">
                <a:extLst>
                  <a:ext uri="{28A0092B-C50C-407E-A947-70E740481C1C}">
                    <a14:useLocalDpi xmlns:a14="http://schemas.microsoft.com/office/drawing/2010/main" val="0"/>
                  </a:ext>
                  <a:ext uri="{96DAC541-7B7A-43D3-8B79-37D633B846F1}">
                    <asvg:svgBlip xmlns:asvg="http://schemas.microsoft.com/office/drawing/2016/SVG/main" r:embed="rId107"/>
                  </a:ext>
                </a:extLst>
              </a:blip>
              <a:stretch>
                <a:fillRect/>
              </a:stretch>
            </p:blipFill>
            <p:spPr>
              <a:xfrm>
                <a:off x="1677224" y="4473520"/>
                <a:ext cx="1394705" cy="1394705"/>
              </a:xfrm>
              <a:prstGeom prst="rect">
                <a:avLst/>
              </a:prstGeom>
            </p:spPr>
          </p:pic>
          <p:pic>
            <p:nvPicPr>
              <p:cNvPr id="115" name="Graphique 114" descr="Contrat avec un remplissage uni">
                <a:extLst>
                  <a:ext uri="{FF2B5EF4-FFF2-40B4-BE49-F238E27FC236}">
                    <a16:creationId xmlns:a16="http://schemas.microsoft.com/office/drawing/2014/main" id="{E9BDA7A7-B2B3-53C1-7D03-1876CC1EF561}"/>
                  </a:ext>
                </a:extLst>
              </p:cNvPr>
              <p:cNvPicPr>
                <a:picLocks noChangeAspect="1"/>
              </p:cNvPicPr>
              <p:nvPr/>
            </p:nvPicPr>
            <p:blipFill>
              <a:blip r:embed="rId108">
                <a:extLst>
                  <a:ext uri="{28A0092B-C50C-407E-A947-70E740481C1C}">
                    <a14:useLocalDpi xmlns:a14="http://schemas.microsoft.com/office/drawing/2010/main" val="0"/>
                  </a:ext>
                  <a:ext uri="{96DAC541-7B7A-43D3-8B79-37D633B846F1}">
                    <asvg:svgBlip xmlns:asvg="http://schemas.microsoft.com/office/drawing/2016/SVG/main" r:embed="rId109"/>
                  </a:ext>
                </a:extLst>
              </a:blip>
              <a:stretch>
                <a:fillRect/>
              </a:stretch>
            </p:blipFill>
            <p:spPr>
              <a:xfrm>
                <a:off x="3003278" y="4578031"/>
                <a:ext cx="1185682" cy="1185682"/>
              </a:xfrm>
              <a:prstGeom prst="rect">
                <a:avLst/>
              </a:prstGeom>
            </p:spPr>
          </p:pic>
          <p:pic>
            <p:nvPicPr>
              <p:cNvPr id="116" name="Graphique 115" descr="Tendance à la hausse avec un remplissage uni">
                <a:extLst>
                  <a:ext uri="{FF2B5EF4-FFF2-40B4-BE49-F238E27FC236}">
                    <a16:creationId xmlns:a16="http://schemas.microsoft.com/office/drawing/2014/main" id="{C2806CA7-C5C1-C4AF-BFB3-69E8B2126D05}"/>
                  </a:ext>
                </a:extLst>
              </p:cNvPr>
              <p:cNvPicPr>
                <a:picLocks noChangeAspect="1"/>
              </p:cNvPicPr>
              <p:nvPr/>
            </p:nvPicPr>
            <p:blipFill>
              <a:blip r:embed="rId110">
                <a:extLst>
                  <a:ext uri="{28A0092B-C50C-407E-A947-70E740481C1C}">
                    <a14:useLocalDpi xmlns:a14="http://schemas.microsoft.com/office/drawing/2010/main" val="0"/>
                  </a:ext>
                  <a:ext uri="{96DAC541-7B7A-43D3-8B79-37D633B846F1}">
                    <asvg:svgBlip xmlns:asvg="http://schemas.microsoft.com/office/drawing/2016/SVG/main" r:embed="rId111"/>
                  </a:ext>
                </a:extLst>
              </a:blip>
              <a:stretch>
                <a:fillRect/>
              </a:stretch>
            </p:blipFill>
            <p:spPr>
              <a:xfrm>
                <a:off x="4119912" y="4399902"/>
                <a:ext cx="1541940" cy="1541940"/>
              </a:xfrm>
              <a:prstGeom prst="rect">
                <a:avLst/>
              </a:prstGeom>
            </p:spPr>
          </p:pic>
        </p:grpSp>
      </p:grpSp>
      <p:sp>
        <p:nvSpPr>
          <p:cNvPr id="117" name="Rectangle 116">
            <a:extLst>
              <a:ext uri="{FF2B5EF4-FFF2-40B4-BE49-F238E27FC236}">
                <a16:creationId xmlns:a16="http://schemas.microsoft.com/office/drawing/2014/main" id="{C0220D26-25AD-C03D-BAF5-75DE9D5D1545}"/>
              </a:ext>
            </a:extLst>
          </p:cNvPr>
          <p:cNvSpPr/>
          <p:nvPr/>
        </p:nvSpPr>
        <p:spPr>
          <a:xfrm>
            <a:off x="11017762" y="4274856"/>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Autres</a:t>
            </a:r>
            <a:endParaRPr lang="fr-FR" sz="1200" dirty="0">
              <a:solidFill>
                <a:schemeClr val="tx1"/>
              </a:solidFill>
            </a:endParaRPr>
          </a:p>
        </p:txBody>
      </p:sp>
      <p:pic>
        <p:nvPicPr>
          <p:cNvPr id="118" name="Graphique 117" descr="Bâtiment avec un remplissage uni">
            <a:extLst>
              <a:ext uri="{FF2B5EF4-FFF2-40B4-BE49-F238E27FC236}">
                <a16:creationId xmlns:a16="http://schemas.microsoft.com/office/drawing/2014/main" id="{76830889-B29F-D6A3-7777-0004CD418A27}"/>
              </a:ext>
            </a:extLst>
          </p:cNvPr>
          <p:cNvPicPr>
            <a:picLocks noChangeAspect="1"/>
          </p:cNvPicPr>
          <p:nvPr/>
        </p:nvPicPr>
        <p:blipFill>
          <a:blip r:embed="rId112">
            <a:extLst>
              <a:ext uri="{28A0092B-C50C-407E-A947-70E740481C1C}">
                <a14:useLocalDpi xmlns:a14="http://schemas.microsoft.com/office/drawing/2010/main" val="0"/>
              </a:ext>
              <a:ext uri="{96DAC541-7B7A-43D3-8B79-37D633B846F1}">
                <asvg:svgBlip xmlns:asvg="http://schemas.microsoft.com/office/drawing/2016/SVG/main" r:embed="rId113"/>
              </a:ext>
            </a:extLst>
          </a:blip>
          <a:stretch>
            <a:fillRect/>
          </a:stretch>
        </p:blipFill>
        <p:spPr>
          <a:xfrm>
            <a:off x="11314907" y="3608955"/>
            <a:ext cx="593709" cy="593709"/>
          </a:xfrm>
          <a:prstGeom prst="rect">
            <a:avLst/>
          </a:prstGeom>
        </p:spPr>
      </p:pic>
      <p:pic>
        <p:nvPicPr>
          <p:cNvPr id="120" name="Graphique 119" descr="Croissance de l'activité avec un remplissage uni">
            <a:extLst>
              <a:ext uri="{FF2B5EF4-FFF2-40B4-BE49-F238E27FC236}">
                <a16:creationId xmlns:a16="http://schemas.microsoft.com/office/drawing/2014/main" id="{6459736F-3E52-D154-17C4-3F553CDBD45D}"/>
              </a:ext>
            </a:extLst>
          </p:cNvPr>
          <p:cNvPicPr>
            <a:picLocks noChangeAspect="1"/>
          </p:cNvPicPr>
          <p:nvPr/>
        </p:nvPicPr>
        <p:blipFill>
          <a:blip r:embed="rId114">
            <a:extLst>
              <a:ext uri="{28A0092B-C50C-407E-A947-70E740481C1C}">
                <a14:useLocalDpi xmlns:a14="http://schemas.microsoft.com/office/drawing/2010/main" val="0"/>
              </a:ext>
              <a:ext uri="{96DAC541-7B7A-43D3-8B79-37D633B846F1}">
                <asvg:svgBlip xmlns:asvg="http://schemas.microsoft.com/office/drawing/2016/SVG/main" r:embed="rId115"/>
              </a:ext>
            </a:extLst>
          </a:blip>
          <a:stretch>
            <a:fillRect/>
          </a:stretch>
        </p:blipFill>
        <p:spPr>
          <a:xfrm>
            <a:off x="2964897" y="1601511"/>
            <a:ext cx="785986" cy="785986"/>
          </a:xfrm>
          <a:prstGeom prst="rect">
            <a:avLst/>
          </a:prstGeom>
        </p:spPr>
      </p:pic>
      <p:grpSp>
        <p:nvGrpSpPr>
          <p:cNvPr id="15" name="Groupe 14">
            <a:extLst>
              <a:ext uri="{FF2B5EF4-FFF2-40B4-BE49-F238E27FC236}">
                <a16:creationId xmlns:a16="http://schemas.microsoft.com/office/drawing/2014/main" id="{DC409649-53A9-B806-FE4C-F3C7B0E7FBC7}"/>
              </a:ext>
            </a:extLst>
          </p:cNvPr>
          <p:cNvGrpSpPr/>
          <p:nvPr/>
        </p:nvGrpSpPr>
        <p:grpSpPr>
          <a:xfrm>
            <a:off x="1194700" y="5559693"/>
            <a:ext cx="959170" cy="1218370"/>
            <a:chOff x="1194700" y="5559693"/>
            <a:chExt cx="959170" cy="1218370"/>
          </a:xfrm>
        </p:grpSpPr>
        <p:pic>
          <p:nvPicPr>
            <p:cNvPr id="119" name="Graphique 118" descr="Tendance à la hausse avec un remplissage uni">
              <a:extLst>
                <a:ext uri="{FF2B5EF4-FFF2-40B4-BE49-F238E27FC236}">
                  <a16:creationId xmlns:a16="http://schemas.microsoft.com/office/drawing/2014/main" id="{49CCF0D2-A673-4034-F451-A23BDFEA12F3}"/>
                </a:ext>
              </a:extLst>
            </p:cNvPr>
            <p:cNvPicPr>
              <a:picLocks noChangeAspect="1"/>
            </p:cNvPicPr>
            <p:nvPr/>
          </p:nvPicPr>
          <p:blipFill>
            <a:blip r:embed="rId116">
              <a:extLst>
                <a:ext uri="{28A0092B-C50C-407E-A947-70E740481C1C}">
                  <a14:useLocalDpi xmlns:a14="http://schemas.microsoft.com/office/drawing/2010/main" val="0"/>
                </a:ext>
                <a:ext uri="{96DAC541-7B7A-43D3-8B79-37D633B846F1}">
                  <asvg:svgBlip xmlns:asvg="http://schemas.microsoft.com/office/drawing/2016/SVG/main" r:embed="rId117"/>
                </a:ext>
              </a:extLst>
            </a:blip>
            <a:stretch>
              <a:fillRect/>
            </a:stretch>
          </p:blipFill>
          <p:spPr>
            <a:xfrm>
              <a:off x="1200708" y="5559693"/>
              <a:ext cx="890780" cy="868055"/>
            </a:xfrm>
            <a:prstGeom prst="rect">
              <a:avLst/>
            </a:prstGeom>
          </p:spPr>
        </p:pic>
        <p:sp>
          <p:nvSpPr>
            <p:cNvPr id="123" name="Titre 1">
              <a:extLst>
                <a:ext uri="{FF2B5EF4-FFF2-40B4-BE49-F238E27FC236}">
                  <a16:creationId xmlns:a16="http://schemas.microsoft.com/office/drawing/2014/main" id="{3B9C5FEB-86DA-C7A6-D19D-214A9640E9C3}"/>
                </a:ext>
              </a:extLst>
            </p:cNvPr>
            <p:cNvSpPr txBox="1">
              <a:spLocks/>
            </p:cNvSpPr>
            <p:nvPr/>
          </p:nvSpPr>
          <p:spPr>
            <a:xfrm>
              <a:off x="1194700" y="6358694"/>
              <a:ext cx="959170" cy="419369"/>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000" dirty="0"/>
                <a:t>Améliorations commerciales</a:t>
              </a:r>
            </a:p>
          </p:txBody>
        </p:sp>
      </p:grpSp>
      <p:grpSp>
        <p:nvGrpSpPr>
          <p:cNvPr id="13" name="Groupe 12">
            <a:extLst>
              <a:ext uri="{FF2B5EF4-FFF2-40B4-BE49-F238E27FC236}">
                <a16:creationId xmlns:a16="http://schemas.microsoft.com/office/drawing/2014/main" id="{743D32FB-ED61-0FC0-7DAC-EF3C31D68FF1}"/>
              </a:ext>
            </a:extLst>
          </p:cNvPr>
          <p:cNvGrpSpPr/>
          <p:nvPr/>
        </p:nvGrpSpPr>
        <p:grpSpPr>
          <a:xfrm>
            <a:off x="1161901" y="3665496"/>
            <a:ext cx="1038476" cy="1360446"/>
            <a:chOff x="1572031" y="2297216"/>
            <a:chExt cx="1038476" cy="1360446"/>
          </a:xfrm>
        </p:grpSpPr>
        <p:pic>
          <p:nvPicPr>
            <p:cNvPr id="122" name="Graphique 121" descr="Tableau décisionnel avec un remplissage uni">
              <a:extLst>
                <a:ext uri="{FF2B5EF4-FFF2-40B4-BE49-F238E27FC236}">
                  <a16:creationId xmlns:a16="http://schemas.microsoft.com/office/drawing/2014/main" id="{E1BD4B0C-F432-4143-8A0B-8CA50022348B}"/>
                </a:ext>
              </a:extLst>
            </p:cNvPr>
            <p:cNvPicPr>
              <a:picLocks noChangeAspect="1"/>
            </p:cNvPicPr>
            <p:nvPr/>
          </p:nvPicPr>
          <p:blipFill>
            <a:blip r:embed="rId118">
              <a:extLst>
                <a:ext uri="{28A0092B-C50C-407E-A947-70E740481C1C}">
                  <a14:useLocalDpi xmlns:a14="http://schemas.microsoft.com/office/drawing/2010/main" val="0"/>
                </a:ext>
                <a:ext uri="{96DAC541-7B7A-43D3-8B79-37D633B846F1}">
                  <asvg:svgBlip xmlns:asvg="http://schemas.microsoft.com/office/drawing/2016/SVG/main" r:embed="rId119"/>
                </a:ext>
              </a:extLst>
            </a:blip>
            <a:stretch>
              <a:fillRect/>
            </a:stretch>
          </p:blipFill>
          <p:spPr>
            <a:xfrm>
              <a:off x="1711269" y="2297216"/>
              <a:ext cx="762463" cy="762463"/>
            </a:xfrm>
            <a:prstGeom prst="rect">
              <a:avLst/>
            </a:prstGeom>
          </p:spPr>
        </p:pic>
        <p:sp>
          <p:nvSpPr>
            <p:cNvPr id="124" name="Titre 1">
              <a:extLst>
                <a:ext uri="{FF2B5EF4-FFF2-40B4-BE49-F238E27FC236}">
                  <a16:creationId xmlns:a16="http://schemas.microsoft.com/office/drawing/2014/main" id="{AD701C4C-D378-CA56-A56C-0CD54E64AB0F}"/>
                </a:ext>
              </a:extLst>
            </p:cNvPr>
            <p:cNvSpPr txBox="1">
              <a:spLocks/>
            </p:cNvSpPr>
            <p:nvPr/>
          </p:nvSpPr>
          <p:spPr>
            <a:xfrm>
              <a:off x="1572031" y="3048158"/>
              <a:ext cx="1038476" cy="609504"/>
            </a:xfrm>
            <a:prstGeom prst="rect">
              <a:avLst/>
            </a:prstGeom>
          </p:spPr>
          <p:txBody>
            <a:bodyPr vert="horz" lIns="91440" tIns="45720" rIns="91440" bIns="45720" rtlCol="0" anchor="ctr">
              <a:normAutofit fontScale="92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000" dirty="0"/>
                <a:t>Améliorations opérationnelles et service du but de l’entreprise</a:t>
              </a:r>
            </a:p>
          </p:txBody>
        </p:sp>
      </p:grpSp>
      <p:grpSp>
        <p:nvGrpSpPr>
          <p:cNvPr id="126" name="Groupe 125">
            <a:extLst>
              <a:ext uri="{FF2B5EF4-FFF2-40B4-BE49-F238E27FC236}">
                <a16:creationId xmlns:a16="http://schemas.microsoft.com/office/drawing/2014/main" id="{E49A3D66-0713-E6F0-6D97-F4A6A04FB25D}"/>
              </a:ext>
            </a:extLst>
          </p:cNvPr>
          <p:cNvGrpSpPr/>
          <p:nvPr/>
        </p:nvGrpSpPr>
        <p:grpSpPr>
          <a:xfrm>
            <a:off x="1205452" y="1883025"/>
            <a:ext cx="1038476" cy="1206331"/>
            <a:chOff x="1205452" y="1883025"/>
            <a:chExt cx="1038476" cy="1206331"/>
          </a:xfrm>
        </p:grpSpPr>
        <p:pic>
          <p:nvPicPr>
            <p:cNvPr id="121" name="Graphique 120" descr="Croissance de l'activité avec un remplissage uni">
              <a:extLst>
                <a:ext uri="{FF2B5EF4-FFF2-40B4-BE49-F238E27FC236}">
                  <a16:creationId xmlns:a16="http://schemas.microsoft.com/office/drawing/2014/main" id="{558C03E5-3237-6A3D-32A3-713CA5D6E7CF}"/>
                </a:ext>
              </a:extLst>
            </p:cNvPr>
            <p:cNvPicPr>
              <a:picLocks noChangeAspect="1"/>
            </p:cNvPicPr>
            <p:nvPr/>
          </p:nvPicPr>
          <p:blipFill>
            <a:blip r:embed="rId120">
              <a:extLst>
                <a:ext uri="{28A0092B-C50C-407E-A947-70E740481C1C}">
                  <a14:useLocalDpi xmlns:a14="http://schemas.microsoft.com/office/drawing/2010/main" val="0"/>
                </a:ext>
                <a:ext uri="{96DAC541-7B7A-43D3-8B79-37D633B846F1}">
                  <asvg:svgBlip xmlns:asvg="http://schemas.microsoft.com/office/drawing/2016/SVG/main" r:embed="rId121"/>
                </a:ext>
              </a:extLst>
            </a:blip>
            <a:stretch>
              <a:fillRect/>
            </a:stretch>
          </p:blipFill>
          <p:spPr>
            <a:xfrm>
              <a:off x="1331697" y="1883025"/>
              <a:ext cx="785986" cy="785986"/>
            </a:xfrm>
            <a:prstGeom prst="rect">
              <a:avLst/>
            </a:prstGeom>
          </p:spPr>
        </p:pic>
        <p:sp>
          <p:nvSpPr>
            <p:cNvPr id="125" name="Titre 1">
              <a:extLst>
                <a:ext uri="{FF2B5EF4-FFF2-40B4-BE49-F238E27FC236}">
                  <a16:creationId xmlns:a16="http://schemas.microsoft.com/office/drawing/2014/main" id="{EDD568DC-FF8A-F3AC-85D6-40DE66D70545}"/>
                </a:ext>
              </a:extLst>
            </p:cNvPr>
            <p:cNvSpPr txBox="1">
              <a:spLocks/>
            </p:cNvSpPr>
            <p:nvPr/>
          </p:nvSpPr>
          <p:spPr>
            <a:xfrm>
              <a:off x="1205452" y="2610791"/>
              <a:ext cx="1038476" cy="478565"/>
            </a:xfrm>
            <a:prstGeom prst="rect">
              <a:avLst/>
            </a:prstGeom>
          </p:spPr>
          <p:txBody>
            <a:bodyPr vert="horz" lIns="91440" tIns="45720" rIns="91440" bIns="45720" rtlCol="0" anchor="ctr">
              <a:normAutofit fontScale="925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050" dirty="0"/>
                <a:t>Améliorations ressources humaines</a:t>
              </a:r>
            </a:p>
          </p:txBody>
        </p:sp>
      </p:grpSp>
      <p:pic>
        <p:nvPicPr>
          <p:cNvPr id="127" name="Graphique 126" descr="Bâtiment avec un remplissage uni">
            <a:extLst>
              <a:ext uri="{FF2B5EF4-FFF2-40B4-BE49-F238E27FC236}">
                <a16:creationId xmlns:a16="http://schemas.microsoft.com/office/drawing/2014/main" id="{34AA42F7-103F-2D84-EA50-C7646FE1FEE6}"/>
              </a:ext>
            </a:extLst>
          </p:cNvPr>
          <p:cNvPicPr>
            <a:picLocks noChangeAspect="1"/>
          </p:cNvPicPr>
          <p:nvPr/>
        </p:nvPicPr>
        <p:blipFill>
          <a:blip r:embed="rId122">
            <a:extLst>
              <a:ext uri="{28A0092B-C50C-407E-A947-70E740481C1C}">
                <a14:useLocalDpi xmlns:a14="http://schemas.microsoft.com/office/drawing/2010/main" val="0"/>
              </a:ext>
              <a:ext uri="{96DAC541-7B7A-43D3-8B79-37D633B846F1}">
                <asvg:svgBlip xmlns:asvg="http://schemas.microsoft.com/office/drawing/2016/SVG/main" r:embed="rId123"/>
              </a:ext>
            </a:extLst>
          </a:blip>
          <a:stretch>
            <a:fillRect/>
          </a:stretch>
        </p:blipFill>
        <p:spPr>
          <a:xfrm>
            <a:off x="121350" y="458685"/>
            <a:ext cx="804658" cy="804658"/>
          </a:xfrm>
          <a:prstGeom prst="rect">
            <a:avLst/>
          </a:prstGeom>
        </p:spPr>
      </p:pic>
    </p:spTree>
    <p:extLst>
      <p:ext uri="{BB962C8B-B14F-4D97-AF65-F5344CB8AC3E}">
        <p14:creationId xmlns:p14="http://schemas.microsoft.com/office/powerpoint/2010/main" val="73387485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8">
            <a:extLst>
              <a:ext uri="{FF2B5EF4-FFF2-40B4-BE49-F238E27FC236}">
                <a16:creationId xmlns:a16="http://schemas.microsoft.com/office/drawing/2014/main" id="{44C438C8-8C4C-301D-4E6B-0F325834E790}"/>
              </a:ext>
            </a:extLst>
          </p:cNvPr>
          <p:cNvSpPr txBox="1">
            <a:spLocks/>
          </p:cNvSpPr>
          <p:nvPr/>
        </p:nvSpPr>
        <p:spPr>
          <a:xfrm>
            <a:off x="198563" y="2046914"/>
            <a:ext cx="3092331" cy="1931494"/>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3200" dirty="0"/>
              <a:t>Probabilité d’engagement des membres et d’effet positif lié</a:t>
            </a:r>
          </a:p>
        </p:txBody>
      </p:sp>
      <p:sp>
        <p:nvSpPr>
          <p:cNvPr id="11" name="Titre 8">
            <a:extLst>
              <a:ext uri="{FF2B5EF4-FFF2-40B4-BE49-F238E27FC236}">
                <a16:creationId xmlns:a16="http://schemas.microsoft.com/office/drawing/2014/main" id="{874F9DCA-A462-FAFD-BDD3-5F460FA54B8A}"/>
              </a:ext>
            </a:extLst>
          </p:cNvPr>
          <p:cNvSpPr txBox="1">
            <a:spLocks/>
          </p:cNvSpPr>
          <p:nvPr/>
        </p:nvSpPr>
        <p:spPr>
          <a:xfrm>
            <a:off x="5677743" y="882618"/>
            <a:ext cx="6234624" cy="821491"/>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800" i="1" dirty="0"/>
              <a:t>Exemple :  </a:t>
            </a:r>
            <a:r>
              <a:rPr lang="fr-FR" sz="1800" b="0" i="1" dirty="0"/>
              <a:t>La Communauté ABC est explicitement une communauté de formation mutuelle, elle a donc un effet sur la formation « par construction »</a:t>
            </a:r>
          </a:p>
        </p:txBody>
      </p:sp>
      <p:sp>
        <p:nvSpPr>
          <p:cNvPr id="12" name="Titre 8">
            <a:extLst>
              <a:ext uri="{FF2B5EF4-FFF2-40B4-BE49-F238E27FC236}">
                <a16:creationId xmlns:a16="http://schemas.microsoft.com/office/drawing/2014/main" id="{A0394389-5BD0-B7C7-8ADB-4D6F1DB5D160}"/>
              </a:ext>
            </a:extLst>
          </p:cNvPr>
          <p:cNvSpPr txBox="1">
            <a:spLocks/>
          </p:cNvSpPr>
          <p:nvPr/>
        </p:nvSpPr>
        <p:spPr>
          <a:xfrm>
            <a:off x="5677743" y="1993856"/>
            <a:ext cx="6234624" cy="105988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800" i="1" dirty="0"/>
              <a:t>Exemple :  </a:t>
            </a:r>
            <a:r>
              <a:rPr lang="fr-FR" sz="1800" b="0" i="1" dirty="0"/>
              <a:t>Dans la Communauté DEF, les membres actuels s’engagent par eux-mêmes à se former les uns les autres, car c’est leur trait de personnalité de transmettre. La communauté DEF a donc un effet sur la formation « par engagement des membres »</a:t>
            </a:r>
          </a:p>
        </p:txBody>
      </p:sp>
      <p:sp>
        <p:nvSpPr>
          <p:cNvPr id="13" name="Titre 8">
            <a:extLst>
              <a:ext uri="{FF2B5EF4-FFF2-40B4-BE49-F238E27FC236}">
                <a16:creationId xmlns:a16="http://schemas.microsoft.com/office/drawing/2014/main" id="{D2354456-7BB4-A337-E4B0-253598254362}"/>
              </a:ext>
            </a:extLst>
          </p:cNvPr>
          <p:cNvSpPr txBox="1">
            <a:spLocks/>
          </p:cNvSpPr>
          <p:nvPr/>
        </p:nvSpPr>
        <p:spPr>
          <a:xfrm>
            <a:off x="5677743" y="3293157"/>
            <a:ext cx="6234624" cy="105988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800" i="1" dirty="0"/>
              <a:t>Exemple :  </a:t>
            </a:r>
            <a:r>
              <a:rPr lang="fr-FR" sz="1800" b="0" i="1" dirty="0"/>
              <a:t>Dans la Communauté GHI, le management a demandé qu’une partie des activités soit dédiée à la formation mutuelle. Elle a donc un effet sur la formation par obligation, même s’il est possible que les membres y rechignent.</a:t>
            </a:r>
          </a:p>
        </p:txBody>
      </p:sp>
      <p:sp>
        <p:nvSpPr>
          <p:cNvPr id="15" name="Titre 8">
            <a:extLst>
              <a:ext uri="{FF2B5EF4-FFF2-40B4-BE49-F238E27FC236}">
                <a16:creationId xmlns:a16="http://schemas.microsoft.com/office/drawing/2014/main" id="{54399AAB-6EC2-7AC7-C92A-8ECA9B63C56F}"/>
              </a:ext>
            </a:extLst>
          </p:cNvPr>
          <p:cNvSpPr txBox="1">
            <a:spLocks/>
          </p:cNvSpPr>
          <p:nvPr/>
        </p:nvSpPr>
        <p:spPr>
          <a:xfrm>
            <a:off x="5677743" y="4583660"/>
            <a:ext cx="6234624" cy="105988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800" i="1" dirty="0"/>
              <a:t>Exemple :  </a:t>
            </a:r>
            <a:r>
              <a:rPr lang="fr-FR" sz="1800" b="0" i="1" dirty="0"/>
              <a:t>Dans la Communauté KLM, le but est de résoudre des problèmes opérationnels en s’appuyant sur les autres membres. Dans la plupart des cas, ceux qui ont des problèmes apprennent de ceux qui les aident. Il y a un effet de bord sur la formation.</a:t>
            </a:r>
          </a:p>
        </p:txBody>
      </p:sp>
      <p:sp>
        <p:nvSpPr>
          <p:cNvPr id="16" name="Titre 8">
            <a:extLst>
              <a:ext uri="{FF2B5EF4-FFF2-40B4-BE49-F238E27FC236}">
                <a16:creationId xmlns:a16="http://schemas.microsoft.com/office/drawing/2014/main" id="{A889551B-392B-65EF-37B6-DFE3F00B7E51}"/>
              </a:ext>
            </a:extLst>
          </p:cNvPr>
          <p:cNvSpPr txBox="1">
            <a:spLocks/>
          </p:cNvSpPr>
          <p:nvPr/>
        </p:nvSpPr>
        <p:spPr>
          <a:xfrm>
            <a:off x="5712270" y="5801616"/>
            <a:ext cx="6234624" cy="821492"/>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800" i="1" dirty="0"/>
              <a:t>Exemple :  </a:t>
            </a:r>
            <a:r>
              <a:rPr lang="fr-FR" sz="1800" b="0" i="1" dirty="0"/>
              <a:t>Dans la Communauté NOP dont le but est d’organiser des soirées d’entreprises, certains membres ont appris les uns des autres après s’être rencontrés. Il y a un effet accidentel sur la formation.</a:t>
            </a:r>
          </a:p>
        </p:txBody>
      </p:sp>
      <p:cxnSp>
        <p:nvCxnSpPr>
          <p:cNvPr id="22" name="Connecteur droit avec flèche 21">
            <a:extLst>
              <a:ext uri="{FF2B5EF4-FFF2-40B4-BE49-F238E27FC236}">
                <a16:creationId xmlns:a16="http://schemas.microsoft.com/office/drawing/2014/main" id="{58FDE1D6-4681-82F2-D310-AE93CE55C779}"/>
              </a:ext>
            </a:extLst>
          </p:cNvPr>
          <p:cNvCxnSpPr>
            <a:cxnSpLocks/>
          </p:cNvCxnSpPr>
          <p:nvPr/>
        </p:nvCxnSpPr>
        <p:spPr>
          <a:xfrm flipV="1">
            <a:off x="4886894" y="714798"/>
            <a:ext cx="0" cy="5748556"/>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B7C689E8-29CC-4756-ABA7-F98CFEFD5CFE}"/>
              </a:ext>
            </a:extLst>
          </p:cNvPr>
          <p:cNvSpPr/>
          <p:nvPr/>
        </p:nvSpPr>
        <p:spPr>
          <a:xfrm>
            <a:off x="4165441" y="1075841"/>
            <a:ext cx="1484849" cy="595619"/>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construction (ADN de la communauté)</a:t>
            </a:r>
          </a:p>
        </p:txBody>
      </p:sp>
      <p:sp>
        <p:nvSpPr>
          <p:cNvPr id="24" name="Rectangle 23">
            <a:extLst>
              <a:ext uri="{FF2B5EF4-FFF2-40B4-BE49-F238E27FC236}">
                <a16:creationId xmlns:a16="http://schemas.microsoft.com/office/drawing/2014/main" id="{373E8FE4-39C3-AF4D-C89D-534D272EFBE9}"/>
              </a:ext>
            </a:extLst>
          </p:cNvPr>
          <p:cNvSpPr/>
          <p:nvPr/>
        </p:nvSpPr>
        <p:spPr>
          <a:xfrm>
            <a:off x="4165441" y="2118869"/>
            <a:ext cx="1484849" cy="914401"/>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l’engagement des membres (initiative de leur part)</a:t>
            </a:r>
          </a:p>
        </p:txBody>
      </p:sp>
      <p:sp>
        <p:nvSpPr>
          <p:cNvPr id="25" name="Rectangle 24">
            <a:extLst>
              <a:ext uri="{FF2B5EF4-FFF2-40B4-BE49-F238E27FC236}">
                <a16:creationId xmlns:a16="http://schemas.microsoft.com/office/drawing/2014/main" id="{51C7294B-303C-5A08-D5C6-D4E2806AA2E7}"/>
              </a:ext>
            </a:extLst>
          </p:cNvPr>
          <p:cNvSpPr/>
          <p:nvPr/>
        </p:nvSpPr>
        <p:spPr>
          <a:xfrm>
            <a:off x="4165441" y="3571064"/>
            <a:ext cx="1484849" cy="54528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obligation (Contraintes, ordres,…)</a:t>
            </a:r>
          </a:p>
        </p:txBody>
      </p:sp>
      <p:sp>
        <p:nvSpPr>
          <p:cNvPr id="26" name="Rectangle 25">
            <a:extLst>
              <a:ext uri="{FF2B5EF4-FFF2-40B4-BE49-F238E27FC236}">
                <a16:creationId xmlns:a16="http://schemas.microsoft.com/office/drawing/2014/main" id="{24EC06D7-1925-BB89-290E-3A99BEC06B7E}"/>
              </a:ext>
            </a:extLst>
          </p:cNvPr>
          <p:cNvSpPr/>
          <p:nvPr/>
        </p:nvSpPr>
        <p:spPr>
          <a:xfrm>
            <a:off x="4165441" y="4861567"/>
            <a:ext cx="1484849" cy="54528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effet de bord (conséquence)</a:t>
            </a:r>
          </a:p>
        </p:txBody>
      </p:sp>
      <p:sp>
        <p:nvSpPr>
          <p:cNvPr id="27" name="Rectangle 26">
            <a:extLst>
              <a:ext uri="{FF2B5EF4-FFF2-40B4-BE49-F238E27FC236}">
                <a16:creationId xmlns:a16="http://schemas.microsoft.com/office/drawing/2014/main" id="{FA324AC4-6EE5-5030-9295-BCD3C0370F5E}"/>
              </a:ext>
            </a:extLst>
          </p:cNvPr>
          <p:cNvSpPr/>
          <p:nvPr/>
        </p:nvSpPr>
        <p:spPr>
          <a:xfrm>
            <a:off x="4165441" y="5879427"/>
            <a:ext cx="1484849" cy="54528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Par accident</a:t>
            </a:r>
          </a:p>
        </p:txBody>
      </p:sp>
      <p:pic>
        <p:nvPicPr>
          <p:cNvPr id="3" name="Graphique 2" descr="Héroïne avec un remplissage uni">
            <a:extLst>
              <a:ext uri="{FF2B5EF4-FFF2-40B4-BE49-F238E27FC236}">
                <a16:creationId xmlns:a16="http://schemas.microsoft.com/office/drawing/2014/main" id="{427EBD59-CCEA-170F-1868-D286B9F4769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448202" y="2303748"/>
            <a:ext cx="671083" cy="671083"/>
          </a:xfrm>
          <a:prstGeom prst="rect">
            <a:avLst/>
          </a:prstGeom>
        </p:spPr>
      </p:pic>
      <p:pic>
        <p:nvPicPr>
          <p:cNvPr id="6" name="Graphique 5" descr="Engrenage avec un remplissage uni">
            <a:extLst>
              <a:ext uri="{FF2B5EF4-FFF2-40B4-BE49-F238E27FC236}">
                <a16:creationId xmlns:a16="http://schemas.microsoft.com/office/drawing/2014/main" id="{C0AB62FA-5135-ED46-0A5D-C97A08B18F9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97374" y="993948"/>
            <a:ext cx="710161" cy="710161"/>
          </a:xfrm>
          <a:prstGeom prst="rect">
            <a:avLst/>
          </a:prstGeom>
        </p:spPr>
      </p:pic>
      <p:pic>
        <p:nvPicPr>
          <p:cNvPr id="8" name="Graphique 7" descr="Explosion avec un remplissage uni">
            <a:extLst>
              <a:ext uri="{FF2B5EF4-FFF2-40B4-BE49-F238E27FC236}">
                <a16:creationId xmlns:a16="http://schemas.microsoft.com/office/drawing/2014/main" id="{83294316-0EAA-8198-30EC-E135BDF42B3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497374" y="5918068"/>
            <a:ext cx="545286" cy="545286"/>
          </a:xfrm>
          <a:prstGeom prst="rect">
            <a:avLst/>
          </a:prstGeom>
        </p:spPr>
      </p:pic>
      <p:pic>
        <p:nvPicPr>
          <p:cNvPr id="10" name="Graphique 9" descr="Ajouter avec un remplissage uni">
            <a:extLst>
              <a:ext uri="{FF2B5EF4-FFF2-40B4-BE49-F238E27FC236}">
                <a16:creationId xmlns:a16="http://schemas.microsoft.com/office/drawing/2014/main" id="{891DC547-F1EE-283B-CA1C-C77E46756B4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532072" y="4824017"/>
            <a:ext cx="545286" cy="545286"/>
          </a:xfrm>
          <a:prstGeom prst="rect">
            <a:avLst/>
          </a:prstGeom>
        </p:spPr>
      </p:pic>
      <p:pic>
        <p:nvPicPr>
          <p:cNvPr id="17" name="Graphique 16" descr="Menottes avec un remplissage uni">
            <a:extLst>
              <a:ext uri="{FF2B5EF4-FFF2-40B4-BE49-F238E27FC236}">
                <a16:creationId xmlns:a16="http://schemas.microsoft.com/office/drawing/2014/main" id="{1228EF50-52CE-5401-BB82-E77E40F41C6F}"/>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497375" y="3550454"/>
            <a:ext cx="545285" cy="545285"/>
          </a:xfrm>
          <a:prstGeom prst="rect">
            <a:avLst/>
          </a:prstGeom>
        </p:spPr>
      </p:pic>
    </p:spTree>
    <p:extLst>
      <p:ext uri="{BB962C8B-B14F-4D97-AF65-F5344CB8AC3E}">
        <p14:creationId xmlns:p14="http://schemas.microsoft.com/office/powerpoint/2010/main" val="4279373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8">
            <a:extLst>
              <a:ext uri="{FF2B5EF4-FFF2-40B4-BE49-F238E27FC236}">
                <a16:creationId xmlns:a16="http://schemas.microsoft.com/office/drawing/2014/main" id="{44C438C8-8C4C-301D-4E6B-0F325834E790}"/>
              </a:ext>
            </a:extLst>
          </p:cNvPr>
          <p:cNvSpPr txBox="1">
            <a:spLocks/>
          </p:cNvSpPr>
          <p:nvPr/>
        </p:nvSpPr>
        <p:spPr>
          <a:xfrm>
            <a:off x="198563" y="2046914"/>
            <a:ext cx="3092331" cy="1931494"/>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3200" dirty="0"/>
              <a:t>Probabilité d’engagement des membres et d’effet positif lié</a:t>
            </a:r>
          </a:p>
        </p:txBody>
      </p:sp>
      <p:sp>
        <p:nvSpPr>
          <p:cNvPr id="19" name="Titre 8">
            <a:extLst>
              <a:ext uri="{FF2B5EF4-FFF2-40B4-BE49-F238E27FC236}">
                <a16:creationId xmlns:a16="http://schemas.microsoft.com/office/drawing/2014/main" id="{37096464-24A3-3431-4BBF-E5B3B2C23BFD}"/>
              </a:ext>
            </a:extLst>
          </p:cNvPr>
          <p:cNvSpPr txBox="1">
            <a:spLocks/>
          </p:cNvSpPr>
          <p:nvPr/>
        </p:nvSpPr>
        <p:spPr>
          <a:xfrm>
            <a:off x="5753100" y="1973475"/>
            <a:ext cx="5648582" cy="856181"/>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200" b="0" dirty="0"/>
              <a:t>L’intention vient des membres, sans que cela soit prédéfini ailleurs ou imposé.</a:t>
            </a:r>
          </a:p>
          <a:p>
            <a:r>
              <a:rPr lang="fr-FR" sz="1200" b="0" i="1" dirty="0"/>
              <a:t>Exemple : Les membres ont décidé par eux-mêmes d’être Eco-Friendly dans une communauté qui n’a rien à voir avec cet aspect</a:t>
            </a:r>
          </a:p>
          <a:p>
            <a:r>
              <a:rPr lang="fr-FR" sz="1200" dirty="0">
                <a:solidFill>
                  <a:srgbClr val="00B050"/>
                </a:solidFill>
              </a:rPr>
              <a:t>Avantages</a:t>
            </a:r>
            <a:r>
              <a:rPr lang="fr-FR" sz="1200" b="0" dirty="0"/>
              <a:t> : Les membres se sont appropriés l’intention car c’est la leur, l’engagement a des chances d’être plus fort</a:t>
            </a:r>
          </a:p>
          <a:p>
            <a:r>
              <a:rPr lang="fr-FR" sz="1200" dirty="0">
                <a:solidFill>
                  <a:srgbClr val="FF0000"/>
                </a:solidFill>
              </a:rPr>
              <a:t>Inconvénients</a:t>
            </a:r>
            <a:r>
              <a:rPr lang="fr-FR" sz="1200" b="0" dirty="0"/>
              <a:t> : Nécessite que les membres aient déjà une intention et un engagement de base</a:t>
            </a:r>
          </a:p>
        </p:txBody>
      </p:sp>
      <p:sp>
        <p:nvSpPr>
          <p:cNvPr id="21" name="Titre 8">
            <a:extLst>
              <a:ext uri="{FF2B5EF4-FFF2-40B4-BE49-F238E27FC236}">
                <a16:creationId xmlns:a16="http://schemas.microsoft.com/office/drawing/2014/main" id="{35A51B7B-4221-C377-BFE9-E650840B7D63}"/>
              </a:ext>
            </a:extLst>
          </p:cNvPr>
          <p:cNvSpPr txBox="1">
            <a:spLocks/>
          </p:cNvSpPr>
          <p:nvPr/>
        </p:nvSpPr>
        <p:spPr>
          <a:xfrm>
            <a:off x="5753099" y="3320779"/>
            <a:ext cx="5799585" cy="856181"/>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200" b="0" dirty="0"/>
              <a:t>L’intention vient d’une pression extérieure qui force l’engagement sous peine de contreparties dommageables ou désagréables.</a:t>
            </a:r>
          </a:p>
          <a:p>
            <a:r>
              <a:rPr lang="fr-FR" sz="1200" b="0" i="1" dirty="0"/>
              <a:t>Exemple : Les membres ont l’obligation de participer à au moins 3 événements d’apprentissage sur 5 pour avoir accès aux autres ressources de la Communauté</a:t>
            </a:r>
          </a:p>
          <a:p>
            <a:r>
              <a:rPr lang="fr-FR" sz="1200" dirty="0">
                <a:solidFill>
                  <a:srgbClr val="00B050"/>
                </a:solidFill>
              </a:rPr>
              <a:t>Avantages</a:t>
            </a:r>
            <a:r>
              <a:rPr lang="fr-FR" sz="1200" b="0" dirty="0"/>
              <a:t> : Permet de lancer une intention de départ sur des membres « inertes »</a:t>
            </a:r>
          </a:p>
          <a:p>
            <a:r>
              <a:rPr lang="fr-FR" sz="1200" dirty="0">
                <a:solidFill>
                  <a:srgbClr val="FF0000"/>
                </a:solidFill>
              </a:rPr>
              <a:t>Inconvénients</a:t>
            </a:r>
            <a:r>
              <a:rPr lang="fr-FR" sz="1200" b="0" dirty="0"/>
              <a:t> : S’il n’y a pas d’effet d’habitude ou d’appropriation, l’engagement peut baisser ou bien la pression extérieure doit être maintenue</a:t>
            </a:r>
          </a:p>
        </p:txBody>
      </p:sp>
      <p:sp>
        <p:nvSpPr>
          <p:cNvPr id="22" name="Titre 8">
            <a:extLst>
              <a:ext uri="{FF2B5EF4-FFF2-40B4-BE49-F238E27FC236}">
                <a16:creationId xmlns:a16="http://schemas.microsoft.com/office/drawing/2014/main" id="{B0D97EB1-5535-B483-F905-13631BF06624}"/>
              </a:ext>
            </a:extLst>
          </p:cNvPr>
          <p:cNvSpPr txBox="1">
            <a:spLocks/>
          </p:cNvSpPr>
          <p:nvPr/>
        </p:nvSpPr>
        <p:spPr>
          <a:xfrm>
            <a:off x="5742998" y="4717133"/>
            <a:ext cx="5799583" cy="856181"/>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200" b="0" dirty="0"/>
              <a:t>L’intention est portée sur autre chose qui a de grandes chances de générer un effet de bord, c’est cet effet de bord qu’on identifie. </a:t>
            </a:r>
          </a:p>
          <a:p>
            <a:r>
              <a:rPr lang="fr-FR" sz="1200" b="0" i="1" dirty="0"/>
              <a:t>Exemple : « L’intention de la Communauté est de grouper les formations pour réduire le coût » </a:t>
            </a:r>
            <a:r>
              <a:rPr lang="fr-FR" sz="1200" b="0" i="1" dirty="0">
                <a:sym typeface="Wingdings" panose="05000000000000000000" pitchFamily="2" charset="2"/>
              </a:rPr>
              <a:t></a:t>
            </a:r>
            <a:r>
              <a:rPr lang="fr-FR" sz="1200" b="0" i="1" dirty="0"/>
              <a:t> Effet de bord : création de lien.</a:t>
            </a:r>
          </a:p>
          <a:p>
            <a:r>
              <a:rPr lang="fr-FR" sz="1200" dirty="0">
                <a:solidFill>
                  <a:srgbClr val="00B050"/>
                </a:solidFill>
              </a:rPr>
              <a:t>Avantages</a:t>
            </a:r>
            <a:r>
              <a:rPr lang="fr-FR" sz="1200" dirty="0"/>
              <a:t> : </a:t>
            </a:r>
            <a:r>
              <a:rPr lang="fr-FR" sz="1200" b="0" dirty="0"/>
              <a:t>Souvent bénéfiques, et permettent de maintenir ou pivoter la Communauté</a:t>
            </a:r>
            <a:endParaRPr lang="fr-FR" sz="1200" dirty="0"/>
          </a:p>
          <a:p>
            <a:r>
              <a:rPr lang="fr-FR" sz="1200" dirty="0">
                <a:solidFill>
                  <a:srgbClr val="FF0000"/>
                </a:solidFill>
              </a:rPr>
              <a:t>Inconvénient</a:t>
            </a:r>
            <a:r>
              <a:rPr lang="fr-FR" sz="1200" b="0" dirty="0"/>
              <a:t> : Difficile à maîtriser</a:t>
            </a:r>
          </a:p>
        </p:txBody>
      </p:sp>
      <p:sp>
        <p:nvSpPr>
          <p:cNvPr id="23" name="Titre 8">
            <a:extLst>
              <a:ext uri="{FF2B5EF4-FFF2-40B4-BE49-F238E27FC236}">
                <a16:creationId xmlns:a16="http://schemas.microsoft.com/office/drawing/2014/main" id="{E7779F15-7924-5366-066E-B009AD4E6100}"/>
              </a:ext>
            </a:extLst>
          </p:cNvPr>
          <p:cNvSpPr txBox="1">
            <a:spLocks/>
          </p:cNvSpPr>
          <p:nvPr/>
        </p:nvSpPr>
        <p:spPr>
          <a:xfrm>
            <a:off x="5753099" y="5858818"/>
            <a:ext cx="5304633" cy="856181"/>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200" b="0" dirty="0"/>
              <a:t>L’intention est portée sur autre chose, qui a fini, a posteriori, par créer un effet positif sans que cela soit vraiment prédictible. </a:t>
            </a:r>
          </a:p>
          <a:p>
            <a:r>
              <a:rPr lang="fr-FR" sz="1200" dirty="0">
                <a:solidFill>
                  <a:srgbClr val="00B050"/>
                </a:solidFill>
              </a:rPr>
              <a:t>Avantages</a:t>
            </a:r>
            <a:r>
              <a:rPr lang="fr-FR" sz="1200" b="0" dirty="0"/>
              <a:t> : Effets fortuits bienvenus qui montrent qu’une Communauté a souvent un potentiel « caché »</a:t>
            </a:r>
          </a:p>
          <a:p>
            <a:r>
              <a:rPr lang="fr-FR" sz="1200" dirty="0">
                <a:solidFill>
                  <a:srgbClr val="FF0000"/>
                </a:solidFill>
              </a:rPr>
              <a:t>Inconvénients</a:t>
            </a:r>
            <a:r>
              <a:rPr lang="fr-FR" sz="1200" b="0" dirty="0"/>
              <a:t> : Par définition pas maîtrisables</a:t>
            </a:r>
          </a:p>
        </p:txBody>
      </p:sp>
      <p:sp>
        <p:nvSpPr>
          <p:cNvPr id="24" name="Titre 8">
            <a:extLst>
              <a:ext uri="{FF2B5EF4-FFF2-40B4-BE49-F238E27FC236}">
                <a16:creationId xmlns:a16="http://schemas.microsoft.com/office/drawing/2014/main" id="{78E0A567-3EC7-1481-BE0D-093E9A6F5F5B}"/>
              </a:ext>
            </a:extLst>
          </p:cNvPr>
          <p:cNvSpPr txBox="1">
            <a:spLocks/>
          </p:cNvSpPr>
          <p:nvPr/>
        </p:nvSpPr>
        <p:spPr>
          <a:xfrm>
            <a:off x="5753099" y="648113"/>
            <a:ext cx="5648583" cy="1205854"/>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200" b="0" dirty="0"/>
              <a:t>L’intention est dans la définition même de la Communauté. </a:t>
            </a:r>
          </a:p>
          <a:p>
            <a:r>
              <a:rPr lang="fr-FR" sz="1200" b="0" i="1" dirty="0"/>
              <a:t>Exemple : Communauté de formation </a:t>
            </a:r>
            <a:r>
              <a:rPr lang="fr-FR" sz="1200" b="0" i="1" dirty="0">
                <a:sym typeface="Wingdings" panose="05000000000000000000" pitchFamily="2" charset="2"/>
              </a:rPr>
              <a:t> « On y forme. »</a:t>
            </a:r>
            <a:r>
              <a:rPr lang="fr-FR" sz="1200" b="0" i="1" dirty="0"/>
              <a:t> </a:t>
            </a:r>
            <a:endParaRPr lang="fr-FR" sz="1200" b="0" dirty="0"/>
          </a:p>
          <a:p>
            <a:r>
              <a:rPr lang="fr-FR" sz="1200" dirty="0">
                <a:solidFill>
                  <a:srgbClr val="00B050"/>
                </a:solidFill>
              </a:rPr>
              <a:t>Avantages</a:t>
            </a:r>
            <a:r>
              <a:rPr lang="fr-FR" sz="1200" dirty="0"/>
              <a:t> :</a:t>
            </a:r>
            <a:r>
              <a:rPr lang="fr-FR" sz="1200" b="0" dirty="0"/>
              <a:t> Pose des choix par défauts qui facilitent les décisions et accélèrent le passage à l’action. </a:t>
            </a:r>
          </a:p>
          <a:p>
            <a:r>
              <a:rPr lang="fr-FR" sz="1200" dirty="0">
                <a:solidFill>
                  <a:srgbClr val="FF0000"/>
                </a:solidFill>
              </a:rPr>
              <a:t>Inconvénients</a:t>
            </a:r>
            <a:r>
              <a:rPr lang="fr-FR" sz="1200" b="0" dirty="0"/>
              <a:t> : On ne peut pas tout forcer par construction, ou bien cela fait construire une communauté trop complexe ou restrictive</a:t>
            </a:r>
          </a:p>
        </p:txBody>
      </p:sp>
      <p:cxnSp>
        <p:nvCxnSpPr>
          <p:cNvPr id="2" name="Connecteur droit avec flèche 1">
            <a:extLst>
              <a:ext uri="{FF2B5EF4-FFF2-40B4-BE49-F238E27FC236}">
                <a16:creationId xmlns:a16="http://schemas.microsoft.com/office/drawing/2014/main" id="{78FEEA7D-14CD-1A9A-0847-CFE3FCC41164}"/>
              </a:ext>
            </a:extLst>
          </p:cNvPr>
          <p:cNvCxnSpPr>
            <a:cxnSpLocks/>
          </p:cNvCxnSpPr>
          <p:nvPr/>
        </p:nvCxnSpPr>
        <p:spPr>
          <a:xfrm flipV="1">
            <a:off x="4886894" y="714798"/>
            <a:ext cx="0" cy="5748556"/>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53CBE7F6-5DCF-84C8-B714-58C3DBE1E383}"/>
              </a:ext>
            </a:extLst>
          </p:cNvPr>
          <p:cNvSpPr/>
          <p:nvPr/>
        </p:nvSpPr>
        <p:spPr>
          <a:xfrm>
            <a:off x="4165441" y="1075841"/>
            <a:ext cx="1484849" cy="595619"/>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construction (ADN de la communauté)</a:t>
            </a:r>
          </a:p>
        </p:txBody>
      </p:sp>
      <p:sp>
        <p:nvSpPr>
          <p:cNvPr id="5" name="Rectangle 4">
            <a:extLst>
              <a:ext uri="{FF2B5EF4-FFF2-40B4-BE49-F238E27FC236}">
                <a16:creationId xmlns:a16="http://schemas.microsoft.com/office/drawing/2014/main" id="{69C5C941-C829-3C1B-9E66-8F00FC1C1B2E}"/>
              </a:ext>
            </a:extLst>
          </p:cNvPr>
          <p:cNvSpPr/>
          <p:nvPr/>
        </p:nvSpPr>
        <p:spPr>
          <a:xfrm>
            <a:off x="4165441" y="2118869"/>
            <a:ext cx="1484849" cy="914401"/>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l’engagement des membres (initiative de leur part)</a:t>
            </a:r>
          </a:p>
        </p:txBody>
      </p:sp>
      <p:sp>
        <p:nvSpPr>
          <p:cNvPr id="6" name="Rectangle 5">
            <a:extLst>
              <a:ext uri="{FF2B5EF4-FFF2-40B4-BE49-F238E27FC236}">
                <a16:creationId xmlns:a16="http://schemas.microsoft.com/office/drawing/2014/main" id="{8C0B2F67-173A-B435-F296-527E09996BF9}"/>
              </a:ext>
            </a:extLst>
          </p:cNvPr>
          <p:cNvSpPr/>
          <p:nvPr/>
        </p:nvSpPr>
        <p:spPr>
          <a:xfrm>
            <a:off x="4165441" y="3571064"/>
            <a:ext cx="1484849" cy="54528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obligation (Contraintes, ordres…)</a:t>
            </a:r>
          </a:p>
        </p:txBody>
      </p:sp>
      <p:sp>
        <p:nvSpPr>
          <p:cNvPr id="7" name="Rectangle 6">
            <a:extLst>
              <a:ext uri="{FF2B5EF4-FFF2-40B4-BE49-F238E27FC236}">
                <a16:creationId xmlns:a16="http://schemas.microsoft.com/office/drawing/2014/main" id="{B36ABAF2-9514-9B1F-52FC-D58F57F990B0}"/>
              </a:ext>
            </a:extLst>
          </p:cNvPr>
          <p:cNvSpPr/>
          <p:nvPr/>
        </p:nvSpPr>
        <p:spPr>
          <a:xfrm>
            <a:off x="4165441" y="4861567"/>
            <a:ext cx="1484849" cy="54528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effet de bord (conséquence)</a:t>
            </a:r>
          </a:p>
        </p:txBody>
      </p:sp>
      <p:sp>
        <p:nvSpPr>
          <p:cNvPr id="8" name="Rectangle 7">
            <a:extLst>
              <a:ext uri="{FF2B5EF4-FFF2-40B4-BE49-F238E27FC236}">
                <a16:creationId xmlns:a16="http://schemas.microsoft.com/office/drawing/2014/main" id="{A697B186-52CE-67C8-E35F-60AD4C7A2516}"/>
              </a:ext>
            </a:extLst>
          </p:cNvPr>
          <p:cNvSpPr/>
          <p:nvPr/>
        </p:nvSpPr>
        <p:spPr>
          <a:xfrm>
            <a:off x="4165441" y="5879427"/>
            <a:ext cx="1484849" cy="54528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Par accident</a:t>
            </a:r>
          </a:p>
        </p:txBody>
      </p:sp>
      <p:pic>
        <p:nvPicPr>
          <p:cNvPr id="9" name="Graphique 8" descr="Héroïne avec un remplissage uni">
            <a:extLst>
              <a:ext uri="{FF2B5EF4-FFF2-40B4-BE49-F238E27FC236}">
                <a16:creationId xmlns:a16="http://schemas.microsoft.com/office/drawing/2014/main" id="{A558A0A0-8E44-7FDC-25FC-1D23317BCC9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448202" y="2303748"/>
            <a:ext cx="671083" cy="671083"/>
          </a:xfrm>
          <a:prstGeom prst="rect">
            <a:avLst/>
          </a:prstGeom>
        </p:spPr>
      </p:pic>
      <p:pic>
        <p:nvPicPr>
          <p:cNvPr id="10" name="Graphique 9" descr="Engrenage avec un remplissage uni">
            <a:extLst>
              <a:ext uri="{FF2B5EF4-FFF2-40B4-BE49-F238E27FC236}">
                <a16:creationId xmlns:a16="http://schemas.microsoft.com/office/drawing/2014/main" id="{C6064057-6F66-EB5E-E5F5-6449992E001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97374" y="993948"/>
            <a:ext cx="710161" cy="710161"/>
          </a:xfrm>
          <a:prstGeom prst="rect">
            <a:avLst/>
          </a:prstGeom>
        </p:spPr>
      </p:pic>
      <p:pic>
        <p:nvPicPr>
          <p:cNvPr id="11" name="Graphique 10" descr="Explosion avec un remplissage uni">
            <a:extLst>
              <a:ext uri="{FF2B5EF4-FFF2-40B4-BE49-F238E27FC236}">
                <a16:creationId xmlns:a16="http://schemas.microsoft.com/office/drawing/2014/main" id="{E297E310-7DB1-814A-0648-97D8E4780DA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497374" y="5918068"/>
            <a:ext cx="545286" cy="545286"/>
          </a:xfrm>
          <a:prstGeom prst="rect">
            <a:avLst/>
          </a:prstGeom>
        </p:spPr>
      </p:pic>
      <p:pic>
        <p:nvPicPr>
          <p:cNvPr id="12" name="Graphique 11" descr="Ajouter avec un remplissage uni">
            <a:extLst>
              <a:ext uri="{FF2B5EF4-FFF2-40B4-BE49-F238E27FC236}">
                <a16:creationId xmlns:a16="http://schemas.microsoft.com/office/drawing/2014/main" id="{8F8CBBB2-1E54-7A30-2F14-D7EF059CC60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532072" y="4824017"/>
            <a:ext cx="545286" cy="545286"/>
          </a:xfrm>
          <a:prstGeom prst="rect">
            <a:avLst/>
          </a:prstGeom>
        </p:spPr>
      </p:pic>
      <p:pic>
        <p:nvPicPr>
          <p:cNvPr id="13" name="Graphique 12" descr="Menottes avec un remplissage uni">
            <a:extLst>
              <a:ext uri="{FF2B5EF4-FFF2-40B4-BE49-F238E27FC236}">
                <a16:creationId xmlns:a16="http://schemas.microsoft.com/office/drawing/2014/main" id="{041BF93A-BBE6-C54C-2348-509665B37C2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497375" y="3550454"/>
            <a:ext cx="545285" cy="545285"/>
          </a:xfrm>
          <a:prstGeom prst="rect">
            <a:avLst/>
          </a:prstGeom>
        </p:spPr>
      </p:pic>
    </p:spTree>
    <p:extLst>
      <p:ext uri="{BB962C8B-B14F-4D97-AF65-F5344CB8AC3E}">
        <p14:creationId xmlns:p14="http://schemas.microsoft.com/office/powerpoint/2010/main" val="72096491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C7734F7-24F4-DB9B-35E4-C0D588B1C7C5}"/>
              </a:ext>
            </a:extLst>
          </p:cNvPr>
          <p:cNvSpPr>
            <a:spLocks noGrp="1"/>
          </p:cNvSpPr>
          <p:nvPr>
            <p:ph type="title"/>
          </p:nvPr>
        </p:nvSpPr>
        <p:spPr>
          <a:xfrm>
            <a:off x="838200" y="365126"/>
            <a:ext cx="10515600" cy="1159950"/>
          </a:xfrm>
        </p:spPr>
        <p:txBody>
          <a:bodyPr>
            <a:noAutofit/>
          </a:bodyPr>
          <a:lstStyle/>
          <a:p>
            <a:r>
              <a:rPr lang="fr-FR" sz="3600" dirty="0"/>
              <a:t>Exemples d’impacts de Communautés d’entreprises</a:t>
            </a:r>
            <a:br>
              <a:rPr lang="fr-FR" sz="3600" dirty="0"/>
            </a:br>
            <a:r>
              <a:rPr lang="fr-FR" sz="3600" dirty="0"/>
              <a:t>Rangement par fonction</a:t>
            </a:r>
          </a:p>
        </p:txBody>
      </p:sp>
      <p:grpSp>
        <p:nvGrpSpPr>
          <p:cNvPr id="119" name="Groupe 118">
            <a:extLst>
              <a:ext uri="{FF2B5EF4-FFF2-40B4-BE49-F238E27FC236}">
                <a16:creationId xmlns:a16="http://schemas.microsoft.com/office/drawing/2014/main" id="{DE781F6F-1820-6DE7-0807-096AC8AD1142}"/>
              </a:ext>
            </a:extLst>
          </p:cNvPr>
          <p:cNvGrpSpPr/>
          <p:nvPr/>
        </p:nvGrpSpPr>
        <p:grpSpPr>
          <a:xfrm>
            <a:off x="3135724" y="1884522"/>
            <a:ext cx="894686" cy="798036"/>
            <a:chOff x="6597866" y="3344326"/>
            <a:chExt cx="1188000" cy="1059664"/>
          </a:xfrm>
        </p:grpSpPr>
        <p:sp>
          <p:nvSpPr>
            <p:cNvPr id="120" name="Rectangle 119">
              <a:extLst>
                <a:ext uri="{FF2B5EF4-FFF2-40B4-BE49-F238E27FC236}">
                  <a16:creationId xmlns:a16="http://schemas.microsoft.com/office/drawing/2014/main" id="{60212901-54CE-F96F-258B-B9C04FB0BF0A}"/>
                </a:ext>
              </a:extLst>
            </p:cNvPr>
            <p:cNvSpPr/>
            <p:nvPr/>
          </p:nvSpPr>
          <p:spPr>
            <a:xfrm>
              <a:off x="6597866"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RH</a:t>
              </a:r>
            </a:p>
            <a:p>
              <a:pPr algn="ctr"/>
              <a:r>
                <a:rPr lang="fr-FR" sz="700" dirty="0">
                  <a:solidFill>
                    <a:schemeClr val="bg1"/>
                  </a:solidFill>
                </a:rPr>
                <a:t>Carrières</a:t>
              </a:r>
            </a:p>
          </p:txBody>
        </p:sp>
        <p:grpSp>
          <p:nvGrpSpPr>
            <p:cNvPr id="121" name="Groupe 120">
              <a:extLst>
                <a:ext uri="{FF2B5EF4-FFF2-40B4-BE49-F238E27FC236}">
                  <a16:creationId xmlns:a16="http://schemas.microsoft.com/office/drawing/2014/main" id="{5A518DE6-C33C-584D-367E-FE251BF51ADD}"/>
                </a:ext>
              </a:extLst>
            </p:cNvPr>
            <p:cNvGrpSpPr/>
            <p:nvPr/>
          </p:nvGrpSpPr>
          <p:grpSpPr>
            <a:xfrm>
              <a:off x="6650513" y="3344326"/>
              <a:ext cx="1020563" cy="496065"/>
              <a:chOff x="6713702" y="745208"/>
              <a:chExt cx="4891967" cy="2377838"/>
            </a:xfrm>
          </p:grpSpPr>
          <p:pic>
            <p:nvPicPr>
              <p:cNvPr id="122" name="Graphique 121" descr="Ramper avec un remplissage uni">
                <a:extLst>
                  <a:ext uri="{FF2B5EF4-FFF2-40B4-BE49-F238E27FC236}">
                    <a16:creationId xmlns:a16="http://schemas.microsoft.com/office/drawing/2014/main" id="{228C3642-BF1F-9EAB-F1EA-4191F3B352A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713702" y="2208646"/>
                <a:ext cx="914400" cy="914400"/>
              </a:xfrm>
              <a:prstGeom prst="rect">
                <a:avLst/>
              </a:prstGeom>
            </p:spPr>
          </p:pic>
          <p:pic>
            <p:nvPicPr>
              <p:cNvPr id="123" name="Graphique 122" descr="Marcher avec un remplissage uni">
                <a:extLst>
                  <a:ext uri="{FF2B5EF4-FFF2-40B4-BE49-F238E27FC236}">
                    <a16:creationId xmlns:a16="http://schemas.microsoft.com/office/drawing/2014/main" id="{DF525341-486B-A6D4-0BB2-E7D28633B3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650711" y="1900170"/>
                <a:ext cx="914400" cy="914400"/>
              </a:xfrm>
              <a:prstGeom prst="rect">
                <a:avLst/>
              </a:prstGeom>
            </p:spPr>
          </p:pic>
          <p:pic>
            <p:nvPicPr>
              <p:cNvPr id="124" name="Graphique 123" descr="Courir avec un remplissage uni">
                <a:extLst>
                  <a:ext uri="{FF2B5EF4-FFF2-40B4-BE49-F238E27FC236}">
                    <a16:creationId xmlns:a16="http://schemas.microsoft.com/office/drawing/2014/main" id="{67719D00-DD3C-83E8-4E57-1767EAEB842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587720" y="1591693"/>
                <a:ext cx="914400" cy="914400"/>
              </a:xfrm>
              <a:prstGeom prst="rect">
                <a:avLst/>
              </a:prstGeom>
            </p:spPr>
          </p:pic>
          <p:pic>
            <p:nvPicPr>
              <p:cNvPr id="125" name="Graphique 124" descr="Héros avec un remplissage uni">
                <a:extLst>
                  <a:ext uri="{FF2B5EF4-FFF2-40B4-BE49-F238E27FC236}">
                    <a16:creationId xmlns:a16="http://schemas.microsoft.com/office/drawing/2014/main" id="{C8088887-BD1B-524B-E5F2-757A25ED8DF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691269" y="745208"/>
                <a:ext cx="914400" cy="914400"/>
              </a:xfrm>
              <a:prstGeom prst="rect">
                <a:avLst/>
              </a:prstGeom>
            </p:spPr>
          </p:pic>
          <p:pic>
            <p:nvPicPr>
              <p:cNvPr id="126" name="Graphique 125" descr="Aspiration avec un remplissage uni">
                <a:extLst>
                  <a:ext uri="{FF2B5EF4-FFF2-40B4-BE49-F238E27FC236}">
                    <a16:creationId xmlns:a16="http://schemas.microsoft.com/office/drawing/2014/main" id="{F720BBB7-C356-4727-68A6-C64F530AB09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524729" y="1053685"/>
                <a:ext cx="1143931" cy="1143931"/>
              </a:xfrm>
              <a:prstGeom prst="rect">
                <a:avLst/>
              </a:prstGeom>
            </p:spPr>
          </p:pic>
        </p:grpSp>
      </p:grpSp>
      <p:grpSp>
        <p:nvGrpSpPr>
          <p:cNvPr id="127" name="Groupe 126">
            <a:extLst>
              <a:ext uri="{FF2B5EF4-FFF2-40B4-BE49-F238E27FC236}">
                <a16:creationId xmlns:a16="http://schemas.microsoft.com/office/drawing/2014/main" id="{8D5A0060-5DA9-34BD-FF53-3B2DF29C6A0A}"/>
              </a:ext>
            </a:extLst>
          </p:cNvPr>
          <p:cNvGrpSpPr/>
          <p:nvPr/>
        </p:nvGrpSpPr>
        <p:grpSpPr>
          <a:xfrm>
            <a:off x="153583" y="1542190"/>
            <a:ext cx="894687" cy="1153264"/>
            <a:chOff x="1241541" y="2872641"/>
            <a:chExt cx="1188000" cy="1531349"/>
          </a:xfrm>
        </p:grpSpPr>
        <p:sp>
          <p:nvSpPr>
            <p:cNvPr id="128" name="Rectangle 127">
              <a:extLst>
                <a:ext uri="{FF2B5EF4-FFF2-40B4-BE49-F238E27FC236}">
                  <a16:creationId xmlns:a16="http://schemas.microsoft.com/office/drawing/2014/main" id="{78933754-DA9A-B1E6-DE7B-8AE11B17E9C3}"/>
                </a:ext>
              </a:extLst>
            </p:cNvPr>
            <p:cNvSpPr/>
            <p:nvPr/>
          </p:nvSpPr>
          <p:spPr>
            <a:xfrm>
              <a:off x="1241541"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RH</a:t>
              </a:r>
            </a:p>
            <a:p>
              <a:pPr algn="ctr"/>
              <a:r>
                <a:rPr lang="fr-FR" sz="700" dirty="0">
                  <a:solidFill>
                    <a:schemeClr val="bg1"/>
                  </a:solidFill>
                </a:rPr>
                <a:t>Recrutement</a:t>
              </a:r>
            </a:p>
          </p:txBody>
        </p:sp>
        <p:grpSp>
          <p:nvGrpSpPr>
            <p:cNvPr id="129" name="Groupe 128">
              <a:extLst>
                <a:ext uri="{FF2B5EF4-FFF2-40B4-BE49-F238E27FC236}">
                  <a16:creationId xmlns:a16="http://schemas.microsoft.com/office/drawing/2014/main" id="{1F6311E3-8FBC-9129-15B4-CA8DACD4C8F9}"/>
                </a:ext>
              </a:extLst>
            </p:cNvPr>
            <p:cNvGrpSpPr/>
            <p:nvPr/>
          </p:nvGrpSpPr>
          <p:grpSpPr>
            <a:xfrm>
              <a:off x="1464325" y="2872641"/>
              <a:ext cx="785986" cy="957881"/>
              <a:chOff x="8056685" y="3865046"/>
              <a:chExt cx="2005985" cy="2444694"/>
            </a:xfrm>
          </p:grpSpPr>
          <p:pic>
            <p:nvPicPr>
              <p:cNvPr id="130" name="Graphique 129" descr="Salle de conseil avec un remplissage uni">
                <a:extLst>
                  <a:ext uri="{FF2B5EF4-FFF2-40B4-BE49-F238E27FC236}">
                    <a16:creationId xmlns:a16="http://schemas.microsoft.com/office/drawing/2014/main" id="{9E26B51D-7002-4E3E-2D05-14CC67846928}"/>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b="16472"/>
              <a:stretch/>
            </p:blipFill>
            <p:spPr>
              <a:xfrm>
                <a:off x="8485542" y="5133555"/>
                <a:ext cx="1408125" cy="1176185"/>
              </a:xfrm>
              <a:prstGeom prst="rect">
                <a:avLst/>
              </a:prstGeom>
            </p:spPr>
          </p:pic>
          <p:pic>
            <p:nvPicPr>
              <p:cNvPr id="131" name="Graphique 130" descr="Croissance de l'activité avec un remplissage uni">
                <a:extLst>
                  <a:ext uri="{FF2B5EF4-FFF2-40B4-BE49-F238E27FC236}">
                    <a16:creationId xmlns:a16="http://schemas.microsoft.com/office/drawing/2014/main" id="{60D7F63B-3811-512B-3CB2-ED46509CBAAA}"/>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056685" y="3865046"/>
                <a:ext cx="2005985" cy="2005985"/>
              </a:xfrm>
              <a:prstGeom prst="rect">
                <a:avLst/>
              </a:prstGeom>
            </p:spPr>
          </p:pic>
        </p:grpSp>
      </p:grpSp>
      <p:grpSp>
        <p:nvGrpSpPr>
          <p:cNvPr id="132" name="Groupe 131">
            <a:extLst>
              <a:ext uri="{FF2B5EF4-FFF2-40B4-BE49-F238E27FC236}">
                <a16:creationId xmlns:a16="http://schemas.microsoft.com/office/drawing/2014/main" id="{92F1C189-99E4-10DD-2E3B-A0B88E44C100}"/>
              </a:ext>
            </a:extLst>
          </p:cNvPr>
          <p:cNvGrpSpPr/>
          <p:nvPr/>
        </p:nvGrpSpPr>
        <p:grpSpPr>
          <a:xfrm>
            <a:off x="1147630" y="1799581"/>
            <a:ext cx="894687" cy="895873"/>
            <a:chOff x="2998706" y="3222767"/>
            <a:chExt cx="1188000" cy="1189575"/>
          </a:xfrm>
        </p:grpSpPr>
        <p:sp>
          <p:nvSpPr>
            <p:cNvPr id="133" name="Rectangle 132">
              <a:extLst>
                <a:ext uri="{FF2B5EF4-FFF2-40B4-BE49-F238E27FC236}">
                  <a16:creationId xmlns:a16="http://schemas.microsoft.com/office/drawing/2014/main" id="{ACA19592-C824-2747-21DC-A7012FFE8BD2}"/>
                </a:ext>
              </a:extLst>
            </p:cNvPr>
            <p:cNvSpPr/>
            <p:nvPr/>
          </p:nvSpPr>
          <p:spPr>
            <a:xfrm>
              <a:off x="2998706" y="3898719"/>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a:solidFill>
                    <a:schemeClr val="bg1"/>
                  </a:solidFill>
                </a:rPr>
                <a:t>RH</a:t>
              </a:r>
            </a:p>
            <a:p>
              <a:pPr algn="ctr"/>
              <a:r>
                <a:rPr lang="fr-FR" sz="700">
                  <a:solidFill>
                    <a:schemeClr val="bg1"/>
                  </a:solidFill>
                </a:rPr>
                <a:t>Intégration</a:t>
              </a:r>
            </a:p>
          </p:txBody>
        </p:sp>
        <p:grpSp>
          <p:nvGrpSpPr>
            <p:cNvPr id="134" name="Groupe 133">
              <a:extLst>
                <a:ext uri="{FF2B5EF4-FFF2-40B4-BE49-F238E27FC236}">
                  <a16:creationId xmlns:a16="http://schemas.microsoft.com/office/drawing/2014/main" id="{53DABD3A-C216-7B51-FE34-EBDDE3E89A9D}"/>
                </a:ext>
              </a:extLst>
            </p:cNvPr>
            <p:cNvGrpSpPr/>
            <p:nvPr/>
          </p:nvGrpSpPr>
          <p:grpSpPr>
            <a:xfrm>
              <a:off x="3130879" y="3222767"/>
              <a:ext cx="935471" cy="541840"/>
              <a:chOff x="626984" y="628802"/>
              <a:chExt cx="5131851" cy="2356880"/>
            </a:xfrm>
          </p:grpSpPr>
          <p:cxnSp>
            <p:nvCxnSpPr>
              <p:cNvPr id="135" name="Connecteur droit avec flèche 134">
                <a:extLst>
                  <a:ext uri="{FF2B5EF4-FFF2-40B4-BE49-F238E27FC236}">
                    <a16:creationId xmlns:a16="http://schemas.microsoft.com/office/drawing/2014/main" id="{D00F2D4F-F29B-DEF9-04EC-070419F0D720}"/>
                  </a:ext>
                </a:extLst>
              </p:cNvPr>
              <p:cNvCxnSpPr>
                <a:cxnSpLocks/>
              </p:cNvCxnSpPr>
              <p:nvPr/>
            </p:nvCxnSpPr>
            <p:spPr>
              <a:xfrm flipV="1">
                <a:off x="626984" y="1565043"/>
                <a:ext cx="5131851" cy="1210667"/>
              </a:xfrm>
              <a:prstGeom prst="straightConnector1">
                <a:avLst/>
              </a:prstGeom>
              <a:ln w="57150">
                <a:prstDash val="dash"/>
                <a:tailEnd type="triangle"/>
              </a:ln>
            </p:spPr>
            <p:style>
              <a:lnRef idx="1">
                <a:schemeClr val="accent1"/>
              </a:lnRef>
              <a:fillRef idx="0">
                <a:schemeClr val="accent1"/>
              </a:fillRef>
              <a:effectRef idx="0">
                <a:schemeClr val="accent1"/>
              </a:effectRef>
              <a:fontRef idx="minor">
                <a:schemeClr val="tx1"/>
              </a:fontRef>
            </p:style>
          </p:cxnSp>
          <p:pic>
            <p:nvPicPr>
              <p:cNvPr id="136" name="Graphique 135" descr="Personne confuse avec un remplissage uni">
                <a:extLst>
                  <a:ext uri="{FF2B5EF4-FFF2-40B4-BE49-F238E27FC236}">
                    <a16:creationId xmlns:a16="http://schemas.microsoft.com/office/drawing/2014/main" id="{0BEAACAE-6E86-C36D-0EDD-7BFBE9A8A966}"/>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604967" y="1805997"/>
                <a:ext cx="940978" cy="940978"/>
              </a:xfrm>
              <a:prstGeom prst="rect">
                <a:avLst/>
              </a:prstGeom>
            </p:spPr>
          </p:pic>
          <p:pic>
            <p:nvPicPr>
              <p:cNvPr id="137" name="Graphique 136" descr="Réussite du groupe avec un remplissage uni">
                <a:extLst>
                  <a:ext uri="{FF2B5EF4-FFF2-40B4-BE49-F238E27FC236}">
                    <a16:creationId xmlns:a16="http://schemas.microsoft.com/office/drawing/2014/main" id="{96BD9355-176B-CA00-63EC-392344BF8D8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4228767" y="628802"/>
                <a:ext cx="1492354" cy="1492354"/>
              </a:xfrm>
              <a:prstGeom prst="rect">
                <a:avLst/>
              </a:prstGeom>
            </p:spPr>
          </p:pic>
          <p:pic>
            <p:nvPicPr>
              <p:cNvPr id="138" name="Graphique 137" descr="Personne confuse avec un remplissage uni">
                <a:extLst>
                  <a:ext uri="{FF2B5EF4-FFF2-40B4-BE49-F238E27FC236}">
                    <a16:creationId xmlns:a16="http://schemas.microsoft.com/office/drawing/2014/main" id="{9D4FB930-868A-4766-C86E-4D891B83891F}"/>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2479567" y="1609677"/>
                <a:ext cx="940978" cy="940978"/>
              </a:xfrm>
              <a:prstGeom prst="rect">
                <a:avLst/>
              </a:prstGeom>
            </p:spPr>
          </p:pic>
          <p:pic>
            <p:nvPicPr>
              <p:cNvPr id="139" name="Graphique 138" descr="Personne confuse avec un remplissage uni">
                <a:extLst>
                  <a:ext uri="{FF2B5EF4-FFF2-40B4-BE49-F238E27FC236}">
                    <a16:creationId xmlns:a16="http://schemas.microsoft.com/office/drawing/2014/main" id="{5CDF4F05-CFC3-1B9F-A205-F4069E2035D3}"/>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656694" y="2044704"/>
                <a:ext cx="940978" cy="940978"/>
              </a:xfrm>
              <a:prstGeom prst="rect">
                <a:avLst/>
              </a:prstGeom>
            </p:spPr>
          </p:pic>
          <p:pic>
            <p:nvPicPr>
              <p:cNvPr id="140" name="Graphique 139" descr="Personne confuse avec un remplissage uni">
                <a:extLst>
                  <a:ext uri="{FF2B5EF4-FFF2-40B4-BE49-F238E27FC236}">
                    <a16:creationId xmlns:a16="http://schemas.microsoft.com/office/drawing/2014/main" id="{847A60B7-A060-0305-5126-3C029B843DB1}"/>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293254" y="1399398"/>
                <a:ext cx="940978" cy="940978"/>
              </a:xfrm>
              <a:prstGeom prst="rect">
                <a:avLst/>
              </a:prstGeom>
            </p:spPr>
          </p:pic>
          <p:pic>
            <p:nvPicPr>
              <p:cNvPr id="141" name="Graphique 140" descr="Personne confuse avec un remplissage uni">
                <a:extLst>
                  <a:ext uri="{FF2B5EF4-FFF2-40B4-BE49-F238E27FC236}">
                    <a16:creationId xmlns:a16="http://schemas.microsoft.com/office/drawing/2014/main" id="{FA04483C-C2AE-D411-4374-66EB8A6AA932}"/>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4234476" y="1189119"/>
                <a:ext cx="940978" cy="940978"/>
              </a:xfrm>
              <a:prstGeom prst="rect">
                <a:avLst/>
              </a:prstGeom>
            </p:spPr>
          </p:pic>
        </p:grpSp>
      </p:grpSp>
      <p:grpSp>
        <p:nvGrpSpPr>
          <p:cNvPr id="142" name="Groupe 141">
            <a:extLst>
              <a:ext uri="{FF2B5EF4-FFF2-40B4-BE49-F238E27FC236}">
                <a16:creationId xmlns:a16="http://schemas.microsoft.com/office/drawing/2014/main" id="{60EA7A45-4775-6150-F6D9-3224DED3FE3F}"/>
              </a:ext>
            </a:extLst>
          </p:cNvPr>
          <p:cNvGrpSpPr/>
          <p:nvPr/>
        </p:nvGrpSpPr>
        <p:grpSpPr>
          <a:xfrm>
            <a:off x="2141678" y="1502232"/>
            <a:ext cx="894686" cy="1181662"/>
            <a:chOff x="4859249" y="2834933"/>
            <a:chExt cx="1188000" cy="1569057"/>
          </a:xfrm>
        </p:grpSpPr>
        <p:sp>
          <p:nvSpPr>
            <p:cNvPr id="143" name="Rectangle 142">
              <a:extLst>
                <a:ext uri="{FF2B5EF4-FFF2-40B4-BE49-F238E27FC236}">
                  <a16:creationId xmlns:a16="http://schemas.microsoft.com/office/drawing/2014/main" id="{DE11F646-B90E-1162-AF0F-7450B84376EA}"/>
                </a:ext>
              </a:extLst>
            </p:cNvPr>
            <p:cNvSpPr/>
            <p:nvPr/>
          </p:nvSpPr>
          <p:spPr>
            <a:xfrm>
              <a:off x="4859249"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RH</a:t>
              </a:r>
            </a:p>
            <a:p>
              <a:pPr algn="ctr"/>
              <a:r>
                <a:rPr lang="fr-FR" sz="700" dirty="0">
                  <a:solidFill>
                    <a:schemeClr val="bg1"/>
                  </a:solidFill>
                </a:rPr>
                <a:t>Formation</a:t>
              </a:r>
            </a:p>
          </p:txBody>
        </p:sp>
        <p:grpSp>
          <p:nvGrpSpPr>
            <p:cNvPr id="144" name="Groupe 143">
              <a:extLst>
                <a:ext uri="{FF2B5EF4-FFF2-40B4-BE49-F238E27FC236}">
                  <a16:creationId xmlns:a16="http://schemas.microsoft.com/office/drawing/2014/main" id="{24097B55-77D3-2193-E9AA-FAA081982BE8}"/>
                </a:ext>
              </a:extLst>
            </p:cNvPr>
            <p:cNvGrpSpPr/>
            <p:nvPr/>
          </p:nvGrpSpPr>
          <p:grpSpPr>
            <a:xfrm>
              <a:off x="4953396" y="2834933"/>
              <a:ext cx="1021038" cy="1060714"/>
              <a:chOff x="1793893" y="3948469"/>
              <a:chExt cx="2716107" cy="2749848"/>
            </a:xfrm>
          </p:grpSpPr>
          <p:pic>
            <p:nvPicPr>
              <p:cNvPr id="145" name="Graphique 144" descr="Diplôme roulé avec un remplissage uni">
                <a:extLst>
                  <a:ext uri="{FF2B5EF4-FFF2-40B4-BE49-F238E27FC236}">
                    <a16:creationId xmlns:a16="http://schemas.microsoft.com/office/drawing/2014/main" id="{945DAD9C-B248-41C8-7D9D-5C37DEBDE400}"/>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2976734" y="5783917"/>
                <a:ext cx="914400" cy="914400"/>
              </a:xfrm>
              <a:prstGeom prst="rect">
                <a:avLst/>
              </a:prstGeom>
            </p:spPr>
          </p:pic>
          <p:grpSp>
            <p:nvGrpSpPr>
              <p:cNvPr id="146" name="Groupe 145">
                <a:extLst>
                  <a:ext uri="{FF2B5EF4-FFF2-40B4-BE49-F238E27FC236}">
                    <a16:creationId xmlns:a16="http://schemas.microsoft.com/office/drawing/2014/main" id="{598F83C1-578E-FA10-F946-95DF064DE772}"/>
                  </a:ext>
                </a:extLst>
              </p:cNvPr>
              <p:cNvGrpSpPr/>
              <p:nvPr/>
            </p:nvGrpSpPr>
            <p:grpSpPr>
              <a:xfrm>
                <a:off x="1793893" y="3948469"/>
                <a:ext cx="2716107" cy="2284168"/>
                <a:chOff x="1793893" y="3948469"/>
                <a:chExt cx="2716107" cy="2284168"/>
              </a:xfrm>
            </p:grpSpPr>
            <p:sp>
              <p:nvSpPr>
                <p:cNvPr id="147" name="Ellipse 146">
                  <a:extLst>
                    <a:ext uri="{FF2B5EF4-FFF2-40B4-BE49-F238E27FC236}">
                      <a16:creationId xmlns:a16="http://schemas.microsoft.com/office/drawing/2014/main" id="{9897C880-7EE0-AA59-BC77-C92B890FB64D}"/>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pic>
              <p:nvPicPr>
                <p:cNvPr id="148" name="Graphique 147" descr="Transférer avec un remplissage uni">
                  <a:extLst>
                    <a:ext uri="{FF2B5EF4-FFF2-40B4-BE49-F238E27FC236}">
                      <a16:creationId xmlns:a16="http://schemas.microsoft.com/office/drawing/2014/main" id="{EA4C61CD-77E6-5674-C322-DAF2A1FCE9A3}"/>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1979208" y="4142052"/>
                  <a:ext cx="914400" cy="914400"/>
                </a:xfrm>
                <a:prstGeom prst="rect">
                  <a:avLst/>
                </a:prstGeom>
              </p:spPr>
            </p:pic>
            <p:pic>
              <p:nvPicPr>
                <p:cNvPr id="149" name="Graphique 148" descr="Toque d'étudiant avec un remplissage uni">
                  <a:extLst>
                    <a:ext uri="{FF2B5EF4-FFF2-40B4-BE49-F238E27FC236}">
                      <a16:creationId xmlns:a16="http://schemas.microsoft.com/office/drawing/2014/main" id="{E959CD38-E097-5525-5CCD-6116DEA923DF}"/>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3260713" y="3948469"/>
                  <a:ext cx="914400" cy="914400"/>
                </a:xfrm>
                <a:prstGeom prst="rect">
                  <a:avLst/>
                </a:prstGeom>
              </p:spPr>
            </p:pic>
            <p:pic>
              <p:nvPicPr>
                <p:cNvPr id="150" name="Graphique 149" descr="Idée avec un remplissage uni">
                  <a:extLst>
                    <a:ext uri="{FF2B5EF4-FFF2-40B4-BE49-F238E27FC236}">
                      <a16:creationId xmlns:a16="http://schemas.microsoft.com/office/drawing/2014/main" id="{1533DB2E-AF68-4020-2A94-0151788999BF}"/>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1793893" y="5264448"/>
                  <a:ext cx="914400" cy="914400"/>
                </a:xfrm>
                <a:prstGeom prst="rect">
                  <a:avLst/>
                </a:prstGeom>
              </p:spPr>
            </p:pic>
            <p:pic>
              <p:nvPicPr>
                <p:cNvPr id="151" name="Graphique 150" descr="Chat avec un remplissage uni">
                  <a:extLst>
                    <a:ext uri="{FF2B5EF4-FFF2-40B4-BE49-F238E27FC236}">
                      <a16:creationId xmlns:a16="http://schemas.microsoft.com/office/drawing/2014/main" id="{640F5C47-811A-9A49-CE22-24F1C63C9F91}"/>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3595600" y="4881866"/>
                  <a:ext cx="914400" cy="914400"/>
                </a:xfrm>
                <a:prstGeom prst="rect">
                  <a:avLst/>
                </a:prstGeom>
              </p:spPr>
            </p:pic>
          </p:grpSp>
        </p:grpSp>
      </p:grpSp>
      <p:grpSp>
        <p:nvGrpSpPr>
          <p:cNvPr id="152" name="Groupe 151">
            <a:extLst>
              <a:ext uri="{FF2B5EF4-FFF2-40B4-BE49-F238E27FC236}">
                <a16:creationId xmlns:a16="http://schemas.microsoft.com/office/drawing/2014/main" id="{DD63935B-7147-3A95-0728-51007F2CA634}"/>
              </a:ext>
            </a:extLst>
          </p:cNvPr>
          <p:cNvGrpSpPr/>
          <p:nvPr/>
        </p:nvGrpSpPr>
        <p:grpSpPr>
          <a:xfrm>
            <a:off x="4129770" y="1691542"/>
            <a:ext cx="771375" cy="991017"/>
            <a:chOff x="1263318" y="4795766"/>
            <a:chExt cx="1188000" cy="1526271"/>
          </a:xfrm>
        </p:grpSpPr>
        <p:sp>
          <p:nvSpPr>
            <p:cNvPr id="153" name="Rectangle 152">
              <a:extLst>
                <a:ext uri="{FF2B5EF4-FFF2-40B4-BE49-F238E27FC236}">
                  <a16:creationId xmlns:a16="http://schemas.microsoft.com/office/drawing/2014/main" id="{A3946908-C5B9-8E5C-3C9D-8FBA47694899}"/>
                </a:ext>
              </a:extLst>
            </p:cNvPr>
            <p:cNvSpPr/>
            <p:nvPr/>
          </p:nvSpPr>
          <p:spPr>
            <a:xfrm>
              <a:off x="1263318" y="5726307"/>
              <a:ext cx="1188000" cy="59573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a:t>
              </a:r>
            </a:p>
            <a:p>
              <a:pPr algn="ctr"/>
              <a:r>
                <a:rPr lang="fr-FR" sz="700" dirty="0">
                  <a:solidFill>
                    <a:schemeClr val="bg1"/>
                  </a:solidFill>
                </a:rPr>
                <a:t>Projets</a:t>
              </a:r>
            </a:p>
          </p:txBody>
        </p:sp>
        <p:grpSp>
          <p:nvGrpSpPr>
            <p:cNvPr id="154" name="Groupe 153">
              <a:extLst>
                <a:ext uri="{FF2B5EF4-FFF2-40B4-BE49-F238E27FC236}">
                  <a16:creationId xmlns:a16="http://schemas.microsoft.com/office/drawing/2014/main" id="{1C3E8660-E5DA-58ED-7F5B-D05F21F4221A}"/>
                </a:ext>
              </a:extLst>
            </p:cNvPr>
            <p:cNvGrpSpPr/>
            <p:nvPr/>
          </p:nvGrpSpPr>
          <p:grpSpPr>
            <a:xfrm>
              <a:off x="1366615" y="4795766"/>
              <a:ext cx="1006494" cy="888801"/>
              <a:chOff x="7967905" y="574228"/>
              <a:chExt cx="2945866" cy="2601395"/>
            </a:xfrm>
          </p:grpSpPr>
          <p:sp>
            <p:nvSpPr>
              <p:cNvPr id="155" name="Ellipse 154">
                <a:extLst>
                  <a:ext uri="{FF2B5EF4-FFF2-40B4-BE49-F238E27FC236}">
                    <a16:creationId xmlns:a16="http://schemas.microsoft.com/office/drawing/2014/main" id="{FE9619F4-1876-BEFC-13D5-5C0C543EFFD3}"/>
                  </a:ext>
                </a:extLst>
              </p:cNvPr>
              <p:cNvSpPr/>
              <p:nvPr/>
            </p:nvSpPr>
            <p:spPr>
              <a:xfrm>
                <a:off x="8454825" y="965640"/>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pic>
            <p:nvPicPr>
              <p:cNvPr id="156" name="Graphique 155" descr="Dossier ouvert avec un remplissage uni">
                <a:extLst>
                  <a:ext uri="{FF2B5EF4-FFF2-40B4-BE49-F238E27FC236}">
                    <a16:creationId xmlns:a16="http://schemas.microsoft.com/office/drawing/2014/main" id="{267F960F-4A0A-E1E5-FE7F-046DFEA9ADBC}"/>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7967905" y="1044764"/>
                <a:ext cx="914400" cy="914400"/>
              </a:xfrm>
              <a:prstGeom prst="rect">
                <a:avLst/>
              </a:prstGeom>
            </p:spPr>
          </p:pic>
          <p:pic>
            <p:nvPicPr>
              <p:cNvPr id="157" name="Graphique 156" descr="Diagramme de Gantt avec un remplissage uni">
                <a:extLst>
                  <a:ext uri="{FF2B5EF4-FFF2-40B4-BE49-F238E27FC236}">
                    <a16:creationId xmlns:a16="http://schemas.microsoft.com/office/drawing/2014/main" id="{AA2956A1-4ECF-3267-8F82-B1ACE6846AD4}"/>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8454079" y="2190978"/>
                <a:ext cx="914400" cy="914400"/>
              </a:xfrm>
              <a:prstGeom prst="rect">
                <a:avLst/>
              </a:prstGeom>
            </p:spPr>
          </p:pic>
          <p:pic>
            <p:nvPicPr>
              <p:cNvPr id="158" name="Graphique 157" descr="Calendrier mensuel avec un remplissage uni">
                <a:extLst>
                  <a:ext uri="{FF2B5EF4-FFF2-40B4-BE49-F238E27FC236}">
                    <a16:creationId xmlns:a16="http://schemas.microsoft.com/office/drawing/2014/main" id="{D809AE5B-5309-E6C1-C025-90D26F9DD345}"/>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9597330" y="2261223"/>
                <a:ext cx="914400" cy="914400"/>
              </a:xfrm>
              <a:prstGeom prst="rect">
                <a:avLst/>
              </a:prstGeom>
            </p:spPr>
          </p:pic>
          <p:pic>
            <p:nvPicPr>
              <p:cNvPr id="159" name="Graphique 158" descr="Priorités avec un remplissage uni">
                <a:extLst>
                  <a:ext uri="{FF2B5EF4-FFF2-40B4-BE49-F238E27FC236}">
                    <a16:creationId xmlns:a16="http://schemas.microsoft.com/office/drawing/2014/main" id="{F8B6DDD9-5405-23A1-79EB-DD17CAEDEE9E}"/>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flipV="1">
                <a:off x="8952575" y="574228"/>
                <a:ext cx="914400" cy="1089697"/>
              </a:xfrm>
              <a:prstGeom prst="rect">
                <a:avLst/>
              </a:prstGeom>
            </p:spPr>
          </p:pic>
          <p:pic>
            <p:nvPicPr>
              <p:cNvPr id="160" name="Graphique 159" descr="Graphique à barres avec tendance à la baisse avec un remplissage uni">
                <a:extLst>
                  <a:ext uri="{FF2B5EF4-FFF2-40B4-BE49-F238E27FC236}">
                    <a16:creationId xmlns:a16="http://schemas.microsoft.com/office/drawing/2014/main" id="{8833AE9F-3661-37C7-24DD-CB3D4B3C1B31}"/>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a:off x="9999371" y="992534"/>
                <a:ext cx="914400" cy="914400"/>
              </a:xfrm>
              <a:prstGeom prst="rect">
                <a:avLst/>
              </a:prstGeom>
            </p:spPr>
          </p:pic>
        </p:grpSp>
      </p:grpSp>
      <p:grpSp>
        <p:nvGrpSpPr>
          <p:cNvPr id="161" name="Groupe 160">
            <a:extLst>
              <a:ext uri="{FF2B5EF4-FFF2-40B4-BE49-F238E27FC236}">
                <a16:creationId xmlns:a16="http://schemas.microsoft.com/office/drawing/2014/main" id="{DD72A4E4-13C0-BD22-F87E-09264E0B5840}"/>
              </a:ext>
            </a:extLst>
          </p:cNvPr>
          <p:cNvGrpSpPr/>
          <p:nvPr/>
        </p:nvGrpSpPr>
        <p:grpSpPr>
          <a:xfrm>
            <a:off x="5000506" y="1738828"/>
            <a:ext cx="771376" cy="943729"/>
            <a:chOff x="2945394" y="4865339"/>
            <a:chExt cx="1188000" cy="1453443"/>
          </a:xfrm>
        </p:grpSpPr>
        <p:sp>
          <p:nvSpPr>
            <p:cNvPr id="162" name="Rectangle 161">
              <a:extLst>
                <a:ext uri="{FF2B5EF4-FFF2-40B4-BE49-F238E27FC236}">
                  <a16:creationId xmlns:a16="http://schemas.microsoft.com/office/drawing/2014/main" id="{FF6FBFD3-8CFE-6A7E-00F9-EC003025E8A1}"/>
                </a:ext>
              </a:extLst>
            </p:cNvPr>
            <p:cNvSpPr/>
            <p:nvPr/>
          </p:nvSpPr>
          <p:spPr>
            <a:xfrm>
              <a:off x="2945394" y="5707751"/>
              <a:ext cx="1188000" cy="61103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a:t>
              </a:r>
            </a:p>
            <a:p>
              <a:pPr algn="ctr"/>
              <a:r>
                <a:rPr lang="fr-FR" sz="700" dirty="0">
                  <a:solidFill>
                    <a:schemeClr val="bg1"/>
                  </a:solidFill>
                </a:rPr>
                <a:t>Qualité &amp; Méthodes</a:t>
              </a:r>
            </a:p>
          </p:txBody>
        </p:sp>
        <p:grpSp>
          <p:nvGrpSpPr>
            <p:cNvPr id="163" name="Groupe 162">
              <a:extLst>
                <a:ext uri="{FF2B5EF4-FFF2-40B4-BE49-F238E27FC236}">
                  <a16:creationId xmlns:a16="http://schemas.microsoft.com/office/drawing/2014/main" id="{DF02485E-A127-D12D-5367-D056427ACFD5}"/>
                </a:ext>
              </a:extLst>
            </p:cNvPr>
            <p:cNvGrpSpPr/>
            <p:nvPr/>
          </p:nvGrpSpPr>
          <p:grpSpPr>
            <a:xfrm>
              <a:off x="3034186" y="4865339"/>
              <a:ext cx="962635" cy="814307"/>
              <a:chOff x="1619081" y="3908041"/>
              <a:chExt cx="3348357" cy="2476948"/>
            </a:xfrm>
          </p:grpSpPr>
          <p:pic>
            <p:nvPicPr>
              <p:cNvPr id="164" name="Graphique 163" descr="Graphique en radar avec un remplissage uni">
                <a:extLst>
                  <a:ext uri="{FF2B5EF4-FFF2-40B4-BE49-F238E27FC236}">
                    <a16:creationId xmlns:a16="http://schemas.microsoft.com/office/drawing/2014/main" id="{BCBAF448-52D8-E573-1734-2524135B5DF5}"/>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1619081" y="5084439"/>
                <a:ext cx="1290292" cy="1290292"/>
              </a:xfrm>
              <a:prstGeom prst="rect">
                <a:avLst/>
              </a:prstGeom>
            </p:spPr>
          </p:pic>
          <p:pic>
            <p:nvPicPr>
              <p:cNvPr id="165" name="Graphique 164" descr="Compteur bas avec un remplissage uni">
                <a:extLst>
                  <a:ext uri="{FF2B5EF4-FFF2-40B4-BE49-F238E27FC236}">
                    <a16:creationId xmlns:a16="http://schemas.microsoft.com/office/drawing/2014/main" id="{4EFDA547-2012-7F45-DBC4-2F50B21811BB}"/>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flipH="1">
                <a:off x="2795861" y="3908041"/>
                <a:ext cx="898916" cy="914400"/>
              </a:xfrm>
              <a:prstGeom prst="rect">
                <a:avLst/>
              </a:prstGeom>
            </p:spPr>
          </p:pic>
          <p:pic>
            <p:nvPicPr>
              <p:cNvPr id="166" name="Graphique 165" descr="Cercles avec flèches avec un remplissage uni">
                <a:extLst>
                  <a:ext uri="{FF2B5EF4-FFF2-40B4-BE49-F238E27FC236}">
                    <a16:creationId xmlns:a16="http://schemas.microsoft.com/office/drawing/2014/main" id="{9651AB2E-54DF-CAAD-C1EE-AC15C55B4079}"/>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rot="18361995">
                <a:off x="2644083" y="4661879"/>
                <a:ext cx="1172888" cy="1172888"/>
              </a:xfrm>
              <a:prstGeom prst="rect">
                <a:avLst/>
              </a:prstGeom>
            </p:spPr>
          </p:pic>
          <p:pic>
            <p:nvPicPr>
              <p:cNvPr id="167" name="Graphique 166" descr="Presse-papiers badge avec un remplissage uni">
                <a:extLst>
                  <a:ext uri="{FF2B5EF4-FFF2-40B4-BE49-F238E27FC236}">
                    <a16:creationId xmlns:a16="http://schemas.microsoft.com/office/drawing/2014/main" id="{0A582CDE-C64C-E3F1-12FB-E793FDCDF603}"/>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3755728" y="5173279"/>
                <a:ext cx="1211710" cy="1211710"/>
              </a:xfrm>
              <a:prstGeom prst="rect">
                <a:avLst/>
              </a:prstGeom>
            </p:spPr>
          </p:pic>
        </p:grpSp>
      </p:grpSp>
      <p:grpSp>
        <p:nvGrpSpPr>
          <p:cNvPr id="168" name="Groupe 167">
            <a:extLst>
              <a:ext uri="{FF2B5EF4-FFF2-40B4-BE49-F238E27FC236}">
                <a16:creationId xmlns:a16="http://schemas.microsoft.com/office/drawing/2014/main" id="{7495DE04-DD81-CFCB-E528-D6FC2D355FF7}"/>
              </a:ext>
            </a:extLst>
          </p:cNvPr>
          <p:cNvGrpSpPr/>
          <p:nvPr/>
        </p:nvGrpSpPr>
        <p:grpSpPr>
          <a:xfrm>
            <a:off x="5871242" y="1847294"/>
            <a:ext cx="771376" cy="848161"/>
            <a:chOff x="4704331" y="5050873"/>
            <a:chExt cx="1188000" cy="1306257"/>
          </a:xfrm>
        </p:grpSpPr>
        <p:sp>
          <p:nvSpPr>
            <p:cNvPr id="169" name="Rectangle 168">
              <a:extLst>
                <a:ext uri="{FF2B5EF4-FFF2-40B4-BE49-F238E27FC236}">
                  <a16:creationId xmlns:a16="http://schemas.microsoft.com/office/drawing/2014/main" id="{7F217EEF-12B9-DD1C-F8DB-319ECE72C0F1}"/>
                </a:ext>
              </a:extLst>
            </p:cNvPr>
            <p:cNvSpPr/>
            <p:nvPr/>
          </p:nvSpPr>
          <p:spPr>
            <a:xfrm>
              <a:off x="4704331" y="570138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a:t>
              </a:r>
            </a:p>
            <a:p>
              <a:pPr algn="ctr"/>
              <a:r>
                <a:rPr lang="fr-FR" sz="700" dirty="0">
                  <a:solidFill>
                    <a:schemeClr val="bg1"/>
                  </a:solidFill>
                </a:rPr>
                <a:t>Gestion des connaissances</a:t>
              </a:r>
            </a:p>
          </p:txBody>
        </p:sp>
        <p:grpSp>
          <p:nvGrpSpPr>
            <p:cNvPr id="170" name="Groupe 169">
              <a:extLst>
                <a:ext uri="{FF2B5EF4-FFF2-40B4-BE49-F238E27FC236}">
                  <a16:creationId xmlns:a16="http://schemas.microsoft.com/office/drawing/2014/main" id="{900B114D-AA79-D4D0-A4E3-E46FBA51C5B5}"/>
                </a:ext>
              </a:extLst>
            </p:cNvPr>
            <p:cNvGrpSpPr/>
            <p:nvPr/>
          </p:nvGrpSpPr>
          <p:grpSpPr>
            <a:xfrm>
              <a:off x="4771800" y="5050873"/>
              <a:ext cx="1076472" cy="553441"/>
              <a:chOff x="6389474" y="3987996"/>
              <a:chExt cx="5385544" cy="2536749"/>
            </a:xfrm>
          </p:grpSpPr>
          <p:cxnSp>
            <p:nvCxnSpPr>
              <p:cNvPr id="171" name="Connecteur droit avec flèche 170">
                <a:extLst>
                  <a:ext uri="{FF2B5EF4-FFF2-40B4-BE49-F238E27FC236}">
                    <a16:creationId xmlns:a16="http://schemas.microsoft.com/office/drawing/2014/main" id="{5FFB2785-A4FB-73D9-A75C-AEA44282D20B}"/>
                  </a:ext>
                </a:extLst>
              </p:cNvPr>
              <p:cNvCxnSpPr>
                <a:cxnSpLocks/>
              </p:cNvCxnSpPr>
              <p:nvPr/>
            </p:nvCxnSpPr>
            <p:spPr>
              <a:xfrm flipV="1">
                <a:off x="6535271" y="6100758"/>
                <a:ext cx="1486117" cy="22439"/>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172" name="Graphique 171" descr="Télécharger du cloud avec un remplissage uni">
                <a:extLst>
                  <a:ext uri="{FF2B5EF4-FFF2-40B4-BE49-F238E27FC236}">
                    <a16:creationId xmlns:a16="http://schemas.microsoft.com/office/drawing/2014/main" id="{3BCD2742-951A-8D5B-F598-8AAF124A23D5}"/>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8320900" y="3987996"/>
                <a:ext cx="675060" cy="675060"/>
              </a:xfrm>
              <a:prstGeom prst="rect">
                <a:avLst/>
              </a:prstGeom>
            </p:spPr>
          </p:pic>
          <p:pic>
            <p:nvPicPr>
              <p:cNvPr id="173" name="Graphique 172" descr="Serveur avec un remplissage uni">
                <a:extLst>
                  <a:ext uri="{FF2B5EF4-FFF2-40B4-BE49-F238E27FC236}">
                    <a16:creationId xmlns:a16="http://schemas.microsoft.com/office/drawing/2014/main" id="{CFCEB5EE-4F79-DF95-5AB4-B38B3BCC484E}"/>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8995960" y="3987996"/>
                <a:ext cx="675060" cy="675060"/>
              </a:xfrm>
              <a:prstGeom prst="rect">
                <a:avLst/>
              </a:prstGeom>
            </p:spPr>
          </p:pic>
          <p:pic>
            <p:nvPicPr>
              <p:cNvPr id="174" name="Graphique 173" descr="Tête avec engrenages avec un remplissage uni">
                <a:extLst>
                  <a:ext uri="{FF2B5EF4-FFF2-40B4-BE49-F238E27FC236}">
                    <a16:creationId xmlns:a16="http://schemas.microsoft.com/office/drawing/2014/main" id="{8BCC456A-E8F8-6480-C05F-DE4D9222C2E6}"/>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6389474" y="5495508"/>
                <a:ext cx="914400" cy="914400"/>
              </a:xfrm>
              <a:prstGeom prst="rect">
                <a:avLst/>
              </a:prstGeom>
            </p:spPr>
          </p:pic>
          <p:sp>
            <p:nvSpPr>
              <p:cNvPr id="175" name="Flèche : droite 174">
                <a:extLst>
                  <a:ext uri="{FF2B5EF4-FFF2-40B4-BE49-F238E27FC236}">
                    <a16:creationId xmlns:a16="http://schemas.microsoft.com/office/drawing/2014/main" id="{631A21C9-7466-D92C-DD01-8AD42504CF50}"/>
                  </a:ext>
                </a:extLst>
              </p:cNvPr>
              <p:cNvSpPr/>
              <p:nvPr/>
            </p:nvSpPr>
            <p:spPr>
              <a:xfrm rot="2221843">
                <a:off x="9714954" y="4900835"/>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pic>
            <p:nvPicPr>
              <p:cNvPr id="176" name="Graphique 175" descr="Enseignant avec un remplissage uni">
                <a:extLst>
                  <a:ext uri="{FF2B5EF4-FFF2-40B4-BE49-F238E27FC236}">
                    <a16:creationId xmlns:a16="http://schemas.microsoft.com/office/drawing/2014/main" id="{48D403C2-DB55-4235-4F83-A160E25528B7}"/>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8353404" y="4668590"/>
                <a:ext cx="639776" cy="639776"/>
              </a:xfrm>
              <a:prstGeom prst="rect">
                <a:avLst/>
              </a:prstGeom>
            </p:spPr>
          </p:pic>
          <p:cxnSp>
            <p:nvCxnSpPr>
              <p:cNvPr id="177" name="Connecteur droit avec flèche 176">
                <a:extLst>
                  <a:ext uri="{FF2B5EF4-FFF2-40B4-BE49-F238E27FC236}">
                    <a16:creationId xmlns:a16="http://schemas.microsoft.com/office/drawing/2014/main" id="{9F54C7A9-916B-9C52-24A3-52141851DA67}"/>
                  </a:ext>
                </a:extLst>
              </p:cNvPr>
              <p:cNvCxnSpPr>
                <a:cxnSpLocks/>
              </p:cNvCxnSpPr>
              <p:nvPr/>
            </p:nvCxnSpPr>
            <p:spPr>
              <a:xfrm flipV="1">
                <a:off x="9709150" y="6092806"/>
                <a:ext cx="2065868" cy="15905"/>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178" name="Graphique 177" descr="Tête avec engrenages avec un remplissage uni">
                <a:extLst>
                  <a:ext uri="{FF2B5EF4-FFF2-40B4-BE49-F238E27FC236}">
                    <a16:creationId xmlns:a16="http://schemas.microsoft.com/office/drawing/2014/main" id="{2DB60D4E-2F31-4A81-6737-5B3E63BBA0E9}"/>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a:off x="10652219" y="5495508"/>
                <a:ext cx="914400" cy="914400"/>
              </a:xfrm>
              <a:prstGeom prst="rect">
                <a:avLst/>
              </a:prstGeom>
            </p:spPr>
          </p:pic>
          <p:sp>
            <p:nvSpPr>
              <p:cNvPr id="179" name="Flèche : droite 178">
                <a:extLst>
                  <a:ext uri="{FF2B5EF4-FFF2-40B4-BE49-F238E27FC236}">
                    <a16:creationId xmlns:a16="http://schemas.microsoft.com/office/drawing/2014/main" id="{4E635068-7562-AB9B-267F-5B2F208C8DD0}"/>
                  </a:ext>
                </a:extLst>
              </p:cNvPr>
              <p:cNvSpPr/>
              <p:nvPr/>
            </p:nvSpPr>
            <p:spPr>
              <a:xfrm rot="18844370">
                <a:off x="7386229" y="4956663"/>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pic>
            <p:nvPicPr>
              <p:cNvPr id="180" name="Graphique 179" descr="Groupe de personnes avec un remplissage uni">
                <a:extLst>
                  <a:ext uri="{FF2B5EF4-FFF2-40B4-BE49-F238E27FC236}">
                    <a16:creationId xmlns:a16="http://schemas.microsoft.com/office/drawing/2014/main" id="{609001FE-20DF-8C27-9448-9F6C3306F287}"/>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9025684" y="4682443"/>
                <a:ext cx="565880" cy="565880"/>
              </a:xfrm>
              <a:prstGeom prst="rect">
                <a:avLst/>
              </a:prstGeom>
            </p:spPr>
          </p:pic>
          <p:pic>
            <p:nvPicPr>
              <p:cNvPr id="181" name="Graphique 180" descr="Stop avec un remplissage uni">
                <a:extLst>
                  <a:ext uri="{FF2B5EF4-FFF2-40B4-BE49-F238E27FC236}">
                    <a16:creationId xmlns:a16="http://schemas.microsoft.com/office/drawing/2014/main" id="{2346C4E5-38D3-1A16-2925-3A8076C45CEE}"/>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7905881" y="5610345"/>
                <a:ext cx="914400" cy="914400"/>
              </a:xfrm>
              <a:prstGeom prst="rect">
                <a:avLst/>
              </a:prstGeom>
            </p:spPr>
          </p:pic>
          <p:grpSp>
            <p:nvGrpSpPr>
              <p:cNvPr id="182" name="Groupe 181">
                <a:extLst>
                  <a:ext uri="{FF2B5EF4-FFF2-40B4-BE49-F238E27FC236}">
                    <a16:creationId xmlns:a16="http://schemas.microsoft.com/office/drawing/2014/main" id="{4388A67A-8DD0-A66D-7498-268B9847098F}"/>
                  </a:ext>
                </a:extLst>
              </p:cNvPr>
              <p:cNvGrpSpPr/>
              <p:nvPr/>
            </p:nvGrpSpPr>
            <p:grpSpPr>
              <a:xfrm>
                <a:off x="9279050" y="5495508"/>
                <a:ext cx="914400" cy="914400"/>
                <a:chOff x="9251950" y="5495508"/>
                <a:chExt cx="914400" cy="914400"/>
              </a:xfrm>
            </p:grpSpPr>
            <p:pic>
              <p:nvPicPr>
                <p:cNvPr id="183" name="Graphique 182" descr="Tête avec engrenages avec un remplissage uni">
                  <a:extLst>
                    <a:ext uri="{FF2B5EF4-FFF2-40B4-BE49-F238E27FC236}">
                      <a16:creationId xmlns:a16="http://schemas.microsoft.com/office/drawing/2014/main" id="{5BB5EB11-00D5-646B-7102-28ABD3FDC679}"/>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9251950" y="5495508"/>
                  <a:ext cx="914400" cy="914400"/>
                </a:xfrm>
                <a:prstGeom prst="rect">
                  <a:avLst/>
                </a:prstGeom>
              </p:spPr>
            </p:pic>
            <p:sp>
              <p:nvSpPr>
                <p:cNvPr id="184" name="Rectangle 183">
                  <a:extLst>
                    <a:ext uri="{FF2B5EF4-FFF2-40B4-BE49-F238E27FC236}">
                      <a16:creationId xmlns:a16="http://schemas.microsoft.com/office/drawing/2014/main" id="{A802C4A1-7FCE-1301-FBCF-30485E32C684}"/>
                    </a:ext>
                  </a:extLst>
                </p:cNvPr>
                <p:cNvSpPr/>
                <p:nvPr/>
              </p:nvSpPr>
              <p:spPr>
                <a:xfrm>
                  <a:off x="9453160" y="5700257"/>
                  <a:ext cx="402041" cy="33468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185" name="Rectangle 184">
                  <a:extLst>
                    <a:ext uri="{FF2B5EF4-FFF2-40B4-BE49-F238E27FC236}">
                      <a16:creationId xmlns:a16="http://schemas.microsoft.com/office/drawing/2014/main" id="{66A90FFF-E950-F05A-A153-1AF82E540314}"/>
                    </a:ext>
                  </a:extLst>
                </p:cNvPr>
                <p:cNvSpPr/>
                <p:nvPr/>
              </p:nvSpPr>
              <p:spPr>
                <a:xfrm>
                  <a:off x="9566945" y="5606948"/>
                  <a:ext cx="262408" cy="34576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grpSp>
        </p:grpSp>
      </p:grpSp>
      <p:grpSp>
        <p:nvGrpSpPr>
          <p:cNvPr id="186" name="Groupe 185">
            <a:extLst>
              <a:ext uri="{FF2B5EF4-FFF2-40B4-BE49-F238E27FC236}">
                <a16:creationId xmlns:a16="http://schemas.microsoft.com/office/drawing/2014/main" id="{E2624F50-2785-25E1-ED5E-CF58702A560A}"/>
              </a:ext>
            </a:extLst>
          </p:cNvPr>
          <p:cNvGrpSpPr/>
          <p:nvPr/>
        </p:nvGrpSpPr>
        <p:grpSpPr>
          <a:xfrm>
            <a:off x="8483450" y="1942617"/>
            <a:ext cx="771375" cy="761191"/>
            <a:chOff x="9979734" y="5177643"/>
            <a:chExt cx="1188000" cy="1172315"/>
          </a:xfrm>
        </p:grpSpPr>
        <p:sp>
          <p:nvSpPr>
            <p:cNvPr id="187" name="Rectangle 186">
              <a:extLst>
                <a:ext uri="{FF2B5EF4-FFF2-40B4-BE49-F238E27FC236}">
                  <a16:creationId xmlns:a16="http://schemas.microsoft.com/office/drawing/2014/main" id="{13A20738-75DF-7902-A08D-2D6E4345F38A}"/>
                </a:ext>
              </a:extLst>
            </p:cNvPr>
            <p:cNvSpPr/>
            <p:nvPr/>
          </p:nvSpPr>
          <p:spPr>
            <a:xfrm>
              <a:off x="9979734" y="5694208"/>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a:t>
              </a:r>
            </a:p>
            <a:p>
              <a:pPr algn="ctr"/>
              <a:r>
                <a:rPr lang="fr-FR" sz="700" dirty="0">
                  <a:solidFill>
                    <a:schemeClr val="bg1"/>
                  </a:solidFill>
                </a:rPr>
                <a:t>Transformation d’entreprise</a:t>
              </a:r>
            </a:p>
          </p:txBody>
        </p:sp>
        <p:grpSp>
          <p:nvGrpSpPr>
            <p:cNvPr id="188" name="Groupe 187">
              <a:extLst>
                <a:ext uri="{FF2B5EF4-FFF2-40B4-BE49-F238E27FC236}">
                  <a16:creationId xmlns:a16="http://schemas.microsoft.com/office/drawing/2014/main" id="{2FB7E354-8690-A4E9-DB37-B03607FFD1B1}"/>
                </a:ext>
              </a:extLst>
            </p:cNvPr>
            <p:cNvGrpSpPr/>
            <p:nvPr/>
          </p:nvGrpSpPr>
          <p:grpSpPr>
            <a:xfrm>
              <a:off x="10053885" y="5177643"/>
              <a:ext cx="1025143" cy="399185"/>
              <a:chOff x="6479122" y="1406591"/>
              <a:chExt cx="5241664" cy="1686141"/>
            </a:xfrm>
          </p:grpSpPr>
          <p:pic>
            <p:nvPicPr>
              <p:cNvPr id="189" name="Graphique 188" descr="Soucoupe volante avec un remplissage uni">
                <a:extLst>
                  <a:ext uri="{FF2B5EF4-FFF2-40B4-BE49-F238E27FC236}">
                    <a16:creationId xmlns:a16="http://schemas.microsoft.com/office/drawing/2014/main" id="{0F1A8372-E4D1-9550-D6FB-5AE09DA1E241}"/>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10806386" y="1406591"/>
                <a:ext cx="914400" cy="914400"/>
              </a:xfrm>
              <a:prstGeom prst="rect">
                <a:avLst/>
              </a:prstGeom>
            </p:spPr>
          </p:pic>
          <p:pic>
            <p:nvPicPr>
              <p:cNvPr id="190" name="Graphique 189" descr="Usine avec un remplissage uni">
                <a:extLst>
                  <a:ext uri="{FF2B5EF4-FFF2-40B4-BE49-F238E27FC236}">
                    <a16:creationId xmlns:a16="http://schemas.microsoft.com/office/drawing/2014/main" id="{25B3102D-435F-45B0-F9BD-C91F0BAC64DC}"/>
                  </a:ext>
                </a:extLst>
              </p:cNvPr>
              <p:cNvPicPr>
                <a:picLocks noChangeAspect="1"/>
              </p:cNvPicPr>
              <p:nvPr/>
            </p:nvPicPr>
            <p:blipFill>
              <a:blip r:embed="rId74">
                <a:extLst>
                  <a:ext uri="{28A0092B-C50C-407E-A947-70E740481C1C}">
                    <a14:useLocalDpi xmlns:a14="http://schemas.microsoft.com/office/drawing/2010/main" val="0"/>
                  </a:ext>
                  <a:ext uri="{96DAC541-7B7A-43D3-8B79-37D633B846F1}">
                    <asvg:svgBlip xmlns:asvg="http://schemas.microsoft.com/office/drawing/2016/SVG/main" r:embed="rId75"/>
                  </a:ext>
                </a:extLst>
              </a:blip>
              <a:stretch>
                <a:fillRect/>
              </a:stretch>
            </p:blipFill>
            <p:spPr>
              <a:xfrm>
                <a:off x="8642754" y="1406591"/>
                <a:ext cx="914400" cy="914400"/>
              </a:xfrm>
              <a:prstGeom prst="rect">
                <a:avLst/>
              </a:prstGeom>
            </p:spPr>
          </p:pic>
          <p:pic>
            <p:nvPicPr>
              <p:cNvPr id="191" name="Graphique 190" descr="Pyramide avec un remplissage uni">
                <a:extLst>
                  <a:ext uri="{FF2B5EF4-FFF2-40B4-BE49-F238E27FC236}">
                    <a16:creationId xmlns:a16="http://schemas.microsoft.com/office/drawing/2014/main" id="{575F4378-16E9-434D-EFEF-1C3DF4092426}"/>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6479122" y="1406591"/>
                <a:ext cx="914400" cy="914400"/>
              </a:xfrm>
              <a:prstGeom prst="rect">
                <a:avLst/>
              </a:prstGeom>
            </p:spPr>
          </p:pic>
          <p:pic>
            <p:nvPicPr>
              <p:cNvPr id="192" name="Graphique 191" descr="Bâtiment avec un remplissage uni">
                <a:extLst>
                  <a:ext uri="{FF2B5EF4-FFF2-40B4-BE49-F238E27FC236}">
                    <a16:creationId xmlns:a16="http://schemas.microsoft.com/office/drawing/2014/main" id="{D5CA0054-C6F8-0CC1-F469-E63789162ECC}"/>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9724570" y="2178332"/>
                <a:ext cx="914400" cy="914400"/>
              </a:xfrm>
              <a:prstGeom prst="rect">
                <a:avLst/>
              </a:prstGeom>
            </p:spPr>
          </p:pic>
          <p:pic>
            <p:nvPicPr>
              <p:cNvPr id="193" name="Graphique 192" descr="Scène de château avec un remplissage uni">
                <a:extLst>
                  <a:ext uri="{FF2B5EF4-FFF2-40B4-BE49-F238E27FC236}">
                    <a16:creationId xmlns:a16="http://schemas.microsoft.com/office/drawing/2014/main" id="{EAFA921E-8021-387C-237C-A7049BABC95A}"/>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7560938" y="2178332"/>
                <a:ext cx="914400" cy="914400"/>
              </a:xfrm>
              <a:prstGeom prst="rect">
                <a:avLst/>
              </a:prstGeom>
            </p:spPr>
          </p:pic>
          <p:sp>
            <p:nvSpPr>
              <p:cNvPr id="194" name="Flèche : droite 193">
                <a:extLst>
                  <a:ext uri="{FF2B5EF4-FFF2-40B4-BE49-F238E27FC236}">
                    <a16:creationId xmlns:a16="http://schemas.microsoft.com/office/drawing/2014/main" id="{A0D9D115-0A3B-D2FE-13BC-B318CF019692}"/>
                  </a:ext>
                </a:extLst>
              </p:cNvPr>
              <p:cNvSpPr/>
              <p:nvPr/>
            </p:nvSpPr>
            <p:spPr>
              <a:xfrm rot="2412443">
                <a:off x="7420834" y="196308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195" name="Flèche : droite 194">
                <a:extLst>
                  <a:ext uri="{FF2B5EF4-FFF2-40B4-BE49-F238E27FC236}">
                    <a16:creationId xmlns:a16="http://schemas.microsoft.com/office/drawing/2014/main" id="{0AA31BDD-61F3-3BE4-3448-C8451951C44E}"/>
                  </a:ext>
                </a:extLst>
              </p:cNvPr>
              <p:cNvSpPr/>
              <p:nvPr/>
            </p:nvSpPr>
            <p:spPr>
              <a:xfrm rot="19318800">
                <a:off x="8295844"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196" name="Flèche : droite 195">
                <a:extLst>
                  <a:ext uri="{FF2B5EF4-FFF2-40B4-BE49-F238E27FC236}">
                    <a16:creationId xmlns:a16="http://schemas.microsoft.com/office/drawing/2014/main" id="{B850BA2D-A25A-C9FB-D25A-B131492CFB75}"/>
                  </a:ext>
                </a:extLst>
              </p:cNvPr>
              <p:cNvSpPr/>
              <p:nvPr/>
            </p:nvSpPr>
            <p:spPr>
              <a:xfrm rot="19318800">
                <a:off x="10452959"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197" name="Flèche : droite 196">
                <a:extLst>
                  <a:ext uri="{FF2B5EF4-FFF2-40B4-BE49-F238E27FC236}">
                    <a16:creationId xmlns:a16="http://schemas.microsoft.com/office/drawing/2014/main" id="{4F7EFD61-D648-8DEC-D796-F30E58CACE73}"/>
                  </a:ext>
                </a:extLst>
              </p:cNvPr>
              <p:cNvSpPr/>
              <p:nvPr/>
            </p:nvSpPr>
            <p:spPr>
              <a:xfrm rot="2412443">
                <a:off x="9514335" y="192072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grpSp>
      </p:grpSp>
      <p:grpSp>
        <p:nvGrpSpPr>
          <p:cNvPr id="198" name="Groupe 197">
            <a:extLst>
              <a:ext uri="{FF2B5EF4-FFF2-40B4-BE49-F238E27FC236}">
                <a16:creationId xmlns:a16="http://schemas.microsoft.com/office/drawing/2014/main" id="{79E6E8FB-90C7-44EC-24D0-3D28458CDF13}"/>
              </a:ext>
            </a:extLst>
          </p:cNvPr>
          <p:cNvGrpSpPr/>
          <p:nvPr/>
        </p:nvGrpSpPr>
        <p:grpSpPr>
          <a:xfrm>
            <a:off x="6741978" y="1803477"/>
            <a:ext cx="771376" cy="903213"/>
            <a:chOff x="6450988" y="4963473"/>
            <a:chExt cx="1188000" cy="1391043"/>
          </a:xfrm>
        </p:grpSpPr>
        <p:sp>
          <p:nvSpPr>
            <p:cNvPr id="199" name="Rectangle 198">
              <a:extLst>
                <a:ext uri="{FF2B5EF4-FFF2-40B4-BE49-F238E27FC236}">
                  <a16:creationId xmlns:a16="http://schemas.microsoft.com/office/drawing/2014/main" id="{AF2A66C5-A933-8D68-68FA-1617C6C8E928}"/>
                </a:ext>
              </a:extLst>
            </p:cNvPr>
            <p:cNvSpPr/>
            <p:nvPr/>
          </p:nvSpPr>
          <p:spPr>
            <a:xfrm>
              <a:off x="6450988" y="5698766"/>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 </a:t>
              </a:r>
            </a:p>
            <a:p>
              <a:pPr algn="ctr"/>
              <a:r>
                <a:rPr lang="fr-FR" sz="700" dirty="0">
                  <a:solidFill>
                    <a:schemeClr val="bg1"/>
                  </a:solidFill>
                </a:rPr>
                <a:t>Management Transverse</a:t>
              </a:r>
            </a:p>
          </p:txBody>
        </p:sp>
        <p:grpSp>
          <p:nvGrpSpPr>
            <p:cNvPr id="200" name="Groupe 199">
              <a:extLst>
                <a:ext uri="{FF2B5EF4-FFF2-40B4-BE49-F238E27FC236}">
                  <a16:creationId xmlns:a16="http://schemas.microsoft.com/office/drawing/2014/main" id="{EF7C6CEA-D09C-73C2-B07F-9D4008CCCEDA}"/>
                </a:ext>
              </a:extLst>
            </p:cNvPr>
            <p:cNvGrpSpPr/>
            <p:nvPr/>
          </p:nvGrpSpPr>
          <p:grpSpPr>
            <a:xfrm>
              <a:off x="6677241" y="4963473"/>
              <a:ext cx="730189" cy="610409"/>
              <a:chOff x="1734369" y="510800"/>
              <a:chExt cx="2873060" cy="2423359"/>
            </a:xfrm>
          </p:grpSpPr>
          <p:pic>
            <p:nvPicPr>
              <p:cNvPr id="201" name="Graphique 200" descr="Avertissement avec un remplissage uni">
                <a:extLst>
                  <a:ext uri="{FF2B5EF4-FFF2-40B4-BE49-F238E27FC236}">
                    <a16:creationId xmlns:a16="http://schemas.microsoft.com/office/drawing/2014/main" id="{B664D16D-C365-1F75-F1AC-056BE7738205}"/>
                  </a:ext>
                </a:extLst>
              </p:cNvPr>
              <p:cNvPicPr>
                <a:picLocks noChangeAspect="1"/>
              </p:cNvPicPr>
              <p:nvPr/>
            </p:nvPicPr>
            <p:blipFill>
              <a:blip r:embed="rId82">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1734369" y="1978134"/>
                <a:ext cx="914400" cy="914400"/>
              </a:xfrm>
              <a:prstGeom prst="rect">
                <a:avLst/>
              </a:prstGeom>
            </p:spPr>
          </p:pic>
          <p:pic>
            <p:nvPicPr>
              <p:cNvPr id="202" name="Graphique 201" descr="Chat avec un remplissage uni">
                <a:extLst>
                  <a:ext uri="{FF2B5EF4-FFF2-40B4-BE49-F238E27FC236}">
                    <a16:creationId xmlns:a16="http://schemas.microsoft.com/office/drawing/2014/main" id="{5F3D6C0A-E881-9BE5-C515-DE663565414F}"/>
                  </a:ext>
                </a:extLst>
              </p:cNvPr>
              <p:cNvPicPr>
                <a:picLocks noChangeAspect="1"/>
              </p:cNvPicPr>
              <p:nvPr/>
            </p:nvPicPr>
            <p:blipFill>
              <a:blip r:embed="rId84">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2713699" y="1562559"/>
                <a:ext cx="914400" cy="914400"/>
              </a:xfrm>
              <a:prstGeom prst="rect">
                <a:avLst/>
              </a:prstGeom>
            </p:spPr>
          </p:pic>
          <p:pic>
            <p:nvPicPr>
              <p:cNvPr id="203" name="Graphique 202" descr="Liste de contrôle avec un remplissage uni">
                <a:extLst>
                  <a:ext uri="{FF2B5EF4-FFF2-40B4-BE49-F238E27FC236}">
                    <a16:creationId xmlns:a16="http://schemas.microsoft.com/office/drawing/2014/main" id="{341BD328-0F5F-B509-5DB7-DBEFC7D37EF6}"/>
                  </a:ext>
                </a:extLst>
              </p:cNvPr>
              <p:cNvPicPr>
                <a:picLocks noChangeAspect="1"/>
              </p:cNvPicPr>
              <p:nvPr/>
            </p:nvPicPr>
            <p:blipFill>
              <a:blip r:embed="rId86">
                <a:extLst>
                  <a:ext uri="{28A0092B-C50C-407E-A947-70E740481C1C}">
                    <a14:useLocalDpi xmlns:a14="http://schemas.microsoft.com/office/drawing/2010/main" val="0"/>
                  </a:ext>
                  <a:ext uri="{96DAC541-7B7A-43D3-8B79-37D633B846F1}">
                    <asvg:svgBlip xmlns:asvg="http://schemas.microsoft.com/office/drawing/2016/SVG/main" r:embed="rId87"/>
                  </a:ext>
                </a:extLst>
              </a:blip>
              <a:stretch>
                <a:fillRect/>
              </a:stretch>
            </p:blipFill>
            <p:spPr>
              <a:xfrm>
                <a:off x="3693029" y="2019759"/>
                <a:ext cx="914400" cy="914400"/>
              </a:xfrm>
              <a:prstGeom prst="rect">
                <a:avLst/>
              </a:prstGeom>
            </p:spPr>
          </p:pic>
          <p:pic>
            <p:nvPicPr>
              <p:cNvPr id="204" name="Graphique 203" descr="Synchronisation avec le cloud avec un remplissage uni">
                <a:extLst>
                  <a:ext uri="{FF2B5EF4-FFF2-40B4-BE49-F238E27FC236}">
                    <a16:creationId xmlns:a16="http://schemas.microsoft.com/office/drawing/2014/main" id="{95C5C276-2141-E346-0F28-7C8228BC0C85}"/>
                  </a:ext>
                </a:extLst>
              </p:cNvPr>
              <p:cNvPicPr>
                <a:picLocks noChangeAspect="1"/>
              </p:cNvPicPr>
              <p:nvPr/>
            </p:nvPicPr>
            <p:blipFill>
              <a:blip r:embed="rId88">
                <a:extLst>
                  <a:ext uri="{28A0092B-C50C-407E-A947-70E740481C1C}">
                    <a14:useLocalDpi xmlns:a14="http://schemas.microsoft.com/office/drawing/2010/main" val="0"/>
                  </a:ext>
                  <a:ext uri="{96DAC541-7B7A-43D3-8B79-37D633B846F1}">
                    <asvg:svgBlip xmlns:asvg="http://schemas.microsoft.com/office/drawing/2016/SVG/main" r:embed="rId89"/>
                  </a:ext>
                </a:extLst>
              </a:blip>
              <a:stretch>
                <a:fillRect/>
              </a:stretch>
            </p:blipFill>
            <p:spPr>
              <a:xfrm>
                <a:off x="2778630" y="510800"/>
                <a:ext cx="914400" cy="914400"/>
              </a:xfrm>
              <a:prstGeom prst="rect">
                <a:avLst/>
              </a:prstGeom>
            </p:spPr>
          </p:pic>
        </p:grpSp>
      </p:grpSp>
      <p:grpSp>
        <p:nvGrpSpPr>
          <p:cNvPr id="205" name="Groupe 204">
            <a:extLst>
              <a:ext uri="{FF2B5EF4-FFF2-40B4-BE49-F238E27FC236}">
                <a16:creationId xmlns:a16="http://schemas.microsoft.com/office/drawing/2014/main" id="{FAE6B7B6-0504-1B28-019D-71BFA645C53A}"/>
              </a:ext>
            </a:extLst>
          </p:cNvPr>
          <p:cNvGrpSpPr/>
          <p:nvPr/>
        </p:nvGrpSpPr>
        <p:grpSpPr>
          <a:xfrm>
            <a:off x="7612715" y="1662677"/>
            <a:ext cx="771375" cy="1044012"/>
            <a:chOff x="8188500" y="4755609"/>
            <a:chExt cx="1188000" cy="1607891"/>
          </a:xfrm>
        </p:grpSpPr>
        <p:sp>
          <p:nvSpPr>
            <p:cNvPr id="206" name="Rectangle 205">
              <a:extLst>
                <a:ext uri="{FF2B5EF4-FFF2-40B4-BE49-F238E27FC236}">
                  <a16:creationId xmlns:a16="http://schemas.microsoft.com/office/drawing/2014/main" id="{0177AB0E-1A9C-A6A0-2FCB-CEF840A7C3C9}"/>
                </a:ext>
              </a:extLst>
            </p:cNvPr>
            <p:cNvSpPr/>
            <p:nvPr/>
          </p:nvSpPr>
          <p:spPr>
            <a:xfrm>
              <a:off x="8188500" y="570775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 </a:t>
              </a:r>
            </a:p>
            <a:p>
              <a:pPr algn="ctr"/>
              <a:r>
                <a:rPr lang="fr-FR" sz="700" dirty="0">
                  <a:solidFill>
                    <a:schemeClr val="bg1"/>
                  </a:solidFill>
                </a:rPr>
                <a:t>Innovation</a:t>
              </a:r>
            </a:p>
          </p:txBody>
        </p:sp>
        <p:grpSp>
          <p:nvGrpSpPr>
            <p:cNvPr id="207" name="Groupe 206">
              <a:extLst>
                <a:ext uri="{FF2B5EF4-FFF2-40B4-BE49-F238E27FC236}">
                  <a16:creationId xmlns:a16="http://schemas.microsoft.com/office/drawing/2014/main" id="{5120AA51-17FD-C3FC-63E4-2C4A4FC78D60}"/>
                </a:ext>
              </a:extLst>
            </p:cNvPr>
            <p:cNvGrpSpPr/>
            <p:nvPr/>
          </p:nvGrpSpPr>
          <p:grpSpPr>
            <a:xfrm>
              <a:off x="8302488" y="4755609"/>
              <a:ext cx="985193" cy="908867"/>
              <a:chOff x="1770451" y="635328"/>
              <a:chExt cx="2847387" cy="2660604"/>
            </a:xfrm>
          </p:grpSpPr>
          <p:sp>
            <p:nvSpPr>
              <p:cNvPr id="208" name="Ellipse 207">
                <a:extLst>
                  <a:ext uri="{FF2B5EF4-FFF2-40B4-BE49-F238E27FC236}">
                    <a16:creationId xmlns:a16="http://schemas.microsoft.com/office/drawing/2014/main" id="{0FB19C39-DF95-E9E9-1BF8-05F6C60A8925}"/>
                  </a:ext>
                </a:extLst>
              </p:cNvPr>
              <p:cNvSpPr/>
              <p:nvPr/>
            </p:nvSpPr>
            <p:spPr>
              <a:xfrm>
                <a:off x="2285862" y="956143"/>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pic>
            <p:nvPicPr>
              <p:cNvPr id="209" name="Graphique 208" descr="Lunettes 3D avec un remplissage uni">
                <a:extLst>
                  <a:ext uri="{FF2B5EF4-FFF2-40B4-BE49-F238E27FC236}">
                    <a16:creationId xmlns:a16="http://schemas.microsoft.com/office/drawing/2014/main" id="{A3E2E1DB-C621-0F35-60FC-DB803AD37DA9}"/>
                  </a:ext>
                </a:extLst>
              </p:cNvPr>
              <p:cNvPicPr>
                <a:picLocks noChangeAspect="1"/>
              </p:cNvPicPr>
              <p:nvPr/>
            </p:nvPicPr>
            <p:blipFill>
              <a:blip r:embed="rId90">
                <a:extLst>
                  <a:ext uri="{28A0092B-C50C-407E-A947-70E740481C1C}">
                    <a14:useLocalDpi xmlns:a14="http://schemas.microsoft.com/office/drawing/2010/main" val="0"/>
                  </a:ext>
                  <a:ext uri="{96DAC541-7B7A-43D3-8B79-37D633B846F1}">
                    <asvg:svgBlip xmlns:asvg="http://schemas.microsoft.com/office/drawing/2016/SVG/main" r:embed="rId91"/>
                  </a:ext>
                </a:extLst>
              </a:blip>
              <a:stretch>
                <a:fillRect/>
              </a:stretch>
            </p:blipFill>
            <p:spPr>
              <a:xfrm>
                <a:off x="2339651" y="643202"/>
                <a:ext cx="914400" cy="914400"/>
              </a:xfrm>
              <a:prstGeom prst="rect">
                <a:avLst/>
              </a:prstGeom>
            </p:spPr>
          </p:pic>
          <p:pic>
            <p:nvPicPr>
              <p:cNvPr id="210" name="Graphique 209" descr="Mannequin test avec un remplissage uni">
                <a:extLst>
                  <a:ext uri="{FF2B5EF4-FFF2-40B4-BE49-F238E27FC236}">
                    <a16:creationId xmlns:a16="http://schemas.microsoft.com/office/drawing/2014/main" id="{4B78916A-EDC6-AA59-03D8-21C6DDDEDB7E}"/>
                  </a:ext>
                </a:extLst>
              </p:cNvPr>
              <p:cNvPicPr>
                <a:picLocks noChangeAspect="1"/>
              </p:cNvPicPr>
              <p:nvPr/>
            </p:nvPicPr>
            <p:blipFill>
              <a:blip r:embed="rId92">
                <a:extLst>
                  <a:ext uri="{28A0092B-C50C-407E-A947-70E740481C1C}">
                    <a14:useLocalDpi xmlns:a14="http://schemas.microsoft.com/office/drawing/2010/main" val="0"/>
                  </a:ext>
                  <a:ext uri="{96DAC541-7B7A-43D3-8B79-37D633B846F1}">
                    <asvg:svgBlip xmlns:asvg="http://schemas.microsoft.com/office/drawing/2016/SVG/main" r:embed="rId93"/>
                  </a:ext>
                </a:extLst>
              </a:blip>
              <a:stretch>
                <a:fillRect/>
              </a:stretch>
            </p:blipFill>
            <p:spPr>
              <a:xfrm>
                <a:off x="2825957" y="2381532"/>
                <a:ext cx="914400" cy="914400"/>
              </a:xfrm>
              <a:prstGeom prst="rect">
                <a:avLst/>
              </a:prstGeom>
            </p:spPr>
          </p:pic>
          <p:pic>
            <p:nvPicPr>
              <p:cNvPr id="211" name="Graphique 210" descr="Homme scientifique avec un remplissage uni">
                <a:extLst>
                  <a:ext uri="{FF2B5EF4-FFF2-40B4-BE49-F238E27FC236}">
                    <a16:creationId xmlns:a16="http://schemas.microsoft.com/office/drawing/2014/main" id="{E69F89A5-B891-393D-0E30-2AE6EF61D306}"/>
                  </a:ext>
                </a:extLst>
              </p:cNvPr>
              <p:cNvPicPr>
                <a:picLocks noChangeAspect="1"/>
              </p:cNvPicPr>
              <p:nvPr/>
            </p:nvPicPr>
            <p:blipFill>
              <a:blip r:embed="rId94">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3612503" y="635328"/>
                <a:ext cx="914400" cy="914400"/>
              </a:xfrm>
              <a:prstGeom prst="rect">
                <a:avLst/>
              </a:prstGeom>
            </p:spPr>
          </p:pic>
          <p:pic>
            <p:nvPicPr>
              <p:cNvPr id="212" name="Graphique 211" descr="Presse-papiers mixte avec un remplissage uni">
                <a:extLst>
                  <a:ext uri="{FF2B5EF4-FFF2-40B4-BE49-F238E27FC236}">
                    <a16:creationId xmlns:a16="http://schemas.microsoft.com/office/drawing/2014/main" id="{E19574E5-ACB2-4330-F604-1124E78404EC}"/>
                  </a:ext>
                </a:extLst>
              </p:cNvPr>
              <p:cNvPicPr>
                <a:picLocks noChangeAspect="1"/>
              </p:cNvPicPr>
              <p:nvPr/>
            </p:nvPicPr>
            <p:blipFill>
              <a:blip r:embed="rId96">
                <a:extLst>
                  <a:ext uri="{28A0092B-C50C-407E-A947-70E740481C1C}">
                    <a14:useLocalDpi xmlns:a14="http://schemas.microsoft.com/office/drawing/2010/main" val="0"/>
                  </a:ext>
                  <a:ext uri="{96DAC541-7B7A-43D3-8B79-37D633B846F1}">
                    <asvg:svgBlip xmlns:asvg="http://schemas.microsoft.com/office/drawing/2016/SVG/main" r:embed="rId97"/>
                  </a:ext>
                </a:extLst>
              </a:blip>
              <a:stretch>
                <a:fillRect/>
              </a:stretch>
            </p:blipFill>
            <p:spPr>
              <a:xfrm>
                <a:off x="3703438" y="1819176"/>
                <a:ext cx="914400" cy="914400"/>
              </a:xfrm>
              <a:prstGeom prst="rect">
                <a:avLst/>
              </a:prstGeom>
            </p:spPr>
          </p:pic>
          <p:pic>
            <p:nvPicPr>
              <p:cNvPr id="213" name="Graphique 212" descr="Brainstorming de groupe avec un remplissage uni">
                <a:extLst>
                  <a:ext uri="{FF2B5EF4-FFF2-40B4-BE49-F238E27FC236}">
                    <a16:creationId xmlns:a16="http://schemas.microsoft.com/office/drawing/2014/main" id="{E2A459B8-DD1A-DD11-BF7A-DAAD67D29C2B}"/>
                  </a:ext>
                </a:extLst>
              </p:cNvPr>
              <p:cNvPicPr>
                <a:picLocks noChangeAspect="1"/>
              </p:cNvPicPr>
              <p:nvPr/>
            </p:nvPicPr>
            <p:blipFill>
              <a:blip r:embed="rId98">
                <a:extLst>
                  <a:ext uri="{28A0092B-C50C-407E-A947-70E740481C1C}">
                    <a14:useLocalDpi xmlns:a14="http://schemas.microsoft.com/office/drawing/2010/main" val="0"/>
                  </a:ext>
                  <a:ext uri="{96DAC541-7B7A-43D3-8B79-37D633B846F1}">
                    <asvg:svgBlip xmlns:asvg="http://schemas.microsoft.com/office/drawing/2016/SVG/main" r:embed="rId99"/>
                  </a:ext>
                </a:extLst>
              </a:blip>
              <a:stretch>
                <a:fillRect/>
              </a:stretch>
            </p:blipFill>
            <p:spPr>
              <a:xfrm>
                <a:off x="1770451" y="1557602"/>
                <a:ext cx="914400" cy="914400"/>
              </a:xfrm>
              <a:prstGeom prst="rect">
                <a:avLst/>
              </a:prstGeom>
            </p:spPr>
          </p:pic>
        </p:grpSp>
      </p:grpSp>
      <p:grpSp>
        <p:nvGrpSpPr>
          <p:cNvPr id="214" name="Groupe 213">
            <a:extLst>
              <a:ext uri="{FF2B5EF4-FFF2-40B4-BE49-F238E27FC236}">
                <a16:creationId xmlns:a16="http://schemas.microsoft.com/office/drawing/2014/main" id="{3A25D057-12C1-C061-D8CF-1291FCE39244}"/>
              </a:ext>
            </a:extLst>
          </p:cNvPr>
          <p:cNvGrpSpPr/>
          <p:nvPr/>
        </p:nvGrpSpPr>
        <p:grpSpPr>
          <a:xfrm>
            <a:off x="10281975" y="1707219"/>
            <a:ext cx="828430" cy="995973"/>
            <a:chOff x="9927646" y="3089935"/>
            <a:chExt cx="1188000" cy="1428262"/>
          </a:xfrm>
        </p:grpSpPr>
        <p:sp>
          <p:nvSpPr>
            <p:cNvPr id="215" name="Rectangle 214">
              <a:extLst>
                <a:ext uri="{FF2B5EF4-FFF2-40B4-BE49-F238E27FC236}">
                  <a16:creationId xmlns:a16="http://schemas.microsoft.com/office/drawing/2014/main" id="{52B6D9F9-97C3-1FD2-7797-DABA0215BAF4}"/>
                </a:ext>
              </a:extLst>
            </p:cNvPr>
            <p:cNvSpPr/>
            <p:nvPr/>
          </p:nvSpPr>
          <p:spPr>
            <a:xfrm>
              <a:off x="9927646" y="3907611"/>
              <a:ext cx="1188000" cy="6105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Vente</a:t>
              </a:r>
            </a:p>
            <a:p>
              <a:pPr algn="ctr"/>
              <a:r>
                <a:rPr lang="fr-FR" sz="700" dirty="0">
                  <a:solidFill>
                    <a:schemeClr val="bg1"/>
                  </a:solidFill>
                </a:rPr>
                <a:t>Communication externe</a:t>
              </a:r>
            </a:p>
          </p:txBody>
        </p:sp>
        <p:grpSp>
          <p:nvGrpSpPr>
            <p:cNvPr id="216" name="Groupe 215">
              <a:extLst>
                <a:ext uri="{FF2B5EF4-FFF2-40B4-BE49-F238E27FC236}">
                  <a16:creationId xmlns:a16="http://schemas.microsoft.com/office/drawing/2014/main" id="{13F93972-BECE-E712-CCE6-97AAA941B629}"/>
                </a:ext>
              </a:extLst>
            </p:cNvPr>
            <p:cNvGrpSpPr/>
            <p:nvPr/>
          </p:nvGrpSpPr>
          <p:grpSpPr>
            <a:xfrm>
              <a:off x="10028058" y="3089935"/>
              <a:ext cx="999718" cy="764069"/>
              <a:chOff x="7993201" y="3990786"/>
              <a:chExt cx="3083654" cy="2356787"/>
            </a:xfrm>
          </p:grpSpPr>
          <p:pic>
            <p:nvPicPr>
              <p:cNvPr id="217" name="Graphique 216" descr="Podcasting avec un remplissage uni">
                <a:extLst>
                  <a:ext uri="{FF2B5EF4-FFF2-40B4-BE49-F238E27FC236}">
                    <a16:creationId xmlns:a16="http://schemas.microsoft.com/office/drawing/2014/main" id="{BAFDC2DB-626F-96FC-F434-9A0C6A9079F1}"/>
                  </a:ext>
                </a:extLst>
              </p:cNvPr>
              <p:cNvPicPr>
                <a:picLocks noChangeAspect="1"/>
              </p:cNvPicPr>
              <p:nvPr/>
            </p:nvPicPr>
            <p:blipFill>
              <a:blip r:embed="rId100">
                <a:extLst>
                  <a:ext uri="{28A0092B-C50C-407E-A947-70E740481C1C}">
                    <a14:useLocalDpi xmlns:a14="http://schemas.microsoft.com/office/drawing/2010/main" val="0"/>
                  </a:ext>
                  <a:ext uri="{96DAC541-7B7A-43D3-8B79-37D633B846F1}">
                    <asvg:svgBlip xmlns:asvg="http://schemas.microsoft.com/office/drawing/2016/SVG/main" r:embed="rId101"/>
                  </a:ext>
                </a:extLst>
              </a:blip>
              <a:stretch>
                <a:fillRect/>
              </a:stretch>
            </p:blipFill>
            <p:spPr>
              <a:xfrm>
                <a:off x="7993201" y="3990786"/>
                <a:ext cx="914400" cy="914400"/>
              </a:xfrm>
              <a:prstGeom prst="rect">
                <a:avLst/>
              </a:prstGeom>
            </p:spPr>
          </p:pic>
          <p:pic>
            <p:nvPicPr>
              <p:cNvPr id="218" name="Graphique 217" descr="Vlog avec un remplissage uni">
                <a:extLst>
                  <a:ext uri="{FF2B5EF4-FFF2-40B4-BE49-F238E27FC236}">
                    <a16:creationId xmlns:a16="http://schemas.microsoft.com/office/drawing/2014/main" id="{5ED2FB1D-6F95-61AE-3424-91B7B1666798}"/>
                  </a:ext>
                </a:extLst>
              </p:cNvPr>
              <p:cNvPicPr>
                <a:picLocks noChangeAspect="1"/>
              </p:cNvPicPr>
              <p:nvPr/>
            </p:nvPicPr>
            <p:blipFill>
              <a:blip r:embed="rId102">
                <a:extLst>
                  <a:ext uri="{28A0092B-C50C-407E-A947-70E740481C1C}">
                    <a14:useLocalDpi xmlns:a14="http://schemas.microsoft.com/office/drawing/2010/main" val="0"/>
                  </a:ext>
                  <a:ext uri="{96DAC541-7B7A-43D3-8B79-37D633B846F1}">
                    <asvg:svgBlip xmlns:asvg="http://schemas.microsoft.com/office/drawing/2016/SVG/main" r:embed="rId103"/>
                  </a:ext>
                </a:extLst>
              </a:blip>
              <a:stretch>
                <a:fillRect/>
              </a:stretch>
            </p:blipFill>
            <p:spPr>
              <a:xfrm>
                <a:off x="8000671" y="5433173"/>
                <a:ext cx="914400" cy="914400"/>
              </a:xfrm>
              <a:prstGeom prst="rect">
                <a:avLst/>
              </a:prstGeom>
            </p:spPr>
          </p:pic>
          <p:pic>
            <p:nvPicPr>
              <p:cNvPr id="219" name="Graphique 218" descr="Journal avec un remplissage uni">
                <a:extLst>
                  <a:ext uri="{FF2B5EF4-FFF2-40B4-BE49-F238E27FC236}">
                    <a16:creationId xmlns:a16="http://schemas.microsoft.com/office/drawing/2014/main" id="{FDCCF0A8-EA10-64D1-B210-23DBAE84950A}"/>
                  </a:ext>
                </a:extLst>
              </p:cNvPr>
              <p:cNvPicPr>
                <a:picLocks noChangeAspect="1"/>
              </p:cNvPicPr>
              <p:nvPr/>
            </p:nvPicPr>
            <p:blipFill>
              <a:blip r:embed="rId104">
                <a:extLst>
                  <a:ext uri="{28A0092B-C50C-407E-A947-70E740481C1C}">
                    <a14:useLocalDpi xmlns:a14="http://schemas.microsoft.com/office/drawing/2010/main" val="0"/>
                  </a:ext>
                  <a:ext uri="{96DAC541-7B7A-43D3-8B79-37D633B846F1}">
                    <asvg:svgBlip xmlns:asvg="http://schemas.microsoft.com/office/drawing/2016/SVG/main" r:embed="rId105"/>
                  </a:ext>
                </a:extLst>
              </a:blip>
              <a:stretch>
                <a:fillRect/>
              </a:stretch>
            </p:blipFill>
            <p:spPr>
              <a:xfrm>
                <a:off x="10162455" y="4013608"/>
                <a:ext cx="914400" cy="914400"/>
              </a:xfrm>
              <a:prstGeom prst="rect">
                <a:avLst/>
              </a:prstGeom>
            </p:spPr>
          </p:pic>
          <p:pic>
            <p:nvPicPr>
              <p:cNvPr id="220" name="Graphique 219" descr="Réseau en ligne avec un remplissage uni">
                <a:extLst>
                  <a:ext uri="{FF2B5EF4-FFF2-40B4-BE49-F238E27FC236}">
                    <a16:creationId xmlns:a16="http://schemas.microsoft.com/office/drawing/2014/main" id="{82DDF2C0-0D24-2519-24B6-169D5E8A917B}"/>
                  </a:ext>
                </a:extLst>
              </p:cNvPr>
              <p:cNvPicPr>
                <a:picLocks noChangeAspect="1"/>
              </p:cNvPicPr>
              <p:nvPr/>
            </p:nvPicPr>
            <p:blipFill>
              <a:blip r:embed="rId106">
                <a:extLst>
                  <a:ext uri="{28A0092B-C50C-407E-A947-70E740481C1C}">
                    <a14:useLocalDpi xmlns:a14="http://schemas.microsoft.com/office/drawing/2010/main" val="0"/>
                  </a:ext>
                  <a:ext uri="{96DAC541-7B7A-43D3-8B79-37D633B846F1}">
                    <asvg:svgBlip xmlns:asvg="http://schemas.microsoft.com/office/drawing/2016/SVG/main" r:embed="rId107"/>
                  </a:ext>
                </a:extLst>
              </a:blip>
              <a:stretch>
                <a:fillRect/>
              </a:stretch>
            </p:blipFill>
            <p:spPr>
              <a:xfrm>
                <a:off x="10066135" y="5341229"/>
                <a:ext cx="914400" cy="914400"/>
              </a:xfrm>
              <a:prstGeom prst="rect">
                <a:avLst/>
              </a:prstGeom>
            </p:spPr>
          </p:pic>
          <p:grpSp>
            <p:nvGrpSpPr>
              <p:cNvPr id="221" name="Groupe 220">
                <a:extLst>
                  <a:ext uri="{FF2B5EF4-FFF2-40B4-BE49-F238E27FC236}">
                    <a16:creationId xmlns:a16="http://schemas.microsoft.com/office/drawing/2014/main" id="{8257CDBB-7961-A6D2-DB13-14848C8F2679}"/>
                  </a:ext>
                </a:extLst>
              </p:cNvPr>
              <p:cNvGrpSpPr/>
              <p:nvPr/>
            </p:nvGrpSpPr>
            <p:grpSpPr>
              <a:xfrm>
                <a:off x="8632968" y="4529072"/>
                <a:ext cx="1791083" cy="1287429"/>
                <a:chOff x="8274918" y="4478329"/>
                <a:chExt cx="1791083" cy="1287429"/>
              </a:xfrm>
            </p:grpSpPr>
            <p:pic>
              <p:nvPicPr>
                <p:cNvPr id="222" name="Graphique 221" descr="Bâtiment avec un remplissage uni">
                  <a:extLst>
                    <a:ext uri="{FF2B5EF4-FFF2-40B4-BE49-F238E27FC236}">
                      <a16:creationId xmlns:a16="http://schemas.microsoft.com/office/drawing/2014/main" id="{C2AD4763-8DEC-2C5A-0943-A2D114460EFF}"/>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8725807" y="4753283"/>
                  <a:ext cx="914400" cy="914400"/>
                </a:xfrm>
                <a:prstGeom prst="rect">
                  <a:avLst/>
                </a:prstGeom>
              </p:spPr>
            </p:pic>
            <p:sp>
              <p:nvSpPr>
                <p:cNvPr id="223" name="Flèche : droite 222">
                  <a:extLst>
                    <a:ext uri="{FF2B5EF4-FFF2-40B4-BE49-F238E27FC236}">
                      <a16:creationId xmlns:a16="http://schemas.microsoft.com/office/drawing/2014/main" id="{3395CCAF-E04C-6121-A90E-21F9F2B12925}"/>
                    </a:ext>
                  </a:extLst>
                </p:cNvPr>
                <p:cNvSpPr/>
                <p:nvPr/>
              </p:nvSpPr>
              <p:spPr>
                <a:xfrm rot="19318800">
                  <a:off x="9688254" y="447832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224" name="Flèche : droite 223">
                  <a:extLst>
                    <a:ext uri="{FF2B5EF4-FFF2-40B4-BE49-F238E27FC236}">
                      <a16:creationId xmlns:a16="http://schemas.microsoft.com/office/drawing/2014/main" id="{3E3BDD95-09A2-C025-F2D3-B8D673C1A039}"/>
                    </a:ext>
                  </a:extLst>
                </p:cNvPr>
                <p:cNvSpPr/>
                <p:nvPr/>
              </p:nvSpPr>
              <p:spPr>
                <a:xfrm rot="2412443">
                  <a:off x="9689689" y="536291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225" name="Flèche : droite 224">
                  <a:extLst>
                    <a:ext uri="{FF2B5EF4-FFF2-40B4-BE49-F238E27FC236}">
                      <a16:creationId xmlns:a16="http://schemas.microsoft.com/office/drawing/2014/main" id="{6379AE48-0F31-E879-48A4-AE6EC2402B5F}"/>
                    </a:ext>
                  </a:extLst>
                </p:cNvPr>
                <p:cNvSpPr/>
                <p:nvPr/>
              </p:nvSpPr>
              <p:spPr>
                <a:xfrm rot="8279483">
                  <a:off x="8287182" y="5362622"/>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226" name="Flèche : droite 225">
                  <a:extLst>
                    <a:ext uri="{FF2B5EF4-FFF2-40B4-BE49-F238E27FC236}">
                      <a16:creationId xmlns:a16="http://schemas.microsoft.com/office/drawing/2014/main" id="{064EF65D-10B2-9B4F-8E2E-80E130305A3F}"/>
                    </a:ext>
                  </a:extLst>
                </p:cNvPr>
                <p:cNvSpPr/>
                <p:nvPr/>
              </p:nvSpPr>
              <p:spPr>
                <a:xfrm rot="13573193">
                  <a:off x="8288184" y="447896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grpSp>
        </p:grpSp>
      </p:grpSp>
      <p:grpSp>
        <p:nvGrpSpPr>
          <p:cNvPr id="227" name="Groupe 226">
            <a:extLst>
              <a:ext uri="{FF2B5EF4-FFF2-40B4-BE49-F238E27FC236}">
                <a16:creationId xmlns:a16="http://schemas.microsoft.com/office/drawing/2014/main" id="{84700C45-529C-B1F6-BDD4-ACAC76649685}"/>
              </a:ext>
            </a:extLst>
          </p:cNvPr>
          <p:cNvGrpSpPr/>
          <p:nvPr/>
        </p:nvGrpSpPr>
        <p:grpSpPr>
          <a:xfrm>
            <a:off x="9354185" y="1894857"/>
            <a:ext cx="828429" cy="808950"/>
            <a:chOff x="8224358" y="3342553"/>
            <a:chExt cx="1188000" cy="1160065"/>
          </a:xfrm>
        </p:grpSpPr>
        <p:sp>
          <p:nvSpPr>
            <p:cNvPr id="228" name="Rectangle 227">
              <a:extLst>
                <a:ext uri="{FF2B5EF4-FFF2-40B4-BE49-F238E27FC236}">
                  <a16:creationId xmlns:a16="http://schemas.microsoft.com/office/drawing/2014/main" id="{D670EDF1-97CD-4FC9-D515-6FF091D0785C}"/>
                </a:ext>
              </a:extLst>
            </p:cNvPr>
            <p:cNvSpPr/>
            <p:nvPr/>
          </p:nvSpPr>
          <p:spPr>
            <a:xfrm>
              <a:off x="8224358" y="3891151"/>
              <a:ext cx="1188000" cy="6114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Vente</a:t>
              </a:r>
            </a:p>
            <a:p>
              <a:pPr algn="ctr"/>
              <a:r>
                <a:rPr lang="fr-FR" sz="700" dirty="0">
                  <a:solidFill>
                    <a:schemeClr val="bg1"/>
                  </a:solidFill>
                </a:rPr>
                <a:t>Développement commercial</a:t>
              </a:r>
            </a:p>
          </p:txBody>
        </p:sp>
        <p:grpSp>
          <p:nvGrpSpPr>
            <p:cNvPr id="229" name="Groupe 228">
              <a:extLst>
                <a:ext uri="{FF2B5EF4-FFF2-40B4-BE49-F238E27FC236}">
                  <a16:creationId xmlns:a16="http://schemas.microsoft.com/office/drawing/2014/main" id="{3A75637E-B87A-3B06-7FB3-28BE4FBCC1F5}"/>
                </a:ext>
              </a:extLst>
            </p:cNvPr>
            <p:cNvGrpSpPr/>
            <p:nvPr/>
          </p:nvGrpSpPr>
          <p:grpSpPr>
            <a:xfrm>
              <a:off x="8256771" y="3342553"/>
              <a:ext cx="1126180" cy="424682"/>
              <a:chOff x="1677224" y="4399902"/>
              <a:chExt cx="3984628" cy="1541940"/>
            </a:xfrm>
          </p:grpSpPr>
          <p:pic>
            <p:nvPicPr>
              <p:cNvPr id="230" name="Graphique 229" descr="Poignée de main avec un remplissage uni">
                <a:extLst>
                  <a:ext uri="{FF2B5EF4-FFF2-40B4-BE49-F238E27FC236}">
                    <a16:creationId xmlns:a16="http://schemas.microsoft.com/office/drawing/2014/main" id="{AC9F2D2F-F79E-91D8-A5AA-0F564AF638EC}"/>
                  </a:ext>
                </a:extLst>
              </p:cNvPr>
              <p:cNvPicPr>
                <a:picLocks noChangeAspect="1"/>
              </p:cNvPicPr>
              <p:nvPr/>
            </p:nvPicPr>
            <p:blipFill>
              <a:blip r:embed="rId108">
                <a:extLst>
                  <a:ext uri="{28A0092B-C50C-407E-A947-70E740481C1C}">
                    <a14:useLocalDpi xmlns:a14="http://schemas.microsoft.com/office/drawing/2010/main" val="0"/>
                  </a:ext>
                  <a:ext uri="{96DAC541-7B7A-43D3-8B79-37D633B846F1}">
                    <asvg:svgBlip xmlns:asvg="http://schemas.microsoft.com/office/drawing/2016/SVG/main" r:embed="rId109"/>
                  </a:ext>
                </a:extLst>
              </a:blip>
              <a:stretch>
                <a:fillRect/>
              </a:stretch>
            </p:blipFill>
            <p:spPr>
              <a:xfrm>
                <a:off x="1677224" y="4473520"/>
                <a:ext cx="1394705" cy="1394705"/>
              </a:xfrm>
              <a:prstGeom prst="rect">
                <a:avLst/>
              </a:prstGeom>
            </p:spPr>
          </p:pic>
          <p:pic>
            <p:nvPicPr>
              <p:cNvPr id="231" name="Graphique 230" descr="Contrat avec un remplissage uni">
                <a:extLst>
                  <a:ext uri="{FF2B5EF4-FFF2-40B4-BE49-F238E27FC236}">
                    <a16:creationId xmlns:a16="http://schemas.microsoft.com/office/drawing/2014/main" id="{608D7588-ED34-9815-9BF7-F279D175EBB1}"/>
                  </a:ext>
                </a:extLst>
              </p:cNvPr>
              <p:cNvPicPr>
                <a:picLocks noChangeAspect="1"/>
              </p:cNvPicPr>
              <p:nvPr/>
            </p:nvPicPr>
            <p:blipFill>
              <a:blip r:embed="rId110">
                <a:extLst>
                  <a:ext uri="{28A0092B-C50C-407E-A947-70E740481C1C}">
                    <a14:useLocalDpi xmlns:a14="http://schemas.microsoft.com/office/drawing/2010/main" val="0"/>
                  </a:ext>
                  <a:ext uri="{96DAC541-7B7A-43D3-8B79-37D633B846F1}">
                    <asvg:svgBlip xmlns:asvg="http://schemas.microsoft.com/office/drawing/2016/SVG/main" r:embed="rId111"/>
                  </a:ext>
                </a:extLst>
              </a:blip>
              <a:stretch>
                <a:fillRect/>
              </a:stretch>
            </p:blipFill>
            <p:spPr>
              <a:xfrm>
                <a:off x="3003278" y="4578031"/>
                <a:ext cx="1185682" cy="1185682"/>
              </a:xfrm>
              <a:prstGeom prst="rect">
                <a:avLst/>
              </a:prstGeom>
            </p:spPr>
          </p:pic>
          <p:pic>
            <p:nvPicPr>
              <p:cNvPr id="232" name="Graphique 231" descr="Tendance à la hausse avec un remplissage uni">
                <a:extLst>
                  <a:ext uri="{FF2B5EF4-FFF2-40B4-BE49-F238E27FC236}">
                    <a16:creationId xmlns:a16="http://schemas.microsoft.com/office/drawing/2014/main" id="{9ADC7793-4033-67DB-9E89-958A60621C4F}"/>
                  </a:ext>
                </a:extLst>
              </p:cNvPr>
              <p:cNvPicPr>
                <a:picLocks noChangeAspect="1"/>
              </p:cNvPicPr>
              <p:nvPr/>
            </p:nvPicPr>
            <p:blipFill>
              <a:blip r:embed="rId112">
                <a:extLst>
                  <a:ext uri="{28A0092B-C50C-407E-A947-70E740481C1C}">
                    <a14:useLocalDpi xmlns:a14="http://schemas.microsoft.com/office/drawing/2010/main" val="0"/>
                  </a:ext>
                  <a:ext uri="{96DAC541-7B7A-43D3-8B79-37D633B846F1}">
                    <asvg:svgBlip xmlns:asvg="http://schemas.microsoft.com/office/drawing/2016/SVG/main" r:embed="rId113"/>
                  </a:ext>
                </a:extLst>
              </a:blip>
              <a:stretch>
                <a:fillRect/>
              </a:stretch>
            </p:blipFill>
            <p:spPr>
              <a:xfrm>
                <a:off x="4119912" y="4399902"/>
                <a:ext cx="1541940" cy="1541940"/>
              </a:xfrm>
              <a:prstGeom prst="rect">
                <a:avLst/>
              </a:prstGeom>
            </p:spPr>
          </p:pic>
        </p:grpSp>
      </p:grpSp>
      <p:grpSp>
        <p:nvGrpSpPr>
          <p:cNvPr id="233" name="Groupe 232">
            <a:extLst>
              <a:ext uri="{FF2B5EF4-FFF2-40B4-BE49-F238E27FC236}">
                <a16:creationId xmlns:a16="http://schemas.microsoft.com/office/drawing/2014/main" id="{A17570D2-E3D9-C736-E180-66276EEE3495}"/>
              </a:ext>
            </a:extLst>
          </p:cNvPr>
          <p:cNvGrpSpPr/>
          <p:nvPr/>
        </p:nvGrpSpPr>
        <p:grpSpPr>
          <a:xfrm>
            <a:off x="11209771" y="1756449"/>
            <a:ext cx="828431" cy="879129"/>
            <a:chOff x="12377873" y="2362674"/>
            <a:chExt cx="746267" cy="791936"/>
          </a:xfrm>
        </p:grpSpPr>
        <p:sp>
          <p:nvSpPr>
            <p:cNvPr id="234" name="Rectangle 233">
              <a:extLst>
                <a:ext uri="{FF2B5EF4-FFF2-40B4-BE49-F238E27FC236}">
                  <a16:creationId xmlns:a16="http://schemas.microsoft.com/office/drawing/2014/main" id="{D2D5F204-ED6C-2CF6-53C7-E19D667B1339}"/>
                </a:ext>
              </a:extLst>
            </p:cNvPr>
            <p:cNvSpPr/>
            <p:nvPr/>
          </p:nvSpPr>
          <p:spPr>
            <a:xfrm>
              <a:off x="12377873" y="2831967"/>
              <a:ext cx="746267" cy="32264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Autres</a:t>
              </a:r>
              <a:endParaRPr lang="fr-FR" sz="700" dirty="0">
                <a:solidFill>
                  <a:schemeClr val="bg1"/>
                </a:solidFill>
              </a:endParaRPr>
            </a:p>
          </p:txBody>
        </p:sp>
        <p:pic>
          <p:nvPicPr>
            <p:cNvPr id="235" name="Graphique 234" descr="Bâtiment avec un remplissage uni">
              <a:extLst>
                <a:ext uri="{FF2B5EF4-FFF2-40B4-BE49-F238E27FC236}">
                  <a16:creationId xmlns:a16="http://schemas.microsoft.com/office/drawing/2014/main" id="{1F21BF0C-0190-896B-AD93-5775AFB12585}"/>
                </a:ext>
              </a:extLst>
            </p:cNvPr>
            <p:cNvPicPr>
              <a:picLocks noChangeAspect="1"/>
            </p:cNvPicPr>
            <p:nvPr/>
          </p:nvPicPr>
          <p:blipFill>
            <a:blip r:embed="rId114">
              <a:extLst>
                <a:ext uri="{28A0092B-C50C-407E-A947-70E740481C1C}">
                  <a14:useLocalDpi xmlns:a14="http://schemas.microsoft.com/office/drawing/2010/main" val="0"/>
                </a:ext>
                <a:ext uri="{96DAC541-7B7A-43D3-8B79-37D633B846F1}">
                  <asvg:svgBlip xmlns:asvg="http://schemas.microsoft.com/office/drawing/2016/SVG/main" r:embed="rId115"/>
                </a:ext>
              </a:extLst>
            </a:blip>
            <a:stretch>
              <a:fillRect/>
            </a:stretch>
          </p:blipFill>
          <p:spPr>
            <a:xfrm>
              <a:off x="12564531" y="2362674"/>
              <a:ext cx="372950" cy="372950"/>
            </a:xfrm>
            <a:prstGeom prst="rect">
              <a:avLst/>
            </a:prstGeom>
          </p:spPr>
        </p:pic>
      </p:grpSp>
      <p:sp>
        <p:nvSpPr>
          <p:cNvPr id="237" name="Rectangle 236">
            <a:extLst>
              <a:ext uri="{FF2B5EF4-FFF2-40B4-BE49-F238E27FC236}">
                <a16:creationId xmlns:a16="http://schemas.microsoft.com/office/drawing/2014/main" id="{B6438928-B2A7-4584-A95C-4C18F66E987A}"/>
              </a:ext>
            </a:extLst>
          </p:cNvPr>
          <p:cNvSpPr/>
          <p:nvPr/>
        </p:nvSpPr>
        <p:spPr>
          <a:xfrm>
            <a:off x="144550" y="2757855"/>
            <a:ext cx="894686" cy="698492"/>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Réduction de la pression au recrutement par rétention des collaborateurs</a:t>
            </a:r>
          </a:p>
        </p:txBody>
      </p:sp>
      <p:sp>
        <p:nvSpPr>
          <p:cNvPr id="238" name="Rectangle 237">
            <a:extLst>
              <a:ext uri="{FF2B5EF4-FFF2-40B4-BE49-F238E27FC236}">
                <a16:creationId xmlns:a16="http://schemas.microsoft.com/office/drawing/2014/main" id="{DE86509F-AA38-541C-0F57-8A296CB0B983}"/>
              </a:ext>
            </a:extLst>
          </p:cNvPr>
          <p:cNvSpPr/>
          <p:nvPr/>
        </p:nvSpPr>
        <p:spPr>
          <a:xfrm>
            <a:off x="1147631" y="2752729"/>
            <a:ext cx="894686" cy="55929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Augmentation du sentiment d’appartenance à l’entreprise</a:t>
            </a:r>
            <a:endParaRPr lang="fr-FR" sz="700" dirty="0">
              <a:solidFill>
                <a:schemeClr val="tx1"/>
              </a:solidFill>
            </a:endParaRPr>
          </a:p>
        </p:txBody>
      </p:sp>
      <p:sp>
        <p:nvSpPr>
          <p:cNvPr id="239" name="Rectangle 238">
            <a:extLst>
              <a:ext uri="{FF2B5EF4-FFF2-40B4-BE49-F238E27FC236}">
                <a16:creationId xmlns:a16="http://schemas.microsoft.com/office/drawing/2014/main" id="{03C5D53A-B258-F81C-E862-6B8C67AF6792}"/>
              </a:ext>
            </a:extLst>
          </p:cNvPr>
          <p:cNvSpPr/>
          <p:nvPr/>
        </p:nvSpPr>
        <p:spPr>
          <a:xfrm>
            <a:off x="2141678" y="2743422"/>
            <a:ext cx="894686" cy="37216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Développement de compétences des collaborateurs</a:t>
            </a:r>
            <a:endParaRPr lang="fr-FR" sz="700" dirty="0">
              <a:solidFill>
                <a:schemeClr val="tx1"/>
              </a:solidFill>
            </a:endParaRPr>
          </a:p>
        </p:txBody>
      </p:sp>
      <p:sp>
        <p:nvSpPr>
          <p:cNvPr id="240" name="Rectangle 239">
            <a:extLst>
              <a:ext uri="{FF2B5EF4-FFF2-40B4-BE49-F238E27FC236}">
                <a16:creationId xmlns:a16="http://schemas.microsoft.com/office/drawing/2014/main" id="{3C220219-2D81-B2B7-D2DE-1D2018DCF740}"/>
              </a:ext>
            </a:extLst>
          </p:cNvPr>
          <p:cNvSpPr/>
          <p:nvPr/>
        </p:nvSpPr>
        <p:spPr>
          <a:xfrm>
            <a:off x="2141678" y="3187715"/>
            <a:ext cx="894686" cy="37216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Meilleur catalogue de formation</a:t>
            </a:r>
            <a:endParaRPr lang="fr-FR" sz="700" dirty="0">
              <a:solidFill>
                <a:schemeClr val="tx1"/>
              </a:solidFill>
            </a:endParaRPr>
          </a:p>
        </p:txBody>
      </p:sp>
      <p:sp>
        <p:nvSpPr>
          <p:cNvPr id="241" name="Rectangle 240">
            <a:extLst>
              <a:ext uri="{FF2B5EF4-FFF2-40B4-BE49-F238E27FC236}">
                <a16:creationId xmlns:a16="http://schemas.microsoft.com/office/drawing/2014/main" id="{D16B3C59-CBB0-7CC9-0CB0-F2ECEBCF7806}"/>
              </a:ext>
            </a:extLst>
          </p:cNvPr>
          <p:cNvSpPr/>
          <p:nvPr/>
        </p:nvSpPr>
        <p:spPr>
          <a:xfrm>
            <a:off x="2141678" y="3632424"/>
            <a:ext cx="894686" cy="90438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Plus de capitalisation et valorisation des savoirs et savoirs faire déjà existants en interne</a:t>
            </a:r>
            <a:endParaRPr lang="fr-FR" sz="700" dirty="0">
              <a:solidFill>
                <a:schemeClr val="tx1"/>
              </a:solidFill>
            </a:endParaRPr>
          </a:p>
        </p:txBody>
      </p:sp>
      <p:sp>
        <p:nvSpPr>
          <p:cNvPr id="242" name="Rectangle 241">
            <a:extLst>
              <a:ext uri="{FF2B5EF4-FFF2-40B4-BE49-F238E27FC236}">
                <a16:creationId xmlns:a16="http://schemas.microsoft.com/office/drawing/2014/main" id="{E23FC563-01B6-37E7-727C-9A6D1110157C}"/>
              </a:ext>
            </a:extLst>
          </p:cNvPr>
          <p:cNvSpPr/>
          <p:nvPr/>
        </p:nvSpPr>
        <p:spPr>
          <a:xfrm>
            <a:off x="1147631" y="3386771"/>
            <a:ext cx="894686" cy="55929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Meilleure intégration des nouveaux arrivants</a:t>
            </a:r>
            <a:endParaRPr lang="fr-FR" sz="700" dirty="0">
              <a:solidFill>
                <a:schemeClr val="tx1"/>
              </a:solidFill>
            </a:endParaRPr>
          </a:p>
        </p:txBody>
      </p:sp>
      <p:sp>
        <p:nvSpPr>
          <p:cNvPr id="243" name="Rectangle 242">
            <a:extLst>
              <a:ext uri="{FF2B5EF4-FFF2-40B4-BE49-F238E27FC236}">
                <a16:creationId xmlns:a16="http://schemas.microsoft.com/office/drawing/2014/main" id="{59DC4D55-1DDA-DEA1-B849-9FF2FB61C492}"/>
              </a:ext>
            </a:extLst>
          </p:cNvPr>
          <p:cNvSpPr/>
          <p:nvPr/>
        </p:nvSpPr>
        <p:spPr>
          <a:xfrm>
            <a:off x="2141678" y="4609357"/>
            <a:ext cx="894686" cy="90438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Moins de formations externes sur des sujets déjà maitrisés en interne</a:t>
            </a:r>
            <a:endParaRPr lang="fr-FR" sz="700" dirty="0">
              <a:solidFill>
                <a:schemeClr val="tx1"/>
              </a:solidFill>
            </a:endParaRPr>
          </a:p>
        </p:txBody>
      </p:sp>
      <p:sp>
        <p:nvSpPr>
          <p:cNvPr id="244" name="Rectangle 243">
            <a:extLst>
              <a:ext uri="{FF2B5EF4-FFF2-40B4-BE49-F238E27FC236}">
                <a16:creationId xmlns:a16="http://schemas.microsoft.com/office/drawing/2014/main" id="{7B230831-1710-07D4-D799-280508F26903}"/>
              </a:ext>
            </a:extLst>
          </p:cNvPr>
          <p:cNvSpPr/>
          <p:nvPr/>
        </p:nvSpPr>
        <p:spPr>
          <a:xfrm>
            <a:off x="3135724" y="2746891"/>
            <a:ext cx="894686" cy="55929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Plus grande variété de parcours de carrières</a:t>
            </a:r>
            <a:endParaRPr lang="fr-FR" sz="700" dirty="0">
              <a:solidFill>
                <a:schemeClr val="tx1"/>
              </a:solidFill>
            </a:endParaRPr>
          </a:p>
        </p:txBody>
      </p:sp>
      <p:sp>
        <p:nvSpPr>
          <p:cNvPr id="245" name="Rectangle 244">
            <a:extLst>
              <a:ext uri="{FF2B5EF4-FFF2-40B4-BE49-F238E27FC236}">
                <a16:creationId xmlns:a16="http://schemas.microsoft.com/office/drawing/2014/main" id="{F8D58CDA-6156-C413-B10F-8C69EAA88DEE}"/>
              </a:ext>
            </a:extLst>
          </p:cNvPr>
          <p:cNvSpPr/>
          <p:nvPr/>
        </p:nvSpPr>
        <p:spPr>
          <a:xfrm>
            <a:off x="3135724" y="3381455"/>
            <a:ext cx="894686" cy="803020"/>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Moins de pression sur les opportunités de poste (management, expertise)</a:t>
            </a:r>
            <a:endParaRPr lang="fr-FR" sz="700" dirty="0">
              <a:solidFill>
                <a:schemeClr val="tx1"/>
              </a:solidFill>
            </a:endParaRPr>
          </a:p>
        </p:txBody>
      </p:sp>
      <p:sp>
        <p:nvSpPr>
          <p:cNvPr id="246" name="Rectangle 245">
            <a:extLst>
              <a:ext uri="{FF2B5EF4-FFF2-40B4-BE49-F238E27FC236}">
                <a16:creationId xmlns:a16="http://schemas.microsoft.com/office/drawing/2014/main" id="{55534348-817C-A05B-5BF3-75E94E5A9DC1}"/>
              </a:ext>
            </a:extLst>
          </p:cNvPr>
          <p:cNvSpPr/>
          <p:nvPr/>
        </p:nvSpPr>
        <p:spPr>
          <a:xfrm>
            <a:off x="3135724" y="4259748"/>
            <a:ext cx="894686" cy="662958"/>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Moins de départs liés à la saturation de postes de management.</a:t>
            </a:r>
            <a:endParaRPr lang="fr-FR" sz="700" dirty="0">
              <a:solidFill>
                <a:schemeClr val="tx1"/>
              </a:solidFill>
            </a:endParaRPr>
          </a:p>
        </p:txBody>
      </p:sp>
      <p:sp>
        <p:nvSpPr>
          <p:cNvPr id="247" name="Rectangle 246">
            <a:extLst>
              <a:ext uri="{FF2B5EF4-FFF2-40B4-BE49-F238E27FC236}">
                <a16:creationId xmlns:a16="http://schemas.microsoft.com/office/drawing/2014/main" id="{24A3B5E1-7068-AFA9-D2A5-DE1557FE48D0}"/>
              </a:ext>
            </a:extLst>
          </p:cNvPr>
          <p:cNvSpPr/>
          <p:nvPr/>
        </p:nvSpPr>
        <p:spPr>
          <a:xfrm>
            <a:off x="153583" y="3519600"/>
            <a:ext cx="894686" cy="38681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Davantage de candidatures</a:t>
            </a:r>
            <a:endParaRPr lang="fr-FR" sz="700" dirty="0">
              <a:solidFill>
                <a:schemeClr val="tx1"/>
              </a:solidFill>
            </a:endParaRPr>
          </a:p>
        </p:txBody>
      </p:sp>
      <p:sp>
        <p:nvSpPr>
          <p:cNvPr id="248" name="Rectangle 247">
            <a:extLst>
              <a:ext uri="{FF2B5EF4-FFF2-40B4-BE49-F238E27FC236}">
                <a16:creationId xmlns:a16="http://schemas.microsoft.com/office/drawing/2014/main" id="{81AB9FD0-8EFA-F762-BBB0-14CD7B60E01C}"/>
              </a:ext>
            </a:extLst>
          </p:cNvPr>
          <p:cNvSpPr/>
          <p:nvPr/>
        </p:nvSpPr>
        <p:spPr>
          <a:xfrm>
            <a:off x="144550" y="3970475"/>
            <a:ext cx="894686" cy="52473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Davantage de concrétisation des opportunités de recrutement</a:t>
            </a:r>
            <a:endParaRPr lang="fr-FR" sz="700" dirty="0">
              <a:solidFill>
                <a:schemeClr val="tx1"/>
              </a:solidFill>
            </a:endParaRPr>
          </a:p>
        </p:txBody>
      </p:sp>
      <p:sp>
        <p:nvSpPr>
          <p:cNvPr id="249" name="Rectangle 248">
            <a:extLst>
              <a:ext uri="{FF2B5EF4-FFF2-40B4-BE49-F238E27FC236}">
                <a16:creationId xmlns:a16="http://schemas.microsoft.com/office/drawing/2014/main" id="{764890F8-ECDC-0A17-CCA9-13C87C623B1B}"/>
              </a:ext>
            </a:extLst>
          </p:cNvPr>
          <p:cNvSpPr/>
          <p:nvPr/>
        </p:nvSpPr>
        <p:spPr>
          <a:xfrm>
            <a:off x="153583" y="4559278"/>
            <a:ext cx="894686" cy="52473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Davantage de concrétisation des opportunités de recrutement</a:t>
            </a:r>
            <a:endParaRPr lang="fr-FR" sz="700" dirty="0">
              <a:solidFill>
                <a:schemeClr val="tx1"/>
              </a:solidFill>
            </a:endParaRPr>
          </a:p>
        </p:txBody>
      </p:sp>
      <p:sp>
        <p:nvSpPr>
          <p:cNvPr id="250" name="Rectangle 249">
            <a:extLst>
              <a:ext uri="{FF2B5EF4-FFF2-40B4-BE49-F238E27FC236}">
                <a16:creationId xmlns:a16="http://schemas.microsoft.com/office/drawing/2014/main" id="{2CBFAE62-4118-49F7-6CBB-D38E2C878AB6}"/>
              </a:ext>
            </a:extLst>
          </p:cNvPr>
          <p:cNvSpPr/>
          <p:nvPr/>
        </p:nvSpPr>
        <p:spPr>
          <a:xfrm>
            <a:off x="3135724" y="5004271"/>
            <a:ext cx="894686" cy="55929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Développement de la mobilité interne</a:t>
            </a:r>
            <a:endParaRPr lang="fr-FR" sz="700" dirty="0">
              <a:solidFill>
                <a:schemeClr val="tx1"/>
              </a:solidFill>
            </a:endParaRPr>
          </a:p>
        </p:txBody>
      </p:sp>
      <p:sp>
        <p:nvSpPr>
          <p:cNvPr id="251" name="Rectangle 250">
            <a:extLst>
              <a:ext uri="{FF2B5EF4-FFF2-40B4-BE49-F238E27FC236}">
                <a16:creationId xmlns:a16="http://schemas.microsoft.com/office/drawing/2014/main" id="{F98022B1-60B4-9C83-EEA8-7FB93DB219D6}"/>
              </a:ext>
            </a:extLst>
          </p:cNvPr>
          <p:cNvSpPr/>
          <p:nvPr/>
        </p:nvSpPr>
        <p:spPr>
          <a:xfrm>
            <a:off x="144550" y="5148081"/>
            <a:ext cx="894686" cy="52473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Plus grande variété des canaux de </a:t>
            </a:r>
            <a:r>
              <a:rPr lang="fr-FR" sz="800" dirty="0" err="1">
                <a:solidFill>
                  <a:schemeClr val="tx1"/>
                </a:solidFill>
              </a:rPr>
              <a:t>sourcing</a:t>
            </a:r>
            <a:endParaRPr lang="fr-FR" sz="700" dirty="0">
              <a:solidFill>
                <a:schemeClr val="tx1"/>
              </a:solidFill>
            </a:endParaRPr>
          </a:p>
        </p:txBody>
      </p:sp>
      <p:sp>
        <p:nvSpPr>
          <p:cNvPr id="252" name="Rectangle 251">
            <a:extLst>
              <a:ext uri="{FF2B5EF4-FFF2-40B4-BE49-F238E27FC236}">
                <a16:creationId xmlns:a16="http://schemas.microsoft.com/office/drawing/2014/main" id="{76A36123-DFA9-4174-6183-16862C94B31E}"/>
              </a:ext>
            </a:extLst>
          </p:cNvPr>
          <p:cNvSpPr/>
          <p:nvPr/>
        </p:nvSpPr>
        <p:spPr>
          <a:xfrm>
            <a:off x="144550" y="5736884"/>
            <a:ext cx="894686" cy="52473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Réduction du nombre d’erreurs de recrutement</a:t>
            </a:r>
            <a:endParaRPr lang="fr-FR" sz="700" dirty="0">
              <a:solidFill>
                <a:schemeClr val="tx1"/>
              </a:solidFill>
            </a:endParaRPr>
          </a:p>
        </p:txBody>
      </p:sp>
      <p:sp>
        <p:nvSpPr>
          <p:cNvPr id="253" name="Rectangle 252">
            <a:extLst>
              <a:ext uri="{FF2B5EF4-FFF2-40B4-BE49-F238E27FC236}">
                <a16:creationId xmlns:a16="http://schemas.microsoft.com/office/drawing/2014/main" id="{E89EF485-BEC5-E3FE-187A-A332D28C49A7}"/>
              </a:ext>
            </a:extLst>
          </p:cNvPr>
          <p:cNvSpPr/>
          <p:nvPr/>
        </p:nvSpPr>
        <p:spPr>
          <a:xfrm>
            <a:off x="1148390" y="4023201"/>
            <a:ext cx="894686" cy="55929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err="1">
                <a:solidFill>
                  <a:schemeClr val="tx1"/>
                </a:solidFill>
              </a:rPr>
              <a:t>Onboarding</a:t>
            </a:r>
            <a:r>
              <a:rPr lang="fr-FR" sz="800" dirty="0">
                <a:solidFill>
                  <a:schemeClr val="tx1"/>
                </a:solidFill>
              </a:rPr>
              <a:t> opérationnel plus efficace</a:t>
            </a:r>
            <a:endParaRPr lang="fr-FR" sz="700" dirty="0">
              <a:solidFill>
                <a:schemeClr val="tx1"/>
              </a:solidFill>
            </a:endParaRPr>
          </a:p>
        </p:txBody>
      </p:sp>
      <p:sp>
        <p:nvSpPr>
          <p:cNvPr id="254" name="Rectangle 253">
            <a:extLst>
              <a:ext uri="{FF2B5EF4-FFF2-40B4-BE49-F238E27FC236}">
                <a16:creationId xmlns:a16="http://schemas.microsoft.com/office/drawing/2014/main" id="{089E5AB1-A340-0BCB-6EE8-92D87E7A441B}"/>
              </a:ext>
            </a:extLst>
          </p:cNvPr>
          <p:cNvSpPr/>
          <p:nvPr/>
        </p:nvSpPr>
        <p:spPr>
          <a:xfrm>
            <a:off x="4138806" y="2740520"/>
            <a:ext cx="762339" cy="55929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Meilleure qualité des produits et services</a:t>
            </a:r>
            <a:endParaRPr lang="fr-FR" sz="700" dirty="0">
              <a:solidFill>
                <a:schemeClr val="tx1"/>
              </a:solidFill>
            </a:endParaRPr>
          </a:p>
        </p:txBody>
      </p:sp>
      <p:sp>
        <p:nvSpPr>
          <p:cNvPr id="255" name="Rectangle 254">
            <a:extLst>
              <a:ext uri="{FF2B5EF4-FFF2-40B4-BE49-F238E27FC236}">
                <a16:creationId xmlns:a16="http://schemas.microsoft.com/office/drawing/2014/main" id="{96D15B90-D93A-45D8-9D56-F86C69753FBC}"/>
              </a:ext>
            </a:extLst>
          </p:cNvPr>
          <p:cNvSpPr/>
          <p:nvPr/>
        </p:nvSpPr>
        <p:spPr>
          <a:xfrm>
            <a:off x="4143421" y="3375617"/>
            <a:ext cx="762339" cy="90438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Plus de sérénité au quotidien grâce à des ressources disponibles hors projet</a:t>
            </a:r>
            <a:endParaRPr lang="fr-FR" sz="700" dirty="0">
              <a:solidFill>
                <a:schemeClr val="tx1"/>
              </a:solidFill>
            </a:endParaRPr>
          </a:p>
        </p:txBody>
      </p:sp>
      <p:sp>
        <p:nvSpPr>
          <p:cNvPr id="256" name="Rectangle 255">
            <a:extLst>
              <a:ext uri="{FF2B5EF4-FFF2-40B4-BE49-F238E27FC236}">
                <a16:creationId xmlns:a16="http://schemas.microsoft.com/office/drawing/2014/main" id="{EEB01C37-FF39-F1E5-63DC-AC635F775A2C}"/>
              </a:ext>
            </a:extLst>
          </p:cNvPr>
          <p:cNvSpPr/>
          <p:nvPr/>
        </p:nvSpPr>
        <p:spPr>
          <a:xfrm>
            <a:off x="4134287" y="4354360"/>
            <a:ext cx="762339" cy="1054908"/>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Plus de reproduction des réussites / Moins de répétition d’erreurs d’un projet à un autre</a:t>
            </a:r>
            <a:endParaRPr lang="fr-FR" sz="700" dirty="0">
              <a:solidFill>
                <a:schemeClr val="tx1"/>
              </a:solidFill>
            </a:endParaRPr>
          </a:p>
        </p:txBody>
      </p:sp>
      <p:sp>
        <p:nvSpPr>
          <p:cNvPr id="257" name="Rectangle 256">
            <a:extLst>
              <a:ext uri="{FF2B5EF4-FFF2-40B4-BE49-F238E27FC236}">
                <a16:creationId xmlns:a16="http://schemas.microsoft.com/office/drawing/2014/main" id="{CB8A457F-7A33-A105-8EFB-F485D3E58E41}"/>
              </a:ext>
            </a:extLst>
          </p:cNvPr>
          <p:cNvSpPr/>
          <p:nvPr/>
        </p:nvSpPr>
        <p:spPr>
          <a:xfrm>
            <a:off x="3142953" y="5647653"/>
            <a:ext cx="894686" cy="55929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Meilleure expérience collaborateur</a:t>
            </a:r>
            <a:endParaRPr lang="fr-FR" sz="700" dirty="0">
              <a:solidFill>
                <a:schemeClr val="tx1"/>
              </a:solidFill>
            </a:endParaRPr>
          </a:p>
        </p:txBody>
      </p:sp>
      <p:sp>
        <p:nvSpPr>
          <p:cNvPr id="258" name="Rectangle 257">
            <a:extLst>
              <a:ext uri="{FF2B5EF4-FFF2-40B4-BE49-F238E27FC236}">
                <a16:creationId xmlns:a16="http://schemas.microsoft.com/office/drawing/2014/main" id="{877A6D3E-0C2B-46A2-833A-5E8BE6381495}"/>
              </a:ext>
            </a:extLst>
          </p:cNvPr>
          <p:cNvSpPr/>
          <p:nvPr/>
        </p:nvSpPr>
        <p:spPr>
          <a:xfrm>
            <a:off x="6741978" y="2754923"/>
            <a:ext cx="762339" cy="7014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Meilleure communication et coordination transverse</a:t>
            </a:r>
            <a:endParaRPr lang="fr-FR" sz="700" dirty="0">
              <a:solidFill>
                <a:schemeClr val="tx1"/>
              </a:solidFill>
            </a:endParaRPr>
          </a:p>
        </p:txBody>
      </p:sp>
      <p:sp>
        <p:nvSpPr>
          <p:cNvPr id="259" name="Rectangle 258">
            <a:extLst>
              <a:ext uri="{FF2B5EF4-FFF2-40B4-BE49-F238E27FC236}">
                <a16:creationId xmlns:a16="http://schemas.microsoft.com/office/drawing/2014/main" id="{1AC0AF6B-1C6A-A4DC-A543-A6FCC2095909}"/>
              </a:ext>
            </a:extLst>
          </p:cNvPr>
          <p:cNvSpPr/>
          <p:nvPr/>
        </p:nvSpPr>
        <p:spPr>
          <a:xfrm>
            <a:off x="6741978" y="3529703"/>
            <a:ext cx="762339" cy="7014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Davantage d’auto-gestion sur les sujets du quotidien</a:t>
            </a:r>
            <a:endParaRPr lang="fr-FR" sz="700" dirty="0">
              <a:solidFill>
                <a:schemeClr val="tx1"/>
              </a:solidFill>
            </a:endParaRPr>
          </a:p>
        </p:txBody>
      </p:sp>
      <p:sp>
        <p:nvSpPr>
          <p:cNvPr id="260" name="Rectangle 259">
            <a:extLst>
              <a:ext uri="{FF2B5EF4-FFF2-40B4-BE49-F238E27FC236}">
                <a16:creationId xmlns:a16="http://schemas.microsoft.com/office/drawing/2014/main" id="{92359DD0-5AEE-EEC2-4390-358F891E9992}"/>
              </a:ext>
            </a:extLst>
          </p:cNvPr>
          <p:cNvSpPr/>
          <p:nvPr/>
        </p:nvSpPr>
        <p:spPr>
          <a:xfrm>
            <a:off x="6741977" y="4302847"/>
            <a:ext cx="762339" cy="7014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Moins de sollicitation des managers sur des sujets récurrents</a:t>
            </a:r>
            <a:endParaRPr lang="fr-FR" sz="700" dirty="0">
              <a:solidFill>
                <a:schemeClr val="tx1"/>
              </a:solidFill>
            </a:endParaRPr>
          </a:p>
        </p:txBody>
      </p:sp>
      <p:sp>
        <p:nvSpPr>
          <p:cNvPr id="261" name="Rectangle 260">
            <a:extLst>
              <a:ext uri="{FF2B5EF4-FFF2-40B4-BE49-F238E27FC236}">
                <a16:creationId xmlns:a16="http://schemas.microsoft.com/office/drawing/2014/main" id="{422F07C6-CDAD-1947-FCAC-857394709F85}"/>
              </a:ext>
            </a:extLst>
          </p:cNvPr>
          <p:cNvSpPr/>
          <p:nvPr/>
        </p:nvSpPr>
        <p:spPr>
          <a:xfrm>
            <a:off x="6751015" y="5075991"/>
            <a:ext cx="762339" cy="144439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Moins de de managers intermédiaires par personne (charge de management transverse prise par la Communauté)</a:t>
            </a:r>
            <a:endParaRPr lang="fr-FR" sz="700" dirty="0">
              <a:solidFill>
                <a:schemeClr val="tx1"/>
              </a:solidFill>
            </a:endParaRPr>
          </a:p>
        </p:txBody>
      </p:sp>
      <p:sp>
        <p:nvSpPr>
          <p:cNvPr id="262" name="Rectangle 261">
            <a:extLst>
              <a:ext uri="{FF2B5EF4-FFF2-40B4-BE49-F238E27FC236}">
                <a16:creationId xmlns:a16="http://schemas.microsoft.com/office/drawing/2014/main" id="{85595BC9-6198-D9CC-6466-2B3079F20165}"/>
              </a:ext>
            </a:extLst>
          </p:cNvPr>
          <p:cNvSpPr/>
          <p:nvPr/>
        </p:nvSpPr>
        <p:spPr>
          <a:xfrm>
            <a:off x="5005024" y="2740520"/>
            <a:ext cx="762339" cy="55929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Davantage de formalisation des bonnes pratiques</a:t>
            </a:r>
            <a:endParaRPr lang="fr-FR" sz="700" dirty="0">
              <a:solidFill>
                <a:schemeClr val="tx1"/>
              </a:solidFill>
            </a:endParaRPr>
          </a:p>
        </p:txBody>
      </p:sp>
      <p:sp>
        <p:nvSpPr>
          <p:cNvPr id="263" name="Rectangle 262">
            <a:extLst>
              <a:ext uri="{FF2B5EF4-FFF2-40B4-BE49-F238E27FC236}">
                <a16:creationId xmlns:a16="http://schemas.microsoft.com/office/drawing/2014/main" id="{2E61BAFF-89D3-BF36-8A78-397D898ADE4E}"/>
              </a:ext>
            </a:extLst>
          </p:cNvPr>
          <p:cNvSpPr/>
          <p:nvPr/>
        </p:nvSpPr>
        <p:spPr>
          <a:xfrm>
            <a:off x="4994788" y="3375617"/>
            <a:ext cx="762339" cy="676772"/>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Moins de coût porté en central pour la Qualité et les méthodes</a:t>
            </a:r>
            <a:endParaRPr lang="fr-FR" sz="700" dirty="0">
              <a:solidFill>
                <a:schemeClr val="tx1"/>
              </a:solidFill>
            </a:endParaRPr>
          </a:p>
        </p:txBody>
      </p:sp>
      <p:sp>
        <p:nvSpPr>
          <p:cNvPr id="265" name="Rectangle 264">
            <a:extLst>
              <a:ext uri="{FF2B5EF4-FFF2-40B4-BE49-F238E27FC236}">
                <a16:creationId xmlns:a16="http://schemas.microsoft.com/office/drawing/2014/main" id="{820002A3-C749-FDC9-0163-A0EB0278158D}"/>
              </a:ext>
            </a:extLst>
          </p:cNvPr>
          <p:cNvSpPr/>
          <p:nvPr/>
        </p:nvSpPr>
        <p:spPr>
          <a:xfrm>
            <a:off x="5866628" y="2764174"/>
            <a:ext cx="762339" cy="90438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Un savoir-faire capitalisé directement réutilisable d’un projet à l’autre</a:t>
            </a:r>
            <a:endParaRPr lang="fr-FR" sz="700" dirty="0">
              <a:solidFill>
                <a:schemeClr val="tx1"/>
              </a:solidFill>
            </a:endParaRPr>
          </a:p>
        </p:txBody>
      </p:sp>
      <p:sp>
        <p:nvSpPr>
          <p:cNvPr id="266" name="Rectangle 265">
            <a:extLst>
              <a:ext uri="{FF2B5EF4-FFF2-40B4-BE49-F238E27FC236}">
                <a16:creationId xmlns:a16="http://schemas.microsoft.com/office/drawing/2014/main" id="{698E1BA7-200D-C6CE-D2BB-0695904B29B7}"/>
              </a:ext>
            </a:extLst>
          </p:cNvPr>
          <p:cNvSpPr/>
          <p:nvPr/>
        </p:nvSpPr>
        <p:spPr>
          <a:xfrm>
            <a:off x="5866628" y="3722126"/>
            <a:ext cx="762339" cy="982467"/>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Davantage de responsabilisation de chacun sur la capitalisation des connaissances</a:t>
            </a:r>
            <a:endParaRPr lang="fr-FR" sz="700" dirty="0">
              <a:solidFill>
                <a:schemeClr val="tx1"/>
              </a:solidFill>
            </a:endParaRPr>
          </a:p>
        </p:txBody>
      </p:sp>
      <p:sp>
        <p:nvSpPr>
          <p:cNvPr id="268" name="Rectangle 267">
            <a:extLst>
              <a:ext uri="{FF2B5EF4-FFF2-40B4-BE49-F238E27FC236}">
                <a16:creationId xmlns:a16="http://schemas.microsoft.com/office/drawing/2014/main" id="{ABEC826E-A8FB-002C-F347-D13E88CC1416}"/>
              </a:ext>
            </a:extLst>
          </p:cNvPr>
          <p:cNvSpPr/>
          <p:nvPr/>
        </p:nvSpPr>
        <p:spPr>
          <a:xfrm>
            <a:off x="5860060" y="4744750"/>
            <a:ext cx="762339" cy="192706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Moins de coûts de rattrapage de connaissances perdues ( interventions ponctuelles d’externes, pénalités, reproduction d’un contenu perdu, perte fonctionnelle…)</a:t>
            </a:r>
            <a:endParaRPr lang="fr-FR" sz="700" dirty="0">
              <a:solidFill>
                <a:schemeClr val="tx1"/>
              </a:solidFill>
            </a:endParaRPr>
          </a:p>
        </p:txBody>
      </p:sp>
      <p:sp>
        <p:nvSpPr>
          <p:cNvPr id="269" name="Rectangle 268">
            <a:extLst>
              <a:ext uri="{FF2B5EF4-FFF2-40B4-BE49-F238E27FC236}">
                <a16:creationId xmlns:a16="http://schemas.microsoft.com/office/drawing/2014/main" id="{361627FA-3D01-825B-4D75-E0908F274FE2}"/>
              </a:ext>
            </a:extLst>
          </p:cNvPr>
          <p:cNvSpPr/>
          <p:nvPr/>
        </p:nvSpPr>
        <p:spPr>
          <a:xfrm>
            <a:off x="7612715" y="2746890"/>
            <a:ext cx="771375" cy="88553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Davantage d’exposition aux idées nouvelles et possibilités d’expérimenter</a:t>
            </a:r>
            <a:endParaRPr lang="fr-FR" sz="700" dirty="0">
              <a:solidFill>
                <a:schemeClr val="tx1"/>
              </a:solidFill>
            </a:endParaRPr>
          </a:p>
        </p:txBody>
      </p:sp>
      <p:sp>
        <p:nvSpPr>
          <p:cNvPr id="270" name="Rectangle 269">
            <a:extLst>
              <a:ext uri="{FF2B5EF4-FFF2-40B4-BE49-F238E27FC236}">
                <a16:creationId xmlns:a16="http://schemas.microsoft.com/office/drawing/2014/main" id="{0B3ACA5E-54E3-CA84-F8AB-E673C80D3BDB}"/>
              </a:ext>
            </a:extLst>
          </p:cNvPr>
          <p:cNvSpPr/>
          <p:nvPr/>
        </p:nvSpPr>
        <p:spPr>
          <a:xfrm>
            <a:off x="7608575" y="3677950"/>
            <a:ext cx="771375" cy="102664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Davantage d’idées concrétisées via une maturation par les communautés</a:t>
            </a:r>
            <a:endParaRPr lang="fr-FR" sz="700" dirty="0">
              <a:solidFill>
                <a:schemeClr val="tx1"/>
              </a:solidFill>
            </a:endParaRPr>
          </a:p>
        </p:txBody>
      </p:sp>
      <p:sp>
        <p:nvSpPr>
          <p:cNvPr id="271" name="Rectangle 270">
            <a:extLst>
              <a:ext uri="{FF2B5EF4-FFF2-40B4-BE49-F238E27FC236}">
                <a16:creationId xmlns:a16="http://schemas.microsoft.com/office/drawing/2014/main" id="{0CF4C85E-8E79-8F63-F67E-F41CCFFDB559}"/>
              </a:ext>
            </a:extLst>
          </p:cNvPr>
          <p:cNvSpPr/>
          <p:nvPr/>
        </p:nvSpPr>
        <p:spPr>
          <a:xfrm>
            <a:off x="7617326" y="4780216"/>
            <a:ext cx="771375" cy="425782"/>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Moins de coûts associés à la veille</a:t>
            </a:r>
            <a:endParaRPr lang="fr-FR" sz="700" dirty="0">
              <a:solidFill>
                <a:schemeClr val="tx1"/>
              </a:solidFill>
            </a:endParaRPr>
          </a:p>
        </p:txBody>
      </p:sp>
      <p:sp>
        <p:nvSpPr>
          <p:cNvPr id="272" name="Rectangle 271">
            <a:extLst>
              <a:ext uri="{FF2B5EF4-FFF2-40B4-BE49-F238E27FC236}">
                <a16:creationId xmlns:a16="http://schemas.microsoft.com/office/drawing/2014/main" id="{98681325-675E-1ECC-89EC-974E215D4F97}"/>
              </a:ext>
            </a:extLst>
          </p:cNvPr>
          <p:cNvSpPr/>
          <p:nvPr/>
        </p:nvSpPr>
        <p:spPr>
          <a:xfrm>
            <a:off x="8485549" y="2770751"/>
            <a:ext cx="771375" cy="78912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L’accélération ou la fortification des projets de transformation</a:t>
            </a:r>
            <a:endParaRPr lang="fr-FR" sz="700" dirty="0">
              <a:solidFill>
                <a:schemeClr val="tx1"/>
              </a:solidFill>
            </a:endParaRPr>
          </a:p>
        </p:txBody>
      </p:sp>
      <p:sp>
        <p:nvSpPr>
          <p:cNvPr id="273" name="Rectangle 272">
            <a:extLst>
              <a:ext uri="{FF2B5EF4-FFF2-40B4-BE49-F238E27FC236}">
                <a16:creationId xmlns:a16="http://schemas.microsoft.com/office/drawing/2014/main" id="{9CFA1509-3B66-90A2-5B24-ECB9811B8FCB}"/>
              </a:ext>
            </a:extLst>
          </p:cNvPr>
          <p:cNvSpPr/>
          <p:nvPr/>
        </p:nvSpPr>
        <p:spPr>
          <a:xfrm>
            <a:off x="8492488" y="3632423"/>
            <a:ext cx="771375" cy="78912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Une conduite du changement plus organique</a:t>
            </a:r>
            <a:endParaRPr lang="fr-FR" sz="700" dirty="0">
              <a:solidFill>
                <a:schemeClr val="tx1"/>
              </a:solidFill>
            </a:endParaRPr>
          </a:p>
        </p:txBody>
      </p:sp>
      <p:sp>
        <p:nvSpPr>
          <p:cNvPr id="274" name="Rectangle 273">
            <a:extLst>
              <a:ext uri="{FF2B5EF4-FFF2-40B4-BE49-F238E27FC236}">
                <a16:creationId xmlns:a16="http://schemas.microsoft.com/office/drawing/2014/main" id="{34246094-B21F-6FB6-B813-D57247438C1C}"/>
              </a:ext>
            </a:extLst>
          </p:cNvPr>
          <p:cNvSpPr/>
          <p:nvPr/>
        </p:nvSpPr>
        <p:spPr>
          <a:xfrm>
            <a:off x="9349669" y="2770751"/>
            <a:ext cx="828429" cy="78912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Moins de coûts de prospection et de veille institutionnalisée</a:t>
            </a:r>
            <a:endParaRPr lang="fr-FR" sz="700" dirty="0">
              <a:solidFill>
                <a:schemeClr val="tx1"/>
              </a:solidFill>
            </a:endParaRPr>
          </a:p>
        </p:txBody>
      </p:sp>
      <p:sp>
        <p:nvSpPr>
          <p:cNvPr id="275" name="Rectangle 274">
            <a:extLst>
              <a:ext uri="{FF2B5EF4-FFF2-40B4-BE49-F238E27FC236}">
                <a16:creationId xmlns:a16="http://schemas.microsoft.com/office/drawing/2014/main" id="{A33E2FA1-474D-384E-8E9A-9684B47665A6}"/>
              </a:ext>
            </a:extLst>
          </p:cNvPr>
          <p:cNvSpPr/>
          <p:nvPr/>
        </p:nvSpPr>
        <p:spPr>
          <a:xfrm>
            <a:off x="9359558" y="3633943"/>
            <a:ext cx="828429" cy="49333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Davantage d’opportunités commerciales</a:t>
            </a:r>
            <a:endParaRPr lang="fr-FR" sz="700" dirty="0">
              <a:solidFill>
                <a:schemeClr val="tx1"/>
              </a:solidFill>
            </a:endParaRPr>
          </a:p>
        </p:txBody>
      </p:sp>
      <p:sp>
        <p:nvSpPr>
          <p:cNvPr id="276" name="Rectangle 275">
            <a:extLst>
              <a:ext uri="{FF2B5EF4-FFF2-40B4-BE49-F238E27FC236}">
                <a16:creationId xmlns:a16="http://schemas.microsoft.com/office/drawing/2014/main" id="{4E28155F-9631-B9AB-87AC-06F23F4F844A}"/>
              </a:ext>
            </a:extLst>
          </p:cNvPr>
          <p:cNvSpPr/>
          <p:nvPr/>
        </p:nvSpPr>
        <p:spPr>
          <a:xfrm>
            <a:off x="9350768" y="4186097"/>
            <a:ext cx="828429" cy="7014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Plus de rapidité et de qualité dans les propositions commerciales</a:t>
            </a:r>
            <a:endParaRPr lang="fr-FR" sz="700" dirty="0">
              <a:solidFill>
                <a:schemeClr val="tx1"/>
              </a:solidFill>
            </a:endParaRPr>
          </a:p>
        </p:txBody>
      </p:sp>
      <p:sp>
        <p:nvSpPr>
          <p:cNvPr id="278" name="ZoneTexte 277">
            <a:extLst>
              <a:ext uri="{FF2B5EF4-FFF2-40B4-BE49-F238E27FC236}">
                <a16:creationId xmlns:a16="http://schemas.microsoft.com/office/drawing/2014/main" id="{8A63E767-B569-8A4A-AD55-E957763C67A7}"/>
              </a:ext>
            </a:extLst>
          </p:cNvPr>
          <p:cNvSpPr txBox="1"/>
          <p:nvPr/>
        </p:nvSpPr>
        <p:spPr>
          <a:xfrm>
            <a:off x="6230531" y="6623915"/>
            <a:ext cx="6096000" cy="276999"/>
          </a:xfrm>
          <a:prstGeom prst="rect">
            <a:avLst/>
          </a:prstGeom>
          <a:noFill/>
        </p:spPr>
        <p:txBody>
          <a:bodyPr wrap="square">
            <a:spAutoFit/>
          </a:bodyPr>
          <a:lstStyle/>
          <a:p>
            <a:r>
              <a:rPr lang="fr-FR" sz="1200" dirty="0">
                <a:hlinkClick r:id="rId116"/>
              </a:rPr>
              <a:t>https://openseriousgames.org/a-quels-budgets-sont-rattaches-les-communautes-dentreprise/</a:t>
            </a:r>
            <a:endParaRPr lang="fr-FR" sz="1200" dirty="0"/>
          </a:p>
        </p:txBody>
      </p:sp>
      <p:sp>
        <p:nvSpPr>
          <p:cNvPr id="279" name="Rectangle 278">
            <a:extLst>
              <a:ext uri="{FF2B5EF4-FFF2-40B4-BE49-F238E27FC236}">
                <a16:creationId xmlns:a16="http://schemas.microsoft.com/office/drawing/2014/main" id="{0A511558-EFD5-E76B-AFA3-2FD372B58E94}"/>
              </a:ext>
            </a:extLst>
          </p:cNvPr>
          <p:cNvSpPr/>
          <p:nvPr/>
        </p:nvSpPr>
        <p:spPr>
          <a:xfrm>
            <a:off x="10293405" y="2770750"/>
            <a:ext cx="828429" cy="1022357"/>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Une meilleure image de l’entreprise auprès de clients, actionnaires, candidats, partenaires</a:t>
            </a:r>
            <a:endParaRPr lang="fr-FR" sz="700" dirty="0">
              <a:solidFill>
                <a:schemeClr val="tx1"/>
              </a:solidFill>
            </a:endParaRPr>
          </a:p>
        </p:txBody>
      </p:sp>
      <p:sp>
        <p:nvSpPr>
          <p:cNvPr id="280" name="Rectangle 279">
            <a:extLst>
              <a:ext uri="{FF2B5EF4-FFF2-40B4-BE49-F238E27FC236}">
                <a16:creationId xmlns:a16="http://schemas.microsoft.com/office/drawing/2014/main" id="{BBA909D0-4F12-78E5-7F1A-EE9D90F6D0BF}"/>
              </a:ext>
            </a:extLst>
          </p:cNvPr>
          <p:cNvSpPr/>
          <p:nvPr/>
        </p:nvSpPr>
        <p:spPr>
          <a:xfrm>
            <a:off x="10287100" y="3869518"/>
            <a:ext cx="828429" cy="66729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Une communication davantage incarnée par les membres</a:t>
            </a:r>
            <a:endParaRPr lang="fr-FR" sz="700" dirty="0">
              <a:solidFill>
                <a:schemeClr val="tx1"/>
              </a:solidFill>
            </a:endParaRPr>
          </a:p>
        </p:txBody>
      </p:sp>
      <p:sp>
        <p:nvSpPr>
          <p:cNvPr id="281" name="Rectangle 280">
            <a:extLst>
              <a:ext uri="{FF2B5EF4-FFF2-40B4-BE49-F238E27FC236}">
                <a16:creationId xmlns:a16="http://schemas.microsoft.com/office/drawing/2014/main" id="{7CC086A3-2641-2242-A030-71533ED3817D}"/>
              </a:ext>
            </a:extLst>
          </p:cNvPr>
          <p:cNvSpPr/>
          <p:nvPr/>
        </p:nvSpPr>
        <p:spPr>
          <a:xfrm>
            <a:off x="10281975" y="4615983"/>
            <a:ext cx="828429" cy="1308877"/>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Moins de coûts de Communication institutionnelle (au profit d’une communication sociale par les membres)</a:t>
            </a:r>
            <a:endParaRPr lang="fr-FR" sz="700" dirty="0">
              <a:solidFill>
                <a:schemeClr val="tx1"/>
              </a:solidFill>
            </a:endParaRPr>
          </a:p>
        </p:txBody>
      </p:sp>
      <p:pic>
        <p:nvPicPr>
          <p:cNvPr id="236" name="Graphique 235" descr="Bâtiment avec un remplissage uni">
            <a:extLst>
              <a:ext uri="{FF2B5EF4-FFF2-40B4-BE49-F238E27FC236}">
                <a16:creationId xmlns:a16="http://schemas.microsoft.com/office/drawing/2014/main" id="{C7B0C152-6203-B2B0-1011-5FB60DFE09C3}"/>
              </a:ext>
            </a:extLst>
          </p:cNvPr>
          <p:cNvPicPr>
            <a:picLocks noChangeAspect="1"/>
          </p:cNvPicPr>
          <p:nvPr/>
        </p:nvPicPr>
        <p:blipFill>
          <a:blip r:embed="rId117">
            <a:extLst>
              <a:ext uri="{28A0092B-C50C-407E-A947-70E740481C1C}">
                <a14:useLocalDpi xmlns:a14="http://schemas.microsoft.com/office/drawing/2010/main" val="0"/>
              </a:ext>
              <a:ext uri="{96DAC541-7B7A-43D3-8B79-37D633B846F1}">
                <asvg:svgBlip xmlns:asvg="http://schemas.microsoft.com/office/drawing/2016/SVG/main" r:embed="rId118"/>
              </a:ext>
            </a:extLst>
          </a:blip>
          <a:stretch>
            <a:fillRect/>
          </a:stretch>
        </p:blipFill>
        <p:spPr>
          <a:xfrm>
            <a:off x="121350" y="458685"/>
            <a:ext cx="804658" cy="804658"/>
          </a:xfrm>
          <a:prstGeom prst="rect">
            <a:avLst/>
          </a:prstGeom>
        </p:spPr>
      </p:pic>
      <p:sp>
        <p:nvSpPr>
          <p:cNvPr id="264" name="Rectangle 263">
            <a:extLst>
              <a:ext uri="{FF2B5EF4-FFF2-40B4-BE49-F238E27FC236}">
                <a16:creationId xmlns:a16="http://schemas.microsoft.com/office/drawing/2014/main" id="{46050D90-36C8-3A45-3DD4-1DA4AA92C7EC}"/>
              </a:ext>
            </a:extLst>
          </p:cNvPr>
          <p:cNvSpPr/>
          <p:nvPr/>
        </p:nvSpPr>
        <p:spPr>
          <a:xfrm>
            <a:off x="4138806" y="5442622"/>
            <a:ext cx="757820" cy="8960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Rétention des collaborateurs </a:t>
            </a:r>
            <a:r>
              <a:rPr lang="fr-FR" sz="800" dirty="0">
                <a:solidFill>
                  <a:schemeClr val="tx1"/>
                </a:solidFill>
                <a:sym typeface="Wingdings" panose="05000000000000000000" pitchFamily="2" charset="2"/>
              </a:rPr>
              <a:t>et </a:t>
            </a:r>
            <a:r>
              <a:rPr lang="fr-FR" sz="800" dirty="0">
                <a:solidFill>
                  <a:schemeClr val="tx1"/>
                </a:solidFill>
              </a:rPr>
              <a:t>de la capacité de travail associée</a:t>
            </a:r>
            <a:endParaRPr lang="fr-FR" sz="700" dirty="0">
              <a:solidFill>
                <a:schemeClr val="tx1"/>
              </a:solidFill>
            </a:endParaRPr>
          </a:p>
        </p:txBody>
      </p:sp>
      <p:sp>
        <p:nvSpPr>
          <p:cNvPr id="267" name="Rectangle 266">
            <a:extLst>
              <a:ext uri="{FF2B5EF4-FFF2-40B4-BE49-F238E27FC236}">
                <a16:creationId xmlns:a16="http://schemas.microsoft.com/office/drawing/2014/main" id="{41DB77EF-DEDB-A096-FA64-524EE4ECC497}"/>
              </a:ext>
            </a:extLst>
          </p:cNvPr>
          <p:cNvSpPr/>
          <p:nvPr/>
        </p:nvSpPr>
        <p:spPr>
          <a:xfrm>
            <a:off x="3135724" y="6283756"/>
            <a:ext cx="894686" cy="55929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Meilleure rétention des collaborateurs</a:t>
            </a:r>
            <a:endParaRPr lang="fr-FR" sz="700" dirty="0">
              <a:solidFill>
                <a:schemeClr val="tx1"/>
              </a:solidFill>
            </a:endParaRPr>
          </a:p>
        </p:txBody>
      </p:sp>
    </p:spTree>
    <p:extLst>
      <p:ext uri="{BB962C8B-B14F-4D97-AF65-F5344CB8AC3E}">
        <p14:creationId xmlns:p14="http://schemas.microsoft.com/office/powerpoint/2010/main" val="377617307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8B6C38E-625E-9F4A-03F7-0862BC00FF23}"/>
              </a:ext>
            </a:extLst>
          </p:cNvPr>
          <p:cNvSpPr>
            <a:spLocks noGrp="1"/>
          </p:cNvSpPr>
          <p:nvPr>
            <p:ph type="title"/>
          </p:nvPr>
        </p:nvSpPr>
        <p:spPr/>
        <p:txBody>
          <a:bodyPr/>
          <a:lstStyle/>
          <a:p>
            <a:r>
              <a:rPr lang="fr-FR" dirty="0"/>
              <a:t>Déclinaison des effets positifs par précision de mesure – Valeur pour l’entreprise</a:t>
            </a:r>
          </a:p>
        </p:txBody>
      </p:sp>
      <p:sp>
        <p:nvSpPr>
          <p:cNvPr id="6" name="Ellipse 5">
            <a:extLst>
              <a:ext uri="{FF2B5EF4-FFF2-40B4-BE49-F238E27FC236}">
                <a16:creationId xmlns:a16="http://schemas.microsoft.com/office/drawing/2014/main" id="{FDC6A6BA-47CF-3EB8-DC10-616CD3693949}"/>
              </a:ext>
            </a:extLst>
          </p:cNvPr>
          <p:cNvSpPr/>
          <p:nvPr/>
        </p:nvSpPr>
        <p:spPr>
          <a:xfrm>
            <a:off x="546683" y="1690688"/>
            <a:ext cx="11232858" cy="4932522"/>
          </a:xfrm>
          <a:prstGeom prst="ellipse">
            <a:avLst/>
          </a:prstGeom>
          <a:solidFill>
            <a:srgbClr val="54FFB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Ellipse 7">
            <a:extLst>
              <a:ext uri="{FF2B5EF4-FFF2-40B4-BE49-F238E27FC236}">
                <a16:creationId xmlns:a16="http://schemas.microsoft.com/office/drawing/2014/main" id="{50E400B1-8671-E1D1-82C1-C3B604BF64C7}"/>
              </a:ext>
            </a:extLst>
          </p:cNvPr>
          <p:cNvSpPr/>
          <p:nvPr/>
        </p:nvSpPr>
        <p:spPr>
          <a:xfrm>
            <a:off x="4149298" y="2449385"/>
            <a:ext cx="7630243" cy="3350558"/>
          </a:xfrm>
          <a:prstGeom prst="ellipse">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Ellipse 9">
            <a:extLst>
              <a:ext uri="{FF2B5EF4-FFF2-40B4-BE49-F238E27FC236}">
                <a16:creationId xmlns:a16="http://schemas.microsoft.com/office/drawing/2014/main" id="{BBEEF80C-8ACF-33CD-5135-DA06657B5918}"/>
              </a:ext>
            </a:extLst>
          </p:cNvPr>
          <p:cNvSpPr/>
          <p:nvPr/>
        </p:nvSpPr>
        <p:spPr>
          <a:xfrm>
            <a:off x="7292282" y="3233906"/>
            <a:ext cx="4017625" cy="186609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ZoneTexte 10">
            <a:extLst>
              <a:ext uri="{FF2B5EF4-FFF2-40B4-BE49-F238E27FC236}">
                <a16:creationId xmlns:a16="http://schemas.microsoft.com/office/drawing/2014/main" id="{BBE5E0CE-F64D-9989-B901-A7973628A877}"/>
              </a:ext>
            </a:extLst>
          </p:cNvPr>
          <p:cNvSpPr txBox="1"/>
          <p:nvPr/>
        </p:nvSpPr>
        <p:spPr>
          <a:xfrm>
            <a:off x="2247367" y="2282827"/>
            <a:ext cx="3247356" cy="523220"/>
          </a:xfrm>
          <a:prstGeom prst="rect">
            <a:avLst/>
          </a:prstGeom>
          <a:noFill/>
        </p:spPr>
        <p:txBody>
          <a:bodyPr wrap="square" rtlCol="0">
            <a:spAutoFit/>
          </a:bodyPr>
          <a:lstStyle/>
          <a:p>
            <a:r>
              <a:rPr lang="fr-FR" sz="1400" b="1" dirty="0"/>
              <a:t>Effets positifs de la Communauté sur l’entreprise </a:t>
            </a:r>
          </a:p>
        </p:txBody>
      </p:sp>
      <p:sp>
        <p:nvSpPr>
          <p:cNvPr id="13" name="ZoneTexte 12">
            <a:extLst>
              <a:ext uri="{FF2B5EF4-FFF2-40B4-BE49-F238E27FC236}">
                <a16:creationId xmlns:a16="http://schemas.microsoft.com/office/drawing/2014/main" id="{D7032AFD-3883-D96A-152E-5456277888D0}"/>
              </a:ext>
            </a:extLst>
          </p:cNvPr>
          <p:cNvSpPr txBox="1"/>
          <p:nvPr/>
        </p:nvSpPr>
        <p:spPr>
          <a:xfrm>
            <a:off x="5572788" y="2764302"/>
            <a:ext cx="3438983" cy="738664"/>
          </a:xfrm>
          <a:prstGeom prst="rect">
            <a:avLst/>
          </a:prstGeom>
          <a:noFill/>
        </p:spPr>
        <p:txBody>
          <a:bodyPr wrap="square" rtlCol="0">
            <a:spAutoFit/>
          </a:bodyPr>
          <a:lstStyle/>
          <a:p>
            <a:r>
              <a:rPr lang="fr-FR" sz="1400" b="1" dirty="0"/>
              <a:t>Effets positifs avec observables concrets (faits, constats, etc.) rattachables facilement à la Communauté</a:t>
            </a:r>
          </a:p>
        </p:txBody>
      </p:sp>
      <p:sp>
        <p:nvSpPr>
          <p:cNvPr id="15" name="ZoneTexte 14">
            <a:extLst>
              <a:ext uri="{FF2B5EF4-FFF2-40B4-BE49-F238E27FC236}">
                <a16:creationId xmlns:a16="http://schemas.microsoft.com/office/drawing/2014/main" id="{FC927758-B13D-A4D9-DCA5-94B766145146}"/>
              </a:ext>
            </a:extLst>
          </p:cNvPr>
          <p:cNvSpPr txBox="1"/>
          <p:nvPr/>
        </p:nvSpPr>
        <p:spPr>
          <a:xfrm>
            <a:off x="7888673" y="3315824"/>
            <a:ext cx="2824841" cy="523220"/>
          </a:xfrm>
          <a:prstGeom prst="rect">
            <a:avLst/>
          </a:prstGeom>
          <a:noFill/>
        </p:spPr>
        <p:txBody>
          <a:bodyPr wrap="square" rtlCol="0">
            <a:spAutoFit/>
          </a:bodyPr>
          <a:lstStyle/>
          <a:p>
            <a:pPr algn="ctr"/>
            <a:r>
              <a:rPr lang="fr-FR" sz="1400" b="1" dirty="0">
                <a:solidFill>
                  <a:schemeClr val="bg1"/>
                </a:solidFill>
              </a:rPr>
              <a:t>Effets considérés pour des KPIs (mesures régulières possibles,…)</a:t>
            </a:r>
          </a:p>
        </p:txBody>
      </p:sp>
    </p:spTree>
    <p:extLst>
      <p:ext uri="{BB962C8B-B14F-4D97-AF65-F5344CB8AC3E}">
        <p14:creationId xmlns:p14="http://schemas.microsoft.com/office/powerpoint/2010/main" val="236939699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D90D65F-8BBB-A2ED-528D-0ABA86229B18}"/>
              </a:ext>
            </a:extLst>
          </p:cNvPr>
          <p:cNvSpPr>
            <a:spLocks noGrp="1"/>
          </p:cNvSpPr>
          <p:nvPr>
            <p:ph type="title"/>
          </p:nvPr>
        </p:nvSpPr>
        <p:spPr>
          <a:xfrm>
            <a:off x="1048268" y="365125"/>
            <a:ext cx="10305531" cy="1325563"/>
          </a:xfrm>
        </p:spPr>
        <p:txBody>
          <a:bodyPr>
            <a:noAutofit/>
          </a:bodyPr>
          <a:lstStyle/>
          <a:p>
            <a:r>
              <a:rPr lang="fr-FR" sz="3200" dirty="0"/>
              <a:t>Exemples d’activités par services aux fonctions d’entreprise</a:t>
            </a:r>
            <a:br>
              <a:rPr lang="fr-FR" sz="2400" dirty="0"/>
            </a:br>
            <a:r>
              <a:rPr lang="fr-FR" sz="2000" dirty="0"/>
              <a:t>📅Evènements  , ✍️Contenus, ⚙️Structuration de Communauté</a:t>
            </a:r>
            <a:endParaRPr lang="fr-FR" sz="2400" dirty="0"/>
          </a:p>
        </p:txBody>
      </p:sp>
      <p:grpSp>
        <p:nvGrpSpPr>
          <p:cNvPr id="37" name="Groupe 36">
            <a:extLst>
              <a:ext uri="{FF2B5EF4-FFF2-40B4-BE49-F238E27FC236}">
                <a16:creationId xmlns:a16="http://schemas.microsoft.com/office/drawing/2014/main" id="{5247C6D6-4B2C-B65D-29D1-405258303635}"/>
              </a:ext>
            </a:extLst>
          </p:cNvPr>
          <p:cNvGrpSpPr/>
          <p:nvPr/>
        </p:nvGrpSpPr>
        <p:grpSpPr>
          <a:xfrm>
            <a:off x="3135724" y="2414660"/>
            <a:ext cx="894686" cy="798036"/>
            <a:chOff x="6597866" y="3344326"/>
            <a:chExt cx="1188000" cy="1059664"/>
          </a:xfrm>
        </p:grpSpPr>
        <p:sp>
          <p:nvSpPr>
            <p:cNvPr id="38" name="Rectangle 37">
              <a:extLst>
                <a:ext uri="{FF2B5EF4-FFF2-40B4-BE49-F238E27FC236}">
                  <a16:creationId xmlns:a16="http://schemas.microsoft.com/office/drawing/2014/main" id="{5A6D9506-DAD9-4F6E-F54D-E53F8EC0F91E}"/>
                </a:ext>
              </a:extLst>
            </p:cNvPr>
            <p:cNvSpPr/>
            <p:nvPr/>
          </p:nvSpPr>
          <p:spPr>
            <a:xfrm>
              <a:off x="6597866"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RH</a:t>
              </a:r>
            </a:p>
            <a:p>
              <a:pPr algn="ctr"/>
              <a:r>
                <a:rPr lang="fr-FR" sz="700" dirty="0">
                  <a:solidFill>
                    <a:schemeClr val="bg1"/>
                  </a:solidFill>
                </a:rPr>
                <a:t>Carrières</a:t>
              </a:r>
            </a:p>
          </p:txBody>
        </p:sp>
        <p:grpSp>
          <p:nvGrpSpPr>
            <p:cNvPr id="39" name="Groupe 38">
              <a:extLst>
                <a:ext uri="{FF2B5EF4-FFF2-40B4-BE49-F238E27FC236}">
                  <a16:creationId xmlns:a16="http://schemas.microsoft.com/office/drawing/2014/main" id="{C66F5E36-726F-FF2E-30C0-C6E44C05BB1E}"/>
                </a:ext>
              </a:extLst>
            </p:cNvPr>
            <p:cNvGrpSpPr/>
            <p:nvPr/>
          </p:nvGrpSpPr>
          <p:grpSpPr>
            <a:xfrm>
              <a:off x="6650513" y="3344326"/>
              <a:ext cx="1020563" cy="496065"/>
              <a:chOff x="6713702" y="745208"/>
              <a:chExt cx="4891967" cy="2377838"/>
            </a:xfrm>
          </p:grpSpPr>
          <p:pic>
            <p:nvPicPr>
              <p:cNvPr id="40" name="Graphique 39" descr="Ramper avec un remplissage uni">
                <a:extLst>
                  <a:ext uri="{FF2B5EF4-FFF2-40B4-BE49-F238E27FC236}">
                    <a16:creationId xmlns:a16="http://schemas.microsoft.com/office/drawing/2014/main" id="{4904C683-F405-8AE7-8A60-5A81F22D0E3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713702" y="2208646"/>
                <a:ext cx="914400" cy="914400"/>
              </a:xfrm>
              <a:prstGeom prst="rect">
                <a:avLst/>
              </a:prstGeom>
            </p:spPr>
          </p:pic>
          <p:pic>
            <p:nvPicPr>
              <p:cNvPr id="41" name="Graphique 40" descr="Marcher avec un remplissage uni">
                <a:extLst>
                  <a:ext uri="{FF2B5EF4-FFF2-40B4-BE49-F238E27FC236}">
                    <a16:creationId xmlns:a16="http://schemas.microsoft.com/office/drawing/2014/main" id="{44A7672E-B035-A126-1235-D4512D0C5F1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650711" y="1900170"/>
                <a:ext cx="914400" cy="914400"/>
              </a:xfrm>
              <a:prstGeom prst="rect">
                <a:avLst/>
              </a:prstGeom>
            </p:spPr>
          </p:pic>
          <p:pic>
            <p:nvPicPr>
              <p:cNvPr id="42" name="Graphique 41" descr="Courir avec un remplissage uni">
                <a:extLst>
                  <a:ext uri="{FF2B5EF4-FFF2-40B4-BE49-F238E27FC236}">
                    <a16:creationId xmlns:a16="http://schemas.microsoft.com/office/drawing/2014/main" id="{336A339A-15DF-FC9F-30B6-875DA6A29AA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587720" y="1591693"/>
                <a:ext cx="914400" cy="914400"/>
              </a:xfrm>
              <a:prstGeom prst="rect">
                <a:avLst/>
              </a:prstGeom>
            </p:spPr>
          </p:pic>
          <p:pic>
            <p:nvPicPr>
              <p:cNvPr id="43" name="Graphique 42" descr="Héros avec un remplissage uni">
                <a:extLst>
                  <a:ext uri="{FF2B5EF4-FFF2-40B4-BE49-F238E27FC236}">
                    <a16:creationId xmlns:a16="http://schemas.microsoft.com/office/drawing/2014/main" id="{1D96A8ED-BC46-9A0F-9D58-78A52C045D0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691269" y="745208"/>
                <a:ext cx="914400" cy="914400"/>
              </a:xfrm>
              <a:prstGeom prst="rect">
                <a:avLst/>
              </a:prstGeom>
            </p:spPr>
          </p:pic>
          <p:pic>
            <p:nvPicPr>
              <p:cNvPr id="44" name="Graphique 43" descr="Aspiration avec un remplissage uni">
                <a:extLst>
                  <a:ext uri="{FF2B5EF4-FFF2-40B4-BE49-F238E27FC236}">
                    <a16:creationId xmlns:a16="http://schemas.microsoft.com/office/drawing/2014/main" id="{EB7F558A-AB58-9316-EDE0-150C3BF4026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524729" y="1053685"/>
                <a:ext cx="1143931" cy="1143931"/>
              </a:xfrm>
              <a:prstGeom prst="rect">
                <a:avLst/>
              </a:prstGeom>
            </p:spPr>
          </p:pic>
        </p:grpSp>
      </p:grpSp>
      <p:grpSp>
        <p:nvGrpSpPr>
          <p:cNvPr id="45" name="Groupe 44">
            <a:extLst>
              <a:ext uri="{FF2B5EF4-FFF2-40B4-BE49-F238E27FC236}">
                <a16:creationId xmlns:a16="http://schemas.microsoft.com/office/drawing/2014/main" id="{06F5CDB9-6AD7-3A8D-A016-29E9C85FD29F}"/>
              </a:ext>
            </a:extLst>
          </p:cNvPr>
          <p:cNvGrpSpPr/>
          <p:nvPr/>
        </p:nvGrpSpPr>
        <p:grpSpPr>
          <a:xfrm>
            <a:off x="153583" y="2072328"/>
            <a:ext cx="894687" cy="1153264"/>
            <a:chOff x="1241541" y="2872641"/>
            <a:chExt cx="1188000" cy="1531349"/>
          </a:xfrm>
        </p:grpSpPr>
        <p:sp>
          <p:nvSpPr>
            <p:cNvPr id="46" name="Rectangle 45">
              <a:extLst>
                <a:ext uri="{FF2B5EF4-FFF2-40B4-BE49-F238E27FC236}">
                  <a16:creationId xmlns:a16="http://schemas.microsoft.com/office/drawing/2014/main" id="{E9330ED1-AA8C-FDCF-6698-169F58BED3E2}"/>
                </a:ext>
              </a:extLst>
            </p:cNvPr>
            <p:cNvSpPr/>
            <p:nvPr/>
          </p:nvSpPr>
          <p:spPr>
            <a:xfrm>
              <a:off x="1241541"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RH</a:t>
              </a:r>
            </a:p>
            <a:p>
              <a:pPr algn="ctr"/>
              <a:r>
                <a:rPr lang="fr-FR" sz="700" dirty="0">
                  <a:solidFill>
                    <a:schemeClr val="bg1"/>
                  </a:solidFill>
                </a:rPr>
                <a:t>Recrutement</a:t>
              </a:r>
            </a:p>
          </p:txBody>
        </p:sp>
        <p:grpSp>
          <p:nvGrpSpPr>
            <p:cNvPr id="47" name="Groupe 46">
              <a:extLst>
                <a:ext uri="{FF2B5EF4-FFF2-40B4-BE49-F238E27FC236}">
                  <a16:creationId xmlns:a16="http://schemas.microsoft.com/office/drawing/2014/main" id="{2CAB0DBF-D2AE-FDC0-7517-850991731F7A}"/>
                </a:ext>
              </a:extLst>
            </p:cNvPr>
            <p:cNvGrpSpPr/>
            <p:nvPr/>
          </p:nvGrpSpPr>
          <p:grpSpPr>
            <a:xfrm>
              <a:off x="1464325" y="2872641"/>
              <a:ext cx="785986" cy="957881"/>
              <a:chOff x="8056685" y="3865046"/>
              <a:chExt cx="2005985" cy="2444694"/>
            </a:xfrm>
          </p:grpSpPr>
          <p:pic>
            <p:nvPicPr>
              <p:cNvPr id="48" name="Graphique 47" descr="Salle de conseil avec un remplissage uni">
                <a:extLst>
                  <a:ext uri="{FF2B5EF4-FFF2-40B4-BE49-F238E27FC236}">
                    <a16:creationId xmlns:a16="http://schemas.microsoft.com/office/drawing/2014/main" id="{BB413251-9C32-1027-B739-064112284F4B}"/>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b="16472"/>
              <a:stretch/>
            </p:blipFill>
            <p:spPr>
              <a:xfrm>
                <a:off x="8485542" y="5133555"/>
                <a:ext cx="1408125" cy="1176185"/>
              </a:xfrm>
              <a:prstGeom prst="rect">
                <a:avLst/>
              </a:prstGeom>
            </p:spPr>
          </p:pic>
          <p:pic>
            <p:nvPicPr>
              <p:cNvPr id="49" name="Graphique 48" descr="Croissance de l'activité avec un remplissage uni">
                <a:extLst>
                  <a:ext uri="{FF2B5EF4-FFF2-40B4-BE49-F238E27FC236}">
                    <a16:creationId xmlns:a16="http://schemas.microsoft.com/office/drawing/2014/main" id="{9FEF8F61-2543-3D14-29C3-A559BB52C8E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056685" y="3865046"/>
                <a:ext cx="2005985" cy="2005985"/>
              </a:xfrm>
              <a:prstGeom prst="rect">
                <a:avLst/>
              </a:prstGeom>
            </p:spPr>
          </p:pic>
        </p:grpSp>
      </p:grpSp>
      <p:grpSp>
        <p:nvGrpSpPr>
          <p:cNvPr id="50" name="Groupe 49">
            <a:extLst>
              <a:ext uri="{FF2B5EF4-FFF2-40B4-BE49-F238E27FC236}">
                <a16:creationId xmlns:a16="http://schemas.microsoft.com/office/drawing/2014/main" id="{D485250F-B0E1-AB51-E0D9-000CEACEEEAC}"/>
              </a:ext>
            </a:extLst>
          </p:cNvPr>
          <p:cNvGrpSpPr/>
          <p:nvPr/>
        </p:nvGrpSpPr>
        <p:grpSpPr>
          <a:xfrm>
            <a:off x="1147630" y="2329719"/>
            <a:ext cx="894687" cy="895873"/>
            <a:chOff x="2998706" y="3222767"/>
            <a:chExt cx="1188000" cy="1189575"/>
          </a:xfrm>
        </p:grpSpPr>
        <p:sp>
          <p:nvSpPr>
            <p:cNvPr id="51" name="Rectangle 50">
              <a:extLst>
                <a:ext uri="{FF2B5EF4-FFF2-40B4-BE49-F238E27FC236}">
                  <a16:creationId xmlns:a16="http://schemas.microsoft.com/office/drawing/2014/main" id="{8ACE2E83-8C62-5BFB-EEC9-D71560865F6D}"/>
                </a:ext>
              </a:extLst>
            </p:cNvPr>
            <p:cNvSpPr/>
            <p:nvPr/>
          </p:nvSpPr>
          <p:spPr>
            <a:xfrm>
              <a:off x="2998706" y="3898719"/>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a:solidFill>
                    <a:schemeClr val="bg1"/>
                  </a:solidFill>
                </a:rPr>
                <a:t>RH</a:t>
              </a:r>
            </a:p>
            <a:p>
              <a:pPr algn="ctr"/>
              <a:r>
                <a:rPr lang="fr-FR" sz="700">
                  <a:solidFill>
                    <a:schemeClr val="bg1"/>
                  </a:solidFill>
                </a:rPr>
                <a:t>Intégration</a:t>
              </a:r>
            </a:p>
          </p:txBody>
        </p:sp>
        <p:grpSp>
          <p:nvGrpSpPr>
            <p:cNvPr id="52" name="Groupe 51">
              <a:extLst>
                <a:ext uri="{FF2B5EF4-FFF2-40B4-BE49-F238E27FC236}">
                  <a16:creationId xmlns:a16="http://schemas.microsoft.com/office/drawing/2014/main" id="{3CF8005D-2423-FF38-DCEF-CF7DF02F157C}"/>
                </a:ext>
              </a:extLst>
            </p:cNvPr>
            <p:cNvGrpSpPr/>
            <p:nvPr/>
          </p:nvGrpSpPr>
          <p:grpSpPr>
            <a:xfrm>
              <a:off x="3130879" y="3222767"/>
              <a:ext cx="935471" cy="541840"/>
              <a:chOff x="626984" y="628802"/>
              <a:chExt cx="5131851" cy="2356880"/>
            </a:xfrm>
          </p:grpSpPr>
          <p:cxnSp>
            <p:nvCxnSpPr>
              <p:cNvPr id="53" name="Connecteur droit avec flèche 52">
                <a:extLst>
                  <a:ext uri="{FF2B5EF4-FFF2-40B4-BE49-F238E27FC236}">
                    <a16:creationId xmlns:a16="http://schemas.microsoft.com/office/drawing/2014/main" id="{DCAF9DB5-2E81-F2B6-7F6F-81A49E5CAA7B}"/>
                  </a:ext>
                </a:extLst>
              </p:cNvPr>
              <p:cNvCxnSpPr>
                <a:cxnSpLocks/>
              </p:cNvCxnSpPr>
              <p:nvPr/>
            </p:nvCxnSpPr>
            <p:spPr>
              <a:xfrm flipV="1">
                <a:off x="626984" y="1565043"/>
                <a:ext cx="5131851" cy="1210667"/>
              </a:xfrm>
              <a:prstGeom prst="straightConnector1">
                <a:avLst/>
              </a:prstGeom>
              <a:ln w="57150">
                <a:prstDash val="dash"/>
                <a:tailEnd type="triangle"/>
              </a:ln>
            </p:spPr>
            <p:style>
              <a:lnRef idx="1">
                <a:schemeClr val="accent1"/>
              </a:lnRef>
              <a:fillRef idx="0">
                <a:schemeClr val="accent1"/>
              </a:fillRef>
              <a:effectRef idx="0">
                <a:schemeClr val="accent1"/>
              </a:effectRef>
              <a:fontRef idx="minor">
                <a:schemeClr val="tx1"/>
              </a:fontRef>
            </p:style>
          </p:cxnSp>
          <p:pic>
            <p:nvPicPr>
              <p:cNvPr id="54" name="Graphique 53" descr="Personne confuse avec un remplissage uni">
                <a:extLst>
                  <a:ext uri="{FF2B5EF4-FFF2-40B4-BE49-F238E27FC236}">
                    <a16:creationId xmlns:a16="http://schemas.microsoft.com/office/drawing/2014/main" id="{C4FC537C-2B5E-5DD4-580C-2EFB49BF86F4}"/>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604967" y="1805997"/>
                <a:ext cx="940978" cy="940978"/>
              </a:xfrm>
              <a:prstGeom prst="rect">
                <a:avLst/>
              </a:prstGeom>
            </p:spPr>
          </p:pic>
          <p:pic>
            <p:nvPicPr>
              <p:cNvPr id="55" name="Graphique 54" descr="Réussite du groupe avec un remplissage uni">
                <a:extLst>
                  <a:ext uri="{FF2B5EF4-FFF2-40B4-BE49-F238E27FC236}">
                    <a16:creationId xmlns:a16="http://schemas.microsoft.com/office/drawing/2014/main" id="{3F7707C4-0CC9-0B10-865A-F401457EF17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4228767" y="628802"/>
                <a:ext cx="1492354" cy="1492354"/>
              </a:xfrm>
              <a:prstGeom prst="rect">
                <a:avLst/>
              </a:prstGeom>
            </p:spPr>
          </p:pic>
          <p:pic>
            <p:nvPicPr>
              <p:cNvPr id="56" name="Graphique 55" descr="Personne confuse avec un remplissage uni">
                <a:extLst>
                  <a:ext uri="{FF2B5EF4-FFF2-40B4-BE49-F238E27FC236}">
                    <a16:creationId xmlns:a16="http://schemas.microsoft.com/office/drawing/2014/main" id="{769EDF39-D0C3-3E4D-F856-09DE2C5508B5}"/>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2479567" y="1609677"/>
                <a:ext cx="940978" cy="940978"/>
              </a:xfrm>
              <a:prstGeom prst="rect">
                <a:avLst/>
              </a:prstGeom>
            </p:spPr>
          </p:pic>
          <p:pic>
            <p:nvPicPr>
              <p:cNvPr id="57" name="Graphique 56" descr="Personne confuse avec un remplissage uni">
                <a:extLst>
                  <a:ext uri="{FF2B5EF4-FFF2-40B4-BE49-F238E27FC236}">
                    <a16:creationId xmlns:a16="http://schemas.microsoft.com/office/drawing/2014/main" id="{A7D53A76-8833-0ABC-84DC-11D1020B720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656694" y="2044704"/>
                <a:ext cx="940978" cy="940978"/>
              </a:xfrm>
              <a:prstGeom prst="rect">
                <a:avLst/>
              </a:prstGeom>
            </p:spPr>
          </p:pic>
          <p:pic>
            <p:nvPicPr>
              <p:cNvPr id="58" name="Graphique 57" descr="Personne confuse avec un remplissage uni">
                <a:extLst>
                  <a:ext uri="{FF2B5EF4-FFF2-40B4-BE49-F238E27FC236}">
                    <a16:creationId xmlns:a16="http://schemas.microsoft.com/office/drawing/2014/main" id="{646DC079-7818-AF55-3F32-E58F09F2DB4C}"/>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293254" y="1399398"/>
                <a:ext cx="940978" cy="940978"/>
              </a:xfrm>
              <a:prstGeom prst="rect">
                <a:avLst/>
              </a:prstGeom>
            </p:spPr>
          </p:pic>
          <p:pic>
            <p:nvPicPr>
              <p:cNvPr id="59" name="Graphique 58" descr="Personne confuse avec un remplissage uni">
                <a:extLst>
                  <a:ext uri="{FF2B5EF4-FFF2-40B4-BE49-F238E27FC236}">
                    <a16:creationId xmlns:a16="http://schemas.microsoft.com/office/drawing/2014/main" id="{11A3DAD6-AB5E-1A6F-84EA-0ECE659A3C90}"/>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4234476" y="1189119"/>
                <a:ext cx="940978" cy="940978"/>
              </a:xfrm>
              <a:prstGeom prst="rect">
                <a:avLst/>
              </a:prstGeom>
            </p:spPr>
          </p:pic>
        </p:grpSp>
      </p:grpSp>
      <p:grpSp>
        <p:nvGrpSpPr>
          <p:cNvPr id="60" name="Groupe 59">
            <a:extLst>
              <a:ext uri="{FF2B5EF4-FFF2-40B4-BE49-F238E27FC236}">
                <a16:creationId xmlns:a16="http://schemas.microsoft.com/office/drawing/2014/main" id="{37034C96-E21A-DBB2-033F-7DDFD6B6B4C7}"/>
              </a:ext>
            </a:extLst>
          </p:cNvPr>
          <p:cNvGrpSpPr/>
          <p:nvPr/>
        </p:nvGrpSpPr>
        <p:grpSpPr>
          <a:xfrm>
            <a:off x="2141678" y="2032370"/>
            <a:ext cx="894686" cy="1181662"/>
            <a:chOff x="4859249" y="2834933"/>
            <a:chExt cx="1188000" cy="1569057"/>
          </a:xfrm>
        </p:grpSpPr>
        <p:sp>
          <p:nvSpPr>
            <p:cNvPr id="61" name="Rectangle 60">
              <a:extLst>
                <a:ext uri="{FF2B5EF4-FFF2-40B4-BE49-F238E27FC236}">
                  <a16:creationId xmlns:a16="http://schemas.microsoft.com/office/drawing/2014/main" id="{59F2E259-2739-11A4-FC94-7F50DDFB8A77}"/>
                </a:ext>
              </a:extLst>
            </p:cNvPr>
            <p:cNvSpPr/>
            <p:nvPr/>
          </p:nvSpPr>
          <p:spPr>
            <a:xfrm>
              <a:off x="4859249"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RH</a:t>
              </a:r>
            </a:p>
            <a:p>
              <a:pPr algn="ctr"/>
              <a:r>
                <a:rPr lang="fr-FR" sz="700" dirty="0">
                  <a:solidFill>
                    <a:schemeClr val="bg1"/>
                  </a:solidFill>
                </a:rPr>
                <a:t>Formation</a:t>
              </a:r>
            </a:p>
          </p:txBody>
        </p:sp>
        <p:grpSp>
          <p:nvGrpSpPr>
            <p:cNvPr id="62" name="Groupe 61">
              <a:extLst>
                <a:ext uri="{FF2B5EF4-FFF2-40B4-BE49-F238E27FC236}">
                  <a16:creationId xmlns:a16="http://schemas.microsoft.com/office/drawing/2014/main" id="{E4EE9029-69BB-BBE4-AF49-E43123763FC8}"/>
                </a:ext>
              </a:extLst>
            </p:cNvPr>
            <p:cNvGrpSpPr/>
            <p:nvPr/>
          </p:nvGrpSpPr>
          <p:grpSpPr>
            <a:xfrm>
              <a:off x="4953396" y="2834933"/>
              <a:ext cx="1021038" cy="1060714"/>
              <a:chOff x="1793893" y="3948469"/>
              <a:chExt cx="2716107" cy="2749848"/>
            </a:xfrm>
          </p:grpSpPr>
          <p:pic>
            <p:nvPicPr>
              <p:cNvPr id="63" name="Graphique 62" descr="Diplôme roulé avec un remplissage uni">
                <a:extLst>
                  <a:ext uri="{FF2B5EF4-FFF2-40B4-BE49-F238E27FC236}">
                    <a16:creationId xmlns:a16="http://schemas.microsoft.com/office/drawing/2014/main" id="{96F90AA5-3F3D-9997-0C80-66733E46AE7B}"/>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2976734" y="5783917"/>
                <a:ext cx="914400" cy="914400"/>
              </a:xfrm>
              <a:prstGeom prst="rect">
                <a:avLst/>
              </a:prstGeom>
            </p:spPr>
          </p:pic>
          <p:grpSp>
            <p:nvGrpSpPr>
              <p:cNvPr id="64" name="Groupe 63">
                <a:extLst>
                  <a:ext uri="{FF2B5EF4-FFF2-40B4-BE49-F238E27FC236}">
                    <a16:creationId xmlns:a16="http://schemas.microsoft.com/office/drawing/2014/main" id="{F2DE79C2-6E7D-8514-1074-FA0FAE9587DE}"/>
                  </a:ext>
                </a:extLst>
              </p:cNvPr>
              <p:cNvGrpSpPr/>
              <p:nvPr/>
            </p:nvGrpSpPr>
            <p:grpSpPr>
              <a:xfrm>
                <a:off x="1793893" y="3948469"/>
                <a:ext cx="2716107" cy="2284168"/>
                <a:chOff x="1793893" y="3948469"/>
                <a:chExt cx="2716107" cy="2284168"/>
              </a:xfrm>
            </p:grpSpPr>
            <p:sp>
              <p:nvSpPr>
                <p:cNvPr id="65" name="Ellipse 64">
                  <a:extLst>
                    <a:ext uri="{FF2B5EF4-FFF2-40B4-BE49-F238E27FC236}">
                      <a16:creationId xmlns:a16="http://schemas.microsoft.com/office/drawing/2014/main" id="{840FB310-6F6B-51E5-772C-F3A5D4FEC44D}"/>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pic>
              <p:nvPicPr>
                <p:cNvPr id="66" name="Graphique 65" descr="Transférer avec un remplissage uni">
                  <a:extLst>
                    <a:ext uri="{FF2B5EF4-FFF2-40B4-BE49-F238E27FC236}">
                      <a16:creationId xmlns:a16="http://schemas.microsoft.com/office/drawing/2014/main" id="{A7DB15F2-5A50-1159-5B39-AC4F5B9B76CA}"/>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1979208" y="4142052"/>
                  <a:ext cx="914400" cy="914400"/>
                </a:xfrm>
                <a:prstGeom prst="rect">
                  <a:avLst/>
                </a:prstGeom>
              </p:spPr>
            </p:pic>
            <p:pic>
              <p:nvPicPr>
                <p:cNvPr id="67" name="Graphique 66" descr="Toque d'étudiant avec un remplissage uni">
                  <a:extLst>
                    <a:ext uri="{FF2B5EF4-FFF2-40B4-BE49-F238E27FC236}">
                      <a16:creationId xmlns:a16="http://schemas.microsoft.com/office/drawing/2014/main" id="{8456FF15-0C69-098C-B035-CCD54F3EBEDE}"/>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3260713" y="3948469"/>
                  <a:ext cx="914400" cy="914400"/>
                </a:xfrm>
                <a:prstGeom prst="rect">
                  <a:avLst/>
                </a:prstGeom>
              </p:spPr>
            </p:pic>
            <p:pic>
              <p:nvPicPr>
                <p:cNvPr id="68" name="Graphique 67" descr="Idée avec un remplissage uni">
                  <a:extLst>
                    <a:ext uri="{FF2B5EF4-FFF2-40B4-BE49-F238E27FC236}">
                      <a16:creationId xmlns:a16="http://schemas.microsoft.com/office/drawing/2014/main" id="{8475E1F8-0932-E34E-FAA5-C7C958D004D2}"/>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1793893" y="5264448"/>
                  <a:ext cx="914400" cy="914400"/>
                </a:xfrm>
                <a:prstGeom prst="rect">
                  <a:avLst/>
                </a:prstGeom>
              </p:spPr>
            </p:pic>
            <p:pic>
              <p:nvPicPr>
                <p:cNvPr id="69" name="Graphique 68" descr="Chat avec un remplissage uni">
                  <a:extLst>
                    <a:ext uri="{FF2B5EF4-FFF2-40B4-BE49-F238E27FC236}">
                      <a16:creationId xmlns:a16="http://schemas.microsoft.com/office/drawing/2014/main" id="{128EF4A3-7F7F-99A8-E6D1-DA5CF3CCD4CF}"/>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3595600" y="4881866"/>
                  <a:ext cx="914400" cy="914400"/>
                </a:xfrm>
                <a:prstGeom prst="rect">
                  <a:avLst/>
                </a:prstGeom>
              </p:spPr>
            </p:pic>
          </p:grpSp>
        </p:grpSp>
      </p:grpSp>
      <p:grpSp>
        <p:nvGrpSpPr>
          <p:cNvPr id="70" name="Groupe 69">
            <a:extLst>
              <a:ext uri="{FF2B5EF4-FFF2-40B4-BE49-F238E27FC236}">
                <a16:creationId xmlns:a16="http://schemas.microsoft.com/office/drawing/2014/main" id="{1637635D-0B7D-0A08-B276-9A97DAA6BF0E}"/>
              </a:ext>
            </a:extLst>
          </p:cNvPr>
          <p:cNvGrpSpPr/>
          <p:nvPr/>
        </p:nvGrpSpPr>
        <p:grpSpPr>
          <a:xfrm>
            <a:off x="4129770" y="2221680"/>
            <a:ext cx="771375" cy="991017"/>
            <a:chOff x="1263318" y="4795766"/>
            <a:chExt cx="1188000" cy="1526271"/>
          </a:xfrm>
        </p:grpSpPr>
        <p:sp>
          <p:nvSpPr>
            <p:cNvPr id="71" name="Rectangle 70">
              <a:extLst>
                <a:ext uri="{FF2B5EF4-FFF2-40B4-BE49-F238E27FC236}">
                  <a16:creationId xmlns:a16="http://schemas.microsoft.com/office/drawing/2014/main" id="{7439F5E8-45C7-29A5-837B-421980C0AF34}"/>
                </a:ext>
              </a:extLst>
            </p:cNvPr>
            <p:cNvSpPr/>
            <p:nvPr/>
          </p:nvSpPr>
          <p:spPr>
            <a:xfrm>
              <a:off x="1263318" y="5726307"/>
              <a:ext cx="1188000" cy="59573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a:t>
              </a:r>
            </a:p>
            <a:p>
              <a:pPr algn="ctr"/>
              <a:r>
                <a:rPr lang="fr-FR" sz="700" dirty="0">
                  <a:solidFill>
                    <a:schemeClr val="bg1"/>
                  </a:solidFill>
                </a:rPr>
                <a:t>Projets</a:t>
              </a:r>
            </a:p>
          </p:txBody>
        </p:sp>
        <p:grpSp>
          <p:nvGrpSpPr>
            <p:cNvPr id="72" name="Groupe 71">
              <a:extLst>
                <a:ext uri="{FF2B5EF4-FFF2-40B4-BE49-F238E27FC236}">
                  <a16:creationId xmlns:a16="http://schemas.microsoft.com/office/drawing/2014/main" id="{FF9B86D1-54B7-EC58-6D9D-5B1620F6312F}"/>
                </a:ext>
              </a:extLst>
            </p:cNvPr>
            <p:cNvGrpSpPr/>
            <p:nvPr/>
          </p:nvGrpSpPr>
          <p:grpSpPr>
            <a:xfrm>
              <a:off x="1366615" y="4795766"/>
              <a:ext cx="1006494" cy="888801"/>
              <a:chOff x="7967905" y="574228"/>
              <a:chExt cx="2945866" cy="2601395"/>
            </a:xfrm>
          </p:grpSpPr>
          <p:sp>
            <p:nvSpPr>
              <p:cNvPr id="73" name="Ellipse 72">
                <a:extLst>
                  <a:ext uri="{FF2B5EF4-FFF2-40B4-BE49-F238E27FC236}">
                    <a16:creationId xmlns:a16="http://schemas.microsoft.com/office/drawing/2014/main" id="{1D560039-2F30-AA49-D4BC-337ABB921FBF}"/>
                  </a:ext>
                </a:extLst>
              </p:cNvPr>
              <p:cNvSpPr/>
              <p:nvPr/>
            </p:nvSpPr>
            <p:spPr>
              <a:xfrm>
                <a:off x="8454825" y="965640"/>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pic>
            <p:nvPicPr>
              <p:cNvPr id="74" name="Graphique 73" descr="Dossier ouvert avec un remplissage uni">
                <a:extLst>
                  <a:ext uri="{FF2B5EF4-FFF2-40B4-BE49-F238E27FC236}">
                    <a16:creationId xmlns:a16="http://schemas.microsoft.com/office/drawing/2014/main" id="{87A42F9E-A8A4-C7B9-D84B-2BB09D390438}"/>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7967905" y="1044764"/>
                <a:ext cx="914400" cy="914400"/>
              </a:xfrm>
              <a:prstGeom prst="rect">
                <a:avLst/>
              </a:prstGeom>
            </p:spPr>
          </p:pic>
          <p:pic>
            <p:nvPicPr>
              <p:cNvPr id="75" name="Graphique 74" descr="Diagramme de Gantt avec un remplissage uni">
                <a:extLst>
                  <a:ext uri="{FF2B5EF4-FFF2-40B4-BE49-F238E27FC236}">
                    <a16:creationId xmlns:a16="http://schemas.microsoft.com/office/drawing/2014/main" id="{2D11B9FE-0B02-F717-9DE9-EACEDE71D5E6}"/>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8454079" y="2190978"/>
                <a:ext cx="914400" cy="914400"/>
              </a:xfrm>
              <a:prstGeom prst="rect">
                <a:avLst/>
              </a:prstGeom>
            </p:spPr>
          </p:pic>
          <p:pic>
            <p:nvPicPr>
              <p:cNvPr id="76" name="Graphique 75" descr="Calendrier mensuel avec un remplissage uni">
                <a:extLst>
                  <a:ext uri="{FF2B5EF4-FFF2-40B4-BE49-F238E27FC236}">
                    <a16:creationId xmlns:a16="http://schemas.microsoft.com/office/drawing/2014/main" id="{B31244BF-D8FF-1E73-2ACF-1E043490AEDD}"/>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9597330" y="2261223"/>
                <a:ext cx="914400" cy="914400"/>
              </a:xfrm>
              <a:prstGeom prst="rect">
                <a:avLst/>
              </a:prstGeom>
            </p:spPr>
          </p:pic>
          <p:pic>
            <p:nvPicPr>
              <p:cNvPr id="77" name="Graphique 76" descr="Priorités avec un remplissage uni">
                <a:extLst>
                  <a:ext uri="{FF2B5EF4-FFF2-40B4-BE49-F238E27FC236}">
                    <a16:creationId xmlns:a16="http://schemas.microsoft.com/office/drawing/2014/main" id="{5F8B092C-D625-8C30-B72B-A210AD483815}"/>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flipV="1">
                <a:off x="8952575" y="574228"/>
                <a:ext cx="914400" cy="1089697"/>
              </a:xfrm>
              <a:prstGeom prst="rect">
                <a:avLst/>
              </a:prstGeom>
            </p:spPr>
          </p:pic>
          <p:pic>
            <p:nvPicPr>
              <p:cNvPr id="78" name="Graphique 77" descr="Graphique à barres avec tendance à la baisse avec un remplissage uni">
                <a:extLst>
                  <a:ext uri="{FF2B5EF4-FFF2-40B4-BE49-F238E27FC236}">
                    <a16:creationId xmlns:a16="http://schemas.microsoft.com/office/drawing/2014/main" id="{A36E83FF-E607-A4B1-00B2-65C9F25EB844}"/>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a:off x="9999371" y="992534"/>
                <a:ext cx="914400" cy="914400"/>
              </a:xfrm>
              <a:prstGeom prst="rect">
                <a:avLst/>
              </a:prstGeom>
            </p:spPr>
          </p:pic>
        </p:grpSp>
      </p:grpSp>
      <p:grpSp>
        <p:nvGrpSpPr>
          <p:cNvPr id="79" name="Groupe 78">
            <a:extLst>
              <a:ext uri="{FF2B5EF4-FFF2-40B4-BE49-F238E27FC236}">
                <a16:creationId xmlns:a16="http://schemas.microsoft.com/office/drawing/2014/main" id="{8B898868-BC78-5366-B300-D1BE966847AF}"/>
              </a:ext>
            </a:extLst>
          </p:cNvPr>
          <p:cNvGrpSpPr/>
          <p:nvPr/>
        </p:nvGrpSpPr>
        <p:grpSpPr>
          <a:xfrm>
            <a:off x="5000506" y="2268966"/>
            <a:ext cx="771376" cy="943729"/>
            <a:chOff x="2945394" y="4865339"/>
            <a:chExt cx="1188000" cy="1453443"/>
          </a:xfrm>
        </p:grpSpPr>
        <p:sp>
          <p:nvSpPr>
            <p:cNvPr id="80" name="Rectangle 79">
              <a:extLst>
                <a:ext uri="{FF2B5EF4-FFF2-40B4-BE49-F238E27FC236}">
                  <a16:creationId xmlns:a16="http://schemas.microsoft.com/office/drawing/2014/main" id="{5E9A1D07-7DEE-2328-95CD-DA39DF926215}"/>
                </a:ext>
              </a:extLst>
            </p:cNvPr>
            <p:cNvSpPr/>
            <p:nvPr/>
          </p:nvSpPr>
          <p:spPr>
            <a:xfrm>
              <a:off x="2945394" y="5707751"/>
              <a:ext cx="1188000" cy="61103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a:t>
              </a:r>
            </a:p>
            <a:p>
              <a:pPr algn="ctr"/>
              <a:r>
                <a:rPr lang="fr-FR" sz="700" dirty="0">
                  <a:solidFill>
                    <a:schemeClr val="bg1"/>
                  </a:solidFill>
                </a:rPr>
                <a:t>Qualité &amp; Méthodes</a:t>
              </a:r>
            </a:p>
          </p:txBody>
        </p:sp>
        <p:grpSp>
          <p:nvGrpSpPr>
            <p:cNvPr id="81" name="Groupe 80">
              <a:extLst>
                <a:ext uri="{FF2B5EF4-FFF2-40B4-BE49-F238E27FC236}">
                  <a16:creationId xmlns:a16="http://schemas.microsoft.com/office/drawing/2014/main" id="{7ED45576-E6CE-166E-EE4B-C0C94CCAF38A}"/>
                </a:ext>
              </a:extLst>
            </p:cNvPr>
            <p:cNvGrpSpPr/>
            <p:nvPr/>
          </p:nvGrpSpPr>
          <p:grpSpPr>
            <a:xfrm>
              <a:off x="3034186" y="4865339"/>
              <a:ext cx="962635" cy="814307"/>
              <a:chOff x="1619081" y="3908041"/>
              <a:chExt cx="3348357" cy="2476948"/>
            </a:xfrm>
          </p:grpSpPr>
          <p:pic>
            <p:nvPicPr>
              <p:cNvPr id="82" name="Graphique 81" descr="Graphique en radar avec un remplissage uni">
                <a:extLst>
                  <a:ext uri="{FF2B5EF4-FFF2-40B4-BE49-F238E27FC236}">
                    <a16:creationId xmlns:a16="http://schemas.microsoft.com/office/drawing/2014/main" id="{7E94AA56-1C20-F0C8-37ED-772B57106D83}"/>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1619081" y="5084439"/>
                <a:ext cx="1290292" cy="1290292"/>
              </a:xfrm>
              <a:prstGeom prst="rect">
                <a:avLst/>
              </a:prstGeom>
            </p:spPr>
          </p:pic>
          <p:pic>
            <p:nvPicPr>
              <p:cNvPr id="83" name="Graphique 82" descr="Compteur bas avec un remplissage uni">
                <a:extLst>
                  <a:ext uri="{FF2B5EF4-FFF2-40B4-BE49-F238E27FC236}">
                    <a16:creationId xmlns:a16="http://schemas.microsoft.com/office/drawing/2014/main" id="{395CA115-959C-EDDC-20D5-8CCF53FADD48}"/>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flipH="1">
                <a:off x="2795861" y="3908041"/>
                <a:ext cx="898916" cy="914400"/>
              </a:xfrm>
              <a:prstGeom prst="rect">
                <a:avLst/>
              </a:prstGeom>
            </p:spPr>
          </p:pic>
          <p:pic>
            <p:nvPicPr>
              <p:cNvPr id="84" name="Graphique 83" descr="Cercles avec flèches avec un remplissage uni">
                <a:extLst>
                  <a:ext uri="{FF2B5EF4-FFF2-40B4-BE49-F238E27FC236}">
                    <a16:creationId xmlns:a16="http://schemas.microsoft.com/office/drawing/2014/main" id="{1BF7F582-4A3D-D0F9-F0BC-39577978EBA4}"/>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rot="18361995">
                <a:off x="2644083" y="4661879"/>
                <a:ext cx="1172888" cy="1172888"/>
              </a:xfrm>
              <a:prstGeom prst="rect">
                <a:avLst/>
              </a:prstGeom>
            </p:spPr>
          </p:pic>
          <p:pic>
            <p:nvPicPr>
              <p:cNvPr id="85" name="Graphique 84" descr="Presse-papiers badge avec un remplissage uni">
                <a:extLst>
                  <a:ext uri="{FF2B5EF4-FFF2-40B4-BE49-F238E27FC236}">
                    <a16:creationId xmlns:a16="http://schemas.microsoft.com/office/drawing/2014/main" id="{25B97D47-5579-04E6-77E3-00011B73218B}"/>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3755728" y="5173279"/>
                <a:ext cx="1211710" cy="1211710"/>
              </a:xfrm>
              <a:prstGeom prst="rect">
                <a:avLst/>
              </a:prstGeom>
            </p:spPr>
          </p:pic>
        </p:grpSp>
      </p:grpSp>
      <p:grpSp>
        <p:nvGrpSpPr>
          <p:cNvPr id="86" name="Groupe 85">
            <a:extLst>
              <a:ext uri="{FF2B5EF4-FFF2-40B4-BE49-F238E27FC236}">
                <a16:creationId xmlns:a16="http://schemas.microsoft.com/office/drawing/2014/main" id="{0A3CA82D-29A7-6E27-10EB-3CCDF2BE63EB}"/>
              </a:ext>
            </a:extLst>
          </p:cNvPr>
          <p:cNvGrpSpPr/>
          <p:nvPr/>
        </p:nvGrpSpPr>
        <p:grpSpPr>
          <a:xfrm>
            <a:off x="5871242" y="2377432"/>
            <a:ext cx="771376" cy="848161"/>
            <a:chOff x="4704331" y="5050873"/>
            <a:chExt cx="1188000" cy="1306257"/>
          </a:xfrm>
        </p:grpSpPr>
        <p:sp>
          <p:nvSpPr>
            <p:cNvPr id="87" name="Rectangle 86">
              <a:extLst>
                <a:ext uri="{FF2B5EF4-FFF2-40B4-BE49-F238E27FC236}">
                  <a16:creationId xmlns:a16="http://schemas.microsoft.com/office/drawing/2014/main" id="{5394E747-017F-69C4-5284-BDFB276F1FDA}"/>
                </a:ext>
              </a:extLst>
            </p:cNvPr>
            <p:cNvSpPr/>
            <p:nvPr/>
          </p:nvSpPr>
          <p:spPr>
            <a:xfrm>
              <a:off x="4704331" y="570138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a:t>
              </a:r>
            </a:p>
            <a:p>
              <a:pPr algn="ctr"/>
              <a:r>
                <a:rPr lang="fr-FR" sz="700" dirty="0">
                  <a:solidFill>
                    <a:schemeClr val="bg1"/>
                  </a:solidFill>
                </a:rPr>
                <a:t>Gestion des connaissances</a:t>
              </a:r>
            </a:p>
          </p:txBody>
        </p:sp>
        <p:grpSp>
          <p:nvGrpSpPr>
            <p:cNvPr id="88" name="Groupe 87">
              <a:extLst>
                <a:ext uri="{FF2B5EF4-FFF2-40B4-BE49-F238E27FC236}">
                  <a16:creationId xmlns:a16="http://schemas.microsoft.com/office/drawing/2014/main" id="{439736FA-D3BF-4D23-A98E-7E5A906FB10D}"/>
                </a:ext>
              </a:extLst>
            </p:cNvPr>
            <p:cNvGrpSpPr/>
            <p:nvPr/>
          </p:nvGrpSpPr>
          <p:grpSpPr>
            <a:xfrm>
              <a:off x="4771800" y="5050873"/>
              <a:ext cx="1076472" cy="553441"/>
              <a:chOff x="6389474" y="3987996"/>
              <a:chExt cx="5385544" cy="2536749"/>
            </a:xfrm>
          </p:grpSpPr>
          <p:cxnSp>
            <p:nvCxnSpPr>
              <p:cNvPr id="89" name="Connecteur droit avec flèche 88">
                <a:extLst>
                  <a:ext uri="{FF2B5EF4-FFF2-40B4-BE49-F238E27FC236}">
                    <a16:creationId xmlns:a16="http://schemas.microsoft.com/office/drawing/2014/main" id="{553C97A1-A55B-3CA9-0634-8930DFD20E62}"/>
                  </a:ext>
                </a:extLst>
              </p:cNvPr>
              <p:cNvCxnSpPr>
                <a:cxnSpLocks/>
              </p:cNvCxnSpPr>
              <p:nvPr/>
            </p:nvCxnSpPr>
            <p:spPr>
              <a:xfrm flipV="1">
                <a:off x="6535271" y="6100758"/>
                <a:ext cx="1486117" cy="22439"/>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90" name="Graphique 89" descr="Télécharger du cloud avec un remplissage uni">
                <a:extLst>
                  <a:ext uri="{FF2B5EF4-FFF2-40B4-BE49-F238E27FC236}">
                    <a16:creationId xmlns:a16="http://schemas.microsoft.com/office/drawing/2014/main" id="{16376B75-A071-6B67-7CCD-B9C747B6A98E}"/>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8320900" y="3987996"/>
                <a:ext cx="675060" cy="675060"/>
              </a:xfrm>
              <a:prstGeom prst="rect">
                <a:avLst/>
              </a:prstGeom>
            </p:spPr>
          </p:pic>
          <p:pic>
            <p:nvPicPr>
              <p:cNvPr id="91" name="Graphique 90" descr="Serveur avec un remplissage uni">
                <a:extLst>
                  <a:ext uri="{FF2B5EF4-FFF2-40B4-BE49-F238E27FC236}">
                    <a16:creationId xmlns:a16="http://schemas.microsoft.com/office/drawing/2014/main" id="{53460CED-0E01-4D92-F55E-D38DC7AD13DB}"/>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8995960" y="3987996"/>
                <a:ext cx="675060" cy="675060"/>
              </a:xfrm>
              <a:prstGeom prst="rect">
                <a:avLst/>
              </a:prstGeom>
            </p:spPr>
          </p:pic>
          <p:pic>
            <p:nvPicPr>
              <p:cNvPr id="92" name="Graphique 91" descr="Tête avec engrenages avec un remplissage uni">
                <a:extLst>
                  <a:ext uri="{FF2B5EF4-FFF2-40B4-BE49-F238E27FC236}">
                    <a16:creationId xmlns:a16="http://schemas.microsoft.com/office/drawing/2014/main" id="{3BC278EF-3FED-4860-0B0A-F88EE4C3D487}"/>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6389474" y="5495508"/>
                <a:ext cx="914400" cy="914400"/>
              </a:xfrm>
              <a:prstGeom prst="rect">
                <a:avLst/>
              </a:prstGeom>
            </p:spPr>
          </p:pic>
          <p:sp>
            <p:nvSpPr>
              <p:cNvPr id="93" name="Flèche : droite 92">
                <a:extLst>
                  <a:ext uri="{FF2B5EF4-FFF2-40B4-BE49-F238E27FC236}">
                    <a16:creationId xmlns:a16="http://schemas.microsoft.com/office/drawing/2014/main" id="{78CC1840-A764-D34A-A216-22EF3104113B}"/>
                  </a:ext>
                </a:extLst>
              </p:cNvPr>
              <p:cNvSpPr/>
              <p:nvPr/>
            </p:nvSpPr>
            <p:spPr>
              <a:xfrm rot="2221843">
                <a:off x="9714954" y="4900835"/>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pic>
            <p:nvPicPr>
              <p:cNvPr id="94" name="Graphique 93" descr="Enseignant avec un remplissage uni">
                <a:extLst>
                  <a:ext uri="{FF2B5EF4-FFF2-40B4-BE49-F238E27FC236}">
                    <a16:creationId xmlns:a16="http://schemas.microsoft.com/office/drawing/2014/main" id="{A80409CB-41B1-9948-10CA-8E3DFD75CB5C}"/>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8353404" y="4668590"/>
                <a:ext cx="639776" cy="639776"/>
              </a:xfrm>
              <a:prstGeom prst="rect">
                <a:avLst/>
              </a:prstGeom>
            </p:spPr>
          </p:pic>
          <p:cxnSp>
            <p:nvCxnSpPr>
              <p:cNvPr id="95" name="Connecteur droit avec flèche 94">
                <a:extLst>
                  <a:ext uri="{FF2B5EF4-FFF2-40B4-BE49-F238E27FC236}">
                    <a16:creationId xmlns:a16="http://schemas.microsoft.com/office/drawing/2014/main" id="{012A06C4-9EEC-284A-B2C0-46717137E801}"/>
                  </a:ext>
                </a:extLst>
              </p:cNvPr>
              <p:cNvCxnSpPr>
                <a:cxnSpLocks/>
              </p:cNvCxnSpPr>
              <p:nvPr/>
            </p:nvCxnSpPr>
            <p:spPr>
              <a:xfrm flipV="1">
                <a:off x="9709150" y="6092806"/>
                <a:ext cx="2065868" cy="15905"/>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96" name="Graphique 95" descr="Tête avec engrenages avec un remplissage uni">
                <a:extLst>
                  <a:ext uri="{FF2B5EF4-FFF2-40B4-BE49-F238E27FC236}">
                    <a16:creationId xmlns:a16="http://schemas.microsoft.com/office/drawing/2014/main" id="{72707C23-24EB-2A7C-A6BD-D5C0A1163602}"/>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a:off x="10652219" y="5495508"/>
                <a:ext cx="914400" cy="914400"/>
              </a:xfrm>
              <a:prstGeom prst="rect">
                <a:avLst/>
              </a:prstGeom>
            </p:spPr>
          </p:pic>
          <p:sp>
            <p:nvSpPr>
              <p:cNvPr id="97" name="Flèche : droite 96">
                <a:extLst>
                  <a:ext uri="{FF2B5EF4-FFF2-40B4-BE49-F238E27FC236}">
                    <a16:creationId xmlns:a16="http://schemas.microsoft.com/office/drawing/2014/main" id="{E68ECD0C-8DD6-F230-672F-EB8576E6FE27}"/>
                  </a:ext>
                </a:extLst>
              </p:cNvPr>
              <p:cNvSpPr/>
              <p:nvPr/>
            </p:nvSpPr>
            <p:spPr>
              <a:xfrm rot="18844370">
                <a:off x="7386229" y="4956663"/>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pic>
            <p:nvPicPr>
              <p:cNvPr id="98" name="Graphique 97" descr="Groupe de personnes avec un remplissage uni">
                <a:extLst>
                  <a:ext uri="{FF2B5EF4-FFF2-40B4-BE49-F238E27FC236}">
                    <a16:creationId xmlns:a16="http://schemas.microsoft.com/office/drawing/2014/main" id="{058FCD9D-B44C-2263-F891-AA54F8F21409}"/>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9025684" y="4682443"/>
                <a:ext cx="565880" cy="565880"/>
              </a:xfrm>
              <a:prstGeom prst="rect">
                <a:avLst/>
              </a:prstGeom>
            </p:spPr>
          </p:pic>
          <p:pic>
            <p:nvPicPr>
              <p:cNvPr id="99" name="Graphique 98" descr="Stop avec un remplissage uni">
                <a:extLst>
                  <a:ext uri="{FF2B5EF4-FFF2-40B4-BE49-F238E27FC236}">
                    <a16:creationId xmlns:a16="http://schemas.microsoft.com/office/drawing/2014/main" id="{84668643-AFCA-2EEB-EB03-69CD6C87EF65}"/>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7905881" y="5610345"/>
                <a:ext cx="914400" cy="914400"/>
              </a:xfrm>
              <a:prstGeom prst="rect">
                <a:avLst/>
              </a:prstGeom>
            </p:spPr>
          </p:pic>
          <p:grpSp>
            <p:nvGrpSpPr>
              <p:cNvPr id="100" name="Groupe 99">
                <a:extLst>
                  <a:ext uri="{FF2B5EF4-FFF2-40B4-BE49-F238E27FC236}">
                    <a16:creationId xmlns:a16="http://schemas.microsoft.com/office/drawing/2014/main" id="{A6201EC8-0AF7-7F58-1752-8E48F2F16B42}"/>
                  </a:ext>
                </a:extLst>
              </p:cNvPr>
              <p:cNvGrpSpPr/>
              <p:nvPr/>
            </p:nvGrpSpPr>
            <p:grpSpPr>
              <a:xfrm>
                <a:off x="9279050" y="5495508"/>
                <a:ext cx="914400" cy="914400"/>
                <a:chOff x="9251950" y="5495508"/>
                <a:chExt cx="914400" cy="914400"/>
              </a:xfrm>
            </p:grpSpPr>
            <p:pic>
              <p:nvPicPr>
                <p:cNvPr id="101" name="Graphique 100" descr="Tête avec engrenages avec un remplissage uni">
                  <a:extLst>
                    <a:ext uri="{FF2B5EF4-FFF2-40B4-BE49-F238E27FC236}">
                      <a16:creationId xmlns:a16="http://schemas.microsoft.com/office/drawing/2014/main" id="{7AF99370-32A6-C38F-4E2E-F68E621EB71E}"/>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9251950" y="5495508"/>
                  <a:ext cx="914400" cy="914400"/>
                </a:xfrm>
                <a:prstGeom prst="rect">
                  <a:avLst/>
                </a:prstGeom>
              </p:spPr>
            </p:pic>
            <p:sp>
              <p:nvSpPr>
                <p:cNvPr id="102" name="Rectangle 101">
                  <a:extLst>
                    <a:ext uri="{FF2B5EF4-FFF2-40B4-BE49-F238E27FC236}">
                      <a16:creationId xmlns:a16="http://schemas.microsoft.com/office/drawing/2014/main" id="{AC93A5B6-0860-1677-D7E8-2F440EDAF7F3}"/>
                    </a:ext>
                  </a:extLst>
                </p:cNvPr>
                <p:cNvSpPr/>
                <p:nvPr/>
              </p:nvSpPr>
              <p:spPr>
                <a:xfrm>
                  <a:off x="9453160" y="5700257"/>
                  <a:ext cx="402041" cy="33468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103" name="Rectangle 102">
                  <a:extLst>
                    <a:ext uri="{FF2B5EF4-FFF2-40B4-BE49-F238E27FC236}">
                      <a16:creationId xmlns:a16="http://schemas.microsoft.com/office/drawing/2014/main" id="{145FD12D-1767-1FD4-1642-00C959401BE9}"/>
                    </a:ext>
                  </a:extLst>
                </p:cNvPr>
                <p:cNvSpPr/>
                <p:nvPr/>
              </p:nvSpPr>
              <p:spPr>
                <a:xfrm>
                  <a:off x="9566945" y="5606948"/>
                  <a:ext cx="262408" cy="34576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grpSp>
        </p:grpSp>
      </p:grpSp>
      <p:grpSp>
        <p:nvGrpSpPr>
          <p:cNvPr id="104" name="Groupe 103">
            <a:extLst>
              <a:ext uri="{FF2B5EF4-FFF2-40B4-BE49-F238E27FC236}">
                <a16:creationId xmlns:a16="http://schemas.microsoft.com/office/drawing/2014/main" id="{5CB4DA6A-E6EC-AA60-ACF9-CE13C96B55B4}"/>
              </a:ext>
            </a:extLst>
          </p:cNvPr>
          <p:cNvGrpSpPr/>
          <p:nvPr/>
        </p:nvGrpSpPr>
        <p:grpSpPr>
          <a:xfrm>
            <a:off x="8483450" y="2472755"/>
            <a:ext cx="771375" cy="761191"/>
            <a:chOff x="9979734" y="5177643"/>
            <a:chExt cx="1188000" cy="1172315"/>
          </a:xfrm>
        </p:grpSpPr>
        <p:sp>
          <p:nvSpPr>
            <p:cNvPr id="105" name="Rectangle 104">
              <a:extLst>
                <a:ext uri="{FF2B5EF4-FFF2-40B4-BE49-F238E27FC236}">
                  <a16:creationId xmlns:a16="http://schemas.microsoft.com/office/drawing/2014/main" id="{D2197AE9-136D-8129-A1C2-7A4A8F1761AD}"/>
                </a:ext>
              </a:extLst>
            </p:cNvPr>
            <p:cNvSpPr/>
            <p:nvPr/>
          </p:nvSpPr>
          <p:spPr>
            <a:xfrm>
              <a:off x="9979734" y="5694208"/>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a:t>
              </a:r>
            </a:p>
            <a:p>
              <a:pPr algn="ctr"/>
              <a:r>
                <a:rPr lang="fr-FR" sz="700" dirty="0">
                  <a:solidFill>
                    <a:schemeClr val="bg1"/>
                  </a:solidFill>
                </a:rPr>
                <a:t>Transformation d’entreprise</a:t>
              </a:r>
            </a:p>
          </p:txBody>
        </p:sp>
        <p:grpSp>
          <p:nvGrpSpPr>
            <p:cNvPr id="106" name="Groupe 105">
              <a:extLst>
                <a:ext uri="{FF2B5EF4-FFF2-40B4-BE49-F238E27FC236}">
                  <a16:creationId xmlns:a16="http://schemas.microsoft.com/office/drawing/2014/main" id="{FB3B72A7-CA68-CDD1-2FDB-CDF304C3F50D}"/>
                </a:ext>
              </a:extLst>
            </p:cNvPr>
            <p:cNvGrpSpPr/>
            <p:nvPr/>
          </p:nvGrpSpPr>
          <p:grpSpPr>
            <a:xfrm>
              <a:off x="10053885" y="5177643"/>
              <a:ext cx="1025143" cy="399185"/>
              <a:chOff x="6479122" y="1406591"/>
              <a:chExt cx="5241664" cy="1686141"/>
            </a:xfrm>
          </p:grpSpPr>
          <p:pic>
            <p:nvPicPr>
              <p:cNvPr id="107" name="Graphique 106" descr="Soucoupe volante avec un remplissage uni">
                <a:extLst>
                  <a:ext uri="{FF2B5EF4-FFF2-40B4-BE49-F238E27FC236}">
                    <a16:creationId xmlns:a16="http://schemas.microsoft.com/office/drawing/2014/main" id="{3E7867E3-E5F1-557B-2920-2B0419CEFE3F}"/>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10806386" y="1406591"/>
                <a:ext cx="914400" cy="914400"/>
              </a:xfrm>
              <a:prstGeom prst="rect">
                <a:avLst/>
              </a:prstGeom>
            </p:spPr>
          </p:pic>
          <p:pic>
            <p:nvPicPr>
              <p:cNvPr id="108" name="Graphique 107" descr="Usine avec un remplissage uni">
                <a:extLst>
                  <a:ext uri="{FF2B5EF4-FFF2-40B4-BE49-F238E27FC236}">
                    <a16:creationId xmlns:a16="http://schemas.microsoft.com/office/drawing/2014/main" id="{BD2ACF2E-1B83-0C63-9DF7-A769B56D3396}"/>
                  </a:ext>
                </a:extLst>
              </p:cNvPr>
              <p:cNvPicPr>
                <a:picLocks noChangeAspect="1"/>
              </p:cNvPicPr>
              <p:nvPr/>
            </p:nvPicPr>
            <p:blipFill>
              <a:blip r:embed="rId74">
                <a:extLst>
                  <a:ext uri="{28A0092B-C50C-407E-A947-70E740481C1C}">
                    <a14:useLocalDpi xmlns:a14="http://schemas.microsoft.com/office/drawing/2010/main" val="0"/>
                  </a:ext>
                  <a:ext uri="{96DAC541-7B7A-43D3-8B79-37D633B846F1}">
                    <asvg:svgBlip xmlns:asvg="http://schemas.microsoft.com/office/drawing/2016/SVG/main" r:embed="rId75"/>
                  </a:ext>
                </a:extLst>
              </a:blip>
              <a:stretch>
                <a:fillRect/>
              </a:stretch>
            </p:blipFill>
            <p:spPr>
              <a:xfrm>
                <a:off x="8642754" y="1406591"/>
                <a:ext cx="914400" cy="914400"/>
              </a:xfrm>
              <a:prstGeom prst="rect">
                <a:avLst/>
              </a:prstGeom>
            </p:spPr>
          </p:pic>
          <p:pic>
            <p:nvPicPr>
              <p:cNvPr id="109" name="Graphique 108" descr="Pyramide avec un remplissage uni">
                <a:extLst>
                  <a:ext uri="{FF2B5EF4-FFF2-40B4-BE49-F238E27FC236}">
                    <a16:creationId xmlns:a16="http://schemas.microsoft.com/office/drawing/2014/main" id="{48E8BDD4-5DC8-045B-C400-97E06DD1A01B}"/>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6479122" y="1406591"/>
                <a:ext cx="914400" cy="914400"/>
              </a:xfrm>
              <a:prstGeom prst="rect">
                <a:avLst/>
              </a:prstGeom>
            </p:spPr>
          </p:pic>
          <p:pic>
            <p:nvPicPr>
              <p:cNvPr id="110" name="Graphique 109" descr="Bâtiment avec un remplissage uni">
                <a:extLst>
                  <a:ext uri="{FF2B5EF4-FFF2-40B4-BE49-F238E27FC236}">
                    <a16:creationId xmlns:a16="http://schemas.microsoft.com/office/drawing/2014/main" id="{CB23C79E-B8D6-9304-950E-65512E5AC984}"/>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9724570" y="2178332"/>
                <a:ext cx="914400" cy="914400"/>
              </a:xfrm>
              <a:prstGeom prst="rect">
                <a:avLst/>
              </a:prstGeom>
            </p:spPr>
          </p:pic>
          <p:pic>
            <p:nvPicPr>
              <p:cNvPr id="111" name="Graphique 110" descr="Scène de château avec un remplissage uni">
                <a:extLst>
                  <a:ext uri="{FF2B5EF4-FFF2-40B4-BE49-F238E27FC236}">
                    <a16:creationId xmlns:a16="http://schemas.microsoft.com/office/drawing/2014/main" id="{469B9D21-0356-AC05-688B-57FDC3D4FA4D}"/>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7560938" y="2178332"/>
                <a:ext cx="914400" cy="914400"/>
              </a:xfrm>
              <a:prstGeom prst="rect">
                <a:avLst/>
              </a:prstGeom>
            </p:spPr>
          </p:pic>
          <p:sp>
            <p:nvSpPr>
              <p:cNvPr id="112" name="Flèche : droite 111">
                <a:extLst>
                  <a:ext uri="{FF2B5EF4-FFF2-40B4-BE49-F238E27FC236}">
                    <a16:creationId xmlns:a16="http://schemas.microsoft.com/office/drawing/2014/main" id="{0D279F47-7C46-D16C-7168-7E357DD8FCC6}"/>
                  </a:ext>
                </a:extLst>
              </p:cNvPr>
              <p:cNvSpPr/>
              <p:nvPr/>
            </p:nvSpPr>
            <p:spPr>
              <a:xfrm rot="2412443">
                <a:off x="7420834" y="196308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113" name="Flèche : droite 112">
                <a:extLst>
                  <a:ext uri="{FF2B5EF4-FFF2-40B4-BE49-F238E27FC236}">
                    <a16:creationId xmlns:a16="http://schemas.microsoft.com/office/drawing/2014/main" id="{C1D793C8-01C2-4623-1FCC-328B64ACA79C}"/>
                  </a:ext>
                </a:extLst>
              </p:cNvPr>
              <p:cNvSpPr/>
              <p:nvPr/>
            </p:nvSpPr>
            <p:spPr>
              <a:xfrm rot="19318800">
                <a:off x="8295844"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114" name="Flèche : droite 113">
                <a:extLst>
                  <a:ext uri="{FF2B5EF4-FFF2-40B4-BE49-F238E27FC236}">
                    <a16:creationId xmlns:a16="http://schemas.microsoft.com/office/drawing/2014/main" id="{93072103-B994-33B9-DE24-0717E99847DE}"/>
                  </a:ext>
                </a:extLst>
              </p:cNvPr>
              <p:cNvSpPr/>
              <p:nvPr/>
            </p:nvSpPr>
            <p:spPr>
              <a:xfrm rot="19318800">
                <a:off x="10452959"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115" name="Flèche : droite 114">
                <a:extLst>
                  <a:ext uri="{FF2B5EF4-FFF2-40B4-BE49-F238E27FC236}">
                    <a16:creationId xmlns:a16="http://schemas.microsoft.com/office/drawing/2014/main" id="{08491AF6-38D2-F920-DEE7-AC8E989A261D}"/>
                  </a:ext>
                </a:extLst>
              </p:cNvPr>
              <p:cNvSpPr/>
              <p:nvPr/>
            </p:nvSpPr>
            <p:spPr>
              <a:xfrm rot="2412443">
                <a:off x="9514335" y="192072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grpSp>
      </p:grpSp>
      <p:grpSp>
        <p:nvGrpSpPr>
          <p:cNvPr id="116" name="Groupe 115">
            <a:extLst>
              <a:ext uri="{FF2B5EF4-FFF2-40B4-BE49-F238E27FC236}">
                <a16:creationId xmlns:a16="http://schemas.microsoft.com/office/drawing/2014/main" id="{6F7BC183-0072-DC43-AB77-C30E3D762AB0}"/>
              </a:ext>
            </a:extLst>
          </p:cNvPr>
          <p:cNvGrpSpPr/>
          <p:nvPr/>
        </p:nvGrpSpPr>
        <p:grpSpPr>
          <a:xfrm>
            <a:off x="6741978" y="2333615"/>
            <a:ext cx="771376" cy="903213"/>
            <a:chOff x="6450988" y="4963473"/>
            <a:chExt cx="1188000" cy="1391043"/>
          </a:xfrm>
        </p:grpSpPr>
        <p:sp>
          <p:nvSpPr>
            <p:cNvPr id="117" name="Rectangle 116">
              <a:extLst>
                <a:ext uri="{FF2B5EF4-FFF2-40B4-BE49-F238E27FC236}">
                  <a16:creationId xmlns:a16="http://schemas.microsoft.com/office/drawing/2014/main" id="{FD8742EE-2434-66B3-2047-7944A612EC72}"/>
                </a:ext>
              </a:extLst>
            </p:cNvPr>
            <p:cNvSpPr/>
            <p:nvPr/>
          </p:nvSpPr>
          <p:spPr>
            <a:xfrm>
              <a:off x="6450988" y="5698766"/>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 </a:t>
              </a:r>
            </a:p>
            <a:p>
              <a:pPr algn="ctr"/>
              <a:r>
                <a:rPr lang="fr-FR" sz="700" dirty="0">
                  <a:solidFill>
                    <a:schemeClr val="bg1"/>
                  </a:solidFill>
                </a:rPr>
                <a:t>Management Transverse</a:t>
              </a:r>
            </a:p>
          </p:txBody>
        </p:sp>
        <p:grpSp>
          <p:nvGrpSpPr>
            <p:cNvPr id="118" name="Groupe 117">
              <a:extLst>
                <a:ext uri="{FF2B5EF4-FFF2-40B4-BE49-F238E27FC236}">
                  <a16:creationId xmlns:a16="http://schemas.microsoft.com/office/drawing/2014/main" id="{22B6D2EB-4B0C-322B-7E7C-E48A6BAFBD08}"/>
                </a:ext>
              </a:extLst>
            </p:cNvPr>
            <p:cNvGrpSpPr/>
            <p:nvPr/>
          </p:nvGrpSpPr>
          <p:grpSpPr>
            <a:xfrm>
              <a:off x="6677241" y="4963473"/>
              <a:ext cx="730189" cy="610409"/>
              <a:chOff x="1734369" y="510800"/>
              <a:chExt cx="2873060" cy="2423359"/>
            </a:xfrm>
          </p:grpSpPr>
          <p:pic>
            <p:nvPicPr>
              <p:cNvPr id="119" name="Graphique 118" descr="Avertissement avec un remplissage uni">
                <a:extLst>
                  <a:ext uri="{FF2B5EF4-FFF2-40B4-BE49-F238E27FC236}">
                    <a16:creationId xmlns:a16="http://schemas.microsoft.com/office/drawing/2014/main" id="{DF47C7FC-590E-B2E4-5A90-A84B7811058C}"/>
                  </a:ext>
                </a:extLst>
              </p:cNvPr>
              <p:cNvPicPr>
                <a:picLocks noChangeAspect="1"/>
              </p:cNvPicPr>
              <p:nvPr/>
            </p:nvPicPr>
            <p:blipFill>
              <a:blip r:embed="rId82">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1734369" y="1978134"/>
                <a:ext cx="914400" cy="914400"/>
              </a:xfrm>
              <a:prstGeom prst="rect">
                <a:avLst/>
              </a:prstGeom>
            </p:spPr>
          </p:pic>
          <p:pic>
            <p:nvPicPr>
              <p:cNvPr id="120" name="Graphique 119" descr="Chat avec un remplissage uni">
                <a:extLst>
                  <a:ext uri="{FF2B5EF4-FFF2-40B4-BE49-F238E27FC236}">
                    <a16:creationId xmlns:a16="http://schemas.microsoft.com/office/drawing/2014/main" id="{3F5F57D6-C1EF-47E7-4248-D22C2F1AD2FD}"/>
                  </a:ext>
                </a:extLst>
              </p:cNvPr>
              <p:cNvPicPr>
                <a:picLocks noChangeAspect="1"/>
              </p:cNvPicPr>
              <p:nvPr/>
            </p:nvPicPr>
            <p:blipFill>
              <a:blip r:embed="rId84">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2713699" y="1562559"/>
                <a:ext cx="914400" cy="914400"/>
              </a:xfrm>
              <a:prstGeom prst="rect">
                <a:avLst/>
              </a:prstGeom>
            </p:spPr>
          </p:pic>
          <p:pic>
            <p:nvPicPr>
              <p:cNvPr id="121" name="Graphique 120" descr="Liste de contrôle avec un remplissage uni">
                <a:extLst>
                  <a:ext uri="{FF2B5EF4-FFF2-40B4-BE49-F238E27FC236}">
                    <a16:creationId xmlns:a16="http://schemas.microsoft.com/office/drawing/2014/main" id="{20E8EB20-13D9-2BFC-F7BA-B82339E50984}"/>
                  </a:ext>
                </a:extLst>
              </p:cNvPr>
              <p:cNvPicPr>
                <a:picLocks noChangeAspect="1"/>
              </p:cNvPicPr>
              <p:nvPr/>
            </p:nvPicPr>
            <p:blipFill>
              <a:blip r:embed="rId86">
                <a:extLst>
                  <a:ext uri="{28A0092B-C50C-407E-A947-70E740481C1C}">
                    <a14:useLocalDpi xmlns:a14="http://schemas.microsoft.com/office/drawing/2010/main" val="0"/>
                  </a:ext>
                  <a:ext uri="{96DAC541-7B7A-43D3-8B79-37D633B846F1}">
                    <asvg:svgBlip xmlns:asvg="http://schemas.microsoft.com/office/drawing/2016/SVG/main" r:embed="rId87"/>
                  </a:ext>
                </a:extLst>
              </a:blip>
              <a:stretch>
                <a:fillRect/>
              </a:stretch>
            </p:blipFill>
            <p:spPr>
              <a:xfrm>
                <a:off x="3693029" y="2019759"/>
                <a:ext cx="914400" cy="914400"/>
              </a:xfrm>
              <a:prstGeom prst="rect">
                <a:avLst/>
              </a:prstGeom>
            </p:spPr>
          </p:pic>
          <p:pic>
            <p:nvPicPr>
              <p:cNvPr id="122" name="Graphique 121" descr="Synchronisation avec le cloud avec un remplissage uni">
                <a:extLst>
                  <a:ext uri="{FF2B5EF4-FFF2-40B4-BE49-F238E27FC236}">
                    <a16:creationId xmlns:a16="http://schemas.microsoft.com/office/drawing/2014/main" id="{06F3CE35-8F4A-4785-955A-C7B4D1B0398E}"/>
                  </a:ext>
                </a:extLst>
              </p:cNvPr>
              <p:cNvPicPr>
                <a:picLocks noChangeAspect="1"/>
              </p:cNvPicPr>
              <p:nvPr/>
            </p:nvPicPr>
            <p:blipFill>
              <a:blip r:embed="rId88">
                <a:extLst>
                  <a:ext uri="{28A0092B-C50C-407E-A947-70E740481C1C}">
                    <a14:useLocalDpi xmlns:a14="http://schemas.microsoft.com/office/drawing/2010/main" val="0"/>
                  </a:ext>
                  <a:ext uri="{96DAC541-7B7A-43D3-8B79-37D633B846F1}">
                    <asvg:svgBlip xmlns:asvg="http://schemas.microsoft.com/office/drawing/2016/SVG/main" r:embed="rId89"/>
                  </a:ext>
                </a:extLst>
              </a:blip>
              <a:stretch>
                <a:fillRect/>
              </a:stretch>
            </p:blipFill>
            <p:spPr>
              <a:xfrm>
                <a:off x="2778630" y="510800"/>
                <a:ext cx="914400" cy="914400"/>
              </a:xfrm>
              <a:prstGeom prst="rect">
                <a:avLst/>
              </a:prstGeom>
            </p:spPr>
          </p:pic>
        </p:grpSp>
      </p:grpSp>
      <p:grpSp>
        <p:nvGrpSpPr>
          <p:cNvPr id="123" name="Groupe 122">
            <a:extLst>
              <a:ext uri="{FF2B5EF4-FFF2-40B4-BE49-F238E27FC236}">
                <a16:creationId xmlns:a16="http://schemas.microsoft.com/office/drawing/2014/main" id="{8E6B84B5-8667-8ED1-6856-F6EBE224F322}"/>
              </a:ext>
            </a:extLst>
          </p:cNvPr>
          <p:cNvGrpSpPr/>
          <p:nvPr/>
        </p:nvGrpSpPr>
        <p:grpSpPr>
          <a:xfrm>
            <a:off x="7612715" y="2192815"/>
            <a:ext cx="771375" cy="1044012"/>
            <a:chOff x="8188500" y="4755609"/>
            <a:chExt cx="1188000" cy="1607891"/>
          </a:xfrm>
        </p:grpSpPr>
        <p:sp>
          <p:nvSpPr>
            <p:cNvPr id="124" name="Rectangle 123">
              <a:extLst>
                <a:ext uri="{FF2B5EF4-FFF2-40B4-BE49-F238E27FC236}">
                  <a16:creationId xmlns:a16="http://schemas.microsoft.com/office/drawing/2014/main" id="{977A19F9-3224-890C-C591-C8073A3D0DC8}"/>
                </a:ext>
              </a:extLst>
            </p:cNvPr>
            <p:cNvSpPr/>
            <p:nvPr/>
          </p:nvSpPr>
          <p:spPr>
            <a:xfrm>
              <a:off x="8188500" y="570775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Opérations </a:t>
              </a:r>
            </a:p>
            <a:p>
              <a:pPr algn="ctr"/>
              <a:r>
                <a:rPr lang="fr-FR" sz="700" dirty="0">
                  <a:solidFill>
                    <a:schemeClr val="bg1"/>
                  </a:solidFill>
                </a:rPr>
                <a:t>Innovation</a:t>
              </a:r>
            </a:p>
          </p:txBody>
        </p:sp>
        <p:grpSp>
          <p:nvGrpSpPr>
            <p:cNvPr id="125" name="Groupe 124">
              <a:extLst>
                <a:ext uri="{FF2B5EF4-FFF2-40B4-BE49-F238E27FC236}">
                  <a16:creationId xmlns:a16="http://schemas.microsoft.com/office/drawing/2014/main" id="{64FD13E7-7B02-8C15-3FF6-A795CE25A01E}"/>
                </a:ext>
              </a:extLst>
            </p:cNvPr>
            <p:cNvGrpSpPr/>
            <p:nvPr/>
          </p:nvGrpSpPr>
          <p:grpSpPr>
            <a:xfrm>
              <a:off x="8302488" y="4755609"/>
              <a:ext cx="985193" cy="908867"/>
              <a:chOff x="1770451" y="635328"/>
              <a:chExt cx="2847387" cy="2660604"/>
            </a:xfrm>
          </p:grpSpPr>
          <p:sp>
            <p:nvSpPr>
              <p:cNvPr id="126" name="Ellipse 125">
                <a:extLst>
                  <a:ext uri="{FF2B5EF4-FFF2-40B4-BE49-F238E27FC236}">
                    <a16:creationId xmlns:a16="http://schemas.microsoft.com/office/drawing/2014/main" id="{66A1BB6A-EC10-14FC-52B1-4F424D7FF064}"/>
                  </a:ext>
                </a:extLst>
              </p:cNvPr>
              <p:cNvSpPr/>
              <p:nvPr/>
            </p:nvSpPr>
            <p:spPr>
              <a:xfrm>
                <a:off x="2285862" y="956143"/>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pic>
            <p:nvPicPr>
              <p:cNvPr id="127" name="Graphique 126" descr="Lunettes 3D avec un remplissage uni">
                <a:extLst>
                  <a:ext uri="{FF2B5EF4-FFF2-40B4-BE49-F238E27FC236}">
                    <a16:creationId xmlns:a16="http://schemas.microsoft.com/office/drawing/2014/main" id="{D0409C01-6AA0-4AD0-183C-A53B3BBA41D1}"/>
                  </a:ext>
                </a:extLst>
              </p:cNvPr>
              <p:cNvPicPr>
                <a:picLocks noChangeAspect="1"/>
              </p:cNvPicPr>
              <p:nvPr/>
            </p:nvPicPr>
            <p:blipFill>
              <a:blip r:embed="rId90">
                <a:extLst>
                  <a:ext uri="{28A0092B-C50C-407E-A947-70E740481C1C}">
                    <a14:useLocalDpi xmlns:a14="http://schemas.microsoft.com/office/drawing/2010/main" val="0"/>
                  </a:ext>
                  <a:ext uri="{96DAC541-7B7A-43D3-8B79-37D633B846F1}">
                    <asvg:svgBlip xmlns:asvg="http://schemas.microsoft.com/office/drawing/2016/SVG/main" r:embed="rId91"/>
                  </a:ext>
                </a:extLst>
              </a:blip>
              <a:stretch>
                <a:fillRect/>
              </a:stretch>
            </p:blipFill>
            <p:spPr>
              <a:xfrm>
                <a:off x="2339651" y="643202"/>
                <a:ext cx="914400" cy="914400"/>
              </a:xfrm>
              <a:prstGeom prst="rect">
                <a:avLst/>
              </a:prstGeom>
            </p:spPr>
          </p:pic>
          <p:pic>
            <p:nvPicPr>
              <p:cNvPr id="128" name="Graphique 127" descr="Mannequin test avec un remplissage uni">
                <a:extLst>
                  <a:ext uri="{FF2B5EF4-FFF2-40B4-BE49-F238E27FC236}">
                    <a16:creationId xmlns:a16="http://schemas.microsoft.com/office/drawing/2014/main" id="{98B99E4F-4C3D-DF57-BD0A-FBF2E832966A}"/>
                  </a:ext>
                </a:extLst>
              </p:cNvPr>
              <p:cNvPicPr>
                <a:picLocks noChangeAspect="1"/>
              </p:cNvPicPr>
              <p:nvPr/>
            </p:nvPicPr>
            <p:blipFill>
              <a:blip r:embed="rId92">
                <a:extLst>
                  <a:ext uri="{28A0092B-C50C-407E-A947-70E740481C1C}">
                    <a14:useLocalDpi xmlns:a14="http://schemas.microsoft.com/office/drawing/2010/main" val="0"/>
                  </a:ext>
                  <a:ext uri="{96DAC541-7B7A-43D3-8B79-37D633B846F1}">
                    <asvg:svgBlip xmlns:asvg="http://schemas.microsoft.com/office/drawing/2016/SVG/main" r:embed="rId93"/>
                  </a:ext>
                </a:extLst>
              </a:blip>
              <a:stretch>
                <a:fillRect/>
              </a:stretch>
            </p:blipFill>
            <p:spPr>
              <a:xfrm>
                <a:off x="2825957" y="2381532"/>
                <a:ext cx="914400" cy="914400"/>
              </a:xfrm>
              <a:prstGeom prst="rect">
                <a:avLst/>
              </a:prstGeom>
            </p:spPr>
          </p:pic>
          <p:pic>
            <p:nvPicPr>
              <p:cNvPr id="129" name="Graphique 128" descr="Homme scientifique avec un remplissage uni">
                <a:extLst>
                  <a:ext uri="{FF2B5EF4-FFF2-40B4-BE49-F238E27FC236}">
                    <a16:creationId xmlns:a16="http://schemas.microsoft.com/office/drawing/2014/main" id="{B3E364F1-4244-E864-8EC1-5F332DE7ADA8}"/>
                  </a:ext>
                </a:extLst>
              </p:cNvPr>
              <p:cNvPicPr>
                <a:picLocks noChangeAspect="1"/>
              </p:cNvPicPr>
              <p:nvPr/>
            </p:nvPicPr>
            <p:blipFill>
              <a:blip r:embed="rId94">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3612503" y="635328"/>
                <a:ext cx="914400" cy="914400"/>
              </a:xfrm>
              <a:prstGeom prst="rect">
                <a:avLst/>
              </a:prstGeom>
            </p:spPr>
          </p:pic>
          <p:pic>
            <p:nvPicPr>
              <p:cNvPr id="130" name="Graphique 129" descr="Presse-papiers mixte avec un remplissage uni">
                <a:extLst>
                  <a:ext uri="{FF2B5EF4-FFF2-40B4-BE49-F238E27FC236}">
                    <a16:creationId xmlns:a16="http://schemas.microsoft.com/office/drawing/2014/main" id="{84554465-F89C-AD6F-0D8D-32FE5537C249}"/>
                  </a:ext>
                </a:extLst>
              </p:cNvPr>
              <p:cNvPicPr>
                <a:picLocks noChangeAspect="1"/>
              </p:cNvPicPr>
              <p:nvPr/>
            </p:nvPicPr>
            <p:blipFill>
              <a:blip r:embed="rId96">
                <a:extLst>
                  <a:ext uri="{28A0092B-C50C-407E-A947-70E740481C1C}">
                    <a14:useLocalDpi xmlns:a14="http://schemas.microsoft.com/office/drawing/2010/main" val="0"/>
                  </a:ext>
                  <a:ext uri="{96DAC541-7B7A-43D3-8B79-37D633B846F1}">
                    <asvg:svgBlip xmlns:asvg="http://schemas.microsoft.com/office/drawing/2016/SVG/main" r:embed="rId97"/>
                  </a:ext>
                </a:extLst>
              </a:blip>
              <a:stretch>
                <a:fillRect/>
              </a:stretch>
            </p:blipFill>
            <p:spPr>
              <a:xfrm>
                <a:off x="3703438" y="1819176"/>
                <a:ext cx="914400" cy="914400"/>
              </a:xfrm>
              <a:prstGeom prst="rect">
                <a:avLst/>
              </a:prstGeom>
            </p:spPr>
          </p:pic>
          <p:pic>
            <p:nvPicPr>
              <p:cNvPr id="131" name="Graphique 130" descr="Brainstorming de groupe avec un remplissage uni">
                <a:extLst>
                  <a:ext uri="{FF2B5EF4-FFF2-40B4-BE49-F238E27FC236}">
                    <a16:creationId xmlns:a16="http://schemas.microsoft.com/office/drawing/2014/main" id="{FE0BD892-5AB7-17DC-E019-1AB9DF95D1FA}"/>
                  </a:ext>
                </a:extLst>
              </p:cNvPr>
              <p:cNvPicPr>
                <a:picLocks noChangeAspect="1"/>
              </p:cNvPicPr>
              <p:nvPr/>
            </p:nvPicPr>
            <p:blipFill>
              <a:blip r:embed="rId98">
                <a:extLst>
                  <a:ext uri="{28A0092B-C50C-407E-A947-70E740481C1C}">
                    <a14:useLocalDpi xmlns:a14="http://schemas.microsoft.com/office/drawing/2010/main" val="0"/>
                  </a:ext>
                  <a:ext uri="{96DAC541-7B7A-43D3-8B79-37D633B846F1}">
                    <asvg:svgBlip xmlns:asvg="http://schemas.microsoft.com/office/drawing/2016/SVG/main" r:embed="rId99"/>
                  </a:ext>
                </a:extLst>
              </a:blip>
              <a:stretch>
                <a:fillRect/>
              </a:stretch>
            </p:blipFill>
            <p:spPr>
              <a:xfrm>
                <a:off x="1770451" y="1557602"/>
                <a:ext cx="914400" cy="914400"/>
              </a:xfrm>
              <a:prstGeom prst="rect">
                <a:avLst/>
              </a:prstGeom>
            </p:spPr>
          </p:pic>
        </p:grpSp>
      </p:grpSp>
      <p:grpSp>
        <p:nvGrpSpPr>
          <p:cNvPr id="132" name="Groupe 131">
            <a:extLst>
              <a:ext uri="{FF2B5EF4-FFF2-40B4-BE49-F238E27FC236}">
                <a16:creationId xmlns:a16="http://schemas.microsoft.com/office/drawing/2014/main" id="{A6005510-6982-0DD2-7ACD-235E12C7BFB2}"/>
              </a:ext>
            </a:extLst>
          </p:cNvPr>
          <p:cNvGrpSpPr/>
          <p:nvPr/>
        </p:nvGrpSpPr>
        <p:grpSpPr>
          <a:xfrm>
            <a:off x="10281975" y="2237357"/>
            <a:ext cx="828430" cy="995973"/>
            <a:chOff x="9927646" y="3089935"/>
            <a:chExt cx="1188000" cy="1428262"/>
          </a:xfrm>
        </p:grpSpPr>
        <p:sp>
          <p:nvSpPr>
            <p:cNvPr id="133" name="Rectangle 132">
              <a:extLst>
                <a:ext uri="{FF2B5EF4-FFF2-40B4-BE49-F238E27FC236}">
                  <a16:creationId xmlns:a16="http://schemas.microsoft.com/office/drawing/2014/main" id="{8732472A-A56D-734A-B2D9-D6BB16687283}"/>
                </a:ext>
              </a:extLst>
            </p:cNvPr>
            <p:cNvSpPr/>
            <p:nvPr/>
          </p:nvSpPr>
          <p:spPr>
            <a:xfrm>
              <a:off x="9927646" y="3907611"/>
              <a:ext cx="1188000" cy="6105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Vente</a:t>
              </a:r>
            </a:p>
            <a:p>
              <a:pPr algn="ctr"/>
              <a:r>
                <a:rPr lang="fr-FR" sz="700" dirty="0">
                  <a:solidFill>
                    <a:schemeClr val="bg1"/>
                  </a:solidFill>
                </a:rPr>
                <a:t>Communication externe</a:t>
              </a:r>
            </a:p>
          </p:txBody>
        </p:sp>
        <p:grpSp>
          <p:nvGrpSpPr>
            <p:cNvPr id="134" name="Groupe 133">
              <a:extLst>
                <a:ext uri="{FF2B5EF4-FFF2-40B4-BE49-F238E27FC236}">
                  <a16:creationId xmlns:a16="http://schemas.microsoft.com/office/drawing/2014/main" id="{7D286F37-C6BE-7E8B-79B5-586905F1B116}"/>
                </a:ext>
              </a:extLst>
            </p:cNvPr>
            <p:cNvGrpSpPr/>
            <p:nvPr/>
          </p:nvGrpSpPr>
          <p:grpSpPr>
            <a:xfrm>
              <a:off x="10028058" y="3089935"/>
              <a:ext cx="999718" cy="764069"/>
              <a:chOff x="7993201" y="3990786"/>
              <a:chExt cx="3083654" cy="2356787"/>
            </a:xfrm>
          </p:grpSpPr>
          <p:pic>
            <p:nvPicPr>
              <p:cNvPr id="135" name="Graphique 134" descr="Podcasting avec un remplissage uni">
                <a:extLst>
                  <a:ext uri="{FF2B5EF4-FFF2-40B4-BE49-F238E27FC236}">
                    <a16:creationId xmlns:a16="http://schemas.microsoft.com/office/drawing/2014/main" id="{E50F1895-EC4C-7C8A-125A-1058449E9102}"/>
                  </a:ext>
                </a:extLst>
              </p:cNvPr>
              <p:cNvPicPr>
                <a:picLocks noChangeAspect="1"/>
              </p:cNvPicPr>
              <p:nvPr/>
            </p:nvPicPr>
            <p:blipFill>
              <a:blip r:embed="rId100">
                <a:extLst>
                  <a:ext uri="{28A0092B-C50C-407E-A947-70E740481C1C}">
                    <a14:useLocalDpi xmlns:a14="http://schemas.microsoft.com/office/drawing/2010/main" val="0"/>
                  </a:ext>
                  <a:ext uri="{96DAC541-7B7A-43D3-8B79-37D633B846F1}">
                    <asvg:svgBlip xmlns:asvg="http://schemas.microsoft.com/office/drawing/2016/SVG/main" r:embed="rId101"/>
                  </a:ext>
                </a:extLst>
              </a:blip>
              <a:stretch>
                <a:fillRect/>
              </a:stretch>
            </p:blipFill>
            <p:spPr>
              <a:xfrm>
                <a:off x="7993201" y="3990786"/>
                <a:ext cx="914400" cy="914400"/>
              </a:xfrm>
              <a:prstGeom prst="rect">
                <a:avLst/>
              </a:prstGeom>
            </p:spPr>
          </p:pic>
          <p:pic>
            <p:nvPicPr>
              <p:cNvPr id="136" name="Graphique 135" descr="Vlog avec un remplissage uni">
                <a:extLst>
                  <a:ext uri="{FF2B5EF4-FFF2-40B4-BE49-F238E27FC236}">
                    <a16:creationId xmlns:a16="http://schemas.microsoft.com/office/drawing/2014/main" id="{215444AF-E83B-8CBF-5FC0-789646B04299}"/>
                  </a:ext>
                </a:extLst>
              </p:cNvPr>
              <p:cNvPicPr>
                <a:picLocks noChangeAspect="1"/>
              </p:cNvPicPr>
              <p:nvPr/>
            </p:nvPicPr>
            <p:blipFill>
              <a:blip r:embed="rId102">
                <a:extLst>
                  <a:ext uri="{28A0092B-C50C-407E-A947-70E740481C1C}">
                    <a14:useLocalDpi xmlns:a14="http://schemas.microsoft.com/office/drawing/2010/main" val="0"/>
                  </a:ext>
                  <a:ext uri="{96DAC541-7B7A-43D3-8B79-37D633B846F1}">
                    <asvg:svgBlip xmlns:asvg="http://schemas.microsoft.com/office/drawing/2016/SVG/main" r:embed="rId103"/>
                  </a:ext>
                </a:extLst>
              </a:blip>
              <a:stretch>
                <a:fillRect/>
              </a:stretch>
            </p:blipFill>
            <p:spPr>
              <a:xfrm>
                <a:off x="8000671" y="5433173"/>
                <a:ext cx="914400" cy="914400"/>
              </a:xfrm>
              <a:prstGeom prst="rect">
                <a:avLst/>
              </a:prstGeom>
            </p:spPr>
          </p:pic>
          <p:pic>
            <p:nvPicPr>
              <p:cNvPr id="137" name="Graphique 136" descr="Journal avec un remplissage uni">
                <a:extLst>
                  <a:ext uri="{FF2B5EF4-FFF2-40B4-BE49-F238E27FC236}">
                    <a16:creationId xmlns:a16="http://schemas.microsoft.com/office/drawing/2014/main" id="{8E832722-777A-0EC3-DCAE-F231E13D9132}"/>
                  </a:ext>
                </a:extLst>
              </p:cNvPr>
              <p:cNvPicPr>
                <a:picLocks noChangeAspect="1"/>
              </p:cNvPicPr>
              <p:nvPr/>
            </p:nvPicPr>
            <p:blipFill>
              <a:blip r:embed="rId104">
                <a:extLst>
                  <a:ext uri="{28A0092B-C50C-407E-A947-70E740481C1C}">
                    <a14:useLocalDpi xmlns:a14="http://schemas.microsoft.com/office/drawing/2010/main" val="0"/>
                  </a:ext>
                  <a:ext uri="{96DAC541-7B7A-43D3-8B79-37D633B846F1}">
                    <asvg:svgBlip xmlns:asvg="http://schemas.microsoft.com/office/drawing/2016/SVG/main" r:embed="rId105"/>
                  </a:ext>
                </a:extLst>
              </a:blip>
              <a:stretch>
                <a:fillRect/>
              </a:stretch>
            </p:blipFill>
            <p:spPr>
              <a:xfrm>
                <a:off x="10162455" y="4013608"/>
                <a:ext cx="914400" cy="914400"/>
              </a:xfrm>
              <a:prstGeom prst="rect">
                <a:avLst/>
              </a:prstGeom>
            </p:spPr>
          </p:pic>
          <p:pic>
            <p:nvPicPr>
              <p:cNvPr id="138" name="Graphique 137" descr="Réseau en ligne avec un remplissage uni">
                <a:extLst>
                  <a:ext uri="{FF2B5EF4-FFF2-40B4-BE49-F238E27FC236}">
                    <a16:creationId xmlns:a16="http://schemas.microsoft.com/office/drawing/2014/main" id="{552174C8-F9C8-87CF-D2CC-DEDB5C2988C7}"/>
                  </a:ext>
                </a:extLst>
              </p:cNvPr>
              <p:cNvPicPr>
                <a:picLocks noChangeAspect="1"/>
              </p:cNvPicPr>
              <p:nvPr/>
            </p:nvPicPr>
            <p:blipFill>
              <a:blip r:embed="rId106">
                <a:extLst>
                  <a:ext uri="{28A0092B-C50C-407E-A947-70E740481C1C}">
                    <a14:useLocalDpi xmlns:a14="http://schemas.microsoft.com/office/drawing/2010/main" val="0"/>
                  </a:ext>
                  <a:ext uri="{96DAC541-7B7A-43D3-8B79-37D633B846F1}">
                    <asvg:svgBlip xmlns:asvg="http://schemas.microsoft.com/office/drawing/2016/SVG/main" r:embed="rId107"/>
                  </a:ext>
                </a:extLst>
              </a:blip>
              <a:stretch>
                <a:fillRect/>
              </a:stretch>
            </p:blipFill>
            <p:spPr>
              <a:xfrm>
                <a:off x="10066135" y="5341229"/>
                <a:ext cx="914400" cy="914400"/>
              </a:xfrm>
              <a:prstGeom prst="rect">
                <a:avLst/>
              </a:prstGeom>
            </p:spPr>
          </p:pic>
          <p:grpSp>
            <p:nvGrpSpPr>
              <p:cNvPr id="139" name="Groupe 138">
                <a:extLst>
                  <a:ext uri="{FF2B5EF4-FFF2-40B4-BE49-F238E27FC236}">
                    <a16:creationId xmlns:a16="http://schemas.microsoft.com/office/drawing/2014/main" id="{795070F5-767D-BBC4-D782-0EFA6E0F068D}"/>
                  </a:ext>
                </a:extLst>
              </p:cNvPr>
              <p:cNvGrpSpPr/>
              <p:nvPr/>
            </p:nvGrpSpPr>
            <p:grpSpPr>
              <a:xfrm>
                <a:off x="8632968" y="4529072"/>
                <a:ext cx="1791083" cy="1287429"/>
                <a:chOff x="8274918" y="4478329"/>
                <a:chExt cx="1791083" cy="1287429"/>
              </a:xfrm>
            </p:grpSpPr>
            <p:pic>
              <p:nvPicPr>
                <p:cNvPr id="140" name="Graphique 139" descr="Bâtiment avec un remplissage uni">
                  <a:extLst>
                    <a:ext uri="{FF2B5EF4-FFF2-40B4-BE49-F238E27FC236}">
                      <a16:creationId xmlns:a16="http://schemas.microsoft.com/office/drawing/2014/main" id="{F5F7CD5B-C532-5AE4-4BBA-928FA4AF54B2}"/>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8725807" y="4753283"/>
                  <a:ext cx="914400" cy="914400"/>
                </a:xfrm>
                <a:prstGeom prst="rect">
                  <a:avLst/>
                </a:prstGeom>
              </p:spPr>
            </p:pic>
            <p:sp>
              <p:nvSpPr>
                <p:cNvPr id="141" name="Flèche : droite 140">
                  <a:extLst>
                    <a:ext uri="{FF2B5EF4-FFF2-40B4-BE49-F238E27FC236}">
                      <a16:creationId xmlns:a16="http://schemas.microsoft.com/office/drawing/2014/main" id="{7711A063-9461-4414-7615-691F9A7C561E}"/>
                    </a:ext>
                  </a:extLst>
                </p:cNvPr>
                <p:cNvSpPr/>
                <p:nvPr/>
              </p:nvSpPr>
              <p:spPr>
                <a:xfrm rot="19318800">
                  <a:off x="9688254" y="447832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142" name="Flèche : droite 141">
                  <a:extLst>
                    <a:ext uri="{FF2B5EF4-FFF2-40B4-BE49-F238E27FC236}">
                      <a16:creationId xmlns:a16="http://schemas.microsoft.com/office/drawing/2014/main" id="{B2E1769D-FB7A-7215-0C3E-429B4FFA0C6B}"/>
                    </a:ext>
                  </a:extLst>
                </p:cNvPr>
                <p:cNvSpPr/>
                <p:nvPr/>
              </p:nvSpPr>
              <p:spPr>
                <a:xfrm rot="2412443">
                  <a:off x="9689689" y="536291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143" name="Flèche : droite 142">
                  <a:extLst>
                    <a:ext uri="{FF2B5EF4-FFF2-40B4-BE49-F238E27FC236}">
                      <a16:creationId xmlns:a16="http://schemas.microsoft.com/office/drawing/2014/main" id="{81F90D6F-15A5-A124-AF78-204EE7CEB58F}"/>
                    </a:ext>
                  </a:extLst>
                </p:cNvPr>
                <p:cNvSpPr/>
                <p:nvPr/>
              </p:nvSpPr>
              <p:spPr>
                <a:xfrm rot="8279483">
                  <a:off x="8287182" y="5362622"/>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sp>
              <p:nvSpPr>
                <p:cNvPr id="144" name="Flèche : droite 143">
                  <a:extLst>
                    <a:ext uri="{FF2B5EF4-FFF2-40B4-BE49-F238E27FC236}">
                      <a16:creationId xmlns:a16="http://schemas.microsoft.com/office/drawing/2014/main" id="{EF432683-9C0A-F5BF-79F9-B4FE601AD894}"/>
                    </a:ext>
                  </a:extLst>
                </p:cNvPr>
                <p:cNvSpPr/>
                <p:nvPr/>
              </p:nvSpPr>
              <p:spPr>
                <a:xfrm rot="13573193">
                  <a:off x="8288184" y="447896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a:p>
              </p:txBody>
            </p:sp>
          </p:grpSp>
        </p:grpSp>
      </p:grpSp>
      <p:grpSp>
        <p:nvGrpSpPr>
          <p:cNvPr id="145" name="Groupe 144">
            <a:extLst>
              <a:ext uri="{FF2B5EF4-FFF2-40B4-BE49-F238E27FC236}">
                <a16:creationId xmlns:a16="http://schemas.microsoft.com/office/drawing/2014/main" id="{6ACF3CC6-A494-FA81-127B-70938A311699}"/>
              </a:ext>
            </a:extLst>
          </p:cNvPr>
          <p:cNvGrpSpPr/>
          <p:nvPr/>
        </p:nvGrpSpPr>
        <p:grpSpPr>
          <a:xfrm>
            <a:off x="9354185" y="2424995"/>
            <a:ext cx="828429" cy="808950"/>
            <a:chOff x="8224358" y="3342553"/>
            <a:chExt cx="1188000" cy="1160065"/>
          </a:xfrm>
        </p:grpSpPr>
        <p:sp>
          <p:nvSpPr>
            <p:cNvPr id="146" name="Rectangle 145">
              <a:extLst>
                <a:ext uri="{FF2B5EF4-FFF2-40B4-BE49-F238E27FC236}">
                  <a16:creationId xmlns:a16="http://schemas.microsoft.com/office/drawing/2014/main" id="{1607E40F-E5A9-5C38-F49E-3E8BF13DA9AA}"/>
                </a:ext>
              </a:extLst>
            </p:cNvPr>
            <p:cNvSpPr/>
            <p:nvPr/>
          </p:nvSpPr>
          <p:spPr>
            <a:xfrm>
              <a:off x="8224358" y="3891151"/>
              <a:ext cx="1188000" cy="6114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Vente</a:t>
              </a:r>
            </a:p>
            <a:p>
              <a:pPr algn="ctr"/>
              <a:r>
                <a:rPr lang="fr-FR" sz="700" dirty="0">
                  <a:solidFill>
                    <a:schemeClr val="bg1"/>
                  </a:solidFill>
                </a:rPr>
                <a:t>Développement commercial</a:t>
              </a:r>
            </a:p>
          </p:txBody>
        </p:sp>
        <p:grpSp>
          <p:nvGrpSpPr>
            <p:cNvPr id="147" name="Groupe 146">
              <a:extLst>
                <a:ext uri="{FF2B5EF4-FFF2-40B4-BE49-F238E27FC236}">
                  <a16:creationId xmlns:a16="http://schemas.microsoft.com/office/drawing/2014/main" id="{20EC81E0-A65F-E1AC-AE3A-58DBEFF65598}"/>
                </a:ext>
              </a:extLst>
            </p:cNvPr>
            <p:cNvGrpSpPr/>
            <p:nvPr/>
          </p:nvGrpSpPr>
          <p:grpSpPr>
            <a:xfrm>
              <a:off x="8256771" y="3342553"/>
              <a:ext cx="1126180" cy="424682"/>
              <a:chOff x="1677224" y="4399902"/>
              <a:chExt cx="3984628" cy="1541940"/>
            </a:xfrm>
          </p:grpSpPr>
          <p:pic>
            <p:nvPicPr>
              <p:cNvPr id="148" name="Graphique 147" descr="Poignée de main avec un remplissage uni">
                <a:extLst>
                  <a:ext uri="{FF2B5EF4-FFF2-40B4-BE49-F238E27FC236}">
                    <a16:creationId xmlns:a16="http://schemas.microsoft.com/office/drawing/2014/main" id="{443E7B05-A9CA-E0FB-F0F6-3BEFEEF44DB2}"/>
                  </a:ext>
                </a:extLst>
              </p:cNvPr>
              <p:cNvPicPr>
                <a:picLocks noChangeAspect="1"/>
              </p:cNvPicPr>
              <p:nvPr/>
            </p:nvPicPr>
            <p:blipFill>
              <a:blip r:embed="rId108">
                <a:extLst>
                  <a:ext uri="{28A0092B-C50C-407E-A947-70E740481C1C}">
                    <a14:useLocalDpi xmlns:a14="http://schemas.microsoft.com/office/drawing/2010/main" val="0"/>
                  </a:ext>
                  <a:ext uri="{96DAC541-7B7A-43D3-8B79-37D633B846F1}">
                    <asvg:svgBlip xmlns:asvg="http://schemas.microsoft.com/office/drawing/2016/SVG/main" r:embed="rId109"/>
                  </a:ext>
                </a:extLst>
              </a:blip>
              <a:stretch>
                <a:fillRect/>
              </a:stretch>
            </p:blipFill>
            <p:spPr>
              <a:xfrm>
                <a:off x="1677224" y="4473520"/>
                <a:ext cx="1394705" cy="1394705"/>
              </a:xfrm>
              <a:prstGeom prst="rect">
                <a:avLst/>
              </a:prstGeom>
            </p:spPr>
          </p:pic>
          <p:pic>
            <p:nvPicPr>
              <p:cNvPr id="149" name="Graphique 148" descr="Contrat avec un remplissage uni">
                <a:extLst>
                  <a:ext uri="{FF2B5EF4-FFF2-40B4-BE49-F238E27FC236}">
                    <a16:creationId xmlns:a16="http://schemas.microsoft.com/office/drawing/2014/main" id="{88B520B4-4B3B-60E7-C78B-8BED0E335069}"/>
                  </a:ext>
                </a:extLst>
              </p:cNvPr>
              <p:cNvPicPr>
                <a:picLocks noChangeAspect="1"/>
              </p:cNvPicPr>
              <p:nvPr/>
            </p:nvPicPr>
            <p:blipFill>
              <a:blip r:embed="rId110">
                <a:extLst>
                  <a:ext uri="{28A0092B-C50C-407E-A947-70E740481C1C}">
                    <a14:useLocalDpi xmlns:a14="http://schemas.microsoft.com/office/drawing/2010/main" val="0"/>
                  </a:ext>
                  <a:ext uri="{96DAC541-7B7A-43D3-8B79-37D633B846F1}">
                    <asvg:svgBlip xmlns:asvg="http://schemas.microsoft.com/office/drawing/2016/SVG/main" r:embed="rId111"/>
                  </a:ext>
                </a:extLst>
              </a:blip>
              <a:stretch>
                <a:fillRect/>
              </a:stretch>
            </p:blipFill>
            <p:spPr>
              <a:xfrm>
                <a:off x="3003278" y="4578031"/>
                <a:ext cx="1185682" cy="1185682"/>
              </a:xfrm>
              <a:prstGeom prst="rect">
                <a:avLst/>
              </a:prstGeom>
            </p:spPr>
          </p:pic>
          <p:pic>
            <p:nvPicPr>
              <p:cNvPr id="150" name="Graphique 149" descr="Tendance à la hausse avec un remplissage uni">
                <a:extLst>
                  <a:ext uri="{FF2B5EF4-FFF2-40B4-BE49-F238E27FC236}">
                    <a16:creationId xmlns:a16="http://schemas.microsoft.com/office/drawing/2014/main" id="{FDEF231F-9DFC-D6E4-2DCD-400B3ADB4ED6}"/>
                  </a:ext>
                </a:extLst>
              </p:cNvPr>
              <p:cNvPicPr>
                <a:picLocks noChangeAspect="1"/>
              </p:cNvPicPr>
              <p:nvPr/>
            </p:nvPicPr>
            <p:blipFill>
              <a:blip r:embed="rId112">
                <a:extLst>
                  <a:ext uri="{28A0092B-C50C-407E-A947-70E740481C1C}">
                    <a14:useLocalDpi xmlns:a14="http://schemas.microsoft.com/office/drawing/2010/main" val="0"/>
                  </a:ext>
                  <a:ext uri="{96DAC541-7B7A-43D3-8B79-37D633B846F1}">
                    <asvg:svgBlip xmlns:asvg="http://schemas.microsoft.com/office/drawing/2016/SVG/main" r:embed="rId113"/>
                  </a:ext>
                </a:extLst>
              </a:blip>
              <a:stretch>
                <a:fillRect/>
              </a:stretch>
            </p:blipFill>
            <p:spPr>
              <a:xfrm>
                <a:off x="4119912" y="4399902"/>
                <a:ext cx="1541940" cy="1541940"/>
              </a:xfrm>
              <a:prstGeom prst="rect">
                <a:avLst/>
              </a:prstGeom>
            </p:spPr>
          </p:pic>
        </p:grpSp>
      </p:grpSp>
      <p:grpSp>
        <p:nvGrpSpPr>
          <p:cNvPr id="153" name="Groupe 152">
            <a:extLst>
              <a:ext uri="{FF2B5EF4-FFF2-40B4-BE49-F238E27FC236}">
                <a16:creationId xmlns:a16="http://schemas.microsoft.com/office/drawing/2014/main" id="{33F8C1AD-CB9B-FD8C-7603-8CE1AFF16710}"/>
              </a:ext>
            </a:extLst>
          </p:cNvPr>
          <p:cNvGrpSpPr/>
          <p:nvPr/>
        </p:nvGrpSpPr>
        <p:grpSpPr>
          <a:xfrm>
            <a:off x="11209771" y="2286587"/>
            <a:ext cx="828431" cy="879129"/>
            <a:chOff x="12377873" y="2362674"/>
            <a:chExt cx="746267" cy="791936"/>
          </a:xfrm>
        </p:grpSpPr>
        <p:sp>
          <p:nvSpPr>
            <p:cNvPr id="151" name="Rectangle 150">
              <a:extLst>
                <a:ext uri="{FF2B5EF4-FFF2-40B4-BE49-F238E27FC236}">
                  <a16:creationId xmlns:a16="http://schemas.microsoft.com/office/drawing/2014/main" id="{B90AEF0B-AA1A-B0BA-17D6-0AF15C552BE7}"/>
                </a:ext>
              </a:extLst>
            </p:cNvPr>
            <p:cNvSpPr/>
            <p:nvPr/>
          </p:nvSpPr>
          <p:spPr>
            <a:xfrm>
              <a:off x="12377873" y="2831967"/>
              <a:ext cx="746267" cy="32264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bg1"/>
                  </a:solidFill>
                </a:rPr>
                <a:t>Autres</a:t>
              </a:r>
              <a:endParaRPr lang="fr-FR" sz="700" dirty="0">
                <a:solidFill>
                  <a:schemeClr val="bg1"/>
                </a:solidFill>
              </a:endParaRPr>
            </a:p>
          </p:txBody>
        </p:sp>
        <p:pic>
          <p:nvPicPr>
            <p:cNvPr id="152" name="Graphique 151" descr="Bâtiment avec un remplissage uni">
              <a:extLst>
                <a:ext uri="{FF2B5EF4-FFF2-40B4-BE49-F238E27FC236}">
                  <a16:creationId xmlns:a16="http://schemas.microsoft.com/office/drawing/2014/main" id="{3FFE6023-233C-B70C-9103-53E66AE2C982}"/>
                </a:ext>
              </a:extLst>
            </p:cNvPr>
            <p:cNvPicPr>
              <a:picLocks noChangeAspect="1"/>
            </p:cNvPicPr>
            <p:nvPr/>
          </p:nvPicPr>
          <p:blipFill>
            <a:blip r:embed="rId114">
              <a:extLst>
                <a:ext uri="{28A0092B-C50C-407E-A947-70E740481C1C}">
                  <a14:useLocalDpi xmlns:a14="http://schemas.microsoft.com/office/drawing/2010/main" val="0"/>
                </a:ext>
                <a:ext uri="{96DAC541-7B7A-43D3-8B79-37D633B846F1}">
                  <asvg:svgBlip xmlns:asvg="http://schemas.microsoft.com/office/drawing/2016/SVG/main" r:embed="rId115"/>
                </a:ext>
              </a:extLst>
            </a:blip>
            <a:stretch>
              <a:fillRect/>
            </a:stretch>
          </p:blipFill>
          <p:spPr>
            <a:xfrm>
              <a:off x="12564531" y="2362674"/>
              <a:ext cx="372950" cy="372950"/>
            </a:xfrm>
            <a:prstGeom prst="rect">
              <a:avLst/>
            </a:prstGeom>
          </p:spPr>
        </p:pic>
      </p:grpSp>
      <p:sp>
        <p:nvSpPr>
          <p:cNvPr id="154" name="Rectangle 153">
            <a:extLst>
              <a:ext uri="{FF2B5EF4-FFF2-40B4-BE49-F238E27FC236}">
                <a16:creationId xmlns:a16="http://schemas.microsoft.com/office/drawing/2014/main" id="{41B1DC2E-B0D9-D1E5-2DE4-01EE459BB5A1}"/>
              </a:ext>
            </a:extLst>
          </p:cNvPr>
          <p:cNvSpPr/>
          <p:nvPr/>
        </p:nvSpPr>
        <p:spPr>
          <a:xfrm>
            <a:off x="3123751" y="3261407"/>
            <a:ext cx="894686"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⚙️Vis-ma-vie, </a:t>
            </a:r>
            <a:r>
              <a:rPr lang="fr-FR" sz="700" dirty="0" err="1">
                <a:solidFill>
                  <a:schemeClr val="tx1"/>
                </a:solidFill>
              </a:rPr>
              <a:t>shadowing</a:t>
            </a:r>
            <a:r>
              <a:rPr lang="fr-FR" sz="700" dirty="0">
                <a:solidFill>
                  <a:schemeClr val="tx1"/>
                </a:solidFill>
              </a:rPr>
              <a:t> entre membres</a:t>
            </a:r>
          </a:p>
        </p:txBody>
      </p:sp>
      <p:sp>
        <p:nvSpPr>
          <p:cNvPr id="155" name="Rectangle 154">
            <a:extLst>
              <a:ext uri="{FF2B5EF4-FFF2-40B4-BE49-F238E27FC236}">
                <a16:creationId xmlns:a16="http://schemas.microsoft.com/office/drawing/2014/main" id="{7B568697-118C-170E-2104-0C5C5D6920C0}"/>
              </a:ext>
            </a:extLst>
          </p:cNvPr>
          <p:cNvSpPr/>
          <p:nvPr/>
        </p:nvSpPr>
        <p:spPr>
          <a:xfrm>
            <a:off x="3123751" y="3693521"/>
            <a:ext cx="894686"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⚙️Système de mentoring de carrières, conseils</a:t>
            </a:r>
          </a:p>
        </p:txBody>
      </p:sp>
      <p:sp>
        <p:nvSpPr>
          <p:cNvPr id="156" name="Rectangle 155">
            <a:extLst>
              <a:ext uri="{FF2B5EF4-FFF2-40B4-BE49-F238E27FC236}">
                <a16:creationId xmlns:a16="http://schemas.microsoft.com/office/drawing/2014/main" id="{9E0AF965-6306-2E21-35DC-DE1BE840C0AF}"/>
              </a:ext>
            </a:extLst>
          </p:cNvPr>
          <p:cNvSpPr/>
          <p:nvPr/>
        </p:nvSpPr>
        <p:spPr>
          <a:xfrm>
            <a:off x="3135724" y="4125635"/>
            <a:ext cx="894686"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
            </a:r>
            <a:r>
              <a:rPr lang="fr-FR" sz="700" dirty="0">
                <a:solidFill>
                  <a:schemeClr val="tx1"/>
                </a:solidFill>
              </a:rPr>
              <a:t>Bourse aux opportunités de mobilité interne</a:t>
            </a:r>
          </a:p>
        </p:txBody>
      </p:sp>
      <p:sp>
        <p:nvSpPr>
          <p:cNvPr id="157" name="Rectangle 156">
            <a:extLst>
              <a:ext uri="{FF2B5EF4-FFF2-40B4-BE49-F238E27FC236}">
                <a16:creationId xmlns:a16="http://schemas.microsoft.com/office/drawing/2014/main" id="{A6C042B8-DC3E-B6F6-6A7E-E5FF2A927FB1}"/>
              </a:ext>
            </a:extLst>
          </p:cNvPr>
          <p:cNvSpPr/>
          <p:nvPr/>
        </p:nvSpPr>
        <p:spPr>
          <a:xfrm>
            <a:off x="6741979" y="3276719"/>
            <a:ext cx="771375" cy="4257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Aide à la coordination transverse</a:t>
            </a:r>
          </a:p>
        </p:txBody>
      </p:sp>
      <p:sp>
        <p:nvSpPr>
          <p:cNvPr id="158" name="Rectangle 157">
            <a:extLst>
              <a:ext uri="{FF2B5EF4-FFF2-40B4-BE49-F238E27FC236}">
                <a16:creationId xmlns:a16="http://schemas.microsoft.com/office/drawing/2014/main" id="{68012FF5-8BBF-354E-3C78-5FEA4CB3B899}"/>
              </a:ext>
            </a:extLst>
          </p:cNvPr>
          <p:cNvSpPr/>
          <p:nvPr/>
        </p:nvSpPr>
        <p:spPr>
          <a:xfrm>
            <a:off x="153583" y="3693753"/>
            <a:ext cx="894686" cy="38657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 Participation aux événements de recrutement</a:t>
            </a:r>
          </a:p>
        </p:txBody>
      </p:sp>
      <p:sp>
        <p:nvSpPr>
          <p:cNvPr id="159" name="Rectangle 158">
            <a:extLst>
              <a:ext uri="{FF2B5EF4-FFF2-40B4-BE49-F238E27FC236}">
                <a16:creationId xmlns:a16="http://schemas.microsoft.com/office/drawing/2014/main" id="{EFDAB196-FEAA-A31E-0835-E9FFE8576227}"/>
              </a:ext>
            </a:extLst>
          </p:cNvPr>
          <p:cNvSpPr/>
          <p:nvPr/>
        </p:nvSpPr>
        <p:spPr>
          <a:xfrm>
            <a:off x="153584" y="3270662"/>
            <a:ext cx="894686"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 ⚙️ Ecriture / revue de fiches de postes par la Communauté</a:t>
            </a:r>
          </a:p>
        </p:txBody>
      </p:sp>
      <p:sp>
        <p:nvSpPr>
          <p:cNvPr id="160" name="Rectangle 159">
            <a:extLst>
              <a:ext uri="{FF2B5EF4-FFF2-40B4-BE49-F238E27FC236}">
                <a16:creationId xmlns:a16="http://schemas.microsoft.com/office/drawing/2014/main" id="{A91A8577-BCF4-6061-9D16-E28E6C2A430F}"/>
              </a:ext>
            </a:extLst>
          </p:cNvPr>
          <p:cNvSpPr/>
          <p:nvPr/>
        </p:nvSpPr>
        <p:spPr>
          <a:xfrm>
            <a:off x="153583" y="4774501"/>
            <a:ext cx="894686"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
            </a:r>
            <a:r>
              <a:rPr lang="fr-FR" sz="700" dirty="0">
                <a:solidFill>
                  <a:schemeClr val="tx1"/>
                </a:solidFill>
              </a:rPr>
              <a:t>Participation aux entretiens de recrutement</a:t>
            </a:r>
          </a:p>
        </p:txBody>
      </p:sp>
      <p:sp>
        <p:nvSpPr>
          <p:cNvPr id="163" name="Rectangle 162">
            <a:extLst>
              <a:ext uri="{FF2B5EF4-FFF2-40B4-BE49-F238E27FC236}">
                <a16:creationId xmlns:a16="http://schemas.microsoft.com/office/drawing/2014/main" id="{B61293EA-EC7B-5F7E-1DEE-4FC52877597C}"/>
              </a:ext>
            </a:extLst>
          </p:cNvPr>
          <p:cNvSpPr/>
          <p:nvPr/>
        </p:nvSpPr>
        <p:spPr>
          <a:xfrm>
            <a:off x="153583" y="4125634"/>
            <a:ext cx="894686" cy="5987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
            </a:r>
            <a:r>
              <a:rPr lang="fr-FR" sz="700" dirty="0">
                <a:solidFill>
                  <a:schemeClr val="tx1"/>
                </a:solidFill>
              </a:rPr>
              <a:t>Cooptation et promotion auprès de réseaux professionnels et personnels</a:t>
            </a:r>
          </a:p>
        </p:txBody>
      </p:sp>
      <p:sp>
        <p:nvSpPr>
          <p:cNvPr id="164" name="Rectangle 163">
            <a:extLst>
              <a:ext uri="{FF2B5EF4-FFF2-40B4-BE49-F238E27FC236}">
                <a16:creationId xmlns:a16="http://schemas.microsoft.com/office/drawing/2014/main" id="{CFF00E9B-A42F-20BA-3EC0-CBAA3FB52A0F}"/>
              </a:ext>
            </a:extLst>
          </p:cNvPr>
          <p:cNvSpPr/>
          <p:nvPr/>
        </p:nvSpPr>
        <p:spPr>
          <a:xfrm>
            <a:off x="1147630" y="3269484"/>
            <a:ext cx="894686"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
            </a:r>
            <a:r>
              <a:rPr lang="fr-FR" sz="700" dirty="0">
                <a:solidFill>
                  <a:schemeClr val="tx1"/>
                </a:solidFill>
              </a:rPr>
              <a:t>Contribution à l’écriture d’un guide de bienvenue</a:t>
            </a:r>
          </a:p>
        </p:txBody>
      </p:sp>
      <p:sp>
        <p:nvSpPr>
          <p:cNvPr id="165" name="Rectangle 164">
            <a:extLst>
              <a:ext uri="{FF2B5EF4-FFF2-40B4-BE49-F238E27FC236}">
                <a16:creationId xmlns:a16="http://schemas.microsoft.com/office/drawing/2014/main" id="{D4F36DF0-2D4C-0B5A-216B-9E4DB2571BCC}"/>
              </a:ext>
            </a:extLst>
          </p:cNvPr>
          <p:cNvSpPr/>
          <p:nvPr/>
        </p:nvSpPr>
        <p:spPr>
          <a:xfrm>
            <a:off x="1147630" y="3711138"/>
            <a:ext cx="894686"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t>
            </a:r>
            <a:r>
              <a:rPr lang="fr-FR" sz="700" dirty="0">
                <a:solidFill>
                  <a:schemeClr val="tx1"/>
                </a:solidFill>
              </a:rPr>
              <a:t>Organisation d’événements de bienvenue</a:t>
            </a:r>
          </a:p>
        </p:txBody>
      </p:sp>
      <p:sp>
        <p:nvSpPr>
          <p:cNvPr id="166" name="Rectangle 165">
            <a:extLst>
              <a:ext uri="{FF2B5EF4-FFF2-40B4-BE49-F238E27FC236}">
                <a16:creationId xmlns:a16="http://schemas.microsoft.com/office/drawing/2014/main" id="{478491DF-6B57-E08E-4B8C-F6B28A44DE3E}"/>
              </a:ext>
            </a:extLst>
          </p:cNvPr>
          <p:cNvSpPr/>
          <p:nvPr/>
        </p:nvSpPr>
        <p:spPr>
          <a:xfrm>
            <a:off x="1147630" y="4149760"/>
            <a:ext cx="894686"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
            </a:r>
            <a:r>
              <a:rPr lang="fr-FR" sz="700" dirty="0">
                <a:solidFill>
                  <a:schemeClr val="tx1"/>
                </a:solidFill>
              </a:rPr>
              <a:t>Système de parrainage  nouveaux / anciens</a:t>
            </a:r>
          </a:p>
        </p:txBody>
      </p:sp>
      <p:sp>
        <p:nvSpPr>
          <p:cNvPr id="167" name="Rectangle 166">
            <a:extLst>
              <a:ext uri="{FF2B5EF4-FFF2-40B4-BE49-F238E27FC236}">
                <a16:creationId xmlns:a16="http://schemas.microsoft.com/office/drawing/2014/main" id="{448AEC05-44D0-29CF-D9C5-7F3994DBE301}"/>
              </a:ext>
            </a:extLst>
          </p:cNvPr>
          <p:cNvSpPr/>
          <p:nvPr/>
        </p:nvSpPr>
        <p:spPr>
          <a:xfrm>
            <a:off x="1147630" y="4588382"/>
            <a:ext cx="894686"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t>
            </a:r>
            <a:r>
              <a:rPr lang="fr-FR" sz="700" dirty="0">
                <a:solidFill>
                  <a:schemeClr val="tx1"/>
                </a:solidFill>
              </a:rPr>
              <a:t>Organisation de rencontres des nouveaux</a:t>
            </a:r>
          </a:p>
        </p:txBody>
      </p:sp>
      <p:sp>
        <p:nvSpPr>
          <p:cNvPr id="168" name="Rectangle 167">
            <a:extLst>
              <a:ext uri="{FF2B5EF4-FFF2-40B4-BE49-F238E27FC236}">
                <a16:creationId xmlns:a16="http://schemas.microsoft.com/office/drawing/2014/main" id="{BCB7BB07-7608-6CB6-F8F7-17008D76296C}"/>
              </a:ext>
            </a:extLst>
          </p:cNvPr>
          <p:cNvSpPr/>
          <p:nvPr/>
        </p:nvSpPr>
        <p:spPr>
          <a:xfrm>
            <a:off x="1147630" y="5027004"/>
            <a:ext cx="894686" cy="66259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 Gestion d’un système de promotion (par l’année d’intégration par ex) comme les écoles</a:t>
            </a:r>
          </a:p>
        </p:txBody>
      </p:sp>
      <p:sp>
        <p:nvSpPr>
          <p:cNvPr id="169" name="Rectangle 168">
            <a:extLst>
              <a:ext uri="{FF2B5EF4-FFF2-40B4-BE49-F238E27FC236}">
                <a16:creationId xmlns:a16="http://schemas.microsoft.com/office/drawing/2014/main" id="{FBF5F1FD-0E14-9949-1432-33F88D85F8AD}"/>
              </a:ext>
            </a:extLst>
          </p:cNvPr>
          <p:cNvSpPr/>
          <p:nvPr/>
        </p:nvSpPr>
        <p:spPr>
          <a:xfrm>
            <a:off x="2141678" y="3261407"/>
            <a:ext cx="894686" cy="65704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
            </a:r>
            <a:r>
              <a:rPr lang="fr-FR" sz="700" dirty="0">
                <a:solidFill>
                  <a:schemeClr val="tx1"/>
                </a:solidFill>
              </a:rPr>
              <a:t>Organisation de Moments d’apprentissage / transmission (Formation interne)</a:t>
            </a:r>
          </a:p>
        </p:txBody>
      </p:sp>
      <p:sp>
        <p:nvSpPr>
          <p:cNvPr id="170" name="Rectangle 169">
            <a:extLst>
              <a:ext uri="{FF2B5EF4-FFF2-40B4-BE49-F238E27FC236}">
                <a16:creationId xmlns:a16="http://schemas.microsoft.com/office/drawing/2014/main" id="{C940431B-0DBC-77BE-7D51-6398256CB7AF}"/>
              </a:ext>
            </a:extLst>
          </p:cNvPr>
          <p:cNvSpPr/>
          <p:nvPr/>
        </p:nvSpPr>
        <p:spPr>
          <a:xfrm>
            <a:off x="2141678" y="3948209"/>
            <a:ext cx="894686" cy="56423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r>
              <a:rPr lang="fr-FR" sz="800" dirty="0">
                <a:solidFill>
                  <a:schemeClr val="tx1"/>
                </a:solidFill>
              </a:rPr>
              <a:t>✍️</a:t>
            </a:r>
            <a:r>
              <a:rPr lang="fr-FR" sz="700" dirty="0">
                <a:solidFill>
                  <a:schemeClr val="tx1"/>
                </a:solidFill>
              </a:rPr>
              <a:t>Conseil sur le catalogue de formations concernant le sujet de la Communauté</a:t>
            </a:r>
          </a:p>
        </p:txBody>
      </p:sp>
      <p:sp>
        <p:nvSpPr>
          <p:cNvPr id="171" name="Rectangle 170">
            <a:extLst>
              <a:ext uri="{FF2B5EF4-FFF2-40B4-BE49-F238E27FC236}">
                <a16:creationId xmlns:a16="http://schemas.microsoft.com/office/drawing/2014/main" id="{588E27EA-0A6B-6485-97A1-4D97380A96C2}"/>
              </a:ext>
            </a:extLst>
          </p:cNvPr>
          <p:cNvSpPr/>
          <p:nvPr/>
        </p:nvSpPr>
        <p:spPr>
          <a:xfrm>
            <a:off x="2141678" y="4557749"/>
            <a:ext cx="894686" cy="4261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📅✍️Aide sur le choix de la bonne formation au bon moment</a:t>
            </a:r>
          </a:p>
        </p:txBody>
      </p:sp>
      <p:sp>
        <p:nvSpPr>
          <p:cNvPr id="172" name="Rectangle 171">
            <a:extLst>
              <a:ext uri="{FF2B5EF4-FFF2-40B4-BE49-F238E27FC236}">
                <a16:creationId xmlns:a16="http://schemas.microsoft.com/office/drawing/2014/main" id="{B174E704-6036-9F60-35AD-18F74161C2D8}"/>
              </a:ext>
            </a:extLst>
          </p:cNvPr>
          <p:cNvSpPr/>
          <p:nvPr/>
        </p:nvSpPr>
        <p:spPr>
          <a:xfrm>
            <a:off x="6750970" y="3739276"/>
            <a:ext cx="771375" cy="44764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Aide à la prise de décisions transverses</a:t>
            </a:r>
          </a:p>
        </p:txBody>
      </p:sp>
      <p:sp>
        <p:nvSpPr>
          <p:cNvPr id="173" name="Rectangle 172">
            <a:extLst>
              <a:ext uri="{FF2B5EF4-FFF2-40B4-BE49-F238E27FC236}">
                <a16:creationId xmlns:a16="http://schemas.microsoft.com/office/drawing/2014/main" id="{33E29DE5-0980-A3C0-7DDD-12935D4097B0}"/>
              </a:ext>
            </a:extLst>
          </p:cNvPr>
          <p:cNvSpPr/>
          <p:nvPr/>
        </p:nvSpPr>
        <p:spPr>
          <a:xfrm>
            <a:off x="3135724" y="4565917"/>
            <a:ext cx="894686" cy="5035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 Aide à la définition de chemin de carrières</a:t>
            </a:r>
          </a:p>
        </p:txBody>
      </p:sp>
      <p:sp>
        <p:nvSpPr>
          <p:cNvPr id="174" name="Rectangle 173">
            <a:extLst>
              <a:ext uri="{FF2B5EF4-FFF2-40B4-BE49-F238E27FC236}">
                <a16:creationId xmlns:a16="http://schemas.microsoft.com/office/drawing/2014/main" id="{988D76F0-E214-CE62-61AE-DEC168E49944}"/>
              </a:ext>
            </a:extLst>
          </p:cNvPr>
          <p:cNvSpPr/>
          <p:nvPr/>
        </p:nvSpPr>
        <p:spPr>
          <a:xfrm>
            <a:off x="4129770" y="3255383"/>
            <a:ext cx="771375" cy="47789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
            </a:r>
            <a:r>
              <a:rPr lang="fr-FR" sz="700" dirty="0">
                <a:solidFill>
                  <a:schemeClr val="tx1"/>
                </a:solidFill>
              </a:rPr>
              <a:t>Aide à la résolution de questions opérationnelles</a:t>
            </a:r>
          </a:p>
        </p:txBody>
      </p:sp>
      <p:sp>
        <p:nvSpPr>
          <p:cNvPr id="175" name="Rectangle 174">
            <a:extLst>
              <a:ext uri="{FF2B5EF4-FFF2-40B4-BE49-F238E27FC236}">
                <a16:creationId xmlns:a16="http://schemas.microsoft.com/office/drawing/2014/main" id="{05EE65C5-8D73-115E-68AD-FD9A05F5F46B}"/>
              </a:ext>
            </a:extLst>
          </p:cNvPr>
          <p:cNvSpPr/>
          <p:nvPr/>
        </p:nvSpPr>
        <p:spPr>
          <a:xfrm>
            <a:off x="4129770" y="3784876"/>
            <a:ext cx="771375"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⚙️Système d’entraide entre pairs</a:t>
            </a:r>
          </a:p>
        </p:txBody>
      </p:sp>
      <p:sp>
        <p:nvSpPr>
          <p:cNvPr id="176" name="Rectangle 175">
            <a:extLst>
              <a:ext uri="{FF2B5EF4-FFF2-40B4-BE49-F238E27FC236}">
                <a16:creationId xmlns:a16="http://schemas.microsoft.com/office/drawing/2014/main" id="{581FAE85-48D8-9915-A71B-200B9C1FF95F}"/>
              </a:ext>
            </a:extLst>
          </p:cNvPr>
          <p:cNvSpPr/>
          <p:nvPr/>
        </p:nvSpPr>
        <p:spPr>
          <a:xfrm>
            <a:off x="4121862" y="4230328"/>
            <a:ext cx="771375" cy="7555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⚙️Système de guichet / clinique / points de contact sur les spécialités de la Communauté</a:t>
            </a:r>
          </a:p>
        </p:txBody>
      </p:sp>
      <p:sp>
        <p:nvSpPr>
          <p:cNvPr id="177" name="Rectangle 176">
            <a:extLst>
              <a:ext uri="{FF2B5EF4-FFF2-40B4-BE49-F238E27FC236}">
                <a16:creationId xmlns:a16="http://schemas.microsoft.com/office/drawing/2014/main" id="{2A2690F4-FCE4-3F47-758F-F8E431F6F277}"/>
              </a:ext>
            </a:extLst>
          </p:cNvPr>
          <p:cNvSpPr/>
          <p:nvPr/>
        </p:nvSpPr>
        <p:spPr>
          <a:xfrm>
            <a:off x="4990025" y="3255383"/>
            <a:ext cx="771375" cy="79785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 Etablissement et mise à jour des normes et règles locales sur un sujet donné</a:t>
            </a:r>
          </a:p>
        </p:txBody>
      </p:sp>
      <p:sp>
        <p:nvSpPr>
          <p:cNvPr id="178" name="Rectangle 177">
            <a:extLst>
              <a:ext uri="{FF2B5EF4-FFF2-40B4-BE49-F238E27FC236}">
                <a16:creationId xmlns:a16="http://schemas.microsoft.com/office/drawing/2014/main" id="{7106D129-0C56-CF60-B763-1605E79341DD}"/>
              </a:ext>
            </a:extLst>
          </p:cNvPr>
          <p:cNvSpPr/>
          <p:nvPr/>
        </p:nvSpPr>
        <p:spPr>
          <a:xfrm>
            <a:off x="4973283" y="4096001"/>
            <a:ext cx="771375" cy="5206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Formation sur les normes, règles, méthodes</a:t>
            </a:r>
          </a:p>
        </p:txBody>
      </p:sp>
      <p:sp>
        <p:nvSpPr>
          <p:cNvPr id="179" name="Rectangle 178">
            <a:extLst>
              <a:ext uri="{FF2B5EF4-FFF2-40B4-BE49-F238E27FC236}">
                <a16:creationId xmlns:a16="http://schemas.microsoft.com/office/drawing/2014/main" id="{AF74E74A-318A-CE48-DB3B-C8876239BB13}"/>
              </a:ext>
            </a:extLst>
          </p:cNvPr>
          <p:cNvSpPr/>
          <p:nvPr/>
        </p:nvSpPr>
        <p:spPr>
          <a:xfrm>
            <a:off x="4969002" y="4659411"/>
            <a:ext cx="771375" cy="67858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⚙️Cellule d’audit / diagnostic sur les normes / qualités / méthode</a:t>
            </a:r>
          </a:p>
        </p:txBody>
      </p:sp>
      <p:sp>
        <p:nvSpPr>
          <p:cNvPr id="180" name="Rectangle 179">
            <a:extLst>
              <a:ext uri="{FF2B5EF4-FFF2-40B4-BE49-F238E27FC236}">
                <a16:creationId xmlns:a16="http://schemas.microsoft.com/office/drawing/2014/main" id="{460DCF02-E67F-CB77-1473-BD117D564247}"/>
              </a:ext>
            </a:extLst>
          </p:cNvPr>
          <p:cNvSpPr/>
          <p:nvPr/>
        </p:nvSpPr>
        <p:spPr>
          <a:xfrm>
            <a:off x="5865943" y="3276065"/>
            <a:ext cx="771375" cy="55357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r>
              <a:rPr lang="fr-FR" sz="800" dirty="0">
                <a:solidFill>
                  <a:schemeClr val="tx1"/>
                </a:solidFill>
              </a:rPr>
              <a:t>✍️</a:t>
            </a:r>
            <a:r>
              <a:rPr lang="fr-FR" sz="700" dirty="0">
                <a:solidFill>
                  <a:schemeClr val="tx1"/>
                </a:solidFill>
              </a:rPr>
              <a:t> Centralisation et Maintien d’une bases de connaissances</a:t>
            </a:r>
          </a:p>
        </p:txBody>
      </p:sp>
      <p:sp>
        <p:nvSpPr>
          <p:cNvPr id="181" name="Rectangle 180">
            <a:extLst>
              <a:ext uri="{FF2B5EF4-FFF2-40B4-BE49-F238E27FC236}">
                <a16:creationId xmlns:a16="http://schemas.microsoft.com/office/drawing/2014/main" id="{7ACE9ACF-B78D-2A89-C4DB-A0ABFDE6AF78}"/>
              </a:ext>
            </a:extLst>
          </p:cNvPr>
          <p:cNvSpPr/>
          <p:nvPr/>
        </p:nvSpPr>
        <p:spPr>
          <a:xfrm>
            <a:off x="5865943" y="3846336"/>
            <a:ext cx="771375" cy="5206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 ⚙️</a:t>
            </a:r>
          </a:p>
          <a:p>
            <a:pPr algn="ctr"/>
            <a:r>
              <a:rPr lang="fr-FR" sz="700" dirty="0">
                <a:solidFill>
                  <a:schemeClr val="tx1"/>
                </a:solidFill>
              </a:rPr>
              <a:t>Organisation de transmissions de connaissances</a:t>
            </a:r>
          </a:p>
        </p:txBody>
      </p:sp>
      <p:sp>
        <p:nvSpPr>
          <p:cNvPr id="182" name="Rectangle 181">
            <a:extLst>
              <a:ext uri="{FF2B5EF4-FFF2-40B4-BE49-F238E27FC236}">
                <a16:creationId xmlns:a16="http://schemas.microsoft.com/office/drawing/2014/main" id="{4B9C2984-1757-A0EE-F8D9-D10E8FE3D48E}"/>
              </a:ext>
            </a:extLst>
          </p:cNvPr>
          <p:cNvSpPr/>
          <p:nvPr/>
        </p:nvSpPr>
        <p:spPr>
          <a:xfrm>
            <a:off x="5861158" y="5130716"/>
            <a:ext cx="771375" cy="78587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⚙️Suivi des capacités de transmission transverse (ex: avec #OpenSeriousPath) </a:t>
            </a:r>
          </a:p>
        </p:txBody>
      </p:sp>
      <p:sp>
        <p:nvSpPr>
          <p:cNvPr id="183" name="Rectangle 182">
            <a:extLst>
              <a:ext uri="{FF2B5EF4-FFF2-40B4-BE49-F238E27FC236}">
                <a16:creationId xmlns:a16="http://schemas.microsoft.com/office/drawing/2014/main" id="{E4888BCF-F24C-1835-36B5-B1CB35AC80C5}"/>
              </a:ext>
            </a:extLst>
          </p:cNvPr>
          <p:cNvSpPr/>
          <p:nvPr/>
        </p:nvSpPr>
        <p:spPr>
          <a:xfrm>
            <a:off x="5861157" y="5950203"/>
            <a:ext cx="771375" cy="55357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Organisation de la montée en compétence de transmission</a:t>
            </a:r>
          </a:p>
        </p:txBody>
      </p:sp>
      <p:sp>
        <p:nvSpPr>
          <p:cNvPr id="184" name="Rectangle 183">
            <a:extLst>
              <a:ext uri="{FF2B5EF4-FFF2-40B4-BE49-F238E27FC236}">
                <a16:creationId xmlns:a16="http://schemas.microsoft.com/office/drawing/2014/main" id="{39E5643F-65D5-371E-C6BF-4F878F3A9B85}"/>
              </a:ext>
            </a:extLst>
          </p:cNvPr>
          <p:cNvSpPr/>
          <p:nvPr/>
        </p:nvSpPr>
        <p:spPr>
          <a:xfrm>
            <a:off x="5865943" y="4400196"/>
            <a:ext cx="771375" cy="66929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⚙️Suivi des capacités en compétence (ex: </a:t>
            </a:r>
            <a:r>
              <a:rPr lang="fr-FR" sz="700" dirty="0" err="1">
                <a:solidFill>
                  <a:schemeClr val="tx1"/>
                </a:solidFill>
              </a:rPr>
              <a:t>skills</a:t>
            </a:r>
            <a:r>
              <a:rPr lang="fr-FR" sz="700" dirty="0">
                <a:solidFill>
                  <a:schemeClr val="tx1"/>
                </a:solidFill>
              </a:rPr>
              <a:t> matrix à l’échelle communauté)</a:t>
            </a:r>
          </a:p>
        </p:txBody>
      </p:sp>
      <p:sp>
        <p:nvSpPr>
          <p:cNvPr id="185" name="Rectangle 184">
            <a:extLst>
              <a:ext uri="{FF2B5EF4-FFF2-40B4-BE49-F238E27FC236}">
                <a16:creationId xmlns:a16="http://schemas.microsoft.com/office/drawing/2014/main" id="{5E1CBDB5-6D8E-1294-7E73-7394E196DA7D}"/>
              </a:ext>
            </a:extLst>
          </p:cNvPr>
          <p:cNvSpPr/>
          <p:nvPr/>
        </p:nvSpPr>
        <p:spPr>
          <a:xfrm>
            <a:off x="7628302" y="4141473"/>
            <a:ext cx="771375" cy="5805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t>
            </a:r>
            <a:r>
              <a:rPr lang="fr-FR" sz="700" dirty="0">
                <a:solidFill>
                  <a:schemeClr val="tx1"/>
                </a:solidFill>
              </a:rPr>
              <a:t>Organisation de concours d’innovations/ hackathons</a:t>
            </a:r>
          </a:p>
        </p:txBody>
      </p:sp>
      <p:sp>
        <p:nvSpPr>
          <p:cNvPr id="186" name="Rectangle 185">
            <a:extLst>
              <a:ext uri="{FF2B5EF4-FFF2-40B4-BE49-F238E27FC236}">
                <a16:creationId xmlns:a16="http://schemas.microsoft.com/office/drawing/2014/main" id="{05E60515-4501-EA96-26DC-1E858D729DED}"/>
              </a:ext>
            </a:extLst>
          </p:cNvPr>
          <p:cNvSpPr/>
          <p:nvPr/>
        </p:nvSpPr>
        <p:spPr>
          <a:xfrm>
            <a:off x="7612713" y="3280351"/>
            <a:ext cx="771375"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Mise en valeur du sujet Innovation</a:t>
            </a:r>
          </a:p>
        </p:txBody>
      </p:sp>
      <p:sp>
        <p:nvSpPr>
          <p:cNvPr id="187" name="Rectangle 186">
            <a:extLst>
              <a:ext uri="{FF2B5EF4-FFF2-40B4-BE49-F238E27FC236}">
                <a16:creationId xmlns:a16="http://schemas.microsoft.com/office/drawing/2014/main" id="{7F072BC0-4395-58E1-230A-07FA69023CC4}"/>
              </a:ext>
            </a:extLst>
          </p:cNvPr>
          <p:cNvSpPr/>
          <p:nvPr/>
        </p:nvSpPr>
        <p:spPr>
          <a:xfrm>
            <a:off x="7618128" y="3711138"/>
            <a:ext cx="771375" cy="386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Collecte et mise en valeur d’innovations</a:t>
            </a:r>
          </a:p>
        </p:txBody>
      </p:sp>
      <p:sp>
        <p:nvSpPr>
          <p:cNvPr id="188" name="Rectangle 187">
            <a:extLst>
              <a:ext uri="{FF2B5EF4-FFF2-40B4-BE49-F238E27FC236}">
                <a16:creationId xmlns:a16="http://schemas.microsoft.com/office/drawing/2014/main" id="{6F6A0012-A07D-0524-E182-C59FFF70B193}"/>
              </a:ext>
            </a:extLst>
          </p:cNvPr>
          <p:cNvSpPr/>
          <p:nvPr/>
        </p:nvSpPr>
        <p:spPr>
          <a:xfrm>
            <a:off x="7628302" y="4764847"/>
            <a:ext cx="771375" cy="6310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Soutien / conseil sur les questions de propriété intellectuelle</a:t>
            </a:r>
          </a:p>
        </p:txBody>
      </p:sp>
      <p:sp>
        <p:nvSpPr>
          <p:cNvPr id="189" name="Rectangle 188">
            <a:extLst>
              <a:ext uri="{FF2B5EF4-FFF2-40B4-BE49-F238E27FC236}">
                <a16:creationId xmlns:a16="http://schemas.microsoft.com/office/drawing/2014/main" id="{556CB061-CF0D-84AB-7767-9BB64E4F9B25}"/>
              </a:ext>
            </a:extLst>
          </p:cNvPr>
          <p:cNvSpPr/>
          <p:nvPr/>
        </p:nvSpPr>
        <p:spPr>
          <a:xfrm>
            <a:off x="7628302" y="5439890"/>
            <a:ext cx="771375" cy="55357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Aide à la création et au dépôt de brevets</a:t>
            </a:r>
          </a:p>
        </p:txBody>
      </p:sp>
      <p:sp>
        <p:nvSpPr>
          <p:cNvPr id="190" name="Rectangle 189">
            <a:extLst>
              <a:ext uri="{FF2B5EF4-FFF2-40B4-BE49-F238E27FC236}">
                <a16:creationId xmlns:a16="http://schemas.microsoft.com/office/drawing/2014/main" id="{D8344BC8-1757-3112-70BE-7E14AB0A9DF2}"/>
              </a:ext>
            </a:extLst>
          </p:cNvPr>
          <p:cNvSpPr/>
          <p:nvPr/>
        </p:nvSpPr>
        <p:spPr>
          <a:xfrm>
            <a:off x="8483450" y="3268149"/>
            <a:ext cx="771375" cy="6593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t>
            </a:r>
            <a:r>
              <a:rPr lang="fr-FR" sz="700" dirty="0">
                <a:solidFill>
                  <a:schemeClr val="tx1"/>
                </a:solidFill>
              </a:rPr>
              <a:t>Conférences inspirantes sur les sujets liés aux changements</a:t>
            </a:r>
          </a:p>
        </p:txBody>
      </p:sp>
      <p:sp>
        <p:nvSpPr>
          <p:cNvPr id="191" name="Rectangle 190">
            <a:extLst>
              <a:ext uri="{FF2B5EF4-FFF2-40B4-BE49-F238E27FC236}">
                <a16:creationId xmlns:a16="http://schemas.microsoft.com/office/drawing/2014/main" id="{4BF711BB-435E-BCE5-F46A-5608E5FEFE7B}"/>
              </a:ext>
            </a:extLst>
          </p:cNvPr>
          <p:cNvSpPr/>
          <p:nvPr/>
        </p:nvSpPr>
        <p:spPr>
          <a:xfrm>
            <a:off x="8479364" y="3948209"/>
            <a:ext cx="771375" cy="63373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Aide au diagnostic et audit sur les opportunités de changement</a:t>
            </a:r>
          </a:p>
        </p:txBody>
      </p:sp>
      <p:sp>
        <p:nvSpPr>
          <p:cNvPr id="192" name="Rectangle 191">
            <a:extLst>
              <a:ext uri="{FF2B5EF4-FFF2-40B4-BE49-F238E27FC236}">
                <a16:creationId xmlns:a16="http://schemas.microsoft.com/office/drawing/2014/main" id="{5D2F3E65-C873-60F8-4C2D-6E972000CB7E}"/>
              </a:ext>
            </a:extLst>
          </p:cNvPr>
          <p:cNvSpPr/>
          <p:nvPr/>
        </p:nvSpPr>
        <p:spPr>
          <a:xfrm>
            <a:off x="8475442" y="4617585"/>
            <a:ext cx="771375" cy="7068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Formation aux changements dans un environnement sécurisé mutualisé</a:t>
            </a:r>
          </a:p>
        </p:txBody>
      </p:sp>
      <p:sp>
        <p:nvSpPr>
          <p:cNvPr id="193" name="Rectangle 192">
            <a:extLst>
              <a:ext uri="{FF2B5EF4-FFF2-40B4-BE49-F238E27FC236}">
                <a16:creationId xmlns:a16="http://schemas.microsoft.com/office/drawing/2014/main" id="{B0B2A7D3-CFD6-7EBF-9E72-8835EB2439A7}"/>
              </a:ext>
            </a:extLst>
          </p:cNvPr>
          <p:cNvSpPr/>
          <p:nvPr/>
        </p:nvSpPr>
        <p:spPr>
          <a:xfrm>
            <a:off x="8475442" y="5360096"/>
            <a:ext cx="771375" cy="7068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Organisation d’entraide et coaching sur la mise en application de changements</a:t>
            </a:r>
          </a:p>
        </p:txBody>
      </p:sp>
      <p:sp>
        <p:nvSpPr>
          <p:cNvPr id="194" name="Rectangle 193">
            <a:extLst>
              <a:ext uri="{FF2B5EF4-FFF2-40B4-BE49-F238E27FC236}">
                <a16:creationId xmlns:a16="http://schemas.microsoft.com/office/drawing/2014/main" id="{271BCFA2-059B-2EEE-BECB-BF87330A830E}"/>
              </a:ext>
            </a:extLst>
          </p:cNvPr>
          <p:cNvSpPr/>
          <p:nvPr/>
        </p:nvSpPr>
        <p:spPr>
          <a:xfrm>
            <a:off x="8485623" y="6102607"/>
            <a:ext cx="771375" cy="7068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Etablissement et mise à jour des normes et règles locales liés à un changements</a:t>
            </a:r>
          </a:p>
        </p:txBody>
      </p:sp>
      <p:sp>
        <p:nvSpPr>
          <p:cNvPr id="195" name="Rectangle 194">
            <a:extLst>
              <a:ext uri="{FF2B5EF4-FFF2-40B4-BE49-F238E27FC236}">
                <a16:creationId xmlns:a16="http://schemas.microsoft.com/office/drawing/2014/main" id="{F7FA008F-F7CC-D52B-254B-B24339D2301F}"/>
              </a:ext>
            </a:extLst>
          </p:cNvPr>
          <p:cNvSpPr/>
          <p:nvPr/>
        </p:nvSpPr>
        <p:spPr>
          <a:xfrm>
            <a:off x="9353111" y="3271744"/>
            <a:ext cx="828429" cy="45708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t>
            </a:r>
            <a:r>
              <a:rPr lang="fr-FR" sz="700" dirty="0">
                <a:solidFill>
                  <a:schemeClr val="tx1"/>
                </a:solidFill>
              </a:rPr>
              <a:t>Organisation d’événements avec des prospects</a:t>
            </a:r>
          </a:p>
        </p:txBody>
      </p:sp>
      <p:sp>
        <p:nvSpPr>
          <p:cNvPr id="196" name="Rectangle 195">
            <a:extLst>
              <a:ext uri="{FF2B5EF4-FFF2-40B4-BE49-F238E27FC236}">
                <a16:creationId xmlns:a16="http://schemas.microsoft.com/office/drawing/2014/main" id="{E8EB896C-4E15-234E-564C-C69ED2EA28A1}"/>
              </a:ext>
            </a:extLst>
          </p:cNvPr>
          <p:cNvSpPr/>
          <p:nvPr/>
        </p:nvSpPr>
        <p:spPr>
          <a:xfrm>
            <a:off x="9358296" y="3794523"/>
            <a:ext cx="828429" cy="79385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Partage d’opportunités d’affaires (réseaux professionnels, personnels…)</a:t>
            </a:r>
          </a:p>
        </p:txBody>
      </p:sp>
      <p:sp>
        <p:nvSpPr>
          <p:cNvPr id="197" name="Rectangle 196">
            <a:extLst>
              <a:ext uri="{FF2B5EF4-FFF2-40B4-BE49-F238E27FC236}">
                <a16:creationId xmlns:a16="http://schemas.microsoft.com/office/drawing/2014/main" id="{1DAF01D3-F233-0935-4B62-37EBEB54D02D}"/>
              </a:ext>
            </a:extLst>
          </p:cNvPr>
          <p:cNvSpPr/>
          <p:nvPr/>
        </p:nvSpPr>
        <p:spPr>
          <a:xfrm>
            <a:off x="9362531" y="4665207"/>
            <a:ext cx="828429" cy="42639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⚙️Cocréation de nouvelles offres commerciales</a:t>
            </a:r>
          </a:p>
        </p:txBody>
      </p:sp>
      <p:sp>
        <p:nvSpPr>
          <p:cNvPr id="198" name="Rectangle 197">
            <a:extLst>
              <a:ext uri="{FF2B5EF4-FFF2-40B4-BE49-F238E27FC236}">
                <a16:creationId xmlns:a16="http://schemas.microsoft.com/office/drawing/2014/main" id="{7C5800B2-BEDC-2398-DBD7-ACFD4B79E608}"/>
              </a:ext>
            </a:extLst>
          </p:cNvPr>
          <p:cNvSpPr/>
          <p:nvPr/>
        </p:nvSpPr>
        <p:spPr>
          <a:xfrm>
            <a:off x="9362530" y="5164214"/>
            <a:ext cx="828429" cy="2913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✍️Etudes sur la compétition</a:t>
            </a:r>
          </a:p>
        </p:txBody>
      </p:sp>
      <p:sp>
        <p:nvSpPr>
          <p:cNvPr id="199" name="Rectangle 198">
            <a:extLst>
              <a:ext uri="{FF2B5EF4-FFF2-40B4-BE49-F238E27FC236}">
                <a16:creationId xmlns:a16="http://schemas.microsoft.com/office/drawing/2014/main" id="{C2ACB911-89B3-B8BA-5816-8763EE2D5F0C}"/>
              </a:ext>
            </a:extLst>
          </p:cNvPr>
          <p:cNvSpPr/>
          <p:nvPr/>
        </p:nvSpPr>
        <p:spPr>
          <a:xfrm>
            <a:off x="10281976" y="3268150"/>
            <a:ext cx="828429" cy="6964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
            </a:r>
            <a:r>
              <a:rPr lang="fr-FR" sz="700" dirty="0">
                <a:solidFill>
                  <a:schemeClr val="tx1"/>
                </a:solidFill>
              </a:rPr>
              <a:t>Organisation d’événements ouverts à l’extérieur (portes ouvertes, conférences, …)</a:t>
            </a:r>
          </a:p>
        </p:txBody>
      </p:sp>
      <p:sp>
        <p:nvSpPr>
          <p:cNvPr id="200" name="Rectangle 199">
            <a:extLst>
              <a:ext uri="{FF2B5EF4-FFF2-40B4-BE49-F238E27FC236}">
                <a16:creationId xmlns:a16="http://schemas.microsoft.com/office/drawing/2014/main" id="{8788757D-64F7-D4E0-13C4-346A6EE8C6A7}"/>
              </a:ext>
            </a:extLst>
          </p:cNvPr>
          <p:cNvSpPr/>
          <p:nvPr/>
        </p:nvSpPr>
        <p:spPr>
          <a:xfrm>
            <a:off x="10278800" y="4007808"/>
            <a:ext cx="828429" cy="5805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📅✍️Aide à la communication institutionnelle (témoignages, etc.)</a:t>
            </a:r>
          </a:p>
        </p:txBody>
      </p:sp>
      <p:sp>
        <p:nvSpPr>
          <p:cNvPr id="201" name="Rectangle 200">
            <a:extLst>
              <a:ext uri="{FF2B5EF4-FFF2-40B4-BE49-F238E27FC236}">
                <a16:creationId xmlns:a16="http://schemas.microsoft.com/office/drawing/2014/main" id="{B6A1A4B2-0237-2C24-6CB3-EDF31D83D41E}"/>
              </a:ext>
            </a:extLst>
          </p:cNvPr>
          <p:cNvSpPr/>
          <p:nvPr/>
        </p:nvSpPr>
        <p:spPr>
          <a:xfrm>
            <a:off x="10278799" y="4634199"/>
            <a:ext cx="828429" cy="5805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a:p>
            <a:pPr algn="ctr"/>
            <a:r>
              <a:rPr lang="fr-FR" sz="700" dirty="0">
                <a:solidFill>
                  <a:schemeClr val="tx1"/>
                </a:solidFill>
              </a:rPr>
              <a:t>Communications sur les réseaux sociaux ou autres médias</a:t>
            </a:r>
          </a:p>
        </p:txBody>
      </p:sp>
      <p:sp>
        <p:nvSpPr>
          <p:cNvPr id="202" name="Rectangle 201">
            <a:extLst>
              <a:ext uri="{FF2B5EF4-FFF2-40B4-BE49-F238E27FC236}">
                <a16:creationId xmlns:a16="http://schemas.microsoft.com/office/drawing/2014/main" id="{3D71B9B9-3353-B8EE-6158-E482F3E613FF}"/>
              </a:ext>
            </a:extLst>
          </p:cNvPr>
          <p:cNvSpPr/>
          <p:nvPr/>
        </p:nvSpPr>
        <p:spPr>
          <a:xfrm>
            <a:off x="1147630" y="5744038"/>
            <a:ext cx="894686" cy="47789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t>
            </a:r>
            <a:r>
              <a:rPr lang="fr-FR" sz="700" dirty="0">
                <a:solidFill>
                  <a:schemeClr val="tx1"/>
                </a:solidFill>
              </a:rPr>
              <a:t>Organisation de moments sociaux (sorties, team building, …)</a:t>
            </a:r>
          </a:p>
        </p:txBody>
      </p:sp>
      <p:sp>
        <p:nvSpPr>
          <p:cNvPr id="203" name="Rectangle 202">
            <a:extLst>
              <a:ext uri="{FF2B5EF4-FFF2-40B4-BE49-F238E27FC236}">
                <a16:creationId xmlns:a16="http://schemas.microsoft.com/office/drawing/2014/main" id="{D5FACA5C-6416-D58B-6167-1EF8C06804B4}"/>
              </a:ext>
            </a:extLst>
          </p:cNvPr>
          <p:cNvSpPr/>
          <p:nvPr/>
        </p:nvSpPr>
        <p:spPr>
          <a:xfrm>
            <a:off x="2137722" y="5044717"/>
            <a:ext cx="894686" cy="44559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t>
            </a:r>
            <a:r>
              <a:rPr lang="fr-FR" sz="700" dirty="0">
                <a:solidFill>
                  <a:schemeClr val="tx1"/>
                </a:solidFill>
              </a:rPr>
              <a:t>Aide à la préparation de diplômes / certifications</a:t>
            </a:r>
          </a:p>
        </p:txBody>
      </p:sp>
      <p:sp>
        <p:nvSpPr>
          <p:cNvPr id="204" name="Rectangle 203">
            <a:extLst>
              <a:ext uri="{FF2B5EF4-FFF2-40B4-BE49-F238E27FC236}">
                <a16:creationId xmlns:a16="http://schemas.microsoft.com/office/drawing/2014/main" id="{B15AA6EA-8BB9-46B0-A282-D71E1C46587A}"/>
              </a:ext>
            </a:extLst>
          </p:cNvPr>
          <p:cNvSpPr/>
          <p:nvPr/>
        </p:nvSpPr>
        <p:spPr>
          <a:xfrm>
            <a:off x="3127814" y="5127756"/>
            <a:ext cx="894686" cy="75528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⚙️Collecte transverse et non hiérarchique du niveau de satisfaction des collaborateurs</a:t>
            </a:r>
          </a:p>
        </p:txBody>
      </p:sp>
      <p:sp>
        <p:nvSpPr>
          <p:cNvPr id="205" name="Rectangle 204">
            <a:extLst>
              <a:ext uri="{FF2B5EF4-FFF2-40B4-BE49-F238E27FC236}">
                <a16:creationId xmlns:a16="http://schemas.microsoft.com/office/drawing/2014/main" id="{CD77220E-7A84-16F2-6B48-AF091D2CF5D3}"/>
              </a:ext>
            </a:extLst>
          </p:cNvPr>
          <p:cNvSpPr/>
          <p:nvPr/>
        </p:nvSpPr>
        <p:spPr>
          <a:xfrm>
            <a:off x="9362530" y="5515783"/>
            <a:ext cx="828429" cy="42639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⚙️Dispositifs transverse de réponse à appel d’offres</a:t>
            </a:r>
          </a:p>
        </p:txBody>
      </p:sp>
      <p:sp>
        <p:nvSpPr>
          <p:cNvPr id="206" name="Rectangle 205">
            <a:extLst>
              <a:ext uri="{FF2B5EF4-FFF2-40B4-BE49-F238E27FC236}">
                <a16:creationId xmlns:a16="http://schemas.microsoft.com/office/drawing/2014/main" id="{BB7A4FF7-2D02-8B1F-0EEA-D68CCF7187CE}"/>
              </a:ext>
            </a:extLst>
          </p:cNvPr>
          <p:cNvSpPr/>
          <p:nvPr/>
        </p:nvSpPr>
        <p:spPr>
          <a:xfrm>
            <a:off x="157538" y="5186789"/>
            <a:ext cx="894686" cy="69624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 </a:t>
            </a:r>
            <a:r>
              <a:rPr lang="fr-FR" sz="700" dirty="0">
                <a:solidFill>
                  <a:schemeClr val="tx1"/>
                </a:solidFill>
              </a:rPr>
              <a:t>Mise en valeur des collaborateurs plus anciens </a:t>
            </a:r>
          </a:p>
        </p:txBody>
      </p:sp>
      <p:pic>
        <p:nvPicPr>
          <p:cNvPr id="207" name="Graphique 206" descr="Bâtiment avec un remplissage uni">
            <a:extLst>
              <a:ext uri="{FF2B5EF4-FFF2-40B4-BE49-F238E27FC236}">
                <a16:creationId xmlns:a16="http://schemas.microsoft.com/office/drawing/2014/main" id="{3C26011D-DB60-74C7-A9C2-5A8D1E1C3D3E}"/>
              </a:ext>
            </a:extLst>
          </p:cNvPr>
          <p:cNvPicPr>
            <a:picLocks noChangeAspect="1"/>
          </p:cNvPicPr>
          <p:nvPr/>
        </p:nvPicPr>
        <p:blipFill>
          <a:blip r:embed="rId116">
            <a:extLst>
              <a:ext uri="{28A0092B-C50C-407E-A947-70E740481C1C}">
                <a14:useLocalDpi xmlns:a14="http://schemas.microsoft.com/office/drawing/2010/main" val="0"/>
              </a:ext>
              <a:ext uri="{96DAC541-7B7A-43D3-8B79-37D633B846F1}">
                <asvg:svgBlip xmlns:asvg="http://schemas.microsoft.com/office/drawing/2016/SVG/main" r:embed="rId117"/>
              </a:ext>
            </a:extLst>
          </a:blip>
          <a:stretch>
            <a:fillRect/>
          </a:stretch>
        </p:blipFill>
        <p:spPr>
          <a:xfrm>
            <a:off x="121350" y="458685"/>
            <a:ext cx="804658" cy="804658"/>
          </a:xfrm>
          <a:prstGeom prst="rect">
            <a:avLst/>
          </a:prstGeom>
        </p:spPr>
      </p:pic>
      <p:sp>
        <p:nvSpPr>
          <p:cNvPr id="208" name="Rectangle 207">
            <a:extLst>
              <a:ext uri="{FF2B5EF4-FFF2-40B4-BE49-F238E27FC236}">
                <a16:creationId xmlns:a16="http://schemas.microsoft.com/office/drawing/2014/main" id="{31AB636D-7B37-94E7-AF3A-DC868EA9D97C}"/>
              </a:ext>
            </a:extLst>
          </p:cNvPr>
          <p:cNvSpPr/>
          <p:nvPr/>
        </p:nvSpPr>
        <p:spPr>
          <a:xfrm>
            <a:off x="3123751" y="5941299"/>
            <a:ext cx="894686" cy="75528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⚙️Création ou modification de postes et chemins de carrière intégrant les fonctions liées aux les Communautés</a:t>
            </a:r>
          </a:p>
        </p:txBody>
      </p:sp>
      <p:sp>
        <p:nvSpPr>
          <p:cNvPr id="209" name="Rectangle 208">
            <a:extLst>
              <a:ext uri="{FF2B5EF4-FFF2-40B4-BE49-F238E27FC236}">
                <a16:creationId xmlns:a16="http://schemas.microsoft.com/office/drawing/2014/main" id="{3DE1B6DE-11F5-568D-FCE8-EF5C784C80FB}"/>
              </a:ext>
            </a:extLst>
          </p:cNvPr>
          <p:cNvSpPr/>
          <p:nvPr/>
        </p:nvSpPr>
        <p:spPr>
          <a:xfrm>
            <a:off x="4121862" y="5056973"/>
            <a:ext cx="771375" cy="7555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Livrable de la Communauté (à définir)</a:t>
            </a:r>
            <a:endParaRPr lang="fr-FR" sz="700" dirty="0">
              <a:solidFill>
                <a:schemeClr val="tx1"/>
              </a:solidFill>
            </a:endParaRPr>
          </a:p>
        </p:txBody>
      </p:sp>
    </p:spTree>
    <p:extLst>
      <p:ext uri="{BB962C8B-B14F-4D97-AF65-F5344CB8AC3E}">
        <p14:creationId xmlns:p14="http://schemas.microsoft.com/office/powerpoint/2010/main" val="133581881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Connecteur droit avec flèche 2">
            <a:extLst>
              <a:ext uri="{FF2B5EF4-FFF2-40B4-BE49-F238E27FC236}">
                <a16:creationId xmlns:a16="http://schemas.microsoft.com/office/drawing/2014/main" id="{62E77896-86BC-B730-CA2F-E8FECDB5AE18}"/>
              </a:ext>
            </a:extLst>
          </p:cNvPr>
          <p:cNvCxnSpPr>
            <a:cxnSpLocks/>
          </p:cNvCxnSpPr>
          <p:nvPr/>
        </p:nvCxnSpPr>
        <p:spPr>
          <a:xfrm flipV="1">
            <a:off x="1326761" y="1275866"/>
            <a:ext cx="0" cy="5506194"/>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C021C121-5273-E057-E4F1-B375ABCE373F}"/>
              </a:ext>
            </a:extLst>
          </p:cNvPr>
          <p:cNvSpPr/>
          <p:nvPr/>
        </p:nvSpPr>
        <p:spPr>
          <a:xfrm>
            <a:off x="635724" y="1621687"/>
            <a:ext cx="1422247" cy="570508"/>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construction (ADN de la communauté)</a:t>
            </a:r>
          </a:p>
        </p:txBody>
      </p:sp>
      <p:sp>
        <p:nvSpPr>
          <p:cNvPr id="6" name="Rectangle 5">
            <a:extLst>
              <a:ext uri="{FF2B5EF4-FFF2-40B4-BE49-F238E27FC236}">
                <a16:creationId xmlns:a16="http://schemas.microsoft.com/office/drawing/2014/main" id="{ACBCD6FE-C8ED-350F-6B2F-85B50CF16585}"/>
              </a:ext>
            </a:extLst>
          </p:cNvPr>
          <p:cNvSpPr/>
          <p:nvPr/>
        </p:nvSpPr>
        <p:spPr>
          <a:xfrm>
            <a:off x="624994" y="2376945"/>
            <a:ext cx="1422247" cy="87585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l’engagement des membres (initiative de leur part)</a:t>
            </a:r>
          </a:p>
        </p:txBody>
      </p:sp>
      <p:sp>
        <p:nvSpPr>
          <p:cNvPr id="8" name="Rectangle 7">
            <a:extLst>
              <a:ext uri="{FF2B5EF4-FFF2-40B4-BE49-F238E27FC236}">
                <a16:creationId xmlns:a16="http://schemas.microsoft.com/office/drawing/2014/main" id="{E0BF6B3B-66F4-973C-1802-C3880994B1DF}"/>
              </a:ext>
            </a:extLst>
          </p:cNvPr>
          <p:cNvSpPr/>
          <p:nvPr/>
        </p:nvSpPr>
        <p:spPr>
          <a:xfrm>
            <a:off x="607799" y="4146185"/>
            <a:ext cx="1422247" cy="52229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obligation (Contraintes, ordres)</a:t>
            </a:r>
          </a:p>
        </p:txBody>
      </p:sp>
      <p:sp>
        <p:nvSpPr>
          <p:cNvPr id="9" name="Rectangle 8">
            <a:extLst>
              <a:ext uri="{FF2B5EF4-FFF2-40B4-BE49-F238E27FC236}">
                <a16:creationId xmlns:a16="http://schemas.microsoft.com/office/drawing/2014/main" id="{F70F4148-0858-EBB0-A417-A3B71FCE0B1F}"/>
              </a:ext>
            </a:extLst>
          </p:cNvPr>
          <p:cNvSpPr/>
          <p:nvPr/>
        </p:nvSpPr>
        <p:spPr>
          <a:xfrm>
            <a:off x="635724" y="5247805"/>
            <a:ext cx="1422247" cy="52229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effet de bord (conséquence)</a:t>
            </a:r>
          </a:p>
        </p:txBody>
      </p:sp>
      <p:sp>
        <p:nvSpPr>
          <p:cNvPr id="10" name="Rectangle 9">
            <a:extLst>
              <a:ext uri="{FF2B5EF4-FFF2-40B4-BE49-F238E27FC236}">
                <a16:creationId xmlns:a16="http://schemas.microsoft.com/office/drawing/2014/main" id="{26E56670-1163-F0F5-51B6-373F039074E7}"/>
              </a:ext>
            </a:extLst>
          </p:cNvPr>
          <p:cNvSpPr/>
          <p:nvPr/>
        </p:nvSpPr>
        <p:spPr>
          <a:xfrm>
            <a:off x="635724" y="6222752"/>
            <a:ext cx="1422247" cy="52229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Par accident</a:t>
            </a:r>
          </a:p>
        </p:txBody>
      </p:sp>
      <p:sp>
        <p:nvSpPr>
          <p:cNvPr id="17" name="Titre 1">
            <a:extLst>
              <a:ext uri="{FF2B5EF4-FFF2-40B4-BE49-F238E27FC236}">
                <a16:creationId xmlns:a16="http://schemas.microsoft.com/office/drawing/2014/main" id="{525A5A0F-474D-06D7-7BED-0F2529CBDA7E}"/>
              </a:ext>
            </a:extLst>
          </p:cNvPr>
          <p:cNvSpPr txBox="1">
            <a:spLocks/>
          </p:cNvSpPr>
          <p:nvPr/>
        </p:nvSpPr>
        <p:spPr>
          <a:xfrm>
            <a:off x="838200" y="365125"/>
            <a:ext cx="10515600" cy="482196"/>
          </a:xfrm>
          <a:prstGeom prst="rect">
            <a:avLst/>
          </a:prstGeom>
        </p:spPr>
        <p:txBody>
          <a:bodyPr>
            <a:normAutofit fontScale="975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3200" dirty="0"/>
              <a:t>Modalités et dispositifs correspondants aux niveaux d’intention</a:t>
            </a:r>
          </a:p>
        </p:txBody>
      </p:sp>
      <p:sp>
        <p:nvSpPr>
          <p:cNvPr id="11" name="Rectangle 10">
            <a:extLst>
              <a:ext uri="{FF2B5EF4-FFF2-40B4-BE49-F238E27FC236}">
                <a16:creationId xmlns:a16="http://schemas.microsoft.com/office/drawing/2014/main" id="{17888E35-EBEE-899F-E38E-EB09DD2B7F29}"/>
              </a:ext>
            </a:extLst>
          </p:cNvPr>
          <p:cNvSpPr/>
          <p:nvPr/>
        </p:nvSpPr>
        <p:spPr>
          <a:xfrm>
            <a:off x="2175627" y="2480882"/>
            <a:ext cx="1202614" cy="74059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Activité issue d’un atelier de co-construction entre les membres</a:t>
            </a:r>
          </a:p>
        </p:txBody>
      </p:sp>
      <p:sp>
        <p:nvSpPr>
          <p:cNvPr id="12" name="Rectangle 11">
            <a:extLst>
              <a:ext uri="{FF2B5EF4-FFF2-40B4-BE49-F238E27FC236}">
                <a16:creationId xmlns:a16="http://schemas.microsoft.com/office/drawing/2014/main" id="{AA938C57-BD45-9EC0-5C44-239CADDD950F}"/>
              </a:ext>
            </a:extLst>
          </p:cNvPr>
          <p:cNvSpPr/>
          <p:nvPr/>
        </p:nvSpPr>
        <p:spPr>
          <a:xfrm>
            <a:off x="3534515" y="4147887"/>
            <a:ext cx="1202614" cy="74059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Directive managériale ou hiérarchique</a:t>
            </a:r>
          </a:p>
        </p:txBody>
      </p:sp>
      <p:sp>
        <p:nvSpPr>
          <p:cNvPr id="13" name="Rectangle 12">
            <a:extLst>
              <a:ext uri="{FF2B5EF4-FFF2-40B4-BE49-F238E27FC236}">
                <a16:creationId xmlns:a16="http://schemas.microsoft.com/office/drawing/2014/main" id="{763458D5-5E44-9FEF-B66D-B33661FD06EC}"/>
              </a:ext>
            </a:extLst>
          </p:cNvPr>
          <p:cNvSpPr/>
          <p:nvPr/>
        </p:nvSpPr>
        <p:spPr>
          <a:xfrm>
            <a:off x="2193423" y="4151076"/>
            <a:ext cx="1202614" cy="74059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Activité par obligation légale, hiérarchique</a:t>
            </a:r>
          </a:p>
        </p:txBody>
      </p:sp>
      <p:sp>
        <p:nvSpPr>
          <p:cNvPr id="14" name="Rectangle 13">
            <a:extLst>
              <a:ext uri="{FF2B5EF4-FFF2-40B4-BE49-F238E27FC236}">
                <a16:creationId xmlns:a16="http://schemas.microsoft.com/office/drawing/2014/main" id="{7C877B92-3A89-2F0E-DA5E-C0D13482EEBA}"/>
              </a:ext>
            </a:extLst>
          </p:cNvPr>
          <p:cNvSpPr/>
          <p:nvPr/>
        </p:nvSpPr>
        <p:spPr>
          <a:xfrm>
            <a:off x="4958717" y="4147887"/>
            <a:ext cx="1202614" cy="74059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Assignation officielle ou affectation officielle d’objectifs</a:t>
            </a:r>
          </a:p>
        </p:txBody>
      </p:sp>
      <p:sp>
        <p:nvSpPr>
          <p:cNvPr id="15" name="Rectangle 14">
            <a:extLst>
              <a:ext uri="{FF2B5EF4-FFF2-40B4-BE49-F238E27FC236}">
                <a16:creationId xmlns:a16="http://schemas.microsoft.com/office/drawing/2014/main" id="{62105457-EFFA-BDDD-F99E-266252722AFF}"/>
              </a:ext>
            </a:extLst>
          </p:cNvPr>
          <p:cNvSpPr/>
          <p:nvPr/>
        </p:nvSpPr>
        <p:spPr>
          <a:xfrm>
            <a:off x="2175626" y="1595899"/>
            <a:ext cx="1202614" cy="740595"/>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Activité intégrée dans la raison d’être de la Communauté</a:t>
            </a:r>
          </a:p>
        </p:txBody>
      </p:sp>
      <p:sp>
        <p:nvSpPr>
          <p:cNvPr id="16" name="Rectangle 15">
            <a:extLst>
              <a:ext uri="{FF2B5EF4-FFF2-40B4-BE49-F238E27FC236}">
                <a16:creationId xmlns:a16="http://schemas.microsoft.com/office/drawing/2014/main" id="{DD6F2BFF-5578-95AB-4051-EE1490C5042A}"/>
              </a:ext>
            </a:extLst>
          </p:cNvPr>
          <p:cNvSpPr/>
          <p:nvPr/>
        </p:nvSpPr>
        <p:spPr>
          <a:xfrm>
            <a:off x="9309143" y="2475704"/>
            <a:ext cx="1378867" cy="74059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Manifeste / méthode écrit(e) par les membres</a:t>
            </a:r>
          </a:p>
        </p:txBody>
      </p:sp>
      <p:sp>
        <p:nvSpPr>
          <p:cNvPr id="18" name="Rectangle 17">
            <a:extLst>
              <a:ext uri="{FF2B5EF4-FFF2-40B4-BE49-F238E27FC236}">
                <a16:creationId xmlns:a16="http://schemas.microsoft.com/office/drawing/2014/main" id="{0515595F-3B97-6D1D-338E-8C70706AEBB7}"/>
              </a:ext>
            </a:extLst>
          </p:cNvPr>
          <p:cNvSpPr/>
          <p:nvPr/>
        </p:nvSpPr>
        <p:spPr>
          <a:xfrm>
            <a:off x="3536470" y="2475704"/>
            <a:ext cx="1202614" cy="74059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Décision sur base de sondage interne</a:t>
            </a:r>
          </a:p>
        </p:txBody>
      </p:sp>
      <p:sp>
        <p:nvSpPr>
          <p:cNvPr id="19" name="Rectangle 18">
            <a:extLst>
              <a:ext uri="{FF2B5EF4-FFF2-40B4-BE49-F238E27FC236}">
                <a16:creationId xmlns:a16="http://schemas.microsoft.com/office/drawing/2014/main" id="{D3C1027E-DC5B-B498-2936-263F1A98236C}"/>
              </a:ext>
            </a:extLst>
          </p:cNvPr>
          <p:cNvSpPr/>
          <p:nvPr/>
        </p:nvSpPr>
        <p:spPr>
          <a:xfrm>
            <a:off x="3534515" y="1595899"/>
            <a:ext cx="1202614" cy="740595"/>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Décision explicitée dans la raison d’être de la Communauté</a:t>
            </a:r>
          </a:p>
        </p:txBody>
      </p:sp>
      <p:sp>
        <p:nvSpPr>
          <p:cNvPr id="20" name="Rectangle 19">
            <a:extLst>
              <a:ext uri="{FF2B5EF4-FFF2-40B4-BE49-F238E27FC236}">
                <a16:creationId xmlns:a16="http://schemas.microsoft.com/office/drawing/2014/main" id="{774122C5-253E-0219-3DAF-CCB22DAE284E}"/>
              </a:ext>
            </a:extLst>
          </p:cNvPr>
          <p:cNvSpPr/>
          <p:nvPr/>
        </p:nvSpPr>
        <p:spPr>
          <a:xfrm>
            <a:off x="2192611" y="3293259"/>
            <a:ext cx="1202614" cy="740595"/>
          </a:xfrm>
          <a:prstGeom prst="rect">
            <a:avLst/>
          </a:prstGeom>
          <a:gradFill>
            <a:gsLst>
              <a:gs pos="0">
                <a:schemeClr val="accent2"/>
              </a:gs>
              <a:gs pos="49000">
                <a:schemeClr val="accent2"/>
              </a:gs>
              <a:gs pos="51000">
                <a:schemeClr val="tx1"/>
              </a:gs>
              <a:gs pos="100000">
                <a:schemeClr val="tx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Activité imposée partiellement (un minimum de X% des activités)</a:t>
            </a:r>
          </a:p>
        </p:txBody>
      </p:sp>
      <p:sp>
        <p:nvSpPr>
          <p:cNvPr id="21" name="Rectangle 20">
            <a:extLst>
              <a:ext uri="{FF2B5EF4-FFF2-40B4-BE49-F238E27FC236}">
                <a16:creationId xmlns:a16="http://schemas.microsoft.com/office/drawing/2014/main" id="{A72B5A7D-C786-BF12-3BBF-EE1862C8AD1B}"/>
              </a:ext>
            </a:extLst>
          </p:cNvPr>
          <p:cNvSpPr/>
          <p:nvPr/>
        </p:nvSpPr>
        <p:spPr>
          <a:xfrm>
            <a:off x="3534515" y="3290070"/>
            <a:ext cx="1202614" cy="740595"/>
          </a:xfrm>
          <a:prstGeom prst="rect">
            <a:avLst/>
          </a:prstGeom>
          <a:gradFill>
            <a:gsLst>
              <a:gs pos="0">
                <a:schemeClr val="accent2"/>
              </a:gs>
              <a:gs pos="49000">
                <a:schemeClr val="accent2"/>
              </a:gs>
              <a:gs pos="51000">
                <a:schemeClr val="tx1"/>
              </a:gs>
              <a:gs pos="100000">
                <a:schemeClr val="tx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Choix parmi une liste présélectionnée (par la hiérarchie) de décisions</a:t>
            </a:r>
          </a:p>
        </p:txBody>
      </p:sp>
      <p:sp>
        <p:nvSpPr>
          <p:cNvPr id="22" name="Rectangle 21">
            <a:extLst>
              <a:ext uri="{FF2B5EF4-FFF2-40B4-BE49-F238E27FC236}">
                <a16:creationId xmlns:a16="http://schemas.microsoft.com/office/drawing/2014/main" id="{76209938-ACF2-E8D5-8BB4-23C8486C4AB6}"/>
              </a:ext>
            </a:extLst>
          </p:cNvPr>
          <p:cNvSpPr/>
          <p:nvPr/>
        </p:nvSpPr>
        <p:spPr>
          <a:xfrm>
            <a:off x="4958717" y="3290070"/>
            <a:ext cx="1202614" cy="740595"/>
          </a:xfrm>
          <a:prstGeom prst="rect">
            <a:avLst/>
          </a:prstGeom>
          <a:gradFill>
            <a:gsLst>
              <a:gs pos="0">
                <a:schemeClr val="accent2"/>
              </a:gs>
              <a:gs pos="49000">
                <a:schemeClr val="accent2"/>
              </a:gs>
              <a:gs pos="51000">
                <a:schemeClr val="tx1"/>
              </a:gs>
              <a:gs pos="100000">
                <a:schemeClr val="tx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Alignement des objectifs en Communauté avec objectifs annuels des membres</a:t>
            </a:r>
          </a:p>
        </p:txBody>
      </p:sp>
      <p:sp>
        <p:nvSpPr>
          <p:cNvPr id="23" name="Rectangle 22">
            <a:extLst>
              <a:ext uri="{FF2B5EF4-FFF2-40B4-BE49-F238E27FC236}">
                <a16:creationId xmlns:a16="http://schemas.microsoft.com/office/drawing/2014/main" id="{D5C6B554-30B5-791B-20B4-4713D1B3352D}"/>
              </a:ext>
            </a:extLst>
          </p:cNvPr>
          <p:cNvSpPr/>
          <p:nvPr/>
        </p:nvSpPr>
        <p:spPr>
          <a:xfrm>
            <a:off x="6424200" y="2475704"/>
            <a:ext cx="1202614" cy="74059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Outils, ressources, processus coconstruits ou </a:t>
            </a:r>
            <a:r>
              <a:rPr lang="fr-FR" sz="1000" dirty="0" err="1"/>
              <a:t>co</a:t>
            </a:r>
            <a:r>
              <a:rPr lang="fr-FR" sz="1000" dirty="0"/>
              <a:t>-choisis</a:t>
            </a:r>
          </a:p>
        </p:txBody>
      </p:sp>
      <p:sp>
        <p:nvSpPr>
          <p:cNvPr id="24" name="Rectangle 23">
            <a:extLst>
              <a:ext uri="{FF2B5EF4-FFF2-40B4-BE49-F238E27FC236}">
                <a16:creationId xmlns:a16="http://schemas.microsoft.com/office/drawing/2014/main" id="{8944989E-8B5B-66A4-A78A-0DEC2755A454}"/>
              </a:ext>
            </a:extLst>
          </p:cNvPr>
          <p:cNvSpPr/>
          <p:nvPr/>
        </p:nvSpPr>
        <p:spPr>
          <a:xfrm>
            <a:off x="6410013" y="4147887"/>
            <a:ext cx="1202614" cy="74059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Outils, ressources, processus imposés</a:t>
            </a:r>
          </a:p>
        </p:txBody>
      </p:sp>
      <p:sp>
        <p:nvSpPr>
          <p:cNvPr id="25" name="Rectangle 24">
            <a:extLst>
              <a:ext uri="{FF2B5EF4-FFF2-40B4-BE49-F238E27FC236}">
                <a16:creationId xmlns:a16="http://schemas.microsoft.com/office/drawing/2014/main" id="{47C6ABC3-04B0-97A3-8957-E6338E57F167}"/>
              </a:ext>
            </a:extLst>
          </p:cNvPr>
          <p:cNvSpPr/>
          <p:nvPr/>
        </p:nvSpPr>
        <p:spPr>
          <a:xfrm>
            <a:off x="6410013" y="1595899"/>
            <a:ext cx="1202614" cy="740595"/>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Outils, ressources, processus définis par la raison d’être</a:t>
            </a:r>
          </a:p>
        </p:txBody>
      </p:sp>
      <p:sp>
        <p:nvSpPr>
          <p:cNvPr id="26" name="Rectangle 25">
            <a:extLst>
              <a:ext uri="{FF2B5EF4-FFF2-40B4-BE49-F238E27FC236}">
                <a16:creationId xmlns:a16="http://schemas.microsoft.com/office/drawing/2014/main" id="{C05AD460-39C9-4185-8242-18D30400A6CD}"/>
              </a:ext>
            </a:extLst>
          </p:cNvPr>
          <p:cNvSpPr/>
          <p:nvPr/>
        </p:nvSpPr>
        <p:spPr>
          <a:xfrm>
            <a:off x="7899073" y="4147887"/>
            <a:ext cx="1202614" cy="74059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Community Manager imposé</a:t>
            </a:r>
          </a:p>
        </p:txBody>
      </p:sp>
      <p:sp>
        <p:nvSpPr>
          <p:cNvPr id="27" name="Rectangle 26">
            <a:extLst>
              <a:ext uri="{FF2B5EF4-FFF2-40B4-BE49-F238E27FC236}">
                <a16:creationId xmlns:a16="http://schemas.microsoft.com/office/drawing/2014/main" id="{53D274CA-192B-4357-BC67-E1EB2F39A5D1}"/>
              </a:ext>
            </a:extLst>
          </p:cNvPr>
          <p:cNvSpPr/>
          <p:nvPr/>
        </p:nvSpPr>
        <p:spPr>
          <a:xfrm>
            <a:off x="7899073" y="2475704"/>
            <a:ext cx="1202614" cy="74059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Community Manager défini / élu par la Communauté</a:t>
            </a:r>
          </a:p>
        </p:txBody>
      </p:sp>
      <p:sp>
        <p:nvSpPr>
          <p:cNvPr id="28" name="Rectangle 27">
            <a:extLst>
              <a:ext uri="{FF2B5EF4-FFF2-40B4-BE49-F238E27FC236}">
                <a16:creationId xmlns:a16="http://schemas.microsoft.com/office/drawing/2014/main" id="{453ECCF8-99D4-5DC9-B4D9-65AE787E1E9E}"/>
              </a:ext>
            </a:extLst>
          </p:cNvPr>
          <p:cNvSpPr/>
          <p:nvPr/>
        </p:nvSpPr>
        <p:spPr>
          <a:xfrm>
            <a:off x="7899073" y="3290070"/>
            <a:ext cx="1202614" cy="740595"/>
          </a:xfrm>
          <a:prstGeom prst="rect">
            <a:avLst/>
          </a:prstGeom>
          <a:gradFill>
            <a:gsLst>
              <a:gs pos="0">
                <a:schemeClr val="accent2"/>
              </a:gs>
              <a:gs pos="49000">
                <a:schemeClr val="accent2"/>
              </a:gs>
              <a:gs pos="51000">
                <a:schemeClr val="tx1"/>
              </a:gs>
              <a:gs pos="100000">
                <a:schemeClr val="tx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Community Manager choisi parmi candidats imposés par la hiérarchie</a:t>
            </a:r>
          </a:p>
        </p:txBody>
      </p:sp>
      <p:sp>
        <p:nvSpPr>
          <p:cNvPr id="29" name="Rectangle 28">
            <a:extLst>
              <a:ext uri="{FF2B5EF4-FFF2-40B4-BE49-F238E27FC236}">
                <a16:creationId xmlns:a16="http://schemas.microsoft.com/office/drawing/2014/main" id="{9896C84F-8FB5-0EAC-67EC-D4A5FF894BDB}"/>
              </a:ext>
            </a:extLst>
          </p:cNvPr>
          <p:cNvSpPr/>
          <p:nvPr/>
        </p:nvSpPr>
        <p:spPr>
          <a:xfrm>
            <a:off x="4964814" y="2490864"/>
            <a:ext cx="1202614" cy="74059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Objectifs librement définis par les membres</a:t>
            </a:r>
          </a:p>
        </p:txBody>
      </p:sp>
      <p:sp>
        <p:nvSpPr>
          <p:cNvPr id="30" name="Rectangle 29">
            <a:extLst>
              <a:ext uri="{FF2B5EF4-FFF2-40B4-BE49-F238E27FC236}">
                <a16:creationId xmlns:a16="http://schemas.microsoft.com/office/drawing/2014/main" id="{34DE288A-59F4-50DB-ED8F-85EDA0981B07}"/>
              </a:ext>
            </a:extLst>
          </p:cNvPr>
          <p:cNvSpPr/>
          <p:nvPr/>
        </p:nvSpPr>
        <p:spPr>
          <a:xfrm>
            <a:off x="9309143" y="3290070"/>
            <a:ext cx="1378868" cy="740595"/>
          </a:xfrm>
          <a:prstGeom prst="rect">
            <a:avLst/>
          </a:prstGeom>
          <a:gradFill>
            <a:gsLst>
              <a:gs pos="0">
                <a:schemeClr val="accent2"/>
              </a:gs>
              <a:gs pos="49000">
                <a:schemeClr val="accent2"/>
              </a:gs>
              <a:gs pos="51000">
                <a:schemeClr val="tx1"/>
              </a:gs>
              <a:gs pos="100000">
                <a:schemeClr val="tx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Manifeste / méthode externe auquel / à laquelle les membres peuvent adhérer</a:t>
            </a:r>
          </a:p>
        </p:txBody>
      </p:sp>
      <p:sp>
        <p:nvSpPr>
          <p:cNvPr id="31" name="Rectangle 30">
            <a:extLst>
              <a:ext uri="{FF2B5EF4-FFF2-40B4-BE49-F238E27FC236}">
                <a16:creationId xmlns:a16="http://schemas.microsoft.com/office/drawing/2014/main" id="{A105FFAB-959C-C08E-5021-EE53C45C88A5}"/>
              </a:ext>
            </a:extLst>
          </p:cNvPr>
          <p:cNvSpPr/>
          <p:nvPr/>
        </p:nvSpPr>
        <p:spPr>
          <a:xfrm>
            <a:off x="9309142" y="4147887"/>
            <a:ext cx="1378869" cy="74059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Adhésion à un manifeste / une méthode externe comme condition d’entrée</a:t>
            </a:r>
          </a:p>
        </p:txBody>
      </p:sp>
      <p:sp>
        <p:nvSpPr>
          <p:cNvPr id="32" name="Rectangle 31">
            <a:extLst>
              <a:ext uri="{FF2B5EF4-FFF2-40B4-BE49-F238E27FC236}">
                <a16:creationId xmlns:a16="http://schemas.microsoft.com/office/drawing/2014/main" id="{076CFD12-D3AA-EAB9-BFB8-979F471E2CFD}"/>
              </a:ext>
            </a:extLst>
          </p:cNvPr>
          <p:cNvSpPr/>
          <p:nvPr/>
        </p:nvSpPr>
        <p:spPr>
          <a:xfrm>
            <a:off x="7899073" y="1595899"/>
            <a:ext cx="1202614" cy="740595"/>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Community Management tournant ou distribué par construction</a:t>
            </a:r>
          </a:p>
        </p:txBody>
      </p:sp>
      <p:sp>
        <p:nvSpPr>
          <p:cNvPr id="33" name="Rectangle 32">
            <a:extLst>
              <a:ext uri="{FF2B5EF4-FFF2-40B4-BE49-F238E27FC236}">
                <a16:creationId xmlns:a16="http://schemas.microsoft.com/office/drawing/2014/main" id="{05BADDA8-0CEA-23C7-5375-BD845A844AD8}"/>
              </a:ext>
            </a:extLst>
          </p:cNvPr>
          <p:cNvSpPr/>
          <p:nvPr/>
        </p:nvSpPr>
        <p:spPr>
          <a:xfrm>
            <a:off x="6410013" y="3290070"/>
            <a:ext cx="1202614" cy="740595"/>
          </a:xfrm>
          <a:prstGeom prst="rect">
            <a:avLst/>
          </a:prstGeom>
          <a:gradFill>
            <a:gsLst>
              <a:gs pos="0">
                <a:schemeClr val="accent2"/>
              </a:gs>
              <a:gs pos="49000">
                <a:schemeClr val="accent2"/>
              </a:gs>
              <a:gs pos="51000">
                <a:schemeClr val="tx1"/>
              </a:gs>
              <a:gs pos="100000">
                <a:schemeClr val="tx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Outils, ressources, processus sélectionnés dans une liste autorisée par la hiérarchie</a:t>
            </a:r>
          </a:p>
        </p:txBody>
      </p:sp>
      <p:sp>
        <p:nvSpPr>
          <p:cNvPr id="34" name="Rectangle 33">
            <a:extLst>
              <a:ext uri="{FF2B5EF4-FFF2-40B4-BE49-F238E27FC236}">
                <a16:creationId xmlns:a16="http://schemas.microsoft.com/office/drawing/2014/main" id="{259AAAC9-122D-453E-B37D-0A8A31807251}"/>
              </a:ext>
            </a:extLst>
          </p:cNvPr>
          <p:cNvSpPr/>
          <p:nvPr/>
        </p:nvSpPr>
        <p:spPr>
          <a:xfrm>
            <a:off x="4956761" y="1595899"/>
            <a:ext cx="1202614" cy="740595"/>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Objectifs opérationnels dans la raison d’être (ex: Grand but)</a:t>
            </a:r>
          </a:p>
        </p:txBody>
      </p:sp>
      <p:sp>
        <p:nvSpPr>
          <p:cNvPr id="35" name="Rectangle 34">
            <a:extLst>
              <a:ext uri="{FF2B5EF4-FFF2-40B4-BE49-F238E27FC236}">
                <a16:creationId xmlns:a16="http://schemas.microsoft.com/office/drawing/2014/main" id="{CE5040CC-DFD3-3534-A81C-1EEE7E66A70A}"/>
              </a:ext>
            </a:extLst>
          </p:cNvPr>
          <p:cNvSpPr/>
          <p:nvPr/>
        </p:nvSpPr>
        <p:spPr>
          <a:xfrm>
            <a:off x="10786758" y="4147887"/>
            <a:ext cx="1378869" cy="74059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Les membres sont obligés de participer</a:t>
            </a:r>
          </a:p>
        </p:txBody>
      </p:sp>
      <p:sp>
        <p:nvSpPr>
          <p:cNvPr id="36" name="Rectangle 35">
            <a:extLst>
              <a:ext uri="{FF2B5EF4-FFF2-40B4-BE49-F238E27FC236}">
                <a16:creationId xmlns:a16="http://schemas.microsoft.com/office/drawing/2014/main" id="{A6A41EFB-BDBF-0009-288F-4BCF986B8D35}"/>
              </a:ext>
            </a:extLst>
          </p:cNvPr>
          <p:cNvSpPr/>
          <p:nvPr/>
        </p:nvSpPr>
        <p:spPr>
          <a:xfrm>
            <a:off x="9366220" y="1607166"/>
            <a:ext cx="1321790" cy="740595"/>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La mise en application du Manifeste est dans la raison d’être de la Communauté</a:t>
            </a:r>
          </a:p>
        </p:txBody>
      </p:sp>
      <p:sp>
        <p:nvSpPr>
          <p:cNvPr id="37" name="Rectangle 36">
            <a:extLst>
              <a:ext uri="{FF2B5EF4-FFF2-40B4-BE49-F238E27FC236}">
                <a16:creationId xmlns:a16="http://schemas.microsoft.com/office/drawing/2014/main" id="{D8B51FF2-608B-14BC-2B19-85F974509F8B}"/>
              </a:ext>
            </a:extLst>
          </p:cNvPr>
          <p:cNvSpPr/>
          <p:nvPr/>
        </p:nvSpPr>
        <p:spPr>
          <a:xfrm>
            <a:off x="10833992" y="1607166"/>
            <a:ext cx="1321790" cy="740595"/>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Ne sont admis que les membres qui adhèrent à la raison d’être</a:t>
            </a:r>
          </a:p>
        </p:txBody>
      </p:sp>
      <p:sp>
        <p:nvSpPr>
          <p:cNvPr id="38" name="Rectangle 37">
            <a:extLst>
              <a:ext uri="{FF2B5EF4-FFF2-40B4-BE49-F238E27FC236}">
                <a16:creationId xmlns:a16="http://schemas.microsoft.com/office/drawing/2014/main" id="{2E206621-1857-52B6-D208-BEC4492590D1}"/>
              </a:ext>
            </a:extLst>
          </p:cNvPr>
          <p:cNvSpPr/>
          <p:nvPr/>
        </p:nvSpPr>
        <p:spPr>
          <a:xfrm>
            <a:off x="10776915" y="2475704"/>
            <a:ext cx="1378867" cy="74059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Les membres qui n’adhèrent pas à la raison d’être peuvent partir mais ne sont pas exclus</a:t>
            </a:r>
          </a:p>
        </p:txBody>
      </p:sp>
      <p:sp>
        <p:nvSpPr>
          <p:cNvPr id="39" name="Rectangle 38">
            <a:extLst>
              <a:ext uri="{FF2B5EF4-FFF2-40B4-BE49-F238E27FC236}">
                <a16:creationId xmlns:a16="http://schemas.microsoft.com/office/drawing/2014/main" id="{60592734-2364-E424-12F8-EDD19C2B5A89}"/>
              </a:ext>
            </a:extLst>
          </p:cNvPr>
          <p:cNvSpPr/>
          <p:nvPr/>
        </p:nvSpPr>
        <p:spPr>
          <a:xfrm>
            <a:off x="10776914" y="3278386"/>
            <a:ext cx="1378868" cy="740595"/>
          </a:xfrm>
          <a:prstGeom prst="rect">
            <a:avLst/>
          </a:prstGeom>
          <a:gradFill>
            <a:gsLst>
              <a:gs pos="0">
                <a:schemeClr val="accent2"/>
              </a:gs>
              <a:gs pos="49000">
                <a:schemeClr val="accent2"/>
              </a:gs>
              <a:gs pos="51000">
                <a:schemeClr val="tx1"/>
              </a:gs>
              <a:gs pos="100000">
                <a:schemeClr val="tx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Les membres ont un minimum obligatoire de participation à la Communauté (mais pas égal à 100%)</a:t>
            </a:r>
          </a:p>
        </p:txBody>
      </p:sp>
      <p:sp>
        <p:nvSpPr>
          <p:cNvPr id="41" name="Rectangle 40">
            <a:extLst>
              <a:ext uri="{FF2B5EF4-FFF2-40B4-BE49-F238E27FC236}">
                <a16:creationId xmlns:a16="http://schemas.microsoft.com/office/drawing/2014/main" id="{83DF026A-6935-67AC-4623-2F536A7F88D2}"/>
              </a:ext>
            </a:extLst>
          </p:cNvPr>
          <p:cNvSpPr/>
          <p:nvPr/>
        </p:nvSpPr>
        <p:spPr>
          <a:xfrm>
            <a:off x="9309142" y="5070059"/>
            <a:ext cx="1378869" cy="74059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Présentation d’un Manifeste / méthode pour inspiration (sans autre intention)</a:t>
            </a:r>
          </a:p>
        </p:txBody>
      </p:sp>
      <p:sp>
        <p:nvSpPr>
          <p:cNvPr id="42" name="Rectangle 41">
            <a:extLst>
              <a:ext uri="{FF2B5EF4-FFF2-40B4-BE49-F238E27FC236}">
                <a16:creationId xmlns:a16="http://schemas.microsoft.com/office/drawing/2014/main" id="{2B34779D-ED04-3DDE-4A8D-4D3F1E68D2E5}"/>
              </a:ext>
            </a:extLst>
          </p:cNvPr>
          <p:cNvSpPr/>
          <p:nvPr/>
        </p:nvSpPr>
        <p:spPr>
          <a:xfrm>
            <a:off x="7899074" y="5070058"/>
            <a:ext cx="1202614" cy="74059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Membres avec une expérience passée en Community Management</a:t>
            </a:r>
          </a:p>
        </p:txBody>
      </p:sp>
      <p:sp>
        <p:nvSpPr>
          <p:cNvPr id="43" name="Titre 8">
            <a:extLst>
              <a:ext uri="{FF2B5EF4-FFF2-40B4-BE49-F238E27FC236}">
                <a16:creationId xmlns:a16="http://schemas.microsoft.com/office/drawing/2014/main" id="{A3F7FF1A-D6AD-9B75-91E5-CB36A20008D6}"/>
              </a:ext>
            </a:extLst>
          </p:cNvPr>
          <p:cNvSpPr txBox="1">
            <a:spLocks/>
          </p:cNvSpPr>
          <p:nvPr/>
        </p:nvSpPr>
        <p:spPr>
          <a:xfrm>
            <a:off x="2108306" y="929640"/>
            <a:ext cx="1286917" cy="39432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900" dirty="0"/>
              <a:t>Probabilité d’adhésion à une activité</a:t>
            </a:r>
          </a:p>
        </p:txBody>
      </p:sp>
      <p:sp>
        <p:nvSpPr>
          <p:cNvPr id="44" name="Titre 8">
            <a:extLst>
              <a:ext uri="{FF2B5EF4-FFF2-40B4-BE49-F238E27FC236}">
                <a16:creationId xmlns:a16="http://schemas.microsoft.com/office/drawing/2014/main" id="{B63BA1E6-F057-D54E-195A-83751E369CBF}"/>
              </a:ext>
            </a:extLst>
          </p:cNvPr>
          <p:cNvSpPr txBox="1">
            <a:spLocks/>
          </p:cNvSpPr>
          <p:nvPr/>
        </p:nvSpPr>
        <p:spPr>
          <a:xfrm>
            <a:off x="3465269" y="943714"/>
            <a:ext cx="1286917" cy="39432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900" dirty="0"/>
              <a:t>Probabilité d’adhésion à une décision</a:t>
            </a:r>
          </a:p>
        </p:txBody>
      </p:sp>
      <p:sp>
        <p:nvSpPr>
          <p:cNvPr id="45" name="Titre 8">
            <a:extLst>
              <a:ext uri="{FF2B5EF4-FFF2-40B4-BE49-F238E27FC236}">
                <a16:creationId xmlns:a16="http://schemas.microsoft.com/office/drawing/2014/main" id="{2AF5F2D5-A3AA-D676-B070-0E0144522EEA}"/>
              </a:ext>
            </a:extLst>
          </p:cNvPr>
          <p:cNvSpPr txBox="1">
            <a:spLocks/>
          </p:cNvSpPr>
          <p:nvPr/>
        </p:nvSpPr>
        <p:spPr>
          <a:xfrm>
            <a:off x="4887515" y="951294"/>
            <a:ext cx="1286917" cy="39432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900" dirty="0"/>
              <a:t>Probabilité d’adhésion à un objectif opérationnel</a:t>
            </a:r>
          </a:p>
        </p:txBody>
      </p:sp>
      <p:sp>
        <p:nvSpPr>
          <p:cNvPr id="46" name="Titre 8">
            <a:extLst>
              <a:ext uri="{FF2B5EF4-FFF2-40B4-BE49-F238E27FC236}">
                <a16:creationId xmlns:a16="http://schemas.microsoft.com/office/drawing/2014/main" id="{22EA6012-2676-B878-A522-859FC817E08D}"/>
              </a:ext>
            </a:extLst>
          </p:cNvPr>
          <p:cNvSpPr txBox="1">
            <a:spLocks/>
          </p:cNvSpPr>
          <p:nvPr/>
        </p:nvSpPr>
        <p:spPr>
          <a:xfrm>
            <a:off x="6340767" y="951294"/>
            <a:ext cx="1286917" cy="39432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900" dirty="0"/>
              <a:t>Probabilité d’usage d’un outil, d’une ressource, d’un processus</a:t>
            </a:r>
          </a:p>
        </p:txBody>
      </p:sp>
      <p:sp>
        <p:nvSpPr>
          <p:cNvPr id="47" name="Titre 8">
            <a:extLst>
              <a:ext uri="{FF2B5EF4-FFF2-40B4-BE49-F238E27FC236}">
                <a16:creationId xmlns:a16="http://schemas.microsoft.com/office/drawing/2014/main" id="{013C65B8-4D8D-7F17-5762-0917BDA542F5}"/>
              </a:ext>
            </a:extLst>
          </p:cNvPr>
          <p:cNvSpPr txBox="1">
            <a:spLocks/>
          </p:cNvSpPr>
          <p:nvPr/>
        </p:nvSpPr>
        <p:spPr>
          <a:xfrm>
            <a:off x="7829827" y="943714"/>
            <a:ext cx="1286917" cy="39432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900" dirty="0"/>
              <a:t>Probabilité d’adhésion à des choix de Community Management</a:t>
            </a:r>
          </a:p>
        </p:txBody>
      </p:sp>
      <p:sp>
        <p:nvSpPr>
          <p:cNvPr id="48" name="Titre 8">
            <a:extLst>
              <a:ext uri="{FF2B5EF4-FFF2-40B4-BE49-F238E27FC236}">
                <a16:creationId xmlns:a16="http://schemas.microsoft.com/office/drawing/2014/main" id="{1DB9A177-210C-6680-9BE1-D9C11186124F}"/>
              </a:ext>
            </a:extLst>
          </p:cNvPr>
          <p:cNvSpPr txBox="1">
            <a:spLocks/>
          </p:cNvSpPr>
          <p:nvPr/>
        </p:nvSpPr>
        <p:spPr>
          <a:xfrm>
            <a:off x="9383656" y="943714"/>
            <a:ext cx="1286917" cy="39432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900" dirty="0"/>
              <a:t>Probabilité d’adhésion à un Manifeste / une méthode</a:t>
            </a:r>
          </a:p>
        </p:txBody>
      </p:sp>
      <p:sp>
        <p:nvSpPr>
          <p:cNvPr id="49" name="Titre 8">
            <a:extLst>
              <a:ext uri="{FF2B5EF4-FFF2-40B4-BE49-F238E27FC236}">
                <a16:creationId xmlns:a16="http://schemas.microsoft.com/office/drawing/2014/main" id="{751DFEAC-6609-DCDF-755B-57929EB4A6DE}"/>
              </a:ext>
            </a:extLst>
          </p:cNvPr>
          <p:cNvSpPr txBox="1">
            <a:spLocks/>
          </p:cNvSpPr>
          <p:nvPr/>
        </p:nvSpPr>
        <p:spPr>
          <a:xfrm>
            <a:off x="10822889" y="929640"/>
            <a:ext cx="1286917" cy="39432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900" dirty="0"/>
              <a:t>Probabilité d’adhésion et de participation à la raison d’être</a:t>
            </a:r>
          </a:p>
        </p:txBody>
      </p:sp>
      <p:sp>
        <p:nvSpPr>
          <p:cNvPr id="50" name="Rectangle 49">
            <a:extLst>
              <a:ext uri="{FF2B5EF4-FFF2-40B4-BE49-F238E27FC236}">
                <a16:creationId xmlns:a16="http://schemas.microsoft.com/office/drawing/2014/main" id="{92450C64-F0BF-61B2-BDFF-23AA7A6AC9C0}"/>
              </a:ext>
            </a:extLst>
          </p:cNvPr>
          <p:cNvSpPr/>
          <p:nvPr/>
        </p:nvSpPr>
        <p:spPr>
          <a:xfrm>
            <a:off x="2175626" y="5070056"/>
            <a:ext cx="1202614" cy="74059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i="1" dirty="0"/>
              <a:t>Si l’effet est l’</a:t>
            </a:r>
            <a:r>
              <a:rPr lang="fr-FR" sz="800" i="1" dirty="0" err="1"/>
              <a:t>acivité</a:t>
            </a:r>
            <a:r>
              <a:rPr lang="fr-FR" sz="800" i="1" dirty="0"/>
              <a:t> B</a:t>
            </a:r>
            <a:r>
              <a:rPr lang="fr-FR" sz="800" dirty="0"/>
              <a:t>) Promotion de l’Activité A favorisant grandement l’activité B</a:t>
            </a:r>
          </a:p>
        </p:txBody>
      </p:sp>
      <p:sp>
        <p:nvSpPr>
          <p:cNvPr id="51" name="Rectangle 50">
            <a:extLst>
              <a:ext uri="{FF2B5EF4-FFF2-40B4-BE49-F238E27FC236}">
                <a16:creationId xmlns:a16="http://schemas.microsoft.com/office/drawing/2014/main" id="{AC4FC6F6-3254-548A-A935-30342DBB4A6A}"/>
              </a:ext>
            </a:extLst>
          </p:cNvPr>
          <p:cNvSpPr/>
          <p:nvPr/>
        </p:nvSpPr>
        <p:spPr>
          <a:xfrm>
            <a:off x="9309142" y="5838346"/>
            <a:ext cx="1378868" cy="94371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Découverte d’un Manifeste / d’une méthode par hasard lors d’un événement ou dans un contenu non lié </a:t>
            </a:r>
          </a:p>
        </p:txBody>
      </p:sp>
      <p:sp>
        <p:nvSpPr>
          <p:cNvPr id="52" name="Rectangle 51">
            <a:extLst>
              <a:ext uri="{FF2B5EF4-FFF2-40B4-BE49-F238E27FC236}">
                <a16:creationId xmlns:a16="http://schemas.microsoft.com/office/drawing/2014/main" id="{D3E0EF4B-A55E-53BC-8E42-BE37620E9E7D}"/>
              </a:ext>
            </a:extLst>
          </p:cNvPr>
          <p:cNvSpPr/>
          <p:nvPr/>
        </p:nvSpPr>
        <p:spPr>
          <a:xfrm>
            <a:off x="6410013" y="5070057"/>
            <a:ext cx="1202614" cy="74059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Accès facilité à certaines ressources (non imposées)</a:t>
            </a:r>
          </a:p>
        </p:txBody>
      </p:sp>
      <p:sp>
        <p:nvSpPr>
          <p:cNvPr id="53" name="Rectangle 52">
            <a:extLst>
              <a:ext uri="{FF2B5EF4-FFF2-40B4-BE49-F238E27FC236}">
                <a16:creationId xmlns:a16="http://schemas.microsoft.com/office/drawing/2014/main" id="{6CFA4130-9598-C21B-8A62-881E4E968F57}"/>
              </a:ext>
            </a:extLst>
          </p:cNvPr>
          <p:cNvSpPr/>
          <p:nvPr/>
        </p:nvSpPr>
        <p:spPr>
          <a:xfrm>
            <a:off x="4971818" y="5070057"/>
            <a:ext cx="1202614" cy="74059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Côtoiement d’une communauté similaire qui a réussi grâce à certains objectifs</a:t>
            </a:r>
          </a:p>
        </p:txBody>
      </p:sp>
      <p:sp>
        <p:nvSpPr>
          <p:cNvPr id="54" name="Rectangle 53">
            <a:extLst>
              <a:ext uri="{FF2B5EF4-FFF2-40B4-BE49-F238E27FC236}">
                <a16:creationId xmlns:a16="http://schemas.microsoft.com/office/drawing/2014/main" id="{3C360ADE-9D05-34F5-DA0D-765AA36C7118}"/>
              </a:ext>
            </a:extLst>
          </p:cNvPr>
          <p:cNvSpPr/>
          <p:nvPr/>
        </p:nvSpPr>
        <p:spPr>
          <a:xfrm>
            <a:off x="3540205" y="5070056"/>
            <a:ext cx="1202614" cy="74059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Décision non forcée ni même suggérée mais favorisée par un contexte externe</a:t>
            </a:r>
          </a:p>
        </p:txBody>
      </p:sp>
      <p:sp>
        <p:nvSpPr>
          <p:cNvPr id="55" name="Rectangle 54">
            <a:extLst>
              <a:ext uri="{FF2B5EF4-FFF2-40B4-BE49-F238E27FC236}">
                <a16:creationId xmlns:a16="http://schemas.microsoft.com/office/drawing/2014/main" id="{6F2D7429-5B9A-1C70-F1BF-0F7C4093DEFF}"/>
              </a:ext>
            </a:extLst>
          </p:cNvPr>
          <p:cNvSpPr/>
          <p:nvPr/>
        </p:nvSpPr>
        <p:spPr>
          <a:xfrm>
            <a:off x="10798203" y="5078313"/>
            <a:ext cx="1357577" cy="74059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Les membres sont venus pour une autre raison et ont fini par s’habituer à la raison d’être et y adhérer</a:t>
            </a:r>
          </a:p>
        </p:txBody>
      </p:sp>
      <p:sp>
        <p:nvSpPr>
          <p:cNvPr id="57" name="Rectangle 56">
            <a:extLst>
              <a:ext uri="{FF2B5EF4-FFF2-40B4-BE49-F238E27FC236}">
                <a16:creationId xmlns:a16="http://schemas.microsoft.com/office/drawing/2014/main" id="{8D6268D1-2DBA-C9B4-FC16-BCC1D78ABB42}"/>
              </a:ext>
            </a:extLst>
          </p:cNvPr>
          <p:cNvSpPr/>
          <p:nvPr/>
        </p:nvSpPr>
        <p:spPr>
          <a:xfrm>
            <a:off x="6382049" y="5838346"/>
            <a:ext cx="1286916" cy="94371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Découverte d’un ressource ou  méthode par hasard lors d’un événement ou dans un contenu non lié </a:t>
            </a:r>
          </a:p>
        </p:txBody>
      </p:sp>
      <p:sp>
        <p:nvSpPr>
          <p:cNvPr id="56" name="Rectangle 55">
            <a:extLst>
              <a:ext uri="{FF2B5EF4-FFF2-40B4-BE49-F238E27FC236}">
                <a16:creationId xmlns:a16="http://schemas.microsoft.com/office/drawing/2014/main" id="{4118DB6C-15C1-0B69-7B15-096CBDE17A33}"/>
              </a:ext>
            </a:extLst>
          </p:cNvPr>
          <p:cNvSpPr/>
          <p:nvPr/>
        </p:nvSpPr>
        <p:spPr>
          <a:xfrm>
            <a:off x="624994" y="3349702"/>
            <a:ext cx="1405052" cy="669279"/>
          </a:xfrm>
          <a:prstGeom prst="rect">
            <a:avLst/>
          </a:prstGeom>
          <a:gradFill>
            <a:gsLst>
              <a:gs pos="0">
                <a:schemeClr val="accent2"/>
              </a:gs>
              <a:gs pos="49000">
                <a:schemeClr val="accent2"/>
              </a:gs>
              <a:gs pos="51000">
                <a:schemeClr val="tx1"/>
              </a:gs>
              <a:gs pos="100000">
                <a:schemeClr val="tx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semi-obligation</a:t>
            </a:r>
          </a:p>
        </p:txBody>
      </p:sp>
      <p:pic>
        <p:nvPicPr>
          <p:cNvPr id="58" name="Graphique 57" descr="Héroïne avec un remplissage uni">
            <a:extLst>
              <a:ext uri="{FF2B5EF4-FFF2-40B4-BE49-F238E27FC236}">
                <a16:creationId xmlns:a16="http://schemas.microsoft.com/office/drawing/2014/main" id="{C530CE4A-7509-BBD3-C1BD-EEF4FC9C20B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6340" y="2475704"/>
            <a:ext cx="671083" cy="671083"/>
          </a:xfrm>
          <a:prstGeom prst="rect">
            <a:avLst/>
          </a:prstGeom>
        </p:spPr>
      </p:pic>
      <p:pic>
        <p:nvPicPr>
          <p:cNvPr id="59" name="Graphique 58" descr="Engrenage avec un remplissage uni">
            <a:extLst>
              <a:ext uri="{FF2B5EF4-FFF2-40B4-BE49-F238E27FC236}">
                <a16:creationId xmlns:a16="http://schemas.microsoft.com/office/drawing/2014/main" id="{50D9EE0E-B4ED-209B-096F-9CEBF383E0E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397" y="1595899"/>
            <a:ext cx="710161" cy="710161"/>
          </a:xfrm>
          <a:prstGeom prst="rect">
            <a:avLst/>
          </a:prstGeom>
        </p:spPr>
      </p:pic>
      <p:pic>
        <p:nvPicPr>
          <p:cNvPr id="60" name="Graphique 59" descr="Explosion avec un remplissage uni">
            <a:extLst>
              <a:ext uri="{FF2B5EF4-FFF2-40B4-BE49-F238E27FC236}">
                <a16:creationId xmlns:a16="http://schemas.microsoft.com/office/drawing/2014/main" id="{0DB3BE03-FD69-78CF-3762-C0EC555444E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376" y="6211256"/>
            <a:ext cx="545286" cy="545286"/>
          </a:xfrm>
          <a:prstGeom prst="rect">
            <a:avLst/>
          </a:prstGeom>
        </p:spPr>
      </p:pic>
      <p:pic>
        <p:nvPicPr>
          <p:cNvPr id="61" name="Graphique 60" descr="Ajouter avec un remplissage uni">
            <a:extLst>
              <a:ext uri="{FF2B5EF4-FFF2-40B4-BE49-F238E27FC236}">
                <a16:creationId xmlns:a16="http://schemas.microsoft.com/office/drawing/2014/main" id="{BB97762E-E44A-B39F-AD9B-F05405752E5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9" y="5224814"/>
            <a:ext cx="545286" cy="545286"/>
          </a:xfrm>
          <a:prstGeom prst="rect">
            <a:avLst/>
          </a:prstGeom>
        </p:spPr>
      </p:pic>
      <p:pic>
        <p:nvPicPr>
          <p:cNvPr id="62" name="Graphique 61" descr="Menottes avec un remplissage uni">
            <a:extLst>
              <a:ext uri="{FF2B5EF4-FFF2-40B4-BE49-F238E27FC236}">
                <a16:creationId xmlns:a16="http://schemas.microsoft.com/office/drawing/2014/main" id="{B8FF395A-ED03-909E-F617-EAFC1BF21C3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6373" y="4123195"/>
            <a:ext cx="545285" cy="545285"/>
          </a:xfrm>
          <a:prstGeom prst="rect">
            <a:avLst/>
          </a:prstGeom>
        </p:spPr>
      </p:pic>
    </p:spTree>
    <p:extLst>
      <p:ext uri="{BB962C8B-B14F-4D97-AF65-F5344CB8AC3E}">
        <p14:creationId xmlns:p14="http://schemas.microsoft.com/office/powerpoint/2010/main" val="116386841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e 5">
            <a:extLst>
              <a:ext uri="{FF2B5EF4-FFF2-40B4-BE49-F238E27FC236}">
                <a16:creationId xmlns:a16="http://schemas.microsoft.com/office/drawing/2014/main" id="{7476B3F7-0E49-6E93-93F4-2CCC981FDD10}"/>
              </a:ext>
            </a:extLst>
          </p:cNvPr>
          <p:cNvGrpSpPr/>
          <p:nvPr/>
        </p:nvGrpSpPr>
        <p:grpSpPr>
          <a:xfrm>
            <a:off x="1673791" y="1733858"/>
            <a:ext cx="1507135" cy="1270634"/>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85601AF8-2B04-4E1B-777C-E4413355E47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3E913BB0-FF45-71E9-FA50-B619CC080BD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52716CDC-FB48-B5C6-CF66-93C81E6EDE6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23F83B7B-C6FA-2ED2-8553-6F6F0C61316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5D1AB12-E11E-33B6-F232-60FD45CD3A8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179153A9-C2D4-FEE9-F6C5-81D0FAA9EA0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2294F9BC-F46F-719B-195C-8E1B7051453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031A82AD-99E7-73E7-E1D8-670CE8EEC70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76053F00-0709-53DD-642A-0F70CA86F80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7EA7E823-16A3-8130-20D7-959E93468B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91FD713F-1A16-30AC-B049-C388F6E8690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sp>
        <p:nvSpPr>
          <p:cNvPr id="25" name="Titre 1">
            <a:extLst>
              <a:ext uri="{FF2B5EF4-FFF2-40B4-BE49-F238E27FC236}">
                <a16:creationId xmlns:a16="http://schemas.microsoft.com/office/drawing/2014/main" id="{127D5BF5-5FC9-314C-D2D9-88F28910195A}"/>
              </a:ext>
            </a:extLst>
          </p:cNvPr>
          <p:cNvSpPr txBox="1">
            <a:spLocks/>
          </p:cNvSpPr>
          <p:nvPr/>
        </p:nvSpPr>
        <p:spPr>
          <a:xfrm>
            <a:off x="4771164" y="5161080"/>
            <a:ext cx="2584264"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Communautés de l’entreprise </a:t>
            </a:r>
          </a:p>
        </p:txBody>
      </p:sp>
      <p:grpSp>
        <p:nvGrpSpPr>
          <p:cNvPr id="97" name="Groupe 96">
            <a:extLst>
              <a:ext uri="{FF2B5EF4-FFF2-40B4-BE49-F238E27FC236}">
                <a16:creationId xmlns:a16="http://schemas.microsoft.com/office/drawing/2014/main" id="{E66F39EF-C59C-A783-BED5-226F02E84E36}"/>
              </a:ext>
            </a:extLst>
          </p:cNvPr>
          <p:cNvGrpSpPr/>
          <p:nvPr/>
        </p:nvGrpSpPr>
        <p:grpSpPr>
          <a:xfrm>
            <a:off x="205664" y="4106987"/>
            <a:ext cx="3321816" cy="2744288"/>
            <a:chOff x="-140890" y="3597102"/>
            <a:chExt cx="3910424" cy="3234360"/>
          </a:xfrm>
        </p:grpSpPr>
        <p:grpSp>
          <p:nvGrpSpPr>
            <p:cNvPr id="52" name="Groupe 51">
              <a:extLst>
                <a:ext uri="{FF2B5EF4-FFF2-40B4-BE49-F238E27FC236}">
                  <a16:creationId xmlns:a16="http://schemas.microsoft.com/office/drawing/2014/main" id="{212FDDD6-BFCE-3CAE-FD6D-8F681F6006AE}"/>
                </a:ext>
              </a:extLst>
            </p:cNvPr>
            <p:cNvGrpSpPr/>
            <p:nvPr/>
          </p:nvGrpSpPr>
          <p:grpSpPr>
            <a:xfrm>
              <a:off x="-140890" y="5754169"/>
              <a:ext cx="1537787" cy="922929"/>
              <a:chOff x="8129937" y="4169500"/>
              <a:chExt cx="1286847" cy="772323"/>
            </a:xfrm>
          </p:grpSpPr>
          <p:pic>
            <p:nvPicPr>
              <p:cNvPr id="53" name="Graphique 52" descr="Poignée de main avec un remplissage uni">
                <a:extLst>
                  <a:ext uri="{FF2B5EF4-FFF2-40B4-BE49-F238E27FC236}">
                    <a16:creationId xmlns:a16="http://schemas.microsoft.com/office/drawing/2014/main" id="{6B23F2EC-B1E2-A9B7-DB09-B2BD0369259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378292" y="4169500"/>
                <a:ext cx="703975" cy="703975"/>
              </a:xfrm>
              <a:prstGeom prst="rect">
                <a:avLst/>
              </a:prstGeom>
            </p:spPr>
          </p:pic>
          <p:sp>
            <p:nvSpPr>
              <p:cNvPr id="54" name="ZoneTexte 53">
                <a:extLst>
                  <a:ext uri="{FF2B5EF4-FFF2-40B4-BE49-F238E27FC236}">
                    <a16:creationId xmlns:a16="http://schemas.microsoft.com/office/drawing/2014/main" id="{71F63E6D-DAF8-D1B0-30ED-ECDBF00F1281}"/>
                  </a:ext>
                </a:extLst>
              </p:cNvPr>
              <p:cNvSpPr txBox="1"/>
              <p:nvPr/>
            </p:nvSpPr>
            <p:spPr>
              <a:xfrm>
                <a:off x="8129937" y="4747307"/>
                <a:ext cx="1286847" cy="194516"/>
              </a:xfrm>
              <a:prstGeom prst="rect">
                <a:avLst/>
              </a:prstGeom>
              <a:noFill/>
            </p:spPr>
            <p:txBody>
              <a:bodyPr wrap="square">
                <a:spAutoFit/>
              </a:bodyPr>
              <a:lstStyle/>
              <a:p>
                <a:pPr algn="ctr"/>
                <a:r>
                  <a:rPr lang="fr-FR" sz="800" dirty="0">
                    <a:solidFill>
                      <a:srgbClr val="ED7D31"/>
                    </a:solidFill>
                  </a:rPr>
                  <a:t>Lien avec les autres</a:t>
                </a:r>
              </a:p>
            </p:txBody>
          </p:sp>
        </p:grpSp>
        <p:grpSp>
          <p:nvGrpSpPr>
            <p:cNvPr id="55" name="Groupe 54">
              <a:extLst>
                <a:ext uri="{FF2B5EF4-FFF2-40B4-BE49-F238E27FC236}">
                  <a16:creationId xmlns:a16="http://schemas.microsoft.com/office/drawing/2014/main" id="{38F2F5A5-FB31-B6A3-CA87-8D1467906F2C}"/>
                </a:ext>
              </a:extLst>
            </p:cNvPr>
            <p:cNvGrpSpPr/>
            <p:nvPr/>
          </p:nvGrpSpPr>
          <p:grpSpPr>
            <a:xfrm>
              <a:off x="-8745" y="4861826"/>
              <a:ext cx="1095214" cy="882222"/>
              <a:chOff x="1718551" y="4252127"/>
              <a:chExt cx="916494" cy="738258"/>
            </a:xfrm>
          </p:grpSpPr>
          <p:grpSp>
            <p:nvGrpSpPr>
              <p:cNvPr id="56" name="Groupe 55">
                <a:extLst>
                  <a:ext uri="{FF2B5EF4-FFF2-40B4-BE49-F238E27FC236}">
                    <a16:creationId xmlns:a16="http://schemas.microsoft.com/office/drawing/2014/main" id="{02003F08-E0A4-FA31-1416-689D7654B376}"/>
                  </a:ext>
                </a:extLst>
              </p:cNvPr>
              <p:cNvGrpSpPr/>
              <p:nvPr/>
            </p:nvGrpSpPr>
            <p:grpSpPr>
              <a:xfrm>
                <a:off x="1812986" y="4252127"/>
                <a:ext cx="788755" cy="483536"/>
                <a:chOff x="8496164" y="663605"/>
                <a:chExt cx="2837988" cy="1739790"/>
              </a:xfrm>
            </p:grpSpPr>
            <p:pic>
              <p:nvPicPr>
                <p:cNvPr id="58" name="Graphique 57" descr="Évaluation 3 étoiles avec un remplissage uni">
                  <a:extLst>
                    <a:ext uri="{FF2B5EF4-FFF2-40B4-BE49-F238E27FC236}">
                      <a16:creationId xmlns:a16="http://schemas.microsoft.com/office/drawing/2014/main" id="{B77ADE86-1E69-298C-D46E-BDDAD4D0AB6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96164" y="663605"/>
                  <a:ext cx="1739790" cy="1739790"/>
                </a:xfrm>
                <a:prstGeom prst="rect">
                  <a:avLst/>
                </a:prstGeom>
              </p:spPr>
            </p:pic>
            <p:pic>
              <p:nvPicPr>
                <p:cNvPr id="59" name="Graphique 58" descr="Évaluation 3 étoiles avec un remplissage uni">
                  <a:extLst>
                    <a:ext uri="{FF2B5EF4-FFF2-40B4-BE49-F238E27FC236}">
                      <a16:creationId xmlns:a16="http://schemas.microsoft.com/office/drawing/2014/main" id="{64ED05D3-C519-4A62-EE67-8127AEF8D3DE}"/>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33972"/>
                <a:stretch/>
              </p:blipFill>
              <p:spPr>
                <a:xfrm>
                  <a:off x="10185399" y="663605"/>
                  <a:ext cx="1148753" cy="1739790"/>
                </a:xfrm>
                <a:prstGeom prst="rect">
                  <a:avLst/>
                </a:prstGeom>
              </p:spPr>
            </p:pic>
          </p:grpSp>
          <p:sp>
            <p:nvSpPr>
              <p:cNvPr id="57" name="ZoneTexte 56">
                <a:extLst>
                  <a:ext uri="{FF2B5EF4-FFF2-40B4-BE49-F238E27FC236}">
                    <a16:creationId xmlns:a16="http://schemas.microsoft.com/office/drawing/2014/main" id="{9A6E7B02-75FC-9D78-5E9C-E1898D586D19}"/>
                  </a:ext>
                </a:extLst>
              </p:cNvPr>
              <p:cNvSpPr txBox="1"/>
              <p:nvPr/>
            </p:nvSpPr>
            <p:spPr>
              <a:xfrm>
                <a:off x="1718551" y="4684718"/>
                <a:ext cx="916494" cy="305667"/>
              </a:xfrm>
              <a:prstGeom prst="rect">
                <a:avLst/>
              </a:prstGeom>
              <a:noFill/>
            </p:spPr>
            <p:txBody>
              <a:bodyPr wrap="square">
                <a:spAutoFit/>
              </a:bodyPr>
              <a:lstStyle/>
              <a:p>
                <a:pPr algn="ctr"/>
                <a:r>
                  <a:rPr lang="fr-FR" sz="800" dirty="0">
                    <a:solidFill>
                      <a:srgbClr val="ED7D31"/>
                    </a:solidFill>
                  </a:rPr>
                  <a:t>Stimulation et bien être</a:t>
                </a:r>
              </a:p>
            </p:txBody>
          </p:sp>
        </p:grpSp>
        <p:grpSp>
          <p:nvGrpSpPr>
            <p:cNvPr id="60" name="Groupe 59">
              <a:extLst>
                <a:ext uri="{FF2B5EF4-FFF2-40B4-BE49-F238E27FC236}">
                  <a16:creationId xmlns:a16="http://schemas.microsoft.com/office/drawing/2014/main" id="{1BF77472-2A66-B1FF-B625-B09A27A277E2}"/>
                </a:ext>
              </a:extLst>
            </p:cNvPr>
            <p:cNvGrpSpPr/>
            <p:nvPr/>
          </p:nvGrpSpPr>
          <p:grpSpPr>
            <a:xfrm>
              <a:off x="2272155" y="5975035"/>
              <a:ext cx="1386196" cy="727816"/>
              <a:chOff x="476026" y="4189903"/>
              <a:chExt cx="1159993" cy="609049"/>
            </a:xfrm>
          </p:grpSpPr>
          <p:sp>
            <p:nvSpPr>
              <p:cNvPr id="61" name="ZoneTexte 60">
                <a:extLst>
                  <a:ext uri="{FF2B5EF4-FFF2-40B4-BE49-F238E27FC236}">
                    <a16:creationId xmlns:a16="http://schemas.microsoft.com/office/drawing/2014/main" id="{579FC644-685F-5E10-ECAE-BA3F43768256}"/>
                  </a:ext>
                </a:extLst>
              </p:cNvPr>
              <p:cNvSpPr txBox="1"/>
              <p:nvPr/>
            </p:nvSpPr>
            <p:spPr>
              <a:xfrm>
                <a:off x="476026" y="4604436"/>
                <a:ext cx="1159993" cy="194516"/>
              </a:xfrm>
              <a:prstGeom prst="rect">
                <a:avLst/>
              </a:prstGeom>
              <a:noFill/>
            </p:spPr>
            <p:txBody>
              <a:bodyPr wrap="square">
                <a:spAutoFit/>
              </a:bodyPr>
              <a:lstStyle/>
              <a:p>
                <a:pPr algn="ctr"/>
                <a:r>
                  <a:rPr lang="fr-FR" sz="800" dirty="0">
                    <a:solidFill>
                      <a:srgbClr val="ED7D31"/>
                    </a:solidFill>
                  </a:rPr>
                  <a:t>Liberté et temps libre</a:t>
                </a:r>
              </a:p>
            </p:txBody>
          </p:sp>
          <p:pic>
            <p:nvPicPr>
              <p:cNvPr id="62" name="Graphique 61" descr="Sablier plein avec un remplissage uni">
                <a:extLst>
                  <a:ext uri="{FF2B5EF4-FFF2-40B4-BE49-F238E27FC236}">
                    <a16:creationId xmlns:a16="http://schemas.microsoft.com/office/drawing/2014/main" id="{9CBF49BC-1FF4-AB8F-AF61-800A9DD1580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63793" y="4189903"/>
                <a:ext cx="384459" cy="384459"/>
              </a:xfrm>
              <a:prstGeom prst="rect">
                <a:avLst/>
              </a:prstGeom>
            </p:spPr>
          </p:pic>
        </p:grpSp>
        <p:grpSp>
          <p:nvGrpSpPr>
            <p:cNvPr id="63" name="Groupe 62">
              <a:extLst>
                <a:ext uri="{FF2B5EF4-FFF2-40B4-BE49-F238E27FC236}">
                  <a16:creationId xmlns:a16="http://schemas.microsoft.com/office/drawing/2014/main" id="{5C18C28A-EF67-ABB3-2335-82CB5962FD64}"/>
                </a:ext>
              </a:extLst>
            </p:cNvPr>
            <p:cNvGrpSpPr/>
            <p:nvPr/>
          </p:nvGrpSpPr>
          <p:grpSpPr>
            <a:xfrm>
              <a:off x="2181210" y="4763092"/>
              <a:ext cx="1588324" cy="997759"/>
              <a:chOff x="9261999" y="4264199"/>
              <a:chExt cx="1329135" cy="834941"/>
            </a:xfrm>
          </p:grpSpPr>
          <p:sp>
            <p:nvSpPr>
              <p:cNvPr id="64" name="ZoneTexte 63">
                <a:extLst>
                  <a:ext uri="{FF2B5EF4-FFF2-40B4-BE49-F238E27FC236}">
                    <a16:creationId xmlns:a16="http://schemas.microsoft.com/office/drawing/2014/main" id="{01EEB655-B951-4281-B089-966833675D16}"/>
                  </a:ext>
                </a:extLst>
              </p:cNvPr>
              <p:cNvSpPr txBox="1"/>
              <p:nvPr/>
            </p:nvSpPr>
            <p:spPr>
              <a:xfrm>
                <a:off x="9261999" y="4793473"/>
                <a:ext cx="1329135" cy="305667"/>
              </a:xfrm>
              <a:prstGeom prst="rect">
                <a:avLst/>
              </a:prstGeom>
              <a:noFill/>
            </p:spPr>
            <p:txBody>
              <a:bodyPr wrap="square">
                <a:spAutoFit/>
              </a:bodyPr>
              <a:lstStyle/>
              <a:p>
                <a:pPr algn="ctr"/>
                <a:r>
                  <a:rPr lang="fr-FR" sz="800" dirty="0">
                    <a:solidFill>
                      <a:srgbClr val="ED7D31"/>
                    </a:solidFill>
                  </a:rPr>
                  <a:t>Satisfaction des obligations et responsabilités existantes</a:t>
                </a:r>
              </a:p>
            </p:txBody>
          </p:sp>
          <p:pic>
            <p:nvPicPr>
              <p:cNvPr id="65" name="Graphique 64" descr="Presse-papiers vérifié avec un remplissage uni">
                <a:extLst>
                  <a:ext uri="{FF2B5EF4-FFF2-40B4-BE49-F238E27FC236}">
                    <a16:creationId xmlns:a16="http://schemas.microsoft.com/office/drawing/2014/main" id="{448751C9-5DF4-4B80-1998-52556ECFF9C6}"/>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736710" y="4264199"/>
                <a:ext cx="491025" cy="491024"/>
              </a:xfrm>
              <a:prstGeom prst="rect">
                <a:avLst/>
              </a:prstGeom>
            </p:spPr>
          </p:pic>
        </p:grpSp>
        <p:grpSp>
          <p:nvGrpSpPr>
            <p:cNvPr id="66" name="Groupe 65">
              <a:extLst>
                <a:ext uri="{FF2B5EF4-FFF2-40B4-BE49-F238E27FC236}">
                  <a16:creationId xmlns:a16="http://schemas.microsoft.com/office/drawing/2014/main" id="{71B0E8E7-B96F-BCEA-3806-06230590E651}"/>
                </a:ext>
              </a:extLst>
            </p:cNvPr>
            <p:cNvGrpSpPr/>
            <p:nvPr/>
          </p:nvGrpSpPr>
          <p:grpSpPr>
            <a:xfrm>
              <a:off x="9553" y="3732690"/>
              <a:ext cx="1243406" cy="1018342"/>
              <a:chOff x="2837626" y="4300316"/>
              <a:chExt cx="1185459" cy="852166"/>
            </a:xfrm>
          </p:grpSpPr>
          <p:pic>
            <p:nvPicPr>
              <p:cNvPr id="67" name="Graphique 66" descr="Aspiration avec un remplissage uni">
                <a:extLst>
                  <a:ext uri="{FF2B5EF4-FFF2-40B4-BE49-F238E27FC236}">
                    <a16:creationId xmlns:a16="http://schemas.microsoft.com/office/drawing/2014/main" id="{68655656-B4C6-5817-1FD0-413BE6FF8A79}"/>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147046" y="4300316"/>
                <a:ext cx="585744" cy="473265"/>
              </a:xfrm>
              <a:prstGeom prst="rect">
                <a:avLst/>
              </a:prstGeom>
            </p:spPr>
          </p:pic>
          <p:sp>
            <p:nvSpPr>
              <p:cNvPr id="68" name="ZoneTexte 67">
                <a:extLst>
                  <a:ext uri="{FF2B5EF4-FFF2-40B4-BE49-F238E27FC236}">
                    <a16:creationId xmlns:a16="http://schemas.microsoft.com/office/drawing/2014/main" id="{FFD7AB0F-9B07-367D-555E-58633287872C}"/>
                  </a:ext>
                </a:extLst>
              </p:cNvPr>
              <p:cNvSpPr txBox="1"/>
              <p:nvPr/>
            </p:nvSpPr>
            <p:spPr>
              <a:xfrm>
                <a:off x="2837626" y="4735663"/>
                <a:ext cx="1185459" cy="416819"/>
              </a:xfrm>
              <a:prstGeom prst="rect">
                <a:avLst/>
              </a:prstGeom>
              <a:noFill/>
            </p:spPr>
            <p:txBody>
              <a:bodyPr wrap="square">
                <a:spAutoFit/>
              </a:bodyPr>
              <a:lstStyle/>
              <a:p>
                <a:pPr algn="ctr"/>
                <a:r>
                  <a:rPr lang="fr-FR" sz="800" dirty="0">
                    <a:solidFill>
                      <a:srgbClr val="ED7D31"/>
                    </a:solidFill>
                  </a:rPr>
                  <a:t>Développement de compétences et réalisation de soi</a:t>
                </a:r>
              </a:p>
            </p:txBody>
          </p:sp>
        </p:grpSp>
        <p:grpSp>
          <p:nvGrpSpPr>
            <p:cNvPr id="69" name="Groupe 68">
              <a:extLst>
                <a:ext uri="{FF2B5EF4-FFF2-40B4-BE49-F238E27FC236}">
                  <a16:creationId xmlns:a16="http://schemas.microsoft.com/office/drawing/2014/main" id="{159E6E55-4EA8-71EC-C5AD-203D66233400}"/>
                </a:ext>
              </a:extLst>
            </p:cNvPr>
            <p:cNvGrpSpPr/>
            <p:nvPr/>
          </p:nvGrpSpPr>
          <p:grpSpPr>
            <a:xfrm>
              <a:off x="2450530" y="3597102"/>
              <a:ext cx="1195708" cy="916152"/>
              <a:chOff x="6088603" y="4144848"/>
              <a:chExt cx="1000589" cy="766653"/>
            </a:xfrm>
          </p:grpSpPr>
          <p:pic>
            <p:nvPicPr>
              <p:cNvPr id="70" name="Graphique 69" descr="Globe terrestre : Europe et Afrique avec un remplissage uni">
                <a:extLst>
                  <a:ext uri="{FF2B5EF4-FFF2-40B4-BE49-F238E27FC236}">
                    <a16:creationId xmlns:a16="http://schemas.microsoft.com/office/drawing/2014/main" id="{9032F40F-0EBD-B601-F22C-05DA8A722BD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6278977" y="4144848"/>
                <a:ext cx="643205" cy="643205"/>
              </a:xfrm>
              <a:prstGeom prst="rect">
                <a:avLst/>
              </a:prstGeom>
            </p:spPr>
          </p:pic>
          <p:sp>
            <p:nvSpPr>
              <p:cNvPr id="71" name="ZoneTexte 70">
                <a:extLst>
                  <a:ext uri="{FF2B5EF4-FFF2-40B4-BE49-F238E27FC236}">
                    <a16:creationId xmlns:a16="http://schemas.microsoft.com/office/drawing/2014/main" id="{0FD20FD3-36DA-7DA2-BB96-8A4D4791756C}"/>
                  </a:ext>
                </a:extLst>
              </p:cNvPr>
              <p:cNvSpPr txBox="1"/>
              <p:nvPr/>
            </p:nvSpPr>
            <p:spPr>
              <a:xfrm>
                <a:off x="6088603" y="4716985"/>
                <a:ext cx="1000589" cy="194516"/>
              </a:xfrm>
              <a:prstGeom prst="rect">
                <a:avLst/>
              </a:prstGeom>
              <a:noFill/>
            </p:spPr>
            <p:txBody>
              <a:bodyPr wrap="square">
                <a:spAutoFit/>
              </a:bodyPr>
              <a:lstStyle/>
              <a:p>
                <a:pPr algn="ctr"/>
                <a:r>
                  <a:rPr lang="fr-FR" sz="800" dirty="0">
                    <a:solidFill>
                      <a:srgbClr val="ED7D31"/>
                    </a:solidFill>
                  </a:rPr>
                  <a:t>Impact positif et sens</a:t>
                </a:r>
              </a:p>
            </p:txBody>
          </p:sp>
        </p:grpSp>
        <p:grpSp>
          <p:nvGrpSpPr>
            <p:cNvPr id="72" name="Groupe 71">
              <a:extLst>
                <a:ext uri="{FF2B5EF4-FFF2-40B4-BE49-F238E27FC236}">
                  <a16:creationId xmlns:a16="http://schemas.microsoft.com/office/drawing/2014/main" id="{A71D33F1-0361-5DE9-4D0D-B17CD01E0699}"/>
                </a:ext>
              </a:extLst>
            </p:cNvPr>
            <p:cNvGrpSpPr/>
            <p:nvPr/>
          </p:nvGrpSpPr>
          <p:grpSpPr>
            <a:xfrm>
              <a:off x="1274367" y="4956928"/>
              <a:ext cx="987543" cy="790803"/>
              <a:chOff x="7187274" y="4362847"/>
              <a:chExt cx="826392" cy="661756"/>
            </a:xfrm>
          </p:grpSpPr>
          <p:pic>
            <p:nvPicPr>
              <p:cNvPr id="73" name="Graphique 72" descr="Coffre au trésor avec un remplissage uni">
                <a:extLst>
                  <a:ext uri="{FF2B5EF4-FFF2-40B4-BE49-F238E27FC236}">
                    <a16:creationId xmlns:a16="http://schemas.microsoft.com/office/drawing/2014/main" id="{FE8E0EFD-4F6A-A82E-AECF-03EC2A93E3E0}"/>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414162" y="4362847"/>
                <a:ext cx="384457" cy="384458"/>
              </a:xfrm>
              <a:prstGeom prst="rect">
                <a:avLst/>
              </a:prstGeom>
            </p:spPr>
          </p:pic>
          <p:sp>
            <p:nvSpPr>
              <p:cNvPr id="74" name="ZoneTexte 73">
                <a:extLst>
                  <a:ext uri="{FF2B5EF4-FFF2-40B4-BE49-F238E27FC236}">
                    <a16:creationId xmlns:a16="http://schemas.microsoft.com/office/drawing/2014/main" id="{6F33E9F8-32CD-3ACE-7DD8-FBC3C72EEFCF}"/>
                  </a:ext>
                </a:extLst>
              </p:cNvPr>
              <p:cNvSpPr txBox="1"/>
              <p:nvPr/>
            </p:nvSpPr>
            <p:spPr>
              <a:xfrm>
                <a:off x="7187274" y="4718937"/>
                <a:ext cx="826392" cy="305666"/>
              </a:xfrm>
              <a:prstGeom prst="rect">
                <a:avLst/>
              </a:prstGeom>
              <a:noFill/>
            </p:spPr>
            <p:txBody>
              <a:bodyPr wrap="square">
                <a:spAutoFit/>
              </a:bodyPr>
              <a:lstStyle/>
              <a:p>
                <a:pPr algn="ctr"/>
                <a:r>
                  <a:rPr lang="fr-FR" sz="800" dirty="0">
                    <a:solidFill>
                      <a:srgbClr val="ED7D31"/>
                    </a:solidFill>
                  </a:rPr>
                  <a:t>Bien matériels et financiers</a:t>
                </a:r>
              </a:p>
            </p:txBody>
          </p:sp>
        </p:grpSp>
        <p:pic>
          <p:nvPicPr>
            <p:cNvPr id="76" name="Graphique 75" descr="Pinceau avec un remplissage uni">
              <a:extLst>
                <a:ext uri="{FF2B5EF4-FFF2-40B4-BE49-F238E27FC236}">
                  <a16:creationId xmlns:a16="http://schemas.microsoft.com/office/drawing/2014/main" id="{63ACBCA3-C5B0-780B-3704-CC4A49CD2FB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445494" y="5804063"/>
              <a:ext cx="613032" cy="613032"/>
            </a:xfrm>
            <a:prstGeom prst="rect">
              <a:avLst/>
            </a:prstGeom>
          </p:spPr>
        </p:pic>
        <p:sp>
          <p:nvSpPr>
            <p:cNvPr id="77" name="ZoneTexte 76">
              <a:extLst>
                <a:ext uri="{FF2B5EF4-FFF2-40B4-BE49-F238E27FC236}">
                  <a16:creationId xmlns:a16="http://schemas.microsoft.com/office/drawing/2014/main" id="{65136D71-DEFA-1868-77DC-4D02E6EED60E}"/>
                </a:ext>
              </a:extLst>
            </p:cNvPr>
            <p:cNvSpPr txBox="1"/>
            <p:nvPr/>
          </p:nvSpPr>
          <p:spPr>
            <a:xfrm>
              <a:off x="1105594" y="6466188"/>
              <a:ext cx="1195708" cy="365274"/>
            </a:xfrm>
            <a:prstGeom prst="rect">
              <a:avLst/>
            </a:prstGeom>
            <a:noFill/>
          </p:spPr>
          <p:txBody>
            <a:bodyPr wrap="square">
              <a:spAutoFit/>
            </a:bodyPr>
            <a:lstStyle/>
            <a:p>
              <a:pPr algn="ctr"/>
              <a:r>
                <a:rPr lang="fr-FR" sz="800" dirty="0">
                  <a:solidFill>
                    <a:srgbClr val="ED7D31"/>
                  </a:solidFill>
                </a:rPr>
                <a:t>Espace créatif et expression de soi</a:t>
              </a:r>
            </a:p>
          </p:txBody>
        </p:sp>
        <p:grpSp>
          <p:nvGrpSpPr>
            <p:cNvPr id="78" name="Groupe 77">
              <a:extLst>
                <a:ext uri="{FF2B5EF4-FFF2-40B4-BE49-F238E27FC236}">
                  <a16:creationId xmlns:a16="http://schemas.microsoft.com/office/drawing/2014/main" id="{6915DBF0-89D8-7D7A-D3C1-D6E508AEADD7}"/>
                </a:ext>
              </a:extLst>
            </p:cNvPr>
            <p:cNvGrpSpPr/>
            <p:nvPr/>
          </p:nvGrpSpPr>
          <p:grpSpPr>
            <a:xfrm>
              <a:off x="1305234" y="3619701"/>
              <a:ext cx="1042385" cy="1031410"/>
              <a:chOff x="4122509" y="4187837"/>
              <a:chExt cx="872285" cy="863104"/>
            </a:xfrm>
          </p:grpSpPr>
          <p:pic>
            <p:nvPicPr>
              <p:cNvPr id="79" name="Graphique 78" descr="Utilisateurs avec un remplissage uni">
                <a:extLst>
                  <a:ext uri="{FF2B5EF4-FFF2-40B4-BE49-F238E27FC236}">
                    <a16:creationId xmlns:a16="http://schemas.microsoft.com/office/drawing/2014/main" id="{B43F3FB6-638E-2AEB-4930-1F4878DF764D}"/>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278095" y="4187837"/>
                <a:ext cx="590398" cy="590398"/>
              </a:xfrm>
              <a:prstGeom prst="rect">
                <a:avLst/>
              </a:prstGeom>
            </p:spPr>
          </p:pic>
          <p:sp>
            <p:nvSpPr>
              <p:cNvPr id="80" name="ZoneTexte 79">
                <a:extLst>
                  <a:ext uri="{FF2B5EF4-FFF2-40B4-BE49-F238E27FC236}">
                    <a16:creationId xmlns:a16="http://schemas.microsoft.com/office/drawing/2014/main" id="{E612FC72-478B-3DCA-26C7-3626B80CE81F}"/>
                  </a:ext>
                </a:extLst>
              </p:cNvPr>
              <p:cNvSpPr txBox="1"/>
              <p:nvPr/>
            </p:nvSpPr>
            <p:spPr>
              <a:xfrm>
                <a:off x="4122509" y="4745273"/>
                <a:ext cx="872285" cy="305668"/>
              </a:xfrm>
              <a:prstGeom prst="rect">
                <a:avLst/>
              </a:prstGeom>
              <a:noFill/>
            </p:spPr>
            <p:txBody>
              <a:bodyPr wrap="square">
                <a:spAutoFit/>
              </a:bodyPr>
              <a:lstStyle/>
              <a:p>
                <a:pPr algn="ctr"/>
                <a:r>
                  <a:rPr lang="fr-FR" sz="800" dirty="0">
                    <a:solidFill>
                      <a:srgbClr val="ED7D31"/>
                    </a:solidFill>
                  </a:rPr>
                  <a:t>Reconnaissance sociale </a:t>
                </a:r>
              </a:p>
            </p:txBody>
          </p:sp>
        </p:grpSp>
      </p:grpSp>
      <p:sp>
        <p:nvSpPr>
          <p:cNvPr id="95" name="Flèche : droite 94">
            <a:extLst>
              <a:ext uri="{FF2B5EF4-FFF2-40B4-BE49-F238E27FC236}">
                <a16:creationId xmlns:a16="http://schemas.microsoft.com/office/drawing/2014/main" id="{E4528571-20B7-D4C9-14F8-1948808D3577}"/>
              </a:ext>
            </a:extLst>
          </p:cNvPr>
          <p:cNvSpPr/>
          <p:nvPr/>
        </p:nvSpPr>
        <p:spPr>
          <a:xfrm rot="19508911" flipH="1">
            <a:off x="3647794" y="4945226"/>
            <a:ext cx="1189456" cy="623864"/>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3</a:t>
            </a:r>
          </a:p>
        </p:txBody>
      </p:sp>
      <p:sp>
        <p:nvSpPr>
          <p:cNvPr id="75" name="Titre 1">
            <a:extLst>
              <a:ext uri="{FF2B5EF4-FFF2-40B4-BE49-F238E27FC236}">
                <a16:creationId xmlns:a16="http://schemas.microsoft.com/office/drawing/2014/main" id="{6B33852F-149D-35AA-BFE1-FA9A8B9ABDED}"/>
              </a:ext>
            </a:extLst>
          </p:cNvPr>
          <p:cNvSpPr txBox="1">
            <a:spLocks/>
          </p:cNvSpPr>
          <p:nvPr/>
        </p:nvSpPr>
        <p:spPr>
          <a:xfrm>
            <a:off x="838200" y="365125"/>
            <a:ext cx="10515600" cy="972139"/>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a:t>La Valeur pour </a:t>
            </a:r>
            <a:r>
              <a:rPr lang="fr-FR" b="1">
                <a:solidFill>
                  <a:srgbClr val="ED7D31"/>
                </a:solidFill>
              </a:rPr>
              <a:t>les membres</a:t>
            </a:r>
            <a:endParaRPr lang="fr-FR" b="1" dirty="0">
              <a:solidFill>
                <a:srgbClr val="ED7D31"/>
              </a:solidFill>
            </a:endParaRPr>
          </a:p>
        </p:txBody>
      </p:sp>
      <p:sp>
        <p:nvSpPr>
          <p:cNvPr id="81" name="Titre 1">
            <a:extLst>
              <a:ext uri="{FF2B5EF4-FFF2-40B4-BE49-F238E27FC236}">
                <a16:creationId xmlns:a16="http://schemas.microsoft.com/office/drawing/2014/main" id="{6BB1741C-262B-1FE8-9737-6832AAA8C912}"/>
              </a:ext>
            </a:extLst>
          </p:cNvPr>
          <p:cNvSpPr txBox="1">
            <a:spLocks/>
          </p:cNvSpPr>
          <p:nvPr/>
        </p:nvSpPr>
        <p:spPr>
          <a:xfrm>
            <a:off x="1618427" y="2920397"/>
            <a:ext cx="1537788" cy="329176"/>
          </a:xfrm>
          <a:prstGeom prst="rect">
            <a:avLst/>
          </a:prstGeom>
        </p:spPr>
        <p:txBody>
          <a:bodyPr vert="horz" lIns="91440" tIns="45720" rIns="91440" bIns="45720" rtlCol="0" anchor="ctr">
            <a:normAutofit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rgbClr val="ED7D31"/>
                </a:solidFill>
              </a:rPr>
              <a:t>Membres</a:t>
            </a:r>
          </a:p>
        </p:txBody>
      </p:sp>
      <p:grpSp>
        <p:nvGrpSpPr>
          <p:cNvPr id="50" name="Groupe 49">
            <a:extLst>
              <a:ext uri="{FF2B5EF4-FFF2-40B4-BE49-F238E27FC236}">
                <a16:creationId xmlns:a16="http://schemas.microsoft.com/office/drawing/2014/main" id="{5169859B-9B31-8ED7-98CE-FA68A3645D5A}"/>
              </a:ext>
            </a:extLst>
          </p:cNvPr>
          <p:cNvGrpSpPr/>
          <p:nvPr/>
        </p:nvGrpSpPr>
        <p:grpSpPr>
          <a:xfrm>
            <a:off x="5013383" y="3070009"/>
            <a:ext cx="2150970" cy="1947160"/>
            <a:chOff x="-4435634" y="3221970"/>
            <a:chExt cx="4325260" cy="3915430"/>
          </a:xfrm>
        </p:grpSpPr>
        <p:pic>
          <p:nvPicPr>
            <p:cNvPr id="51" name="Espace réservé du contenu 6" descr="Tribunal contour">
              <a:extLst>
                <a:ext uri="{FF2B5EF4-FFF2-40B4-BE49-F238E27FC236}">
                  <a16:creationId xmlns:a16="http://schemas.microsoft.com/office/drawing/2014/main" id="{83246F23-8395-7B2D-182D-F1CCB4E8EECB}"/>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l="8133" t="12060" r="8805" b="62496"/>
            <a:stretch/>
          </p:blipFill>
          <p:spPr>
            <a:xfrm>
              <a:off x="-4435633" y="3221970"/>
              <a:ext cx="4325259" cy="1324928"/>
            </a:xfrm>
            <a:prstGeom prst="rect">
              <a:avLst/>
            </a:prstGeom>
          </p:spPr>
        </p:pic>
        <p:grpSp>
          <p:nvGrpSpPr>
            <p:cNvPr id="82" name="Groupe 81">
              <a:extLst>
                <a:ext uri="{FF2B5EF4-FFF2-40B4-BE49-F238E27FC236}">
                  <a16:creationId xmlns:a16="http://schemas.microsoft.com/office/drawing/2014/main" id="{B4F777BF-B31B-820F-C1E2-68A19CD000B6}"/>
                </a:ext>
              </a:extLst>
            </p:cNvPr>
            <p:cNvGrpSpPr/>
            <p:nvPr/>
          </p:nvGrpSpPr>
          <p:grpSpPr>
            <a:xfrm>
              <a:off x="-4435634" y="4520418"/>
              <a:ext cx="4325260" cy="2616982"/>
              <a:chOff x="-4435634" y="4520418"/>
              <a:chExt cx="4325260" cy="2616982"/>
            </a:xfrm>
          </p:grpSpPr>
          <p:pic>
            <p:nvPicPr>
              <p:cNvPr id="83" name="Espace réservé du contenu 6" descr="Tribunal contour">
                <a:extLst>
                  <a:ext uri="{FF2B5EF4-FFF2-40B4-BE49-F238E27FC236}">
                    <a16:creationId xmlns:a16="http://schemas.microsoft.com/office/drawing/2014/main" id="{DEB10686-7B63-6E67-0A22-A99917449C35}"/>
                  </a:ext>
                </a:extLst>
              </p:cNvPr>
              <p:cNvPicPr>
                <a:picLocks noChangeAspect="1"/>
              </p:cNvPicPr>
              <p:nvPr/>
            </p:nvPicPr>
            <p:blipFill rotWithShape="1">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rcRect l="8133" t="37523" r="8805" b="24898"/>
              <a:stretch/>
            </p:blipFill>
            <p:spPr>
              <a:xfrm>
                <a:off x="-4435633" y="4520418"/>
                <a:ext cx="4325259" cy="1956816"/>
              </a:xfrm>
              <a:prstGeom prst="rect">
                <a:avLst/>
              </a:prstGeom>
            </p:spPr>
          </p:pic>
          <p:pic>
            <p:nvPicPr>
              <p:cNvPr id="84" name="Graphique 83" descr="Réussite du groupe avec un remplissage uni">
                <a:extLst>
                  <a:ext uri="{FF2B5EF4-FFF2-40B4-BE49-F238E27FC236}">
                    <a16:creationId xmlns:a16="http://schemas.microsoft.com/office/drawing/2014/main" id="{36CBE74A-EAFD-4124-0875-A34A3E933FE2}"/>
                  </a:ext>
                </a:extLst>
              </p:cNvPr>
              <p:cNvPicPr>
                <a:picLocks noChangeAspect="1"/>
              </p:cNvPicPr>
              <p:nvPr/>
            </p:nvPicPr>
            <p:blipFill rotWithShape="1">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rcRect t="13979" b="19010"/>
              <a:stretch/>
            </p:blipFill>
            <p:spPr>
              <a:xfrm>
                <a:off x="-3132680" y="5325090"/>
                <a:ext cx="1719352" cy="1152144"/>
              </a:xfrm>
              <a:prstGeom prst="rect">
                <a:avLst/>
              </a:prstGeom>
            </p:spPr>
          </p:pic>
          <p:pic>
            <p:nvPicPr>
              <p:cNvPr id="85" name="Espace réservé du contenu 6" descr="Tribunal contour">
                <a:extLst>
                  <a:ext uri="{FF2B5EF4-FFF2-40B4-BE49-F238E27FC236}">
                    <a16:creationId xmlns:a16="http://schemas.microsoft.com/office/drawing/2014/main" id="{A0BA24CE-A50B-6CC0-BE83-9131915015D0}"/>
                  </a:ext>
                </a:extLst>
              </p:cNvPr>
              <p:cNvPicPr>
                <a:picLocks noChangeAspect="1"/>
              </p:cNvPicPr>
              <p:nvPr/>
            </p:nvPicPr>
            <p:blipFill rotWithShape="1">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rcRect l="8133" t="75103" r="8805" b="12219"/>
              <a:stretch/>
            </p:blipFill>
            <p:spPr>
              <a:xfrm>
                <a:off x="-4435634" y="6477233"/>
                <a:ext cx="4325259" cy="660167"/>
              </a:xfrm>
              <a:prstGeom prst="rect">
                <a:avLst/>
              </a:prstGeom>
            </p:spPr>
          </p:pic>
        </p:grpSp>
      </p:grpSp>
    </p:spTree>
    <p:extLst>
      <p:ext uri="{BB962C8B-B14F-4D97-AF65-F5344CB8AC3E}">
        <p14:creationId xmlns:p14="http://schemas.microsoft.com/office/powerpoint/2010/main" val="35687797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90783DD-FCEA-F85A-7BB4-14DFDF2D6668}"/>
              </a:ext>
            </a:extLst>
          </p:cNvPr>
          <p:cNvSpPr>
            <a:spLocks noGrp="1"/>
          </p:cNvSpPr>
          <p:nvPr>
            <p:ph type="title"/>
          </p:nvPr>
        </p:nvSpPr>
        <p:spPr/>
        <p:txBody>
          <a:bodyPr/>
          <a:lstStyle/>
          <a:p>
            <a:r>
              <a:rPr lang="fr-FR" dirty="0"/>
              <a:t>Usage d’une grille de lecture</a:t>
            </a:r>
          </a:p>
        </p:txBody>
      </p:sp>
      <p:sp>
        <p:nvSpPr>
          <p:cNvPr id="3" name="Espace réservé du contenu 2">
            <a:extLst>
              <a:ext uri="{FF2B5EF4-FFF2-40B4-BE49-F238E27FC236}">
                <a16:creationId xmlns:a16="http://schemas.microsoft.com/office/drawing/2014/main" id="{318452FE-F7CF-C8A3-E276-1A3FF2D332F6}"/>
              </a:ext>
            </a:extLst>
          </p:cNvPr>
          <p:cNvSpPr>
            <a:spLocks noGrp="1"/>
          </p:cNvSpPr>
          <p:nvPr>
            <p:ph idx="1"/>
          </p:nvPr>
        </p:nvSpPr>
        <p:spPr>
          <a:xfrm>
            <a:off x="821181" y="3566639"/>
            <a:ext cx="4450079" cy="2610324"/>
          </a:xfrm>
        </p:spPr>
        <p:txBody>
          <a:bodyPr>
            <a:normAutofit lnSpcReduction="10000"/>
          </a:bodyPr>
          <a:lstStyle/>
          <a:p>
            <a:pPr marL="0" indent="0">
              <a:buNone/>
            </a:pPr>
            <a:r>
              <a:rPr lang="fr-FR" sz="1800" dirty="0"/>
              <a:t>Une grille de lecture ne représente pas la réalité dans sa complexité, elle réduit la complexité pour faciliter la prise de décision. La limite de  qualité de prise de décision dépend aussi de la limite de la grille de lecture. </a:t>
            </a:r>
          </a:p>
          <a:p>
            <a:pPr marL="0" indent="0">
              <a:buNone/>
            </a:pPr>
            <a:r>
              <a:rPr lang="fr-FR" sz="1800" dirty="0"/>
              <a:t>La valeur d’une Communauté pour les membres (ce que la Communauté leur apporte) peut être décomposée selon différentes grilles de lecture.</a:t>
            </a:r>
          </a:p>
          <a:p>
            <a:pPr marL="0" indent="0">
              <a:buNone/>
            </a:pPr>
            <a:endParaRPr lang="fr-FR" sz="1800" dirty="0"/>
          </a:p>
          <a:p>
            <a:pPr marL="0" indent="0">
              <a:buNone/>
            </a:pPr>
            <a:endParaRPr lang="fr-FR" sz="1800" dirty="0"/>
          </a:p>
          <a:p>
            <a:endParaRPr lang="fr-FR" sz="1800" dirty="0"/>
          </a:p>
          <a:p>
            <a:endParaRPr lang="fr-FR" sz="1800" dirty="0"/>
          </a:p>
        </p:txBody>
      </p:sp>
      <p:pic>
        <p:nvPicPr>
          <p:cNvPr id="4" name="Image 3">
            <a:extLst>
              <a:ext uri="{FF2B5EF4-FFF2-40B4-BE49-F238E27FC236}">
                <a16:creationId xmlns:a16="http://schemas.microsoft.com/office/drawing/2014/main" id="{DC3755BA-A677-B082-0590-4097E6799F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1104" y="1702441"/>
            <a:ext cx="1120155" cy="1582246"/>
          </a:xfrm>
          <a:prstGeom prst="rect">
            <a:avLst/>
          </a:prstGeom>
        </p:spPr>
      </p:pic>
      <p:pic>
        <p:nvPicPr>
          <p:cNvPr id="5" name="Image 4">
            <a:extLst>
              <a:ext uri="{FF2B5EF4-FFF2-40B4-BE49-F238E27FC236}">
                <a16:creationId xmlns:a16="http://schemas.microsoft.com/office/drawing/2014/main" id="{B9D9492A-B8EF-0B05-8D22-67BC8440F6E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20940" y="1702441"/>
            <a:ext cx="1120155" cy="1582246"/>
          </a:xfrm>
          <a:prstGeom prst="rect">
            <a:avLst/>
          </a:prstGeom>
        </p:spPr>
      </p:pic>
      <p:pic>
        <p:nvPicPr>
          <p:cNvPr id="6" name="Image 5" descr="Une image contenant texte&#10;&#10;Description générée automatiquement">
            <a:extLst>
              <a:ext uri="{FF2B5EF4-FFF2-40B4-BE49-F238E27FC236}">
                <a16:creationId xmlns:a16="http://schemas.microsoft.com/office/drawing/2014/main" id="{749DD59E-18F5-1E65-1461-630A066696F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207372" y="1695766"/>
            <a:ext cx="1120155" cy="1582246"/>
          </a:xfrm>
          <a:prstGeom prst="rect">
            <a:avLst/>
          </a:prstGeom>
        </p:spPr>
      </p:pic>
      <p:pic>
        <p:nvPicPr>
          <p:cNvPr id="7" name="Image 6">
            <a:extLst>
              <a:ext uri="{FF2B5EF4-FFF2-40B4-BE49-F238E27FC236}">
                <a16:creationId xmlns:a16="http://schemas.microsoft.com/office/drawing/2014/main" id="{73B472D6-21E2-02C4-D1CD-32835F5F1E8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546782" y="1695766"/>
            <a:ext cx="1120155" cy="1582246"/>
          </a:xfrm>
          <a:prstGeom prst="rect">
            <a:avLst/>
          </a:prstGeom>
        </p:spPr>
      </p:pic>
      <p:pic>
        <p:nvPicPr>
          <p:cNvPr id="8" name="Image 7">
            <a:extLst>
              <a:ext uri="{FF2B5EF4-FFF2-40B4-BE49-F238E27FC236}">
                <a16:creationId xmlns:a16="http://schemas.microsoft.com/office/drawing/2014/main" id="{09778746-9F15-BF3F-7B89-09DB9C1579C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446008" y="1702441"/>
            <a:ext cx="1120155" cy="1582246"/>
          </a:xfrm>
          <a:prstGeom prst="rect">
            <a:avLst/>
          </a:prstGeom>
        </p:spPr>
      </p:pic>
      <p:pic>
        <p:nvPicPr>
          <p:cNvPr id="9" name="Image 8">
            <a:extLst>
              <a:ext uri="{FF2B5EF4-FFF2-40B4-BE49-F238E27FC236}">
                <a16:creationId xmlns:a16="http://schemas.microsoft.com/office/drawing/2014/main" id="{BDA6E61F-AE78-7BCC-2049-DAECED53ADC0}"/>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814945" y="1702441"/>
            <a:ext cx="1120155" cy="1582246"/>
          </a:xfrm>
          <a:prstGeom prst="rect">
            <a:avLst/>
          </a:prstGeom>
        </p:spPr>
      </p:pic>
      <p:pic>
        <p:nvPicPr>
          <p:cNvPr id="10" name="Image 9" descr="Une image contenant texte&#10;&#10;Description générée automatiquement">
            <a:extLst>
              <a:ext uri="{FF2B5EF4-FFF2-40B4-BE49-F238E27FC236}">
                <a16:creationId xmlns:a16="http://schemas.microsoft.com/office/drawing/2014/main" id="{39A33E98-1DAB-4BAD-BBF5-3D583C90CD4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381401" y="1695766"/>
            <a:ext cx="1120155" cy="1582246"/>
          </a:xfrm>
          <a:prstGeom prst="rect">
            <a:avLst/>
          </a:prstGeom>
        </p:spPr>
      </p:pic>
      <p:pic>
        <p:nvPicPr>
          <p:cNvPr id="11" name="Image 10" descr="Une image contenant texte&#10;&#10;Description générée automatiquement">
            <a:extLst>
              <a:ext uri="{FF2B5EF4-FFF2-40B4-BE49-F238E27FC236}">
                <a16:creationId xmlns:a16="http://schemas.microsoft.com/office/drawing/2014/main" id="{FCA6F830-1518-E798-C401-2F7F6E1BB2B0}"/>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712160" y="1695766"/>
            <a:ext cx="1120155" cy="1582246"/>
          </a:xfrm>
          <a:prstGeom prst="rect">
            <a:avLst/>
          </a:prstGeom>
        </p:spPr>
      </p:pic>
      <p:sp>
        <p:nvSpPr>
          <p:cNvPr id="12" name="Rectangle 11">
            <a:extLst>
              <a:ext uri="{FF2B5EF4-FFF2-40B4-BE49-F238E27FC236}">
                <a16:creationId xmlns:a16="http://schemas.microsoft.com/office/drawing/2014/main" id="{C65FD3D8-4F41-C37E-07D4-57DCF8885989}"/>
              </a:ext>
            </a:extLst>
          </p:cNvPr>
          <p:cNvSpPr/>
          <p:nvPr/>
        </p:nvSpPr>
        <p:spPr>
          <a:xfrm>
            <a:off x="10877538" y="1690688"/>
            <a:ext cx="1120155"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pic>
        <p:nvPicPr>
          <p:cNvPr id="13" name="Image 12" descr="Une image contenant texte&#10;&#10;Description générée automatiquement">
            <a:extLst>
              <a:ext uri="{FF2B5EF4-FFF2-40B4-BE49-F238E27FC236}">
                <a16:creationId xmlns:a16="http://schemas.microsoft.com/office/drawing/2014/main" id="{C80840C3-78B7-F225-E282-25524C23D8D3}"/>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993795" y="1702441"/>
            <a:ext cx="1135830" cy="1588921"/>
          </a:xfrm>
          <a:prstGeom prst="rect">
            <a:avLst/>
          </a:prstGeom>
        </p:spPr>
      </p:pic>
      <p:sp>
        <p:nvSpPr>
          <p:cNvPr id="14" name="Espace réservé du contenu 2">
            <a:extLst>
              <a:ext uri="{FF2B5EF4-FFF2-40B4-BE49-F238E27FC236}">
                <a16:creationId xmlns:a16="http://schemas.microsoft.com/office/drawing/2014/main" id="{A19CC0C1-4235-DBF9-F121-B0EA17459422}"/>
              </a:ext>
            </a:extLst>
          </p:cNvPr>
          <p:cNvSpPr txBox="1">
            <a:spLocks/>
          </p:cNvSpPr>
          <p:nvPr/>
        </p:nvSpPr>
        <p:spPr>
          <a:xfrm>
            <a:off x="6129625" y="3566639"/>
            <a:ext cx="4450079" cy="2610324"/>
          </a:xfrm>
          <a:prstGeom prst="rect">
            <a:avLst/>
          </a:prstGeom>
        </p:spPr>
        <p:txBody>
          <a:bodyPr vert="horz" lIns="91440" tIns="45720" rIns="91440" bIns="45720" rtlCol="0">
            <a:normAutofit fontScale="925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800" dirty="0"/>
              <a:t>Les éléments ci-dessus peuvent être appelés des motivateurs, ou des classes de motivations, des moteurs de motivations ou encore des catégories de motivations. </a:t>
            </a:r>
          </a:p>
          <a:p>
            <a:pPr marL="0" indent="0">
              <a:buFont typeface="Arial" panose="020B0604020202020204" pitchFamily="34" charset="0"/>
              <a:buNone/>
            </a:pPr>
            <a:r>
              <a:rPr lang="fr-FR" sz="1800" dirty="0"/>
              <a:t>C’est une façon de ranger l’information comme une autre, qui n’a pas vocation à avoir une capacité de distinction totalement exclusive (on peut être motivé par une classe et une autre en même temps), mais suffisamment pour bien distinguer des réponses opérationnelles à effectuer dans une Communauté.</a:t>
            </a:r>
          </a:p>
          <a:p>
            <a:pPr marL="0" indent="0">
              <a:buFont typeface="Arial" panose="020B0604020202020204" pitchFamily="34" charset="0"/>
              <a:buNone/>
            </a:pPr>
            <a:endParaRPr lang="fr-FR" sz="1800" dirty="0"/>
          </a:p>
        </p:txBody>
      </p:sp>
    </p:spTree>
    <p:extLst>
      <p:ext uri="{BB962C8B-B14F-4D97-AF65-F5344CB8AC3E}">
        <p14:creationId xmlns:p14="http://schemas.microsoft.com/office/powerpoint/2010/main" val="2889745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p:txBody>
          <a:bodyPr/>
          <a:lstStyle/>
          <a:p>
            <a:r>
              <a:rPr lang="fr-FR" dirty="0"/>
              <a:t>La Valeur pour les membres classée par motivateurs – Liste d’exemples</a:t>
            </a:r>
          </a:p>
        </p:txBody>
      </p:sp>
      <p:pic>
        <p:nvPicPr>
          <p:cNvPr id="25" name="Image 24">
            <a:extLst>
              <a:ext uri="{FF2B5EF4-FFF2-40B4-BE49-F238E27FC236}">
                <a16:creationId xmlns:a16="http://schemas.microsoft.com/office/drawing/2014/main" id="{606255BE-23A7-ADAF-2326-89C7A7C1166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1104" y="1702441"/>
            <a:ext cx="1120155" cy="1582246"/>
          </a:xfrm>
          <a:prstGeom prst="rect">
            <a:avLst/>
          </a:prstGeom>
        </p:spPr>
      </p:pic>
      <p:pic>
        <p:nvPicPr>
          <p:cNvPr id="27" name="Image 26">
            <a:extLst>
              <a:ext uri="{FF2B5EF4-FFF2-40B4-BE49-F238E27FC236}">
                <a16:creationId xmlns:a16="http://schemas.microsoft.com/office/drawing/2014/main" id="{BF0668E5-1F29-C6FB-93FA-4659CD0F7B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20940" y="1702441"/>
            <a:ext cx="1120155" cy="1582246"/>
          </a:xfrm>
          <a:prstGeom prst="rect">
            <a:avLst/>
          </a:prstGeom>
        </p:spPr>
      </p:pic>
      <p:pic>
        <p:nvPicPr>
          <p:cNvPr id="28" name="Image 27" descr="Une image contenant texte&#10;&#10;Description générée automatiquement">
            <a:extLst>
              <a:ext uri="{FF2B5EF4-FFF2-40B4-BE49-F238E27FC236}">
                <a16:creationId xmlns:a16="http://schemas.microsoft.com/office/drawing/2014/main" id="{C52BFFBF-1047-476C-6469-7AF91D6DBF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207372" y="1695766"/>
            <a:ext cx="1120155" cy="1582246"/>
          </a:xfrm>
          <a:prstGeom prst="rect">
            <a:avLst/>
          </a:prstGeom>
        </p:spPr>
      </p:pic>
      <p:pic>
        <p:nvPicPr>
          <p:cNvPr id="29" name="Image 28">
            <a:extLst>
              <a:ext uri="{FF2B5EF4-FFF2-40B4-BE49-F238E27FC236}">
                <a16:creationId xmlns:a16="http://schemas.microsoft.com/office/drawing/2014/main" id="{66A8C156-F0A3-1263-C6C5-F0E1328E750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546782" y="1695766"/>
            <a:ext cx="1120155" cy="1582246"/>
          </a:xfrm>
          <a:prstGeom prst="rect">
            <a:avLst/>
          </a:prstGeom>
        </p:spPr>
      </p:pic>
      <p:pic>
        <p:nvPicPr>
          <p:cNvPr id="30" name="Image 29">
            <a:extLst>
              <a:ext uri="{FF2B5EF4-FFF2-40B4-BE49-F238E27FC236}">
                <a16:creationId xmlns:a16="http://schemas.microsoft.com/office/drawing/2014/main" id="{6E90BE4D-1EA5-ED16-87E6-4E680E0807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446008" y="1702441"/>
            <a:ext cx="1120155" cy="1582246"/>
          </a:xfrm>
          <a:prstGeom prst="rect">
            <a:avLst/>
          </a:prstGeom>
        </p:spPr>
      </p:pic>
      <p:pic>
        <p:nvPicPr>
          <p:cNvPr id="31" name="Image 30">
            <a:extLst>
              <a:ext uri="{FF2B5EF4-FFF2-40B4-BE49-F238E27FC236}">
                <a16:creationId xmlns:a16="http://schemas.microsoft.com/office/drawing/2014/main" id="{A564748B-E5B0-4E9F-7813-01D7C51BCBB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814945" y="1702441"/>
            <a:ext cx="1120155" cy="1582246"/>
          </a:xfrm>
          <a:prstGeom prst="rect">
            <a:avLst/>
          </a:prstGeom>
        </p:spPr>
      </p:pic>
      <p:pic>
        <p:nvPicPr>
          <p:cNvPr id="32" name="Image 31" descr="Une image contenant texte&#10;&#10;Description générée automatiquement">
            <a:extLst>
              <a:ext uri="{FF2B5EF4-FFF2-40B4-BE49-F238E27FC236}">
                <a16:creationId xmlns:a16="http://schemas.microsoft.com/office/drawing/2014/main" id="{85BA04D4-8763-76EF-5EFF-C98B2E55124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381401" y="1695766"/>
            <a:ext cx="1120155" cy="1582246"/>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1C07BFD-8376-7366-5CAE-D9628DFEBEB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712160" y="1695766"/>
            <a:ext cx="1120155" cy="1582246"/>
          </a:xfrm>
          <a:prstGeom prst="rect">
            <a:avLst/>
          </a:prstGeom>
        </p:spPr>
      </p:pic>
      <p:sp>
        <p:nvSpPr>
          <p:cNvPr id="23" name="Rectangle 22">
            <a:extLst>
              <a:ext uri="{FF2B5EF4-FFF2-40B4-BE49-F238E27FC236}">
                <a16:creationId xmlns:a16="http://schemas.microsoft.com/office/drawing/2014/main" id="{8785686C-6C65-349C-E5F0-7D45B22ECC42}"/>
              </a:ext>
            </a:extLst>
          </p:cNvPr>
          <p:cNvSpPr/>
          <p:nvPr/>
        </p:nvSpPr>
        <p:spPr>
          <a:xfrm>
            <a:off x="261105" y="3311592"/>
            <a:ext cx="1120155" cy="71559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💰Plus grandes chances de primes ou d’affaires</a:t>
            </a:r>
          </a:p>
        </p:txBody>
      </p:sp>
      <p:sp>
        <p:nvSpPr>
          <p:cNvPr id="42" name="Rectangle 41">
            <a:extLst>
              <a:ext uri="{FF2B5EF4-FFF2-40B4-BE49-F238E27FC236}">
                <a16:creationId xmlns:a16="http://schemas.microsoft.com/office/drawing/2014/main" id="{D5B4002B-AE18-2BAE-0D73-078BB2432DAD}"/>
              </a:ext>
            </a:extLst>
          </p:cNvPr>
          <p:cNvSpPr/>
          <p:nvPr/>
        </p:nvSpPr>
        <p:spPr>
          <a:xfrm>
            <a:off x="10877538" y="1690688"/>
            <a:ext cx="1120155"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sp>
        <p:nvSpPr>
          <p:cNvPr id="20" name="Rectangle 19">
            <a:extLst>
              <a:ext uri="{FF2B5EF4-FFF2-40B4-BE49-F238E27FC236}">
                <a16:creationId xmlns:a16="http://schemas.microsoft.com/office/drawing/2014/main" id="{254AF95D-E676-D218-A09B-B3D10BF889B3}"/>
              </a:ext>
            </a:extLst>
          </p:cNvPr>
          <p:cNvSpPr/>
          <p:nvPr/>
        </p:nvSpPr>
        <p:spPr>
          <a:xfrm>
            <a:off x="261104" y="4100056"/>
            <a:ext cx="1120155" cy="512167"/>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des cadeaux, des réductions</a:t>
            </a:r>
          </a:p>
        </p:txBody>
      </p:sp>
      <p:sp>
        <p:nvSpPr>
          <p:cNvPr id="22" name="Rectangle 21">
            <a:extLst>
              <a:ext uri="{FF2B5EF4-FFF2-40B4-BE49-F238E27FC236}">
                <a16:creationId xmlns:a16="http://schemas.microsoft.com/office/drawing/2014/main" id="{262F40F8-78BF-1AD0-2EBC-178BCFAA5376}"/>
              </a:ext>
            </a:extLst>
          </p:cNvPr>
          <p:cNvSpPr/>
          <p:nvPr/>
        </p:nvSpPr>
        <p:spPr>
          <a:xfrm>
            <a:off x="1446009" y="3311592"/>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👍Reconnaissance par les pairs (même métier)</a:t>
            </a:r>
          </a:p>
        </p:txBody>
      </p:sp>
      <p:sp>
        <p:nvSpPr>
          <p:cNvPr id="24" name="Rectangle 23">
            <a:extLst>
              <a:ext uri="{FF2B5EF4-FFF2-40B4-BE49-F238E27FC236}">
                <a16:creationId xmlns:a16="http://schemas.microsoft.com/office/drawing/2014/main" id="{E62F321B-D6B3-38DC-BDE4-D657ED594B39}"/>
              </a:ext>
            </a:extLst>
          </p:cNvPr>
          <p:cNvSpPr/>
          <p:nvPr/>
        </p:nvSpPr>
        <p:spPr>
          <a:xfrm>
            <a:off x="1446008" y="3812150"/>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📛Reconnaissance par l’entreprise</a:t>
            </a:r>
          </a:p>
        </p:txBody>
      </p:sp>
      <p:sp>
        <p:nvSpPr>
          <p:cNvPr id="26" name="Rectangle 25">
            <a:extLst>
              <a:ext uri="{FF2B5EF4-FFF2-40B4-BE49-F238E27FC236}">
                <a16:creationId xmlns:a16="http://schemas.microsoft.com/office/drawing/2014/main" id="{1D47CEA4-C38A-F967-6F57-C6A4BDB7737D}"/>
              </a:ext>
            </a:extLst>
          </p:cNvPr>
          <p:cNvSpPr/>
          <p:nvPr/>
        </p:nvSpPr>
        <p:spPr>
          <a:xfrm>
            <a:off x="1446008" y="4312708"/>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🎖️Reconnaissance par les experts</a:t>
            </a:r>
          </a:p>
        </p:txBody>
      </p:sp>
      <p:sp>
        <p:nvSpPr>
          <p:cNvPr id="41" name="Rectangle 40">
            <a:extLst>
              <a:ext uri="{FF2B5EF4-FFF2-40B4-BE49-F238E27FC236}">
                <a16:creationId xmlns:a16="http://schemas.microsoft.com/office/drawing/2014/main" id="{31CEAA71-918B-1C27-EEFC-1F1AB26EFFF0}"/>
              </a:ext>
            </a:extLst>
          </p:cNvPr>
          <p:cNvSpPr/>
          <p:nvPr/>
        </p:nvSpPr>
        <p:spPr>
          <a:xfrm>
            <a:off x="1446008" y="4813266"/>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📰Reconnaissance à l’extérieur de l’entreprise</a:t>
            </a:r>
          </a:p>
        </p:txBody>
      </p:sp>
      <p:sp>
        <p:nvSpPr>
          <p:cNvPr id="43" name="Rectangle 42">
            <a:extLst>
              <a:ext uri="{FF2B5EF4-FFF2-40B4-BE49-F238E27FC236}">
                <a16:creationId xmlns:a16="http://schemas.microsoft.com/office/drawing/2014/main" id="{9D6838ED-DFCB-42A1-F12F-517AC269DE69}"/>
              </a:ext>
            </a:extLst>
          </p:cNvPr>
          <p:cNvSpPr/>
          <p:nvPr/>
        </p:nvSpPr>
        <p:spPr>
          <a:xfrm>
            <a:off x="1446008" y="5313824"/>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👏Reconnaissance par les collègues non pairs</a:t>
            </a:r>
          </a:p>
        </p:txBody>
      </p:sp>
      <p:sp>
        <p:nvSpPr>
          <p:cNvPr id="44" name="Rectangle 43">
            <a:extLst>
              <a:ext uri="{FF2B5EF4-FFF2-40B4-BE49-F238E27FC236}">
                <a16:creationId xmlns:a16="http://schemas.microsoft.com/office/drawing/2014/main" id="{8DEDED8D-02D0-129D-4C8F-D2D61A9E917E}"/>
              </a:ext>
            </a:extLst>
          </p:cNvPr>
          <p:cNvSpPr/>
          <p:nvPr/>
        </p:nvSpPr>
        <p:spPr>
          <a:xfrm>
            <a:off x="8546780" y="6245670"/>
            <a:ext cx="1120155" cy="54941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Pouvoir associé à certains niveaux de reconnaissance</a:t>
            </a:r>
          </a:p>
        </p:txBody>
      </p:sp>
      <p:sp>
        <p:nvSpPr>
          <p:cNvPr id="45" name="Rectangle 44">
            <a:extLst>
              <a:ext uri="{FF2B5EF4-FFF2-40B4-BE49-F238E27FC236}">
                <a16:creationId xmlns:a16="http://schemas.microsoft.com/office/drawing/2014/main" id="{5182CE74-2515-99CB-36E9-7D59E4AF3805}"/>
              </a:ext>
            </a:extLst>
          </p:cNvPr>
          <p:cNvSpPr/>
          <p:nvPr/>
        </p:nvSpPr>
        <p:spPr>
          <a:xfrm>
            <a:off x="8546783" y="3308657"/>
            <a:ext cx="1120155" cy="7361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des activités restreintes en dehors de la communauté</a:t>
            </a:r>
          </a:p>
        </p:txBody>
      </p:sp>
      <p:sp>
        <p:nvSpPr>
          <p:cNvPr id="46" name="Rectangle 45">
            <a:extLst>
              <a:ext uri="{FF2B5EF4-FFF2-40B4-BE49-F238E27FC236}">
                <a16:creationId xmlns:a16="http://schemas.microsoft.com/office/drawing/2014/main" id="{B795218E-52AA-9250-43FD-BBE8E50D51FF}"/>
              </a:ext>
            </a:extLst>
          </p:cNvPr>
          <p:cNvSpPr/>
          <p:nvPr/>
        </p:nvSpPr>
        <p:spPr>
          <a:xfrm>
            <a:off x="2620942" y="3330118"/>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🎆Activités stimulantes</a:t>
            </a:r>
          </a:p>
        </p:txBody>
      </p:sp>
      <p:sp>
        <p:nvSpPr>
          <p:cNvPr id="47" name="Rectangle 46">
            <a:extLst>
              <a:ext uri="{FF2B5EF4-FFF2-40B4-BE49-F238E27FC236}">
                <a16:creationId xmlns:a16="http://schemas.microsoft.com/office/drawing/2014/main" id="{20DCF461-6C01-743C-B5FE-7CBA67209F76}"/>
              </a:ext>
            </a:extLst>
          </p:cNvPr>
          <p:cNvSpPr/>
          <p:nvPr/>
        </p:nvSpPr>
        <p:spPr>
          <a:xfrm>
            <a:off x="2620942" y="3829597"/>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💡Sujets stimulants</a:t>
            </a:r>
          </a:p>
        </p:txBody>
      </p:sp>
      <p:sp>
        <p:nvSpPr>
          <p:cNvPr id="48" name="Rectangle 47">
            <a:extLst>
              <a:ext uri="{FF2B5EF4-FFF2-40B4-BE49-F238E27FC236}">
                <a16:creationId xmlns:a16="http://schemas.microsoft.com/office/drawing/2014/main" id="{C2103D8C-9C69-BDAD-E065-9C217A73C093}"/>
              </a:ext>
            </a:extLst>
          </p:cNvPr>
          <p:cNvSpPr/>
          <p:nvPr/>
        </p:nvSpPr>
        <p:spPr>
          <a:xfrm>
            <a:off x="2620942" y="4329076"/>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🤫Activités apaisantes ou reposantes</a:t>
            </a:r>
          </a:p>
        </p:txBody>
      </p:sp>
      <p:sp>
        <p:nvSpPr>
          <p:cNvPr id="49" name="Rectangle 48">
            <a:extLst>
              <a:ext uri="{FF2B5EF4-FFF2-40B4-BE49-F238E27FC236}">
                <a16:creationId xmlns:a16="http://schemas.microsoft.com/office/drawing/2014/main" id="{107727B2-E20D-9B7F-9F15-5F1EF9F2CC01}"/>
              </a:ext>
            </a:extLst>
          </p:cNvPr>
          <p:cNvSpPr/>
          <p:nvPr/>
        </p:nvSpPr>
        <p:spPr>
          <a:xfrm>
            <a:off x="2620942" y="4828555"/>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⛱️Sujets apaisants ou reposants</a:t>
            </a:r>
          </a:p>
        </p:txBody>
      </p:sp>
      <p:sp>
        <p:nvSpPr>
          <p:cNvPr id="50" name="Rectangle 49">
            <a:extLst>
              <a:ext uri="{FF2B5EF4-FFF2-40B4-BE49-F238E27FC236}">
                <a16:creationId xmlns:a16="http://schemas.microsoft.com/office/drawing/2014/main" id="{9EB9A312-5BD7-78DF-055A-319045CAE2A5}"/>
              </a:ext>
            </a:extLst>
          </p:cNvPr>
          <p:cNvSpPr/>
          <p:nvPr/>
        </p:nvSpPr>
        <p:spPr>
          <a:xfrm>
            <a:off x="2620941" y="5328035"/>
            <a:ext cx="1120155" cy="72831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👍🏼Opportunités de sécurité psychologique accrue</a:t>
            </a:r>
          </a:p>
        </p:txBody>
      </p:sp>
      <p:sp>
        <p:nvSpPr>
          <p:cNvPr id="51" name="Rectangle 50">
            <a:extLst>
              <a:ext uri="{FF2B5EF4-FFF2-40B4-BE49-F238E27FC236}">
                <a16:creationId xmlns:a16="http://schemas.microsoft.com/office/drawing/2014/main" id="{E1430CD7-CB52-194A-CC07-E841A2971A4A}"/>
              </a:ext>
            </a:extLst>
          </p:cNvPr>
          <p:cNvSpPr/>
          <p:nvPr/>
        </p:nvSpPr>
        <p:spPr>
          <a:xfrm>
            <a:off x="3814943" y="3315332"/>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👋Nouvelles rencontres</a:t>
            </a:r>
          </a:p>
        </p:txBody>
      </p:sp>
      <p:sp>
        <p:nvSpPr>
          <p:cNvPr id="52" name="Rectangle 51">
            <a:extLst>
              <a:ext uri="{FF2B5EF4-FFF2-40B4-BE49-F238E27FC236}">
                <a16:creationId xmlns:a16="http://schemas.microsoft.com/office/drawing/2014/main" id="{BAAE4060-1D66-73F7-08AD-EC81DD280657}"/>
              </a:ext>
            </a:extLst>
          </p:cNvPr>
          <p:cNvSpPr/>
          <p:nvPr/>
        </p:nvSpPr>
        <p:spPr>
          <a:xfrm>
            <a:off x="3814943" y="3764232"/>
            <a:ext cx="1120155" cy="60029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Approfondissement de relations existantes</a:t>
            </a:r>
          </a:p>
        </p:txBody>
      </p:sp>
      <p:sp>
        <p:nvSpPr>
          <p:cNvPr id="53" name="Rectangle 52">
            <a:extLst>
              <a:ext uri="{FF2B5EF4-FFF2-40B4-BE49-F238E27FC236}">
                <a16:creationId xmlns:a16="http://schemas.microsoft.com/office/drawing/2014/main" id="{C7EA7C87-EAF5-BEFC-E228-C37A62A84766}"/>
              </a:ext>
            </a:extLst>
          </p:cNvPr>
          <p:cNvSpPr/>
          <p:nvPr/>
        </p:nvSpPr>
        <p:spPr>
          <a:xfrm>
            <a:off x="3797203" y="4401921"/>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🏠Sentiment d’appartenance</a:t>
            </a:r>
          </a:p>
        </p:txBody>
      </p:sp>
      <p:sp>
        <p:nvSpPr>
          <p:cNvPr id="54" name="Rectangle 53">
            <a:extLst>
              <a:ext uri="{FF2B5EF4-FFF2-40B4-BE49-F238E27FC236}">
                <a16:creationId xmlns:a16="http://schemas.microsoft.com/office/drawing/2014/main" id="{79D3FCD0-33A0-A854-5A6B-6B8946438272}"/>
              </a:ext>
            </a:extLst>
          </p:cNvPr>
          <p:cNvSpPr/>
          <p:nvPr/>
        </p:nvSpPr>
        <p:spPr>
          <a:xfrm>
            <a:off x="3814944" y="4884833"/>
            <a:ext cx="1120155" cy="447837"/>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🗩Interactions riches humainement</a:t>
            </a:r>
          </a:p>
        </p:txBody>
      </p:sp>
      <p:sp>
        <p:nvSpPr>
          <p:cNvPr id="56" name="Rectangle 55">
            <a:extLst>
              <a:ext uri="{FF2B5EF4-FFF2-40B4-BE49-F238E27FC236}">
                <a16:creationId xmlns:a16="http://schemas.microsoft.com/office/drawing/2014/main" id="{5FC75076-8F17-57F8-6CED-7132CFB27842}"/>
              </a:ext>
            </a:extLst>
          </p:cNvPr>
          <p:cNvSpPr/>
          <p:nvPr/>
        </p:nvSpPr>
        <p:spPr>
          <a:xfrm>
            <a:off x="3814944" y="5394434"/>
            <a:ext cx="1120155" cy="540928"/>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des personnes de qualité</a:t>
            </a:r>
          </a:p>
        </p:txBody>
      </p:sp>
      <p:sp>
        <p:nvSpPr>
          <p:cNvPr id="57" name="Rectangle 56">
            <a:extLst>
              <a:ext uri="{FF2B5EF4-FFF2-40B4-BE49-F238E27FC236}">
                <a16:creationId xmlns:a16="http://schemas.microsoft.com/office/drawing/2014/main" id="{24DB4EFD-9762-17CF-F428-29D587293B41}"/>
              </a:ext>
            </a:extLst>
          </p:cNvPr>
          <p:cNvSpPr/>
          <p:nvPr/>
        </p:nvSpPr>
        <p:spPr>
          <a:xfrm>
            <a:off x="3814943" y="5997126"/>
            <a:ext cx="1120155" cy="72831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d’autres formes de relations (ex: collaboration différente, etc.)</a:t>
            </a:r>
          </a:p>
        </p:txBody>
      </p:sp>
      <p:sp>
        <p:nvSpPr>
          <p:cNvPr id="58" name="Rectangle 57">
            <a:extLst>
              <a:ext uri="{FF2B5EF4-FFF2-40B4-BE49-F238E27FC236}">
                <a16:creationId xmlns:a16="http://schemas.microsoft.com/office/drawing/2014/main" id="{7EB0CB24-3302-F8E7-E41E-95C51613B99B}"/>
              </a:ext>
            </a:extLst>
          </p:cNvPr>
          <p:cNvSpPr/>
          <p:nvPr/>
        </p:nvSpPr>
        <p:spPr>
          <a:xfrm>
            <a:off x="6207373" y="3322672"/>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valeur d’un vécu ou d’expériences</a:t>
            </a:r>
          </a:p>
        </p:txBody>
      </p:sp>
      <p:sp>
        <p:nvSpPr>
          <p:cNvPr id="59" name="Rectangle 58">
            <a:extLst>
              <a:ext uri="{FF2B5EF4-FFF2-40B4-BE49-F238E27FC236}">
                <a16:creationId xmlns:a16="http://schemas.microsoft.com/office/drawing/2014/main" id="{1E7E8004-425F-2DB2-DCC8-5FE9D4DE749F}"/>
              </a:ext>
            </a:extLst>
          </p:cNvPr>
          <p:cNvSpPr/>
          <p:nvPr/>
        </p:nvSpPr>
        <p:spPr>
          <a:xfrm>
            <a:off x="6207373" y="3802637"/>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Opportunités de Transmission</a:t>
            </a:r>
          </a:p>
        </p:txBody>
      </p:sp>
      <p:sp>
        <p:nvSpPr>
          <p:cNvPr id="60" name="Rectangle 59">
            <a:extLst>
              <a:ext uri="{FF2B5EF4-FFF2-40B4-BE49-F238E27FC236}">
                <a16:creationId xmlns:a16="http://schemas.microsoft.com/office/drawing/2014/main" id="{5F46370F-8F51-3430-8AE3-71FFCD889464}"/>
              </a:ext>
            </a:extLst>
          </p:cNvPr>
          <p:cNvSpPr/>
          <p:nvPr/>
        </p:nvSpPr>
        <p:spPr>
          <a:xfrm>
            <a:off x="6207373" y="4282602"/>
            <a:ext cx="1120155" cy="43037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🌍Possibilité de contribuer à certaines causes</a:t>
            </a:r>
          </a:p>
        </p:txBody>
      </p:sp>
      <p:sp>
        <p:nvSpPr>
          <p:cNvPr id="61" name="Rectangle 60">
            <a:extLst>
              <a:ext uri="{FF2B5EF4-FFF2-40B4-BE49-F238E27FC236}">
                <a16:creationId xmlns:a16="http://schemas.microsoft.com/office/drawing/2014/main" id="{44F08D7C-2D9A-D453-76CB-E2E7971045BA}"/>
              </a:ext>
            </a:extLst>
          </p:cNvPr>
          <p:cNvSpPr/>
          <p:nvPr/>
        </p:nvSpPr>
        <p:spPr>
          <a:xfrm>
            <a:off x="6187400" y="4762567"/>
            <a:ext cx="1120155" cy="698908"/>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👀Constat du sens de certaines activités du quotidien</a:t>
            </a:r>
          </a:p>
        </p:txBody>
      </p:sp>
      <p:sp>
        <p:nvSpPr>
          <p:cNvPr id="63" name="Rectangle 62">
            <a:extLst>
              <a:ext uri="{FF2B5EF4-FFF2-40B4-BE49-F238E27FC236}">
                <a16:creationId xmlns:a16="http://schemas.microsoft.com/office/drawing/2014/main" id="{7DF61521-2043-BA34-9792-C9E2D39B8D16}"/>
              </a:ext>
            </a:extLst>
          </p:cNvPr>
          <p:cNvSpPr/>
          <p:nvPr/>
        </p:nvSpPr>
        <p:spPr>
          <a:xfrm>
            <a:off x="6187399" y="5511066"/>
            <a:ext cx="1120155" cy="68501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💁🏻Activités à impact direct et plus facilement visible</a:t>
            </a:r>
          </a:p>
        </p:txBody>
      </p:sp>
      <p:sp>
        <p:nvSpPr>
          <p:cNvPr id="64" name="Rectangle 63">
            <a:extLst>
              <a:ext uri="{FF2B5EF4-FFF2-40B4-BE49-F238E27FC236}">
                <a16:creationId xmlns:a16="http://schemas.microsoft.com/office/drawing/2014/main" id="{C52682BD-8114-5106-714B-A8F7112C4C54}"/>
              </a:ext>
            </a:extLst>
          </p:cNvPr>
          <p:cNvSpPr/>
          <p:nvPr/>
        </p:nvSpPr>
        <p:spPr>
          <a:xfrm>
            <a:off x="6187398" y="6245670"/>
            <a:ext cx="1120155" cy="432438"/>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🤍Sentiment de contribution</a:t>
            </a:r>
          </a:p>
        </p:txBody>
      </p:sp>
      <p:sp>
        <p:nvSpPr>
          <p:cNvPr id="65" name="Rectangle 64">
            <a:extLst>
              <a:ext uri="{FF2B5EF4-FFF2-40B4-BE49-F238E27FC236}">
                <a16:creationId xmlns:a16="http://schemas.microsoft.com/office/drawing/2014/main" id="{B58AE5A8-0239-7149-F2A3-A97B2F57FE55}"/>
              </a:ext>
            </a:extLst>
          </p:cNvPr>
          <p:cNvSpPr/>
          <p:nvPr/>
        </p:nvSpPr>
        <p:spPr>
          <a:xfrm>
            <a:off x="7381402" y="3315996"/>
            <a:ext cx="1120155" cy="51066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💻Développement de compétences professionnelles</a:t>
            </a:r>
          </a:p>
        </p:txBody>
      </p:sp>
      <p:sp>
        <p:nvSpPr>
          <p:cNvPr id="66" name="Rectangle 65">
            <a:extLst>
              <a:ext uri="{FF2B5EF4-FFF2-40B4-BE49-F238E27FC236}">
                <a16:creationId xmlns:a16="http://schemas.microsoft.com/office/drawing/2014/main" id="{49390C86-5F43-72AB-DBE9-57DE5131089A}"/>
              </a:ext>
            </a:extLst>
          </p:cNvPr>
          <p:cNvSpPr/>
          <p:nvPr/>
        </p:nvSpPr>
        <p:spPr>
          <a:xfrm>
            <a:off x="7381402" y="3890423"/>
            <a:ext cx="1120155" cy="51066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🧠Développement de compétences personnelles</a:t>
            </a:r>
          </a:p>
        </p:txBody>
      </p:sp>
      <p:sp>
        <p:nvSpPr>
          <p:cNvPr id="67" name="Rectangle 66">
            <a:extLst>
              <a:ext uri="{FF2B5EF4-FFF2-40B4-BE49-F238E27FC236}">
                <a16:creationId xmlns:a16="http://schemas.microsoft.com/office/drawing/2014/main" id="{54A59647-2753-E41F-9636-EA5FC2307D78}"/>
              </a:ext>
            </a:extLst>
          </p:cNvPr>
          <p:cNvSpPr/>
          <p:nvPr/>
        </p:nvSpPr>
        <p:spPr>
          <a:xfrm>
            <a:off x="7381402" y="4450505"/>
            <a:ext cx="1120155" cy="87459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certaines ressources et opportunités de développement de compétences </a:t>
            </a:r>
          </a:p>
        </p:txBody>
      </p:sp>
      <p:sp>
        <p:nvSpPr>
          <p:cNvPr id="68" name="Rectangle 67">
            <a:extLst>
              <a:ext uri="{FF2B5EF4-FFF2-40B4-BE49-F238E27FC236}">
                <a16:creationId xmlns:a16="http://schemas.microsoft.com/office/drawing/2014/main" id="{617706B1-52AA-7B57-381D-960ACFB98CC6}"/>
              </a:ext>
            </a:extLst>
          </p:cNvPr>
          <p:cNvSpPr/>
          <p:nvPr/>
        </p:nvSpPr>
        <p:spPr>
          <a:xfrm>
            <a:off x="7381402" y="5364400"/>
            <a:ext cx="1120155" cy="62605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🔥Motivation mutuelle pour atteindre des objectifs</a:t>
            </a:r>
          </a:p>
        </p:txBody>
      </p:sp>
      <p:sp>
        <p:nvSpPr>
          <p:cNvPr id="69" name="Rectangle 68">
            <a:extLst>
              <a:ext uri="{FF2B5EF4-FFF2-40B4-BE49-F238E27FC236}">
                <a16:creationId xmlns:a16="http://schemas.microsoft.com/office/drawing/2014/main" id="{01A8C9C3-A60F-7F15-205F-3AC9DB8799C7}"/>
              </a:ext>
            </a:extLst>
          </p:cNvPr>
          <p:cNvSpPr/>
          <p:nvPr/>
        </p:nvSpPr>
        <p:spPr>
          <a:xfrm>
            <a:off x="7381402" y="6045382"/>
            <a:ext cx="1120155" cy="62605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de nouvelles opportunités de réussite</a:t>
            </a:r>
          </a:p>
        </p:txBody>
      </p:sp>
      <p:sp>
        <p:nvSpPr>
          <p:cNvPr id="70" name="Rectangle 69">
            <a:extLst>
              <a:ext uri="{FF2B5EF4-FFF2-40B4-BE49-F238E27FC236}">
                <a16:creationId xmlns:a16="http://schemas.microsoft.com/office/drawing/2014/main" id="{81B4BE6E-19B0-B496-5F21-D7CB21F2D2D8}"/>
              </a:ext>
            </a:extLst>
          </p:cNvPr>
          <p:cNvSpPr/>
          <p:nvPr/>
        </p:nvSpPr>
        <p:spPr>
          <a:xfrm>
            <a:off x="8546781" y="4100056"/>
            <a:ext cx="1120155" cy="685012"/>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✈️Niveau de liberté accru / soutien pour certaines activités</a:t>
            </a:r>
          </a:p>
        </p:txBody>
      </p:sp>
      <p:sp>
        <p:nvSpPr>
          <p:cNvPr id="71" name="Rectangle 70">
            <a:extLst>
              <a:ext uri="{FF2B5EF4-FFF2-40B4-BE49-F238E27FC236}">
                <a16:creationId xmlns:a16="http://schemas.microsoft.com/office/drawing/2014/main" id="{27F3FD99-43EA-CA38-40E0-D5A6F9B49EEC}"/>
              </a:ext>
            </a:extLst>
          </p:cNvPr>
          <p:cNvSpPr/>
          <p:nvPr/>
        </p:nvSpPr>
        <p:spPr>
          <a:xfrm>
            <a:off x="8546781" y="4840298"/>
            <a:ext cx="1120155" cy="66409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des moyens permettant de gagner du temps</a:t>
            </a:r>
          </a:p>
        </p:txBody>
      </p:sp>
      <p:sp>
        <p:nvSpPr>
          <p:cNvPr id="72" name="Rectangle 71">
            <a:extLst>
              <a:ext uri="{FF2B5EF4-FFF2-40B4-BE49-F238E27FC236}">
                <a16:creationId xmlns:a16="http://schemas.microsoft.com/office/drawing/2014/main" id="{7281F9CD-1B63-0056-E113-A29BA8A98849}"/>
              </a:ext>
            </a:extLst>
          </p:cNvPr>
          <p:cNvSpPr/>
          <p:nvPr/>
        </p:nvSpPr>
        <p:spPr>
          <a:xfrm>
            <a:off x="8546781" y="5559621"/>
            <a:ext cx="1120155" cy="66409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⏳Temps libre pour travailler sur certaines activités</a:t>
            </a:r>
          </a:p>
        </p:txBody>
      </p:sp>
      <p:sp>
        <p:nvSpPr>
          <p:cNvPr id="73" name="Rectangle 72">
            <a:extLst>
              <a:ext uri="{FF2B5EF4-FFF2-40B4-BE49-F238E27FC236}">
                <a16:creationId xmlns:a16="http://schemas.microsoft.com/office/drawing/2014/main" id="{5DE30060-488D-7898-DA01-C84AEEC46E37}"/>
              </a:ext>
            </a:extLst>
          </p:cNvPr>
          <p:cNvSpPr/>
          <p:nvPr/>
        </p:nvSpPr>
        <p:spPr>
          <a:xfrm>
            <a:off x="9712161" y="3312256"/>
            <a:ext cx="1120155" cy="66409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des outils et moyens d’expression</a:t>
            </a:r>
          </a:p>
        </p:txBody>
      </p:sp>
      <p:sp>
        <p:nvSpPr>
          <p:cNvPr id="74" name="Rectangle 73">
            <a:extLst>
              <a:ext uri="{FF2B5EF4-FFF2-40B4-BE49-F238E27FC236}">
                <a16:creationId xmlns:a16="http://schemas.microsoft.com/office/drawing/2014/main" id="{EC4BB0C8-7A47-0EA9-D5D9-5CCB982E5C84}"/>
              </a:ext>
            </a:extLst>
          </p:cNvPr>
          <p:cNvSpPr/>
          <p:nvPr/>
        </p:nvSpPr>
        <p:spPr>
          <a:xfrm>
            <a:off x="9712157" y="3999824"/>
            <a:ext cx="1120155" cy="87459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des opportunités d’exprimer son avis ou sa position</a:t>
            </a:r>
          </a:p>
        </p:txBody>
      </p:sp>
      <p:sp>
        <p:nvSpPr>
          <p:cNvPr id="75" name="Rectangle 74">
            <a:extLst>
              <a:ext uri="{FF2B5EF4-FFF2-40B4-BE49-F238E27FC236}">
                <a16:creationId xmlns:a16="http://schemas.microsoft.com/office/drawing/2014/main" id="{0CCE4700-EB9D-3DA2-FE46-AC938DE34A0A}"/>
              </a:ext>
            </a:extLst>
          </p:cNvPr>
          <p:cNvSpPr/>
          <p:nvPr/>
        </p:nvSpPr>
        <p:spPr>
          <a:xfrm>
            <a:off x="9712156" y="4901617"/>
            <a:ext cx="1120155" cy="87459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des publics prêts à recevoir certaines formes d’expression</a:t>
            </a:r>
          </a:p>
        </p:txBody>
      </p:sp>
      <p:pic>
        <p:nvPicPr>
          <p:cNvPr id="55" name="Image 54" descr="Une image contenant texte&#10;&#10;Description générée automatiquement">
            <a:extLst>
              <a:ext uri="{FF2B5EF4-FFF2-40B4-BE49-F238E27FC236}">
                <a16:creationId xmlns:a16="http://schemas.microsoft.com/office/drawing/2014/main" id="{DA501538-118F-0D88-B78B-6F0A5EC7490C}"/>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993795" y="1702441"/>
            <a:ext cx="1135830" cy="1588921"/>
          </a:xfrm>
          <a:prstGeom prst="rect">
            <a:avLst/>
          </a:prstGeom>
        </p:spPr>
      </p:pic>
      <p:sp>
        <p:nvSpPr>
          <p:cNvPr id="62" name="Rectangle 61">
            <a:extLst>
              <a:ext uri="{FF2B5EF4-FFF2-40B4-BE49-F238E27FC236}">
                <a16:creationId xmlns:a16="http://schemas.microsoft.com/office/drawing/2014/main" id="{8413B64A-8863-E2CF-B00C-4AE684D3551E}"/>
              </a:ext>
            </a:extLst>
          </p:cNvPr>
          <p:cNvSpPr/>
          <p:nvPr/>
        </p:nvSpPr>
        <p:spPr>
          <a:xfrm>
            <a:off x="5008944" y="3324521"/>
            <a:ext cx="1120155" cy="565902"/>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🆘Soutien sur des problématiques du quotidien professionnel</a:t>
            </a:r>
          </a:p>
        </p:txBody>
      </p:sp>
      <p:sp>
        <p:nvSpPr>
          <p:cNvPr id="76" name="Rectangle 75">
            <a:extLst>
              <a:ext uri="{FF2B5EF4-FFF2-40B4-BE49-F238E27FC236}">
                <a16:creationId xmlns:a16="http://schemas.microsoft.com/office/drawing/2014/main" id="{4DEAC82A-09CC-03A9-6AD2-01DA925B2FB6}"/>
              </a:ext>
            </a:extLst>
          </p:cNvPr>
          <p:cNvSpPr/>
          <p:nvPr/>
        </p:nvSpPr>
        <p:spPr>
          <a:xfrm>
            <a:off x="5001632" y="3946680"/>
            <a:ext cx="1120155" cy="565902"/>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💡Trucs et astuces pouvant débloquer ou accélérer le travail</a:t>
            </a:r>
          </a:p>
        </p:txBody>
      </p:sp>
      <p:sp>
        <p:nvSpPr>
          <p:cNvPr id="77" name="Rectangle 76">
            <a:extLst>
              <a:ext uri="{FF2B5EF4-FFF2-40B4-BE49-F238E27FC236}">
                <a16:creationId xmlns:a16="http://schemas.microsoft.com/office/drawing/2014/main" id="{0647424D-7AD5-1CD7-E36F-D1B35E4A1BFE}"/>
              </a:ext>
            </a:extLst>
          </p:cNvPr>
          <p:cNvSpPr/>
          <p:nvPr/>
        </p:nvSpPr>
        <p:spPr>
          <a:xfrm>
            <a:off x="5001632" y="4568838"/>
            <a:ext cx="1120155" cy="82559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des décisions collectives pouvant débloquer ou accélérer le travail</a:t>
            </a:r>
          </a:p>
        </p:txBody>
      </p:sp>
      <p:grpSp>
        <p:nvGrpSpPr>
          <p:cNvPr id="79" name="Groupe 78">
            <a:extLst>
              <a:ext uri="{FF2B5EF4-FFF2-40B4-BE49-F238E27FC236}">
                <a16:creationId xmlns:a16="http://schemas.microsoft.com/office/drawing/2014/main" id="{1AA009B8-3F9D-C71C-C236-F45D4F034F71}"/>
              </a:ext>
            </a:extLst>
          </p:cNvPr>
          <p:cNvGrpSpPr/>
          <p:nvPr/>
        </p:nvGrpSpPr>
        <p:grpSpPr>
          <a:xfrm>
            <a:off x="121640" y="511444"/>
            <a:ext cx="756159" cy="637502"/>
            <a:chOff x="8982504" y="3274976"/>
            <a:chExt cx="1230670" cy="1037553"/>
          </a:xfrm>
          <a:solidFill>
            <a:srgbClr val="ED7D31"/>
          </a:solidFill>
        </p:grpSpPr>
        <p:pic>
          <p:nvPicPr>
            <p:cNvPr id="80" name="Graphique 79" descr="Utilisateur avec un remplissage uni">
              <a:extLst>
                <a:ext uri="{FF2B5EF4-FFF2-40B4-BE49-F238E27FC236}">
                  <a16:creationId xmlns:a16="http://schemas.microsoft.com/office/drawing/2014/main" id="{34D7ACE9-7DA7-3377-C649-5369DB24381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01028" y="3274976"/>
              <a:ext cx="336064" cy="336064"/>
            </a:xfrm>
            <a:prstGeom prst="rect">
              <a:avLst/>
            </a:prstGeom>
          </p:spPr>
        </p:pic>
        <p:pic>
          <p:nvPicPr>
            <p:cNvPr id="81" name="Graphique 80" descr="Utilisateur avec un remplissage uni">
              <a:extLst>
                <a:ext uri="{FF2B5EF4-FFF2-40B4-BE49-F238E27FC236}">
                  <a16:creationId xmlns:a16="http://schemas.microsoft.com/office/drawing/2014/main" id="{C942470E-3538-718F-06EA-8D32C0BAE8B2}"/>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54140" y="3512720"/>
              <a:ext cx="336064" cy="336064"/>
            </a:xfrm>
            <a:prstGeom prst="rect">
              <a:avLst/>
            </a:prstGeom>
          </p:spPr>
        </p:pic>
        <p:pic>
          <p:nvPicPr>
            <p:cNvPr id="82" name="Graphique 81" descr="Utilisateur avec un remplissage uni">
              <a:extLst>
                <a:ext uri="{FF2B5EF4-FFF2-40B4-BE49-F238E27FC236}">
                  <a16:creationId xmlns:a16="http://schemas.microsoft.com/office/drawing/2014/main" id="{F93F2D51-2778-4250-ED2B-7D64620C9FD2}"/>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45616" y="3561880"/>
              <a:ext cx="336064" cy="336064"/>
            </a:xfrm>
            <a:prstGeom prst="rect">
              <a:avLst/>
            </a:prstGeom>
          </p:spPr>
        </p:pic>
        <p:pic>
          <p:nvPicPr>
            <p:cNvPr id="83" name="Graphique 82" descr="Utilisateur avec un remplissage uni">
              <a:extLst>
                <a:ext uri="{FF2B5EF4-FFF2-40B4-BE49-F238E27FC236}">
                  <a16:creationId xmlns:a16="http://schemas.microsoft.com/office/drawing/2014/main" id="{4BAC858D-09F3-5B79-F9EE-66D4AD325B4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92504" y="3418428"/>
              <a:ext cx="336064" cy="336064"/>
            </a:xfrm>
            <a:prstGeom prst="rect">
              <a:avLst/>
            </a:prstGeom>
          </p:spPr>
        </p:pic>
        <p:pic>
          <p:nvPicPr>
            <p:cNvPr id="84" name="Graphique 83" descr="Utilisateur avec un remplissage uni">
              <a:extLst>
                <a:ext uri="{FF2B5EF4-FFF2-40B4-BE49-F238E27FC236}">
                  <a16:creationId xmlns:a16="http://schemas.microsoft.com/office/drawing/2014/main" id="{722A5971-1943-4DF3-9520-DFEC7A6883AC}"/>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635196" y="3680752"/>
              <a:ext cx="336064" cy="336064"/>
            </a:xfrm>
            <a:prstGeom prst="rect">
              <a:avLst/>
            </a:prstGeom>
          </p:spPr>
        </p:pic>
        <p:pic>
          <p:nvPicPr>
            <p:cNvPr id="85" name="Graphique 84" descr="Utilisateur avec un remplissage uni">
              <a:extLst>
                <a:ext uri="{FF2B5EF4-FFF2-40B4-BE49-F238E27FC236}">
                  <a16:creationId xmlns:a16="http://schemas.microsoft.com/office/drawing/2014/main" id="{F82EE557-8D1B-3774-4A7B-844265F2D6E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256440" y="3848784"/>
              <a:ext cx="336064" cy="336064"/>
            </a:xfrm>
            <a:prstGeom prst="rect">
              <a:avLst/>
            </a:prstGeom>
          </p:spPr>
        </p:pic>
        <p:pic>
          <p:nvPicPr>
            <p:cNvPr id="86" name="Graphique 85" descr="Utilisateur avec un remplissage uni">
              <a:extLst>
                <a:ext uri="{FF2B5EF4-FFF2-40B4-BE49-F238E27FC236}">
                  <a16:creationId xmlns:a16="http://schemas.microsoft.com/office/drawing/2014/main" id="{E99B2CBB-5658-4016-8108-6E9B18F5EDC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82504" y="3835028"/>
              <a:ext cx="336064" cy="336064"/>
            </a:xfrm>
            <a:prstGeom prst="rect">
              <a:avLst/>
            </a:prstGeom>
          </p:spPr>
        </p:pic>
        <p:pic>
          <p:nvPicPr>
            <p:cNvPr id="87" name="Graphique 86" descr="Utilisateur avec un remplissage uni">
              <a:extLst>
                <a:ext uri="{FF2B5EF4-FFF2-40B4-BE49-F238E27FC236}">
                  <a16:creationId xmlns:a16="http://schemas.microsoft.com/office/drawing/2014/main" id="{CB0322F4-8F3D-B107-CDF2-47D962B5003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0868" y="3943076"/>
              <a:ext cx="336064" cy="336064"/>
            </a:xfrm>
            <a:prstGeom prst="rect">
              <a:avLst/>
            </a:prstGeom>
          </p:spPr>
        </p:pic>
        <p:pic>
          <p:nvPicPr>
            <p:cNvPr id="88" name="Graphique 87" descr="Utilisateur avec un remplissage uni">
              <a:extLst>
                <a:ext uri="{FF2B5EF4-FFF2-40B4-BE49-F238E27FC236}">
                  <a16:creationId xmlns:a16="http://schemas.microsoft.com/office/drawing/2014/main" id="{6560EF0C-BF5B-328B-225C-0270D2744992}"/>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42772" y="3976465"/>
              <a:ext cx="336064" cy="336064"/>
            </a:xfrm>
            <a:prstGeom prst="rect">
              <a:avLst/>
            </a:prstGeom>
          </p:spPr>
        </p:pic>
        <p:pic>
          <p:nvPicPr>
            <p:cNvPr id="89" name="Graphique 88" descr="Utilisateur avec un remplissage uni">
              <a:extLst>
                <a:ext uri="{FF2B5EF4-FFF2-40B4-BE49-F238E27FC236}">
                  <a16:creationId xmlns:a16="http://schemas.microsoft.com/office/drawing/2014/main" id="{8EC800D8-B42D-FF60-D4F6-7AE09BE52AD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77110" y="3705332"/>
              <a:ext cx="336064" cy="336064"/>
            </a:xfrm>
            <a:prstGeom prst="rect">
              <a:avLst/>
            </a:prstGeom>
          </p:spPr>
        </p:pic>
        <p:pic>
          <p:nvPicPr>
            <p:cNvPr id="90" name="Graphique 89" descr="Utilisateur avec un remplissage uni">
              <a:extLst>
                <a:ext uri="{FF2B5EF4-FFF2-40B4-BE49-F238E27FC236}">
                  <a16:creationId xmlns:a16="http://schemas.microsoft.com/office/drawing/2014/main" id="{0F205977-36CA-99AB-7B43-3F952A039242}"/>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56932" y="3429000"/>
              <a:ext cx="336064" cy="336064"/>
            </a:xfrm>
            <a:prstGeom prst="rect">
              <a:avLst/>
            </a:prstGeom>
          </p:spPr>
        </p:pic>
      </p:grpSp>
      <p:sp>
        <p:nvSpPr>
          <p:cNvPr id="78" name="Rectangle 77">
            <a:extLst>
              <a:ext uri="{FF2B5EF4-FFF2-40B4-BE49-F238E27FC236}">
                <a16:creationId xmlns:a16="http://schemas.microsoft.com/office/drawing/2014/main" id="{398E1748-3686-DEF2-EF1A-C074C6F8F966}"/>
              </a:ext>
            </a:extLst>
          </p:cNvPr>
          <p:cNvSpPr/>
          <p:nvPr/>
        </p:nvSpPr>
        <p:spPr>
          <a:xfrm>
            <a:off x="269748" y="4670653"/>
            <a:ext cx="1109728" cy="71559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Opportunités de mobilité professionnelle</a:t>
            </a:r>
          </a:p>
        </p:txBody>
      </p:sp>
    </p:spTree>
    <p:extLst>
      <p:ext uri="{BB962C8B-B14F-4D97-AF65-F5344CB8AC3E}">
        <p14:creationId xmlns:p14="http://schemas.microsoft.com/office/powerpoint/2010/main" val="264611965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8B6C38E-625E-9F4A-03F7-0862BC00FF23}"/>
              </a:ext>
            </a:extLst>
          </p:cNvPr>
          <p:cNvSpPr>
            <a:spLocks noGrp="1"/>
          </p:cNvSpPr>
          <p:nvPr>
            <p:ph type="title"/>
          </p:nvPr>
        </p:nvSpPr>
        <p:spPr/>
        <p:txBody>
          <a:bodyPr/>
          <a:lstStyle/>
          <a:p>
            <a:r>
              <a:rPr lang="fr-FR" dirty="0"/>
              <a:t>Déclinaison des effets positifs par précision de mesure – Valeur pour les membres</a:t>
            </a:r>
          </a:p>
        </p:txBody>
      </p:sp>
      <p:sp>
        <p:nvSpPr>
          <p:cNvPr id="6" name="Ellipse 5">
            <a:extLst>
              <a:ext uri="{FF2B5EF4-FFF2-40B4-BE49-F238E27FC236}">
                <a16:creationId xmlns:a16="http://schemas.microsoft.com/office/drawing/2014/main" id="{FDC6A6BA-47CF-3EB8-DC10-616CD3693949}"/>
              </a:ext>
            </a:extLst>
          </p:cNvPr>
          <p:cNvSpPr/>
          <p:nvPr/>
        </p:nvSpPr>
        <p:spPr>
          <a:xfrm>
            <a:off x="546683" y="1690688"/>
            <a:ext cx="11232858" cy="4932522"/>
          </a:xfrm>
          <a:prstGeom prst="ellipse">
            <a:avLst/>
          </a:prstGeom>
          <a:solidFill>
            <a:srgbClr val="54FFB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Ellipse 7">
            <a:extLst>
              <a:ext uri="{FF2B5EF4-FFF2-40B4-BE49-F238E27FC236}">
                <a16:creationId xmlns:a16="http://schemas.microsoft.com/office/drawing/2014/main" id="{50E400B1-8671-E1D1-82C1-C3B604BF64C7}"/>
              </a:ext>
            </a:extLst>
          </p:cNvPr>
          <p:cNvSpPr/>
          <p:nvPr/>
        </p:nvSpPr>
        <p:spPr>
          <a:xfrm>
            <a:off x="4149298" y="2449385"/>
            <a:ext cx="7630243" cy="3350558"/>
          </a:xfrm>
          <a:prstGeom prst="ellipse">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Ellipse 9">
            <a:extLst>
              <a:ext uri="{FF2B5EF4-FFF2-40B4-BE49-F238E27FC236}">
                <a16:creationId xmlns:a16="http://schemas.microsoft.com/office/drawing/2014/main" id="{BBEEF80C-8ACF-33CD-5135-DA06657B5918}"/>
              </a:ext>
            </a:extLst>
          </p:cNvPr>
          <p:cNvSpPr/>
          <p:nvPr/>
        </p:nvSpPr>
        <p:spPr>
          <a:xfrm>
            <a:off x="7292282" y="3233906"/>
            <a:ext cx="4017625" cy="1866094"/>
          </a:xfrm>
          <a:prstGeom prst="ellipse">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ZoneTexte 10">
            <a:extLst>
              <a:ext uri="{FF2B5EF4-FFF2-40B4-BE49-F238E27FC236}">
                <a16:creationId xmlns:a16="http://schemas.microsoft.com/office/drawing/2014/main" id="{BBE5E0CE-F64D-9989-B901-A7973628A877}"/>
              </a:ext>
            </a:extLst>
          </p:cNvPr>
          <p:cNvSpPr txBox="1"/>
          <p:nvPr/>
        </p:nvSpPr>
        <p:spPr>
          <a:xfrm>
            <a:off x="2247367" y="2282827"/>
            <a:ext cx="3247356" cy="523220"/>
          </a:xfrm>
          <a:prstGeom prst="rect">
            <a:avLst/>
          </a:prstGeom>
          <a:noFill/>
        </p:spPr>
        <p:txBody>
          <a:bodyPr wrap="square" rtlCol="0">
            <a:spAutoFit/>
          </a:bodyPr>
          <a:lstStyle/>
          <a:p>
            <a:r>
              <a:rPr lang="fr-FR" sz="1400" b="1" dirty="0"/>
              <a:t>Effets positifs de la Communauté sur les membres</a:t>
            </a:r>
          </a:p>
        </p:txBody>
      </p:sp>
      <p:sp>
        <p:nvSpPr>
          <p:cNvPr id="13" name="ZoneTexte 12">
            <a:extLst>
              <a:ext uri="{FF2B5EF4-FFF2-40B4-BE49-F238E27FC236}">
                <a16:creationId xmlns:a16="http://schemas.microsoft.com/office/drawing/2014/main" id="{D7032AFD-3883-D96A-152E-5456277888D0}"/>
              </a:ext>
            </a:extLst>
          </p:cNvPr>
          <p:cNvSpPr txBox="1"/>
          <p:nvPr/>
        </p:nvSpPr>
        <p:spPr>
          <a:xfrm>
            <a:off x="5572788" y="2764302"/>
            <a:ext cx="3438983" cy="738664"/>
          </a:xfrm>
          <a:prstGeom prst="rect">
            <a:avLst/>
          </a:prstGeom>
          <a:noFill/>
        </p:spPr>
        <p:txBody>
          <a:bodyPr wrap="square" rtlCol="0">
            <a:spAutoFit/>
          </a:bodyPr>
          <a:lstStyle/>
          <a:p>
            <a:r>
              <a:rPr lang="fr-FR" sz="1400" b="1" dirty="0"/>
              <a:t>Effets positifs avec observables concrets (faits, constats, etc.) rattachables facilement à la Communauté</a:t>
            </a:r>
          </a:p>
        </p:txBody>
      </p:sp>
      <p:sp>
        <p:nvSpPr>
          <p:cNvPr id="15" name="ZoneTexte 14">
            <a:extLst>
              <a:ext uri="{FF2B5EF4-FFF2-40B4-BE49-F238E27FC236}">
                <a16:creationId xmlns:a16="http://schemas.microsoft.com/office/drawing/2014/main" id="{FC927758-B13D-A4D9-DCA5-94B766145146}"/>
              </a:ext>
            </a:extLst>
          </p:cNvPr>
          <p:cNvSpPr txBox="1"/>
          <p:nvPr/>
        </p:nvSpPr>
        <p:spPr>
          <a:xfrm>
            <a:off x="7888673" y="3315824"/>
            <a:ext cx="2824841" cy="523220"/>
          </a:xfrm>
          <a:prstGeom prst="rect">
            <a:avLst/>
          </a:prstGeom>
          <a:noFill/>
        </p:spPr>
        <p:txBody>
          <a:bodyPr wrap="square" rtlCol="0">
            <a:spAutoFit/>
          </a:bodyPr>
          <a:lstStyle/>
          <a:p>
            <a:pPr algn="ctr"/>
            <a:r>
              <a:rPr lang="fr-FR" sz="1400" b="1" dirty="0"/>
              <a:t>Effets considérés pour des KPIs (mesures régulières possibles,…)</a:t>
            </a:r>
          </a:p>
        </p:txBody>
      </p:sp>
    </p:spTree>
    <p:extLst>
      <p:ext uri="{BB962C8B-B14F-4D97-AF65-F5344CB8AC3E}">
        <p14:creationId xmlns:p14="http://schemas.microsoft.com/office/powerpoint/2010/main" val="312062853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p:txBody>
          <a:bodyPr/>
          <a:lstStyle/>
          <a:p>
            <a:r>
              <a:rPr lang="fr-FR"/>
              <a:t>La Valeur pour les membres classée par motivateurs</a:t>
            </a:r>
            <a:endParaRPr lang="fr-FR" dirty="0"/>
          </a:p>
        </p:txBody>
      </p:sp>
      <p:pic>
        <p:nvPicPr>
          <p:cNvPr id="25" name="Image 24">
            <a:extLst>
              <a:ext uri="{FF2B5EF4-FFF2-40B4-BE49-F238E27FC236}">
                <a16:creationId xmlns:a16="http://schemas.microsoft.com/office/drawing/2014/main" id="{606255BE-23A7-ADAF-2326-89C7A7C1166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2708" y="2634140"/>
            <a:ext cx="1115832" cy="1576139"/>
          </a:xfrm>
          <a:prstGeom prst="rect">
            <a:avLst/>
          </a:prstGeom>
        </p:spPr>
      </p:pic>
      <p:pic>
        <p:nvPicPr>
          <p:cNvPr id="27" name="Image 26">
            <a:extLst>
              <a:ext uri="{FF2B5EF4-FFF2-40B4-BE49-F238E27FC236}">
                <a16:creationId xmlns:a16="http://schemas.microsoft.com/office/drawing/2014/main" id="{BF0668E5-1F29-C6FB-93FA-4659CD0F7B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05064" y="2634140"/>
            <a:ext cx="1115832" cy="1576139"/>
          </a:xfrm>
          <a:prstGeom prst="rect">
            <a:avLst/>
          </a:prstGeom>
        </p:spPr>
      </p:pic>
      <p:pic>
        <p:nvPicPr>
          <p:cNvPr id="28" name="Image 27" descr="Une image contenant texte&#10;&#10;Description générée automatiquement">
            <a:extLst>
              <a:ext uri="{FF2B5EF4-FFF2-40B4-BE49-F238E27FC236}">
                <a16:creationId xmlns:a16="http://schemas.microsoft.com/office/drawing/2014/main" id="{C52BFFBF-1047-476C-6469-7AF91D6DBF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71695" y="2634137"/>
            <a:ext cx="1115832" cy="1576139"/>
          </a:xfrm>
          <a:prstGeom prst="rect">
            <a:avLst/>
          </a:prstGeom>
        </p:spPr>
      </p:pic>
      <p:pic>
        <p:nvPicPr>
          <p:cNvPr id="29" name="Image 28">
            <a:extLst>
              <a:ext uri="{FF2B5EF4-FFF2-40B4-BE49-F238E27FC236}">
                <a16:creationId xmlns:a16="http://schemas.microsoft.com/office/drawing/2014/main" id="{66A8C156-F0A3-1263-C6C5-F0E1328E750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64838" y="2634138"/>
            <a:ext cx="1115832" cy="1576139"/>
          </a:xfrm>
          <a:prstGeom prst="rect">
            <a:avLst/>
          </a:prstGeom>
        </p:spPr>
      </p:pic>
      <p:pic>
        <p:nvPicPr>
          <p:cNvPr id="30" name="Image 29">
            <a:extLst>
              <a:ext uri="{FF2B5EF4-FFF2-40B4-BE49-F238E27FC236}">
                <a16:creationId xmlns:a16="http://schemas.microsoft.com/office/drawing/2014/main" id="{6E90BE4D-1EA5-ED16-87E6-4E680E0807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223886" y="2634140"/>
            <a:ext cx="1115832" cy="1576139"/>
          </a:xfrm>
          <a:prstGeom prst="rect">
            <a:avLst/>
          </a:prstGeom>
        </p:spPr>
      </p:pic>
      <p:pic>
        <p:nvPicPr>
          <p:cNvPr id="31" name="Image 30">
            <a:extLst>
              <a:ext uri="{FF2B5EF4-FFF2-40B4-BE49-F238E27FC236}">
                <a16:creationId xmlns:a16="http://schemas.microsoft.com/office/drawing/2014/main" id="{A564748B-E5B0-4E9F-7813-01D7C51BCBB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586242" y="2634139"/>
            <a:ext cx="1115832" cy="1576139"/>
          </a:xfrm>
          <a:prstGeom prst="rect">
            <a:avLst/>
          </a:prstGeom>
        </p:spPr>
      </p:pic>
      <p:pic>
        <p:nvPicPr>
          <p:cNvPr id="32" name="Image 31" descr="Une image contenant texte&#10;&#10;Description générée automatiquement">
            <a:extLst>
              <a:ext uri="{FF2B5EF4-FFF2-40B4-BE49-F238E27FC236}">
                <a16:creationId xmlns:a16="http://schemas.microsoft.com/office/drawing/2014/main" id="{85BA04D4-8763-76EF-5EFF-C98B2E55124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164725" y="2634137"/>
            <a:ext cx="1115832" cy="1576139"/>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1C07BFD-8376-7366-5CAE-D9628DFEBEB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557868" y="2634139"/>
            <a:ext cx="1115832" cy="1576139"/>
          </a:xfrm>
          <a:prstGeom prst="rect">
            <a:avLst/>
          </a:prstGeom>
        </p:spPr>
      </p:pic>
      <p:sp>
        <p:nvSpPr>
          <p:cNvPr id="23" name="Rectangle 22">
            <a:extLst>
              <a:ext uri="{FF2B5EF4-FFF2-40B4-BE49-F238E27FC236}">
                <a16:creationId xmlns:a16="http://schemas.microsoft.com/office/drawing/2014/main" id="{8785686C-6C65-349C-E5F0-7D45B22ECC42}"/>
              </a:ext>
            </a:extLst>
          </p:cNvPr>
          <p:cNvSpPr/>
          <p:nvPr/>
        </p:nvSpPr>
        <p:spPr>
          <a:xfrm>
            <a:off x="38385" y="4544820"/>
            <a:ext cx="1120155" cy="177209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050" dirty="0">
                <a:solidFill>
                  <a:schemeClr val="tx1"/>
                </a:solidFill>
              </a:rPr>
              <a:t>EXEMPLE </a:t>
            </a:r>
          </a:p>
          <a:p>
            <a:pPr algn="ctr"/>
            <a:endParaRPr lang="fr-FR" sz="1050" dirty="0">
              <a:solidFill>
                <a:schemeClr val="tx1"/>
              </a:solidFill>
            </a:endParaRPr>
          </a:p>
          <a:p>
            <a:pPr algn="ctr"/>
            <a:r>
              <a:rPr lang="fr-FR" sz="1050" dirty="0">
                <a:solidFill>
                  <a:schemeClr val="tx1"/>
                </a:solidFill>
              </a:rPr>
              <a:t>La Communauté augmente mes chances d’atteindre mes objectifs annuels</a:t>
            </a:r>
          </a:p>
        </p:txBody>
      </p:sp>
      <p:sp>
        <p:nvSpPr>
          <p:cNvPr id="34" name="Rectangle 33">
            <a:extLst>
              <a:ext uri="{FF2B5EF4-FFF2-40B4-BE49-F238E27FC236}">
                <a16:creationId xmlns:a16="http://schemas.microsoft.com/office/drawing/2014/main" id="{5997902C-5716-5534-70A2-6C44D8380117}"/>
              </a:ext>
            </a:extLst>
          </p:cNvPr>
          <p:cNvSpPr/>
          <p:nvPr/>
        </p:nvSpPr>
        <p:spPr>
          <a:xfrm>
            <a:off x="2405064" y="4544820"/>
            <a:ext cx="1120155" cy="177209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050" dirty="0">
                <a:solidFill>
                  <a:schemeClr val="tx1"/>
                </a:solidFill>
              </a:rPr>
              <a:t>EXEMPLE </a:t>
            </a:r>
          </a:p>
          <a:p>
            <a:pPr algn="ctr"/>
            <a:endParaRPr lang="fr-FR" sz="1050" dirty="0">
              <a:solidFill>
                <a:schemeClr val="tx1"/>
              </a:solidFill>
            </a:endParaRPr>
          </a:p>
          <a:p>
            <a:pPr algn="ctr"/>
            <a:r>
              <a:rPr lang="fr-FR" sz="1050" dirty="0">
                <a:solidFill>
                  <a:schemeClr val="tx1"/>
                </a:solidFill>
              </a:rPr>
              <a:t>La Communauté me permet d’apprendre et d’exprimer des choses que le quotidien ne me permet pas d’exprimer</a:t>
            </a:r>
          </a:p>
        </p:txBody>
      </p:sp>
      <p:sp>
        <p:nvSpPr>
          <p:cNvPr id="35" name="Rectangle 34">
            <a:extLst>
              <a:ext uri="{FF2B5EF4-FFF2-40B4-BE49-F238E27FC236}">
                <a16:creationId xmlns:a16="http://schemas.microsoft.com/office/drawing/2014/main" id="{4C344505-1FB8-FE00-2C9F-517DAFA7119D}"/>
              </a:ext>
            </a:extLst>
          </p:cNvPr>
          <p:cNvSpPr/>
          <p:nvPr/>
        </p:nvSpPr>
        <p:spPr>
          <a:xfrm>
            <a:off x="5967372" y="4544820"/>
            <a:ext cx="1120155" cy="177209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050" dirty="0">
                <a:solidFill>
                  <a:schemeClr val="tx1"/>
                </a:solidFill>
              </a:rPr>
              <a:t>EXEMPLE </a:t>
            </a:r>
          </a:p>
          <a:p>
            <a:pPr algn="ctr"/>
            <a:endParaRPr lang="fr-FR" sz="1050" dirty="0">
              <a:solidFill>
                <a:schemeClr val="tx1"/>
              </a:solidFill>
            </a:endParaRPr>
          </a:p>
          <a:p>
            <a:pPr algn="ctr"/>
            <a:r>
              <a:rPr lang="fr-FR" sz="1050" dirty="0">
                <a:solidFill>
                  <a:schemeClr val="tx1"/>
                </a:solidFill>
              </a:rPr>
              <a:t>La Communauté me permet de servir des causes auxquelles je n’ai pas facilement accès sans.</a:t>
            </a:r>
          </a:p>
        </p:txBody>
      </p:sp>
      <p:sp>
        <p:nvSpPr>
          <p:cNvPr id="36" name="Rectangle 35">
            <a:extLst>
              <a:ext uri="{FF2B5EF4-FFF2-40B4-BE49-F238E27FC236}">
                <a16:creationId xmlns:a16="http://schemas.microsoft.com/office/drawing/2014/main" id="{DB5BC0F8-758D-352B-9E17-38B1C2D269E3}"/>
              </a:ext>
            </a:extLst>
          </p:cNvPr>
          <p:cNvSpPr/>
          <p:nvPr/>
        </p:nvSpPr>
        <p:spPr>
          <a:xfrm>
            <a:off x="8364838" y="4544820"/>
            <a:ext cx="1120155" cy="177209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050" dirty="0">
                <a:solidFill>
                  <a:schemeClr val="tx1"/>
                </a:solidFill>
              </a:rPr>
              <a:t>EXEMPLE </a:t>
            </a:r>
          </a:p>
          <a:p>
            <a:pPr algn="ctr"/>
            <a:endParaRPr lang="fr-FR" sz="1050" dirty="0">
              <a:solidFill>
                <a:schemeClr val="tx1"/>
              </a:solidFill>
            </a:endParaRPr>
          </a:p>
          <a:p>
            <a:pPr algn="ctr"/>
            <a:r>
              <a:rPr lang="fr-FR" sz="1050" dirty="0">
                <a:solidFill>
                  <a:schemeClr val="tx1"/>
                </a:solidFill>
              </a:rPr>
              <a:t>La Communauté me donne l’opportunité d’explorer des sujets nouveaux et à mon rythme</a:t>
            </a:r>
          </a:p>
        </p:txBody>
      </p:sp>
      <p:sp>
        <p:nvSpPr>
          <p:cNvPr id="37" name="Rectangle 36">
            <a:extLst>
              <a:ext uri="{FF2B5EF4-FFF2-40B4-BE49-F238E27FC236}">
                <a16:creationId xmlns:a16="http://schemas.microsoft.com/office/drawing/2014/main" id="{F3540D46-FD5C-6366-7B5D-E66A4451412B}"/>
              </a:ext>
            </a:extLst>
          </p:cNvPr>
          <p:cNvSpPr/>
          <p:nvPr/>
        </p:nvSpPr>
        <p:spPr>
          <a:xfrm>
            <a:off x="1223886" y="4544820"/>
            <a:ext cx="1120155" cy="177209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050" dirty="0">
                <a:solidFill>
                  <a:schemeClr val="tx1"/>
                </a:solidFill>
              </a:rPr>
              <a:t>EXEMPLE </a:t>
            </a:r>
          </a:p>
          <a:p>
            <a:pPr algn="ctr"/>
            <a:endParaRPr lang="fr-FR" sz="1050" dirty="0">
              <a:solidFill>
                <a:schemeClr val="tx1"/>
              </a:solidFill>
            </a:endParaRPr>
          </a:p>
          <a:p>
            <a:pPr algn="ctr"/>
            <a:r>
              <a:rPr lang="fr-FR" sz="1050" dirty="0">
                <a:solidFill>
                  <a:schemeClr val="tx1"/>
                </a:solidFill>
              </a:rPr>
              <a:t>Dans la Communauté, on a besoin de moi explicitement et mon expertise est reconnue.</a:t>
            </a:r>
          </a:p>
        </p:txBody>
      </p:sp>
      <p:sp>
        <p:nvSpPr>
          <p:cNvPr id="38" name="Rectangle 37">
            <a:extLst>
              <a:ext uri="{FF2B5EF4-FFF2-40B4-BE49-F238E27FC236}">
                <a16:creationId xmlns:a16="http://schemas.microsoft.com/office/drawing/2014/main" id="{1369897F-7253-5F43-DB42-5F94633BFBF8}"/>
              </a:ext>
            </a:extLst>
          </p:cNvPr>
          <p:cNvSpPr/>
          <p:nvPr/>
        </p:nvSpPr>
        <p:spPr>
          <a:xfrm>
            <a:off x="3584080" y="4544820"/>
            <a:ext cx="1120155" cy="177209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050" dirty="0">
                <a:solidFill>
                  <a:schemeClr val="tx1"/>
                </a:solidFill>
              </a:rPr>
              <a:t>EXEMPLE </a:t>
            </a:r>
          </a:p>
          <a:p>
            <a:pPr algn="ctr"/>
            <a:endParaRPr lang="fr-FR" sz="1050" dirty="0">
              <a:solidFill>
                <a:schemeClr val="tx1"/>
              </a:solidFill>
            </a:endParaRPr>
          </a:p>
          <a:p>
            <a:pPr algn="ctr"/>
            <a:r>
              <a:rPr lang="fr-FR" sz="1050" dirty="0">
                <a:solidFill>
                  <a:schemeClr val="tx1"/>
                </a:solidFill>
              </a:rPr>
              <a:t>La Communauté me permet de rencontrer de nouvelles personnes régulièrement et de tisser des amitiés</a:t>
            </a:r>
          </a:p>
        </p:txBody>
      </p:sp>
      <p:sp>
        <p:nvSpPr>
          <p:cNvPr id="39" name="Rectangle 38">
            <a:extLst>
              <a:ext uri="{FF2B5EF4-FFF2-40B4-BE49-F238E27FC236}">
                <a16:creationId xmlns:a16="http://schemas.microsoft.com/office/drawing/2014/main" id="{A9FFF9B3-6E81-ED45-B603-08DC1A74ADDE}"/>
              </a:ext>
            </a:extLst>
          </p:cNvPr>
          <p:cNvSpPr/>
          <p:nvPr/>
        </p:nvSpPr>
        <p:spPr>
          <a:xfrm>
            <a:off x="7160402" y="4544820"/>
            <a:ext cx="1120155" cy="177209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050" dirty="0">
                <a:solidFill>
                  <a:schemeClr val="tx1"/>
                </a:solidFill>
              </a:rPr>
              <a:t>EXEMPLE </a:t>
            </a:r>
          </a:p>
          <a:p>
            <a:pPr algn="ctr"/>
            <a:endParaRPr lang="fr-FR" sz="1050" dirty="0">
              <a:solidFill>
                <a:schemeClr val="tx1"/>
              </a:solidFill>
            </a:endParaRPr>
          </a:p>
          <a:p>
            <a:pPr algn="ctr"/>
            <a:r>
              <a:rPr lang="fr-FR" sz="1050" dirty="0">
                <a:solidFill>
                  <a:schemeClr val="tx1"/>
                </a:solidFill>
              </a:rPr>
              <a:t>La Communauté m’aide à développer des compétences et à me motiver</a:t>
            </a:r>
          </a:p>
        </p:txBody>
      </p:sp>
      <p:sp>
        <p:nvSpPr>
          <p:cNvPr id="40" name="Rectangle 39">
            <a:extLst>
              <a:ext uri="{FF2B5EF4-FFF2-40B4-BE49-F238E27FC236}">
                <a16:creationId xmlns:a16="http://schemas.microsoft.com/office/drawing/2014/main" id="{A73581EF-CB81-6F04-1B45-5FEF7AECE32E}"/>
              </a:ext>
            </a:extLst>
          </p:cNvPr>
          <p:cNvSpPr/>
          <p:nvPr/>
        </p:nvSpPr>
        <p:spPr>
          <a:xfrm>
            <a:off x="9557868" y="4544820"/>
            <a:ext cx="1120155" cy="177209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050" dirty="0">
                <a:solidFill>
                  <a:schemeClr val="tx1"/>
                </a:solidFill>
              </a:rPr>
              <a:t>EXEMPLE </a:t>
            </a:r>
          </a:p>
          <a:p>
            <a:pPr algn="ctr"/>
            <a:endParaRPr lang="fr-FR" sz="1050" dirty="0">
              <a:solidFill>
                <a:schemeClr val="tx1"/>
              </a:solidFill>
            </a:endParaRPr>
          </a:p>
          <a:p>
            <a:pPr algn="ctr"/>
            <a:r>
              <a:rPr lang="fr-FR" sz="1050" dirty="0">
                <a:solidFill>
                  <a:schemeClr val="tx1"/>
                </a:solidFill>
              </a:rPr>
              <a:t>La Communauté me donne l’occasion de créer, d’inventer, d’entreprendre ce qui est à mon goût</a:t>
            </a:r>
          </a:p>
        </p:txBody>
      </p:sp>
      <p:sp>
        <p:nvSpPr>
          <p:cNvPr id="42" name="Rectangle 41">
            <a:extLst>
              <a:ext uri="{FF2B5EF4-FFF2-40B4-BE49-F238E27FC236}">
                <a16:creationId xmlns:a16="http://schemas.microsoft.com/office/drawing/2014/main" id="{D5B4002B-AE18-2BAE-0D73-078BB2432DAD}"/>
              </a:ext>
            </a:extLst>
          </p:cNvPr>
          <p:cNvSpPr/>
          <p:nvPr/>
        </p:nvSpPr>
        <p:spPr>
          <a:xfrm>
            <a:off x="10812634" y="2558194"/>
            <a:ext cx="1120155"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pic>
        <p:nvPicPr>
          <p:cNvPr id="20" name="Image 19" descr="Une image contenant texte&#10;&#10;Description générée automatiquement">
            <a:extLst>
              <a:ext uri="{FF2B5EF4-FFF2-40B4-BE49-F238E27FC236}">
                <a16:creationId xmlns:a16="http://schemas.microsoft.com/office/drawing/2014/main" id="{5E242AD8-310A-53A5-3E36-E012E25185B7}"/>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782855" y="2634137"/>
            <a:ext cx="1115832" cy="1560945"/>
          </a:xfrm>
          <a:prstGeom prst="rect">
            <a:avLst/>
          </a:prstGeom>
        </p:spPr>
      </p:pic>
      <p:sp>
        <p:nvSpPr>
          <p:cNvPr id="21" name="Rectangle 20">
            <a:extLst>
              <a:ext uri="{FF2B5EF4-FFF2-40B4-BE49-F238E27FC236}">
                <a16:creationId xmlns:a16="http://schemas.microsoft.com/office/drawing/2014/main" id="{2760E8A6-A20A-71DB-E9E8-C5B346E565F1}"/>
              </a:ext>
            </a:extLst>
          </p:cNvPr>
          <p:cNvSpPr/>
          <p:nvPr/>
        </p:nvSpPr>
        <p:spPr>
          <a:xfrm>
            <a:off x="4775726" y="4544820"/>
            <a:ext cx="1120155" cy="177209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050" dirty="0">
                <a:solidFill>
                  <a:schemeClr val="tx1"/>
                </a:solidFill>
              </a:rPr>
              <a:t>EXEMPLE </a:t>
            </a:r>
          </a:p>
          <a:p>
            <a:pPr algn="ctr"/>
            <a:endParaRPr lang="fr-FR" sz="1050" dirty="0">
              <a:solidFill>
                <a:schemeClr val="tx1"/>
              </a:solidFill>
            </a:endParaRPr>
          </a:p>
          <a:p>
            <a:pPr algn="ctr"/>
            <a:r>
              <a:rPr lang="fr-FR" sz="1050" dirty="0">
                <a:solidFill>
                  <a:schemeClr val="tx1"/>
                </a:solidFill>
              </a:rPr>
              <a:t>La Communauté mieux faire mon travail ou d’assurer plus facilement mes obligations en dehors de la Communauté.</a:t>
            </a:r>
          </a:p>
        </p:txBody>
      </p:sp>
      <p:grpSp>
        <p:nvGrpSpPr>
          <p:cNvPr id="22" name="Groupe 21">
            <a:extLst>
              <a:ext uri="{FF2B5EF4-FFF2-40B4-BE49-F238E27FC236}">
                <a16:creationId xmlns:a16="http://schemas.microsoft.com/office/drawing/2014/main" id="{6A7ABAEF-366D-B7AB-45F7-92CC54801F1C}"/>
              </a:ext>
            </a:extLst>
          </p:cNvPr>
          <p:cNvGrpSpPr/>
          <p:nvPr/>
        </p:nvGrpSpPr>
        <p:grpSpPr>
          <a:xfrm>
            <a:off x="121640" y="511444"/>
            <a:ext cx="756159" cy="637502"/>
            <a:chOff x="8982504" y="3274976"/>
            <a:chExt cx="1230670" cy="1037553"/>
          </a:xfrm>
          <a:solidFill>
            <a:srgbClr val="ED7D31"/>
          </a:solidFill>
        </p:grpSpPr>
        <p:pic>
          <p:nvPicPr>
            <p:cNvPr id="24" name="Graphique 23" descr="Utilisateur avec un remplissage uni">
              <a:extLst>
                <a:ext uri="{FF2B5EF4-FFF2-40B4-BE49-F238E27FC236}">
                  <a16:creationId xmlns:a16="http://schemas.microsoft.com/office/drawing/2014/main" id="{50765F2C-5514-3792-E392-9E503542ECB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01028" y="3274976"/>
              <a:ext cx="336064" cy="336064"/>
            </a:xfrm>
            <a:prstGeom prst="rect">
              <a:avLst/>
            </a:prstGeom>
          </p:spPr>
        </p:pic>
        <p:pic>
          <p:nvPicPr>
            <p:cNvPr id="26" name="Graphique 25" descr="Utilisateur avec un remplissage uni">
              <a:extLst>
                <a:ext uri="{FF2B5EF4-FFF2-40B4-BE49-F238E27FC236}">
                  <a16:creationId xmlns:a16="http://schemas.microsoft.com/office/drawing/2014/main" id="{1017301F-EA1D-38E2-3D0F-D3303959DC8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54140" y="3512720"/>
              <a:ext cx="336064" cy="336064"/>
            </a:xfrm>
            <a:prstGeom prst="rect">
              <a:avLst/>
            </a:prstGeom>
          </p:spPr>
        </p:pic>
        <p:pic>
          <p:nvPicPr>
            <p:cNvPr id="41" name="Graphique 40" descr="Utilisateur avec un remplissage uni">
              <a:extLst>
                <a:ext uri="{FF2B5EF4-FFF2-40B4-BE49-F238E27FC236}">
                  <a16:creationId xmlns:a16="http://schemas.microsoft.com/office/drawing/2014/main" id="{B0B3FB3B-54E8-B304-E82F-A31E6B759E8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45616" y="3561880"/>
              <a:ext cx="336064" cy="336064"/>
            </a:xfrm>
            <a:prstGeom prst="rect">
              <a:avLst/>
            </a:prstGeom>
          </p:spPr>
        </p:pic>
        <p:pic>
          <p:nvPicPr>
            <p:cNvPr id="43" name="Graphique 42" descr="Utilisateur avec un remplissage uni">
              <a:extLst>
                <a:ext uri="{FF2B5EF4-FFF2-40B4-BE49-F238E27FC236}">
                  <a16:creationId xmlns:a16="http://schemas.microsoft.com/office/drawing/2014/main" id="{BC64DB91-C1F3-83F5-83B5-D6B4FCC8B280}"/>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92504" y="3418428"/>
              <a:ext cx="336064" cy="336064"/>
            </a:xfrm>
            <a:prstGeom prst="rect">
              <a:avLst/>
            </a:prstGeom>
          </p:spPr>
        </p:pic>
        <p:pic>
          <p:nvPicPr>
            <p:cNvPr id="44" name="Graphique 43" descr="Utilisateur avec un remplissage uni">
              <a:extLst>
                <a:ext uri="{FF2B5EF4-FFF2-40B4-BE49-F238E27FC236}">
                  <a16:creationId xmlns:a16="http://schemas.microsoft.com/office/drawing/2014/main" id="{9A28B180-07C4-178B-98EE-73B8C82978D2}"/>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635196" y="3680752"/>
              <a:ext cx="336064" cy="336064"/>
            </a:xfrm>
            <a:prstGeom prst="rect">
              <a:avLst/>
            </a:prstGeom>
          </p:spPr>
        </p:pic>
        <p:pic>
          <p:nvPicPr>
            <p:cNvPr id="45" name="Graphique 44" descr="Utilisateur avec un remplissage uni">
              <a:extLst>
                <a:ext uri="{FF2B5EF4-FFF2-40B4-BE49-F238E27FC236}">
                  <a16:creationId xmlns:a16="http://schemas.microsoft.com/office/drawing/2014/main" id="{684C4E36-26E2-E542-14C5-3B70F60AD97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256440" y="3848784"/>
              <a:ext cx="336064" cy="336064"/>
            </a:xfrm>
            <a:prstGeom prst="rect">
              <a:avLst/>
            </a:prstGeom>
          </p:spPr>
        </p:pic>
        <p:pic>
          <p:nvPicPr>
            <p:cNvPr id="46" name="Graphique 45" descr="Utilisateur avec un remplissage uni">
              <a:extLst>
                <a:ext uri="{FF2B5EF4-FFF2-40B4-BE49-F238E27FC236}">
                  <a16:creationId xmlns:a16="http://schemas.microsoft.com/office/drawing/2014/main" id="{1BFB65DD-BEDD-8F9A-F435-E768AD0B664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82504" y="3835028"/>
              <a:ext cx="336064" cy="336064"/>
            </a:xfrm>
            <a:prstGeom prst="rect">
              <a:avLst/>
            </a:prstGeom>
          </p:spPr>
        </p:pic>
        <p:pic>
          <p:nvPicPr>
            <p:cNvPr id="47" name="Graphique 46" descr="Utilisateur avec un remplissage uni">
              <a:extLst>
                <a:ext uri="{FF2B5EF4-FFF2-40B4-BE49-F238E27FC236}">
                  <a16:creationId xmlns:a16="http://schemas.microsoft.com/office/drawing/2014/main" id="{1DFD63AA-DD14-3A95-B211-E6FBE8FD42F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0868" y="3943076"/>
              <a:ext cx="336064" cy="336064"/>
            </a:xfrm>
            <a:prstGeom prst="rect">
              <a:avLst/>
            </a:prstGeom>
          </p:spPr>
        </p:pic>
        <p:pic>
          <p:nvPicPr>
            <p:cNvPr id="48" name="Graphique 47" descr="Utilisateur avec un remplissage uni">
              <a:extLst>
                <a:ext uri="{FF2B5EF4-FFF2-40B4-BE49-F238E27FC236}">
                  <a16:creationId xmlns:a16="http://schemas.microsoft.com/office/drawing/2014/main" id="{5A7506C3-D4BA-912E-8A52-092E2082991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42772" y="3976465"/>
              <a:ext cx="336064" cy="336064"/>
            </a:xfrm>
            <a:prstGeom prst="rect">
              <a:avLst/>
            </a:prstGeom>
          </p:spPr>
        </p:pic>
        <p:pic>
          <p:nvPicPr>
            <p:cNvPr id="49" name="Graphique 48" descr="Utilisateur avec un remplissage uni">
              <a:extLst>
                <a:ext uri="{FF2B5EF4-FFF2-40B4-BE49-F238E27FC236}">
                  <a16:creationId xmlns:a16="http://schemas.microsoft.com/office/drawing/2014/main" id="{E8018079-4F88-6CF2-6D89-F58EAEBF7F0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77110" y="3705332"/>
              <a:ext cx="336064" cy="336064"/>
            </a:xfrm>
            <a:prstGeom prst="rect">
              <a:avLst/>
            </a:prstGeom>
          </p:spPr>
        </p:pic>
        <p:pic>
          <p:nvPicPr>
            <p:cNvPr id="50" name="Graphique 49" descr="Utilisateur avec un remplissage uni">
              <a:extLst>
                <a:ext uri="{FF2B5EF4-FFF2-40B4-BE49-F238E27FC236}">
                  <a16:creationId xmlns:a16="http://schemas.microsoft.com/office/drawing/2014/main" id="{34C0558D-3D91-B5AC-48AC-7E9C72B35B6C}"/>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56932" y="3429000"/>
              <a:ext cx="336064" cy="336064"/>
            </a:xfrm>
            <a:prstGeom prst="rect">
              <a:avLst/>
            </a:prstGeom>
          </p:spPr>
        </p:pic>
      </p:grpSp>
    </p:spTree>
    <p:extLst>
      <p:ext uri="{BB962C8B-B14F-4D97-AF65-F5344CB8AC3E}">
        <p14:creationId xmlns:p14="http://schemas.microsoft.com/office/powerpoint/2010/main" val="261107501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838200" y="365125"/>
            <a:ext cx="10515600" cy="1165815"/>
          </a:xfrm>
        </p:spPr>
        <p:txBody>
          <a:bodyPr>
            <a:noAutofit/>
          </a:bodyPr>
          <a:lstStyle/>
          <a:p>
            <a:r>
              <a:rPr lang="fr-FR" sz="3200" dirty="0"/>
              <a:t>Exemples de réponses opérationnelles de Communauté d’entreprise classées par motivateurs</a:t>
            </a:r>
            <a:br>
              <a:rPr lang="fr-FR" sz="3200" dirty="0"/>
            </a:br>
            <a:r>
              <a:rPr lang="fr-FR" sz="2000" dirty="0"/>
              <a:t>📅Evènements  , ✍️Contenus, ⚙️Structuration de Communauté</a:t>
            </a:r>
            <a:endParaRPr lang="fr-FR" sz="3200" dirty="0"/>
          </a:p>
        </p:txBody>
      </p:sp>
      <p:pic>
        <p:nvPicPr>
          <p:cNvPr id="25" name="Image 24">
            <a:extLst>
              <a:ext uri="{FF2B5EF4-FFF2-40B4-BE49-F238E27FC236}">
                <a16:creationId xmlns:a16="http://schemas.microsoft.com/office/drawing/2014/main" id="{606255BE-23A7-ADAF-2326-89C7A7C1166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1640" y="1571360"/>
            <a:ext cx="1036041" cy="1463432"/>
          </a:xfrm>
          <a:prstGeom prst="rect">
            <a:avLst/>
          </a:prstGeom>
        </p:spPr>
      </p:pic>
      <p:pic>
        <p:nvPicPr>
          <p:cNvPr id="27" name="Image 26">
            <a:extLst>
              <a:ext uri="{FF2B5EF4-FFF2-40B4-BE49-F238E27FC236}">
                <a16:creationId xmlns:a16="http://schemas.microsoft.com/office/drawing/2014/main" id="{BF0668E5-1F29-C6FB-93FA-4659CD0F7B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16190" y="1568017"/>
            <a:ext cx="1036041" cy="1463432"/>
          </a:xfrm>
          <a:prstGeom prst="rect">
            <a:avLst/>
          </a:prstGeom>
        </p:spPr>
      </p:pic>
      <p:pic>
        <p:nvPicPr>
          <p:cNvPr id="28" name="Image 27" descr="Une image contenant texte&#10;&#10;Description générée automatiquement">
            <a:extLst>
              <a:ext uri="{FF2B5EF4-FFF2-40B4-BE49-F238E27FC236}">
                <a16:creationId xmlns:a16="http://schemas.microsoft.com/office/drawing/2014/main" id="{C52BFFBF-1047-476C-6469-7AF91D6DBF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53149" y="1570159"/>
            <a:ext cx="1036041" cy="1463432"/>
          </a:xfrm>
          <a:prstGeom prst="rect">
            <a:avLst/>
          </a:prstGeom>
        </p:spPr>
      </p:pic>
      <p:pic>
        <p:nvPicPr>
          <p:cNvPr id="29" name="Image 28">
            <a:extLst>
              <a:ext uri="{FF2B5EF4-FFF2-40B4-BE49-F238E27FC236}">
                <a16:creationId xmlns:a16="http://schemas.microsoft.com/office/drawing/2014/main" id="{66A8C156-F0A3-1263-C6C5-F0E1328E750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39328" y="1562741"/>
            <a:ext cx="1036041" cy="1463432"/>
          </a:xfrm>
          <a:prstGeom prst="rect">
            <a:avLst/>
          </a:prstGeom>
        </p:spPr>
      </p:pic>
      <p:pic>
        <p:nvPicPr>
          <p:cNvPr id="30" name="Image 29">
            <a:extLst>
              <a:ext uri="{FF2B5EF4-FFF2-40B4-BE49-F238E27FC236}">
                <a16:creationId xmlns:a16="http://schemas.microsoft.com/office/drawing/2014/main" id="{6E90BE4D-1EA5-ED16-87E6-4E680E0807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268915" y="1570159"/>
            <a:ext cx="1036041" cy="1463432"/>
          </a:xfrm>
          <a:prstGeom prst="rect">
            <a:avLst/>
          </a:prstGeom>
        </p:spPr>
      </p:pic>
      <p:pic>
        <p:nvPicPr>
          <p:cNvPr id="31" name="Image 30">
            <a:extLst>
              <a:ext uri="{FF2B5EF4-FFF2-40B4-BE49-F238E27FC236}">
                <a16:creationId xmlns:a16="http://schemas.microsoft.com/office/drawing/2014/main" id="{A564748B-E5B0-4E9F-7813-01D7C51BCBB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586916" y="1575435"/>
            <a:ext cx="1036041" cy="1463432"/>
          </a:xfrm>
          <a:prstGeom prst="rect">
            <a:avLst/>
          </a:prstGeom>
        </p:spPr>
      </p:pic>
      <p:pic>
        <p:nvPicPr>
          <p:cNvPr id="32" name="Image 31" descr="Une image contenant texte&#10;&#10;Description générée automatiquement">
            <a:extLst>
              <a:ext uri="{FF2B5EF4-FFF2-40B4-BE49-F238E27FC236}">
                <a16:creationId xmlns:a16="http://schemas.microsoft.com/office/drawing/2014/main" id="{85BA04D4-8763-76EF-5EFF-C98B2E55124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104384" y="1571148"/>
            <a:ext cx="1036041" cy="1463432"/>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1C07BFD-8376-7366-5CAE-D9628DFEBEB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472353" y="1562741"/>
            <a:ext cx="1036041" cy="1463432"/>
          </a:xfrm>
          <a:prstGeom prst="rect">
            <a:avLst/>
          </a:prstGeom>
        </p:spPr>
      </p:pic>
      <p:sp>
        <p:nvSpPr>
          <p:cNvPr id="42" name="Rectangle 41">
            <a:extLst>
              <a:ext uri="{FF2B5EF4-FFF2-40B4-BE49-F238E27FC236}">
                <a16:creationId xmlns:a16="http://schemas.microsoft.com/office/drawing/2014/main" id="{D5B4002B-AE18-2BAE-0D73-078BB2432DAD}"/>
              </a:ext>
            </a:extLst>
          </p:cNvPr>
          <p:cNvSpPr/>
          <p:nvPr/>
        </p:nvSpPr>
        <p:spPr>
          <a:xfrm>
            <a:off x="10760563" y="1554256"/>
            <a:ext cx="1120155"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sp>
        <p:nvSpPr>
          <p:cNvPr id="55" name="Rectangle 54">
            <a:extLst>
              <a:ext uri="{FF2B5EF4-FFF2-40B4-BE49-F238E27FC236}">
                <a16:creationId xmlns:a16="http://schemas.microsoft.com/office/drawing/2014/main" id="{705128F1-575D-9FC8-0923-FADD1E90DA96}"/>
              </a:ext>
            </a:extLst>
          </p:cNvPr>
          <p:cNvSpPr/>
          <p:nvPr/>
        </p:nvSpPr>
        <p:spPr>
          <a:xfrm>
            <a:off x="37526" y="3084745"/>
            <a:ext cx="1120155" cy="71559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Aide aux déblocages de défis opérationnels (liés à des objectifs individuels)</a:t>
            </a:r>
          </a:p>
        </p:txBody>
      </p:sp>
      <p:sp>
        <p:nvSpPr>
          <p:cNvPr id="62" name="Rectangle 61">
            <a:extLst>
              <a:ext uri="{FF2B5EF4-FFF2-40B4-BE49-F238E27FC236}">
                <a16:creationId xmlns:a16="http://schemas.microsoft.com/office/drawing/2014/main" id="{71E525FD-2A89-73F5-5636-69BEAA740D77}"/>
              </a:ext>
            </a:extLst>
          </p:cNvPr>
          <p:cNvSpPr/>
          <p:nvPr/>
        </p:nvSpPr>
        <p:spPr>
          <a:xfrm>
            <a:off x="1197306" y="3100631"/>
            <a:ext cx="1120155" cy="80475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Organisation d’événements retours d’expériences sur les réussites des membres</a:t>
            </a:r>
          </a:p>
        </p:txBody>
      </p:sp>
      <p:sp>
        <p:nvSpPr>
          <p:cNvPr id="76" name="Rectangle 75">
            <a:extLst>
              <a:ext uri="{FF2B5EF4-FFF2-40B4-BE49-F238E27FC236}">
                <a16:creationId xmlns:a16="http://schemas.microsoft.com/office/drawing/2014/main" id="{4C5E0032-B133-F7A6-95D6-7730B42D3264}"/>
              </a:ext>
            </a:extLst>
          </p:cNvPr>
          <p:cNvSpPr/>
          <p:nvPr/>
        </p:nvSpPr>
        <p:spPr>
          <a:xfrm>
            <a:off x="2377431" y="4902230"/>
            <a:ext cx="1120155" cy="50041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Rétrospectives avec forte sécurité psychologique</a:t>
            </a:r>
          </a:p>
        </p:txBody>
      </p:sp>
      <p:sp>
        <p:nvSpPr>
          <p:cNvPr id="77" name="Rectangle 76">
            <a:extLst>
              <a:ext uri="{FF2B5EF4-FFF2-40B4-BE49-F238E27FC236}">
                <a16:creationId xmlns:a16="http://schemas.microsoft.com/office/drawing/2014/main" id="{3E32240A-7B13-A66D-2C82-0CC799CFBE97}"/>
              </a:ext>
            </a:extLst>
          </p:cNvPr>
          <p:cNvSpPr/>
          <p:nvPr/>
        </p:nvSpPr>
        <p:spPr>
          <a:xfrm>
            <a:off x="2380803" y="5436727"/>
            <a:ext cx="1120155" cy="68219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Groupes de soutien, d’expression anonyme des difficultés</a:t>
            </a:r>
          </a:p>
        </p:txBody>
      </p:sp>
      <p:sp>
        <p:nvSpPr>
          <p:cNvPr id="78" name="Rectangle 77">
            <a:extLst>
              <a:ext uri="{FF2B5EF4-FFF2-40B4-BE49-F238E27FC236}">
                <a16:creationId xmlns:a16="http://schemas.microsoft.com/office/drawing/2014/main" id="{1425590C-63FE-5040-C61D-C10235C3E677}"/>
              </a:ext>
            </a:extLst>
          </p:cNvPr>
          <p:cNvSpPr/>
          <p:nvPr/>
        </p:nvSpPr>
        <p:spPr>
          <a:xfrm>
            <a:off x="3551036" y="3100631"/>
            <a:ext cx="1120155" cy="3227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⚙️Groupes de co-développement</a:t>
            </a:r>
          </a:p>
        </p:txBody>
      </p:sp>
      <p:sp>
        <p:nvSpPr>
          <p:cNvPr id="80" name="Rectangle 79">
            <a:extLst>
              <a:ext uri="{FF2B5EF4-FFF2-40B4-BE49-F238E27FC236}">
                <a16:creationId xmlns:a16="http://schemas.microsoft.com/office/drawing/2014/main" id="{C160F2A5-2EBA-F3E0-63F1-1A00872CB231}"/>
              </a:ext>
            </a:extLst>
          </p:cNvPr>
          <p:cNvSpPr/>
          <p:nvPr/>
        </p:nvSpPr>
        <p:spPr>
          <a:xfrm>
            <a:off x="2377432" y="3112327"/>
            <a:ext cx="1120155" cy="68801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Hackathon, Evènements stimulants, Team Buildings, Serious Games</a:t>
            </a:r>
          </a:p>
        </p:txBody>
      </p:sp>
      <p:sp>
        <p:nvSpPr>
          <p:cNvPr id="81" name="Rectangle 80">
            <a:extLst>
              <a:ext uri="{FF2B5EF4-FFF2-40B4-BE49-F238E27FC236}">
                <a16:creationId xmlns:a16="http://schemas.microsoft.com/office/drawing/2014/main" id="{435ED8B9-D8FC-3089-27EA-13811DC89AEF}"/>
              </a:ext>
            </a:extLst>
          </p:cNvPr>
          <p:cNvSpPr/>
          <p:nvPr/>
        </p:nvSpPr>
        <p:spPr>
          <a:xfrm>
            <a:off x="2377431" y="3822293"/>
            <a:ext cx="1120155" cy="53519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t>
            </a:r>
            <a:r>
              <a:rPr lang="fr-FR" sz="800" dirty="0" err="1">
                <a:solidFill>
                  <a:schemeClr val="tx1"/>
                </a:solidFill>
              </a:rPr>
              <a:t>Talks</a:t>
            </a:r>
            <a:r>
              <a:rPr lang="fr-FR" sz="800" dirty="0">
                <a:solidFill>
                  <a:schemeClr val="tx1"/>
                </a:solidFill>
              </a:rPr>
              <a:t> inspirants, 📅 ✍️ Sujets Innovants, ⚙️ Organisation de Veille</a:t>
            </a:r>
          </a:p>
        </p:txBody>
      </p:sp>
      <p:sp>
        <p:nvSpPr>
          <p:cNvPr id="82" name="Rectangle 81">
            <a:extLst>
              <a:ext uri="{FF2B5EF4-FFF2-40B4-BE49-F238E27FC236}">
                <a16:creationId xmlns:a16="http://schemas.microsoft.com/office/drawing/2014/main" id="{E36CB03C-66DA-6114-F9FB-5F790F49069B}"/>
              </a:ext>
            </a:extLst>
          </p:cNvPr>
          <p:cNvSpPr/>
          <p:nvPr/>
        </p:nvSpPr>
        <p:spPr>
          <a:xfrm>
            <a:off x="3551035" y="3463166"/>
            <a:ext cx="1120155" cy="4303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Mise en relation, 📅 Evénements de rencontres</a:t>
            </a:r>
          </a:p>
        </p:txBody>
      </p:sp>
      <p:sp>
        <p:nvSpPr>
          <p:cNvPr id="83" name="Rectangle 82">
            <a:extLst>
              <a:ext uri="{FF2B5EF4-FFF2-40B4-BE49-F238E27FC236}">
                <a16:creationId xmlns:a16="http://schemas.microsoft.com/office/drawing/2014/main" id="{A3BFC1E0-9259-B9E5-AFBA-80C44A3A231E}"/>
              </a:ext>
            </a:extLst>
          </p:cNvPr>
          <p:cNvSpPr/>
          <p:nvPr/>
        </p:nvSpPr>
        <p:spPr>
          <a:xfrm>
            <a:off x="5902906" y="3083521"/>
            <a:ext cx="1120155" cy="50041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Projets profitant à des externes (non-membres, caritatif, etc.), Pro Bono</a:t>
            </a:r>
          </a:p>
        </p:txBody>
      </p:sp>
      <p:sp>
        <p:nvSpPr>
          <p:cNvPr id="84" name="Rectangle 83">
            <a:extLst>
              <a:ext uri="{FF2B5EF4-FFF2-40B4-BE49-F238E27FC236}">
                <a16:creationId xmlns:a16="http://schemas.microsoft.com/office/drawing/2014/main" id="{67FBE024-4A0D-C561-122D-709A3761C44B}"/>
              </a:ext>
            </a:extLst>
          </p:cNvPr>
          <p:cNvSpPr/>
          <p:nvPr/>
        </p:nvSpPr>
        <p:spPr>
          <a:xfrm>
            <a:off x="1207479" y="3951863"/>
            <a:ext cx="1120155" cy="6822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Production de contenus mettant  en avant des réussites des membres</a:t>
            </a:r>
          </a:p>
        </p:txBody>
      </p:sp>
      <p:sp>
        <p:nvSpPr>
          <p:cNvPr id="85" name="Rectangle 84">
            <a:extLst>
              <a:ext uri="{FF2B5EF4-FFF2-40B4-BE49-F238E27FC236}">
                <a16:creationId xmlns:a16="http://schemas.microsoft.com/office/drawing/2014/main" id="{DC20D0D4-39A0-865F-C324-035983343A9A}"/>
              </a:ext>
            </a:extLst>
          </p:cNvPr>
          <p:cNvSpPr/>
          <p:nvPr/>
        </p:nvSpPr>
        <p:spPr>
          <a:xfrm>
            <a:off x="1207479" y="4670452"/>
            <a:ext cx="1120155" cy="31631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Concours et remises de prix</a:t>
            </a:r>
          </a:p>
        </p:txBody>
      </p:sp>
      <p:sp>
        <p:nvSpPr>
          <p:cNvPr id="86" name="Rectangle 85">
            <a:extLst>
              <a:ext uri="{FF2B5EF4-FFF2-40B4-BE49-F238E27FC236}">
                <a16:creationId xmlns:a16="http://schemas.microsoft.com/office/drawing/2014/main" id="{CFAD218F-4206-5092-DD8B-932BD2714932}"/>
              </a:ext>
            </a:extLst>
          </p:cNvPr>
          <p:cNvSpPr/>
          <p:nvPr/>
        </p:nvSpPr>
        <p:spPr>
          <a:xfrm>
            <a:off x="1207479" y="5033247"/>
            <a:ext cx="1120155" cy="4303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Aide aux membres à la publication de contenus</a:t>
            </a:r>
          </a:p>
        </p:txBody>
      </p:sp>
      <p:sp>
        <p:nvSpPr>
          <p:cNvPr id="87" name="Rectangle 86">
            <a:extLst>
              <a:ext uri="{FF2B5EF4-FFF2-40B4-BE49-F238E27FC236}">
                <a16:creationId xmlns:a16="http://schemas.microsoft.com/office/drawing/2014/main" id="{E54A4CF1-3D47-6D1E-6DC4-F3F3BCCE43FA}"/>
              </a:ext>
            </a:extLst>
          </p:cNvPr>
          <p:cNvSpPr/>
          <p:nvPr/>
        </p:nvSpPr>
        <p:spPr>
          <a:xfrm>
            <a:off x="1207479" y="5510097"/>
            <a:ext cx="1120155" cy="64364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Célébration officielle de réussites, Organisation de démonstrations</a:t>
            </a:r>
          </a:p>
        </p:txBody>
      </p:sp>
      <p:sp>
        <p:nvSpPr>
          <p:cNvPr id="90" name="Rectangle 89">
            <a:extLst>
              <a:ext uri="{FF2B5EF4-FFF2-40B4-BE49-F238E27FC236}">
                <a16:creationId xmlns:a16="http://schemas.microsoft.com/office/drawing/2014/main" id="{2C79E445-0B8C-AE90-238C-59FF7085307E}"/>
              </a:ext>
            </a:extLst>
          </p:cNvPr>
          <p:cNvSpPr/>
          <p:nvPr/>
        </p:nvSpPr>
        <p:spPr>
          <a:xfrm>
            <a:off x="3551034" y="3929240"/>
            <a:ext cx="1120155" cy="4303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Team Building orientés soutien mutuel</a:t>
            </a:r>
          </a:p>
        </p:txBody>
      </p:sp>
      <p:sp>
        <p:nvSpPr>
          <p:cNvPr id="91" name="Rectangle 90">
            <a:extLst>
              <a:ext uri="{FF2B5EF4-FFF2-40B4-BE49-F238E27FC236}">
                <a16:creationId xmlns:a16="http://schemas.microsoft.com/office/drawing/2014/main" id="{7D7657BC-BD0A-F7B6-7E32-FF37F74919A7}"/>
              </a:ext>
            </a:extLst>
          </p:cNvPr>
          <p:cNvSpPr/>
          <p:nvPr/>
        </p:nvSpPr>
        <p:spPr>
          <a:xfrm>
            <a:off x="3551034" y="4398990"/>
            <a:ext cx="1120155" cy="4303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Evènements inter communautés</a:t>
            </a:r>
          </a:p>
        </p:txBody>
      </p:sp>
      <p:sp>
        <p:nvSpPr>
          <p:cNvPr id="92" name="Rectangle 91">
            <a:extLst>
              <a:ext uri="{FF2B5EF4-FFF2-40B4-BE49-F238E27FC236}">
                <a16:creationId xmlns:a16="http://schemas.microsoft.com/office/drawing/2014/main" id="{50AE13DB-43B6-BD60-C3B9-0DC7B726F5BA}"/>
              </a:ext>
            </a:extLst>
          </p:cNvPr>
          <p:cNvSpPr/>
          <p:nvPr/>
        </p:nvSpPr>
        <p:spPr>
          <a:xfrm>
            <a:off x="5902906" y="3632120"/>
            <a:ext cx="1120155" cy="4303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Mise en place de mentoring, d’entraide</a:t>
            </a:r>
          </a:p>
        </p:txBody>
      </p:sp>
      <p:sp>
        <p:nvSpPr>
          <p:cNvPr id="93" name="Rectangle 92">
            <a:extLst>
              <a:ext uri="{FF2B5EF4-FFF2-40B4-BE49-F238E27FC236}">
                <a16:creationId xmlns:a16="http://schemas.microsoft.com/office/drawing/2014/main" id="{BBFF3C92-AF7A-18BB-2FD2-426E1C06866A}"/>
              </a:ext>
            </a:extLst>
          </p:cNvPr>
          <p:cNvSpPr/>
          <p:nvPr/>
        </p:nvSpPr>
        <p:spPr>
          <a:xfrm>
            <a:off x="2383596" y="4390487"/>
            <a:ext cx="1120155" cy="46291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Système de binômes de motivation</a:t>
            </a:r>
          </a:p>
        </p:txBody>
      </p:sp>
      <p:sp>
        <p:nvSpPr>
          <p:cNvPr id="94" name="Rectangle 93">
            <a:extLst>
              <a:ext uri="{FF2B5EF4-FFF2-40B4-BE49-F238E27FC236}">
                <a16:creationId xmlns:a16="http://schemas.microsoft.com/office/drawing/2014/main" id="{BE7B6346-A966-BE4F-1068-65891AA235B4}"/>
              </a:ext>
            </a:extLst>
          </p:cNvPr>
          <p:cNvSpPr/>
          <p:nvPr/>
        </p:nvSpPr>
        <p:spPr>
          <a:xfrm>
            <a:off x="7084266" y="3081531"/>
            <a:ext cx="1120155" cy="50041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Evènements de formation, d’apprentissage</a:t>
            </a:r>
          </a:p>
        </p:txBody>
      </p:sp>
      <p:sp>
        <p:nvSpPr>
          <p:cNvPr id="95" name="Rectangle 94">
            <a:extLst>
              <a:ext uri="{FF2B5EF4-FFF2-40B4-BE49-F238E27FC236}">
                <a16:creationId xmlns:a16="http://schemas.microsoft.com/office/drawing/2014/main" id="{E2C8BB38-73A6-26AE-93C6-438BCABAE4AB}"/>
              </a:ext>
            </a:extLst>
          </p:cNvPr>
          <p:cNvSpPr/>
          <p:nvPr/>
        </p:nvSpPr>
        <p:spPr>
          <a:xfrm>
            <a:off x="7084266" y="3615491"/>
            <a:ext cx="1120155" cy="29303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Système de mentoring</a:t>
            </a:r>
          </a:p>
        </p:txBody>
      </p:sp>
      <p:sp>
        <p:nvSpPr>
          <p:cNvPr id="96" name="Rectangle 95">
            <a:extLst>
              <a:ext uri="{FF2B5EF4-FFF2-40B4-BE49-F238E27FC236}">
                <a16:creationId xmlns:a16="http://schemas.microsoft.com/office/drawing/2014/main" id="{ED959022-557E-0B81-7FB4-9F79F926FC1A}"/>
              </a:ext>
            </a:extLst>
          </p:cNvPr>
          <p:cNvSpPr/>
          <p:nvPr/>
        </p:nvSpPr>
        <p:spPr>
          <a:xfrm>
            <a:off x="37526" y="3840057"/>
            <a:ext cx="1120155" cy="32850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Système de petites annonces</a:t>
            </a:r>
          </a:p>
        </p:txBody>
      </p:sp>
      <p:sp>
        <p:nvSpPr>
          <p:cNvPr id="97" name="Rectangle 96">
            <a:extLst>
              <a:ext uri="{FF2B5EF4-FFF2-40B4-BE49-F238E27FC236}">
                <a16:creationId xmlns:a16="http://schemas.microsoft.com/office/drawing/2014/main" id="{C6CF13B5-822F-6CA0-6B57-60B77D752626}"/>
              </a:ext>
            </a:extLst>
          </p:cNvPr>
          <p:cNvSpPr/>
          <p:nvPr/>
        </p:nvSpPr>
        <p:spPr>
          <a:xfrm>
            <a:off x="37526" y="4215180"/>
            <a:ext cx="1120155" cy="32850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Loteries, jeux à cadeaux</a:t>
            </a:r>
          </a:p>
        </p:txBody>
      </p:sp>
      <p:sp>
        <p:nvSpPr>
          <p:cNvPr id="98" name="Rectangle 97">
            <a:extLst>
              <a:ext uri="{FF2B5EF4-FFF2-40B4-BE49-F238E27FC236}">
                <a16:creationId xmlns:a16="http://schemas.microsoft.com/office/drawing/2014/main" id="{F98C8950-1DB3-AD2F-F00A-002B16D505A4}"/>
              </a:ext>
            </a:extLst>
          </p:cNvPr>
          <p:cNvSpPr/>
          <p:nvPr/>
        </p:nvSpPr>
        <p:spPr>
          <a:xfrm>
            <a:off x="3551034" y="4862365"/>
            <a:ext cx="1120155" cy="90584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Moments d’isolation de la Communauté du reste de l’entreprise (ex: événements loin, …)</a:t>
            </a:r>
          </a:p>
        </p:txBody>
      </p:sp>
      <p:sp>
        <p:nvSpPr>
          <p:cNvPr id="99" name="Rectangle 98">
            <a:extLst>
              <a:ext uri="{FF2B5EF4-FFF2-40B4-BE49-F238E27FC236}">
                <a16:creationId xmlns:a16="http://schemas.microsoft.com/office/drawing/2014/main" id="{6840A092-3FD7-A9FB-3CB3-B4B130F7EF3D}"/>
              </a:ext>
            </a:extLst>
          </p:cNvPr>
          <p:cNvSpPr/>
          <p:nvPr/>
        </p:nvSpPr>
        <p:spPr>
          <a:xfrm>
            <a:off x="3554406" y="5829972"/>
            <a:ext cx="1120155" cy="43037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Projets collectifs et groupes de travail persistants</a:t>
            </a:r>
          </a:p>
        </p:txBody>
      </p:sp>
      <p:sp>
        <p:nvSpPr>
          <p:cNvPr id="100" name="Rectangle 99">
            <a:extLst>
              <a:ext uri="{FF2B5EF4-FFF2-40B4-BE49-F238E27FC236}">
                <a16:creationId xmlns:a16="http://schemas.microsoft.com/office/drawing/2014/main" id="{A041D9D9-1664-899F-3129-97F036022EEC}"/>
              </a:ext>
            </a:extLst>
          </p:cNvPr>
          <p:cNvSpPr/>
          <p:nvPr/>
        </p:nvSpPr>
        <p:spPr>
          <a:xfrm>
            <a:off x="37526" y="4579459"/>
            <a:ext cx="1120155" cy="60447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Système de mise en commun de ressources ou d’achats</a:t>
            </a:r>
          </a:p>
        </p:txBody>
      </p:sp>
      <p:sp>
        <p:nvSpPr>
          <p:cNvPr id="101" name="Rectangle 100">
            <a:extLst>
              <a:ext uri="{FF2B5EF4-FFF2-40B4-BE49-F238E27FC236}">
                <a16:creationId xmlns:a16="http://schemas.microsoft.com/office/drawing/2014/main" id="{9936F45E-66EB-8CEF-26C9-4CF77708558C}"/>
              </a:ext>
            </a:extLst>
          </p:cNvPr>
          <p:cNvSpPr/>
          <p:nvPr/>
        </p:nvSpPr>
        <p:spPr>
          <a:xfrm>
            <a:off x="7081275" y="3951667"/>
            <a:ext cx="1120155" cy="29303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Préparation de certifications </a:t>
            </a:r>
          </a:p>
        </p:txBody>
      </p:sp>
      <p:sp>
        <p:nvSpPr>
          <p:cNvPr id="102" name="Rectangle 101">
            <a:extLst>
              <a:ext uri="{FF2B5EF4-FFF2-40B4-BE49-F238E27FC236}">
                <a16:creationId xmlns:a16="http://schemas.microsoft.com/office/drawing/2014/main" id="{B2450694-09BC-7DC5-194C-5D553D6E0904}"/>
              </a:ext>
            </a:extLst>
          </p:cNvPr>
          <p:cNvSpPr/>
          <p:nvPr/>
        </p:nvSpPr>
        <p:spPr>
          <a:xfrm>
            <a:off x="7081275" y="4308460"/>
            <a:ext cx="1120155" cy="53318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Systèmes de binômes ou groupes de motivation</a:t>
            </a:r>
          </a:p>
        </p:txBody>
      </p:sp>
      <p:sp>
        <p:nvSpPr>
          <p:cNvPr id="103" name="Rectangle 102">
            <a:extLst>
              <a:ext uri="{FF2B5EF4-FFF2-40B4-BE49-F238E27FC236}">
                <a16:creationId xmlns:a16="http://schemas.microsoft.com/office/drawing/2014/main" id="{E7CF214E-A5C4-BA7C-01AE-5FA8C6781F63}"/>
              </a:ext>
            </a:extLst>
          </p:cNvPr>
          <p:cNvSpPr/>
          <p:nvPr/>
        </p:nvSpPr>
        <p:spPr>
          <a:xfrm>
            <a:off x="7081275" y="4896409"/>
            <a:ext cx="1120155" cy="48495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Organisation d’événements Epreuves et défis </a:t>
            </a:r>
          </a:p>
        </p:txBody>
      </p:sp>
      <p:sp>
        <p:nvSpPr>
          <p:cNvPr id="79" name="Rectangle 78">
            <a:extLst>
              <a:ext uri="{FF2B5EF4-FFF2-40B4-BE49-F238E27FC236}">
                <a16:creationId xmlns:a16="http://schemas.microsoft.com/office/drawing/2014/main" id="{43EF0800-F710-E1AE-B99F-1EC5DA913AD7}"/>
              </a:ext>
            </a:extLst>
          </p:cNvPr>
          <p:cNvSpPr/>
          <p:nvPr/>
        </p:nvSpPr>
        <p:spPr>
          <a:xfrm>
            <a:off x="2377430" y="6159483"/>
            <a:ext cx="1120155" cy="335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Retraites, Excursions</a:t>
            </a:r>
          </a:p>
        </p:txBody>
      </p:sp>
      <p:sp>
        <p:nvSpPr>
          <p:cNvPr id="88" name="Rectangle 87">
            <a:extLst>
              <a:ext uri="{FF2B5EF4-FFF2-40B4-BE49-F238E27FC236}">
                <a16:creationId xmlns:a16="http://schemas.microsoft.com/office/drawing/2014/main" id="{055E5895-8000-228F-51D0-E9CF99A4C349}"/>
              </a:ext>
            </a:extLst>
          </p:cNvPr>
          <p:cNvSpPr/>
          <p:nvPr/>
        </p:nvSpPr>
        <p:spPr>
          <a:xfrm>
            <a:off x="9439510" y="3071398"/>
            <a:ext cx="1120155" cy="70243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 Tutoriels de découverte de ressources nouvelles (Fablab, Imprimantes 3D, …)</a:t>
            </a:r>
          </a:p>
        </p:txBody>
      </p:sp>
      <p:sp>
        <p:nvSpPr>
          <p:cNvPr id="89" name="Rectangle 88">
            <a:extLst>
              <a:ext uri="{FF2B5EF4-FFF2-40B4-BE49-F238E27FC236}">
                <a16:creationId xmlns:a16="http://schemas.microsoft.com/office/drawing/2014/main" id="{9DB807DD-8EF1-A776-6EA6-576ECE82DCD9}"/>
              </a:ext>
            </a:extLst>
          </p:cNvPr>
          <p:cNvSpPr/>
          <p:nvPr/>
        </p:nvSpPr>
        <p:spPr>
          <a:xfrm>
            <a:off x="9439509" y="3799384"/>
            <a:ext cx="1120155" cy="4303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Ateliers créatifs thématisés, hackathons</a:t>
            </a:r>
          </a:p>
        </p:txBody>
      </p:sp>
      <p:sp>
        <p:nvSpPr>
          <p:cNvPr id="104" name="Rectangle 103">
            <a:extLst>
              <a:ext uri="{FF2B5EF4-FFF2-40B4-BE49-F238E27FC236}">
                <a16:creationId xmlns:a16="http://schemas.microsoft.com/office/drawing/2014/main" id="{360472D1-CD98-3C08-69D2-54D3D94BF67E}"/>
              </a:ext>
            </a:extLst>
          </p:cNvPr>
          <p:cNvSpPr/>
          <p:nvPr/>
        </p:nvSpPr>
        <p:spPr>
          <a:xfrm>
            <a:off x="9439509" y="4276815"/>
            <a:ext cx="1120155" cy="57695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Appel à projets, Concours de créations et d’innovation</a:t>
            </a:r>
          </a:p>
        </p:txBody>
      </p:sp>
      <p:sp>
        <p:nvSpPr>
          <p:cNvPr id="105" name="Rectangle 104">
            <a:extLst>
              <a:ext uri="{FF2B5EF4-FFF2-40B4-BE49-F238E27FC236}">
                <a16:creationId xmlns:a16="http://schemas.microsoft.com/office/drawing/2014/main" id="{3E1A3995-0BCE-64BA-D65C-5B10FF7D8D00}"/>
              </a:ext>
            </a:extLst>
          </p:cNvPr>
          <p:cNvSpPr/>
          <p:nvPr/>
        </p:nvSpPr>
        <p:spPr>
          <a:xfrm>
            <a:off x="7081274" y="5426065"/>
            <a:ext cx="1120155" cy="79185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Système de cliniques (créneau d’aide ponctuelle au besoin), de points de contact sur des sujets de pointe</a:t>
            </a:r>
          </a:p>
        </p:txBody>
      </p:sp>
      <p:sp>
        <p:nvSpPr>
          <p:cNvPr id="106" name="Rectangle 105">
            <a:extLst>
              <a:ext uri="{FF2B5EF4-FFF2-40B4-BE49-F238E27FC236}">
                <a16:creationId xmlns:a16="http://schemas.microsoft.com/office/drawing/2014/main" id="{1949AC6A-50D1-99EF-D64B-26BACC688796}"/>
              </a:ext>
            </a:extLst>
          </p:cNvPr>
          <p:cNvSpPr/>
          <p:nvPr/>
        </p:nvSpPr>
        <p:spPr>
          <a:xfrm>
            <a:off x="5909072" y="4110434"/>
            <a:ext cx="1120155" cy="6878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Organisation de la transmission de connaissances entre membres, #OpenSeriousHub</a:t>
            </a:r>
          </a:p>
        </p:txBody>
      </p:sp>
      <p:sp>
        <p:nvSpPr>
          <p:cNvPr id="107" name="Rectangle 106">
            <a:extLst>
              <a:ext uri="{FF2B5EF4-FFF2-40B4-BE49-F238E27FC236}">
                <a16:creationId xmlns:a16="http://schemas.microsoft.com/office/drawing/2014/main" id="{48C5693D-615D-7AC4-73D8-FA4D40EE1AAF}"/>
              </a:ext>
            </a:extLst>
          </p:cNvPr>
          <p:cNvSpPr/>
          <p:nvPr/>
        </p:nvSpPr>
        <p:spPr>
          <a:xfrm>
            <a:off x="5901408" y="4849268"/>
            <a:ext cx="1120155" cy="5566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 Organisation d’événements retours d’expériences</a:t>
            </a:r>
          </a:p>
        </p:txBody>
      </p:sp>
      <p:sp>
        <p:nvSpPr>
          <p:cNvPr id="108" name="Rectangle 107">
            <a:extLst>
              <a:ext uri="{FF2B5EF4-FFF2-40B4-BE49-F238E27FC236}">
                <a16:creationId xmlns:a16="http://schemas.microsoft.com/office/drawing/2014/main" id="{039747EC-FFB6-31A6-11D1-A12D879D3167}"/>
              </a:ext>
            </a:extLst>
          </p:cNvPr>
          <p:cNvSpPr/>
          <p:nvPr/>
        </p:nvSpPr>
        <p:spPr>
          <a:xfrm>
            <a:off x="5896102" y="5456768"/>
            <a:ext cx="1120155" cy="3795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Excursions à la rencontre des utilisateurs</a:t>
            </a:r>
          </a:p>
        </p:txBody>
      </p:sp>
      <p:sp>
        <p:nvSpPr>
          <p:cNvPr id="109" name="Rectangle 108">
            <a:extLst>
              <a:ext uri="{FF2B5EF4-FFF2-40B4-BE49-F238E27FC236}">
                <a16:creationId xmlns:a16="http://schemas.microsoft.com/office/drawing/2014/main" id="{2D533B75-7972-A877-9660-93177FEA6688}"/>
              </a:ext>
            </a:extLst>
          </p:cNvPr>
          <p:cNvSpPr/>
          <p:nvPr/>
        </p:nvSpPr>
        <p:spPr>
          <a:xfrm>
            <a:off x="5896102" y="5873861"/>
            <a:ext cx="1120155" cy="54158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t>
            </a:r>
            <a:r>
              <a:rPr lang="fr-FR" sz="800" dirty="0" err="1">
                <a:solidFill>
                  <a:schemeClr val="tx1"/>
                </a:solidFill>
              </a:rPr>
              <a:t>Co-création</a:t>
            </a:r>
            <a:r>
              <a:rPr lang="fr-FR" sz="800" dirty="0">
                <a:solidFill>
                  <a:schemeClr val="tx1"/>
                </a:solidFill>
              </a:rPr>
              <a:t> de contenus Open Source ou </a:t>
            </a:r>
            <a:r>
              <a:rPr lang="fr-FR" sz="800" dirty="0" err="1">
                <a:solidFill>
                  <a:schemeClr val="tx1"/>
                </a:solidFill>
              </a:rPr>
              <a:t>Inner</a:t>
            </a:r>
            <a:r>
              <a:rPr lang="fr-FR" sz="800" dirty="0">
                <a:solidFill>
                  <a:schemeClr val="tx1"/>
                </a:solidFill>
              </a:rPr>
              <a:t> source </a:t>
            </a:r>
          </a:p>
        </p:txBody>
      </p:sp>
      <p:sp>
        <p:nvSpPr>
          <p:cNvPr id="110" name="Rectangle 109">
            <a:extLst>
              <a:ext uri="{FF2B5EF4-FFF2-40B4-BE49-F238E27FC236}">
                <a16:creationId xmlns:a16="http://schemas.microsoft.com/office/drawing/2014/main" id="{906F0581-01CA-DAA9-081A-88726EDDB117}"/>
              </a:ext>
            </a:extLst>
          </p:cNvPr>
          <p:cNvSpPr/>
          <p:nvPr/>
        </p:nvSpPr>
        <p:spPr>
          <a:xfrm>
            <a:off x="8259645" y="3076633"/>
            <a:ext cx="1120155" cy="50041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Moments dédiés à des projets personnels ou semi-pro</a:t>
            </a:r>
          </a:p>
        </p:txBody>
      </p:sp>
      <p:sp>
        <p:nvSpPr>
          <p:cNvPr id="111" name="Rectangle 110">
            <a:extLst>
              <a:ext uri="{FF2B5EF4-FFF2-40B4-BE49-F238E27FC236}">
                <a16:creationId xmlns:a16="http://schemas.microsoft.com/office/drawing/2014/main" id="{71053FE9-B483-EF68-8610-632483DD0B71}"/>
              </a:ext>
            </a:extLst>
          </p:cNvPr>
          <p:cNvSpPr/>
          <p:nvPr/>
        </p:nvSpPr>
        <p:spPr>
          <a:xfrm>
            <a:off x="8259645" y="3598538"/>
            <a:ext cx="1120155" cy="50041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 Echanges sur astuces d’usage d’outils du quotidien</a:t>
            </a:r>
          </a:p>
        </p:txBody>
      </p:sp>
      <p:sp>
        <p:nvSpPr>
          <p:cNvPr id="113" name="Rectangle 112">
            <a:extLst>
              <a:ext uri="{FF2B5EF4-FFF2-40B4-BE49-F238E27FC236}">
                <a16:creationId xmlns:a16="http://schemas.microsoft.com/office/drawing/2014/main" id="{65AA4094-FD47-D9A6-8A51-DC4BE8FC028D}"/>
              </a:ext>
            </a:extLst>
          </p:cNvPr>
          <p:cNvSpPr/>
          <p:nvPr/>
        </p:nvSpPr>
        <p:spPr>
          <a:xfrm>
            <a:off x="8259644" y="4135397"/>
            <a:ext cx="1120155" cy="57695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Appel à projets, Concours de créations et d’innovation</a:t>
            </a:r>
          </a:p>
        </p:txBody>
      </p:sp>
      <p:sp>
        <p:nvSpPr>
          <p:cNvPr id="114" name="Rectangle 113">
            <a:extLst>
              <a:ext uri="{FF2B5EF4-FFF2-40B4-BE49-F238E27FC236}">
                <a16:creationId xmlns:a16="http://schemas.microsoft.com/office/drawing/2014/main" id="{30D36DA8-30AB-7B3B-A158-9FDB8F98D96B}"/>
              </a:ext>
            </a:extLst>
          </p:cNvPr>
          <p:cNvSpPr/>
          <p:nvPr/>
        </p:nvSpPr>
        <p:spPr>
          <a:xfrm>
            <a:off x="8259643" y="4752221"/>
            <a:ext cx="1120155" cy="53318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Groupes d’expression anonyme des difficultés</a:t>
            </a:r>
          </a:p>
        </p:txBody>
      </p:sp>
      <p:sp>
        <p:nvSpPr>
          <p:cNvPr id="115" name="Rectangle 114">
            <a:extLst>
              <a:ext uri="{FF2B5EF4-FFF2-40B4-BE49-F238E27FC236}">
                <a16:creationId xmlns:a16="http://schemas.microsoft.com/office/drawing/2014/main" id="{BF0A0DC4-F59B-F430-48A4-A8E172000A34}"/>
              </a:ext>
            </a:extLst>
          </p:cNvPr>
          <p:cNvSpPr/>
          <p:nvPr/>
        </p:nvSpPr>
        <p:spPr>
          <a:xfrm>
            <a:off x="8265117" y="5331751"/>
            <a:ext cx="1120155" cy="335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Retraites, Excursions</a:t>
            </a:r>
          </a:p>
        </p:txBody>
      </p:sp>
      <p:pic>
        <p:nvPicPr>
          <p:cNvPr id="4" name="Image 3" descr="Une image contenant texte&#10;&#10;Description générée automatiquement">
            <a:extLst>
              <a:ext uri="{FF2B5EF4-FFF2-40B4-BE49-F238E27FC236}">
                <a16:creationId xmlns:a16="http://schemas.microsoft.com/office/drawing/2014/main" id="{5BA312F9-B03F-88C0-5DDB-1BE1AC830520}"/>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802369" y="1576230"/>
            <a:ext cx="1036041" cy="1449325"/>
          </a:xfrm>
          <a:prstGeom prst="rect">
            <a:avLst/>
          </a:prstGeom>
        </p:spPr>
      </p:pic>
      <p:sp>
        <p:nvSpPr>
          <p:cNvPr id="56" name="Rectangle 55">
            <a:extLst>
              <a:ext uri="{FF2B5EF4-FFF2-40B4-BE49-F238E27FC236}">
                <a16:creationId xmlns:a16="http://schemas.microsoft.com/office/drawing/2014/main" id="{AC39D9A6-EDF8-AEB2-526B-B87964CAC5B0}"/>
              </a:ext>
            </a:extLst>
          </p:cNvPr>
          <p:cNvSpPr/>
          <p:nvPr/>
        </p:nvSpPr>
        <p:spPr>
          <a:xfrm>
            <a:off x="4730702" y="3090001"/>
            <a:ext cx="1120155" cy="49122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⚙️Achat groupé de ressources, outils ou compétences à des fins opérationnelles</a:t>
            </a:r>
          </a:p>
        </p:txBody>
      </p:sp>
      <p:sp>
        <p:nvSpPr>
          <p:cNvPr id="57" name="Rectangle 56">
            <a:extLst>
              <a:ext uri="{FF2B5EF4-FFF2-40B4-BE49-F238E27FC236}">
                <a16:creationId xmlns:a16="http://schemas.microsoft.com/office/drawing/2014/main" id="{517335C9-F653-EB3C-D448-CAAB7EBA09B7}"/>
              </a:ext>
            </a:extLst>
          </p:cNvPr>
          <p:cNvSpPr/>
          <p:nvPr/>
        </p:nvSpPr>
        <p:spPr>
          <a:xfrm>
            <a:off x="4730702" y="3598249"/>
            <a:ext cx="1120155" cy="76498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⚙️Groupes d’entraide / ✍️Forum de soutien sur des questions professionnelles courantes</a:t>
            </a:r>
          </a:p>
        </p:txBody>
      </p:sp>
      <p:sp>
        <p:nvSpPr>
          <p:cNvPr id="58" name="Rectangle 57">
            <a:extLst>
              <a:ext uri="{FF2B5EF4-FFF2-40B4-BE49-F238E27FC236}">
                <a16:creationId xmlns:a16="http://schemas.microsoft.com/office/drawing/2014/main" id="{894642F7-D8C0-522F-D7FD-575B4ED50510}"/>
              </a:ext>
            </a:extLst>
          </p:cNvPr>
          <p:cNvSpPr/>
          <p:nvPr/>
        </p:nvSpPr>
        <p:spPr>
          <a:xfrm>
            <a:off x="4730702" y="4378395"/>
            <a:ext cx="1120155" cy="29326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✍️FAQ sur des sujets opérationnels</a:t>
            </a:r>
          </a:p>
        </p:txBody>
      </p:sp>
      <p:sp>
        <p:nvSpPr>
          <p:cNvPr id="59" name="Rectangle 58">
            <a:extLst>
              <a:ext uri="{FF2B5EF4-FFF2-40B4-BE49-F238E27FC236}">
                <a16:creationId xmlns:a16="http://schemas.microsoft.com/office/drawing/2014/main" id="{B19CC1D1-DF0E-4441-357F-139D5FC6B53D}"/>
              </a:ext>
            </a:extLst>
          </p:cNvPr>
          <p:cNvSpPr/>
          <p:nvPr/>
        </p:nvSpPr>
        <p:spPr>
          <a:xfrm>
            <a:off x="4730702" y="5009313"/>
            <a:ext cx="1120155" cy="5920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⚙️Organisation d’assistance opérationnelle entre membres</a:t>
            </a:r>
          </a:p>
        </p:txBody>
      </p:sp>
      <p:sp>
        <p:nvSpPr>
          <p:cNvPr id="60" name="Rectangle 59">
            <a:extLst>
              <a:ext uri="{FF2B5EF4-FFF2-40B4-BE49-F238E27FC236}">
                <a16:creationId xmlns:a16="http://schemas.microsoft.com/office/drawing/2014/main" id="{003D2B96-D45C-D844-96DA-FC7F50DC92E9}"/>
              </a:ext>
            </a:extLst>
          </p:cNvPr>
          <p:cNvSpPr/>
          <p:nvPr/>
        </p:nvSpPr>
        <p:spPr>
          <a:xfrm>
            <a:off x="4730702" y="5624911"/>
            <a:ext cx="1120155" cy="4090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📅Retours d’expériences sur des sujets opérationnels</a:t>
            </a:r>
          </a:p>
        </p:txBody>
      </p:sp>
      <p:sp>
        <p:nvSpPr>
          <p:cNvPr id="61" name="Rectangle 60">
            <a:extLst>
              <a:ext uri="{FF2B5EF4-FFF2-40B4-BE49-F238E27FC236}">
                <a16:creationId xmlns:a16="http://schemas.microsoft.com/office/drawing/2014/main" id="{AB43559F-6A51-6D06-C1AC-055AFA3B2E43}"/>
              </a:ext>
            </a:extLst>
          </p:cNvPr>
          <p:cNvSpPr/>
          <p:nvPr/>
        </p:nvSpPr>
        <p:spPr>
          <a:xfrm>
            <a:off x="4730702" y="6056547"/>
            <a:ext cx="1120155" cy="521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⚙️Organisation pour décisions collectives opérationnelles transverse</a:t>
            </a:r>
          </a:p>
        </p:txBody>
      </p:sp>
      <p:sp>
        <p:nvSpPr>
          <p:cNvPr id="63" name="Rectangle 62">
            <a:extLst>
              <a:ext uri="{FF2B5EF4-FFF2-40B4-BE49-F238E27FC236}">
                <a16:creationId xmlns:a16="http://schemas.microsoft.com/office/drawing/2014/main" id="{B59EAD85-7DE2-CDED-552C-C04FDB82C31C}"/>
              </a:ext>
            </a:extLst>
          </p:cNvPr>
          <p:cNvSpPr/>
          <p:nvPr/>
        </p:nvSpPr>
        <p:spPr>
          <a:xfrm>
            <a:off x="4730702" y="6600926"/>
            <a:ext cx="1120155" cy="22929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⚙️Suivi transverse de sujets opérationnels </a:t>
            </a:r>
          </a:p>
        </p:txBody>
      </p:sp>
      <p:sp>
        <p:nvSpPr>
          <p:cNvPr id="64" name="Rectangle 63">
            <a:extLst>
              <a:ext uri="{FF2B5EF4-FFF2-40B4-BE49-F238E27FC236}">
                <a16:creationId xmlns:a16="http://schemas.microsoft.com/office/drawing/2014/main" id="{FBDF59C5-F4C1-5E80-79E4-F937CC74C0A9}"/>
              </a:ext>
            </a:extLst>
          </p:cNvPr>
          <p:cNvSpPr/>
          <p:nvPr/>
        </p:nvSpPr>
        <p:spPr>
          <a:xfrm>
            <a:off x="8266446" y="5723167"/>
            <a:ext cx="1120155" cy="57695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Négociations pour protéger le temps des membres et/ou permettre leur investissement</a:t>
            </a:r>
          </a:p>
        </p:txBody>
      </p:sp>
      <p:grpSp>
        <p:nvGrpSpPr>
          <p:cNvPr id="65" name="Groupe 64">
            <a:extLst>
              <a:ext uri="{FF2B5EF4-FFF2-40B4-BE49-F238E27FC236}">
                <a16:creationId xmlns:a16="http://schemas.microsoft.com/office/drawing/2014/main" id="{D4FE61E4-5DC5-4329-731E-7D3DBF0843FF}"/>
              </a:ext>
            </a:extLst>
          </p:cNvPr>
          <p:cNvGrpSpPr/>
          <p:nvPr/>
        </p:nvGrpSpPr>
        <p:grpSpPr>
          <a:xfrm>
            <a:off x="121640" y="511444"/>
            <a:ext cx="756159" cy="637502"/>
            <a:chOff x="8982504" y="3274976"/>
            <a:chExt cx="1230670" cy="1037553"/>
          </a:xfrm>
          <a:solidFill>
            <a:srgbClr val="ED7D31"/>
          </a:solidFill>
        </p:grpSpPr>
        <p:pic>
          <p:nvPicPr>
            <p:cNvPr id="66" name="Graphique 65" descr="Utilisateur avec un remplissage uni">
              <a:extLst>
                <a:ext uri="{FF2B5EF4-FFF2-40B4-BE49-F238E27FC236}">
                  <a16:creationId xmlns:a16="http://schemas.microsoft.com/office/drawing/2014/main" id="{48753949-93EF-3D80-382F-B193CEC4DDC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01028" y="3274976"/>
              <a:ext cx="336064" cy="336064"/>
            </a:xfrm>
            <a:prstGeom prst="rect">
              <a:avLst/>
            </a:prstGeom>
          </p:spPr>
        </p:pic>
        <p:pic>
          <p:nvPicPr>
            <p:cNvPr id="67" name="Graphique 66" descr="Utilisateur avec un remplissage uni">
              <a:extLst>
                <a:ext uri="{FF2B5EF4-FFF2-40B4-BE49-F238E27FC236}">
                  <a16:creationId xmlns:a16="http://schemas.microsoft.com/office/drawing/2014/main" id="{F6E18B21-3BA0-5D9E-0ED6-496FAA28788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54140" y="3512720"/>
              <a:ext cx="336064" cy="336064"/>
            </a:xfrm>
            <a:prstGeom prst="rect">
              <a:avLst/>
            </a:prstGeom>
          </p:spPr>
        </p:pic>
        <p:pic>
          <p:nvPicPr>
            <p:cNvPr id="68" name="Graphique 67" descr="Utilisateur avec un remplissage uni">
              <a:extLst>
                <a:ext uri="{FF2B5EF4-FFF2-40B4-BE49-F238E27FC236}">
                  <a16:creationId xmlns:a16="http://schemas.microsoft.com/office/drawing/2014/main" id="{94D65B38-D73A-7F86-B1DD-E64A7D519B1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45616" y="3561880"/>
              <a:ext cx="336064" cy="336064"/>
            </a:xfrm>
            <a:prstGeom prst="rect">
              <a:avLst/>
            </a:prstGeom>
          </p:spPr>
        </p:pic>
        <p:pic>
          <p:nvPicPr>
            <p:cNvPr id="69" name="Graphique 68" descr="Utilisateur avec un remplissage uni">
              <a:extLst>
                <a:ext uri="{FF2B5EF4-FFF2-40B4-BE49-F238E27FC236}">
                  <a16:creationId xmlns:a16="http://schemas.microsoft.com/office/drawing/2014/main" id="{CE986DA1-3127-D953-A824-FF331646E12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92504" y="3418428"/>
              <a:ext cx="336064" cy="336064"/>
            </a:xfrm>
            <a:prstGeom prst="rect">
              <a:avLst/>
            </a:prstGeom>
          </p:spPr>
        </p:pic>
        <p:pic>
          <p:nvPicPr>
            <p:cNvPr id="70" name="Graphique 69" descr="Utilisateur avec un remplissage uni">
              <a:extLst>
                <a:ext uri="{FF2B5EF4-FFF2-40B4-BE49-F238E27FC236}">
                  <a16:creationId xmlns:a16="http://schemas.microsoft.com/office/drawing/2014/main" id="{4C4F3AE0-927B-3E3C-B917-26BC286F7D2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635196" y="3680752"/>
              <a:ext cx="336064" cy="336064"/>
            </a:xfrm>
            <a:prstGeom prst="rect">
              <a:avLst/>
            </a:prstGeom>
          </p:spPr>
        </p:pic>
        <p:pic>
          <p:nvPicPr>
            <p:cNvPr id="71" name="Graphique 70" descr="Utilisateur avec un remplissage uni">
              <a:extLst>
                <a:ext uri="{FF2B5EF4-FFF2-40B4-BE49-F238E27FC236}">
                  <a16:creationId xmlns:a16="http://schemas.microsoft.com/office/drawing/2014/main" id="{DDF76C1B-F28E-EE6D-4347-71AE54C343F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256440" y="3848784"/>
              <a:ext cx="336064" cy="336064"/>
            </a:xfrm>
            <a:prstGeom prst="rect">
              <a:avLst/>
            </a:prstGeom>
          </p:spPr>
        </p:pic>
        <p:pic>
          <p:nvPicPr>
            <p:cNvPr id="72" name="Graphique 71" descr="Utilisateur avec un remplissage uni">
              <a:extLst>
                <a:ext uri="{FF2B5EF4-FFF2-40B4-BE49-F238E27FC236}">
                  <a16:creationId xmlns:a16="http://schemas.microsoft.com/office/drawing/2014/main" id="{895EE63F-29C8-8EFF-75F8-DD8D9E08AFA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82504" y="3835028"/>
              <a:ext cx="336064" cy="336064"/>
            </a:xfrm>
            <a:prstGeom prst="rect">
              <a:avLst/>
            </a:prstGeom>
          </p:spPr>
        </p:pic>
        <p:pic>
          <p:nvPicPr>
            <p:cNvPr id="73" name="Graphique 72" descr="Utilisateur avec un remplissage uni">
              <a:extLst>
                <a:ext uri="{FF2B5EF4-FFF2-40B4-BE49-F238E27FC236}">
                  <a16:creationId xmlns:a16="http://schemas.microsoft.com/office/drawing/2014/main" id="{02769511-677C-B372-2C22-4347F962799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0868" y="3943076"/>
              <a:ext cx="336064" cy="336064"/>
            </a:xfrm>
            <a:prstGeom prst="rect">
              <a:avLst/>
            </a:prstGeom>
          </p:spPr>
        </p:pic>
        <p:pic>
          <p:nvPicPr>
            <p:cNvPr id="74" name="Graphique 73" descr="Utilisateur avec un remplissage uni">
              <a:extLst>
                <a:ext uri="{FF2B5EF4-FFF2-40B4-BE49-F238E27FC236}">
                  <a16:creationId xmlns:a16="http://schemas.microsoft.com/office/drawing/2014/main" id="{1D56F51E-CA84-7EEC-584A-4255AACD4DF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42772" y="3976465"/>
              <a:ext cx="336064" cy="336064"/>
            </a:xfrm>
            <a:prstGeom prst="rect">
              <a:avLst/>
            </a:prstGeom>
          </p:spPr>
        </p:pic>
        <p:pic>
          <p:nvPicPr>
            <p:cNvPr id="75" name="Graphique 74" descr="Utilisateur avec un remplissage uni">
              <a:extLst>
                <a:ext uri="{FF2B5EF4-FFF2-40B4-BE49-F238E27FC236}">
                  <a16:creationId xmlns:a16="http://schemas.microsoft.com/office/drawing/2014/main" id="{D5FA1D01-2DDD-6D4A-5262-56A38EACEB5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77110" y="3705332"/>
              <a:ext cx="336064" cy="336064"/>
            </a:xfrm>
            <a:prstGeom prst="rect">
              <a:avLst/>
            </a:prstGeom>
          </p:spPr>
        </p:pic>
        <p:pic>
          <p:nvPicPr>
            <p:cNvPr id="112" name="Graphique 111" descr="Utilisateur avec un remplissage uni">
              <a:extLst>
                <a:ext uri="{FF2B5EF4-FFF2-40B4-BE49-F238E27FC236}">
                  <a16:creationId xmlns:a16="http://schemas.microsoft.com/office/drawing/2014/main" id="{BD8FF552-B8DD-7763-DCAB-3D14327F8CA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56932" y="3429000"/>
              <a:ext cx="336064" cy="336064"/>
            </a:xfrm>
            <a:prstGeom prst="rect">
              <a:avLst/>
            </a:prstGeom>
          </p:spPr>
        </p:pic>
      </p:grpSp>
      <p:sp>
        <p:nvSpPr>
          <p:cNvPr id="116" name="Rectangle 115">
            <a:extLst>
              <a:ext uri="{FF2B5EF4-FFF2-40B4-BE49-F238E27FC236}">
                <a16:creationId xmlns:a16="http://schemas.microsoft.com/office/drawing/2014/main" id="{0BD665A4-73B0-4D0A-8342-08A9CF35AD03}"/>
              </a:ext>
            </a:extLst>
          </p:cNvPr>
          <p:cNvSpPr/>
          <p:nvPr/>
        </p:nvSpPr>
        <p:spPr>
          <a:xfrm>
            <a:off x="4730702" y="4698043"/>
            <a:ext cx="1120155" cy="29326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✍️Liste de compétences à développer</a:t>
            </a:r>
          </a:p>
        </p:txBody>
      </p:sp>
      <p:sp>
        <p:nvSpPr>
          <p:cNvPr id="3" name="Rectangle 2">
            <a:extLst>
              <a:ext uri="{FF2B5EF4-FFF2-40B4-BE49-F238E27FC236}">
                <a16:creationId xmlns:a16="http://schemas.microsoft.com/office/drawing/2014/main" id="{A700D27D-2B9D-3C4D-F46D-9AC41A4D93EF}"/>
              </a:ext>
            </a:extLst>
          </p:cNvPr>
          <p:cNvSpPr/>
          <p:nvPr/>
        </p:nvSpPr>
        <p:spPr>
          <a:xfrm>
            <a:off x="1197305" y="6199843"/>
            <a:ext cx="1120155" cy="29303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Préparation de certifications </a:t>
            </a:r>
          </a:p>
        </p:txBody>
      </p:sp>
    </p:spTree>
    <p:extLst>
      <p:ext uri="{BB962C8B-B14F-4D97-AF65-F5344CB8AC3E}">
        <p14:creationId xmlns:p14="http://schemas.microsoft.com/office/powerpoint/2010/main" val="1106057894"/>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838200" y="10007"/>
            <a:ext cx="10515600" cy="1165815"/>
          </a:xfrm>
        </p:spPr>
        <p:txBody>
          <a:bodyPr>
            <a:noAutofit/>
          </a:bodyPr>
          <a:lstStyle/>
          <a:p>
            <a:r>
              <a:rPr lang="fr-FR" sz="3200" dirty="0"/>
              <a:t>Exemples de réponses opérationnelles de Communauté d’entreprise classées par motivateurs – Echelle Méso</a:t>
            </a:r>
            <a:br>
              <a:rPr lang="fr-FR" sz="3200" dirty="0"/>
            </a:br>
            <a:r>
              <a:rPr lang="fr-FR" sz="2000" dirty="0"/>
              <a:t>📅+⚙️Structuration de moments, ✍️+⚙️ Structuration de Contenus</a:t>
            </a:r>
            <a:endParaRPr lang="fr-FR" sz="3200" dirty="0"/>
          </a:p>
        </p:txBody>
      </p:sp>
      <p:pic>
        <p:nvPicPr>
          <p:cNvPr id="25" name="Image 24">
            <a:extLst>
              <a:ext uri="{FF2B5EF4-FFF2-40B4-BE49-F238E27FC236}">
                <a16:creationId xmlns:a16="http://schemas.microsoft.com/office/drawing/2014/main" id="{606255BE-23A7-ADAF-2326-89C7A7C1166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1640" y="1216242"/>
            <a:ext cx="1036041" cy="1463432"/>
          </a:xfrm>
          <a:prstGeom prst="rect">
            <a:avLst/>
          </a:prstGeom>
        </p:spPr>
      </p:pic>
      <p:pic>
        <p:nvPicPr>
          <p:cNvPr id="27" name="Image 26">
            <a:extLst>
              <a:ext uri="{FF2B5EF4-FFF2-40B4-BE49-F238E27FC236}">
                <a16:creationId xmlns:a16="http://schemas.microsoft.com/office/drawing/2014/main" id="{BF0668E5-1F29-C6FB-93FA-4659CD0F7B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59318" y="1212899"/>
            <a:ext cx="1036041" cy="1463432"/>
          </a:xfrm>
          <a:prstGeom prst="rect">
            <a:avLst/>
          </a:prstGeom>
        </p:spPr>
      </p:pic>
      <p:pic>
        <p:nvPicPr>
          <p:cNvPr id="28" name="Image 27" descr="Une image contenant texte&#10;&#10;Description générée automatiquement">
            <a:extLst>
              <a:ext uri="{FF2B5EF4-FFF2-40B4-BE49-F238E27FC236}">
                <a16:creationId xmlns:a16="http://schemas.microsoft.com/office/drawing/2014/main" id="{C52BFFBF-1047-476C-6469-7AF91D6DBF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65835" y="1215041"/>
            <a:ext cx="1036041" cy="1463432"/>
          </a:xfrm>
          <a:prstGeom prst="rect">
            <a:avLst/>
          </a:prstGeom>
        </p:spPr>
      </p:pic>
      <p:pic>
        <p:nvPicPr>
          <p:cNvPr id="29" name="Image 28">
            <a:extLst>
              <a:ext uri="{FF2B5EF4-FFF2-40B4-BE49-F238E27FC236}">
                <a16:creationId xmlns:a16="http://schemas.microsoft.com/office/drawing/2014/main" id="{66A8C156-F0A3-1263-C6C5-F0E1328E750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03513" y="1207623"/>
            <a:ext cx="1036041" cy="1463432"/>
          </a:xfrm>
          <a:prstGeom prst="rect">
            <a:avLst/>
          </a:prstGeom>
        </p:spPr>
      </p:pic>
      <p:pic>
        <p:nvPicPr>
          <p:cNvPr id="30" name="Image 29">
            <a:extLst>
              <a:ext uri="{FF2B5EF4-FFF2-40B4-BE49-F238E27FC236}">
                <a16:creationId xmlns:a16="http://schemas.microsoft.com/office/drawing/2014/main" id="{6E90BE4D-1EA5-ED16-87E6-4E680E0807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290479" y="1215041"/>
            <a:ext cx="1036041" cy="1463432"/>
          </a:xfrm>
          <a:prstGeom prst="rect">
            <a:avLst/>
          </a:prstGeom>
        </p:spPr>
      </p:pic>
      <p:pic>
        <p:nvPicPr>
          <p:cNvPr id="31" name="Image 30">
            <a:extLst>
              <a:ext uri="{FF2B5EF4-FFF2-40B4-BE49-F238E27FC236}">
                <a16:creationId xmlns:a16="http://schemas.microsoft.com/office/drawing/2014/main" id="{A564748B-E5B0-4E9F-7813-01D7C51BCBB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28157" y="1220317"/>
            <a:ext cx="1036041" cy="1463432"/>
          </a:xfrm>
          <a:prstGeom prst="rect">
            <a:avLst/>
          </a:prstGeom>
        </p:spPr>
      </p:pic>
      <p:pic>
        <p:nvPicPr>
          <p:cNvPr id="32" name="Image 31" descr="Une image contenant texte&#10;&#10;Description générée automatiquement">
            <a:extLst>
              <a:ext uri="{FF2B5EF4-FFF2-40B4-BE49-F238E27FC236}">
                <a16:creationId xmlns:a16="http://schemas.microsoft.com/office/drawing/2014/main" id="{85BA04D4-8763-76EF-5EFF-C98B2E55124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134674" y="1216030"/>
            <a:ext cx="1036041" cy="1463432"/>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1C07BFD-8376-7366-5CAE-D9628DFEBEB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472353" y="1207623"/>
            <a:ext cx="1036041" cy="1463432"/>
          </a:xfrm>
          <a:prstGeom prst="rect">
            <a:avLst/>
          </a:prstGeom>
        </p:spPr>
      </p:pic>
      <p:sp>
        <p:nvSpPr>
          <p:cNvPr id="42" name="Rectangle 41">
            <a:extLst>
              <a:ext uri="{FF2B5EF4-FFF2-40B4-BE49-F238E27FC236}">
                <a16:creationId xmlns:a16="http://schemas.microsoft.com/office/drawing/2014/main" id="{D5B4002B-AE18-2BAE-0D73-078BB2432DAD}"/>
              </a:ext>
            </a:extLst>
          </p:cNvPr>
          <p:cNvSpPr/>
          <p:nvPr/>
        </p:nvSpPr>
        <p:spPr>
          <a:xfrm>
            <a:off x="10760563" y="1199138"/>
            <a:ext cx="1120155"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sp>
        <p:nvSpPr>
          <p:cNvPr id="81" name="Rectangle 80">
            <a:extLst>
              <a:ext uri="{FF2B5EF4-FFF2-40B4-BE49-F238E27FC236}">
                <a16:creationId xmlns:a16="http://schemas.microsoft.com/office/drawing/2014/main" id="{435ED8B9-D8FC-3089-27EA-13811DC89AEF}"/>
              </a:ext>
            </a:extLst>
          </p:cNvPr>
          <p:cNvSpPr/>
          <p:nvPr/>
        </p:nvSpPr>
        <p:spPr>
          <a:xfrm>
            <a:off x="3622236" y="2724537"/>
            <a:ext cx="1036041" cy="5172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Prévoir des moments en petits groupes dans les événements</a:t>
            </a:r>
          </a:p>
        </p:txBody>
      </p:sp>
      <p:pic>
        <p:nvPicPr>
          <p:cNvPr id="4" name="Image 3" descr="Une image contenant texte&#10;&#10;Description générée automatiquement">
            <a:extLst>
              <a:ext uri="{FF2B5EF4-FFF2-40B4-BE49-F238E27FC236}">
                <a16:creationId xmlns:a16="http://schemas.microsoft.com/office/drawing/2014/main" id="{5BA312F9-B03F-88C0-5DDB-1BE1AC830520}"/>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796996" y="1221112"/>
            <a:ext cx="1036041" cy="1449325"/>
          </a:xfrm>
          <a:prstGeom prst="rect">
            <a:avLst/>
          </a:prstGeom>
        </p:spPr>
      </p:pic>
      <p:grpSp>
        <p:nvGrpSpPr>
          <p:cNvPr id="65" name="Groupe 64">
            <a:extLst>
              <a:ext uri="{FF2B5EF4-FFF2-40B4-BE49-F238E27FC236}">
                <a16:creationId xmlns:a16="http://schemas.microsoft.com/office/drawing/2014/main" id="{D4FE61E4-5DC5-4329-731E-7D3DBF0843FF}"/>
              </a:ext>
            </a:extLst>
          </p:cNvPr>
          <p:cNvGrpSpPr/>
          <p:nvPr/>
        </p:nvGrpSpPr>
        <p:grpSpPr>
          <a:xfrm>
            <a:off x="121640" y="156326"/>
            <a:ext cx="756159" cy="637502"/>
            <a:chOff x="8982504" y="3274976"/>
            <a:chExt cx="1230670" cy="1037553"/>
          </a:xfrm>
          <a:solidFill>
            <a:srgbClr val="ED7D31"/>
          </a:solidFill>
        </p:grpSpPr>
        <p:pic>
          <p:nvPicPr>
            <p:cNvPr id="66" name="Graphique 65" descr="Utilisateur avec un remplissage uni">
              <a:extLst>
                <a:ext uri="{FF2B5EF4-FFF2-40B4-BE49-F238E27FC236}">
                  <a16:creationId xmlns:a16="http://schemas.microsoft.com/office/drawing/2014/main" id="{48753949-93EF-3D80-382F-B193CEC4DDC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01028" y="3274976"/>
              <a:ext cx="336064" cy="336064"/>
            </a:xfrm>
            <a:prstGeom prst="rect">
              <a:avLst/>
            </a:prstGeom>
          </p:spPr>
        </p:pic>
        <p:pic>
          <p:nvPicPr>
            <p:cNvPr id="67" name="Graphique 66" descr="Utilisateur avec un remplissage uni">
              <a:extLst>
                <a:ext uri="{FF2B5EF4-FFF2-40B4-BE49-F238E27FC236}">
                  <a16:creationId xmlns:a16="http://schemas.microsoft.com/office/drawing/2014/main" id="{F6E18B21-3BA0-5D9E-0ED6-496FAA28788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54140" y="3512720"/>
              <a:ext cx="336064" cy="336064"/>
            </a:xfrm>
            <a:prstGeom prst="rect">
              <a:avLst/>
            </a:prstGeom>
          </p:spPr>
        </p:pic>
        <p:pic>
          <p:nvPicPr>
            <p:cNvPr id="68" name="Graphique 67" descr="Utilisateur avec un remplissage uni">
              <a:extLst>
                <a:ext uri="{FF2B5EF4-FFF2-40B4-BE49-F238E27FC236}">
                  <a16:creationId xmlns:a16="http://schemas.microsoft.com/office/drawing/2014/main" id="{94D65B38-D73A-7F86-B1DD-E64A7D519B1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45616" y="3561880"/>
              <a:ext cx="336064" cy="336064"/>
            </a:xfrm>
            <a:prstGeom prst="rect">
              <a:avLst/>
            </a:prstGeom>
          </p:spPr>
        </p:pic>
        <p:pic>
          <p:nvPicPr>
            <p:cNvPr id="69" name="Graphique 68" descr="Utilisateur avec un remplissage uni">
              <a:extLst>
                <a:ext uri="{FF2B5EF4-FFF2-40B4-BE49-F238E27FC236}">
                  <a16:creationId xmlns:a16="http://schemas.microsoft.com/office/drawing/2014/main" id="{CE986DA1-3127-D953-A824-FF331646E12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92504" y="3418428"/>
              <a:ext cx="336064" cy="336064"/>
            </a:xfrm>
            <a:prstGeom prst="rect">
              <a:avLst/>
            </a:prstGeom>
          </p:spPr>
        </p:pic>
        <p:pic>
          <p:nvPicPr>
            <p:cNvPr id="70" name="Graphique 69" descr="Utilisateur avec un remplissage uni">
              <a:extLst>
                <a:ext uri="{FF2B5EF4-FFF2-40B4-BE49-F238E27FC236}">
                  <a16:creationId xmlns:a16="http://schemas.microsoft.com/office/drawing/2014/main" id="{4C4F3AE0-927B-3E3C-B917-26BC286F7D2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635196" y="3680752"/>
              <a:ext cx="336064" cy="336064"/>
            </a:xfrm>
            <a:prstGeom prst="rect">
              <a:avLst/>
            </a:prstGeom>
          </p:spPr>
        </p:pic>
        <p:pic>
          <p:nvPicPr>
            <p:cNvPr id="71" name="Graphique 70" descr="Utilisateur avec un remplissage uni">
              <a:extLst>
                <a:ext uri="{FF2B5EF4-FFF2-40B4-BE49-F238E27FC236}">
                  <a16:creationId xmlns:a16="http://schemas.microsoft.com/office/drawing/2014/main" id="{DDF76C1B-F28E-EE6D-4347-71AE54C343F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256440" y="3848784"/>
              <a:ext cx="336064" cy="336064"/>
            </a:xfrm>
            <a:prstGeom prst="rect">
              <a:avLst/>
            </a:prstGeom>
          </p:spPr>
        </p:pic>
        <p:pic>
          <p:nvPicPr>
            <p:cNvPr id="72" name="Graphique 71" descr="Utilisateur avec un remplissage uni">
              <a:extLst>
                <a:ext uri="{FF2B5EF4-FFF2-40B4-BE49-F238E27FC236}">
                  <a16:creationId xmlns:a16="http://schemas.microsoft.com/office/drawing/2014/main" id="{895EE63F-29C8-8EFF-75F8-DD8D9E08AFA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82504" y="3835028"/>
              <a:ext cx="336064" cy="336064"/>
            </a:xfrm>
            <a:prstGeom prst="rect">
              <a:avLst/>
            </a:prstGeom>
          </p:spPr>
        </p:pic>
        <p:pic>
          <p:nvPicPr>
            <p:cNvPr id="73" name="Graphique 72" descr="Utilisateur avec un remplissage uni">
              <a:extLst>
                <a:ext uri="{FF2B5EF4-FFF2-40B4-BE49-F238E27FC236}">
                  <a16:creationId xmlns:a16="http://schemas.microsoft.com/office/drawing/2014/main" id="{02769511-677C-B372-2C22-4347F962799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0868" y="3943076"/>
              <a:ext cx="336064" cy="336064"/>
            </a:xfrm>
            <a:prstGeom prst="rect">
              <a:avLst/>
            </a:prstGeom>
          </p:spPr>
        </p:pic>
        <p:pic>
          <p:nvPicPr>
            <p:cNvPr id="74" name="Graphique 73" descr="Utilisateur avec un remplissage uni">
              <a:extLst>
                <a:ext uri="{FF2B5EF4-FFF2-40B4-BE49-F238E27FC236}">
                  <a16:creationId xmlns:a16="http://schemas.microsoft.com/office/drawing/2014/main" id="{1D56F51E-CA84-7EEC-584A-4255AACD4DF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42772" y="3976465"/>
              <a:ext cx="336064" cy="336064"/>
            </a:xfrm>
            <a:prstGeom prst="rect">
              <a:avLst/>
            </a:prstGeom>
          </p:spPr>
        </p:pic>
        <p:pic>
          <p:nvPicPr>
            <p:cNvPr id="75" name="Graphique 74" descr="Utilisateur avec un remplissage uni">
              <a:extLst>
                <a:ext uri="{FF2B5EF4-FFF2-40B4-BE49-F238E27FC236}">
                  <a16:creationId xmlns:a16="http://schemas.microsoft.com/office/drawing/2014/main" id="{D5FA1D01-2DDD-6D4A-5262-56A38EACEB5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77110" y="3705332"/>
              <a:ext cx="336064" cy="336064"/>
            </a:xfrm>
            <a:prstGeom prst="rect">
              <a:avLst/>
            </a:prstGeom>
          </p:spPr>
        </p:pic>
        <p:pic>
          <p:nvPicPr>
            <p:cNvPr id="112" name="Graphique 111" descr="Utilisateur avec un remplissage uni">
              <a:extLst>
                <a:ext uri="{FF2B5EF4-FFF2-40B4-BE49-F238E27FC236}">
                  <a16:creationId xmlns:a16="http://schemas.microsoft.com/office/drawing/2014/main" id="{BD8FF552-B8DD-7763-DCAB-3D14327F8CA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56932" y="3429000"/>
              <a:ext cx="336064" cy="336064"/>
            </a:xfrm>
            <a:prstGeom prst="rect">
              <a:avLst/>
            </a:prstGeom>
          </p:spPr>
        </p:pic>
      </p:grpSp>
      <p:sp>
        <p:nvSpPr>
          <p:cNvPr id="116" name="Rectangle 115">
            <a:extLst>
              <a:ext uri="{FF2B5EF4-FFF2-40B4-BE49-F238E27FC236}">
                <a16:creationId xmlns:a16="http://schemas.microsoft.com/office/drawing/2014/main" id="{230F7E56-D254-3F1F-1589-E419F56CDAF4}"/>
              </a:ext>
            </a:extLst>
          </p:cNvPr>
          <p:cNvSpPr/>
          <p:nvPr/>
        </p:nvSpPr>
        <p:spPr>
          <a:xfrm>
            <a:off x="3622236" y="3259422"/>
            <a:ext cx="1036041" cy="5977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Si goût à la rencontre : faire des sous-groupes faits pour maximiser les inconnus</a:t>
            </a:r>
          </a:p>
        </p:txBody>
      </p:sp>
      <p:sp>
        <p:nvSpPr>
          <p:cNvPr id="117" name="Rectangle 116">
            <a:extLst>
              <a:ext uri="{FF2B5EF4-FFF2-40B4-BE49-F238E27FC236}">
                <a16:creationId xmlns:a16="http://schemas.microsoft.com/office/drawing/2014/main" id="{40D4ADFA-23AA-68D8-3253-0C4D0A96C673}"/>
              </a:ext>
            </a:extLst>
          </p:cNvPr>
          <p:cNvSpPr/>
          <p:nvPr/>
        </p:nvSpPr>
        <p:spPr>
          <a:xfrm>
            <a:off x="3618433" y="4468546"/>
            <a:ext cx="1036041" cy="74561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Si goût à la relation forte : faire des sous-groupes persistants entre plusieurs événements</a:t>
            </a:r>
          </a:p>
        </p:txBody>
      </p:sp>
      <p:sp>
        <p:nvSpPr>
          <p:cNvPr id="118" name="Rectangle 117">
            <a:extLst>
              <a:ext uri="{FF2B5EF4-FFF2-40B4-BE49-F238E27FC236}">
                <a16:creationId xmlns:a16="http://schemas.microsoft.com/office/drawing/2014/main" id="{6AFF8675-DA8A-8C0A-1A10-3999BA163B3F}"/>
              </a:ext>
            </a:extLst>
          </p:cNvPr>
          <p:cNvSpPr/>
          <p:nvPr/>
        </p:nvSpPr>
        <p:spPr>
          <a:xfrm>
            <a:off x="1284277" y="2724537"/>
            <a:ext cx="1036041" cy="597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Règle : Demander à ce qu’on s’adresse les uns aux autres par les titres s’il y a</a:t>
            </a:r>
          </a:p>
        </p:txBody>
      </p:sp>
      <p:sp>
        <p:nvSpPr>
          <p:cNvPr id="119" name="Rectangle 118">
            <a:extLst>
              <a:ext uri="{FF2B5EF4-FFF2-40B4-BE49-F238E27FC236}">
                <a16:creationId xmlns:a16="http://schemas.microsoft.com/office/drawing/2014/main" id="{DE57FAB7-1AA6-DC0A-7161-8A59206479E2}"/>
              </a:ext>
            </a:extLst>
          </p:cNvPr>
          <p:cNvSpPr/>
          <p:nvPr/>
        </p:nvSpPr>
        <p:spPr>
          <a:xfrm>
            <a:off x="1284277" y="3349652"/>
            <a:ext cx="1036041" cy="597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Règle : Donner des rôles de coachs formateurs aux experts pour les mettre en avant</a:t>
            </a:r>
          </a:p>
        </p:txBody>
      </p:sp>
      <p:sp>
        <p:nvSpPr>
          <p:cNvPr id="120" name="Rectangle 119">
            <a:extLst>
              <a:ext uri="{FF2B5EF4-FFF2-40B4-BE49-F238E27FC236}">
                <a16:creationId xmlns:a16="http://schemas.microsoft.com/office/drawing/2014/main" id="{2E9C32E5-25EE-D461-1E08-C37B0D6066DF}"/>
              </a:ext>
            </a:extLst>
          </p:cNvPr>
          <p:cNvSpPr/>
          <p:nvPr/>
        </p:nvSpPr>
        <p:spPr>
          <a:xfrm>
            <a:off x="5956111" y="2724537"/>
            <a:ext cx="1036041" cy="63284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Donner des rôles de coachs formateurs aux experts pour qu’ils puissent aider</a:t>
            </a:r>
          </a:p>
        </p:txBody>
      </p:sp>
      <p:sp>
        <p:nvSpPr>
          <p:cNvPr id="121" name="Rectangle 120">
            <a:extLst>
              <a:ext uri="{FF2B5EF4-FFF2-40B4-BE49-F238E27FC236}">
                <a16:creationId xmlns:a16="http://schemas.microsoft.com/office/drawing/2014/main" id="{75DDBB4D-BD18-FB6A-CCDC-4C7F7E613DAB}"/>
              </a:ext>
            </a:extLst>
          </p:cNvPr>
          <p:cNvSpPr/>
          <p:nvPr/>
        </p:nvSpPr>
        <p:spPr>
          <a:xfrm>
            <a:off x="2459687" y="2724537"/>
            <a:ext cx="1036041" cy="75802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Débuts d’événements : 5 minutes pour découvrir un nouveau sujet (découverte du jour)</a:t>
            </a:r>
          </a:p>
        </p:txBody>
      </p:sp>
      <p:sp>
        <p:nvSpPr>
          <p:cNvPr id="122" name="Rectangle 121">
            <a:extLst>
              <a:ext uri="{FF2B5EF4-FFF2-40B4-BE49-F238E27FC236}">
                <a16:creationId xmlns:a16="http://schemas.microsoft.com/office/drawing/2014/main" id="{B910E897-5892-3595-A94F-CC3EDFE36757}"/>
              </a:ext>
            </a:extLst>
          </p:cNvPr>
          <p:cNvSpPr/>
          <p:nvPr/>
        </p:nvSpPr>
        <p:spPr>
          <a:xfrm>
            <a:off x="3618432" y="5231780"/>
            <a:ext cx="1036041" cy="74561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Débuts d’événements : icebreakers qui invite chacun à se présenter ou à parler de soi</a:t>
            </a:r>
          </a:p>
        </p:txBody>
      </p:sp>
      <p:sp>
        <p:nvSpPr>
          <p:cNvPr id="123" name="Rectangle 122">
            <a:extLst>
              <a:ext uri="{FF2B5EF4-FFF2-40B4-BE49-F238E27FC236}">
                <a16:creationId xmlns:a16="http://schemas.microsoft.com/office/drawing/2014/main" id="{56B99CB3-F566-44DC-A7D4-7EEF4540066C}"/>
              </a:ext>
            </a:extLst>
          </p:cNvPr>
          <p:cNvSpPr/>
          <p:nvPr/>
        </p:nvSpPr>
        <p:spPr>
          <a:xfrm>
            <a:off x="2459686" y="3507619"/>
            <a:ext cx="1036041" cy="74561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Débuts d’événements : Exercices </a:t>
            </a:r>
            <a:r>
              <a:rPr lang="fr-FR" sz="800" dirty="0" err="1">
                <a:solidFill>
                  <a:schemeClr val="tx1"/>
                </a:solidFill>
              </a:rPr>
              <a:t>energizers</a:t>
            </a:r>
            <a:r>
              <a:rPr lang="fr-FR" sz="800" dirty="0">
                <a:solidFill>
                  <a:schemeClr val="tx1"/>
                </a:solidFill>
              </a:rPr>
              <a:t> (pour stimuler) ou des apaisants (pour reposer)</a:t>
            </a:r>
          </a:p>
        </p:txBody>
      </p:sp>
      <p:sp>
        <p:nvSpPr>
          <p:cNvPr id="124" name="Rectangle 123">
            <a:extLst>
              <a:ext uri="{FF2B5EF4-FFF2-40B4-BE49-F238E27FC236}">
                <a16:creationId xmlns:a16="http://schemas.microsoft.com/office/drawing/2014/main" id="{E1EB364F-C180-634A-951C-8CA90A814AB3}"/>
              </a:ext>
            </a:extLst>
          </p:cNvPr>
          <p:cNvSpPr/>
          <p:nvPr/>
        </p:nvSpPr>
        <p:spPr>
          <a:xfrm>
            <a:off x="2459686" y="4279762"/>
            <a:ext cx="1036041" cy="74561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Fins d’événements : Demander un feedback sur l’appréciation de l’événement</a:t>
            </a:r>
          </a:p>
        </p:txBody>
      </p:sp>
      <p:sp>
        <p:nvSpPr>
          <p:cNvPr id="125" name="Rectangle 124">
            <a:extLst>
              <a:ext uri="{FF2B5EF4-FFF2-40B4-BE49-F238E27FC236}">
                <a16:creationId xmlns:a16="http://schemas.microsoft.com/office/drawing/2014/main" id="{DB7E3745-49AD-42A5-B39F-68FB56723DF9}"/>
              </a:ext>
            </a:extLst>
          </p:cNvPr>
          <p:cNvSpPr/>
          <p:nvPr/>
        </p:nvSpPr>
        <p:spPr>
          <a:xfrm>
            <a:off x="4796996" y="4508502"/>
            <a:ext cx="1036041" cy="74561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Fins d’événements : Demander un feedback sur l’utilité dans le travail de l’événement</a:t>
            </a:r>
          </a:p>
        </p:txBody>
      </p:sp>
      <p:sp>
        <p:nvSpPr>
          <p:cNvPr id="126" name="Rectangle 125">
            <a:extLst>
              <a:ext uri="{FF2B5EF4-FFF2-40B4-BE49-F238E27FC236}">
                <a16:creationId xmlns:a16="http://schemas.microsoft.com/office/drawing/2014/main" id="{07357E62-CE61-A13A-0F5B-2122F5B9ED6E}"/>
              </a:ext>
            </a:extLst>
          </p:cNvPr>
          <p:cNvSpPr/>
          <p:nvPr/>
        </p:nvSpPr>
        <p:spPr>
          <a:xfrm>
            <a:off x="5956111" y="3379755"/>
            <a:ext cx="1036041" cy="73739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Fin d’événement : Demander systématiquement un feedback sur l’importance de l’événement</a:t>
            </a:r>
          </a:p>
        </p:txBody>
      </p:sp>
      <p:sp>
        <p:nvSpPr>
          <p:cNvPr id="127" name="Rectangle 126">
            <a:extLst>
              <a:ext uri="{FF2B5EF4-FFF2-40B4-BE49-F238E27FC236}">
                <a16:creationId xmlns:a16="http://schemas.microsoft.com/office/drawing/2014/main" id="{79393D48-68E6-44A7-DE3F-50EFD312AAB3}"/>
              </a:ext>
            </a:extLst>
          </p:cNvPr>
          <p:cNvSpPr/>
          <p:nvPr/>
        </p:nvSpPr>
        <p:spPr>
          <a:xfrm>
            <a:off x="7128331" y="2724537"/>
            <a:ext cx="1036041" cy="78269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Fins d’événements : Demander un feedback sur ce qui a été appris par chacun</a:t>
            </a:r>
          </a:p>
        </p:txBody>
      </p:sp>
      <p:sp>
        <p:nvSpPr>
          <p:cNvPr id="128" name="Rectangle 127">
            <a:extLst>
              <a:ext uri="{FF2B5EF4-FFF2-40B4-BE49-F238E27FC236}">
                <a16:creationId xmlns:a16="http://schemas.microsoft.com/office/drawing/2014/main" id="{5DF9B72C-5AA5-B589-5923-C8C6B953105D}"/>
              </a:ext>
            </a:extLst>
          </p:cNvPr>
          <p:cNvSpPr/>
          <p:nvPr/>
        </p:nvSpPr>
        <p:spPr>
          <a:xfrm>
            <a:off x="4796996" y="2724537"/>
            <a:ext cx="1036041" cy="73739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📅+⚙️Débuts d’événements : Présenter en quoi l’événement du jour aidera à contribuer au travail</a:t>
            </a:r>
          </a:p>
        </p:txBody>
      </p:sp>
      <p:sp>
        <p:nvSpPr>
          <p:cNvPr id="129" name="Rectangle 128">
            <a:extLst>
              <a:ext uri="{FF2B5EF4-FFF2-40B4-BE49-F238E27FC236}">
                <a16:creationId xmlns:a16="http://schemas.microsoft.com/office/drawing/2014/main" id="{D08167AD-E82D-5F86-4491-81A038A873E4}"/>
              </a:ext>
            </a:extLst>
          </p:cNvPr>
          <p:cNvSpPr/>
          <p:nvPr/>
        </p:nvSpPr>
        <p:spPr>
          <a:xfrm>
            <a:off x="5956111" y="4154690"/>
            <a:ext cx="1036041" cy="91722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📅+⚙️Débuts d’événements : Présenter en quoi l’événement s’inscrit dans une démarche plus grande</a:t>
            </a:r>
          </a:p>
        </p:txBody>
      </p:sp>
      <p:sp>
        <p:nvSpPr>
          <p:cNvPr id="130" name="Rectangle 129">
            <a:extLst>
              <a:ext uri="{FF2B5EF4-FFF2-40B4-BE49-F238E27FC236}">
                <a16:creationId xmlns:a16="http://schemas.microsoft.com/office/drawing/2014/main" id="{166D88EC-D876-A275-BA35-971308895F18}"/>
              </a:ext>
            </a:extLst>
          </p:cNvPr>
          <p:cNvSpPr/>
          <p:nvPr/>
        </p:nvSpPr>
        <p:spPr>
          <a:xfrm>
            <a:off x="8303513" y="2724537"/>
            <a:ext cx="1036041" cy="8353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📅+⚙️Règles : Evènements en plusieurs parties (plutôt que monobloc) où on peut rejoindre ou partir entre deux</a:t>
            </a:r>
          </a:p>
        </p:txBody>
      </p:sp>
      <p:sp>
        <p:nvSpPr>
          <p:cNvPr id="131" name="Rectangle 130">
            <a:extLst>
              <a:ext uri="{FF2B5EF4-FFF2-40B4-BE49-F238E27FC236}">
                <a16:creationId xmlns:a16="http://schemas.microsoft.com/office/drawing/2014/main" id="{5B652A8D-6259-9511-8A05-E97E9C325D56}"/>
              </a:ext>
            </a:extLst>
          </p:cNvPr>
          <p:cNvSpPr/>
          <p:nvPr/>
        </p:nvSpPr>
        <p:spPr>
          <a:xfrm>
            <a:off x="1284277" y="3980330"/>
            <a:ext cx="1036041" cy="11019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📅+⚙️Règle : Utiliser les photos des membres dans les tableaux physiques pour qu’on puisse les reconnaître et qu’ils puissent s’y reconnaître</a:t>
            </a:r>
          </a:p>
        </p:txBody>
      </p:sp>
      <p:sp>
        <p:nvSpPr>
          <p:cNvPr id="132" name="Rectangle 131">
            <a:extLst>
              <a:ext uri="{FF2B5EF4-FFF2-40B4-BE49-F238E27FC236}">
                <a16:creationId xmlns:a16="http://schemas.microsoft.com/office/drawing/2014/main" id="{65ACB884-66E1-6C05-69BA-A13F9AC8BD70}"/>
              </a:ext>
            </a:extLst>
          </p:cNvPr>
          <p:cNvSpPr/>
          <p:nvPr/>
        </p:nvSpPr>
        <p:spPr>
          <a:xfrm>
            <a:off x="4796996" y="3487622"/>
            <a:ext cx="1036041" cy="99424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📅+⚙️Débuts d’événements : Faire prioriser les sujets potentiels en fonction du plus important pour le contexte actuel opérationnel</a:t>
            </a:r>
          </a:p>
        </p:txBody>
      </p:sp>
      <p:sp>
        <p:nvSpPr>
          <p:cNvPr id="133" name="Rectangle 132">
            <a:extLst>
              <a:ext uri="{FF2B5EF4-FFF2-40B4-BE49-F238E27FC236}">
                <a16:creationId xmlns:a16="http://schemas.microsoft.com/office/drawing/2014/main" id="{5ADBA3CD-2EA7-94EB-A64B-8474F9151AE2}"/>
              </a:ext>
            </a:extLst>
          </p:cNvPr>
          <p:cNvSpPr/>
          <p:nvPr/>
        </p:nvSpPr>
        <p:spPr>
          <a:xfrm>
            <a:off x="9472352" y="2724537"/>
            <a:ext cx="1036041" cy="87079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Fins d’événements : Demander des suggestions d’idées nouvelles à expérimenter la prochaine fois</a:t>
            </a:r>
          </a:p>
        </p:txBody>
      </p:sp>
      <p:sp>
        <p:nvSpPr>
          <p:cNvPr id="134" name="Rectangle 133">
            <a:extLst>
              <a:ext uri="{FF2B5EF4-FFF2-40B4-BE49-F238E27FC236}">
                <a16:creationId xmlns:a16="http://schemas.microsoft.com/office/drawing/2014/main" id="{2B80417A-58F5-9F2A-61DE-E366DA4407CC}"/>
              </a:ext>
            </a:extLst>
          </p:cNvPr>
          <p:cNvSpPr/>
          <p:nvPr/>
        </p:nvSpPr>
        <p:spPr>
          <a:xfrm>
            <a:off x="7134306" y="4539631"/>
            <a:ext cx="1036041" cy="91722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Fins d’événements : Debriefing demandant à comparer « l’avant et l’après événement » (soi)</a:t>
            </a:r>
          </a:p>
        </p:txBody>
      </p:sp>
      <p:sp>
        <p:nvSpPr>
          <p:cNvPr id="135" name="Rectangle 134">
            <a:extLst>
              <a:ext uri="{FF2B5EF4-FFF2-40B4-BE49-F238E27FC236}">
                <a16:creationId xmlns:a16="http://schemas.microsoft.com/office/drawing/2014/main" id="{203E7146-9FBD-6EA7-D2E3-C965D5ED2DC0}"/>
              </a:ext>
            </a:extLst>
          </p:cNvPr>
          <p:cNvSpPr/>
          <p:nvPr/>
        </p:nvSpPr>
        <p:spPr>
          <a:xfrm>
            <a:off x="7134306" y="3527419"/>
            <a:ext cx="1036041" cy="99424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Prévoir des moments où chacun est invité à se projeter par écrit individuellement et/ou à raconter sa projection aux autres</a:t>
            </a:r>
          </a:p>
        </p:txBody>
      </p:sp>
      <p:sp>
        <p:nvSpPr>
          <p:cNvPr id="136" name="Rectangle 135">
            <a:extLst>
              <a:ext uri="{FF2B5EF4-FFF2-40B4-BE49-F238E27FC236}">
                <a16:creationId xmlns:a16="http://schemas.microsoft.com/office/drawing/2014/main" id="{BEF3FBE7-6555-9793-ED88-FA002B5BFCA9}"/>
              </a:ext>
            </a:extLst>
          </p:cNvPr>
          <p:cNvSpPr/>
          <p:nvPr/>
        </p:nvSpPr>
        <p:spPr>
          <a:xfrm>
            <a:off x="8303513" y="3579791"/>
            <a:ext cx="1036041" cy="99424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📅+⚙️Règles : Evènements similaires (répétés) à plusieurs créneaux différents où on peut venir soit à l’un soit à l’autre selon convenance</a:t>
            </a:r>
          </a:p>
        </p:txBody>
      </p:sp>
      <p:sp>
        <p:nvSpPr>
          <p:cNvPr id="137" name="Rectangle 136">
            <a:extLst>
              <a:ext uri="{FF2B5EF4-FFF2-40B4-BE49-F238E27FC236}">
                <a16:creationId xmlns:a16="http://schemas.microsoft.com/office/drawing/2014/main" id="{F1EE503E-4867-D21C-30D0-3613B54BA954}"/>
              </a:ext>
            </a:extLst>
          </p:cNvPr>
          <p:cNvSpPr/>
          <p:nvPr/>
        </p:nvSpPr>
        <p:spPr>
          <a:xfrm>
            <a:off x="4804202" y="5294369"/>
            <a:ext cx="1036041" cy="99424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📅+⚙️Règles : Evènements similaires (répétés) à plusieurs créneaux différents où on peut venir soit à l’un soit à l’autre selon convenance</a:t>
            </a:r>
          </a:p>
        </p:txBody>
      </p:sp>
      <p:sp>
        <p:nvSpPr>
          <p:cNvPr id="138" name="Rectangle 137">
            <a:extLst>
              <a:ext uri="{FF2B5EF4-FFF2-40B4-BE49-F238E27FC236}">
                <a16:creationId xmlns:a16="http://schemas.microsoft.com/office/drawing/2014/main" id="{6AA586A9-8A1F-E4EC-3BDF-6A8E0F4A8544}"/>
              </a:ext>
            </a:extLst>
          </p:cNvPr>
          <p:cNvSpPr/>
          <p:nvPr/>
        </p:nvSpPr>
        <p:spPr>
          <a:xfrm>
            <a:off x="2463120" y="5051905"/>
            <a:ext cx="1036041" cy="6665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📅+⚙️Moments actifs où les participants doivent résoudre des problèmes fictifs</a:t>
            </a:r>
          </a:p>
        </p:txBody>
      </p:sp>
      <p:sp>
        <p:nvSpPr>
          <p:cNvPr id="139" name="Rectangle 138">
            <a:extLst>
              <a:ext uri="{FF2B5EF4-FFF2-40B4-BE49-F238E27FC236}">
                <a16:creationId xmlns:a16="http://schemas.microsoft.com/office/drawing/2014/main" id="{E05B7920-46B6-C132-A672-3DA76356FBD9}"/>
              </a:ext>
            </a:extLst>
          </p:cNvPr>
          <p:cNvSpPr/>
          <p:nvPr/>
        </p:nvSpPr>
        <p:spPr>
          <a:xfrm>
            <a:off x="1294281" y="5107551"/>
            <a:ext cx="1036041" cy="58139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📅+⚙️Applaudissements, félicitations, moments de mise en avant des membres</a:t>
            </a:r>
          </a:p>
        </p:txBody>
      </p:sp>
      <p:sp>
        <p:nvSpPr>
          <p:cNvPr id="140" name="Rectangle 139">
            <a:extLst>
              <a:ext uri="{FF2B5EF4-FFF2-40B4-BE49-F238E27FC236}">
                <a16:creationId xmlns:a16="http://schemas.microsoft.com/office/drawing/2014/main" id="{EDCE4FA0-60C3-2A7C-AE4F-CE599C582529}"/>
              </a:ext>
            </a:extLst>
          </p:cNvPr>
          <p:cNvSpPr/>
          <p:nvPr/>
        </p:nvSpPr>
        <p:spPr>
          <a:xfrm>
            <a:off x="9472352" y="3618324"/>
            <a:ext cx="1036041" cy="8707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📅+⚙️Moments dédiés à l’expression de soi (chacun son tour si le nombre le permet, sinon aux volontaires)</a:t>
            </a:r>
          </a:p>
        </p:txBody>
      </p:sp>
      <p:sp>
        <p:nvSpPr>
          <p:cNvPr id="141" name="Rectangle 140">
            <a:extLst>
              <a:ext uri="{FF2B5EF4-FFF2-40B4-BE49-F238E27FC236}">
                <a16:creationId xmlns:a16="http://schemas.microsoft.com/office/drawing/2014/main" id="{FA8C59D6-9230-57E7-863F-513AE9392C52}"/>
              </a:ext>
            </a:extLst>
          </p:cNvPr>
          <p:cNvSpPr/>
          <p:nvPr/>
        </p:nvSpPr>
        <p:spPr>
          <a:xfrm>
            <a:off x="8303513" y="4601960"/>
            <a:ext cx="1036041" cy="99424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📅+⚙️Règles : Différents niveaux d’engagement possibles à l’intérieur du même événement (spectateur, actif, très actif…)</a:t>
            </a:r>
          </a:p>
        </p:txBody>
      </p:sp>
      <p:sp>
        <p:nvSpPr>
          <p:cNvPr id="142" name="Rectangle 141">
            <a:extLst>
              <a:ext uri="{FF2B5EF4-FFF2-40B4-BE49-F238E27FC236}">
                <a16:creationId xmlns:a16="http://schemas.microsoft.com/office/drawing/2014/main" id="{A08ACB2F-7DD4-2F6C-7C60-F8BBAACF83A9}"/>
              </a:ext>
            </a:extLst>
          </p:cNvPr>
          <p:cNvSpPr/>
          <p:nvPr/>
        </p:nvSpPr>
        <p:spPr>
          <a:xfrm>
            <a:off x="2463120" y="5745023"/>
            <a:ext cx="1036041" cy="50235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📅+⚙️Pauses prévues, moments « full audio » (repos des yeux)</a:t>
            </a:r>
          </a:p>
        </p:txBody>
      </p:sp>
      <p:sp>
        <p:nvSpPr>
          <p:cNvPr id="143" name="Rectangle 142">
            <a:extLst>
              <a:ext uri="{FF2B5EF4-FFF2-40B4-BE49-F238E27FC236}">
                <a16:creationId xmlns:a16="http://schemas.microsoft.com/office/drawing/2014/main" id="{97DB98A9-4B35-AAA8-E0F5-A7CB358E2ADC}"/>
              </a:ext>
            </a:extLst>
          </p:cNvPr>
          <p:cNvSpPr/>
          <p:nvPr/>
        </p:nvSpPr>
        <p:spPr>
          <a:xfrm>
            <a:off x="5952308" y="5092358"/>
            <a:ext cx="1036041" cy="74561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📅+⚙️Avoir des invités extérieurs qui s’expriment sur les problèmes adressés ou résolus par la Communauté</a:t>
            </a:r>
          </a:p>
        </p:txBody>
      </p:sp>
      <p:sp>
        <p:nvSpPr>
          <p:cNvPr id="145" name="Rectangle 144">
            <a:extLst>
              <a:ext uri="{FF2B5EF4-FFF2-40B4-BE49-F238E27FC236}">
                <a16:creationId xmlns:a16="http://schemas.microsoft.com/office/drawing/2014/main" id="{E42F6D6F-356C-52A1-DC83-82A939934260}"/>
              </a:ext>
            </a:extLst>
          </p:cNvPr>
          <p:cNvSpPr/>
          <p:nvPr/>
        </p:nvSpPr>
        <p:spPr>
          <a:xfrm>
            <a:off x="3618433" y="3874739"/>
            <a:ext cx="1036041" cy="57619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Si goût à la rencontre : invités extérieurs avec moments d’échange</a:t>
            </a:r>
          </a:p>
        </p:txBody>
      </p:sp>
      <p:sp>
        <p:nvSpPr>
          <p:cNvPr id="146" name="Rectangle 145">
            <a:extLst>
              <a:ext uri="{FF2B5EF4-FFF2-40B4-BE49-F238E27FC236}">
                <a16:creationId xmlns:a16="http://schemas.microsoft.com/office/drawing/2014/main" id="{FCE4E259-FACE-D4B6-097E-9CD39A950D55}"/>
              </a:ext>
            </a:extLst>
          </p:cNvPr>
          <p:cNvSpPr/>
          <p:nvPr/>
        </p:nvSpPr>
        <p:spPr>
          <a:xfrm>
            <a:off x="7134306" y="5474828"/>
            <a:ext cx="1036041" cy="93927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📅+⚙️Débuts d’événements : Faire le point sur la progression des membres (sur une frise, CCC-groups, #OpenSeriousPath)</a:t>
            </a:r>
          </a:p>
        </p:txBody>
      </p:sp>
      <p:sp>
        <p:nvSpPr>
          <p:cNvPr id="147" name="Rectangle 146">
            <a:extLst>
              <a:ext uri="{FF2B5EF4-FFF2-40B4-BE49-F238E27FC236}">
                <a16:creationId xmlns:a16="http://schemas.microsoft.com/office/drawing/2014/main" id="{3D5472CD-2EEB-57C5-B8FD-CC659542D86C}"/>
              </a:ext>
            </a:extLst>
          </p:cNvPr>
          <p:cNvSpPr/>
          <p:nvPr/>
        </p:nvSpPr>
        <p:spPr>
          <a:xfrm>
            <a:off x="1294281" y="5726084"/>
            <a:ext cx="1036041" cy="58139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📅+⚙️Fin d’événement : Mettre en avant des membres points de contact par sujet</a:t>
            </a:r>
          </a:p>
        </p:txBody>
      </p:sp>
      <p:sp>
        <p:nvSpPr>
          <p:cNvPr id="148" name="Rectangle 147">
            <a:extLst>
              <a:ext uri="{FF2B5EF4-FFF2-40B4-BE49-F238E27FC236}">
                <a16:creationId xmlns:a16="http://schemas.microsoft.com/office/drawing/2014/main" id="{171DA2D1-D273-614A-ADAE-3294FDD9B854}"/>
              </a:ext>
            </a:extLst>
          </p:cNvPr>
          <p:cNvSpPr/>
          <p:nvPr/>
        </p:nvSpPr>
        <p:spPr>
          <a:xfrm>
            <a:off x="3628156" y="5995016"/>
            <a:ext cx="1036041" cy="2873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📅+⚙️En présentiel</a:t>
            </a:r>
          </a:p>
        </p:txBody>
      </p:sp>
      <p:sp>
        <p:nvSpPr>
          <p:cNvPr id="149" name="Rectangle 148">
            <a:extLst>
              <a:ext uri="{FF2B5EF4-FFF2-40B4-BE49-F238E27FC236}">
                <a16:creationId xmlns:a16="http://schemas.microsoft.com/office/drawing/2014/main" id="{0F923EDC-A14D-1E4F-8CE1-48305446F091}"/>
              </a:ext>
            </a:extLst>
          </p:cNvPr>
          <p:cNvSpPr/>
          <p:nvPr/>
        </p:nvSpPr>
        <p:spPr>
          <a:xfrm>
            <a:off x="4804202" y="6307483"/>
            <a:ext cx="1036041" cy="3270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 distance, participation multitâche acceptée</a:t>
            </a:r>
          </a:p>
        </p:txBody>
      </p:sp>
      <p:sp>
        <p:nvSpPr>
          <p:cNvPr id="150" name="Rectangle 149">
            <a:extLst>
              <a:ext uri="{FF2B5EF4-FFF2-40B4-BE49-F238E27FC236}">
                <a16:creationId xmlns:a16="http://schemas.microsoft.com/office/drawing/2014/main" id="{10766640-654B-76FB-4B14-27471E76A0B5}"/>
              </a:ext>
            </a:extLst>
          </p:cNvPr>
          <p:cNvSpPr/>
          <p:nvPr/>
        </p:nvSpPr>
        <p:spPr>
          <a:xfrm>
            <a:off x="8303145" y="5615250"/>
            <a:ext cx="1036041" cy="73670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📅+⚙️Accès au replay après l’événement, membres prévenus avant même l’événement</a:t>
            </a:r>
          </a:p>
        </p:txBody>
      </p:sp>
      <p:sp>
        <p:nvSpPr>
          <p:cNvPr id="151" name="Rectangle 150">
            <a:extLst>
              <a:ext uri="{FF2B5EF4-FFF2-40B4-BE49-F238E27FC236}">
                <a16:creationId xmlns:a16="http://schemas.microsoft.com/office/drawing/2014/main" id="{8B8F21D4-CE17-21DE-C916-316D9ADFBCE2}"/>
              </a:ext>
            </a:extLst>
          </p:cNvPr>
          <p:cNvSpPr/>
          <p:nvPr/>
        </p:nvSpPr>
        <p:spPr>
          <a:xfrm>
            <a:off x="8300667" y="6378507"/>
            <a:ext cx="1036041" cy="44630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📅+⚙️Terminer l’événement si fini plus tôt (et viser cela)</a:t>
            </a:r>
          </a:p>
        </p:txBody>
      </p:sp>
      <p:sp>
        <p:nvSpPr>
          <p:cNvPr id="152" name="Rectangle 151">
            <a:extLst>
              <a:ext uri="{FF2B5EF4-FFF2-40B4-BE49-F238E27FC236}">
                <a16:creationId xmlns:a16="http://schemas.microsoft.com/office/drawing/2014/main" id="{CEB62899-28C4-A6E4-2DF4-4C4E48313EF8}"/>
              </a:ext>
            </a:extLst>
          </p:cNvPr>
          <p:cNvSpPr/>
          <p:nvPr/>
        </p:nvSpPr>
        <p:spPr>
          <a:xfrm>
            <a:off x="2460642" y="6273904"/>
            <a:ext cx="1036041" cy="50235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📅+⚙️Règle : Moment hors ligne hors stimulation et alertes extérieures</a:t>
            </a:r>
          </a:p>
        </p:txBody>
      </p:sp>
      <p:sp>
        <p:nvSpPr>
          <p:cNvPr id="154" name="Rectangle 153">
            <a:extLst>
              <a:ext uri="{FF2B5EF4-FFF2-40B4-BE49-F238E27FC236}">
                <a16:creationId xmlns:a16="http://schemas.microsoft.com/office/drawing/2014/main" id="{4B3A75FB-30A0-7CE6-5E6D-3B1251592E0D}"/>
              </a:ext>
            </a:extLst>
          </p:cNvPr>
          <p:cNvSpPr/>
          <p:nvPr/>
        </p:nvSpPr>
        <p:spPr>
          <a:xfrm>
            <a:off x="5954470" y="5867459"/>
            <a:ext cx="1036041" cy="95735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📅+⚙️Capitaliser les informations en direct sur un mur virtuel, et où on peut constater rétrospectivement l’ampleur du travail accumulé</a:t>
            </a:r>
          </a:p>
        </p:txBody>
      </p:sp>
      <p:sp>
        <p:nvSpPr>
          <p:cNvPr id="155" name="Rectangle 154">
            <a:extLst>
              <a:ext uri="{FF2B5EF4-FFF2-40B4-BE49-F238E27FC236}">
                <a16:creationId xmlns:a16="http://schemas.microsoft.com/office/drawing/2014/main" id="{F84E048D-4ABA-E4BF-E5F2-CEE935E5EA32}"/>
              </a:ext>
            </a:extLst>
          </p:cNvPr>
          <p:cNvSpPr/>
          <p:nvPr/>
        </p:nvSpPr>
        <p:spPr>
          <a:xfrm>
            <a:off x="4796995" y="6660623"/>
            <a:ext cx="1036041" cy="16418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📅+⚙️Envoyer un compte rendu</a:t>
            </a:r>
          </a:p>
        </p:txBody>
      </p:sp>
      <p:sp>
        <p:nvSpPr>
          <p:cNvPr id="156" name="Rectangle 155">
            <a:extLst>
              <a:ext uri="{FF2B5EF4-FFF2-40B4-BE49-F238E27FC236}">
                <a16:creationId xmlns:a16="http://schemas.microsoft.com/office/drawing/2014/main" id="{48382218-E820-7D3F-D0B6-FA56F3C59394}"/>
              </a:ext>
            </a:extLst>
          </p:cNvPr>
          <p:cNvSpPr/>
          <p:nvPr/>
        </p:nvSpPr>
        <p:spPr>
          <a:xfrm>
            <a:off x="3618432" y="6299991"/>
            <a:ext cx="1036041" cy="52482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📅+⚙️Ajouter des moments informels systématique entre les membres</a:t>
            </a:r>
          </a:p>
        </p:txBody>
      </p:sp>
    </p:spTree>
    <p:extLst>
      <p:ext uri="{BB962C8B-B14F-4D97-AF65-F5344CB8AC3E}">
        <p14:creationId xmlns:p14="http://schemas.microsoft.com/office/powerpoint/2010/main" val="188608529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838200" y="10007"/>
            <a:ext cx="10515600" cy="1165815"/>
          </a:xfrm>
        </p:spPr>
        <p:txBody>
          <a:bodyPr>
            <a:noAutofit/>
          </a:bodyPr>
          <a:lstStyle/>
          <a:p>
            <a:r>
              <a:rPr lang="fr-FR" sz="3200" dirty="0"/>
              <a:t>Exemples de réponses opérationnelles de Communauté d’entreprise classées par motivateurs – Echelle Méso</a:t>
            </a:r>
            <a:br>
              <a:rPr lang="fr-FR" sz="3200" dirty="0"/>
            </a:br>
            <a:r>
              <a:rPr lang="fr-FR" sz="2000" dirty="0"/>
              <a:t>📅+⚙️Structuration de moments, ✍️+⚙️ Structuration de Contenus</a:t>
            </a:r>
            <a:endParaRPr lang="fr-FR" sz="3200" dirty="0"/>
          </a:p>
        </p:txBody>
      </p:sp>
      <p:pic>
        <p:nvPicPr>
          <p:cNvPr id="25" name="Image 24">
            <a:extLst>
              <a:ext uri="{FF2B5EF4-FFF2-40B4-BE49-F238E27FC236}">
                <a16:creationId xmlns:a16="http://schemas.microsoft.com/office/drawing/2014/main" id="{606255BE-23A7-ADAF-2326-89C7A7C1166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1640" y="1216242"/>
            <a:ext cx="1036041" cy="1463432"/>
          </a:xfrm>
          <a:prstGeom prst="rect">
            <a:avLst/>
          </a:prstGeom>
        </p:spPr>
      </p:pic>
      <p:pic>
        <p:nvPicPr>
          <p:cNvPr id="27" name="Image 26">
            <a:extLst>
              <a:ext uri="{FF2B5EF4-FFF2-40B4-BE49-F238E27FC236}">
                <a16:creationId xmlns:a16="http://schemas.microsoft.com/office/drawing/2014/main" id="{BF0668E5-1F29-C6FB-93FA-4659CD0F7B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59318" y="1212899"/>
            <a:ext cx="1036041" cy="1463432"/>
          </a:xfrm>
          <a:prstGeom prst="rect">
            <a:avLst/>
          </a:prstGeom>
        </p:spPr>
      </p:pic>
      <p:pic>
        <p:nvPicPr>
          <p:cNvPr id="28" name="Image 27" descr="Une image contenant texte&#10;&#10;Description générée automatiquement">
            <a:extLst>
              <a:ext uri="{FF2B5EF4-FFF2-40B4-BE49-F238E27FC236}">
                <a16:creationId xmlns:a16="http://schemas.microsoft.com/office/drawing/2014/main" id="{C52BFFBF-1047-476C-6469-7AF91D6DBF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65835" y="1215041"/>
            <a:ext cx="1036041" cy="1463432"/>
          </a:xfrm>
          <a:prstGeom prst="rect">
            <a:avLst/>
          </a:prstGeom>
        </p:spPr>
      </p:pic>
      <p:pic>
        <p:nvPicPr>
          <p:cNvPr id="29" name="Image 28">
            <a:extLst>
              <a:ext uri="{FF2B5EF4-FFF2-40B4-BE49-F238E27FC236}">
                <a16:creationId xmlns:a16="http://schemas.microsoft.com/office/drawing/2014/main" id="{66A8C156-F0A3-1263-C6C5-F0E1328E750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03513" y="1207623"/>
            <a:ext cx="1036041" cy="1463432"/>
          </a:xfrm>
          <a:prstGeom prst="rect">
            <a:avLst/>
          </a:prstGeom>
        </p:spPr>
      </p:pic>
      <p:pic>
        <p:nvPicPr>
          <p:cNvPr id="30" name="Image 29">
            <a:extLst>
              <a:ext uri="{FF2B5EF4-FFF2-40B4-BE49-F238E27FC236}">
                <a16:creationId xmlns:a16="http://schemas.microsoft.com/office/drawing/2014/main" id="{6E90BE4D-1EA5-ED16-87E6-4E680E0807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290479" y="1215041"/>
            <a:ext cx="1036041" cy="1463432"/>
          </a:xfrm>
          <a:prstGeom prst="rect">
            <a:avLst/>
          </a:prstGeom>
        </p:spPr>
      </p:pic>
      <p:pic>
        <p:nvPicPr>
          <p:cNvPr id="31" name="Image 30">
            <a:extLst>
              <a:ext uri="{FF2B5EF4-FFF2-40B4-BE49-F238E27FC236}">
                <a16:creationId xmlns:a16="http://schemas.microsoft.com/office/drawing/2014/main" id="{A564748B-E5B0-4E9F-7813-01D7C51BCBB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28157" y="1220317"/>
            <a:ext cx="1036041" cy="1463432"/>
          </a:xfrm>
          <a:prstGeom prst="rect">
            <a:avLst/>
          </a:prstGeom>
        </p:spPr>
      </p:pic>
      <p:pic>
        <p:nvPicPr>
          <p:cNvPr id="32" name="Image 31" descr="Une image contenant texte&#10;&#10;Description générée automatiquement">
            <a:extLst>
              <a:ext uri="{FF2B5EF4-FFF2-40B4-BE49-F238E27FC236}">
                <a16:creationId xmlns:a16="http://schemas.microsoft.com/office/drawing/2014/main" id="{85BA04D4-8763-76EF-5EFF-C98B2E55124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134674" y="1216030"/>
            <a:ext cx="1036041" cy="1463432"/>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1C07BFD-8376-7366-5CAE-D9628DFEBEB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472353" y="1207623"/>
            <a:ext cx="1036041" cy="1463432"/>
          </a:xfrm>
          <a:prstGeom prst="rect">
            <a:avLst/>
          </a:prstGeom>
        </p:spPr>
      </p:pic>
      <p:sp>
        <p:nvSpPr>
          <p:cNvPr id="42" name="Rectangle 41">
            <a:extLst>
              <a:ext uri="{FF2B5EF4-FFF2-40B4-BE49-F238E27FC236}">
                <a16:creationId xmlns:a16="http://schemas.microsoft.com/office/drawing/2014/main" id="{D5B4002B-AE18-2BAE-0D73-078BB2432DAD}"/>
              </a:ext>
            </a:extLst>
          </p:cNvPr>
          <p:cNvSpPr/>
          <p:nvPr/>
        </p:nvSpPr>
        <p:spPr>
          <a:xfrm>
            <a:off x="10760563" y="1199138"/>
            <a:ext cx="1120155"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pic>
        <p:nvPicPr>
          <p:cNvPr id="4" name="Image 3" descr="Une image contenant texte&#10;&#10;Description générée automatiquement">
            <a:extLst>
              <a:ext uri="{FF2B5EF4-FFF2-40B4-BE49-F238E27FC236}">
                <a16:creationId xmlns:a16="http://schemas.microsoft.com/office/drawing/2014/main" id="{5BA312F9-B03F-88C0-5DDB-1BE1AC830520}"/>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796996" y="1221112"/>
            <a:ext cx="1036041" cy="1449325"/>
          </a:xfrm>
          <a:prstGeom prst="rect">
            <a:avLst/>
          </a:prstGeom>
        </p:spPr>
      </p:pic>
      <p:grpSp>
        <p:nvGrpSpPr>
          <p:cNvPr id="65" name="Groupe 64">
            <a:extLst>
              <a:ext uri="{FF2B5EF4-FFF2-40B4-BE49-F238E27FC236}">
                <a16:creationId xmlns:a16="http://schemas.microsoft.com/office/drawing/2014/main" id="{D4FE61E4-5DC5-4329-731E-7D3DBF0843FF}"/>
              </a:ext>
            </a:extLst>
          </p:cNvPr>
          <p:cNvGrpSpPr/>
          <p:nvPr/>
        </p:nvGrpSpPr>
        <p:grpSpPr>
          <a:xfrm>
            <a:off x="121640" y="156326"/>
            <a:ext cx="756159" cy="637502"/>
            <a:chOff x="8982504" y="3274976"/>
            <a:chExt cx="1230670" cy="1037553"/>
          </a:xfrm>
          <a:solidFill>
            <a:srgbClr val="ED7D31"/>
          </a:solidFill>
        </p:grpSpPr>
        <p:pic>
          <p:nvPicPr>
            <p:cNvPr id="66" name="Graphique 65" descr="Utilisateur avec un remplissage uni">
              <a:extLst>
                <a:ext uri="{FF2B5EF4-FFF2-40B4-BE49-F238E27FC236}">
                  <a16:creationId xmlns:a16="http://schemas.microsoft.com/office/drawing/2014/main" id="{48753949-93EF-3D80-382F-B193CEC4DDC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01028" y="3274976"/>
              <a:ext cx="336064" cy="336064"/>
            </a:xfrm>
            <a:prstGeom prst="rect">
              <a:avLst/>
            </a:prstGeom>
          </p:spPr>
        </p:pic>
        <p:pic>
          <p:nvPicPr>
            <p:cNvPr id="67" name="Graphique 66" descr="Utilisateur avec un remplissage uni">
              <a:extLst>
                <a:ext uri="{FF2B5EF4-FFF2-40B4-BE49-F238E27FC236}">
                  <a16:creationId xmlns:a16="http://schemas.microsoft.com/office/drawing/2014/main" id="{F6E18B21-3BA0-5D9E-0ED6-496FAA28788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54140" y="3512720"/>
              <a:ext cx="336064" cy="336064"/>
            </a:xfrm>
            <a:prstGeom prst="rect">
              <a:avLst/>
            </a:prstGeom>
          </p:spPr>
        </p:pic>
        <p:pic>
          <p:nvPicPr>
            <p:cNvPr id="68" name="Graphique 67" descr="Utilisateur avec un remplissage uni">
              <a:extLst>
                <a:ext uri="{FF2B5EF4-FFF2-40B4-BE49-F238E27FC236}">
                  <a16:creationId xmlns:a16="http://schemas.microsoft.com/office/drawing/2014/main" id="{94D65B38-D73A-7F86-B1DD-E64A7D519B1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45616" y="3561880"/>
              <a:ext cx="336064" cy="336064"/>
            </a:xfrm>
            <a:prstGeom prst="rect">
              <a:avLst/>
            </a:prstGeom>
          </p:spPr>
        </p:pic>
        <p:pic>
          <p:nvPicPr>
            <p:cNvPr id="69" name="Graphique 68" descr="Utilisateur avec un remplissage uni">
              <a:extLst>
                <a:ext uri="{FF2B5EF4-FFF2-40B4-BE49-F238E27FC236}">
                  <a16:creationId xmlns:a16="http://schemas.microsoft.com/office/drawing/2014/main" id="{CE986DA1-3127-D953-A824-FF331646E12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92504" y="3418428"/>
              <a:ext cx="336064" cy="336064"/>
            </a:xfrm>
            <a:prstGeom prst="rect">
              <a:avLst/>
            </a:prstGeom>
          </p:spPr>
        </p:pic>
        <p:pic>
          <p:nvPicPr>
            <p:cNvPr id="70" name="Graphique 69" descr="Utilisateur avec un remplissage uni">
              <a:extLst>
                <a:ext uri="{FF2B5EF4-FFF2-40B4-BE49-F238E27FC236}">
                  <a16:creationId xmlns:a16="http://schemas.microsoft.com/office/drawing/2014/main" id="{4C4F3AE0-927B-3E3C-B917-26BC286F7D2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635196" y="3680752"/>
              <a:ext cx="336064" cy="336064"/>
            </a:xfrm>
            <a:prstGeom prst="rect">
              <a:avLst/>
            </a:prstGeom>
          </p:spPr>
        </p:pic>
        <p:pic>
          <p:nvPicPr>
            <p:cNvPr id="71" name="Graphique 70" descr="Utilisateur avec un remplissage uni">
              <a:extLst>
                <a:ext uri="{FF2B5EF4-FFF2-40B4-BE49-F238E27FC236}">
                  <a16:creationId xmlns:a16="http://schemas.microsoft.com/office/drawing/2014/main" id="{DDF76C1B-F28E-EE6D-4347-71AE54C343F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256440" y="3848784"/>
              <a:ext cx="336064" cy="336064"/>
            </a:xfrm>
            <a:prstGeom prst="rect">
              <a:avLst/>
            </a:prstGeom>
          </p:spPr>
        </p:pic>
        <p:pic>
          <p:nvPicPr>
            <p:cNvPr id="72" name="Graphique 71" descr="Utilisateur avec un remplissage uni">
              <a:extLst>
                <a:ext uri="{FF2B5EF4-FFF2-40B4-BE49-F238E27FC236}">
                  <a16:creationId xmlns:a16="http://schemas.microsoft.com/office/drawing/2014/main" id="{895EE63F-29C8-8EFF-75F8-DD8D9E08AFA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82504" y="3835028"/>
              <a:ext cx="336064" cy="336064"/>
            </a:xfrm>
            <a:prstGeom prst="rect">
              <a:avLst/>
            </a:prstGeom>
          </p:spPr>
        </p:pic>
        <p:pic>
          <p:nvPicPr>
            <p:cNvPr id="73" name="Graphique 72" descr="Utilisateur avec un remplissage uni">
              <a:extLst>
                <a:ext uri="{FF2B5EF4-FFF2-40B4-BE49-F238E27FC236}">
                  <a16:creationId xmlns:a16="http://schemas.microsoft.com/office/drawing/2014/main" id="{02769511-677C-B372-2C22-4347F962799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0868" y="3943076"/>
              <a:ext cx="336064" cy="336064"/>
            </a:xfrm>
            <a:prstGeom prst="rect">
              <a:avLst/>
            </a:prstGeom>
          </p:spPr>
        </p:pic>
        <p:pic>
          <p:nvPicPr>
            <p:cNvPr id="74" name="Graphique 73" descr="Utilisateur avec un remplissage uni">
              <a:extLst>
                <a:ext uri="{FF2B5EF4-FFF2-40B4-BE49-F238E27FC236}">
                  <a16:creationId xmlns:a16="http://schemas.microsoft.com/office/drawing/2014/main" id="{1D56F51E-CA84-7EEC-584A-4255AACD4DF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42772" y="3976465"/>
              <a:ext cx="336064" cy="336064"/>
            </a:xfrm>
            <a:prstGeom prst="rect">
              <a:avLst/>
            </a:prstGeom>
          </p:spPr>
        </p:pic>
        <p:pic>
          <p:nvPicPr>
            <p:cNvPr id="75" name="Graphique 74" descr="Utilisateur avec un remplissage uni">
              <a:extLst>
                <a:ext uri="{FF2B5EF4-FFF2-40B4-BE49-F238E27FC236}">
                  <a16:creationId xmlns:a16="http://schemas.microsoft.com/office/drawing/2014/main" id="{D5FA1D01-2DDD-6D4A-5262-56A38EACEB5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77110" y="3705332"/>
              <a:ext cx="336064" cy="336064"/>
            </a:xfrm>
            <a:prstGeom prst="rect">
              <a:avLst/>
            </a:prstGeom>
          </p:spPr>
        </p:pic>
        <p:pic>
          <p:nvPicPr>
            <p:cNvPr id="112" name="Graphique 111" descr="Utilisateur avec un remplissage uni">
              <a:extLst>
                <a:ext uri="{FF2B5EF4-FFF2-40B4-BE49-F238E27FC236}">
                  <a16:creationId xmlns:a16="http://schemas.microsoft.com/office/drawing/2014/main" id="{BD8FF552-B8DD-7763-DCAB-3D14327F8CA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56932" y="3429000"/>
              <a:ext cx="336064" cy="336064"/>
            </a:xfrm>
            <a:prstGeom prst="rect">
              <a:avLst/>
            </a:prstGeom>
          </p:spPr>
        </p:pic>
      </p:grpSp>
      <p:sp>
        <p:nvSpPr>
          <p:cNvPr id="118" name="Rectangle 117">
            <a:extLst>
              <a:ext uri="{FF2B5EF4-FFF2-40B4-BE49-F238E27FC236}">
                <a16:creationId xmlns:a16="http://schemas.microsoft.com/office/drawing/2014/main" id="{6AFF8675-DA8A-8C0A-1A10-3999BA163B3F}"/>
              </a:ext>
            </a:extLst>
          </p:cNvPr>
          <p:cNvSpPr/>
          <p:nvPr/>
        </p:nvSpPr>
        <p:spPr>
          <a:xfrm>
            <a:off x="1284277" y="2713408"/>
            <a:ext cx="1036041" cy="7806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Début des contenus : Mettre en avant les membres, et leur importance dans l’entreprise</a:t>
            </a:r>
          </a:p>
        </p:txBody>
      </p:sp>
      <p:sp>
        <p:nvSpPr>
          <p:cNvPr id="76" name="Rectangle 75">
            <a:extLst>
              <a:ext uri="{FF2B5EF4-FFF2-40B4-BE49-F238E27FC236}">
                <a16:creationId xmlns:a16="http://schemas.microsoft.com/office/drawing/2014/main" id="{BCE019BA-5888-FC3C-1C51-1AFD09977D2F}"/>
              </a:ext>
            </a:extLst>
          </p:cNvPr>
          <p:cNvSpPr/>
          <p:nvPr/>
        </p:nvSpPr>
        <p:spPr>
          <a:xfrm>
            <a:off x="1284277" y="3541737"/>
            <a:ext cx="1036041" cy="7806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Vignettes des contenus : Mettre la photo des membres concernés sur les vignettes des contenus</a:t>
            </a:r>
          </a:p>
        </p:txBody>
      </p:sp>
      <p:sp>
        <p:nvSpPr>
          <p:cNvPr id="77" name="Rectangle 76">
            <a:extLst>
              <a:ext uri="{FF2B5EF4-FFF2-40B4-BE49-F238E27FC236}">
                <a16:creationId xmlns:a16="http://schemas.microsoft.com/office/drawing/2014/main" id="{3E0C5796-0DEC-1427-C404-5E9A14B00A6A}"/>
              </a:ext>
            </a:extLst>
          </p:cNvPr>
          <p:cNvSpPr/>
          <p:nvPr/>
        </p:nvSpPr>
        <p:spPr>
          <a:xfrm>
            <a:off x="7134674" y="2713408"/>
            <a:ext cx="1036041" cy="10965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Ranger les contenus par niveaux prérequis de compétence et indiquer le niveau dans le titre (ex: « Contenu pour experts, pour débutants… »)</a:t>
            </a:r>
          </a:p>
        </p:txBody>
      </p:sp>
      <p:sp>
        <p:nvSpPr>
          <p:cNvPr id="78" name="Rectangle 77">
            <a:extLst>
              <a:ext uri="{FF2B5EF4-FFF2-40B4-BE49-F238E27FC236}">
                <a16:creationId xmlns:a16="http://schemas.microsoft.com/office/drawing/2014/main" id="{D2932F95-0C3C-C3A1-3597-E287730D76B7}"/>
              </a:ext>
            </a:extLst>
          </p:cNvPr>
          <p:cNvSpPr/>
          <p:nvPr/>
        </p:nvSpPr>
        <p:spPr>
          <a:xfrm>
            <a:off x="4796995" y="2713408"/>
            <a:ext cx="1036041" cy="7806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Titre des contenus : Mentionner les situations de travail génériques servies par le contenu</a:t>
            </a:r>
          </a:p>
        </p:txBody>
      </p:sp>
      <p:sp>
        <p:nvSpPr>
          <p:cNvPr id="34" name="Rectangle 33">
            <a:extLst>
              <a:ext uri="{FF2B5EF4-FFF2-40B4-BE49-F238E27FC236}">
                <a16:creationId xmlns:a16="http://schemas.microsoft.com/office/drawing/2014/main" id="{7C84502E-B91D-9667-1D8F-5C2C9F808D99}"/>
              </a:ext>
            </a:extLst>
          </p:cNvPr>
          <p:cNvSpPr/>
          <p:nvPr/>
        </p:nvSpPr>
        <p:spPr>
          <a:xfrm>
            <a:off x="1284277" y="4358938"/>
            <a:ext cx="1036041" cy="7806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Fin des contenus : Indiquer comment contacter les membres mentionnés dans le contenu</a:t>
            </a:r>
          </a:p>
        </p:txBody>
      </p:sp>
      <p:sp>
        <p:nvSpPr>
          <p:cNvPr id="35" name="Rectangle 34">
            <a:extLst>
              <a:ext uri="{FF2B5EF4-FFF2-40B4-BE49-F238E27FC236}">
                <a16:creationId xmlns:a16="http://schemas.microsoft.com/office/drawing/2014/main" id="{DB7BB7AE-2391-5B1F-082F-966536FA49EE}"/>
              </a:ext>
            </a:extLst>
          </p:cNvPr>
          <p:cNvSpPr/>
          <p:nvPr/>
        </p:nvSpPr>
        <p:spPr>
          <a:xfrm>
            <a:off x="1284277" y="5176139"/>
            <a:ext cx="1036041" cy="7806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Texte accompagnant les contenus: Mettre en avant les membres concernés, les identifier</a:t>
            </a:r>
          </a:p>
        </p:txBody>
      </p:sp>
      <p:sp>
        <p:nvSpPr>
          <p:cNvPr id="36" name="Rectangle 35">
            <a:extLst>
              <a:ext uri="{FF2B5EF4-FFF2-40B4-BE49-F238E27FC236}">
                <a16:creationId xmlns:a16="http://schemas.microsoft.com/office/drawing/2014/main" id="{53791B09-F702-EA98-DF89-1C8463B7B94A}"/>
              </a:ext>
            </a:extLst>
          </p:cNvPr>
          <p:cNvSpPr/>
          <p:nvPr/>
        </p:nvSpPr>
        <p:spPr>
          <a:xfrm>
            <a:off x="2466030" y="2713408"/>
            <a:ext cx="1036041" cy="90733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Titre et approche éditoriale: Utiliser des titres accrocheurs et le ton accrocheur qui va avec (« Vous ne croirez pas … »</a:t>
            </a:r>
          </a:p>
        </p:txBody>
      </p:sp>
      <p:sp>
        <p:nvSpPr>
          <p:cNvPr id="37" name="Rectangle 36">
            <a:extLst>
              <a:ext uri="{FF2B5EF4-FFF2-40B4-BE49-F238E27FC236}">
                <a16:creationId xmlns:a16="http://schemas.microsoft.com/office/drawing/2014/main" id="{8C750A66-9C4E-AB1A-BA75-CB24818FDE87}"/>
              </a:ext>
            </a:extLst>
          </p:cNvPr>
          <p:cNvSpPr/>
          <p:nvPr/>
        </p:nvSpPr>
        <p:spPr>
          <a:xfrm>
            <a:off x="5965835" y="2713409"/>
            <a:ext cx="1036041" cy="97139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Titre et début des contenus: Mentionner la cause servie par le contenu (ex: « Solitude professionnelle : 10 astuces pour … »)</a:t>
            </a:r>
          </a:p>
        </p:txBody>
      </p:sp>
      <p:sp>
        <p:nvSpPr>
          <p:cNvPr id="38" name="Rectangle 37">
            <a:extLst>
              <a:ext uri="{FF2B5EF4-FFF2-40B4-BE49-F238E27FC236}">
                <a16:creationId xmlns:a16="http://schemas.microsoft.com/office/drawing/2014/main" id="{35B66449-6AFB-251A-3DBD-5F0E9EF3E2F3}"/>
              </a:ext>
            </a:extLst>
          </p:cNvPr>
          <p:cNvSpPr/>
          <p:nvPr/>
        </p:nvSpPr>
        <p:spPr>
          <a:xfrm>
            <a:off x="8296800" y="2713409"/>
            <a:ext cx="1036041" cy="7155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✍️+⚙️Titres des contenus : Indiquer le temps de lecture / d’écoute / de consommation</a:t>
            </a:r>
          </a:p>
        </p:txBody>
      </p:sp>
      <p:sp>
        <p:nvSpPr>
          <p:cNvPr id="39" name="Rectangle 38">
            <a:extLst>
              <a:ext uri="{FF2B5EF4-FFF2-40B4-BE49-F238E27FC236}">
                <a16:creationId xmlns:a16="http://schemas.microsoft.com/office/drawing/2014/main" id="{2A39276E-1AC6-CB21-BD24-F9A7176AB6F9}"/>
              </a:ext>
            </a:extLst>
          </p:cNvPr>
          <p:cNvSpPr/>
          <p:nvPr/>
        </p:nvSpPr>
        <p:spPr>
          <a:xfrm>
            <a:off x="8296800" y="3471355"/>
            <a:ext cx="1036041" cy="7155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✍️+⚙️Types de contenus : Proposer des formats courts voire très courts et indépendants</a:t>
            </a:r>
          </a:p>
        </p:txBody>
      </p:sp>
      <p:sp>
        <p:nvSpPr>
          <p:cNvPr id="40" name="Rectangle 39">
            <a:extLst>
              <a:ext uri="{FF2B5EF4-FFF2-40B4-BE49-F238E27FC236}">
                <a16:creationId xmlns:a16="http://schemas.microsoft.com/office/drawing/2014/main" id="{806F2108-AF8F-3643-3373-41A9A323F963}"/>
              </a:ext>
            </a:extLst>
          </p:cNvPr>
          <p:cNvSpPr/>
          <p:nvPr/>
        </p:nvSpPr>
        <p:spPr>
          <a:xfrm>
            <a:off x="8296799" y="4250996"/>
            <a:ext cx="1036041" cy="54294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✍️+⚙️Début des contenus : Intégrer un résumé très court du contenu</a:t>
            </a:r>
          </a:p>
        </p:txBody>
      </p:sp>
      <p:sp>
        <p:nvSpPr>
          <p:cNvPr id="41" name="Rectangle 40">
            <a:extLst>
              <a:ext uri="{FF2B5EF4-FFF2-40B4-BE49-F238E27FC236}">
                <a16:creationId xmlns:a16="http://schemas.microsoft.com/office/drawing/2014/main" id="{DB086276-D508-3413-ACB5-314CE3D9E038}"/>
              </a:ext>
            </a:extLst>
          </p:cNvPr>
          <p:cNvSpPr/>
          <p:nvPr/>
        </p:nvSpPr>
        <p:spPr>
          <a:xfrm>
            <a:off x="2459317" y="3663660"/>
            <a:ext cx="1036041" cy="54294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✍️+⚙️Début des contenus : Intégrer un résumé très court du contenu</a:t>
            </a:r>
          </a:p>
        </p:txBody>
      </p:sp>
      <p:sp>
        <p:nvSpPr>
          <p:cNvPr id="43" name="Rectangle 42">
            <a:extLst>
              <a:ext uri="{FF2B5EF4-FFF2-40B4-BE49-F238E27FC236}">
                <a16:creationId xmlns:a16="http://schemas.microsoft.com/office/drawing/2014/main" id="{3B178AD5-59F6-D1A9-98DC-29214E3620C5}"/>
              </a:ext>
            </a:extLst>
          </p:cNvPr>
          <p:cNvSpPr/>
          <p:nvPr/>
        </p:nvSpPr>
        <p:spPr>
          <a:xfrm>
            <a:off x="3625056" y="2712955"/>
            <a:ext cx="1036041" cy="7806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Fin des contenus : Indiquer comment contacter les membres mentionnés dans le contenu</a:t>
            </a:r>
          </a:p>
        </p:txBody>
      </p:sp>
      <p:sp>
        <p:nvSpPr>
          <p:cNvPr id="44" name="Rectangle 43">
            <a:extLst>
              <a:ext uri="{FF2B5EF4-FFF2-40B4-BE49-F238E27FC236}">
                <a16:creationId xmlns:a16="http://schemas.microsoft.com/office/drawing/2014/main" id="{04C34FAD-2D9B-7A23-2F95-A22C68FE42A8}"/>
              </a:ext>
            </a:extLst>
          </p:cNvPr>
          <p:cNvSpPr/>
          <p:nvPr/>
        </p:nvSpPr>
        <p:spPr>
          <a:xfrm>
            <a:off x="4796995" y="4746861"/>
            <a:ext cx="1036041" cy="97139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Début des contenus : Indiquer les personnes concernées professionnellement par le contenu (« Ce contenu vous concerne si… »)</a:t>
            </a:r>
          </a:p>
        </p:txBody>
      </p:sp>
      <p:sp>
        <p:nvSpPr>
          <p:cNvPr id="45" name="Rectangle 44">
            <a:extLst>
              <a:ext uri="{FF2B5EF4-FFF2-40B4-BE49-F238E27FC236}">
                <a16:creationId xmlns:a16="http://schemas.microsoft.com/office/drawing/2014/main" id="{7AB784E0-BE5D-1F2C-D0FE-F9EE81A029A2}"/>
              </a:ext>
            </a:extLst>
          </p:cNvPr>
          <p:cNvSpPr/>
          <p:nvPr/>
        </p:nvSpPr>
        <p:spPr>
          <a:xfrm>
            <a:off x="4796995" y="5753771"/>
            <a:ext cx="1036041" cy="90779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Fin des contenus : Indiquer comment réutiliser les contenus qui viennent d’être consommés dans son travail</a:t>
            </a:r>
          </a:p>
        </p:txBody>
      </p:sp>
      <p:sp>
        <p:nvSpPr>
          <p:cNvPr id="46" name="Rectangle 45">
            <a:extLst>
              <a:ext uri="{FF2B5EF4-FFF2-40B4-BE49-F238E27FC236}">
                <a16:creationId xmlns:a16="http://schemas.microsoft.com/office/drawing/2014/main" id="{24EBEAA9-C5AB-E23C-18A6-EA92C426D103}"/>
              </a:ext>
            </a:extLst>
          </p:cNvPr>
          <p:cNvSpPr/>
          <p:nvPr/>
        </p:nvSpPr>
        <p:spPr>
          <a:xfrm>
            <a:off x="3615242" y="3522165"/>
            <a:ext cx="1036041" cy="9077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Milieu et Fin des contenus : Inviter à s’exprimer, partager ses propres expériences à son tour ou en commentaires</a:t>
            </a:r>
          </a:p>
        </p:txBody>
      </p:sp>
      <p:sp>
        <p:nvSpPr>
          <p:cNvPr id="47" name="Rectangle 46">
            <a:extLst>
              <a:ext uri="{FF2B5EF4-FFF2-40B4-BE49-F238E27FC236}">
                <a16:creationId xmlns:a16="http://schemas.microsoft.com/office/drawing/2014/main" id="{D6FC378C-2735-B18B-6059-7D79A31D2CCA}"/>
              </a:ext>
            </a:extLst>
          </p:cNvPr>
          <p:cNvSpPr/>
          <p:nvPr/>
        </p:nvSpPr>
        <p:spPr>
          <a:xfrm>
            <a:off x="3615241" y="4458426"/>
            <a:ext cx="1036041" cy="97139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✍️+⚙️Fin des contenus : Inviter à / Rappeler de partager les contenus à des connaissances pour qui ce contenu serait pertinent</a:t>
            </a:r>
          </a:p>
        </p:txBody>
      </p:sp>
      <p:sp>
        <p:nvSpPr>
          <p:cNvPr id="48" name="Rectangle 47">
            <a:extLst>
              <a:ext uri="{FF2B5EF4-FFF2-40B4-BE49-F238E27FC236}">
                <a16:creationId xmlns:a16="http://schemas.microsoft.com/office/drawing/2014/main" id="{F7553A3D-F39A-0ED1-6F87-D416D59D27C7}"/>
              </a:ext>
            </a:extLst>
          </p:cNvPr>
          <p:cNvSpPr/>
          <p:nvPr/>
        </p:nvSpPr>
        <p:spPr>
          <a:xfrm>
            <a:off x="9472353" y="2712955"/>
            <a:ext cx="1036041" cy="9077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Milieu et Fin des contenus : Inviter à s’exprimer, partager ses propres expériences à son tour ou en commentaires</a:t>
            </a:r>
          </a:p>
        </p:txBody>
      </p:sp>
      <p:sp>
        <p:nvSpPr>
          <p:cNvPr id="49" name="Rectangle 48">
            <a:extLst>
              <a:ext uri="{FF2B5EF4-FFF2-40B4-BE49-F238E27FC236}">
                <a16:creationId xmlns:a16="http://schemas.microsoft.com/office/drawing/2014/main" id="{79D95694-4CE0-17E8-568F-63FABA4F7F92}"/>
              </a:ext>
            </a:extLst>
          </p:cNvPr>
          <p:cNvSpPr/>
          <p:nvPr/>
        </p:nvSpPr>
        <p:spPr>
          <a:xfrm>
            <a:off x="3615241" y="5469782"/>
            <a:ext cx="1036041" cy="76731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Commentaires des contenus : Inviter à répondre aux discussions dans les commentaires</a:t>
            </a:r>
          </a:p>
        </p:txBody>
      </p:sp>
      <p:sp>
        <p:nvSpPr>
          <p:cNvPr id="50" name="Rectangle 49">
            <a:extLst>
              <a:ext uri="{FF2B5EF4-FFF2-40B4-BE49-F238E27FC236}">
                <a16:creationId xmlns:a16="http://schemas.microsoft.com/office/drawing/2014/main" id="{9211FAE9-A287-44BB-F964-73285086407E}"/>
              </a:ext>
            </a:extLst>
          </p:cNvPr>
          <p:cNvSpPr/>
          <p:nvPr/>
        </p:nvSpPr>
        <p:spPr>
          <a:xfrm>
            <a:off x="5965835" y="3698555"/>
            <a:ext cx="1036041" cy="11638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✍️+⚙️Fin des contenus : Indiquer comment contacter les membres liés aux causes mentionnées et comment y contribuer soi même</a:t>
            </a:r>
          </a:p>
        </p:txBody>
      </p:sp>
      <p:sp>
        <p:nvSpPr>
          <p:cNvPr id="52" name="Rectangle 51">
            <a:extLst>
              <a:ext uri="{FF2B5EF4-FFF2-40B4-BE49-F238E27FC236}">
                <a16:creationId xmlns:a16="http://schemas.microsoft.com/office/drawing/2014/main" id="{2696033D-07D2-23AD-6DF7-2C46BE91AF9F}"/>
              </a:ext>
            </a:extLst>
          </p:cNvPr>
          <p:cNvSpPr/>
          <p:nvPr/>
        </p:nvSpPr>
        <p:spPr>
          <a:xfrm>
            <a:off x="7134674" y="3842228"/>
            <a:ext cx="1036041" cy="89938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Début des contenus: Indiquer les objectifs pédagogiques liés du contenu (« A la fin de ce contenu, vous saurez … »)</a:t>
            </a:r>
          </a:p>
        </p:txBody>
      </p:sp>
      <p:sp>
        <p:nvSpPr>
          <p:cNvPr id="53" name="Rectangle 52">
            <a:extLst>
              <a:ext uri="{FF2B5EF4-FFF2-40B4-BE49-F238E27FC236}">
                <a16:creationId xmlns:a16="http://schemas.microsoft.com/office/drawing/2014/main" id="{4EEE8901-66CD-1C77-3E3C-9CC3C7A5BABA}"/>
              </a:ext>
            </a:extLst>
          </p:cNvPr>
          <p:cNvSpPr/>
          <p:nvPr/>
        </p:nvSpPr>
        <p:spPr>
          <a:xfrm>
            <a:off x="4796995" y="3537228"/>
            <a:ext cx="1036041" cy="11638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Titre des contenus : Mentionner le cadre opérationnel pour lequel le contenu est créé (ex: « Directive ABCD : Les choses à retenir ») </a:t>
            </a:r>
          </a:p>
        </p:txBody>
      </p:sp>
      <p:sp>
        <p:nvSpPr>
          <p:cNvPr id="54" name="Rectangle 53">
            <a:extLst>
              <a:ext uri="{FF2B5EF4-FFF2-40B4-BE49-F238E27FC236}">
                <a16:creationId xmlns:a16="http://schemas.microsoft.com/office/drawing/2014/main" id="{386747E6-A253-17F3-5B0D-44FB2F5E0447}"/>
              </a:ext>
            </a:extLst>
          </p:cNvPr>
          <p:cNvSpPr/>
          <p:nvPr/>
        </p:nvSpPr>
        <p:spPr>
          <a:xfrm>
            <a:off x="9472353" y="3662646"/>
            <a:ext cx="1036041" cy="128221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Contenus : Inviter à produire soi même un contenu lié au contenu présenté ou à oser publier (« A votre tour, postez vos bonnes pratiques avec le hashtag #... »)</a:t>
            </a:r>
          </a:p>
        </p:txBody>
      </p:sp>
      <p:sp>
        <p:nvSpPr>
          <p:cNvPr id="55" name="Rectangle 54">
            <a:extLst>
              <a:ext uri="{FF2B5EF4-FFF2-40B4-BE49-F238E27FC236}">
                <a16:creationId xmlns:a16="http://schemas.microsoft.com/office/drawing/2014/main" id="{1F550052-2619-2A10-82D6-E86AEABDD78F}"/>
              </a:ext>
            </a:extLst>
          </p:cNvPr>
          <p:cNvSpPr/>
          <p:nvPr/>
        </p:nvSpPr>
        <p:spPr>
          <a:xfrm>
            <a:off x="2459316" y="4249518"/>
            <a:ext cx="1036041" cy="9077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✍️+⚙️Type de contenus pour stimulation : Contenus actifs, avec énigmes, questions, quizz, Serious Games, … </a:t>
            </a:r>
          </a:p>
        </p:txBody>
      </p:sp>
      <p:sp>
        <p:nvSpPr>
          <p:cNvPr id="51" name="Rectangle 50">
            <a:extLst>
              <a:ext uri="{FF2B5EF4-FFF2-40B4-BE49-F238E27FC236}">
                <a16:creationId xmlns:a16="http://schemas.microsoft.com/office/drawing/2014/main" id="{A400AB8D-8345-9D97-DC26-28CB0E26B25D}"/>
              </a:ext>
            </a:extLst>
          </p:cNvPr>
          <p:cNvSpPr/>
          <p:nvPr/>
        </p:nvSpPr>
        <p:spPr>
          <a:xfrm>
            <a:off x="3615240" y="6277051"/>
            <a:ext cx="1036041" cy="56367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Début des contenus : Mettre en avant les membres, et leur rôle dans l’entreprise</a:t>
            </a:r>
          </a:p>
        </p:txBody>
      </p:sp>
      <p:sp>
        <p:nvSpPr>
          <p:cNvPr id="56" name="Rectangle 55">
            <a:extLst>
              <a:ext uri="{FF2B5EF4-FFF2-40B4-BE49-F238E27FC236}">
                <a16:creationId xmlns:a16="http://schemas.microsoft.com/office/drawing/2014/main" id="{1C936597-EE5D-D297-5828-ACE66BC76E6B}"/>
              </a:ext>
            </a:extLst>
          </p:cNvPr>
          <p:cNvSpPr/>
          <p:nvPr/>
        </p:nvSpPr>
        <p:spPr>
          <a:xfrm>
            <a:off x="5971241" y="4882040"/>
            <a:ext cx="1036041" cy="97139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✍️+⚙️Fin des contenus : Rappeler d’envoyer le contenu aux personnes que ce contenu pourrait aider</a:t>
            </a:r>
          </a:p>
        </p:txBody>
      </p:sp>
    </p:spTree>
    <p:extLst>
      <p:ext uri="{BB962C8B-B14F-4D97-AF65-F5344CB8AC3E}">
        <p14:creationId xmlns:p14="http://schemas.microsoft.com/office/powerpoint/2010/main" val="416449567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8">
            <a:extLst>
              <a:ext uri="{FF2B5EF4-FFF2-40B4-BE49-F238E27FC236}">
                <a16:creationId xmlns:a16="http://schemas.microsoft.com/office/drawing/2014/main" id="{44C438C8-8C4C-301D-4E6B-0F325834E790}"/>
              </a:ext>
            </a:extLst>
          </p:cNvPr>
          <p:cNvSpPr txBox="1">
            <a:spLocks/>
          </p:cNvSpPr>
          <p:nvPr/>
        </p:nvSpPr>
        <p:spPr>
          <a:xfrm>
            <a:off x="198563" y="2046914"/>
            <a:ext cx="3092331" cy="1931494"/>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3200" dirty="0"/>
              <a:t>Niveau d’intention de la valeur pour les membres</a:t>
            </a:r>
          </a:p>
        </p:txBody>
      </p:sp>
      <p:sp>
        <p:nvSpPr>
          <p:cNvPr id="7" name="Titre 8">
            <a:extLst>
              <a:ext uri="{FF2B5EF4-FFF2-40B4-BE49-F238E27FC236}">
                <a16:creationId xmlns:a16="http://schemas.microsoft.com/office/drawing/2014/main" id="{6BA2DDDE-5477-4A9B-EA3B-C4C41FF58CB4}"/>
              </a:ext>
            </a:extLst>
          </p:cNvPr>
          <p:cNvSpPr txBox="1">
            <a:spLocks/>
          </p:cNvSpPr>
          <p:nvPr/>
        </p:nvSpPr>
        <p:spPr>
          <a:xfrm>
            <a:off x="3461259" y="197339"/>
            <a:ext cx="2682873" cy="466932"/>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pPr algn="ctr"/>
            <a:r>
              <a:rPr lang="fr-FR" sz="1800" dirty="0"/>
              <a:t>Probabilité d’effet positif</a:t>
            </a:r>
          </a:p>
        </p:txBody>
      </p:sp>
      <p:sp>
        <p:nvSpPr>
          <p:cNvPr id="11" name="Titre 8">
            <a:extLst>
              <a:ext uri="{FF2B5EF4-FFF2-40B4-BE49-F238E27FC236}">
                <a16:creationId xmlns:a16="http://schemas.microsoft.com/office/drawing/2014/main" id="{874F9DCA-A462-FAFD-BDD3-5F460FA54B8A}"/>
              </a:ext>
            </a:extLst>
          </p:cNvPr>
          <p:cNvSpPr txBox="1">
            <a:spLocks/>
          </p:cNvSpPr>
          <p:nvPr/>
        </p:nvSpPr>
        <p:spPr>
          <a:xfrm>
            <a:off x="5677743" y="882618"/>
            <a:ext cx="6234624" cy="821491"/>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800" i="1" dirty="0"/>
              <a:t>Exemple :  </a:t>
            </a:r>
            <a:r>
              <a:rPr lang="fr-FR" sz="1800" b="0" i="1" dirty="0"/>
              <a:t>La Communauté ABC est une communauté de formation mutuelle. Par construction, j’y bénéfice du développement de compétences.</a:t>
            </a:r>
          </a:p>
        </p:txBody>
      </p:sp>
      <p:sp>
        <p:nvSpPr>
          <p:cNvPr id="12" name="Titre 8">
            <a:extLst>
              <a:ext uri="{FF2B5EF4-FFF2-40B4-BE49-F238E27FC236}">
                <a16:creationId xmlns:a16="http://schemas.microsoft.com/office/drawing/2014/main" id="{A0394389-5BD0-B7C7-8ADB-4D6F1DB5D160}"/>
              </a:ext>
            </a:extLst>
          </p:cNvPr>
          <p:cNvSpPr txBox="1">
            <a:spLocks/>
          </p:cNvSpPr>
          <p:nvPr/>
        </p:nvSpPr>
        <p:spPr>
          <a:xfrm>
            <a:off x="5677743" y="1993856"/>
            <a:ext cx="6234624" cy="105988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800" i="1" dirty="0"/>
              <a:t>Exemple :  </a:t>
            </a:r>
            <a:r>
              <a:rPr lang="fr-FR" sz="1800" b="0" i="1" dirty="0"/>
              <a:t>Dans la Communauté DEF, la formation mutuelle n’est pas obligatoire, mais les membres ont décidé de se former les uns les autres par eux même. Par nos engagements, nous bénéficions d’un développement de compétences</a:t>
            </a:r>
          </a:p>
        </p:txBody>
      </p:sp>
      <p:sp>
        <p:nvSpPr>
          <p:cNvPr id="13" name="Titre 8">
            <a:extLst>
              <a:ext uri="{FF2B5EF4-FFF2-40B4-BE49-F238E27FC236}">
                <a16:creationId xmlns:a16="http://schemas.microsoft.com/office/drawing/2014/main" id="{D2354456-7BB4-A337-E4B0-253598254362}"/>
              </a:ext>
            </a:extLst>
          </p:cNvPr>
          <p:cNvSpPr txBox="1">
            <a:spLocks/>
          </p:cNvSpPr>
          <p:nvPr/>
        </p:nvSpPr>
        <p:spPr>
          <a:xfrm>
            <a:off x="5677743" y="3293157"/>
            <a:ext cx="6234624" cy="105988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800" i="1" dirty="0"/>
              <a:t>Exemple :  </a:t>
            </a:r>
            <a:r>
              <a:rPr lang="fr-FR" sz="1800" b="0" i="1" dirty="0"/>
              <a:t>Dans la Communauté GHI, la direction nous impose au moins 10% du temps dédié à de la pure formation. Par obligation, nous bénéficions d’un développement de compétences. </a:t>
            </a:r>
          </a:p>
        </p:txBody>
      </p:sp>
      <p:sp>
        <p:nvSpPr>
          <p:cNvPr id="15" name="Titre 8">
            <a:extLst>
              <a:ext uri="{FF2B5EF4-FFF2-40B4-BE49-F238E27FC236}">
                <a16:creationId xmlns:a16="http://schemas.microsoft.com/office/drawing/2014/main" id="{54399AAB-6EC2-7AC7-C92A-8ECA9B63C56F}"/>
              </a:ext>
            </a:extLst>
          </p:cNvPr>
          <p:cNvSpPr txBox="1">
            <a:spLocks/>
          </p:cNvSpPr>
          <p:nvPr/>
        </p:nvSpPr>
        <p:spPr>
          <a:xfrm>
            <a:off x="5677743" y="4583660"/>
            <a:ext cx="6234624" cy="1059880"/>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800" i="1" dirty="0"/>
              <a:t>Exemple :  </a:t>
            </a:r>
            <a:r>
              <a:rPr lang="fr-FR" sz="1800" b="0" i="1" dirty="0"/>
              <a:t>Dans la Communauté KLM, notre but est de travailler sur de nouveaux projets innovants avec des personnes très différentes de notre quotidien. Par effet de bord, nous bénéficions d’un développement de nos compétences. </a:t>
            </a:r>
          </a:p>
        </p:txBody>
      </p:sp>
      <p:sp>
        <p:nvSpPr>
          <p:cNvPr id="16" name="Titre 8">
            <a:extLst>
              <a:ext uri="{FF2B5EF4-FFF2-40B4-BE49-F238E27FC236}">
                <a16:creationId xmlns:a16="http://schemas.microsoft.com/office/drawing/2014/main" id="{A889551B-392B-65EF-37B6-DFE3F00B7E51}"/>
              </a:ext>
            </a:extLst>
          </p:cNvPr>
          <p:cNvSpPr txBox="1">
            <a:spLocks/>
          </p:cNvSpPr>
          <p:nvPr/>
        </p:nvSpPr>
        <p:spPr>
          <a:xfrm>
            <a:off x="5712270" y="5801615"/>
            <a:ext cx="6234624" cy="993467"/>
          </a:xfrm>
          <a:prstGeom prst="rect">
            <a:avLst/>
          </a:prstGeom>
        </p:spPr>
        <p:txBody>
          <a:bodyPr/>
          <a:lst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a:lstStyle>
          <a:p>
            <a:r>
              <a:rPr lang="fr-FR" sz="1800" i="1" dirty="0"/>
              <a:t>Exemple :  </a:t>
            </a:r>
            <a:r>
              <a:rPr lang="fr-FR" sz="1800" b="0" i="1" dirty="0"/>
              <a:t>Dans la Communauté NOP, la raison d’être est d’organiser des moments festifs. Il s’avère que j’ai rencontré des mentors lors de ces moments, ce qui par accident m’a aide à développer mes compétences. </a:t>
            </a:r>
          </a:p>
        </p:txBody>
      </p:sp>
      <p:cxnSp>
        <p:nvCxnSpPr>
          <p:cNvPr id="2" name="Connecteur droit avec flèche 1">
            <a:extLst>
              <a:ext uri="{FF2B5EF4-FFF2-40B4-BE49-F238E27FC236}">
                <a16:creationId xmlns:a16="http://schemas.microsoft.com/office/drawing/2014/main" id="{4CE89007-F200-7FDB-C2C3-6DD565761356}"/>
              </a:ext>
            </a:extLst>
          </p:cNvPr>
          <p:cNvCxnSpPr>
            <a:cxnSpLocks/>
          </p:cNvCxnSpPr>
          <p:nvPr/>
        </p:nvCxnSpPr>
        <p:spPr>
          <a:xfrm flipV="1">
            <a:off x="4886894" y="714798"/>
            <a:ext cx="0" cy="5748556"/>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B3A63F6E-901A-A962-08F5-8F4DBC727C22}"/>
              </a:ext>
            </a:extLst>
          </p:cNvPr>
          <p:cNvSpPr/>
          <p:nvPr/>
        </p:nvSpPr>
        <p:spPr>
          <a:xfrm>
            <a:off x="4165441" y="1075841"/>
            <a:ext cx="1484849" cy="595619"/>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construction (ADN de la communauté)</a:t>
            </a:r>
          </a:p>
        </p:txBody>
      </p:sp>
      <p:sp>
        <p:nvSpPr>
          <p:cNvPr id="22" name="Rectangle 21">
            <a:extLst>
              <a:ext uri="{FF2B5EF4-FFF2-40B4-BE49-F238E27FC236}">
                <a16:creationId xmlns:a16="http://schemas.microsoft.com/office/drawing/2014/main" id="{4CBD69A6-697C-D1A4-944B-460C019CC3B7}"/>
              </a:ext>
            </a:extLst>
          </p:cNvPr>
          <p:cNvSpPr/>
          <p:nvPr/>
        </p:nvSpPr>
        <p:spPr>
          <a:xfrm>
            <a:off x="4165441" y="2118869"/>
            <a:ext cx="1484849" cy="914401"/>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l’engagement des membres (initiative de leur part)</a:t>
            </a:r>
          </a:p>
        </p:txBody>
      </p:sp>
      <p:sp>
        <p:nvSpPr>
          <p:cNvPr id="23" name="Rectangle 22">
            <a:extLst>
              <a:ext uri="{FF2B5EF4-FFF2-40B4-BE49-F238E27FC236}">
                <a16:creationId xmlns:a16="http://schemas.microsoft.com/office/drawing/2014/main" id="{CAD2E9EA-4B77-3DDD-DBBB-875C8699FF44}"/>
              </a:ext>
            </a:extLst>
          </p:cNvPr>
          <p:cNvSpPr/>
          <p:nvPr/>
        </p:nvSpPr>
        <p:spPr>
          <a:xfrm>
            <a:off x="4165441" y="3571064"/>
            <a:ext cx="1484849" cy="54528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obligation (Contraintes, ordres…)</a:t>
            </a:r>
          </a:p>
        </p:txBody>
      </p:sp>
      <p:sp>
        <p:nvSpPr>
          <p:cNvPr id="24" name="Rectangle 23">
            <a:extLst>
              <a:ext uri="{FF2B5EF4-FFF2-40B4-BE49-F238E27FC236}">
                <a16:creationId xmlns:a16="http://schemas.microsoft.com/office/drawing/2014/main" id="{DCF8D341-873D-B512-F385-DB3949FE1843}"/>
              </a:ext>
            </a:extLst>
          </p:cNvPr>
          <p:cNvSpPr/>
          <p:nvPr/>
        </p:nvSpPr>
        <p:spPr>
          <a:xfrm>
            <a:off x="4165441" y="4861567"/>
            <a:ext cx="1484849" cy="54528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Par effet de bord (conséquence)</a:t>
            </a:r>
          </a:p>
        </p:txBody>
      </p:sp>
      <p:sp>
        <p:nvSpPr>
          <p:cNvPr id="25" name="Rectangle 24">
            <a:extLst>
              <a:ext uri="{FF2B5EF4-FFF2-40B4-BE49-F238E27FC236}">
                <a16:creationId xmlns:a16="http://schemas.microsoft.com/office/drawing/2014/main" id="{4D477B31-323F-7AA1-25F5-735362F804C1}"/>
              </a:ext>
            </a:extLst>
          </p:cNvPr>
          <p:cNvSpPr/>
          <p:nvPr/>
        </p:nvSpPr>
        <p:spPr>
          <a:xfrm>
            <a:off x="4165441" y="5879427"/>
            <a:ext cx="1484849" cy="54528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Par accident</a:t>
            </a:r>
          </a:p>
        </p:txBody>
      </p:sp>
      <p:pic>
        <p:nvPicPr>
          <p:cNvPr id="26" name="Graphique 25" descr="Héroïne avec un remplissage uni">
            <a:extLst>
              <a:ext uri="{FF2B5EF4-FFF2-40B4-BE49-F238E27FC236}">
                <a16:creationId xmlns:a16="http://schemas.microsoft.com/office/drawing/2014/main" id="{DDED94E0-2839-E399-D29D-6255A71E66F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448202" y="2303748"/>
            <a:ext cx="671083" cy="671083"/>
          </a:xfrm>
          <a:prstGeom prst="rect">
            <a:avLst/>
          </a:prstGeom>
        </p:spPr>
      </p:pic>
      <p:pic>
        <p:nvPicPr>
          <p:cNvPr id="27" name="Graphique 26" descr="Engrenage avec un remplissage uni">
            <a:extLst>
              <a:ext uri="{FF2B5EF4-FFF2-40B4-BE49-F238E27FC236}">
                <a16:creationId xmlns:a16="http://schemas.microsoft.com/office/drawing/2014/main" id="{F94D85DD-1EEE-71D3-DA7B-3B6BA839812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97374" y="993948"/>
            <a:ext cx="710161" cy="710161"/>
          </a:xfrm>
          <a:prstGeom prst="rect">
            <a:avLst/>
          </a:prstGeom>
        </p:spPr>
      </p:pic>
      <p:pic>
        <p:nvPicPr>
          <p:cNvPr id="28" name="Graphique 27" descr="Explosion avec un remplissage uni">
            <a:extLst>
              <a:ext uri="{FF2B5EF4-FFF2-40B4-BE49-F238E27FC236}">
                <a16:creationId xmlns:a16="http://schemas.microsoft.com/office/drawing/2014/main" id="{DBDD97DE-D4A9-26FB-E3E6-EEFAAE6CB52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497374" y="5918068"/>
            <a:ext cx="545286" cy="545286"/>
          </a:xfrm>
          <a:prstGeom prst="rect">
            <a:avLst/>
          </a:prstGeom>
        </p:spPr>
      </p:pic>
      <p:pic>
        <p:nvPicPr>
          <p:cNvPr id="29" name="Graphique 28" descr="Ajouter avec un remplissage uni">
            <a:extLst>
              <a:ext uri="{FF2B5EF4-FFF2-40B4-BE49-F238E27FC236}">
                <a16:creationId xmlns:a16="http://schemas.microsoft.com/office/drawing/2014/main" id="{03C197C2-7D92-9873-ED5E-8EC123EF072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532072" y="4824017"/>
            <a:ext cx="545286" cy="545286"/>
          </a:xfrm>
          <a:prstGeom prst="rect">
            <a:avLst/>
          </a:prstGeom>
        </p:spPr>
      </p:pic>
      <p:pic>
        <p:nvPicPr>
          <p:cNvPr id="30" name="Graphique 29" descr="Menottes avec un remplissage uni">
            <a:extLst>
              <a:ext uri="{FF2B5EF4-FFF2-40B4-BE49-F238E27FC236}">
                <a16:creationId xmlns:a16="http://schemas.microsoft.com/office/drawing/2014/main" id="{1022A9AE-5B4B-6E05-8F2F-193FCD753276}"/>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497375" y="3550454"/>
            <a:ext cx="545285" cy="545285"/>
          </a:xfrm>
          <a:prstGeom prst="rect">
            <a:avLst/>
          </a:prstGeom>
        </p:spPr>
      </p:pic>
    </p:spTree>
    <p:extLst>
      <p:ext uri="{BB962C8B-B14F-4D97-AF65-F5344CB8AC3E}">
        <p14:creationId xmlns:p14="http://schemas.microsoft.com/office/powerpoint/2010/main" val="25617181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608A227-6C8A-F475-5883-51E188DFBE53}"/>
              </a:ext>
            </a:extLst>
          </p:cNvPr>
          <p:cNvSpPr>
            <a:spLocks noGrp="1"/>
          </p:cNvSpPr>
          <p:nvPr>
            <p:ph type="title"/>
          </p:nvPr>
        </p:nvSpPr>
        <p:spPr/>
        <p:txBody>
          <a:bodyPr>
            <a:normAutofit fontScale="90000"/>
          </a:bodyPr>
          <a:lstStyle/>
          <a:p>
            <a:r>
              <a:rPr lang="fr-FR" sz="3200" dirty="0"/>
              <a:t>L’expérience de la Communauté : </a:t>
            </a:r>
            <a:br>
              <a:rPr lang="fr-FR" sz="3200" dirty="0"/>
            </a:br>
            <a:r>
              <a:rPr lang="fr-FR" sz="3200" dirty="0"/>
              <a:t>Une respiration par rapport à ailleurs</a:t>
            </a:r>
            <a:br>
              <a:rPr lang="fr-FR" sz="3200" dirty="0"/>
            </a:br>
            <a:r>
              <a:rPr lang="fr-FR" sz="3200" dirty="0"/>
              <a:t>(valeur différenciante de l’existant)</a:t>
            </a:r>
          </a:p>
        </p:txBody>
      </p:sp>
      <p:pic>
        <p:nvPicPr>
          <p:cNvPr id="4" name="Graphique 3" descr="Balance de la justice avec un remplissage uni">
            <a:extLst>
              <a:ext uri="{FF2B5EF4-FFF2-40B4-BE49-F238E27FC236}">
                <a16:creationId xmlns:a16="http://schemas.microsoft.com/office/drawing/2014/main" id="{92D65905-A501-E35D-95B4-3DE77B9721C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972" t="7530" r="8041" b="7105"/>
          <a:stretch/>
        </p:blipFill>
        <p:spPr>
          <a:xfrm>
            <a:off x="7255123" y="1386286"/>
            <a:ext cx="3714904" cy="3731378"/>
          </a:xfrm>
          <a:prstGeom prst="rect">
            <a:avLst/>
          </a:prstGeom>
        </p:spPr>
      </p:pic>
      <p:sp>
        <p:nvSpPr>
          <p:cNvPr id="5" name="Rectangle 4">
            <a:extLst>
              <a:ext uri="{FF2B5EF4-FFF2-40B4-BE49-F238E27FC236}">
                <a16:creationId xmlns:a16="http://schemas.microsoft.com/office/drawing/2014/main" id="{D276BE16-5F76-8B63-BAD4-C195FBA3F00C}"/>
              </a:ext>
            </a:extLst>
          </p:cNvPr>
          <p:cNvSpPr/>
          <p:nvPr/>
        </p:nvSpPr>
        <p:spPr>
          <a:xfrm>
            <a:off x="9573820" y="2953683"/>
            <a:ext cx="866233" cy="55041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6" name="Rectangle 5">
            <a:extLst>
              <a:ext uri="{FF2B5EF4-FFF2-40B4-BE49-F238E27FC236}">
                <a16:creationId xmlns:a16="http://schemas.microsoft.com/office/drawing/2014/main" id="{4C25585B-D160-E78E-D149-B0238A2AA7C7}"/>
              </a:ext>
            </a:extLst>
          </p:cNvPr>
          <p:cNvSpPr/>
          <p:nvPr/>
        </p:nvSpPr>
        <p:spPr>
          <a:xfrm>
            <a:off x="10544001" y="2969461"/>
            <a:ext cx="866233" cy="55041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7" name="Rectangle 6">
            <a:extLst>
              <a:ext uri="{FF2B5EF4-FFF2-40B4-BE49-F238E27FC236}">
                <a16:creationId xmlns:a16="http://schemas.microsoft.com/office/drawing/2014/main" id="{F2CBED50-A491-F0CB-C6DC-009B8D4E465A}"/>
              </a:ext>
            </a:extLst>
          </p:cNvPr>
          <p:cNvSpPr/>
          <p:nvPr/>
        </p:nvSpPr>
        <p:spPr>
          <a:xfrm>
            <a:off x="7936231" y="3008541"/>
            <a:ext cx="985536" cy="55041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8" name="Rectangle 7">
            <a:extLst>
              <a:ext uri="{FF2B5EF4-FFF2-40B4-BE49-F238E27FC236}">
                <a16:creationId xmlns:a16="http://schemas.microsoft.com/office/drawing/2014/main" id="{FCE8A0F3-3713-1F49-3C21-7224DCFC7577}"/>
              </a:ext>
            </a:extLst>
          </p:cNvPr>
          <p:cNvSpPr/>
          <p:nvPr/>
        </p:nvSpPr>
        <p:spPr>
          <a:xfrm>
            <a:off x="10328681" y="2324595"/>
            <a:ext cx="866233" cy="55041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9" name="Rectangle 8">
            <a:extLst>
              <a:ext uri="{FF2B5EF4-FFF2-40B4-BE49-F238E27FC236}">
                <a16:creationId xmlns:a16="http://schemas.microsoft.com/office/drawing/2014/main" id="{41C063BD-9347-FE89-A6F6-A49DEEEDF492}"/>
              </a:ext>
            </a:extLst>
          </p:cNvPr>
          <p:cNvSpPr/>
          <p:nvPr/>
        </p:nvSpPr>
        <p:spPr>
          <a:xfrm>
            <a:off x="7267662" y="2379997"/>
            <a:ext cx="985536" cy="55041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10" name="Rectangle 9">
            <a:extLst>
              <a:ext uri="{FF2B5EF4-FFF2-40B4-BE49-F238E27FC236}">
                <a16:creationId xmlns:a16="http://schemas.microsoft.com/office/drawing/2014/main" id="{959E7918-EF0B-CD86-474D-F6595CFDA0D8}"/>
              </a:ext>
            </a:extLst>
          </p:cNvPr>
          <p:cNvSpPr/>
          <p:nvPr/>
        </p:nvSpPr>
        <p:spPr>
          <a:xfrm>
            <a:off x="6890595" y="3008541"/>
            <a:ext cx="985536" cy="55041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11" name="Rectangle 10">
            <a:extLst>
              <a:ext uri="{FF2B5EF4-FFF2-40B4-BE49-F238E27FC236}">
                <a16:creationId xmlns:a16="http://schemas.microsoft.com/office/drawing/2014/main" id="{40D0F2EC-C412-C968-C39C-83F8E666C5DB}"/>
              </a:ext>
            </a:extLst>
          </p:cNvPr>
          <p:cNvSpPr/>
          <p:nvPr/>
        </p:nvSpPr>
        <p:spPr>
          <a:xfrm>
            <a:off x="9188555" y="5412248"/>
            <a:ext cx="985536" cy="550413"/>
          </a:xfrm>
          <a:prstGeom prst="rect">
            <a:avLst/>
          </a:prstGeom>
          <a:solidFill>
            <a:srgbClr val="0683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12" name="Rectangle 11">
            <a:extLst>
              <a:ext uri="{FF2B5EF4-FFF2-40B4-BE49-F238E27FC236}">
                <a16:creationId xmlns:a16="http://schemas.microsoft.com/office/drawing/2014/main" id="{54FCFDDE-5A57-A603-58DC-081626D802A8}"/>
              </a:ext>
            </a:extLst>
          </p:cNvPr>
          <p:cNvSpPr/>
          <p:nvPr/>
        </p:nvSpPr>
        <p:spPr>
          <a:xfrm>
            <a:off x="8142915" y="5412248"/>
            <a:ext cx="985536" cy="550413"/>
          </a:xfrm>
          <a:prstGeom prst="rect">
            <a:avLst/>
          </a:prstGeom>
          <a:solidFill>
            <a:srgbClr val="0683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13" name="Rectangle 12">
            <a:extLst>
              <a:ext uri="{FF2B5EF4-FFF2-40B4-BE49-F238E27FC236}">
                <a16:creationId xmlns:a16="http://schemas.microsoft.com/office/drawing/2014/main" id="{E24ACE92-25F3-A0A5-3568-4C6580F28A9A}"/>
              </a:ext>
            </a:extLst>
          </p:cNvPr>
          <p:cNvSpPr/>
          <p:nvPr/>
        </p:nvSpPr>
        <p:spPr>
          <a:xfrm>
            <a:off x="8695787" y="6007107"/>
            <a:ext cx="985536" cy="550413"/>
          </a:xfrm>
          <a:prstGeom prst="rect">
            <a:avLst/>
          </a:prstGeom>
          <a:solidFill>
            <a:srgbClr val="0683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14" name="ZoneTexte 13">
            <a:extLst>
              <a:ext uri="{FF2B5EF4-FFF2-40B4-BE49-F238E27FC236}">
                <a16:creationId xmlns:a16="http://schemas.microsoft.com/office/drawing/2014/main" id="{E8B58A99-36B4-43B8-C95E-1192F852898F}"/>
              </a:ext>
            </a:extLst>
          </p:cNvPr>
          <p:cNvSpPr txBox="1"/>
          <p:nvPr/>
        </p:nvSpPr>
        <p:spPr>
          <a:xfrm>
            <a:off x="6962318" y="3839993"/>
            <a:ext cx="1673365" cy="646331"/>
          </a:xfrm>
          <a:prstGeom prst="rect">
            <a:avLst/>
          </a:prstGeom>
          <a:noFill/>
        </p:spPr>
        <p:txBody>
          <a:bodyPr wrap="square">
            <a:spAutoFit/>
          </a:bodyPr>
          <a:lstStyle/>
          <a:p>
            <a:pPr algn="ctr"/>
            <a:r>
              <a:rPr lang="fr-FR" sz="1200" dirty="0">
                <a:solidFill>
                  <a:schemeClr val="tx1"/>
                </a:solidFill>
              </a:rPr>
              <a:t>Expérience de la Communauté différente du quotidien</a:t>
            </a:r>
          </a:p>
        </p:txBody>
      </p:sp>
      <p:sp>
        <p:nvSpPr>
          <p:cNvPr id="15" name="ZoneTexte 14">
            <a:extLst>
              <a:ext uri="{FF2B5EF4-FFF2-40B4-BE49-F238E27FC236}">
                <a16:creationId xmlns:a16="http://schemas.microsoft.com/office/drawing/2014/main" id="{36FBB78E-59BB-3FE6-120B-7BC9AB119500}"/>
              </a:ext>
            </a:extLst>
          </p:cNvPr>
          <p:cNvSpPr txBox="1"/>
          <p:nvPr/>
        </p:nvSpPr>
        <p:spPr>
          <a:xfrm>
            <a:off x="9690224" y="3824587"/>
            <a:ext cx="1504690" cy="646331"/>
          </a:xfrm>
          <a:prstGeom prst="rect">
            <a:avLst/>
          </a:prstGeom>
          <a:noFill/>
        </p:spPr>
        <p:txBody>
          <a:bodyPr wrap="square">
            <a:spAutoFit/>
          </a:bodyPr>
          <a:lstStyle/>
          <a:p>
            <a:pPr algn="ctr"/>
            <a:r>
              <a:rPr lang="fr-FR" sz="1200" dirty="0">
                <a:solidFill>
                  <a:schemeClr val="tx1"/>
                </a:solidFill>
              </a:rPr>
              <a:t>Expérience du quotidien différente de la Communauté</a:t>
            </a:r>
          </a:p>
        </p:txBody>
      </p:sp>
      <p:sp>
        <p:nvSpPr>
          <p:cNvPr id="16" name="ZoneTexte 15">
            <a:extLst>
              <a:ext uri="{FF2B5EF4-FFF2-40B4-BE49-F238E27FC236}">
                <a16:creationId xmlns:a16="http://schemas.microsoft.com/office/drawing/2014/main" id="{A5426812-A4F7-8961-AD7B-990C8381571B}"/>
              </a:ext>
            </a:extLst>
          </p:cNvPr>
          <p:cNvSpPr txBox="1"/>
          <p:nvPr/>
        </p:nvSpPr>
        <p:spPr>
          <a:xfrm>
            <a:off x="7905234" y="4726869"/>
            <a:ext cx="2324802" cy="646331"/>
          </a:xfrm>
          <a:prstGeom prst="rect">
            <a:avLst/>
          </a:prstGeom>
          <a:noFill/>
        </p:spPr>
        <p:txBody>
          <a:bodyPr wrap="square">
            <a:spAutoFit/>
          </a:bodyPr>
          <a:lstStyle/>
          <a:p>
            <a:pPr algn="ctr"/>
            <a:r>
              <a:rPr lang="fr-FR" sz="1200" dirty="0">
                <a:solidFill>
                  <a:schemeClr val="tx1"/>
                </a:solidFill>
              </a:rPr>
              <a:t>Points communs entre l’expérience hors communauté et dans la Communauté</a:t>
            </a:r>
          </a:p>
        </p:txBody>
      </p:sp>
      <p:pic>
        <p:nvPicPr>
          <p:cNvPr id="17" name="Graphique 16" descr="Poumons avec un remplissage uni">
            <a:extLst>
              <a:ext uri="{FF2B5EF4-FFF2-40B4-BE49-F238E27FC236}">
                <a16:creationId xmlns:a16="http://schemas.microsoft.com/office/drawing/2014/main" id="{941E717D-8C33-756C-5621-3013F378371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056575" y="-73982"/>
            <a:ext cx="2117516" cy="2117516"/>
          </a:xfrm>
          <a:prstGeom prst="rect">
            <a:avLst/>
          </a:prstGeom>
        </p:spPr>
      </p:pic>
      <p:sp>
        <p:nvSpPr>
          <p:cNvPr id="19" name="Espace réservé du contenu 2">
            <a:extLst>
              <a:ext uri="{FF2B5EF4-FFF2-40B4-BE49-F238E27FC236}">
                <a16:creationId xmlns:a16="http://schemas.microsoft.com/office/drawing/2014/main" id="{B5E1F673-BA9C-BBF5-8BC5-D3B4F92741AA}"/>
              </a:ext>
            </a:extLst>
          </p:cNvPr>
          <p:cNvSpPr txBox="1">
            <a:spLocks/>
          </p:cNvSpPr>
          <p:nvPr/>
        </p:nvSpPr>
        <p:spPr>
          <a:xfrm>
            <a:off x="552450" y="1815831"/>
            <a:ext cx="4791337" cy="4918343"/>
          </a:xfrm>
          <a:prstGeom prst="rect">
            <a:avLst/>
          </a:prstGeom>
        </p:spPr>
        <p:txBody>
          <a:bodyPr vert="horz" lIns="91440" tIns="45720" rIns="91440" bIns="45720" rtlCol="0">
            <a:normAutofit fontScale="850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sz="1800" dirty="0"/>
              <a:t>Certaines communautés sont construites comme des organisations qui peuvent fournir de nouvelles possibilités par rapport à l'expérience quotidienne de l'organisation hôte (entreprise, etc.). </a:t>
            </a:r>
          </a:p>
          <a:p>
            <a:r>
              <a:rPr lang="fr-FR" sz="1800" b="1" dirty="0">
                <a:solidFill>
                  <a:srgbClr val="ED7D31"/>
                </a:solidFill>
              </a:rPr>
              <a:t>La communauté permet aux membres de "respirer" par rapport à leurs activités quotidiennes.</a:t>
            </a:r>
          </a:p>
          <a:p>
            <a:endParaRPr lang="fr-FR" sz="1800" b="1" dirty="0">
              <a:solidFill>
                <a:srgbClr val="ED7D31"/>
              </a:solidFill>
            </a:endParaRPr>
          </a:p>
          <a:p>
            <a:r>
              <a:rPr lang="fr-FR" sz="1800" i="1" dirty="0"/>
              <a:t>Par exemple, une entreprise dans laquelle l'expérience quotidienne n'est pas du tout créative pourrait bénéficier d'une communauté qui favorise la créativité. </a:t>
            </a:r>
          </a:p>
          <a:p>
            <a:endParaRPr lang="fr-FR" sz="1800" i="1" dirty="0"/>
          </a:p>
          <a:p>
            <a:r>
              <a:rPr lang="fr-FR" sz="1800" b="1" dirty="0"/>
              <a:t>Si l'expérience de la communauté ressemble trop </a:t>
            </a:r>
            <a:r>
              <a:rPr lang="fr-FR" sz="1800" dirty="0"/>
              <a:t>à l'expérience quotidienne de l'organisation hôte, </a:t>
            </a:r>
            <a:r>
              <a:rPr lang="fr-FR" sz="1800" b="1" dirty="0"/>
              <a:t>la communauté peut être moins attrayante</a:t>
            </a:r>
            <a:r>
              <a:rPr lang="fr-FR" sz="1800" dirty="0"/>
              <a:t> et moins engageante à long terme.</a:t>
            </a:r>
          </a:p>
          <a:p>
            <a:endParaRPr lang="fr-FR" sz="1800" dirty="0"/>
          </a:p>
          <a:p>
            <a:r>
              <a:rPr lang="fr-FR" sz="1800" dirty="0"/>
              <a:t>À l'inverse, </a:t>
            </a:r>
            <a:r>
              <a:rPr lang="fr-FR" sz="1800" b="1" dirty="0"/>
              <a:t>si l'expérience de la communauté est trop éloignée </a:t>
            </a:r>
            <a:r>
              <a:rPr lang="fr-FR" sz="1800" dirty="0"/>
              <a:t>de celle de l'organisation hôte, elle risque d'être </a:t>
            </a:r>
            <a:r>
              <a:rPr lang="fr-FR" sz="1800" b="1" dirty="0"/>
              <a:t>trop peu familière pour susciter l'intérêt</a:t>
            </a:r>
            <a:r>
              <a:rPr lang="fr-FR" sz="1800" dirty="0"/>
              <a:t> ou de ne pas correspondre aux objectifs de l'organisation hôte. D’où l’importance de </a:t>
            </a:r>
            <a:r>
              <a:rPr lang="fr-FR" sz="1800" b="1" dirty="0">
                <a:solidFill>
                  <a:srgbClr val="3494BA"/>
                </a:solidFill>
              </a:rPr>
              <a:t>POINTS COMMUNS</a:t>
            </a:r>
            <a:endParaRPr lang="en-US" sz="1800" b="1" dirty="0">
              <a:solidFill>
                <a:srgbClr val="3494BA"/>
              </a:solidFill>
            </a:endParaRPr>
          </a:p>
        </p:txBody>
      </p:sp>
      <p:pic>
        <p:nvPicPr>
          <p:cNvPr id="18" name="Graphique 17" descr="Bâtiment avec un remplissage uni">
            <a:extLst>
              <a:ext uri="{FF2B5EF4-FFF2-40B4-BE49-F238E27FC236}">
                <a16:creationId xmlns:a16="http://schemas.microsoft.com/office/drawing/2014/main" id="{33701C28-4787-8042-2215-3A04DECD738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345641" y="948675"/>
            <a:ext cx="781742" cy="781742"/>
          </a:xfrm>
          <a:prstGeom prst="rect">
            <a:avLst/>
          </a:prstGeom>
        </p:spPr>
      </p:pic>
      <p:grpSp>
        <p:nvGrpSpPr>
          <p:cNvPr id="20" name="Groupe 19">
            <a:extLst>
              <a:ext uri="{FF2B5EF4-FFF2-40B4-BE49-F238E27FC236}">
                <a16:creationId xmlns:a16="http://schemas.microsoft.com/office/drawing/2014/main" id="{96E94C62-389C-8791-C0DE-F799BF03A077}"/>
              </a:ext>
            </a:extLst>
          </p:cNvPr>
          <p:cNvGrpSpPr/>
          <p:nvPr/>
        </p:nvGrpSpPr>
        <p:grpSpPr>
          <a:xfrm>
            <a:off x="7149197" y="1043450"/>
            <a:ext cx="841925" cy="709809"/>
            <a:chOff x="8982504" y="3274976"/>
            <a:chExt cx="1230670" cy="1037553"/>
          </a:xfrm>
          <a:solidFill>
            <a:srgbClr val="ED7D31"/>
          </a:solidFill>
        </p:grpSpPr>
        <p:pic>
          <p:nvPicPr>
            <p:cNvPr id="21" name="Graphique 20" descr="Utilisateur avec un remplissage uni">
              <a:extLst>
                <a:ext uri="{FF2B5EF4-FFF2-40B4-BE49-F238E27FC236}">
                  <a16:creationId xmlns:a16="http://schemas.microsoft.com/office/drawing/2014/main" id="{441AA33F-8EFD-06EC-8C33-E2E9117B562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22" name="Graphique 21" descr="Utilisateur avec un remplissage uni">
              <a:extLst>
                <a:ext uri="{FF2B5EF4-FFF2-40B4-BE49-F238E27FC236}">
                  <a16:creationId xmlns:a16="http://schemas.microsoft.com/office/drawing/2014/main" id="{FF2275DE-A41C-CDAB-E103-BDDE451004D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23" name="Graphique 22" descr="Utilisateur avec un remplissage uni">
              <a:extLst>
                <a:ext uri="{FF2B5EF4-FFF2-40B4-BE49-F238E27FC236}">
                  <a16:creationId xmlns:a16="http://schemas.microsoft.com/office/drawing/2014/main" id="{47B5C8D1-3949-91F1-D75E-8F2E22EDE79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45616" y="3561880"/>
              <a:ext cx="336064" cy="336064"/>
            </a:xfrm>
            <a:prstGeom prst="rect">
              <a:avLst/>
            </a:prstGeom>
          </p:spPr>
        </p:pic>
        <p:pic>
          <p:nvPicPr>
            <p:cNvPr id="24" name="Graphique 23" descr="Utilisateur avec un remplissage uni">
              <a:extLst>
                <a:ext uri="{FF2B5EF4-FFF2-40B4-BE49-F238E27FC236}">
                  <a16:creationId xmlns:a16="http://schemas.microsoft.com/office/drawing/2014/main" id="{E140E1B8-335F-8125-C346-070E467005E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25" name="Graphique 24" descr="Utilisateur avec un remplissage uni">
              <a:extLst>
                <a:ext uri="{FF2B5EF4-FFF2-40B4-BE49-F238E27FC236}">
                  <a16:creationId xmlns:a16="http://schemas.microsoft.com/office/drawing/2014/main" id="{D779A6D4-3F77-0434-8AF6-B7DB7365870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26" name="Graphique 25" descr="Utilisateur avec un remplissage uni">
              <a:extLst>
                <a:ext uri="{FF2B5EF4-FFF2-40B4-BE49-F238E27FC236}">
                  <a16:creationId xmlns:a16="http://schemas.microsoft.com/office/drawing/2014/main" id="{6EFF9C6B-9608-95E0-D81E-174EE00D671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27" name="Graphique 26" descr="Utilisateur avec un remplissage uni">
              <a:extLst>
                <a:ext uri="{FF2B5EF4-FFF2-40B4-BE49-F238E27FC236}">
                  <a16:creationId xmlns:a16="http://schemas.microsoft.com/office/drawing/2014/main" id="{B51575A8-C2E7-F248-2E9B-A6E86932B81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82504" y="3835028"/>
              <a:ext cx="336064" cy="336064"/>
            </a:xfrm>
            <a:prstGeom prst="rect">
              <a:avLst/>
            </a:prstGeom>
          </p:spPr>
        </p:pic>
        <p:pic>
          <p:nvPicPr>
            <p:cNvPr id="28" name="Graphique 27" descr="Utilisateur avec un remplissage uni">
              <a:extLst>
                <a:ext uri="{FF2B5EF4-FFF2-40B4-BE49-F238E27FC236}">
                  <a16:creationId xmlns:a16="http://schemas.microsoft.com/office/drawing/2014/main" id="{0B8DB29D-50BC-6206-5A27-013052E7BDC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20868" y="3943076"/>
              <a:ext cx="336064" cy="336064"/>
            </a:xfrm>
            <a:prstGeom prst="rect">
              <a:avLst/>
            </a:prstGeom>
          </p:spPr>
        </p:pic>
        <p:pic>
          <p:nvPicPr>
            <p:cNvPr id="29" name="Graphique 28" descr="Utilisateur avec un remplissage uni">
              <a:extLst>
                <a:ext uri="{FF2B5EF4-FFF2-40B4-BE49-F238E27FC236}">
                  <a16:creationId xmlns:a16="http://schemas.microsoft.com/office/drawing/2014/main" id="{76093D54-0410-D648-1074-6D179536F36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30" name="Graphique 29" descr="Utilisateur avec un remplissage uni">
              <a:extLst>
                <a:ext uri="{FF2B5EF4-FFF2-40B4-BE49-F238E27FC236}">
                  <a16:creationId xmlns:a16="http://schemas.microsoft.com/office/drawing/2014/main" id="{77C3D51F-80E4-858F-24CD-58D148FAFA7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31" name="Graphique 30" descr="Utilisateur avec un remplissage uni">
              <a:extLst>
                <a:ext uri="{FF2B5EF4-FFF2-40B4-BE49-F238E27FC236}">
                  <a16:creationId xmlns:a16="http://schemas.microsoft.com/office/drawing/2014/main" id="{0DB0F9B0-979D-78F4-C55D-81A1A1A32CA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56932" y="3429000"/>
              <a:ext cx="336064" cy="336064"/>
            </a:xfrm>
            <a:prstGeom prst="rect">
              <a:avLst/>
            </a:prstGeom>
          </p:spPr>
        </p:pic>
      </p:grpSp>
    </p:spTree>
    <p:extLst>
      <p:ext uri="{BB962C8B-B14F-4D97-AF65-F5344CB8AC3E}">
        <p14:creationId xmlns:p14="http://schemas.microsoft.com/office/powerpoint/2010/main" val="298703328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608A227-6C8A-F475-5883-51E188DFBE53}"/>
              </a:ext>
            </a:extLst>
          </p:cNvPr>
          <p:cNvSpPr>
            <a:spLocks noGrp="1"/>
          </p:cNvSpPr>
          <p:nvPr>
            <p:ph type="title"/>
          </p:nvPr>
        </p:nvSpPr>
        <p:spPr/>
        <p:txBody>
          <a:bodyPr>
            <a:normAutofit fontScale="90000"/>
          </a:bodyPr>
          <a:lstStyle/>
          <a:p>
            <a:r>
              <a:rPr lang="fr-FR" sz="3200" dirty="0"/>
              <a:t>L’expérience de la Communauté : </a:t>
            </a:r>
            <a:br>
              <a:rPr lang="fr-FR" sz="3200" dirty="0"/>
            </a:br>
            <a:r>
              <a:rPr lang="fr-FR" sz="3200" dirty="0"/>
              <a:t>Une respiration par rapport à ailleurs</a:t>
            </a:r>
            <a:br>
              <a:rPr lang="fr-FR" sz="3200" dirty="0"/>
            </a:br>
            <a:r>
              <a:rPr lang="fr-FR" sz="3200" dirty="0"/>
              <a:t>(valeur différenciante de l’existant)</a:t>
            </a:r>
          </a:p>
        </p:txBody>
      </p:sp>
      <p:grpSp>
        <p:nvGrpSpPr>
          <p:cNvPr id="3" name="Groupe 2">
            <a:extLst>
              <a:ext uri="{FF2B5EF4-FFF2-40B4-BE49-F238E27FC236}">
                <a16:creationId xmlns:a16="http://schemas.microsoft.com/office/drawing/2014/main" id="{9EC14A96-EAB5-5C6C-C6C0-26E276DE298B}"/>
              </a:ext>
            </a:extLst>
          </p:cNvPr>
          <p:cNvGrpSpPr/>
          <p:nvPr/>
        </p:nvGrpSpPr>
        <p:grpSpPr>
          <a:xfrm>
            <a:off x="6890595" y="-73982"/>
            <a:ext cx="4519639" cy="6631502"/>
            <a:chOff x="6890595" y="-73982"/>
            <a:chExt cx="4519639" cy="6631502"/>
          </a:xfrm>
        </p:grpSpPr>
        <p:pic>
          <p:nvPicPr>
            <p:cNvPr id="4" name="Graphique 3" descr="Balance de la justice avec un remplissage uni">
              <a:extLst>
                <a:ext uri="{FF2B5EF4-FFF2-40B4-BE49-F238E27FC236}">
                  <a16:creationId xmlns:a16="http://schemas.microsoft.com/office/drawing/2014/main" id="{92D65905-A501-E35D-95B4-3DE77B9721C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972" t="7530" r="8041" b="7105"/>
            <a:stretch/>
          </p:blipFill>
          <p:spPr>
            <a:xfrm>
              <a:off x="7255123" y="1386286"/>
              <a:ext cx="3714904" cy="3731378"/>
            </a:xfrm>
            <a:prstGeom prst="rect">
              <a:avLst/>
            </a:prstGeom>
          </p:spPr>
        </p:pic>
        <p:sp>
          <p:nvSpPr>
            <p:cNvPr id="5" name="Rectangle 4">
              <a:extLst>
                <a:ext uri="{FF2B5EF4-FFF2-40B4-BE49-F238E27FC236}">
                  <a16:creationId xmlns:a16="http://schemas.microsoft.com/office/drawing/2014/main" id="{D276BE16-5F76-8B63-BAD4-C195FBA3F00C}"/>
                </a:ext>
              </a:extLst>
            </p:cNvPr>
            <p:cNvSpPr/>
            <p:nvPr/>
          </p:nvSpPr>
          <p:spPr>
            <a:xfrm>
              <a:off x="9573820" y="2953683"/>
              <a:ext cx="866233" cy="55041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6" name="Rectangle 5">
              <a:extLst>
                <a:ext uri="{FF2B5EF4-FFF2-40B4-BE49-F238E27FC236}">
                  <a16:creationId xmlns:a16="http://schemas.microsoft.com/office/drawing/2014/main" id="{4C25585B-D160-E78E-D149-B0238A2AA7C7}"/>
                </a:ext>
              </a:extLst>
            </p:cNvPr>
            <p:cNvSpPr/>
            <p:nvPr/>
          </p:nvSpPr>
          <p:spPr>
            <a:xfrm>
              <a:off x="10544001" y="2969461"/>
              <a:ext cx="866233" cy="55041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7" name="Rectangle 6">
              <a:extLst>
                <a:ext uri="{FF2B5EF4-FFF2-40B4-BE49-F238E27FC236}">
                  <a16:creationId xmlns:a16="http://schemas.microsoft.com/office/drawing/2014/main" id="{F2CBED50-A491-F0CB-C6DC-009B8D4E465A}"/>
                </a:ext>
              </a:extLst>
            </p:cNvPr>
            <p:cNvSpPr/>
            <p:nvPr/>
          </p:nvSpPr>
          <p:spPr>
            <a:xfrm>
              <a:off x="7936231" y="3008541"/>
              <a:ext cx="985536" cy="55041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8" name="Rectangle 7">
              <a:extLst>
                <a:ext uri="{FF2B5EF4-FFF2-40B4-BE49-F238E27FC236}">
                  <a16:creationId xmlns:a16="http://schemas.microsoft.com/office/drawing/2014/main" id="{FCE8A0F3-3713-1F49-3C21-7224DCFC7577}"/>
                </a:ext>
              </a:extLst>
            </p:cNvPr>
            <p:cNvSpPr/>
            <p:nvPr/>
          </p:nvSpPr>
          <p:spPr>
            <a:xfrm>
              <a:off x="10328681" y="2324595"/>
              <a:ext cx="866233" cy="55041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9" name="Rectangle 8">
              <a:extLst>
                <a:ext uri="{FF2B5EF4-FFF2-40B4-BE49-F238E27FC236}">
                  <a16:creationId xmlns:a16="http://schemas.microsoft.com/office/drawing/2014/main" id="{41C063BD-9347-FE89-A6F6-A49DEEEDF492}"/>
                </a:ext>
              </a:extLst>
            </p:cNvPr>
            <p:cNvSpPr/>
            <p:nvPr/>
          </p:nvSpPr>
          <p:spPr>
            <a:xfrm>
              <a:off x="7267662" y="2379997"/>
              <a:ext cx="985536" cy="55041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10" name="Rectangle 9">
              <a:extLst>
                <a:ext uri="{FF2B5EF4-FFF2-40B4-BE49-F238E27FC236}">
                  <a16:creationId xmlns:a16="http://schemas.microsoft.com/office/drawing/2014/main" id="{959E7918-EF0B-CD86-474D-F6595CFDA0D8}"/>
                </a:ext>
              </a:extLst>
            </p:cNvPr>
            <p:cNvSpPr/>
            <p:nvPr/>
          </p:nvSpPr>
          <p:spPr>
            <a:xfrm>
              <a:off x="6890595" y="3008541"/>
              <a:ext cx="985536" cy="55041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11" name="Rectangle 10">
              <a:extLst>
                <a:ext uri="{FF2B5EF4-FFF2-40B4-BE49-F238E27FC236}">
                  <a16:creationId xmlns:a16="http://schemas.microsoft.com/office/drawing/2014/main" id="{40D0F2EC-C412-C968-C39C-83F8E666C5DB}"/>
                </a:ext>
              </a:extLst>
            </p:cNvPr>
            <p:cNvSpPr/>
            <p:nvPr/>
          </p:nvSpPr>
          <p:spPr>
            <a:xfrm>
              <a:off x="9188555" y="5412248"/>
              <a:ext cx="985536" cy="550413"/>
            </a:xfrm>
            <a:prstGeom prst="rect">
              <a:avLst/>
            </a:prstGeom>
            <a:solidFill>
              <a:srgbClr val="0683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12" name="Rectangle 11">
              <a:extLst>
                <a:ext uri="{FF2B5EF4-FFF2-40B4-BE49-F238E27FC236}">
                  <a16:creationId xmlns:a16="http://schemas.microsoft.com/office/drawing/2014/main" id="{54FCFDDE-5A57-A603-58DC-081626D802A8}"/>
                </a:ext>
              </a:extLst>
            </p:cNvPr>
            <p:cNvSpPr/>
            <p:nvPr/>
          </p:nvSpPr>
          <p:spPr>
            <a:xfrm>
              <a:off x="8142915" y="5412248"/>
              <a:ext cx="985536" cy="550413"/>
            </a:xfrm>
            <a:prstGeom prst="rect">
              <a:avLst/>
            </a:prstGeom>
            <a:solidFill>
              <a:srgbClr val="0683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13" name="Rectangle 12">
              <a:extLst>
                <a:ext uri="{FF2B5EF4-FFF2-40B4-BE49-F238E27FC236}">
                  <a16:creationId xmlns:a16="http://schemas.microsoft.com/office/drawing/2014/main" id="{E24ACE92-25F3-A0A5-3568-4C6580F28A9A}"/>
                </a:ext>
              </a:extLst>
            </p:cNvPr>
            <p:cNvSpPr/>
            <p:nvPr/>
          </p:nvSpPr>
          <p:spPr>
            <a:xfrm>
              <a:off x="8695787" y="6007107"/>
              <a:ext cx="985536" cy="550413"/>
            </a:xfrm>
            <a:prstGeom prst="rect">
              <a:avLst/>
            </a:prstGeom>
            <a:solidFill>
              <a:srgbClr val="0683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14" name="ZoneTexte 13">
              <a:extLst>
                <a:ext uri="{FF2B5EF4-FFF2-40B4-BE49-F238E27FC236}">
                  <a16:creationId xmlns:a16="http://schemas.microsoft.com/office/drawing/2014/main" id="{E8B58A99-36B4-43B8-C95E-1192F852898F}"/>
                </a:ext>
              </a:extLst>
            </p:cNvPr>
            <p:cNvSpPr txBox="1"/>
            <p:nvPr/>
          </p:nvSpPr>
          <p:spPr>
            <a:xfrm>
              <a:off x="6962318" y="3839993"/>
              <a:ext cx="1673365" cy="646331"/>
            </a:xfrm>
            <a:prstGeom prst="rect">
              <a:avLst/>
            </a:prstGeom>
            <a:noFill/>
          </p:spPr>
          <p:txBody>
            <a:bodyPr wrap="square">
              <a:spAutoFit/>
            </a:bodyPr>
            <a:lstStyle/>
            <a:p>
              <a:pPr algn="ctr"/>
              <a:r>
                <a:rPr lang="fr-FR" sz="1200" dirty="0">
                  <a:solidFill>
                    <a:schemeClr val="tx1"/>
                  </a:solidFill>
                </a:rPr>
                <a:t>Expérience de la Communauté différente du quotidien</a:t>
              </a:r>
            </a:p>
          </p:txBody>
        </p:sp>
        <p:sp>
          <p:nvSpPr>
            <p:cNvPr id="15" name="ZoneTexte 14">
              <a:extLst>
                <a:ext uri="{FF2B5EF4-FFF2-40B4-BE49-F238E27FC236}">
                  <a16:creationId xmlns:a16="http://schemas.microsoft.com/office/drawing/2014/main" id="{36FBB78E-59BB-3FE6-120B-7BC9AB119500}"/>
                </a:ext>
              </a:extLst>
            </p:cNvPr>
            <p:cNvSpPr txBox="1"/>
            <p:nvPr/>
          </p:nvSpPr>
          <p:spPr>
            <a:xfrm>
              <a:off x="9690224" y="3824587"/>
              <a:ext cx="1504690" cy="646331"/>
            </a:xfrm>
            <a:prstGeom prst="rect">
              <a:avLst/>
            </a:prstGeom>
            <a:noFill/>
          </p:spPr>
          <p:txBody>
            <a:bodyPr wrap="square">
              <a:spAutoFit/>
            </a:bodyPr>
            <a:lstStyle/>
            <a:p>
              <a:pPr algn="ctr"/>
              <a:r>
                <a:rPr lang="fr-FR" sz="1200" dirty="0">
                  <a:solidFill>
                    <a:schemeClr val="tx1"/>
                  </a:solidFill>
                </a:rPr>
                <a:t>Expérience du quotidien différente de la Communauté</a:t>
              </a:r>
            </a:p>
          </p:txBody>
        </p:sp>
        <p:sp>
          <p:nvSpPr>
            <p:cNvPr id="16" name="ZoneTexte 15">
              <a:extLst>
                <a:ext uri="{FF2B5EF4-FFF2-40B4-BE49-F238E27FC236}">
                  <a16:creationId xmlns:a16="http://schemas.microsoft.com/office/drawing/2014/main" id="{A5426812-A4F7-8961-AD7B-990C8381571B}"/>
                </a:ext>
              </a:extLst>
            </p:cNvPr>
            <p:cNvSpPr txBox="1"/>
            <p:nvPr/>
          </p:nvSpPr>
          <p:spPr>
            <a:xfrm>
              <a:off x="7905234" y="4726869"/>
              <a:ext cx="2324802" cy="646331"/>
            </a:xfrm>
            <a:prstGeom prst="rect">
              <a:avLst/>
            </a:prstGeom>
            <a:noFill/>
          </p:spPr>
          <p:txBody>
            <a:bodyPr wrap="square">
              <a:spAutoFit/>
            </a:bodyPr>
            <a:lstStyle/>
            <a:p>
              <a:pPr algn="ctr"/>
              <a:r>
                <a:rPr lang="fr-FR" sz="1200" dirty="0">
                  <a:solidFill>
                    <a:schemeClr val="tx1"/>
                  </a:solidFill>
                </a:rPr>
                <a:t>Points communs entre l’expérience hors communauté et dans la Communauté</a:t>
              </a:r>
            </a:p>
          </p:txBody>
        </p:sp>
        <p:pic>
          <p:nvPicPr>
            <p:cNvPr id="17" name="Graphique 16" descr="Poumons avec un remplissage uni">
              <a:extLst>
                <a:ext uri="{FF2B5EF4-FFF2-40B4-BE49-F238E27FC236}">
                  <a16:creationId xmlns:a16="http://schemas.microsoft.com/office/drawing/2014/main" id="{941E717D-8C33-756C-5621-3013F378371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056575" y="-73982"/>
              <a:ext cx="2117516" cy="2117516"/>
            </a:xfrm>
            <a:prstGeom prst="rect">
              <a:avLst/>
            </a:prstGeom>
          </p:spPr>
        </p:pic>
        <p:pic>
          <p:nvPicPr>
            <p:cNvPr id="18" name="Graphique 17" descr="Bâtiment avec un remplissage uni">
              <a:extLst>
                <a:ext uri="{FF2B5EF4-FFF2-40B4-BE49-F238E27FC236}">
                  <a16:creationId xmlns:a16="http://schemas.microsoft.com/office/drawing/2014/main" id="{33701C28-4787-8042-2215-3A04DECD738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345641" y="948675"/>
              <a:ext cx="781742" cy="781742"/>
            </a:xfrm>
            <a:prstGeom prst="rect">
              <a:avLst/>
            </a:prstGeom>
          </p:spPr>
        </p:pic>
        <p:grpSp>
          <p:nvGrpSpPr>
            <p:cNvPr id="20" name="Groupe 19">
              <a:extLst>
                <a:ext uri="{FF2B5EF4-FFF2-40B4-BE49-F238E27FC236}">
                  <a16:creationId xmlns:a16="http://schemas.microsoft.com/office/drawing/2014/main" id="{96E94C62-389C-8791-C0DE-F799BF03A077}"/>
                </a:ext>
              </a:extLst>
            </p:cNvPr>
            <p:cNvGrpSpPr/>
            <p:nvPr/>
          </p:nvGrpSpPr>
          <p:grpSpPr>
            <a:xfrm>
              <a:off x="7149197" y="1043450"/>
              <a:ext cx="841925" cy="709809"/>
              <a:chOff x="8982504" y="3274976"/>
              <a:chExt cx="1230670" cy="1037553"/>
            </a:xfrm>
            <a:solidFill>
              <a:srgbClr val="ED7D31"/>
            </a:solidFill>
          </p:grpSpPr>
          <p:pic>
            <p:nvPicPr>
              <p:cNvPr id="21" name="Graphique 20" descr="Utilisateur avec un remplissage uni">
                <a:extLst>
                  <a:ext uri="{FF2B5EF4-FFF2-40B4-BE49-F238E27FC236}">
                    <a16:creationId xmlns:a16="http://schemas.microsoft.com/office/drawing/2014/main" id="{441AA33F-8EFD-06EC-8C33-E2E9117B562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22" name="Graphique 21" descr="Utilisateur avec un remplissage uni">
                <a:extLst>
                  <a:ext uri="{FF2B5EF4-FFF2-40B4-BE49-F238E27FC236}">
                    <a16:creationId xmlns:a16="http://schemas.microsoft.com/office/drawing/2014/main" id="{FF2275DE-A41C-CDAB-E103-BDDE451004D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23" name="Graphique 22" descr="Utilisateur avec un remplissage uni">
                <a:extLst>
                  <a:ext uri="{FF2B5EF4-FFF2-40B4-BE49-F238E27FC236}">
                    <a16:creationId xmlns:a16="http://schemas.microsoft.com/office/drawing/2014/main" id="{47B5C8D1-3949-91F1-D75E-8F2E22EDE79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45616" y="3561880"/>
                <a:ext cx="336064" cy="336064"/>
              </a:xfrm>
              <a:prstGeom prst="rect">
                <a:avLst/>
              </a:prstGeom>
            </p:spPr>
          </p:pic>
          <p:pic>
            <p:nvPicPr>
              <p:cNvPr id="24" name="Graphique 23" descr="Utilisateur avec un remplissage uni">
                <a:extLst>
                  <a:ext uri="{FF2B5EF4-FFF2-40B4-BE49-F238E27FC236}">
                    <a16:creationId xmlns:a16="http://schemas.microsoft.com/office/drawing/2014/main" id="{E140E1B8-335F-8125-C346-070E467005E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25" name="Graphique 24" descr="Utilisateur avec un remplissage uni">
                <a:extLst>
                  <a:ext uri="{FF2B5EF4-FFF2-40B4-BE49-F238E27FC236}">
                    <a16:creationId xmlns:a16="http://schemas.microsoft.com/office/drawing/2014/main" id="{D779A6D4-3F77-0434-8AF6-B7DB7365870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26" name="Graphique 25" descr="Utilisateur avec un remplissage uni">
                <a:extLst>
                  <a:ext uri="{FF2B5EF4-FFF2-40B4-BE49-F238E27FC236}">
                    <a16:creationId xmlns:a16="http://schemas.microsoft.com/office/drawing/2014/main" id="{6EFF9C6B-9608-95E0-D81E-174EE00D671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27" name="Graphique 26" descr="Utilisateur avec un remplissage uni">
                <a:extLst>
                  <a:ext uri="{FF2B5EF4-FFF2-40B4-BE49-F238E27FC236}">
                    <a16:creationId xmlns:a16="http://schemas.microsoft.com/office/drawing/2014/main" id="{B51575A8-C2E7-F248-2E9B-A6E86932B81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82504" y="3835028"/>
                <a:ext cx="336064" cy="336064"/>
              </a:xfrm>
              <a:prstGeom prst="rect">
                <a:avLst/>
              </a:prstGeom>
            </p:spPr>
          </p:pic>
          <p:pic>
            <p:nvPicPr>
              <p:cNvPr id="28" name="Graphique 27" descr="Utilisateur avec un remplissage uni">
                <a:extLst>
                  <a:ext uri="{FF2B5EF4-FFF2-40B4-BE49-F238E27FC236}">
                    <a16:creationId xmlns:a16="http://schemas.microsoft.com/office/drawing/2014/main" id="{0B8DB29D-50BC-6206-5A27-013052E7BDC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20868" y="3943076"/>
                <a:ext cx="336064" cy="336064"/>
              </a:xfrm>
              <a:prstGeom prst="rect">
                <a:avLst/>
              </a:prstGeom>
            </p:spPr>
          </p:pic>
          <p:pic>
            <p:nvPicPr>
              <p:cNvPr id="29" name="Graphique 28" descr="Utilisateur avec un remplissage uni">
                <a:extLst>
                  <a:ext uri="{FF2B5EF4-FFF2-40B4-BE49-F238E27FC236}">
                    <a16:creationId xmlns:a16="http://schemas.microsoft.com/office/drawing/2014/main" id="{76093D54-0410-D648-1074-6D179536F36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30" name="Graphique 29" descr="Utilisateur avec un remplissage uni">
                <a:extLst>
                  <a:ext uri="{FF2B5EF4-FFF2-40B4-BE49-F238E27FC236}">
                    <a16:creationId xmlns:a16="http://schemas.microsoft.com/office/drawing/2014/main" id="{77C3D51F-80E4-858F-24CD-58D148FAFA7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31" name="Graphique 30" descr="Utilisateur avec un remplissage uni">
                <a:extLst>
                  <a:ext uri="{FF2B5EF4-FFF2-40B4-BE49-F238E27FC236}">
                    <a16:creationId xmlns:a16="http://schemas.microsoft.com/office/drawing/2014/main" id="{0DB0F9B0-979D-78F4-C55D-81A1A1A32CA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56932" y="3429000"/>
                <a:ext cx="336064" cy="336064"/>
              </a:xfrm>
              <a:prstGeom prst="rect">
                <a:avLst/>
              </a:prstGeom>
            </p:spPr>
          </p:pic>
        </p:grpSp>
      </p:grpSp>
      <p:sp>
        <p:nvSpPr>
          <p:cNvPr id="32" name="Rectangle 31">
            <a:extLst>
              <a:ext uri="{FF2B5EF4-FFF2-40B4-BE49-F238E27FC236}">
                <a16:creationId xmlns:a16="http://schemas.microsoft.com/office/drawing/2014/main" id="{3FBF0E16-2623-34E1-A70F-3C08CE9B6470}"/>
              </a:ext>
            </a:extLst>
          </p:cNvPr>
          <p:cNvSpPr/>
          <p:nvPr/>
        </p:nvSpPr>
        <p:spPr>
          <a:xfrm>
            <a:off x="144096" y="6363338"/>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⚙️Profils : personnes aux profils très différents</a:t>
            </a:r>
          </a:p>
        </p:txBody>
      </p:sp>
      <p:sp>
        <p:nvSpPr>
          <p:cNvPr id="33" name="Rectangle 32">
            <a:extLst>
              <a:ext uri="{FF2B5EF4-FFF2-40B4-BE49-F238E27FC236}">
                <a16:creationId xmlns:a16="http://schemas.microsoft.com/office/drawing/2014/main" id="{36C9BF90-1635-C750-DD05-C8600AF3E63C}"/>
              </a:ext>
            </a:extLst>
          </p:cNvPr>
          <p:cNvSpPr/>
          <p:nvPr/>
        </p:nvSpPr>
        <p:spPr>
          <a:xfrm>
            <a:off x="144096" y="5899897"/>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Profils : personnes aux profils très similaires</a:t>
            </a:r>
          </a:p>
        </p:txBody>
      </p:sp>
      <p:sp>
        <p:nvSpPr>
          <p:cNvPr id="34" name="Rectangle 33">
            <a:extLst>
              <a:ext uri="{FF2B5EF4-FFF2-40B4-BE49-F238E27FC236}">
                <a16:creationId xmlns:a16="http://schemas.microsoft.com/office/drawing/2014/main" id="{3F3BB608-E4AA-8D0B-F095-0A06D58615AD}"/>
              </a:ext>
            </a:extLst>
          </p:cNvPr>
          <p:cNvSpPr/>
          <p:nvPr/>
        </p:nvSpPr>
        <p:spPr>
          <a:xfrm>
            <a:off x="144097" y="3112913"/>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⚙️Outils : De nouveaux outils à découvrir</a:t>
            </a:r>
          </a:p>
        </p:txBody>
      </p:sp>
      <p:sp>
        <p:nvSpPr>
          <p:cNvPr id="35" name="Rectangle 34">
            <a:extLst>
              <a:ext uri="{FF2B5EF4-FFF2-40B4-BE49-F238E27FC236}">
                <a16:creationId xmlns:a16="http://schemas.microsoft.com/office/drawing/2014/main" id="{38E27D41-491A-DAEF-B94A-4DC94C4D7077}"/>
              </a:ext>
            </a:extLst>
          </p:cNvPr>
          <p:cNvSpPr/>
          <p:nvPr/>
        </p:nvSpPr>
        <p:spPr>
          <a:xfrm>
            <a:off x="144097" y="3568433"/>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⚙️Outils : Des outils utilisés et maîtrisés</a:t>
            </a:r>
          </a:p>
        </p:txBody>
      </p:sp>
      <p:sp>
        <p:nvSpPr>
          <p:cNvPr id="36" name="Rectangle 35">
            <a:extLst>
              <a:ext uri="{FF2B5EF4-FFF2-40B4-BE49-F238E27FC236}">
                <a16:creationId xmlns:a16="http://schemas.microsoft.com/office/drawing/2014/main" id="{722D43B8-A49C-081E-5C67-AB830838E46C}"/>
              </a:ext>
            </a:extLst>
          </p:cNvPr>
          <p:cNvSpPr/>
          <p:nvPr/>
        </p:nvSpPr>
        <p:spPr>
          <a:xfrm>
            <a:off x="1283503" y="5612913"/>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Usage numérique : 📅 Loin du local réel / à distance</a:t>
            </a:r>
          </a:p>
        </p:txBody>
      </p:sp>
      <p:sp>
        <p:nvSpPr>
          <p:cNvPr id="37" name="Rectangle 36">
            <a:extLst>
              <a:ext uri="{FF2B5EF4-FFF2-40B4-BE49-F238E27FC236}">
                <a16:creationId xmlns:a16="http://schemas.microsoft.com/office/drawing/2014/main" id="{057B516E-2BAC-5FAF-3AE1-60E88AC63992}"/>
              </a:ext>
            </a:extLst>
          </p:cNvPr>
          <p:cNvSpPr/>
          <p:nvPr/>
        </p:nvSpPr>
        <p:spPr>
          <a:xfrm>
            <a:off x="1287639" y="5259054"/>
            <a:ext cx="943205" cy="3211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Usage numérique : 📅 Loin des écrans</a:t>
            </a:r>
          </a:p>
        </p:txBody>
      </p:sp>
      <p:sp>
        <p:nvSpPr>
          <p:cNvPr id="38" name="Rectangle 37">
            <a:extLst>
              <a:ext uri="{FF2B5EF4-FFF2-40B4-BE49-F238E27FC236}">
                <a16:creationId xmlns:a16="http://schemas.microsoft.com/office/drawing/2014/main" id="{C0A7C3B6-2B54-5374-ECBC-7E6EDC52DEFB}"/>
              </a:ext>
            </a:extLst>
          </p:cNvPr>
          <p:cNvSpPr/>
          <p:nvPr/>
        </p:nvSpPr>
        <p:spPr>
          <a:xfrm>
            <a:off x="138335" y="5129231"/>
            <a:ext cx="943205" cy="31860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Collectif : 📅Activités en groupe</a:t>
            </a:r>
          </a:p>
        </p:txBody>
      </p:sp>
      <p:sp>
        <p:nvSpPr>
          <p:cNvPr id="39" name="Rectangle 38">
            <a:extLst>
              <a:ext uri="{FF2B5EF4-FFF2-40B4-BE49-F238E27FC236}">
                <a16:creationId xmlns:a16="http://schemas.microsoft.com/office/drawing/2014/main" id="{558AC32B-5ECE-9502-2993-1DF76558711F}"/>
              </a:ext>
            </a:extLst>
          </p:cNvPr>
          <p:cNvSpPr/>
          <p:nvPr/>
        </p:nvSpPr>
        <p:spPr>
          <a:xfrm>
            <a:off x="144096" y="4470918"/>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Collectif : 📅✍️Expérience individuelles avec moyens mis en commun</a:t>
            </a:r>
          </a:p>
        </p:txBody>
      </p:sp>
      <p:sp>
        <p:nvSpPr>
          <p:cNvPr id="40" name="Rectangle 39">
            <a:extLst>
              <a:ext uri="{FF2B5EF4-FFF2-40B4-BE49-F238E27FC236}">
                <a16:creationId xmlns:a16="http://schemas.microsoft.com/office/drawing/2014/main" id="{7B8E1EAD-1ABF-EC76-C703-2179C7F63822}"/>
              </a:ext>
            </a:extLst>
          </p:cNvPr>
          <p:cNvSpPr/>
          <p:nvPr/>
        </p:nvSpPr>
        <p:spPr>
          <a:xfrm>
            <a:off x="4634628" y="3282660"/>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⚙️Connaissance mutuelle : Anonymat ou connaissance limitée</a:t>
            </a:r>
          </a:p>
        </p:txBody>
      </p:sp>
      <p:sp>
        <p:nvSpPr>
          <p:cNvPr id="41" name="Rectangle 40">
            <a:extLst>
              <a:ext uri="{FF2B5EF4-FFF2-40B4-BE49-F238E27FC236}">
                <a16:creationId xmlns:a16="http://schemas.microsoft.com/office/drawing/2014/main" id="{D04DA642-77BD-DA63-5E13-0F27BDFE8461}"/>
              </a:ext>
            </a:extLst>
          </p:cNvPr>
          <p:cNvSpPr/>
          <p:nvPr/>
        </p:nvSpPr>
        <p:spPr>
          <a:xfrm>
            <a:off x="4634628" y="3932422"/>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⚙️Connaissance mutuelle : Connaissance des identités respectives</a:t>
            </a:r>
          </a:p>
        </p:txBody>
      </p:sp>
      <p:sp>
        <p:nvSpPr>
          <p:cNvPr id="42" name="Rectangle 41">
            <a:extLst>
              <a:ext uri="{FF2B5EF4-FFF2-40B4-BE49-F238E27FC236}">
                <a16:creationId xmlns:a16="http://schemas.microsoft.com/office/drawing/2014/main" id="{F9E406BC-CF38-DA72-180E-4DB2BFE5DBC0}"/>
              </a:ext>
            </a:extLst>
          </p:cNvPr>
          <p:cNvSpPr/>
          <p:nvPr/>
        </p:nvSpPr>
        <p:spPr>
          <a:xfrm>
            <a:off x="144097" y="1869075"/>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Charge cognitive : 📅✍️ Activités à Stimulation intellectuelle</a:t>
            </a:r>
          </a:p>
        </p:txBody>
      </p:sp>
      <p:sp>
        <p:nvSpPr>
          <p:cNvPr id="43" name="Rectangle 42">
            <a:extLst>
              <a:ext uri="{FF2B5EF4-FFF2-40B4-BE49-F238E27FC236}">
                <a16:creationId xmlns:a16="http://schemas.microsoft.com/office/drawing/2014/main" id="{A19B8231-D5C4-367C-5483-2FF6FB01D785}"/>
              </a:ext>
            </a:extLst>
          </p:cNvPr>
          <p:cNvSpPr/>
          <p:nvPr/>
        </p:nvSpPr>
        <p:spPr>
          <a:xfrm>
            <a:off x="144097" y="2324595"/>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Charge cognitive : 📅✍️ Activités Reposantes intellectuellement</a:t>
            </a:r>
          </a:p>
        </p:txBody>
      </p:sp>
      <p:sp>
        <p:nvSpPr>
          <p:cNvPr id="44" name="Rectangle 43">
            <a:extLst>
              <a:ext uri="{FF2B5EF4-FFF2-40B4-BE49-F238E27FC236}">
                <a16:creationId xmlns:a16="http://schemas.microsoft.com/office/drawing/2014/main" id="{142E1A5A-A85A-BD40-8088-9D5405715D59}"/>
              </a:ext>
            </a:extLst>
          </p:cNvPr>
          <p:cNvSpPr/>
          <p:nvPr/>
        </p:nvSpPr>
        <p:spPr>
          <a:xfrm>
            <a:off x="3484035" y="5781953"/>
            <a:ext cx="943205" cy="73613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⚙️📅Hauteur de posture :</a:t>
            </a:r>
          </a:p>
          <a:p>
            <a:pPr algn="ctr"/>
            <a:r>
              <a:rPr lang="fr-FR" sz="800" dirty="0">
                <a:solidFill>
                  <a:schemeClr val="tx1"/>
                </a:solidFill>
              </a:rPr>
              <a:t>Pouvoir prendre une posture haute </a:t>
            </a:r>
          </a:p>
        </p:txBody>
      </p:sp>
      <p:sp>
        <p:nvSpPr>
          <p:cNvPr id="45" name="Rectangle 44">
            <a:extLst>
              <a:ext uri="{FF2B5EF4-FFF2-40B4-BE49-F238E27FC236}">
                <a16:creationId xmlns:a16="http://schemas.microsoft.com/office/drawing/2014/main" id="{9A41C5A6-C8A3-E5C2-4636-D2C229EB402A}"/>
              </a:ext>
            </a:extLst>
          </p:cNvPr>
          <p:cNvSpPr/>
          <p:nvPr/>
        </p:nvSpPr>
        <p:spPr>
          <a:xfrm>
            <a:off x="3484035" y="5266441"/>
            <a:ext cx="943205" cy="493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⚙️📅Hauteur de posture : Pouvoir prendre une posture basse</a:t>
            </a:r>
          </a:p>
        </p:txBody>
      </p:sp>
      <p:sp>
        <p:nvSpPr>
          <p:cNvPr id="46" name="Rectangle 45">
            <a:extLst>
              <a:ext uri="{FF2B5EF4-FFF2-40B4-BE49-F238E27FC236}">
                <a16:creationId xmlns:a16="http://schemas.microsoft.com/office/drawing/2014/main" id="{F1574893-BACF-FE9A-F409-A7266CD6E6A6}"/>
              </a:ext>
            </a:extLst>
          </p:cNvPr>
          <p:cNvSpPr/>
          <p:nvPr/>
        </p:nvSpPr>
        <p:spPr>
          <a:xfrm>
            <a:off x="3484035" y="4741209"/>
            <a:ext cx="943205" cy="493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⚙️📅Hauteur de posture : Pouvoir prendre une posture de pair</a:t>
            </a:r>
          </a:p>
        </p:txBody>
      </p:sp>
      <p:sp>
        <p:nvSpPr>
          <p:cNvPr id="47" name="Rectangle 46">
            <a:extLst>
              <a:ext uri="{FF2B5EF4-FFF2-40B4-BE49-F238E27FC236}">
                <a16:creationId xmlns:a16="http://schemas.microsoft.com/office/drawing/2014/main" id="{31151809-A94D-0301-FE87-B646302CE65A}"/>
              </a:ext>
            </a:extLst>
          </p:cNvPr>
          <p:cNvSpPr/>
          <p:nvPr/>
        </p:nvSpPr>
        <p:spPr>
          <a:xfrm>
            <a:off x="5764785" y="6363843"/>
            <a:ext cx="943205" cy="41750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⚙️Décision : La liberté/légèreté de ne rien décider</a:t>
            </a:r>
          </a:p>
        </p:txBody>
      </p:sp>
      <p:sp>
        <p:nvSpPr>
          <p:cNvPr id="48" name="Rectangle 47">
            <a:extLst>
              <a:ext uri="{FF2B5EF4-FFF2-40B4-BE49-F238E27FC236}">
                <a16:creationId xmlns:a16="http://schemas.microsoft.com/office/drawing/2014/main" id="{1F7F5A10-9ED4-A2BE-599A-89F4FCE9DFB0}"/>
              </a:ext>
            </a:extLst>
          </p:cNvPr>
          <p:cNvSpPr/>
          <p:nvPr/>
        </p:nvSpPr>
        <p:spPr>
          <a:xfrm>
            <a:off x="5751281" y="5834491"/>
            <a:ext cx="940099" cy="493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⚙️Décision : L'opportunité de contribuer aux décisions</a:t>
            </a:r>
          </a:p>
        </p:txBody>
      </p:sp>
      <p:sp>
        <p:nvSpPr>
          <p:cNvPr id="49" name="Rectangle 48">
            <a:extLst>
              <a:ext uri="{FF2B5EF4-FFF2-40B4-BE49-F238E27FC236}">
                <a16:creationId xmlns:a16="http://schemas.microsoft.com/office/drawing/2014/main" id="{2866B828-89F1-5254-46C9-56F0C51AE030}"/>
              </a:ext>
            </a:extLst>
          </p:cNvPr>
          <p:cNvSpPr/>
          <p:nvPr/>
        </p:nvSpPr>
        <p:spPr>
          <a:xfrm>
            <a:off x="3510865" y="2367565"/>
            <a:ext cx="943205" cy="49066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Proximité des Sujets : des contenus proches du quotidien</a:t>
            </a:r>
          </a:p>
        </p:txBody>
      </p:sp>
      <p:sp>
        <p:nvSpPr>
          <p:cNvPr id="50" name="Rectangle 49">
            <a:extLst>
              <a:ext uri="{FF2B5EF4-FFF2-40B4-BE49-F238E27FC236}">
                <a16:creationId xmlns:a16="http://schemas.microsoft.com/office/drawing/2014/main" id="{DA57A1D8-B2FE-B221-1906-ECFC79731508}"/>
              </a:ext>
            </a:extLst>
          </p:cNvPr>
          <p:cNvSpPr/>
          <p:nvPr/>
        </p:nvSpPr>
        <p:spPr>
          <a:xfrm>
            <a:off x="3512417" y="1846460"/>
            <a:ext cx="943205" cy="49066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Proximité des Sujets : des contenus loin du quotidien</a:t>
            </a:r>
          </a:p>
        </p:txBody>
      </p:sp>
      <p:sp>
        <p:nvSpPr>
          <p:cNvPr id="51" name="Rectangle 50">
            <a:extLst>
              <a:ext uri="{FF2B5EF4-FFF2-40B4-BE49-F238E27FC236}">
                <a16:creationId xmlns:a16="http://schemas.microsoft.com/office/drawing/2014/main" id="{5988BE66-B39E-4738-DBCE-53E8D5FAAD33}"/>
              </a:ext>
            </a:extLst>
          </p:cNvPr>
          <p:cNvSpPr/>
          <p:nvPr/>
        </p:nvSpPr>
        <p:spPr>
          <a:xfrm>
            <a:off x="3504392" y="3044299"/>
            <a:ext cx="943205" cy="71113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Profondeur des relations : Des relations de profondeur et un alignement interpersonnel</a:t>
            </a:r>
          </a:p>
        </p:txBody>
      </p:sp>
      <p:sp>
        <p:nvSpPr>
          <p:cNvPr id="52" name="Rectangle 51">
            <a:extLst>
              <a:ext uri="{FF2B5EF4-FFF2-40B4-BE49-F238E27FC236}">
                <a16:creationId xmlns:a16="http://schemas.microsoft.com/office/drawing/2014/main" id="{3169247A-4A76-3C5F-4908-2E3E5C38F2E4}"/>
              </a:ext>
            </a:extLst>
          </p:cNvPr>
          <p:cNvSpPr/>
          <p:nvPr/>
        </p:nvSpPr>
        <p:spPr>
          <a:xfrm>
            <a:off x="3504392" y="3770268"/>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⚙️Profondeur des relations :</a:t>
            </a:r>
          </a:p>
          <a:p>
            <a:pPr algn="ctr"/>
            <a:r>
              <a:rPr lang="fr-FR" sz="800" dirty="0">
                <a:solidFill>
                  <a:schemeClr val="tx1"/>
                </a:solidFill>
              </a:rPr>
              <a:t>Des relations de surface, sans conséquences</a:t>
            </a:r>
          </a:p>
        </p:txBody>
      </p:sp>
      <p:sp>
        <p:nvSpPr>
          <p:cNvPr id="53" name="Rectangle 52">
            <a:extLst>
              <a:ext uri="{FF2B5EF4-FFF2-40B4-BE49-F238E27FC236}">
                <a16:creationId xmlns:a16="http://schemas.microsoft.com/office/drawing/2014/main" id="{B2C8F594-747A-EF21-516F-4D31070119AD}"/>
              </a:ext>
            </a:extLst>
          </p:cNvPr>
          <p:cNvSpPr/>
          <p:nvPr/>
        </p:nvSpPr>
        <p:spPr>
          <a:xfrm>
            <a:off x="4632589" y="4844264"/>
            <a:ext cx="943205" cy="99532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⚙️Niveau de maîtrise :</a:t>
            </a:r>
          </a:p>
          <a:p>
            <a:pPr algn="ctr"/>
            <a:r>
              <a:rPr lang="fr-FR" sz="800" dirty="0">
                <a:solidFill>
                  <a:schemeClr val="tx1"/>
                </a:solidFill>
              </a:rPr>
              <a:t>Affûter des compétences déjà maîtrisées en présence d'autres personnes avancées</a:t>
            </a:r>
          </a:p>
        </p:txBody>
      </p:sp>
      <p:sp>
        <p:nvSpPr>
          <p:cNvPr id="54" name="Rectangle 53">
            <a:extLst>
              <a:ext uri="{FF2B5EF4-FFF2-40B4-BE49-F238E27FC236}">
                <a16:creationId xmlns:a16="http://schemas.microsoft.com/office/drawing/2014/main" id="{F6DE5E76-7C19-B367-A288-D090EFD2929A}"/>
              </a:ext>
            </a:extLst>
          </p:cNvPr>
          <p:cNvSpPr/>
          <p:nvPr/>
        </p:nvSpPr>
        <p:spPr>
          <a:xfrm>
            <a:off x="4632589" y="5899566"/>
            <a:ext cx="943205" cy="71113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⚙️Niveau de maîtrise : Pouvoir être débutant sur des compétences pratiquées et en côtoyer</a:t>
            </a:r>
          </a:p>
        </p:txBody>
      </p:sp>
      <p:sp>
        <p:nvSpPr>
          <p:cNvPr id="55" name="Rectangle 54">
            <a:extLst>
              <a:ext uri="{FF2B5EF4-FFF2-40B4-BE49-F238E27FC236}">
                <a16:creationId xmlns:a16="http://schemas.microsoft.com/office/drawing/2014/main" id="{DCC7E52D-DFDF-C857-02D1-0421D6D7F8CF}"/>
              </a:ext>
            </a:extLst>
          </p:cNvPr>
          <p:cNvSpPr/>
          <p:nvPr/>
        </p:nvSpPr>
        <p:spPr>
          <a:xfrm>
            <a:off x="5765126" y="2670273"/>
            <a:ext cx="943205" cy="7567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⚙️📅Enregistrement : Pouvoir enregistrer les informations pour plus tard dans les événements</a:t>
            </a:r>
          </a:p>
        </p:txBody>
      </p:sp>
      <p:sp>
        <p:nvSpPr>
          <p:cNvPr id="56" name="Rectangle 55">
            <a:extLst>
              <a:ext uri="{FF2B5EF4-FFF2-40B4-BE49-F238E27FC236}">
                <a16:creationId xmlns:a16="http://schemas.microsoft.com/office/drawing/2014/main" id="{E6DBDC5D-AEE7-31CC-8901-D556069A9160}"/>
              </a:ext>
            </a:extLst>
          </p:cNvPr>
          <p:cNvSpPr/>
          <p:nvPr/>
        </p:nvSpPr>
        <p:spPr>
          <a:xfrm>
            <a:off x="5760437" y="1853662"/>
            <a:ext cx="943205" cy="7567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⚙️📅Confidentialité : Être libre des risques et responsabilités d'enregistrer l'information</a:t>
            </a:r>
          </a:p>
        </p:txBody>
      </p:sp>
      <p:sp>
        <p:nvSpPr>
          <p:cNvPr id="57" name="Rectangle 56">
            <a:extLst>
              <a:ext uri="{FF2B5EF4-FFF2-40B4-BE49-F238E27FC236}">
                <a16:creationId xmlns:a16="http://schemas.microsoft.com/office/drawing/2014/main" id="{885923D6-5ECC-1CBE-0575-B0FE602FBE31}"/>
              </a:ext>
            </a:extLst>
          </p:cNvPr>
          <p:cNvSpPr/>
          <p:nvPr/>
        </p:nvSpPr>
        <p:spPr>
          <a:xfrm>
            <a:off x="4635651" y="1853662"/>
            <a:ext cx="943205" cy="49066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⚙️Expression : Liberté d'expression accrue</a:t>
            </a:r>
          </a:p>
        </p:txBody>
      </p:sp>
      <p:sp>
        <p:nvSpPr>
          <p:cNvPr id="58" name="Rectangle 57">
            <a:extLst>
              <a:ext uri="{FF2B5EF4-FFF2-40B4-BE49-F238E27FC236}">
                <a16:creationId xmlns:a16="http://schemas.microsoft.com/office/drawing/2014/main" id="{F37093EC-70E2-17B9-8730-58579AC65718}"/>
              </a:ext>
            </a:extLst>
          </p:cNvPr>
          <p:cNvSpPr/>
          <p:nvPr/>
        </p:nvSpPr>
        <p:spPr>
          <a:xfrm>
            <a:off x="4643869" y="2367565"/>
            <a:ext cx="943205" cy="61237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⚙️Expression : Protection contre certaines formes d'expressions et sujets</a:t>
            </a:r>
          </a:p>
        </p:txBody>
      </p:sp>
      <p:sp>
        <p:nvSpPr>
          <p:cNvPr id="59" name="Rectangle 58">
            <a:extLst>
              <a:ext uri="{FF2B5EF4-FFF2-40B4-BE49-F238E27FC236}">
                <a16:creationId xmlns:a16="http://schemas.microsoft.com/office/drawing/2014/main" id="{D2BC3C07-D713-7FAA-3B8A-8917F7CE498A}"/>
              </a:ext>
            </a:extLst>
          </p:cNvPr>
          <p:cNvSpPr/>
          <p:nvPr/>
        </p:nvSpPr>
        <p:spPr>
          <a:xfrm>
            <a:off x="2441836" y="1867843"/>
            <a:ext cx="943205" cy="34562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Sens : Du sens dans les activités</a:t>
            </a:r>
          </a:p>
        </p:txBody>
      </p:sp>
      <p:sp>
        <p:nvSpPr>
          <p:cNvPr id="60" name="Rectangle 59">
            <a:extLst>
              <a:ext uri="{FF2B5EF4-FFF2-40B4-BE49-F238E27FC236}">
                <a16:creationId xmlns:a16="http://schemas.microsoft.com/office/drawing/2014/main" id="{3132E6A7-638D-94DE-31BB-160D20375CF0}"/>
              </a:ext>
            </a:extLst>
          </p:cNvPr>
          <p:cNvSpPr/>
          <p:nvPr/>
        </p:nvSpPr>
        <p:spPr>
          <a:xfrm>
            <a:off x="2438168" y="2244503"/>
            <a:ext cx="943205" cy="34562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Sens : Des activités sans le poids du sens</a:t>
            </a:r>
          </a:p>
        </p:txBody>
      </p:sp>
      <p:sp>
        <p:nvSpPr>
          <p:cNvPr id="61" name="Rectangle 60">
            <a:extLst>
              <a:ext uri="{FF2B5EF4-FFF2-40B4-BE49-F238E27FC236}">
                <a16:creationId xmlns:a16="http://schemas.microsoft.com/office/drawing/2014/main" id="{5305143A-33E7-F49D-E63A-063E73674675}"/>
              </a:ext>
            </a:extLst>
          </p:cNvPr>
          <p:cNvSpPr/>
          <p:nvPr/>
        </p:nvSpPr>
        <p:spPr>
          <a:xfrm>
            <a:off x="1285161" y="4127594"/>
            <a:ext cx="943205" cy="7567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Opinions : être rassuré par de la confirmation dans les opinions (ex : groupe de soutien…)</a:t>
            </a:r>
          </a:p>
        </p:txBody>
      </p:sp>
      <p:sp>
        <p:nvSpPr>
          <p:cNvPr id="62" name="Rectangle 61">
            <a:extLst>
              <a:ext uri="{FF2B5EF4-FFF2-40B4-BE49-F238E27FC236}">
                <a16:creationId xmlns:a16="http://schemas.microsoft.com/office/drawing/2014/main" id="{0D43C418-6207-B0F5-78D4-C6B7A20D0968}"/>
              </a:ext>
            </a:extLst>
          </p:cNvPr>
          <p:cNvSpPr/>
          <p:nvPr/>
        </p:nvSpPr>
        <p:spPr>
          <a:xfrm>
            <a:off x="1306997" y="3400931"/>
            <a:ext cx="943205" cy="68418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Opinions : être enrichi de l'opposition dans les opinions (ex: Activités débats)</a:t>
            </a:r>
          </a:p>
        </p:txBody>
      </p:sp>
      <p:sp>
        <p:nvSpPr>
          <p:cNvPr id="63" name="Rectangle 62">
            <a:extLst>
              <a:ext uri="{FF2B5EF4-FFF2-40B4-BE49-F238E27FC236}">
                <a16:creationId xmlns:a16="http://schemas.microsoft.com/office/drawing/2014/main" id="{B387A16E-5733-5BEA-B365-9852B90B5C60}"/>
              </a:ext>
            </a:extLst>
          </p:cNvPr>
          <p:cNvSpPr/>
          <p:nvPr/>
        </p:nvSpPr>
        <p:spPr>
          <a:xfrm>
            <a:off x="2414448" y="4854331"/>
            <a:ext cx="943205" cy="50412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⚙️Cadre : L'assurance d'un cadre clair, rigide et accordé</a:t>
            </a:r>
          </a:p>
        </p:txBody>
      </p:sp>
      <p:sp>
        <p:nvSpPr>
          <p:cNvPr id="64" name="Rectangle 63">
            <a:extLst>
              <a:ext uri="{FF2B5EF4-FFF2-40B4-BE49-F238E27FC236}">
                <a16:creationId xmlns:a16="http://schemas.microsoft.com/office/drawing/2014/main" id="{860988C9-A514-8C31-F169-64F2E88C9192}"/>
              </a:ext>
            </a:extLst>
          </p:cNvPr>
          <p:cNvSpPr/>
          <p:nvPr/>
        </p:nvSpPr>
        <p:spPr>
          <a:xfrm>
            <a:off x="2414448" y="5389137"/>
            <a:ext cx="940099" cy="493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⚙️Cadre : Beaucoup de  liberté vis-à-vis du cadre</a:t>
            </a:r>
          </a:p>
        </p:txBody>
      </p:sp>
      <p:sp>
        <p:nvSpPr>
          <p:cNvPr id="65" name="Rectangle 64">
            <a:extLst>
              <a:ext uri="{FF2B5EF4-FFF2-40B4-BE49-F238E27FC236}">
                <a16:creationId xmlns:a16="http://schemas.microsoft.com/office/drawing/2014/main" id="{10558630-9407-2FDF-F5F2-540F2B35AF85}"/>
              </a:ext>
            </a:extLst>
          </p:cNvPr>
          <p:cNvSpPr/>
          <p:nvPr/>
        </p:nvSpPr>
        <p:spPr>
          <a:xfrm>
            <a:off x="1285161" y="1855511"/>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⚙️Espérance de gains : Espoir ou opportunités de gains matériels ou financiers</a:t>
            </a:r>
          </a:p>
        </p:txBody>
      </p:sp>
      <p:sp>
        <p:nvSpPr>
          <p:cNvPr id="66" name="Rectangle 65">
            <a:extLst>
              <a:ext uri="{FF2B5EF4-FFF2-40B4-BE49-F238E27FC236}">
                <a16:creationId xmlns:a16="http://schemas.microsoft.com/office/drawing/2014/main" id="{C0C3383F-D6BA-39F8-E27A-36CD1DD2AF49}"/>
              </a:ext>
            </a:extLst>
          </p:cNvPr>
          <p:cNvSpPr/>
          <p:nvPr/>
        </p:nvSpPr>
        <p:spPr>
          <a:xfrm>
            <a:off x="1287639" y="2492894"/>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⚙️Espérance de gains : Ne jamais  aborder les gains matériels et financiers</a:t>
            </a:r>
          </a:p>
        </p:txBody>
      </p:sp>
      <p:sp>
        <p:nvSpPr>
          <p:cNvPr id="67" name="Rectangle 66">
            <a:extLst>
              <a:ext uri="{FF2B5EF4-FFF2-40B4-BE49-F238E27FC236}">
                <a16:creationId xmlns:a16="http://schemas.microsoft.com/office/drawing/2014/main" id="{86D75D88-6FDB-F99A-1864-221C3E91475B}"/>
              </a:ext>
            </a:extLst>
          </p:cNvPr>
          <p:cNvSpPr/>
          <p:nvPr/>
        </p:nvSpPr>
        <p:spPr>
          <a:xfrm>
            <a:off x="2421317" y="3588848"/>
            <a:ext cx="943205" cy="98479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⚙️Amplitude émotionnelle : Liberté de laisser exprimer certaines émotions à grande intensité</a:t>
            </a:r>
          </a:p>
        </p:txBody>
      </p:sp>
      <p:sp>
        <p:nvSpPr>
          <p:cNvPr id="68" name="Rectangle 67">
            <a:extLst>
              <a:ext uri="{FF2B5EF4-FFF2-40B4-BE49-F238E27FC236}">
                <a16:creationId xmlns:a16="http://schemas.microsoft.com/office/drawing/2014/main" id="{1A16CB0C-CF6B-E6BB-06C4-38A5DFAA9456}"/>
              </a:ext>
            </a:extLst>
          </p:cNvPr>
          <p:cNvSpPr/>
          <p:nvPr/>
        </p:nvSpPr>
        <p:spPr>
          <a:xfrm>
            <a:off x="2421317" y="2821717"/>
            <a:ext cx="943205" cy="73644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⚙️Amplitude émotionnelle : Liberté de ne pas recevoir certaines émotions à grande intensité</a:t>
            </a:r>
          </a:p>
        </p:txBody>
      </p:sp>
      <p:sp>
        <p:nvSpPr>
          <p:cNvPr id="69" name="Rectangle 68">
            <a:extLst>
              <a:ext uri="{FF2B5EF4-FFF2-40B4-BE49-F238E27FC236}">
                <a16:creationId xmlns:a16="http://schemas.microsoft.com/office/drawing/2014/main" id="{7A8186EB-FF97-14D8-0312-2C1108DAA6BB}"/>
              </a:ext>
            </a:extLst>
          </p:cNvPr>
          <p:cNvSpPr/>
          <p:nvPr/>
        </p:nvSpPr>
        <p:spPr>
          <a:xfrm>
            <a:off x="5754919" y="3530417"/>
            <a:ext cx="943205" cy="98608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Positivité du rôle : Pouvoir prendre le rôle de quelqu’un qui aide, contribue, donne, a un impact positif sur les autres</a:t>
            </a:r>
          </a:p>
        </p:txBody>
      </p:sp>
      <p:sp>
        <p:nvSpPr>
          <p:cNvPr id="70" name="Rectangle 69">
            <a:extLst>
              <a:ext uri="{FF2B5EF4-FFF2-40B4-BE49-F238E27FC236}">
                <a16:creationId xmlns:a16="http://schemas.microsoft.com/office/drawing/2014/main" id="{7A171FAD-7B2B-2153-F959-5BDDB27A7DD2}"/>
              </a:ext>
            </a:extLst>
          </p:cNvPr>
          <p:cNvSpPr/>
          <p:nvPr/>
        </p:nvSpPr>
        <p:spPr>
          <a:xfrm>
            <a:off x="5761833" y="4542124"/>
            <a:ext cx="943205" cy="116603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Positivité du rôle : Ne pas avoir le rôle de quelqu’un qui aide, qui ose prendre aux autres, a un impact négatif (sauf pour soi)</a:t>
            </a:r>
          </a:p>
        </p:txBody>
      </p:sp>
    </p:spTree>
    <p:extLst>
      <p:ext uri="{BB962C8B-B14F-4D97-AF65-F5344CB8AC3E}">
        <p14:creationId xmlns:p14="http://schemas.microsoft.com/office/powerpoint/2010/main" val="401342204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849515" y="-112788"/>
            <a:ext cx="10515600" cy="1165815"/>
          </a:xfrm>
        </p:spPr>
        <p:txBody>
          <a:bodyPr>
            <a:noAutofit/>
          </a:bodyPr>
          <a:lstStyle/>
          <a:p>
            <a:r>
              <a:rPr lang="fr-FR" sz="3200" dirty="0"/>
              <a:t>Exemples de respirations (rangement non exclusif)</a:t>
            </a:r>
            <a:br>
              <a:rPr lang="fr-FR" sz="3200" dirty="0"/>
            </a:br>
            <a:r>
              <a:rPr lang="fr-FR" sz="2000" dirty="0"/>
              <a:t>📅Evènements  , ✍️Contenus, ⚙️Structuration de Communauté</a:t>
            </a:r>
            <a:endParaRPr lang="fr-FR" sz="3200" dirty="0"/>
          </a:p>
        </p:txBody>
      </p:sp>
      <p:grpSp>
        <p:nvGrpSpPr>
          <p:cNvPr id="65" name="Groupe 64">
            <a:extLst>
              <a:ext uri="{FF2B5EF4-FFF2-40B4-BE49-F238E27FC236}">
                <a16:creationId xmlns:a16="http://schemas.microsoft.com/office/drawing/2014/main" id="{D4FE61E4-5DC5-4329-731E-7D3DBF0843FF}"/>
              </a:ext>
            </a:extLst>
          </p:cNvPr>
          <p:cNvGrpSpPr/>
          <p:nvPr/>
        </p:nvGrpSpPr>
        <p:grpSpPr>
          <a:xfrm>
            <a:off x="132955" y="33531"/>
            <a:ext cx="756159" cy="637502"/>
            <a:chOff x="8982504" y="3274976"/>
            <a:chExt cx="1230670" cy="1037553"/>
          </a:xfrm>
          <a:solidFill>
            <a:srgbClr val="ED7D31"/>
          </a:solidFill>
        </p:grpSpPr>
        <p:pic>
          <p:nvPicPr>
            <p:cNvPr id="66" name="Graphique 65" descr="Utilisateur avec un remplissage uni">
              <a:extLst>
                <a:ext uri="{FF2B5EF4-FFF2-40B4-BE49-F238E27FC236}">
                  <a16:creationId xmlns:a16="http://schemas.microsoft.com/office/drawing/2014/main" id="{48753949-93EF-3D80-382F-B193CEC4DDC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67" name="Graphique 66" descr="Utilisateur avec un remplissage uni">
              <a:extLst>
                <a:ext uri="{FF2B5EF4-FFF2-40B4-BE49-F238E27FC236}">
                  <a16:creationId xmlns:a16="http://schemas.microsoft.com/office/drawing/2014/main" id="{F6E18B21-3BA0-5D9E-0ED6-496FAA28788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68" name="Graphique 67" descr="Utilisateur avec un remplissage uni">
              <a:extLst>
                <a:ext uri="{FF2B5EF4-FFF2-40B4-BE49-F238E27FC236}">
                  <a16:creationId xmlns:a16="http://schemas.microsoft.com/office/drawing/2014/main" id="{94D65B38-D73A-7F86-B1DD-E64A7D519B1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69" name="Graphique 68" descr="Utilisateur avec un remplissage uni">
              <a:extLst>
                <a:ext uri="{FF2B5EF4-FFF2-40B4-BE49-F238E27FC236}">
                  <a16:creationId xmlns:a16="http://schemas.microsoft.com/office/drawing/2014/main" id="{CE986DA1-3127-D953-A824-FF331646E1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70" name="Graphique 69" descr="Utilisateur avec un remplissage uni">
              <a:extLst>
                <a:ext uri="{FF2B5EF4-FFF2-40B4-BE49-F238E27FC236}">
                  <a16:creationId xmlns:a16="http://schemas.microsoft.com/office/drawing/2014/main" id="{4C4F3AE0-927B-3E3C-B917-26BC286F7D2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71" name="Graphique 70" descr="Utilisateur avec un remplissage uni">
              <a:extLst>
                <a:ext uri="{FF2B5EF4-FFF2-40B4-BE49-F238E27FC236}">
                  <a16:creationId xmlns:a16="http://schemas.microsoft.com/office/drawing/2014/main" id="{DDF76C1B-F28E-EE6D-4347-71AE54C343F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72" name="Graphique 71" descr="Utilisateur avec un remplissage uni">
              <a:extLst>
                <a:ext uri="{FF2B5EF4-FFF2-40B4-BE49-F238E27FC236}">
                  <a16:creationId xmlns:a16="http://schemas.microsoft.com/office/drawing/2014/main" id="{895EE63F-29C8-8EFF-75F8-DD8D9E08AFA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73" name="Graphique 72" descr="Utilisateur avec un remplissage uni">
              <a:extLst>
                <a:ext uri="{FF2B5EF4-FFF2-40B4-BE49-F238E27FC236}">
                  <a16:creationId xmlns:a16="http://schemas.microsoft.com/office/drawing/2014/main" id="{02769511-677C-B372-2C22-4347F962799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74" name="Graphique 73" descr="Utilisateur avec un remplissage uni">
              <a:extLst>
                <a:ext uri="{FF2B5EF4-FFF2-40B4-BE49-F238E27FC236}">
                  <a16:creationId xmlns:a16="http://schemas.microsoft.com/office/drawing/2014/main" id="{1D56F51E-CA84-7EEC-584A-4255AACD4DF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75" name="Graphique 74" descr="Utilisateur avec un remplissage uni">
              <a:extLst>
                <a:ext uri="{FF2B5EF4-FFF2-40B4-BE49-F238E27FC236}">
                  <a16:creationId xmlns:a16="http://schemas.microsoft.com/office/drawing/2014/main" id="{D5FA1D01-2DDD-6D4A-5262-56A38EACEB5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12" name="Graphique 111" descr="Utilisateur avec un remplissage uni">
              <a:extLst>
                <a:ext uri="{FF2B5EF4-FFF2-40B4-BE49-F238E27FC236}">
                  <a16:creationId xmlns:a16="http://schemas.microsoft.com/office/drawing/2014/main" id="{BD8FF552-B8DD-7763-DCAB-3D14327F8CA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25" name="Image 24">
            <a:extLst>
              <a:ext uri="{FF2B5EF4-FFF2-40B4-BE49-F238E27FC236}">
                <a16:creationId xmlns:a16="http://schemas.microsoft.com/office/drawing/2014/main" id="{606255BE-23A7-ADAF-2326-89C7A7C1166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0475" y="935397"/>
            <a:ext cx="979570" cy="1383665"/>
          </a:xfrm>
          <a:prstGeom prst="rect">
            <a:avLst/>
          </a:prstGeom>
        </p:spPr>
      </p:pic>
      <p:pic>
        <p:nvPicPr>
          <p:cNvPr id="27" name="Image 26">
            <a:extLst>
              <a:ext uri="{FF2B5EF4-FFF2-40B4-BE49-F238E27FC236}">
                <a16:creationId xmlns:a16="http://schemas.microsoft.com/office/drawing/2014/main" id="{BF0668E5-1F29-C6FB-93FA-4659CD0F7B9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909956" y="932236"/>
            <a:ext cx="979570" cy="1383665"/>
          </a:xfrm>
          <a:prstGeom prst="rect">
            <a:avLst/>
          </a:prstGeom>
        </p:spPr>
      </p:pic>
      <p:pic>
        <p:nvPicPr>
          <p:cNvPr id="28" name="Image 27" descr="Une image contenant texte&#10;&#10;Description générée automatiquement">
            <a:extLst>
              <a:ext uri="{FF2B5EF4-FFF2-40B4-BE49-F238E27FC236}">
                <a16:creationId xmlns:a16="http://schemas.microsoft.com/office/drawing/2014/main" id="{C52BFFBF-1047-476C-6469-7AF91D6DBFF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254127" y="934261"/>
            <a:ext cx="979570" cy="1383665"/>
          </a:xfrm>
          <a:prstGeom prst="rect">
            <a:avLst/>
          </a:prstGeom>
        </p:spPr>
      </p:pic>
      <p:pic>
        <p:nvPicPr>
          <p:cNvPr id="29" name="Image 28">
            <a:extLst>
              <a:ext uri="{FF2B5EF4-FFF2-40B4-BE49-F238E27FC236}">
                <a16:creationId xmlns:a16="http://schemas.microsoft.com/office/drawing/2014/main" id="{66A8C156-F0A3-1263-C6C5-F0E1328E750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457453" y="926663"/>
            <a:ext cx="979570" cy="1383665"/>
          </a:xfrm>
          <a:prstGeom prst="rect">
            <a:avLst/>
          </a:prstGeom>
        </p:spPr>
      </p:pic>
      <p:pic>
        <p:nvPicPr>
          <p:cNvPr id="30" name="Image 29">
            <a:extLst>
              <a:ext uri="{FF2B5EF4-FFF2-40B4-BE49-F238E27FC236}">
                <a16:creationId xmlns:a16="http://schemas.microsoft.com/office/drawing/2014/main" id="{6E90BE4D-1EA5-ED16-87E6-4E680E0807B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825216" y="934261"/>
            <a:ext cx="979570" cy="1383665"/>
          </a:xfrm>
          <a:prstGeom prst="rect">
            <a:avLst/>
          </a:prstGeom>
        </p:spPr>
      </p:pic>
      <p:pic>
        <p:nvPicPr>
          <p:cNvPr id="31" name="Image 30">
            <a:extLst>
              <a:ext uri="{FF2B5EF4-FFF2-40B4-BE49-F238E27FC236}">
                <a16:creationId xmlns:a16="http://schemas.microsoft.com/office/drawing/2014/main" id="{A564748B-E5B0-4E9F-7813-01D7C51BCBB7}"/>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016870" y="939250"/>
            <a:ext cx="979570" cy="1383665"/>
          </a:xfrm>
          <a:prstGeom prst="rect">
            <a:avLst/>
          </a:prstGeom>
        </p:spPr>
      </p:pic>
      <p:pic>
        <p:nvPicPr>
          <p:cNvPr id="32" name="Image 31" descr="Une image contenant texte&#10;&#10;Description générée automatiquement">
            <a:extLst>
              <a:ext uri="{FF2B5EF4-FFF2-40B4-BE49-F238E27FC236}">
                <a16:creationId xmlns:a16="http://schemas.microsoft.com/office/drawing/2014/main" id="{85BA04D4-8763-76EF-5EFF-C98B2E551247}"/>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342612" y="935196"/>
            <a:ext cx="979570" cy="1383665"/>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1C07BFD-8376-7366-5CAE-D9628DFEBEBD}"/>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9532209" y="926663"/>
            <a:ext cx="979570" cy="1383665"/>
          </a:xfrm>
          <a:prstGeom prst="rect">
            <a:avLst/>
          </a:prstGeom>
        </p:spPr>
      </p:pic>
      <p:sp>
        <p:nvSpPr>
          <p:cNvPr id="42" name="Rectangle 41">
            <a:extLst>
              <a:ext uri="{FF2B5EF4-FFF2-40B4-BE49-F238E27FC236}">
                <a16:creationId xmlns:a16="http://schemas.microsoft.com/office/drawing/2014/main" id="{D5B4002B-AE18-2BAE-0D73-078BB2432DAD}"/>
              </a:ext>
            </a:extLst>
          </p:cNvPr>
          <p:cNvSpPr/>
          <p:nvPr/>
        </p:nvSpPr>
        <p:spPr>
          <a:xfrm>
            <a:off x="10575728" y="926663"/>
            <a:ext cx="979570" cy="150080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pic>
        <p:nvPicPr>
          <p:cNvPr id="4" name="Image 3" descr="Une image contenant texte&#10;&#10;Description générée automatiquement">
            <a:extLst>
              <a:ext uri="{FF2B5EF4-FFF2-40B4-BE49-F238E27FC236}">
                <a16:creationId xmlns:a16="http://schemas.microsoft.com/office/drawing/2014/main" id="{5BA312F9-B03F-88C0-5DDB-1BE1AC830520}"/>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166072" y="940001"/>
            <a:ext cx="979570" cy="1370327"/>
          </a:xfrm>
          <a:prstGeom prst="rect">
            <a:avLst/>
          </a:prstGeom>
        </p:spPr>
      </p:pic>
      <p:sp>
        <p:nvSpPr>
          <p:cNvPr id="116" name="Rectangle 115">
            <a:extLst>
              <a:ext uri="{FF2B5EF4-FFF2-40B4-BE49-F238E27FC236}">
                <a16:creationId xmlns:a16="http://schemas.microsoft.com/office/drawing/2014/main" id="{1B7FD2A7-4D75-F85E-E95F-65989804FA66}"/>
              </a:ext>
            </a:extLst>
          </p:cNvPr>
          <p:cNvSpPr/>
          <p:nvPr/>
        </p:nvSpPr>
        <p:spPr>
          <a:xfrm>
            <a:off x="4059097" y="2370615"/>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⚙️Profils : personnes aux profils très différents</a:t>
            </a:r>
          </a:p>
        </p:txBody>
      </p:sp>
      <p:sp>
        <p:nvSpPr>
          <p:cNvPr id="117" name="Rectangle 116">
            <a:extLst>
              <a:ext uri="{FF2B5EF4-FFF2-40B4-BE49-F238E27FC236}">
                <a16:creationId xmlns:a16="http://schemas.microsoft.com/office/drawing/2014/main" id="{43409429-D1C6-0416-D8F3-6FB65118192A}"/>
              </a:ext>
            </a:extLst>
          </p:cNvPr>
          <p:cNvSpPr/>
          <p:nvPr/>
        </p:nvSpPr>
        <p:spPr>
          <a:xfrm>
            <a:off x="5201932" y="4274434"/>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Profils : personnes aux profils très similaires</a:t>
            </a:r>
          </a:p>
        </p:txBody>
      </p:sp>
      <p:sp>
        <p:nvSpPr>
          <p:cNvPr id="118" name="Rectangle 117">
            <a:extLst>
              <a:ext uri="{FF2B5EF4-FFF2-40B4-BE49-F238E27FC236}">
                <a16:creationId xmlns:a16="http://schemas.microsoft.com/office/drawing/2014/main" id="{4547487A-03B3-0F79-564D-62FE960AB008}"/>
              </a:ext>
            </a:extLst>
          </p:cNvPr>
          <p:cNvSpPr/>
          <p:nvPr/>
        </p:nvSpPr>
        <p:spPr>
          <a:xfrm>
            <a:off x="7378976" y="2356878"/>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⚙️Outils : De nouveaux outils à découvrir</a:t>
            </a:r>
          </a:p>
        </p:txBody>
      </p:sp>
      <p:sp>
        <p:nvSpPr>
          <p:cNvPr id="119" name="Rectangle 118">
            <a:extLst>
              <a:ext uri="{FF2B5EF4-FFF2-40B4-BE49-F238E27FC236}">
                <a16:creationId xmlns:a16="http://schemas.microsoft.com/office/drawing/2014/main" id="{7FA4E214-09CE-4DBC-0D23-AFE9956B98B0}"/>
              </a:ext>
            </a:extLst>
          </p:cNvPr>
          <p:cNvSpPr/>
          <p:nvPr/>
        </p:nvSpPr>
        <p:spPr>
          <a:xfrm>
            <a:off x="7378976" y="2812398"/>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⚙️Outils : Des outils utilisés et maîtrisés</a:t>
            </a:r>
          </a:p>
        </p:txBody>
      </p:sp>
      <p:sp>
        <p:nvSpPr>
          <p:cNvPr id="120" name="Rectangle 119">
            <a:extLst>
              <a:ext uri="{FF2B5EF4-FFF2-40B4-BE49-F238E27FC236}">
                <a16:creationId xmlns:a16="http://schemas.microsoft.com/office/drawing/2014/main" id="{DFE89BD0-C1DE-8EB3-4B38-0B090CBCE526}"/>
              </a:ext>
            </a:extLst>
          </p:cNvPr>
          <p:cNvSpPr/>
          <p:nvPr/>
        </p:nvSpPr>
        <p:spPr>
          <a:xfrm>
            <a:off x="9541297" y="3926559"/>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Usage numérique : 📅 Loin du local réel / à distance</a:t>
            </a:r>
          </a:p>
        </p:txBody>
      </p:sp>
      <p:sp>
        <p:nvSpPr>
          <p:cNvPr id="121" name="Rectangle 120">
            <a:extLst>
              <a:ext uri="{FF2B5EF4-FFF2-40B4-BE49-F238E27FC236}">
                <a16:creationId xmlns:a16="http://schemas.microsoft.com/office/drawing/2014/main" id="{91F61217-DD33-E713-203A-AAE7BF03F527}"/>
              </a:ext>
            </a:extLst>
          </p:cNvPr>
          <p:cNvSpPr/>
          <p:nvPr/>
        </p:nvSpPr>
        <p:spPr>
          <a:xfrm>
            <a:off x="2909956" y="2370615"/>
            <a:ext cx="943205" cy="3211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Usage numérique : 📅 Loin des écrans</a:t>
            </a:r>
          </a:p>
        </p:txBody>
      </p:sp>
      <p:sp>
        <p:nvSpPr>
          <p:cNvPr id="122" name="Rectangle 121">
            <a:extLst>
              <a:ext uri="{FF2B5EF4-FFF2-40B4-BE49-F238E27FC236}">
                <a16:creationId xmlns:a16="http://schemas.microsoft.com/office/drawing/2014/main" id="{DAE226F3-538F-BF64-153F-C439D88162DF}"/>
              </a:ext>
            </a:extLst>
          </p:cNvPr>
          <p:cNvSpPr/>
          <p:nvPr/>
        </p:nvSpPr>
        <p:spPr>
          <a:xfrm>
            <a:off x="4059097" y="2849780"/>
            <a:ext cx="943205" cy="31860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Collectif : 📅Activités en groupe</a:t>
            </a:r>
          </a:p>
        </p:txBody>
      </p:sp>
      <p:sp>
        <p:nvSpPr>
          <p:cNvPr id="123" name="Rectangle 122">
            <a:extLst>
              <a:ext uri="{FF2B5EF4-FFF2-40B4-BE49-F238E27FC236}">
                <a16:creationId xmlns:a16="http://schemas.microsoft.com/office/drawing/2014/main" id="{38F4DAE2-8821-44FC-4C92-720FCB884016}"/>
              </a:ext>
            </a:extLst>
          </p:cNvPr>
          <p:cNvSpPr/>
          <p:nvPr/>
        </p:nvSpPr>
        <p:spPr>
          <a:xfrm>
            <a:off x="758657" y="3047481"/>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Collectif : 📅✍️Expérience individuelles avec moyens mis en commun</a:t>
            </a:r>
          </a:p>
        </p:txBody>
      </p:sp>
      <p:sp>
        <p:nvSpPr>
          <p:cNvPr id="124" name="Rectangle 123">
            <a:extLst>
              <a:ext uri="{FF2B5EF4-FFF2-40B4-BE49-F238E27FC236}">
                <a16:creationId xmlns:a16="http://schemas.microsoft.com/office/drawing/2014/main" id="{3E3B211C-1303-FF14-EDBD-E3CB039F0F65}"/>
              </a:ext>
            </a:extLst>
          </p:cNvPr>
          <p:cNvSpPr/>
          <p:nvPr/>
        </p:nvSpPr>
        <p:spPr>
          <a:xfrm>
            <a:off x="8460491" y="5145946"/>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⚙️Connaissance mutuelle : Anonymat ou connaissance limitée</a:t>
            </a:r>
          </a:p>
        </p:txBody>
      </p:sp>
      <p:sp>
        <p:nvSpPr>
          <p:cNvPr id="125" name="Rectangle 124">
            <a:extLst>
              <a:ext uri="{FF2B5EF4-FFF2-40B4-BE49-F238E27FC236}">
                <a16:creationId xmlns:a16="http://schemas.microsoft.com/office/drawing/2014/main" id="{18CFD552-01CA-3272-9885-6CFBD2F363AB}"/>
              </a:ext>
            </a:extLst>
          </p:cNvPr>
          <p:cNvSpPr/>
          <p:nvPr/>
        </p:nvSpPr>
        <p:spPr>
          <a:xfrm>
            <a:off x="1851596" y="2369712"/>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⚙️Connaissance mutuelle : Connaissance des identités respectives</a:t>
            </a:r>
          </a:p>
        </p:txBody>
      </p:sp>
      <p:sp>
        <p:nvSpPr>
          <p:cNvPr id="126" name="Rectangle 125">
            <a:extLst>
              <a:ext uri="{FF2B5EF4-FFF2-40B4-BE49-F238E27FC236}">
                <a16:creationId xmlns:a16="http://schemas.microsoft.com/office/drawing/2014/main" id="{CABFE34F-6EEE-E68E-E6EF-8D1FBE9B2A45}"/>
              </a:ext>
            </a:extLst>
          </p:cNvPr>
          <p:cNvSpPr/>
          <p:nvPr/>
        </p:nvSpPr>
        <p:spPr>
          <a:xfrm>
            <a:off x="2915952" y="2750884"/>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Charge cognitive : 📅✍️ Activités à Stimulation intellectuelle</a:t>
            </a:r>
          </a:p>
        </p:txBody>
      </p:sp>
      <p:sp>
        <p:nvSpPr>
          <p:cNvPr id="127" name="Rectangle 126">
            <a:extLst>
              <a:ext uri="{FF2B5EF4-FFF2-40B4-BE49-F238E27FC236}">
                <a16:creationId xmlns:a16="http://schemas.microsoft.com/office/drawing/2014/main" id="{28BB2D35-3EE6-09C8-E5A4-36487AA7466C}"/>
              </a:ext>
            </a:extLst>
          </p:cNvPr>
          <p:cNvSpPr/>
          <p:nvPr/>
        </p:nvSpPr>
        <p:spPr>
          <a:xfrm>
            <a:off x="2915952" y="3206404"/>
            <a:ext cx="943205" cy="4175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Charge cognitive : 📅✍️ Activités Reposantes intellectuellement</a:t>
            </a:r>
          </a:p>
        </p:txBody>
      </p:sp>
      <p:sp>
        <p:nvSpPr>
          <p:cNvPr id="37" name="Rectangle 36">
            <a:extLst>
              <a:ext uri="{FF2B5EF4-FFF2-40B4-BE49-F238E27FC236}">
                <a16:creationId xmlns:a16="http://schemas.microsoft.com/office/drawing/2014/main" id="{0971A072-9F39-5260-0D33-FBE8E8509848}"/>
              </a:ext>
            </a:extLst>
          </p:cNvPr>
          <p:cNvSpPr/>
          <p:nvPr/>
        </p:nvSpPr>
        <p:spPr>
          <a:xfrm>
            <a:off x="1838394" y="3052461"/>
            <a:ext cx="943205" cy="73613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⚙️📅Hauteur de posture :</a:t>
            </a:r>
          </a:p>
          <a:p>
            <a:pPr algn="ctr"/>
            <a:r>
              <a:rPr lang="fr-FR" sz="800" dirty="0">
                <a:solidFill>
                  <a:schemeClr val="tx1"/>
                </a:solidFill>
              </a:rPr>
              <a:t>Pouvoir prendre une posture haute </a:t>
            </a:r>
          </a:p>
        </p:txBody>
      </p:sp>
      <p:sp>
        <p:nvSpPr>
          <p:cNvPr id="38" name="Rectangle 37">
            <a:extLst>
              <a:ext uri="{FF2B5EF4-FFF2-40B4-BE49-F238E27FC236}">
                <a16:creationId xmlns:a16="http://schemas.microsoft.com/office/drawing/2014/main" id="{6380503D-3FD4-724F-B012-1C46F5F59CDC}"/>
              </a:ext>
            </a:extLst>
          </p:cNvPr>
          <p:cNvSpPr/>
          <p:nvPr/>
        </p:nvSpPr>
        <p:spPr>
          <a:xfrm>
            <a:off x="4059097" y="5537411"/>
            <a:ext cx="943205" cy="493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⚙️📅Hauteur de posture : Pouvoir prendre une posture basse</a:t>
            </a:r>
          </a:p>
        </p:txBody>
      </p:sp>
      <p:sp>
        <p:nvSpPr>
          <p:cNvPr id="39" name="Rectangle 38">
            <a:extLst>
              <a:ext uri="{FF2B5EF4-FFF2-40B4-BE49-F238E27FC236}">
                <a16:creationId xmlns:a16="http://schemas.microsoft.com/office/drawing/2014/main" id="{B85CCF31-CEEA-95B9-23CC-54060288192C}"/>
              </a:ext>
            </a:extLst>
          </p:cNvPr>
          <p:cNvSpPr/>
          <p:nvPr/>
        </p:nvSpPr>
        <p:spPr>
          <a:xfrm>
            <a:off x="4050683" y="4166706"/>
            <a:ext cx="943205" cy="493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⚙️📅Hauteur de posture : Pouvoir prendre une posture de pair</a:t>
            </a:r>
          </a:p>
        </p:txBody>
      </p:sp>
      <p:sp>
        <p:nvSpPr>
          <p:cNvPr id="40" name="Rectangle 39">
            <a:extLst>
              <a:ext uri="{FF2B5EF4-FFF2-40B4-BE49-F238E27FC236}">
                <a16:creationId xmlns:a16="http://schemas.microsoft.com/office/drawing/2014/main" id="{384AAF0B-E841-0AB5-CC4A-F16DB6538A4C}"/>
              </a:ext>
            </a:extLst>
          </p:cNvPr>
          <p:cNvSpPr/>
          <p:nvPr/>
        </p:nvSpPr>
        <p:spPr>
          <a:xfrm>
            <a:off x="8447284" y="2356877"/>
            <a:ext cx="943205" cy="41750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⚙️Décision : La liberté/légèreté de ne rien décider</a:t>
            </a:r>
          </a:p>
        </p:txBody>
      </p:sp>
      <p:sp>
        <p:nvSpPr>
          <p:cNvPr id="41" name="Rectangle 40">
            <a:extLst>
              <a:ext uri="{FF2B5EF4-FFF2-40B4-BE49-F238E27FC236}">
                <a16:creationId xmlns:a16="http://schemas.microsoft.com/office/drawing/2014/main" id="{7A0924B2-AB3A-08B4-0CB6-93DE838FE59A}"/>
              </a:ext>
            </a:extLst>
          </p:cNvPr>
          <p:cNvSpPr/>
          <p:nvPr/>
        </p:nvSpPr>
        <p:spPr>
          <a:xfrm>
            <a:off x="7373555" y="5280434"/>
            <a:ext cx="940099" cy="493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⚙️Décision : L'opportunité de contribuer aux décisions</a:t>
            </a:r>
          </a:p>
        </p:txBody>
      </p:sp>
      <p:sp>
        <p:nvSpPr>
          <p:cNvPr id="43" name="Rectangle 42">
            <a:extLst>
              <a:ext uri="{FF2B5EF4-FFF2-40B4-BE49-F238E27FC236}">
                <a16:creationId xmlns:a16="http://schemas.microsoft.com/office/drawing/2014/main" id="{0FCDC364-B15E-1698-7EBC-5743008AD38A}"/>
              </a:ext>
            </a:extLst>
          </p:cNvPr>
          <p:cNvSpPr/>
          <p:nvPr/>
        </p:nvSpPr>
        <p:spPr>
          <a:xfrm>
            <a:off x="5202437" y="2358067"/>
            <a:ext cx="943205" cy="49066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Proximité des Sujets : des contenus proches du quotidien</a:t>
            </a:r>
          </a:p>
        </p:txBody>
      </p:sp>
      <p:sp>
        <p:nvSpPr>
          <p:cNvPr id="44" name="Rectangle 43">
            <a:extLst>
              <a:ext uri="{FF2B5EF4-FFF2-40B4-BE49-F238E27FC236}">
                <a16:creationId xmlns:a16="http://schemas.microsoft.com/office/drawing/2014/main" id="{BA4B166E-C142-49FC-BB8E-BA4DA23EB5B9}"/>
              </a:ext>
            </a:extLst>
          </p:cNvPr>
          <p:cNvSpPr/>
          <p:nvPr/>
        </p:nvSpPr>
        <p:spPr>
          <a:xfrm>
            <a:off x="2921349" y="3691107"/>
            <a:ext cx="943205" cy="49066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Proximité des Sujets : des contenus loin du quotidien</a:t>
            </a:r>
          </a:p>
        </p:txBody>
      </p:sp>
      <p:sp>
        <p:nvSpPr>
          <p:cNvPr id="45" name="Rectangle 44">
            <a:extLst>
              <a:ext uri="{FF2B5EF4-FFF2-40B4-BE49-F238E27FC236}">
                <a16:creationId xmlns:a16="http://schemas.microsoft.com/office/drawing/2014/main" id="{3BEFFC03-BB01-E2CE-63BB-670F86A37B16}"/>
              </a:ext>
            </a:extLst>
          </p:cNvPr>
          <p:cNvSpPr/>
          <p:nvPr/>
        </p:nvSpPr>
        <p:spPr>
          <a:xfrm>
            <a:off x="4050683" y="3311980"/>
            <a:ext cx="943205" cy="71113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Profondeur des relations : Des relations de profondeur et un alignement interpersonnel</a:t>
            </a:r>
          </a:p>
        </p:txBody>
      </p:sp>
      <p:sp>
        <p:nvSpPr>
          <p:cNvPr id="46" name="Rectangle 45">
            <a:extLst>
              <a:ext uri="{FF2B5EF4-FFF2-40B4-BE49-F238E27FC236}">
                <a16:creationId xmlns:a16="http://schemas.microsoft.com/office/drawing/2014/main" id="{EB760344-714D-D22E-248F-53818CB22937}"/>
              </a:ext>
            </a:extLst>
          </p:cNvPr>
          <p:cNvSpPr/>
          <p:nvPr/>
        </p:nvSpPr>
        <p:spPr>
          <a:xfrm>
            <a:off x="8460491" y="4125405"/>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⚙️Profondeur des relations :</a:t>
            </a:r>
          </a:p>
          <a:p>
            <a:pPr algn="ctr"/>
            <a:r>
              <a:rPr lang="fr-FR" sz="800" dirty="0">
                <a:solidFill>
                  <a:schemeClr val="tx1"/>
                </a:solidFill>
              </a:rPr>
              <a:t>Des relations de surface, sans conséquences</a:t>
            </a:r>
          </a:p>
        </p:txBody>
      </p:sp>
      <p:sp>
        <p:nvSpPr>
          <p:cNvPr id="47" name="Rectangle 46">
            <a:extLst>
              <a:ext uri="{FF2B5EF4-FFF2-40B4-BE49-F238E27FC236}">
                <a16:creationId xmlns:a16="http://schemas.microsoft.com/office/drawing/2014/main" id="{FC516624-6AC6-DC37-157D-D49CA7914CED}"/>
              </a:ext>
            </a:extLst>
          </p:cNvPr>
          <p:cNvSpPr/>
          <p:nvPr/>
        </p:nvSpPr>
        <p:spPr>
          <a:xfrm>
            <a:off x="7378976" y="3448267"/>
            <a:ext cx="943205" cy="99532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⚙️Niveau de maîtrise :</a:t>
            </a:r>
          </a:p>
          <a:p>
            <a:pPr algn="ctr"/>
            <a:r>
              <a:rPr lang="fr-FR" sz="800" dirty="0">
                <a:solidFill>
                  <a:schemeClr val="tx1"/>
                </a:solidFill>
              </a:rPr>
              <a:t>Affûter des compétences déjà maîtrisées en présence d'autres personnes avancées</a:t>
            </a:r>
          </a:p>
        </p:txBody>
      </p:sp>
      <p:sp>
        <p:nvSpPr>
          <p:cNvPr id="48" name="Rectangle 47">
            <a:extLst>
              <a:ext uri="{FF2B5EF4-FFF2-40B4-BE49-F238E27FC236}">
                <a16:creationId xmlns:a16="http://schemas.microsoft.com/office/drawing/2014/main" id="{0BC9A77E-C32B-B851-679D-3BFA74DD2433}"/>
              </a:ext>
            </a:extLst>
          </p:cNvPr>
          <p:cNvSpPr/>
          <p:nvPr/>
        </p:nvSpPr>
        <p:spPr>
          <a:xfrm>
            <a:off x="7378976" y="4503569"/>
            <a:ext cx="943205" cy="71113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⚙️Niveau de maîtrise : Pouvoir être débutant sur des compétences pratiquées et en côtoyer</a:t>
            </a:r>
          </a:p>
        </p:txBody>
      </p:sp>
      <p:sp>
        <p:nvSpPr>
          <p:cNvPr id="49" name="Rectangle 48">
            <a:extLst>
              <a:ext uri="{FF2B5EF4-FFF2-40B4-BE49-F238E27FC236}">
                <a16:creationId xmlns:a16="http://schemas.microsoft.com/office/drawing/2014/main" id="{46B5273C-2C24-23F7-5556-BF548B3581B6}"/>
              </a:ext>
            </a:extLst>
          </p:cNvPr>
          <p:cNvSpPr/>
          <p:nvPr/>
        </p:nvSpPr>
        <p:spPr>
          <a:xfrm>
            <a:off x="5202436" y="3468902"/>
            <a:ext cx="943205" cy="7567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⚙️📅Enregistrement : Pouvoir enregistrer les informations pour plus tard dans les événements</a:t>
            </a:r>
          </a:p>
        </p:txBody>
      </p:sp>
      <p:sp>
        <p:nvSpPr>
          <p:cNvPr id="50" name="Rectangle 49">
            <a:extLst>
              <a:ext uri="{FF2B5EF4-FFF2-40B4-BE49-F238E27FC236}">
                <a16:creationId xmlns:a16="http://schemas.microsoft.com/office/drawing/2014/main" id="{7659770E-EFB1-58B7-F538-31C90384A6E8}"/>
              </a:ext>
            </a:extLst>
          </p:cNvPr>
          <p:cNvSpPr/>
          <p:nvPr/>
        </p:nvSpPr>
        <p:spPr>
          <a:xfrm>
            <a:off x="8447284" y="2812398"/>
            <a:ext cx="943205" cy="7567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⚙️📅Confidentialité : Être libre des risques et responsabilités d'enregistrer l'information</a:t>
            </a:r>
          </a:p>
        </p:txBody>
      </p:sp>
      <p:sp>
        <p:nvSpPr>
          <p:cNvPr id="51" name="Rectangle 50">
            <a:extLst>
              <a:ext uri="{FF2B5EF4-FFF2-40B4-BE49-F238E27FC236}">
                <a16:creationId xmlns:a16="http://schemas.microsoft.com/office/drawing/2014/main" id="{B07599B2-390A-72F2-FC39-DC82D5ABC74A}"/>
              </a:ext>
            </a:extLst>
          </p:cNvPr>
          <p:cNvSpPr/>
          <p:nvPr/>
        </p:nvSpPr>
        <p:spPr>
          <a:xfrm>
            <a:off x="9541298" y="2370030"/>
            <a:ext cx="943205" cy="49066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⚙️Expression : Liberté d'expression accrue</a:t>
            </a:r>
          </a:p>
        </p:txBody>
      </p:sp>
      <p:sp>
        <p:nvSpPr>
          <p:cNvPr id="52" name="Rectangle 51">
            <a:extLst>
              <a:ext uri="{FF2B5EF4-FFF2-40B4-BE49-F238E27FC236}">
                <a16:creationId xmlns:a16="http://schemas.microsoft.com/office/drawing/2014/main" id="{E54E1D4C-FB51-22A7-4551-F7DDAB39F2E7}"/>
              </a:ext>
            </a:extLst>
          </p:cNvPr>
          <p:cNvSpPr/>
          <p:nvPr/>
        </p:nvSpPr>
        <p:spPr>
          <a:xfrm>
            <a:off x="2921349" y="4243791"/>
            <a:ext cx="943205" cy="61237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⚙️Expression : Protection contre certaines formes d'expressions et sujets</a:t>
            </a:r>
          </a:p>
        </p:txBody>
      </p:sp>
      <p:sp>
        <p:nvSpPr>
          <p:cNvPr id="53" name="Rectangle 52">
            <a:extLst>
              <a:ext uri="{FF2B5EF4-FFF2-40B4-BE49-F238E27FC236}">
                <a16:creationId xmlns:a16="http://schemas.microsoft.com/office/drawing/2014/main" id="{355AA107-D629-760F-54F7-CB4671D06EF2}"/>
              </a:ext>
            </a:extLst>
          </p:cNvPr>
          <p:cNvSpPr/>
          <p:nvPr/>
        </p:nvSpPr>
        <p:spPr>
          <a:xfrm>
            <a:off x="6290492" y="2369712"/>
            <a:ext cx="943205" cy="34562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Sens : Du sens dans les activités</a:t>
            </a:r>
          </a:p>
        </p:txBody>
      </p:sp>
      <p:sp>
        <p:nvSpPr>
          <p:cNvPr id="54" name="Rectangle 53">
            <a:extLst>
              <a:ext uri="{FF2B5EF4-FFF2-40B4-BE49-F238E27FC236}">
                <a16:creationId xmlns:a16="http://schemas.microsoft.com/office/drawing/2014/main" id="{73C4F982-4808-A41D-246A-E92A17C79E1D}"/>
              </a:ext>
            </a:extLst>
          </p:cNvPr>
          <p:cNvSpPr/>
          <p:nvPr/>
        </p:nvSpPr>
        <p:spPr>
          <a:xfrm>
            <a:off x="8460491" y="4769050"/>
            <a:ext cx="943205" cy="34562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Sens : Des activités sans le poids du sens</a:t>
            </a:r>
          </a:p>
        </p:txBody>
      </p:sp>
      <p:sp>
        <p:nvSpPr>
          <p:cNvPr id="55" name="Rectangle 54">
            <a:extLst>
              <a:ext uri="{FF2B5EF4-FFF2-40B4-BE49-F238E27FC236}">
                <a16:creationId xmlns:a16="http://schemas.microsoft.com/office/drawing/2014/main" id="{9958A7F0-477D-F30D-4D1A-CD673A882418}"/>
              </a:ext>
            </a:extLst>
          </p:cNvPr>
          <p:cNvSpPr/>
          <p:nvPr/>
        </p:nvSpPr>
        <p:spPr>
          <a:xfrm>
            <a:off x="4050683" y="4696558"/>
            <a:ext cx="943205" cy="7567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Opinions : être rassuré par de la confirmation dans les opinions (ex : groupe de soutien…)</a:t>
            </a:r>
          </a:p>
        </p:txBody>
      </p:sp>
      <p:sp>
        <p:nvSpPr>
          <p:cNvPr id="56" name="Rectangle 55">
            <a:extLst>
              <a:ext uri="{FF2B5EF4-FFF2-40B4-BE49-F238E27FC236}">
                <a16:creationId xmlns:a16="http://schemas.microsoft.com/office/drawing/2014/main" id="{A80B681C-540F-D70E-3801-4E5509984D28}"/>
              </a:ext>
            </a:extLst>
          </p:cNvPr>
          <p:cNvSpPr/>
          <p:nvPr/>
        </p:nvSpPr>
        <p:spPr>
          <a:xfrm>
            <a:off x="7384558" y="6028884"/>
            <a:ext cx="943205" cy="68418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Opinions : être enrichi de l'opposition dans les opinions (ex: Activités débats)</a:t>
            </a:r>
          </a:p>
        </p:txBody>
      </p:sp>
      <p:sp>
        <p:nvSpPr>
          <p:cNvPr id="57" name="Rectangle 56">
            <a:extLst>
              <a:ext uri="{FF2B5EF4-FFF2-40B4-BE49-F238E27FC236}">
                <a16:creationId xmlns:a16="http://schemas.microsoft.com/office/drawing/2014/main" id="{C43C1023-AAFE-2805-0EA4-7EC5369C3655}"/>
              </a:ext>
            </a:extLst>
          </p:cNvPr>
          <p:cNvSpPr/>
          <p:nvPr/>
        </p:nvSpPr>
        <p:spPr>
          <a:xfrm>
            <a:off x="5202437" y="2906755"/>
            <a:ext cx="943205" cy="50412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⚙️Cadre : L'assurance d'un cadre clair, rigide et accordé</a:t>
            </a:r>
          </a:p>
        </p:txBody>
      </p:sp>
      <p:sp>
        <p:nvSpPr>
          <p:cNvPr id="58" name="Rectangle 57">
            <a:extLst>
              <a:ext uri="{FF2B5EF4-FFF2-40B4-BE49-F238E27FC236}">
                <a16:creationId xmlns:a16="http://schemas.microsoft.com/office/drawing/2014/main" id="{48AF18A9-6D4F-BBC8-7A3E-A67A81EC3019}"/>
              </a:ext>
            </a:extLst>
          </p:cNvPr>
          <p:cNvSpPr/>
          <p:nvPr/>
        </p:nvSpPr>
        <p:spPr>
          <a:xfrm>
            <a:off x="8463753" y="3600416"/>
            <a:ext cx="940099" cy="493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⚙️Cadre : Beaucoup de  liberté vis-à-vis du cadre</a:t>
            </a:r>
          </a:p>
        </p:txBody>
      </p:sp>
      <p:sp>
        <p:nvSpPr>
          <p:cNvPr id="59" name="Rectangle 58">
            <a:extLst>
              <a:ext uri="{FF2B5EF4-FFF2-40B4-BE49-F238E27FC236}">
                <a16:creationId xmlns:a16="http://schemas.microsoft.com/office/drawing/2014/main" id="{50EC3B1D-45ED-778A-FD92-CBAE257497E7}"/>
              </a:ext>
            </a:extLst>
          </p:cNvPr>
          <p:cNvSpPr/>
          <p:nvPr/>
        </p:nvSpPr>
        <p:spPr>
          <a:xfrm>
            <a:off x="758657" y="2369712"/>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⚙️Espérance de gains : Espoir ou opportunités de gains matériels ou financiers</a:t>
            </a:r>
          </a:p>
        </p:txBody>
      </p:sp>
      <p:sp>
        <p:nvSpPr>
          <p:cNvPr id="60" name="Rectangle 59">
            <a:extLst>
              <a:ext uri="{FF2B5EF4-FFF2-40B4-BE49-F238E27FC236}">
                <a16:creationId xmlns:a16="http://schemas.microsoft.com/office/drawing/2014/main" id="{CA8D4BE2-33F3-5B9D-B6E3-C78FB66D2010}"/>
              </a:ext>
            </a:extLst>
          </p:cNvPr>
          <p:cNvSpPr/>
          <p:nvPr/>
        </p:nvSpPr>
        <p:spPr>
          <a:xfrm>
            <a:off x="8463190" y="5774210"/>
            <a:ext cx="943205" cy="6123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⚙️Espérance de gains : Ne jamais  aborder les gains matériels et financiers</a:t>
            </a:r>
          </a:p>
        </p:txBody>
      </p:sp>
      <p:sp>
        <p:nvSpPr>
          <p:cNvPr id="61" name="Rectangle 60">
            <a:extLst>
              <a:ext uri="{FF2B5EF4-FFF2-40B4-BE49-F238E27FC236}">
                <a16:creationId xmlns:a16="http://schemas.microsoft.com/office/drawing/2014/main" id="{DC41B0F3-98DA-2655-6BB3-791BF35B98D6}"/>
              </a:ext>
            </a:extLst>
          </p:cNvPr>
          <p:cNvSpPr/>
          <p:nvPr/>
        </p:nvSpPr>
        <p:spPr>
          <a:xfrm>
            <a:off x="9532209" y="2916008"/>
            <a:ext cx="943205" cy="98479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⚙️Amplitude émotionnelle : Liberté de laisser exprimer certaines émotions à grande intensité</a:t>
            </a:r>
          </a:p>
        </p:txBody>
      </p:sp>
      <p:sp>
        <p:nvSpPr>
          <p:cNvPr id="63" name="Rectangle 62">
            <a:extLst>
              <a:ext uri="{FF2B5EF4-FFF2-40B4-BE49-F238E27FC236}">
                <a16:creationId xmlns:a16="http://schemas.microsoft.com/office/drawing/2014/main" id="{E545CAFF-E501-8DEA-09AC-C798B7152409}"/>
              </a:ext>
            </a:extLst>
          </p:cNvPr>
          <p:cNvSpPr/>
          <p:nvPr/>
        </p:nvSpPr>
        <p:spPr>
          <a:xfrm>
            <a:off x="2921348" y="4903822"/>
            <a:ext cx="943205" cy="73644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⚙️Amplitude émotionnelle : Liberté de ne pas recevoir certaines émotions à grande intensité</a:t>
            </a:r>
          </a:p>
        </p:txBody>
      </p:sp>
      <p:sp>
        <p:nvSpPr>
          <p:cNvPr id="64" name="Rectangle 63">
            <a:extLst>
              <a:ext uri="{FF2B5EF4-FFF2-40B4-BE49-F238E27FC236}">
                <a16:creationId xmlns:a16="http://schemas.microsoft.com/office/drawing/2014/main" id="{32B8AA07-FA56-4BDF-38BC-B5819B006D53}"/>
              </a:ext>
            </a:extLst>
          </p:cNvPr>
          <p:cNvSpPr/>
          <p:nvPr/>
        </p:nvSpPr>
        <p:spPr>
          <a:xfrm>
            <a:off x="6290491" y="2774382"/>
            <a:ext cx="943205" cy="98608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Positivité du rôle : Pouvoir prendre le rôle de quelqu’un qui aide, contribue, donne, a un impact positif sur les autres</a:t>
            </a:r>
          </a:p>
        </p:txBody>
      </p:sp>
      <p:sp>
        <p:nvSpPr>
          <p:cNvPr id="76" name="Rectangle 75">
            <a:extLst>
              <a:ext uri="{FF2B5EF4-FFF2-40B4-BE49-F238E27FC236}">
                <a16:creationId xmlns:a16="http://schemas.microsoft.com/office/drawing/2014/main" id="{3E760BAC-DD5D-77C0-24C9-646E769313CB}"/>
              </a:ext>
            </a:extLst>
          </p:cNvPr>
          <p:cNvSpPr/>
          <p:nvPr/>
        </p:nvSpPr>
        <p:spPr>
          <a:xfrm>
            <a:off x="1836571" y="3858968"/>
            <a:ext cx="943205" cy="116603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Positivité du rôle : Ne pas avoir le rôle de quelqu’un qui aide, qui ose prendre aux autres, a un impact négatif (sauf pour soi)</a:t>
            </a:r>
          </a:p>
        </p:txBody>
      </p:sp>
    </p:spTree>
    <p:extLst>
      <p:ext uri="{BB962C8B-B14F-4D97-AF65-F5344CB8AC3E}">
        <p14:creationId xmlns:p14="http://schemas.microsoft.com/office/powerpoint/2010/main" val="1507977666"/>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38200" y="365125"/>
            <a:ext cx="10515600" cy="972139"/>
          </a:xfrm>
        </p:spPr>
        <p:txBody>
          <a:bodyPr>
            <a:normAutofit fontScale="90000"/>
          </a:bodyPr>
          <a:lstStyle/>
          <a:p>
            <a:pPr algn="ctr"/>
            <a:r>
              <a:rPr lang="fr-FR" dirty="0"/>
              <a:t>Formuler la valeur : </a:t>
            </a:r>
            <a:br>
              <a:rPr lang="fr-FR" dirty="0"/>
            </a:br>
            <a:r>
              <a:rPr lang="fr-FR" dirty="0"/>
              <a:t>Les bases d’un </a:t>
            </a:r>
            <a:r>
              <a:rPr lang="fr-FR" dirty="0">
                <a:solidFill>
                  <a:srgbClr val="3494BA"/>
                </a:solidFill>
              </a:rPr>
              <a:t>accord multi-parties</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9648" y="1508115"/>
            <a:ext cx="1722120" cy="1722120"/>
          </a:xfrm>
          <a:prstGeom prst="rect">
            <a:avLst/>
          </a:prstGeom>
        </p:spPr>
      </p:pic>
      <p:grpSp>
        <p:nvGrpSpPr>
          <p:cNvPr id="6" name="Groupe 5">
            <a:extLst>
              <a:ext uri="{FF2B5EF4-FFF2-40B4-BE49-F238E27FC236}">
                <a16:creationId xmlns:a16="http://schemas.microsoft.com/office/drawing/2014/main" id="{7476B3F7-0E49-6E93-93F4-2CCC981FDD10}"/>
              </a:ext>
            </a:extLst>
          </p:cNvPr>
          <p:cNvGrpSpPr/>
          <p:nvPr/>
        </p:nvGrpSpPr>
        <p:grpSpPr>
          <a:xfrm>
            <a:off x="1673791" y="1733858"/>
            <a:ext cx="1507135" cy="1270634"/>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85601AF8-2B04-4E1B-777C-E4413355E47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3E913BB0-FF45-71E9-FA50-B619CC080BD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52716CDC-FB48-B5C6-CF66-93C81E6EDE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23F83B7B-C6FA-2ED2-8553-6F6F0C6131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5D1AB12-E11E-33B6-F232-60FD45CD3A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179153A9-C2D4-FEE9-F6C5-81D0FAA9EA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2294F9BC-F46F-719B-195C-8E1B7051453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031A82AD-99E7-73E7-E1D8-670CE8EEC70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76053F00-0709-53DD-642A-0F70CA86F80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7EA7E823-16A3-8130-20D7-959E93468B4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91FD713F-1A16-30AC-B049-C388F6E8690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26" name="Titre 1">
            <a:extLst>
              <a:ext uri="{FF2B5EF4-FFF2-40B4-BE49-F238E27FC236}">
                <a16:creationId xmlns:a16="http://schemas.microsoft.com/office/drawing/2014/main" id="{D15593DD-8CE1-2ECC-2B5D-DB98437039FD}"/>
              </a:ext>
            </a:extLst>
          </p:cNvPr>
          <p:cNvSpPr txBox="1">
            <a:spLocks/>
          </p:cNvSpPr>
          <p:nvPr/>
        </p:nvSpPr>
        <p:spPr>
          <a:xfrm>
            <a:off x="8743885" y="3070009"/>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t>Entreprise (Institution)</a:t>
            </a:r>
          </a:p>
        </p:txBody>
      </p:sp>
      <p:sp>
        <p:nvSpPr>
          <p:cNvPr id="28" name="Titre 1">
            <a:extLst>
              <a:ext uri="{FF2B5EF4-FFF2-40B4-BE49-F238E27FC236}">
                <a16:creationId xmlns:a16="http://schemas.microsoft.com/office/drawing/2014/main" id="{2B5D222E-E2F2-535F-3F4A-2D35E291BBC5}"/>
              </a:ext>
            </a:extLst>
          </p:cNvPr>
          <p:cNvSpPr txBox="1">
            <a:spLocks/>
          </p:cNvSpPr>
          <p:nvPr/>
        </p:nvSpPr>
        <p:spPr>
          <a:xfrm>
            <a:off x="1618427" y="2920397"/>
            <a:ext cx="1537788" cy="329176"/>
          </a:xfrm>
          <a:prstGeom prst="rect">
            <a:avLst/>
          </a:prstGeom>
        </p:spPr>
        <p:txBody>
          <a:bodyPr vert="horz" lIns="91440" tIns="45720" rIns="91440" bIns="45720" rtlCol="0" anchor="ctr">
            <a:normAutofit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rgbClr val="ED7D31"/>
                </a:solidFill>
              </a:rPr>
              <a:t>Membres</a:t>
            </a:r>
          </a:p>
        </p:txBody>
      </p:sp>
      <p:sp>
        <p:nvSpPr>
          <p:cNvPr id="95" name="Flèche : droite 94">
            <a:extLst>
              <a:ext uri="{FF2B5EF4-FFF2-40B4-BE49-F238E27FC236}">
                <a16:creationId xmlns:a16="http://schemas.microsoft.com/office/drawing/2014/main" id="{E4528571-20B7-D4C9-14F8-1948808D3577}"/>
              </a:ext>
            </a:extLst>
          </p:cNvPr>
          <p:cNvSpPr/>
          <p:nvPr/>
        </p:nvSpPr>
        <p:spPr>
          <a:xfrm rot="19508911" flipH="1">
            <a:off x="3647794" y="4945226"/>
            <a:ext cx="1189456" cy="623864"/>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3</a:t>
            </a:r>
          </a:p>
        </p:txBody>
      </p:sp>
      <p:sp>
        <p:nvSpPr>
          <p:cNvPr id="96" name="Flèche : gauche 95">
            <a:extLst>
              <a:ext uri="{FF2B5EF4-FFF2-40B4-BE49-F238E27FC236}">
                <a16:creationId xmlns:a16="http://schemas.microsoft.com/office/drawing/2014/main" id="{193DE573-A714-FF47-E3C4-3D16089543C7}"/>
              </a:ext>
            </a:extLst>
          </p:cNvPr>
          <p:cNvSpPr/>
          <p:nvPr/>
        </p:nvSpPr>
        <p:spPr>
          <a:xfrm rot="1525700" flipH="1">
            <a:off x="7393126" y="4896634"/>
            <a:ext cx="1189456" cy="623864"/>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4</a:t>
            </a:r>
          </a:p>
        </p:txBody>
      </p:sp>
      <p:grpSp>
        <p:nvGrpSpPr>
          <p:cNvPr id="75" name="Groupe 74">
            <a:extLst>
              <a:ext uri="{FF2B5EF4-FFF2-40B4-BE49-F238E27FC236}">
                <a16:creationId xmlns:a16="http://schemas.microsoft.com/office/drawing/2014/main" id="{0CC4C500-4568-D1B9-FB28-17D9205CB316}"/>
              </a:ext>
            </a:extLst>
          </p:cNvPr>
          <p:cNvGrpSpPr/>
          <p:nvPr/>
        </p:nvGrpSpPr>
        <p:grpSpPr>
          <a:xfrm>
            <a:off x="4446633" y="3167745"/>
            <a:ext cx="3271127" cy="1531110"/>
            <a:chOff x="463550" y="1420160"/>
            <a:chExt cx="11264900" cy="5272740"/>
          </a:xfrm>
        </p:grpSpPr>
        <p:sp>
          <p:nvSpPr>
            <p:cNvPr id="81" name="Trapèze 80">
              <a:extLst>
                <a:ext uri="{FF2B5EF4-FFF2-40B4-BE49-F238E27FC236}">
                  <a16:creationId xmlns:a16="http://schemas.microsoft.com/office/drawing/2014/main" id="{582D835A-CD7F-9A8B-B043-8166976DEB33}"/>
                </a:ext>
              </a:extLst>
            </p:cNvPr>
            <p:cNvSpPr/>
            <p:nvPr/>
          </p:nvSpPr>
          <p:spPr>
            <a:xfrm>
              <a:off x="463550" y="5080000"/>
              <a:ext cx="11264900" cy="1612900"/>
            </a:xfrm>
            <a:prstGeom prst="trapezoid">
              <a:avLst>
                <a:gd name="adj" fmla="val 6358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t>CAUSE</a:t>
              </a:r>
            </a:p>
          </p:txBody>
        </p:sp>
        <p:sp>
          <p:nvSpPr>
            <p:cNvPr id="82" name="Triangle isocèle 81">
              <a:extLst>
                <a:ext uri="{FF2B5EF4-FFF2-40B4-BE49-F238E27FC236}">
                  <a16:creationId xmlns:a16="http://schemas.microsoft.com/office/drawing/2014/main" id="{88A70953-9D98-3AC7-0739-C3C94E12F867}"/>
                </a:ext>
              </a:extLst>
            </p:cNvPr>
            <p:cNvSpPr/>
            <p:nvPr/>
          </p:nvSpPr>
          <p:spPr>
            <a:xfrm>
              <a:off x="2800350" y="1420160"/>
              <a:ext cx="6553200" cy="1529080"/>
            </a:xfrm>
            <a:prstGeom prst="triangle">
              <a:avLst>
                <a:gd name="adj" fmla="val 5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t>GRAND BUT</a:t>
              </a:r>
            </a:p>
            <a:p>
              <a:pPr algn="ctr"/>
              <a:endParaRPr lang="en-US" sz="800" dirty="0"/>
            </a:p>
            <a:p>
              <a:pPr algn="ctr"/>
              <a:endParaRPr lang="en-US" sz="800" dirty="0"/>
            </a:p>
          </p:txBody>
        </p:sp>
        <p:grpSp>
          <p:nvGrpSpPr>
            <p:cNvPr id="83" name="Groupe 82">
              <a:extLst>
                <a:ext uri="{FF2B5EF4-FFF2-40B4-BE49-F238E27FC236}">
                  <a16:creationId xmlns:a16="http://schemas.microsoft.com/office/drawing/2014/main" id="{1EB328A5-BA6B-A500-4B14-B6FF7CE9149D}"/>
                </a:ext>
              </a:extLst>
            </p:cNvPr>
            <p:cNvGrpSpPr/>
            <p:nvPr/>
          </p:nvGrpSpPr>
          <p:grpSpPr>
            <a:xfrm>
              <a:off x="1527175" y="3040767"/>
              <a:ext cx="9137650" cy="1969383"/>
              <a:chOff x="1644650" y="3040767"/>
              <a:chExt cx="9137650" cy="1907219"/>
            </a:xfrm>
          </p:grpSpPr>
          <p:sp>
            <p:nvSpPr>
              <p:cNvPr id="98" name="Trapèze 97">
                <a:extLst>
                  <a:ext uri="{FF2B5EF4-FFF2-40B4-BE49-F238E27FC236}">
                    <a16:creationId xmlns:a16="http://schemas.microsoft.com/office/drawing/2014/main" id="{BEEB7120-8AB2-75D2-486D-F9CBC6E807A7}"/>
                  </a:ext>
                </a:extLst>
              </p:cNvPr>
              <p:cNvSpPr/>
              <p:nvPr/>
            </p:nvSpPr>
            <p:spPr>
              <a:xfrm>
                <a:off x="1644650"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500" b="1" dirty="0"/>
                  <a:t>MAUVAIS SOUVENIRS</a:t>
                </a:r>
                <a:endParaRPr lang="en-US" sz="500" dirty="0"/>
              </a:p>
            </p:txBody>
          </p:sp>
          <p:sp>
            <p:nvSpPr>
              <p:cNvPr id="99" name="Trapèze 98">
                <a:extLst>
                  <a:ext uri="{FF2B5EF4-FFF2-40B4-BE49-F238E27FC236}">
                    <a16:creationId xmlns:a16="http://schemas.microsoft.com/office/drawing/2014/main" id="{6E33CEF3-7905-602C-5C11-1810E6C89E6E}"/>
                  </a:ext>
                </a:extLst>
              </p:cNvPr>
              <p:cNvSpPr/>
              <p:nvPr/>
            </p:nvSpPr>
            <p:spPr>
              <a:xfrm>
                <a:off x="2314030"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500" b="1" dirty="0"/>
                  <a:t>MAUVAISES HISTOIRES</a:t>
                </a:r>
              </a:p>
            </p:txBody>
          </p:sp>
          <p:sp>
            <p:nvSpPr>
              <p:cNvPr id="100" name="Trapèze 99">
                <a:extLst>
                  <a:ext uri="{FF2B5EF4-FFF2-40B4-BE49-F238E27FC236}">
                    <a16:creationId xmlns:a16="http://schemas.microsoft.com/office/drawing/2014/main" id="{AE770836-E6EB-F302-6259-C63C42CB6AED}"/>
                  </a:ext>
                </a:extLst>
              </p:cNvPr>
              <p:cNvSpPr/>
              <p:nvPr/>
            </p:nvSpPr>
            <p:spPr>
              <a:xfrm>
                <a:off x="6261747"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500" b="1" dirty="0"/>
                  <a:t>BONS SOUVENIRS</a:t>
                </a:r>
                <a:endParaRPr lang="en-US" sz="500" dirty="0"/>
              </a:p>
            </p:txBody>
          </p:sp>
          <p:sp>
            <p:nvSpPr>
              <p:cNvPr id="101" name="Trapèze 100">
                <a:extLst>
                  <a:ext uri="{FF2B5EF4-FFF2-40B4-BE49-F238E27FC236}">
                    <a16:creationId xmlns:a16="http://schemas.microsoft.com/office/drawing/2014/main" id="{F9209475-2183-8A7F-7042-793A977900CA}"/>
                  </a:ext>
                </a:extLst>
              </p:cNvPr>
              <p:cNvSpPr/>
              <p:nvPr/>
            </p:nvSpPr>
            <p:spPr>
              <a:xfrm>
                <a:off x="6927306"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500" b="1" dirty="0"/>
                  <a:t>HISTOIRES IDÉALES</a:t>
                </a:r>
              </a:p>
            </p:txBody>
          </p:sp>
        </p:grpSp>
        <p:sp>
          <p:nvSpPr>
            <p:cNvPr id="84" name="Triangle isocèle 83">
              <a:extLst>
                <a:ext uri="{FF2B5EF4-FFF2-40B4-BE49-F238E27FC236}">
                  <a16:creationId xmlns:a16="http://schemas.microsoft.com/office/drawing/2014/main" id="{11AEB01A-14A8-0C9A-1FD5-84D37935B3BE}"/>
                </a:ext>
              </a:extLst>
            </p:cNvPr>
            <p:cNvSpPr/>
            <p:nvPr/>
          </p:nvSpPr>
          <p:spPr>
            <a:xfrm rot="10800000">
              <a:off x="4952497" y="3040768"/>
              <a:ext cx="2287008" cy="1795683"/>
            </a:xfrm>
            <a:prstGeom prst="triangl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85" name="ZoneTexte 84">
              <a:extLst>
                <a:ext uri="{FF2B5EF4-FFF2-40B4-BE49-F238E27FC236}">
                  <a16:creationId xmlns:a16="http://schemas.microsoft.com/office/drawing/2014/main" id="{6CBC95EA-F8D8-494C-1019-7E1176DC3AC4}"/>
                </a:ext>
              </a:extLst>
            </p:cNvPr>
            <p:cNvSpPr txBox="1"/>
            <p:nvPr/>
          </p:nvSpPr>
          <p:spPr>
            <a:xfrm>
              <a:off x="4952499" y="3044171"/>
              <a:ext cx="2287010" cy="635941"/>
            </a:xfrm>
            <a:prstGeom prst="rect">
              <a:avLst/>
            </a:prstGeom>
            <a:noFill/>
          </p:spPr>
          <p:txBody>
            <a:bodyPr wrap="square">
              <a:spAutoFit/>
            </a:bodyPr>
            <a:lstStyle/>
            <a:p>
              <a:pPr algn="ctr"/>
              <a:r>
                <a:rPr lang="en-US" sz="600" b="1" dirty="0"/>
                <a:t>CONDITIONS</a:t>
              </a:r>
            </a:p>
          </p:txBody>
        </p:sp>
      </p:grpSp>
    </p:spTree>
    <p:extLst>
      <p:ext uri="{BB962C8B-B14F-4D97-AF65-F5344CB8AC3E}">
        <p14:creationId xmlns:p14="http://schemas.microsoft.com/office/powerpoint/2010/main" val="1928389839"/>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B27E581-B7DC-4DA0-8DF5-B524E555247E}"/>
              </a:ext>
            </a:extLst>
          </p:cNvPr>
          <p:cNvSpPr>
            <a:spLocks noGrp="1"/>
          </p:cNvSpPr>
          <p:nvPr>
            <p:ph type="title"/>
          </p:nvPr>
        </p:nvSpPr>
        <p:spPr/>
        <p:txBody>
          <a:bodyPr>
            <a:normAutofit/>
          </a:bodyPr>
          <a:lstStyle/>
          <a:p>
            <a:r>
              <a:rPr lang="fr-FR" sz="4000" dirty="0"/>
              <a:t>Formulation NARRATIVE de la valeur</a:t>
            </a:r>
            <a:br>
              <a:rPr lang="fr-FR" sz="4000" dirty="0"/>
            </a:br>
            <a:r>
              <a:rPr lang="fr-FR" sz="4000" dirty="0"/>
              <a:t>Pyramide de la raison d’être de la communauté</a:t>
            </a:r>
            <a:endParaRPr lang="en-US" sz="4000" dirty="0"/>
          </a:p>
        </p:txBody>
      </p:sp>
      <p:sp>
        <p:nvSpPr>
          <p:cNvPr id="3" name="Espace réservé du contenu 2">
            <a:extLst>
              <a:ext uri="{FF2B5EF4-FFF2-40B4-BE49-F238E27FC236}">
                <a16:creationId xmlns:a16="http://schemas.microsoft.com/office/drawing/2014/main" id="{BE747FA3-6359-4721-BDFD-62B7689EFABA}"/>
              </a:ext>
            </a:extLst>
          </p:cNvPr>
          <p:cNvSpPr>
            <a:spLocks noGrp="1"/>
          </p:cNvSpPr>
          <p:nvPr>
            <p:ph idx="1"/>
          </p:nvPr>
        </p:nvSpPr>
        <p:spPr>
          <a:xfrm>
            <a:off x="838200" y="1825624"/>
            <a:ext cx="4431458" cy="5032375"/>
          </a:xfrm>
        </p:spPr>
        <p:txBody>
          <a:bodyPr>
            <a:normAutofit fontScale="85000" lnSpcReduction="20000"/>
          </a:bodyPr>
          <a:lstStyle/>
          <a:p>
            <a:r>
              <a:rPr lang="fr-FR" sz="1800" dirty="0"/>
              <a:t>Un objectif qui peut être lié à une </a:t>
            </a:r>
            <a:r>
              <a:rPr lang="fr-FR" sz="1800" b="1" dirty="0">
                <a:solidFill>
                  <a:srgbClr val="0070C0"/>
                </a:solidFill>
              </a:rPr>
              <a:t>cause</a:t>
            </a:r>
            <a:r>
              <a:rPr lang="fr-FR" sz="1800" dirty="0"/>
              <a:t> est plus susceptible de susciter l'intérêt à grande échelle car il est facilement compréhensible et racontable.</a:t>
            </a:r>
          </a:p>
          <a:p>
            <a:r>
              <a:rPr lang="fr-FR" sz="1800" dirty="0"/>
              <a:t>Un objectif qui peut être </a:t>
            </a:r>
            <a:r>
              <a:rPr lang="fr-FR" sz="1800" b="1" dirty="0">
                <a:solidFill>
                  <a:srgbClr val="0070C0"/>
                </a:solidFill>
              </a:rPr>
              <a:t>lié à des situations passées et existantes</a:t>
            </a:r>
            <a:r>
              <a:rPr lang="fr-FR" sz="1800" dirty="0"/>
              <a:t> est plus susceptible de susciter l'intérêt et d'offrir des exemples concrets.</a:t>
            </a:r>
          </a:p>
          <a:p>
            <a:r>
              <a:rPr lang="fr-FR" sz="1800" dirty="0"/>
              <a:t>Un objectif lié à des </a:t>
            </a:r>
            <a:r>
              <a:rPr lang="fr-FR" sz="1800" b="1" dirty="0">
                <a:solidFill>
                  <a:srgbClr val="ED7D31"/>
                </a:solidFill>
              </a:rPr>
              <a:t>situations fictives </a:t>
            </a:r>
            <a:r>
              <a:rPr lang="fr-FR" sz="1800" dirty="0"/>
              <a:t>est plus susceptible de faire appel à la créativité et à l'imagination.</a:t>
            </a:r>
          </a:p>
          <a:p>
            <a:r>
              <a:rPr lang="fr-FR" sz="1800" dirty="0"/>
              <a:t>Un objectif avec </a:t>
            </a:r>
            <a:r>
              <a:rPr lang="fr-FR" sz="1800" b="1" dirty="0">
                <a:solidFill>
                  <a:srgbClr val="ED7D31"/>
                </a:solidFill>
              </a:rPr>
              <a:t>un grand but mesurable </a:t>
            </a:r>
            <a:r>
              <a:rPr lang="fr-FR" sz="1800" dirty="0"/>
              <a:t>(doit être simple, mesurable) est plus susceptible d'engager à long terme, en montrant une progression qui peut endurer des crises de sens.</a:t>
            </a:r>
          </a:p>
          <a:p>
            <a:r>
              <a:rPr lang="fr-FR" sz="1800" b="1" dirty="0"/>
              <a:t>Les conditions</a:t>
            </a:r>
            <a:r>
              <a:rPr lang="fr-FR" sz="1800" dirty="0"/>
              <a:t>, même si elles ne sont pas liées au but lui-même, peuvent être importantes pour certaines communautés. Elles aident les membres à maintenir la continuité de leur identité (effet positif sur le long terme) et peuvent aider à définir les limites d'une approche "par tous les moyens nécessaires". Les valeurs qui ne se reflètent pas dans la cause ou l'objectif se reflètent souvent dans les conditions.</a:t>
            </a:r>
          </a:p>
          <a:p>
            <a:r>
              <a:rPr lang="fr-FR" sz="1800" dirty="0"/>
              <a:t>La combinaison de tous ces éléments permet de rendre </a:t>
            </a:r>
            <a:r>
              <a:rPr lang="fr-FR" sz="1800" b="1" dirty="0">
                <a:solidFill>
                  <a:srgbClr val="ED7D31"/>
                </a:solidFill>
              </a:rPr>
              <a:t>l'objectif cohérent, plus facile à partager et à maintenir.</a:t>
            </a:r>
            <a:endParaRPr lang="en-US" sz="1800" b="1" dirty="0">
              <a:solidFill>
                <a:srgbClr val="ED7D31"/>
              </a:solidFill>
            </a:endParaRPr>
          </a:p>
        </p:txBody>
      </p:sp>
      <p:grpSp>
        <p:nvGrpSpPr>
          <p:cNvPr id="4" name="Groupe 3">
            <a:extLst>
              <a:ext uri="{FF2B5EF4-FFF2-40B4-BE49-F238E27FC236}">
                <a16:creationId xmlns:a16="http://schemas.microsoft.com/office/drawing/2014/main" id="{E79764DF-D8D2-49F0-9CAD-6CA6B4F19715}"/>
              </a:ext>
            </a:extLst>
          </p:cNvPr>
          <p:cNvGrpSpPr/>
          <p:nvPr/>
        </p:nvGrpSpPr>
        <p:grpSpPr>
          <a:xfrm>
            <a:off x="5269658" y="1978025"/>
            <a:ext cx="6600055" cy="3089275"/>
            <a:chOff x="463550" y="1420160"/>
            <a:chExt cx="11264900" cy="5272740"/>
          </a:xfrm>
        </p:grpSpPr>
        <p:sp>
          <p:nvSpPr>
            <p:cNvPr id="5" name="Trapèze 4">
              <a:extLst>
                <a:ext uri="{FF2B5EF4-FFF2-40B4-BE49-F238E27FC236}">
                  <a16:creationId xmlns:a16="http://schemas.microsoft.com/office/drawing/2014/main" id="{2A9B9D3A-4FEF-4E18-BB40-0CCC15C1AE3C}"/>
                </a:ext>
              </a:extLst>
            </p:cNvPr>
            <p:cNvSpPr/>
            <p:nvPr/>
          </p:nvSpPr>
          <p:spPr>
            <a:xfrm>
              <a:off x="463550" y="5080000"/>
              <a:ext cx="11264900" cy="1612900"/>
            </a:xfrm>
            <a:prstGeom prst="trapezoid">
              <a:avLst>
                <a:gd name="adj" fmla="val 6358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CAUSE</a:t>
              </a:r>
            </a:p>
          </p:txBody>
        </p:sp>
        <p:sp>
          <p:nvSpPr>
            <p:cNvPr id="6" name="Triangle isocèle 5">
              <a:extLst>
                <a:ext uri="{FF2B5EF4-FFF2-40B4-BE49-F238E27FC236}">
                  <a16:creationId xmlns:a16="http://schemas.microsoft.com/office/drawing/2014/main" id="{EBC15E9F-C3B4-4B3E-AC3A-12D333D8F354}"/>
                </a:ext>
              </a:extLst>
            </p:cNvPr>
            <p:cNvSpPr/>
            <p:nvPr/>
          </p:nvSpPr>
          <p:spPr>
            <a:xfrm>
              <a:off x="2800350" y="1420160"/>
              <a:ext cx="6553200" cy="1529080"/>
            </a:xfrm>
            <a:prstGeom prst="triangle">
              <a:avLst>
                <a:gd name="adj" fmla="val 5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GRAND BUT</a:t>
              </a:r>
            </a:p>
            <a:p>
              <a:pPr algn="ctr"/>
              <a:endParaRPr lang="en-US" dirty="0"/>
            </a:p>
            <a:p>
              <a:pPr algn="ctr"/>
              <a:endParaRPr lang="en-US" dirty="0"/>
            </a:p>
          </p:txBody>
        </p:sp>
        <p:grpSp>
          <p:nvGrpSpPr>
            <p:cNvPr id="7" name="Groupe 6">
              <a:extLst>
                <a:ext uri="{FF2B5EF4-FFF2-40B4-BE49-F238E27FC236}">
                  <a16:creationId xmlns:a16="http://schemas.microsoft.com/office/drawing/2014/main" id="{106386FC-02C0-46B1-9DED-937EBD45862E}"/>
                </a:ext>
              </a:extLst>
            </p:cNvPr>
            <p:cNvGrpSpPr/>
            <p:nvPr/>
          </p:nvGrpSpPr>
          <p:grpSpPr>
            <a:xfrm>
              <a:off x="1527175" y="3040767"/>
              <a:ext cx="9137650" cy="1969383"/>
              <a:chOff x="1644650" y="3040767"/>
              <a:chExt cx="9137650" cy="1907219"/>
            </a:xfrm>
          </p:grpSpPr>
          <p:sp>
            <p:nvSpPr>
              <p:cNvPr id="10" name="Trapèze 9">
                <a:extLst>
                  <a:ext uri="{FF2B5EF4-FFF2-40B4-BE49-F238E27FC236}">
                    <a16:creationId xmlns:a16="http://schemas.microsoft.com/office/drawing/2014/main" id="{695F4170-66C7-443B-B47D-6E9790727F84}"/>
                  </a:ext>
                </a:extLst>
              </p:cNvPr>
              <p:cNvSpPr/>
              <p:nvPr/>
            </p:nvSpPr>
            <p:spPr>
              <a:xfrm>
                <a:off x="1644650"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200" b="1" dirty="0"/>
                  <a:t>MAUVAIS SOUVENIRS</a:t>
                </a:r>
                <a:endParaRPr lang="en-US" sz="1200" dirty="0"/>
              </a:p>
            </p:txBody>
          </p:sp>
          <p:sp>
            <p:nvSpPr>
              <p:cNvPr id="11" name="Trapèze 10">
                <a:extLst>
                  <a:ext uri="{FF2B5EF4-FFF2-40B4-BE49-F238E27FC236}">
                    <a16:creationId xmlns:a16="http://schemas.microsoft.com/office/drawing/2014/main" id="{4A2476DE-003C-4786-BB78-2FC21BFFC572}"/>
                  </a:ext>
                </a:extLst>
              </p:cNvPr>
              <p:cNvSpPr/>
              <p:nvPr/>
            </p:nvSpPr>
            <p:spPr>
              <a:xfrm>
                <a:off x="2314030"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200" b="1" dirty="0"/>
                  <a:t>MAUVAISES HISTOIRES</a:t>
                </a:r>
              </a:p>
            </p:txBody>
          </p:sp>
          <p:sp>
            <p:nvSpPr>
              <p:cNvPr id="12" name="Trapèze 11">
                <a:extLst>
                  <a:ext uri="{FF2B5EF4-FFF2-40B4-BE49-F238E27FC236}">
                    <a16:creationId xmlns:a16="http://schemas.microsoft.com/office/drawing/2014/main" id="{8E935927-DF05-413B-9159-8687B0F31A10}"/>
                  </a:ext>
                </a:extLst>
              </p:cNvPr>
              <p:cNvSpPr/>
              <p:nvPr/>
            </p:nvSpPr>
            <p:spPr>
              <a:xfrm>
                <a:off x="6261747"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200" b="1" dirty="0"/>
                  <a:t>BONS SOUVENIRS</a:t>
                </a:r>
                <a:endParaRPr lang="en-US" sz="1200" dirty="0"/>
              </a:p>
            </p:txBody>
          </p:sp>
          <p:sp>
            <p:nvSpPr>
              <p:cNvPr id="13" name="Trapèze 12">
                <a:extLst>
                  <a:ext uri="{FF2B5EF4-FFF2-40B4-BE49-F238E27FC236}">
                    <a16:creationId xmlns:a16="http://schemas.microsoft.com/office/drawing/2014/main" id="{BEB05664-B4AE-4F7A-8FEA-F9FFED8F31FB}"/>
                  </a:ext>
                </a:extLst>
              </p:cNvPr>
              <p:cNvSpPr/>
              <p:nvPr/>
            </p:nvSpPr>
            <p:spPr>
              <a:xfrm>
                <a:off x="6927306"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200" b="1" dirty="0"/>
                  <a:t>HISTOIRES IDÉALES</a:t>
                </a:r>
              </a:p>
            </p:txBody>
          </p:sp>
        </p:grpSp>
        <p:sp>
          <p:nvSpPr>
            <p:cNvPr id="8" name="Triangle isocèle 7">
              <a:extLst>
                <a:ext uri="{FF2B5EF4-FFF2-40B4-BE49-F238E27FC236}">
                  <a16:creationId xmlns:a16="http://schemas.microsoft.com/office/drawing/2014/main" id="{849A6BA4-E164-44B7-BA5C-B2A97E52B334}"/>
                </a:ext>
              </a:extLst>
            </p:cNvPr>
            <p:cNvSpPr/>
            <p:nvPr/>
          </p:nvSpPr>
          <p:spPr>
            <a:xfrm rot="10800000">
              <a:off x="4952497" y="3040768"/>
              <a:ext cx="2287008" cy="1795683"/>
            </a:xfrm>
            <a:prstGeom prst="triangl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ZoneTexte 8">
              <a:extLst>
                <a:ext uri="{FF2B5EF4-FFF2-40B4-BE49-F238E27FC236}">
                  <a16:creationId xmlns:a16="http://schemas.microsoft.com/office/drawing/2014/main" id="{CF4E118F-233F-41A2-9D1E-FC55EC7BD249}"/>
                </a:ext>
              </a:extLst>
            </p:cNvPr>
            <p:cNvSpPr txBox="1"/>
            <p:nvPr/>
          </p:nvSpPr>
          <p:spPr>
            <a:xfrm>
              <a:off x="4952497" y="3044170"/>
              <a:ext cx="2287008" cy="525310"/>
            </a:xfrm>
            <a:prstGeom prst="rect">
              <a:avLst/>
            </a:prstGeom>
            <a:noFill/>
          </p:spPr>
          <p:txBody>
            <a:bodyPr wrap="square">
              <a:spAutoFit/>
            </a:bodyPr>
            <a:lstStyle/>
            <a:p>
              <a:pPr algn="ctr"/>
              <a:r>
                <a:rPr lang="en-US" sz="1400" b="1" dirty="0"/>
                <a:t>CONDITIONS</a:t>
              </a:r>
            </a:p>
          </p:txBody>
        </p:sp>
      </p:grpSp>
    </p:spTree>
    <p:extLst>
      <p:ext uri="{BB962C8B-B14F-4D97-AF65-F5344CB8AC3E}">
        <p14:creationId xmlns:p14="http://schemas.microsoft.com/office/powerpoint/2010/main" val="2722699867"/>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AB40900-59F3-4B76-9D7B-14F8489569E4}"/>
              </a:ext>
            </a:extLst>
          </p:cNvPr>
          <p:cNvSpPr>
            <a:spLocks noGrp="1"/>
          </p:cNvSpPr>
          <p:nvPr>
            <p:ph type="title"/>
          </p:nvPr>
        </p:nvSpPr>
        <p:spPr>
          <a:xfrm>
            <a:off x="419099" y="365125"/>
            <a:ext cx="11772901" cy="811486"/>
          </a:xfrm>
        </p:spPr>
        <p:txBody>
          <a:bodyPr>
            <a:noAutofit/>
          </a:bodyPr>
          <a:lstStyle/>
          <a:p>
            <a:r>
              <a:rPr lang="fr-FR" sz="3600" dirty="0"/>
              <a:t>Formulation NARRATIVE de la valeur</a:t>
            </a:r>
            <a:br>
              <a:rPr lang="fr-FR" sz="3600" dirty="0"/>
            </a:br>
            <a:r>
              <a:rPr lang="fr-FR" sz="3600" dirty="0"/>
              <a:t>Pyramide de la raison d’être de la communauté</a:t>
            </a:r>
          </a:p>
        </p:txBody>
      </p:sp>
      <p:grpSp>
        <p:nvGrpSpPr>
          <p:cNvPr id="22" name="Groupe 21">
            <a:extLst>
              <a:ext uri="{FF2B5EF4-FFF2-40B4-BE49-F238E27FC236}">
                <a16:creationId xmlns:a16="http://schemas.microsoft.com/office/drawing/2014/main" id="{4C6A6531-BC17-45C2-ACEE-E0D68875DE67}"/>
              </a:ext>
            </a:extLst>
          </p:cNvPr>
          <p:cNvGrpSpPr/>
          <p:nvPr/>
        </p:nvGrpSpPr>
        <p:grpSpPr>
          <a:xfrm>
            <a:off x="463550" y="1420160"/>
            <a:ext cx="11264900" cy="5272740"/>
            <a:chOff x="463550" y="1420160"/>
            <a:chExt cx="11264900" cy="5272740"/>
          </a:xfrm>
        </p:grpSpPr>
        <p:sp>
          <p:nvSpPr>
            <p:cNvPr id="5" name="Trapèze 4">
              <a:extLst>
                <a:ext uri="{FF2B5EF4-FFF2-40B4-BE49-F238E27FC236}">
                  <a16:creationId xmlns:a16="http://schemas.microsoft.com/office/drawing/2014/main" id="{4289C218-9240-42AD-9CE8-75EC7CE223E9}"/>
                </a:ext>
              </a:extLst>
            </p:cNvPr>
            <p:cNvSpPr/>
            <p:nvPr/>
          </p:nvSpPr>
          <p:spPr>
            <a:xfrm>
              <a:off x="463550" y="5080000"/>
              <a:ext cx="11264900" cy="1612900"/>
            </a:xfrm>
            <a:prstGeom prst="trapezoid">
              <a:avLst>
                <a:gd name="adj" fmla="val 6358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a:t>CAUSE</a:t>
              </a:r>
            </a:p>
            <a:p>
              <a:pPr algn="ctr"/>
              <a:endParaRPr lang="fr-FR" sz="1200"/>
            </a:p>
            <a:p>
              <a:pPr algn="ctr"/>
              <a:r>
                <a:rPr lang="fr-FR" sz="1200"/>
                <a:t>Description Générale de la motivation de la Communauté</a:t>
              </a:r>
            </a:p>
            <a:p>
              <a:pPr algn="ctr"/>
              <a:r>
                <a:rPr lang="fr-FR" sz="1200"/>
                <a:t>Etat du monde actuel</a:t>
              </a:r>
            </a:p>
            <a:p>
              <a:pPr algn="ctr"/>
              <a:r>
                <a:rPr lang="fr-FR" sz="1200"/>
                <a:t>Vue globale</a:t>
              </a:r>
            </a:p>
            <a:p>
              <a:pPr algn="ctr"/>
              <a:r>
                <a:rPr lang="fr-FR" sz="1200"/>
                <a:t>Mots clés</a:t>
              </a:r>
              <a:endParaRPr lang="fr-FR"/>
            </a:p>
          </p:txBody>
        </p:sp>
        <p:sp>
          <p:nvSpPr>
            <p:cNvPr id="10" name="Triangle isocèle 9">
              <a:extLst>
                <a:ext uri="{FF2B5EF4-FFF2-40B4-BE49-F238E27FC236}">
                  <a16:creationId xmlns:a16="http://schemas.microsoft.com/office/drawing/2014/main" id="{F44F215C-2BEC-4554-9D98-C4FD070183E7}"/>
                </a:ext>
              </a:extLst>
            </p:cNvPr>
            <p:cNvSpPr/>
            <p:nvPr/>
          </p:nvSpPr>
          <p:spPr>
            <a:xfrm>
              <a:off x="2800350" y="1420160"/>
              <a:ext cx="6553200" cy="1529080"/>
            </a:xfrm>
            <a:prstGeom prst="triangle">
              <a:avLst>
                <a:gd name="adj" fmla="val 5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a:t>GRAND BUT</a:t>
              </a:r>
            </a:p>
            <a:p>
              <a:pPr algn="ctr"/>
              <a:endParaRPr lang="fr-FR" sz="1400" b="1"/>
            </a:p>
            <a:p>
              <a:pPr algn="ctr"/>
              <a:r>
                <a:rPr lang="fr-FR" sz="1400"/>
                <a:t>Facilement comprehensible, mesurable, et rattachable facilement à des actions.</a:t>
              </a:r>
            </a:p>
            <a:p>
              <a:pPr algn="ctr"/>
              <a:endParaRPr lang="fr-FR" sz="1400"/>
            </a:p>
            <a:p>
              <a:pPr algn="ctr"/>
              <a:endParaRPr lang="fr-FR" sz="1400"/>
            </a:p>
            <a:p>
              <a:pPr algn="ctr"/>
              <a:endParaRPr lang="fr-FR" sz="1400"/>
            </a:p>
          </p:txBody>
        </p:sp>
        <p:grpSp>
          <p:nvGrpSpPr>
            <p:cNvPr id="17" name="Groupe 16">
              <a:extLst>
                <a:ext uri="{FF2B5EF4-FFF2-40B4-BE49-F238E27FC236}">
                  <a16:creationId xmlns:a16="http://schemas.microsoft.com/office/drawing/2014/main" id="{9BF4AA2E-532A-4440-A263-1FC630895566}"/>
                </a:ext>
              </a:extLst>
            </p:cNvPr>
            <p:cNvGrpSpPr/>
            <p:nvPr/>
          </p:nvGrpSpPr>
          <p:grpSpPr>
            <a:xfrm>
              <a:off x="1527175" y="3040767"/>
              <a:ext cx="9137650" cy="1969383"/>
              <a:chOff x="1644650" y="3040767"/>
              <a:chExt cx="9137650" cy="1907219"/>
            </a:xfrm>
          </p:grpSpPr>
          <p:sp>
            <p:nvSpPr>
              <p:cNvPr id="6" name="Trapèze 5">
                <a:extLst>
                  <a:ext uri="{FF2B5EF4-FFF2-40B4-BE49-F238E27FC236}">
                    <a16:creationId xmlns:a16="http://schemas.microsoft.com/office/drawing/2014/main" id="{FBD08814-5536-4C93-B7C5-9CE3890241D5}"/>
                  </a:ext>
                </a:extLst>
              </p:cNvPr>
              <p:cNvSpPr/>
              <p:nvPr/>
            </p:nvSpPr>
            <p:spPr>
              <a:xfrm>
                <a:off x="1644650"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a:t>MAUVAIS SOUVENIRS</a:t>
                </a:r>
              </a:p>
              <a:p>
                <a:pPr algn="ctr"/>
                <a:r>
                  <a:rPr lang="fr-FR" sz="1100"/>
                  <a:t>Des situations passées ou existantes qu’on n’aimerait ne plus vior arriver</a:t>
                </a:r>
              </a:p>
            </p:txBody>
          </p:sp>
          <p:sp>
            <p:nvSpPr>
              <p:cNvPr id="8" name="Trapèze 7">
                <a:extLst>
                  <a:ext uri="{FF2B5EF4-FFF2-40B4-BE49-F238E27FC236}">
                    <a16:creationId xmlns:a16="http://schemas.microsoft.com/office/drawing/2014/main" id="{B049311D-5C7A-42FF-BBA9-F762FBBC3FEB}"/>
                  </a:ext>
                </a:extLst>
              </p:cNvPr>
              <p:cNvSpPr/>
              <p:nvPr/>
            </p:nvSpPr>
            <p:spPr>
              <a:xfrm>
                <a:off x="2314030"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a:t>HISTOIRES À ÉVITER</a:t>
                </a:r>
              </a:p>
              <a:p>
                <a:pPr algn="ctr"/>
                <a:r>
                  <a:rPr lang="fr-FR" sz="1100"/>
                  <a:t>Situations fictives à éviter</a:t>
                </a:r>
              </a:p>
            </p:txBody>
          </p:sp>
          <p:sp>
            <p:nvSpPr>
              <p:cNvPr id="13" name="Trapèze 12">
                <a:extLst>
                  <a:ext uri="{FF2B5EF4-FFF2-40B4-BE49-F238E27FC236}">
                    <a16:creationId xmlns:a16="http://schemas.microsoft.com/office/drawing/2014/main" id="{6088D12F-5C5D-4F51-B2F2-2D3E87A1D135}"/>
                  </a:ext>
                </a:extLst>
              </p:cNvPr>
              <p:cNvSpPr/>
              <p:nvPr/>
            </p:nvSpPr>
            <p:spPr>
              <a:xfrm>
                <a:off x="6261747"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a:t>BONS SOUVENIRS</a:t>
                </a:r>
              </a:p>
              <a:p>
                <a:pPr algn="ctr"/>
                <a:r>
                  <a:rPr lang="fr-FR" sz="1100"/>
                  <a:t>Les situations passées ou existantes qu’on aimerait voir arriver de nouveau</a:t>
                </a:r>
              </a:p>
            </p:txBody>
          </p:sp>
          <p:sp>
            <p:nvSpPr>
              <p:cNvPr id="14" name="Trapèze 13">
                <a:extLst>
                  <a:ext uri="{FF2B5EF4-FFF2-40B4-BE49-F238E27FC236}">
                    <a16:creationId xmlns:a16="http://schemas.microsoft.com/office/drawing/2014/main" id="{6A9B144A-40D6-42CF-80A5-0896AD11EDE4}"/>
                  </a:ext>
                </a:extLst>
              </p:cNvPr>
              <p:cNvSpPr/>
              <p:nvPr/>
            </p:nvSpPr>
            <p:spPr>
              <a:xfrm>
                <a:off x="6927306"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a:t>HISTOIRES IDÉALES</a:t>
                </a:r>
              </a:p>
              <a:p>
                <a:pPr algn="ctr"/>
                <a:r>
                  <a:rPr lang="fr-FR" sz="1100"/>
                  <a:t>Situations aujourd’hui fictives que l’on souhaite faire arriver</a:t>
                </a:r>
              </a:p>
            </p:txBody>
          </p:sp>
        </p:grpSp>
        <p:sp>
          <p:nvSpPr>
            <p:cNvPr id="16" name="Triangle isocèle 15">
              <a:extLst>
                <a:ext uri="{FF2B5EF4-FFF2-40B4-BE49-F238E27FC236}">
                  <a16:creationId xmlns:a16="http://schemas.microsoft.com/office/drawing/2014/main" id="{963FE96F-DB14-48B6-8AD5-6C71A572B880}"/>
                </a:ext>
              </a:extLst>
            </p:cNvPr>
            <p:cNvSpPr/>
            <p:nvPr/>
          </p:nvSpPr>
          <p:spPr>
            <a:xfrm rot="10800000">
              <a:off x="4952497" y="3040768"/>
              <a:ext cx="2287008" cy="1795683"/>
            </a:xfrm>
            <a:prstGeom prst="triangl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ZoneTexte 18">
              <a:extLst>
                <a:ext uri="{FF2B5EF4-FFF2-40B4-BE49-F238E27FC236}">
                  <a16:creationId xmlns:a16="http://schemas.microsoft.com/office/drawing/2014/main" id="{11F4FD41-5370-460D-B968-30E15161AA7F}"/>
                </a:ext>
              </a:extLst>
            </p:cNvPr>
            <p:cNvSpPr txBox="1"/>
            <p:nvPr/>
          </p:nvSpPr>
          <p:spPr>
            <a:xfrm>
              <a:off x="4952496" y="3044169"/>
              <a:ext cx="2287009" cy="646331"/>
            </a:xfrm>
            <a:prstGeom prst="rect">
              <a:avLst/>
            </a:prstGeom>
            <a:noFill/>
          </p:spPr>
          <p:txBody>
            <a:bodyPr wrap="square">
              <a:spAutoFit/>
            </a:bodyPr>
            <a:lstStyle/>
            <a:p>
              <a:pPr algn="ctr"/>
              <a:r>
                <a:rPr lang="fr-FR" sz="1200" b="1"/>
                <a:t>CONDITIONS</a:t>
              </a:r>
            </a:p>
            <a:p>
              <a:pPr algn="ctr"/>
              <a:r>
                <a:rPr lang="fr-FR" sz="1200"/>
                <a:t>Les conditions dans lesquelles nous voulons atteindre notre but</a:t>
              </a:r>
            </a:p>
          </p:txBody>
        </p:sp>
      </p:grpSp>
    </p:spTree>
    <p:extLst>
      <p:ext uri="{BB962C8B-B14F-4D97-AF65-F5344CB8AC3E}">
        <p14:creationId xmlns:p14="http://schemas.microsoft.com/office/powerpoint/2010/main" val="1170425949"/>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38200" y="365125"/>
            <a:ext cx="10515600" cy="972139"/>
          </a:xfrm>
        </p:spPr>
        <p:txBody>
          <a:bodyPr>
            <a:normAutofit fontScale="90000"/>
          </a:bodyPr>
          <a:lstStyle/>
          <a:p>
            <a:pPr algn="ctr"/>
            <a:r>
              <a:rPr lang="fr-FR" dirty="0"/>
              <a:t>Formuler la contribution : </a:t>
            </a:r>
            <a:br>
              <a:rPr lang="fr-FR" dirty="0"/>
            </a:br>
            <a:r>
              <a:rPr lang="fr-FR" dirty="0"/>
              <a:t>Ce que l’aspect </a:t>
            </a:r>
            <a:r>
              <a:rPr lang="fr-FR" dirty="0">
                <a:solidFill>
                  <a:srgbClr val="ED7D31"/>
                </a:solidFill>
              </a:rPr>
              <a:t>collectif</a:t>
            </a:r>
            <a:r>
              <a:rPr lang="fr-FR" dirty="0"/>
              <a:t> apporte en </a:t>
            </a:r>
            <a:r>
              <a:rPr lang="fr-FR" dirty="0">
                <a:solidFill>
                  <a:srgbClr val="3494BA"/>
                </a:solidFill>
              </a:rPr>
              <a:t>valeur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9648" y="1508115"/>
            <a:ext cx="1722120" cy="1722120"/>
          </a:xfrm>
          <a:prstGeom prst="rect">
            <a:avLst/>
          </a:prstGeom>
        </p:spPr>
      </p:pic>
      <p:grpSp>
        <p:nvGrpSpPr>
          <p:cNvPr id="6" name="Groupe 5">
            <a:extLst>
              <a:ext uri="{FF2B5EF4-FFF2-40B4-BE49-F238E27FC236}">
                <a16:creationId xmlns:a16="http://schemas.microsoft.com/office/drawing/2014/main" id="{7476B3F7-0E49-6E93-93F4-2CCC981FDD10}"/>
              </a:ext>
            </a:extLst>
          </p:cNvPr>
          <p:cNvGrpSpPr/>
          <p:nvPr/>
        </p:nvGrpSpPr>
        <p:grpSpPr>
          <a:xfrm>
            <a:off x="1673791" y="1733858"/>
            <a:ext cx="1507135" cy="1270634"/>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85601AF8-2B04-4E1B-777C-E4413355E47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3E913BB0-FF45-71E9-FA50-B619CC080BD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52716CDC-FB48-B5C6-CF66-93C81E6EDE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23F83B7B-C6FA-2ED2-8553-6F6F0C6131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5D1AB12-E11E-33B6-F232-60FD45CD3A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179153A9-C2D4-FEE9-F6C5-81D0FAA9EA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2294F9BC-F46F-719B-195C-8E1B7051453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031A82AD-99E7-73E7-E1D8-670CE8EEC70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76053F00-0709-53DD-642A-0F70CA86F80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7EA7E823-16A3-8130-20D7-959E93468B4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91FD713F-1A16-30AC-B049-C388F6E8690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26" name="Titre 1">
            <a:extLst>
              <a:ext uri="{FF2B5EF4-FFF2-40B4-BE49-F238E27FC236}">
                <a16:creationId xmlns:a16="http://schemas.microsoft.com/office/drawing/2014/main" id="{D15593DD-8CE1-2ECC-2B5D-DB98437039FD}"/>
              </a:ext>
            </a:extLst>
          </p:cNvPr>
          <p:cNvSpPr txBox="1">
            <a:spLocks/>
          </p:cNvSpPr>
          <p:nvPr/>
        </p:nvSpPr>
        <p:spPr>
          <a:xfrm>
            <a:off x="8743885" y="3070009"/>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t>Entreprise (Institution)</a:t>
            </a:r>
          </a:p>
        </p:txBody>
      </p:sp>
      <p:sp>
        <p:nvSpPr>
          <p:cNvPr id="28" name="Titre 1">
            <a:extLst>
              <a:ext uri="{FF2B5EF4-FFF2-40B4-BE49-F238E27FC236}">
                <a16:creationId xmlns:a16="http://schemas.microsoft.com/office/drawing/2014/main" id="{2B5D222E-E2F2-535F-3F4A-2D35E291BBC5}"/>
              </a:ext>
            </a:extLst>
          </p:cNvPr>
          <p:cNvSpPr txBox="1">
            <a:spLocks/>
          </p:cNvSpPr>
          <p:nvPr/>
        </p:nvSpPr>
        <p:spPr>
          <a:xfrm>
            <a:off x="1618427" y="2920397"/>
            <a:ext cx="1537788" cy="329176"/>
          </a:xfrm>
          <a:prstGeom prst="rect">
            <a:avLst/>
          </a:prstGeom>
        </p:spPr>
        <p:txBody>
          <a:bodyPr vert="horz" lIns="91440" tIns="45720" rIns="91440" bIns="45720" rtlCol="0" anchor="ctr">
            <a:normAutofit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rgbClr val="ED7D31"/>
                </a:solidFill>
              </a:rPr>
              <a:t>Membres</a:t>
            </a:r>
          </a:p>
        </p:txBody>
      </p:sp>
      <p:sp>
        <p:nvSpPr>
          <p:cNvPr id="95" name="Flèche : droite 94">
            <a:extLst>
              <a:ext uri="{FF2B5EF4-FFF2-40B4-BE49-F238E27FC236}">
                <a16:creationId xmlns:a16="http://schemas.microsoft.com/office/drawing/2014/main" id="{E4528571-20B7-D4C9-14F8-1948808D3577}"/>
              </a:ext>
            </a:extLst>
          </p:cNvPr>
          <p:cNvSpPr/>
          <p:nvPr/>
        </p:nvSpPr>
        <p:spPr>
          <a:xfrm rot="19508911" flipH="1">
            <a:off x="3647794" y="4945226"/>
            <a:ext cx="1189456" cy="623864"/>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3</a:t>
            </a:r>
          </a:p>
        </p:txBody>
      </p:sp>
      <p:sp>
        <p:nvSpPr>
          <p:cNvPr id="96" name="Flèche : gauche 95">
            <a:extLst>
              <a:ext uri="{FF2B5EF4-FFF2-40B4-BE49-F238E27FC236}">
                <a16:creationId xmlns:a16="http://schemas.microsoft.com/office/drawing/2014/main" id="{193DE573-A714-FF47-E3C4-3D16089543C7}"/>
              </a:ext>
            </a:extLst>
          </p:cNvPr>
          <p:cNvSpPr/>
          <p:nvPr/>
        </p:nvSpPr>
        <p:spPr>
          <a:xfrm rot="1525700" flipH="1">
            <a:off x="7393126" y="4896634"/>
            <a:ext cx="1189456" cy="623864"/>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4</a:t>
            </a:r>
          </a:p>
        </p:txBody>
      </p:sp>
      <p:grpSp>
        <p:nvGrpSpPr>
          <p:cNvPr id="3" name="Groupe 2">
            <a:extLst>
              <a:ext uri="{FF2B5EF4-FFF2-40B4-BE49-F238E27FC236}">
                <a16:creationId xmlns:a16="http://schemas.microsoft.com/office/drawing/2014/main" id="{7ECD92FD-A23C-FFA4-BD07-4D0F856EE320}"/>
              </a:ext>
            </a:extLst>
          </p:cNvPr>
          <p:cNvGrpSpPr/>
          <p:nvPr/>
        </p:nvGrpSpPr>
        <p:grpSpPr>
          <a:xfrm>
            <a:off x="4534341" y="3479805"/>
            <a:ext cx="2831419" cy="1191682"/>
            <a:chOff x="262080" y="1839252"/>
            <a:chExt cx="11723435" cy="4934136"/>
          </a:xfrm>
        </p:grpSpPr>
        <p:grpSp>
          <p:nvGrpSpPr>
            <p:cNvPr id="30" name="Groupe 29">
              <a:extLst>
                <a:ext uri="{FF2B5EF4-FFF2-40B4-BE49-F238E27FC236}">
                  <a16:creationId xmlns:a16="http://schemas.microsoft.com/office/drawing/2014/main" id="{F3093FE9-3C4D-A6F1-604C-C11A5399C809}"/>
                </a:ext>
              </a:extLst>
            </p:cNvPr>
            <p:cNvGrpSpPr/>
            <p:nvPr/>
          </p:nvGrpSpPr>
          <p:grpSpPr>
            <a:xfrm>
              <a:off x="2604265" y="1839252"/>
              <a:ext cx="1467257" cy="1169474"/>
              <a:chOff x="2609577" y="1563591"/>
              <a:chExt cx="1467257" cy="1169474"/>
            </a:xfrm>
          </p:grpSpPr>
          <p:grpSp>
            <p:nvGrpSpPr>
              <p:cNvPr id="31" name="Groupe 30">
                <a:extLst>
                  <a:ext uri="{FF2B5EF4-FFF2-40B4-BE49-F238E27FC236}">
                    <a16:creationId xmlns:a16="http://schemas.microsoft.com/office/drawing/2014/main" id="{8CD1FB50-FCC1-3C9B-5052-B9E2AAA4C835}"/>
                  </a:ext>
                </a:extLst>
              </p:cNvPr>
              <p:cNvGrpSpPr/>
              <p:nvPr/>
            </p:nvGrpSpPr>
            <p:grpSpPr>
              <a:xfrm>
                <a:off x="2609577" y="1563591"/>
                <a:ext cx="1412109" cy="1169474"/>
                <a:chOff x="2645545" y="3994190"/>
                <a:chExt cx="1412109" cy="1169474"/>
              </a:xfrm>
            </p:grpSpPr>
            <p:pic>
              <p:nvPicPr>
                <p:cNvPr id="33" name="Graphique 32" descr="Diable avec un remplissage uni">
                  <a:extLst>
                    <a:ext uri="{FF2B5EF4-FFF2-40B4-BE49-F238E27FC236}">
                      <a16:creationId xmlns:a16="http://schemas.microsoft.com/office/drawing/2014/main" id="{2CE84104-DCE8-4624-202C-2E9351B6331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37365" y="4143375"/>
                  <a:ext cx="1020289" cy="1020289"/>
                </a:xfrm>
                <a:prstGeom prst="rect">
                  <a:avLst/>
                </a:prstGeom>
              </p:spPr>
            </p:pic>
            <p:pic>
              <p:nvPicPr>
                <p:cNvPr id="34" name="Graphique 33" descr="Base-ball avec un remplissage uni">
                  <a:extLst>
                    <a:ext uri="{FF2B5EF4-FFF2-40B4-BE49-F238E27FC236}">
                      <a16:creationId xmlns:a16="http://schemas.microsoft.com/office/drawing/2014/main" id="{24EBABFC-4E07-08B1-51E2-01E5D6E7E60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2645545" y="4030462"/>
                  <a:ext cx="993713" cy="1133202"/>
                </a:xfrm>
                <a:prstGeom prst="rect">
                  <a:avLst/>
                </a:prstGeom>
              </p:spPr>
            </p:pic>
            <p:sp>
              <p:nvSpPr>
                <p:cNvPr id="35" name="Rectangle 34">
                  <a:extLst>
                    <a:ext uri="{FF2B5EF4-FFF2-40B4-BE49-F238E27FC236}">
                      <a16:creationId xmlns:a16="http://schemas.microsoft.com/office/drawing/2014/main" id="{AA8DE867-117B-FC9A-E21B-BF11BB44E6EE}"/>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32" name="Graphique 31" descr="Boîte à archives avec un remplissage uni">
                <a:extLst>
                  <a:ext uri="{FF2B5EF4-FFF2-40B4-BE49-F238E27FC236}">
                    <a16:creationId xmlns:a16="http://schemas.microsoft.com/office/drawing/2014/main" id="{879012DF-9E47-79A0-03E6-5D9D812AF764}"/>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20255485">
                <a:off x="3419733" y="1863768"/>
                <a:ext cx="657101" cy="657101"/>
              </a:xfrm>
              <a:prstGeom prst="rect">
                <a:avLst/>
              </a:prstGeom>
            </p:spPr>
          </p:pic>
        </p:grpSp>
        <p:grpSp>
          <p:nvGrpSpPr>
            <p:cNvPr id="36" name="Groupe 35">
              <a:extLst>
                <a:ext uri="{FF2B5EF4-FFF2-40B4-BE49-F238E27FC236}">
                  <a16:creationId xmlns:a16="http://schemas.microsoft.com/office/drawing/2014/main" id="{D4E979C3-3CBE-9BFA-91D2-E78A36B57110}"/>
                </a:ext>
              </a:extLst>
            </p:cNvPr>
            <p:cNvGrpSpPr/>
            <p:nvPr/>
          </p:nvGrpSpPr>
          <p:grpSpPr>
            <a:xfrm>
              <a:off x="2907742" y="4287731"/>
              <a:ext cx="1467257" cy="1169474"/>
              <a:chOff x="2609577" y="1563591"/>
              <a:chExt cx="1467257" cy="1169474"/>
            </a:xfrm>
          </p:grpSpPr>
          <p:grpSp>
            <p:nvGrpSpPr>
              <p:cNvPr id="37" name="Groupe 36">
                <a:extLst>
                  <a:ext uri="{FF2B5EF4-FFF2-40B4-BE49-F238E27FC236}">
                    <a16:creationId xmlns:a16="http://schemas.microsoft.com/office/drawing/2014/main" id="{EB8B3DE9-D9A5-A06A-5778-15C159A92CFB}"/>
                  </a:ext>
                </a:extLst>
              </p:cNvPr>
              <p:cNvGrpSpPr/>
              <p:nvPr/>
            </p:nvGrpSpPr>
            <p:grpSpPr>
              <a:xfrm>
                <a:off x="2609577" y="1563591"/>
                <a:ext cx="1412109" cy="1169474"/>
                <a:chOff x="2645545" y="3994190"/>
                <a:chExt cx="1412109" cy="1169474"/>
              </a:xfrm>
            </p:grpSpPr>
            <p:pic>
              <p:nvPicPr>
                <p:cNvPr id="39" name="Graphique 38" descr="Diable avec un remplissage uni">
                  <a:extLst>
                    <a:ext uri="{FF2B5EF4-FFF2-40B4-BE49-F238E27FC236}">
                      <a16:creationId xmlns:a16="http://schemas.microsoft.com/office/drawing/2014/main" id="{33B14231-B75D-004A-627F-80FC2E17353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37365" y="4143375"/>
                  <a:ext cx="1020289" cy="1020289"/>
                </a:xfrm>
                <a:prstGeom prst="rect">
                  <a:avLst/>
                </a:prstGeom>
              </p:spPr>
            </p:pic>
            <p:pic>
              <p:nvPicPr>
                <p:cNvPr id="40" name="Graphique 39" descr="Base-ball avec un remplissage uni">
                  <a:extLst>
                    <a:ext uri="{FF2B5EF4-FFF2-40B4-BE49-F238E27FC236}">
                      <a16:creationId xmlns:a16="http://schemas.microsoft.com/office/drawing/2014/main" id="{58BD2872-7759-C344-C8D7-5394D6D1EC7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2645545" y="4030462"/>
                  <a:ext cx="993713" cy="1133202"/>
                </a:xfrm>
                <a:prstGeom prst="rect">
                  <a:avLst/>
                </a:prstGeom>
              </p:spPr>
            </p:pic>
            <p:sp>
              <p:nvSpPr>
                <p:cNvPr id="41" name="Rectangle 40">
                  <a:extLst>
                    <a:ext uri="{FF2B5EF4-FFF2-40B4-BE49-F238E27FC236}">
                      <a16:creationId xmlns:a16="http://schemas.microsoft.com/office/drawing/2014/main" id="{205A4131-A28E-7790-AEBA-2E5938406922}"/>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38" name="Graphique 37" descr="Boîte à archives avec un remplissage uni">
                <a:extLst>
                  <a:ext uri="{FF2B5EF4-FFF2-40B4-BE49-F238E27FC236}">
                    <a16:creationId xmlns:a16="http://schemas.microsoft.com/office/drawing/2014/main" id="{EE0253D6-9897-19EE-5073-6A4570ED7D7F}"/>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20255485">
                <a:off x="3419733" y="1863768"/>
                <a:ext cx="657101" cy="657101"/>
              </a:xfrm>
              <a:prstGeom prst="rect">
                <a:avLst/>
              </a:prstGeom>
            </p:spPr>
          </p:pic>
        </p:grpSp>
        <p:grpSp>
          <p:nvGrpSpPr>
            <p:cNvPr id="42" name="Groupe 41">
              <a:extLst>
                <a:ext uri="{FF2B5EF4-FFF2-40B4-BE49-F238E27FC236}">
                  <a16:creationId xmlns:a16="http://schemas.microsoft.com/office/drawing/2014/main" id="{AD519FC8-4C71-A770-3971-599707B60FA5}"/>
                </a:ext>
              </a:extLst>
            </p:cNvPr>
            <p:cNvGrpSpPr/>
            <p:nvPr/>
          </p:nvGrpSpPr>
          <p:grpSpPr>
            <a:xfrm>
              <a:off x="2547542" y="5603914"/>
              <a:ext cx="1467257" cy="1169474"/>
              <a:chOff x="2609577" y="1563591"/>
              <a:chExt cx="1467257" cy="1169474"/>
            </a:xfrm>
          </p:grpSpPr>
          <p:grpSp>
            <p:nvGrpSpPr>
              <p:cNvPr id="43" name="Groupe 42">
                <a:extLst>
                  <a:ext uri="{FF2B5EF4-FFF2-40B4-BE49-F238E27FC236}">
                    <a16:creationId xmlns:a16="http://schemas.microsoft.com/office/drawing/2014/main" id="{6C516C28-43AD-25BB-35A0-629E73E325BC}"/>
                  </a:ext>
                </a:extLst>
              </p:cNvPr>
              <p:cNvGrpSpPr/>
              <p:nvPr/>
            </p:nvGrpSpPr>
            <p:grpSpPr>
              <a:xfrm>
                <a:off x="2609577" y="1563591"/>
                <a:ext cx="1412109" cy="1169474"/>
                <a:chOff x="2645545" y="3994190"/>
                <a:chExt cx="1412109" cy="1169474"/>
              </a:xfrm>
            </p:grpSpPr>
            <p:pic>
              <p:nvPicPr>
                <p:cNvPr id="45" name="Graphique 44" descr="Diable avec un remplissage uni">
                  <a:extLst>
                    <a:ext uri="{FF2B5EF4-FFF2-40B4-BE49-F238E27FC236}">
                      <a16:creationId xmlns:a16="http://schemas.microsoft.com/office/drawing/2014/main" id="{8A541200-A001-823B-B3B8-019E9502FC6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37365" y="4143375"/>
                  <a:ext cx="1020289" cy="1020289"/>
                </a:xfrm>
                <a:prstGeom prst="rect">
                  <a:avLst/>
                </a:prstGeom>
              </p:spPr>
            </p:pic>
            <p:pic>
              <p:nvPicPr>
                <p:cNvPr id="46" name="Graphique 45" descr="Base-ball avec un remplissage uni">
                  <a:extLst>
                    <a:ext uri="{FF2B5EF4-FFF2-40B4-BE49-F238E27FC236}">
                      <a16:creationId xmlns:a16="http://schemas.microsoft.com/office/drawing/2014/main" id="{1694C88F-9E22-342F-6DF1-A9CEA113062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2645545" y="4030462"/>
                  <a:ext cx="993713" cy="1133202"/>
                </a:xfrm>
                <a:prstGeom prst="rect">
                  <a:avLst/>
                </a:prstGeom>
              </p:spPr>
            </p:pic>
            <p:sp>
              <p:nvSpPr>
                <p:cNvPr id="47" name="Rectangle 46">
                  <a:extLst>
                    <a:ext uri="{FF2B5EF4-FFF2-40B4-BE49-F238E27FC236}">
                      <a16:creationId xmlns:a16="http://schemas.microsoft.com/office/drawing/2014/main" id="{EBCD1343-FC28-326D-761C-A2DF023EB26D}"/>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44" name="Graphique 43" descr="Boîte à archives avec un remplissage uni">
                <a:extLst>
                  <a:ext uri="{FF2B5EF4-FFF2-40B4-BE49-F238E27FC236}">
                    <a16:creationId xmlns:a16="http://schemas.microsoft.com/office/drawing/2014/main" id="{DE354E30-97F7-9BC4-0E8B-874C26386A0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20255485">
                <a:off x="3419733" y="1863768"/>
                <a:ext cx="657101" cy="657101"/>
              </a:xfrm>
              <a:prstGeom prst="rect">
                <a:avLst/>
              </a:prstGeom>
            </p:spPr>
          </p:pic>
        </p:grpSp>
        <p:grpSp>
          <p:nvGrpSpPr>
            <p:cNvPr id="48" name="Groupe 47">
              <a:extLst>
                <a:ext uri="{FF2B5EF4-FFF2-40B4-BE49-F238E27FC236}">
                  <a16:creationId xmlns:a16="http://schemas.microsoft.com/office/drawing/2014/main" id="{9FE626B8-D164-0138-400C-45A0A0BF16AE}"/>
                </a:ext>
              </a:extLst>
            </p:cNvPr>
            <p:cNvGrpSpPr/>
            <p:nvPr/>
          </p:nvGrpSpPr>
          <p:grpSpPr>
            <a:xfrm>
              <a:off x="1098866" y="4806407"/>
              <a:ext cx="1467257" cy="1169474"/>
              <a:chOff x="2609577" y="1563591"/>
              <a:chExt cx="1467257" cy="1169474"/>
            </a:xfrm>
          </p:grpSpPr>
          <p:grpSp>
            <p:nvGrpSpPr>
              <p:cNvPr id="49" name="Groupe 48">
                <a:extLst>
                  <a:ext uri="{FF2B5EF4-FFF2-40B4-BE49-F238E27FC236}">
                    <a16:creationId xmlns:a16="http://schemas.microsoft.com/office/drawing/2014/main" id="{CD95A95D-8283-836D-FDFC-FDAA3EB2E884}"/>
                  </a:ext>
                </a:extLst>
              </p:cNvPr>
              <p:cNvGrpSpPr/>
              <p:nvPr/>
            </p:nvGrpSpPr>
            <p:grpSpPr>
              <a:xfrm>
                <a:off x="2609577" y="1563591"/>
                <a:ext cx="1412109" cy="1169474"/>
                <a:chOff x="2645545" y="3994190"/>
                <a:chExt cx="1412109" cy="1169474"/>
              </a:xfrm>
            </p:grpSpPr>
            <p:pic>
              <p:nvPicPr>
                <p:cNvPr id="51" name="Graphique 50" descr="Diable avec un remplissage uni">
                  <a:extLst>
                    <a:ext uri="{FF2B5EF4-FFF2-40B4-BE49-F238E27FC236}">
                      <a16:creationId xmlns:a16="http://schemas.microsoft.com/office/drawing/2014/main" id="{3C9C6EE6-CEA5-5EB1-8124-72B0B22828D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37365" y="4143375"/>
                  <a:ext cx="1020289" cy="1020289"/>
                </a:xfrm>
                <a:prstGeom prst="rect">
                  <a:avLst/>
                </a:prstGeom>
              </p:spPr>
            </p:pic>
            <p:pic>
              <p:nvPicPr>
                <p:cNvPr id="52" name="Graphique 51" descr="Base-ball avec un remplissage uni">
                  <a:extLst>
                    <a:ext uri="{FF2B5EF4-FFF2-40B4-BE49-F238E27FC236}">
                      <a16:creationId xmlns:a16="http://schemas.microsoft.com/office/drawing/2014/main" id="{21D03255-CE7D-7585-8635-5EEB21ABA1D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2645545" y="4030462"/>
                  <a:ext cx="993713" cy="1133202"/>
                </a:xfrm>
                <a:prstGeom prst="rect">
                  <a:avLst/>
                </a:prstGeom>
              </p:spPr>
            </p:pic>
            <p:sp>
              <p:nvSpPr>
                <p:cNvPr id="53" name="Rectangle 52">
                  <a:extLst>
                    <a:ext uri="{FF2B5EF4-FFF2-40B4-BE49-F238E27FC236}">
                      <a16:creationId xmlns:a16="http://schemas.microsoft.com/office/drawing/2014/main" id="{ABF96C68-AC54-4E8C-34CB-13D496A65715}"/>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50" name="Graphique 49" descr="Boîte à archives avec un remplissage uni">
                <a:extLst>
                  <a:ext uri="{FF2B5EF4-FFF2-40B4-BE49-F238E27FC236}">
                    <a16:creationId xmlns:a16="http://schemas.microsoft.com/office/drawing/2014/main" id="{39E1CAB1-8659-03E9-8A79-311561A685E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20255485">
                <a:off x="3419733" y="1863768"/>
                <a:ext cx="657101" cy="657101"/>
              </a:xfrm>
              <a:prstGeom prst="rect">
                <a:avLst/>
              </a:prstGeom>
            </p:spPr>
          </p:pic>
        </p:grpSp>
        <p:grpSp>
          <p:nvGrpSpPr>
            <p:cNvPr id="54" name="Groupe 53">
              <a:extLst>
                <a:ext uri="{FF2B5EF4-FFF2-40B4-BE49-F238E27FC236}">
                  <a16:creationId xmlns:a16="http://schemas.microsoft.com/office/drawing/2014/main" id="{2362D885-A949-74B7-430E-4CA10BFE10A4}"/>
                </a:ext>
              </a:extLst>
            </p:cNvPr>
            <p:cNvGrpSpPr/>
            <p:nvPr/>
          </p:nvGrpSpPr>
          <p:grpSpPr>
            <a:xfrm flipH="1">
              <a:off x="5650743" y="2263842"/>
              <a:ext cx="1093937" cy="1165158"/>
              <a:chOff x="1680627" y="1783722"/>
              <a:chExt cx="1331514" cy="1331514"/>
            </a:xfrm>
          </p:grpSpPr>
          <p:pic>
            <p:nvPicPr>
              <p:cNvPr id="55" name="Graphique 54" descr="Mur de briques en construction avec un remplissage uni">
                <a:extLst>
                  <a:ext uri="{FF2B5EF4-FFF2-40B4-BE49-F238E27FC236}">
                    <a16:creationId xmlns:a16="http://schemas.microsoft.com/office/drawing/2014/main" id="{771B6CBE-433A-FEC4-1163-A0FE55AE7E7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680627" y="1783722"/>
                <a:ext cx="1331514" cy="1331514"/>
              </a:xfrm>
              <a:prstGeom prst="rect">
                <a:avLst/>
              </a:prstGeom>
            </p:spPr>
          </p:pic>
          <p:sp>
            <p:nvSpPr>
              <p:cNvPr id="56" name="Rectangle 55">
                <a:extLst>
                  <a:ext uri="{FF2B5EF4-FFF2-40B4-BE49-F238E27FC236}">
                    <a16:creationId xmlns:a16="http://schemas.microsoft.com/office/drawing/2014/main" id="{C5E1FA17-07F5-B68C-F996-C8E462D14DE4}"/>
                  </a:ext>
                </a:extLst>
              </p:cNvPr>
              <p:cNvSpPr/>
              <p:nvPr/>
            </p:nvSpPr>
            <p:spPr>
              <a:xfrm>
                <a:off x="2206885" y="2187027"/>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Rectangle 56">
                <a:extLst>
                  <a:ext uri="{FF2B5EF4-FFF2-40B4-BE49-F238E27FC236}">
                    <a16:creationId xmlns:a16="http://schemas.microsoft.com/office/drawing/2014/main" id="{37377385-75D3-B57C-B827-92537B255C4A}"/>
                  </a:ext>
                </a:extLst>
              </p:cNvPr>
              <p:cNvSpPr/>
              <p:nvPr/>
            </p:nvSpPr>
            <p:spPr>
              <a:xfrm>
                <a:off x="2040953" y="2380609"/>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Rectangle 57">
                <a:extLst>
                  <a:ext uri="{FF2B5EF4-FFF2-40B4-BE49-F238E27FC236}">
                    <a16:creationId xmlns:a16="http://schemas.microsoft.com/office/drawing/2014/main" id="{530F50B8-43E4-3365-0B56-12DD5F372719}"/>
                  </a:ext>
                </a:extLst>
              </p:cNvPr>
              <p:cNvSpPr/>
              <p:nvPr/>
            </p:nvSpPr>
            <p:spPr>
              <a:xfrm>
                <a:off x="2370053" y="2380609"/>
                <a:ext cx="281521"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Rectangle 58">
                <a:extLst>
                  <a:ext uri="{FF2B5EF4-FFF2-40B4-BE49-F238E27FC236}">
                    <a16:creationId xmlns:a16="http://schemas.microsoft.com/office/drawing/2014/main" id="{B26F36CB-0D63-CE9F-195F-C243778FFEA2}"/>
                  </a:ext>
                </a:extLst>
              </p:cNvPr>
              <p:cNvSpPr/>
              <p:nvPr/>
            </p:nvSpPr>
            <p:spPr>
              <a:xfrm>
                <a:off x="2543616" y="2573362"/>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Rectangle 59">
                <a:extLst>
                  <a:ext uri="{FF2B5EF4-FFF2-40B4-BE49-F238E27FC236}">
                    <a16:creationId xmlns:a16="http://schemas.microsoft.com/office/drawing/2014/main" id="{36C82E6C-00F1-3F34-EAAF-104824C4EB0B}"/>
                  </a:ext>
                </a:extLst>
              </p:cNvPr>
              <p:cNvSpPr/>
              <p:nvPr/>
            </p:nvSpPr>
            <p:spPr>
              <a:xfrm>
                <a:off x="1872248" y="2573361"/>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Rectangle 60">
                <a:extLst>
                  <a:ext uri="{FF2B5EF4-FFF2-40B4-BE49-F238E27FC236}">
                    <a16:creationId xmlns:a16="http://schemas.microsoft.com/office/drawing/2014/main" id="{E4EB2044-8AE8-BFCE-A473-C61E1C8E2A2A}"/>
                  </a:ext>
                </a:extLst>
              </p:cNvPr>
              <p:cNvSpPr/>
              <p:nvPr/>
            </p:nvSpPr>
            <p:spPr>
              <a:xfrm>
                <a:off x="2040953" y="2768494"/>
                <a:ext cx="281521"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Rectangle 61">
                <a:extLst>
                  <a:ext uri="{FF2B5EF4-FFF2-40B4-BE49-F238E27FC236}">
                    <a16:creationId xmlns:a16="http://schemas.microsoft.com/office/drawing/2014/main" id="{A1BBAC1C-1A8A-FC3D-8F9E-BABE57623B42}"/>
                  </a:ext>
                </a:extLst>
              </p:cNvPr>
              <p:cNvSpPr/>
              <p:nvPr/>
            </p:nvSpPr>
            <p:spPr>
              <a:xfrm>
                <a:off x="2376662" y="2767730"/>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Rectangle 62">
                <a:extLst>
                  <a:ext uri="{FF2B5EF4-FFF2-40B4-BE49-F238E27FC236}">
                    <a16:creationId xmlns:a16="http://schemas.microsoft.com/office/drawing/2014/main" id="{3A536D04-5A0A-8779-4DD8-04C7D4CA4F54}"/>
                  </a:ext>
                </a:extLst>
              </p:cNvPr>
              <p:cNvSpPr/>
              <p:nvPr/>
            </p:nvSpPr>
            <p:spPr>
              <a:xfrm>
                <a:off x="1872247" y="2185476"/>
                <a:ext cx="281521" cy="13773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Rectangle 63">
                <a:extLst>
                  <a:ext uri="{FF2B5EF4-FFF2-40B4-BE49-F238E27FC236}">
                    <a16:creationId xmlns:a16="http://schemas.microsoft.com/office/drawing/2014/main" id="{29D99F60-B6E2-54B7-F7FF-2A34CEF2B3E2}"/>
                  </a:ext>
                </a:extLst>
              </p:cNvPr>
              <p:cNvSpPr/>
              <p:nvPr/>
            </p:nvSpPr>
            <p:spPr>
              <a:xfrm>
                <a:off x="2705487" y="2379659"/>
                <a:ext cx="117270"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Rectangle 64">
                <a:extLst>
                  <a:ext uri="{FF2B5EF4-FFF2-40B4-BE49-F238E27FC236}">
                    <a16:creationId xmlns:a16="http://schemas.microsoft.com/office/drawing/2014/main" id="{A85B92CE-8F6B-7EB4-7F4D-F63C2CB7661D}"/>
                  </a:ext>
                </a:extLst>
              </p:cNvPr>
              <p:cNvSpPr/>
              <p:nvPr/>
            </p:nvSpPr>
            <p:spPr>
              <a:xfrm>
                <a:off x="2705487" y="2768496"/>
                <a:ext cx="117270" cy="13773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Rectangle 65">
                <a:extLst>
                  <a:ext uri="{FF2B5EF4-FFF2-40B4-BE49-F238E27FC236}">
                    <a16:creationId xmlns:a16="http://schemas.microsoft.com/office/drawing/2014/main" id="{DC23F362-7EA4-167F-49C0-4D57567E8AFD}"/>
                  </a:ext>
                </a:extLst>
              </p:cNvPr>
              <p:cNvSpPr/>
              <p:nvPr/>
            </p:nvSpPr>
            <p:spPr>
              <a:xfrm>
                <a:off x="1872247" y="2768496"/>
                <a:ext cx="117270" cy="13773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a:extLst>
                  <a:ext uri="{FF2B5EF4-FFF2-40B4-BE49-F238E27FC236}">
                    <a16:creationId xmlns:a16="http://schemas.microsoft.com/office/drawing/2014/main" id="{90108B09-2F40-81C0-6807-BC764CF309C8}"/>
                  </a:ext>
                </a:extLst>
              </p:cNvPr>
              <p:cNvSpPr/>
              <p:nvPr/>
            </p:nvSpPr>
            <p:spPr>
              <a:xfrm>
                <a:off x="1872247" y="2378228"/>
                <a:ext cx="117270"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8" name="Groupe 67">
              <a:extLst>
                <a:ext uri="{FF2B5EF4-FFF2-40B4-BE49-F238E27FC236}">
                  <a16:creationId xmlns:a16="http://schemas.microsoft.com/office/drawing/2014/main" id="{007CB5ED-F7B6-6BCC-41C1-CC01290B25B3}"/>
                </a:ext>
              </a:extLst>
            </p:cNvPr>
            <p:cNvGrpSpPr/>
            <p:nvPr/>
          </p:nvGrpSpPr>
          <p:grpSpPr>
            <a:xfrm>
              <a:off x="875862" y="1893808"/>
              <a:ext cx="1383385" cy="1242096"/>
              <a:chOff x="5247267" y="8072371"/>
              <a:chExt cx="817082" cy="733631"/>
            </a:xfrm>
          </p:grpSpPr>
          <p:grpSp>
            <p:nvGrpSpPr>
              <p:cNvPr id="69" name="Groupe 68">
                <a:extLst>
                  <a:ext uri="{FF2B5EF4-FFF2-40B4-BE49-F238E27FC236}">
                    <a16:creationId xmlns:a16="http://schemas.microsoft.com/office/drawing/2014/main" id="{6C9A3D2C-1C67-F0DD-28DF-F5C8C754ED6F}"/>
                  </a:ext>
                </a:extLst>
              </p:cNvPr>
              <p:cNvGrpSpPr/>
              <p:nvPr/>
            </p:nvGrpSpPr>
            <p:grpSpPr>
              <a:xfrm>
                <a:off x="5247267" y="8117813"/>
                <a:ext cx="817082" cy="688189"/>
                <a:chOff x="3890963" y="2438774"/>
                <a:chExt cx="1085661" cy="914400"/>
              </a:xfrm>
            </p:grpSpPr>
            <p:pic>
              <p:nvPicPr>
                <p:cNvPr id="71" name="Graphique 70" descr="Culturiste avec un remplissage uni">
                  <a:extLst>
                    <a:ext uri="{FF2B5EF4-FFF2-40B4-BE49-F238E27FC236}">
                      <a16:creationId xmlns:a16="http://schemas.microsoft.com/office/drawing/2014/main" id="{8FDB1E47-635D-A225-6E77-5A60E340F633}"/>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81356" y="2438774"/>
                  <a:ext cx="914400" cy="914400"/>
                </a:xfrm>
                <a:prstGeom prst="rect">
                  <a:avLst/>
                </a:prstGeom>
              </p:spPr>
            </p:pic>
            <p:sp>
              <p:nvSpPr>
                <p:cNvPr id="72" name="Rectangle 71">
                  <a:extLst>
                    <a:ext uri="{FF2B5EF4-FFF2-40B4-BE49-F238E27FC236}">
                      <a16:creationId xmlns:a16="http://schemas.microsoft.com/office/drawing/2014/main" id="{B81F5F99-2E4E-C9B1-2A28-9C8ABF8581AC}"/>
                    </a:ext>
                  </a:extLst>
                </p:cNvPr>
                <p:cNvSpPr/>
                <p:nvPr/>
              </p:nvSpPr>
              <p:spPr>
                <a:xfrm>
                  <a:off x="3890963"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Rectangle 72">
                  <a:extLst>
                    <a:ext uri="{FF2B5EF4-FFF2-40B4-BE49-F238E27FC236}">
                      <a16:creationId xmlns:a16="http://schemas.microsoft.com/office/drawing/2014/main" id="{50BD01CF-9158-9646-2362-FB8FF3FD754B}"/>
                    </a:ext>
                  </a:extLst>
                </p:cNvPr>
                <p:cNvSpPr/>
                <p:nvPr/>
              </p:nvSpPr>
              <p:spPr>
                <a:xfrm>
                  <a:off x="4700399"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70" name="Rectangle 69">
                <a:extLst>
                  <a:ext uri="{FF2B5EF4-FFF2-40B4-BE49-F238E27FC236}">
                    <a16:creationId xmlns:a16="http://schemas.microsoft.com/office/drawing/2014/main" id="{F276A3EF-1E38-DF4C-DE5D-29712ECD07E1}"/>
                  </a:ext>
                </a:extLst>
              </p:cNvPr>
              <p:cNvSpPr/>
              <p:nvPr/>
            </p:nvSpPr>
            <p:spPr>
              <a:xfrm>
                <a:off x="5519269" y="8072371"/>
                <a:ext cx="298624" cy="1461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4" name="Groupe 73">
              <a:extLst>
                <a:ext uri="{FF2B5EF4-FFF2-40B4-BE49-F238E27FC236}">
                  <a16:creationId xmlns:a16="http://schemas.microsoft.com/office/drawing/2014/main" id="{A34CAD88-B57F-8ED9-C688-022E1CB70FE6}"/>
                </a:ext>
              </a:extLst>
            </p:cNvPr>
            <p:cNvGrpSpPr/>
            <p:nvPr/>
          </p:nvGrpSpPr>
          <p:grpSpPr>
            <a:xfrm flipH="1">
              <a:off x="648773" y="3490364"/>
              <a:ext cx="627050" cy="1144490"/>
              <a:chOff x="5134003" y="2196472"/>
              <a:chExt cx="563254" cy="1156702"/>
            </a:xfrm>
          </p:grpSpPr>
          <p:pic>
            <p:nvPicPr>
              <p:cNvPr id="76" name="Graphique 75" descr="Réussite du groupe avec un remplissage uni">
                <a:extLst>
                  <a:ext uri="{FF2B5EF4-FFF2-40B4-BE49-F238E27FC236}">
                    <a16:creationId xmlns:a16="http://schemas.microsoft.com/office/drawing/2014/main" id="{897202E3-8ED7-DCC8-7C8C-F9C89C07ACBF}"/>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l="69977" t="13713" r="6403" b="17430"/>
              <a:stretch/>
            </p:blipFill>
            <p:spPr>
              <a:xfrm>
                <a:off x="5300474" y="2196472"/>
                <a:ext cx="396783" cy="1156702"/>
              </a:xfrm>
              <a:prstGeom prst="rect">
                <a:avLst/>
              </a:prstGeom>
            </p:spPr>
          </p:pic>
          <p:sp>
            <p:nvSpPr>
              <p:cNvPr id="77" name="Rectangle 76">
                <a:extLst>
                  <a:ext uri="{FF2B5EF4-FFF2-40B4-BE49-F238E27FC236}">
                    <a16:creationId xmlns:a16="http://schemas.microsoft.com/office/drawing/2014/main" id="{1836AB85-78F1-9291-8406-4B090E44A981}"/>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8" name="Groupe 77">
              <a:extLst>
                <a:ext uri="{FF2B5EF4-FFF2-40B4-BE49-F238E27FC236}">
                  <a16:creationId xmlns:a16="http://schemas.microsoft.com/office/drawing/2014/main" id="{DB3133BA-725C-7673-F4F5-E7BB699C5A40}"/>
                </a:ext>
              </a:extLst>
            </p:cNvPr>
            <p:cNvGrpSpPr/>
            <p:nvPr/>
          </p:nvGrpSpPr>
          <p:grpSpPr>
            <a:xfrm>
              <a:off x="9653107" y="2807835"/>
              <a:ext cx="2332408" cy="2332408"/>
              <a:chOff x="9835911" y="2807662"/>
              <a:chExt cx="1796250" cy="1796250"/>
            </a:xfrm>
          </p:grpSpPr>
          <p:pic>
            <p:nvPicPr>
              <p:cNvPr id="79" name="Graphique 78" descr="Cathédrale avec un remplissage uni">
                <a:extLst>
                  <a:ext uri="{FF2B5EF4-FFF2-40B4-BE49-F238E27FC236}">
                    <a16:creationId xmlns:a16="http://schemas.microsoft.com/office/drawing/2014/main" id="{950F0DAF-B2C2-0E13-1639-66B912CC8A7D}"/>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9835911" y="2807662"/>
                <a:ext cx="1796250" cy="1796250"/>
              </a:xfrm>
              <a:prstGeom prst="rect">
                <a:avLst/>
              </a:prstGeom>
            </p:spPr>
          </p:pic>
          <p:sp>
            <p:nvSpPr>
              <p:cNvPr id="80" name="Rectangle 79">
                <a:extLst>
                  <a:ext uri="{FF2B5EF4-FFF2-40B4-BE49-F238E27FC236}">
                    <a16:creationId xmlns:a16="http://schemas.microsoft.com/office/drawing/2014/main" id="{DDCD6361-D927-F925-7432-CA46B30A16A2}"/>
                  </a:ext>
                </a:extLst>
              </p:cNvPr>
              <p:cNvSpPr/>
              <p:nvPr/>
            </p:nvSpPr>
            <p:spPr>
              <a:xfrm>
                <a:off x="10218483" y="4488333"/>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 name="Rectangle 85">
                <a:extLst>
                  <a:ext uri="{FF2B5EF4-FFF2-40B4-BE49-F238E27FC236}">
                    <a16:creationId xmlns:a16="http://schemas.microsoft.com/office/drawing/2014/main" id="{BC2CAA51-E995-47F6-CFCD-D89F2EAF06E9}"/>
                  </a:ext>
                </a:extLst>
              </p:cNvPr>
              <p:cNvSpPr/>
              <p:nvPr/>
            </p:nvSpPr>
            <p:spPr>
              <a:xfrm>
                <a:off x="10039942" y="4487898"/>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 name="Rectangle 86">
                <a:extLst>
                  <a:ext uri="{FF2B5EF4-FFF2-40B4-BE49-F238E27FC236}">
                    <a16:creationId xmlns:a16="http://schemas.microsoft.com/office/drawing/2014/main" id="{495B6812-8141-7DF7-8CA6-0ADB8120C22A}"/>
                  </a:ext>
                </a:extLst>
              </p:cNvPr>
              <p:cNvSpPr/>
              <p:nvPr/>
            </p:nvSpPr>
            <p:spPr>
              <a:xfrm>
                <a:off x="10126610" y="4389730"/>
                <a:ext cx="164538"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Rectangle 87">
                <a:extLst>
                  <a:ext uri="{FF2B5EF4-FFF2-40B4-BE49-F238E27FC236}">
                    <a16:creationId xmlns:a16="http://schemas.microsoft.com/office/drawing/2014/main" id="{2AAE718C-0E84-A09B-5101-D71D740FA8A8}"/>
                  </a:ext>
                </a:extLst>
              </p:cNvPr>
              <p:cNvSpPr/>
              <p:nvPr/>
            </p:nvSpPr>
            <p:spPr>
              <a:xfrm>
                <a:off x="10278475" y="4297650"/>
                <a:ext cx="104547"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 name="Rectangle 88">
                <a:extLst>
                  <a:ext uri="{FF2B5EF4-FFF2-40B4-BE49-F238E27FC236}">
                    <a16:creationId xmlns:a16="http://schemas.microsoft.com/office/drawing/2014/main" id="{AF4A1E4B-3ADB-8667-7594-C4AC3399C660}"/>
                  </a:ext>
                </a:extLst>
              </p:cNvPr>
              <p:cNvSpPr/>
              <p:nvPr/>
            </p:nvSpPr>
            <p:spPr>
              <a:xfrm>
                <a:off x="10039941" y="4292459"/>
                <a:ext cx="11195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Rectangle 89">
                <a:extLst>
                  <a:ext uri="{FF2B5EF4-FFF2-40B4-BE49-F238E27FC236}">
                    <a16:creationId xmlns:a16="http://schemas.microsoft.com/office/drawing/2014/main" id="{2D5E6CB3-7AD4-947F-53C1-C2C59AE9F3E6}"/>
                  </a:ext>
                </a:extLst>
              </p:cNvPr>
              <p:cNvSpPr/>
              <p:nvPr/>
            </p:nvSpPr>
            <p:spPr>
              <a:xfrm>
                <a:off x="10302363" y="4389731"/>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 name="Rectangle 90">
                <a:extLst>
                  <a:ext uri="{FF2B5EF4-FFF2-40B4-BE49-F238E27FC236}">
                    <a16:creationId xmlns:a16="http://schemas.microsoft.com/office/drawing/2014/main" id="{D0E40AB0-33A5-C36C-41B4-6FD9C0AB1792}"/>
                  </a:ext>
                </a:extLst>
              </p:cNvPr>
              <p:cNvSpPr/>
              <p:nvPr/>
            </p:nvSpPr>
            <p:spPr>
              <a:xfrm>
                <a:off x="10037202" y="4389731"/>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Rectangle 91">
                <a:extLst>
                  <a:ext uri="{FF2B5EF4-FFF2-40B4-BE49-F238E27FC236}">
                    <a16:creationId xmlns:a16="http://schemas.microsoft.com/office/drawing/2014/main" id="{32EE31CF-63DD-4F08-8A1F-2C2DBB3583B7}"/>
                  </a:ext>
                </a:extLst>
              </p:cNvPr>
              <p:cNvSpPr/>
              <p:nvPr/>
            </p:nvSpPr>
            <p:spPr>
              <a:xfrm>
                <a:off x="10436079" y="4482522"/>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Rectangle 92">
                <a:extLst>
                  <a:ext uri="{FF2B5EF4-FFF2-40B4-BE49-F238E27FC236}">
                    <a16:creationId xmlns:a16="http://schemas.microsoft.com/office/drawing/2014/main" id="{32A1A9F6-7603-40EF-5AE4-0CE0DE784ADF}"/>
                  </a:ext>
                </a:extLst>
              </p:cNvPr>
              <p:cNvSpPr/>
              <p:nvPr/>
            </p:nvSpPr>
            <p:spPr>
              <a:xfrm>
                <a:off x="10436079" y="4389730"/>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4" name="Rectangle 93">
                <a:extLst>
                  <a:ext uri="{FF2B5EF4-FFF2-40B4-BE49-F238E27FC236}">
                    <a16:creationId xmlns:a16="http://schemas.microsoft.com/office/drawing/2014/main" id="{E7E59B71-EF4A-1F30-4D0D-9CDD8A91B963}"/>
                  </a:ext>
                </a:extLst>
              </p:cNvPr>
              <p:cNvSpPr/>
              <p:nvPr/>
            </p:nvSpPr>
            <p:spPr>
              <a:xfrm>
                <a:off x="10436299" y="4296319"/>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7" name="Rectangle 96">
                <a:extLst>
                  <a:ext uri="{FF2B5EF4-FFF2-40B4-BE49-F238E27FC236}">
                    <a16:creationId xmlns:a16="http://schemas.microsoft.com/office/drawing/2014/main" id="{6C026514-938A-AD16-8E41-AA3A2A97A048}"/>
                  </a:ext>
                </a:extLst>
              </p:cNvPr>
              <p:cNvSpPr/>
              <p:nvPr/>
            </p:nvSpPr>
            <p:spPr>
              <a:xfrm>
                <a:off x="10436079" y="4201946"/>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2" name="Rectangle 101">
                <a:extLst>
                  <a:ext uri="{FF2B5EF4-FFF2-40B4-BE49-F238E27FC236}">
                    <a16:creationId xmlns:a16="http://schemas.microsoft.com/office/drawing/2014/main" id="{4146C225-62B1-B73D-79B1-18119B9AA98D}"/>
                  </a:ext>
                </a:extLst>
              </p:cNvPr>
              <p:cNvSpPr/>
              <p:nvPr/>
            </p:nvSpPr>
            <p:spPr>
              <a:xfrm>
                <a:off x="10933093" y="449077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3" name="Rectangle 102">
                <a:extLst>
                  <a:ext uri="{FF2B5EF4-FFF2-40B4-BE49-F238E27FC236}">
                    <a16:creationId xmlns:a16="http://schemas.microsoft.com/office/drawing/2014/main" id="{075F0599-D6FA-0136-447C-67A9229A04BC}"/>
                  </a:ext>
                </a:extLst>
              </p:cNvPr>
              <p:cNvSpPr/>
              <p:nvPr/>
            </p:nvSpPr>
            <p:spPr>
              <a:xfrm>
                <a:off x="10933093" y="4397984"/>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4" name="Rectangle 103">
                <a:extLst>
                  <a:ext uri="{FF2B5EF4-FFF2-40B4-BE49-F238E27FC236}">
                    <a16:creationId xmlns:a16="http://schemas.microsoft.com/office/drawing/2014/main" id="{D8124DA3-707C-DAD3-6909-0532483F3C66}"/>
                  </a:ext>
                </a:extLst>
              </p:cNvPr>
              <p:cNvSpPr/>
              <p:nvPr/>
            </p:nvSpPr>
            <p:spPr>
              <a:xfrm>
                <a:off x="10933314" y="4304573"/>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5" name="Rectangle 104">
                <a:extLst>
                  <a:ext uri="{FF2B5EF4-FFF2-40B4-BE49-F238E27FC236}">
                    <a16:creationId xmlns:a16="http://schemas.microsoft.com/office/drawing/2014/main" id="{8E31692A-4FBF-A3D5-2BDF-737D7C18BAAD}"/>
                  </a:ext>
                </a:extLst>
              </p:cNvPr>
              <p:cNvSpPr/>
              <p:nvPr/>
            </p:nvSpPr>
            <p:spPr>
              <a:xfrm>
                <a:off x="10933093" y="4210201"/>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6" name="Rectangle 105">
                <a:extLst>
                  <a:ext uri="{FF2B5EF4-FFF2-40B4-BE49-F238E27FC236}">
                    <a16:creationId xmlns:a16="http://schemas.microsoft.com/office/drawing/2014/main" id="{40C96492-128E-4EEE-E035-7BE2E187B8E8}"/>
                  </a:ext>
                </a:extLst>
              </p:cNvPr>
              <p:cNvSpPr/>
              <p:nvPr/>
            </p:nvSpPr>
            <p:spPr>
              <a:xfrm>
                <a:off x="10933093" y="4112478"/>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Rectangle 106">
                <a:extLst>
                  <a:ext uri="{FF2B5EF4-FFF2-40B4-BE49-F238E27FC236}">
                    <a16:creationId xmlns:a16="http://schemas.microsoft.com/office/drawing/2014/main" id="{9FB294A6-DF9A-BFAF-F700-96F9BACB9C13}"/>
                  </a:ext>
                </a:extLst>
              </p:cNvPr>
              <p:cNvSpPr/>
              <p:nvPr/>
            </p:nvSpPr>
            <p:spPr>
              <a:xfrm>
                <a:off x="10933093" y="4019686"/>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Rectangle 107">
                <a:extLst>
                  <a:ext uri="{FF2B5EF4-FFF2-40B4-BE49-F238E27FC236}">
                    <a16:creationId xmlns:a16="http://schemas.microsoft.com/office/drawing/2014/main" id="{6D410ED7-FCA3-8A1A-DAD8-5E741DE791A3}"/>
                  </a:ext>
                </a:extLst>
              </p:cNvPr>
              <p:cNvSpPr/>
              <p:nvPr/>
            </p:nvSpPr>
            <p:spPr>
              <a:xfrm>
                <a:off x="10933314" y="3926275"/>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9" name="Rectangle 108">
                <a:extLst>
                  <a:ext uri="{FF2B5EF4-FFF2-40B4-BE49-F238E27FC236}">
                    <a16:creationId xmlns:a16="http://schemas.microsoft.com/office/drawing/2014/main" id="{FA6191E7-7B70-AE7D-53C7-5ABF59B27AFD}"/>
                  </a:ext>
                </a:extLst>
              </p:cNvPr>
              <p:cNvSpPr/>
              <p:nvPr/>
            </p:nvSpPr>
            <p:spPr>
              <a:xfrm>
                <a:off x="10933093" y="3831903"/>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Rectangle 109">
                <a:extLst>
                  <a:ext uri="{FF2B5EF4-FFF2-40B4-BE49-F238E27FC236}">
                    <a16:creationId xmlns:a16="http://schemas.microsoft.com/office/drawing/2014/main" id="{96CD668C-7387-25BA-A8EA-844B34E71966}"/>
                  </a:ext>
                </a:extLst>
              </p:cNvPr>
              <p:cNvSpPr/>
              <p:nvPr/>
            </p:nvSpPr>
            <p:spPr>
              <a:xfrm>
                <a:off x="10436079" y="410286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1" name="Rectangle 110">
                <a:extLst>
                  <a:ext uri="{FF2B5EF4-FFF2-40B4-BE49-F238E27FC236}">
                    <a16:creationId xmlns:a16="http://schemas.microsoft.com/office/drawing/2014/main" id="{FC3D6298-CF1C-333F-EFA0-430F07B33E40}"/>
                  </a:ext>
                </a:extLst>
              </p:cNvPr>
              <p:cNvSpPr/>
              <p:nvPr/>
            </p:nvSpPr>
            <p:spPr>
              <a:xfrm>
                <a:off x="10436079" y="4010075"/>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2" name="Rectangle 111">
                <a:extLst>
                  <a:ext uri="{FF2B5EF4-FFF2-40B4-BE49-F238E27FC236}">
                    <a16:creationId xmlns:a16="http://schemas.microsoft.com/office/drawing/2014/main" id="{8BC77393-6037-5FAA-F1AE-13855A115965}"/>
                  </a:ext>
                </a:extLst>
              </p:cNvPr>
              <p:cNvSpPr/>
              <p:nvPr/>
            </p:nvSpPr>
            <p:spPr>
              <a:xfrm>
                <a:off x="10435444" y="3916716"/>
                <a:ext cx="147855"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3" name="Rectangle 112">
                <a:extLst>
                  <a:ext uri="{FF2B5EF4-FFF2-40B4-BE49-F238E27FC236}">
                    <a16:creationId xmlns:a16="http://schemas.microsoft.com/office/drawing/2014/main" id="{71C82412-09F8-34D3-EB3B-C100F3BCE25B}"/>
                  </a:ext>
                </a:extLst>
              </p:cNvPr>
              <p:cNvSpPr/>
              <p:nvPr/>
            </p:nvSpPr>
            <p:spPr>
              <a:xfrm>
                <a:off x="10435224" y="3831902"/>
                <a:ext cx="147855"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4" name="Rectangle 113">
                <a:extLst>
                  <a:ext uri="{FF2B5EF4-FFF2-40B4-BE49-F238E27FC236}">
                    <a16:creationId xmlns:a16="http://schemas.microsoft.com/office/drawing/2014/main" id="{E739AD1E-E203-457D-9916-976D6FA96344}"/>
                  </a:ext>
                </a:extLst>
              </p:cNvPr>
              <p:cNvSpPr/>
              <p:nvPr/>
            </p:nvSpPr>
            <p:spPr>
              <a:xfrm>
                <a:off x="10596194" y="3831902"/>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5" name="Rectangle 114">
                <a:extLst>
                  <a:ext uri="{FF2B5EF4-FFF2-40B4-BE49-F238E27FC236}">
                    <a16:creationId xmlns:a16="http://schemas.microsoft.com/office/drawing/2014/main" id="{600E5703-8827-EAAD-A611-F1F551ADA4DD}"/>
                  </a:ext>
                </a:extLst>
              </p:cNvPr>
              <p:cNvSpPr/>
              <p:nvPr/>
            </p:nvSpPr>
            <p:spPr>
              <a:xfrm>
                <a:off x="10823783" y="3832506"/>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Rectangle 115">
                <a:extLst>
                  <a:ext uri="{FF2B5EF4-FFF2-40B4-BE49-F238E27FC236}">
                    <a16:creationId xmlns:a16="http://schemas.microsoft.com/office/drawing/2014/main" id="{668B4CDE-E8CC-E697-F9B1-19834745EDF0}"/>
                  </a:ext>
                </a:extLst>
              </p:cNvPr>
              <p:cNvSpPr/>
              <p:nvPr/>
            </p:nvSpPr>
            <p:spPr>
              <a:xfrm>
                <a:off x="10534911" y="3743967"/>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Rectangle 116">
                <a:extLst>
                  <a:ext uri="{FF2B5EF4-FFF2-40B4-BE49-F238E27FC236}">
                    <a16:creationId xmlns:a16="http://schemas.microsoft.com/office/drawing/2014/main" id="{E4131529-244A-F96B-8674-6B2B294C0910}"/>
                  </a:ext>
                </a:extLst>
              </p:cNvPr>
              <p:cNvSpPr/>
              <p:nvPr/>
            </p:nvSpPr>
            <p:spPr>
              <a:xfrm>
                <a:off x="10709481" y="3743966"/>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8" name="Rectangle 117">
                <a:extLst>
                  <a:ext uri="{FF2B5EF4-FFF2-40B4-BE49-F238E27FC236}">
                    <a16:creationId xmlns:a16="http://schemas.microsoft.com/office/drawing/2014/main" id="{F47EAB81-ABA8-9093-DF3B-12770DCAB568}"/>
                  </a:ext>
                </a:extLst>
              </p:cNvPr>
              <p:cNvSpPr/>
              <p:nvPr/>
            </p:nvSpPr>
            <p:spPr>
              <a:xfrm>
                <a:off x="10892456" y="3742790"/>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 name="Rectangle 118">
                <a:extLst>
                  <a:ext uri="{FF2B5EF4-FFF2-40B4-BE49-F238E27FC236}">
                    <a16:creationId xmlns:a16="http://schemas.microsoft.com/office/drawing/2014/main" id="{DF12340F-3C7F-4EB3-0802-4DAFB1CD009F}"/>
                  </a:ext>
                </a:extLst>
              </p:cNvPr>
              <p:cNvSpPr/>
              <p:nvPr/>
            </p:nvSpPr>
            <p:spPr>
              <a:xfrm>
                <a:off x="10277958" y="4202651"/>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 name="Rectangle 119">
                <a:extLst>
                  <a:ext uri="{FF2B5EF4-FFF2-40B4-BE49-F238E27FC236}">
                    <a16:creationId xmlns:a16="http://schemas.microsoft.com/office/drawing/2014/main" id="{4C2F1AC3-E44E-2230-8A1A-803D185029A6}"/>
                  </a:ext>
                </a:extLst>
              </p:cNvPr>
              <p:cNvSpPr/>
              <p:nvPr/>
            </p:nvSpPr>
            <p:spPr>
              <a:xfrm>
                <a:off x="10277958" y="410985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 name="Rectangle 120">
                <a:extLst>
                  <a:ext uri="{FF2B5EF4-FFF2-40B4-BE49-F238E27FC236}">
                    <a16:creationId xmlns:a16="http://schemas.microsoft.com/office/drawing/2014/main" id="{74D09925-125B-DC0C-5C8B-069904900852}"/>
                  </a:ext>
                </a:extLst>
              </p:cNvPr>
              <p:cNvSpPr/>
              <p:nvPr/>
            </p:nvSpPr>
            <p:spPr>
              <a:xfrm>
                <a:off x="10278178" y="401644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Rectangle 121">
                <a:extLst>
                  <a:ext uri="{FF2B5EF4-FFF2-40B4-BE49-F238E27FC236}">
                    <a16:creationId xmlns:a16="http://schemas.microsoft.com/office/drawing/2014/main" id="{5953543A-AFB6-77D2-FFB1-D252AB5ECA85}"/>
                  </a:ext>
                </a:extLst>
              </p:cNvPr>
              <p:cNvSpPr/>
              <p:nvPr/>
            </p:nvSpPr>
            <p:spPr>
              <a:xfrm>
                <a:off x="10277958" y="3922075"/>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 name="Rectangle 122">
                <a:extLst>
                  <a:ext uri="{FF2B5EF4-FFF2-40B4-BE49-F238E27FC236}">
                    <a16:creationId xmlns:a16="http://schemas.microsoft.com/office/drawing/2014/main" id="{28200763-4207-E0ED-2492-DA7D646EC54D}"/>
                  </a:ext>
                </a:extLst>
              </p:cNvPr>
              <p:cNvSpPr/>
              <p:nvPr/>
            </p:nvSpPr>
            <p:spPr>
              <a:xfrm>
                <a:off x="10277958" y="3824352"/>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 name="Rectangle 123">
                <a:extLst>
                  <a:ext uri="{FF2B5EF4-FFF2-40B4-BE49-F238E27FC236}">
                    <a16:creationId xmlns:a16="http://schemas.microsoft.com/office/drawing/2014/main" id="{AD36F9FC-4977-0EDE-FB3E-9F32052B9BFD}"/>
                  </a:ext>
                </a:extLst>
              </p:cNvPr>
              <p:cNvSpPr/>
              <p:nvPr/>
            </p:nvSpPr>
            <p:spPr>
              <a:xfrm>
                <a:off x="10047590" y="419651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 name="Rectangle 124">
                <a:extLst>
                  <a:ext uri="{FF2B5EF4-FFF2-40B4-BE49-F238E27FC236}">
                    <a16:creationId xmlns:a16="http://schemas.microsoft.com/office/drawing/2014/main" id="{563F7DBD-BD10-32CA-452A-4251FB02BE5D}"/>
                  </a:ext>
                </a:extLst>
              </p:cNvPr>
              <p:cNvSpPr/>
              <p:nvPr/>
            </p:nvSpPr>
            <p:spPr>
              <a:xfrm>
                <a:off x="10047590" y="4103721"/>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 name="Rectangle 125">
                <a:extLst>
                  <a:ext uri="{FF2B5EF4-FFF2-40B4-BE49-F238E27FC236}">
                    <a16:creationId xmlns:a16="http://schemas.microsoft.com/office/drawing/2014/main" id="{0AB88E09-3371-6898-84F9-C624AC0EC909}"/>
                  </a:ext>
                </a:extLst>
              </p:cNvPr>
              <p:cNvSpPr/>
              <p:nvPr/>
            </p:nvSpPr>
            <p:spPr>
              <a:xfrm>
                <a:off x="10047811" y="4010310"/>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 name="Rectangle 126">
                <a:extLst>
                  <a:ext uri="{FF2B5EF4-FFF2-40B4-BE49-F238E27FC236}">
                    <a16:creationId xmlns:a16="http://schemas.microsoft.com/office/drawing/2014/main" id="{CBD67ED4-E117-C131-840F-EFFA8FBD0809}"/>
                  </a:ext>
                </a:extLst>
              </p:cNvPr>
              <p:cNvSpPr/>
              <p:nvPr/>
            </p:nvSpPr>
            <p:spPr>
              <a:xfrm>
                <a:off x="10047590" y="3915938"/>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 name="Rectangle 127">
                <a:extLst>
                  <a:ext uri="{FF2B5EF4-FFF2-40B4-BE49-F238E27FC236}">
                    <a16:creationId xmlns:a16="http://schemas.microsoft.com/office/drawing/2014/main" id="{5D63D579-5704-D84B-D088-15528A01DE13}"/>
                  </a:ext>
                </a:extLst>
              </p:cNvPr>
              <p:cNvSpPr/>
              <p:nvPr/>
            </p:nvSpPr>
            <p:spPr>
              <a:xfrm>
                <a:off x="10047590" y="3818215"/>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 name="Rectangle 128">
                <a:extLst>
                  <a:ext uri="{FF2B5EF4-FFF2-40B4-BE49-F238E27FC236}">
                    <a16:creationId xmlns:a16="http://schemas.microsoft.com/office/drawing/2014/main" id="{E19257DF-A843-76EA-FDCA-95EA303C401E}"/>
                  </a:ext>
                </a:extLst>
              </p:cNvPr>
              <p:cNvSpPr/>
              <p:nvPr/>
            </p:nvSpPr>
            <p:spPr>
              <a:xfrm>
                <a:off x="10162774" y="3963589"/>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 name="Rectangle 129">
                <a:extLst>
                  <a:ext uri="{FF2B5EF4-FFF2-40B4-BE49-F238E27FC236}">
                    <a16:creationId xmlns:a16="http://schemas.microsoft.com/office/drawing/2014/main" id="{FB559685-AF79-4C37-07D9-7F87A648FB58}"/>
                  </a:ext>
                </a:extLst>
              </p:cNvPr>
              <p:cNvSpPr/>
              <p:nvPr/>
            </p:nvSpPr>
            <p:spPr>
              <a:xfrm>
                <a:off x="10162774" y="3870797"/>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Rectangle 130">
                <a:extLst>
                  <a:ext uri="{FF2B5EF4-FFF2-40B4-BE49-F238E27FC236}">
                    <a16:creationId xmlns:a16="http://schemas.microsoft.com/office/drawing/2014/main" id="{D58AC082-651C-9236-99E6-655665FA6C57}"/>
                  </a:ext>
                </a:extLst>
              </p:cNvPr>
              <p:cNvSpPr/>
              <p:nvPr/>
            </p:nvSpPr>
            <p:spPr>
              <a:xfrm>
                <a:off x="10165167" y="3783041"/>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Rectangle 131">
                <a:extLst>
                  <a:ext uri="{FF2B5EF4-FFF2-40B4-BE49-F238E27FC236}">
                    <a16:creationId xmlns:a16="http://schemas.microsoft.com/office/drawing/2014/main" id="{C174D139-65C9-8BF5-36B8-2D2001A85841}"/>
                  </a:ext>
                </a:extLst>
              </p:cNvPr>
              <p:cNvSpPr/>
              <p:nvPr/>
            </p:nvSpPr>
            <p:spPr>
              <a:xfrm>
                <a:off x="10280910" y="372763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 name="Rectangle 132">
                <a:extLst>
                  <a:ext uri="{FF2B5EF4-FFF2-40B4-BE49-F238E27FC236}">
                    <a16:creationId xmlns:a16="http://schemas.microsoft.com/office/drawing/2014/main" id="{EE2193E6-1910-01FA-D9B6-F8406891A9C7}"/>
                  </a:ext>
                </a:extLst>
              </p:cNvPr>
              <p:cNvSpPr/>
              <p:nvPr/>
            </p:nvSpPr>
            <p:spPr>
              <a:xfrm>
                <a:off x="10281131" y="363422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 name="Rectangle 133">
                <a:extLst>
                  <a:ext uri="{FF2B5EF4-FFF2-40B4-BE49-F238E27FC236}">
                    <a16:creationId xmlns:a16="http://schemas.microsoft.com/office/drawing/2014/main" id="{A7A6EDB4-0262-9D60-92A3-82E56CC05283}"/>
                  </a:ext>
                </a:extLst>
              </p:cNvPr>
              <p:cNvSpPr/>
              <p:nvPr/>
            </p:nvSpPr>
            <p:spPr>
              <a:xfrm>
                <a:off x="10280910" y="3539856"/>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Rectangle 134">
                <a:extLst>
                  <a:ext uri="{FF2B5EF4-FFF2-40B4-BE49-F238E27FC236}">
                    <a16:creationId xmlns:a16="http://schemas.microsoft.com/office/drawing/2014/main" id="{2EB38C37-50FC-145E-74CB-0511046F4196}"/>
                  </a:ext>
                </a:extLst>
              </p:cNvPr>
              <p:cNvSpPr/>
              <p:nvPr/>
            </p:nvSpPr>
            <p:spPr>
              <a:xfrm>
                <a:off x="10280910" y="344213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 name="Rectangle 135">
                <a:extLst>
                  <a:ext uri="{FF2B5EF4-FFF2-40B4-BE49-F238E27FC236}">
                    <a16:creationId xmlns:a16="http://schemas.microsoft.com/office/drawing/2014/main" id="{3C759D3E-D446-635D-4D9C-B6B5F506403C}"/>
                  </a:ext>
                </a:extLst>
              </p:cNvPr>
              <p:cNvSpPr/>
              <p:nvPr/>
            </p:nvSpPr>
            <p:spPr>
              <a:xfrm>
                <a:off x="10047590" y="372678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 name="Rectangle 136">
                <a:extLst>
                  <a:ext uri="{FF2B5EF4-FFF2-40B4-BE49-F238E27FC236}">
                    <a16:creationId xmlns:a16="http://schemas.microsoft.com/office/drawing/2014/main" id="{EB9C04CC-876A-E10F-3E9A-B313DE2A6FE8}"/>
                  </a:ext>
                </a:extLst>
              </p:cNvPr>
              <p:cNvSpPr/>
              <p:nvPr/>
            </p:nvSpPr>
            <p:spPr>
              <a:xfrm>
                <a:off x="10047811" y="363337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 name="Rectangle 137">
                <a:extLst>
                  <a:ext uri="{FF2B5EF4-FFF2-40B4-BE49-F238E27FC236}">
                    <a16:creationId xmlns:a16="http://schemas.microsoft.com/office/drawing/2014/main" id="{CE76B851-D177-FFCB-C1D1-C0F3B241939E}"/>
                  </a:ext>
                </a:extLst>
              </p:cNvPr>
              <p:cNvSpPr/>
              <p:nvPr/>
            </p:nvSpPr>
            <p:spPr>
              <a:xfrm>
                <a:off x="10047590" y="3539005"/>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Rectangle 138">
                <a:extLst>
                  <a:ext uri="{FF2B5EF4-FFF2-40B4-BE49-F238E27FC236}">
                    <a16:creationId xmlns:a16="http://schemas.microsoft.com/office/drawing/2014/main" id="{463CC1AC-496B-B2E5-0ECE-31C73343B66F}"/>
                  </a:ext>
                </a:extLst>
              </p:cNvPr>
              <p:cNvSpPr/>
              <p:nvPr/>
            </p:nvSpPr>
            <p:spPr>
              <a:xfrm>
                <a:off x="10047590" y="344128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 name="Rectangle 139">
                <a:extLst>
                  <a:ext uri="{FF2B5EF4-FFF2-40B4-BE49-F238E27FC236}">
                    <a16:creationId xmlns:a16="http://schemas.microsoft.com/office/drawing/2014/main" id="{F0A25BF9-F83F-0004-512C-FC395256B0F7}"/>
                  </a:ext>
                </a:extLst>
              </p:cNvPr>
              <p:cNvSpPr/>
              <p:nvPr/>
            </p:nvSpPr>
            <p:spPr>
              <a:xfrm>
                <a:off x="10162774" y="3447131"/>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CEFC7FB5-330A-18A0-EBE4-E3DD9C01A8C8}"/>
                  </a:ext>
                </a:extLst>
              </p:cNvPr>
              <p:cNvSpPr/>
              <p:nvPr/>
            </p:nvSpPr>
            <p:spPr>
              <a:xfrm>
                <a:off x="10165167" y="3359375"/>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0193D97-681C-AF56-8DE3-63C176783A20}"/>
                  </a:ext>
                </a:extLst>
              </p:cNvPr>
              <p:cNvSpPr/>
              <p:nvPr/>
            </p:nvSpPr>
            <p:spPr>
              <a:xfrm>
                <a:off x="11261438" y="4486079"/>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 name="Rectangle 142">
                <a:extLst>
                  <a:ext uri="{FF2B5EF4-FFF2-40B4-BE49-F238E27FC236}">
                    <a16:creationId xmlns:a16="http://schemas.microsoft.com/office/drawing/2014/main" id="{608F083B-2D74-3731-56FE-62B4A0BE0E08}"/>
                  </a:ext>
                </a:extLst>
              </p:cNvPr>
              <p:cNvSpPr/>
              <p:nvPr/>
            </p:nvSpPr>
            <p:spPr>
              <a:xfrm>
                <a:off x="11082898" y="4485643"/>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Rectangle 143">
                <a:extLst>
                  <a:ext uri="{FF2B5EF4-FFF2-40B4-BE49-F238E27FC236}">
                    <a16:creationId xmlns:a16="http://schemas.microsoft.com/office/drawing/2014/main" id="{1C07ED58-979F-D262-2032-1018D91A44A0}"/>
                  </a:ext>
                </a:extLst>
              </p:cNvPr>
              <p:cNvSpPr/>
              <p:nvPr/>
            </p:nvSpPr>
            <p:spPr>
              <a:xfrm>
                <a:off x="11169566" y="4387475"/>
                <a:ext cx="164538"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 name="Rectangle 144">
                <a:extLst>
                  <a:ext uri="{FF2B5EF4-FFF2-40B4-BE49-F238E27FC236}">
                    <a16:creationId xmlns:a16="http://schemas.microsoft.com/office/drawing/2014/main" id="{549FC23F-5F96-1C50-3C91-E9FD75E0D794}"/>
                  </a:ext>
                </a:extLst>
              </p:cNvPr>
              <p:cNvSpPr/>
              <p:nvPr/>
            </p:nvSpPr>
            <p:spPr>
              <a:xfrm>
                <a:off x="11321431" y="4295395"/>
                <a:ext cx="104547"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 name="Rectangle 145">
                <a:extLst>
                  <a:ext uri="{FF2B5EF4-FFF2-40B4-BE49-F238E27FC236}">
                    <a16:creationId xmlns:a16="http://schemas.microsoft.com/office/drawing/2014/main" id="{170EEEBE-BAE3-C23F-4E70-0390B5D9D704}"/>
                  </a:ext>
                </a:extLst>
              </p:cNvPr>
              <p:cNvSpPr/>
              <p:nvPr/>
            </p:nvSpPr>
            <p:spPr>
              <a:xfrm>
                <a:off x="11082897" y="4290204"/>
                <a:ext cx="11195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 name="Rectangle 146">
                <a:extLst>
                  <a:ext uri="{FF2B5EF4-FFF2-40B4-BE49-F238E27FC236}">
                    <a16:creationId xmlns:a16="http://schemas.microsoft.com/office/drawing/2014/main" id="{E5CFC890-1CA5-9BCD-1AFA-FA42A561617E}"/>
                  </a:ext>
                </a:extLst>
              </p:cNvPr>
              <p:cNvSpPr/>
              <p:nvPr/>
            </p:nvSpPr>
            <p:spPr>
              <a:xfrm>
                <a:off x="11345319" y="4387476"/>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Rectangle 147">
                <a:extLst>
                  <a:ext uri="{FF2B5EF4-FFF2-40B4-BE49-F238E27FC236}">
                    <a16:creationId xmlns:a16="http://schemas.microsoft.com/office/drawing/2014/main" id="{8613BE52-9557-C1BD-4DBF-A68D3D6FB4B0}"/>
                  </a:ext>
                </a:extLst>
              </p:cNvPr>
              <p:cNvSpPr/>
              <p:nvPr/>
            </p:nvSpPr>
            <p:spPr>
              <a:xfrm>
                <a:off x="11080158" y="4387476"/>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 name="Rectangle 148">
                <a:extLst>
                  <a:ext uri="{FF2B5EF4-FFF2-40B4-BE49-F238E27FC236}">
                    <a16:creationId xmlns:a16="http://schemas.microsoft.com/office/drawing/2014/main" id="{C075B83D-E675-043B-534E-C7EA9BECDB0F}"/>
                  </a:ext>
                </a:extLst>
              </p:cNvPr>
              <p:cNvSpPr/>
              <p:nvPr/>
            </p:nvSpPr>
            <p:spPr>
              <a:xfrm>
                <a:off x="11320914" y="420039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 name="Rectangle 149">
                <a:extLst>
                  <a:ext uri="{FF2B5EF4-FFF2-40B4-BE49-F238E27FC236}">
                    <a16:creationId xmlns:a16="http://schemas.microsoft.com/office/drawing/2014/main" id="{FA09FC52-CEC2-A88D-C34B-4CED6FA5DF08}"/>
                  </a:ext>
                </a:extLst>
              </p:cNvPr>
              <p:cNvSpPr/>
              <p:nvPr/>
            </p:nvSpPr>
            <p:spPr>
              <a:xfrm>
                <a:off x="11320914" y="4107604"/>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 name="Rectangle 150">
                <a:extLst>
                  <a:ext uri="{FF2B5EF4-FFF2-40B4-BE49-F238E27FC236}">
                    <a16:creationId xmlns:a16="http://schemas.microsoft.com/office/drawing/2014/main" id="{760F58D9-3557-ED3D-BC0D-2326A3F45CBF}"/>
                  </a:ext>
                </a:extLst>
              </p:cNvPr>
              <p:cNvSpPr/>
              <p:nvPr/>
            </p:nvSpPr>
            <p:spPr>
              <a:xfrm>
                <a:off x="11090546" y="4194258"/>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 name="Rectangle 151">
                <a:extLst>
                  <a:ext uri="{FF2B5EF4-FFF2-40B4-BE49-F238E27FC236}">
                    <a16:creationId xmlns:a16="http://schemas.microsoft.com/office/drawing/2014/main" id="{92B6D281-5D8C-1026-94B7-D28605C09887}"/>
                  </a:ext>
                </a:extLst>
              </p:cNvPr>
              <p:cNvSpPr/>
              <p:nvPr/>
            </p:nvSpPr>
            <p:spPr>
              <a:xfrm>
                <a:off x="11090546" y="4101467"/>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3" name="Groupe 152">
              <a:extLst>
                <a:ext uri="{FF2B5EF4-FFF2-40B4-BE49-F238E27FC236}">
                  <a16:creationId xmlns:a16="http://schemas.microsoft.com/office/drawing/2014/main" id="{CF81FA1E-E0C1-4271-4FB1-8122D57F03AD}"/>
                </a:ext>
              </a:extLst>
            </p:cNvPr>
            <p:cNvGrpSpPr/>
            <p:nvPr/>
          </p:nvGrpSpPr>
          <p:grpSpPr>
            <a:xfrm>
              <a:off x="1586592" y="3400064"/>
              <a:ext cx="1383385" cy="1242096"/>
              <a:chOff x="5247267" y="8072371"/>
              <a:chExt cx="817082" cy="733631"/>
            </a:xfrm>
          </p:grpSpPr>
          <p:grpSp>
            <p:nvGrpSpPr>
              <p:cNvPr id="154" name="Groupe 153">
                <a:extLst>
                  <a:ext uri="{FF2B5EF4-FFF2-40B4-BE49-F238E27FC236}">
                    <a16:creationId xmlns:a16="http://schemas.microsoft.com/office/drawing/2014/main" id="{3568E3FE-26D4-A7B8-7750-DEB56531A581}"/>
                  </a:ext>
                </a:extLst>
              </p:cNvPr>
              <p:cNvGrpSpPr/>
              <p:nvPr/>
            </p:nvGrpSpPr>
            <p:grpSpPr>
              <a:xfrm>
                <a:off x="5247267" y="8117813"/>
                <a:ext cx="817082" cy="688189"/>
                <a:chOff x="3890963" y="2438774"/>
                <a:chExt cx="1085661" cy="914400"/>
              </a:xfrm>
            </p:grpSpPr>
            <p:pic>
              <p:nvPicPr>
                <p:cNvPr id="156" name="Graphique 155" descr="Culturiste avec un remplissage uni">
                  <a:extLst>
                    <a:ext uri="{FF2B5EF4-FFF2-40B4-BE49-F238E27FC236}">
                      <a16:creationId xmlns:a16="http://schemas.microsoft.com/office/drawing/2014/main" id="{715D636D-0BDE-6602-5B79-8CC9D8870236}"/>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81356" y="2438774"/>
                  <a:ext cx="914400" cy="914400"/>
                </a:xfrm>
                <a:prstGeom prst="rect">
                  <a:avLst/>
                </a:prstGeom>
              </p:spPr>
            </p:pic>
            <p:sp>
              <p:nvSpPr>
                <p:cNvPr id="157" name="Rectangle 156">
                  <a:extLst>
                    <a:ext uri="{FF2B5EF4-FFF2-40B4-BE49-F238E27FC236}">
                      <a16:creationId xmlns:a16="http://schemas.microsoft.com/office/drawing/2014/main" id="{9CAD3BE6-CA20-F957-D1AA-4104E8E54712}"/>
                    </a:ext>
                  </a:extLst>
                </p:cNvPr>
                <p:cNvSpPr/>
                <p:nvPr/>
              </p:nvSpPr>
              <p:spPr>
                <a:xfrm>
                  <a:off x="3890963"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 name="Rectangle 157">
                  <a:extLst>
                    <a:ext uri="{FF2B5EF4-FFF2-40B4-BE49-F238E27FC236}">
                      <a16:creationId xmlns:a16="http://schemas.microsoft.com/office/drawing/2014/main" id="{D04E35A9-1A34-B2B1-9B60-C601AFA5F4BC}"/>
                    </a:ext>
                  </a:extLst>
                </p:cNvPr>
                <p:cNvSpPr/>
                <p:nvPr/>
              </p:nvSpPr>
              <p:spPr>
                <a:xfrm>
                  <a:off x="4700399"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5" name="Rectangle 154">
                <a:extLst>
                  <a:ext uri="{FF2B5EF4-FFF2-40B4-BE49-F238E27FC236}">
                    <a16:creationId xmlns:a16="http://schemas.microsoft.com/office/drawing/2014/main" id="{F5E33299-C4B1-A538-9BEA-1F6822F2A74D}"/>
                  </a:ext>
                </a:extLst>
              </p:cNvPr>
              <p:cNvSpPr/>
              <p:nvPr/>
            </p:nvSpPr>
            <p:spPr>
              <a:xfrm>
                <a:off x="5519269" y="8072371"/>
                <a:ext cx="298624" cy="1461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9" name="Groupe 158">
              <a:extLst>
                <a:ext uri="{FF2B5EF4-FFF2-40B4-BE49-F238E27FC236}">
                  <a16:creationId xmlns:a16="http://schemas.microsoft.com/office/drawing/2014/main" id="{71A779E2-629F-8E43-5134-B8B6626866BA}"/>
                </a:ext>
              </a:extLst>
            </p:cNvPr>
            <p:cNvGrpSpPr/>
            <p:nvPr/>
          </p:nvGrpSpPr>
          <p:grpSpPr>
            <a:xfrm flipH="1">
              <a:off x="262080" y="5046378"/>
              <a:ext cx="635480" cy="1274252"/>
              <a:chOff x="5134003" y="2196472"/>
              <a:chExt cx="563254" cy="1156702"/>
            </a:xfrm>
          </p:grpSpPr>
          <p:pic>
            <p:nvPicPr>
              <p:cNvPr id="160" name="Graphique 159" descr="Réussite du groupe avec un remplissage uni">
                <a:extLst>
                  <a:ext uri="{FF2B5EF4-FFF2-40B4-BE49-F238E27FC236}">
                    <a16:creationId xmlns:a16="http://schemas.microsoft.com/office/drawing/2014/main" id="{72700F5E-80E4-7400-B5E3-CE8B53CE6773}"/>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l="69977" t="13713" r="6403" b="17430"/>
              <a:stretch/>
            </p:blipFill>
            <p:spPr>
              <a:xfrm>
                <a:off x="5300474" y="2196472"/>
                <a:ext cx="396783" cy="1156702"/>
              </a:xfrm>
              <a:prstGeom prst="rect">
                <a:avLst/>
              </a:prstGeom>
            </p:spPr>
          </p:pic>
          <p:sp>
            <p:nvSpPr>
              <p:cNvPr id="161" name="Rectangle 160">
                <a:extLst>
                  <a:ext uri="{FF2B5EF4-FFF2-40B4-BE49-F238E27FC236}">
                    <a16:creationId xmlns:a16="http://schemas.microsoft.com/office/drawing/2014/main" id="{26CA49C7-5BC3-A733-E14F-5FDE68F4E07D}"/>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2" name="Groupe 161">
              <a:extLst>
                <a:ext uri="{FF2B5EF4-FFF2-40B4-BE49-F238E27FC236}">
                  <a16:creationId xmlns:a16="http://schemas.microsoft.com/office/drawing/2014/main" id="{3A2685CC-726F-2C3F-24D0-7A81608C1C3A}"/>
                </a:ext>
              </a:extLst>
            </p:cNvPr>
            <p:cNvGrpSpPr/>
            <p:nvPr/>
          </p:nvGrpSpPr>
          <p:grpSpPr>
            <a:xfrm flipH="1">
              <a:off x="3424466" y="3197940"/>
              <a:ext cx="544643" cy="1109212"/>
              <a:chOff x="5134003" y="2196472"/>
              <a:chExt cx="563254" cy="1156702"/>
            </a:xfrm>
          </p:grpSpPr>
          <p:pic>
            <p:nvPicPr>
              <p:cNvPr id="163" name="Graphique 162" descr="Réussite du groupe avec un remplissage uni">
                <a:extLst>
                  <a:ext uri="{FF2B5EF4-FFF2-40B4-BE49-F238E27FC236}">
                    <a16:creationId xmlns:a16="http://schemas.microsoft.com/office/drawing/2014/main" id="{0BADD10F-497F-AACB-C9BE-532C8AE3578A}"/>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l="69977" t="13713" r="6403" b="17430"/>
              <a:stretch/>
            </p:blipFill>
            <p:spPr>
              <a:xfrm>
                <a:off x="5300474" y="2196472"/>
                <a:ext cx="396783" cy="1156702"/>
              </a:xfrm>
              <a:prstGeom prst="rect">
                <a:avLst/>
              </a:prstGeom>
            </p:spPr>
          </p:pic>
          <p:sp>
            <p:nvSpPr>
              <p:cNvPr id="164" name="Rectangle 163">
                <a:extLst>
                  <a:ext uri="{FF2B5EF4-FFF2-40B4-BE49-F238E27FC236}">
                    <a16:creationId xmlns:a16="http://schemas.microsoft.com/office/drawing/2014/main" id="{EDFC8568-5E19-9688-E69C-315F91C6970E}"/>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165" name="Graphique 164" descr="Mur de briques en construction avec un remplissage uni">
              <a:extLst>
                <a:ext uri="{FF2B5EF4-FFF2-40B4-BE49-F238E27FC236}">
                  <a16:creationId xmlns:a16="http://schemas.microsoft.com/office/drawing/2014/main" id="{C570DAE1-5524-DC2C-0002-930660C2843C}"/>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flipH="1">
              <a:off x="7209724" y="2927004"/>
              <a:ext cx="993712" cy="1005521"/>
            </a:xfrm>
            <a:prstGeom prst="rect">
              <a:avLst/>
            </a:prstGeom>
          </p:spPr>
        </p:pic>
        <p:pic>
          <p:nvPicPr>
            <p:cNvPr id="166" name="Graphique 165" descr="Mur de briques en construction avec un remplissage uni">
              <a:extLst>
                <a:ext uri="{FF2B5EF4-FFF2-40B4-BE49-F238E27FC236}">
                  <a16:creationId xmlns:a16="http://schemas.microsoft.com/office/drawing/2014/main" id="{1380AD4F-5BA1-BF39-8EE6-43C1FB223E7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flipH="1">
              <a:off x="5736911" y="3981151"/>
              <a:ext cx="993712" cy="1005521"/>
            </a:xfrm>
            <a:prstGeom prst="rect">
              <a:avLst/>
            </a:prstGeom>
          </p:spPr>
        </p:pic>
        <p:pic>
          <p:nvPicPr>
            <p:cNvPr id="167" name="Graphique 166" descr="Mur de briques en construction avec un remplissage uni">
              <a:extLst>
                <a:ext uri="{FF2B5EF4-FFF2-40B4-BE49-F238E27FC236}">
                  <a16:creationId xmlns:a16="http://schemas.microsoft.com/office/drawing/2014/main" id="{AB75B990-1B19-FCD3-494D-6CE0103BB122}"/>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flipH="1">
              <a:off x="7150179" y="4248794"/>
              <a:ext cx="993712" cy="1005521"/>
            </a:xfrm>
            <a:prstGeom prst="rect">
              <a:avLst/>
            </a:prstGeom>
          </p:spPr>
        </p:pic>
        <p:pic>
          <p:nvPicPr>
            <p:cNvPr id="168" name="Graphique 167" descr="Mur de briques en construction avec un remplissage uni">
              <a:extLst>
                <a:ext uri="{FF2B5EF4-FFF2-40B4-BE49-F238E27FC236}">
                  <a16:creationId xmlns:a16="http://schemas.microsoft.com/office/drawing/2014/main" id="{3644A9CD-51DA-B288-FE63-13B5032C3FAC}"/>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flipH="1">
              <a:off x="6192810" y="5310114"/>
              <a:ext cx="993712" cy="1005521"/>
            </a:xfrm>
            <a:prstGeom prst="rect">
              <a:avLst/>
            </a:prstGeom>
          </p:spPr>
        </p:pic>
      </p:grpSp>
      <p:sp>
        <p:nvSpPr>
          <p:cNvPr id="169" name="Flèche : gauche 168">
            <a:extLst>
              <a:ext uri="{FF2B5EF4-FFF2-40B4-BE49-F238E27FC236}">
                <a16:creationId xmlns:a16="http://schemas.microsoft.com/office/drawing/2014/main" id="{2DE5E938-30E5-2563-7B3A-E5F966CA4C6C}"/>
              </a:ext>
            </a:extLst>
          </p:cNvPr>
          <p:cNvSpPr/>
          <p:nvPr/>
        </p:nvSpPr>
        <p:spPr>
          <a:xfrm rot="1525700" flipH="1">
            <a:off x="3685118" y="2956595"/>
            <a:ext cx="1189456" cy="623864"/>
          </a:xfrm>
          <a:prstGeom prst="lef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1</a:t>
            </a:r>
          </a:p>
        </p:txBody>
      </p:sp>
    </p:spTree>
    <p:extLst>
      <p:ext uri="{BB962C8B-B14F-4D97-AF65-F5344CB8AC3E}">
        <p14:creationId xmlns:p14="http://schemas.microsoft.com/office/powerpoint/2010/main" val="1372199187"/>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FF05CEA-B376-4336-AAA7-38ABCF09E831}"/>
              </a:ext>
            </a:extLst>
          </p:cNvPr>
          <p:cNvSpPr>
            <a:spLocks noGrp="1"/>
          </p:cNvSpPr>
          <p:nvPr>
            <p:ph type="title"/>
          </p:nvPr>
        </p:nvSpPr>
        <p:spPr>
          <a:xfrm>
            <a:off x="838200" y="365125"/>
            <a:ext cx="10515600" cy="651610"/>
          </a:xfrm>
        </p:spPr>
        <p:txBody>
          <a:bodyPr>
            <a:normAutofit fontScale="90000"/>
          </a:bodyPr>
          <a:lstStyle/>
          <a:p>
            <a:r>
              <a:rPr lang="fr-FR" dirty="0"/>
              <a:t>La Valeur d’être en Communauté (vs seul)</a:t>
            </a:r>
            <a:br>
              <a:rPr lang="fr-FR" dirty="0"/>
            </a:br>
            <a:r>
              <a:rPr lang="fr-FR" dirty="0"/>
              <a:t>Maison de la contribution</a:t>
            </a:r>
          </a:p>
        </p:txBody>
      </p:sp>
      <p:grpSp>
        <p:nvGrpSpPr>
          <p:cNvPr id="10" name="Groupe 9">
            <a:extLst>
              <a:ext uri="{FF2B5EF4-FFF2-40B4-BE49-F238E27FC236}">
                <a16:creationId xmlns:a16="http://schemas.microsoft.com/office/drawing/2014/main" id="{D5893CD2-51F7-416A-8A62-C9A2EEB42DAA}"/>
              </a:ext>
            </a:extLst>
          </p:cNvPr>
          <p:cNvGrpSpPr/>
          <p:nvPr/>
        </p:nvGrpSpPr>
        <p:grpSpPr>
          <a:xfrm>
            <a:off x="6165908" y="2676088"/>
            <a:ext cx="5882874" cy="2484400"/>
            <a:chOff x="262080" y="1563591"/>
            <a:chExt cx="11723435" cy="5209797"/>
          </a:xfrm>
        </p:grpSpPr>
        <p:grpSp>
          <p:nvGrpSpPr>
            <p:cNvPr id="55" name="Groupe 54">
              <a:extLst>
                <a:ext uri="{FF2B5EF4-FFF2-40B4-BE49-F238E27FC236}">
                  <a16:creationId xmlns:a16="http://schemas.microsoft.com/office/drawing/2014/main" id="{26EBE82C-A9CF-44DD-A535-F92283AA2649}"/>
                </a:ext>
              </a:extLst>
            </p:cNvPr>
            <p:cNvGrpSpPr/>
            <p:nvPr/>
          </p:nvGrpSpPr>
          <p:grpSpPr>
            <a:xfrm>
              <a:off x="2609577" y="1563591"/>
              <a:ext cx="1467257" cy="1169474"/>
              <a:chOff x="2609577" y="1563591"/>
              <a:chExt cx="1467257" cy="1169474"/>
            </a:xfrm>
          </p:grpSpPr>
          <p:grpSp>
            <p:nvGrpSpPr>
              <p:cNvPr id="42" name="Groupe 41">
                <a:extLst>
                  <a:ext uri="{FF2B5EF4-FFF2-40B4-BE49-F238E27FC236}">
                    <a16:creationId xmlns:a16="http://schemas.microsoft.com/office/drawing/2014/main" id="{355A2826-D35C-4355-8D6F-CA811352584A}"/>
                  </a:ext>
                </a:extLst>
              </p:cNvPr>
              <p:cNvGrpSpPr/>
              <p:nvPr/>
            </p:nvGrpSpPr>
            <p:grpSpPr>
              <a:xfrm>
                <a:off x="2609577" y="1563591"/>
                <a:ext cx="1412109" cy="1169474"/>
                <a:chOff x="2645545" y="3994190"/>
                <a:chExt cx="1412109" cy="1169474"/>
              </a:xfrm>
            </p:grpSpPr>
            <p:pic>
              <p:nvPicPr>
                <p:cNvPr id="43" name="Graphique 42" descr="Diable avec un remplissage uni">
                  <a:extLst>
                    <a:ext uri="{FF2B5EF4-FFF2-40B4-BE49-F238E27FC236}">
                      <a16:creationId xmlns:a16="http://schemas.microsoft.com/office/drawing/2014/main" id="{8244A6A4-C5E1-4062-A01E-7F8B5AD111C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44" name="Graphique 43" descr="Base-ball avec un remplissage uni">
                  <a:extLst>
                    <a:ext uri="{FF2B5EF4-FFF2-40B4-BE49-F238E27FC236}">
                      <a16:creationId xmlns:a16="http://schemas.microsoft.com/office/drawing/2014/main" id="{5C12E74D-1A36-40E7-8099-519692F5218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45" name="Rectangle 44">
                  <a:extLst>
                    <a:ext uri="{FF2B5EF4-FFF2-40B4-BE49-F238E27FC236}">
                      <a16:creationId xmlns:a16="http://schemas.microsoft.com/office/drawing/2014/main" id="{1AFD5C9D-8C2F-4199-9991-CDDA10264D43}"/>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54" name="Graphique 53" descr="Boîte à archives avec un remplissage uni">
                <a:extLst>
                  <a:ext uri="{FF2B5EF4-FFF2-40B4-BE49-F238E27FC236}">
                    <a16:creationId xmlns:a16="http://schemas.microsoft.com/office/drawing/2014/main" id="{78459876-A327-48F8-A172-A2B68D6C0D8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80" name="Groupe 79">
              <a:extLst>
                <a:ext uri="{FF2B5EF4-FFF2-40B4-BE49-F238E27FC236}">
                  <a16:creationId xmlns:a16="http://schemas.microsoft.com/office/drawing/2014/main" id="{C5C2CD00-8B2B-4B4C-A81E-8B0F1CACDA4D}"/>
                </a:ext>
              </a:extLst>
            </p:cNvPr>
            <p:cNvGrpSpPr/>
            <p:nvPr/>
          </p:nvGrpSpPr>
          <p:grpSpPr>
            <a:xfrm>
              <a:off x="2907742" y="4287731"/>
              <a:ext cx="1467257" cy="1169474"/>
              <a:chOff x="2609577" y="1563591"/>
              <a:chExt cx="1467257" cy="1169474"/>
            </a:xfrm>
          </p:grpSpPr>
          <p:grpSp>
            <p:nvGrpSpPr>
              <p:cNvPr id="81" name="Groupe 80">
                <a:extLst>
                  <a:ext uri="{FF2B5EF4-FFF2-40B4-BE49-F238E27FC236}">
                    <a16:creationId xmlns:a16="http://schemas.microsoft.com/office/drawing/2014/main" id="{F3CC8DA8-B904-4687-9A23-3C4BA94E2FDE}"/>
                  </a:ext>
                </a:extLst>
              </p:cNvPr>
              <p:cNvGrpSpPr/>
              <p:nvPr/>
            </p:nvGrpSpPr>
            <p:grpSpPr>
              <a:xfrm>
                <a:off x="2609577" y="1563591"/>
                <a:ext cx="1412109" cy="1169474"/>
                <a:chOff x="2645545" y="3994190"/>
                <a:chExt cx="1412109" cy="1169474"/>
              </a:xfrm>
            </p:grpSpPr>
            <p:pic>
              <p:nvPicPr>
                <p:cNvPr id="83" name="Graphique 82" descr="Diable avec un remplissage uni">
                  <a:extLst>
                    <a:ext uri="{FF2B5EF4-FFF2-40B4-BE49-F238E27FC236}">
                      <a16:creationId xmlns:a16="http://schemas.microsoft.com/office/drawing/2014/main" id="{AF514076-F83A-4A89-ABCF-58AD67E4B4A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84" name="Graphique 83" descr="Base-ball avec un remplissage uni">
                  <a:extLst>
                    <a:ext uri="{FF2B5EF4-FFF2-40B4-BE49-F238E27FC236}">
                      <a16:creationId xmlns:a16="http://schemas.microsoft.com/office/drawing/2014/main" id="{A04ED57F-AFFD-409B-8C24-D22B629FC4A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85" name="Rectangle 84">
                  <a:extLst>
                    <a:ext uri="{FF2B5EF4-FFF2-40B4-BE49-F238E27FC236}">
                      <a16:creationId xmlns:a16="http://schemas.microsoft.com/office/drawing/2014/main" id="{C91B5379-3E46-4A37-B2D6-C4F3CD53700B}"/>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82" name="Graphique 81" descr="Boîte à archives avec un remplissage uni">
                <a:extLst>
                  <a:ext uri="{FF2B5EF4-FFF2-40B4-BE49-F238E27FC236}">
                    <a16:creationId xmlns:a16="http://schemas.microsoft.com/office/drawing/2014/main" id="{DA1A851F-C5EF-43C9-A0B3-7187DBCFD40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86" name="Groupe 85">
              <a:extLst>
                <a:ext uri="{FF2B5EF4-FFF2-40B4-BE49-F238E27FC236}">
                  <a16:creationId xmlns:a16="http://schemas.microsoft.com/office/drawing/2014/main" id="{2866E67F-F311-4588-B703-8A697368E469}"/>
                </a:ext>
              </a:extLst>
            </p:cNvPr>
            <p:cNvGrpSpPr/>
            <p:nvPr/>
          </p:nvGrpSpPr>
          <p:grpSpPr>
            <a:xfrm>
              <a:off x="2547542" y="5603914"/>
              <a:ext cx="1467257" cy="1169474"/>
              <a:chOff x="2609577" y="1563591"/>
              <a:chExt cx="1467257" cy="1169474"/>
            </a:xfrm>
          </p:grpSpPr>
          <p:grpSp>
            <p:nvGrpSpPr>
              <p:cNvPr id="87" name="Groupe 86">
                <a:extLst>
                  <a:ext uri="{FF2B5EF4-FFF2-40B4-BE49-F238E27FC236}">
                    <a16:creationId xmlns:a16="http://schemas.microsoft.com/office/drawing/2014/main" id="{F451FCE1-F2B0-484F-A08F-2CB7D2FEC9EC}"/>
                  </a:ext>
                </a:extLst>
              </p:cNvPr>
              <p:cNvGrpSpPr/>
              <p:nvPr/>
            </p:nvGrpSpPr>
            <p:grpSpPr>
              <a:xfrm>
                <a:off x="2609577" y="1563591"/>
                <a:ext cx="1412109" cy="1169474"/>
                <a:chOff x="2645545" y="3994190"/>
                <a:chExt cx="1412109" cy="1169474"/>
              </a:xfrm>
            </p:grpSpPr>
            <p:pic>
              <p:nvPicPr>
                <p:cNvPr id="89" name="Graphique 88" descr="Diable avec un remplissage uni">
                  <a:extLst>
                    <a:ext uri="{FF2B5EF4-FFF2-40B4-BE49-F238E27FC236}">
                      <a16:creationId xmlns:a16="http://schemas.microsoft.com/office/drawing/2014/main" id="{9F087DA0-B39B-45CC-B709-2E92EC9B9C5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90" name="Graphique 89" descr="Base-ball avec un remplissage uni">
                  <a:extLst>
                    <a:ext uri="{FF2B5EF4-FFF2-40B4-BE49-F238E27FC236}">
                      <a16:creationId xmlns:a16="http://schemas.microsoft.com/office/drawing/2014/main" id="{E0377BB5-85CB-4162-B1DD-0EDAEE890DD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91" name="Rectangle 90">
                  <a:extLst>
                    <a:ext uri="{FF2B5EF4-FFF2-40B4-BE49-F238E27FC236}">
                      <a16:creationId xmlns:a16="http://schemas.microsoft.com/office/drawing/2014/main" id="{F7F87CA6-C82F-4A7C-810C-6966E88C7137}"/>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88" name="Graphique 87" descr="Boîte à archives avec un remplissage uni">
                <a:extLst>
                  <a:ext uri="{FF2B5EF4-FFF2-40B4-BE49-F238E27FC236}">
                    <a16:creationId xmlns:a16="http://schemas.microsoft.com/office/drawing/2014/main" id="{D1F7AED6-42D3-4C34-9625-A3D14E52FB4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92" name="Groupe 91">
              <a:extLst>
                <a:ext uri="{FF2B5EF4-FFF2-40B4-BE49-F238E27FC236}">
                  <a16:creationId xmlns:a16="http://schemas.microsoft.com/office/drawing/2014/main" id="{68F73D70-3EBC-4AF5-9B49-5677BCD0692C}"/>
                </a:ext>
              </a:extLst>
            </p:cNvPr>
            <p:cNvGrpSpPr/>
            <p:nvPr/>
          </p:nvGrpSpPr>
          <p:grpSpPr>
            <a:xfrm>
              <a:off x="1098866" y="4806407"/>
              <a:ext cx="1467257" cy="1169474"/>
              <a:chOff x="2609577" y="1563591"/>
              <a:chExt cx="1467257" cy="1169474"/>
            </a:xfrm>
          </p:grpSpPr>
          <p:grpSp>
            <p:nvGrpSpPr>
              <p:cNvPr id="93" name="Groupe 92">
                <a:extLst>
                  <a:ext uri="{FF2B5EF4-FFF2-40B4-BE49-F238E27FC236}">
                    <a16:creationId xmlns:a16="http://schemas.microsoft.com/office/drawing/2014/main" id="{34ECD60C-FED1-40EC-86AE-5BD2ADB1B80E}"/>
                  </a:ext>
                </a:extLst>
              </p:cNvPr>
              <p:cNvGrpSpPr/>
              <p:nvPr/>
            </p:nvGrpSpPr>
            <p:grpSpPr>
              <a:xfrm>
                <a:off x="2609577" y="1563591"/>
                <a:ext cx="1412109" cy="1169474"/>
                <a:chOff x="2645545" y="3994190"/>
                <a:chExt cx="1412109" cy="1169474"/>
              </a:xfrm>
            </p:grpSpPr>
            <p:pic>
              <p:nvPicPr>
                <p:cNvPr id="95" name="Graphique 94" descr="Diable avec un remplissage uni">
                  <a:extLst>
                    <a:ext uri="{FF2B5EF4-FFF2-40B4-BE49-F238E27FC236}">
                      <a16:creationId xmlns:a16="http://schemas.microsoft.com/office/drawing/2014/main" id="{70B2987C-0D9D-4AC6-8F1B-8EBBCD3A3FC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96" name="Graphique 95" descr="Base-ball avec un remplissage uni">
                  <a:extLst>
                    <a:ext uri="{FF2B5EF4-FFF2-40B4-BE49-F238E27FC236}">
                      <a16:creationId xmlns:a16="http://schemas.microsoft.com/office/drawing/2014/main" id="{15C99CA0-E99E-4FC2-A1F6-3BF87723B0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97" name="Rectangle 96">
                  <a:extLst>
                    <a:ext uri="{FF2B5EF4-FFF2-40B4-BE49-F238E27FC236}">
                      <a16:creationId xmlns:a16="http://schemas.microsoft.com/office/drawing/2014/main" id="{8E1C9C35-8E8A-45E1-93BD-7C1B2D3A73AE}"/>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94" name="Graphique 93" descr="Boîte à archives avec un remplissage uni">
                <a:extLst>
                  <a:ext uri="{FF2B5EF4-FFF2-40B4-BE49-F238E27FC236}">
                    <a16:creationId xmlns:a16="http://schemas.microsoft.com/office/drawing/2014/main" id="{6F9288F9-231B-409D-90E8-A93108A86BC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106" name="Groupe 105">
              <a:extLst>
                <a:ext uri="{FF2B5EF4-FFF2-40B4-BE49-F238E27FC236}">
                  <a16:creationId xmlns:a16="http://schemas.microsoft.com/office/drawing/2014/main" id="{13B2CE95-C8C7-4A5C-92F1-EC2A4420DB71}"/>
                </a:ext>
              </a:extLst>
            </p:cNvPr>
            <p:cNvGrpSpPr/>
            <p:nvPr/>
          </p:nvGrpSpPr>
          <p:grpSpPr>
            <a:xfrm flipH="1">
              <a:off x="5650743" y="2263842"/>
              <a:ext cx="1093937" cy="1165158"/>
              <a:chOff x="1680627" y="1783722"/>
              <a:chExt cx="1331514" cy="1331514"/>
            </a:xfrm>
          </p:grpSpPr>
          <p:pic>
            <p:nvPicPr>
              <p:cNvPr id="179" name="Graphique 178" descr="Mur de briques en construction avec un remplissage uni">
                <a:extLst>
                  <a:ext uri="{FF2B5EF4-FFF2-40B4-BE49-F238E27FC236}">
                    <a16:creationId xmlns:a16="http://schemas.microsoft.com/office/drawing/2014/main" id="{13F6B018-6351-4C3D-852E-8A5F57E1A2E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680627" y="1783722"/>
                <a:ext cx="1331514" cy="1331514"/>
              </a:xfrm>
              <a:prstGeom prst="rect">
                <a:avLst/>
              </a:prstGeom>
            </p:spPr>
          </p:pic>
          <p:sp>
            <p:nvSpPr>
              <p:cNvPr id="180" name="Rectangle 179">
                <a:extLst>
                  <a:ext uri="{FF2B5EF4-FFF2-40B4-BE49-F238E27FC236}">
                    <a16:creationId xmlns:a16="http://schemas.microsoft.com/office/drawing/2014/main" id="{20453177-74D5-4E14-8160-B24A3B16BED5}"/>
                  </a:ext>
                </a:extLst>
              </p:cNvPr>
              <p:cNvSpPr/>
              <p:nvPr/>
            </p:nvSpPr>
            <p:spPr>
              <a:xfrm>
                <a:off x="2206885" y="2187027"/>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 name="Rectangle 180">
                <a:extLst>
                  <a:ext uri="{FF2B5EF4-FFF2-40B4-BE49-F238E27FC236}">
                    <a16:creationId xmlns:a16="http://schemas.microsoft.com/office/drawing/2014/main" id="{608979AE-BCF6-4155-9BB1-95B5C1F1340E}"/>
                  </a:ext>
                </a:extLst>
              </p:cNvPr>
              <p:cNvSpPr/>
              <p:nvPr/>
            </p:nvSpPr>
            <p:spPr>
              <a:xfrm>
                <a:off x="2040953" y="2380609"/>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 name="Rectangle 181">
                <a:extLst>
                  <a:ext uri="{FF2B5EF4-FFF2-40B4-BE49-F238E27FC236}">
                    <a16:creationId xmlns:a16="http://schemas.microsoft.com/office/drawing/2014/main" id="{02C316F3-CA2B-4EA0-AF38-F8DAC5FBC24E}"/>
                  </a:ext>
                </a:extLst>
              </p:cNvPr>
              <p:cNvSpPr/>
              <p:nvPr/>
            </p:nvSpPr>
            <p:spPr>
              <a:xfrm>
                <a:off x="2370053" y="2380609"/>
                <a:ext cx="281521"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 name="Rectangle 182">
                <a:extLst>
                  <a:ext uri="{FF2B5EF4-FFF2-40B4-BE49-F238E27FC236}">
                    <a16:creationId xmlns:a16="http://schemas.microsoft.com/office/drawing/2014/main" id="{BA80DE65-F676-4621-A539-AB4D35977169}"/>
                  </a:ext>
                </a:extLst>
              </p:cNvPr>
              <p:cNvSpPr/>
              <p:nvPr/>
            </p:nvSpPr>
            <p:spPr>
              <a:xfrm>
                <a:off x="2543616" y="2573362"/>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 name="Rectangle 183">
                <a:extLst>
                  <a:ext uri="{FF2B5EF4-FFF2-40B4-BE49-F238E27FC236}">
                    <a16:creationId xmlns:a16="http://schemas.microsoft.com/office/drawing/2014/main" id="{29BF593B-0BA1-4BDC-80A3-7FA615968603}"/>
                  </a:ext>
                </a:extLst>
              </p:cNvPr>
              <p:cNvSpPr/>
              <p:nvPr/>
            </p:nvSpPr>
            <p:spPr>
              <a:xfrm>
                <a:off x="1872248" y="2573361"/>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 name="Rectangle 184">
                <a:extLst>
                  <a:ext uri="{FF2B5EF4-FFF2-40B4-BE49-F238E27FC236}">
                    <a16:creationId xmlns:a16="http://schemas.microsoft.com/office/drawing/2014/main" id="{0D5BE12D-03C5-4DD0-BF71-89429BA75C97}"/>
                  </a:ext>
                </a:extLst>
              </p:cNvPr>
              <p:cNvSpPr/>
              <p:nvPr/>
            </p:nvSpPr>
            <p:spPr>
              <a:xfrm>
                <a:off x="2040953" y="2768494"/>
                <a:ext cx="281521"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 name="Rectangle 185">
                <a:extLst>
                  <a:ext uri="{FF2B5EF4-FFF2-40B4-BE49-F238E27FC236}">
                    <a16:creationId xmlns:a16="http://schemas.microsoft.com/office/drawing/2014/main" id="{0681DF30-CC73-4F27-891A-7FD462F2AC37}"/>
                  </a:ext>
                </a:extLst>
              </p:cNvPr>
              <p:cNvSpPr/>
              <p:nvPr/>
            </p:nvSpPr>
            <p:spPr>
              <a:xfrm>
                <a:off x="2376662" y="2767730"/>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 name="Rectangle 186">
                <a:extLst>
                  <a:ext uri="{FF2B5EF4-FFF2-40B4-BE49-F238E27FC236}">
                    <a16:creationId xmlns:a16="http://schemas.microsoft.com/office/drawing/2014/main" id="{1EA142A9-06C7-46C4-9582-20D260698656}"/>
                  </a:ext>
                </a:extLst>
              </p:cNvPr>
              <p:cNvSpPr/>
              <p:nvPr/>
            </p:nvSpPr>
            <p:spPr>
              <a:xfrm>
                <a:off x="1872247" y="2185476"/>
                <a:ext cx="281521" cy="13773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8" name="Rectangle 187">
                <a:extLst>
                  <a:ext uri="{FF2B5EF4-FFF2-40B4-BE49-F238E27FC236}">
                    <a16:creationId xmlns:a16="http://schemas.microsoft.com/office/drawing/2014/main" id="{244F9E9F-C7C5-4A31-9D4A-89EBDC670E72}"/>
                  </a:ext>
                </a:extLst>
              </p:cNvPr>
              <p:cNvSpPr/>
              <p:nvPr/>
            </p:nvSpPr>
            <p:spPr>
              <a:xfrm>
                <a:off x="2705487" y="2379659"/>
                <a:ext cx="117270"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9" name="Rectangle 188">
                <a:extLst>
                  <a:ext uri="{FF2B5EF4-FFF2-40B4-BE49-F238E27FC236}">
                    <a16:creationId xmlns:a16="http://schemas.microsoft.com/office/drawing/2014/main" id="{AB653C7E-B238-43C1-8F70-E3DA990C935B}"/>
                  </a:ext>
                </a:extLst>
              </p:cNvPr>
              <p:cNvSpPr/>
              <p:nvPr/>
            </p:nvSpPr>
            <p:spPr>
              <a:xfrm>
                <a:off x="2705487" y="2768496"/>
                <a:ext cx="117270" cy="13773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0" name="Rectangle 189">
                <a:extLst>
                  <a:ext uri="{FF2B5EF4-FFF2-40B4-BE49-F238E27FC236}">
                    <a16:creationId xmlns:a16="http://schemas.microsoft.com/office/drawing/2014/main" id="{49030794-D3C4-4CEB-8EE3-A4746FE26978}"/>
                  </a:ext>
                </a:extLst>
              </p:cNvPr>
              <p:cNvSpPr/>
              <p:nvPr/>
            </p:nvSpPr>
            <p:spPr>
              <a:xfrm>
                <a:off x="1872247" y="2768496"/>
                <a:ext cx="117270" cy="13773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1" name="Rectangle 190">
                <a:extLst>
                  <a:ext uri="{FF2B5EF4-FFF2-40B4-BE49-F238E27FC236}">
                    <a16:creationId xmlns:a16="http://schemas.microsoft.com/office/drawing/2014/main" id="{F8C415E8-93A8-4681-879B-8FFEF4578AD1}"/>
                  </a:ext>
                </a:extLst>
              </p:cNvPr>
              <p:cNvSpPr/>
              <p:nvPr/>
            </p:nvSpPr>
            <p:spPr>
              <a:xfrm>
                <a:off x="1872247" y="2378228"/>
                <a:ext cx="117270"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 name="Groupe 5">
              <a:extLst>
                <a:ext uri="{FF2B5EF4-FFF2-40B4-BE49-F238E27FC236}">
                  <a16:creationId xmlns:a16="http://schemas.microsoft.com/office/drawing/2014/main" id="{5FB41C06-1F54-4F63-8814-51F4614A43BD}"/>
                </a:ext>
              </a:extLst>
            </p:cNvPr>
            <p:cNvGrpSpPr/>
            <p:nvPr/>
          </p:nvGrpSpPr>
          <p:grpSpPr>
            <a:xfrm>
              <a:off x="875862" y="1893808"/>
              <a:ext cx="1383385" cy="1242096"/>
              <a:chOff x="5247267" y="8072371"/>
              <a:chExt cx="817082" cy="733631"/>
            </a:xfrm>
          </p:grpSpPr>
          <p:grpSp>
            <p:nvGrpSpPr>
              <p:cNvPr id="105" name="Groupe 104">
                <a:extLst>
                  <a:ext uri="{FF2B5EF4-FFF2-40B4-BE49-F238E27FC236}">
                    <a16:creationId xmlns:a16="http://schemas.microsoft.com/office/drawing/2014/main" id="{C0F240FA-5C73-4FB1-8941-6BE1105F18DB}"/>
                  </a:ext>
                </a:extLst>
              </p:cNvPr>
              <p:cNvGrpSpPr/>
              <p:nvPr/>
            </p:nvGrpSpPr>
            <p:grpSpPr>
              <a:xfrm>
                <a:off x="5247267" y="8117813"/>
                <a:ext cx="817082" cy="688189"/>
                <a:chOff x="3890963" y="2438774"/>
                <a:chExt cx="1085661" cy="914400"/>
              </a:xfrm>
            </p:grpSpPr>
            <p:pic>
              <p:nvPicPr>
                <p:cNvPr id="192" name="Graphique 191" descr="Culturiste avec un remplissage uni">
                  <a:extLst>
                    <a:ext uri="{FF2B5EF4-FFF2-40B4-BE49-F238E27FC236}">
                      <a16:creationId xmlns:a16="http://schemas.microsoft.com/office/drawing/2014/main" id="{76A45FC6-5C96-49A8-AC35-BC18F11D6CB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81356" y="2438774"/>
                  <a:ext cx="914400" cy="914400"/>
                </a:xfrm>
                <a:prstGeom prst="rect">
                  <a:avLst/>
                </a:prstGeom>
              </p:spPr>
            </p:pic>
            <p:sp>
              <p:nvSpPr>
                <p:cNvPr id="193" name="Rectangle 192">
                  <a:extLst>
                    <a:ext uri="{FF2B5EF4-FFF2-40B4-BE49-F238E27FC236}">
                      <a16:creationId xmlns:a16="http://schemas.microsoft.com/office/drawing/2014/main" id="{CB8D01E4-F3DD-439C-927A-661004280E40}"/>
                    </a:ext>
                  </a:extLst>
                </p:cNvPr>
                <p:cNvSpPr/>
                <p:nvPr/>
              </p:nvSpPr>
              <p:spPr>
                <a:xfrm>
                  <a:off x="3890963"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 name="Rectangle 193">
                  <a:extLst>
                    <a:ext uri="{FF2B5EF4-FFF2-40B4-BE49-F238E27FC236}">
                      <a16:creationId xmlns:a16="http://schemas.microsoft.com/office/drawing/2014/main" id="{8232BE64-879E-4932-8F1C-EBC70379A39D}"/>
                    </a:ext>
                  </a:extLst>
                </p:cNvPr>
                <p:cNvSpPr/>
                <p:nvPr/>
              </p:nvSpPr>
              <p:spPr>
                <a:xfrm>
                  <a:off x="4700399"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07" name="Rectangle 106">
                <a:extLst>
                  <a:ext uri="{FF2B5EF4-FFF2-40B4-BE49-F238E27FC236}">
                    <a16:creationId xmlns:a16="http://schemas.microsoft.com/office/drawing/2014/main" id="{9BF03B67-30A6-425A-9D7A-E2238247F217}"/>
                  </a:ext>
                </a:extLst>
              </p:cNvPr>
              <p:cNvSpPr/>
              <p:nvPr/>
            </p:nvSpPr>
            <p:spPr>
              <a:xfrm>
                <a:off x="5519269" y="8072371"/>
                <a:ext cx="298624" cy="1461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09" name="Groupe 108">
              <a:extLst>
                <a:ext uri="{FF2B5EF4-FFF2-40B4-BE49-F238E27FC236}">
                  <a16:creationId xmlns:a16="http://schemas.microsoft.com/office/drawing/2014/main" id="{35A820B9-71C1-40B2-949A-BA546FD0C884}"/>
                </a:ext>
              </a:extLst>
            </p:cNvPr>
            <p:cNvGrpSpPr/>
            <p:nvPr/>
          </p:nvGrpSpPr>
          <p:grpSpPr>
            <a:xfrm flipH="1">
              <a:off x="648773" y="3490364"/>
              <a:ext cx="627050" cy="1144490"/>
              <a:chOff x="5134003" y="2196472"/>
              <a:chExt cx="563254" cy="1156702"/>
            </a:xfrm>
          </p:grpSpPr>
          <p:pic>
            <p:nvPicPr>
              <p:cNvPr id="175" name="Graphique 174" descr="Réussite du groupe avec un remplissage uni">
                <a:extLst>
                  <a:ext uri="{FF2B5EF4-FFF2-40B4-BE49-F238E27FC236}">
                    <a16:creationId xmlns:a16="http://schemas.microsoft.com/office/drawing/2014/main" id="{BE19C2B3-0721-44D3-8CD1-48D9E0F7C055}"/>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69977" t="13713" r="6403" b="17430"/>
              <a:stretch/>
            </p:blipFill>
            <p:spPr>
              <a:xfrm>
                <a:off x="5300474" y="2196472"/>
                <a:ext cx="396783" cy="1156702"/>
              </a:xfrm>
              <a:prstGeom prst="rect">
                <a:avLst/>
              </a:prstGeom>
            </p:spPr>
          </p:pic>
          <p:sp>
            <p:nvSpPr>
              <p:cNvPr id="176" name="Rectangle 175">
                <a:extLst>
                  <a:ext uri="{FF2B5EF4-FFF2-40B4-BE49-F238E27FC236}">
                    <a16:creationId xmlns:a16="http://schemas.microsoft.com/office/drawing/2014/main" id="{FA4C0BA6-2A92-40FD-9077-52FC594CF4AE}"/>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 name="Groupe 6">
              <a:extLst>
                <a:ext uri="{FF2B5EF4-FFF2-40B4-BE49-F238E27FC236}">
                  <a16:creationId xmlns:a16="http://schemas.microsoft.com/office/drawing/2014/main" id="{36F23E62-E00E-4089-9506-DDF4061A25F6}"/>
                </a:ext>
              </a:extLst>
            </p:cNvPr>
            <p:cNvGrpSpPr/>
            <p:nvPr/>
          </p:nvGrpSpPr>
          <p:grpSpPr>
            <a:xfrm>
              <a:off x="9653107" y="2807835"/>
              <a:ext cx="2332408" cy="2332408"/>
              <a:chOff x="9835911" y="2807662"/>
              <a:chExt cx="1796250" cy="1796250"/>
            </a:xfrm>
          </p:grpSpPr>
          <p:pic>
            <p:nvPicPr>
              <p:cNvPr id="104" name="Graphique 103" descr="Cathédrale avec un remplissage uni">
                <a:extLst>
                  <a:ext uri="{FF2B5EF4-FFF2-40B4-BE49-F238E27FC236}">
                    <a16:creationId xmlns:a16="http://schemas.microsoft.com/office/drawing/2014/main" id="{E59C6277-AA1A-4489-91DF-5BA7B244261F}"/>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835911" y="2807662"/>
                <a:ext cx="1796250" cy="1796250"/>
              </a:xfrm>
              <a:prstGeom prst="rect">
                <a:avLst/>
              </a:prstGeom>
            </p:spPr>
          </p:pic>
          <p:sp>
            <p:nvSpPr>
              <p:cNvPr id="113" name="Rectangle 112">
                <a:extLst>
                  <a:ext uri="{FF2B5EF4-FFF2-40B4-BE49-F238E27FC236}">
                    <a16:creationId xmlns:a16="http://schemas.microsoft.com/office/drawing/2014/main" id="{31970C2C-4382-4D6F-ADF6-471972759529}"/>
                  </a:ext>
                </a:extLst>
              </p:cNvPr>
              <p:cNvSpPr/>
              <p:nvPr/>
            </p:nvSpPr>
            <p:spPr>
              <a:xfrm>
                <a:off x="10218483" y="4488333"/>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4" name="Rectangle 113">
                <a:extLst>
                  <a:ext uri="{FF2B5EF4-FFF2-40B4-BE49-F238E27FC236}">
                    <a16:creationId xmlns:a16="http://schemas.microsoft.com/office/drawing/2014/main" id="{D5D40D35-3B33-472C-BB36-27310377B46F}"/>
                  </a:ext>
                </a:extLst>
              </p:cNvPr>
              <p:cNvSpPr/>
              <p:nvPr/>
            </p:nvSpPr>
            <p:spPr>
              <a:xfrm>
                <a:off x="10039942" y="4487898"/>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5" name="Rectangle 114">
                <a:extLst>
                  <a:ext uri="{FF2B5EF4-FFF2-40B4-BE49-F238E27FC236}">
                    <a16:creationId xmlns:a16="http://schemas.microsoft.com/office/drawing/2014/main" id="{0DF1613C-64EF-4B26-B600-36E33E288236}"/>
                  </a:ext>
                </a:extLst>
              </p:cNvPr>
              <p:cNvSpPr/>
              <p:nvPr/>
            </p:nvSpPr>
            <p:spPr>
              <a:xfrm>
                <a:off x="10126610" y="4389730"/>
                <a:ext cx="164538"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Rectangle 115">
                <a:extLst>
                  <a:ext uri="{FF2B5EF4-FFF2-40B4-BE49-F238E27FC236}">
                    <a16:creationId xmlns:a16="http://schemas.microsoft.com/office/drawing/2014/main" id="{DD222A77-3CAA-44FC-8012-A0B8E33C44DB}"/>
                  </a:ext>
                </a:extLst>
              </p:cNvPr>
              <p:cNvSpPr/>
              <p:nvPr/>
            </p:nvSpPr>
            <p:spPr>
              <a:xfrm>
                <a:off x="10278475" y="4297650"/>
                <a:ext cx="104547"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Rectangle 116">
                <a:extLst>
                  <a:ext uri="{FF2B5EF4-FFF2-40B4-BE49-F238E27FC236}">
                    <a16:creationId xmlns:a16="http://schemas.microsoft.com/office/drawing/2014/main" id="{0A42DEAE-71FB-4AC0-A235-6D8A7C681B98}"/>
                  </a:ext>
                </a:extLst>
              </p:cNvPr>
              <p:cNvSpPr/>
              <p:nvPr/>
            </p:nvSpPr>
            <p:spPr>
              <a:xfrm>
                <a:off x="10039941" y="4292459"/>
                <a:ext cx="11195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8" name="Rectangle 117">
                <a:extLst>
                  <a:ext uri="{FF2B5EF4-FFF2-40B4-BE49-F238E27FC236}">
                    <a16:creationId xmlns:a16="http://schemas.microsoft.com/office/drawing/2014/main" id="{7E7C3645-4EB6-42D8-8D16-A4131BD9553A}"/>
                  </a:ext>
                </a:extLst>
              </p:cNvPr>
              <p:cNvSpPr/>
              <p:nvPr/>
            </p:nvSpPr>
            <p:spPr>
              <a:xfrm>
                <a:off x="10302363" y="4389731"/>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 name="Rectangle 118">
                <a:extLst>
                  <a:ext uri="{FF2B5EF4-FFF2-40B4-BE49-F238E27FC236}">
                    <a16:creationId xmlns:a16="http://schemas.microsoft.com/office/drawing/2014/main" id="{B2E68E23-64DB-4588-97BF-38D7F767E1B0}"/>
                  </a:ext>
                </a:extLst>
              </p:cNvPr>
              <p:cNvSpPr/>
              <p:nvPr/>
            </p:nvSpPr>
            <p:spPr>
              <a:xfrm>
                <a:off x="10037202" y="4389731"/>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 name="Rectangle 119">
                <a:extLst>
                  <a:ext uri="{FF2B5EF4-FFF2-40B4-BE49-F238E27FC236}">
                    <a16:creationId xmlns:a16="http://schemas.microsoft.com/office/drawing/2014/main" id="{C0E89C3C-47BB-4FA0-8A5A-42149CC65920}"/>
                  </a:ext>
                </a:extLst>
              </p:cNvPr>
              <p:cNvSpPr/>
              <p:nvPr/>
            </p:nvSpPr>
            <p:spPr>
              <a:xfrm>
                <a:off x="10436079" y="4482522"/>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 name="Rectangle 120">
                <a:extLst>
                  <a:ext uri="{FF2B5EF4-FFF2-40B4-BE49-F238E27FC236}">
                    <a16:creationId xmlns:a16="http://schemas.microsoft.com/office/drawing/2014/main" id="{609A3087-8282-4996-900F-0E7A07C3D6AE}"/>
                  </a:ext>
                </a:extLst>
              </p:cNvPr>
              <p:cNvSpPr/>
              <p:nvPr/>
            </p:nvSpPr>
            <p:spPr>
              <a:xfrm>
                <a:off x="10436079" y="4389730"/>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Rectangle 121">
                <a:extLst>
                  <a:ext uri="{FF2B5EF4-FFF2-40B4-BE49-F238E27FC236}">
                    <a16:creationId xmlns:a16="http://schemas.microsoft.com/office/drawing/2014/main" id="{B19A238C-F0C2-4B75-8E5F-4F1F2916275A}"/>
                  </a:ext>
                </a:extLst>
              </p:cNvPr>
              <p:cNvSpPr/>
              <p:nvPr/>
            </p:nvSpPr>
            <p:spPr>
              <a:xfrm>
                <a:off x="10436299" y="4296319"/>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 name="Rectangle 122">
                <a:extLst>
                  <a:ext uri="{FF2B5EF4-FFF2-40B4-BE49-F238E27FC236}">
                    <a16:creationId xmlns:a16="http://schemas.microsoft.com/office/drawing/2014/main" id="{C2ADAAE2-FB7B-4FC2-907C-FFC0835BCD6D}"/>
                  </a:ext>
                </a:extLst>
              </p:cNvPr>
              <p:cNvSpPr/>
              <p:nvPr/>
            </p:nvSpPr>
            <p:spPr>
              <a:xfrm>
                <a:off x="10436079" y="4201946"/>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 name="Rectangle 123">
                <a:extLst>
                  <a:ext uri="{FF2B5EF4-FFF2-40B4-BE49-F238E27FC236}">
                    <a16:creationId xmlns:a16="http://schemas.microsoft.com/office/drawing/2014/main" id="{78EFB23D-18AD-4B60-9D20-CC94500410AB}"/>
                  </a:ext>
                </a:extLst>
              </p:cNvPr>
              <p:cNvSpPr/>
              <p:nvPr/>
            </p:nvSpPr>
            <p:spPr>
              <a:xfrm>
                <a:off x="10933093" y="449077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 name="Rectangle 124">
                <a:extLst>
                  <a:ext uri="{FF2B5EF4-FFF2-40B4-BE49-F238E27FC236}">
                    <a16:creationId xmlns:a16="http://schemas.microsoft.com/office/drawing/2014/main" id="{A1F4E50B-79C5-45CA-A04D-3B8F9282A53E}"/>
                  </a:ext>
                </a:extLst>
              </p:cNvPr>
              <p:cNvSpPr/>
              <p:nvPr/>
            </p:nvSpPr>
            <p:spPr>
              <a:xfrm>
                <a:off x="10933093" y="4397984"/>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 name="Rectangle 125">
                <a:extLst>
                  <a:ext uri="{FF2B5EF4-FFF2-40B4-BE49-F238E27FC236}">
                    <a16:creationId xmlns:a16="http://schemas.microsoft.com/office/drawing/2014/main" id="{A7227401-C246-4F70-8233-3B976B59A387}"/>
                  </a:ext>
                </a:extLst>
              </p:cNvPr>
              <p:cNvSpPr/>
              <p:nvPr/>
            </p:nvSpPr>
            <p:spPr>
              <a:xfrm>
                <a:off x="10933314" y="4304573"/>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 name="Rectangle 126">
                <a:extLst>
                  <a:ext uri="{FF2B5EF4-FFF2-40B4-BE49-F238E27FC236}">
                    <a16:creationId xmlns:a16="http://schemas.microsoft.com/office/drawing/2014/main" id="{D4A1FD11-27D7-4758-8443-A06B09B0075F}"/>
                  </a:ext>
                </a:extLst>
              </p:cNvPr>
              <p:cNvSpPr/>
              <p:nvPr/>
            </p:nvSpPr>
            <p:spPr>
              <a:xfrm>
                <a:off x="10933093" y="4210201"/>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 name="Rectangle 127">
                <a:extLst>
                  <a:ext uri="{FF2B5EF4-FFF2-40B4-BE49-F238E27FC236}">
                    <a16:creationId xmlns:a16="http://schemas.microsoft.com/office/drawing/2014/main" id="{D8CF8BBE-A434-41D8-A5A3-FB14CBABB85D}"/>
                  </a:ext>
                </a:extLst>
              </p:cNvPr>
              <p:cNvSpPr/>
              <p:nvPr/>
            </p:nvSpPr>
            <p:spPr>
              <a:xfrm>
                <a:off x="10933093" y="4112478"/>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 name="Rectangle 128">
                <a:extLst>
                  <a:ext uri="{FF2B5EF4-FFF2-40B4-BE49-F238E27FC236}">
                    <a16:creationId xmlns:a16="http://schemas.microsoft.com/office/drawing/2014/main" id="{567B45F6-BBAA-46C4-B84D-608C4E3EC488}"/>
                  </a:ext>
                </a:extLst>
              </p:cNvPr>
              <p:cNvSpPr/>
              <p:nvPr/>
            </p:nvSpPr>
            <p:spPr>
              <a:xfrm>
                <a:off x="10933093" y="4019686"/>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 name="Rectangle 129">
                <a:extLst>
                  <a:ext uri="{FF2B5EF4-FFF2-40B4-BE49-F238E27FC236}">
                    <a16:creationId xmlns:a16="http://schemas.microsoft.com/office/drawing/2014/main" id="{D2AB2C3A-CE3B-46BF-9284-48F1FA6115DE}"/>
                  </a:ext>
                </a:extLst>
              </p:cNvPr>
              <p:cNvSpPr/>
              <p:nvPr/>
            </p:nvSpPr>
            <p:spPr>
              <a:xfrm>
                <a:off x="10933314" y="3926275"/>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Rectangle 130">
                <a:extLst>
                  <a:ext uri="{FF2B5EF4-FFF2-40B4-BE49-F238E27FC236}">
                    <a16:creationId xmlns:a16="http://schemas.microsoft.com/office/drawing/2014/main" id="{D2CF42FA-73FD-4459-8D46-409BFD7D4212}"/>
                  </a:ext>
                </a:extLst>
              </p:cNvPr>
              <p:cNvSpPr/>
              <p:nvPr/>
            </p:nvSpPr>
            <p:spPr>
              <a:xfrm>
                <a:off x="10933093" y="3831903"/>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Rectangle 131">
                <a:extLst>
                  <a:ext uri="{FF2B5EF4-FFF2-40B4-BE49-F238E27FC236}">
                    <a16:creationId xmlns:a16="http://schemas.microsoft.com/office/drawing/2014/main" id="{85A890B8-0AA7-4032-923D-793C195C5CE1}"/>
                  </a:ext>
                </a:extLst>
              </p:cNvPr>
              <p:cNvSpPr/>
              <p:nvPr/>
            </p:nvSpPr>
            <p:spPr>
              <a:xfrm>
                <a:off x="10436079" y="410286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 name="Rectangle 132">
                <a:extLst>
                  <a:ext uri="{FF2B5EF4-FFF2-40B4-BE49-F238E27FC236}">
                    <a16:creationId xmlns:a16="http://schemas.microsoft.com/office/drawing/2014/main" id="{B68FCF4F-73A8-4C2F-8903-418DDF82F2BC}"/>
                  </a:ext>
                </a:extLst>
              </p:cNvPr>
              <p:cNvSpPr/>
              <p:nvPr/>
            </p:nvSpPr>
            <p:spPr>
              <a:xfrm>
                <a:off x="10436079" y="4010075"/>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 name="Rectangle 133">
                <a:extLst>
                  <a:ext uri="{FF2B5EF4-FFF2-40B4-BE49-F238E27FC236}">
                    <a16:creationId xmlns:a16="http://schemas.microsoft.com/office/drawing/2014/main" id="{F0D57C8D-6B6E-4732-AFDF-6244C7DA291F}"/>
                  </a:ext>
                </a:extLst>
              </p:cNvPr>
              <p:cNvSpPr/>
              <p:nvPr/>
            </p:nvSpPr>
            <p:spPr>
              <a:xfrm>
                <a:off x="10435444" y="3916716"/>
                <a:ext cx="147855"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Rectangle 134">
                <a:extLst>
                  <a:ext uri="{FF2B5EF4-FFF2-40B4-BE49-F238E27FC236}">
                    <a16:creationId xmlns:a16="http://schemas.microsoft.com/office/drawing/2014/main" id="{31642D44-DD6E-4219-98E8-12D56D81B76A}"/>
                  </a:ext>
                </a:extLst>
              </p:cNvPr>
              <p:cNvSpPr/>
              <p:nvPr/>
            </p:nvSpPr>
            <p:spPr>
              <a:xfrm>
                <a:off x="10435224" y="3831902"/>
                <a:ext cx="147855"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 name="Rectangle 135">
                <a:extLst>
                  <a:ext uri="{FF2B5EF4-FFF2-40B4-BE49-F238E27FC236}">
                    <a16:creationId xmlns:a16="http://schemas.microsoft.com/office/drawing/2014/main" id="{3AEFD0B8-EC2D-4AC6-BB11-7415B9B0721F}"/>
                  </a:ext>
                </a:extLst>
              </p:cNvPr>
              <p:cNvSpPr/>
              <p:nvPr/>
            </p:nvSpPr>
            <p:spPr>
              <a:xfrm>
                <a:off x="10596194" y="3831902"/>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 name="Rectangle 136">
                <a:extLst>
                  <a:ext uri="{FF2B5EF4-FFF2-40B4-BE49-F238E27FC236}">
                    <a16:creationId xmlns:a16="http://schemas.microsoft.com/office/drawing/2014/main" id="{0EF8A19B-434C-42F6-B74E-A63EEFA632F3}"/>
                  </a:ext>
                </a:extLst>
              </p:cNvPr>
              <p:cNvSpPr/>
              <p:nvPr/>
            </p:nvSpPr>
            <p:spPr>
              <a:xfrm>
                <a:off x="10823783" y="3832506"/>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 name="Rectangle 137">
                <a:extLst>
                  <a:ext uri="{FF2B5EF4-FFF2-40B4-BE49-F238E27FC236}">
                    <a16:creationId xmlns:a16="http://schemas.microsoft.com/office/drawing/2014/main" id="{5F78E096-1BCA-4266-A5ED-81CB0F17F2D6}"/>
                  </a:ext>
                </a:extLst>
              </p:cNvPr>
              <p:cNvSpPr/>
              <p:nvPr/>
            </p:nvSpPr>
            <p:spPr>
              <a:xfrm>
                <a:off x="10534911" y="3743967"/>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Rectangle 138">
                <a:extLst>
                  <a:ext uri="{FF2B5EF4-FFF2-40B4-BE49-F238E27FC236}">
                    <a16:creationId xmlns:a16="http://schemas.microsoft.com/office/drawing/2014/main" id="{55F7BFB3-E97C-4FC1-B2C6-051F488161C0}"/>
                  </a:ext>
                </a:extLst>
              </p:cNvPr>
              <p:cNvSpPr/>
              <p:nvPr/>
            </p:nvSpPr>
            <p:spPr>
              <a:xfrm>
                <a:off x="10709481" y="3743966"/>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 name="Rectangle 139">
                <a:extLst>
                  <a:ext uri="{FF2B5EF4-FFF2-40B4-BE49-F238E27FC236}">
                    <a16:creationId xmlns:a16="http://schemas.microsoft.com/office/drawing/2014/main" id="{DAFE8FEF-7E38-4DB4-9082-A1C7EEDDBE70}"/>
                  </a:ext>
                </a:extLst>
              </p:cNvPr>
              <p:cNvSpPr/>
              <p:nvPr/>
            </p:nvSpPr>
            <p:spPr>
              <a:xfrm>
                <a:off x="10892456" y="3742790"/>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B37D0C40-53C6-424E-8E04-059941C6C968}"/>
                  </a:ext>
                </a:extLst>
              </p:cNvPr>
              <p:cNvSpPr/>
              <p:nvPr/>
            </p:nvSpPr>
            <p:spPr>
              <a:xfrm>
                <a:off x="10277958" y="4202651"/>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4ED4F46F-4771-4F09-B696-AF22CD6311D7}"/>
                  </a:ext>
                </a:extLst>
              </p:cNvPr>
              <p:cNvSpPr/>
              <p:nvPr/>
            </p:nvSpPr>
            <p:spPr>
              <a:xfrm>
                <a:off x="10277958" y="410985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 name="Rectangle 142">
                <a:extLst>
                  <a:ext uri="{FF2B5EF4-FFF2-40B4-BE49-F238E27FC236}">
                    <a16:creationId xmlns:a16="http://schemas.microsoft.com/office/drawing/2014/main" id="{5E33E992-D7D9-4B63-BD88-5D1A2962B638}"/>
                  </a:ext>
                </a:extLst>
              </p:cNvPr>
              <p:cNvSpPr/>
              <p:nvPr/>
            </p:nvSpPr>
            <p:spPr>
              <a:xfrm>
                <a:off x="10278178" y="401644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Rectangle 143">
                <a:extLst>
                  <a:ext uri="{FF2B5EF4-FFF2-40B4-BE49-F238E27FC236}">
                    <a16:creationId xmlns:a16="http://schemas.microsoft.com/office/drawing/2014/main" id="{629CB49E-8C2E-4F55-A412-731C7694AF8C}"/>
                  </a:ext>
                </a:extLst>
              </p:cNvPr>
              <p:cNvSpPr/>
              <p:nvPr/>
            </p:nvSpPr>
            <p:spPr>
              <a:xfrm>
                <a:off x="10277958" y="3922075"/>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 name="Rectangle 144">
                <a:extLst>
                  <a:ext uri="{FF2B5EF4-FFF2-40B4-BE49-F238E27FC236}">
                    <a16:creationId xmlns:a16="http://schemas.microsoft.com/office/drawing/2014/main" id="{757B551F-863B-47F7-BAC0-34BAADC98CAF}"/>
                  </a:ext>
                </a:extLst>
              </p:cNvPr>
              <p:cNvSpPr/>
              <p:nvPr/>
            </p:nvSpPr>
            <p:spPr>
              <a:xfrm>
                <a:off x="10277958" y="3824352"/>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 name="Rectangle 145">
                <a:extLst>
                  <a:ext uri="{FF2B5EF4-FFF2-40B4-BE49-F238E27FC236}">
                    <a16:creationId xmlns:a16="http://schemas.microsoft.com/office/drawing/2014/main" id="{2052CDD7-3222-4885-AB3B-A204ECE1D02D}"/>
                  </a:ext>
                </a:extLst>
              </p:cNvPr>
              <p:cNvSpPr/>
              <p:nvPr/>
            </p:nvSpPr>
            <p:spPr>
              <a:xfrm>
                <a:off x="10047590" y="419651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 name="Rectangle 146">
                <a:extLst>
                  <a:ext uri="{FF2B5EF4-FFF2-40B4-BE49-F238E27FC236}">
                    <a16:creationId xmlns:a16="http://schemas.microsoft.com/office/drawing/2014/main" id="{37956E86-A3B8-485F-A01D-2D7E47471539}"/>
                  </a:ext>
                </a:extLst>
              </p:cNvPr>
              <p:cNvSpPr/>
              <p:nvPr/>
            </p:nvSpPr>
            <p:spPr>
              <a:xfrm>
                <a:off x="10047590" y="4103721"/>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Rectangle 147">
                <a:extLst>
                  <a:ext uri="{FF2B5EF4-FFF2-40B4-BE49-F238E27FC236}">
                    <a16:creationId xmlns:a16="http://schemas.microsoft.com/office/drawing/2014/main" id="{EC20EC68-CA18-401A-81A1-AA7D128BE33E}"/>
                  </a:ext>
                </a:extLst>
              </p:cNvPr>
              <p:cNvSpPr/>
              <p:nvPr/>
            </p:nvSpPr>
            <p:spPr>
              <a:xfrm>
                <a:off x="10047811" y="4010310"/>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 name="Rectangle 148">
                <a:extLst>
                  <a:ext uri="{FF2B5EF4-FFF2-40B4-BE49-F238E27FC236}">
                    <a16:creationId xmlns:a16="http://schemas.microsoft.com/office/drawing/2014/main" id="{DB995F29-816A-4234-9DBB-7ABA7501AB1D}"/>
                  </a:ext>
                </a:extLst>
              </p:cNvPr>
              <p:cNvSpPr/>
              <p:nvPr/>
            </p:nvSpPr>
            <p:spPr>
              <a:xfrm>
                <a:off x="10047590" y="3915938"/>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 name="Rectangle 149">
                <a:extLst>
                  <a:ext uri="{FF2B5EF4-FFF2-40B4-BE49-F238E27FC236}">
                    <a16:creationId xmlns:a16="http://schemas.microsoft.com/office/drawing/2014/main" id="{62EF13DB-A7F4-4596-84C8-46D83BAED6DC}"/>
                  </a:ext>
                </a:extLst>
              </p:cNvPr>
              <p:cNvSpPr/>
              <p:nvPr/>
            </p:nvSpPr>
            <p:spPr>
              <a:xfrm>
                <a:off x="10047590" y="3818215"/>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 name="Rectangle 150">
                <a:extLst>
                  <a:ext uri="{FF2B5EF4-FFF2-40B4-BE49-F238E27FC236}">
                    <a16:creationId xmlns:a16="http://schemas.microsoft.com/office/drawing/2014/main" id="{1E4640AC-DC03-4CB7-B5C9-ABE31A2A09D0}"/>
                  </a:ext>
                </a:extLst>
              </p:cNvPr>
              <p:cNvSpPr/>
              <p:nvPr/>
            </p:nvSpPr>
            <p:spPr>
              <a:xfrm>
                <a:off x="10162774" y="3963589"/>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 name="Rectangle 151">
                <a:extLst>
                  <a:ext uri="{FF2B5EF4-FFF2-40B4-BE49-F238E27FC236}">
                    <a16:creationId xmlns:a16="http://schemas.microsoft.com/office/drawing/2014/main" id="{32626AC5-B3D7-424D-A014-FD699C3FE5B1}"/>
                  </a:ext>
                </a:extLst>
              </p:cNvPr>
              <p:cNvSpPr/>
              <p:nvPr/>
            </p:nvSpPr>
            <p:spPr>
              <a:xfrm>
                <a:off x="10162774" y="3870797"/>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 name="Rectangle 152">
                <a:extLst>
                  <a:ext uri="{FF2B5EF4-FFF2-40B4-BE49-F238E27FC236}">
                    <a16:creationId xmlns:a16="http://schemas.microsoft.com/office/drawing/2014/main" id="{1B1B0FF3-5B8A-47F8-A0F9-B83350A4B0BB}"/>
                  </a:ext>
                </a:extLst>
              </p:cNvPr>
              <p:cNvSpPr/>
              <p:nvPr/>
            </p:nvSpPr>
            <p:spPr>
              <a:xfrm>
                <a:off x="10165167" y="3783041"/>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Rectangle 153">
                <a:extLst>
                  <a:ext uri="{FF2B5EF4-FFF2-40B4-BE49-F238E27FC236}">
                    <a16:creationId xmlns:a16="http://schemas.microsoft.com/office/drawing/2014/main" id="{02191479-99DB-4E96-9714-ECB6235F11A8}"/>
                  </a:ext>
                </a:extLst>
              </p:cNvPr>
              <p:cNvSpPr/>
              <p:nvPr/>
            </p:nvSpPr>
            <p:spPr>
              <a:xfrm>
                <a:off x="10280910" y="372763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5" name="Rectangle 154">
                <a:extLst>
                  <a:ext uri="{FF2B5EF4-FFF2-40B4-BE49-F238E27FC236}">
                    <a16:creationId xmlns:a16="http://schemas.microsoft.com/office/drawing/2014/main" id="{048E7B28-A528-403F-98ED-B95E8A919AB5}"/>
                  </a:ext>
                </a:extLst>
              </p:cNvPr>
              <p:cNvSpPr/>
              <p:nvPr/>
            </p:nvSpPr>
            <p:spPr>
              <a:xfrm>
                <a:off x="10281131" y="363422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6" name="Rectangle 155">
                <a:extLst>
                  <a:ext uri="{FF2B5EF4-FFF2-40B4-BE49-F238E27FC236}">
                    <a16:creationId xmlns:a16="http://schemas.microsoft.com/office/drawing/2014/main" id="{D7A6A081-56AA-499A-8BC9-E18C8B413A39}"/>
                  </a:ext>
                </a:extLst>
              </p:cNvPr>
              <p:cNvSpPr/>
              <p:nvPr/>
            </p:nvSpPr>
            <p:spPr>
              <a:xfrm>
                <a:off x="10280910" y="3539856"/>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Rectangle 156">
                <a:extLst>
                  <a:ext uri="{FF2B5EF4-FFF2-40B4-BE49-F238E27FC236}">
                    <a16:creationId xmlns:a16="http://schemas.microsoft.com/office/drawing/2014/main" id="{4F231F0F-A33D-4E87-9D2B-3BF68009A99D}"/>
                  </a:ext>
                </a:extLst>
              </p:cNvPr>
              <p:cNvSpPr/>
              <p:nvPr/>
            </p:nvSpPr>
            <p:spPr>
              <a:xfrm>
                <a:off x="10280910" y="344213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 name="Rectangle 157">
                <a:extLst>
                  <a:ext uri="{FF2B5EF4-FFF2-40B4-BE49-F238E27FC236}">
                    <a16:creationId xmlns:a16="http://schemas.microsoft.com/office/drawing/2014/main" id="{12AD0196-E4B3-448D-9E50-2EFD8806B691}"/>
                  </a:ext>
                </a:extLst>
              </p:cNvPr>
              <p:cNvSpPr/>
              <p:nvPr/>
            </p:nvSpPr>
            <p:spPr>
              <a:xfrm>
                <a:off x="10047590" y="372678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 name="Rectangle 158">
                <a:extLst>
                  <a:ext uri="{FF2B5EF4-FFF2-40B4-BE49-F238E27FC236}">
                    <a16:creationId xmlns:a16="http://schemas.microsoft.com/office/drawing/2014/main" id="{DE3B190F-4879-4013-967B-19F696ECCF7C}"/>
                  </a:ext>
                </a:extLst>
              </p:cNvPr>
              <p:cNvSpPr/>
              <p:nvPr/>
            </p:nvSpPr>
            <p:spPr>
              <a:xfrm>
                <a:off x="10047811" y="363337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 name="Rectangle 159">
                <a:extLst>
                  <a:ext uri="{FF2B5EF4-FFF2-40B4-BE49-F238E27FC236}">
                    <a16:creationId xmlns:a16="http://schemas.microsoft.com/office/drawing/2014/main" id="{E581297B-DB9C-4165-A5C2-1F94C8EC59DB}"/>
                  </a:ext>
                </a:extLst>
              </p:cNvPr>
              <p:cNvSpPr/>
              <p:nvPr/>
            </p:nvSpPr>
            <p:spPr>
              <a:xfrm>
                <a:off x="10047590" y="3539005"/>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 name="Rectangle 160">
                <a:extLst>
                  <a:ext uri="{FF2B5EF4-FFF2-40B4-BE49-F238E27FC236}">
                    <a16:creationId xmlns:a16="http://schemas.microsoft.com/office/drawing/2014/main" id="{A480F958-6414-4B6F-9A69-12DADD839CE8}"/>
                  </a:ext>
                </a:extLst>
              </p:cNvPr>
              <p:cNvSpPr/>
              <p:nvPr/>
            </p:nvSpPr>
            <p:spPr>
              <a:xfrm>
                <a:off x="10047590" y="344128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Rectangle 161">
                <a:extLst>
                  <a:ext uri="{FF2B5EF4-FFF2-40B4-BE49-F238E27FC236}">
                    <a16:creationId xmlns:a16="http://schemas.microsoft.com/office/drawing/2014/main" id="{2B4DDC10-9BF6-4B3A-9820-B5C6C91FCED9}"/>
                  </a:ext>
                </a:extLst>
              </p:cNvPr>
              <p:cNvSpPr/>
              <p:nvPr/>
            </p:nvSpPr>
            <p:spPr>
              <a:xfrm>
                <a:off x="10162774" y="3447131"/>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Rectangle 162">
                <a:extLst>
                  <a:ext uri="{FF2B5EF4-FFF2-40B4-BE49-F238E27FC236}">
                    <a16:creationId xmlns:a16="http://schemas.microsoft.com/office/drawing/2014/main" id="{A40418D4-A0CC-4146-BD30-95CDF1AD8958}"/>
                  </a:ext>
                </a:extLst>
              </p:cNvPr>
              <p:cNvSpPr/>
              <p:nvPr/>
            </p:nvSpPr>
            <p:spPr>
              <a:xfrm>
                <a:off x="10165167" y="3359375"/>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Rectangle 163">
                <a:extLst>
                  <a:ext uri="{FF2B5EF4-FFF2-40B4-BE49-F238E27FC236}">
                    <a16:creationId xmlns:a16="http://schemas.microsoft.com/office/drawing/2014/main" id="{9948AFD8-F25B-4AD5-AF67-E54303BFAA51}"/>
                  </a:ext>
                </a:extLst>
              </p:cNvPr>
              <p:cNvSpPr/>
              <p:nvPr/>
            </p:nvSpPr>
            <p:spPr>
              <a:xfrm>
                <a:off x="11261438" y="4486079"/>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Rectangle 164">
                <a:extLst>
                  <a:ext uri="{FF2B5EF4-FFF2-40B4-BE49-F238E27FC236}">
                    <a16:creationId xmlns:a16="http://schemas.microsoft.com/office/drawing/2014/main" id="{00E465FE-90B8-4505-BCCA-9D33E27EF255}"/>
                  </a:ext>
                </a:extLst>
              </p:cNvPr>
              <p:cNvSpPr/>
              <p:nvPr/>
            </p:nvSpPr>
            <p:spPr>
              <a:xfrm>
                <a:off x="11082898" y="4485643"/>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 name="Rectangle 165">
                <a:extLst>
                  <a:ext uri="{FF2B5EF4-FFF2-40B4-BE49-F238E27FC236}">
                    <a16:creationId xmlns:a16="http://schemas.microsoft.com/office/drawing/2014/main" id="{8931AC8B-654B-4C90-8E40-B284E1CAD3AF}"/>
                  </a:ext>
                </a:extLst>
              </p:cNvPr>
              <p:cNvSpPr/>
              <p:nvPr/>
            </p:nvSpPr>
            <p:spPr>
              <a:xfrm>
                <a:off x="11169566" y="4387475"/>
                <a:ext cx="164538"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Rectangle 166">
                <a:extLst>
                  <a:ext uri="{FF2B5EF4-FFF2-40B4-BE49-F238E27FC236}">
                    <a16:creationId xmlns:a16="http://schemas.microsoft.com/office/drawing/2014/main" id="{69A8E121-0537-4086-BE81-F6175F23F929}"/>
                  </a:ext>
                </a:extLst>
              </p:cNvPr>
              <p:cNvSpPr/>
              <p:nvPr/>
            </p:nvSpPr>
            <p:spPr>
              <a:xfrm>
                <a:off x="11321431" y="4295395"/>
                <a:ext cx="104547"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Rectangle 167">
                <a:extLst>
                  <a:ext uri="{FF2B5EF4-FFF2-40B4-BE49-F238E27FC236}">
                    <a16:creationId xmlns:a16="http://schemas.microsoft.com/office/drawing/2014/main" id="{275B4E6F-2F8B-4325-8F52-D884C0FB346C}"/>
                  </a:ext>
                </a:extLst>
              </p:cNvPr>
              <p:cNvSpPr/>
              <p:nvPr/>
            </p:nvSpPr>
            <p:spPr>
              <a:xfrm>
                <a:off x="11082897" y="4290204"/>
                <a:ext cx="11195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Rectangle 168">
                <a:extLst>
                  <a:ext uri="{FF2B5EF4-FFF2-40B4-BE49-F238E27FC236}">
                    <a16:creationId xmlns:a16="http://schemas.microsoft.com/office/drawing/2014/main" id="{5EA3F49E-7CE3-4EB8-B86D-E27C3E719152}"/>
                  </a:ext>
                </a:extLst>
              </p:cNvPr>
              <p:cNvSpPr/>
              <p:nvPr/>
            </p:nvSpPr>
            <p:spPr>
              <a:xfrm>
                <a:off x="11345319" y="4387476"/>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 name="Rectangle 169">
                <a:extLst>
                  <a:ext uri="{FF2B5EF4-FFF2-40B4-BE49-F238E27FC236}">
                    <a16:creationId xmlns:a16="http://schemas.microsoft.com/office/drawing/2014/main" id="{B28906DF-32BE-46B7-BDA6-7203BF825619}"/>
                  </a:ext>
                </a:extLst>
              </p:cNvPr>
              <p:cNvSpPr/>
              <p:nvPr/>
            </p:nvSpPr>
            <p:spPr>
              <a:xfrm>
                <a:off x="11080158" y="4387476"/>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1" name="Rectangle 170">
                <a:extLst>
                  <a:ext uri="{FF2B5EF4-FFF2-40B4-BE49-F238E27FC236}">
                    <a16:creationId xmlns:a16="http://schemas.microsoft.com/office/drawing/2014/main" id="{131CF3C7-AAFB-4489-B09C-1D9AAD112044}"/>
                  </a:ext>
                </a:extLst>
              </p:cNvPr>
              <p:cNvSpPr/>
              <p:nvPr/>
            </p:nvSpPr>
            <p:spPr>
              <a:xfrm>
                <a:off x="11320914" y="420039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2" name="Rectangle 171">
                <a:extLst>
                  <a:ext uri="{FF2B5EF4-FFF2-40B4-BE49-F238E27FC236}">
                    <a16:creationId xmlns:a16="http://schemas.microsoft.com/office/drawing/2014/main" id="{B448FAA0-5785-4F8D-8AA5-CE2F4522E799}"/>
                  </a:ext>
                </a:extLst>
              </p:cNvPr>
              <p:cNvSpPr/>
              <p:nvPr/>
            </p:nvSpPr>
            <p:spPr>
              <a:xfrm>
                <a:off x="11320914" y="4107604"/>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 name="Rectangle 172">
                <a:extLst>
                  <a:ext uri="{FF2B5EF4-FFF2-40B4-BE49-F238E27FC236}">
                    <a16:creationId xmlns:a16="http://schemas.microsoft.com/office/drawing/2014/main" id="{03A6A3FB-2F87-4C6F-89FC-DDEF96CAD85D}"/>
                  </a:ext>
                </a:extLst>
              </p:cNvPr>
              <p:cNvSpPr/>
              <p:nvPr/>
            </p:nvSpPr>
            <p:spPr>
              <a:xfrm>
                <a:off x="11090546" y="4194258"/>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 name="Rectangle 173">
                <a:extLst>
                  <a:ext uri="{FF2B5EF4-FFF2-40B4-BE49-F238E27FC236}">
                    <a16:creationId xmlns:a16="http://schemas.microsoft.com/office/drawing/2014/main" id="{1638A7E7-900B-4755-A4E8-B7A678004DE2}"/>
                  </a:ext>
                </a:extLst>
              </p:cNvPr>
              <p:cNvSpPr/>
              <p:nvPr/>
            </p:nvSpPr>
            <p:spPr>
              <a:xfrm>
                <a:off x="11090546" y="4101467"/>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5" name="Groupe 194">
              <a:extLst>
                <a:ext uri="{FF2B5EF4-FFF2-40B4-BE49-F238E27FC236}">
                  <a16:creationId xmlns:a16="http://schemas.microsoft.com/office/drawing/2014/main" id="{4E1CCD66-BD6E-44D5-8754-3F78CF91EE84}"/>
                </a:ext>
              </a:extLst>
            </p:cNvPr>
            <p:cNvGrpSpPr/>
            <p:nvPr/>
          </p:nvGrpSpPr>
          <p:grpSpPr>
            <a:xfrm>
              <a:off x="1586592" y="3400064"/>
              <a:ext cx="1383385" cy="1242096"/>
              <a:chOff x="5247267" y="8072371"/>
              <a:chExt cx="817082" cy="733631"/>
            </a:xfrm>
          </p:grpSpPr>
          <p:grpSp>
            <p:nvGrpSpPr>
              <p:cNvPr id="196" name="Groupe 195">
                <a:extLst>
                  <a:ext uri="{FF2B5EF4-FFF2-40B4-BE49-F238E27FC236}">
                    <a16:creationId xmlns:a16="http://schemas.microsoft.com/office/drawing/2014/main" id="{98ADEBB3-869F-4DF0-9E84-CB3CEA5A7DE3}"/>
                  </a:ext>
                </a:extLst>
              </p:cNvPr>
              <p:cNvGrpSpPr/>
              <p:nvPr/>
            </p:nvGrpSpPr>
            <p:grpSpPr>
              <a:xfrm>
                <a:off x="5247267" y="8117813"/>
                <a:ext cx="817082" cy="688189"/>
                <a:chOff x="3890963" y="2438774"/>
                <a:chExt cx="1085661" cy="914400"/>
              </a:xfrm>
            </p:grpSpPr>
            <p:pic>
              <p:nvPicPr>
                <p:cNvPr id="198" name="Graphique 197" descr="Culturiste avec un remplissage uni">
                  <a:extLst>
                    <a:ext uri="{FF2B5EF4-FFF2-40B4-BE49-F238E27FC236}">
                      <a16:creationId xmlns:a16="http://schemas.microsoft.com/office/drawing/2014/main" id="{AC7B218B-262F-409C-B9EB-C90FB52588D6}"/>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81356" y="2438774"/>
                  <a:ext cx="914400" cy="914400"/>
                </a:xfrm>
                <a:prstGeom prst="rect">
                  <a:avLst/>
                </a:prstGeom>
              </p:spPr>
            </p:pic>
            <p:sp>
              <p:nvSpPr>
                <p:cNvPr id="199" name="Rectangle 198">
                  <a:extLst>
                    <a:ext uri="{FF2B5EF4-FFF2-40B4-BE49-F238E27FC236}">
                      <a16:creationId xmlns:a16="http://schemas.microsoft.com/office/drawing/2014/main" id="{B5FDC8FE-C73E-409E-BAED-AA5F4566E30C}"/>
                    </a:ext>
                  </a:extLst>
                </p:cNvPr>
                <p:cNvSpPr/>
                <p:nvPr/>
              </p:nvSpPr>
              <p:spPr>
                <a:xfrm>
                  <a:off x="3890963"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 name="Rectangle 199">
                  <a:extLst>
                    <a:ext uri="{FF2B5EF4-FFF2-40B4-BE49-F238E27FC236}">
                      <a16:creationId xmlns:a16="http://schemas.microsoft.com/office/drawing/2014/main" id="{118BDBAE-CAD8-437A-B143-72E96592EE25}"/>
                    </a:ext>
                  </a:extLst>
                </p:cNvPr>
                <p:cNvSpPr/>
                <p:nvPr/>
              </p:nvSpPr>
              <p:spPr>
                <a:xfrm>
                  <a:off x="4700399"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97" name="Rectangle 196">
                <a:extLst>
                  <a:ext uri="{FF2B5EF4-FFF2-40B4-BE49-F238E27FC236}">
                    <a16:creationId xmlns:a16="http://schemas.microsoft.com/office/drawing/2014/main" id="{01AFD1CB-4387-4339-ABD7-CDEAFF91FC77}"/>
                  </a:ext>
                </a:extLst>
              </p:cNvPr>
              <p:cNvSpPr/>
              <p:nvPr/>
            </p:nvSpPr>
            <p:spPr>
              <a:xfrm>
                <a:off x="5519269" y="8072371"/>
                <a:ext cx="298624" cy="1461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1" name="Groupe 200">
              <a:extLst>
                <a:ext uri="{FF2B5EF4-FFF2-40B4-BE49-F238E27FC236}">
                  <a16:creationId xmlns:a16="http://schemas.microsoft.com/office/drawing/2014/main" id="{7853BF78-AA9F-461F-B621-B7EFE53AFBFA}"/>
                </a:ext>
              </a:extLst>
            </p:cNvPr>
            <p:cNvGrpSpPr/>
            <p:nvPr/>
          </p:nvGrpSpPr>
          <p:grpSpPr>
            <a:xfrm flipH="1">
              <a:off x="262080" y="5046378"/>
              <a:ext cx="635480" cy="1274252"/>
              <a:chOff x="5134003" y="2196472"/>
              <a:chExt cx="563254" cy="1156702"/>
            </a:xfrm>
          </p:grpSpPr>
          <p:pic>
            <p:nvPicPr>
              <p:cNvPr id="202" name="Graphique 201" descr="Réussite du groupe avec un remplissage uni">
                <a:extLst>
                  <a:ext uri="{FF2B5EF4-FFF2-40B4-BE49-F238E27FC236}">
                    <a16:creationId xmlns:a16="http://schemas.microsoft.com/office/drawing/2014/main" id="{DB737901-907F-4ED9-B81C-24BCBF005158}"/>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69977" t="13713" r="6403" b="17430"/>
              <a:stretch/>
            </p:blipFill>
            <p:spPr>
              <a:xfrm>
                <a:off x="5300474" y="2196472"/>
                <a:ext cx="396783" cy="1156702"/>
              </a:xfrm>
              <a:prstGeom prst="rect">
                <a:avLst/>
              </a:prstGeom>
            </p:spPr>
          </p:pic>
          <p:sp>
            <p:nvSpPr>
              <p:cNvPr id="203" name="Rectangle 202">
                <a:extLst>
                  <a:ext uri="{FF2B5EF4-FFF2-40B4-BE49-F238E27FC236}">
                    <a16:creationId xmlns:a16="http://schemas.microsoft.com/office/drawing/2014/main" id="{3D35CB96-3794-4B3B-A7DB-5861F45A8F9E}"/>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4" name="Groupe 203">
              <a:extLst>
                <a:ext uri="{FF2B5EF4-FFF2-40B4-BE49-F238E27FC236}">
                  <a16:creationId xmlns:a16="http://schemas.microsoft.com/office/drawing/2014/main" id="{64C304F4-7F94-4FD2-BC45-B7945319CAB8}"/>
                </a:ext>
              </a:extLst>
            </p:cNvPr>
            <p:cNvGrpSpPr/>
            <p:nvPr/>
          </p:nvGrpSpPr>
          <p:grpSpPr>
            <a:xfrm flipH="1">
              <a:off x="3424466" y="3197940"/>
              <a:ext cx="544643" cy="1109212"/>
              <a:chOff x="5134003" y="2196472"/>
              <a:chExt cx="563254" cy="1156702"/>
            </a:xfrm>
          </p:grpSpPr>
          <p:pic>
            <p:nvPicPr>
              <p:cNvPr id="205" name="Graphique 204" descr="Réussite du groupe avec un remplissage uni">
                <a:extLst>
                  <a:ext uri="{FF2B5EF4-FFF2-40B4-BE49-F238E27FC236}">
                    <a16:creationId xmlns:a16="http://schemas.microsoft.com/office/drawing/2014/main" id="{B45A7477-1594-4A43-A8DC-C7551975CD56}"/>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69977" t="13713" r="6403" b="17430"/>
              <a:stretch/>
            </p:blipFill>
            <p:spPr>
              <a:xfrm>
                <a:off x="5300474" y="2196472"/>
                <a:ext cx="396783" cy="1156702"/>
              </a:xfrm>
              <a:prstGeom prst="rect">
                <a:avLst/>
              </a:prstGeom>
            </p:spPr>
          </p:pic>
          <p:sp>
            <p:nvSpPr>
              <p:cNvPr id="206" name="Rectangle 205">
                <a:extLst>
                  <a:ext uri="{FF2B5EF4-FFF2-40B4-BE49-F238E27FC236}">
                    <a16:creationId xmlns:a16="http://schemas.microsoft.com/office/drawing/2014/main" id="{4666D706-FB2B-426F-8DB0-1FB75CA41269}"/>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9" name="Graphique 8" descr="Mur de briques en construction avec un remplissage uni">
              <a:extLst>
                <a:ext uri="{FF2B5EF4-FFF2-40B4-BE49-F238E27FC236}">
                  <a16:creationId xmlns:a16="http://schemas.microsoft.com/office/drawing/2014/main" id="{3F30A76B-3311-4246-99E5-7DF4D9975A4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flipH="1">
              <a:off x="7209724" y="2927004"/>
              <a:ext cx="993712" cy="1005521"/>
            </a:xfrm>
            <a:prstGeom prst="rect">
              <a:avLst/>
            </a:prstGeom>
          </p:spPr>
        </p:pic>
        <p:pic>
          <p:nvPicPr>
            <p:cNvPr id="249" name="Graphique 248" descr="Mur de briques en construction avec un remplissage uni">
              <a:extLst>
                <a:ext uri="{FF2B5EF4-FFF2-40B4-BE49-F238E27FC236}">
                  <a16:creationId xmlns:a16="http://schemas.microsoft.com/office/drawing/2014/main" id="{2609CF9A-449F-4A80-AC18-FC15FC76B1A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flipH="1">
              <a:off x="5736911" y="3981151"/>
              <a:ext cx="993712" cy="1005521"/>
            </a:xfrm>
            <a:prstGeom prst="rect">
              <a:avLst/>
            </a:prstGeom>
          </p:spPr>
        </p:pic>
        <p:pic>
          <p:nvPicPr>
            <p:cNvPr id="250" name="Graphique 249" descr="Mur de briques en construction avec un remplissage uni">
              <a:extLst>
                <a:ext uri="{FF2B5EF4-FFF2-40B4-BE49-F238E27FC236}">
                  <a16:creationId xmlns:a16="http://schemas.microsoft.com/office/drawing/2014/main" id="{4DA4D23A-5BF4-40FF-8A44-BB87426AF1B3}"/>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flipH="1">
              <a:off x="7150179" y="4248794"/>
              <a:ext cx="993712" cy="1005521"/>
            </a:xfrm>
            <a:prstGeom prst="rect">
              <a:avLst/>
            </a:prstGeom>
          </p:spPr>
        </p:pic>
        <p:pic>
          <p:nvPicPr>
            <p:cNvPr id="251" name="Graphique 250" descr="Mur de briques en construction avec un remplissage uni">
              <a:extLst>
                <a:ext uri="{FF2B5EF4-FFF2-40B4-BE49-F238E27FC236}">
                  <a16:creationId xmlns:a16="http://schemas.microsoft.com/office/drawing/2014/main" id="{2734F6DB-BBC3-4B7D-BE4E-08A62338D7E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6192810" y="5310114"/>
              <a:ext cx="993712" cy="1005521"/>
            </a:xfrm>
            <a:prstGeom prst="rect">
              <a:avLst/>
            </a:prstGeom>
          </p:spPr>
        </p:pic>
      </p:grpSp>
      <p:sp>
        <p:nvSpPr>
          <p:cNvPr id="252" name="Espace réservé du contenu 2">
            <a:extLst>
              <a:ext uri="{FF2B5EF4-FFF2-40B4-BE49-F238E27FC236}">
                <a16:creationId xmlns:a16="http://schemas.microsoft.com/office/drawing/2014/main" id="{42BAE5F9-7E7E-4181-89CE-3D9C5DC880A7}"/>
              </a:ext>
            </a:extLst>
          </p:cNvPr>
          <p:cNvSpPr>
            <a:spLocks noGrp="1"/>
          </p:cNvSpPr>
          <p:nvPr>
            <p:ph idx="1"/>
          </p:nvPr>
        </p:nvSpPr>
        <p:spPr>
          <a:xfrm>
            <a:off x="475375" y="1371496"/>
            <a:ext cx="5343947" cy="4818456"/>
          </a:xfrm>
        </p:spPr>
        <p:txBody>
          <a:bodyPr>
            <a:noAutofit/>
          </a:bodyPr>
          <a:lstStyle/>
          <a:p>
            <a:r>
              <a:rPr lang="fr-FR" sz="1800" dirty="0"/>
              <a:t>Une communauté permet de mettre en commun de la motivation, de l’énergie, de compétences, de ressources, de réseau ou simplement d’attention.</a:t>
            </a:r>
          </a:p>
          <a:p>
            <a:endParaRPr lang="fr-FR" sz="1800" dirty="0"/>
          </a:p>
          <a:p>
            <a:r>
              <a:rPr lang="fr-FR" sz="1800" dirty="0"/>
              <a:t>La mise en commun de ces contributions peut être facilitée par </a:t>
            </a:r>
            <a:r>
              <a:rPr lang="fr-FR" sz="1800" b="1" dirty="0">
                <a:solidFill>
                  <a:srgbClr val="3494BA"/>
                </a:solidFill>
              </a:rPr>
              <a:t>un exercice de mise à plat </a:t>
            </a:r>
            <a:r>
              <a:rPr lang="fr-FR" sz="1800" dirty="0"/>
              <a:t>de « ce que chacun pourrait apporter à la communauté ». Un de ces exercices est la Maison de la Contribution.</a:t>
            </a:r>
          </a:p>
          <a:p>
            <a:endParaRPr lang="fr-FR" sz="1800" dirty="0"/>
          </a:p>
          <a:p>
            <a:r>
              <a:rPr lang="fr-FR" sz="1800" dirty="0"/>
              <a:t>Cette mise à plat aide à mieux imaginer </a:t>
            </a:r>
            <a:r>
              <a:rPr lang="fr-FR" sz="1800" b="1" dirty="0">
                <a:solidFill>
                  <a:srgbClr val="ED7D31"/>
                </a:solidFill>
              </a:rPr>
              <a:t>les premières opportunités d’opérer ensemble</a:t>
            </a:r>
            <a:r>
              <a:rPr lang="fr-FR" sz="1800" dirty="0"/>
              <a:t> plutôt que chacun de son côté.</a:t>
            </a:r>
          </a:p>
          <a:p>
            <a:endParaRPr lang="fr-FR" sz="1800" dirty="0"/>
          </a:p>
          <a:p>
            <a:r>
              <a:rPr lang="fr-FR" sz="1800" dirty="0"/>
              <a:t>Une communauté a intérêt à centrer ses activités et sa valeur sur </a:t>
            </a:r>
            <a:r>
              <a:rPr lang="fr-FR" sz="1800" b="1" dirty="0"/>
              <a:t>ce que chaque individu ne pourrait atteindre seul</a:t>
            </a:r>
            <a:r>
              <a:rPr lang="fr-FR" sz="1800" dirty="0"/>
              <a:t>. Essayer de reproduire en groupe ce qui peut plus facilement s’atteindre seul peut impacter l’engagement dans le collectif.</a:t>
            </a:r>
          </a:p>
        </p:txBody>
      </p:sp>
    </p:spTree>
    <p:extLst>
      <p:ext uri="{BB962C8B-B14F-4D97-AF65-F5344CB8AC3E}">
        <p14:creationId xmlns:p14="http://schemas.microsoft.com/office/powerpoint/2010/main" val="2607133345"/>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FF05CEA-B376-4336-AAA7-38ABCF09E831}"/>
              </a:ext>
            </a:extLst>
          </p:cNvPr>
          <p:cNvSpPr>
            <a:spLocks noGrp="1"/>
          </p:cNvSpPr>
          <p:nvPr>
            <p:ph type="title"/>
          </p:nvPr>
        </p:nvSpPr>
        <p:spPr>
          <a:xfrm>
            <a:off x="838200" y="365125"/>
            <a:ext cx="10515600" cy="583553"/>
          </a:xfrm>
        </p:spPr>
        <p:txBody>
          <a:bodyPr>
            <a:normAutofit fontScale="90000"/>
          </a:bodyPr>
          <a:lstStyle/>
          <a:p>
            <a:r>
              <a:rPr lang="fr-FR"/>
              <a:t>La Valeur d’être en Communauté (vs seul)</a:t>
            </a:r>
            <a:br>
              <a:rPr lang="fr-FR"/>
            </a:br>
            <a:r>
              <a:rPr lang="fr-FR"/>
              <a:t>Maison de la contribution</a:t>
            </a:r>
          </a:p>
        </p:txBody>
      </p:sp>
      <p:sp>
        <p:nvSpPr>
          <p:cNvPr id="48" name="ZoneTexte 47">
            <a:extLst>
              <a:ext uri="{FF2B5EF4-FFF2-40B4-BE49-F238E27FC236}">
                <a16:creationId xmlns:a16="http://schemas.microsoft.com/office/drawing/2014/main" id="{3342C862-0507-44EC-BE7E-B1D8E38192A5}"/>
              </a:ext>
            </a:extLst>
          </p:cNvPr>
          <p:cNvSpPr txBox="1"/>
          <p:nvPr/>
        </p:nvSpPr>
        <p:spPr>
          <a:xfrm>
            <a:off x="383780" y="1198864"/>
            <a:ext cx="4136283" cy="584775"/>
          </a:xfrm>
          <a:prstGeom prst="rect">
            <a:avLst/>
          </a:prstGeom>
          <a:noFill/>
        </p:spPr>
        <p:txBody>
          <a:bodyPr wrap="square">
            <a:spAutoFit/>
          </a:bodyPr>
          <a:lstStyle/>
          <a:p>
            <a:pPr algn="ctr"/>
            <a:r>
              <a:rPr lang="fr-FR" sz="1600" b="1" i="1"/>
              <a:t>Ce que chacun peut apporter pour la raison d’être de la Communauté</a:t>
            </a:r>
          </a:p>
        </p:txBody>
      </p:sp>
      <p:sp>
        <p:nvSpPr>
          <p:cNvPr id="49" name="ZoneTexte 48">
            <a:extLst>
              <a:ext uri="{FF2B5EF4-FFF2-40B4-BE49-F238E27FC236}">
                <a16:creationId xmlns:a16="http://schemas.microsoft.com/office/drawing/2014/main" id="{13C61C05-6FCE-4C2F-B888-2189F503860F}"/>
              </a:ext>
            </a:extLst>
          </p:cNvPr>
          <p:cNvSpPr txBox="1"/>
          <p:nvPr/>
        </p:nvSpPr>
        <p:spPr>
          <a:xfrm>
            <a:off x="5804381" y="1365741"/>
            <a:ext cx="2258641" cy="584775"/>
          </a:xfrm>
          <a:prstGeom prst="rect">
            <a:avLst/>
          </a:prstGeom>
          <a:noFill/>
        </p:spPr>
        <p:txBody>
          <a:bodyPr wrap="square">
            <a:spAutoFit/>
          </a:bodyPr>
          <a:lstStyle/>
          <a:p>
            <a:pPr algn="ctr"/>
            <a:r>
              <a:rPr lang="fr-FR" sz="1600" b="1" i="1" dirty="0"/>
              <a:t>Premières idées de contributions combinées</a:t>
            </a:r>
          </a:p>
        </p:txBody>
      </p:sp>
      <p:sp>
        <p:nvSpPr>
          <p:cNvPr id="52" name="ZoneTexte 51">
            <a:extLst>
              <a:ext uri="{FF2B5EF4-FFF2-40B4-BE49-F238E27FC236}">
                <a16:creationId xmlns:a16="http://schemas.microsoft.com/office/drawing/2014/main" id="{F7A9D8FC-D848-4D9F-91E9-9318A289E46D}"/>
              </a:ext>
            </a:extLst>
          </p:cNvPr>
          <p:cNvSpPr txBox="1"/>
          <p:nvPr/>
        </p:nvSpPr>
        <p:spPr>
          <a:xfrm>
            <a:off x="9738227" y="1361321"/>
            <a:ext cx="2258641" cy="830997"/>
          </a:xfrm>
          <a:prstGeom prst="rect">
            <a:avLst/>
          </a:prstGeom>
          <a:noFill/>
        </p:spPr>
        <p:txBody>
          <a:bodyPr wrap="square">
            <a:spAutoFit/>
          </a:bodyPr>
          <a:lstStyle/>
          <a:p>
            <a:pPr algn="ctr"/>
            <a:r>
              <a:rPr lang="fr-FR" sz="1600" b="1" i="1" dirty="0"/>
              <a:t>Idées de succès qui seraient inaccessibles à des individus isolés</a:t>
            </a:r>
          </a:p>
        </p:txBody>
      </p:sp>
      <p:grpSp>
        <p:nvGrpSpPr>
          <p:cNvPr id="55" name="Groupe 54">
            <a:extLst>
              <a:ext uri="{FF2B5EF4-FFF2-40B4-BE49-F238E27FC236}">
                <a16:creationId xmlns:a16="http://schemas.microsoft.com/office/drawing/2014/main" id="{26EBE82C-A9CF-44DD-A535-F92283AA2649}"/>
              </a:ext>
            </a:extLst>
          </p:cNvPr>
          <p:cNvGrpSpPr/>
          <p:nvPr/>
        </p:nvGrpSpPr>
        <p:grpSpPr>
          <a:xfrm>
            <a:off x="2604265" y="1839252"/>
            <a:ext cx="1467257" cy="1169474"/>
            <a:chOff x="2609577" y="1563591"/>
            <a:chExt cx="1467257" cy="1169474"/>
          </a:xfrm>
        </p:grpSpPr>
        <p:grpSp>
          <p:nvGrpSpPr>
            <p:cNvPr id="42" name="Groupe 41">
              <a:extLst>
                <a:ext uri="{FF2B5EF4-FFF2-40B4-BE49-F238E27FC236}">
                  <a16:creationId xmlns:a16="http://schemas.microsoft.com/office/drawing/2014/main" id="{355A2826-D35C-4355-8D6F-CA811352584A}"/>
                </a:ext>
              </a:extLst>
            </p:cNvPr>
            <p:cNvGrpSpPr/>
            <p:nvPr/>
          </p:nvGrpSpPr>
          <p:grpSpPr>
            <a:xfrm>
              <a:off x="2609577" y="1563591"/>
              <a:ext cx="1412109" cy="1169474"/>
              <a:chOff x="2645545" y="3994190"/>
              <a:chExt cx="1412109" cy="1169474"/>
            </a:xfrm>
          </p:grpSpPr>
          <p:pic>
            <p:nvPicPr>
              <p:cNvPr id="43" name="Graphique 42" descr="Diable avec un remplissage uni">
                <a:extLst>
                  <a:ext uri="{FF2B5EF4-FFF2-40B4-BE49-F238E27FC236}">
                    <a16:creationId xmlns:a16="http://schemas.microsoft.com/office/drawing/2014/main" id="{8244A6A4-C5E1-4062-A01E-7F8B5AD111C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44" name="Graphique 43" descr="Base-ball avec un remplissage uni">
                <a:extLst>
                  <a:ext uri="{FF2B5EF4-FFF2-40B4-BE49-F238E27FC236}">
                    <a16:creationId xmlns:a16="http://schemas.microsoft.com/office/drawing/2014/main" id="{5C12E74D-1A36-40E7-8099-519692F5218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45" name="Rectangle 44">
                <a:extLst>
                  <a:ext uri="{FF2B5EF4-FFF2-40B4-BE49-F238E27FC236}">
                    <a16:creationId xmlns:a16="http://schemas.microsoft.com/office/drawing/2014/main" id="{1AFD5C9D-8C2F-4199-9991-CDDA10264D43}"/>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54" name="Graphique 53" descr="Boîte à archives avec un remplissage uni">
              <a:extLst>
                <a:ext uri="{FF2B5EF4-FFF2-40B4-BE49-F238E27FC236}">
                  <a16:creationId xmlns:a16="http://schemas.microsoft.com/office/drawing/2014/main" id="{78459876-A327-48F8-A172-A2B68D6C0D8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80" name="Groupe 79">
            <a:extLst>
              <a:ext uri="{FF2B5EF4-FFF2-40B4-BE49-F238E27FC236}">
                <a16:creationId xmlns:a16="http://schemas.microsoft.com/office/drawing/2014/main" id="{C5C2CD00-8B2B-4B4C-A81E-8B0F1CACDA4D}"/>
              </a:ext>
            </a:extLst>
          </p:cNvPr>
          <p:cNvGrpSpPr/>
          <p:nvPr/>
        </p:nvGrpSpPr>
        <p:grpSpPr>
          <a:xfrm>
            <a:off x="2907742" y="4287731"/>
            <a:ext cx="1467257" cy="1169474"/>
            <a:chOff x="2609577" y="1563591"/>
            <a:chExt cx="1467257" cy="1169474"/>
          </a:xfrm>
        </p:grpSpPr>
        <p:grpSp>
          <p:nvGrpSpPr>
            <p:cNvPr id="81" name="Groupe 80">
              <a:extLst>
                <a:ext uri="{FF2B5EF4-FFF2-40B4-BE49-F238E27FC236}">
                  <a16:creationId xmlns:a16="http://schemas.microsoft.com/office/drawing/2014/main" id="{F3CC8DA8-B904-4687-9A23-3C4BA94E2FDE}"/>
                </a:ext>
              </a:extLst>
            </p:cNvPr>
            <p:cNvGrpSpPr/>
            <p:nvPr/>
          </p:nvGrpSpPr>
          <p:grpSpPr>
            <a:xfrm>
              <a:off x="2609577" y="1563591"/>
              <a:ext cx="1412109" cy="1169474"/>
              <a:chOff x="2645545" y="3994190"/>
              <a:chExt cx="1412109" cy="1169474"/>
            </a:xfrm>
          </p:grpSpPr>
          <p:pic>
            <p:nvPicPr>
              <p:cNvPr id="83" name="Graphique 82" descr="Diable avec un remplissage uni">
                <a:extLst>
                  <a:ext uri="{FF2B5EF4-FFF2-40B4-BE49-F238E27FC236}">
                    <a16:creationId xmlns:a16="http://schemas.microsoft.com/office/drawing/2014/main" id="{AF514076-F83A-4A89-ABCF-58AD67E4B4A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84" name="Graphique 83" descr="Base-ball avec un remplissage uni">
                <a:extLst>
                  <a:ext uri="{FF2B5EF4-FFF2-40B4-BE49-F238E27FC236}">
                    <a16:creationId xmlns:a16="http://schemas.microsoft.com/office/drawing/2014/main" id="{A04ED57F-AFFD-409B-8C24-D22B629FC4A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85" name="Rectangle 84">
                <a:extLst>
                  <a:ext uri="{FF2B5EF4-FFF2-40B4-BE49-F238E27FC236}">
                    <a16:creationId xmlns:a16="http://schemas.microsoft.com/office/drawing/2014/main" id="{C91B5379-3E46-4A37-B2D6-C4F3CD53700B}"/>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82" name="Graphique 81" descr="Boîte à archives avec un remplissage uni">
              <a:extLst>
                <a:ext uri="{FF2B5EF4-FFF2-40B4-BE49-F238E27FC236}">
                  <a16:creationId xmlns:a16="http://schemas.microsoft.com/office/drawing/2014/main" id="{DA1A851F-C5EF-43C9-A0B3-7187DBCFD40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86" name="Groupe 85">
            <a:extLst>
              <a:ext uri="{FF2B5EF4-FFF2-40B4-BE49-F238E27FC236}">
                <a16:creationId xmlns:a16="http://schemas.microsoft.com/office/drawing/2014/main" id="{2866E67F-F311-4588-B703-8A697368E469}"/>
              </a:ext>
            </a:extLst>
          </p:cNvPr>
          <p:cNvGrpSpPr/>
          <p:nvPr/>
        </p:nvGrpSpPr>
        <p:grpSpPr>
          <a:xfrm>
            <a:off x="2547542" y="5603914"/>
            <a:ext cx="1467257" cy="1169474"/>
            <a:chOff x="2609577" y="1563591"/>
            <a:chExt cx="1467257" cy="1169474"/>
          </a:xfrm>
        </p:grpSpPr>
        <p:grpSp>
          <p:nvGrpSpPr>
            <p:cNvPr id="87" name="Groupe 86">
              <a:extLst>
                <a:ext uri="{FF2B5EF4-FFF2-40B4-BE49-F238E27FC236}">
                  <a16:creationId xmlns:a16="http://schemas.microsoft.com/office/drawing/2014/main" id="{F451FCE1-F2B0-484F-A08F-2CB7D2FEC9EC}"/>
                </a:ext>
              </a:extLst>
            </p:cNvPr>
            <p:cNvGrpSpPr/>
            <p:nvPr/>
          </p:nvGrpSpPr>
          <p:grpSpPr>
            <a:xfrm>
              <a:off x="2609577" y="1563591"/>
              <a:ext cx="1412109" cy="1169474"/>
              <a:chOff x="2645545" y="3994190"/>
              <a:chExt cx="1412109" cy="1169474"/>
            </a:xfrm>
          </p:grpSpPr>
          <p:pic>
            <p:nvPicPr>
              <p:cNvPr id="89" name="Graphique 88" descr="Diable avec un remplissage uni">
                <a:extLst>
                  <a:ext uri="{FF2B5EF4-FFF2-40B4-BE49-F238E27FC236}">
                    <a16:creationId xmlns:a16="http://schemas.microsoft.com/office/drawing/2014/main" id="{9F087DA0-B39B-45CC-B709-2E92EC9B9C5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90" name="Graphique 89" descr="Base-ball avec un remplissage uni">
                <a:extLst>
                  <a:ext uri="{FF2B5EF4-FFF2-40B4-BE49-F238E27FC236}">
                    <a16:creationId xmlns:a16="http://schemas.microsoft.com/office/drawing/2014/main" id="{E0377BB5-85CB-4162-B1DD-0EDAEE890DD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91" name="Rectangle 90">
                <a:extLst>
                  <a:ext uri="{FF2B5EF4-FFF2-40B4-BE49-F238E27FC236}">
                    <a16:creationId xmlns:a16="http://schemas.microsoft.com/office/drawing/2014/main" id="{F7F87CA6-C82F-4A7C-810C-6966E88C7137}"/>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88" name="Graphique 87" descr="Boîte à archives avec un remplissage uni">
              <a:extLst>
                <a:ext uri="{FF2B5EF4-FFF2-40B4-BE49-F238E27FC236}">
                  <a16:creationId xmlns:a16="http://schemas.microsoft.com/office/drawing/2014/main" id="{D1F7AED6-42D3-4C34-9625-A3D14E52FB4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92" name="Groupe 91">
            <a:extLst>
              <a:ext uri="{FF2B5EF4-FFF2-40B4-BE49-F238E27FC236}">
                <a16:creationId xmlns:a16="http://schemas.microsoft.com/office/drawing/2014/main" id="{68F73D70-3EBC-4AF5-9B49-5677BCD0692C}"/>
              </a:ext>
            </a:extLst>
          </p:cNvPr>
          <p:cNvGrpSpPr/>
          <p:nvPr/>
        </p:nvGrpSpPr>
        <p:grpSpPr>
          <a:xfrm>
            <a:off x="1098866" y="4806407"/>
            <a:ext cx="1467257" cy="1169474"/>
            <a:chOff x="2609577" y="1563591"/>
            <a:chExt cx="1467257" cy="1169474"/>
          </a:xfrm>
        </p:grpSpPr>
        <p:grpSp>
          <p:nvGrpSpPr>
            <p:cNvPr id="93" name="Groupe 92">
              <a:extLst>
                <a:ext uri="{FF2B5EF4-FFF2-40B4-BE49-F238E27FC236}">
                  <a16:creationId xmlns:a16="http://schemas.microsoft.com/office/drawing/2014/main" id="{34ECD60C-FED1-40EC-86AE-5BD2ADB1B80E}"/>
                </a:ext>
              </a:extLst>
            </p:cNvPr>
            <p:cNvGrpSpPr/>
            <p:nvPr/>
          </p:nvGrpSpPr>
          <p:grpSpPr>
            <a:xfrm>
              <a:off x="2609577" y="1563591"/>
              <a:ext cx="1412109" cy="1169474"/>
              <a:chOff x="2645545" y="3994190"/>
              <a:chExt cx="1412109" cy="1169474"/>
            </a:xfrm>
          </p:grpSpPr>
          <p:pic>
            <p:nvPicPr>
              <p:cNvPr id="95" name="Graphique 94" descr="Diable avec un remplissage uni">
                <a:extLst>
                  <a:ext uri="{FF2B5EF4-FFF2-40B4-BE49-F238E27FC236}">
                    <a16:creationId xmlns:a16="http://schemas.microsoft.com/office/drawing/2014/main" id="{70B2987C-0D9D-4AC6-8F1B-8EBBCD3A3FC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96" name="Graphique 95" descr="Base-ball avec un remplissage uni">
                <a:extLst>
                  <a:ext uri="{FF2B5EF4-FFF2-40B4-BE49-F238E27FC236}">
                    <a16:creationId xmlns:a16="http://schemas.microsoft.com/office/drawing/2014/main" id="{15C99CA0-E99E-4FC2-A1F6-3BF87723B0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97" name="Rectangle 96">
                <a:extLst>
                  <a:ext uri="{FF2B5EF4-FFF2-40B4-BE49-F238E27FC236}">
                    <a16:creationId xmlns:a16="http://schemas.microsoft.com/office/drawing/2014/main" id="{8E1C9C35-8E8A-45E1-93BD-7C1B2D3A73AE}"/>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94" name="Graphique 93" descr="Boîte à archives avec un remplissage uni">
              <a:extLst>
                <a:ext uri="{FF2B5EF4-FFF2-40B4-BE49-F238E27FC236}">
                  <a16:creationId xmlns:a16="http://schemas.microsoft.com/office/drawing/2014/main" id="{6F9288F9-231B-409D-90E8-A93108A86BC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106" name="Groupe 105">
            <a:extLst>
              <a:ext uri="{FF2B5EF4-FFF2-40B4-BE49-F238E27FC236}">
                <a16:creationId xmlns:a16="http://schemas.microsoft.com/office/drawing/2014/main" id="{13B2CE95-C8C7-4A5C-92F1-EC2A4420DB71}"/>
              </a:ext>
            </a:extLst>
          </p:cNvPr>
          <p:cNvGrpSpPr/>
          <p:nvPr/>
        </p:nvGrpSpPr>
        <p:grpSpPr>
          <a:xfrm flipH="1">
            <a:off x="5650743" y="2263842"/>
            <a:ext cx="1093937" cy="1165158"/>
            <a:chOff x="1680627" y="1783722"/>
            <a:chExt cx="1331514" cy="1331514"/>
          </a:xfrm>
        </p:grpSpPr>
        <p:pic>
          <p:nvPicPr>
            <p:cNvPr id="179" name="Graphique 178" descr="Mur de briques en construction avec un remplissage uni">
              <a:extLst>
                <a:ext uri="{FF2B5EF4-FFF2-40B4-BE49-F238E27FC236}">
                  <a16:creationId xmlns:a16="http://schemas.microsoft.com/office/drawing/2014/main" id="{13F6B018-6351-4C3D-852E-8A5F57E1A2E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680627" y="1783722"/>
              <a:ext cx="1331514" cy="1331514"/>
            </a:xfrm>
            <a:prstGeom prst="rect">
              <a:avLst/>
            </a:prstGeom>
          </p:spPr>
        </p:pic>
        <p:sp>
          <p:nvSpPr>
            <p:cNvPr id="180" name="Rectangle 179">
              <a:extLst>
                <a:ext uri="{FF2B5EF4-FFF2-40B4-BE49-F238E27FC236}">
                  <a16:creationId xmlns:a16="http://schemas.microsoft.com/office/drawing/2014/main" id="{20453177-74D5-4E14-8160-B24A3B16BED5}"/>
                </a:ext>
              </a:extLst>
            </p:cNvPr>
            <p:cNvSpPr/>
            <p:nvPr/>
          </p:nvSpPr>
          <p:spPr>
            <a:xfrm>
              <a:off x="2206885" y="2187027"/>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 name="Rectangle 180">
              <a:extLst>
                <a:ext uri="{FF2B5EF4-FFF2-40B4-BE49-F238E27FC236}">
                  <a16:creationId xmlns:a16="http://schemas.microsoft.com/office/drawing/2014/main" id="{608979AE-BCF6-4155-9BB1-95B5C1F1340E}"/>
                </a:ext>
              </a:extLst>
            </p:cNvPr>
            <p:cNvSpPr/>
            <p:nvPr/>
          </p:nvSpPr>
          <p:spPr>
            <a:xfrm>
              <a:off x="2040953" y="2380609"/>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 name="Rectangle 181">
              <a:extLst>
                <a:ext uri="{FF2B5EF4-FFF2-40B4-BE49-F238E27FC236}">
                  <a16:creationId xmlns:a16="http://schemas.microsoft.com/office/drawing/2014/main" id="{02C316F3-CA2B-4EA0-AF38-F8DAC5FBC24E}"/>
                </a:ext>
              </a:extLst>
            </p:cNvPr>
            <p:cNvSpPr/>
            <p:nvPr/>
          </p:nvSpPr>
          <p:spPr>
            <a:xfrm>
              <a:off x="2370053" y="2380609"/>
              <a:ext cx="281521"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 name="Rectangle 182">
              <a:extLst>
                <a:ext uri="{FF2B5EF4-FFF2-40B4-BE49-F238E27FC236}">
                  <a16:creationId xmlns:a16="http://schemas.microsoft.com/office/drawing/2014/main" id="{BA80DE65-F676-4621-A539-AB4D35977169}"/>
                </a:ext>
              </a:extLst>
            </p:cNvPr>
            <p:cNvSpPr/>
            <p:nvPr/>
          </p:nvSpPr>
          <p:spPr>
            <a:xfrm>
              <a:off x="2543616" y="2573362"/>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 name="Rectangle 183">
              <a:extLst>
                <a:ext uri="{FF2B5EF4-FFF2-40B4-BE49-F238E27FC236}">
                  <a16:creationId xmlns:a16="http://schemas.microsoft.com/office/drawing/2014/main" id="{29BF593B-0BA1-4BDC-80A3-7FA615968603}"/>
                </a:ext>
              </a:extLst>
            </p:cNvPr>
            <p:cNvSpPr/>
            <p:nvPr/>
          </p:nvSpPr>
          <p:spPr>
            <a:xfrm>
              <a:off x="1872248" y="2573361"/>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 name="Rectangle 184">
              <a:extLst>
                <a:ext uri="{FF2B5EF4-FFF2-40B4-BE49-F238E27FC236}">
                  <a16:creationId xmlns:a16="http://schemas.microsoft.com/office/drawing/2014/main" id="{0D5BE12D-03C5-4DD0-BF71-89429BA75C97}"/>
                </a:ext>
              </a:extLst>
            </p:cNvPr>
            <p:cNvSpPr/>
            <p:nvPr/>
          </p:nvSpPr>
          <p:spPr>
            <a:xfrm>
              <a:off x="2040953" y="2768494"/>
              <a:ext cx="281521"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 name="Rectangle 185">
              <a:extLst>
                <a:ext uri="{FF2B5EF4-FFF2-40B4-BE49-F238E27FC236}">
                  <a16:creationId xmlns:a16="http://schemas.microsoft.com/office/drawing/2014/main" id="{0681DF30-CC73-4F27-891A-7FD462F2AC37}"/>
                </a:ext>
              </a:extLst>
            </p:cNvPr>
            <p:cNvSpPr/>
            <p:nvPr/>
          </p:nvSpPr>
          <p:spPr>
            <a:xfrm>
              <a:off x="2376662" y="2767730"/>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 name="Rectangle 186">
              <a:extLst>
                <a:ext uri="{FF2B5EF4-FFF2-40B4-BE49-F238E27FC236}">
                  <a16:creationId xmlns:a16="http://schemas.microsoft.com/office/drawing/2014/main" id="{1EA142A9-06C7-46C4-9582-20D260698656}"/>
                </a:ext>
              </a:extLst>
            </p:cNvPr>
            <p:cNvSpPr/>
            <p:nvPr/>
          </p:nvSpPr>
          <p:spPr>
            <a:xfrm>
              <a:off x="1872247" y="2185476"/>
              <a:ext cx="281521" cy="13773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8" name="Rectangle 187">
              <a:extLst>
                <a:ext uri="{FF2B5EF4-FFF2-40B4-BE49-F238E27FC236}">
                  <a16:creationId xmlns:a16="http://schemas.microsoft.com/office/drawing/2014/main" id="{244F9E9F-C7C5-4A31-9D4A-89EBDC670E72}"/>
                </a:ext>
              </a:extLst>
            </p:cNvPr>
            <p:cNvSpPr/>
            <p:nvPr/>
          </p:nvSpPr>
          <p:spPr>
            <a:xfrm>
              <a:off x="2705487" y="2379659"/>
              <a:ext cx="117270"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9" name="Rectangle 188">
              <a:extLst>
                <a:ext uri="{FF2B5EF4-FFF2-40B4-BE49-F238E27FC236}">
                  <a16:creationId xmlns:a16="http://schemas.microsoft.com/office/drawing/2014/main" id="{AB653C7E-B238-43C1-8F70-E3DA990C935B}"/>
                </a:ext>
              </a:extLst>
            </p:cNvPr>
            <p:cNvSpPr/>
            <p:nvPr/>
          </p:nvSpPr>
          <p:spPr>
            <a:xfrm>
              <a:off x="2705487" y="2768496"/>
              <a:ext cx="117270" cy="13773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0" name="Rectangle 189">
              <a:extLst>
                <a:ext uri="{FF2B5EF4-FFF2-40B4-BE49-F238E27FC236}">
                  <a16:creationId xmlns:a16="http://schemas.microsoft.com/office/drawing/2014/main" id="{49030794-D3C4-4CEB-8EE3-A4746FE26978}"/>
                </a:ext>
              </a:extLst>
            </p:cNvPr>
            <p:cNvSpPr/>
            <p:nvPr/>
          </p:nvSpPr>
          <p:spPr>
            <a:xfrm>
              <a:off x="1872247" y="2768496"/>
              <a:ext cx="117270" cy="13773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1" name="Rectangle 190">
              <a:extLst>
                <a:ext uri="{FF2B5EF4-FFF2-40B4-BE49-F238E27FC236}">
                  <a16:creationId xmlns:a16="http://schemas.microsoft.com/office/drawing/2014/main" id="{F8C415E8-93A8-4681-879B-8FFEF4578AD1}"/>
                </a:ext>
              </a:extLst>
            </p:cNvPr>
            <p:cNvSpPr/>
            <p:nvPr/>
          </p:nvSpPr>
          <p:spPr>
            <a:xfrm>
              <a:off x="1872247" y="2378228"/>
              <a:ext cx="117270"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 name="Groupe 5">
            <a:extLst>
              <a:ext uri="{FF2B5EF4-FFF2-40B4-BE49-F238E27FC236}">
                <a16:creationId xmlns:a16="http://schemas.microsoft.com/office/drawing/2014/main" id="{5FB41C06-1F54-4F63-8814-51F4614A43BD}"/>
              </a:ext>
            </a:extLst>
          </p:cNvPr>
          <p:cNvGrpSpPr/>
          <p:nvPr/>
        </p:nvGrpSpPr>
        <p:grpSpPr>
          <a:xfrm>
            <a:off x="875862" y="1893808"/>
            <a:ext cx="1383385" cy="1242096"/>
            <a:chOff x="5247267" y="8072371"/>
            <a:chExt cx="817082" cy="733631"/>
          </a:xfrm>
        </p:grpSpPr>
        <p:grpSp>
          <p:nvGrpSpPr>
            <p:cNvPr id="105" name="Groupe 104">
              <a:extLst>
                <a:ext uri="{FF2B5EF4-FFF2-40B4-BE49-F238E27FC236}">
                  <a16:creationId xmlns:a16="http://schemas.microsoft.com/office/drawing/2014/main" id="{C0F240FA-5C73-4FB1-8941-6BE1105F18DB}"/>
                </a:ext>
              </a:extLst>
            </p:cNvPr>
            <p:cNvGrpSpPr/>
            <p:nvPr/>
          </p:nvGrpSpPr>
          <p:grpSpPr>
            <a:xfrm>
              <a:off x="5247267" y="8117813"/>
              <a:ext cx="817082" cy="688189"/>
              <a:chOff x="3890963" y="2438774"/>
              <a:chExt cx="1085661" cy="914400"/>
            </a:xfrm>
          </p:grpSpPr>
          <p:pic>
            <p:nvPicPr>
              <p:cNvPr id="192" name="Graphique 191" descr="Culturiste avec un remplissage uni">
                <a:extLst>
                  <a:ext uri="{FF2B5EF4-FFF2-40B4-BE49-F238E27FC236}">
                    <a16:creationId xmlns:a16="http://schemas.microsoft.com/office/drawing/2014/main" id="{76A45FC6-5C96-49A8-AC35-BC18F11D6CB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81356" y="2438774"/>
                <a:ext cx="914400" cy="914400"/>
              </a:xfrm>
              <a:prstGeom prst="rect">
                <a:avLst/>
              </a:prstGeom>
            </p:spPr>
          </p:pic>
          <p:sp>
            <p:nvSpPr>
              <p:cNvPr id="193" name="Rectangle 192">
                <a:extLst>
                  <a:ext uri="{FF2B5EF4-FFF2-40B4-BE49-F238E27FC236}">
                    <a16:creationId xmlns:a16="http://schemas.microsoft.com/office/drawing/2014/main" id="{CB8D01E4-F3DD-439C-927A-661004280E40}"/>
                  </a:ext>
                </a:extLst>
              </p:cNvPr>
              <p:cNvSpPr/>
              <p:nvPr/>
            </p:nvSpPr>
            <p:spPr>
              <a:xfrm>
                <a:off x="3890963"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 name="Rectangle 193">
                <a:extLst>
                  <a:ext uri="{FF2B5EF4-FFF2-40B4-BE49-F238E27FC236}">
                    <a16:creationId xmlns:a16="http://schemas.microsoft.com/office/drawing/2014/main" id="{8232BE64-879E-4932-8F1C-EBC70379A39D}"/>
                  </a:ext>
                </a:extLst>
              </p:cNvPr>
              <p:cNvSpPr/>
              <p:nvPr/>
            </p:nvSpPr>
            <p:spPr>
              <a:xfrm>
                <a:off x="4700399"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07" name="Rectangle 106">
              <a:extLst>
                <a:ext uri="{FF2B5EF4-FFF2-40B4-BE49-F238E27FC236}">
                  <a16:creationId xmlns:a16="http://schemas.microsoft.com/office/drawing/2014/main" id="{9BF03B67-30A6-425A-9D7A-E2238247F217}"/>
                </a:ext>
              </a:extLst>
            </p:cNvPr>
            <p:cNvSpPr/>
            <p:nvPr/>
          </p:nvSpPr>
          <p:spPr>
            <a:xfrm>
              <a:off x="5519269" y="8072371"/>
              <a:ext cx="298624" cy="1461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09" name="Groupe 108">
            <a:extLst>
              <a:ext uri="{FF2B5EF4-FFF2-40B4-BE49-F238E27FC236}">
                <a16:creationId xmlns:a16="http://schemas.microsoft.com/office/drawing/2014/main" id="{35A820B9-71C1-40B2-949A-BA546FD0C884}"/>
              </a:ext>
            </a:extLst>
          </p:cNvPr>
          <p:cNvGrpSpPr/>
          <p:nvPr/>
        </p:nvGrpSpPr>
        <p:grpSpPr>
          <a:xfrm flipH="1">
            <a:off x="648773" y="3490364"/>
            <a:ext cx="627050" cy="1144490"/>
            <a:chOff x="5134003" y="2196472"/>
            <a:chExt cx="563254" cy="1156702"/>
          </a:xfrm>
        </p:grpSpPr>
        <p:pic>
          <p:nvPicPr>
            <p:cNvPr id="175" name="Graphique 174" descr="Réussite du groupe avec un remplissage uni">
              <a:extLst>
                <a:ext uri="{FF2B5EF4-FFF2-40B4-BE49-F238E27FC236}">
                  <a16:creationId xmlns:a16="http://schemas.microsoft.com/office/drawing/2014/main" id="{BE19C2B3-0721-44D3-8CD1-48D9E0F7C055}"/>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69977" t="13713" r="6403" b="17430"/>
            <a:stretch/>
          </p:blipFill>
          <p:spPr>
            <a:xfrm>
              <a:off x="5300474" y="2196472"/>
              <a:ext cx="396783" cy="1156702"/>
            </a:xfrm>
            <a:prstGeom prst="rect">
              <a:avLst/>
            </a:prstGeom>
          </p:spPr>
        </p:pic>
        <p:sp>
          <p:nvSpPr>
            <p:cNvPr id="176" name="Rectangle 175">
              <a:extLst>
                <a:ext uri="{FF2B5EF4-FFF2-40B4-BE49-F238E27FC236}">
                  <a16:creationId xmlns:a16="http://schemas.microsoft.com/office/drawing/2014/main" id="{FA4C0BA6-2A92-40FD-9077-52FC594CF4AE}"/>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 name="Groupe 6">
            <a:extLst>
              <a:ext uri="{FF2B5EF4-FFF2-40B4-BE49-F238E27FC236}">
                <a16:creationId xmlns:a16="http://schemas.microsoft.com/office/drawing/2014/main" id="{36F23E62-E00E-4089-9506-DDF4061A25F6}"/>
              </a:ext>
            </a:extLst>
          </p:cNvPr>
          <p:cNvGrpSpPr/>
          <p:nvPr/>
        </p:nvGrpSpPr>
        <p:grpSpPr>
          <a:xfrm>
            <a:off x="9653107" y="2807835"/>
            <a:ext cx="2332408" cy="2332408"/>
            <a:chOff x="9835911" y="2807662"/>
            <a:chExt cx="1796250" cy="1796250"/>
          </a:xfrm>
        </p:grpSpPr>
        <p:pic>
          <p:nvPicPr>
            <p:cNvPr id="104" name="Graphique 103" descr="Cathédrale avec un remplissage uni">
              <a:extLst>
                <a:ext uri="{FF2B5EF4-FFF2-40B4-BE49-F238E27FC236}">
                  <a16:creationId xmlns:a16="http://schemas.microsoft.com/office/drawing/2014/main" id="{E59C6277-AA1A-4489-91DF-5BA7B244261F}"/>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835911" y="2807662"/>
              <a:ext cx="1796250" cy="1796250"/>
            </a:xfrm>
            <a:prstGeom prst="rect">
              <a:avLst/>
            </a:prstGeom>
          </p:spPr>
        </p:pic>
        <p:sp>
          <p:nvSpPr>
            <p:cNvPr id="113" name="Rectangle 112">
              <a:extLst>
                <a:ext uri="{FF2B5EF4-FFF2-40B4-BE49-F238E27FC236}">
                  <a16:creationId xmlns:a16="http://schemas.microsoft.com/office/drawing/2014/main" id="{31970C2C-4382-4D6F-ADF6-471972759529}"/>
                </a:ext>
              </a:extLst>
            </p:cNvPr>
            <p:cNvSpPr/>
            <p:nvPr/>
          </p:nvSpPr>
          <p:spPr>
            <a:xfrm>
              <a:off x="10218483" y="4488333"/>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4" name="Rectangle 113">
              <a:extLst>
                <a:ext uri="{FF2B5EF4-FFF2-40B4-BE49-F238E27FC236}">
                  <a16:creationId xmlns:a16="http://schemas.microsoft.com/office/drawing/2014/main" id="{D5D40D35-3B33-472C-BB36-27310377B46F}"/>
                </a:ext>
              </a:extLst>
            </p:cNvPr>
            <p:cNvSpPr/>
            <p:nvPr/>
          </p:nvSpPr>
          <p:spPr>
            <a:xfrm>
              <a:off x="10039942" y="4487898"/>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5" name="Rectangle 114">
              <a:extLst>
                <a:ext uri="{FF2B5EF4-FFF2-40B4-BE49-F238E27FC236}">
                  <a16:creationId xmlns:a16="http://schemas.microsoft.com/office/drawing/2014/main" id="{0DF1613C-64EF-4B26-B600-36E33E288236}"/>
                </a:ext>
              </a:extLst>
            </p:cNvPr>
            <p:cNvSpPr/>
            <p:nvPr/>
          </p:nvSpPr>
          <p:spPr>
            <a:xfrm>
              <a:off x="10126610" y="4389730"/>
              <a:ext cx="164538"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Rectangle 115">
              <a:extLst>
                <a:ext uri="{FF2B5EF4-FFF2-40B4-BE49-F238E27FC236}">
                  <a16:creationId xmlns:a16="http://schemas.microsoft.com/office/drawing/2014/main" id="{DD222A77-3CAA-44FC-8012-A0B8E33C44DB}"/>
                </a:ext>
              </a:extLst>
            </p:cNvPr>
            <p:cNvSpPr/>
            <p:nvPr/>
          </p:nvSpPr>
          <p:spPr>
            <a:xfrm>
              <a:off x="10278475" y="4297650"/>
              <a:ext cx="104547"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Rectangle 116">
              <a:extLst>
                <a:ext uri="{FF2B5EF4-FFF2-40B4-BE49-F238E27FC236}">
                  <a16:creationId xmlns:a16="http://schemas.microsoft.com/office/drawing/2014/main" id="{0A42DEAE-71FB-4AC0-A235-6D8A7C681B98}"/>
                </a:ext>
              </a:extLst>
            </p:cNvPr>
            <p:cNvSpPr/>
            <p:nvPr/>
          </p:nvSpPr>
          <p:spPr>
            <a:xfrm>
              <a:off x="10039941" y="4292459"/>
              <a:ext cx="11195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8" name="Rectangle 117">
              <a:extLst>
                <a:ext uri="{FF2B5EF4-FFF2-40B4-BE49-F238E27FC236}">
                  <a16:creationId xmlns:a16="http://schemas.microsoft.com/office/drawing/2014/main" id="{7E7C3645-4EB6-42D8-8D16-A4131BD9553A}"/>
                </a:ext>
              </a:extLst>
            </p:cNvPr>
            <p:cNvSpPr/>
            <p:nvPr/>
          </p:nvSpPr>
          <p:spPr>
            <a:xfrm>
              <a:off x="10302363" y="4389731"/>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 name="Rectangle 118">
              <a:extLst>
                <a:ext uri="{FF2B5EF4-FFF2-40B4-BE49-F238E27FC236}">
                  <a16:creationId xmlns:a16="http://schemas.microsoft.com/office/drawing/2014/main" id="{B2E68E23-64DB-4588-97BF-38D7F767E1B0}"/>
                </a:ext>
              </a:extLst>
            </p:cNvPr>
            <p:cNvSpPr/>
            <p:nvPr/>
          </p:nvSpPr>
          <p:spPr>
            <a:xfrm>
              <a:off x="10037202" y="4389731"/>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 name="Rectangle 119">
              <a:extLst>
                <a:ext uri="{FF2B5EF4-FFF2-40B4-BE49-F238E27FC236}">
                  <a16:creationId xmlns:a16="http://schemas.microsoft.com/office/drawing/2014/main" id="{C0E89C3C-47BB-4FA0-8A5A-42149CC65920}"/>
                </a:ext>
              </a:extLst>
            </p:cNvPr>
            <p:cNvSpPr/>
            <p:nvPr/>
          </p:nvSpPr>
          <p:spPr>
            <a:xfrm>
              <a:off x="10436079" y="4482522"/>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 name="Rectangle 120">
              <a:extLst>
                <a:ext uri="{FF2B5EF4-FFF2-40B4-BE49-F238E27FC236}">
                  <a16:creationId xmlns:a16="http://schemas.microsoft.com/office/drawing/2014/main" id="{609A3087-8282-4996-900F-0E7A07C3D6AE}"/>
                </a:ext>
              </a:extLst>
            </p:cNvPr>
            <p:cNvSpPr/>
            <p:nvPr/>
          </p:nvSpPr>
          <p:spPr>
            <a:xfrm>
              <a:off x="10436079" y="4389730"/>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Rectangle 121">
              <a:extLst>
                <a:ext uri="{FF2B5EF4-FFF2-40B4-BE49-F238E27FC236}">
                  <a16:creationId xmlns:a16="http://schemas.microsoft.com/office/drawing/2014/main" id="{B19A238C-F0C2-4B75-8E5F-4F1F2916275A}"/>
                </a:ext>
              </a:extLst>
            </p:cNvPr>
            <p:cNvSpPr/>
            <p:nvPr/>
          </p:nvSpPr>
          <p:spPr>
            <a:xfrm>
              <a:off x="10436299" y="4296319"/>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 name="Rectangle 122">
              <a:extLst>
                <a:ext uri="{FF2B5EF4-FFF2-40B4-BE49-F238E27FC236}">
                  <a16:creationId xmlns:a16="http://schemas.microsoft.com/office/drawing/2014/main" id="{C2ADAAE2-FB7B-4FC2-907C-FFC0835BCD6D}"/>
                </a:ext>
              </a:extLst>
            </p:cNvPr>
            <p:cNvSpPr/>
            <p:nvPr/>
          </p:nvSpPr>
          <p:spPr>
            <a:xfrm>
              <a:off x="10436079" y="4201946"/>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 name="Rectangle 123">
              <a:extLst>
                <a:ext uri="{FF2B5EF4-FFF2-40B4-BE49-F238E27FC236}">
                  <a16:creationId xmlns:a16="http://schemas.microsoft.com/office/drawing/2014/main" id="{78EFB23D-18AD-4B60-9D20-CC94500410AB}"/>
                </a:ext>
              </a:extLst>
            </p:cNvPr>
            <p:cNvSpPr/>
            <p:nvPr/>
          </p:nvSpPr>
          <p:spPr>
            <a:xfrm>
              <a:off x="10933093" y="449077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 name="Rectangle 124">
              <a:extLst>
                <a:ext uri="{FF2B5EF4-FFF2-40B4-BE49-F238E27FC236}">
                  <a16:creationId xmlns:a16="http://schemas.microsoft.com/office/drawing/2014/main" id="{A1F4E50B-79C5-45CA-A04D-3B8F9282A53E}"/>
                </a:ext>
              </a:extLst>
            </p:cNvPr>
            <p:cNvSpPr/>
            <p:nvPr/>
          </p:nvSpPr>
          <p:spPr>
            <a:xfrm>
              <a:off x="10933093" y="4397984"/>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 name="Rectangle 125">
              <a:extLst>
                <a:ext uri="{FF2B5EF4-FFF2-40B4-BE49-F238E27FC236}">
                  <a16:creationId xmlns:a16="http://schemas.microsoft.com/office/drawing/2014/main" id="{A7227401-C246-4F70-8233-3B976B59A387}"/>
                </a:ext>
              </a:extLst>
            </p:cNvPr>
            <p:cNvSpPr/>
            <p:nvPr/>
          </p:nvSpPr>
          <p:spPr>
            <a:xfrm>
              <a:off x="10933314" y="4304573"/>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 name="Rectangle 126">
              <a:extLst>
                <a:ext uri="{FF2B5EF4-FFF2-40B4-BE49-F238E27FC236}">
                  <a16:creationId xmlns:a16="http://schemas.microsoft.com/office/drawing/2014/main" id="{D4A1FD11-27D7-4758-8443-A06B09B0075F}"/>
                </a:ext>
              </a:extLst>
            </p:cNvPr>
            <p:cNvSpPr/>
            <p:nvPr/>
          </p:nvSpPr>
          <p:spPr>
            <a:xfrm>
              <a:off x="10933093" y="4210201"/>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 name="Rectangle 127">
              <a:extLst>
                <a:ext uri="{FF2B5EF4-FFF2-40B4-BE49-F238E27FC236}">
                  <a16:creationId xmlns:a16="http://schemas.microsoft.com/office/drawing/2014/main" id="{D8CF8BBE-A434-41D8-A5A3-FB14CBABB85D}"/>
                </a:ext>
              </a:extLst>
            </p:cNvPr>
            <p:cNvSpPr/>
            <p:nvPr/>
          </p:nvSpPr>
          <p:spPr>
            <a:xfrm>
              <a:off x="10933093" y="4112478"/>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 name="Rectangle 128">
              <a:extLst>
                <a:ext uri="{FF2B5EF4-FFF2-40B4-BE49-F238E27FC236}">
                  <a16:creationId xmlns:a16="http://schemas.microsoft.com/office/drawing/2014/main" id="{567B45F6-BBAA-46C4-B84D-608C4E3EC488}"/>
                </a:ext>
              </a:extLst>
            </p:cNvPr>
            <p:cNvSpPr/>
            <p:nvPr/>
          </p:nvSpPr>
          <p:spPr>
            <a:xfrm>
              <a:off x="10933093" y="4019686"/>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 name="Rectangle 129">
              <a:extLst>
                <a:ext uri="{FF2B5EF4-FFF2-40B4-BE49-F238E27FC236}">
                  <a16:creationId xmlns:a16="http://schemas.microsoft.com/office/drawing/2014/main" id="{D2AB2C3A-CE3B-46BF-9284-48F1FA6115DE}"/>
                </a:ext>
              </a:extLst>
            </p:cNvPr>
            <p:cNvSpPr/>
            <p:nvPr/>
          </p:nvSpPr>
          <p:spPr>
            <a:xfrm>
              <a:off x="10933314" y="3926275"/>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Rectangle 130">
              <a:extLst>
                <a:ext uri="{FF2B5EF4-FFF2-40B4-BE49-F238E27FC236}">
                  <a16:creationId xmlns:a16="http://schemas.microsoft.com/office/drawing/2014/main" id="{D2CF42FA-73FD-4459-8D46-409BFD7D4212}"/>
                </a:ext>
              </a:extLst>
            </p:cNvPr>
            <p:cNvSpPr/>
            <p:nvPr/>
          </p:nvSpPr>
          <p:spPr>
            <a:xfrm>
              <a:off x="10933093" y="3831903"/>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Rectangle 131">
              <a:extLst>
                <a:ext uri="{FF2B5EF4-FFF2-40B4-BE49-F238E27FC236}">
                  <a16:creationId xmlns:a16="http://schemas.microsoft.com/office/drawing/2014/main" id="{85A890B8-0AA7-4032-923D-793C195C5CE1}"/>
                </a:ext>
              </a:extLst>
            </p:cNvPr>
            <p:cNvSpPr/>
            <p:nvPr/>
          </p:nvSpPr>
          <p:spPr>
            <a:xfrm>
              <a:off x="10436079" y="410286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 name="Rectangle 132">
              <a:extLst>
                <a:ext uri="{FF2B5EF4-FFF2-40B4-BE49-F238E27FC236}">
                  <a16:creationId xmlns:a16="http://schemas.microsoft.com/office/drawing/2014/main" id="{B68FCF4F-73A8-4C2F-8903-418DDF82F2BC}"/>
                </a:ext>
              </a:extLst>
            </p:cNvPr>
            <p:cNvSpPr/>
            <p:nvPr/>
          </p:nvSpPr>
          <p:spPr>
            <a:xfrm>
              <a:off x="10436079" y="4010075"/>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 name="Rectangle 133">
              <a:extLst>
                <a:ext uri="{FF2B5EF4-FFF2-40B4-BE49-F238E27FC236}">
                  <a16:creationId xmlns:a16="http://schemas.microsoft.com/office/drawing/2014/main" id="{F0D57C8D-6B6E-4732-AFDF-6244C7DA291F}"/>
                </a:ext>
              </a:extLst>
            </p:cNvPr>
            <p:cNvSpPr/>
            <p:nvPr/>
          </p:nvSpPr>
          <p:spPr>
            <a:xfrm>
              <a:off x="10435444" y="3916716"/>
              <a:ext cx="147855"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Rectangle 134">
              <a:extLst>
                <a:ext uri="{FF2B5EF4-FFF2-40B4-BE49-F238E27FC236}">
                  <a16:creationId xmlns:a16="http://schemas.microsoft.com/office/drawing/2014/main" id="{31642D44-DD6E-4219-98E8-12D56D81B76A}"/>
                </a:ext>
              </a:extLst>
            </p:cNvPr>
            <p:cNvSpPr/>
            <p:nvPr/>
          </p:nvSpPr>
          <p:spPr>
            <a:xfrm>
              <a:off x="10435224" y="3831902"/>
              <a:ext cx="147855"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 name="Rectangle 135">
              <a:extLst>
                <a:ext uri="{FF2B5EF4-FFF2-40B4-BE49-F238E27FC236}">
                  <a16:creationId xmlns:a16="http://schemas.microsoft.com/office/drawing/2014/main" id="{3AEFD0B8-EC2D-4AC6-BB11-7415B9B0721F}"/>
                </a:ext>
              </a:extLst>
            </p:cNvPr>
            <p:cNvSpPr/>
            <p:nvPr/>
          </p:nvSpPr>
          <p:spPr>
            <a:xfrm>
              <a:off x="10596194" y="3831902"/>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 name="Rectangle 136">
              <a:extLst>
                <a:ext uri="{FF2B5EF4-FFF2-40B4-BE49-F238E27FC236}">
                  <a16:creationId xmlns:a16="http://schemas.microsoft.com/office/drawing/2014/main" id="{0EF8A19B-434C-42F6-B74E-A63EEFA632F3}"/>
                </a:ext>
              </a:extLst>
            </p:cNvPr>
            <p:cNvSpPr/>
            <p:nvPr/>
          </p:nvSpPr>
          <p:spPr>
            <a:xfrm>
              <a:off x="10823783" y="3832506"/>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 name="Rectangle 137">
              <a:extLst>
                <a:ext uri="{FF2B5EF4-FFF2-40B4-BE49-F238E27FC236}">
                  <a16:creationId xmlns:a16="http://schemas.microsoft.com/office/drawing/2014/main" id="{5F78E096-1BCA-4266-A5ED-81CB0F17F2D6}"/>
                </a:ext>
              </a:extLst>
            </p:cNvPr>
            <p:cNvSpPr/>
            <p:nvPr/>
          </p:nvSpPr>
          <p:spPr>
            <a:xfrm>
              <a:off x="10534911" y="3743967"/>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Rectangle 138">
              <a:extLst>
                <a:ext uri="{FF2B5EF4-FFF2-40B4-BE49-F238E27FC236}">
                  <a16:creationId xmlns:a16="http://schemas.microsoft.com/office/drawing/2014/main" id="{55F7BFB3-E97C-4FC1-B2C6-051F488161C0}"/>
                </a:ext>
              </a:extLst>
            </p:cNvPr>
            <p:cNvSpPr/>
            <p:nvPr/>
          </p:nvSpPr>
          <p:spPr>
            <a:xfrm>
              <a:off x="10709481" y="3743966"/>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 name="Rectangle 139">
              <a:extLst>
                <a:ext uri="{FF2B5EF4-FFF2-40B4-BE49-F238E27FC236}">
                  <a16:creationId xmlns:a16="http://schemas.microsoft.com/office/drawing/2014/main" id="{DAFE8FEF-7E38-4DB4-9082-A1C7EEDDBE70}"/>
                </a:ext>
              </a:extLst>
            </p:cNvPr>
            <p:cNvSpPr/>
            <p:nvPr/>
          </p:nvSpPr>
          <p:spPr>
            <a:xfrm>
              <a:off x="10892456" y="3742790"/>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B37D0C40-53C6-424E-8E04-059941C6C968}"/>
                </a:ext>
              </a:extLst>
            </p:cNvPr>
            <p:cNvSpPr/>
            <p:nvPr/>
          </p:nvSpPr>
          <p:spPr>
            <a:xfrm>
              <a:off x="10277958" y="4202651"/>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4ED4F46F-4771-4F09-B696-AF22CD6311D7}"/>
                </a:ext>
              </a:extLst>
            </p:cNvPr>
            <p:cNvSpPr/>
            <p:nvPr/>
          </p:nvSpPr>
          <p:spPr>
            <a:xfrm>
              <a:off x="10277958" y="410985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 name="Rectangle 142">
              <a:extLst>
                <a:ext uri="{FF2B5EF4-FFF2-40B4-BE49-F238E27FC236}">
                  <a16:creationId xmlns:a16="http://schemas.microsoft.com/office/drawing/2014/main" id="{5E33E992-D7D9-4B63-BD88-5D1A2962B638}"/>
                </a:ext>
              </a:extLst>
            </p:cNvPr>
            <p:cNvSpPr/>
            <p:nvPr/>
          </p:nvSpPr>
          <p:spPr>
            <a:xfrm>
              <a:off x="10278178" y="401644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Rectangle 143">
              <a:extLst>
                <a:ext uri="{FF2B5EF4-FFF2-40B4-BE49-F238E27FC236}">
                  <a16:creationId xmlns:a16="http://schemas.microsoft.com/office/drawing/2014/main" id="{629CB49E-8C2E-4F55-A412-731C7694AF8C}"/>
                </a:ext>
              </a:extLst>
            </p:cNvPr>
            <p:cNvSpPr/>
            <p:nvPr/>
          </p:nvSpPr>
          <p:spPr>
            <a:xfrm>
              <a:off x="10277958" y="3922075"/>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 name="Rectangle 144">
              <a:extLst>
                <a:ext uri="{FF2B5EF4-FFF2-40B4-BE49-F238E27FC236}">
                  <a16:creationId xmlns:a16="http://schemas.microsoft.com/office/drawing/2014/main" id="{757B551F-863B-47F7-BAC0-34BAADC98CAF}"/>
                </a:ext>
              </a:extLst>
            </p:cNvPr>
            <p:cNvSpPr/>
            <p:nvPr/>
          </p:nvSpPr>
          <p:spPr>
            <a:xfrm>
              <a:off x="10277958" y="3824352"/>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 name="Rectangle 145">
              <a:extLst>
                <a:ext uri="{FF2B5EF4-FFF2-40B4-BE49-F238E27FC236}">
                  <a16:creationId xmlns:a16="http://schemas.microsoft.com/office/drawing/2014/main" id="{2052CDD7-3222-4885-AB3B-A204ECE1D02D}"/>
                </a:ext>
              </a:extLst>
            </p:cNvPr>
            <p:cNvSpPr/>
            <p:nvPr/>
          </p:nvSpPr>
          <p:spPr>
            <a:xfrm>
              <a:off x="10047590" y="419651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 name="Rectangle 146">
              <a:extLst>
                <a:ext uri="{FF2B5EF4-FFF2-40B4-BE49-F238E27FC236}">
                  <a16:creationId xmlns:a16="http://schemas.microsoft.com/office/drawing/2014/main" id="{37956E86-A3B8-485F-A01D-2D7E47471539}"/>
                </a:ext>
              </a:extLst>
            </p:cNvPr>
            <p:cNvSpPr/>
            <p:nvPr/>
          </p:nvSpPr>
          <p:spPr>
            <a:xfrm>
              <a:off x="10047590" y="4103721"/>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Rectangle 147">
              <a:extLst>
                <a:ext uri="{FF2B5EF4-FFF2-40B4-BE49-F238E27FC236}">
                  <a16:creationId xmlns:a16="http://schemas.microsoft.com/office/drawing/2014/main" id="{EC20EC68-CA18-401A-81A1-AA7D128BE33E}"/>
                </a:ext>
              </a:extLst>
            </p:cNvPr>
            <p:cNvSpPr/>
            <p:nvPr/>
          </p:nvSpPr>
          <p:spPr>
            <a:xfrm>
              <a:off x="10047811" y="4010310"/>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 name="Rectangle 148">
              <a:extLst>
                <a:ext uri="{FF2B5EF4-FFF2-40B4-BE49-F238E27FC236}">
                  <a16:creationId xmlns:a16="http://schemas.microsoft.com/office/drawing/2014/main" id="{DB995F29-816A-4234-9DBB-7ABA7501AB1D}"/>
                </a:ext>
              </a:extLst>
            </p:cNvPr>
            <p:cNvSpPr/>
            <p:nvPr/>
          </p:nvSpPr>
          <p:spPr>
            <a:xfrm>
              <a:off x="10047590" y="3915938"/>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 name="Rectangle 149">
              <a:extLst>
                <a:ext uri="{FF2B5EF4-FFF2-40B4-BE49-F238E27FC236}">
                  <a16:creationId xmlns:a16="http://schemas.microsoft.com/office/drawing/2014/main" id="{62EF13DB-A7F4-4596-84C8-46D83BAED6DC}"/>
                </a:ext>
              </a:extLst>
            </p:cNvPr>
            <p:cNvSpPr/>
            <p:nvPr/>
          </p:nvSpPr>
          <p:spPr>
            <a:xfrm>
              <a:off x="10047590" y="3818215"/>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 name="Rectangle 150">
              <a:extLst>
                <a:ext uri="{FF2B5EF4-FFF2-40B4-BE49-F238E27FC236}">
                  <a16:creationId xmlns:a16="http://schemas.microsoft.com/office/drawing/2014/main" id="{1E4640AC-DC03-4CB7-B5C9-ABE31A2A09D0}"/>
                </a:ext>
              </a:extLst>
            </p:cNvPr>
            <p:cNvSpPr/>
            <p:nvPr/>
          </p:nvSpPr>
          <p:spPr>
            <a:xfrm>
              <a:off x="10162774" y="3963589"/>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 name="Rectangle 151">
              <a:extLst>
                <a:ext uri="{FF2B5EF4-FFF2-40B4-BE49-F238E27FC236}">
                  <a16:creationId xmlns:a16="http://schemas.microsoft.com/office/drawing/2014/main" id="{32626AC5-B3D7-424D-A014-FD699C3FE5B1}"/>
                </a:ext>
              </a:extLst>
            </p:cNvPr>
            <p:cNvSpPr/>
            <p:nvPr/>
          </p:nvSpPr>
          <p:spPr>
            <a:xfrm>
              <a:off x="10162774" y="3870797"/>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 name="Rectangle 152">
              <a:extLst>
                <a:ext uri="{FF2B5EF4-FFF2-40B4-BE49-F238E27FC236}">
                  <a16:creationId xmlns:a16="http://schemas.microsoft.com/office/drawing/2014/main" id="{1B1B0FF3-5B8A-47F8-A0F9-B83350A4B0BB}"/>
                </a:ext>
              </a:extLst>
            </p:cNvPr>
            <p:cNvSpPr/>
            <p:nvPr/>
          </p:nvSpPr>
          <p:spPr>
            <a:xfrm>
              <a:off x="10165167" y="3783041"/>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Rectangle 153">
              <a:extLst>
                <a:ext uri="{FF2B5EF4-FFF2-40B4-BE49-F238E27FC236}">
                  <a16:creationId xmlns:a16="http://schemas.microsoft.com/office/drawing/2014/main" id="{02191479-99DB-4E96-9714-ECB6235F11A8}"/>
                </a:ext>
              </a:extLst>
            </p:cNvPr>
            <p:cNvSpPr/>
            <p:nvPr/>
          </p:nvSpPr>
          <p:spPr>
            <a:xfrm>
              <a:off x="10280910" y="372763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5" name="Rectangle 154">
              <a:extLst>
                <a:ext uri="{FF2B5EF4-FFF2-40B4-BE49-F238E27FC236}">
                  <a16:creationId xmlns:a16="http://schemas.microsoft.com/office/drawing/2014/main" id="{048E7B28-A528-403F-98ED-B95E8A919AB5}"/>
                </a:ext>
              </a:extLst>
            </p:cNvPr>
            <p:cNvSpPr/>
            <p:nvPr/>
          </p:nvSpPr>
          <p:spPr>
            <a:xfrm>
              <a:off x="10281131" y="363422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6" name="Rectangle 155">
              <a:extLst>
                <a:ext uri="{FF2B5EF4-FFF2-40B4-BE49-F238E27FC236}">
                  <a16:creationId xmlns:a16="http://schemas.microsoft.com/office/drawing/2014/main" id="{D7A6A081-56AA-499A-8BC9-E18C8B413A39}"/>
                </a:ext>
              </a:extLst>
            </p:cNvPr>
            <p:cNvSpPr/>
            <p:nvPr/>
          </p:nvSpPr>
          <p:spPr>
            <a:xfrm>
              <a:off x="10280910" y="3539856"/>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Rectangle 156">
              <a:extLst>
                <a:ext uri="{FF2B5EF4-FFF2-40B4-BE49-F238E27FC236}">
                  <a16:creationId xmlns:a16="http://schemas.microsoft.com/office/drawing/2014/main" id="{4F231F0F-A33D-4E87-9D2B-3BF68009A99D}"/>
                </a:ext>
              </a:extLst>
            </p:cNvPr>
            <p:cNvSpPr/>
            <p:nvPr/>
          </p:nvSpPr>
          <p:spPr>
            <a:xfrm>
              <a:off x="10280910" y="344213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 name="Rectangle 157">
              <a:extLst>
                <a:ext uri="{FF2B5EF4-FFF2-40B4-BE49-F238E27FC236}">
                  <a16:creationId xmlns:a16="http://schemas.microsoft.com/office/drawing/2014/main" id="{12AD0196-E4B3-448D-9E50-2EFD8806B691}"/>
                </a:ext>
              </a:extLst>
            </p:cNvPr>
            <p:cNvSpPr/>
            <p:nvPr/>
          </p:nvSpPr>
          <p:spPr>
            <a:xfrm>
              <a:off x="10047590" y="372678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 name="Rectangle 158">
              <a:extLst>
                <a:ext uri="{FF2B5EF4-FFF2-40B4-BE49-F238E27FC236}">
                  <a16:creationId xmlns:a16="http://schemas.microsoft.com/office/drawing/2014/main" id="{DE3B190F-4879-4013-967B-19F696ECCF7C}"/>
                </a:ext>
              </a:extLst>
            </p:cNvPr>
            <p:cNvSpPr/>
            <p:nvPr/>
          </p:nvSpPr>
          <p:spPr>
            <a:xfrm>
              <a:off x="10047811" y="363337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 name="Rectangle 159">
              <a:extLst>
                <a:ext uri="{FF2B5EF4-FFF2-40B4-BE49-F238E27FC236}">
                  <a16:creationId xmlns:a16="http://schemas.microsoft.com/office/drawing/2014/main" id="{E581297B-DB9C-4165-A5C2-1F94C8EC59DB}"/>
                </a:ext>
              </a:extLst>
            </p:cNvPr>
            <p:cNvSpPr/>
            <p:nvPr/>
          </p:nvSpPr>
          <p:spPr>
            <a:xfrm>
              <a:off x="10047590" y="3539005"/>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 name="Rectangle 160">
              <a:extLst>
                <a:ext uri="{FF2B5EF4-FFF2-40B4-BE49-F238E27FC236}">
                  <a16:creationId xmlns:a16="http://schemas.microsoft.com/office/drawing/2014/main" id="{A480F958-6414-4B6F-9A69-12DADD839CE8}"/>
                </a:ext>
              </a:extLst>
            </p:cNvPr>
            <p:cNvSpPr/>
            <p:nvPr/>
          </p:nvSpPr>
          <p:spPr>
            <a:xfrm>
              <a:off x="10047590" y="344128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Rectangle 161">
              <a:extLst>
                <a:ext uri="{FF2B5EF4-FFF2-40B4-BE49-F238E27FC236}">
                  <a16:creationId xmlns:a16="http://schemas.microsoft.com/office/drawing/2014/main" id="{2B4DDC10-9BF6-4B3A-9820-B5C6C91FCED9}"/>
                </a:ext>
              </a:extLst>
            </p:cNvPr>
            <p:cNvSpPr/>
            <p:nvPr/>
          </p:nvSpPr>
          <p:spPr>
            <a:xfrm>
              <a:off x="10162774" y="3447131"/>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Rectangle 162">
              <a:extLst>
                <a:ext uri="{FF2B5EF4-FFF2-40B4-BE49-F238E27FC236}">
                  <a16:creationId xmlns:a16="http://schemas.microsoft.com/office/drawing/2014/main" id="{A40418D4-A0CC-4146-BD30-95CDF1AD8958}"/>
                </a:ext>
              </a:extLst>
            </p:cNvPr>
            <p:cNvSpPr/>
            <p:nvPr/>
          </p:nvSpPr>
          <p:spPr>
            <a:xfrm>
              <a:off x="10165167" y="3359375"/>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Rectangle 163">
              <a:extLst>
                <a:ext uri="{FF2B5EF4-FFF2-40B4-BE49-F238E27FC236}">
                  <a16:creationId xmlns:a16="http://schemas.microsoft.com/office/drawing/2014/main" id="{9948AFD8-F25B-4AD5-AF67-E54303BFAA51}"/>
                </a:ext>
              </a:extLst>
            </p:cNvPr>
            <p:cNvSpPr/>
            <p:nvPr/>
          </p:nvSpPr>
          <p:spPr>
            <a:xfrm>
              <a:off x="11261438" y="4486079"/>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Rectangle 164">
              <a:extLst>
                <a:ext uri="{FF2B5EF4-FFF2-40B4-BE49-F238E27FC236}">
                  <a16:creationId xmlns:a16="http://schemas.microsoft.com/office/drawing/2014/main" id="{00E465FE-90B8-4505-BCCA-9D33E27EF255}"/>
                </a:ext>
              </a:extLst>
            </p:cNvPr>
            <p:cNvSpPr/>
            <p:nvPr/>
          </p:nvSpPr>
          <p:spPr>
            <a:xfrm>
              <a:off x="11082898" y="4485643"/>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 name="Rectangle 165">
              <a:extLst>
                <a:ext uri="{FF2B5EF4-FFF2-40B4-BE49-F238E27FC236}">
                  <a16:creationId xmlns:a16="http://schemas.microsoft.com/office/drawing/2014/main" id="{8931AC8B-654B-4C90-8E40-B284E1CAD3AF}"/>
                </a:ext>
              </a:extLst>
            </p:cNvPr>
            <p:cNvSpPr/>
            <p:nvPr/>
          </p:nvSpPr>
          <p:spPr>
            <a:xfrm>
              <a:off x="11169566" y="4387475"/>
              <a:ext cx="164538"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Rectangle 166">
              <a:extLst>
                <a:ext uri="{FF2B5EF4-FFF2-40B4-BE49-F238E27FC236}">
                  <a16:creationId xmlns:a16="http://schemas.microsoft.com/office/drawing/2014/main" id="{69A8E121-0537-4086-BE81-F6175F23F929}"/>
                </a:ext>
              </a:extLst>
            </p:cNvPr>
            <p:cNvSpPr/>
            <p:nvPr/>
          </p:nvSpPr>
          <p:spPr>
            <a:xfrm>
              <a:off x="11321431" y="4295395"/>
              <a:ext cx="104547"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Rectangle 167">
              <a:extLst>
                <a:ext uri="{FF2B5EF4-FFF2-40B4-BE49-F238E27FC236}">
                  <a16:creationId xmlns:a16="http://schemas.microsoft.com/office/drawing/2014/main" id="{275B4E6F-2F8B-4325-8F52-D884C0FB346C}"/>
                </a:ext>
              </a:extLst>
            </p:cNvPr>
            <p:cNvSpPr/>
            <p:nvPr/>
          </p:nvSpPr>
          <p:spPr>
            <a:xfrm>
              <a:off x="11082897" y="4290204"/>
              <a:ext cx="11195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Rectangle 168">
              <a:extLst>
                <a:ext uri="{FF2B5EF4-FFF2-40B4-BE49-F238E27FC236}">
                  <a16:creationId xmlns:a16="http://schemas.microsoft.com/office/drawing/2014/main" id="{5EA3F49E-7CE3-4EB8-B86D-E27C3E719152}"/>
                </a:ext>
              </a:extLst>
            </p:cNvPr>
            <p:cNvSpPr/>
            <p:nvPr/>
          </p:nvSpPr>
          <p:spPr>
            <a:xfrm>
              <a:off x="11345319" y="4387476"/>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 name="Rectangle 169">
              <a:extLst>
                <a:ext uri="{FF2B5EF4-FFF2-40B4-BE49-F238E27FC236}">
                  <a16:creationId xmlns:a16="http://schemas.microsoft.com/office/drawing/2014/main" id="{B28906DF-32BE-46B7-BDA6-7203BF825619}"/>
                </a:ext>
              </a:extLst>
            </p:cNvPr>
            <p:cNvSpPr/>
            <p:nvPr/>
          </p:nvSpPr>
          <p:spPr>
            <a:xfrm>
              <a:off x="11080158" y="4387476"/>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1" name="Rectangle 170">
              <a:extLst>
                <a:ext uri="{FF2B5EF4-FFF2-40B4-BE49-F238E27FC236}">
                  <a16:creationId xmlns:a16="http://schemas.microsoft.com/office/drawing/2014/main" id="{131CF3C7-AAFB-4489-B09C-1D9AAD112044}"/>
                </a:ext>
              </a:extLst>
            </p:cNvPr>
            <p:cNvSpPr/>
            <p:nvPr/>
          </p:nvSpPr>
          <p:spPr>
            <a:xfrm>
              <a:off x="11320914" y="420039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2" name="Rectangle 171">
              <a:extLst>
                <a:ext uri="{FF2B5EF4-FFF2-40B4-BE49-F238E27FC236}">
                  <a16:creationId xmlns:a16="http://schemas.microsoft.com/office/drawing/2014/main" id="{B448FAA0-5785-4F8D-8AA5-CE2F4522E799}"/>
                </a:ext>
              </a:extLst>
            </p:cNvPr>
            <p:cNvSpPr/>
            <p:nvPr/>
          </p:nvSpPr>
          <p:spPr>
            <a:xfrm>
              <a:off x="11320914" y="4107604"/>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 name="Rectangle 172">
              <a:extLst>
                <a:ext uri="{FF2B5EF4-FFF2-40B4-BE49-F238E27FC236}">
                  <a16:creationId xmlns:a16="http://schemas.microsoft.com/office/drawing/2014/main" id="{03A6A3FB-2F87-4C6F-89FC-DDEF96CAD85D}"/>
                </a:ext>
              </a:extLst>
            </p:cNvPr>
            <p:cNvSpPr/>
            <p:nvPr/>
          </p:nvSpPr>
          <p:spPr>
            <a:xfrm>
              <a:off x="11090546" y="4194258"/>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 name="Rectangle 173">
              <a:extLst>
                <a:ext uri="{FF2B5EF4-FFF2-40B4-BE49-F238E27FC236}">
                  <a16:creationId xmlns:a16="http://schemas.microsoft.com/office/drawing/2014/main" id="{1638A7E7-900B-4755-A4E8-B7A678004DE2}"/>
                </a:ext>
              </a:extLst>
            </p:cNvPr>
            <p:cNvSpPr/>
            <p:nvPr/>
          </p:nvSpPr>
          <p:spPr>
            <a:xfrm>
              <a:off x="11090546" y="4101467"/>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5" name="Groupe 194">
            <a:extLst>
              <a:ext uri="{FF2B5EF4-FFF2-40B4-BE49-F238E27FC236}">
                <a16:creationId xmlns:a16="http://schemas.microsoft.com/office/drawing/2014/main" id="{4E1CCD66-BD6E-44D5-8754-3F78CF91EE84}"/>
              </a:ext>
            </a:extLst>
          </p:cNvPr>
          <p:cNvGrpSpPr/>
          <p:nvPr/>
        </p:nvGrpSpPr>
        <p:grpSpPr>
          <a:xfrm>
            <a:off x="1586592" y="3400064"/>
            <a:ext cx="1383385" cy="1242096"/>
            <a:chOff x="5247267" y="8072371"/>
            <a:chExt cx="817082" cy="733631"/>
          </a:xfrm>
        </p:grpSpPr>
        <p:grpSp>
          <p:nvGrpSpPr>
            <p:cNvPr id="196" name="Groupe 195">
              <a:extLst>
                <a:ext uri="{FF2B5EF4-FFF2-40B4-BE49-F238E27FC236}">
                  <a16:creationId xmlns:a16="http://schemas.microsoft.com/office/drawing/2014/main" id="{98ADEBB3-869F-4DF0-9E84-CB3CEA5A7DE3}"/>
                </a:ext>
              </a:extLst>
            </p:cNvPr>
            <p:cNvGrpSpPr/>
            <p:nvPr/>
          </p:nvGrpSpPr>
          <p:grpSpPr>
            <a:xfrm>
              <a:off x="5247267" y="8117813"/>
              <a:ext cx="817082" cy="688189"/>
              <a:chOff x="3890963" y="2438774"/>
              <a:chExt cx="1085661" cy="914400"/>
            </a:xfrm>
          </p:grpSpPr>
          <p:pic>
            <p:nvPicPr>
              <p:cNvPr id="198" name="Graphique 197" descr="Culturiste avec un remplissage uni">
                <a:extLst>
                  <a:ext uri="{FF2B5EF4-FFF2-40B4-BE49-F238E27FC236}">
                    <a16:creationId xmlns:a16="http://schemas.microsoft.com/office/drawing/2014/main" id="{AC7B218B-262F-409C-B9EB-C90FB52588D6}"/>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81356" y="2438774"/>
                <a:ext cx="914400" cy="914400"/>
              </a:xfrm>
              <a:prstGeom prst="rect">
                <a:avLst/>
              </a:prstGeom>
            </p:spPr>
          </p:pic>
          <p:sp>
            <p:nvSpPr>
              <p:cNvPr id="199" name="Rectangle 198">
                <a:extLst>
                  <a:ext uri="{FF2B5EF4-FFF2-40B4-BE49-F238E27FC236}">
                    <a16:creationId xmlns:a16="http://schemas.microsoft.com/office/drawing/2014/main" id="{B5FDC8FE-C73E-409E-BAED-AA5F4566E30C}"/>
                  </a:ext>
                </a:extLst>
              </p:cNvPr>
              <p:cNvSpPr/>
              <p:nvPr/>
            </p:nvSpPr>
            <p:spPr>
              <a:xfrm>
                <a:off x="3890963"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 name="Rectangle 199">
                <a:extLst>
                  <a:ext uri="{FF2B5EF4-FFF2-40B4-BE49-F238E27FC236}">
                    <a16:creationId xmlns:a16="http://schemas.microsoft.com/office/drawing/2014/main" id="{118BDBAE-CAD8-437A-B143-72E96592EE25}"/>
                  </a:ext>
                </a:extLst>
              </p:cNvPr>
              <p:cNvSpPr/>
              <p:nvPr/>
            </p:nvSpPr>
            <p:spPr>
              <a:xfrm>
                <a:off x="4700399"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97" name="Rectangle 196">
              <a:extLst>
                <a:ext uri="{FF2B5EF4-FFF2-40B4-BE49-F238E27FC236}">
                  <a16:creationId xmlns:a16="http://schemas.microsoft.com/office/drawing/2014/main" id="{01AFD1CB-4387-4339-ABD7-CDEAFF91FC77}"/>
                </a:ext>
              </a:extLst>
            </p:cNvPr>
            <p:cNvSpPr/>
            <p:nvPr/>
          </p:nvSpPr>
          <p:spPr>
            <a:xfrm>
              <a:off x="5519269" y="8072371"/>
              <a:ext cx="298624" cy="1461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1" name="Groupe 200">
            <a:extLst>
              <a:ext uri="{FF2B5EF4-FFF2-40B4-BE49-F238E27FC236}">
                <a16:creationId xmlns:a16="http://schemas.microsoft.com/office/drawing/2014/main" id="{7853BF78-AA9F-461F-B621-B7EFE53AFBFA}"/>
              </a:ext>
            </a:extLst>
          </p:cNvPr>
          <p:cNvGrpSpPr/>
          <p:nvPr/>
        </p:nvGrpSpPr>
        <p:grpSpPr>
          <a:xfrm flipH="1">
            <a:off x="262080" y="5046378"/>
            <a:ext cx="635480" cy="1274252"/>
            <a:chOff x="5134003" y="2196472"/>
            <a:chExt cx="563254" cy="1156702"/>
          </a:xfrm>
        </p:grpSpPr>
        <p:pic>
          <p:nvPicPr>
            <p:cNvPr id="202" name="Graphique 201" descr="Réussite du groupe avec un remplissage uni">
              <a:extLst>
                <a:ext uri="{FF2B5EF4-FFF2-40B4-BE49-F238E27FC236}">
                  <a16:creationId xmlns:a16="http://schemas.microsoft.com/office/drawing/2014/main" id="{DB737901-907F-4ED9-B81C-24BCBF005158}"/>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69977" t="13713" r="6403" b="17430"/>
            <a:stretch/>
          </p:blipFill>
          <p:spPr>
            <a:xfrm>
              <a:off x="5300474" y="2196472"/>
              <a:ext cx="396783" cy="1156702"/>
            </a:xfrm>
            <a:prstGeom prst="rect">
              <a:avLst/>
            </a:prstGeom>
          </p:spPr>
        </p:pic>
        <p:sp>
          <p:nvSpPr>
            <p:cNvPr id="203" name="Rectangle 202">
              <a:extLst>
                <a:ext uri="{FF2B5EF4-FFF2-40B4-BE49-F238E27FC236}">
                  <a16:creationId xmlns:a16="http://schemas.microsoft.com/office/drawing/2014/main" id="{3D35CB96-3794-4B3B-A7DB-5861F45A8F9E}"/>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4" name="Groupe 203">
            <a:extLst>
              <a:ext uri="{FF2B5EF4-FFF2-40B4-BE49-F238E27FC236}">
                <a16:creationId xmlns:a16="http://schemas.microsoft.com/office/drawing/2014/main" id="{64C304F4-7F94-4FD2-BC45-B7945319CAB8}"/>
              </a:ext>
            </a:extLst>
          </p:cNvPr>
          <p:cNvGrpSpPr/>
          <p:nvPr/>
        </p:nvGrpSpPr>
        <p:grpSpPr>
          <a:xfrm flipH="1">
            <a:off x="3424466" y="3197940"/>
            <a:ext cx="544643" cy="1109212"/>
            <a:chOff x="5134003" y="2196472"/>
            <a:chExt cx="563254" cy="1156702"/>
          </a:xfrm>
        </p:grpSpPr>
        <p:pic>
          <p:nvPicPr>
            <p:cNvPr id="205" name="Graphique 204" descr="Réussite du groupe avec un remplissage uni">
              <a:extLst>
                <a:ext uri="{FF2B5EF4-FFF2-40B4-BE49-F238E27FC236}">
                  <a16:creationId xmlns:a16="http://schemas.microsoft.com/office/drawing/2014/main" id="{B45A7477-1594-4A43-A8DC-C7551975CD56}"/>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69977" t="13713" r="6403" b="17430"/>
            <a:stretch/>
          </p:blipFill>
          <p:spPr>
            <a:xfrm>
              <a:off x="5300474" y="2196472"/>
              <a:ext cx="396783" cy="1156702"/>
            </a:xfrm>
            <a:prstGeom prst="rect">
              <a:avLst/>
            </a:prstGeom>
          </p:spPr>
        </p:pic>
        <p:sp>
          <p:nvSpPr>
            <p:cNvPr id="206" name="Rectangle 205">
              <a:extLst>
                <a:ext uri="{FF2B5EF4-FFF2-40B4-BE49-F238E27FC236}">
                  <a16:creationId xmlns:a16="http://schemas.microsoft.com/office/drawing/2014/main" id="{4666D706-FB2B-426F-8DB0-1FB75CA41269}"/>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9" name="Graphique 8" descr="Mur de briques en construction avec un remplissage uni">
            <a:extLst>
              <a:ext uri="{FF2B5EF4-FFF2-40B4-BE49-F238E27FC236}">
                <a16:creationId xmlns:a16="http://schemas.microsoft.com/office/drawing/2014/main" id="{3F30A76B-3311-4246-99E5-7DF4D9975A4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flipH="1">
            <a:off x="7209724" y="2927004"/>
            <a:ext cx="993712" cy="1005521"/>
          </a:xfrm>
          <a:prstGeom prst="rect">
            <a:avLst/>
          </a:prstGeom>
        </p:spPr>
      </p:pic>
      <p:pic>
        <p:nvPicPr>
          <p:cNvPr id="249" name="Graphique 248" descr="Mur de briques en construction avec un remplissage uni">
            <a:extLst>
              <a:ext uri="{FF2B5EF4-FFF2-40B4-BE49-F238E27FC236}">
                <a16:creationId xmlns:a16="http://schemas.microsoft.com/office/drawing/2014/main" id="{2609CF9A-449F-4A80-AC18-FC15FC76B1A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flipH="1">
            <a:off x="5736911" y="3981151"/>
            <a:ext cx="993712" cy="1005521"/>
          </a:xfrm>
          <a:prstGeom prst="rect">
            <a:avLst/>
          </a:prstGeom>
        </p:spPr>
      </p:pic>
      <p:pic>
        <p:nvPicPr>
          <p:cNvPr id="250" name="Graphique 249" descr="Mur de briques en construction avec un remplissage uni">
            <a:extLst>
              <a:ext uri="{FF2B5EF4-FFF2-40B4-BE49-F238E27FC236}">
                <a16:creationId xmlns:a16="http://schemas.microsoft.com/office/drawing/2014/main" id="{4DA4D23A-5BF4-40FF-8A44-BB87426AF1B3}"/>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flipH="1">
            <a:off x="7150179" y="4248794"/>
            <a:ext cx="993712" cy="1005521"/>
          </a:xfrm>
          <a:prstGeom prst="rect">
            <a:avLst/>
          </a:prstGeom>
        </p:spPr>
      </p:pic>
      <p:pic>
        <p:nvPicPr>
          <p:cNvPr id="251" name="Graphique 250" descr="Mur de briques en construction avec un remplissage uni">
            <a:extLst>
              <a:ext uri="{FF2B5EF4-FFF2-40B4-BE49-F238E27FC236}">
                <a16:creationId xmlns:a16="http://schemas.microsoft.com/office/drawing/2014/main" id="{2734F6DB-BBC3-4B7D-BE4E-08A62338D7E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6192810" y="5310114"/>
            <a:ext cx="993712" cy="1005521"/>
          </a:xfrm>
          <a:prstGeom prst="rect">
            <a:avLst/>
          </a:prstGeom>
        </p:spPr>
      </p:pic>
    </p:spTree>
    <p:extLst>
      <p:ext uri="{BB962C8B-B14F-4D97-AF65-F5344CB8AC3E}">
        <p14:creationId xmlns:p14="http://schemas.microsoft.com/office/powerpoint/2010/main" val="308949436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78F58F0-5BDD-FB88-32E3-A31EC83E376D}"/>
              </a:ext>
            </a:extLst>
          </p:cNvPr>
          <p:cNvSpPr>
            <a:spLocks noGrp="1"/>
          </p:cNvSpPr>
          <p:nvPr>
            <p:ph type="title"/>
          </p:nvPr>
        </p:nvSpPr>
        <p:spPr>
          <a:xfrm>
            <a:off x="1117662" y="365125"/>
            <a:ext cx="10236137" cy="1325563"/>
          </a:xfrm>
        </p:spPr>
        <p:txBody>
          <a:bodyPr>
            <a:normAutofit fontScale="90000"/>
          </a:bodyPr>
          <a:lstStyle/>
          <a:p>
            <a:r>
              <a:rPr lang="fr-FR" dirty="0"/>
              <a:t>Exemples d’activités pour faire connaître la valeur de la Communauté</a:t>
            </a:r>
            <a:br>
              <a:rPr lang="fr-FR" dirty="0"/>
            </a:br>
            <a:r>
              <a:rPr lang="fr-FR" sz="1800" dirty="0"/>
              <a:t>📅Evènements  , ✍️Contenus, ⚙️Structuration de Communauté</a:t>
            </a:r>
            <a:endParaRPr lang="fr-FR" dirty="0"/>
          </a:p>
        </p:txBody>
      </p:sp>
      <p:grpSp>
        <p:nvGrpSpPr>
          <p:cNvPr id="6" name="Groupe 5">
            <a:extLst>
              <a:ext uri="{FF2B5EF4-FFF2-40B4-BE49-F238E27FC236}">
                <a16:creationId xmlns:a16="http://schemas.microsoft.com/office/drawing/2014/main" id="{71D420F9-EF2A-6521-793F-4C6D77138647}"/>
              </a:ext>
            </a:extLst>
          </p:cNvPr>
          <p:cNvGrpSpPr/>
          <p:nvPr/>
        </p:nvGrpSpPr>
        <p:grpSpPr>
          <a:xfrm>
            <a:off x="545283" y="2263979"/>
            <a:ext cx="11132191" cy="3884802"/>
            <a:chOff x="1282817" y="2263979"/>
            <a:chExt cx="8808390" cy="3884802"/>
          </a:xfrm>
        </p:grpSpPr>
        <p:sp>
          <p:nvSpPr>
            <p:cNvPr id="4" name="Ellipse 3">
              <a:extLst>
                <a:ext uri="{FF2B5EF4-FFF2-40B4-BE49-F238E27FC236}">
                  <a16:creationId xmlns:a16="http://schemas.microsoft.com/office/drawing/2014/main" id="{3B5C552E-C1DA-929C-BBA7-FBD2F46CCDFD}"/>
                </a:ext>
              </a:extLst>
            </p:cNvPr>
            <p:cNvSpPr/>
            <p:nvPr/>
          </p:nvSpPr>
          <p:spPr>
            <a:xfrm>
              <a:off x="1282817" y="2263979"/>
              <a:ext cx="6124662" cy="3884802"/>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Ellipse 4">
              <a:extLst>
                <a:ext uri="{FF2B5EF4-FFF2-40B4-BE49-F238E27FC236}">
                  <a16:creationId xmlns:a16="http://schemas.microsoft.com/office/drawing/2014/main" id="{3952AB7F-E787-5733-EC0E-A7E1A4507BE1}"/>
                </a:ext>
              </a:extLst>
            </p:cNvPr>
            <p:cNvSpPr/>
            <p:nvPr/>
          </p:nvSpPr>
          <p:spPr>
            <a:xfrm>
              <a:off x="3966545" y="2263979"/>
              <a:ext cx="6124662" cy="388480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7" name="Graphique 6" descr="Bâtiment avec un remplissage uni">
            <a:extLst>
              <a:ext uri="{FF2B5EF4-FFF2-40B4-BE49-F238E27FC236}">
                <a16:creationId xmlns:a16="http://schemas.microsoft.com/office/drawing/2014/main" id="{74F4302C-EE37-EEE9-5BED-9212F4C33B6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287282" y="5031787"/>
            <a:ext cx="896256" cy="896256"/>
          </a:xfrm>
          <a:prstGeom prst="rect">
            <a:avLst/>
          </a:prstGeom>
        </p:spPr>
      </p:pic>
      <p:grpSp>
        <p:nvGrpSpPr>
          <p:cNvPr id="8" name="Groupe 7">
            <a:extLst>
              <a:ext uri="{FF2B5EF4-FFF2-40B4-BE49-F238E27FC236}">
                <a16:creationId xmlns:a16="http://schemas.microsoft.com/office/drawing/2014/main" id="{7DEF2B59-B97B-E309-4907-7672814A5BFA}"/>
              </a:ext>
            </a:extLst>
          </p:cNvPr>
          <p:cNvGrpSpPr/>
          <p:nvPr/>
        </p:nvGrpSpPr>
        <p:grpSpPr>
          <a:xfrm>
            <a:off x="167812" y="5243119"/>
            <a:ext cx="867150" cy="731076"/>
            <a:chOff x="8982504" y="3274976"/>
            <a:chExt cx="1230670" cy="1037553"/>
          </a:xfrm>
          <a:solidFill>
            <a:srgbClr val="ED7D31"/>
          </a:solidFill>
        </p:grpSpPr>
        <p:pic>
          <p:nvPicPr>
            <p:cNvPr id="9" name="Graphique 8" descr="Utilisateur avec un remplissage uni">
              <a:extLst>
                <a:ext uri="{FF2B5EF4-FFF2-40B4-BE49-F238E27FC236}">
                  <a16:creationId xmlns:a16="http://schemas.microsoft.com/office/drawing/2014/main" id="{248A41B4-237E-D89C-EE17-27E89643D46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0" name="Graphique 9" descr="Utilisateur avec un remplissage uni">
              <a:extLst>
                <a:ext uri="{FF2B5EF4-FFF2-40B4-BE49-F238E27FC236}">
                  <a16:creationId xmlns:a16="http://schemas.microsoft.com/office/drawing/2014/main" id="{B09DA936-F7C0-6FF1-A9BD-B4BFDF79553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1C91F6B-F7B7-2777-6191-EA1306AE38B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2" name="Graphique 11" descr="Utilisateur avec un remplissage uni">
              <a:extLst>
                <a:ext uri="{FF2B5EF4-FFF2-40B4-BE49-F238E27FC236}">
                  <a16:creationId xmlns:a16="http://schemas.microsoft.com/office/drawing/2014/main" id="{1DB69107-6A86-F003-5880-F46AB1DFF46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3" name="Graphique 12" descr="Utilisateur avec un remplissage uni">
              <a:extLst>
                <a:ext uri="{FF2B5EF4-FFF2-40B4-BE49-F238E27FC236}">
                  <a16:creationId xmlns:a16="http://schemas.microsoft.com/office/drawing/2014/main" id="{28D3867D-CA4B-4945-1531-4880DD3B03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4" name="Graphique 13" descr="Utilisateur avec un remplissage uni">
              <a:extLst>
                <a:ext uri="{FF2B5EF4-FFF2-40B4-BE49-F238E27FC236}">
                  <a16:creationId xmlns:a16="http://schemas.microsoft.com/office/drawing/2014/main" id="{C950723F-82CC-7981-0606-26B6FCD426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5" name="Graphique 14" descr="Utilisateur avec un remplissage uni">
              <a:extLst>
                <a:ext uri="{FF2B5EF4-FFF2-40B4-BE49-F238E27FC236}">
                  <a16:creationId xmlns:a16="http://schemas.microsoft.com/office/drawing/2014/main" id="{63B31499-F58B-AF41-931E-7FE791FC80E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6" name="Graphique 15" descr="Utilisateur avec un remplissage uni">
              <a:extLst>
                <a:ext uri="{FF2B5EF4-FFF2-40B4-BE49-F238E27FC236}">
                  <a16:creationId xmlns:a16="http://schemas.microsoft.com/office/drawing/2014/main" id="{6ED1B2A1-2C04-595C-5B5F-5DA4BD1D6C9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7" name="Graphique 16" descr="Utilisateur avec un remplissage uni">
              <a:extLst>
                <a:ext uri="{FF2B5EF4-FFF2-40B4-BE49-F238E27FC236}">
                  <a16:creationId xmlns:a16="http://schemas.microsoft.com/office/drawing/2014/main" id="{7441B31B-0FB3-E9DF-663E-69CDF0ECD6E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8" name="Graphique 17" descr="Utilisateur avec un remplissage uni">
              <a:extLst>
                <a:ext uri="{FF2B5EF4-FFF2-40B4-BE49-F238E27FC236}">
                  <a16:creationId xmlns:a16="http://schemas.microsoft.com/office/drawing/2014/main" id="{655FFDA1-92F6-0216-280E-D15456FDBE3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9" name="Graphique 18" descr="Utilisateur avec un remplissage uni">
              <a:extLst>
                <a:ext uri="{FF2B5EF4-FFF2-40B4-BE49-F238E27FC236}">
                  <a16:creationId xmlns:a16="http://schemas.microsoft.com/office/drawing/2014/main" id="{FE2A8DD7-DCAD-500F-4BBA-5ED7FE760E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21" name="Titre 1">
            <a:extLst>
              <a:ext uri="{FF2B5EF4-FFF2-40B4-BE49-F238E27FC236}">
                <a16:creationId xmlns:a16="http://schemas.microsoft.com/office/drawing/2014/main" id="{0FA133A7-B7ED-ED21-BD06-4B95ACB01190}"/>
              </a:ext>
            </a:extLst>
          </p:cNvPr>
          <p:cNvSpPr txBox="1">
            <a:spLocks/>
          </p:cNvSpPr>
          <p:nvPr/>
        </p:nvSpPr>
        <p:spPr>
          <a:xfrm>
            <a:off x="172517" y="5932037"/>
            <a:ext cx="1622727" cy="67871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b="1" dirty="0">
                <a:solidFill>
                  <a:srgbClr val="ED7D31"/>
                </a:solidFill>
              </a:rPr>
              <a:t>Mise en avant de la valeur pour les membres</a:t>
            </a:r>
          </a:p>
        </p:txBody>
      </p:sp>
      <p:sp>
        <p:nvSpPr>
          <p:cNvPr id="22" name="Titre 1">
            <a:extLst>
              <a:ext uri="{FF2B5EF4-FFF2-40B4-BE49-F238E27FC236}">
                <a16:creationId xmlns:a16="http://schemas.microsoft.com/office/drawing/2014/main" id="{CE47F994-1C8B-111D-C091-30DAFBCFD162}"/>
              </a:ext>
            </a:extLst>
          </p:cNvPr>
          <p:cNvSpPr txBox="1">
            <a:spLocks/>
          </p:cNvSpPr>
          <p:nvPr/>
        </p:nvSpPr>
        <p:spPr>
          <a:xfrm>
            <a:off x="10376431" y="5974195"/>
            <a:ext cx="1622727" cy="67871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r"/>
            <a:r>
              <a:rPr lang="fr-FR" sz="1400" b="1" dirty="0"/>
              <a:t>Mise en avant de la valeur pour l’entreprise</a:t>
            </a:r>
          </a:p>
        </p:txBody>
      </p:sp>
      <p:sp>
        <p:nvSpPr>
          <p:cNvPr id="23" name="Titre 1">
            <a:extLst>
              <a:ext uri="{FF2B5EF4-FFF2-40B4-BE49-F238E27FC236}">
                <a16:creationId xmlns:a16="http://schemas.microsoft.com/office/drawing/2014/main" id="{888C1A00-E455-7FC5-AE5C-EE363B4F05E2}"/>
              </a:ext>
            </a:extLst>
          </p:cNvPr>
          <p:cNvSpPr txBox="1">
            <a:spLocks/>
          </p:cNvSpPr>
          <p:nvPr/>
        </p:nvSpPr>
        <p:spPr>
          <a:xfrm>
            <a:off x="5303303" y="6043849"/>
            <a:ext cx="1622727" cy="678710"/>
          </a:xfrm>
          <a:prstGeom prst="rect">
            <a:avLst/>
          </a:prstGeom>
        </p:spPr>
        <p:txBody>
          <a:bodyPr vert="horz" lIns="91440" tIns="45720" rIns="91440" bIns="45720" rtlCol="0" anchor="ctr">
            <a:normAutofit fontScale="92500" lnSpcReduction="2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3494BA"/>
                </a:solidFill>
              </a:rPr>
              <a:t>Mise en avant de la valeur </a:t>
            </a:r>
            <a:r>
              <a:rPr lang="fr-FR" sz="1400" b="1" dirty="0">
                <a:solidFill>
                  <a:srgbClr val="ED7D31"/>
                </a:solidFill>
              </a:rPr>
              <a:t>pour les membres et </a:t>
            </a:r>
            <a:r>
              <a:rPr lang="fr-FR" sz="1400" b="1" dirty="0"/>
              <a:t>pour l’entreprise</a:t>
            </a:r>
          </a:p>
        </p:txBody>
      </p:sp>
      <p:sp>
        <p:nvSpPr>
          <p:cNvPr id="24" name="Rectangle 23">
            <a:extLst>
              <a:ext uri="{FF2B5EF4-FFF2-40B4-BE49-F238E27FC236}">
                <a16:creationId xmlns:a16="http://schemas.microsoft.com/office/drawing/2014/main" id="{EC7D0A90-C051-0CCC-AA0C-D68B1710734E}"/>
              </a:ext>
            </a:extLst>
          </p:cNvPr>
          <p:cNvSpPr/>
          <p:nvPr/>
        </p:nvSpPr>
        <p:spPr>
          <a:xfrm>
            <a:off x="3464973" y="2527533"/>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Mise en avant du parcours, de l’histoire d’un membre</a:t>
            </a:r>
          </a:p>
        </p:txBody>
      </p:sp>
      <p:sp>
        <p:nvSpPr>
          <p:cNvPr id="25" name="Rectangle 24">
            <a:extLst>
              <a:ext uri="{FF2B5EF4-FFF2-40B4-BE49-F238E27FC236}">
                <a16:creationId xmlns:a16="http://schemas.microsoft.com/office/drawing/2014/main" id="{29A21DFF-D140-1178-0AED-456C93FC653C}"/>
              </a:ext>
            </a:extLst>
          </p:cNvPr>
          <p:cNvSpPr/>
          <p:nvPr/>
        </p:nvSpPr>
        <p:spPr>
          <a:xfrm>
            <a:off x="2930276" y="3335715"/>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📅Portes ouvertes de la Communauté</a:t>
            </a:r>
          </a:p>
        </p:txBody>
      </p:sp>
      <p:sp>
        <p:nvSpPr>
          <p:cNvPr id="26" name="Rectangle 25">
            <a:extLst>
              <a:ext uri="{FF2B5EF4-FFF2-40B4-BE49-F238E27FC236}">
                <a16:creationId xmlns:a16="http://schemas.microsoft.com/office/drawing/2014/main" id="{6F9A2AC2-D91B-1DBF-FC3F-C4383C3431A5}"/>
              </a:ext>
            </a:extLst>
          </p:cNvPr>
          <p:cNvSpPr/>
          <p:nvPr/>
        </p:nvSpPr>
        <p:spPr>
          <a:xfrm>
            <a:off x="5632132" y="2836197"/>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p>
          <a:p>
            <a:pPr algn="ctr"/>
            <a:r>
              <a:rPr lang="fr-FR" sz="900" dirty="0">
                <a:solidFill>
                  <a:schemeClr val="tx1"/>
                </a:solidFill>
              </a:rPr>
              <a:t>Présentation globale de la Communauté</a:t>
            </a:r>
          </a:p>
        </p:txBody>
      </p:sp>
      <p:sp>
        <p:nvSpPr>
          <p:cNvPr id="27" name="Rectangle 26">
            <a:extLst>
              <a:ext uri="{FF2B5EF4-FFF2-40B4-BE49-F238E27FC236}">
                <a16:creationId xmlns:a16="http://schemas.microsoft.com/office/drawing/2014/main" id="{4992D889-3AD9-6378-27FC-DF7A9B3A08D6}"/>
              </a:ext>
            </a:extLst>
          </p:cNvPr>
          <p:cNvSpPr/>
          <p:nvPr/>
        </p:nvSpPr>
        <p:spPr>
          <a:xfrm>
            <a:off x="7910107" y="2592912"/>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Rites de remerciement, remise de prix, félicitations pour contribution</a:t>
            </a:r>
          </a:p>
        </p:txBody>
      </p:sp>
      <p:sp>
        <p:nvSpPr>
          <p:cNvPr id="28" name="Rectangle 27">
            <a:extLst>
              <a:ext uri="{FF2B5EF4-FFF2-40B4-BE49-F238E27FC236}">
                <a16:creationId xmlns:a16="http://schemas.microsoft.com/office/drawing/2014/main" id="{B12305E1-DE2E-405C-24A9-84C224789621}"/>
              </a:ext>
            </a:extLst>
          </p:cNvPr>
          <p:cNvSpPr/>
          <p:nvPr/>
        </p:nvSpPr>
        <p:spPr>
          <a:xfrm>
            <a:off x="2746530" y="4234219"/>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Organisation d’immersion dans le quotidien des membres</a:t>
            </a:r>
          </a:p>
        </p:txBody>
      </p:sp>
      <p:sp>
        <p:nvSpPr>
          <p:cNvPr id="29" name="Rectangle 28">
            <a:extLst>
              <a:ext uri="{FF2B5EF4-FFF2-40B4-BE49-F238E27FC236}">
                <a16:creationId xmlns:a16="http://schemas.microsoft.com/office/drawing/2014/main" id="{B821C456-1681-53C6-AAD7-88FD3F044A07}"/>
              </a:ext>
            </a:extLst>
          </p:cNvPr>
          <p:cNvSpPr/>
          <p:nvPr/>
        </p:nvSpPr>
        <p:spPr>
          <a:xfrm>
            <a:off x="3176741" y="5063447"/>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Retours d’expériences membres</a:t>
            </a:r>
          </a:p>
        </p:txBody>
      </p:sp>
      <p:sp>
        <p:nvSpPr>
          <p:cNvPr id="30" name="Rectangle 29">
            <a:extLst>
              <a:ext uri="{FF2B5EF4-FFF2-40B4-BE49-F238E27FC236}">
                <a16:creationId xmlns:a16="http://schemas.microsoft.com/office/drawing/2014/main" id="{7B6245D3-4071-C890-7E8D-C3221D7DA941}"/>
              </a:ext>
            </a:extLst>
          </p:cNvPr>
          <p:cNvSpPr/>
          <p:nvPr/>
        </p:nvSpPr>
        <p:spPr>
          <a:xfrm>
            <a:off x="7831537" y="5115405"/>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Retours d’expériences sponsor</a:t>
            </a:r>
          </a:p>
        </p:txBody>
      </p:sp>
      <p:sp>
        <p:nvSpPr>
          <p:cNvPr id="31" name="Rectangle 30">
            <a:extLst>
              <a:ext uri="{FF2B5EF4-FFF2-40B4-BE49-F238E27FC236}">
                <a16:creationId xmlns:a16="http://schemas.microsoft.com/office/drawing/2014/main" id="{8446073F-C1BA-3972-B402-4F1219258951}"/>
              </a:ext>
            </a:extLst>
          </p:cNvPr>
          <p:cNvSpPr/>
          <p:nvPr/>
        </p:nvSpPr>
        <p:spPr>
          <a:xfrm>
            <a:off x="8343439" y="3911731"/>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Rapport des résultats de la Communauté sur l’entreprise</a:t>
            </a:r>
          </a:p>
        </p:txBody>
      </p:sp>
      <p:sp>
        <p:nvSpPr>
          <p:cNvPr id="32" name="Rectangle 31">
            <a:extLst>
              <a:ext uri="{FF2B5EF4-FFF2-40B4-BE49-F238E27FC236}">
                <a16:creationId xmlns:a16="http://schemas.microsoft.com/office/drawing/2014/main" id="{D77691D3-89E5-6C64-E660-8A6B14A92BA9}"/>
              </a:ext>
            </a:extLst>
          </p:cNvPr>
          <p:cNvSpPr/>
          <p:nvPr/>
        </p:nvSpPr>
        <p:spPr>
          <a:xfrm>
            <a:off x="1659048" y="3447040"/>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Séance d’essai</a:t>
            </a:r>
          </a:p>
        </p:txBody>
      </p:sp>
      <p:sp>
        <p:nvSpPr>
          <p:cNvPr id="33" name="Rectangle 32">
            <a:extLst>
              <a:ext uri="{FF2B5EF4-FFF2-40B4-BE49-F238E27FC236}">
                <a16:creationId xmlns:a16="http://schemas.microsoft.com/office/drawing/2014/main" id="{C3DE104F-0537-E04D-A25B-DD636F0076D0}"/>
              </a:ext>
            </a:extLst>
          </p:cNvPr>
          <p:cNvSpPr/>
          <p:nvPr/>
        </p:nvSpPr>
        <p:spPr>
          <a:xfrm>
            <a:off x="9046016" y="4705043"/>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Mise en places d’indicateurs de performance de Communauté</a:t>
            </a:r>
          </a:p>
        </p:txBody>
      </p:sp>
      <p:sp>
        <p:nvSpPr>
          <p:cNvPr id="35" name="Rectangle 34">
            <a:extLst>
              <a:ext uri="{FF2B5EF4-FFF2-40B4-BE49-F238E27FC236}">
                <a16:creationId xmlns:a16="http://schemas.microsoft.com/office/drawing/2014/main" id="{A788B172-4992-C8FB-A48D-ECAFEB19C9A4}"/>
              </a:ext>
            </a:extLst>
          </p:cNvPr>
          <p:cNvSpPr/>
          <p:nvPr/>
        </p:nvSpPr>
        <p:spPr>
          <a:xfrm>
            <a:off x="5632132" y="3660928"/>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Raison d’être ou Manifeste de la Communauté (ex: </a:t>
            </a:r>
            <a:r>
              <a:rPr lang="fr-FR" sz="900" dirty="0" err="1">
                <a:solidFill>
                  <a:schemeClr val="tx1"/>
                </a:solidFill>
              </a:rPr>
              <a:t>Pyramid</a:t>
            </a:r>
            <a:r>
              <a:rPr lang="fr-FR" sz="900" dirty="0">
                <a:solidFill>
                  <a:schemeClr val="tx1"/>
                </a:solidFill>
              </a:rPr>
              <a:t> of </a:t>
            </a:r>
            <a:r>
              <a:rPr lang="fr-FR" sz="900" dirty="0" err="1">
                <a:solidFill>
                  <a:schemeClr val="tx1"/>
                </a:solidFill>
              </a:rPr>
              <a:t>Purpose</a:t>
            </a:r>
            <a:r>
              <a:rPr lang="fr-FR" sz="900" dirty="0">
                <a:solidFill>
                  <a:schemeClr val="tx1"/>
                </a:solidFill>
              </a:rPr>
              <a:t>)</a:t>
            </a:r>
          </a:p>
        </p:txBody>
      </p:sp>
      <p:sp>
        <p:nvSpPr>
          <p:cNvPr id="36" name="Rectangle 35">
            <a:extLst>
              <a:ext uri="{FF2B5EF4-FFF2-40B4-BE49-F238E27FC236}">
                <a16:creationId xmlns:a16="http://schemas.microsoft.com/office/drawing/2014/main" id="{3D90B23D-CEB9-B5D1-3194-0A33A0BF90C8}"/>
              </a:ext>
            </a:extLst>
          </p:cNvPr>
          <p:cNvSpPr/>
          <p:nvPr/>
        </p:nvSpPr>
        <p:spPr>
          <a:xfrm>
            <a:off x="5615760" y="4413021"/>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⚙️Sponsor promoteur et/ou défenseur du temps</a:t>
            </a:r>
          </a:p>
        </p:txBody>
      </p:sp>
      <p:sp>
        <p:nvSpPr>
          <p:cNvPr id="37" name="Rectangle 36">
            <a:extLst>
              <a:ext uri="{FF2B5EF4-FFF2-40B4-BE49-F238E27FC236}">
                <a16:creationId xmlns:a16="http://schemas.microsoft.com/office/drawing/2014/main" id="{41E068D0-C580-69B7-F147-492DC00FE3FE}"/>
              </a:ext>
            </a:extLst>
          </p:cNvPr>
          <p:cNvSpPr/>
          <p:nvPr/>
        </p:nvSpPr>
        <p:spPr>
          <a:xfrm>
            <a:off x="1889425" y="4977173"/>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à disposition ouverte de la Documentation de la Communauté</a:t>
            </a:r>
          </a:p>
        </p:txBody>
      </p:sp>
      <p:sp>
        <p:nvSpPr>
          <p:cNvPr id="39" name="Rectangle 38">
            <a:extLst>
              <a:ext uri="{FF2B5EF4-FFF2-40B4-BE49-F238E27FC236}">
                <a16:creationId xmlns:a16="http://schemas.microsoft.com/office/drawing/2014/main" id="{898A30FB-7D6C-4AF6-0078-A6084B7580C9}"/>
              </a:ext>
            </a:extLst>
          </p:cNvPr>
          <p:cNvSpPr/>
          <p:nvPr/>
        </p:nvSpPr>
        <p:spPr>
          <a:xfrm>
            <a:off x="9463594" y="3189862"/>
            <a:ext cx="1120155" cy="6504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⚙️Sponsor décisionnaire au besoin / systématique</a:t>
            </a:r>
          </a:p>
        </p:txBody>
      </p:sp>
      <p:pic>
        <p:nvPicPr>
          <p:cNvPr id="20" name="Graphique 19" descr="Mégaphone avec un remplissage uni">
            <a:extLst>
              <a:ext uri="{FF2B5EF4-FFF2-40B4-BE49-F238E27FC236}">
                <a16:creationId xmlns:a16="http://schemas.microsoft.com/office/drawing/2014/main" id="{68E922F1-6763-E26C-889C-2ED5D191E12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14327" y="381803"/>
            <a:ext cx="914400" cy="914400"/>
          </a:xfrm>
          <a:prstGeom prst="rect">
            <a:avLst/>
          </a:prstGeom>
        </p:spPr>
      </p:pic>
      <p:pic>
        <p:nvPicPr>
          <p:cNvPr id="34" name="Graphique 33" descr="Mégaphone avec un remplissage uni">
            <a:extLst>
              <a:ext uri="{FF2B5EF4-FFF2-40B4-BE49-F238E27FC236}">
                <a16:creationId xmlns:a16="http://schemas.microsoft.com/office/drawing/2014/main" id="{C3613E48-3B57-04D2-A037-C08ED4E8858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886702" y="5415572"/>
            <a:ext cx="558623" cy="558623"/>
          </a:xfrm>
          <a:prstGeom prst="rect">
            <a:avLst/>
          </a:prstGeom>
        </p:spPr>
      </p:pic>
      <p:pic>
        <p:nvPicPr>
          <p:cNvPr id="38" name="Graphique 37" descr="Mégaphone avec un remplissage uni">
            <a:extLst>
              <a:ext uri="{FF2B5EF4-FFF2-40B4-BE49-F238E27FC236}">
                <a16:creationId xmlns:a16="http://schemas.microsoft.com/office/drawing/2014/main" id="{BB36CC5D-32ED-BF1C-4DBB-B23D46CA52C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4770" y="4834694"/>
            <a:ext cx="558623" cy="558623"/>
          </a:xfrm>
          <a:prstGeom prst="rect">
            <a:avLst/>
          </a:prstGeom>
        </p:spPr>
      </p:pic>
      <p:pic>
        <p:nvPicPr>
          <p:cNvPr id="40" name="Graphique 39" descr="Mégaphone avec un remplissage uni">
            <a:extLst>
              <a:ext uri="{FF2B5EF4-FFF2-40B4-BE49-F238E27FC236}">
                <a16:creationId xmlns:a16="http://schemas.microsoft.com/office/drawing/2014/main" id="{6B093D12-C00C-7C6B-A2B4-12A87B486CF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4958094" y="6123607"/>
            <a:ext cx="558623" cy="558623"/>
          </a:xfrm>
          <a:prstGeom prst="rect">
            <a:avLst/>
          </a:prstGeom>
        </p:spPr>
      </p:pic>
      <p:pic>
        <p:nvPicPr>
          <p:cNvPr id="41" name="Graphique 40" descr="Mégaphone avec un remplissage uni">
            <a:extLst>
              <a:ext uri="{FF2B5EF4-FFF2-40B4-BE49-F238E27FC236}">
                <a16:creationId xmlns:a16="http://schemas.microsoft.com/office/drawing/2014/main" id="{E8AAC3F9-686F-A2A0-8818-D0F616DE9FB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659792" y="6118966"/>
            <a:ext cx="558623" cy="558623"/>
          </a:xfrm>
          <a:prstGeom prst="rect">
            <a:avLst/>
          </a:prstGeom>
        </p:spPr>
      </p:pic>
    </p:spTree>
    <p:extLst>
      <p:ext uri="{BB962C8B-B14F-4D97-AF65-F5344CB8AC3E}">
        <p14:creationId xmlns:p14="http://schemas.microsoft.com/office/powerpoint/2010/main" val="278493296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38200" y="365125"/>
            <a:ext cx="10515600" cy="972139"/>
          </a:xfrm>
        </p:spPr>
        <p:txBody>
          <a:bodyPr>
            <a:normAutofit/>
          </a:bodyPr>
          <a:lstStyle/>
          <a:p>
            <a:pPr algn="ctr"/>
            <a:r>
              <a:rPr lang="fr-FR" dirty="0"/>
              <a:t>Les Sponsors : Les Brokers des </a:t>
            </a:r>
            <a:r>
              <a:rPr lang="fr-FR" b="1" dirty="0">
                <a:solidFill>
                  <a:srgbClr val="3494BA"/>
                </a:solidFill>
              </a:rPr>
              <a:t>Communautés</a:t>
            </a: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9648" y="1508115"/>
            <a:ext cx="1722120" cy="1722120"/>
          </a:xfrm>
          <a:prstGeom prst="rect">
            <a:avLst/>
          </a:prstGeom>
        </p:spPr>
      </p:pic>
      <p:grpSp>
        <p:nvGrpSpPr>
          <p:cNvPr id="6" name="Groupe 5">
            <a:extLst>
              <a:ext uri="{FF2B5EF4-FFF2-40B4-BE49-F238E27FC236}">
                <a16:creationId xmlns:a16="http://schemas.microsoft.com/office/drawing/2014/main" id="{7476B3F7-0E49-6E93-93F4-2CCC981FDD10}"/>
              </a:ext>
            </a:extLst>
          </p:cNvPr>
          <p:cNvGrpSpPr/>
          <p:nvPr/>
        </p:nvGrpSpPr>
        <p:grpSpPr>
          <a:xfrm>
            <a:off x="1673791" y="1733858"/>
            <a:ext cx="1507135" cy="1270634"/>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85601AF8-2B04-4E1B-777C-E4413355E47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3E913BB0-FF45-71E9-FA50-B619CC080BD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52716CDC-FB48-B5C6-CF66-93C81E6EDE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23F83B7B-C6FA-2ED2-8553-6F6F0C6131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5D1AB12-E11E-33B6-F232-60FD45CD3A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179153A9-C2D4-FEE9-F6C5-81D0FAA9EA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2294F9BC-F46F-719B-195C-8E1B7051453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031A82AD-99E7-73E7-E1D8-670CE8EEC70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76053F00-0709-53DD-642A-0F70CA86F80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7EA7E823-16A3-8130-20D7-959E93468B4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91FD713F-1A16-30AC-B049-C388F6E8690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8" name="Flèche : droite 17">
            <a:extLst>
              <a:ext uri="{FF2B5EF4-FFF2-40B4-BE49-F238E27FC236}">
                <a16:creationId xmlns:a16="http://schemas.microsoft.com/office/drawing/2014/main" id="{F4781031-0E93-D593-CF10-BDB1AA037E51}"/>
              </a:ext>
            </a:extLst>
          </p:cNvPr>
          <p:cNvSpPr/>
          <p:nvPr/>
        </p:nvSpPr>
        <p:spPr>
          <a:xfrm rot="19508911" flipH="1">
            <a:off x="7368610" y="3025527"/>
            <a:ext cx="1189456" cy="623864"/>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2</a:t>
            </a:r>
          </a:p>
        </p:txBody>
      </p:sp>
      <p:sp>
        <p:nvSpPr>
          <p:cNvPr id="19" name="Flèche : gauche 18">
            <a:extLst>
              <a:ext uri="{FF2B5EF4-FFF2-40B4-BE49-F238E27FC236}">
                <a16:creationId xmlns:a16="http://schemas.microsoft.com/office/drawing/2014/main" id="{6D5580D4-B17B-8DFC-603C-00CBE6E0E36A}"/>
              </a:ext>
            </a:extLst>
          </p:cNvPr>
          <p:cNvSpPr/>
          <p:nvPr/>
        </p:nvSpPr>
        <p:spPr>
          <a:xfrm rot="1525700" flipH="1">
            <a:off x="3685118" y="2956595"/>
            <a:ext cx="1189456" cy="623864"/>
          </a:xfrm>
          <a:prstGeom prst="lef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1</a:t>
            </a:r>
          </a:p>
        </p:txBody>
      </p:sp>
      <p:sp>
        <p:nvSpPr>
          <p:cNvPr id="26" name="Titre 1">
            <a:extLst>
              <a:ext uri="{FF2B5EF4-FFF2-40B4-BE49-F238E27FC236}">
                <a16:creationId xmlns:a16="http://schemas.microsoft.com/office/drawing/2014/main" id="{D15593DD-8CE1-2ECC-2B5D-DB98437039FD}"/>
              </a:ext>
            </a:extLst>
          </p:cNvPr>
          <p:cNvSpPr txBox="1">
            <a:spLocks/>
          </p:cNvSpPr>
          <p:nvPr/>
        </p:nvSpPr>
        <p:spPr>
          <a:xfrm>
            <a:off x="8743885" y="3070009"/>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t>Entreprise (Institution)</a:t>
            </a:r>
          </a:p>
        </p:txBody>
      </p:sp>
      <p:sp>
        <p:nvSpPr>
          <p:cNvPr id="28" name="Titre 1">
            <a:extLst>
              <a:ext uri="{FF2B5EF4-FFF2-40B4-BE49-F238E27FC236}">
                <a16:creationId xmlns:a16="http://schemas.microsoft.com/office/drawing/2014/main" id="{2B5D222E-E2F2-535F-3F4A-2D35E291BBC5}"/>
              </a:ext>
            </a:extLst>
          </p:cNvPr>
          <p:cNvSpPr txBox="1">
            <a:spLocks/>
          </p:cNvSpPr>
          <p:nvPr/>
        </p:nvSpPr>
        <p:spPr>
          <a:xfrm>
            <a:off x="1618427" y="2920397"/>
            <a:ext cx="1537788" cy="329176"/>
          </a:xfrm>
          <a:prstGeom prst="rect">
            <a:avLst/>
          </a:prstGeom>
        </p:spPr>
        <p:txBody>
          <a:bodyPr vert="horz" lIns="91440" tIns="45720" rIns="91440" bIns="45720" rtlCol="0" anchor="ctr">
            <a:normAutofit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b="1" dirty="0">
                <a:solidFill>
                  <a:srgbClr val="ED7D31"/>
                </a:solidFill>
              </a:rPr>
              <a:t>Membres</a:t>
            </a:r>
          </a:p>
        </p:txBody>
      </p:sp>
      <p:sp>
        <p:nvSpPr>
          <p:cNvPr id="95" name="Flèche : droite 94">
            <a:extLst>
              <a:ext uri="{FF2B5EF4-FFF2-40B4-BE49-F238E27FC236}">
                <a16:creationId xmlns:a16="http://schemas.microsoft.com/office/drawing/2014/main" id="{E4528571-20B7-D4C9-14F8-1948808D3577}"/>
              </a:ext>
            </a:extLst>
          </p:cNvPr>
          <p:cNvSpPr/>
          <p:nvPr/>
        </p:nvSpPr>
        <p:spPr>
          <a:xfrm rot="19508911" flipH="1">
            <a:off x="3647794" y="4945226"/>
            <a:ext cx="1189456" cy="623864"/>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3</a:t>
            </a:r>
          </a:p>
        </p:txBody>
      </p:sp>
      <p:sp>
        <p:nvSpPr>
          <p:cNvPr id="96" name="Flèche : gauche 95">
            <a:extLst>
              <a:ext uri="{FF2B5EF4-FFF2-40B4-BE49-F238E27FC236}">
                <a16:creationId xmlns:a16="http://schemas.microsoft.com/office/drawing/2014/main" id="{193DE573-A714-FF47-E3C4-3D16089543C7}"/>
              </a:ext>
            </a:extLst>
          </p:cNvPr>
          <p:cNvSpPr/>
          <p:nvPr/>
        </p:nvSpPr>
        <p:spPr>
          <a:xfrm rot="1525700" flipH="1">
            <a:off x="7393126" y="4896634"/>
            <a:ext cx="1189456" cy="623864"/>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4</a:t>
            </a:r>
          </a:p>
        </p:txBody>
      </p:sp>
      <p:grpSp>
        <p:nvGrpSpPr>
          <p:cNvPr id="75" name="Groupe 74">
            <a:extLst>
              <a:ext uri="{FF2B5EF4-FFF2-40B4-BE49-F238E27FC236}">
                <a16:creationId xmlns:a16="http://schemas.microsoft.com/office/drawing/2014/main" id="{F83878DE-A853-C36B-B86B-B29F14906CB6}"/>
              </a:ext>
            </a:extLst>
          </p:cNvPr>
          <p:cNvGrpSpPr/>
          <p:nvPr/>
        </p:nvGrpSpPr>
        <p:grpSpPr>
          <a:xfrm>
            <a:off x="4971690" y="2154264"/>
            <a:ext cx="2316953" cy="1837550"/>
            <a:chOff x="5064446" y="1851546"/>
            <a:chExt cx="3517367" cy="2789586"/>
          </a:xfrm>
        </p:grpSpPr>
        <p:pic>
          <p:nvPicPr>
            <p:cNvPr id="81" name="Graphique 80" descr="Employée de bureau avec un remplissage uni">
              <a:extLst>
                <a:ext uri="{FF2B5EF4-FFF2-40B4-BE49-F238E27FC236}">
                  <a16:creationId xmlns:a16="http://schemas.microsoft.com/office/drawing/2014/main" id="{8C205836-ACAB-4C12-0A92-A13FABBC3C9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445784" y="2079750"/>
              <a:ext cx="2521669" cy="2521669"/>
            </a:xfrm>
            <a:prstGeom prst="rect">
              <a:avLst/>
            </a:prstGeom>
          </p:spPr>
        </p:pic>
        <p:pic>
          <p:nvPicPr>
            <p:cNvPr id="82" name="Graphique 81" descr="Mégaphone avec un remplissage uni">
              <a:extLst>
                <a:ext uri="{FF2B5EF4-FFF2-40B4-BE49-F238E27FC236}">
                  <a16:creationId xmlns:a16="http://schemas.microsoft.com/office/drawing/2014/main" id="{3C107B08-8AC7-C1F6-6908-101AB79B4665}"/>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4658"/>
            <a:stretch/>
          </p:blipFill>
          <p:spPr>
            <a:xfrm rot="256443">
              <a:off x="7821274" y="2636665"/>
              <a:ext cx="760539" cy="649056"/>
            </a:xfrm>
            <a:prstGeom prst="rect">
              <a:avLst/>
            </a:prstGeom>
          </p:spPr>
        </p:pic>
        <p:pic>
          <p:nvPicPr>
            <p:cNvPr id="83" name="Graphique 82" descr="Bouclier coche avec un remplissage uni">
              <a:extLst>
                <a:ext uri="{FF2B5EF4-FFF2-40B4-BE49-F238E27FC236}">
                  <a16:creationId xmlns:a16="http://schemas.microsoft.com/office/drawing/2014/main" id="{9E8AE19E-720B-4A85-9F19-756F4514401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802847" y="3316113"/>
              <a:ext cx="632787" cy="632787"/>
            </a:xfrm>
            <a:prstGeom prst="rect">
              <a:avLst/>
            </a:prstGeom>
          </p:spPr>
        </p:pic>
        <p:pic>
          <p:nvPicPr>
            <p:cNvPr id="84" name="Graphique 83" descr="Tirelire avec un remplissage uni">
              <a:extLst>
                <a:ext uri="{FF2B5EF4-FFF2-40B4-BE49-F238E27FC236}">
                  <a16:creationId xmlns:a16="http://schemas.microsoft.com/office/drawing/2014/main" id="{C059453B-10CE-E6CF-150F-5E96B46EAE5E}"/>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flipH="1">
              <a:off x="7507152" y="3954810"/>
              <a:ext cx="759628" cy="686322"/>
            </a:xfrm>
            <a:prstGeom prst="rect">
              <a:avLst/>
            </a:prstGeom>
          </p:spPr>
        </p:pic>
        <p:pic>
          <p:nvPicPr>
            <p:cNvPr id="85" name="Graphique 84" descr="Index pointant vers la droite vu du côté du dos de la main avec un remplissage uni">
              <a:extLst>
                <a:ext uri="{FF2B5EF4-FFF2-40B4-BE49-F238E27FC236}">
                  <a16:creationId xmlns:a16="http://schemas.microsoft.com/office/drawing/2014/main" id="{FD5B610D-6539-F9C3-B0D0-EAF75227350B}"/>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t="13336"/>
            <a:stretch/>
          </p:blipFill>
          <p:spPr>
            <a:xfrm rot="18229742">
              <a:off x="7462263" y="1907472"/>
              <a:ext cx="838736" cy="726884"/>
            </a:xfrm>
            <a:prstGeom prst="rect">
              <a:avLst/>
            </a:prstGeom>
          </p:spPr>
        </p:pic>
        <p:pic>
          <p:nvPicPr>
            <p:cNvPr id="98" name="Graphique 97" descr="Calendrier journalier avec un remplissage uni">
              <a:extLst>
                <a:ext uri="{FF2B5EF4-FFF2-40B4-BE49-F238E27FC236}">
                  <a16:creationId xmlns:a16="http://schemas.microsoft.com/office/drawing/2014/main" id="{4B508424-4733-B2C9-0935-587FE3919910}"/>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266526" y="2469352"/>
              <a:ext cx="491841" cy="491841"/>
            </a:xfrm>
            <a:prstGeom prst="rect">
              <a:avLst/>
            </a:prstGeom>
          </p:spPr>
        </p:pic>
        <p:pic>
          <p:nvPicPr>
            <p:cNvPr id="99" name="Graphique 98" descr="Menottes avec un remplissage uni">
              <a:extLst>
                <a:ext uri="{FF2B5EF4-FFF2-40B4-BE49-F238E27FC236}">
                  <a16:creationId xmlns:a16="http://schemas.microsoft.com/office/drawing/2014/main" id="{88183BEA-58B5-8B19-2B63-964A278A99B0}"/>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064446" y="3093895"/>
              <a:ext cx="538611" cy="538611"/>
            </a:xfrm>
            <a:prstGeom prst="rect">
              <a:avLst/>
            </a:prstGeom>
          </p:spPr>
        </p:pic>
        <p:pic>
          <p:nvPicPr>
            <p:cNvPr id="100" name="Graphique 99" descr="Marteau d'officiel avec un remplissage uni">
              <a:extLst>
                <a:ext uri="{FF2B5EF4-FFF2-40B4-BE49-F238E27FC236}">
                  <a16:creationId xmlns:a16="http://schemas.microsoft.com/office/drawing/2014/main" id="{880C3131-08D0-E91A-A02A-E8A59464072D}"/>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5126450" y="3854695"/>
              <a:ext cx="538610" cy="499611"/>
            </a:xfrm>
            <a:prstGeom prst="rect">
              <a:avLst/>
            </a:prstGeom>
          </p:spPr>
        </p:pic>
      </p:grpSp>
      <p:grpSp>
        <p:nvGrpSpPr>
          <p:cNvPr id="34" name="Groupe 33">
            <a:extLst>
              <a:ext uri="{FF2B5EF4-FFF2-40B4-BE49-F238E27FC236}">
                <a16:creationId xmlns:a16="http://schemas.microsoft.com/office/drawing/2014/main" id="{E1271AE8-12A8-C58D-4826-2BB2E723121A}"/>
              </a:ext>
            </a:extLst>
          </p:cNvPr>
          <p:cNvGrpSpPr/>
          <p:nvPr/>
        </p:nvGrpSpPr>
        <p:grpSpPr>
          <a:xfrm>
            <a:off x="5012533" y="3996275"/>
            <a:ext cx="2150970" cy="1947160"/>
            <a:chOff x="-4435634" y="3221970"/>
            <a:chExt cx="4325260" cy="3915430"/>
          </a:xfrm>
        </p:grpSpPr>
        <p:pic>
          <p:nvPicPr>
            <p:cNvPr id="35" name="Espace réservé du contenu 6" descr="Tribunal contour">
              <a:extLst>
                <a:ext uri="{FF2B5EF4-FFF2-40B4-BE49-F238E27FC236}">
                  <a16:creationId xmlns:a16="http://schemas.microsoft.com/office/drawing/2014/main" id="{9340ABC7-E643-62CB-74E7-9B8033AEFB85}"/>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l="8133" t="12060" r="8805" b="62496"/>
            <a:stretch/>
          </p:blipFill>
          <p:spPr>
            <a:xfrm>
              <a:off x="-4435633" y="3221970"/>
              <a:ext cx="4325259" cy="1324928"/>
            </a:xfrm>
            <a:prstGeom prst="rect">
              <a:avLst/>
            </a:prstGeom>
          </p:spPr>
        </p:pic>
        <p:grpSp>
          <p:nvGrpSpPr>
            <p:cNvPr id="36" name="Groupe 35">
              <a:extLst>
                <a:ext uri="{FF2B5EF4-FFF2-40B4-BE49-F238E27FC236}">
                  <a16:creationId xmlns:a16="http://schemas.microsoft.com/office/drawing/2014/main" id="{CAB3FCD0-6E68-2695-5AE1-745DEA2C5E25}"/>
                </a:ext>
              </a:extLst>
            </p:cNvPr>
            <p:cNvGrpSpPr/>
            <p:nvPr/>
          </p:nvGrpSpPr>
          <p:grpSpPr>
            <a:xfrm>
              <a:off x="-4435634" y="4520418"/>
              <a:ext cx="4325260" cy="2616982"/>
              <a:chOff x="-4435634" y="4520418"/>
              <a:chExt cx="4325260" cy="2616982"/>
            </a:xfrm>
          </p:grpSpPr>
          <p:pic>
            <p:nvPicPr>
              <p:cNvPr id="37" name="Espace réservé du contenu 6" descr="Tribunal contour">
                <a:extLst>
                  <a:ext uri="{FF2B5EF4-FFF2-40B4-BE49-F238E27FC236}">
                    <a16:creationId xmlns:a16="http://schemas.microsoft.com/office/drawing/2014/main" id="{4A804FF1-7DDD-DA73-397E-366E66662FCC}"/>
                  </a:ext>
                </a:extLst>
              </p:cNvPr>
              <p:cNvPicPr>
                <a:picLocks noChangeAspect="1"/>
              </p:cNvPicPr>
              <p:nvPr/>
            </p:nvPicPr>
            <p:blipFill rotWithShape="1">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rcRect l="8133" t="37523" r="8805" b="24898"/>
              <a:stretch/>
            </p:blipFill>
            <p:spPr>
              <a:xfrm>
                <a:off x="-4435633" y="4520418"/>
                <a:ext cx="4325259" cy="1956816"/>
              </a:xfrm>
              <a:prstGeom prst="rect">
                <a:avLst/>
              </a:prstGeom>
            </p:spPr>
          </p:pic>
          <p:pic>
            <p:nvPicPr>
              <p:cNvPr id="38" name="Graphique 37" descr="Réussite du groupe avec un remplissage uni">
                <a:extLst>
                  <a:ext uri="{FF2B5EF4-FFF2-40B4-BE49-F238E27FC236}">
                    <a16:creationId xmlns:a16="http://schemas.microsoft.com/office/drawing/2014/main" id="{E0B6089B-6B8D-DADF-5E2E-BECA966261D1}"/>
                  </a:ext>
                </a:extLst>
              </p:cNvPr>
              <p:cNvPicPr>
                <a:picLocks noChangeAspect="1"/>
              </p:cNvPicPr>
              <p:nvPr/>
            </p:nvPicPr>
            <p:blipFill rotWithShape="1">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rcRect t="13979" b="19010"/>
              <a:stretch/>
            </p:blipFill>
            <p:spPr>
              <a:xfrm>
                <a:off x="-3132680" y="5325090"/>
                <a:ext cx="1719352" cy="1152144"/>
              </a:xfrm>
              <a:prstGeom prst="rect">
                <a:avLst/>
              </a:prstGeom>
            </p:spPr>
          </p:pic>
          <p:pic>
            <p:nvPicPr>
              <p:cNvPr id="39" name="Espace réservé du contenu 6" descr="Tribunal contour">
                <a:extLst>
                  <a:ext uri="{FF2B5EF4-FFF2-40B4-BE49-F238E27FC236}">
                    <a16:creationId xmlns:a16="http://schemas.microsoft.com/office/drawing/2014/main" id="{94F2D9E2-413A-F8DC-B75F-DF33728A99D9}"/>
                  </a:ext>
                </a:extLst>
              </p:cNvPr>
              <p:cNvPicPr>
                <a:picLocks noChangeAspect="1"/>
              </p:cNvPicPr>
              <p:nvPr/>
            </p:nvPicPr>
            <p:blipFill rotWithShape="1">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rcRect l="8133" t="75103" r="8805" b="12219"/>
              <a:stretch/>
            </p:blipFill>
            <p:spPr>
              <a:xfrm>
                <a:off x="-4435634" y="6477233"/>
                <a:ext cx="4325259" cy="660167"/>
              </a:xfrm>
              <a:prstGeom prst="rect">
                <a:avLst/>
              </a:prstGeom>
            </p:spPr>
          </p:pic>
        </p:grpSp>
      </p:grpSp>
    </p:spTree>
    <p:extLst>
      <p:ext uri="{BB962C8B-B14F-4D97-AF65-F5344CB8AC3E}">
        <p14:creationId xmlns:p14="http://schemas.microsoft.com/office/powerpoint/2010/main" val="3813085484"/>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9D44D09-F964-D46B-3BEE-5C614EBED6B1}"/>
              </a:ext>
            </a:extLst>
          </p:cNvPr>
          <p:cNvSpPr>
            <a:spLocks noGrp="1"/>
          </p:cNvSpPr>
          <p:nvPr>
            <p:ph type="title"/>
          </p:nvPr>
        </p:nvSpPr>
        <p:spPr/>
        <p:txBody>
          <a:bodyPr/>
          <a:lstStyle/>
          <a:p>
            <a:r>
              <a:rPr lang="fr-FR" dirty="0"/>
              <a:t>Les sponsors</a:t>
            </a:r>
          </a:p>
        </p:txBody>
      </p:sp>
      <p:sp>
        <p:nvSpPr>
          <p:cNvPr id="4" name="Espace réservé du contenu 2">
            <a:extLst>
              <a:ext uri="{FF2B5EF4-FFF2-40B4-BE49-F238E27FC236}">
                <a16:creationId xmlns:a16="http://schemas.microsoft.com/office/drawing/2014/main" id="{50657436-8C9C-6E27-9A16-F026D0BFB9BD}"/>
              </a:ext>
            </a:extLst>
          </p:cNvPr>
          <p:cNvSpPr>
            <a:spLocks noGrp="1"/>
          </p:cNvSpPr>
          <p:nvPr>
            <p:ph idx="1"/>
          </p:nvPr>
        </p:nvSpPr>
        <p:spPr>
          <a:xfrm>
            <a:off x="1127501" y="1690688"/>
            <a:ext cx="2349285" cy="4758002"/>
          </a:xfrm>
        </p:spPr>
        <p:txBody>
          <a:bodyPr>
            <a:normAutofit fontScale="47500" lnSpcReduction="20000"/>
          </a:bodyPr>
          <a:lstStyle/>
          <a:p>
            <a:pPr marL="0" indent="0" algn="just">
              <a:buNone/>
            </a:pPr>
            <a:r>
              <a:rPr lang="fr-FR" dirty="0"/>
              <a:t> Les sponsors sont des personnes considérées comme importantes de par leur pouvoir, leur image, leur capital confiance ou leurs capacités d'intervention.</a:t>
            </a:r>
          </a:p>
          <a:p>
            <a:pPr marL="0" indent="0" algn="just">
              <a:buNone/>
            </a:pPr>
            <a:endParaRPr lang="fr-FR" dirty="0"/>
          </a:p>
          <a:p>
            <a:pPr marL="0" indent="0" algn="just">
              <a:buNone/>
            </a:pPr>
            <a:r>
              <a:rPr lang="fr-FR" dirty="0"/>
              <a:t>     Dans les entreprises, les sponsors sont souvent des personnes haut placées, avec potentiellement du budget, de la crédibilité auprès d'autres personnes haut placées, du pouvoir de décision et une importance reconnue à plusieurs niveaux hiérarchiques.    </a:t>
            </a:r>
          </a:p>
          <a:p>
            <a:pPr marL="0" indent="0" algn="just">
              <a:buNone/>
            </a:pPr>
            <a:endParaRPr lang="fr-FR" dirty="0"/>
          </a:p>
          <a:p>
            <a:pPr marL="0" indent="0" algn="just">
              <a:buNone/>
            </a:pPr>
            <a:r>
              <a:rPr lang="fr-FR" dirty="0"/>
              <a:t>Un sponsor peut être qualifié par sa fonction, la valeur que la Communauté a pour lui et le rôle joué dans la Communauté.</a:t>
            </a:r>
          </a:p>
          <a:p>
            <a:pPr marL="0" indent="0" algn="just">
              <a:buNone/>
            </a:pPr>
            <a:endParaRPr lang="fr-FR" dirty="0"/>
          </a:p>
          <a:p>
            <a:pPr marL="0" indent="0" algn="just">
              <a:buNone/>
            </a:pPr>
            <a:r>
              <a:rPr lang="fr-FR" dirty="0"/>
              <a:t>Les sponsors sont ceux qui peuvent </a:t>
            </a:r>
            <a:r>
              <a:rPr lang="fr-FR" b="1" dirty="0">
                <a:solidFill>
                  <a:srgbClr val="ED7D31"/>
                </a:solidFill>
              </a:rPr>
              <a:t>faire le lien entre valeur pour les membres et valeur pour l’entreprise.</a:t>
            </a:r>
          </a:p>
        </p:txBody>
      </p:sp>
      <p:grpSp>
        <p:nvGrpSpPr>
          <p:cNvPr id="13" name="Groupe 12">
            <a:extLst>
              <a:ext uri="{FF2B5EF4-FFF2-40B4-BE49-F238E27FC236}">
                <a16:creationId xmlns:a16="http://schemas.microsoft.com/office/drawing/2014/main" id="{66E65CEC-3002-7CAC-7AEE-4FC9A0576334}"/>
              </a:ext>
            </a:extLst>
          </p:cNvPr>
          <p:cNvGrpSpPr/>
          <p:nvPr/>
        </p:nvGrpSpPr>
        <p:grpSpPr>
          <a:xfrm>
            <a:off x="5340703" y="1027906"/>
            <a:ext cx="5723796" cy="4539481"/>
            <a:chOff x="5064446" y="1851546"/>
            <a:chExt cx="3517367" cy="2789586"/>
          </a:xfrm>
        </p:grpSpPr>
        <p:pic>
          <p:nvPicPr>
            <p:cNvPr id="5" name="Graphique 4" descr="Employée de bureau avec un remplissage uni">
              <a:extLst>
                <a:ext uri="{FF2B5EF4-FFF2-40B4-BE49-F238E27FC236}">
                  <a16:creationId xmlns:a16="http://schemas.microsoft.com/office/drawing/2014/main" id="{BB81E0F8-15D7-B968-1EA4-06C948E0C32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45784" y="2079750"/>
              <a:ext cx="2521669" cy="2521669"/>
            </a:xfrm>
            <a:prstGeom prst="rect">
              <a:avLst/>
            </a:prstGeom>
          </p:spPr>
        </p:pic>
        <p:pic>
          <p:nvPicPr>
            <p:cNvPr id="6" name="Graphique 5" descr="Mégaphone avec un remplissage uni">
              <a:extLst>
                <a:ext uri="{FF2B5EF4-FFF2-40B4-BE49-F238E27FC236}">
                  <a16:creationId xmlns:a16="http://schemas.microsoft.com/office/drawing/2014/main" id="{2C768CCF-CE70-0833-9F2C-41634F919E07}"/>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t="14658"/>
            <a:stretch/>
          </p:blipFill>
          <p:spPr>
            <a:xfrm rot="256443">
              <a:off x="7821274" y="2636665"/>
              <a:ext cx="760539" cy="649056"/>
            </a:xfrm>
            <a:prstGeom prst="rect">
              <a:avLst/>
            </a:prstGeom>
          </p:spPr>
        </p:pic>
        <p:pic>
          <p:nvPicPr>
            <p:cNvPr id="7" name="Graphique 6" descr="Bouclier coche avec un remplissage uni">
              <a:extLst>
                <a:ext uri="{FF2B5EF4-FFF2-40B4-BE49-F238E27FC236}">
                  <a16:creationId xmlns:a16="http://schemas.microsoft.com/office/drawing/2014/main" id="{FFFEB1A1-0397-6879-89AC-D16AC3A38BA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02847" y="3316113"/>
              <a:ext cx="632787" cy="632787"/>
            </a:xfrm>
            <a:prstGeom prst="rect">
              <a:avLst/>
            </a:prstGeom>
          </p:spPr>
        </p:pic>
        <p:pic>
          <p:nvPicPr>
            <p:cNvPr id="8" name="Graphique 7" descr="Tirelire avec un remplissage uni">
              <a:extLst>
                <a:ext uri="{FF2B5EF4-FFF2-40B4-BE49-F238E27FC236}">
                  <a16:creationId xmlns:a16="http://schemas.microsoft.com/office/drawing/2014/main" id="{35A8D315-B719-5857-C9AE-839B0B41294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7507152" y="3954810"/>
              <a:ext cx="759628" cy="686322"/>
            </a:xfrm>
            <a:prstGeom prst="rect">
              <a:avLst/>
            </a:prstGeom>
          </p:spPr>
        </p:pic>
        <p:pic>
          <p:nvPicPr>
            <p:cNvPr id="9" name="Graphique 8" descr="Index pointant vers la droite vu du côté du dos de la main avec un remplissage uni">
              <a:extLst>
                <a:ext uri="{FF2B5EF4-FFF2-40B4-BE49-F238E27FC236}">
                  <a16:creationId xmlns:a16="http://schemas.microsoft.com/office/drawing/2014/main" id="{78A9C363-F18E-F5F7-49EC-C4E168A200D2}"/>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13336"/>
            <a:stretch/>
          </p:blipFill>
          <p:spPr>
            <a:xfrm rot="18229742">
              <a:off x="7462263" y="1907472"/>
              <a:ext cx="838736" cy="726884"/>
            </a:xfrm>
            <a:prstGeom prst="rect">
              <a:avLst/>
            </a:prstGeom>
          </p:spPr>
        </p:pic>
        <p:pic>
          <p:nvPicPr>
            <p:cNvPr id="10" name="Graphique 9" descr="Calendrier journalier avec un remplissage uni">
              <a:extLst>
                <a:ext uri="{FF2B5EF4-FFF2-40B4-BE49-F238E27FC236}">
                  <a16:creationId xmlns:a16="http://schemas.microsoft.com/office/drawing/2014/main" id="{20D23EB7-747D-28B0-DBFE-96152D97442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266526" y="2469352"/>
              <a:ext cx="491841" cy="491841"/>
            </a:xfrm>
            <a:prstGeom prst="rect">
              <a:avLst/>
            </a:prstGeom>
          </p:spPr>
        </p:pic>
        <p:pic>
          <p:nvPicPr>
            <p:cNvPr id="11" name="Graphique 10" descr="Menottes avec un remplissage uni">
              <a:extLst>
                <a:ext uri="{FF2B5EF4-FFF2-40B4-BE49-F238E27FC236}">
                  <a16:creationId xmlns:a16="http://schemas.microsoft.com/office/drawing/2014/main" id="{CBD695CB-7D98-2FE6-8208-F73A0F81161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064446" y="3093895"/>
              <a:ext cx="538611" cy="538611"/>
            </a:xfrm>
            <a:prstGeom prst="rect">
              <a:avLst/>
            </a:prstGeom>
          </p:spPr>
        </p:pic>
        <p:pic>
          <p:nvPicPr>
            <p:cNvPr id="12" name="Graphique 11" descr="Marteau d'officiel avec un remplissage uni">
              <a:extLst>
                <a:ext uri="{FF2B5EF4-FFF2-40B4-BE49-F238E27FC236}">
                  <a16:creationId xmlns:a16="http://schemas.microsoft.com/office/drawing/2014/main" id="{48F00B1C-9449-BDDF-FBA2-5F887450CD3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126450" y="3854695"/>
              <a:ext cx="538610" cy="499611"/>
            </a:xfrm>
            <a:prstGeom prst="rect">
              <a:avLst/>
            </a:prstGeom>
          </p:spPr>
        </p:pic>
      </p:grpSp>
    </p:spTree>
    <p:extLst>
      <p:ext uri="{BB962C8B-B14F-4D97-AF65-F5344CB8AC3E}">
        <p14:creationId xmlns:p14="http://schemas.microsoft.com/office/powerpoint/2010/main" val="1779640755"/>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C15B105-1058-4280-5DE6-496EFB2DEC89}"/>
              </a:ext>
            </a:extLst>
          </p:cNvPr>
          <p:cNvSpPr>
            <a:spLocks noGrp="1"/>
          </p:cNvSpPr>
          <p:nvPr>
            <p:ph type="title"/>
          </p:nvPr>
        </p:nvSpPr>
        <p:spPr>
          <a:xfrm>
            <a:off x="1581150" y="365125"/>
            <a:ext cx="9772650" cy="995907"/>
          </a:xfrm>
        </p:spPr>
        <p:txBody>
          <a:bodyPr>
            <a:normAutofit/>
          </a:bodyPr>
          <a:lstStyle/>
          <a:p>
            <a:r>
              <a:rPr lang="fr-FR" sz="2800" dirty="0"/>
              <a:t>Exemples de Motivations d’un sponsor pour une Communauté</a:t>
            </a:r>
          </a:p>
        </p:txBody>
      </p:sp>
      <p:grpSp>
        <p:nvGrpSpPr>
          <p:cNvPr id="12" name="Groupe 11">
            <a:extLst>
              <a:ext uri="{FF2B5EF4-FFF2-40B4-BE49-F238E27FC236}">
                <a16:creationId xmlns:a16="http://schemas.microsoft.com/office/drawing/2014/main" id="{ABF84861-6F59-780F-7D32-F925D2D2C84E}"/>
              </a:ext>
            </a:extLst>
          </p:cNvPr>
          <p:cNvGrpSpPr/>
          <p:nvPr/>
        </p:nvGrpSpPr>
        <p:grpSpPr>
          <a:xfrm>
            <a:off x="223529" y="365125"/>
            <a:ext cx="1255731" cy="995907"/>
            <a:chOff x="5064446" y="1851546"/>
            <a:chExt cx="3517367" cy="2789586"/>
          </a:xfrm>
        </p:grpSpPr>
        <p:pic>
          <p:nvPicPr>
            <p:cNvPr id="13" name="Graphique 12" descr="Employée de bureau avec un remplissage uni">
              <a:extLst>
                <a:ext uri="{FF2B5EF4-FFF2-40B4-BE49-F238E27FC236}">
                  <a16:creationId xmlns:a16="http://schemas.microsoft.com/office/drawing/2014/main" id="{25754455-5EF2-984C-DEED-7C03DC32A0E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45784" y="2079750"/>
              <a:ext cx="2521669" cy="2521669"/>
            </a:xfrm>
            <a:prstGeom prst="rect">
              <a:avLst/>
            </a:prstGeom>
          </p:spPr>
        </p:pic>
        <p:pic>
          <p:nvPicPr>
            <p:cNvPr id="14" name="Graphique 13" descr="Mégaphone avec un remplissage uni">
              <a:extLst>
                <a:ext uri="{FF2B5EF4-FFF2-40B4-BE49-F238E27FC236}">
                  <a16:creationId xmlns:a16="http://schemas.microsoft.com/office/drawing/2014/main" id="{EAC6D142-1934-9C33-F35F-0426E5D75D47}"/>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t="14658"/>
            <a:stretch/>
          </p:blipFill>
          <p:spPr>
            <a:xfrm rot="256443">
              <a:off x="7821274" y="2636665"/>
              <a:ext cx="760539" cy="649056"/>
            </a:xfrm>
            <a:prstGeom prst="rect">
              <a:avLst/>
            </a:prstGeom>
          </p:spPr>
        </p:pic>
        <p:pic>
          <p:nvPicPr>
            <p:cNvPr id="15" name="Graphique 14" descr="Bouclier coche avec un remplissage uni">
              <a:extLst>
                <a:ext uri="{FF2B5EF4-FFF2-40B4-BE49-F238E27FC236}">
                  <a16:creationId xmlns:a16="http://schemas.microsoft.com/office/drawing/2014/main" id="{3857424A-8008-AA2E-B4D4-347219969D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02847" y="3316113"/>
              <a:ext cx="632787" cy="632787"/>
            </a:xfrm>
            <a:prstGeom prst="rect">
              <a:avLst/>
            </a:prstGeom>
          </p:spPr>
        </p:pic>
        <p:pic>
          <p:nvPicPr>
            <p:cNvPr id="16" name="Graphique 15" descr="Tirelire avec un remplissage uni">
              <a:extLst>
                <a:ext uri="{FF2B5EF4-FFF2-40B4-BE49-F238E27FC236}">
                  <a16:creationId xmlns:a16="http://schemas.microsoft.com/office/drawing/2014/main" id="{1A5D8ED5-0A0B-D502-9045-FAF9FFB0B8E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7507152" y="3954810"/>
              <a:ext cx="759628" cy="686322"/>
            </a:xfrm>
            <a:prstGeom prst="rect">
              <a:avLst/>
            </a:prstGeom>
          </p:spPr>
        </p:pic>
        <p:pic>
          <p:nvPicPr>
            <p:cNvPr id="17" name="Graphique 16" descr="Index pointant vers la droite vu du côté du dos de la main avec un remplissage uni">
              <a:extLst>
                <a:ext uri="{FF2B5EF4-FFF2-40B4-BE49-F238E27FC236}">
                  <a16:creationId xmlns:a16="http://schemas.microsoft.com/office/drawing/2014/main" id="{1C5A352D-74AD-A57A-4E2E-6DF7252E7538}"/>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13336"/>
            <a:stretch/>
          </p:blipFill>
          <p:spPr>
            <a:xfrm rot="18229742">
              <a:off x="7462263" y="1907472"/>
              <a:ext cx="838736" cy="726884"/>
            </a:xfrm>
            <a:prstGeom prst="rect">
              <a:avLst/>
            </a:prstGeom>
          </p:spPr>
        </p:pic>
        <p:pic>
          <p:nvPicPr>
            <p:cNvPr id="18" name="Graphique 17" descr="Calendrier journalier avec un remplissage uni">
              <a:extLst>
                <a:ext uri="{FF2B5EF4-FFF2-40B4-BE49-F238E27FC236}">
                  <a16:creationId xmlns:a16="http://schemas.microsoft.com/office/drawing/2014/main" id="{557BDD80-8B45-B023-2F7B-8B98E527CC3E}"/>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266526" y="2469352"/>
              <a:ext cx="491841" cy="491841"/>
            </a:xfrm>
            <a:prstGeom prst="rect">
              <a:avLst/>
            </a:prstGeom>
          </p:spPr>
        </p:pic>
        <p:pic>
          <p:nvPicPr>
            <p:cNvPr id="19" name="Graphique 18" descr="Menottes avec un remplissage uni">
              <a:extLst>
                <a:ext uri="{FF2B5EF4-FFF2-40B4-BE49-F238E27FC236}">
                  <a16:creationId xmlns:a16="http://schemas.microsoft.com/office/drawing/2014/main" id="{22F1E536-83CF-1632-DD0C-E12DB644F81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064446" y="3093895"/>
              <a:ext cx="538611" cy="538611"/>
            </a:xfrm>
            <a:prstGeom prst="rect">
              <a:avLst/>
            </a:prstGeom>
          </p:spPr>
        </p:pic>
        <p:pic>
          <p:nvPicPr>
            <p:cNvPr id="20" name="Graphique 19" descr="Marteau d'officiel avec un remplissage uni">
              <a:extLst>
                <a:ext uri="{FF2B5EF4-FFF2-40B4-BE49-F238E27FC236}">
                  <a16:creationId xmlns:a16="http://schemas.microsoft.com/office/drawing/2014/main" id="{28650201-6D37-26A3-32C2-D4953BD6ECB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126450" y="3854695"/>
              <a:ext cx="538610" cy="499611"/>
            </a:xfrm>
            <a:prstGeom prst="rect">
              <a:avLst/>
            </a:prstGeom>
          </p:spPr>
        </p:pic>
      </p:grpSp>
      <p:grpSp>
        <p:nvGrpSpPr>
          <p:cNvPr id="3" name="Gruppo 2">
            <a:extLst>
              <a:ext uri="{FF2B5EF4-FFF2-40B4-BE49-F238E27FC236}">
                <a16:creationId xmlns:a16="http://schemas.microsoft.com/office/drawing/2014/main" id="{7A81879F-35CC-5AFD-CC6B-858FCA9D4FAE}"/>
              </a:ext>
            </a:extLst>
          </p:cNvPr>
          <p:cNvGrpSpPr/>
          <p:nvPr/>
        </p:nvGrpSpPr>
        <p:grpSpPr>
          <a:xfrm>
            <a:off x="214446" y="1346854"/>
            <a:ext cx="11704417" cy="5497063"/>
            <a:chOff x="214446" y="1346854"/>
            <a:chExt cx="11704417" cy="5497063"/>
          </a:xfrm>
        </p:grpSpPr>
        <p:sp>
          <p:nvSpPr>
            <p:cNvPr id="11" name="Rectangle 10">
              <a:extLst>
                <a:ext uri="{FF2B5EF4-FFF2-40B4-BE49-F238E27FC236}">
                  <a16:creationId xmlns:a16="http://schemas.microsoft.com/office/drawing/2014/main" id="{41815D80-6829-079E-FB66-EAC0F80466E4}"/>
                </a:ext>
              </a:extLst>
            </p:cNvPr>
            <p:cNvSpPr/>
            <p:nvPr/>
          </p:nvSpPr>
          <p:spPr>
            <a:xfrm>
              <a:off x="4970352" y="2833554"/>
              <a:ext cx="1120155"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🎯Alignement avec les objectifs stratégiques sous sa responsabilité</a:t>
              </a:r>
            </a:p>
          </p:txBody>
        </p:sp>
        <p:sp>
          <p:nvSpPr>
            <p:cNvPr id="21" name="Rectangle 20">
              <a:extLst>
                <a:ext uri="{FF2B5EF4-FFF2-40B4-BE49-F238E27FC236}">
                  <a16:creationId xmlns:a16="http://schemas.microsoft.com/office/drawing/2014/main" id="{7FF78701-2322-4AA3-9DCB-E8FF055AC994}"/>
                </a:ext>
              </a:extLst>
            </p:cNvPr>
            <p:cNvSpPr/>
            <p:nvPr/>
          </p:nvSpPr>
          <p:spPr>
            <a:xfrm>
              <a:off x="2598898" y="2825359"/>
              <a:ext cx="1120155"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❤️Goût personnel pour le sujet de la Communauté</a:t>
              </a:r>
            </a:p>
          </p:txBody>
        </p:sp>
        <p:sp>
          <p:nvSpPr>
            <p:cNvPr id="22" name="Rectangle 21">
              <a:extLst>
                <a:ext uri="{FF2B5EF4-FFF2-40B4-BE49-F238E27FC236}">
                  <a16:creationId xmlns:a16="http://schemas.microsoft.com/office/drawing/2014/main" id="{B6FF1D35-0FA3-C76F-141B-424A9E8DB189}"/>
                </a:ext>
              </a:extLst>
            </p:cNvPr>
            <p:cNvSpPr/>
            <p:nvPr/>
          </p:nvSpPr>
          <p:spPr>
            <a:xfrm>
              <a:off x="6161847" y="3543318"/>
              <a:ext cx="1120155" cy="106549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🤩Croyance au format Communautés et ses bénéfices pour l’entreprise (directs ou indirects)  et les membres</a:t>
              </a:r>
            </a:p>
          </p:txBody>
        </p:sp>
        <p:sp>
          <p:nvSpPr>
            <p:cNvPr id="23" name="Rectangle 22">
              <a:extLst>
                <a:ext uri="{FF2B5EF4-FFF2-40B4-BE49-F238E27FC236}">
                  <a16:creationId xmlns:a16="http://schemas.microsoft.com/office/drawing/2014/main" id="{D7771453-9B11-859B-EB45-25099AAD0066}"/>
                </a:ext>
              </a:extLst>
            </p:cNvPr>
            <p:cNvSpPr/>
            <p:nvPr/>
          </p:nvSpPr>
          <p:spPr>
            <a:xfrm>
              <a:off x="6155025" y="5566568"/>
              <a:ext cx="1120155" cy="750342"/>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🌟Potentiel d’impact et d’influence plus grand car transverse</a:t>
              </a:r>
            </a:p>
          </p:txBody>
        </p:sp>
        <p:sp>
          <p:nvSpPr>
            <p:cNvPr id="25" name="Rectangle 24">
              <a:extLst>
                <a:ext uri="{FF2B5EF4-FFF2-40B4-BE49-F238E27FC236}">
                  <a16:creationId xmlns:a16="http://schemas.microsoft.com/office/drawing/2014/main" id="{7F18C196-BB19-F15E-D0B0-DA7C6D9AB119}"/>
                </a:ext>
              </a:extLst>
            </p:cNvPr>
            <p:cNvSpPr/>
            <p:nvPr/>
          </p:nvSpPr>
          <p:spPr>
            <a:xfrm>
              <a:off x="2580458" y="4225766"/>
              <a:ext cx="1120155" cy="70435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une forme de responsabilité différente du poste officiel</a:t>
              </a:r>
            </a:p>
          </p:txBody>
        </p:sp>
        <p:sp>
          <p:nvSpPr>
            <p:cNvPr id="26" name="Rectangle 25">
              <a:extLst>
                <a:ext uri="{FF2B5EF4-FFF2-40B4-BE49-F238E27FC236}">
                  <a16:creationId xmlns:a16="http://schemas.microsoft.com/office/drawing/2014/main" id="{0FB0D976-46FE-8C1C-EA54-E80EF39C5666}"/>
                </a:ext>
              </a:extLst>
            </p:cNvPr>
            <p:cNvSpPr/>
            <p:nvPr/>
          </p:nvSpPr>
          <p:spPr>
            <a:xfrm>
              <a:off x="222851" y="2825359"/>
              <a:ext cx="1120155"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Alignement avec les objectifs personnels (carrière, etc.)</a:t>
              </a:r>
            </a:p>
          </p:txBody>
        </p:sp>
        <p:sp>
          <p:nvSpPr>
            <p:cNvPr id="27" name="Rectangle 26">
              <a:extLst>
                <a:ext uri="{FF2B5EF4-FFF2-40B4-BE49-F238E27FC236}">
                  <a16:creationId xmlns:a16="http://schemas.microsoft.com/office/drawing/2014/main" id="{E65D9588-96C5-ADE0-E0A9-5C7528CA26DF}"/>
                </a:ext>
              </a:extLst>
            </p:cNvPr>
            <p:cNvSpPr/>
            <p:nvPr/>
          </p:nvSpPr>
          <p:spPr>
            <a:xfrm>
              <a:off x="8525778" y="4350779"/>
              <a:ext cx="1113383"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⛱️Gestion de son périmètre facilité par les activités de la Communauté</a:t>
              </a:r>
            </a:p>
          </p:txBody>
        </p:sp>
        <p:sp>
          <p:nvSpPr>
            <p:cNvPr id="28" name="Rectangle 27">
              <a:extLst>
                <a:ext uri="{FF2B5EF4-FFF2-40B4-BE49-F238E27FC236}">
                  <a16:creationId xmlns:a16="http://schemas.microsoft.com/office/drawing/2014/main" id="{4A5A8B9D-2DE5-EFCF-A184-030DDA5B5DA9}"/>
                </a:ext>
              </a:extLst>
            </p:cNvPr>
            <p:cNvSpPr/>
            <p:nvPr/>
          </p:nvSpPr>
          <p:spPr>
            <a:xfrm>
              <a:off x="9710615" y="3685596"/>
              <a:ext cx="1120155" cy="780941"/>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une forme de pouvoir différente des formes existantes</a:t>
              </a:r>
            </a:p>
          </p:txBody>
        </p:sp>
        <p:sp>
          <p:nvSpPr>
            <p:cNvPr id="29" name="Rectangle 28">
              <a:extLst>
                <a:ext uri="{FF2B5EF4-FFF2-40B4-BE49-F238E27FC236}">
                  <a16:creationId xmlns:a16="http://schemas.microsoft.com/office/drawing/2014/main" id="{9DF06455-15C7-082C-D799-C9023E4CEF46}"/>
                </a:ext>
              </a:extLst>
            </p:cNvPr>
            <p:cNvSpPr/>
            <p:nvPr/>
          </p:nvSpPr>
          <p:spPr>
            <a:xfrm>
              <a:off x="3775534" y="2837713"/>
              <a:ext cx="1120155"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🤝Lien avec certains membres de la Communauté</a:t>
              </a:r>
            </a:p>
          </p:txBody>
        </p:sp>
        <p:sp>
          <p:nvSpPr>
            <p:cNvPr id="30" name="Rectangle 29">
              <a:extLst>
                <a:ext uri="{FF2B5EF4-FFF2-40B4-BE49-F238E27FC236}">
                  <a16:creationId xmlns:a16="http://schemas.microsoft.com/office/drawing/2014/main" id="{ED29690E-ABBC-8A3C-FF11-B0400A357966}"/>
                </a:ext>
              </a:extLst>
            </p:cNvPr>
            <p:cNvSpPr/>
            <p:nvPr/>
          </p:nvSpPr>
          <p:spPr>
            <a:xfrm>
              <a:off x="1399487" y="2818087"/>
              <a:ext cx="1120155" cy="57110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🎖️Potentiel de mise en valeur / reconnaissance dans l’entreprise</a:t>
              </a:r>
            </a:p>
          </p:txBody>
        </p:sp>
        <p:sp>
          <p:nvSpPr>
            <p:cNvPr id="31" name="Rectangle 30">
              <a:extLst>
                <a:ext uri="{FF2B5EF4-FFF2-40B4-BE49-F238E27FC236}">
                  <a16:creationId xmlns:a16="http://schemas.microsoft.com/office/drawing/2014/main" id="{21297D38-FBD8-BB1E-4C95-813AAC1F911F}"/>
                </a:ext>
              </a:extLst>
            </p:cNvPr>
            <p:cNvSpPr/>
            <p:nvPr/>
          </p:nvSpPr>
          <p:spPr>
            <a:xfrm>
              <a:off x="1399487" y="3442111"/>
              <a:ext cx="1120155" cy="54317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👍Potentiel de mise en valeur / légitimité auprès des membres</a:t>
              </a:r>
            </a:p>
          </p:txBody>
        </p:sp>
        <p:sp>
          <p:nvSpPr>
            <p:cNvPr id="32" name="Rectangle 31">
              <a:extLst>
                <a:ext uri="{FF2B5EF4-FFF2-40B4-BE49-F238E27FC236}">
                  <a16:creationId xmlns:a16="http://schemas.microsoft.com/office/drawing/2014/main" id="{D96C3338-3DC3-1379-8AC3-176B5C9C71ED}"/>
                </a:ext>
              </a:extLst>
            </p:cNvPr>
            <p:cNvSpPr/>
            <p:nvPr/>
          </p:nvSpPr>
          <p:spPr>
            <a:xfrm>
              <a:off x="6155026" y="2835782"/>
              <a:ext cx="1120155"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🌍Adhésion à la cause et/ou au but de la Communauté</a:t>
              </a:r>
            </a:p>
          </p:txBody>
        </p:sp>
        <p:sp>
          <p:nvSpPr>
            <p:cNvPr id="33" name="Rectangle 32">
              <a:extLst>
                <a:ext uri="{FF2B5EF4-FFF2-40B4-BE49-F238E27FC236}">
                  <a16:creationId xmlns:a16="http://schemas.microsoft.com/office/drawing/2014/main" id="{43F3B586-24D6-458E-F239-9711C035E3FB}"/>
                </a:ext>
              </a:extLst>
            </p:cNvPr>
            <p:cNvSpPr/>
            <p:nvPr/>
          </p:nvSpPr>
          <p:spPr>
            <a:xfrm>
              <a:off x="2580459" y="3525563"/>
              <a:ext cx="1120155"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❤️Goût personnel pour certaines activités au format Communautaire</a:t>
              </a:r>
            </a:p>
          </p:txBody>
        </p:sp>
        <p:sp>
          <p:nvSpPr>
            <p:cNvPr id="34" name="Rectangle 33">
              <a:extLst>
                <a:ext uri="{FF2B5EF4-FFF2-40B4-BE49-F238E27FC236}">
                  <a16:creationId xmlns:a16="http://schemas.microsoft.com/office/drawing/2014/main" id="{F17A0809-C115-518C-F7F5-3A0A1676442F}"/>
                </a:ext>
              </a:extLst>
            </p:cNvPr>
            <p:cNvSpPr/>
            <p:nvPr/>
          </p:nvSpPr>
          <p:spPr>
            <a:xfrm>
              <a:off x="8529187" y="2848136"/>
              <a:ext cx="1120155"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⛱️Liberté accrue offerte par le format Communauté</a:t>
              </a:r>
            </a:p>
          </p:txBody>
        </p:sp>
        <p:sp>
          <p:nvSpPr>
            <p:cNvPr id="35" name="Rectangle 34">
              <a:extLst>
                <a:ext uri="{FF2B5EF4-FFF2-40B4-BE49-F238E27FC236}">
                  <a16:creationId xmlns:a16="http://schemas.microsoft.com/office/drawing/2014/main" id="{E2B7D33C-4EA7-22CD-817B-FC0EA04A0FF0}"/>
                </a:ext>
              </a:extLst>
            </p:cNvPr>
            <p:cNvSpPr/>
            <p:nvPr/>
          </p:nvSpPr>
          <p:spPr>
            <a:xfrm>
              <a:off x="1410824" y="4031722"/>
              <a:ext cx="1108817"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🏅Potentiel de reconnaissance par les pairs (même niveau de pouvoir)</a:t>
              </a:r>
            </a:p>
          </p:txBody>
        </p:sp>
        <p:sp>
          <p:nvSpPr>
            <p:cNvPr id="36" name="Rectangle 35">
              <a:extLst>
                <a:ext uri="{FF2B5EF4-FFF2-40B4-BE49-F238E27FC236}">
                  <a16:creationId xmlns:a16="http://schemas.microsoft.com/office/drawing/2014/main" id="{3591E04F-529B-7E76-008F-26059F90F1B5}"/>
                </a:ext>
              </a:extLst>
            </p:cNvPr>
            <p:cNvSpPr/>
            <p:nvPr/>
          </p:nvSpPr>
          <p:spPr>
            <a:xfrm>
              <a:off x="3775534" y="3545249"/>
              <a:ext cx="1120155"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🤝Lien avec les personnes fréquentées par la Communauté</a:t>
              </a:r>
            </a:p>
          </p:txBody>
        </p:sp>
        <p:sp>
          <p:nvSpPr>
            <p:cNvPr id="37" name="Rectangle 36">
              <a:extLst>
                <a:ext uri="{FF2B5EF4-FFF2-40B4-BE49-F238E27FC236}">
                  <a16:creationId xmlns:a16="http://schemas.microsoft.com/office/drawing/2014/main" id="{16874E35-D348-D1FC-2AED-F9E5B3FCCCBC}"/>
                </a:ext>
              </a:extLst>
            </p:cNvPr>
            <p:cNvSpPr/>
            <p:nvPr/>
          </p:nvSpPr>
          <p:spPr>
            <a:xfrm>
              <a:off x="3761333" y="4262872"/>
              <a:ext cx="1120155" cy="51508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🤝Lien avec les personnes servies par la Communauté</a:t>
              </a:r>
            </a:p>
          </p:txBody>
        </p:sp>
        <p:sp>
          <p:nvSpPr>
            <p:cNvPr id="38" name="Rectangle 37">
              <a:extLst>
                <a:ext uri="{FF2B5EF4-FFF2-40B4-BE49-F238E27FC236}">
                  <a16:creationId xmlns:a16="http://schemas.microsoft.com/office/drawing/2014/main" id="{914FCFE0-42C1-D6B6-4720-C6B69BCD7C8F}"/>
                </a:ext>
              </a:extLst>
            </p:cNvPr>
            <p:cNvSpPr/>
            <p:nvPr/>
          </p:nvSpPr>
          <p:spPr>
            <a:xfrm>
              <a:off x="214446" y="3525563"/>
              <a:ext cx="1120155" cy="487728"/>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Développement de son propre réseau</a:t>
              </a:r>
            </a:p>
          </p:txBody>
        </p:sp>
        <p:sp>
          <p:nvSpPr>
            <p:cNvPr id="39" name="Rectangle 38">
              <a:extLst>
                <a:ext uri="{FF2B5EF4-FFF2-40B4-BE49-F238E27FC236}">
                  <a16:creationId xmlns:a16="http://schemas.microsoft.com/office/drawing/2014/main" id="{34993F47-7FCC-A195-CBED-C08632357AE5}"/>
                </a:ext>
              </a:extLst>
            </p:cNvPr>
            <p:cNvSpPr/>
            <p:nvPr/>
          </p:nvSpPr>
          <p:spPr>
            <a:xfrm>
              <a:off x="8519006" y="3567498"/>
              <a:ext cx="1120155" cy="704353"/>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une forme de responsabilité différente du poste officiel</a:t>
              </a:r>
            </a:p>
          </p:txBody>
        </p:sp>
        <p:sp>
          <p:nvSpPr>
            <p:cNvPr id="40" name="Rectangle 39">
              <a:extLst>
                <a:ext uri="{FF2B5EF4-FFF2-40B4-BE49-F238E27FC236}">
                  <a16:creationId xmlns:a16="http://schemas.microsoft.com/office/drawing/2014/main" id="{270B00A3-DCDC-77C7-64B0-C51F384CCEB7}"/>
                </a:ext>
              </a:extLst>
            </p:cNvPr>
            <p:cNvSpPr/>
            <p:nvPr/>
          </p:nvSpPr>
          <p:spPr>
            <a:xfrm>
              <a:off x="7331632" y="2845866"/>
              <a:ext cx="1120155" cy="65278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🎓Développement de nouvelles compétences de Leadership</a:t>
              </a:r>
            </a:p>
          </p:txBody>
        </p:sp>
        <p:sp>
          <p:nvSpPr>
            <p:cNvPr id="41" name="Rectangle 40">
              <a:extLst>
                <a:ext uri="{FF2B5EF4-FFF2-40B4-BE49-F238E27FC236}">
                  <a16:creationId xmlns:a16="http://schemas.microsoft.com/office/drawing/2014/main" id="{4B02E459-6929-11B5-D9BF-06E374BBDA4F}"/>
                </a:ext>
              </a:extLst>
            </p:cNvPr>
            <p:cNvSpPr/>
            <p:nvPr/>
          </p:nvSpPr>
          <p:spPr>
            <a:xfrm>
              <a:off x="7331632" y="3553403"/>
              <a:ext cx="1120155"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🎓Développement de nouvelles compétences liées au sujet de la Communauté</a:t>
              </a:r>
            </a:p>
          </p:txBody>
        </p:sp>
        <p:sp>
          <p:nvSpPr>
            <p:cNvPr id="42" name="Rectangle 41">
              <a:extLst>
                <a:ext uri="{FF2B5EF4-FFF2-40B4-BE49-F238E27FC236}">
                  <a16:creationId xmlns:a16="http://schemas.microsoft.com/office/drawing/2014/main" id="{B033C8E1-C596-2B0C-E7E5-90DA314C1EA1}"/>
                </a:ext>
              </a:extLst>
            </p:cNvPr>
            <p:cNvSpPr/>
            <p:nvPr/>
          </p:nvSpPr>
          <p:spPr>
            <a:xfrm>
              <a:off x="7331632" y="4282547"/>
              <a:ext cx="1120155" cy="852122"/>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🎓Développement de nouvelles compétences sur le format « Communautés » d’entreprise</a:t>
              </a:r>
            </a:p>
          </p:txBody>
        </p:sp>
        <p:sp>
          <p:nvSpPr>
            <p:cNvPr id="43" name="Rectangle 42">
              <a:extLst>
                <a:ext uri="{FF2B5EF4-FFF2-40B4-BE49-F238E27FC236}">
                  <a16:creationId xmlns:a16="http://schemas.microsoft.com/office/drawing/2014/main" id="{2BF9EDCD-2BA8-01AB-2C93-95F6062965CC}"/>
                </a:ext>
              </a:extLst>
            </p:cNvPr>
            <p:cNvSpPr/>
            <p:nvPr/>
          </p:nvSpPr>
          <p:spPr>
            <a:xfrm>
              <a:off x="9710615" y="2835781"/>
              <a:ext cx="1120155" cy="79674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🕊️Adhésion à la Communauté comme moyen de concrétiser les valeurs</a:t>
              </a:r>
            </a:p>
          </p:txBody>
        </p:sp>
        <p:sp>
          <p:nvSpPr>
            <p:cNvPr id="44" name="Rectangle 43">
              <a:extLst>
                <a:ext uri="{FF2B5EF4-FFF2-40B4-BE49-F238E27FC236}">
                  <a16:creationId xmlns:a16="http://schemas.microsoft.com/office/drawing/2014/main" id="{3CEB4A46-D4B3-472F-4BBD-E81E020492D1}"/>
                </a:ext>
              </a:extLst>
            </p:cNvPr>
            <p:cNvSpPr/>
            <p:nvPr/>
          </p:nvSpPr>
          <p:spPr>
            <a:xfrm>
              <a:off x="6161847" y="4675919"/>
              <a:ext cx="1120155" cy="852122"/>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✌️Croyance au format Communauté et ses bénéfices sur l’extérieur de l’entreprise</a:t>
              </a:r>
            </a:p>
          </p:txBody>
        </p:sp>
        <p:sp>
          <p:nvSpPr>
            <p:cNvPr id="45" name="Rectangle 44">
              <a:extLst>
                <a:ext uri="{FF2B5EF4-FFF2-40B4-BE49-F238E27FC236}">
                  <a16:creationId xmlns:a16="http://schemas.microsoft.com/office/drawing/2014/main" id="{D6FFFBBB-4A1E-3FBB-D599-03565B3B9E70}"/>
                </a:ext>
              </a:extLst>
            </p:cNvPr>
            <p:cNvSpPr/>
            <p:nvPr/>
          </p:nvSpPr>
          <p:spPr>
            <a:xfrm>
              <a:off x="1399486" y="4741109"/>
              <a:ext cx="1120155"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👏Potentiel de reconnaissance au-delà de l’entreprise</a:t>
              </a:r>
            </a:p>
          </p:txBody>
        </p:sp>
        <p:pic>
          <p:nvPicPr>
            <p:cNvPr id="47" name="Image 46">
              <a:extLst>
                <a:ext uri="{FF2B5EF4-FFF2-40B4-BE49-F238E27FC236}">
                  <a16:creationId xmlns:a16="http://schemas.microsoft.com/office/drawing/2014/main" id="{0628E1E4-E68D-2B27-56B0-B7B8778C545E}"/>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295673" y="1371347"/>
              <a:ext cx="998001" cy="1409700"/>
            </a:xfrm>
            <a:prstGeom prst="rect">
              <a:avLst/>
            </a:prstGeom>
          </p:spPr>
        </p:pic>
        <p:pic>
          <p:nvPicPr>
            <p:cNvPr id="48" name="Image 47">
              <a:extLst>
                <a:ext uri="{FF2B5EF4-FFF2-40B4-BE49-F238E27FC236}">
                  <a16:creationId xmlns:a16="http://schemas.microsoft.com/office/drawing/2014/main" id="{06376EB7-06A4-CB8C-6475-A4DD3DF3023B}"/>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2641534" y="1367607"/>
              <a:ext cx="998001" cy="1409700"/>
            </a:xfrm>
            <a:prstGeom prst="rect">
              <a:avLst/>
            </a:prstGeom>
          </p:spPr>
        </p:pic>
        <p:pic>
          <p:nvPicPr>
            <p:cNvPr id="49" name="Image 48" descr="Une image contenant texte&#10;&#10;Description générée automatiquement">
              <a:extLst>
                <a:ext uri="{FF2B5EF4-FFF2-40B4-BE49-F238E27FC236}">
                  <a16:creationId xmlns:a16="http://schemas.microsoft.com/office/drawing/2014/main" id="{E33132A3-876D-A921-8A3B-519F0CA5678A}"/>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6222728" y="1378030"/>
              <a:ext cx="998001" cy="1409700"/>
            </a:xfrm>
            <a:prstGeom prst="rect">
              <a:avLst/>
            </a:prstGeom>
          </p:spPr>
        </p:pic>
        <p:pic>
          <p:nvPicPr>
            <p:cNvPr id="50" name="Image 49">
              <a:extLst>
                <a:ext uri="{FF2B5EF4-FFF2-40B4-BE49-F238E27FC236}">
                  <a16:creationId xmlns:a16="http://schemas.microsoft.com/office/drawing/2014/main" id="{835C1130-9BF2-DC6B-2619-A46E04DEEC33}"/>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8586805" y="1378030"/>
              <a:ext cx="998001" cy="1409700"/>
            </a:xfrm>
            <a:prstGeom prst="rect">
              <a:avLst/>
            </a:prstGeom>
          </p:spPr>
        </p:pic>
        <p:pic>
          <p:nvPicPr>
            <p:cNvPr id="51" name="Image 50">
              <a:extLst>
                <a:ext uri="{FF2B5EF4-FFF2-40B4-BE49-F238E27FC236}">
                  <a16:creationId xmlns:a16="http://schemas.microsoft.com/office/drawing/2014/main" id="{EB4EEE4E-7D85-4194-3CC5-321B8241140C}"/>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1486410" y="1346854"/>
              <a:ext cx="998001" cy="1409700"/>
            </a:xfrm>
            <a:prstGeom prst="rect">
              <a:avLst/>
            </a:prstGeom>
          </p:spPr>
        </p:pic>
        <p:pic>
          <p:nvPicPr>
            <p:cNvPr id="52" name="Image 51">
              <a:extLst>
                <a:ext uri="{FF2B5EF4-FFF2-40B4-BE49-F238E27FC236}">
                  <a16:creationId xmlns:a16="http://schemas.microsoft.com/office/drawing/2014/main" id="{2827F177-1762-5A89-DE9A-502B4BD7F0FB}"/>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3840167" y="1367607"/>
              <a:ext cx="998001" cy="1409700"/>
            </a:xfrm>
            <a:prstGeom prst="rect">
              <a:avLst/>
            </a:prstGeom>
          </p:spPr>
        </p:pic>
        <p:pic>
          <p:nvPicPr>
            <p:cNvPr id="53" name="Image 52" descr="Une image contenant texte&#10;&#10;Description générée automatiquement">
              <a:extLst>
                <a:ext uri="{FF2B5EF4-FFF2-40B4-BE49-F238E27FC236}">
                  <a16:creationId xmlns:a16="http://schemas.microsoft.com/office/drawing/2014/main" id="{77AB5529-1B1A-2DF0-2841-5C1B8193CEE8}"/>
                </a:ext>
              </a:extLst>
            </p:cNvPr>
            <p:cNvPicPr>
              <a:picLocks noChangeAspect="1"/>
            </p:cNvPicPr>
            <p:nvPr/>
          </p:nvPicPr>
          <p:blipFill>
            <a:blip r:embed="rId24">
              <a:extLst>
                <a:ext uri="{28A0092B-C50C-407E-A947-70E740481C1C}">
                  <a14:useLocalDpi xmlns:a14="http://schemas.microsoft.com/office/drawing/2010/main" val="0"/>
                </a:ext>
              </a:extLst>
            </a:blip>
            <a:stretch>
              <a:fillRect/>
            </a:stretch>
          </p:blipFill>
          <p:spPr>
            <a:xfrm>
              <a:off x="7430852" y="1378030"/>
              <a:ext cx="998001" cy="1409700"/>
            </a:xfrm>
            <a:prstGeom prst="rect">
              <a:avLst/>
            </a:prstGeom>
          </p:spPr>
        </p:pic>
        <p:pic>
          <p:nvPicPr>
            <p:cNvPr id="54" name="Image 53" descr="Une image contenant texte&#10;&#10;Description générée automatiquement">
              <a:extLst>
                <a:ext uri="{FF2B5EF4-FFF2-40B4-BE49-F238E27FC236}">
                  <a16:creationId xmlns:a16="http://schemas.microsoft.com/office/drawing/2014/main" id="{C572C234-7297-0E37-42A2-03BE8CAE520E}"/>
                </a:ext>
              </a:extLst>
            </p:cNvPr>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9769599" y="1381770"/>
              <a:ext cx="998001" cy="1409700"/>
            </a:xfrm>
            <a:prstGeom prst="rect">
              <a:avLst/>
            </a:prstGeom>
          </p:spPr>
        </p:pic>
        <p:sp>
          <p:nvSpPr>
            <p:cNvPr id="55" name="Rectangle 54">
              <a:extLst>
                <a:ext uri="{FF2B5EF4-FFF2-40B4-BE49-F238E27FC236}">
                  <a16:creationId xmlns:a16="http://schemas.microsoft.com/office/drawing/2014/main" id="{98B8B59D-028A-9B94-2530-6AB88A97EFCE}"/>
                </a:ext>
              </a:extLst>
            </p:cNvPr>
            <p:cNvSpPr/>
            <p:nvPr/>
          </p:nvSpPr>
          <p:spPr>
            <a:xfrm>
              <a:off x="11028612" y="1519509"/>
              <a:ext cx="890251" cy="1261537"/>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sp>
          <p:nvSpPr>
            <p:cNvPr id="56" name="Rectangle 55">
              <a:extLst>
                <a:ext uri="{FF2B5EF4-FFF2-40B4-BE49-F238E27FC236}">
                  <a16:creationId xmlns:a16="http://schemas.microsoft.com/office/drawing/2014/main" id="{3A93757E-CFA6-6256-C533-24CA68275D74}"/>
                </a:ext>
              </a:extLst>
            </p:cNvPr>
            <p:cNvSpPr/>
            <p:nvPr/>
          </p:nvSpPr>
          <p:spPr>
            <a:xfrm>
              <a:off x="3761333" y="4828094"/>
              <a:ext cx="1120155" cy="97545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👋Possibilité de nouvelles rencontres dans l’entreprise et extérieures grâce à la Communauté</a:t>
              </a:r>
            </a:p>
          </p:txBody>
        </p:sp>
        <p:sp>
          <p:nvSpPr>
            <p:cNvPr id="57" name="Rectangle 56">
              <a:extLst>
                <a:ext uri="{FF2B5EF4-FFF2-40B4-BE49-F238E27FC236}">
                  <a16:creationId xmlns:a16="http://schemas.microsoft.com/office/drawing/2014/main" id="{E484BD16-C26E-1896-75F9-0094EAB6BC91}"/>
                </a:ext>
              </a:extLst>
            </p:cNvPr>
            <p:cNvSpPr/>
            <p:nvPr/>
          </p:nvSpPr>
          <p:spPr>
            <a:xfrm>
              <a:off x="3761333" y="5853691"/>
              <a:ext cx="1120155" cy="75596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😀Accès à des formes de relations différentes qu’avec un rôle hiérarchique</a:t>
              </a:r>
            </a:p>
          </p:txBody>
        </p:sp>
        <p:sp>
          <p:nvSpPr>
            <p:cNvPr id="58" name="Rectangle 57">
              <a:extLst>
                <a:ext uri="{FF2B5EF4-FFF2-40B4-BE49-F238E27FC236}">
                  <a16:creationId xmlns:a16="http://schemas.microsoft.com/office/drawing/2014/main" id="{8BCF4CD3-FA65-0CDF-0A08-4E4C5FAA8105}"/>
                </a:ext>
              </a:extLst>
            </p:cNvPr>
            <p:cNvSpPr/>
            <p:nvPr/>
          </p:nvSpPr>
          <p:spPr>
            <a:xfrm>
              <a:off x="1399487" y="5452968"/>
              <a:ext cx="1131492" cy="571105"/>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valeur des membres de sa Communauté dans l’entreprise</a:t>
              </a:r>
            </a:p>
          </p:txBody>
        </p:sp>
        <p:sp>
          <p:nvSpPr>
            <p:cNvPr id="59" name="Rectangle 58">
              <a:extLst>
                <a:ext uri="{FF2B5EF4-FFF2-40B4-BE49-F238E27FC236}">
                  <a16:creationId xmlns:a16="http://schemas.microsoft.com/office/drawing/2014/main" id="{59444757-23E5-A251-EB85-0EF9F1047607}"/>
                </a:ext>
              </a:extLst>
            </p:cNvPr>
            <p:cNvSpPr/>
            <p:nvPr/>
          </p:nvSpPr>
          <p:spPr>
            <a:xfrm>
              <a:off x="6145065" y="6355437"/>
              <a:ext cx="1120155" cy="488480"/>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Mise en valeur des membres de sa Communauté</a:t>
              </a:r>
            </a:p>
          </p:txBody>
        </p:sp>
        <p:pic>
          <p:nvPicPr>
            <p:cNvPr id="61" name="Image 60" descr="Une image contenant texte&#10;&#10;Description générée automatiquement">
              <a:extLst>
                <a:ext uri="{FF2B5EF4-FFF2-40B4-BE49-F238E27FC236}">
                  <a16:creationId xmlns:a16="http://schemas.microsoft.com/office/drawing/2014/main" id="{BE3864C3-55BB-8BF5-BE3F-0C899EFAC1A4}"/>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5048291" y="1353197"/>
              <a:ext cx="998646" cy="1397013"/>
            </a:xfrm>
            <a:prstGeom prst="rect">
              <a:avLst/>
            </a:prstGeom>
          </p:spPr>
        </p:pic>
        <p:sp>
          <p:nvSpPr>
            <p:cNvPr id="60" name="Rectangle 59">
              <a:extLst>
                <a:ext uri="{FF2B5EF4-FFF2-40B4-BE49-F238E27FC236}">
                  <a16:creationId xmlns:a16="http://schemas.microsoft.com/office/drawing/2014/main" id="{5F924B32-7755-9B77-7389-BB7D86D46217}"/>
                </a:ext>
              </a:extLst>
            </p:cNvPr>
            <p:cNvSpPr/>
            <p:nvPr/>
          </p:nvSpPr>
          <p:spPr>
            <a:xfrm>
              <a:off x="4973250" y="3525563"/>
              <a:ext cx="1113383" cy="64043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⛱️Gestion de son périmètre facilité par les activités de la Communauté</a:t>
              </a:r>
            </a:p>
          </p:txBody>
        </p:sp>
      </p:grpSp>
    </p:spTree>
    <p:extLst>
      <p:ext uri="{BB962C8B-B14F-4D97-AF65-F5344CB8AC3E}">
        <p14:creationId xmlns:p14="http://schemas.microsoft.com/office/powerpoint/2010/main" val="171179146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EC728C8-D73B-3943-A9DE-9EE3507D5679}"/>
              </a:ext>
            </a:extLst>
          </p:cNvPr>
          <p:cNvSpPr>
            <a:spLocks noGrp="1"/>
          </p:cNvSpPr>
          <p:nvPr>
            <p:ph type="title"/>
          </p:nvPr>
        </p:nvSpPr>
        <p:spPr>
          <a:xfrm>
            <a:off x="183858" y="103403"/>
            <a:ext cx="3656185" cy="1325563"/>
          </a:xfrm>
        </p:spPr>
        <p:txBody>
          <a:bodyPr>
            <a:normAutofit/>
          </a:bodyPr>
          <a:lstStyle/>
          <a:p>
            <a:r>
              <a:rPr lang="fr-FR" dirty="0"/>
              <a:t>Donner un rôle aux sponsors</a:t>
            </a:r>
          </a:p>
        </p:txBody>
      </p:sp>
      <p:sp>
        <p:nvSpPr>
          <p:cNvPr id="3" name="Espace réservé du contenu 2">
            <a:extLst>
              <a:ext uri="{FF2B5EF4-FFF2-40B4-BE49-F238E27FC236}">
                <a16:creationId xmlns:a16="http://schemas.microsoft.com/office/drawing/2014/main" id="{1AFDCEF8-5BAC-CB42-9141-3479B7C6AD3C}"/>
              </a:ext>
            </a:extLst>
          </p:cNvPr>
          <p:cNvSpPr>
            <a:spLocks noGrp="1"/>
          </p:cNvSpPr>
          <p:nvPr>
            <p:ph idx="1"/>
          </p:nvPr>
        </p:nvSpPr>
        <p:spPr>
          <a:xfrm>
            <a:off x="355714" y="1653242"/>
            <a:ext cx="2938697" cy="4758002"/>
          </a:xfrm>
        </p:spPr>
        <p:txBody>
          <a:bodyPr>
            <a:normAutofit/>
          </a:bodyPr>
          <a:lstStyle/>
          <a:p>
            <a:pPr marL="0" indent="0">
              <a:buNone/>
            </a:pPr>
            <a:r>
              <a:rPr lang="fr-FR" sz="1800" dirty="0"/>
              <a:t> Les rôles des sponsors décrivent les formes d’intervention du sponsor vis-à-vis de la Communauté.</a:t>
            </a:r>
          </a:p>
          <a:p>
            <a:pPr marL="0" indent="0">
              <a:buNone/>
            </a:pPr>
            <a:endParaRPr lang="fr-FR" sz="1800" dirty="0"/>
          </a:p>
          <a:p>
            <a:pPr marL="0" indent="0">
              <a:buNone/>
            </a:pPr>
            <a:r>
              <a:rPr lang="fr-FR" sz="1800" dirty="0"/>
              <a:t>Les formes d’intervention d’un sponsor vont dépendre de la valeur de la Communauté pour lui/elle et de sa capacité d’intervention.</a:t>
            </a:r>
          </a:p>
          <a:p>
            <a:pPr marL="0" indent="0">
              <a:buNone/>
            </a:pPr>
            <a:endParaRPr lang="fr-FR" sz="1800" dirty="0"/>
          </a:p>
          <a:p>
            <a:pPr marL="0" indent="0">
              <a:buNone/>
            </a:pPr>
            <a:r>
              <a:rPr lang="fr-FR" sz="1800" dirty="0"/>
              <a:t>Une communauté d’entreprise peut activement chercher à donner un rôle à ses sponsors.</a:t>
            </a:r>
          </a:p>
        </p:txBody>
      </p:sp>
      <p:grpSp>
        <p:nvGrpSpPr>
          <p:cNvPr id="45" name="Groupe 44">
            <a:extLst>
              <a:ext uri="{FF2B5EF4-FFF2-40B4-BE49-F238E27FC236}">
                <a16:creationId xmlns:a16="http://schemas.microsoft.com/office/drawing/2014/main" id="{8707A05F-C8EC-1D5F-7ACE-79AA79A66AC0}"/>
              </a:ext>
            </a:extLst>
          </p:cNvPr>
          <p:cNvGrpSpPr/>
          <p:nvPr/>
        </p:nvGrpSpPr>
        <p:grpSpPr>
          <a:xfrm>
            <a:off x="6835953" y="263011"/>
            <a:ext cx="1972478" cy="1390231"/>
            <a:chOff x="7771323" y="789003"/>
            <a:chExt cx="3577777" cy="2521669"/>
          </a:xfrm>
        </p:grpSpPr>
        <p:pic>
          <p:nvPicPr>
            <p:cNvPr id="46" name="Graphique 45" descr="Employée de bureau avec un remplissage uni">
              <a:extLst>
                <a:ext uri="{FF2B5EF4-FFF2-40B4-BE49-F238E27FC236}">
                  <a16:creationId xmlns:a16="http://schemas.microsoft.com/office/drawing/2014/main" id="{27F2D343-7EA1-399D-E91E-FA5E10ED0FF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771323" y="789003"/>
              <a:ext cx="2521669" cy="2521669"/>
            </a:xfrm>
            <a:prstGeom prst="rect">
              <a:avLst/>
            </a:prstGeom>
          </p:spPr>
        </p:pic>
        <p:sp>
          <p:nvSpPr>
            <p:cNvPr id="47" name="Rectangle 46">
              <a:extLst>
                <a:ext uri="{FF2B5EF4-FFF2-40B4-BE49-F238E27FC236}">
                  <a16:creationId xmlns:a16="http://schemas.microsoft.com/office/drawing/2014/main" id="{76D8485B-6E0D-A9AC-D0FE-350C899A157D}"/>
                </a:ext>
              </a:extLst>
            </p:cNvPr>
            <p:cNvSpPr/>
            <p:nvPr/>
          </p:nvSpPr>
          <p:spPr>
            <a:xfrm rot="7542486">
              <a:off x="9308974" y="2157040"/>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48" name="Graphique 47" descr="Mégaphone avec un remplissage uni">
              <a:extLst>
                <a:ext uri="{FF2B5EF4-FFF2-40B4-BE49-F238E27FC236}">
                  <a16:creationId xmlns:a16="http://schemas.microsoft.com/office/drawing/2014/main" id="{8FEDC0C1-B2CB-920E-38CA-343AB160212E}"/>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t="14658"/>
            <a:stretch/>
          </p:blipFill>
          <p:spPr>
            <a:xfrm rot="2220631">
              <a:off x="9459956" y="878072"/>
              <a:ext cx="1889144" cy="1612225"/>
            </a:xfrm>
            <a:prstGeom prst="rect">
              <a:avLst/>
            </a:prstGeom>
          </p:spPr>
        </p:pic>
      </p:grpSp>
      <p:grpSp>
        <p:nvGrpSpPr>
          <p:cNvPr id="49" name="Groupe 48">
            <a:extLst>
              <a:ext uri="{FF2B5EF4-FFF2-40B4-BE49-F238E27FC236}">
                <a16:creationId xmlns:a16="http://schemas.microsoft.com/office/drawing/2014/main" id="{571D4C5A-F367-2E63-078E-EAC11C5D8242}"/>
              </a:ext>
            </a:extLst>
          </p:cNvPr>
          <p:cNvGrpSpPr/>
          <p:nvPr/>
        </p:nvGrpSpPr>
        <p:grpSpPr>
          <a:xfrm>
            <a:off x="9071405" y="144345"/>
            <a:ext cx="2292421" cy="1646987"/>
            <a:chOff x="7814209" y="3711178"/>
            <a:chExt cx="3870761" cy="2780943"/>
          </a:xfrm>
        </p:grpSpPr>
        <p:pic>
          <p:nvPicPr>
            <p:cNvPr id="50" name="Graphique 49" descr="Employée de bureau avec un remplissage uni">
              <a:extLst>
                <a:ext uri="{FF2B5EF4-FFF2-40B4-BE49-F238E27FC236}">
                  <a16:creationId xmlns:a16="http://schemas.microsoft.com/office/drawing/2014/main" id="{BB16CD05-1E25-D2D5-92AB-22103F26C3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14209" y="3970452"/>
              <a:ext cx="2521669" cy="2521669"/>
            </a:xfrm>
            <a:prstGeom prst="rect">
              <a:avLst/>
            </a:prstGeom>
          </p:spPr>
        </p:pic>
        <p:sp>
          <p:nvSpPr>
            <p:cNvPr id="51" name="Rectangle 50">
              <a:extLst>
                <a:ext uri="{FF2B5EF4-FFF2-40B4-BE49-F238E27FC236}">
                  <a16:creationId xmlns:a16="http://schemas.microsoft.com/office/drawing/2014/main" id="{AA9B85AD-7E45-F78D-CD74-83EEED2992E5}"/>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52" name="Graphique 51" descr="Tirelire avec un remplissage uni">
              <a:extLst>
                <a:ext uri="{FF2B5EF4-FFF2-40B4-BE49-F238E27FC236}">
                  <a16:creationId xmlns:a16="http://schemas.microsoft.com/office/drawing/2014/main" id="{B58687D5-DDC1-2D36-0F04-046D54F77FE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flipH="1">
              <a:off x="9504273" y="3711178"/>
              <a:ext cx="2180697" cy="1970254"/>
            </a:xfrm>
            <a:prstGeom prst="rect">
              <a:avLst/>
            </a:prstGeom>
          </p:spPr>
        </p:pic>
      </p:grpSp>
      <p:grpSp>
        <p:nvGrpSpPr>
          <p:cNvPr id="53" name="Groupe 52">
            <a:extLst>
              <a:ext uri="{FF2B5EF4-FFF2-40B4-BE49-F238E27FC236}">
                <a16:creationId xmlns:a16="http://schemas.microsoft.com/office/drawing/2014/main" id="{57840154-6187-DA90-ABFA-1CFD318D6C27}"/>
              </a:ext>
            </a:extLst>
          </p:cNvPr>
          <p:cNvGrpSpPr/>
          <p:nvPr/>
        </p:nvGrpSpPr>
        <p:grpSpPr>
          <a:xfrm>
            <a:off x="4498848" y="139989"/>
            <a:ext cx="2091909" cy="1611654"/>
            <a:chOff x="1822045" y="3697163"/>
            <a:chExt cx="3786095" cy="2916894"/>
          </a:xfrm>
        </p:grpSpPr>
        <p:pic>
          <p:nvPicPr>
            <p:cNvPr id="54" name="Graphique 53" descr="Employée de bureau avec un remplissage uni">
              <a:extLst>
                <a:ext uri="{FF2B5EF4-FFF2-40B4-BE49-F238E27FC236}">
                  <a16:creationId xmlns:a16="http://schemas.microsoft.com/office/drawing/2014/main" id="{EBD8DD0A-DD5F-8984-2096-7450A7B99B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22045" y="4092388"/>
              <a:ext cx="2521669" cy="2521669"/>
            </a:xfrm>
            <a:prstGeom prst="rect">
              <a:avLst/>
            </a:prstGeom>
          </p:spPr>
        </p:pic>
        <p:sp>
          <p:nvSpPr>
            <p:cNvPr id="55" name="Rectangle 54">
              <a:extLst>
                <a:ext uri="{FF2B5EF4-FFF2-40B4-BE49-F238E27FC236}">
                  <a16:creationId xmlns:a16="http://schemas.microsoft.com/office/drawing/2014/main" id="{7F0CE59C-33B9-3E0D-FE12-AAD2AC262935}"/>
                </a:ext>
              </a:extLst>
            </p:cNvPr>
            <p:cNvSpPr/>
            <p:nvPr/>
          </p:nvSpPr>
          <p:spPr>
            <a:xfrm rot="7249682">
              <a:off x="3286580" y="5342828"/>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56" name="Graphique 55" descr="Bouclier avec un remplissage uni">
              <a:extLst>
                <a:ext uri="{FF2B5EF4-FFF2-40B4-BE49-F238E27FC236}">
                  <a16:creationId xmlns:a16="http://schemas.microsoft.com/office/drawing/2014/main" id="{E3B44163-9217-AAA3-EA2E-DF68D6D32F1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482921" y="3697163"/>
              <a:ext cx="2125219" cy="2125219"/>
            </a:xfrm>
            <a:prstGeom prst="rect">
              <a:avLst/>
            </a:prstGeom>
          </p:spPr>
        </p:pic>
        <p:pic>
          <p:nvPicPr>
            <p:cNvPr id="57" name="Graphique 56" descr="Calendrier journalier avec un remplissage uni">
              <a:extLst>
                <a:ext uri="{FF2B5EF4-FFF2-40B4-BE49-F238E27FC236}">
                  <a16:creationId xmlns:a16="http://schemas.microsoft.com/office/drawing/2014/main" id="{043BA1AE-94FA-4ECD-B3CA-5A4017A94DDF}"/>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4016050" y="4171671"/>
              <a:ext cx="1058961" cy="1058961"/>
            </a:xfrm>
            <a:prstGeom prst="rect">
              <a:avLst/>
            </a:prstGeom>
          </p:spPr>
        </p:pic>
      </p:grpSp>
      <p:grpSp>
        <p:nvGrpSpPr>
          <p:cNvPr id="58" name="Groupe 57">
            <a:extLst>
              <a:ext uri="{FF2B5EF4-FFF2-40B4-BE49-F238E27FC236}">
                <a16:creationId xmlns:a16="http://schemas.microsoft.com/office/drawing/2014/main" id="{6D8AF6AD-E9E2-454B-D483-00F39C591670}"/>
              </a:ext>
            </a:extLst>
          </p:cNvPr>
          <p:cNvGrpSpPr/>
          <p:nvPr/>
        </p:nvGrpSpPr>
        <p:grpSpPr>
          <a:xfrm>
            <a:off x="6679831" y="2412700"/>
            <a:ext cx="2349935" cy="1785141"/>
            <a:chOff x="7771323" y="635824"/>
            <a:chExt cx="3521133" cy="2674848"/>
          </a:xfrm>
        </p:grpSpPr>
        <p:pic>
          <p:nvPicPr>
            <p:cNvPr id="59" name="Graphique 58" descr="Employée de bureau avec un remplissage uni">
              <a:extLst>
                <a:ext uri="{FF2B5EF4-FFF2-40B4-BE49-F238E27FC236}">
                  <a16:creationId xmlns:a16="http://schemas.microsoft.com/office/drawing/2014/main" id="{DB72D487-3F97-48FC-82DE-25DA91A1A1A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15511"/>
            <a:stretch/>
          </p:blipFill>
          <p:spPr>
            <a:xfrm>
              <a:off x="7771323" y="1180130"/>
              <a:ext cx="2521669" cy="2130542"/>
            </a:xfrm>
            <a:prstGeom prst="rect">
              <a:avLst/>
            </a:prstGeom>
          </p:spPr>
        </p:pic>
        <p:sp>
          <p:nvSpPr>
            <p:cNvPr id="60" name="Rectangle 59">
              <a:extLst>
                <a:ext uri="{FF2B5EF4-FFF2-40B4-BE49-F238E27FC236}">
                  <a16:creationId xmlns:a16="http://schemas.microsoft.com/office/drawing/2014/main" id="{A0465C41-8680-42EC-B642-A951775267E6}"/>
                </a:ext>
              </a:extLst>
            </p:cNvPr>
            <p:cNvSpPr/>
            <p:nvPr/>
          </p:nvSpPr>
          <p:spPr>
            <a:xfrm rot="7542486">
              <a:off x="9308974" y="2157040"/>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61" name="Graphique 60" descr="Couronne avec un remplissage uni">
              <a:extLst>
                <a:ext uri="{FF2B5EF4-FFF2-40B4-BE49-F238E27FC236}">
                  <a16:creationId xmlns:a16="http://schemas.microsoft.com/office/drawing/2014/main" id="{6A024DB7-1728-6913-976A-C38717C4E9A9}"/>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flipV="1">
              <a:off x="8048907" y="961936"/>
              <a:ext cx="1921432" cy="594363"/>
            </a:xfrm>
            <a:prstGeom prst="rect">
              <a:avLst/>
            </a:prstGeom>
          </p:spPr>
        </p:pic>
        <p:pic>
          <p:nvPicPr>
            <p:cNvPr id="62" name="Graphique 61" descr="Employée de bureau avec un remplissage uni">
              <a:extLst>
                <a:ext uri="{FF2B5EF4-FFF2-40B4-BE49-F238E27FC236}">
                  <a16:creationId xmlns:a16="http://schemas.microsoft.com/office/drawing/2014/main" id="{4981D3B9-95B7-8D1F-05F9-C59FA214D14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07" b="79737"/>
            <a:stretch/>
          </p:blipFill>
          <p:spPr>
            <a:xfrm>
              <a:off x="7771323" y="717379"/>
              <a:ext cx="2521669" cy="594363"/>
            </a:xfrm>
            <a:prstGeom prst="rect">
              <a:avLst/>
            </a:prstGeom>
          </p:spPr>
        </p:pic>
        <p:pic>
          <p:nvPicPr>
            <p:cNvPr id="63" name="Graphique 62" descr="Index pointant vers la droite vu du côté du dos de la main avec un remplissage uni">
              <a:extLst>
                <a:ext uri="{FF2B5EF4-FFF2-40B4-BE49-F238E27FC236}">
                  <a16:creationId xmlns:a16="http://schemas.microsoft.com/office/drawing/2014/main" id="{66EF3DB5-DA97-D239-C028-00BB171E32B3}"/>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t="13336"/>
            <a:stretch/>
          </p:blipFill>
          <p:spPr>
            <a:xfrm rot="18229742">
              <a:off x="9994179" y="728577"/>
              <a:ext cx="1391029" cy="1205524"/>
            </a:xfrm>
            <a:prstGeom prst="rect">
              <a:avLst/>
            </a:prstGeom>
          </p:spPr>
        </p:pic>
      </p:grpSp>
      <p:grpSp>
        <p:nvGrpSpPr>
          <p:cNvPr id="64" name="Groupe 63">
            <a:extLst>
              <a:ext uri="{FF2B5EF4-FFF2-40B4-BE49-F238E27FC236}">
                <a16:creationId xmlns:a16="http://schemas.microsoft.com/office/drawing/2014/main" id="{4D14B12F-757E-5D16-428D-6F5D213B700A}"/>
              </a:ext>
            </a:extLst>
          </p:cNvPr>
          <p:cNvGrpSpPr/>
          <p:nvPr/>
        </p:nvGrpSpPr>
        <p:grpSpPr>
          <a:xfrm>
            <a:off x="4397837" y="2524542"/>
            <a:ext cx="1973039" cy="1623467"/>
            <a:chOff x="1872074" y="789004"/>
            <a:chExt cx="3064646" cy="2521669"/>
          </a:xfrm>
        </p:grpSpPr>
        <p:pic>
          <p:nvPicPr>
            <p:cNvPr id="65" name="Graphique 64" descr="Employée de bureau avec un remplissage uni">
              <a:extLst>
                <a:ext uri="{FF2B5EF4-FFF2-40B4-BE49-F238E27FC236}">
                  <a16:creationId xmlns:a16="http://schemas.microsoft.com/office/drawing/2014/main" id="{3D99277E-6A72-6911-8E0C-ECFE4DA05CD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72074" y="789004"/>
              <a:ext cx="2521669" cy="2521669"/>
            </a:xfrm>
            <a:prstGeom prst="rect">
              <a:avLst/>
            </a:prstGeom>
          </p:spPr>
        </p:pic>
        <p:sp>
          <p:nvSpPr>
            <p:cNvPr id="66" name="Rectangle 65">
              <a:extLst>
                <a:ext uri="{FF2B5EF4-FFF2-40B4-BE49-F238E27FC236}">
                  <a16:creationId xmlns:a16="http://schemas.microsoft.com/office/drawing/2014/main" id="{15905FFB-CDFC-53CB-AF76-BB284177D2F7}"/>
                </a:ext>
              </a:extLst>
            </p:cNvPr>
            <p:cNvSpPr/>
            <p:nvPr/>
          </p:nvSpPr>
          <p:spPr>
            <a:xfrm rot="7249682">
              <a:off x="3346632" y="2089907"/>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67" name="Graphique 66" descr="Signe pouce en haut avec un remplissage uni">
              <a:extLst>
                <a:ext uri="{FF2B5EF4-FFF2-40B4-BE49-F238E27FC236}">
                  <a16:creationId xmlns:a16="http://schemas.microsoft.com/office/drawing/2014/main" id="{808CFEEE-24A4-FC6B-F3B5-4E94505BB7A3}"/>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rot="18059647">
              <a:off x="3940973" y="810751"/>
              <a:ext cx="995747" cy="995747"/>
            </a:xfrm>
            <a:prstGeom prst="rect">
              <a:avLst/>
            </a:prstGeom>
          </p:spPr>
        </p:pic>
      </p:grpSp>
      <p:grpSp>
        <p:nvGrpSpPr>
          <p:cNvPr id="68" name="Groupe 67">
            <a:extLst>
              <a:ext uri="{FF2B5EF4-FFF2-40B4-BE49-F238E27FC236}">
                <a16:creationId xmlns:a16="http://schemas.microsoft.com/office/drawing/2014/main" id="{5D378836-5E60-7B52-869B-58E18A210217}"/>
              </a:ext>
            </a:extLst>
          </p:cNvPr>
          <p:cNvGrpSpPr/>
          <p:nvPr/>
        </p:nvGrpSpPr>
        <p:grpSpPr>
          <a:xfrm>
            <a:off x="9038675" y="2437990"/>
            <a:ext cx="2489922" cy="1748559"/>
            <a:chOff x="1822045" y="3936873"/>
            <a:chExt cx="3812269" cy="2677184"/>
          </a:xfrm>
        </p:grpSpPr>
        <p:pic>
          <p:nvPicPr>
            <p:cNvPr id="69" name="Graphique 68" descr="Employée de bureau avec un remplissage uni">
              <a:extLst>
                <a:ext uri="{FF2B5EF4-FFF2-40B4-BE49-F238E27FC236}">
                  <a16:creationId xmlns:a16="http://schemas.microsoft.com/office/drawing/2014/main" id="{B3D5FF42-2C8B-1AA6-38B1-40623A65B0F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22045" y="4092388"/>
              <a:ext cx="2521669" cy="2521669"/>
            </a:xfrm>
            <a:prstGeom prst="rect">
              <a:avLst/>
            </a:prstGeom>
          </p:spPr>
        </p:pic>
        <p:sp>
          <p:nvSpPr>
            <p:cNvPr id="70" name="Rectangle 69">
              <a:extLst>
                <a:ext uri="{FF2B5EF4-FFF2-40B4-BE49-F238E27FC236}">
                  <a16:creationId xmlns:a16="http://schemas.microsoft.com/office/drawing/2014/main" id="{82C013CC-5E02-3B84-FC6F-2B9CA0428D52}"/>
                </a:ext>
              </a:extLst>
            </p:cNvPr>
            <p:cNvSpPr/>
            <p:nvPr/>
          </p:nvSpPr>
          <p:spPr>
            <a:xfrm rot="7249682">
              <a:off x="3286580" y="5342828"/>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71" name="Graphique 70" descr="Marteau d'officiel avec un remplissage uni">
              <a:extLst>
                <a:ext uri="{FF2B5EF4-FFF2-40B4-BE49-F238E27FC236}">
                  <a16:creationId xmlns:a16="http://schemas.microsoft.com/office/drawing/2014/main" id="{EF6EDE59-55DE-4B90-76AA-5FB0AEB8D19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flipH="1">
              <a:off x="3943871" y="3936873"/>
              <a:ext cx="1690443" cy="1556691"/>
            </a:xfrm>
            <a:prstGeom prst="rect">
              <a:avLst/>
            </a:prstGeom>
          </p:spPr>
        </p:pic>
      </p:grpSp>
      <p:grpSp>
        <p:nvGrpSpPr>
          <p:cNvPr id="72" name="Groupe 71">
            <a:extLst>
              <a:ext uri="{FF2B5EF4-FFF2-40B4-BE49-F238E27FC236}">
                <a16:creationId xmlns:a16="http://schemas.microsoft.com/office/drawing/2014/main" id="{04A9D7B9-3D1C-27A5-F7F4-C535C8B689C1}"/>
              </a:ext>
            </a:extLst>
          </p:cNvPr>
          <p:cNvGrpSpPr/>
          <p:nvPr/>
        </p:nvGrpSpPr>
        <p:grpSpPr>
          <a:xfrm>
            <a:off x="4418605" y="4592486"/>
            <a:ext cx="2411953" cy="1668182"/>
            <a:chOff x="7814209" y="3970452"/>
            <a:chExt cx="3645974" cy="2521669"/>
          </a:xfrm>
        </p:grpSpPr>
        <p:pic>
          <p:nvPicPr>
            <p:cNvPr id="73" name="Graphique 72" descr="Employée de bureau avec un remplissage uni">
              <a:extLst>
                <a:ext uri="{FF2B5EF4-FFF2-40B4-BE49-F238E27FC236}">
                  <a16:creationId xmlns:a16="http://schemas.microsoft.com/office/drawing/2014/main" id="{535B92B6-73A8-1A40-A06A-234847E6BF6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14209" y="3970452"/>
              <a:ext cx="2521669" cy="2521669"/>
            </a:xfrm>
            <a:prstGeom prst="rect">
              <a:avLst/>
            </a:prstGeom>
          </p:spPr>
        </p:pic>
        <p:sp>
          <p:nvSpPr>
            <p:cNvPr id="74" name="Rectangle 73">
              <a:extLst>
                <a:ext uri="{FF2B5EF4-FFF2-40B4-BE49-F238E27FC236}">
                  <a16:creationId xmlns:a16="http://schemas.microsoft.com/office/drawing/2014/main" id="{24315268-975F-72C1-703C-2E1D0A6090E4}"/>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75" name="Graphique 74" descr="Menottes avec un remplissage uni">
              <a:extLst>
                <a:ext uri="{FF2B5EF4-FFF2-40B4-BE49-F238E27FC236}">
                  <a16:creationId xmlns:a16="http://schemas.microsoft.com/office/drawing/2014/main" id="{AAF2B838-8B03-92AE-9C92-8E02D04721BB}"/>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9781974" y="4544150"/>
              <a:ext cx="1678209" cy="1678209"/>
            </a:xfrm>
            <a:prstGeom prst="rect">
              <a:avLst/>
            </a:prstGeom>
          </p:spPr>
        </p:pic>
      </p:grpSp>
      <p:sp>
        <p:nvSpPr>
          <p:cNvPr id="76" name="Rectangle 75">
            <a:extLst>
              <a:ext uri="{FF2B5EF4-FFF2-40B4-BE49-F238E27FC236}">
                <a16:creationId xmlns:a16="http://schemas.microsoft.com/office/drawing/2014/main" id="{0572D71D-FB1B-764D-6B50-9403F3537D90}"/>
              </a:ext>
            </a:extLst>
          </p:cNvPr>
          <p:cNvSpPr/>
          <p:nvPr/>
        </p:nvSpPr>
        <p:spPr>
          <a:xfrm>
            <a:off x="4318275"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dirty="0">
                <a:solidFill>
                  <a:schemeClr val="tx1"/>
                </a:solidFill>
              </a:rPr>
              <a:t>Sponsor défenseur du temps</a:t>
            </a:r>
          </a:p>
        </p:txBody>
      </p:sp>
      <p:sp>
        <p:nvSpPr>
          <p:cNvPr id="77" name="Rectangle 76">
            <a:extLst>
              <a:ext uri="{FF2B5EF4-FFF2-40B4-BE49-F238E27FC236}">
                <a16:creationId xmlns:a16="http://schemas.microsoft.com/office/drawing/2014/main" id="{D5932047-A4D1-5088-129D-6F4972F6290D}"/>
              </a:ext>
            </a:extLst>
          </p:cNvPr>
          <p:cNvSpPr/>
          <p:nvPr/>
        </p:nvSpPr>
        <p:spPr>
          <a:xfrm>
            <a:off x="6620614"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dirty="0">
                <a:solidFill>
                  <a:schemeClr val="tx1"/>
                </a:solidFill>
              </a:rPr>
              <a:t>Sponsor promoteur</a:t>
            </a:r>
          </a:p>
        </p:txBody>
      </p:sp>
      <p:sp>
        <p:nvSpPr>
          <p:cNvPr id="78" name="Rectangle 77">
            <a:extLst>
              <a:ext uri="{FF2B5EF4-FFF2-40B4-BE49-F238E27FC236}">
                <a16:creationId xmlns:a16="http://schemas.microsoft.com/office/drawing/2014/main" id="{D88DD4B0-08D8-4288-11FB-4E3E5034601B}"/>
              </a:ext>
            </a:extLst>
          </p:cNvPr>
          <p:cNvSpPr/>
          <p:nvPr/>
        </p:nvSpPr>
        <p:spPr>
          <a:xfrm>
            <a:off x="9052742"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dirty="0">
                <a:solidFill>
                  <a:schemeClr val="tx1"/>
                </a:solidFill>
              </a:rPr>
              <a:t>Sponsor investisseur</a:t>
            </a:r>
          </a:p>
        </p:txBody>
      </p:sp>
      <p:sp>
        <p:nvSpPr>
          <p:cNvPr id="79" name="Rectangle 78">
            <a:extLst>
              <a:ext uri="{FF2B5EF4-FFF2-40B4-BE49-F238E27FC236}">
                <a16:creationId xmlns:a16="http://schemas.microsoft.com/office/drawing/2014/main" id="{0C93376C-2E2E-E556-1781-8336957DB178}"/>
              </a:ext>
            </a:extLst>
          </p:cNvPr>
          <p:cNvSpPr/>
          <p:nvPr/>
        </p:nvSpPr>
        <p:spPr>
          <a:xfrm>
            <a:off x="4318275"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dirty="0">
                <a:solidFill>
                  <a:schemeClr val="tx1"/>
                </a:solidFill>
              </a:rPr>
              <a:t>Sponsor participant</a:t>
            </a:r>
          </a:p>
        </p:txBody>
      </p:sp>
      <p:sp>
        <p:nvSpPr>
          <p:cNvPr id="80" name="Rectangle 79">
            <a:extLst>
              <a:ext uri="{FF2B5EF4-FFF2-40B4-BE49-F238E27FC236}">
                <a16:creationId xmlns:a16="http://schemas.microsoft.com/office/drawing/2014/main" id="{7CA867AD-6C17-C3A6-3BF7-35AA80615FB1}"/>
              </a:ext>
            </a:extLst>
          </p:cNvPr>
          <p:cNvSpPr/>
          <p:nvPr/>
        </p:nvSpPr>
        <p:spPr>
          <a:xfrm>
            <a:off x="6620614"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dirty="0">
                <a:solidFill>
                  <a:schemeClr val="tx1"/>
                </a:solidFill>
              </a:rPr>
              <a:t>Sponsor décisionnaire systématique</a:t>
            </a:r>
          </a:p>
        </p:txBody>
      </p:sp>
      <p:sp>
        <p:nvSpPr>
          <p:cNvPr id="81" name="Rectangle 80">
            <a:extLst>
              <a:ext uri="{FF2B5EF4-FFF2-40B4-BE49-F238E27FC236}">
                <a16:creationId xmlns:a16="http://schemas.microsoft.com/office/drawing/2014/main" id="{DDE319E6-130E-5DFC-F056-696C96408EAC}"/>
              </a:ext>
            </a:extLst>
          </p:cNvPr>
          <p:cNvSpPr/>
          <p:nvPr/>
        </p:nvSpPr>
        <p:spPr>
          <a:xfrm>
            <a:off x="9052742"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dirty="0">
                <a:solidFill>
                  <a:schemeClr val="tx1"/>
                </a:solidFill>
              </a:rPr>
              <a:t>Sponsor décisionnaire au besoin</a:t>
            </a:r>
          </a:p>
        </p:txBody>
      </p:sp>
      <p:sp>
        <p:nvSpPr>
          <p:cNvPr id="82" name="Rectangle 81">
            <a:extLst>
              <a:ext uri="{FF2B5EF4-FFF2-40B4-BE49-F238E27FC236}">
                <a16:creationId xmlns:a16="http://schemas.microsoft.com/office/drawing/2014/main" id="{06E346CC-8CD7-9AC0-B1DC-47E77D312B6E}"/>
              </a:ext>
            </a:extLst>
          </p:cNvPr>
          <p:cNvSpPr/>
          <p:nvPr/>
        </p:nvSpPr>
        <p:spPr>
          <a:xfrm>
            <a:off x="4318275" y="5828991"/>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dirty="0">
                <a:solidFill>
                  <a:schemeClr val="tx1"/>
                </a:solidFill>
              </a:rPr>
              <a:t>Sponsor obligateur</a:t>
            </a:r>
          </a:p>
        </p:txBody>
      </p:sp>
      <p:grpSp>
        <p:nvGrpSpPr>
          <p:cNvPr id="42" name="Groupe 41">
            <a:extLst>
              <a:ext uri="{FF2B5EF4-FFF2-40B4-BE49-F238E27FC236}">
                <a16:creationId xmlns:a16="http://schemas.microsoft.com/office/drawing/2014/main" id="{5A1204B2-2ECC-1A12-7443-B8D4581C0449}"/>
              </a:ext>
            </a:extLst>
          </p:cNvPr>
          <p:cNvGrpSpPr/>
          <p:nvPr/>
        </p:nvGrpSpPr>
        <p:grpSpPr>
          <a:xfrm>
            <a:off x="6720945" y="4592486"/>
            <a:ext cx="1668182" cy="1668182"/>
            <a:chOff x="7814209" y="3970452"/>
            <a:chExt cx="2521669" cy="2521669"/>
          </a:xfrm>
        </p:grpSpPr>
        <p:pic>
          <p:nvPicPr>
            <p:cNvPr id="43" name="Graphique 42" descr="Employée de bureau avec un remplissage uni">
              <a:extLst>
                <a:ext uri="{FF2B5EF4-FFF2-40B4-BE49-F238E27FC236}">
                  <a16:creationId xmlns:a16="http://schemas.microsoft.com/office/drawing/2014/main" id="{674C97A8-C0E3-DAB3-EF15-07B3165B39D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14209" y="3970452"/>
              <a:ext cx="2521669" cy="2521669"/>
            </a:xfrm>
            <a:prstGeom prst="rect">
              <a:avLst/>
            </a:prstGeom>
          </p:spPr>
        </p:pic>
        <p:sp>
          <p:nvSpPr>
            <p:cNvPr id="44" name="Rectangle 43">
              <a:extLst>
                <a:ext uri="{FF2B5EF4-FFF2-40B4-BE49-F238E27FC236}">
                  <a16:creationId xmlns:a16="http://schemas.microsoft.com/office/drawing/2014/main" id="{33B02F82-5B3B-D6D0-24EA-B362093BEEF2}"/>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84" name="Rectangle 83">
            <a:extLst>
              <a:ext uri="{FF2B5EF4-FFF2-40B4-BE49-F238E27FC236}">
                <a16:creationId xmlns:a16="http://schemas.microsoft.com/office/drawing/2014/main" id="{7D4D5043-856E-E843-20F7-96635F5BFD4F}"/>
              </a:ext>
            </a:extLst>
          </p:cNvPr>
          <p:cNvSpPr/>
          <p:nvPr/>
        </p:nvSpPr>
        <p:spPr>
          <a:xfrm>
            <a:off x="6620614" y="5828991"/>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dirty="0">
                <a:solidFill>
                  <a:schemeClr val="tx1"/>
                </a:solidFill>
              </a:rPr>
              <a:t>Sponsor gardien des valeurs</a:t>
            </a:r>
          </a:p>
        </p:txBody>
      </p:sp>
      <p:pic>
        <p:nvPicPr>
          <p:cNvPr id="5" name="Graphique 4" descr="Balance de la justice avec un remplissage uni">
            <a:extLst>
              <a:ext uri="{FF2B5EF4-FFF2-40B4-BE49-F238E27FC236}">
                <a16:creationId xmlns:a16="http://schemas.microsoft.com/office/drawing/2014/main" id="{CB52F69A-B90F-6886-291C-CD6DD30B478B}"/>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7931927" y="4669814"/>
            <a:ext cx="914400" cy="914400"/>
          </a:xfrm>
          <a:prstGeom prst="rect">
            <a:avLst/>
          </a:prstGeom>
        </p:spPr>
      </p:pic>
    </p:spTree>
    <p:extLst>
      <p:ext uri="{BB962C8B-B14F-4D97-AF65-F5344CB8AC3E}">
        <p14:creationId xmlns:p14="http://schemas.microsoft.com/office/powerpoint/2010/main" val="102669121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EC728C8-D73B-3943-A9DE-9EE3507D5679}"/>
              </a:ext>
            </a:extLst>
          </p:cNvPr>
          <p:cNvSpPr>
            <a:spLocks noGrp="1"/>
          </p:cNvSpPr>
          <p:nvPr>
            <p:ph type="title"/>
          </p:nvPr>
        </p:nvSpPr>
        <p:spPr>
          <a:xfrm>
            <a:off x="410360" y="156462"/>
            <a:ext cx="11141279" cy="1325563"/>
          </a:xfrm>
        </p:spPr>
        <p:txBody>
          <a:bodyPr>
            <a:noAutofit/>
          </a:bodyPr>
          <a:lstStyle/>
          <a:p>
            <a:r>
              <a:rPr lang="fr-FR" sz="3200" dirty="0"/>
              <a:t>Exemples d’actions opérationnelles de sponsor – par rôles</a:t>
            </a:r>
            <a:endParaRPr lang="fr-FR" sz="1800" dirty="0"/>
          </a:p>
        </p:txBody>
      </p:sp>
      <p:grpSp>
        <p:nvGrpSpPr>
          <p:cNvPr id="6" name="Groupe 5">
            <a:extLst>
              <a:ext uri="{FF2B5EF4-FFF2-40B4-BE49-F238E27FC236}">
                <a16:creationId xmlns:a16="http://schemas.microsoft.com/office/drawing/2014/main" id="{18C0F2B7-74B4-6717-5D4B-4535F75499B4}"/>
              </a:ext>
            </a:extLst>
          </p:cNvPr>
          <p:cNvGrpSpPr/>
          <p:nvPr/>
        </p:nvGrpSpPr>
        <p:grpSpPr>
          <a:xfrm>
            <a:off x="36710" y="1303927"/>
            <a:ext cx="1575634" cy="1622502"/>
            <a:chOff x="4318275" y="139989"/>
            <a:chExt cx="2272482" cy="2098791"/>
          </a:xfrm>
        </p:grpSpPr>
        <p:grpSp>
          <p:nvGrpSpPr>
            <p:cNvPr id="53" name="Groupe 52">
              <a:extLst>
                <a:ext uri="{FF2B5EF4-FFF2-40B4-BE49-F238E27FC236}">
                  <a16:creationId xmlns:a16="http://schemas.microsoft.com/office/drawing/2014/main" id="{57840154-6187-DA90-ABFA-1CFD318D6C27}"/>
                </a:ext>
              </a:extLst>
            </p:cNvPr>
            <p:cNvGrpSpPr/>
            <p:nvPr/>
          </p:nvGrpSpPr>
          <p:grpSpPr>
            <a:xfrm>
              <a:off x="4498848" y="139989"/>
              <a:ext cx="2091909" cy="1611654"/>
              <a:chOff x="1822045" y="3697163"/>
              <a:chExt cx="3786095" cy="2916894"/>
            </a:xfrm>
          </p:grpSpPr>
          <p:pic>
            <p:nvPicPr>
              <p:cNvPr id="54" name="Graphique 53" descr="Employée de bureau avec un remplissage uni">
                <a:extLst>
                  <a:ext uri="{FF2B5EF4-FFF2-40B4-BE49-F238E27FC236}">
                    <a16:creationId xmlns:a16="http://schemas.microsoft.com/office/drawing/2014/main" id="{EBD8DD0A-DD5F-8984-2096-7450A7B99B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22045" y="4092388"/>
                <a:ext cx="2521669" cy="2521669"/>
              </a:xfrm>
              <a:prstGeom prst="rect">
                <a:avLst/>
              </a:prstGeom>
            </p:spPr>
          </p:pic>
          <p:sp>
            <p:nvSpPr>
              <p:cNvPr id="55" name="Rectangle 54">
                <a:extLst>
                  <a:ext uri="{FF2B5EF4-FFF2-40B4-BE49-F238E27FC236}">
                    <a16:creationId xmlns:a16="http://schemas.microsoft.com/office/drawing/2014/main" id="{7F0CE59C-33B9-3E0D-FE12-AAD2AC262935}"/>
                  </a:ext>
                </a:extLst>
              </p:cNvPr>
              <p:cNvSpPr/>
              <p:nvPr/>
            </p:nvSpPr>
            <p:spPr>
              <a:xfrm rot="7249682">
                <a:off x="3286580" y="5342828"/>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b="1" dirty="0"/>
              </a:p>
            </p:txBody>
          </p:sp>
          <p:pic>
            <p:nvPicPr>
              <p:cNvPr id="56" name="Graphique 55" descr="Bouclier avec un remplissage uni">
                <a:extLst>
                  <a:ext uri="{FF2B5EF4-FFF2-40B4-BE49-F238E27FC236}">
                    <a16:creationId xmlns:a16="http://schemas.microsoft.com/office/drawing/2014/main" id="{E3B44163-9217-AAA3-EA2E-DF68D6D32F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82921" y="3697163"/>
                <a:ext cx="2125219" cy="2125219"/>
              </a:xfrm>
              <a:prstGeom prst="rect">
                <a:avLst/>
              </a:prstGeom>
            </p:spPr>
          </p:pic>
          <p:pic>
            <p:nvPicPr>
              <p:cNvPr id="57" name="Graphique 56" descr="Calendrier journalier avec un remplissage uni">
                <a:extLst>
                  <a:ext uri="{FF2B5EF4-FFF2-40B4-BE49-F238E27FC236}">
                    <a16:creationId xmlns:a16="http://schemas.microsoft.com/office/drawing/2014/main" id="{043BA1AE-94FA-4ECD-B3CA-5A4017A94DD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016050" y="4171671"/>
                <a:ext cx="1058961" cy="1058961"/>
              </a:xfrm>
              <a:prstGeom prst="rect">
                <a:avLst/>
              </a:prstGeom>
            </p:spPr>
          </p:pic>
        </p:grpSp>
        <p:sp>
          <p:nvSpPr>
            <p:cNvPr id="76" name="Rectangle 75">
              <a:extLst>
                <a:ext uri="{FF2B5EF4-FFF2-40B4-BE49-F238E27FC236}">
                  <a16:creationId xmlns:a16="http://schemas.microsoft.com/office/drawing/2014/main" id="{0572D71D-FB1B-764D-6B50-9403F3537D90}"/>
                </a:ext>
              </a:extLst>
            </p:cNvPr>
            <p:cNvSpPr/>
            <p:nvPr/>
          </p:nvSpPr>
          <p:spPr>
            <a:xfrm>
              <a:off x="4318275"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b="1" dirty="0">
                  <a:solidFill>
                    <a:schemeClr val="tx1"/>
                  </a:solidFill>
                </a:rPr>
                <a:t>Sponsor défenseur du temps</a:t>
              </a:r>
            </a:p>
          </p:txBody>
        </p:sp>
      </p:grpSp>
      <p:grpSp>
        <p:nvGrpSpPr>
          <p:cNvPr id="7" name="Groupe 6">
            <a:extLst>
              <a:ext uri="{FF2B5EF4-FFF2-40B4-BE49-F238E27FC236}">
                <a16:creationId xmlns:a16="http://schemas.microsoft.com/office/drawing/2014/main" id="{657958CD-6E25-9EE2-0228-9D32E5B3558D}"/>
              </a:ext>
            </a:extLst>
          </p:cNvPr>
          <p:cNvGrpSpPr/>
          <p:nvPr/>
        </p:nvGrpSpPr>
        <p:grpSpPr>
          <a:xfrm>
            <a:off x="1568780" y="1399031"/>
            <a:ext cx="1516932" cy="1527399"/>
            <a:chOff x="6620614" y="263011"/>
            <a:chExt cx="2187817" cy="1975769"/>
          </a:xfrm>
        </p:grpSpPr>
        <p:grpSp>
          <p:nvGrpSpPr>
            <p:cNvPr id="45" name="Groupe 44">
              <a:extLst>
                <a:ext uri="{FF2B5EF4-FFF2-40B4-BE49-F238E27FC236}">
                  <a16:creationId xmlns:a16="http://schemas.microsoft.com/office/drawing/2014/main" id="{8707A05F-C8EC-1D5F-7ACE-79AA79A66AC0}"/>
                </a:ext>
              </a:extLst>
            </p:cNvPr>
            <p:cNvGrpSpPr/>
            <p:nvPr/>
          </p:nvGrpSpPr>
          <p:grpSpPr>
            <a:xfrm>
              <a:off x="6835953" y="263011"/>
              <a:ext cx="1972478" cy="1390231"/>
              <a:chOff x="7771323" y="789003"/>
              <a:chExt cx="3577777" cy="2521669"/>
            </a:xfrm>
          </p:grpSpPr>
          <p:pic>
            <p:nvPicPr>
              <p:cNvPr id="46" name="Graphique 45" descr="Employée de bureau avec un remplissage uni">
                <a:extLst>
                  <a:ext uri="{FF2B5EF4-FFF2-40B4-BE49-F238E27FC236}">
                    <a16:creationId xmlns:a16="http://schemas.microsoft.com/office/drawing/2014/main" id="{27F2D343-7EA1-399D-E91E-FA5E10ED0FF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771323" y="789003"/>
                <a:ext cx="2521669" cy="2521669"/>
              </a:xfrm>
              <a:prstGeom prst="rect">
                <a:avLst/>
              </a:prstGeom>
            </p:spPr>
          </p:pic>
          <p:sp>
            <p:nvSpPr>
              <p:cNvPr id="47" name="Rectangle 46">
                <a:extLst>
                  <a:ext uri="{FF2B5EF4-FFF2-40B4-BE49-F238E27FC236}">
                    <a16:creationId xmlns:a16="http://schemas.microsoft.com/office/drawing/2014/main" id="{76D8485B-6E0D-A9AC-D0FE-350C899A157D}"/>
                  </a:ext>
                </a:extLst>
              </p:cNvPr>
              <p:cNvSpPr/>
              <p:nvPr/>
            </p:nvSpPr>
            <p:spPr>
              <a:xfrm rot="7542486">
                <a:off x="9308974" y="2157040"/>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b="1" dirty="0"/>
              </a:p>
            </p:txBody>
          </p:sp>
          <p:pic>
            <p:nvPicPr>
              <p:cNvPr id="48" name="Graphique 47" descr="Mégaphone avec un remplissage uni">
                <a:extLst>
                  <a:ext uri="{FF2B5EF4-FFF2-40B4-BE49-F238E27FC236}">
                    <a16:creationId xmlns:a16="http://schemas.microsoft.com/office/drawing/2014/main" id="{8FEDC0C1-B2CB-920E-38CA-343AB160212E}"/>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4658"/>
              <a:stretch/>
            </p:blipFill>
            <p:spPr>
              <a:xfrm rot="2220631">
                <a:off x="9459956" y="878072"/>
                <a:ext cx="1889144" cy="1612225"/>
              </a:xfrm>
              <a:prstGeom prst="rect">
                <a:avLst/>
              </a:prstGeom>
            </p:spPr>
          </p:pic>
        </p:grpSp>
        <p:sp>
          <p:nvSpPr>
            <p:cNvPr id="77" name="Rectangle 76">
              <a:extLst>
                <a:ext uri="{FF2B5EF4-FFF2-40B4-BE49-F238E27FC236}">
                  <a16:creationId xmlns:a16="http://schemas.microsoft.com/office/drawing/2014/main" id="{D5932047-A4D1-5088-129D-6F4972F6290D}"/>
                </a:ext>
              </a:extLst>
            </p:cNvPr>
            <p:cNvSpPr/>
            <p:nvPr/>
          </p:nvSpPr>
          <p:spPr>
            <a:xfrm>
              <a:off x="6620614"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b="1" dirty="0">
                  <a:solidFill>
                    <a:schemeClr val="tx1"/>
                  </a:solidFill>
                </a:rPr>
                <a:t>Sponsor promoteur</a:t>
              </a:r>
            </a:p>
          </p:txBody>
        </p:sp>
      </p:grpSp>
      <p:grpSp>
        <p:nvGrpSpPr>
          <p:cNvPr id="8" name="Groupe 7">
            <a:extLst>
              <a:ext uri="{FF2B5EF4-FFF2-40B4-BE49-F238E27FC236}">
                <a16:creationId xmlns:a16="http://schemas.microsoft.com/office/drawing/2014/main" id="{2A13AF2A-4BF3-05C6-BC4D-B94292277C28}"/>
              </a:ext>
            </a:extLst>
          </p:cNvPr>
          <p:cNvGrpSpPr/>
          <p:nvPr/>
        </p:nvGrpSpPr>
        <p:grpSpPr>
          <a:xfrm>
            <a:off x="3071437" y="1312602"/>
            <a:ext cx="1602400" cy="1619135"/>
            <a:chOff x="9052742" y="144345"/>
            <a:chExt cx="2311084" cy="2094435"/>
          </a:xfrm>
        </p:grpSpPr>
        <p:grpSp>
          <p:nvGrpSpPr>
            <p:cNvPr id="49" name="Groupe 48">
              <a:extLst>
                <a:ext uri="{FF2B5EF4-FFF2-40B4-BE49-F238E27FC236}">
                  <a16:creationId xmlns:a16="http://schemas.microsoft.com/office/drawing/2014/main" id="{571D4C5A-F367-2E63-078E-EAC11C5D8242}"/>
                </a:ext>
              </a:extLst>
            </p:cNvPr>
            <p:cNvGrpSpPr/>
            <p:nvPr/>
          </p:nvGrpSpPr>
          <p:grpSpPr>
            <a:xfrm>
              <a:off x="9071405" y="144345"/>
              <a:ext cx="2292421" cy="1646987"/>
              <a:chOff x="7814209" y="3711178"/>
              <a:chExt cx="3870761" cy="2780943"/>
            </a:xfrm>
          </p:grpSpPr>
          <p:pic>
            <p:nvPicPr>
              <p:cNvPr id="50" name="Graphique 49" descr="Employée de bureau avec un remplissage uni">
                <a:extLst>
                  <a:ext uri="{FF2B5EF4-FFF2-40B4-BE49-F238E27FC236}">
                    <a16:creationId xmlns:a16="http://schemas.microsoft.com/office/drawing/2014/main" id="{BB16CD05-1E25-D2D5-92AB-22103F26C3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14209" y="3970452"/>
                <a:ext cx="2521669" cy="2521669"/>
              </a:xfrm>
              <a:prstGeom prst="rect">
                <a:avLst/>
              </a:prstGeom>
            </p:spPr>
          </p:pic>
          <p:sp>
            <p:nvSpPr>
              <p:cNvPr id="51" name="Rectangle 50">
                <a:extLst>
                  <a:ext uri="{FF2B5EF4-FFF2-40B4-BE49-F238E27FC236}">
                    <a16:creationId xmlns:a16="http://schemas.microsoft.com/office/drawing/2014/main" id="{AA9B85AD-7E45-F78D-CD74-83EEED2992E5}"/>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b="1" dirty="0"/>
              </a:p>
            </p:txBody>
          </p:sp>
          <p:pic>
            <p:nvPicPr>
              <p:cNvPr id="52" name="Graphique 51" descr="Tirelire avec un remplissage uni">
                <a:extLst>
                  <a:ext uri="{FF2B5EF4-FFF2-40B4-BE49-F238E27FC236}">
                    <a16:creationId xmlns:a16="http://schemas.microsoft.com/office/drawing/2014/main" id="{B58687D5-DDC1-2D36-0F04-046D54F77FE0}"/>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flipH="1">
                <a:off x="9504273" y="3711178"/>
                <a:ext cx="2180697" cy="1970254"/>
              </a:xfrm>
              <a:prstGeom prst="rect">
                <a:avLst/>
              </a:prstGeom>
            </p:spPr>
          </p:pic>
        </p:grpSp>
        <p:sp>
          <p:nvSpPr>
            <p:cNvPr id="78" name="Rectangle 77">
              <a:extLst>
                <a:ext uri="{FF2B5EF4-FFF2-40B4-BE49-F238E27FC236}">
                  <a16:creationId xmlns:a16="http://schemas.microsoft.com/office/drawing/2014/main" id="{D88DD4B0-08D8-4288-11FB-4E3E5034601B}"/>
                </a:ext>
              </a:extLst>
            </p:cNvPr>
            <p:cNvSpPr/>
            <p:nvPr/>
          </p:nvSpPr>
          <p:spPr>
            <a:xfrm>
              <a:off x="9052742"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b="1" dirty="0">
                  <a:solidFill>
                    <a:schemeClr val="tx1"/>
                  </a:solidFill>
                </a:rPr>
                <a:t>Sponsor investisseur</a:t>
              </a:r>
            </a:p>
          </p:txBody>
        </p:sp>
      </p:grpSp>
      <p:grpSp>
        <p:nvGrpSpPr>
          <p:cNvPr id="11" name="Groupe 10">
            <a:extLst>
              <a:ext uri="{FF2B5EF4-FFF2-40B4-BE49-F238E27FC236}">
                <a16:creationId xmlns:a16="http://schemas.microsoft.com/office/drawing/2014/main" id="{E6D44E2B-41C5-31FD-E1EC-B274080C2F9C}"/>
              </a:ext>
            </a:extLst>
          </p:cNvPr>
          <p:cNvGrpSpPr/>
          <p:nvPr/>
        </p:nvGrpSpPr>
        <p:grpSpPr>
          <a:xfrm>
            <a:off x="4551532" y="1329387"/>
            <a:ext cx="1423179" cy="1604661"/>
            <a:chOff x="4318275" y="2524542"/>
            <a:chExt cx="2052601" cy="2075713"/>
          </a:xfrm>
        </p:grpSpPr>
        <p:grpSp>
          <p:nvGrpSpPr>
            <p:cNvPr id="64" name="Groupe 63">
              <a:extLst>
                <a:ext uri="{FF2B5EF4-FFF2-40B4-BE49-F238E27FC236}">
                  <a16:creationId xmlns:a16="http://schemas.microsoft.com/office/drawing/2014/main" id="{4D14B12F-757E-5D16-428D-6F5D213B700A}"/>
                </a:ext>
              </a:extLst>
            </p:cNvPr>
            <p:cNvGrpSpPr/>
            <p:nvPr/>
          </p:nvGrpSpPr>
          <p:grpSpPr>
            <a:xfrm>
              <a:off x="4397837" y="2524542"/>
              <a:ext cx="1973039" cy="1623467"/>
              <a:chOff x="1872074" y="789004"/>
              <a:chExt cx="3064646" cy="2521669"/>
            </a:xfrm>
          </p:grpSpPr>
          <p:pic>
            <p:nvPicPr>
              <p:cNvPr id="65" name="Graphique 64" descr="Employée de bureau avec un remplissage uni">
                <a:extLst>
                  <a:ext uri="{FF2B5EF4-FFF2-40B4-BE49-F238E27FC236}">
                    <a16:creationId xmlns:a16="http://schemas.microsoft.com/office/drawing/2014/main" id="{3D99277E-6A72-6911-8E0C-ECFE4DA05CD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72074" y="789004"/>
                <a:ext cx="2521669" cy="2521669"/>
              </a:xfrm>
              <a:prstGeom prst="rect">
                <a:avLst/>
              </a:prstGeom>
            </p:spPr>
          </p:pic>
          <p:sp>
            <p:nvSpPr>
              <p:cNvPr id="66" name="Rectangle 65">
                <a:extLst>
                  <a:ext uri="{FF2B5EF4-FFF2-40B4-BE49-F238E27FC236}">
                    <a16:creationId xmlns:a16="http://schemas.microsoft.com/office/drawing/2014/main" id="{15905FFB-CDFC-53CB-AF76-BB284177D2F7}"/>
                  </a:ext>
                </a:extLst>
              </p:cNvPr>
              <p:cNvSpPr/>
              <p:nvPr/>
            </p:nvSpPr>
            <p:spPr>
              <a:xfrm rot="7249682">
                <a:off x="3346632" y="2089907"/>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b="1" dirty="0"/>
              </a:p>
            </p:txBody>
          </p:sp>
          <p:pic>
            <p:nvPicPr>
              <p:cNvPr id="67" name="Graphique 66" descr="Signe pouce en haut avec un remplissage uni">
                <a:extLst>
                  <a:ext uri="{FF2B5EF4-FFF2-40B4-BE49-F238E27FC236}">
                    <a16:creationId xmlns:a16="http://schemas.microsoft.com/office/drawing/2014/main" id="{808CFEEE-24A4-FC6B-F3B5-4E94505BB7A3}"/>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8059647">
                <a:off x="3940973" y="810751"/>
                <a:ext cx="995747" cy="995747"/>
              </a:xfrm>
              <a:prstGeom prst="rect">
                <a:avLst/>
              </a:prstGeom>
            </p:spPr>
          </p:pic>
        </p:grpSp>
        <p:sp>
          <p:nvSpPr>
            <p:cNvPr id="79" name="Rectangle 78">
              <a:extLst>
                <a:ext uri="{FF2B5EF4-FFF2-40B4-BE49-F238E27FC236}">
                  <a16:creationId xmlns:a16="http://schemas.microsoft.com/office/drawing/2014/main" id="{0C93376C-2E2E-E556-1781-8336957DB178}"/>
                </a:ext>
              </a:extLst>
            </p:cNvPr>
            <p:cNvSpPr/>
            <p:nvPr/>
          </p:nvSpPr>
          <p:spPr>
            <a:xfrm>
              <a:off x="4318275"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b="1" dirty="0">
                  <a:solidFill>
                    <a:schemeClr val="tx1"/>
                  </a:solidFill>
                </a:rPr>
                <a:t>Sponsor participant</a:t>
              </a:r>
            </a:p>
          </p:txBody>
        </p:sp>
      </p:grpSp>
      <p:grpSp>
        <p:nvGrpSpPr>
          <p:cNvPr id="10" name="Groupe 9">
            <a:extLst>
              <a:ext uri="{FF2B5EF4-FFF2-40B4-BE49-F238E27FC236}">
                <a16:creationId xmlns:a16="http://schemas.microsoft.com/office/drawing/2014/main" id="{9AEBE08E-A69B-227C-E76A-E1EDA45EE618}"/>
              </a:ext>
            </a:extLst>
          </p:cNvPr>
          <p:cNvGrpSpPr/>
          <p:nvPr/>
        </p:nvGrpSpPr>
        <p:grpSpPr>
          <a:xfrm>
            <a:off x="7598036" y="1251106"/>
            <a:ext cx="1670395" cy="1691122"/>
            <a:chOff x="6620614" y="2412700"/>
            <a:chExt cx="2409152" cy="2187555"/>
          </a:xfrm>
        </p:grpSpPr>
        <p:grpSp>
          <p:nvGrpSpPr>
            <p:cNvPr id="58" name="Groupe 57">
              <a:extLst>
                <a:ext uri="{FF2B5EF4-FFF2-40B4-BE49-F238E27FC236}">
                  <a16:creationId xmlns:a16="http://schemas.microsoft.com/office/drawing/2014/main" id="{6D8AF6AD-E9E2-454B-D483-00F39C591670}"/>
                </a:ext>
              </a:extLst>
            </p:cNvPr>
            <p:cNvGrpSpPr/>
            <p:nvPr/>
          </p:nvGrpSpPr>
          <p:grpSpPr>
            <a:xfrm>
              <a:off x="6679831" y="2412700"/>
              <a:ext cx="2349935" cy="1785141"/>
              <a:chOff x="7771323" y="635824"/>
              <a:chExt cx="3521133" cy="2674848"/>
            </a:xfrm>
          </p:grpSpPr>
          <p:pic>
            <p:nvPicPr>
              <p:cNvPr id="59" name="Graphique 58" descr="Employée de bureau avec un remplissage uni">
                <a:extLst>
                  <a:ext uri="{FF2B5EF4-FFF2-40B4-BE49-F238E27FC236}">
                    <a16:creationId xmlns:a16="http://schemas.microsoft.com/office/drawing/2014/main" id="{DB72D487-3F97-48FC-82DE-25DA91A1A1A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15511"/>
              <a:stretch/>
            </p:blipFill>
            <p:spPr>
              <a:xfrm>
                <a:off x="7771323" y="1180130"/>
                <a:ext cx="2521669" cy="2130542"/>
              </a:xfrm>
              <a:prstGeom prst="rect">
                <a:avLst/>
              </a:prstGeom>
            </p:spPr>
          </p:pic>
          <p:sp>
            <p:nvSpPr>
              <p:cNvPr id="60" name="Rectangle 59">
                <a:extLst>
                  <a:ext uri="{FF2B5EF4-FFF2-40B4-BE49-F238E27FC236}">
                    <a16:creationId xmlns:a16="http://schemas.microsoft.com/office/drawing/2014/main" id="{A0465C41-8680-42EC-B642-A951775267E6}"/>
                  </a:ext>
                </a:extLst>
              </p:cNvPr>
              <p:cNvSpPr/>
              <p:nvPr/>
            </p:nvSpPr>
            <p:spPr>
              <a:xfrm rot="7542486">
                <a:off x="9308974" y="2157040"/>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b="1" dirty="0"/>
              </a:p>
            </p:txBody>
          </p:sp>
          <p:pic>
            <p:nvPicPr>
              <p:cNvPr id="61" name="Graphique 60" descr="Couronne avec un remplissage uni">
                <a:extLst>
                  <a:ext uri="{FF2B5EF4-FFF2-40B4-BE49-F238E27FC236}">
                    <a16:creationId xmlns:a16="http://schemas.microsoft.com/office/drawing/2014/main" id="{6A024DB7-1728-6913-976A-C38717C4E9A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flipV="1">
                <a:off x="8048907" y="961936"/>
                <a:ext cx="1921432" cy="594363"/>
              </a:xfrm>
              <a:prstGeom prst="rect">
                <a:avLst/>
              </a:prstGeom>
            </p:spPr>
          </p:pic>
          <p:pic>
            <p:nvPicPr>
              <p:cNvPr id="62" name="Graphique 61" descr="Employée de bureau avec un remplissage uni">
                <a:extLst>
                  <a:ext uri="{FF2B5EF4-FFF2-40B4-BE49-F238E27FC236}">
                    <a16:creationId xmlns:a16="http://schemas.microsoft.com/office/drawing/2014/main" id="{4981D3B9-95B7-8D1F-05F9-C59FA214D14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07" b="79737"/>
              <a:stretch/>
            </p:blipFill>
            <p:spPr>
              <a:xfrm>
                <a:off x="7771323" y="717379"/>
                <a:ext cx="2521669" cy="594363"/>
              </a:xfrm>
              <a:prstGeom prst="rect">
                <a:avLst/>
              </a:prstGeom>
            </p:spPr>
          </p:pic>
          <p:pic>
            <p:nvPicPr>
              <p:cNvPr id="63" name="Graphique 62" descr="Index pointant vers la droite vu du côté du dos de la main avec un remplissage uni">
                <a:extLst>
                  <a:ext uri="{FF2B5EF4-FFF2-40B4-BE49-F238E27FC236}">
                    <a16:creationId xmlns:a16="http://schemas.microsoft.com/office/drawing/2014/main" id="{66EF3DB5-DA97-D239-C028-00BB171E32B3}"/>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t="13336"/>
              <a:stretch/>
            </p:blipFill>
            <p:spPr>
              <a:xfrm rot="18229742">
                <a:off x="9994179" y="728577"/>
                <a:ext cx="1391029" cy="1205524"/>
              </a:xfrm>
              <a:prstGeom prst="rect">
                <a:avLst/>
              </a:prstGeom>
            </p:spPr>
          </p:pic>
        </p:grpSp>
        <p:sp>
          <p:nvSpPr>
            <p:cNvPr id="80" name="Rectangle 79">
              <a:extLst>
                <a:ext uri="{FF2B5EF4-FFF2-40B4-BE49-F238E27FC236}">
                  <a16:creationId xmlns:a16="http://schemas.microsoft.com/office/drawing/2014/main" id="{7CA867AD-6C17-C3A6-3BF7-35AA80615FB1}"/>
                </a:ext>
              </a:extLst>
            </p:cNvPr>
            <p:cNvSpPr/>
            <p:nvPr/>
          </p:nvSpPr>
          <p:spPr>
            <a:xfrm>
              <a:off x="6620614"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b="1" dirty="0">
                  <a:solidFill>
                    <a:schemeClr val="tx1"/>
                  </a:solidFill>
                </a:rPr>
                <a:t>Sponsor décisionnaire systématique</a:t>
              </a:r>
            </a:p>
          </p:txBody>
        </p:sp>
      </p:grpSp>
      <p:grpSp>
        <p:nvGrpSpPr>
          <p:cNvPr id="9" name="Groupe 8">
            <a:extLst>
              <a:ext uri="{FF2B5EF4-FFF2-40B4-BE49-F238E27FC236}">
                <a16:creationId xmlns:a16="http://schemas.microsoft.com/office/drawing/2014/main" id="{70CE3AB8-400B-6B7D-CBFA-81233ADC9CF7}"/>
              </a:ext>
            </a:extLst>
          </p:cNvPr>
          <p:cNvGrpSpPr/>
          <p:nvPr/>
        </p:nvGrpSpPr>
        <p:grpSpPr>
          <a:xfrm>
            <a:off x="9049831" y="1262150"/>
            <a:ext cx="1726397" cy="1671571"/>
            <a:chOff x="9038675" y="2437990"/>
            <a:chExt cx="2489922" cy="2162265"/>
          </a:xfrm>
        </p:grpSpPr>
        <p:grpSp>
          <p:nvGrpSpPr>
            <p:cNvPr id="68" name="Groupe 67">
              <a:extLst>
                <a:ext uri="{FF2B5EF4-FFF2-40B4-BE49-F238E27FC236}">
                  <a16:creationId xmlns:a16="http://schemas.microsoft.com/office/drawing/2014/main" id="{5D378836-5E60-7B52-869B-58E18A210217}"/>
                </a:ext>
              </a:extLst>
            </p:cNvPr>
            <p:cNvGrpSpPr/>
            <p:nvPr/>
          </p:nvGrpSpPr>
          <p:grpSpPr>
            <a:xfrm>
              <a:off x="9038675" y="2437990"/>
              <a:ext cx="2489922" cy="1748559"/>
              <a:chOff x="1822045" y="3936873"/>
              <a:chExt cx="3812269" cy="2677184"/>
            </a:xfrm>
          </p:grpSpPr>
          <p:pic>
            <p:nvPicPr>
              <p:cNvPr id="69" name="Graphique 68" descr="Employée de bureau avec un remplissage uni">
                <a:extLst>
                  <a:ext uri="{FF2B5EF4-FFF2-40B4-BE49-F238E27FC236}">
                    <a16:creationId xmlns:a16="http://schemas.microsoft.com/office/drawing/2014/main" id="{B3D5FF42-2C8B-1AA6-38B1-40623A65B0F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22045" y="4092388"/>
                <a:ext cx="2521669" cy="2521669"/>
              </a:xfrm>
              <a:prstGeom prst="rect">
                <a:avLst/>
              </a:prstGeom>
            </p:spPr>
          </p:pic>
          <p:sp>
            <p:nvSpPr>
              <p:cNvPr id="70" name="Rectangle 69">
                <a:extLst>
                  <a:ext uri="{FF2B5EF4-FFF2-40B4-BE49-F238E27FC236}">
                    <a16:creationId xmlns:a16="http://schemas.microsoft.com/office/drawing/2014/main" id="{82C013CC-5E02-3B84-FC6F-2B9CA0428D52}"/>
                  </a:ext>
                </a:extLst>
              </p:cNvPr>
              <p:cNvSpPr/>
              <p:nvPr/>
            </p:nvSpPr>
            <p:spPr>
              <a:xfrm rot="7249682">
                <a:off x="3286580" y="5342828"/>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b="1" dirty="0"/>
              </a:p>
            </p:txBody>
          </p:sp>
          <p:pic>
            <p:nvPicPr>
              <p:cNvPr id="71" name="Graphique 70" descr="Marteau d'officiel avec un remplissage uni">
                <a:extLst>
                  <a:ext uri="{FF2B5EF4-FFF2-40B4-BE49-F238E27FC236}">
                    <a16:creationId xmlns:a16="http://schemas.microsoft.com/office/drawing/2014/main" id="{EF6EDE59-55DE-4B90-76AA-5FB0AEB8D19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flipH="1">
                <a:off x="3943871" y="3936873"/>
                <a:ext cx="1690443" cy="1556691"/>
              </a:xfrm>
              <a:prstGeom prst="rect">
                <a:avLst/>
              </a:prstGeom>
            </p:spPr>
          </p:pic>
        </p:grpSp>
        <p:sp>
          <p:nvSpPr>
            <p:cNvPr id="81" name="Rectangle 80">
              <a:extLst>
                <a:ext uri="{FF2B5EF4-FFF2-40B4-BE49-F238E27FC236}">
                  <a16:creationId xmlns:a16="http://schemas.microsoft.com/office/drawing/2014/main" id="{DDE319E6-130E-5DFC-F056-696C96408EAC}"/>
                </a:ext>
              </a:extLst>
            </p:cNvPr>
            <p:cNvSpPr/>
            <p:nvPr/>
          </p:nvSpPr>
          <p:spPr>
            <a:xfrm>
              <a:off x="9052742"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b="1" dirty="0">
                  <a:solidFill>
                    <a:schemeClr val="tx1"/>
                  </a:solidFill>
                </a:rPr>
                <a:t>Sponsor décisionnaire au besoin</a:t>
              </a:r>
            </a:p>
          </p:txBody>
        </p:sp>
      </p:grpSp>
      <p:grpSp>
        <p:nvGrpSpPr>
          <p:cNvPr id="12" name="Groupe 11">
            <a:extLst>
              <a:ext uri="{FF2B5EF4-FFF2-40B4-BE49-F238E27FC236}">
                <a16:creationId xmlns:a16="http://schemas.microsoft.com/office/drawing/2014/main" id="{38306F69-1488-C60E-93D8-4F0D90B22010}"/>
              </a:ext>
            </a:extLst>
          </p:cNvPr>
          <p:cNvGrpSpPr/>
          <p:nvPr/>
        </p:nvGrpSpPr>
        <p:grpSpPr>
          <a:xfrm>
            <a:off x="6038935" y="1349243"/>
            <a:ext cx="1741901" cy="1605533"/>
            <a:chOff x="4318275" y="4592486"/>
            <a:chExt cx="2512283" cy="2076842"/>
          </a:xfrm>
        </p:grpSpPr>
        <p:grpSp>
          <p:nvGrpSpPr>
            <p:cNvPr id="72" name="Groupe 71">
              <a:extLst>
                <a:ext uri="{FF2B5EF4-FFF2-40B4-BE49-F238E27FC236}">
                  <a16:creationId xmlns:a16="http://schemas.microsoft.com/office/drawing/2014/main" id="{04A9D7B9-3D1C-27A5-F7F4-C535C8B689C1}"/>
                </a:ext>
              </a:extLst>
            </p:cNvPr>
            <p:cNvGrpSpPr/>
            <p:nvPr/>
          </p:nvGrpSpPr>
          <p:grpSpPr>
            <a:xfrm>
              <a:off x="4418605" y="4592486"/>
              <a:ext cx="2411953" cy="1668182"/>
              <a:chOff x="7814209" y="3970452"/>
              <a:chExt cx="3645974" cy="2521669"/>
            </a:xfrm>
          </p:grpSpPr>
          <p:pic>
            <p:nvPicPr>
              <p:cNvPr id="73" name="Graphique 72" descr="Employée de bureau avec un remplissage uni">
                <a:extLst>
                  <a:ext uri="{FF2B5EF4-FFF2-40B4-BE49-F238E27FC236}">
                    <a16:creationId xmlns:a16="http://schemas.microsoft.com/office/drawing/2014/main" id="{535B92B6-73A8-1A40-A06A-234847E6BF6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14209" y="3970452"/>
                <a:ext cx="2521669" cy="2521669"/>
              </a:xfrm>
              <a:prstGeom prst="rect">
                <a:avLst/>
              </a:prstGeom>
            </p:spPr>
          </p:pic>
          <p:sp>
            <p:nvSpPr>
              <p:cNvPr id="74" name="Rectangle 73">
                <a:extLst>
                  <a:ext uri="{FF2B5EF4-FFF2-40B4-BE49-F238E27FC236}">
                    <a16:creationId xmlns:a16="http://schemas.microsoft.com/office/drawing/2014/main" id="{24315268-975F-72C1-703C-2E1D0A6090E4}"/>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b="1" dirty="0"/>
              </a:p>
            </p:txBody>
          </p:sp>
          <p:pic>
            <p:nvPicPr>
              <p:cNvPr id="75" name="Graphique 74" descr="Menottes avec un remplissage uni">
                <a:extLst>
                  <a:ext uri="{FF2B5EF4-FFF2-40B4-BE49-F238E27FC236}">
                    <a16:creationId xmlns:a16="http://schemas.microsoft.com/office/drawing/2014/main" id="{AAF2B838-8B03-92AE-9C92-8E02D04721BB}"/>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9781974" y="4544150"/>
                <a:ext cx="1678209" cy="1678209"/>
              </a:xfrm>
              <a:prstGeom prst="rect">
                <a:avLst/>
              </a:prstGeom>
            </p:spPr>
          </p:pic>
        </p:grpSp>
        <p:sp>
          <p:nvSpPr>
            <p:cNvPr id="82" name="Rectangle 81">
              <a:extLst>
                <a:ext uri="{FF2B5EF4-FFF2-40B4-BE49-F238E27FC236}">
                  <a16:creationId xmlns:a16="http://schemas.microsoft.com/office/drawing/2014/main" id="{06E346CC-8CD7-9AC0-B1DC-47E77D312B6E}"/>
                </a:ext>
              </a:extLst>
            </p:cNvPr>
            <p:cNvSpPr/>
            <p:nvPr/>
          </p:nvSpPr>
          <p:spPr>
            <a:xfrm>
              <a:off x="4318275" y="5828991"/>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b="1" dirty="0">
                  <a:solidFill>
                    <a:schemeClr val="tx1"/>
                  </a:solidFill>
                </a:rPr>
                <a:t>Sponsor obligateur</a:t>
              </a:r>
            </a:p>
          </p:txBody>
        </p:sp>
      </p:grpSp>
      <p:sp>
        <p:nvSpPr>
          <p:cNvPr id="83" name="Rectangle 82">
            <a:extLst>
              <a:ext uri="{FF2B5EF4-FFF2-40B4-BE49-F238E27FC236}">
                <a16:creationId xmlns:a16="http://schemas.microsoft.com/office/drawing/2014/main" id="{9DC7D44A-BB67-1A4E-E2C2-80FB4745479F}"/>
              </a:ext>
            </a:extLst>
          </p:cNvPr>
          <p:cNvSpPr/>
          <p:nvPr/>
        </p:nvSpPr>
        <p:spPr>
          <a:xfrm>
            <a:off x="3071437" y="3055641"/>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💰Affecter une ligne de budget pour les activités de la Communauté</a:t>
            </a:r>
          </a:p>
        </p:txBody>
      </p:sp>
      <p:sp>
        <p:nvSpPr>
          <p:cNvPr id="84" name="Rectangle 83">
            <a:extLst>
              <a:ext uri="{FF2B5EF4-FFF2-40B4-BE49-F238E27FC236}">
                <a16:creationId xmlns:a16="http://schemas.microsoft.com/office/drawing/2014/main" id="{0636A893-7034-29FC-1231-942BEB7451CF}"/>
              </a:ext>
            </a:extLst>
          </p:cNvPr>
          <p:cNvSpPr/>
          <p:nvPr/>
        </p:nvSpPr>
        <p:spPr>
          <a:xfrm>
            <a:off x="36710" y="3055641"/>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💰Affecter une ligne de budget pour le temps pris par les membres pour la Communauté</a:t>
            </a:r>
          </a:p>
        </p:txBody>
      </p:sp>
      <p:sp>
        <p:nvSpPr>
          <p:cNvPr id="85" name="Rectangle 84">
            <a:extLst>
              <a:ext uri="{FF2B5EF4-FFF2-40B4-BE49-F238E27FC236}">
                <a16:creationId xmlns:a16="http://schemas.microsoft.com/office/drawing/2014/main" id="{1599979F-5CF8-B47F-7158-793801A88CE0}"/>
              </a:ext>
            </a:extLst>
          </p:cNvPr>
          <p:cNvSpPr/>
          <p:nvPr/>
        </p:nvSpPr>
        <p:spPr>
          <a:xfrm>
            <a:off x="4551531" y="3055641"/>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📅Assister à des événements clés de la Communauté pour interagir avec les membres ou être à leurs côtés</a:t>
            </a:r>
          </a:p>
        </p:txBody>
      </p:sp>
      <p:sp>
        <p:nvSpPr>
          <p:cNvPr id="86" name="Rectangle 85">
            <a:extLst>
              <a:ext uri="{FF2B5EF4-FFF2-40B4-BE49-F238E27FC236}">
                <a16:creationId xmlns:a16="http://schemas.microsoft.com/office/drawing/2014/main" id="{6410FDC4-46BA-1279-062A-2D4F6C51E465}"/>
              </a:ext>
            </a:extLst>
          </p:cNvPr>
          <p:cNvSpPr/>
          <p:nvPr/>
        </p:nvSpPr>
        <p:spPr>
          <a:xfrm>
            <a:off x="4551531" y="3824851"/>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❓Répondre à des questions des membres sur les outils d’interaction (messageries, forums, etc.)</a:t>
            </a:r>
          </a:p>
        </p:txBody>
      </p:sp>
      <p:sp>
        <p:nvSpPr>
          <p:cNvPr id="87" name="Rectangle 86">
            <a:extLst>
              <a:ext uri="{FF2B5EF4-FFF2-40B4-BE49-F238E27FC236}">
                <a16:creationId xmlns:a16="http://schemas.microsoft.com/office/drawing/2014/main" id="{73C977BE-CCCB-7EC2-A7A9-4154D850CEF9}"/>
              </a:ext>
            </a:extLst>
          </p:cNvPr>
          <p:cNvSpPr/>
          <p:nvPr/>
        </p:nvSpPr>
        <p:spPr>
          <a:xfrm>
            <a:off x="1555920" y="3037723"/>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📅Participer à des événements clés de la Communauté ouverts à l’extérieur</a:t>
            </a:r>
          </a:p>
        </p:txBody>
      </p:sp>
      <p:sp>
        <p:nvSpPr>
          <p:cNvPr id="88" name="Rectangle 87">
            <a:extLst>
              <a:ext uri="{FF2B5EF4-FFF2-40B4-BE49-F238E27FC236}">
                <a16:creationId xmlns:a16="http://schemas.microsoft.com/office/drawing/2014/main" id="{27D7A338-1CD4-FABA-9E7D-EA59D8764BD7}"/>
              </a:ext>
            </a:extLst>
          </p:cNvPr>
          <p:cNvSpPr/>
          <p:nvPr/>
        </p:nvSpPr>
        <p:spPr>
          <a:xfrm>
            <a:off x="1568780" y="3814569"/>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📣Présenter la Communauté à des personnes inaccessibles pour les membres (ex: </a:t>
            </a:r>
            <a:r>
              <a:rPr lang="fr-FR" sz="800" dirty="0" err="1">
                <a:solidFill>
                  <a:schemeClr val="tx1"/>
                </a:solidFill>
              </a:rPr>
              <a:t>ComEx</a:t>
            </a:r>
            <a:r>
              <a:rPr lang="fr-FR" sz="800" dirty="0">
                <a:solidFill>
                  <a:schemeClr val="tx1"/>
                </a:solidFill>
              </a:rPr>
              <a:t>)</a:t>
            </a:r>
          </a:p>
        </p:txBody>
      </p:sp>
      <p:sp>
        <p:nvSpPr>
          <p:cNvPr id="89" name="Rectangle 88">
            <a:extLst>
              <a:ext uri="{FF2B5EF4-FFF2-40B4-BE49-F238E27FC236}">
                <a16:creationId xmlns:a16="http://schemas.microsoft.com/office/drawing/2014/main" id="{06D57582-3055-4D7E-F7AD-8C3A95B3908E}"/>
              </a:ext>
            </a:extLst>
          </p:cNvPr>
          <p:cNvSpPr/>
          <p:nvPr/>
        </p:nvSpPr>
        <p:spPr>
          <a:xfrm>
            <a:off x="3071437" y="3810324"/>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🛠️Prêter du matériel, des salles, des licences, des droits d’usages à la Communauté</a:t>
            </a:r>
          </a:p>
        </p:txBody>
      </p:sp>
      <p:sp>
        <p:nvSpPr>
          <p:cNvPr id="90" name="Rectangle 89">
            <a:extLst>
              <a:ext uri="{FF2B5EF4-FFF2-40B4-BE49-F238E27FC236}">
                <a16:creationId xmlns:a16="http://schemas.microsoft.com/office/drawing/2014/main" id="{4BD5F6A5-A444-F7A9-21C5-C06F53459D54}"/>
              </a:ext>
            </a:extLst>
          </p:cNvPr>
          <p:cNvSpPr/>
          <p:nvPr/>
        </p:nvSpPr>
        <p:spPr>
          <a:xfrm>
            <a:off x="3071437" y="4565007"/>
            <a:ext cx="1298092" cy="7444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😎Mettre à disposition du temps de personnes sous sa responsabilité (ex: Experts) au service de la Communauté</a:t>
            </a:r>
          </a:p>
        </p:txBody>
      </p:sp>
      <p:sp>
        <p:nvSpPr>
          <p:cNvPr id="91" name="Rectangle 90">
            <a:extLst>
              <a:ext uri="{FF2B5EF4-FFF2-40B4-BE49-F238E27FC236}">
                <a16:creationId xmlns:a16="http://schemas.microsoft.com/office/drawing/2014/main" id="{9E45910E-A24B-CC4F-46AC-2E0AAB9817C0}"/>
              </a:ext>
            </a:extLst>
          </p:cNvPr>
          <p:cNvSpPr/>
          <p:nvPr/>
        </p:nvSpPr>
        <p:spPr>
          <a:xfrm>
            <a:off x="36710" y="3814572"/>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🤝Discuter avec les hiérarchies des membres pour défendre la légitimité de s’investir dans la Communauté</a:t>
            </a:r>
          </a:p>
        </p:txBody>
      </p:sp>
      <p:sp>
        <p:nvSpPr>
          <p:cNvPr id="92" name="Rectangle 91">
            <a:extLst>
              <a:ext uri="{FF2B5EF4-FFF2-40B4-BE49-F238E27FC236}">
                <a16:creationId xmlns:a16="http://schemas.microsoft.com/office/drawing/2014/main" id="{02172EC7-5DF3-3FE4-2B20-C5D41A69CF60}"/>
              </a:ext>
            </a:extLst>
          </p:cNvPr>
          <p:cNvSpPr/>
          <p:nvPr/>
        </p:nvSpPr>
        <p:spPr>
          <a:xfrm>
            <a:off x="6037773" y="3055641"/>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⚖️Transformer des bonnes pratiques issues de la Communauté en « règles à suivre par défaut »</a:t>
            </a:r>
          </a:p>
        </p:txBody>
      </p:sp>
      <p:sp>
        <p:nvSpPr>
          <p:cNvPr id="93" name="Rectangle 92">
            <a:extLst>
              <a:ext uri="{FF2B5EF4-FFF2-40B4-BE49-F238E27FC236}">
                <a16:creationId xmlns:a16="http://schemas.microsoft.com/office/drawing/2014/main" id="{4406E63A-9DE0-AA10-FAFA-EAEF94E42119}"/>
              </a:ext>
            </a:extLst>
          </p:cNvPr>
          <p:cNvSpPr/>
          <p:nvPr/>
        </p:nvSpPr>
        <p:spPr>
          <a:xfrm>
            <a:off x="7598035" y="3049371"/>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⚙️Participer à des comités de pilotage de la Communauté</a:t>
            </a:r>
          </a:p>
        </p:txBody>
      </p:sp>
      <p:sp>
        <p:nvSpPr>
          <p:cNvPr id="94" name="Rectangle 93">
            <a:extLst>
              <a:ext uri="{FF2B5EF4-FFF2-40B4-BE49-F238E27FC236}">
                <a16:creationId xmlns:a16="http://schemas.microsoft.com/office/drawing/2014/main" id="{4ECC2F77-AF50-63DF-B332-FA3C7D1F42EA}"/>
              </a:ext>
            </a:extLst>
          </p:cNvPr>
          <p:cNvSpPr/>
          <p:nvPr/>
        </p:nvSpPr>
        <p:spPr>
          <a:xfrm>
            <a:off x="4551531" y="4565007"/>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👍Contribuer aux sessions de rétrospective et d’amélioration continue de la Communauté</a:t>
            </a:r>
          </a:p>
        </p:txBody>
      </p:sp>
      <p:sp>
        <p:nvSpPr>
          <p:cNvPr id="95" name="Rectangle 94">
            <a:extLst>
              <a:ext uri="{FF2B5EF4-FFF2-40B4-BE49-F238E27FC236}">
                <a16:creationId xmlns:a16="http://schemas.microsoft.com/office/drawing/2014/main" id="{CC165E15-DD15-14AC-C74E-3474459CC085}"/>
              </a:ext>
            </a:extLst>
          </p:cNvPr>
          <p:cNvSpPr/>
          <p:nvPr/>
        </p:nvSpPr>
        <p:spPr>
          <a:xfrm>
            <a:off x="1555920" y="4590828"/>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📷Prêter son image et son nom aux Communications de la Communauté</a:t>
            </a:r>
          </a:p>
        </p:txBody>
      </p:sp>
      <p:sp>
        <p:nvSpPr>
          <p:cNvPr id="96" name="Rectangle 95">
            <a:extLst>
              <a:ext uri="{FF2B5EF4-FFF2-40B4-BE49-F238E27FC236}">
                <a16:creationId xmlns:a16="http://schemas.microsoft.com/office/drawing/2014/main" id="{4D061C29-6065-0B16-D4E4-3F878ACB3CEB}"/>
              </a:ext>
            </a:extLst>
          </p:cNvPr>
          <p:cNvSpPr/>
          <p:nvPr/>
        </p:nvSpPr>
        <p:spPr>
          <a:xfrm>
            <a:off x="33804" y="4582021"/>
            <a:ext cx="1298092" cy="11521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☂️Prendre la responsabilité en cas de conséquences opérationnelles (ex: ralentissement temporaire) de la participation des membres à la Communauté</a:t>
            </a:r>
          </a:p>
        </p:txBody>
      </p:sp>
      <p:sp>
        <p:nvSpPr>
          <p:cNvPr id="97" name="Rectangle 96">
            <a:extLst>
              <a:ext uri="{FF2B5EF4-FFF2-40B4-BE49-F238E27FC236}">
                <a16:creationId xmlns:a16="http://schemas.microsoft.com/office/drawing/2014/main" id="{918672AE-9E46-4DA6-F2DE-82A4A4F7011F}"/>
              </a:ext>
            </a:extLst>
          </p:cNvPr>
          <p:cNvSpPr/>
          <p:nvPr/>
        </p:nvSpPr>
        <p:spPr>
          <a:xfrm>
            <a:off x="9059584" y="3049371"/>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⚙️Participer à des comités de décisions extraordinaires, de la Communauté</a:t>
            </a:r>
          </a:p>
        </p:txBody>
      </p:sp>
      <p:sp>
        <p:nvSpPr>
          <p:cNvPr id="98" name="Rectangle 97">
            <a:extLst>
              <a:ext uri="{FF2B5EF4-FFF2-40B4-BE49-F238E27FC236}">
                <a16:creationId xmlns:a16="http://schemas.microsoft.com/office/drawing/2014/main" id="{F1240B6D-918E-41D6-64ED-C04CDB2844B5}"/>
              </a:ext>
            </a:extLst>
          </p:cNvPr>
          <p:cNvSpPr/>
          <p:nvPr/>
        </p:nvSpPr>
        <p:spPr>
          <a:xfrm>
            <a:off x="7605132" y="3810323"/>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👲Prendre des responsabilités et un périmètre dans la Communauté</a:t>
            </a:r>
          </a:p>
        </p:txBody>
      </p:sp>
      <p:sp>
        <p:nvSpPr>
          <p:cNvPr id="99" name="Rectangle 98">
            <a:extLst>
              <a:ext uri="{FF2B5EF4-FFF2-40B4-BE49-F238E27FC236}">
                <a16:creationId xmlns:a16="http://schemas.microsoft.com/office/drawing/2014/main" id="{37C1DD16-8E5F-2028-90A3-7496DED29F16}"/>
              </a:ext>
            </a:extLst>
          </p:cNvPr>
          <p:cNvSpPr/>
          <p:nvPr/>
        </p:nvSpPr>
        <p:spPr>
          <a:xfrm>
            <a:off x="4551531" y="5309463"/>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👲Prendre des responsabilités et un périmètre dans la Communauté</a:t>
            </a:r>
          </a:p>
        </p:txBody>
      </p:sp>
      <p:sp>
        <p:nvSpPr>
          <p:cNvPr id="100" name="Rectangle 99">
            <a:extLst>
              <a:ext uri="{FF2B5EF4-FFF2-40B4-BE49-F238E27FC236}">
                <a16:creationId xmlns:a16="http://schemas.microsoft.com/office/drawing/2014/main" id="{D0339358-5271-FD75-B0BF-C036B390B6F9}"/>
              </a:ext>
            </a:extLst>
          </p:cNvPr>
          <p:cNvSpPr/>
          <p:nvPr/>
        </p:nvSpPr>
        <p:spPr>
          <a:xfrm>
            <a:off x="6037773" y="3814569"/>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✔️S’assurer de la mise en conformité les décisions communautaires aux politiques de l’entreprise</a:t>
            </a:r>
          </a:p>
        </p:txBody>
      </p:sp>
      <p:sp>
        <p:nvSpPr>
          <p:cNvPr id="101" name="Rectangle 100">
            <a:extLst>
              <a:ext uri="{FF2B5EF4-FFF2-40B4-BE49-F238E27FC236}">
                <a16:creationId xmlns:a16="http://schemas.microsoft.com/office/drawing/2014/main" id="{D436BC8D-E9DC-C9B7-A99C-2E80575CFCC3}"/>
              </a:ext>
            </a:extLst>
          </p:cNvPr>
          <p:cNvSpPr/>
          <p:nvPr/>
        </p:nvSpPr>
        <p:spPr>
          <a:xfrm>
            <a:off x="7605132" y="4565007"/>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🏛️S’assurer de la mise en conformité des décisions communautaires aux politiques de l’entreprise</a:t>
            </a:r>
          </a:p>
        </p:txBody>
      </p:sp>
      <p:sp>
        <p:nvSpPr>
          <p:cNvPr id="102" name="Rectangle 101">
            <a:extLst>
              <a:ext uri="{FF2B5EF4-FFF2-40B4-BE49-F238E27FC236}">
                <a16:creationId xmlns:a16="http://schemas.microsoft.com/office/drawing/2014/main" id="{FBA5A799-C17F-6ED7-2976-E1685C0837BD}"/>
              </a:ext>
            </a:extLst>
          </p:cNvPr>
          <p:cNvSpPr/>
          <p:nvPr/>
        </p:nvSpPr>
        <p:spPr>
          <a:xfrm>
            <a:off x="1555920" y="5333301"/>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📈Communiquer sur la valeur et la performance de la Communauté</a:t>
            </a:r>
          </a:p>
        </p:txBody>
      </p:sp>
      <p:sp>
        <p:nvSpPr>
          <p:cNvPr id="103" name="Rectangle 102">
            <a:extLst>
              <a:ext uri="{FF2B5EF4-FFF2-40B4-BE49-F238E27FC236}">
                <a16:creationId xmlns:a16="http://schemas.microsoft.com/office/drawing/2014/main" id="{C276B430-8B8D-E366-D259-C2E91C61AA3A}"/>
              </a:ext>
            </a:extLst>
          </p:cNvPr>
          <p:cNvSpPr/>
          <p:nvPr/>
        </p:nvSpPr>
        <p:spPr>
          <a:xfrm>
            <a:off x="6031625" y="4582022"/>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🤝S’assurer de la bonne collaboration de parties prenantes extérieures avec la Communauté</a:t>
            </a:r>
          </a:p>
        </p:txBody>
      </p:sp>
      <p:sp>
        <p:nvSpPr>
          <p:cNvPr id="104" name="Rectangle 103">
            <a:extLst>
              <a:ext uri="{FF2B5EF4-FFF2-40B4-BE49-F238E27FC236}">
                <a16:creationId xmlns:a16="http://schemas.microsoft.com/office/drawing/2014/main" id="{18F7AA4F-EAEA-4C91-CA92-2AFBFA401B4D}"/>
              </a:ext>
            </a:extLst>
          </p:cNvPr>
          <p:cNvSpPr/>
          <p:nvPr/>
        </p:nvSpPr>
        <p:spPr>
          <a:xfrm>
            <a:off x="4551531" y="6053920"/>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✨Motiver les membres de la Communauté</a:t>
            </a:r>
          </a:p>
        </p:txBody>
      </p:sp>
      <p:grpSp>
        <p:nvGrpSpPr>
          <p:cNvPr id="105" name="Groupe 104">
            <a:extLst>
              <a:ext uri="{FF2B5EF4-FFF2-40B4-BE49-F238E27FC236}">
                <a16:creationId xmlns:a16="http://schemas.microsoft.com/office/drawing/2014/main" id="{89E4AC40-8DB9-4FA5-1AF1-C1DFE69F6A6C}"/>
              </a:ext>
            </a:extLst>
          </p:cNvPr>
          <p:cNvGrpSpPr/>
          <p:nvPr/>
        </p:nvGrpSpPr>
        <p:grpSpPr>
          <a:xfrm>
            <a:off x="10604907" y="1327568"/>
            <a:ext cx="1288343" cy="1288343"/>
            <a:chOff x="7814209" y="3970452"/>
            <a:chExt cx="2521669" cy="2521669"/>
          </a:xfrm>
        </p:grpSpPr>
        <p:pic>
          <p:nvPicPr>
            <p:cNvPr id="106" name="Graphique 105" descr="Employée de bureau avec un remplissage uni">
              <a:extLst>
                <a:ext uri="{FF2B5EF4-FFF2-40B4-BE49-F238E27FC236}">
                  <a16:creationId xmlns:a16="http://schemas.microsoft.com/office/drawing/2014/main" id="{5D418D6B-0894-60EE-43BC-7DB7CC12CBB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14209" y="3970452"/>
              <a:ext cx="2521669" cy="2521669"/>
            </a:xfrm>
            <a:prstGeom prst="rect">
              <a:avLst/>
            </a:prstGeom>
          </p:spPr>
        </p:pic>
        <p:sp>
          <p:nvSpPr>
            <p:cNvPr id="107" name="Rectangle 106">
              <a:extLst>
                <a:ext uri="{FF2B5EF4-FFF2-40B4-BE49-F238E27FC236}">
                  <a16:creationId xmlns:a16="http://schemas.microsoft.com/office/drawing/2014/main" id="{224D8E15-4FEE-5465-D78E-BC08299A8A07}"/>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108" name="Rectangle 107">
            <a:extLst>
              <a:ext uri="{FF2B5EF4-FFF2-40B4-BE49-F238E27FC236}">
                <a16:creationId xmlns:a16="http://schemas.microsoft.com/office/drawing/2014/main" id="{6F258D74-88CD-AD34-0140-F83971402178}"/>
              </a:ext>
            </a:extLst>
          </p:cNvPr>
          <p:cNvSpPr/>
          <p:nvPr/>
        </p:nvSpPr>
        <p:spPr>
          <a:xfrm>
            <a:off x="10527421" y="2282526"/>
            <a:ext cx="1445900" cy="648995"/>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b="1" dirty="0">
                <a:solidFill>
                  <a:schemeClr val="tx1"/>
                </a:solidFill>
              </a:rPr>
              <a:t>Sponsor gardien des valeurs</a:t>
            </a:r>
          </a:p>
        </p:txBody>
      </p:sp>
      <p:pic>
        <p:nvPicPr>
          <p:cNvPr id="109" name="Graphique 108" descr="Balance de la justice avec un remplissage uni">
            <a:extLst>
              <a:ext uri="{FF2B5EF4-FFF2-40B4-BE49-F238E27FC236}">
                <a16:creationId xmlns:a16="http://schemas.microsoft.com/office/drawing/2014/main" id="{D1C184C6-5A8D-4BD2-2B84-53664F88992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11540153" y="1387289"/>
            <a:ext cx="706194" cy="706195"/>
          </a:xfrm>
          <a:prstGeom prst="rect">
            <a:avLst/>
          </a:prstGeom>
        </p:spPr>
      </p:pic>
      <p:sp>
        <p:nvSpPr>
          <p:cNvPr id="110" name="Rectangle 109">
            <a:extLst>
              <a:ext uri="{FF2B5EF4-FFF2-40B4-BE49-F238E27FC236}">
                <a16:creationId xmlns:a16="http://schemas.microsoft.com/office/drawing/2014/main" id="{C47FB508-D8E3-76DF-42FB-FA12A7ED0122}"/>
              </a:ext>
            </a:extLst>
          </p:cNvPr>
          <p:cNvSpPr/>
          <p:nvPr/>
        </p:nvSpPr>
        <p:spPr>
          <a:xfrm>
            <a:off x="10588668" y="3037722"/>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⚙️S’assurer du respect des valeurs morales de la Communauté dans la Communauté et avec la Communauté</a:t>
            </a:r>
          </a:p>
        </p:txBody>
      </p:sp>
      <p:sp>
        <p:nvSpPr>
          <p:cNvPr id="111" name="Rectangle 110">
            <a:extLst>
              <a:ext uri="{FF2B5EF4-FFF2-40B4-BE49-F238E27FC236}">
                <a16:creationId xmlns:a16="http://schemas.microsoft.com/office/drawing/2014/main" id="{345A7C36-5002-3FA3-D330-482BF9004AED}"/>
              </a:ext>
            </a:extLst>
          </p:cNvPr>
          <p:cNvSpPr/>
          <p:nvPr/>
        </p:nvSpPr>
        <p:spPr>
          <a:xfrm>
            <a:off x="10572260" y="4582021"/>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⚙️Oser signaler les dissonances entre les valeurs morales et le quotidien du terrain</a:t>
            </a:r>
          </a:p>
        </p:txBody>
      </p:sp>
      <p:sp>
        <p:nvSpPr>
          <p:cNvPr id="112" name="Rectangle 111">
            <a:extLst>
              <a:ext uri="{FF2B5EF4-FFF2-40B4-BE49-F238E27FC236}">
                <a16:creationId xmlns:a16="http://schemas.microsoft.com/office/drawing/2014/main" id="{808CFDD9-4243-A77C-FC5C-76200328592F}"/>
              </a:ext>
            </a:extLst>
          </p:cNvPr>
          <p:cNvSpPr/>
          <p:nvPr/>
        </p:nvSpPr>
        <p:spPr>
          <a:xfrm>
            <a:off x="10572260" y="5343397"/>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⚙️Pouvoir sanctionner en cas de dissonances entre les valeurs morales et le quotidien</a:t>
            </a:r>
          </a:p>
        </p:txBody>
      </p:sp>
      <p:sp>
        <p:nvSpPr>
          <p:cNvPr id="113" name="Rectangle 112">
            <a:extLst>
              <a:ext uri="{FF2B5EF4-FFF2-40B4-BE49-F238E27FC236}">
                <a16:creationId xmlns:a16="http://schemas.microsoft.com/office/drawing/2014/main" id="{1A56FD9E-1346-6E0B-6A8A-42AB5F66EF13}"/>
              </a:ext>
            </a:extLst>
          </p:cNvPr>
          <p:cNvSpPr/>
          <p:nvPr/>
        </p:nvSpPr>
        <p:spPr>
          <a:xfrm>
            <a:off x="10604907" y="3814757"/>
            <a:ext cx="1298092" cy="64761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⚙️S’assurer de la promotion des valeurs morales de la Communauté en dehors de la Communauté</a:t>
            </a:r>
          </a:p>
        </p:txBody>
      </p:sp>
    </p:spTree>
    <p:extLst>
      <p:ext uri="{BB962C8B-B14F-4D97-AF65-F5344CB8AC3E}">
        <p14:creationId xmlns:p14="http://schemas.microsoft.com/office/powerpoint/2010/main" val="2195125682"/>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C15B105-1058-4280-5DE6-496EFB2DEC89}"/>
              </a:ext>
            </a:extLst>
          </p:cNvPr>
          <p:cNvSpPr>
            <a:spLocks noGrp="1"/>
          </p:cNvSpPr>
          <p:nvPr>
            <p:ph type="title"/>
          </p:nvPr>
        </p:nvSpPr>
        <p:spPr>
          <a:xfrm>
            <a:off x="1581150" y="365125"/>
            <a:ext cx="9772650" cy="995907"/>
          </a:xfrm>
        </p:spPr>
        <p:txBody>
          <a:bodyPr>
            <a:normAutofit/>
          </a:bodyPr>
          <a:lstStyle/>
          <a:p>
            <a:r>
              <a:rPr lang="fr-FR" sz="2800" dirty="0"/>
              <a:t>Exemples d’actions opérationnelles pour servir un sponsor</a:t>
            </a:r>
            <a:br>
              <a:rPr lang="fr-FR" sz="1600" dirty="0"/>
            </a:br>
            <a:r>
              <a:rPr lang="fr-FR" sz="1600" dirty="0"/>
              <a:t>📅Evènements  , ✍️Contenus, ⚙️Structuration de Communauté</a:t>
            </a:r>
            <a:endParaRPr lang="fr-FR" sz="2800" dirty="0"/>
          </a:p>
        </p:txBody>
      </p:sp>
      <p:grpSp>
        <p:nvGrpSpPr>
          <p:cNvPr id="12" name="Groupe 11">
            <a:extLst>
              <a:ext uri="{FF2B5EF4-FFF2-40B4-BE49-F238E27FC236}">
                <a16:creationId xmlns:a16="http://schemas.microsoft.com/office/drawing/2014/main" id="{ABF84861-6F59-780F-7D32-F925D2D2C84E}"/>
              </a:ext>
            </a:extLst>
          </p:cNvPr>
          <p:cNvGrpSpPr/>
          <p:nvPr/>
        </p:nvGrpSpPr>
        <p:grpSpPr>
          <a:xfrm>
            <a:off x="223529" y="365125"/>
            <a:ext cx="1255731" cy="995907"/>
            <a:chOff x="5064446" y="1851546"/>
            <a:chExt cx="3517367" cy="2789586"/>
          </a:xfrm>
        </p:grpSpPr>
        <p:pic>
          <p:nvPicPr>
            <p:cNvPr id="13" name="Graphique 12" descr="Employée de bureau avec un remplissage uni">
              <a:extLst>
                <a:ext uri="{FF2B5EF4-FFF2-40B4-BE49-F238E27FC236}">
                  <a16:creationId xmlns:a16="http://schemas.microsoft.com/office/drawing/2014/main" id="{25754455-5EF2-984C-DEED-7C03DC32A0E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45784" y="2079750"/>
              <a:ext cx="2521669" cy="2521669"/>
            </a:xfrm>
            <a:prstGeom prst="rect">
              <a:avLst/>
            </a:prstGeom>
          </p:spPr>
        </p:pic>
        <p:pic>
          <p:nvPicPr>
            <p:cNvPr id="14" name="Graphique 13" descr="Mégaphone avec un remplissage uni">
              <a:extLst>
                <a:ext uri="{FF2B5EF4-FFF2-40B4-BE49-F238E27FC236}">
                  <a16:creationId xmlns:a16="http://schemas.microsoft.com/office/drawing/2014/main" id="{EAC6D142-1934-9C33-F35F-0426E5D75D47}"/>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t="14658"/>
            <a:stretch/>
          </p:blipFill>
          <p:spPr>
            <a:xfrm rot="256443">
              <a:off x="7821274" y="2636665"/>
              <a:ext cx="760539" cy="649056"/>
            </a:xfrm>
            <a:prstGeom prst="rect">
              <a:avLst/>
            </a:prstGeom>
          </p:spPr>
        </p:pic>
        <p:pic>
          <p:nvPicPr>
            <p:cNvPr id="15" name="Graphique 14" descr="Bouclier coche avec un remplissage uni">
              <a:extLst>
                <a:ext uri="{FF2B5EF4-FFF2-40B4-BE49-F238E27FC236}">
                  <a16:creationId xmlns:a16="http://schemas.microsoft.com/office/drawing/2014/main" id="{3857424A-8008-AA2E-B4D4-347219969D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02847" y="3316113"/>
              <a:ext cx="632787" cy="632787"/>
            </a:xfrm>
            <a:prstGeom prst="rect">
              <a:avLst/>
            </a:prstGeom>
          </p:spPr>
        </p:pic>
        <p:pic>
          <p:nvPicPr>
            <p:cNvPr id="16" name="Graphique 15" descr="Tirelire avec un remplissage uni">
              <a:extLst>
                <a:ext uri="{FF2B5EF4-FFF2-40B4-BE49-F238E27FC236}">
                  <a16:creationId xmlns:a16="http://schemas.microsoft.com/office/drawing/2014/main" id="{1A5D8ED5-0A0B-D502-9045-FAF9FFB0B8E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7507152" y="3954810"/>
              <a:ext cx="759628" cy="686322"/>
            </a:xfrm>
            <a:prstGeom prst="rect">
              <a:avLst/>
            </a:prstGeom>
          </p:spPr>
        </p:pic>
        <p:pic>
          <p:nvPicPr>
            <p:cNvPr id="17" name="Graphique 16" descr="Index pointant vers la droite vu du côté du dos de la main avec un remplissage uni">
              <a:extLst>
                <a:ext uri="{FF2B5EF4-FFF2-40B4-BE49-F238E27FC236}">
                  <a16:creationId xmlns:a16="http://schemas.microsoft.com/office/drawing/2014/main" id="{1C5A352D-74AD-A57A-4E2E-6DF7252E7538}"/>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13336"/>
            <a:stretch/>
          </p:blipFill>
          <p:spPr>
            <a:xfrm rot="18229742">
              <a:off x="7462263" y="1907472"/>
              <a:ext cx="838736" cy="726884"/>
            </a:xfrm>
            <a:prstGeom prst="rect">
              <a:avLst/>
            </a:prstGeom>
          </p:spPr>
        </p:pic>
        <p:pic>
          <p:nvPicPr>
            <p:cNvPr id="18" name="Graphique 17" descr="Calendrier journalier avec un remplissage uni">
              <a:extLst>
                <a:ext uri="{FF2B5EF4-FFF2-40B4-BE49-F238E27FC236}">
                  <a16:creationId xmlns:a16="http://schemas.microsoft.com/office/drawing/2014/main" id="{557BDD80-8B45-B023-2F7B-8B98E527CC3E}"/>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266526" y="2469352"/>
              <a:ext cx="491841" cy="491841"/>
            </a:xfrm>
            <a:prstGeom prst="rect">
              <a:avLst/>
            </a:prstGeom>
          </p:spPr>
        </p:pic>
        <p:pic>
          <p:nvPicPr>
            <p:cNvPr id="19" name="Graphique 18" descr="Menottes avec un remplissage uni">
              <a:extLst>
                <a:ext uri="{FF2B5EF4-FFF2-40B4-BE49-F238E27FC236}">
                  <a16:creationId xmlns:a16="http://schemas.microsoft.com/office/drawing/2014/main" id="{22F1E536-83CF-1632-DD0C-E12DB644F81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064446" y="3093895"/>
              <a:ext cx="538611" cy="538611"/>
            </a:xfrm>
            <a:prstGeom prst="rect">
              <a:avLst/>
            </a:prstGeom>
          </p:spPr>
        </p:pic>
        <p:pic>
          <p:nvPicPr>
            <p:cNvPr id="20" name="Graphique 19" descr="Marteau d'officiel avec un remplissage uni">
              <a:extLst>
                <a:ext uri="{FF2B5EF4-FFF2-40B4-BE49-F238E27FC236}">
                  <a16:creationId xmlns:a16="http://schemas.microsoft.com/office/drawing/2014/main" id="{28650201-6D37-26A3-32C2-D4953BD6ECB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126450" y="3854695"/>
              <a:ext cx="538610" cy="499611"/>
            </a:xfrm>
            <a:prstGeom prst="rect">
              <a:avLst/>
            </a:prstGeom>
          </p:spPr>
        </p:pic>
      </p:grpSp>
      <p:sp>
        <p:nvSpPr>
          <p:cNvPr id="55" name="Rectangle 54">
            <a:extLst>
              <a:ext uri="{FF2B5EF4-FFF2-40B4-BE49-F238E27FC236}">
                <a16:creationId xmlns:a16="http://schemas.microsoft.com/office/drawing/2014/main" id="{98B8B59D-028A-9B94-2530-6AB88A97EFCE}"/>
              </a:ext>
            </a:extLst>
          </p:cNvPr>
          <p:cNvSpPr/>
          <p:nvPr/>
        </p:nvSpPr>
        <p:spPr>
          <a:xfrm>
            <a:off x="11028612" y="1519509"/>
            <a:ext cx="890251" cy="1261537"/>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sp>
        <p:nvSpPr>
          <p:cNvPr id="60" name="Rectangle 59">
            <a:extLst>
              <a:ext uri="{FF2B5EF4-FFF2-40B4-BE49-F238E27FC236}">
                <a16:creationId xmlns:a16="http://schemas.microsoft.com/office/drawing/2014/main" id="{E2F53600-176E-1DB5-DB8A-1268823B0CEC}"/>
              </a:ext>
            </a:extLst>
          </p:cNvPr>
          <p:cNvSpPr/>
          <p:nvPr/>
        </p:nvSpPr>
        <p:spPr>
          <a:xfrm>
            <a:off x="1283441" y="2866658"/>
            <a:ext cx="1120155" cy="6554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📅✍️Questions des membres / réponses du sponsor</a:t>
            </a:r>
          </a:p>
        </p:txBody>
      </p:sp>
      <p:sp>
        <p:nvSpPr>
          <p:cNvPr id="61" name="Rectangle 60">
            <a:extLst>
              <a:ext uri="{FF2B5EF4-FFF2-40B4-BE49-F238E27FC236}">
                <a16:creationId xmlns:a16="http://schemas.microsoft.com/office/drawing/2014/main" id="{B5C8F13F-C55B-E035-E458-8895C00ED58E}"/>
              </a:ext>
            </a:extLst>
          </p:cNvPr>
          <p:cNvSpPr/>
          <p:nvPr/>
        </p:nvSpPr>
        <p:spPr>
          <a:xfrm>
            <a:off x="1280027" y="3620637"/>
            <a:ext cx="1120155" cy="6554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📅Evénement ouvert à l’externe avec intervention importante de sponsor</a:t>
            </a:r>
          </a:p>
        </p:txBody>
      </p:sp>
      <p:sp>
        <p:nvSpPr>
          <p:cNvPr id="62" name="Rectangle 61">
            <a:extLst>
              <a:ext uri="{FF2B5EF4-FFF2-40B4-BE49-F238E27FC236}">
                <a16:creationId xmlns:a16="http://schemas.microsoft.com/office/drawing/2014/main" id="{B5B503AF-C624-F4C2-0291-3670B776FD89}"/>
              </a:ext>
            </a:extLst>
          </p:cNvPr>
          <p:cNvSpPr/>
          <p:nvPr/>
        </p:nvSpPr>
        <p:spPr>
          <a:xfrm>
            <a:off x="4892365" y="4391637"/>
            <a:ext cx="1120155" cy="6707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✍️Rapport d’activités et de résultats de la Communauté envoyé au sponsor</a:t>
            </a:r>
          </a:p>
        </p:txBody>
      </p:sp>
      <p:sp>
        <p:nvSpPr>
          <p:cNvPr id="63" name="Rectangle 62">
            <a:extLst>
              <a:ext uri="{FF2B5EF4-FFF2-40B4-BE49-F238E27FC236}">
                <a16:creationId xmlns:a16="http://schemas.microsoft.com/office/drawing/2014/main" id="{D4721EBA-D367-C9DC-B05B-AC3259D41C1B}"/>
              </a:ext>
            </a:extLst>
          </p:cNvPr>
          <p:cNvSpPr/>
          <p:nvPr/>
        </p:nvSpPr>
        <p:spPr>
          <a:xfrm>
            <a:off x="4892366" y="2866658"/>
            <a:ext cx="1120155" cy="9959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📅Atelier de clarification de valeur de la Communauté pour l’entreprise ou le périmètre du sponsor</a:t>
            </a:r>
          </a:p>
        </p:txBody>
      </p:sp>
      <p:sp>
        <p:nvSpPr>
          <p:cNvPr id="64" name="Rectangle 63">
            <a:extLst>
              <a:ext uri="{FF2B5EF4-FFF2-40B4-BE49-F238E27FC236}">
                <a16:creationId xmlns:a16="http://schemas.microsoft.com/office/drawing/2014/main" id="{B909EC3D-26C7-737D-C566-BA4913066B52}"/>
              </a:ext>
            </a:extLst>
          </p:cNvPr>
          <p:cNvSpPr/>
          <p:nvPr/>
        </p:nvSpPr>
        <p:spPr>
          <a:xfrm>
            <a:off x="1286529" y="5097011"/>
            <a:ext cx="1120155" cy="7157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✍️Contenus de mise en valeur de la contribution de la Communauté pour l’entreprise</a:t>
            </a:r>
          </a:p>
        </p:txBody>
      </p:sp>
      <p:sp>
        <p:nvSpPr>
          <p:cNvPr id="65" name="Rectangle 64">
            <a:extLst>
              <a:ext uri="{FF2B5EF4-FFF2-40B4-BE49-F238E27FC236}">
                <a16:creationId xmlns:a16="http://schemas.microsoft.com/office/drawing/2014/main" id="{AEF412FF-7ED5-2954-7049-4CFB7CF0767F}"/>
              </a:ext>
            </a:extLst>
          </p:cNvPr>
          <p:cNvSpPr/>
          <p:nvPr/>
        </p:nvSpPr>
        <p:spPr>
          <a:xfrm>
            <a:off x="1280026" y="5886605"/>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décisionnaire proposé au sponsor </a:t>
            </a:r>
          </a:p>
        </p:txBody>
      </p:sp>
      <p:sp>
        <p:nvSpPr>
          <p:cNvPr id="66" name="Rectangle 65">
            <a:extLst>
              <a:ext uri="{FF2B5EF4-FFF2-40B4-BE49-F238E27FC236}">
                <a16:creationId xmlns:a16="http://schemas.microsoft.com/office/drawing/2014/main" id="{A0B01C8D-E7CB-A902-6825-EF71F13A2E26}"/>
              </a:ext>
            </a:extLst>
          </p:cNvPr>
          <p:cNvSpPr/>
          <p:nvPr/>
        </p:nvSpPr>
        <p:spPr>
          <a:xfrm>
            <a:off x="4892365" y="5163142"/>
            <a:ext cx="1120155" cy="5531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décisionnaire systématique proposé au sponsor </a:t>
            </a:r>
          </a:p>
        </p:txBody>
      </p:sp>
      <p:sp>
        <p:nvSpPr>
          <p:cNvPr id="67" name="Rectangle 66">
            <a:extLst>
              <a:ext uri="{FF2B5EF4-FFF2-40B4-BE49-F238E27FC236}">
                <a16:creationId xmlns:a16="http://schemas.microsoft.com/office/drawing/2014/main" id="{AF038A9A-79E8-968C-4620-DF0DB6D90A1C}"/>
              </a:ext>
            </a:extLst>
          </p:cNvPr>
          <p:cNvSpPr/>
          <p:nvPr/>
        </p:nvSpPr>
        <p:spPr>
          <a:xfrm>
            <a:off x="1286529" y="4352792"/>
            <a:ext cx="1120155" cy="70410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✍️Contenus avec mise en valeur des sponsors et de leur contribution à la Communauté</a:t>
            </a:r>
          </a:p>
        </p:txBody>
      </p:sp>
      <p:sp>
        <p:nvSpPr>
          <p:cNvPr id="68" name="Rectangle 67">
            <a:extLst>
              <a:ext uri="{FF2B5EF4-FFF2-40B4-BE49-F238E27FC236}">
                <a16:creationId xmlns:a16="http://schemas.microsoft.com/office/drawing/2014/main" id="{69F91C59-EC0B-C85B-36D5-A68DFA30E121}"/>
              </a:ext>
            </a:extLst>
          </p:cNvPr>
          <p:cNvSpPr/>
          <p:nvPr/>
        </p:nvSpPr>
        <p:spPr>
          <a:xfrm>
            <a:off x="79328" y="2866658"/>
            <a:ext cx="1120155" cy="8265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📅⚙️Mises en relation de parties prenantes clés pour la carrière du sponsor via la Communauté</a:t>
            </a:r>
          </a:p>
        </p:txBody>
      </p:sp>
      <p:pic>
        <p:nvPicPr>
          <p:cNvPr id="70" name="Image 69">
            <a:extLst>
              <a:ext uri="{FF2B5EF4-FFF2-40B4-BE49-F238E27FC236}">
                <a16:creationId xmlns:a16="http://schemas.microsoft.com/office/drawing/2014/main" id="{4E37CAD3-1A10-6507-28AF-7918EB3AE5FA}"/>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80146" y="1346853"/>
            <a:ext cx="998001" cy="1409700"/>
          </a:xfrm>
          <a:prstGeom prst="rect">
            <a:avLst/>
          </a:prstGeom>
        </p:spPr>
      </p:pic>
      <p:pic>
        <p:nvPicPr>
          <p:cNvPr id="71" name="Image 70">
            <a:extLst>
              <a:ext uri="{FF2B5EF4-FFF2-40B4-BE49-F238E27FC236}">
                <a16:creationId xmlns:a16="http://schemas.microsoft.com/office/drawing/2014/main" id="{CDC31638-07F1-E19F-F937-59035A667719}"/>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2549149" y="1346853"/>
            <a:ext cx="998001" cy="1409700"/>
          </a:xfrm>
          <a:prstGeom prst="rect">
            <a:avLst/>
          </a:prstGeom>
        </p:spPr>
      </p:pic>
      <p:pic>
        <p:nvPicPr>
          <p:cNvPr id="72" name="Image 71" descr="Une image contenant texte&#10;&#10;Description générée automatiquement">
            <a:extLst>
              <a:ext uri="{FF2B5EF4-FFF2-40B4-BE49-F238E27FC236}">
                <a16:creationId xmlns:a16="http://schemas.microsoft.com/office/drawing/2014/main" id="{4E7D3566-717E-648E-893F-BE5F07E684EF}"/>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6168419" y="1346853"/>
            <a:ext cx="998001" cy="1409700"/>
          </a:xfrm>
          <a:prstGeom prst="rect">
            <a:avLst/>
          </a:prstGeom>
        </p:spPr>
      </p:pic>
      <p:pic>
        <p:nvPicPr>
          <p:cNvPr id="73" name="Image 72">
            <a:extLst>
              <a:ext uri="{FF2B5EF4-FFF2-40B4-BE49-F238E27FC236}">
                <a16:creationId xmlns:a16="http://schemas.microsoft.com/office/drawing/2014/main" id="{EB821296-DCA8-4F4F-044B-02F1DF5E9621}"/>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8560444" y="1346853"/>
            <a:ext cx="998001" cy="1409700"/>
          </a:xfrm>
          <a:prstGeom prst="rect">
            <a:avLst/>
          </a:prstGeom>
        </p:spPr>
      </p:pic>
      <p:pic>
        <p:nvPicPr>
          <p:cNvPr id="74" name="Image 73">
            <a:extLst>
              <a:ext uri="{FF2B5EF4-FFF2-40B4-BE49-F238E27FC236}">
                <a16:creationId xmlns:a16="http://schemas.microsoft.com/office/drawing/2014/main" id="{93B7EB5C-45E9-C67B-4827-295055F99D41}"/>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1336789" y="1346853"/>
            <a:ext cx="998001" cy="1409700"/>
          </a:xfrm>
          <a:prstGeom prst="rect">
            <a:avLst/>
          </a:prstGeom>
        </p:spPr>
      </p:pic>
      <p:pic>
        <p:nvPicPr>
          <p:cNvPr id="75" name="Image 74">
            <a:extLst>
              <a:ext uri="{FF2B5EF4-FFF2-40B4-BE49-F238E27FC236}">
                <a16:creationId xmlns:a16="http://schemas.microsoft.com/office/drawing/2014/main" id="{A4AF22FF-10A9-5972-D986-7FC0A9790AE7}"/>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3752743" y="1346853"/>
            <a:ext cx="998001" cy="1409700"/>
          </a:xfrm>
          <a:prstGeom prst="rect">
            <a:avLst/>
          </a:prstGeom>
        </p:spPr>
      </p:pic>
      <p:pic>
        <p:nvPicPr>
          <p:cNvPr id="76" name="Image 75" descr="Une image contenant texte&#10;&#10;Description générée automatiquement">
            <a:extLst>
              <a:ext uri="{FF2B5EF4-FFF2-40B4-BE49-F238E27FC236}">
                <a16:creationId xmlns:a16="http://schemas.microsoft.com/office/drawing/2014/main" id="{89D95096-D740-DF96-FD1C-FBD8494BC6F7}"/>
              </a:ext>
            </a:extLst>
          </p:cNvPr>
          <p:cNvPicPr>
            <a:picLocks noChangeAspect="1"/>
          </p:cNvPicPr>
          <p:nvPr/>
        </p:nvPicPr>
        <p:blipFill>
          <a:blip r:embed="rId24">
            <a:extLst>
              <a:ext uri="{28A0092B-C50C-407E-A947-70E740481C1C}">
                <a14:useLocalDpi xmlns:a14="http://schemas.microsoft.com/office/drawing/2010/main" val="0"/>
              </a:ext>
            </a:extLst>
          </a:blip>
          <a:stretch>
            <a:fillRect/>
          </a:stretch>
        </p:blipFill>
        <p:spPr>
          <a:xfrm>
            <a:off x="7354840" y="1346853"/>
            <a:ext cx="998001" cy="1409700"/>
          </a:xfrm>
          <a:prstGeom prst="rect">
            <a:avLst/>
          </a:prstGeom>
        </p:spPr>
      </p:pic>
      <p:pic>
        <p:nvPicPr>
          <p:cNvPr id="77" name="Image 76" descr="Une image contenant texte&#10;&#10;Description générée automatiquement">
            <a:extLst>
              <a:ext uri="{FF2B5EF4-FFF2-40B4-BE49-F238E27FC236}">
                <a16:creationId xmlns:a16="http://schemas.microsoft.com/office/drawing/2014/main" id="{2EE576C0-C295-0D84-5098-7B16294FFD3A}"/>
              </a:ext>
            </a:extLst>
          </p:cNvPr>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9769599" y="1346853"/>
            <a:ext cx="998001" cy="1409700"/>
          </a:xfrm>
          <a:prstGeom prst="rect">
            <a:avLst/>
          </a:prstGeom>
        </p:spPr>
      </p:pic>
      <p:pic>
        <p:nvPicPr>
          <p:cNvPr id="78" name="Image 77" descr="Une image contenant texte&#10;&#10;Description générée automatiquement">
            <a:extLst>
              <a:ext uri="{FF2B5EF4-FFF2-40B4-BE49-F238E27FC236}">
                <a16:creationId xmlns:a16="http://schemas.microsoft.com/office/drawing/2014/main" id="{C6EF0189-C4E8-5CBB-4686-4D92372F47DE}"/>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4948294" y="1346853"/>
            <a:ext cx="998646" cy="1397013"/>
          </a:xfrm>
          <a:prstGeom prst="rect">
            <a:avLst/>
          </a:prstGeom>
        </p:spPr>
      </p:pic>
      <p:sp>
        <p:nvSpPr>
          <p:cNvPr id="79" name="Rectangle 78">
            <a:extLst>
              <a:ext uri="{FF2B5EF4-FFF2-40B4-BE49-F238E27FC236}">
                <a16:creationId xmlns:a16="http://schemas.microsoft.com/office/drawing/2014/main" id="{FEE32C89-A6A6-4672-600E-5EAC4802642A}"/>
              </a:ext>
            </a:extLst>
          </p:cNvPr>
          <p:cNvSpPr/>
          <p:nvPr/>
        </p:nvSpPr>
        <p:spPr>
          <a:xfrm>
            <a:off x="6093065" y="2866658"/>
            <a:ext cx="1120155" cy="7157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✍️Contenus de mise en valeur de la contribution de la Communauté pour l’entreprise</a:t>
            </a:r>
          </a:p>
        </p:txBody>
      </p:sp>
      <p:sp>
        <p:nvSpPr>
          <p:cNvPr id="80" name="Rectangle 79">
            <a:extLst>
              <a:ext uri="{FF2B5EF4-FFF2-40B4-BE49-F238E27FC236}">
                <a16:creationId xmlns:a16="http://schemas.microsoft.com/office/drawing/2014/main" id="{02F5F851-2619-2178-EA75-B671C5850A4E}"/>
              </a:ext>
            </a:extLst>
          </p:cNvPr>
          <p:cNvSpPr/>
          <p:nvPr/>
        </p:nvSpPr>
        <p:spPr>
          <a:xfrm>
            <a:off x="2488182" y="3379403"/>
            <a:ext cx="1120155" cy="6707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📅Activité considérée exceptionnelle pour le sponsor</a:t>
            </a:r>
          </a:p>
        </p:txBody>
      </p:sp>
      <p:sp>
        <p:nvSpPr>
          <p:cNvPr id="81" name="Rectangle 80">
            <a:extLst>
              <a:ext uri="{FF2B5EF4-FFF2-40B4-BE49-F238E27FC236}">
                <a16:creationId xmlns:a16="http://schemas.microsoft.com/office/drawing/2014/main" id="{0442AEB8-07DB-704A-D63F-C56FBD8F4A21}"/>
              </a:ext>
            </a:extLst>
          </p:cNvPr>
          <p:cNvSpPr/>
          <p:nvPr/>
        </p:nvSpPr>
        <p:spPr>
          <a:xfrm>
            <a:off x="3691667" y="2866658"/>
            <a:ext cx="1120155" cy="6554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📅Evénement rencontre et discussion directe avec le sponsor</a:t>
            </a:r>
          </a:p>
        </p:txBody>
      </p:sp>
      <p:sp>
        <p:nvSpPr>
          <p:cNvPr id="82" name="Rectangle 81">
            <a:extLst>
              <a:ext uri="{FF2B5EF4-FFF2-40B4-BE49-F238E27FC236}">
                <a16:creationId xmlns:a16="http://schemas.microsoft.com/office/drawing/2014/main" id="{E2CFF3D5-16A0-DDF8-8D04-476C8B6734B6}"/>
              </a:ext>
            </a:extLst>
          </p:cNvPr>
          <p:cNvSpPr/>
          <p:nvPr/>
        </p:nvSpPr>
        <p:spPr>
          <a:xfrm>
            <a:off x="7293764" y="2866658"/>
            <a:ext cx="1120155" cy="6404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décisionnaire au besoin proposé au sponsor </a:t>
            </a:r>
          </a:p>
        </p:txBody>
      </p:sp>
      <p:sp>
        <p:nvSpPr>
          <p:cNvPr id="83" name="Rectangle 82">
            <a:extLst>
              <a:ext uri="{FF2B5EF4-FFF2-40B4-BE49-F238E27FC236}">
                <a16:creationId xmlns:a16="http://schemas.microsoft.com/office/drawing/2014/main" id="{9AE74967-5690-05D3-84C1-1A1AFB8BDCD5}"/>
              </a:ext>
            </a:extLst>
          </p:cNvPr>
          <p:cNvSpPr/>
          <p:nvPr/>
        </p:nvSpPr>
        <p:spPr>
          <a:xfrm>
            <a:off x="2488182" y="4106868"/>
            <a:ext cx="1120155" cy="6025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✍️Contenus au format innovant par rapport à ce que connaît le sponsor</a:t>
            </a:r>
          </a:p>
        </p:txBody>
      </p:sp>
      <p:sp>
        <p:nvSpPr>
          <p:cNvPr id="84" name="Rectangle 83">
            <a:extLst>
              <a:ext uri="{FF2B5EF4-FFF2-40B4-BE49-F238E27FC236}">
                <a16:creationId xmlns:a16="http://schemas.microsoft.com/office/drawing/2014/main" id="{9C3C3280-6BE4-FF5A-BF4B-72E30D8123C9}"/>
              </a:ext>
            </a:extLst>
          </p:cNvPr>
          <p:cNvSpPr/>
          <p:nvPr/>
        </p:nvSpPr>
        <p:spPr>
          <a:xfrm>
            <a:off x="9689520" y="2866658"/>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⚙️Rôle de participant proposé au sponsor</a:t>
            </a:r>
          </a:p>
        </p:txBody>
      </p:sp>
      <p:sp>
        <p:nvSpPr>
          <p:cNvPr id="85" name="Rectangle 84">
            <a:extLst>
              <a:ext uri="{FF2B5EF4-FFF2-40B4-BE49-F238E27FC236}">
                <a16:creationId xmlns:a16="http://schemas.microsoft.com/office/drawing/2014/main" id="{C9954132-5F4B-7C59-A297-45CA68F663E4}"/>
              </a:ext>
            </a:extLst>
          </p:cNvPr>
          <p:cNvSpPr/>
          <p:nvPr/>
        </p:nvSpPr>
        <p:spPr>
          <a:xfrm>
            <a:off x="2489575" y="2866658"/>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participant proposé au sponsor </a:t>
            </a:r>
          </a:p>
        </p:txBody>
      </p:sp>
      <p:sp>
        <p:nvSpPr>
          <p:cNvPr id="86" name="Rectangle 85">
            <a:extLst>
              <a:ext uri="{FF2B5EF4-FFF2-40B4-BE49-F238E27FC236}">
                <a16:creationId xmlns:a16="http://schemas.microsoft.com/office/drawing/2014/main" id="{3BC89C05-D863-891D-E79C-ADA85C5B56D5}"/>
              </a:ext>
            </a:extLst>
          </p:cNvPr>
          <p:cNvSpPr/>
          <p:nvPr/>
        </p:nvSpPr>
        <p:spPr>
          <a:xfrm>
            <a:off x="4892365" y="5787568"/>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d’obligateur proposé au sponsor </a:t>
            </a:r>
          </a:p>
        </p:txBody>
      </p:sp>
      <p:sp>
        <p:nvSpPr>
          <p:cNvPr id="87" name="Rectangle 86">
            <a:extLst>
              <a:ext uri="{FF2B5EF4-FFF2-40B4-BE49-F238E27FC236}">
                <a16:creationId xmlns:a16="http://schemas.microsoft.com/office/drawing/2014/main" id="{13659BDD-D9F0-6821-5622-39299C7BA9BE}"/>
              </a:ext>
            </a:extLst>
          </p:cNvPr>
          <p:cNvSpPr/>
          <p:nvPr/>
        </p:nvSpPr>
        <p:spPr>
          <a:xfrm>
            <a:off x="3690355" y="3572247"/>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participant proposé au sponsor </a:t>
            </a:r>
          </a:p>
        </p:txBody>
      </p:sp>
      <p:sp>
        <p:nvSpPr>
          <p:cNvPr id="88" name="Rectangle 87">
            <a:extLst>
              <a:ext uri="{FF2B5EF4-FFF2-40B4-BE49-F238E27FC236}">
                <a16:creationId xmlns:a16="http://schemas.microsoft.com/office/drawing/2014/main" id="{0D9ADAA3-9A4D-C61D-B593-447CBDD6EA13}"/>
              </a:ext>
            </a:extLst>
          </p:cNvPr>
          <p:cNvSpPr/>
          <p:nvPr/>
        </p:nvSpPr>
        <p:spPr>
          <a:xfrm>
            <a:off x="6093064" y="3602551"/>
            <a:ext cx="1120155" cy="71571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✍️Contenus de mise en valeur de la contribution de la Communauté en général</a:t>
            </a:r>
          </a:p>
        </p:txBody>
      </p:sp>
      <p:sp>
        <p:nvSpPr>
          <p:cNvPr id="89" name="Rectangle 88">
            <a:extLst>
              <a:ext uri="{FF2B5EF4-FFF2-40B4-BE49-F238E27FC236}">
                <a16:creationId xmlns:a16="http://schemas.microsoft.com/office/drawing/2014/main" id="{176C62F9-991A-E06C-B6AB-DDFDB9D73F8A}"/>
              </a:ext>
            </a:extLst>
          </p:cNvPr>
          <p:cNvSpPr/>
          <p:nvPr/>
        </p:nvSpPr>
        <p:spPr>
          <a:xfrm>
            <a:off x="1265496" y="6363224"/>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promoteur proposé au sponsor</a:t>
            </a:r>
          </a:p>
        </p:txBody>
      </p:sp>
      <p:sp>
        <p:nvSpPr>
          <p:cNvPr id="90" name="Rectangle 89">
            <a:extLst>
              <a:ext uri="{FF2B5EF4-FFF2-40B4-BE49-F238E27FC236}">
                <a16:creationId xmlns:a16="http://schemas.microsoft.com/office/drawing/2014/main" id="{2AF893F9-7BB0-1C28-96EE-84956E8675EC}"/>
              </a:ext>
            </a:extLst>
          </p:cNvPr>
          <p:cNvSpPr/>
          <p:nvPr/>
        </p:nvSpPr>
        <p:spPr>
          <a:xfrm>
            <a:off x="6093063" y="4347589"/>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défenseur du temps proposé au sponsor</a:t>
            </a:r>
          </a:p>
        </p:txBody>
      </p:sp>
      <p:sp>
        <p:nvSpPr>
          <p:cNvPr id="91" name="Rectangle 90">
            <a:extLst>
              <a:ext uri="{FF2B5EF4-FFF2-40B4-BE49-F238E27FC236}">
                <a16:creationId xmlns:a16="http://schemas.microsoft.com/office/drawing/2014/main" id="{D65DB6C7-BCA7-3267-0AE8-4B3627E8BACD}"/>
              </a:ext>
            </a:extLst>
          </p:cNvPr>
          <p:cNvSpPr/>
          <p:nvPr/>
        </p:nvSpPr>
        <p:spPr>
          <a:xfrm>
            <a:off x="6093062" y="4824812"/>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⚙️Rôle d’investisseur proposé au sponsor</a:t>
            </a:r>
          </a:p>
        </p:txBody>
      </p:sp>
      <p:sp>
        <p:nvSpPr>
          <p:cNvPr id="92" name="Rectangle 91">
            <a:extLst>
              <a:ext uri="{FF2B5EF4-FFF2-40B4-BE49-F238E27FC236}">
                <a16:creationId xmlns:a16="http://schemas.microsoft.com/office/drawing/2014/main" id="{94BDA0CE-36FA-93C5-211A-84B9BC1B30B8}"/>
              </a:ext>
            </a:extLst>
          </p:cNvPr>
          <p:cNvSpPr/>
          <p:nvPr/>
        </p:nvSpPr>
        <p:spPr>
          <a:xfrm>
            <a:off x="4887540" y="6307216"/>
            <a:ext cx="1120155" cy="5531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⚙️Rôle d’investisseur proposé au sponsor</a:t>
            </a:r>
          </a:p>
        </p:txBody>
      </p:sp>
      <p:sp>
        <p:nvSpPr>
          <p:cNvPr id="93" name="Rectangle 92">
            <a:extLst>
              <a:ext uri="{FF2B5EF4-FFF2-40B4-BE49-F238E27FC236}">
                <a16:creationId xmlns:a16="http://schemas.microsoft.com/office/drawing/2014/main" id="{D8C4B58F-ECE1-91CB-648F-EE4D573B714F}"/>
              </a:ext>
            </a:extLst>
          </p:cNvPr>
          <p:cNvSpPr/>
          <p:nvPr/>
        </p:nvSpPr>
        <p:spPr>
          <a:xfrm>
            <a:off x="6093060" y="5310218"/>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participant proposé au sponsor</a:t>
            </a:r>
          </a:p>
        </p:txBody>
      </p:sp>
      <p:sp>
        <p:nvSpPr>
          <p:cNvPr id="94" name="Rectangle 93">
            <a:extLst>
              <a:ext uri="{FF2B5EF4-FFF2-40B4-BE49-F238E27FC236}">
                <a16:creationId xmlns:a16="http://schemas.microsoft.com/office/drawing/2014/main" id="{8AA2CBDD-6F6F-12C9-6FCB-DEAE68CD84F3}"/>
              </a:ext>
            </a:extLst>
          </p:cNvPr>
          <p:cNvSpPr/>
          <p:nvPr/>
        </p:nvSpPr>
        <p:spPr>
          <a:xfrm>
            <a:off x="6093060" y="5770202"/>
            <a:ext cx="1120155" cy="51666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✍️Rapport d’impact de la Communauté envoyé au sponsor</a:t>
            </a:r>
          </a:p>
        </p:txBody>
      </p:sp>
      <p:sp>
        <p:nvSpPr>
          <p:cNvPr id="95" name="Rectangle 94">
            <a:extLst>
              <a:ext uri="{FF2B5EF4-FFF2-40B4-BE49-F238E27FC236}">
                <a16:creationId xmlns:a16="http://schemas.microsoft.com/office/drawing/2014/main" id="{76EB3DEC-BD37-61CC-70F7-66329A766B9F}"/>
              </a:ext>
            </a:extLst>
          </p:cNvPr>
          <p:cNvSpPr/>
          <p:nvPr/>
        </p:nvSpPr>
        <p:spPr>
          <a:xfrm>
            <a:off x="7293761" y="3552157"/>
            <a:ext cx="1120155" cy="49795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 Formation au rôle de sponsor de Communauté</a:t>
            </a:r>
          </a:p>
        </p:txBody>
      </p:sp>
      <p:sp>
        <p:nvSpPr>
          <p:cNvPr id="97" name="Rectangle 96">
            <a:extLst>
              <a:ext uri="{FF2B5EF4-FFF2-40B4-BE49-F238E27FC236}">
                <a16:creationId xmlns:a16="http://schemas.microsoft.com/office/drawing/2014/main" id="{D5044100-F568-8BAE-B38D-FA183B4BE5DF}"/>
              </a:ext>
            </a:extLst>
          </p:cNvPr>
          <p:cNvSpPr/>
          <p:nvPr/>
        </p:nvSpPr>
        <p:spPr>
          <a:xfrm>
            <a:off x="9689519" y="3364611"/>
            <a:ext cx="1120155" cy="6404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décisionnaire au besoin proposé au sponsor </a:t>
            </a:r>
          </a:p>
        </p:txBody>
      </p:sp>
      <p:sp>
        <p:nvSpPr>
          <p:cNvPr id="98" name="Rectangle 97">
            <a:extLst>
              <a:ext uri="{FF2B5EF4-FFF2-40B4-BE49-F238E27FC236}">
                <a16:creationId xmlns:a16="http://schemas.microsoft.com/office/drawing/2014/main" id="{72F17B05-943C-EC10-B8DB-9689CC5B947A}"/>
              </a:ext>
            </a:extLst>
          </p:cNvPr>
          <p:cNvSpPr/>
          <p:nvPr/>
        </p:nvSpPr>
        <p:spPr>
          <a:xfrm>
            <a:off x="8488821" y="2856481"/>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participant proposé au sponsor </a:t>
            </a:r>
          </a:p>
        </p:txBody>
      </p:sp>
      <p:sp>
        <p:nvSpPr>
          <p:cNvPr id="99" name="Rectangle 98">
            <a:extLst>
              <a:ext uri="{FF2B5EF4-FFF2-40B4-BE49-F238E27FC236}">
                <a16:creationId xmlns:a16="http://schemas.microsoft.com/office/drawing/2014/main" id="{E05D5295-9AB0-F603-0DD6-1DA59551C112}"/>
              </a:ext>
            </a:extLst>
          </p:cNvPr>
          <p:cNvSpPr/>
          <p:nvPr/>
        </p:nvSpPr>
        <p:spPr>
          <a:xfrm>
            <a:off x="8488821" y="3375472"/>
            <a:ext cx="1120155" cy="6404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décisionnaire au besoin proposé au sponsor </a:t>
            </a:r>
          </a:p>
        </p:txBody>
      </p:sp>
      <p:sp>
        <p:nvSpPr>
          <p:cNvPr id="101" name="Rectangle 100">
            <a:extLst>
              <a:ext uri="{FF2B5EF4-FFF2-40B4-BE49-F238E27FC236}">
                <a16:creationId xmlns:a16="http://schemas.microsoft.com/office/drawing/2014/main" id="{B12755BE-0DFF-2973-C325-F2F78CE76BC3}"/>
              </a:ext>
            </a:extLst>
          </p:cNvPr>
          <p:cNvSpPr/>
          <p:nvPr/>
        </p:nvSpPr>
        <p:spPr>
          <a:xfrm>
            <a:off x="4883937" y="3928374"/>
            <a:ext cx="1120155" cy="3809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📅Atelier de clarification des obligations</a:t>
            </a:r>
          </a:p>
        </p:txBody>
      </p:sp>
      <p:sp>
        <p:nvSpPr>
          <p:cNvPr id="52" name="Rectangle 51">
            <a:extLst>
              <a:ext uri="{FF2B5EF4-FFF2-40B4-BE49-F238E27FC236}">
                <a16:creationId xmlns:a16="http://schemas.microsoft.com/office/drawing/2014/main" id="{CE9F7887-3C60-FFA4-87B9-3CB3D3741E64}"/>
              </a:ext>
            </a:extLst>
          </p:cNvPr>
          <p:cNvSpPr/>
          <p:nvPr/>
        </p:nvSpPr>
        <p:spPr>
          <a:xfrm>
            <a:off x="88651" y="3729734"/>
            <a:ext cx="1120155" cy="117246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 Aide à la mise en valeur (contenus, mises en avant, etc.) auprès de parties prenantes clés pour la carrière du sponsor</a:t>
            </a:r>
          </a:p>
        </p:txBody>
      </p:sp>
      <p:sp>
        <p:nvSpPr>
          <p:cNvPr id="53" name="Rectangle 52">
            <a:extLst>
              <a:ext uri="{FF2B5EF4-FFF2-40B4-BE49-F238E27FC236}">
                <a16:creationId xmlns:a16="http://schemas.microsoft.com/office/drawing/2014/main" id="{B9C4D9C7-EC8A-FC8C-C0C5-1D17DF3B9981}"/>
              </a:ext>
            </a:extLst>
          </p:cNvPr>
          <p:cNvSpPr/>
          <p:nvPr/>
        </p:nvSpPr>
        <p:spPr>
          <a:xfrm>
            <a:off x="3690355" y="4071972"/>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gardien des valeurs proposé au sponsor</a:t>
            </a:r>
          </a:p>
        </p:txBody>
      </p:sp>
      <p:sp>
        <p:nvSpPr>
          <p:cNvPr id="54" name="Rectangle 53">
            <a:extLst>
              <a:ext uri="{FF2B5EF4-FFF2-40B4-BE49-F238E27FC236}">
                <a16:creationId xmlns:a16="http://schemas.microsoft.com/office/drawing/2014/main" id="{FED718ED-32D2-D76C-48F7-13894BB193CA}"/>
              </a:ext>
            </a:extLst>
          </p:cNvPr>
          <p:cNvSpPr/>
          <p:nvPr/>
        </p:nvSpPr>
        <p:spPr>
          <a:xfrm>
            <a:off x="6093060" y="6325822"/>
            <a:ext cx="1120155" cy="4495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Rôle de gardien des valeurs proposé au sponsor</a:t>
            </a:r>
          </a:p>
        </p:txBody>
      </p:sp>
    </p:spTree>
    <p:extLst>
      <p:ext uri="{BB962C8B-B14F-4D97-AF65-F5344CB8AC3E}">
        <p14:creationId xmlns:p14="http://schemas.microsoft.com/office/powerpoint/2010/main" val="3490380578"/>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8B73D52-8A2F-D73D-5C49-DC49C5DEE622}"/>
              </a:ext>
            </a:extLst>
          </p:cNvPr>
          <p:cNvSpPr>
            <a:spLocks noGrp="1"/>
          </p:cNvSpPr>
          <p:nvPr>
            <p:ph type="title"/>
          </p:nvPr>
        </p:nvSpPr>
        <p:spPr>
          <a:xfrm>
            <a:off x="385439" y="339816"/>
            <a:ext cx="10515600" cy="717951"/>
          </a:xfrm>
        </p:spPr>
        <p:txBody>
          <a:bodyPr>
            <a:noAutofit/>
          </a:bodyPr>
          <a:lstStyle/>
          <a:p>
            <a:r>
              <a:rPr lang="fr-FR" sz="3600"/>
              <a:t>Quel niveau de simplicité de décisions sur la valeur ?</a:t>
            </a:r>
            <a:endParaRPr lang="fr-FR" sz="3600" dirty="0"/>
          </a:p>
        </p:txBody>
      </p:sp>
      <p:sp>
        <p:nvSpPr>
          <p:cNvPr id="6" name="Espace réservé du contenu 5">
            <a:extLst>
              <a:ext uri="{FF2B5EF4-FFF2-40B4-BE49-F238E27FC236}">
                <a16:creationId xmlns:a16="http://schemas.microsoft.com/office/drawing/2014/main" id="{D794F380-3CE6-C3C1-6FC7-65E5E8091015}"/>
              </a:ext>
            </a:extLst>
          </p:cNvPr>
          <p:cNvSpPr>
            <a:spLocks noGrp="1"/>
          </p:cNvSpPr>
          <p:nvPr>
            <p:ph idx="1"/>
          </p:nvPr>
        </p:nvSpPr>
        <p:spPr>
          <a:xfrm>
            <a:off x="415515" y="1516437"/>
            <a:ext cx="2607553" cy="4351338"/>
          </a:xfrm>
          <a:solidFill>
            <a:schemeClr val="bg1">
              <a:lumMod val="85000"/>
            </a:schemeClr>
          </a:solidFill>
        </p:spPr>
        <p:txBody>
          <a:bodyPr>
            <a:normAutofit/>
          </a:bodyPr>
          <a:lstStyle/>
          <a:p>
            <a:pPr marL="0" indent="0">
              <a:buNone/>
            </a:pPr>
            <a:r>
              <a:rPr lang="fr-FR" sz="1600" dirty="0"/>
              <a:t>Connaître différents paramètres de la valeur d’une Communauté ne veut pas dire toujours pouvoir en faire usage, et pouvoir faire usage de tout.</a:t>
            </a:r>
          </a:p>
          <a:p>
            <a:pPr marL="0" indent="0">
              <a:buNone/>
            </a:pPr>
            <a:r>
              <a:rPr lang="fr-FR" sz="1600" dirty="0"/>
              <a:t>Tous les ajustements et réponses opérationnelles présentés jusqu’ici ne sont possibles qu’à certaines conditions de renseignement, de liberté de décision et de marge de manœuvre.</a:t>
            </a:r>
          </a:p>
          <a:p>
            <a:pPr marL="0" indent="0">
              <a:buNone/>
            </a:pPr>
            <a:r>
              <a:rPr lang="fr-FR" sz="1600" dirty="0"/>
              <a:t>Selon le contexte d’intervention, les choix possibles sur la valeur seront restreints.</a:t>
            </a:r>
          </a:p>
        </p:txBody>
      </p:sp>
      <p:grpSp>
        <p:nvGrpSpPr>
          <p:cNvPr id="17" name="Groupe 16">
            <a:extLst>
              <a:ext uri="{FF2B5EF4-FFF2-40B4-BE49-F238E27FC236}">
                <a16:creationId xmlns:a16="http://schemas.microsoft.com/office/drawing/2014/main" id="{D39BF05E-AEFD-4D18-57D0-2A4E78C910FD}"/>
              </a:ext>
            </a:extLst>
          </p:cNvPr>
          <p:cNvGrpSpPr/>
          <p:nvPr/>
        </p:nvGrpSpPr>
        <p:grpSpPr>
          <a:xfrm>
            <a:off x="5785499" y="2182921"/>
            <a:ext cx="3959606" cy="3018369"/>
            <a:chOff x="6471148" y="3056386"/>
            <a:chExt cx="1164388" cy="887602"/>
          </a:xfrm>
        </p:grpSpPr>
        <p:sp>
          <p:nvSpPr>
            <p:cNvPr id="12" name="Organigramme : Décision 11">
              <a:extLst>
                <a:ext uri="{FF2B5EF4-FFF2-40B4-BE49-F238E27FC236}">
                  <a16:creationId xmlns:a16="http://schemas.microsoft.com/office/drawing/2014/main" id="{39A0F744-A095-6D92-C22C-61DA038D86EF}"/>
                </a:ext>
              </a:extLst>
            </p:cNvPr>
            <p:cNvSpPr/>
            <p:nvPr/>
          </p:nvSpPr>
          <p:spPr>
            <a:xfrm>
              <a:off x="6665837" y="3263823"/>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bg1"/>
                  </a:solidFill>
                </a:rPr>
                <a:t>Ce qui est décidé pour la Communauté</a:t>
              </a:r>
            </a:p>
          </p:txBody>
        </p:sp>
        <p:cxnSp>
          <p:nvCxnSpPr>
            <p:cNvPr id="13" name="Connecteur droit avec flèche 12">
              <a:extLst>
                <a:ext uri="{FF2B5EF4-FFF2-40B4-BE49-F238E27FC236}">
                  <a16:creationId xmlns:a16="http://schemas.microsoft.com/office/drawing/2014/main" id="{4066AFFD-DB68-D781-93E5-A46257BEDC5A}"/>
                </a:ext>
              </a:extLst>
            </p:cNvPr>
            <p:cNvCxnSpPr>
              <a:cxnSpLocks/>
              <a:endCxn id="12" idx="1"/>
            </p:cNvCxnSpPr>
            <p:nvPr/>
          </p:nvCxnSpPr>
          <p:spPr>
            <a:xfrm flipV="1">
              <a:off x="6471148" y="3490545"/>
              <a:ext cx="194689" cy="0"/>
            </a:xfrm>
            <a:prstGeom prst="straightConnector1">
              <a:avLst/>
            </a:prstGeom>
            <a:ln w="571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14" name="Connecteur droit avec flèche 13">
              <a:extLst>
                <a:ext uri="{FF2B5EF4-FFF2-40B4-BE49-F238E27FC236}">
                  <a16:creationId xmlns:a16="http://schemas.microsoft.com/office/drawing/2014/main" id="{7553F938-CCC0-10A6-9808-037963D3510B}"/>
                </a:ext>
              </a:extLst>
            </p:cNvPr>
            <p:cNvCxnSpPr>
              <a:cxnSpLocks/>
              <a:stCxn id="12" idx="3"/>
            </p:cNvCxnSpPr>
            <p:nvPr/>
          </p:nvCxnSpPr>
          <p:spPr>
            <a:xfrm flipV="1">
              <a:off x="7471180" y="3490544"/>
              <a:ext cx="164356"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5" name="Connecteur : en angle 14">
              <a:extLst>
                <a:ext uri="{FF2B5EF4-FFF2-40B4-BE49-F238E27FC236}">
                  <a16:creationId xmlns:a16="http://schemas.microsoft.com/office/drawing/2014/main" id="{03D86388-A1F8-C040-54D8-6BC57F02AB5E}"/>
                </a:ext>
              </a:extLst>
            </p:cNvPr>
            <p:cNvCxnSpPr>
              <a:cxnSpLocks/>
              <a:endCxn id="12" idx="0"/>
            </p:cNvCxnSpPr>
            <p:nvPr/>
          </p:nvCxnSpPr>
          <p:spPr>
            <a:xfrm>
              <a:off x="6471148" y="3056386"/>
              <a:ext cx="597361" cy="207437"/>
            </a:xfrm>
            <a:prstGeom prst="bentConnector2">
              <a:avLst/>
            </a:prstGeom>
            <a:ln w="571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necteur : en angle 15">
              <a:extLst>
                <a:ext uri="{FF2B5EF4-FFF2-40B4-BE49-F238E27FC236}">
                  <a16:creationId xmlns:a16="http://schemas.microsoft.com/office/drawing/2014/main" id="{21F6EEA5-11EE-B8A2-0A99-6623D8B284EA}"/>
                </a:ext>
              </a:extLst>
            </p:cNvPr>
            <p:cNvCxnSpPr>
              <a:cxnSpLocks/>
              <a:endCxn id="12" idx="2"/>
            </p:cNvCxnSpPr>
            <p:nvPr/>
          </p:nvCxnSpPr>
          <p:spPr>
            <a:xfrm flipV="1">
              <a:off x="6471148" y="3717266"/>
              <a:ext cx="597361" cy="226722"/>
            </a:xfrm>
            <a:prstGeom prst="bentConnector2">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grpSp>
      <p:sp>
        <p:nvSpPr>
          <p:cNvPr id="20" name="ZoneTexte 19">
            <a:extLst>
              <a:ext uri="{FF2B5EF4-FFF2-40B4-BE49-F238E27FC236}">
                <a16:creationId xmlns:a16="http://schemas.microsoft.com/office/drawing/2014/main" id="{99119126-A034-9CE6-9F49-12A6AC5E72D3}"/>
              </a:ext>
            </a:extLst>
          </p:cNvPr>
          <p:cNvSpPr txBox="1"/>
          <p:nvPr/>
        </p:nvSpPr>
        <p:spPr>
          <a:xfrm>
            <a:off x="9745105" y="2816107"/>
            <a:ext cx="2275445" cy="1600438"/>
          </a:xfrm>
          <a:prstGeom prst="rect">
            <a:avLst/>
          </a:prstGeom>
          <a:noFill/>
        </p:spPr>
        <p:txBody>
          <a:bodyPr wrap="square">
            <a:spAutoFit/>
          </a:bodyPr>
          <a:lstStyle/>
          <a:p>
            <a:pPr algn="ctr"/>
            <a:r>
              <a:rPr lang="fr-FR" sz="1400" b="1" i="1" dirty="0"/>
              <a:t>« Ce que fait la Communauté et comment »</a:t>
            </a:r>
          </a:p>
          <a:p>
            <a:pPr algn="ctr"/>
            <a:r>
              <a:rPr lang="fr-FR" sz="1400" dirty="0"/>
              <a:t>(Activités, Feuille de route, </a:t>
            </a:r>
            <a:r>
              <a:rPr lang="fr-FR" sz="1400" dirty="0">
                <a:solidFill>
                  <a:schemeClr val="tx1"/>
                </a:solidFill>
              </a:rPr>
              <a:t>Règles de fonctionnement, Identité de Communauté, etc. qui aboutissent à la valeur réelle)</a:t>
            </a:r>
          </a:p>
        </p:txBody>
      </p:sp>
      <p:sp>
        <p:nvSpPr>
          <p:cNvPr id="22" name="ZoneTexte 21">
            <a:extLst>
              <a:ext uri="{FF2B5EF4-FFF2-40B4-BE49-F238E27FC236}">
                <a16:creationId xmlns:a16="http://schemas.microsoft.com/office/drawing/2014/main" id="{A4F380A6-C6B5-0524-FC0C-8D369416DE03}"/>
              </a:ext>
            </a:extLst>
          </p:cNvPr>
          <p:cNvSpPr txBox="1"/>
          <p:nvPr/>
        </p:nvSpPr>
        <p:spPr>
          <a:xfrm>
            <a:off x="3403023" y="1666463"/>
            <a:ext cx="2382476" cy="1169551"/>
          </a:xfrm>
          <a:prstGeom prst="rect">
            <a:avLst/>
          </a:prstGeom>
          <a:noFill/>
        </p:spPr>
        <p:txBody>
          <a:bodyPr wrap="square">
            <a:spAutoFit/>
          </a:bodyPr>
          <a:lstStyle/>
          <a:p>
            <a:pPr algn="ctr"/>
            <a:r>
              <a:rPr lang="fr-FR" sz="1400" b="1" i="1" dirty="0">
                <a:solidFill>
                  <a:srgbClr val="3494BA"/>
                </a:solidFill>
              </a:rPr>
              <a:t>« Ce que la plupart des autres font »</a:t>
            </a:r>
          </a:p>
          <a:p>
            <a:pPr algn="ctr"/>
            <a:r>
              <a:rPr lang="fr-FR" sz="1400" dirty="0"/>
              <a:t>(Standards, Méthodes, Règles courantes, « bonnes » pratiques, exemples connus</a:t>
            </a:r>
            <a:r>
              <a:rPr lang="fr-FR" sz="1400" dirty="0">
                <a:solidFill>
                  <a:schemeClr val="tx1"/>
                </a:solidFill>
              </a:rPr>
              <a:t>…)</a:t>
            </a:r>
          </a:p>
        </p:txBody>
      </p:sp>
      <p:sp>
        <p:nvSpPr>
          <p:cNvPr id="27" name="ZoneTexte 26">
            <a:extLst>
              <a:ext uri="{FF2B5EF4-FFF2-40B4-BE49-F238E27FC236}">
                <a16:creationId xmlns:a16="http://schemas.microsoft.com/office/drawing/2014/main" id="{D5CBADF2-79DA-7D37-0A1D-3AD0B24880D9}"/>
              </a:ext>
            </a:extLst>
          </p:cNvPr>
          <p:cNvSpPr txBox="1"/>
          <p:nvPr/>
        </p:nvSpPr>
        <p:spPr>
          <a:xfrm>
            <a:off x="3361968" y="3075658"/>
            <a:ext cx="2382477" cy="1169551"/>
          </a:xfrm>
          <a:prstGeom prst="rect">
            <a:avLst/>
          </a:prstGeom>
          <a:noFill/>
        </p:spPr>
        <p:txBody>
          <a:bodyPr wrap="square">
            <a:spAutoFit/>
          </a:bodyPr>
          <a:lstStyle/>
          <a:p>
            <a:pPr algn="ctr"/>
            <a:r>
              <a:rPr lang="fr-FR" sz="1400" b="1" i="1" dirty="0">
                <a:solidFill>
                  <a:srgbClr val="00B050"/>
                </a:solidFill>
              </a:rPr>
              <a:t>« Ce qui fait la spécificité de la situation »</a:t>
            </a:r>
          </a:p>
          <a:p>
            <a:pPr algn="ctr"/>
            <a:r>
              <a:rPr lang="fr-FR" sz="1400" dirty="0"/>
              <a:t>(Valeur attendue, contexte, motivations, contraintes, blocages, </a:t>
            </a:r>
            <a:r>
              <a:rPr lang="fr-FR" sz="1400" dirty="0">
                <a:solidFill>
                  <a:schemeClr val="tx1"/>
                </a:solidFill>
              </a:rPr>
              <a:t>…)</a:t>
            </a:r>
          </a:p>
        </p:txBody>
      </p:sp>
      <p:sp>
        <p:nvSpPr>
          <p:cNvPr id="28" name="ZoneTexte 27">
            <a:extLst>
              <a:ext uri="{FF2B5EF4-FFF2-40B4-BE49-F238E27FC236}">
                <a16:creationId xmlns:a16="http://schemas.microsoft.com/office/drawing/2014/main" id="{CA062F94-2A20-B19D-FB16-CFA0EC0D5324}"/>
              </a:ext>
            </a:extLst>
          </p:cNvPr>
          <p:cNvSpPr txBox="1"/>
          <p:nvPr/>
        </p:nvSpPr>
        <p:spPr>
          <a:xfrm>
            <a:off x="3403023" y="4508792"/>
            <a:ext cx="2382475" cy="1384995"/>
          </a:xfrm>
          <a:prstGeom prst="rect">
            <a:avLst/>
          </a:prstGeom>
          <a:noFill/>
        </p:spPr>
        <p:txBody>
          <a:bodyPr wrap="square">
            <a:spAutoFit/>
          </a:bodyPr>
          <a:lstStyle/>
          <a:p>
            <a:pPr algn="ctr"/>
            <a:r>
              <a:rPr lang="fr-FR" sz="1400" b="1" i="1" dirty="0">
                <a:solidFill>
                  <a:srgbClr val="ED7D31"/>
                </a:solidFill>
              </a:rPr>
              <a:t>« Ce qu’on peut créer sur le moment et pour l’occasion»</a:t>
            </a:r>
          </a:p>
          <a:p>
            <a:pPr algn="ctr"/>
            <a:r>
              <a:rPr lang="fr-FR" sz="1400" dirty="0"/>
              <a:t>(Inventions, créations locales, Innovations locales, actions au feeling, adaptations sur le moment …)</a:t>
            </a:r>
            <a:endParaRPr lang="fr-FR" sz="1400" dirty="0">
              <a:solidFill>
                <a:schemeClr val="tx1"/>
              </a:solidFill>
            </a:endParaRPr>
          </a:p>
        </p:txBody>
      </p:sp>
    </p:spTree>
    <p:extLst>
      <p:ext uri="{BB962C8B-B14F-4D97-AF65-F5344CB8AC3E}">
        <p14:creationId xmlns:p14="http://schemas.microsoft.com/office/powerpoint/2010/main" val="290381598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8B73D52-8A2F-D73D-5C49-DC49C5DEE622}"/>
              </a:ext>
            </a:extLst>
          </p:cNvPr>
          <p:cNvSpPr>
            <a:spLocks noGrp="1"/>
          </p:cNvSpPr>
          <p:nvPr>
            <p:ph type="title"/>
          </p:nvPr>
        </p:nvSpPr>
        <p:spPr>
          <a:xfrm>
            <a:off x="1719739" y="339816"/>
            <a:ext cx="9181300" cy="717951"/>
          </a:xfrm>
        </p:spPr>
        <p:txBody>
          <a:bodyPr>
            <a:noAutofit/>
          </a:bodyPr>
          <a:lstStyle/>
          <a:p>
            <a:r>
              <a:rPr lang="fr-FR" sz="3200" dirty="0"/>
              <a:t>Quel niveau de simplicité de décisions sur la valeur ?</a:t>
            </a:r>
            <a:br>
              <a:rPr lang="fr-FR" sz="3200" dirty="0"/>
            </a:br>
            <a:r>
              <a:rPr lang="fr-FR" sz="3200" dirty="0"/>
              <a:t>Exemples</a:t>
            </a:r>
          </a:p>
        </p:txBody>
      </p:sp>
      <p:sp>
        <p:nvSpPr>
          <p:cNvPr id="3" name="Espace réservé du contenu 2">
            <a:extLst>
              <a:ext uri="{FF2B5EF4-FFF2-40B4-BE49-F238E27FC236}">
                <a16:creationId xmlns:a16="http://schemas.microsoft.com/office/drawing/2014/main" id="{CB52FDB9-4C95-CD9E-A766-A0729D04A54C}"/>
              </a:ext>
            </a:extLst>
          </p:cNvPr>
          <p:cNvSpPr>
            <a:spLocks noGrp="1"/>
          </p:cNvSpPr>
          <p:nvPr>
            <p:ph idx="1"/>
          </p:nvPr>
        </p:nvSpPr>
        <p:spPr>
          <a:xfrm>
            <a:off x="1644242" y="3906059"/>
            <a:ext cx="2619236" cy="717950"/>
          </a:xfrm>
          <a:solidFill>
            <a:schemeClr val="bg1">
              <a:lumMod val="95000"/>
            </a:schemeClr>
          </a:solidFill>
        </p:spPr>
        <p:txBody>
          <a:bodyPr>
            <a:normAutofit/>
          </a:bodyPr>
          <a:lstStyle/>
          <a:p>
            <a:pPr marL="0" indent="0" algn="ctr">
              <a:buNone/>
            </a:pPr>
            <a:r>
              <a:rPr lang="fr-FR" sz="1200" b="1" dirty="0"/>
              <a:t>HA</a:t>
            </a:r>
          </a:p>
          <a:p>
            <a:pPr marL="0" indent="0" algn="ctr">
              <a:buNone/>
            </a:pPr>
            <a:r>
              <a:rPr lang="fr-FR" sz="1200" b="1" dirty="0"/>
              <a:t>« Communauté sur étagère, avec ajustements préalables et réguliers» </a:t>
            </a:r>
          </a:p>
        </p:txBody>
      </p:sp>
      <p:sp>
        <p:nvSpPr>
          <p:cNvPr id="4" name="Espace réservé du contenu 2">
            <a:extLst>
              <a:ext uri="{FF2B5EF4-FFF2-40B4-BE49-F238E27FC236}">
                <a16:creationId xmlns:a16="http://schemas.microsoft.com/office/drawing/2014/main" id="{9742E347-7527-B76C-E4C0-A135F0CB8D41}"/>
              </a:ext>
            </a:extLst>
          </p:cNvPr>
          <p:cNvSpPr txBox="1">
            <a:spLocks/>
          </p:cNvSpPr>
          <p:nvPr/>
        </p:nvSpPr>
        <p:spPr>
          <a:xfrm>
            <a:off x="1644242" y="2124739"/>
            <a:ext cx="2619236" cy="717950"/>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b="1" dirty="0"/>
              <a:t>SHU</a:t>
            </a:r>
          </a:p>
          <a:p>
            <a:pPr marL="0" indent="0" algn="ctr">
              <a:buFont typeface="Arial" panose="020B0604020202020204" pitchFamily="34" charset="0"/>
              <a:buNone/>
            </a:pPr>
            <a:r>
              <a:rPr lang="fr-FR" sz="1200" b="1" dirty="0"/>
              <a:t>« Communauté sur étagère, formule toute prête»</a:t>
            </a:r>
          </a:p>
        </p:txBody>
      </p:sp>
      <p:sp>
        <p:nvSpPr>
          <p:cNvPr id="11" name="Espace réservé du contenu 2">
            <a:extLst>
              <a:ext uri="{FF2B5EF4-FFF2-40B4-BE49-F238E27FC236}">
                <a16:creationId xmlns:a16="http://schemas.microsoft.com/office/drawing/2014/main" id="{497642A5-2D16-5B61-7F7B-36064BA5805E}"/>
              </a:ext>
            </a:extLst>
          </p:cNvPr>
          <p:cNvSpPr txBox="1">
            <a:spLocks/>
          </p:cNvSpPr>
          <p:nvPr/>
        </p:nvSpPr>
        <p:spPr>
          <a:xfrm>
            <a:off x="1644242" y="5519780"/>
            <a:ext cx="2619236" cy="717950"/>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b="1" dirty="0"/>
              <a:t>RI</a:t>
            </a:r>
          </a:p>
          <a:p>
            <a:pPr marL="0" indent="0" algn="ctr">
              <a:buNone/>
            </a:pPr>
            <a:r>
              <a:rPr lang="fr-FR" sz="1200" b="1" dirty="0"/>
              <a:t>« Adapter le plus possible la Communauté au terrain et créer » </a:t>
            </a:r>
          </a:p>
        </p:txBody>
      </p:sp>
      <p:sp>
        <p:nvSpPr>
          <p:cNvPr id="18" name="Espace réservé du contenu 9">
            <a:extLst>
              <a:ext uri="{FF2B5EF4-FFF2-40B4-BE49-F238E27FC236}">
                <a16:creationId xmlns:a16="http://schemas.microsoft.com/office/drawing/2014/main" id="{A9B6F91F-45E5-A046-5EAE-C416E992DDCD}"/>
              </a:ext>
            </a:extLst>
          </p:cNvPr>
          <p:cNvSpPr txBox="1">
            <a:spLocks/>
          </p:cNvSpPr>
          <p:nvPr/>
        </p:nvSpPr>
        <p:spPr>
          <a:xfrm>
            <a:off x="4322208" y="1869706"/>
            <a:ext cx="7722830" cy="110768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400" b="1" dirty="0"/>
              <a:t>DES FORMULES TOUTES PRÊTES POUR CRÉER ET OPÉRER UNE COMMUNAUTÉ</a:t>
            </a:r>
          </a:p>
          <a:p>
            <a:pPr marL="0" indent="0">
              <a:buFont typeface="Arial" panose="020B0604020202020204" pitchFamily="34" charset="0"/>
              <a:buNone/>
            </a:pPr>
            <a:r>
              <a:rPr lang="fr-FR" sz="1400" b="1" dirty="0">
                <a:solidFill>
                  <a:srgbClr val="3494BA"/>
                </a:solidFill>
              </a:rPr>
              <a:t>POUR CAS D’USAGES TRES COURANTS ET TRES PEU SPECIFIQUES</a:t>
            </a:r>
          </a:p>
          <a:p>
            <a:pPr marL="0" indent="0">
              <a:buFont typeface="Arial" panose="020B0604020202020204" pitchFamily="34" charset="0"/>
              <a:buNone/>
            </a:pPr>
            <a:r>
              <a:rPr lang="fr-FR" sz="1400" b="1" dirty="0">
                <a:solidFill>
                  <a:srgbClr val="ED7D31"/>
                </a:solidFill>
              </a:rPr>
              <a:t>ZÉRO DÉCISION, PRÊT-À-LANCER</a:t>
            </a:r>
          </a:p>
        </p:txBody>
      </p:sp>
      <p:sp>
        <p:nvSpPr>
          <p:cNvPr id="19" name="ZoneTexte 18">
            <a:extLst>
              <a:ext uri="{FF2B5EF4-FFF2-40B4-BE49-F238E27FC236}">
                <a16:creationId xmlns:a16="http://schemas.microsoft.com/office/drawing/2014/main" id="{0005DB80-799B-B490-AF70-E46BC1775949}"/>
              </a:ext>
            </a:extLst>
          </p:cNvPr>
          <p:cNvSpPr txBox="1"/>
          <p:nvPr/>
        </p:nvSpPr>
        <p:spPr>
          <a:xfrm>
            <a:off x="4263478" y="5549777"/>
            <a:ext cx="7928522" cy="954107"/>
          </a:xfrm>
          <a:prstGeom prst="rect">
            <a:avLst/>
          </a:prstGeom>
          <a:noFill/>
        </p:spPr>
        <p:txBody>
          <a:bodyPr wrap="square">
            <a:spAutoFit/>
          </a:bodyPr>
          <a:lstStyle/>
          <a:p>
            <a:r>
              <a:rPr lang="fr-FR" sz="1400" b="1" dirty="0"/>
              <a:t>PEU DE CONTRAINTES DE FORMULES, PLUTÔT UNE CAPACITÉ A CRÉER UNE COMMUNAUTÉ TRÈS ADAPTÉE À SON CONTEXTE</a:t>
            </a:r>
          </a:p>
          <a:p>
            <a:pPr marL="0" indent="0">
              <a:buNone/>
            </a:pPr>
            <a:r>
              <a:rPr lang="fr-FR" sz="1400" b="1" dirty="0">
                <a:solidFill>
                  <a:srgbClr val="3494BA"/>
                </a:solidFill>
              </a:rPr>
              <a:t>POUR CAS D’USAGES SPÉCIFIQUES</a:t>
            </a:r>
          </a:p>
          <a:p>
            <a:pPr marL="0" indent="0">
              <a:buNone/>
            </a:pPr>
            <a:r>
              <a:rPr lang="fr-FR" sz="1400" b="1" dirty="0">
                <a:solidFill>
                  <a:srgbClr val="ED7D31"/>
                </a:solidFill>
              </a:rPr>
              <a:t>DÉCISIONS SUR MESURE </a:t>
            </a:r>
            <a:endParaRPr lang="fr-FR" sz="1400" dirty="0">
              <a:solidFill>
                <a:srgbClr val="ED7D31"/>
              </a:solidFill>
            </a:endParaRPr>
          </a:p>
        </p:txBody>
      </p:sp>
      <p:sp>
        <p:nvSpPr>
          <p:cNvPr id="20" name="ZoneTexte 19">
            <a:extLst>
              <a:ext uri="{FF2B5EF4-FFF2-40B4-BE49-F238E27FC236}">
                <a16:creationId xmlns:a16="http://schemas.microsoft.com/office/drawing/2014/main" id="{D933793E-0B91-73B3-E6D7-AE9DF21F61E2}"/>
              </a:ext>
            </a:extLst>
          </p:cNvPr>
          <p:cNvSpPr txBox="1"/>
          <p:nvPr/>
        </p:nvSpPr>
        <p:spPr>
          <a:xfrm>
            <a:off x="4263478" y="3871750"/>
            <a:ext cx="7585684" cy="738664"/>
          </a:xfrm>
          <a:prstGeom prst="rect">
            <a:avLst/>
          </a:prstGeom>
          <a:noFill/>
        </p:spPr>
        <p:txBody>
          <a:bodyPr wrap="square">
            <a:spAutoFit/>
          </a:bodyPr>
          <a:lstStyle/>
          <a:p>
            <a:pPr marL="0" indent="0">
              <a:buNone/>
            </a:pPr>
            <a:r>
              <a:rPr lang="fr-FR" sz="1400" b="1" dirty="0"/>
              <a:t>DES FORMULES FAITES POUR ÊTRE AJUSTÉES</a:t>
            </a:r>
          </a:p>
          <a:p>
            <a:pPr marL="0" indent="0">
              <a:buNone/>
            </a:pPr>
            <a:r>
              <a:rPr lang="fr-FR" sz="1400" b="1" dirty="0">
                <a:solidFill>
                  <a:srgbClr val="3494BA"/>
                </a:solidFill>
              </a:rPr>
              <a:t>POUR CAS D’USAGES COURANTS, MAIS PAS ÉVIDENTS</a:t>
            </a:r>
          </a:p>
          <a:p>
            <a:pPr marL="0" indent="0">
              <a:buNone/>
            </a:pPr>
            <a:r>
              <a:rPr lang="fr-FR" sz="1400" b="1" dirty="0">
                <a:solidFill>
                  <a:srgbClr val="ED7D31"/>
                </a:solidFill>
              </a:rPr>
              <a:t>DÉCISIONS DEMI-MESURE (VARIER AUTOUR DE CHOIX COHÉRENTS ENTRE EUX ET PAR DÉFAUT) </a:t>
            </a:r>
            <a:endParaRPr lang="fr-FR" sz="1400" dirty="0">
              <a:solidFill>
                <a:srgbClr val="ED7D31"/>
              </a:solidFill>
            </a:endParaRPr>
          </a:p>
        </p:txBody>
      </p:sp>
      <p:sp>
        <p:nvSpPr>
          <p:cNvPr id="5" name="Organigramme : Décision 4">
            <a:extLst>
              <a:ext uri="{FF2B5EF4-FFF2-40B4-BE49-F238E27FC236}">
                <a16:creationId xmlns:a16="http://schemas.microsoft.com/office/drawing/2014/main" id="{EF08A1D9-900E-AC88-082D-F71514803332}"/>
              </a:ext>
            </a:extLst>
          </p:cNvPr>
          <p:cNvSpPr/>
          <p:nvPr/>
        </p:nvSpPr>
        <p:spPr>
          <a:xfrm>
            <a:off x="419446" y="460281"/>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 name="Connecteur droit avec flèche 6">
            <a:extLst>
              <a:ext uri="{FF2B5EF4-FFF2-40B4-BE49-F238E27FC236}">
                <a16:creationId xmlns:a16="http://schemas.microsoft.com/office/drawing/2014/main" id="{3ECEDE0F-49BA-3AB2-53C8-F959493DC4BA}"/>
              </a:ext>
            </a:extLst>
          </p:cNvPr>
          <p:cNvCxnSpPr>
            <a:cxnSpLocks/>
            <a:endCxn id="5" idx="1"/>
          </p:cNvCxnSpPr>
          <p:nvPr/>
        </p:nvCxnSpPr>
        <p:spPr>
          <a:xfrm>
            <a:off x="58723" y="687003"/>
            <a:ext cx="360723" cy="0"/>
          </a:xfrm>
          <a:prstGeom prst="straightConnector1">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droit avec flèche 31">
            <a:extLst>
              <a:ext uri="{FF2B5EF4-FFF2-40B4-BE49-F238E27FC236}">
                <a16:creationId xmlns:a16="http://schemas.microsoft.com/office/drawing/2014/main" id="{CD030EA8-E26E-76A4-675E-D04E33FDB1CF}"/>
              </a:ext>
            </a:extLst>
          </p:cNvPr>
          <p:cNvCxnSpPr>
            <a:cxnSpLocks/>
            <a:stCxn id="5" idx="3"/>
          </p:cNvCxnSpPr>
          <p:nvPr/>
        </p:nvCxnSpPr>
        <p:spPr>
          <a:xfrm>
            <a:off x="1224789" y="687003"/>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5" name="Organigramme : Décision 44">
            <a:extLst>
              <a:ext uri="{FF2B5EF4-FFF2-40B4-BE49-F238E27FC236}">
                <a16:creationId xmlns:a16="http://schemas.microsoft.com/office/drawing/2014/main" id="{304F040D-B2E9-741C-3DFE-B970FBF084A8}"/>
              </a:ext>
            </a:extLst>
          </p:cNvPr>
          <p:cNvSpPr/>
          <p:nvPr/>
        </p:nvSpPr>
        <p:spPr>
          <a:xfrm>
            <a:off x="419446" y="2254506"/>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8" name="Connecteur droit avec flèche 47">
            <a:extLst>
              <a:ext uri="{FF2B5EF4-FFF2-40B4-BE49-F238E27FC236}">
                <a16:creationId xmlns:a16="http://schemas.microsoft.com/office/drawing/2014/main" id="{F96E072E-3D78-86D4-4C42-14DD87ECBADA}"/>
              </a:ext>
            </a:extLst>
          </p:cNvPr>
          <p:cNvCxnSpPr>
            <a:cxnSpLocks/>
            <a:stCxn id="45" idx="3"/>
          </p:cNvCxnSpPr>
          <p:nvPr/>
        </p:nvCxnSpPr>
        <p:spPr>
          <a:xfrm>
            <a:off x="1224789" y="2481228"/>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0" name="Organigramme : Décision 49">
            <a:extLst>
              <a:ext uri="{FF2B5EF4-FFF2-40B4-BE49-F238E27FC236}">
                <a16:creationId xmlns:a16="http://schemas.microsoft.com/office/drawing/2014/main" id="{14D18838-3EA7-C819-6782-587B823F3790}"/>
              </a:ext>
            </a:extLst>
          </p:cNvPr>
          <p:cNvSpPr/>
          <p:nvPr/>
        </p:nvSpPr>
        <p:spPr>
          <a:xfrm>
            <a:off x="410276" y="4048731"/>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1" name="Connecteur droit avec flèche 50">
            <a:extLst>
              <a:ext uri="{FF2B5EF4-FFF2-40B4-BE49-F238E27FC236}">
                <a16:creationId xmlns:a16="http://schemas.microsoft.com/office/drawing/2014/main" id="{CE0BA520-D7F0-EEBB-D707-50820EF7C18A}"/>
              </a:ext>
            </a:extLst>
          </p:cNvPr>
          <p:cNvCxnSpPr>
            <a:cxnSpLocks/>
            <a:endCxn id="50" idx="1"/>
          </p:cNvCxnSpPr>
          <p:nvPr/>
        </p:nvCxnSpPr>
        <p:spPr>
          <a:xfrm>
            <a:off x="49553" y="4275453"/>
            <a:ext cx="360723" cy="0"/>
          </a:xfrm>
          <a:prstGeom prst="straightConnector1">
            <a:avLst/>
          </a:prstGeom>
          <a:ln w="571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53" name="Connecteur droit avec flèche 52">
            <a:extLst>
              <a:ext uri="{FF2B5EF4-FFF2-40B4-BE49-F238E27FC236}">
                <a16:creationId xmlns:a16="http://schemas.microsoft.com/office/drawing/2014/main" id="{F58C8B11-EB67-00A2-3641-1862AFDC8B4D}"/>
              </a:ext>
            </a:extLst>
          </p:cNvPr>
          <p:cNvCxnSpPr>
            <a:cxnSpLocks/>
            <a:stCxn id="50" idx="3"/>
          </p:cNvCxnSpPr>
          <p:nvPr/>
        </p:nvCxnSpPr>
        <p:spPr>
          <a:xfrm>
            <a:off x="1215619" y="4275453"/>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4" name="Connecteur : en angle 53">
            <a:extLst>
              <a:ext uri="{FF2B5EF4-FFF2-40B4-BE49-F238E27FC236}">
                <a16:creationId xmlns:a16="http://schemas.microsoft.com/office/drawing/2014/main" id="{3B63FE84-E5B4-06D3-79F2-3EF31220C895}"/>
              </a:ext>
            </a:extLst>
          </p:cNvPr>
          <p:cNvCxnSpPr>
            <a:cxnSpLocks/>
            <a:endCxn id="50" idx="0"/>
          </p:cNvCxnSpPr>
          <p:nvPr/>
        </p:nvCxnSpPr>
        <p:spPr>
          <a:xfrm>
            <a:off x="58723" y="3818605"/>
            <a:ext cx="754225" cy="230126"/>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
        <p:nvSpPr>
          <p:cNvPr id="86" name="Organigramme : Décision 85">
            <a:extLst>
              <a:ext uri="{FF2B5EF4-FFF2-40B4-BE49-F238E27FC236}">
                <a16:creationId xmlns:a16="http://schemas.microsoft.com/office/drawing/2014/main" id="{2EDE2851-9221-8772-3479-27A50621ED81}"/>
              </a:ext>
            </a:extLst>
          </p:cNvPr>
          <p:cNvSpPr/>
          <p:nvPr/>
        </p:nvSpPr>
        <p:spPr>
          <a:xfrm>
            <a:off x="441206" y="5612741"/>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7" name="Connecteur droit avec flèche 86">
            <a:extLst>
              <a:ext uri="{FF2B5EF4-FFF2-40B4-BE49-F238E27FC236}">
                <a16:creationId xmlns:a16="http://schemas.microsoft.com/office/drawing/2014/main" id="{EB84351E-46E7-0FF4-C01C-B3E32B530350}"/>
              </a:ext>
            </a:extLst>
          </p:cNvPr>
          <p:cNvCxnSpPr>
            <a:cxnSpLocks/>
            <a:endCxn id="86" idx="1"/>
          </p:cNvCxnSpPr>
          <p:nvPr/>
        </p:nvCxnSpPr>
        <p:spPr>
          <a:xfrm>
            <a:off x="80483" y="5839463"/>
            <a:ext cx="360723" cy="0"/>
          </a:xfrm>
          <a:prstGeom prst="straightConnector1">
            <a:avLst/>
          </a:prstGeom>
          <a:ln w="571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88" name="Connecteur droit avec flèche 87">
            <a:extLst>
              <a:ext uri="{FF2B5EF4-FFF2-40B4-BE49-F238E27FC236}">
                <a16:creationId xmlns:a16="http://schemas.microsoft.com/office/drawing/2014/main" id="{9114DFCF-C6FC-A083-8DF4-DEF841B8A462}"/>
              </a:ext>
            </a:extLst>
          </p:cNvPr>
          <p:cNvCxnSpPr>
            <a:cxnSpLocks/>
            <a:stCxn id="86" idx="3"/>
          </p:cNvCxnSpPr>
          <p:nvPr/>
        </p:nvCxnSpPr>
        <p:spPr>
          <a:xfrm>
            <a:off x="1246549" y="5839463"/>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9" name="Connecteur : en angle 88">
            <a:extLst>
              <a:ext uri="{FF2B5EF4-FFF2-40B4-BE49-F238E27FC236}">
                <a16:creationId xmlns:a16="http://schemas.microsoft.com/office/drawing/2014/main" id="{4ACDA0DC-3CF8-963B-F0E4-04BC91064D1C}"/>
              </a:ext>
            </a:extLst>
          </p:cNvPr>
          <p:cNvCxnSpPr>
            <a:cxnSpLocks/>
            <a:endCxn id="86" idx="0"/>
          </p:cNvCxnSpPr>
          <p:nvPr/>
        </p:nvCxnSpPr>
        <p:spPr>
          <a:xfrm>
            <a:off x="89653" y="5382615"/>
            <a:ext cx="754225" cy="230126"/>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cxnSp>
        <p:nvCxnSpPr>
          <p:cNvPr id="90" name="Connecteur : en angle 89">
            <a:extLst>
              <a:ext uri="{FF2B5EF4-FFF2-40B4-BE49-F238E27FC236}">
                <a16:creationId xmlns:a16="http://schemas.microsoft.com/office/drawing/2014/main" id="{1562B013-ADC9-7AC3-9DC2-4922FA5EDCD1}"/>
              </a:ext>
            </a:extLst>
          </p:cNvPr>
          <p:cNvCxnSpPr>
            <a:cxnSpLocks/>
            <a:endCxn id="86" idx="2"/>
          </p:cNvCxnSpPr>
          <p:nvPr/>
        </p:nvCxnSpPr>
        <p:spPr>
          <a:xfrm flipV="1">
            <a:off x="89653" y="6066184"/>
            <a:ext cx="754225" cy="230126"/>
          </a:xfrm>
          <a:prstGeom prst="bentConnector2">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Connecteur : en angle 23">
            <a:extLst>
              <a:ext uri="{FF2B5EF4-FFF2-40B4-BE49-F238E27FC236}">
                <a16:creationId xmlns:a16="http://schemas.microsoft.com/office/drawing/2014/main" id="{24187296-771A-0586-00E5-D94EA509C8F5}"/>
              </a:ext>
            </a:extLst>
          </p:cNvPr>
          <p:cNvCxnSpPr>
            <a:cxnSpLocks/>
            <a:endCxn id="45" idx="0"/>
          </p:cNvCxnSpPr>
          <p:nvPr/>
        </p:nvCxnSpPr>
        <p:spPr>
          <a:xfrm>
            <a:off x="58723" y="2035746"/>
            <a:ext cx="763395" cy="218760"/>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655213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8B73D52-8A2F-D73D-5C49-DC49C5DEE622}"/>
              </a:ext>
            </a:extLst>
          </p:cNvPr>
          <p:cNvSpPr>
            <a:spLocks noGrp="1"/>
          </p:cNvSpPr>
          <p:nvPr>
            <p:ph type="title"/>
          </p:nvPr>
        </p:nvSpPr>
        <p:spPr>
          <a:xfrm>
            <a:off x="385439" y="339816"/>
            <a:ext cx="10515600" cy="717951"/>
          </a:xfrm>
        </p:spPr>
        <p:txBody>
          <a:bodyPr>
            <a:noAutofit/>
          </a:bodyPr>
          <a:lstStyle/>
          <a:p>
            <a:r>
              <a:rPr lang="fr-FR" sz="3600" dirty="0"/>
              <a:t>Quel niveau de simplicité de décisions sur la valeur ?</a:t>
            </a:r>
            <a:br>
              <a:rPr lang="fr-FR" sz="3600" dirty="0"/>
            </a:br>
            <a:r>
              <a:rPr lang="fr-FR" sz="3600" dirty="0"/>
              <a:t>Exemples</a:t>
            </a:r>
          </a:p>
        </p:txBody>
      </p:sp>
      <p:sp>
        <p:nvSpPr>
          <p:cNvPr id="28" name="Rectangle 27">
            <a:extLst>
              <a:ext uri="{FF2B5EF4-FFF2-40B4-BE49-F238E27FC236}">
                <a16:creationId xmlns:a16="http://schemas.microsoft.com/office/drawing/2014/main" id="{DAC24512-9748-5AC5-4601-6B1E0E03867A}"/>
              </a:ext>
            </a:extLst>
          </p:cNvPr>
          <p:cNvSpPr/>
          <p:nvPr/>
        </p:nvSpPr>
        <p:spPr>
          <a:xfrm>
            <a:off x="4502917" y="1370840"/>
            <a:ext cx="3529784" cy="125805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Un collaborateur a été nommé responsable du lancement et de l’animation d’une Communauté d’apprentissage du sujet XYZ. Cette personne n’a que très peu d’expérience (voire pas) dans les Communautés d’entreprise, a peu confiance en elle et en ses capacités de décisions, ne connaît pas les membres ou les membres potentiels (pas encore accès). En revanche, elle est compétente pour suivre des instructions.</a:t>
            </a:r>
          </a:p>
        </p:txBody>
      </p:sp>
      <p:sp>
        <p:nvSpPr>
          <p:cNvPr id="29" name="Rectangle 28">
            <a:extLst>
              <a:ext uri="{FF2B5EF4-FFF2-40B4-BE49-F238E27FC236}">
                <a16:creationId xmlns:a16="http://schemas.microsoft.com/office/drawing/2014/main" id="{4638BDF5-14FD-A8E8-5902-F8614399FB4B}"/>
              </a:ext>
            </a:extLst>
          </p:cNvPr>
          <p:cNvSpPr/>
          <p:nvPr/>
        </p:nvSpPr>
        <p:spPr>
          <a:xfrm>
            <a:off x="8154120" y="1370840"/>
            <a:ext cx="3529783" cy="125805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Après plusieurs réunions informelles fructueuses sur le sujet ABC, les personnes qui en sont à l’origine ont souhaité étendre leur collectif bien au-delà de leur groupe initial. Ne sachant aucunement s’adresser à un tel volume de personnes, ni l’animer, le collectif a été « pris par surprise » dans l’ampleur de la tâche et s’est fatigué. Elle cherche une solution externe très rapide pour être remis sur des rails.</a:t>
            </a:r>
          </a:p>
        </p:txBody>
      </p:sp>
      <p:sp>
        <p:nvSpPr>
          <p:cNvPr id="36" name="Rectangle 35">
            <a:extLst>
              <a:ext uri="{FF2B5EF4-FFF2-40B4-BE49-F238E27FC236}">
                <a16:creationId xmlns:a16="http://schemas.microsoft.com/office/drawing/2014/main" id="{33414E58-2CB8-8DA7-76E6-27374C75708C}"/>
              </a:ext>
            </a:extLst>
          </p:cNvPr>
          <p:cNvSpPr/>
          <p:nvPr/>
        </p:nvSpPr>
        <p:spPr>
          <a:xfrm>
            <a:off x="4502917" y="3302107"/>
            <a:ext cx="3529784" cy="125805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La Communauté de pratique sur la discipline XYZ souhaite se lancer en s’inspirant des meilleures pratiques existantes mais sans s’y enfermer. Elle a dans ses membres fondateurs quelques membres qui ont déjà des petites expériences sur l’animation de communautés, pas assez pour vraiment en porter toute la conception mais suffisamment pour l’adapter.</a:t>
            </a:r>
          </a:p>
        </p:txBody>
      </p:sp>
      <p:sp>
        <p:nvSpPr>
          <p:cNvPr id="37" name="Rectangle 36">
            <a:extLst>
              <a:ext uri="{FF2B5EF4-FFF2-40B4-BE49-F238E27FC236}">
                <a16:creationId xmlns:a16="http://schemas.microsoft.com/office/drawing/2014/main" id="{262D3494-5543-2E9B-55E6-72A4E4066EE7}"/>
              </a:ext>
            </a:extLst>
          </p:cNvPr>
          <p:cNvSpPr/>
          <p:nvPr/>
        </p:nvSpPr>
        <p:spPr>
          <a:xfrm>
            <a:off x="8154120" y="3302107"/>
            <a:ext cx="3525029" cy="125805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La Communauté des ambassadeurs internes de l’entreprise fait tout ce qu’il y a de plus classique pour des communautés d’ambassadeurs : présenter et guider dans les différents départements, incarner l’entreprise dans les communications, … Après un an de vie plutôt correcte, elle se rend compte qu’il y a un potentiel à exploiter autour de ce modèle déjà viable, mais n’arrive pas à trouver comment. </a:t>
            </a:r>
          </a:p>
        </p:txBody>
      </p:sp>
      <p:sp>
        <p:nvSpPr>
          <p:cNvPr id="40" name="Rectangle 39">
            <a:extLst>
              <a:ext uri="{FF2B5EF4-FFF2-40B4-BE49-F238E27FC236}">
                <a16:creationId xmlns:a16="http://schemas.microsoft.com/office/drawing/2014/main" id="{45AEBEDC-4CEF-9C38-7237-59A50FA71967}"/>
              </a:ext>
            </a:extLst>
          </p:cNvPr>
          <p:cNvSpPr/>
          <p:nvPr/>
        </p:nvSpPr>
        <p:spPr>
          <a:xfrm>
            <a:off x="4502917" y="5260125"/>
            <a:ext cx="3529784" cy="125805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La Communauté Innovation de l’entreprise souhaite vraiment rester dans l’état d’esprit le moins contraint possible, afin de ne pas freiner les membres dont les personnalités sont très motivées par la liberté et la créativité. Pouvoir créer et décider est une des respirations fortes de la Communauté. Cela ne veut pas dire pour autant qu’ils souhaitent se priver de méthodes pour inspiration.</a:t>
            </a:r>
          </a:p>
        </p:txBody>
      </p:sp>
      <p:sp>
        <p:nvSpPr>
          <p:cNvPr id="41" name="Rectangle 40">
            <a:extLst>
              <a:ext uri="{FF2B5EF4-FFF2-40B4-BE49-F238E27FC236}">
                <a16:creationId xmlns:a16="http://schemas.microsoft.com/office/drawing/2014/main" id="{64A1E0A8-4A0D-5CFB-5651-092CFD29CA60}"/>
              </a:ext>
            </a:extLst>
          </p:cNvPr>
          <p:cNvSpPr/>
          <p:nvPr/>
        </p:nvSpPr>
        <p:spPr>
          <a:xfrm>
            <a:off x="8154120" y="5260125"/>
            <a:ext cx="3534315" cy="125805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La Communauté DEF a déjà expérimenté beaucoup de modèles différents, issus de diverses disciplines (agile, </a:t>
            </a:r>
            <a:r>
              <a:rPr lang="fr-FR" sz="1050" dirty="0" err="1">
                <a:solidFill>
                  <a:schemeClr val="tx1"/>
                </a:solidFill>
              </a:rPr>
              <a:t>lean</a:t>
            </a:r>
            <a:r>
              <a:rPr lang="fr-FR" sz="1050" dirty="0">
                <a:solidFill>
                  <a:schemeClr val="tx1"/>
                </a:solidFill>
              </a:rPr>
              <a:t>, etc.) et inspirations. Elle a beaucoup expérimenté et adapté son mode de fonctionnement et souhaite aujourd’hui continuer à évoluer sans prendre les contraintes des formules toutes prêtes à disposition de Communautés plus débutantes.</a:t>
            </a:r>
          </a:p>
        </p:txBody>
      </p:sp>
      <p:sp>
        <p:nvSpPr>
          <p:cNvPr id="20" name="Espace réservé du contenu 2">
            <a:extLst>
              <a:ext uri="{FF2B5EF4-FFF2-40B4-BE49-F238E27FC236}">
                <a16:creationId xmlns:a16="http://schemas.microsoft.com/office/drawing/2014/main" id="{7446A1F3-1EA8-EC85-84BA-C0E777F9F0F9}"/>
              </a:ext>
            </a:extLst>
          </p:cNvPr>
          <p:cNvSpPr txBox="1">
            <a:spLocks/>
          </p:cNvSpPr>
          <p:nvPr/>
        </p:nvSpPr>
        <p:spPr>
          <a:xfrm>
            <a:off x="1686187" y="3612444"/>
            <a:ext cx="2619236" cy="717950"/>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b="1" dirty="0"/>
              <a:t>HA</a:t>
            </a:r>
          </a:p>
          <a:p>
            <a:pPr marL="0" indent="0" algn="ctr">
              <a:buNone/>
            </a:pPr>
            <a:r>
              <a:rPr lang="fr-FR" sz="1200" b="1" dirty="0"/>
              <a:t>« Communauté sur étagère, avec ajustements préalables et réguliers» </a:t>
            </a:r>
          </a:p>
        </p:txBody>
      </p:sp>
      <p:sp>
        <p:nvSpPr>
          <p:cNvPr id="21" name="Espace réservé du contenu 2">
            <a:extLst>
              <a:ext uri="{FF2B5EF4-FFF2-40B4-BE49-F238E27FC236}">
                <a16:creationId xmlns:a16="http://schemas.microsoft.com/office/drawing/2014/main" id="{9BD50E1A-4E34-2077-933D-FCBFDF37B952}"/>
              </a:ext>
            </a:extLst>
          </p:cNvPr>
          <p:cNvSpPr txBox="1">
            <a:spLocks/>
          </p:cNvSpPr>
          <p:nvPr/>
        </p:nvSpPr>
        <p:spPr>
          <a:xfrm>
            <a:off x="1686187" y="1680122"/>
            <a:ext cx="2619236" cy="717950"/>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b="1" dirty="0"/>
              <a:t>SHU</a:t>
            </a:r>
          </a:p>
          <a:p>
            <a:pPr marL="0" indent="0" algn="ctr">
              <a:buFont typeface="Arial" panose="020B0604020202020204" pitchFamily="34" charset="0"/>
              <a:buNone/>
            </a:pPr>
            <a:r>
              <a:rPr lang="fr-FR" sz="1200" b="1" dirty="0"/>
              <a:t>« Communauté sur étagère, formule toute prête»</a:t>
            </a:r>
          </a:p>
        </p:txBody>
      </p:sp>
      <p:sp>
        <p:nvSpPr>
          <p:cNvPr id="22" name="Espace réservé du contenu 2">
            <a:extLst>
              <a:ext uri="{FF2B5EF4-FFF2-40B4-BE49-F238E27FC236}">
                <a16:creationId xmlns:a16="http://schemas.microsoft.com/office/drawing/2014/main" id="{71F0C185-A4C6-06FF-E4A7-D8A3452E0F8F}"/>
              </a:ext>
            </a:extLst>
          </p:cNvPr>
          <p:cNvSpPr txBox="1">
            <a:spLocks/>
          </p:cNvSpPr>
          <p:nvPr/>
        </p:nvSpPr>
        <p:spPr>
          <a:xfrm>
            <a:off x="1686187" y="5419112"/>
            <a:ext cx="2619236" cy="717950"/>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b="1" dirty="0"/>
              <a:t>RI</a:t>
            </a:r>
          </a:p>
          <a:p>
            <a:pPr marL="0" indent="0" algn="ctr">
              <a:buNone/>
            </a:pPr>
            <a:r>
              <a:rPr lang="fr-FR" sz="1200" b="1" dirty="0"/>
              <a:t>« Adapter le plus possible la Communauté au terrain et créer » </a:t>
            </a:r>
          </a:p>
        </p:txBody>
      </p:sp>
      <p:sp>
        <p:nvSpPr>
          <p:cNvPr id="24" name="Organigramme : Décision 23">
            <a:extLst>
              <a:ext uri="{FF2B5EF4-FFF2-40B4-BE49-F238E27FC236}">
                <a16:creationId xmlns:a16="http://schemas.microsoft.com/office/drawing/2014/main" id="{B15ADA8D-3B22-097D-C941-18FE1010AA16}"/>
              </a:ext>
            </a:extLst>
          </p:cNvPr>
          <p:cNvSpPr/>
          <p:nvPr/>
        </p:nvSpPr>
        <p:spPr>
          <a:xfrm>
            <a:off x="394609" y="1898882"/>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5" name="Connecteur droit avec flèche 24">
            <a:extLst>
              <a:ext uri="{FF2B5EF4-FFF2-40B4-BE49-F238E27FC236}">
                <a16:creationId xmlns:a16="http://schemas.microsoft.com/office/drawing/2014/main" id="{15EA295B-6F05-32DE-96B0-76106C14E7FF}"/>
              </a:ext>
            </a:extLst>
          </p:cNvPr>
          <p:cNvCxnSpPr>
            <a:cxnSpLocks/>
            <a:stCxn id="24" idx="3"/>
          </p:cNvCxnSpPr>
          <p:nvPr/>
        </p:nvCxnSpPr>
        <p:spPr>
          <a:xfrm>
            <a:off x="1199952" y="2125604"/>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6" name="Organigramme : Décision 25">
            <a:extLst>
              <a:ext uri="{FF2B5EF4-FFF2-40B4-BE49-F238E27FC236}">
                <a16:creationId xmlns:a16="http://schemas.microsoft.com/office/drawing/2014/main" id="{D0229CBE-1FCB-4F45-E5BB-D1E4EEC5536F}"/>
              </a:ext>
            </a:extLst>
          </p:cNvPr>
          <p:cNvSpPr/>
          <p:nvPr/>
        </p:nvSpPr>
        <p:spPr>
          <a:xfrm>
            <a:off x="385439" y="3755811"/>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 name="Connecteur droit avec flèche 26">
            <a:extLst>
              <a:ext uri="{FF2B5EF4-FFF2-40B4-BE49-F238E27FC236}">
                <a16:creationId xmlns:a16="http://schemas.microsoft.com/office/drawing/2014/main" id="{84E37D9E-6A4E-4D98-1F5E-E6E3230E1227}"/>
              </a:ext>
            </a:extLst>
          </p:cNvPr>
          <p:cNvCxnSpPr>
            <a:cxnSpLocks/>
            <a:endCxn id="26" idx="1"/>
          </p:cNvCxnSpPr>
          <p:nvPr/>
        </p:nvCxnSpPr>
        <p:spPr>
          <a:xfrm>
            <a:off x="24716" y="3982533"/>
            <a:ext cx="360723" cy="0"/>
          </a:xfrm>
          <a:prstGeom prst="straightConnector1">
            <a:avLst/>
          </a:prstGeom>
          <a:ln w="571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necteur droit avec flèche 29">
            <a:extLst>
              <a:ext uri="{FF2B5EF4-FFF2-40B4-BE49-F238E27FC236}">
                <a16:creationId xmlns:a16="http://schemas.microsoft.com/office/drawing/2014/main" id="{83161123-58BE-6471-272F-A18922B51756}"/>
              </a:ext>
            </a:extLst>
          </p:cNvPr>
          <p:cNvCxnSpPr>
            <a:cxnSpLocks/>
            <a:stCxn id="26" idx="3"/>
          </p:cNvCxnSpPr>
          <p:nvPr/>
        </p:nvCxnSpPr>
        <p:spPr>
          <a:xfrm>
            <a:off x="1190782" y="3982533"/>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30">
            <a:extLst>
              <a:ext uri="{FF2B5EF4-FFF2-40B4-BE49-F238E27FC236}">
                <a16:creationId xmlns:a16="http://schemas.microsoft.com/office/drawing/2014/main" id="{294788D4-72F0-4404-9C7B-05820223FA27}"/>
              </a:ext>
            </a:extLst>
          </p:cNvPr>
          <p:cNvCxnSpPr>
            <a:cxnSpLocks/>
            <a:endCxn id="26" idx="0"/>
          </p:cNvCxnSpPr>
          <p:nvPr/>
        </p:nvCxnSpPr>
        <p:spPr>
          <a:xfrm>
            <a:off x="33886" y="3525685"/>
            <a:ext cx="754225" cy="230126"/>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
        <p:nvSpPr>
          <p:cNvPr id="32" name="Organigramme : Décision 31">
            <a:extLst>
              <a:ext uri="{FF2B5EF4-FFF2-40B4-BE49-F238E27FC236}">
                <a16:creationId xmlns:a16="http://schemas.microsoft.com/office/drawing/2014/main" id="{147A9483-14D0-480A-8FBE-569A0EBA1CE5}"/>
              </a:ext>
            </a:extLst>
          </p:cNvPr>
          <p:cNvSpPr/>
          <p:nvPr/>
        </p:nvSpPr>
        <p:spPr>
          <a:xfrm>
            <a:off x="441206" y="5612741"/>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3" name="Connecteur droit avec flèche 32">
            <a:extLst>
              <a:ext uri="{FF2B5EF4-FFF2-40B4-BE49-F238E27FC236}">
                <a16:creationId xmlns:a16="http://schemas.microsoft.com/office/drawing/2014/main" id="{30740E37-1F4E-9024-CF98-AA00609C57CF}"/>
              </a:ext>
            </a:extLst>
          </p:cNvPr>
          <p:cNvCxnSpPr>
            <a:cxnSpLocks/>
            <a:endCxn id="32" idx="1"/>
          </p:cNvCxnSpPr>
          <p:nvPr/>
        </p:nvCxnSpPr>
        <p:spPr>
          <a:xfrm>
            <a:off x="80483" y="5839463"/>
            <a:ext cx="360723" cy="0"/>
          </a:xfrm>
          <a:prstGeom prst="straightConnector1">
            <a:avLst/>
          </a:prstGeom>
          <a:ln w="571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necteur droit avec flèche 33">
            <a:extLst>
              <a:ext uri="{FF2B5EF4-FFF2-40B4-BE49-F238E27FC236}">
                <a16:creationId xmlns:a16="http://schemas.microsoft.com/office/drawing/2014/main" id="{49BDCDB0-A338-90A6-89C3-6400DF05B3DD}"/>
              </a:ext>
            </a:extLst>
          </p:cNvPr>
          <p:cNvCxnSpPr>
            <a:cxnSpLocks/>
            <a:stCxn id="32" idx="3"/>
          </p:cNvCxnSpPr>
          <p:nvPr/>
        </p:nvCxnSpPr>
        <p:spPr>
          <a:xfrm>
            <a:off x="1246549" y="5839463"/>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 en angle 34">
            <a:extLst>
              <a:ext uri="{FF2B5EF4-FFF2-40B4-BE49-F238E27FC236}">
                <a16:creationId xmlns:a16="http://schemas.microsoft.com/office/drawing/2014/main" id="{B05CCBBC-B848-2F12-1DA5-8A00C479838C}"/>
              </a:ext>
            </a:extLst>
          </p:cNvPr>
          <p:cNvCxnSpPr>
            <a:cxnSpLocks/>
            <a:endCxn id="32" idx="0"/>
          </p:cNvCxnSpPr>
          <p:nvPr/>
        </p:nvCxnSpPr>
        <p:spPr>
          <a:xfrm>
            <a:off x="89653" y="5382615"/>
            <a:ext cx="754225" cy="230126"/>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necteur : en angle 37">
            <a:extLst>
              <a:ext uri="{FF2B5EF4-FFF2-40B4-BE49-F238E27FC236}">
                <a16:creationId xmlns:a16="http://schemas.microsoft.com/office/drawing/2014/main" id="{2F5D98C3-D149-D0A9-1042-1B8E292FA57C}"/>
              </a:ext>
            </a:extLst>
          </p:cNvPr>
          <p:cNvCxnSpPr>
            <a:cxnSpLocks/>
            <a:endCxn id="32" idx="2"/>
          </p:cNvCxnSpPr>
          <p:nvPr/>
        </p:nvCxnSpPr>
        <p:spPr>
          <a:xfrm flipV="1">
            <a:off x="89653" y="6066184"/>
            <a:ext cx="754225" cy="230126"/>
          </a:xfrm>
          <a:prstGeom prst="bentConnector2">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Connecteur : en angle 38">
            <a:extLst>
              <a:ext uri="{FF2B5EF4-FFF2-40B4-BE49-F238E27FC236}">
                <a16:creationId xmlns:a16="http://schemas.microsoft.com/office/drawing/2014/main" id="{EDD7EBC8-B12A-5FDA-9BDB-AD22688975B1}"/>
              </a:ext>
            </a:extLst>
          </p:cNvPr>
          <p:cNvCxnSpPr>
            <a:cxnSpLocks/>
            <a:endCxn id="24" idx="0"/>
          </p:cNvCxnSpPr>
          <p:nvPr/>
        </p:nvCxnSpPr>
        <p:spPr>
          <a:xfrm>
            <a:off x="33886" y="1680122"/>
            <a:ext cx="763395" cy="218760"/>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7585230"/>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8B73D52-8A2F-D73D-5C49-DC49C5DEE622}"/>
              </a:ext>
            </a:extLst>
          </p:cNvPr>
          <p:cNvSpPr>
            <a:spLocks noGrp="1"/>
          </p:cNvSpPr>
          <p:nvPr>
            <p:ph type="title"/>
          </p:nvPr>
        </p:nvSpPr>
        <p:spPr>
          <a:xfrm>
            <a:off x="385439" y="339816"/>
            <a:ext cx="10515600" cy="717951"/>
          </a:xfrm>
        </p:spPr>
        <p:txBody>
          <a:bodyPr>
            <a:noAutofit/>
          </a:bodyPr>
          <a:lstStyle/>
          <a:p>
            <a:r>
              <a:rPr lang="fr-FR" sz="3200" dirty="0"/>
              <a:t>Quelle simplicité de décision sur la valeur ?</a:t>
            </a:r>
            <a:br>
              <a:rPr lang="fr-FR" sz="3200" dirty="0"/>
            </a:br>
            <a:r>
              <a:rPr lang="fr-FR" sz="3200" dirty="0"/>
              <a:t>Exemples de circonstances favorables aux différents schémas</a:t>
            </a:r>
          </a:p>
        </p:txBody>
      </p:sp>
      <p:sp>
        <p:nvSpPr>
          <p:cNvPr id="28" name="Rectangle 27">
            <a:extLst>
              <a:ext uri="{FF2B5EF4-FFF2-40B4-BE49-F238E27FC236}">
                <a16:creationId xmlns:a16="http://schemas.microsoft.com/office/drawing/2014/main" id="{DAC24512-9748-5AC5-4601-6B1E0E03867A}"/>
              </a:ext>
            </a:extLst>
          </p:cNvPr>
          <p:cNvSpPr/>
          <p:nvPr/>
        </p:nvSpPr>
        <p:spPr>
          <a:xfrm>
            <a:off x="4502917" y="1370841"/>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Très peu de maîtrise du sujet « Communautés » et peu de capacité à discuter des différents paramètres</a:t>
            </a:r>
          </a:p>
        </p:txBody>
      </p:sp>
      <p:sp>
        <p:nvSpPr>
          <p:cNvPr id="29" name="Rectangle 28">
            <a:extLst>
              <a:ext uri="{FF2B5EF4-FFF2-40B4-BE49-F238E27FC236}">
                <a16:creationId xmlns:a16="http://schemas.microsoft.com/office/drawing/2014/main" id="{4638BDF5-14FD-A8E8-5902-F8614399FB4B}"/>
              </a:ext>
            </a:extLst>
          </p:cNvPr>
          <p:cNvSpPr/>
          <p:nvPr/>
        </p:nvSpPr>
        <p:spPr>
          <a:xfrm>
            <a:off x="8154121" y="1370841"/>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Propension ou capacité à l’obéissance ou au suivi de  recommandations extérieures sur l’organisation de Communautés</a:t>
            </a:r>
          </a:p>
        </p:txBody>
      </p:sp>
      <p:sp>
        <p:nvSpPr>
          <p:cNvPr id="30" name="Rectangle 29">
            <a:extLst>
              <a:ext uri="{FF2B5EF4-FFF2-40B4-BE49-F238E27FC236}">
                <a16:creationId xmlns:a16="http://schemas.microsoft.com/office/drawing/2014/main" id="{C21BF955-FC7A-307B-8257-59389DCA1689}"/>
              </a:ext>
            </a:extLst>
          </p:cNvPr>
          <p:cNvSpPr/>
          <p:nvPr/>
        </p:nvSpPr>
        <p:spPr>
          <a:xfrm>
            <a:off x="9979722" y="1370841"/>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Volonté de gains de temps de décision, de renseignement en amont ou de structuration collective</a:t>
            </a:r>
          </a:p>
        </p:txBody>
      </p:sp>
      <p:sp>
        <p:nvSpPr>
          <p:cNvPr id="31" name="Rectangle 30">
            <a:extLst>
              <a:ext uri="{FF2B5EF4-FFF2-40B4-BE49-F238E27FC236}">
                <a16:creationId xmlns:a16="http://schemas.microsoft.com/office/drawing/2014/main" id="{BAFD75C0-3D6A-9DFD-F446-FBB4741D8474}"/>
              </a:ext>
            </a:extLst>
          </p:cNvPr>
          <p:cNvSpPr/>
          <p:nvPr/>
        </p:nvSpPr>
        <p:spPr>
          <a:xfrm>
            <a:off x="6328519" y="1370841"/>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Confiance des responsables Communauté dans la capacité à « forcer » les membres à suivre un modèle</a:t>
            </a:r>
          </a:p>
        </p:txBody>
      </p:sp>
      <p:sp>
        <p:nvSpPr>
          <p:cNvPr id="36" name="Rectangle 35">
            <a:extLst>
              <a:ext uri="{FF2B5EF4-FFF2-40B4-BE49-F238E27FC236}">
                <a16:creationId xmlns:a16="http://schemas.microsoft.com/office/drawing/2014/main" id="{33414E58-2CB8-8DA7-76E6-27374C75708C}"/>
              </a:ext>
            </a:extLst>
          </p:cNvPr>
          <p:cNvSpPr/>
          <p:nvPr/>
        </p:nvSpPr>
        <p:spPr>
          <a:xfrm>
            <a:off x="4502917" y="3302108"/>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Maîtrise ou a minima expérience de l’animation de Communauté, qui dépasse les bases</a:t>
            </a:r>
          </a:p>
        </p:txBody>
      </p:sp>
      <p:sp>
        <p:nvSpPr>
          <p:cNvPr id="37" name="Rectangle 36">
            <a:extLst>
              <a:ext uri="{FF2B5EF4-FFF2-40B4-BE49-F238E27FC236}">
                <a16:creationId xmlns:a16="http://schemas.microsoft.com/office/drawing/2014/main" id="{262D3494-5543-2E9B-55E6-72A4E4066EE7}"/>
              </a:ext>
            </a:extLst>
          </p:cNvPr>
          <p:cNvSpPr/>
          <p:nvPr/>
        </p:nvSpPr>
        <p:spPr>
          <a:xfrm>
            <a:off x="8154121" y="3302108"/>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Pas de rejet des recommandations ou prescriptions extérieures sur l’organisation de Communauté</a:t>
            </a:r>
          </a:p>
        </p:txBody>
      </p:sp>
      <p:sp>
        <p:nvSpPr>
          <p:cNvPr id="38" name="Rectangle 37">
            <a:extLst>
              <a:ext uri="{FF2B5EF4-FFF2-40B4-BE49-F238E27FC236}">
                <a16:creationId xmlns:a16="http://schemas.microsoft.com/office/drawing/2014/main" id="{52178AB9-52F0-886B-39F8-6AAEA9F62C49}"/>
              </a:ext>
            </a:extLst>
          </p:cNvPr>
          <p:cNvSpPr/>
          <p:nvPr/>
        </p:nvSpPr>
        <p:spPr>
          <a:xfrm>
            <a:off x="9979722" y="3302108"/>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Ouverture à des raccourcis mais surtout volonté de coconstruire la Communauté</a:t>
            </a:r>
          </a:p>
        </p:txBody>
      </p:sp>
      <p:sp>
        <p:nvSpPr>
          <p:cNvPr id="39" name="Rectangle 38">
            <a:extLst>
              <a:ext uri="{FF2B5EF4-FFF2-40B4-BE49-F238E27FC236}">
                <a16:creationId xmlns:a16="http://schemas.microsoft.com/office/drawing/2014/main" id="{B041B24C-1FCD-3AF4-5726-B76A82E35D4A}"/>
              </a:ext>
            </a:extLst>
          </p:cNvPr>
          <p:cNvSpPr/>
          <p:nvPr/>
        </p:nvSpPr>
        <p:spPr>
          <a:xfrm>
            <a:off x="6328519" y="3302108"/>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Considération que certaines spécificités locales font que « tout ce qui vient des modèles ne s’applique pas ici »</a:t>
            </a:r>
          </a:p>
        </p:txBody>
      </p:sp>
      <p:sp>
        <p:nvSpPr>
          <p:cNvPr id="40" name="Rectangle 39">
            <a:extLst>
              <a:ext uri="{FF2B5EF4-FFF2-40B4-BE49-F238E27FC236}">
                <a16:creationId xmlns:a16="http://schemas.microsoft.com/office/drawing/2014/main" id="{45AEBEDC-4CEF-9C38-7237-59A50FA71967}"/>
              </a:ext>
            </a:extLst>
          </p:cNvPr>
          <p:cNvSpPr/>
          <p:nvPr/>
        </p:nvSpPr>
        <p:spPr>
          <a:xfrm>
            <a:off x="4502917" y="5260126"/>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Maîtrise et expérience de l’animation de Communauté, et volonté d’aller encore plus loin</a:t>
            </a:r>
          </a:p>
        </p:txBody>
      </p:sp>
      <p:sp>
        <p:nvSpPr>
          <p:cNvPr id="41" name="Rectangle 40">
            <a:extLst>
              <a:ext uri="{FF2B5EF4-FFF2-40B4-BE49-F238E27FC236}">
                <a16:creationId xmlns:a16="http://schemas.microsoft.com/office/drawing/2014/main" id="{64A1E0A8-4A0D-5CFB-5651-092CFD29CA60}"/>
              </a:ext>
            </a:extLst>
          </p:cNvPr>
          <p:cNvSpPr/>
          <p:nvPr/>
        </p:nvSpPr>
        <p:spPr>
          <a:xfrm>
            <a:off x="8154121" y="5260126"/>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Refus ou rejet de ce qui est prescriptif, directif, obligatoire, par volonté de liberté (entre autres sur le sujet orga de Communauté)</a:t>
            </a:r>
          </a:p>
        </p:txBody>
      </p:sp>
      <p:sp>
        <p:nvSpPr>
          <p:cNvPr id="42" name="Rectangle 41">
            <a:extLst>
              <a:ext uri="{FF2B5EF4-FFF2-40B4-BE49-F238E27FC236}">
                <a16:creationId xmlns:a16="http://schemas.microsoft.com/office/drawing/2014/main" id="{083DB4EB-DC5D-D6CD-E191-EF6C8ADCFD3A}"/>
              </a:ext>
            </a:extLst>
          </p:cNvPr>
          <p:cNvSpPr/>
          <p:nvPr/>
        </p:nvSpPr>
        <p:spPr>
          <a:xfrm>
            <a:off x="9979722" y="5260126"/>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Volonté de bien prendre le temps et l’effort de construire collectivement tout ce qui définit la Communauté</a:t>
            </a:r>
          </a:p>
        </p:txBody>
      </p:sp>
      <p:sp>
        <p:nvSpPr>
          <p:cNvPr id="43" name="Rectangle 42">
            <a:extLst>
              <a:ext uri="{FF2B5EF4-FFF2-40B4-BE49-F238E27FC236}">
                <a16:creationId xmlns:a16="http://schemas.microsoft.com/office/drawing/2014/main" id="{05B4F007-5354-8141-039F-099AD26AD449}"/>
              </a:ext>
            </a:extLst>
          </p:cNvPr>
          <p:cNvSpPr/>
          <p:nvPr/>
        </p:nvSpPr>
        <p:spPr>
          <a:xfrm>
            <a:off x="6328519" y="5260126"/>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Confiance en soi dans la capacité à créer des initiatives communautaires pertinentes</a:t>
            </a:r>
          </a:p>
        </p:txBody>
      </p:sp>
      <p:sp>
        <p:nvSpPr>
          <p:cNvPr id="18" name="Rectangle 17">
            <a:extLst>
              <a:ext uri="{FF2B5EF4-FFF2-40B4-BE49-F238E27FC236}">
                <a16:creationId xmlns:a16="http://schemas.microsoft.com/office/drawing/2014/main" id="{1C025755-9903-CB90-9EF9-84E8AD04205C}"/>
              </a:ext>
            </a:extLst>
          </p:cNvPr>
          <p:cNvSpPr/>
          <p:nvPr/>
        </p:nvSpPr>
        <p:spPr>
          <a:xfrm>
            <a:off x="4502917" y="2176184"/>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Attentes fortes d’une compétence extérieure, peu de confiance en soi pour affiner un modèle.</a:t>
            </a:r>
          </a:p>
        </p:txBody>
      </p:sp>
      <p:sp>
        <p:nvSpPr>
          <p:cNvPr id="19" name="Rectangle 18">
            <a:extLst>
              <a:ext uri="{FF2B5EF4-FFF2-40B4-BE49-F238E27FC236}">
                <a16:creationId xmlns:a16="http://schemas.microsoft.com/office/drawing/2014/main" id="{92F931BF-233C-0164-AB53-2EA8CCD24EE8}"/>
              </a:ext>
            </a:extLst>
          </p:cNvPr>
          <p:cNvSpPr/>
          <p:nvPr/>
        </p:nvSpPr>
        <p:spPr>
          <a:xfrm>
            <a:off x="8154121" y="2176184"/>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Première fois ou premier lancement de Communauté</a:t>
            </a:r>
          </a:p>
        </p:txBody>
      </p:sp>
      <p:sp>
        <p:nvSpPr>
          <p:cNvPr id="20" name="Rectangle 19">
            <a:extLst>
              <a:ext uri="{FF2B5EF4-FFF2-40B4-BE49-F238E27FC236}">
                <a16:creationId xmlns:a16="http://schemas.microsoft.com/office/drawing/2014/main" id="{3F3D5464-CCDB-671F-9E2A-2A49B7B13EEF}"/>
              </a:ext>
            </a:extLst>
          </p:cNvPr>
          <p:cNvSpPr/>
          <p:nvPr/>
        </p:nvSpPr>
        <p:spPr>
          <a:xfrm>
            <a:off x="9979722" y="2176184"/>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Refus de réinventer les basiques du Community Building soi même, fatigue décisionnelle</a:t>
            </a:r>
          </a:p>
        </p:txBody>
      </p:sp>
      <p:sp>
        <p:nvSpPr>
          <p:cNvPr id="21" name="Rectangle 20">
            <a:extLst>
              <a:ext uri="{FF2B5EF4-FFF2-40B4-BE49-F238E27FC236}">
                <a16:creationId xmlns:a16="http://schemas.microsoft.com/office/drawing/2014/main" id="{1FBFA545-6D7F-0771-DEE3-251EE6019493}"/>
              </a:ext>
            </a:extLst>
          </p:cNvPr>
          <p:cNvSpPr/>
          <p:nvPr/>
        </p:nvSpPr>
        <p:spPr>
          <a:xfrm>
            <a:off x="6328519" y="2176184"/>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Peu de disponibilité pour s’investir en amont pour structurer une Communauté avant de « voir des résultats » </a:t>
            </a:r>
          </a:p>
        </p:txBody>
      </p:sp>
      <p:sp>
        <p:nvSpPr>
          <p:cNvPr id="22" name="Rectangle 21">
            <a:extLst>
              <a:ext uri="{FF2B5EF4-FFF2-40B4-BE49-F238E27FC236}">
                <a16:creationId xmlns:a16="http://schemas.microsoft.com/office/drawing/2014/main" id="{E6F789D8-111D-2287-A0CA-8281D016C5E5}"/>
              </a:ext>
            </a:extLst>
          </p:cNvPr>
          <p:cNvSpPr/>
          <p:nvPr/>
        </p:nvSpPr>
        <p:spPr>
          <a:xfrm>
            <a:off x="4502917" y="4107451"/>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Confiance en soi pour adapter des modèles et prise en considération de spécificités locales</a:t>
            </a:r>
          </a:p>
        </p:txBody>
      </p:sp>
      <p:sp>
        <p:nvSpPr>
          <p:cNvPr id="23" name="Rectangle 22">
            <a:extLst>
              <a:ext uri="{FF2B5EF4-FFF2-40B4-BE49-F238E27FC236}">
                <a16:creationId xmlns:a16="http://schemas.microsoft.com/office/drawing/2014/main" id="{F10075BE-35B5-E71D-7CC4-D026E9670901}"/>
              </a:ext>
            </a:extLst>
          </p:cNvPr>
          <p:cNvSpPr/>
          <p:nvPr/>
        </p:nvSpPr>
        <p:spPr>
          <a:xfrm>
            <a:off x="8154121" y="4107451"/>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Déjà une expérience passée d’une Communauté du même type</a:t>
            </a:r>
          </a:p>
        </p:txBody>
      </p:sp>
      <p:sp>
        <p:nvSpPr>
          <p:cNvPr id="24" name="Rectangle 23">
            <a:extLst>
              <a:ext uri="{FF2B5EF4-FFF2-40B4-BE49-F238E27FC236}">
                <a16:creationId xmlns:a16="http://schemas.microsoft.com/office/drawing/2014/main" id="{15171C53-B983-BA88-290D-505862C1C81E}"/>
              </a:ext>
            </a:extLst>
          </p:cNvPr>
          <p:cNvSpPr/>
          <p:nvPr/>
        </p:nvSpPr>
        <p:spPr>
          <a:xfrm>
            <a:off x="9979722" y="4107451"/>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Goût à la réinvention du Community Building mais préférence du ré-usage quand même </a:t>
            </a:r>
          </a:p>
        </p:txBody>
      </p:sp>
      <p:sp>
        <p:nvSpPr>
          <p:cNvPr id="25" name="Rectangle 24">
            <a:extLst>
              <a:ext uri="{FF2B5EF4-FFF2-40B4-BE49-F238E27FC236}">
                <a16:creationId xmlns:a16="http://schemas.microsoft.com/office/drawing/2014/main" id="{724D1705-CB5D-C81F-CAF4-CBC5C31B1537}"/>
              </a:ext>
            </a:extLst>
          </p:cNvPr>
          <p:cNvSpPr/>
          <p:nvPr/>
        </p:nvSpPr>
        <p:spPr>
          <a:xfrm>
            <a:off x="6328519" y="4107451"/>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Disponibilité pour creuser les points les plus évidents de la structure de Communauté, pas vraiment plus</a:t>
            </a:r>
          </a:p>
        </p:txBody>
      </p:sp>
      <p:sp>
        <p:nvSpPr>
          <p:cNvPr id="26" name="Rectangle 25">
            <a:extLst>
              <a:ext uri="{FF2B5EF4-FFF2-40B4-BE49-F238E27FC236}">
                <a16:creationId xmlns:a16="http://schemas.microsoft.com/office/drawing/2014/main" id="{4404409A-1D5C-D7AA-AE38-00160A0097FF}"/>
              </a:ext>
            </a:extLst>
          </p:cNvPr>
          <p:cNvSpPr/>
          <p:nvPr/>
        </p:nvSpPr>
        <p:spPr>
          <a:xfrm>
            <a:off x="4502917" y="6065469"/>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Croyance forte en la spécificité de la situation (qui ne ressemblerait à aucune autre) en termes d’orga de Communauté</a:t>
            </a:r>
          </a:p>
        </p:txBody>
      </p:sp>
      <p:sp>
        <p:nvSpPr>
          <p:cNvPr id="27" name="Rectangle 26">
            <a:extLst>
              <a:ext uri="{FF2B5EF4-FFF2-40B4-BE49-F238E27FC236}">
                <a16:creationId xmlns:a16="http://schemas.microsoft.com/office/drawing/2014/main" id="{DAF87E5A-C476-3407-3F7B-126D6DF5A7BF}"/>
              </a:ext>
            </a:extLst>
          </p:cNvPr>
          <p:cNvSpPr/>
          <p:nvPr/>
        </p:nvSpPr>
        <p:spPr>
          <a:xfrm>
            <a:off x="8154121" y="6065469"/>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Déjà l’expérience de lancement ou gestion plusieurs communautés de types variés</a:t>
            </a:r>
          </a:p>
        </p:txBody>
      </p:sp>
      <p:sp>
        <p:nvSpPr>
          <p:cNvPr id="32" name="Rectangle 31">
            <a:extLst>
              <a:ext uri="{FF2B5EF4-FFF2-40B4-BE49-F238E27FC236}">
                <a16:creationId xmlns:a16="http://schemas.microsoft.com/office/drawing/2014/main" id="{79809D6E-FB7E-1127-7646-58163FE4A102}"/>
              </a:ext>
            </a:extLst>
          </p:cNvPr>
          <p:cNvSpPr/>
          <p:nvPr/>
        </p:nvSpPr>
        <p:spPr>
          <a:xfrm>
            <a:off x="9979722" y="6065469"/>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Préférence à la réinvention du Community Building plutôt qu’au ré-usage de méthodes existantes</a:t>
            </a:r>
          </a:p>
        </p:txBody>
      </p:sp>
      <p:sp>
        <p:nvSpPr>
          <p:cNvPr id="33" name="Rectangle 32">
            <a:extLst>
              <a:ext uri="{FF2B5EF4-FFF2-40B4-BE49-F238E27FC236}">
                <a16:creationId xmlns:a16="http://schemas.microsoft.com/office/drawing/2014/main" id="{425C4441-EF18-1426-D61C-130D8F8CA88F}"/>
              </a:ext>
            </a:extLst>
          </p:cNvPr>
          <p:cNvSpPr/>
          <p:nvPr/>
        </p:nvSpPr>
        <p:spPr>
          <a:xfrm>
            <a:off x="6328519" y="6065469"/>
            <a:ext cx="1704182" cy="717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Disponibilité pour creuser les paramètres de Communauté et les améliorer point par point</a:t>
            </a:r>
          </a:p>
        </p:txBody>
      </p:sp>
      <p:sp>
        <p:nvSpPr>
          <p:cNvPr id="60" name="Espace réservé du contenu 2">
            <a:extLst>
              <a:ext uri="{FF2B5EF4-FFF2-40B4-BE49-F238E27FC236}">
                <a16:creationId xmlns:a16="http://schemas.microsoft.com/office/drawing/2014/main" id="{D29CB3E2-218E-4F1B-92FF-D0F27971C882}"/>
              </a:ext>
            </a:extLst>
          </p:cNvPr>
          <p:cNvSpPr txBox="1">
            <a:spLocks/>
          </p:cNvSpPr>
          <p:nvPr/>
        </p:nvSpPr>
        <p:spPr>
          <a:xfrm>
            <a:off x="1686187" y="3612444"/>
            <a:ext cx="2619236" cy="717950"/>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b="1"/>
              <a:t>HA</a:t>
            </a:r>
          </a:p>
          <a:p>
            <a:pPr marL="0" indent="0" algn="ctr">
              <a:buNone/>
            </a:pPr>
            <a:r>
              <a:rPr lang="fr-FR" sz="1200" b="1"/>
              <a:t>« Communauté sur étagère, avec ajustements préalables et réguliers» </a:t>
            </a:r>
          </a:p>
        </p:txBody>
      </p:sp>
      <p:sp>
        <p:nvSpPr>
          <p:cNvPr id="61" name="Espace réservé du contenu 2">
            <a:extLst>
              <a:ext uri="{FF2B5EF4-FFF2-40B4-BE49-F238E27FC236}">
                <a16:creationId xmlns:a16="http://schemas.microsoft.com/office/drawing/2014/main" id="{A6C7D67B-2B8E-96FF-6AEA-BE9653BBD52D}"/>
              </a:ext>
            </a:extLst>
          </p:cNvPr>
          <p:cNvSpPr txBox="1">
            <a:spLocks/>
          </p:cNvSpPr>
          <p:nvPr/>
        </p:nvSpPr>
        <p:spPr>
          <a:xfrm>
            <a:off x="1686187" y="1680122"/>
            <a:ext cx="2619236" cy="717950"/>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b="1"/>
              <a:t>SHU</a:t>
            </a:r>
          </a:p>
          <a:p>
            <a:pPr marL="0" indent="0" algn="ctr">
              <a:buFont typeface="Arial" panose="020B0604020202020204" pitchFamily="34" charset="0"/>
              <a:buNone/>
            </a:pPr>
            <a:r>
              <a:rPr lang="fr-FR" sz="1200" b="1"/>
              <a:t>« Communauté sur étagère, formule toute prête»</a:t>
            </a:r>
          </a:p>
        </p:txBody>
      </p:sp>
      <p:sp>
        <p:nvSpPr>
          <p:cNvPr id="62" name="Espace réservé du contenu 2">
            <a:extLst>
              <a:ext uri="{FF2B5EF4-FFF2-40B4-BE49-F238E27FC236}">
                <a16:creationId xmlns:a16="http://schemas.microsoft.com/office/drawing/2014/main" id="{1048A39C-F094-69E7-C553-8981C0D37AF9}"/>
              </a:ext>
            </a:extLst>
          </p:cNvPr>
          <p:cNvSpPr txBox="1">
            <a:spLocks/>
          </p:cNvSpPr>
          <p:nvPr/>
        </p:nvSpPr>
        <p:spPr>
          <a:xfrm>
            <a:off x="1686187" y="5419112"/>
            <a:ext cx="2619236" cy="717950"/>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b="1"/>
              <a:t>RI</a:t>
            </a:r>
          </a:p>
          <a:p>
            <a:pPr marL="0" indent="0" algn="ctr">
              <a:buNone/>
            </a:pPr>
            <a:r>
              <a:rPr lang="fr-FR" sz="1200" b="1"/>
              <a:t>« Adapter le plus possible la Communauté au terrain et créer » </a:t>
            </a:r>
          </a:p>
        </p:txBody>
      </p:sp>
      <p:sp>
        <p:nvSpPr>
          <p:cNvPr id="44" name="Organigramme : Décision 43">
            <a:extLst>
              <a:ext uri="{FF2B5EF4-FFF2-40B4-BE49-F238E27FC236}">
                <a16:creationId xmlns:a16="http://schemas.microsoft.com/office/drawing/2014/main" id="{6CC04643-B409-90B8-B69D-FEE6357D5AD0}"/>
              </a:ext>
            </a:extLst>
          </p:cNvPr>
          <p:cNvSpPr/>
          <p:nvPr/>
        </p:nvSpPr>
        <p:spPr>
          <a:xfrm>
            <a:off x="448399" y="1898882"/>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5" name="Connecteur droit avec flèche 44">
            <a:extLst>
              <a:ext uri="{FF2B5EF4-FFF2-40B4-BE49-F238E27FC236}">
                <a16:creationId xmlns:a16="http://schemas.microsoft.com/office/drawing/2014/main" id="{57B1C47E-AB8F-4986-F86C-C1179509ECD5}"/>
              </a:ext>
            </a:extLst>
          </p:cNvPr>
          <p:cNvCxnSpPr>
            <a:cxnSpLocks/>
            <a:stCxn id="44" idx="3"/>
          </p:cNvCxnSpPr>
          <p:nvPr/>
        </p:nvCxnSpPr>
        <p:spPr>
          <a:xfrm>
            <a:off x="1253742" y="2125604"/>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6" name="Organigramme : Décision 45">
            <a:extLst>
              <a:ext uri="{FF2B5EF4-FFF2-40B4-BE49-F238E27FC236}">
                <a16:creationId xmlns:a16="http://schemas.microsoft.com/office/drawing/2014/main" id="{2174B6F6-0031-C18A-44A3-7A5EB30AB47C}"/>
              </a:ext>
            </a:extLst>
          </p:cNvPr>
          <p:cNvSpPr/>
          <p:nvPr/>
        </p:nvSpPr>
        <p:spPr>
          <a:xfrm>
            <a:off x="476491" y="3755811"/>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7" name="Connecteur droit avec flèche 46">
            <a:extLst>
              <a:ext uri="{FF2B5EF4-FFF2-40B4-BE49-F238E27FC236}">
                <a16:creationId xmlns:a16="http://schemas.microsoft.com/office/drawing/2014/main" id="{FAE01283-56FC-F896-8600-75B9B8BD3421}"/>
              </a:ext>
            </a:extLst>
          </p:cNvPr>
          <p:cNvCxnSpPr>
            <a:cxnSpLocks/>
            <a:endCxn id="46" idx="1"/>
          </p:cNvCxnSpPr>
          <p:nvPr/>
        </p:nvCxnSpPr>
        <p:spPr>
          <a:xfrm>
            <a:off x="115768" y="3982533"/>
            <a:ext cx="360723" cy="0"/>
          </a:xfrm>
          <a:prstGeom prst="straightConnector1">
            <a:avLst/>
          </a:prstGeom>
          <a:ln w="571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48" name="Connecteur droit avec flèche 47">
            <a:extLst>
              <a:ext uri="{FF2B5EF4-FFF2-40B4-BE49-F238E27FC236}">
                <a16:creationId xmlns:a16="http://schemas.microsoft.com/office/drawing/2014/main" id="{88BF6D48-7610-2727-1883-070FC1181B42}"/>
              </a:ext>
            </a:extLst>
          </p:cNvPr>
          <p:cNvCxnSpPr>
            <a:cxnSpLocks/>
            <a:stCxn id="46" idx="3"/>
          </p:cNvCxnSpPr>
          <p:nvPr/>
        </p:nvCxnSpPr>
        <p:spPr>
          <a:xfrm>
            <a:off x="1281834" y="3982533"/>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9" name="Connecteur : en angle 48">
            <a:extLst>
              <a:ext uri="{FF2B5EF4-FFF2-40B4-BE49-F238E27FC236}">
                <a16:creationId xmlns:a16="http://schemas.microsoft.com/office/drawing/2014/main" id="{FE5A6CFB-3C90-722E-07FF-D58B8B47E53C}"/>
              </a:ext>
            </a:extLst>
          </p:cNvPr>
          <p:cNvCxnSpPr>
            <a:cxnSpLocks/>
            <a:endCxn id="46" idx="0"/>
          </p:cNvCxnSpPr>
          <p:nvPr/>
        </p:nvCxnSpPr>
        <p:spPr>
          <a:xfrm>
            <a:off x="124938" y="3525685"/>
            <a:ext cx="754225" cy="230126"/>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
        <p:nvSpPr>
          <p:cNvPr id="50" name="Organigramme : Décision 49">
            <a:extLst>
              <a:ext uri="{FF2B5EF4-FFF2-40B4-BE49-F238E27FC236}">
                <a16:creationId xmlns:a16="http://schemas.microsoft.com/office/drawing/2014/main" id="{9DC627C6-A3E0-07AC-49FF-C96EEEDCC884}"/>
              </a:ext>
            </a:extLst>
          </p:cNvPr>
          <p:cNvSpPr/>
          <p:nvPr/>
        </p:nvSpPr>
        <p:spPr>
          <a:xfrm>
            <a:off x="494996" y="5612741"/>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1" name="Connecteur droit avec flèche 50">
            <a:extLst>
              <a:ext uri="{FF2B5EF4-FFF2-40B4-BE49-F238E27FC236}">
                <a16:creationId xmlns:a16="http://schemas.microsoft.com/office/drawing/2014/main" id="{D4B2A074-A486-9B54-1EE0-755AB985E2BE}"/>
              </a:ext>
            </a:extLst>
          </p:cNvPr>
          <p:cNvCxnSpPr>
            <a:cxnSpLocks/>
            <a:endCxn id="50" idx="1"/>
          </p:cNvCxnSpPr>
          <p:nvPr/>
        </p:nvCxnSpPr>
        <p:spPr>
          <a:xfrm>
            <a:off x="134273" y="5839463"/>
            <a:ext cx="360723" cy="0"/>
          </a:xfrm>
          <a:prstGeom prst="straightConnector1">
            <a:avLst/>
          </a:prstGeom>
          <a:ln w="571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52" name="Connecteur droit avec flèche 51">
            <a:extLst>
              <a:ext uri="{FF2B5EF4-FFF2-40B4-BE49-F238E27FC236}">
                <a16:creationId xmlns:a16="http://schemas.microsoft.com/office/drawing/2014/main" id="{91597B10-2A18-DBD7-FB53-53319750445E}"/>
              </a:ext>
            </a:extLst>
          </p:cNvPr>
          <p:cNvCxnSpPr>
            <a:cxnSpLocks/>
            <a:stCxn id="50" idx="3"/>
          </p:cNvCxnSpPr>
          <p:nvPr/>
        </p:nvCxnSpPr>
        <p:spPr>
          <a:xfrm>
            <a:off x="1300339" y="5839463"/>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3" name="Connecteur : en angle 52">
            <a:extLst>
              <a:ext uri="{FF2B5EF4-FFF2-40B4-BE49-F238E27FC236}">
                <a16:creationId xmlns:a16="http://schemas.microsoft.com/office/drawing/2014/main" id="{6813DF18-9CD0-6776-E405-341EB95A3330}"/>
              </a:ext>
            </a:extLst>
          </p:cNvPr>
          <p:cNvCxnSpPr>
            <a:cxnSpLocks/>
            <a:endCxn id="50" idx="0"/>
          </p:cNvCxnSpPr>
          <p:nvPr/>
        </p:nvCxnSpPr>
        <p:spPr>
          <a:xfrm>
            <a:off x="143443" y="5382615"/>
            <a:ext cx="754225" cy="230126"/>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cxnSp>
        <p:nvCxnSpPr>
          <p:cNvPr id="54" name="Connecteur : en angle 53">
            <a:extLst>
              <a:ext uri="{FF2B5EF4-FFF2-40B4-BE49-F238E27FC236}">
                <a16:creationId xmlns:a16="http://schemas.microsoft.com/office/drawing/2014/main" id="{624D80D4-8B14-B79A-2BFF-4CD296E65FA5}"/>
              </a:ext>
            </a:extLst>
          </p:cNvPr>
          <p:cNvCxnSpPr>
            <a:cxnSpLocks/>
            <a:endCxn id="50" idx="2"/>
          </p:cNvCxnSpPr>
          <p:nvPr/>
        </p:nvCxnSpPr>
        <p:spPr>
          <a:xfrm flipV="1">
            <a:off x="143443" y="6066184"/>
            <a:ext cx="754225" cy="230126"/>
          </a:xfrm>
          <a:prstGeom prst="bentConnector2">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55" name="Connecteur : en angle 54">
            <a:extLst>
              <a:ext uri="{FF2B5EF4-FFF2-40B4-BE49-F238E27FC236}">
                <a16:creationId xmlns:a16="http://schemas.microsoft.com/office/drawing/2014/main" id="{019DE8B7-3158-5F0F-B0EB-1C762942665C}"/>
              </a:ext>
            </a:extLst>
          </p:cNvPr>
          <p:cNvCxnSpPr>
            <a:cxnSpLocks/>
            <a:endCxn id="44" idx="0"/>
          </p:cNvCxnSpPr>
          <p:nvPr/>
        </p:nvCxnSpPr>
        <p:spPr>
          <a:xfrm>
            <a:off x="87676" y="1680122"/>
            <a:ext cx="763395" cy="218760"/>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673124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8B73D52-8A2F-D73D-5C49-DC49C5DEE622}"/>
              </a:ext>
            </a:extLst>
          </p:cNvPr>
          <p:cNvSpPr>
            <a:spLocks noGrp="1"/>
          </p:cNvSpPr>
          <p:nvPr>
            <p:ph type="title"/>
          </p:nvPr>
        </p:nvSpPr>
        <p:spPr>
          <a:xfrm>
            <a:off x="385439" y="339816"/>
            <a:ext cx="10515600" cy="717951"/>
          </a:xfrm>
        </p:spPr>
        <p:txBody>
          <a:bodyPr>
            <a:noAutofit/>
          </a:bodyPr>
          <a:lstStyle/>
          <a:p>
            <a:r>
              <a:rPr lang="fr-FR" sz="3600" dirty="0"/>
              <a:t>Quel niveau de simplicité de décisions sur la valeur ?</a:t>
            </a:r>
            <a:br>
              <a:rPr lang="fr-FR" sz="3600" dirty="0"/>
            </a:br>
            <a:r>
              <a:rPr lang="fr-FR" sz="3600" dirty="0"/>
              <a:t>Avantages et inconvénients</a:t>
            </a:r>
          </a:p>
        </p:txBody>
      </p:sp>
      <p:sp>
        <p:nvSpPr>
          <p:cNvPr id="28" name="Rectangle 27">
            <a:extLst>
              <a:ext uri="{FF2B5EF4-FFF2-40B4-BE49-F238E27FC236}">
                <a16:creationId xmlns:a16="http://schemas.microsoft.com/office/drawing/2014/main" id="{DAC24512-9748-5AC5-4601-6B1E0E03867A}"/>
              </a:ext>
            </a:extLst>
          </p:cNvPr>
          <p:cNvSpPr/>
          <p:nvPr/>
        </p:nvSpPr>
        <p:spPr>
          <a:xfrm>
            <a:off x="4502917" y="1370840"/>
            <a:ext cx="1704182" cy="125805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Très peu de temps ou de compétences nécessaires pour se décider et structurer les Communautés (quasiment tout est indiqué), « il n’y a plus qu’à » opérer la Communauté</a:t>
            </a:r>
          </a:p>
        </p:txBody>
      </p:sp>
      <p:sp>
        <p:nvSpPr>
          <p:cNvPr id="29" name="Rectangle 28">
            <a:extLst>
              <a:ext uri="{FF2B5EF4-FFF2-40B4-BE49-F238E27FC236}">
                <a16:creationId xmlns:a16="http://schemas.microsoft.com/office/drawing/2014/main" id="{4638BDF5-14FD-A8E8-5902-F8614399FB4B}"/>
              </a:ext>
            </a:extLst>
          </p:cNvPr>
          <p:cNvSpPr/>
          <p:nvPr/>
        </p:nvSpPr>
        <p:spPr>
          <a:xfrm>
            <a:off x="8154121" y="1370840"/>
            <a:ext cx="1704182" cy="1258059"/>
          </a:xfrm>
          <a:prstGeom prst="rect">
            <a:avLst/>
          </a:prstGeom>
          <a:solidFill>
            <a:srgbClr val="FF7C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La Communauté « sur le papier » peut ne pas correspondre aux spécificités du contexte (pas pris en compte), et générer des frictions récurrentes.</a:t>
            </a:r>
          </a:p>
        </p:txBody>
      </p:sp>
      <p:sp>
        <p:nvSpPr>
          <p:cNvPr id="30" name="Rectangle 29">
            <a:extLst>
              <a:ext uri="{FF2B5EF4-FFF2-40B4-BE49-F238E27FC236}">
                <a16:creationId xmlns:a16="http://schemas.microsoft.com/office/drawing/2014/main" id="{C21BF955-FC7A-307B-8257-59389DCA1689}"/>
              </a:ext>
            </a:extLst>
          </p:cNvPr>
          <p:cNvSpPr/>
          <p:nvPr/>
        </p:nvSpPr>
        <p:spPr>
          <a:xfrm>
            <a:off x="9979722" y="1370840"/>
            <a:ext cx="1704182" cy="1258059"/>
          </a:xfrm>
          <a:prstGeom prst="rect">
            <a:avLst/>
          </a:prstGeom>
          <a:solidFill>
            <a:srgbClr val="FF7C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Très peu voire aucune place donnée à l’inventivité, la créativité, ou les propositions des membres. Cette contrainte peut avoir un impact fort sur l’engagement.</a:t>
            </a:r>
          </a:p>
        </p:txBody>
      </p:sp>
      <p:sp>
        <p:nvSpPr>
          <p:cNvPr id="31" name="Rectangle 30">
            <a:extLst>
              <a:ext uri="{FF2B5EF4-FFF2-40B4-BE49-F238E27FC236}">
                <a16:creationId xmlns:a16="http://schemas.microsoft.com/office/drawing/2014/main" id="{BAFD75C0-3D6A-9DFD-F446-FBB4741D8474}"/>
              </a:ext>
            </a:extLst>
          </p:cNvPr>
          <p:cNvSpPr/>
          <p:nvPr/>
        </p:nvSpPr>
        <p:spPr>
          <a:xfrm>
            <a:off x="6328519" y="1370840"/>
            <a:ext cx="1704182" cy="125805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Valeur plancher : moins de chances d’erreurs de débutant ou d’échecs critiques prédictibles.</a:t>
            </a:r>
          </a:p>
        </p:txBody>
      </p:sp>
      <p:sp>
        <p:nvSpPr>
          <p:cNvPr id="36" name="Rectangle 35">
            <a:extLst>
              <a:ext uri="{FF2B5EF4-FFF2-40B4-BE49-F238E27FC236}">
                <a16:creationId xmlns:a16="http://schemas.microsoft.com/office/drawing/2014/main" id="{33414E58-2CB8-8DA7-76E6-27374C75708C}"/>
              </a:ext>
            </a:extLst>
          </p:cNvPr>
          <p:cNvSpPr/>
          <p:nvPr/>
        </p:nvSpPr>
        <p:spPr>
          <a:xfrm>
            <a:off x="4502917" y="3302107"/>
            <a:ext cx="1704182" cy="125805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Gain de temps et présence de choix par défaut pour organiser la Communauté, sans que ces choix soient contraignants sur le long terme</a:t>
            </a:r>
          </a:p>
        </p:txBody>
      </p:sp>
      <p:sp>
        <p:nvSpPr>
          <p:cNvPr id="37" name="Rectangle 36">
            <a:extLst>
              <a:ext uri="{FF2B5EF4-FFF2-40B4-BE49-F238E27FC236}">
                <a16:creationId xmlns:a16="http://schemas.microsoft.com/office/drawing/2014/main" id="{262D3494-5543-2E9B-55E6-72A4E4066EE7}"/>
              </a:ext>
            </a:extLst>
          </p:cNvPr>
          <p:cNvSpPr/>
          <p:nvPr/>
        </p:nvSpPr>
        <p:spPr>
          <a:xfrm>
            <a:off x="8154121" y="3302107"/>
            <a:ext cx="1704182" cy="1258059"/>
          </a:xfrm>
          <a:prstGeom prst="rect">
            <a:avLst/>
          </a:prstGeom>
          <a:solidFill>
            <a:srgbClr val="FF7C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Besoin d’assez de flexibilité, d’ouverture et d’organisation pour mettre en place de l’amélioration continue (sinon cela revient au modèle SHU) </a:t>
            </a:r>
          </a:p>
        </p:txBody>
      </p:sp>
      <p:sp>
        <p:nvSpPr>
          <p:cNvPr id="38" name="Rectangle 37">
            <a:extLst>
              <a:ext uri="{FF2B5EF4-FFF2-40B4-BE49-F238E27FC236}">
                <a16:creationId xmlns:a16="http://schemas.microsoft.com/office/drawing/2014/main" id="{52178AB9-52F0-886B-39F8-6AAEA9F62C49}"/>
              </a:ext>
            </a:extLst>
          </p:cNvPr>
          <p:cNvSpPr/>
          <p:nvPr/>
        </p:nvSpPr>
        <p:spPr>
          <a:xfrm>
            <a:off x="9979722" y="3302107"/>
            <a:ext cx="1704182" cy="1258059"/>
          </a:xfrm>
          <a:prstGeom prst="rect">
            <a:avLst/>
          </a:prstGeom>
          <a:solidFill>
            <a:srgbClr val="FF7C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Besoin d’assez de capacité d’expression (de la part de la Communauté) pour contribuer aux ajustements</a:t>
            </a:r>
          </a:p>
        </p:txBody>
      </p:sp>
      <p:sp>
        <p:nvSpPr>
          <p:cNvPr id="39" name="Rectangle 38">
            <a:extLst>
              <a:ext uri="{FF2B5EF4-FFF2-40B4-BE49-F238E27FC236}">
                <a16:creationId xmlns:a16="http://schemas.microsoft.com/office/drawing/2014/main" id="{B041B24C-1FCD-3AF4-5726-B76A82E35D4A}"/>
              </a:ext>
            </a:extLst>
          </p:cNvPr>
          <p:cNvSpPr/>
          <p:nvPr/>
        </p:nvSpPr>
        <p:spPr>
          <a:xfrm>
            <a:off x="6328519" y="3302107"/>
            <a:ext cx="1704182" cy="125805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Possibilité (mais pas obligation) de réutilisation de vocabulaire et de concepts déjà expérimentés par le marché, facilité.</a:t>
            </a:r>
          </a:p>
        </p:txBody>
      </p:sp>
      <p:sp>
        <p:nvSpPr>
          <p:cNvPr id="40" name="Rectangle 39">
            <a:extLst>
              <a:ext uri="{FF2B5EF4-FFF2-40B4-BE49-F238E27FC236}">
                <a16:creationId xmlns:a16="http://schemas.microsoft.com/office/drawing/2014/main" id="{45AEBEDC-4CEF-9C38-7237-59A50FA71967}"/>
              </a:ext>
            </a:extLst>
          </p:cNvPr>
          <p:cNvSpPr/>
          <p:nvPr/>
        </p:nvSpPr>
        <p:spPr>
          <a:xfrm>
            <a:off x="4502917" y="5260125"/>
            <a:ext cx="1704182" cy="125805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Meilleures chances de réussite, Communauté à très forte valeur pour les membres</a:t>
            </a:r>
          </a:p>
        </p:txBody>
      </p:sp>
      <p:sp>
        <p:nvSpPr>
          <p:cNvPr id="41" name="Rectangle 40">
            <a:extLst>
              <a:ext uri="{FF2B5EF4-FFF2-40B4-BE49-F238E27FC236}">
                <a16:creationId xmlns:a16="http://schemas.microsoft.com/office/drawing/2014/main" id="{64A1E0A8-4A0D-5CFB-5651-092CFD29CA60}"/>
              </a:ext>
            </a:extLst>
          </p:cNvPr>
          <p:cNvSpPr/>
          <p:nvPr/>
        </p:nvSpPr>
        <p:spPr>
          <a:xfrm>
            <a:off x="8154121" y="5260125"/>
            <a:ext cx="1704182" cy="1258059"/>
          </a:xfrm>
          <a:prstGeom prst="rect">
            <a:avLst/>
          </a:prstGeom>
          <a:solidFill>
            <a:srgbClr val="FF7C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Nécessité d’une certaine forme d’expérience, d’ouverture, de créativité, et d’initiative de la part de la Communauté pour qu’elle se crée elle même. Difficile à trouver dans tous les contextes.</a:t>
            </a:r>
          </a:p>
        </p:txBody>
      </p:sp>
      <p:sp>
        <p:nvSpPr>
          <p:cNvPr id="42" name="Rectangle 41">
            <a:extLst>
              <a:ext uri="{FF2B5EF4-FFF2-40B4-BE49-F238E27FC236}">
                <a16:creationId xmlns:a16="http://schemas.microsoft.com/office/drawing/2014/main" id="{083DB4EB-DC5D-D6CD-E191-EF6C8ADCFD3A}"/>
              </a:ext>
            </a:extLst>
          </p:cNvPr>
          <p:cNvSpPr/>
          <p:nvPr/>
        </p:nvSpPr>
        <p:spPr>
          <a:xfrm>
            <a:off x="9979722" y="5260125"/>
            <a:ext cx="1704182" cy="1258059"/>
          </a:xfrm>
          <a:prstGeom prst="rect">
            <a:avLst/>
          </a:prstGeom>
          <a:solidFill>
            <a:srgbClr val="FF7C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Beaucoup d’effort de renseignement, d’imagination associée à l’organisation de Communauté, ce qui peut détourner de son sujet principal </a:t>
            </a:r>
          </a:p>
        </p:txBody>
      </p:sp>
      <p:sp>
        <p:nvSpPr>
          <p:cNvPr id="43" name="Rectangle 42">
            <a:extLst>
              <a:ext uri="{FF2B5EF4-FFF2-40B4-BE49-F238E27FC236}">
                <a16:creationId xmlns:a16="http://schemas.microsoft.com/office/drawing/2014/main" id="{05B4F007-5354-8141-039F-099AD26AD449}"/>
              </a:ext>
            </a:extLst>
          </p:cNvPr>
          <p:cNvSpPr/>
          <p:nvPr/>
        </p:nvSpPr>
        <p:spPr>
          <a:xfrm>
            <a:off x="6328519" y="5260125"/>
            <a:ext cx="1704182" cy="1258059"/>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Beaucoup moins de frictions, blocages, et expérience de la Communauté globalement plus intéressante</a:t>
            </a:r>
          </a:p>
        </p:txBody>
      </p:sp>
      <p:sp>
        <p:nvSpPr>
          <p:cNvPr id="50" name="Espace réservé du contenu 2">
            <a:extLst>
              <a:ext uri="{FF2B5EF4-FFF2-40B4-BE49-F238E27FC236}">
                <a16:creationId xmlns:a16="http://schemas.microsoft.com/office/drawing/2014/main" id="{98226FBC-AE1A-BE71-6AE5-4C6896B7F155}"/>
              </a:ext>
            </a:extLst>
          </p:cNvPr>
          <p:cNvSpPr txBox="1">
            <a:spLocks/>
          </p:cNvSpPr>
          <p:nvPr/>
        </p:nvSpPr>
        <p:spPr>
          <a:xfrm>
            <a:off x="1686187" y="3612444"/>
            <a:ext cx="2619236" cy="717950"/>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b="1" dirty="0"/>
              <a:t>HA</a:t>
            </a:r>
          </a:p>
          <a:p>
            <a:pPr marL="0" indent="0" algn="ctr">
              <a:buNone/>
            </a:pPr>
            <a:r>
              <a:rPr lang="fr-FR" sz="1200" b="1" dirty="0"/>
              <a:t>« Communauté sur étagère, avec ajustements préalables et réguliers» </a:t>
            </a:r>
          </a:p>
        </p:txBody>
      </p:sp>
      <p:sp>
        <p:nvSpPr>
          <p:cNvPr id="51" name="Espace réservé du contenu 2">
            <a:extLst>
              <a:ext uri="{FF2B5EF4-FFF2-40B4-BE49-F238E27FC236}">
                <a16:creationId xmlns:a16="http://schemas.microsoft.com/office/drawing/2014/main" id="{017ECABB-9DA1-8FAA-A0BA-E96C76326079}"/>
              </a:ext>
            </a:extLst>
          </p:cNvPr>
          <p:cNvSpPr txBox="1">
            <a:spLocks/>
          </p:cNvSpPr>
          <p:nvPr/>
        </p:nvSpPr>
        <p:spPr>
          <a:xfrm>
            <a:off x="1686187" y="1680122"/>
            <a:ext cx="2619236" cy="717950"/>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b="1" dirty="0"/>
              <a:t>SHU</a:t>
            </a:r>
          </a:p>
          <a:p>
            <a:pPr marL="0" indent="0" algn="ctr">
              <a:buFont typeface="Arial" panose="020B0604020202020204" pitchFamily="34" charset="0"/>
              <a:buNone/>
            </a:pPr>
            <a:r>
              <a:rPr lang="fr-FR" sz="1200" b="1" dirty="0"/>
              <a:t>« Communauté sur étagère, formule toute prête»</a:t>
            </a:r>
          </a:p>
        </p:txBody>
      </p:sp>
      <p:sp>
        <p:nvSpPr>
          <p:cNvPr id="52" name="Espace réservé du contenu 2">
            <a:extLst>
              <a:ext uri="{FF2B5EF4-FFF2-40B4-BE49-F238E27FC236}">
                <a16:creationId xmlns:a16="http://schemas.microsoft.com/office/drawing/2014/main" id="{7C7CB847-B305-838B-FBCF-C1C6F578AD34}"/>
              </a:ext>
            </a:extLst>
          </p:cNvPr>
          <p:cNvSpPr txBox="1">
            <a:spLocks/>
          </p:cNvSpPr>
          <p:nvPr/>
        </p:nvSpPr>
        <p:spPr>
          <a:xfrm>
            <a:off x="1686187" y="5419112"/>
            <a:ext cx="2619236" cy="717950"/>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b="1" dirty="0"/>
              <a:t>RI</a:t>
            </a:r>
          </a:p>
          <a:p>
            <a:pPr marL="0" indent="0" algn="ctr">
              <a:buNone/>
            </a:pPr>
            <a:r>
              <a:rPr lang="fr-FR" sz="1200" b="1" dirty="0"/>
              <a:t>« Adapter le plus possible la Communauté au terrain et créer » </a:t>
            </a:r>
          </a:p>
        </p:txBody>
      </p:sp>
      <p:sp>
        <p:nvSpPr>
          <p:cNvPr id="32" name="Organigramme : Décision 31">
            <a:extLst>
              <a:ext uri="{FF2B5EF4-FFF2-40B4-BE49-F238E27FC236}">
                <a16:creationId xmlns:a16="http://schemas.microsoft.com/office/drawing/2014/main" id="{8C94CBDA-3F06-3594-FB9F-A73FD85DFE04}"/>
              </a:ext>
            </a:extLst>
          </p:cNvPr>
          <p:cNvSpPr/>
          <p:nvPr/>
        </p:nvSpPr>
        <p:spPr>
          <a:xfrm>
            <a:off x="448399" y="1898882"/>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3" name="Connecteur droit avec flèche 32">
            <a:extLst>
              <a:ext uri="{FF2B5EF4-FFF2-40B4-BE49-F238E27FC236}">
                <a16:creationId xmlns:a16="http://schemas.microsoft.com/office/drawing/2014/main" id="{D7633B88-A29E-EB84-3360-565BD157134B}"/>
              </a:ext>
            </a:extLst>
          </p:cNvPr>
          <p:cNvCxnSpPr>
            <a:cxnSpLocks/>
            <a:stCxn id="32" idx="3"/>
          </p:cNvCxnSpPr>
          <p:nvPr/>
        </p:nvCxnSpPr>
        <p:spPr>
          <a:xfrm>
            <a:off x="1253742" y="2125604"/>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4" name="Organigramme : Décision 33">
            <a:extLst>
              <a:ext uri="{FF2B5EF4-FFF2-40B4-BE49-F238E27FC236}">
                <a16:creationId xmlns:a16="http://schemas.microsoft.com/office/drawing/2014/main" id="{B4233EC9-2104-F4E1-F079-5FB46D065879}"/>
              </a:ext>
            </a:extLst>
          </p:cNvPr>
          <p:cNvSpPr/>
          <p:nvPr/>
        </p:nvSpPr>
        <p:spPr>
          <a:xfrm>
            <a:off x="456788" y="3755811"/>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a:extLst>
              <a:ext uri="{FF2B5EF4-FFF2-40B4-BE49-F238E27FC236}">
                <a16:creationId xmlns:a16="http://schemas.microsoft.com/office/drawing/2014/main" id="{0B7EE9E2-B2CE-CB43-4859-992CBAE41EE4}"/>
              </a:ext>
            </a:extLst>
          </p:cNvPr>
          <p:cNvCxnSpPr>
            <a:cxnSpLocks/>
            <a:endCxn id="34" idx="1"/>
          </p:cNvCxnSpPr>
          <p:nvPr/>
        </p:nvCxnSpPr>
        <p:spPr>
          <a:xfrm>
            <a:off x="96065" y="3982533"/>
            <a:ext cx="360723" cy="0"/>
          </a:xfrm>
          <a:prstGeom prst="straightConnector1">
            <a:avLst/>
          </a:prstGeom>
          <a:ln w="571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44" name="Connecteur droit avec flèche 43">
            <a:extLst>
              <a:ext uri="{FF2B5EF4-FFF2-40B4-BE49-F238E27FC236}">
                <a16:creationId xmlns:a16="http://schemas.microsoft.com/office/drawing/2014/main" id="{9EAD33B8-0590-2DA0-F8DC-368507BB02E4}"/>
              </a:ext>
            </a:extLst>
          </p:cNvPr>
          <p:cNvCxnSpPr>
            <a:cxnSpLocks/>
            <a:stCxn id="34" idx="3"/>
          </p:cNvCxnSpPr>
          <p:nvPr/>
        </p:nvCxnSpPr>
        <p:spPr>
          <a:xfrm>
            <a:off x="1262131" y="3982533"/>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5" name="Connecteur : en angle 44">
            <a:extLst>
              <a:ext uri="{FF2B5EF4-FFF2-40B4-BE49-F238E27FC236}">
                <a16:creationId xmlns:a16="http://schemas.microsoft.com/office/drawing/2014/main" id="{EEC1F823-8DC1-7EBD-9866-1815869C218E}"/>
              </a:ext>
            </a:extLst>
          </p:cNvPr>
          <p:cNvCxnSpPr>
            <a:cxnSpLocks/>
            <a:endCxn id="34" idx="0"/>
          </p:cNvCxnSpPr>
          <p:nvPr/>
        </p:nvCxnSpPr>
        <p:spPr>
          <a:xfrm>
            <a:off x="105235" y="3525685"/>
            <a:ext cx="754225" cy="230126"/>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
        <p:nvSpPr>
          <p:cNvPr id="46" name="Organigramme : Décision 45">
            <a:extLst>
              <a:ext uri="{FF2B5EF4-FFF2-40B4-BE49-F238E27FC236}">
                <a16:creationId xmlns:a16="http://schemas.microsoft.com/office/drawing/2014/main" id="{233757C5-07FE-958B-CA9F-30E1F2366F7C}"/>
              </a:ext>
            </a:extLst>
          </p:cNvPr>
          <p:cNvSpPr/>
          <p:nvPr/>
        </p:nvSpPr>
        <p:spPr>
          <a:xfrm>
            <a:off x="494996" y="5612741"/>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7" name="Connecteur droit avec flèche 46">
            <a:extLst>
              <a:ext uri="{FF2B5EF4-FFF2-40B4-BE49-F238E27FC236}">
                <a16:creationId xmlns:a16="http://schemas.microsoft.com/office/drawing/2014/main" id="{B1FB60B6-8AD9-C526-0E3D-CE1776A7A472}"/>
              </a:ext>
            </a:extLst>
          </p:cNvPr>
          <p:cNvCxnSpPr>
            <a:cxnSpLocks/>
            <a:endCxn id="46" idx="1"/>
          </p:cNvCxnSpPr>
          <p:nvPr/>
        </p:nvCxnSpPr>
        <p:spPr>
          <a:xfrm>
            <a:off x="134273" y="5839463"/>
            <a:ext cx="360723" cy="0"/>
          </a:xfrm>
          <a:prstGeom prst="straightConnector1">
            <a:avLst/>
          </a:prstGeom>
          <a:ln w="571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48" name="Connecteur droit avec flèche 47">
            <a:extLst>
              <a:ext uri="{FF2B5EF4-FFF2-40B4-BE49-F238E27FC236}">
                <a16:creationId xmlns:a16="http://schemas.microsoft.com/office/drawing/2014/main" id="{850795AA-CE0C-A268-C864-63030CC164F5}"/>
              </a:ext>
            </a:extLst>
          </p:cNvPr>
          <p:cNvCxnSpPr>
            <a:cxnSpLocks/>
            <a:stCxn id="46" idx="3"/>
          </p:cNvCxnSpPr>
          <p:nvPr/>
        </p:nvCxnSpPr>
        <p:spPr>
          <a:xfrm>
            <a:off x="1300339" y="5839463"/>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9" name="Connecteur : en angle 48">
            <a:extLst>
              <a:ext uri="{FF2B5EF4-FFF2-40B4-BE49-F238E27FC236}">
                <a16:creationId xmlns:a16="http://schemas.microsoft.com/office/drawing/2014/main" id="{0D6FE1DE-1EB2-CFB6-77A4-665A9C3BB5D0}"/>
              </a:ext>
            </a:extLst>
          </p:cNvPr>
          <p:cNvCxnSpPr>
            <a:cxnSpLocks/>
            <a:endCxn id="46" idx="0"/>
          </p:cNvCxnSpPr>
          <p:nvPr/>
        </p:nvCxnSpPr>
        <p:spPr>
          <a:xfrm>
            <a:off x="143443" y="5382615"/>
            <a:ext cx="754225" cy="230126"/>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cxnSp>
        <p:nvCxnSpPr>
          <p:cNvPr id="65" name="Connecteur : en angle 64">
            <a:extLst>
              <a:ext uri="{FF2B5EF4-FFF2-40B4-BE49-F238E27FC236}">
                <a16:creationId xmlns:a16="http://schemas.microsoft.com/office/drawing/2014/main" id="{2B259B41-4E29-0769-3F04-9FA080039F1D}"/>
              </a:ext>
            </a:extLst>
          </p:cNvPr>
          <p:cNvCxnSpPr>
            <a:cxnSpLocks/>
            <a:endCxn id="46" idx="2"/>
          </p:cNvCxnSpPr>
          <p:nvPr/>
        </p:nvCxnSpPr>
        <p:spPr>
          <a:xfrm flipV="1">
            <a:off x="143443" y="6066184"/>
            <a:ext cx="754225" cy="230126"/>
          </a:xfrm>
          <a:prstGeom prst="bentConnector2">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Connecteur : en angle 65">
            <a:extLst>
              <a:ext uri="{FF2B5EF4-FFF2-40B4-BE49-F238E27FC236}">
                <a16:creationId xmlns:a16="http://schemas.microsoft.com/office/drawing/2014/main" id="{A5FBB29B-80A4-C3E0-C1ED-A5C80C571ADB}"/>
              </a:ext>
            </a:extLst>
          </p:cNvPr>
          <p:cNvCxnSpPr>
            <a:cxnSpLocks/>
            <a:endCxn id="32" idx="0"/>
          </p:cNvCxnSpPr>
          <p:nvPr/>
        </p:nvCxnSpPr>
        <p:spPr>
          <a:xfrm>
            <a:off x="87676" y="1680122"/>
            <a:ext cx="763395" cy="218760"/>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122599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8B73D52-8A2F-D73D-5C49-DC49C5DEE622}"/>
              </a:ext>
            </a:extLst>
          </p:cNvPr>
          <p:cNvSpPr>
            <a:spLocks noGrp="1"/>
          </p:cNvSpPr>
          <p:nvPr>
            <p:ph type="title"/>
          </p:nvPr>
        </p:nvSpPr>
        <p:spPr>
          <a:xfrm>
            <a:off x="385439" y="339816"/>
            <a:ext cx="10515600" cy="717951"/>
          </a:xfrm>
        </p:spPr>
        <p:txBody>
          <a:bodyPr>
            <a:noAutofit/>
          </a:bodyPr>
          <a:lstStyle/>
          <a:p>
            <a:r>
              <a:rPr lang="fr-FR" sz="3200" dirty="0"/>
              <a:t>Quel niveau de simplicité de décisions sur la valeur ?</a:t>
            </a:r>
            <a:br>
              <a:rPr lang="fr-FR" sz="3200" dirty="0"/>
            </a:br>
            <a:r>
              <a:rPr lang="fr-FR" sz="3200" dirty="0"/>
              <a:t>Exemples de réponses opérationnelles</a:t>
            </a:r>
            <a:br>
              <a:rPr lang="fr-FR" sz="1100" dirty="0"/>
            </a:br>
            <a:r>
              <a:rPr lang="fr-FR" sz="1100" dirty="0"/>
              <a:t>📅Evènements  , ✍️Contenus, ⚙️Structuration de Communauté, 📅+⚙️Structuration de moments, ✍️+⚙️ Structuration de Contenus</a:t>
            </a:r>
          </a:p>
        </p:txBody>
      </p:sp>
      <p:sp>
        <p:nvSpPr>
          <p:cNvPr id="32" name="Rectangle 31">
            <a:extLst>
              <a:ext uri="{FF2B5EF4-FFF2-40B4-BE49-F238E27FC236}">
                <a16:creationId xmlns:a16="http://schemas.microsoft.com/office/drawing/2014/main" id="{2F948CC3-4405-9E82-A93C-31BE87F18A59}"/>
              </a:ext>
            </a:extLst>
          </p:cNvPr>
          <p:cNvSpPr/>
          <p:nvPr/>
        </p:nvSpPr>
        <p:spPr>
          <a:xfrm>
            <a:off x="4502917" y="1370841"/>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✍️⚙️Liste de champs à déterminer (nom de la Communauté, nom des membres, etc.)</a:t>
            </a:r>
          </a:p>
        </p:txBody>
      </p:sp>
      <p:sp>
        <p:nvSpPr>
          <p:cNvPr id="33" name="Rectangle 32">
            <a:extLst>
              <a:ext uri="{FF2B5EF4-FFF2-40B4-BE49-F238E27FC236}">
                <a16:creationId xmlns:a16="http://schemas.microsoft.com/office/drawing/2014/main" id="{FA2FE155-F87D-7CDC-DB27-FDCE32B20A41}"/>
              </a:ext>
            </a:extLst>
          </p:cNvPr>
          <p:cNvSpPr/>
          <p:nvPr/>
        </p:nvSpPr>
        <p:spPr>
          <a:xfrm>
            <a:off x="8154121" y="1370841"/>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✍️📅Feuille de route prédéterminée avec phases pré-écrites « Il n’y a plus qu’à dérouler »</a:t>
            </a:r>
          </a:p>
        </p:txBody>
      </p:sp>
      <p:sp>
        <p:nvSpPr>
          <p:cNvPr id="34" name="Rectangle 33">
            <a:extLst>
              <a:ext uri="{FF2B5EF4-FFF2-40B4-BE49-F238E27FC236}">
                <a16:creationId xmlns:a16="http://schemas.microsoft.com/office/drawing/2014/main" id="{AB2BA640-4742-93D9-B3CA-10E3B83F14ED}"/>
              </a:ext>
            </a:extLst>
          </p:cNvPr>
          <p:cNvSpPr/>
          <p:nvPr/>
        </p:nvSpPr>
        <p:spPr>
          <a:xfrm>
            <a:off x="9979722" y="1370841"/>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✍️⚙️Contraintes et obligations sur les membres clarifiées prédéterminées, « Il n’y a plus qu’à obliger et suivre »</a:t>
            </a:r>
          </a:p>
        </p:txBody>
      </p:sp>
      <p:sp>
        <p:nvSpPr>
          <p:cNvPr id="35" name="Rectangle 34">
            <a:extLst>
              <a:ext uri="{FF2B5EF4-FFF2-40B4-BE49-F238E27FC236}">
                <a16:creationId xmlns:a16="http://schemas.microsoft.com/office/drawing/2014/main" id="{C71CD82B-828A-3C70-BE94-D9CE179F4B1F}"/>
              </a:ext>
            </a:extLst>
          </p:cNvPr>
          <p:cNvSpPr/>
          <p:nvPr/>
        </p:nvSpPr>
        <p:spPr>
          <a:xfrm>
            <a:off x="6328519" y="1370841"/>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✍️Modèles types (</a:t>
            </a:r>
            <a:r>
              <a:rPr lang="fr-FR" sz="900" dirty="0" err="1">
                <a:solidFill>
                  <a:schemeClr val="tx1"/>
                </a:solidFill>
              </a:rPr>
              <a:t>templates</a:t>
            </a:r>
            <a:r>
              <a:rPr lang="fr-FR" sz="900" dirty="0">
                <a:solidFill>
                  <a:schemeClr val="tx1"/>
                </a:solidFill>
              </a:rPr>
              <a:t>) de contenus et de livrables avec « cases à remplir »</a:t>
            </a:r>
          </a:p>
        </p:txBody>
      </p:sp>
      <p:sp>
        <p:nvSpPr>
          <p:cNvPr id="44" name="Rectangle 43">
            <a:extLst>
              <a:ext uri="{FF2B5EF4-FFF2-40B4-BE49-F238E27FC236}">
                <a16:creationId xmlns:a16="http://schemas.microsoft.com/office/drawing/2014/main" id="{69DC0ECB-F224-4B1D-DA82-5348A20ED7F0}"/>
              </a:ext>
            </a:extLst>
          </p:cNvPr>
          <p:cNvSpPr/>
          <p:nvPr/>
        </p:nvSpPr>
        <p:spPr>
          <a:xfrm>
            <a:off x="4502917" y="3302108"/>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✍️Contenus disponibles pour le niveau SHU, sans la contrainte de tout adopter strictement</a:t>
            </a:r>
          </a:p>
        </p:txBody>
      </p:sp>
      <p:sp>
        <p:nvSpPr>
          <p:cNvPr id="45" name="Rectangle 44">
            <a:extLst>
              <a:ext uri="{FF2B5EF4-FFF2-40B4-BE49-F238E27FC236}">
                <a16:creationId xmlns:a16="http://schemas.microsoft.com/office/drawing/2014/main" id="{25598F75-A749-5F5C-AEE8-957ABB2F20FF}"/>
              </a:ext>
            </a:extLst>
          </p:cNvPr>
          <p:cNvSpPr/>
          <p:nvPr/>
        </p:nvSpPr>
        <p:spPr>
          <a:xfrm>
            <a:off x="8154121" y="3302108"/>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⚙️Rôles de sponsors décisionnaires (pour pouvoir ajuster la situation)</a:t>
            </a:r>
          </a:p>
        </p:txBody>
      </p:sp>
      <p:sp>
        <p:nvSpPr>
          <p:cNvPr id="46" name="Rectangle 45">
            <a:extLst>
              <a:ext uri="{FF2B5EF4-FFF2-40B4-BE49-F238E27FC236}">
                <a16:creationId xmlns:a16="http://schemas.microsoft.com/office/drawing/2014/main" id="{2BAC590F-B12F-D4B7-B52E-21B890A43E35}"/>
              </a:ext>
            </a:extLst>
          </p:cNvPr>
          <p:cNvSpPr/>
          <p:nvPr/>
        </p:nvSpPr>
        <p:spPr>
          <a:xfrm>
            <a:off x="9979722" y="3302108"/>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Recommandations sur les réajustements et l’amélioration continue de la Communauté</a:t>
            </a:r>
          </a:p>
        </p:txBody>
      </p:sp>
      <p:sp>
        <p:nvSpPr>
          <p:cNvPr id="47" name="Rectangle 46">
            <a:extLst>
              <a:ext uri="{FF2B5EF4-FFF2-40B4-BE49-F238E27FC236}">
                <a16:creationId xmlns:a16="http://schemas.microsoft.com/office/drawing/2014/main" id="{35483C71-EC3F-85BF-8A9E-73D8066A86D4}"/>
              </a:ext>
            </a:extLst>
          </p:cNvPr>
          <p:cNvSpPr/>
          <p:nvPr/>
        </p:nvSpPr>
        <p:spPr>
          <a:xfrm>
            <a:off x="6328519" y="3302108"/>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✍️⚙️Liste de moyens de renseignements à utiliser (avec grilles de lecture associées)</a:t>
            </a:r>
          </a:p>
        </p:txBody>
      </p:sp>
      <p:sp>
        <p:nvSpPr>
          <p:cNvPr id="48" name="Rectangle 47">
            <a:extLst>
              <a:ext uri="{FF2B5EF4-FFF2-40B4-BE49-F238E27FC236}">
                <a16:creationId xmlns:a16="http://schemas.microsoft.com/office/drawing/2014/main" id="{4E8FA1FA-95D9-95EE-C3E3-F80637EF67AF}"/>
              </a:ext>
            </a:extLst>
          </p:cNvPr>
          <p:cNvSpPr/>
          <p:nvPr/>
        </p:nvSpPr>
        <p:spPr>
          <a:xfrm>
            <a:off x="4502917" y="5260126"/>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✍️Contenus disponibles pour le niveau SHU et HA, en guise d’inspiration surtout</a:t>
            </a:r>
          </a:p>
        </p:txBody>
      </p:sp>
      <p:sp>
        <p:nvSpPr>
          <p:cNvPr id="49" name="Rectangle 48">
            <a:extLst>
              <a:ext uri="{FF2B5EF4-FFF2-40B4-BE49-F238E27FC236}">
                <a16:creationId xmlns:a16="http://schemas.microsoft.com/office/drawing/2014/main" id="{5E99F71F-FA14-0BBB-4907-4C161E90468A}"/>
              </a:ext>
            </a:extLst>
          </p:cNvPr>
          <p:cNvSpPr/>
          <p:nvPr/>
        </p:nvSpPr>
        <p:spPr>
          <a:xfrm>
            <a:off x="8154121" y="5260126"/>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⚙️📅Accompagnement par externes spécialisés ou expérimentés</a:t>
            </a:r>
          </a:p>
        </p:txBody>
      </p:sp>
      <p:sp>
        <p:nvSpPr>
          <p:cNvPr id="66" name="Rectangle 65">
            <a:extLst>
              <a:ext uri="{FF2B5EF4-FFF2-40B4-BE49-F238E27FC236}">
                <a16:creationId xmlns:a16="http://schemas.microsoft.com/office/drawing/2014/main" id="{A26906D5-6415-52E9-8D56-D94C5BB95EF6}"/>
              </a:ext>
            </a:extLst>
          </p:cNvPr>
          <p:cNvSpPr/>
          <p:nvPr/>
        </p:nvSpPr>
        <p:spPr>
          <a:xfrm>
            <a:off x="6328519" y="5260126"/>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✍️Grilles de lecture ou d’analyse de différents paramètres de Communauté, avec conditions favorables, etc.</a:t>
            </a:r>
          </a:p>
        </p:txBody>
      </p:sp>
      <p:sp>
        <p:nvSpPr>
          <p:cNvPr id="67" name="Rectangle 66">
            <a:extLst>
              <a:ext uri="{FF2B5EF4-FFF2-40B4-BE49-F238E27FC236}">
                <a16:creationId xmlns:a16="http://schemas.microsoft.com/office/drawing/2014/main" id="{C2CA60EB-6EC0-B061-198E-B58B40A5F4FC}"/>
              </a:ext>
            </a:extLst>
          </p:cNvPr>
          <p:cNvSpPr/>
          <p:nvPr/>
        </p:nvSpPr>
        <p:spPr>
          <a:xfrm>
            <a:off x="4502917" y="2176184"/>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✍️⚙️Liste de rôles prédéterminés avec obligations pré-écrites. « Il n’y a plus qu’à pourvoir »</a:t>
            </a:r>
          </a:p>
        </p:txBody>
      </p:sp>
      <p:sp>
        <p:nvSpPr>
          <p:cNvPr id="68" name="Rectangle 67">
            <a:extLst>
              <a:ext uri="{FF2B5EF4-FFF2-40B4-BE49-F238E27FC236}">
                <a16:creationId xmlns:a16="http://schemas.microsoft.com/office/drawing/2014/main" id="{137C380D-868D-716E-2C55-7787ABC27A8A}"/>
              </a:ext>
            </a:extLst>
          </p:cNvPr>
          <p:cNvSpPr/>
          <p:nvPr/>
        </p:nvSpPr>
        <p:spPr>
          <a:xfrm>
            <a:off x="8154121" y="2176184"/>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✍️⚙️Liste d’outils à utiliser avec recommandations d’usage, ordre d’activation</a:t>
            </a:r>
          </a:p>
        </p:txBody>
      </p:sp>
      <p:sp>
        <p:nvSpPr>
          <p:cNvPr id="69" name="Rectangle 68">
            <a:extLst>
              <a:ext uri="{FF2B5EF4-FFF2-40B4-BE49-F238E27FC236}">
                <a16:creationId xmlns:a16="http://schemas.microsoft.com/office/drawing/2014/main" id="{59248A41-AA01-D6A6-7202-132247AE29B6}"/>
              </a:ext>
            </a:extLst>
          </p:cNvPr>
          <p:cNvSpPr/>
          <p:nvPr/>
        </p:nvSpPr>
        <p:spPr>
          <a:xfrm>
            <a:off x="9979722" y="2176184"/>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✍️⚙️Indicateurs de performance prédéterminés, « Il n’y a plus qu’à mesurer »</a:t>
            </a:r>
          </a:p>
        </p:txBody>
      </p:sp>
      <p:sp>
        <p:nvSpPr>
          <p:cNvPr id="70" name="Rectangle 69">
            <a:extLst>
              <a:ext uri="{FF2B5EF4-FFF2-40B4-BE49-F238E27FC236}">
                <a16:creationId xmlns:a16="http://schemas.microsoft.com/office/drawing/2014/main" id="{31C83045-9F47-61C1-A02D-4EB5430C2E93}"/>
              </a:ext>
            </a:extLst>
          </p:cNvPr>
          <p:cNvSpPr/>
          <p:nvPr/>
        </p:nvSpPr>
        <p:spPr>
          <a:xfrm>
            <a:off x="6328519" y="2176184"/>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Liste d’événements avec déroulement, règles fréquence prédéterminés. « Il n’y a plus qu’à poser les dates »</a:t>
            </a:r>
          </a:p>
        </p:txBody>
      </p:sp>
      <p:sp>
        <p:nvSpPr>
          <p:cNvPr id="71" name="Rectangle 70">
            <a:extLst>
              <a:ext uri="{FF2B5EF4-FFF2-40B4-BE49-F238E27FC236}">
                <a16:creationId xmlns:a16="http://schemas.microsoft.com/office/drawing/2014/main" id="{A30F1929-BC46-7C49-303C-B4217384FE7C}"/>
              </a:ext>
            </a:extLst>
          </p:cNvPr>
          <p:cNvSpPr/>
          <p:nvPr/>
        </p:nvSpPr>
        <p:spPr>
          <a:xfrm>
            <a:off x="4502917" y="4107451"/>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✍️⚙️Rôles à choisir parmi une liste, puis à adapter / redistribuer</a:t>
            </a:r>
          </a:p>
        </p:txBody>
      </p:sp>
      <p:sp>
        <p:nvSpPr>
          <p:cNvPr id="72" name="Rectangle 71">
            <a:extLst>
              <a:ext uri="{FF2B5EF4-FFF2-40B4-BE49-F238E27FC236}">
                <a16:creationId xmlns:a16="http://schemas.microsoft.com/office/drawing/2014/main" id="{ABCA7582-01F6-88B4-895B-6F1BC830BA79}"/>
              </a:ext>
            </a:extLst>
          </p:cNvPr>
          <p:cNvSpPr/>
          <p:nvPr/>
        </p:nvSpPr>
        <p:spPr>
          <a:xfrm>
            <a:off x="8154121" y="4107451"/>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✍️Tables d’actions potentielles à choisir en fonction de son contexte (ex: actions à faire en fonction de la valeur pour les membres)</a:t>
            </a:r>
          </a:p>
        </p:txBody>
      </p:sp>
      <p:sp>
        <p:nvSpPr>
          <p:cNvPr id="74" name="Rectangle 73">
            <a:extLst>
              <a:ext uri="{FF2B5EF4-FFF2-40B4-BE49-F238E27FC236}">
                <a16:creationId xmlns:a16="http://schemas.microsoft.com/office/drawing/2014/main" id="{C9C5FCED-3CD9-9A99-4247-34118CEEFF86}"/>
              </a:ext>
            </a:extLst>
          </p:cNvPr>
          <p:cNvSpPr/>
          <p:nvPr/>
        </p:nvSpPr>
        <p:spPr>
          <a:xfrm>
            <a:off x="6328519" y="4107451"/>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📅Ateliers d’aide à la décision des actions (ex: Topics Mapping, etc.)</a:t>
            </a:r>
          </a:p>
        </p:txBody>
      </p:sp>
      <p:sp>
        <p:nvSpPr>
          <p:cNvPr id="75" name="Rectangle 74">
            <a:extLst>
              <a:ext uri="{FF2B5EF4-FFF2-40B4-BE49-F238E27FC236}">
                <a16:creationId xmlns:a16="http://schemas.microsoft.com/office/drawing/2014/main" id="{F0E53A4C-B90D-3804-A252-E13C18F93F52}"/>
              </a:ext>
            </a:extLst>
          </p:cNvPr>
          <p:cNvSpPr/>
          <p:nvPr/>
        </p:nvSpPr>
        <p:spPr>
          <a:xfrm>
            <a:off x="4502917" y="6065469"/>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📅Ateliers de </a:t>
            </a:r>
            <a:r>
              <a:rPr lang="fr-FR" sz="900" dirty="0" err="1">
                <a:solidFill>
                  <a:schemeClr val="tx1"/>
                </a:solidFill>
              </a:rPr>
              <a:t>co-création</a:t>
            </a:r>
            <a:r>
              <a:rPr lang="fr-FR" sz="900" dirty="0">
                <a:solidFill>
                  <a:schemeClr val="tx1"/>
                </a:solidFill>
              </a:rPr>
              <a:t> ou de </a:t>
            </a:r>
            <a:r>
              <a:rPr lang="fr-FR" sz="900" dirty="0" err="1">
                <a:solidFill>
                  <a:schemeClr val="tx1"/>
                </a:solidFill>
              </a:rPr>
              <a:t>co</a:t>
            </a:r>
            <a:r>
              <a:rPr lang="fr-FR" sz="900" dirty="0">
                <a:solidFill>
                  <a:schemeClr val="tx1"/>
                </a:solidFill>
              </a:rPr>
              <a:t>-définition de la Communauté</a:t>
            </a:r>
          </a:p>
        </p:txBody>
      </p:sp>
      <p:sp>
        <p:nvSpPr>
          <p:cNvPr id="78" name="Rectangle 77">
            <a:extLst>
              <a:ext uri="{FF2B5EF4-FFF2-40B4-BE49-F238E27FC236}">
                <a16:creationId xmlns:a16="http://schemas.microsoft.com/office/drawing/2014/main" id="{2267E1F3-D222-7CF3-1236-730ECA2036DC}"/>
              </a:ext>
            </a:extLst>
          </p:cNvPr>
          <p:cNvSpPr/>
          <p:nvPr/>
        </p:nvSpPr>
        <p:spPr>
          <a:xfrm>
            <a:off x="6328519" y="6065469"/>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✍️Tables d’actions potentielles pour inspiration</a:t>
            </a:r>
          </a:p>
        </p:txBody>
      </p:sp>
      <p:sp>
        <p:nvSpPr>
          <p:cNvPr id="42" name="Espace réservé du contenu 2">
            <a:extLst>
              <a:ext uri="{FF2B5EF4-FFF2-40B4-BE49-F238E27FC236}">
                <a16:creationId xmlns:a16="http://schemas.microsoft.com/office/drawing/2014/main" id="{047DCEB4-9305-0354-6C33-2BF276BFBE1C}"/>
              </a:ext>
            </a:extLst>
          </p:cNvPr>
          <p:cNvSpPr txBox="1">
            <a:spLocks/>
          </p:cNvSpPr>
          <p:nvPr/>
        </p:nvSpPr>
        <p:spPr>
          <a:xfrm>
            <a:off x="1686187" y="3612444"/>
            <a:ext cx="2619236" cy="717950"/>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b="1" dirty="0"/>
              <a:t>HA</a:t>
            </a:r>
          </a:p>
          <a:p>
            <a:pPr marL="0" indent="0" algn="ctr">
              <a:buNone/>
            </a:pPr>
            <a:r>
              <a:rPr lang="fr-FR" sz="1200" b="1" dirty="0"/>
              <a:t>« Communauté sur étagère, avec ajustements préalables et réguliers» </a:t>
            </a:r>
          </a:p>
        </p:txBody>
      </p:sp>
      <p:sp>
        <p:nvSpPr>
          <p:cNvPr id="43" name="Espace réservé du contenu 2">
            <a:extLst>
              <a:ext uri="{FF2B5EF4-FFF2-40B4-BE49-F238E27FC236}">
                <a16:creationId xmlns:a16="http://schemas.microsoft.com/office/drawing/2014/main" id="{83009F02-45BA-20EA-E2CE-1A031BEB8416}"/>
              </a:ext>
            </a:extLst>
          </p:cNvPr>
          <p:cNvSpPr txBox="1">
            <a:spLocks/>
          </p:cNvSpPr>
          <p:nvPr/>
        </p:nvSpPr>
        <p:spPr>
          <a:xfrm>
            <a:off x="1686187" y="1680122"/>
            <a:ext cx="2619236" cy="717950"/>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b="1" dirty="0"/>
              <a:t>SHU</a:t>
            </a:r>
          </a:p>
          <a:p>
            <a:pPr marL="0" indent="0" algn="ctr">
              <a:buFont typeface="Arial" panose="020B0604020202020204" pitchFamily="34" charset="0"/>
              <a:buNone/>
            </a:pPr>
            <a:r>
              <a:rPr lang="fr-FR" sz="1200" b="1" dirty="0"/>
              <a:t>« Communauté sur étagère, formule toute prête»</a:t>
            </a:r>
          </a:p>
        </p:txBody>
      </p:sp>
      <p:sp>
        <p:nvSpPr>
          <p:cNvPr id="79" name="Espace réservé du contenu 2">
            <a:extLst>
              <a:ext uri="{FF2B5EF4-FFF2-40B4-BE49-F238E27FC236}">
                <a16:creationId xmlns:a16="http://schemas.microsoft.com/office/drawing/2014/main" id="{1183EBCE-39C9-49A5-34C4-FB4FF9D8D3BF}"/>
              </a:ext>
            </a:extLst>
          </p:cNvPr>
          <p:cNvSpPr txBox="1">
            <a:spLocks/>
          </p:cNvSpPr>
          <p:nvPr/>
        </p:nvSpPr>
        <p:spPr>
          <a:xfrm>
            <a:off x="1686187" y="5419112"/>
            <a:ext cx="2619236" cy="717950"/>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b="1" dirty="0"/>
              <a:t>RI</a:t>
            </a:r>
          </a:p>
          <a:p>
            <a:pPr marL="0" indent="0" algn="ctr">
              <a:buNone/>
            </a:pPr>
            <a:r>
              <a:rPr lang="fr-FR" sz="1200" b="1" dirty="0"/>
              <a:t>« Adapter le plus possible la Communauté au terrain et créer » </a:t>
            </a:r>
          </a:p>
        </p:txBody>
      </p:sp>
      <p:sp>
        <p:nvSpPr>
          <p:cNvPr id="50" name="Organigramme : Décision 49">
            <a:extLst>
              <a:ext uri="{FF2B5EF4-FFF2-40B4-BE49-F238E27FC236}">
                <a16:creationId xmlns:a16="http://schemas.microsoft.com/office/drawing/2014/main" id="{76D7BD55-DE1A-5ACE-AE46-8EADAEAFAE79}"/>
              </a:ext>
            </a:extLst>
          </p:cNvPr>
          <p:cNvSpPr/>
          <p:nvPr/>
        </p:nvSpPr>
        <p:spPr>
          <a:xfrm>
            <a:off x="448399" y="1898882"/>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1" name="Connecteur droit avec flèche 50">
            <a:extLst>
              <a:ext uri="{FF2B5EF4-FFF2-40B4-BE49-F238E27FC236}">
                <a16:creationId xmlns:a16="http://schemas.microsoft.com/office/drawing/2014/main" id="{86DD7699-4C2C-CE8E-89E6-A11328E8D922}"/>
              </a:ext>
            </a:extLst>
          </p:cNvPr>
          <p:cNvCxnSpPr>
            <a:cxnSpLocks/>
            <a:stCxn id="50" idx="3"/>
          </p:cNvCxnSpPr>
          <p:nvPr/>
        </p:nvCxnSpPr>
        <p:spPr>
          <a:xfrm>
            <a:off x="1253742" y="2125604"/>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2" name="Organigramme : Décision 51">
            <a:extLst>
              <a:ext uri="{FF2B5EF4-FFF2-40B4-BE49-F238E27FC236}">
                <a16:creationId xmlns:a16="http://schemas.microsoft.com/office/drawing/2014/main" id="{59AE9660-283A-CD32-81EC-CF1FE05FDC5B}"/>
              </a:ext>
            </a:extLst>
          </p:cNvPr>
          <p:cNvSpPr/>
          <p:nvPr/>
        </p:nvSpPr>
        <p:spPr>
          <a:xfrm>
            <a:off x="456788" y="3755811"/>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0" name="Connecteur droit avec flèche 79">
            <a:extLst>
              <a:ext uri="{FF2B5EF4-FFF2-40B4-BE49-F238E27FC236}">
                <a16:creationId xmlns:a16="http://schemas.microsoft.com/office/drawing/2014/main" id="{345B7E9B-DBF1-81DC-1B3E-04C6F42E0496}"/>
              </a:ext>
            </a:extLst>
          </p:cNvPr>
          <p:cNvCxnSpPr>
            <a:cxnSpLocks/>
            <a:endCxn id="52" idx="1"/>
          </p:cNvCxnSpPr>
          <p:nvPr/>
        </p:nvCxnSpPr>
        <p:spPr>
          <a:xfrm>
            <a:off x="96065" y="3982533"/>
            <a:ext cx="360723" cy="0"/>
          </a:xfrm>
          <a:prstGeom prst="straightConnector1">
            <a:avLst/>
          </a:prstGeom>
          <a:ln w="571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81" name="Connecteur droit avec flèche 80">
            <a:extLst>
              <a:ext uri="{FF2B5EF4-FFF2-40B4-BE49-F238E27FC236}">
                <a16:creationId xmlns:a16="http://schemas.microsoft.com/office/drawing/2014/main" id="{B0503863-AA72-93A3-F91B-48FD0EA7C4AF}"/>
              </a:ext>
            </a:extLst>
          </p:cNvPr>
          <p:cNvCxnSpPr>
            <a:cxnSpLocks/>
            <a:stCxn id="52" idx="3"/>
          </p:cNvCxnSpPr>
          <p:nvPr/>
        </p:nvCxnSpPr>
        <p:spPr>
          <a:xfrm>
            <a:off x="1262131" y="3982533"/>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2" name="Connecteur : en angle 81">
            <a:extLst>
              <a:ext uri="{FF2B5EF4-FFF2-40B4-BE49-F238E27FC236}">
                <a16:creationId xmlns:a16="http://schemas.microsoft.com/office/drawing/2014/main" id="{12ABA260-5C3F-F701-7C59-98751130D579}"/>
              </a:ext>
            </a:extLst>
          </p:cNvPr>
          <p:cNvCxnSpPr>
            <a:cxnSpLocks/>
            <a:endCxn id="52" idx="0"/>
          </p:cNvCxnSpPr>
          <p:nvPr/>
        </p:nvCxnSpPr>
        <p:spPr>
          <a:xfrm>
            <a:off x="105235" y="3525685"/>
            <a:ext cx="754225" cy="230126"/>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
        <p:nvSpPr>
          <p:cNvPr id="83" name="Organigramme : Décision 82">
            <a:extLst>
              <a:ext uri="{FF2B5EF4-FFF2-40B4-BE49-F238E27FC236}">
                <a16:creationId xmlns:a16="http://schemas.microsoft.com/office/drawing/2014/main" id="{6F381577-93CF-3542-879D-0DD54FE66D2F}"/>
              </a:ext>
            </a:extLst>
          </p:cNvPr>
          <p:cNvSpPr/>
          <p:nvPr/>
        </p:nvSpPr>
        <p:spPr>
          <a:xfrm>
            <a:off x="494996" y="5612741"/>
            <a:ext cx="805343" cy="45344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4" name="Connecteur droit avec flèche 83">
            <a:extLst>
              <a:ext uri="{FF2B5EF4-FFF2-40B4-BE49-F238E27FC236}">
                <a16:creationId xmlns:a16="http://schemas.microsoft.com/office/drawing/2014/main" id="{985817B1-FC7E-FCF8-849E-F934A38E204A}"/>
              </a:ext>
            </a:extLst>
          </p:cNvPr>
          <p:cNvCxnSpPr>
            <a:cxnSpLocks/>
            <a:endCxn id="83" idx="1"/>
          </p:cNvCxnSpPr>
          <p:nvPr/>
        </p:nvCxnSpPr>
        <p:spPr>
          <a:xfrm>
            <a:off x="134273" y="5839463"/>
            <a:ext cx="360723" cy="0"/>
          </a:xfrm>
          <a:prstGeom prst="straightConnector1">
            <a:avLst/>
          </a:prstGeom>
          <a:ln w="571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85" name="Connecteur droit avec flèche 84">
            <a:extLst>
              <a:ext uri="{FF2B5EF4-FFF2-40B4-BE49-F238E27FC236}">
                <a16:creationId xmlns:a16="http://schemas.microsoft.com/office/drawing/2014/main" id="{4E7535B2-4142-62FF-1852-F8EDC42A1374}"/>
              </a:ext>
            </a:extLst>
          </p:cNvPr>
          <p:cNvCxnSpPr>
            <a:cxnSpLocks/>
            <a:stCxn id="83" idx="3"/>
          </p:cNvCxnSpPr>
          <p:nvPr/>
        </p:nvCxnSpPr>
        <p:spPr>
          <a:xfrm>
            <a:off x="1300339" y="5839463"/>
            <a:ext cx="360723" cy="0"/>
          </a:xfrm>
          <a:prstGeom prst="straightConnector1">
            <a:avLst/>
          </a:prstGeom>
          <a:ln w="571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6" name="Connecteur : en angle 85">
            <a:extLst>
              <a:ext uri="{FF2B5EF4-FFF2-40B4-BE49-F238E27FC236}">
                <a16:creationId xmlns:a16="http://schemas.microsoft.com/office/drawing/2014/main" id="{20223BD3-FF10-DB45-93BB-4904AD69BA04}"/>
              </a:ext>
            </a:extLst>
          </p:cNvPr>
          <p:cNvCxnSpPr>
            <a:cxnSpLocks/>
            <a:endCxn id="83" idx="0"/>
          </p:cNvCxnSpPr>
          <p:nvPr/>
        </p:nvCxnSpPr>
        <p:spPr>
          <a:xfrm>
            <a:off x="143443" y="5382615"/>
            <a:ext cx="754225" cy="230126"/>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cxnSp>
        <p:nvCxnSpPr>
          <p:cNvPr id="87" name="Connecteur : en angle 86">
            <a:extLst>
              <a:ext uri="{FF2B5EF4-FFF2-40B4-BE49-F238E27FC236}">
                <a16:creationId xmlns:a16="http://schemas.microsoft.com/office/drawing/2014/main" id="{857B0412-CD20-CC56-E2B6-1E0177C663B3}"/>
              </a:ext>
            </a:extLst>
          </p:cNvPr>
          <p:cNvCxnSpPr>
            <a:cxnSpLocks/>
            <a:endCxn id="83" idx="2"/>
          </p:cNvCxnSpPr>
          <p:nvPr/>
        </p:nvCxnSpPr>
        <p:spPr>
          <a:xfrm flipV="1">
            <a:off x="143443" y="6066184"/>
            <a:ext cx="754225" cy="230126"/>
          </a:xfrm>
          <a:prstGeom prst="bentConnector2">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88" name="Connecteur : en angle 87">
            <a:extLst>
              <a:ext uri="{FF2B5EF4-FFF2-40B4-BE49-F238E27FC236}">
                <a16:creationId xmlns:a16="http://schemas.microsoft.com/office/drawing/2014/main" id="{9DE41E71-FB24-7879-013B-3AFFF560CA61}"/>
              </a:ext>
            </a:extLst>
          </p:cNvPr>
          <p:cNvCxnSpPr>
            <a:cxnSpLocks/>
            <a:endCxn id="50" idx="0"/>
          </p:cNvCxnSpPr>
          <p:nvPr/>
        </p:nvCxnSpPr>
        <p:spPr>
          <a:xfrm>
            <a:off x="87676" y="1680122"/>
            <a:ext cx="763395" cy="218760"/>
          </a:xfrm>
          <a:prstGeom prst="bentConnector2">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63D67AD5-023B-0F7E-6B84-CE4987CE7959}"/>
              </a:ext>
            </a:extLst>
          </p:cNvPr>
          <p:cNvSpPr/>
          <p:nvPr/>
        </p:nvSpPr>
        <p:spPr>
          <a:xfrm>
            <a:off x="8154121" y="6065469"/>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✍️Listes d’exemples de Communautés pour inspiration</a:t>
            </a:r>
          </a:p>
        </p:txBody>
      </p:sp>
      <p:sp>
        <p:nvSpPr>
          <p:cNvPr id="54" name="Rectangle 53">
            <a:extLst>
              <a:ext uri="{FF2B5EF4-FFF2-40B4-BE49-F238E27FC236}">
                <a16:creationId xmlns:a16="http://schemas.microsoft.com/office/drawing/2014/main" id="{8BDCF6FC-7836-1FEB-6F82-4E08AFA45995}"/>
              </a:ext>
            </a:extLst>
          </p:cNvPr>
          <p:cNvSpPr/>
          <p:nvPr/>
        </p:nvSpPr>
        <p:spPr>
          <a:xfrm>
            <a:off x="9979722" y="5253766"/>
            <a:ext cx="1704182" cy="717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✍️⚙️Liste de rôles pour inspiration </a:t>
            </a:r>
            <a:r>
              <a:rPr lang="fr-FR" sz="900" dirty="0" err="1">
                <a:solidFill>
                  <a:schemeClr val="tx1"/>
                </a:solidFill>
              </a:rPr>
              <a:t>seulment</a:t>
            </a:r>
            <a:endParaRPr lang="fr-FR" sz="900" dirty="0">
              <a:solidFill>
                <a:schemeClr val="tx1"/>
              </a:solidFill>
            </a:endParaRPr>
          </a:p>
        </p:txBody>
      </p:sp>
    </p:spTree>
    <p:extLst>
      <p:ext uri="{BB962C8B-B14F-4D97-AF65-F5344CB8AC3E}">
        <p14:creationId xmlns:p14="http://schemas.microsoft.com/office/powerpoint/2010/main" val="929783420"/>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39F37EC-A74C-CB34-1226-0A9D6D67DB7F}"/>
              </a:ext>
            </a:extLst>
          </p:cNvPr>
          <p:cNvSpPr>
            <a:spLocks noGrp="1"/>
          </p:cNvSpPr>
          <p:nvPr>
            <p:ph type="title"/>
          </p:nvPr>
        </p:nvSpPr>
        <p:spPr/>
        <p:txBody>
          <a:bodyPr/>
          <a:lstStyle/>
          <a:p>
            <a:r>
              <a:rPr lang="fr-FR" dirty="0"/>
              <a:t>Ajuster la valeur</a:t>
            </a:r>
          </a:p>
        </p:txBody>
      </p:sp>
      <p:sp>
        <p:nvSpPr>
          <p:cNvPr id="3" name="Espace réservé du contenu 2">
            <a:extLst>
              <a:ext uri="{FF2B5EF4-FFF2-40B4-BE49-F238E27FC236}">
                <a16:creationId xmlns:a16="http://schemas.microsoft.com/office/drawing/2014/main" id="{D3B2B44E-D86F-EDFA-7B70-35137718D845}"/>
              </a:ext>
            </a:extLst>
          </p:cNvPr>
          <p:cNvSpPr>
            <a:spLocks noGrp="1"/>
          </p:cNvSpPr>
          <p:nvPr>
            <p:ph idx="1"/>
          </p:nvPr>
        </p:nvSpPr>
        <p:spPr>
          <a:xfrm>
            <a:off x="838200" y="1825625"/>
            <a:ext cx="3491753" cy="4351338"/>
          </a:xfrm>
        </p:spPr>
        <p:txBody>
          <a:bodyPr>
            <a:normAutofit lnSpcReduction="10000"/>
          </a:bodyPr>
          <a:lstStyle/>
          <a:p>
            <a:pPr marL="0" indent="0">
              <a:buNone/>
            </a:pPr>
            <a:r>
              <a:rPr lang="fr-FR" sz="1800" dirty="0"/>
              <a:t>Imaginer, définir ou même identifier la valeur d’une Communauté est rarement suffisant.  </a:t>
            </a:r>
          </a:p>
          <a:p>
            <a:pPr marL="0" indent="0">
              <a:buNone/>
            </a:pPr>
            <a:endParaRPr lang="fr-FR" sz="1800" dirty="0"/>
          </a:p>
          <a:p>
            <a:pPr marL="0" indent="0">
              <a:buNone/>
            </a:pPr>
            <a:r>
              <a:rPr lang="fr-FR" sz="1800" dirty="0"/>
              <a:t>Les actions au quotidien d’une personne responsable de Communauté consistent souvent à améliorer cette valeur, l’assurer ou la pérenniser. </a:t>
            </a:r>
          </a:p>
          <a:p>
            <a:pPr marL="0" indent="0">
              <a:buNone/>
            </a:pPr>
            <a:endParaRPr lang="fr-FR" sz="1800" dirty="0"/>
          </a:p>
          <a:p>
            <a:pPr marL="0" indent="0">
              <a:buNone/>
            </a:pPr>
            <a:r>
              <a:rPr lang="fr-FR" sz="1800" dirty="0"/>
              <a:t>Pour cela, toute Communauté étant un système complexe, il y a tout autant besoin de clarifier l’intention que de faire face aux blocages réels, pour ensuite décider des actions à effectuer. </a:t>
            </a:r>
          </a:p>
        </p:txBody>
      </p:sp>
      <p:grpSp>
        <p:nvGrpSpPr>
          <p:cNvPr id="17" name="Groupe 16">
            <a:extLst>
              <a:ext uri="{FF2B5EF4-FFF2-40B4-BE49-F238E27FC236}">
                <a16:creationId xmlns:a16="http://schemas.microsoft.com/office/drawing/2014/main" id="{2306CA25-E9B2-FF1E-F787-36F89B13AB0D}"/>
              </a:ext>
            </a:extLst>
          </p:cNvPr>
          <p:cNvGrpSpPr/>
          <p:nvPr/>
        </p:nvGrpSpPr>
        <p:grpSpPr>
          <a:xfrm>
            <a:off x="5683622" y="1931415"/>
            <a:ext cx="5396753" cy="3941281"/>
            <a:chOff x="6096000" y="2442403"/>
            <a:chExt cx="4440972" cy="3243268"/>
          </a:xfrm>
        </p:grpSpPr>
        <p:sp>
          <p:nvSpPr>
            <p:cNvPr id="4" name="ZoneTexte 3">
              <a:extLst>
                <a:ext uri="{FF2B5EF4-FFF2-40B4-BE49-F238E27FC236}">
                  <a16:creationId xmlns:a16="http://schemas.microsoft.com/office/drawing/2014/main" id="{4C44E303-E0E0-80E8-006A-E003A4C0770C}"/>
                </a:ext>
              </a:extLst>
            </p:cNvPr>
            <p:cNvSpPr txBox="1"/>
            <p:nvPr/>
          </p:nvSpPr>
          <p:spPr>
            <a:xfrm>
              <a:off x="9072700" y="2443401"/>
              <a:ext cx="1283195" cy="531864"/>
            </a:xfrm>
            <a:prstGeom prst="rect">
              <a:avLst/>
            </a:prstGeom>
            <a:noFill/>
          </p:spPr>
          <p:txBody>
            <a:bodyPr wrap="square" rtlCol="0">
              <a:spAutoFit/>
            </a:bodyPr>
            <a:lstStyle/>
            <a:p>
              <a:pPr algn="ctr"/>
              <a:r>
                <a:rPr lang="fr-FR" b="1" dirty="0">
                  <a:solidFill>
                    <a:schemeClr val="bg1">
                      <a:lumMod val="50000"/>
                    </a:schemeClr>
                  </a:solidFill>
                </a:rPr>
                <a:t>Possibilités d’actions</a:t>
              </a:r>
            </a:p>
          </p:txBody>
        </p:sp>
        <p:sp>
          <p:nvSpPr>
            <p:cNvPr id="5" name="ZoneTexte 4">
              <a:extLst>
                <a:ext uri="{FF2B5EF4-FFF2-40B4-BE49-F238E27FC236}">
                  <a16:creationId xmlns:a16="http://schemas.microsoft.com/office/drawing/2014/main" id="{6F792E3D-0A0B-3E31-5F26-BAC7F8B601BE}"/>
                </a:ext>
              </a:extLst>
            </p:cNvPr>
            <p:cNvSpPr txBox="1"/>
            <p:nvPr/>
          </p:nvSpPr>
          <p:spPr>
            <a:xfrm>
              <a:off x="8891625" y="4901111"/>
              <a:ext cx="1645347" cy="303922"/>
            </a:xfrm>
            <a:prstGeom prst="rect">
              <a:avLst/>
            </a:prstGeom>
            <a:noFill/>
          </p:spPr>
          <p:txBody>
            <a:bodyPr wrap="square" rtlCol="0">
              <a:spAutoFit/>
            </a:bodyPr>
            <a:lstStyle/>
            <a:p>
              <a:pPr algn="ctr"/>
              <a:r>
                <a:rPr lang="fr-FR" b="1" dirty="0">
                  <a:solidFill>
                    <a:srgbClr val="3494BA"/>
                  </a:solidFill>
                </a:rPr>
                <a:t>Plan d’intervention</a:t>
              </a:r>
            </a:p>
          </p:txBody>
        </p:sp>
        <p:sp>
          <p:nvSpPr>
            <p:cNvPr id="6" name="ZoneTexte 5">
              <a:extLst>
                <a:ext uri="{FF2B5EF4-FFF2-40B4-BE49-F238E27FC236}">
                  <a16:creationId xmlns:a16="http://schemas.microsoft.com/office/drawing/2014/main" id="{88F30536-8FD7-B183-DBC5-910FAB077355}"/>
                </a:ext>
              </a:extLst>
            </p:cNvPr>
            <p:cNvSpPr txBox="1"/>
            <p:nvPr/>
          </p:nvSpPr>
          <p:spPr>
            <a:xfrm>
              <a:off x="6096000" y="4925866"/>
              <a:ext cx="1780374" cy="759805"/>
            </a:xfrm>
            <a:prstGeom prst="rect">
              <a:avLst/>
            </a:prstGeom>
            <a:noFill/>
          </p:spPr>
          <p:txBody>
            <a:bodyPr wrap="square" rtlCol="0">
              <a:spAutoFit/>
            </a:bodyPr>
            <a:lstStyle/>
            <a:p>
              <a:pPr algn="ctr"/>
              <a:r>
                <a:rPr lang="fr-FR" b="1" dirty="0">
                  <a:solidFill>
                    <a:srgbClr val="ED7D31"/>
                  </a:solidFill>
                </a:rPr>
                <a:t>Effets réels sur et évolution réelle de la Communauté</a:t>
              </a:r>
            </a:p>
          </p:txBody>
        </p:sp>
        <p:grpSp>
          <p:nvGrpSpPr>
            <p:cNvPr id="7" name="Groupe 6">
              <a:extLst>
                <a:ext uri="{FF2B5EF4-FFF2-40B4-BE49-F238E27FC236}">
                  <a16:creationId xmlns:a16="http://schemas.microsoft.com/office/drawing/2014/main" id="{A07D23D9-1328-DBD0-7CD1-38641C3223C9}"/>
                </a:ext>
              </a:extLst>
            </p:cNvPr>
            <p:cNvGrpSpPr/>
            <p:nvPr/>
          </p:nvGrpSpPr>
          <p:grpSpPr>
            <a:xfrm>
              <a:off x="7320533" y="2675620"/>
              <a:ext cx="2201188" cy="2385724"/>
              <a:chOff x="4948467" y="2361639"/>
              <a:chExt cx="2646976" cy="2868885"/>
            </a:xfrm>
          </p:grpSpPr>
          <p:pic>
            <p:nvPicPr>
              <p:cNvPr id="8" name="Graphique 7" descr="Flux de travail avec un remplissage uni">
                <a:extLst>
                  <a:ext uri="{FF2B5EF4-FFF2-40B4-BE49-F238E27FC236}">
                    <a16:creationId xmlns:a16="http://schemas.microsoft.com/office/drawing/2014/main" id="{89469B4F-AF2D-C38E-C342-0E3FB771D0F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9" name="Graphique 8" descr="Flux de travail avec un remplissage uni">
                <a:extLst>
                  <a:ext uri="{FF2B5EF4-FFF2-40B4-BE49-F238E27FC236}">
                    <a16:creationId xmlns:a16="http://schemas.microsoft.com/office/drawing/2014/main" id="{C1554353-84D3-46DB-670D-E8FF0D46F06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10" name="Graphique 9" descr="Panneau de signalisation avec un remplissage uni">
              <a:extLst>
                <a:ext uri="{FF2B5EF4-FFF2-40B4-BE49-F238E27FC236}">
                  <a16:creationId xmlns:a16="http://schemas.microsoft.com/office/drawing/2014/main" id="{6861A856-C34A-BB24-BB39-41B68E2D81D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07234" y="2780309"/>
              <a:ext cx="581454" cy="581454"/>
            </a:xfrm>
            <a:prstGeom prst="rect">
              <a:avLst/>
            </a:prstGeom>
          </p:spPr>
        </p:pic>
        <p:pic>
          <p:nvPicPr>
            <p:cNvPr id="11" name="Graphique 10" descr="Signe pouce en haut avec un remplissage uni">
              <a:extLst>
                <a:ext uri="{FF2B5EF4-FFF2-40B4-BE49-F238E27FC236}">
                  <a16:creationId xmlns:a16="http://schemas.microsoft.com/office/drawing/2014/main" id="{4C1044BC-2867-893E-5160-55A19C0F5C0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402392" y="4312340"/>
              <a:ext cx="597064" cy="597064"/>
            </a:xfrm>
            <a:prstGeom prst="rect">
              <a:avLst/>
            </a:prstGeom>
          </p:spPr>
        </p:pic>
        <p:grpSp>
          <p:nvGrpSpPr>
            <p:cNvPr id="12" name="Groupe 11">
              <a:extLst>
                <a:ext uri="{FF2B5EF4-FFF2-40B4-BE49-F238E27FC236}">
                  <a16:creationId xmlns:a16="http://schemas.microsoft.com/office/drawing/2014/main" id="{64005C0D-5C86-4D7E-EEC8-40571972CC3D}"/>
                </a:ext>
              </a:extLst>
            </p:cNvPr>
            <p:cNvGrpSpPr/>
            <p:nvPr/>
          </p:nvGrpSpPr>
          <p:grpSpPr>
            <a:xfrm rot="16200000">
              <a:off x="7471398" y="2895583"/>
              <a:ext cx="461197" cy="350906"/>
              <a:chOff x="1499428" y="3098753"/>
              <a:chExt cx="474208" cy="322063"/>
            </a:xfrm>
          </p:grpSpPr>
          <p:sp>
            <p:nvSpPr>
              <p:cNvPr id="13" name="Flèche : bas 12">
                <a:extLst>
                  <a:ext uri="{FF2B5EF4-FFF2-40B4-BE49-F238E27FC236}">
                    <a16:creationId xmlns:a16="http://schemas.microsoft.com/office/drawing/2014/main" id="{ABEBC94F-C12B-4D4C-BB2C-9A84D8D83A9D}"/>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100" b="1" dirty="0">
                  <a:solidFill>
                    <a:srgbClr val="00B050"/>
                  </a:solidFill>
                </a:endParaRPr>
              </a:p>
            </p:txBody>
          </p:sp>
          <p:sp>
            <p:nvSpPr>
              <p:cNvPr id="14" name="Flèche : bas 13">
                <a:extLst>
                  <a:ext uri="{FF2B5EF4-FFF2-40B4-BE49-F238E27FC236}">
                    <a16:creationId xmlns:a16="http://schemas.microsoft.com/office/drawing/2014/main" id="{4D04CA93-0CC6-6872-E123-1747C231F85A}"/>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100" b="1" dirty="0"/>
              </a:p>
            </p:txBody>
          </p:sp>
        </p:grpSp>
        <p:sp>
          <p:nvSpPr>
            <p:cNvPr id="15" name="ZoneTexte 14">
              <a:extLst>
                <a:ext uri="{FF2B5EF4-FFF2-40B4-BE49-F238E27FC236}">
                  <a16:creationId xmlns:a16="http://schemas.microsoft.com/office/drawing/2014/main" id="{E9725937-9FF2-4296-DF7B-9D6D1C44B0CB}"/>
                </a:ext>
              </a:extLst>
            </p:cNvPr>
            <p:cNvSpPr txBox="1"/>
            <p:nvPr/>
          </p:nvSpPr>
          <p:spPr>
            <a:xfrm>
              <a:off x="6316060" y="2442403"/>
              <a:ext cx="1283196" cy="531864"/>
            </a:xfrm>
            <a:prstGeom prst="rect">
              <a:avLst/>
            </a:prstGeom>
            <a:noFill/>
          </p:spPr>
          <p:txBody>
            <a:bodyPr wrap="square" rtlCol="0">
              <a:spAutoFit/>
            </a:bodyPr>
            <a:lstStyle/>
            <a:p>
              <a:pPr algn="ctr"/>
              <a:r>
                <a:rPr lang="fr-FR" b="1" dirty="0">
                  <a:solidFill>
                    <a:srgbClr val="00B050"/>
                  </a:solidFill>
                </a:rPr>
                <a:t>Motivations </a:t>
              </a:r>
              <a:r>
                <a:rPr lang="fr-FR" b="1" dirty="0"/>
                <a:t>et</a:t>
              </a:r>
              <a:r>
                <a:rPr lang="fr-FR" b="1" dirty="0">
                  <a:solidFill>
                    <a:srgbClr val="00B050"/>
                  </a:solidFill>
                </a:rPr>
                <a:t> </a:t>
              </a:r>
              <a:r>
                <a:rPr lang="fr-FR" b="1" dirty="0">
                  <a:solidFill>
                    <a:srgbClr val="FF0000"/>
                  </a:solidFill>
                </a:rPr>
                <a:t>blocages</a:t>
              </a:r>
            </a:p>
          </p:txBody>
        </p:sp>
        <p:pic>
          <p:nvPicPr>
            <p:cNvPr id="16" name="Graphique 15" descr="Cause à effet avec un remplissage uni">
              <a:extLst>
                <a:ext uri="{FF2B5EF4-FFF2-40B4-BE49-F238E27FC236}">
                  <a16:creationId xmlns:a16="http://schemas.microsoft.com/office/drawing/2014/main" id="{D5A5254C-F692-F015-A9DD-95922C74CDA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891625" y="4312340"/>
              <a:ext cx="597063" cy="597063"/>
            </a:xfrm>
            <a:prstGeom prst="rect">
              <a:avLst/>
            </a:prstGeom>
          </p:spPr>
        </p:pic>
      </p:grpSp>
      <p:sp>
        <p:nvSpPr>
          <p:cNvPr id="18" name="Titre 1">
            <a:extLst>
              <a:ext uri="{FF2B5EF4-FFF2-40B4-BE49-F238E27FC236}">
                <a16:creationId xmlns:a16="http://schemas.microsoft.com/office/drawing/2014/main" id="{33B46D0E-0F5C-C8FF-2AC9-D82EDDC12CDF}"/>
              </a:ext>
            </a:extLst>
          </p:cNvPr>
          <p:cNvSpPr txBox="1">
            <a:spLocks/>
          </p:cNvSpPr>
          <p:nvPr/>
        </p:nvSpPr>
        <p:spPr>
          <a:xfrm>
            <a:off x="7847166" y="3157866"/>
            <a:ext cx="1453798" cy="712830"/>
          </a:xfrm>
          <a:prstGeom prst="rect">
            <a:avLst/>
          </a:prstGeom>
        </p:spPr>
        <p:txBody>
          <a:bodyPr vert="horz" lIns="91440" tIns="45720" rIns="91440" bIns="45720" rtlCol="0" anchor="ctr">
            <a:normAutofit fontScale="40000" lnSpcReduction="2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b="1" dirty="0"/>
              <a:t>Cycle d’ajustement</a:t>
            </a:r>
          </a:p>
        </p:txBody>
      </p:sp>
    </p:spTree>
    <p:extLst>
      <p:ext uri="{BB962C8B-B14F-4D97-AF65-F5344CB8AC3E}">
        <p14:creationId xmlns:p14="http://schemas.microsoft.com/office/powerpoint/2010/main" val="341019194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14570AD-C8FD-9851-5B4F-D018A49CAB2A}"/>
              </a:ext>
            </a:extLst>
          </p:cNvPr>
          <p:cNvSpPr>
            <a:spLocks noGrp="1"/>
          </p:cNvSpPr>
          <p:nvPr>
            <p:ph type="title"/>
          </p:nvPr>
        </p:nvSpPr>
        <p:spPr/>
        <p:txBody>
          <a:bodyPr>
            <a:normAutofit/>
          </a:bodyPr>
          <a:lstStyle/>
          <a:p>
            <a:r>
              <a:rPr lang="fr-FR" sz="3600" dirty="0"/>
              <a:t>Intervenir sur la valeur en méthode #OSC pour communautés c’est…</a:t>
            </a:r>
          </a:p>
        </p:txBody>
      </p:sp>
      <p:sp>
        <p:nvSpPr>
          <p:cNvPr id="3" name="Espace réservé du contenu 2">
            <a:extLst>
              <a:ext uri="{FF2B5EF4-FFF2-40B4-BE49-F238E27FC236}">
                <a16:creationId xmlns:a16="http://schemas.microsoft.com/office/drawing/2014/main" id="{36F331F6-54C0-BCAE-4AA8-C711AE2F3153}"/>
              </a:ext>
            </a:extLst>
          </p:cNvPr>
          <p:cNvSpPr>
            <a:spLocks noGrp="1"/>
          </p:cNvSpPr>
          <p:nvPr>
            <p:ph idx="1"/>
          </p:nvPr>
        </p:nvSpPr>
        <p:spPr>
          <a:xfrm>
            <a:off x="4241334" y="1797050"/>
            <a:ext cx="5870808" cy="4351338"/>
          </a:xfrm>
        </p:spPr>
        <p:txBody>
          <a:bodyPr>
            <a:normAutofit fontScale="85000" lnSpcReduction="20000"/>
          </a:bodyPr>
          <a:lstStyle/>
          <a:p>
            <a:pPr marL="514350" indent="-514350">
              <a:buFont typeface="+mj-lt"/>
              <a:buAutoNum type="arabicPeriod"/>
            </a:pPr>
            <a:r>
              <a:rPr lang="fr-FR" dirty="0">
                <a:solidFill>
                  <a:srgbClr val="00B050"/>
                </a:solidFill>
              </a:rPr>
              <a:t>Se renseigner et collecter de l’information sur les opportunités de valeur et problèmes (blocages,  pressions et tensions)</a:t>
            </a:r>
          </a:p>
          <a:p>
            <a:pPr marL="514350" indent="-514350">
              <a:buFont typeface="+mj-lt"/>
              <a:buAutoNum type="arabicPeriod"/>
            </a:pPr>
            <a:endParaRPr lang="fr-FR" dirty="0"/>
          </a:p>
          <a:p>
            <a:pPr marL="514350" indent="-514350">
              <a:buFont typeface="+mj-lt"/>
              <a:buAutoNum type="arabicPeriod"/>
            </a:pPr>
            <a:r>
              <a:rPr lang="fr-FR" dirty="0">
                <a:solidFill>
                  <a:schemeClr val="bg1">
                    <a:lumMod val="50000"/>
                  </a:schemeClr>
                </a:solidFill>
              </a:rPr>
              <a:t>Proposer / </a:t>
            </a:r>
            <a:r>
              <a:rPr lang="fr-FR" dirty="0" err="1">
                <a:solidFill>
                  <a:schemeClr val="bg1">
                    <a:lumMod val="50000"/>
                  </a:schemeClr>
                </a:solidFill>
              </a:rPr>
              <a:t>Co-Construire</a:t>
            </a:r>
            <a:r>
              <a:rPr lang="fr-FR" dirty="0">
                <a:solidFill>
                  <a:schemeClr val="bg1">
                    <a:lumMod val="50000"/>
                  </a:schemeClr>
                </a:solidFill>
              </a:rPr>
              <a:t> des idées d’actions ou d’ajustements opérationnels et les prioriser</a:t>
            </a:r>
          </a:p>
          <a:p>
            <a:pPr marL="514350" indent="-514350">
              <a:buFont typeface="+mj-lt"/>
              <a:buAutoNum type="arabicPeriod"/>
            </a:pPr>
            <a:endParaRPr lang="fr-FR" dirty="0"/>
          </a:p>
          <a:p>
            <a:pPr marL="514350" indent="-514350">
              <a:buFont typeface="+mj-lt"/>
              <a:buAutoNum type="arabicPeriod"/>
            </a:pPr>
            <a:r>
              <a:rPr lang="fr-FR" dirty="0">
                <a:solidFill>
                  <a:srgbClr val="3494BA"/>
                </a:solidFill>
              </a:rPr>
              <a:t>Prioriser les actions opérationnelles</a:t>
            </a:r>
          </a:p>
          <a:p>
            <a:pPr marL="514350" indent="-514350">
              <a:buFont typeface="+mj-lt"/>
              <a:buAutoNum type="arabicPeriod"/>
            </a:pPr>
            <a:endParaRPr lang="fr-FR" dirty="0"/>
          </a:p>
          <a:p>
            <a:pPr marL="514350" indent="-514350">
              <a:buFont typeface="+mj-lt"/>
              <a:buAutoNum type="arabicPeriod"/>
            </a:pPr>
            <a:r>
              <a:rPr lang="fr-FR" dirty="0">
                <a:solidFill>
                  <a:srgbClr val="ED7D31"/>
                </a:solidFill>
              </a:rPr>
              <a:t>Effectuer les ajustements</a:t>
            </a:r>
          </a:p>
        </p:txBody>
      </p:sp>
      <p:pic>
        <p:nvPicPr>
          <p:cNvPr id="18" name="Graphique 17" descr="Instruments de dentiste avec un remplissage uni">
            <a:extLst>
              <a:ext uri="{FF2B5EF4-FFF2-40B4-BE49-F238E27FC236}">
                <a16:creationId xmlns:a16="http://schemas.microsoft.com/office/drawing/2014/main" id="{FD563055-1088-522B-2E5A-DFF4AF783C3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18938" y="5329988"/>
            <a:ext cx="424910" cy="424910"/>
          </a:xfrm>
          <a:prstGeom prst="rect">
            <a:avLst/>
          </a:prstGeom>
        </p:spPr>
      </p:pic>
      <p:grpSp>
        <p:nvGrpSpPr>
          <p:cNvPr id="19" name="Groupe 18">
            <a:extLst>
              <a:ext uri="{FF2B5EF4-FFF2-40B4-BE49-F238E27FC236}">
                <a16:creationId xmlns:a16="http://schemas.microsoft.com/office/drawing/2014/main" id="{87E90B1E-7738-E63C-86A2-61F6D5B61443}"/>
              </a:ext>
            </a:extLst>
          </p:cNvPr>
          <p:cNvGrpSpPr/>
          <p:nvPr/>
        </p:nvGrpSpPr>
        <p:grpSpPr>
          <a:xfrm>
            <a:off x="3606426" y="3397507"/>
            <a:ext cx="568959" cy="615745"/>
            <a:chOff x="4735566" y="1274738"/>
            <a:chExt cx="995943" cy="1125357"/>
          </a:xfrm>
          <a:solidFill>
            <a:schemeClr val="bg1">
              <a:lumMod val="65000"/>
            </a:schemeClr>
          </a:solidFill>
        </p:grpSpPr>
        <p:pic>
          <p:nvPicPr>
            <p:cNvPr id="20" name="Graphique 19" descr="Engrenage avec un remplissage uni">
              <a:extLst>
                <a:ext uri="{FF2B5EF4-FFF2-40B4-BE49-F238E27FC236}">
                  <a16:creationId xmlns:a16="http://schemas.microsoft.com/office/drawing/2014/main" id="{4DB2DE86-6725-BD6B-96C5-B52882C28D8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910920" y="1805357"/>
              <a:ext cx="594738" cy="594738"/>
            </a:xfrm>
            <a:prstGeom prst="rect">
              <a:avLst/>
            </a:prstGeom>
          </p:spPr>
        </p:pic>
        <p:pic>
          <p:nvPicPr>
            <p:cNvPr id="21" name="Graphique 20" descr="Stylo de calligraphie avec un remplissage uni">
              <a:extLst>
                <a:ext uri="{FF2B5EF4-FFF2-40B4-BE49-F238E27FC236}">
                  <a16:creationId xmlns:a16="http://schemas.microsoft.com/office/drawing/2014/main" id="{159635DC-249E-6750-677D-75CC824858B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208289" y="1274738"/>
              <a:ext cx="523220" cy="523220"/>
            </a:xfrm>
            <a:prstGeom prst="rect">
              <a:avLst/>
            </a:prstGeom>
          </p:spPr>
        </p:pic>
        <p:pic>
          <p:nvPicPr>
            <p:cNvPr id="22" name="Graphique 21" descr="Calendrier journalier avec un remplissage uni">
              <a:extLst>
                <a:ext uri="{FF2B5EF4-FFF2-40B4-BE49-F238E27FC236}">
                  <a16:creationId xmlns:a16="http://schemas.microsoft.com/office/drawing/2014/main" id="{55AE4787-BA8B-465D-00DD-A967998DC46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735566" y="1288753"/>
              <a:ext cx="523220" cy="523220"/>
            </a:xfrm>
            <a:prstGeom prst="rect">
              <a:avLst/>
            </a:prstGeom>
          </p:spPr>
        </p:pic>
      </p:grpSp>
      <p:pic>
        <p:nvPicPr>
          <p:cNvPr id="23" name="Graphique 22" descr="Priorités avec un remplissage uni">
            <a:extLst>
              <a:ext uri="{FF2B5EF4-FFF2-40B4-BE49-F238E27FC236}">
                <a16:creationId xmlns:a16="http://schemas.microsoft.com/office/drawing/2014/main" id="{D0CC3990-B44B-F5F4-37E3-AA5625B676F0}"/>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585075" y="4435171"/>
            <a:ext cx="582813" cy="582813"/>
          </a:xfrm>
          <a:prstGeom prst="rect">
            <a:avLst/>
          </a:prstGeom>
        </p:spPr>
      </p:pic>
      <p:pic>
        <p:nvPicPr>
          <p:cNvPr id="11" name="Graphique 10" descr="Informations avec un remplissage uni">
            <a:extLst>
              <a:ext uri="{FF2B5EF4-FFF2-40B4-BE49-F238E27FC236}">
                <a16:creationId xmlns:a16="http://schemas.microsoft.com/office/drawing/2014/main" id="{C36EF85E-95E4-42D7-6E76-3D41BBA90F3D}"/>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r="50000"/>
          <a:stretch/>
        </p:blipFill>
        <p:spPr>
          <a:xfrm>
            <a:off x="3668446" y="1806422"/>
            <a:ext cx="274149" cy="548297"/>
          </a:xfrm>
          <a:prstGeom prst="rect">
            <a:avLst/>
          </a:prstGeom>
        </p:spPr>
      </p:pic>
      <p:pic>
        <p:nvPicPr>
          <p:cNvPr id="12" name="Graphique 11" descr="Informations avec un remplissage uni">
            <a:extLst>
              <a:ext uri="{FF2B5EF4-FFF2-40B4-BE49-F238E27FC236}">
                <a16:creationId xmlns:a16="http://schemas.microsoft.com/office/drawing/2014/main" id="{48FAFC8B-25E1-4ACC-6DD5-8D476E732F00}"/>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l="48270" r="1730"/>
          <a:stretch/>
        </p:blipFill>
        <p:spPr>
          <a:xfrm>
            <a:off x="3934356" y="1806420"/>
            <a:ext cx="274149" cy="548297"/>
          </a:xfrm>
          <a:prstGeom prst="rect">
            <a:avLst/>
          </a:prstGeom>
        </p:spPr>
      </p:pic>
    </p:spTree>
    <p:extLst>
      <p:ext uri="{BB962C8B-B14F-4D97-AF65-F5344CB8AC3E}">
        <p14:creationId xmlns:p14="http://schemas.microsoft.com/office/powerpoint/2010/main" val="2908636322"/>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FC7A389-62C3-9D32-F60A-3929CB206CBA}"/>
              </a:ext>
            </a:extLst>
          </p:cNvPr>
          <p:cNvSpPr>
            <a:spLocks noGrp="1"/>
          </p:cNvSpPr>
          <p:nvPr>
            <p:ph type="title"/>
          </p:nvPr>
        </p:nvSpPr>
        <p:spPr>
          <a:xfrm>
            <a:off x="771088" y="308182"/>
            <a:ext cx="10515600" cy="579615"/>
          </a:xfrm>
        </p:spPr>
        <p:txBody>
          <a:bodyPr>
            <a:normAutofit fontScale="90000"/>
          </a:bodyPr>
          <a:lstStyle/>
          <a:p>
            <a:pPr algn="ctr"/>
            <a:r>
              <a:rPr lang="fr-FR" dirty="0"/>
              <a:t>Cycle d’ajustement</a:t>
            </a:r>
          </a:p>
        </p:txBody>
      </p:sp>
      <p:pic>
        <p:nvPicPr>
          <p:cNvPr id="9" name="Graphique 8" descr="Instruments de dentiste avec un remplissage uni">
            <a:extLst>
              <a:ext uri="{FF2B5EF4-FFF2-40B4-BE49-F238E27FC236}">
                <a16:creationId xmlns:a16="http://schemas.microsoft.com/office/drawing/2014/main" id="{43FF7B12-B6CF-A700-E711-20C227F3E24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122979" y="5717784"/>
            <a:ext cx="449479" cy="449479"/>
          </a:xfrm>
          <a:prstGeom prst="rect">
            <a:avLst/>
          </a:prstGeom>
        </p:spPr>
      </p:pic>
      <p:pic>
        <p:nvPicPr>
          <p:cNvPr id="11" name="Graphique 10" descr="Priorités avec un remplissage uni">
            <a:extLst>
              <a:ext uri="{FF2B5EF4-FFF2-40B4-BE49-F238E27FC236}">
                <a16:creationId xmlns:a16="http://schemas.microsoft.com/office/drawing/2014/main" id="{D00DFEBC-4D44-3B34-01B0-F85889CA58D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13950" y="3762953"/>
            <a:ext cx="582813" cy="582813"/>
          </a:xfrm>
          <a:prstGeom prst="rect">
            <a:avLst/>
          </a:prstGeom>
        </p:spPr>
      </p:pic>
      <p:sp>
        <p:nvSpPr>
          <p:cNvPr id="12" name="ZoneTexte 11">
            <a:extLst>
              <a:ext uri="{FF2B5EF4-FFF2-40B4-BE49-F238E27FC236}">
                <a16:creationId xmlns:a16="http://schemas.microsoft.com/office/drawing/2014/main" id="{DDF5E3B9-A101-0EA6-6066-387D4CEAFFE5}"/>
              </a:ext>
            </a:extLst>
          </p:cNvPr>
          <p:cNvSpPr txBox="1"/>
          <p:nvPr/>
        </p:nvSpPr>
        <p:spPr>
          <a:xfrm>
            <a:off x="8869590" y="3717651"/>
            <a:ext cx="1984839" cy="584775"/>
          </a:xfrm>
          <a:prstGeom prst="rect">
            <a:avLst/>
          </a:prstGeom>
          <a:noFill/>
        </p:spPr>
        <p:txBody>
          <a:bodyPr wrap="none" rtlCol="0">
            <a:spAutoFit/>
          </a:bodyPr>
          <a:lstStyle/>
          <a:p>
            <a:r>
              <a:rPr lang="fr-FR" sz="3200" b="1" dirty="0">
                <a:solidFill>
                  <a:srgbClr val="3494BA"/>
                </a:solidFill>
              </a:rPr>
              <a:t>PRIORISER</a:t>
            </a:r>
          </a:p>
        </p:txBody>
      </p:sp>
      <p:sp>
        <p:nvSpPr>
          <p:cNvPr id="13" name="ZoneTexte 12">
            <a:extLst>
              <a:ext uri="{FF2B5EF4-FFF2-40B4-BE49-F238E27FC236}">
                <a16:creationId xmlns:a16="http://schemas.microsoft.com/office/drawing/2014/main" id="{3A6E0CFB-67B6-7630-D4D0-7D1DB45BB14B}"/>
              </a:ext>
            </a:extLst>
          </p:cNvPr>
          <p:cNvSpPr txBox="1"/>
          <p:nvPr/>
        </p:nvSpPr>
        <p:spPr>
          <a:xfrm>
            <a:off x="5290148" y="6067890"/>
            <a:ext cx="2084225" cy="584775"/>
          </a:xfrm>
          <a:prstGeom prst="rect">
            <a:avLst/>
          </a:prstGeom>
          <a:noFill/>
        </p:spPr>
        <p:txBody>
          <a:bodyPr wrap="none" rtlCol="0">
            <a:spAutoFit/>
          </a:bodyPr>
          <a:lstStyle/>
          <a:p>
            <a:r>
              <a:rPr lang="fr-FR" sz="3200" b="1" dirty="0">
                <a:solidFill>
                  <a:srgbClr val="ED7D31"/>
                </a:solidFill>
              </a:rPr>
              <a:t>EFFECTUER</a:t>
            </a:r>
          </a:p>
        </p:txBody>
      </p:sp>
      <p:sp>
        <p:nvSpPr>
          <p:cNvPr id="14" name="ZoneTexte 13">
            <a:extLst>
              <a:ext uri="{FF2B5EF4-FFF2-40B4-BE49-F238E27FC236}">
                <a16:creationId xmlns:a16="http://schemas.microsoft.com/office/drawing/2014/main" id="{140450DE-6C0B-9E66-50F5-0A58F6F3BD02}"/>
              </a:ext>
            </a:extLst>
          </p:cNvPr>
          <p:cNvSpPr txBox="1"/>
          <p:nvPr/>
        </p:nvSpPr>
        <p:spPr>
          <a:xfrm>
            <a:off x="1190749" y="3780212"/>
            <a:ext cx="2896182" cy="584775"/>
          </a:xfrm>
          <a:prstGeom prst="rect">
            <a:avLst/>
          </a:prstGeom>
          <a:noFill/>
        </p:spPr>
        <p:txBody>
          <a:bodyPr wrap="square" rtlCol="0">
            <a:spAutoFit/>
          </a:bodyPr>
          <a:lstStyle/>
          <a:p>
            <a:pPr algn="ctr"/>
            <a:r>
              <a:rPr lang="fr-FR" sz="3200" b="1" dirty="0">
                <a:solidFill>
                  <a:srgbClr val="00B050"/>
                </a:solidFill>
              </a:rPr>
              <a:t>SE RENS</a:t>
            </a:r>
            <a:r>
              <a:rPr lang="fr-FR" sz="3200" b="1" dirty="0">
                <a:solidFill>
                  <a:srgbClr val="FF0000"/>
                </a:solidFill>
              </a:rPr>
              <a:t>EIGNER</a:t>
            </a:r>
          </a:p>
        </p:txBody>
      </p:sp>
      <p:sp>
        <p:nvSpPr>
          <p:cNvPr id="15" name="ZoneTexte 14">
            <a:extLst>
              <a:ext uri="{FF2B5EF4-FFF2-40B4-BE49-F238E27FC236}">
                <a16:creationId xmlns:a16="http://schemas.microsoft.com/office/drawing/2014/main" id="{B8C96CE5-1B0B-1D6B-5700-82C95E463592}"/>
              </a:ext>
            </a:extLst>
          </p:cNvPr>
          <p:cNvSpPr txBox="1"/>
          <p:nvPr/>
        </p:nvSpPr>
        <p:spPr>
          <a:xfrm>
            <a:off x="6960456" y="2676484"/>
            <a:ext cx="1283195" cy="523220"/>
          </a:xfrm>
          <a:prstGeom prst="rect">
            <a:avLst/>
          </a:prstGeom>
          <a:noFill/>
        </p:spPr>
        <p:txBody>
          <a:bodyPr wrap="square" rtlCol="0">
            <a:spAutoFit/>
          </a:bodyPr>
          <a:lstStyle/>
          <a:p>
            <a:pPr algn="ctr"/>
            <a:r>
              <a:rPr lang="fr-FR" sz="1400" dirty="0">
                <a:solidFill>
                  <a:schemeClr val="bg1">
                    <a:lumMod val="50000"/>
                  </a:schemeClr>
                </a:solidFill>
              </a:rPr>
              <a:t>Possibilités d’actions</a:t>
            </a:r>
          </a:p>
        </p:txBody>
      </p:sp>
      <p:sp>
        <p:nvSpPr>
          <p:cNvPr id="16" name="ZoneTexte 15">
            <a:extLst>
              <a:ext uri="{FF2B5EF4-FFF2-40B4-BE49-F238E27FC236}">
                <a16:creationId xmlns:a16="http://schemas.microsoft.com/office/drawing/2014/main" id="{1AB6923F-C27E-19F7-D63F-FC212ECD08EC}"/>
              </a:ext>
            </a:extLst>
          </p:cNvPr>
          <p:cNvSpPr txBox="1"/>
          <p:nvPr/>
        </p:nvSpPr>
        <p:spPr>
          <a:xfrm>
            <a:off x="6779381" y="5134194"/>
            <a:ext cx="1645347" cy="307777"/>
          </a:xfrm>
          <a:prstGeom prst="rect">
            <a:avLst/>
          </a:prstGeom>
          <a:noFill/>
        </p:spPr>
        <p:txBody>
          <a:bodyPr wrap="square" rtlCol="0">
            <a:spAutoFit/>
          </a:bodyPr>
          <a:lstStyle/>
          <a:p>
            <a:pPr algn="ctr"/>
            <a:r>
              <a:rPr lang="fr-FR" sz="1400" dirty="0">
                <a:solidFill>
                  <a:srgbClr val="3494BA"/>
                </a:solidFill>
              </a:rPr>
              <a:t>Plan d’intervention</a:t>
            </a:r>
          </a:p>
        </p:txBody>
      </p:sp>
      <p:sp>
        <p:nvSpPr>
          <p:cNvPr id="17" name="ZoneTexte 16">
            <a:extLst>
              <a:ext uri="{FF2B5EF4-FFF2-40B4-BE49-F238E27FC236}">
                <a16:creationId xmlns:a16="http://schemas.microsoft.com/office/drawing/2014/main" id="{AF1E9A95-41EF-2037-46DA-F56B4742E63A}"/>
              </a:ext>
            </a:extLst>
          </p:cNvPr>
          <p:cNvSpPr txBox="1"/>
          <p:nvPr/>
        </p:nvSpPr>
        <p:spPr>
          <a:xfrm>
            <a:off x="3983756" y="5158949"/>
            <a:ext cx="1780374" cy="738664"/>
          </a:xfrm>
          <a:prstGeom prst="rect">
            <a:avLst/>
          </a:prstGeom>
          <a:noFill/>
        </p:spPr>
        <p:txBody>
          <a:bodyPr wrap="square" rtlCol="0">
            <a:spAutoFit/>
          </a:bodyPr>
          <a:lstStyle/>
          <a:p>
            <a:pPr algn="ctr"/>
            <a:r>
              <a:rPr lang="fr-FR" sz="1400" dirty="0">
                <a:solidFill>
                  <a:srgbClr val="ED7D31"/>
                </a:solidFill>
              </a:rPr>
              <a:t>Effets réels et évolution réelle de la Communauté</a:t>
            </a:r>
          </a:p>
        </p:txBody>
      </p:sp>
      <p:grpSp>
        <p:nvGrpSpPr>
          <p:cNvPr id="30" name="Groupe 29">
            <a:extLst>
              <a:ext uri="{FF2B5EF4-FFF2-40B4-BE49-F238E27FC236}">
                <a16:creationId xmlns:a16="http://schemas.microsoft.com/office/drawing/2014/main" id="{03AD9B4F-EB33-3DAE-AAB6-FB1D596FF2FE}"/>
              </a:ext>
            </a:extLst>
          </p:cNvPr>
          <p:cNvGrpSpPr/>
          <p:nvPr/>
        </p:nvGrpSpPr>
        <p:grpSpPr>
          <a:xfrm>
            <a:off x="5208289" y="2908703"/>
            <a:ext cx="2201188" cy="2385724"/>
            <a:chOff x="4948467" y="2361639"/>
            <a:chExt cx="2646976" cy="2868885"/>
          </a:xfrm>
        </p:grpSpPr>
        <p:pic>
          <p:nvPicPr>
            <p:cNvPr id="28" name="Graphique 27" descr="Flux de travail avec un remplissage uni">
              <a:extLst>
                <a:ext uri="{FF2B5EF4-FFF2-40B4-BE49-F238E27FC236}">
                  <a16:creationId xmlns:a16="http://schemas.microsoft.com/office/drawing/2014/main" id="{16EC9C7D-F5D0-9AE2-B7DF-CCA22CC7B2CA}"/>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12257" t="11685" r="14656" b="9100"/>
            <a:stretch/>
          </p:blipFill>
          <p:spPr>
            <a:xfrm>
              <a:off x="4948467" y="2361639"/>
              <a:ext cx="2646976" cy="2868885"/>
            </a:xfrm>
            <a:prstGeom prst="rect">
              <a:avLst/>
            </a:prstGeom>
          </p:spPr>
        </p:pic>
        <p:pic>
          <p:nvPicPr>
            <p:cNvPr id="29" name="Graphique 28" descr="Flux de travail avec un remplissage uni">
              <a:extLst>
                <a:ext uri="{FF2B5EF4-FFF2-40B4-BE49-F238E27FC236}">
                  <a16:creationId xmlns:a16="http://schemas.microsoft.com/office/drawing/2014/main" id="{4E63A58D-39D7-EAAF-F0F6-5E3C0D83EE0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65289" t="38774" r="17178" b="35731"/>
            <a:stretch/>
          </p:blipFill>
          <p:spPr>
            <a:xfrm rot="10800000">
              <a:off x="5129887" y="3334416"/>
              <a:ext cx="635000" cy="923330"/>
            </a:xfrm>
            <a:prstGeom prst="rect">
              <a:avLst/>
            </a:prstGeom>
          </p:spPr>
        </p:pic>
      </p:grpSp>
      <p:pic>
        <p:nvPicPr>
          <p:cNvPr id="31" name="Graphique 30" descr="Informations avec un remplissage uni">
            <a:extLst>
              <a:ext uri="{FF2B5EF4-FFF2-40B4-BE49-F238E27FC236}">
                <a16:creationId xmlns:a16="http://schemas.microsoft.com/office/drawing/2014/main" id="{A5786D12-6A0D-0376-FF7E-D8D2451783E8}"/>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r="50000"/>
          <a:stretch/>
        </p:blipFill>
        <p:spPr>
          <a:xfrm>
            <a:off x="3918889" y="3780212"/>
            <a:ext cx="274149" cy="548297"/>
          </a:xfrm>
          <a:prstGeom prst="rect">
            <a:avLst/>
          </a:prstGeom>
        </p:spPr>
      </p:pic>
      <p:pic>
        <p:nvPicPr>
          <p:cNvPr id="32" name="Graphique 31" descr="Panneau de signalisation avec un remplissage uni">
            <a:extLst>
              <a:ext uri="{FF2B5EF4-FFF2-40B4-BE49-F238E27FC236}">
                <a16:creationId xmlns:a16="http://schemas.microsoft.com/office/drawing/2014/main" id="{351256D3-9D6A-B9ED-E4B1-11A9EB44F60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794990" y="3013392"/>
            <a:ext cx="581454" cy="581454"/>
          </a:xfrm>
          <a:prstGeom prst="rect">
            <a:avLst/>
          </a:prstGeom>
        </p:spPr>
      </p:pic>
      <p:pic>
        <p:nvPicPr>
          <p:cNvPr id="33" name="Graphique 32" descr="Signe pouce en haut avec un remplissage uni">
            <a:extLst>
              <a:ext uri="{FF2B5EF4-FFF2-40B4-BE49-F238E27FC236}">
                <a16:creationId xmlns:a16="http://schemas.microsoft.com/office/drawing/2014/main" id="{EE20EAEF-9A33-FFBC-D590-E2A626C2DF2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290148" y="4545423"/>
            <a:ext cx="597064" cy="597064"/>
          </a:xfrm>
          <a:prstGeom prst="rect">
            <a:avLst/>
          </a:prstGeom>
        </p:spPr>
      </p:pic>
      <p:grpSp>
        <p:nvGrpSpPr>
          <p:cNvPr id="34" name="Groupe 33">
            <a:extLst>
              <a:ext uri="{FF2B5EF4-FFF2-40B4-BE49-F238E27FC236}">
                <a16:creationId xmlns:a16="http://schemas.microsoft.com/office/drawing/2014/main" id="{5057F41E-604E-30DF-8028-B9AE1FBF8445}"/>
              </a:ext>
            </a:extLst>
          </p:cNvPr>
          <p:cNvGrpSpPr/>
          <p:nvPr/>
        </p:nvGrpSpPr>
        <p:grpSpPr>
          <a:xfrm rot="16200000">
            <a:off x="5359154" y="3128666"/>
            <a:ext cx="461197" cy="350906"/>
            <a:chOff x="1499428" y="3098753"/>
            <a:chExt cx="474208" cy="322063"/>
          </a:xfrm>
        </p:grpSpPr>
        <p:sp>
          <p:nvSpPr>
            <p:cNvPr id="35" name="Flèche : bas 34">
              <a:extLst>
                <a:ext uri="{FF2B5EF4-FFF2-40B4-BE49-F238E27FC236}">
                  <a16:creationId xmlns:a16="http://schemas.microsoft.com/office/drawing/2014/main" id="{AB24D173-43D3-7575-3FEB-B3B3C68FDFFE}"/>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36" name="Flèche : bas 35">
              <a:extLst>
                <a:ext uri="{FF2B5EF4-FFF2-40B4-BE49-F238E27FC236}">
                  <a16:creationId xmlns:a16="http://schemas.microsoft.com/office/drawing/2014/main" id="{451CDA10-62BA-8127-3291-EABB3C21B19C}"/>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sp>
        <p:nvSpPr>
          <p:cNvPr id="37" name="ZoneTexte 36">
            <a:extLst>
              <a:ext uri="{FF2B5EF4-FFF2-40B4-BE49-F238E27FC236}">
                <a16:creationId xmlns:a16="http://schemas.microsoft.com/office/drawing/2014/main" id="{59C2244D-EBC2-F888-A5F9-81A78FDC8792}"/>
              </a:ext>
            </a:extLst>
          </p:cNvPr>
          <p:cNvSpPr txBox="1"/>
          <p:nvPr/>
        </p:nvSpPr>
        <p:spPr>
          <a:xfrm>
            <a:off x="4203816" y="2675486"/>
            <a:ext cx="1283196" cy="523220"/>
          </a:xfrm>
          <a:prstGeom prst="rect">
            <a:avLst/>
          </a:prstGeom>
          <a:noFill/>
        </p:spPr>
        <p:txBody>
          <a:bodyPr wrap="square" rtlCol="0">
            <a:spAutoFit/>
          </a:bodyPr>
          <a:lstStyle/>
          <a:p>
            <a:pPr algn="ctr"/>
            <a:r>
              <a:rPr lang="fr-FR" sz="1400" dirty="0">
                <a:solidFill>
                  <a:srgbClr val="00B050"/>
                </a:solidFill>
              </a:rPr>
              <a:t>Motivations </a:t>
            </a:r>
            <a:r>
              <a:rPr lang="fr-FR" sz="1400" dirty="0"/>
              <a:t>et</a:t>
            </a:r>
            <a:r>
              <a:rPr lang="fr-FR" sz="1400" dirty="0">
                <a:solidFill>
                  <a:srgbClr val="00B050"/>
                </a:solidFill>
              </a:rPr>
              <a:t> </a:t>
            </a:r>
            <a:r>
              <a:rPr lang="fr-FR" sz="1400" dirty="0">
                <a:solidFill>
                  <a:srgbClr val="FF0000"/>
                </a:solidFill>
              </a:rPr>
              <a:t>blocages</a:t>
            </a:r>
          </a:p>
        </p:txBody>
      </p:sp>
      <p:pic>
        <p:nvPicPr>
          <p:cNvPr id="38" name="Graphique 37" descr="Cause à effet avec un remplissage uni">
            <a:extLst>
              <a:ext uri="{FF2B5EF4-FFF2-40B4-BE49-F238E27FC236}">
                <a16:creationId xmlns:a16="http://schemas.microsoft.com/office/drawing/2014/main" id="{0C5D9FD3-C4B6-AF5F-8FBF-F6D3958AE258}"/>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6779381" y="4545423"/>
            <a:ext cx="597063" cy="597063"/>
          </a:xfrm>
          <a:prstGeom prst="rect">
            <a:avLst/>
          </a:prstGeom>
        </p:spPr>
      </p:pic>
      <p:sp>
        <p:nvSpPr>
          <p:cNvPr id="39" name="ZoneTexte 38">
            <a:extLst>
              <a:ext uri="{FF2B5EF4-FFF2-40B4-BE49-F238E27FC236}">
                <a16:creationId xmlns:a16="http://schemas.microsoft.com/office/drawing/2014/main" id="{C329836C-3D02-504F-2327-3C83B761C8DA}"/>
              </a:ext>
            </a:extLst>
          </p:cNvPr>
          <p:cNvSpPr txBox="1"/>
          <p:nvPr/>
        </p:nvSpPr>
        <p:spPr>
          <a:xfrm>
            <a:off x="4929345" y="1193794"/>
            <a:ext cx="2759075" cy="1077218"/>
          </a:xfrm>
          <a:prstGeom prst="rect">
            <a:avLst/>
          </a:prstGeom>
          <a:noFill/>
        </p:spPr>
        <p:txBody>
          <a:bodyPr wrap="square" rtlCol="0">
            <a:spAutoFit/>
          </a:bodyPr>
          <a:lstStyle/>
          <a:p>
            <a:pPr algn="ctr"/>
            <a:r>
              <a:rPr lang="fr-FR" sz="3200" b="1" dirty="0">
                <a:solidFill>
                  <a:schemeClr val="bg1">
                    <a:lumMod val="50000"/>
                  </a:schemeClr>
                </a:solidFill>
              </a:rPr>
              <a:t>TROUVER DES ACTIONS</a:t>
            </a:r>
          </a:p>
        </p:txBody>
      </p:sp>
      <p:grpSp>
        <p:nvGrpSpPr>
          <p:cNvPr id="50" name="Groupe 49">
            <a:extLst>
              <a:ext uri="{FF2B5EF4-FFF2-40B4-BE49-F238E27FC236}">
                <a16:creationId xmlns:a16="http://schemas.microsoft.com/office/drawing/2014/main" id="{939AF1CA-4AA7-B8E0-3F6A-5100DE7508BD}"/>
              </a:ext>
            </a:extLst>
          </p:cNvPr>
          <p:cNvGrpSpPr/>
          <p:nvPr/>
        </p:nvGrpSpPr>
        <p:grpSpPr>
          <a:xfrm>
            <a:off x="6063238" y="2174818"/>
            <a:ext cx="568959" cy="615745"/>
            <a:chOff x="4735566" y="1274738"/>
            <a:chExt cx="995943" cy="1125357"/>
          </a:xfrm>
          <a:solidFill>
            <a:schemeClr val="bg1">
              <a:lumMod val="50000"/>
            </a:schemeClr>
          </a:solidFill>
        </p:grpSpPr>
        <p:pic>
          <p:nvPicPr>
            <p:cNvPr id="45" name="Graphique 44" descr="Engrenage avec un remplissage uni">
              <a:extLst>
                <a:ext uri="{FF2B5EF4-FFF2-40B4-BE49-F238E27FC236}">
                  <a16:creationId xmlns:a16="http://schemas.microsoft.com/office/drawing/2014/main" id="{E62DB2CD-2056-1AB5-E2EF-7AA8EDCE02BA}"/>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4910920" y="1805357"/>
              <a:ext cx="594738" cy="594738"/>
            </a:xfrm>
            <a:prstGeom prst="rect">
              <a:avLst/>
            </a:prstGeom>
          </p:spPr>
        </p:pic>
        <p:pic>
          <p:nvPicPr>
            <p:cNvPr id="47" name="Graphique 46" descr="Stylo de calligraphie avec un remplissage uni">
              <a:extLst>
                <a:ext uri="{FF2B5EF4-FFF2-40B4-BE49-F238E27FC236}">
                  <a16:creationId xmlns:a16="http://schemas.microsoft.com/office/drawing/2014/main" id="{92D79711-B301-5E46-F96C-4BD08E794AB3}"/>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208289" y="1274738"/>
              <a:ext cx="523220" cy="523220"/>
            </a:xfrm>
            <a:prstGeom prst="rect">
              <a:avLst/>
            </a:prstGeom>
          </p:spPr>
        </p:pic>
        <p:pic>
          <p:nvPicPr>
            <p:cNvPr id="49" name="Graphique 48" descr="Calendrier journalier avec un remplissage uni">
              <a:extLst>
                <a:ext uri="{FF2B5EF4-FFF2-40B4-BE49-F238E27FC236}">
                  <a16:creationId xmlns:a16="http://schemas.microsoft.com/office/drawing/2014/main" id="{E74C8459-2D02-8387-837A-6E8FFFC50350}"/>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735566" y="1288753"/>
              <a:ext cx="523220" cy="523220"/>
            </a:xfrm>
            <a:prstGeom prst="rect">
              <a:avLst/>
            </a:prstGeom>
          </p:spPr>
        </p:pic>
      </p:grpSp>
      <p:pic>
        <p:nvPicPr>
          <p:cNvPr id="27" name="Graphique 26" descr="Informations avec un remplissage uni">
            <a:extLst>
              <a:ext uri="{FF2B5EF4-FFF2-40B4-BE49-F238E27FC236}">
                <a16:creationId xmlns:a16="http://schemas.microsoft.com/office/drawing/2014/main" id="{829CA5B2-7195-1E57-350A-53695A4808C9}"/>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l="48270" r="1730"/>
          <a:stretch/>
        </p:blipFill>
        <p:spPr>
          <a:xfrm>
            <a:off x="4184799" y="3780210"/>
            <a:ext cx="274149" cy="548297"/>
          </a:xfrm>
          <a:prstGeom prst="rect">
            <a:avLst/>
          </a:prstGeom>
        </p:spPr>
      </p:pic>
    </p:spTree>
    <p:extLst>
      <p:ext uri="{BB962C8B-B14F-4D97-AF65-F5344CB8AC3E}">
        <p14:creationId xmlns:p14="http://schemas.microsoft.com/office/powerpoint/2010/main" val="3006384192"/>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84850EB-D31B-E033-A3B3-2D6EE4580EAE}"/>
              </a:ext>
            </a:extLst>
          </p:cNvPr>
          <p:cNvSpPr>
            <a:spLocks noGrp="1"/>
          </p:cNvSpPr>
          <p:nvPr>
            <p:ph type="title"/>
          </p:nvPr>
        </p:nvSpPr>
        <p:spPr>
          <a:xfrm>
            <a:off x="1375794" y="365125"/>
            <a:ext cx="9978006" cy="1325563"/>
          </a:xfrm>
        </p:spPr>
        <p:txBody>
          <a:bodyPr/>
          <a:lstStyle/>
          <a:p>
            <a:r>
              <a:rPr lang="fr-FR" dirty="0"/>
              <a:t>Pourquoi des cycles et pas « une bonne fois pour toutes » ?</a:t>
            </a:r>
          </a:p>
        </p:txBody>
      </p:sp>
      <p:sp>
        <p:nvSpPr>
          <p:cNvPr id="3" name="Espace réservé du contenu 2">
            <a:extLst>
              <a:ext uri="{FF2B5EF4-FFF2-40B4-BE49-F238E27FC236}">
                <a16:creationId xmlns:a16="http://schemas.microsoft.com/office/drawing/2014/main" id="{0869D4AD-DAEE-632C-0F22-ADFA8597C796}"/>
              </a:ext>
            </a:extLst>
          </p:cNvPr>
          <p:cNvSpPr>
            <a:spLocks noGrp="1"/>
          </p:cNvSpPr>
          <p:nvPr>
            <p:ph idx="1"/>
          </p:nvPr>
        </p:nvSpPr>
        <p:spPr>
          <a:xfrm>
            <a:off x="5219701" y="1962150"/>
            <a:ext cx="2762250" cy="4076700"/>
          </a:xfrm>
          <a:solidFill>
            <a:srgbClr val="54FFB3"/>
          </a:solidFill>
        </p:spPr>
        <p:txBody>
          <a:bodyPr>
            <a:normAutofit/>
          </a:bodyPr>
          <a:lstStyle/>
          <a:p>
            <a:pPr marL="0" indent="0">
              <a:buNone/>
            </a:pPr>
            <a:r>
              <a:rPr lang="fr-FR" sz="1600" b="1" dirty="0"/>
              <a:t>Variation des motivations et blocages dans le temps </a:t>
            </a:r>
            <a:r>
              <a:rPr lang="fr-FR" sz="1600" dirty="0"/>
              <a:t>:</a:t>
            </a:r>
          </a:p>
          <a:p>
            <a:r>
              <a:rPr lang="fr-FR" sz="1600" dirty="0"/>
              <a:t>Selon les circonstances personnelles</a:t>
            </a:r>
          </a:p>
          <a:p>
            <a:r>
              <a:rPr lang="fr-FR" sz="1600" dirty="0"/>
              <a:t>Selon les phases de vie des membres dans l’entreprise </a:t>
            </a:r>
          </a:p>
          <a:p>
            <a:r>
              <a:rPr lang="fr-FR" sz="1600" dirty="0"/>
              <a:t>Changement du contexte d’entreprise (et des respirations)</a:t>
            </a:r>
          </a:p>
          <a:p>
            <a:r>
              <a:rPr lang="fr-FR" sz="1600" dirty="0"/>
              <a:t>Effets saisonniers ou ponctuels</a:t>
            </a:r>
          </a:p>
          <a:p>
            <a:endParaRPr lang="fr-FR" sz="1600" dirty="0"/>
          </a:p>
        </p:txBody>
      </p:sp>
      <p:grpSp>
        <p:nvGrpSpPr>
          <p:cNvPr id="7" name="Groupe 6">
            <a:extLst>
              <a:ext uri="{FF2B5EF4-FFF2-40B4-BE49-F238E27FC236}">
                <a16:creationId xmlns:a16="http://schemas.microsoft.com/office/drawing/2014/main" id="{5BE0A6BE-67D7-7EC8-19E1-595E28F87356}"/>
              </a:ext>
            </a:extLst>
          </p:cNvPr>
          <p:cNvGrpSpPr/>
          <p:nvPr/>
        </p:nvGrpSpPr>
        <p:grpSpPr>
          <a:xfrm>
            <a:off x="415915" y="570219"/>
            <a:ext cx="844570" cy="915374"/>
            <a:chOff x="9771184" y="501063"/>
            <a:chExt cx="2201188" cy="2385724"/>
          </a:xfrm>
        </p:grpSpPr>
        <p:grpSp>
          <p:nvGrpSpPr>
            <p:cNvPr id="8" name="Groupe 7">
              <a:extLst>
                <a:ext uri="{FF2B5EF4-FFF2-40B4-BE49-F238E27FC236}">
                  <a16:creationId xmlns:a16="http://schemas.microsoft.com/office/drawing/2014/main" id="{E5057AC1-E3EB-743C-F54D-089990D4EAB0}"/>
                </a:ext>
              </a:extLst>
            </p:cNvPr>
            <p:cNvGrpSpPr/>
            <p:nvPr/>
          </p:nvGrpSpPr>
          <p:grpSpPr>
            <a:xfrm>
              <a:off x="9771184" y="501063"/>
              <a:ext cx="2201188" cy="2385724"/>
              <a:chOff x="4948467" y="2361639"/>
              <a:chExt cx="2646976" cy="2868885"/>
            </a:xfrm>
          </p:grpSpPr>
          <p:pic>
            <p:nvPicPr>
              <p:cNvPr id="15" name="Graphique 14" descr="Flux de travail avec un remplissage uni">
                <a:extLst>
                  <a:ext uri="{FF2B5EF4-FFF2-40B4-BE49-F238E27FC236}">
                    <a16:creationId xmlns:a16="http://schemas.microsoft.com/office/drawing/2014/main" id="{A0B04F81-4E93-1727-1928-86214AA7B23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16" name="Graphique 15" descr="Flux de travail avec un remplissage uni">
                <a:extLst>
                  <a:ext uri="{FF2B5EF4-FFF2-40B4-BE49-F238E27FC236}">
                    <a16:creationId xmlns:a16="http://schemas.microsoft.com/office/drawing/2014/main" id="{E20FA527-5655-D1D9-8FE7-38C461AD008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9" name="Graphique 8" descr="Panneau de signalisation avec un remplissage uni">
              <a:extLst>
                <a:ext uri="{FF2B5EF4-FFF2-40B4-BE49-F238E27FC236}">
                  <a16:creationId xmlns:a16="http://schemas.microsoft.com/office/drawing/2014/main" id="{2B0E91C3-2215-B2D9-9916-81BD8E1945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357885" y="605752"/>
              <a:ext cx="581454" cy="581454"/>
            </a:xfrm>
            <a:prstGeom prst="rect">
              <a:avLst/>
            </a:prstGeom>
          </p:spPr>
        </p:pic>
        <p:pic>
          <p:nvPicPr>
            <p:cNvPr id="10" name="Graphique 9" descr="Signe pouce en haut avec un remplissage uni">
              <a:extLst>
                <a:ext uri="{FF2B5EF4-FFF2-40B4-BE49-F238E27FC236}">
                  <a16:creationId xmlns:a16="http://schemas.microsoft.com/office/drawing/2014/main" id="{DB10C13B-827C-8E64-742A-9FC2D734A9E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3043" y="2137783"/>
              <a:ext cx="597064" cy="597064"/>
            </a:xfrm>
            <a:prstGeom prst="rect">
              <a:avLst/>
            </a:prstGeom>
          </p:spPr>
        </p:pic>
        <p:grpSp>
          <p:nvGrpSpPr>
            <p:cNvPr id="11" name="Groupe 10">
              <a:extLst>
                <a:ext uri="{FF2B5EF4-FFF2-40B4-BE49-F238E27FC236}">
                  <a16:creationId xmlns:a16="http://schemas.microsoft.com/office/drawing/2014/main" id="{735B51EB-F387-8B2F-9612-D1A48815255B}"/>
                </a:ext>
              </a:extLst>
            </p:cNvPr>
            <p:cNvGrpSpPr/>
            <p:nvPr/>
          </p:nvGrpSpPr>
          <p:grpSpPr>
            <a:xfrm rot="16200000">
              <a:off x="9922049" y="721026"/>
              <a:ext cx="461197" cy="350906"/>
              <a:chOff x="1499428" y="3098753"/>
              <a:chExt cx="474208" cy="322063"/>
            </a:xfrm>
          </p:grpSpPr>
          <p:sp>
            <p:nvSpPr>
              <p:cNvPr id="13" name="Flèche : bas 12">
                <a:extLst>
                  <a:ext uri="{FF2B5EF4-FFF2-40B4-BE49-F238E27FC236}">
                    <a16:creationId xmlns:a16="http://schemas.microsoft.com/office/drawing/2014/main" id="{D3E911FE-19BC-7CD5-6156-16CEF88FB027}"/>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4" name="Flèche : bas 13">
                <a:extLst>
                  <a:ext uri="{FF2B5EF4-FFF2-40B4-BE49-F238E27FC236}">
                    <a16:creationId xmlns:a16="http://schemas.microsoft.com/office/drawing/2014/main" id="{AF067DCB-2DD7-BCCB-88FE-E93510A0E34D}"/>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12" name="Graphique 11" descr="Cause à effet avec un remplissage uni">
              <a:extLst>
                <a:ext uri="{FF2B5EF4-FFF2-40B4-BE49-F238E27FC236}">
                  <a16:creationId xmlns:a16="http://schemas.microsoft.com/office/drawing/2014/main" id="{F7C936A3-9F7A-E267-C378-A900ED0054A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342276" y="2137783"/>
              <a:ext cx="597063" cy="597063"/>
            </a:xfrm>
            <a:prstGeom prst="rect">
              <a:avLst/>
            </a:prstGeom>
          </p:spPr>
        </p:pic>
      </p:grpSp>
      <p:sp>
        <p:nvSpPr>
          <p:cNvPr id="17" name="Espace réservé du contenu 2">
            <a:extLst>
              <a:ext uri="{FF2B5EF4-FFF2-40B4-BE49-F238E27FC236}">
                <a16:creationId xmlns:a16="http://schemas.microsoft.com/office/drawing/2014/main" id="{94F15B8F-CB71-690A-9264-2A91D24D7323}"/>
              </a:ext>
            </a:extLst>
          </p:cNvPr>
          <p:cNvSpPr txBox="1">
            <a:spLocks/>
          </p:cNvSpPr>
          <p:nvPr/>
        </p:nvSpPr>
        <p:spPr>
          <a:xfrm>
            <a:off x="8420101" y="1962150"/>
            <a:ext cx="2762250" cy="4076700"/>
          </a:xfrm>
          <a:prstGeom prst="rect">
            <a:avLst/>
          </a:prstGeom>
          <a:solidFill>
            <a:schemeClr val="bg1">
              <a:lumMod val="7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t>Limites opérationnelles </a:t>
            </a:r>
          </a:p>
          <a:p>
            <a:r>
              <a:rPr lang="fr-FR" sz="1600" dirty="0"/>
              <a:t>Capacité de renseignement limitée</a:t>
            </a:r>
          </a:p>
          <a:p>
            <a:r>
              <a:rPr lang="fr-FR" sz="1600" dirty="0"/>
              <a:t>Capacité d’idéation ou de décision limitée</a:t>
            </a:r>
          </a:p>
          <a:p>
            <a:r>
              <a:rPr lang="fr-FR" sz="1600" dirty="0"/>
              <a:t>Apparition de nouvelles opportunités d’actions (nouveaux outils, événements, contenus possibles, …)</a:t>
            </a:r>
          </a:p>
          <a:p>
            <a:r>
              <a:rPr lang="fr-FR" sz="1600" dirty="0"/>
              <a:t>Apparition de nouveaux modèles et dimensions de décisions</a:t>
            </a:r>
          </a:p>
          <a:p>
            <a:r>
              <a:rPr lang="fr-FR" sz="1600" dirty="0"/>
              <a:t>Effet d’impatience (Trop d’attente de concrétisation)</a:t>
            </a:r>
          </a:p>
          <a:p>
            <a:pPr marL="0" indent="0">
              <a:buFont typeface="Arial" panose="020B0604020202020204" pitchFamily="34" charset="0"/>
              <a:buNone/>
            </a:pPr>
            <a:endParaRPr lang="fr-FR" sz="1600" dirty="0"/>
          </a:p>
        </p:txBody>
      </p:sp>
      <p:sp>
        <p:nvSpPr>
          <p:cNvPr id="18" name="Espace réservé du contenu 2">
            <a:extLst>
              <a:ext uri="{FF2B5EF4-FFF2-40B4-BE49-F238E27FC236}">
                <a16:creationId xmlns:a16="http://schemas.microsoft.com/office/drawing/2014/main" id="{AC8CDAE5-4177-75F4-337A-12D12DD7FB8D}"/>
              </a:ext>
            </a:extLst>
          </p:cNvPr>
          <p:cNvSpPr txBox="1">
            <a:spLocks/>
          </p:cNvSpPr>
          <p:nvPr/>
        </p:nvSpPr>
        <p:spPr>
          <a:xfrm>
            <a:off x="838200" y="1962150"/>
            <a:ext cx="4019550" cy="404324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fr-FR" sz="1600" dirty="0"/>
              <a:t>Avec l’expérience en Communautés d’entreprise ou la connaissance de son terrain, il peut être tentant d’envisager une définition « parfaite » d’une Communauté, avec un plan d’action entièrement préconstruit. </a:t>
            </a:r>
          </a:p>
          <a:p>
            <a:pPr marL="0" indent="0">
              <a:buNone/>
            </a:pPr>
            <a:endParaRPr lang="fr-FR" sz="1600" dirty="0"/>
          </a:p>
          <a:p>
            <a:pPr marL="0" indent="0">
              <a:buNone/>
            </a:pPr>
            <a:r>
              <a:rPr lang="fr-FR" sz="1600" dirty="0"/>
              <a:t>En dehors du fait qu’une Communauté est tout comme un organisme vivant, évolutive et bien plus complexe qu’une somme de modèles, il existe de nombreuses autres raisons de </a:t>
            </a:r>
            <a:r>
              <a:rPr lang="fr-FR" sz="1600" b="1" dirty="0">
                <a:solidFill>
                  <a:srgbClr val="3494BA"/>
                </a:solidFill>
              </a:rPr>
              <a:t>privilégier le pas-à-pas plutôt qu’une définition intégrale d’un coup</a:t>
            </a:r>
            <a:r>
              <a:rPr lang="fr-FR" sz="1600" dirty="0"/>
              <a:t>.</a:t>
            </a:r>
          </a:p>
          <a:p>
            <a:pPr marL="0" indent="0">
              <a:buNone/>
            </a:pPr>
            <a:endParaRPr lang="fr-FR" sz="1600" dirty="0"/>
          </a:p>
          <a:p>
            <a:pPr marL="0" indent="0">
              <a:buNone/>
            </a:pPr>
            <a:r>
              <a:rPr lang="fr-FR" sz="1600" dirty="0"/>
              <a:t>En voici quelques-unes ci-contre</a:t>
            </a:r>
          </a:p>
          <a:p>
            <a:pPr marL="0" indent="0">
              <a:buNone/>
            </a:pPr>
            <a:endParaRPr lang="fr-FR" sz="1600" dirty="0"/>
          </a:p>
        </p:txBody>
      </p:sp>
      <p:grpSp>
        <p:nvGrpSpPr>
          <p:cNvPr id="5" name="Groupe 4">
            <a:extLst>
              <a:ext uri="{FF2B5EF4-FFF2-40B4-BE49-F238E27FC236}">
                <a16:creationId xmlns:a16="http://schemas.microsoft.com/office/drawing/2014/main" id="{DC5985C1-6A1C-C0C2-397A-A6C3BEFC013E}"/>
              </a:ext>
            </a:extLst>
          </p:cNvPr>
          <p:cNvGrpSpPr/>
          <p:nvPr/>
        </p:nvGrpSpPr>
        <p:grpSpPr>
          <a:xfrm>
            <a:off x="447323" y="6247613"/>
            <a:ext cx="11230352" cy="519627"/>
            <a:chOff x="415915" y="6287781"/>
            <a:chExt cx="11387189" cy="526884"/>
          </a:xfrm>
        </p:grpSpPr>
        <p:grpSp>
          <p:nvGrpSpPr>
            <p:cNvPr id="4" name="Groupe 3">
              <a:extLst>
                <a:ext uri="{FF2B5EF4-FFF2-40B4-BE49-F238E27FC236}">
                  <a16:creationId xmlns:a16="http://schemas.microsoft.com/office/drawing/2014/main" id="{5860C609-E0B6-5EBA-5B72-E784442EE2CA}"/>
                </a:ext>
              </a:extLst>
            </p:cNvPr>
            <p:cNvGrpSpPr/>
            <p:nvPr/>
          </p:nvGrpSpPr>
          <p:grpSpPr>
            <a:xfrm>
              <a:off x="415915" y="6287781"/>
              <a:ext cx="3790950" cy="526884"/>
              <a:chOff x="342900" y="6048984"/>
              <a:chExt cx="5993586" cy="833016"/>
            </a:xfrm>
          </p:grpSpPr>
          <p:pic>
            <p:nvPicPr>
              <p:cNvPr id="20" name="Graphique 19" descr="Flux de travail avec un remplissage uni">
                <a:extLst>
                  <a:ext uri="{FF2B5EF4-FFF2-40B4-BE49-F238E27FC236}">
                    <a16:creationId xmlns:a16="http://schemas.microsoft.com/office/drawing/2014/main" id="{9D078D06-FA9C-748C-F1D2-3E6B250C5B8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61454"/>
              <a:stretch/>
            </p:blipFill>
            <p:spPr>
              <a:xfrm>
                <a:off x="342900" y="6073051"/>
                <a:ext cx="2201188" cy="808949"/>
              </a:xfrm>
              <a:prstGeom prst="rect">
                <a:avLst/>
              </a:prstGeom>
            </p:spPr>
          </p:pic>
          <p:pic>
            <p:nvPicPr>
              <p:cNvPr id="22" name="Graphique 21" descr="Panneau de signalisation avec un remplissage uni">
                <a:extLst>
                  <a:ext uri="{FF2B5EF4-FFF2-40B4-BE49-F238E27FC236}">
                    <a16:creationId xmlns:a16="http://schemas.microsoft.com/office/drawing/2014/main" id="{7485D928-390B-F616-5842-87AFA94B413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929601" y="6200331"/>
                <a:ext cx="581453" cy="581455"/>
              </a:xfrm>
              <a:prstGeom prst="rect">
                <a:avLst/>
              </a:prstGeom>
            </p:spPr>
          </p:pic>
          <p:grpSp>
            <p:nvGrpSpPr>
              <p:cNvPr id="24" name="Groupe 23">
                <a:extLst>
                  <a:ext uri="{FF2B5EF4-FFF2-40B4-BE49-F238E27FC236}">
                    <a16:creationId xmlns:a16="http://schemas.microsoft.com/office/drawing/2014/main" id="{D64262A9-7249-18E4-F15C-731DB05238FA}"/>
                  </a:ext>
                </a:extLst>
              </p:cNvPr>
              <p:cNvGrpSpPr/>
              <p:nvPr/>
            </p:nvGrpSpPr>
            <p:grpSpPr>
              <a:xfrm rot="16200000">
                <a:off x="493765" y="6293014"/>
                <a:ext cx="461197" cy="350906"/>
                <a:chOff x="1499428" y="3098753"/>
                <a:chExt cx="474208" cy="322063"/>
              </a:xfrm>
            </p:grpSpPr>
            <p:sp>
              <p:nvSpPr>
                <p:cNvPr id="25" name="Flèche : bas 24">
                  <a:extLst>
                    <a:ext uri="{FF2B5EF4-FFF2-40B4-BE49-F238E27FC236}">
                      <a16:creationId xmlns:a16="http://schemas.microsoft.com/office/drawing/2014/main" id="{3B688457-D2A7-B366-76BF-B13E37431342}"/>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26" name="Flèche : bas 25">
                  <a:extLst>
                    <a:ext uri="{FF2B5EF4-FFF2-40B4-BE49-F238E27FC236}">
                      <a16:creationId xmlns:a16="http://schemas.microsoft.com/office/drawing/2014/main" id="{55149E7E-B2AA-3141-9C9A-806FC2B4B96A}"/>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37" name="Graphique 36" descr="Flux de travail avec un remplissage uni">
                <a:extLst>
                  <a:ext uri="{FF2B5EF4-FFF2-40B4-BE49-F238E27FC236}">
                    <a16:creationId xmlns:a16="http://schemas.microsoft.com/office/drawing/2014/main" id="{C4685B6B-7526-C9F3-8903-235807FED23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35945" t="11686" r="38094" b="61453"/>
              <a:stretch/>
            </p:blipFill>
            <p:spPr>
              <a:xfrm>
                <a:off x="2515102" y="6048984"/>
                <a:ext cx="781874" cy="808949"/>
              </a:xfrm>
              <a:prstGeom prst="rect">
                <a:avLst/>
              </a:prstGeom>
            </p:spPr>
          </p:pic>
          <p:pic>
            <p:nvPicPr>
              <p:cNvPr id="38" name="Graphique 37" descr="Flux de travail avec un remplissage uni">
                <a:extLst>
                  <a:ext uri="{FF2B5EF4-FFF2-40B4-BE49-F238E27FC236}">
                    <a16:creationId xmlns:a16="http://schemas.microsoft.com/office/drawing/2014/main" id="{E8D435C7-A7B9-AD14-0292-4D95DB7AA0F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37996" b="61454"/>
              <a:stretch/>
            </p:blipFill>
            <p:spPr>
              <a:xfrm>
                <a:off x="3296976" y="6055731"/>
                <a:ext cx="1498234" cy="808949"/>
              </a:xfrm>
              <a:prstGeom prst="rect">
                <a:avLst/>
              </a:prstGeom>
            </p:spPr>
          </p:pic>
          <p:grpSp>
            <p:nvGrpSpPr>
              <p:cNvPr id="39" name="Groupe 38">
                <a:extLst>
                  <a:ext uri="{FF2B5EF4-FFF2-40B4-BE49-F238E27FC236}">
                    <a16:creationId xmlns:a16="http://schemas.microsoft.com/office/drawing/2014/main" id="{719EFF38-61F2-1190-BC42-3BC68FE1135C}"/>
                  </a:ext>
                </a:extLst>
              </p:cNvPr>
              <p:cNvGrpSpPr/>
              <p:nvPr/>
            </p:nvGrpSpPr>
            <p:grpSpPr>
              <a:xfrm rot="5400000">
                <a:off x="5196104" y="5678731"/>
                <a:ext cx="703988" cy="1576776"/>
                <a:chOff x="4964821" y="3334416"/>
                <a:chExt cx="846561" cy="1896107"/>
              </a:xfrm>
            </p:grpSpPr>
            <p:pic>
              <p:nvPicPr>
                <p:cNvPr id="40" name="Graphique 39" descr="Flux de travail avec un remplissage uni">
                  <a:extLst>
                    <a:ext uri="{FF2B5EF4-FFF2-40B4-BE49-F238E27FC236}">
                      <a16:creationId xmlns:a16="http://schemas.microsoft.com/office/drawing/2014/main" id="{C906C4B7-295C-D56C-1630-F5039A9F59B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708" t="38545" r="63917" b="9100"/>
                <a:stretch/>
              </p:blipFill>
              <p:spPr>
                <a:xfrm>
                  <a:off x="4964821" y="3334416"/>
                  <a:ext cx="846561" cy="1896107"/>
                </a:xfrm>
                <a:prstGeom prst="rect">
                  <a:avLst/>
                </a:prstGeom>
              </p:spPr>
            </p:pic>
            <p:pic>
              <p:nvPicPr>
                <p:cNvPr id="41" name="Graphique 40" descr="Flux de travail avec un remplissage uni">
                  <a:extLst>
                    <a:ext uri="{FF2B5EF4-FFF2-40B4-BE49-F238E27FC236}">
                      <a16:creationId xmlns:a16="http://schemas.microsoft.com/office/drawing/2014/main" id="{CE111733-2766-7DDC-61BC-89C05054AF5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42" name="Graphique 41" descr="Signe pouce en haut avec un remplissage uni">
                <a:extLst>
                  <a:ext uri="{FF2B5EF4-FFF2-40B4-BE49-F238E27FC236}">
                    <a16:creationId xmlns:a16="http://schemas.microsoft.com/office/drawing/2014/main" id="{4495CF99-3023-23E5-5936-969AFF5431A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19489" y="6179998"/>
                <a:ext cx="597064" cy="597064"/>
              </a:xfrm>
              <a:prstGeom prst="rect">
                <a:avLst/>
              </a:prstGeom>
            </p:spPr>
          </p:pic>
          <p:pic>
            <p:nvPicPr>
              <p:cNvPr id="43" name="Graphique 42" descr="Cause à effet avec un remplissage uni">
                <a:extLst>
                  <a:ext uri="{FF2B5EF4-FFF2-40B4-BE49-F238E27FC236}">
                    <a16:creationId xmlns:a16="http://schemas.microsoft.com/office/drawing/2014/main" id="{718806EF-269F-7BF5-A9C8-A20C336A55E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421206" y="6201189"/>
                <a:ext cx="503900" cy="503900"/>
              </a:xfrm>
              <a:prstGeom prst="rect">
                <a:avLst/>
              </a:prstGeom>
            </p:spPr>
          </p:pic>
        </p:grpSp>
        <p:grpSp>
          <p:nvGrpSpPr>
            <p:cNvPr id="44" name="Groupe 43">
              <a:extLst>
                <a:ext uri="{FF2B5EF4-FFF2-40B4-BE49-F238E27FC236}">
                  <a16:creationId xmlns:a16="http://schemas.microsoft.com/office/drawing/2014/main" id="{220BB4A3-486C-BD38-60B2-14A7B9686868}"/>
                </a:ext>
              </a:extLst>
            </p:cNvPr>
            <p:cNvGrpSpPr/>
            <p:nvPr/>
          </p:nvGrpSpPr>
          <p:grpSpPr>
            <a:xfrm>
              <a:off x="4200525" y="6287781"/>
              <a:ext cx="3790950" cy="526884"/>
              <a:chOff x="342900" y="6048984"/>
              <a:chExt cx="5993586" cy="833016"/>
            </a:xfrm>
          </p:grpSpPr>
          <p:pic>
            <p:nvPicPr>
              <p:cNvPr id="45" name="Graphique 44" descr="Flux de travail avec un remplissage uni">
                <a:extLst>
                  <a:ext uri="{FF2B5EF4-FFF2-40B4-BE49-F238E27FC236}">
                    <a16:creationId xmlns:a16="http://schemas.microsoft.com/office/drawing/2014/main" id="{759CA7AC-C1DC-B1D7-1AD0-B1539A7D795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61454"/>
              <a:stretch/>
            </p:blipFill>
            <p:spPr>
              <a:xfrm>
                <a:off x="342900" y="6073051"/>
                <a:ext cx="2201188" cy="808949"/>
              </a:xfrm>
              <a:prstGeom prst="rect">
                <a:avLst/>
              </a:prstGeom>
            </p:spPr>
          </p:pic>
          <p:pic>
            <p:nvPicPr>
              <p:cNvPr id="46" name="Graphique 45" descr="Panneau de signalisation avec un remplissage uni">
                <a:extLst>
                  <a:ext uri="{FF2B5EF4-FFF2-40B4-BE49-F238E27FC236}">
                    <a16:creationId xmlns:a16="http://schemas.microsoft.com/office/drawing/2014/main" id="{7FD2122E-2720-C6F6-125F-B04AF4443C8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929601" y="6200331"/>
                <a:ext cx="581453" cy="581455"/>
              </a:xfrm>
              <a:prstGeom prst="rect">
                <a:avLst/>
              </a:prstGeom>
            </p:spPr>
          </p:pic>
          <p:grpSp>
            <p:nvGrpSpPr>
              <p:cNvPr id="47" name="Groupe 46">
                <a:extLst>
                  <a:ext uri="{FF2B5EF4-FFF2-40B4-BE49-F238E27FC236}">
                    <a16:creationId xmlns:a16="http://schemas.microsoft.com/office/drawing/2014/main" id="{95046CBD-BB08-6EA4-CA8E-B452EF0B4E3C}"/>
                  </a:ext>
                </a:extLst>
              </p:cNvPr>
              <p:cNvGrpSpPr/>
              <p:nvPr/>
            </p:nvGrpSpPr>
            <p:grpSpPr>
              <a:xfrm rot="16200000">
                <a:off x="493765" y="6293014"/>
                <a:ext cx="461197" cy="350906"/>
                <a:chOff x="1499428" y="3098753"/>
                <a:chExt cx="474208" cy="322063"/>
              </a:xfrm>
            </p:grpSpPr>
            <p:sp>
              <p:nvSpPr>
                <p:cNvPr id="55" name="Flèche : bas 54">
                  <a:extLst>
                    <a:ext uri="{FF2B5EF4-FFF2-40B4-BE49-F238E27FC236}">
                      <a16:creationId xmlns:a16="http://schemas.microsoft.com/office/drawing/2014/main" id="{B561D43B-C4B6-FD88-3B2D-6FD254F437F0}"/>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56" name="Flèche : bas 55">
                  <a:extLst>
                    <a:ext uri="{FF2B5EF4-FFF2-40B4-BE49-F238E27FC236}">
                      <a16:creationId xmlns:a16="http://schemas.microsoft.com/office/drawing/2014/main" id="{B357C7F7-2166-0C9F-2A5D-E4CE3227037F}"/>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48" name="Graphique 47" descr="Flux de travail avec un remplissage uni">
                <a:extLst>
                  <a:ext uri="{FF2B5EF4-FFF2-40B4-BE49-F238E27FC236}">
                    <a16:creationId xmlns:a16="http://schemas.microsoft.com/office/drawing/2014/main" id="{AD3C09A4-D544-42BA-2166-9A7F1047580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35945" t="11686" r="38094" b="61453"/>
              <a:stretch/>
            </p:blipFill>
            <p:spPr>
              <a:xfrm>
                <a:off x="2515102" y="6048984"/>
                <a:ext cx="781874" cy="808949"/>
              </a:xfrm>
              <a:prstGeom prst="rect">
                <a:avLst/>
              </a:prstGeom>
            </p:spPr>
          </p:pic>
          <p:pic>
            <p:nvPicPr>
              <p:cNvPr id="49" name="Graphique 48" descr="Flux de travail avec un remplissage uni">
                <a:extLst>
                  <a:ext uri="{FF2B5EF4-FFF2-40B4-BE49-F238E27FC236}">
                    <a16:creationId xmlns:a16="http://schemas.microsoft.com/office/drawing/2014/main" id="{78998F18-A90C-B4C3-01B5-7B9E0C94D84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37996" b="61454"/>
              <a:stretch/>
            </p:blipFill>
            <p:spPr>
              <a:xfrm>
                <a:off x="3296976" y="6055731"/>
                <a:ext cx="1498234" cy="808949"/>
              </a:xfrm>
              <a:prstGeom prst="rect">
                <a:avLst/>
              </a:prstGeom>
            </p:spPr>
          </p:pic>
          <p:grpSp>
            <p:nvGrpSpPr>
              <p:cNvPr id="50" name="Groupe 49">
                <a:extLst>
                  <a:ext uri="{FF2B5EF4-FFF2-40B4-BE49-F238E27FC236}">
                    <a16:creationId xmlns:a16="http://schemas.microsoft.com/office/drawing/2014/main" id="{65D54AE7-F628-0A99-B453-964D93A9F83B}"/>
                  </a:ext>
                </a:extLst>
              </p:cNvPr>
              <p:cNvGrpSpPr/>
              <p:nvPr/>
            </p:nvGrpSpPr>
            <p:grpSpPr>
              <a:xfrm rot="5400000">
                <a:off x="5196104" y="5678731"/>
                <a:ext cx="703988" cy="1576776"/>
                <a:chOff x="4964821" y="3334416"/>
                <a:chExt cx="846561" cy="1896107"/>
              </a:xfrm>
            </p:grpSpPr>
            <p:pic>
              <p:nvPicPr>
                <p:cNvPr id="53" name="Graphique 52" descr="Flux de travail avec un remplissage uni">
                  <a:extLst>
                    <a:ext uri="{FF2B5EF4-FFF2-40B4-BE49-F238E27FC236}">
                      <a16:creationId xmlns:a16="http://schemas.microsoft.com/office/drawing/2014/main" id="{BAE7DDF7-6568-EB5F-F574-005FB2256E3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708" t="38545" r="63917" b="9100"/>
                <a:stretch/>
              </p:blipFill>
              <p:spPr>
                <a:xfrm>
                  <a:off x="4964821" y="3334416"/>
                  <a:ext cx="846561" cy="1896107"/>
                </a:xfrm>
                <a:prstGeom prst="rect">
                  <a:avLst/>
                </a:prstGeom>
              </p:spPr>
            </p:pic>
            <p:pic>
              <p:nvPicPr>
                <p:cNvPr id="54" name="Graphique 53" descr="Flux de travail avec un remplissage uni">
                  <a:extLst>
                    <a:ext uri="{FF2B5EF4-FFF2-40B4-BE49-F238E27FC236}">
                      <a16:creationId xmlns:a16="http://schemas.microsoft.com/office/drawing/2014/main" id="{12D9A835-C051-DD47-9ED2-9B361FB03FE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51" name="Graphique 50" descr="Signe pouce en haut avec un remplissage uni">
                <a:extLst>
                  <a:ext uri="{FF2B5EF4-FFF2-40B4-BE49-F238E27FC236}">
                    <a16:creationId xmlns:a16="http://schemas.microsoft.com/office/drawing/2014/main" id="{1C5D7BC4-CFC1-EE80-B0E7-2BAB92F13A6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19489" y="6179998"/>
                <a:ext cx="597064" cy="597064"/>
              </a:xfrm>
              <a:prstGeom prst="rect">
                <a:avLst/>
              </a:prstGeom>
            </p:spPr>
          </p:pic>
          <p:pic>
            <p:nvPicPr>
              <p:cNvPr id="52" name="Graphique 51" descr="Cause à effet avec un remplissage uni">
                <a:extLst>
                  <a:ext uri="{FF2B5EF4-FFF2-40B4-BE49-F238E27FC236}">
                    <a16:creationId xmlns:a16="http://schemas.microsoft.com/office/drawing/2014/main" id="{0CA8EB6B-E4A8-E3AA-0861-ED2C0F1C3D2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421206" y="6201189"/>
                <a:ext cx="503900" cy="503900"/>
              </a:xfrm>
              <a:prstGeom prst="rect">
                <a:avLst/>
              </a:prstGeom>
            </p:spPr>
          </p:pic>
        </p:grpSp>
        <p:grpSp>
          <p:nvGrpSpPr>
            <p:cNvPr id="57" name="Groupe 56">
              <a:extLst>
                <a:ext uri="{FF2B5EF4-FFF2-40B4-BE49-F238E27FC236}">
                  <a16:creationId xmlns:a16="http://schemas.microsoft.com/office/drawing/2014/main" id="{89DD78B9-33A9-6E12-EA0F-2545E78885D7}"/>
                </a:ext>
              </a:extLst>
            </p:cNvPr>
            <p:cNvGrpSpPr/>
            <p:nvPr/>
          </p:nvGrpSpPr>
          <p:grpSpPr>
            <a:xfrm>
              <a:off x="8012154" y="6287781"/>
              <a:ext cx="3790950" cy="526884"/>
              <a:chOff x="342900" y="6048984"/>
              <a:chExt cx="5993586" cy="833016"/>
            </a:xfrm>
          </p:grpSpPr>
          <p:pic>
            <p:nvPicPr>
              <p:cNvPr id="58" name="Graphique 57" descr="Flux de travail avec un remplissage uni">
                <a:extLst>
                  <a:ext uri="{FF2B5EF4-FFF2-40B4-BE49-F238E27FC236}">
                    <a16:creationId xmlns:a16="http://schemas.microsoft.com/office/drawing/2014/main" id="{D22870B9-15FE-A88C-09A7-61D67632CBB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61454"/>
              <a:stretch/>
            </p:blipFill>
            <p:spPr>
              <a:xfrm>
                <a:off x="342900" y="6073051"/>
                <a:ext cx="2201188" cy="808949"/>
              </a:xfrm>
              <a:prstGeom prst="rect">
                <a:avLst/>
              </a:prstGeom>
            </p:spPr>
          </p:pic>
          <p:pic>
            <p:nvPicPr>
              <p:cNvPr id="59" name="Graphique 58" descr="Panneau de signalisation avec un remplissage uni">
                <a:extLst>
                  <a:ext uri="{FF2B5EF4-FFF2-40B4-BE49-F238E27FC236}">
                    <a16:creationId xmlns:a16="http://schemas.microsoft.com/office/drawing/2014/main" id="{F8A87748-06FA-B54C-FB8A-43D4CC14B05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929601" y="6200331"/>
                <a:ext cx="581453" cy="581455"/>
              </a:xfrm>
              <a:prstGeom prst="rect">
                <a:avLst/>
              </a:prstGeom>
            </p:spPr>
          </p:pic>
          <p:grpSp>
            <p:nvGrpSpPr>
              <p:cNvPr id="60" name="Groupe 59">
                <a:extLst>
                  <a:ext uri="{FF2B5EF4-FFF2-40B4-BE49-F238E27FC236}">
                    <a16:creationId xmlns:a16="http://schemas.microsoft.com/office/drawing/2014/main" id="{72DA69E7-5EAD-FE8B-24AB-588104204A15}"/>
                  </a:ext>
                </a:extLst>
              </p:cNvPr>
              <p:cNvGrpSpPr/>
              <p:nvPr/>
            </p:nvGrpSpPr>
            <p:grpSpPr>
              <a:xfrm rot="16200000">
                <a:off x="493765" y="6293014"/>
                <a:ext cx="461197" cy="350906"/>
                <a:chOff x="1499428" y="3098753"/>
                <a:chExt cx="474208" cy="322063"/>
              </a:xfrm>
            </p:grpSpPr>
            <p:sp>
              <p:nvSpPr>
                <p:cNvPr id="68" name="Flèche : bas 67">
                  <a:extLst>
                    <a:ext uri="{FF2B5EF4-FFF2-40B4-BE49-F238E27FC236}">
                      <a16:creationId xmlns:a16="http://schemas.microsoft.com/office/drawing/2014/main" id="{D7386400-3DCD-2DC5-9ABB-000829523499}"/>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69" name="Flèche : bas 68">
                  <a:extLst>
                    <a:ext uri="{FF2B5EF4-FFF2-40B4-BE49-F238E27FC236}">
                      <a16:creationId xmlns:a16="http://schemas.microsoft.com/office/drawing/2014/main" id="{8E0E8827-5FF3-D705-960E-2455CC13C870}"/>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61" name="Graphique 60" descr="Flux de travail avec un remplissage uni">
                <a:extLst>
                  <a:ext uri="{FF2B5EF4-FFF2-40B4-BE49-F238E27FC236}">
                    <a16:creationId xmlns:a16="http://schemas.microsoft.com/office/drawing/2014/main" id="{7B9204E0-7EB3-C91B-EE39-A795679C094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35945" t="11686" r="38094" b="61453"/>
              <a:stretch/>
            </p:blipFill>
            <p:spPr>
              <a:xfrm>
                <a:off x="2515102" y="6048984"/>
                <a:ext cx="781874" cy="808949"/>
              </a:xfrm>
              <a:prstGeom prst="rect">
                <a:avLst/>
              </a:prstGeom>
            </p:spPr>
          </p:pic>
          <p:pic>
            <p:nvPicPr>
              <p:cNvPr id="62" name="Graphique 61" descr="Flux de travail avec un remplissage uni">
                <a:extLst>
                  <a:ext uri="{FF2B5EF4-FFF2-40B4-BE49-F238E27FC236}">
                    <a16:creationId xmlns:a16="http://schemas.microsoft.com/office/drawing/2014/main" id="{5100F416-8B63-1AA8-7BC4-F98CE9CB9E2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37996" b="61454"/>
              <a:stretch/>
            </p:blipFill>
            <p:spPr>
              <a:xfrm>
                <a:off x="3296976" y="6055731"/>
                <a:ext cx="1498234" cy="808949"/>
              </a:xfrm>
              <a:prstGeom prst="rect">
                <a:avLst/>
              </a:prstGeom>
            </p:spPr>
          </p:pic>
          <p:grpSp>
            <p:nvGrpSpPr>
              <p:cNvPr id="63" name="Groupe 62">
                <a:extLst>
                  <a:ext uri="{FF2B5EF4-FFF2-40B4-BE49-F238E27FC236}">
                    <a16:creationId xmlns:a16="http://schemas.microsoft.com/office/drawing/2014/main" id="{ECF38FD1-A089-2AE0-5AA6-4DF46305A2E3}"/>
                  </a:ext>
                </a:extLst>
              </p:cNvPr>
              <p:cNvGrpSpPr/>
              <p:nvPr/>
            </p:nvGrpSpPr>
            <p:grpSpPr>
              <a:xfrm rot="5400000">
                <a:off x="5196104" y="5678731"/>
                <a:ext cx="703988" cy="1576776"/>
                <a:chOff x="4964821" y="3334416"/>
                <a:chExt cx="846561" cy="1896107"/>
              </a:xfrm>
            </p:grpSpPr>
            <p:pic>
              <p:nvPicPr>
                <p:cNvPr id="66" name="Graphique 65" descr="Flux de travail avec un remplissage uni">
                  <a:extLst>
                    <a:ext uri="{FF2B5EF4-FFF2-40B4-BE49-F238E27FC236}">
                      <a16:creationId xmlns:a16="http://schemas.microsoft.com/office/drawing/2014/main" id="{3EF84814-25B4-BB90-7DFB-82A8058117C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708" t="38545" r="63917" b="9100"/>
                <a:stretch/>
              </p:blipFill>
              <p:spPr>
                <a:xfrm>
                  <a:off x="4964821" y="3334416"/>
                  <a:ext cx="846561" cy="1896107"/>
                </a:xfrm>
                <a:prstGeom prst="rect">
                  <a:avLst/>
                </a:prstGeom>
              </p:spPr>
            </p:pic>
            <p:pic>
              <p:nvPicPr>
                <p:cNvPr id="67" name="Graphique 66" descr="Flux de travail avec un remplissage uni">
                  <a:extLst>
                    <a:ext uri="{FF2B5EF4-FFF2-40B4-BE49-F238E27FC236}">
                      <a16:creationId xmlns:a16="http://schemas.microsoft.com/office/drawing/2014/main" id="{A7D21B90-8C4B-99EF-6785-E08978F7C7B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64" name="Graphique 63" descr="Signe pouce en haut avec un remplissage uni">
                <a:extLst>
                  <a:ext uri="{FF2B5EF4-FFF2-40B4-BE49-F238E27FC236}">
                    <a16:creationId xmlns:a16="http://schemas.microsoft.com/office/drawing/2014/main" id="{982F13F6-0BD8-3E0E-8065-B4669AA0010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19489" y="6179998"/>
                <a:ext cx="597064" cy="597064"/>
              </a:xfrm>
              <a:prstGeom prst="rect">
                <a:avLst/>
              </a:prstGeom>
            </p:spPr>
          </p:pic>
          <p:pic>
            <p:nvPicPr>
              <p:cNvPr id="65" name="Graphique 64" descr="Cause à effet avec un remplissage uni">
                <a:extLst>
                  <a:ext uri="{FF2B5EF4-FFF2-40B4-BE49-F238E27FC236}">
                    <a16:creationId xmlns:a16="http://schemas.microsoft.com/office/drawing/2014/main" id="{CE29E5D6-4E30-8B52-75B3-0EA428AF6ED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421206" y="6201189"/>
                <a:ext cx="503900" cy="503900"/>
              </a:xfrm>
              <a:prstGeom prst="rect">
                <a:avLst/>
              </a:prstGeom>
            </p:spPr>
          </p:pic>
        </p:grpSp>
      </p:grpSp>
    </p:spTree>
    <p:extLst>
      <p:ext uri="{BB962C8B-B14F-4D97-AF65-F5344CB8AC3E}">
        <p14:creationId xmlns:p14="http://schemas.microsoft.com/office/powerpoint/2010/main" val="3704318475"/>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Espace réservé du contenu 2">
            <a:extLst>
              <a:ext uri="{FF2B5EF4-FFF2-40B4-BE49-F238E27FC236}">
                <a16:creationId xmlns:a16="http://schemas.microsoft.com/office/drawing/2014/main" id="{EE36934D-AE2D-FB24-2FB6-F5A92AE7A893}"/>
              </a:ext>
            </a:extLst>
          </p:cNvPr>
          <p:cNvSpPr txBox="1">
            <a:spLocks/>
          </p:cNvSpPr>
          <p:nvPr/>
        </p:nvSpPr>
        <p:spPr>
          <a:xfrm>
            <a:off x="104584" y="2113583"/>
            <a:ext cx="3050479" cy="4644199"/>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fr-FR" sz="1600" dirty="0"/>
              <a:t>Une Communauté a besoin de temps pour expérimenter les nouvelles actions issues de ses différents diagnostics et priorisations.</a:t>
            </a:r>
          </a:p>
          <a:p>
            <a:pPr marL="0" indent="0">
              <a:buNone/>
            </a:pPr>
            <a:endParaRPr lang="fr-FR" sz="1600" dirty="0"/>
          </a:p>
          <a:p>
            <a:pPr marL="0" indent="0">
              <a:buNone/>
            </a:pPr>
            <a:r>
              <a:rPr lang="fr-FR" sz="1600" dirty="0"/>
              <a:t>Selon différents paramètres (fréquence à laquelle la Communauté se retrouve, durée des actions, etc.), chaque cycle d’ajustement aura une durée.</a:t>
            </a:r>
          </a:p>
          <a:p>
            <a:pPr marL="0" indent="0">
              <a:buNone/>
            </a:pPr>
            <a:endParaRPr lang="fr-FR" sz="1600" dirty="0"/>
          </a:p>
          <a:p>
            <a:pPr marL="0" indent="0">
              <a:buNone/>
            </a:pPr>
            <a:r>
              <a:rPr lang="fr-FR" sz="1600" dirty="0"/>
              <a:t>Démarrer des cycles d’ajustement trop souvent ou essayer d’en faire des trop courts ne laisse pas le temps de confirmer la valeur, et mène au chaos.</a:t>
            </a:r>
          </a:p>
          <a:p>
            <a:pPr marL="0" indent="0">
              <a:buNone/>
            </a:pPr>
            <a:endParaRPr lang="fr-FR" sz="1600" dirty="0"/>
          </a:p>
          <a:p>
            <a:pPr marL="0" indent="0">
              <a:buNone/>
            </a:pPr>
            <a:r>
              <a:rPr lang="fr-FR" sz="1600" dirty="0"/>
              <a:t>Des cycles d’ajustement trop peu fréquents ou trop longs mènent à un risque d’ennui, de blocage / pressions / tensions qui durent et de fatigue (voir d’abandon)</a:t>
            </a:r>
          </a:p>
        </p:txBody>
      </p:sp>
      <p:sp>
        <p:nvSpPr>
          <p:cNvPr id="2" name="Titre 1">
            <a:extLst>
              <a:ext uri="{FF2B5EF4-FFF2-40B4-BE49-F238E27FC236}">
                <a16:creationId xmlns:a16="http://schemas.microsoft.com/office/drawing/2014/main" id="{084DCD44-F6F6-A541-D387-389A216D75B4}"/>
              </a:ext>
            </a:extLst>
          </p:cNvPr>
          <p:cNvSpPr>
            <a:spLocks noGrp="1"/>
          </p:cNvSpPr>
          <p:nvPr>
            <p:ph type="title"/>
          </p:nvPr>
        </p:nvSpPr>
        <p:spPr>
          <a:xfrm>
            <a:off x="1396372" y="365125"/>
            <a:ext cx="9957427" cy="1325563"/>
          </a:xfrm>
        </p:spPr>
        <p:txBody>
          <a:bodyPr>
            <a:normAutofit/>
          </a:bodyPr>
          <a:lstStyle/>
          <a:p>
            <a:r>
              <a:rPr lang="fr-FR" sz="4000" dirty="0"/>
              <a:t>Timing des cycles d’ajustements</a:t>
            </a:r>
            <a:br>
              <a:rPr lang="fr-FR" sz="4000" dirty="0"/>
            </a:br>
            <a:r>
              <a:rPr lang="fr-FR" sz="4000" dirty="0"/>
              <a:t>Les étapes du vécu de valeur</a:t>
            </a:r>
          </a:p>
        </p:txBody>
      </p:sp>
      <p:grpSp>
        <p:nvGrpSpPr>
          <p:cNvPr id="4" name="Groupe 3">
            <a:extLst>
              <a:ext uri="{FF2B5EF4-FFF2-40B4-BE49-F238E27FC236}">
                <a16:creationId xmlns:a16="http://schemas.microsoft.com/office/drawing/2014/main" id="{68F473DD-0BE5-DC5B-1021-2A47A24563DB}"/>
              </a:ext>
            </a:extLst>
          </p:cNvPr>
          <p:cNvGrpSpPr/>
          <p:nvPr/>
        </p:nvGrpSpPr>
        <p:grpSpPr>
          <a:xfrm>
            <a:off x="415915" y="570219"/>
            <a:ext cx="844570" cy="915374"/>
            <a:chOff x="9771184" y="501063"/>
            <a:chExt cx="2201188" cy="2385724"/>
          </a:xfrm>
        </p:grpSpPr>
        <p:grpSp>
          <p:nvGrpSpPr>
            <p:cNvPr id="5" name="Groupe 4">
              <a:extLst>
                <a:ext uri="{FF2B5EF4-FFF2-40B4-BE49-F238E27FC236}">
                  <a16:creationId xmlns:a16="http://schemas.microsoft.com/office/drawing/2014/main" id="{87E2DD41-84FE-5F16-9126-B6BE2B38428D}"/>
                </a:ext>
              </a:extLst>
            </p:cNvPr>
            <p:cNvGrpSpPr/>
            <p:nvPr/>
          </p:nvGrpSpPr>
          <p:grpSpPr>
            <a:xfrm>
              <a:off x="9771184" y="501063"/>
              <a:ext cx="2201188" cy="2385724"/>
              <a:chOff x="4948467" y="2361639"/>
              <a:chExt cx="2646976" cy="2868885"/>
            </a:xfrm>
          </p:grpSpPr>
          <p:pic>
            <p:nvPicPr>
              <p:cNvPr id="12" name="Graphique 11" descr="Flux de travail avec un remplissage uni">
                <a:extLst>
                  <a:ext uri="{FF2B5EF4-FFF2-40B4-BE49-F238E27FC236}">
                    <a16:creationId xmlns:a16="http://schemas.microsoft.com/office/drawing/2014/main" id="{6080C13D-7FAC-5A21-FB06-6F5C84BE81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13" name="Graphique 12" descr="Flux de travail avec un remplissage uni">
                <a:extLst>
                  <a:ext uri="{FF2B5EF4-FFF2-40B4-BE49-F238E27FC236}">
                    <a16:creationId xmlns:a16="http://schemas.microsoft.com/office/drawing/2014/main" id="{FC19A64B-34ED-FC9E-60BF-756473EAB2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6" name="Graphique 5" descr="Panneau de signalisation avec un remplissage uni">
              <a:extLst>
                <a:ext uri="{FF2B5EF4-FFF2-40B4-BE49-F238E27FC236}">
                  <a16:creationId xmlns:a16="http://schemas.microsoft.com/office/drawing/2014/main" id="{0EDB414E-D98C-CF50-9138-23EE8A02BAC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357885" y="605752"/>
              <a:ext cx="581454" cy="581454"/>
            </a:xfrm>
            <a:prstGeom prst="rect">
              <a:avLst/>
            </a:prstGeom>
          </p:spPr>
        </p:pic>
        <p:pic>
          <p:nvPicPr>
            <p:cNvPr id="7" name="Graphique 6" descr="Signe pouce en haut avec un remplissage uni">
              <a:extLst>
                <a:ext uri="{FF2B5EF4-FFF2-40B4-BE49-F238E27FC236}">
                  <a16:creationId xmlns:a16="http://schemas.microsoft.com/office/drawing/2014/main" id="{C9D5E99C-5762-D05C-BBD2-2F8F0690300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3043" y="2137783"/>
              <a:ext cx="597064" cy="597064"/>
            </a:xfrm>
            <a:prstGeom prst="rect">
              <a:avLst/>
            </a:prstGeom>
          </p:spPr>
        </p:pic>
        <p:grpSp>
          <p:nvGrpSpPr>
            <p:cNvPr id="8" name="Groupe 7">
              <a:extLst>
                <a:ext uri="{FF2B5EF4-FFF2-40B4-BE49-F238E27FC236}">
                  <a16:creationId xmlns:a16="http://schemas.microsoft.com/office/drawing/2014/main" id="{8F3AD604-8FF6-7407-79CA-6F5F8CAA4E31}"/>
                </a:ext>
              </a:extLst>
            </p:cNvPr>
            <p:cNvGrpSpPr/>
            <p:nvPr/>
          </p:nvGrpSpPr>
          <p:grpSpPr>
            <a:xfrm rot="16200000">
              <a:off x="9922049" y="721026"/>
              <a:ext cx="461197" cy="350906"/>
              <a:chOff x="1499428" y="3098753"/>
              <a:chExt cx="474208" cy="322063"/>
            </a:xfrm>
          </p:grpSpPr>
          <p:sp>
            <p:nvSpPr>
              <p:cNvPr id="10" name="Flèche : bas 9">
                <a:extLst>
                  <a:ext uri="{FF2B5EF4-FFF2-40B4-BE49-F238E27FC236}">
                    <a16:creationId xmlns:a16="http://schemas.microsoft.com/office/drawing/2014/main" id="{BCAE01C5-EA5A-DD6F-A035-E585E7116DD1}"/>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1" name="Flèche : bas 10">
                <a:extLst>
                  <a:ext uri="{FF2B5EF4-FFF2-40B4-BE49-F238E27FC236}">
                    <a16:creationId xmlns:a16="http://schemas.microsoft.com/office/drawing/2014/main" id="{FCFF0F2A-52CD-AB3A-469A-E23AB01A3A8F}"/>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9" name="Graphique 8" descr="Cause à effet avec un remplissage uni">
              <a:extLst>
                <a:ext uri="{FF2B5EF4-FFF2-40B4-BE49-F238E27FC236}">
                  <a16:creationId xmlns:a16="http://schemas.microsoft.com/office/drawing/2014/main" id="{F66CCAC6-5F9D-9DBB-195E-17BD90CB578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342276" y="2137783"/>
              <a:ext cx="597063" cy="597063"/>
            </a:xfrm>
            <a:prstGeom prst="rect">
              <a:avLst/>
            </a:prstGeom>
          </p:spPr>
        </p:pic>
      </p:grpSp>
      <p:grpSp>
        <p:nvGrpSpPr>
          <p:cNvPr id="25" name="Groupe 24">
            <a:extLst>
              <a:ext uri="{FF2B5EF4-FFF2-40B4-BE49-F238E27FC236}">
                <a16:creationId xmlns:a16="http://schemas.microsoft.com/office/drawing/2014/main" id="{4EEF511B-06E4-76CE-629B-EDAD659AD24C}"/>
              </a:ext>
            </a:extLst>
          </p:cNvPr>
          <p:cNvGrpSpPr/>
          <p:nvPr/>
        </p:nvGrpSpPr>
        <p:grpSpPr>
          <a:xfrm>
            <a:off x="219167" y="4361405"/>
            <a:ext cx="2504350" cy="167193"/>
            <a:chOff x="415915" y="6287781"/>
            <a:chExt cx="11387189" cy="526884"/>
          </a:xfrm>
        </p:grpSpPr>
        <p:grpSp>
          <p:nvGrpSpPr>
            <p:cNvPr id="26" name="Groupe 25">
              <a:extLst>
                <a:ext uri="{FF2B5EF4-FFF2-40B4-BE49-F238E27FC236}">
                  <a16:creationId xmlns:a16="http://schemas.microsoft.com/office/drawing/2014/main" id="{0C35E394-89CD-529B-8A98-EDDEAB97B700}"/>
                </a:ext>
              </a:extLst>
            </p:cNvPr>
            <p:cNvGrpSpPr/>
            <p:nvPr/>
          </p:nvGrpSpPr>
          <p:grpSpPr>
            <a:xfrm>
              <a:off x="415915" y="6287781"/>
              <a:ext cx="3790950" cy="526884"/>
              <a:chOff x="342900" y="6048984"/>
              <a:chExt cx="5993586" cy="833016"/>
            </a:xfrm>
          </p:grpSpPr>
          <p:pic>
            <p:nvPicPr>
              <p:cNvPr id="53" name="Graphique 52" descr="Flux de travail avec un remplissage uni">
                <a:extLst>
                  <a:ext uri="{FF2B5EF4-FFF2-40B4-BE49-F238E27FC236}">
                    <a16:creationId xmlns:a16="http://schemas.microsoft.com/office/drawing/2014/main" id="{6A2E02A5-8833-F27E-E584-611058B5779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61454"/>
              <a:stretch/>
            </p:blipFill>
            <p:spPr>
              <a:xfrm>
                <a:off x="342900" y="6073051"/>
                <a:ext cx="2201188" cy="808949"/>
              </a:xfrm>
              <a:prstGeom prst="rect">
                <a:avLst/>
              </a:prstGeom>
            </p:spPr>
          </p:pic>
          <p:pic>
            <p:nvPicPr>
              <p:cNvPr id="54" name="Graphique 53" descr="Panneau de signalisation avec un remplissage uni">
                <a:extLst>
                  <a:ext uri="{FF2B5EF4-FFF2-40B4-BE49-F238E27FC236}">
                    <a16:creationId xmlns:a16="http://schemas.microsoft.com/office/drawing/2014/main" id="{033A1DA4-CB6B-8499-29FC-B9E4DF23764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929601" y="6200331"/>
                <a:ext cx="581453" cy="581455"/>
              </a:xfrm>
              <a:prstGeom prst="rect">
                <a:avLst/>
              </a:prstGeom>
            </p:spPr>
          </p:pic>
          <p:grpSp>
            <p:nvGrpSpPr>
              <p:cNvPr id="55" name="Groupe 54">
                <a:extLst>
                  <a:ext uri="{FF2B5EF4-FFF2-40B4-BE49-F238E27FC236}">
                    <a16:creationId xmlns:a16="http://schemas.microsoft.com/office/drawing/2014/main" id="{C4695BC3-8C1E-357A-DD74-93F284A4B4DF}"/>
                  </a:ext>
                </a:extLst>
              </p:cNvPr>
              <p:cNvGrpSpPr/>
              <p:nvPr/>
            </p:nvGrpSpPr>
            <p:grpSpPr>
              <a:xfrm rot="16200000">
                <a:off x="493765" y="6293014"/>
                <a:ext cx="461197" cy="350906"/>
                <a:chOff x="1499428" y="3098753"/>
                <a:chExt cx="474208" cy="322063"/>
              </a:xfrm>
            </p:grpSpPr>
            <p:sp>
              <p:nvSpPr>
                <p:cNvPr id="63" name="Flèche : bas 62">
                  <a:extLst>
                    <a:ext uri="{FF2B5EF4-FFF2-40B4-BE49-F238E27FC236}">
                      <a16:creationId xmlns:a16="http://schemas.microsoft.com/office/drawing/2014/main" id="{A44AD56A-C36F-283E-EBAA-2F2258E1A8AB}"/>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64" name="Flèche : bas 63">
                  <a:extLst>
                    <a:ext uri="{FF2B5EF4-FFF2-40B4-BE49-F238E27FC236}">
                      <a16:creationId xmlns:a16="http://schemas.microsoft.com/office/drawing/2014/main" id="{386AA383-5102-A480-4E6B-A65C457F4ADF}"/>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56" name="Graphique 55" descr="Flux de travail avec un remplissage uni">
                <a:extLst>
                  <a:ext uri="{FF2B5EF4-FFF2-40B4-BE49-F238E27FC236}">
                    <a16:creationId xmlns:a16="http://schemas.microsoft.com/office/drawing/2014/main" id="{63D9BA69-08F9-255B-A936-F04638EAC99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35945" t="11686" r="38094" b="61453"/>
              <a:stretch/>
            </p:blipFill>
            <p:spPr>
              <a:xfrm>
                <a:off x="2515102" y="6048984"/>
                <a:ext cx="781874" cy="808949"/>
              </a:xfrm>
              <a:prstGeom prst="rect">
                <a:avLst/>
              </a:prstGeom>
            </p:spPr>
          </p:pic>
          <p:pic>
            <p:nvPicPr>
              <p:cNvPr id="57" name="Graphique 56" descr="Flux de travail avec un remplissage uni">
                <a:extLst>
                  <a:ext uri="{FF2B5EF4-FFF2-40B4-BE49-F238E27FC236}">
                    <a16:creationId xmlns:a16="http://schemas.microsoft.com/office/drawing/2014/main" id="{9921FF78-86DC-ADBE-FC70-2C9502A1478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37996" b="61454"/>
              <a:stretch/>
            </p:blipFill>
            <p:spPr>
              <a:xfrm>
                <a:off x="3296976" y="6055731"/>
                <a:ext cx="1498234" cy="808949"/>
              </a:xfrm>
              <a:prstGeom prst="rect">
                <a:avLst/>
              </a:prstGeom>
            </p:spPr>
          </p:pic>
          <p:grpSp>
            <p:nvGrpSpPr>
              <p:cNvPr id="58" name="Groupe 57">
                <a:extLst>
                  <a:ext uri="{FF2B5EF4-FFF2-40B4-BE49-F238E27FC236}">
                    <a16:creationId xmlns:a16="http://schemas.microsoft.com/office/drawing/2014/main" id="{218303E3-39B1-FF13-46CC-AEFDD9A2DF6C}"/>
                  </a:ext>
                </a:extLst>
              </p:cNvPr>
              <p:cNvGrpSpPr/>
              <p:nvPr/>
            </p:nvGrpSpPr>
            <p:grpSpPr>
              <a:xfrm rot="5400000">
                <a:off x="5196104" y="5678731"/>
                <a:ext cx="703988" cy="1576776"/>
                <a:chOff x="4964821" y="3334416"/>
                <a:chExt cx="846561" cy="1896107"/>
              </a:xfrm>
            </p:grpSpPr>
            <p:pic>
              <p:nvPicPr>
                <p:cNvPr id="61" name="Graphique 60" descr="Flux de travail avec un remplissage uni">
                  <a:extLst>
                    <a:ext uri="{FF2B5EF4-FFF2-40B4-BE49-F238E27FC236}">
                      <a16:creationId xmlns:a16="http://schemas.microsoft.com/office/drawing/2014/main" id="{64526CF0-EBAD-195F-559D-D3F57D153F3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708" t="38545" r="63917" b="9100"/>
                <a:stretch/>
              </p:blipFill>
              <p:spPr>
                <a:xfrm>
                  <a:off x="4964821" y="3334416"/>
                  <a:ext cx="846561" cy="1896107"/>
                </a:xfrm>
                <a:prstGeom prst="rect">
                  <a:avLst/>
                </a:prstGeom>
              </p:spPr>
            </p:pic>
            <p:pic>
              <p:nvPicPr>
                <p:cNvPr id="62" name="Graphique 61" descr="Flux de travail avec un remplissage uni">
                  <a:extLst>
                    <a:ext uri="{FF2B5EF4-FFF2-40B4-BE49-F238E27FC236}">
                      <a16:creationId xmlns:a16="http://schemas.microsoft.com/office/drawing/2014/main" id="{B2010ED8-1EBF-3F70-87C9-9EDDE9240BD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59" name="Graphique 58" descr="Signe pouce en haut avec un remplissage uni">
                <a:extLst>
                  <a:ext uri="{FF2B5EF4-FFF2-40B4-BE49-F238E27FC236}">
                    <a16:creationId xmlns:a16="http://schemas.microsoft.com/office/drawing/2014/main" id="{EF3B73AD-E5FF-567E-6318-8E4BCA20409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19489" y="6179998"/>
                <a:ext cx="597064" cy="597064"/>
              </a:xfrm>
              <a:prstGeom prst="rect">
                <a:avLst/>
              </a:prstGeom>
            </p:spPr>
          </p:pic>
          <p:pic>
            <p:nvPicPr>
              <p:cNvPr id="60" name="Graphique 59" descr="Cause à effet avec un remplissage uni">
                <a:extLst>
                  <a:ext uri="{FF2B5EF4-FFF2-40B4-BE49-F238E27FC236}">
                    <a16:creationId xmlns:a16="http://schemas.microsoft.com/office/drawing/2014/main" id="{B06D1302-3221-A228-D753-1437549D243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421206" y="6201189"/>
                <a:ext cx="503900" cy="503900"/>
              </a:xfrm>
              <a:prstGeom prst="rect">
                <a:avLst/>
              </a:prstGeom>
            </p:spPr>
          </p:pic>
        </p:grpSp>
        <p:grpSp>
          <p:nvGrpSpPr>
            <p:cNvPr id="27" name="Groupe 26">
              <a:extLst>
                <a:ext uri="{FF2B5EF4-FFF2-40B4-BE49-F238E27FC236}">
                  <a16:creationId xmlns:a16="http://schemas.microsoft.com/office/drawing/2014/main" id="{F1018D19-CD3A-A0EF-1307-83D65841C73A}"/>
                </a:ext>
              </a:extLst>
            </p:cNvPr>
            <p:cNvGrpSpPr/>
            <p:nvPr/>
          </p:nvGrpSpPr>
          <p:grpSpPr>
            <a:xfrm>
              <a:off x="4200525" y="6287781"/>
              <a:ext cx="3790950" cy="526884"/>
              <a:chOff x="342900" y="6048984"/>
              <a:chExt cx="5993586" cy="833016"/>
            </a:xfrm>
          </p:grpSpPr>
          <p:pic>
            <p:nvPicPr>
              <p:cNvPr id="41" name="Graphique 40" descr="Flux de travail avec un remplissage uni">
                <a:extLst>
                  <a:ext uri="{FF2B5EF4-FFF2-40B4-BE49-F238E27FC236}">
                    <a16:creationId xmlns:a16="http://schemas.microsoft.com/office/drawing/2014/main" id="{AD8BA7D0-3A9D-DAA6-F888-0D4FA0BF030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61454"/>
              <a:stretch/>
            </p:blipFill>
            <p:spPr>
              <a:xfrm>
                <a:off x="342900" y="6073051"/>
                <a:ext cx="2201188" cy="808949"/>
              </a:xfrm>
              <a:prstGeom prst="rect">
                <a:avLst/>
              </a:prstGeom>
            </p:spPr>
          </p:pic>
          <p:pic>
            <p:nvPicPr>
              <p:cNvPr id="42" name="Graphique 41" descr="Panneau de signalisation avec un remplissage uni">
                <a:extLst>
                  <a:ext uri="{FF2B5EF4-FFF2-40B4-BE49-F238E27FC236}">
                    <a16:creationId xmlns:a16="http://schemas.microsoft.com/office/drawing/2014/main" id="{DF397C84-5B88-A2DF-C5CD-4231863CE56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929601" y="6200331"/>
                <a:ext cx="581453" cy="581455"/>
              </a:xfrm>
              <a:prstGeom prst="rect">
                <a:avLst/>
              </a:prstGeom>
            </p:spPr>
          </p:pic>
          <p:grpSp>
            <p:nvGrpSpPr>
              <p:cNvPr id="43" name="Groupe 42">
                <a:extLst>
                  <a:ext uri="{FF2B5EF4-FFF2-40B4-BE49-F238E27FC236}">
                    <a16:creationId xmlns:a16="http://schemas.microsoft.com/office/drawing/2014/main" id="{D0C52BD4-4FC5-7342-6E87-A98618F168AF}"/>
                  </a:ext>
                </a:extLst>
              </p:cNvPr>
              <p:cNvGrpSpPr/>
              <p:nvPr/>
            </p:nvGrpSpPr>
            <p:grpSpPr>
              <a:xfrm rot="16200000">
                <a:off x="493765" y="6293014"/>
                <a:ext cx="461197" cy="350906"/>
                <a:chOff x="1499428" y="3098753"/>
                <a:chExt cx="474208" cy="322063"/>
              </a:xfrm>
            </p:grpSpPr>
            <p:sp>
              <p:nvSpPr>
                <p:cNvPr id="51" name="Flèche : bas 50">
                  <a:extLst>
                    <a:ext uri="{FF2B5EF4-FFF2-40B4-BE49-F238E27FC236}">
                      <a16:creationId xmlns:a16="http://schemas.microsoft.com/office/drawing/2014/main" id="{6E1C35C1-2DB3-0566-7785-DF54685CD3C7}"/>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52" name="Flèche : bas 51">
                  <a:extLst>
                    <a:ext uri="{FF2B5EF4-FFF2-40B4-BE49-F238E27FC236}">
                      <a16:creationId xmlns:a16="http://schemas.microsoft.com/office/drawing/2014/main" id="{7E584389-28FE-B22F-11FA-CBA48CC0C6E6}"/>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44" name="Graphique 43" descr="Flux de travail avec un remplissage uni">
                <a:extLst>
                  <a:ext uri="{FF2B5EF4-FFF2-40B4-BE49-F238E27FC236}">
                    <a16:creationId xmlns:a16="http://schemas.microsoft.com/office/drawing/2014/main" id="{14D11853-687F-5A16-AF02-46483EC3220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35945" t="11686" r="38094" b="61453"/>
              <a:stretch/>
            </p:blipFill>
            <p:spPr>
              <a:xfrm>
                <a:off x="2515102" y="6048984"/>
                <a:ext cx="781874" cy="808949"/>
              </a:xfrm>
              <a:prstGeom prst="rect">
                <a:avLst/>
              </a:prstGeom>
            </p:spPr>
          </p:pic>
          <p:pic>
            <p:nvPicPr>
              <p:cNvPr id="45" name="Graphique 44" descr="Flux de travail avec un remplissage uni">
                <a:extLst>
                  <a:ext uri="{FF2B5EF4-FFF2-40B4-BE49-F238E27FC236}">
                    <a16:creationId xmlns:a16="http://schemas.microsoft.com/office/drawing/2014/main" id="{CB772630-0A39-577B-78CF-951CB34A424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37996" b="61454"/>
              <a:stretch/>
            </p:blipFill>
            <p:spPr>
              <a:xfrm>
                <a:off x="3296976" y="6055731"/>
                <a:ext cx="1498234" cy="808949"/>
              </a:xfrm>
              <a:prstGeom prst="rect">
                <a:avLst/>
              </a:prstGeom>
            </p:spPr>
          </p:pic>
          <p:grpSp>
            <p:nvGrpSpPr>
              <p:cNvPr id="46" name="Groupe 45">
                <a:extLst>
                  <a:ext uri="{FF2B5EF4-FFF2-40B4-BE49-F238E27FC236}">
                    <a16:creationId xmlns:a16="http://schemas.microsoft.com/office/drawing/2014/main" id="{F9FA3C0C-A204-6556-CDD9-CE2DEC186FBE}"/>
                  </a:ext>
                </a:extLst>
              </p:cNvPr>
              <p:cNvGrpSpPr/>
              <p:nvPr/>
            </p:nvGrpSpPr>
            <p:grpSpPr>
              <a:xfrm rot="5400000">
                <a:off x="5196104" y="5678731"/>
                <a:ext cx="703988" cy="1576776"/>
                <a:chOff x="4964821" y="3334416"/>
                <a:chExt cx="846561" cy="1896107"/>
              </a:xfrm>
            </p:grpSpPr>
            <p:pic>
              <p:nvPicPr>
                <p:cNvPr id="49" name="Graphique 48" descr="Flux de travail avec un remplissage uni">
                  <a:extLst>
                    <a:ext uri="{FF2B5EF4-FFF2-40B4-BE49-F238E27FC236}">
                      <a16:creationId xmlns:a16="http://schemas.microsoft.com/office/drawing/2014/main" id="{F34D86D1-AA49-8E28-4A0B-01CA6054C8C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708" t="38545" r="63917" b="9100"/>
                <a:stretch/>
              </p:blipFill>
              <p:spPr>
                <a:xfrm>
                  <a:off x="4964821" y="3334416"/>
                  <a:ext cx="846561" cy="1896107"/>
                </a:xfrm>
                <a:prstGeom prst="rect">
                  <a:avLst/>
                </a:prstGeom>
              </p:spPr>
            </p:pic>
            <p:pic>
              <p:nvPicPr>
                <p:cNvPr id="50" name="Graphique 49" descr="Flux de travail avec un remplissage uni">
                  <a:extLst>
                    <a:ext uri="{FF2B5EF4-FFF2-40B4-BE49-F238E27FC236}">
                      <a16:creationId xmlns:a16="http://schemas.microsoft.com/office/drawing/2014/main" id="{29C136BD-66C3-FD43-957C-24368BCF97E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47" name="Graphique 46" descr="Signe pouce en haut avec un remplissage uni">
                <a:extLst>
                  <a:ext uri="{FF2B5EF4-FFF2-40B4-BE49-F238E27FC236}">
                    <a16:creationId xmlns:a16="http://schemas.microsoft.com/office/drawing/2014/main" id="{0A76F345-8094-B9B5-92A2-D39CAF1C8B0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19489" y="6179998"/>
                <a:ext cx="597064" cy="597064"/>
              </a:xfrm>
              <a:prstGeom prst="rect">
                <a:avLst/>
              </a:prstGeom>
            </p:spPr>
          </p:pic>
          <p:pic>
            <p:nvPicPr>
              <p:cNvPr id="48" name="Graphique 47" descr="Cause à effet avec un remplissage uni">
                <a:extLst>
                  <a:ext uri="{FF2B5EF4-FFF2-40B4-BE49-F238E27FC236}">
                    <a16:creationId xmlns:a16="http://schemas.microsoft.com/office/drawing/2014/main" id="{D17F3833-CFE2-BDFB-0B49-F7C689CCEE1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421206" y="6201189"/>
                <a:ext cx="503900" cy="503900"/>
              </a:xfrm>
              <a:prstGeom prst="rect">
                <a:avLst/>
              </a:prstGeom>
            </p:spPr>
          </p:pic>
        </p:grpSp>
        <p:grpSp>
          <p:nvGrpSpPr>
            <p:cNvPr id="28" name="Groupe 27">
              <a:extLst>
                <a:ext uri="{FF2B5EF4-FFF2-40B4-BE49-F238E27FC236}">
                  <a16:creationId xmlns:a16="http://schemas.microsoft.com/office/drawing/2014/main" id="{725A7355-3EA8-8D95-6A97-B62817D16F2C}"/>
                </a:ext>
              </a:extLst>
            </p:cNvPr>
            <p:cNvGrpSpPr/>
            <p:nvPr/>
          </p:nvGrpSpPr>
          <p:grpSpPr>
            <a:xfrm>
              <a:off x="8012154" y="6287781"/>
              <a:ext cx="3790950" cy="526884"/>
              <a:chOff x="342900" y="6048984"/>
              <a:chExt cx="5993586" cy="833016"/>
            </a:xfrm>
          </p:grpSpPr>
          <p:pic>
            <p:nvPicPr>
              <p:cNvPr id="29" name="Graphique 28" descr="Flux de travail avec un remplissage uni">
                <a:extLst>
                  <a:ext uri="{FF2B5EF4-FFF2-40B4-BE49-F238E27FC236}">
                    <a16:creationId xmlns:a16="http://schemas.microsoft.com/office/drawing/2014/main" id="{B3035840-8B35-71A1-ECB1-43F3E771D92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61454"/>
              <a:stretch/>
            </p:blipFill>
            <p:spPr>
              <a:xfrm>
                <a:off x="342900" y="6073051"/>
                <a:ext cx="2201188" cy="808949"/>
              </a:xfrm>
              <a:prstGeom prst="rect">
                <a:avLst/>
              </a:prstGeom>
            </p:spPr>
          </p:pic>
          <p:pic>
            <p:nvPicPr>
              <p:cNvPr id="30" name="Graphique 29" descr="Panneau de signalisation avec un remplissage uni">
                <a:extLst>
                  <a:ext uri="{FF2B5EF4-FFF2-40B4-BE49-F238E27FC236}">
                    <a16:creationId xmlns:a16="http://schemas.microsoft.com/office/drawing/2014/main" id="{01D247FF-1802-74A2-0976-FF320E6A4B4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929601" y="6200331"/>
                <a:ext cx="581453" cy="581455"/>
              </a:xfrm>
              <a:prstGeom prst="rect">
                <a:avLst/>
              </a:prstGeom>
            </p:spPr>
          </p:pic>
          <p:grpSp>
            <p:nvGrpSpPr>
              <p:cNvPr id="31" name="Groupe 30">
                <a:extLst>
                  <a:ext uri="{FF2B5EF4-FFF2-40B4-BE49-F238E27FC236}">
                    <a16:creationId xmlns:a16="http://schemas.microsoft.com/office/drawing/2014/main" id="{3956F5CE-8069-B5B5-5991-6817EF16C333}"/>
                  </a:ext>
                </a:extLst>
              </p:cNvPr>
              <p:cNvGrpSpPr/>
              <p:nvPr/>
            </p:nvGrpSpPr>
            <p:grpSpPr>
              <a:xfrm rot="16200000">
                <a:off x="493765" y="6293014"/>
                <a:ext cx="461197" cy="350906"/>
                <a:chOff x="1499428" y="3098753"/>
                <a:chExt cx="474208" cy="322063"/>
              </a:xfrm>
            </p:grpSpPr>
            <p:sp>
              <p:nvSpPr>
                <p:cNvPr id="39" name="Flèche : bas 38">
                  <a:extLst>
                    <a:ext uri="{FF2B5EF4-FFF2-40B4-BE49-F238E27FC236}">
                      <a16:creationId xmlns:a16="http://schemas.microsoft.com/office/drawing/2014/main" id="{9CFD3746-0EB2-A2BF-69ED-459DD9C6190A}"/>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40" name="Flèche : bas 39">
                  <a:extLst>
                    <a:ext uri="{FF2B5EF4-FFF2-40B4-BE49-F238E27FC236}">
                      <a16:creationId xmlns:a16="http://schemas.microsoft.com/office/drawing/2014/main" id="{39001BB8-B161-8D0A-609E-CB9F2ACB4EB2}"/>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32" name="Graphique 31" descr="Flux de travail avec un remplissage uni">
                <a:extLst>
                  <a:ext uri="{FF2B5EF4-FFF2-40B4-BE49-F238E27FC236}">
                    <a16:creationId xmlns:a16="http://schemas.microsoft.com/office/drawing/2014/main" id="{8BF3C42D-7281-88E4-F801-9BFCCF65ACD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35945" t="11686" r="38094" b="61453"/>
              <a:stretch/>
            </p:blipFill>
            <p:spPr>
              <a:xfrm>
                <a:off x="2515102" y="6048984"/>
                <a:ext cx="781874" cy="808949"/>
              </a:xfrm>
              <a:prstGeom prst="rect">
                <a:avLst/>
              </a:prstGeom>
            </p:spPr>
          </p:pic>
          <p:pic>
            <p:nvPicPr>
              <p:cNvPr id="33" name="Graphique 32" descr="Flux de travail avec un remplissage uni">
                <a:extLst>
                  <a:ext uri="{FF2B5EF4-FFF2-40B4-BE49-F238E27FC236}">
                    <a16:creationId xmlns:a16="http://schemas.microsoft.com/office/drawing/2014/main" id="{FC35CD76-D9B7-1CD3-F3B2-A7BD5F803AF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37996" b="61454"/>
              <a:stretch/>
            </p:blipFill>
            <p:spPr>
              <a:xfrm>
                <a:off x="3296976" y="6055731"/>
                <a:ext cx="1498234" cy="808949"/>
              </a:xfrm>
              <a:prstGeom prst="rect">
                <a:avLst/>
              </a:prstGeom>
            </p:spPr>
          </p:pic>
          <p:grpSp>
            <p:nvGrpSpPr>
              <p:cNvPr id="34" name="Groupe 33">
                <a:extLst>
                  <a:ext uri="{FF2B5EF4-FFF2-40B4-BE49-F238E27FC236}">
                    <a16:creationId xmlns:a16="http://schemas.microsoft.com/office/drawing/2014/main" id="{7CCB6936-D671-4557-D04A-6038E4F49A67}"/>
                  </a:ext>
                </a:extLst>
              </p:cNvPr>
              <p:cNvGrpSpPr/>
              <p:nvPr/>
            </p:nvGrpSpPr>
            <p:grpSpPr>
              <a:xfrm rot="5400000">
                <a:off x="5196104" y="5678731"/>
                <a:ext cx="703988" cy="1576776"/>
                <a:chOff x="4964821" y="3334416"/>
                <a:chExt cx="846561" cy="1896107"/>
              </a:xfrm>
            </p:grpSpPr>
            <p:pic>
              <p:nvPicPr>
                <p:cNvPr id="37" name="Graphique 36" descr="Flux de travail avec un remplissage uni">
                  <a:extLst>
                    <a:ext uri="{FF2B5EF4-FFF2-40B4-BE49-F238E27FC236}">
                      <a16:creationId xmlns:a16="http://schemas.microsoft.com/office/drawing/2014/main" id="{A8E44F0C-DA02-2A5A-67BB-2199F241DAF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708" t="38545" r="63917" b="9100"/>
                <a:stretch/>
              </p:blipFill>
              <p:spPr>
                <a:xfrm>
                  <a:off x="4964821" y="3334416"/>
                  <a:ext cx="846561" cy="1896107"/>
                </a:xfrm>
                <a:prstGeom prst="rect">
                  <a:avLst/>
                </a:prstGeom>
              </p:spPr>
            </p:pic>
            <p:pic>
              <p:nvPicPr>
                <p:cNvPr id="38" name="Graphique 37" descr="Flux de travail avec un remplissage uni">
                  <a:extLst>
                    <a:ext uri="{FF2B5EF4-FFF2-40B4-BE49-F238E27FC236}">
                      <a16:creationId xmlns:a16="http://schemas.microsoft.com/office/drawing/2014/main" id="{4BE7ED48-B390-4F4A-2106-4C763F40AD4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35" name="Graphique 34" descr="Signe pouce en haut avec un remplissage uni">
                <a:extLst>
                  <a:ext uri="{FF2B5EF4-FFF2-40B4-BE49-F238E27FC236}">
                    <a16:creationId xmlns:a16="http://schemas.microsoft.com/office/drawing/2014/main" id="{2FA504DE-23CD-99F3-3239-6CB597A60E9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19489" y="6179998"/>
                <a:ext cx="597064" cy="597064"/>
              </a:xfrm>
              <a:prstGeom prst="rect">
                <a:avLst/>
              </a:prstGeom>
            </p:spPr>
          </p:pic>
          <p:pic>
            <p:nvPicPr>
              <p:cNvPr id="36" name="Graphique 35" descr="Cause à effet avec un remplissage uni">
                <a:extLst>
                  <a:ext uri="{FF2B5EF4-FFF2-40B4-BE49-F238E27FC236}">
                    <a16:creationId xmlns:a16="http://schemas.microsoft.com/office/drawing/2014/main" id="{0C545576-6ABF-265A-D6EE-0AC04DDA59B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421206" y="6201189"/>
                <a:ext cx="503900" cy="503900"/>
              </a:xfrm>
              <a:prstGeom prst="rect">
                <a:avLst/>
              </a:prstGeom>
            </p:spPr>
          </p:pic>
        </p:grpSp>
      </p:grpSp>
      <p:grpSp>
        <p:nvGrpSpPr>
          <p:cNvPr id="119" name="Groupe 118">
            <a:extLst>
              <a:ext uri="{FF2B5EF4-FFF2-40B4-BE49-F238E27FC236}">
                <a16:creationId xmlns:a16="http://schemas.microsoft.com/office/drawing/2014/main" id="{966AD86C-C57C-DEA1-C41A-A89860E0BD22}"/>
              </a:ext>
            </a:extLst>
          </p:cNvPr>
          <p:cNvGrpSpPr/>
          <p:nvPr/>
        </p:nvGrpSpPr>
        <p:grpSpPr>
          <a:xfrm>
            <a:off x="177730" y="5540350"/>
            <a:ext cx="2783152" cy="166784"/>
            <a:chOff x="441468" y="6251796"/>
            <a:chExt cx="2783152" cy="166784"/>
          </a:xfrm>
        </p:grpSpPr>
        <p:grpSp>
          <p:nvGrpSpPr>
            <p:cNvPr id="109" name="Groupe 108">
              <a:extLst>
                <a:ext uri="{FF2B5EF4-FFF2-40B4-BE49-F238E27FC236}">
                  <a16:creationId xmlns:a16="http://schemas.microsoft.com/office/drawing/2014/main" id="{DFBB8D02-2A7E-0210-36C7-AEAA997F0434}"/>
                </a:ext>
              </a:extLst>
            </p:cNvPr>
            <p:cNvGrpSpPr/>
            <p:nvPr/>
          </p:nvGrpSpPr>
          <p:grpSpPr>
            <a:xfrm>
              <a:off x="1274510" y="6251796"/>
              <a:ext cx="161789" cy="162363"/>
              <a:chOff x="5636418" y="5645544"/>
              <a:chExt cx="161789" cy="162363"/>
            </a:xfrm>
          </p:grpSpPr>
          <p:pic>
            <p:nvPicPr>
              <p:cNvPr id="93" name="Graphique 92" descr="Flux de travail avec un remplissage uni">
                <a:extLst>
                  <a:ext uri="{FF2B5EF4-FFF2-40B4-BE49-F238E27FC236}">
                    <a16:creationId xmlns:a16="http://schemas.microsoft.com/office/drawing/2014/main" id="{A2A84379-2DD4-A495-6E1C-8115B15ED0F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2170" t="11685" r="14656" b="61454"/>
              <a:stretch/>
            </p:blipFill>
            <p:spPr>
              <a:xfrm>
                <a:off x="5636418" y="5645544"/>
                <a:ext cx="161789" cy="162363"/>
              </a:xfrm>
              <a:prstGeom prst="rect">
                <a:avLst/>
              </a:prstGeom>
            </p:spPr>
          </p:pic>
          <p:pic>
            <p:nvPicPr>
              <p:cNvPr id="94" name="Graphique 93" descr="Panneau de signalisation avec un remplissage uni">
                <a:extLst>
                  <a:ext uri="{FF2B5EF4-FFF2-40B4-BE49-F238E27FC236}">
                    <a16:creationId xmlns:a16="http://schemas.microsoft.com/office/drawing/2014/main" id="{C994643A-B7EA-025E-7821-B782406859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655765" y="5671091"/>
                <a:ext cx="134786" cy="116703"/>
              </a:xfrm>
              <a:prstGeom prst="rect">
                <a:avLst/>
              </a:prstGeom>
            </p:spPr>
          </p:pic>
        </p:grpSp>
        <p:grpSp>
          <p:nvGrpSpPr>
            <p:cNvPr id="111" name="Groupe 110">
              <a:extLst>
                <a:ext uri="{FF2B5EF4-FFF2-40B4-BE49-F238E27FC236}">
                  <a16:creationId xmlns:a16="http://schemas.microsoft.com/office/drawing/2014/main" id="{ED0B0D13-DB93-31C1-D7B0-252EA1C3588E}"/>
                </a:ext>
              </a:extLst>
            </p:cNvPr>
            <p:cNvGrpSpPr/>
            <p:nvPr/>
          </p:nvGrpSpPr>
          <p:grpSpPr>
            <a:xfrm>
              <a:off x="3023710" y="6251796"/>
              <a:ext cx="200910" cy="141296"/>
              <a:chOff x="6311809" y="5653990"/>
              <a:chExt cx="200910" cy="141296"/>
            </a:xfrm>
          </p:grpSpPr>
          <p:pic>
            <p:nvPicPr>
              <p:cNvPr id="101" name="Graphique 100" descr="Flux de travail avec un remplissage uni">
                <a:extLst>
                  <a:ext uri="{FF2B5EF4-FFF2-40B4-BE49-F238E27FC236}">
                    <a16:creationId xmlns:a16="http://schemas.microsoft.com/office/drawing/2014/main" id="{7805EA7D-120A-5663-07E8-A6814CAA7B5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708" t="62122" r="63917" b="9100"/>
              <a:stretch/>
            </p:blipFill>
            <p:spPr>
              <a:xfrm rot="5400000">
                <a:off x="6341616" y="5624183"/>
                <a:ext cx="141296" cy="200910"/>
              </a:xfrm>
              <a:prstGeom prst="rect">
                <a:avLst/>
              </a:prstGeom>
            </p:spPr>
          </p:pic>
          <p:pic>
            <p:nvPicPr>
              <p:cNvPr id="99" name="Graphique 98" descr="Signe pouce en haut avec un remplissage uni">
                <a:extLst>
                  <a:ext uri="{FF2B5EF4-FFF2-40B4-BE49-F238E27FC236}">
                    <a16:creationId xmlns:a16="http://schemas.microsoft.com/office/drawing/2014/main" id="{7BA96A38-108F-DA26-433A-45B4047CEB2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348847" y="5667010"/>
                <a:ext cx="138405" cy="119836"/>
              </a:xfrm>
              <a:prstGeom prst="rect">
                <a:avLst/>
              </a:prstGeom>
            </p:spPr>
          </p:pic>
        </p:grpSp>
        <p:grpSp>
          <p:nvGrpSpPr>
            <p:cNvPr id="110" name="Groupe 109">
              <a:extLst>
                <a:ext uri="{FF2B5EF4-FFF2-40B4-BE49-F238E27FC236}">
                  <a16:creationId xmlns:a16="http://schemas.microsoft.com/office/drawing/2014/main" id="{BDA56A39-F625-20FB-D273-D333AD83EE1D}"/>
                </a:ext>
              </a:extLst>
            </p:cNvPr>
            <p:cNvGrpSpPr/>
            <p:nvPr/>
          </p:nvGrpSpPr>
          <p:grpSpPr>
            <a:xfrm>
              <a:off x="2140242" y="6251796"/>
              <a:ext cx="179526" cy="162363"/>
              <a:chOff x="5972734" y="5642068"/>
              <a:chExt cx="179526" cy="162363"/>
            </a:xfrm>
          </p:grpSpPr>
          <p:pic>
            <p:nvPicPr>
              <p:cNvPr id="97" name="Graphique 96" descr="Flux de travail avec un remplissage uni">
                <a:extLst>
                  <a:ext uri="{FF2B5EF4-FFF2-40B4-BE49-F238E27FC236}">
                    <a16:creationId xmlns:a16="http://schemas.microsoft.com/office/drawing/2014/main" id="{57F7F993-EBC9-4622-9EE8-1CA28217060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62028" b="61454"/>
              <a:stretch/>
            </p:blipFill>
            <p:spPr>
              <a:xfrm>
                <a:off x="5972734" y="5642068"/>
                <a:ext cx="179526" cy="162363"/>
              </a:xfrm>
              <a:prstGeom prst="rect">
                <a:avLst/>
              </a:prstGeom>
            </p:spPr>
          </p:pic>
          <p:pic>
            <p:nvPicPr>
              <p:cNvPr id="100" name="Graphique 99" descr="Cause à effet avec un remplissage uni">
                <a:extLst>
                  <a:ext uri="{FF2B5EF4-FFF2-40B4-BE49-F238E27FC236}">
                    <a16:creationId xmlns:a16="http://schemas.microsoft.com/office/drawing/2014/main" id="{44179827-DEF2-E04E-2BA2-DA7F604F3D3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001532" y="5671263"/>
                <a:ext cx="116808" cy="101137"/>
              </a:xfrm>
              <a:prstGeom prst="rect">
                <a:avLst/>
              </a:prstGeom>
            </p:spPr>
          </p:pic>
        </p:grpSp>
        <p:pic>
          <p:nvPicPr>
            <p:cNvPr id="105" name="Graphique 104" descr="Flux de travail avec un remplissage uni">
              <a:extLst>
                <a:ext uri="{FF2B5EF4-FFF2-40B4-BE49-F238E27FC236}">
                  <a16:creationId xmlns:a16="http://schemas.microsoft.com/office/drawing/2014/main" id="{99EA9A17-DCCF-6495-1221-36A4326B814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62387" b="61454"/>
            <a:stretch/>
          </p:blipFill>
          <p:spPr>
            <a:xfrm>
              <a:off x="441468" y="6256217"/>
              <a:ext cx="177015" cy="162363"/>
            </a:xfrm>
            <a:prstGeom prst="rect">
              <a:avLst/>
            </a:prstGeom>
          </p:spPr>
        </p:pic>
        <p:grpSp>
          <p:nvGrpSpPr>
            <p:cNvPr id="106" name="Groupe 105">
              <a:extLst>
                <a:ext uri="{FF2B5EF4-FFF2-40B4-BE49-F238E27FC236}">
                  <a16:creationId xmlns:a16="http://schemas.microsoft.com/office/drawing/2014/main" id="{22B66E42-C0F4-9335-925E-048C56EBEE58}"/>
                </a:ext>
              </a:extLst>
            </p:cNvPr>
            <p:cNvGrpSpPr/>
            <p:nvPr/>
          </p:nvGrpSpPr>
          <p:grpSpPr>
            <a:xfrm rot="16200000">
              <a:off x="485945" y="6301068"/>
              <a:ext cx="92566" cy="81343"/>
              <a:chOff x="1499428" y="3098753"/>
              <a:chExt cx="474208" cy="322063"/>
            </a:xfrm>
          </p:grpSpPr>
          <p:sp>
            <p:nvSpPr>
              <p:cNvPr id="107" name="Flèche : bas 106">
                <a:extLst>
                  <a:ext uri="{FF2B5EF4-FFF2-40B4-BE49-F238E27FC236}">
                    <a16:creationId xmlns:a16="http://schemas.microsoft.com/office/drawing/2014/main" id="{049A630C-45DD-6F37-3A1E-F402FB99A6D2}"/>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08" name="Flèche : bas 107">
                <a:extLst>
                  <a:ext uri="{FF2B5EF4-FFF2-40B4-BE49-F238E27FC236}">
                    <a16:creationId xmlns:a16="http://schemas.microsoft.com/office/drawing/2014/main" id="{36CE6F18-4A53-0651-9A24-82E3467E36FF}"/>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cxnSp>
          <p:nvCxnSpPr>
            <p:cNvPr id="113" name="Connecteur droit avec flèche 112">
              <a:extLst>
                <a:ext uri="{FF2B5EF4-FFF2-40B4-BE49-F238E27FC236}">
                  <a16:creationId xmlns:a16="http://schemas.microsoft.com/office/drawing/2014/main" id="{A9DA2795-7B83-6EE4-BB4F-FDAE67E20E1B}"/>
                </a:ext>
              </a:extLst>
            </p:cNvPr>
            <p:cNvCxnSpPr>
              <a:cxnSpLocks/>
              <a:endCxn id="93" idx="1"/>
            </p:cNvCxnSpPr>
            <p:nvPr/>
          </p:nvCxnSpPr>
          <p:spPr>
            <a:xfrm flipV="1">
              <a:off x="618483" y="6332978"/>
              <a:ext cx="656027" cy="7432"/>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necteur droit avec flèche 114">
              <a:extLst>
                <a:ext uri="{FF2B5EF4-FFF2-40B4-BE49-F238E27FC236}">
                  <a16:creationId xmlns:a16="http://schemas.microsoft.com/office/drawing/2014/main" id="{419CF0BF-3DE1-B4AE-CFD7-F508D741C75F}"/>
                </a:ext>
              </a:extLst>
            </p:cNvPr>
            <p:cNvCxnSpPr>
              <a:cxnSpLocks/>
              <a:endCxn id="97" idx="1"/>
            </p:cNvCxnSpPr>
            <p:nvPr/>
          </p:nvCxnSpPr>
          <p:spPr>
            <a:xfrm flipV="1">
              <a:off x="1442864" y="6332978"/>
              <a:ext cx="697378" cy="1593"/>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necteur droit avec flèche 115">
              <a:extLst>
                <a:ext uri="{FF2B5EF4-FFF2-40B4-BE49-F238E27FC236}">
                  <a16:creationId xmlns:a16="http://schemas.microsoft.com/office/drawing/2014/main" id="{4FBE4463-E009-D7BC-82D0-3609FA5DCE38}"/>
                </a:ext>
              </a:extLst>
            </p:cNvPr>
            <p:cNvCxnSpPr>
              <a:cxnSpLocks/>
              <a:endCxn id="101" idx="2"/>
            </p:cNvCxnSpPr>
            <p:nvPr/>
          </p:nvCxnSpPr>
          <p:spPr>
            <a:xfrm flipV="1">
              <a:off x="2329056" y="6322444"/>
              <a:ext cx="694654" cy="345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 name="Groupe 2">
            <a:extLst>
              <a:ext uri="{FF2B5EF4-FFF2-40B4-BE49-F238E27FC236}">
                <a16:creationId xmlns:a16="http://schemas.microsoft.com/office/drawing/2014/main" id="{EF9AB4F6-097A-7AE4-9FC0-F30711BAD3F1}"/>
              </a:ext>
            </a:extLst>
          </p:cNvPr>
          <p:cNvGrpSpPr/>
          <p:nvPr/>
        </p:nvGrpSpPr>
        <p:grpSpPr>
          <a:xfrm>
            <a:off x="3259794" y="1934885"/>
            <a:ext cx="8932206" cy="4838735"/>
            <a:chOff x="3497802" y="2160811"/>
            <a:chExt cx="8694197" cy="4612809"/>
          </a:xfrm>
        </p:grpSpPr>
        <p:grpSp>
          <p:nvGrpSpPr>
            <p:cNvPr id="20" name="Groupe 19">
              <a:extLst>
                <a:ext uri="{FF2B5EF4-FFF2-40B4-BE49-F238E27FC236}">
                  <a16:creationId xmlns:a16="http://schemas.microsoft.com/office/drawing/2014/main" id="{F84D8171-7AEE-E15B-17BD-FAB965878715}"/>
                </a:ext>
              </a:extLst>
            </p:cNvPr>
            <p:cNvGrpSpPr/>
            <p:nvPr/>
          </p:nvGrpSpPr>
          <p:grpSpPr>
            <a:xfrm>
              <a:off x="3497802" y="2782464"/>
              <a:ext cx="8694197" cy="1879046"/>
              <a:chOff x="1091953" y="2681056"/>
              <a:chExt cx="8611340" cy="915374"/>
            </a:xfrm>
          </p:grpSpPr>
          <p:sp>
            <p:nvSpPr>
              <p:cNvPr id="14" name="Flèche : droite 13">
                <a:extLst>
                  <a:ext uri="{FF2B5EF4-FFF2-40B4-BE49-F238E27FC236}">
                    <a16:creationId xmlns:a16="http://schemas.microsoft.com/office/drawing/2014/main" id="{FE116394-2CA2-9BCD-BC85-12BEB67E3EEF}"/>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MOTIVATIONS : </a:t>
                </a:r>
              </a:p>
              <a:p>
                <a:pPr algn="ctr"/>
                <a:r>
                  <a:rPr lang="fr-FR" sz="1200" dirty="0">
                    <a:solidFill>
                      <a:schemeClr val="tx1"/>
                    </a:solidFill>
                  </a:rPr>
                  <a:t>Se projeter et se poser des questions sur la valeur possible</a:t>
                </a:r>
              </a:p>
            </p:txBody>
          </p:sp>
          <p:sp>
            <p:nvSpPr>
              <p:cNvPr id="15" name="Flèche : droite 14">
                <a:extLst>
                  <a:ext uri="{FF2B5EF4-FFF2-40B4-BE49-F238E27FC236}">
                    <a16:creationId xmlns:a16="http://schemas.microsoft.com/office/drawing/2014/main" id="{BE308013-ADE2-85AF-3AB2-E6D31240A33F}"/>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IDEATION D’ACTIONS :</a:t>
                </a:r>
              </a:p>
              <a:p>
                <a:pPr algn="ctr"/>
                <a:r>
                  <a:rPr lang="fr-FR" sz="1200" dirty="0">
                    <a:solidFill>
                      <a:schemeClr val="tx1"/>
                    </a:solidFill>
                  </a:rPr>
                  <a:t>Clarifier la valeur et identifier des actions</a:t>
                </a:r>
              </a:p>
            </p:txBody>
          </p:sp>
          <p:sp>
            <p:nvSpPr>
              <p:cNvPr id="16" name="Flèche : droite 15">
                <a:extLst>
                  <a:ext uri="{FF2B5EF4-FFF2-40B4-BE49-F238E27FC236}">
                    <a16:creationId xmlns:a16="http://schemas.microsoft.com/office/drawing/2014/main" id="{093D84D0-2BFE-60C7-45CC-5D628B328FDC}"/>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PRIORISATION ET TESTS:</a:t>
                </a:r>
              </a:p>
              <a:p>
                <a:pPr algn="ctr"/>
                <a:r>
                  <a:rPr lang="fr-FR" sz="1200" dirty="0">
                    <a:solidFill>
                      <a:schemeClr val="tx1"/>
                    </a:solidFill>
                  </a:rPr>
                  <a:t>Tester la valeur avec les actions priorisées</a:t>
                </a:r>
              </a:p>
            </p:txBody>
          </p:sp>
          <p:sp>
            <p:nvSpPr>
              <p:cNvPr id="17" name="Flèche : droite 16">
                <a:extLst>
                  <a:ext uri="{FF2B5EF4-FFF2-40B4-BE49-F238E27FC236}">
                    <a16:creationId xmlns:a16="http://schemas.microsoft.com/office/drawing/2014/main" id="{042FFF5B-9F57-B843-F495-4EFDEEA0B432}"/>
                  </a:ext>
                </a:extLst>
              </p:cNvPr>
              <p:cNvSpPr/>
              <p:nvPr/>
            </p:nvSpPr>
            <p:spPr>
              <a:xfrm>
                <a:off x="6258757" y="2681056"/>
                <a:ext cx="1722268" cy="915374"/>
              </a:xfrm>
              <a:prstGeom prst="rightArrow">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HABITUDE :</a:t>
                </a:r>
              </a:p>
              <a:p>
                <a:pPr algn="ctr"/>
                <a:r>
                  <a:rPr lang="fr-FR" sz="1200" dirty="0">
                    <a:solidFill>
                      <a:schemeClr val="tx1"/>
                    </a:solidFill>
                  </a:rPr>
                  <a:t>S’habituer à la valeur et la confirmer</a:t>
                </a:r>
              </a:p>
            </p:txBody>
          </p:sp>
          <p:sp>
            <p:nvSpPr>
              <p:cNvPr id="19" name="Flèche : droite 18">
                <a:extLst>
                  <a:ext uri="{FF2B5EF4-FFF2-40B4-BE49-F238E27FC236}">
                    <a16:creationId xmlns:a16="http://schemas.microsoft.com/office/drawing/2014/main" id="{603A70FB-9209-2734-9461-E08F421E7052}"/>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DEMOTIVATIONS:</a:t>
                </a:r>
              </a:p>
              <a:p>
                <a:pPr algn="ctr"/>
                <a:r>
                  <a:rPr lang="fr-FR" sz="1200" dirty="0">
                    <a:solidFill>
                      <a:schemeClr val="tx1"/>
                    </a:solidFill>
                  </a:rPr>
                  <a:t>Constater un manque ou une baisse de la valeur</a:t>
                </a:r>
              </a:p>
            </p:txBody>
          </p:sp>
        </p:grpSp>
        <p:sp>
          <p:nvSpPr>
            <p:cNvPr id="22" name="Espace réservé du contenu 2">
              <a:extLst>
                <a:ext uri="{FF2B5EF4-FFF2-40B4-BE49-F238E27FC236}">
                  <a16:creationId xmlns:a16="http://schemas.microsoft.com/office/drawing/2014/main" id="{975FA698-07F5-757A-8A5D-52BA9EC43085}"/>
                </a:ext>
              </a:extLst>
            </p:cNvPr>
            <p:cNvSpPr txBox="1">
              <a:spLocks/>
            </p:cNvSpPr>
            <p:nvPr/>
          </p:nvSpPr>
          <p:spPr>
            <a:xfrm>
              <a:off x="4128874" y="2160811"/>
              <a:ext cx="6900419" cy="616434"/>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600" b="1" dirty="0"/>
                <a:t>Comment les membres expérimentent la valeur de la Communauté (cycle classique)</a:t>
              </a:r>
            </a:p>
            <a:p>
              <a:pPr marL="0" indent="0" algn="ctr">
                <a:buNone/>
              </a:pPr>
              <a:r>
                <a:rPr lang="fr-FR" sz="1600" b="1" dirty="0"/>
                <a:t>Etapes du vécu de valeur</a:t>
              </a:r>
            </a:p>
          </p:txBody>
        </p:sp>
        <p:sp>
          <p:nvSpPr>
            <p:cNvPr id="120" name="Flèche : haut 119">
              <a:extLst>
                <a:ext uri="{FF2B5EF4-FFF2-40B4-BE49-F238E27FC236}">
                  <a16:creationId xmlns:a16="http://schemas.microsoft.com/office/drawing/2014/main" id="{01BDF9E7-2273-FBC5-AA0B-F9651518C658}"/>
                </a:ext>
              </a:extLst>
            </p:cNvPr>
            <p:cNvSpPr/>
            <p:nvPr/>
          </p:nvSpPr>
          <p:spPr>
            <a:xfrm>
              <a:off x="10060656" y="4306599"/>
              <a:ext cx="697584" cy="1436937"/>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 name="Espace réservé du contenu 2">
              <a:extLst>
                <a:ext uri="{FF2B5EF4-FFF2-40B4-BE49-F238E27FC236}">
                  <a16:creationId xmlns:a16="http://schemas.microsoft.com/office/drawing/2014/main" id="{50B3411A-3F65-0002-188A-38D9EAED37EC}"/>
                </a:ext>
              </a:extLst>
            </p:cNvPr>
            <p:cNvSpPr txBox="1">
              <a:spLocks/>
            </p:cNvSpPr>
            <p:nvPr/>
          </p:nvSpPr>
          <p:spPr>
            <a:xfrm>
              <a:off x="9375178" y="5743536"/>
              <a:ext cx="1978621" cy="1030084"/>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600" b="1" dirty="0"/>
                <a:t>Meilleur moment pour démarrer un cycle d’ajustement (départ sur le renseignement)</a:t>
              </a:r>
            </a:p>
          </p:txBody>
        </p:sp>
      </p:grpSp>
    </p:spTree>
    <p:extLst>
      <p:ext uri="{BB962C8B-B14F-4D97-AF65-F5344CB8AC3E}">
        <p14:creationId xmlns:p14="http://schemas.microsoft.com/office/powerpoint/2010/main" val="92709917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84DCD44-F6F6-A541-D387-389A216D75B4}"/>
              </a:ext>
            </a:extLst>
          </p:cNvPr>
          <p:cNvSpPr>
            <a:spLocks noGrp="1"/>
          </p:cNvSpPr>
          <p:nvPr>
            <p:ph type="title"/>
          </p:nvPr>
        </p:nvSpPr>
        <p:spPr>
          <a:xfrm>
            <a:off x="1396372" y="365125"/>
            <a:ext cx="9957427" cy="1325563"/>
          </a:xfrm>
        </p:spPr>
        <p:txBody>
          <a:bodyPr>
            <a:normAutofit/>
          </a:bodyPr>
          <a:lstStyle/>
          <a:p>
            <a:r>
              <a:rPr lang="fr-FR" sz="4000" dirty="0"/>
              <a:t>Les étapes du vécu de valeur</a:t>
            </a:r>
            <a:br>
              <a:rPr lang="fr-FR" sz="4000" dirty="0"/>
            </a:br>
            <a:r>
              <a:rPr lang="fr-FR" sz="4000" dirty="0"/>
              <a:t>Cas d’un cycle arrêté</a:t>
            </a:r>
          </a:p>
        </p:txBody>
      </p:sp>
      <p:grpSp>
        <p:nvGrpSpPr>
          <p:cNvPr id="4" name="Groupe 3">
            <a:extLst>
              <a:ext uri="{FF2B5EF4-FFF2-40B4-BE49-F238E27FC236}">
                <a16:creationId xmlns:a16="http://schemas.microsoft.com/office/drawing/2014/main" id="{68F473DD-0BE5-DC5B-1021-2A47A24563DB}"/>
              </a:ext>
            </a:extLst>
          </p:cNvPr>
          <p:cNvGrpSpPr/>
          <p:nvPr/>
        </p:nvGrpSpPr>
        <p:grpSpPr>
          <a:xfrm>
            <a:off x="415915" y="570219"/>
            <a:ext cx="844570" cy="915374"/>
            <a:chOff x="9771184" y="501063"/>
            <a:chExt cx="2201188" cy="2385724"/>
          </a:xfrm>
        </p:grpSpPr>
        <p:grpSp>
          <p:nvGrpSpPr>
            <p:cNvPr id="5" name="Groupe 4">
              <a:extLst>
                <a:ext uri="{FF2B5EF4-FFF2-40B4-BE49-F238E27FC236}">
                  <a16:creationId xmlns:a16="http://schemas.microsoft.com/office/drawing/2014/main" id="{87E2DD41-84FE-5F16-9126-B6BE2B38428D}"/>
                </a:ext>
              </a:extLst>
            </p:cNvPr>
            <p:cNvGrpSpPr/>
            <p:nvPr/>
          </p:nvGrpSpPr>
          <p:grpSpPr>
            <a:xfrm>
              <a:off x="9771184" y="501063"/>
              <a:ext cx="2201188" cy="2385724"/>
              <a:chOff x="4948467" y="2361639"/>
              <a:chExt cx="2646976" cy="2868885"/>
            </a:xfrm>
          </p:grpSpPr>
          <p:pic>
            <p:nvPicPr>
              <p:cNvPr id="12" name="Graphique 11" descr="Flux de travail avec un remplissage uni">
                <a:extLst>
                  <a:ext uri="{FF2B5EF4-FFF2-40B4-BE49-F238E27FC236}">
                    <a16:creationId xmlns:a16="http://schemas.microsoft.com/office/drawing/2014/main" id="{6080C13D-7FAC-5A21-FB06-6F5C84BE81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13" name="Graphique 12" descr="Flux de travail avec un remplissage uni">
                <a:extLst>
                  <a:ext uri="{FF2B5EF4-FFF2-40B4-BE49-F238E27FC236}">
                    <a16:creationId xmlns:a16="http://schemas.microsoft.com/office/drawing/2014/main" id="{FC19A64B-34ED-FC9E-60BF-756473EAB2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6" name="Graphique 5" descr="Panneau de signalisation avec un remplissage uni">
              <a:extLst>
                <a:ext uri="{FF2B5EF4-FFF2-40B4-BE49-F238E27FC236}">
                  <a16:creationId xmlns:a16="http://schemas.microsoft.com/office/drawing/2014/main" id="{0EDB414E-D98C-CF50-9138-23EE8A02BAC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357885" y="605752"/>
              <a:ext cx="581454" cy="581454"/>
            </a:xfrm>
            <a:prstGeom prst="rect">
              <a:avLst/>
            </a:prstGeom>
          </p:spPr>
        </p:pic>
        <p:pic>
          <p:nvPicPr>
            <p:cNvPr id="7" name="Graphique 6" descr="Signe pouce en haut avec un remplissage uni">
              <a:extLst>
                <a:ext uri="{FF2B5EF4-FFF2-40B4-BE49-F238E27FC236}">
                  <a16:creationId xmlns:a16="http://schemas.microsoft.com/office/drawing/2014/main" id="{C9D5E99C-5762-D05C-BBD2-2F8F0690300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3043" y="2137783"/>
              <a:ext cx="597064" cy="597064"/>
            </a:xfrm>
            <a:prstGeom prst="rect">
              <a:avLst/>
            </a:prstGeom>
          </p:spPr>
        </p:pic>
        <p:grpSp>
          <p:nvGrpSpPr>
            <p:cNvPr id="8" name="Groupe 7">
              <a:extLst>
                <a:ext uri="{FF2B5EF4-FFF2-40B4-BE49-F238E27FC236}">
                  <a16:creationId xmlns:a16="http://schemas.microsoft.com/office/drawing/2014/main" id="{8F3AD604-8FF6-7407-79CA-6F5F8CAA4E31}"/>
                </a:ext>
              </a:extLst>
            </p:cNvPr>
            <p:cNvGrpSpPr/>
            <p:nvPr/>
          </p:nvGrpSpPr>
          <p:grpSpPr>
            <a:xfrm rot="16200000">
              <a:off x="9922049" y="721026"/>
              <a:ext cx="461197" cy="350906"/>
              <a:chOff x="1499428" y="3098753"/>
              <a:chExt cx="474208" cy="322063"/>
            </a:xfrm>
          </p:grpSpPr>
          <p:sp>
            <p:nvSpPr>
              <p:cNvPr id="10" name="Flèche : bas 9">
                <a:extLst>
                  <a:ext uri="{FF2B5EF4-FFF2-40B4-BE49-F238E27FC236}">
                    <a16:creationId xmlns:a16="http://schemas.microsoft.com/office/drawing/2014/main" id="{BCAE01C5-EA5A-DD6F-A035-E585E7116DD1}"/>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1" name="Flèche : bas 10">
                <a:extLst>
                  <a:ext uri="{FF2B5EF4-FFF2-40B4-BE49-F238E27FC236}">
                    <a16:creationId xmlns:a16="http://schemas.microsoft.com/office/drawing/2014/main" id="{FCFF0F2A-52CD-AB3A-469A-E23AB01A3A8F}"/>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9" name="Graphique 8" descr="Cause à effet avec un remplissage uni">
              <a:extLst>
                <a:ext uri="{FF2B5EF4-FFF2-40B4-BE49-F238E27FC236}">
                  <a16:creationId xmlns:a16="http://schemas.microsoft.com/office/drawing/2014/main" id="{F66CCAC6-5F9D-9DBB-195E-17BD90CB578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342276" y="2137783"/>
              <a:ext cx="597063" cy="597063"/>
            </a:xfrm>
            <a:prstGeom prst="rect">
              <a:avLst/>
            </a:prstGeom>
          </p:spPr>
        </p:pic>
      </p:grpSp>
      <p:sp>
        <p:nvSpPr>
          <p:cNvPr id="14" name="Flèche : droite 13">
            <a:extLst>
              <a:ext uri="{FF2B5EF4-FFF2-40B4-BE49-F238E27FC236}">
                <a16:creationId xmlns:a16="http://schemas.microsoft.com/office/drawing/2014/main" id="{FE116394-2CA2-9BCD-BC85-12BEB67E3EEF}"/>
              </a:ext>
            </a:extLst>
          </p:cNvPr>
          <p:cNvSpPr/>
          <p:nvPr/>
        </p:nvSpPr>
        <p:spPr>
          <a:xfrm>
            <a:off x="77874" y="2105474"/>
            <a:ext cx="1366272" cy="1191782"/>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tx1"/>
                </a:solidFill>
              </a:rPr>
              <a:t>MOTIVATIONS : </a:t>
            </a:r>
          </a:p>
          <a:p>
            <a:pPr algn="ctr"/>
            <a:r>
              <a:rPr lang="fr-FR" sz="900" dirty="0">
                <a:solidFill>
                  <a:schemeClr val="tx1"/>
                </a:solidFill>
              </a:rPr>
              <a:t>Se poser des questions et se projeter sur la valeur possible</a:t>
            </a:r>
          </a:p>
        </p:txBody>
      </p:sp>
      <p:sp>
        <p:nvSpPr>
          <p:cNvPr id="15" name="Flèche : droite 14">
            <a:extLst>
              <a:ext uri="{FF2B5EF4-FFF2-40B4-BE49-F238E27FC236}">
                <a16:creationId xmlns:a16="http://schemas.microsoft.com/office/drawing/2014/main" id="{BE308013-ADE2-85AF-3AB2-E6D31240A33F}"/>
              </a:ext>
            </a:extLst>
          </p:cNvPr>
          <p:cNvSpPr/>
          <p:nvPr/>
        </p:nvSpPr>
        <p:spPr>
          <a:xfrm>
            <a:off x="1444146" y="2105474"/>
            <a:ext cx="1366272" cy="1191782"/>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tx1"/>
                </a:solidFill>
              </a:rPr>
              <a:t>IDEATION D’ACTIONS :</a:t>
            </a:r>
          </a:p>
          <a:p>
            <a:pPr algn="ctr"/>
            <a:r>
              <a:rPr lang="fr-FR" sz="900" dirty="0">
                <a:solidFill>
                  <a:schemeClr val="tx1"/>
                </a:solidFill>
              </a:rPr>
              <a:t>Clarifier la valeur et imaginer des actions</a:t>
            </a:r>
          </a:p>
        </p:txBody>
      </p:sp>
      <p:sp>
        <p:nvSpPr>
          <p:cNvPr id="16" name="Flèche : droite 15">
            <a:extLst>
              <a:ext uri="{FF2B5EF4-FFF2-40B4-BE49-F238E27FC236}">
                <a16:creationId xmlns:a16="http://schemas.microsoft.com/office/drawing/2014/main" id="{093D84D0-2BFE-60C7-45CC-5D628B328FDC}"/>
              </a:ext>
            </a:extLst>
          </p:cNvPr>
          <p:cNvSpPr/>
          <p:nvPr/>
        </p:nvSpPr>
        <p:spPr>
          <a:xfrm>
            <a:off x="2810418" y="2105474"/>
            <a:ext cx="1366272" cy="1191782"/>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tx1"/>
                </a:solidFill>
              </a:rPr>
              <a:t>PRIORISATION ET TESTS:</a:t>
            </a:r>
          </a:p>
          <a:p>
            <a:pPr algn="ctr"/>
            <a:r>
              <a:rPr lang="fr-FR" sz="900" dirty="0">
                <a:solidFill>
                  <a:schemeClr val="tx1"/>
                </a:solidFill>
              </a:rPr>
              <a:t>Tester la valeur avec les actions priorisées</a:t>
            </a:r>
          </a:p>
        </p:txBody>
      </p:sp>
      <p:sp>
        <p:nvSpPr>
          <p:cNvPr id="19" name="Flèche : droite 18">
            <a:extLst>
              <a:ext uri="{FF2B5EF4-FFF2-40B4-BE49-F238E27FC236}">
                <a16:creationId xmlns:a16="http://schemas.microsoft.com/office/drawing/2014/main" id="{603A70FB-9209-2734-9461-E08F421E7052}"/>
              </a:ext>
            </a:extLst>
          </p:cNvPr>
          <p:cNvSpPr/>
          <p:nvPr/>
        </p:nvSpPr>
        <p:spPr>
          <a:xfrm>
            <a:off x="5542963" y="2114678"/>
            <a:ext cx="1366272" cy="1191782"/>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tx1"/>
                </a:solidFill>
              </a:rPr>
              <a:t>DEMOTIVATIONS:</a:t>
            </a:r>
          </a:p>
          <a:p>
            <a:pPr algn="ctr"/>
            <a:r>
              <a:rPr lang="fr-FR" sz="900" dirty="0">
                <a:solidFill>
                  <a:schemeClr val="tx1"/>
                </a:solidFill>
              </a:rPr>
              <a:t>Constater un manque ou une baisse de la valeur</a:t>
            </a:r>
          </a:p>
        </p:txBody>
      </p:sp>
      <p:sp>
        <p:nvSpPr>
          <p:cNvPr id="81" name="Flèche : droite 80">
            <a:extLst>
              <a:ext uri="{FF2B5EF4-FFF2-40B4-BE49-F238E27FC236}">
                <a16:creationId xmlns:a16="http://schemas.microsoft.com/office/drawing/2014/main" id="{70784863-B9D2-B6B1-B8A5-6CEDBC558738}"/>
              </a:ext>
            </a:extLst>
          </p:cNvPr>
          <p:cNvSpPr/>
          <p:nvPr/>
        </p:nvSpPr>
        <p:spPr>
          <a:xfrm>
            <a:off x="77874" y="3296193"/>
            <a:ext cx="1366272" cy="1191782"/>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tx1"/>
                </a:solidFill>
              </a:rPr>
              <a:t>MOTIVATIONS : </a:t>
            </a:r>
          </a:p>
          <a:p>
            <a:pPr algn="ctr"/>
            <a:r>
              <a:rPr lang="fr-FR" sz="900" dirty="0">
                <a:solidFill>
                  <a:schemeClr val="tx1"/>
                </a:solidFill>
              </a:rPr>
              <a:t>Se poser des questions et se projeter sur la valeur possible</a:t>
            </a:r>
          </a:p>
        </p:txBody>
      </p:sp>
      <p:sp>
        <p:nvSpPr>
          <p:cNvPr id="82" name="Flèche : droite 81">
            <a:extLst>
              <a:ext uri="{FF2B5EF4-FFF2-40B4-BE49-F238E27FC236}">
                <a16:creationId xmlns:a16="http://schemas.microsoft.com/office/drawing/2014/main" id="{3BC347C9-8C52-2175-17B2-45C13503A923}"/>
              </a:ext>
            </a:extLst>
          </p:cNvPr>
          <p:cNvSpPr/>
          <p:nvPr/>
        </p:nvSpPr>
        <p:spPr>
          <a:xfrm>
            <a:off x="1444146" y="3296193"/>
            <a:ext cx="1366272" cy="1191782"/>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tx1"/>
                </a:solidFill>
              </a:rPr>
              <a:t>IDEATION D’ACTIONS :</a:t>
            </a:r>
          </a:p>
          <a:p>
            <a:pPr algn="ctr"/>
            <a:r>
              <a:rPr lang="fr-FR" sz="900" dirty="0">
                <a:solidFill>
                  <a:schemeClr val="tx1"/>
                </a:solidFill>
              </a:rPr>
              <a:t>Clarifier la valeur et imaginer des actions</a:t>
            </a:r>
          </a:p>
        </p:txBody>
      </p:sp>
      <p:sp>
        <p:nvSpPr>
          <p:cNvPr id="85" name="Flèche : droite 84">
            <a:extLst>
              <a:ext uri="{FF2B5EF4-FFF2-40B4-BE49-F238E27FC236}">
                <a16:creationId xmlns:a16="http://schemas.microsoft.com/office/drawing/2014/main" id="{CCA1BE17-B17B-4E40-8231-CA5C958425F3}"/>
              </a:ext>
            </a:extLst>
          </p:cNvPr>
          <p:cNvSpPr/>
          <p:nvPr/>
        </p:nvSpPr>
        <p:spPr>
          <a:xfrm>
            <a:off x="4191256" y="3265712"/>
            <a:ext cx="1366272" cy="1191782"/>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tx1"/>
                </a:solidFill>
              </a:rPr>
              <a:t>DEMOTIVATIONS:</a:t>
            </a:r>
          </a:p>
          <a:p>
            <a:pPr algn="ctr"/>
            <a:r>
              <a:rPr lang="fr-FR" sz="900" dirty="0">
                <a:solidFill>
                  <a:schemeClr val="tx1"/>
                </a:solidFill>
              </a:rPr>
              <a:t>Constater un manque ou une baisse de la valeur</a:t>
            </a:r>
          </a:p>
        </p:txBody>
      </p:sp>
      <p:sp>
        <p:nvSpPr>
          <p:cNvPr id="87" name="Flèche : droite 86">
            <a:extLst>
              <a:ext uri="{FF2B5EF4-FFF2-40B4-BE49-F238E27FC236}">
                <a16:creationId xmlns:a16="http://schemas.microsoft.com/office/drawing/2014/main" id="{DAF85FFF-010C-2CA2-89EA-E4D4E8A68E3B}"/>
              </a:ext>
            </a:extLst>
          </p:cNvPr>
          <p:cNvSpPr/>
          <p:nvPr/>
        </p:nvSpPr>
        <p:spPr>
          <a:xfrm>
            <a:off x="77874" y="4488141"/>
            <a:ext cx="1366272" cy="1191781"/>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tx1"/>
                </a:solidFill>
              </a:rPr>
              <a:t>MOTIVATIONS : </a:t>
            </a:r>
          </a:p>
          <a:p>
            <a:pPr algn="ctr"/>
            <a:r>
              <a:rPr lang="fr-FR" sz="900" dirty="0">
                <a:solidFill>
                  <a:schemeClr val="tx1"/>
                </a:solidFill>
              </a:rPr>
              <a:t>Se poser des questions et se projeter sur la valeur possible</a:t>
            </a:r>
          </a:p>
        </p:txBody>
      </p:sp>
      <p:sp>
        <p:nvSpPr>
          <p:cNvPr id="91" name="Flèche : droite 90">
            <a:extLst>
              <a:ext uri="{FF2B5EF4-FFF2-40B4-BE49-F238E27FC236}">
                <a16:creationId xmlns:a16="http://schemas.microsoft.com/office/drawing/2014/main" id="{59F8697B-990C-C50A-AE92-AE2B0F44A135}"/>
              </a:ext>
            </a:extLst>
          </p:cNvPr>
          <p:cNvSpPr/>
          <p:nvPr/>
        </p:nvSpPr>
        <p:spPr>
          <a:xfrm>
            <a:off x="2824984" y="4513858"/>
            <a:ext cx="1366272" cy="1191781"/>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tx1"/>
                </a:solidFill>
              </a:rPr>
              <a:t>DEMOTIVATIONS:</a:t>
            </a:r>
          </a:p>
          <a:p>
            <a:pPr algn="ctr"/>
            <a:r>
              <a:rPr lang="fr-FR" sz="900" dirty="0">
                <a:solidFill>
                  <a:schemeClr val="tx1"/>
                </a:solidFill>
              </a:rPr>
              <a:t>Constater un manque ou une baisse de la valeur</a:t>
            </a:r>
          </a:p>
        </p:txBody>
      </p:sp>
      <p:sp>
        <p:nvSpPr>
          <p:cNvPr id="103" name="Flèche : droite 102">
            <a:extLst>
              <a:ext uri="{FF2B5EF4-FFF2-40B4-BE49-F238E27FC236}">
                <a16:creationId xmlns:a16="http://schemas.microsoft.com/office/drawing/2014/main" id="{2850F7B6-37AD-91E8-3848-89FD4DD76FD1}"/>
              </a:ext>
            </a:extLst>
          </p:cNvPr>
          <p:cNvSpPr/>
          <p:nvPr/>
        </p:nvSpPr>
        <p:spPr>
          <a:xfrm>
            <a:off x="1444146" y="5666218"/>
            <a:ext cx="1366272" cy="1191782"/>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tx1"/>
                </a:solidFill>
              </a:rPr>
              <a:t>DEMOTIVATIONS:</a:t>
            </a:r>
          </a:p>
          <a:p>
            <a:pPr algn="ctr"/>
            <a:r>
              <a:rPr lang="fr-FR" sz="900" dirty="0">
                <a:solidFill>
                  <a:schemeClr val="tx1"/>
                </a:solidFill>
              </a:rPr>
              <a:t>Constater un manque ou une baisse de la valeur</a:t>
            </a:r>
          </a:p>
        </p:txBody>
      </p:sp>
      <p:sp>
        <p:nvSpPr>
          <p:cNvPr id="104" name="Espace réservé du contenu 2">
            <a:extLst>
              <a:ext uri="{FF2B5EF4-FFF2-40B4-BE49-F238E27FC236}">
                <a16:creationId xmlns:a16="http://schemas.microsoft.com/office/drawing/2014/main" id="{A636EB58-7963-0C52-8DF3-D31F6077D188}"/>
              </a:ext>
            </a:extLst>
          </p:cNvPr>
          <p:cNvSpPr txBox="1">
            <a:spLocks/>
          </p:cNvSpPr>
          <p:nvPr/>
        </p:nvSpPr>
        <p:spPr>
          <a:xfrm>
            <a:off x="7041823" y="2317120"/>
            <a:ext cx="4110086" cy="76849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400" dirty="0"/>
              <a:t>La Communauté risque </a:t>
            </a:r>
            <a:r>
              <a:rPr lang="fr-FR" sz="1400" b="1" dirty="0">
                <a:solidFill>
                  <a:srgbClr val="FF0000"/>
                </a:solidFill>
              </a:rPr>
              <a:t>la fatigue par instabilité</a:t>
            </a:r>
            <a:r>
              <a:rPr lang="fr-FR" sz="1400" dirty="0"/>
              <a:t>. Elle n’a pas eu le temps de digérer ou de s’habituer à des actions qu’elle passe déjà à autre chose</a:t>
            </a:r>
          </a:p>
        </p:txBody>
      </p:sp>
      <p:sp>
        <p:nvSpPr>
          <p:cNvPr id="112" name="Espace réservé du contenu 2">
            <a:extLst>
              <a:ext uri="{FF2B5EF4-FFF2-40B4-BE49-F238E27FC236}">
                <a16:creationId xmlns:a16="http://schemas.microsoft.com/office/drawing/2014/main" id="{A03C0ACA-CAE8-EEED-CD5F-7043B189E31A}"/>
              </a:ext>
            </a:extLst>
          </p:cNvPr>
          <p:cNvSpPr txBox="1">
            <a:spLocks/>
          </p:cNvSpPr>
          <p:nvPr/>
        </p:nvSpPr>
        <p:spPr>
          <a:xfrm>
            <a:off x="5690116" y="3520025"/>
            <a:ext cx="4110086" cy="76849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400" dirty="0"/>
              <a:t>La Communauté a été prise dans la </a:t>
            </a:r>
            <a:r>
              <a:rPr lang="fr-FR" sz="1400" b="1" dirty="0">
                <a:solidFill>
                  <a:srgbClr val="FF0000"/>
                </a:solidFill>
              </a:rPr>
              <a:t>pile infinie d’actions</a:t>
            </a:r>
            <a:r>
              <a:rPr lang="fr-FR" sz="1400" dirty="0"/>
              <a:t>, jamais filtrée, priorisée ou testée. Malgré plein de bonnes idées, il n’y a eu que de l’idée.</a:t>
            </a:r>
          </a:p>
        </p:txBody>
      </p:sp>
      <p:sp>
        <p:nvSpPr>
          <p:cNvPr id="114" name="Espace réservé du contenu 2">
            <a:extLst>
              <a:ext uri="{FF2B5EF4-FFF2-40B4-BE49-F238E27FC236}">
                <a16:creationId xmlns:a16="http://schemas.microsoft.com/office/drawing/2014/main" id="{3A7D5615-53AD-7770-7A0E-EBEFE808EEB5}"/>
              </a:ext>
            </a:extLst>
          </p:cNvPr>
          <p:cNvSpPr txBox="1">
            <a:spLocks/>
          </p:cNvSpPr>
          <p:nvPr/>
        </p:nvSpPr>
        <p:spPr>
          <a:xfrm>
            <a:off x="4319571" y="4739707"/>
            <a:ext cx="4717332" cy="76849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400" dirty="0"/>
              <a:t>La Communauté a été prise dans le </a:t>
            </a:r>
            <a:r>
              <a:rPr lang="fr-FR" sz="1400" b="1" dirty="0">
                <a:solidFill>
                  <a:srgbClr val="FF0000"/>
                </a:solidFill>
              </a:rPr>
              <a:t>vortex des constats</a:t>
            </a:r>
            <a:r>
              <a:rPr lang="fr-FR" sz="1400" dirty="0"/>
              <a:t>, beaucoup d’information mais peu de décision d’actions. Les renseignements n’aboutissent à  rien d’opérationnel.</a:t>
            </a:r>
          </a:p>
        </p:txBody>
      </p:sp>
      <p:sp>
        <p:nvSpPr>
          <p:cNvPr id="117" name="Espace réservé du contenu 2">
            <a:extLst>
              <a:ext uri="{FF2B5EF4-FFF2-40B4-BE49-F238E27FC236}">
                <a16:creationId xmlns:a16="http://schemas.microsoft.com/office/drawing/2014/main" id="{DBCB5061-BD21-A88F-4CB1-9F590DD75155}"/>
              </a:ext>
            </a:extLst>
          </p:cNvPr>
          <p:cNvSpPr txBox="1">
            <a:spLocks/>
          </p:cNvSpPr>
          <p:nvPr/>
        </p:nvSpPr>
        <p:spPr>
          <a:xfrm>
            <a:off x="2962787" y="5857769"/>
            <a:ext cx="5225151" cy="90405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400" dirty="0"/>
              <a:t>La Communauté a vécu un</a:t>
            </a:r>
            <a:r>
              <a:rPr lang="fr-FR" sz="1400" b="1" dirty="0">
                <a:solidFill>
                  <a:srgbClr val="FF0000"/>
                </a:solidFill>
              </a:rPr>
              <a:t> démarrage raté</a:t>
            </a:r>
            <a:r>
              <a:rPr lang="fr-FR" sz="1400" dirty="0"/>
              <a:t>. Trop d’efforts pour trop peu de motivation de départ. Il est même difficile de se retrouver pour décider quoi que ce soit (communautés qui n’ont rien commencé)</a:t>
            </a:r>
          </a:p>
        </p:txBody>
      </p:sp>
      <p:sp>
        <p:nvSpPr>
          <p:cNvPr id="118" name="Flèche : droite 117">
            <a:extLst>
              <a:ext uri="{FF2B5EF4-FFF2-40B4-BE49-F238E27FC236}">
                <a16:creationId xmlns:a16="http://schemas.microsoft.com/office/drawing/2014/main" id="{6ADD4B79-D437-355F-3A6C-8252344154D1}"/>
              </a:ext>
            </a:extLst>
          </p:cNvPr>
          <p:cNvSpPr/>
          <p:nvPr/>
        </p:nvSpPr>
        <p:spPr>
          <a:xfrm>
            <a:off x="4183974" y="2044066"/>
            <a:ext cx="1366271" cy="1254215"/>
          </a:xfrm>
          <a:prstGeom prst="rightArrow">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22" name="Flèche : droite 121">
            <a:extLst>
              <a:ext uri="{FF2B5EF4-FFF2-40B4-BE49-F238E27FC236}">
                <a16:creationId xmlns:a16="http://schemas.microsoft.com/office/drawing/2014/main" id="{8E131869-ED34-5CAD-BC5E-34AAEB9838ED}"/>
              </a:ext>
            </a:extLst>
          </p:cNvPr>
          <p:cNvSpPr/>
          <p:nvPr/>
        </p:nvSpPr>
        <p:spPr>
          <a:xfrm>
            <a:off x="2817700" y="3293912"/>
            <a:ext cx="1366272" cy="1191782"/>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23" name="Flèche : droite 122">
            <a:extLst>
              <a:ext uri="{FF2B5EF4-FFF2-40B4-BE49-F238E27FC236}">
                <a16:creationId xmlns:a16="http://schemas.microsoft.com/office/drawing/2014/main" id="{F466E3D2-3177-E5C6-0101-FDAAA677AD07}"/>
              </a:ext>
            </a:extLst>
          </p:cNvPr>
          <p:cNvSpPr/>
          <p:nvPr/>
        </p:nvSpPr>
        <p:spPr>
          <a:xfrm>
            <a:off x="1444146" y="4499264"/>
            <a:ext cx="1366272" cy="1191782"/>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24" name="Flèche : droite 123">
            <a:extLst>
              <a:ext uri="{FF2B5EF4-FFF2-40B4-BE49-F238E27FC236}">
                <a16:creationId xmlns:a16="http://schemas.microsoft.com/office/drawing/2014/main" id="{807D9C44-B815-6A80-8259-8715A9271D86}"/>
              </a:ext>
            </a:extLst>
          </p:cNvPr>
          <p:cNvSpPr/>
          <p:nvPr/>
        </p:nvSpPr>
        <p:spPr>
          <a:xfrm>
            <a:off x="70591" y="5655045"/>
            <a:ext cx="1366272" cy="1191781"/>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3" name="Signe de multiplication 2">
            <a:extLst>
              <a:ext uri="{FF2B5EF4-FFF2-40B4-BE49-F238E27FC236}">
                <a16:creationId xmlns:a16="http://schemas.microsoft.com/office/drawing/2014/main" id="{A63C3707-94B5-5035-457C-5016E4676119}"/>
              </a:ext>
            </a:extLst>
          </p:cNvPr>
          <p:cNvSpPr/>
          <p:nvPr/>
        </p:nvSpPr>
        <p:spPr>
          <a:xfrm>
            <a:off x="3976701" y="1888058"/>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 name="Signe de multiplication 124">
            <a:extLst>
              <a:ext uri="{FF2B5EF4-FFF2-40B4-BE49-F238E27FC236}">
                <a16:creationId xmlns:a16="http://schemas.microsoft.com/office/drawing/2014/main" id="{20D4137F-F722-FE8D-F783-19E3521A1F92}"/>
              </a:ext>
            </a:extLst>
          </p:cNvPr>
          <p:cNvSpPr/>
          <p:nvPr/>
        </p:nvSpPr>
        <p:spPr>
          <a:xfrm>
            <a:off x="2555762" y="3081512"/>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 name="Signe de multiplication 125">
            <a:extLst>
              <a:ext uri="{FF2B5EF4-FFF2-40B4-BE49-F238E27FC236}">
                <a16:creationId xmlns:a16="http://schemas.microsoft.com/office/drawing/2014/main" id="{A7718773-A14D-F248-661F-3E63DB2B81A5}"/>
              </a:ext>
            </a:extLst>
          </p:cNvPr>
          <p:cNvSpPr/>
          <p:nvPr/>
        </p:nvSpPr>
        <p:spPr>
          <a:xfrm>
            <a:off x="1204055" y="4305951"/>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 name="Signe de multiplication 126">
            <a:extLst>
              <a:ext uri="{FF2B5EF4-FFF2-40B4-BE49-F238E27FC236}">
                <a16:creationId xmlns:a16="http://schemas.microsoft.com/office/drawing/2014/main" id="{C5BDD967-3FC9-8859-F10C-933B12ACA2D2}"/>
              </a:ext>
            </a:extLst>
          </p:cNvPr>
          <p:cNvSpPr/>
          <p:nvPr/>
        </p:nvSpPr>
        <p:spPr>
          <a:xfrm>
            <a:off x="-210359" y="5434424"/>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4237392504"/>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84DCD44-F6F6-A541-D387-389A216D75B4}"/>
              </a:ext>
            </a:extLst>
          </p:cNvPr>
          <p:cNvSpPr>
            <a:spLocks noGrp="1"/>
          </p:cNvSpPr>
          <p:nvPr>
            <p:ph type="title"/>
          </p:nvPr>
        </p:nvSpPr>
        <p:spPr>
          <a:xfrm>
            <a:off x="1396372" y="365125"/>
            <a:ext cx="9957427" cy="1325563"/>
          </a:xfrm>
        </p:spPr>
        <p:txBody>
          <a:bodyPr>
            <a:noAutofit/>
          </a:bodyPr>
          <a:lstStyle/>
          <a:p>
            <a:r>
              <a:rPr lang="fr-FR" sz="2800" dirty="0"/>
              <a:t>Timing des cycles d’ajustements</a:t>
            </a:r>
            <a:br>
              <a:rPr lang="fr-FR" sz="2800" dirty="0"/>
            </a:br>
            <a:r>
              <a:rPr lang="fr-FR" sz="2800" dirty="0"/>
              <a:t>Les étapes du vécu de valeur</a:t>
            </a:r>
            <a:br>
              <a:rPr lang="fr-FR" sz="2800" dirty="0"/>
            </a:br>
            <a:r>
              <a:rPr lang="fr-FR" sz="2800" dirty="0"/>
              <a:t>Exemples de situations</a:t>
            </a:r>
          </a:p>
        </p:txBody>
      </p:sp>
      <p:grpSp>
        <p:nvGrpSpPr>
          <p:cNvPr id="4" name="Groupe 3">
            <a:extLst>
              <a:ext uri="{FF2B5EF4-FFF2-40B4-BE49-F238E27FC236}">
                <a16:creationId xmlns:a16="http://schemas.microsoft.com/office/drawing/2014/main" id="{68F473DD-0BE5-DC5B-1021-2A47A24563DB}"/>
              </a:ext>
            </a:extLst>
          </p:cNvPr>
          <p:cNvGrpSpPr/>
          <p:nvPr/>
        </p:nvGrpSpPr>
        <p:grpSpPr>
          <a:xfrm>
            <a:off x="415915" y="570219"/>
            <a:ext cx="844570" cy="915374"/>
            <a:chOff x="9771184" y="501063"/>
            <a:chExt cx="2201188" cy="2385724"/>
          </a:xfrm>
        </p:grpSpPr>
        <p:grpSp>
          <p:nvGrpSpPr>
            <p:cNvPr id="5" name="Groupe 4">
              <a:extLst>
                <a:ext uri="{FF2B5EF4-FFF2-40B4-BE49-F238E27FC236}">
                  <a16:creationId xmlns:a16="http://schemas.microsoft.com/office/drawing/2014/main" id="{87E2DD41-84FE-5F16-9126-B6BE2B38428D}"/>
                </a:ext>
              </a:extLst>
            </p:cNvPr>
            <p:cNvGrpSpPr/>
            <p:nvPr/>
          </p:nvGrpSpPr>
          <p:grpSpPr>
            <a:xfrm>
              <a:off x="9771184" y="501063"/>
              <a:ext cx="2201188" cy="2385724"/>
              <a:chOff x="4948467" y="2361639"/>
              <a:chExt cx="2646976" cy="2868885"/>
            </a:xfrm>
          </p:grpSpPr>
          <p:pic>
            <p:nvPicPr>
              <p:cNvPr id="12" name="Graphique 11" descr="Flux de travail avec un remplissage uni">
                <a:extLst>
                  <a:ext uri="{FF2B5EF4-FFF2-40B4-BE49-F238E27FC236}">
                    <a16:creationId xmlns:a16="http://schemas.microsoft.com/office/drawing/2014/main" id="{6080C13D-7FAC-5A21-FB06-6F5C84BE81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13" name="Graphique 12" descr="Flux de travail avec un remplissage uni">
                <a:extLst>
                  <a:ext uri="{FF2B5EF4-FFF2-40B4-BE49-F238E27FC236}">
                    <a16:creationId xmlns:a16="http://schemas.microsoft.com/office/drawing/2014/main" id="{FC19A64B-34ED-FC9E-60BF-756473EAB2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6" name="Graphique 5" descr="Panneau de signalisation avec un remplissage uni">
              <a:extLst>
                <a:ext uri="{FF2B5EF4-FFF2-40B4-BE49-F238E27FC236}">
                  <a16:creationId xmlns:a16="http://schemas.microsoft.com/office/drawing/2014/main" id="{0EDB414E-D98C-CF50-9138-23EE8A02BAC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357885" y="605752"/>
              <a:ext cx="581454" cy="581454"/>
            </a:xfrm>
            <a:prstGeom prst="rect">
              <a:avLst/>
            </a:prstGeom>
          </p:spPr>
        </p:pic>
        <p:pic>
          <p:nvPicPr>
            <p:cNvPr id="7" name="Graphique 6" descr="Signe pouce en haut avec un remplissage uni">
              <a:extLst>
                <a:ext uri="{FF2B5EF4-FFF2-40B4-BE49-F238E27FC236}">
                  <a16:creationId xmlns:a16="http://schemas.microsoft.com/office/drawing/2014/main" id="{C9D5E99C-5762-D05C-BBD2-2F8F0690300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3043" y="2137783"/>
              <a:ext cx="597064" cy="597064"/>
            </a:xfrm>
            <a:prstGeom prst="rect">
              <a:avLst/>
            </a:prstGeom>
          </p:spPr>
        </p:pic>
        <p:grpSp>
          <p:nvGrpSpPr>
            <p:cNvPr id="8" name="Groupe 7">
              <a:extLst>
                <a:ext uri="{FF2B5EF4-FFF2-40B4-BE49-F238E27FC236}">
                  <a16:creationId xmlns:a16="http://schemas.microsoft.com/office/drawing/2014/main" id="{8F3AD604-8FF6-7407-79CA-6F5F8CAA4E31}"/>
                </a:ext>
              </a:extLst>
            </p:cNvPr>
            <p:cNvGrpSpPr/>
            <p:nvPr/>
          </p:nvGrpSpPr>
          <p:grpSpPr>
            <a:xfrm rot="16200000">
              <a:off x="9922049" y="721026"/>
              <a:ext cx="461197" cy="350906"/>
              <a:chOff x="1499428" y="3098753"/>
              <a:chExt cx="474208" cy="322063"/>
            </a:xfrm>
          </p:grpSpPr>
          <p:sp>
            <p:nvSpPr>
              <p:cNvPr id="10" name="Flèche : bas 9">
                <a:extLst>
                  <a:ext uri="{FF2B5EF4-FFF2-40B4-BE49-F238E27FC236}">
                    <a16:creationId xmlns:a16="http://schemas.microsoft.com/office/drawing/2014/main" id="{BCAE01C5-EA5A-DD6F-A035-E585E7116DD1}"/>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1" name="Flèche : bas 10">
                <a:extLst>
                  <a:ext uri="{FF2B5EF4-FFF2-40B4-BE49-F238E27FC236}">
                    <a16:creationId xmlns:a16="http://schemas.microsoft.com/office/drawing/2014/main" id="{FCFF0F2A-52CD-AB3A-469A-E23AB01A3A8F}"/>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9" name="Graphique 8" descr="Cause à effet avec un remplissage uni">
              <a:extLst>
                <a:ext uri="{FF2B5EF4-FFF2-40B4-BE49-F238E27FC236}">
                  <a16:creationId xmlns:a16="http://schemas.microsoft.com/office/drawing/2014/main" id="{F66CCAC6-5F9D-9DBB-195E-17BD90CB578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342276" y="2137783"/>
              <a:ext cx="597063" cy="597063"/>
            </a:xfrm>
            <a:prstGeom prst="rect">
              <a:avLst/>
            </a:prstGeom>
          </p:spPr>
        </p:pic>
      </p:grpSp>
      <p:grpSp>
        <p:nvGrpSpPr>
          <p:cNvPr id="20" name="Groupe 19">
            <a:extLst>
              <a:ext uri="{FF2B5EF4-FFF2-40B4-BE49-F238E27FC236}">
                <a16:creationId xmlns:a16="http://schemas.microsoft.com/office/drawing/2014/main" id="{F84D8171-7AEE-E15B-17BD-FAB965878715}"/>
              </a:ext>
            </a:extLst>
          </p:cNvPr>
          <p:cNvGrpSpPr/>
          <p:nvPr/>
        </p:nvGrpSpPr>
        <p:grpSpPr>
          <a:xfrm>
            <a:off x="1396372" y="1593851"/>
            <a:ext cx="8932206" cy="1971078"/>
            <a:chOff x="1091953" y="2681056"/>
            <a:chExt cx="8611340" cy="915374"/>
          </a:xfrm>
        </p:grpSpPr>
        <p:sp>
          <p:nvSpPr>
            <p:cNvPr id="14" name="Flèche : droite 13">
              <a:extLst>
                <a:ext uri="{FF2B5EF4-FFF2-40B4-BE49-F238E27FC236}">
                  <a16:creationId xmlns:a16="http://schemas.microsoft.com/office/drawing/2014/main" id="{FE116394-2CA2-9BCD-BC85-12BEB67E3EEF}"/>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MOTIVATIONS : </a:t>
              </a:r>
            </a:p>
            <a:p>
              <a:pPr algn="ctr"/>
              <a:r>
                <a:rPr lang="fr-FR" sz="1200" dirty="0">
                  <a:solidFill>
                    <a:schemeClr val="tx1"/>
                  </a:solidFill>
                </a:rPr>
                <a:t>Se projeter et se poser des questions sur la valeur possible</a:t>
              </a:r>
            </a:p>
          </p:txBody>
        </p:sp>
        <p:sp>
          <p:nvSpPr>
            <p:cNvPr id="15" name="Flèche : droite 14">
              <a:extLst>
                <a:ext uri="{FF2B5EF4-FFF2-40B4-BE49-F238E27FC236}">
                  <a16:creationId xmlns:a16="http://schemas.microsoft.com/office/drawing/2014/main" id="{BE308013-ADE2-85AF-3AB2-E6D31240A33F}"/>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IDEATION D’ACTIONS :</a:t>
              </a:r>
            </a:p>
            <a:p>
              <a:pPr algn="ctr"/>
              <a:r>
                <a:rPr lang="fr-FR" sz="1200" dirty="0">
                  <a:solidFill>
                    <a:schemeClr val="tx1"/>
                  </a:solidFill>
                </a:rPr>
                <a:t>Clarifier la valeur et imaginer des actions</a:t>
              </a:r>
            </a:p>
          </p:txBody>
        </p:sp>
        <p:sp>
          <p:nvSpPr>
            <p:cNvPr id="16" name="Flèche : droite 15">
              <a:extLst>
                <a:ext uri="{FF2B5EF4-FFF2-40B4-BE49-F238E27FC236}">
                  <a16:creationId xmlns:a16="http://schemas.microsoft.com/office/drawing/2014/main" id="{093D84D0-2BFE-60C7-45CC-5D628B328FDC}"/>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PRIORISATION ET TESTS:</a:t>
              </a:r>
            </a:p>
            <a:p>
              <a:pPr algn="ctr"/>
              <a:r>
                <a:rPr lang="fr-FR" sz="1200" dirty="0">
                  <a:solidFill>
                    <a:schemeClr val="tx1"/>
                  </a:solidFill>
                </a:rPr>
                <a:t>Tester la valeur avec les actions priorisées</a:t>
              </a:r>
            </a:p>
          </p:txBody>
        </p:sp>
        <p:sp>
          <p:nvSpPr>
            <p:cNvPr id="17" name="Flèche : droite 16">
              <a:extLst>
                <a:ext uri="{FF2B5EF4-FFF2-40B4-BE49-F238E27FC236}">
                  <a16:creationId xmlns:a16="http://schemas.microsoft.com/office/drawing/2014/main" id="{042FFF5B-9F57-B843-F495-4EFDEEA0B432}"/>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HABITUDE :</a:t>
              </a:r>
            </a:p>
            <a:p>
              <a:pPr algn="ctr"/>
              <a:r>
                <a:rPr lang="fr-FR" sz="1200" dirty="0">
                  <a:solidFill>
                    <a:schemeClr val="tx1"/>
                  </a:solidFill>
                </a:rPr>
                <a:t>S’habituer à la valeur et la confirmer</a:t>
              </a:r>
            </a:p>
          </p:txBody>
        </p:sp>
        <p:sp>
          <p:nvSpPr>
            <p:cNvPr id="19" name="Flèche : droite 18">
              <a:extLst>
                <a:ext uri="{FF2B5EF4-FFF2-40B4-BE49-F238E27FC236}">
                  <a16:creationId xmlns:a16="http://schemas.microsoft.com/office/drawing/2014/main" id="{603A70FB-9209-2734-9461-E08F421E7052}"/>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DEMOTIVATIONS:</a:t>
              </a:r>
            </a:p>
            <a:p>
              <a:pPr algn="ctr"/>
              <a:r>
                <a:rPr lang="fr-FR" sz="1200" dirty="0">
                  <a:solidFill>
                    <a:schemeClr val="tx1"/>
                  </a:solidFill>
                </a:rPr>
                <a:t>Constater un manque ou une baisse de la valeur</a:t>
              </a:r>
            </a:p>
          </p:txBody>
        </p:sp>
      </p:grpSp>
      <p:sp>
        <p:nvSpPr>
          <p:cNvPr id="81" name="Rectangle 80">
            <a:extLst>
              <a:ext uri="{FF2B5EF4-FFF2-40B4-BE49-F238E27FC236}">
                <a16:creationId xmlns:a16="http://schemas.microsoft.com/office/drawing/2014/main" id="{9735A728-236C-71B4-083A-E30927B7B808}"/>
              </a:ext>
            </a:extLst>
          </p:cNvPr>
          <p:cNvSpPr/>
          <p:nvPr/>
        </p:nvSpPr>
        <p:spPr>
          <a:xfrm>
            <a:off x="1396372" y="3729361"/>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Quelques personnes ont commencé à se réunir régulièrement et se disent qu’il pourrait être intéressant de lancer une Communauté</a:t>
            </a:r>
          </a:p>
        </p:txBody>
      </p:sp>
      <p:sp>
        <p:nvSpPr>
          <p:cNvPr id="82" name="Rectangle 81">
            <a:extLst>
              <a:ext uri="{FF2B5EF4-FFF2-40B4-BE49-F238E27FC236}">
                <a16:creationId xmlns:a16="http://schemas.microsoft.com/office/drawing/2014/main" id="{6D55B8E8-65C2-B183-BA6D-A559CC0E1734}"/>
              </a:ext>
            </a:extLst>
          </p:cNvPr>
          <p:cNvSpPr/>
          <p:nvPr/>
        </p:nvSpPr>
        <p:spPr>
          <a:xfrm>
            <a:off x="3182813" y="3729361"/>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La Communauté ne s’est pas encore lancée, elle est considérée comme un dispositif à définir (membres, activités, fréquences, etc.)</a:t>
            </a:r>
          </a:p>
        </p:txBody>
      </p:sp>
      <p:sp>
        <p:nvSpPr>
          <p:cNvPr id="83" name="Rectangle 82">
            <a:extLst>
              <a:ext uri="{FF2B5EF4-FFF2-40B4-BE49-F238E27FC236}">
                <a16:creationId xmlns:a16="http://schemas.microsoft.com/office/drawing/2014/main" id="{4A159ED8-E224-3369-4749-26D3D0212B10}"/>
              </a:ext>
            </a:extLst>
          </p:cNvPr>
          <p:cNvSpPr/>
          <p:nvPr/>
        </p:nvSpPr>
        <p:spPr>
          <a:xfrm>
            <a:off x="4969254" y="3729361"/>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Les membres vivent leurs premiers événements et découvrent l’expérience de Communauté. Ils sont encore en prise de repères après la structuration.</a:t>
            </a:r>
          </a:p>
        </p:txBody>
      </p:sp>
      <p:sp>
        <p:nvSpPr>
          <p:cNvPr id="84" name="Rectangle 83">
            <a:extLst>
              <a:ext uri="{FF2B5EF4-FFF2-40B4-BE49-F238E27FC236}">
                <a16:creationId xmlns:a16="http://schemas.microsoft.com/office/drawing/2014/main" id="{DDB51F03-9493-553C-6FCA-C4F658B92061}"/>
              </a:ext>
            </a:extLst>
          </p:cNvPr>
          <p:cNvSpPr/>
          <p:nvPr/>
        </p:nvSpPr>
        <p:spPr>
          <a:xfrm>
            <a:off x="6755695" y="3729361"/>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Les membres ont leur repères, ont ajusté leurs agendas pour pouvoir venir régulièrement</a:t>
            </a:r>
          </a:p>
        </p:txBody>
      </p:sp>
      <p:sp>
        <p:nvSpPr>
          <p:cNvPr id="85" name="Rectangle 84">
            <a:extLst>
              <a:ext uri="{FF2B5EF4-FFF2-40B4-BE49-F238E27FC236}">
                <a16:creationId xmlns:a16="http://schemas.microsoft.com/office/drawing/2014/main" id="{49547BAC-2D62-17CE-95BD-E14BF904CFD0}"/>
              </a:ext>
            </a:extLst>
          </p:cNvPr>
          <p:cNvSpPr/>
          <p:nvPr/>
        </p:nvSpPr>
        <p:spPr>
          <a:xfrm>
            <a:off x="8542136" y="3729361"/>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L’effet nouveauté est retombé et les sujets les plus importants ont été vus, les membres viennent moins</a:t>
            </a:r>
          </a:p>
        </p:txBody>
      </p:sp>
      <p:sp>
        <p:nvSpPr>
          <p:cNvPr id="86" name="Rectangle 85">
            <a:extLst>
              <a:ext uri="{FF2B5EF4-FFF2-40B4-BE49-F238E27FC236}">
                <a16:creationId xmlns:a16="http://schemas.microsoft.com/office/drawing/2014/main" id="{5C5AA7F3-8A8A-F9CB-B865-66F39B04B8D4}"/>
              </a:ext>
            </a:extLst>
          </p:cNvPr>
          <p:cNvSpPr/>
          <p:nvPr/>
        </p:nvSpPr>
        <p:spPr>
          <a:xfrm>
            <a:off x="1396372" y="4793655"/>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La question des Communautés arrive (par la hiérarchie) dans le département comme une possibilité de Nouvelle façon de travailler</a:t>
            </a:r>
          </a:p>
        </p:txBody>
      </p:sp>
      <p:sp>
        <p:nvSpPr>
          <p:cNvPr id="87" name="Rectangle 86">
            <a:extLst>
              <a:ext uri="{FF2B5EF4-FFF2-40B4-BE49-F238E27FC236}">
                <a16:creationId xmlns:a16="http://schemas.microsoft.com/office/drawing/2014/main" id="{034D37D3-31A5-CF03-D21A-486439A92726}"/>
              </a:ext>
            </a:extLst>
          </p:cNvPr>
          <p:cNvSpPr/>
          <p:nvPr/>
        </p:nvSpPr>
        <p:spPr>
          <a:xfrm>
            <a:off x="3182813" y="4793655"/>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Les membres fondateurs se réunissent pour poser des éléments structurants (règles, etc.) et discuter de concrétisation</a:t>
            </a:r>
          </a:p>
        </p:txBody>
      </p:sp>
      <p:sp>
        <p:nvSpPr>
          <p:cNvPr id="88" name="Rectangle 87">
            <a:extLst>
              <a:ext uri="{FF2B5EF4-FFF2-40B4-BE49-F238E27FC236}">
                <a16:creationId xmlns:a16="http://schemas.microsoft.com/office/drawing/2014/main" id="{4BDAB1D1-3140-F1C3-8CCA-0618A5A721BE}"/>
              </a:ext>
            </a:extLst>
          </p:cNvPr>
          <p:cNvSpPr/>
          <p:nvPr/>
        </p:nvSpPr>
        <p:spPr>
          <a:xfrm>
            <a:off x="4969254" y="4793655"/>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Parmi toutes les possibilités qui ont été imaginées jusque là, les membres choisissent ce qu’ils veulent commencer</a:t>
            </a:r>
          </a:p>
        </p:txBody>
      </p:sp>
      <p:sp>
        <p:nvSpPr>
          <p:cNvPr id="89" name="Rectangle 88">
            <a:extLst>
              <a:ext uri="{FF2B5EF4-FFF2-40B4-BE49-F238E27FC236}">
                <a16:creationId xmlns:a16="http://schemas.microsoft.com/office/drawing/2014/main" id="{0BF0642F-F9D8-927E-490A-7711DFA82A1D}"/>
              </a:ext>
            </a:extLst>
          </p:cNvPr>
          <p:cNvSpPr/>
          <p:nvPr/>
        </p:nvSpPr>
        <p:spPr>
          <a:xfrm>
            <a:off x="6755695" y="4793655"/>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Les membres ont des attentes claires à chaque événement, ils savent à peu près à quoi s’attendre comme expérience</a:t>
            </a:r>
          </a:p>
        </p:txBody>
      </p:sp>
      <p:sp>
        <p:nvSpPr>
          <p:cNvPr id="90" name="Rectangle 89">
            <a:extLst>
              <a:ext uri="{FF2B5EF4-FFF2-40B4-BE49-F238E27FC236}">
                <a16:creationId xmlns:a16="http://schemas.microsoft.com/office/drawing/2014/main" id="{50D059D1-667A-B857-1C36-56E9FECEB582}"/>
              </a:ext>
            </a:extLst>
          </p:cNvPr>
          <p:cNvSpPr/>
          <p:nvPr/>
        </p:nvSpPr>
        <p:spPr>
          <a:xfrm>
            <a:off x="8542136" y="4793655"/>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Les membres imaginent tellement facilement l’expérience qu’ils vont vivre qu’ils se permettent de manquer un ou plusieurs événements</a:t>
            </a:r>
          </a:p>
        </p:txBody>
      </p:sp>
      <p:sp>
        <p:nvSpPr>
          <p:cNvPr id="91" name="Rectangle 90">
            <a:extLst>
              <a:ext uri="{FF2B5EF4-FFF2-40B4-BE49-F238E27FC236}">
                <a16:creationId xmlns:a16="http://schemas.microsoft.com/office/drawing/2014/main" id="{94FD4FE0-9CBB-3740-A35A-257269674590}"/>
              </a:ext>
            </a:extLst>
          </p:cNvPr>
          <p:cNvSpPr/>
          <p:nvPr/>
        </p:nvSpPr>
        <p:spPr>
          <a:xfrm>
            <a:off x="1396372" y="5857949"/>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La hiérarchie n’est pas encore ouverte à l’idée d’établir une Communauté, et un travail de promotion a lieu en amont de toute négociation</a:t>
            </a:r>
          </a:p>
        </p:txBody>
      </p:sp>
      <p:sp>
        <p:nvSpPr>
          <p:cNvPr id="92" name="Rectangle 91">
            <a:extLst>
              <a:ext uri="{FF2B5EF4-FFF2-40B4-BE49-F238E27FC236}">
                <a16:creationId xmlns:a16="http://schemas.microsoft.com/office/drawing/2014/main" id="{DDBB509F-CD3F-4B4F-26AD-0A3829D734D6}"/>
              </a:ext>
            </a:extLst>
          </p:cNvPr>
          <p:cNvSpPr/>
          <p:nvPr/>
        </p:nvSpPr>
        <p:spPr>
          <a:xfrm>
            <a:off x="3182813" y="5857949"/>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Les futurs membres sont d’accord pour lancer une Communauté, mais n’ont aucune idée pour l’instant de qui quoi comment</a:t>
            </a:r>
          </a:p>
        </p:txBody>
      </p:sp>
      <p:sp>
        <p:nvSpPr>
          <p:cNvPr id="95" name="Rectangle 94">
            <a:extLst>
              <a:ext uri="{FF2B5EF4-FFF2-40B4-BE49-F238E27FC236}">
                <a16:creationId xmlns:a16="http://schemas.microsoft.com/office/drawing/2014/main" id="{A0B69617-75CD-1FD1-964F-3E74AD5B8EC3}"/>
              </a:ext>
            </a:extLst>
          </p:cNvPr>
          <p:cNvSpPr/>
          <p:nvPr/>
        </p:nvSpPr>
        <p:spPr>
          <a:xfrm>
            <a:off x="4969254" y="5857949"/>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Après un atelier où tous ont posé leurs souhaits les plus fous, la pression est haute pour l’événement de lancement</a:t>
            </a:r>
          </a:p>
        </p:txBody>
      </p:sp>
      <p:sp>
        <p:nvSpPr>
          <p:cNvPr id="96" name="Rectangle 95">
            <a:extLst>
              <a:ext uri="{FF2B5EF4-FFF2-40B4-BE49-F238E27FC236}">
                <a16:creationId xmlns:a16="http://schemas.microsoft.com/office/drawing/2014/main" id="{5DA151E2-4A2D-F782-DD6C-174E2BE62DCE}"/>
              </a:ext>
            </a:extLst>
          </p:cNvPr>
          <p:cNvSpPr/>
          <p:nvPr/>
        </p:nvSpPr>
        <p:spPr>
          <a:xfrm>
            <a:off x="6755695" y="5857949"/>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Les membres parlent naturellement de la Communauté comme faisant partie de leur expérience globale de travail</a:t>
            </a:r>
          </a:p>
        </p:txBody>
      </p:sp>
      <p:sp>
        <p:nvSpPr>
          <p:cNvPr id="98" name="Rectangle 97">
            <a:extLst>
              <a:ext uri="{FF2B5EF4-FFF2-40B4-BE49-F238E27FC236}">
                <a16:creationId xmlns:a16="http://schemas.microsoft.com/office/drawing/2014/main" id="{4A166B04-55F4-1862-9F90-135F718295EA}"/>
              </a:ext>
            </a:extLst>
          </p:cNvPr>
          <p:cNvSpPr/>
          <p:nvPr/>
        </p:nvSpPr>
        <p:spPr>
          <a:xfrm>
            <a:off x="8542136" y="5857949"/>
            <a:ext cx="1616794" cy="921016"/>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La hiérarchie regarde ailleurs car le sujet est « traité depuis longtemps » et ne soutient plus la Communauté</a:t>
            </a:r>
          </a:p>
        </p:txBody>
      </p:sp>
    </p:spTree>
    <p:extLst>
      <p:ext uri="{BB962C8B-B14F-4D97-AF65-F5344CB8AC3E}">
        <p14:creationId xmlns:p14="http://schemas.microsoft.com/office/powerpoint/2010/main" val="192114840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84DCD44-F6F6-A541-D387-389A216D75B4}"/>
              </a:ext>
            </a:extLst>
          </p:cNvPr>
          <p:cNvSpPr>
            <a:spLocks noGrp="1"/>
          </p:cNvSpPr>
          <p:nvPr>
            <p:ph type="title"/>
          </p:nvPr>
        </p:nvSpPr>
        <p:spPr>
          <a:xfrm>
            <a:off x="1396372" y="365125"/>
            <a:ext cx="9957427" cy="1325563"/>
          </a:xfrm>
        </p:spPr>
        <p:txBody>
          <a:bodyPr>
            <a:normAutofit/>
          </a:bodyPr>
          <a:lstStyle/>
          <a:p>
            <a:r>
              <a:rPr lang="fr-FR" sz="4000" dirty="0"/>
              <a:t>La Durée et le Timing des cycles d’ajustements</a:t>
            </a:r>
            <a:br>
              <a:rPr lang="fr-FR" sz="4000" dirty="0"/>
            </a:br>
            <a:r>
              <a:rPr lang="fr-FR" sz="4000" dirty="0"/>
              <a:t>Cas des Communautés à thèmes multiples</a:t>
            </a:r>
          </a:p>
        </p:txBody>
      </p:sp>
      <p:grpSp>
        <p:nvGrpSpPr>
          <p:cNvPr id="4" name="Groupe 3">
            <a:extLst>
              <a:ext uri="{FF2B5EF4-FFF2-40B4-BE49-F238E27FC236}">
                <a16:creationId xmlns:a16="http://schemas.microsoft.com/office/drawing/2014/main" id="{68F473DD-0BE5-DC5B-1021-2A47A24563DB}"/>
              </a:ext>
            </a:extLst>
          </p:cNvPr>
          <p:cNvGrpSpPr/>
          <p:nvPr/>
        </p:nvGrpSpPr>
        <p:grpSpPr>
          <a:xfrm>
            <a:off x="415915" y="570219"/>
            <a:ext cx="844570" cy="915374"/>
            <a:chOff x="9771184" y="501063"/>
            <a:chExt cx="2201188" cy="2385724"/>
          </a:xfrm>
        </p:grpSpPr>
        <p:grpSp>
          <p:nvGrpSpPr>
            <p:cNvPr id="5" name="Groupe 4">
              <a:extLst>
                <a:ext uri="{FF2B5EF4-FFF2-40B4-BE49-F238E27FC236}">
                  <a16:creationId xmlns:a16="http://schemas.microsoft.com/office/drawing/2014/main" id="{87E2DD41-84FE-5F16-9126-B6BE2B38428D}"/>
                </a:ext>
              </a:extLst>
            </p:cNvPr>
            <p:cNvGrpSpPr/>
            <p:nvPr/>
          </p:nvGrpSpPr>
          <p:grpSpPr>
            <a:xfrm>
              <a:off x="9771184" y="501063"/>
              <a:ext cx="2201188" cy="2385724"/>
              <a:chOff x="4948467" y="2361639"/>
              <a:chExt cx="2646976" cy="2868885"/>
            </a:xfrm>
          </p:grpSpPr>
          <p:pic>
            <p:nvPicPr>
              <p:cNvPr id="12" name="Graphique 11" descr="Flux de travail avec un remplissage uni">
                <a:extLst>
                  <a:ext uri="{FF2B5EF4-FFF2-40B4-BE49-F238E27FC236}">
                    <a16:creationId xmlns:a16="http://schemas.microsoft.com/office/drawing/2014/main" id="{6080C13D-7FAC-5A21-FB06-6F5C84BE81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13" name="Graphique 12" descr="Flux de travail avec un remplissage uni">
                <a:extLst>
                  <a:ext uri="{FF2B5EF4-FFF2-40B4-BE49-F238E27FC236}">
                    <a16:creationId xmlns:a16="http://schemas.microsoft.com/office/drawing/2014/main" id="{FC19A64B-34ED-FC9E-60BF-756473EAB2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6" name="Graphique 5" descr="Panneau de signalisation avec un remplissage uni">
              <a:extLst>
                <a:ext uri="{FF2B5EF4-FFF2-40B4-BE49-F238E27FC236}">
                  <a16:creationId xmlns:a16="http://schemas.microsoft.com/office/drawing/2014/main" id="{0EDB414E-D98C-CF50-9138-23EE8A02BAC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357885" y="605752"/>
              <a:ext cx="581454" cy="581454"/>
            </a:xfrm>
            <a:prstGeom prst="rect">
              <a:avLst/>
            </a:prstGeom>
          </p:spPr>
        </p:pic>
        <p:pic>
          <p:nvPicPr>
            <p:cNvPr id="7" name="Graphique 6" descr="Signe pouce en haut avec un remplissage uni">
              <a:extLst>
                <a:ext uri="{FF2B5EF4-FFF2-40B4-BE49-F238E27FC236}">
                  <a16:creationId xmlns:a16="http://schemas.microsoft.com/office/drawing/2014/main" id="{C9D5E99C-5762-D05C-BBD2-2F8F0690300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3043" y="2137783"/>
              <a:ext cx="597064" cy="597064"/>
            </a:xfrm>
            <a:prstGeom prst="rect">
              <a:avLst/>
            </a:prstGeom>
          </p:spPr>
        </p:pic>
        <p:grpSp>
          <p:nvGrpSpPr>
            <p:cNvPr id="8" name="Groupe 7">
              <a:extLst>
                <a:ext uri="{FF2B5EF4-FFF2-40B4-BE49-F238E27FC236}">
                  <a16:creationId xmlns:a16="http://schemas.microsoft.com/office/drawing/2014/main" id="{8F3AD604-8FF6-7407-79CA-6F5F8CAA4E31}"/>
                </a:ext>
              </a:extLst>
            </p:cNvPr>
            <p:cNvGrpSpPr/>
            <p:nvPr/>
          </p:nvGrpSpPr>
          <p:grpSpPr>
            <a:xfrm rot="16200000">
              <a:off x="9922049" y="721026"/>
              <a:ext cx="461197" cy="350906"/>
              <a:chOff x="1499428" y="3098753"/>
              <a:chExt cx="474208" cy="322063"/>
            </a:xfrm>
          </p:grpSpPr>
          <p:sp>
            <p:nvSpPr>
              <p:cNvPr id="10" name="Flèche : bas 9">
                <a:extLst>
                  <a:ext uri="{FF2B5EF4-FFF2-40B4-BE49-F238E27FC236}">
                    <a16:creationId xmlns:a16="http://schemas.microsoft.com/office/drawing/2014/main" id="{BCAE01C5-EA5A-DD6F-A035-E585E7116DD1}"/>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1" name="Flèche : bas 10">
                <a:extLst>
                  <a:ext uri="{FF2B5EF4-FFF2-40B4-BE49-F238E27FC236}">
                    <a16:creationId xmlns:a16="http://schemas.microsoft.com/office/drawing/2014/main" id="{FCFF0F2A-52CD-AB3A-469A-E23AB01A3A8F}"/>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9" name="Graphique 8" descr="Cause à effet avec un remplissage uni">
              <a:extLst>
                <a:ext uri="{FF2B5EF4-FFF2-40B4-BE49-F238E27FC236}">
                  <a16:creationId xmlns:a16="http://schemas.microsoft.com/office/drawing/2014/main" id="{F66CCAC6-5F9D-9DBB-195E-17BD90CB578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342276" y="2137783"/>
              <a:ext cx="597063" cy="597063"/>
            </a:xfrm>
            <a:prstGeom prst="rect">
              <a:avLst/>
            </a:prstGeom>
          </p:spPr>
        </p:pic>
      </p:grpSp>
      <p:grpSp>
        <p:nvGrpSpPr>
          <p:cNvPr id="36" name="Groupe 35">
            <a:extLst>
              <a:ext uri="{FF2B5EF4-FFF2-40B4-BE49-F238E27FC236}">
                <a16:creationId xmlns:a16="http://schemas.microsoft.com/office/drawing/2014/main" id="{CEBD8C85-74DC-1D51-6FFB-4FE04B820BA9}"/>
              </a:ext>
            </a:extLst>
          </p:cNvPr>
          <p:cNvGrpSpPr/>
          <p:nvPr/>
        </p:nvGrpSpPr>
        <p:grpSpPr>
          <a:xfrm>
            <a:off x="4254727" y="1690688"/>
            <a:ext cx="7234959" cy="1563666"/>
            <a:chOff x="1091953" y="2681056"/>
            <a:chExt cx="8611340" cy="915374"/>
          </a:xfrm>
        </p:grpSpPr>
        <p:sp>
          <p:nvSpPr>
            <p:cNvPr id="37" name="Flèche : droite 36">
              <a:extLst>
                <a:ext uri="{FF2B5EF4-FFF2-40B4-BE49-F238E27FC236}">
                  <a16:creationId xmlns:a16="http://schemas.microsoft.com/office/drawing/2014/main" id="{3F4BCD2F-AA13-1BE2-FC9B-C9ACF42351E4}"/>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b="1" dirty="0">
                  <a:solidFill>
                    <a:schemeClr val="tx1"/>
                  </a:solidFill>
                </a:rPr>
                <a:t>MOTIVATIONS </a:t>
              </a:r>
            </a:p>
          </p:txBody>
        </p:sp>
        <p:sp>
          <p:nvSpPr>
            <p:cNvPr id="38" name="Flèche : droite 37">
              <a:extLst>
                <a:ext uri="{FF2B5EF4-FFF2-40B4-BE49-F238E27FC236}">
                  <a16:creationId xmlns:a16="http://schemas.microsoft.com/office/drawing/2014/main" id="{D9E0C298-F201-899F-0D6A-C027604BE483}"/>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b="1" dirty="0">
                  <a:solidFill>
                    <a:schemeClr val="tx1"/>
                  </a:solidFill>
                </a:rPr>
                <a:t>IDEATION D’ACTIONS </a:t>
              </a:r>
              <a:endParaRPr lang="fr-FR" sz="1050" dirty="0">
                <a:solidFill>
                  <a:schemeClr val="tx1"/>
                </a:solidFill>
              </a:endParaRPr>
            </a:p>
          </p:txBody>
        </p:sp>
        <p:sp>
          <p:nvSpPr>
            <p:cNvPr id="39" name="Flèche : droite 38">
              <a:extLst>
                <a:ext uri="{FF2B5EF4-FFF2-40B4-BE49-F238E27FC236}">
                  <a16:creationId xmlns:a16="http://schemas.microsoft.com/office/drawing/2014/main" id="{1254BDAA-82C3-FE40-66B6-ED72E2EEFE50}"/>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b="1" dirty="0">
                  <a:solidFill>
                    <a:schemeClr val="tx1"/>
                  </a:solidFill>
                </a:rPr>
                <a:t>PRIORISATION ET TESTS</a:t>
              </a:r>
              <a:endParaRPr lang="fr-FR" sz="1050" dirty="0">
                <a:solidFill>
                  <a:schemeClr val="tx1"/>
                </a:solidFill>
              </a:endParaRPr>
            </a:p>
          </p:txBody>
        </p:sp>
        <p:sp>
          <p:nvSpPr>
            <p:cNvPr id="40" name="Flèche : droite 39">
              <a:extLst>
                <a:ext uri="{FF2B5EF4-FFF2-40B4-BE49-F238E27FC236}">
                  <a16:creationId xmlns:a16="http://schemas.microsoft.com/office/drawing/2014/main" id="{28B255D5-1C84-6E3A-67DD-87794D472F8D}"/>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b="1" dirty="0">
                  <a:solidFill>
                    <a:schemeClr val="tx1"/>
                  </a:solidFill>
                </a:rPr>
                <a:t>HABITUDE</a:t>
              </a:r>
              <a:endParaRPr lang="fr-FR" sz="1050" dirty="0">
                <a:solidFill>
                  <a:schemeClr val="tx1"/>
                </a:solidFill>
              </a:endParaRPr>
            </a:p>
          </p:txBody>
        </p:sp>
        <p:sp>
          <p:nvSpPr>
            <p:cNvPr id="41" name="Flèche : droite 40">
              <a:extLst>
                <a:ext uri="{FF2B5EF4-FFF2-40B4-BE49-F238E27FC236}">
                  <a16:creationId xmlns:a16="http://schemas.microsoft.com/office/drawing/2014/main" id="{D845EB16-B752-C9F3-2802-1FF80613BF75}"/>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b="1" dirty="0">
                  <a:solidFill>
                    <a:schemeClr val="tx1"/>
                  </a:solidFill>
                </a:rPr>
                <a:t>DEMOTIVATIONS</a:t>
              </a:r>
              <a:endParaRPr lang="fr-FR" sz="1050" dirty="0">
                <a:solidFill>
                  <a:schemeClr val="tx1"/>
                </a:solidFill>
              </a:endParaRPr>
            </a:p>
          </p:txBody>
        </p:sp>
      </p:grpSp>
      <p:sp>
        <p:nvSpPr>
          <p:cNvPr id="42" name="Espace réservé du contenu 2">
            <a:extLst>
              <a:ext uri="{FF2B5EF4-FFF2-40B4-BE49-F238E27FC236}">
                <a16:creationId xmlns:a16="http://schemas.microsoft.com/office/drawing/2014/main" id="{96601A49-4B6A-6F8D-3195-9361DAB48F45}"/>
              </a:ext>
            </a:extLst>
          </p:cNvPr>
          <p:cNvSpPr txBox="1">
            <a:spLocks/>
          </p:cNvSpPr>
          <p:nvPr/>
        </p:nvSpPr>
        <p:spPr>
          <a:xfrm>
            <a:off x="415915" y="2399251"/>
            <a:ext cx="1628972" cy="395063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fr-FR" sz="1400" dirty="0"/>
              <a:t>Les communautés ne sont pas toujours monolithiques en termes de sujets.</a:t>
            </a:r>
          </a:p>
          <a:p>
            <a:pPr marL="0" indent="0">
              <a:buNone/>
            </a:pPr>
            <a:r>
              <a:rPr lang="fr-FR" sz="1400" dirty="0"/>
              <a:t> Quand elles en couvrent plusieurs, tous ne sont pas nécessairement à la même étape en termes de vécu de valeur. </a:t>
            </a:r>
          </a:p>
          <a:p>
            <a:pPr marL="0" indent="0">
              <a:buNone/>
            </a:pPr>
            <a:endParaRPr lang="fr-FR" sz="1400" dirty="0"/>
          </a:p>
          <a:p>
            <a:pPr marL="0" indent="0">
              <a:buNone/>
            </a:pPr>
            <a:r>
              <a:rPr lang="fr-FR" sz="1400" dirty="0"/>
              <a:t>Ici un exemple de Communauté avec 5 sujets différents à différentes phases</a:t>
            </a:r>
          </a:p>
        </p:txBody>
      </p:sp>
      <p:sp>
        <p:nvSpPr>
          <p:cNvPr id="44" name="ZoneTexte 43">
            <a:extLst>
              <a:ext uri="{FF2B5EF4-FFF2-40B4-BE49-F238E27FC236}">
                <a16:creationId xmlns:a16="http://schemas.microsoft.com/office/drawing/2014/main" id="{3B3F8EAF-EF52-2647-72C2-D483B2BEC48B}"/>
              </a:ext>
            </a:extLst>
          </p:cNvPr>
          <p:cNvSpPr txBox="1"/>
          <p:nvPr/>
        </p:nvSpPr>
        <p:spPr>
          <a:xfrm>
            <a:off x="2542236" y="1891419"/>
            <a:ext cx="1712490" cy="1015663"/>
          </a:xfrm>
          <a:prstGeom prst="rect">
            <a:avLst/>
          </a:prstGeom>
          <a:noFill/>
        </p:spPr>
        <p:txBody>
          <a:bodyPr wrap="square">
            <a:spAutoFit/>
          </a:bodyPr>
          <a:lstStyle/>
          <a:p>
            <a:pPr marL="0" indent="0" algn="ctr">
              <a:buNone/>
            </a:pPr>
            <a:r>
              <a:rPr lang="fr-FR" sz="2000" b="1" dirty="0"/>
              <a:t>Etapes du vécu de valeur </a:t>
            </a:r>
            <a:r>
              <a:rPr lang="fr-FR" sz="2000" b="1" dirty="0">
                <a:sym typeface="Wingdings" panose="05000000000000000000" pitchFamily="2" charset="2"/>
              </a:rPr>
              <a:t></a:t>
            </a:r>
          </a:p>
        </p:txBody>
      </p:sp>
      <p:sp>
        <p:nvSpPr>
          <p:cNvPr id="18" name="Rectangle 17">
            <a:extLst>
              <a:ext uri="{FF2B5EF4-FFF2-40B4-BE49-F238E27FC236}">
                <a16:creationId xmlns:a16="http://schemas.microsoft.com/office/drawing/2014/main" id="{D31F5AA2-DAF8-339F-FE8C-167533A555FA}"/>
              </a:ext>
            </a:extLst>
          </p:cNvPr>
          <p:cNvSpPr/>
          <p:nvPr/>
        </p:nvSpPr>
        <p:spPr>
          <a:xfrm>
            <a:off x="4220293" y="3128470"/>
            <a:ext cx="1376738"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Sujet/Activité 1 (voulu) : La Communauté est inspirée par ce sujet ou cette activité, elle aimerait bénéficier de ses bénéfices</a:t>
            </a:r>
          </a:p>
        </p:txBody>
      </p:sp>
      <p:sp>
        <p:nvSpPr>
          <p:cNvPr id="46" name="Rectangle 45">
            <a:extLst>
              <a:ext uri="{FF2B5EF4-FFF2-40B4-BE49-F238E27FC236}">
                <a16:creationId xmlns:a16="http://schemas.microsoft.com/office/drawing/2014/main" id="{B905D60A-78FB-8519-0412-34B9CB23DD83}"/>
              </a:ext>
            </a:extLst>
          </p:cNvPr>
          <p:cNvSpPr/>
          <p:nvPr/>
        </p:nvSpPr>
        <p:spPr>
          <a:xfrm>
            <a:off x="5610009" y="3889345"/>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Sujet/Activité 2 (collecté et converti) : La Communauté a l’intention d’expérimenter ce sujet ou cette activité, et imagine différents moyens concrets d’y arriver</a:t>
            </a:r>
          </a:p>
        </p:txBody>
      </p:sp>
      <p:sp>
        <p:nvSpPr>
          <p:cNvPr id="48" name="ZoneTexte 47">
            <a:extLst>
              <a:ext uri="{FF2B5EF4-FFF2-40B4-BE49-F238E27FC236}">
                <a16:creationId xmlns:a16="http://schemas.microsoft.com/office/drawing/2014/main" id="{1754AA59-D557-FC82-54BC-48F0EE6E37C4}"/>
              </a:ext>
            </a:extLst>
          </p:cNvPr>
          <p:cNvSpPr txBox="1"/>
          <p:nvPr/>
        </p:nvSpPr>
        <p:spPr>
          <a:xfrm>
            <a:off x="2053187" y="4731927"/>
            <a:ext cx="1830827" cy="923330"/>
          </a:xfrm>
          <a:prstGeom prst="rect">
            <a:avLst/>
          </a:prstGeom>
          <a:noFill/>
        </p:spPr>
        <p:txBody>
          <a:bodyPr wrap="square">
            <a:spAutoFit/>
          </a:bodyPr>
          <a:lstStyle/>
          <a:p>
            <a:pPr marL="0" indent="0" algn="ctr">
              <a:buNone/>
            </a:pPr>
            <a:r>
              <a:rPr lang="fr-FR" sz="1800" b="1" dirty="0">
                <a:sym typeface="Wingdings" panose="05000000000000000000" pitchFamily="2" charset="2"/>
              </a:rPr>
              <a:t>Sujets et activités de la Communauté</a:t>
            </a:r>
            <a:endParaRPr lang="fr-FR" sz="1800" b="1" dirty="0"/>
          </a:p>
        </p:txBody>
      </p:sp>
      <p:sp>
        <p:nvSpPr>
          <p:cNvPr id="21" name="Accolade ouvrante 20">
            <a:extLst>
              <a:ext uri="{FF2B5EF4-FFF2-40B4-BE49-F238E27FC236}">
                <a16:creationId xmlns:a16="http://schemas.microsoft.com/office/drawing/2014/main" id="{143D2E3B-43A6-43D7-F741-505F566808B4}"/>
              </a:ext>
            </a:extLst>
          </p:cNvPr>
          <p:cNvSpPr/>
          <p:nvPr/>
        </p:nvSpPr>
        <p:spPr>
          <a:xfrm>
            <a:off x="3884014" y="3107812"/>
            <a:ext cx="266390" cy="3750187"/>
          </a:xfrm>
          <a:prstGeom prst="leftBrace">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1" name="Rectangle 50">
            <a:extLst>
              <a:ext uri="{FF2B5EF4-FFF2-40B4-BE49-F238E27FC236}">
                <a16:creationId xmlns:a16="http://schemas.microsoft.com/office/drawing/2014/main" id="{E4E43D5E-CCFD-6BF8-F225-25032635B8C8}"/>
              </a:ext>
            </a:extLst>
          </p:cNvPr>
          <p:cNvSpPr/>
          <p:nvPr/>
        </p:nvSpPr>
        <p:spPr>
          <a:xfrm>
            <a:off x="7068484" y="6059084"/>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Sujet/Activité  3 (en cours d’initiation et d’expérimentation) : La Communauté priorise ou est en découverte pratique de ce sujet pour en évaluer l’intérêt </a:t>
            </a:r>
          </a:p>
        </p:txBody>
      </p:sp>
      <p:sp>
        <p:nvSpPr>
          <p:cNvPr id="52" name="Rectangle 51">
            <a:extLst>
              <a:ext uri="{FF2B5EF4-FFF2-40B4-BE49-F238E27FC236}">
                <a16:creationId xmlns:a16="http://schemas.microsoft.com/office/drawing/2014/main" id="{2A95D9B1-DBB8-7E5A-5542-DDCD97F6A8C9}"/>
              </a:ext>
            </a:extLst>
          </p:cNvPr>
          <p:cNvSpPr/>
          <p:nvPr/>
        </p:nvSpPr>
        <p:spPr>
          <a:xfrm>
            <a:off x="8595702" y="4617383"/>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Sujet/Activité 4 (appliqué, utile) : La Communauté a l’habitude de ce sujet qui a confirmé sa valeur dans le temps et sur la répétition</a:t>
            </a:r>
          </a:p>
        </p:txBody>
      </p:sp>
      <p:sp>
        <p:nvSpPr>
          <p:cNvPr id="53" name="Rectangle 52">
            <a:extLst>
              <a:ext uri="{FF2B5EF4-FFF2-40B4-BE49-F238E27FC236}">
                <a16:creationId xmlns:a16="http://schemas.microsoft.com/office/drawing/2014/main" id="{34D2C794-C76F-53EE-AE80-B7398541542B}"/>
              </a:ext>
            </a:extLst>
          </p:cNvPr>
          <p:cNvSpPr/>
          <p:nvPr/>
        </p:nvSpPr>
        <p:spPr>
          <a:xfrm>
            <a:off x="10054177" y="5378258"/>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Sujet/Activité 5 (en cours d’abandon ou de rejet) : La Communauté ne trouve pas ou plus de valeur à ce sujet ou activité</a:t>
            </a:r>
          </a:p>
        </p:txBody>
      </p:sp>
    </p:spTree>
    <p:extLst>
      <p:ext uri="{BB962C8B-B14F-4D97-AF65-F5344CB8AC3E}">
        <p14:creationId xmlns:p14="http://schemas.microsoft.com/office/powerpoint/2010/main" val="3239688795"/>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84DCD44-F6F6-A541-D387-389A216D75B4}"/>
              </a:ext>
            </a:extLst>
          </p:cNvPr>
          <p:cNvSpPr>
            <a:spLocks noGrp="1"/>
          </p:cNvSpPr>
          <p:nvPr>
            <p:ph type="title"/>
          </p:nvPr>
        </p:nvSpPr>
        <p:spPr>
          <a:xfrm>
            <a:off x="1396372" y="365125"/>
            <a:ext cx="9957427" cy="1325563"/>
          </a:xfrm>
        </p:spPr>
        <p:txBody>
          <a:bodyPr>
            <a:normAutofit/>
          </a:bodyPr>
          <a:lstStyle/>
          <a:p>
            <a:r>
              <a:rPr lang="fr-FR" sz="4000" dirty="0"/>
              <a:t>La Durée et le Timing des cycles d’ajustements</a:t>
            </a:r>
            <a:br>
              <a:rPr lang="fr-FR" sz="4000" dirty="0"/>
            </a:br>
            <a:r>
              <a:rPr lang="fr-FR" sz="4000" dirty="0"/>
              <a:t>Cas des Communautés à thèmes multiples</a:t>
            </a:r>
          </a:p>
        </p:txBody>
      </p:sp>
      <p:grpSp>
        <p:nvGrpSpPr>
          <p:cNvPr id="4" name="Groupe 3">
            <a:extLst>
              <a:ext uri="{FF2B5EF4-FFF2-40B4-BE49-F238E27FC236}">
                <a16:creationId xmlns:a16="http://schemas.microsoft.com/office/drawing/2014/main" id="{68F473DD-0BE5-DC5B-1021-2A47A24563DB}"/>
              </a:ext>
            </a:extLst>
          </p:cNvPr>
          <p:cNvGrpSpPr/>
          <p:nvPr/>
        </p:nvGrpSpPr>
        <p:grpSpPr>
          <a:xfrm>
            <a:off x="415915" y="570219"/>
            <a:ext cx="844570" cy="915374"/>
            <a:chOff x="9771184" y="501063"/>
            <a:chExt cx="2201188" cy="2385724"/>
          </a:xfrm>
        </p:grpSpPr>
        <p:grpSp>
          <p:nvGrpSpPr>
            <p:cNvPr id="5" name="Groupe 4">
              <a:extLst>
                <a:ext uri="{FF2B5EF4-FFF2-40B4-BE49-F238E27FC236}">
                  <a16:creationId xmlns:a16="http://schemas.microsoft.com/office/drawing/2014/main" id="{87E2DD41-84FE-5F16-9126-B6BE2B38428D}"/>
                </a:ext>
              </a:extLst>
            </p:cNvPr>
            <p:cNvGrpSpPr/>
            <p:nvPr/>
          </p:nvGrpSpPr>
          <p:grpSpPr>
            <a:xfrm>
              <a:off x="9771184" y="501063"/>
              <a:ext cx="2201188" cy="2385724"/>
              <a:chOff x="4948467" y="2361639"/>
              <a:chExt cx="2646976" cy="2868885"/>
            </a:xfrm>
          </p:grpSpPr>
          <p:pic>
            <p:nvPicPr>
              <p:cNvPr id="12" name="Graphique 11" descr="Flux de travail avec un remplissage uni">
                <a:extLst>
                  <a:ext uri="{FF2B5EF4-FFF2-40B4-BE49-F238E27FC236}">
                    <a16:creationId xmlns:a16="http://schemas.microsoft.com/office/drawing/2014/main" id="{6080C13D-7FAC-5A21-FB06-6F5C84BE81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13" name="Graphique 12" descr="Flux de travail avec un remplissage uni">
                <a:extLst>
                  <a:ext uri="{FF2B5EF4-FFF2-40B4-BE49-F238E27FC236}">
                    <a16:creationId xmlns:a16="http://schemas.microsoft.com/office/drawing/2014/main" id="{FC19A64B-34ED-FC9E-60BF-756473EAB2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6" name="Graphique 5" descr="Panneau de signalisation avec un remplissage uni">
              <a:extLst>
                <a:ext uri="{FF2B5EF4-FFF2-40B4-BE49-F238E27FC236}">
                  <a16:creationId xmlns:a16="http://schemas.microsoft.com/office/drawing/2014/main" id="{0EDB414E-D98C-CF50-9138-23EE8A02BAC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357885" y="605752"/>
              <a:ext cx="581454" cy="581454"/>
            </a:xfrm>
            <a:prstGeom prst="rect">
              <a:avLst/>
            </a:prstGeom>
          </p:spPr>
        </p:pic>
        <p:pic>
          <p:nvPicPr>
            <p:cNvPr id="7" name="Graphique 6" descr="Signe pouce en haut avec un remplissage uni">
              <a:extLst>
                <a:ext uri="{FF2B5EF4-FFF2-40B4-BE49-F238E27FC236}">
                  <a16:creationId xmlns:a16="http://schemas.microsoft.com/office/drawing/2014/main" id="{C9D5E99C-5762-D05C-BBD2-2F8F0690300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3043" y="2137783"/>
              <a:ext cx="597064" cy="597064"/>
            </a:xfrm>
            <a:prstGeom prst="rect">
              <a:avLst/>
            </a:prstGeom>
          </p:spPr>
        </p:pic>
        <p:grpSp>
          <p:nvGrpSpPr>
            <p:cNvPr id="8" name="Groupe 7">
              <a:extLst>
                <a:ext uri="{FF2B5EF4-FFF2-40B4-BE49-F238E27FC236}">
                  <a16:creationId xmlns:a16="http://schemas.microsoft.com/office/drawing/2014/main" id="{8F3AD604-8FF6-7407-79CA-6F5F8CAA4E31}"/>
                </a:ext>
              </a:extLst>
            </p:cNvPr>
            <p:cNvGrpSpPr/>
            <p:nvPr/>
          </p:nvGrpSpPr>
          <p:grpSpPr>
            <a:xfrm rot="16200000">
              <a:off x="9922049" y="721026"/>
              <a:ext cx="461197" cy="350906"/>
              <a:chOff x="1499428" y="3098753"/>
              <a:chExt cx="474208" cy="322063"/>
            </a:xfrm>
          </p:grpSpPr>
          <p:sp>
            <p:nvSpPr>
              <p:cNvPr id="10" name="Flèche : bas 9">
                <a:extLst>
                  <a:ext uri="{FF2B5EF4-FFF2-40B4-BE49-F238E27FC236}">
                    <a16:creationId xmlns:a16="http://schemas.microsoft.com/office/drawing/2014/main" id="{BCAE01C5-EA5A-DD6F-A035-E585E7116DD1}"/>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1" name="Flèche : bas 10">
                <a:extLst>
                  <a:ext uri="{FF2B5EF4-FFF2-40B4-BE49-F238E27FC236}">
                    <a16:creationId xmlns:a16="http://schemas.microsoft.com/office/drawing/2014/main" id="{FCFF0F2A-52CD-AB3A-469A-E23AB01A3A8F}"/>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9" name="Graphique 8" descr="Cause à effet avec un remplissage uni">
              <a:extLst>
                <a:ext uri="{FF2B5EF4-FFF2-40B4-BE49-F238E27FC236}">
                  <a16:creationId xmlns:a16="http://schemas.microsoft.com/office/drawing/2014/main" id="{F66CCAC6-5F9D-9DBB-195E-17BD90CB578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342276" y="2137783"/>
              <a:ext cx="597063" cy="597063"/>
            </a:xfrm>
            <a:prstGeom prst="rect">
              <a:avLst/>
            </a:prstGeom>
          </p:spPr>
        </p:pic>
      </p:grpSp>
      <p:sp>
        <p:nvSpPr>
          <p:cNvPr id="42" name="Espace réservé du contenu 2">
            <a:extLst>
              <a:ext uri="{FF2B5EF4-FFF2-40B4-BE49-F238E27FC236}">
                <a16:creationId xmlns:a16="http://schemas.microsoft.com/office/drawing/2014/main" id="{96601A49-4B6A-6F8D-3195-9361DAB48F45}"/>
              </a:ext>
            </a:extLst>
          </p:cNvPr>
          <p:cNvSpPr txBox="1">
            <a:spLocks/>
          </p:cNvSpPr>
          <p:nvPr/>
        </p:nvSpPr>
        <p:spPr>
          <a:xfrm>
            <a:off x="231589" y="2046605"/>
            <a:ext cx="1628972" cy="395063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fr-FR" sz="1400" dirty="0"/>
              <a:t>Voici différents profils de Communauté en termes d’étapes de vécu de valeur.</a:t>
            </a:r>
          </a:p>
          <a:p>
            <a:pPr marL="0" indent="0">
              <a:buNone/>
            </a:pPr>
            <a:endParaRPr lang="fr-FR" sz="1400" dirty="0"/>
          </a:p>
          <a:p>
            <a:pPr marL="0" indent="0">
              <a:buNone/>
            </a:pPr>
            <a:r>
              <a:rPr lang="fr-FR" sz="1400" dirty="0"/>
              <a:t>Identifier ce profil d’étapes de valeur permet de mieux sélectionner les formes d’intervention et avoir un bon timing. </a:t>
            </a:r>
          </a:p>
          <a:p>
            <a:pPr marL="0" indent="0">
              <a:buNone/>
            </a:pPr>
            <a:endParaRPr lang="fr-FR" sz="1400" dirty="0"/>
          </a:p>
        </p:txBody>
      </p:sp>
      <p:grpSp>
        <p:nvGrpSpPr>
          <p:cNvPr id="15" name="Groupe 14">
            <a:extLst>
              <a:ext uri="{FF2B5EF4-FFF2-40B4-BE49-F238E27FC236}">
                <a16:creationId xmlns:a16="http://schemas.microsoft.com/office/drawing/2014/main" id="{2DD95731-E7CE-08D4-CE72-AB9548A1F0FC}"/>
              </a:ext>
            </a:extLst>
          </p:cNvPr>
          <p:cNvGrpSpPr/>
          <p:nvPr/>
        </p:nvGrpSpPr>
        <p:grpSpPr>
          <a:xfrm>
            <a:off x="2330013" y="1690688"/>
            <a:ext cx="9159673" cy="4884882"/>
            <a:chOff x="2194126" y="1905619"/>
            <a:chExt cx="8123079" cy="4332063"/>
          </a:xfrm>
        </p:grpSpPr>
        <p:grpSp>
          <p:nvGrpSpPr>
            <p:cNvPr id="14" name="Groupe 13">
              <a:extLst>
                <a:ext uri="{FF2B5EF4-FFF2-40B4-BE49-F238E27FC236}">
                  <a16:creationId xmlns:a16="http://schemas.microsoft.com/office/drawing/2014/main" id="{BF05AE77-8BE7-9BD1-43C5-22F7C9ABBDBB}"/>
                </a:ext>
              </a:extLst>
            </p:cNvPr>
            <p:cNvGrpSpPr/>
            <p:nvPr/>
          </p:nvGrpSpPr>
          <p:grpSpPr>
            <a:xfrm>
              <a:off x="2227585" y="1905619"/>
              <a:ext cx="2370887" cy="1922149"/>
              <a:chOff x="2142390" y="1517571"/>
              <a:chExt cx="2849526" cy="2310197"/>
            </a:xfrm>
          </p:grpSpPr>
          <p:grpSp>
            <p:nvGrpSpPr>
              <p:cNvPr id="36" name="Groupe 35">
                <a:extLst>
                  <a:ext uri="{FF2B5EF4-FFF2-40B4-BE49-F238E27FC236}">
                    <a16:creationId xmlns:a16="http://schemas.microsoft.com/office/drawing/2014/main" id="{CEBD8C85-74DC-1D51-6FFB-4FE04B820BA9}"/>
                  </a:ext>
                </a:extLst>
              </p:cNvPr>
              <p:cNvGrpSpPr/>
              <p:nvPr/>
            </p:nvGrpSpPr>
            <p:grpSpPr>
              <a:xfrm>
                <a:off x="2169993" y="2122139"/>
                <a:ext cx="2821923" cy="609892"/>
                <a:chOff x="1091953" y="2681056"/>
                <a:chExt cx="8611340" cy="915374"/>
              </a:xfrm>
            </p:grpSpPr>
            <p:sp>
              <p:nvSpPr>
                <p:cNvPr id="37" name="Flèche : droite 36">
                  <a:extLst>
                    <a:ext uri="{FF2B5EF4-FFF2-40B4-BE49-F238E27FC236}">
                      <a16:creationId xmlns:a16="http://schemas.microsoft.com/office/drawing/2014/main" id="{3F4BCD2F-AA13-1BE2-FC9B-C9ACF42351E4}"/>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38" name="Flèche : droite 37">
                  <a:extLst>
                    <a:ext uri="{FF2B5EF4-FFF2-40B4-BE49-F238E27FC236}">
                      <a16:creationId xmlns:a16="http://schemas.microsoft.com/office/drawing/2014/main" id="{D9E0C298-F201-899F-0D6A-C027604BE483}"/>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39" name="Flèche : droite 38">
                  <a:extLst>
                    <a:ext uri="{FF2B5EF4-FFF2-40B4-BE49-F238E27FC236}">
                      <a16:creationId xmlns:a16="http://schemas.microsoft.com/office/drawing/2014/main" id="{1254BDAA-82C3-FE40-66B6-ED72E2EEFE50}"/>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40" name="Flèche : droite 39">
                  <a:extLst>
                    <a:ext uri="{FF2B5EF4-FFF2-40B4-BE49-F238E27FC236}">
                      <a16:creationId xmlns:a16="http://schemas.microsoft.com/office/drawing/2014/main" id="{28B255D5-1C84-6E3A-67DD-87794D472F8D}"/>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41" name="Flèche : droite 40">
                  <a:extLst>
                    <a:ext uri="{FF2B5EF4-FFF2-40B4-BE49-F238E27FC236}">
                      <a16:creationId xmlns:a16="http://schemas.microsoft.com/office/drawing/2014/main" id="{D845EB16-B752-C9F3-2802-1FF80613BF75}"/>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21" name="ZoneTexte 20">
                <a:extLst>
                  <a:ext uri="{FF2B5EF4-FFF2-40B4-BE49-F238E27FC236}">
                    <a16:creationId xmlns:a16="http://schemas.microsoft.com/office/drawing/2014/main" id="{D6374C4C-02C7-01FC-7DF0-EA9B32CE1714}"/>
                  </a:ext>
                </a:extLst>
              </p:cNvPr>
              <p:cNvSpPr txBox="1"/>
              <p:nvPr/>
            </p:nvSpPr>
            <p:spPr>
              <a:xfrm>
                <a:off x="2169204" y="1517571"/>
                <a:ext cx="2821925" cy="442865"/>
              </a:xfrm>
              <a:prstGeom prst="rect">
                <a:avLst/>
              </a:prstGeom>
              <a:noFill/>
            </p:spPr>
            <p:txBody>
              <a:bodyPr wrap="square">
                <a:spAutoFit/>
              </a:bodyPr>
              <a:lstStyle/>
              <a:p>
                <a:pPr marL="0" indent="0" algn="ctr">
                  <a:buNone/>
                </a:pPr>
                <a:r>
                  <a:rPr lang="fr-FR" sz="1050" b="1" dirty="0">
                    <a:solidFill>
                      <a:srgbClr val="00B050"/>
                    </a:solidFill>
                    <a:sym typeface="Wingdings" panose="05000000000000000000" pitchFamily="2" charset="2"/>
                  </a:rPr>
                  <a:t>Idée de Communauté </a:t>
                </a:r>
                <a:r>
                  <a:rPr lang="fr-FR" sz="1050" b="1" dirty="0">
                    <a:sym typeface="Wingdings" panose="05000000000000000000" pitchFamily="2" charset="2"/>
                  </a:rPr>
                  <a:t>: </a:t>
                </a:r>
                <a:r>
                  <a:rPr lang="fr-FR" sz="1050" dirty="0">
                    <a:sym typeface="Wingdings" panose="05000000000000000000" pitchFamily="2" charset="2"/>
                  </a:rPr>
                  <a:t>la majorité des sujets et activités à l’étape motivations</a:t>
                </a:r>
                <a:endParaRPr lang="fr-FR" sz="1050" dirty="0"/>
              </a:p>
            </p:txBody>
          </p:sp>
          <p:sp>
            <p:nvSpPr>
              <p:cNvPr id="22" name="Rectangle 21">
                <a:extLst>
                  <a:ext uri="{FF2B5EF4-FFF2-40B4-BE49-F238E27FC236}">
                    <a16:creationId xmlns:a16="http://schemas.microsoft.com/office/drawing/2014/main" id="{74D2FB33-46B6-5B4F-E6FF-8FFF4777A614}"/>
                  </a:ext>
                </a:extLst>
              </p:cNvPr>
              <p:cNvSpPr/>
              <p:nvPr/>
            </p:nvSpPr>
            <p:spPr>
              <a:xfrm>
                <a:off x="2142390" y="2809392"/>
                <a:ext cx="564386" cy="30595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23" name="Rectangle 22">
                <a:extLst>
                  <a:ext uri="{FF2B5EF4-FFF2-40B4-BE49-F238E27FC236}">
                    <a16:creationId xmlns:a16="http://schemas.microsoft.com/office/drawing/2014/main" id="{08C67595-B301-579B-DA6F-FBBB5F40022F}"/>
                  </a:ext>
                </a:extLst>
              </p:cNvPr>
              <p:cNvSpPr/>
              <p:nvPr/>
            </p:nvSpPr>
            <p:spPr>
              <a:xfrm>
                <a:off x="2142390" y="3171391"/>
                <a:ext cx="564385" cy="30595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25" name="Rectangle 24">
                <a:extLst>
                  <a:ext uri="{FF2B5EF4-FFF2-40B4-BE49-F238E27FC236}">
                    <a16:creationId xmlns:a16="http://schemas.microsoft.com/office/drawing/2014/main" id="{7F9267FF-2FE6-1A90-E9EA-DA12954CDB34}"/>
                  </a:ext>
                </a:extLst>
              </p:cNvPr>
              <p:cNvSpPr/>
              <p:nvPr/>
            </p:nvSpPr>
            <p:spPr>
              <a:xfrm>
                <a:off x="2142391" y="3521814"/>
                <a:ext cx="564385" cy="30595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grpSp>
          <p:nvGrpSpPr>
            <p:cNvPr id="3" name="Groupe 2">
              <a:extLst>
                <a:ext uri="{FF2B5EF4-FFF2-40B4-BE49-F238E27FC236}">
                  <a16:creationId xmlns:a16="http://schemas.microsoft.com/office/drawing/2014/main" id="{2654CE53-0AAC-FFC5-575D-25822A5E9105}"/>
                </a:ext>
              </a:extLst>
            </p:cNvPr>
            <p:cNvGrpSpPr/>
            <p:nvPr/>
          </p:nvGrpSpPr>
          <p:grpSpPr>
            <a:xfrm>
              <a:off x="5070592" y="1905619"/>
              <a:ext cx="2359313" cy="1856167"/>
              <a:chOff x="5424450" y="1524230"/>
              <a:chExt cx="2835615" cy="2230892"/>
            </a:xfrm>
          </p:grpSpPr>
          <p:grpSp>
            <p:nvGrpSpPr>
              <p:cNvPr id="24" name="Groupe 23">
                <a:extLst>
                  <a:ext uri="{FF2B5EF4-FFF2-40B4-BE49-F238E27FC236}">
                    <a16:creationId xmlns:a16="http://schemas.microsoft.com/office/drawing/2014/main" id="{B40E9BEA-6D36-0907-3554-17F18EF9CFC4}"/>
                  </a:ext>
                </a:extLst>
              </p:cNvPr>
              <p:cNvGrpSpPr/>
              <p:nvPr/>
            </p:nvGrpSpPr>
            <p:grpSpPr>
              <a:xfrm>
                <a:off x="5424454" y="2122139"/>
                <a:ext cx="2821923" cy="609892"/>
                <a:chOff x="1091953" y="2681056"/>
                <a:chExt cx="8611340" cy="915374"/>
              </a:xfrm>
            </p:grpSpPr>
            <p:sp>
              <p:nvSpPr>
                <p:cNvPr id="26" name="Flèche : droite 25">
                  <a:extLst>
                    <a:ext uri="{FF2B5EF4-FFF2-40B4-BE49-F238E27FC236}">
                      <a16:creationId xmlns:a16="http://schemas.microsoft.com/office/drawing/2014/main" id="{0BF9F048-1CE0-75FC-7196-B1138BF13B34}"/>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27" name="Flèche : droite 26">
                  <a:extLst>
                    <a:ext uri="{FF2B5EF4-FFF2-40B4-BE49-F238E27FC236}">
                      <a16:creationId xmlns:a16="http://schemas.microsoft.com/office/drawing/2014/main" id="{CD994479-A256-EEF4-96AC-231FF8AD3D2B}"/>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28" name="Flèche : droite 27">
                  <a:extLst>
                    <a:ext uri="{FF2B5EF4-FFF2-40B4-BE49-F238E27FC236}">
                      <a16:creationId xmlns:a16="http://schemas.microsoft.com/office/drawing/2014/main" id="{F248C29B-20E2-60A8-3C6F-B5CE0ED2AD62}"/>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29" name="Flèche : droite 28">
                  <a:extLst>
                    <a:ext uri="{FF2B5EF4-FFF2-40B4-BE49-F238E27FC236}">
                      <a16:creationId xmlns:a16="http://schemas.microsoft.com/office/drawing/2014/main" id="{9F2636AC-C7A6-FD62-AB41-9F6BE7F946CC}"/>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30" name="Flèche : droite 29">
                  <a:extLst>
                    <a:ext uri="{FF2B5EF4-FFF2-40B4-BE49-F238E27FC236}">
                      <a16:creationId xmlns:a16="http://schemas.microsoft.com/office/drawing/2014/main" id="{7E57FAF4-1C7A-22D9-E5F7-E2D4052DC511}"/>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31" name="ZoneTexte 30">
                <a:extLst>
                  <a:ext uri="{FF2B5EF4-FFF2-40B4-BE49-F238E27FC236}">
                    <a16:creationId xmlns:a16="http://schemas.microsoft.com/office/drawing/2014/main" id="{A0A62A87-4282-3DCA-E8F1-ACDA6F51FECE}"/>
                  </a:ext>
                </a:extLst>
              </p:cNvPr>
              <p:cNvSpPr txBox="1"/>
              <p:nvPr/>
            </p:nvSpPr>
            <p:spPr>
              <a:xfrm>
                <a:off x="5424450" y="1524230"/>
                <a:ext cx="2835615" cy="615091"/>
              </a:xfrm>
              <a:prstGeom prst="rect">
                <a:avLst/>
              </a:prstGeom>
              <a:noFill/>
            </p:spPr>
            <p:txBody>
              <a:bodyPr wrap="square">
                <a:spAutoFit/>
              </a:bodyPr>
              <a:lstStyle/>
              <a:p>
                <a:pPr marL="0" indent="0" algn="ctr">
                  <a:buNone/>
                </a:pPr>
                <a:r>
                  <a:rPr lang="fr-FR" sz="1050" b="1" dirty="0">
                    <a:solidFill>
                      <a:schemeClr val="bg1">
                        <a:lumMod val="50000"/>
                      </a:schemeClr>
                    </a:solidFill>
                    <a:sym typeface="Wingdings" panose="05000000000000000000" pitchFamily="2" charset="2"/>
                  </a:rPr>
                  <a:t>Communauté en cours de définition </a:t>
                </a:r>
                <a:r>
                  <a:rPr lang="fr-FR" sz="1050" b="1" dirty="0">
                    <a:sym typeface="Wingdings" panose="05000000000000000000" pitchFamily="2" charset="2"/>
                  </a:rPr>
                  <a:t>: </a:t>
                </a:r>
                <a:r>
                  <a:rPr lang="fr-FR" sz="1050" dirty="0">
                    <a:sym typeface="Wingdings" panose="05000000000000000000" pitchFamily="2" charset="2"/>
                  </a:rPr>
                  <a:t>la majorité des sujets et activités à l’étape idéation d’actions</a:t>
                </a:r>
                <a:endParaRPr lang="fr-FR" sz="1050" dirty="0"/>
              </a:p>
            </p:txBody>
          </p:sp>
          <p:sp>
            <p:nvSpPr>
              <p:cNvPr id="32" name="Rectangle 31">
                <a:extLst>
                  <a:ext uri="{FF2B5EF4-FFF2-40B4-BE49-F238E27FC236}">
                    <a16:creationId xmlns:a16="http://schemas.microsoft.com/office/drawing/2014/main" id="{BC406E0A-1C0A-DABE-B424-98136F6EF3A6}"/>
                  </a:ext>
                </a:extLst>
              </p:cNvPr>
              <p:cNvSpPr/>
              <p:nvPr/>
            </p:nvSpPr>
            <p:spPr>
              <a:xfrm>
                <a:off x="5985143" y="2732502"/>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33" name="Rectangle 32">
                <a:extLst>
                  <a:ext uri="{FF2B5EF4-FFF2-40B4-BE49-F238E27FC236}">
                    <a16:creationId xmlns:a16="http://schemas.microsoft.com/office/drawing/2014/main" id="{7273EAED-8205-EF0F-5565-D49C441A06FE}"/>
                  </a:ext>
                </a:extLst>
              </p:cNvPr>
              <p:cNvSpPr/>
              <p:nvPr/>
            </p:nvSpPr>
            <p:spPr>
              <a:xfrm>
                <a:off x="5985143" y="3090834"/>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34" name="Rectangle 33">
                <a:extLst>
                  <a:ext uri="{FF2B5EF4-FFF2-40B4-BE49-F238E27FC236}">
                    <a16:creationId xmlns:a16="http://schemas.microsoft.com/office/drawing/2014/main" id="{3EE78F6F-DFDA-BF25-4C39-541817484E24}"/>
                  </a:ext>
                </a:extLst>
              </p:cNvPr>
              <p:cNvSpPr/>
              <p:nvPr/>
            </p:nvSpPr>
            <p:spPr>
              <a:xfrm>
                <a:off x="5985143" y="3449167"/>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grpSp>
          <p:nvGrpSpPr>
            <p:cNvPr id="43" name="Groupe 42">
              <a:extLst>
                <a:ext uri="{FF2B5EF4-FFF2-40B4-BE49-F238E27FC236}">
                  <a16:creationId xmlns:a16="http://schemas.microsoft.com/office/drawing/2014/main" id="{E2A2D6FF-67FE-18D1-A524-0D8A17CD1987}"/>
                </a:ext>
              </a:extLst>
            </p:cNvPr>
            <p:cNvGrpSpPr/>
            <p:nvPr/>
          </p:nvGrpSpPr>
          <p:grpSpPr>
            <a:xfrm>
              <a:off x="7902026" y="1905619"/>
              <a:ext cx="2404346" cy="1928486"/>
              <a:chOff x="5390544" y="1524229"/>
              <a:chExt cx="2889739" cy="2317811"/>
            </a:xfrm>
          </p:grpSpPr>
          <p:grpSp>
            <p:nvGrpSpPr>
              <p:cNvPr id="44" name="Groupe 43">
                <a:extLst>
                  <a:ext uri="{FF2B5EF4-FFF2-40B4-BE49-F238E27FC236}">
                    <a16:creationId xmlns:a16="http://schemas.microsoft.com/office/drawing/2014/main" id="{6EF1EB5D-D9EB-B7AD-1E75-E8F4CE008D0F}"/>
                  </a:ext>
                </a:extLst>
              </p:cNvPr>
              <p:cNvGrpSpPr/>
              <p:nvPr/>
            </p:nvGrpSpPr>
            <p:grpSpPr>
              <a:xfrm>
                <a:off x="5424454" y="2122139"/>
                <a:ext cx="2821923" cy="609892"/>
                <a:chOff x="1091953" y="2681056"/>
                <a:chExt cx="8611340" cy="915374"/>
              </a:xfrm>
            </p:grpSpPr>
            <p:sp>
              <p:nvSpPr>
                <p:cNvPr id="49" name="Flèche : droite 48">
                  <a:extLst>
                    <a:ext uri="{FF2B5EF4-FFF2-40B4-BE49-F238E27FC236}">
                      <a16:creationId xmlns:a16="http://schemas.microsoft.com/office/drawing/2014/main" id="{55243452-9CB4-981E-098C-6802F637B6D1}"/>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50" name="Flèche : droite 49">
                  <a:extLst>
                    <a:ext uri="{FF2B5EF4-FFF2-40B4-BE49-F238E27FC236}">
                      <a16:creationId xmlns:a16="http://schemas.microsoft.com/office/drawing/2014/main" id="{B24E64BB-7BF4-3167-89D7-65F58F284F29}"/>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51" name="Flèche : droite 50">
                  <a:extLst>
                    <a:ext uri="{FF2B5EF4-FFF2-40B4-BE49-F238E27FC236}">
                      <a16:creationId xmlns:a16="http://schemas.microsoft.com/office/drawing/2014/main" id="{A159694D-3016-78C9-81A5-7CCBFAEF9D3C}"/>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52" name="Flèche : droite 51">
                  <a:extLst>
                    <a:ext uri="{FF2B5EF4-FFF2-40B4-BE49-F238E27FC236}">
                      <a16:creationId xmlns:a16="http://schemas.microsoft.com/office/drawing/2014/main" id="{B995BD5C-F38A-75AF-831F-830A3344A2B7}"/>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53" name="Flèche : droite 52">
                  <a:extLst>
                    <a:ext uri="{FF2B5EF4-FFF2-40B4-BE49-F238E27FC236}">
                      <a16:creationId xmlns:a16="http://schemas.microsoft.com/office/drawing/2014/main" id="{B94ACB72-4E9A-7B61-D3B0-8D73CD634170}"/>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45" name="ZoneTexte 44">
                <a:extLst>
                  <a:ext uri="{FF2B5EF4-FFF2-40B4-BE49-F238E27FC236}">
                    <a16:creationId xmlns:a16="http://schemas.microsoft.com/office/drawing/2014/main" id="{BB385B7E-3449-29DA-EFA4-705D7FE64A57}"/>
                  </a:ext>
                </a:extLst>
              </p:cNvPr>
              <p:cNvSpPr txBox="1"/>
              <p:nvPr/>
            </p:nvSpPr>
            <p:spPr>
              <a:xfrm>
                <a:off x="5390544" y="1524229"/>
                <a:ext cx="2889739" cy="610353"/>
              </a:xfrm>
              <a:prstGeom prst="rect">
                <a:avLst/>
              </a:prstGeom>
              <a:noFill/>
            </p:spPr>
            <p:txBody>
              <a:bodyPr wrap="square">
                <a:spAutoFit/>
              </a:bodyPr>
              <a:lstStyle/>
              <a:p>
                <a:pPr marL="0" indent="0" algn="ctr">
                  <a:buNone/>
                </a:pPr>
                <a:r>
                  <a:rPr lang="fr-FR" sz="1050" b="1" dirty="0">
                    <a:solidFill>
                      <a:srgbClr val="ED7D31"/>
                    </a:solidFill>
                    <a:sym typeface="Wingdings" panose="05000000000000000000" pitchFamily="2" charset="2"/>
                  </a:rPr>
                  <a:t>Communauté en initiation / expérimentation </a:t>
                </a:r>
                <a:r>
                  <a:rPr lang="fr-FR" sz="1050" b="1" dirty="0">
                    <a:sym typeface="Wingdings" panose="05000000000000000000" pitchFamily="2" charset="2"/>
                  </a:rPr>
                  <a:t>: </a:t>
                </a:r>
                <a:r>
                  <a:rPr lang="fr-FR" sz="1050" dirty="0">
                    <a:sym typeface="Wingdings" panose="05000000000000000000" pitchFamily="2" charset="2"/>
                  </a:rPr>
                  <a:t>la majorité des sujets et activités à l’étape priorisation et tests</a:t>
                </a:r>
                <a:endParaRPr lang="fr-FR" sz="1050" dirty="0"/>
              </a:p>
            </p:txBody>
          </p:sp>
          <p:sp>
            <p:nvSpPr>
              <p:cNvPr id="46" name="Rectangle 45">
                <a:extLst>
                  <a:ext uri="{FF2B5EF4-FFF2-40B4-BE49-F238E27FC236}">
                    <a16:creationId xmlns:a16="http://schemas.microsoft.com/office/drawing/2014/main" id="{BA1BBC12-C454-4672-E7AD-D5A4F56463FB}"/>
                  </a:ext>
                </a:extLst>
              </p:cNvPr>
              <p:cNvSpPr/>
              <p:nvPr/>
            </p:nvSpPr>
            <p:spPr>
              <a:xfrm>
                <a:off x="6553221" y="2819420"/>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47" name="Rectangle 46">
                <a:extLst>
                  <a:ext uri="{FF2B5EF4-FFF2-40B4-BE49-F238E27FC236}">
                    <a16:creationId xmlns:a16="http://schemas.microsoft.com/office/drawing/2014/main" id="{A6BD1B89-58E3-42C2-D2B0-E95A732F2C62}"/>
                  </a:ext>
                </a:extLst>
              </p:cNvPr>
              <p:cNvSpPr/>
              <p:nvPr/>
            </p:nvSpPr>
            <p:spPr>
              <a:xfrm>
                <a:off x="6553221" y="3177753"/>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48" name="Rectangle 47">
                <a:extLst>
                  <a:ext uri="{FF2B5EF4-FFF2-40B4-BE49-F238E27FC236}">
                    <a16:creationId xmlns:a16="http://schemas.microsoft.com/office/drawing/2014/main" id="{57413E67-5706-1E56-9D33-1D8FFD313D3B}"/>
                  </a:ext>
                </a:extLst>
              </p:cNvPr>
              <p:cNvSpPr/>
              <p:nvPr/>
            </p:nvSpPr>
            <p:spPr>
              <a:xfrm>
                <a:off x="6553221" y="3536085"/>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grpSp>
          <p:nvGrpSpPr>
            <p:cNvPr id="54" name="Groupe 53">
              <a:extLst>
                <a:ext uri="{FF2B5EF4-FFF2-40B4-BE49-F238E27FC236}">
                  <a16:creationId xmlns:a16="http://schemas.microsoft.com/office/drawing/2014/main" id="{5CF9E36B-33F4-A53C-B7E9-C416A1037DC6}"/>
                </a:ext>
              </a:extLst>
            </p:cNvPr>
            <p:cNvGrpSpPr/>
            <p:nvPr/>
          </p:nvGrpSpPr>
          <p:grpSpPr>
            <a:xfrm>
              <a:off x="2194126" y="4315253"/>
              <a:ext cx="2404346" cy="1922429"/>
              <a:chOff x="5390545" y="1517236"/>
              <a:chExt cx="2889739" cy="2310532"/>
            </a:xfrm>
          </p:grpSpPr>
          <p:grpSp>
            <p:nvGrpSpPr>
              <p:cNvPr id="55" name="Groupe 54">
                <a:extLst>
                  <a:ext uri="{FF2B5EF4-FFF2-40B4-BE49-F238E27FC236}">
                    <a16:creationId xmlns:a16="http://schemas.microsoft.com/office/drawing/2014/main" id="{EEA0DC74-9083-A91B-8EE6-F44D19121DFC}"/>
                  </a:ext>
                </a:extLst>
              </p:cNvPr>
              <p:cNvGrpSpPr/>
              <p:nvPr/>
            </p:nvGrpSpPr>
            <p:grpSpPr>
              <a:xfrm>
                <a:off x="5424454" y="2122139"/>
                <a:ext cx="2821923" cy="609892"/>
                <a:chOff x="1091953" y="2681056"/>
                <a:chExt cx="8611340" cy="915374"/>
              </a:xfrm>
            </p:grpSpPr>
            <p:sp>
              <p:nvSpPr>
                <p:cNvPr id="60" name="Flèche : droite 59">
                  <a:extLst>
                    <a:ext uri="{FF2B5EF4-FFF2-40B4-BE49-F238E27FC236}">
                      <a16:creationId xmlns:a16="http://schemas.microsoft.com/office/drawing/2014/main" id="{7B5B5A8D-84D2-FF24-816E-2C68B2067887}"/>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61" name="Flèche : droite 60">
                  <a:extLst>
                    <a:ext uri="{FF2B5EF4-FFF2-40B4-BE49-F238E27FC236}">
                      <a16:creationId xmlns:a16="http://schemas.microsoft.com/office/drawing/2014/main" id="{E18A3236-9DB5-8088-B480-3C28D72C0E11}"/>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62" name="Flèche : droite 61">
                  <a:extLst>
                    <a:ext uri="{FF2B5EF4-FFF2-40B4-BE49-F238E27FC236}">
                      <a16:creationId xmlns:a16="http://schemas.microsoft.com/office/drawing/2014/main" id="{5302B4F1-27AD-2B45-E697-F73D45673CB8}"/>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63" name="Flèche : droite 62">
                  <a:extLst>
                    <a:ext uri="{FF2B5EF4-FFF2-40B4-BE49-F238E27FC236}">
                      <a16:creationId xmlns:a16="http://schemas.microsoft.com/office/drawing/2014/main" id="{842E80A3-3777-9715-1DB6-1106CBB504FA}"/>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64" name="Flèche : droite 63">
                  <a:extLst>
                    <a:ext uri="{FF2B5EF4-FFF2-40B4-BE49-F238E27FC236}">
                      <a16:creationId xmlns:a16="http://schemas.microsoft.com/office/drawing/2014/main" id="{76F35459-FF46-CC39-357E-72B006661E30}"/>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56" name="ZoneTexte 55">
                <a:extLst>
                  <a:ext uri="{FF2B5EF4-FFF2-40B4-BE49-F238E27FC236}">
                    <a16:creationId xmlns:a16="http://schemas.microsoft.com/office/drawing/2014/main" id="{112BA6BF-D1EF-ECB3-0C28-A326B8CCE1FB}"/>
                  </a:ext>
                </a:extLst>
              </p:cNvPr>
              <p:cNvSpPr txBox="1"/>
              <p:nvPr/>
            </p:nvSpPr>
            <p:spPr>
              <a:xfrm>
                <a:off x="5390545" y="1517236"/>
                <a:ext cx="2889739" cy="610353"/>
              </a:xfrm>
              <a:prstGeom prst="rect">
                <a:avLst/>
              </a:prstGeom>
              <a:noFill/>
            </p:spPr>
            <p:txBody>
              <a:bodyPr wrap="square">
                <a:spAutoFit/>
              </a:bodyPr>
              <a:lstStyle/>
              <a:p>
                <a:pPr marL="0" indent="0" algn="ctr">
                  <a:buNone/>
                </a:pPr>
                <a:r>
                  <a:rPr lang="fr-FR" sz="1050" b="1" dirty="0">
                    <a:solidFill>
                      <a:srgbClr val="3494BA"/>
                    </a:solidFill>
                    <a:sym typeface="Wingdings" panose="05000000000000000000" pitchFamily="2" charset="2"/>
                  </a:rPr>
                  <a:t>Communauté installée en confirmation des réussites </a:t>
                </a:r>
                <a:r>
                  <a:rPr lang="fr-FR" sz="1050" b="1" dirty="0">
                    <a:sym typeface="Wingdings" panose="05000000000000000000" pitchFamily="2" charset="2"/>
                  </a:rPr>
                  <a:t>: </a:t>
                </a:r>
                <a:r>
                  <a:rPr lang="fr-FR" sz="1050" dirty="0">
                    <a:sym typeface="Wingdings" panose="05000000000000000000" pitchFamily="2" charset="2"/>
                  </a:rPr>
                  <a:t>la majorité des sujets à l’étape habitude</a:t>
                </a:r>
                <a:endParaRPr lang="fr-FR" sz="1050" dirty="0"/>
              </a:p>
            </p:txBody>
          </p:sp>
          <p:sp>
            <p:nvSpPr>
              <p:cNvPr id="57" name="Rectangle 56">
                <a:extLst>
                  <a:ext uri="{FF2B5EF4-FFF2-40B4-BE49-F238E27FC236}">
                    <a16:creationId xmlns:a16="http://schemas.microsoft.com/office/drawing/2014/main" id="{CE56B7AB-F5ED-26C8-0744-59322C8AD7B6}"/>
                  </a:ext>
                </a:extLst>
              </p:cNvPr>
              <p:cNvSpPr/>
              <p:nvPr/>
            </p:nvSpPr>
            <p:spPr>
              <a:xfrm>
                <a:off x="7117607" y="2805149"/>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58" name="Rectangle 57">
                <a:extLst>
                  <a:ext uri="{FF2B5EF4-FFF2-40B4-BE49-F238E27FC236}">
                    <a16:creationId xmlns:a16="http://schemas.microsoft.com/office/drawing/2014/main" id="{CE36813C-FA7A-D282-4B82-F5519E90B6BA}"/>
                  </a:ext>
                </a:extLst>
              </p:cNvPr>
              <p:cNvSpPr/>
              <p:nvPr/>
            </p:nvSpPr>
            <p:spPr>
              <a:xfrm>
                <a:off x="7117607" y="3163482"/>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59" name="Rectangle 58">
                <a:extLst>
                  <a:ext uri="{FF2B5EF4-FFF2-40B4-BE49-F238E27FC236}">
                    <a16:creationId xmlns:a16="http://schemas.microsoft.com/office/drawing/2014/main" id="{8F42E1F3-15A9-EAA7-6FD0-793DF9E16B19}"/>
                  </a:ext>
                </a:extLst>
              </p:cNvPr>
              <p:cNvSpPr/>
              <p:nvPr/>
            </p:nvSpPr>
            <p:spPr>
              <a:xfrm>
                <a:off x="7117607" y="3521813"/>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grpSp>
          <p:nvGrpSpPr>
            <p:cNvPr id="65" name="Groupe 64">
              <a:extLst>
                <a:ext uri="{FF2B5EF4-FFF2-40B4-BE49-F238E27FC236}">
                  <a16:creationId xmlns:a16="http://schemas.microsoft.com/office/drawing/2014/main" id="{8040C67E-A831-3194-AD1B-E6C60F4FC9C6}"/>
                </a:ext>
              </a:extLst>
            </p:cNvPr>
            <p:cNvGrpSpPr/>
            <p:nvPr/>
          </p:nvGrpSpPr>
          <p:grpSpPr>
            <a:xfrm>
              <a:off x="5053493" y="4315253"/>
              <a:ext cx="2404346" cy="1922429"/>
              <a:chOff x="5369658" y="1517236"/>
              <a:chExt cx="2889739" cy="2310532"/>
            </a:xfrm>
          </p:grpSpPr>
          <p:grpSp>
            <p:nvGrpSpPr>
              <p:cNvPr id="66" name="Groupe 65">
                <a:extLst>
                  <a:ext uri="{FF2B5EF4-FFF2-40B4-BE49-F238E27FC236}">
                    <a16:creationId xmlns:a16="http://schemas.microsoft.com/office/drawing/2014/main" id="{188413A3-9EE8-B0DF-8970-C412E3252B66}"/>
                  </a:ext>
                </a:extLst>
              </p:cNvPr>
              <p:cNvGrpSpPr/>
              <p:nvPr/>
            </p:nvGrpSpPr>
            <p:grpSpPr>
              <a:xfrm>
                <a:off x="5424454" y="2122139"/>
                <a:ext cx="2821923" cy="609892"/>
                <a:chOff x="1091953" y="2681056"/>
                <a:chExt cx="8611340" cy="915374"/>
              </a:xfrm>
            </p:grpSpPr>
            <p:sp>
              <p:nvSpPr>
                <p:cNvPr id="71" name="Flèche : droite 70">
                  <a:extLst>
                    <a:ext uri="{FF2B5EF4-FFF2-40B4-BE49-F238E27FC236}">
                      <a16:creationId xmlns:a16="http://schemas.microsoft.com/office/drawing/2014/main" id="{F86D4A80-BEAA-1D9E-69F0-069AAE7FAC7E}"/>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72" name="Flèche : droite 71">
                  <a:extLst>
                    <a:ext uri="{FF2B5EF4-FFF2-40B4-BE49-F238E27FC236}">
                      <a16:creationId xmlns:a16="http://schemas.microsoft.com/office/drawing/2014/main" id="{B46004EB-FA44-81AE-2640-D140AB904424}"/>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3" name="Flèche : droite 72">
                  <a:extLst>
                    <a:ext uri="{FF2B5EF4-FFF2-40B4-BE49-F238E27FC236}">
                      <a16:creationId xmlns:a16="http://schemas.microsoft.com/office/drawing/2014/main" id="{AC40A0C1-5B25-411F-5FF7-66A0D654D53D}"/>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4" name="Flèche : droite 73">
                  <a:extLst>
                    <a:ext uri="{FF2B5EF4-FFF2-40B4-BE49-F238E27FC236}">
                      <a16:creationId xmlns:a16="http://schemas.microsoft.com/office/drawing/2014/main" id="{793E1BB0-2BE7-29AC-AF47-149C2F8550BD}"/>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5" name="Flèche : droite 74">
                  <a:extLst>
                    <a:ext uri="{FF2B5EF4-FFF2-40B4-BE49-F238E27FC236}">
                      <a16:creationId xmlns:a16="http://schemas.microsoft.com/office/drawing/2014/main" id="{22B4149C-2C65-A40D-37C4-0C7A430D0B32}"/>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67" name="ZoneTexte 66">
                <a:extLst>
                  <a:ext uri="{FF2B5EF4-FFF2-40B4-BE49-F238E27FC236}">
                    <a16:creationId xmlns:a16="http://schemas.microsoft.com/office/drawing/2014/main" id="{4BD89A0B-EFCA-F099-2F71-A4FDEC8ACAF0}"/>
                  </a:ext>
                </a:extLst>
              </p:cNvPr>
              <p:cNvSpPr txBox="1"/>
              <p:nvPr/>
            </p:nvSpPr>
            <p:spPr>
              <a:xfrm>
                <a:off x="5369658" y="1517236"/>
                <a:ext cx="2889739" cy="442865"/>
              </a:xfrm>
              <a:prstGeom prst="rect">
                <a:avLst/>
              </a:prstGeom>
              <a:noFill/>
            </p:spPr>
            <p:txBody>
              <a:bodyPr wrap="square">
                <a:spAutoFit/>
              </a:bodyPr>
              <a:lstStyle/>
              <a:p>
                <a:pPr marL="0" indent="0" algn="ctr">
                  <a:buNone/>
                </a:pPr>
                <a:r>
                  <a:rPr lang="fr-FR" sz="1050" b="1" dirty="0">
                    <a:solidFill>
                      <a:srgbClr val="FF0000"/>
                    </a:solidFill>
                    <a:sym typeface="Wingdings" panose="05000000000000000000" pitchFamily="2" charset="2"/>
                  </a:rPr>
                  <a:t>Communauté en déclin </a:t>
                </a:r>
                <a:r>
                  <a:rPr lang="fr-FR" sz="1050" b="1" dirty="0">
                    <a:sym typeface="Wingdings" panose="05000000000000000000" pitchFamily="2" charset="2"/>
                  </a:rPr>
                  <a:t>: </a:t>
                </a:r>
                <a:r>
                  <a:rPr lang="fr-FR" sz="1050" dirty="0">
                    <a:sym typeface="Wingdings" panose="05000000000000000000" pitchFamily="2" charset="2"/>
                  </a:rPr>
                  <a:t>la majorité des sujets à l’étape démotivations</a:t>
                </a:r>
                <a:endParaRPr lang="fr-FR" sz="1050" dirty="0"/>
              </a:p>
            </p:txBody>
          </p:sp>
          <p:sp>
            <p:nvSpPr>
              <p:cNvPr id="68" name="Rectangle 67">
                <a:extLst>
                  <a:ext uri="{FF2B5EF4-FFF2-40B4-BE49-F238E27FC236}">
                    <a16:creationId xmlns:a16="http://schemas.microsoft.com/office/drawing/2014/main" id="{0F9C8A75-D180-4301-52B3-51480F7770DE}"/>
                  </a:ext>
                </a:extLst>
              </p:cNvPr>
              <p:cNvSpPr/>
              <p:nvPr/>
            </p:nvSpPr>
            <p:spPr>
              <a:xfrm>
                <a:off x="7681991" y="2805149"/>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69" name="Rectangle 68">
                <a:extLst>
                  <a:ext uri="{FF2B5EF4-FFF2-40B4-BE49-F238E27FC236}">
                    <a16:creationId xmlns:a16="http://schemas.microsoft.com/office/drawing/2014/main" id="{CE6520CA-C295-F12C-A769-0142041C329B}"/>
                  </a:ext>
                </a:extLst>
              </p:cNvPr>
              <p:cNvSpPr/>
              <p:nvPr/>
            </p:nvSpPr>
            <p:spPr>
              <a:xfrm>
                <a:off x="7681991" y="3163482"/>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70" name="Rectangle 69">
                <a:extLst>
                  <a:ext uri="{FF2B5EF4-FFF2-40B4-BE49-F238E27FC236}">
                    <a16:creationId xmlns:a16="http://schemas.microsoft.com/office/drawing/2014/main" id="{770835BE-41A0-4695-C5E1-CC3CEBF35248}"/>
                  </a:ext>
                </a:extLst>
              </p:cNvPr>
              <p:cNvSpPr/>
              <p:nvPr/>
            </p:nvSpPr>
            <p:spPr>
              <a:xfrm>
                <a:off x="7681991" y="3521813"/>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grpSp>
          <p:nvGrpSpPr>
            <p:cNvPr id="76" name="Groupe 75">
              <a:extLst>
                <a:ext uri="{FF2B5EF4-FFF2-40B4-BE49-F238E27FC236}">
                  <a16:creationId xmlns:a16="http://schemas.microsoft.com/office/drawing/2014/main" id="{F812D406-ABAB-55E0-F9D0-BAE3A36F27F3}"/>
                </a:ext>
              </a:extLst>
            </p:cNvPr>
            <p:cNvGrpSpPr/>
            <p:nvPr/>
          </p:nvGrpSpPr>
          <p:grpSpPr>
            <a:xfrm>
              <a:off x="7912859" y="4315253"/>
              <a:ext cx="2404346" cy="1922429"/>
              <a:chOff x="5369658" y="1517236"/>
              <a:chExt cx="2889739" cy="2310532"/>
            </a:xfrm>
          </p:grpSpPr>
          <p:grpSp>
            <p:nvGrpSpPr>
              <p:cNvPr id="77" name="Groupe 76">
                <a:extLst>
                  <a:ext uri="{FF2B5EF4-FFF2-40B4-BE49-F238E27FC236}">
                    <a16:creationId xmlns:a16="http://schemas.microsoft.com/office/drawing/2014/main" id="{62C4A94D-B542-3F2E-7EE9-DFC334D27FB7}"/>
                  </a:ext>
                </a:extLst>
              </p:cNvPr>
              <p:cNvGrpSpPr/>
              <p:nvPr/>
            </p:nvGrpSpPr>
            <p:grpSpPr>
              <a:xfrm>
                <a:off x="5424454" y="2122139"/>
                <a:ext cx="2821923" cy="609892"/>
                <a:chOff x="1091953" y="2681056"/>
                <a:chExt cx="8611340" cy="915374"/>
              </a:xfrm>
            </p:grpSpPr>
            <p:sp>
              <p:nvSpPr>
                <p:cNvPr id="82" name="Flèche : droite 81">
                  <a:extLst>
                    <a:ext uri="{FF2B5EF4-FFF2-40B4-BE49-F238E27FC236}">
                      <a16:creationId xmlns:a16="http://schemas.microsoft.com/office/drawing/2014/main" id="{EDB87700-FC83-79A7-3884-D3B208B2DE9D}"/>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83" name="Flèche : droite 82">
                  <a:extLst>
                    <a:ext uri="{FF2B5EF4-FFF2-40B4-BE49-F238E27FC236}">
                      <a16:creationId xmlns:a16="http://schemas.microsoft.com/office/drawing/2014/main" id="{BE1CC50B-BAAF-424A-FA14-88E5F3CF71E2}"/>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84" name="Flèche : droite 83">
                  <a:extLst>
                    <a:ext uri="{FF2B5EF4-FFF2-40B4-BE49-F238E27FC236}">
                      <a16:creationId xmlns:a16="http://schemas.microsoft.com/office/drawing/2014/main" id="{32CC3383-1544-9BA7-2FA0-3E07CB41D705}"/>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85" name="Flèche : droite 84">
                  <a:extLst>
                    <a:ext uri="{FF2B5EF4-FFF2-40B4-BE49-F238E27FC236}">
                      <a16:creationId xmlns:a16="http://schemas.microsoft.com/office/drawing/2014/main" id="{6A3EAADF-E8B2-25BB-B9A3-667B5425B1E5}"/>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86" name="Flèche : droite 85">
                  <a:extLst>
                    <a:ext uri="{FF2B5EF4-FFF2-40B4-BE49-F238E27FC236}">
                      <a16:creationId xmlns:a16="http://schemas.microsoft.com/office/drawing/2014/main" id="{E05DB780-AF05-B8A4-C692-89A607BCDC78}"/>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78" name="ZoneTexte 77">
                <a:extLst>
                  <a:ext uri="{FF2B5EF4-FFF2-40B4-BE49-F238E27FC236}">
                    <a16:creationId xmlns:a16="http://schemas.microsoft.com/office/drawing/2014/main" id="{6562A19A-1205-BEED-426F-EB729710753C}"/>
                  </a:ext>
                </a:extLst>
              </p:cNvPr>
              <p:cNvSpPr txBox="1"/>
              <p:nvPr/>
            </p:nvSpPr>
            <p:spPr>
              <a:xfrm>
                <a:off x="5369658" y="1517236"/>
                <a:ext cx="2889739" cy="615091"/>
              </a:xfrm>
              <a:prstGeom prst="rect">
                <a:avLst/>
              </a:prstGeom>
              <a:noFill/>
            </p:spPr>
            <p:txBody>
              <a:bodyPr wrap="square">
                <a:spAutoFit/>
              </a:bodyPr>
              <a:lstStyle/>
              <a:p>
                <a:pPr marL="0" indent="0" algn="ctr">
                  <a:buNone/>
                </a:pPr>
                <a:r>
                  <a:rPr lang="fr-FR" sz="1050" b="1" dirty="0">
                    <a:sym typeface="Wingdings" panose="05000000000000000000" pitchFamily="2" charset="2"/>
                  </a:rPr>
                  <a:t>Communauté en flux : </a:t>
                </a:r>
                <a:r>
                  <a:rPr lang="fr-FR" sz="1050" dirty="0">
                    <a:sym typeface="Wingdings" panose="05000000000000000000" pitchFamily="2" charset="2"/>
                  </a:rPr>
                  <a:t>pas de majorité forte de sujets et activités sur une étape en particulier, sujets à différents niveaux</a:t>
                </a:r>
                <a:endParaRPr lang="fr-FR" sz="1050" dirty="0"/>
              </a:p>
            </p:txBody>
          </p:sp>
          <p:sp>
            <p:nvSpPr>
              <p:cNvPr id="79" name="Rectangle 78">
                <a:extLst>
                  <a:ext uri="{FF2B5EF4-FFF2-40B4-BE49-F238E27FC236}">
                    <a16:creationId xmlns:a16="http://schemas.microsoft.com/office/drawing/2014/main" id="{21F96CFB-042E-4DBC-5E2D-48FF09212064}"/>
                  </a:ext>
                </a:extLst>
              </p:cNvPr>
              <p:cNvSpPr/>
              <p:nvPr/>
            </p:nvSpPr>
            <p:spPr>
              <a:xfrm>
                <a:off x="7681991" y="2805149"/>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80" name="Rectangle 79">
                <a:extLst>
                  <a:ext uri="{FF2B5EF4-FFF2-40B4-BE49-F238E27FC236}">
                    <a16:creationId xmlns:a16="http://schemas.microsoft.com/office/drawing/2014/main" id="{25DA46FF-3F41-68B8-B26F-7F93D895C9E2}"/>
                  </a:ext>
                </a:extLst>
              </p:cNvPr>
              <p:cNvSpPr/>
              <p:nvPr/>
            </p:nvSpPr>
            <p:spPr>
              <a:xfrm>
                <a:off x="6553223" y="3183957"/>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81" name="Rectangle 80">
                <a:extLst>
                  <a:ext uri="{FF2B5EF4-FFF2-40B4-BE49-F238E27FC236}">
                    <a16:creationId xmlns:a16="http://schemas.microsoft.com/office/drawing/2014/main" id="{AE239829-15A5-DABE-4131-EDA53EAB7704}"/>
                  </a:ext>
                </a:extLst>
              </p:cNvPr>
              <p:cNvSpPr/>
              <p:nvPr/>
            </p:nvSpPr>
            <p:spPr>
              <a:xfrm>
                <a:off x="5983692" y="3521813"/>
                <a:ext cx="564386" cy="30595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grpSp>
    </p:spTree>
    <p:extLst>
      <p:ext uri="{BB962C8B-B14F-4D97-AF65-F5344CB8AC3E}">
        <p14:creationId xmlns:p14="http://schemas.microsoft.com/office/powerpoint/2010/main" val="389807290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84DCD44-F6F6-A541-D387-389A216D75B4}"/>
              </a:ext>
            </a:extLst>
          </p:cNvPr>
          <p:cNvSpPr>
            <a:spLocks noGrp="1"/>
          </p:cNvSpPr>
          <p:nvPr>
            <p:ph type="title"/>
          </p:nvPr>
        </p:nvSpPr>
        <p:spPr>
          <a:xfrm>
            <a:off x="1396372" y="365125"/>
            <a:ext cx="9957427" cy="1325563"/>
          </a:xfrm>
        </p:spPr>
        <p:txBody>
          <a:bodyPr>
            <a:normAutofit/>
          </a:bodyPr>
          <a:lstStyle/>
          <a:p>
            <a:r>
              <a:rPr lang="fr-FR" sz="4000" dirty="0"/>
              <a:t>La Durée et le Timing des cycles d’ajustements</a:t>
            </a:r>
            <a:br>
              <a:rPr lang="fr-FR" sz="4000" dirty="0"/>
            </a:br>
            <a:r>
              <a:rPr lang="fr-FR" sz="2000" dirty="0"/>
              <a:t>📅Evènements  , ✍️Contenus, ⚙️Structuration de Communauté</a:t>
            </a:r>
            <a:br>
              <a:rPr lang="fr-FR" sz="2000" dirty="0"/>
            </a:br>
            <a:r>
              <a:rPr lang="fr-FR" sz="2000" dirty="0"/>
              <a:t>📅+⚙️Structuration de moments, ✍️+⚙️ Structuration de Contenus</a:t>
            </a:r>
          </a:p>
        </p:txBody>
      </p:sp>
      <p:grpSp>
        <p:nvGrpSpPr>
          <p:cNvPr id="4" name="Groupe 3">
            <a:extLst>
              <a:ext uri="{FF2B5EF4-FFF2-40B4-BE49-F238E27FC236}">
                <a16:creationId xmlns:a16="http://schemas.microsoft.com/office/drawing/2014/main" id="{68F473DD-0BE5-DC5B-1021-2A47A24563DB}"/>
              </a:ext>
            </a:extLst>
          </p:cNvPr>
          <p:cNvGrpSpPr/>
          <p:nvPr/>
        </p:nvGrpSpPr>
        <p:grpSpPr>
          <a:xfrm>
            <a:off x="415915" y="570219"/>
            <a:ext cx="844570" cy="915374"/>
            <a:chOff x="9771184" y="501063"/>
            <a:chExt cx="2201188" cy="2385724"/>
          </a:xfrm>
        </p:grpSpPr>
        <p:grpSp>
          <p:nvGrpSpPr>
            <p:cNvPr id="5" name="Groupe 4">
              <a:extLst>
                <a:ext uri="{FF2B5EF4-FFF2-40B4-BE49-F238E27FC236}">
                  <a16:creationId xmlns:a16="http://schemas.microsoft.com/office/drawing/2014/main" id="{87E2DD41-84FE-5F16-9126-B6BE2B38428D}"/>
                </a:ext>
              </a:extLst>
            </p:cNvPr>
            <p:cNvGrpSpPr/>
            <p:nvPr/>
          </p:nvGrpSpPr>
          <p:grpSpPr>
            <a:xfrm>
              <a:off x="9771184" y="501063"/>
              <a:ext cx="2201188" cy="2385724"/>
              <a:chOff x="4948467" y="2361639"/>
              <a:chExt cx="2646976" cy="2868885"/>
            </a:xfrm>
          </p:grpSpPr>
          <p:pic>
            <p:nvPicPr>
              <p:cNvPr id="12" name="Graphique 11" descr="Flux de travail avec un remplissage uni">
                <a:extLst>
                  <a:ext uri="{FF2B5EF4-FFF2-40B4-BE49-F238E27FC236}">
                    <a16:creationId xmlns:a16="http://schemas.microsoft.com/office/drawing/2014/main" id="{6080C13D-7FAC-5A21-FB06-6F5C84BE81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13" name="Graphique 12" descr="Flux de travail avec un remplissage uni">
                <a:extLst>
                  <a:ext uri="{FF2B5EF4-FFF2-40B4-BE49-F238E27FC236}">
                    <a16:creationId xmlns:a16="http://schemas.microsoft.com/office/drawing/2014/main" id="{FC19A64B-34ED-FC9E-60BF-756473EAB2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6" name="Graphique 5" descr="Panneau de signalisation avec un remplissage uni">
              <a:extLst>
                <a:ext uri="{FF2B5EF4-FFF2-40B4-BE49-F238E27FC236}">
                  <a16:creationId xmlns:a16="http://schemas.microsoft.com/office/drawing/2014/main" id="{0EDB414E-D98C-CF50-9138-23EE8A02BAC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357885" y="605752"/>
              <a:ext cx="581454" cy="581454"/>
            </a:xfrm>
            <a:prstGeom prst="rect">
              <a:avLst/>
            </a:prstGeom>
          </p:spPr>
        </p:pic>
        <p:pic>
          <p:nvPicPr>
            <p:cNvPr id="7" name="Graphique 6" descr="Signe pouce en haut avec un remplissage uni">
              <a:extLst>
                <a:ext uri="{FF2B5EF4-FFF2-40B4-BE49-F238E27FC236}">
                  <a16:creationId xmlns:a16="http://schemas.microsoft.com/office/drawing/2014/main" id="{C9D5E99C-5762-D05C-BBD2-2F8F0690300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3043" y="2137783"/>
              <a:ext cx="597064" cy="597064"/>
            </a:xfrm>
            <a:prstGeom prst="rect">
              <a:avLst/>
            </a:prstGeom>
          </p:spPr>
        </p:pic>
        <p:grpSp>
          <p:nvGrpSpPr>
            <p:cNvPr id="8" name="Groupe 7">
              <a:extLst>
                <a:ext uri="{FF2B5EF4-FFF2-40B4-BE49-F238E27FC236}">
                  <a16:creationId xmlns:a16="http://schemas.microsoft.com/office/drawing/2014/main" id="{8F3AD604-8FF6-7407-79CA-6F5F8CAA4E31}"/>
                </a:ext>
              </a:extLst>
            </p:cNvPr>
            <p:cNvGrpSpPr/>
            <p:nvPr/>
          </p:nvGrpSpPr>
          <p:grpSpPr>
            <a:xfrm rot="16200000">
              <a:off x="9922049" y="721026"/>
              <a:ext cx="461197" cy="350906"/>
              <a:chOff x="1499428" y="3098753"/>
              <a:chExt cx="474208" cy="322063"/>
            </a:xfrm>
          </p:grpSpPr>
          <p:sp>
            <p:nvSpPr>
              <p:cNvPr id="10" name="Flèche : bas 9">
                <a:extLst>
                  <a:ext uri="{FF2B5EF4-FFF2-40B4-BE49-F238E27FC236}">
                    <a16:creationId xmlns:a16="http://schemas.microsoft.com/office/drawing/2014/main" id="{BCAE01C5-EA5A-DD6F-A035-E585E7116DD1}"/>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1" name="Flèche : bas 10">
                <a:extLst>
                  <a:ext uri="{FF2B5EF4-FFF2-40B4-BE49-F238E27FC236}">
                    <a16:creationId xmlns:a16="http://schemas.microsoft.com/office/drawing/2014/main" id="{FCFF0F2A-52CD-AB3A-469A-E23AB01A3A8F}"/>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9" name="Graphique 8" descr="Cause à effet avec un remplissage uni">
              <a:extLst>
                <a:ext uri="{FF2B5EF4-FFF2-40B4-BE49-F238E27FC236}">
                  <a16:creationId xmlns:a16="http://schemas.microsoft.com/office/drawing/2014/main" id="{F66CCAC6-5F9D-9DBB-195E-17BD90CB578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342276" y="2137783"/>
              <a:ext cx="597063" cy="597063"/>
            </a:xfrm>
            <a:prstGeom prst="rect">
              <a:avLst/>
            </a:prstGeom>
          </p:spPr>
        </p:pic>
      </p:grpSp>
      <p:grpSp>
        <p:nvGrpSpPr>
          <p:cNvPr id="20" name="Groupe 19">
            <a:extLst>
              <a:ext uri="{FF2B5EF4-FFF2-40B4-BE49-F238E27FC236}">
                <a16:creationId xmlns:a16="http://schemas.microsoft.com/office/drawing/2014/main" id="{F84D8171-7AEE-E15B-17BD-FAB965878715}"/>
              </a:ext>
            </a:extLst>
          </p:cNvPr>
          <p:cNvGrpSpPr/>
          <p:nvPr/>
        </p:nvGrpSpPr>
        <p:grpSpPr>
          <a:xfrm>
            <a:off x="676409" y="1864025"/>
            <a:ext cx="11126771" cy="1118500"/>
            <a:chOff x="1091953" y="2681056"/>
            <a:chExt cx="8611340" cy="915374"/>
          </a:xfrm>
        </p:grpSpPr>
        <p:sp>
          <p:nvSpPr>
            <p:cNvPr id="14" name="Flèche : droite 13">
              <a:extLst>
                <a:ext uri="{FF2B5EF4-FFF2-40B4-BE49-F238E27FC236}">
                  <a16:creationId xmlns:a16="http://schemas.microsoft.com/office/drawing/2014/main" id="{FE116394-2CA2-9BCD-BC85-12BEB67E3EEF}"/>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MOTIVATIONS : </a:t>
              </a:r>
            </a:p>
            <a:p>
              <a:pPr algn="ctr"/>
              <a:r>
                <a:rPr lang="fr-FR" sz="1200" dirty="0">
                  <a:solidFill>
                    <a:schemeClr val="tx1"/>
                  </a:solidFill>
                </a:rPr>
                <a:t>Se projeter et se poser des questions sur la valeur possible</a:t>
              </a:r>
            </a:p>
          </p:txBody>
        </p:sp>
        <p:sp>
          <p:nvSpPr>
            <p:cNvPr id="15" name="Flèche : droite 14">
              <a:extLst>
                <a:ext uri="{FF2B5EF4-FFF2-40B4-BE49-F238E27FC236}">
                  <a16:creationId xmlns:a16="http://schemas.microsoft.com/office/drawing/2014/main" id="{BE308013-ADE2-85AF-3AB2-E6D31240A33F}"/>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IDEATION D’ACTIONS :</a:t>
              </a:r>
            </a:p>
            <a:p>
              <a:pPr algn="ctr"/>
              <a:r>
                <a:rPr lang="fr-FR" sz="1200" dirty="0">
                  <a:solidFill>
                    <a:schemeClr val="tx1"/>
                  </a:solidFill>
                </a:rPr>
                <a:t>Clarifier la valeur et imaginer des actions</a:t>
              </a:r>
            </a:p>
          </p:txBody>
        </p:sp>
        <p:sp>
          <p:nvSpPr>
            <p:cNvPr id="16" name="Flèche : droite 15">
              <a:extLst>
                <a:ext uri="{FF2B5EF4-FFF2-40B4-BE49-F238E27FC236}">
                  <a16:creationId xmlns:a16="http://schemas.microsoft.com/office/drawing/2014/main" id="{093D84D0-2BFE-60C7-45CC-5D628B328FDC}"/>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PRIORISATION ET TESTS:</a:t>
              </a:r>
            </a:p>
            <a:p>
              <a:pPr algn="ctr"/>
              <a:r>
                <a:rPr lang="fr-FR" sz="1200" dirty="0">
                  <a:solidFill>
                    <a:schemeClr val="tx1"/>
                  </a:solidFill>
                </a:rPr>
                <a:t>Tester la valeur avec les actions priorisées</a:t>
              </a:r>
            </a:p>
          </p:txBody>
        </p:sp>
        <p:sp>
          <p:nvSpPr>
            <p:cNvPr id="17" name="Flèche : droite 16">
              <a:extLst>
                <a:ext uri="{FF2B5EF4-FFF2-40B4-BE49-F238E27FC236}">
                  <a16:creationId xmlns:a16="http://schemas.microsoft.com/office/drawing/2014/main" id="{042FFF5B-9F57-B843-F495-4EFDEEA0B432}"/>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HABITUDE :</a:t>
              </a:r>
            </a:p>
            <a:p>
              <a:pPr algn="ctr"/>
              <a:r>
                <a:rPr lang="fr-FR" sz="1200" dirty="0">
                  <a:solidFill>
                    <a:schemeClr val="tx1"/>
                  </a:solidFill>
                </a:rPr>
                <a:t>S’habituer à la valeur et la confirmer</a:t>
              </a:r>
            </a:p>
          </p:txBody>
        </p:sp>
        <p:sp>
          <p:nvSpPr>
            <p:cNvPr id="19" name="Flèche : droite 18">
              <a:extLst>
                <a:ext uri="{FF2B5EF4-FFF2-40B4-BE49-F238E27FC236}">
                  <a16:creationId xmlns:a16="http://schemas.microsoft.com/office/drawing/2014/main" id="{603A70FB-9209-2734-9461-E08F421E7052}"/>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DEMOTIVATIONS:</a:t>
              </a:r>
            </a:p>
            <a:p>
              <a:pPr algn="ctr"/>
              <a:r>
                <a:rPr lang="fr-FR" sz="1200" dirty="0">
                  <a:solidFill>
                    <a:schemeClr val="tx1"/>
                  </a:solidFill>
                </a:rPr>
                <a:t>Constater un manque ou une baisse de la valeur</a:t>
              </a:r>
            </a:p>
          </p:txBody>
        </p:sp>
      </p:grpSp>
      <p:sp>
        <p:nvSpPr>
          <p:cNvPr id="86" name="Rectangle 85">
            <a:extLst>
              <a:ext uri="{FF2B5EF4-FFF2-40B4-BE49-F238E27FC236}">
                <a16:creationId xmlns:a16="http://schemas.microsoft.com/office/drawing/2014/main" id="{47D41B50-D1DD-5D59-BD0C-943773C7E96D}"/>
              </a:ext>
            </a:extLst>
          </p:cNvPr>
          <p:cNvSpPr/>
          <p:nvPr/>
        </p:nvSpPr>
        <p:spPr>
          <a:xfrm>
            <a:off x="676409" y="3049871"/>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📅Actions de renseignement, identification des motivations, de la valeur (bénéficiaires), de la valeur de l’approche, du format…</a:t>
            </a:r>
          </a:p>
        </p:txBody>
      </p:sp>
      <p:sp>
        <p:nvSpPr>
          <p:cNvPr id="89" name="Rectangle 88">
            <a:extLst>
              <a:ext uri="{FF2B5EF4-FFF2-40B4-BE49-F238E27FC236}">
                <a16:creationId xmlns:a16="http://schemas.microsoft.com/office/drawing/2014/main" id="{F1EA642B-93CE-939D-ED59-93D29AAFB949}"/>
              </a:ext>
            </a:extLst>
          </p:cNvPr>
          <p:cNvSpPr/>
          <p:nvPr/>
        </p:nvSpPr>
        <p:spPr>
          <a:xfrm>
            <a:off x="2901763" y="3049870"/>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📅Atelier de définition des règles de fonctionnement de la Communauté</a:t>
            </a:r>
          </a:p>
        </p:txBody>
      </p:sp>
      <p:sp>
        <p:nvSpPr>
          <p:cNvPr id="90" name="Rectangle 89">
            <a:extLst>
              <a:ext uri="{FF2B5EF4-FFF2-40B4-BE49-F238E27FC236}">
                <a16:creationId xmlns:a16="http://schemas.microsoft.com/office/drawing/2014/main" id="{BE00642F-5ED2-3D9D-37D1-913B4E7F8AB0}"/>
              </a:ext>
            </a:extLst>
          </p:cNvPr>
          <p:cNvSpPr/>
          <p:nvPr/>
        </p:nvSpPr>
        <p:spPr>
          <a:xfrm>
            <a:off x="5127117" y="3049870"/>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📅Atelier de priorisation des actions, de sélection, d’élimination, de feuille de route</a:t>
            </a:r>
          </a:p>
        </p:txBody>
      </p:sp>
      <p:sp>
        <p:nvSpPr>
          <p:cNvPr id="91" name="Rectangle 90">
            <a:extLst>
              <a:ext uri="{FF2B5EF4-FFF2-40B4-BE49-F238E27FC236}">
                <a16:creationId xmlns:a16="http://schemas.microsoft.com/office/drawing/2014/main" id="{755FB024-123F-C578-E719-11D745EB597B}"/>
              </a:ext>
            </a:extLst>
          </p:cNvPr>
          <p:cNvSpPr/>
          <p:nvPr/>
        </p:nvSpPr>
        <p:spPr>
          <a:xfrm>
            <a:off x="7352471" y="3049869"/>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📅Ateliers d’amélioration continue incrémentale (pas disruptive) et 📅✍️ effectuer les actions prévues</a:t>
            </a:r>
          </a:p>
        </p:txBody>
      </p:sp>
      <p:sp>
        <p:nvSpPr>
          <p:cNvPr id="92" name="Rectangle 91">
            <a:extLst>
              <a:ext uri="{FF2B5EF4-FFF2-40B4-BE49-F238E27FC236}">
                <a16:creationId xmlns:a16="http://schemas.microsoft.com/office/drawing/2014/main" id="{8FEDEFAF-E3C6-6AAD-16B0-59270239A822}"/>
              </a:ext>
            </a:extLst>
          </p:cNvPr>
          <p:cNvSpPr/>
          <p:nvPr/>
        </p:nvSpPr>
        <p:spPr>
          <a:xfrm>
            <a:off x="9577825" y="3049869"/>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📅Actions de renseignement, identification des démotivations</a:t>
            </a:r>
          </a:p>
        </p:txBody>
      </p:sp>
      <p:sp>
        <p:nvSpPr>
          <p:cNvPr id="95" name="Rectangle 94">
            <a:extLst>
              <a:ext uri="{FF2B5EF4-FFF2-40B4-BE49-F238E27FC236}">
                <a16:creationId xmlns:a16="http://schemas.microsoft.com/office/drawing/2014/main" id="{2E27823E-FAD3-6181-CBC3-0BC787B35AC0}"/>
              </a:ext>
            </a:extLst>
          </p:cNvPr>
          <p:cNvSpPr/>
          <p:nvPr/>
        </p:nvSpPr>
        <p:spPr>
          <a:xfrm>
            <a:off x="676409" y="3800366"/>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📅Ateliers de fondation (</a:t>
            </a:r>
            <a:r>
              <a:rPr lang="fr-FR" sz="900" dirty="0" err="1">
                <a:solidFill>
                  <a:schemeClr val="tx1"/>
                </a:solidFill>
              </a:rPr>
              <a:t>Pyramid</a:t>
            </a:r>
            <a:r>
              <a:rPr lang="fr-FR" sz="900" dirty="0">
                <a:solidFill>
                  <a:schemeClr val="tx1"/>
                </a:solidFill>
              </a:rPr>
              <a:t> of </a:t>
            </a:r>
            <a:r>
              <a:rPr lang="fr-FR" sz="900" dirty="0" err="1">
                <a:solidFill>
                  <a:schemeClr val="tx1"/>
                </a:solidFill>
              </a:rPr>
              <a:t>Purpose</a:t>
            </a:r>
            <a:r>
              <a:rPr lang="fr-FR" sz="900" dirty="0">
                <a:solidFill>
                  <a:schemeClr val="tx1"/>
                </a:solidFill>
              </a:rPr>
              <a:t>, House of Contribution…)</a:t>
            </a:r>
          </a:p>
        </p:txBody>
      </p:sp>
      <p:sp>
        <p:nvSpPr>
          <p:cNvPr id="96" name="Rectangle 95">
            <a:extLst>
              <a:ext uri="{FF2B5EF4-FFF2-40B4-BE49-F238E27FC236}">
                <a16:creationId xmlns:a16="http://schemas.microsoft.com/office/drawing/2014/main" id="{71003588-5072-952A-A6E1-3D42A6D92153}"/>
              </a:ext>
            </a:extLst>
          </p:cNvPr>
          <p:cNvSpPr/>
          <p:nvPr/>
        </p:nvSpPr>
        <p:spPr>
          <a:xfrm>
            <a:off x="2901763" y="3800365"/>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t>
            </a:r>
            <a:r>
              <a:rPr lang="fr-FR" sz="900" dirty="0">
                <a:solidFill>
                  <a:schemeClr val="tx1"/>
                </a:solidFill>
              </a:rPr>
              <a:t>Usages des tables d’activités et listes d’exemples d’activité par motivateur, phase, etc.</a:t>
            </a:r>
          </a:p>
        </p:txBody>
      </p:sp>
      <p:sp>
        <p:nvSpPr>
          <p:cNvPr id="98" name="Rectangle 97">
            <a:extLst>
              <a:ext uri="{FF2B5EF4-FFF2-40B4-BE49-F238E27FC236}">
                <a16:creationId xmlns:a16="http://schemas.microsoft.com/office/drawing/2014/main" id="{522FDCEB-55F2-8CFA-D708-459760C166D6}"/>
              </a:ext>
            </a:extLst>
          </p:cNvPr>
          <p:cNvSpPr/>
          <p:nvPr/>
        </p:nvSpPr>
        <p:spPr>
          <a:xfrm>
            <a:off x="5127117" y="3800365"/>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⚙️Si possible, éviter d’ajouter trop d’idées, affiner les idées existantes pour arriver à un test à effectuer</a:t>
            </a:r>
          </a:p>
        </p:txBody>
      </p:sp>
      <p:sp>
        <p:nvSpPr>
          <p:cNvPr id="102" name="Rectangle 101">
            <a:extLst>
              <a:ext uri="{FF2B5EF4-FFF2-40B4-BE49-F238E27FC236}">
                <a16:creationId xmlns:a16="http://schemas.microsoft.com/office/drawing/2014/main" id="{EE57AA9B-B018-4FE3-96B9-97D7FDD3D774}"/>
              </a:ext>
            </a:extLst>
          </p:cNvPr>
          <p:cNvSpPr/>
          <p:nvPr/>
        </p:nvSpPr>
        <p:spPr>
          <a:xfrm>
            <a:off x="7352471" y="3800364"/>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⚙️Suivre et mesurer les réactions aux différentes activités (ROTI, etc.) sans entrer dans l’idéation</a:t>
            </a:r>
          </a:p>
        </p:txBody>
      </p:sp>
      <p:sp>
        <p:nvSpPr>
          <p:cNvPr id="103" name="Rectangle 102">
            <a:extLst>
              <a:ext uri="{FF2B5EF4-FFF2-40B4-BE49-F238E27FC236}">
                <a16:creationId xmlns:a16="http://schemas.microsoft.com/office/drawing/2014/main" id="{E493416C-058D-B03A-CE16-4AA31F970051}"/>
              </a:ext>
            </a:extLst>
          </p:cNvPr>
          <p:cNvSpPr/>
          <p:nvPr/>
        </p:nvSpPr>
        <p:spPr>
          <a:xfrm>
            <a:off x="9577825" y="3800364"/>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⚙️Creuser ce qui démotive, identifier les effets de fond, accompagner la démotivation</a:t>
            </a:r>
          </a:p>
        </p:txBody>
      </p:sp>
      <p:sp>
        <p:nvSpPr>
          <p:cNvPr id="104" name="Rectangle 103">
            <a:extLst>
              <a:ext uri="{FF2B5EF4-FFF2-40B4-BE49-F238E27FC236}">
                <a16:creationId xmlns:a16="http://schemas.microsoft.com/office/drawing/2014/main" id="{65D181A3-46A7-26E3-0772-58D7B421A821}"/>
              </a:ext>
            </a:extLst>
          </p:cNvPr>
          <p:cNvSpPr/>
          <p:nvPr/>
        </p:nvSpPr>
        <p:spPr>
          <a:xfrm>
            <a:off x="676409" y="4550861"/>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📅+⚙️Demander des inspirations ou des idées sur les moments collectifs</a:t>
            </a:r>
          </a:p>
        </p:txBody>
      </p:sp>
      <p:sp>
        <p:nvSpPr>
          <p:cNvPr id="112" name="Rectangle 111">
            <a:extLst>
              <a:ext uri="{FF2B5EF4-FFF2-40B4-BE49-F238E27FC236}">
                <a16:creationId xmlns:a16="http://schemas.microsoft.com/office/drawing/2014/main" id="{C48BD4BA-C573-4471-BE56-C7E42B385763}"/>
              </a:ext>
            </a:extLst>
          </p:cNvPr>
          <p:cNvSpPr/>
          <p:nvPr/>
        </p:nvSpPr>
        <p:spPr>
          <a:xfrm>
            <a:off x="2901763" y="4550860"/>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📅+⚙️Définition des règles et déroulements des moments collectifs</a:t>
            </a:r>
          </a:p>
        </p:txBody>
      </p:sp>
      <p:sp>
        <p:nvSpPr>
          <p:cNvPr id="114" name="Rectangle 113">
            <a:extLst>
              <a:ext uri="{FF2B5EF4-FFF2-40B4-BE49-F238E27FC236}">
                <a16:creationId xmlns:a16="http://schemas.microsoft.com/office/drawing/2014/main" id="{2A353B33-A9B1-7793-36B0-A3670DDEB348}"/>
              </a:ext>
            </a:extLst>
          </p:cNvPr>
          <p:cNvSpPr/>
          <p:nvPr/>
        </p:nvSpPr>
        <p:spPr>
          <a:xfrm>
            <a:off x="5127117" y="4550860"/>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📅+⚙️Ajustements en structure des règles et déroulements des moments collectifs</a:t>
            </a:r>
          </a:p>
        </p:txBody>
      </p:sp>
      <p:sp>
        <p:nvSpPr>
          <p:cNvPr id="117" name="Rectangle 116">
            <a:extLst>
              <a:ext uri="{FF2B5EF4-FFF2-40B4-BE49-F238E27FC236}">
                <a16:creationId xmlns:a16="http://schemas.microsoft.com/office/drawing/2014/main" id="{DEBBFD3A-1495-2AB2-5ACA-9BF9248ED60A}"/>
              </a:ext>
            </a:extLst>
          </p:cNvPr>
          <p:cNvSpPr/>
          <p:nvPr/>
        </p:nvSpPr>
        <p:spPr>
          <a:xfrm>
            <a:off x="7352471" y="4550860"/>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📅+⚙️Pas trop de remaniements forts des règles et déroulements des moments collectifs</a:t>
            </a:r>
          </a:p>
        </p:txBody>
      </p:sp>
      <p:sp>
        <p:nvSpPr>
          <p:cNvPr id="118" name="Rectangle 117">
            <a:extLst>
              <a:ext uri="{FF2B5EF4-FFF2-40B4-BE49-F238E27FC236}">
                <a16:creationId xmlns:a16="http://schemas.microsoft.com/office/drawing/2014/main" id="{8FEAE305-CA67-6A97-CE26-BA0267A99846}"/>
              </a:ext>
            </a:extLst>
          </p:cNvPr>
          <p:cNvSpPr/>
          <p:nvPr/>
        </p:nvSpPr>
        <p:spPr>
          <a:xfrm>
            <a:off x="9577825" y="4550860"/>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📅+⚙️Permettre un peu plus de liberté sur la présence aux moments collectifs, en échange de retours</a:t>
            </a:r>
          </a:p>
        </p:txBody>
      </p:sp>
      <p:sp>
        <p:nvSpPr>
          <p:cNvPr id="122" name="Rectangle 121">
            <a:extLst>
              <a:ext uri="{FF2B5EF4-FFF2-40B4-BE49-F238E27FC236}">
                <a16:creationId xmlns:a16="http://schemas.microsoft.com/office/drawing/2014/main" id="{DBD166B1-B069-0A98-E5CB-CDC374F4D873}"/>
              </a:ext>
            </a:extLst>
          </p:cNvPr>
          <p:cNvSpPr/>
          <p:nvPr/>
        </p:nvSpPr>
        <p:spPr>
          <a:xfrm>
            <a:off x="676409" y="5301356"/>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✍️+⚙️Partager des inspirations de contenus en termes de format et de sujets, sans avoir le contenu parfait</a:t>
            </a:r>
          </a:p>
        </p:txBody>
      </p:sp>
      <p:sp>
        <p:nvSpPr>
          <p:cNvPr id="123" name="Rectangle 122">
            <a:extLst>
              <a:ext uri="{FF2B5EF4-FFF2-40B4-BE49-F238E27FC236}">
                <a16:creationId xmlns:a16="http://schemas.microsoft.com/office/drawing/2014/main" id="{1CBF0A12-4A01-D633-0763-DE06E581C9C0}"/>
              </a:ext>
            </a:extLst>
          </p:cNvPr>
          <p:cNvSpPr/>
          <p:nvPr/>
        </p:nvSpPr>
        <p:spPr>
          <a:xfrm>
            <a:off x="2901763" y="5301356"/>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✍️+⚙️Privilégier la curation de contenus (récupération de contenus extérieurs)</a:t>
            </a:r>
          </a:p>
        </p:txBody>
      </p:sp>
      <p:sp>
        <p:nvSpPr>
          <p:cNvPr id="124" name="Rectangle 123">
            <a:extLst>
              <a:ext uri="{FF2B5EF4-FFF2-40B4-BE49-F238E27FC236}">
                <a16:creationId xmlns:a16="http://schemas.microsoft.com/office/drawing/2014/main" id="{AC17B1B6-31B9-C16C-C770-A4F9A10EDC08}"/>
              </a:ext>
            </a:extLst>
          </p:cNvPr>
          <p:cNvSpPr/>
          <p:nvPr/>
        </p:nvSpPr>
        <p:spPr>
          <a:xfrm>
            <a:off x="5127117" y="5301356"/>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✍️+⚙️Filtrer les contenus collectés (en garder les meilleurs)</a:t>
            </a:r>
          </a:p>
          <a:p>
            <a:pPr algn="ctr"/>
            <a:r>
              <a:rPr lang="fr-FR" sz="900" dirty="0">
                <a:solidFill>
                  <a:schemeClr val="tx1"/>
                </a:solidFill>
              </a:rPr>
              <a:t>✍️+⚙️Tester des contenus pilotes</a:t>
            </a:r>
          </a:p>
        </p:txBody>
      </p:sp>
      <p:sp>
        <p:nvSpPr>
          <p:cNvPr id="125" name="Rectangle 124">
            <a:extLst>
              <a:ext uri="{FF2B5EF4-FFF2-40B4-BE49-F238E27FC236}">
                <a16:creationId xmlns:a16="http://schemas.microsoft.com/office/drawing/2014/main" id="{09C99B36-32B4-6CF2-AD59-0ADF7304A66C}"/>
              </a:ext>
            </a:extLst>
          </p:cNvPr>
          <p:cNvSpPr/>
          <p:nvPr/>
        </p:nvSpPr>
        <p:spPr>
          <a:xfrm>
            <a:off x="7352471" y="5301355"/>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✍️+⚙️Aller au bout de la production des séries de contenus. Ne pas trop changer les repères.</a:t>
            </a:r>
          </a:p>
        </p:txBody>
      </p:sp>
      <p:sp>
        <p:nvSpPr>
          <p:cNvPr id="126" name="Rectangle 125">
            <a:extLst>
              <a:ext uri="{FF2B5EF4-FFF2-40B4-BE49-F238E27FC236}">
                <a16:creationId xmlns:a16="http://schemas.microsoft.com/office/drawing/2014/main" id="{C36D19F9-CA05-A762-28AA-632BE1779475}"/>
              </a:ext>
            </a:extLst>
          </p:cNvPr>
          <p:cNvSpPr/>
          <p:nvPr/>
        </p:nvSpPr>
        <p:spPr>
          <a:xfrm>
            <a:off x="9577825" y="5301355"/>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✍️Créer des contenus de conclusion marquant la fin des séries de contenus (résumé, </a:t>
            </a:r>
            <a:r>
              <a:rPr lang="fr-FR" sz="900" dirty="0" err="1">
                <a:solidFill>
                  <a:schemeClr val="tx1"/>
                </a:solidFill>
              </a:rPr>
              <a:t>making</a:t>
            </a:r>
            <a:r>
              <a:rPr lang="fr-FR" sz="900" dirty="0">
                <a:solidFill>
                  <a:schemeClr val="tx1"/>
                </a:solidFill>
              </a:rPr>
              <a:t> of, …)</a:t>
            </a:r>
          </a:p>
        </p:txBody>
      </p:sp>
      <p:sp>
        <p:nvSpPr>
          <p:cNvPr id="40" name="Rectangle 39">
            <a:extLst>
              <a:ext uri="{FF2B5EF4-FFF2-40B4-BE49-F238E27FC236}">
                <a16:creationId xmlns:a16="http://schemas.microsoft.com/office/drawing/2014/main" id="{88CB555C-92D8-83A1-0325-BCC8CE15E082}"/>
              </a:ext>
            </a:extLst>
          </p:cNvPr>
          <p:cNvSpPr/>
          <p:nvPr/>
        </p:nvSpPr>
        <p:spPr>
          <a:xfrm>
            <a:off x="5127117" y="6051852"/>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Evénements tests, effectués une seule fois, et présentés comme tel, avec demande de retours des participants sur la valeur</a:t>
            </a:r>
          </a:p>
        </p:txBody>
      </p:sp>
      <p:sp>
        <p:nvSpPr>
          <p:cNvPr id="41" name="Rectangle 40">
            <a:extLst>
              <a:ext uri="{FF2B5EF4-FFF2-40B4-BE49-F238E27FC236}">
                <a16:creationId xmlns:a16="http://schemas.microsoft.com/office/drawing/2014/main" id="{FE9ACF31-EBF7-F9B8-0B18-49417252AD0E}"/>
              </a:ext>
            </a:extLst>
          </p:cNvPr>
          <p:cNvSpPr/>
          <p:nvPr/>
        </p:nvSpPr>
        <p:spPr>
          <a:xfrm>
            <a:off x="7352470" y="6051851"/>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Organiser les événements en épisodes d’une même série</a:t>
            </a:r>
          </a:p>
        </p:txBody>
      </p:sp>
      <p:sp>
        <p:nvSpPr>
          <p:cNvPr id="42" name="Rectangle 41">
            <a:extLst>
              <a:ext uri="{FF2B5EF4-FFF2-40B4-BE49-F238E27FC236}">
                <a16:creationId xmlns:a16="http://schemas.microsoft.com/office/drawing/2014/main" id="{1AF28E09-50F3-7ED2-52C4-EF91AC334695}"/>
              </a:ext>
            </a:extLst>
          </p:cNvPr>
          <p:cNvSpPr/>
          <p:nvPr/>
        </p:nvSpPr>
        <p:spPr>
          <a:xfrm>
            <a:off x="676409" y="6051851"/>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Participation à des événements divers d’autres communautés pour trouver des idées et des formats</a:t>
            </a:r>
          </a:p>
        </p:txBody>
      </p:sp>
      <p:sp>
        <p:nvSpPr>
          <p:cNvPr id="43" name="Rectangle 42">
            <a:extLst>
              <a:ext uri="{FF2B5EF4-FFF2-40B4-BE49-F238E27FC236}">
                <a16:creationId xmlns:a16="http://schemas.microsoft.com/office/drawing/2014/main" id="{71EADCE6-877F-03DA-B48B-AE6B904FD6DA}"/>
              </a:ext>
            </a:extLst>
          </p:cNvPr>
          <p:cNvSpPr/>
          <p:nvPr/>
        </p:nvSpPr>
        <p:spPr>
          <a:xfrm>
            <a:off x="2901762" y="6051850"/>
            <a:ext cx="1668981" cy="67604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t>
            </a:r>
            <a:r>
              <a:rPr lang="fr-FR" sz="900" dirty="0">
                <a:solidFill>
                  <a:schemeClr val="tx1"/>
                </a:solidFill>
              </a:rPr>
              <a:t>Choix des outils, matériel, espaces et lieux de la Communauté</a:t>
            </a:r>
          </a:p>
        </p:txBody>
      </p:sp>
    </p:spTree>
    <p:extLst>
      <p:ext uri="{BB962C8B-B14F-4D97-AF65-F5344CB8AC3E}">
        <p14:creationId xmlns:p14="http://schemas.microsoft.com/office/powerpoint/2010/main" val="3907379188"/>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84DCD44-F6F6-A541-D387-389A216D75B4}"/>
              </a:ext>
            </a:extLst>
          </p:cNvPr>
          <p:cNvSpPr>
            <a:spLocks noGrp="1"/>
          </p:cNvSpPr>
          <p:nvPr>
            <p:ph type="title"/>
          </p:nvPr>
        </p:nvSpPr>
        <p:spPr>
          <a:xfrm>
            <a:off x="1396372" y="365125"/>
            <a:ext cx="9957427" cy="1325563"/>
          </a:xfrm>
        </p:spPr>
        <p:txBody>
          <a:bodyPr>
            <a:normAutofit/>
          </a:bodyPr>
          <a:lstStyle/>
          <a:p>
            <a:r>
              <a:rPr lang="fr-FR" sz="4000" dirty="0"/>
              <a:t>Cas de surcharge d’une étape </a:t>
            </a:r>
          </a:p>
        </p:txBody>
      </p:sp>
      <p:grpSp>
        <p:nvGrpSpPr>
          <p:cNvPr id="4" name="Groupe 3">
            <a:extLst>
              <a:ext uri="{FF2B5EF4-FFF2-40B4-BE49-F238E27FC236}">
                <a16:creationId xmlns:a16="http://schemas.microsoft.com/office/drawing/2014/main" id="{68F473DD-0BE5-DC5B-1021-2A47A24563DB}"/>
              </a:ext>
            </a:extLst>
          </p:cNvPr>
          <p:cNvGrpSpPr/>
          <p:nvPr/>
        </p:nvGrpSpPr>
        <p:grpSpPr>
          <a:xfrm>
            <a:off x="415915" y="570219"/>
            <a:ext cx="844570" cy="915374"/>
            <a:chOff x="9771184" y="501063"/>
            <a:chExt cx="2201188" cy="2385724"/>
          </a:xfrm>
        </p:grpSpPr>
        <p:grpSp>
          <p:nvGrpSpPr>
            <p:cNvPr id="5" name="Groupe 4">
              <a:extLst>
                <a:ext uri="{FF2B5EF4-FFF2-40B4-BE49-F238E27FC236}">
                  <a16:creationId xmlns:a16="http://schemas.microsoft.com/office/drawing/2014/main" id="{87E2DD41-84FE-5F16-9126-B6BE2B38428D}"/>
                </a:ext>
              </a:extLst>
            </p:cNvPr>
            <p:cNvGrpSpPr/>
            <p:nvPr/>
          </p:nvGrpSpPr>
          <p:grpSpPr>
            <a:xfrm>
              <a:off x="9771184" y="501063"/>
              <a:ext cx="2201188" cy="2385724"/>
              <a:chOff x="4948467" y="2361639"/>
              <a:chExt cx="2646976" cy="2868885"/>
            </a:xfrm>
          </p:grpSpPr>
          <p:pic>
            <p:nvPicPr>
              <p:cNvPr id="12" name="Graphique 11" descr="Flux de travail avec un remplissage uni">
                <a:extLst>
                  <a:ext uri="{FF2B5EF4-FFF2-40B4-BE49-F238E27FC236}">
                    <a16:creationId xmlns:a16="http://schemas.microsoft.com/office/drawing/2014/main" id="{6080C13D-7FAC-5A21-FB06-6F5C84BE81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13" name="Graphique 12" descr="Flux de travail avec un remplissage uni">
                <a:extLst>
                  <a:ext uri="{FF2B5EF4-FFF2-40B4-BE49-F238E27FC236}">
                    <a16:creationId xmlns:a16="http://schemas.microsoft.com/office/drawing/2014/main" id="{FC19A64B-34ED-FC9E-60BF-756473EAB2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6" name="Graphique 5" descr="Panneau de signalisation avec un remplissage uni">
              <a:extLst>
                <a:ext uri="{FF2B5EF4-FFF2-40B4-BE49-F238E27FC236}">
                  <a16:creationId xmlns:a16="http://schemas.microsoft.com/office/drawing/2014/main" id="{0EDB414E-D98C-CF50-9138-23EE8A02BAC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357885" y="605752"/>
              <a:ext cx="581454" cy="581454"/>
            </a:xfrm>
            <a:prstGeom prst="rect">
              <a:avLst/>
            </a:prstGeom>
          </p:spPr>
        </p:pic>
        <p:pic>
          <p:nvPicPr>
            <p:cNvPr id="7" name="Graphique 6" descr="Signe pouce en haut avec un remplissage uni">
              <a:extLst>
                <a:ext uri="{FF2B5EF4-FFF2-40B4-BE49-F238E27FC236}">
                  <a16:creationId xmlns:a16="http://schemas.microsoft.com/office/drawing/2014/main" id="{C9D5E99C-5762-D05C-BBD2-2F8F0690300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3043" y="2137783"/>
              <a:ext cx="597064" cy="597064"/>
            </a:xfrm>
            <a:prstGeom prst="rect">
              <a:avLst/>
            </a:prstGeom>
          </p:spPr>
        </p:pic>
        <p:grpSp>
          <p:nvGrpSpPr>
            <p:cNvPr id="8" name="Groupe 7">
              <a:extLst>
                <a:ext uri="{FF2B5EF4-FFF2-40B4-BE49-F238E27FC236}">
                  <a16:creationId xmlns:a16="http://schemas.microsoft.com/office/drawing/2014/main" id="{8F3AD604-8FF6-7407-79CA-6F5F8CAA4E31}"/>
                </a:ext>
              </a:extLst>
            </p:cNvPr>
            <p:cNvGrpSpPr/>
            <p:nvPr/>
          </p:nvGrpSpPr>
          <p:grpSpPr>
            <a:xfrm rot="16200000">
              <a:off x="9922049" y="721026"/>
              <a:ext cx="461197" cy="350906"/>
              <a:chOff x="1499428" y="3098753"/>
              <a:chExt cx="474208" cy="322063"/>
            </a:xfrm>
          </p:grpSpPr>
          <p:sp>
            <p:nvSpPr>
              <p:cNvPr id="10" name="Flèche : bas 9">
                <a:extLst>
                  <a:ext uri="{FF2B5EF4-FFF2-40B4-BE49-F238E27FC236}">
                    <a16:creationId xmlns:a16="http://schemas.microsoft.com/office/drawing/2014/main" id="{BCAE01C5-EA5A-DD6F-A035-E585E7116DD1}"/>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1" name="Flèche : bas 10">
                <a:extLst>
                  <a:ext uri="{FF2B5EF4-FFF2-40B4-BE49-F238E27FC236}">
                    <a16:creationId xmlns:a16="http://schemas.microsoft.com/office/drawing/2014/main" id="{FCFF0F2A-52CD-AB3A-469A-E23AB01A3A8F}"/>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9" name="Graphique 8" descr="Cause à effet avec un remplissage uni">
              <a:extLst>
                <a:ext uri="{FF2B5EF4-FFF2-40B4-BE49-F238E27FC236}">
                  <a16:creationId xmlns:a16="http://schemas.microsoft.com/office/drawing/2014/main" id="{F66CCAC6-5F9D-9DBB-195E-17BD90CB578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342276" y="2137783"/>
              <a:ext cx="597063" cy="597063"/>
            </a:xfrm>
            <a:prstGeom prst="rect">
              <a:avLst/>
            </a:prstGeom>
          </p:spPr>
        </p:pic>
      </p:grpSp>
      <p:sp>
        <p:nvSpPr>
          <p:cNvPr id="42" name="Espace réservé du contenu 2">
            <a:extLst>
              <a:ext uri="{FF2B5EF4-FFF2-40B4-BE49-F238E27FC236}">
                <a16:creationId xmlns:a16="http://schemas.microsoft.com/office/drawing/2014/main" id="{96601A49-4B6A-6F8D-3195-9361DAB48F45}"/>
              </a:ext>
            </a:extLst>
          </p:cNvPr>
          <p:cNvSpPr txBox="1">
            <a:spLocks/>
          </p:cNvSpPr>
          <p:nvPr/>
        </p:nvSpPr>
        <p:spPr>
          <a:xfrm>
            <a:off x="473800" y="1752336"/>
            <a:ext cx="11476900" cy="52419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fr-FR" sz="1400" dirty="0"/>
              <a:t>Quand une Communauté a beaucoup plus de tickets à une étape donnée que ce qu’elle peut gérer en termes de capacité, des effets indésirables peuvent arriver. Ces effets de surcharge peuvent être gérés en réduisant l’en cours.</a:t>
            </a:r>
          </a:p>
        </p:txBody>
      </p:sp>
      <p:grpSp>
        <p:nvGrpSpPr>
          <p:cNvPr id="36" name="Groupe 35">
            <a:extLst>
              <a:ext uri="{FF2B5EF4-FFF2-40B4-BE49-F238E27FC236}">
                <a16:creationId xmlns:a16="http://schemas.microsoft.com/office/drawing/2014/main" id="{CEBD8C85-74DC-1D51-6FFB-4FE04B820BA9}"/>
              </a:ext>
            </a:extLst>
          </p:cNvPr>
          <p:cNvGrpSpPr/>
          <p:nvPr/>
        </p:nvGrpSpPr>
        <p:grpSpPr>
          <a:xfrm>
            <a:off x="126012" y="3273637"/>
            <a:ext cx="2266274" cy="489801"/>
            <a:chOff x="1091953" y="2681056"/>
            <a:chExt cx="8611340" cy="915374"/>
          </a:xfrm>
        </p:grpSpPr>
        <p:sp>
          <p:nvSpPr>
            <p:cNvPr id="37" name="Flèche : droite 36">
              <a:extLst>
                <a:ext uri="{FF2B5EF4-FFF2-40B4-BE49-F238E27FC236}">
                  <a16:creationId xmlns:a16="http://schemas.microsoft.com/office/drawing/2014/main" id="{3F4BCD2F-AA13-1BE2-FC9B-C9ACF42351E4}"/>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38" name="Flèche : droite 37">
              <a:extLst>
                <a:ext uri="{FF2B5EF4-FFF2-40B4-BE49-F238E27FC236}">
                  <a16:creationId xmlns:a16="http://schemas.microsoft.com/office/drawing/2014/main" id="{D9E0C298-F201-899F-0D6A-C027604BE483}"/>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39" name="Flèche : droite 38">
              <a:extLst>
                <a:ext uri="{FF2B5EF4-FFF2-40B4-BE49-F238E27FC236}">
                  <a16:creationId xmlns:a16="http://schemas.microsoft.com/office/drawing/2014/main" id="{1254BDAA-82C3-FE40-66B6-ED72E2EEFE50}"/>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40" name="Flèche : droite 39">
              <a:extLst>
                <a:ext uri="{FF2B5EF4-FFF2-40B4-BE49-F238E27FC236}">
                  <a16:creationId xmlns:a16="http://schemas.microsoft.com/office/drawing/2014/main" id="{28B255D5-1C84-6E3A-67DD-87794D472F8D}"/>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41" name="Flèche : droite 40">
              <a:extLst>
                <a:ext uri="{FF2B5EF4-FFF2-40B4-BE49-F238E27FC236}">
                  <a16:creationId xmlns:a16="http://schemas.microsoft.com/office/drawing/2014/main" id="{D845EB16-B752-C9F3-2802-1FF80613BF75}"/>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21" name="ZoneTexte 20">
            <a:extLst>
              <a:ext uri="{FF2B5EF4-FFF2-40B4-BE49-F238E27FC236}">
                <a16:creationId xmlns:a16="http://schemas.microsoft.com/office/drawing/2014/main" id="{D6374C4C-02C7-01FC-7DF0-EA9B32CE1714}"/>
              </a:ext>
            </a:extLst>
          </p:cNvPr>
          <p:cNvSpPr txBox="1"/>
          <p:nvPr/>
        </p:nvSpPr>
        <p:spPr>
          <a:xfrm>
            <a:off x="-14625" y="2260720"/>
            <a:ext cx="2266276" cy="1061829"/>
          </a:xfrm>
          <a:prstGeom prst="rect">
            <a:avLst/>
          </a:prstGeom>
          <a:noFill/>
        </p:spPr>
        <p:txBody>
          <a:bodyPr wrap="square">
            <a:spAutoFit/>
          </a:bodyPr>
          <a:lstStyle/>
          <a:p>
            <a:pPr marL="0" indent="0" algn="ctr">
              <a:buNone/>
            </a:pPr>
            <a:r>
              <a:rPr lang="fr-FR" sz="1050" b="1" dirty="0">
                <a:solidFill>
                  <a:srgbClr val="00B050"/>
                </a:solidFill>
                <a:sym typeface="Wingdings" panose="05000000000000000000" pitchFamily="2" charset="2"/>
              </a:rPr>
              <a:t>CAS 1</a:t>
            </a:r>
          </a:p>
          <a:p>
            <a:pPr marL="0" indent="0" algn="ctr">
              <a:buNone/>
            </a:pPr>
            <a:r>
              <a:rPr lang="fr-FR" sz="1050" b="1" dirty="0">
                <a:solidFill>
                  <a:srgbClr val="00B050"/>
                </a:solidFill>
                <a:sym typeface="Wingdings" panose="05000000000000000000" pitchFamily="2" charset="2"/>
              </a:rPr>
              <a:t>Dispersion des motivations </a:t>
            </a:r>
            <a:r>
              <a:rPr lang="fr-FR" sz="1050" b="1" dirty="0">
                <a:sym typeface="Wingdings" panose="05000000000000000000" pitchFamily="2" charset="2"/>
              </a:rPr>
              <a:t>: </a:t>
            </a:r>
            <a:r>
              <a:rPr lang="fr-FR" sz="1050" dirty="0">
                <a:sym typeface="Wingdings" panose="05000000000000000000" pitchFamily="2" charset="2"/>
              </a:rPr>
              <a:t>la Communauté a énormément de motivations et manque de concentration pour les transformer en idées d’actions concrètes</a:t>
            </a:r>
            <a:endParaRPr lang="fr-FR" sz="1050" dirty="0"/>
          </a:p>
        </p:txBody>
      </p:sp>
      <p:grpSp>
        <p:nvGrpSpPr>
          <p:cNvPr id="24" name="Groupe 23">
            <a:extLst>
              <a:ext uri="{FF2B5EF4-FFF2-40B4-BE49-F238E27FC236}">
                <a16:creationId xmlns:a16="http://schemas.microsoft.com/office/drawing/2014/main" id="{B40E9BEA-6D36-0907-3554-17F18EF9CFC4}"/>
              </a:ext>
            </a:extLst>
          </p:cNvPr>
          <p:cNvGrpSpPr/>
          <p:nvPr/>
        </p:nvGrpSpPr>
        <p:grpSpPr>
          <a:xfrm>
            <a:off x="2532920" y="4190389"/>
            <a:ext cx="2266274" cy="489802"/>
            <a:chOff x="1091953" y="2681056"/>
            <a:chExt cx="8611340" cy="915374"/>
          </a:xfrm>
        </p:grpSpPr>
        <p:sp>
          <p:nvSpPr>
            <p:cNvPr id="26" name="Flèche : droite 25">
              <a:extLst>
                <a:ext uri="{FF2B5EF4-FFF2-40B4-BE49-F238E27FC236}">
                  <a16:creationId xmlns:a16="http://schemas.microsoft.com/office/drawing/2014/main" id="{0BF9F048-1CE0-75FC-7196-B1138BF13B34}"/>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27" name="Flèche : droite 26">
              <a:extLst>
                <a:ext uri="{FF2B5EF4-FFF2-40B4-BE49-F238E27FC236}">
                  <a16:creationId xmlns:a16="http://schemas.microsoft.com/office/drawing/2014/main" id="{CD994479-A256-EEF4-96AC-231FF8AD3D2B}"/>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28" name="Flèche : droite 27">
              <a:extLst>
                <a:ext uri="{FF2B5EF4-FFF2-40B4-BE49-F238E27FC236}">
                  <a16:creationId xmlns:a16="http://schemas.microsoft.com/office/drawing/2014/main" id="{F248C29B-20E2-60A8-3C6F-B5CE0ED2AD62}"/>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29" name="Flèche : droite 28">
              <a:extLst>
                <a:ext uri="{FF2B5EF4-FFF2-40B4-BE49-F238E27FC236}">
                  <a16:creationId xmlns:a16="http://schemas.microsoft.com/office/drawing/2014/main" id="{9F2636AC-C7A6-FD62-AB41-9F6BE7F946CC}"/>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30" name="Flèche : droite 29">
              <a:extLst>
                <a:ext uri="{FF2B5EF4-FFF2-40B4-BE49-F238E27FC236}">
                  <a16:creationId xmlns:a16="http://schemas.microsoft.com/office/drawing/2014/main" id="{7E57FAF4-1C7A-22D9-E5F7-E2D4052DC511}"/>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31" name="ZoneTexte 30">
            <a:extLst>
              <a:ext uri="{FF2B5EF4-FFF2-40B4-BE49-F238E27FC236}">
                <a16:creationId xmlns:a16="http://schemas.microsoft.com/office/drawing/2014/main" id="{A0A62A87-4282-3DCA-E8F1-ACDA6F51FECE}"/>
              </a:ext>
            </a:extLst>
          </p:cNvPr>
          <p:cNvSpPr txBox="1"/>
          <p:nvPr/>
        </p:nvSpPr>
        <p:spPr>
          <a:xfrm>
            <a:off x="2444601" y="3380810"/>
            <a:ext cx="2277270" cy="900246"/>
          </a:xfrm>
          <a:prstGeom prst="rect">
            <a:avLst/>
          </a:prstGeom>
          <a:noFill/>
        </p:spPr>
        <p:txBody>
          <a:bodyPr wrap="square">
            <a:spAutoFit/>
          </a:bodyPr>
          <a:lstStyle/>
          <a:p>
            <a:pPr marL="0" indent="0" algn="ctr">
              <a:buNone/>
            </a:pPr>
            <a:r>
              <a:rPr lang="fr-FR" sz="1050" b="1" dirty="0">
                <a:solidFill>
                  <a:schemeClr val="bg1">
                    <a:lumMod val="50000"/>
                  </a:schemeClr>
                </a:solidFill>
                <a:sym typeface="Wingdings" panose="05000000000000000000" pitchFamily="2" charset="2"/>
              </a:rPr>
              <a:t>CAS 2</a:t>
            </a:r>
          </a:p>
          <a:p>
            <a:pPr marL="0" indent="0" algn="ctr">
              <a:buNone/>
            </a:pPr>
            <a:r>
              <a:rPr lang="fr-FR" sz="1050" b="1" dirty="0">
                <a:solidFill>
                  <a:schemeClr val="bg1">
                    <a:lumMod val="50000"/>
                  </a:schemeClr>
                </a:solidFill>
                <a:sym typeface="Wingdings" panose="05000000000000000000" pitchFamily="2" charset="2"/>
              </a:rPr>
              <a:t>Surcharge d’idées </a:t>
            </a:r>
            <a:r>
              <a:rPr lang="fr-FR" sz="1050" b="1" dirty="0">
                <a:sym typeface="Wingdings" panose="05000000000000000000" pitchFamily="2" charset="2"/>
              </a:rPr>
              <a:t>: </a:t>
            </a:r>
            <a:r>
              <a:rPr lang="fr-FR" sz="1050" dirty="0">
                <a:sym typeface="Wingdings" panose="05000000000000000000" pitchFamily="2" charset="2"/>
              </a:rPr>
              <a:t>la communauté a beaucoup trop d’idées et il manque de concentration suffisante pour prioriser et se mettre à tester.</a:t>
            </a:r>
            <a:endParaRPr lang="fr-FR" sz="1050" dirty="0"/>
          </a:p>
        </p:txBody>
      </p:sp>
      <p:grpSp>
        <p:nvGrpSpPr>
          <p:cNvPr id="44" name="Groupe 43">
            <a:extLst>
              <a:ext uri="{FF2B5EF4-FFF2-40B4-BE49-F238E27FC236}">
                <a16:creationId xmlns:a16="http://schemas.microsoft.com/office/drawing/2014/main" id="{6EF1EB5D-D9EB-B7AD-1E75-E8F4CE008D0F}"/>
              </a:ext>
            </a:extLst>
          </p:cNvPr>
          <p:cNvGrpSpPr/>
          <p:nvPr/>
        </p:nvGrpSpPr>
        <p:grpSpPr>
          <a:xfrm>
            <a:off x="4894632" y="3273636"/>
            <a:ext cx="2266273" cy="489802"/>
            <a:chOff x="1091953" y="2681056"/>
            <a:chExt cx="8611340" cy="915374"/>
          </a:xfrm>
        </p:grpSpPr>
        <p:sp>
          <p:nvSpPr>
            <p:cNvPr id="49" name="Flèche : droite 48">
              <a:extLst>
                <a:ext uri="{FF2B5EF4-FFF2-40B4-BE49-F238E27FC236}">
                  <a16:creationId xmlns:a16="http://schemas.microsoft.com/office/drawing/2014/main" id="{55243452-9CB4-981E-098C-6802F637B6D1}"/>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50" name="Flèche : droite 49">
              <a:extLst>
                <a:ext uri="{FF2B5EF4-FFF2-40B4-BE49-F238E27FC236}">
                  <a16:creationId xmlns:a16="http://schemas.microsoft.com/office/drawing/2014/main" id="{B24E64BB-7BF4-3167-89D7-65F58F284F29}"/>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51" name="Flèche : droite 50">
              <a:extLst>
                <a:ext uri="{FF2B5EF4-FFF2-40B4-BE49-F238E27FC236}">
                  <a16:creationId xmlns:a16="http://schemas.microsoft.com/office/drawing/2014/main" id="{A159694D-3016-78C9-81A5-7CCBFAEF9D3C}"/>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52" name="Flèche : droite 51">
              <a:extLst>
                <a:ext uri="{FF2B5EF4-FFF2-40B4-BE49-F238E27FC236}">
                  <a16:creationId xmlns:a16="http://schemas.microsoft.com/office/drawing/2014/main" id="{B995BD5C-F38A-75AF-831F-830A3344A2B7}"/>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53" name="Flèche : droite 52">
              <a:extLst>
                <a:ext uri="{FF2B5EF4-FFF2-40B4-BE49-F238E27FC236}">
                  <a16:creationId xmlns:a16="http://schemas.microsoft.com/office/drawing/2014/main" id="{B94ACB72-4E9A-7B61-D3B0-8D73CD634170}"/>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45" name="ZoneTexte 44">
            <a:extLst>
              <a:ext uri="{FF2B5EF4-FFF2-40B4-BE49-F238E27FC236}">
                <a16:creationId xmlns:a16="http://schemas.microsoft.com/office/drawing/2014/main" id="{BB385B7E-3449-29DA-EFA4-705D7FE64A57}"/>
              </a:ext>
            </a:extLst>
          </p:cNvPr>
          <p:cNvSpPr txBox="1"/>
          <p:nvPr/>
        </p:nvSpPr>
        <p:spPr>
          <a:xfrm>
            <a:off x="4856210" y="2244172"/>
            <a:ext cx="2320736" cy="1061829"/>
          </a:xfrm>
          <a:prstGeom prst="rect">
            <a:avLst/>
          </a:prstGeom>
          <a:noFill/>
        </p:spPr>
        <p:txBody>
          <a:bodyPr wrap="square">
            <a:spAutoFit/>
          </a:bodyPr>
          <a:lstStyle/>
          <a:p>
            <a:pPr marL="0" indent="0" algn="ctr">
              <a:buNone/>
            </a:pPr>
            <a:r>
              <a:rPr lang="fr-FR" sz="1050" b="1" dirty="0">
                <a:solidFill>
                  <a:srgbClr val="ED7D31"/>
                </a:solidFill>
                <a:sym typeface="Wingdings" panose="05000000000000000000" pitchFamily="2" charset="2"/>
              </a:rPr>
              <a:t>CAS 3 Surcharge d’expérimentations / apprentissages </a:t>
            </a:r>
            <a:endParaRPr lang="fr-FR" sz="1050" b="1" dirty="0">
              <a:sym typeface="Wingdings" panose="05000000000000000000" pitchFamily="2" charset="2"/>
            </a:endParaRPr>
          </a:p>
          <a:p>
            <a:pPr marL="0" indent="0" algn="ctr">
              <a:buNone/>
            </a:pPr>
            <a:r>
              <a:rPr lang="fr-FR" sz="1050" dirty="0">
                <a:sym typeface="Wingdings" panose="05000000000000000000" pitchFamily="2" charset="2"/>
              </a:rPr>
              <a:t>La communauté a beaucoup trop de sujets en cours d’expérimentations et manque de l’énergie nécessaire pour suivre et ancrer les apprentissages</a:t>
            </a:r>
            <a:endParaRPr lang="fr-FR" sz="1050" dirty="0"/>
          </a:p>
        </p:txBody>
      </p:sp>
      <p:grpSp>
        <p:nvGrpSpPr>
          <p:cNvPr id="55" name="Groupe 54">
            <a:extLst>
              <a:ext uri="{FF2B5EF4-FFF2-40B4-BE49-F238E27FC236}">
                <a16:creationId xmlns:a16="http://schemas.microsoft.com/office/drawing/2014/main" id="{EEA0DC74-9083-A91B-8EE6-F44D19121DFC}"/>
              </a:ext>
            </a:extLst>
          </p:cNvPr>
          <p:cNvGrpSpPr/>
          <p:nvPr/>
        </p:nvGrpSpPr>
        <p:grpSpPr>
          <a:xfrm>
            <a:off x="7392806" y="4281056"/>
            <a:ext cx="2266274" cy="489802"/>
            <a:chOff x="1091953" y="2681056"/>
            <a:chExt cx="8611340" cy="915374"/>
          </a:xfrm>
        </p:grpSpPr>
        <p:sp>
          <p:nvSpPr>
            <p:cNvPr id="60" name="Flèche : droite 59">
              <a:extLst>
                <a:ext uri="{FF2B5EF4-FFF2-40B4-BE49-F238E27FC236}">
                  <a16:creationId xmlns:a16="http://schemas.microsoft.com/office/drawing/2014/main" id="{7B5B5A8D-84D2-FF24-816E-2C68B2067887}"/>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61" name="Flèche : droite 60">
              <a:extLst>
                <a:ext uri="{FF2B5EF4-FFF2-40B4-BE49-F238E27FC236}">
                  <a16:creationId xmlns:a16="http://schemas.microsoft.com/office/drawing/2014/main" id="{E18A3236-9DB5-8088-B480-3C28D72C0E11}"/>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62" name="Flèche : droite 61">
              <a:extLst>
                <a:ext uri="{FF2B5EF4-FFF2-40B4-BE49-F238E27FC236}">
                  <a16:creationId xmlns:a16="http://schemas.microsoft.com/office/drawing/2014/main" id="{5302B4F1-27AD-2B45-E697-F73D45673CB8}"/>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63" name="Flèche : droite 62">
              <a:extLst>
                <a:ext uri="{FF2B5EF4-FFF2-40B4-BE49-F238E27FC236}">
                  <a16:creationId xmlns:a16="http://schemas.microsoft.com/office/drawing/2014/main" id="{842E80A3-3777-9715-1DB6-1106CBB504FA}"/>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64" name="Flèche : droite 63">
              <a:extLst>
                <a:ext uri="{FF2B5EF4-FFF2-40B4-BE49-F238E27FC236}">
                  <a16:creationId xmlns:a16="http://schemas.microsoft.com/office/drawing/2014/main" id="{76F35459-FF46-CC39-357E-72B006661E30}"/>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56" name="ZoneTexte 55">
            <a:extLst>
              <a:ext uri="{FF2B5EF4-FFF2-40B4-BE49-F238E27FC236}">
                <a16:creationId xmlns:a16="http://schemas.microsoft.com/office/drawing/2014/main" id="{112BA6BF-D1EF-ECB3-0C28-A326B8CCE1FB}"/>
              </a:ext>
            </a:extLst>
          </p:cNvPr>
          <p:cNvSpPr txBox="1"/>
          <p:nvPr/>
        </p:nvSpPr>
        <p:spPr>
          <a:xfrm>
            <a:off x="7321850" y="2993426"/>
            <a:ext cx="2320737" cy="1384995"/>
          </a:xfrm>
          <a:prstGeom prst="rect">
            <a:avLst/>
          </a:prstGeom>
          <a:noFill/>
        </p:spPr>
        <p:txBody>
          <a:bodyPr wrap="square">
            <a:spAutoFit/>
          </a:bodyPr>
          <a:lstStyle/>
          <a:p>
            <a:pPr marL="0" indent="0" algn="ctr">
              <a:buNone/>
            </a:pPr>
            <a:r>
              <a:rPr lang="fr-FR" sz="1050" b="1" dirty="0">
                <a:solidFill>
                  <a:srgbClr val="3494BA"/>
                </a:solidFill>
                <a:sym typeface="Wingdings" panose="05000000000000000000" pitchFamily="2" charset="2"/>
              </a:rPr>
              <a:t>CAS 4</a:t>
            </a:r>
          </a:p>
          <a:p>
            <a:pPr marL="0" indent="0" algn="ctr">
              <a:buNone/>
            </a:pPr>
            <a:r>
              <a:rPr lang="fr-FR" sz="1050" b="1" dirty="0">
                <a:solidFill>
                  <a:srgbClr val="3494BA"/>
                </a:solidFill>
                <a:sym typeface="Wingdings" panose="05000000000000000000" pitchFamily="2" charset="2"/>
              </a:rPr>
              <a:t>Rigidification par la routine </a:t>
            </a:r>
          </a:p>
          <a:p>
            <a:pPr marL="0" indent="0" algn="ctr">
              <a:buNone/>
            </a:pPr>
            <a:r>
              <a:rPr lang="fr-FR" sz="1050" b="1" dirty="0">
                <a:sym typeface="Wingdings" panose="05000000000000000000" pitchFamily="2" charset="2"/>
              </a:rPr>
              <a:t> </a:t>
            </a:r>
            <a:r>
              <a:rPr lang="fr-FR" sz="1050" dirty="0">
                <a:sym typeface="Wingdings" panose="05000000000000000000" pitchFamily="2" charset="2"/>
              </a:rPr>
              <a:t>La communauté a établi énormément d’habitudes qui lui sont utiles, l’accumulation de ces habitudes occupe la majorité du temps et la communauté perd en flexibilité ou en motivations nouvelles</a:t>
            </a:r>
            <a:endParaRPr lang="fr-FR" sz="1050" dirty="0"/>
          </a:p>
        </p:txBody>
      </p:sp>
      <p:grpSp>
        <p:nvGrpSpPr>
          <p:cNvPr id="66" name="Groupe 65">
            <a:extLst>
              <a:ext uri="{FF2B5EF4-FFF2-40B4-BE49-F238E27FC236}">
                <a16:creationId xmlns:a16="http://schemas.microsoft.com/office/drawing/2014/main" id="{188413A3-9EE8-B0DF-8970-C412E3252B66}"/>
              </a:ext>
            </a:extLst>
          </p:cNvPr>
          <p:cNvGrpSpPr/>
          <p:nvPr/>
        </p:nvGrpSpPr>
        <p:grpSpPr>
          <a:xfrm>
            <a:off x="9814929" y="3738834"/>
            <a:ext cx="2266274" cy="489802"/>
            <a:chOff x="1091953" y="2681056"/>
            <a:chExt cx="8611340" cy="915374"/>
          </a:xfrm>
        </p:grpSpPr>
        <p:sp>
          <p:nvSpPr>
            <p:cNvPr id="71" name="Flèche : droite 70">
              <a:extLst>
                <a:ext uri="{FF2B5EF4-FFF2-40B4-BE49-F238E27FC236}">
                  <a16:creationId xmlns:a16="http://schemas.microsoft.com/office/drawing/2014/main" id="{F86D4A80-BEAA-1D9E-69F0-069AAE7FAC7E}"/>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72" name="Flèche : droite 71">
              <a:extLst>
                <a:ext uri="{FF2B5EF4-FFF2-40B4-BE49-F238E27FC236}">
                  <a16:creationId xmlns:a16="http://schemas.microsoft.com/office/drawing/2014/main" id="{B46004EB-FA44-81AE-2640-D140AB904424}"/>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3" name="Flèche : droite 72">
              <a:extLst>
                <a:ext uri="{FF2B5EF4-FFF2-40B4-BE49-F238E27FC236}">
                  <a16:creationId xmlns:a16="http://schemas.microsoft.com/office/drawing/2014/main" id="{AC40A0C1-5B25-411F-5FF7-66A0D654D53D}"/>
                </a:ext>
              </a:extLst>
            </p:cNvPr>
            <p:cNvSpPr/>
            <p:nvPr/>
          </p:nvSpPr>
          <p:spPr>
            <a:xfrm>
              <a:off x="4536489"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4" name="Flèche : droite 73">
              <a:extLst>
                <a:ext uri="{FF2B5EF4-FFF2-40B4-BE49-F238E27FC236}">
                  <a16:creationId xmlns:a16="http://schemas.microsoft.com/office/drawing/2014/main" id="{793E1BB0-2BE7-29AC-AF47-149C2F8550BD}"/>
                </a:ext>
              </a:extLst>
            </p:cNvPr>
            <p:cNvSpPr/>
            <p:nvPr/>
          </p:nvSpPr>
          <p:spPr>
            <a:xfrm>
              <a:off x="6258757" y="2681056"/>
              <a:ext cx="1722268" cy="915374"/>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5" name="Flèche : droite 74">
              <a:extLst>
                <a:ext uri="{FF2B5EF4-FFF2-40B4-BE49-F238E27FC236}">
                  <a16:creationId xmlns:a16="http://schemas.microsoft.com/office/drawing/2014/main" id="{22B4149C-2C65-A40D-37C4-0C7A430D0B32}"/>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67" name="ZoneTexte 66">
            <a:extLst>
              <a:ext uri="{FF2B5EF4-FFF2-40B4-BE49-F238E27FC236}">
                <a16:creationId xmlns:a16="http://schemas.microsoft.com/office/drawing/2014/main" id="{4BD89A0B-EFCA-F099-2F71-A4FDEC8ACAF0}"/>
              </a:ext>
            </a:extLst>
          </p:cNvPr>
          <p:cNvSpPr txBox="1"/>
          <p:nvPr/>
        </p:nvSpPr>
        <p:spPr>
          <a:xfrm>
            <a:off x="9755995" y="2093155"/>
            <a:ext cx="2320737" cy="1546577"/>
          </a:xfrm>
          <a:prstGeom prst="rect">
            <a:avLst/>
          </a:prstGeom>
          <a:noFill/>
        </p:spPr>
        <p:txBody>
          <a:bodyPr wrap="square">
            <a:spAutoFit/>
          </a:bodyPr>
          <a:lstStyle/>
          <a:p>
            <a:pPr marL="0" indent="0" algn="ctr">
              <a:buNone/>
            </a:pPr>
            <a:r>
              <a:rPr lang="fr-FR" sz="1050" b="1" dirty="0">
                <a:solidFill>
                  <a:srgbClr val="FF0000"/>
                </a:solidFill>
                <a:sym typeface="Wingdings" panose="05000000000000000000" pitchFamily="2" charset="2"/>
              </a:rPr>
              <a:t>CAS 5</a:t>
            </a:r>
          </a:p>
          <a:p>
            <a:pPr marL="0" indent="0" algn="ctr">
              <a:buNone/>
            </a:pPr>
            <a:r>
              <a:rPr lang="fr-FR" sz="1050" b="1" dirty="0">
                <a:solidFill>
                  <a:srgbClr val="FF0000"/>
                </a:solidFill>
                <a:sym typeface="Wingdings" panose="05000000000000000000" pitchFamily="2" charset="2"/>
              </a:rPr>
              <a:t>Démotivations cumulées</a:t>
            </a:r>
            <a:r>
              <a:rPr lang="fr-FR" sz="1050" b="1" dirty="0">
                <a:sym typeface="Wingdings" panose="05000000000000000000" pitchFamily="2" charset="2"/>
              </a:rPr>
              <a:t> </a:t>
            </a:r>
          </a:p>
          <a:p>
            <a:pPr marL="0" indent="0" algn="ctr">
              <a:buNone/>
            </a:pPr>
            <a:r>
              <a:rPr lang="fr-FR" sz="1050" dirty="0">
                <a:sym typeface="Wingdings" panose="05000000000000000000" pitchFamily="2" charset="2"/>
              </a:rPr>
              <a:t>La Communauté a beaucoup d’activités qui sont au stade démotivant mais ne sont pas changées, chaque activité démotivante pèse tant qu’elle n’est pas enlevée, et il y a très peu de nouveauté pour se ressourcer. Fort risque d’attrition des membres</a:t>
            </a:r>
            <a:endParaRPr lang="fr-FR" sz="1050" dirty="0"/>
          </a:p>
        </p:txBody>
      </p:sp>
      <p:grpSp>
        <p:nvGrpSpPr>
          <p:cNvPr id="92" name="Gruppo 91">
            <a:extLst>
              <a:ext uri="{FF2B5EF4-FFF2-40B4-BE49-F238E27FC236}">
                <a16:creationId xmlns:a16="http://schemas.microsoft.com/office/drawing/2014/main" id="{12C10B3C-8F5D-4289-FD8E-C33994549B0F}"/>
              </a:ext>
            </a:extLst>
          </p:cNvPr>
          <p:cNvGrpSpPr/>
          <p:nvPr/>
        </p:nvGrpSpPr>
        <p:grpSpPr>
          <a:xfrm>
            <a:off x="2967990" y="4733378"/>
            <a:ext cx="453256" cy="1944228"/>
            <a:chOff x="2948800" y="3624373"/>
            <a:chExt cx="453256" cy="1944228"/>
          </a:xfrm>
        </p:grpSpPr>
        <p:sp>
          <p:nvSpPr>
            <p:cNvPr id="20" name="Rectangle 21">
              <a:extLst>
                <a:ext uri="{FF2B5EF4-FFF2-40B4-BE49-F238E27FC236}">
                  <a16:creationId xmlns:a16="http://schemas.microsoft.com/office/drawing/2014/main" id="{02A169C5-6B2B-5948-943E-FEA801C2A629}"/>
                </a:ext>
              </a:extLst>
            </p:cNvPr>
            <p:cNvSpPr/>
            <p:nvPr/>
          </p:nvSpPr>
          <p:spPr>
            <a:xfrm>
              <a:off x="2948800" y="3624373"/>
              <a:ext cx="453256"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35" name="Rectangle 22">
              <a:extLst>
                <a:ext uri="{FF2B5EF4-FFF2-40B4-BE49-F238E27FC236}">
                  <a16:creationId xmlns:a16="http://schemas.microsoft.com/office/drawing/2014/main" id="{0491E97E-BE24-0469-3836-D193B7E9A45B}"/>
                </a:ext>
              </a:extLst>
            </p:cNvPr>
            <p:cNvSpPr/>
            <p:nvPr/>
          </p:nvSpPr>
          <p:spPr>
            <a:xfrm>
              <a:off x="2948800" y="3907459"/>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87" name="Rectangle 24">
              <a:extLst>
                <a:ext uri="{FF2B5EF4-FFF2-40B4-BE49-F238E27FC236}">
                  <a16:creationId xmlns:a16="http://schemas.microsoft.com/office/drawing/2014/main" id="{DA4DE371-99D0-5E62-16B6-1D9097806196}"/>
                </a:ext>
              </a:extLst>
            </p:cNvPr>
            <p:cNvSpPr/>
            <p:nvPr/>
          </p:nvSpPr>
          <p:spPr>
            <a:xfrm>
              <a:off x="2948800" y="4190545"/>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88" name="Rectangle 21">
              <a:extLst>
                <a:ext uri="{FF2B5EF4-FFF2-40B4-BE49-F238E27FC236}">
                  <a16:creationId xmlns:a16="http://schemas.microsoft.com/office/drawing/2014/main" id="{19EF88C3-9541-1AEA-6866-F451D8068403}"/>
                </a:ext>
              </a:extLst>
            </p:cNvPr>
            <p:cNvSpPr/>
            <p:nvPr/>
          </p:nvSpPr>
          <p:spPr>
            <a:xfrm>
              <a:off x="2948800" y="4473631"/>
              <a:ext cx="453256"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89" name="Rectangle 22">
              <a:extLst>
                <a:ext uri="{FF2B5EF4-FFF2-40B4-BE49-F238E27FC236}">
                  <a16:creationId xmlns:a16="http://schemas.microsoft.com/office/drawing/2014/main" id="{55106B35-F334-0CDE-066F-DE42875E19FC}"/>
                </a:ext>
              </a:extLst>
            </p:cNvPr>
            <p:cNvSpPr/>
            <p:nvPr/>
          </p:nvSpPr>
          <p:spPr>
            <a:xfrm>
              <a:off x="2948800" y="4756717"/>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90" name="Rectangle 24">
              <a:extLst>
                <a:ext uri="{FF2B5EF4-FFF2-40B4-BE49-F238E27FC236}">
                  <a16:creationId xmlns:a16="http://schemas.microsoft.com/office/drawing/2014/main" id="{0E58FDAE-5B1F-ABBA-7F4C-EA7E341DB283}"/>
                </a:ext>
              </a:extLst>
            </p:cNvPr>
            <p:cNvSpPr/>
            <p:nvPr/>
          </p:nvSpPr>
          <p:spPr>
            <a:xfrm>
              <a:off x="2948800" y="5039803"/>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91" name="Rectangle 24">
              <a:extLst>
                <a:ext uri="{FF2B5EF4-FFF2-40B4-BE49-F238E27FC236}">
                  <a16:creationId xmlns:a16="http://schemas.microsoft.com/office/drawing/2014/main" id="{472CF99D-82F4-6E96-A999-03F11AFB3FB0}"/>
                </a:ext>
              </a:extLst>
            </p:cNvPr>
            <p:cNvSpPr/>
            <p:nvPr/>
          </p:nvSpPr>
          <p:spPr>
            <a:xfrm>
              <a:off x="2948800" y="5322891"/>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grpSp>
        <p:nvGrpSpPr>
          <p:cNvPr id="93" name="Gruppo 92">
            <a:extLst>
              <a:ext uri="{FF2B5EF4-FFF2-40B4-BE49-F238E27FC236}">
                <a16:creationId xmlns:a16="http://schemas.microsoft.com/office/drawing/2014/main" id="{DB29195C-59D0-7F87-53F4-E8CD945876DD}"/>
              </a:ext>
            </a:extLst>
          </p:cNvPr>
          <p:cNvGrpSpPr/>
          <p:nvPr/>
        </p:nvGrpSpPr>
        <p:grpSpPr>
          <a:xfrm>
            <a:off x="117364" y="3830933"/>
            <a:ext cx="453256" cy="1944228"/>
            <a:chOff x="2948800" y="3624373"/>
            <a:chExt cx="453256" cy="1944228"/>
          </a:xfrm>
        </p:grpSpPr>
        <p:sp>
          <p:nvSpPr>
            <p:cNvPr id="94" name="Rectangle 21">
              <a:extLst>
                <a:ext uri="{FF2B5EF4-FFF2-40B4-BE49-F238E27FC236}">
                  <a16:creationId xmlns:a16="http://schemas.microsoft.com/office/drawing/2014/main" id="{52CDD17E-8B3A-B739-E5D0-481D7B30432F}"/>
                </a:ext>
              </a:extLst>
            </p:cNvPr>
            <p:cNvSpPr/>
            <p:nvPr/>
          </p:nvSpPr>
          <p:spPr>
            <a:xfrm>
              <a:off x="2948800" y="3624373"/>
              <a:ext cx="453256"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95" name="Rectangle 22">
              <a:extLst>
                <a:ext uri="{FF2B5EF4-FFF2-40B4-BE49-F238E27FC236}">
                  <a16:creationId xmlns:a16="http://schemas.microsoft.com/office/drawing/2014/main" id="{1EA3CB2D-A450-351E-4AA1-E4FE8DC6A8AC}"/>
                </a:ext>
              </a:extLst>
            </p:cNvPr>
            <p:cNvSpPr/>
            <p:nvPr/>
          </p:nvSpPr>
          <p:spPr>
            <a:xfrm>
              <a:off x="2948800" y="3907459"/>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96" name="Rectangle 24">
              <a:extLst>
                <a:ext uri="{FF2B5EF4-FFF2-40B4-BE49-F238E27FC236}">
                  <a16:creationId xmlns:a16="http://schemas.microsoft.com/office/drawing/2014/main" id="{A405C7A3-6CCC-601B-389B-54E6814E5AA7}"/>
                </a:ext>
              </a:extLst>
            </p:cNvPr>
            <p:cNvSpPr/>
            <p:nvPr/>
          </p:nvSpPr>
          <p:spPr>
            <a:xfrm>
              <a:off x="2948800" y="4190545"/>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97" name="Rectangle 21">
              <a:extLst>
                <a:ext uri="{FF2B5EF4-FFF2-40B4-BE49-F238E27FC236}">
                  <a16:creationId xmlns:a16="http://schemas.microsoft.com/office/drawing/2014/main" id="{01AD10FC-6F01-5766-F141-49A0DF53DE36}"/>
                </a:ext>
              </a:extLst>
            </p:cNvPr>
            <p:cNvSpPr/>
            <p:nvPr/>
          </p:nvSpPr>
          <p:spPr>
            <a:xfrm>
              <a:off x="2948800" y="4473631"/>
              <a:ext cx="453256"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98" name="Rectangle 22">
              <a:extLst>
                <a:ext uri="{FF2B5EF4-FFF2-40B4-BE49-F238E27FC236}">
                  <a16:creationId xmlns:a16="http://schemas.microsoft.com/office/drawing/2014/main" id="{4774645C-7D94-6653-77DD-92785F8B8890}"/>
                </a:ext>
              </a:extLst>
            </p:cNvPr>
            <p:cNvSpPr/>
            <p:nvPr/>
          </p:nvSpPr>
          <p:spPr>
            <a:xfrm>
              <a:off x="2948800" y="4756717"/>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99" name="Rectangle 24">
              <a:extLst>
                <a:ext uri="{FF2B5EF4-FFF2-40B4-BE49-F238E27FC236}">
                  <a16:creationId xmlns:a16="http://schemas.microsoft.com/office/drawing/2014/main" id="{BACBA588-F3D8-3169-5CD0-A3162BB871A3}"/>
                </a:ext>
              </a:extLst>
            </p:cNvPr>
            <p:cNvSpPr/>
            <p:nvPr/>
          </p:nvSpPr>
          <p:spPr>
            <a:xfrm>
              <a:off x="2948800" y="5039803"/>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00" name="Rectangle 24">
              <a:extLst>
                <a:ext uri="{FF2B5EF4-FFF2-40B4-BE49-F238E27FC236}">
                  <a16:creationId xmlns:a16="http://schemas.microsoft.com/office/drawing/2014/main" id="{DAA4369A-DA9F-1EE5-50D8-78C7B6D6CB35}"/>
                </a:ext>
              </a:extLst>
            </p:cNvPr>
            <p:cNvSpPr/>
            <p:nvPr/>
          </p:nvSpPr>
          <p:spPr>
            <a:xfrm>
              <a:off x="2948800" y="5322891"/>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grpSp>
        <p:nvGrpSpPr>
          <p:cNvPr id="101" name="Gruppo 100">
            <a:extLst>
              <a:ext uri="{FF2B5EF4-FFF2-40B4-BE49-F238E27FC236}">
                <a16:creationId xmlns:a16="http://schemas.microsoft.com/office/drawing/2014/main" id="{096E9CC8-CB92-129B-05F9-E54FAB019AE4}"/>
              </a:ext>
            </a:extLst>
          </p:cNvPr>
          <p:cNvGrpSpPr/>
          <p:nvPr/>
        </p:nvGrpSpPr>
        <p:grpSpPr>
          <a:xfrm>
            <a:off x="5801140" y="3831053"/>
            <a:ext cx="453256" cy="1944228"/>
            <a:chOff x="2948800" y="3624373"/>
            <a:chExt cx="453256" cy="1944228"/>
          </a:xfrm>
        </p:grpSpPr>
        <p:sp>
          <p:nvSpPr>
            <p:cNvPr id="102" name="Rectangle 21">
              <a:extLst>
                <a:ext uri="{FF2B5EF4-FFF2-40B4-BE49-F238E27FC236}">
                  <a16:creationId xmlns:a16="http://schemas.microsoft.com/office/drawing/2014/main" id="{31B37C29-3A30-D648-7DA6-F7914986DEE3}"/>
                </a:ext>
              </a:extLst>
            </p:cNvPr>
            <p:cNvSpPr/>
            <p:nvPr/>
          </p:nvSpPr>
          <p:spPr>
            <a:xfrm>
              <a:off x="2948800" y="3624373"/>
              <a:ext cx="453256"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03" name="Rectangle 22">
              <a:extLst>
                <a:ext uri="{FF2B5EF4-FFF2-40B4-BE49-F238E27FC236}">
                  <a16:creationId xmlns:a16="http://schemas.microsoft.com/office/drawing/2014/main" id="{4BCF90B0-DB9A-D5D3-98F5-3D1C2D54E225}"/>
                </a:ext>
              </a:extLst>
            </p:cNvPr>
            <p:cNvSpPr/>
            <p:nvPr/>
          </p:nvSpPr>
          <p:spPr>
            <a:xfrm>
              <a:off x="2948800" y="3907459"/>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04" name="Rectangle 24">
              <a:extLst>
                <a:ext uri="{FF2B5EF4-FFF2-40B4-BE49-F238E27FC236}">
                  <a16:creationId xmlns:a16="http://schemas.microsoft.com/office/drawing/2014/main" id="{E3F3A545-ACBD-1743-01E5-C51230DDB177}"/>
                </a:ext>
              </a:extLst>
            </p:cNvPr>
            <p:cNvSpPr/>
            <p:nvPr/>
          </p:nvSpPr>
          <p:spPr>
            <a:xfrm>
              <a:off x="2948800" y="4190545"/>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05" name="Rectangle 21">
              <a:extLst>
                <a:ext uri="{FF2B5EF4-FFF2-40B4-BE49-F238E27FC236}">
                  <a16:creationId xmlns:a16="http://schemas.microsoft.com/office/drawing/2014/main" id="{C64D8DE9-6592-578A-DE35-2FEEEC14895F}"/>
                </a:ext>
              </a:extLst>
            </p:cNvPr>
            <p:cNvSpPr/>
            <p:nvPr/>
          </p:nvSpPr>
          <p:spPr>
            <a:xfrm>
              <a:off x="2948800" y="4473631"/>
              <a:ext cx="453256"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06" name="Rectangle 22">
              <a:extLst>
                <a:ext uri="{FF2B5EF4-FFF2-40B4-BE49-F238E27FC236}">
                  <a16:creationId xmlns:a16="http://schemas.microsoft.com/office/drawing/2014/main" id="{398C6B99-2428-735D-CB08-05E44576D9AA}"/>
                </a:ext>
              </a:extLst>
            </p:cNvPr>
            <p:cNvSpPr/>
            <p:nvPr/>
          </p:nvSpPr>
          <p:spPr>
            <a:xfrm>
              <a:off x="2948800" y="4756717"/>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07" name="Rectangle 24">
              <a:extLst>
                <a:ext uri="{FF2B5EF4-FFF2-40B4-BE49-F238E27FC236}">
                  <a16:creationId xmlns:a16="http://schemas.microsoft.com/office/drawing/2014/main" id="{41C5BD2B-34C4-9A3D-07A8-DF718734AD58}"/>
                </a:ext>
              </a:extLst>
            </p:cNvPr>
            <p:cNvSpPr/>
            <p:nvPr/>
          </p:nvSpPr>
          <p:spPr>
            <a:xfrm>
              <a:off x="2948800" y="5039803"/>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08" name="Rectangle 24">
              <a:extLst>
                <a:ext uri="{FF2B5EF4-FFF2-40B4-BE49-F238E27FC236}">
                  <a16:creationId xmlns:a16="http://schemas.microsoft.com/office/drawing/2014/main" id="{186D469B-4F5B-1BB3-5986-EFD9F741B40F}"/>
                </a:ext>
              </a:extLst>
            </p:cNvPr>
            <p:cNvSpPr/>
            <p:nvPr/>
          </p:nvSpPr>
          <p:spPr>
            <a:xfrm>
              <a:off x="2948800" y="5322891"/>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grpSp>
        <p:nvGrpSpPr>
          <p:cNvPr id="109" name="Gruppo 108">
            <a:extLst>
              <a:ext uri="{FF2B5EF4-FFF2-40B4-BE49-F238E27FC236}">
                <a16:creationId xmlns:a16="http://schemas.microsoft.com/office/drawing/2014/main" id="{445657E1-DA2D-861F-687A-58CBC20D16B3}"/>
              </a:ext>
            </a:extLst>
          </p:cNvPr>
          <p:cNvGrpSpPr/>
          <p:nvPr/>
        </p:nvGrpSpPr>
        <p:grpSpPr>
          <a:xfrm>
            <a:off x="8752569" y="4799590"/>
            <a:ext cx="453256" cy="1944228"/>
            <a:chOff x="2948800" y="3624373"/>
            <a:chExt cx="453256" cy="1944228"/>
          </a:xfrm>
        </p:grpSpPr>
        <p:sp>
          <p:nvSpPr>
            <p:cNvPr id="110" name="Rectangle 21">
              <a:extLst>
                <a:ext uri="{FF2B5EF4-FFF2-40B4-BE49-F238E27FC236}">
                  <a16:creationId xmlns:a16="http://schemas.microsoft.com/office/drawing/2014/main" id="{CF14AC78-EEF8-F817-DF69-79E604EA638A}"/>
                </a:ext>
              </a:extLst>
            </p:cNvPr>
            <p:cNvSpPr/>
            <p:nvPr/>
          </p:nvSpPr>
          <p:spPr>
            <a:xfrm>
              <a:off x="2948800" y="3624373"/>
              <a:ext cx="453256"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11" name="Rectangle 22">
              <a:extLst>
                <a:ext uri="{FF2B5EF4-FFF2-40B4-BE49-F238E27FC236}">
                  <a16:creationId xmlns:a16="http://schemas.microsoft.com/office/drawing/2014/main" id="{E22907A8-79B7-1B86-BF3C-7AAEEDF0B3E5}"/>
                </a:ext>
              </a:extLst>
            </p:cNvPr>
            <p:cNvSpPr/>
            <p:nvPr/>
          </p:nvSpPr>
          <p:spPr>
            <a:xfrm>
              <a:off x="2948800" y="3907459"/>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12" name="Rectangle 24">
              <a:extLst>
                <a:ext uri="{FF2B5EF4-FFF2-40B4-BE49-F238E27FC236}">
                  <a16:creationId xmlns:a16="http://schemas.microsoft.com/office/drawing/2014/main" id="{0DC71567-A865-26FA-59EE-F6E49926E9F8}"/>
                </a:ext>
              </a:extLst>
            </p:cNvPr>
            <p:cNvSpPr/>
            <p:nvPr/>
          </p:nvSpPr>
          <p:spPr>
            <a:xfrm>
              <a:off x="2948800" y="4190545"/>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13" name="Rectangle 21">
              <a:extLst>
                <a:ext uri="{FF2B5EF4-FFF2-40B4-BE49-F238E27FC236}">
                  <a16:creationId xmlns:a16="http://schemas.microsoft.com/office/drawing/2014/main" id="{D415EB3D-F640-5407-4BEC-1B70BF59EC12}"/>
                </a:ext>
              </a:extLst>
            </p:cNvPr>
            <p:cNvSpPr/>
            <p:nvPr/>
          </p:nvSpPr>
          <p:spPr>
            <a:xfrm>
              <a:off x="2948800" y="4473631"/>
              <a:ext cx="453256"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14" name="Rectangle 22">
              <a:extLst>
                <a:ext uri="{FF2B5EF4-FFF2-40B4-BE49-F238E27FC236}">
                  <a16:creationId xmlns:a16="http://schemas.microsoft.com/office/drawing/2014/main" id="{BB79B954-2ADC-9F94-38EB-D1FCBE7DF4CC}"/>
                </a:ext>
              </a:extLst>
            </p:cNvPr>
            <p:cNvSpPr/>
            <p:nvPr/>
          </p:nvSpPr>
          <p:spPr>
            <a:xfrm>
              <a:off x="2948800" y="4756717"/>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15" name="Rectangle 24">
              <a:extLst>
                <a:ext uri="{FF2B5EF4-FFF2-40B4-BE49-F238E27FC236}">
                  <a16:creationId xmlns:a16="http://schemas.microsoft.com/office/drawing/2014/main" id="{958BBE2C-BA23-5052-B776-A47D1A1CF48B}"/>
                </a:ext>
              </a:extLst>
            </p:cNvPr>
            <p:cNvSpPr/>
            <p:nvPr/>
          </p:nvSpPr>
          <p:spPr>
            <a:xfrm>
              <a:off x="2948800" y="5039803"/>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16" name="Rectangle 24">
              <a:extLst>
                <a:ext uri="{FF2B5EF4-FFF2-40B4-BE49-F238E27FC236}">
                  <a16:creationId xmlns:a16="http://schemas.microsoft.com/office/drawing/2014/main" id="{C0DA3D8A-F83E-6EC9-4BAA-A81515A62467}"/>
                </a:ext>
              </a:extLst>
            </p:cNvPr>
            <p:cNvSpPr/>
            <p:nvPr/>
          </p:nvSpPr>
          <p:spPr>
            <a:xfrm>
              <a:off x="2948800" y="5322891"/>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grpSp>
        <p:nvGrpSpPr>
          <p:cNvPr id="117" name="Gruppo 116">
            <a:extLst>
              <a:ext uri="{FF2B5EF4-FFF2-40B4-BE49-F238E27FC236}">
                <a16:creationId xmlns:a16="http://schemas.microsoft.com/office/drawing/2014/main" id="{051D46A3-23D9-4793-B0A6-7593F116DC74}"/>
              </a:ext>
            </a:extLst>
          </p:cNvPr>
          <p:cNvGrpSpPr/>
          <p:nvPr/>
        </p:nvGrpSpPr>
        <p:grpSpPr>
          <a:xfrm>
            <a:off x="11621380" y="4266011"/>
            <a:ext cx="453256" cy="1944228"/>
            <a:chOff x="2948800" y="3624373"/>
            <a:chExt cx="453256" cy="1944228"/>
          </a:xfrm>
        </p:grpSpPr>
        <p:sp>
          <p:nvSpPr>
            <p:cNvPr id="118" name="Rectangle 21">
              <a:extLst>
                <a:ext uri="{FF2B5EF4-FFF2-40B4-BE49-F238E27FC236}">
                  <a16:creationId xmlns:a16="http://schemas.microsoft.com/office/drawing/2014/main" id="{C9F01CE2-1B34-DA5D-E379-80FBC78AE731}"/>
                </a:ext>
              </a:extLst>
            </p:cNvPr>
            <p:cNvSpPr/>
            <p:nvPr/>
          </p:nvSpPr>
          <p:spPr>
            <a:xfrm>
              <a:off x="2948800" y="3624373"/>
              <a:ext cx="453256"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19" name="Rectangle 22">
              <a:extLst>
                <a:ext uri="{FF2B5EF4-FFF2-40B4-BE49-F238E27FC236}">
                  <a16:creationId xmlns:a16="http://schemas.microsoft.com/office/drawing/2014/main" id="{A1088402-6B67-9B94-B917-A4C2F56584F8}"/>
                </a:ext>
              </a:extLst>
            </p:cNvPr>
            <p:cNvSpPr/>
            <p:nvPr/>
          </p:nvSpPr>
          <p:spPr>
            <a:xfrm>
              <a:off x="2948800" y="3907459"/>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20" name="Rectangle 24">
              <a:extLst>
                <a:ext uri="{FF2B5EF4-FFF2-40B4-BE49-F238E27FC236}">
                  <a16:creationId xmlns:a16="http://schemas.microsoft.com/office/drawing/2014/main" id="{9C8E91BE-9D33-DF53-1F2B-AEF510AFA24E}"/>
                </a:ext>
              </a:extLst>
            </p:cNvPr>
            <p:cNvSpPr/>
            <p:nvPr/>
          </p:nvSpPr>
          <p:spPr>
            <a:xfrm>
              <a:off x="2948800" y="4190545"/>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21" name="Rectangle 21">
              <a:extLst>
                <a:ext uri="{FF2B5EF4-FFF2-40B4-BE49-F238E27FC236}">
                  <a16:creationId xmlns:a16="http://schemas.microsoft.com/office/drawing/2014/main" id="{622E3916-25E1-6575-6009-D771EC05622E}"/>
                </a:ext>
              </a:extLst>
            </p:cNvPr>
            <p:cNvSpPr/>
            <p:nvPr/>
          </p:nvSpPr>
          <p:spPr>
            <a:xfrm>
              <a:off x="2948800" y="4473631"/>
              <a:ext cx="453256"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22" name="Rectangle 22">
              <a:extLst>
                <a:ext uri="{FF2B5EF4-FFF2-40B4-BE49-F238E27FC236}">
                  <a16:creationId xmlns:a16="http://schemas.microsoft.com/office/drawing/2014/main" id="{E524F411-D1AF-A977-E66A-BF387676CE94}"/>
                </a:ext>
              </a:extLst>
            </p:cNvPr>
            <p:cNvSpPr/>
            <p:nvPr/>
          </p:nvSpPr>
          <p:spPr>
            <a:xfrm>
              <a:off x="2948800" y="4756717"/>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23" name="Rectangle 24">
              <a:extLst>
                <a:ext uri="{FF2B5EF4-FFF2-40B4-BE49-F238E27FC236}">
                  <a16:creationId xmlns:a16="http://schemas.microsoft.com/office/drawing/2014/main" id="{A296C8D3-A42D-DBE7-3D4F-6747600C5527}"/>
                </a:ext>
              </a:extLst>
            </p:cNvPr>
            <p:cNvSpPr/>
            <p:nvPr/>
          </p:nvSpPr>
          <p:spPr>
            <a:xfrm>
              <a:off x="2948800" y="5039803"/>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124" name="Rectangle 24">
              <a:extLst>
                <a:ext uri="{FF2B5EF4-FFF2-40B4-BE49-F238E27FC236}">
                  <a16:creationId xmlns:a16="http://schemas.microsoft.com/office/drawing/2014/main" id="{7050C6F2-F1E2-635E-DC84-5CC46DCD4D26}"/>
                </a:ext>
              </a:extLst>
            </p:cNvPr>
            <p:cNvSpPr/>
            <p:nvPr/>
          </p:nvSpPr>
          <p:spPr>
            <a:xfrm>
              <a:off x="2948800" y="5322891"/>
              <a:ext cx="453255" cy="2457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spTree>
    <p:extLst>
      <p:ext uri="{BB962C8B-B14F-4D97-AF65-F5344CB8AC3E}">
        <p14:creationId xmlns:p14="http://schemas.microsoft.com/office/powerpoint/2010/main" val="183624375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BD07EBC-6FCA-19A3-3AFE-88623C3FB908}"/>
              </a:ext>
            </a:extLst>
          </p:cNvPr>
          <p:cNvSpPr>
            <a:spLocks noGrp="1"/>
          </p:cNvSpPr>
          <p:nvPr>
            <p:ph type="title"/>
          </p:nvPr>
        </p:nvSpPr>
        <p:spPr/>
        <p:txBody>
          <a:bodyPr/>
          <a:lstStyle/>
          <a:p>
            <a:r>
              <a:rPr lang="fr-FR" dirty="0"/>
              <a:t>Que sont les blocages, tensions et pressions de valeur ? </a:t>
            </a:r>
          </a:p>
        </p:txBody>
      </p:sp>
      <p:sp>
        <p:nvSpPr>
          <p:cNvPr id="3" name="Espace réservé du contenu 2">
            <a:extLst>
              <a:ext uri="{FF2B5EF4-FFF2-40B4-BE49-F238E27FC236}">
                <a16:creationId xmlns:a16="http://schemas.microsoft.com/office/drawing/2014/main" id="{042883A1-26B0-35CE-5994-22DC2A66BBF8}"/>
              </a:ext>
            </a:extLst>
          </p:cNvPr>
          <p:cNvSpPr>
            <a:spLocks noGrp="1"/>
          </p:cNvSpPr>
          <p:nvPr>
            <p:ph idx="1"/>
          </p:nvPr>
        </p:nvSpPr>
        <p:spPr/>
        <p:txBody>
          <a:bodyPr>
            <a:normAutofit fontScale="55000" lnSpcReduction="20000"/>
          </a:bodyPr>
          <a:lstStyle/>
          <a:p>
            <a:r>
              <a:rPr lang="fr-FR" dirty="0"/>
              <a:t>Les Communautés d’entreprise se font dans le cadre de l’entreprise, mais également avec l’engagement des membres. </a:t>
            </a:r>
          </a:p>
          <a:p>
            <a:endParaRPr lang="fr-FR" dirty="0"/>
          </a:p>
          <a:p>
            <a:r>
              <a:rPr lang="fr-FR" dirty="0"/>
              <a:t>Les parties en présence dans ce cadre sont les membres, les sponsors et l’entreprise.</a:t>
            </a:r>
          </a:p>
          <a:p>
            <a:endParaRPr lang="fr-FR" dirty="0"/>
          </a:p>
          <a:p>
            <a:r>
              <a:rPr lang="fr-FR" dirty="0"/>
              <a:t>Quand une partie est seule en difficulté avec la valeur de Communauté, cela constitue un </a:t>
            </a:r>
            <a:r>
              <a:rPr lang="fr-FR" b="1" dirty="0">
                <a:solidFill>
                  <a:srgbClr val="FF0000"/>
                </a:solidFill>
              </a:rPr>
              <a:t>BLOCAGE. </a:t>
            </a:r>
            <a:r>
              <a:rPr lang="fr-FR" dirty="0"/>
              <a:t>Par extension, on appellera aussi </a:t>
            </a:r>
            <a:r>
              <a:rPr lang="fr-FR" b="1" dirty="0">
                <a:solidFill>
                  <a:srgbClr val="FF0000"/>
                </a:solidFill>
              </a:rPr>
              <a:t>BLOCAGE</a:t>
            </a:r>
            <a:r>
              <a:rPr lang="fr-FR" dirty="0"/>
              <a:t> une difficulté liée à un format, une approche, ou des ressources de Communauté.</a:t>
            </a:r>
            <a:endParaRPr lang="fr-FR" b="1" dirty="0"/>
          </a:p>
          <a:p>
            <a:endParaRPr lang="fr-FR" dirty="0"/>
          </a:p>
          <a:p>
            <a:r>
              <a:rPr lang="fr-FR" dirty="0"/>
              <a:t>Quand une partie souhaite influencer une autre à adopter certains comportements, décisions ou visions, il y a </a:t>
            </a:r>
            <a:r>
              <a:rPr lang="fr-FR" b="1" dirty="0">
                <a:solidFill>
                  <a:srgbClr val="FF0000"/>
                </a:solidFill>
              </a:rPr>
              <a:t>PRESSION.</a:t>
            </a:r>
            <a:endParaRPr lang="fr-FR" dirty="0"/>
          </a:p>
          <a:p>
            <a:endParaRPr lang="fr-FR" dirty="0"/>
          </a:p>
          <a:p>
            <a:r>
              <a:rPr lang="fr-FR" dirty="0"/>
              <a:t>Quand il y a désaccord sur la valeur d’une communauté, il peut y avoir pression dans les deux sens, qu’on peut appeler </a:t>
            </a:r>
            <a:r>
              <a:rPr lang="fr-FR" b="1" dirty="0">
                <a:solidFill>
                  <a:srgbClr val="FF0000"/>
                </a:solidFill>
              </a:rPr>
              <a:t>TENSION</a:t>
            </a:r>
            <a:r>
              <a:rPr lang="fr-FR" dirty="0"/>
              <a:t> entre les parties en désaccord. Les </a:t>
            </a:r>
            <a:r>
              <a:rPr lang="fr-FR" b="1" dirty="0">
                <a:solidFill>
                  <a:srgbClr val="FF0000"/>
                </a:solidFill>
              </a:rPr>
              <a:t>TENSIONS</a:t>
            </a:r>
            <a:r>
              <a:rPr lang="fr-FR" dirty="0"/>
              <a:t> peuvent aussi être nées de dissonances entre souhait et réalité.</a:t>
            </a:r>
          </a:p>
          <a:p>
            <a:endParaRPr lang="fr-FR" dirty="0"/>
          </a:p>
          <a:p>
            <a:r>
              <a:rPr lang="fr-FR" dirty="0"/>
              <a:t>Mieux comprendre les blocages, pressions, et tensions, permet d’intervenir de manière plus pertinente qu’en les ignorant et en n’imaginant que le cas idéal.</a:t>
            </a:r>
          </a:p>
          <a:p>
            <a:endParaRPr lang="fr-FR" dirty="0"/>
          </a:p>
        </p:txBody>
      </p:sp>
    </p:spTree>
    <p:extLst>
      <p:ext uri="{BB962C8B-B14F-4D97-AF65-F5344CB8AC3E}">
        <p14:creationId xmlns:p14="http://schemas.microsoft.com/office/powerpoint/2010/main" val="2103079710"/>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DEE560F-324E-9A1E-9A7A-807B5D33F118}"/>
              </a:ext>
            </a:extLst>
          </p:cNvPr>
          <p:cNvSpPr>
            <a:spLocks noGrp="1"/>
          </p:cNvSpPr>
          <p:nvPr>
            <p:ph type="title"/>
          </p:nvPr>
        </p:nvSpPr>
        <p:spPr>
          <a:xfrm>
            <a:off x="838200" y="365126"/>
            <a:ext cx="10515600" cy="731662"/>
          </a:xfrm>
        </p:spPr>
        <p:txBody>
          <a:bodyPr>
            <a:noAutofit/>
          </a:bodyPr>
          <a:lstStyle/>
          <a:p>
            <a:r>
              <a:rPr lang="fr-FR" sz="2800" dirty="0"/>
              <a:t>Les blocages liés aux ressources</a:t>
            </a:r>
            <a:br>
              <a:rPr lang="fr-FR" sz="2800" dirty="0"/>
            </a:br>
            <a:r>
              <a:rPr lang="fr-FR" sz="2800" dirty="0"/>
              <a:t>Liste d’exemples</a:t>
            </a:r>
          </a:p>
        </p:txBody>
      </p:sp>
      <p:pic>
        <p:nvPicPr>
          <p:cNvPr id="105" name="Graphique 104" descr="Boîte à archives avec un remplissage uni">
            <a:extLst>
              <a:ext uri="{FF2B5EF4-FFF2-40B4-BE49-F238E27FC236}">
                <a16:creationId xmlns:a16="http://schemas.microsoft.com/office/drawing/2014/main" id="{A9299BCC-08BA-5CE1-B0BC-8E9E0DAE5C3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94360" y="415543"/>
            <a:ext cx="640022" cy="640024"/>
          </a:xfrm>
          <a:prstGeom prst="rect">
            <a:avLst/>
          </a:prstGeom>
        </p:spPr>
      </p:pic>
      <p:grpSp>
        <p:nvGrpSpPr>
          <p:cNvPr id="33" name="Groupe 32">
            <a:extLst>
              <a:ext uri="{FF2B5EF4-FFF2-40B4-BE49-F238E27FC236}">
                <a16:creationId xmlns:a16="http://schemas.microsoft.com/office/drawing/2014/main" id="{F1175F81-6C9E-03C1-9603-851B2BEFCA53}"/>
              </a:ext>
            </a:extLst>
          </p:cNvPr>
          <p:cNvGrpSpPr/>
          <p:nvPr/>
        </p:nvGrpSpPr>
        <p:grpSpPr>
          <a:xfrm>
            <a:off x="2631931" y="1078272"/>
            <a:ext cx="1290140" cy="768030"/>
            <a:chOff x="6804504" y="2072289"/>
            <a:chExt cx="1274604" cy="758783"/>
          </a:xfrm>
        </p:grpSpPr>
        <p:sp>
          <p:nvSpPr>
            <p:cNvPr id="86" name="ZoneTexte 85">
              <a:extLst>
                <a:ext uri="{FF2B5EF4-FFF2-40B4-BE49-F238E27FC236}">
                  <a16:creationId xmlns:a16="http://schemas.microsoft.com/office/drawing/2014/main" id="{6879B4F5-7249-D76D-827E-167DCAEB8C0C}"/>
                </a:ext>
              </a:extLst>
            </p:cNvPr>
            <p:cNvSpPr txBox="1"/>
            <p:nvPr/>
          </p:nvSpPr>
          <p:spPr>
            <a:xfrm>
              <a:off x="6804504" y="2603019"/>
              <a:ext cx="1274604" cy="228053"/>
            </a:xfrm>
            <a:prstGeom prst="rect">
              <a:avLst/>
            </a:prstGeom>
            <a:noFill/>
          </p:spPr>
          <p:txBody>
            <a:bodyPr wrap="square">
              <a:spAutoFit/>
            </a:bodyPr>
            <a:lstStyle/>
            <a:p>
              <a:pPr algn="ctr"/>
              <a:r>
                <a:rPr lang="fr-FR" sz="900" dirty="0"/>
                <a:t>Outils</a:t>
              </a:r>
            </a:p>
          </p:txBody>
        </p:sp>
        <p:pic>
          <p:nvPicPr>
            <p:cNvPr id="87" name="Graphique 86" descr="Chat avec un remplissage uni">
              <a:extLst>
                <a:ext uri="{FF2B5EF4-FFF2-40B4-BE49-F238E27FC236}">
                  <a16:creationId xmlns:a16="http://schemas.microsoft.com/office/drawing/2014/main" id="{555D4255-98C8-0A46-C2F5-8D7DBC51F62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213206" y="2072289"/>
              <a:ext cx="457200" cy="457200"/>
            </a:xfrm>
            <a:prstGeom prst="rect">
              <a:avLst/>
            </a:prstGeom>
          </p:spPr>
        </p:pic>
      </p:grpSp>
      <p:grpSp>
        <p:nvGrpSpPr>
          <p:cNvPr id="34" name="Groupe 33">
            <a:extLst>
              <a:ext uri="{FF2B5EF4-FFF2-40B4-BE49-F238E27FC236}">
                <a16:creationId xmlns:a16="http://schemas.microsoft.com/office/drawing/2014/main" id="{EEFF5F19-CACC-34BC-0DF5-F8EF86522A61}"/>
              </a:ext>
            </a:extLst>
          </p:cNvPr>
          <p:cNvGrpSpPr/>
          <p:nvPr/>
        </p:nvGrpSpPr>
        <p:grpSpPr>
          <a:xfrm>
            <a:off x="5098568" y="1078272"/>
            <a:ext cx="1045011" cy="768030"/>
            <a:chOff x="5551821" y="2072289"/>
            <a:chExt cx="1032426" cy="758783"/>
          </a:xfrm>
        </p:grpSpPr>
        <p:sp>
          <p:nvSpPr>
            <p:cNvPr id="84" name="ZoneTexte 83">
              <a:extLst>
                <a:ext uri="{FF2B5EF4-FFF2-40B4-BE49-F238E27FC236}">
                  <a16:creationId xmlns:a16="http://schemas.microsoft.com/office/drawing/2014/main" id="{88E122B4-BDDD-1A26-35BE-5FE972547E3F}"/>
                </a:ext>
              </a:extLst>
            </p:cNvPr>
            <p:cNvSpPr txBox="1"/>
            <p:nvPr/>
          </p:nvSpPr>
          <p:spPr>
            <a:xfrm>
              <a:off x="5551821" y="2603019"/>
              <a:ext cx="1032426" cy="228053"/>
            </a:xfrm>
            <a:prstGeom prst="rect">
              <a:avLst/>
            </a:prstGeom>
            <a:noFill/>
          </p:spPr>
          <p:txBody>
            <a:bodyPr wrap="square">
              <a:spAutoFit/>
            </a:bodyPr>
            <a:lstStyle/>
            <a:p>
              <a:pPr algn="ctr"/>
              <a:r>
                <a:rPr lang="fr-FR" sz="900" dirty="0"/>
                <a:t>Disponibilité</a:t>
              </a:r>
            </a:p>
          </p:txBody>
        </p:sp>
        <p:pic>
          <p:nvPicPr>
            <p:cNvPr id="85" name="Graphique 84" descr="Sablier 60% avec un remplissage uni">
              <a:extLst>
                <a:ext uri="{FF2B5EF4-FFF2-40B4-BE49-F238E27FC236}">
                  <a16:creationId xmlns:a16="http://schemas.microsoft.com/office/drawing/2014/main" id="{1C10ABDD-ECBD-D688-7A2F-AD07289DD00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847251" y="2072289"/>
              <a:ext cx="457200" cy="457200"/>
            </a:xfrm>
            <a:prstGeom prst="rect">
              <a:avLst/>
            </a:prstGeom>
          </p:spPr>
        </p:pic>
      </p:grpSp>
      <p:grpSp>
        <p:nvGrpSpPr>
          <p:cNvPr id="35" name="Groupe 34">
            <a:extLst>
              <a:ext uri="{FF2B5EF4-FFF2-40B4-BE49-F238E27FC236}">
                <a16:creationId xmlns:a16="http://schemas.microsoft.com/office/drawing/2014/main" id="{8600E144-4A7D-293F-F417-1B0161F6ED28}"/>
              </a:ext>
            </a:extLst>
          </p:cNvPr>
          <p:cNvGrpSpPr/>
          <p:nvPr/>
        </p:nvGrpSpPr>
        <p:grpSpPr>
          <a:xfrm>
            <a:off x="8656237" y="1070492"/>
            <a:ext cx="1045011" cy="768030"/>
            <a:chOff x="4204166" y="2072289"/>
            <a:chExt cx="1032426" cy="758783"/>
          </a:xfrm>
        </p:grpSpPr>
        <p:sp>
          <p:nvSpPr>
            <p:cNvPr id="82" name="ZoneTexte 81">
              <a:extLst>
                <a:ext uri="{FF2B5EF4-FFF2-40B4-BE49-F238E27FC236}">
                  <a16:creationId xmlns:a16="http://schemas.microsoft.com/office/drawing/2014/main" id="{ED60DF6B-0984-B90B-BC31-AD62DEDD79AF}"/>
                </a:ext>
              </a:extLst>
            </p:cNvPr>
            <p:cNvSpPr txBox="1"/>
            <p:nvPr/>
          </p:nvSpPr>
          <p:spPr>
            <a:xfrm>
              <a:off x="4204166" y="2603019"/>
              <a:ext cx="1032426" cy="228053"/>
            </a:xfrm>
            <a:prstGeom prst="rect">
              <a:avLst/>
            </a:prstGeom>
            <a:noFill/>
          </p:spPr>
          <p:txBody>
            <a:bodyPr wrap="square">
              <a:spAutoFit/>
            </a:bodyPr>
            <a:lstStyle/>
            <a:p>
              <a:pPr algn="ctr"/>
              <a:r>
                <a:rPr lang="fr-FR" sz="900" dirty="0"/>
                <a:t>Motivations</a:t>
              </a:r>
            </a:p>
          </p:txBody>
        </p:sp>
        <p:pic>
          <p:nvPicPr>
            <p:cNvPr id="83" name="Graphique 82" descr="Flèches de chevron avec un remplissage uni">
              <a:extLst>
                <a:ext uri="{FF2B5EF4-FFF2-40B4-BE49-F238E27FC236}">
                  <a16:creationId xmlns:a16="http://schemas.microsoft.com/office/drawing/2014/main" id="{F23E6C8D-AB80-7FD6-6944-F3621D50435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491779" y="2072289"/>
              <a:ext cx="457200" cy="457200"/>
            </a:xfrm>
            <a:prstGeom prst="rect">
              <a:avLst/>
            </a:prstGeom>
          </p:spPr>
        </p:pic>
      </p:grpSp>
      <p:grpSp>
        <p:nvGrpSpPr>
          <p:cNvPr id="36" name="Groupe 35">
            <a:extLst>
              <a:ext uri="{FF2B5EF4-FFF2-40B4-BE49-F238E27FC236}">
                <a16:creationId xmlns:a16="http://schemas.microsoft.com/office/drawing/2014/main" id="{56A750D2-65DA-A54F-3D04-920598D0D55C}"/>
              </a:ext>
            </a:extLst>
          </p:cNvPr>
          <p:cNvGrpSpPr/>
          <p:nvPr/>
        </p:nvGrpSpPr>
        <p:grpSpPr>
          <a:xfrm>
            <a:off x="6279086" y="1070492"/>
            <a:ext cx="1045011" cy="768030"/>
            <a:chOff x="2428298" y="2091339"/>
            <a:chExt cx="1032426" cy="758783"/>
          </a:xfrm>
        </p:grpSpPr>
        <p:sp>
          <p:nvSpPr>
            <p:cNvPr id="55" name="ZoneTexte 54">
              <a:extLst>
                <a:ext uri="{FF2B5EF4-FFF2-40B4-BE49-F238E27FC236}">
                  <a16:creationId xmlns:a16="http://schemas.microsoft.com/office/drawing/2014/main" id="{585BF505-BAAD-2A1C-A7F4-123C86280140}"/>
                </a:ext>
              </a:extLst>
            </p:cNvPr>
            <p:cNvSpPr txBox="1"/>
            <p:nvPr/>
          </p:nvSpPr>
          <p:spPr>
            <a:xfrm>
              <a:off x="2428298" y="2622069"/>
              <a:ext cx="1032426" cy="228053"/>
            </a:xfrm>
            <a:prstGeom prst="rect">
              <a:avLst/>
            </a:prstGeom>
            <a:noFill/>
          </p:spPr>
          <p:txBody>
            <a:bodyPr wrap="square">
              <a:spAutoFit/>
            </a:bodyPr>
            <a:lstStyle/>
            <a:p>
              <a:pPr algn="ctr"/>
              <a:r>
                <a:rPr lang="fr-FR" sz="900" dirty="0"/>
                <a:t>Compétences</a:t>
              </a:r>
            </a:p>
          </p:txBody>
        </p:sp>
        <p:pic>
          <p:nvPicPr>
            <p:cNvPr id="56" name="Graphique 55" descr="Tête avec engrenages avec un remplissage uni">
              <a:extLst>
                <a:ext uri="{FF2B5EF4-FFF2-40B4-BE49-F238E27FC236}">
                  <a16:creationId xmlns:a16="http://schemas.microsoft.com/office/drawing/2014/main" id="{F66F4135-44F2-8CB3-EA3C-AA00982F8BC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732130" y="2091339"/>
              <a:ext cx="457200" cy="457200"/>
            </a:xfrm>
            <a:prstGeom prst="rect">
              <a:avLst/>
            </a:prstGeom>
          </p:spPr>
        </p:pic>
      </p:grpSp>
      <p:grpSp>
        <p:nvGrpSpPr>
          <p:cNvPr id="37" name="Groupe 36">
            <a:extLst>
              <a:ext uri="{FF2B5EF4-FFF2-40B4-BE49-F238E27FC236}">
                <a16:creationId xmlns:a16="http://schemas.microsoft.com/office/drawing/2014/main" id="{216B9AFC-CC71-CB05-6CF8-7820773C9F21}"/>
              </a:ext>
            </a:extLst>
          </p:cNvPr>
          <p:cNvGrpSpPr/>
          <p:nvPr/>
        </p:nvGrpSpPr>
        <p:grpSpPr>
          <a:xfrm>
            <a:off x="1660636" y="1080368"/>
            <a:ext cx="763651" cy="768030"/>
            <a:chOff x="236639" y="2072289"/>
            <a:chExt cx="754455" cy="758783"/>
          </a:xfrm>
        </p:grpSpPr>
        <p:sp>
          <p:nvSpPr>
            <p:cNvPr id="53" name="ZoneTexte 52">
              <a:extLst>
                <a:ext uri="{FF2B5EF4-FFF2-40B4-BE49-F238E27FC236}">
                  <a16:creationId xmlns:a16="http://schemas.microsoft.com/office/drawing/2014/main" id="{371C2C11-EE3C-7041-2E74-34158E47809C}"/>
                </a:ext>
              </a:extLst>
            </p:cNvPr>
            <p:cNvSpPr txBox="1"/>
            <p:nvPr/>
          </p:nvSpPr>
          <p:spPr>
            <a:xfrm>
              <a:off x="236639" y="2603019"/>
              <a:ext cx="754455" cy="228053"/>
            </a:xfrm>
            <a:prstGeom prst="rect">
              <a:avLst/>
            </a:prstGeom>
            <a:noFill/>
          </p:spPr>
          <p:txBody>
            <a:bodyPr wrap="square">
              <a:spAutoFit/>
            </a:bodyPr>
            <a:lstStyle/>
            <a:p>
              <a:pPr algn="ctr"/>
              <a:r>
                <a:rPr lang="fr-FR" sz="900" dirty="0"/>
                <a:t>Matériel</a:t>
              </a:r>
            </a:p>
          </p:txBody>
        </p:sp>
        <p:pic>
          <p:nvPicPr>
            <p:cNvPr id="54" name="Graphique 53" descr="Diable avec un remplissage uni">
              <a:extLst>
                <a:ext uri="{FF2B5EF4-FFF2-40B4-BE49-F238E27FC236}">
                  <a16:creationId xmlns:a16="http://schemas.microsoft.com/office/drawing/2014/main" id="{655771C6-B981-1459-735C-265585DD673F}"/>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66612" y="2072289"/>
              <a:ext cx="457200" cy="457200"/>
            </a:xfrm>
            <a:prstGeom prst="rect">
              <a:avLst/>
            </a:prstGeom>
          </p:spPr>
        </p:pic>
      </p:grpSp>
      <p:grpSp>
        <p:nvGrpSpPr>
          <p:cNvPr id="38" name="Groupe 37">
            <a:extLst>
              <a:ext uri="{FF2B5EF4-FFF2-40B4-BE49-F238E27FC236}">
                <a16:creationId xmlns:a16="http://schemas.microsoft.com/office/drawing/2014/main" id="{161E7DB9-4A55-75ED-D8EC-CFA4F7B2E522}"/>
              </a:ext>
            </a:extLst>
          </p:cNvPr>
          <p:cNvGrpSpPr/>
          <p:nvPr/>
        </p:nvGrpSpPr>
        <p:grpSpPr>
          <a:xfrm>
            <a:off x="7251071" y="1075158"/>
            <a:ext cx="1398608" cy="768030"/>
            <a:chOff x="1276816" y="2072289"/>
            <a:chExt cx="1381765" cy="758783"/>
          </a:xfrm>
        </p:grpSpPr>
        <p:sp>
          <p:nvSpPr>
            <p:cNvPr id="51" name="ZoneTexte 50">
              <a:extLst>
                <a:ext uri="{FF2B5EF4-FFF2-40B4-BE49-F238E27FC236}">
                  <a16:creationId xmlns:a16="http://schemas.microsoft.com/office/drawing/2014/main" id="{B2E3D74F-5464-B93B-4270-11872AC7791A}"/>
                </a:ext>
              </a:extLst>
            </p:cNvPr>
            <p:cNvSpPr txBox="1"/>
            <p:nvPr/>
          </p:nvSpPr>
          <p:spPr>
            <a:xfrm>
              <a:off x="1276816" y="2603019"/>
              <a:ext cx="1381765" cy="228053"/>
            </a:xfrm>
            <a:prstGeom prst="rect">
              <a:avLst/>
            </a:prstGeom>
            <a:noFill/>
          </p:spPr>
          <p:txBody>
            <a:bodyPr wrap="square">
              <a:spAutoFit/>
            </a:bodyPr>
            <a:lstStyle/>
            <a:p>
              <a:pPr algn="ctr"/>
              <a:r>
                <a:rPr lang="fr-FR" sz="900" dirty="0"/>
                <a:t>Informations clé</a:t>
              </a:r>
            </a:p>
          </p:txBody>
        </p:sp>
        <p:pic>
          <p:nvPicPr>
            <p:cNvPr id="52" name="Graphique 51" descr="Informations avec un remplissage uni">
              <a:extLst>
                <a:ext uri="{FF2B5EF4-FFF2-40B4-BE49-F238E27FC236}">
                  <a16:creationId xmlns:a16="http://schemas.microsoft.com/office/drawing/2014/main" id="{9AEDE73F-C6D9-646E-AA12-3F89590A51CB}"/>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726018" y="2072289"/>
              <a:ext cx="478914" cy="478914"/>
            </a:xfrm>
            <a:prstGeom prst="rect">
              <a:avLst/>
            </a:prstGeom>
          </p:spPr>
        </p:pic>
      </p:grpSp>
      <p:grpSp>
        <p:nvGrpSpPr>
          <p:cNvPr id="39" name="Groupe 38">
            <a:extLst>
              <a:ext uri="{FF2B5EF4-FFF2-40B4-BE49-F238E27FC236}">
                <a16:creationId xmlns:a16="http://schemas.microsoft.com/office/drawing/2014/main" id="{7D752712-0989-4EAB-5CEE-1F76880890D2}"/>
              </a:ext>
            </a:extLst>
          </p:cNvPr>
          <p:cNvGrpSpPr/>
          <p:nvPr/>
        </p:nvGrpSpPr>
        <p:grpSpPr>
          <a:xfrm>
            <a:off x="189313" y="1092768"/>
            <a:ext cx="1290140" cy="768030"/>
            <a:chOff x="8215494" y="2072289"/>
            <a:chExt cx="1274604" cy="758783"/>
          </a:xfrm>
        </p:grpSpPr>
        <p:sp>
          <p:nvSpPr>
            <p:cNvPr id="49" name="ZoneTexte 48">
              <a:extLst>
                <a:ext uri="{FF2B5EF4-FFF2-40B4-BE49-F238E27FC236}">
                  <a16:creationId xmlns:a16="http://schemas.microsoft.com/office/drawing/2014/main" id="{D7DCB3ED-544C-12DD-0ACD-6A662EC9C6D9}"/>
                </a:ext>
              </a:extLst>
            </p:cNvPr>
            <p:cNvSpPr txBox="1"/>
            <p:nvPr/>
          </p:nvSpPr>
          <p:spPr>
            <a:xfrm>
              <a:off x="8215494" y="2603019"/>
              <a:ext cx="1274604" cy="228053"/>
            </a:xfrm>
            <a:prstGeom prst="rect">
              <a:avLst/>
            </a:prstGeom>
            <a:noFill/>
          </p:spPr>
          <p:txBody>
            <a:bodyPr wrap="square">
              <a:spAutoFit/>
            </a:bodyPr>
            <a:lstStyle/>
            <a:p>
              <a:pPr algn="ctr"/>
              <a:r>
                <a:rPr lang="fr-FR" sz="900" dirty="0"/>
                <a:t>Espaces et lieux</a:t>
              </a:r>
            </a:p>
          </p:txBody>
        </p:sp>
        <p:pic>
          <p:nvPicPr>
            <p:cNvPr id="50" name="Graphique 49" descr="Conseil d’administration avec un remplissage uni">
              <a:extLst>
                <a:ext uri="{FF2B5EF4-FFF2-40B4-BE49-F238E27FC236}">
                  <a16:creationId xmlns:a16="http://schemas.microsoft.com/office/drawing/2014/main" id="{036F3685-E147-0FBF-812E-31B1301C6D58}"/>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574409" y="2072289"/>
              <a:ext cx="556773" cy="556773"/>
            </a:xfrm>
            <a:prstGeom prst="rect">
              <a:avLst/>
            </a:prstGeom>
          </p:spPr>
        </p:pic>
      </p:grpSp>
      <p:grpSp>
        <p:nvGrpSpPr>
          <p:cNvPr id="40" name="Groupe 39">
            <a:extLst>
              <a:ext uri="{FF2B5EF4-FFF2-40B4-BE49-F238E27FC236}">
                <a16:creationId xmlns:a16="http://schemas.microsoft.com/office/drawing/2014/main" id="{7EFB2420-767F-1D78-12C3-7E440504C1E6}"/>
              </a:ext>
            </a:extLst>
          </p:cNvPr>
          <p:cNvGrpSpPr/>
          <p:nvPr/>
        </p:nvGrpSpPr>
        <p:grpSpPr>
          <a:xfrm>
            <a:off x="4068609" y="1074039"/>
            <a:ext cx="773820" cy="768030"/>
            <a:chOff x="9827467" y="2072289"/>
            <a:chExt cx="764501" cy="758783"/>
          </a:xfrm>
        </p:grpSpPr>
        <p:pic>
          <p:nvPicPr>
            <p:cNvPr id="47" name="Graphique 46" descr="Tirelire avec un remplissage uni">
              <a:extLst>
                <a:ext uri="{FF2B5EF4-FFF2-40B4-BE49-F238E27FC236}">
                  <a16:creationId xmlns:a16="http://schemas.microsoft.com/office/drawing/2014/main" id="{F25D3454-0062-0BA7-AF8C-64288995F13B}"/>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9956969" y="2072289"/>
              <a:ext cx="540000" cy="540000"/>
            </a:xfrm>
            <a:prstGeom prst="rect">
              <a:avLst/>
            </a:prstGeom>
          </p:spPr>
        </p:pic>
        <p:sp>
          <p:nvSpPr>
            <p:cNvPr id="48" name="ZoneTexte 47">
              <a:extLst>
                <a:ext uri="{FF2B5EF4-FFF2-40B4-BE49-F238E27FC236}">
                  <a16:creationId xmlns:a16="http://schemas.microsoft.com/office/drawing/2014/main" id="{AFD8E84E-B207-0533-212C-3CA8B4CE3926}"/>
                </a:ext>
              </a:extLst>
            </p:cNvPr>
            <p:cNvSpPr txBox="1"/>
            <p:nvPr/>
          </p:nvSpPr>
          <p:spPr>
            <a:xfrm>
              <a:off x="9827467" y="2603019"/>
              <a:ext cx="764501" cy="228053"/>
            </a:xfrm>
            <a:prstGeom prst="rect">
              <a:avLst/>
            </a:prstGeom>
            <a:noFill/>
          </p:spPr>
          <p:txBody>
            <a:bodyPr wrap="square">
              <a:spAutoFit/>
            </a:bodyPr>
            <a:lstStyle/>
            <a:p>
              <a:pPr algn="ctr"/>
              <a:r>
                <a:rPr lang="fr-FR" sz="900" dirty="0"/>
                <a:t>Budget</a:t>
              </a:r>
            </a:p>
          </p:txBody>
        </p:sp>
      </p:grpSp>
      <p:grpSp>
        <p:nvGrpSpPr>
          <p:cNvPr id="41" name="Groupe 40">
            <a:extLst>
              <a:ext uri="{FF2B5EF4-FFF2-40B4-BE49-F238E27FC236}">
                <a16:creationId xmlns:a16="http://schemas.microsoft.com/office/drawing/2014/main" id="{338A4877-FE9B-DA22-9A1C-90F9F50E5BD6}"/>
              </a:ext>
            </a:extLst>
          </p:cNvPr>
          <p:cNvGrpSpPr/>
          <p:nvPr/>
        </p:nvGrpSpPr>
        <p:grpSpPr>
          <a:xfrm>
            <a:off x="11160345" y="1078272"/>
            <a:ext cx="773820" cy="768030"/>
            <a:chOff x="11150144" y="2072289"/>
            <a:chExt cx="764501" cy="758783"/>
          </a:xfrm>
        </p:grpSpPr>
        <p:pic>
          <p:nvPicPr>
            <p:cNvPr id="45" name="Graphique 44" descr="Badge point d’interrogation avec un remplissage uni">
              <a:extLst>
                <a:ext uri="{FF2B5EF4-FFF2-40B4-BE49-F238E27FC236}">
                  <a16:creationId xmlns:a16="http://schemas.microsoft.com/office/drawing/2014/main" id="{DFB865F7-0895-2BFB-B77B-16E9A0DCDB54}"/>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1270657" y="2072289"/>
              <a:ext cx="540000" cy="540000"/>
            </a:xfrm>
            <a:prstGeom prst="rect">
              <a:avLst/>
            </a:prstGeom>
          </p:spPr>
        </p:pic>
        <p:sp>
          <p:nvSpPr>
            <p:cNvPr id="46" name="ZoneTexte 45">
              <a:extLst>
                <a:ext uri="{FF2B5EF4-FFF2-40B4-BE49-F238E27FC236}">
                  <a16:creationId xmlns:a16="http://schemas.microsoft.com/office/drawing/2014/main" id="{CF551D45-B341-EAD9-F7A0-C1B9F4164C53}"/>
                </a:ext>
              </a:extLst>
            </p:cNvPr>
            <p:cNvSpPr txBox="1"/>
            <p:nvPr/>
          </p:nvSpPr>
          <p:spPr>
            <a:xfrm>
              <a:off x="11150144" y="2603019"/>
              <a:ext cx="764501" cy="228053"/>
            </a:xfrm>
            <a:prstGeom prst="rect">
              <a:avLst/>
            </a:prstGeom>
            <a:noFill/>
          </p:spPr>
          <p:txBody>
            <a:bodyPr wrap="square">
              <a:spAutoFit/>
            </a:bodyPr>
            <a:lstStyle/>
            <a:p>
              <a:pPr algn="ctr"/>
              <a:r>
                <a:rPr lang="fr-FR" sz="900" dirty="0"/>
                <a:t>Autres</a:t>
              </a:r>
            </a:p>
          </p:txBody>
        </p:sp>
      </p:grpSp>
      <p:grpSp>
        <p:nvGrpSpPr>
          <p:cNvPr id="42" name="Groupe 41">
            <a:extLst>
              <a:ext uri="{FF2B5EF4-FFF2-40B4-BE49-F238E27FC236}">
                <a16:creationId xmlns:a16="http://schemas.microsoft.com/office/drawing/2014/main" id="{91B1713A-8BC2-BCB0-D2E1-8CFC80FF809A}"/>
              </a:ext>
            </a:extLst>
          </p:cNvPr>
          <p:cNvGrpSpPr/>
          <p:nvPr/>
        </p:nvGrpSpPr>
        <p:grpSpPr>
          <a:xfrm>
            <a:off x="9695022" y="1055567"/>
            <a:ext cx="1342840" cy="787620"/>
            <a:chOff x="9651618" y="1361747"/>
            <a:chExt cx="1326669" cy="778137"/>
          </a:xfrm>
        </p:grpSpPr>
        <p:pic>
          <p:nvPicPr>
            <p:cNvPr id="43" name="Graphique 42" descr="Signe pouce en haut avec un remplissage uni">
              <a:extLst>
                <a:ext uri="{FF2B5EF4-FFF2-40B4-BE49-F238E27FC236}">
                  <a16:creationId xmlns:a16="http://schemas.microsoft.com/office/drawing/2014/main" id="{A0C38452-3156-CF6F-FA14-5D34165FE151}"/>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10057766" y="1361747"/>
              <a:ext cx="514374" cy="514374"/>
            </a:xfrm>
            <a:prstGeom prst="rect">
              <a:avLst/>
            </a:prstGeom>
          </p:spPr>
        </p:pic>
        <p:sp>
          <p:nvSpPr>
            <p:cNvPr id="44" name="ZoneTexte 43">
              <a:extLst>
                <a:ext uri="{FF2B5EF4-FFF2-40B4-BE49-F238E27FC236}">
                  <a16:creationId xmlns:a16="http://schemas.microsoft.com/office/drawing/2014/main" id="{2AB0E275-14E8-4FA2-3558-9DE12E3B1588}"/>
                </a:ext>
              </a:extLst>
            </p:cNvPr>
            <p:cNvSpPr txBox="1"/>
            <p:nvPr/>
          </p:nvSpPr>
          <p:spPr>
            <a:xfrm>
              <a:off x="9651618" y="1911831"/>
              <a:ext cx="1326669" cy="228053"/>
            </a:xfrm>
            <a:prstGeom prst="rect">
              <a:avLst/>
            </a:prstGeom>
            <a:noFill/>
          </p:spPr>
          <p:txBody>
            <a:bodyPr wrap="square">
              <a:spAutoFit/>
            </a:bodyPr>
            <a:lstStyle/>
            <a:p>
              <a:pPr algn="ctr"/>
              <a:r>
                <a:rPr lang="fr-FR" sz="900" dirty="0"/>
                <a:t>Soutien extérieur</a:t>
              </a:r>
            </a:p>
          </p:txBody>
        </p:sp>
      </p:grpSp>
      <p:sp>
        <p:nvSpPr>
          <p:cNvPr id="88" name="Rectangle 87">
            <a:extLst>
              <a:ext uri="{FF2B5EF4-FFF2-40B4-BE49-F238E27FC236}">
                <a16:creationId xmlns:a16="http://schemas.microsoft.com/office/drawing/2014/main" id="{A2D80509-9FC3-817C-E855-F58CD8A37B23}"/>
              </a:ext>
            </a:extLst>
          </p:cNvPr>
          <p:cNvSpPr/>
          <p:nvPr/>
        </p:nvSpPr>
        <p:spPr>
          <a:xfrm>
            <a:off x="1480214" y="198928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Matériels manquants ou inadaptés pour certains besoins de la Communauté</a:t>
            </a:r>
          </a:p>
        </p:txBody>
      </p:sp>
      <p:sp>
        <p:nvSpPr>
          <p:cNvPr id="89" name="Rectangle 88">
            <a:extLst>
              <a:ext uri="{FF2B5EF4-FFF2-40B4-BE49-F238E27FC236}">
                <a16:creationId xmlns:a16="http://schemas.microsoft.com/office/drawing/2014/main" id="{13449835-5EF1-1E74-FFD5-96302107B989}"/>
              </a:ext>
            </a:extLst>
          </p:cNvPr>
          <p:cNvSpPr/>
          <p:nvPr/>
        </p:nvSpPr>
        <p:spPr>
          <a:xfrm>
            <a:off x="2696446" y="198928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Manque d’outils / outils inadaptés pour certains besoins de la Communauté</a:t>
            </a:r>
          </a:p>
        </p:txBody>
      </p:sp>
      <p:sp>
        <p:nvSpPr>
          <p:cNvPr id="90" name="Rectangle 89">
            <a:extLst>
              <a:ext uri="{FF2B5EF4-FFF2-40B4-BE49-F238E27FC236}">
                <a16:creationId xmlns:a16="http://schemas.microsoft.com/office/drawing/2014/main" id="{AD9FAE9A-3E5A-C7D4-05B5-E5FD0A807E2A}"/>
              </a:ext>
            </a:extLst>
          </p:cNvPr>
          <p:cNvSpPr/>
          <p:nvPr/>
        </p:nvSpPr>
        <p:spPr>
          <a:xfrm>
            <a:off x="7446478" y="198928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Surinformation ou désordre des informations de la Communauté rendant difficile leur valorisation</a:t>
            </a:r>
          </a:p>
        </p:txBody>
      </p:sp>
      <p:sp>
        <p:nvSpPr>
          <p:cNvPr id="91" name="Rectangle 90">
            <a:extLst>
              <a:ext uri="{FF2B5EF4-FFF2-40B4-BE49-F238E27FC236}">
                <a16:creationId xmlns:a16="http://schemas.microsoft.com/office/drawing/2014/main" id="{9A58C9A9-DF29-9DEA-8A0F-1E633F62501E}"/>
              </a:ext>
            </a:extLst>
          </p:cNvPr>
          <p:cNvSpPr/>
          <p:nvPr/>
        </p:nvSpPr>
        <p:spPr>
          <a:xfrm>
            <a:off x="6281716" y="198928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Manque chez les membres de compétences liées au but de la Communauté</a:t>
            </a:r>
          </a:p>
        </p:txBody>
      </p:sp>
      <p:sp>
        <p:nvSpPr>
          <p:cNvPr id="92" name="Rectangle 91">
            <a:extLst>
              <a:ext uri="{FF2B5EF4-FFF2-40B4-BE49-F238E27FC236}">
                <a16:creationId xmlns:a16="http://schemas.microsoft.com/office/drawing/2014/main" id="{E091568C-599D-BB58-5F5D-CC7DDC285103}"/>
              </a:ext>
            </a:extLst>
          </p:cNvPr>
          <p:cNvSpPr/>
          <p:nvPr/>
        </p:nvSpPr>
        <p:spPr>
          <a:xfrm>
            <a:off x="8625116" y="198928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Diversité trop forte voire absence de motivations ou d’objectifs communs</a:t>
            </a:r>
          </a:p>
        </p:txBody>
      </p:sp>
      <p:sp>
        <p:nvSpPr>
          <p:cNvPr id="93" name="Rectangle 92">
            <a:extLst>
              <a:ext uri="{FF2B5EF4-FFF2-40B4-BE49-F238E27FC236}">
                <a16:creationId xmlns:a16="http://schemas.microsoft.com/office/drawing/2014/main" id="{43BC3713-AF54-1A68-2604-3624829FB1B4}"/>
              </a:ext>
            </a:extLst>
          </p:cNvPr>
          <p:cNvSpPr/>
          <p:nvPr/>
        </p:nvSpPr>
        <p:spPr>
          <a:xfrm>
            <a:off x="5098568" y="198928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Absence ou faiblesse de disponibilité de la part des membres pour la Communauté</a:t>
            </a:r>
          </a:p>
        </p:txBody>
      </p:sp>
      <p:sp>
        <p:nvSpPr>
          <p:cNvPr id="94" name="Rectangle 93">
            <a:extLst>
              <a:ext uri="{FF2B5EF4-FFF2-40B4-BE49-F238E27FC236}">
                <a16:creationId xmlns:a16="http://schemas.microsoft.com/office/drawing/2014/main" id="{94F375B5-C214-2CD4-305D-A441C8095B93}"/>
              </a:ext>
            </a:extLst>
          </p:cNvPr>
          <p:cNvSpPr/>
          <p:nvPr/>
        </p:nvSpPr>
        <p:spPr>
          <a:xfrm>
            <a:off x="284238" y="198321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Locaux trop petits pour le nombre de membres sur un besoin donné</a:t>
            </a:r>
          </a:p>
        </p:txBody>
      </p:sp>
      <p:sp>
        <p:nvSpPr>
          <p:cNvPr id="95" name="Rectangle 94">
            <a:extLst>
              <a:ext uri="{FF2B5EF4-FFF2-40B4-BE49-F238E27FC236}">
                <a16:creationId xmlns:a16="http://schemas.microsoft.com/office/drawing/2014/main" id="{8E30FC1B-CDB0-9C0A-F4F9-D852E1319FD5}"/>
              </a:ext>
            </a:extLst>
          </p:cNvPr>
          <p:cNvSpPr/>
          <p:nvPr/>
        </p:nvSpPr>
        <p:spPr>
          <a:xfrm>
            <a:off x="3897507" y="198928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Absence ou faiblesse de budget extérieur alloué à la Communauté</a:t>
            </a:r>
          </a:p>
        </p:txBody>
      </p:sp>
      <p:sp>
        <p:nvSpPr>
          <p:cNvPr id="96" name="Rectangle 95">
            <a:extLst>
              <a:ext uri="{FF2B5EF4-FFF2-40B4-BE49-F238E27FC236}">
                <a16:creationId xmlns:a16="http://schemas.microsoft.com/office/drawing/2014/main" id="{A4C36D90-C3A5-9447-F7DD-CD7F6E7201E8}"/>
              </a:ext>
            </a:extLst>
          </p:cNvPr>
          <p:cNvSpPr/>
          <p:nvPr/>
        </p:nvSpPr>
        <p:spPr>
          <a:xfrm>
            <a:off x="9810267" y="198928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Faiblesse ou absence du soutien extérieur en général</a:t>
            </a:r>
          </a:p>
        </p:txBody>
      </p:sp>
      <p:sp>
        <p:nvSpPr>
          <p:cNvPr id="100" name="Rectangle 99">
            <a:extLst>
              <a:ext uri="{FF2B5EF4-FFF2-40B4-BE49-F238E27FC236}">
                <a16:creationId xmlns:a16="http://schemas.microsoft.com/office/drawing/2014/main" id="{5202E4F2-1E61-9C2E-CCA3-ADFA06FBCE96}"/>
              </a:ext>
            </a:extLst>
          </p:cNvPr>
          <p:cNvSpPr/>
          <p:nvPr/>
        </p:nvSpPr>
        <p:spPr>
          <a:xfrm>
            <a:off x="280420" y="2931716"/>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Locaux ne pouvant pas assurer certaines fonctions (ex: travail, repos, confidentialité, grandes réunions…)</a:t>
            </a:r>
          </a:p>
        </p:txBody>
      </p:sp>
      <p:sp>
        <p:nvSpPr>
          <p:cNvPr id="101" name="Rectangle 100">
            <a:extLst>
              <a:ext uri="{FF2B5EF4-FFF2-40B4-BE49-F238E27FC236}">
                <a16:creationId xmlns:a16="http://schemas.microsoft.com/office/drawing/2014/main" id="{2A5C3EF2-627E-B073-5CCA-00BF6C3A4DB5}"/>
              </a:ext>
            </a:extLst>
          </p:cNvPr>
          <p:cNvSpPr/>
          <p:nvPr/>
        </p:nvSpPr>
        <p:spPr>
          <a:xfrm>
            <a:off x="280420" y="388022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Locaux avec effets de bords (coût, nuisance, …) dommageables pour l’activité de la Communauté</a:t>
            </a:r>
          </a:p>
        </p:txBody>
      </p:sp>
      <p:sp>
        <p:nvSpPr>
          <p:cNvPr id="102" name="Rectangle 101">
            <a:extLst>
              <a:ext uri="{FF2B5EF4-FFF2-40B4-BE49-F238E27FC236}">
                <a16:creationId xmlns:a16="http://schemas.microsoft.com/office/drawing/2014/main" id="{54F34621-2BB2-812B-0314-9FAC760F3E8C}"/>
              </a:ext>
            </a:extLst>
          </p:cNvPr>
          <p:cNvSpPr/>
          <p:nvPr/>
        </p:nvSpPr>
        <p:spPr>
          <a:xfrm>
            <a:off x="280420" y="4828726"/>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Contraintes logistiques liées au locaux (disponibilité, distance…) impactant l’activité </a:t>
            </a:r>
          </a:p>
        </p:txBody>
      </p:sp>
      <p:sp>
        <p:nvSpPr>
          <p:cNvPr id="103" name="Rectangle 102">
            <a:extLst>
              <a:ext uri="{FF2B5EF4-FFF2-40B4-BE49-F238E27FC236}">
                <a16:creationId xmlns:a16="http://schemas.microsoft.com/office/drawing/2014/main" id="{57E791BE-7413-D64A-A9EB-4D79979AD2D5}"/>
              </a:ext>
            </a:extLst>
          </p:cNvPr>
          <p:cNvSpPr/>
          <p:nvPr/>
        </p:nvSpPr>
        <p:spPr>
          <a:xfrm>
            <a:off x="2696446" y="2931716"/>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Difficultés sur les accès des membres (sécurité, comptes, etc.) aux outils existants </a:t>
            </a:r>
          </a:p>
        </p:txBody>
      </p:sp>
      <p:sp>
        <p:nvSpPr>
          <p:cNvPr id="104" name="Rectangle 103">
            <a:extLst>
              <a:ext uri="{FF2B5EF4-FFF2-40B4-BE49-F238E27FC236}">
                <a16:creationId xmlns:a16="http://schemas.microsoft.com/office/drawing/2014/main" id="{0216947D-6EAD-81E5-7753-A9B2B2EDB2B1}"/>
              </a:ext>
            </a:extLst>
          </p:cNvPr>
          <p:cNvSpPr/>
          <p:nvPr/>
        </p:nvSpPr>
        <p:spPr>
          <a:xfrm>
            <a:off x="2692296" y="388022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Maîtrise trop variable des outils par les membres, pouvant impacter l’activité de la Communauté</a:t>
            </a:r>
          </a:p>
        </p:txBody>
      </p:sp>
      <p:sp>
        <p:nvSpPr>
          <p:cNvPr id="106" name="Rectangle 105">
            <a:extLst>
              <a:ext uri="{FF2B5EF4-FFF2-40B4-BE49-F238E27FC236}">
                <a16:creationId xmlns:a16="http://schemas.microsoft.com/office/drawing/2014/main" id="{DD867409-D32D-651A-DF63-43DAAE2D1948}"/>
              </a:ext>
            </a:extLst>
          </p:cNvPr>
          <p:cNvSpPr/>
          <p:nvPr/>
        </p:nvSpPr>
        <p:spPr>
          <a:xfrm>
            <a:off x="1480214" y="293518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Contraintes logistiques liées au matériel (disponibilité, distance…) impactant l’activité </a:t>
            </a:r>
          </a:p>
        </p:txBody>
      </p:sp>
      <p:sp>
        <p:nvSpPr>
          <p:cNvPr id="107" name="Rectangle 106">
            <a:extLst>
              <a:ext uri="{FF2B5EF4-FFF2-40B4-BE49-F238E27FC236}">
                <a16:creationId xmlns:a16="http://schemas.microsoft.com/office/drawing/2014/main" id="{D3564CF9-1781-083F-24C3-275D01E5CA4F}"/>
              </a:ext>
            </a:extLst>
          </p:cNvPr>
          <p:cNvSpPr/>
          <p:nvPr/>
        </p:nvSpPr>
        <p:spPr>
          <a:xfrm>
            <a:off x="7436236" y="2926422"/>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Faiblesse ou manque connu d’informations clé  (manque de réseau, d’expériences, …)</a:t>
            </a:r>
          </a:p>
        </p:txBody>
      </p:sp>
      <p:sp>
        <p:nvSpPr>
          <p:cNvPr id="108" name="Rectangle 107">
            <a:extLst>
              <a:ext uri="{FF2B5EF4-FFF2-40B4-BE49-F238E27FC236}">
                <a16:creationId xmlns:a16="http://schemas.microsoft.com/office/drawing/2014/main" id="{7D2F5D4D-4461-1CE1-6E16-641BF2E3629E}"/>
              </a:ext>
            </a:extLst>
          </p:cNvPr>
          <p:cNvSpPr/>
          <p:nvPr/>
        </p:nvSpPr>
        <p:spPr>
          <a:xfrm>
            <a:off x="6271474" y="2926422"/>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Manque chez les membres de compétences liées à la gestion intérieure de la Communauté</a:t>
            </a:r>
          </a:p>
        </p:txBody>
      </p:sp>
      <p:sp>
        <p:nvSpPr>
          <p:cNvPr id="109" name="Rectangle 108">
            <a:extLst>
              <a:ext uri="{FF2B5EF4-FFF2-40B4-BE49-F238E27FC236}">
                <a16:creationId xmlns:a16="http://schemas.microsoft.com/office/drawing/2014/main" id="{000815A3-69E5-BD14-D923-658BDE628F4C}"/>
              </a:ext>
            </a:extLst>
          </p:cNvPr>
          <p:cNvSpPr/>
          <p:nvPr/>
        </p:nvSpPr>
        <p:spPr>
          <a:xfrm>
            <a:off x="8635263" y="3880220"/>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Parmi les membres, motivations et objectifs plus divergents que convergents. Sous-groupes opposés.</a:t>
            </a:r>
          </a:p>
        </p:txBody>
      </p:sp>
      <p:sp>
        <p:nvSpPr>
          <p:cNvPr id="110" name="Rectangle 109">
            <a:extLst>
              <a:ext uri="{FF2B5EF4-FFF2-40B4-BE49-F238E27FC236}">
                <a16:creationId xmlns:a16="http://schemas.microsoft.com/office/drawing/2014/main" id="{69005543-CCB1-5971-9D91-011AF0D44154}"/>
              </a:ext>
            </a:extLst>
          </p:cNvPr>
          <p:cNvSpPr/>
          <p:nvPr/>
        </p:nvSpPr>
        <p:spPr>
          <a:xfrm>
            <a:off x="5088326" y="2926422"/>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Dispersion géographique des membres / Manque de disponibilité commune</a:t>
            </a:r>
          </a:p>
        </p:txBody>
      </p:sp>
      <p:sp>
        <p:nvSpPr>
          <p:cNvPr id="111" name="Rectangle 110">
            <a:extLst>
              <a:ext uri="{FF2B5EF4-FFF2-40B4-BE49-F238E27FC236}">
                <a16:creationId xmlns:a16="http://schemas.microsoft.com/office/drawing/2014/main" id="{16042951-4818-B0A0-FB65-693A74AE8F1F}"/>
              </a:ext>
            </a:extLst>
          </p:cNvPr>
          <p:cNvSpPr/>
          <p:nvPr/>
        </p:nvSpPr>
        <p:spPr>
          <a:xfrm>
            <a:off x="3887265" y="2926422"/>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 administrative sur la gestion ou l’utilisation du budget</a:t>
            </a:r>
          </a:p>
        </p:txBody>
      </p:sp>
      <p:sp>
        <p:nvSpPr>
          <p:cNvPr id="112" name="Rectangle 111">
            <a:extLst>
              <a:ext uri="{FF2B5EF4-FFF2-40B4-BE49-F238E27FC236}">
                <a16:creationId xmlns:a16="http://schemas.microsoft.com/office/drawing/2014/main" id="{38991C54-0DE4-9E4E-6B00-7EA9A954B8BD}"/>
              </a:ext>
            </a:extLst>
          </p:cNvPr>
          <p:cNvSpPr/>
          <p:nvPr/>
        </p:nvSpPr>
        <p:spPr>
          <a:xfrm>
            <a:off x="9800025" y="2926422"/>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Faiblesse ou absence du soutien extérieur d’une partie prenante en particulier</a:t>
            </a:r>
          </a:p>
        </p:txBody>
      </p:sp>
      <p:sp>
        <p:nvSpPr>
          <p:cNvPr id="113" name="Rectangle 112">
            <a:extLst>
              <a:ext uri="{FF2B5EF4-FFF2-40B4-BE49-F238E27FC236}">
                <a16:creationId xmlns:a16="http://schemas.microsoft.com/office/drawing/2014/main" id="{93386CD6-6A92-6C51-A308-37F34A411767}"/>
              </a:ext>
            </a:extLst>
          </p:cNvPr>
          <p:cNvSpPr/>
          <p:nvPr/>
        </p:nvSpPr>
        <p:spPr>
          <a:xfrm>
            <a:off x="7436236" y="388022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Difficultés ou absence de mise en commun d’informations clé pourtant détenues</a:t>
            </a:r>
          </a:p>
        </p:txBody>
      </p:sp>
      <p:sp>
        <p:nvSpPr>
          <p:cNvPr id="114" name="Rectangle 113">
            <a:extLst>
              <a:ext uri="{FF2B5EF4-FFF2-40B4-BE49-F238E27FC236}">
                <a16:creationId xmlns:a16="http://schemas.microsoft.com/office/drawing/2014/main" id="{C28CD353-7E2D-0FD9-0136-ADB9C9F8E138}"/>
              </a:ext>
            </a:extLst>
          </p:cNvPr>
          <p:cNvSpPr/>
          <p:nvPr/>
        </p:nvSpPr>
        <p:spPr>
          <a:xfrm>
            <a:off x="6271474" y="388022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Manque chez les membres de compétences liées à la gestion extérieure de la Communauté</a:t>
            </a:r>
          </a:p>
        </p:txBody>
      </p:sp>
      <p:sp>
        <p:nvSpPr>
          <p:cNvPr id="115" name="Rectangle 114">
            <a:extLst>
              <a:ext uri="{FF2B5EF4-FFF2-40B4-BE49-F238E27FC236}">
                <a16:creationId xmlns:a16="http://schemas.microsoft.com/office/drawing/2014/main" id="{649D6BD2-F85F-EB9B-B97B-C630E41826D8}"/>
              </a:ext>
            </a:extLst>
          </p:cNvPr>
          <p:cNvSpPr/>
          <p:nvPr/>
        </p:nvSpPr>
        <p:spPr>
          <a:xfrm>
            <a:off x="8635263" y="4834019"/>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Habitudes en place trop fortes pour commencer des changements, malgré les objectifs</a:t>
            </a:r>
          </a:p>
        </p:txBody>
      </p:sp>
      <p:sp>
        <p:nvSpPr>
          <p:cNvPr id="116" name="Rectangle 115">
            <a:extLst>
              <a:ext uri="{FF2B5EF4-FFF2-40B4-BE49-F238E27FC236}">
                <a16:creationId xmlns:a16="http://schemas.microsoft.com/office/drawing/2014/main" id="{CDE45985-F2F4-C052-3F9A-46C70543CF45}"/>
              </a:ext>
            </a:extLst>
          </p:cNvPr>
          <p:cNvSpPr/>
          <p:nvPr/>
        </p:nvSpPr>
        <p:spPr>
          <a:xfrm>
            <a:off x="5088326" y="388022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Absence de membres avec disponibilité nécessaire à la gestion de la Communauté</a:t>
            </a:r>
          </a:p>
        </p:txBody>
      </p:sp>
      <p:sp>
        <p:nvSpPr>
          <p:cNvPr id="117" name="Rectangle 116">
            <a:extLst>
              <a:ext uri="{FF2B5EF4-FFF2-40B4-BE49-F238E27FC236}">
                <a16:creationId xmlns:a16="http://schemas.microsoft.com/office/drawing/2014/main" id="{BE56E6B4-E4D1-114D-DD4D-2417E87C8753}"/>
              </a:ext>
            </a:extLst>
          </p:cNvPr>
          <p:cNvSpPr/>
          <p:nvPr/>
        </p:nvSpPr>
        <p:spPr>
          <a:xfrm>
            <a:off x="3887265" y="388022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Absence ou faiblesse du budget venant de membres</a:t>
            </a:r>
          </a:p>
        </p:txBody>
      </p:sp>
      <p:sp>
        <p:nvSpPr>
          <p:cNvPr id="118" name="Rectangle 117">
            <a:extLst>
              <a:ext uri="{FF2B5EF4-FFF2-40B4-BE49-F238E27FC236}">
                <a16:creationId xmlns:a16="http://schemas.microsoft.com/office/drawing/2014/main" id="{762F8B1E-32BC-8BD2-8548-1D17CBDE0534}"/>
              </a:ext>
            </a:extLst>
          </p:cNvPr>
          <p:cNvSpPr/>
          <p:nvPr/>
        </p:nvSpPr>
        <p:spPr>
          <a:xfrm>
            <a:off x="9800025" y="388022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Difficultés à assurer les contreparties nécessaires à maintenir ou développer un soutien</a:t>
            </a:r>
          </a:p>
        </p:txBody>
      </p:sp>
      <p:sp>
        <p:nvSpPr>
          <p:cNvPr id="119" name="Rectangle 118">
            <a:extLst>
              <a:ext uri="{FF2B5EF4-FFF2-40B4-BE49-F238E27FC236}">
                <a16:creationId xmlns:a16="http://schemas.microsoft.com/office/drawing/2014/main" id="{65A47988-09C5-041C-F8D0-2622EA5B8D6E}"/>
              </a:ext>
            </a:extLst>
          </p:cNvPr>
          <p:cNvSpPr/>
          <p:nvPr/>
        </p:nvSpPr>
        <p:spPr>
          <a:xfrm>
            <a:off x="7436236" y="4828726"/>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Pas assez de différences réelles ou exprimées dans la Communauté par rapport à un besoin de diversité</a:t>
            </a:r>
          </a:p>
        </p:txBody>
      </p:sp>
      <p:sp>
        <p:nvSpPr>
          <p:cNvPr id="120" name="Rectangle 119">
            <a:extLst>
              <a:ext uri="{FF2B5EF4-FFF2-40B4-BE49-F238E27FC236}">
                <a16:creationId xmlns:a16="http://schemas.microsoft.com/office/drawing/2014/main" id="{F462E7C4-F01F-125D-1A2D-A980872CE9A1}"/>
              </a:ext>
            </a:extLst>
          </p:cNvPr>
          <p:cNvSpPr/>
          <p:nvPr/>
        </p:nvSpPr>
        <p:spPr>
          <a:xfrm>
            <a:off x="6271474" y="4828726"/>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Peu ou pas d’accès à des compétences extérieures pouvant servir la Communauté</a:t>
            </a:r>
          </a:p>
        </p:txBody>
      </p:sp>
      <p:sp>
        <p:nvSpPr>
          <p:cNvPr id="121" name="Rectangle 120">
            <a:extLst>
              <a:ext uri="{FF2B5EF4-FFF2-40B4-BE49-F238E27FC236}">
                <a16:creationId xmlns:a16="http://schemas.microsoft.com/office/drawing/2014/main" id="{75199E76-CB4A-440A-5DCA-83CE85071B67}"/>
              </a:ext>
            </a:extLst>
          </p:cNvPr>
          <p:cNvSpPr/>
          <p:nvPr/>
        </p:nvSpPr>
        <p:spPr>
          <a:xfrm>
            <a:off x="8635263" y="5782524"/>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Motivations déclaratives en session trop différentes des motivations réelles au quotidien</a:t>
            </a:r>
          </a:p>
        </p:txBody>
      </p:sp>
      <p:sp>
        <p:nvSpPr>
          <p:cNvPr id="122" name="Rectangle 121">
            <a:extLst>
              <a:ext uri="{FF2B5EF4-FFF2-40B4-BE49-F238E27FC236}">
                <a16:creationId xmlns:a16="http://schemas.microsoft.com/office/drawing/2014/main" id="{965E4709-FD46-F0CC-E92C-FF14AA876071}"/>
              </a:ext>
            </a:extLst>
          </p:cNvPr>
          <p:cNvSpPr/>
          <p:nvPr/>
        </p:nvSpPr>
        <p:spPr>
          <a:xfrm>
            <a:off x="5088326" y="4828726"/>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Fatigue et/ou décroissance des membres nécessaires à la gestion de la Communauté</a:t>
            </a:r>
          </a:p>
        </p:txBody>
      </p:sp>
      <p:sp>
        <p:nvSpPr>
          <p:cNvPr id="123" name="Rectangle 122">
            <a:extLst>
              <a:ext uri="{FF2B5EF4-FFF2-40B4-BE49-F238E27FC236}">
                <a16:creationId xmlns:a16="http://schemas.microsoft.com/office/drawing/2014/main" id="{CAAC987F-BC95-0FE6-C506-2A19EA6E07DD}"/>
              </a:ext>
            </a:extLst>
          </p:cNvPr>
          <p:cNvSpPr/>
          <p:nvPr/>
        </p:nvSpPr>
        <p:spPr>
          <a:xfrm>
            <a:off x="3887265" y="4828726"/>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Manque de trésorerie de la Communauté</a:t>
            </a:r>
          </a:p>
        </p:txBody>
      </p:sp>
      <p:sp>
        <p:nvSpPr>
          <p:cNvPr id="124" name="Rectangle 123">
            <a:extLst>
              <a:ext uri="{FF2B5EF4-FFF2-40B4-BE49-F238E27FC236}">
                <a16:creationId xmlns:a16="http://schemas.microsoft.com/office/drawing/2014/main" id="{BEE0928F-33E1-14B3-65E5-40DB74DE43DA}"/>
              </a:ext>
            </a:extLst>
          </p:cNvPr>
          <p:cNvSpPr/>
          <p:nvPr/>
        </p:nvSpPr>
        <p:spPr>
          <a:xfrm>
            <a:off x="9800025" y="4828726"/>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Opposition extérieure à la Communauté, à une partie ou l’intégralité de ses activités</a:t>
            </a:r>
          </a:p>
        </p:txBody>
      </p:sp>
      <p:sp>
        <p:nvSpPr>
          <p:cNvPr id="125" name="Rectangle 124">
            <a:extLst>
              <a:ext uri="{FF2B5EF4-FFF2-40B4-BE49-F238E27FC236}">
                <a16:creationId xmlns:a16="http://schemas.microsoft.com/office/drawing/2014/main" id="{641FA359-9E34-78A5-D6D7-C26CFDE48986}"/>
              </a:ext>
            </a:extLst>
          </p:cNvPr>
          <p:cNvSpPr/>
          <p:nvPr/>
        </p:nvSpPr>
        <p:spPr>
          <a:xfrm>
            <a:off x="7436236" y="577723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Pas de génération d’informations clés</a:t>
            </a:r>
          </a:p>
        </p:txBody>
      </p:sp>
      <p:sp>
        <p:nvSpPr>
          <p:cNvPr id="126" name="Rectangle 125">
            <a:extLst>
              <a:ext uri="{FF2B5EF4-FFF2-40B4-BE49-F238E27FC236}">
                <a16:creationId xmlns:a16="http://schemas.microsoft.com/office/drawing/2014/main" id="{23030D44-743F-1476-5FE6-29947B3ED3D1}"/>
              </a:ext>
            </a:extLst>
          </p:cNvPr>
          <p:cNvSpPr/>
          <p:nvPr/>
        </p:nvSpPr>
        <p:spPr>
          <a:xfrm>
            <a:off x="3887265" y="5777230"/>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Insuffisance ou Incapacité de génération des revenus</a:t>
            </a:r>
          </a:p>
        </p:txBody>
      </p:sp>
      <p:sp>
        <p:nvSpPr>
          <p:cNvPr id="127" name="Rectangle 126">
            <a:extLst>
              <a:ext uri="{FF2B5EF4-FFF2-40B4-BE49-F238E27FC236}">
                <a16:creationId xmlns:a16="http://schemas.microsoft.com/office/drawing/2014/main" id="{4B2EC5C7-8F6E-5806-AC7B-EA7EC705D53B}"/>
              </a:ext>
            </a:extLst>
          </p:cNvPr>
          <p:cNvSpPr/>
          <p:nvPr/>
        </p:nvSpPr>
        <p:spPr>
          <a:xfrm>
            <a:off x="5088326" y="5780947"/>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Attention de la Communauté trop diluée (dispersion, occupations, …) pour maintenir un effort concentré</a:t>
            </a:r>
          </a:p>
        </p:txBody>
      </p:sp>
      <p:sp>
        <p:nvSpPr>
          <p:cNvPr id="128" name="Rectangle 127">
            <a:extLst>
              <a:ext uri="{FF2B5EF4-FFF2-40B4-BE49-F238E27FC236}">
                <a16:creationId xmlns:a16="http://schemas.microsoft.com/office/drawing/2014/main" id="{3444C860-B323-90AB-A676-202CE90FE5A1}"/>
              </a:ext>
            </a:extLst>
          </p:cNvPr>
          <p:cNvSpPr/>
          <p:nvPr/>
        </p:nvSpPr>
        <p:spPr>
          <a:xfrm>
            <a:off x="1469617" y="3880220"/>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Effets dommageables de la Communauté sur le matériel</a:t>
            </a:r>
          </a:p>
        </p:txBody>
      </p:sp>
      <p:sp>
        <p:nvSpPr>
          <p:cNvPr id="129" name="Rectangle 128">
            <a:extLst>
              <a:ext uri="{FF2B5EF4-FFF2-40B4-BE49-F238E27FC236}">
                <a16:creationId xmlns:a16="http://schemas.microsoft.com/office/drawing/2014/main" id="{C44701A2-27B8-D3BF-4066-7B8F3E20CB83}"/>
              </a:ext>
            </a:extLst>
          </p:cNvPr>
          <p:cNvSpPr/>
          <p:nvPr/>
        </p:nvSpPr>
        <p:spPr>
          <a:xfrm>
            <a:off x="280420" y="5765232"/>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Effets dommageables de la Communauté sur les espaces et lieux</a:t>
            </a:r>
          </a:p>
        </p:txBody>
      </p:sp>
      <p:sp>
        <p:nvSpPr>
          <p:cNvPr id="72" name="Rectangle 71">
            <a:extLst>
              <a:ext uri="{FF2B5EF4-FFF2-40B4-BE49-F238E27FC236}">
                <a16:creationId xmlns:a16="http://schemas.microsoft.com/office/drawing/2014/main" id="{53C78BCB-4C41-9065-5B75-54E3E1E098D8}"/>
              </a:ext>
            </a:extLst>
          </p:cNvPr>
          <p:cNvSpPr/>
          <p:nvPr/>
        </p:nvSpPr>
        <p:spPr>
          <a:xfrm>
            <a:off x="8625116" y="2926421"/>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 à trouver une cause ou une formulation commune et simple aux motivations</a:t>
            </a:r>
          </a:p>
        </p:txBody>
      </p:sp>
    </p:spTree>
    <p:extLst>
      <p:ext uri="{BB962C8B-B14F-4D97-AF65-F5344CB8AC3E}">
        <p14:creationId xmlns:p14="http://schemas.microsoft.com/office/powerpoint/2010/main" val="141815784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D86BB56-A91F-1A5C-2F75-C45E3C94FB56}"/>
              </a:ext>
            </a:extLst>
          </p:cNvPr>
          <p:cNvSpPr>
            <a:spLocks noGrp="1"/>
          </p:cNvSpPr>
          <p:nvPr>
            <p:ph type="title"/>
          </p:nvPr>
        </p:nvSpPr>
        <p:spPr>
          <a:xfrm>
            <a:off x="870011" y="253866"/>
            <a:ext cx="10193553" cy="616431"/>
          </a:xfrm>
        </p:spPr>
        <p:txBody>
          <a:bodyPr>
            <a:noAutofit/>
          </a:bodyPr>
          <a:lstStyle/>
          <a:p>
            <a:r>
              <a:rPr lang="fr-FR" sz="2400" dirty="0"/>
              <a:t>Les réponses aux blocages liés aux ressources – Liste d’exemples d’actions</a:t>
            </a:r>
            <a:br>
              <a:rPr lang="fr-FR" sz="1600" dirty="0"/>
            </a:br>
            <a:r>
              <a:rPr lang="fr-FR" sz="1050" dirty="0"/>
              <a:t>📅Evènements  , ✍️Contenus, ⚙️Structuration de Communauté</a:t>
            </a:r>
            <a:br>
              <a:rPr lang="fr-FR" sz="1050" dirty="0"/>
            </a:br>
            <a:r>
              <a:rPr lang="fr-FR" sz="1050" dirty="0"/>
              <a:t>📅+⚙️Structuration de moments, ✍️+⚙️ Structuration de Contenus</a:t>
            </a:r>
            <a:endParaRPr lang="fr-FR" sz="1600" dirty="0"/>
          </a:p>
        </p:txBody>
      </p:sp>
      <p:grpSp>
        <p:nvGrpSpPr>
          <p:cNvPr id="102" name="Groupe 101">
            <a:extLst>
              <a:ext uri="{FF2B5EF4-FFF2-40B4-BE49-F238E27FC236}">
                <a16:creationId xmlns:a16="http://schemas.microsoft.com/office/drawing/2014/main" id="{7E61783F-A2C0-38BC-ACE3-48C13BEB7F85}"/>
              </a:ext>
            </a:extLst>
          </p:cNvPr>
          <p:cNvGrpSpPr/>
          <p:nvPr/>
        </p:nvGrpSpPr>
        <p:grpSpPr>
          <a:xfrm>
            <a:off x="52579" y="859015"/>
            <a:ext cx="11744852" cy="850503"/>
            <a:chOff x="363244" y="1304631"/>
            <a:chExt cx="11603415" cy="840262"/>
          </a:xfrm>
        </p:grpSpPr>
        <p:grpSp>
          <p:nvGrpSpPr>
            <p:cNvPr id="108" name="Groupe 107">
              <a:extLst>
                <a:ext uri="{FF2B5EF4-FFF2-40B4-BE49-F238E27FC236}">
                  <a16:creationId xmlns:a16="http://schemas.microsoft.com/office/drawing/2014/main" id="{B054E7D6-6A55-3D01-BCC3-D9D2A946D9D0}"/>
                </a:ext>
              </a:extLst>
            </p:cNvPr>
            <p:cNvGrpSpPr/>
            <p:nvPr/>
          </p:nvGrpSpPr>
          <p:grpSpPr>
            <a:xfrm>
              <a:off x="2776447" y="1327063"/>
              <a:ext cx="1274604" cy="803509"/>
              <a:chOff x="6804504" y="2072289"/>
              <a:chExt cx="1274604" cy="803509"/>
            </a:xfrm>
          </p:grpSpPr>
          <p:sp>
            <p:nvSpPr>
              <p:cNvPr id="136" name="ZoneTexte 135">
                <a:extLst>
                  <a:ext uri="{FF2B5EF4-FFF2-40B4-BE49-F238E27FC236}">
                    <a16:creationId xmlns:a16="http://schemas.microsoft.com/office/drawing/2014/main" id="{A9C79D68-C32D-F6E2-1A07-C9A194197F34}"/>
                  </a:ext>
                </a:extLst>
              </p:cNvPr>
              <p:cNvSpPr txBox="1"/>
              <p:nvPr/>
            </p:nvSpPr>
            <p:spPr>
              <a:xfrm>
                <a:off x="6804504" y="2603019"/>
                <a:ext cx="1274604" cy="272779"/>
              </a:xfrm>
              <a:prstGeom prst="rect">
                <a:avLst/>
              </a:prstGeom>
              <a:noFill/>
            </p:spPr>
            <p:txBody>
              <a:bodyPr wrap="square">
                <a:spAutoFit/>
              </a:bodyPr>
              <a:lstStyle/>
              <a:p>
                <a:pPr algn="ctr"/>
                <a:r>
                  <a:rPr lang="fr-FR" sz="900" dirty="0"/>
                  <a:t>Outils</a:t>
                </a:r>
              </a:p>
            </p:txBody>
          </p:sp>
          <p:pic>
            <p:nvPicPr>
              <p:cNvPr id="137" name="Graphique 136" descr="Chat avec un remplissage uni">
                <a:extLst>
                  <a:ext uri="{FF2B5EF4-FFF2-40B4-BE49-F238E27FC236}">
                    <a16:creationId xmlns:a16="http://schemas.microsoft.com/office/drawing/2014/main" id="{D304BD92-C5A5-F070-C8C8-413E2CE610D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213206" y="2072289"/>
                <a:ext cx="457200" cy="457200"/>
              </a:xfrm>
              <a:prstGeom prst="rect">
                <a:avLst/>
              </a:prstGeom>
            </p:spPr>
          </p:pic>
        </p:grpSp>
        <p:grpSp>
          <p:nvGrpSpPr>
            <p:cNvPr id="109" name="Groupe 108">
              <a:extLst>
                <a:ext uri="{FF2B5EF4-FFF2-40B4-BE49-F238E27FC236}">
                  <a16:creationId xmlns:a16="http://schemas.microsoft.com/office/drawing/2014/main" id="{39986ABD-5802-E666-234A-A3178A4791D3}"/>
                </a:ext>
              </a:extLst>
            </p:cNvPr>
            <p:cNvGrpSpPr/>
            <p:nvPr/>
          </p:nvGrpSpPr>
          <p:grpSpPr>
            <a:xfrm>
              <a:off x="5213379" y="1327063"/>
              <a:ext cx="1032426" cy="803509"/>
              <a:chOff x="5551821" y="2072289"/>
              <a:chExt cx="1032426" cy="803509"/>
            </a:xfrm>
          </p:grpSpPr>
          <p:sp>
            <p:nvSpPr>
              <p:cNvPr id="134" name="ZoneTexte 133">
                <a:extLst>
                  <a:ext uri="{FF2B5EF4-FFF2-40B4-BE49-F238E27FC236}">
                    <a16:creationId xmlns:a16="http://schemas.microsoft.com/office/drawing/2014/main" id="{3A1E5782-6A7C-2CB4-ECED-F66E3168ACF1}"/>
                  </a:ext>
                </a:extLst>
              </p:cNvPr>
              <p:cNvSpPr txBox="1"/>
              <p:nvPr/>
            </p:nvSpPr>
            <p:spPr>
              <a:xfrm>
                <a:off x="5551821" y="2603019"/>
                <a:ext cx="1032426" cy="272779"/>
              </a:xfrm>
              <a:prstGeom prst="rect">
                <a:avLst/>
              </a:prstGeom>
              <a:noFill/>
            </p:spPr>
            <p:txBody>
              <a:bodyPr wrap="square">
                <a:spAutoFit/>
              </a:bodyPr>
              <a:lstStyle/>
              <a:p>
                <a:pPr algn="ctr"/>
                <a:r>
                  <a:rPr lang="fr-FR" sz="900" dirty="0"/>
                  <a:t>Disponibilité</a:t>
                </a:r>
              </a:p>
            </p:txBody>
          </p:sp>
          <p:pic>
            <p:nvPicPr>
              <p:cNvPr id="135" name="Graphique 134" descr="Sablier 60% avec un remplissage uni">
                <a:extLst>
                  <a:ext uri="{FF2B5EF4-FFF2-40B4-BE49-F238E27FC236}">
                    <a16:creationId xmlns:a16="http://schemas.microsoft.com/office/drawing/2014/main" id="{E7A2ED9F-911D-B66C-F034-859BA7DDD2D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47251" y="2072289"/>
                <a:ext cx="457200" cy="457200"/>
              </a:xfrm>
              <a:prstGeom prst="rect">
                <a:avLst/>
              </a:prstGeom>
            </p:spPr>
          </p:pic>
        </p:grpSp>
        <p:grpSp>
          <p:nvGrpSpPr>
            <p:cNvPr id="110" name="Groupe 109">
              <a:extLst>
                <a:ext uri="{FF2B5EF4-FFF2-40B4-BE49-F238E27FC236}">
                  <a16:creationId xmlns:a16="http://schemas.microsoft.com/office/drawing/2014/main" id="{1B95BEF2-3B5A-9EF5-EAE3-94598D2DAE7E}"/>
                </a:ext>
              </a:extLst>
            </p:cNvPr>
            <p:cNvGrpSpPr/>
            <p:nvPr/>
          </p:nvGrpSpPr>
          <p:grpSpPr>
            <a:xfrm>
              <a:off x="8728205" y="1319376"/>
              <a:ext cx="1032426" cy="803509"/>
              <a:chOff x="4204166" y="2072289"/>
              <a:chExt cx="1032426" cy="803509"/>
            </a:xfrm>
          </p:grpSpPr>
          <p:sp>
            <p:nvSpPr>
              <p:cNvPr id="132" name="ZoneTexte 131">
                <a:extLst>
                  <a:ext uri="{FF2B5EF4-FFF2-40B4-BE49-F238E27FC236}">
                    <a16:creationId xmlns:a16="http://schemas.microsoft.com/office/drawing/2014/main" id="{C94DC4C5-043B-5AC9-5443-05D93FDD0415}"/>
                  </a:ext>
                </a:extLst>
              </p:cNvPr>
              <p:cNvSpPr txBox="1"/>
              <p:nvPr/>
            </p:nvSpPr>
            <p:spPr>
              <a:xfrm>
                <a:off x="4204166" y="2603019"/>
                <a:ext cx="1032426" cy="272779"/>
              </a:xfrm>
              <a:prstGeom prst="rect">
                <a:avLst/>
              </a:prstGeom>
              <a:noFill/>
            </p:spPr>
            <p:txBody>
              <a:bodyPr wrap="square">
                <a:spAutoFit/>
              </a:bodyPr>
              <a:lstStyle/>
              <a:p>
                <a:pPr algn="ctr"/>
                <a:r>
                  <a:rPr lang="fr-FR" sz="900" dirty="0"/>
                  <a:t>Motivations</a:t>
                </a:r>
              </a:p>
            </p:txBody>
          </p:sp>
          <p:pic>
            <p:nvPicPr>
              <p:cNvPr id="133" name="Graphique 132" descr="Flèches de chevron avec un remplissage uni">
                <a:extLst>
                  <a:ext uri="{FF2B5EF4-FFF2-40B4-BE49-F238E27FC236}">
                    <a16:creationId xmlns:a16="http://schemas.microsoft.com/office/drawing/2014/main" id="{8EEDF308-BB98-208C-9542-6E3235E9585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491779" y="2072289"/>
                <a:ext cx="457200" cy="457200"/>
              </a:xfrm>
              <a:prstGeom prst="rect">
                <a:avLst/>
              </a:prstGeom>
            </p:spPr>
          </p:pic>
        </p:grpSp>
        <p:grpSp>
          <p:nvGrpSpPr>
            <p:cNvPr id="111" name="Groupe 110">
              <a:extLst>
                <a:ext uri="{FF2B5EF4-FFF2-40B4-BE49-F238E27FC236}">
                  <a16:creationId xmlns:a16="http://schemas.microsoft.com/office/drawing/2014/main" id="{27A59E7E-8627-68A8-0C1E-186699F15EAA}"/>
                </a:ext>
              </a:extLst>
            </p:cNvPr>
            <p:cNvGrpSpPr/>
            <p:nvPr/>
          </p:nvGrpSpPr>
          <p:grpSpPr>
            <a:xfrm>
              <a:off x="6379681" y="1319376"/>
              <a:ext cx="1032426" cy="803509"/>
              <a:chOff x="2428298" y="2091339"/>
              <a:chExt cx="1032426" cy="803509"/>
            </a:xfrm>
          </p:grpSpPr>
          <p:sp>
            <p:nvSpPr>
              <p:cNvPr id="130" name="ZoneTexte 129">
                <a:extLst>
                  <a:ext uri="{FF2B5EF4-FFF2-40B4-BE49-F238E27FC236}">
                    <a16:creationId xmlns:a16="http://schemas.microsoft.com/office/drawing/2014/main" id="{22AABAC4-1B78-FDF5-C1E3-277A4B2EB1AD}"/>
                  </a:ext>
                </a:extLst>
              </p:cNvPr>
              <p:cNvSpPr txBox="1"/>
              <p:nvPr/>
            </p:nvSpPr>
            <p:spPr>
              <a:xfrm>
                <a:off x="2428298" y="2622069"/>
                <a:ext cx="1032426" cy="272779"/>
              </a:xfrm>
              <a:prstGeom prst="rect">
                <a:avLst/>
              </a:prstGeom>
              <a:noFill/>
            </p:spPr>
            <p:txBody>
              <a:bodyPr wrap="square">
                <a:spAutoFit/>
              </a:bodyPr>
              <a:lstStyle/>
              <a:p>
                <a:pPr algn="ctr"/>
                <a:r>
                  <a:rPr lang="fr-FR" sz="900" dirty="0"/>
                  <a:t>Compétences</a:t>
                </a:r>
              </a:p>
            </p:txBody>
          </p:sp>
          <p:pic>
            <p:nvPicPr>
              <p:cNvPr id="131" name="Graphique 130" descr="Tête avec engrenages avec un remplissage uni">
                <a:extLst>
                  <a:ext uri="{FF2B5EF4-FFF2-40B4-BE49-F238E27FC236}">
                    <a16:creationId xmlns:a16="http://schemas.microsoft.com/office/drawing/2014/main" id="{FE57CF00-1EE6-75BC-6FF5-16D87D27454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732130" y="2091339"/>
                <a:ext cx="457200" cy="457200"/>
              </a:xfrm>
              <a:prstGeom prst="rect">
                <a:avLst/>
              </a:prstGeom>
            </p:spPr>
          </p:pic>
        </p:grpSp>
        <p:grpSp>
          <p:nvGrpSpPr>
            <p:cNvPr id="112" name="Groupe 111">
              <a:extLst>
                <a:ext uri="{FF2B5EF4-FFF2-40B4-BE49-F238E27FC236}">
                  <a16:creationId xmlns:a16="http://schemas.microsoft.com/office/drawing/2014/main" id="{CC8F86F3-78BA-6C93-8004-69BD1BAA227D}"/>
                </a:ext>
              </a:extLst>
            </p:cNvPr>
            <p:cNvGrpSpPr/>
            <p:nvPr/>
          </p:nvGrpSpPr>
          <p:grpSpPr>
            <a:xfrm>
              <a:off x="1816849" y="1329133"/>
              <a:ext cx="754455" cy="803509"/>
              <a:chOff x="236639" y="2072289"/>
              <a:chExt cx="754455" cy="803509"/>
            </a:xfrm>
          </p:grpSpPr>
          <p:sp>
            <p:nvSpPr>
              <p:cNvPr id="128" name="ZoneTexte 127">
                <a:extLst>
                  <a:ext uri="{FF2B5EF4-FFF2-40B4-BE49-F238E27FC236}">
                    <a16:creationId xmlns:a16="http://schemas.microsoft.com/office/drawing/2014/main" id="{E3AB7499-C24C-4335-62D7-4A2A70823DFF}"/>
                  </a:ext>
                </a:extLst>
              </p:cNvPr>
              <p:cNvSpPr txBox="1"/>
              <p:nvPr/>
            </p:nvSpPr>
            <p:spPr>
              <a:xfrm>
                <a:off x="236639" y="2603019"/>
                <a:ext cx="754455" cy="272779"/>
              </a:xfrm>
              <a:prstGeom prst="rect">
                <a:avLst/>
              </a:prstGeom>
              <a:noFill/>
            </p:spPr>
            <p:txBody>
              <a:bodyPr wrap="square">
                <a:spAutoFit/>
              </a:bodyPr>
              <a:lstStyle/>
              <a:p>
                <a:pPr algn="ctr"/>
                <a:r>
                  <a:rPr lang="fr-FR" sz="900" dirty="0"/>
                  <a:t>Matériel</a:t>
                </a:r>
              </a:p>
            </p:txBody>
          </p:sp>
          <p:pic>
            <p:nvPicPr>
              <p:cNvPr id="129" name="Graphique 128" descr="Diable avec un remplissage uni">
                <a:extLst>
                  <a:ext uri="{FF2B5EF4-FFF2-40B4-BE49-F238E27FC236}">
                    <a16:creationId xmlns:a16="http://schemas.microsoft.com/office/drawing/2014/main" id="{4E386603-D812-522C-591D-330B94ECAAE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66612" y="2072289"/>
                <a:ext cx="457200" cy="457200"/>
              </a:xfrm>
              <a:prstGeom prst="rect">
                <a:avLst/>
              </a:prstGeom>
            </p:spPr>
          </p:pic>
        </p:grpSp>
        <p:grpSp>
          <p:nvGrpSpPr>
            <p:cNvPr id="113" name="Groupe 112">
              <a:extLst>
                <a:ext uri="{FF2B5EF4-FFF2-40B4-BE49-F238E27FC236}">
                  <a16:creationId xmlns:a16="http://schemas.microsoft.com/office/drawing/2014/main" id="{C07AEC85-4A62-9AF1-AA7A-AE1E1CFC6B3F}"/>
                </a:ext>
              </a:extLst>
            </p:cNvPr>
            <p:cNvGrpSpPr/>
            <p:nvPr/>
          </p:nvGrpSpPr>
          <p:grpSpPr>
            <a:xfrm>
              <a:off x="7339961" y="1323986"/>
              <a:ext cx="1381765" cy="803509"/>
              <a:chOff x="1276816" y="2072289"/>
              <a:chExt cx="1381765" cy="803509"/>
            </a:xfrm>
          </p:grpSpPr>
          <p:sp>
            <p:nvSpPr>
              <p:cNvPr id="126" name="ZoneTexte 125">
                <a:extLst>
                  <a:ext uri="{FF2B5EF4-FFF2-40B4-BE49-F238E27FC236}">
                    <a16:creationId xmlns:a16="http://schemas.microsoft.com/office/drawing/2014/main" id="{DEE7577A-0F15-7A02-8F64-26EE3EB7C5DA}"/>
                  </a:ext>
                </a:extLst>
              </p:cNvPr>
              <p:cNvSpPr txBox="1"/>
              <p:nvPr/>
            </p:nvSpPr>
            <p:spPr>
              <a:xfrm>
                <a:off x="1276816" y="2603019"/>
                <a:ext cx="1381765" cy="272779"/>
              </a:xfrm>
              <a:prstGeom prst="rect">
                <a:avLst/>
              </a:prstGeom>
              <a:noFill/>
            </p:spPr>
            <p:txBody>
              <a:bodyPr wrap="square">
                <a:spAutoFit/>
              </a:bodyPr>
              <a:lstStyle/>
              <a:p>
                <a:pPr algn="ctr"/>
                <a:r>
                  <a:rPr lang="fr-FR" sz="900" dirty="0"/>
                  <a:t>Informations clé</a:t>
                </a:r>
              </a:p>
            </p:txBody>
          </p:sp>
          <p:pic>
            <p:nvPicPr>
              <p:cNvPr id="127" name="Graphique 126" descr="Informations avec un remplissage uni">
                <a:extLst>
                  <a:ext uri="{FF2B5EF4-FFF2-40B4-BE49-F238E27FC236}">
                    <a16:creationId xmlns:a16="http://schemas.microsoft.com/office/drawing/2014/main" id="{A25F900D-CA9A-289C-6F80-EF468DABCEB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726018" y="2072289"/>
                <a:ext cx="478914" cy="478914"/>
              </a:xfrm>
              <a:prstGeom prst="rect">
                <a:avLst/>
              </a:prstGeom>
            </p:spPr>
          </p:pic>
        </p:grpSp>
        <p:grpSp>
          <p:nvGrpSpPr>
            <p:cNvPr id="114" name="Groupe 113">
              <a:extLst>
                <a:ext uri="{FF2B5EF4-FFF2-40B4-BE49-F238E27FC236}">
                  <a16:creationId xmlns:a16="http://schemas.microsoft.com/office/drawing/2014/main" id="{698DEBDA-F01A-B1F1-378F-A6B02B02D8AF}"/>
                </a:ext>
              </a:extLst>
            </p:cNvPr>
            <p:cNvGrpSpPr/>
            <p:nvPr/>
          </p:nvGrpSpPr>
          <p:grpSpPr>
            <a:xfrm>
              <a:off x="363244" y="1341384"/>
              <a:ext cx="1274604" cy="803509"/>
              <a:chOff x="8215494" y="2072289"/>
              <a:chExt cx="1274604" cy="803509"/>
            </a:xfrm>
          </p:grpSpPr>
          <p:sp>
            <p:nvSpPr>
              <p:cNvPr id="124" name="ZoneTexte 123">
                <a:extLst>
                  <a:ext uri="{FF2B5EF4-FFF2-40B4-BE49-F238E27FC236}">
                    <a16:creationId xmlns:a16="http://schemas.microsoft.com/office/drawing/2014/main" id="{497C4344-ABC3-E58F-2D46-F31C7F4808B6}"/>
                  </a:ext>
                </a:extLst>
              </p:cNvPr>
              <p:cNvSpPr txBox="1"/>
              <p:nvPr/>
            </p:nvSpPr>
            <p:spPr>
              <a:xfrm>
                <a:off x="8215494" y="2603019"/>
                <a:ext cx="1274604" cy="272779"/>
              </a:xfrm>
              <a:prstGeom prst="rect">
                <a:avLst/>
              </a:prstGeom>
              <a:noFill/>
            </p:spPr>
            <p:txBody>
              <a:bodyPr wrap="square">
                <a:spAutoFit/>
              </a:bodyPr>
              <a:lstStyle/>
              <a:p>
                <a:pPr algn="ctr"/>
                <a:r>
                  <a:rPr lang="fr-FR" sz="900" dirty="0"/>
                  <a:t>Espaces et lieux</a:t>
                </a:r>
              </a:p>
            </p:txBody>
          </p:sp>
          <p:pic>
            <p:nvPicPr>
              <p:cNvPr id="125" name="Graphique 124" descr="Conseil d’administration avec un remplissage uni">
                <a:extLst>
                  <a:ext uri="{FF2B5EF4-FFF2-40B4-BE49-F238E27FC236}">
                    <a16:creationId xmlns:a16="http://schemas.microsoft.com/office/drawing/2014/main" id="{8C5483A9-13B2-8E63-1C0B-513891428603}"/>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574409" y="2072289"/>
                <a:ext cx="556773" cy="556773"/>
              </a:xfrm>
              <a:prstGeom prst="rect">
                <a:avLst/>
              </a:prstGeom>
            </p:spPr>
          </p:pic>
        </p:grpSp>
        <p:grpSp>
          <p:nvGrpSpPr>
            <p:cNvPr id="115" name="Groupe 114">
              <a:extLst>
                <a:ext uri="{FF2B5EF4-FFF2-40B4-BE49-F238E27FC236}">
                  <a16:creationId xmlns:a16="http://schemas.microsoft.com/office/drawing/2014/main" id="{DFCD5D00-E134-C5C0-C38C-B013526262CC}"/>
                </a:ext>
              </a:extLst>
            </p:cNvPr>
            <p:cNvGrpSpPr/>
            <p:nvPr/>
          </p:nvGrpSpPr>
          <p:grpSpPr>
            <a:xfrm>
              <a:off x="4195824" y="1322881"/>
              <a:ext cx="764501" cy="803509"/>
              <a:chOff x="9827467" y="2072289"/>
              <a:chExt cx="764501" cy="803509"/>
            </a:xfrm>
          </p:grpSpPr>
          <p:pic>
            <p:nvPicPr>
              <p:cNvPr id="122" name="Graphique 121" descr="Tirelire avec un remplissage uni">
                <a:extLst>
                  <a:ext uri="{FF2B5EF4-FFF2-40B4-BE49-F238E27FC236}">
                    <a16:creationId xmlns:a16="http://schemas.microsoft.com/office/drawing/2014/main" id="{6DB5ECAE-E5B9-D656-E84B-CDB4D8DF11C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956969" y="2072289"/>
                <a:ext cx="540000" cy="540000"/>
              </a:xfrm>
              <a:prstGeom prst="rect">
                <a:avLst/>
              </a:prstGeom>
            </p:spPr>
          </p:pic>
          <p:sp>
            <p:nvSpPr>
              <p:cNvPr id="123" name="ZoneTexte 122">
                <a:extLst>
                  <a:ext uri="{FF2B5EF4-FFF2-40B4-BE49-F238E27FC236}">
                    <a16:creationId xmlns:a16="http://schemas.microsoft.com/office/drawing/2014/main" id="{F2362EBB-376F-DF9C-50F8-8D7157C3AAA5}"/>
                  </a:ext>
                </a:extLst>
              </p:cNvPr>
              <p:cNvSpPr txBox="1"/>
              <p:nvPr/>
            </p:nvSpPr>
            <p:spPr>
              <a:xfrm>
                <a:off x="9827467" y="2603019"/>
                <a:ext cx="764501" cy="272779"/>
              </a:xfrm>
              <a:prstGeom prst="rect">
                <a:avLst/>
              </a:prstGeom>
              <a:noFill/>
            </p:spPr>
            <p:txBody>
              <a:bodyPr wrap="square">
                <a:spAutoFit/>
              </a:bodyPr>
              <a:lstStyle/>
              <a:p>
                <a:pPr algn="ctr"/>
                <a:r>
                  <a:rPr lang="fr-FR" sz="900" dirty="0"/>
                  <a:t>Budget</a:t>
                </a:r>
              </a:p>
            </p:txBody>
          </p:sp>
        </p:grpSp>
        <p:grpSp>
          <p:nvGrpSpPr>
            <p:cNvPr id="116" name="Groupe 115">
              <a:extLst>
                <a:ext uri="{FF2B5EF4-FFF2-40B4-BE49-F238E27FC236}">
                  <a16:creationId xmlns:a16="http://schemas.microsoft.com/office/drawing/2014/main" id="{FF1E903F-E92A-6D01-B17A-C76FE31ADF9F}"/>
                </a:ext>
              </a:extLst>
            </p:cNvPr>
            <p:cNvGrpSpPr/>
            <p:nvPr/>
          </p:nvGrpSpPr>
          <p:grpSpPr>
            <a:xfrm>
              <a:off x="11202158" y="1327063"/>
              <a:ext cx="764501" cy="803509"/>
              <a:chOff x="11150144" y="2072289"/>
              <a:chExt cx="764501" cy="803509"/>
            </a:xfrm>
          </p:grpSpPr>
          <p:pic>
            <p:nvPicPr>
              <p:cNvPr id="120" name="Graphique 119" descr="Badge point d’interrogation avec un remplissage uni">
                <a:extLst>
                  <a:ext uri="{FF2B5EF4-FFF2-40B4-BE49-F238E27FC236}">
                    <a16:creationId xmlns:a16="http://schemas.microsoft.com/office/drawing/2014/main" id="{8E738AE1-9375-282F-DAD6-943FFE0B380E}"/>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1270657" y="2072289"/>
                <a:ext cx="540000" cy="540000"/>
              </a:xfrm>
              <a:prstGeom prst="rect">
                <a:avLst/>
              </a:prstGeom>
            </p:spPr>
          </p:pic>
          <p:sp>
            <p:nvSpPr>
              <p:cNvPr id="121" name="ZoneTexte 120">
                <a:extLst>
                  <a:ext uri="{FF2B5EF4-FFF2-40B4-BE49-F238E27FC236}">
                    <a16:creationId xmlns:a16="http://schemas.microsoft.com/office/drawing/2014/main" id="{E9C64F6A-1BB5-8977-2E32-2E683754DB7D}"/>
                  </a:ext>
                </a:extLst>
              </p:cNvPr>
              <p:cNvSpPr txBox="1"/>
              <p:nvPr/>
            </p:nvSpPr>
            <p:spPr>
              <a:xfrm>
                <a:off x="11150144" y="2603019"/>
                <a:ext cx="764501" cy="272779"/>
              </a:xfrm>
              <a:prstGeom prst="rect">
                <a:avLst/>
              </a:prstGeom>
              <a:noFill/>
            </p:spPr>
            <p:txBody>
              <a:bodyPr wrap="square">
                <a:spAutoFit/>
              </a:bodyPr>
              <a:lstStyle/>
              <a:p>
                <a:pPr algn="ctr"/>
                <a:r>
                  <a:rPr lang="fr-FR" sz="900" dirty="0"/>
                  <a:t>Autres</a:t>
                </a:r>
              </a:p>
            </p:txBody>
          </p:sp>
        </p:grpSp>
        <p:grpSp>
          <p:nvGrpSpPr>
            <p:cNvPr id="117" name="Groupe 116">
              <a:extLst>
                <a:ext uri="{FF2B5EF4-FFF2-40B4-BE49-F238E27FC236}">
                  <a16:creationId xmlns:a16="http://schemas.microsoft.com/office/drawing/2014/main" id="{E32A19D4-A17B-A831-41F0-81E6188770FF}"/>
                </a:ext>
              </a:extLst>
            </p:cNvPr>
            <p:cNvGrpSpPr/>
            <p:nvPr/>
          </p:nvGrpSpPr>
          <p:grpSpPr>
            <a:xfrm>
              <a:off x="9754481" y="1304631"/>
              <a:ext cx="1326669" cy="822863"/>
              <a:chOff x="9651618" y="1361747"/>
              <a:chExt cx="1326669" cy="822863"/>
            </a:xfrm>
          </p:grpSpPr>
          <p:pic>
            <p:nvPicPr>
              <p:cNvPr id="118" name="Graphique 117" descr="Signe pouce en haut avec un remplissage uni">
                <a:extLst>
                  <a:ext uri="{FF2B5EF4-FFF2-40B4-BE49-F238E27FC236}">
                    <a16:creationId xmlns:a16="http://schemas.microsoft.com/office/drawing/2014/main" id="{78A3BBD3-FDC3-8C3A-ED1F-42C18E2813DD}"/>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0057766" y="1361747"/>
                <a:ext cx="514374" cy="514374"/>
              </a:xfrm>
              <a:prstGeom prst="rect">
                <a:avLst/>
              </a:prstGeom>
            </p:spPr>
          </p:pic>
          <p:sp>
            <p:nvSpPr>
              <p:cNvPr id="119" name="ZoneTexte 118">
                <a:extLst>
                  <a:ext uri="{FF2B5EF4-FFF2-40B4-BE49-F238E27FC236}">
                    <a16:creationId xmlns:a16="http://schemas.microsoft.com/office/drawing/2014/main" id="{6D3C028F-2381-22AD-0446-D67215A9C7D5}"/>
                  </a:ext>
                </a:extLst>
              </p:cNvPr>
              <p:cNvSpPr txBox="1"/>
              <p:nvPr/>
            </p:nvSpPr>
            <p:spPr>
              <a:xfrm>
                <a:off x="9651618" y="1911831"/>
                <a:ext cx="1326669" cy="272779"/>
              </a:xfrm>
              <a:prstGeom prst="rect">
                <a:avLst/>
              </a:prstGeom>
              <a:noFill/>
            </p:spPr>
            <p:txBody>
              <a:bodyPr wrap="square">
                <a:spAutoFit/>
              </a:bodyPr>
              <a:lstStyle/>
              <a:p>
                <a:pPr algn="ctr"/>
                <a:r>
                  <a:rPr lang="fr-FR" sz="900" dirty="0"/>
                  <a:t>Soutien extérieur</a:t>
                </a:r>
              </a:p>
            </p:txBody>
          </p:sp>
        </p:grpSp>
      </p:grpSp>
      <p:pic>
        <p:nvPicPr>
          <p:cNvPr id="138" name="Graphique 137" descr="Boîte à archives avec un remplissage uni">
            <a:extLst>
              <a:ext uri="{FF2B5EF4-FFF2-40B4-BE49-F238E27FC236}">
                <a16:creationId xmlns:a16="http://schemas.microsoft.com/office/drawing/2014/main" id="{F5AA665E-F055-8695-D951-E61A63119180}"/>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202004" y="209688"/>
            <a:ext cx="640022" cy="640024"/>
          </a:xfrm>
          <a:prstGeom prst="rect">
            <a:avLst/>
          </a:prstGeom>
        </p:spPr>
      </p:pic>
      <p:sp>
        <p:nvSpPr>
          <p:cNvPr id="139" name="Rectangle 138">
            <a:extLst>
              <a:ext uri="{FF2B5EF4-FFF2-40B4-BE49-F238E27FC236}">
                <a16:creationId xmlns:a16="http://schemas.microsoft.com/office/drawing/2014/main" id="{20463505-95B3-5453-5C25-1789FDFE7527}"/>
              </a:ext>
            </a:extLst>
          </p:cNvPr>
          <p:cNvSpPr/>
          <p:nvPr/>
        </p:nvSpPr>
        <p:spPr>
          <a:xfrm>
            <a:off x="1342539" y="1709518"/>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📅Audit des matériels et des usages existants, benchmark de matériels alternatifs</a:t>
            </a:r>
          </a:p>
        </p:txBody>
      </p:sp>
      <p:sp>
        <p:nvSpPr>
          <p:cNvPr id="140" name="Rectangle 139">
            <a:extLst>
              <a:ext uri="{FF2B5EF4-FFF2-40B4-BE49-F238E27FC236}">
                <a16:creationId xmlns:a16="http://schemas.microsoft.com/office/drawing/2014/main" id="{7C658347-D14D-C1FF-1428-BE8A7A4930DE}"/>
              </a:ext>
            </a:extLst>
          </p:cNvPr>
          <p:cNvSpPr/>
          <p:nvPr/>
        </p:nvSpPr>
        <p:spPr>
          <a:xfrm>
            <a:off x="2558771" y="1709518"/>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📅Audit des outils et des usages existants, benchmark d’outils alternatifs et ⚙️changement</a:t>
            </a:r>
          </a:p>
        </p:txBody>
      </p:sp>
      <p:sp>
        <p:nvSpPr>
          <p:cNvPr id="141" name="Rectangle 140">
            <a:extLst>
              <a:ext uri="{FF2B5EF4-FFF2-40B4-BE49-F238E27FC236}">
                <a16:creationId xmlns:a16="http://schemas.microsoft.com/office/drawing/2014/main" id="{1FDA3FC6-D08C-049A-8C70-5192C9039AA6}"/>
              </a:ext>
            </a:extLst>
          </p:cNvPr>
          <p:cNvSpPr/>
          <p:nvPr/>
        </p:nvSpPr>
        <p:spPr>
          <a:xfrm>
            <a:off x="7308803" y="1709518"/>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📅✍️Usages de grilles de lecture (ex: Community Canvas) ou de modèles pour faire le point sur des infos à disposition</a:t>
            </a:r>
          </a:p>
        </p:txBody>
      </p:sp>
      <p:sp>
        <p:nvSpPr>
          <p:cNvPr id="142" name="Rectangle 141">
            <a:extLst>
              <a:ext uri="{FF2B5EF4-FFF2-40B4-BE49-F238E27FC236}">
                <a16:creationId xmlns:a16="http://schemas.microsoft.com/office/drawing/2014/main" id="{70920133-6471-EDA1-0224-784F13BA8FD8}"/>
              </a:ext>
            </a:extLst>
          </p:cNvPr>
          <p:cNvSpPr/>
          <p:nvPr/>
        </p:nvSpPr>
        <p:spPr>
          <a:xfrm>
            <a:off x="6144041" y="1709518"/>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⚙️Sollicitations ponctuelles ou récurrentes de compétences extérieures</a:t>
            </a:r>
          </a:p>
        </p:txBody>
      </p:sp>
      <p:sp>
        <p:nvSpPr>
          <p:cNvPr id="143" name="Rectangle 142">
            <a:extLst>
              <a:ext uri="{FF2B5EF4-FFF2-40B4-BE49-F238E27FC236}">
                <a16:creationId xmlns:a16="http://schemas.microsoft.com/office/drawing/2014/main" id="{5811EA66-646E-D5CB-DD98-134C0FD8EF81}"/>
              </a:ext>
            </a:extLst>
          </p:cNvPr>
          <p:cNvSpPr/>
          <p:nvPr/>
        </p:nvSpPr>
        <p:spPr>
          <a:xfrm>
            <a:off x="8487441" y="1709518"/>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endParaRPr lang="fr-FR" sz="800" dirty="0">
              <a:solidFill>
                <a:schemeClr val="tx1"/>
              </a:solidFill>
            </a:endParaRPr>
          </a:p>
          <a:p>
            <a:pPr algn="ctr"/>
            <a:r>
              <a:rPr lang="fr-FR" sz="800" dirty="0">
                <a:solidFill>
                  <a:schemeClr val="tx1"/>
                </a:solidFill>
              </a:rPr>
              <a:t>Renseignement sur les motivations individuelles et compilation</a:t>
            </a:r>
          </a:p>
        </p:txBody>
      </p:sp>
      <p:sp>
        <p:nvSpPr>
          <p:cNvPr id="144" name="Rectangle 143">
            <a:extLst>
              <a:ext uri="{FF2B5EF4-FFF2-40B4-BE49-F238E27FC236}">
                <a16:creationId xmlns:a16="http://schemas.microsoft.com/office/drawing/2014/main" id="{25F43148-735A-43A9-5FCF-9CE06EE2A743}"/>
              </a:ext>
            </a:extLst>
          </p:cNvPr>
          <p:cNvSpPr/>
          <p:nvPr/>
        </p:nvSpPr>
        <p:spPr>
          <a:xfrm>
            <a:off x="4960893" y="1709518"/>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Constitution de sous-groupes, même temporaires, plus souvent disponibles simultanément ou bien géographiques</a:t>
            </a:r>
          </a:p>
        </p:txBody>
      </p:sp>
      <p:sp>
        <p:nvSpPr>
          <p:cNvPr id="145" name="Rectangle 144">
            <a:extLst>
              <a:ext uri="{FF2B5EF4-FFF2-40B4-BE49-F238E27FC236}">
                <a16:creationId xmlns:a16="http://schemas.microsoft.com/office/drawing/2014/main" id="{FCF60289-640D-42A4-FE49-C5A45DCF21FC}"/>
              </a:ext>
            </a:extLst>
          </p:cNvPr>
          <p:cNvSpPr/>
          <p:nvPr/>
        </p:nvSpPr>
        <p:spPr>
          <a:xfrm>
            <a:off x="146563" y="1709518"/>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⚙️Rôles tournants, délégation, division des événements, ou tout autre mesure réduisant le besoin en taille de locaux</a:t>
            </a:r>
          </a:p>
        </p:txBody>
      </p:sp>
      <p:sp>
        <p:nvSpPr>
          <p:cNvPr id="146" name="Rectangle 145">
            <a:extLst>
              <a:ext uri="{FF2B5EF4-FFF2-40B4-BE49-F238E27FC236}">
                <a16:creationId xmlns:a16="http://schemas.microsoft.com/office/drawing/2014/main" id="{E408BCC8-ED79-ABC2-0791-6676EFDF353A}"/>
              </a:ext>
            </a:extLst>
          </p:cNvPr>
          <p:cNvSpPr/>
          <p:nvPr/>
        </p:nvSpPr>
        <p:spPr>
          <a:xfrm>
            <a:off x="3759832" y="1709518"/>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
            </a:r>
          </a:p>
          <a:p>
            <a:pPr algn="ctr"/>
            <a:r>
              <a:rPr lang="fr-FR" sz="800" dirty="0">
                <a:solidFill>
                  <a:schemeClr val="tx1"/>
                </a:solidFill>
              </a:rPr>
              <a:t>Idéation pour une version moins chère des mêmes événements ou contenus</a:t>
            </a:r>
          </a:p>
        </p:txBody>
      </p:sp>
      <p:sp>
        <p:nvSpPr>
          <p:cNvPr id="147" name="Rectangle 146">
            <a:extLst>
              <a:ext uri="{FF2B5EF4-FFF2-40B4-BE49-F238E27FC236}">
                <a16:creationId xmlns:a16="http://schemas.microsoft.com/office/drawing/2014/main" id="{559E5750-964A-C263-C046-296FEFA19863}"/>
              </a:ext>
            </a:extLst>
          </p:cNvPr>
          <p:cNvSpPr/>
          <p:nvPr/>
        </p:nvSpPr>
        <p:spPr>
          <a:xfrm>
            <a:off x="9672592" y="1709518"/>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📅Brainstorming des soutiens potentiels, de leurs rôles possibles, volume, motivations et moyens d’y accéder</a:t>
            </a:r>
          </a:p>
        </p:txBody>
      </p:sp>
      <p:sp>
        <p:nvSpPr>
          <p:cNvPr id="44" name="Rectangle 43">
            <a:extLst>
              <a:ext uri="{FF2B5EF4-FFF2-40B4-BE49-F238E27FC236}">
                <a16:creationId xmlns:a16="http://schemas.microsoft.com/office/drawing/2014/main" id="{51536BCD-0438-2F8F-D535-EF62398504EB}"/>
              </a:ext>
            </a:extLst>
          </p:cNvPr>
          <p:cNvSpPr/>
          <p:nvPr/>
        </p:nvSpPr>
        <p:spPr>
          <a:xfrm>
            <a:off x="1342539" y="2528117"/>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📅✍️Communications sur la difficulté matérielle d’assurer certaines activités au niveau actuel d’exigence</a:t>
            </a:r>
          </a:p>
        </p:txBody>
      </p:sp>
      <p:sp>
        <p:nvSpPr>
          <p:cNvPr id="45" name="Rectangle 44">
            <a:extLst>
              <a:ext uri="{FF2B5EF4-FFF2-40B4-BE49-F238E27FC236}">
                <a16:creationId xmlns:a16="http://schemas.microsoft.com/office/drawing/2014/main" id="{074318B8-C66F-699F-34FD-172DA2896D72}"/>
              </a:ext>
            </a:extLst>
          </p:cNvPr>
          <p:cNvSpPr/>
          <p:nvPr/>
        </p:nvSpPr>
        <p:spPr>
          <a:xfrm>
            <a:off x="2558771" y="2528117"/>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⚙️Créer un rôle ou un 📅moment collectif de gestion de provisioning</a:t>
            </a:r>
          </a:p>
        </p:txBody>
      </p:sp>
      <p:sp>
        <p:nvSpPr>
          <p:cNvPr id="46" name="Rectangle 45">
            <a:extLst>
              <a:ext uri="{FF2B5EF4-FFF2-40B4-BE49-F238E27FC236}">
                <a16:creationId xmlns:a16="http://schemas.microsoft.com/office/drawing/2014/main" id="{EB1A387F-564A-18A2-04BD-79651D13E8BB}"/>
              </a:ext>
            </a:extLst>
          </p:cNvPr>
          <p:cNvSpPr/>
          <p:nvPr/>
        </p:nvSpPr>
        <p:spPr>
          <a:xfrm>
            <a:off x="7308803" y="2528117"/>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📅Brainstorming sur l’accès ou les moyens d’accès aux informations identifiées comme manquantes</a:t>
            </a:r>
          </a:p>
        </p:txBody>
      </p:sp>
      <p:sp>
        <p:nvSpPr>
          <p:cNvPr id="47" name="Rectangle 46">
            <a:extLst>
              <a:ext uri="{FF2B5EF4-FFF2-40B4-BE49-F238E27FC236}">
                <a16:creationId xmlns:a16="http://schemas.microsoft.com/office/drawing/2014/main" id="{400F7F50-359F-6412-4A0E-076FDE247C82}"/>
              </a:ext>
            </a:extLst>
          </p:cNvPr>
          <p:cNvSpPr/>
          <p:nvPr/>
        </p:nvSpPr>
        <p:spPr>
          <a:xfrm>
            <a:off x="6144041" y="2528117"/>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⚙️Intégration de la formation aux compétences communautaires dans les activités de la Communauté</a:t>
            </a:r>
          </a:p>
        </p:txBody>
      </p:sp>
      <p:sp>
        <p:nvSpPr>
          <p:cNvPr id="48" name="Rectangle 47">
            <a:extLst>
              <a:ext uri="{FF2B5EF4-FFF2-40B4-BE49-F238E27FC236}">
                <a16:creationId xmlns:a16="http://schemas.microsoft.com/office/drawing/2014/main" id="{FBDF59DD-E5EE-0FBE-31A4-B652EE071105}"/>
              </a:ext>
            </a:extLst>
          </p:cNvPr>
          <p:cNvSpPr/>
          <p:nvPr/>
        </p:nvSpPr>
        <p:spPr>
          <a:xfrm>
            <a:off x="8487441" y="2528117"/>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Essai de formulation simple et unie des motivations, travail de pitch et de slogan</a:t>
            </a:r>
          </a:p>
        </p:txBody>
      </p:sp>
      <p:sp>
        <p:nvSpPr>
          <p:cNvPr id="49" name="Rectangle 48">
            <a:extLst>
              <a:ext uri="{FF2B5EF4-FFF2-40B4-BE49-F238E27FC236}">
                <a16:creationId xmlns:a16="http://schemas.microsoft.com/office/drawing/2014/main" id="{9A0265B6-D89C-295F-FA5C-DB8328ECE339}"/>
              </a:ext>
            </a:extLst>
          </p:cNvPr>
          <p:cNvSpPr/>
          <p:nvPr/>
        </p:nvSpPr>
        <p:spPr>
          <a:xfrm>
            <a:off x="4960893" y="2528117"/>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Système de backup (suppléant au cas où) pour les rôles clés de la Communauté</a:t>
            </a:r>
          </a:p>
        </p:txBody>
      </p:sp>
      <p:sp>
        <p:nvSpPr>
          <p:cNvPr id="50" name="Rectangle 49">
            <a:extLst>
              <a:ext uri="{FF2B5EF4-FFF2-40B4-BE49-F238E27FC236}">
                <a16:creationId xmlns:a16="http://schemas.microsoft.com/office/drawing/2014/main" id="{2A3F11A3-951E-0DF8-9679-6330FF82D50D}"/>
              </a:ext>
            </a:extLst>
          </p:cNvPr>
          <p:cNvSpPr/>
          <p:nvPr/>
        </p:nvSpPr>
        <p:spPr>
          <a:xfrm>
            <a:off x="146563" y="2528117"/>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⚙️Changements de locaux, division en plusieurs sites, …</a:t>
            </a:r>
          </a:p>
        </p:txBody>
      </p:sp>
      <p:sp>
        <p:nvSpPr>
          <p:cNvPr id="51" name="Rectangle 50">
            <a:extLst>
              <a:ext uri="{FF2B5EF4-FFF2-40B4-BE49-F238E27FC236}">
                <a16:creationId xmlns:a16="http://schemas.microsoft.com/office/drawing/2014/main" id="{F59B77CF-9A09-F0E4-B54D-D2C29BB640B9}"/>
              </a:ext>
            </a:extLst>
          </p:cNvPr>
          <p:cNvSpPr/>
          <p:nvPr/>
        </p:nvSpPr>
        <p:spPr>
          <a:xfrm>
            <a:off x="3759832" y="2528117"/>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⚙️Créer un rôle ou un 📅moment collectif de gestion de budget</a:t>
            </a:r>
          </a:p>
        </p:txBody>
      </p:sp>
      <p:sp>
        <p:nvSpPr>
          <p:cNvPr id="52" name="Rectangle 51">
            <a:extLst>
              <a:ext uri="{FF2B5EF4-FFF2-40B4-BE49-F238E27FC236}">
                <a16:creationId xmlns:a16="http://schemas.microsoft.com/office/drawing/2014/main" id="{60B7E7A3-7090-8C4B-4097-7CD2CC4F1913}"/>
              </a:ext>
            </a:extLst>
          </p:cNvPr>
          <p:cNvSpPr/>
          <p:nvPr/>
        </p:nvSpPr>
        <p:spPr>
          <a:xfrm>
            <a:off x="9672592" y="2528117"/>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⚙️Analyse des motivations et des blocages d’une partie prenante clé et actions subséquentes</a:t>
            </a:r>
          </a:p>
        </p:txBody>
      </p:sp>
      <p:sp>
        <p:nvSpPr>
          <p:cNvPr id="53" name="Rectangle 52">
            <a:extLst>
              <a:ext uri="{FF2B5EF4-FFF2-40B4-BE49-F238E27FC236}">
                <a16:creationId xmlns:a16="http://schemas.microsoft.com/office/drawing/2014/main" id="{9E5E7A66-3929-C34C-5D36-93CCDE0B65FE}"/>
              </a:ext>
            </a:extLst>
          </p:cNvPr>
          <p:cNvSpPr/>
          <p:nvPr/>
        </p:nvSpPr>
        <p:spPr>
          <a:xfrm>
            <a:off x="1342539" y="3324655"/>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✍️⚙️Règles de bon usage du matériel. Partage d’exemples de dommages possibles.</a:t>
            </a:r>
          </a:p>
        </p:txBody>
      </p:sp>
      <p:sp>
        <p:nvSpPr>
          <p:cNvPr id="54" name="Rectangle 53">
            <a:extLst>
              <a:ext uri="{FF2B5EF4-FFF2-40B4-BE49-F238E27FC236}">
                <a16:creationId xmlns:a16="http://schemas.microsoft.com/office/drawing/2014/main" id="{6CCD2ED7-D286-2175-E4D2-1CCB92B0329E}"/>
              </a:ext>
            </a:extLst>
          </p:cNvPr>
          <p:cNvSpPr/>
          <p:nvPr/>
        </p:nvSpPr>
        <p:spPr>
          <a:xfrm>
            <a:off x="2558771" y="3324655"/>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📅✍️Mise à plat du processus de provisioning (ex : avec une Value Stream </a:t>
            </a:r>
            <a:r>
              <a:rPr lang="fr-FR" sz="800" dirty="0" err="1">
                <a:solidFill>
                  <a:schemeClr val="tx1"/>
                </a:solidFill>
              </a:rPr>
              <a:t>Map</a:t>
            </a:r>
            <a:r>
              <a:rPr lang="fr-FR" sz="800" dirty="0">
                <a:solidFill>
                  <a:schemeClr val="tx1"/>
                </a:solidFill>
              </a:rPr>
              <a:t>) et amélioration</a:t>
            </a:r>
          </a:p>
        </p:txBody>
      </p:sp>
      <p:sp>
        <p:nvSpPr>
          <p:cNvPr id="55" name="Rectangle 54">
            <a:extLst>
              <a:ext uri="{FF2B5EF4-FFF2-40B4-BE49-F238E27FC236}">
                <a16:creationId xmlns:a16="http://schemas.microsoft.com/office/drawing/2014/main" id="{990C9BFB-7F3F-372A-E39E-9487AD98E87E}"/>
              </a:ext>
            </a:extLst>
          </p:cNvPr>
          <p:cNvSpPr/>
          <p:nvPr/>
        </p:nvSpPr>
        <p:spPr>
          <a:xfrm>
            <a:off x="7308803" y="3324655"/>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📅⚙️Investigation sur les conditions nécessaires au partage d’info entre membres (sécurité, outillage, légitimité...)</a:t>
            </a:r>
          </a:p>
        </p:txBody>
      </p:sp>
      <p:sp>
        <p:nvSpPr>
          <p:cNvPr id="56" name="Rectangle 55">
            <a:extLst>
              <a:ext uri="{FF2B5EF4-FFF2-40B4-BE49-F238E27FC236}">
                <a16:creationId xmlns:a16="http://schemas.microsoft.com/office/drawing/2014/main" id="{839770D1-E8D8-33BC-A45A-D16891BE31A3}"/>
              </a:ext>
            </a:extLst>
          </p:cNvPr>
          <p:cNvSpPr/>
          <p:nvPr/>
        </p:nvSpPr>
        <p:spPr>
          <a:xfrm>
            <a:off x="6144041" y="3324655"/>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📅✍️Partage sur le manque de compétences en Communauté et acceptation des niveaux de chacun</a:t>
            </a:r>
          </a:p>
        </p:txBody>
      </p:sp>
      <p:sp>
        <p:nvSpPr>
          <p:cNvPr id="57" name="Rectangle 56">
            <a:extLst>
              <a:ext uri="{FF2B5EF4-FFF2-40B4-BE49-F238E27FC236}">
                <a16:creationId xmlns:a16="http://schemas.microsoft.com/office/drawing/2014/main" id="{02C0CDDC-F20D-0AAE-D0E4-EB54C4B08776}"/>
              </a:ext>
            </a:extLst>
          </p:cNvPr>
          <p:cNvSpPr/>
          <p:nvPr/>
        </p:nvSpPr>
        <p:spPr>
          <a:xfrm>
            <a:off x="8487441" y="3324655"/>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Constitution de sous-groupes, même temporaires, plus unis et motivés (au lieu d’un groupe divisé)</a:t>
            </a:r>
          </a:p>
        </p:txBody>
      </p:sp>
      <p:sp>
        <p:nvSpPr>
          <p:cNvPr id="58" name="Rectangle 57">
            <a:extLst>
              <a:ext uri="{FF2B5EF4-FFF2-40B4-BE49-F238E27FC236}">
                <a16:creationId xmlns:a16="http://schemas.microsoft.com/office/drawing/2014/main" id="{634F9B44-CB32-CF12-4BED-A02550BCCF71}"/>
              </a:ext>
            </a:extLst>
          </p:cNvPr>
          <p:cNvSpPr/>
          <p:nvPr/>
        </p:nvSpPr>
        <p:spPr>
          <a:xfrm>
            <a:off x="4960893" y="3324655"/>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⚙️Décentralisation de certaines fonctions à des fins de résilience</a:t>
            </a:r>
          </a:p>
        </p:txBody>
      </p:sp>
      <p:sp>
        <p:nvSpPr>
          <p:cNvPr id="59" name="Rectangle 58">
            <a:extLst>
              <a:ext uri="{FF2B5EF4-FFF2-40B4-BE49-F238E27FC236}">
                <a16:creationId xmlns:a16="http://schemas.microsoft.com/office/drawing/2014/main" id="{0755372F-4044-77FE-ABE3-99276064E795}"/>
              </a:ext>
            </a:extLst>
          </p:cNvPr>
          <p:cNvSpPr/>
          <p:nvPr/>
        </p:nvSpPr>
        <p:spPr>
          <a:xfrm>
            <a:off x="146563" y="3324655"/>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⚙️Adaptation pour  des usages ponctuels de locaux plus spécifiques dédiés à chaque occasion</a:t>
            </a:r>
          </a:p>
        </p:txBody>
      </p:sp>
      <p:sp>
        <p:nvSpPr>
          <p:cNvPr id="61" name="Rectangle 60">
            <a:extLst>
              <a:ext uri="{FF2B5EF4-FFF2-40B4-BE49-F238E27FC236}">
                <a16:creationId xmlns:a16="http://schemas.microsoft.com/office/drawing/2014/main" id="{B3243732-420C-FA44-5621-FAA5623E4C04}"/>
              </a:ext>
            </a:extLst>
          </p:cNvPr>
          <p:cNvSpPr/>
          <p:nvPr/>
        </p:nvSpPr>
        <p:spPr>
          <a:xfrm>
            <a:off x="9672592" y="3324655"/>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📅✍️Etablissement d’un contrat moral de Communauté</a:t>
            </a:r>
          </a:p>
          <a:p>
            <a:pPr algn="ctr"/>
            <a:endParaRPr lang="fr-FR" sz="800" dirty="0">
              <a:solidFill>
                <a:schemeClr val="tx1"/>
              </a:solidFill>
            </a:endParaRPr>
          </a:p>
        </p:txBody>
      </p:sp>
      <p:sp>
        <p:nvSpPr>
          <p:cNvPr id="64" name="Rectangle 63">
            <a:extLst>
              <a:ext uri="{FF2B5EF4-FFF2-40B4-BE49-F238E27FC236}">
                <a16:creationId xmlns:a16="http://schemas.microsoft.com/office/drawing/2014/main" id="{CE6B63E5-B23D-EAFB-CE3F-6131B02BC412}"/>
              </a:ext>
            </a:extLst>
          </p:cNvPr>
          <p:cNvSpPr/>
          <p:nvPr/>
        </p:nvSpPr>
        <p:spPr>
          <a:xfrm>
            <a:off x="7308803" y="4116963"/>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⚙️Investigation sur les conditions nécessaires à l’expression des différences et désaccords</a:t>
            </a:r>
          </a:p>
        </p:txBody>
      </p:sp>
      <p:sp>
        <p:nvSpPr>
          <p:cNvPr id="65" name="Rectangle 64">
            <a:extLst>
              <a:ext uri="{FF2B5EF4-FFF2-40B4-BE49-F238E27FC236}">
                <a16:creationId xmlns:a16="http://schemas.microsoft.com/office/drawing/2014/main" id="{FB1B5194-F96F-9D1F-D0BA-0AFD55C44FF7}"/>
              </a:ext>
            </a:extLst>
          </p:cNvPr>
          <p:cNvSpPr/>
          <p:nvPr/>
        </p:nvSpPr>
        <p:spPr>
          <a:xfrm>
            <a:off x="6144041" y="4116963"/>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⚙️Ajout de certaines conditions de compétence au moment du « recrutement » dans la Communauté</a:t>
            </a:r>
          </a:p>
        </p:txBody>
      </p:sp>
      <p:sp>
        <p:nvSpPr>
          <p:cNvPr id="66" name="Rectangle 65">
            <a:extLst>
              <a:ext uri="{FF2B5EF4-FFF2-40B4-BE49-F238E27FC236}">
                <a16:creationId xmlns:a16="http://schemas.microsoft.com/office/drawing/2014/main" id="{D447BB68-257C-6E2F-89E8-DBA5BCE6EAC6}"/>
              </a:ext>
            </a:extLst>
          </p:cNvPr>
          <p:cNvSpPr/>
          <p:nvPr/>
        </p:nvSpPr>
        <p:spPr>
          <a:xfrm>
            <a:off x="8487441" y="4116963"/>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Installer une petite habitude durable car moins coûteuse au départ (événements ou contenus courts, ...)</a:t>
            </a:r>
          </a:p>
        </p:txBody>
      </p:sp>
      <p:sp>
        <p:nvSpPr>
          <p:cNvPr id="67" name="Rectangle 66">
            <a:extLst>
              <a:ext uri="{FF2B5EF4-FFF2-40B4-BE49-F238E27FC236}">
                <a16:creationId xmlns:a16="http://schemas.microsoft.com/office/drawing/2014/main" id="{EE0AB69B-1D04-0076-EEB7-FA73835921E4}"/>
              </a:ext>
            </a:extLst>
          </p:cNvPr>
          <p:cNvSpPr/>
          <p:nvPr/>
        </p:nvSpPr>
        <p:spPr>
          <a:xfrm>
            <a:off x="4960893" y="4116963"/>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📅+⚙️Règles de pleine attention (téléphone tu, etc.) pour les événements</a:t>
            </a:r>
          </a:p>
        </p:txBody>
      </p:sp>
      <p:sp>
        <p:nvSpPr>
          <p:cNvPr id="68" name="Rectangle 67">
            <a:extLst>
              <a:ext uri="{FF2B5EF4-FFF2-40B4-BE49-F238E27FC236}">
                <a16:creationId xmlns:a16="http://schemas.microsoft.com/office/drawing/2014/main" id="{661D7F98-321D-8DD1-4B0E-217C7E5E9F80}"/>
              </a:ext>
            </a:extLst>
          </p:cNvPr>
          <p:cNvSpPr/>
          <p:nvPr/>
        </p:nvSpPr>
        <p:spPr>
          <a:xfrm>
            <a:off x="146563" y="4116963"/>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✍️Recensement et partage d’un catalogue des possibilités et ajustements de chacun</a:t>
            </a:r>
          </a:p>
        </p:txBody>
      </p:sp>
      <p:sp>
        <p:nvSpPr>
          <p:cNvPr id="70" name="Rectangle 69">
            <a:extLst>
              <a:ext uri="{FF2B5EF4-FFF2-40B4-BE49-F238E27FC236}">
                <a16:creationId xmlns:a16="http://schemas.microsoft.com/office/drawing/2014/main" id="{254E9B43-B700-0B0D-FF8A-F9EB84C90FED}"/>
              </a:ext>
            </a:extLst>
          </p:cNvPr>
          <p:cNvSpPr/>
          <p:nvPr/>
        </p:nvSpPr>
        <p:spPr>
          <a:xfrm>
            <a:off x="9672592" y="4116963"/>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📅✍️Communications régulières pour tenir informées les parties prenantes et ajuster les attentes</a:t>
            </a:r>
          </a:p>
        </p:txBody>
      </p:sp>
      <p:sp>
        <p:nvSpPr>
          <p:cNvPr id="73" name="Rectangle 72">
            <a:extLst>
              <a:ext uri="{FF2B5EF4-FFF2-40B4-BE49-F238E27FC236}">
                <a16:creationId xmlns:a16="http://schemas.microsoft.com/office/drawing/2014/main" id="{C18BACE4-369E-CFBC-9906-02A5B88C37F5}"/>
              </a:ext>
            </a:extLst>
          </p:cNvPr>
          <p:cNvSpPr/>
          <p:nvPr/>
        </p:nvSpPr>
        <p:spPr>
          <a:xfrm>
            <a:off x="7308803" y="4909272"/>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📅Atelier Maison de la contribution pour poser les créations potentielles de la Communauté, brainstorming</a:t>
            </a:r>
          </a:p>
        </p:txBody>
      </p:sp>
      <p:sp>
        <p:nvSpPr>
          <p:cNvPr id="74" name="Rectangle 73">
            <a:extLst>
              <a:ext uri="{FF2B5EF4-FFF2-40B4-BE49-F238E27FC236}">
                <a16:creationId xmlns:a16="http://schemas.microsoft.com/office/drawing/2014/main" id="{57A19CA7-1BB8-E7EF-1344-8BEC4A105ABD}"/>
              </a:ext>
            </a:extLst>
          </p:cNvPr>
          <p:cNvSpPr/>
          <p:nvPr/>
        </p:nvSpPr>
        <p:spPr>
          <a:xfrm>
            <a:off x="6144041" y="4909272"/>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📅✍️Appel à compétences spécifiques à l’intérieur ou dans le réseau de la Communauté</a:t>
            </a:r>
          </a:p>
        </p:txBody>
      </p:sp>
      <p:sp>
        <p:nvSpPr>
          <p:cNvPr id="75" name="Rectangle 74">
            <a:extLst>
              <a:ext uri="{FF2B5EF4-FFF2-40B4-BE49-F238E27FC236}">
                <a16:creationId xmlns:a16="http://schemas.microsoft.com/office/drawing/2014/main" id="{35B4EEFA-A03D-B4BB-0692-2D3BB87471A1}"/>
              </a:ext>
            </a:extLst>
          </p:cNvPr>
          <p:cNvSpPr/>
          <p:nvPr/>
        </p:nvSpPr>
        <p:spPr>
          <a:xfrm>
            <a:off x="8487441" y="4909272"/>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📅✍️⚙️Injection de motivation extérieure (galvanisation, soutien moral, obligation, …)</a:t>
            </a:r>
          </a:p>
        </p:txBody>
      </p:sp>
      <p:sp>
        <p:nvSpPr>
          <p:cNvPr id="76" name="Rectangle 75">
            <a:extLst>
              <a:ext uri="{FF2B5EF4-FFF2-40B4-BE49-F238E27FC236}">
                <a16:creationId xmlns:a16="http://schemas.microsoft.com/office/drawing/2014/main" id="{54054218-6EE9-15FA-3284-2041522602D3}"/>
              </a:ext>
            </a:extLst>
          </p:cNvPr>
          <p:cNvSpPr/>
          <p:nvPr/>
        </p:nvSpPr>
        <p:spPr>
          <a:xfrm>
            <a:off x="4960893" y="4909272"/>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📅+⚙️Evènements plus courts ou déplacés à des créneaux de meilleure attention</a:t>
            </a:r>
          </a:p>
        </p:txBody>
      </p:sp>
      <p:sp>
        <p:nvSpPr>
          <p:cNvPr id="79" name="Rectangle 78">
            <a:extLst>
              <a:ext uri="{FF2B5EF4-FFF2-40B4-BE49-F238E27FC236}">
                <a16:creationId xmlns:a16="http://schemas.microsoft.com/office/drawing/2014/main" id="{38E853E6-AC7E-F003-339B-329294CF6C69}"/>
              </a:ext>
            </a:extLst>
          </p:cNvPr>
          <p:cNvSpPr/>
          <p:nvPr/>
        </p:nvSpPr>
        <p:spPr>
          <a:xfrm>
            <a:off x="9672592" y="4909272"/>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⚙️Recrutement ou sollicitation d’un opposant extérieur pour prise de recul et équilibrage (faire des opposants des alliés)</a:t>
            </a:r>
          </a:p>
        </p:txBody>
      </p:sp>
      <p:sp>
        <p:nvSpPr>
          <p:cNvPr id="83" name="Rectangle 82">
            <a:extLst>
              <a:ext uri="{FF2B5EF4-FFF2-40B4-BE49-F238E27FC236}">
                <a16:creationId xmlns:a16="http://schemas.microsoft.com/office/drawing/2014/main" id="{31D084CD-ABA4-DF1A-2EAC-E456F71D8C49}"/>
              </a:ext>
            </a:extLst>
          </p:cNvPr>
          <p:cNvSpPr/>
          <p:nvPr/>
        </p:nvSpPr>
        <p:spPr>
          <a:xfrm>
            <a:off x="8487441" y="5701581"/>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📅✍️Demande de confirmation « à froid » de la volonté de construire une Communauté et de fournir l’engagement</a:t>
            </a:r>
          </a:p>
        </p:txBody>
      </p:sp>
      <p:sp>
        <p:nvSpPr>
          <p:cNvPr id="84" name="Rectangle 83">
            <a:extLst>
              <a:ext uri="{FF2B5EF4-FFF2-40B4-BE49-F238E27FC236}">
                <a16:creationId xmlns:a16="http://schemas.microsoft.com/office/drawing/2014/main" id="{A4443728-F072-A6AA-7F45-AF05C1088980}"/>
              </a:ext>
            </a:extLst>
          </p:cNvPr>
          <p:cNvSpPr/>
          <p:nvPr/>
        </p:nvSpPr>
        <p:spPr>
          <a:xfrm>
            <a:off x="4960893" y="5701581"/>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✍️+⚙️Contenus plus courts ou adaptés pour nécessiter moins de concentration</a:t>
            </a:r>
          </a:p>
        </p:txBody>
      </p:sp>
      <p:sp>
        <p:nvSpPr>
          <p:cNvPr id="85" name="Rectangle 84">
            <a:extLst>
              <a:ext uri="{FF2B5EF4-FFF2-40B4-BE49-F238E27FC236}">
                <a16:creationId xmlns:a16="http://schemas.microsoft.com/office/drawing/2014/main" id="{8B378FCC-37AB-8B21-EDB2-928899FE429B}"/>
              </a:ext>
            </a:extLst>
          </p:cNvPr>
          <p:cNvSpPr/>
          <p:nvPr/>
        </p:nvSpPr>
        <p:spPr>
          <a:xfrm>
            <a:off x="9672592" y="5701581"/>
            <a:ext cx="1107924" cy="7281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⚙️Utiliser l’existence de l’opposition pour fortifier la Communauté et clarifier sa démarche</a:t>
            </a:r>
          </a:p>
        </p:txBody>
      </p:sp>
    </p:spTree>
    <p:extLst>
      <p:ext uri="{BB962C8B-B14F-4D97-AF65-F5344CB8AC3E}">
        <p14:creationId xmlns:p14="http://schemas.microsoft.com/office/powerpoint/2010/main" val="190912288"/>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DEE560F-324E-9A1E-9A7A-807B5D33F118}"/>
              </a:ext>
            </a:extLst>
          </p:cNvPr>
          <p:cNvSpPr>
            <a:spLocks noGrp="1"/>
          </p:cNvSpPr>
          <p:nvPr>
            <p:ph type="title"/>
          </p:nvPr>
        </p:nvSpPr>
        <p:spPr>
          <a:xfrm>
            <a:off x="838200" y="365126"/>
            <a:ext cx="10515600" cy="731662"/>
          </a:xfrm>
        </p:spPr>
        <p:txBody>
          <a:bodyPr>
            <a:noAutofit/>
          </a:bodyPr>
          <a:lstStyle/>
          <a:p>
            <a:r>
              <a:rPr lang="fr-FR" sz="2800" dirty="0"/>
              <a:t>Les blocages liés à la mise en commun </a:t>
            </a:r>
            <a:br>
              <a:rPr lang="fr-FR" sz="2800" dirty="0"/>
            </a:br>
            <a:r>
              <a:rPr lang="fr-FR" sz="2800" dirty="0"/>
              <a:t>Liste d’exemples</a:t>
            </a:r>
          </a:p>
        </p:txBody>
      </p:sp>
      <p:pic>
        <p:nvPicPr>
          <p:cNvPr id="105" name="Graphique 104" descr="Boîte à archives avec un remplissage uni">
            <a:extLst>
              <a:ext uri="{FF2B5EF4-FFF2-40B4-BE49-F238E27FC236}">
                <a16:creationId xmlns:a16="http://schemas.microsoft.com/office/drawing/2014/main" id="{A9299BCC-08BA-5CE1-B0BC-8E9E0DAE5C3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94360" y="415543"/>
            <a:ext cx="640022" cy="640024"/>
          </a:xfrm>
          <a:prstGeom prst="rect">
            <a:avLst/>
          </a:prstGeom>
        </p:spPr>
      </p:pic>
      <p:sp>
        <p:nvSpPr>
          <p:cNvPr id="227" name="Flèche : haut 226">
            <a:extLst>
              <a:ext uri="{FF2B5EF4-FFF2-40B4-BE49-F238E27FC236}">
                <a16:creationId xmlns:a16="http://schemas.microsoft.com/office/drawing/2014/main" id="{D6A9CEC8-07B6-821F-08F5-A42A524EC2E5}"/>
              </a:ext>
            </a:extLst>
          </p:cNvPr>
          <p:cNvSpPr/>
          <p:nvPr/>
        </p:nvSpPr>
        <p:spPr>
          <a:xfrm>
            <a:off x="2824882" y="1498712"/>
            <a:ext cx="304800" cy="509790"/>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 name="Groupe 227">
            <a:extLst>
              <a:ext uri="{FF2B5EF4-FFF2-40B4-BE49-F238E27FC236}">
                <a16:creationId xmlns:a16="http://schemas.microsoft.com/office/drawing/2014/main" id="{4CCAB621-4C8F-ED3B-B7C5-2F4F78377598}"/>
              </a:ext>
            </a:extLst>
          </p:cNvPr>
          <p:cNvGrpSpPr/>
          <p:nvPr/>
        </p:nvGrpSpPr>
        <p:grpSpPr>
          <a:xfrm>
            <a:off x="1898211" y="1642069"/>
            <a:ext cx="642859" cy="541981"/>
            <a:chOff x="1797480" y="1339838"/>
            <a:chExt cx="1507135" cy="1270634"/>
          </a:xfrm>
        </p:grpSpPr>
        <p:grpSp>
          <p:nvGrpSpPr>
            <p:cNvPr id="229" name="Groupe 228">
              <a:extLst>
                <a:ext uri="{FF2B5EF4-FFF2-40B4-BE49-F238E27FC236}">
                  <a16:creationId xmlns:a16="http://schemas.microsoft.com/office/drawing/2014/main" id="{C0C8AE18-ACEA-238A-13DF-001AB1D969E8}"/>
                </a:ext>
              </a:extLst>
            </p:cNvPr>
            <p:cNvGrpSpPr/>
            <p:nvPr/>
          </p:nvGrpSpPr>
          <p:grpSpPr>
            <a:xfrm>
              <a:off x="1797480" y="1339838"/>
              <a:ext cx="1507135" cy="1270634"/>
              <a:chOff x="8982504" y="3274976"/>
              <a:chExt cx="1230670" cy="1037553"/>
            </a:xfrm>
            <a:solidFill>
              <a:srgbClr val="ED7D31"/>
            </a:solidFill>
          </p:grpSpPr>
          <p:pic>
            <p:nvPicPr>
              <p:cNvPr id="231" name="Graphique 230" descr="Utilisateur avec un remplissage uni">
                <a:extLst>
                  <a:ext uri="{FF2B5EF4-FFF2-40B4-BE49-F238E27FC236}">
                    <a16:creationId xmlns:a16="http://schemas.microsoft.com/office/drawing/2014/main" id="{961884A5-13E1-2C79-EA6F-6EFF0B27734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32" name="Graphique 231" descr="Utilisateur avec un remplissage uni">
                <a:extLst>
                  <a:ext uri="{FF2B5EF4-FFF2-40B4-BE49-F238E27FC236}">
                    <a16:creationId xmlns:a16="http://schemas.microsoft.com/office/drawing/2014/main" id="{A19765D6-4776-EBAA-0199-EF5C1BCACD2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33" name="Graphique 232" descr="Utilisateur avec un remplissage uni">
                <a:extLst>
                  <a:ext uri="{FF2B5EF4-FFF2-40B4-BE49-F238E27FC236}">
                    <a16:creationId xmlns:a16="http://schemas.microsoft.com/office/drawing/2014/main" id="{95F46942-2E9E-C0E1-AA6A-41BAFCE8B9D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34" name="Graphique 233" descr="Utilisateur avec un remplissage uni">
                <a:extLst>
                  <a:ext uri="{FF2B5EF4-FFF2-40B4-BE49-F238E27FC236}">
                    <a16:creationId xmlns:a16="http://schemas.microsoft.com/office/drawing/2014/main" id="{7F3C4C31-4256-DAF1-55A8-94D870D42D5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35" name="Graphique 234" descr="Utilisateur avec un remplissage uni">
                <a:extLst>
                  <a:ext uri="{FF2B5EF4-FFF2-40B4-BE49-F238E27FC236}">
                    <a16:creationId xmlns:a16="http://schemas.microsoft.com/office/drawing/2014/main" id="{8AF2340F-23B0-35DA-972A-4A87690783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36" name="Graphique 235" descr="Utilisateur avec un remplissage uni">
                <a:extLst>
                  <a:ext uri="{FF2B5EF4-FFF2-40B4-BE49-F238E27FC236}">
                    <a16:creationId xmlns:a16="http://schemas.microsoft.com/office/drawing/2014/main" id="{7CCA7FD4-3412-7B21-A12B-6537373DE9B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37" name="Graphique 236" descr="Utilisateur avec un remplissage uni">
                <a:extLst>
                  <a:ext uri="{FF2B5EF4-FFF2-40B4-BE49-F238E27FC236}">
                    <a16:creationId xmlns:a16="http://schemas.microsoft.com/office/drawing/2014/main" id="{F6A04D32-5145-A6B0-8263-B73A88BC35F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38" name="Graphique 237" descr="Utilisateur avec un remplissage uni">
                <a:extLst>
                  <a:ext uri="{FF2B5EF4-FFF2-40B4-BE49-F238E27FC236}">
                    <a16:creationId xmlns:a16="http://schemas.microsoft.com/office/drawing/2014/main" id="{906197CE-4915-FA68-EBC8-C902EC05154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39" name="Graphique 238" descr="Utilisateur avec un remplissage uni">
                <a:extLst>
                  <a:ext uri="{FF2B5EF4-FFF2-40B4-BE49-F238E27FC236}">
                    <a16:creationId xmlns:a16="http://schemas.microsoft.com/office/drawing/2014/main" id="{F0BA33DC-0A85-5B87-B9FC-D89D857331A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40" name="Graphique 239" descr="Utilisateur avec un remplissage uni">
                <a:extLst>
                  <a:ext uri="{FF2B5EF4-FFF2-40B4-BE49-F238E27FC236}">
                    <a16:creationId xmlns:a16="http://schemas.microsoft.com/office/drawing/2014/main" id="{797F8792-F559-7D5F-BB54-D499989FB67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41" name="Graphique 240" descr="Utilisateur avec un remplissage uni">
                <a:extLst>
                  <a:ext uri="{FF2B5EF4-FFF2-40B4-BE49-F238E27FC236}">
                    <a16:creationId xmlns:a16="http://schemas.microsoft.com/office/drawing/2014/main" id="{D9F4644D-964B-9650-D118-4C46C6B43F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230" name="Graphique 229" descr="Boîte à archives avec un remplissage uni">
              <a:extLst>
                <a:ext uri="{FF2B5EF4-FFF2-40B4-BE49-F238E27FC236}">
                  <a16:creationId xmlns:a16="http://schemas.microsoft.com/office/drawing/2014/main" id="{F2C0BFAA-3A34-2382-6449-D64E2DC9D8C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164013" y="1631780"/>
              <a:ext cx="795090" cy="795090"/>
            </a:xfrm>
            <a:prstGeom prst="rect">
              <a:avLst/>
            </a:prstGeom>
          </p:spPr>
        </p:pic>
      </p:grpSp>
      <p:grpSp>
        <p:nvGrpSpPr>
          <p:cNvPr id="242" name="Groupe 241">
            <a:extLst>
              <a:ext uri="{FF2B5EF4-FFF2-40B4-BE49-F238E27FC236}">
                <a16:creationId xmlns:a16="http://schemas.microsoft.com/office/drawing/2014/main" id="{6983C7E9-6A35-3EF7-B31F-7333F81008E0}"/>
              </a:ext>
            </a:extLst>
          </p:cNvPr>
          <p:cNvGrpSpPr/>
          <p:nvPr/>
        </p:nvGrpSpPr>
        <p:grpSpPr>
          <a:xfrm>
            <a:off x="1668227" y="2271955"/>
            <a:ext cx="928257" cy="541981"/>
            <a:chOff x="1797480" y="1339838"/>
            <a:chExt cx="2176227" cy="1270634"/>
          </a:xfrm>
        </p:grpSpPr>
        <p:grpSp>
          <p:nvGrpSpPr>
            <p:cNvPr id="243" name="Groupe 242">
              <a:extLst>
                <a:ext uri="{FF2B5EF4-FFF2-40B4-BE49-F238E27FC236}">
                  <a16:creationId xmlns:a16="http://schemas.microsoft.com/office/drawing/2014/main" id="{81E1525A-69FA-E88B-21B7-249931F65ADD}"/>
                </a:ext>
              </a:extLst>
            </p:cNvPr>
            <p:cNvGrpSpPr/>
            <p:nvPr/>
          </p:nvGrpSpPr>
          <p:grpSpPr>
            <a:xfrm>
              <a:off x="1797480" y="1339838"/>
              <a:ext cx="1507135" cy="1270634"/>
              <a:chOff x="8982504" y="3274976"/>
              <a:chExt cx="1230670" cy="1037553"/>
            </a:xfrm>
            <a:solidFill>
              <a:srgbClr val="ED7D31"/>
            </a:solidFill>
          </p:grpSpPr>
          <p:pic>
            <p:nvPicPr>
              <p:cNvPr id="245" name="Graphique 244" descr="Utilisateur avec un remplissage uni">
                <a:extLst>
                  <a:ext uri="{FF2B5EF4-FFF2-40B4-BE49-F238E27FC236}">
                    <a16:creationId xmlns:a16="http://schemas.microsoft.com/office/drawing/2014/main" id="{C7A95237-6E74-F91D-29A9-1C4A34204D9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46" name="Graphique 245" descr="Utilisateur avec un remplissage uni">
                <a:extLst>
                  <a:ext uri="{FF2B5EF4-FFF2-40B4-BE49-F238E27FC236}">
                    <a16:creationId xmlns:a16="http://schemas.microsoft.com/office/drawing/2014/main" id="{02F00ED3-62F1-D791-2939-450B1680AEF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47" name="Graphique 246" descr="Utilisateur avec un remplissage uni">
                <a:extLst>
                  <a:ext uri="{FF2B5EF4-FFF2-40B4-BE49-F238E27FC236}">
                    <a16:creationId xmlns:a16="http://schemas.microsoft.com/office/drawing/2014/main" id="{D7D51034-8472-70FF-AEDE-4800DBA9E44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48" name="Graphique 247" descr="Utilisateur avec un remplissage uni">
                <a:extLst>
                  <a:ext uri="{FF2B5EF4-FFF2-40B4-BE49-F238E27FC236}">
                    <a16:creationId xmlns:a16="http://schemas.microsoft.com/office/drawing/2014/main" id="{AFBC2558-775D-2FFA-21F0-AF7E32157C5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49" name="Graphique 248" descr="Utilisateur avec un remplissage uni">
                <a:extLst>
                  <a:ext uri="{FF2B5EF4-FFF2-40B4-BE49-F238E27FC236}">
                    <a16:creationId xmlns:a16="http://schemas.microsoft.com/office/drawing/2014/main" id="{BF4044A9-6806-2D54-A58A-4624CAE70B5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50" name="Graphique 249" descr="Utilisateur avec un remplissage uni">
                <a:extLst>
                  <a:ext uri="{FF2B5EF4-FFF2-40B4-BE49-F238E27FC236}">
                    <a16:creationId xmlns:a16="http://schemas.microsoft.com/office/drawing/2014/main" id="{0C0D9D67-D7E3-03E2-1025-CDADFAA52A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51" name="Graphique 250" descr="Utilisateur avec un remplissage uni">
                <a:extLst>
                  <a:ext uri="{FF2B5EF4-FFF2-40B4-BE49-F238E27FC236}">
                    <a16:creationId xmlns:a16="http://schemas.microsoft.com/office/drawing/2014/main" id="{443961E4-9B5B-1B75-33E4-DAFDD7E1CD2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52" name="Graphique 251" descr="Utilisateur avec un remplissage uni">
                <a:extLst>
                  <a:ext uri="{FF2B5EF4-FFF2-40B4-BE49-F238E27FC236}">
                    <a16:creationId xmlns:a16="http://schemas.microsoft.com/office/drawing/2014/main" id="{0A5755EA-2C19-9D46-3995-FC95AE28D3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53" name="Graphique 252" descr="Utilisateur avec un remplissage uni">
                <a:extLst>
                  <a:ext uri="{FF2B5EF4-FFF2-40B4-BE49-F238E27FC236}">
                    <a16:creationId xmlns:a16="http://schemas.microsoft.com/office/drawing/2014/main" id="{D2264F95-9F8F-C7F8-0D74-770F230B806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54" name="Graphique 253" descr="Utilisateur avec un remplissage uni">
                <a:extLst>
                  <a:ext uri="{FF2B5EF4-FFF2-40B4-BE49-F238E27FC236}">
                    <a16:creationId xmlns:a16="http://schemas.microsoft.com/office/drawing/2014/main" id="{B3596EB2-E596-E9C6-8E49-8C299F18ADE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55" name="Graphique 254" descr="Utilisateur avec un remplissage uni">
                <a:extLst>
                  <a:ext uri="{FF2B5EF4-FFF2-40B4-BE49-F238E27FC236}">
                    <a16:creationId xmlns:a16="http://schemas.microsoft.com/office/drawing/2014/main" id="{E0B8AA25-DD8B-2AED-966F-30047AEE0F8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244" name="Graphique 243" descr="Boîte à archives avec un remplissage uni">
              <a:extLst>
                <a:ext uri="{FF2B5EF4-FFF2-40B4-BE49-F238E27FC236}">
                  <a16:creationId xmlns:a16="http://schemas.microsoft.com/office/drawing/2014/main" id="{CBB5739B-64C3-7C80-0E9C-54FF5DF1A50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178618" y="1572578"/>
              <a:ext cx="795089" cy="795090"/>
            </a:xfrm>
            <a:prstGeom prst="rect">
              <a:avLst/>
            </a:prstGeom>
          </p:spPr>
        </p:pic>
      </p:grpSp>
      <p:grpSp>
        <p:nvGrpSpPr>
          <p:cNvPr id="256" name="Groupe 255">
            <a:extLst>
              <a:ext uri="{FF2B5EF4-FFF2-40B4-BE49-F238E27FC236}">
                <a16:creationId xmlns:a16="http://schemas.microsoft.com/office/drawing/2014/main" id="{1A3A47AD-407C-8FB4-D138-42166ACB7118}"/>
              </a:ext>
            </a:extLst>
          </p:cNvPr>
          <p:cNvGrpSpPr/>
          <p:nvPr/>
        </p:nvGrpSpPr>
        <p:grpSpPr>
          <a:xfrm>
            <a:off x="1668227" y="3050487"/>
            <a:ext cx="1104068" cy="541981"/>
            <a:chOff x="1797481" y="3401554"/>
            <a:chExt cx="1314902" cy="645478"/>
          </a:xfrm>
        </p:grpSpPr>
        <p:grpSp>
          <p:nvGrpSpPr>
            <p:cNvPr id="257" name="Groupe 256">
              <a:extLst>
                <a:ext uri="{FF2B5EF4-FFF2-40B4-BE49-F238E27FC236}">
                  <a16:creationId xmlns:a16="http://schemas.microsoft.com/office/drawing/2014/main" id="{B29DB065-693B-7223-5270-F8F76E53CC2E}"/>
                </a:ext>
              </a:extLst>
            </p:cNvPr>
            <p:cNvGrpSpPr/>
            <p:nvPr/>
          </p:nvGrpSpPr>
          <p:grpSpPr>
            <a:xfrm>
              <a:off x="1797481" y="3401554"/>
              <a:ext cx="1314902" cy="645478"/>
              <a:chOff x="1797480" y="1339838"/>
              <a:chExt cx="2588405" cy="1270634"/>
            </a:xfrm>
          </p:grpSpPr>
          <p:grpSp>
            <p:nvGrpSpPr>
              <p:cNvPr id="259" name="Groupe 258">
                <a:extLst>
                  <a:ext uri="{FF2B5EF4-FFF2-40B4-BE49-F238E27FC236}">
                    <a16:creationId xmlns:a16="http://schemas.microsoft.com/office/drawing/2014/main" id="{62679141-01B2-C7DD-6E08-5D247E9B60C6}"/>
                  </a:ext>
                </a:extLst>
              </p:cNvPr>
              <p:cNvGrpSpPr/>
              <p:nvPr/>
            </p:nvGrpSpPr>
            <p:grpSpPr>
              <a:xfrm>
                <a:off x="1797480" y="1339838"/>
                <a:ext cx="1507135" cy="1270634"/>
                <a:chOff x="8982504" y="3274976"/>
                <a:chExt cx="1230670" cy="1037553"/>
              </a:xfrm>
              <a:solidFill>
                <a:srgbClr val="ED7D31"/>
              </a:solidFill>
            </p:grpSpPr>
            <p:pic>
              <p:nvPicPr>
                <p:cNvPr id="261" name="Graphique 260" descr="Utilisateur avec un remplissage uni">
                  <a:extLst>
                    <a:ext uri="{FF2B5EF4-FFF2-40B4-BE49-F238E27FC236}">
                      <a16:creationId xmlns:a16="http://schemas.microsoft.com/office/drawing/2014/main" id="{4F72DA53-3CA1-96C4-BC5E-A00391E44D2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62" name="Graphique 261" descr="Utilisateur avec un remplissage uni">
                  <a:extLst>
                    <a:ext uri="{FF2B5EF4-FFF2-40B4-BE49-F238E27FC236}">
                      <a16:creationId xmlns:a16="http://schemas.microsoft.com/office/drawing/2014/main" id="{AB056DC1-E4BA-DD92-8050-BA5E6BC7E62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63" name="Graphique 262" descr="Utilisateur avec un remplissage uni">
                  <a:extLst>
                    <a:ext uri="{FF2B5EF4-FFF2-40B4-BE49-F238E27FC236}">
                      <a16:creationId xmlns:a16="http://schemas.microsoft.com/office/drawing/2014/main" id="{360108EE-4E00-20D2-991D-8F1298885D8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64" name="Graphique 263" descr="Utilisateur avec un remplissage uni">
                  <a:extLst>
                    <a:ext uri="{FF2B5EF4-FFF2-40B4-BE49-F238E27FC236}">
                      <a16:creationId xmlns:a16="http://schemas.microsoft.com/office/drawing/2014/main" id="{15A82A1B-485E-35DE-6993-2C1E8B45101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65" name="Graphique 264" descr="Utilisateur avec un remplissage uni">
                  <a:extLst>
                    <a:ext uri="{FF2B5EF4-FFF2-40B4-BE49-F238E27FC236}">
                      <a16:creationId xmlns:a16="http://schemas.microsoft.com/office/drawing/2014/main" id="{46113290-7FE1-F480-CDCC-1852697D859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66" name="Graphique 265" descr="Utilisateur avec un remplissage uni">
                  <a:extLst>
                    <a:ext uri="{FF2B5EF4-FFF2-40B4-BE49-F238E27FC236}">
                      <a16:creationId xmlns:a16="http://schemas.microsoft.com/office/drawing/2014/main" id="{CAFDD51A-BAA6-A57F-59E4-37A141B9F5E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67" name="Graphique 266" descr="Utilisateur avec un remplissage uni">
                  <a:extLst>
                    <a:ext uri="{FF2B5EF4-FFF2-40B4-BE49-F238E27FC236}">
                      <a16:creationId xmlns:a16="http://schemas.microsoft.com/office/drawing/2014/main" id="{D7A6A62C-5341-FF84-0636-E2CCBAF9AAE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68" name="Graphique 267" descr="Utilisateur avec un remplissage uni">
                  <a:extLst>
                    <a:ext uri="{FF2B5EF4-FFF2-40B4-BE49-F238E27FC236}">
                      <a16:creationId xmlns:a16="http://schemas.microsoft.com/office/drawing/2014/main" id="{95025093-1B3D-5CE4-3E44-B3860982D91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69" name="Graphique 268" descr="Utilisateur avec un remplissage uni">
                  <a:extLst>
                    <a:ext uri="{FF2B5EF4-FFF2-40B4-BE49-F238E27FC236}">
                      <a16:creationId xmlns:a16="http://schemas.microsoft.com/office/drawing/2014/main" id="{C4815A5B-4E97-CC19-40C6-6154E265666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70" name="Graphique 269" descr="Utilisateur avec un remplissage uni">
                  <a:extLst>
                    <a:ext uri="{FF2B5EF4-FFF2-40B4-BE49-F238E27FC236}">
                      <a16:creationId xmlns:a16="http://schemas.microsoft.com/office/drawing/2014/main" id="{9E849CE3-D7BA-5F84-B483-3901F8264E9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71" name="Graphique 270" descr="Utilisateur avec un remplissage uni">
                  <a:extLst>
                    <a:ext uri="{FF2B5EF4-FFF2-40B4-BE49-F238E27FC236}">
                      <a16:creationId xmlns:a16="http://schemas.microsoft.com/office/drawing/2014/main" id="{17BDCB4B-A1D8-88F8-03D4-B371C36C1A6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260" name="Graphique 259" descr="Boîte à archives avec un remplissage uni">
                <a:extLst>
                  <a:ext uri="{FF2B5EF4-FFF2-40B4-BE49-F238E27FC236}">
                    <a16:creationId xmlns:a16="http://schemas.microsoft.com/office/drawing/2014/main" id="{195B2ABE-ED1E-B98E-66CA-EF5C0ECA7AE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590796" y="1573442"/>
                <a:ext cx="795089" cy="795090"/>
              </a:xfrm>
              <a:prstGeom prst="rect">
                <a:avLst/>
              </a:prstGeom>
            </p:spPr>
          </p:pic>
        </p:grpSp>
        <p:pic>
          <p:nvPicPr>
            <p:cNvPr id="258" name="Graphique 257" descr="Déverrouiller avec un remplissage uni">
              <a:extLst>
                <a:ext uri="{FF2B5EF4-FFF2-40B4-BE49-F238E27FC236}">
                  <a16:creationId xmlns:a16="http://schemas.microsoft.com/office/drawing/2014/main" id="{2FA07004-6D0A-7122-4E1A-CBD164D512D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flipH="1">
              <a:off x="2498111" y="3408841"/>
              <a:ext cx="432779" cy="462545"/>
            </a:xfrm>
            <a:prstGeom prst="rect">
              <a:avLst/>
            </a:prstGeom>
          </p:spPr>
        </p:pic>
      </p:grpSp>
      <p:grpSp>
        <p:nvGrpSpPr>
          <p:cNvPr id="272" name="Groupe 271">
            <a:extLst>
              <a:ext uri="{FF2B5EF4-FFF2-40B4-BE49-F238E27FC236}">
                <a16:creationId xmlns:a16="http://schemas.microsoft.com/office/drawing/2014/main" id="{1B10535C-0E34-DA35-112D-1B45E7CB95CE}"/>
              </a:ext>
            </a:extLst>
          </p:cNvPr>
          <p:cNvGrpSpPr/>
          <p:nvPr/>
        </p:nvGrpSpPr>
        <p:grpSpPr>
          <a:xfrm>
            <a:off x="1670855" y="3767932"/>
            <a:ext cx="1104068" cy="541981"/>
            <a:chOff x="1800611" y="4256002"/>
            <a:chExt cx="1314902" cy="645478"/>
          </a:xfrm>
        </p:grpSpPr>
        <p:grpSp>
          <p:nvGrpSpPr>
            <p:cNvPr id="273" name="Groupe 272">
              <a:extLst>
                <a:ext uri="{FF2B5EF4-FFF2-40B4-BE49-F238E27FC236}">
                  <a16:creationId xmlns:a16="http://schemas.microsoft.com/office/drawing/2014/main" id="{76DAFA0A-985F-0D4B-0004-13F4500EC20C}"/>
                </a:ext>
              </a:extLst>
            </p:cNvPr>
            <p:cNvGrpSpPr/>
            <p:nvPr/>
          </p:nvGrpSpPr>
          <p:grpSpPr>
            <a:xfrm>
              <a:off x="1800611" y="4256002"/>
              <a:ext cx="1314902" cy="645478"/>
              <a:chOff x="1797480" y="1339838"/>
              <a:chExt cx="2588405" cy="1270634"/>
            </a:xfrm>
          </p:grpSpPr>
          <p:grpSp>
            <p:nvGrpSpPr>
              <p:cNvPr id="275" name="Groupe 274">
                <a:extLst>
                  <a:ext uri="{FF2B5EF4-FFF2-40B4-BE49-F238E27FC236}">
                    <a16:creationId xmlns:a16="http://schemas.microsoft.com/office/drawing/2014/main" id="{D183099B-29AD-6FF2-EA98-6C91DBD1F75F}"/>
                  </a:ext>
                </a:extLst>
              </p:cNvPr>
              <p:cNvGrpSpPr/>
              <p:nvPr/>
            </p:nvGrpSpPr>
            <p:grpSpPr>
              <a:xfrm>
                <a:off x="1797480" y="1339838"/>
                <a:ext cx="1507135" cy="1270634"/>
                <a:chOff x="8982504" y="3274976"/>
                <a:chExt cx="1230670" cy="1037553"/>
              </a:xfrm>
              <a:solidFill>
                <a:srgbClr val="ED7D31"/>
              </a:solidFill>
            </p:grpSpPr>
            <p:pic>
              <p:nvPicPr>
                <p:cNvPr id="277" name="Graphique 276" descr="Utilisateur avec un remplissage uni">
                  <a:extLst>
                    <a:ext uri="{FF2B5EF4-FFF2-40B4-BE49-F238E27FC236}">
                      <a16:creationId xmlns:a16="http://schemas.microsoft.com/office/drawing/2014/main" id="{0A777443-2CAC-8821-EFCC-EAACCFD709F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78" name="Graphique 277" descr="Utilisateur avec un remplissage uni">
                  <a:extLst>
                    <a:ext uri="{FF2B5EF4-FFF2-40B4-BE49-F238E27FC236}">
                      <a16:creationId xmlns:a16="http://schemas.microsoft.com/office/drawing/2014/main" id="{63917D9F-BEB7-8858-9190-84876E028D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79" name="Graphique 278" descr="Utilisateur avec un remplissage uni">
                  <a:extLst>
                    <a:ext uri="{FF2B5EF4-FFF2-40B4-BE49-F238E27FC236}">
                      <a16:creationId xmlns:a16="http://schemas.microsoft.com/office/drawing/2014/main" id="{4E46DFF2-8750-2F6B-2D93-6CEC4456251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80" name="Graphique 279" descr="Utilisateur avec un remplissage uni">
                  <a:extLst>
                    <a:ext uri="{FF2B5EF4-FFF2-40B4-BE49-F238E27FC236}">
                      <a16:creationId xmlns:a16="http://schemas.microsoft.com/office/drawing/2014/main" id="{C5CDC82D-64BD-3FB6-537E-728842ACE7F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81" name="Graphique 280" descr="Utilisateur avec un remplissage uni">
                  <a:extLst>
                    <a:ext uri="{FF2B5EF4-FFF2-40B4-BE49-F238E27FC236}">
                      <a16:creationId xmlns:a16="http://schemas.microsoft.com/office/drawing/2014/main" id="{B6FA6789-D6F4-9603-FB68-ADC8D7835E4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82" name="Graphique 281" descr="Utilisateur avec un remplissage uni">
                  <a:extLst>
                    <a:ext uri="{FF2B5EF4-FFF2-40B4-BE49-F238E27FC236}">
                      <a16:creationId xmlns:a16="http://schemas.microsoft.com/office/drawing/2014/main" id="{43A2748D-3E46-8EB0-28A3-D2800F94B0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83" name="Graphique 282" descr="Utilisateur avec un remplissage uni">
                  <a:extLst>
                    <a:ext uri="{FF2B5EF4-FFF2-40B4-BE49-F238E27FC236}">
                      <a16:creationId xmlns:a16="http://schemas.microsoft.com/office/drawing/2014/main" id="{C5E16C21-5644-5A19-30D0-7B703B6F877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84" name="Graphique 283" descr="Utilisateur avec un remplissage uni">
                  <a:extLst>
                    <a:ext uri="{FF2B5EF4-FFF2-40B4-BE49-F238E27FC236}">
                      <a16:creationId xmlns:a16="http://schemas.microsoft.com/office/drawing/2014/main" id="{F13CD570-9942-7F46-662E-48EB75962F5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85" name="Graphique 284" descr="Utilisateur avec un remplissage uni">
                  <a:extLst>
                    <a:ext uri="{FF2B5EF4-FFF2-40B4-BE49-F238E27FC236}">
                      <a16:creationId xmlns:a16="http://schemas.microsoft.com/office/drawing/2014/main" id="{E856C12F-74F7-8439-1104-233A566F743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86" name="Graphique 285" descr="Utilisateur avec un remplissage uni">
                  <a:extLst>
                    <a:ext uri="{FF2B5EF4-FFF2-40B4-BE49-F238E27FC236}">
                      <a16:creationId xmlns:a16="http://schemas.microsoft.com/office/drawing/2014/main" id="{252DE396-BEB7-6BF3-A421-92E2BC84A3E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87" name="Graphique 286" descr="Utilisateur avec un remplissage uni">
                  <a:extLst>
                    <a:ext uri="{FF2B5EF4-FFF2-40B4-BE49-F238E27FC236}">
                      <a16:creationId xmlns:a16="http://schemas.microsoft.com/office/drawing/2014/main" id="{35527940-F175-EEEA-5971-CF2F0525BA1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276" name="Graphique 275" descr="Boîte à archives avec un remplissage uni">
                <a:extLst>
                  <a:ext uri="{FF2B5EF4-FFF2-40B4-BE49-F238E27FC236}">
                    <a16:creationId xmlns:a16="http://schemas.microsoft.com/office/drawing/2014/main" id="{E8227EAE-5823-0041-3C09-EFBB7CAE36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590796" y="1573442"/>
                <a:ext cx="795089" cy="795090"/>
              </a:xfrm>
              <a:prstGeom prst="rect">
                <a:avLst/>
              </a:prstGeom>
            </p:spPr>
          </p:pic>
        </p:grpSp>
        <p:pic>
          <p:nvPicPr>
            <p:cNvPr id="274" name="Graphique 273" descr="Verrou avec un remplissage uni">
              <a:extLst>
                <a:ext uri="{FF2B5EF4-FFF2-40B4-BE49-F238E27FC236}">
                  <a16:creationId xmlns:a16="http://schemas.microsoft.com/office/drawing/2014/main" id="{8A65D805-C52C-2DD0-363D-3EBA6FB1696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493236" y="4290370"/>
              <a:ext cx="466725" cy="466725"/>
            </a:xfrm>
            <a:prstGeom prst="rect">
              <a:avLst/>
            </a:prstGeom>
          </p:spPr>
        </p:pic>
      </p:grpSp>
      <p:grpSp>
        <p:nvGrpSpPr>
          <p:cNvPr id="288" name="Groupe 287">
            <a:extLst>
              <a:ext uri="{FF2B5EF4-FFF2-40B4-BE49-F238E27FC236}">
                <a16:creationId xmlns:a16="http://schemas.microsoft.com/office/drawing/2014/main" id="{C89FAB4B-645B-0853-A68E-5850293A55DD}"/>
              </a:ext>
            </a:extLst>
          </p:cNvPr>
          <p:cNvGrpSpPr/>
          <p:nvPr/>
        </p:nvGrpSpPr>
        <p:grpSpPr>
          <a:xfrm>
            <a:off x="1655641" y="4362652"/>
            <a:ext cx="1104068" cy="646669"/>
            <a:chOff x="1782492" y="4964291"/>
            <a:chExt cx="1314902" cy="770157"/>
          </a:xfrm>
        </p:grpSpPr>
        <p:grpSp>
          <p:nvGrpSpPr>
            <p:cNvPr id="289" name="Groupe 288">
              <a:extLst>
                <a:ext uri="{FF2B5EF4-FFF2-40B4-BE49-F238E27FC236}">
                  <a16:creationId xmlns:a16="http://schemas.microsoft.com/office/drawing/2014/main" id="{A978D26F-C82F-08C0-4A04-09B63FA825AD}"/>
                </a:ext>
              </a:extLst>
            </p:cNvPr>
            <p:cNvGrpSpPr/>
            <p:nvPr/>
          </p:nvGrpSpPr>
          <p:grpSpPr>
            <a:xfrm>
              <a:off x="1782492" y="5088970"/>
              <a:ext cx="1314902" cy="645478"/>
              <a:chOff x="1797480" y="1339838"/>
              <a:chExt cx="2588405" cy="1270634"/>
            </a:xfrm>
          </p:grpSpPr>
          <p:grpSp>
            <p:nvGrpSpPr>
              <p:cNvPr id="291" name="Groupe 290">
                <a:extLst>
                  <a:ext uri="{FF2B5EF4-FFF2-40B4-BE49-F238E27FC236}">
                    <a16:creationId xmlns:a16="http://schemas.microsoft.com/office/drawing/2014/main" id="{E6A41C15-2D9C-BF68-30B4-5BED979ACD77}"/>
                  </a:ext>
                </a:extLst>
              </p:cNvPr>
              <p:cNvGrpSpPr/>
              <p:nvPr/>
            </p:nvGrpSpPr>
            <p:grpSpPr>
              <a:xfrm>
                <a:off x="1797480" y="1339838"/>
                <a:ext cx="1507135" cy="1270634"/>
                <a:chOff x="8982504" y="3274976"/>
                <a:chExt cx="1230670" cy="1037553"/>
              </a:xfrm>
              <a:solidFill>
                <a:srgbClr val="ED7D31"/>
              </a:solidFill>
            </p:grpSpPr>
            <p:pic>
              <p:nvPicPr>
                <p:cNvPr id="293" name="Graphique 292" descr="Utilisateur avec un remplissage uni">
                  <a:extLst>
                    <a:ext uri="{FF2B5EF4-FFF2-40B4-BE49-F238E27FC236}">
                      <a16:creationId xmlns:a16="http://schemas.microsoft.com/office/drawing/2014/main" id="{0292BF24-097F-F8F1-2992-EFBEB560A63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94" name="Graphique 293" descr="Utilisateur avec un remplissage uni">
                  <a:extLst>
                    <a:ext uri="{FF2B5EF4-FFF2-40B4-BE49-F238E27FC236}">
                      <a16:creationId xmlns:a16="http://schemas.microsoft.com/office/drawing/2014/main" id="{4A5A3DF3-0865-B439-353E-3153158A59E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95" name="Graphique 294" descr="Utilisateur avec un remplissage uni">
                  <a:extLst>
                    <a:ext uri="{FF2B5EF4-FFF2-40B4-BE49-F238E27FC236}">
                      <a16:creationId xmlns:a16="http://schemas.microsoft.com/office/drawing/2014/main" id="{EEBCF807-6D46-B25D-DECA-CDFF075C281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96" name="Graphique 295" descr="Utilisateur avec un remplissage uni">
                  <a:extLst>
                    <a:ext uri="{FF2B5EF4-FFF2-40B4-BE49-F238E27FC236}">
                      <a16:creationId xmlns:a16="http://schemas.microsoft.com/office/drawing/2014/main" id="{6EAE6E15-759E-9BEA-D0A0-F6E008ED1A0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97" name="Graphique 296" descr="Utilisateur avec un remplissage uni">
                  <a:extLst>
                    <a:ext uri="{FF2B5EF4-FFF2-40B4-BE49-F238E27FC236}">
                      <a16:creationId xmlns:a16="http://schemas.microsoft.com/office/drawing/2014/main" id="{86EADC9F-18D6-A31C-6EF8-C466442988B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98" name="Graphique 297" descr="Utilisateur avec un remplissage uni">
                  <a:extLst>
                    <a:ext uri="{FF2B5EF4-FFF2-40B4-BE49-F238E27FC236}">
                      <a16:creationId xmlns:a16="http://schemas.microsoft.com/office/drawing/2014/main" id="{0646735A-283C-80C7-8F3C-E2A848B178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99" name="Graphique 298" descr="Utilisateur avec un remplissage uni">
                  <a:extLst>
                    <a:ext uri="{FF2B5EF4-FFF2-40B4-BE49-F238E27FC236}">
                      <a16:creationId xmlns:a16="http://schemas.microsoft.com/office/drawing/2014/main" id="{8E538753-BF04-5BD6-9B2D-DCF1633E8D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300" name="Graphique 299" descr="Utilisateur avec un remplissage uni">
                  <a:extLst>
                    <a:ext uri="{FF2B5EF4-FFF2-40B4-BE49-F238E27FC236}">
                      <a16:creationId xmlns:a16="http://schemas.microsoft.com/office/drawing/2014/main" id="{43FC6CF1-33F0-8AED-61FE-4D756677A8A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301" name="Graphique 300" descr="Utilisateur avec un remplissage uni">
                  <a:extLst>
                    <a:ext uri="{FF2B5EF4-FFF2-40B4-BE49-F238E27FC236}">
                      <a16:creationId xmlns:a16="http://schemas.microsoft.com/office/drawing/2014/main" id="{D97A6042-2AD8-0DA2-7E7A-D7F3BE5DE0D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302" name="Graphique 301" descr="Utilisateur avec un remplissage uni">
                  <a:extLst>
                    <a:ext uri="{FF2B5EF4-FFF2-40B4-BE49-F238E27FC236}">
                      <a16:creationId xmlns:a16="http://schemas.microsoft.com/office/drawing/2014/main" id="{440B77E5-4CFD-470D-4A9F-A1DFBFE1445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303" name="Graphique 302" descr="Utilisateur avec un remplissage uni">
                  <a:extLst>
                    <a:ext uri="{FF2B5EF4-FFF2-40B4-BE49-F238E27FC236}">
                      <a16:creationId xmlns:a16="http://schemas.microsoft.com/office/drawing/2014/main" id="{495E6B44-A257-7DA6-9540-465885C2E5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292" name="Graphique 291" descr="Boîte à archives avec un remplissage uni">
                <a:extLst>
                  <a:ext uri="{FF2B5EF4-FFF2-40B4-BE49-F238E27FC236}">
                    <a16:creationId xmlns:a16="http://schemas.microsoft.com/office/drawing/2014/main" id="{FA5DFB4D-6112-2E54-49D2-DAF7606108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590796" y="1573442"/>
                <a:ext cx="795089" cy="795090"/>
              </a:xfrm>
              <a:prstGeom prst="rect">
                <a:avLst/>
              </a:prstGeom>
            </p:spPr>
          </p:pic>
        </p:grpSp>
        <p:pic>
          <p:nvPicPr>
            <p:cNvPr id="290" name="Graphique 289" descr="Verrou avec un remplissage uni">
              <a:extLst>
                <a:ext uri="{FF2B5EF4-FFF2-40B4-BE49-F238E27FC236}">
                  <a16:creationId xmlns:a16="http://schemas.microsoft.com/office/drawing/2014/main" id="{80F6E178-6DD6-82D0-E6DD-7D57AD8372E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293077" y="4964291"/>
              <a:ext cx="743725" cy="743725"/>
            </a:xfrm>
            <a:prstGeom prst="rect">
              <a:avLst/>
            </a:prstGeom>
          </p:spPr>
        </p:pic>
      </p:grpSp>
      <p:grpSp>
        <p:nvGrpSpPr>
          <p:cNvPr id="304" name="Groupe 303">
            <a:extLst>
              <a:ext uri="{FF2B5EF4-FFF2-40B4-BE49-F238E27FC236}">
                <a16:creationId xmlns:a16="http://schemas.microsoft.com/office/drawing/2014/main" id="{91A17E42-0481-5E2F-0457-C35B77345B21}"/>
              </a:ext>
            </a:extLst>
          </p:cNvPr>
          <p:cNvGrpSpPr/>
          <p:nvPr/>
        </p:nvGrpSpPr>
        <p:grpSpPr>
          <a:xfrm>
            <a:off x="1649330" y="5965526"/>
            <a:ext cx="1123328" cy="541981"/>
            <a:chOff x="1804205" y="5917781"/>
            <a:chExt cx="1337840" cy="645478"/>
          </a:xfrm>
        </p:grpSpPr>
        <p:grpSp>
          <p:nvGrpSpPr>
            <p:cNvPr id="305" name="Groupe 304">
              <a:extLst>
                <a:ext uri="{FF2B5EF4-FFF2-40B4-BE49-F238E27FC236}">
                  <a16:creationId xmlns:a16="http://schemas.microsoft.com/office/drawing/2014/main" id="{4DD8B2A2-0836-A8B9-2A3C-C5186977A51A}"/>
                </a:ext>
              </a:extLst>
            </p:cNvPr>
            <p:cNvGrpSpPr/>
            <p:nvPr/>
          </p:nvGrpSpPr>
          <p:grpSpPr>
            <a:xfrm>
              <a:off x="1804205" y="5917781"/>
              <a:ext cx="1314902" cy="645478"/>
              <a:chOff x="1797480" y="1339838"/>
              <a:chExt cx="2588405" cy="1270634"/>
            </a:xfrm>
          </p:grpSpPr>
          <p:grpSp>
            <p:nvGrpSpPr>
              <p:cNvPr id="307" name="Groupe 306">
                <a:extLst>
                  <a:ext uri="{FF2B5EF4-FFF2-40B4-BE49-F238E27FC236}">
                    <a16:creationId xmlns:a16="http://schemas.microsoft.com/office/drawing/2014/main" id="{2386A9BC-4421-55AC-2D03-C80C82CF44B8}"/>
                  </a:ext>
                </a:extLst>
              </p:cNvPr>
              <p:cNvGrpSpPr/>
              <p:nvPr/>
            </p:nvGrpSpPr>
            <p:grpSpPr>
              <a:xfrm>
                <a:off x="1797480" y="1339838"/>
                <a:ext cx="1507135" cy="1270634"/>
                <a:chOff x="8982504" y="3274976"/>
                <a:chExt cx="1230670" cy="1037553"/>
              </a:xfrm>
              <a:solidFill>
                <a:srgbClr val="ED7D31"/>
              </a:solidFill>
            </p:grpSpPr>
            <p:pic>
              <p:nvPicPr>
                <p:cNvPr id="309" name="Graphique 308" descr="Utilisateur avec un remplissage uni">
                  <a:extLst>
                    <a:ext uri="{FF2B5EF4-FFF2-40B4-BE49-F238E27FC236}">
                      <a16:creationId xmlns:a16="http://schemas.microsoft.com/office/drawing/2014/main" id="{6DEE67BB-3B55-7A21-4335-A730BFBD262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310" name="Graphique 309" descr="Utilisateur avec un remplissage uni">
                  <a:extLst>
                    <a:ext uri="{FF2B5EF4-FFF2-40B4-BE49-F238E27FC236}">
                      <a16:creationId xmlns:a16="http://schemas.microsoft.com/office/drawing/2014/main" id="{9B46340B-E543-5130-0B9A-B9CE11BB27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311" name="Graphique 310" descr="Utilisateur avec un remplissage uni">
                  <a:extLst>
                    <a:ext uri="{FF2B5EF4-FFF2-40B4-BE49-F238E27FC236}">
                      <a16:creationId xmlns:a16="http://schemas.microsoft.com/office/drawing/2014/main" id="{37BC1BB8-6FCD-4329-11F3-C3AA4C69CE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312" name="Graphique 311" descr="Utilisateur avec un remplissage uni">
                  <a:extLst>
                    <a:ext uri="{FF2B5EF4-FFF2-40B4-BE49-F238E27FC236}">
                      <a16:creationId xmlns:a16="http://schemas.microsoft.com/office/drawing/2014/main" id="{06100E8F-1460-DCBE-0D3E-DC8119705B0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313" name="Graphique 312" descr="Utilisateur avec un remplissage uni">
                  <a:extLst>
                    <a:ext uri="{FF2B5EF4-FFF2-40B4-BE49-F238E27FC236}">
                      <a16:creationId xmlns:a16="http://schemas.microsoft.com/office/drawing/2014/main" id="{F22ADEF7-78AA-F1EE-706A-EAC86967F71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314" name="Graphique 313" descr="Utilisateur avec un remplissage uni">
                  <a:extLst>
                    <a:ext uri="{FF2B5EF4-FFF2-40B4-BE49-F238E27FC236}">
                      <a16:creationId xmlns:a16="http://schemas.microsoft.com/office/drawing/2014/main" id="{77BAD8A9-B8D4-40AC-3DE5-1599D9BBB7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315" name="Graphique 314" descr="Utilisateur avec un remplissage uni">
                  <a:extLst>
                    <a:ext uri="{FF2B5EF4-FFF2-40B4-BE49-F238E27FC236}">
                      <a16:creationId xmlns:a16="http://schemas.microsoft.com/office/drawing/2014/main" id="{999072B0-29B1-0049-FF64-37D32CB12B7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316" name="Graphique 315" descr="Utilisateur avec un remplissage uni">
                  <a:extLst>
                    <a:ext uri="{FF2B5EF4-FFF2-40B4-BE49-F238E27FC236}">
                      <a16:creationId xmlns:a16="http://schemas.microsoft.com/office/drawing/2014/main" id="{206EB8AB-E8C6-944E-6CDC-6AAF33E5651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317" name="Graphique 316" descr="Utilisateur avec un remplissage uni">
                  <a:extLst>
                    <a:ext uri="{FF2B5EF4-FFF2-40B4-BE49-F238E27FC236}">
                      <a16:creationId xmlns:a16="http://schemas.microsoft.com/office/drawing/2014/main" id="{F351C84E-1006-5740-F3E2-43276DFAA69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318" name="Graphique 317" descr="Utilisateur avec un remplissage uni">
                  <a:extLst>
                    <a:ext uri="{FF2B5EF4-FFF2-40B4-BE49-F238E27FC236}">
                      <a16:creationId xmlns:a16="http://schemas.microsoft.com/office/drawing/2014/main" id="{73CF552E-CB79-A006-DD79-E1F42790B93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319" name="Graphique 318" descr="Utilisateur avec un remplissage uni">
                  <a:extLst>
                    <a:ext uri="{FF2B5EF4-FFF2-40B4-BE49-F238E27FC236}">
                      <a16:creationId xmlns:a16="http://schemas.microsoft.com/office/drawing/2014/main" id="{037D38E8-FAC3-8D4B-9B75-CD1188523BE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308" name="Graphique 307" descr="Boîte à archives avec un remplissage uni">
                <a:extLst>
                  <a:ext uri="{FF2B5EF4-FFF2-40B4-BE49-F238E27FC236}">
                    <a16:creationId xmlns:a16="http://schemas.microsoft.com/office/drawing/2014/main" id="{154D1FE3-DCCB-7196-1CF6-1FD7DAAA3B9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590796" y="1573442"/>
                <a:ext cx="795089" cy="795090"/>
              </a:xfrm>
              <a:prstGeom prst="rect">
                <a:avLst/>
              </a:prstGeom>
            </p:spPr>
          </p:pic>
        </p:grpSp>
        <p:pic>
          <p:nvPicPr>
            <p:cNvPr id="306" name="Graphique 305" descr="Fermer avec un remplissage uni">
              <a:extLst>
                <a:ext uri="{FF2B5EF4-FFF2-40B4-BE49-F238E27FC236}">
                  <a16:creationId xmlns:a16="http://schemas.microsoft.com/office/drawing/2014/main" id="{184A374C-0AE1-39AE-BCAF-BAFA5E78752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668633" y="5995180"/>
              <a:ext cx="473412" cy="473412"/>
            </a:xfrm>
            <a:prstGeom prst="rect">
              <a:avLst/>
            </a:prstGeom>
          </p:spPr>
        </p:pic>
      </p:grpSp>
      <p:grpSp>
        <p:nvGrpSpPr>
          <p:cNvPr id="320" name="Groupe 319">
            <a:extLst>
              <a:ext uri="{FF2B5EF4-FFF2-40B4-BE49-F238E27FC236}">
                <a16:creationId xmlns:a16="http://schemas.microsoft.com/office/drawing/2014/main" id="{4553E445-3935-36A5-B02A-1EC9159BA69C}"/>
              </a:ext>
            </a:extLst>
          </p:cNvPr>
          <p:cNvGrpSpPr/>
          <p:nvPr/>
        </p:nvGrpSpPr>
        <p:grpSpPr>
          <a:xfrm>
            <a:off x="1635312" y="5201809"/>
            <a:ext cx="1104068" cy="541981"/>
            <a:chOff x="1775004" y="5236420"/>
            <a:chExt cx="1104068" cy="541981"/>
          </a:xfrm>
        </p:grpSpPr>
        <p:grpSp>
          <p:nvGrpSpPr>
            <p:cNvPr id="321" name="Groupe 320">
              <a:extLst>
                <a:ext uri="{FF2B5EF4-FFF2-40B4-BE49-F238E27FC236}">
                  <a16:creationId xmlns:a16="http://schemas.microsoft.com/office/drawing/2014/main" id="{2B8A29F6-6FFE-95A6-7D88-AC51BC3EE7C1}"/>
                </a:ext>
              </a:extLst>
            </p:cNvPr>
            <p:cNvGrpSpPr/>
            <p:nvPr/>
          </p:nvGrpSpPr>
          <p:grpSpPr>
            <a:xfrm>
              <a:off x="1775004" y="5236420"/>
              <a:ext cx="1104068" cy="541981"/>
              <a:chOff x="1797480" y="1339838"/>
              <a:chExt cx="2588405" cy="1270634"/>
            </a:xfrm>
          </p:grpSpPr>
          <p:grpSp>
            <p:nvGrpSpPr>
              <p:cNvPr id="323" name="Groupe 322">
                <a:extLst>
                  <a:ext uri="{FF2B5EF4-FFF2-40B4-BE49-F238E27FC236}">
                    <a16:creationId xmlns:a16="http://schemas.microsoft.com/office/drawing/2014/main" id="{65CFFA9A-6A24-8EA7-E667-BE0CC787E262}"/>
                  </a:ext>
                </a:extLst>
              </p:cNvPr>
              <p:cNvGrpSpPr/>
              <p:nvPr/>
            </p:nvGrpSpPr>
            <p:grpSpPr>
              <a:xfrm>
                <a:off x="1797480" y="1339838"/>
                <a:ext cx="1507135" cy="1270634"/>
                <a:chOff x="8982504" y="3274976"/>
                <a:chExt cx="1230670" cy="1037553"/>
              </a:xfrm>
              <a:solidFill>
                <a:srgbClr val="ED7D31"/>
              </a:solidFill>
            </p:grpSpPr>
            <p:pic>
              <p:nvPicPr>
                <p:cNvPr id="325" name="Graphique 324" descr="Utilisateur avec un remplissage uni">
                  <a:extLst>
                    <a:ext uri="{FF2B5EF4-FFF2-40B4-BE49-F238E27FC236}">
                      <a16:creationId xmlns:a16="http://schemas.microsoft.com/office/drawing/2014/main" id="{5FF3A6C6-2DED-8205-15BF-8A6A5AA3E7D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326" name="Graphique 325" descr="Utilisateur avec un remplissage uni">
                  <a:extLst>
                    <a:ext uri="{FF2B5EF4-FFF2-40B4-BE49-F238E27FC236}">
                      <a16:creationId xmlns:a16="http://schemas.microsoft.com/office/drawing/2014/main" id="{BFA9C7F2-CFF9-7488-0946-B9FE9F32BD8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327" name="Graphique 326" descr="Utilisateur avec un remplissage uni">
                  <a:extLst>
                    <a:ext uri="{FF2B5EF4-FFF2-40B4-BE49-F238E27FC236}">
                      <a16:creationId xmlns:a16="http://schemas.microsoft.com/office/drawing/2014/main" id="{D69BA59E-3C34-625C-C603-2D3A3245147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328" name="Graphique 327" descr="Utilisateur avec un remplissage uni">
                  <a:extLst>
                    <a:ext uri="{FF2B5EF4-FFF2-40B4-BE49-F238E27FC236}">
                      <a16:creationId xmlns:a16="http://schemas.microsoft.com/office/drawing/2014/main" id="{C29D9704-CF68-747C-4C36-3BA37D3627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329" name="Graphique 328" descr="Utilisateur avec un remplissage uni">
                  <a:extLst>
                    <a:ext uri="{FF2B5EF4-FFF2-40B4-BE49-F238E27FC236}">
                      <a16:creationId xmlns:a16="http://schemas.microsoft.com/office/drawing/2014/main" id="{877F0985-C843-FBF3-EB8B-469D91ABC6A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330" name="Graphique 329" descr="Utilisateur avec un remplissage uni">
                  <a:extLst>
                    <a:ext uri="{FF2B5EF4-FFF2-40B4-BE49-F238E27FC236}">
                      <a16:creationId xmlns:a16="http://schemas.microsoft.com/office/drawing/2014/main" id="{DB4998F9-5DA1-AD8C-9AF6-29850F37F39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331" name="Graphique 330" descr="Utilisateur avec un remplissage uni">
                  <a:extLst>
                    <a:ext uri="{FF2B5EF4-FFF2-40B4-BE49-F238E27FC236}">
                      <a16:creationId xmlns:a16="http://schemas.microsoft.com/office/drawing/2014/main" id="{55F1F11B-AA45-24E2-9D56-45AB5F01B6E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332" name="Graphique 331" descr="Utilisateur avec un remplissage uni">
                  <a:extLst>
                    <a:ext uri="{FF2B5EF4-FFF2-40B4-BE49-F238E27FC236}">
                      <a16:creationId xmlns:a16="http://schemas.microsoft.com/office/drawing/2014/main" id="{B7C8F86E-7724-24D2-FD85-0B0DDA3C42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333" name="Graphique 332" descr="Utilisateur avec un remplissage uni">
                  <a:extLst>
                    <a:ext uri="{FF2B5EF4-FFF2-40B4-BE49-F238E27FC236}">
                      <a16:creationId xmlns:a16="http://schemas.microsoft.com/office/drawing/2014/main" id="{9CDE569F-9C83-4394-1B3F-1C14D9D9068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334" name="Graphique 333" descr="Utilisateur avec un remplissage uni">
                  <a:extLst>
                    <a:ext uri="{FF2B5EF4-FFF2-40B4-BE49-F238E27FC236}">
                      <a16:creationId xmlns:a16="http://schemas.microsoft.com/office/drawing/2014/main" id="{23544B55-B309-E581-CDBE-6B4DFE893A4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335" name="Graphique 334" descr="Utilisateur avec un remplissage uni">
                  <a:extLst>
                    <a:ext uri="{FF2B5EF4-FFF2-40B4-BE49-F238E27FC236}">
                      <a16:creationId xmlns:a16="http://schemas.microsoft.com/office/drawing/2014/main" id="{FBBA478C-21B9-2659-5EFD-5582E3E5F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324" name="Graphique 323" descr="Boîte à archives avec un remplissage uni">
                <a:extLst>
                  <a:ext uri="{FF2B5EF4-FFF2-40B4-BE49-F238E27FC236}">
                    <a16:creationId xmlns:a16="http://schemas.microsoft.com/office/drawing/2014/main" id="{7ACFBBCF-2D5E-2E87-39E8-2F6CA7A5A5E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590796" y="1573442"/>
                <a:ext cx="795089" cy="795090"/>
              </a:xfrm>
              <a:prstGeom prst="rect">
                <a:avLst/>
              </a:prstGeom>
            </p:spPr>
          </p:pic>
        </p:grpSp>
        <p:pic>
          <p:nvPicPr>
            <p:cNvPr id="322" name="Graphique 321" descr="Point d’interrogation avec un remplissage uni">
              <a:extLst>
                <a:ext uri="{FF2B5EF4-FFF2-40B4-BE49-F238E27FC236}">
                  <a16:creationId xmlns:a16="http://schemas.microsoft.com/office/drawing/2014/main" id="{1423FA51-0E1F-C38D-18AD-F62D0214CB0E}"/>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537302" y="5319965"/>
              <a:ext cx="332767" cy="332767"/>
            </a:xfrm>
            <a:prstGeom prst="rect">
              <a:avLst/>
            </a:prstGeom>
          </p:spPr>
        </p:pic>
      </p:grpSp>
      <p:sp>
        <p:nvSpPr>
          <p:cNvPr id="336" name="ZoneTexte 335">
            <a:extLst>
              <a:ext uri="{FF2B5EF4-FFF2-40B4-BE49-F238E27FC236}">
                <a16:creationId xmlns:a16="http://schemas.microsoft.com/office/drawing/2014/main" id="{05E157C8-3025-91ED-6E5F-9D257CC3F2DE}"/>
              </a:ext>
            </a:extLst>
          </p:cNvPr>
          <p:cNvSpPr txBox="1"/>
          <p:nvPr/>
        </p:nvSpPr>
        <p:spPr>
          <a:xfrm>
            <a:off x="104340" y="1635432"/>
            <a:ext cx="1692000" cy="720000"/>
          </a:xfrm>
          <a:prstGeom prst="rect">
            <a:avLst/>
          </a:prstGeom>
          <a:noFill/>
        </p:spPr>
        <p:txBody>
          <a:bodyPr wrap="square">
            <a:spAutoFit/>
          </a:bodyPr>
          <a:lstStyle/>
          <a:p>
            <a:r>
              <a:rPr lang="fr-FR" sz="1050" dirty="0"/>
              <a:t>Intéressant et déjà mis en commun dans la Communauté</a:t>
            </a:r>
          </a:p>
        </p:txBody>
      </p:sp>
      <p:sp>
        <p:nvSpPr>
          <p:cNvPr id="337" name="ZoneTexte 336">
            <a:extLst>
              <a:ext uri="{FF2B5EF4-FFF2-40B4-BE49-F238E27FC236}">
                <a16:creationId xmlns:a16="http://schemas.microsoft.com/office/drawing/2014/main" id="{3BA90627-5389-511E-A0A2-0F0A26B882E4}"/>
              </a:ext>
            </a:extLst>
          </p:cNvPr>
          <p:cNvSpPr txBox="1"/>
          <p:nvPr/>
        </p:nvSpPr>
        <p:spPr>
          <a:xfrm>
            <a:off x="79209" y="2282896"/>
            <a:ext cx="1692000" cy="720000"/>
          </a:xfrm>
          <a:prstGeom prst="rect">
            <a:avLst/>
          </a:prstGeom>
          <a:noFill/>
        </p:spPr>
        <p:txBody>
          <a:bodyPr wrap="square">
            <a:spAutoFit/>
          </a:bodyPr>
          <a:lstStyle/>
          <a:p>
            <a:r>
              <a:rPr lang="fr-FR" sz="1050" dirty="0"/>
              <a:t>Intéressant, accessible par la Communauté mais pas (encore) mis en commun</a:t>
            </a:r>
          </a:p>
        </p:txBody>
      </p:sp>
      <p:sp>
        <p:nvSpPr>
          <p:cNvPr id="338" name="ZoneTexte 337">
            <a:extLst>
              <a:ext uri="{FF2B5EF4-FFF2-40B4-BE49-F238E27FC236}">
                <a16:creationId xmlns:a16="http://schemas.microsoft.com/office/drawing/2014/main" id="{7BF86D84-9624-AE66-ED08-1925B72F2E9B}"/>
              </a:ext>
            </a:extLst>
          </p:cNvPr>
          <p:cNvSpPr txBox="1"/>
          <p:nvPr/>
        </p:nvSpPr>
        <p:spPr>
          <a:xfrm>
            <a:off x="63128" y="3022814"/>
            <a:ext cx="1692000" cy="720000"/>
          </a:xfrm>
          <a:prstGeom prst="rect">
            <a:avLst/>
          </a:prstGeom>
          <a:noFill/>
        </p:spPr>
        <p:txBody>
          <a:bodyPr wrap="square">
            <a:spAutoFit/>
          </a:bodyPr>
          <a:lstStyle/>
          <a:p>
            <a:r>
              <a:rPr lang="fr-FR" sz="1050" dirty="0"/>
              <a:t>Intéressant, manquant et plus facilement accessible en tant que Communauté (vs en individus)</a:t>
            </a:r>
          </a:p>
        </p:txBody>
      </p:sp>
      <p:sp>
        <p:nvSpPr>
          <p:cNvPr id="339" name="ZoneTexte 338">
            <a:extLst>
              <a:ext uri="{FF2B5EF4-FFF2-40B4-BE49-F238E27FC236}">
                <a16:creationId xmlns:a16="http://schemas.microsoft.com/office/drawing/2014/main" id="{D8C354EE-41B0-637E-5B91-6FEE98149988}"/>
              </a:ext>
            </a:extLst>
          </p:cNvPr>
          <p:cNvSpPr txBox="1"/>
          <p:nvPr/>
        </p:nvSpPr>
        <p:spPr>
          <a:xfrm>
            <a:off x="44659" y="3795432"/>
            <a:ext cx="1692000" cy="720000"/>
          </a:xfrm>
          <a:prstGeom prst="rect">
            <a:avLst/>
          </a:prstGeom>
          <a:noFill/>
        </p:spPr>
        <p:txBody>
          <a:bodyPr wrap="square">
            <a:spAutoFit/>
          </a:bodyPr>
          <a:lstStyle/>
          <a:p>
            <a:r>
              <a:rPr lang="fr-FR" sz="1050" dirty="0"/>
              <a:t>Intéressant, manquant et potentiellement accessible, difficulté d’accès inconnue</a:t>
            </a:r>
          </a:p>
        </p:txBody>
      </p:sp>
      <p:sp>
        <p:nvSpPr>
          <p:cNvPr id="340" name="ZoneTexte 339">
            <a:extLst>
              <a:ext uri="{FF2B5EF4-FFF2-40B4-BE49-F238E27FC236}">
                <a16:creationId xmlns:a16="http://schemas.microsoft.com/office/drawing/2014/main" id="{223D1FEB-27CB-75B2-5E7A-82C3A4DCFFB5}"/>
              </a:ext>
            </a:extLst>
          </p:cNvPr>
          <p:cNvSpPr txBox="1"/>
          <p:nvPr/>
        </p:nvSpPr>
        <p:spPr>
          <a:xfrm>
            <a:off x="37213" y="4438192"/>
            <a:ext cx="1692000" cy="720000"/>
          </a:xfrm>
          <a:prstGeom prst="rect">
            <a:avLst/>
          </a:prstGeom>
          <a:noFill/>
        </p:spPr>
        <p:txBody>
          <a:bodyPr wrap="square">
            <a:spAutoFit/>
          </a:bodyPr>
          <a:lstStyle/>
          <a:p>
            <a:r>
              <a:rPr lang="fr-FR" sz="1050" dirty="0"/>
              <a:t>Intéressant, manquant et difficilement accessible, même en tant que Communauté</a:t>
            </a:r>
          </a:p>
        </p:txBody>
      </p:sp>
      <p:sp>
        <p:nvSpPr>
          <p:cNvPr id="341" name="ZoneTexte 340">
            <a:extLst>
              <a:ext uri="{FF2B5EF4-FFF2-40B4-BE49-F238E27FC236}">
                <a16:creationId xmlns:a16="http://schemas.microsoft.com/office/drawing/2014/main" id="{C1CA08CA-E1F5-52A1-7B66-02A1BD85F570}"/>
              </a:ext>
            </a:extLst>
          </p:cNvPr>
          <p:cNvSpPr txBox="1"/>
          <p:nvPr/>
        </p:nvSpPr>
        <p:spPr>
          <a:xfrm>
            <a:off x="0" y="5309908"/>
            <a:ext cx="1549313" cy="415498"/>
          </a:xfrm>
          <a:prstGeom prst="rect">
            <a:avLst/>
          </a:prstGeom>
          <a:noFill/>
        </p:spPr>
        <p:txBody>
          <a:bodyPr wrap="square">
            <a:spAutoFit/>
          </a:bodyPr>
          <a:lstStyle/>
          <a:p>
            <a:r>
              <a:rPr lang="fr-FR" sz="1050" dirty="0"/>
              <a:t>Intérêt inconnu pour la Communauté, manquant</a:t>
            </a:r>
          </a:p>
        </p:txBody>
      </p:sp>
      <p:sp>
        <p:nvSpPr>
          <p:cNvPr id="342" name="Espace réservé du contenu 2">
            <a:extLst>
              <a:ext uri="{FF2B5EF4-FFF2-40B4-BE49-F238E27FC236}">
                <a16:creationId xmlns:a16="http://schemas.microsoft.com/office/drawing/2014/main" id="{69BD39AC-D5D1-3850-D37A-7A20F121C0F1}"/>
              </a:ext>
            </a:extLst>
          </p:cNvPr>
          <p:cNvSpPr>
            <a:spLocks noGrp="1"/>
          </p:cNvSpPr>
          <p:nvPr>
            <p:ph idx="1"/>
          </p:nvPr>
        </p:nvSpPr>
        <p:spPr>
          <a:xfrm>
            <a:off x="18535" y="6019921"/>
            <a:ext cx="1630795" cy="691911"/>
          </a:xfrm>
        </p:spPr>
        <p:txBody>
          <a:bodyPr>
            <a:normAutofit/>
          </a:bodyPr>
          <a:lstStyle/>
          <a:p>
            <a:pPr marL="0" indent="0">
              <a:buNone/>
            </a:pPr>
            <a:r>
              <a:rPr lang="fr-FR" sz="1050" dirty="0"/>
              <a:t>Pas intéressant a priori pour une mise en commun la Communauté</a:t>
            </a:r>
          </a:p>
        </p:txBody>
      </p:sp>
      <p:sp>
        <p:nvSpPr>
          <p:cNvPr id="4" name="Rectangle 3">
            <a:extLst>
              <a:ext uri="{FF2B5EF4-FFF2-40B4-BE49-F238E27FC236}">
                <a16:creationId xmlns:a16="http://schemas.microsoft.com/office/drawing/2014/main" id="{F14A932D-79BF-534E-0B74-E77FA94B4ACF}"/>
              </a:ext>
            </a:extLst>
          </p:cNvPr>
          <p:cNvSpPr/>
          <p:nvPr/>
        </p:nvSpPr>
        <p:spPr>
          <a:xfrm>
            <a:off x="2904093" y="2319751"/>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2" name="Rectangle 371">
            <a:extLst>
              <a:ext uri="{FF2B5EF4-FFF2-40B4-BE49-F238E27FC236}">
                <a16:creationId xmlns:a16="http://schemas.microsoft.com/office/drawing/2014/main" id="{1252888E-BB94-DE94-4661-3E70D27547D7}"/>
              </a:ext>
            </a:extLst>
          </p:cNvPr>
          <p:cNvSpPr/>
          <p:nvPr/>
        </p:nvSpPr>
        <p:spPr>
          <a:xfrm>
            <a:off x="2904093" y="3102375"/>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3" name="Rectangle 372">
            <a:extLst>
              <a:ext uri="{FF2B5EF4-FFF2-40B4-BE49-F238E27FC236}">
                <a16:creationId xmlns:a16="http://schemas.microsoft.com/office/drawing/2014/main" id="{56EF10DB-69C6-988B-A6C5-F887CEE22793}"/>
              </a:ext>
            </a:extLst>
          </p:cNvPr>
          <p:cNvSpPr/>
          <p:nvPr/>
        </p:nvSpPr>
        <p:spPr>
          <a:xfrm>
            <a:off x="2904093" y="3813975"/>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4" name="Rectangle 373">
            <a:extLst>
              <a:ext uri="{FF2B5EF4-FFF2-40B4-BE49-F238E27FC236}">
                <a16:creationId xmlns:a16="http://schemas.microsoft.com/office/drawing/2014/main" id="{14B98780-50CD-D78A-A62C-4025FD921DE1}"/>
              </a:ext>
            </a:extLst>
          </p:cNvPr>
          <p:cNvSpPr/>
          <p:nvPr/>
        </p:nvSpPr>
        <p:spPr>
          <a:xfrm>
            <a:off x="2904093" y="4525575"/>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5" name="Rectangle 374">
            <a:extLst>
              <a:ext uri="{FF2B5EF4-FFF2-40B4-BE49-F238E27FC236}">
                <a16:creationId xmlns:a16="http://schemas.microsoft.com/office/drawing/2014/main" id="{71C94D50-436F-3CB6-51EE-93A786E1F6FB}"/>
              </a:ext>
            </a:extLst>
          </p:cNvPr>
          <p:cNvSpPr/>
          <p:nvPr/>
        </p:nvSpPr>
        <p:spPr>
          <a:xfrm>
            <a:off x="2904093" y="5219419"/>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6" name="Rectangle 375">
            <a:extLst>
              <a:ext uri="{FF2B5EF4-FFF2-40B4-BE49-F238E27FC236}">
                <a16:creationId xmlns:a16="http://schemas.microsoft.com/office/drawing/2014/main" id="{1CC148A7-1FC9-480F-5D16-7158B504CBDB}"/>
              </a:ext>
            </a:extLst>
          </p:cNvPr>
          <p:cNvSpPr/>
          <p:nvPr/>
        </p:nvSpPr>
        <p:spPr>
          <a:xfrm>
            <a:off x="2904093" y="5877752"/>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3" name="Rectangle 342">
            <a:extLst>
              <a:ext uri="{FF2B5EF4-FFF2-40B4-BE49-F238E27FC236}">
                <a16:creationId xmlns:a16="http://schemas.microsoft.com/office/drawing/2014/main" id="{866B5286-C000-E58A-FED0-161F8D5A19F1}"/>
              </a:ext>
            </a:extLst>
          </p:cNvPr>
          <p:cNvSpPr/>
          <p:nvPr/>
        </p:nvSpPr>
        <p:spPr>
          <a:xfrm>
            <a:off x="5019012" y="1894053"/>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Refus de perdre des avantages individuels exclusifs en partageant la ressource (ex: compétence distinctive)</a:t>
            </a:r>
          </a:p>
        </p:txBody>
      </p:sp>
      <p:sp>
        <p:nvSpPr>
          <p:cNvPr id="344" name="Rectangle 343">
            <a:extLst>
              <a:ext uri="{FF2B5EF4-FFF2-40B4-BE49-F238E27FC236}">
                <a16:creationId xmlns:a16="http://schemas.microsoft.com/office/drawing/2014/main" id="{F79E399E-3B98-C847-57E5-D40C783B8DFE}"/>
              </a:ext>
            </a:extLst>
          </p:cNvPr>
          <p:cNvSpPr/>
          <p:nvPr/>
        </p:nvSpPr>
        <p:spPr>
          <a:xfrm>
            <a:off x="3245396" y="1894053"/>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Manque de confiance en les membres sur l’usage de la ressource (ex: information clé confidentielle)</a:t>
            </a:r>
          </a:p>
        </p:txBody>
      </p:sp>
      <p:sp>
        <p:nvSpPr>
          <p:cNvPr id="345" name="Rectangle 344">
            <a:extLst>
              <a:ext uri="{FF2B5EF4-FFF2-40B4-BE49-F238E27FC236}">
                <a16:creationId xmlns:a16="http://schemas.microsoft.com/office/drawing/2014/main" id="{BFBC7DF7-8E50-B739-B827-B96D93C966E8}"/>
              </a:ext>
            </a:extLst>
          </p:cNvPr>
          <p:cNvSpPr/>
          <p:nvPr/>
        </p:nvSpPr>
        <p:spPr>
          <a:xfrm>
            <a:off x="6792627" y="1894053"/>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Méconnaissance d’un niveau d’intérêt suffisant pour déclencher le partage (ex: matériel qui pourrait être utile)</a:t>
            </a:r>
          </a:p>
        </p:txBody>
      </p:sp>
      <p:sp>
        <p:nvSpPr>
          <p:cNvPr id="346" name="Rectangle 345">
            <a:extLst>
              <a:ext uri="{FF2B5EF4-FFF2-40B4-BE49-F238E27FC236}">
                <a16:creationId xmlns:a16="http://schemas.microsoft.com/office/drawing/2014/main" id="{F087191B-997A-CE64-DC94-5A90749F33FE}"/>
              </a:ext>
            </a:extLst>
          </p:cNvPr>
          <p:cNvSpPr/>
          <p:nvPr/>
        </p:nvSpPr>
        <p:spPr>
          <a:xfrm>
            <a:off x="8556687" y="1894053"/>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Sentiment d’injustice du partage et du manque de mérite pour accéder à une ressource (ex: soutien d’une partie prenante)</a:t>
            </a:r>
          </a:p>
        </p:txBody>
      </p:sp>
      <p:sp>
        <p:nvSpPr>
          <p:cNvPr id="348" name="Rectangle 347">
            <a:extLst>
              <a:ext uri="{FF2B5EF4-FFF2-40B4-BE49-F238E27FC236}">
                <a16:creationId xmlns:a16="http://schemas.microsoft.com/office/drawing/2014/main" id="{C92B7472-A176-07F3-86A5-90862D86C9F6}"/>
              </a:ext>
            </a:extLst>
          </p:cNvPr>
          <p:cNvSpPr/>
          <p:nvPr/>
        </p:nvSpPr>
        <p:spPr>
          <a:xfrm>
            <a:off x="5019012" y="2649963"/>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 à décider en tant que Communauté (ex: désaccord sur des espaces de travail)</a:t>
            </a:r>
          </a:p>
        </p:txBody>
      </p:sp>
      <p:sp>
        <p:nvSpPr>
          <p:cNvPr id="349" name="Rectangle 348">
            <a:extLst>
              <a:ext uri="{FF2B5EF4-FFF2-40B4-BE49-F238E27FC236}">
                <a16:creationId xmlns:a16="http://schemas.microsoft.com/office/drawing/2014/main" id="{BC7DBDAF-27A1-6932-E96A-A37DE59583FC}"/>
              </a:ext>
            </a:extLst>
          </p:cNvPr>
          <p:cNvSpPr/>
          <p:nvPr/>
        </p:nvSpPr>
        <p:spPr>
          <a:xfrm>
            <a:off x="3245396" y="2649963"/>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Méconnaissance des possibilités d’accès à des ressources en tant que communauté (ex:  outil qui propose des offres de groupe)</a:t>
            </a:r>
          </a:p>
        </p:txBody>
      </p:sp>
      <p:sp>
        <p:nvSpPr>
          <p:cNvPr id="350" name="Rectangle 349">
            <a:extLst>
              <a:ext uri="{FF2B5EF4-FFF2-40B4-BE49-F238E27FC236}">
                <a16:creationId xmlns:a16="http://schemas.microsoft.com/office/drawing/2014/main" id="{CD1F0C3E-25EA-F65A-CDBF-AADCE4447CFE}"/>
              </a:ext>
            </a:extLst>
          </p:cNvPr>
          <p:cNvSpPr/>
          <p:nvPr/>
        </p:nvSpPr>
        <p:spPr>
          <a:xfrm>
            <a:off x="6792627" y="2649963"/>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 à effectuer des demandes en tant que Communauté (ex: Groupe ad hoc non officiel sans personne morale pour les démarches)</a:t>
            </a:r>
          </a:p>
        </p:txBody>
      </p:sp>
      <p:sp>
        <p:nvSpPr>
          <p:cNvPr id="353" name="Rectangle 352">
            <a:extLst>
              <a:ext uri="{FF2B5EF4-FFF2-40B4-BE49-F238E27FC236}">
                <a16:creationId xmlns:a16="http://schemas.microsoft.com/office/drawing/2014/main" id="{E486DABE-1449-3E87-9902-1EB1FA38DF22}"/>
              </a:ext>
            </a:extLst>
          </p:cNvPr>
          <p:cNvSpPr/>
          <p:nvPr/>
        </p:nvSpPr>
        <p:spPr>
          <a:xfrm>
            <a:off x="5019012" y="3353346"/>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Idée non creusée et indisponibilité pour en évaluer la facilité d’accès (ex: idée d’usage d’un matériel particulier)</a:t>
            </a:r>
          </a:p>
        </p:txBody>
      </p:sp>
      <p:sp>
        <p:nvSpPr>
          <p:cNvPr id="354" name="Rectangle 353">
            <a:extLst>
              <a:ext uri="{FF2B5EF4-FFF2-40B4-BE49-F238E27FC236}">
                <a16:creationId xmlns:a16="http://schemas.microsoft.com/office/drawing/2014/main" id="{2E9CDC75-372D-3647-DF33-68DD031904C4}"/>
              </a:ext>
            </a:extLst>
          </p:cNvPr>
          <p:cNvSpPr/>
          <p:nvPr/>
        </p:nvSpPr>
        <p:spPr>
          <a:xfrm>
            <a:off x="3245396" y="3353346"/>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Inexpérience sur la façon d’accéder à une ressource (ex: Communauté qui ne sait pas trouver une compétence extérieure particulière)</a:t>
            </a:r>
          </a:p>
        </p:txBody>
      </p:sp>
      <p:sp>
        <p:nvSpPr>
          <p:cNvPr id="359" name="Rectangle 358">
            <a:extLst>
              <a:ext uri="{FF2B5EF4-FFF2-40B4-BE49-F238E27FC236}">
                <a16:creationId xmlns:a16="http://schemas.microsoft.com/office/drawing/2014/main" id="{5C1BB230-E9FA-E95D-F35D-3A22E02A7C12}"/>
              </a:ext>
            </a:extLst>
          </p:cNvPr>
          <p:cNvSpPr/>
          <p:nvPr/>
        </p:nvSpPr>
        <p:spPr>
          <a:xfrm>
            <a:off x="3245396" y="4062591"/>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Hypothèse de difficulté importante sur l’accès à une ressource (ex: imaginer un coût de matériel très élevé)</a:t>
            </a:r>
          </a:p>
        </p:txBody>
      </p:sp>
      <p:sp>
        <p:nvSpPr>
          <p:cNvPr id="363" name="Rectangle 362">
            <a:extLst>
              <a:ext uri="{FF2B5EF4-FFF2-40B4-BE49-F238E27FC236}">
                <a16:creationId xmlns:a16="http://schemas.microsoft.com/office/drawing/2014/main" id="{421A5C21-DAE5-7C1C-12F2-BC6F27A83B65}"/>
              </a:ext>
            </a:extLst>
          </p:cNvPr>
          <p:cNvSpPr/>
          <p:nvPr/>
        </p:nvSpPr>
        <p:spPr>
          <a:xfrm>
            <a:off x="5019012" y="4772057"/>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 d’évaluation de l’intérêt d’une ressource (ex: outil mal maîtrisé et au potentiel inconnu)</a:t>
            </a:r>
          </a:p>
        </p:txBody>
      </p:sp>
      <p:sp>
        <p:nvSpPr>
          <p:cNvPr id="364" name="Rectangle 363">
            <a:extLst>
              <a:ext uri="{FF2B5EF4-FFF2-40B4-BE49-F238E27FC236}">
                <a16:creationId xmlns:a16="http://schemas.microsoft.com/office/drawing/2014/main" id="{FEC26386-05A8-A27C-C956-3D767EE723BC}"/>
              </a:ext>
            </a:extLst>
          </p:cNvPr>
          <p:cNvSpPr/>
          <p:nvPr/>
        </p:nvSpPr>
        <p:spPr>
          <a:xfrm>
            <a:off x="3245396" y="4772057"/>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Méconnaissance de la ressource pour la plupart des membres (ex: Espace de </a:t>
            </a:r>
            <a:r>
              <a:rPr lang="fr-FR" sz="900" dirty="0" err="1">
                <a:solidFill>
                  <a:schemeClr val="tx1"/>
                </a:solidFill>
              </a:rPr>
              <a:t>co-working</a:t>
            </a:r>
            <a:r>
              <a:rPr lang="fr-FR" sz="900" dirty="0">
                <a:solidFill>
                  <a:schemeClr val="tx1"/>
                </a:solidFill>
              </a:rPr>
              <a:t> voisin méconnu)</a:t>
            </a:r>
          </a:p>
        </p:txBody>
      </p:sp>
      <p:sp>
        <p:nvSpPr>
          <p:cNvPr id="369" name="Rectangle 368">
            <a:extLst>
              <a:ext uri="{FF2B5EF4-FFF2-40B4-BE49-F238E27FC236}">
                <a16:creationId xmlns:a16="http://schemas.microsoft.com/office/drawing/2014/main" id="{B15A7611-D10E-D0D0-1B89-87E30F38E3D0}"/>
              </a:ext>
            </a:extLst>
          </p:cNvPr>
          <p:cNvSpPr/>
          <p:nvPr/>
        </p:nvSpPr>
        <p:spPr>
          <a:xfrm>
            <a:off x="3245396" y="5516552"/>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Rejet de base d’une ressource sur l’hypothèse de désintérêt des autres membres (ex: expérience considérée comme peu utile pour les membres) </a:t>
            </a:r>
          </a:p>
        </p:txBody>
      </p:sp>
      <p:sp>
        <p:nvSpPr>
          <p:cNvPr id="150" name="Rectangle 149">
            <a:extLst>
              <a:ext uri="{FF2B5EF4-FFF2-40B4-BE49-F238E27FC236}">
                <a16:creationId xmlns:a16="http://schemas.microsoft.com/office/drawing/2014/main" id="{E68469F0-C319-9E13-E94D-78747E2486E7}"/>
              </a:ext>
            </a:extLst>
          </p:cNvPr>
          <p:cNvSpPr/>
          <p:nvPr/>
        </p:nvSpPr>
        <p:spPr>
          <a:xfrm>
            <a:off x="10320747" y="1894053"/>
            <a:ext cx="1744401" cy="62587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Méconnaissance de Comment partager une ressource en particulier</a:t>
            </a:r>
          </a:p>
        </p:txBody>
      </p:sp>
    </p:spTree>
    <p:extLst>
      <p:ext uri="{BB962C8B-B14F-4D97-AF65-F5344CB8AC3E}">
        <p14:creationId xmlns:p14="http://schemas.microsoft.com/office/powerpoint/2010/main" val="28373030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DEE560F-324E-9A1E-9A7A-807B5D33F118}"/>
              </a:ext>
            </a:extLst>
          </p:cNvPr>
          <p:cNvSpPr>
            <a:spLocks noGrp="1"/>
          </p:cNvSpPr>
          <p:nvPr>
            <p:ph type="title"/>
          </p:nvPr>
        </p:nvSpPr>
        <p:spPr>
          <a:xfrm>
            <a:off x="838200" y="365126"/>
            <a:ext cx="10515600" cy="731662"/>
          </a:xfrm>
        </p:spPr>
        <p:txBody>
          <a:bodyPr>
            <a:noAutofit/>
          </a:bodyPr>
          <a:lstStyle/>
          <a:p>
            <a:r>
              <a:rPr lang="fr-FR" sz="2800" dirty="0"/>
              <a:t>Les réponses opérationnelles aux blocages liés à la mise en commun </a:t>
            </a:r>
            <a:br>
              <a:rPr lang="fr-FR" sz="2800" dirty="0"/>
            </a:br>
            <a:r>
              <a:rPr lang="fr-FR" sz="2000" dirty="0"/>
              <a:t>Liste d’exemples</a:t>
            </a:r>
            <a:br>
              <a:rPr lang="fr-FR" sz="1400" dirty="0"/>
            </a:br>
            <a:r>
              <a:rPr lang="fr-FR" sz="1400" dirty="0"/>
              <a:t>📅Evènements  , ✍️Contenus, ⚙️Structuration de Communauté</a:t>
            </a:r>
            <a:br>
              <a:rPr lang="fr-FR" sz="1400" dirty="0"/>
            </a:br>
            <a:r>
              <a:rPr lang="fr-FR" sz="1400" dirty="0"/>
              <a:t>📅+⚙️Structuration de moments, ✍️+⚙️ Structuration de Contenus</a:t>
            </a:r>
            <a:endParaRPr lang="fr-FR" sz="2800" dirty="0"/>
          </a:p>
        </p:txBody>
      </p:sp>
      <p:pic>
        <p:nvPicPr>
          <p:cNvPr id="105" name="Graphique 104" descr="Boîte à archives avec un remplissage uni">
            <a:extLst>
              <a:ext uri="{FF2B5EF4-FFF2-40B4-BE49-F238E27FC236}">
                <a16:creationId xmlns:a16="http://schemas.microsoft.com/office/drawing/2014/main" id="{A9299BCC-08BA-5CE1-B0BC-8E9E0DAE5C3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94360" y="415543"/>
            <a:ext cx="640022" cy="640024"/>
          </a:xfrm>
          <a:prstGeom prst="rect">
            <a:avLst/>
          </a:prstGeom>
        </p:spPr>
      </p:pic>
      <p:grpSp>
        <p:nvGrpSpPr>
          <p:cNvPr id="228" name="Groupe 227">
            <a:extLst>
              <a:ext uri="{FF2B5EF4-FFF2-40B4-BE49-F238E27FC236}">
                <a16:creationId xmlns:a16="http://schemas.microsoft.com/office/drawing/2014/main" id="{4CCAB621-4C8F-ED3B-B7C5-2F4F78377598}"/>
              </a:ext>
            </a:extLst>
          </p:cNvPr>
          <p:cNvGrpSpPr/>
          <p:nvPr/>
        </p:nvGrpSpPr>
        <p:grpSpPr>
          <a:xfrm>
            <a:off x="2025063" y="1718505"/>
            <a:ext cx="642859" cy="541981"/>
            <a:chOff x="1797480" y="1339838"/>
            <a:chExt cx="1507135" cy="1270634"/>
          </a:xfrm>
        </p:grpSpPr>
        <p:grpSp>
          <p:nvGrpSpPr>
            <p:cNvPr id="229" name="Groupe 228">
              <a:extLst>
                <a:ext uri="{FF2B5EF4-FFF2-40B4-BE49-F238E27FC236}">
                  <a16:creationId xmlns:a16="http://schemas.microsoft.com/office/drawing/2014/main" id="{C0C8AE18-ACEA-238A-13DF-001AB1D969E8}"/>
                </a:ext>
              </a:extLst>
            </p:cNvPr>
            <p:cNvGrpSpPr/>
            <p:nvPr/>
          </p:nvGrpSpPr>
          <p:grpSpPr>
            <a:xfrm>
              <a:off x="1797480" y="1339838"/>
              <a:ext cx="1507135" cy="1270634"/>
              <a:chOff x="8982504" y="3274976"/>
              <a:chExt cx="1230670" cy="1037553"/>
            </a:xfrm>
            <a:solidFill>
              <a:srgbClr val="ED7D31"/>
            </a:solidFill>
          </p:grpSpPr>
          <p:pic>
            <p:nvPicPr>
              <p:cNvPr id="231" name="Graphique 230" descr="Utilisateur avec un remplissage uni">
                <a:extLst>
                  <a:ext uri="{FF2B5EF4-FFF2-40B4-BE49-F238E27FC236}">
                    <a16:creationId xmlns:a16="http://schemas.microsoft.com/office/drawing/2014/main" id="{961884A5-13E1-2C79-EA6F-6EFF0B27734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01028" y="3274976"/>
                <a:ext cx="336064" cy="336064"/>
              </a:xfrm>
              <a:prstGeom prst="rect">
                <a:avLst/>
              </a:prstGeom>
            </p:spPr>
          </p:pic>
          <p:pic>
            <p:nvPicPr>
              <p:cNvPr id="232" name="Graphique 231" descr="Utilisateur avec un remplissage uni">
                <a:extLst>
                  <a:ext uri="{FF2B5EF4-FFF2-40B4-BE49-F238E27FC236}">
                    <a16:creationId xmlns:a16="http://schemas.microsoft.com/office/drawing/2014/main" id="{A19765D6-4776-EBAA-0199-EF5C1BCACD2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054140" y="3512720"/>
                <a:ext cx="336064" cy="336064"/>
              </a:xfrm>
              <a:prstGeom prst="rect">
                <a:avLst/>
              </a:prstGeom>
            </p:spPr>
          </p:pic>
          <p:pic>
            <p:nvPicPr>
              <p:cNvPr id="233" name="Graphique 232" descr="Utilisateur avec un remplissage uni">
                <a:extLst>
                  <a:ext uri="{FF2B5EF4-FFF2-40B4-BE49-F238E27FC236}">
                    <a16:creationId xmlns:a16="http://schemas.microsoft.com/office/drawing/2014/main" id="{95F46942-2E9E-C0E1-AA6A-41BAFCE8B9D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45616" y="3561880"/>
                <a:ext cx="336064" cy="336064"/>
              </a:xfrm>
              <a:prstGeom prst="rect">
                <a:avLst/>
              </a:prstGeom>
            </p:spPr>
          </p:pic>
          <p:pic>
            <p:nvPicPr>
              <p:cNvPr id="234" name="Graphique 233" descr="Utilisateur avec un remplissage uni">
                <a:extLst>
                  <a:ext uri="{FF2B5EF4-FFF2-40B4-BE49-F238E27FC236}">
                    <a16:creationId xmlns:a16="http://schemas.microsoft.com/office/drawing/2014/main" id="{7F3C4C31-4256-DAF1-55A8-94D870D42D5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92504" y="3418428"/>
                <a:ext cx="336064" cy="336064"/>
              </a:xfrm>
              <a:prstGeom prst="rect">
                <a:avLst/>
              </a:prstGeom>
            </p:spPr>
          </p:pic>
          <p:pic>
            <p:nvPicPr>
              <p:cNvPr id="235" name="Graphique 234" descr="Utilisateur avec un remplissage uni">
                <a:extLst>
                  <a:ext uri="{FF2B5EF4-FFF2-40B4-BE49-F238E27FC236}">
                    <a16:creationId xmlns:a16="http://schemas.microsoft.com/office/drawing/2014/main" id="{8AF2340F-23B0-35DA-972A-4A87690783B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635196" y="3680752"/>
                <a:ext cx="336064" cy="336064"/>
              </a:xfrm>
              <a:prstGeom prst="rect">
                <a:avLst/>
              </a:prstGeom>
            </p:spPr>
          </p:pic>
          <p:pic>
            <p:nvPicPr>
              <p:cNvPr id="236" name="Graphique 235" descr="Utilisateur avec un remplissage uni">
                <a:extLst>
                  <a:ext uri="{FF2B5EF4-FFF2-40B4-BE49-F238E27FC236}">
                    <a16:creationId xmlns:a16="http://schemas.microsoft.com/office/drawing/2014/main" id="{7CCA7FD4-3412-7B21-A12B-6537373DE9B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256440" y="3848784"/>
                <a:ext cx="336064" cy="336064"/>
              </a:xfrm>
              <a:prstGeom prst="rect">
                <a:avLst/>
              </a:prstGeom>
            </p:spPr>
          </p:pic>
          <p:pic>
            <p:nvPicPr>
              <p:cNvPr id="237" name="Graphique 236" descr="Utilisateur avec un remplissage uni">
                <a:extLst>
                  <a:ext uri="{FF2B5EF4-FFF2-40B4-BE49-F238E27FC236}">
                    <a16:creationId xmlns:a16="http://schemas.microsoft.com/office/drawing/2014/main" id="{F6A04D32-5145-A6B0-8263-B73A88BC35F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982504" y="3835028"/>
                <a:ext cx="336064" cy="336064"/>
              </a:xfrm>
              <a:prstGeom prst="rect">
                <a:avLst/>
              </a:prstGeom>
            </p:spPr>
          </p:pic>
          <p:pic>
            <p:nvPicPr>
              <p:cNvPr id="238" name="Graphique 237" descr="Utilisateur avec un remplissage uni">
                <a:extLst>
                  <a:ext uri="{FF2B5EF4-FFF2-40B4-BE49-F238E27FC236}">
                    <a16:creationId xmlns:a16="http://schemas.microsoft.com/office/drawing/2014/main" id="{906197CE-4915-FA68-EBC8-C902EC05154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20868" y="3943076"/>
                <a:ext cx="336064" cy="336064"/>
              </a:xfrm>
              <a:prstGeom prst="rect">
                <a:avLst/>
              </a:prstGeom>
            </p:spPr>
          </p:pic>
          <p:pic>
            <p:nvPicPr>
              <p:cNvPr id="239" name="Graphique 238" descr="Utilisateur avec un remplissage uni">
                <a:extLst>
                  <a:ext uri="{FF2B5EF4-FFF2-40B4-BE49-F238E27FC236}">
                    <a16:creationId xmlns:a16="http://schemas.microsoft.com/office/drawing/2014/main" id="{F0BA33DC-0A85-5B87-B9FC-D89D857331A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742772" y="3976465"/>
                <a:ext cx="336064" cy="336064"/>
              </a:xfrm>
              <a:prstGeom prst="rect">
                <a:avLst/>
              </a:prstGeom>
            </p:spPr>
          </p:pic>
          <p:pic>
            <p:nvPicPr>
              <p:cNvPr id="240" name="Graphique 239" descr="Utilisateur avec un remplissage uni">
                <a:extLst>
                  <a:ext uri="{FF2B5EF4-FFF2-40B4-BE49-F238E27FC236}">
                    <a16:creationId xmlns:a16="http://schemas.microsoft.com/office/drawing/2014/main" id="{797F8792-F559-7D5F-BB54-D499989FB67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77110" y="3705332"/>
                <a:ext cx="336064" cy="336064"/>
              </a:xfrm>
              <a:prstGeom prst="rect">
                <a:avLst/>
              </a:prstGeom>
            </p:spPr>
          </p:pic>
          <p:pic>
            <p:nvPicPr>
              <p:cNvPr id="241" name="Graphique 240" descr="Utilisateur avec un remplissage uni">
                <a:extLst>
                  <a:ext uri="{FF2B5EF4-FFF2-40B4-BE49-F238E27FC236}">
                    <a16:creationId xmlns:a16="http://schemas.microsoft.com/office/drawing/2014/main" id="{D9F4644D-964B-9650-D118-4C46C6B43F5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56932" y="3429000"/>
                <a:ext cx="336064" cy="336064"/>
              </a:xfrm>
              <a:prstGeom prst="rect">
                <a:avLst/>
              </a:prstGeom>
            </p:spPr>
          </p:pic>
        </p:grpSp>
        <p:pic>
          <p:nvPicPr>
            <p:cNvPr id="230" name="Graphique 229" descr="Boîte à archives avec un remplissage uni">
              <a:extLst>
                <a:ext uri="{FF2B5EF4-FFF2-40B4-BE49-F238E27FC236}">
                  <a16:creationId xmlns:a16="http://schemas.microsoft.com/office/drawing/2014/main" id="{F2C0BFAA-3A34-2382-6449-D64E2DC9D8C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164013" y="1631780"/>
              <a:ext cx="795090" cy="795090"/>
            </a:xfrm>
            <a:prstGeom prst="rect">
              <a:avLst/>
            </a:prstGeom>
          </p:spPr>
        </p:pic>
      </p:grpSp>
      <p:grpSp>
        <p:nvGrpSpPr>
          <p:cNvPr id="242" name="Groupe 241">
            <a:extLst>
              <a:ext uri="{FF2B5EF4-FFF2-40B4-BE49-F238E27FC236}">
                <a16:creationId xmlns:a16="http://schemas.microsoft.com/office/drawing/2014/main" id="{6983C7E9-6A35-3EF7-B31F-7333F81008E0}"/>
              </a:ext>
            </a:extLst>
          </p:cNvPr>
          <p:cNvGrpSpPr/>
          <p:nvPr/>
        </p:nvGrpSpPr>
        <p:grpSpPr>
          <a:xfrm>
            <a:off x="1795079" y="2348391"/>
            <a:ext cx="928257" cy="541981"/>
            <a:chOff x="1797480" y="1339838"/>
            <a:chExt cx="2176227" cy="1270634"/>
          </a:xfrm>
        </p:grpSpPr>
        <p:grpSp>
          <p:nvGrpSpPr>
            <p:cNvPr id="243" name="Groupe 242">
              <a:extLst>
                <a:ext uri="{FF2B5EF4-FFF2-40B4-BE49-F238E27FC236}">
                  <a16:creationId xmlns:a16="http://schemas.microsoft.com/office/drawing/2014/main" id="{81E1525A-69FA-E88B-21B7-249931F65ADD}"/>
                </a:ext>
              </a:extLst>
            </p:cNvPr>
            <p:cNvGrpSpPr/>
            <p:nvPr/>
          </p:nvGrpSpPr>
          <p:grpSpPr>
            <a:xfrm>
              <a:off x="1797480" y="1339838"/>
              <a:ext cx="1507135" cy="1270634"/>
              <a:chOff x="8982504" y="3274976"/>
              <a:chExt cx="1230670" cy="1037553"/>
            </a:xfrm>
            <a:solidFill>
              <a:srgbClr val="ED7D31"/>
            </a:solidFill>
          </p:grpSpPr>
          <p:pic>
            <p:nvPicPr>
              <p:cNvPr id="245" name="Graphique 244" descr="Utilisateur avec un remplissage uni">
                <a:extLst>
                  <a:ext uri="{FF2B5EF4-FFF2-40B4-BE49-F238E27FC236}">
                    <a16:creationId xmlns:a16="http://schemas.microsoft.com/office/drawing/2014/main" id="{C7A95237-6E74-F91D-29A9-1C4A34204D9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01028" y="3274976"/>
                <a:ext cx="336064" cy="336064"/>
              </a:xfrm>
              <a:prstGeom prst="rect">
                <a:avLst/>
              </a:prstGeom>
            </p:spPr>
          </p:pic>
          <p:pic>
            <p:nvPicPr>
              <p:cNvPr id="246" name="Graphique 245" descr="Utilisateur avec un remplissage uni">
                <a:extLst>
                  <a:ext uri="{FF2B5EF4-FFF2-40B4-BE49-F238E27FC236}">
                    <a16:creationId xmlns:a16="http://schemas.microsoft.com/office/drawing/2014/main" id="{02F00ED3-62F1-D791-2939-450B1680AEF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054140" y="3512720"/>
                <a:ext cx="336064" cy="336064"/>
              </a:xfrm>
              <a:prstGeom prst="rect">
                <a:avLst/>
              </a:prstGeom>
            </p:spPr>
          </p:pic>
          <p:pic>
            <p:nvPicPr>
              <p:cNvPr id="247" name="Graphique 246" descr="Utilisateur avec un remplissage uni">
                <a:extLst>
                  <a:ext uri="{FF2B5EF4-FFF2-40B4-BE49-F238E27FC236}">
                    <a16:creationId xmlns:a16="http://schemas.microsoft.com/office/drawing/2014/main" id="{D7D51034-8472-70FF-AEDE-4800DBA9E44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45616" y="3561880"/>
                <a:ext cx="336064" cy="336064"/>
              </a:xfrm>
              <a:prstGeom prst="rect">
                <a:avLst/>
              </a:prstGeom>
            </p:spPr>
          </p:pic>
          <p:pic>
            <p:nvPicPr>
              <p:cNvPr id="248" name="Graphique 247" descr="Utilisateur avec un remplissage uni">
                <a:extLst>
                  <a:ext uri="{FF2B5EF4-FFF2-40B4-BE49-F238E27FC236}">
                    <a16:creationId xmlns:a16="http://schemas.microsoft.com/office/drawing/2014/main" id="{AFBC2558-775D-2FFA-21F0-AF7E32157C5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92504" y="3418428"/>
                <a:ext cx="336064" cy="336064"/>
              </a:xfrm>
              <a:prstGeom prst="rect">
                <a:avLst/>
              </a:prstGeom>
            </p:spPr>
          </p:pic>
          <p:pic>
            <p:nvPicPr>
              <p:cNvPr id="249" name="Graphique 248" descr="Utilisateur avec un remplissage uni">
                <a:extLst>
                  <a:ext uri="{FF2B5EF4-FFF2-40B4-BE49-F238E27FC236}">
                    <a16:creationId xmlns:a16="http://schemas.microsoft.com/office/drawing/2014/main" id="{BF4044A9-6806-2D54-A58A-4624CAE70B5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635196" y="3680752"/>
                <a:ext cx="336064" cy="336064"/>
              </a:xfrm>
              <a:prstGeom prst="rect">
                <a:avLst/>
              </a:prstGeom>
            </p:spPr>
          </p:pic>
          <p:pic>
            <p:nvPicPr>
              <p:cNvPr id="250" name="Graphique 249" descr="Utilisateur avec un remplissage uni">
                <a:extLst>
                  <a:ext uri="{FF2B5EF4-FFF2-40B4-BE49-F238E27FC236}">
                    <a16:creationId xmlns:a16="http://schemas.microsoft.com/office/drawing/2014/main" id="{0C0D9D67-D7E3-03E2-1025-CDADFAA52A5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256440" y="3848784"/>
                <a:ext cx="336064" cy="336064"/>
              </a:xfrm>
              <a:prstGeom prst="rect">
                <a:avLst/>
              </a:prstGeom>
            </p:spPr>
          </p:pic>
          <p:pic>
            <p:nvPicPr>
              <p:cNvPr id="251" name="Graphique 250" descr="Utilisateur avec un remplissage uni">
                <a:extLst>
                  <a:ext uri="{FF2B5EF4-FFF2-40B4-BE49-F238E27FC236}">
                    <a16:creationId xmlns:a16="http://schemas.microsoft.com/office/drawing/2014/main" id="{443961E4-9B5B-1B75-33E4-DAFDD7E1CD2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982504" y="3835028"/>
                <a:ext cx="336064" cy="336064"/>
              </a:xfrm>
              <a:prstGeom prst="rect">
                <a:avLst/>
              </a:prstGeom>
            </p:spPr>
          </p:pic>
          <p:pic>
            <p:nvPicPr>
              <p:cNvPr id="252" name="Graphique 251" descr="Utilisateur avec un remplissage uni">
                <a:extLst>
                  <a:ext uri="{FF2B5EF4-FFF2-40B4-BE49-F238E27FC236}">
                    <a16:creationId xmlns:a16="http://schemas.microsoft.com/office/drawing/2014/main" id="{0A5755EA-2C19-9D46-3995-FC95AE28D3B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20868" y="3943076"/>
                <a:ext cx="336064" cy="336064"/>
              </a:xfrm>
              <a:prstGeom prst="rect">
                <a:avLst/>
              </a:prstGeom>
            </p:spPr>
          </p:pic>
          <p:pic>
            <p:nvPicPr>
              <p:cNvPr id="253" name="Graphique 252" descr="Utilisateur avec un remplissage uni">
                <a:extLst>
                  <a:ext uri="{FF2B5EF4-FFF2-40B4-BE49-F238E27FC236}">
                    <a16:creationId xmlns:a16="http://schemas.microsoft.com/office/drawing/2014/main" id="{D2264F95-9F8F-C7F8-0D74-770F230B806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742772" y="3976465"/>
                <a:ext cx="336064" cy="336064"/>
              </a:xfrm>
              <a:prstGeom prst="rect">
                <a:avLst/>
              </a:prstGeom>
            </p:spPr>
          </p:pic>
          <p:pic>
            <p:nvPicPr>
              <p:cNvPr id="254" name="Graphique 253" descr="Utilisateur avec un remplissage uni">
                <a:extLst>
                  <a:ext uri="{FF2B5EF4-FFF2-40B4-BE49-F238E27FC236}">
                    <a16:creationId xmlns:a16="http://schemas.microsoft.com/office/drawing/2014/main" id="{B3596EB2-E596-E9C6-8E49-8C299F18ADE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77110" y="3705332"/>
                <a:ext cx="336064" cy="336064"/>
              </a:xfrm>
              <a:prstGeom prst="rect">
                <a:avLst/>
              </a:prstGeom>
            </p:spPr>
          </p:pic>
          <p:pic>
            <p:nvPicPr>
              <p:cNvPr id="255" name="Graphique 254" descr="Utilisateur avec un remplissage uni">
                <a:extLst>
                  <a:ext uri="{FF2B5EF4-FFF2-40B4-BE49-F238E27FC236}">
                    <a16:creationId xmlns:a16="http://schemas.microsoft.com/office/drawing/2014/main" id="{E0B8AA25-DD8B-2AED-966F-30047AEE0F8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56932" y="3429000"/>
                <a:ext cx="336064" cy="336064"/>
              </a:xfrm>
              <a:prstGeom prst="rect">
                <a:avLst/>
              </a:prstGeom>
            </p:spPr>
          </p:pic>
        </p:grpSp>
        <p:pic>
          <p:nvPicPr>
            <p:cNvPr id="244" name="Graphique 243" descr="Boîte à archives avec un remplissage uni">
              <a:extLst>
                <a:ext uri="{FF2B5EF4-FFF2-40B4-BE49-F238E27FC236}">
                  <a16:creationId xmlns:a16="http://schemas.microsoft.com/office/drawing/2014/main" id="{CBB5739B-64C3-7C80-0E9C-54FF5DF1A50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178618" y="1572578"/>
              <a:ext cx="795089" cy="795090"/>
            </a:xfrm>
            <a:prstGeom prst="rect">
              <a:avLst/>
            </a:prstGeom>
          </p:spPr>
        </p:pic>
      </p:grpSp>
      <p:grpSp>
        <p:nvGrpSpPr>
          <p:cNvPr id="256" name="Groupe 255">
            <a:extLst>
              <a:ext uri="{FF2B5EF4-FFF2-40B4-BE49-F238E27FC236}">
                <a16:creationId xmlns:a16="http://schemas.microsoft.com/office/drawing/2014/main" id="{1A3A47AD-407C-8FB4-D138-42166ACB7118}"/>
              </a:ext>
            </a:extLst>
          </p:cNvPr>
          <p:cNvGrpSpPr/>
          <p:nvPr/>
        </p:nvGrpSpPr>
        <p:grpSpPr>
          <a:xfrm>
            <a:off x="1795079" y="3126923"/>
            <a:ext cx="1104068" cy="541981"/>
            <a:chOff x="1797481" y="3401554"/>
            <a:chExt cx="1314902" cy="645478"/>
          </a:xfrm>
        </p:grpSpPr>
        <p:grpSp>
          <p:nvGrpSpPr>
            <p:cNvPr id="257" name="Groupe 256">
              <a:extLst>
                <a:ext uri="{FF2B5EF4-FFF2-40B4-BE49-F238E27FC236}">
                  <a16:creationId xmlns:a16="http://schemas.microsoft.com/office/drawing/2014/main" id="{B29DB065-693B-7223-5270-F8F76E53CC2E}"/>
                </a:ext>
              </a:extLst>
            </p:cNvPr>
            <p:cNvGrpSpPr/>
            <p:nvPr/>
          </p:nvGrpSpPr>
          <p:grpSpPr>
            <a:xfrm>
              <a:off x="1797481" y="3401554"/>
              <a:ext cx="1314902" cy="645478"/>
              <a:chOff x="1797480" y="1339838"/>
              <a:chExt cx="2588405" cy="1270634"/>
            </a:xfrm>
          </p:grpSpPr>
          <p:grpSp>
            <p:nvGrpSpPr>
              <p:cNvPr id="259" name="Groupe 258">
                <a:extLst>
                  <a:ext uri="{FF2B5EF4-FFF2-40B4-BE49-F238E27FC236}">
                    <a16:creationId xmlns:a16="http://schemas.microsoft.com/office/drawing/2014/main" id="{62679141-01B2-C7DD-6E08-5D247E9B60C6}"/>
                  </a:ext>
                </a:extLst>
              </p:cNvPr>
              <p:cNvGrpSpPr/>
              <p:nvPr/>
            </p:nvGrpSpPr>
            <p:grpSpPr>
              <a:xfrm>
                <a:off x="1797480" y="1339838"/>
                <a:ext cx="1507135" cy="1270634"/>
                <a:chOff x="8982504" y="3274976"/>
                <a:chExt cx="1230670" cy="1037553"/>
              </a:xfrm>
              <a:solidFill>
                <a:srgbClr val="ED7D31"/>
              </a:solidFill>
            </p:grpSpPr>
            <p:pic>
              <p:nvPicPr>
                <p:cNvPr id="261" name="Graphique 260" descr="Utilisateur avec un remplissage uni">
                  <a:extLst>
                    <a:ext uri="{FF2B5EF4-FFF2-40B4-BE49-F238E27FC236}">
                      <a16:creationId xmlns:a16="http://schemas.microsoft.com/office/drawing/2014/main" id="{4F72DA53-3CA1-96C4-BC5E-A00391E44D2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01028" y="3274976"/>
                  <a:ext cx="336064" cy="336064"/>
                </a:xfrm>
                <a:prstGeom prst="rect">
                  <a:avLst/>
                </a:prstGeom>
              </p:spPr>
            </p:pic>
            <p:pic>
              <p:nvPicPr>
                <p:cNvPr id="262" name="Graphique 261" descr="Utilisateur avec un remplissage uni">
                  <a:extLst>
                    <a:ext uri="{FF2B5EF4-FFF2-40B4-BE49-F238E27FC236}">
                      <a16:creationId xmlns:a16="http://schemas.microsoft.com/office/drawing/2014/main" id="{AB056DC1-E4BA-DD92-8050-BA5E6BC7E62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054140" y="3512720"/>
                  <a:ext cx="336064" cy="336064"/>
                </a:xfrm>
                <a:prstGeom prst="rect">
                  <a:avLst/>
                </a:prstGeom>
              </p:spPr>
            </p:pic>
            <p:pic>
              <p:nvPicPr>
                <p:cNvPr id="263" name="Graphique 262" descr="Utilisateur avec un remplissage uni">
                  <a:extLst>
                    <a:ext uri="{FF2B5EF4-FFF2-40B4-BE49-F238E27FC236}">
                      <a16:creationId xmlns:a16="http://schemas.microsoft.com/office/drawing/2014/main" id="{360108EE-4E00-20D2-991D-8F1298885D8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45616" y="3561880"/>
                  <a:ext cx="336064" cy="336064"/>
                </a:xfrm>
                <a:prstGeom prst="rect">
                  <a:avLst/>
                </a:prstGeom>
              </p:spPr>
            </p:pic>
            <p:pic>
              <p:nvPicPr>
                <p:cNvPr id="264" name="Graphique 263" descr="Utilisateur avec un remplissage uni">
                  <a:extLst>
                    <a:ext uri="{FF2B5EF4-FFF2-40B4-BE49-F238E27FC236}">
                      <a16:creationId xmlns:a16="http://schemas.microsoft.com/office/drawing/2014/main" id="{15A82A1B-485E-35DE-6993-2C1E8B45101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92504" y="3418428"/>
                  <a:ext cx="336064" cy="336064"/>
                </a:xfrm>
                <a:prstGeom prst="rect">
                  <a:avLst/>
                </a:prstGeom>
              </p:spPr>
            </p:pic>
            <p:pic>
              <p:nvPicPr>
                <p:cNvPr id="265" name="Graphique 264" descr="Utilisateur avec un remplissage uni">
                  <a:extLst>
                    <a:ext uri="{FF2B5EF4-FFF2-40B4-BE49-F238E27FC236}">
                      <a16:creationId xmlns:a16="http://schemas.microsoft.com/office/drawing/2014/main" id="{46113290-7FE1-F480-CDCC-1852697D859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635196" y="3680752"/>
                  <a:ext cx="336064" cy="336064"/>
                </a:xfrm>
                <a:prstGeom prst="rect">
                  <a:avLst/>
                </a:prstGeom>
              </p:spPr>
            </p:pic>
            <p:pic>
              <p:nvPicPr>
                <p:cNvPr id="266" name="Graphique 265" descr="Utilisateur avec un remplissage uni">
                  <a:extLst>
                    <a:ext uri="{FF2B5EF4-FFF2-40B4-BE49-F238E27FC236}">
                      <a16:creationId xmlns:a16="http://schemas.microsoft.com/office/drawing/2014/main" id="{CAFDD51A-BAA6-A57F-59E4-37A141B9F5E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256440" y="3848784"/>
                  <a:ext cx="336064" cy="336064"/>
                </a:xfrm>
                <a:prstGeom prst="rect">
                  <a:avLst/>
                </a:prstGeom>
              </p:spPr>
            </p:pic>
            <p:pic>
              <p:nvPicPr>
                <p:cNvPr id="267" name="Graphique 266" descr="Utilisateur avec un remplissage uni">
                  <a:extLst>
                    <a:ext uri="{FF2B5EF4-FFF2-40B4-BE49-F238E27FC236}">
                      <a16:creationId xmlns:a16="http://schemas.microsoft.com/office/drawing/2014/main" id="{D7A6A62C-5341-FF84-0636-E2CCBAF9AAE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982504" y="3835028"/>
                  <a:ext cx="336064" cy="336064"/>
                </a:xfrm>
                <a:prstGeom prst="rect">
                  <a:avLst/>
                </a:prstGeom>
              </p:spPr>
            </p:pic>
            <p:pic>
              <p:nvPicPr>
                <p:cNvPr id="268" name="Graphique 267" descr="Utilisateur avec un remplissage uni">
                  <a:extLst>
                    <a:ext uri="{FF2B5EF4-FFF2-40B4-BE49-F238E27FC236}">
                      <a16:creationId xmlns:a16="http://schemas.microsoft.com/office/drawing/2014/main" id="{95025093-1B3D-5CE4-3E44-B3860982D91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20868" y="3943076"/>
                  <a:ext cx="336064" cy="336064"/>
                </a:xfrm>
                <a:prstGeom prst="rect">
                  <a:avLst/>
                </a:prstGeom>
              </p:spPr>
            </p:pic>
            <p:pic>
              <p:nvPicPr>
                <p:cNvPr id="269" name="Graphique 268" descr="Utilisateur avec un remplissage uni">
                  <a:extLst>
                    <a:ext uri="{FF2B5EF4-FFF2-40B4-BE49-F238E27FC236}">
                      <a16:creationId xmlns:a16="http://schemas.microsoft.com/office/drawing/2014/main" id="{C4815A5B-4E97-CC19-40C6-6154E265666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742772" y="3976465"/>
                  <a:ext cx="336064" cy="336064"/>
                </a:xfrm>
                <a:prstGeom prst="rect">
                  <a:avLst/>
                </a:prstGeom>
              </p:spPr>
            </p:pic>
            <p:pic>
              <p:nvPicPr>
                <p:cNvPr id="270" name="Graphique 269" descr="Utilisateur avec un remplissage uni">
                  <a:extLst>
                    <a:ext uri="{FF2B5EF4-FFF2-40B4-BE49-F238E27FC236}">
                      <a16:creationId xmlns:a16="http://schemas.microsoft.com/office/drawing/2014/main" id="{9E849CE3-D7BA-5F84-B483-3901F8264E9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77110" y="3705332"/>
                  <a:ext cx="336064" cy="336064"/>
                </a:xfrm>
                <a:prstGeom prst="rect">
                  <a:avLst/>
                </a:prstGeom>
              </p:spPr>
            </p:pic>
            <p:pic>
              <p:nvPicPr>
                <p:cNvPr id="271" name="Graphique 270" descr="Utilisateur avec un remplissage uni">
                  <a:extLst>
                    <a:ext uri="{FF2B5EF4-FFF2-40B4-BE49-F238E27FC236}">
                      <a16:creationId xmlns:a16="http://schemas.microsoft.com/office/drawing/2014/main" id="{17BDCB4B-A1D8-88F8-03D4-B371C36C1A6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56932" y="3429000"/>
                  <a:ext cx="336064" cy="336064"/>
                </a:xfrm>
                <a:prstGeom prst="rect">
                  <a:avLst/>
                </a:prstGeom>
              </p:spPr>
            </p:pic>
          </p:grpSp>
          <p:pic>
            <p:nvPicPr>
              <p:cNvPr id="260" name="Graphique 259" descr="Boîte à archives avec un remplissage uni">
                <a:extLst>
                  <a:ext uri="{FF2B5EF4-FFF2-40B4-BE49-F238E27FC236}">
                    <a16:creationId xmlns:a16="http://schemas.microsoft.com/office/drawing/2014/main" id="{195B2ABE-ED1E-B98E-66CA-EF5C0ECA7AE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90796" y="1573442"/>
                <a:ext cx="795089" cy="795090"/>
              </a:xfrm>
              <a:prstGeom prst="rect">
                <a:avLst/>
              </a:prstGeom>
            </p:spPr>
          </p:pic>
        </p:grpSp>
        <p:pic>
          <p:nvPicPr>
            <p:cNvPr id="258" name="Graphique 257" descr="Déverrouiller avec un remplissage uni">
              <a:extLst>
                <a:ext uri="{FF2B5EF4-FFF2-40B4-BE49-F238E27FC236}">
                  <a16:creationId xmlns:a16="http://schemas.microsoft.com/office/drawing/2014/main" id="{2FA07004-6D0A-7122-4E1A-CBD164D512D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flipH="1">
              <a:off x="2498111" y="3408841"/>
              <a:ext cx="432779" cy="462545"/>
            </a:xfrm>
            <a:prstGeom prst="rect">
              <a:avLst/>
            </a:prstGeom>
          </p:spPr>
        </p:pic>
      </p:grpSp>
      <p:grpSp>
        <p:nvGrpSpPr>
          <p:cNvPr id="272" name="Groupe 271">
            <a:extLst>
              <a:ext uri="{FF2B5EF4-FFF2-40B4-BE49-F238E27FC236}">
                <a16:creationId xmlns:a16="http://schemas.microsoft.com/office/drawing/2014/main" id="{1B10535C-0E34-DA35-112D-1B45E7CB95CE}"/>
              </a:ext>
            </a:extLst>
          </p:cNvPr>
          <p:cNvGrpSpPr/>
          <p:nvPr/>
        </p:nvGrpSpPr>
        <p:grpSpPr>
          <a:xfrm>
            <a:off x="1797707" y="3844368"/>
            <a:ext cx="1104068" cy="541981"/>
            <a:chOff x="1800611" y="4256002"/>
            <a:chExt cx="1314902" cy="645478"/>
          </a:xfrm>
        </p:grpSpPr>
        <p:grpSp>
          <p:nvGrpSpPr>
            <p:cNvPr id="273" name="Groupe 272">
              <a:extLst>
                <a:ext uri="{FF2B5EF4-FFF2-40B4-BE49-F238E27FC236}">
                  <a16:creationId xmlns:a16="http://schemas.microsoft.com/office/drawing/2014/main" id="{76DAFA0A-985F-0D4B-0004-13F4500EC20C}"/>
                </a:ext>
              </a:extLst>
            </p:cNvPr>
            <p:cNvGrpSpPr/>
            <p:nvPr/>
          </p:nvGrpSpPr>
          <p:grpSpPr>
            <a:xfrm>
              <a:off x="1800611" y="4256002"/>
              <a:ext cx="1314902" cy="645478"/>
              <a:chOff x="1797480" y="1339838"/>
              <a:chExt cx="2588405" cy="1270634"/>
            </a:xfrm>
          </p:grpSpPr>
          <p:grpSp>
            <p:nvGrpSpPr>
              <p:cNvPr id="275" name="Groupe 274">
                <a:extLst>
                  <a:ext uri="{FF2B5EF4-FFF2-40B4-BE49-F238E27FC236}">
                    <a16:creationId xmlns:a16="http://schemas.microsoft.com/office/drawing/2014/main" id="{D183099B-29AD-6FF2-EA98-6C91DBD1F75F}"/>
                  </a:ext>
                </a:extLst>
              </p:cNvPr>
              <p:cNvGrpSpPr/>
              <p:nvPr/>
            </p:nvGrpSpPr>
            <p:grpSpPr>
              <a:xfrm>
                <a:off x="1797480" y="1339838"/>
                <a:ext cx="1507135" cy="1270634"/>
                <a:chOff x="8982504" y="3274976"/>
                <a:chExt cx="1230670" cy="1037553"/>
              </a:xfrm>
              <a:solidFill>
                <a:srgbClr val="ED7D31"/>
              </a:solidFill>
            </p:grpSpPr>
            <p:pic>
              <p:nvPicPr>
                <p:cNvPr id="277" name="Graphique 276" descr="Utilisateur avec un remplissage uni">
                  <a:extLst>
                    <a:ext uri="{FF2B5EF4-FFF2-40B4-BE49-F238E27FC236}">
                      <a16:creationId xmlns:a16="http://schemas.microsoft.com/office/drawing/2014/main" id="{0A777443-2CAC-8821-EFCC-EAACCFD709F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01028" y="3274976"/>
                  <a:ext cx="336064" cy="336064"/>
                </a:xfrm>
                <a:prstGeom prst="rect">
                  <a:avLst/>
                </a:prstGeom>
              </p:spPr>
            </p:pic>
            <p:pic>
              <p:nvPicPr>
                <p:cNvPr id="278" name="Graphique 277" descr="Utilisateur avec un remplissage uni">
                  <a:extLst>
                    <a:ext uri="{FF2B5EF4-FFF2-40B4-BE49-F238E27FC236}">
                      <a16:creationId xmlns:a16="http://schemas.microsoft.com/office/drawing/2014/main" id="{63917D9F-BEB7-8858-9190-84876E028D1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054140" y="3512720"/>
                  <a:ext cx="336064" cy="336064"/>
                </a:xfrm>
                <a:prstGeom prst="rect">
                  <a:avLst/>
                </a:prstGeom>
              </p:spPr>
            </p:pic>
            <p:pic>
              <p:nvPicPr>
                <p:cNvPr id="279" name="Graphique 278" descr="Utilisateur avec un remplissage uni">
                  <a:extLst>
                    <a:ext uri="{FF2B5EF4-FFF2-40B4-BE49-F238E27FC236}">
                      <a16:creationId xmlns:a16="http://schemas.microsoft.com/office/drawing/2014/main" id="{4E46DFF2-8750-2F6B-2D93-6CEC4456251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45616" y="3561880"/>
                  <a:ext cx="336064" cy="336064"/>
                </a:xfrm>
                <a:prstGeom prst="rect">
                  <a:avLst/>
                </a:prstGeom>
              </p:spPr>
            </p:pic>
            <p:pic>
              <p:nvPicPr>
                <p:cNvPr id="280" name="Graphique 279" descr="Utilisateur avec un remplissage uni">
                  <a:extLst>
                    <a:ext uri="{FF2B5EF4-FFF2-40B4-BE49-F238E27FC236}">
                      <a16:creationId xmlns:a16="http://schemas.microsoft.com/office/drawing/2014/main" id="{C5CDC82D-64BD-3FB6-537E-728842ACE7F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92504" y="3418428"/>
                  <a:ext cx="336064" cy="336064"/>
                </a:xfrm>
                <a:prstGeom prst="rect">
                  <a:avLst/>
                </a:prstGeom>
              </p:spPr>
            </p:pic>
            <p:pic>
              <p:nvPicPr>
                <p:cNvPr id="281" name="Graphique 280" descr="Utilisateur avec un remplissage uni">
                  <a:extLst>
                    <a:ext uri="{FF2B5EF4-FFF2-40B4-BE49-F238E27FC236}">
                      <a16:creationId xmlns:a16="http://schemas.microsoft.com/office/drawing/2014/main" id="{B6FA6789-D6F4-9603-FB68-ADC8D7835E4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635196" y="3680752"/>
                  <a:ext cx="336064" cy="336064"/>
                </a:xfrm>
                <a:prstGeom prst="rect">
                  <a:avLst/>
                </a:prstGeom>
              </p:spPr>
            </p:pic>
            <p:pic>
              <p:nvPicPr>
                <p:cNvPr id="282" name="Graphique 281" descr="Utilisateur avec un remplissage uni">
                  <a:extLst>
                    <a:ext uri="{FF2B5EF4-FFF2-40B4-BE49-F238E27FC236}">
                      <a16:creationId xmlns:a16="http://schemas.microsoft.com/office/drawing/2014/main" id="{43A2748D-3E46-8EB0-28A3-D2800F94B04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256440" y="3848784"/>
                  <a:ext cx="336064" cy="336064"/>
                </a:xfrm>
                <a:prstGeom prst="rect">
                  <a:avLst/>
                </a:prstGeom>
              </p:spPr>
            </p:pic>
            <p:pic>
              <p:nvPicPr>
                <p:cNvPr id="283" name="Graphique 282" descr="Utilisateur avec un remplissage uni">
                  <a:extLst>
                    <a:ext uri="{FF2B5EF4-FFF2-40B4-BE49-F238E27FC236}">
                      <a16:creationId xmlns:a16="http://schemas.microsoft.com/office/drawing/2014/main" id="{C5E16C21-5644-5A19-30D0-7B703B6F877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982504" y="3835028"/>
                  <a:ext cx="336064" cy="336064"/>
                </a:xfrm>
                <a:prstGeom prst="rect">
                  <a:avLst/>
                </a:prstGeom>
              </p:spPr>
            </p:pic>
            <p:pic>
              <p:nvPicPr>
                <p:cNvPr id="284" name="Graphique 283" descr="Utilisateur avec un remplissage uni">
                  <a:extLst>
                    <a:ext uri="{FF2B5EF4-FFF2-40B4-BE49-F238E27FC236}">
                      <a16:creationId xmlns:a16="http://schemas.microsoft.com/office/drawing/2014/main" id="{F13CD570-9942-7F46-662E-48EB75962F5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20868" y="3943076"/>
                  <a:ext cx="336064" cy="336064"/>
                </a:xfrm>
                <a:prstGeom prst="rect">
                  <a:avLst/>
                </a:prstGeom>
              </p:spPr>
            </p:pic>
            <p:pic>
              <p:nvPicPr>
                <p:cNvPr id="285" name="Graphique 284" descr="Utilisateur avec un remplissage uni">
                  <a:extLst>
                    <a:ext uri="{FF2B5EF4-FFF2-40B4-BE49-F238E27FC236}">
                      <a16:creationId xmlns:a16="http://schemas.microsoft.com/office/drawing/2014/main" id="{E856C12F-74F7-8439-1104-233A566F743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742772" y="3976465"/>
                  <a:ext cx="336064" cy="336064"/>
                </a:xfrm>
                <a:prstGeom prst="rect">
                  <a:avLst/>
                </a:prstGeom>
              </p:spPr>
            </p:pic>
            <p:pic>
              <p:nvPicPr>
                <p:cNvPr id="286" name="Graphique 285" descr="Utilisateur avec un remplissage uni">
                  <a:extLst>
                    <a:ext uri="{FF2B5EF4-FFF2-40B4-BE49-F238E27FC236}">
                      <a16:creationId xmlns:a16="http://schemas.microsoft.com/office/drawing/2014/main" id="{252DE396-BEB7-6BF3-A421-92E2BC84A3E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77110" y="3705332"/>
                  <a:ext cx="336064" cy="336064"/>
                </a:xfrm>
                <a:prstGeom prst="rect">
                  <a:avLst/>
                </a:prstGeom>
              </p:spPr>
            </p:pic>
            <p:pic>
              <p:nvPicPr>
                <p:cNvPr id="287" name="Graphique 286" descr="Utilisateur avec un remplissage uni">
                  <a:extLst>
                    <a:ext uri="{FF2B5EF4-FFF2-40B4-BE49-F238E27FC236}">
                      <a16:creationId xmlns:a16="http://schemas.microsoft.com/office/drawing/2014/main" id="{35527940-F175-EEEA-5971-CF2F0525BA1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56932" y="3429000"/>
                  <a:ext cx="336064" cy="336064"/>
                </a:xfrm>
                <a:prstGeom prst="rect">
                  <a:avLst/>
                </a:prstGeom>
              </p:spPr>
            </p:pic>
          </p:grpSp>
          <p:pic>
            <p:nvPicPr>
              <p:cNvPr id="276" name="Graphique 275" descr="Boîte à archives avec un remplissage uni">
                <a:extLst>
                  <a:ext uri="{FF2B5EF4-FFF2-40B4-BE49-F238E27FC236}">
                    <a16:creationId xmlns:a16="http://schemas.microsoft.com/office/drawing/2014/main" id="{E8227EAE-5823-0041-3C09-EFBB7CAE367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90796" y="1573442"/>
                <a:ext cx="795089" cy="795090"/>
              </a:xfrm>
              <a:prstGeom prst="rect">
                <a:avLst/>
              </a:prstGeom>
            </p:spPr>
          </p:pic>
        </p:grpSp>
        <p:pic>
          <p:nvPicPr>
            <p:cNvPr id="274" name="Graphique 273" descr="Verrou avec un remplissage uni">
              <a:extLst>
                <a:ext uri="{FF2B5EF4-FFF2-40B4-BE49-F238E27FC236}">
                  <a16:creationId xmlns:a16="http://schemas.microsoft.com/office/drawing/2014/main" id="{8A65D805-C52C-2DD0-363D-3EBA6FB1696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493236" y="4290370"/>
              <a:ext cx="466725" cy="466725"/>
            </a:xfrm>
            <a:prstGeom prst="rect">
              <a:avLst/>
            </a:prstGeom>
          </p:spPr>
        </p:pic>
      </p:grpSp>
      <p:grpSp>
        <p:nvGrpSpPr>
          <p:cNvPr id="288" name="Groupe 287">
            <a:extLst>
              <a:ext uri="{FF2B5EF4-FFF2-40B4-BE49-F238E27FC236}">
                <a16:creationId xmlns:a16="http://schemas.microsoft.com/office/drawing/2014/main" id="{C89FAB4B-645B-0853-A68E-5850293A55DD}"/>
              </a:ext>
            </a:extLst>
          </p:cNvPr>
          <p:cNvGrpSpPr/>
          <p:nvPr/>
        </p:nvGrpSpPr>
        <p:grpSpPr>
          <a:xfrm>
            <a:off x="1782493" y="4439088"/>
            <a:ext cx="1104068" cy="646669"/>
            <a:chOff x="1782492" y="4964291"/>
            <a:chExt cx="1314902" cy="770157"/>
          </a:xfrm>
        </p:grpSpPr>
        <p:grpSp>
          <p:nvGrpSpPr>
            <p:cNvPr id="289" name="Groupe 288">
              <a:extLst>
                <a:ext uri="{FF2B5EF4-FFF2-40B4-BE49-F238E27FC236}">
                  <a16:creationId xmlns:a16="http://schemas.microsoft.com/office/drawing/2014/main" id="{A978D26F-C82F-08C0-4A04-09B63FA825AD}"/>
                </a:ext>
              </a:extLst>
            </p:cNvPr>
            <p:cNvGrpSpPr/>
            <p:nvPr/>
          </p:nvGrpSpPr>
          <p:grpSpPr>
            <a:xfrm>
              <a:off x="1782492" y="5088970"/>
              <a:ext cx="1314902" cy="645478"/>
              <a:chOff x="1797480" y="1339838"/>
              <a:chExt cx="2588405" cy="1270634"/>
            </a:xfrm>
          </p:grpSpPr>
          <p:grpSp>
            <p:nvGrpSpPr>
              <p:cNvPr id="291" name="Groupe 290">
                <a:extLst>
                  <a:ext uri="{FF2B5EF4-FFF2-40B4-BE49-F238E27FC236}">
                    <a16:creationId xmlns:a16="http://schemas.microsoft.com/office/drawing/2014/main" id="{E6A41C15-2D9C-BF68-30B4-5BED979ACD77}"/>
                  </a:ext>
                </a:extLst>
              </p:cNvPr>
              <p:cNvGrpSpPr/>
              <p:nvPr/>
            </p:nvGrpSpPr>
            <p:grpSpPr>
              <a:xfrm>
                <a:off x="1797480" y="1339838"/>
                <a:ext cx="1507135" cy="1270634"/>
                <a:chOff x="8982504" y="3274976"/>
                <a:chExt cx="1230670" cy="1037553"/>
              </a:xfrm>
              <a:solidFill>
                <a:srgbClr val="ED7D31"/>
              </a:solidFill>
            </p:grpSpPr>
            <p:pic>
              <p:nvPicPr>
                <p:cNvPr id="293" name="Graphique 292" descr="Utilisateur avec un remplissage uni">
                  <a:extLst>
                    <a:ext uri="{FF2B5EF4-FFF2-40B4-BE49-F238E27FC236}">
                      <a16:creationId xmlns:a16="http://schemas.microsoft.com/office/drawing/2014/main" id="{0292BF24-097F-F8F1-2992-EFBEB560A63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01028" y="3274976"/>
                  <a:ext cx="336064" cy="336064"/>
                </a:xfrm>
                <a:prstGeom prst="rect">
                  <a:avLst/>
                </a:prstGeom>
              </p:spPr>
            </p:pic>
            <p:pic>
              <p:nvPicPr>
                <p:cNvPr id="294" name="Graphique 293" descr="Utilisateur avec un remplissage uni">
                  <a:extLst>
                    <a:ext uri="{FF2B5EF4-FFF2-40B4-BE49-F238E27FC236}">
                      <a16:creationId xmlns:a16="http://schemas.microsoft.com/office/drawing/2014/main" id="{4A5A3DF3-0865-B439-353E-3153158A59E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054140" y="3512720"/>
                  <a:ext cx="336064" cy="336064"/>
                </a:xfrm>
                <a:prstGeom prst="rect">
                  <a:avLst/>
                </a:prstGeom>
              </p:spPr>
            </p:pic>
            <p:pic>
              <p:nvPicPr>
                <p:cNvPr id="295" name="Graphique 294" descr="Utilisateur avec un remplissage uni">
                  <a:extLst>
                    <a:ext uri="{FF2B5EF4-FFF2-40B4-BE49-F238E27FC236}">
                      <a16:creationId xmlns:a16="http://schemas.microsoft.com/office/drawing/2014/main" id="{EEBCF807-6D46-B25D-DECA-CDFF075C281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45616" y="3561880"/>
                  <a:ext cx="336064" cy="336064"/>
                </a:xfrm>
                <a:prstGeom prst="rect">
                  <a:avLst/>
                </a:prstGeom>
              </p:spPr>
            </p:pic>
            <p:pic>
              <p:nvPicPr>
                <p:cNvPr id="296" name="Graphique 295" descr="Utilisateur avec un remplissage uni">
                  <a:extLst>
                    <a:ext uri="{FF2B5EF4-FFF2-40B4-BE49-F238E27FC236}">
                      <a16:creationId xmlns:a16="http://schemas.microsoft.com/office/drawing/2014/main" id="{6EAE6E15-759E-9BEA-D0A0-F6E008ED1A0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92504" y="3418428"/>
                  <a:ext cx="336064" cy="336064"/>
                </a:xfrm>
                <a:prstGeom prst="rect">
                  <a:avLst/>
                </a:prstGeom>
              </p:spPr>
            </p:pic>
            <p:pic>
              <p:nvPicPr>
                <p:cNvPr id="297" name="Graphique 296" descr="Utilisateur avec un remplissage uni">
                  <a:extLst>
                    <a:ext uri="{FF2B5EF4-FFF2-40B4-BE49-F238E27FC236}">
                      <a16:creationId xmlns:a16="http://schemas.microsoft.com/office/drawing/2014/main" id="{86EADC9F-18D6-A31C-6EF8-C466442988B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635196" y="3680752"/>
                  <a:ext cx="336064" cy="336064"/>
                </a:xfrm>
                <a:prstGeom prst="rect">
                  <a:avLst/>
                </a:prstGeom>
              </p:spPr>
            </p:pic>
            <p:pic>
              <p:nvPicPr>
                <p:cNvPr id="298" name="Graphique 297" descr="Utilisateur avec un remplissage uni">
                  <a:extLst>
                    <a:ext uri="{FF2B5EF4-FFF2-40B4-BE49-F238E27FC236}">
                      <a16:creationId xmlns:a16="http://schemas.microsoft.com/office/drawing/2014/main" id="{0646735A-283C-80C7-8F3C-E2A848B1781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256440" y="3848784"/>
                  <a:ext cx="336064" cy="336064"/>
                </a:xfrm>
                <a:prstGeom prst="rect">
                  <a:avLst/>
                </a:prstGeom>
              </p:spPr>
            </p:pic>
            <p:pic>
              <p:nvPicPr>
                <p:cNvPr id="299" name="Graphique 298" descr="Utilisateur avec un remplissage uni">
                  <a:extLst>
                    <a:ext uri="{FF2B5EF4-FFF2-40B4-BE49-F238E27FC236}">
                      <a16:creationId xmlns:a16="http://schemas.microsoft.com/office/drawing/2014/main" id="{8E538753-BF04-5BD6-9B2D-DCF1633E8D5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982504" y="3835028"/>
                  <a:ext cx="336064" cy="336064"/>
                </a:xfrm>
                <a:prstGeom prst="rect">
                  <a:avLst/>
                </a:prstGeom>
              </p:spPr>
            </p:pic>
            <p:pic>
              <p:nvPicPr>
                <p:cNvPr id="300" name="Graphique 299" descr="Utilisateur avec un remplissage uni">
                  <a:extLst>
                    <a:ext uri="{FF2B5EF4-FFF2-40B4-BE49-F238E27FC236}">
                      <a16:creationId xmlns:a16="http://schemas.microsoft.com/office/drawing/2014/main" id="{43FC6CF1-33F0-8AED-61FE-4D756677A8A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20868" y="3943076"/>
                  <a:ext cx="336064" cy="336064"/>
                </a:xfrm>
                <a:prstGeom prst="rect">
                  <a:avLst/>
                </a:prstGeom>
              </p:spPr>
            </p:pic>
            <p:pic>
              <p:nvPicPr>
                <p:cNvPr id="301" name="Graphique 300" descr="Utilisateur avec un remplissage uni">
                  <a:extLst>
                    <a:ext uri="{FF2B5EF4-FFF2-40B4-BE49-F238E27FC236}">
                      <a16:creationId xmlns:a16="http://schemas.microsoft.com/office/drawing/2014/main" id="{D97A6042-2AD8-0DA2-7E7A-D7F3BE5DE0D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742772" y="3976465"/>
                  <a:ext cx="336064" cy="336064"/>
                </a:xfrm>
                <a:prstGeom prst="rect">
                  <a:avLst/>
                </a:prstGeom>
              </p:spPr>
            </p:pic>
            <p:pic>
              <p:nvPicPr>
                <p:cNvPr id="302" name="Graphique 301" descr="Utilisateur avec un remplissage uni">
                  <a:extLst>
                    <a:ext uri="{FF2B5EF4-FFF2-40B4-BE49-F238E27FC236}">
                      <a16:creationId xmlns:a16="http://schemas.microsoft.com/office/drawing/2014/main" id="{440B77E5-4CFD-470D-4A9F-A1DFBFE1445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77110" y="3705332"/>
                  <a:ext cx="336064" cy="336064"/>
                </a:xfrm>
                <a:prstGeom prst="rect">
                  <a:avLst/>
                </a:prstGeom>
              </p:spPr>
            </p:pic>
            <p:pic>
              <p:nvPicPr>
                <p:cNvPr id="303" name="Graphique 302" descr="Utilisateur avec un remplissage uni">
                  <a:extLst>
                    <a:ext uri="{FF2B5EF4-FFF2-40B4-BE49-F238E27FC236}">
                      <a16:creationId xmlns:a16="http://schemas.microsoft.com/office/drawing/2014/main" id="{495E6B44-A257-7DA6-9540-465885C2E5F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56932" y="3429000"/>
                  <a:ext cx="336064" cy="336064"/>
                </a:xfrm>
                <a:prstGeom prst="rect">
                  <a:avLst/>
                </a:prstGeom>
              </p:spPr>
            </p:pic>
          </p:grpSp>
          <p:pic>
            <p:nvPicPr>
              <p:cNvPr id="292" name="Graphique 291" descr="Boîte à archives avec un remplissage uni">
                <a:extLst>
                  <a:ext uri="{FF2B5EF4-FFF2-40B4-BE49-F238E27FC236}">
                    <a16:creationId xmlns:a16="http://schemas.microsoft.com/office/drawing/2014/main" id="{FA5DFB4D-6112-2E54-49D2-DAF76061081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90796" y="1573442"/>
                <a:ext cx="795089" cy="795090"/>
              </a:xfrm>
              <a:prstGeom prst="rect">
                <a:avLst/>
              </a:prstGeom>
            </p:spPr>
          </p:pic>
        </p:grpSp>
        <p:pic>
          <p:nvPicPr>
            <p:cNvPr id="290" name="Graphique 289" descr="Verrou avec un remplissage uni">
              <a:extLst>
                <a:ext uri="{FF2B5EF4-FFF2-40B4-BE49-F238E27FC236}">
                  <a16:creationId xmlns:a16="http://schemas.microsoft.com/office/drawing/2014/main" id="{80F6E178-6DD6-82D0-E6DD-7D57AD8372E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293077" y="4964291"/>
              <a:ext cx="743725" cy="743725"/>
            </a:xfrm>
            <a:prstGeom prst="rect">
              <a:avLst/>
            </a:prstGeom>
          </p:spPr>
        </p:pic>
      </p:grpSp>
      <p:grpSp>
        <p:nvGrpSpPr>
          <p:cNvPr id="304" name="Groupe 303">
            <a:extLst>
              <a:ext uri="{FF2B5EF4-FFF2-40B4-BE49-F238E27FC236}">
                <a16:creationId xmlns:a16="http://schemas.microsoft.com/office/drawing/2014/main" id="{91A17E42-0481-5E2F-0457-C35B77345B21}"/>
              </a:ext>
            </a:extLst>
          </p:cNvPr>
          <p:cNvGrpSpPr/>
          <p:nvPr/>
        </p:nvGrpSpPr>
        <p:grpSpPr>
          <a:xfrm>
            <a:off x="1776182" y="6041962"/>
            <a:ext cx="1123328" cy="541981"/>
            <a:chOff x="1804205" y="5917781"/>
            <a:chExt cx="1337840" cy="645478"/>
          </a:xfrm>
        </p:grpSpPr>
        <p:grpSp>
          <p:nvGrpSpPr>
            <p:cNvPr id="305" name="Groupe 304">
              <a:extLst>
                <a:ext uri="{FF2B5EF4-FFF2-40B4-BE49-F238E27FC236}">
                  <a16:creationId xmlns:a16="http://schemas.microsoft.com/office/drawing/2014/main" id="{4DD8B2A2-0836-A8B9-2A3C-C5186977A51A}"/>
                </a:ext>
              </a:extLst>
            </p:cNvPr>
            <p:cNvGrpSpPr/>
            <p:nvPr/>
          </p:nvGrpSpPr>
          <p:grpSpPr>
            <a:xfrm>
              <a:off x="1804205" y="5917781"/>
              <a:ext cx="1314902" cy="645478"/>
              <a:chOff x="1797480" y="1339838"/>
              <a:chExt cx="2588405" cy="1270634"/>
            </a:xfrm>
          </p:grpSpPr>
          <p:grpSp>
            <p:nvGrpSpPr>
              <p:cNvPr id="307" name="Groupe 306">
                <a:extLst>
                  <a:ext uri="{FF2B5EF4-FFF2-40B4-BE49-F238E27FC236}">
                    <a16:creationId xmlns:a16="http://schemas.microsoft.com/office/drawing/2014/main" id="{2386A9BC-4421-55AC-2D03-C80C82CF44B8}"/>
                  </a:ext>
                </a:extLst>
              </p:cNvPr>
              <p:cNvGrpSpPr/>
              <p:nvPr/>
            </p:nvGrpSpPr>
            <p:grpSpPr>
              <a:xfrm>
                <a:off x="1797480" y="1339838"/>
                <a:ext cx="1507135" cy="1270634"/>
                <a:chOff x="8982504" y="3274976"/>
                <a:chExt cx="1230670" cy="1037553"/>
              </a:xfrm>
              <a:solidFill>
                <a:srgbClr val="ED7D31"/>
              </a:solidFill>
            </p:grpSpPr>
            <p:pic>
              <p:nvPicPr>
                <p:cNvPr id="309" name="Graphique 308" descr="Utilisateur avec un remplissage uni">
                  <a:extLst>
                    <a:ext uri="{FF2B5EF4-FFF2-40B4-BE49-F238E27FC236}">
                      <a16:creationId xmlns:a16="http://schemas.microsoft.com/office/drawing/2014/main" id="{6DEE67BB-3B55-7A21-4335-A730BFBD262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01028" y="3274976"/>
                  <a:ext cx="336064" cy="336064"/>
                </a:xfrm>
                <a:prstGeom prst="rect">
                  <a:avLst/>
                </a:prstGeom>
              </p:spPr>
            </p:pic>
            <p:pic>
              <p:nvPicPr>
                <p:cNvPr id="310" name="Graphique 309" descr="Utilisateur avec un remplissage uni">
                  <a:extLst>
                    <a:ext uri="{FF2B5EF4-FFF2-40B4-BE49-F238E27FC236}">
                      <a16:creationId xmlns:a16="http://schemas.microsoft.com/office/drawing/2014/main" id="{9B46340B-E543-5130-0B9A-B9CE11BB270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054140" y="3512720"/>
                  <a:ext cx="336064" cy="336064"/>
                </a:xfrm>
                <a:prstGeom prst="rect">
                  <a:avLst/>
                </a:prstGeom>
              </p:spPr>
            </p:pic>
            <p:pic>
              <p:nvPicPr>
                <p:cNvPr id="311" name="Graphique 310" descr="Utilisateur avec un remplissage uni">
                  <a:extLst>
                    <a:ext uri="{FF2B5EF4-FFF2-40B4-BE49-F238E27FC236}">
                      <a16:creationId xmlns:a16="http://schemas.microsoft.com/office/drawing/2014/main" id="{37BC1BB8-6FCD-4329-11F3-C3AA4C69CEF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45616" y="3561880"/>
                  <a:ext cx="336064" cy="336064"/>
                </a:xfrm>
                <a:prstGeom prst="rect">
                  <a:avLst/>
                </a:prstGeom>
              </p:spPr>
            </p:pic>
            <p:pic>
              <p:nvPicPr>
                <p:cNvPr id="312" name="Graphique 311" descr="Utilisateur avec un remplissage uni">
                  <a:extLst>
                    <a:ext uri="{FF2B5EF4-FFF2-40B4-BE49-F238E27FC236}">
                      <a16:creationId xmlns:a16="http://schemas.microsoft.com/office/drawing/2014/main" id="{06100E8F-1460-DCBE-0D3E-DC8119705B0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92504" y="3418428"/>
                  <a:ext cx="336064" cy="336064"/>
                </a:xfrm>
                <a:prstGeom prst="rect">
                  <a:avLst/>
                </a:prstGeom>
              </p:spPr>
            </p:pic>
            <p:pic>
              <p:nvPicPr>
                <p:cNvPr id="313" name="Graphique 312" descr="Utilisateur avec un remplissage uni">
                  <a:extLst>
                    <a:ext uri="{FF2B5EF4-FFF2-40B4-BE49-F238E27FC236}">
                      <a16:creationId xmlns:a16="http://schemas.microsoft.com/office/drawing/2014/main" id="{F22ADEF7-78AA-F1EE-706A-EAC86967F71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635196" y="3680752"/>
                  <a:ext cx="336064" cy="336064"/>
                </a:xfrm>
                <a:prstGeom prst="rect">
                  <a:avLst/>
                </a:prstGeom>
              </p:spPr>
            </p:pic>
            <p:pic>
              <p:nvPicPr>
                <p:cNvPr id="314" name="Graphique 313" descr="Utilisateur avec un remplissage uni">
                  <a:extLst>
                    <a:ext uri="{FF2B5EF4-FFF2-40B4-BE49-F238E27FC236}">
                      <a16:creationId xmlns:a16="http://schemas.microsoft.com/office/drawing/2014/main" id="{77BAD8A9-B8D4-40AC-3DE5-1599D9BBB7B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256440" y="3848784"/>
                  <a:ext cx="336064" cy="336064"/>
                </a:xfrm>
                <a:prstGeom prst="rect">
                  <a:avLst/>
                </a:prstGeom>
              </p:spPr>
            </p:pic>
            <p:pic>
              <p:nvPicPr>
                <p:cNvPr id="315" name="Graphique 314" descr="Utilisateur avec un remplissage uni">
                  <a:extLst>
                    <a:ext uri="{FF2B5EF4-FFF2-40B4-BE49-F238E27FC236}">
                      <a16:creationId xmlns:a16="http://schemas.microsoft.com/office/drawing/2014/main" id="{999072B0-29B1-0049-FF64-37D32CB12B7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982504" y="3835028"/>
                  <a:ext cx="336064" cy="336064"/>
                </a:xfrm>
                <a:prstGeom prst="rect">
                  <a:avLst/>
                </a:prstGeom>
              </p:spPr>
            </p:pic>
            <p:pic>
              <p:nvPicPr>
                <p:cNvPr id="316" name="Graphique 315" descr="Utilisateur avec un remplissage uni">
                  <a:extLst>
                    <a:ext uri="{FF2B5EF4-FFF2-40B4-BE49-F238E27FC236}">
                      <a16:creationId xmlns:a16="http://schemas.microsoft.com/office/drawing/2014/main" id="{206EB8AB-E8C6-944E-6CDC-6AAF33E5651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20868" y="3943076"/>
                  <a:ext cx="336064" cy="336064"/>
                </a:xfrm>
                <a:prstGeom prst="rect">
                  <a:avLst/>
                </a:prstGeom>
              </p:spPr>
            </p:pic>
            <p:pic>
              <p:nvPicPr>
                <p:cNvPr id="317" name="Graphique 316" descr="Utilisateur avec un remplissage uni">
                  <a:extLst>
                    <a:ext uri="{FF2B5EF4-FFF2-40B4-BE49-F238E27FC236}">
                      <a16:creationId xmlns:a16="http://schemas.microsoft.com/office/drawing/2014/main" id="{F351C84E-1006-5740-F3E2-43276DFAA69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742772" y="3976465"/>
                  <a:ext cx="336064" cy="336064"/>
                </a:xfrm>
                <a:prstGeom prst="rect">
                  <a:avLst/>
                </a:prstGeom>
              </p:spPr>
            </p:pic>
            <p:pic>
              <p:nvPicPr>
                <p:cNvPr id="318" name="Graphique 317" descr="Utilisateur avec un remplissage uni">
                  <a:extLst>
                    <a:ext uri="{FF2B5EF4-FFF2-40B4-BE49-F238E27FC236}">
                      <a16:creationId xmlns:a16="http://schemas.microsoft.com/office/drawing/2014/main" id="{73CF552E-CB79-A006-DD79-E1F42790B93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77110" y="3705332"/>
                  <a:ext cx="336064" cy="336064"/>
                </a:xfrm>
                <a:prstGeom prst="rect">
                  <a:avLst/>
                </a:prstGeom>
              </p:spPr>
            </p:pic>
            <p:pic>
              <p:nvPicPr>
                <p:cNvPr id="319" name="Graphique 318" descr="Utilisateur avec un remplissage uni">
                  <a:extLst>
                    <a:ext uri="{FF2B5EF4-FFF2-40B4-BE49-F238E27FC236}">
                      <a16:creationId xmlns:a16="http://schemas.microsoft.com/office/drawing/2014/main" id="{037D38E8-FAC3-8D4B-9B75-CD1188523BE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56932" y="3429000"/>
                  <a:ext cx="336064" cy="336064"/>
                </a:xfrm>
                <a:prstGeom prst="rect">
                  <a:avLst/>
                </a:prstGeom>
              </p:spPr>
            </p:pic>
          </p:grpSp>
          <p:pic>
            <p:nvPicPr>
              <p:cNvPr id="308" name="Graphique 307" descr="Boîte à archives avec un remplissage uni">
                <a:extLst>
                  <a:ext uri="{FF2B5EF4-FFF2-40B4-BE49-F238E27FC236}">
                    <a16:creationId xmlns:a16="http://schemas.microsoft.com/office/drawing/2014/main" id="{154D1FE3-DCCB-7196-1CF6-1FD7DAAA3B9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90796" y="1573442"/>
                <a:ext cx="795089" cy="795090"/>
              </a:xfrm>
              <a:prstGeom prst="rect">
                <a:avLst/>
              </a:prstGeom>
            </p:spPr>
          </p:pic>
        </p:grpSp>
        <p:pic>
          <p:nvPicPr>
            <p:cNvPr id="306" name="Graphique 305" descr="Fermer avec un remplissage uni">
              <a:extLst>
                <a:ext uri="{FF2B5EF4-FFF2-40B4-BE49-F238E27FC236}">
                  <a16:creationId xmlns:a16="http://schemas.microsoft.com/office/drawing/2014/main" id="{184A374C-0AE1-39AE-BCAF-BAFA5E78752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668633" y="5995180"/>
              <a:ext cx="473412" cy="473412"/>
            </a:xfrm>
            <a:prstGeom prst="rect">
              <a:avLst/>
            </a:prstGeom>
          </p:spPr>
        </p:pic>
      </p:grpSp>
      <p:grpSp>
        <p:nvGrpSpPr>
          <p:cNvPr id="320" name="Groupe 319">
            <a:extLst>
              <a:ext uri="{FF2B5EF4-FFF2-40B4-BE49-F238E27FC236}">
                <a16:creationId xmlns:a16="http://schemas.microsoft.com/office/drawing/2014/main" id="{4553E445-3935-36A5-B02A-1EC9159BA69C}"/>
              </a:ext>
            </a:extLst>
          </p:cNvPr>
          <p:cNvGrpSpPr/>
          <p:nvPr/>
        </p:nvGrpSpPr>
        <p:grpSpPr>
          <a:xfrm>
            <a:off x="1762164" y="5278245"/>
            <a:ext cx="1104068" cy="541981"/>
            <a:chOff x="1775004" y="5236420"/>
            <a:chExt cx="1104068" cy="541981"/>
          </a:xfrm>
        </p:grpSpPr>
        <p:grpSp>
          <p:nvGrpSpPr>
            <p:cNvPr id="321" name="Groupe 320">
              <a:extLst>
                <a:ext uri="{FF2B5EF4-FFF2-40B4-BE49-F238E27FC236}">
                  <a16:creationId xmlns:a16="http://schemas.microsoft.com/office/drawing/2014/main" id="{2B8A29F6-6FFE-95A6-7D88-AC51BC3EE7C1}"/>
                </a:ext>
              </a:extLst>
            </p:cNvPr>
            <p:cNvGrpSpPr/>
            <p:nvPr/>
          </p:nvGrpSpPr>
          <p:grpSpPr>
            <a:xfrm>
              <a:off x="1775004" y="5236420"/>
              <a:ext cx="1104068" cy="541981"/>
              <a:chOff x="1797480" y="1339838"/>
              <a:chExt cx="2588405" cy="1270634"/>
            </a:xfrm>
          </p:grpSpPr>
          <p:grpSp>
            <p:nvGrpSpPr>
              <p:cNvPr id="323" name="Groupe 322">
                <a:extLst>
                  <a:ext uri="{FF2B5EF4-FFF2-40B4-BE49-F238E27FC236}">
                    <a16:creationId xmlns:a16="http://schemas.microsoft.com/office/drawing/2014/main" id="{65CFFA9A-6A24-8EA7-E667-BE0CC787E262}"/>
                  </a:ext>
                </a:extLst>
              </p:cNvPr>
              <p:cNvGrpSpPr/>
              <p:nvPr/>
            </p:nvGrpSpPr>
            <p:grpSpPr>
              <a:xfrm>
                <a:off x="1797480" y="1339838"/>
                <a:ext cx="1507135" cy="1270634"/>
                <a:chOff x="8982504" y="3274976"/>
                <a:chExt cx="1230670" cy="1037553"/>
              </a:xfrm>
              <a:solidFill>
                <a:srgbClr val="ED7D31"/>
              </a:solidFill>
            </p:grpSpPr>
            <p:pic>
              <p:nvPicPr>
                <p:cNvPr id="325" name="Graphique 324" descr="Utilisateur avec un remplissage uni">
                  <a:extLst>
                    <a:ext uri="{FF2B5EF4-FFF2-40B4-BE49-F238E27FC236}">
                      <a16:creationId xmlns:a16="http://schemas.microsoft.com/office/drawing/2014/main" id="{5FF3A6C6-2DED-8205-15BF-8A6A5AA3E7D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01028" y="3274976"/>
                  <a:ext cx="336064" cy="336064"/>
                </a:xfrm>
                <a:prstGeom prst="rect">
                  <a:avLst/>
                </a:prstGeom>
              </p:spPr>
            </p:pic>
            <p:pic>
              <p:nvPicPr>
                <p:cNvPr id="326" name="Graphique 325" descr="Utilisateur avec un remplissage uni">
                  <a:extLst>
                    <a:ext uri="{FF2B5EF4-FFF2-40B4-BE49-F238E27FC236}">
                      <a16:creationId xmlns:a16="http://schemas.microsoft.com/office/drawing/2014/main" id="{BFA9C7F2-CFF9-7488-0946-B9FE9F32BD8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054140" y="3512720"/>
                  <a:ext cx="336064" cy="336064"/>
                </a:xfrm>
                <a:prstGeom prst="rect">
                  <a:avLst/>
                </a:prstGeom>
              </p:spPr>
            </p:pic>
            <p:pic>
              <p:nvPicPr>
                <p:cNvPr id="327" name="Graphique 326" descr="Utilisateur avec un remplissage uni">
                  <a:extLst>
                    <a:ext uri="{FF2B5EF4-FFF2-40B4-BE49-F238E27FC236}">
                      <a16:creationId xmlns:a16="http://schemas.microsoft.com/office/drawing/2014/main" id="{D69BA59E-3C34-625C-C603-2D3A3245147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45616" y="3561880"/>
                  <a:ext cx="336064" cy="336064"/>
                </a:xfrm>
                <a:prstGeom prst="rect">
                  <a:avLst/>
                </a:prstGeom>
              </p:spPr>
            </p:pic>
            <p:pic>
              <p:nvPicPr>
                <p:cNvPr id="328" name="Graphique 327" descr="Utilisateur avec un remplissage uni">
                  <a:extLst>
                    <a:ext uri="{FF2B5EF4-FFF2-40B4-BE49-F238E27FC236}">
                      <a16:creationId xmlns:a16="http://schemas.microsoft.com/office/drawing/2014/main" id="{C29D9704-CF68-747C-4C36-3BA37D36278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92504" y="3418428"/>
                  <a:ext cx="336064" cy="336064"/>
                </a:xfrm>
                <a:prstGeom prst="rect">
                  <a:avLst/>
                </a:prstGeom>
              </p:spPr>
            </p:pic>
            <p:pic>
              <p:nvPicPr>
                <p:cNvPr id="329" name="Graphique 328" descr="Utilisateur avec un remplissage uni">
                  <a:extLst>
                    <a:ext uri="{FF2B5EF4-FFF2-40B4-BE49-F238E27FC236}">
                      <a16:creationId xmlns:a16="http://schemas.microsoft.com/office/drawing/2014/main" id="{877F0985-C843-FBF3-EB8B-469D91ABC6A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635196" y="3680752"/>
                  <a:ext cx="336064" cy="336064"/>
                </a:xfrm>
                <a:prstGeom prst="rect">
                  <a:avLst/>
                </a:prstGeom>
              </p:spPr>
            </p:pic>
            <p:pic>
              <p:nvPicPr>
                <p:cNvPr id="330" name="Graphique 329" descr="Utilisateur avec un remplissage uni">
                  <a:extLst>
                    <a:ext uri="{FF2B5EF4-FFF2-40B4-BE49-F238E27FC236}">
                      <a16:creationId xmlns:a16="http://schemas.microsoft.com/office/drawing/2014/main" id="{DB4998F9-5DA1-AD8C-9AF6-29850F37F39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256440" y="3848784"/>
                  <a:ext cx="336064" cy="336064"/>
                </a:xfrm>
                <a:prstGeom prst="rect">
                  <a:avLst/>
                </a:prstGeom>
              </p:spPr>
            </p:pic>
            <p:pic>
              <p:nvPicPr>
                <p:cNvPr id="331" name="Graphique 330" descr="Utilisateur avec un remplissage uni">
                  <a:extLst>
                    <a:ext uri="{FF2B5EF4-FFF2-40B4-BE49-F238E27FC236}">
                      <a16:creationId xmlns:a16="http://schemas.microsoft.com/office/drawing/2014/main" id="{55F1F11B-AA45-24E2-9D56-45AB5F01B6E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982504" y="3835028"/>
                  <a:ext cx="336064" cy="336064"/>
                </a:xfrm>
                <a:prstGeom prst="rect">
                  <a:avLst/>
                </a:prstGeom>
              </p:spPr>
            </p:pic>
            <p:pic>
              <p:nvPicPr>
                <p:cNvPr id="332" name="Graphique 331" descr="Utilisateur avec un remplissage uni">
                  <a:extLst>
                    <a:ext uri="{FF2B5EF4-FFF2-40B4-BE49-F238E27FC236}">
                      <a16:creationId xmlns:a16="http://schemas.microsoft.com/office/drawing/2014/main" id="{B7C8F86E-7724-24D2-FD85-0B0DDA3C42D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20868" y="3943076"/>
                  <a:ext cx="336064" cy="336064"/>
                </a:xfrm>
                <a:prstGeom prst="rect">
                  <a:avLst/>
                </a:prstGeom>
              </p:spPr>
            </p:pic>
            <p:pic>
              <p:nvPicPr>
                <p:cNvPr id="333" name="Graphique 332" descr="Utilisateur avec un remplissage uni">
                  <a:extLst>
                    <a:ext uri="{FF2B5EF4-FFF2-40B4-BE49-F238E27FC236}">
                      <a16:creationId xmlns:a16="http://schemas.microsoft.com/office/drawing/2014/main" id="{9CDE569F-9C83-4394-1B3F-1C14D9D9068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742772" y="3976465"/>
                  <a:ext cx="336064" cy="336064"/>
                </a:xfrm>
                <a:prstGeom prst="rect">
                  <a:avLst/>
                </a:prstGeom>
              </p:spPr>
            </p:pic>
            <p:pic>
              <p:nvPicPr>
                <p:cNvPr id="334" name="Graphique 333" descr="Utilisateur avec un remplissage uni">
                  <a:extLst>
                    <a:ext uri="{FF2B5EF4-FFF2-40B4-BE49-F238E27FC236}">
                      <a16:creationId xmlns:a16="http://schemas.microsoft.com/office/drawing/2014/main" id="{23544B55-B309-E581-CDBE-6B4DFE893A4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77110" y="3705332"/>
                  <a:ext cx="336064" cy="336064"/>
                </a:xfrm>
                <a:prstGeom prst="rect">
                  <a:avLst/>
                </a:prstGeom>
              </p:spPr>
            </p:pic>
            <p:pic>
              <p:nvPicPr>
                <p:cNvPr id="335" name="Graphique 334" descr="Utilisateur avec un remplissage uni">
                  <a:extLst>
                    <a:ext uri="{FF2B5EF4-FFF2-40B4-BE49-F238E27FC236}">
                      <a16:creationId xmlns:a16="http://schemas.microsoft.com/office/drawing/2014/main" id="{FBBA478C-21B9-2659-5EFD-5582E3E5F34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56932" y="3429000"/>
                  <a:ext cx="336064" cy="336064"/>
                </a:xfrm>
                <a:prstGeom prst="rect">
                  <a:avLst/>
                </a:prstGeom>
              </p:spPr>
            </p:pic>
          </p:grpSp>
          <p:pic>
            <p:nvPicPr>
              <p:cNvPr id="324" name="Graphique 323" descr="Boîte à archives avec un remplissage uni">
                <a:extLst>
                  <a:ext uri="{FF2B5EF4-FFF2-40B4-BE49-F238E27FC236}">
                    <a16:creationId xmlns:a16="http://schemas.microsoft.com/office/drawing/2014/main" id="{7ACFBBCF-2D5E-2E87-39E8-2F6CA7A5A5E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90796" y="1573442"/>
                <a:ext cx="795089" cy="795090"/>
              </a:xfrm>
              <a:prstGeom prst="rect">
                <a:avLst/>
              </a:prstGeom>
            </p:spPr>
          </p:pic>
        </p:grpSp>
        <p:pic>
          <p:nvPicPr>
            <p:cNvPr id="322" name="Graphique 321" descr="Point d’interrogation avec un remplissage uni">
              <a:extLst>
                <a:ext uri="{FF2B5EF4-FFF2-40B4-BE49-F238E27FC236}">
                  <a16:creationId xmlns:a16="http://schemas.microsoft.com/office/drawing/2014/main" id="{1423FA51-0E1F-C38D-18AD-F62D0214CB0E}"/>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537302" y="5319965"/>
              <a:ext cx="332767" cy="332767"/>
            </a:xfrm>
            <a:prstGeom prst="rect">
              <a:avLst/>
            </a:prstGeom>
          </p:spPr>
        </p:pic>
      </p:grpSp>
      <p:sp>
        <p:nvSpPr>
          <p:cNvPr id="336" name="ZoneTexte 335">
            <a:extLst>
              <a:ext uri="{FF2B5EF4-FFF2-40B4-BE49-F238E27FC236}">
                <a16:creationId xmlns:a16="http://schemas.microsoft.com/office/drawing/2014/main" id="{05E157C8-3025-91ED-6E5F-9D257CC3F2DE}"/>
              </a:ext>
            </a:extLst>
          </p:cNvPr>
          <p:cNvSpPr txBox="1"/>
          <p:nvPr/>
        </p:nvSpPr>
        <p:spPr>
          <a:xfrm>
            <a:off x="231192" y="1711868"/>
            <a:ext cx="1692000" cy="577081"/>
          </a:xfrm>
          <a:prstGeom prst="rect">
            <a:avLst/>
          </a:prstGeom>
          <a:noFill/>
        </p:spPr>
        <p:txBody>
          <a:bodyPr wrap="square">
            <a:spAutoFit/>
          </a:bodyPr>
          <a:lstStyle/>
          <a:p>
            <a:r>
              <a:rPr lang="fr-FR" sz="1050" dirty="0"/>
              <a:t>Intéressant et déjà mis en commun dans la Communauté</a:t>
            </a:r>
          </a:p>
        </p:txBody>
      </p:sp>
      <p:sp>
        <p:nvSpPr>
          <p:cNvPr id="337" name="ZoneTexte 336">
            <a:extLst>
              <a:ext uri="{FF2B5EF4-FFF2-40B4-BE49-F238E27FC236}">
                <a16:creationId xmlns:a16="http://schemas.microsoft.com/office/drawing/2014/main" id="{3BA90627-5389-511E-A0A2-0F0A26B882E4}"/>
              </a:ext>
            </a:extLst>
          </p:cNvPr>
          <p:cNvSpPr txBox="1"/>
          <p:nvPr/>
        </p:nvSpPr>
        <p:spPr>
          <a:xfrm>
            <a:off x="206061" y="2359332"/>
            <a:ext cx="1692000" cy="577081"/>
          </a:xfrm>
          <a:prstGeom prst="rect">
            <a:avLst/>
          </a:prstGeom>
          <a:noFill/>
        </p:spPr>
        <p:txBody>
          <a:bodyPr wrap="square">
            <a:spAutoFit/>
          </a:bodyPr>
          <a:lstStyle/>
          <a:p>
            <a:r>
              <a:rPr lang="fr-FR" sz="1050" dirty="0"/>
              <a:t>Intéressant, accessible par la Communauté mais pas (encore) mis en commun</a:t>
            </a:r>
          </a:p>
        </p:txBody>
      </p:sp>
      <p:sp>
        <p:nvSpPr>
          <p:cNvPr id="338" name="ZoneTexte 337">
            <a:extLst>
              <a:ext uri="{FF2B5EF4-FFF2-40B4-BE49-F238E27FC236}">
                <a16:creationId xmlns:a16="http://schemas.microsoft.com/office/drawing/2014/main" id="{7BF86D84-9624-AE66-ED08-1925B72F2E9B}"/>
              </a:ext>
            </a:extLst>
          </p:cNvPr>
          <p:cNvSpPr txBox="1"/>
          <p:nvPr/>
        </p:nvSpPr>
        <p:spPr>
          <a:xfrm>
            <a:off x="189980" y="3099250"/>
            <a:ext cx="1692000" cy="738664"/>
          </a:xfrm>
          <a:prstGeom prst="rect">
            <a:avLst/>
          </a:prstGeom>
          <a:noFill/>
        </p:spPr>
        <p:txBody>
          <a:bodyPr wrap="square">
            <a:spAutoFit/>
          </a:bodyPr>
          <a:lstStyle/>
          <a:p>
            <a:r>
              <a:rPr lang="fr-FR" sz="1050" dirty="0"/>
              <a:t>Intéressant, manquant et plus facilement accessible en tant que Communauté (vs en individus)</a:t>
            </a:r>
          </a:p>
        </p:txBody>
      </p:sp>
      <p:sp>
        <p:nvSpPr>
          <p:cNvPr id="339" name="ZoneTexte 338">
            <a:extLst>
              <a:ext uri="{FF2B5EF4-FFF2-40B4-BE49-F238E27FC236}">
                <a16:creationId xmlns:a16="http://schemas.microsoft.com/office/drawing/2014/main" id="{D8C354EE-41B0-637E-5B91-6FEE98149988}"/>
              </a:ext>
            </a:extLst>
          </p:cNvPr>
          <p:cNvSpPr txBox="1"/>
          <p:nvPr/>
        </p:nvSpPr>
        <p:spPr>
          <a:xfrm>
            <a:off x="171511" y="3871868"/>
            <a:ext cx="1692000" cy="577081"/>
          </a:xfrm>
          <a:prstGeom prst="rect">
            <a:avLst/>
          </a:prstGeom>
          <a:noFill/>
        </p:spPr>
        <p:txBody>
          <a:bodyPr wrap="square">
            <a:spAutoFit/>
          </a:bodyPr>
          <a:lstStyle/>
          <a:p>
            <a:r>
              <a:rPr lang="fr-FR" sz="1050" dirty="0"/>
              <a:t>Intéressant, manquant et potentiellement accessible, difficulté d’accès inconnue</a:t>
            </a:r>
          </a:p>
        </p:txBody>
      </p:sp>
      <p:sp>
        <p:nvSpPr>
          <p:cNvPr id="340" name="ZoneTexte 339">
            <a:extLst>
              <a:ext uri="{FF2B5EF4-FFF2-40B4-BE49-F238E27FC236}">
                <a16:creationId xmlns:a16="http://schemas.microsoft.com/office/drawing/2014/main" id="{223D1FEB-27CB-75B2-5E7A-82C3A4DCFFB5}"/>
              </a:ext>
            </a:extLst>
          </p:cNvPr>
          <p:cNvSpPr txBox="1"/>
          <p:nvPr/>
        </p:nvSpPr>
        <p:spPr>
          <a:xfrm>
            <a:off x="164065" y="4514628"/>
            <a:ext cx="1692000" cy="738664"/>
          </a:xfrm>
          <a:prstGeom prst="rect">
            <a:avLst/>
          </a:prstGeom>
          <a:noFill/>
        </p:spPr>
        <p:txBody>
          <a:bodyPr wrap="square">
            <a:spAutoFit/>
          </a:bodyPr>
          <a:lstStyle/>
          <a:p>
            <a:r>
              <a:rPr lang="fr-FR" sz="1050" dirty="0"/>
              <a:t>Intéressant, manquant et difficilement accessible, même en tant que Communauté</a:t>
            </a:r>
          </a:p>
        </p:txBody>
      </p:sp>
      <p:sp>
        <p:nvSpPr>
          <p:cNvPr id="341" name="ZoneTexte 340">
            <a:extLst>
              <a:ext uri="{FF2B5EF4-FFF2-40B4-BE49-F238E27FC236}">
                <a16:creationId xmlns:a16="http://schemas.microsoft.com/office/drawing/2014/main" id="{C1CA08CA-E1F5-52A1-7B66-02A1BD85F570}"/>
              </a:ext>
            </a:extLst>
          </p:cNvPr>
          <p:cNvSpPr txBox="1"/>
          <p:nvPr/>
        </p:nvSpPr>
        <p:spPr>
          <a:xfrm>
            <a:off x="126852" y="5386344"/>
            <a:ext cx="1549313" cy="415498"/>
          </a:xfrm>
          <a:prstGeom prst="rect">
            <a:avLst/>
          </a:prstGeom>
          <a:noFill/>
        </p:spPr>
        <p:txBody>
          <a:bodyPr wrap="square">
            <a:spAutoFit/>
          </a:bodyPr>
          <a:lstStyle/>
          <a:p>
            <a:r>
              <a:rPr lang="fr-FR" sz="1050" dirty="0"/>
              <a:t>Intérêt inconnu pour la Communauté, manquant</a:t>
            </a:r>
          </a:p>
        </p:txBody>
      </p:sp>
      <p:sp>
        <p:nvSpPr>
          <p:cNvPr id="342" name="Espace réservé du contenu 2">
            <a:extLst>
              <a:ext uri="{FF2B5EF4-FFF2-40B4-BE49-F238E27FC236}">
                <a16:creationId xmlns:a16="http://schemas.microsoft.com/office/drawing/2014/main" id="{69BD39AC-D5D1-3850-D37A-7A20F121C0F1}"/>
              </a:ext>
            </a:extLst>
          </p:cNvPr>
          <p:cNvSpPr>
            <a:spLocks noGrp="1"/>
          </p:cNvSpPr>
          <p:nvPr>
            <p:ph idx="1"/>
          </p:nvPr>
        </p:nvSpPr>
        <p:spPr>
          <a:xfrm>
            <a:off x="145387" y="6096357"/>
            <a:ext cx="1630795" cy="691911"/>
          </a:xfrm>
        </p:spPr>
        <p:txBody>
          <a:bodyPr>
            <a:normAutofit/>
          </a:bodyPr>
          <a:lstStyle/>
          <a:p>
            <a:pPr marL="0" indent="0">
              <a:buNone/>
            </a:pPr>
            <a:r>
              <a:rPr lang="fr-FR" sz="1050" dirty="0"/>
              <a:t>Pas intéressant a priori pour une mise en commun la Communauté</a:t>
            </a:r>
          </a:p>
        </p:txBody>
      </p:sp>
      <p:sp>
        <p:nvSpPr>
          <p:cNvPr id="144" name="Flèche : haut 143">
            <a:extLst>
              <a:ext uri="{FF2B5EF4-FFF2-40B4-BE49-F238E27FC236}">
                <a16:creationId xmlns:a16="http://schemas.microsoft.com/office/drawing/2014/main" id="{FDDF135E-8CA3-2D69-DC0E-7AA0783B448E}"/>
              </a:ext>
            </a:extLst>
          </p:cNvPr>
          <p:cNvSpPr/>
          <p:nvPr/>
        </p:nvSpPr>
        <p:spPr>
          <a:xfrm>
            <a:off x="2951734" y="1575148"/>
            <a:ext cx="304800" cy="509790"/>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69" name="Rectangle 168">
            <a:extLst>
              <a:ext uri="{FF2B5EF4-FFF2-40B4-BE49-F238E27FC236}">
                <a16:creationId xmlns:a16="http://schemas.microsoft.com/office/drawing/2014/main" id="{2CDB68A8-63E4-C56E-678D-A803F08BACE6}"/>
              </a:ext>
            </a:extLst>
          </p:cNvPr>
          <p:cNvSpPr/>
          <p:nvPr/>
        </p:nvSpPr>
        <p:spPr>
          <a:xfrm>
            <a:off x="3030945" y="2396187"/>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0" name="Rectangle 169">
            <a:extLst>
              <a:ext uri="{FF2B5EF4-FFF2-40B4-BE49-F238E27FC236}">
                <a16:creationId xmlns:a16="http://schemas.microsoft.com/office/drawing/2014/main" id="{1F45050A-4418-CA03-F4CB-58674A2BAF29}"/>
              </a:ext>
            </a:extLst>
          </p:cNvPr>
          <p:cNvSpPr/>
          <p:nvPr/>
        </p:nvSpPr>
        <p:spPr>
          <a:xfrm>
            <a:off x="3030945" y="3178811"/>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1" name="Rectangle 170">
            <a:extLst>
              <a:ext uri="{FF2B5EF4-FFF2-40B4-BE49-F238E27FC236}">
                <a16:creationId xmlns:a16="http://schemas.microsoft.com/office/drawing/2014/main" id="{3F3DFD51-FBFE-5E09-CA43-97E3E8742159}"/>
              </a:ext>
            </a:extLst>
          </p:cNvPr>
          <p:cNvSpPr/>
          <p:nvPr/>
        </p:nvSpPr>
        <p:spPr>
          <a:xfrm>
            <a:off x="3030945" y="3890411"/>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2" name="Rectangle 171">
            <a:extLst>
              <a:ext uri="{FF2B5EF4-FFF2-40B4-BE49-F238E27FC236}">
                <a16:creationId xmlns:a16="http://schemas.microsoft.com/office/drawing/2014/main" id="{B477B6AD-FA50-825E-80DF-469788F713C9}"/>
              </a:ext>
            </a:extLst>
          </p:cNvPr>
          <p:cNvSpPr/>
          <p:nvPr/>
        </p:nvSpPr>
        <p:spPr>
          <a:xfrm>
            <a:off x="3030945" y="4602011"/>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3" name="Rectangle 172">
            <a:extLst>
              <a:ext uri="{FF2B5EF4-FFF2-40B4-BE49-F238E27FC236}">
                <a16:creationId xmlns:a16="http://schemas.microsoft.com/office/drawing/2014/main" id="{A47E6AFF-1222-61AC-C025-65B3FF4E0D4E}"/>
              </a:ext>
            </a:extLst>
          </p:cNvPr>
          <p:cNvSpPr/>
          <p:nvPr/>
        </p:nvSpPr>
        <p:spPr>
          <a:xfrm>
            <a:off x="3030945" y="5295855"/>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4" name="Rectangle 173">
            <a:extLst>
              <a:ext uri="{FF2B5EF4-FFF2-40B4-BE49-F238E27FC236}">
                <a16:creationId xmlns:a16="http://schemas.microsoft.com/office/drawing/2014/main" id="{FB951BFB-B64D-0CA7-F880-08CFBDD55047}"/>
              </a:ext>
            </a:extLst>
          </p:cNvPr>
          <p:cNvSpPr/>
          <p:nvPr/>
        </p:nvSpPr>
        <p:spPr>
          <a:xfrm>
            <a:off x="3030945" y="5954188"/>
            <a:ext cx="143095" cy="4003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5" name="Rectangle 174">
            <a:extLst>
              <a:ext uri="{FF2B5EF4-FFF2-40B4-BE49-F238E27FC236}">
                <a16:creationId xmlns:a16="http://schemas.microsoft.com/office/drawing/2014/main" id="{6F7496F6-7378-2802-1613-669D6145A8CD}"/>
              </a:ext>
            </a:extLst>
          </p:cNvPr>
          <p:cNvSpPr/>
          <p:nvPr/>
        </p:nvSpPr>
        <p:spPr>
          <a:xfrm>
            <a:off x="5019012" y="1894053"/>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valeur des membres qui partagent, ou récompense en contrepartie d’un partage (ex: reconnaissance, mise en avant des transmetteurs)</a:t>
            </a:r>
          </a:p>
        </p:txBody>
      </p:sp>
      <p:sp>
        <p:nvSpPr>
          <p:cNvPr id="176" name="Rectangle 175">
            <a:extLst>
              <a:ext uri="{FF2B5EF4-FFF2-40B4-BE49-F238E27FC236}">
                <a16:creationId xmlns:a16="http://schemas.microsoft.com/office/drawing/2014/main" id="{3A67A161-4C90-7948-B84F-161666B1ED51}"/>
              </a:ext>
            </a:extLst>
          </p:cNvPr>
          <p:cNvSpPr/>
          <p:nvPr/>
        </p:nvSpPr>
        <p:spPr>
          <a:xfrm>
            <a:off x="3245396" y="1894053"/>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place de règles d’usage des ressources partagées (ex: Remplir le réservoir d’un véhicule partagé)</a:t>
            </a:r>
          </a:p>
        </p:txBody>
      </p:sp>
      <p:sp>
        <p:nvSpPr>
          <p:cNvPr id="177" name="Rectangle 176">
            <a:extLst>
              <a:ext uri="{FF2B5EF4-FFF2-40B4-BE49-F238E27FC236}">
                <a16:creationId xmlns:a16="http://schemas.microsoft.com/office/drawing/2014/main" id="{345F437C-72A0-19C5-20E5-7B4B3FBFAD06}"/>
              </a:ext>
            </a:extLst>
          </p:cNvPr>
          <p:cNvSpPr/>
          <p:nvPr/>
        </p:nvSpPr>
        <p:spPr>
          <a:xfrm>
            <a:off x="6792627" y="1894053"/>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📅✍️Bourse des ressources potentiellement intéressantes et  votes sur les niveaux d’intérêts (ex: liste des expériences sur lesquels faire des retours)</a:t>
            </a:r>
          </a:p>
        </p:txBody>
      </p:sp>
      <p:sp>
        <p:nvSpPr>
          <p:cNvPr id="178" name="Rectangle 177">
            <a:extLst>
              <a:ext uri="{FF2B5EF4-FFF2-40B4-BE49-F238E27FC236}">
                <a16:creationId xmlns:a16="http://schemas.microsoft.com/office/drawing/2014/main" id="{C9886072-7BF7-C73D-8AA0-2FA4DA1B4635}"/>
              </a:ext>
            </a:extLst>
          </p:cNvPr>
          <p:cNvSpPr/>
          <p:nvPr/>
        </p:nvSpPr>
        <p:spPr>
          <a:xfrm>
            <a:off x="8556687" y="1894053"/>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place d’épreuves internes à la Communauté pour l’ accès à certaines ressources (ex: Devoir rendre des services pour accéder à la bibliothèque) </a:t>
            </a:r>
          </a:p>
        </p:txBody>
      </p:sp>
      <p:sp>
        <p:nvSpPr>
          <p:cNvPr id="179" name="Rectangle 178">
            <a:extLst>
              <a:ext uri="{FF2B5EF4-FFF2-40B4-BE49-F238E27FC236}">
                <a16:creationId xmlns:a16="http://schemas.microsoft.com/office/drawing/2014/main" id="{57C335BA-4F72-A302-FE46-B5608C3871A9}"/>
              </a:ext>
            </a:extLst>
          </p:cNvPr>
          <p:cNvSpPr/>
          <p:nvPr/>
        </p:nvSpPr>
        <p:spPr>
          <a:xfrm>
            <a:off x="5019012" y="2649963"/>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⚙️Système de votes, de priorisation sur les ressources à partager (ex: voter sur ce qui les expériences intéressantes à partager dans la Communauté)</a:t>
            </a:r>
          </a:p>
        </p:txBody>
      </p:sp>
      <p:sp>
        <p:nvSpPr>
          <p:cNvPr id="180" name="Rectangle 179">
            <a:extLst>
              <a:ext uri="{FF2B5EF4-FFF2-40B4-BE49-F238E27FC236}">
                <a16:creationId xmlns:a16="http://schemas.microsoft.com/office/drawing/2014/main" id="{B2CEFA6C-AB33-19F6-8C38-DF57827DCB02}"/>
              </a:ext>
            </a:extLst>
          </p:cNvPr>
          <p:cNvSpPr/>
          <p:nvPr/>
        </p:nvSpPr>
        <p:spPr>
          <a:xfrm>
            <a:off x="3245396" y="2649963"/>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📅✍️Partage d’exemples extérieurs / renseignement sur les possibilités d’accès (ex: liste des aides accessibles pour les associations)</a:t>
            </a:r>
          </a:p>
        </p:txBody>
      </p:sp>
      <p:sp>
        <p:nvSpPr>
          <p:cNvPr id="181" name="Rectangle 180">
            <a:extLst>
              <a:ext uri="{FF2B5EF4-FFF2-40B4-BE49-F238E27FC236}">
                <a16:creationId xmlns:a16="http://schemas.microsoft.com/office/drawing/2014/main" id="{2E5682E2-036F-8070-5182-BCCEECC0B2A0}"/>
              </a:ext>
            </a:extLst>
          </p:cNvPr>
          <p:cNvSpPr/>
          <p:nvPr/>
        </p:nvSpPr>
        <p:spPr>
          <a:xfrm>
            <a:off x="6792627" y="2649963"/>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place d’une structure administrative officielle pouvant effectuer des demandes (ex: Création d’une association, d’un compte en banque associatif)</a:t>
            </a:r>
          </a:p>
        </p:txBody>
      </p:sp>
      <p:sp>
        <p:nvSpPr>
          <p:cNvPr id="182" name="Rectangle 181">
            <a:extLst>
              <a:ext uri="{FF2B5EF4-FFF2-40B4-BE49-F238E27FC236}">
                <a16:creationId xmlns:a16="http://schemas.microsoft.com/office/drawing/2014/main" id="{B1F25771-66FE-6DC2-C4FA-774472FE9AB2}"/>
              </a:ext>
            </a:extLst>
          </p:cNvPr>
          <p:cNvSpPr/>
          <p:nvPr/>
        </p:nvSpPr>
        <p:spPr>
          <a:xfrm>
            <a:off x="5019012" y="3353346"/>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place de tâches d’investigation / d’évaluation d’un effort d’accès (ex: Tâche de benchmark pour évaluer les coûts des outils)</a:t>
            </a:r>
          </a:p>
        </p:txBody>
      </p:sp>
      <p:sp>
        <p:nvSpPr>
          <p:cNvPr id="183" name="Rectangle 182">
            <a:extLst>
              <a:ext uri="{FF2B5EF4-FFF2-40B4-BE49-F238E27FC236}">
                <a16:creationId xmlns:a16="http://schemas.microsoft.com/office/drawing/2014/main" id="{2FEA5980-E79A-ECF5-E229-1C24365D4A33}"/>
              </a:ext>
            </a:extLst>
          </p:cNvPr>
          <p:cNvSpPr/>
          <p:nvPr/>
        </p:nvSpPr>
        <p:spPr>
          <a:xfrm>
            <a:off x="3245396" y="3353346"/>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relation avec des personnes expérimentées (ex: rencontre d’autres Communautés qui disposent d’aides)</a:t>
            </a:r>
          </a:p>
        </p:txBody>
      </p:sp>
      <p:sp>
        <p:nvSpPr>
          <p:cNvPr id="184" name="Rectangle 183">
            <a:extLst>
              <a:ext uri="{FF2B5EF4-FFF2-40B4-BE49-F238E27FC236}">
                <a16:creationId xmlns:a16="http://schemas.microsoft.com/office/drawing/2014/main" id="{45A71681-36AC-06B3-D6F9-88EFE019C21A}"/>
              </a:ext>
            </a:extLst>
          </p:cNvPr>
          <p:cNvSpPr/>
          <p:nvPr/>
        </p:nvSpPr>
        <p:spPr>
          <a:xfrm>
            <a:off x="3245396" y="4062591"/>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📅Recherche d’alternatives moins difficiles d’accès à une ressource (ex: rechercher de la location de matériel plutôt qu’un achat)</a:t>
            </a:r>
          </a:p>
        </p:txBody>
      </p:sp>
      <p:sp>
        <p:nvSpPr>
          <p:cNvPr id="185" name="Rectangle 184">
            <a:extLst>
              <a:ext uri="{FF2B5EF4-FFF2-40B4-BE49-F238E27FC236}">
                <a16:creationId xmlns:a16="http://schemas.microsoft.com/office/drawing/2014/main" id="{0CDF3CA4-EFD2-7E5F-57AD-E7CB60C208B2}"/>
              </a:ext>
            </a:extLst>
          </p:cNvPr>
          <p:cNvSpPr/>
          <p:nvPr/>
        </p:nvSpPr>
        <p:spPr>
          <a:xfrm>
            <a:off x="5019012" y="4772057"/>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relation avec des personnes expérimentées dans l’usage et les bénéfices (ex: demande de retours d’autres Communautés sur un outil)</a:t>
            </a:r>
          </a:p>
        </p:txBody>
      </p:sp>
      <p:sp>
        <p:nvSpPr>
          <p:cNvPr id="186" name="Rectangle 185">
            <a:extLst>
              <a:ext uri="{FF2B5EF4-FFF2-40B4-BE49-F238E27FC236}">
                <a16:creationId xmlns:a16="http://schemas.microsoft.com/office/drawing/2014/main" id="{E6A93CB0-9BA4-ECD9-13DB-1DA23CDBC2D2}"/>
              </a:ext>
            </a:extLst>
          </p:cNvPr>
          <p:cNvSpPr/>
          <p:nvPr/>
        </p:nvSpPr>
        <p:spPr>
          <a:xfrm>
            <a:off x="3245396" y="4772057"/>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Partage sur les ressources possibles potentiellement accessibles et votes d’intérêt (ex: catalogue de formation sur lequel voter)</a:t>
            </a:r>
          </a:p>
        </p:txBody>
      </p:sp>
      <p:sp>
        <p:nvSpPr>
          <p:cNvPr id="187" name="Rectangle 186">
            <a:extLst>
              <a:ext uri="{FF2B5EF4-FFF2-40B4-BE49-F238E27FC236}">
                <a16:creationId xmlns:a16="http://schemas.microsoft.com/office/drawing/2014/main" id="{7E502A10-89A0-3B66-A9CE-BB5DCA48C215}"/>
              </a:ext>
            </a:extLst>
          </p:cNvPr>
          <p:cNvSpPr/>
          <p:nvPr/>
        </p:nvSpPr>
        <p:spPr>
          <a:xfrm>
            <a:off x="3245396" y="5516552"/>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📅✍️Renseignement régulier sur les intérêts potentiels des membres</a:t>
            </a:r>
          </a:p>
        </p:txBody>
      </p:sp>
      <p:sp>
        <p:nvSpPr>
          <p:cNvPr id="188" name="Rectangle 187">
            <a:extLst>
              <a:ext uri="{FF2B5EF4-FFF2-40B4-BE49-F238E27FC236}">
                <a16:creationId xmlns:a16="http://schemas.microsoft.com/office/drawing/2014/main" id="{D1C68ADF-8688-90DB-3CE2-5802D55EE6EB}"/>
              </a:ext>
            </a:extLst>
          </p:cNvPr>
          <p:cNvSpPr/>
          <p:nvPr/>
        </p:nvSpPr>
        <p:spPr>
          <a:xfrm>
            <a:off x="10320747" y="1894053"/>
            <a:ext cx="1744401" cy="6258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📅✍️Partage d’exemples extérieurs de mise en commun de ressources (ex: montrer comment une autre Communauté partage de l’info)</a:t>
            </a:r>
          </a:p>
        </p:txBody>
      </p:sp>
    </p:spTree>
    <p:extLst>
      <p:ext uri="{BB962C8B-B14F-4D97-AF65-F5344CB8AC3E}">
        <p14:creationId xmlns:p14="http://schemas.microsoft.com/office/powerpoint/2010/main" val="826973779"/>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 name="Groupe 87">
            <a:extLst>
              <a:ext uri="{FF2B5EF4-FFF2-40B4-BE49-F238E27FC236}">
                <a16:creationId xmlns:a16="http://schemas.microsoft.com/office/drawing/2014/main" id="{2E5172DC-B0C8-F79F-7857-6D71DC21B16F}"/>
              </a:ext>
            </a:extLst>
          </p:cNvPr>
          <p:cNvGrpSpPr/>
          <p:nvPr/>
        </p:nvGrpSpPr>
        <p:grpSpPr>
          <a:xfrm>
            <a:off x="9882981" y="2827825"/>
            <a:ext cx="1991465" cy="2442209"/>
            <a:chOff x="8860995" y="282959"/>
            <a:chExt cx="3407094" cy="4178249"/>
          </a:xfrm>
          <a:solidFill>
            <a:schemeClr val="tx1"/>
          </a:solidFill>
        </p:grpSpPr>
        <p:pic>
          <p:nvPicPr>
            <p:cNvPr id="89" name="Graphique 88" descr="Diagramme de flux avec un remplissage uni">
              <a:extLst>
                <a:ext uri="{FF2B5EF4-FFF2-40B4-BE49-F238E27FC236}">
                  <a16:creationId xmlns:a16="http://schemas.microsoft.com/office/drawing/2014/main" id="{7B1FA9F2-0968-F40A-1D16-D178049692A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90" name="Groupe 89">
              <a:extLst>
                <a:ext uri="{FF2B5EF4-FFF2-40B4-BE49-F238E27FC236}">
                  <a16:creationId xmlns:a16="http://schemas.microsoft.com/office/drawing/2014/main" id="{E5A8A27F-179A-F6BD-2251-1C4E19678125}"/>
                </a:ext>
              </a:extLst>
            </p:cNvPr>
            <p:cNvGrpSpPr/>
            <p:nvPr/>
          </p:nvGrpSpPr>
          <p:grpSpPr>
            <a:xfrm>
              <a:off x="8860995" y="282959"/>
              <a:ext cx="3360434" cy="4178249"/>
              <a:chOff x="8860995" y="282959"/>
              <a:chExt cx="3360434" cy="4178249"/>
            </a:xfrm>
            <a:grpFill/>
          </p:grpSpPr>
          <p:pic>
            <p:nvPicPr>
              <p:cNvPr id="91" name="Graphique 90" descr="Diagramme de flux avec un remplissage uni">
                <a:extLst>
                  <a:ext uri="{FF2B5EF4-FFF2-40B4-BE49-F238E27FC236}">
                    <a16:creationId xmlns:a16="http://schemas.microsoft.com/office/drawing/2014/main" id="{B76C4A38-7052-01CB-E58C-ABA99B61EF6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92" name="Graphique 91" descr="Diagramme de flux avec un remplissage uni">
                <a:extLst>
                  <a:ext uri="{FF2B5EF4-FFF2-40B4-BE49-F238E27FC236}">
                    <a16:creationId xmlns:a16="http://schemas.microsoft.com/office/drawing/2014/main" id="{F5B5FF72-9CA0-1165-5FAF-8FDFA191CFE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93" name="Graphique 92" descr="Diagramme de flux avec un remplissage uni">
                <a:extLst>
                  <a:ext uri="{FF2B5EF4-FFF2-40B4-BE49-F238E27FC236}">
                    <a16:creationId xmlns:a16="http://schemas.microsoft.com/office/drawing/2014/main" id="{324C79AA-6FD9-A7F4-44AE-41A7692655A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94" name="Graphique 93" descr="Diagramme de flux avec un remplissage uni">
                <a:extLst>
                  <a:ext uri="{FF2B5EF4-FFF2-40B4-BE49-F238E27FC236}">
                    <a16:creationId xmlns:a16="http://schemas.microsoft.com/office/drawing/2014/main" id="{6EF867F2-2F26-BB06-B8F6-B34C50FDE8E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95" name="Graphique 94" descr="Diagramme de flux avec un remplissage uni">
                <a:extLst>
                  <a:ext uri="{FF2B5EF4-FFF2-40B4-BE49-F238E27FC236}">
                    <a16:creationId xmlns:a16="http://schemas.microsoft.com/office/drawing/2014/main" id="{997830FD-EC9F-EFE5-5C8E-FA116DCEEBA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96" name="Graphique 95" descr="Diagramme de flux avec un remplissage uni">
                <a:extLst>
                  <a:ext uri="{FF2B5EF4-FFF2-40B4-BE49-F238E27FC236}">
                    <a16:creationId xmlns:a16="http://schemas.microsoft.com/office/drawing/2014/main" id="{5792D281-6FAB-D3E8-C460-CAB85D971A8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97" name="Graphique 96" descr="Diagramme de flux avec un remplissage uni">
                <a:extLst>
                  <a:ext uri="{FF2B5EF4-FFF2-40B4-BE49-F238E27FC236}">
                    <a16:creationId xmlns:a16="http://schemas.microsoft.com/office/drawing/2014/main" id="{C8E6E8AB-58CB-6C06-46E1-8511236153D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98" name="Graphique 97" descr="Diagramme de flux avec un remplissage uni">
                <a:extLst>
                  <a:ext uri="{FF2B5EF4-FFF2-40B4-BE49-F238E27FC236}">
                    <a16:creationId xmlns:a16="http://schemas.microsoft.com/office/drawing/2014/main" id="{0CA065C2-5333-B881-5A2A-90F775AACD7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99" name="Graphique 98" descr="Diagramme de flux avec un remplissage uni">
                <a:extLst>
                  <a:ext uri="{FF2B5EF4-FFF2-40B4-BE49-F238E27FC236}">
                    <a16:creationId xmlns:a16="http://schemas.microsoft.com/office/drawing/2014/main" id="{DE47146C-3725-4498-C000-060BA3C1869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100" name="Graphique 99" descr="Diagramme de flux avec un remplissage uni">
                <a:extLst>
                  <a:ext uri="{FF2B5EF4-FFF2-40B4-BE49-F238E27FC236}">
                    <a16:creationId xmlns:a16="http://schemas.microsoft.com/office/drawing/2014/main" id="{650109E2-F0BD-1507-0FFF-DE8FF3805DA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101" name="Graphique 100" descr="Diagramme de flux avec un remplissage uni">
                <a:extLst>
                  <a:ext uri="{FF2B5EF4-FFF2-40B4-BE49-F238E27FC236}">
                    <a16:creationId xmlns:a16="http://schemas.microsoft.com/office/drawing/2014/main" id="{474F6F3D-FE97-F4C5-318C-BEF8A4E0D94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102" name="Graphique 101" descr="Diagramme de flux avec un remplissage uni">
                <a:extLst>
                  <a:ext uri="{FF2B5EF4-FFF2-40B4-BE49-F238E27FC236}">
                    <a16:creationId xmlns:a16="http://schemas.microsoft.com/office/drawing/2014/main" id="{7C95C397-DC5B-0D73-9FED-6B3F3E398EB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103" name="Graphique 102" descr="Diagramme de flux avec un remplissage uni">
                <a:extLst>
                  <a:ext uri="{FF2B5EF4-FFF2-40B4-BE49-F238E27FC236}">
                    <a16:creationId xmlns:a16="http://schemas.microsoft.com/office/drawing/2014/main" id="{6A7585B3-E322-A0B4-649F-59609BC4EEF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104" name="Graphique 103" descr="Diagramme de flux avec un remplissage uni">
                <a:extLst>
                  <a:ext uri="{FF2B5EF4-FFF2-40B4-BE49-F238E27FC236}">
                    <a16:creationId xmlns:a16="http://schemas.microsoft.com/office/drawing/2014/main" id="{2234F2F6-6150-042D-34A5-435C0B32A6F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105" name="Graphique 104" descr="Diagramme de flux avec un remplissage uni">
                <a:extLst>
                  <a:ext uri="{FF2B5EF4-FFF2-40B4-BE49-F238E27FC236}">
                    <a16:creationId xmlns:a16="http://schemas.microsoft.com/office/drawing/2014/main" id="{1CBFCB62-8464-0D01-148C-1815779FE97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106" name="Graphique 105" descr="Diagramme de flux avec un remplissage uni">
                <a:extLst>
                  <a:ext uri="{FF2B5EF4-FFF2-40B4-BE49-F238E27FC236}">
                    <a16:creationId xmlns:a16="http://schemas.microsoft.com/office/drawing/2014/main" id="{FD435E30-A34F-C2A1-8FC2-D85231A6536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grpSp>
        <p:nvGrpSpPr>
          <p:cNvPr id="2" name="Groupe 1">
            <a:extLst>
              <a:ext uri="{FF2B5EF4-FFF2-40B4-BE49-F238E27FC236}">
                <a16:creationId xmlns:a16="http://schemas.microsoft.com/office/drawing/2014/main" id="{AF3FCAE7-C495-DDCE-691C-DD47693E734E}"/>
              </a:ext>
            </a:extLst>
          </p:cNvPr>
          <p:cNvGrpSpPr/>
          <p:nvPr/>
        </p:nvGrpSpPr>
        <p:grpSpPr>
          <a:xfrm>
            <a:off x="126762" y="2713561"/>
            <a:ext cx="2470601" cy="2081723"/>
            <a:chOff x="1002939" y="2686938"/>
            <a:chExt cx="2470601" cy="2081723"/>
          </a:xfrm>
        </p:grpSpPr>
        <p:sp>
          <p:nvSpPr>
            <p:cNvPr id="107" name="Forme libre : forme 106">
              <a:extLst>
                <a:ext uri="{FF2B5EF4-FFF2-40B4-BE49-F238E27FC236}">
                  <a16:creationId xmlns:a16="http://schemas.microsoft.com/office/drawing/2014/main" id="{ADA138BA-04D7-D611-C5EA-107136030AAC}"/>
                </a:ext>
              </a:extLst>
            </p:cNvPr>
            <p:cNvSpPr/>
            <p:nvPr/>
          </p:nvSpPr>
          <p:spPr>
            <a:xfrm>
              <a:off x="1002939" y="2686938"/>
              <a:ext cx="1846868" cy="121566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7620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08" name="Forme libre : forme 107">
              <a:extLst>
                <a:ext uri="{FF2B5EF4-FFF2-40B4-BE49-F238E27FC236}">
                  <a16:creationId xmlns:a16="http://schemas.microsoft.com/office/drawing/2014/main" id="{9BC62DA7-0774-D8DF-6DDD-812B3D8AF3E3}"/>
                </a:ext>
              </a:extLst>
            </p:cNvPr>
            <p:cNvSpPr/>
            <p:nvPr/>
          </p:nvSpPr>
          <p:spPr>
            <a:xfrm>
              <a:off x="2370656" y="3584340"/>
              <a:ext cx="1102884" cy="1184321"/>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7620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09" name="Forme libre : forme 108">
              <a:extLst>
                <a:ext uri="{FF2B5EF4-FFF2-40B4-BE49-F238E27FC236}">
                  <a16:creationId xmlns:a16="http://schemas.microsoft.com/office/drawing/2014/main" id="{96652759-F9B2-332D-18A3-5C0DA37363C7}"/>
                </a:ext>
              </a:extLst>
            </p:cNvPr>
            <p:cNvSpPr/>
            <p:nvPr/>
          </p:nvSpPr>
          <p:spPr>
            <a:xfrm>
              <a:off x="1080707" y="3543045"/>
              <a:ext cx="1482348" cy="598041"/>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7620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35" name="Titre 1">
            <a:extLst>
              <a:ext uri="{FF2B5EF4-FFF2-40B4-BE49-F238E27FC236}">
                <a16:creationId xmlns:a16="http://schemas.microsoft.com/office/drawing/2014/main" id="{A5618FAE-D13A-53DB-E0BF-00D114B23310}"/>
              </a:ext>
            </a:extLst>
          </p:cNvPr>
          <p:cNvSpPr txBox="1">
            <a:spLocks/>
          </p:cNvSpPr>
          <p:nvPr/>
        </p:nvSpPr>
        <p:spPr>
          <a:xfrm>
            <a:off x="126762" y="2065040"/>
            <a:ext cx="2584264"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Communautés d’entreprise </a:t>
            </a:r>
          </a:p>
        </p:txBody>
      </p:sp>
      <p:sp>
        <p:nvSpPr>
          <p:cNvPr id="136" name="Titre 1">
            <a:extLst>
              <a:ext uri="{FF2B5EF4-FFF2-40B4-BE49-F238E27FC236}">
                <a16:creationId xmlns:a16="http://schemas.microsoft.com/office/drawing/2014/main" id="{7989E85E-26C3-BA11-C4C3-BC285E5E0A48}"/>
              </a:ext>
            </a:extLst>
          </p:cNvPr>
          <p:cNvSpPr txBox="1">
            <a:spLocks/>
          </p:cNvSpPr>
          <p:nvPr/>
        </p:nvSpPr>
        <p:spPr>
          <a:xfrm>
            <a:off x="9371654" y="2094708"/>
            <a:ext cx="2792840" cy="59223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Formats traditionnels (équipes, département, poste officiel etc.)</a:t>
            </a:r>
          </a:p>
        </p:txBody>
      </p:sp>
      <p:sp>
        <p:nvSpPr>
          <p:cNvPr id="137" name="Titre 1">
            <a:extLst>
              <a:ext uri="{FF2B5EF4-FFF2-40B4-BE49-F238E27FC236}">
                <a16:creationId xmlns:a16="http://schemas.microsoft.com/office/drawing/2014/main" id="{FE3F54C2-1B17-2A52-0AB9-0B09D89A80D9}"/>
              </a:ext>
            </a:extLst>
          </p:cNvPr>
          <p:cNvSpPr>
            <a:spLocks noGrp="1"/>
          </p:cNvSpPr>
          <p:nvPr>
            <p:ph type="title"/>
          </p:nvPr>
        </p:nvSpPr>
        <p:spPr>
          <a:xfrm>
            <a:off x="1312762" y="365125"/>
            <a:ext cx="10041038" cy="1325563"/>
          </a:xfrm>
        </p:spPr>
        <p:txBody>
          <a:bodyPr>
            <a:noAutofit/>
          </a:bodyPr>
          <a:lstStyle/>
          <a:p>
            <a:r>
              <a:rPr lang="fr-FR" sz="3200" dirty="0"/>
              <a:t>Les blocages vis-à-vis du format Communauté ou équipe</a:t>
            </a:r>
            <a:br>
              <a:rPr lang="fr-FR" sz="3200" dirty="0"/>
            </a:br>
            <a:r>
              <a:rPr lang="fr-FR" sz="3200" dirty="0"/>
              <a:t>Liste d’exemples</a:t>
            </a:r>
          </a:p>
        </p:txBody>
      </p:sp>
      <p:grpSp>
        <p:nvGrpSpPr>
          <p:cNvPr id="29" name="Groupe 28">
            <a:extLst>
              <a:ext uri="{FF2B5EF4-FFF2-40B4-BE49-F238E27FC236}">
                <a16:creationId xmlns:a16="http://schemas.microsoft.com/office/drawing/2014/main" id="{6E1C65DA-181C-E630-E4C4-52E8ABE539A4}"/>
              </a:ext>
            </a:extLst>
          </p:cNvPr>
          <p:cNvGrpSpPr/>
          <p:nvPr/>
        </p:nvGrpSpPr>
        <p:grpSpPr>
          <a:xfrm>
            <a:off x="147728" y="4000299"/>
            <a:ext cx="1234754" cy="1117758"/>
            <a:chOff x="-4435634" y="3221970"/>
            <a:chExt cx="4325260" cy="3915430"/>
          </a:xfrm>
        </p:grpSpPr>
        <p:pic>
          <p:nvPicPr>
            <p:cNvPr id="30" name="Espace réservé du contenu 6" descr="Tribunal contour">
              <a:extLst>
                <a:ext uri="{FF2B5EF4-FFF2-40B4-BE49-F238E27FC236}">
                  <a16:creationId xmlns:a16="http://schemas.microsoft.com/office/drawing/2014/main" id="{2F8B8C90-0FFB-2E80-8563-14CBBB3F6790}"/>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12060" r="8805" b="62496"/>
            <a:stretch/>
          </p:blipFill>
          <p:spPr>
            <a:xfrm>
              <a:off x="-4435633" y="3221970"/>
              <a:ext cx="4325259" cy="1324928"/>
            </a:xfrm>
            <a:prstGeom prst="rect">
              <a:avLst/>
            </a:prstGeom>
          </p:spPr>
        </p:pic>
        <p:grpSp>
          <p:nvGrpSpPr>
            <p:cNvPr id="31" name="Groupe 30">
              <a:extLst>
                <a:ext uri="{FF2B5EF4-FFF2-40B4-BE49-F238E27FC236}">
                  <a16:creationId xmlns:a16="http://schemas.microsoft.com/office/drawing/2014/main" id="{6200D35A-E840-6BBE-637E-AA1D6AC2CF2C}"/>
                </a:ext>
              </a:extLst>
            </p:cNvPr>
            <p:cNvGrpSpPr/>
            <p:nvPr/>
          </p:nvGrpSpPr>
          <p:grpSpPr>
            <a:xfrm>
              <a:off x="-4435634" y="4520418"/>
              <a:ext cx="4325260" cy="2616982"/>
              <a:chOff x="-4435634" y="4520418"/>
              <a:chExt cx="4325260" cy="2616982"/>
            </a:xfrm>
          </p:grpSpPr>
          <p:pic>
            <p:nvPicPr>
              <p:cNvPr id="32" name="Espace réservé du contenu 6" descr="Tribunal contour">
                <a:extLst>
                  <a:ext uri="{FF2B5EF4-FFF2-40B4-BE49-F238E27FC236}">
                    <a16:creationId xmlns:a16="http://schemas.microsoft.com/office/drawing/2014/main" id="{DECB01E6-5041-064F-686E-DB9109DBA0E1}"/>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37523" r="8805" b="24898"/>
              <a:stretch/>
            </p:blipFill>
            <p:spPr>
              <a:xfrm>
                <a:off x="-4435633" y="4520418"/>
                <a:ext cx="4325259" cy="1956816"/>
              </a:xfrm>
              <a:prstGeom prst="rect">
                <a:avLst/>
              </a:prstGeom>
            </p:spPr>
          </p:pic>
          <p:pic>
            <p:nvPicPr>
              <p:cNvPr id="33" name="Graphique 32" descr="Réussite du groupe avec un remplissage uni">
                <a:extLst>
                  <a:ext uri="{FF2B5EF4-FFF2-40B4-BE49-F238E27FC236}">
                    <a16:creationId xmlns:a16="http://schemas.microsoft.com/office/drawing/2014/main" id="{F9AE94FC-E33D-0733-137F-9FB98D7C7155}"/>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3979" b="19010"/>
              <a:stretch/>
            </p:blipFill>
            <p:spPr>
              <a:xfrm>
                <a:off x="-3132680" y="5325090"/>
                <a:ext cx="1719352" cy="1152144"/>
              </a:xfrm>
              <a:prstGeom prst="rect">
                <a:avLst/>
              </a:prstGeom>
            </p:spPr>
          </p:pic>
          <p:pic>
            <p:nvPicPr>
              <p:cNvPr id="34" name="Espace réservé du contenu 6" descr="Tribunal contour">
                <a:extLst>
                  <a:ext uri="{FF2B5EF4-FFF2-40B4-BE49-F238E27FC236}">
                    <a16:creationId xmlns:a16="http://schemas.microsoft.com/office/drawing/2014/main" id="{4898D518-41DB-DEDA-BCC5-4ABE9ACD9CCD}"/>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l="8133" t="75103" r="8805" b="12219"/>
              <a:stretch/>
            </p:blipFill>
            <p:spPr>
              <a:xfrm>
                <a:off x="-4435634" y="6477233"/>
                <a:ext cx="4325259" cy="660167"/>
              </a:xfrm>
              <a:prstGeom prst="rect">
                <a:avLst/>
              </a:prstGeom>
            </p:spPr>
          </p:pic>
        </p:grpSp>
      </p:grpSp>
      <p:sp>
        <p:nvSpPr>
          <p:cNvPr id="3" name="Flèche : droite 2">
            <a:extLst>
              <a:ext uri="{FF2B5EF4-FFF2-40B4-BE49-F238E27FC236}">
                <a16:creationId xmlns:a16="http://schemas.microsoft.com/office/drawing/2014/main" id="{C83F12CD-818C-80BC-8E0C-8A62C2DC3BF2}"/>
              </a:ext>
            </a:extLst>
          </p:cNvPr>
          <p:cNvSpPr/>
          <p:nvPr/>
        </p:nvSpPr>
        <p:spPr>
          <a:xfrm>
            <a:off x="3093040" y="3457341"/>
            <a:ext cx="5846896" cy="513349"/>
          </a:xfrm>
          <a:prstGeom prst="rightArrow">
            <a:avLst>
              <a:gd name="adj1" fmla="val 50000"/>
              <a:gd name="adj2" fmla="val 288588"/>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b="1" dirty="0"/>
              <a:t>Blocages invitant à privilégier un format traditionnel (équipes, départements, etc.)</a:t>
            </a:r>
          </a:p>
        </p:txBody>
      </p:sp>
      <p:sp>
        <p:nvSpPr>
          <p:cNvPr id="37" name="Flèche : gauche 36">
            <a:extLst>
              <a:ext uri="{FF2B5EF4-FFF2-40B4-BE49-F238E27FC236}">
                <a16:creationId xmlns:a16="http://schemas.microsoft.com/office/drawing/2014/main" id="{394948C7-1197-5823-D312-5731CB027C3F}"/>
              </a:ext>
            </a:extLst>
          </p:cNvPr>
          <p:cNvSpPr/>
          <p:nvPr/>
        </p:nvSpPr>
        <p:spPr>
          <a:xfrm>
            <a:off x="3055680" y="4306640"/>
            <a:ext cx="5846896" cy="513349"/>
          </a:xfrm>
          <a:prstGeom prst="leftArrow">
            <a:avLst>
              <a:gd name="adj1" fmla="val 50000"/>
              <a:gd name="adj2" fmla="val 29512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b="1" dirty="0"/>
              <a:t>Blocages invitant à privilégier à un format Communauté d’entreprise</a:t>
            </a:r>
          </a:p>
        </p:txBody>
      </p:sp>
      <p:sp>
        <p:nvSpPr>
          <p:cNvPr id="43" name="Rectangle 42">
            <a:extLst>
              <a:ext uri="{FF2B5EF4-FFF2-40B4-BE49-F238E27FC236}">
                <a16:creationId xmlns:a16="http://schemas.microsoft.com/office/drawing/2014/main" id="{8D78E94B-F13B-B355-7162-B26E5DD7D814}"/>
              </a:ext>
            </a:extLst>
          </p:cNvPr>
          <p:cNvSpPr/>
          <p:nvPr/>
        </p:nvSpPr>
        <p:spPr>
          <a:xfrm>
            <a:off x="5429021" y="2563423"/>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L’expression </a:t>
            </a:r>
            <a:r>
              <a:rPr lang="fr-FR" sz="800" dirty="0" err="1">
                <a:solidFill>
                  <a:schemeClr val="tx1"/>
                </a:solidFill>
              </a:rPr>
              <a:t>bottom</a:t>
            </a:r>
            <a:r>
              <a:rPr lang="fr-FR" sz="800" dirty="0">
                <a:solidFill>
                  <a:schemeClr val="tx1"/>
                </a:solidFill>
              </a:rPr>
              <a:t>-up (par les membres) s’affaiblit fortement voire est nulle, au profit d’une confiance aux directives top-down</a:t>
            </a:r>
          </a:p>
        </p:txBody>
      </p:sp>
      <p:sp>
        <p:nvSpPr>
          <p:cNvPr id="44" name="Rectangle 43">
            <a:extLst>
              <a:ext uri="{FF2B5EF4-FFF2-40B4-BE49-F238E27FC236}">
                <a16:creationId xmlns:a16="http://schemas.microsoft.com/office/drawing/2014/main" id="{CF9514D1-88A2-9645-F0FC-098390307687}"/>
              </a:ext>
            </a:extLst>
          </p:cNvPr>
          <p:cNvSpPr/>
          <p:nvPr/>
        </p:nvSpPr>
        <p:spPr>
          <a:xfrm>
            <a:off x="4264259" y="2563423"/>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Inquiétudes sur la reddition de comptes et la responsabilité des membres en cas de problème de la Communauté</a:t>
            </a:r>
          </a:p>
        </p:txBody>
      </p:sp>
      <p:sp>
        <p:nvSpPr>
          <p:cNvPr id="45" name="Rectangle 44">
            <a:extLst>
              <a:ext uri="{FF2B5EF4-FFF2-40B4-BE49-F238E27FC236}">
                <a16:creationId xmlns:a16="http://schemas.microsoft.com/office/drawing/2014/main" id="{A9A3A6C8-1E66-7D95-3AA7-B72B28187019}"/>
              </a:ext>
            </a:extLst>
          </p:cNvPr>
          <p:cNvSpPr/>
          <p:nvPr/>
        </p:nvSpPr>
        <p:spPr>
          <a:xfrm>
            <a:off x="6607659" y="2563423"/>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Il y a besoin croissant de figer une structure (liste de noms fixes, responsables officiels, etc.) auprès du reste de l’entreprise</a:t>
            </a:r>
          </a:p>
        </p:txBody>
      </p:sp>
      <p:sp>
        <p:nvSpPr>
          <p:cNvPr id="47" name="Rectangle 46">
            <a:extLst>
              <a:ext uri="{FF2B5EF4-FFF2-40B4-BE49-F238E27FC236}">
                <a16:creationId xmlns:a16="http://schemas.microsoft.com/office/drawing/2014/main" id="{94612B09-2DBA-1A11-1F62-6BC44BE6938C}"/>
              </a:ext>
            </a:extLst>
          </p:cNvPr>
          <p:cNvSpPr/>
          <p:nvPr/>
        </p:nvSpPr>
        <p:spPr>
          <a:xfrm>
            <a:off x="7792810" y="2563423"/>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hiérarchie souhaite avoir un contrôle beaucoup plus fort de tout ce qui se passe dans la Communauté</a:t>
            </a:r>
          </a:p>
        </p:txBody>
      </p:sp>
      <p:sp>
        <p:nvSpPr>
          <p:cNvPr id="48" name="Rectangle 47">
            <a:extLst>
              <a:ext uri="{FF2B5EF4-FFF2-40B4-BE49-F238E27FC236}">
                <a16:creationId xmlns:a16="http://schemas.microsoft.com/office/drawing/2014/main" id="{0B4B6D56-A9ED-DFDF-A608-B482A7D63214}"/>
              </a:ext>
            </a:extLst>
          </p:cNvPr>
          <p:cNvSpPr/>
          <p:nvPr/>
        </p:nvSpPr>
        <p:spPr>
          <a:xfrm>
            <a:off x="5418934" y="1599173"/>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L’activité de la Communauté est de plus en plus portée par une seule équipe ou un service existant (perte d’intérêt de la transversalité)</a:t>
            </a:r>
          </a:p>
        </p:txBody>
      </p:sp>
      <p:sp>
        <p:nvSpPr>
          <p:cNvPr id="49" name="Rectangle 48">
            <a:extLst>
              <a:ext uri="{FF2B5EF4-FFF2-40B4-BE49-F238E27FC236}">
                <a16:creationId xmlns:a16="http://schemas.microsoft.com/office/drawing/2014/main" id="{4627AE3A-C727-0028-FAFF-50F574194608}"/>
              </a:ext>
            </a:extLst>
          </p:cNvPr>
          <p:cNvSpPr/>
          <p:nvPr/>
        </p:nvSpPr>
        <p:spPr>
          <a:xfrm>
            <a:off x="4254172" y="1599173"/>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Hausse du besoin de la Communauté (ou de sa priorité) devenu assez important pour solliciter les membres quotidiennement sur une base obligatoire</a:t>
            </a:r>
          </a:p>
        </p:txBody>
      </p:sp>
      <p:sp>
        <p:nvSpPr>
          <p:cNvPr id="50" name="Rectangle 49">
            <a:extLst>
              <a:ext uri="{FF2B5EF4-FFF2-40B4-BE49-F238E27FC236}">
                <a16:creationId xmlns:a16="http://schemas.microsoft.com/office/drawing/2014/main" id="{0626B708-F61E-CFAD-F17C-A361A2AA4BA3}"/>
              </a:ext>
            </a:extLst>
          </p:cNvPr>
          <p:cNvSpPr/>
          <p:nvPr/>
        </p:nvSpPr>
        <p:spPr>
          <a:xfrm>
            <a:off x="6597572" y="1599173"/>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Pour des raisons de sécurité ou de responsabilités, les communications ont besoin d’être tracées (CR, centralisation, </a:t>
            </a:r>
            <a:r>
              <a:rPr lang="fr-FR" sz="800" dirty="0" err="1">
                <a:solidFill>
                  <a:schemeClr val="tx1"/>
                </a:solidFill>
              </a:rPr>
              <a:t>etc</a:t>
            </a:r>
            <a:r>
              <a:rPr lang="fr-FR" sz="800" dirty="0">
                <a:solidFill>
                  <a:schemeClr val="tx1"/>
                </a:solidFill>
              </a:rPr>
              <a:t>)</a:t>
            </a:r>
          </a:p>
        </p:txBody>
      </p:sp>
      <p:sp>
        <p:nvSpPr>
          <p:cNvPr id="52" name="Rectangle 51">
            <a:extLst>
              <a:ext uri="{FF2B5EF4-FFF2-40B4-BE49-F238E27FC236}">
                <a16:creationId xmlns:a16="http://schemas.microsoft.com/office/drawing/2014/main" id="{A49B4173-EF9C-C6AC-F016-9888D657EF4A}"/>
              </a:ext>
            </a:extLst>
          </p:cNvPr>
          <p:cNvSpPr/>
          <p:nvPr/>
        </p:nvSpPr>
        <p:spPr>
          <a:xfrm>
            <a:off x="7782723" y="1599173"/>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Les besoins liés à l’activité de la Communauté commencent à avoir un volume prévisible et une fréquence au moins quotidienne</a:t>
            </a:r>
          </a:p>
        </p:txBody>
      </p:sp>
      <p:sp>
        <p:nvSpPr>
          <p:cNvPr id="53" name="Rectangle 52">
            <a:extLst>
              <a:ext uri="{FF2B5EF4-FFF2-40B4-BE49-F238E27FC236}">
                <a16:creationId xmlns:a16="http://schemas.microsoft.com/office/drawing/2014/main" id="{D932211F-AD5C-18C2-4913-FC27D8AD15B2}"/>
              </a:ext>
            </a:extLst>
          </p:cNvPr>
          <p:cNvSpPr/>
          <p:nvPr/>
        </p:nvSpPr>
        <p:spPr>
          <a:xfrm>
            <a:off x="5451037" y="5881448"/>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L’organisation du collectif est encore très variable en termes de responsabilités, membres, initiatives, pouvoirs…</a:t>
            </a:r>
          </a:p>
        </p:txBody>
      </p:sp>
      <p:sp>
        <p:nvSpPr>
          <p:cNvPr id="54" name="Rectangle 53">
            <a:extLst>
              <a:ext uri="{FF2B5EF4-FFF2-40B4-BE49-F238E27FC236}">
                <a16:creationId xmlns:a16="http://schemas.microsoft.com/office/drawing/2014/main" id="{DAF146CE-3690-926C-2EB2-7C2BFC294401}"/>
              </a:ext>
            </a:extLst>
          </p:cNvPr>
          <p:cNvSpPr/>
          <p:nvPr/>
        </p:nvSpPr>
        <p:spPr>
          <a:xfrm>
            <a:off x="4286275" y="5881448"/>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Il y a de plus en plus de propositions « </a:t>
            </a:r>
            <a:r>
              <a:rPr lang="fr-FR" sz="800" dirty="0" err="1">
                <a:solidFill>
                  <a:schemeClr val="tx1"/>
                </a:solidFill>
              </a:rPr>
              <a:t>bottom</a:t>
            </a:r>
            <a:r>
              <a:rPr lang="fr-FR" sz="800" dirty="0">
                <a:solidFill>
                  <a:schemeClr val="tx1"/>
                </a:solidFill>
              </a:rPr>
              <a:t>-up » qui ont souvent plus de valeur que les directives top-down</a:t>
            </a:r>
          </a:p>
        </p:txBody>
      </p:sp>
      <p:sp>
        <p:nvSpPr>
          <p:cNvPr id="55" name="Rectangle 54">
            <a:extLst>
              <a:ext uri="{FF2B5EF4-FFF2-40B4-BE49-F238E27FC236}">
                <a16:creationId xmlns:a16="http://schemas.microsoft.com/office/drawing/2014/main" id="{1AB814DE-BBE1-207A-AF3B-FEA2EC7BD9D5}"/>
              </a:ext>
            </a:extLst>
          </p:cNvPr>
          <p:cNvSpPr/>
          <p:nvPr/>
        </p:nvSpPr>
        <p:spPr>
          <a:xfrm>
            <a:off x="6629675" y="5881448"/>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hiérarchie a suffisamment confiance et le contrôle récurrent de la Communauté est une charge qui perd de l’intérêt</a:t>
            </a:r>
          </a:p>
        </p:txBody>
      </p:sp>
      <p:sp>
        <p:nvSpPr>
          <p:cNvPr id="56" name="Rectangle 55">
            <a:extLst>
              <a:ext uri="{FF2B5EF4-FFF2-40B4-BE49-F238E27FC236}">
                <a16:creationId xmlns:a16="http://schemas.microsoft.com/office/drawing/2014/main" id="{F9BE47B2-A31D-6ACA-ED23-A84B240E430C}"/>
              </a:ext>
            </a:extLst>
          </p:cNvPr>
          <p:cNvSpPr/>
          <p:nvPr/>
        </p:nvSpPr>
        <p:spPr>
          <a:xfrm>
            <a:off x="3103127" y="5881448"/>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Baisse de la pression extérieure et du risque liés au sujet de la Communauté</a:t>
            </a:r>
          </a:p>
        </p:txBody>
      </p:sp>
      <p:sp>
        <p:nvSpPr>
          <p:cNvPr id="58" name="Rectangle 57">
            <a:extLst>
              <a:ext uri="{FF2B5EF4-FFF2-40B4-BE49-F238E27FC236}">
                <a16:creationId xmlns:a16="http://schemas.microsoft.com/office/drawing/2014/main" id="{C7B4DC62-1ADD-9DEF-34CA-39C5866B84BA}"/>
              </a:ext>
            </a:extLst>
          </p:cNvPr>
          <p:cNvSpPr/>
          <p:nvPr/>
        </p:nvSpPr>
        <p:spPr>
          <a:xfrm>
            <a:off x="5440950" y="4917198"/>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Il y a de plus en plus de Communications clés entre les membres qui sont difficilement traçables (et il n’y en a pas le besoin).</a:t>
            </a:r>
          </a:p>
        </p:txBody>
      </p:sp>
      <p:sp>
        <p:nvSpPr>
          <p:cNvPr id="59" name="Rectangle 58">
            <a:extLst>
              <a:ext uri="{FF2B5EF4-FFF2-40B4-BE49-F238E27FC236}">
                <a16:creationId xmlns:a16="http://schemas.microsoft.com/office/drawing/2014/main" id="{1CFF7C49-5797-5C8A-D079-D3E85A07F5CC}"/>
              </a:ext>
            </a:extLst>
          </p:cNvPr>
          <p:cNvSpPr/>
          <p:nvPr/>
        </p:nvSpPr>
        <p:spPr>
          <a:xfrm>
            <a:off x="4276188" y="4917198"/>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Il y a de plus en plus de sollicitations et d’opportunités sur des équipes et départements différents</a:t>
            </a:r>
          </a:p>
        </p:txBody>
      </p:sp>
      <p:sp>
        <p:nvSpPr>
          <p:cNvPr id="60" name="Rectangle 59">
            <a:extLst>
              <a:ext uri="{FF2B5EF4-FFF2-40B4-BE49-F238E27FC236}">
                <a16:creationId xmlns:a16="http://schemas.microsoft.com/office/drawing/2014/main" id="{83130C1F-89DD-827F-A000-408C568E66EE}"/>
              </a:ext>
            </a:extLst>
          </p:cNvPr>
          <p:cNvSpPr/>
          <p:nvPr/>
        </p:nvSpPr>
        <p:spPr>
          <a:xfrm>
            <a:off x="6619588" y="4917198"/>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charge administrative alourdit beaucoup l’activité, au point d’être très dommageable sur la performance.</a:t>
            </a:r>
          </a:p>
        </p:txBody>
      </p:sp>
      <p:sp>
        <p:nvSpPr>
          <p:cNvPr id="61" name="Rectangle 60">
            <a:extLst>
              <a:ext uri="{FF2B5EF4-FFF2-40B4-BE49-F238E27FC236}">
                <a16:creationId xmlns:a16="http://schemas.microsoft.com/office/drawing/2014/main" id="{9271D4B8-311A-FB11-EB54-D42AB0E288DB}"/>
              </a:ext>
            </a:extLst>
          </p:cNvPr>
          <p:cNvSpPr/>
          <p:nvPr/>
        </p:nvSpPr>
        <p:spPr>
          <a:xfrm>
            <a:off x="3093040" y="4917198"/>
            <a:ext cx="1107924" cy="8655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Baisse du besoin de la Communauté (ou de sa priorité) devenu assez faible pour ne solliciter que certains membres et de manière variable</a:t>
            </a:r>
          </a:p>
        </p:txBody>
      </p:sp>
      <p:grpSp>
        <p:nvGrpSpPr>
          <p:cNvPr id="5" name="Groupe 4">
            <a:extLst>
              <a:ext uri="{FF2B5EF4-FFF2-40B4-BE49-F238E27FC236}">
                <a16:creationId xmlns:a16="http://schemas.microsoft.com/office/drawing/2014/main" id="{5E741B99-31EB-A9D7-1A4B-00C03AB42B29}"/>
              </a:ext>
            </a:extLst>
          </p:cNvPr>
          <p:cNvGrpSpPr/>
          <p:nvPr/>
        </p:nvGrpSpPr>
        <p:grpSpPr>
          <a:xfrm>
            <a:off x="82962" y="326108"/>
            <a:ext cx="1229800" cy="1215667"/>
            <a:chOff x="-3726451" y="2933151"/>
            <a:chExt cx="1229800" cy="1215667"/>
          </a:xfrm>
        </p:grpSpPr>
        <p:grpSp>
          <p:nvGrpSpPr>
            <p:cNvPr id="63" name="Groupe 62">
              <a:extLst>
                <a:ext uri="{FF2B5EF4-FFF2-40B4-BE49-F238E27FC236}">
                  <a16:creationId xmlns:a16="http://schemas.microsoft.com/office/drawing/2014/main" id="{635D299E-2F0D-257B-EABA-5F5CDC09131E}"/>
                </a:ext>
              </a:extLst>
            </p:cNvPr>
            <p:cNvGrpSpPr/>
            <p:nvPr/>
          </p:nvGrpSpPr>
          <p:grpSpPr>
            <a:xfrm>
              <a:off x="-3568666" y="2933151"/>
              <a:ext cx="991299" cy="1215667"/>
              <a:chOff x="8860995" y="282959"/>
              <a:chExt cx="3407094" cy="4178249"/>
            </a:xfrm>
            <a:solidFill>
              <a:schemeClr val="tx1"/>
            </a:solidFill>
          </p:grpSpPr>
          <p:pic>
            <p:nvPicPr>
              <p:cNvPr id="64" name="Graphique 63" descr="Diagramme de flux avec un remplissage uni">
                <a:extLst>
                  <a:ext uri="{FF2B5EF4-FFF2-40B4-BE49-F238E27FC236}">
                    <a16:creationId xmlns:a16="http://schemas.microsoft.com/office/drawing/2014/main" id="{FA7B23E3-3F50-A3E9-3DE8-5D5135B3E89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67" name="Groupe 66">
                <a:extLst>
                  <a:ext uri="{FF2B5EF4-FFF2-40B4-BE49-F238E27FC236}">
                    <a16:creationId xmlns:a16="http://schemas.microsoft.com/office/drawing/2014/main" id="{E868BA8E-E66E-9F2F-F975-AC1F9E0F9CF9}"/>
                  </a:ext>
                </a:extLst>
              </p:cNvPr>
              <p:cNvGrpSpPr/>
              <p:nvPr/>
            </p:nvGrpSpPr>
            <p:grpSpPr>
              <a:xfrm>
                <a:off x="8860995" y="282959"/>
                <a:ext cx="3360434" cy="4178249"/>
                <a:chOff x="8860995" y="282959"/>
                <a:chExt cx="3360434" cy="4178249"/>
              </a:xfrm>
              <a:grpFill/>
            </p:grpSpPr>
            <p:pic>
              <p:nvPicPr>
                <p:cNvPr id="68" name="Graphique 67" descr="Diagramme de flux avec un remplissage uni">
                  <a:extLst>
                    <a:ext uri="{FF2B5EF4-FFF2-40B4-BE49-F238E27FC236}">
                      <a16:creationId xmlns:a16="http://schemas.microsoft.com/office/drawing/2014/main" id="{6E5A7D4C-BA4E-B183-39F9-248641C5B0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69" name="Graphique 68" descr="Diagramme de flux avec un remplissage uni">
                  <a:extLst>
                    <a:ext uri="{FF2B5EF4-FFF2-40B4-BE49-F238E27FC236}">
                      <a16:creationId xmlns:a16="http://schemas.microsoft.com/office/drawing/2014/main" id="{4F4030D3-E431-AC2D-8923-F7A1DE8DB35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70" name="Graphique 69" descr="Diagramme de flux avec un remplissage uni">
                  <a:extLst>
                    <a:ext uri="{FF2B5EF4-FFF2-40B4-BE49-F238E27FC236}">
                      <a16:creationId xmlns:a16="http://schemas.microsoft.com/office/drawing/2014/main" id="{63E3E356-6612-4B4B-C4A3-6F8A2573B94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71" name="Graphique 70" descr="Diagramme de flux avec un remplissage uni">
                  <a:extLst>
                    <a:ext uri="{FF2B5EF4-FFF2-40B4-BE49-F238E27FC236}">
                      <a16:creationId xmlns:a16="http://schemas.microsoft.com/office/drawing/2014/main" id="{3E134F8F-EB3B-A732-3529-51480552E71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72" name="Graphique 71" descr="Diagramme de flux avec un remplissage uni">
                  <a:extLst>
                    <a:ext uri="{FF2B5EF4-FFF2-40B4-BE49-F238E27FC236}">
                      <a16:creationId xmlns:a16="http://schemas.microsoft.com/office/drawing/2014/main" id="{3B75740E-98BF-4341-C561-AE7CCC6CEA9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73" name="Graphique 72" descr="Diagramme de flux avec un remplissage uni">
                  <a:extLst>
                    <a:ext uri="{FF2B5EF4-FFF2-40B4-BE49-F238E27FC236}">
                      <a16:creationId xmlns:a16="http://schemas.microsoft.com/office/drawing/2014/main" id="{3B67C18F-83AD-EA29-C5BD-66ABCEFED00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74" name="Graphique 73" descr="Diagramme de flux avec un remplissage uni">
                  <a:extLst>
                    <a:ext uri="{FF2B5EF4-FFF2-40B4-BE49-F238E27FC236}">
                      <a16:creationId xmlns:a16="http://schemas.microsoft.com/office/drawing/2014/main" id="{4225081E-40BD-4C72-6FFD-6010D6D86C3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75" name="Graphique 74" descr="Diagramme de flux avec un remplissage uni">
                  <a:extLst>
                    <a:ext uri="{FF2B5EF4-FFF2-40B4-BE49-F238E27FC236}">
                      <a16:creationId xmlns:a16="http://schemas.microsoft.com/office/drawing/2014/main" id="{11482F56-63FF-C6C3-8B34-C4DA01DAE26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76" name="Graphique 75" descr="Diagramme de flux avec un remplissage uni">
                  <a:extLst>
                    <a:ext uri="{FF2B5EF4-FFF2-40B4-BE49-F238E27FC236}">
                      <a16:creationId xmlns:a16="http://schemas.microsoft.com/office/drawing/2014/main" id="{38B4293D-EE9E-4667-E8D0-51CFF5342D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77" name="Graphique 76" descr="Diagramme de flux avec un remplissage uni">
                  <a:extLst>
                    <a:ext uri="{FF2B5EF4-FFF2-40B4-BE49-F238E27FC236}">
                      <a16:creationId xmlns:a16="http://schemas.microsoft.com/office/drawing/2014/main" id="{C98DAE2A-044B-B811-79D7-E991F18B021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78" name="Graphique 77" descr="Diagramme de flux avec un remplissage uni">
                  <a:extLst>
                    <a:ext uri="{FF2B5EF4-FFF2-40B4-BE49-F238E27FC236}">
                      <a16:creationId xmlns:a16="http://schemas.microsoft.com/office/drawing/2014/main" id="{C07B7355-E163-910A-7CB2-E3AA9A4C632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79" name="Graphique 78" descr="Diagramme de flux avec un remplissage uni">
                  <a:extLst>
                    <a:ext uri="{FF2B5EF4-FFF2-40B4-BE49-F238E27FC236}">
                      <a16:creationId xmlns:a16="http://schemas.microsoft.com/office/drawing/2014/main" id="{F11A46A8-00AE-FD40-7F45-A905B6F560D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80" name="Graphique 79" descr="Diagramme de flux avec un remplissage uni">
                  <a:extLst>
                    <a:ext uri="{FF2B5EF4-FFF2-40B4-BE49-F238E27FC236}">
                      <a16:creationId xmlns:a16="http://schemas.microsoft.com/office/drawing/2014/main" id="{FBE08DA1-3144-5E6E-8BA1-EF4A899B56E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81" name="Graphique 80" descr="Diagramme de flux avec un remplissage uni">
                  <a:extLst>
                    <a:ext uri="{FF2B5EF4-FFF2-40B4-BE49-F238E27FC236}">
                      <a16:creationId xmlns:a16="http://schemas.microsoft.com/office/drawing/2014/main" id="{D4D045DF-BF46-7CDD-69C6-398BD921232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82" name="Graphique 81" descr="Diagramme de flux avec un remplissage uni">
                  <a:extLst>
                    <a:ext uri="{FF2B5EF4-FFF2-40B4-BE49-F238E27FC236}">
                      <a16:creationId xmlns:a16="http://schemas.microsoft.com/office/drawing/2014/main" id="{85F5FB92-663E-16A1-05FB-158B9C91819A}"/>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83" name="Graphique 82" descr="Diagramme de flux avec un remplissage uni">
                  <a:extLst>
                    <a:ext uri="{FF2B5EF4-FFF2-40B4-BE49-F238E27FC236}">
                      <a16:creationId xmlns:a16="http://schemas.microsoft.com/office/drawing/2014/main" id="{8DF4FB7D-0E75-D06C-D6EE-B6C000F8639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sp>
          <p:nvSpPr>
            <p:cNvPr id="84" name="Forme libre : forme 83">
              <a:extLst>
                <a:ext uri="{FF2B5EF4-FFF2-40B4-BE49-F238E27FC236}">
                  <a16:creationId xmlns:a16="http://schemas.microsoft.com/office/drawing/2014/main" id="{B80E26C3-218D-453F-B8CB-3563FD83FEC0}"/>
                </a:ext>
              </a:extLst>
            </p:cNvPr>
            <p:cNvSpPr/>
            <p:nvPr/>
          </p:nvSpPr>
          <p:spPr>
            <a:xfrm>
              <a:off x="-3726451" y="3092070"/>
              <a:ext cx="919322" cy="60512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1905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 name="Forme libre : forme 84">
              <a:extLst>
                <a:ext uri="{FF2B5EF4-FFF2-40B4-BE49-F238E27FC236}">
                  <a16:creationId xmlns:a16="http://schemas.microsoft.com/office/drawing/2014/main" id="{02EA009B-803E-4236-3067-6E1D062658B7}"/>
                </a:ext>
              </a:extLst>
            </p:cNvPr>
            <p:cNvSpPr/>
            <p:nvPr/>
          </p:nvSpPr>
          <p:spPr>
            <a:xfrm>
              <a:off x="-3045638" y="3538773"/>
              <a:ext cx="548987" cy="589524"/>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1905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 name="Forme libre : forme 85">
              <a:extLst>
                <a:ext uri="{FF2B5EF4-FFF2-40B4-BE49-F238E27FC236}">
                  <a16:creationId xmlns:a16="http://schemas.microsoft.com/office/drawing/2014/main" id="{826B2684-EFE6-9B35-DBD3-BB55B3886216}"/>
                </a:ext>
              </a:extLst>
            </p:cNvPr>
            <p:cNvSpPr/>
            <p:nvPr/>
          </p:nvSpPr>
          <p:spPr>
            <a:xfrm>
              <a:off x="-3687740" y="3518217"/>
              <a:ext cx="737874" cy="297689"/>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1905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95088998"/>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 name="Groupe 87">
            <a:extLst>
              <a:ext uri="{FF2B5EF4-FFF2-40B4-BE49-F238E27FC236}">
                <a16:creationId xmlns:a16="http://schemas.microsoft.com/office/drawing/2014/main" id="{2E5172DC-B0C8-F79F-7857-6D71DC21B16F}"/>
              </a:ext>
            </a:extLst>
          </p:cNvPr>
          <p:cNvGrpSpPr/>
          <p:nvPr/>
        </p:nvGrpSpPr>
        <p:grpSpPr>
          <a:xfrm>
            <a:off x="9882981" y="2827825"/>
            <a:ext cx="1991465" cy="2442209"/>
            <a:chOff x="8860995" y="282959"/>
            <a:chExt cx="3407094" cy="4178249"/>
          </a:xfrm>
          <a:solidFill>
            <a:schemeClr val="tx1"/>
          </a:solidFill>
        </p:grpSpPr>
        <p:pic>
          <p:nvPicPr>
            <p:cNvPr id="89" name="Graphique 88" descr="Diagramme de flux avec un remplissage uni">
              <a:extLst>
                <a:ext uri="{FF2B5EF4-FFF2-40B4-BE49-F238E27FC236}">
                  <a16:creationId xmlns:a16="http://schemas.microsoft.com/office/drawing/2014/main" id="{7B1FA9F2-0968-F40A-1D16-D178049692A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90" name="Groupe 89">
              <a:extLst>
                <a:ext uri="{FF2B5EF4-FFF2-40B4-BE49-F238E27FC236}">
                  <a16:creationId xmlns:a16="http://schemas.microsoft.com/office/drawing/2014/main" id="{E5A8A27F-179A-F6BD-2251-1C4E19678125}"/>
                </a:ext>
              </a:extLst>
            </p:cNvPr>
            <p:cNvGrpSpPr/>
            <p:nvPr/>
          </p:nvGrpSpPr>
          <p:grpSpPr>
            <a:xfrm>
              <a:off x="8860995" y="282959"/>
              <a:ext cx="3360434" cy="4178249"/>
              <a:chOff x="8860995" y="282959"/>
              <a:chExt cx="3360434" cy="4178249"/>
            </a:xfrm>
            <a:grpFill/>
          </p:grpSpPr>
          <p:pic>
            <p:nvPicPr>
              <p:cNvPr id="91" name="Graphique 90" descr="Diagramme de flux avec un remplissage uni">
                <a:extLst>
                  <a:ext uri="{FF2B5EF4-FFF2-40B4-BE49-F238E27FC236}">
                    <a16:creationId xmlns:a16="http://schemas.microsoft.com/office/drawing/2014/main" id="{B76C4A38-7052-01CB-E58C-ABA99B61EF6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92" name="Graphique 91" descr="Diagramme de flux avec un remplissage uni">
                <a:extLst>
                  <a:ext uri="{FF2B5EF4-FFF2-40B4-BE49-F238E27FC236}">
                    <a16:creationId xmlns:a16="http://schemas.microsoft.com/office/drawing/2014/main" id="{F5B5FF72-9CA0-1165-5FAF-8FDFA191CFE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93" name="Graphique 92" descr="Diagramme de flux avec un remplissage uni">
                <a:extLst>
                  <a:ext uri="{FF2B5EF4-FFF2-40B4-BE49-F238E27FC236}">
                    <a16:creationId xmlns:a16="http://schemas.microsoft.com/office/drawing/2014/main" id="{324C79AA-6FD9-A7F4-44AE-41A7692655A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94" name="Graphique 93" descr="Diagramme de flux avec un remplissage uni">
                <a:extLst>
                  <a:ext uri="{FF2B5EF4-FFF2-40B4-BE49-F238E27FC236}">
                    <a16:creationId xmlns:a16="http://schemas.microsoft.com/office/drawing/2014/main" id="{6EF867F2-2F26-BB06-B8F6-B34C50FDE8E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95" name="Graphique 94" descr="Diagramme de flux avec un remplissage uni">
                <a:extLst>
                  <a:ext uri="{FF2B5EF4-FFF2-40B4-BE49-F238E27FC236}">
                    <a16:creationId xmlns:a16="http://schemas.microsoft.com/office/drawing/2014/main" id="{997830FD-EC9F-EFE5-5C8E-FA116DCEEBA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96" name="Graphique 95" descr="Diagramme de flux avec un remplissage uni">
                <a:extLst>
                  <a:ext uri="{FF2B5EF4-FFF2-40B4-BE49-F238E27FC236}">
                    <a16:creationId xmlns:a16="http://schemas.microsoft.com/office/drawing/2014/main" id="{5792D281-6FAB-D3E8-C460-CAB85D971A8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97" name="Graphique 96" descr="Diagramme de flux avec un remplissage uni">
                <a:extLst>
                  <a:ext uri="{FF2B5EF4-FFF2-40B4-BE49-F238E27FC236}">
                    <a16:creationId xmlns:a16="http://schemas.microsoft.com/office/drawing/2014/main" id="{C8E6E8AB-58CB-6C06-46E1-8511236153D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98" name="Graphique 97" descr="Diagramme de flux avec un remplissage uni">
                <a:extLst>
                  <a:ext uri="{FF2B5EF4-FFF2-40B4-BE49-F238E27FC236}">
                    <a16:creationId xmlns:a16="http://schemas.microsoft.com/office/drawing/2014/main" id="{0CA065C2-5333-B881-5A2A-90F775AACD7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99" name="Graphique 98" descr="Diagramme de flux avec un remplissage uni">
                <a:extLst>
                  <a:ext uri="{FF2B5EF4-FFF2-40B4-BE49-F238E27FC236}">
                    <a16:creationId xmlns:a16="http://schemas.microsoft.com/office/drawing/2014/main" id="{DE47146C-3725-4498-C000-060BA3C1869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100" name="Graphique 99" descr="Diagramme de flux avec un remplissage uni">
                <a:extLst>
                  <a:ext uri="{FF2B5EF4-FFF2-40B4-BE49-F238E27FC236}">
                    <a16:creationId xmlns:a16="http://schemas.microsoft.com/office/drawing/2014/main" id="{650109E2-F0BD-1507-0FFF-DE8FF3805DA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101" name="Graphique 100" descr="Diagramme de flux avec un remplissage uni">
                <a:extLst>
                  <a:ext uri="{FF2B5EF4-FFF2-40B4-BE49-F238E27FC236}">
                    <a16:creationId xmlns:a16="http://schemas.microsoft.com/office/drawing/2014/main" id="{474F6F3D-FE97-F4C5-318C-BEF8A4E0D94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102" name="Graphique 101" descr="Diagramme de flux avec un remplissage uni">
                <a:extLst>
                  <a:ext uri="{FF2B5EF4-FFF2-40B4-BE49-F238E27FC236}">
                    <a16:creationId xmlns:a16="http://schemas.microsoft.com/office/drawing/2014/main" id="{7C95C397-DC5B-0D73-9FED-6B3F3E398EB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103" name="Graphique 102" descr="Diagramme de flux avec un remplissage uni">
                <a:extLst>
                  <a:ext uri="{FF2B5EF4-FFF2-40B4-BE49-F238E27FC236}">
                    <a16:creationId xmlns:a16="http://schemas.microsoft.com/office/drawing/2014/main" id="{6A7585B3-E322-A0B4-649F-59609BC4EEF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104" name="Graphique 103" descr="Diagramme de flux avec un remplissage uni">
                <a:extLst>
                  <a:ext uri="{FF2B5EF4-FFF2-40B4-BE49-F238E27FC236}">
                    <a16:creationId xmlns:a16="http://schemas.microsoft.com/office/drawing/2014/main" id="{2234F2F6-6150-042D-34A5-435C0B32A6F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105" name="Graphique 104" descr="Diagramme de flux avec un remplissage uni">
                <a:extLst>
                  <a:ext uri="{FF2B5EF4-FFF2-40B4-BE49-F238E27FC236}">
                    <a16:creationId xmlns:a16="http://schemas.microsoft.com/office/drawing/2014/main" id="{1CBFCB62-8464-0D01-148C-1815779FE97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106" name="Graphique 105" descr="Diagramme de flux avec un remplissage uni">
                <a:extLst>
                  <a:ext uri="{FF2B5EF4-FFF2-40B4-BE49-F238E27FC236}">
                    <a16:creationId xmlns:a16="http://schemas.microsoft.com/office/drawing/2014/main" id="{FD435E30-A34F-C2A1-8FC2-D85231A6536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grpSp>
        <p:nvGrpSpPr>
          <p:cNvPr id="2" name="Groupe 1">
            <a:extLst>
              <a:ext uri="{FF2B5EF4-FFF2-40B4-BE49-F238E27FC236}">
                <a16:creationId xmlns:a16="http://schemas.microsoft.com/office/drawing/2014/main" id="{AF3FCAE7-C495-DDCE-691C-DD47693E734E}"/>
              </a:ext>
            </a:extLst>
          </p:cNvPr>
          <p:cNvGrpSpPr/>
          <p:nvPr/>
        </p:nvGrpSpPr>
        <p:grpSpPr>
          <a:xfrm>
            <a:off x="126762" y="2713561"/>
            <a:ext cx="2470601" cy="2081723"/>
            <a:chOff x="1002939" y="2686938"/>
            <a:chExt cx="2470601" cy="2081723"/>
          </a:xfrm>
        </p:grpSpPr>
        <p:sp>
          <p:nvSpPr>
            <p:cNvPr id="107" name="Forme libre : forme 106">
              <a:extLst>
                <a:ext uri="{FF2B5EF4-FFF2-40B4-BE49-F238E27FC236}">
                  <a16:creationId xmlns:a16="http://schemas.microsoft.com/office/drawing/2014/main" id="{ADA138BA-04D7-D611-C5EA-107136030AAC}"/>
                </a:ext>
              </a:extLst>
            </p:cNvPr>
            <p:cNvSpPr/>
            <p:nvPr/>
          </p:nvSpPr>
          <p:spPr>
            <a:xfrm>
              <a:off x="1002939" y="2686938"/>
              <a:ext cx="1846868" cy="121566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7620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08" name="Forme libre : forme 107">
              <a:extLst>
                <a:ext uri="{FF2B5EF4-FFF2-40B4-BE49-F238E27FC236}">
                  <a16:creationId xmlns:a16="http://schemas.microsoft.com/office/drawing/2014/main" id="{9BC62DA7-0774-D8DF-6DDD-812B3D8AF3E3}"/>
                </a:ext>
              </a:extLst>
            </p:cNvPr>
            <p:cNvSpPr/>
            <p:nvPr/>
          </p:nvSpPr>
          <p:spPr>
            <a:xfrm>
              <a:off x="2370656" y="3584340"/>
              <a:ext cx="1102884" cy="1184321"/>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7620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09" name="Forme libre : forme 108">
              <a:extLst>
                <a:ext uri="{FF2B5EF4-FFF2-40B4-BE49-F238E27FC236}">
                  <a16:creationId xmlns:a16="http://schemas.microsoft.com/office/drawing/2014/main" id="{96652759-F9B2-332D-18A3-5C0DA37363C7}"/>
                </a:ext>
              </a:extLst>
            </p:cNvPr>
            <p:cNvSpPr/>
            <p:nvPr/>
          </p:nvSpPr>
          <p:spPr>
            <a:xfrm>
              <a:off x="1080707" y="3543045"/>
              <a:ext cx="1482348" cy="598041"/>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7620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135" name="Titre 1">
            <a:extLst>
              <a:ext uri="{FF2B5EF4-FFF2-40B4-BE49-F238E27FC236}">
                <a16:creationId xmlns:a16="http://schemas.microsoft.com/office/drawing/2014/main" id="{A5618FAE-D13A-53DB-E0BF-00D114B23310}"/>
              </a:ext>
            </a:extLst>
          </p:cNvPr>
          <p:cNvSpPr txBox="1">
            <a:spLocks/>
          </p:cNvSpPr>
          <p:nvPr/>
        </p:nvSpPr>
        <p:spPr>
          <a:xfrm>
            <a:off x="126762" y="2065040"/>
            <a:ext cx="2584264"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Communautés d’entreprise </a:t>
            </a:r>
          </a:p>
        </p:txBody>
      </p:sp>
      <p:sp>
        <p:nvSpPr>
          <p:cNvPr id="136" name="Titre 1">
            <a:extLst>
              <a:ext uri="{FF2B5EF4-FFF2-40B4-BE49-F238E27FC236}">
                <a16:creationId xmlns:a16="http://schemas.microsoft.com/office/drawing/2014/main" id="{7989E85E-26C3-BA11-C4C3-BC285E5E0A48}"/>
              </a:ext>
            </a:extLst>
          </p:cNvPr>
          <p:cNvSpPr txBox="1">
            <a:spLocks/>
          </p:cNvSpPr>
          <p:nvPr/>
        </p:nvSpPr>
        <p:spPr>
          <a:xfrm>
            <a:off x="9371654" y="2094708"/>
            <a:ext cx="2792840" cy="59223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Formats traditionnels (équipes, département, poste officiel etc.)</a:t>
            </a:r>
          </a:p>
        </p:txBody>
      </p:sp>
      <p:sp>
        <p:nvSpPr>
          <p:cNvPr id="137" name="Titre 1">
            <a:extLst>
              <a:ext uri="{FF2B5EF4-FFF2-40B4-BE49-F238E27FC236}">
                <a16:creationId xmlns:a16="http://schemas.microsoft.com/office/drawing/2014/main" id="{FE3F54C2-1B17-2A52-0AB9-0B09D89A80D9}"/>
              </a:ext>
            </a:extLst>
          </p:cNvPr>
          <p:cNvSpPr>
            <a:spLocks noGrp="1"/>
          </p:cNvSpPr>
          <p:nvPr>
            <p:ph type="title"/>
          </p:nvPr>
        </p:nvSpPr>
        <p:spPr>
          <a:xfrm>
            <a:off x="1312762" y="365125"/>
            <a:ext cx="10041038" cy="1195031"/>
          </a:xfrm>
        </p:spPr>
        <p:txBody>
          <a:bodyPr>
            <a:noAutofit/>
          </a:bodyPr>
          <a:lstStyle/>
          <a:p>
            <a:r>
              <a:rPr lang="fr-FR" sz="2800" dirty="0"/>
              <a:t>Les réponses opérationnelles de transformation de format</a:t>
            </a:r>
            <a:br>
              <a:rPr lang="fr-FR" sz="2800" dirty="0"/>
            </a:br>
            <a:r>
              <a:rPr lang="fr-FR" sz="2800" dirty="0"/>
              <a:t>Liste d’exemples</a:t>
            </a:r>
            <a:br>
              <a:rPr lang="fr-FR" sz="1800" dirty="0"/>
            </a:br>
            <a:r>
              <a:rPr lang="fr-FR" sz="1800" dirty="0"/>
              <a:t>📅Evènements  , ✍️Contenus, ⚙️Structuration de Communauté</a:t>
            </a:r>
            <a:br>
              <a:rPr lang="fr-FR" sz="1800" dirty="0"/>
            </a:br>
            <a:r>
              <a:rPr lang="fr-FR" sz="1800" dirty="0"/>
              <a:t>📅+⚙️Structuration de moments, ✍️+⚙️ Structuration de Contenus</a:t>
            </a:r>
          </a:p>
        </p:txBody>
      </p:sp>
      <p:grpSp>
        <p:nvGrpSpPr>
          <p:cNvPr id="29" name="Groupe 28">
            <a:extLst>
              <a:ext uri="{FF2B5EF4-FFF2-40B4-BE49-F238E27FC236}">
                <a16:creationId xmlns:a16="http://schemas.microsoft.com/office/drawing/2014/main" id="{6E1C65DA-181C-E630-E4C4-52E8ABE539A4}"/>
              </a:ext>
            </a:extLst>
          </p:cNvPr>
          <p:cNvGrpSpPr/>
          <p:nvPr/>
        </p:nvGrpSpPr>
        <p:grpSpPr>
          <a:xfrm>
            <a:off x="147728" y="4000299"/>
            <a:ext cx="1234754" cy="1117758"/>
            <a:chOff x="-4435634" y="3221970"/>
            <a:chExt cx="4325260" cy="3915430"/>
          </a:xfrm>
        </p:grpSpPr>
        <p:pic>
          <p:nvPicPr>
            <p:cNvPr id="30" name="Espace réservé du contenu 6" descr="Tribunal contour">
              <a:extLst>
                <a:ext uri="{FF2B5EF4-FFF2-40B4-BE49-F238E27FC236}">
                  <a16:creationId xmlns:a16="http://schemas.microsoft.com/office/drawing/2014/main" id="{2F8B8C90-0FFB-2E80-8563-14CBBB3F6790}"/>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12060" r="8805" b="62496"/>
            <a:stretch/>
          </p:blipFill>
          <p:spPr>
            <a:xfrm>
              <a:off x="-4435633" y="3221970"/>
              <a:ext cx="4325259" cy="1324928"/>
            </a:xfrm>
            <a:prstGeom prst="rect">
              <a:avLst/>
            </a:prstGeom>
          </p:spPr>
        </p:pic>
        <p:grpSp>
          <p:nvGrpSpPr>
            <p:cNvPr id="31" name="Groupe 30">
              <a:extLst>
                <a:ext uri="{FF2B5EF4-FFF2-40B4-BE49-F238E27FC236}">
                  <a16:creationId xmlns:a16="http://schemas.microsoft.com/office/drawing/2014/main" id="{6200D35A-E840-6BBE-637E-AA1D6AC2CF2C}"/>
                </a:ext>
              </a:extLst>
            </p:cNvPr>
            <p:cNvGrpSpPr/>
            <p:nvPr/>
          </p:nvGrpSpPr>
          <p:grpSpPr>
            <a:xfrm>
              <a:off x="-4435634" y="4520418"/>
              <a:ext cx="4325260" cy="2616982"/>
              <a:chOff x="-4435634" y="4520418"/>
              <a:chExt cx="4325260" cy="2616982"/>
            </a:xfrm>
          </p:grpSpPr>
          <p:pic>
            <p:nvPicPr>
              <p:cNvPr id="32" name="Espace réservé du contenu 6" descr="Tribunal contour">
                <a:extLst>
                  <a:ext uri="{FF2B5EF4-FFF2-40B4-BE49-F238E27FC236}">
                    <a16:creationId xmlns:a16="http://schemas.microsoft.com/office/drawing/2014/main" id="{DECB01E6-5041-064F-686E-DB9109DBA0E1}"/>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37523" r="8805" b="24898"/>
              <a:stretch/>
            </p:blipFill>
            <p:spPr>
              <a:xfrm>
                <a:off x="-4435633" y="4520418"/>
                <a:ext cx="4325259" cy="1956816"/>
              </a:xfrm>
              <a:prstGeom prst="rect">
                <a:avLst/>
              </a:prstGeom>
            </p:spPr>
          </p:pic>
          <p:pic>
            <p:nvPicPr>
              <p:cNvPr id="33" name="Graphique 32" descr="Réussite du groupe avec un remplissage uni">
                <a:extLst>
                  <a:ext uri="{FF2B5EF4-FFF2-40B4-BE49-F238E27FC236}">
                    <a16:creationId xmlns:a16="http://schemas.microsoft.com/office/drawing/2014/main" id="{F9AE94FC-E33D-0733-137F-9FB98D7C7155}"/>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3979" b="19010"/>
              <a:stretch/>
            </p:blipFill>
            <p:spPr>
              <a:xfrm>
                <a:off x="-3132680" y="5325090"/>
                <a:ext cx="1719352" cy="1152144"/>
              </a:xfrm>
              <a:prstGeom prst="rect">
                <a:avLst/>
              </a:prstGeom>
            </p:spPr>
          </p:pic>
          <p:pic>
            <p:nvPicPr>
              <p:cNvPr id="34" name="Espace réservé du contenu 6" descr="Tribunal contour">
                <a:extLst>
                  <a:ext uri="{FF2B5EF4-FFF2-40B4-BE49-F238E27FC236}">
                    <a16:creationId xmlns:a16="http://schemas.microsoft.com/office/drawing/2014/main" id="{4898D518-41DB-DEDA-BCC5-4ABE9ACD9CCD}"/>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l="8133" t="75103" r="8805" b="12219"/>
              <a:stretch/>
            </p:blipFill>
            <p:spPr>
              <a:xfrm>
                <a:off x="-4435634" y="6477233"/>
                <a:ext cx="4325259" cy="660167"/>
              </a:xfrm>
              <a:prstGeom prst="rect">
                <a:avLst/>
              </a:prstGeom>
            </p:spPr>
          </p:pic>
        </p:grpSp>
      </p:grpSp>
      <p:sp>
        <p:nvSpPr>
          <p:cNvPr id="3" name="Flèche : droite 2">
            <a:extLst>
              <a:ext uri="{FF2B5EF4-FFF2-40B4-BE49-F238E27FC236}">
                <a16:creationId xmlns:a16="http://schemas.microsoft.com/office/drawing/2014/main" id="{C83F12CD-818C-80BC-8E0C-8A62C2DC3BF2}"/>
              </a:ext>
            </a:extLst>
          </p:cNvPr>
          <p:cNvSpPr/>
          <p:nvPr/>
        </p:nvSpPr>
        <p:spPr>
          <a:xfrm>
            <a:off x="3093040" y="3457341"/>
            <a:ext cx="5846896" cy="513349"/>
          </a:xfrm>
          <a:prstGeom prst="right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Actions rapprochant une Communauté d’entreprise d’un format traditionnel</a:t>
            </a:r>
          </a:p>
        </p:txBody>
      </p:sp>
      <p:sp>
        <p:nvSpPr>
          <p:cNvPr id="37" name="Flèche : gauche 36">
            <a:extLst>
              <a:ext uri="{FF2B5EF4-FFF2-40B4-BE49-F238E27FC236}">
                <a16:creationId xmlns:a16="http://schemas.microsoft.com/office/drawing/2014/main" id="{394948C7-1197-5823-D312-5731CB027C3F}"/>
              </a:ext>
            </a:extLst>
          </p:cNvPr>
          <p:cNvSpPr/>
          <p:nvPr/>
        </p:nvSpPr>
        <p:spPr>
          <a:xfrm>
            <a:off x="3055680" y="4306640"/>
            <a:ext cx="5846896" cy="513349"/>
          </a:xfrm>
          <a:prstGeom prst="left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Actions éloignant une Communauté d’entreprise d’un format traditionnel</a:t>
            </a:r>
          </a:p>
        </p:txBody>
      </p:sp>
      <p:sp>
        <p:nvSpPr>
          <p:cNvPr id="43" name="Rectangle 42">
            <a:extLst>
              <a:ext uri="{FF2B5EF4-FFF2-40B4-BE49-F238E27FC236}">
                <a16:creationId xmlns:a16="http://schemas.microsoft.com/office/drawing/2014/main" id="{8D78E94B-F13B-B355-7162-B26E5DD7D814}"/>
              </a:ext>
            </a:extLst>
          </p:cNvPr>
          <p:cNvSpPr/>
          <p:nvPr/>
        </p:nvSpPr>
        <p:spPr>
          <a:xfrm>
            <a:off x="5429021" y="2563423"/>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⚙️Recruter des membres non pas sur leur engagement mais pour leurs compétences</a:t>
            </a:r>
          </a:p>
        </p:txBody>
      </p:sp>
      <p:sp>
        <p:nvSpPr>
          <p:cNvPr id="44" name="Rectangle 43">
            <a:extLst>
              <a:ext uri="{FF2B5EF4-FFF2-40B4-BE49-F238E27FC236}">
                <a16:creationId xmlns:a16="http://schemas.microsoft.com/office/drawing/2014/main" id="{CF9514D1-88A2-9645-F0FC-098390307687}"/>
              </a:ext>
            </a:extLst>
          </p:cNvPr>
          <p:cNvSpPr/>
          <p:nvPr/>
        </p:nvSpPr>
        <p:spPr>
          <a:xfrm>
            <a:off x="4264259" y="2563423"/>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⚙️Fixer et communiquer des responsabilités et des rôles, avec différents niveaux d’obligation</a:t>
            </a:r>
          </a:p>
        </p:txBody>
      </p:sp>
      <p:sp>
        <p:nvSpPr>
          <p:cNvPr id="45" name="Rectangle 44">
            <a:extLst>
              <a:ext uri="{FF2B5EF4-FFF2-40B4-BE49-F238E27FC236}">
                <a16:creationId xmlns:a16="http://schemas.microsoft.com/office/drawing/2014/main" id="{A9A3A6C8-1E66-7D95-3AA7-B72B28187019}"/>
              </a:ext>
            </a:extLst>
          </p:cNvPr>
          <p:cNvSpPr/>
          <p:nvPr/>
        </p:nvSpPr>
        <p:spPr>
          <a:xfrm>
            <a:off x="6607659" y="2563423"/>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⚙️✍️Intégrer la Communauté dans un organigramme d’équipes</a:t>
            </a:r>
          </a:p>
        </p:txBody>
      </p:sp>
      <p:sp>
        <p:nvSpPr>
          <p:cNvPr id="47" name="Rectangle 46">
            <a:extLst>
              <a:ext uri="{FF2B5EF4-FFF2-40B4-BE49-F238E27FC236}">
                <a16:creationId xmlns:a16="http://schemas.microsoft.com/office/drawing/2014/main" id="{94612B09-2DBA-1A11-1F62-6BC44BE6938C}"/>
              </a:ext>
            </a:extLst>
          </p:cNvPr>
          <p:cNvSpPr/>
          <p:nvPr/>
        </p:nvSpPr>
        <p:spPr>
          <a:xfrm>
            <a:off x="7792810" y="2563423"/>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⚙️Associer la responsabilité de la Communauté à un département / un service, restreindre l’accès.</a:t>
            </a:r>
          </a:p>
        </p:txBody>
      </p:sp>
      <p:sp>
        <p:nvSpPr>
          <p:cNvPr id="48" name="Rectangle 47">
            <a:extLst>
              <a:ext uri="{FF2B5EF4-FFF2-40B4-BE49-F238E27FC236}">
                <a16:creationId xmlns:a16="http://schemas.microsoft.com/office/drawing/2014/main" id="{0B4B6D56-A9ED-DFDF-A608-B482A7D63214}"/>
              </a:ext>
            </a:extLst>
          </p:cNvPr>
          <p:cNvSpPr/>
          <p:nvPr/>
        </p:nvSpPr>
        <p:spPr>
          <a:xfrm>
            <a:off x="5418934" y="1599173"/>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⚙️Officialiser certains livrables de Communauté</a:t>
            </a:r>
          </a:p>
        </p:txBody>
      </p:sp>
      <p:sp>
        <p:nvSpPr>
          <p:cNvPr id="49" name="Rectangle 48">
            <a:extLst>
              <a:ext uri="{FF2B5EF4-FFF2-40B4-BE49-F238E27FC236}">
                <a16:creationId xmlns:a16="http://schemas.microsoft.com/office/drawing/2014/main" id="{4627AE3A-C727-0028-FAFF-50F574194608}"/>
              </a:ext>
            </a:extLst>
          </p:cNvPr>
          <p:cNvSpPr/>
          <p:nvPr/>
        </p:nvSpPr>
        <p:spPr>
          <a:xfrm>
            <a:off x="4254172" y="1599173"/>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⚙️Officialiser la participation de certains membres clés, et leur accorder du temps professionnel dédié</a:t>
            </a:r>
          </a:p>
        </p:txBody>
      </p:sp>
      <p:sp>
        <p:nvSpPr>
          <p:cNvPr id="50" name="Rectangle 49">
            <a:extLst>
              <a:ext uri="{FF2B5EF4-FFF2-40B4-BE49-F238E27FC236}">
                <a16:creationId xmlns:a16="http://schemas.microsoft.com/office/drawing/2014/main" id="{0626B708-F61E-CFAD-F17C-A361A2AA4BA3}"/>
              </a:ext>
            </a:extLst>
          </p:cNvPr>
          <p:cNvSpPr/>
          <p:nvPr/>
        </p:nvSpPr>
        <p:spPr>
          <a:xfrm>
            <a:off x="6597572" y="1599173"/>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⚙️Poser des objectifs de performance (pour l’entreprise) à atteindre pour la Communauté</a:t>
            </a:r>
          </a:p>
        </p:txBody>
      </p:sp>
      <p:sp>
        <p:nvSpPr>
          <p:cNvPr id="52" name="Rectangle 51">
            <a:extLst>
              <a:ext uri="{FF2B5EF4-FFF2-40B4-BE49-F238E27FC236}">
                <a16:creationId xmlns:a16="http://schemas.microsoft.com/office/drawing/2014/main" id="{A49B4173-EF9C-C6AC-F016-9888D657EF4A}"/>
              </a:ext>
            </a:extLst>
          </p:cNvPr>
          <p:cNvSpPr/>
          <p:nvPr/>
        </p:nvSpPr>
        <p:spPr>
          <a:xfrm>
            <a:off x="7782723" y="1599173"/>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⚙️Demander un budget officiel pour la Communauté</a:t>
            </a:r>
          </a:p>
        </p:txBody>
      </p:sp>
      <p:sp>
        <p:nvSpPr>
          <p:cNvPr id="53" name="Rectangle 52">
            <a:extLst>
              <a:ext uri="{FF2B5EF4-FFF2-40B4-BE49-F238E27FC236}">
                <a16:creationId xmlns:a16="http://schemas.microsoft.com/office/drawing/2014/main" id="{D932211F-AD5C-18C2-4913-FC27D8AD15B2}"/>
              </a:ext>
            </a:extLst>
          </p:cNvPr>
          <p:cNvSpPr/>
          <p:nvPr/>
        </p:nvSpPr>
        <p:spPr>
          <a:xfrm>
            <a:off x="5451037" y="5881448"/>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⚙️Mettre en place un système de cotisations si besoin d’un budget</a:t>
            </a:r>
          </a:p>
        </p:txBody>
      </p:sp>
      <p:sp>
        <p:nvSpPr>
          <p:cNvPr id="54" name="Rectangle 53">
            <a:extLst>
              <a:ext uri="{FF2B5EF4-FFF2-40B4-BE49-F238E27FC236}">
                <a16:creationId xmlns:a16="http://schemas.microsoft.com/office/drawing/2014/main" id="{DAF146CE-3690-926C-2EB2-7C2BFC294401}"/>
              </a:ext>
            </a:extLst>
          </p:cNvPr>
          <p:cNvSpPr/>
          <p:nvPr/>
        </p:nvSpPr>
        <p:spPr>
          <a:xfrm>
            <a:off x="4286275" y="5881448"/>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Basculer certaines activités sur du temps personnel pour avoir plus de liberté</a:t>
            </a:r>
          </a:p>
        </p:txBody>
      </p:sp>
      <p:sp>
        <p:nvSpPr>
          <p:cNvPr id="55" name="Rectangle 54">
            <a:extLst>
              <a:ext uri="{FF2B5EF4-FFF2-40B4-BE49-F238E27FC236}">
                <a16:creationId xmlns:a16="http://schemas.microsoft.com/office/drawing/2014/main" id="{1AB814DE-BBE1-207A-AF3B-FEA2EC7BD9D5}"/>
              </a:ext>
            </a:extLst>
          </p:cNvPr>
          <p:cNvSpPr/>
          <p:nvPr/>
        </p:nvSpPr>
        <p:spPr>
          <a:xfrm>
            <a:off x="6629675" y="5881448"/>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⚙️Négocier à la baisse les engagements de la Communauté vis-à-vis de l’entreprise</a:t>
            </a:r>
          </a:p>
        </p:txBody>
      </p:sp>
      <p:sp>
        <p:nvSpPr>
          <p:cNvPr id="56" name="Rectangle 55">
            <a:extLst>
              <a:ext uri="{FF2B5EF4-FFF2-40B4-BE49-F238E27FC236}">
                <a16:creationId xmlns:a16="http://schemas.microsoft.com/office/drawing/2014/main" id="{F9BE47B2-A31D-6ACA-ED23-A84B240E430C}"/>
              </a:ext>
            </a:extLst>
          </p:cNvPr>
          <p:cNvSpPr/>
          <p:nvPr/>
        </p:nvSpPr>
        <p:spPr>
          <a:xfrm>
            <a:off x="3103127" y="5881448"/>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⚙️Déterminer des rôles basés sur l’engagement et les préférences des membres</a:t>
            </a:r>
          </a:p>
        </p:txBody>
      </p:sp>
      <p:sp>
        <p:nvSpPr>
          <p:cNvPr id="58" name="Rectangle 57">
            <a:extLst>
              <a:ext uri="{FF2B5EF4-FFF2-40B4-BE49-F238E27FC236}">
                <a16:creationId xmlns:a16="http://schemas.microsoft.com/office/drawing/2014/main" id="{C7B4DC62-1ADD-9DEF-34CA-39C5866B84BA}"/>
              </a:ext>
            </a:extLst>
          </p:cNvPr>
          <p:cNvSpPr/>
          <p:nvPr/>
        </p:nvSpPr>
        <p:spPr>
          <a:xfrm>
            <a:off x="5440950" y="4917198"/>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⚙️Restreindre les objectifs de la Communauté à ce que les membres eux-mêmes veulent atteindre</a:t>
            </a:r>
          </a:p>
        </p:txBody>
      </p:sp>
      <p:sp>
        <p:nvSpPr>
          <p:cNvPr id="59" name="Rectangle 58">
            <a:extLst>
              <a:ext uri="{FF2B5EF4-FFF2-40B4-BE49-F238E27FC236}">
                <a16:creationId xmlns:a16="http://schemas.microsoft.com/office/drawing/2014/main" id="{1CFF7C49-5797-5C8A-D079-D3E85A07F5CC}"/>
              </a:ext>
            </a:extLst>
          </p:cNvPr>
          <p:cNvSpPr/>
          <p:nvPr/>
        </p:nvSpPr>
        <p:spPr>
          <a:xfrm>
            <a:off x="4276188" y="4917198"/>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⚙️Ouvrir la Communauté à des membres de plus en plus éloignés (nouveaux services, externes, …) </a:t>
            </a:r>
          </a:p>
        </p:txBody>
      </p:sp>
      <p:sp>
        <p:nvSpPr>
          <p:cNvPr id="60" name="Rectangle 59">
            <a:extLst>
              <a:ext uri="{FF2B5EF4-FFF2-40B4-BE49-F238E27FC236}">
                <a16:creationId xmlns:a16="http://schemas.microsoft.com/office/drawing/2014/main" id="{83130C1F-89DD-827F-A000-408C568E66EE}"/>
              </a:ext>
            </a:extLst>
          </p:cNvPr>
          <p:cNvSpPr/>
          <p:nvPr/>
        </p:nvSpPr>
        <p:spPr>
          <a:xfrm>
            <a:off x="6619588" y="4917198"/>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⚙️Utiliser des outils externes à l’entreprise, avec des comptes personnels</a:t>
            </a:r>
          </a:p>
        </p:txBody>
      </p:sp>
      <p:sp>
        <p:nvSpPr>
          <p:cNvPr id="61" name="Rectangle 60">
            <a:extLst>
              <a:ext uri="{FF2B5EF4-FFF2-40B4-BE49-F238E27FC236}">
                <a16:creationId xmlns:a16="http://schemas.microsoft.com/office/drawing/2014/main" id="{9271D4B8-311A-FB11-EB54-D42AB0E288DB}"/>
              </a:ext>
            </a:extLst>
          </p:cNvPr>
          <p:cNvSpPr/>
          <p:nvPr/>
        </p:nvSpPr>
        <p:spPr>
          <a:xfrm>
            <a:off x="3093040" y="4917198"/>
            <a:ext cx="1107924" cy="865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⚙️Privilégier les actions à valeur pour les membres plutôt qu’à valeur pour l’entreprise</a:t>
            </a:r>
          </a:p>
        </p:txBody>
      </p:sp>
      <p:grpSp>
        <p:nvGrpSpPr>
          <p:cNvPr id="5" name="Groupe 4">
            <a:extLst>
              <a:ext uri="{FF2B5EF4-FFF2-40B4-BE49-F238E27FC236}">
                <a16:creationId xmlns:a16="http://schemas.microsoft.com/office/drawing/2014/main" id="{5E741B99-31EB-A9D7-1A4B-00C03AB42B29}"/>
              </a:ext>
            </a:extLst>
          </p:cNvPr>
          <p:cNvGrpSpPr/>
          <p:nvPr/>
        </p:nvGrpSpPr>
        <p:grpSpPr>
          <a:xfrm>
            <a:off x="82962" y="326108"/>
            <a:ext cx="1229800" cy="1215667"/>
            <a:chOff x="-3726451" y="2933151"/>
            <a:chExt cx="1229800" cy="1215667"/>
          </a:xfrm>
        </p:grpSpPr>
        <p:grpSp>
          <p:nvGrpSpPr>
            <p:cNvPr id="63" name="Groupe 62">
              <a:extLst>
                <a:ext uri="{FF2B5EF4-FFF2-40B4-BE49-F238E27FC236}">
                  <a16:creationId xmlns:a16="http://schemas.microsoft.com/office/drawing/2014/main" id="{635D299E-2F0D-257B-EABA-5F5CDC09131E}"/>
                </a:ext>
              </a:extLst>
            </p:cNvPr>
            <p:cNvGrpSpPr/>
            <p:nvPr/>
          </p:nvGrpSpPr>
          <p:grpSpPr>
            <a:xfrm>
              <a:off x="-3568666" y="2933151"/>
              <a:ext cx="991299" cy="1215667"/>
              <a:chOff x="8860995" y="282959"/>
              <a:chExt cx="3407094" cy="4178249"/>
            </a:xfrm>
            <a:solidFill>
              <a:schemeClr val="tx1"/>
            </a:solidFill>
          </p:grpSpPr>
          <p:pic>
            <p:nvPicPr>
              <p:cNvPr id="64" name="Graphique 63" descr="Diagramme de flux avec un remplissage uni">
                <a:extLst>
                  <a:ext uri="{FF2B5EF4-FFF2-40B4-BE49-F238E27FC236}">
                    <a16:creationId xmlns:a16="http://schemas.microsoft.com/office/drawing/2014/main" id="{FA7B23E3-3F50-A3E9-3DE8-5D5135B3E89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67" name="Groupe 66">
                <a:extLst>
                  <a:ext uri="{FF2B5EF4-FFF2-40B4-BE49-F238E27FC236}">
                    <a16:creationId xmlns:a16="http://schemas.microsoft.com/office/drawing/2014/main" id="{E868BA8E-E66E-9F2F-F975-AC1F9E0F9CF9}"/>
                  </a:ext>
                </a:extLst>
              </p:cNvPr>
              <p:cNvGrpSpPr/>
              <p:nvPr/>
            </p:nvGrpSpPr>
            <p:grpSpPr>
              <a:xfrm>
                <a:off x="8860995" y="282959"/>
                <a:ext cx="3360434" cy="4178249"/>
                <a:chOff x="8860995" y="282959"/>
                <a:chExt cx="3360434" cy="4178249"/>
              </a:xfrm>
              <a:grpFill/>
            </p:grpSpPr>
            <p:pic>
              <p:nvPicPr>
                <p:cNvPr id="68" name="Graphique 67" descr="Diagramme de flux avec un remplissage uni">
                  <a:extLst>
                    <a:ext uri="{FF2B5EF4-FFF2-40B4-BE49-F238E27FC236}">
                      <a16:creationId xmlns:a16="http://schemas.microsoft.com/office/drawing/2014/main" id="{6E5A7D4C-BA4E-B183-39F9-248641C5B0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69" name="Graphique 68" descr="Diagramme de flux avec un remplissage uni">
                  <a:extLst>
                    <a:ext uri="{FF2B5EF4-FFF2-40B4-BE49-F238E27FC236}">
                      <a16:creationId xmlns:a16="http://schemas.microsoft.com/office/drawing/2014/main" id="{4F4030D3-E431-AC2D-8923-F7A1DE8DB35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70" name="Graphique 69" descr="Diagramme de flux avec un remplissage uni">
                  <a:extLst>
                    <a:ext uri="{FF2B5EF4-FFF2-40B4-BE49-F238E27FC236}">
                      <a16:creationId xmlns:a16="http://schemas.microsoft.com/office/drawing/2014/main" id="{63E3E356-6612-4B4B-C4A3-6F8A2573B94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71" name="Graphique 70" descr="Diagramme de flux avec un remplissage uni">
                  <a:extLst>
                    <a:ext uri="{FF2B5EF4-FFF2-40B4-BE49-F238E27FC236}">
                      <a16:creationId xmlns:a16="http://schemas.microsoft.com/office/drawing/2014/main" id="{3E134F8F-EB3B-A732-3529-51480552E71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72" name="Graphique 71" descr="Diagramme de flux avec un remplissage uni">
                  <a:extLst>
                    <a:ext uri="{FF2B5EF4-FFF2-40B4-BE49-F238E27FC236}">
                      <a16:creationId xmlns:a16="http://schemas.microsoft.com/office/drawing/2014/main" id="{3B75740E-98BF-4341-C561-AE7CCC6CEA9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73" name="Graphique 72" descr="Diagramme de flux avec un remplissage uni">
                  <a:extLst>
                    <a:ext uri="{FF2B5EF4-FFF2-40B4-BE49-F238E27FC236}">
                      <a16:creationId xmlns:a16="http://schemas.microsoft.com/office/drawing/2014/main" id="{3B67C18F-83AD-EA29-C5BD-66ABCEFED00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74" name="Graphique 73" descr="Diagramme de flux avec un remplissage uni">
                  <a:extLst>
                    <a:ext uri="{FF2B5EF4-FFF2-40B4-BE49-F238E27FC236}">
                      <a16:creationId xmlns:a16="http://schemas.microsoft.com/office/drawing/2014/main" id="{4225081E-40BD-4C72-6FFD-6010D6D86C3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75" name="Graphique 74" descr="Diagramme de flux avec un remplissage uni">
                  <a:extLst>
                    <a:ext uri="{FF2B5EF4-FFF2-40B4-BE49-F238E27FC236}">
                      <a16:creationId xmlns:a16="http://schemas.microsoft.com/office/drawing/2014/main" id="{11482F56-63FF-C6C3-8B34-C4DA01DAE26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76" name="Graphique 75" descr="Diagramme de flux avec un remplissage uni">
                  <a:extLst>
                    <a:ext uri="{FF2B5EF4-FFF2-40B4-BE49-F238E27FC236}">
                      <a16:creationId xmlns:a16="http://schemas.microsoft.com/office/drawing/2014/main" id="{38B4293D-EE9E-4667-E8D0-51CFF5342D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77" name="Graphique 76" descr="Diagramme de flux avec un remplissage uni">
                  <a:extLst>
                    <a:ext uri="{FF2B5EF4-FFF2-40B4-BE49-F238E27FC236}">
                      <a16:creationId xmlns:a16="http://schemas.microsoft.com/office/drawing/2014/main" id="{C98DAE2A-044B-B811-79D7-E991F18B021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78" name="Graphique 77" descr="Diagramme de flux avec un remplissage uni">
                  <a:extLst>
                    <a:ext uri="{FF2B5EF4-FFF2-40B4-BE49-F238E27FC236}">
                      <a16:creationId xmlns:a16="http://schemas.microsoft.com/office/drawing/2014/main" id="{C07B7355-E163-910A-7CB2-E3AA9A4C632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79" name="Graphique 78" descr="Diagramme de flux avec un remplissage uni">
                  <a:extLst>
                    <a:ext uri="{FF2B5EF4-FFF2-40B4-BE49-F238E27FC236}">
                      <a16:creationId xmlns:a16="http://schemas.microsoft.com/office/drawing/2014/main" id="{F11A46A8-00AE-FD40-7F45-A905B6F560D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80" name="Graphique 79" descr="Diagramme de flux avec un remplissage uni">
                  <a:extLst>
                    <a:ext uri="{FF2B5EF4-FFF2-40B4-BE49-F238E27FC236}">
                      <a16:creationId xmlns:a16="http://schemas.microsoft.com/office/drawing/2014/main" id="{FBE08DA1-3144-5E6E-8BA1-EF4A899B56E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81" name="Graphique 80" descr="Diagramme de flux avec un remplissage uni">
                  <a:extLst>
                    <a:ext uri="{FF2B5EF4-FFF2-40B4-BE49-F238E27FC236}">
                      <a16:creationId xmlns:a16="http://schemas.microsoft.com/office/drawing/2014/main" id="{D4D045DF-BF46-7CDD-69C6-398BD921232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82" name="Graphique 81" descr="Diagramme de flux avec un remplissage uni">
                  <a:extLst>
                    <a:ext uri="{FF2B5EF4-FFF2-40B4-BE49-F238E27FC236}">
                      <a16:creationId xmlns:a16="http://schemas.microsoft.com/office/drawing/2014/main" id="{85F5FB92-663E-16A1-05FB-158B9C91819A}"/>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83" name="Graphique 82" descr="Diagramme de flux avec un remplissage uni">
                  <a:extLst>
                    <a:ext uri="{FF2B5EF4-FFF2-40B4-BE49-F238E27FC236}">
                      <a16:creationId xmlns:a16="http://schemas.microsoft.com/office/drawing/2014/main" id="{8DF4FB7D-0E75-D06C-D6EE-B6C000F8639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sp>
          <p:nvSpPr>
            <p:cNvPr id="84" name="Forme libre : forme 83">
              <a:extLst>
                <a:ext uri="{FF2B5EF4-FFF2-40B4-BE49-F238E27FC236}">
                  <a16:creationId xmlns:a16="http://schemas.microsoft.com/office/drawing/2014/main" id="{B80E26C3-218D-453F-B8CB-3563FD83FEC0}"/>
                </a:ext>
              </a:extLst>
            </p:cNvPr>
            <p:cNvSpPr/>
            <p:nvPr/>
          </p:nvSpPr>
          <p:spPr>
            <a:xfrm>
              <a:off x="-3726451" y="3092070"/>
              <a:ext cx="919322" cy="60512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1905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85" name="Forme libre : forme 84">
              <a:extLst>
                <a:ext uri="{FF2B5EF4-FFF2-40B4-BE49-F238E27FC236}">
                  <a16:creationId xmlns:a16="http://schemas.microsoft.com/office/drawing/2014/main" id="{02EA009B-803E-4236-3067-6E1D062658B7}"/>
                </a:ext>
              </a:extLst>
            </p:cNvPr>
            <p:cNvSpPr/>
            <p:nvPr/>
          </p:nvSpPr>
          <p:spPr>
            <a:xfrm>
              <a:off x="-3045638" y="3538773"/>
              <a:ext cx="548987" cy="589524"/>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1905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86" name="Forme libre : forme 85">
              <a:extLst>
                <a:ext uri="{FF2B5EF4-FFF2-40B4-BE49-F238E27FC236}">
                  <a16:creationId xmlns:a16="http://schemas.microsoft.com/office/drawing/2014/main" id="{826B2684-EFE6-9B35-DBD3-BB55B3886216}"/>
                </a:ext>
              </a:extLst>
            </p:cNvPr>
            <p:cNvSpPr/>
            <p:nvPr/>
          </p:nvSpPr>
          <p:spPr>
            <a:xfrm>
              <a:off x="-3687740" y="3518217"/>
              <a:ext cx="737874" cy="297689"/>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1905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Tree>
    <p:extLst>
      <p:ext uri="{BB962C8B-B14F-4D97-AF65-F5344CB8AC3E}">
        <p14:creationId xmlns:p14="http://schemas.microsoft.com/office/powerpoint/2010/main" val="4187751093"/>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DEE560F-324E-9A1E-9A7A-807B5D33F118}"/>
              </a:ext>
            </a:extLst>
          </p:cNvPr>
          <p:cNvSpPr>
            <a:spLocks noGrp="1"/>
          </p:cNvSpPr>
          <p:nvPr>
            <p:ph type="title"/>
          </p:nvPr>
        </p:nvSpPr>
        <p:spPr>
          <a:xfrm>
            <a:off x="1390530" y="365126"/>
            <a:ext cx="9963270" cy="731662"/>
          </a:xfrm>
        </p:spPr>
        <p:txBody>
          <a:bodyPr>
            <a:noAutofit/>
          </a:bodyPr>
          <a:lstStyle/>
          <a:p>
            <a:r>
              <a:rPr lang="fr-FR" sz="2400" dirty="0"/>
              <a:t>Les blocages invitant à passer d’une approche à une autre </a:t>
            </a:r>
            <a:br>
              <a:rPr lang="fr-FR" sz="2400" dirty="0"/>
            </a:br>
            <a:r>
              <a:rPr lang="fr-FR" sz="2400" dirty="0"/>
              <a:t>Liste d’exemples</a:t>
            </a:r>
          </a:p>
        </p:txBody>
      </p:sp>
      <p:sp>
        <p:nvSpPr>
          <p:cNvPr id="57" name="Flèche : double flèche horizontale 56">
            <a:extLst>
              <a:ext uri="{FF2B5EF4-FFF2-40B4-BE49-F238E27FC236}">
                <a16:creationId xmlns:a16="http://schemas.microsoft.com/office/drawing/2014/main" id="{0F58E9E7-9BB8-0B12-90B6-A1CA1B8A2589}"/>
              </a:ext>
            </a:extLst>
          </p:cNvPr>
          <p:cNvSpPr/>
          <p:nvPr/>
        </p:nvSpPr>
        <p:spPr>
          <a:xfrm rot="5400000">
            <a:off x="3452838" y="3487063"/>
            <a:ext cx="5431214" cy="362093"/>
          </a:xfrm>
          <a:prstGeom prst="lef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58" name="Groupe 57">
            <a:extLst>
              <a:ext uri="{FF2B5EF4-FFF2-40B4-BE49-F238E27FC236}">
                <a16:creationId xmlns:a16="http://schemas.microsoft.com/office/drawing/2014/main" id="{382F5184-74BF-1060-335D-2D3D0FEC7248}"/>
              </a:ext>
            </a:extLst>
          </p:cNvPr>
          <p:cNvGrpSpPr/>
          <p:nvPr/>
        </p:nvGrpSpPr>
        <p:grpSpPr>
          <a:xfrm>
            <a:off x="5404615" y="1456018"/>
            <a:ext cx="1409636" cy="1188435"/>
            <a:chOff x="8982504" y="3274976"/>
            <a:chExt cx="1230670" cy="1037553"/>
          </a:xfrm>
          <a:solidFill>
            <a:srgbClr val="ED7D31"/>
          </a:solidFill>
        </p:grpSpPr>
        <p:pic>
          <p:nvPicPr>
            <p:cNvPr id="59" name="Graphique 58" descr="Utilisateur avec un remplissage uni">
              <a:extLst>
                <a:ext uri="{FF2B5EF4-FFF2-40B4-BE49-F238E27FC236}">
                  <a16:creationId xmlns:a16="http://schemas.microsoft.com/office/drawing/2014/main" id="{A27B56B9-D7E3-DC5C-12A7-C6228C6F07F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60" name="Graphique 59" descr="Utilisateur avec un remplissage uni">
              <a:extLst>
                <a:ext uri="{FF2B5EF4-FFF2-40B4-BE49-F238E27FC236}">
                  <a16:creationId xmlns:a16="http://schemas.microsoft.com/office/drawing/2014/main" id="{867C0C23-C915-977D-AD4F-8D4A3A8CF9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61" name="Graphique 60" descr="Utilisateur avec un remplissage uni">
              <a:extLst>
                <a:ext uri="{FF2B5EF4-FFF2-40B4-BE49-F238E27FC236}">
                  <a16:creationId xmlns:a16="http://schemas.microsoft.com/office/drawing/2014/main" id="{75D3D6AB-090D-ED61-5F4E-6AB2D6D910E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62" name="Graphique 61" descr="Utilisateur avec un remplissage uni">
              <a:extLst>
                <a:ext uri="{FF2B5EF4-FFF2-40B4-BE49-F238E27FC236}">
                  <a16:creationId xmlns:a16="http://schemas.microsoft.com/office/drawing/2014/main" id="{4DAC0A45-9E92-F8CD-E43F-A6A013AE8D3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63" name="Graphique 62" descr="Utilisateur avec un remplissage uni">
              <a:extLst>
                <a:ext uri="{FF2B5EF4-FFF2-40B4-BE49-F238E27FC236}">
                  <a16:creationId xmlns:a16="http://schemas.microsoft.com/office/drawing/2014/main" id="{F17307F1-D200-6606-B9E5-B218CE64E7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64" name="Graphique 63" descr="Utilisateur avec un remplissage uni">
              <a:extLst>
                <a:ext uri="{FF2B5EF4-FFF2-40B4-BE49-F238E27FC236}">
                  <a16:creationId xmlns:a16="http://schemas.microsoft.com/office/drawing/2014/main" id="{85D61B09-4C25-6A84-9A89-B9919B8C78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65" name="Graphique 64" descr="Utilisateur avec un remplissage uni">
              <a:extLst>
                <a:ext uri="{FF2B5EF4-FFF2-40B4-BE49-F238E27FC236}">
                  <a16:creationId xmlns:a16="http://schemas.microsoft.com/office/drawing/2014/main" id="{89B9D389-BB34-C31C-556C-2FF3CD68E48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66" name="Graphique 65" descr="Utilisateur avec un remplissage uni">
              <a:extLst>
                <a:ext uri="{FF2B5EF4-FFF2-40B4-BE49-F238E27FC236}">
                  <a16:creationId xmlns:a16="http://schemas.microsoft.com/office/drawing/2014/main" id="{F3E0318C-5F2C-E766-2317-0DEBF38C273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67" name="Graphique 66" descr="Utilisateur avec un remplissage uni">
              <a:extLst>
                <a:ext uri="{FF2B5EF4-FFF2-40B4-BE49-F238E27FC236}">
                  <a16:creationId xmlns:a16="http://schemas.microsoft.com/office/drawing/2014/main" id="{A65B93B4-1AD3-7EEC-6373-F9D5815418A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68" name="Graphique 67" descr="Utilisateur avec un remplissage uni">
              <a:extLst>
                <a:ext uri="{FF2B5EF4-FFF2-40B4-BE49-F238E27FC236}">
                  <a16:creationId xmlns:a16="http://schemas.microsoft.com/office/drawing/2014/main" id="{8773DF0D-B6DD-BE8D-A98C-5A096D630FE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69" name="Graphique 68" descr="Utilisateur avec un remplissage uni">
              <a:extLst>
                <a:ext uri="{FF2B5EF4-FFF2-40B4-BE49-F238E27FC236}">
                  <a16:creationId xmlns:a16="http://schemas.microsoft.com/office/drawing/2014/main" id="{FE7231DB-1E8D-2B9C-11C9-2941BDB080C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70" name="Graphique 69" descr="Utilisateur avec un remplissage uni">
            <a:extLst>
              <a:ext uri="{FF2B5EF4-FFF2-40B4-BE49-F238E27FC236}">
                <a16:creationId xmlns:a16="http://schemas.microsoft.com/office/drawing/2014/main" id="{9F62980A-40B6-FAAD-4078-B001B315E0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49653" y="5353773"/>
            <a:ext cx="384935" cy="384935"/>
          </a:xfrm>
          <a:prstGeom prst="rect">
            <a:avLst/>
          </a:prstGeom>
        </p:spPr>
      </p:pic>
      <p:grpSp>
        <p:nvGrpSpPr>
          <p:cNvPr id="71" name="Groupe 70">
            <a:extLst>
              <a:ext uri="{FF2B5EF4-FFF2-40B4-BE49-F238E27FC236}">
                <a16:creationId xmlns:a16="http://schemas.microsoft.com/office/drawing/2014/main" id="{38314FC3-83AD-E3DD-69EE-9D44F11AAF2B}"/>
              </a:ext>
            </a:extLst>
          </p:cNvPr>
          <p:cNvGrpSpPr/>
          <p:nvPr/>
        </p:nvGrpSpPr>
        <p:grpSpPr>
          <a:xfrm>
            <a:off x="5503008" y="3425026"/>
            <a:ext cx="993720" cy="1024122"/>
            <a:chOff x="9345616" y="3418428"/>
            <a:chExt cx="867558" cy="894101"/>
          </a:xfrm>
          <a:solidFill>
            <a:srgbClr val="ED7D31"/>
          </a:solidFill>
        </p:grpSpPr>
        <p:pic>
          <p:nvPicPr>
            <p:cNvPr id="72" name="Graphique 71" descr="Utilisateur avec un remplissage uni">
              <a:extLst>
                <a:ext uri="{FF2B5EF4-FFF2-40B4-BE49-F238E27FC236}">
                  <a16:creationId xmlns:a16="http://schemas.microsoft.com/office/drawing/2014/main" id="{4F8FA9B5-771A-AB3A-391D-EA39432BB5B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73" name="Graphique 72" descr="Utilisateur avec un remplissage uni">
              <a:extLst>
                <a:ext uri="{FF2B5EF4-FFF2-40B4-BE49-F238E27FC236}">
                  <a16:creationId xmlns:a16="http://schemas.microsoft.com/office/drawing/2014/main" id="{2BD09AFB-599C-9386-00A8-C5AC6CAF144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74" name="Graphique 73" descr="Utilisateur avec un remplissage uni">
              <a:extLst>
                <a:ext uri="{FF2B5EF4-FFF2-40B4-BE49-F238E27FC236}">
                  <a16:creationId xmlns:a16="http://schemas.microsoft.com/office/drawing/2014/main" id="{ADA3112A-A80F-D966-ECF2-66B498FE2C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75" name="Graphique 74" descr="Utilisateur avec un remplissage uni">
              <a:extLst>
                <a:ext uri="{FF2B5EF4-FFF2-40B4-BE49-F238E27FC236}">
                  <a16:creationId xmlns:a16="http://schemas.microsoft.com/office/drawing/2014/main" id="{B6E386FD-D9FB-204C-8CD1-1EBAA7ED5C9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76" name="Graphique 75" descr="Utilisateur avec un remplissage uni">
              <a:extLst>
                <a:ext uri="{FF2B5EF4-FFF2-40B4-BE49-F238E27FC236}">
                  <a16:creationId xmlns:a16="http://schemas.microsoft.com/office/drawing/2014/main" id="{B18115A8-DC68-5608-0B45-64AF07A5B83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77" name="Graphique 76" descr="Utilisateur avec un remplissage uni">
              <a:extLst>
                <a:ext uri="{FF2B5EF4-FFF2-40B4-BE49-F238E27FC236}">
                  <a16:creationId xmlns:a16="http://schemas.microsoft.com/office/drawing/2014/main" id="{6CE9A41C-C24C-A843-8F75-D538493B5D7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78" name="Graphique 77" descr="Calendrier journalier avec un remplissage uni">
            <a:extLst>
              <a:ext uri="{FF2B5EF4-FFF2-40B4-BE49-F238E27FC236}">
                <a16:creationId xmlns:a16="http://schemas.microsoft.com/office/drawing/2014/main" id="{6DDFFF10-5078-805D-9579-D7E1FD07EB8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84190" y="3509605"/>
            <a:ext cx="451308" cy="451308"/>
          </a:xfrm>
          <a:prstGeom prst="rect">
            <a:avLst/>
          </a:prstGeom>
        </p:spPr>
      </p:pic>
      <p:pic>
        <p:nvPicPr>
          <p:cNvPr id="79" name="Graphique 78" descr="Utilisateur avec un remplissage uni">
            <a:extLst>
              <a:ext uri="{FF2B5EF4-FFF2-40B4-BE49-F238E27FC236}">
                <a16:creationId xmlns:a16="http://schemas.microsoft.com/office/drawing/2014/main" id="{2D447ED1-A736-26D5-3FF2-698C9000330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511522" y="6007813"/>
            <a:ext cx="384935" cy="384935"/>
          </a:xfrm>
          <a:prstGeom prst="rect">
            <a:avLst/>
          </a:prstGeom>
        </p:spPr>
      </p:pic>
      <p:pic>
        <p:nvPicPr>
          <p:cNvPr id="80" name="Graphique 79" descr="Utilisateur avec un remplissage uni">
            <a:extLst>
              <a:ext uri="{FF2B5EF4-FFF2-40B4-BE49-F238E27FC236}">
                <a16:creationId xmlns:a16="http://schemas.microsoft.com/office/drawing/2014/main" id="{6009EF81-9F33-D1B7-1A13-E1BC1A8D82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375271" y="5998782"/>
            <a:ext cx="384935" cy="384935"/>
          </a:xfrm>
          <a:prstGeom prst="rect">
            <a:avLst/>
          </a:prstGeom>
        </p:spPr>
      </p:pic>
      <p:pic>
        <p:nvPicPr>
          <p:cNvPr id="81" name="Graphique 80" descr="Utilisateur avec un remplissage uni">
            <a:extLst>
              <a:ext uri="{FF2B5EF4-FFF2-40B4-BE49-F238E27FC236}">
                <a16:creationId xmlns:a16="http://schemas.microsoft.com/office/drawing/2014/main" id="{40C73136-637A-D31D-E58F-45805ED2D24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150564" y="5306364"/>
            <a:ext cx="384935" cy="384935"/>
          </a:xfrm>
          <a:prstGeom prst="rect">
            <a:avLst/>
          </a:prstGeom>
        </p:spPr>
      </p:pic>
      <p:sp>
        <p:nvSpPr>
          <p:cNvPr id="3" name="Flèche : bas 2">
            <a:extLst>
              <a:ext uri="{FF2B5EF4-FFF2-40B4-BE49-F238E27FC236}">
                <a16:creationId xmlns:a16="http://schemas.microsoft.com/office/drawing/2014/main" id="{750729E3-B48F-88C2-C72B-36EBF791822F}"/>
              </a:ext>
            </a:extLst>
          </p:cNvPr>
          <p:cNvSpPr/>
          <p:nvPr/>
        </p:nvSpPr>
        <p:spPr>
          <a:xfrm>
            <a:off x="6880137" y="2704452"/>
            <a:ext cx="485734" cy="731661"/>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7" name="Flèche : bas 96">
            <a:extLst>
              <a:ext uri="{FF2B5EF4-FFF2-40B4-BE49-F238E27FC236}">
                <a16:creationId xmlns:a16="http://schemas.microsoft.com/office/drawing/2014/main" id="{3E07BF96-9457-FFF3-359E-89D9CB0F8114}"/>
              </a:ext>
            </a:extLst>
          </p:cNvPr>
          <p:cNvSpPr/>
          <p:nvPr/>
        </p:nvSpPr>
        <p:spPr>
          <a:xfrm rot="10800000">
            <a:off x="4751473" y="2684640"/>
            <a:ext cx="485734" cy="74038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8" name="Flèche : bas 97">
            <a:extLst>
              <a:ext uri="{FF2B5EF4-FFF2-40B4-BE49-F238E27FC236}">
                <a16:creationId xmlns:a16="http://schemas.microsoft.com/office/drawing/2014/main" id="{21AA1AB3-1646-1D35-4F6D-824B1BA7FA88}"/>
              </a:ext>
            </a:extLst>
          </p:cNvPr>
          <p:cNvSpPr/>
          <p:nvPr/>
        </p:nvSpPr>
        <p:spPr>
          <a:xfrm>
            <a:off x="6867434" y="4767170"/>
            <a:ext cx="485734" cy="731661"/>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9" name="Flèche : bas 98">
            <a:extLst>
              <a:ext uri="{FF2B5EF4-FFF2-40B4-BE49-F238E27FC236}">
                <a16:creationId xmlns:a16="http://schemas.microsoft.com/office/drawing/2014/main" id="{B2DFBDFB-08E5-FED9-78E5-18A7D8E0A9F1}"/>
              </a:ext>
            </a:extLst>
          </p:cNvPr>
          <p:cNvSpPr/>
          <p:nvPr/>
        </p:nvSpPr>
        <p:spPr>
          <a:xfrm rot="10800000">
            <a:off x="4754366" y="4668574"/>
            <a:ext cx="485734" cy="721940"/>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Rectangle 36">
            <a:extLst>
              <a:ext uri="{FF2B5EF4-FFF2-40B4-BE49-F238E27FC236}">
                <a16:creationId xmlns:a16="http://schemas.microsoft.com/office/drawing/2014/main" id="{73B5CA16-EA09-CBC4-7DB4-A38CF0620866}"/>
              </a:ext>
            </a:extLst>
          </p:cNvPr>
          <p:cNvSpPr/>
          <p:nvPr/>
        </p:nvSpPr>
        <p:spPr>
          <a:xfrm>
            <a:off x="9757937" y="1950422"/>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 pour se trouver un canal d’interactions asynchrones utilisé spontanément</a:t>
            </a:r>
          </a:p>
        </p:txBody>
      </p:sp>
      <p:sp>
        <p:nvSpPr>
          <p:cNvPr id="38" name="Rectangle 37">
            <a:extLst>
              <a:ext uri="{FF2B5EF4-FFF2-40B4-BE49-F238E27FC236}">
                <a16:creationId xmlns:a16="http://schemas.microsoft.com/office/drawing/2014/main" id="{7C656117-0AD9-7C57-4E70-DF1B9B22D1F7}"/>
              </a:ext>
            </a:extLst>
          </p:cNvPr>
          <p:cNvSpPr/>
          <p:nvPr/>
        </p:nvSpPr>
        <p:spPr>
          <a:xfrm>
            <a:off x="8668525" y="1950422"/>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Pas vraiment de relation entre les membres au-delà de l’intérêt pour un événement en particulier</a:t>
            </a:r>
          </a:p>
        </p:txBody>
      </p:sp>
      <p:sp>
        <p:nvSpPr>
          <p:cNvPr id="39" name="Rectangle 38">
            <a:extLst>
              <a:ext uri="{FF2B5EF4-FFF2-40B4-BE49-F238E27FC236}">
                <a16:creationId xmlns:a16="http://schemas.microsoft.com/office/drawing/2014/main" id="{DD9DC7A0-47F3-4377-313C-EAEA639E7927}"/>
              </a:ext>
            </a:extLst>
          </p:cNvPr>
          <p:cNvSpPr/>
          <p:nvPr/>
        </p:nvSpPr>
        <p:spPr>
          <a:xfrm>
            <a:off x="8669514" y="1067050"/>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Pas ou peu de visibilité sur des activités intéressantes concrètes dans le futur</a:t>
            </a:r>
          </a:p>
        </p:txBody>
      </p:sp>
      <p:sp>
        <p:nvSpPr>
          <p:cNvPr id="40" name="Rectangle 39">
            <a:extLst>
              <a:ext uri="{FF2B5EF4-FFF2-40B4-BE49-F238E27FC236}">
                <a16:creationId xmlns:a16="http://schemas.microsoft.com/office/drawing/2014/main" id="{8133E6D1-B26F-314A-2B38-298F186A7084}"/>
              </a:ext>
            </a:extLst>
          </p:cNvPr>
          <p:cNvSpPr/>
          <p:nvPr/>
        </p:nvSpPr>
        <p:spPr>
          <a:xfrm>
            <a:off x="7561917" y="1950422"/>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 à se retrouver de manière régulière ou récurrente</a:t>
            </a:r>
          </a:p>
        </p:txBody>
      </p:sp>
      <p:sp>
        <p:nvSpPr>
          <p:cNvPr id="45" name="Rectangle 44">
            <a:extLst>
              <a:ext uri="{FF2B5EF4-FFF2-40B4-BE49-F238E27FC236}">
                <a16:creationId xmlns:a16="http://schemas.microsoft.com/office/drawing/2014/main" id="{1E26613A-128B-76A7-6E6C-92FC080FE9FB}"/>
              </a:ext>
            </a:extLst>
          </p:cNvPr>
          <p:cNvSpPr/>
          <p:nvPr/>
        </p:nvSpPr>
        <p:spPr>
          <a:xfrm>
            <a:off x="7561917" y="1061428"/>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Participation très variable et quasiment pas d’activité entre les événements</a:t>
            </a:r>
          </a:p>
        </p:txBody>
      </p:sp>
      <p:sp>
        <p:nvSpPr>
          <p:cNvPr id="46" name="Rectangle 45">
            <a:extLst>
              <a:ext uri="{FF2B5EF4-FFF2-40B4-BE49-F238E27FC236}">
                <a16:creationId xmlns:a16="http://schemas.microsoft.com/office/drawing/2014/main" id="{38F7DC5E-CE8D-1BD8-F554-88C5A584522C}"/>
              </a:ext>
            </a:extLst>
          </p:cNvPr>
          <p:cNvSpPr/>
          <p:nvPr/>
        </p:nvSpPr>
        <p:spPr>
          <a:xfrm>
            <a:off x="9757937" y="4261672"/>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Remise en question de l’utilité d’un grand événement pour un besoin ponctuel</a:t>
            </a:r>
          </a:p>
        </p:txBody>
      </p:sp>
      <p:sp>
        <p:nvSpPr>
          <p:cNvPr id="47" name="Rectangle 46">
            <a:extLst>
              <a:ext uri="{FF2B5EF4-FFF2-40B4-BE49-F238E27FC236}">
                <a16:creationId xmlns:a16="http://schemas.microsoft.com/office/drawing/2014/main" id="{1711153C-B5A5-8A4E-2CAF-BB589178B89D}"/>
              </a:ext>
            </a:extLst>
          </p:cNvPr>
          <p:cNvSpPr/>
          <p:nvPr/>
        </p:nvSpPr>
        <p:spPr>
          <a:xfrm>
            <a:off x="8668525" y="4261672"/>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Frustration de ne pas pouvoir creuser des questions spécifiques à chacun</a:t>
            </a:r>
          </a:p>
        </p:txBody>
      </p:sp>
      <p:sp>
        <p:nvSpPr>
          <p:cNvPr id="49" name="Rectangle 48">
            <a:extLst>
              <a:ext uri="{FF2B5EF4-FFF2-40B4-BE49-F238E27FC236}">
                <a16:creationId xmlns:a16="http://schemas.microsoft.com/office/drawing/2014/main" id="{7E380445-DEEE-CF5D-F627-DC2A2D0E5F08}"/>
              </a:ext>
            </a:extLst>
          </p:cNvPr>
          <p:cNvSpPr/>
          <p:nvPr/>
        </p:nvSpPr>
        <p:spPr>
          <a:xfrm>
            <a:off x="7561917" y="4261672"/>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Beaucoup de participants mais très peu qui se sentent concernés ou qui prêtent attention</a:t>
            </a:r>
          </a:p>
        </p:txBody>
      </p:sp>
      <p:sp>
        <p:nvSpPr>
          <p:cNvPr id="51" name="Rectangle 50">
            <a:extLst>
              <a:ext uri="{FF2B5EF4-FFF2-40B4-BE49-F238E27FC236}">
                <a16:creationId xmlns:a16="http://schemas.microsoft.com/office/drawing/2014/main" id="{947B8E8B-D415-1501-7740-3FC9594BB285}"/>
              </a:ext>
            </a:extLst>
          </p:cNvPr>
          <p:cNvSpPr/>
          <p:nvPr/>
        </p:nvSpPr>
        <p:spPr>
          <a:xfrm>
            <a:off x="8668525" y="3372677"/>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Pas de disponibilité commune suffisamment proche dans le temps</a:t>
            </a:r>
          </a:p>
        </p:txBody>
      </p:sp>
      <p:sp>
        <p:nvSpPr>
          <p:cNvPr id="53" name="Rectangle 52">
            <a:extLst>
              <a:ext uri="{FF2B5EF4-FFF2-40B4-BE49-F238E27FC236}">
                <a16:creationId xmlns:a16="http://schemas.microsoft.com/office/drawing/2014/main" id="{374E5A50-8D56-307D-D361-D8D4AA440867}"/>
              </a:ext>
            </a:extLst>
          </p:cNvPr>
          <p:cNvSpPr/>
          <p:nvPr/>
        </p:nvSpPr>
        <p:spPr>
          <a:xfrm>
            <a:off x="7561917" y="3372677"/>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 à aborder certains sujets de manière collective (préférence individuelle)</a:t>
            </a:r>
          </a:p>
        </p:txBody>
      </p:sp>
      <p:sp>
        <p:nvSpPr>
          <p:cNvPr id="102" name="Rectangle 101">
            <a:extLst>
              <a:ext uri="{FF2B5EF4-FFF2-40B4-BE49-F238E27FC236}">
                <a16:creationId xmlns:a16="http://schemas.microsoft.com/office/drawing/2014/main" id="{A24B8807-F9B3-FE55-D65E-2D70786FD5ED}"/>
              </a:ext>
            </a:extLst>
          </p:cNvPr>
          <p:cNvSpPr/>
          <p:nvPr/>
        </p:nvSpPr>
        <p:spPr>
          <a:xfrm>
            <a:off x="2485745" y="2879885"/>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Opportunités de mises en relations perdues à cause de la fréquence très ponctuelle des retrouvailles</a:t>
            </a:r>
          </a:p>
        </p:txBody>
      </p:sp>
      <p:sp>
        <p:nvSpPr>
          <p:cNvPr id="103" name="Rectangle 102">
            <a:extLst>
              <a:ext uri="{FF2B5EF4-FFF2-40B4-BE49-F238E27FC236}">
                <a16:creationId xmlns:a16="http://schemas.microsoft.com/office/drawing/2014/main" id="{92510575-97E0-73E5-7205-F477C30FE38B}"/>
              </a:ext>
            </a:extLst>
          </p:cNvPr>
          <p:cNvSpPr/>
          <p:nvPr/>
        </p:nvSpPr>
        <p:spPr>
          <a:xfrm>
            <a:off x="1396333" y="2879885"/>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Messages ponctuels entre membres qui auraient pu profiter à plus de membres</a:t>
            </a:r>
          </a:p>
        </p:txBody>
      </p:sp>
      <p:sp>
        <p:nvSpPr>
          <p:cNvPr id="104" name="Rectangle 103">
            <a:extLst>
              <a:ext uri="{FF2B5EF4-FFF2-40B4-BE49-F238E27FC236}">
                <a16:creationId xmlns:a16="http://schemas.microsoft.com/office/drawing/2014/main" id="{C22B5E7D-FF25-A75D-3075-6C9E97AE6C2D}"/>
              </a:ext>
            </a:extLst>
          </p:cNvPr>
          <p:cNvSpPr/>
          <p:nvPr/>
        </p:nvSpPr>
        <p:spPr>
          <a:xfrm>
            <a:off x="3588136" y="2879885"/>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Frustration de ne pas pouvoir tout réaliser pendant un événement malgré les ambitions</a:t>
            </a:r>
          </a:p>
        </p:txBody>
      </p:sp>
      <p:sp>
        <p:nvSpPr>
          <p:cNvPr id="105" name="Rectangle 104">
            <a:extLst>
              <a:ext uri="{FF2B5EF4-FFF2-40B4-BE49-F238E27FC236}">
                <a16:creationId xmlns:a16="http://schemas.microsoft.com/office/drawing/2014/main" id="{1427543D-E002-C514-A5E6-7DD43DDBC5E6}"/>
              </a:ext>
            </a:extLst>
          </p:cNvPr>
          <p:cNvSpPr/>
          <p:nvPr/>
        </p:nvSpPr>
        <p:spPr>
          <a:xfrm>
            <a:off x="3585903" y="3753652"/>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Opportunités d’entraide entre membres perdues entre les événements</a:t>
            </a:r>
          </a:p>
        </p:txBody>
      </p:sp>
      <p:sp>
        <p:nvSpPr>
          <p:cNvPr id="108" name="Rectangle 107">
            <a:extLst>
              <a:ext uri="{FF2B5EF4-FFF2-40B4-BE49-F238E27FC236}">
                <a16:creationId xmlns:a16="http://schemas.microsoft.com/office/drawing/2014/main" id="{562CDBA0-0272-98D3-31CF-BF3BBB6F1902}"/>
              </a:ext>
            </a:extLst>
          </p:cNvPr>
          <p:cNvSpPr/>
          <p:nvPr/>
        </p:nvSpPr>
        <p:spPr>
          <a:xfrm>
            <a:off x="3588256" y="5985900"/>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Pas ou pas assez de disponibilité pour une multiplication des approches individuelles</a:t>
            </a:r>
          </a:p>
        </p:txBody>
      </p:sp>
      <p:sp>
        <p:nvSpPr>
          <p:cNvPr id="110" name="Rectangle 109">
            <a:extLst>
              <a:ext uri="{FF2B5EF4-FFF2-40B4-BE49-F238E27FC236}">
                <a16:creationId xmlns:a16="http://schemas.microsoft.com/office/drawing/2014/main" id="{48A41F64-4287-9E8A-090E-01722548FADE}"/>
              </a:ext>
            </a:extLst>
          </p:cNvPr>
          <p:cNvSpPr/>
          <p:nvPr/>
        </p:nvSpPr>
        <p:spPr>
          <a:xfrm>
            <a:off x="2485865" y="5096905"/>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 à aborder certains sujets de manière individuelle (préférence au collectif)</a:t>
            </a:r>
          </a:p>
        </p:txBody>
      </p:sp>
      <p:sp>
        <p:nvSpPr>
          <p:cNvPr id="111" name="Rectangle 110">
            <a:extLst>
              <a:ext uri="{FF2B5EF4-FFF2-40B4-BE49-F238E27FC236}">
                <a16:creationId xmlns:a16="http://schemas.microsoft.com/office/drawing/2014/main" id="{15775819-FB8F-4E04-6214-3F691D9EF4BA}"/>
              </a:ext>
            </a:extLst>
          </p:cNvPr>
          <p:cNvSpPr/>
          <p:nvPr/>
        </p:nvSpPr>
        <p:spPr>
          <a:xfrm>
            <a:off x="1396453" y="5096905"/>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Opportunités manquées de grouper certaines activités, redondance inutile</a:t>
            </a:r>
          </a:p>
        </p:txBody>
      </p:sp>
      <p:sp>
        <p:nvSpPr>
          <p:cNvPr id="112" name="Rectangle 111">
            <a:extLst>
              <a:ext uri="{FF2B5EF4-FFF2-40B4-BE49-F238E27FC236}">
                <a16:creationId xmlns:a16="http://schemas.microsoft.com/office/drawing/2014/main" id="{B7B9AC00-2519-5A87-F8D1-980C08E48369}"/>
              </a:ext>
            </a:extLst>
          </p:cNvPr>
          <p:cNvSpPr/>
          <p:nvPr/>
        </p:nvSpPr>
        <p:spPr>
          <a:xfrm>
            <a:off x="3588256" y="5096905"/>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Complexité du  sujet nécessitant de l’interaction à plusieurs parties prenantes</a:t>
            </a:r>
          </a:p>
        </p:txBody>
      </p:sp>
      <p:sp>
        <p:nvSpPr>
          <p:cNvPr id="117" name="Titre 1">
            <a:extLst>
              <a:ext uri="{FF2B5EF4-FFF2-40B4-BE49-F238E27FC236}">
                <a16:creationId xmlns:a16="http://schemas.microsoft.com/office/drawing/2014/main" id="{B914C0E1-A57D-6176-94CE-7E459F307FFC}"/>
              </a:ext>
            </a:extLst>
          </p:cNvPr>
          <p:cNvSpPr txBox="1">
            <a:spLocks/>
          </p:cNvSpPr>
          <p:nvPr/>
        </p:nvSpPr>
        <p:spPr>
          <a:xfrm>
            <a:off x="5455376" y="2426139"/>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118" name="Titre 1">
            <a:extLst>
              <a:ext uri="{FF2B5EF4-FFF2-40B4-BE49-F238E27FC236}">
                <a16:creationId xmlns:a16="http://schemas.microsoft.com/office/drawing/2014/main" id="{270414F2-E236-949C-2430-E9257DA86F06}"/>
              </a:ext>
            </a:extLst>
          </p:cNvPr>
          <p:cNvSpPr txBox="1">
            <a:spLocks/>
          </p:cNvSpPr>
          <p:nvPr/>
        </p:nvSpPr>
        <p:spPr>
          <a:xfrm>
            <a:off x="5308118" y="4307604"/>
            <a:ext cx="1555855"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par</a:t>
            </a:r>
          </a:p>
          <a:p>
            <a:pPr algn="ctr"/>
            <a:r>
              <a:rPr lang="fr-FR" sz="1400" b="1" dirty="0"/>
              <a:t>réunion ponctuelle </a:t>
            </a:r>
          </a:p>
        </p:txBody>
      </p:sp>
      <p:sp>
        <p:nvSpPr>
          <p:cNvPr id="119" name="Titre 1">
            <a:extLst>
              <a:ext uri="{FF2B5EF4-FFF2-40B4-BE49-F238E27FC236}">
                <a16:creationId xmlns:a16="http://schemas.microsoft.com/office/drawing/2014/main" id="{9B830693-0232-9A2A-0167-E4DD4C28A6C9}"/>
              </a:ext>
            </a:extLst>
          </p:cNvPr>
          <p:cNvSpPr txBox="1">
            <a:spLocks/>
          </p:cNvSpPr>
          <p:nvPr/>
        </p:nvSpPr>
        <p:spPr>
          <a:xfrm>
            <a:off x="5455376" y="6201110"/>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individus</a:t>
            </a:r>
          </a:p>
        </p:txBody>
      </p:sp>
      <p:grpSp>
        <p:nvGrpSpPr>
          <p:cNvPr id="120" name="Groupe 119">
            <a:extLst>
              <a:ext uri="{FF2B5EF4-FFF2-40B4-BE49-F238E27FC236}">
                <a16:creationId xmlns:a16="http://schemas.microsoft.com/office/drawing/2014/main" id="{62902EDE-A0C7-B553-9A5F-A4DB34DBBED2}"/>
              </a:ext>
            </a:extLst>
          </p:cNvPr>
          <p:cNvGrpSpPr/>
          <p:nvPr/>
        </p:nvGrpSpPr>
        <p:grpSpPr>
          <a:xfrm>
            <a:off x="111003" y="225276"/>
            <a:ext cx="1229800" cy="1215667"/>
            <a:chOff x="-3726451" y="2933151"/>
            <a:chExt cx="1229800" cy="1215667"/>
          </a:xfrm>
        </p:grpSpPr>
        <p:grpSp>
          <p:nvGrpSpPr>
            <p:cNvPr id="121" name="Groupe 120">
              <a:extLst>
                <a:ext uri="{FF2B5EF4-FFF2-40B4-BE49-F238E27FC236}">
                  <a16:creationId xmlns:a16="http://schemas.microsoft.com/office/drawing/2014/main" id="{62DD7A84-CBED-3923-5DA0-82551DB05A7E}"/>
                </a:ext>
              </a:extLst>
            </p:cNvPr>
            <p:cNvGrpSpPr/>
            <p:nvPr/>
          </p:nvGrpSpPr>
          <p:grpSpPr>
            <a:xfrm>
              <a:off x="-3568666" y="2933151"/>
              <a:ext cx="991299" cy="1215667"/>
              <a:chOff x="8860995" y="282959"/>
              <a:chExt cx="3407094" cy="4178249"/>
            </a:xfrm>
            <a:solidFill>
              <a:schemeClr val="tx1"/>
            </a:solidFill>
          </p:grpSpPr>
          <p:pic>
            <p:nvPicPr>
              <p:cNvPr id="125" name="Graphique 124" descr="Diagramme de flux avec un remplissage uni">
                <a:extLst>
                  <a:ext uri="{FF2B5EF4-FFF2-40B4-BE49-F238E27FC236}">
                    <a16:creationId xmlns:a16="http://schemas.microsoft.com/office/drawing/2014/main" id="{6AEEC795-3A56-9F00-7F37-B979A349AD3A}"/>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1353689" y="3108467"/>
                <a:ext cx="914400" cy="603649"/>
              </a:xfrm>
              <a:prstGeom prst="rect">
                <a:avLst/>
              </a:prstGeom>
            </p:spPr>
          </p:pic>
          <p:grpSp>
            <p:nvGrpSpPr>
              <p:cNvPr id="126" name="Groupe 125">
                <a:extLst>
                  <a:ext uri="{FF2B5EF4-FFF2-40B4-BE49-F238E27FC236}">
                    <a16:creationId xmlns:a16="http://schemas.microsoft.com/office/drawing/2014/main" id="{AB5FA220-4B7F-B2E0-4EDA-30A5B77E11A6}"/>
                  </a:ext>
                </a:extLst>
              </p:cNvPr>
              <p:cNvGrpSpPr/>
              <p:nvPr/>
            </p:nvGrpSpPr>
            <p:grpSpPr>
              <a:xfrm>
                <a:off x="8860995" y="282959"/>
                <a:ext cx="3360434" cy="4178249"/>
                <a:chOff x="8860995" y="282959"/>
                <a:chExt cx="3360434" cy="4178249"/>
              </a:xfrm>
              <a:grpFill/>
            </p:grpSpPr>
            <p:pic>
              <p:nvPicPr>
                <p:cNvPr id="127" name="Graphique 126" descr="Diagramme de flux avec un remplissage uni">
                  <a:extLst>
                    <a:ext uri="{FF2B5EF4-FFF2-40B4-BE49-F238E27FC236}">
                      <a16:creationId xmlns:a16="http://schemas.microsoft.com/office/drawing/2014/main" id="{C48A3F42-0E1C-FEB9-9F77-6344D5DD304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085908" y="282959"/>
                  <a:ext cx="914400" cy="914400"/>
                </a:xfrm>
                <a:prstGeom prst="rect">
                  <a:avLst/>
                </a:prstGeom>
              </p:spPr>
            </p:pic>
            <p:pic>
              <p:nvPicPr>
                <p:cNvPr id="128" name="Graphique 127" descr="Diagramme de flux avec un remplissage uni">
                  <a:extLst>
                    <a:ext uri="{FF2B5EF4-FFF2-40B4-BE49-F238E27FC236}">
                      <a16:creationId xmlns:a16="http://schemas.microsoft.com/office/drawing/2014/main" id="{C27D06FB-126F-E31F-F8C3-379194A81A2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9758979" y="1013706"/>
                  <a:ext cx="914400" cy="603649"/>
                </a:xfrm>
                <a:prstGeom prst="rect">
                  <a:avLst/>
                </a:prstGeom>
              </p:spPr>
            </p:pic>
            <p:pic>
              <p:nvPicPr>
                <p:cNvPr id="129" name="Graphique 128" descr="Diagramme de flux avec un remplissage uni">
                  <a:extLst>
                    <a:ext uri="{FF2B5EF4-FFF2-40B4-BE49-F238E27FC236}">
                      <a16:creationId xmlns:a16="http://schemas.microsoft.com/office/drawing/2014/main" id="{D2B6E13A-1FBA-0013-3A10-46ADCF0BF732}"/>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9460854" y="1453033"/>
                  <a:ext cx="914400" cy="603649"/>
                </a:xfrm>
                <a:prstGeom prst="rect">
                  <a:avLst/>
                </a:prstGeom>
              </p:spPr>
            </p:pic>
            <p:pic>
              <p:nvPicPr>
                <p:cNvPr id="130" name="Graphique 129" descr="Diagramme de flux avec un remplissage uni">
                  <a:extLst>
                    <a:ext uri="{FF2B5EF4-FFF2-40B4-BE49-F238E27FC236}">
                      <a16:creationId xmlns:a16="http://schemas.microsoft.com/office/drawing/2014/main" id="{FF01AA1F-8D5D-15A4-6BA6-CC10832C8B08}"/>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9154819" y="1868228"/>
                  <a:ext cx="914400" cy="603649"/>
                </a:xfrm>
                <a:prstGeom prst="rect">
                  <a:avLst/>
                </a:prstGeom>
              </p:spPr>
            </p:pic>
            <p:pic>
              <p:nvPicPr>
                <p:cNvPr id="131" name="Graphique 130" descr="Diagramme de flux avec un remplissage uni">
                  <a:extLst>
                    <a:ext uri="{FF2B5EF4-FFF2-40B4-BE49-F238E27FC236}">
                      <a16:creationId xmlns:a16="http://schemas.microsoft.com/office/drawing/2014/main" id="{BD624BAA-0F55-B2F6-02FB-19F965804CE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9758979" y="1841293"/>
                  <a:ext cx="914400" cy="603649"/>
                </a:xfrm>
                <a:prstGeom prst="rect">
                  <a:avLst/>
                </a:prstGeom>
              </p:spPr>
            </p:pic>
            <p:pic>
              <p:nvPicPr>
                <p:cNvPr id="132" name="Graphique 131" descr="Diagramme de flux avec un remplissage uni">
                  <a:extLst>
                    <a:ext uri="{FF2B5EF4-FFF2-40B4-BE49-F238E27FC236}">
                      <a16:creationId xmlns:a16="http://schemas.microsoft.com/office/drawing/2014/main" id="{2A8EEB99-EECE-70F1-3C9D-90841873909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8860995" y="2287625"/>
                  <a:ext cx="914400" cy="603649"/>
                </a:xfrm>
                <a:prstGeom prst="rect">
                  <a:avLst/>
                </a:prstGeom>
              </p:spPr>
            </p:pic>
            <p:pic>
              <p:nvPicPr>
                <p:cNvPr id="133" name="Graphique 132" descr="Diagramme de flux avec un remplissage uni">
                  <a:extLst>
                    <a:ext uri="{FF2B5EF4-FFF2-40B4-BE49-F238E27FC236}">
                      <a16:creationId xmlns:a16="http://schemas.microsoft.com/office/drawing/2014/main" id="{6728B430-741A-24AC-1F14-9F6BF921F08B}"/>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412836" y="1004605"/>
                  <a:ext cx="914400" cy="603649"/>
                </a:xfrm>
                <a:prstGeom prst="rect">
                  <a:avLst/>
                </a:prstGeom>
              </p:spPr>
            </p:pic>
            <p:pic>
              <p:nvPicPr>
                <p:cNvPr id="134" name="Graphique 133" descr="Diagramme de flux avec un remplissage uni">
                  <a:extLst>
                    <a:ext uri="{FF2B5EF4-FFF2-40B4-BE49-F238E27FC236}">
                      <a16:creationId xmlns:a16="http://schemas.microsoft.com/office/drawing/2014/main" id="{B93EDB65-C59F-1B17-5813-EF55D73E282A}"/>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723076" y="1403998"/>
                  <a:ext cx="914400" cy="603649"/>
                </a:xfrm>
                <a:prstGeom prst="rect">
                  <a:avLst/>
                </a:prstGeom>
              </p:spPr>
            </p:pic>
            <p:pic>
              <p:nvPicPr>
                <p:cNvPr id="135" name="Graphique 134" descr="Diagramme de flux avec un remplissage uni">
                  <a:extLst>
                    <a:ext uri="{FF2B5EF4-FFF2-40B4-BE49-F238E27FC236}">
                      <a16:creationId xmlns:a16="http://schemas.microsoft.com/office/drawing/2014/main" id="{262CA50D-F18F-C4A7-6FF2-C34FF7F4964A}"/>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022751" y="2243336"/>
                  <a:ext cx="914400" cy="603649"/>
                </a:xfrm>
                <a:prstGeom prst="rect">
                  <a:avLst/>
                </a:prstGeom>
              </p:spPr>
            </p:pic>
            <p:pic>
              <p:nvPicPr>
                <p:cNvPr id="136" name="Graphique 135" descr="Diagramme de flux avec un remplissage uni">
                  <a:extLst>
                    <a:ext uri="{FF2B5EF4-FFF2-40B4-BE49-F238E27FC236}">
                      <a16:creationId xmlns:a16="http://schemas.microsoft.com/office/drawing/2014/main" id="{AC9534E7-3513-9250-2EE1-6BB5D680CE7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034729" y="2661108"/>
                  <a:ext cx="914400" cy="603649"/>
                </a:xfrm>
                <a:prstGeom prst="rect">
                  <a:avLst/>
                </a:prstGeom>
              </p:spPr>
            </p:pic>
            <p:pic>
              <p:nvPicPr>
                <p:cNvPr id="137" name="Graphique 136" descr="Diagramme de flux avec un remplissage uni">
                  <a:extLst>
                    <a:ext uri="{FF2B5EF4-FFF2-40B4-BE49-F238E27FC236}">
                      <a16:creationId xmlns:a16="http://schemas.microsoft.com/office/drawing/2014/main" id="{190ED75E-71F3-20A3-803A-D7A9D76F0AC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046261" y="3060336"/>
                  <a:ext cx="914400" cy="603649"/>
                </a:xfrm>
                <a:prstGeom prst="rect">
                  <a:avLst/>
                </a:prstGeom>
              </p:spPr>
            </p:pic>
            <p:pic>
              <p:nvPicPr>
                <p:cNvPr id="138" name="Graphique 137" descr="Diagramme de flux avec un remplissage uni">
                  <a:extLst>
                    <a:ext uri="{FF2B5EF4-FFF2-40B4-BE49-F238E27FC236}">
                      <a16:creationId xmlns:a16="http://schemas.microsoft.com/office/drawing/2014/main" id="{B51BB827-BCA8-438E-4093-2D7A352B6022}"/>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1021201" y="1809840"/>
                  <a:ext cx="914400" cy="603649"/>
                </a:xfrm>
                <a:prstGeom prst="rect">
                  <a:avLst/>
                </a:prstGeom>
              </p:spPr>
            </p:pic>
            <p:pic>
              <p:nvPicPr>
                <p:cNvPr id="139" name="Graphique 138" descr="Diagramme de flux avec un remplissage uni">
                  <a:extLst>
                    <a:ext uri="{FF2B5EF4-FFF2-40B4-BE49-F238E27FC236}">
                      <a16:creationId xmlns:a16="http://schemas.microsoft.com/office/drawing/2014/main" id="{FF534C21-6C21-4935-F21F-2C997CB30207}"/>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1307029" y="2255207"/>
                  <a:ext cx="914400" cy="603649"/>
                </a:xfrm>
                <a:prstGeom prst="rect">
                  <a:avLst/>
                </a:prstGeom>
              </p:spPr>
            </p:pic>
            <p:pic>
              <p:nvPicPr>
                <p:cNvPr id="140" name="Graphique 139" descr="Diagramme de flux avec un remplissage uni">
                  <a:extLst>
                    <a:ext uri="{FF2B5EF4-FFF2-40B4-BE49-F238E27FC236}">
                      <a16:creationId xmlns:a16="http://schemas.microsoft.com/office/drawing/2014/main" id="{E2987DFD-263C-1E7C-1353-DD3F48E6F8BD}"/>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1039740" y="2681006"/>
                  <a:ext cx="914400" cy="603649"/>
                </a:xfrm>
                <a:prstGeom prst="rect">
                  <a:avLst/>
                </a:prstGeom>
              </p:spPr>
            </p:pic>
            <p:pic>
              <p:nvPicPr>
                <p:cNvPr id="141" name="Graphique 140" descr="Diagramme de flux avec un remplissage uni">
                  <a:extLst>
                    <a:ext uri="{FF2B5EF4-FFF2-40B4-BE49-F238E27FC236}">
                      <a16:creationId xmlns:a16="http://schemas.microsoft.com/office/drawing/2014/main" id="{BB07E880-68C8-C445-CF9C-6C281C1C32A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1057840" y="3490451"/>
                  <a:ext cx="914400" cy="603649"/>
                </a:xfrm>
                <a:prstGeom prst="rect">
                  <a:avLst/>
                </a:prstGeom>
              </p:spPr>
            </p:pic>
            <p:pic>
              <p:nvPicPr>
                <p:cNvPr id="142" name="Graphique 141" descr="Diagramme de flux avec un remplissage uni">
                  <a:extLst>
                    <a:ext uri="{FF2B5EF4-FFF2-40B4-BE49-F238E27FC236}">
                      <a16:creationId xmlns:a16="http://schemas.microsoft.com/office/drawing/2014/main" id="{FA0824B5-23EE-D02C-2A4A-06776BA7B60B}"/>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741017" y="3857559"/>
                  <a:ext cx="914400" cy="603649"/>
                </a:xfrm>
                <a:prstGeom prst="rect">
                  <a:avLst/>
                </a:prstGeom>
              </p:spPr>
            </p:pic>
          </p:grpSp>
        </p:grpSp>
        <p:sp>
          <p:nvSpPr>
            <p:cNvPr id="122" name="Forme libre : forme 121">
              <a:extLst>
                <a:ext uri="{FF2B5EF4-FFF2-40B4-BE49-F238E27FC236}">
                  <a16:creationId xmlns:a16="http://schemas.microsoft.com/office/drawing/2014/main" id="{00C891A0-2A65-FB4B-B1A9-42CDDDB0BD00}"/>
                </a:ext>
              </a:extLst>
            </p:cNvPr>
            <p:cNvSpPr/>
            <p:nvPr/>
          </p:nvSpPr>
          <p:spPr>
            <a:xfrm>
              <a:off x="-3726451" y="3092070"/>
              <a:ext cx="919322" cy="60512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1905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 name="Forme libre : forme 122">
              <a:extLst>
                <a:ext uri="{FF2B5EF4-FFF2-40B4-BE49-F238E27FC236}">
                  <a16:creationId xmlns:a16="http://schemas.microsoft.com/office/drawing/2014/main" id="{324FA6C4-BF83-F145-6CD5-6D5541678B0C}"/>
                </a:ext>
              </a:extLst>
            </p:cNvPr>
            <p:cNvSpPr/>
            <p:nvPr/>
          </p:nvSpPr>
          <p:spPr>
            <a:xfrm>
              <a:off x="-3045638" y="3538773"/>
              <a:ext cx="548987" cy="589524"/>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1905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 name="Forme libre : forme 123">
              <a:extLst>
                <a:ext uri="{FF2B5EF4-FFF2-40B4-BE49-F238E27FC236}">
                  <a16:creationId xmlns:a16="http://schemas.microsoft.com/office/drawing/2014/main" id="{757EF75D-7D33-D911-8C4F-53AA2FAD392A}"/>
                </a:ext>
              </a:extLst>
            </p:cNvPr>
            <p:cNvSpPr/>
            <p:nvPr/>
          </p:nvSpPr>
          <p:spPr>
            <a:xfrm>
              <a:off x="-3687740" y="3518217"/>
              <a:ext cx="737874" cy="297689"/>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1905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90" name="Rectangle 89">
            <a:extLst>
              <a:ext uri="{FF2B5EF4-FFF2-40B4-BE49-F238E27FC236}">
                <a16:creationId xmlns:a16="http://schemas.microsoft.com/office/drawing/2014/main" id="{F5F0293F-9094-9822-F0E6-1109AAD5D834}"/>
              </a:ext>
            </a:extLst>
          </p:cNvPr>
          <p:cNvSpPr/>
          <p:nvPr/>
        </p:nvSpPr>
        <p:spPr>
          <a:xfrm>
            <a:off x="9757937" y="3372677"/>
            <a:ext cx="1036251" cy="80958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Inefficacité d’une approche collective pour l’objectif (réunion inefficace, etc.)</a:t>
            </a:r>
          </a:p>
        </p:txBody>
      </p:sp>
    </p:spTree>
    <p:extLst>
      <p:ext uri="{BB962C8B-B14F-4D97-AF65-F5344CB8AC3E}">
        <p14:creationId xmlns:p14="http://schemas.microsoft.com/office/powerpoint/2010/main" val="354023149"/>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DEE560F-324E-9A1E-9A7A-807B5D33F118}"/>
              </a:ext>
            </a:extLst>
          </p:cNvPr>
          <p:cNvSpPr>
            <a:spLocks noGrp="1"/>
          </p:cNvSpPr>
          <p:nvPr>
            <p:ph type="title"/>
          </p:nvPr>
        </p:nvSpPr>
        <p:spPr>
          <a:xfrm>
            <a:off x="1390530" y="365126"/>
            <a:ext cx="9963270" cy="731662"/>
          </a:xfrm>
        </p:spPr>
        <p:txBody>
          <a:bodyPr>
            <a:noAutofit/>
          </a:bodyPr>
          <a:lstStyle/>
          <a:p>
            <a:r>
              <a:rPr lang="fr-FR" sz="2400" dirty="0"/>
              <a:t>Les réponses opérationnelles de transition d’approche</a:t>
            </a:r>
            <a:br>
              <a:rPr lang="fr-FR" sz="2400" dirty="0"/>
            </a:br>
            <a:r>
              <a:rPr lang="fr-FR" sz="2400" dirty="0"/>
              <a:t>Liste d’exemples</a:t>
            </a:r>
            <a:br>
              <a:rPr lang="fr-FR" sz="1200" dirty="0"/>
            </a:br>
            <a:r>
              <a:rPr lang="fr-FR" sz="1200" dirty="0"/>
              <a:t>📅Evènements  , ✍️Contenus, ⚙️Structuration de Communauté</a:t>
            </a:r>
            <a:br>
              <a:rPr lang="fr-FR" sz="1200" dirty="0"/>
            </a:br>
            <a:r>
              <a:rPr lang="fr-FR" sz="1200" dirty="0"/>
              <a:t>📅+⚙️Structuration de moments, ✍️+⚙️ Structuration de Contenus</a:t>
            </a:r>
          </a:p>
        </p:txBody>
      </p:sp>
      <p:sp>
        <p:nvSpPr>
          <p:cNvPr id="57" name="Flèche : double flèche horizontale 56">
            <a:extLst>
              <a:ext uri="{FF2B5EF4-FFF2-40B4-BE49-F238E27FC236}">
                <a16:creationId xmlns:a16="http://schemas.microsoft.com/office/drawing/2014/main" id="{0F58E9E7-9BB8-0B12-90B6-A1CA1B8A2589}"/>
              </a:ext>
            </a:extLst>
          </p:cNvPr>
          <p:cNvSpPr/>
          <p:nvPr/>
        </p:nvSpPr>
        <p:spPr>
          <a:xfrm rot="5400000">
            <a:off x="3555837" y="3590062"/>
            <a:ext cx="5225215" cy="362093"/>
          </a:xfrm>
          <a:prstGeom prst="lef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58" name="Groupe 57">
            <a:extLst>
              <a:ext uri="{FF2B5EF4-FFF2-40B4-BE49-F238E27FC236}">
                <a16:creationId xmlns:a16="http://schemas.microsoft.com/office/drawing/2014/main" id="{382F5184-74BF-1060-335D-2D3D0FEC7248}"/>
              </a:ext>
            </a:extLst>
          </p:cNvPr>
          <p:cNvGrpSpPr/>
          <p:nvPr/>
        </p:nvGrpSpPr>
        <p:grpSpPr>
          <a:xfrm>
            <a:off x="5404615" y="1456018"/>
            <a:ext cx="1409636" cy="1188435"/>
            <a:chOff x="8982504" y="3274976"/>
            <a:chExt cx="1230670" cy="1037553"/>
          </a:xfrm>
          <a:solidFill>
            <a:srgbClr val="ED7D31"/>
          </a:solidFill>
        </p:grpSpPr>
        <p:pic>
          <p:nvPicPr>
            <p:cNvPr id="59" name="Graphique 58" descr="Utilisateur avec un remplissage uni">
              <a:extLst>
                <a:ext uri="{FF2B5EF4-FFF2-40B4-BE49-F238E27FC236}">
                  <a16:creationId xmlns:a16="http://schemas.microsoft.com/office/drawing/2014/main" id="{A27B56B9-D7E3-DC5C-12A7-C6228C6F07F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60" name="Graphique 59" descr="Utilisateur avec un remplissage uni">
              <a:extLst>
                <a:ext uri="{FF2B5EF4-FFF2-40B4-BE49-F238E27FC236}">
                  <a16:creationId xmlns:a16="http://schemas.microsoft.com/office/drawing/2014/main" id="{867C0C23-C915-977D-AD4F-8D4A3A8CF9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61" name="Graphique 60" descr="Utilisateur avec un remplissage uni">
              <a:extLst>
                <a:ext uri="{FF2B5EF4-FFF2-40B4-BE49-F238E27FC236}">
                  <a16:creationId xmlns:a16="http://schemas.microsoft.com/office/drawing/2014/main" id="{75D3D6AB-090D-ED61-5F4E-6AB2D6D910E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62" name="Graphique 61" descr="Utilisateur avec un remplissage uni">
              <a:extLst>
                <a:ext uri="{FF2B5EF4-FFF2-40B4-BE49-F238E27FC236}">
                  <a16:creationId xmlns:a16="http://schemas.microsoft.com/office/drawing/2014/main" id="{4DAC0A45-9E92-F8CD-E43F-A6A013AE8D3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63" name="Graphique 62" descr="Utilisateur avec un remplissage uni">
              <a:extLst>
                <a:ext uri="{FF2B5EF4-FFF2-40B4-BE49-F238E27FC236}">
                  <a16:creationId xmlns:a16="http://schemas.microsoft.com/office/drawing/2014/main" id="{F17307F1-D200-6606-B9E5-B218CE64E7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64" name="Graphique 63" descr="Utilisateur avec un remplissage uni">
              <a:extLst>
                <a:ext uri="{FF2B5EF4-FFF2-40B4-BE49-F238E27FC236}">
                  <a16:creationId xmlns:a16="http://schemas.microsoft.com/office/drawing/2014/main" id="{85D61B09-4C25-6A84-9A89-B9919B8C78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65" name="Graphique 64" descr="Utilisateur avec un remplissage uni">
              <a:extLst>
                <a:ext uri="{FF2B5EF4-FFF2-40B4-BE49-F238E27FC236}">
                  <a16:creationId xmlns:a16="http://schemas.microsoft.com/office/drawing/2014/main" id="{89B9D389-BB34-C31C-556C-2FF3CD68E48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66" name="Graphique 65" descr="Utilisateur avec un remplissage uni">
              <a:extLst>
                <a:ext uri="{FF2B5EF4-FFF2-40B4-BE49-F238E27FC236}">
                  <a16:creationId xmlns:a16="http://schemas.microsoft.com/office/drawing/2014/main" id="{F3E0318C-5F2C-E766-2317-0DEBF38C273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67" name="Graphique 66" descr="Utilisateur avec un remplissage uni">
              <a:extLst>
                <a:ext uri="{FF2B5EF4-FFF2-40B4-BE49-F238E27FC236}">
                  <a16:creationId xmlns:a16="http://schemas.microsoft.com/office/drawing/2014/main" id="{A65B93B4-1AD3-7EEC-6373-F9D5815418A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68" name="Graphique 67" descr="Utilisateur avec un remplissage uni">
              <a:extLst>
                <a:ext uri="{FF2B5EF4-FFF2-40B4-BE49-F238E27FC236}">
                  <a16:creationId xmlns:a16="http://schemas.microsoft.com/office/drawing/2014/main" id="{8773DF0D-B6DD-BE8D-A98C-5A096D630FE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69" name="Graphique 68" descr="Utilisateur avec un remplissage uni">
              <a:extLst>
                <a:ext uri="{FF2B5EF4-FFF2-40B4-BE49-F238E27FC236}">
                  <a16:creationId xmlns:a16="http://schemas.microsoft.com/office/drawing/2014/main" id="{FE7231DB-1E8D-2B9C-11C9-2941BDB080C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70" name="Graphique 69" descr="Utilisateur avec un remplissage uni">
            <a:extLst>
              <a:ext uri="{FF2B5EF4-FFF2-40B4-BE49-F238E27FC236}">
                <a16:creationId xmlns:a16="http://schemas.microsoft.com/office/drawing/2014/main" id="{9F62980A-40B6-FAAD-4078-B001B315E0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49653" y="5353773"/>
            <a:ext cx="384935" cy="384935"/>
          </a:xfrm>
          <a:prstGeom prst="rect">
            <a:avLst/>
          </a:prstGeom>
        </p:spPr>
      </p:pic>
      <p:grpSp>
        <p:nvGrpSpPr>
          <p:cNvPr id="71" name="Groupe 70">
            <a:extLst>
              <a:ext uri="{FF2B5EF4-FFF2-40B4-BE49-F238E27FC236}">
                <a16:creationId xmlns:a16="http://schemas.microsoft.com/office/drawing/2014/main" id="{38314FC3-83AD-E3DD-69EE-9D44F11AAF2B}"/>
              </a:ext>
            </a:extLst>
          </p:cNvPr>
          <p:cNvGrpSpPr/>
          <p:nvPr/>
        </p:nvGrpSpPr>
        <p:grpSpPr>
          <a:xfrm>
            <a:off x="5503008" y="3425026"/>
            <a:ext cx="993720" cy="1024122"/>
            <a:chOff x="9345616" y="3418428"/>
            <a:chExt cx="867558" cy="894101"/>
          </a:xfrm>
          <a:solidFill>
            <a:srgbClr val="ED7D31"/>
          </a:solidFill>
        </p:grpSpPr>
        <p:pic>
          <p:nvPicPr>
            <p:cNvPr id="72" name="Graphique 71" descr="Utilisateur avec un remplissage uni">
              <a:extLst>
                <a:ext uri="{FF2B5EF4-FFF2-40B4-BE49-F238E27FC236}">
                  <a16:creationId xmlns:a16="http://schemas.microsoft.com/office/drawing/2014/main" id="{4F8FA9B5-771A-AB3A-391D-EA39432BB5B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73" name="Graphique 72" descr="Utilisateur avec un remplissage uni">
              <a:extLst>
                <a:ext uri="{FF2B5EF4-FFF2-40B4-BE49-F238E27FC236}">
                  <a16:creationId xmlns:a16="http://schemas.microsoft.com/office/drawing/2014/main" id="{2BD09AFB-599C-9386-00A8-C5AC6CAF144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74" name="Graphique 73" descr="Utilisateur avec un remplissage uni">
              <a:extLst>
                <a:ext uri="{FF2B5EF4-FFF2-40B4-BE49-F238E27FC236}">
                  <a16:creationId xmlns:a16="http://schemas.microsoft.com/office/drawing/2014/main" id="{ADA3112A-A80F-D966-ECF2-66B498FE2C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75" name="Graphique 74" descr="Utilisateur avec un remplissage uni">
              <a:extLst>
                <a:ext uri="{FF2B5EF4-FFF2-40B4-BE49-F238E27FC236}">
                  <a16:creationId xmlns:a16="http://schemas.microsoft.com/office/drawing/2014/main" id="{B6E386FD-D9FB-204C-8CD1-1EBAA7ED5C9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76" name="Graphique 75" descr="Utilisateur avec un remplissage uni">
              <a:extLst>
                <a:ext uri="{FF2B5EF4-FFF2-40B4-BE49-F238E27FC236}">
                  <a16:creationId xmlns:a16="http://schemas.microsoft.com/office/drawing/2014/main" id="{B18115A8-DC68-5608-0B45-64AF07A5B83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77" name="Graphique 76" descr="Utilisateur avec un remplissage uni">
              <a:extLst>
                <a:ext uri="{FF2B5EF4-FFF2-40B4-BE49-F238E27FC236}">
                  <a16:creationId xmlns:a16="http://schemas.microsoft.com/office/drawing/2014/main" id="{6CE9A41C-C24C-A843-8F75-D538493B5D7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78" name="Graphique 77" descr="Calendrier journalier avec un remplissage uni">
            <a:extLst>
              <a:ext uri="{FF2B5EF4-FFF2-40B4-BE49-F238E27FC236}">
                <a16:creationId xmlns:a16="http://schemas.microsoft.com/office/drawing/2014/main" id="{6DDFFF10-5078-805D-9579-D7E1FD07EB8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84190" y="3509605"/>
            <a:ext cx="451308" cy="451308"/>
          </a:xfrm>
          <a:prstGeom prst="rect">
            <a:avLst/>
          </a:prstGeom>
        </p:spPr>
      </p:pic>
      <p:pic>
        <p:nvPicPr>
          <p:cNvPr id="79" name="Graphique 78" descr="Utilisateur avec un remplissage uni">
            <a:extLst>
              <a:ext uri="{FF2B5EF4-FFF2-40B4-BE49-F238E27FC236}">
                <a16:creationId xmlns:a16="http://schemas.microsoft.com/office/drawing/2014/main" id="{2D447ED1-A736-26D5-3FF2-698C9000330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511522" y="6007813"/>
            <a:ext cx="384935" cy="384935"/>
          </a:xfrm>
          <a:prstGeom prst="rect">
            <a:avLst/>
          </a:prstGeom>
        </p:spPr>
      </p:pic>
      <p:pic>
        <p:nvPicPr>
          <p:cNvPr id="80" name="Graphique 79" descr="Utilisateur avec un remplissage uni">
            <a:extLst>
              <a:ext uri="{FF2B5EF4-FFF2-40B4-BE49-F238E27FC236}">
                <a16:creationId xmlns:a16="http://schemas.microsoft.com/office/drawing/2014/main" id="{6009EF81-9F33-D1B7-1A13-E1BC1A8D82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375271" y="5998782"/>
            <a:ext cx="384935" cy="384935"/>
          </a:xfrm>
          <a:prstGeom prst="rect">
            <a:avLst/>
          </a:prstGeom>
        </p:spPr>
      </p:pic>
      <p:pic>
        <p:nvPicPr>
          <p:cNvPr id="81" name="Graphique 80" descr="Utilisateur avec un remplissage uni">
            <a:extLst>
              <a:ext uri="{FF2B5EF4-FFF2-40B4-BE49-F238E27FC236}">
                <a16:creationId xmlns:a16="http://schemas.microsoft.com/office/drawing/2014/main" id="{40C73136-637A-D31D-E58F-45805ED2D24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150564" y="5306364"/>
            <a:ext cx="384935" cy="384935"/>
          </a:xfrm>
          <a:prstGeom prst="rect">
            <a:avLst/>
          </a:prstGeom>
        </p:spPr>
      </p:pic>
      <p:sp>
        <p:nvSpPr>
          <p:cNvPr id="3" name="Flèche : bas 2">
            <a:extLst>
              <a:ext uri="{FF2B5EF4-FFF2-40B4-BE49-F238E27FC236}">
                <a16:creationId xmlns:a16="http://schemas.microsoft.com/office/drawing/2014/main" id="{750729E3-B48F-88C2-C72B-36EBF791822F}"/>
              </a:ext>
            </a:extLst>
          </p:cNvPr>
          <p:cNvSpPr/>
          <p:nvPr/>
        </p:nvSpPr>
        <p:spPr>
          <a:xfrm>
            <a:off x="6880137" y="2704452"/>
            <a:ext cx="485734" cy="731661"/>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97" name="Flèche : bas 96">
            <a:extLst>
              <a:ext uri="{FF2B5EF4-FFF2-40B4-BE49-F238E27FC236}">
                <a16:creationId xmlns:a16="http://schemas.microsoft.com/office/drawing/2014/main" id="{3E07BF96-9457-FFF3-359E-89D9CB0F8114}"/>
              </a:ext>
            </a:extLst>
          </p:cNvPr>
          <p:cNvSpPr/>
          <p:nvPr/>
        </p:nvSpPr>
        <p:spPr>
          <a:xfrm rot="10800000">
            <a:off x="4751473" y="2684640"/>
            <a:ext cx="485734" cy="74038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98" name="Flèche : bas 97">
            <a:extLst>
              <a:ext uri="{FF2B5EF4-FFF2-40B4-BE49-F238E27FC236}">
                <a16:creationId xmlns:a16="http://schemas.microsoft.com/office/drawing/2014/main" id="{21AA1AB3-1646-1D35-4F6D-824B1BA7FA88}"/>
              </a:ext>
            </a:extLst>
          </p:cNvPr>
          <p:cNvSpPr/>
          <p:nvPr/>
        </p:nvSpPr>
        <p:spPr>
          <a:xfrm>
            <a:off x="6867434" y="4767170"/>
            <a:ext cx="485734" cy="731661"/>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99" name="Flèche : bas 98">
            <a:extLst>
              <a:ext uri="{FF2B5EF4-FFF2-40B4-BE49-F238E27FC236}">
                <a16:creationId xmlns:a16="http://schemas.microsoft.com/office/drawing/2014/main" id="{B2DFBDFB-08E5-FED9-78E5-18A7D8E0A9F1}"/>
              </a:ext>
            </a:extLst>
          </p:cNvPr>
          <p:cNvSpPr/>
          <p:nvPr/>
        </p:nvSpPr>
        <p:spPr>
          <a:xfrm rot="10800000">
            <a:off x="4754366" y="4668574"/>
            <a:ext cx="485734" cy="721940"/>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8" name="Rectangle 37">
            <a:extLst>
              <a:ext uri="{FF2B5EF4-FFF2-40B4-BE49-F238E27FC236}">
                <a16:creationId xmlns:a16="http://schemas.microsoft.com/office/drawing/2014/main" id="{7C656117-0AD9-7C57-4E70-DF1B9B22D1F7}"/>
              </a:ext>
            </a:extLst>
          </p:cNvPr>
          <p:cNvSpPr/>
          <p:nvPr/>
        </p:nvSpPr>
        <p:spPr>
          <a:xfrm>
            <a:off x="8674953" y="2427047"/>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⚙️+📅Moments dédiés dans les réunions (plutôt qu’entre) pour « actus et sondages »</a:t>
            </a:r>
          </a:p>
        </p:txBody>
      </p:sp>
      <p:sp>
        <p:nvSpPr>
          <p:cNvPr id="40" name="Rectangle 39">
            <a:extLst>
              <a:ext uri="{FF2B5EF4-FFF2-40B4-BE49-F238E27FC236}">
                <a16:creationId xmlns:a16="http://schemas.microsoft.com/office/drawing/2014/main" id="{8133E6D1-B26F-314A-2B38-298F186A7084}"/>
              </a:ext>
            </a:extLst>
          </p:cNvPr>
          <p:cNvSpPr/>
          <p:nvPr/>
        </p:nvSpPr>
        <p:spPr>
          <a:xfrm>
            <a:off x="7568345" y="2427047"/>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Réduction de l’activité et de l’effort entre événements (sondages, …)</a:t>
            </a:r>
          </a:p>
        </p:txBody>
      </p:sp>
      <p:sp>
        <p:nvSpPr>
          <p:cNvPr id="43" name="Rectangle 42">
            <a:extLst>
              <a:ext uri="{FF2B5EF4-FFF2-40B4-BE49-F238E27FC236}">
                <a16:creationId xmlns:a16="http://schemas.microsoft.com/office/drawing/2014/main" id="{4E9DA2CA-4126-EE08-FEB8-0F03527FEEB5}"/>
              </a:ext>
            </a:extLst>
          </p:cNvPr>
          <p:cNvSpPr/>
          <p:nvPr/>
        </p:nvSpPr>
        <p:spPr>
          <a:xfrm>
            <a:off x="8674953" y="1538053"/>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Moments dédiés dans les réunions pour échanges en sous groupes entre membres</a:t>
            </a:r>
          </a:p>
        </p:txBody>
      </p:sp>
      <p:sp>
        <p:nvSpPr>
          <p:cNvPr id="45" name="Rectangle 44">
            <a:extLst>
              <a:ext uri="{FF2B5EF4-FFF2-40B4-BE49-F238E27FC236}">
                <a16:creationId xmlns:a16="http://schemas.microsoft.com/office/drawing/2014/main" id="{1E26613A-128B-76A7-6E6C-92FC080FE9FB}"/>
              </a:ext>
            </a:extLst>
          </p:cNvPr>
          <p:cNvSpPr/>
          <p:nvPr/>
        </p:nvSpPr>
        <p:spPr>
          <a:xfrm>
            <a:off x="7568345" y="1538053"/>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⚙️Fermeture d’une ou plusieurs salles de discussions inanimées</a:t>
            </a:r>
          </a:p>
        </p:txBody>
      </p:sp>
      <p:sp>
        <p:nvSpPr>
          <p:cNvPr id="47" name="Rectangle 46">
            <a:extLst>
              <a:ext uri="{FF2B5EF4-FFF2-40B4-BE49-F238E27FC236}">
                <a16:creationId xmlns:a16="http://schemas.microsoft.com/office/drawing/2014/main" id="{1711153C-B5A5-8A4E-2CAF-BB589178B89D}"/>
              </a:ext>
            </a:extLst>
          </p:cNvPr>
          <p:cNvSpPr/>
          <p:nvPr/>
        </p:nvSpPr>
        <p:spPr>
          <a:xfrm>
            <a:off x="8674953" y="4901573"/>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place d’un système de délégation des pouvoirs pour réduire le besoin de participation</a:t>
            </a:r>
          </a:p>
        </p:txBody>
      </p:sp>
      <p:sp>
        <p:nvSpPr>
          <p:cNvPr id="49" name="Rectangle 48">
            <a:extLst>
              <a:ext uri="{FF2B5EF4-FFF2-40B4-BE49-F238E27FC236}">
                <a16:creationId xmlns:a16="http://schemas.microsoft.com/office/drawing/2014/main" id="{7E380445-DEEE-CF5D-F627-DC2A2D0E5F08}"/>
              </a:ext>
            </a:extLst>
          </p:cNvPr>
          <p:cNvSpPr/>
          <p:nvPr/>
        </p:nvSpPr>
        <p:spPr>
          <a:xfrm>
            <a:off x="7568345" y="4901573"/>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⚙️Clarification des pouvoirs et responsabilités réduisant les réunions de décisions</a:t>
            </a:r>
          </a:p>
        </p:txBody>
      </p:sp>
      <p:sp>
        <p:nvSpPr>
          <p:cNvPr id="51" name="Rectangle 50">
            <a:extLst>
              <a:ext uri="{FF2B5EF4-FFF2-40B4-BE49-F238E27FC236}">
                <a16:creationId xmlns:a16="http://schemas.microsoft.com/office/drawing/2014/main" id="{947B8E8B-D415-1501-7740-3FC9594BB285}"/>
              </a:ext>
            </a:extLst>
          </p:cNvPr>
          <p:cNvSpPr/>
          <p:nvPr/>
        </p:nvSpPr>
        <p:spPr>
          <a:xfrm>
            <a:off x="8674953" y="4012578"/>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✍️Réservation de certains sujets à une approche individuelle pour confidentialité</a:t>
            </a:r>
          </a:p>
        </p:txBody>
      </p:sp>
      <p:sp>
        <p:nvSpPr>
          <p:cNvPr id="53" name="Rectangle 52">
            <a:extLst>
              <a:ext uri="{FF2B5EF4-FFF2-40B4-BE49-F238E27FC236}">
                <a16:creationId xmlns:a16="http://schemas.microsoft.com/office/drawing/2014/main" id="{374E5A50-8D56-307D-D361-D8D4AA440867}"/>
              </a:ext>
            </a:extLst>
          </p:cNvPr>
          <p:cNvSpPr/>
          <p:nvPr/>
        </p:nvSpPr>
        <p:spPr>
          <a:xfrm>
            <a:off x="7568345" y="4012578"/>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⚙️+📅Division des grandes réunions en plus petites sessions avec moins de personnes</a:t>
            </a:r>
          </a:p>
        </p:txBody>
      </p:sp>
      <p:sp>
        <p:nvSpPr>
          <p:cNvPr id="95" name="Rectangle 94">
            <a:extLst>
              <a:ext uri="{FF2B5EF4-FFF2-40B4-BE49-F238E27FC236}">
                <a16:creationId xmlns:a16="http://schemas.microsoft.com/office/drawing/2014/main" id="{328EB21D-50DD-F4D0-1008-C44486F42FAE}"/>
              </a:ext>
            </a:extLst>
          </p:cNvPr>
          <p:cNvSpPr/>
          <p:nvPr/>
        </p:nvSpPr>
        <p:spPr>
          <a:xfrm>
            <a:off x="2485014" y="3513400"/>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Moments dédiés pour les mises en relation</a:t>
            </a:r>
          </a:p>
        </p:txBody>
      </p:sp>
      <p:sp>
        <p:nvSpPr>
          <p:cNvPr id="96" name="Rectangle 95">
            <a:extLst>
              <a:ext uri="{FF2B5EF4-FFF2-40B4-BE49-F238E27FC236}">
                <a16:creationId xmlns:a16="http://schemas.microsoft.com/office/drawing/2014/main" id="{F4C58921-DBB1-10BA-6FCE-E48BDF7BFF47}"/>
              </a:ext>
            </a:extLst>
          </p:cNvPr>
          <p:cNvSpPr/>
          <p:nvPr/>
        </p:nvSpPr>
        <p:spPr>
          <a:xfrm>
            <a:off x="1395602" y="3513400"/>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place d’événements supplémentaires plus petits et facultatifs</a:t>
            </a:r>
          </a:p>
        </p:txBody>
      </p:sp>
      <p:sp>
        <p:nvSpPr>
          <p:cNvPr id="100" name="Rectangle 99">
            <a:extLst>
              <a:ext uri="{FF2B5EF4-FFF2-40B4-BE49-F238E27FC236}">
                <a16:creationId xmlns:a16="http://schemas.microsoft.com/office/drawing/2014/main" id="{92311F79-F614-B1A0-E4BF-3781570F8D6F}"/>
              </a:ext>
            </a:extLst>
          </p:cNvPr>
          <p:cNvSpPr/>
          <p:nvPr/>
        </p:nvSpPr>
        <p:spPr>
          <a:xfrm>
            <a:off x="3587405" y="3513400"/>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⚙️Etablissement de membres « pilotes et repères » qui peuvent rediriger entre membres</a:t>
            </a:r>
          </a:p>
        </p:txBody>
      </p:sp>
      <p:sp>
        <p:nvSpPr>
          <p:cNvPr id="102" name="Rectangle 101">
            <a:extLst>
              <a:ext uri="{FF2B5EF4-FFF2-40B4-BE49-F238E27FC236}">
                <a16:creationId xmlns:a16="http://schemas.microsoft.com/office/drawing/2014/main" id="{A24B8807-F9B3-FE55-D65E-2D70786FD5ED}"/>
              </a:ext>
            </a:extLst>
          </p:cNvPr>
          <p:cNvSpPr/>
          <p:nvPr/>
        </p:nvSpPr>
        <p:spPr>
          <a:xfrm>
            <a:off x="2485014" y="2624405"/>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place d’un flux de contenus et d’outils associés (alertes, liste de diffusion, etc.)</a:t>
            </a:r>
          </a:p>
        </p:txBody>
      </p:sp>
      <p:sp>
        <p:nvSpPr>
          <p:cNvPr id="103" name="Rectangle 102">
            <a:extLst>
              <a:ext uri="{FF2B5EF4-FFF2-40B4-BE49-F238E27FC236}">
                <a16:creationId xmlns:a16="http://schemas.microsoft.com/office/drawing/2014/main" id="{92510575-97E0-73E5-7205-F477C30FE38B}"/>
              </a:ext>
            </a:extLst>
          </p:cNvPr>
          <p:cNvSpPr/>
          <p:nvPr/>
        </p:nvSpPr>
        <p:spPr>
          <a:xfrm>
            <a:off x="1395602" y="2624405"/>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✍️⚙️Etablissement d’une identité de Communauté (nom, etc.) </a:t>
            </a:r>
          </a:p>
        </p:txBody>
      </p:sp>
      <p:sp>
        <p:nvSpPr>
          <p:cNvPr id="104" name="Rectangle 103">
            <a:extLst>
              <a:ext uri="{FF2B5EF4-FFF2-40B4-BE49-F238E27FC236}">
                <a16:creationId xmlns:a16="http://schemas.microsoft.com/office/drawing/2014/main" id="{C22B5E7D-FF25-A75D-3075-6C9E97AE6C2D}"/>
              </a:ext>
            </a:extLst>
          </p:cNvPr>
          <p:cNvSpPr/>
          <p:nvPr/>
        </p:nvSpPr>
        <p:spPr>
          <a:xfrm>
            <a:off x="3587405" y="2624405"/>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place un outil de discussion entre les membres, ou d’un annuaire</a:t>
            </a:r>
          </a:p>
        </p:txBody>
      </p:sp>
      <p:sp>
        <p:nvSpPr>
          <p:cNvPr id="108" name="Rectangle 107">
            <a:extLst>
              <a:ext uri="{FF2B5EF4-FFF2-40B4-BE49-F238E27FC236}">
                <a16:creationId xmlns:a16="http://schemas.microsoft.com/office/drawing/2014/main" id="{562CDBA0-0272-98D3-31CF-BF3BBB6F1902}"/>
              </a:ext>
            </a:extLst>
          </p:cNvPr>
          <p:cNvSpPr/>
          <p:nvPr/>
        </p:nvSpPr>
        <p:spPr>
          <a:xfrm>
            <a:off x="3587405" y="5824650"/>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⚙️+📅Fusion des sessions en plus grandes sessions avec plus de personnes</a:t>
            </a:r>
          </a:p>
        </p:txBody>
      </p:sp>
      <p:sp>
        <p:nvSpPr>
          <p:cNvPr id="110" name="Rectangle 109">
            <a:extLst>
              <a:ext uri="{FF2B5EF4-FFF2-40B4-BE49-F238E27FC236}">
                <a16:creationId xmlns:a16="http://schemas.microsoft.com/office/drawing/2014/main" id="{48A41F64-4287-9E8A-090E-01722548FADE}"/>
              </a:ext>
            </a:extLst>
          </p:cNvPr>
          <p:cNvSpPr/>
          <p:nvPr/>
        </p:nvSpPr>
        <p:spPr>
          <a:xfrm>
            <a:off x="2485014" y="4935655"/>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⚙️Réservation de certains sujets et activités pour une approche par réunion</a:t>
            </a:r>
          </a:p>
        </p:txBody>
      </p:sp>
      <p:sp>
        <p:nvSpPr>
          <p:cNvPr id="112" name="Rectangle 111">
            <a:extLst>
              <a:ext uri="{FF2B5EF4-FFF2-40B4-BE49-F238E27FC236}">
                <a16:creationId xmlns:a16="http://schemas.microsoft.com/office/drawing/2014/main" id="{B7B9AC00-2519-5A87-F8D1-980C08E48369}"/>
              </a:ext>
            </a:extLst>
          </p:cNvPr>
          <p:cNvSpPr/>
          <p:nvPr/>
        </p:nvSpPr>
        <p:spPr>
          <a:xfrm>
            <a:off x="3587405" y="4935655"/>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📅Proposition de petits créneaux d’activité commune pour certains individus seulement</a:t>
            </a:r>
          </a:p>
        </p:txBody>
      </p:sp>
      <p:sp>
        <p:nvSpPr>
          <p:cNvPr id="117" name="Titre 1">
            <a:extLst>
              <a:ext uri="{FF2B5EF4-FFF2-40B4-BE49-F238E27FC236}">
                <a16:creationId xmlns:a16="http://schemas.microsoft.com/office/drawing/2014/main" id="{B914C0E1-A57D-6176-94CE-7E459F307FFC}"/>
              </a:ext>
            </a:extLst>
          </p:cNvPr>
          <p:cNvSpPr txBox="1">
            <a:spLocks/>
          </p:cNvSpPr>
          <p:nvPr/>
        </p:nvSpPr>
        <p:spPr>
          <a:xfrm>
            <a:off x="5455376" y="2426139"/>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118" name="Titre 1">
            <a:extLst>
              <a:ext uri="{FF2B5EF4-FFF2-40B4-BE49-F238E27FC236}">
                <a16:creationId xmlns:a16="http://schemas.microsoft.com/office/drawing/2014/main" id="{270414F2-E236-949C-2430-E9257DA86F06}"/>
              </a:ext>
            </a:extLst>
          </p:cNvPr>
          <p:cNvSpPr txBox="1">
            <a:spLocks/>
          </p:cNvSpPr>
          <p:nvPr/>
        </p:nvSpPr>
        <p:spPr>
          <a:xfrm>
            <a:off x="5308118" y="4307604"/>
            <a:ext cx="1555855"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par</a:t>
            </a:r>
          </a:p>
          <a:p>
            <a:pPr algn="ctr"/>
            <a:r>
              <a:rPr lang="fr-FR" sz="1400" b="1" dirty="0"/>
              <a:t>réunion ponctuelle </a:t>
            </a:r>
          </a:p>
        </p:txBody>
      </p:sp>
      <p:sp>
        <p:nvSpPr>
          <p:cNvPr id="119" name="Titre 1">
            <a:extLst>
              <a:ext uri="{FF2B5EF4-FFF2-40B4-BE49-F238E27FC236}">
                <a16:creationId xmlns:a16="http://schemas.microsoft.com/office/drawing/2014/main" id="{9B830693-0232-9A2A-0167-E4DD4C28A6C9}"/>
              </a:ext>
            </a:extLst>
          </p:cNvPr>
          <p:cNvSpPr txBox="1">
            <a:spLocks/>
          </p:cNvSpPr>
          <p:nvPr/>
        </p:nvSpPr>
        <p:spPr>
          <a:xfrm>
            <a:off x="5455376" y="6201110"/>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individus</a:t>
            </a:r>
          </a:p>
        </p:txBody>
      </p:sp>
      <p:grpSp>
        <p:nvGrpSpPr>
          <p:cNvPr id="120" name="Groupe 119">
            <a:extLst>
              <a:ext uri="{FF2B5EF4-FFF2-40B4-BE49-F238E27FC236}">
                <a16:creationId xmlns:a16="http://schemas.microsoft.com/office/drawing/2014/main" id="{62902EDE-A0C7-B553-9A5F-A4DB34DBBED2}"/>
              </a:ext>
            </a:extLst>
          </p:cNvPr>
          <p:cNvGrpSpPr/>
          <p:nvPr/>
        </p:nvGrpSpPr>
        <p:grpSpPr>
          <a:xfrm>
            <a:off x="111003" y="225276"/>
            <a:ext cx="1229800" cy="1215667"/>
            <a:chOff x="-3726451" y="2933151"/>
            <a:chExt cx="1229800" cy="1215667"/>
          </a:xfrm>
        </p:grpSpPr>
        <p:grpSp>
          <p:nvGrpSpPr>
            <p:cNvPr id="121" name="Groupe 120">
              <a:extLst>
                <a:ext uri="{FF2B5EF4-FFF2-40B4-BE49-F238E27FC236}">
                  <a16:creationId xmlns:a16="http://schemas.microsoft.com/office/drawing/2014/main" id="{62DD7A84-CBED-3923-5DA0-82551DB05A7E}"/>
                </a:ext>
              </a:extLst>
            </p:cNvPr>
            <p:cNvGrpSpPr/>
            <p:nvPr/>
          </p:nvGrpSpPr>
          <p:grpSpPr>
            <a:xfrm>
              <a:off x="-3568666" y="2933151"/>
              <a:ext cx="991299" cy="1215667"/>
              <a:chOff x="8860995" y="282959"/>
              <a:chExt cx="3407094" cy="4178249"/>
            </a:xfrm>
            <a:solidFill>
              <a:schemeClr val="tx1"/>
            </a:solidFill>
          </p:grpSpPr>
          <p:pic>
            <p:nvPicPr>
              <p:cNvPr id="125" name="Graphique 124" descr="Diagramme de flux avec un remplissage uni">
                <a:extLst>
                  <a:ext uri="{FF2B5EF4-FFF2-40B4-BE49-F238E27FC236}">
                    <a16:creationId xmlns:a16="http://schemas.microsoft.com/office/drawing/2014/main" id="{6AEEC795-3A56-9F00-7F37-B979A349AD3A}"/>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1353689" y="3108467"/>
                <a:ext cx="914400" cy="603649"/>
              </a:xfrm>
              <a:prstGeom prst="rect">
                <a:avLst/>
              </a:prstGeom>
            </p:spPr>
          </p:pic>
          <p:grpSp>
            <p:nvGrpSpPr>
              <p:cNvPr id="126" name="Groupe 125">
                <a:extLst>
                  <a:ext uri="{FF2B5EF4-FFF2-40B4-BE49-F238E27FC236}">
                    <a16:creationId xmlns:a16="http://schemas.microsoft.com/office/drawing/2014/main" id="{AB5FA220-4B7F-B2E0-4EDA-30A5B77E11A6}"/>
                  </a:ext>
                </a:extLst>
              </p:cNvPr>
              <p:cNvGrpSpPr/>
              <p:nvPr/>
            </p:nvGrpSpPr>
            <p:grpSpPr>
              <a:xfrm>
                <a:off x="8860995" y="282959"/>
                <a:ext cx="3360434" cy="4178249"/>
                <a:chOff x="8860995" y="282959"/>
                <a:chExt cx="3360434" cy="4178249"/>
              </a:xfrm>
              <a:grpFill/>
            </p:grpSpPr>
            <p:pic>
              <p:nvPicPr>
                <p:cNvPr id="127" name="Graphique 126" descr="Diagramme de flux avec un remplissage uni">
                  <a:extLst>
                    <a:ext uri="{FF2B5EF4-FFF2-40B4-BE49-F238E27FC236}">
                      <a16:creationId xmlns:a16="http://schemas.microsoft.com/office/drawing/2014/main" id="{C48A3F42-0E1C-FEB9-9F77-6344D5DD304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085908" y="282959"/>
                  <a:ext cx="914400" cy="914400"/>
                </a:xfrm>
                <a:prstGeom prst="rect">
                  <a:avLst/>
                </a:prstGeom>
              </p:spPr>
            </p:pic>
            <p:pic>
              <p:nvPicPr>
                <p:cNvPr id="128" name="Graphique 127" descr="Diagramme de flux avec un remplissage uni">
                  <a:extLst>
                    <a:ext uri="{FF2B5EF4-FFF2-40B4-BE49-F238E27FC236}">
                      <a16:creationId xmlns:a16="http://schemas.microsoft.com/office/drawing/2014/main" id="{C27D06FB-126F-E31F-F8C3-379194A81A2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9758979" y="1013706"/>
                  <a:ext cx="914400" cy="603649"/>
                </a:xfrm>
                <a:prstGeom prst="rect">
                  <a:avLst/>
                </a:prstGeom>
              </p:spPr>
            </p:pic>
            <p:pic>
              <p:nvPicPr>
                <p:cNvPr id="129" name="Graphique 128" descr="Diagramme de flux avec un remplissage uni">
                  <a:extLst>
                    <a:ext uri="{FF2B5EF4-FFF2-40B4-BE49-F238E27FC236}">
                      <a16:creationId xmlns:a16="http://schemas.microsoft.com/office/drawing/2014/main" id="{D2B6E13A-1FBA-0013-3A10-46ADCF0BF732}"/>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9460854" y="1453033"/>
                  <a:ext cx="914400" cy="603649"/>
                </a:xfrm>
                <a:prstGeom prst="rect">
                  <a:avLst/>
                </a:prstGeom>
              </p:spPr>
            </p:pic>
            <p:pic>
              <p:nvPicPr>
                <p:cNvPr id="130" name="Graphique 129" descr="Diagramme de flux avec un remplissage uni">
                  <a:extLst>
                    <a:ext uri="{FF2B5EF4-FFF2-40B4-BE49-F238E27FC236}">
                      <a16:creationId xmlns:a16="http://schemas.microsoft.com/office/drawing/2014/main" id="{FF01AA1F-8D5D-15A4-6BA6-CC10832C8B08}"/>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9154819" y="1868228"/>
                  <a:ext cx="914400" cy="603649"/>
                </a:xfrm>
                <a:prstGeom prst="rect">
                  <a:avLst/>
                </a:prstGeom>
              </p:spPr>
            </p:pic>
            <p:pic>
              <p:nvPicPr>
                <p:cNvPr id="131" name="Graphique 130" descr="Diagramme de flux avec un remplissage uni">
                  <a:extLst>
                    <a:ext uri="{FF2B5EF4-FFF2-40B4-BE49-F238E27FC236}">
                      <a16:creationId xmlns:a16="http://schemas.microsoft.com/office/drawing/2014/main" id="{BD624BAA-0F55-B2F6-02FB-19F965804CE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9758979" y="1841293"/>
                  <a:ext cx="914400" cy="603649"/>
                </a:xfrm>
                <a:prstGeom prst="rect">
                  <a:avLst/>
                </a:prstGeom>
              </p:spPr>
            </p:pic>
            <p:pic>
              <p:nvPicPr>
                <p:cNvPr id="132" name="Graphique 131" descr="Diagramme de flux avec un remplissage uni">
                  <a:extLst>
                    <a:ext uri="{FF2B5EF4-FFF2-40B4-BE49-F238E27FC236}">
                      <a16:creationId xmlns:a16="http://schemas.microsoft.com/office/drawing/2014/main" id="{2A8EEB99-EECE-70F1-3C9D-90841873909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8860995" y="2287625"/>
                  <a:ext cx="914400" cy="603649"/>
                </a:xfrm>
                <a:prstGeom prst="rect">
                  <a:avLst/>
                </a:prstGeom>
              </p:spPr>
            </p:pic>
            <p:pic>
              <p:nvPicPr>
                <p:cNvPr id="133" name="Graphique 132" descr="Diagramme de flux avec un remplissage uni">
                  <a:extLst>
                    <a:ext uri="{FF2B5EF4-FFF2-40B4-BE49-F238E27FC236}">
                      <a16:creationId xmlns:a16="http://schemas.microsoft.com/office/drawing/2014/main" id="{6728B430-741A-24AC-1F14-9F6BF921F08B}"/>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412836" y="1004605"/>
                  <a:ext cx="914400" cy="603649"/>
                </a:xfrm>
                <a:prstGeom prst="rect">
                  <a:avLst/>
                </a:prstGeom>
              </p:spPr>
            </p:pic>
            <p:pic>
              <p:nvPicPr>
                <p:cNvPr id="134" name="Graphique 133" descr="Diagramme de flux avec un remplissage uni">
                  <a:extLst>
                    <a:ext uri="{FF2B5EF4-FFF2-40B4-BE49-F238E27FC236}">
                      <a16:creationId xmlns:a16="http://schemas.microsoft.com/office/drawing/2014/main" id="{B93EDB65-C59F-1B17-5813-EF55D73E282A}"/>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723076" y="1403998"/>
                  <a:ext cx="914400" cy="603649"/>
                </a:xfrm>
                <a:prstGeom prst="rect">
                  <a:avLst/>
                </a:prstGeom>
              </p:spPr>
            </p:pic>
            <p:pic>
              <p:nvPicPr>
                <p:cNvPr id="135" name="Graphique 134" descr="Diagramme de flux avec un remplissage uni">
                  <a:extLst>
                    <a:ext uri="{FF2B5EF4-FFF2-40B4-BE49-F238E27FC236}">
                      <a16:creationId xmlns:a16="http://schemas.microsoft.com/office/drawing/2014/main" id="{262CA50D-F18F-C4A7-6FF2-C34FF7F4964A}"/>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022751" y="2243336"/>
                  <a:ext cx="914400" cy="603649"/>
                </a:xfrm>
                <a:prstGeom prst="rect">
                  <a:avLst/>
                </a:prstGeom>
              </p:spPr>
            </p:pic>
            <p:pic>
              <p:nvPicPr>
                <p:cNvPr id="136" name="Graphique 135" descr="Diagramme de flux avec un remplissage uni">
                  <a:extLst>
                    <a:ext uri="{FF2B5EF4-FFF2-40B4-BE49-F238E27FC236}">
                      <a16:creationId xmlns:a16="http://schemas.microsoft.com/office/drawing/2014/main" id="{AC9534E7-3513-9250-2EE1-6BB5D680CE7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034729" y="2661108"/>
                  <a:ext cx="914400" cy="603649"/>
                </a:xfrm>
                <a:prstGeom prst="rect">
                  <a:avLst/>
                </a:prstGeom>
              </p:spPr>
            </p:pic>
            <p:pic>
              <p:nvPicPr>
                <p:cNvPr id="137" name="Graphique 136" descr="Diagramme de flux avec un remplissage uni">
                  <a:extLst>
                    <a:ext uri="{FF2B5EF4-FFF2-40B4-BE49-F238E27FC236}">
                      <a16:creationId xmlns:a16="http://schemas.microsoft.com/office/drawing/2014/main" id="{190ED75E-71F3-20A3-803A-D7A9D76F0AC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046261" y="3060336"/>
                  <a:ext cx="914400" cy="603649"/>
                </a:xfrm>
                <a:prstGeom prst="rect">
                  <a:avLst/>
                </a:prstGeom>
              </p:spPr>
            </p:pic>
            <p:pic>
              <p:nvPicPr>
                <p:cNvPr id="138" name="Graphique 137" descr="Diagramme de flux avec un remplissage uni">
                  <a:extLst>
                    <a:ext uri="{FF2B5EF4-FFF2-40B4-BE49-F238E27FC236}">
                      <a16:creationId xmlns:a16="http://schemas.microsoft.com/office/drawing/2014/main" id="{B51BB827-BCA8-438E-4093-2D7A352B6022}"/>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1021201" y="1809840"/>
                  <a:ext cx="914400" cy="603649"/>
                </a:xfrm>
                <a:prstGeom prst="rect">
                  <a:avLst/>
                </a:prstGeom>
              </p:spPr>
            </p:pic>
            <p:pic>
              <p:nvPicPr>
                <p:cNvPr id="139" name="Graphique 138" descr="Diagramme de flux avec un remplissage uni">
                  <a:extLst>
                    <a:ext uri="{FF2B5EF4-FFF2-40B4-BE49-F238E27FC236}">
                      <a16:creationId xmlns:a16="http://schemas.microsoft.com/office/drawing/2014/main" id="{FF534C21-6C21-4935-F21F-2C997CB30207}"/>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1307029" y="2255207"/>
                  <a:ext cx="914400" cy="603649"/>
                </a:xfrm>
                <a:prstGeom prst="rect">
                  <a:avLst/>
                </a:prstGeom>
              </p:spPr>
            </p:pic>
            <p:pic>
              <p:nvPicPr>
                <p:cNvPr id="140" name="Graphique 139" descr="Diagramme de flux avec un remplissage uni">
                  <a:extLst>
                    <a:ext uri="{FF2B5EF4-FFF2-40B4-BE49-F238E27FC236}">
                      <a16:creationId xmlns:a16="http://schemas.microsoft.com/office/drawing/2014/main" id="{E2987DFD-263C-1E7C-1353-DD3F48E6F8BD}"/>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1039740" y="2681006"/>
                  <a:ext cx="914400" cy="603649"/>
                </a:xfrm>
                <a:prstGeom prst="rect">
                  <a:avLst/>
                </a:prstGeom>
              </p:spPr>
            </p:pic>
            <p:pic>
              <p:nvPicPr>
                <p:cNvPr id="141" name="Graphique 140" descr="Diagramme de flux avec un remplissage uni">
                  <a:extLst>
                    <a:ext uri="{FF2B5EF4-FFF2-40B4-BE49-F238E27FC236}">
                      <a16:creationId xmlns:a16="http://schemas.microsoft.com/office/drawing/2014/main" id="{BB07E880-68C8-C445-CF9C-6C281C1C32A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1057840" y="3490451"/>
                  <a:ext cx="914400" cy="603649"/>
                </a:xfrm>
                <a:prstGeom prst="rect">
                  <a:avLst/>
                </a:prstGeom>
              </p:spPr>
            </p:pic>
            <p:pic>
              <p:nvPicPr>
                <p:cNvPr id="142" name="Graphique 141" descr="Diagramme de flux avec un remplissage uni">
                  <a:extLst>
                    <a:ext uri="{FF2B5EF4-FFF2-40B4-BE49-F238E27FC236}">
                      <a16:creationId xmlns:a16="http://schemas.microsoft.com/office/drawing/2014/main" id="{FA0824B5-23EE-D02C-2A4A-06776BA7B60B}"/>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984"/>
                <a:stretch/>
              </p:blipFill>
              <p:spPr>
                <a:xfrm>
                  <a:off x="10741017" y="3857559"/>
                  <a:ext cx="914400" cy="603649"/>
                </a:xfrm>
                <a:prstGeom prst="rect">
                  <a:avLst/>
                </a:prstGeom>
              </p:spPr>
            </p:pic>
          </p:grpSp>
        </p:grpSp>
        <p:sp>
          <p:nvSpPr>
            <p:cNvPr id="122" name="Forme libre : forme 121">
              <a:extLst>
                <a:ext uri="{FF2B5EF4-FFF2-40B4-BE49-F238E27FC236}">
                  <a16:creationId xmlns:a16="http://schemas.microsoft.com/office/drawing/2014/main" id="{00C891A0-2A65-FB4B-B1A9-42CDDDB0BD00}"/>
                </a:ext>
              </a:extLst>
            </p:cNvPr>
            <p:cNvSpPr/>
            <p:nvPr/>
          </p:nvSpPr>
          <p:spPr>
            <a:xfrm>
              <a:off x="-3726451" y="3092070"/>
              <a:ext cx="919322" cy="60512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1905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23" name="Forme libre : forme 122">
              <a:extLst>
                <a:ext uri="{FF2B5EF4-FFF2-40B4-BE49-F238E27FC236}">
                  <a16:creationId xmlns:a16="http://schemas.microsoft.com/office/drawing/2014/main" id="{324FA6C4-BF83-F145-6CD5-6D5541678B0C}"/>
                </a:ext>
              </a:extLst>
            </p:cNvPr>
            <p:cNvSpPr/>
            <p:nvPr/>
          </p:nvSpPr>
          <p:spPr>
            <a:xfrm>
              <a:off x="-3045638" y="3538773"/>
              <a:ext cx="548987" cy="589524"/>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1905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24" name="Forme libre : forme 123">
              <a:extLst>
                <a:ext uri="{FF2B5EF4-FFF2-40B4-BE49-F238E27FC236}">
                  <a16:creationId xmlns:a16="http://schemas.microsoft.com/office/drawing/2014/main" id="{757EF75D-7D33-D911-8C4F-53AA2FAD392A}"/>
                </a:ext>
              </a:extLst>
            </p:cNvPr>
            <p:cNvSpPr/>
            <p:nvPr/>
          </p:nvSpPr>
          <p:spPr>
            <a:xfrm>
              <a:off x="-3687740" y="3518217"/>
              <a:ext cx="737874" cy="297689"/>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1905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82" name="Rectangle 81">
            <a:extLst>
              <a:ext uri="{FF2B5EF4-FFF2-40B4-BE49-F238E27FC236}">
                <a16:creationId xmlns:a16="http://schemas.microsoft.com/office/drawing/2014/main" id="{AD3B4AC9-273F-63C8-EB00-88B8F4BF4FE7}"/>
              </a:ext>
            </a:extLst>
          </p:cNvPr>
          <p:cNvSpPr/>
          <p:nvPr/>
        </p:nvSpPr>
        <p:spPr>
          <a:xfrm>
            <a:off x="9811147" y="2427047"/>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⚙️+📅Réduction de la fréquence des événements</a:t>
            </a:r>
          </a:p>
        </p:txBody>
      </p:sp>
      <p:sp>
        <p:nvSpPr>
          <p:cNvPr id="83" name="Rectangle 82">
            <a:extLst>
              <a:ext uri="{FF2B5EF4-FFF2-40B4-BE49-F238E27FC236}">
                <a16:creationId xmlns:a16="http://schemas.microsoft.com/office/drawing/2014/main" id="{627F292A-719F-DBA6-E89E-31AFF82BB38A}"/>
              </a:ext>
            </a:extLst>
          </p:cNvPr>
          <p:cNvSpPr/>
          <p:nvPr/>
        </p:nvSpPr>
        <p:spPr>
          <a:xfrm>
            <a:off x="286620" y="2620707"/>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⚙️+📅Augmentation de la fréquence et diversité des événements</a:t>
            </a:r>
          </a:p>
        </p:txBody>
      </p:sp>
      <p:sp>
        <p:nvSpPr>
          <p:cNvPr id="84" name="Rectangle 83">
            <a:extLst>
              <a:ext uri="{FF2B5EF4-FFF2-40B4-BE49-F238E27FC236}">
                <a16:creationId xmlns:a16="http://schemas.microsoft.com/office/drawing/2014/main" id="{D994AA58-3B89-02EC-5755-F1C8BF54C165}"/>
              </a:ext>
            </a:extLst>
          </p:cNvPr>
          <p:cNvSpPr/>
          <p:nvPr/>
        </p:nvSpPr>
        <p:spPr>
          <a:xfrm>
            <a:off x="9823450" y="1539377"/>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⚙️+📅Revue du livrable collectif à la fréquence des événements uniquement</a:t>
            </a:r>
          </a:p>
        </p:txBody>
      </p:sp>
      <p:sp>
        <p:nvSpPr>
          <p:cNvPr id="85" name="Rectangle 84">
            <a:extLst>
              <a:ext uri="{FF2B5EF4-FFF2-40B4-BE49-F238E27FC236}">
                <a16:creationId xmlns:a16="http://schemas.microsoft.com/office/drawing/2014/main" id="{6D338E32-0D45-0178-BB6A-6F87E1A2E0D9}"/>
              </a:ext>
            </a:extLst>
          </p:cNvPr>
          <p:cNvSpPr/>
          <p:nvPr/>
        </p:nvSpPr>
        <p:spPr>
          <a:xfrm>
            <a:off x="268050" y="3504704"/>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place d’outils et de processus pour revue des livrables collectifs en continu</a:t>
            </a:r>
          </a:p>
        </p:txBody>
      </p:sp>
      <p:sp>
        <p:nvSpPr>
          <p:cNvPr id="86" name="Rectangle 85">
            <a:extLst>
              <a:ext uri="{FF2B5EF4-FFF2-40B4-BE49-F238E27FC236}">
                <a16:creationId xmlns:a16="http://schemas.microsoft.com/office/drawing/2014/main" id="{51FA6C7D-2864-5F75-76F1-EE082013BFE6}"/>
              </a:ext>
            </a:extLst>
          </p:cNvPr>
          <p:cNvSpPr/>
          <p:nvPr/>
        </p:nvSpPr>
        <p:spPr>
          <a:xfrm>
            <a:off x="9811147" y="4012578"/>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⚙️+✍️Passage de livrables collectifs à des livrables individuels</a:t>
            </a:r>
          </a:p>
        </p:txBody>
      </p:sp>
      <p:sp>
        <p:nvSpPr>
          <p:cNvPr id="87" name="Rectangle 86">
            <a:extLst>
              <a:ext uri="{FF2B5EF4-FFF2-40B4-BE49-F238E27FC236}">
                <a16:creationId xmlns:a16="http://schemas.microsoft.com/office/drawing/2014/main" id="{7196B647-202C-4E16-A08B-871C9F82726D}"/>
              </a:ext>
            </a:extLst>
          </p:cNvPr>
          <p:cNvSpPr/>
          <p:nvPr/>
        </p:nvSpPr>
        <p:spPr>
          <a:xfrm>
            <a:off x="2474749" y="5824650"/>
            <a:ext cx="1036251" cy="80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⚙️+✍️Passage de livrables individuels à des livrables collectifs</a:t>
            </a:r>
          </a:p>
        </p:txBody>
      </p:sp>
    </p:spTree>
    <p:extLst>
      <p:ext uri="{BB962C8B-B14F-4D97-AF65-F5344CB8AC3E}">
        <p14:creationId xmlns:p14="http://schemas.microsoft.com/office/powerpoint/2010/main" val="105673431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1216616" y="365125"/>
            <a:ext cx="10137183" cy="1325563"/>
          </a:xfrm>
        </p:spPr>
        <p:txBody>
          <a:bodyPr>
            <a:normAutofit fontScale="90000"/>
          </a:bodyPr>
          <a:lstStyle/>
          <a:p>
            <a:r>
              <a:rPr lang="fr-FR" dirty="0"/>
              <a:t>Les blocages à l’engagement pour les membres classés par motivateurs – Liste d’exemples</a:t>
            </a:r>
          </a:p>
        </p:txBody>
      </p:sp>
      <p:pic>
        <p:nvPicPr>
          <p:cNvPr id="25" name="Image 24">
            <a:extLst>
              <a:ext uri="{FF2B5EF4-FFF2-40B4-BE49-F238E27FC236}">
                <a16:creationId xmlns:a16="http://schemas.microsoft.com/office/drawing/2014/main" id="{606255BE-23A7-ADAF-2326-89C7A7C1166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1104" y="1611876"/>
            <a:ext cx="1120155" cy="1582246"/>
          </a:xfrm>
          <a:prstGeom prst="rect">
            <a:avLst/>
          </a:prstGeom>
        </p:spPr>
      </p:pic>
      <p:pic>
        <p:nvPicPr>
          <p:cNvPr id="27" name="Image 26">
            <a:extLst>
              <a:ext uri="{FF2B5EF4-FFF2-40B4-BE49-F238E27FC236}">
                <a16:creationId xmlns:a16="http://schemas.microsoft.com/office/drawing/2014/main" id="{BF0668E5-1F29-C6FB-93FA-4659CD0F7B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19950" y="1611876"/>
            <a:ext cx="1120155" cy="1582246"/>
          </a:xfrm>
          <a:prstGeom prst="rect">
            <a:avLst/>
          </a:prstGeom>
        </p:spPr>
      </p:pic>
      <p:pic>
        <p:nvPicPr>
          <p:cNvPr id="28" name="Image 27" descr="Une image contenant texte&#10;&#10;Description générée automatiquement">
            <a:extLst>
              <a:ext uri="{FF2B5EF4-FFF2-40B4-BE49-F238E27FC236}">
                <a16:creationId xmlns:a16="http://schemas.microsoft.com/office/drawing/2014/main" id="{C52BFFBF-1047-476C-6469-7AF91D6DBF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73894" y="1611876"/>
            <a:ext cx="1120155" cy="1582246"/>
          </a:xfrm>
          <a:prstGeom prst="rect">
            <a:avLst/>
          </a:prstGeom>
        </p:spPr>
      </p:pic>
      <p:pic>
        <p:nvPicPr>
          <p:cNvPr id="29" name="Image 28">
            <a:extLst>
              <a:ext uri="{FF2B5EF4-FFF2-40B4-BE49-F238E27FC236}">
                <a16:creationId xmlns:a16="http://schemas.microsoft.com/office/drawing/2014/main" id="{66A8C156-F0A3-1263-C6C5-F0E1328E750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532740" y="1611876"/>
            <a:ext cx="1120155" cy="1582246"/>
          </a:xfrm>
          <a:prstGeom prst="rect">
            <a:avLst/>
          </a:prstGeom>
        </p:spPr>
      </p:pic>
      <p:pic>
        <p:nvPicPr>
          <p:cNvPr id="30" name="Image 29">
            <a:extLst>
              <a:ext uri="{FF2B5EF4-FFF2-40B4-BE49-F238E27FC236}">
                <a16:creationId xmlns:a16="http://schemas.microsoft.com/office/drawing/2014/main" id="{6E90BE4D-1EA5-ED16-87E6-4E680E0807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440527" y="1611876"/>
            <a:ext cx="1120155" cy="1582246"/>
          </a:xfrm>
          <a:prstGeom prst="rect">
            <a:avLst/>
          </a:prstGeom>
        </p:spPr>
      </p:pic>
      <p:pic>
        <p:nvPicPr>
          <p:cNvPr id="31" name="Image 30">
            <a:extLst>
              <a:ext uri="{FF2B5EF4-FFF2-40B4-BE49-F238E27FC236}">
                <a16:creationId xmlns:a16="http://schemas.microsoft.com/office/drawing/2014/main" id="{A564748B-E5B0-4E9F-7813-01D7C51BCBB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799373" y="1611876"/>
            <a:ext cx="1120155" cy="1582246"/>
          </a:xfrm>
          <a:prstGeom prst="rect">
            <a:avLst/>
          </a:prstGeom>
        </p:spPr>
      </p:pic>
      <p:pic>
        <p:nvPicPr>
          <p:cNvPr id="32" name="Image 31" descr="Une image contenant texte&#10;&#10;Description générée automatiquement">
            <a:extLst>
              <a:ext uri="{FF2B5EF4-FFF2-40B4-BE49-F238E27FC236}">
                <a16:creationId xmlns:a16="http://schemas.microsoft.com/office/drawing/2014/main" id="{85BA04D4-8763-76EF-5EFF-C98B2E55124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353317" y="1611876"/>
            <a:ext cx="1120155" cy="1582246"/>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1C07BFD-8376-7366-5CAE-D9628DFEBEB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712160" y="1611876"/>
            <a:ext cx="1120155" cy="1582246"/>
          </a:xfrm>
          <a:prstGeom prst="rect">
            <a:avLst/>
          </a:prstGeom>
        </p:spPr>
      </p:pic>
      <p:sp>
        <p:nvSpPr>
          <p:cNvPr id="42" name="Rectangle 41">
            <a:extLst>
              <a:ext uri="{FF2B5EF4-FFF2-40B4-BE49-F238E27FC236}">
                <a16:creationId xmlns:a16="http://schemas.microsoft.com/office/drawing/2014/main" id="{D5B4002B-AE18-2BAE-0D73-078BB2432DAD}"/>
              </a:ext>
            </a:extLst>
          </p:cNvPr>
          <p:cNvSpPr/>
          <p:nvPr/>
        </p:nvSpPr>
        <p:spPr>
          <a:xfrm>
            <a:off x="10877539" y="1606798"/>
            <a:ext cx="1081132"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pic>
        <p:nvPicPr>
          <p:cNvPr id="55" name="Image 54" descr="Une image contenant texte&#10;&#10;Description générée automatiquement">
            <a:extLst>
              <a:ext uri="{FF2B5EF4-FFF2-40B4-BE49-F238E27FC236}">
                <a16:creationId xmlns:a16="http://schemas.microsoft.com/office/drawing/2014/main" id="{DA501538-118F-0D88-B78B-6F0A5EC7490C}"/>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978796" y="1611876"/>
            <a:ext cx="1135830" cy="1588921"/>
          </a:xfrm>
          <a:prstGeom prst="rect">
            <a:avLst/>
          </a:prstGeom>
        </p:spPr>
      </p:pic>
      <p:sp>
        <p:nvSpPr>
          <p:cNvPr id="78" name="Rectangle 77">
            <a:extLst>
              <a:ext uri="{FF2B5EF4-FFF2-40B4-BE49-F238E27FC236}">
                <a16:creationId xmlns:a16="http://schemas.microsoft.com/office/drawing/2014/main" id="{4F91189C-2DC2-E950-7C1E-304DDB319C2D}"/>
              </a:ext>
            </a:extLst>
          </p:cNvPr>
          <p:cNvSpPr/>
          <p:nvPr/>
        </p:nvSpPr>
        <p:spPr>
          <a:xfrm>
            <a:off x="5001632" y="3263728"/>
            <a:ext cx="1120155" cy="56590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⭕Peur d’être détourné(e) de ses obligations professionnelles</a:t>
            </a:r>
          </a:p>
        </p:txBody>
      </p:sp>
      <p:sp>
        <p:nvSpPr>
          <p:cNvPr id="79" name="Rectangle 78">
            <a:extLst>
              <a:ext uri="{FF2B5EF4-FFF2-40B4-BE49-F238E27FC236}">
                <a16:creationId xmlns:a16="http://schemas.microsoft.com/office/drawing/2014/main" id="{E53E0171-0C79-7F53-58B0-ECCF0675D3D6}"/>
              </a:ext>
            </a:extLst>
          </p:cNvPr>
          <p:cNvSpPr/>
          <p:nvPr/>
        </p:nvSpPr>
        <p:spPr>
          <a:xfrm>
            <a:off x="3814945" y="3263728"/>
            <a:ext cx="1092072" cy="390795"/>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🤡Préjugés sur les personnes participant à la Communauté</a:t>
            </a:r>
          </a:p>
        </p:txBody>
      </p:sp>
      <p:sp>
        <p:nvSpPr>
          <p:cNvPr id="80" name="Rectangle 79">
            <a:extLst>
              <a:ext uri="{FF2B5EF4-FFF2-40B4-BE49-F238E27FC236}">
                <a16:creationId xmlns:a16="http://schemas.microsoft.com/office/drawing/2014/main" id="{5E1A3BC2-F951-0A93-8DC6-A67CDB689468}"/>
              </a:ext>
            </a:extLst>
          </p:cNvPr>
          <p:cNvSpPr/>
          <p:nvPr/>
        </p:nvSpPr>
        <p:spPr>
          <a:xfrm>
            <a:off x="2628256" y="3269902"/>
            <a:ext cx="1120155" cy="56590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🥱Peur de s’ennuyer, préjugés sur les activités (passives, </a:t>
            </a:r>
            <a:r>
              <a:rPr lang="fr-FR" sz="800" dirty="0" err="1">
                <a:solidFill>
                  <a:schemeClr val="tx1"/>
                </a:solidFill>
              </a:rPr>
              <a:t>etc</a:t>
            </a:r>
            <a:r>
              <a:rPr lang="fr-FR" sz="800" dirty="0">
                <a:solidFill>
                  <a:schemeClr val="tx1"/>
                </a:solidFill>
              </a:rPr>
              <a:t>)</a:t>
            </a:r>
          </a:p>
        </p:txBody>
      </p:sp>
      <p:sp>
        <p:nvSpPr>
          <p:cNvPr id="81" name="Rectangle 80">
            <a:extLst>
              <a:ext uri="{FF2B5EF4-FFF2-40B4-BE49-F238E27FC236}">
                <a16:creationId xmlns:a16="http://schemas.microsoft.com/office/drawing/2014/main" id="{4430475A-3D2B-4E27-7B93-A572F0CF807A}"/>
              </a:ext>
            </a:extLst>
          </p:cNvPr>
          <p:cNvSpPr/>
          <p:nvPr/>
        </p:nvSpPr>
        <p:spPr>
          <a:xfrm>
            <a:off x="1446007" y="3263727"/>
            <a:ext cx="1120155" cy="79406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😒Refus d’être mis sur un pied d’égalité concernant certains sujets (expertises historiques, etc.)</a:t>
            </a:r>
          </a:p>
        </p:txBody>
      </p:sp>
      <p:sp>
        <p:nvSpPr>
          <p:cNvPr id="82" name="Rectangle 81">
            <a:extLst>
              <a:ext uri="{FF2B5EF4-FFF2-40B4-BE49-F238E27FC236}">
                <a16:creationId xmlns:a16="http://schemas.microsoft.com/office/drawing/2014/main" id="{ABE783E1-28E5-FF14-F729-E67C71A530A1}"/>
              </a:ext>
            </a:extLst>
          </p:cNvPr>
          <p:cNvSpPr/>
          <p:nvPr/>
        </p:nvSpPr>
        <p:spPr>
          <a:xfrm>
            <a:off x="6183881" y="3263728"/>
            <a:ext cx="1120155" cy="56590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⌛Peur de perdre son temps dans du divertissement qui n’a pas de sens</a:t>
            </a:r>
          </a:p>
        </p:txBody>
      </p:sp>
      <p:sp>
        <p:nvSpPr>
          <p:cNvPr id="83" name="Rectangle 82">
            <a:extLst>
              <a:ext uri="{FF2B5EF4-FFF2-40B4-BE49-F238E27FC236}">
                <a16:creationId xmlns:a16="http://schemas.microsoft.com/office/drawing/2014/main" id="{3B4DDB4B-BAF8-6D63-06B9-CADFD3C43F72}"/>
              </a:ext>
            </a:extLst>
          </p:cNvPr>
          <p:cNvSpPr/>
          <p:nvPr/>
        </p:nvSpPr>
        <p:spPr>
          <a:xfrm>
            <a:off x="7372751" y="3265648"/>
            <a:ext cx="1100722" cy="776708"/>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🤨Peur de perdre son temps et son énergie dans quelque chose d’inutile pour son développement personnel</a:t>
            </a:r>
          </a:p>
        </p:txBody>
      </p:sp>
      <p:sp>
        <p:nvSpPr>
          <p:cNvPr id="84" name="Rectangle 83">
            <a:extLst>
              <a:ext uri="{FF2B5EF4-FFF2-40B4-BE49-F238E27FC236}">
                <a16:creationId xmlns:a16="http://schemas.microsoft.com/office/drawing/2014/main" id="{B71DB3E6-E492-B166-9C05-FB0F83FFEE37}"/>
              </a:ext>
            </a:extLst>
          </p:cNvPr>
          <p:cNvSpPr/>
          <p:nvPr/>
        </p:nvSpPr>
        <p:spPr>
          <a:xfrm>
            <a:off x="5001632" y="3885886"/>
            <a:ext cx="1120155" cy="56590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⛈️Peur des répercussions managériales en cas de participation</a:t>
            </a:r>
          </a:p>
        </p:txBody>
      </p:sp>
      <p:sp>
        <p:nvSpPr>
          <p:cNvPr id="85" name="Rectangle 84">
            <a:extLst>
              <a:ext uri="{FF2B5EF4-FFF2-40B4-BE49-F238E27FC236}">
                <a16:creationId xmlns:a16="http://schemas.microsoft.com/office/drawing/2014/main" id="{8E6BD50F-223C-796D-A7E5-348788B8F52E}"/>
              </a:ext>
            </a:extLst>
          </p:cNvPr>
          <p:cNvSpPr/>
          <p:nvPr/>
        </p:nvSpPr>
        <p:spPr>
          <a:xfrm>
            <a:off x="8540136" y="3264146"/>
            <a:ext cx="1120155" cy="65973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⌛Refus d’investir du temps libre considéré comme trop limité pour y mettre du travail</a:t>
            </a:r>
          </a:p>
        </p:txBody>
      </p:sp>
      <p:sp>
        <p:nvSpPr>
          <p:cNvPr id="86" name="Rectangle 85">
            <a:extLst>
              <a:ext uri="{FF2B5EF4-FFF2-40B4-BE49-F238E27FC236}">
                <a16:creationId xmlns:a16="http://schemas.microsoft.com/office/drawing/2014/main" id="{08F77274-F2DA-2F6B-D88E-EB0D2B83C1F4}"/>
              </a:ext>
            </a:extLst>
          </p:cNvPr>
          <p:cNvSpPr/>
          <p:nvPr/>
        </p:nvSpPr>
        <p:spPr>
          <a:xfrm>
            <a:off x="1446006" y="4111766"/>
            <a:ext cx="1120155" cy="1008938"/>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😎Refus de transmettre à d’autres membres des connaissances exclusives, qui génèrent actuellement de la reconnaissance</a:t>
            </a:r>
          </a:p>
        </p:txBody>
      </p:sp>
      <p:sp>
        <p:nvSpPr>
          <p:cNvPr id="87" name="Rectangle 86">
            <a:extLst>
              <a:ext uri="{FF2B5EF4-FFF2-40B4-BE49-F238E27FC236}">
                <a16:creationId xmlns:a16="http://schemas.microsoft.com/office/drawing/2014/main" id="{F5EF589A-362E-64F5-5648-650B8A6A18B2}"/>
              </a:ext>
            </a:extLst>
          </p:cNvPr>
          <p:cNvSpPr/>
          <p:nvPr/>
        </p:nvSpPr>
        <p:spPr>
          <a:xfrm>
            <a:off x="2628255" y="3888033"/>
            <a:ext cx="1120155" cy="56590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d’une malaisance sociale (nouvelles rencontres, obligations, etc.)</a:t>
            </a:r>
          </a:p>
        </p:txBody>
      </p:sp>
      <p:sp>
        <p:nvSpPr>
          <p:cNvPr id="88" name="Rectangle 87">
            <a:extLst>
              <a:ext uri="{FF2B5EF4-FFF2-40B4-BE49-F238E27FC236}">
                <a16:creationId xmlns:a16="http://schemas.microsoft.com/office/drawing/2014/main" id="{AC3F9492-9770-4B01-6338-2F313294D996}"/>
              </a:ext>
            </a:extLst>
          </p:cNvPr>
          <p:cNvSpPr/>
          <p:nvPr/>
        </p:nvSpPr>
        <p:spPr>
          <a:xfrm>
            <a:off x="8533667" y="3975216"/>
            <a:ext cx="1120155" cy="68241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Crainte d’une prise d’engagement trop élevée si acceptation de participer</a:t>
            </a:r>
          </a:p>
        </p:txBody>
      </p:sp>
      <p:sp>
        <p:nvSpPr>
          <p:cNvPr id="89" name="Rectangle 88">
            <a:extLst>
              <a:ext uri="{FF2B5EF4-FFF2-40B4-BE49-F238E27FC236}">
                <a16:creationId xmlns:a16="http://schemas.microsoft.com/office/drawing/2014/main" id="{AD1BEEAA-1D69-5EC2-3E23-383476A1B193}"/>
              </a:ext>
            </a:extLst>
          </p:cNvPr>
          <p:cNvSpPr/>
          <p:nvPr/>
        </p:nvSpPr>
        <p:spPr>
          <a:xfrm>
            <a:off x="3810503" y="4225815"/>
            <a:ext cx="1089349" cy="71446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d’une prise d’engagement trop élevée et gêne de ne pas pouvoir participer à tout</a:t>
            </a:r>
          </a:p>
        </p:txBody>
      </p:sp>
      <p:sp>
        <p:nvSpPr>
          <p:cNvPr id="90" name="Rectangle 89">
            <a:extLst>
              <a:ext uri="{FF2B5EF4-FFF2-40B4-BE49-F238E27FC236}">
                <a16:creationId xmlns:a16="http://schemas.microsoft.com/office/drawing/2014/main" id="{430C31A7-2994-30D9-A496-64E685007CDF}"/>
              </a:ext>
            </a:extLst>
          </p:cNvPr>
          <p:cNvSpPr/>
          <p:nvPr/>
        </p:nvSpPr>
        <p:spPr>
          <a:xfrm>
            <a:off x="254880" y="3276315"/>
            <a:ext cx="1120155" cy="56590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💰Incapacité ou refus de financer une cotisation ou des activités</a:t>
            </a:r>
          </a:p>
        </p:txBody>
      </p:sp>
      <p:sp>
        <p:nvSpPr>
          <p:cNvPr id="91" name="Rectangle 90">
            <a:extLst>
              <a:ext uri="{FF2B5EF4-FFF2-40B4-BE49-F238E27FC236}">
                <a16:creationId xmlns:a16="http://schemas.microsoft.com/office/drawing/2014/main" id="{80150B58-FFC0-E8FB-CFBE-65A257113C72}"/>
              </a:ext>
            </a:extLst>
          </p:cNvPr>
          <p:cNvSpPr/>
          <p:nvPr/>
        </p:nvSpPr>
        <p:spPr>
          <a:xfrm>
            <a:off x="1440526" y="5174674"/>
            <a:ext cx="1120155" cy="456161"/>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d’exposer des difficultés devant des inconnus</a:t>
            </a:r>
          </a:p>
        </p:txBody>
      </p:sp>
      <p:sp>
        <p:nvSpPr>
          <p:cNvPr id="92" name="Rectangle 91">
            <a:extLst>
              <a:ext uri="{FF2B5EF4-FFF2-40B4-BE49-F238E27FC236}">
                <a16:creationId xmlns:a16="http://schemas.microsoft.com/office/drawing/2014/main" id="{3814AD1E-7862-9668-2373-C6D5B4276EF4}"/>
              </a:ext>
            </a:extLst>
          </p:cNvPr>
          <p:cNvSpPr/>
          <p:nvPr/>
        </p:nvSpPr>
        <p:spPr>
          <a:xfrm>
            <a:off x="1446006" y="5677468"/>
            <a:ext cx="1120155" cy="715598"/>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des effets de réputation liés à une participation à certaines Communautés</a:t>
            </a:r>
          </a:p>
        </p:txBody>
      </p:sp>
      <p:sp>
        <p:nvSpPr>
          <p:cNvPr id="93" name="Rectangle 92">
            <a:extLst>
              <a:ext uri="{FF2B5EF4-FFF2-40B4-BE49-F238E27FC236}">
                <a16:creationId xmlns:a16="http://schemas.microsoft.com/office/drawing/2014/main" id="{BA091626-B579-D4E2-856D-D91DC7E5476E}"/>
              </a:ext>
            </a:extLst>
          </p:cNvPr>
          <p:cNvSpPr/>
          <p:nvPr/>
        </p:nvSpPr>
        <p:spPr>
          <a:xfrm>
            <a:off x="2630195" y="4485389"/>
            <a:ext cx="1120155" cy="72831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ne pas faire d’activités qui permettent de respirer du quotidien , crainte de fatigue</a:t>
            </a:r>
          </a:p>
        </p:txBody>
      </p:sp>
      <p:sp>
        <p:nvSpPr>
          <p:cNvPr id="95" name="Rectangle 94">
            <a:extLst>
              <a:ext uri="{FF2B5EF4-FFF2-40B4-BE49-F238E27FC236}">
                <a16:creationId xmlns:a16="http://schemas.microsoft.com/office/drawing/2014/main" id="{5C69C638-DC6A-CBE1-A172-39B2A147D161}"/>
              </a:ext>
            </a:extLst>
          </p:cNvPr>
          <p:cNvSpPr/>
          <p:nvPr/>
        </p:nvSpPr>
        <p:spPr>
          <a:xfrm>
            <a:off x="6190501" y="3883452"/>
            <a:ext cx="1120155" cy="56590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🙅Sentiment de désalignement avec la raison d’être de la Communauté</a:t>
            </a:r>
          </a:p>
        </p:txBody>
      </p:sp>
      <p:sp>
        <p:nvSpPr>
          <p:cNvPr id="96" name="Rectangle 95">
            <a:extLst>
              <a:ext uri="{FF2B5EF4-FFF2-40B4-BE49-F238E27FC236}">
                <a16:creationId xmlns:a16="http://schemas.microsoft.com/office/drawing/2014/main" id="{88077C5F-4249-CB51-A10D-2FC1843CF57D}"/>
              </a:ext>
            </a:extLst>
          </p:cNvPr>
          <p:cNvSpPr/>
          <p:nvPr/>
        </p:nvSpPr>
        <p:spPr>
          <a:xfrm>
            <a:off x="254879" y="3904831"/>
            <a:ext cx="1120155" cy="1008938"/>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🎯Perception de manque d’alignement entre objectifs individuels matériels (ex: objectifs annuels) et activités de la Communauté</a:t>
            </a:r>
          </a:p>
        </p:txBody>
      </p:sp>
      <p:sp>
        <p:nvSpPr>
          <p:cNvPr id="97" name="Rectangle 96">
            <a:extLst>
              <a:ext uri="{FF2B5EF4-FFF2-40B4-BE49-F238E27FC236}">
                <a16:creationId xmlns:a16="http://schemas.microsoft.com/office/drawing/2014/main" id="{9652F4A3-5F5C-31B4-266B-4328DDBAD32F}"/>
              </a:ext>
            </a:extLst>
          </p:cNvPr>
          <p:cNvSpPr/>
          <p:nvPr/>
        </p:nvSpPr>
        <p:spPr>
          <a:xfrm>
            <a:off x="3804117" y="4971450"/>
            <a:ext cx="1089349" cy="66565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🤝Refus d’un niveau de proximité relationnelle associé aux activités communautaires</a:t>
            </a:r>
          </a:p>
        </p:txBody>
      </p:sp>
      <p:sp>
        <p:nvSpPr>
          <p:cNvPr id="98" name="Rectangle 97">
            <a:extLst>
              <a:ext uri="{FF2B5EF4-FFF2-40B4-BE49-F238E27FC236}">
                <a16:creationId xmlns:a16="http://schemas.microsoft.com/office/drawing/2014/main" id="{0A90738A-3C24-FB34-EEBD-0B9BC9689CD8}"/>
              </a:ext>
            </a:extLst>
          </p:cNvPr>
          <p:cNvSpPr/>
          <p:nvPr/>
        </p:nvSpPr>
        <p:spPr>
          <a:xfrm>
            <a:off x="8532740" y="4719450"/>
            <a:ext cx="1120155" cy="714463"/>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Refus d’une étiquette ou de responsabilité limitant les possibilités d’une posture « électron libre »</a:t>
            </a:r>
          </a:p>
        </p:txBody>
      </p:sp>
      <p:sp>
        <p:nvSpPr>
          <p:cNvPr id="99" name="Rectangle 98">
            <a:extLst>
              <a:ext uri="{FF2B5EF4-FFF2-40B4-BE49-F238E27FC236}">
                <a16:creationId xmlns:a16="http://schemas.microsoft.com/office/drawing/2014/main" id="{6578938A-7DB0-AC00-D043-5C841AC30029}"/>
              </a:ext>
            </a:extLst>
          </p:cNvPr>
          <p:cNvSpPr/>
          <p:nvPr/>
        </p:nvSpPr>
        <p:spPr>
          <a:xfrm>
            <a:off x="7380707" y="4075777"/>
            <a:ext cx="1100722" cy="585791"/>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👶Perception de la Communauté comme étant dédiée surtout à des débutants</a:t>
            </a:r>
          </a:p>
        </p:txBody>
      </p:sp>
      <p:sp>
        <p:nvSpPr>
          <p:cNvPr id="101" name="Rectangle 100">
            <a:extLst>
              <a:ext uri="{FF2B5EF4-FFF2-40B4-BE49-F238E27FC236}">
                <a16:creationId xmlns:a16="http://schemas.microsoft.com/office/drawing/2014/main" id="{82E97221-B610-E9D4-25B8-C706216F8075}"/>
              </a:ext>
            </a:extLst>
          </p:cNvPr>
          <p:cNvSpPr/>
          <p:nvPr/>
        </p:nvSpPr>
        <p:spPr>
          <a:xfrm>
            <a:off x="6190501" y="4518405"/>
            <a:ext cx="1120155" cy="565903"/>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ne pas avoir d’impact réel ou visible via la Communauté</a:t>
            </a:r>
          </a:p>
        </p:txBody>
      </p:sp>
      <p:sp>
        <p:nvSpPr>
          <p:cNvPr id="102" name="Rectangle 101">
            <a:extLst>
              <a:ext uri="{FF2B5EF4-FFF2-40B4-BE49-F238E27FC236}">
                <a16:creationId xmlns:a16="http://schemas.microsoft.com/office/drawing/2014/main" id="{E4856C10-5A3D-5028-CEE7-A12384A4FCF3}"/>
              </a:ext>
            </a:extLst>
          </p:cNvPr>
          <p:cNvSpPr/>
          <p:nvPr/>
        </p:nvSpPr>
        <p:spPr>
          <a:xfrm>
            <a:off x="6183880" y="5114419"/>
            <a:ext cx="1120155" cy="56590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ne pas avoir les compétences de contribuer malgré l’intention</a:t>
            </a:r>
          </a:p>
        </p:txBody>
      </p:sp>
      <p:sp>
        <p:nvSpPr>
          <p:cNvPr id="103" name="Rectangle 102">
            <a:extLst>
              <a:ext uri="{FF2B5EF4-FFF2-40B4-BE49-F238E27FC236}">
                <a16:creationId xmlns:a16="http://schemas.microsoft.com/office/drawing/2014/main" id="{5A6F77A9-EA7A-CD2A-5836-E4E869ACE85D}"/>
              </a:ext>
            </a:extLst>
          </p:cNvPr>
          <p:cNvSpPr/>
          <p:nvPr/>
        </p:nvSpPr>
        <p:spPr>
          <a:xfrm>
            <a:off x="9719558" y="3263727"/>
            <a:ext cx="1120155" cy="90913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Sentiment de perte de significativité, de dilution ou d’effacement dans l’aspect collégial de la Communauté</a:t>
            </a:r>
          </a:p>
        </p:txBody>
      </p:sp>
      <p:sp>
        <p:nvSpPr>
          <p:cNvPr id="104" name="Rectangle 103">
            <a:extLst>
              <a:ext uri="{FF2B5EF4-FFF2-40B4-BE49-F238E27FC236}">
                <a16:creationId xmlns:a16="http://schemas.microsoft.com/office/drawing/2014/main" id="{81C58584-F112-1118-731F-36883127F381}"/>
              </a:ext>
            </a:extLst>
          </p:cNvPr>
          <p:cNvSpPr/>
          <p:nvPr/>
        </p:nvSpPr>
        <p:spPr>
          <a:xfrm>
            <a:off x="3807779" y="5677468"/>
            <a:ext cx="1089349" cy="390795"/>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s’isoler dans une Communauté</a:t>
            </a:r>
          </a:p>
        </p:txBody>
      </p:sp>
      <p:sp>
        <p:nvSpPr>
          <p:cNvPr id="105" name="Rectangle 104">
            <a:extLst>
              <a:ext uri="{FF2B5EF4-FFF2-40B4-BE49-F238E27FC236}">
                <a16:creationId xmlns:a16="http://schemas.microsoft.com/office/drawing/2014/main" id="{0A3B042B-BA0F-015D-AA61-C80937E059BD}"/>
              </a:ext>
            </a:extLst>
          </p:cNvPr>
          <p:cNvSpPr/>
          <p:nvPr/>
        </p:nvSpPr>
        <p:spPr>
          <a:xfrm>
            <a:off x="3805645" y="6094039"/>
            <a:ext cx="1089350" cy="67429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🙅Refus de « relations professionnelles de surface » dans une Communauté</a:t>
            </a:r>
          </a:p>
        </p:txBody>
      </p:sp>
      <p:sp>
        <p:nvSpPr>
          <p:cNvPr id="106" name="Rectangle 105">
            <a:extLst>
              <a:ext uri="{FF2B5EF4-FFF2-40B4-BE49-F238E27FC236}">
                <a16:creationId xmlns:a16="http://schemas.microsoft.com/office/drawing/2014/main" id="{9BAB76CE-1D5B-FFA7-A588-8DF8E0867DF8}"/>
              </a:ext>
            </a:extLst>
          </p:cNvPr>
          <p:cNvSpPr/>
          <p:nvPr/>
        </p:nvSpPr>
        <p:spPr>
          <a:xfrm>
            <a:off x="8532740" y="5478238"/>
            <a:ext cx="1120155" cy="874595"/>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Crainte que les contraintes de mise en commun limitent la liberté individuelle sur certains sujets (ex: choix des formations, des horaires…)</a:t>
            </a:r>
          </a:p>
        </p:txBody>
      </p:sp>
      <p:sp>
        <p:nvSpPr>
          <p:cNvPr id="107" name="Rectangle 106">
            <a:extLst>
              <a:ext uri="{FF2B5EF4-FFF2-40B4-BE49-F238E27FC236}">
                <a16:creationId xmlns:a16="http://schemas.microsoft.com/office/drawing/2014/main" id="{CCA616F4-83B5-079D-D067-6910567979A1}"/>
              </a:ext>
            </a:extLst>
          </p:cNvPr>
          <p:cNvSpPr/>
          <p:nvPr/>
        </p:nvSpPr>
        <p:spPr>
          <a:xfrm>
            <a:off x="7372750" y="5329565"/>
            <a:ext cx="1100722" cy="874595"/>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☹️Méconnaissance, sous-estimation, ou attentes trop fortes  de l’apport d’une Communauté au développement individuel</a:t>
            </a:r>
          </a:p>
        </p:txBody>
      </p:sp>
      <p:sp>
        <p:nvSpPr>
          <p:cNvPr id="108" name="Rectangle 107">
            <a:extLst>
              <a:ext uri="{FF2B5EF4-FFF2-40B4-BE49-F238E27FC236}">
                <a16:creationId xmlns:a16="http://schemas.microsoft.com/office/drawing/2014/main" id="{113A9EC5-98AA-E32F-BF54-97CE6FCFB5C1}"/>
              </a:ext>
            </a:extLst>
          </p:cNvPr>
          <p:cNvSpPr/>
          <p:nvPr/>
        </p:nvSpPr>
        <p:spPr>
          <a:xfrm>
            <a:off x="5008252" y="4499445"/>
            <a:ext cx="1120155" cy="1014083"/>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🔥Sentiment de ne pas pouvoir investir sur du long terme (activités communautaires) cause d’urgences actuelles court terme (du quotidien)</a:t>
            </a:r>
          </a:p>
        </p:txBody>
      </p:sp>
      <p:sp>
        <p:nvSpPr>
          <p:cNvPr id="109" name="Rectangle 108">
            <a:extLst>
              <a:ext uri="{FF2B5EF4-FFF2-40B4-BE49-F238E27FC236}">
                <a16:creationId xmlns:a16="http://schemas.microsoft.com/office/drawing/2014/main" id="{4C8E27EB-2E7A-310C-F3D5-B45C5E41515E}"/>
              </a:ext>
            </a:extLst>
          </p:cNvPr>
          <p:cNvSpPr/>
          <p:nvPr/>
        </p:nvSpPr>
        <p:spPr>
          <a:xfrm>
            <a:off x="2628255" y="5245156"/>
            <a:ext cx="1120155" cy="91677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d’injustice ou d’ingratitude quant à l’effort de contribution (donner beaucoup plus et recevoir beaucoup moins que les autres)</a:t>
            </a:r>
          </a:p>
        </p:txBody>
      </p:sp>
      <p:sp>
        <p:nvSpPr>
          <p:cNvPr id="45" name="Rectangle 44">
            <a:extLst>
              <a:ext uri="{FF2B5EF4-FFF2-40B4-BE49-F238E27FC236}">
                <a16:creationId xmlns:a16="http://schemas.microsoft.com/office/drawing/2014/main" id="{8F248213-56C4-043B-31D6-338ECC032A8D}"/>
              </a:ext>
            </a:extLst>
          </p:cNvPr>
          <p:cNvSpPr/>
          <p:nvPr/>
        </p:nvSpPr>
        <p:spPr>
          <a:xfrm>
            <a:off x="3807780" y="3675643"/>
            <a:ext cx="1092072" cy="509806"/>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😤Mauvaises relations existantes avec certains membres</a:t>
            </a:r>
          </a:p>
        </p:txBody>
      </p:sp>
      <p:sp>
        <p:nvSpPr>
          <p:cNvPr id="46" name="Rectangle 45">
            <a:extLst>
              <a:ext uri="{FF2B5EF4-FFF2-40B4-BE49-F238E27FC236}">
                <a16:creationId xmlns:a16="http://schemas.microsoft.com/office/drawing/2014/main" id="{5B4599F5-CBB6-EC1A-A022-C4C539A73CC8}"/>
              </a:ext>
            </a:extLst>
          </p:cNvPr>
          <p:cNvSpPr/>
          <p:nvPr/>
        </p:nvSpPr>
        <p:spPr>
          <a:xfrm>
            <a:off x="5008252" y="5562552"/>
            <a:ext cx="1120155" cy="56590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📝Blocage administratif (lignes de budget, </a:t>
            </a:r>
            <a:r>
              <a:rPr lang="fr-FR" sz="800" dirty="0" err="1">
                <a:solidFill>
                  <a:schemeClr val="tx1"/>
                </a:solidFill>
              </a:rPr>
              <a:t>etc</a:t>
            </a:r>
            <a:r>
              <a:rPr lang="fr-FR" sz="800" dirty="0">
                <a:solidFill>
                  <a:schemeClr val="tx1"/>
                </a:solidFill>
              </a:rPr>
              <a:t>) et complications</a:t>
            </a:r>
          </a:p>
        </p:txBody>
      </p:sp>
      <p:sp>
        <p:nvSpPr>
          <p:cNvPr id="47" name="Rectangle 46">
            <a:extLst>
              <a:ext uri="{FF2B5EF4-FFF2-40B4-BE49-F238E27FC236}">
                <a16:creationId xmlns:a16="http://schemas.microsoft.com/office/drawing/2014/main" id="{0D88A8DB-8E52-FB64-B611-A83CDC21E0FB}"/>
              </a:ext>
            </a:extLst>
          </p:cNvPr>
          <p:cNvSpPr/>
          <p:nvPr/>
        </p:nvSpPr>
        <p:spPr>
          <a:xfrm>
            <a:off x="5008252" y="6177478"/>
            <a:ext cx="1120155" cy="388265"/>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📅Blocage logistique (créneau horaire, </a:t>
            </a:r>
            <a:r>
              <a:rPr lang="fr-FR" sz="800" dirty="0" err="1">
                <a:solidFill>
                  <a:schemeClr val="tx1"/>
                </a:solidFill>
              </a:rPr>
              <a:t>etc</a:t>
            </a:r>
            <a:r>
              <a:rPr lang="fr-FR" sz="800" dirty="0">
                <a:solidFill>
                  <a:schemeClr val="tx1"/>
                </a:solidFill>
              </a:rPr>
              <a:t>)</a:t>
            </a:r>
          </a:p>
        </p:txBody>
      </p:sp>
      <p:sp>
        <p:nvSpPr>
          <p:cNvPr id="48" name="Rectangle 47">
            <a:extLst>
              <a:ext uri="{FF2B5EF4-FFF2-40B4-BE49-F238E27FC236}">
                <a16:creationId xmlns:a16="http://schemas.microsoft.com/office/drawing/2014/main" id="{5C2D8475-458E-DB67-A84C-A71C0575E457}"/>
              </a:ext>
            </a:extLst>
          </p:cNvPr>
          <p:cNvSpPr/>
          <p:nvPr/>
        </p:nvSpPr>
        <p:spPr>
          <a:xfrm>
            <a:off x="2619950" y="6183711"/>
            <a:ext cx="1120155" cy="67428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🤝Méconnaissance de l’apport d’un collectif par rapport à une approche individuelle</a:t>
            </a:r>
          </a:p>
        </p:txBody>
      </p:sp>
      <p:sp>
        <p:nvSpPr>
          <p:cNvPr id="49" name="Rectangle 48">
            <a:extLst>
              <a:ext uri="{FF2B5EF4-FFF2-40B4-BE49-F238E27FC236}">
                <a16:creationId xmlns:a16="http://schemas.microsoft.com/office/drawing/2014/main" id="{6641D6E7-91DA-63AE-A8B2-845D7BADCA8B}"/>
              </a:ext>
            </a:extLst>
          </p:cNvPr>
          <p:cNvSpPr/>
          <p:nvPr/>
        </p:nvSpPr>
        <p:spPr>
          <a:xfrm>
            <a:off x="6185642" y="5724173"/>
            <a:ext cx="1120155" cy="1044155"/>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🤔Manque de confiance en l’entreprise  pour l’impact positif</a:t>
            </a:r>
          </a:p>
          <a:p>
            <a:pPr algn="ctr"/>
            <a:r>
              <a:rPr lang="fr-FR" sz="800" dirty="0">
                <a:solidFill>
                  <a:schemeClr val="tx1"/>
                </a:solidFill>
              </a:rPr>
              <a:t>(conflit d’intérêts, …) par rapport à une approche personnelle privée</a:t>
            </a:r>
          </a:p>
        </p:txBody>
      </p:sp>
      <p:grpSp>
        <p:nvGrpSpPr>
          <p:cNvPr id="50" name="Groupe 49">
            <a:extLst>
              <a:ext uri="{FF2B5EF4-FFF2-40B4-BE49-F238E27FC236}">
                <a16:creationId xmlns:a16="http://schemas.microsoft.com/office/drawing/2014/main" id="{71D7620C-0310-FCF1-DC7D-D06A9E6D577E}"/>
              </a:ext>
            </a:extLst>
          </p:cNvPr>
          <p:cNvGrpSpPr/>
          <p:nvPr/>
        </p:nvGrpSpPr>
        <p:grpSpPr>
          <a:xfrm>
            <a:off x="254879" y="503219"/>
            <a:ext cx="1004893" cy="847205"/>
            <a:chOff x="8982504" y="3274976"/>
            <a:chExt cx="1230670" cy="1037553"/>
          </a:xfrm>
          <a:solidFill>
            <a:srgbClr val="ED7D31"/>
          </a:solidFill>
        </p:grpSpPr>
        <p:pic>
          <p:nvPicPr>
            <p:cNvPr id="51" name="Graphique 50" descr="Utilisateur avec un remplissage uni">
              <a:extLst>
                <a:ext uri="{FF2B5EF4-FFF2-40B4-BE49-F238E27FC236}">
                  <a16:creationId xmlns:a16="http://schemas.microsoft.com/office/drawing/2014/main" id="{FC437C24-B215-7321-97F6-BC93F62D954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01028" y="3274976"/>
              <a:ext cx="336064" cy="336064"/>
            </a:xfrm>
            <a:prstGeom prst="rect">
              <a:avLst/>
            </a:prstGeom>
          </p:spPr>
        </p:pic>
        <p:pic>
          <p:nvPicPr>
            <p:cNvPr id="52" name="Graphique 51" descr="Utilisateur avec un remplissage uni">
              <a:extLst>
                <a:ext uri="{FF2B5EF4-FFF2-40B4-BE49-F238E27FC236}">
                  <a16:creationId xmlns:a16="http://schemas.microsoft.com/office/drawing/2014/main" id="{F40BB642-342D-B3BF-1E4C-C3EEB475F56E}"/>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54140" y="3512720"/>
              <a:ext cx="336064" cy="336064"/>
            </a:xfrm>
            <a:prstGeom prst="rect">
              <a:avLst/>
            </a:prstGeom>
          </p:spPr>
        </p:pic>
        <p:pic>
          <p:nvPicPr>
            <p:cNvPr id="53" name="Graphique 52" descr="Utilisateur avec un remplissage uni">
              <a:extLst>
                <a:ext uri="{FF2B5EF4-FFF2-40B4-BE49-F238E27FC236}">
                  <a16:creationId xmlns:a16="http://schemas.microsoft.com/office/drawing/2014/main" id="{B7491FED-941C-88F8-B843-1AB5A7448BD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45616" y="3561880"/>
              <a:ext cx="336064" cy="336064"/>
            </a:xfrm>
            <a:prstGeom prst="rect">
              <a:avLst/>
            </a:prstGeom>
          </p:spPr>
        </p:pic>
        <p:pic>
          <p:nvPicPr>
            <p:cNvPr id="54" name="Graphique 53" descr="Utilisateur avec un remplissage uni">
              <a:extLst>
                <a:ext uri="{FF2B5EF4-FFF2-40B4-BE49-F238E27FC236}">
                  <a16:creationId xmlns:a16="http://schemas.microsoft.com/office/drawing/2014/main" id="{37752C6A-E354-DBE2-91BB-417928ED429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92504" y="3418428"/>
              <a:ext cx="336064" cy="336064"/>
            </a:xfrm>
            <a:prstGeom prst="rect">
              <a:avLst/>
            </a:prstGeom>
          </p:spPr>
        </p:pic>
        <p:pic>
          <p:nvPicPr>
            <p:cNvPr id="56" name="Graphique 55" descr="Utilisateur avec un remplissage uni">
              <a:extLst>
                <a:ext uri="{FF2B5EF4-FFF2-40B4-BE49-F238E27FC236}">
                  <a16:creationId xmlns:a16="http://schemas.microsoft.com/office/drawing/2014/main" id="{31BE684F-0DB5-B58C-B9DC-73AE9B2D522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635196" y="3680752"/>
              <a:ext cx="336064" cy="336064"/>
            </a:xfrm>
            <a:prstGeom prst="rect">
              <a:avLst/>
            </a:prstGeom>
          </p:spPr>
        </p:pic>
        <p:pic>
          <p:nvPicPr>
            <p:cNvPr id="57" name="Graphique 56" descr="Utilisateur avec un remplissage uni">
              <a:extLst>
                <a:ext uri="{FF2B5EF4-FFF2-40B4-BE49-F238E27FC236}">
                  <a16:creationId xmlns:a16="http://schemas.microsoft.com/office/drawing/2014/main" id="{D2948BE0-488C-B5FE-DCC2-DD72B625E92E}"/>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256440" y="3848784"/>
              <a:ext cx="336064" cy="336064"/>
            </a:xfrm>
            <a:prstGeom prst="rect">
              <a:avLst/>
            </a:prstGeom>
          </p:spPr>
        </p:pic>
        <p:pic>
          <p:nvPicPr>
            <p:cNvPr id="58" name="Graphique 57" descr="Utilisateur avec un remplissage uni">
              <a:extLst>
                <a:ext uri="{FF2B5EF4-FFF2-40B4-BE49-F238E27FC236}">
                  <a16:creationId xmlns:a16="http://schemas.microsoft.com/office/drawing/2014/main" id="{E9F6E718-290D-543E-4E3E-14BFB6A9A7A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82504" y="3835028"/>
              <a:ext cx="336064" cy="336064"/>
            </a:xfrm>
            <a:prstGeom prst="rect">
              <a:avLst/>
            </a:prstGeom>
          </p:spPr>
        </p:pic>
        <p:pic>
          <p:nvPicPr>
            <p:cNvPr id="59" name="Graphique 58" descr="Utilisateur avec un remplissage uni">
              <a:extLst>
                <a:ext uri="{FF2B5EF4-FFF2-40B4-BE49-F238E27FC236}">
                  <a16:creationId xmlns:a16="http://schemas.microsoft.com/office/drawing/2014/main" id="{702501F4-093D-4504-C889-C5370617ED4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0868" y="3943076"/>
              <a:ext cx="336064" cy="336064"/>
            </a:xfrm>
            <a:prstGeom prst="rect">
              <a:avLst/>
            </a:prstGeom>
          </p:spPr>
        </p:pic>
        <p:pic>
          <p:nvPicPr>
            <p:cNvPr id="60" name="Graphique 59" descr="Utilisateur avec un remplissage uni">
              <a:extLst>
                <a:ext uri="{FF2B5EF4-FFF2-40B4-BE49-F238E27FC236}">
                  <a16:creationId xmlns:a16="http://schemas.microsoft.com/office/drawing/2014/main" id="{B814ADD3-987F-47C2-3C22-2775CC79A60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42772" y="3976465"/>
              <a:ext cx="336064" cy="336064"/>
            </a:xfrm>
            <a:prstGeom prst="rect">
              <a:avLst/>
            </a:prstGeom>
          </p:spPr>
        </p:pic>
        <p:pic>
          <p:nvPicPr>
            <p:cNvPr id="61" name="Graphique 60" descr="Utilisateur avec un remplissage uni">
              <a:extLst>
                <a:ext uri="{FF2B5EF4-FFF2-40B4-BE49-F238E27FC236}">
                  <a16:creationId xmlns:a16="http://schemas.microsoft.com/office/drawing/2014/main" id="{6814C550-AE49-8BB8-E8D6-13F72C26A08C}"/>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77110" y="3705332"/>
              <a:ext cx="336064" cy="336064"/>
            </a:xfrm>
            <a:prstGeom prst="rect">
              <a:avLst/>
            </a:prstGeom>
          </p:spPr>
        </p:pic>
        <p:pic>
          <p:nvPicPr>
            <p:cNvPr id="62" name="Graphique 61" descr="Utilisateur avec un remplissage uni">
              <a:extLst>
                <a:ext uri="{FF2B5EF4-FFF2-40B4-BE49-F238E27FC236}">
                  <a16:creationId xmlns:a16="http://schemas.microsoft.com/office/drawing/2014/main" id="{52E4C2E1-BCF7-7096-D6B3-0B041846C52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56932" y="3429000"/>
              <a:ext cx="336064" cy="336064"/>
            </a:xfrm>
            <a:prstGeom prst="rect">
              <a:avLst/>
            </a:prstGeom>
          </p:spPr>
        </p:pic>
      </p:grpSp>
      <p:sp>
        <p:nvSpPr>
          <p:cNvPr id="63" name="Rectangle 62">
            <a:extLst>
              <a:ext uri="{FF2B5EF4-FFF2-40B4-BE49-F238E27FC236}">
                <a16:creationId xmlns:a16="http://schemas.microsoft.com/office/drawing/2014/main" id="{57020A86-F387-A0F7-36DE-874CAC1DED3F}"/>
              </a:ext>
            </a:extLst>
          </p:cNvPr>
          <p:cNvSpPr/>
          <p:nvPr/>
        </p:nvSpPr>
        <p:spPr>
          <a:xfrm>
            <a:off x="7372750" y="4697556"/>
            <a:ext cx="1100722" cy="585791"/>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🤯Perception de la Communauté comme étant dédiée surtout à des experts inaccessibles</a:t>
            </a:r>
          </a:p>
        </p:txBody>
      </p:sp>
      <p:sp>
        <p:nvSpPr>
          <p:cNvPr id="64" name="Rectangle 63">
            <a:extLst>
              <a:ext uri="{FF2B5EF4-FFF2-40B4-BE49-F238E27FC236}">
                <a16:creationId xmlns:a16="http://schemas.microsoft.com/office/drawing/2014/main" id="{E50C0A74-1BD6-F223-7A66-01E0B56CF1C9}"/>
              </a:ext>
            </a:extLst>
          </p:cNvPr>
          <p:cNvSpPr/>
          <p:nvPr/>
        </p:nvSpPr>
        <p:spPr>
          <a:xfrm>
            <a:off x="9719558" y="4194413"/>
            <a:ext cx="1120155" cy="76445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Frustration de ne pas être à l’origine des créations ou de ne pas être impliqué dans la conception de la Communauté</a:t>
            </a:r>
          </a:p>
        </p:txBody>
      </p:sp>
      <p:sp>
        <p:nvSpPr>
          <p:cNvPr id="65" name="Rectangle 64">
            <a:extLst>
              <a:ext uri="{FF2B5EF4-FFF2-40B4-BE49-F238E27FC236}">
                <a16:creationId xmlns:a16="http://schemas.microsoft.com/office/drawing/2014/main" id="{4B1EA34B-3819-C37E-92F6-15F3DB0FBC85}"/>
              </a:ext>
            </a:extLst>
          </p:cNvPr>
          <p:cNvSpPr/>
          <p:nvPr/>
        </p:nvSpPr>
        <p:spPr>
          <a:xfrm>
            <a:off x="248258" y="4961940"/>
            <a:ext cx="1120155" cy="820046"/>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🙅Refus de partager des gains en Communauté (recherche individuelle privilégiée)</a:t>
            </a:r>
          </a:p>
        </p:txBody>
      </p:sp>
      <p:sp>
        <p:nvSpPr>
          <p:cNvPr id="66" name="Rectangle 65">
            <a:extLst>
              <a:ext uri="{FF2B5EF4-FFF2-40B4-BE49-F238E27FC236}">
                <a16:creationId xmlns:a16="http://schemas.microsoft.com/office/drawing/2014/main" id="{C97B7437-2220-DE99-2738-932351A71AA6}"/>
              </a:ext>
            </a:extLst>
          </p:cNvPr>
          <p:cNvSpPr/>
          <p:nvPr/>
        </p:nvSpPr>
        <p:spPr>
          <a:xfrm>
            <a:off x="10888994" y="3259827"/>
            <a:ext cx="1070763" cy="83163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📧Sollicitation pas vue ou diluée dans une très grande masse d’information</a:t>
            </a:r>
          </a:p>
        </p:txBody>
      </p:sp>
      <p:sp>
        <p:nvSpPr>
          <p:cNvPr id="67" name="Rectangle 66">
            <a:extLst>
              <a:ext uri="{FF2B5EF4-FFF2-40B4-BE49-F238E27FC236}">
                <a16:creationId xmlns:a16="http://schemas.microsoft.com/office/drawing/2014/main" id="{02229EF1-952E-59C7-18EC-35E71E2E698F}"/>
              </a:ext>
            </a:extLst>
          </p:cNvPr>
          <p:cNvSpPr/>
          <p:nvPr/>
        </p:nvSpPr>
        <p:spPr>
          <a:xfrm>
            <a:off x="10903912" y="4134761"/>
            <a:ext cx="1054758" cy="561453"/>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🚷Effet de saturation : manque de place, de disponibilité mentale</a:t>
            </a:r>
          </a:p>
        </p:txBody>
      </p:sp>
      <p:sp>
        <p:nvSpPr>
          <p:cNvPr id="68" name="Rectangle 67">
            <a:extLst>
              <a:ext uri="{FF2B5EF4-FFF2-40B4-BE49-F238E27FC236}">
                <a16:creationId xmlns:a16="http://schemas.microsoft.com/office/drawing/2014/main" id="{9E664516-425A-C712-6399-F36CE3C206B3}"/>
              </a:ext>
            </a:extLst>
          </p:cNvPr>
          <p:cNvSpPr/>
          <p:nvPr/>
        </p:nvSpPr>
        <p:spPr>
          <a:xfrm>
            <a:off x="10896452" y="4747805"/>
            <a:ext cx="1054758" cy="79444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📅Contraintes logistiques (exemple : localisations différentes, fuseau horaires différents)</a:t>
            </a:r>
          </a:p>
        </p:txBody>
      </p:sp>
    </p:spTree>
    <p:extLst>
      <p:ext uri="{BB962C8B-B14F-4D97-AF65-F5344CB8AC3E}">
        <p14:creationId xmlns:p14="http://schemas.microsoft.com/office/powerpoint/2010/main" val="4100938622"/>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1216616" y="365125"/>
            <a:ext cx="10137183" cy="906763"/>
          </a:xfrm>
        </p:spPr>
        <p:txBody>
          <a:bodyPr>
            <a:noAutofit/>
          </a:bodyPr>
          <a:lstStyle/>
          <a:p>
            <a:r>
              <a:rPr lang="fr-FR" sz="2800" dirty="0"/>
              <a:t>Les réponses aux blocages d’engagement des membres – Liste d’exemples</a:t>
            </a:r>
            <a:br>
              <a:rPr lang="fr-FR" sz="2800" dirty="0"/>
            </a:br>
            <a:r>
              <a:rPr lang="fr-FR" sz="1400" dirty="0"/>
              <a:t>📅Evènements  , ✍️Contenus, ⚙️Structuration de Communauté</a:t>
            </a:r>
            <a:endParaRPr lang="fr-FR" sz="2800" dirty="0"/>
          </a:p>
        </p:txBody>
      </p:sp>
      <p:pic>
        <p:nvPicPr>
          <p:cNvPr id="25" name="Image 24">
            <a:extLst>
              <a:ext uri="{FF2B5EF4-FFF2-40B4-BE49-F238E27FC236}">
                <a16:creationId xmlns:a16="http://schemas.microsoft.com/office/drawing/2014/main" id="{606255BE-23A7-ADAF-2326-89C7A7C1166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2478" y="1495778"/>
            <a:ext cx="1120155" cy="1582246"/>
          </a:xfrm>
          <a:prstGeom prst="rect">
            <a:avLst/>
          </a:prstGeom>
        </p:spPr>
      </p:pic>
      <p:pic>
        <p:nvPicPr>
          <p:cNvPr id="27" name="Image 26">
            <a:extLst>
              <a:ext uri="{FF2B5EF4-FFF2-40B4-BE49-F238E27FC236}">
                <a16:creationId xmlns:a16="http://schemas.microsoft.com/office/drawing/2014/main" id="{BF0668E5-1F29-C6FB-93FA-4659CD0F7B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01324" y="1495778"/>
            <a:ext cx="1120155" cy="1582246"/>
          </a:xfrm>
          <a:prstGeom prst="rect">
            <a:avLst/>
          </a:prstGeom>
        </p:spPr>
      </p:pic>
      <p:pic>
        <p:nvPicPr>
          <p:cNvPr id="28" name="Image 27" descr="Une image contenant texte&#10;&#10;Description générée automatiquement">
            <a:extLst>
              <a:ext uri="{FF2B5EF4-FFF2-40B4-BE49-F238E27FC236}">
                <a16:creationId xmlns:a16="http://schemas.microsoft.com/office/drawing/2014/main" id="{C52BFFBF-1047-476C-6469-7AF91D6DBF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55268" y="1495778"/>
            <a:ext cx="1120155" cy="1582246"/>
          </a:xfrm>
          <a:prstGeom prst="rect">
            <a:avLst/>
          </a:prstGeom>
        </p:spPr>
      </p:pic>
      <p:pic>
        <p:nvPicPr>
          <p:cNvPr id="29" name="Image 28">
            <a:extLst>
              <a:ext uri="{FF2B5EF4-FFF2-40B4-BE49-F238E27FC236}">
                <a16:creationId xmlns:a16="http://schemas.microsoft.com/office/drawing/2014/main" id="{66A8C156-F0A3-1263-C6C5-F0E1328E750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514114" y="1495778"/>
            <a:ext cx="1120155" cy="1582246"/>
          </a:xfrm>
          <a:prstGeom prst="rect">
            <a:avLst/>
          </a:prstGeom>
        </p:spPr>
      </p:pic>
      <p:pic>
        <p:nvPicPr>
          <p:cNvPr id="30" name="Image 29">
            <a:extLst>
              <a:ext uri="{FF2B5EF4-FFF2-40B4-BE49-F238E27FC236}">
                <a16:creationId xmlns:a16="http://schemas.microsoft.com/office/drawing/2014/main" id="{6E90BE4D-1EA5-ED16-87E6-4E680E0807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421901" y="1495778"/>
            <a:ext cx="1120155" cy="1582246"/>
          </a:xfrm>
          <a:prstGeom prst="rect">
            <a:avLst/>
          </a:prstGeom>
        </p:spPr>
      </p:pic>
      <p:pic>
        <p:nvPicPr>
          <p:cNvPr id="31" name="Image 30">
            <a:extLst>
              <a:ext uri="{FF2B5EF4-FFF2-40B4-BE49-F238E27FC236}">
                <a16:creationId xmlns:a16="http://schemas.microsoft.com/office/drawing/2014/main" id="{A564748B-E5B0-4E9F-7813-01D7C51BCBB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780747" y="1495778"/>
            <a:ext cx="1120155" cy="1582246"/>
          </a:xfrm>
          <a:prstGeom prst="rect">
            <a:avLst/>
          </a:prstGeom>
        </p:spPr>
      </p:pic>
      <p:pic>
        <p:nvPicPr>
          <p:cNvPr id="32" name="Image 31" descr="Une image contenant texte&#10;&#10;Description générée automatiquement">
            <a:extLst>
              <a:ext uri="{FF2B5EF4-FFF2-40B4-BE49-F238E27FC236}">
                <a16:creationId xmlns:a16="http://schemas.microsoft.com/office/drawing/2014/main" id="{85BA04D4-8763-76EF-5EFF-C98B2E55124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334691" y="1495778"/>
            <a:ext cx="1120155" cy="1582246"/>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1C07BFD-8376-7366-5CAE-D9628DFEBEB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693534" y="1495778"/>
            <a:ext cx="1120155" cy="1582246"/>
          </a:xfrm>
          <a:prstGeom prst="rect">
            <a:avLst/>
          </a:prstGeom>
        </p:spPr>
      </p:pic>
      <p:sp>
        <p:nvSpPr>
          <p:cNvPr id="42" name="Rectangle 41">
            <a:extLst>
              <a:ext uri="{FF2B5EF4-FFF2-40B4-BE49-F238E27FC236}">
                <a16:creationId xmlns:a16="http://schemas.microsoft.com/office/drawing/2014/main" id="{D5B4002B-AE18-2BAE-0D73-078BB2432DAD}"/>
              </a:ext>
            </a:extLst>
          </p:cNvPr>
          <p:cNvSpPr/>
          <p:nvPr/>
        </p:nvSpPr>
        <p:spPr>
          <a:xfrm>
            <a:off x="10858912" y="1490700"/>
            <a:ext cx="1120155"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pic>
        <p:nvPicPr>
          <p:cNvPr id="55" name="Image 54" descr="Une image contenant texte&#10;&#10;Description générée automatiquement">
            <a:extLst>
              <a:ext uri="{FF2B5EF4-FFF2-40B4-BE49-F238E27FC236}">
                <a16:creationId xmlns:a16="http://schemas.microsoft.com/office/drawing/2014/main" id="{DA501538-118F-0D88-B78B-6F0A5EC7490C}"/>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960170" y="1495778"/>
            <a:ext cx="1135830" cy="1588921"/>
          </a:xfrm>
          <a:prstGeom prst="rect">
            <a:avLst/>
          </a:prstGeom>
        </p:spPr>
      </p:pic>
      <p:grpSp>
        <p:nvGrpSpPr>
          <p:cNvPr id="50" name="Groupe 49">
            <a:extLst>
              <a:ext uri="{FF2B5EF4-FFF2-40B4-BE49-F238E27FC236}">
                <a16:creationId xmlns:a16="http://schemas.microsoft.com/office/drawing/2014/main" id="{71D7620C-0310-FCF1-DC7D-D06A9E6D577E}"/>
              </a:ext>
            </a:extLst>
          </p:cNvPr>
          <p:cNvGrpSpPr/>
          <p:nvPr/>
        </p:nvGrpSpPr>
        <p:grpSpPr>
          <a:xfrm>
            <a:off x="254879" y="503219"/>
            <a:ext cx="1004893" cy="847205"/>
            <a:chOff x="8982504" y="3274976"/>
            <a:chExt cx="1230670" cy="1037553"/>
          </a:xfrm>
          <a:solidFill>
            <a:srgbClr val="ED7D31"/>
          </a:solidFill>
        </p:grpSpPr>
        <p:pic>
          <p:nvPicPr>
            <p:cNvPr id="51" name="Graphique 50" descr="Utilisateur avec un remplissage uni">
              <a:extLst>
                <a:ext uri="{FF2B5EF4-FFF2-40B4-BE49-F238E27FC236}">
                  <a16:creationId xmlns:a16="http://schemas.microsoft.com/office/drawing/2014/main" id="{FC437C24-B215-7321-97F6-BC93F62D954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01028" y="3274976"/>
              <a:ext cx="336064" cy="336064"/>
            </a:xfrm>
            <a:prstGeom prst="rect">
              <a:avLst/>
            </a:prstGeom>
          </p:spPr>
        </p:pic>
        <p:pic>
          <p:nvPicPr>
            <p:cNvPr id="52" name="Graphique 51" descr="Utilisateur avec un remplissage uni">
              <a:extLst>
                <a:ext uri="{FF2B5EF4-FFF2-40B4-BE49-F238E27FC236}">
                  <a16:creationId xmlns:a16="http://schemas.microsoft.com/office/drawing/2014/main" id="{F40BB642-342D-B3BF-1E4C-C3EEB475F56E}"/>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54140" y="3512720"/>
              <a:ext cx="336064" cy="336064"/>
            </a:xfrm>
            <a:prstGeom prst="rect">
              <a:avLst/>
            </a:prstGeom>
          </p:spPr>
        </p:pic>
        <p:pic>
          <p:nvPicPr>
            <p:cNvPr id="53" name="Graphique 52" descr="Utilisateur avec un remplissage uni">
              <a:extLst>
                <a:ext uri="{FF2B5EF4-FFF2-40B4-BE49-F238E27FC236}">
                  <a16:creationId xmlns:a16="http://schemas.microsoft.com/office/drawing/2014/main" id="{B7491FED-941C-88F8-B843-1AB5A7448BD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45616" y="3561880"/>
              <a:ext cx="336064" cy="336064"/>
            </a:xfrm>
            <a:prstGeom prst="rect">
              <a:avLst/>
            </a:prstGeom>
          </p:spPr>
        </p:pic>
        <p:pic>
          <p:nvPicPr>
            <p:cNvPr id="54" name="Graphique 53" descr="Utilisateur avec un remplissage uni">
              <a:extLst>
                <a:ext uri="{FF2B5EF4-FFF2-40B4-BE49-F238E27FC236}">
                  <a16:creationId xmlns:a16="http://schemas.microsoft.com/office/drawing/2014/main" id="{37752C6A-E354-DBE2-91BB-417928ED429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92504" y="3418428"/>
              <a:ext cx="336064" cy="336064"/>
            </a:xfrm>
            <a:prstGeom prst="rect">
              <a:avLst/>
            </a:prstGeom>
          </p:spPr>
        </p:pic>
        <p:pic>
          <p:nvPicPr>
            <p:cNvPr id="56" name="Graphique 55" descr="Utilisateur avec un remplissage uni">
              <a:extLst>
                <a:ext uri="{FF2B5EF4-FFF2-40B4-BE49-F238E27FC236}">
                  <a16:creationId xmlns:a16="http://schemas.microsoft.com/office/drawing/2014/main" id="{31BE684F-0DB5-B58C-B9DC-73AE9B2D522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635196" y="3680752"/>
              <a:ext cx="336064" cy="336064"/>
            </a:xfrm>
            <a:prstGeom prst="rect">
              <a:avLst/>
            </a:prstGeom>
          </p:spPr>
        </p:pic>
        <p:pic>
          <p:nvPicPr>
            <p:cNvPr id="57" name="Graphique 56" descr="Utilisateur avec un remplissage uni">
              <a:extLst>
                <a:ext uri="{FF2B5EF4-FFF2-40B4-BE49-F238E27FC236}">
                  <a16:creationId xmlns:a16="http://schemas.microsoft.com/office/drawing/2014/main" id="{D2948BE0-488C-B5FE-DCC2-DD72B625E92E}"/>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256440" y="3848784"/>
              <a:ext cx="336064" cy="336064"/>
            </a:xfrm>
            <a:prstGeom prst="rect">
              <a:avLst/>
            </a:prstGeom>
          </p:spPr>
        </p:pic>
        <p:pic>
          <p:nvPicPr>
            <p:cNvPr id="58" name="Graphique 57" descr="Utilisateur avec un remplissage uni">
              <a:extLst>
                <a:ext uri="{FF2B5EF4-FFF2-40B4-BE49-F238E27FC236}">
                  <a16:creationId xmlns:a16="http://schemas.microsoft.com/office/drawing/2014/main" id="{E9F6E718-290D-543E-4E3E-14BFB6A9A7A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82504" y="3835028"/>
              <a:ext cx="336064" cy="336064"/>
            </a:xfrm>
            <a:prstGeom prst="rect">
              <a:avLst/>
            </a:prstGeom>
          </p:spPr>
        </p:pic>
        <p:pic>
          <p:nvPicPr>
            <p:cNvPr id="59" name="Graphique 58" descr="Utilisateur avec un remplissage uni">
              <a:extLst>
                <a:ext uri="{FF2B5EF4-FFF2-40B4-BE49-F238E27FC236}">
                  <a16:creationId xmlns:a16="http://schemas.microsoft.com/office/drawing/2014/main" id="{702501F4-093D-4504-C889-C5370617ED4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0868" y="3943076"/>
              <a:ext cx="336064" cy="336064"/>
            </a:xfrm>
            <a:prstGeom prst="rect">
              <a:avLst/>
            </a:prstGeom>
          </p:spPr>
        </p:pic>
        <p:pic>
          <p:nvPicPr>
            <p:cNvPr id="60" name="Graphique 59" descr="Utilisateur avec un remplissage uni">
              <a:extLst>
                <a:ext uri="{FF2B5EF4-FFF2-40B4-BE49-F238E27FC236}">
                  <a16:creationId xmlns:a16="http://schemas.microsoft.com/office/drawing/2014/main" id="{B814ADD3-987F-47C2-3C22-2775CC79A60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42772" y="3976465"/>
              <a:ext cx="336064" cy="336064"/>
            </a:xfrm>
            <a:prstGeom prst="rect">
              <a:avLst/>
            </a:prstGeom>
          </p:spPr>
        </p:pic>
        <p:pic>
          <p:nvPicPr>
            <p:cNvPr id="61" name="Graphique 60" descr="Utilisateur avec un remplissage uni">
              <a:extLst>
                <a:ext uri="{FF2B5EF4-FFF2-40B4-BE49-F238E27FC236}">
                  <a16:creationId xmlns:a16="http://schemas.microsoft.com/office/drawing/2014/main" id="{6814C550-AE49-8BB8-E8D6-13F72C26A08C}"/>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77110" y="3705332"/>
              <a:ext cx="336064" cy="336064"/>
            </a:xfrm>
            <a:prstGeom prst="rect">
              <a:avLst/>
            </a:prstGeom>
          </p:spPr>
        </p:pic>
        <p:pic>
          <p:nvPicPr>
            <p:cNvPr id="62" name="Graphique 61" descr="Utilisateur avec un remplissage uni">
              <a:extLst>
                <a:ext uri="{FF2B5EF4-FFF2-40B4-BE49-F238E27FC236}">
                  <a16:creationId xmlns:a16="http://schemas.microsoft.com/office/drawing/2014/main" id="{52E4C2E1-BCF7-7096-D6B3-0B041846C52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56932" y="3429000"/>
              <a:ext cx="336064" cy="336064"/>
            </a:xfrm>
            <a:prstGeom prst="rect">
              <a:avLst/>
            </a:prstGeom>
          </p:spPr>
        </p:pic>
      </p:grpSp>
      <p:sp>
        <p:nvSpPr>
          <p:cNvPr id="63" name="Rectangle 62">
            <a:extLst>
              <a:ext uri="{FF2B5EF4-FFF2-40B4-BE49-F238E27FC236}">
                <a16:creationId xmlns:a16="http://schemas.microsoft.com/office/drawing/2014/main" id="{BD7C28F3-517D-E598-AFA8-E42ADE4E5276}"/>
              </a:ext>
            </a:extLst>
          </p:cNvPr>
          <p:cNvSpPr/>
          <p:nvPr/>
        </p:nvSpPr>
        <p:spPr>
          <a:xfrm>
            <a:off x="236253" y="3135473"/>
            <a:ext cx="1120155" cy="59408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Période d’essai gratuite, (sans engagement), aide au financement dans des cas particuliers</a:t>
            </a:r>
          </a:p>
        </p:txBody>
      </p:sp>
      <p:sp>
        <p:nvSpPr>
          <p:cNvPr id="64" name="Rectangle 63">
            <a:extLst>
              <a:ext uri="{FF2B5EF4-FFF2-40B4-BE49-F238E27FC236}">
                <a16:creationId xmlns:a16="http://schemas.microsoft.com/office/drawing/2014/main" id="{AEF14957-4169-5EC5-6F64-F0B8F4BE0B5E}"/>
              </a:ext>
            </a:extLst>
          </p:cNvPr>
          <p:cNvSpPr/>
          <p:nvPr/>
        </p:nvSpPr>
        <p:spPr>
          <a:xfrm>
            <a:off x="4977526" y="3114651"/>
            <a:ext cx="1120155" cy="5659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⚙️Négociation autour du type de temps accordé et autour du régime d’obligation </a:t>
            </a:r>
          </a:p>
        </p:txBody>
      </p:sp>
      <p:sp>
        <p:nvSpPr>
          <p:cNvPr id="65" name="Rectangle 64">
            <a:extLst>
              <a:ext uri="{FF2B5EF4-FFF2-40B4-BE49-F238E27FC236}">
                <a16:creationId xmlns:a16="http://schemas.microsoft.com/office/drawing/2014/main" id="{941FAAD2-7117-F7D1-A17B-2C9F678E9178}"/>
              </a:ext>
            </a:extLst>
          </p:cNvPr>
          <p:cNvSpPr/>
          <p:nvPr/>
        </p:nvSpPr>
        <p:spPr>
          <a:xfrm>
            <a:off x="3790839" y="3114651"/>
            <a:ext cx="1092072" cy="12462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📅⚙️(Atelier W3) Echelle d’engagement explicite, activités correspondant à l’échelle d’engagement respectant l’investissement de chacun</a:t>
            </a:r>
          </a:p>
        </p:txBody>
      </p:sp>
      <p:sp>
        <p:nvSpPr>
          <p:cNvPr id="67" name="Rectangle 66">
            <a:extLst>
              <a:ext uri="{FF2B5EF4-FFF2-40B4-BE49-F238E27FC236}">
                <a16:creationId xmlns:a16="http://schemas.microsoft.com/office/drawing/2014/main" id="{B3CE5AA8-1753-FCF3-C9AB-2147B59C57BD}"/>
              </a:ext>
            </a:extLst>
          </p:cNvPr>
          <p:cNvSpPr/>
          <p:nvPr/>
        </p:nvSpPr>
        <p:spPr>
          <a:xfrm>
            <a:off x="1421901" y="3114650"/>
            <a:ext cx="1120155" cy="7940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📅✍️⚙️Actes, mentions ou système de reconnaissance envers les personnes qui transmettent  dans la Communauté</a:t>
            </a:r>
          </a:p>
        </p:txBody>
      </p:sp>
      <p:sp>
        <p:nvSpPr>
          <p:cNvPr id="68" name="Rectangle 67">
            <a:extLst>
              <a:ext uri="{FF2B5EF4-FFF2-40B4-BE49-F238E27FC236}">
                <a16:creationId xmlns:a16="http://schemas.microsoft.com/office/drawing/2014/main" id="{08AB97D0-9FD2-49A9-CC55-25FC4AE5D45F}"/>
              </a:ext>
            </a:extLst>
          </p:cNvPr>
          <p:cNvSpPr/>
          <p:nvPr/>
        </p:nvSpPr>
        <p:spPr>
          <a:xfrm>
            <a:off x="6159775" y="3114651"/>
            <a:ext cx="1120155" cy="6149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✍️Manifeste ou raison d’être explicités et partagés. 📅 Atelier </a:t>
            </a:r>
            <a:r>
              <a:rPr lang="fr-FR" sz="800" dirty="0" err="1">
                <a:solidFill>
                  <a:schemeClr val="tx1"/>
                </a:solidFill>
              </a:rPr>
              <a:t>Pyramid</a:t>
            </a:r>
            <a:r>
              <a:rPr lang="fr-FR" sz="800" dirty="0">
                <a:solidFill>
                  <a:schemeClr val="tx1"/>
                </a:solidFill>
              </a:rPr>
              <a:t> of </a:t>
            </a:r>
            <a:r>
              <a:rPr lang="fr-FR" sz="800" dirty="0" err="1">
                <a:solidFill>
                  <a:schemeClr val="tx1"/>
                </a:solidFill>
              </a:rPr>
              <a:t>Purpose</a:t>
            </a:r>
            <a:endParaRPr lang="fr-FR" sz="800" dirty="0">
              <a:solidFill>
                <a:schemeClr val="tx1"/>
              </a:solidFill>
            </a:endParaRPr>
          </a:p>
        </p:txBody>
      </p:sp>
      <p:sp>
        <p:nvSpPr>
          <p:cNvPr id="69" name="Rectangle 68">
            <a:extLst>
              <a:ext uri="{FF2B5EF4-FFF2-40B4-BE49-F238E27FC236}">
                <a16:creationId xmlns:a16="http://schemas.microsoft.com/office/drawing/2014/main" id="{5ED169C1-379B-C036-361F-8717E4BC2513}"/>
              </a:ext>
            </a:extLst>
          </p:cNvPr>
          <p:cNvSpPr/>
          <p:nvPr/>
        </p:nvSpPr>
        <p:spPr>
          <a:xfrm>
            <a:off x="7348645" y="3116571"/>
            <a:ext cx="1100722" cy="5848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⚙️Chemin de progression avec épreuves de compétences à passer</a:t>
            </a:r>
          </a:p>
        </p:txBody>
      </p:sp>
      <p:sp>
        <p:nvSpPr>
          <p:cNvPr id="71" name="Rectangle 70">
            <a:extLst>
              <a:ext uri="{FF2B5EF4-FFF2-40B4-BE49-F238E27FC236}">
                <a16:creationId xmlns:a16="http://schemas.microsoft.com/office/drawing/2014/main" id="{201298AB-EF68-1D52-D042-05A6C2147FD2}"/>
              </a:ext>
            </a:extLst>
          </p:cNvPr>
          <p:cNvSpPr/>
          <p:nvPr/>
        </p:nvSpPr>
        <p:spPr>
          <a:xfrm>
            <a:off x="8514115" y="3122348"/>
            <a:ext cx="1092072" cy="9067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⚙️Equilibrage de l’expérience communautaire avec celle du quotidien (respirations) 📅Atelier Balance of </a:t>
            </a:r>
            <a:r>
              <a:rPr lang="fr-FR" sz="800" dirty="0" err="1">
                <a:solidFill>
                  <a:schemeClr val="tx1"/>
                </a:solidFill>
              </a:rPr>
              <a:t>Breathing</a:t>
            </a:r>
            <a:endParaRPr lang="fr-FR" sz="800" dirty="0">
              <a:solidFill>
                <a:schemeClr val="tx1"/>
              </a:solidFill>
            </a:endParaRPr>
          </a:p>
        </p:txBody>
      </p:sp>
      <p:sp>
        <p:nvSpPr>
          <p:cNvPr id="119" name="Rectangle 118">
            <a:extLst>
              <a:ext uri="{FF2B5EF4-FFF2-40B4-BE49-F238E27FC236}">
                <a16:creationId xmlns:a16="http://schemas.microsoft.com/office/drawing/2014/main" id="{49D2E4EC-5B15-A4C5-2AFA-73763D38F85F}"/>
              </a:ext>
            </a:extLst>
          </p:cNvPr>
          <p:cNvSpPr/>
          <p:nvPr/>
        </p:nvSpPr>
        <p:spPr>
          <a:xfrm>
            <a:off x="9688053" y="3127237"/>
            <a:ext cx="1120155" cy="10014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⚙️Co-construction (responsabilités collectives) d’une partie des sujets communautaires et distribution d’une autre (responsabilité individuelles)</a:t>
            </a:r>
          </a:p>
        </p:txBody>
      </p:sp>
      <p:sp>
        <p:nvSpPr>
          <p:cNvPr id="126" name="Rectangle 125">
            <a:extLst>
              <a:ext uri="{FF2B5EF4-FFF2-40B4-BE49-F238E27FC236}">
                <a16:creationId xmlns:a16="http://schemas.microsoft.com/office/drawing/2014/main" id="{E976C000-1911-0D70-6686-C2482B4D76EB}"/>
              </a:ext>
            </a:extLst>
          </p:cNvPr>
          <p:cNvSpPr/>
          <p:nvPr/>
        </p:nvSpPr>
        <p:spPr>
          <a:xfrm>
            <a:off x="3797620" y="5246361"/>
            <a:ext cx="1085290" cy="67429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📅Activités intercommunautaires ou bien de la Communauté avec des non-membres</a:t>
            </a:r>
          </a:p>
        </p:txBody>
      </p:sp>
      <p:sp>
        <p:nvSpPr>
          <p:cNvPr id="133" name="Rectangle 132">
            <a:extLst>
              <a:ext uri="{FF2B5EF4-FFF2-40B4-BE49-F238E27FC236}">
                <a16:creationId xmlns:a16="http://schemas.microsoft.com/office/drawing/2014/main" id="{3D5EC8A6-9243-8130-532F-4D32112F473A}"/>
              </a:ext>
            </a:extLst>
          </p:cNvPr>
          <p:cNvSpPr/>
          <p:nvPr/>
        </p:nvSpPr>
        <p:spPr>
          <a:xfrm>
            <a:off x="7348645" y="3760657"/>
            <a:ext cx="1100722" cy="48512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Système de niveaux et d’activités par groupes de niveau</a:t>
            </a:r>
          </a:p>
        </p:txBody>
      </p:sp>
      <p:sp>
        <p:nvSpPr>
          <p:cNvPr id="134" name="Rectangle 133">
            <a:extLst>
              <a:ext uri="{FF2B5EF4-FFF2-40B4-BE49-F238E27FC236}">
                <a16:creationId xmlns:a16="http://schemas.microsoft.com/office/drawing/2014/main" id="{0675E408-1AD7-C96D-6E31-81BCB2BE8999}"/>
              </a:ext>
            </a:extLst>
          </p:cNvPr>
          <p:cNvSpPr/>
          <p:nvPr/>
        </p:nvSpPr>
        <p:spPr>
          <a:xfrm>
            <a:off x="4977526" y="3715082"/>
            <a:ext cx="1120155" cy="64584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Présentation de la valeur de la Communauté pour l’entreprise et pour les membres</a:t>
            </a:r>
          </a:p>
        </p:txBody>
      </p:sp>
      <p:sp>
        <p:nvSpPr>
          <p:cNvPr id="135" name="Rectangle 134">
            <a:extLst>
              <a:ext uri="{FF2B5EF4-FFF2-40B4-BE49-F238E27FC236}">
                <a16:creationId xmlns:a16="http://schemas.microsoft.com/office/drawing/2014/main" id="{26E650F0-1652-F8DF-996D-10AC4EB2B322}"/>
              </a:ext>
            </a:extLst>
          </p:cNvPr>
          <p:cNvSpPr/>
          <p:nvPr/>
        </p:nvSpPr>
        <p:spPr>
          <a:xfrm>
            <a:off x="236253" y="3763988"/>
            <a:ext cx="1120155" cy="69304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Filtre à l’entrée sur l’alignement (pour éviter les déceptions après s’être investi ou conflits)</a:t>
            </a:r>
          </a:p>
        </p:txBody>
      </p:sp>
      <p:sp>
        <p:nvSpPr>
          <p:cNvPr id="136" name="Rectangle 135">
            <a:extLst>
              <a:ext uri="{FF2B5EF4-FFF2-40B4-BE49-F238E27FC236}">
                <a16:creationId xmlns:a16="http://schemas.microsoft.com/office/drawing/2014/main" id="{F8CA9AE2-4D51-BC1D-F722-69C533EA1B0B}"/>
              </a:ext>
            </a:extLst>
          </p:cNvPr>
          <p:cNvSpPr/>
          <p:nvPr/>
        </p:nvSpPr>
        <p:spPr>
          <a:xfrm>
            <a:off x="1413038" y="3961536"/>
            <a:ext cx="1120155" cy="84813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⚙️Conditions de sécurité psychologique pour le partage des difficultés (comportement de respect, de soutien, d’entraide, …)</a:t>
            </a:r>
          </a:p>
        </p:txBody>
      </p:sp>
      <p:sp>
        <p:nvSpPr>
          <p:cNvPr id="137" name="Rectangle 136">
            <a:extLst>
              <a:ext uri="{FF2B5EF4-FFF2-40B4-BE49-F238E27FC236}">
                <a16:creationId xmlns:a16="http://schemas.microsoft.com/office/drawing/2014/main" id="{3687633B-A9AF-0FA0-81F0-1346CCBBA933}"/>
              </a:ext>
            </a:extLst>
          </p:cNvPr>
          <p:cNvSpPr/>
          <p:nvPr/>
        </p:nvSpPr>
        <p:spPr>
          <a:xfrm>
            <a:off x="1413037" y="4862489"/>
            <a:ext cx="1120155" cy="11537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⚙️Analyse des préjugés liés à la Communauté et </a:t>
            </a:r>
          </a:p>
          <a:p>
            <a:pPr algn="ctr"/>
            <a:r>
              <a:rPr lang="fr-FR" sz="800" dirty="0">
                <a:solidFill>
                  <a:schemeClr val="tx1"/>
                </a:solidFill>
              </a:rPr>
              <a:t>✍️ 📅 communication pour contrecarrer ces effets (mise en avant des meilleurs exemples, etc.)</a:t>
            </a:r>
          </a:p>
        </p:txBody>
      </p:sp>
      <p:sp>
        <p:nvSpPr>
          <p:cNvPr id="78" name="Rectangle 77">
            <a:extLst>
              <a:ext uri="{FF2B5EF4-FFF2-40B4-BE49-F238E27FC236}">
                <a16:creationId xmlns:a16="http://schemas.microsoft.com/office/drawing/2014/main" id="{EAFC84F5-26D6-26DE-4499-040851D452A1}"/>
              </a:ext>
            </a:extLst>
          </p:cNvPr>
          <p:cNvSpPr/>
          <p:nvPr/>
        </p:nvSpPr>
        <p:spPr>
          <a:xfrm>
            <a:off x="3790838" y="4411254"/>
            <a:ext cx="1092072" cy="78478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⚙️Conditions sur le respect de la vie privée de chacun (ex: droit de ne pas se révéler dans les icebreakers, etc.)</a:t>
            </a:r>
          </a:p>
        </p:txBody>
      </p:sp>
      <p:sp>
        <p:nvSpPr>
          <p:cNvPr id="79" name="Rectangle 78">
            <a:extLst>
              <a:ext uri="{FF2B5EF4-FFF2-40B4-BE49-F238E27FC236}">
                <a16:creationId xmlns:a16="http://schemas.microsoft.com/office/drawing/2014/main" id="{406F87D5-2C7F-CA66-21AB-3ED25782AD56}"/>
              </a:ext>
            </a:extLst>
          </p:cNvPr>
          <p:cNvSpPr/>
          <p:nvPr/>
        </p:nvSpPr>
        <p:spPr>
          <a:xfrm>
            <a:off x="3790838" y="5957050"/>
            <a:ext cx="1092072" cy="64341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⚙️Systèmes de liens (mentoring, binôme de motivation, etc.) plus longs et persistants</a:t>
            </a:r>
          </a:p>
        </p:txBody>
      </p:sp>
      <p:sp>
        <p:nvSpPr>
          <p:cNvPr id="81" name="Rectangle 80">
            <a:extLst>
              <a:ext uri="{FF2B5EF4-FFF2-40B4-BE49-F238E27FC236}">
                <a16:creationId xmlns:a16="http://schemas.microsoft.com/office/drawing/2014/main" id="{9BAFAE9E-4185-1C19-1BA2-9C1AC96DEC93}"/>
              </a:ext>
            </a:extLst>
          </p:cNvPr>
          <p:cNvSpPr/>
          <p:nvPr/>
        </p:nvSpPr>
        <p:spPr>
          <a:xfrm>
            <a:off x="4977526" y="4389736"/>
            <a:ext cx="1120155" cy="72469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Mise en valeur des managers soutenant la participation de leurs équipes à la Communauté</a:t>
            </a:r>
          </a:p>
        </p:txBody>
      </p:sp>
      <p:sp>
        <p:nvSpPr>
          <p:cNvPr id="82" name="Rectangle 81">
            <a:extLst>
              <a:ext uri="{FF2B5EF4-FFF2-40B4-BE49-F238E27FC236}">
                <a16:creationId xmlns:a16="http://schemas.microsoft.com/office/drawing/2014/main" id="{BE2A2C53-92FB-3835-7E22-C8C6992B966C}"/>
              </a:ext>
            </a:extLst>
          </p:cNvPr>
          <p:cNvSpPr/>
          <p:nvPr/>
        </p:nvSpPr>
        <p:spPr>
          <a:xfrm>
            <a:off x="4977526" y="5148959"/>
            <a:ext cx="1120155" cy="72469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⚙️Réservation d’une partie des activités à résoudre des problématiques professionnelles court terme (+ livrable)</a:t>
            </a:r>
          </a:p>
        </p:txBody>
      </p:sp>
      <p:sp>
        <p:nvSpPr>
          <p:cNvPr id="83" name="Rectangle 82">
            <a:extLst>
              <a:ext uri="{FF2B5EF4-FFF2-40B4-BE49-F238E27FC236}">
                <a16:creationId xmlns:a16="http://schemas.microsoft.com/office/drawing/2014/main" id="{90045A59-272E-EC1F-1ADF-BC69523795A8}"/>
              </a:ext>
            </a:extLst>
          </p:cNvPr>
          <p:cNvSpPr/>
          <p:nvPr/>
        </p:nvSpPr>
        <p:spPr>
          <a:xfrm>
            <a:off x="4977526" y="5908183"/>
            <a:ext cx="1120155" cy="72469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⚙️Facilitation administrative (demande de création de ligne de budget, etc.) et logistique (créneaux, dates)</a:t>
            </a:r>
          </a:p>
        </p:txBody>
      </p:sp>
      <p:sp>
        <p:nvSpPr>
          <p:cNvPr id="84" name="Rectangle 83">
            <a:extLst>
              <a:ext uri="{FF2B5EF4-FFF2-40B4-BE49-F238E27FC236}">
                <a16:creationId xmlns:a16="http://schemas.microsoft.com/office/drawing/2014/main" id="{0918A176-B411-ADB0-690E-F2C905EFC853}"/>
              </a:ext>
            </a:extLst>
          </p:cNvPr>
          <p:cNvSpPr/>
          <p:nvPr/>
        </p:nvSpPr>
        <p:spPr>
          <a:xfrm>
            <a:off x="6159775" y="3760657"/>
            <a:ext cx="1120155" cy="72469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📅Partage d’exemples d’impacts positifs par la Communauté ou des Communautés similaires</a:t>
            </a:r>
          </a:p>
        </p:txBody>
      </p:sp>
      <p:sp>
        <p:nvSpPr>
          <p:cNvPr id="85" name="Rectangle 84">
            <a:extLst>
              <a:ext uri="{FF2B5EF4-FFF2-40B4-BE49-F238E27FC236}">
                <a16:creationId xmlns:a16="http://schemas.microsoft.com/office/drawing/2014/main" id="{301D6B36-2D62-74A5-B13A-65274A66E53C}"/>
              </a:ext>
            </a:extLst>
          </p:cNvPr>
          <p:cNvSpPr/>
          <p:nvPr/>
        </p:nvSpPr>
        <p:spPr>
          <a:xfrm>
            <a:off x="6167417" y="4513935"/>
            <a:ext cx="1120155" cy="109632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⚙️Déclinaison des contributions possibles à l’impact en fonction du niveau et/ou des compétences de chacun. 📅 Atelier House of Contribution.</a:t>
            </a:r>
          </a:p>
        </p:txBody>
      </p:sp>
      <p:sp>
        <p:nvSpPr>
          <p:cNvPr id="86" name="Rectangle 85">
            <a:extLst>
              <a:ext uri="{FF2B5EF4-FFF2-40B4-BE49-F238E27FC236}">
                <a16:creationId xmlns:a16="http://schemas.microsoft.com/office/drawing/2014/main" id="{D0C684AB-C299-002B-1732-67D1B6BE7596}"/>
              </a:ext>
            </a:extLst>
          </p:cNvPr>
          <p:cNvSpPr/>
          <p:nvPr/>
        </p:nvSpPr>
        <p:spPr>
          <a:xfrm>
            <a:off x="6167417" y="5653083"/>
            <a:ext cx="1120155" cy="9765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⚙️Structuration de la Communauté pour s’assurer une gouvernance suffisamment indépendante (moins de questions de conflits d’intérêt)</a:t>
            </a:r>
          </a:p>
        </p:txBody>
      </p:sp>
      <p:sp>
        <p:nvSpPr>
          <p:cNvPr id="87" name="Rectangle 86">
            <a:extLst>
              <a:ext uri="{FF2B5EF4-FFF2-40B4-BE49-F238E27FC236}">
                <a16:creationId xmlns:a16="http://schemas.microsoft.com/office/drawing/2014/main" id="{43755156-B8C2-94FE-B142-DD13D7F2D2DA}"/>
              </a:ext>
            </a:extLst>
          </p:cNvPr>
          <p:cNvSpPr/>
          <p:nvPr/>
        </p:nvSpPr>
        <p:spPr>
          <a:xfrm>
            <a:off x="7348645" y="4298109"/>
            <a:ext cx="1100722" cy="101466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 Partage de retours d’expériences et de bénéfices de membres de Communauté (potentiellement d’autres communauté)</a:t>
            </a:r>
          </a:p>
        </p:txBody>
      </p:sp>
      <p:sp>
        <p:nvSpPr>
          <p:cNvPr id="89" name="Rectangle 88">
            <a:extLst>
              <a:ext uri="{FF2B5EF4-FFF2-40B4-BE49-F238E27FC236}">
                <a16:creationId xmlns:a16="http://schemas.microsoft.com/office/drawing/2014/main" id="{1C258E3F-4000-D0C0-0BA6-FD2418B96173}"/>
              </a:ext>
            </a:extLst>
          </p:cNvPr>
          <p:cNvSpPr/>
          <p:nvPr/>
        </p:nvSpPr>
        <p:spPr>
          <a:xfrm>
            <a:off x="8509462" y="5369939"/>
            <a:ext cx="1092072" cy="75560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⚙️Système de rôles qui inclut des rôles plus libres parallèlement à des rôles plus contraignants</a:t>
            </a:r>
          </a:p>
        </p:txBody>
      </p:sp>
      <p:sp>
        <p:nvSpPr>
          <p:cNvPr id="91" name="Rectangle 90">
            <a:extLst>
              <a:ext uri="{FF2B5EF4-FFF2-40B4-BE49-F238E27FC236}">
                <a16:creationId xmlns:a16="http://schemas.microsoft.com/office/drawing/2014/main" id="{3AC9FA1D-BF46-0431-F05C-1A8F31F9024D}"/>
              </a:ext>
            </a:extLst>
          </p:cNvPr>
          <p:cNvSpPr/>
          <p:nvPr/>
        </p:nvSpPr>
        <p:spPr>
          <a:xfrm>
            <a:off x="8509462" y="4073895"/>
            <a:ext cx="1092072" cy="124627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📅⚙️(Atelier W3) Echelle d’engagement explicite, activités correspondant à l’échelle d’engagement respectant l’investissement de chacun</a:t>
            </a:r>
          </a:p>
        </p:txBody>
      </p:sp>
      <p:sp>
        <p:nvSpPr>
          <p:cNvPr id="66" name="Rectangle 65">
            <a:extLst>
              <a:ext uri="{FF2B5EF4-FFF2-40B4-BE49-F238E27FC236}">
                <a16:creationId xmlns:a16="http://schemas.microsoft.com/office/drawing/2014/main" id="{A92E6DD0-DF69-6E62-19D8-CDDAEFC8B87C}"/>
              </a:ext>
            </a:extLst>
          </p:cNvPr>
          <p:cNvSpPr/>
          <p:nvPr/>
        </p:nvSpPr>
        <p:spPr>
          <a:xfrm>
            <a:off x="2604150" y="3120825"/>
            <a:ext cx="1120155" cy="53436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Mise en relation par étapes, avec aiguillage vers les meilleures affinités</a:t>
            </a:r>
          </a:p>
        </p:txBody>
      </p:sp>
      <p:sp>
        <p:nvSpPr>
          <p:cNvPr id="72" name="Rectangle 71">
            <a:extLst>
              <a:ext uri="{FF2B5EF4-FFF2-40B4-BE49-F238E27FC236}">
                <a16:creationId xmlns:a16="http://schemas.microsoft.com/office/drawing/2014/main" id="{422C8B4E-7713-FA99-F0B4-5B59E2C52AFB}"/>
              </a:ext>
            </a:extLst>
          </p:cNvPr>
          <p:cNvSpPr/>
          <p:nvPr/>
        </p:nvSpPr>
        <p:spPr>
          <a:xfrm>
            <a:off x="2601938" y="3695634"/>
            <a:ext cx="1120155" cy="68693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⚙️Concentration de la raison d’être communautaire sur les activités nécessitant un collectif</a:t>
            </a:r>
          </a:p>
        </p:txBody>
      </p:sp>
      <p:sp>
        <p:nvSpPr>
          <p:cNvPr id="77" name="Rectangle 76">
            <a:extLst>
              <a:ext uri="{FF2B5EF4-FFF2-40B4-BE49-F238E27FC236}">
                <a16:creationId xmlns:a16="http://schemas.microsoft.com/office/drawing/2014/main" id="{6B61364C-59ED-14AF-1E24-27F89422E0CC}"/>
              </a:ext>
            </a:extLst>
          </p:cNvPr>
          <p:cNvSpPr/>
          <p:nvPr/>
        </p:nvSpPr>
        <p:spPr>
          <a:xfrm>
            <a:off x="2604150" y="5327142"/>
            <a:ext cx="1120155" cy="4111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⚙️Rôles et responsabilités tournants</a:t>
            </a:r>
          </a:p>
        </p:txBody>
      </p:sp>
      <p:sp>
        <p:nvSpPr>
          <p:cNvPr id="80" name="Rectangle 79">
            <a:extLst>
              <a:ext uri="{FF2B5EF4-FFF2-40B4-BE49-F238E27FC236}">
                <a16:creationId xmlns:a16="http://schemas.microsoft.com/office/drawing/2014/main" id="{793A452F-18F5-0B73-8348-753E408378F4}"/>
              </a:ext>
            </a:extLst>
          </p:cNvPr>
          <p:cNvSpPr/>
          <p:nvPr/>
        </p:nvSpPr>
        <p:spPr>
          <a:xfrm>
            <a:off x="2596891" y="5789266"/>
            <a:ext cx="1120155" cy="50362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✍️📅Partage d’exemples de réussites collectives pour inspiration</a:t>
            </a:r>
          </a:p>
        </p:txBody>
      </p:sp>
      <p:sp>
        <p:nvSpPr>
          <p:cNvPr id="92" name="Rectangle 91">
            <a:extLst>
              <a:ext uri="{FF2B5EF4-FFF2-40B4-BE49-F238E27FC236}">
                <a16:creationId xmlns:a16="http://schemas.microsoft.com/office/drawing/2014/main" id="{EDFE47BB-E5AD-1876-CDC2-DB0CC1B9C72E}"/>
              </a:ext>
            </a:extLst>
          </p:cNvPr>
          <p:cNvSpPr/>
          <p:nvPr/>
        </p:nvSpPr>
        <p:spPr>
          <a:xfrm>
            <a:off x="2596890" y="4426664"/>
            <a:ext cx="1130993" cy="85623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⚙️Equilibrage de l’expérience communautaire avec celle du quotidien (respirations) 📅Atelier Balance of </a:t>
            </a:r>
            <a:r>
              <a:rPr lang="fr-FR" sz="800" dirty="0" err="1">
                <a:solidFill>
                  <a:schemeClr val="tx1"/>
                </a:solidFill>
              </a:rPr>
              <a:t>Breathing</a:t>
            </a:r>
            <a:endParaRPr lang="fr-FR" sz="800" dirty="0">
              <a:solidFill>
                <a:schemeClr val="tx1"/>
              </a:solidFill>
            </a:endParaRPr>
          </a:p>
        </p:txBody>
      </p:sp>
      <p:sp>
        <p:nvSpPr>
          <p:cNvPr id="70" name="Rectangle 69">
            <a:extLst>
              <a:ext uri="{FF2B5EF4-FFF2-40B4-BE49-F238E27FC236}">
                <a16:creationId xmlns:a16="http://schemas.microsoft.com/office/drawing/2014/main" id="{5691B224-4949-BEB9-1FA4-80D920B28FAB}"/>
              </a:ext>
            </a:extLst>
          </p:cNvPr>
          <p:cNvSpPr/>
          <p:nvPr/>
        </p:nvSpPr>
        <p:spPr>
          <a:xfrm>
            <a:off x="10858911" y="3135474"/>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⚙️Création d’une Communauté similaire, avec laquelle tisser des liens</a:t>
            </a:r>
          </a:p>
        </p:txBody>
      </p:sp>
      <p:sp>
        <p:nvSpPr>
          <p:cNvPr id="73" name="Rectangle 72">
            <a:extLst>
              <a:ext uri="{FF2B5EF4-FFF2-40B4-BE49-F238E27FC236}">
                <a16:creationId xmlns:a16="http://schemas.microsoft.com/office/drawing/2014/main" id="{75F67458-BB39-E03D-8B01-87799C759CAE}"/>
              </a:ext>
            </a:extLst>
          </p:cNvPr>
          <p:cNvSpPr/>
          <p:nvPr/>
        </p:nvSpPr>
        <p:spPr>
          <a:xfrm>
            <a:off x="10858910" y="3803058"/>
            <a:ext cx="1120155" cy="27083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✍️⚙️Relances régulières</a:t>
            </a:r>
          </a:p>
        </p:txBody>
      </p:sp>
      <p:sp>
        <p:nvSpPr>
          <p:cNvPr id="74" name="Rectangle 73">
            <a:extLst>
              <a:ext uri="{FF2B5EF4-FFF2-40B4-BE49-F238E27FC236}">
                <a16:creationId xmlns:a16="http://schemas.microsoft.com/office/drawing/2014/main" id="{9D43FE27-5FE6-AEE3-5B8A-32DBE96EA2B2}"/>
              </a:ext>
            </a:extLst>
          </p:cNvPr>
          <p:cNvSpPr/>
          <p:nvPr/>
        </p:nvSpPr>
        <p:spPr>
          <a:xfrm>
            <a:off x="10858909" y="4126442"/>
            <a:ext cx="1120155" cy="27714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 Evènements et contenus de rappels</a:t>
            </a:r>
          </a:p>
        </p:txBody>
      </p:sp>
      <p:sp>
        <p:nvSpPr>
          <p:cNvPr id="75" name="Rectangle 74">
            <a:extLst>
              <a:ext uri="{FF2B5EF4-FFF2-40B4-BE49-F238E27FC236}">
                <a16:creationId xmlns:a16="http://schemas.microsoft.com/office/drawing/2014/main" id="{5B7632E1-5A42-2E52-F266-B1A9FBF33172}"/>
              </a:ext>
            </a:extLst>
          </p:cNvPr>
          <p:cNvSpPr/>
          <p:nvPr/>
        </p:nvSpPr>
        <p:spPr>
          <a:xfrm>
            <a:off x="1413036" y="6069070"/>
            <a:ext cx="1120155" cy="30299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⚙️Conditions de confidentialité</a:t>
            </a:r>
          </a:p>
        </p:txBody>
      </p:sp>
      <p:sp>
        <p:nvSpPr>
          <p:cNvPr id="76" name="Rectangle 75">
            <a:extLst>
              <a:ext uri="{FF2B5EF4-FFF2-40B4-BE49-F238E27FC236}">
                <a16:creationId xmlns:a16="http://schemas.microsoft.com/office/drawing/2014/main" id="{2A7CA502-0065-79B8-E518-C24E0B4C778E}"/>
              </a:ext>
            </a:extLst>
          </p:cNvPr>
          <p:cNvSpPr/>
          <p:nvPr/>
        </p:nvSpPr>
        <p:spPr>
          <a:xfrm>
            <a:off x="2596891" y="6340587"/>
            <a:ext cx="1120155" cy="50362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⚙️Conditions de sécurité psychologique générales</a:t>
            </a:r>
          </a:p>
        </p:txBody>
      </p:sp>
    </p:spTree>
    <p:extLst>
      <p:ext uri="{BB962C8B-B14F-4D97-AF65-F5344CB8AC3E}">
        <p14:creationId xmlns:p14="http://schemas.microsoft.com/office/powerpoint/2010/main" val="122717470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1216616" y="365125"/>
            <a:ext cx="10137183" cy="1325563"/>
          </a:xfrm>
        </p:spPr>
        <p:txBody>
          <a:bodyPr>
            <a:normAutofit/>
          </a:bodyPr>
          <a:lstStyle/>
          <a:p>
            <a:r>
              <a:rPr lang="fr-FR" sz="2800" dirty="0"/>
              <a:t>Les blocages à l’investissement de l’entreprise dans une Communauté – Liste d’exemples</a:t>
            </a:r>
          </a:p>
        </p:txBody>
      </p:sp>
      <p:pic>
        <p:nvPicPr>
          <p:cNvPr id="63" name="Graphique 62" descr="Bâtiment avec un remplissage uni">
            <a:extLst>
              <a:ext uri="{FF2B5EF4-FFF2-40B4-BE49-F238E27FC236}">
                <a16:creationId xmlns:a16="http://schemas.microsoft.com/office/drawing/2014/main" id="{53D2E0C7-7748-DFE6-8F74-73ABCD44378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08616" y="432569"/>
            <a:ext cx="1008000" cy="1008000"/>
          </a:xfrm>
          <a:prstGeom prst="rect">
            <a:avLst/>
          </a:prstGeom>
        </p:spPr>
      </p:pic>
      <p:grpSp>
        <p:nvGrpSpPr>
          <p:cNvPr id="20" name="Groupe 19">
            <a:extLst>
              <a:ext uri="{FF2B5EF4-FFF2-40B4-BE49-F238E27FC236}">
                <a16:creationId xmlns:a16="http://schemas.microsoft.com/office/drawing/2014/main" id="{629B2729-C721-8EE4-BF08-0F0B2D2A6515}"/>
              </a:ext>
            </a:extLst>
          </p:cNvPr>
          <p:cNvGrpSpPr/>
          <p:nvPr/>
        </p:nvGrpSpPr>
        <p:grpSpPr>
          <a:xfrm>
            <a:off x="3060707" y="1747109"/>
            <a:ext cx="1006665" cy="897918"/>
            <a:chOff x="6597866" y="3344326"/>
            <a:chExt cx="1188000" cy="1059664"/>
          </a:xfrm>
        </p:grpSpPr>
        <p:sp>
          <p:nvSpPr>
            <p:cNvPr id="21" name="Rectangle 20">
              <a:extLst>
                <a:ext uri="{FF2B5EF4-FFF2-40B4-BE49-F238E27FC236}">
                  <a16:creationId xmlns:a16="http://schemas.microsoft.com/office/drawing/2014/main" id="{52F0202B-7FF1-A3A9-14DA-4C4FD9B85AD3}"/>
                </a:ext>
              </a:extLst>
            </p:cNvPr>
            <p:cNvSpPr/>
            <p:nvPr/>
          </p:nvSpPr>
          <p:spPr>
            <a:xfrm>
              <a:off x="6597866"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RH</a:t>
              </a:r>
            </a:p>
            <a:p>
              <a:pPr algn="ctr"/>
              <a:r>
                <a:rPr lang="fr-FR" sz="800" dirty="0">
                  <a:solidFill>
                    <a:schemeClr val="bg1"/>
                  </a:solidFill>
                </a:rPr>
                <a:t>Carrières</a:t>
              </a:r>
            </a:p>
          </p:txBody>
        </p:sp>
        <p:grpSp>
          <p:nvGrpSpPr>
            <p:cNvPr id="22" name="Groupe 21">
              <a:extLst>
                <a:ext uri="{FF2B5EF4-FFF2-40B4-BE49-F238E27FC236}">
                  <a16:creationId xmlns:a16="http://schemas.microsoft.com/office/drawing/2014/main" id="{817A0305-C0A9-0C97-EA67-12623C35D13F}"/>
                </a:ext>
              </a:extLst>
            </p:cNvPr>
            <p:cNvGrpSpPr/>
            <p:nvPr/>
          </p:nvGrpSpPr>
          <p:grpSpPr>
            <a:xfrm>
              <a:off x="6650513" y="3344326"/>
              <a:ext cx="1020563" cy="496065"/>
              <a:chOff x="6713702" y="745208"/>
              <a:chExt cx="4891967" cy="2377838"/>
            </a:xfrm>
          </p:grpSpPr>
          <p:pic>
            <p:nvPicPr>
              <p:cNvPr id="23" name="Graphique 22" descr="Ramper avec un remplissage uni">
                <a:extLst>
                  <a:ext uri="{FF2B5EF4-FFF2-40B4-BE49-F238E27FC236}">
                    <a16:creationId xmlns:a16="http://schemas.microsoft.com/office/drawing/2014/main" id="{B5794E8B-F039-ADEF-829F-11456FCA113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713702" y="2208646"/>
                <a:ext cx="914400" cy="914400"/>
              </a:xfrm>
              <a:prstGeom prst="rect">
                <a:avLst/>
              </a:prstGeom>
            </p:spPr>
          </p:pic>
          <p:pic>
            <p:nvPicPr>
              <p:cNvPr id="24" name="Graphique 23" descr="Marcher avec un remplissage uni">
                <a:extLst>
                  <a:ext uri="{FF2B5EF4-FFF2-40B4-BE49-F238E27FC236}">
                    <a16:creationId xmlns:a16="http://schemas.microsoft.com/office/drawing/2014/main" id="{A9DA9C9C-FB1A-7753-E7CE-5C59F2527B4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50711" y="1900170"/>
                <a:ext cx="914400" cy="914400"/>
              </a:xfrm>
              <a:prstGeom prst="rect">
                <a:avLst/>
              </a:prstGeom>
            </p:spPr>
          </p:pic>
          <p:pic>
            <p:nvPicPr>
              <p:cNvPr id="25" name="Graphique 24" descr="Courir avec un remplissage uni">
                <a:extLst>
                  <a:ext uri="{FF2B5EF4-FFF2-40B4-BE49-F238E27FC236}">
                    <a16:creationId xmlns:a16="http://schemas.microsoft.com/office/drawing/2014/main" id="{9F6F6016-4A46-6CCA-373F-D95BBB7A85B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587720" y="1591693"/>
                <a:ext cx="914400" cy="914400"/>
              </a:xfrm>
              <a:prstGeom prst="rect">
                <a:avLst/>
              </a:prstGeom>
            </p:spPr>
          </p:pic>
          <p:pic>
            <p:nvPicPr>
              <p:cNvPr id="26" name="Graphique 25" descr="Héros avec un remplissage uni">
                <a:extLst>
                  <a:ext uri="{FF2B5EF4-FFF2-40B4-BE49-F238E27FC236}">
                    <a16:creationId xmlns:a16="http://schemas.microsoft.com/office/drawing/2014/main" id="{B7EF7988-2E01-7EDC-4947-2C2480684A3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691269" y="745208"/>
                <a:ext cx="914400" cy="914400"/>
              </a:xfrm>
              <a:prstGeom prst="rect">
                <a:avLst/>
              </a:prstGeom>
            </p:spPr>
          </p:pic>
          <p:pic>
            <p:nvPicPr>
              <p:cNvPr id="27" name="Graphique 26" descr="Aspiration avec un remplissage uni">
                <a:extLst>
                  <a:ext uri="{FF2B5EF4-FFF2-40B4-BE49-F238E27FC236}">
                    <a16:creationId xmlns:a16="http://schemas.microsoft.com/office/drawing/2014/main" id="{9D0AA7D1-51E9-13F8-B34B-0DD7DB60373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524729" y="1053685"/>
                <a:ext cx="1143931" cy="1143931"/>
              </a:xfrm>
              <a:prstGeom prst="rect">
                <a:avLst/>
              </a:prstGeom>
            </p:spPr>
          </p:pic>
        </p:grpSp>
      </p:grpSp>
      <p:grpSp>
        <p:nvGrpSpPr>
          <p:cNvPr id="28" name="Groupe 27">
            <a:extLst>
              <a:ext uri="{FF2B5EF4-FFF2-40B4-BE49-F238E27FC236}">
                <a16:creationId xmlns:a16="http://schemas.microsoft.com/office/drawing/2014/main" id="{61B364EA-633B-5702-9F0A-ECA65CDDC789}"/>
              </a:ext>
            </a:extLst>
          </p:cNvPr>
          <p:cNvGrpSpPr/>
          <p:nvPr/>
        </p:nvGrpSpPr>
        <p:grpSpPr>
          <a:xfrm>
            <a:off x="-1181" y="1347421"/>
            <a:ext cx="1006666" cy="1297606"/>
            <a:chOff x="1241541" y="2872641"/>
            <a:chExt cx="1188000" cy="1531349"/>
          </a:xfrm>
        </p:grpSpPr>
        <p:sp>
          <p:nvSpPr>
            <p:cNvPr id="29" name="Rectangle 28">
              <a:extLst>
                <a:ext uri="{FF2B5EF4-FFF2-40B4-BE49-F238E27FC236}">
                  <a16:creationId xmlns:a16="http://schemas.microsoft.com/office/drawing/2014/main" id="{3710E956-F37E-CE42-08EE-C67E1E71715B}"/>
                </a:ext>
              </a:extLst>
            </p:cNvPr>
            <p:cNvSpPr/>
            <p:nvPr/>
          </p:nvSpPr>
          <p:spPr>
            <a:xfrm>
              <a:off x="1241541"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RH</a:t>
              </a:r>
            </a:p>
            <a:p>
              <a:pPr algn="ctr"/>
              <a:r>
                <a:rPr lang="fr-FR" sz="800" dirty="0">
                  <a:solidFill>
                    <a:schemeClr val="bg1"/>
                  </a:solidFill>
                </a:rPr>
                <a:t>Recrutement</a:t>
              </a:r>
            </a:p>
          </p:txBody>
        </p:sp>
        <p:grpSp>
          <p:nvGrpSpPr>
            <p:cNvPr id="30" name="Groupe 29">
              <a:extLst>
                <a:ext uri="{FF2B5EF4-FFF2-40B4-BE49-F238E27FC236}">
                  <a16:creationId xmlns:a16="http://schemas.microsoft.com/office/drawing/2014/main" id="{BD0EB8A4-3D43-9E26-1B8C-667E83DCCFEB}"/>
                </a:ext>
              </a:extLst>
            </p:cNvPr>
            <p:cNvGrpSpPr/>
            <p:nvPr/>
          </p:nvGrpSpPr>
          <p:grpSpPr>
            <a:xfrm>
              <a:off x="1464325" y="2872641"/>
              <a:ext cx="785986" cy="957881"/>
              <a:chOff x="8056685" y="3865046"/>
              <a:chExt cx="2005985" cy="2444694"/>
            </a:xfrm>
          </p:grpSpPr>
          <p:pic>
            <p:nvPicPr>
              <p:cNvPr id="31" name="Graphique 30" descr="Salle de conseil avec un remplissage uni">
                <a:extLst>
                  <a:ext uri="{FF2B5EF4-FFF2-40B4-BE49-F238E27FC236}">
                    <a16:creationId xmlns:a16="http://schemas.microsoft.com/office/drawing/2014/main" id="{F1FE13EA-C797-212A-C840-3A754DFEB71C}"/>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b="16472"/>
              <a:stretch/>
            </p:blipFill>
            <p:spPr>
              <a:xfrm>
                <a:off x="8485542" y="5133555"/>
                <a:ext cx="1408125" cy="1176185"/>
              </a:xfrm>
              <a:prstGeom prst="rect">
                <a:avLst/>
              </a:prstGeom>
            </p:spPr>
          </p:pic>
          <p:pic>
            <p:nvPicPr>
              <p:cNvPr id="32" name="Graphique 31" descr="Croissance de l'activité avec un remplissage uni">
                <a:extLst>
                  <a:ext uri="{FF2B5EF4-FFF2-40B4-BE49-F238E27FC236}">
                    <a16:creationId xmlns:a16="http://schemas.microsoft.com/office/drawing/2014/main" id="{B8A5A57F-0EE6-2492-F191-83951365AF35}"/>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056685" y="3865046"/>
                <a:ext cx="2005985" cy="2005985"/>
              </a:xfrm>
              <a:prstGeom prst="rect">
                <a:avLst/>
              </a:prstGeom>
            </p:spPr>
          </p:pic>
        </p:grpSp>
      </p:grpSp>
      <p:grpSp>
        <p:nvGrpSpPr>
          <p:cNvPr id="33" name="Groupe 32">
            <a:extLst>
              <a:ext uri="{FF2B5EF4-FFF2-40B4-BE49-F238E27FC236}">
                <a16:creationId xmlns:a16="http://schemas.microsoft.com/office/drawing/2014/main" id="{8063357A-6A2C-4A8C-8935-86B04AD05F72}"/>
              </a:ext>
            </a:extLst>
          </p:cNvPr>
          <p:cNvGrpSpPr/>
          <p:nvPr/>
        </p:nvGrpSpPr>
        <p:grpSpPr>
          <a:xfrm>
            <a:off x="1019449" y="1637027"/>
            <a:ext cx="1006666" cy="1008000"/>
            <a:chOff x="2998706" y="3222767"/>
            <a:chExt cx="1188000" cy="1189575"/>
          </a:xfrm>
        </p:grpSpPr>
        <p:sp>
          <p:nvSpPr>
            <p:cNvPr id="34" name="Rectangle 33">
              <a:extLst>
                <a:ext uri="{FF2B5EF4-FFF2-40B4-BE49-F238E27FC236}">
                  <a16:creationId xmlns:a16="http://schemas.microsoft.com/office/drawing/2014/main" id="{78724F2D-0C62-C447-D0BE-7B8C3F11BF71}"/>
                </a:ext>
              </a:extLst>
            </p:cNvPr>
            <p:cNvSpPr/>
            <p:nvPr/>
          </p:nvSpPr>
          <p:spPr>
            <a:xfrm>
              <a:off x="2998706" y="3898719"/>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a:solidFill>
                    <a:schemeClr val="bg1"/>
                  </a:solidFill>
                </a:rPr>
                <a:t>RH</a:t>
              </a:r>
            </a:p>
            <a:p>
              <a:pPr algn="ctr"/>
              <a:r>
                <a:rPr lang="fr-FR" sz="800">
                  <a:solidFill>
                    <a:schemeClr val="bg1"/>
                  </a:solidFill>
                </a:rPr>
                <a:t>Intégration</a:t>
              </a:r>
            </a:p>
          </p:txBody>
        </p:sp>
        <p:grpSp>
          <p:nvGrpSpPr>
            <p:cNvPr id="35" name="Groupe 34">
              <a:extLst>
                <a:ext uri="{FF2B5EF4-FFF2-40B4-BE49-F238E27FC236}">
                  <a16:creationId xmlns:a16="http://schemas.microsoft.com/office/drawing/2014/main" id="{AFEB4BE7-C45D-9774-D814-B6816F35D735}"/>
                </a:ext>
              </a:extLst>
            </p:cNvPr>
            <p:cNvGrpSpPr/>
            <p:nvPr/>
          </p:nvGrpSpPr>
          <p:grpSpPr>
            <a:xfrm>
              <a:off x="3130879" y="3222767"/>
              <a:ext cx="935471" cy="541840"/>
              <a:chOff x="626984" y="628802"/>
              <a:chExt cx="5131851" cy="2356880"/>
            </a:xfrm>
          </p:grpSpPr>
          <p:cxnSp>
            <p:nvCxnSpPr>
              <p:cNvPr id="36" name="Connecteur droit avec flèche 35">
                <a:extLst>
                  <a:ext uri="{FF2B5EF4-FFF2-40B4-BE49-F238E27FC236}">
                    <a16:creationId xmlns:a16="http://schemas.microsoft.com/office/drawing/2014/main" id="{8616DEB2-FF53-1F7A-C9BC-E64647A3A06D}"/>
                  </a:ext>
                </a:extLst>
              </p:cNvPr>
              <p:cNvCxnSpPr>
                <a:cxnSpLocks/>
              </p:cNvCxnSpPr>
              <p:nvPr/>
            </p:nvCxnSpPr>
            <p:spPr>
              <a:xfrm flipV="1">
                <a:off x="626984" y="1565043"/>
                <a:ext cx="5131851" cy="1210667"/>
              </a:xfrm>
              <a:prstGeom prst="straightConnector1">
                <a:avLst/>
              </a:prstGeom>
              <a:ln w="57150">
                <a:prstDash val="dash"/>
                <a:tailEnd type="triangle"/>
              </a:ln>
            </p:spPr>
            <p:style>
              <a:lnRef idx="1">
                <a:schemeClr val="accent1"/>
              </a:lnRef>
              <a:fillRef idx="0">
                <a:schemeClr val="accent1"/>
              </a:fillRef>
              <a:effectRef idx="0">
                <a:schemeClr val="accent1"/>
              </a:effectRef>
              <a:fontRef idx="minor">
                <a:schemeClr val="tx1"/>
              </a:fontRef>
            </p:style>
          </p:cxnSp>
          <p:pic>
            <p:nvPicPr>
              <p:cNvPr id="37" name="Graphique 36" descr="Personne confuse avec un remplissage uni">
                <a:extLst>
                  <a:ext uri="{FF2B5EF4-FFF2-40B4-BE49-F238E27FC236}">
                    <a16:creationId xmlns:a16="http://schemas.microsoft.com/office/drawing/2014/main" id="{14C28B88-C514-AD7C-C129-FDC05DD2BDE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604967" y="1805997"/>
                <a:ext cx="940978" cy="940978"/>
              </a:xfrm>
              <a:prstGeom prst="rect">
                <a:avLst/>
              </a:prstGeom>
            </p:spPr>
          </p:pic>
          <p:pic>
            <p:nvPicPr>
              <p:cNvPr id="38" name="Graphique 37" descr="Réussite du groupe avec un remplissage uni">
                <a:extLst>
                  <a:ext uri="{FF2B5EF4-FFF2-40B4-BE49-F238E27FC236}">
                    <a16:creationId xmlns:a16="http://schemas.microsoft.com/office/drawing/2014/main" id="{22BF57DE-797E-178E-F866-5271B5A85E6B}"/>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228767" y="628802"/>
                <a:ext cx="1492354" cy="1492354"/>
              </a:xfrm>
              <a:prstGeom prst="rect">
                <a:avLst/>
              </a:prstGeom>
            </p:spPr>
          </p:pic>
          <p:pic>
            <p:nvPicPr>
              <p:cNvPr id="39" name="Graphique 38" descr="Personne confuse avec un remplissage uni">
                <a:extLst>
                  <a:ext uri="{FF2B5EF4-FFF2-40B4-BE49-F238E27FC236}">
                    <a16:creationId xmlns:a16="http://schemas.microsoft.com/office/drawing/2014/main" id="{87888D41-A254-647C-C8C6-89E901FC92E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2479567" y="1609677"/>
                <a:ext cx="940978" cy="940978"/>
              </a:xfrm>
              <a:prstGeom prst="rect">
                <a:avLst/>
              </a:prstGeom>
            </p:spPr>
          </p:pic>
          <p:pic>
            <p:nvPicPr>
              <p:cNvPr id="40" name="Graphique 39" descr="Personne confuse avec un remplissage uni">
                <a:extLst>
                  <a:ext uri="{FF2B5EF4-FFF2-40B4-BE49-F238E27FC236}">
                    <a16:creationId xmlns:a16="http://schemas.microsoft.com/office/drawing/2014/main" id="{B1037738-3DB1-B76F-9864-F9BAD35F504A}"/>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656694" y="2044704"/>
                <a:ext cx="940978" cy="940978"/>
              </a:xfrm>
              <a:prstGeom prst="rect">
                <a:avLst/>
              </a:prstGeom>
            </p:spPr>
          </p:pic>
          <p:pic>
            <p:nvPicPr>
              <p:cNvPr id="41" name="Graphique 40" descr="Personne confuse avec un remplissage uni">
                <a:extLst>
                  <a:ext uri="{FF2B5EF4-FFF2-40B4-BE49-F238E27FC236}">
                    <a16:creationId xmlns:a16="http://schemas.microsoft.com/office/drawing/2014/main" id="{E4E8EF4C-1D8A-DB75-96B4-B944B0FE2C15}"/>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3293254" y="1399398"/>
                <a:ext cx="940978" cy="940978"/>
              </a:xfrm>
              <a:prstGeom prst="rect">
                <a:avLst/>
              </a:prstGeom>
            </p:spPr>
          </p:pic>
          <p:pic>
            <p:nvPicPr>
              <p:cNvPr id="42" name="Graphique 41" descr="Personne confuse avec un remplissage uni">
                <a:extLst>
                  <a:ext uri="{FF2B5EF4-FFF2-40B4-BE49-F238E27FC236}">
                    <a16:creationId xmlns:a16="http://schemas.microsoft.com/office/drawing/2014/main" id="{391939D4-B045-73F0-D890-D04B53A5C25E}"/>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4234476" y="1189119"/>
                <a:ext cx="940978" cy="940978"/>
              </a:xfrm>
              <a:prstGeom prst="rect">
                <a:avLst/>
              </a:prstGeom>
            </p:spPr>
          </p:pic>
        </p:grpSp>
      </p:grpSp>
      <p:grpSp>
        <p:nvGrpSpPr>
          <p:cNvPr id="43" name="Groupe 42">
            <a:extLst>
              <a:ext uri="{FF2B5EF4-FFF2-40B4-BE49-F238E27FC236}">
                <a16:creationId xmlns:a16="http://schemas.microsoft.com/office/drawing/2014/main" id="{F968F686-E279-DEB8-5306-FDE035C7BDFF}"/>
              </a:ext>
            </a:extLst>
          </p:cNvPr>
          <p:cNvGrpSpPr/>
          <p:nvPr/>
        </p:nvGrpSpPr>
        <p:grpSpPr>
          <a:xfrm>
            <a:off x="2040079" y="1315469"/>
            <a:ext cx="1006664" cy="1329558"/>
            <a:chOff x="4859249" y="2834933"/>
            <a:chExt cx="1188000" cy="1569057"/>
          </a:xfrm>
        </p:grpSpPr>
        <p:sp>
          <p:nvSpPr>
            <p:cNvPr id="44" name="Rectangle 43">
              <a:extLst>
                <a:ext uri="{FF2B5EF4-FFF2-40B4-BE49-F238E27FC236}">
                  <a16:creationId xmlns:a16="http://schemas.microsoft.com/office/drawing/2014/main" id="{3F853178-9A21-8C79-DE61-11BA6F9E858B}"/>
                </a:ext>
              </a:extLst>
            </p:cNvPr>
            <p:cNvSpPr/>
            <p:nvPr/>
          </p:nvSpPr>
          <p:spPr>
            <a:xfrm>
              <a:off x="4859249"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RH</a:t>
              </a:r>
            </a:p>
            <a:p>
              <a:pPr algn="ctr"/>
              <a:r>
                <a:rPr lang="fr-FR" sz="800" dirty="0">
                  <a:solidFill>
                    <a:schemeClr val="bg1"/>
                  </a:solidFill>
                </a:rPr>
                <a:t>Formation</a:t>
              </a:r>
            </a:p>
          </p:txBody>
        </p:sp>
        <p:grpSp>
          <p:nvGrpSpPr>
            <p:cNvPr id="45" name="Groupe 44">
              <a:extLst>
                <a:ext uri="{FF2B5EF4-FFF2-40B4-BE49-F238E27FC236}">
                  <a16:creationId xmlns:a16="http://schemas.microsoft.com/office/drawing/2014/main" id="{2DE569D0-7114-07DE-5AF0-D87F8E232B55}"/>
                </a:ext>
              </a:extLst>
            </p:cNvPr>
            <p:cNvGrpSpPr/>
            <p:nvPr/>
          </p:nvGrpSpPr>
          <p:grpSpPr>
            <a:xfrm>
              <a:off x="4953396" y="2834933"/>
              <a:ext cx="1021038" cy="1060714"/>
              <a:chOff x="1793893" y="3948469"/>
              <a:chExt cx="2716107" cy="2749848"/>
            </a:xfrm>
          </p:grpSpPr>
          <p:pic>
            <p:nvPicPr>
              <p:cNvPr id="46" name="Graphique 45" descr="Diplôme roulé avec un remplissage uni">
                <a:extLst>
                  <a:ext uri="{FF2B5EF4-FFF2-40B4-BE49-F238E27FC236}">
                    <a16:creationId xmlns:a16="http://schemas.microsoft.com/office/drawing/2014/main" id="{1CF64D4C-4F4C-E73E-EED0-25130EFA7930}"/>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2976734" y="5783917"/>
                <a:ext cx="914400" cy="914400"/>
              </a:xfrm>
              <a:prstGeom prst="rect">
                <a:avLst/>
              </a:prstGeom>
            </p:spPr>
          </p:pic>
          <p:grpSp>
            <p:nvGrpSpPr>
              <p:cNvPr id="47" name="Groupe 46">
                <a:extLst>
                  <a:ext uri="{FF2B5EF4-FFF2-40B4-BE49-F238E27FC236}">
                    <a16:creationId xmlns:a16="http://schemas.microsoft.com/office/drawing/2014/main" id="{9ED9E94C-075B-D223-FACD-A60395E3FAE7}"/>
                  </a:ext>
                </a:extLst>
              </p:cNvPr>
              <p:cNvGrpSpPr/>
              <p:nvPr/>
            </p:nvGrpSpPr>
            <p:grpSpPr>
              <a:xfrm>
                <a:off x="1793893" y="3948469"/>
                <a:ext cx="2716107" cy="2284168"/>
                <a:chOff x="1793893" y="3948469"/>
                <a:chExt cx="2716107" cy="2284168"/>
              </a:xfrm>
            </p:grpSpPr>
            <p:sp>
              <p:nvSpPr>
                <p:cNvPr id="48" name="Ellipse 47">
                  <a:extLst>
                    <a:ext uri="{FF2B5EF4-FFF2-40B4-BE49-F238E27FC236}">
                      <a16:creationId xmlns:a16="http://schemas.microsoft.com/office/drawing/2014/main" id="{0567258E-54B4-19CD-2F76-5E922847DE56}"/>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49" name="Graphique 48" descr="Transférer avec un remplissage uni">
                  <a:extLst>
                    <a:ext uri="{FF2B5EF4-FFF2-40B4-BE49-F238E27FC236}">
                      <a16:creationId xmlns:a16="http://schemas.microsoft.com/office/drawing/2014/main" id="{012D3365-90B6-7DC3-86DA-9CB05C28967E}"/>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1979208" y="4142052"/>
                  <a:ext cx="914400" cy="914400"/>
                </a:xfrm>
                <a:prstGeom prst="rect">
                  <a:avLst/>
                </a:prstGeom>
              </p:spPr>
            </p:pic>
            <p:pic>
              <p:nvPicPr>
                <p:cNvPr id="50" name="Graphique 49" descr="Toque d'étudiant avec un remplissage uni">
                  <a:extLst>
                    <a:ext uri="{FF2B5EF4-FFF2-40B4-BE49-F238E27FC236}">
                      <a16:creationId xmlns:a16="http://schemas.microsoft.com/office/drawing/2014/main" id="{502A151E-622E-BF6C-222F-675F2CF52942}"/>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3260713" y="3948469"/>
                  <a:ext cx="914400" cy="914400"/>
                </a:xfrm>
                <a:prstGeom prst="rect">
                  <a:avLst/>
                </a:prstGeom>
              </p:spPr>
            </p:pic>
            <p:pic>
              <p:nvPicPr>
                <p:cNvPr id="51" name="Graphique 50" descr="Idée avec un remplissage uni">
                  <a:extLst>
                    <a:ext uri="{FF2B5EF4-FFF2-40B4-BE49-F238E27FC236}">
                      <a16:creationId xmlns:a16="http://schemas.microsoft.com/office/drawing/2014/main" id="{7646741D-B010-834B-707C-7CC2522539E6}"/>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1793893" y="5264448"/>
                  <a:ext cx="914400" cy="914400"/>
                </a:xfrm>
                <a:prstGeom prst="rect">
                  <a:avLst/>
                </a:prstGeom>
              </p:spPr>
            </p:pic>
            <p:pic>
              <p:nvPicPr>
                <p:cNvPr id="52" name="Graphique 51" descr="Chat avec un remplissage uni">
                  <a:extLst>
                    <a:ext uri="{FF2B5EF4-FFF2-40B4-BE49-F238E27FC236}">
                      <a16:creationId xmlns:a16="http://schemas.microsoft.com/office/drawing/2014/main" id="{00904A1E-F050-30B7-E956-E9C16D31021F}"/>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3595600" y="4881866"/>
                  <a:ext cx="914400" cy="914400"/>
                </a:xfrm>
                <a:prstGeom prst="rect">
                  <a:avLst/>
                </a:prstGeom>
              </p:spPr>
            </p:pic>
          </p:grpSp>
        </p:grpSp>
      </p:grpSp>
      <p:grpSp>
        <p:nvGrpSpPr>
          <p:cNvPr id="53" name="Groupe 52">
            <a:extLst>
              <a:ext uri="{FF2B5EF4-FFF2-40B4-BE49-F238E27FC236}">
                <a16:creationId xmlns:a16="http://schemas.microsoft.com/office/drawing/2014/main" id="{F1D2E99B-06EB-036D-5BF7-05C677F1F420}"/>
              </a:ext>
            </a:extLst>
          </p:cNvPr>
          <p:cNvGrpSpPr/>
          <p:nvPr/>
        </p:nvGrpSpPr>
        <p:grpSpPr>
          <a:xfrm>
            <a:off x="4081336" y="1529975"/>
            <a:ext cx="867920" cy="1115052"/>
            <a:chOff x="1263318" y="4795766"/>
            <a:chExt cx="1188000" cy="1526271"/>
          </a:xfrm>
        </p:grpSpPr>
        <p:sp>
          <p:nvSpPr>
            <p:cNvPr id="54" name="Rectangle 53">
              <a:extLst>
                <a:ext uri="{FF2B5EF4-FFF2-40B4-BE49-F238E27FC236}">
                  <a16:creationId xmlns:a16="http://schemas.microsoft.com/office/drawing/2014/main" id="{C5222617-6AEB-57DF-D37B-A4C7954451BE}"/>
                </a:ext>
              </a:extLst>
            </p:cNvPr>
            <p:cNvSpPr/>
            <p:nvPr/>
          </p:nvSpPr>
          <p:spPr>
            <a:xfrm>
              <a:off x="1263318" y="5726307"/>
              <a:ext cx="1188000" cy="59573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a:t>
              </a:r>
            </a:p>
            <a:p>
              <a:pPr algn="ctr"/>
              <a:r>
                <a:rPr lang="fr-FR" sz="800" dirty="0">
                  <a:solidFill>
                    <a:schemeClr val="bg1"/>
                  </a:solidFill>
                </a:rPr>
                <a:t>Projets</a:t>
              </a:r>
            </a:p>
          </p:txBody>
        </p:sp>
        <p:grpSp>
          <p:nvGrpSpPr>
            <p:cNvPr id="55" name="Groupe 54">
              <a:extLst>
                <a:ext uri="{FF2B5EF4-FFF2-40B4-BE49-F238E27FC236}">
                  <a16:creationId xmlns:a16="http://schemas.microsoft.com/office/drawing/2014/main" id="{F4800542-0DC7-AD1F-BCC9-04688D358C83}"/>
                </a:ext>
              </a:extLst>
            </p:cNvPr>
            <p:cNvGrpSpPr/>
            <p:nvPr/>
          </p:nvGrpSpPr>
          <p:grpSpPr>
            <a:xfrm>
              <a:off x="1366615" y="4795766"/>
              <a:ext cx="1006494" cy="888801"/>
              <a:chOff x="7967905" y="574228"/>
              <a:chExt cx="2945866" cy="2601395"/>
            </a:xfrm>
          </p:grpSpPr>
          <p:sp>
            <p:nvSpPr>
              <p:cNvPr id="56" name="Ellipse 55">
                <a:extLst>
                  <a:ext uri="{FF2B5EF4-FFF2-40B4-BE49-F238E27FC236}">
                    <a16:creationId xmlns:a16="http://schemas.microsoft.com/office/drawing/2014/main" id="{33F78300-030B-3104-D004-AB4987D377FB}"/>
                  </a:ext>
                </a:extLst>
              </p:cNvPr>
              <p:cNvSpPr/>
              <p:nvPr/>
            </p:nvSpPr>
            <p:spPr>
              <a:xfrm>
                <a:off x="8454825" y="965640"/>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57" name="Graphique 56" descr="Dossier ouvert avec un remplissage uni">
                <a:extLst>
                  <a:ext uri="{FF2B5EF4-FFF2-40B4-BE49-F238E27FC236}">
                    <a16:creationId xmlns:a16="http://schemas.microsoft.com/office/drawing/2014/main" id="{7890ACFE-4A94-8090-0ABF-F1F9B1155959}"/>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7967905" y="1044764"/>
                <a:ext cx="914400" cy="914400"/>
              </a:xfrm>
              <a:prstGeom prst="rect">
                <a:avLst/>
              </a:prstGeom>
            </p:spPr>
          </p:pic>
          <p:pic>
            <p:nvPicPr>
              <p:cNvPr id="58" name="Graphique 57" descr="Diagramme de Gantt avec un remplissage uni">
                <a:extLst>
                  <a:ext uri="{FF2B5EF4-FFF2-40B4-BE49-F238E27FC236}">
                    <a16:creationId xmlns:a16="http://schemas.microsoft.com/office/drawing/2014/main" id="{64F73498-5431-8AA0-752D-D8C8CB3A4C7E}"/>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8454079" y="2190978"/>
                <a:ext cx="914400" cy="914400"/>
              </a:xfrm>
              <a:prstGeom prst="rect">
                <a:avLst/>
              </a:prstGeom>
            </p:spPr>
          </p:pic>
          <p:pic>
            <p:nvPicPr>
              <p:cNvPr id="59" name="Graphique 58" descr="Calendrier mensuel avec un remplissage uni">
                <a:extLst>
                  <a:ext uri="{FF2B5EF4-FFF2-40B4-BE49-F238E27FC236}">
                    <a16:creationId xmlns:a16="http://schemas.microsoft.com/office/drawing/2014/main" id="{83605219-7AA8-AF73-34DE-30637C45FF9E}"/>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9597330" y="2261223"/>
                <a:ext cx="914400" cy="914400"/>
              </a:xfrm>
              <a:prstGeom prst="rect">
                <a:avLst/>
              </a:prstGeom>
            </p:spPr>
          </p:pic>
          <p:pic>
            <p:nvPicPr>
              <p:cNvPr id="60" name="Graphique 59" descr="Priorités avec un remplissage uni">
                <a:extLst>
                  <a:ext uri="{FF2B5EF4-FFF2-40B4-BE49-F238E27FC236}">
                    <a16:creationId xmlns:a16="http://schemas.microsoft.com/office/drawing/2014/main" id="{F36913EA-AD1D-63CD-AAB0-60AB52010B5C}"/>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flipV="1">
                <a:off x="8952575" y="574228"/>
                <a:ext cx="914400" cy="1089697"/>
              </a:xfrm>
              <a:prstGeom prst="rect">
                <a:avLst/>
              </a:prstGeom>
            </p:spPr>
          </p:pic>
          <p:pic>
            <p:nvPicPr>
              <p:cNvPr id="61" name="Graphique 60" descr="Graphique à barres avec tendance à la baisse avec un remplissage uni">
                <a:extLst>
                  <a:ext uri="{FF2B5EF4-FFF2-40B4-BE49-F238E27FC236}">
                    <a16:creationId xmlns:a16="http://schemas.microsoft.com/office/drawing/2014/main" id="{2C0DF526-8D63-21A6-7F83-A4164917233E}"/>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9999371" y="992534"/>
                <a:ext cx="914400" cy="914400"/>
              </a:xfrm>
              <a:prstGeom prst="rect">
                <a:avLst/>
              </a:prstGeom>
            </p:spPr>
          </p:pic>
        </p:grpSp>
      </p:grpSp>
      <p:grpSp>
        <p:nvGrpSpPr>
          <p:cNvPr id="62" name="Groupe 61">
            <a:extLst>
              <a:ext uri="{FF2B5EF4-FFF2-40B4-BE49-F238E27FC236}">
                <a16:creationId xmlns:a16="http://schemas.microsoft.com/office/drawing/2014/main" id="{6D4D07EA-A7F1-A3CF-83AF-29344EE74029}"/>
              </a:ext>
            </a:extLst>
          </p:cNvPr>
          <p:cNvGrpSpPr/>
          <p:nvPr/>
        </p:nvGrpSpPr>
        <p:grpSpPr>
          <a:xfrm>
            <a:off x="4963220" y="1583181"/>
            <a:ext cx="867921" cy="1061846"/>
            <a:chOff x="2945394" y="4865339"/>
            <a:chExt cx="1188000" cy="1453443"/>
          </a:xfrm>
        </p:grpSpPr>
        <p:sp>
          <p:nvSpPr>
            <p:cNvPr id="64" name="Rectangle 63">
              <a:extLst>
                <a:ext uri="{FF2B5EF4-FFF2-40B4-BE49-F238E27FC236}">
                  <a16:creationId xmlns:a16="http://schemas.microsoft.com/office/drawing/2014/main" id="{35AD468E-424C-FD10-6C8B-BE783BAD7EA3}"/>
                </a:ext>
              </a:extLst>
            </p:cNvPr>
            <p:cNvSpPr/>
            <p:nvPr/>
          </p:nvSpPr>
          <p:spPr>
            <a:xfrm>
              <a:off x="2945394" y="5707751"/>
              <a:ext cx="1188000" cy="61103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a:t>
              </a:r>
            </a:p>
            <a:p>
              <a:pPr algn="ctr"/>
              <a:r>
                <a:rPr lang="fr-FR" sz="800" dirty="0">
                  <a:solidFill>
                    <a:schemeClr val="bg1"/>
                  </a:solidFill>
                </a:rPr>
                <a:t>Qualité &amp; Méthodes</a:t>
              </a:r>
            </a:p>
          </p:txBody>
        </p:sp>
        <p:grpSp>
          <p:nvGrpSpPr>
            <p:cNvPr id="65" name="Groupe 64">
              <a:extLst>
                <a:ext uri="{FF2B5EF4-FFF2-40B4-BE49-F238E27FC236}">
                  <a16:creationId xmlns:a16="http://schemas.microsoft.com/office/drawing/2014/main" id="{7E542B2C-E646-E61F-D9AA-68E733A20EF5}"/>
                </a:ext>
              </a:extLst>
            </p:cNvPr>
            <p:cNvGrpSpPr/>
            <p:nvPr/>
          </p:nvGrpSpPr>
          <p:grpSpPr>
            <a:xfrm>
              <a:off x="3034186" y="4865339"/>
              <a:ext cx="962635" cy="814307"/>
              <a:chOff x="1619081" y="3908041"/>
              <a:chExt cx="3348357" cy="2476948"/>
            </a:xfrm>
          </p:grpSpPr>
          <p:pic>
            <p:nvPicPr>
              <p:cNvPr id="66" name="Graphique 65" descr="Graphique en radar avec un remplissage uni">
                <a:extLst>
                  <a:ext uri="{FF2B5EF4-FFF2-40B4-BE49-F238E27FC236}">
                    <a16:creationId xmlns:a16="http://schemas.microsoft.com/office/drawing/2014/main" id="{B62E9B7E-1325-4510-7465-7E78B2313E6D}"/>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1619081" y="5084439"/>
                <a:ext cx="1290292" cy="1290292"/>
              </a:xfrm>
              <a:prstGeom prst="rect">
                <a:avLst/>
              </a:prstGeom>
            </p:spPr>
          </p:pic>
          <p:pic>
            <p:nvPicPr>
              <p:cNvPr id="67" name="Graphique 66" descr="Compteur bas avec un remplissage uni">
                <a:extLst>
                  <a:ext uri="{FF2B5EF4-FFF2-40B4-BE49-F238E27FC236}">
                    <a16:creationId xmlns:a16="http://schemas.microsoft.com/office/drawing/2014/main" id="{6BC10008-FAA5-161F-9D58-08610337B6DE}"/>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flipH="1">
                <a:off x="2795861" y="3908041"/>
                <a:ext cx="898916" cy="914400"/>
              </a:xfrm>
              <a:prstGeom prst="rect">
                <a:avLst/>
              </a:prstGeom>
            </p:spPr>
          </p:pic>
          <p:pic>
            <p:nvPicPr>
              <p:cNvPr id="68" name="Graphique 67" descr="Cercles avec flèches avec un remplissage uni">
                <a:extLst>
                  <a:ext uri="{FF2B5EF4-FFF2-40B4-BE49-F238E27FC236}">
                    <a16:creationId xmlns:a16="http://schemas.microsoft.com/office/drawing/2014/main" id="{B242B571-7123-0821-5AA9-B63C5D9905E6}"/>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rot="18361995">
                <a:off x="2644083" y="4661879"/>
                <a:ext cx="1172888" cy="1172888"/>
              </a:xfrm>
              <a:prstGeom prst="rect">
                <a:avLst/>
              </a:prstGeom>
            </p:spPr>
          </p:pic>
          <p:pic>
            <p:nvPicPr>
              <p:cNvPr id="69" name="Graphique 68" descr="Presse-papiers badge avec un remplissage uni">
                <a:extLst>
                  <a:ext uri="{FF2B5EF4-FFF2-40B4-BE49-F238E27FC236}">
                    <a16:creationId xmlns:a16="http://schemas.microsoft.com/office/drawing/2014/main" id="{1755000A-8712-F6A3-5248-7A25A7D2403E}"/>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3755728" y="5173279"/>
                <a:ext cx="1211710" cy="1211710"/>
              </a:xfrm>
              <a:prstGeom prst="rect">
                <a:avLst/>
              </a:prstGeom>
            </p:spPr>
          </p:pic>
        </p:grpSp>
      </p:grpSp>
      <p:grpSp>
        <p:nvGrpSpPr>
          <p:cNvPr id="70" name="Groupe 69">
            <a:extLst>
              <a:ext uri="{FF2B5EF4-FFF2-40B4-BE49-F238E27FC236}">
                <a16:creationId xmlns:a16="http://schemas.microsoft.com/office/drawing/2014/main" id="{F20315B3-9A0A-EB30-DEE9-5F041CD9EC7C}"/>
              </a:ext>
            </a:extLst>
          </p:cNvPr>
          <p:cNvGrpSpPr/>
          <p:nvPr/>
        </p:nvGrpSpPr>
        <p:grpSpPr>
          <a:xfrm>
            <a:off x="5845105" y="1690711"/>
            <a:ext cx="867921" cy="954316"/>
            <a:chOff x="4704331" y="5050873"/>
            <a:chExt cx="1188000" cy="1306257"/>
          </a:xfrm>
        </p:grpSpPr>
        <p:sp>
          <p:nvSpPr>
            <p:cNvPr id="71" name="Rectangle 70">
              <a:extLst>
                <a:ext uri="{FF2B5EF4-FFF2-40B4-BE49-F238E27FC236}">
                  <a16:creationId xmlns:a16="http://schemas.microsoft.com/office/drawing/2014/main" id="{619CB058-F298-20E2-192F-D75C698958EC}"/>
                </a:ext>
              </a:extLst>
            </p:cNvPr>
            <p:cNvSpPr/>
            <p:nvPr/>
          </p:nvSpPr>
          <p:spPr>
            <a:xfrm>
              <a:off x="4704331" y="570138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a:t>
              </a:r>
            </a:p>
            <a:p>
              <a:pPr algn="ctr"/>
              <a:r>
                <a:rPr lang="fr-FR" sz="800" dirty="0">
                  <a:solidFill>
                    <a:schemeClr val="bg1"/>
                  </a:solidFill>
                </a:rPr>
                <a:t>Gestion des connaissances</a:t>
              </a:r>
            </a:p>
          </p:txBody>
        </p:sp>
        <p:grpSp>
          <p:nvGrpSpPr>
            <p:cNvPr id="72" name="Groupe 71">
              <a:extLst>
                <a:ext uri="{FF2B5EF4-FFF2-40B4-BE49-F238E27FC236}">
                  <a16:creationId xmlns:a16="http://schemas.microsoft.com/office/drawing/2014/main" id="{41444656-3784-CD68-3827-D5BDF8EFD93C}"/>
                </a:ext>
              </a:extLst>
            </p:cNvPr>
            <p:cNvGrpSpPr/>
            <p:nvPr/>
          </p:nvGrpSpPr>
          <p:grpSpPr>
            <a:xfrm>
              <a:off x="4771800" y="5050873"/>
              <a:ext cx="1076472" cy="553441"/>
              <a:chOff x="6389474" y="3987996"/>
              <a:chExt cx="5385544" cy="2536749"/>
            </a:xfrm>
          </p:grpSpPr>
          <p:cxnSp>
            <p:nvCxnSpPr>
              <p:cNvPr id="73" name="Connecteur droit avec flèche 72">
                <a:extLst>
                  <a:ext uri="{FF2B5EF4-FFF2-40B4-BE49-F238E27FC236}">
                    <a16:creationId xmlns:a16="http://schemas.microsoft.com/office/drawing/2014/main" id="{4CD4D21C-63C8-A662-465A-11FA62A61686}"/>
                  </a:ext>
                </a:extLst>
              </p:cNvPr>
              <p:cNvCxnSpPr>
                <a:cxnSpLocks/>
              </p:cNvCxnSpPr>
              <p:nvPr/>
            </p:nvCxnSpPr>
            <p:spPr>
              <a:xfrm flipV="1">
                <a:off x="6535271" y="6100758"/>
                <a:ext cx="1486117" cy="22439"/>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74" name="Graphique 73" descr="Télécharger du cloud avec un remplissage uni">
                <a:extLst>
                  <a:ext uri="{FF2B5EF4-FFF2-40B4-BE49-F238E27FC236}">
                    <a16:creationId xmlns:a16="http://schemas.microsoft.com/office/drawing/2014/main" id="{23B1B2D3-AE8F-B503-2A72-09C6E75215A3}"/>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8320900" y="3987996"/>
                <a:ext cx="675060" cy="675060"/>
              </a:xfrm>
              <a:prstGeom prst="rect">
                <a:avLst/>
              </a:prstGeom>
            </p:spPr>
          </p:pic>
          <p:pic>
            <p:nvPicPr>
              <p:cNvPr id="75" name="Graphique 74" descr="Serveur avec un remplissage uni">
                <a:extLst>
                  <a:ext uri="{FF2B5EF4-FFF2-40B4-BE49-F238E27FC236}">
                    <a16:creationId xmlns:a16="http://schemas.microsoft.com/office/drawing/2014/main" id="{D0B27127-33BC-C750-B2C0-A15448DD5016}"/>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8995960" y="3987996"/>
                <a:ext cx="675060" cy="675060"/>
              </a:xfrm>
              <a:prstGeom prst="rect">
                <a:avLst/>
              </a:prstGeom>
            </p:spPr>
          </p:pic>
          <p:pic>
            <p:nvPicPr>
              <p:cNvPr id="76" name="Graphique 75" descr="Tête avec engrenages avec un remplissage uni">
                <a:extLst>
                  <a:ext uri="{FF2B5EF4-FFF2-40B4-BE49-F238E27FC236}">
                    <a16:creationId xmlns:a16="http://schemas.microsoft.com/office/drawing/2014/main" id="{28DB0495-2338-66A6-6114-9F7C15EBE37B}"/>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6389474" y="5495508"/>
                <a:ext cx="914400" cy="914400"/>
              </a:xfrm>
              <a:prstGeom prst="rect">
                <a:avLst/>
              </a:prstGeom>
            </p:spPr>
          </p:pic>
          <p:sp>
            <p:nvSpPr>
              <p:cNvPr id="77" name="Flèche : droite 76">
                <a:extLst>
                  <a:ext uri="{FF2B5EF4-FFF2-40B4-BE49-F238E27FC236}">
                    <a16:creationId xmlns:a16="http://schemas.microsoft.com/office/drawing/2014/main" id="{45E61D51-70BD-0737-1972-2999BCA3276E}"/>
                  </a:ext>
                </a:extLst>
              </p:cNvPr>
              <p:cNvSpPr/>
              <p:nvPr/>
            </p:nvSpPr>
            <p:spPr>
              <a:xfrm rot="2221843">
                <a:off x="9714954" y="4900835"/>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78" name="Graphique 77" descr="Enseignant avec un remplissage uni">
                <a:extLst>
                  <a:ext uri="{FF2B5EF4-FFF2-40B4-BE49-F238E27FC236}">
                    <a16:creationId xmlns:a16="http://schemas.microsoft.com/office/drawing/2014/main" id="{59C05FC2-9C07-2162-79E3-FD39A3377AE9}"/>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a:off x="8353404" y="4668590"/>
                <a:ext cx="639776" cy="639776"/>
              </a:xfrm>
              <a:prstGeom prst="rect">
                <a:avLst/>
              </a:prstGeom>
            </p:spPr>
          </p:pic>
          <p:cxnSp>
            <p:nvCxnSpPr>
              <p:cNvPr id="79" name="Connecteur droit avec flèche 78">
                <a:extLst>
                  <a:ext uri="{FF2B5EF4-FFF2-40B4-BE49-F238E27FC236}">
                    <a16:creationId xmlns:a16="http://schemas.microsoft.com/office/drawing/2014/main" id="{07AD7FFE-9BA2-2B98-9CDB-5C5C0BAA319A}"/>
                  </a:ext>
                </a:extLst>
              </p:cNvPr>
              <p:cNvCxnSpPr>
                <a:cxnSpLocks/>
              </p:cNvCxnSpPr>
              <p:nvPr/>
            </p:nvCxnSpPr>
            <p:spPr>
              <a:xfrm flipV="1">
                <a:off x="9709150" y="6092806"/>
                <a:ext cx="2065868" cy="15905"/>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80" name="Graphique 79" descr="Tête avec engrenages avec un remplissage uni">
                <a:extLst>
                  <a:ext uri="{FF2B5EF4-FFF2-40B4-BE49-F238E27FC236}">
                    <a16:creationId xmlns:a16="http://schemas.microsoft.com/office/drawing/2014/main" id="{BBD87DA1-F7C6-C796-F3DD-CB06B6D34FE6}"/>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10652219" y="5495508"/>
                <a:ext cx="914400" cy="914400"/>
              </a:xfrm>
              <a:prstGeom prst="rect">
                <a:avLst/>
              </a:prstGeom>
            </p:spPr>
          </p:pic>
          <p:sp>
            <p:nvSpPr>
              <p:cNvPr id="81" name="Flèche : droite 80">
                <a:extLst>
                  <a:ext uri="{FF2B5EF4-FFF2-40B4-BE49-F238E27FC236}">
                    <a16:creationId xmlns:a16="http://schemas.microsoft.com/office/drawing/2014/main" id="{2C23B743-F6A3-4C80-511C-B50D97E3FE22}"/>
                  </a:ext>
                </a:extLst>
              </p:cNvPr>
              <p:cNvSpPr/>
              <p:nvPr/>
            </p:nvSpPr>
            <p:spPr>
              <a:xfrm rot="18844370">
                <a:off x="7386229" y="4956663"/>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82" name="Graphique 81" descr="Groupe de personnes avec un remplissage uni">
                <a:extLst>
                  <a:ext uri="{FF2B5EF4-FFF2-40B4-BE49-F238E27FC236}">
                    <a16:creationId xmlns:a16="http://schemas.microsoft.com/office/drawing/2014/main" id="{176A86A9-D4C7-79B4-48E7-E27ECF634D87}"/>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9025684" y="4682443"/>
                <a:ext cx="565880" cy="565880"/>
              </a:xfrm>
              <a:prstGeom prst="rect">
                <a:avLst/>
              </a:prstGeom>
            </p:spPr>
          </p:pic>
          <p:pic>
            <p:nvPicPr>
              <p:cNvPr id="83" name="Graphique 82" descr="Stop avec un remplissage uni">
                <a:extLst>
                  <a:ext uri="{FF2B5EF4-FFF2-40B4-BE49-F238E27FC236}">
                    <a16:creationId xmlns:a16="http://schemas.microsoft.com/office/drawing/2014/main" id="{82D99B4C-564B-AEF5-2346-128C4A010983}"/>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7905881" y="5610345"/>
                <a:ext cx="914400" cy="914400"/>
              </a:xfrm>
              <a:prstGeom prst="rect">
                <a:avLst/>
              </a:prstGeom>
            </p:spPr>
          </p:pic>
          <p:grpSp>
            <p:nvGrpSpPr>
              <p:cNvPr id="84" name="Groupe 83">
                <a:extLst>
                  <a:ext uri="{FF2B5EF4-FFF2-40B4-BE49-F238E27FC236}">
                    <a16:creationId xmlns:a16="http://schemas.microsoft.com/office/drawing/2014/main" id="{9C217AAF-C99E-ADEE-D6EF-4C781F51F3E7}"/>
                  </a:ext>
                </a:extLst>
              </p:cNvPr>
              <p:cNvGrpSpPr/>
              <p:nvPr/>
            </p:nvGrpSpPr>
            <p:grpSpPr>
              <a:xfrm>
                <a:off x="9279050" y="5495508"/>
                <a:ext cx="914400" cy="914400"/>
                <a:chOff x="9251950" y="5495508"/>
                <a:chExt cx="914400" cy="914400"/>
              </a:xfrm>
            </p:grpSpPr>
            <p:pic>
              <p:nvPicPr>
                <p:cNvPr id="85" name="Graphique 84" descr="Tête avec engrenages avec un remplissage uni">
                  <a:extLst>
                    <a:ext uri="{FF2B5EF4-FFF2-40B4-BE49-F238E27FC236}">
                      <a16:creationId xmlns:a16="http://schemas.microsoft.com/office/drawing/2014/main" id="{0104480B-D081-3FBD-A79D-3DF9C1460B51}"/>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9251950" y="5495508"/>
                  <a:ext cx="914400" cy="914400"/>
                </a:xfrm>
                <a:prstGeom prst="rect">
                  <a:avLst/>
                </a:prstGeom>
              </p:spPr>
            </p:pic>
            <p:sp>
              <p:nvSpPr>
                <p:cNvPr id="86" name="Rectangle 85">
                  <a:extLst>
                    <a:ext uri="{FF2B5EF4-FFF2-40B4-BE49-F238E27FC236}">
                      <a16:creationId xmlns:a16="http://schemas.microsoft.com/office/drawing/2014/main" id="{14E4E005-8AD2-0AB1-7E91-45A111C76F32}"/>
                    </a:ext>
                  </a:extLst>
                </p:cNvPr>
                <p:cNvSpPr/>
                <p:nvPr/>
              </p:nvSpPr>
              <p:spPr>
                <a:xfrm>
                  <a:off x="9453160" y="5700257"/>
                  <a:ext cx="402041" cy="33468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87" name="Rectangle 86">
                  <a:extLst>
                    <a:ext uri="{FF2B5EF4-FFF2-40B4-BE49-F238E27FC236}">
                      <a16:creationId xmlns:a16="http://schemas.microsoft.com/office/drawing/2014/main" id="{B5C40C4A-C596-3285-0A5F-9F1F9EA30D7F}"/>
                    </a:ext>
                  </a:extLst>
                </p:cNvPr>
                <p:cNvSpPr/>
                <p:nvPr/>
              </p:nvSpPr>
              <p:spPr>
                <a:xfrm>
                  <a:off x="9566945" y="5606948"/>
                  <a:ext cx="262408" cy="34576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grpSp>
        </p:grpSp>
      </p:grpSp>
      <p:grpSp>
        <p:nvGrpSpPr>
          <p:cNvPr id="88" name="Groupe 87">
            <a:extLst>
              <a:ext uri="{FF2B5EF4-FFF2-40B4-BE49-F238E27FC236}">
                <a16:creationId xmlns:a16="http://schemas.microsoft.com/office/drawing/2014/main" id="{8381FD27-56B0-533B-3FB8-842586EB0AAF}"/>
              </a:ext>
            </a:extLst>
          </p:cNvPr>
          <p:cNvGrpSpPr/>
          <p:nvPr/>
        </p:nvGrpSpPr>
        <p:grpSpPr>
          <a:xfrm>
            <a:off x="8490759" y="1788566"/>
            <a:ext cx="867920" cy="856461"/>
            <a:chOff x="9979734" y="5177643"/>
            <a:chExt cx="1188000" cy="1172315"/>
          </a:xfrm>
        </p:grpSpPr>
        <p:sp>
          <p:nvSpPr>
            <p:cNvPr id="89" name="Rectangle 88">
              <a:extLst>
                <a:ext uri="{FF2B5EF4-FFF2-40B4-BE49-F238E27FC236}">
                  <a16:creationId xmlns:a16="http://schemas.microsoft.com/office/drawing/2014/main" id="{D275654D-4FB1-F2F2-FF30-EA0401EC1190}"/>
                </a:ext>
              </a:extLst>
            </p:cNvPr>
            <p:cNvSpPr/>
            <p:nvPr/>
          </p:nvSpPr>
          <p:spPr>
            <a:xfrm>
              <a:off x="9979734" y="5694208"/>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a:t>
              </a:r>
            </a:p>
            <a:p>
              <a:pPr algn="ctr"/>
              <a:r>
                <a:rPr lang="fr-FR" sz="800" dirty="0">
                  <a:solidFill>
                    <a:schemeClr val="bg1"/>
                  </a:solidFill>
                </a:rPr>
                <a:t>Transformation d’entreprise</a:t>
              </a:r>
            </a:p>
          </p:txBody>
        </p:sp>
        <p:grpSp>
          <p:nvGrpSpPr>
            <p:cNvPr id="90" name="Groupe 89">
              <a:extLst>
                <a:ext uri="{FF2B5EF4-FFF2-40B4-BE49-F238E27FC236}">
                  <a16:creationId xmlns:a16="http://schemas.microsoft.com/office/drawing/2014/main" id="{4F574C19-E73D-CD9F-00AE-65F9AF6F34CB}"/>
                </a:ext>
              </a:extLst>
            </p:cNvPr>
            <p:cNvGrpSpPr/>
            <p:nvPr/>
          </p:nvGrpSpPr>
          <p:grpSpPr>
            <a:xfrm>
              <a:off x="10053885" y="5177643"/>
              <a:ext cx="1025143" cy="399185"/>
              <a:chOff x="6479122" y="1406591"/>
              <a:chExt cx="5241664" cy="1686141"/>
            </a:xfrm>
          </p:grpSpPr>
          <p:pic>
            <p:nvPicPr>
              <p:cNvPr id="91" name="Graphique 90" descr="Soucoupe volante avec un remplissage uni">
                <a:extLst>
                  <a:ext uri="{FF2B5EF4-FFF2-40B4-BE49-F238E27FC236}">
                    <a16:creationId xmlns:a16="http://schemas.microsoft.com/office/drawing/2014/main" id="{0DC995B1-F4C5-8956-4244-071D03985176}"/>
                  </a:ext>
                </a:extLst>
              </p:cNvPr>
              <p:cNvPicPr>
                <a:picLocks noChangeAspect="1"/>
              </p:cNvPicPr>
              <p:nvPr/>
            </p:nvPicPr>
            <p:blipFill>
              <a:blip r:embed="rId74">
                <a:extLst>
                  <a:ext uri="{28A0092B-C50C-407E-A947-70E740481C1C}">
                    <a14:useLocalDpi xmlns:a14="http://schemas.microsoft.com/office/drawing/2010/main" val="0"/>
                  </a:ext>
                  <a:ext uri="{96DAC541-7B7A-43D3-8B79-37D633B846F1}">
                    <asvg:svgBlip xmlns:asvg="http://schemas.microsoft.com/office/drawing/2016/SVG/main" r:embed="rId75"/>
                  </a:ext>
                </a:extLst>
              </a:blip>
              <a:stretch>
                <a:fillRect/>
              </a:stretch>
            </p:blipFill>
            <p:spPr>
              <a:xfrm>
                <a:off x="10806386" y="1406591"/>
                <a:ext cx="914400" cy="914400"/>
              </a:xfrm>
              <a:prstGeom prst="rect">
                <a:avLst/>
              </a:prstGeom>
            </p:spPr>
          </p:pic>
          <p:pic>
            <p:nvPicPr>
              <p:cNvPr id="92" name="Graphique 91" descr="Usine avec un remplissage uni">
                <a:extLst>
                  <a:ext uri="{FF2B5EF4-FFF2-40B4-BE49-F238E27FC236}">
                    <a16:creationId xmlns:a16="http://schemas.microsoft.com/office/drawing/2014/main" id="{2D5C72E2-D359-E595-C0EE-813886E6965C}"/>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8642754" y="1406591"/>
                <a:ext cx="914400" cy="914400"/>
              </a:xfrm>
              <a:prstGeom prst="rect">
                <a:avLst/>
              </a:prstGeom>
            </p:spPr>
          </p:pic>
          <p:pic>
            <p:nvPicPr>
              <p:cNvPr id="93" name="Graphique 92" descr="Pyramide avec un remplissage uni">
                <a:extLst>
                  <a:ext uri="{FF2B5EF4-FFF2-40B4-BE49-F238E27FC236}">
                    <a16:creationId xmlns:a16="http://schemas.microsoft.com/office/drawing/2014/main" id="{C57A80B7-9867-DA81-5F35-C5A3994252B3}"/>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6479122" y="1406591"/>
                <a:ext cx="914400" cy="914400"/>
              </a:xfrm>
              <a:prstGeom prst="rect">
                <a:avLst/>
              </a:prstGeom>
            </p:spPr>
          </p:pic>
          <p:pic>
            <p:nvPicPr>
              <p:cNvPr id="94" name="Graphique 93" descr="Bâtiment avec un remplissage uni">
                <a:extLst>
                  <a:ext uri="{FF2B5EF4-FFF2-40B4-BE49-F238E27FC236}">
                    <a16:creationId xmlns:a16="http://schemas.microsoft.com/office/drawing/2014/main" id="{18859EE3-E718-FC8B-15CE-D7506D8CD459}"/>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9724570" y="2178332"/>
                <a:ext cx="914400" cy="914400"/>
              </a:xfrm>
              <a:prstGeom prst="rect">
                <a:avLst/>
              </a:prstGeom>
            </p:spPr>
          </p:pic>
          <p:pic>
            <p:nvPicPr>
              <p:cNvPr id="95" name="Graphique 94" descr="Scène de château avec un remplissage uni">
                <a:extLst>
                  <a:ext uri="{FF2B5EF4-FFF2-40B4-BE49-F238E27FC236}">
                    <a16:creationId xmlns:a16="http://schemas.microsoft.com/office/drawing/2014/main" id="{9B29FD00-0B21-CAEA-D78E-F037C5A33491}"/>
                  </a:ext>
                </a:extLst>
              </p:cNvPr>
              <p:cNvPicPr>
                <a:picLocks noChangeAspect="1"/>
              </p:cNvPicPr>
              <p:nvPr/>
            </p:nvPicPr>
            <p:blipFill>
              <a:blip r:embed="rId82">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7560938" y="2178332"/>
                <a:ext cx="914400" cy="914400"/>
              </a:xfrm>
              <a:prstGeom prst="rect">
                <a:avLst/>
              </a:prstGeom>
            </p:spPr>
          </p:pic>
          <p:sp>
            <p:nvSpPr>
              <p:cNvPr id="96" name="Flèche : droite 95">
                <a:extLst>
                  <a:ext uri="{FF2B5EF4-FFF2-40B4-BE49-F238E27FC236}">
                    <a16:creationId xmlns:a16="http://schemas.microsoft.com/office/drawing/2014/main" id="{91B997AA-8B26-1D10-FA6C-81BF3DB138FC}"/>
                  </a:ext>
                </a:extLst>
              </p:cNvPr>
              <p:cNvSpPr/>
              <p:nvPr/>
            </p:nvSpPr>
            <p:spPr>
              <a:xfrm rot="2412443">
                <a:off x="7420834" y="196308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97" name="Flèche : droite 96">
                <a:extLst>
                  <a:ext uri="{FF2B5EF4-FFF2-40B4-BE49-F238E27FC236}">
                    <a16:creationId xmlns:a16="http://schemas.microsoft.com/office/drawing/2014/main" id="{A471C78E-FF48-A542-71DE-4E6C56CDCC71}"/>
                  </a:ext>
                </a:extLst>
              </p:cNvPr>
              <p:cNvSpPr/>
              <p:nvPr/>
            </p:nvSpPr>
            <p:spPr>
              <a:xfrm rot="19318800">
                <a:off x="8295844"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98" name="Flèche : droite 97">
                <a:extLst>
                  <a:ext uri="{FF2B5EF4-FFF2-40B4-BE49-F238E27FC236}">
                    <a16:creationId xmlns:a16="http://schemas.microsoft.com/office/drawing/2014/main" id="{0097236E-907D-751D-68EF-9A9752B02184}"/>
                  </a:ext>
                </a:extLst>
              </p:cNvPr>
              <p:cNvSpPr/>
              <p:nvPr/>
            </p:nvSpPr>
            <p:spPr>
              <a:xfrm rot="19318800">
                <a:off x="10452959"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99" name="Flèche : droite 98">
                <a:extLst>
                  <a:ext uri="{FF2B5EF4-FFF2-40B4-BE49-F238E27FC236}">
                    <a16:creationId xmlns:a16="http://schemas.microsoft.com/office/drawing/2014/main" id="{6E3C6498-0CA1-224D-6460-0BB4EF0B72ED}"/>
                  </a:ext>
                </a:extLst>
              </p:cNvPr>
              <p:cNvSpPr/>
              <p:nvPr/>
            </p:nvSpPr>
            <p:spPr>
              <a:xfrm rot="2412443">
                <a:off x="9514335" y="192072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grpSp>
      </p:grpSp>
      <p:grpSp>
        <p:nvGrpSpPr>
          <p:cNvPr id="100" name="Groupe 99">
            <a:extLst>
              <a:ext uri="{FF2B5EF4-FFF2-40B4-BE49-F238E27FC236}">
                <a16:creationId xmlns:a16="http://schemas.microsoft.com/office/drawing/2014/main" id="{A61156A5-A6AB-63F1-AADE-A927CA32895F}"/>
              </a:ext>
            </a:extLst>
          </p:cNvPr>
          <p:cNvGrpSpPr/>
          <p:nvPr/>
        </p:nvGrpSpPr>
        <p:grpSpPr>
          <a:xfrm>
            <a:off x="6726990" y="1628768"/>
            <a:ext cx="867921" cy="1016259"/>
            <a:chOff x="6450988" y="4963473"/>
            <a:chExt cx="1188000" cy="1391043"/>
          </a:xfrm>
        </p:grpSpPr>
        <p:sp>
          <p:nvSpPr>
            <p:cNvPr id="101" name="Rectangle 100">
              <a:extLst>
                <a:ext uri="{FF2B5EF4-FFF2-40B4-BE49-F238E27FC236}">
                  <a16:creationId xmlns:a16="http://schemas.microsoft.com/office/drawing/2014/main" id="{0CB70D73-055C-9258-EBD0-A4FBACF12C6F}"/>
                </a:ext>
              </a:extLst>
            </p:cNvPr>
            <p:cNvSpPr/>
            <p:nvPr/>
          </p:nvSpPr>
          <p:spPr>
            <a:xfrm>
              <a:off x="6450988" y="5698766"/>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 </a:t>
              </a:r>
            </a:p>
            <a:p>
              <a:pPr algn="ctr"/>
              <a:r>
                <a:rPr lang="fr-FR" sz="800" dirty="0">
                  <a:solidFill>
                    <a:schemeClr val="bg1"/>
                  </a:solidFill>
                </a:rPr>
                <a:t>Management Transverse</a:t>
              </a:r>
            </a:p>
          </p:txBody>
        </p:sp>
        <p:grpSp>
          <p:nvGrpSpPr>
            <p:cNvPr id="102" name="Groupe 101">
              <a:extLst>
                <a:ext uri="{FF2B5EF4-FFF2-40B4-BE49-F238E27FC236}">
                  <a16:creationId xmlns:a16="http://schemas.microsoft.com/office/drawing/2014/main" id="{302522C4-A127-F993-AAE3-3BCF9C4F5AEA}"/>
                </a:ext>
              </a:extLst>
            </p:cNvPr>
            <p:cNvGrpSpPr/>
            <p:nvPr/>
          </p:nvGrpSpPr>
          <p:grpSpPr>
            <a:xfrm>
              <a:off x="6677241" y="4963473"/>
              <a:ext cx="730189" cy="610409"/>
              <a:chOff x="1734369" y="510800"/>
              <a:chExt cx="2873060" cy="2423359"/>
            </a:xfrm>
          </p:grpSpPr>
          <p:pic>
            <p:nvPicPr>
              <p:cNvPr id="103" name="Graphique 102" descr="Avertissement avec un remplissage uni">
                <a:extLst>
                  <a:ext uri="{FF2B5EF4-FFF2-40B4-BE49-F238E27FC236}">
                    <a16:creationId xmlns:a16="http://schemas.microsoft.com/office/drawing/2014/main" id="{A6CFC4DC-82FD-8F9A-52F1-71D2DF50A504}"/>
                  </a:ext>
                </a:extLst>
              </p:cNvPr>
              <p:cNvPicPr>
                <a:picLocks noChangeAspect="1"/>
              </p:cNvPicPr>
              <p:nvPr/>
            </p:nvPicPr>
            <p:blipFill>
              <a:blip r:embed="rId84">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1734369" y="1978134"/>
                <a:ext cx="914400" cy="914400"/>
              </a:xfrm>
              <a:prstGeom prst="rect">
                <a:avLst/>
              </a:prstGeom>
            </p:spPr>
          </p:pic>
          <p:pic>
            <p:nvPicPr>
              <p:cNvPr id="104" name="Graphique 103" descr="Chat avec un remplissage uni">
                <a:extLst>
                  <a:ext uri="{FF2B5EF4-FFF2-40B4-BE49-F238E27FC236}">
                    <a16:creationId xmlns:a16="http://schemas.microsoft.com/office/drawing/2014/main" id="{8C0939F3-290C-D64E-3147-2242D7962DF4}"/>
                  </a:ext>
                </a:extLst>
              </p:cNvPr>
              <p:cNvPicPr>
                <a:picLocks noChangeAspect="1"/>
              </p:cNvPicPr>
              <p:nvPr/>
            </p:nvPicPr>
            <p:blipFill>
              <a:blip r:embed="rId86">
                <a:extLst>
                  <a:ext uri="{28A0092B-C50C-407E-A947-70E740481C1C}">
                    <a14:useLocalDpi xmlns:a14="http://schemas.microsoft.com/office/drawing/2010/main" val="0"/>
                  </a:ext>
                  <a:ext uri="{96DAC541-7B7A-43D3-8B79-37D633B846F1}">
                    <asvg:svgBlip xmlns:asvg="http://schemas.microsoft.com/office/drawing/2016/SVG/main" r:embed="rId87"/>
                  </a:ext>
                </a:extLst>
              </a:blip>
              <a:stretch>
                <a:fillRect/>
              </a:stretch>
            </p:blipFill>
            <p:spPr>
              <a:xfrm>
                <a:off x="2713699" y="1562559"/>
                <a:ext cx="914400" cy="914400"/>
              </a:xfrm>
              <a:prstGeom prst="rect">
                <a:avLst/>
              </a:prstGeom>
            </p:spPr>
          </p:pic>
          <p:pic>
            <p:nvPicPr>
              <p:cNvPr id="105" name="Graphique 104" descr="Liste de contrôle avec un remplissage uni">
                <a:extLst>
                  <a:ext uri="{FF2B5EF4-FFF2-40B4-BE49-F238E27FC236}">
                    <a16:creationId xmlns:a16="http://schemas.microsoft.com/office/drawing/2014/main" id="{168D99A2-195B-35A5-1F44-67A43E038C79}"/>
                  </a:ext>
                </a:extLst>
              </p:cNvPr>
              <p:cNvPicPr>
                <a:picLocks noChangeAspect="1"/>
              </p:cNvPicPr>
              <p:nvPr/>
            </p:nvPicPr>
            <p:blipFill>
              <a:blip r:embed="rId88">
                <a:extLst>
                  <a:ext uri="{28A0092B-C50C-407E-A947-70E740481C1C}">
                    <a14:useLocalDpi xmlns:a14="http://schemas.microsoft.com/office/drawing/2010/main" val="0"/>
                  </a:ext>
                  <a:ext uri="{96DAC541-7B7A-43D3-8B79-37D633B846F1}">
                    <asvg:svgBlip xmlns:asvg="http://schemas.microsoft.com/office/drawing/2016/SVG/main" r:embed="rId89"/>
                  </a:ext>
                </a:extLst>
              </a:blip>
              <a:stretch>
                <a:fillRect/>
              </a:stretch>
            </p:blipFill>
            <p:spPr>
              <a:xfrm>
                <a:off x="3693029" y="2019759"/>
                <a:ext cx="914400" cy="914400"/>
              </a:xfrm>
              <a:prstGeom prst="rect">
                <a:avLst/>
              </a:prstGeom>
            </p:spPr>
          </p:pic>
          <p:pic>
            <p:nvPicPr>
              <p:cNvPr id="106" name="Graphique 105" descr="Synchronisation avec le cloud avec un remplissage uni">
                <a:extLst>
                  <a:ext uri="{FF2B5EF4-FFF2-40B4-BE49-F238E27FC236}">
                    <a16:creationId xmlns:a16="http://schemas.microsoft.com/office/drawing/2014/main" id="{C5F4421C-DD82-2F6A-F116-05D333F618B8}"/>
                  </a:ext>
                </a:extLst>
              </p:cNvPr>
              <p:cNvPicPr>
                <a:picLocks noChangeAspect="1"/>
              </p:cNvPicPr>
              <p:nvPr/>
            </p:nvPicPr>
            <p:blipFill>
              <a:blip r:embed="rId90">
                <a:extLst>
                  <a:ext uri="{28A0092B-C50C-407E-A947-70E740481C1C}">
                    <a14:useLocalDpi xmlns:a14="http://schemas.microsoft.com/office/drawing/2010/main" val="0"/>
                  </a:ext>
                  <a:ext uri="{96DAC541-7B7A-43D3-8B79-37D633B846F1}">
                    <asvg:svgBlip xmlns:asvg="http://schemas.microsoft.com/office/drawing/2016/SVG/main" r:embed="rId91"/>
                  </a:ext>
                </a:extLst>
              </a:blip>
              <a:stretch>
                <a:fillRect/>
              </a:stretch>
            </p:blipFill>
            <p:spPr>
              <a:xfrm>
                <a:off x="2778630" y="510800"/>
                <a:ext cx="914400" cy="914400"/>
              </a:xfrm>
              <a:prstGeom prst="rect">
                <a:avLst/>
              </a:prstGeom>
            </p:spPr>
          </p:pic>
        </p:grpSp>
      </p:grpSp>
      <p:grpSp>
        <p:nvGrpSpPr>
          <p:cNvPr id="107" name="Groupe 106">
            <a:extLst>
              <a:ext uri="{FF2B5EF4-FFF2-40B4-BE49-F238E27FC236}">
                <a16:creationId xmlns:a16="http://schemas.microsoft.com/office/drawing/2014/main" id="{34253C0B-E7AF-122A-C193-CD3E5DFB7099}"/>
              </a:ext>
            </a:extLst>
          </p:cNvPr>
          <p:cNvGrpSpPr/>
          <p:nvPr/>
        </p:nvGrpSpPr>
        <p:grpSpPr>
          <a:xfrm>
            <a:off x="7608875" y="1470347"/>
            <a:ext cx="867920" cy="1174680"/>
            <a:chOff x="8188500" y="4755609"/>
            <a:chExt cx="1188000" cy="1607891"/>
          </a:xfrm>
        </p:grpSpPr>
        <p:sp>
          <p:nvSpPr>
            <p:cNvPr id="108" name="Rectangle 107">
              <a:extLst>
                <a:ext uri="{FF2B5EF4-FFF2-40B4-BE49-F238E27FC236}">
                  <a16:creationId xmlns:a16="http://schemas.microsoft.com/office/drawing/2014/main" id="{5D0B5BB7-8C5B-A192-9791-A4DC8611EAAC}"/>
                </a:ext>
              </a:extLst>
            </p:cNvPr>
            <p:cNvSpPr/>
            <p:nvPr/>
          </p:nvSpPr>
          <p:spPr>
            <a:xfrm>
              <a:off x="8188500" y="570775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 </a:t>
              </a:r>
            </a:p>
            <a:p>
              <a:pPr algn="ctr"/>
              <a:r>
                <a:rPr lang="fr-FR" sz="800" dirty="0">
                  <a:solidFill>
                    <a:schemeClr val="bg1"/>
                  </a:solidFill>
                </a:rPr>
                <a:t>Innovation</a:t>
              </a:r>
            </a:p>
          </p:txBody>
        </p:sp>
        <p:grpSp>
          <p:nvGrpSpPr>
            <p:cNvPr id="109" name="Groupe 108">
              <a:extLst>
                <a:ext uri="{FF2B5EF4-FFF2-40B4-BE49-F238E27FC236}">
                  <a16:creationId xmlns:a16="http://schemas.microsoft.com/office/drawing/2014/main" id="{5A6442BC-3534-E995-0BA3-A113EBF51BC1}"/>
                </a:ext>
              </a:extLst>
            </p:cNvPr>
            <p:cNvGrpSpPr/>
            <p:nvPr/>
          </p:nvGrpSpPr>
          <p:grpSpPr>
            <a:xfrm>
              <a:off x="8302488" y="4755609"/>
              <a:ext cx="985193" cy="908867"/>
              <a:chOff x="1770451" y="635328"/>
              <a:chExt cx="2847387" cy="2660604"/>
            </a:xfrm>
          </p:grpSpPr>
          <p:sp>
            <p:nvSpPr>
              <p:cNvPr id="110" name="Ellipse 109">
                <a:extLst>
                  <a:ext uri="{FF2B5EF4-FFF2-40B4-BE49-F238E27FC236}">
                    <a16:creationId xmlns:a16="http://schemas.microsoft.com/office/drawing/2014/main" id="{4DFAA05D-4F76-1ABA-92EE-0BA3969E9C13}"/>
                  </a:ext>
                </a:extLst>
              </p:cNvPr>
              <p:cNvSpPr/>
              <p:nvPr/>
            </p:nvSpPr>
            <p:spPr>
              <a:xfrm>
                <a:off x="2285862" y="956143"/>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111" name="Graphique 110" descr="Lunettes 3D avec un remplissage uni">
                <a:extLst>
                  <a:ext uri="{FF2B5EF4-FFF2-40B4-BE49-F238E27FC236}">
                    <a16:creationId xmlns:a16="http://schemas.microsoft.com/office/drawing/2014/main" id="{D522F17D-81DE-EEA7-1F48-7949BA14B1D8}"/>
                  </a:ext>
                </a:extLst>
              </p:cNvPr>
              <p:cNvPicPr>
                <a:picLocks noChangeAspect="1"/>
              </p:cNvPicPr>
              <p:nvPr/>
            </p:nvPicPr>
            <p:blipFill>
              <a:blip r:embed="rId92">
                <a:extLst>
                  <a:ext uri="{28A0092B-C50C-407E-A947-70E740481C1C}">
                    <a14:useLocalDpi xmlns:a14="http://schemas.microsoft.com/office/drawing/2010/main" val="0"/>
                  </a:ext>
                  <a:ext uri="{96DAC541-7B7A-43D3-8B79-37D633B846F1}">
                    <asvg:svgBlip xmlns:asvg="http://schemas.microsoft.com/office/drawing/2016/SVG/main" r:embed="rId93"/>
                  </a:ext>
                </a:extLst>
              </a:blip>
              <a:stretch>
                <a:fillRect/>
              </a:stretch>
            </p:blipFill>
            <p:spPr>
              <a:xfrm>
                <a:off x="2339651" y="643202"/>
                <a:ext cx="914400" cy="914400"/>
              </a:xfrm>
              <a:prstGeom prst="rect">
                <a:avLst/>
              </a:prstGeom>
            </p:spPr>
          </p:pic>
          <p:pic>
            <p:nvPicPr>
              <p:cNvPr id="112" name="Graphique 111" descr="Mannequin test avec un remplissage uni">
                <a:extLst>
                  <a:ext uri="{FF2B5EF4-FFF2-40B4-BE49-F238E27FC236}">
                    <a16:creationId xmlns:a16="http://schemas.microsoft.com/office/drawing/2014/main" id="{DAD1C08E-B8D0-FB95-F043-A2C9295F0E76}"/>
                  </a:ext>
                </a:extLst>
              </p:cNvPr>
              <p:cNvPicPr>
                <a:picLocks noChangeAspect="1"/>
              </p:cNvPicPr>
              <p:nvPr/>
            </p:nvPicPr>
            <p:blipFill>
              <a:blip r:embed="rId94">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2825957" y="2381532"/>
                <a:ext cx="914400" cy="914400"/>
              </a:xfrm>
              <a:prstGeom prst="rect">
                <a:avLst/>
              </a:prstGeom>
            </p:spPr>
          </p:pic>
          <p:pic>
            <p:nvPicPr>
              <p:cNvPr id="113" name="Graphique 112" descr="Homme scientifique avec un remplissage uni">
                <a:extLst>
                  <a:ext uri="{FF2B5EF4-FFF2-40B4-BE49-F238E27FC236}">
                    <a16:creationId xmlns:a16="http://schemas.microsoft.com/office/drawing/2014/main" id="{6611200C-A452-2AF9-3BDA-C313A62DE2FC}"/>
                  </a:ext>
                </a:extLst>
              </p:cNvPr>
              <p:cNvPicPr>
                <a:picLocks noChangeAspect="1"/>
              </p:cNvPicPr>
              <p:nvPr/>
            </p:nvPicPr>
            <p:blipFill>
              <a:blip r:embed="rId96">
                <a:extLst>
                  <a:ext uri="{28A0092B-C50C-407E-A947-70E740481C1C}">
                    <a14:useLocalDpi xmlns:a14="http://schemas.microsoft.com/office/drawing/2010/main" val="0"/>
                  </a:ext>
                  <a:ext uri="{96DAC541-7B7A-43D3-8B79-37D633B846F1}">
                    <asvg:svgBlip xmlns:asvg="http://schemas.microsoft.com/office/drawing/2016/SVG/main" r:embed="rId97"/>
                  </a:ext>
                </a:extLst>
              </a:blip>
              <a:stretch>
                <a:fillRect/>
              </a:stretch>
            </p:blipFill>
            <p:spPr>
              <a:xfrm>
                <a:off x="3612503" y="635328"/>
                <a:ext cx="914400" cy="914400"/>
              </a:xfrm>
              <a:prstGeom prst="rect">
                <a:avLst/>
              </a:prstGeom>
            </p:spPr>
          </p:pic>
          <p:pic>
            <p:nvPicPr>
              <p:cNvPr id="114" name="Graphique 113" descr="Presse-papiers mixte avec un remplissage uni">
                <a:extLst>
                  <a:ext uri="{FF2B5EF4-FFF2-40B4-BE49-F238E27FC236}">
                    <a16:creationId xmlns:a16="http://schemas.microsoft.com/office/drawing/2014/main" id="{04BF6FE4-E224-44BA-4EF3-1E44CF0A6CA4}"/>
                  </a:ext>
                </a:extLst>
              </p:cNvPr>
              <p:cNvPicPr>
                <a:picLocks noChangeAspect="1"/>
              </p:cNvPicPr>
              <p:nvPr/>
            </p:nvPicPr>
            <p:blipFill>
              <a:blip r:embed="rId98">
                <a:extLst>
                  <a:ext uri="{28A0092B-C50C-407E-A947-70E740481C1C}">
                    <a14:useLocalDpi xmlns:a14="http://schemas.microsoft.com/office/drawing/2010/main" val="0"/>
                  </a:ext>
                  <a:ext uri="{96DAC541-7B7A-43D3-8B79-37D633B846F1}">
                    <asvg:svgBlip xmlns:asvg="http://schemas.microsoft.com/office/drawing/2016/SVG/main" r:embed="rId99"/>
                  </a:ext>
                </a:extLst>
              </a:blip>
              <a:stretch>
                <a:fillRect/>
              </a:stretch>
            </p:blipFill>
            <p:spPr>
              <a:xfrm>
                <a:off x="3703438" y="1819176"/>
                <a:ext cx="914400" cy="914400"/>
              </a:xfrm>
              <a:prstGeom prst="rect">
                <a:avLst/>
              </a:prstGeom>
            </p:spPr>
          </p:pic>
          <p:pic>
            <p:nvPicPr>
              <p:cNvPr id="115" name="Graphique 114" descr="Brainstorming de groupe avec un remplissage uni">
                <a:extLst>
                  <a:ext uri="{FF2B5EF4-FFF2-40B4-BE49-F238E27FC236}">
                    <a16:creationId xmlns:a16="http://schemas.microsoft.com/office/drawing/2014/main" id="{82B3E4B8-F46E-5257-3016-FD0E49703B3A}"/>
                  </a:ext>
                </a:extLst>
              </p:cNvPr>
              <p:cNvPicPr>
                <a:picLocks noChangeAspect="1"/>
              </p:cNvPicPr>
              <p:nvPr/>
            </p:nvPicPr>
            <p:blipFill>
              <a:blip r:embed="rId100">
                <a:extLst>
                  <a:ext uri="{28A0092B-C50C-407E-A947-70E740481C1C}">
                    <a14:useLocalDpi xmlns:a14="http://schemas.microsoft.com/office/drawing/2010/main" val="0"/>
                  </a:ext>
                  <a:ext uri="{96DAC541-7B7A-43D3-8B79-37D633B846F1}">
                    <asvg:svgBlip xmlns:asvg="http://schemas.microsoft.com/office/drawing/2016/SVG/main" r:embed="rId101"/>
                  </a:ext>
                </a:extLst>
              </a:blip>
              <a:stretch>
                <a:fillRect/>
              </a:stretch>
            </p:blipFill>
            <p:spPr>
              <a:xfrm>
                <a:off x="1770451" y="1557602"/>
                <a:ext cx="914400" cy="914400"/>
              </a:xfrm>
              <a:prstGeom prst="rect">
                <a:avLst/>
              </a:prstGeom>
            </p:spPr>
          </p:pic>
        </p:grpSp>
      </p:grpSp>
      <p:grpSp>
        <p:nvGrpSpPr>
          <p:cNvPr id="116" name="Groupe 115">
            <a:extLst>
              <a:ext uri="{FF2B5EF4-FFF2-40B4-BE49-F238E27FC236}">
                <a16:creationId xmlns:a16="http://schemas.microsoft.com/office/drawing/2014/main" id="{8F4FC844-C3FB-C2F4-1AAE-92CA4928682F}"/>
              </a:ext>
            </a:extLst>
          </p:cNvPr>
          <p:cNvGrpSpPr/>
          <p:nvPr/>
        </p:nvGrpSpPr>
        <p:grpSpPr>
          <a:xfrm>
            <a:off x="10318722" y="1524399"/>
            <a:ext cx="932115" cy="1120628"/>
            <a:chOff x="9927646" y="3089935"/>
            <a:chExt cx="1188000" cy="1428262"/>
          </a:xfrm>
        </p:grpSpPr>
        <p:sp>
          <p:nvSpPr>
            <p:cNvPr id="117" name="Rectangle 116">
              <a:extLst>
                <a:ext uri="{FF2B5EF4-FFF2-40B4-BE49-F238E27FC236}">
                  <a16:creationId xmlns:a16="http://schemas.microsoft.com/office/drawing/2014/main" id="{E3362934-3B58-8E26-37BF-73B0B7A7CAAB}"/>
                </a:ext>
              </a:extLst>
            </p:cNvPr>
            <p:cNvSpPr/>
            <p:nvPr/>
          </p:nvSpPr>
          <p:spPr>
            <a:xfrm>
              <a:off x="9927646" y="3907611"/>
              <a:ext cx="1188000" cy="6105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Vente</a:t>
              </a:r>
            </a:p>
            <a:p>
              <a:pPr algn="ctr"/>
              <a:r>
                <a:rPr lang="fr-FR" sz="800" dirty="0">
                  <a:solidFill>
                    <a:schemeClr val="bg1"/>
                  </a:solidFill>
                </a:rPr>
                <a:t>Communication externe</a:t>
              </a:r>
            </a:p>
          </p:txBody>
        </p:sp>
        <p:grpSp>
          <p:nvGrpSpPr>
            <p:cNvPr id="118" name="Groupe 117">
              <a:extLst>
                <a:ext uri="{FF2B5EF4-FFF2-40B4-BE49-F238E27FC236}">
                  <a16:creationId xmlns:a16="http://schemas.microsoft.com/office/drawing/2014/main" id="{6D5CF393-48E4-6134-4D49-DCE4E35973B3}"/>
                </a:ext>
              </a:extLst>
            </p:cNvPr>
            <p:cNvGrpSpPr/>
            <p:nvPr/>
          </p:nvGrpSpPr>
          <p:grpSpPr>
            <a:xfrm>
              <a:off x="10028058" y="3089935"/>
              <a:ext cx="999718" cy="764069"/>
              <a:chOff x="7993201" y="3990786"/>
              <a:chExt cx="3083654" cy="2356787"/>
            </a:xfrm>
          </p:grpSpPr>
          <p:pic>
            <p:nvPicPr>
              <p:cNvPr id="119" name="Graphique 118" descr="Podcasting avec un remplissage uni">
                <a:extLst>
                  <a:ext uri="{FF2B5EF4-FFF2-40B4-BE49-F238E27FC236}">
                    <a16:creationId xmlns:a16="http://schemas.microsoft.com/office/drawing/2014/main" id="{C2570728-E28E-CC9D-9693-FAADB5928D61}"/>
                  </a:ext>
                </a:extLst>
              </p:cNvPr>
              <p:cNvPicPr>
                <a:picLocks noChangeAspect="1"/>
              </p:cNvPicPr>
              <p:nvPr/>
            </p:nvPicPr>
            <p:blipFill>
              <a:blip r:embed="rId102">
                <a:extLst>
                  <a:ext uri="{28A0092B-C50C-407E-A947-70E740481C1C}">
                    <a14:useLocalDpi xmlns:a14="http://schemas.microsoft.com/office/drawing/2010/main" val="0"/>
                  </a:ext>
                  <a:ext uri="{96DAC541-7B7A-43D3-8B79-37D633B846F1}">
                    <asvg:svgBlip xmlns:asvg="http://schemas.microsoft.com/office/drawing/2016/SVG/main" r:embed="rId103"/>
                  </a:ext>
                </a:extLst>
              </a:blip>
              <a:stretch>
                <a:fillRect/>
              </a:stretch>
            </p:blipFill>
            <p:spPr>
              <a:xfrm>
                <a:off x="7993201" y="3990786"/>
                <a:ext cx="914400" cy="914400"/>
              </a:xfrm>
              <a:prstGeom prst="rect">
                <a:avLst/>
              </a:prstGeom>
            </p:spPr>
          </p:pic>
          <p:pic>
            <p:nvPicPr>
              <p:cNvPr id="120" name="Graphique 119" descr="Vlog avec un remplissage uni">
                <a:extLst>
                  <a:ext uri="{FF2B5EF4-FFF2-40B4-BE49-F238E27FC236}">
                    <a16:creationId xmlns:a16="http://schemas.microsoft.com/office/drawing/2014/main" id="{55FC90E3-4165-2D94-1444-84C1AF0B7774}"/>
                  </a:ext>
                </a:extLst>
              </p:cNvPr>
              <p:cNvPicPr>
                <a:picLocks noChangeAspect="1"/>
              </p:cNvPicPr>
              <p:nvPr/>
            </p:nvPicPr>
            <p:blipFill>
              <a:blip r:embed="rId104">
                <a:extLst>
                  <a:ext uri="{28A0092B-C50C-407E-A947-70E740481C1C}">
                    <a14:useLocalDpi xmlns:a14="http://schemas.microsoft.com/office/drawing/2010/main" val="0"/>
                  </a:ext>
                  <a:ext uri="{96DAC541-7B7A-43D3-8B79-37D633B846F1}">
                    <asvg:svgBlip xmlns:asvg="http://schemas.microsoft.com/office/drawing/2016/SVG/main" r:embed="rId105"/>
                  </a:ext>
                </a:extLst>
              </a:blip>
              <a:stretch>
                <a:fillRect/>
              </a:stretch>
            </p:blipFill>
            <p:spPr>
              <a:xfrm>
                <a:off x="8000671" y="5433173"/>
                <a:ext cx="914400" cy="914400"/>
              </a:xfrm>
              <a:prstGeom prst="rect">
                <a:avLst/>
              </a:prstGeom>
            </p:spPr>
          </p:pic>
          <p:pic>
            <p:nvPicPr>
              <p:cNvPr id="121" name="Graphique 120" descr="Journal avec un remplissage uni">
                <a:extLst>
                  <a:ext uri="{FF2B5EF4-FFF2-40B4-BE49-F238E27FC236}">
                    <a16:creationId xmlns:a16="http://schemas.microsoft.com/office/drawing/2014/main" id="{171B2EDF-336B-DC8D-BEDE-689B3D329794}"/>
                  </a:ext>
                </a:extLst>
              </p:cNvPr>
              <p:cNvPicPr>
                <a:picLocks noChangeAspect="1"/>
              </p:cNvPicPr>
              <p:nvPr/>
            </p:nvPicPr>
            <p:blipFill>
              <a:blip r:embed="rId106">
                <a:extLst>
                  <a:ext uri="{28A0092B-C50C-407E-A947-70E740481C1C}">
                    <a14:useLocalDpi xmlns:a14="http://schemas.microsoft.com/office/drawing/2010/main" val="0"/>
                  </a:ext>
                  <a:ext uri="{96DAC541-7B7A-43D3-8B79-37D633B846F1}">
                    <asvg:svgBlip xmlns:asvg="http://schemas.microsoft.com/office/drawing/2016/SVG/main" r:embed="rId107"/>
                  </a:ext>
                </a:extLst>
              </a:blip>
              <a:stretch>
                <a:fillRect/>
              </a:stretch>
            </p:blipFill>
            <p:spPr>
              <a:xfrm>
                <a:off x="10162455" y="4013608"/>
                <a:ext cx="914400" cy="914400"/>
              </a:xfrm>
              <a:prstGeom prst="rect">
                <a:avLst/>
              </a:prstGeom>
            </p:spPr>
          </p:pic>
          <p:pic>
            <p:nvPicPr>
              <p:cNvPr id="122" name="Graphique 121" descr="Réseau en ligne avec un remplissage uni">
                <a:extLst>
                  <a:ext uri="{FF2B5EF4-FFF2-40B4-BE49-F238E27FC236}">
                    <a16:creationId xmlns:a16="http://schemas.microsoft.com/office/drawing/2014/main" id="{BCE99520-4C5A-364B-934B-42A998C3CD94}"/>
                  </a:ext>
                </a:extLst>
              </p:cNvPr>
              <p:cNvPicPr>
                <a:picLocks noChangeAspect="1"/>
              </p:cNvPicPr>
              <p:nvPr/>
            </p:nvPicPr>
            <p:blipFill>
              <a:blip r:embed="rId108">
                <a:extLst>
                  <a:ext uri="{28A0092B-C50C-407E-A947-70E740481C1C}">
                    <a14:useLocalDpi xmlns:a14="http://schemas.microsoft.com/office/drawing/2010/main" val="0"/>
                  </a:ext>
                  <a:ext uri="{96DAC541-7B7A-43D3-8B79-37D633B846F1}">
                    <asvg:svgBlip xmlns:asvg="http://schemas.microsoft.com/office/drawing/2016/SVG/main" r:embed="rId109"/>
                  </a:ext>
                </a:extLst>
              </a:blip>
              <a:stretch>
                <a:fillRect/>
              </a:stretch>
            </p:blipFill>
            <p:spPr>
              <a:xfrm>
                <a:off x="10066135" y="5341229"/>
                <a:ext cx="914400" cy="914400"/>
              </a:xfrm>
              <a:prstGeom prst="rect">
                <a:avLst/>
              </a:prstGeom>
            </p:spPr>
          </p:pic>
          <p:grpSp>
            <p:nvGrpSpPr>
              <p:cNvPr id="123" name="Groupe 122">
                <a:extLst>
                  <a:ext uri="{FF2B5EF4-FFF2-40B4-BE49-F238E27FC236}">
                    <a16:creationId xmlns:a16="http://schemas.microsoft.com/office/drawing/2014/main" id="{6466D064-EE9E-FEB0-B072-B33D8CD9FFFB}"/>
                  </a:ext>
                </a:extLst>
              </p:cNvPr>
              <p:cNvGrpSpPr/>
              <p:nvPr/>
            </p:nvGrpSpPr>
            <p:grpSpPr>
              <a:xfrm>
                <a:off x="8632968" y="4529072"/>
                <a:ext cx="1791083" cy="1287429"/>
                <a:chOff x="8274918" y="4478329"/>
                <a:chExt cx="1791083" cy="1287429"/>
              </a:xfrm>
            </p:grpSpPr>
            <p:pic>
              <p:nvPicPr>
                <p:cNvPr id="124" name="Graphique 123" descr="Bâtiment avec un remplissage uni">
                  <a:extLst>
                    <a:ext uri="{FF2B5EF4-FFF2-40B4-BE49-F238E27FC236}">
                      <a16:creationId xmlns:a16="http://schemas.microsoft.com/office/drawing/2014/main" id="{8F71DD8C-6597-410A-2DCF-768792699A55}"/>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8725807" y="4753283"/>
                  <a:ext cx="914400" cy="914400"/>
                </a:xfrm>
                <a:prstGeom prst="rect">
                  <a:avLst/>
                </a:prstGeom>
              </p:spPr>
            </p:pic>
            <p:sp>
              <p:nvSpPr>
                <p:cNvPr id="125" name="Flèche : droite 124">
                  <a:extLst>
                    <a:ext uri="{FF2B5EF4-FFF2-40B4-BE49-F238E27FC236}">
                      <a16:creationId xmlns:a16="http://schemas.microsoft.com/office/drawing/2014/main" id="{38A84485-0F97-2C0C-7975-B052A8821665}"/>
                    </a:ext>
                  </a:extLst>
                </p:cNvPr>
                <p:cNvSpPr/>
                <p:nvPr/>
              </p:nvSpPr>
              <p:spPr>
                <a:xfrm rot="19318800">
                  <a:off x="9688254" y="447832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126" name="Flèche : droite 125">
                  <a:extLst>
                    <a:ext uri="{FF2B5EF4-FFF2-40B4-BE49-F238E27FC236}">
                      <a16:creationId xmlns:a16="http://schemas.microsoft.com/office/drawing/2014/main" id="{778A3518-C016-0D7C-7066-88540BF21ACD}"/>
                    </a:ext>
                  </a:extLst>
                </p:cNvPr>
                <p:cNvSpPr/>
                <p:nvPr/>
              </p:nvSpPr>
              <p:spPr>
                <a:xfrm rot="2412443">
                  <a:off x="9689689" y="536291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127" name="Flèche : droite 126">
                  <a:extLst>
                    <a:ext uri="{FF2B5EF4-FFF2-40B4-BE49-F238E27FC236}">
                      <a16:creationId xmlns:a16="http://schemas.microsoft.com/office/drawing/2014/main" id="{415BA279-C629-8DEC-AECF-457C129A8919}"/>
                    </a:ext>
                  </a:extLst>
                </p:cNvPr>
                <p:cNvSpPr/>
                <p:nvPr/>
              </p:nvSpPr>
              <p:spPr>
                <a:xfrm rot="8279483">
                  <a:off x="8287182" y="5362622"/>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128" name="Flèche : droite 127">
                  <a:extLst>
                    <a:ext uri="{FF2B5EF4-FFF2-40B4-BE49-F238E27FC236}">
                      <a16:creationId xmlns:a16="http://schemas.microsoft.com/office/drawing/2014/main" id="{D07FA73B-A4B5-1B20-37E9-662F269377D9}"/>
                    </a:ext>
                  </a:extLst>
                </p:cNvPr>
                <p:cNvSpPr/>
                <p:nvPr/>
              </p:nvSpPr>
              <p:spPr>
                <a:xfrm rot="13573193">
                  <a:off x="8288184" y="447896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grpSp>
        </p:grpSp>
      </p:grpSp>
      <p:grpSp>
        <p:nvGrpSpPr>
          <p:cNvPr id="129" name="Groupe 128">
            <a:extLst>
              <a:ext uri="{FF2B5EF4-FFF2-40B4-BE49-F238E27FC236}">
                <a16:creationId xmlns:a16="http://schemas.microsoft.com/office/drawing/2014/main" id="{7D682C02-BDAF-86C3-A1AB-9C54653F1C7A}"/>
              </a:ext>
            </a:extLst>
          </p:cNvPr>
          <p:cNvGrpSpPr/>
          <p:nvPr/>
        </p:nvGrpSpPr>
        <p:grpSpPr>
          <a:xfrm>
            <a:off x="9372643" y="1734829"/>
            <a:ext cx="932115" cy="910198"/>
            <a:chOff x="8224358" y="3342553"/>
            <a:chExt cx="1188000" cy="1160065"/>
          </a:xfrm>
        </p:grpSpPr>
        <p:sp>
          <p:nvSpPr>
            <p:cNvPr id="130" name="Rectangle 129">
              <a:extLst>
                <a:ext uri="{FF2B5EF4-FFF2-40B4-BE49-F238E27FC236}">
                  <a16:creationId xmlns:a16="http://schemas.microsoft.com/office/drawing/2014/main" id="{C6EBF2AC-4FAF-C812-D8D6-DF6707A5513B}"/>
                </a:ext>
              </a:extLst>
            </p:cNvPr>
            <p:cNvSpPr/>
            <p:nvPr/>
          </p:nvSpPr>
          <p:spPr>
            <a:xfrm>
              <a:off x="8224358" y="3891151"/>
              <a:ext cx="1188000" cy="6114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Vente</a:t>
              </a:r>
            </a:p>
            <a:p>
              <a:pPr algn="ctr"/>
              <a:r>
                <a:rPr lang="fr-FR" sz="800" dirty="0">
                  <a:solidFill>
                    <a:schemeClr val="bg1"/>
                  </a:solidFill>
                </a:rPr>
                <a:t>Développement commercial</a:t>
              </a:r>
            </a:p>
          </p:txBody>
        </p:sp>
        <p:grpSp>
          <p:nvGrpSpPr>
            <p:cNvPr id="131" name="Groupe 130">
              <a:extLst>
                <a:ext uri="{FF2B5EF4-FFF2-40B4-BE49-F238E27FC236}">
                  <a16:creationId xmlns:a16="http://schemas.microsoft.com/office/drawing/2014/main" id="{741B8BCF-9E00-612F-0D8E-DB204E29B12C}"/>
                </a:ext>
              </a:extLst>
            </p:cNvPr>
            <p:cNvGrpSpPr/>
            <p:nvPr/>
          </p:nvGrpSpPr>
          <p:grpSpPr>
            <a:xfrm>
              <a:off x="8256771" y="3342553"/>
              <a:ext cx="1126180" cy="424682"/>
              <a:chOff x="1677224" y="4399902"/>
              <a:chExt cx="3984628" cy="1541940"/>
            </a:xfrm>
          </p:grpSpPr>
          <p:pic>
            <p:nvPicPr>
              <p:cNvPr id="132" name="Graphique 131" descr="Poignée de main avec un remplissage uni">
                <a:extLst>
                  <a:ext uri="{FF2B5EF4-FFF2-40B4-BE49-F238E27FC236}">
                    <a16:creationId xmlns:a16="http://schemas.microsoft.com/office/drawing/2014/main" id="{CDB55E3E-DF56-5F4A-9178-30C5528ABD68}"/>
                  </a:ext>
                </a:extLst>
              </p:cNvPr>
              <p:cNvPicPr>
                <a:picLocks noChangeAspect="1"/>
              </p:cNvPicPr>
              <p:nvPr/>
            </p:nvPicPr>
            <p:blipFill>
              <a:blip r:embed="rId110">
                <a:extLst>
                  <a:ext uri="{28A0092B-C50C-407E-A947-70E740481C1C}">
                    <a14:useLocalDpi xmlns:a14="http://schemas.microsoft.com/office/drawing/2010/main" val="0"/>
                  </a:ext>
                  <a:ext uri="{96DAC541-7B7A-43D3-8B79-37D633B846F1}">
                    <asvg:svgBlip xmlns:asvg="http://schemas.microsoft.com/office/drawing/2016/SVG/main" r:embed="rId111"/>
                  </a:ext>
                </a:extLst>
              </a:blip>
              <a:stretch>
                <a:fillRect/>
              </a:stretch>
            </p:blipFill>
            <p:spPr>
              <a:xfrm>
                <a:off x="1677224" y="4473520"/>
                <a:ext cx="1394705" cy="1394705"/>
              </a:xfrm>
              <a:prstGeom prst="rect">
                <a:avLst/>
              </a:prstGeom>
            </p:spPr>
          </p:pic>
          <p:pic>
            <p:nvPicPr>
              <p:cNvPr id="133" name="Graphique 132" descr="Contrat avec un remplissage uni">
                <a:extLst>
                  <a:ext uri="{FF2B5EF4-FFF2-40B4-BE49-F238E27FC236}">
                    <a16:creationId xmlns:a16="http://schemas.microsoft.com/office/drawing/2014/main" id="{FF54379B-F6FA-E338-4C91-CF06103A4617}"/>
                  </a:ext>
                </a:extLst>
              </p:cNvPr>
              <p:cNvPicPr>
                <a:picLocks noChangeAspect="1"/>
              </p:cNvPicPr>
              <p:nvPr/>
            </p:nvPicPr>
            <p:blipFill>
              <a:blip r:embed="rId112">
                <a:extLst>
                  <a:ext uri="{28A0092B-C50C-407E-A947-70E740481C1C}">
                    <a14:useLocalDpi xmlns:a14="http://schemas.microsoft.com/office/drawing/2010/main" val="0"/>
                  </a:ext>
                  <a:ext uri="{96DAC541-7B7A-43D3-8B79-37D633B846F1}">
                    <asvg:svgBlip xmlns:asvg="http://schemas.microsoft.com/office/drawing/2016/SVG/main" r:embed="rId113"/>
                  </a:ext>
                </a:extLst>
              </a:blip>
              <a:stretch>
                <a:fillRect/>
              </a:stretch>
            </p:blipFill>
            <p:spPr>
              <a:xfrm>
                <a:off x="3003278" y="4578031"/>
                <a:ext cx="1185682" cy="1185682"/>
              </a:xfrm>
              <a:prstGeom prst="rect">
                <a:avLst/>
              </a:prstGeom>
            </p:spPr>
          </p:pic>
          <p:pic>
            <p:nvPicPr>
              <p:cNvPr id="134" name="Graphique 133" descr="Tendance à la hausse avec un remplissage uni">
                <a:extLst>
                  <a:ext uri="{FF2B5EF4-FFF2-40B4-BE49-F238E27FC236}">
                    <a16:creationId xmlns:a16="http://schemas.microsoft.com/office/drawing/2014/main" id="{1A16A53C-6C55-881C-FB04-414B08E14776}"/>
                  </a:ext>
                </a:extLst>
              </p:cNvPr>
              <p:cNvPicPr>
                <a:picLocks noChangeAspect="1"/>
              </p:cNvPicPr>
              <p:nvPr/>
            </p:nvPicPr>
            <p:blipFill>
              <a:blip r:embed="rId114">
                <a:extLst>
                  <a:ext uri="{28A0092B-C50C-407E-A947-70E740481C1C}">
                    <a14:useLocalDpi xmlns:a14="http://schemas.microsoft.com/office/drawing/2010/main" val="0"/>
                  </a:ext>
                  <a:ext uri="{96DAC541-7B7A-43D3-8B79-37D633B846F1}">
                    <asvg:svgBlip xmlns:asvg="http://schemas.microsoft.com/office/drawing/2016/SVG/main" r:embed="rId115"/>
                  </a:ext>
                </a:extLst>
              </a:blip>
              <a:stretch>
                <a:fillRect/>
              </a:stretch>
            </p:blipFill>
            <p:spPr>
              <a:xfrm>
                <a:off x="4119912" y="4399902"/>
                <a:ext cx="1541940" cy="1541940"/>
              </a:xfrm>
              <a:prstGeom prst="rect">
                <a:avLst/>
              </a:prstGeom>
            </p:spPr>
          </p:pic>
        </p:grpSp>
      </p:grpSp>
      <p:grpSp>
        <p:nvGrpSpPr>
          <p:cNvPr id="135" name="Groupe 134">
            <a:extLst>
              <a:ext uri="{FF2B5EF4-FFF2-40B4-BE49-F238E27FC236}">
                <a16:creationId xmlns:a16="http://schemas.microsoft.com/office/drawing/2014/main" id="{AA791625-5E92-915A-53A6-0B0903814560}"/>
              </a:ext>
            </a:extLst>
          </p:cNvPr>
          <p:cNvGrpSpPr/>
          <p:nvPr/>
        </p:nvGrpSpPr>
        <p:grpSpPr>
          <a:xfrm>
            <a:off x="11264804" y="1655867"/>
            <a:ext cx="932117" cy="989160"/>
            <a:chOff x="12377873" y="2362674"/>
            <a:chExt cx="746267" cy="791936"/>
          </a:xfrm>
        </p:grpSpPr>
        <p:sp>
          <p:nvSpPr>
            <p:cNvPr id="136" name="Rectangle 135">
              <a:extLst>
                <a:ext uri="{FF2B5EF4-FFF2-40B4-BE49-F238E27FC236}">
                  <a16:creationId xmlns:a16="http://schemas.microsoft.com/office/drawing/2014/main" id="{47EA176D-2E26-963C-8867-4EE184663131}"/>
                </a:ext>
              </a:extLst>
            </p:cNvPr>
            <p:cNvSpPr/>
            <p:nvPr/>
          </p:nvSpPr>
          <p:spPr>
            <a:xfrm>
              <a:off x="12377873" y="2831967"/>
              <a:ext cx="746267" cy="32264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Autres</a:t>
              </a:r>
              <a:endParaRPr lang="fr-FR" sz="800" dirty="0">
                <a:solidFill>
                  <a:schemeClr val="bg1"/>
                </a:solidFill>
              </a:endParaRPr>
            </a:p>
          </p:txBody>
        </p:sp>
        <p:pic>
          <p:nvPicPr>
            <p:cNvPr id="137" name="Graphique 136" descr="Bâtiment avec un remplissage uni">
              <a:extLst>
                <a:ext uri="{FF2B5EF4-FFF2-40B4-BE49-F238E27FC236}">
                  <a16:creationId xmlns:a16="http://schemas.microsoft.com/office/drawing/2014/main" id="{E3EC5265-9285-195A-0AB6-44592F12CCF8}"/>
                </a:ext>
              </a:extLst>
            </p:cNvPr>
            <p:cNvPicPr>
              <a:picLocks noChangeAspect="1"/>
            </p:cNvPicPr>
            <p:nvPr/>
          </p:nvPicPr>
          <p:blipFill>
            <a:blip r:embed="rId116">
              <a:extLst>
                <a:ext uri="{28A0092B-C50C-407E-A947-70E740481C1C}">
                  <a14:useLocalDpi xmlns:a14="http://schemas.microsoft.com/office/drawing/2010/main" val="0"/>
                </a:ext>
                <a:ext uri="{96DAC541-7B7A-43D3-8B79-37D633B846F1}">
                  <asvg:svgBlip xmlns:asvg="http://schemas.microsoft.com/office/drawing/2016/SVG/main" r:embed="rId117"/>
                </a:ext>
              </a:extLst>
            </a:blip>
            <a:stretch>
              <a:fillRect/>
            </a:stretch>
          </p:blipFill>
          <p:spPr>
            <a:xfrm>
              <a:off x="12564531" y="2362674"/>
              <a:ext cx="372950" cy="372950"/>
            </a:xfrm>
            <a:prstGeom prst="rect">
              <a:avLst/>
            </a:prstGeom>
          </p:spPr>
        </p:pic>
      </p:grpSp>
      <p:sp>
        <p:nvSpPr>
          <p:cNvPr id="138" name="Rectangle 137">
            <a:extLst>
              <a:ext uri="{FF2B5EF4-FFF2-40B4-BE49-F238E27FC236}">
                <a16:creationId xmlns:a16="http://schemas.microsoft.com/office/drawing/2014/main" id="{94A3F1BC-1840-46C9-0419-AE11D8320C37}"/>
              </a:ext>
            </a:extLst>
          </p:cNvPr>
          <p:cNvSpPr/>
          <p:nvPr/>
        </p:nvSpPr>
        <p:spPr>
          <a:xfrm>
            <a:off x="4085833" y="3482037"/>
            <a:ext cx="861975"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sur l’effet « divertissement » ou détournement par rapport aux priorités opérationnelles</a:t>
            </a:r>
          </a:p>
        </p:txBody>
      </p:sp>
      <p:sp>
        <p:nvSpPr>
          <p:cNvPr id="139" name="Rectangle 138">
            <a:extLst>
              <a:ext uri="{FF2B5EF4-FFF2-40B4-BE49-F238E27FC236}">
                <a16:creationId xmlns:a16="http://schemas.microsoft.com/office/drawing/2014/main" id="{74123232-F130-124A-2E28-1C5F8FFC3A47}"/>
              </a:ext>
            </a:extLst>
          </p:cNvPr>
          <p:cNvSpPr/>
          <p:nvPr/>
        </p:nvSpPr>
        <p:spPr>
          <a:xfrm>
            <a:off x="1006718" y="3482037"/>
            <a:ext cx="990218" cy="79411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 d’effet club », d’exclusion des non membres et de division</a:t>
            </a:r>
          </a:p>
        </p:txBody>
      </p:sp>
      <p:sp>
        <p:nvSpPr>
          <p:cNvPr id="140" name="Rectangle 139">
            <a:extLst>
              <a:ext uri="{FF2B5EF4-FFF2-40B4-BE49-F238E27FC236}">
                <a16:creationId xmlns:a16="http://schemas.microsoft.com/office/drawing/2014/main" id="{8304CD21-46BA-3D4D-ABF7-7C8688E18766}"/>
              </a:ext>
            </a:extLst>
          </p:cNvPr>
          <p:cNvSpPr/>
          <p:nvPr/>
        </p:nvSpPr>
        <p:spPr>
          <a:xfrm>
            <a:off x="4081336" y="5586240"/>
            <a:ext cx="861975"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Craintes de « bruit supplémentaire » dans des contextes ou périodes difficiles</a:t>
            </a:r>
          </a:p>
        </p:txBody>
      </p:sp>
      <p:sp>
        <p:nvSpPr>
          <p:cNvPr id="141" name="Rectangle 140">
            <a:extLst>
              <a:ext uri="{FF2B5EF4-FFF2-40B4-BE49-F238E27FC236}">
                <a16:creationId xmlns:a16="http://schemas.microsoft.com/office/drawing/2014/main" id="{CD6FB785-F72A-0119-850A-66E0CBE47CF5}"/>
              </a:ext>
            </a:extLst>
          </p:cNvPr>
          <p:cNvSpPr/>
          <p:nvPr/>
        </p:nvSpPr>
        <p:spPr>
          <a:xfrm>
            <a:off x="-6279" y="3238859"/>
            <a:ext cx="11264803" cy="21255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Méconnaissance du concept de Communautés ou préjugés sur l’usage ou l’efficacité des Communautés en tant que dispositif d’entreprise</a:t>
            </a:r>
          </a:p>
        </p:txBody>
      </p:sp>
      <p:sp>
        <p:nvSpPr>
          <p:cNvPr id="142" name="Rectangle 141">
            <a:extLst>
              <a:ext uri="{FF2B5EF4-FFF2-40B4-BE49-F238E27FC236}">
                <a16:creationId xmlns:a16="http://schemas.microsoft.com/office/drawing/2014/main" id="{79F913B6-F35C-1256-7951-9E2AFB45E3AB}"/>
              </a:ext>
            </a:extLst>
          </p:cNvPr>
          <p:cNvSpPr/>
          <p:nvPr/>
        </p:nvSpPr>
        <p:spPr>
          <a:xfrm>
            <a:off x="6726990" y="3482037"/>
            <a:ext cx="861975"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perte de pouvoir, de contrôle ou d’influence sur certains sujets</a:t>
            </a:r>
          </a:p>
        </p:txBody>
      </p:sp>
      <p:sp>
        <p:nvSpPr>
          <p:cNvPr id="143" name="Rectangle 142">
            <a:extLst>
              <a:ext uri="{FF2B5EF4-FFF2-40B4-BE49-F238E27FC236}">
                <a16:creationId xmlns:a16="http://schemas.microsoft.com/office/drawing/2014/main" id="{7AB3E8AF-8156-626D-177D-FA0752439534}"/>
              </a:ext>
            </a:extLst>
          </p:cNvPr>
          <p:cNvSpPr/>
          <p:nvPr/>
        </p:nvSpPr>
        <p:spPr>
          <a:xfrm>
            <a:off x="1" y="2959648"/>
            <a:ext cx="11264804" cy="243345"/>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redondance de fonction, de capacités ou d’utilité avec des dispositifs existants. Craintes des effets de la redondance (conflits, besoin de reconnaissance insatisfait, frustration, réorganisation ou mobilités à gérer …)</a:t>
            </a:r>
          </a:p>
        </p:txBody>
      </p:sp>
      <p:sp>
        <p:nvSpPr>
          <p:cNvPr id="144" name="Rectangle 143">
            <a:extLst>
              <a:ext uri="{FF2B5EF4-FFF2-40B4-BE49-F238E27FC236}">
                <a16:creationId xmlns:a16="http://schemas.microsoft.com/office/drawing/2014/main" id="{C7866430-1E01-8C17-6F27-8E94CB19724A}"/>
              </a:ext>
            </a:extLst>
          </p:cNvPr>
          <p:cNvSpPr/>
          <p:nvPr/>
        </p:nvSpPr>
        <p:spPr>
          <a:xfrm>
            <a:off x="4081336" y="4526362"/>
            <a:ext cx="861975"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Craintes de dilution des responsabilités et de n’avoir personne pour rendre des comptes</a:t>
            </a:r>
          </a:p>
        </p:txBody>
      </p:sp>
      <p:sp>
        <p:nvSpPr>
          <p:cNvPr id="145" name="Rectangle 144">
            <a:extLst>
              <a:ext uri="{FF2B5EF4-FFF2-40B4-BE49-F238E27FC236}">
                <a16:creationId xmlns:a16="http://schemas.microsoft.com/office/drawing/2014/main" id="{3FD5F939-FBCB-8666-13B2-EAEC4F0C49C2}"/>
              </a:ext>
            </a:extLst>
          </p:cNvPr>
          <p:cNvSpPr/>
          <p:nvPr/>
        </p:nvSpPr>
        <p:spPr>
          <a:xfrm>
            <a:off x="-13176" y="3482037"/>
            <a:ext cx="1006666" cy="79411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que l’effet de rétention des communautés retire du pouvoir ou du budget au recrutement</a:t>
            </a:r>
          </a:p>
        </p:txBody>
      </p:sp>
      <p:sp>
        <p:nvSpPr>
          <p:cNvPr id="146" name="Rectangle 145">
            <a:extLst>
              <a:ext uri="{FF2B5EF4-FFF2-40B4-BE49-F238E27FC236}">
                <a16:creationId xmlns:a16="http://schemas.microsoft.com/office/drawing/2014/main" id="{3F800172-DBB2-EC33-14B8-287C377E82BD}"/>
              </a:ext>
            </a:extLst>
          </p:cNvPr>
          <p:cNvSpPr/>
          <p:nvPr/>
        </p:nvSpPr>
        <p:spPr>
          <a:xfrm>
            <a:off x="995167" y="4319047"/>
            <a:ext cx="998290" cy="79411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frustration des non membres vis-à-vis des membres</a:t>
            </a:r>
          </a:p>
        </p:txBody>
      </p:sp>
      <p:sp>
        <p:nvSpPr>
          <p:cNvPr id="147" name="Rectangle 146">
            <a:extLst>
              <a:ext uri="{FF2B5EF4-FFF2-40B4-BE49-F238E27FC236}">
                <a16:creationId xmlns:a16="http://schemas.microsoft.com/office/drawing/2014/main" id="{41ACCF92-48D8-6744-EEEE-6C7EA829EDDB}"/>
              </a:ext>
            </a:extLst>
          </p:cNvPr>
          <p:cNvSpPr/>
          <p:nvPr/>
        </p:nvSpPr>
        <p:spPr>
          <a:xfrm>
            <a:off x="4969197" y="3482037"/>
            <a:ext cx="873291"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mise en avant de la diversité des outils et méthodes retirant les possibilités de synergie</a:t>
            </a:r>
          </a:p>
        </p:txBody>
      </p:sp>
      <p:sp>
        <p:nvSpPr>
          <p:cNvPr id="148" name="Rectangle 147">
            <a:extLst>
              <a:ext uri="{FF2B5EF4-FFF2-40B4-BE49-F238E27FC236}">
                <a16:creationId xmlns:a16="http://schemas.microsoft.com/office/drawing/2014/main" id="{C8FBC44C-D9F8-3258-E120-645048E8055D}"/>
              </a:ext>
            </a:extLst>
          </p:cNvPr>
          <p:cNvSpPr/>
          <p:nvPr/>
        </p:nvSpPr>
        <p:spPr>
          <a:xfrm>
            <a:off x="0" y="2680893"/>
            <a:ext cx="11264803" cy="243345"/>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perte de maîtrise « top down » sur un sujet existant et des risques ou complications </a:t>
            </a:r>
            <a:r>
              <a:rPr lang="fr-FR" sz="800" dirty="0" err="1">
                <a:solidFill>
                  <a:schemeClr val="tx1"/>
                </a:solidFill>
              </a:rPr>
              <a:t>bottom</a:t>
            </a:r>
            <a:r>
              <a:rPr lang="fr-FR" sz="800" dirty="0">
                <a:solidFill>
                  <a:schemeClr val="tx1"/>
                </a:solidFill>
              </a:rPr>
              <a:t>-up</a:t>
            </a:r>
          </a:p>
        </p:txBody>
      </p:sp>
      <p:sp>
        <p:nvSpPr>
          <p:cNvPr id="149" name="Rectangle 148">
            <a:extLst>
              <a:ext uri="{FF2B5EF4-FFF2-40B4-BE49-F238E27FC236}">
                <a16:creationId xmlns:a16="http://schemas.microsoft.com/office/drawing/2014/main" id="{C19A1D1D-F9E4-198D-614C-4D1CC08559BF}"/>
              </a:ext>
            </a:extLst>
          </p:cNvPr>
          <p:cNvSpPr/>
          <p:nvPr/>
        </p:nvSpPr>
        <p:spPr>
          <a:xfrm>
            <a:off x="7605734" y="3482037"/>
            <a:ext cx="861975"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Craintes sur les questions de propriété intellectuelle</a:t>
            </a:r>
          </a:p>
        </p:txBody>
      </p:sp>
      <p:sp>
        <p:nvSpPr>
          <p:cNvPr id="150" name="Rectangle 149">
            <a:extLst>
              <a:ext uri="{FF2B5EF4-FFF2-40B4-BE49-F238E27FC236}">
                <a16:creationId xmlns:a16="http://schemas.microsoft.com/office/drawing/2014/main" id="{A27DA434-3323-12AD-C8F4-996F288EAF94}"/>
              </a:ext>
            </a:extLst>
          </p:cNvPr>
          <p:cNvSpPr/>
          <p:nvPr/>
        </p:nvSpPr>
        <p:spPr>
          <a:xfrm>
            <a:off x="7614820" y="4528019"/>
            <a:ext cx="861975"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Craintes d’usages du matériel et des moyens sans retour </a:t>
            </a:r>
          </a:p>
        </p:txBody>
      </p:sp>
      <p:sp>
        <p:nvSpPr>
          <p:cNvPr id="151" name="Rectangle 150">
            <a:extLst>
              <a:ext uri="{FF2B5EF4-FFF2-40B4-BE49-F238E27FC236}">
                <a16:creationId xmlns:a16="http://schemas.microsoft.com/office/drawing/2014/main" id="{ADD68874-36B9-812F-84C6-63732B9CEBA4}"/>
              </a:ext>
            </a:extLst>
          </p:cNvPr>
          <p:cNvSpPr/>
          <p:nvPr/>
        </p:nvSpPr>
        <p:spPr>
          <a:xfrm>
            <a:off x="10327285" y="3472042"/>
            <a:ext cx="923552" cy="121740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Craintes d’être accusé de « X-</a:t>
            </a:r>
            <a:r>
              <a:rPr lang="fr-FR" sz="800" dirty="0" err="1">
                <a:solidFill>
                  <a:schemeClr val="tx1"/>
                </a:solidFill>
              </a:rPr>
              <a:t>Washing</a:t>
            </a:r>
            <a:r>
              <a:rPr lang="fr-FR" sz="800" dirty="0">
                <a:solidFill>
                  <a:schemeClr val="tx1"/>
                </a:solidFill>
              </a:rPr>
              <a:t> » si certaines Communautés n’ont pas d’effet significatifs et  qu’elles communiquent beaucoup</a:t>
            </a:r>
          </a:p>
        </p:txBody>
      </p:sp>
      <p:sp>
        <p:nvSpPr>
          <p:cNvPr id="152" name="Rectangle 151">
            <a:extLst>
              <a:ext uri="{FF2B5EF4-FFF2-40B4-BE49-F238E27FC236}">
                <a16:creationId xmlns:a16="http://schemas.microsoft.com/office/drawing/2014/main" id="{21329558-8EFD-03DF-9DC2-A219B8F6FA67}"/>
              </a:ext>
            </a:extLst>
          </p:cNvPr>
          <p:cNvSpPr/>
          <p:nvPr/>
        </p:nvSpPr>
        <p:spPr>
          <a:xfrm>
            <a:off x="3058400" y="3482036"/>
            <a:ext cx="998290"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d’accélération de l’attrition par constat plus rapide de manques d’opportunités de carrière</a:t>
            </a:r>
          </a:p>
        </p:txBody>
      </p:sp>
      <p:sp>
        <p:nvSpPr>
          <p:cNvPr id="153" name="Rectangle 152">
            <a:extLst>
              <a:ext uri="{FF2B5EF4-FFF2-40B4-BE49-F238E27FC236}">
                <a16:creationId xmlns:a16="http://schemas.microsoft.com/office/drawing/2014/main" id="{E4C9AA45-F636-D227-64AE-E16CA0CB3640}"/>
              </a:ext>
            </a:extLst>
          </p:cNvPr>
          <p:cNvSpPr/>
          <p:nvPr/>
        </p:nvSpPr>
        <p:spPr>
          <a:xfrm>
            <a:off x="3058400" y="4528786"/>
            <a:ext cx="998290"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la concentration des frustrations (diluées sans la Communauté) et d’effet négatif sur la rétention </a:t>
            </a:r>
          </a:p>
        </p:txBody>
      </p:sp>
      <p:sp>
        <p:nvSpPr>
          <p:cNvPr id="154" name="Rectangle 153">
            <a:extLst>
              <a:ext uri="{FF2B5EF4-FFF2-40B4-BE49-F238E27FC236}">
                <a16:creationId xmlns:a16="http://schemas.microsoft.com/office/drawing/2014/main" id="{81275C3F-CCF9-75F0-F982-E589D92B07F0}"/>
              </a:ext>
            </a:extLst>
          </p:cNvPr>
          <p:cNvSpPr/>
          <p:nvPr/>
        </p:nvSpPr>
        <p:spPr>
          <a:xfrm>
            <a:off x="5859258" y="3477888"/>
            <a:ext cx="850964"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dispersion des connaissances dans des canaux supplémentaires</a:t>
            </a:r>
          </a:p>
        </p:txBody>
      </p:sp>
      <p:sp>
        <p:nvSpPr>
          <p:cNvPr id="155" name="Rectangle 154">
            <a:extLst>
              <a:ext uri="{FF2B5EF4-FFF2-40B4-BE49-F238E27FC236}">
                <a16:creationId xmlns:a16="http://schemas.microsoft.com/office/drawing/2014/main" id="{566EA60F-24A1-0ABB-5D05-B99FFA91200E}"/>
              </a:ext>
            </a:extLst>
          </p:cNvPr>
          <p:cNvSpPr/>
          <p:nvPr/>
        </p:nvSpPr>
        <p:spPr>
          <a:xfrm>
            <a:off x="8496704" y="3483223"/>
            <a:ext cx="861975"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 de devoir gérer les impacts d’une Transformation à 2 vitesses (Communauté en avance et jalousée)</a:t>
            </a:r>
          </a:p>
        </p:txBody>
      </p:sp>
      <p:sp>
        <p:nvSpPr>
          <p:cNvPr id="156" name="Rectangle 155">
            <a:extLst>
              <a:ext uri="{FF2B5EF4-FFF2-40B4-BE49-F238E27FC236}">
                <a16:creationId xmlns:a16="http://schemas.microsoft.com/office/drawing/2014/main" id="{701EB7FF-0C0B-037D-DBE4-4B0ED070A4AE}"/>
              </a:ext>
            </a:extLst>
          </p:cNvPr>
          <p:cNvSpPr/>
          <p:nvPr/>
        </p:nvSpPr>
        <p:spPr>
          <a:xfrm>
            <a:off x="9381206" y="3472042"/>
            <a:ext cx="923552"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Craintes d’influence extérieure sur l’entreprise ou divulgation d’information commerciale</a:t>
            </a:r>
          </a:p>
        </p:txBody>
      </p:sp>
      <p:sp>
        <p:nvSpPr>
          <p:cNvPr id="157" name="Rectangle 156">
            <a:extLst>
              <a:ext uri="{FF2B5EF4-FFF2-40B4-BE49-F238E27FC236}">
                <a16:creationId xmlns:a16="http://schemas.microsoft.com/office/drawing/2014/main" id="{34159E0F-CD45-C33D-C53C-8BACDEB6BB8C}"/>
              </a:ext>
            </a:extLst>
          </p:cNvPr>
          <p:cNvSpPr/>
          <p:nvPr/>
        </p:nvSpPr>
        <p:spPr>
          <a:xfrm>
            <a:off x="2035023" y="3482036"/>
            <a:ext cx="986613"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Critique de l’aspect non certifiant de la formation par Communauté (et du côté « non financé »)</a:t>
            </a:r>
          </a:p>
        </p:txBody>
      </p:sp>
      <p:sp>
        <p:nvSpPr>
          <p:cNvPr id="158" name="Rectangle 157">
            <a:extLst>
              <a:ext uri="{FF2B5EF4-FFF2-40B4-BE49-F238E27FC236}">
                <a16:creationId xmlns:a16="http://schemas.microsoft.com/office/drawing/2014/main" id="{1FD9E59B-2980-731E-6B74-66C1C2C4BB09}"/>
              </a:ext>
            </a:extLst>
          </p:cNvPr>
          <p:cNvSpPr/>
          <p:nvPr/>
        </p:nvSpPr>
        <p:spPr>
          <a:xfrm>
            <a:off x="2035023" y="4531311"/>
            <a:ext cx="986613" cy="100800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Méconnaissance de la complémentarité de l’apprentissage par Communauté vs apprentissage externe</a:t>
            </a:r>
          </a:p>
        </p:txBody>
      </p:sp>
    </p:spTree>
    <p:extLst>
      <p:ext uri="{BB962C8B-B14F-4D97-AF65-F5344CB8AC3E}">
        <p14:creationId xmlns:p14="http://schemas.microsoft.com/office/powerpoint/2010/main" val="1601562106"/>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1216616" y="365125"/>
            <a:ext cx="10137183" cy="1325563"/>
          </a:xfrm>
        </p:spPr>
        <p:txBody>
          <a:bodyPr>
            <a:normAutofit fontScale="90000"/>
          </a:bodyPr>
          <a:lstStyle/>
          <a:p>
            <a:r>
              <a:rPr lang="fr-FR" dirty="0"/>
              <a:t>Les réponses aux blocages de l’entreprise  – Liste d’exemples</a:t>
            </a:r>
            <a:br>
              <a:rPr lang="fr-FR" sz="2200" dirty="0"/>
            </a:br>
            <a:r>
              <a:rPr lang="fr-FR" sz="2200" dirty="0"/>
              <a:t>📅Evènements  , ✍️Contenus, ⚙️Structuration de Communauté</a:t>
            </a:r>
            <a:endParaRPr lang="fr-FR" dirty="0"/>
          </a:p>
        </p:txBody>
      </p:sp>
      <p:pic>
        <p:nvPicPr>
          <p:cNvPr id="63" name="Graphique 62" descr="Bâtiment avec un remplissage uni">
            <a:extLst>
              <a:ext uri="{FF2B5EF4-FFF2-40B4-BE49-F238E27FC236}">
                <a16:creationId xmlns:a16="http://schemas.microsoft.com/office/drawing/2014/main" id="{53D2E0C7-7748-DFE6-8F74-73ABCD44378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08616" y="432569"/>
            <a:ext cx="1008000" cy="1008000"/>
          </a:xfrm>
          <a:prstGeom prst="rect">
            <a:avLst/>
          </a:prstGeom>
        </p:spPr>
      </p:pic>
      <p:grpSp>
        <p:nvGrpSpPr>
          <p:cNvPr id="4" name="Groupe 3">
            <a:extLst>
              <a:ext uri="{FF2B5EF4-FFF2-40B4-BE49-F238E27FC236}">
                <a16:creationId xmlns:a16="http://schemas.microsoft.com/office/drawing/2014/main" id="{AA14FDF6-1518-B5B7-48D6-9C11B0EC8D41}"/>
              </a:ext>
            </a:extLst>
          </p:cNvPr>
          <p:cNvGrpSpPr/>
          <p:nvPr/>
        </p:nvGrpSpPr>
        <p:grpSpPr>
          <a:xfrm>
            <a:off x="3055786" y="2189772"/>
            <a:ext cx="1006665" cy="897918"/>
            <a:chOff x="6597866" y="3344326"/>
            <a:chExt cx="1188000" cy="1059664"/>
          </a:xfrm>
        </p:grpSpPr>
        <p:sp>
          <p:nvSpPr>
            <p:cNvPr id="5" name="Rectangle 4">
              <a:extLst>
                <a:ext uri="{FF2B5EF4-FFF2-40B4-BE49-F238E27FC236}">
                  <a16:creationId xmlns:a16="http://schemas.microsoft.com/office/drawing/2014/main" id="{0D352936-672B-7D99-4473-E04EAF24B12C}"/>
                </a:ext>
              </a:extLst>
            </p:cNvPr>
            <p:cNvSpPr/>
            <p:nvPr/>
          </p:nvSpPr>
          <p:spPr>
            <a:xfrm>
              <a:off x="6597866"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RH</a:t>
              </a:r>
            </a:p>
            <a:p>
              <a:pPr algn="ctr"/>
              <a:r>
                <a:rPr lang="fr-FR" sz="900" dirty="0">
                  <a:solidFill>
                    <a:schemeClr val="bg1"/>
                  </a:solidFill>
                </a:rPr>
                <a:t>Carrières</a:t>
              </a:r>
            </a:p>
          </p:txBody>
        </p:sp>
        <p:grpSp>
          <p:nvGrpSpPr>
            <p:cNvPr id="6" name="Groupe 5">
              <a:extLst>
                <a:ext uri="{FF2B5EF4-FFF2-40B4-BE49-F238E27FC236}">
                  <a16:creationId xmlns:a16="http://schemas.microsoft.com/office/drawing/2014/main" id="{EBFD6DC6-C447-0702-4524-74EA6DE03061}"/>
                </a:ext>
              </a:extLst>
            </p:cNvPr>
            <p:cNvGrpSpPr/>
            <p:nvPr/>
          </p:nvGrpSpPr>
          <p:grpSpPr>
            <a:xfrm>
              <a:off x="6650513" y="3344326"/>
              <a:ext cx="1020563" cy="496065"/>
              <a:chOff x="6713702" y="745208"/>
              <a:chExt cx="4891967" cy="2377838"/>
            </a:xfrm>
          </p:grpSpPr>
          <p:pic>
            <p:nvPicPr>
              <p:cNvPr id="7" name="Graphique 6" descr="Ramper avec un remplissage uni">
                <a:extLst>
                  <a:ext uri="{FF2B5EF4-FFF2-40B4-BE49-F238E27FC236}">
                    <a16:creationId xmlns:a16="http://schemas.microsoft.com/office/drawing/2014/main" id="{775CC251-4E5D-9FEE-2209-AB95165864B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713702" y="2208646"/>
                <a:ext cx="914400" cy="914400"/>
              </a:xfrm>
              <a:prstGeom prst="rect">
                <a:avLst/>
              </a:prstGeom>
            </p:spPr>
          </p:pic>
          <p:pic>
            <p:nvPicPr>
              <p:cNvPr id="8" name="Graphique 7" descr="Marcher avec un remplissage uni">
                <a:extLst>
                  <a:ext uri="{FF2B5EF4-FFF2-40B4-BE49-F238E27FC236}">
                    <a16:creationId xmlns:a16="http://schemas.microsoft.com/office/drawing/2014/main" id="{E49E777D-6B32-E7DD-9379-20BB87C7411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50711" y="1900170"/>
                <a:ext cx="914400" cy="914400"/>
              </a:xfrm>
              <a:prstGeom prst="rect">
                <a:avLst/>
              </a:prstGeom>
            </p:spPr>
          </p:pic>
          <p:pic>
            <p:nvPicPr>
              <p:cNvPr id="9" name="Graphique 8" descr="Courir avec un remplissage uni">
                <a:extLst>
                  <a:ext uri="{FF2B5EF4-FFF2-40B4-BE49-F238E27FC236}">
                    <a16:creationId xmlns:a16="http://schemas.microsoft.com/office/drawing/2014/main" id="{9DA193DD-6DF0-0F1E-4C61-655D4048C73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587720" y="1591693"/>
                <a:ext cx="914400" cy="914400"/>
              </a:xfrm>
              <a:prstGeom prst="rect">
                <a:avLst/>
              </a:prstGeom>
            </p:spPr>
          </p:pic>
          <p:pic>
            <p:nvPicPr>
              <p:cNvPr id="10" name="Graphique 9" descr="Héros avec un remplissage uni">
                <a:extLst>
                  <a:ext uri="{FF2B5EF4-FFF2-40B4-BE49-F238E27FC236}">
                    <a16:creationId xmlns:a16="http://schemas.microsoft.com/office/drawing/2014/main" id="{2FBFE21E-B062-7613-C887-DCBE69CA15A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691269" y="745208"/>
                <a:ext cx="914400" cy="914400"/>
              </a:xfrm>
              <a:prstGeom prst="rect">
                <a:avLst/>
              </a:prstGeom>
            </p:spPr>
          </p:pic>
          <p:pic>
            <p:nvPicPr>
              <p:cNvPr id="11" name="Graphique 10" descr="Aspiration avec un remplissage uni">
                <a:extLst>
                  <a:ext uri="{FF2B5EF4-FFF2-40B4-BE49-F238E27FC236}">
                    <a16:creationId xmlns:a16="http://schemas.microsoft.com/office/drawing/2014/main" id="{AB5566F2-1B62-B84F-B99F-0E82C9417AE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524729" y="1053685"/>
                <a:ext cx="1143931" cy="1143931"/>
              </a:xfrm>
              <a:prstGeom prst="rect">
                <a:avLst/>
              </a:prstGeom>
            </p:spPr>
          </p:pic>
        </p:grpSp>
      </p:grpSp>
      <p:grpSp>
        <p:nvGrpSpPr>
          <p:cNvPr id="12" name="Groupe 11">
            <a:extLst>
              <a:ext uri="{FF2B5EF4-FFF2-40B4-BE49-F238E27FC236}">
                <a16:creationId xmlns:a16="http://schemas.microsoft.com/office/drawing/2014/main" id="{2E70B5C7-0E8B-2E14-F03C-307208436653}"/>
              </a:ext>
            </a:extLst>
          </p:cNvPr>
          <p:cNvGrpSpPr/>
          <p:nvPr/>
        </p:nvGrpSpPr>
        <p:grpSpPr>
          <a:xfrm>
            <a:off x="-6102" y="1790084"/>
            <a:ext cx="1006666" cy="1297606"/>
            <a:chOff x="1241541" y="2872641"/>
            <a:chExt cx="1188000" cy="1531349"/>
          </a:xfrm>
        </p:grpSpPr>
        <p:sp>
          <p:nvSpPr>
            <p:cNvPr id="13" name="Rectangle 12">
              <a:extLst>
                <a:ext uri="{FF2B5EF4-FFF2-40B4-BE49-F238E27FC236}">
                  <a16:creationId xmlns:a16="http://schemas.microsoft.com/office/drawing/2014/main" id="{EC34C5B2-B5EA-26F0-E8FC-E7F111BF906C}"/>
                </a:ext>
              </a:extLst>
            </p:cNvPr>
            <p:cNvSpPr/>
            <p:nvPr/>
          </p:nvSpPr>
          <p:spPr>
            <a:xfrm>
              <a:off x="1241541"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RH</a:t>
              </a:r>
            </a:p>
            <a:p>
              <a:pPr algn="ctr"/>
              <a:r>
                <a:rPr lang="fr-FR" sz="900" dirty="0">
                  <a:solidFill>
                    <a:schemeClr val="bg1"/>
                  </a:solidFill>
                </a:rPr>
                <a:t>Recrutement</a:t>
              </a:r>
            </a:p>
          </p:txBody>
        </p:sp>
        <p:grpSp>
          <p:nvGrpSpPr>
            <p:cNvPr id="14" name="Groupe 13">
              <a:extLst>
                <a:ext uri="{FF2B5EF4-FFF2-40B4-BE49-F238E27FC236}">
                  <a16:creationId xmlns:a16="http://schemas.microsoft.com/office/drawing/2014/main" id="{DDD9A456-E2AE-8BFD-373F-3F2E125B56D3}"/>
                </a:ext>
              </a:extLst>
            </p:cNvPr>
            <p:cNvGrpSpPr/>
            <p:nvPr/>
          </p:nvGrpSpPr>
          <p:grpSpPr>
            <a:xfrm>
              <a:off x="1464325" y="2872641"/>
              <a:ext cx="785986" cy="957881"/>
              <a:chOff x="8056685" y="3865046"/>
              <a:chExt cx="2005985" cy="2444694"/>
            </a:xfrm>
          </p:grpSpPr>
          <p:pic>
            <p:nvPicPr>
              <p:cNvPr id="15" name="Graphique 14" descr="Salle de conseil avec un remplissage uni">
                <a:extLst>
                  <a:ext uri="{FF2B5EF4-FFF2-40B4-BE49-F238E27FC236}">
                    <a16:creationId xmlns:a16="http://schemas.microsoft.com/office/drawing/2014/main" id="{16641EBC-97BE-8E31-7771-5C2B084FFC25}"/>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b="16472"/>
              <a:stretch/>
            </p:blipFill>
            <p:spPr>
              <a:xfrm>
                <a:off x="8485542" y="5133555"/>
                <a:ext cx="1408125" cy="1176185"/>
              </a:xfrm>
              <a:prstGeom prst="rect">
                <a:avLst/>
              </a:prstGeom>
            </p:spPr>
          </p:pic>
          <p:pic>
            <p:nvPicPr>
              <p:cNvPr id="16" name="Graphique 15" descr="Croissance de l'activité avec un remplissage uni">
                <a:extLst>
                  <a:ext uri="{FF2B5EF4-FFF2-40B4-BE49-F238E27FC236}">
                    <a16:creationId xmlns:a16="http://schemas.microsoft.com/office/drawing/2014/main" id="{F3B2367A-C6B3-45D8-47E5-E79760380FE5}"/>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056685" y="3865046"/>
                <a:ext cx="2005985" cy="2005985"/>
              </a:xfrm>
              <a:prstGeom prst="rect">
                <a:avLst/>
              </a:prstGeom>
            </p:spPr>
          </p:pic>
        </p:grpSp>
      </p:grpSp>
      <p:grpSp>
        <p:nvGrpSpPr>
          <p:cNvPr id="17" name="Groupe 16">
            <a:extLst>
              <a:ext uri="{FF2B5EF4-FFF2-40B4-BE49-F238E27FC236}">
                <a16:creationId xmlns:a16="http://schemas.microsoft.com/office/drawing/2014/main" id="{3F76D37F-6986-C5CF-67AF-D4947AA06D5E}"/>
              </a:ext>
            </a:extLst>
          </p:cNvPr>
          <p:cNvGrpSpPr/>
          <p:nvPr/>
        </p:nvGrpSpPr>
        <p:grpSpPr>
          <a:xfrm>
            <a:off x="1014528" y="2079690"/>
            <a:ext cx="1006666" cy="1008000"/>
            <a:chOff x="2998706" y="3222767"/>
            <a:chExt cx="1188000" cy="1189575"/>
          </a:xfrm>
        </p:grpSpPr>
        <p:sp>
          <p:nvSpPr>
            <p:cNvPr id="18" name="Rectangle 17">
              <a:extLst>
                <a:ext uri="{FF2B5EF4-FFF2-40B4-BE49-F238E27FC236}">
                  <a16:creationId xmlns:a16="http://schemas.microsoft.com/office/drawing/2014/main" id="{1E4747E3-5E83-A440-A209-BBD08F8DE99B}"/>
                </a:ext>
              </a:extLst>
            </p:cNvPr>
            <p:cNvSpPr/>
            <p:nvPr/>
          </p:nvSpPr>
          <p:spPr>
            <a:xfrm>
              <a:off x="2998706" y="3898719"/>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a:solidFill>
                    <a:schemeClr val="bg1"/>
                  </a:solidFill>
                </a:rPr>
                <a:t>RH</a:t>
              </a:r>
            </a:p>
            <a:p>
              <a:pPr algn="ctr"/>
              <a:r>
                <a:rPr lang="fr-FR" sz="900">
                  <a:solidFill>
                    <a:schemeClr val="bg1"/>
                  </a:solidFill>
                </a:rPr>
                <a:t>Intégration</a:t>
              </a:r>
            </a:p>
          </p:txBody>
        </p:sp>
        <p:grpSp>
          <p:nvGrpSpPr>
            <p:cNvPr id="19" name="Groupe 18">
              <a:extLst>
                <a:ext uri="{FF2B5EF4-FFF2-40B4-BE49-F238E27FC236}">
                  <a16:creationId xmlns:a16="http://schemas.microsoft.com/office/drawing/2014/main" id="{3411B8BA-2A1D-103B-1201-DAA80B70578E}"/>
                </a:ext>
              </a:extLst>
            </p:cNvPr>
            <p:cNvGrpSpPr/>
            <p:nvPr/>
          </p:nvGrpSpPr>
          <p:grpSpPr>
            <a:xfrm>
              <a:off x="3130879" y="3222767"/>
              <a:ext cx="935471" cy="541840"/>
              <a:chOff x="626984" y="628802"/>
              <a:chExt cx="5131851" cy="2356880"/>
            </a:xfrm>
          </p:grpSpPr>
          <p:cxnSp>
            <p:nvCxnSpPr>
              <p:cNvPr id="20" name="Connecteur droit avec flèche 19">
                <a:extLst>
                  <a:ext uri="{FF2B5EF4-FFF2-40B4-BE49-F238E27FC236}">
                    <a16:creationId xmlns:a16="http://schemas.microsoft.com/office/drawing/2014/main" id="{7371A370-E90B-EE1A-20EE-F827EA0B0446}"/>
                  </a:ext>
                </a:extLst>
              </p:cNvPr>
              <p:cNvCxnSpPr>
                <a:cxnSpLocks/>
              </p:cNvCxnSpPr>
              <p:nvPr/>
            </p:nvCxnSpPr>
            <p:spPr>
              <a:xfrm flipV="1">
                <a:off x="626984" y="1565043"/>
                <a:ext cx="5131851" cy="1210667"/>
              </a:xfrm>
              <a:prstGeom prst="straightConnector1">
                <a:avLst/>
              </a:prstGeom>
              <a:ln w="57150">
                <a:prstDash val="dash"/>
                <a:tailEnd type="triangle"/>
              </a:ln>
            </p:spPr>
            <p:style>
              <a:lnRef idx="1">
                <a:schemeClr val="accent1"/>
              </a:lnRef>
              <a:fillRef idx="0">
                <a:schemeClr val="accent1"/>
              </a:fillRef>
              <a:effectRef idx="0">
                <a:schemeClr val="accent1"/>
              </a:effectRef>
              <a:fontRef idx="minor">
                <a:schemeClr val="tx1"/>
              </a:fontRef>
            </p:style>
          </p:cxnSp>
          <p:pic>
            <p:nvPicPr>
              <p:cNvPr id="21" name="Graphique 20" descr="Personne confuse avec un remplissage uni">
                <a:extLst>
                  <a:ext uri="{FF2B5EF4-FFF2-40B4-BE49-F238E27FC236}">
                    <a16:creationId xmlns:a16="http://schemas.microsoft.com/office/drawing/2014/main" id="{09453C78-B867-5BAC-52BE-8F9F74EF17E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604967" y="1805997"/>
                <a:ext cx="940978" cy="940978"/>
              </a:xfrm>
              <a:prstGeom prst="rect">
                <a:avLst/>
              </a:prstGeom>
            </p:spPr>
          </p:pic>
          <p:pic>
            <p:nvPicPr>
              <p:cNvPr id="22" name="Graphique 21" descr="Réussite du groupe avec un remplissage uni">
                <a:extLst>
                  <a:ext uri="{FF2B5EF4-FFF2-40B4-BE49-F238E27FC236}">
                    <a16:creationId xmlns:a16="http://schemas.microsoft.com/office/drawing/2014/main" id="{929BCADD-A65A-4D2E-F52C-4ABB0A84525D}"/>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228767" y="628802"/>
                <a:ext cx="1492354" cy="1492354"/>
              </a:xfrm>
              <a:prstGeom prst="rect">
                <a:avLst/>
              </a:prstGeom>
            </p:spPr>
          </p:pic>
          <p:pic>
            <p:nvPicPr>
              <p:cNvPr id="23" name="Graphique 22" descr="Personne confuse avec un remplissage uni">
                <a:extLst>
                  <a:ext uri="{FF2B5EF4-FFF2-40B4-BE49-F238E27FC236}">
                    <a16:creationId xmlns:a16="http://schemas.microsoft.com/office/drawing/2014/main" id="{070D4F6A-D9D1-C82C-0029-C9746D92B6B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2479567" y="1609677"/>
                <a:ext cx="940978" cy="940978"/>
              </a:xfrm>
              <a:prstGeom prst="rect">
                <a:avLst/>
              </a:prstGeom>
            </p:spPr>
          </p:pic>
          <p:pic>
            <p:nvPicPr>
              <p:cNvPr id="24" name="Graphique 23" descr="Personne confuse avec un remplissage uni">
                <a:extLst>
                  <a:ext uri="{FF2B5EF4-FFF2-40B4-BE49-F238E27FC236}">
                    <a16:creationId xmlns:a16="http://schemas.microsoft.com/office/drawing/2014/main" id="{C0CF3C95-067D-CB82-47E2-A8390D0DED44}"/>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656694" y="2044704"/>
                <a:ext cx="940978" cy="940978"/>
              </a:xfrm>
              <a:prstGeom prst="rect">
                <a:avLst/>
              </a:prstGeom>
            </p:spPr>
          </p:pic>
          <p:pic>
            <p:nvPicPr>
              <p:cNvPr id="25" name="Graphique 24" descr="Personne confuse avec un remplissage uni">
                <a:extLst>
                  <a:ext uri="{FF2B5EF4-FFF2-40B4-BE49-F238E27FC236}">
                    <a16:creationId xmlns:a16="http://schemas.microsoft.com/office/drawing/2014/main" id="{01D58CDB-7629-894D-9245-0BC9E6814082}"/>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3293254" y="1399398"/>
                <a:ext cx="940978" cy="940978"/>
              </a:xfrm>
              <a:prstGeom prst="rect">
                <a:avLst/>
              </a:prstGeom>
            </p:spPr>
          </p:pic>
          <p:pic>
            <p:nvPicPr>
              <p:cNvPr id="26" name="Graphique 25" descr="Personne confuse avec un remplissage uni">
                <a:extLst>
                  <a:ext uri="{FF2B5EF4-FFF2-40B4-BE49-F238E27FC236}">
                    <a16:creationId xmlns:a16="http://schemas.microsoft.com/office/drawing/2014/main" id="{16BA4189-09FE-9343-51BB-51CC9DB4D850}"/>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4234476" y="1189119"/>
                <a:ext cx="940978" cy="940978"/>
              </a:xfrm>
              <a:prstGeom prst="rect">
                <a:avLst/>
              </a:prstGeom>
            </p:spPr>
          </p:pic>
        </p:grpSp>
      </p:grpSp>
      <p:grpSp>
        <p:nvGrpSpPr>
          <p:cNvPr id="27" name="Groupe 26">
            <a:extLst>
              <a:ext uri="{FF2B5EF4-FFF2-40B4-BE49-F238E27FC236}">
                <a16:creationId xmlns:a16="http://schemas.microsoft.com/office/drawing/2014/main" id="{09655FA3-2C7A-F141-6E9A-4B0F9C1D6316}"/>
              </a:ext>
            </a:extLst>
          </p:cNvPr>
          <p:cNvGrpSpPr/>
          <p:nvPr/>
        </p:nvGrpSpPr>
        <p:grpSpPr>
          <a:xfrm>
            <a:off x="2035158" y="1758132"/>
            <a:ext cx="1006664" cy="1329558"/>
            <a:chOff x="4859249" y="2834933"/>
            <a:chExt cx="1188000" cy="1569057"/>
          </a:xfrm>
        </p:grpSpPr>
        <p:sp>
          <p:nvSpPr>
            <p:cNvPr id="28" name="Rectangle 27">
              <a:extLst>
                <a:ext uri="{FF2B5EF4-FFF2-40B4-BE49-F238E27FC236}">
                  <a16:creationId xmlns:a16="http://schemas.microsoft.com/office/drawing/2014/main" id="{28AFC419-590F-3EE6-991D-070BC26EE84B}"/>
                </a:ext>
              </a:extLst>
            </p:cNvPr>
            <p:cNvSpPr/>
            <p:nvPr/>
          </p:nvSpPr>
          <p:spPr>
            <a:xfrm>
              <a:off x="4859249"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RH</a:t>
              </a:r>
            </a:p>
            <a:p>
              <a:pPr algn="ctr"/>
              <a:r>
                <a:rPr lang="fr-FR" sz="900" dirty="0">
                  <a:solidFill>
                    <a:schemeClr val="bg1"/>
                  </a:solidFill>
                </a:rPr>
                <a:t>Formation</a:t>
              </a:r>
            </a:p>
          </p:txBody>
        </p:sp>
        <p:grpSp>
          <p:nvGrpSpPr>
            <p:cNvPr id="29" name="Groupe 28">
              <a:extLst>
                <a:ext uri="{FF2B5EF4-FFF2-40B4-BE49-F238E27FC236}">
                  <a16:creationId xmlns:a16="http://schemas.microsoft.com/office/drawing/2014/main" id="{47538D23-C1D1-C4FA-F54B-A032EA9C87BE}"/>
                </a:ext>
              </a:extLst>
            </p:cNvPr>
            <p:cNvGrpSpPr/>
            <p:nvPr/>
          </p:nvGrpSpPr>
          <p:grpSpPr>
            <a:xfrm>
              <a:off x="4953396" y="2834933"/>
              <a:ext cx="1021038" cy="1060714"/>
              <a:chOff x="1793893" y="3948469"/>
              <a:chExt cx="2716107" cy="2749848"/>
            </a:xfrm>
          </p:grpSpPr>
          <p:pic>
            <p:nvPicPr>
              <p:cNvPr id="30" name="Graphique 29" descr="Diplôme roulé avec un remplissage uni">
                <a:extLst>
                  <a:ext uri="{FF2B5EF4-FFF2-40B4-BE49-F238E27FC236}">
                    <a16:creationId xmlns:a16="http://schemas.microsoft.com/office/drawing/2014/main" id="{347DFFCF-4660-34B1-6A65-595EF9A04A04}"/>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2976734" y="5783917"/>
                <a:ext cx="914400" cy="914400"/>
              </a:xfrm>
              <a:prstGeom prst="rect">
                <a:avLst/>
              </a:prstGeom>
            </p:spPr>
          </p:pic>
          <p:grpSp>
            <p:nvGrpSpPr>
              <p:cNvPr id="31" name="Groupe 30">
                <a:extLst>
                  <a:ext uri="{FF2B5EF4-FFF2-40B4-BE49-F238E27FC236}">
                    <a16:creationId xmlns:a16="http://schemas.microsoft.com/office/drawing/2014/main" id="{5A4D0AA6-E551-1281-B649-C1347FA8A510}"/>
                  </a:ext>
                </a:extLst>
              </p:cNvPr>
              <p:cNvGrpSpPr/>
              <p:nvPr/>
            </p:nvGrpSpPr>
            <p:grpSpPr>
              <a:xfrm>
                <a:off x="1793893" y="3948469"/>
                <a:ext cx="2716107" cy="2284168"/>
                <a:chOff x="1793893" y="3948469"/>
                <a:chExt cx="2716107" cy="2284168"/>
              </a:xfrm>
            </p:grpSpPr>
            <p:sp>
              <p:nvSpPr>
                <p:cNvPr id="32" name="Ellipse 31">
                  <a:extLst>
                    <a:ext uri="{FF2B5EF4-FFF2-40B4-BE49-F238E27FC236}">
                      <a16:creationId xmlns:a16="http://schemas.microsoft.com/office/drawing/2014/main" id="{B02BE06B-2CDF-F3B5-49F1-5A7A2A021230}"/>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pic>
              <p:nvPicPr>
                <p:cNvPr id="33" name="Graphique 32" descr="Transférer avec un remplissage uni">
                  <a:extLst>
                    <a:ext uri="{FF2B5EF4-FFF2-40B4-BE49-F238E27FC236}">
                      <a16:creationId xmlns:a16="http://schemas.microsoft.com/office/drawing/2014/main" id="{3F8810A4-6328-CCBD-377F-560D78A0AB12}"/>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1979208" y="4142052"/>
                  <a:ext cx="914400" cy="914400"/>
                </a:xfrm>
                <a:prstGeom prst="rect">
                  <a:avLst/>
                </a:prstGeom>
              </p:spPr>
            </p:pic>
            <p:pic>
              <p:nvPicPr>
                <p:cNvPr id="34" name="Graphique 33" descr="Toque d'étudiant avec un remplissage uni">
                  <a:extLst>
                    <a:ext uri="{FF2B5EF4-FFF2-40B4-BE49-F238E27FC236}">
                      <a16:creationId xmlns:a16="http://schemas.microsoft.com/office/drawing/2014/main" id="{BA04A040-202D-5D0B-1D73-B1F307041B03}"/>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3260713" y="3948469"/>
                  <a:ext cx="914400" cy="914400"/>
                </a:xfrm>
                <a:prstGeom prst="rect">
                  <a:avLst/>
                </a:prstGeom>
              </p:spPr>
            </p:pic>
            <p:pic>
              <p:nvPicPr>
                <p:cNvPr id="35" name="Graphique 34" descr="Idée avec un remplissage uni">
                  <a:extLst>
                    <a:ext uri="{FF2B5EF4-FFF2-40B4-BE49-F238E27FC236}">
                      <a16:creationId xmlns:a16="http://schemas.microsoft.com/office/drawing/2014/main" id="{DBBED618-3DF2-C18B-28E4-9091F661BAE4}"/>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1793893" y="5264448"/>
                  <a:ext cx="914400" cy="914400"/>
                </a:xfrm>
                <a:prstGeom prst="rect">
                  <a:avLst/>
                </a:prstGeom>
              </p:spPr>
            </p:pic>
            <p:pic>
              <p:nvPicPr>
                <p:cNvPr id="36" name="Graphique 35" descr="Chat avec un remplissage uni">
                  <a:extLst>
                    <a:ext uri="{FF2B5EF4-FFF2-40B4-BE49-F238E27FC236}">
                      <a16:creationId xmlns:a16="http://schemas.microsoft.com/office/drawing/2014/main" id="{67287957-7417-5754-3EF8-EADF3F47E523}"/>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3595600" y="4881866"/>
                  <a:ext cx="914400" cy="914400"/>
                </a:xfrm>
                <a:prstGeom prst="rect">
                  <a:avLst/>
                </a:prstGeom>
              </p:spPr>
            </p:pic>
          </p:grpSp>
        </p:grpSp>
      </p:grpSp>
      <p:grpSp>
        <p:nvGrpSpPr>
          <p:cNvPr id="37" name="Groupe 36">
            <a:extLst>
              <a:ext uri="{FF2B5EF4-FFF2-40B4-BE49-F238E27FC236}">
                <a16:creationId xmlns:a16="http://schemas.microsoft.com/office/drawing/2014/main" id="{5E5E0067-31A8-FC40-540F-5A5594E1816C}"/>
              </a:ext>
            </a:extLst>
          </p:cNvPr>
          <p:cNvGrpSpPr/>
          <p:nvPr/>
        </p:nvGrpSpPr>
        <p:grpSpPr>
          <a:xfrm>
            <a:off x="4076415" y="1972638"/>
            <a:ext cx="867920" cy="1115052"/>
            <a:chOff x="1263318" y="4795766"/>
            <a:chExt cx="1188000" cy="1526271"/>
          </a:xfrm>
        </p:grpSpPr>
        <p:sp>
          <p:nvSpPr>
            <p:cNvPr id="38" name="Rectangle 37">
              <a:extLst>
                <a:ext uri="{FF2B5EF4-FFF2-40B4-BE49-F238E27FC236}">
                  <a16:creationId xmlns:a16="http://schemas.microsoft.com/office/drawing/2014/main" id="{12165C19-31FE-4B80-05EE-30A4B00A7A0D}"/>
                </a:ext>
              </a:extLst>
            </p:cNvPr>
            <p:cNvSpPr/>
            <p:nvPr/>
          </p:nvSpPr>
          <p:spPr>
            <a:xfrm>
              <a:off x="1263318" y="5726307"/>
              <a:ext cx="1188000" cy="59573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a:t>
              </a:r>
            </a:p>
            <a:p>
              <a:pPr algn="ctr"/>
              <a:r>
                <a:rPr lang="fr-FR" sz="900" dirty="0">
                  <a:solidFill>
                    <a:schemeClr val="bg1"/>
                  </a:solidFill>
                </a:rPr>
                <a:t>Projets</a:t>
              </a:r>
            </a:p>
          </p:txBody>
        </p:sp>
        <p:grpSp>
          <p:nvGrpSpPr>
            <p:cNvPr id="39" name="Groupe 38">
              <a:extLst>
                <a:ext uri="{FF2B5EF4-FFF2-40B4-BE49-F238E27FC236}">
                  <a16:creationId xmlns:a16="http://schemas.microsoft.com/office/drawing/2014/main" id="{39D9D85F-AF65-ADD2-31C7-E42AD131BC38}"/>
                </a:ext>
              </a:extLst>
            </p:cNvPr>
            <p:cNvGrpSpPr/>
            <p:nvPr/>
          </p:nvGrpSpPr>
          <p:grpSpPr>
            <a:xfrm>
              <a:off x="1366615" y="4795766"/>
              <a:ext cx="1006494" cy="888801"/>
              <a:chOff x="7967905" y="574228"/>
              <a:chExt cx="2945866" cy="2601395"/>
            </a:xfrm>
          </p:grpSpPr>
          <p:sp>
            <p:nvSpPr>
              <p:cNvPr id="40" name="Ellipse 39">
                <a:extLst>
                  <a:ext uri="{FF2B5EF4-FFF2-40B4-BE49-F238E27FC236}">
                    <a16:creationId xmlns:a16="http://schemas.microsoft.com/office/drawing/2014/main" id="{5C10A6B5-47DE-A465-D96C-3A3ACFB018FD}"/>
                  </a:ext>
                </a:extLst>
              </p:cNvPr>
              <p:cNvSpPr/>
              <p:nvPr/>
            </p:nvSpPr>
            <p:spPr>
              <a:xfrm>
                <a:off x="8454825" y="965640"/>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pic>
            <p:nvPicPr>
              <p:cNvPr id="41" name="Graphique 40" descr="Dossier ouvert avec un remplissage uni">
                <a:extLst>
                  <a:ext uri="{FF2B5EF4-FFF2-40B4-BE49-F238E27FC236}">
                    <a16:creationId xmlns:a16="http://schemas.microsoft.com/office/drawing/2014/main" id="{FD202AD0-F2A5-8DC3-4715-D5580B6BAC61}"/>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7967905" y="1044764"/>
                <a:ext cx="914400" cy="914400"/>
              </a:xfrm>
              <a:prstGeom prst="rect">
                <a:avLst/>
              </a:prstGeom>
            </p:spPr>
          </p:pic>
          <p:pic>
            <p:nvPicPr>
              <p:cNvPr id="42" name="Graphique 41" descr="Diagramme de Gantt avec un remplissage uni">
                <a:extLst>
                  <a:ext uri="{FF2B5EF4-FFF2-40B4-BE49-F238E27FC236}">
                    <a16:creationId xmlns:a16="http://schemas.microsoft.com/office/drawing/2014/main" id="{FB7EE233-C9EA-5341-CB29-8B9AC45334D9}"/>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8454079" y="2190978"/>
                <a:ext cx="914400" cy="914400"/>
              </a:xfrm>
              <a:prstGeom prst="rect">
                <a:avLst/>
              </a:prstGeom>
            </p:spPr>
          </p:pic>
          <p:pic>
            <p:nvPicPr>
              <p:cNvPr id="43" name="Graphique 42" descr="Calendrier mensuel avec un remplissage uni">
                <a:extLst>
                  <a:ext uri="{FF2B5EF4-FFF2-40B4-BE49-F238E27FC236}">
                    <a16:creationId xmlns:a16="http://schemas.microsoft.com/office/drawing/2014/main" id="{C25A0C6B-281C-EC35-BC69-BBAE10CDA1A2}"/>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9597330" y="2261223"/>
                <a:ext cx="914400" cy="914400"/>
              </a:xfrm>
              <a:prstGeom prst="rect">
                <a:avLst/>
              </a:prstGeom>
            </p:spPr>
          </p:pic>
          <p:pic>
            <p:nvPicPr>
              <p:cNvPr id="44" name="Graphique 43" descr="Priorités avec un remplissage uni">
                <a:extLst>
                  <a:ext uri="{FF2B5EF4-FFF2-40B4-BE49-F238E27FC236}">
                    <a16:creationId xmlns:a16="http://schemas.microsoft.com/office/drawing/2014/main" id="{7A293B5A-DAB1-8014-1B99-EB26E645A887}"/>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flipV="1">
                <a:off x="8952575" y="574228"/>
                <a:ext cx="914400" cy="1089697"/>
              </a:xfrm>
              <a:prstGeom prst="rect">
                <a:avLst/>
              </a:prstGeom>
            </p:spPr>
          </p:pic>
          <p:pic>
            <p:nvPicPr>
              <p:cNvPr id="45" name="Graphique 44" descr="Graphique à barres avec tendance à la baisse avec un remplissage uni">
                <a:extLst>
                  <a:ext uri="{FF2B5EF4-FFF2-40B4-BE49-F238E27FC236}">
                    <a16:creationId xmlns:a16="http://schemas.microsoft.com/office/drawing/2014/main" id="{F09E0EE1-9EC4-DDCF-849F-71A635BD395C}"/>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9999371" y="992534"/>
                <a:ext cx="914400" cy="914400"/>
              </a:xfrm>
              <a:prstGeom prst="rect">
                <a:avLst/>
              </a:prstGeom>
            </p:spPr>
          </p:pic>
        </p:grpSp>
      </p:grpSp>
      <p:grpSp>
        <p:nvGrpSpPr>
          <p:cNvPr id="46" name="Groupe 45">
            <a:extLst>
              <a:ext uri="{FF2B5EF4-FFF2-40B4-BE49-F238E27FC236}">
                <a16:creationId xmlns:a16="http://schemas.microsoft.com/office/drawing/2014/main" id="{FF9D94DC-7D14-BFC4-82C0-9E3C12EABA2E}"/>
              </a:ext>
            </a:extLst>
          </p:cNvPr>
          <p:cNvGrpSpPr/>
          <p:nvPr/>
        </p:nvGrpSpPr>
        <p:grpSpPr>
          <a:xfrm>
            <a:off x="4958299" y="2025844"/>
            <a:ext cx="867921" cy="1061846"/>
            <a:chOff x="2945394" y="4865339"/>
            <a:chExt cx="1188000" cy="1453443"/>
          </a:xfrm>
        </p:grpSpPr>
        <p:sp>
          <p:nvSpPr>
            <p:cNvPr id="47" name="Rectangle 46">
              <a:extLst>
                <a:ext uri="{FF2B5EF4-FFF2-40B4-BE49-F238E27FC236}">
                  <a16:creationId xmlns:a16="http://schemas.microsoft.com/office/drawing/2014/main" id="{A654428F-4146-08F4-0E68-497058FAD939}"/>
                </a:ext>
              </a:extLst>
            </p:cNvPr>
            <p:cNvSpPr/>
            <p:nvPr/>
          </p:nvSpPr>
          <p:spPr>
            <a:xfrm>
              <a:off x="2945394" y="5707751"/>
              <a:ext cx="1188000" cy="61103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a:t>
              </a:r>
            </a:p>
            <a:p>
              <a:pPr algn="ctr"/>
              <a:r>
                <a:rPr lang="fr-FR" sz="900" dirty="0">
                  <a:solidFill>
                    <a:schemeClr val="bg1"/>
                  </a:solidFill>
                </a:rPr>
                <a:t>Qualité &amp; Méthodes</a:t>
              </a:r>
            </a:p>
          </p:txBody>
        </p:sp>
        <p:grpSp>
          <p:nvGrpSpPr>
            <p:cNvPr id="48" name="Groupe 47">
              <a:extLst>
                <a:ext uri="{FF2B5EF4-FFF2-40B4-BE49-F238E27FC236}">
                  <a16:creationId xmlns:a16="http://schemas.microsoft.com/office/drawing/2014/main" id="{38A6918B-C8FF-05E1-61F4-32B03FE985DD}"/>
                </a:ext>
              </a:extLst>
            </p:cNvPr>
            <p:cNvGrpSpPr/>
            <p:nvPr/>
          </p:nvGrpSpPr>
          <p:grpSpPr>
            <a:xfrm>
              <a:off x="3034186" y="4865339"/>
              <a:ext cx="962635" cy="814307"/>
              <a:chOff x="1619081" y="3908041"/>
              <a:chExt cx="3348357" cy="2476948"/>
            </a:xfrm>
          </p:grpSpPr>
          <p:pic>
            <p:nvPicPr>
              <p:cNvPr id="49" name="Graphique 48" descr="Graphique en radar avec un remplissage uni">
                <a:extLst>
                  <a:ext uri="{FF2B5EF4-FFF2-40B4-BE49-F238E27FC236}">
                    <a16:creationId xmlns:a16="http://schemas.microsoft.com/office/drawing/2014/main" id="{E195B8F8-B3E9-F300-00A4-7FB05E434ABB}"/>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1619081" y="5084439"/>
                <a:ext cx="1290292" cy="1290292"/>
              </a:xfrm>
              <a:prstGeom prst="rect">
                <a:avLst/>
              </a:prstGeom>
            </p:spPr>
          </p:pic>
          <p:pic>
            <p:nvPicPr>
              <p:cNvPr id="50" name="Graphique 49" descr="Compteur bas avec un remplissage uni">
                <a:extLst>
                  <a:ext uri="{FF2B5EF4-FFF2-40B4-BE49-F238E27FC236}">
                    <a16:creationId xmlns:a16="http://schemas.microsoft.com/office/drawing/2014/main" id="{6663B442-FD60-751E-3905-36E56C2ABF76}"/>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flipH="1">
                <a:off x="2795861" y="3908041"/>
                <a:ext cx="898916" cy="914400"/>
              </a:xfrm>
              <a:prstGeom prst="rect">
                <a:avLst/>
              </a:prstGeom>
            </p:spPr>
          </p:pic>
          <p:pic>
            <p:nvPicPr>
              <p:cNvPr id="51" name="Graphique 50" descr="Cercles avec flèches avec un remplissage uni">
                <a:extLst>
                  <a:ext uri="{FF2B5EF4-FFF2-40B4-BE49-F238E27FC236}">
                    <a16:creationId xmlns:a16="http://schemas.microsoft.com/office/drawing/2014/main" id="{7BBF4D30-75F6-E0C7-34C3-A0AD8647A245}"/>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rot="18361995">
                <a:off x="2644083" y="4661879"/>
                <a:ext cx="1172888" cy="1172888"/>
              </a:xfrm>
              <a:prstGeom prst="rect">
                <a:avLst/>
              </a:prstGeom>
            </p:spPr>
          </p:pic>
          <p:pic>
            <p:nvPicPr>
              <p:cNvPr id="52" name="Graphique 51" descr="Presse-papiers badge avec un remplissage uni">
                <a:extLst>
                  <a:ext uri="{FF2B5EF4-FFF2-40B4-BE49-F238E27FC236}">
                    <a16:creationId xmlns:a16="http://schemas.microsoft.com/office/drawing/2014/main" id="{8E39B31F-17AE-50F8-C30C-9354C7B01228}"/>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3755728" y="5173279"/>
                <a:ext cx="1211710" cy="1211710"/>
              </a:xfrm>
              <a:prstGeom prst="rect">
                <a:avLst/>
              </a:prstGeom>
            </p:spPr>
          </p:pic>
        </p:grpSp>
      </p:grpSp>
      <p:grpSp>
        <p:nvGrpSpPr>
          <p:cNvPr id="53" name="Groupe 52">
            <a:extLst>
              <a:ext uri="{FF2B5EF4-FFF2-40B4-BE49-F238E27FC236}">
                <a16:creationId xmlns:a16="http://schemas.microsoft.com/office/drawing/2014/main" id="{6AAB5054-2F86-9767-82F3-F17ABCD8E8C3}"/>
              </a:ext>
            </a:extLst>
          </p:cNvPr>
          <p:cNvGrpSpPr/>
          <p:nvPr/>
        </p:nvGrpSpPr>
        <p:grpSpPr>
          <a:xfrm>
            <a:off x="5840184" y="2133374"/>
            <a:ext cx="867921" cy="954316"/>
            <a:chOff x="4704331" y="5050873"/>
            <a:chExt cx="1188000" cy="1306257"/>
          </a:xfrm>
        </p:grpSpPr>
        <p:sp>
          <p:nvSpPr>
            <p:cNvPr id="54" name="Rectangle 53">
              <a:extLst>
                <a:ext uri="{FF2B5EF4-FFF2-40B4-BE49-F238E27FC236}">
                  <a16:creationId xmlns:a16="http://schemas.microsoft.com/office/drawing/2014/main" id="{B7FFFEB9-1BB8-7E10-AA9D-6C11C9075F1D}"/>
                </a:ext>
              </a:extLst>
            </p:cNvPr>
            <p:cNvSpPr/>
            <p:nvPr/>
          </p:nvSpPr>
          <p:spPr>
            <a:xfrm>
              <a:off x="4704331" y="570138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a:t>
              </a:r>
            </a:p>
            <a:p>
              <a:pPr algn="ctr"/>
              <a:r>
                <a:rPr lang="fr-FR" sz="900" dirty="0">
                  <a:solidFill>
                    <a:schemeClr val="bg1"/>
                  </a:solidFill>
                </a:rPr>
                <a:t>Gestion des connaissances</a:t>
              </a:r>
            </a:p>
          </p:txBody>
        </p:sp>
        <p:grpSp>
          <p:nvGrpSpPr>
            <p:cNvPr id="55" name="Groupe 54">
              <a:extLst>
                <a:ext uri="{FF2B5EF4-FFF2-40B4-BE49-F238E27FC236}">
                  <a16:creationId xmlns:a16="http://schemas.microsoft.com/office/drawing/2014/main" id="{0B36EB80-6159-B3B4-E55D-3FD888639DB1}"/>
                </a:ext>
              </a:extLst>
            </p:cNvPr>
            <p:cNvGrpSpPr/>
            <p:nvPr/>
          </p:nvGrpSpPr>
          <p:grpSpPr>
            <a:xfrm>
              <a:off x="4771800" y="5050873"/>
              <a:ext cx="1076472" cy="553441"/>
              <a:chOff x="6389474" y="3987996"/>
              <a:chExt cx="5385544" cy="2536749"/>
            </a:xfrm>
          </p:grpSpPr>
          <p:cxnSp>
            <p:nvCxnSpPr>
              <p:cNvPr id="56" name="Connecteur droit avec flèche 55">
                <a:extLst>
                  <a:ext uri="{FF2B5EF4-FFF2-40B4-BE49-F238E27FC236}">
                    <a16:creationId xmlns:a16="http://schemas.microsoft.com/office/drawing/2014/main" id="{14AE34DC-0D1B-6B84-E291-45AACB532236}"/>
                  </a:ext>
                </a:extLst>
              </p:cNvPr>
              <p:cNvCxnSpPr>
                <a:cxnSpLocks/>
              </p:cNvCxnSpPr>
              <p:nvPr/>
            </p:nvCxnSpPr>
            <p:spPr>
              <a:xfrm flipV="1">
                <a:off x="6535271" y="6100758"/>
                <a:ext cx="1486117" cy="22439"/>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57" name="Graphique 56" descr="Télécharger du cloud avec un remplissage uni">
                <a:extLst>
                  <a:ext uri="{FF2B5EF4-FFF2-40B4-BE49-F238E27FC236}">
                    <a16:creationId xmlns:a16="http://schemas.microsoft.com/office/drawing/2014/main" id="{363900E9-08CA-85AC-65F9-9F026B73E361}"/>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8320900" y="3987996"/>
                <a:ext cx="675060" cy="675060"/>
              </a:xfrm>
              <a:prstGeom prst="rect">
                <a:avLst/>
              </a:prstGeom>
            </p:spPr>
          </p:pic>
          <p:pic>
            <p:nvPicPr>
              <p:cNvPr id="58" name="Graphique 57" descr="Serveur avec un remplissage uni">
                <a:extLst>
                  <a:ext uri="{FF2B5EF4-FFF2-40B4-BE49-F238E27FC236}">
                    <a16:creationId xmlns:a16="http://schemas.microsoft.com/office/drawing/2014/main" id="{D895FF7C-2BA7-2210-5311-F217194430F3}"/>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8995960" y="3987996"/>
                <a:ext cx="675060" cy="675060"/>
              </a:xfrm>
              <a:prstGeom prst="rect">
                <a:avLst/>
              </a:prstGeom>
            </p:spPr>
          </p:pic>
          <p:pic>
            <p:nvPicPr>
              <p:cNvPr id="59" name="Graphique 58" descr="Tête avec engrenages avec un remplissage uni">
                <a:extLst>
                  <a:ext uri="{FF2B5EF4-FFF2-40B4-BE49-F238E27FC236}">
                    <a16:creationId xmlns:a16="http://schemas.microsoft.com/office/drawing/2014/main" id="{6DB9413D-ADA8-4DA0-B751-1EF702C044C2}"/>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6389474" y="5495508"/>
                <a:ext cx="914400" cy="914400"/>
              </a:xfrm>
              <a:prstGeom prst="rect">
                <a:avLst/>
              </a:prstGeom>
            </p:spPr>
          </p:pic>
          <p:sp>
            <p:nvSpPr>
              <p:cNvPr id="60" name="Flèche : droite 59">
                <a:extLst>
                  <a:ext uri="{FF2B5EF4-FFF2-40B4-BE49-F238E27FC236}">
                    <a16:creationId xmlns:a16="http://schemas.microsoft.com/office/drawing/2014/main" id="{B58510DD-9AAA-DF65-B789-4D98C269987B}"/>
                  </a:ext>
                </a:extLst>
              </p:cNvPr>
              <p:cNvSpPr/>
              <p:nvPr/>
            </p:nvSpPr>
            <p:spPr>
              <a:xfrm rot="2221843">
                <a:off x="9714954" y="4900835"/>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pic>
            <p:nvPicPr>
              <p:cNvPr id="61" name="Graphique 60" descr="Enseignant avec un remplissage uni">
                <a:extLst>
                  <a:ext uri="{FF2B5EF4-FFF2-40B4-BE49-F238E27FC236}">
                    <a16:creationId xmlns:a16="http://schemas.microsoft.com/office/drawing/2014/main" id="{4914E850-BFCA-8F0A-D377-BA9B81D65E3C}"/>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a:off x="8353404" y="4668590"/>
                <a:ext cx="639776" cy="639776"/>
              </a:xfrm>
              <a:prstGeom prst="rect">
                <a:avLst/>
              </a:prstGeom>
            </p:spPr>
          </p:pic>
          <p:cxnSp>
            <p:nvCxnSpPr>
              <p:cNvPr id="62" name="Connecteur droit avec flèche 61">
                <a:extLst>
                  <a:ext uri="{FF2B5EF4-FFF2-40B4-BE49-F238E27FC236}">
                    <a16:creationId xmlns:a16="http://schemas.microsoft.com/office/drawing/2014/main" id="{D7567FCA-E9F3-916A-AC25-1BB7E4242A3A}"/>
                  </a:ext>
                </a:extLst>
              </p:cNvPr>
              <p:cNvCxnSpPr>
                <a:cxnSpLocks/>
              </p:cNvCxnSpPr>
              <p:nvPr/>
            </p:nvCxnSpPr>
            <p:spPr>
              <a:xfrm flipV="1">
                <a:off x="9709150" y="6092806"/>
                <a:ext cx="2065868" cy="15905"/>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64" name="Graphique 63" descr="Tête avec engrenages avec un remplissage uni">
                <a:extLst>
                  <a:ext uri="{FF2B5EF4-FFF2-40B4-BE49-F238E27FC236}">
                    <a16:creationId xmlns:a16="http://schemas.microsoft.com/office/drawing/2014/main" id="{580478B2-07B0-DB51-D09C-F477673C6B15}"/>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10652219" y="5495508"/>
                <a:ext cx="914400" cy="914400"/>
              </a:xfrm>
              <a:prstGeom prst="rect">
                <a:avLst/>
              </a:prstGeom>
            </p:spPr>
          </p:pic>
          <p:sp>
            <p:nvSpPr>
              <p:cNvPr id="65" name="Flèche : droite 64">
                <a:extLst>
                  <a:ext uri="{FF2B5EF4-FFF2-40B4-BE49-F238E27FC236}">
                    <a16:creationId xmlns:a16="http://schemas.microsoft.com/office/drawing/2014/main" id="{5362CFC3-01C8-2C4A-9641-BBF111EDA100}"/>
                  </a:ext>
                </a:extLst>
              </p:cNvPr>
              <p:cNvSpPr/>
              <p:nvPr/>
            </p:nvSpPr>
            <p:spPr>
              <a:xfrm rot="18844370">
                <a:off x="7386229" y="4956663"/>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pic>
            <p:nvPicPr>
              <p:cNvPr id="66" name="Graphique 65" descr="Groupe de personnes avec un remplissage uni">
                <a:extLst>
                  <a:ext uri="{FF2B5EF4-FFF2-40B4-BE49-F238E27FC236}">
                    <a16:creationId xmlns:a16="http://schemas.microsoft.com/office/drawing/2014/main" id="{6505C925-624C-1827-6FC3-19F748EA5295}"/>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9025684" y="4682443"/>
                <a:ext cx="565880" cy="565880"/>
              </a:xfrm>
              <a:prstGeom prst="rect">
                <a:avLst/>
              </a:prstGeom>
            </p:spPr>
          </p:pic>
          <p:pic>
            <p:nvPicPr>
              <p:cNvPr id="67" name="Graphique 66" descr="Stop avec un remplissage uni">
                <a:extLst>
                  <a:ext uri="{FF2B5EF4-FFF2-40B4-BE49-F238E27FC236}">
                    <a16:creationId xmlns:a16="http://schemas.microsoft.com/office/drawing/2014/main" id="{DAF7F611-F4FC-7BF6-5C95-85A1E7A33936}"/>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7905881" y="5610345"/>
                <a:ext cx="914400" cy="914400"/>
              </a:xfrm>
              <a:prstGeom prst="rect">
                <a:avLst/>
              </a:prstGeom>
            </p:spPr>
          </p:pic>
          <p:grpSp>
            <p:nvGrpSpPr>
              <p:cNvPr id="68" name="Groupe 67">
                <a:extLst>
                  <a:ext uri="{FF2B5EF4-FFF2-40B4-BE49-F238E27FC236}">
                    <a16:creationId xmlns:a16="http://schemas.microsoft.com/office/drawing/2014/main" id="{619FAE1E-9746-C467-C955-4AB98BDBBDEC}"/>
                  </a:ext>
                </a:extLst>
              </p:cNvPr>
              <p:cNvGrpSpPr/>
              <p:nvPr/>
            </p:nvGrpSpPr>
            <p:grpSpPr>
              <a:xfrm>
                <a:off x="9279050" y="5495508"/>
                <a:ext cx="914400" cy="914400"/>
                <a:chOff x="9251950" y="5495508"/>
                <a:chExt cx="914400" cy="914400"/>
              </a:xfrm>
            </p:grpSpPr>
            <p:pic>
              <p:nvPicPr>
                <p:cNvPr id="69" name="Graphique 68" descr="Tête avec engrenages avec un remplissage uni">
                  <a:extLst>
                    <a:ext uri="{FF2B5EF4-FFF2-40B4-BE49-F238E27FC236}">
                      <a16:creationId xmlns:a16="http://schemas.microsoft.com/office/drawing/2014/main" id="{06D376FA-93A9-9E5F-496F-E16E30991AA6}"/>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9251950" y="5495508"/>
                  <a:ext cx="914400" cy="914400"/>
                </a:xfrm>
                <a:prstGeom prst="rect">
                  <a:avLst/>
                </a:prstGeom>
              </p:spPr>
            </p:pic>
            <p:sp>
              <p:nvSpPr>
                <p:cNvPr id="70" name="Rectangle 69">
                  <a:extLst>
                    <a:ext uri="{FF2B5EF4-FFF2-40B4-BE49-F238E27FC236}">
                      <a16:creationId xmlns:a16="http://schemas.microsoft.com/office/drawing/2014/main" id="{F6481BDA-6021-343A-4866-86366DF6E008}"/>
                    </a:ext>
                  </a:extLst>
                </p:cNvPr>
                <p:cNvSpPr/>
                <p:nvPr/>
              </p:nvSpPr>
              <p:spPr>
                <a:xfrm>
                  <a:off x="9453160" y="5700257"/>
                  <a:ext cx="402041" cy="33468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71" name="Rectangle 70">
                  <a:extLst>
                    <a:ext uri="{FF2B5EF4-FFF2-40B4-BE49-F238E27FC236}">
                      <a16:creationId xmlns:a16="http://schemas.microsoft.com/office/drawing/2014/main" id="{E4C7CC6A-AB58-353E-B9E2-879F75A806A0}"/>
                    </a:ext>
                  </a:extLst>
                </p:cNvPr>
                <p:cNvSpPr/>
                <p:nvPr/>
              </p:nvSpPr>
              <p:spPr>
                <a:xfrm>
                  <a:off x="9566945" y="5606948"/>
                  <a:ext cx="262408" cy="34576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grpSp>
        </p:grpSp>
      </p:grpSp>
      <p:grpSp>
        <p:nvGrpSpPr>
          <p:cNvPr id="72" name="Groupe 71">
            <a:extLst>
              <a:ext uri="{FF2B5EF4-FFF2-40B4-BE49-F238E27FC236}">
                <a16:creationId xmlns:a16="http://schemas.microsoft.com/office/drawing/2014/main" id="{3F529115-BE5C-CBDB-500F-CD8EC1542ED2}"/>
              </a:ext>
            </a:extLst>
          </p:cNvPr>
          <p:cNvGrpSpPr/>
          <p:nvPr/>
        </p:nvGrpSpPr>
        <p:grpSpPr>
          <a:xfrm>
            <a:off x="8485838" y="2231229"/>
            <a:ext cx="867920" cy="856461"/>
            <a:chOff x="9979734" y="5177643"/>
            <a:chExt cx="1188000" cy="1172315"/>
          </a:xfrm>
        </p:grpSpPr>
        <p:sp>
          <p:nvSpPr>
            <p:cNvPr id="73" name="Rectangle 72">
              <a:extLst>
                <a:ext uri="{FF2B5EF4-FFF2-40B4-BE49-F238E27FC236}">
                  <a16:creationId xmlns:a16="http://schemas.microsoft.com/office/drawing/2014/main" id="{FA46FCDE-A1CE-B900-A5AC-F9D8C3A92D30}"/>
                </a:ext>
              </a:extLst>
            </p:cNvPr>
            <p:cNvSpPr/>
            <p:nvPr/>
          </p:nvSpPr>
          <p:spPr>
            <a:xfrm>
              <a:off x="9979734" y="5694208"/>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a:t>
              </a:r>
            </a:p>
            <a:p>
              <a:pPr algn="ctr"/>
              <a:r>
                <a:rPr lang="fr-FR" sz="900" dirty="0">
                  <a:solidFill>
                    <a:schemeClr val="bg1"/>
                  </a:solidFill>
                </a:rPr>
                <a:t>Transformation d’entreprise</a:t>
              </a:r>
            </a:p>
          </p:txBody>
        </p:sp>
        <p:grpSp>
          <p:nvGrpSpPr>
            <p:cNvPr id="74" name="Groupe 73">
              <a:extLst>
                <a:ext uri="{FF2B5EF4-FFF2-40B4-BE49-F238E27FC236}">
                  <a16:creationId xmlns:a16="http://schemas.microsoft.com/office/drawing/2014/main" id="{54701DF7-E86E-3404-7296-C1596AA00A2E}"/>
                </a:ext>
              </a:extLst>
            </p:cNvPr>
            <p:cNvGrpSpPr/>
            <p:nvPr/>
          </p:nvGrpSpPr>
          <p:grpSpPr>
            <a:xfrm>
              <a:off x="10053885" y="5177643"/>
              <a:ext cx="1025143" cy="399185"/>
              <a:chOff x="6479122" y="1406591"/>
              <a:chExt cx="5241664" cy="1686141"/>
            </a:xfrm>
          </p:grpSpPr>
          <p:pic>
            <p:nvPicPr>
              <p:cNvPr id="75" name="Graphique 74" descr="Soucoupe volante avec un remplissage uni">
                <a:extLst>
                  <a:ext uri="{FF2B5EF4-FFF2-40B4-BE49-F238E27FC236}">
                    <a16:creationId xmlns:a16="http://schemas.microsoft.com/office/drawing/2014/main" id="{59386BCC-53A3-70C5-E848-A2A46F85D226}"/>
                  </a:ext>
                </a:extLst>
              </p:cNvPr>
              <p:cNvPicPr>
                <a:picLocks noChangeAspect="1"/>
              </p:cNvPicPr>
              <p:nvPr/>
            </p:nvPicPr>
            <p:blipFill>
              <a:blip r:embed="rId74">
                <a:extLst>
                  <a:ext uri="{28A0092B-C50C-407E-A947-70E740481C1C}">
                    <a14:useLocalDpi xmlns:a14="http://schemas.microsoft.com/office/drawing/2010/main" val="0"/>
                  </a:ext>
                  <a:ext uri="{96DAC541-7B7A-43D3-8B79-37D633B846F1}">
                    <asvg:svgBlip xmlns:asvg="http://schemas.microsoft.com/office/drawing/2016/SVG/main" r:embed="rId75"/>
                  </a:ext>
                </a:extLst>
              </a:blip>
              <a:stretch>
                <a:fillRect/>
              </a:stretch>
            </p:blipFill>
            <p:spPr>
              <a:xfrm>
                <a:off x="10806386" y="1406591"/>
                <a:ext cx="914400" cy="914400"/>
              </a:xfrm>
              <a:prstGeom prst="rect">
                <a:avLst/>
              </a:prstGeom>
            </p:spPr>
          </p:pic>
          <p:pic>
            <p:nvPicPr>
              <p:cNvPr id="76" name="Graphique 75" descr="Usine avec un remplissage uni">
                <a:extLst>
                  <a:ext uri="{FF2B5EF4-FFF2-40B4-BE49-F238E27FC236}">
                    <a16:creationId xmlns:a16="http://schemas.microsoft.com/office/drawing/2014/main" id="{727EE421-E640-14AE-A2F0-93C32081A5EA}"/>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8642754" y="1406591"/>
                <a:ext cx="914400" cy="914400"/>
              </a:xfrm>
              <a:prstGeom prst="rect">
                <a:avLst/>
              </a:prstGeom>
            </p:spPr>
          </p:pic>
          <p:pic>
            <p:nvPicPr>
              <p:cNvPr id="77" name="Graphique 76" descr="Pyramide avec un remplissage uni">
                <a:extLst>
                  <a:ext uri="{FF2B5EF4-FFF2-40B4-BE49-F238E27FC236}">
                    <a16:creationId xmlns:a16="http://schemas.microsoft.com/office/drawing/2014/main" id="{EF2D1D2A-C04F-9D5C-498D-DBB8E115E96C}"/>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6479122" y="1406591"/>
                <a:ext cx="914400" cy="914400"/>
              </a:xfrm>
              <a:prstGeom prst="rect">
                <a:avLst/>
              </a:prstGeom>
            </p:spPr>
          </p:pic>
          <p:pic>
            <p:nvPicPr>
              <p:cNvPr id="78" name="Graphique 77" descr="Bâtiment avec un remplissage uni">
                <a:extLst>
                  <a:ext uri="{FF2B5EF4-FFF2-40B4-BE49-F238E27FC236}">
                    <a16:creationId xmlns:a16="http://schemas.microsoft.com/office/drawing/2014/main" id="{CD44ECDF-713E-988B-FEDB-579C0C747E38}"/>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9724570" y="2178332"/>
                <a:ext cx="914400" cy="914400"/>
              </a:xfrm>
              <a:prstGeom prst="rect">
                <a:avLst/>
              </a:prstGeom>
            </p:spPr>
          </p:pic>
          <p:pic>
            <p:nvPicPr>
              <p:cNvPr id="79" name="Graphique 78" descr="Scène de château avec un remplissage uni">
                <a:extLst>
                  <a:ext uri="{FF2B5EF4-FFF2-40B4-BE49-F238E27FC236}">
                    <a16:creationId xmlns:a16="http://schemas.microsoft.com/office/drawing/2014/main" id="{E9882852-17E5-BE1A-221B-3ACCE3C6C9CB}"/>
                  </a:ext>
                </a:extLst>
              </p:cNvPr>
              <p:cNvPicPr>
                <a:picLocks noChangeAspect="1"/>
              </p:cNvPicPr>
              <p:nvPr/>
            </p:nvPicPr>
            <p:blipFill>
              <a:blip r:embed="rId82">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7560938" y="2178332"/>
                <a:ext cx="914400" cy="914400"/>
              </a:xfrm>
              <a:prstGeom prst="rect">
                <a:avLst/>
              </a:prstGeom>
            </p:spPr>
          </p:pic>
          <p:sp>
            <p:nvSpPr>
              <p:cNvPr id="80" name="Flèche : droite 79">
                <a:extLst>
                  <a:ext uri="{FF2B5EF4-FFF2-40B4-BE49-F238E27FC236}">
                    <a16:creationId xmlns:a16="http://schemas.microsoft.com/office/drawing/2014/main" id="{9A6F1BEC-8B06-4AEB-1007-4F4F2ED3F63A}"/>
                  </a:ext>
                </a:extLst>
              </p:cNvPr>
              <p:cNvSpPr/>
              <p:nvPr/>
            </p:nvSpPr>
            <p:spPr>
              <a:xfrm rot="2412443">
                <a:off x="7420834" y="196308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81" name="Flèche : droite 80">
                <a:extLst>
                  <a:ext uri="{FF2B5EF4-FFF2-40B4-BE49-F238E27FC236}">
                    <a16:creationId xmlns:a16="http://schemas.microsoft.com/office/drawing/2014/main" id="{1DE4F637-3768-9705-11F6-2E3A49771C8B}"/>
                  </a:ext>
                </a:extLst>
              </p:cNvPr>
              <p:cNvSpPr/>
              <p:nvPr/>
            </p:nvSpPr>
            <p:spPr>
              <a:xfrm rot="19318800">
                <a:off x="8295844"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82" name="Flèche : droite 81">
                <a:extLst>
                  <a:ext uri="{FF2B5EF4-FFF2-40B4-BE49-F238E27FC236}">
                    <a16:creationId xmlns:a16="http://schemas.microsoft.com/office/drawing/2014/main" id="{2EB190C0-A211-6C39-B574-5574EEE7E16F}"/>
                  </a:ext>
                </a:extLst>
              </p:cNvPr>
              <p:cNvSpPr/>
              <p:nvPr/>
            </p:nvSpPr>
            <p:spPr>
              <a:xfrm rot="19318800">
                <a:off x="10452959"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83" name="Flèche : droite 82">
                <a:extLst>
                  <a:ext uri="{FF2B5EF4-FFF2-40B4-BE49-F238E27FC236}">
                    <a16:creationId xmlns:a16="http://schemas.microsoft.com/office/drawing/2014/main" id="{B1893704-AF27-C02F-82EC-3AB1DDDDD742}"/>
                  </a:ext>
                </a:extLst>
              </p:cNvPr>
              <p:cNvSpPr/>
              <p:nvPr/>
            </p:nvSpPr>
            <p:spPr>
              <a:xfrm rot="2412443">
                <a:off x="9514335" y="192072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grpSp>
      </p:grpSp>
      <p:grpSp>
        <p:nvGrpSpPr>
          <p:cNvPr id="84" name="Groupe 83">
            <a:extLst>
              <a:ext uri="{FF2B5EF4-FFF2-40B4-BE49-F238E27FC236}">
                <a16:creationId xmlns:a16="http://schemas.microsoft.com/office/drawing/2014/main" id="{29270413-AEBE-421A-3A50-A8F7949CCF95}"/>
              </a:ext>
            </a:extLst>
          </p:cNvPr>
          <p:cNvGrpSpPr/>
          <p:nvPr/>
        </p:nvGrpSpPr>
        <p:grpSpPr>
          <a:xfrm>
            <a:off x="6722069" y="2071431"/>
            <a:ext cx="867921" cy="1016259"/>
            <a:chOff x="6450988" y="4963473"/>
            <a:chExt cx="1188000" cy="1391043"/>
          </a:xfrm>
        </p:grpSpPr>
        <p:sp>
          <p:nvSpPr>
            <p:cNvPr id="85" name="Rectangle 84">
              <a:extLst>
                <a:ext uri="{FF2B5EF4-FFF2-40B4-BE49-F238E27FC236}">
                  <a16:creationId xmlns:a16="http://schemas.microsoft.com/office/drawing/2014/main" id="{AA9D0B0A-A01E-8CC7-9648-E2B40E673E3A}"/>
                </a:ext>
              </a:extLst>
            </p:cNvPr>
            <p:cNvSpPr/>
            <p:nvPr/>
          </p:nvSpPr>
          <p:spPr>
            <a:xfrm>
              <a:off x="6450988" y="5698766"/>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 </a:t>
              </a:r>
            </a:p>
            <a:p>
              <a:pPr algn="ctr"/>
              <a:r>
                <a:rPr lang="fr-FR" sz="900" dirty="0">
                  <a:solidFill>
                    <a:schemeClr val="bg1"/>
                  </a:solidFill>
                </a:rPr>
                <a:t>Management Transverse</a:t>
              </a:r>
            </a:p>
          </p:txBody>
        </p:sp>
        <p:grpSp>
          <p:nvGrpSpPr>
            <p:cNvPr id="86" name="Groupe 85">
              <a:extLst>
                <a:ext uri="{FF2B5EF4-FFF2-40B4-BE49-F238E27FC236}">
                  <a16:creationId xmlns:a16="http://schemas.microsoft.com/office/drawing/2014/main" id="{0CDABDA6-76B1-F9E2-ECFA-E5E6A34CB14B}"/>
                </a:ext>
              </a:extLst>
            </p:cNvPr>
            <p:cNvGrpSpPr/>
            <p:nvPr/>
          </p:nvGrpSpPr>
          <p:grpSpPr>
            <a:xfrm>
              <a:off x="6677241" y="4963473"/>
              <a:ext cx="730189" cy="610409"/>
              <a:chOff x="1734369" y="510800"/>
              <a:chExt cx="2873060" cy="2423359"/>
            </a:xfrm>
          </p:grpSpPr>
          <p:pic>
            <p:nvPicPr>
              <p:cNvPr id="87" name="Graphique 86" descr="Avertissement avec un remplissage uni">
                <a:extLst>
                  <a:ext uri="{FF2B5EF4-FFF2-40B4-BE49-F238E27FC236}">
                    <a16:creationId xmlns:a16="http://schemas.microsoft.com/office/drawing/2014/main" id="{C5A6DDF4-B78C-5142-5800-AA227D171E2A}"/>
                  </a:ext>
                </a:extLst>
              </p:cNvPr>
              <p:cNvPicPr>
                <a:picLocks noChangeAspect="1"/>
              </p:cNvPicPr>
              <p:nvPr/>
            </p:nvPicPr>
            <p:blipFill>
              <a:blip r:embed="rId84">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1734369" y="1978134"/>
                <a:ext cx="914400" cy="914400"/>
              </a:xfrm>
              <a:prstGeom prst="rect">
                <a:avLst/>
              </a:prstGeom>
            </p:spPr>
          </p:pic>
          <p:pic>
            <p:nvPicPr>
              <p:cNvPr id="88" name="Graphique 87" descr="Chat avec un remplissage uni">
                <a:extLst>
                  <a:ext uri="{FF2B5EF4-FFF2-40B4-BE49-F238E27FC236}">
                    <a16:creationId xmlns:a16="http://schemas.microsoft.com/office/drawing/2014/main" id="{1BBE9874-89E2-1775-2ADB-1E694978B970}"/>
                  </a:ext>
                </a:extLst>
              </p:cNvPr>
              <p:cNvPicPr>
                <a:picLocks noChangeAspect="1"/>
              </p:cNvPicPr>
              <p:nvPr/>
            </p:nvPicPr>
            <p:blipFill>
              <a:blip r:embed="rId86">
                <a:extLst>
                  <a:ext uri="{28A0092B-C50C-407E-A947-70E740481C1C}">
                    <a14:useLocalDpi xmlns:a14="http://schemas.microsoft.com/office/drawing/2010/main" val="0"/>
                  </a:ext>
                  <a:ext uri="{96DAC541-7B7A-43D3-8B79-37D633B846F1}">
                    <asvg:svgBlip xmlns:asvg="http://schemas.microsoft.com/office/drawing/2016/SVG/main" r:embed="rId87"/>
                  </a:ext>
                </a:extLst>
              </a:blip>
              <a:stretch>
                <a:fillRect/>
              </a:stretch>
            </p:blipFill>
            <p:spPr>
              <a:xfrm>
                <a:off x="2713699" y="1562559"/>
                <a:ext cx="914400" cy="914400"/>
              </a:xfrm>
              <a:prstGeom prst="rect">
                <a:avLst/>
              </a:prstGeom>
            </p:spPr>
          </p:pic>
          <p:pic>
            <p:nvPicPr>
              <p:cNvPr id="89" name="Graphique 88" descr="Liste de contrôle avec un remplissage uni">
                <a:extLst>
                  <a:ext uri="{FF2B5EF4-FFF2-40B4-BE49-F238E27FC236}">
                    <a16:creationId xmlns:a16="http://schemas.microsoft.com/office/drawing/2014/main" id="{C72FCC95-563D-561C-2E96-1FD8AD08BD50}"/>
                  </a:ext>
                </a:extLst>
              </p:cNvPr>
              <p:cNvPicPr>
                <a:picLocks noChangeAspect="1"/>
              </p:cNvPicPr>
              <p:nvPr/>
            </p:nvPicPr>
            <p:blipFill>
              <a:blip r:embed="rId88">
                <a:extLst>
                  <a:ext uri="{28A0092B-C50C-407E-A947-70E740481C1C}">
                    <a14:useLocalDpi xmlns:a14="http://schemas.microsoft.com/office/drawing/2010/main" val="0"/>
                  </a:ext>
                  <a:ext uri="{96DAC541-7B7A-43D3-8B79-37D633B846F1}">
                    <asvg:svgBlip xmlns:asvg="http://schemas.microsoft.com/office/drawing/2016/SVG/main" r:embed="rId89"/>
                  </a:ext>
                </a:extLst>
              </a:blip>
              <a:stretch>
                <a:fillRect/>
              </a:stretch>
            </p:blipFill>
            <p:spPr>
              <a:xfrm>
                <a:off x="3693029" y="2019759"/>
                <a:ext cx="914400" cy="914400"/>
              </a:xfrm>
              <a:prstGeom prst="rect">
                <a:avLst/>
              </a:prstGeom>
            </p:spPr>
          </p:pic>
          <p:pic>
            <p:nvPicPr>
              <p:cNvPr id="90" name="Graphique 89" descr="Synchronisation avec le cloud avec un remplissage uni">
                <a:extLst>
                  <a:ext uri="{FF2B5EF4-FFF2-40B4-BE49-F238E27FC236}">
                    <a16:creationId xmlns:a16="http://schemas.microsoft.com/office/drawing/2014/main" id="{2F790F55-1D1B-F42A-ADD3-A71E776C5DBB}"/>
                  </a:ext>
                </a:extLst>
              </p:cNvPr>
              <p:cNvPicPr>
                <a:picLocks noChangeAspect="1"/>
              </p:cNvPicPr>
              <p:nvPr/>
            </p:nvPicPr>
            <p:blipFill>
              <a:blip r:embed="rId90">
                <a:extLst>
                  <a:ext uri="{28A0092B-C50C-407E-A947-70E740481C1C}">
                    <a14:useLocalDpi xmlns:a14="http://schemas.microsoft.com/office/drawing/2010/main" val="0"/>
                  </a:ext>
                  <a:ext uri="{96DAC541-7B7A-43D3-8B79-37D633B846F1}">
                    <asvg:svgBlip xmlns:asvg="http://schemas.microsoft.com/office/drawing/2016/SVG/main" r:embed="rId91"/>
                  </a:ext>
                </a:extLst>
              </a:blip>
              <a:stretch>
                <a:fillRect/>
              </a:stretch>
            </p:blipFill>
            <p:spPr>
              <a:xfrm>
                <a:off x="2778630" y="510800"/>
                <a:ext cx="914400" cy="914400"/>
              </a:xfrm>
              <a:prstGeom prst="rect">
                <a:avLst/>
              </a:prstGeom>
            </p:spPr>
          </p:pic>
        </p:grpSp>
      </p:grpSp>
      <p:grpSp>
        <p:nvGrpSpPr>
          <p:cNvPr id="91" name="Groupe 90">
            <a:extLst>
              <a:ext uri="{FF2B5EF4-FFF2-40B4-BE49-F238E27FC236}">
                <a16:creationId xmlns:a16="http://schemas.microsoft.com/office/drawing/2014/main" id="{0281D153-3A4A-6EBB-02C5-FEE02F6FD8D8}"/>
              </a:ext>
            </a:extLst>
          </p:cNvPr>
          <p:cNvGrpSpPr/>
          <p:nvPr/>
        </p:nvGrpSpPr>
        <p:grpSpPr>
          <a:xfrm>
            <a:off x="7603954" y="1913010"/>
            <a:ext cx="867920" cy="1174680"/>
            <a:chOff x="8188500" y="4755609"/>
            <a:chExt cx="1188000" cy="1607891"/>
          </a:xfrm>
        </p:grpSpPr>
        <p:sp>
          <p:nvSpPr>
            <p:cNvPr id="92" name="Rectangle 91">
              <a:extLst>
                <a:ext uri="{FF2B5EF4-FFF2-40B4-BE49-F238E27FC236}">
                  <a16:creationId xmlns:a16="http://schemas.microsoft.com/office/drawing/2014/main" id="{BB38758B-724B-0B0A-A8F5-D322CA665E73}"/>
                </a:ext>
              </a:extLst>
            </p:cNvPr>
            <p:cNvSpPr/>
            <p:nvPr/>
          </p:nvSpPr>
          <p:spPr>
            <a:xfrm>
              <a:off x="8188500" y="570775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 </a:t>
              </a:r>
            </a:p>
            <a:p>
              <a:pPr algn="ctr"/>
              <a:r>
                <a:rPr lang="fr-FR" sz="900" dirty="0">
                  <a:solidFill>
                    <a:schemeClr val="bg1"/>
                  </a:solidFill>
                </a:rPr>
                <a:t>Innovation</a:t>
              </a:r>
            </a:p>
          </p:txBody>
        </p:sp>
        <p:grpSp>
          <p:nvGrpSpPr>
            <p:cNvPr id="93" name="Groupe 92">
              <a:extLst>
                <a:ext uri="{FF2B5EF4-FFF2-40B4-BE49-F238E27FC236}">
                  <a16:creationId xmlns:a16="http://schemas.microsoft.com/office/drawing/2014/main" id="{5DDE6EEB-D103-2990-89D0-4E2BB53DA415}"/>
                </a:ext>
              </a:extLst>
            </p:cNvPr>
            <p:cNvGrpSpPr/>
            <p:nvPr/>
          </p:nvGrpSpPr>
          <p:grpSpPr>
            <a:xfrm>
              <a:off x="8302488" y="4755609"/>
              <a:ext cx="985193" cy="908867"/>
              <a:chOff x="1770451" y="635328"/>
              <a:chExt cx="2847387" cy="2660604"/>
            </a:xfrm>
          </p:grpSpPr>
          <p:sp>
            <p:nvSpPr>
              <p:cNvPr id="94" name="Ellipse 93">
                <a:extLst>
                  <a:ext uri="{FF2B5EF4-FFF2-40B4-BE49-F238E27FC236}">
                    <a16:creationId xmlns:a16="http://schemas.microsoft.com/office/drawing/2014/main" id="{8D921AE7-4D78-AF8C-C3A5-6BCEF35816D8}"/>
                  </a:ext>
                </a:extLst>
              </p:cNvPr>
              <p:cNvSpPr/>
              <p:nvPr/>
            </p:nvSpPr>
            <p:spPr>
              <a:xfrm>
                <a:off x="2285862" y="956143"/>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pic>
            <p:nvPicPr>
              <p:cNvPr id="95" name="Graphique 94" descr="Lunettes 3D avec un remplissage uni">
                <a:extLst>
                  <a:ext uri="{FF2B5EF4-FFF2-40B4-BE49-F238E27FC236}">
                    <a16:creationId xmlns:a16="http://schemas.microsoft.com/office/drawing/2014/main" id="{83BA93BD-36BE-C66C-A192-C936695DDF43}"/>
                  </a:ext>
                </a:extLst>
              </p:cNvPr>
              <p:cNvPicPr>
                <a:picLocks noChangeAspect="1"/>
              </p:cNvPicPr>
              <p:nvPr/>
            </p:nvPicPr>
            <p:blipFill>
              <a:blip r:embed="rId92">
                <a:extLst>
                  <a:ext uri="{28A0092B-C50C-407E-A947-70E740481C1C}">
                    <a14:useLocalDpi xmlns:a14="http://schemas.microsoft.com/office/drawing/2010/main" val="0"/>
                  </a:ext>
                  <a:ext uri="{96DAC541-7B7A-43D3-8B79-37D633B846F1}">
                    <asvg:svgBlip xmlns:asvg="http://schemas.microsoft.com/office/drawing/2016/SVG/main" r:embed="rId93"/>
                  </a:ext>
                </a:extLst>
              </a:blip>
              <a:stretch>
                <a:fillRect/>
              </a:stretch>
            </p:blipFill>
            <p:spPr>
              <a:xfrm>
                <a:off x="2339651" y="643202"/>
                <a:ext cx="914400" cy="914400"/>
              </a:xfrm>
              <a:prstGeom prst="rect">
                <a:avLst/>
              </a:prstGeom>
            </p:spPr>
          </p:pic>
          <p:pic>
            <p:nvPicPr>
              <p:cNvPr id="96" name="Graphique 95" descr="Mannequin test avec un remplissage uni">
                <a:extLst>
                  <a:ext uri="{FF2B5EF4-FFF2-40B4-BE49-F238E27FC236}">
                    <a16:creationId xmlns:a16="http://schemas.microsoft.com/office/drawing/2014/main" id="{EF13D84D-6592-B155-530B-B512C0C7F136}"/>
                  </a:ext>
                </a:extLst>
              </p:cNvPr>
              <p:cNvPicPr>
                <a:picLocks noChangeAspect="1"/>
              </p:cNvPicPr>
              <p:nvPr/>
            </p:nvPicPr>
            <p:blipFill>
              <a:blip r:embed="rId94">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2825957" y="2381532"/>
                <a:ext cx="914400" cy="914400"/>
              </a:xfrm>
              <a:prstGeom prst="rect">
                <a:avLst/>
              </a:prstGeom>
            </p:spPr>
          </p:pic>
          <p:pic>
            <p:nvPicPr>
              <p:cNvPr id="97" name="Graphique 96" descr="Homme scientifique avec un remplissage uni">
                <a:extLst>
                  <a:ext uri="{FF2B5EF4-FFF2-40B4-BE49-F238E27FC236}">
                    <a16:creationId xmlns:a16="http://schemas.microsoft.com/office/drawing/2014/main" id="{5F2D5272-B15D-8922-2416-572884B9F032}"/>
                  </a:ext>
                </a:extLst>
              </p:cNvPr>
              <p:cNvPicPr>
                <a:picLocks noChangeAspect="1"/>
              </p:cNvPicPr>
              <p:nvPr/>
            </p:nvPicPr>
            <p:blipFill>
              <a:blip r:embed="rId96">
                <a:extLst>
                  <a:ext uri="{28A0092B-C50C-407E-A947-70E740481C1C}">
                    <a14:useLocalDpi xmlns:a14="http://schemas.microsoft.com/office/drawing/2010/main" val="0"/>
                  </a:ext>
                  <a:ext uri="{96DAC541-7B7A-43D3-8B79-37D633B846F1}">
                    <asvg:svgBlip xmlns:asvg="http://schemas.microsoft.com/office/drawing/2016/SVG/main" r:embed="rId97"/>
                  </a:ext>
                </a:extLst>
              </a:blip>
              <a:stretch>
                <a:fillRect/>
              </a:stretch>
            </p:blipFill>
            <p:spPr>
              <a:xfrm>
                <a:off x="3612503" y="635328"/>
                <a:ext cx="914400" cy="914400"/>
              </a:xfrm>
              <a:prstGeom prst="rect">
                <a:avLst/>
              </a:prstGeom>
            </p:spPr>
          </p:pic>
          <p:pic>
            <p:nvPicPr>
              <p:cNvPr id="98" name="Graphique 97" descr="Presse-papiers mixte avec un remplissage uni">
                <a:extLst>
                  <a:ext uri="{FF2B5EF4-FFF2-40B4-BE49-F238E27FC236}">
                    <a16:creationId xmlns:a16="http://schemas.microsoft.com/office/drawing/2014/main" id="{E2718F17-0AD8-5A88-AFB4-14F41BEA2200}"/>
                  </a:ext>
                </a:extLst>
              </p:cNvPr>
              <p:cNvPicPr>
                <a:picLocks noChangeAspect="1"/>
              </p:cNvPicPr>
              <p:nvPr/>
            </p:nvPicPr>
            <p:blipFill>
              <a:blip r:embed="rId98">
                <a:extLst>
                  <a:ext uri="{28A0092B-C50C-407E-A947-70E740481C1C}">
                    <a14:useLocalDpi xmlns:a14="http://schemas.microsoft.com/office/drawing/2010/main" val="0"/>
                  </a:ext>
                  <a:ext uri="{96DAC541-7B7A-43D3-8B79-37D633B846F1}">
                    <asvg:svgBlip xmlns:asvg="http://schemas.microsoft.com/office/drawing/2016/SVG/main" r:embed="rId99"/>
                  </a:ext>
                </a:extLst>
              </a:blip>
              <a:stretch>
                <a:fillRect/>
              </a:stretch>
            </p:blipFill>
            <p:spPr>
              <a:xfrm>
                <a:off x="3703438" y="1819176"/>
                <a:ext cx="914400" cy="914400"/>
              </a:xfrm>
              <a:prstGeom prst="rect">
                <a:avLst/>
              </a:prstGeom>
            </p:spPr>
          </p:pic>
          <p:pic>
            <p:nvPicPr>
              <p:cNvPr id="99" name="Graphique 98" descr="Brainstorming de groupe avec un remplissage uni">
                <a:extLst>
                  <a:ext uri="{FF2B5EF4-FFF2-40B4-BE49-F238E27FC236}">
                    <a16:creationId xmlns:a16="http://schemas.microsoft.com/office/drawing/2014/main" id="{E323BB4C-D811-B9EA-4C8E-009E4A479440}"/>
                  </a:ext>
                </a:extLst>
              </p:cNvPr>
              <p:cNvPicPr>
                <a:picLocks noChangeAspect="1"/>
              </p:cNvPicPr>
              <p:nvPr/>
            </p:nvPicPr>
            <p:blipFill>
              <a:blip r:embed="rId100">
                <a:extLst>
                  <a:ext uri="{28A0092B-C50C-407E-A947-70E740481C1C}">
                    <a14:useLocalDpi xmlns:a14="http://schemas.microsoft.com/office/drawing/2010/main" val="0"/>
                  </a:ext>
                  <a:ext uri="{96DAC541-7B7A-43D3-8B79-37D633B846F1}">
                    <asvg:svgBlip xmlns:asvg="http://schemas.microsoft.com/office/drawing/2016/SVG/main" r:embed="rId101"/>
                  </a:ext>
                </a:extLst>
              </a:blip>
              <a:stretch>
                <a:fillRect/>
              </a:stretch>
            </p:blipFill>
            <p:spPr>
              <a:xfrm>
                <a:off x="1770451" y="1557602"/>
                <a:ext cx="914400" cy="914400"/>
              </a:xfrm>
              <a:prstGeom prst="rect">
                <a:avLst/>
              </a:prstGeom>
            </p:spPr>
          </p:pic>
        </p:grpSp>
      </p:grpSp>
      <p:grpSp>
        <p:nvGrpSpPr>
          <p:cNvPr id="100" name="Groupe 99">
            <a:extLst>
              <a:ext uri="{FF2B5EF4-FFF2-40B4-BE49-F238E27FC236}">
                <a16:creationId xmlns:a16="http://schemas.microsoft.com/office/drawing/2014/main" id="{08B4A3F0-3028-C653-4809-D635E35D4874}"/>
              </a:ext>
            </a:extLst>
          </p:cNvPr>
          <p:cNvGrpSpPr/>
          <p:nvPr/>
        </p:nvGrpSpPr>
        <p:grpSpPr>
          <a:xfrm>
            <a:off x="10313801" y="1967062"/>
            <a:ext cx="932115" cy="1120628"/>
            <a:chOff x="9927646" y="3089935"/>
            <a:chExt cx="1188000" cy="1428262"/>
          </a:xfrm>
        </p:grpSpPr>
        <p:sp>
          <p:nvSpPr>
            <p:cNvPr id="101" name="Rectangle 100">
              <a:extLst>
                <a:ext uri="{FF2B5EF4-FFF2-40B4-BE49-F238E27FC236}">
                  <a16:creationId xmlns:a16="http://schemas.microsoft.com/office/drawing/2014/main" id="{A0B66BDF-3F10-5C45-9D44-F2BF970E6A04}"/>
                </a:ext>
              </a:extLst>
            </p:cNvPr>
            <p:cNvSpPr/>
            <p:nvPr/>
          </p:nvSpPr>
          <p:spPr>
            <a:xfrm>
              <a:off x="9927646" y="3907611"/>
              <a:ext cx="1188000" cy="6105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Vente</a:t>
              </a:r>
            </a:p>
            <a:p>
              <a:pPr algn="ctr"/>
              <a:r>
                <a:rPr lang="fr-FR" sz="900" dirty="0">
                  <a:solidFill>
                    <a:schemeClr val="bg1"/>
                  </a:solidFill>
                </a:rPr>
                <a:t>Communication externe</a:t>
              </a:r>
            </a:p>
          </p:txBody>
        </p:sp>
        <p:grpSp>
          <p:nvGrpSpPr>
            <p:cNvPr id="102" name="Groupe 101">
              <a:extLst>
                <a:ext uri="{FF2B5EF4-FFF2-40B4-BE49-F238E27FC236}">
                  <a16:creationId xmlns:a16="http://schemas.microsoft.com/office/drawing/2014/main" id="{95FF1BC5-74A8-3F7C-BF1E-A0B5C9F012F8}"/>
                </a:ext>
              </a:extLst>
            </p:cNvPr>
            <p:cNvGrpSpPr/>
            <p:nvPr/>
          </p:nvGrpSpPr>
          <p:grpSpPr>
            <a:xfrm>
              <a:off x="10028058" y="3089935"/>
              <a:ext cx="999718" cy="764069"/>
              <a:chOff x="7993201" y="3990786"/>
              <a:chExt cx="3083654" cy="2356787"/>
            </a:xfrm>
          </p:grpSpPr>
          <p:pic>
            <p:nvPicPr>
              <p:cNvPr id="103" name="Graphique 102" descr="Podcasting avec un remplissage uni">
                <a:extLst>
                  <a:ext uri="{FF2B5EF4-FFF2-40B4-BE49-F238E27FC236}">
                    <a16:creationId xmlns:a16="http://schemas.microsoft.com/office/drawing/2014/main" id="{426EC593-DC03-9179-3B74-2405683ACDCA}"/>
                  </a:ext>
                </a:extLst>
              </p:cNvPr>
              <p:cNvPicPr>
                <a:picLocks noChangeAspect="1"/>
              </p:cNvPicPr>
              <p:nvPr/>
            </p:nvPicPr>
            <p:blipFill>
              <a:blip r:embed="rId102">
                <a:extLst>
                  <a:ext uri="{28A0092B-C50C-407E-A947-70E740481C1C}">
                    <a14:useLocalDpi xmlns:a14="http://schemas.microsoft.com/office/drawing/2010/main" val="0"/>
                  </a:ext>
                  <a:ext uri="{96DAC541-7B7A-43D3-8B79-37D633B846F1}">
                    <asvg:svgBlip xmlns:asvg="http://schemas.microsoft.com/office/drawing/2016/SVG/main" r:embed="rId103"/>
                  </a:ext>
                </a:extLst>
              </a:blip>
              <a:stretch>
                <a:fillRect/>
              </a:stretch>
            </p:blipFill>
            <p:spPr>
              <a:xfrm>
                <a:off x="7993201" y="3990786"/>
                <a:ext cx="914400" cy="914400"/>
              </a:xfrm>
              <a:prstGeom prst="rect">
                <a:avLst/>
              </a:prstGeom>
            </p:spPr>
          </p:pic>
          <p:pic>
            <p:nvPicPr>
              <p:cNvPr id="104" name="Graphique 103" descr="Vlog avec un remplissage uni">
                <a:extLst>
                  <a:ext uri="{FF2B5EF4-FFF2-40B4-BE49-F238E27FC236}">
                    <a16:creationId xmlns:a16="http://schemas.microsoft.com/office/drawing/2014/main" id="{CACE9E38-EDA0-C62B-3273-1ACA8398DA2B}"/>
                  </a:ext>
                </a:extLst>
              </p:cNvPr>
              <p:cNvPicPr>
                <a:picLocks noChangeAspect="1"/>
              </p:cNvPicPr>
              <p:nvPr/>
            </p:nvPicPr>
            <p:blipFill>
              <a:blip r:embed="rId104">
                <a:extLst>
                  <a:ext uri="{28A0092B-C50C-407E-A947-70E740481C1C}">
                    <a14:useLocalDpi xmlns:a14="http://schemas.microsoft.com/office/drawing/2010/main" val="0"/>
                  </a:ext>
                  <a:ext uri="{96DAC541-7B7A-43D3-8B79-37D633B846F1}">
                    <asvg:svgBlip xmlns:asvg="http://schemas.microsoft.com/office/drawing/2016/SVG/main" r:embed="rId105"/>
                  </a:ext>
                </a:extLst>
              </a:blip>
              <a:stretch>
                <a:fillRect/>
              </a:stretch>
            </p:blipFill>
            <p:spPr>
              <a:xfrm>
                <a:off x="8000671" y="5433173"/>
                <a:ext cx="914400" cy="914400"/>
              </a:xfrm>
              <a:prstGeom prst="rect">
                <a:avLst/>
              </a:prstGeom>
            </p:spPr>
          </p:pic>
          <p:pic>
            <p:nvPicPr>
              <p:cNvPr id="105" name="Graphique 104" descr="Journal avec un remplissage uni">
                <a:extLst>
                  <a:ext uri="{FF2B5EF4-FFF2-40B4-BE49-F238E27FC236}">
                    <a16:creationId xmlns:a16="http://schemas.microsoft.com/office/drawing/2014/main" id="{E8A64E73-665E-C10D-BC48-3CA00A98A25A}"/>
                  </a:ext>
                </a:extLst>
              </p:cNvPr>
              <p:cNvPicPr>
                <a:picLocks noChangeAspect="1"/>
              </p:cNvPicPr>
              <p:nvPr/>
            </p:nvPicPr>
            <p:blipFill>
              <a:blip r:embed="rId106">
                <a:extLst>
                  <a:ext uri="{28A0092B-C50C-407E-A947-70E740481C1C}">
                    <a14:useLocalDpi xmlns:a14="http://schemas.microsoft.com/office/drawing/2010/main" val="0"/>
                  </a:ext>
                  <a:ext uri="{96DAC541-7B7A-43D3-8B79-37D633B846F1}">
                    <asvg:svgBlip xmlns:asvg="http://schemas.microsoft.com/office/drawing/2016/SVG/main" r:embed="rId107"/>
                  </a:ext>
                </a:extLst>
              </a:blip>
              <a:stretch>
                <a:fillRect/>
              </a:stretch>
            </p:blipFill>
            <p:spPr>
              <a:xfrm>
                <a:off x="10162455" y="4013608"/>
                <a:ext cx="914400" cy="914400"/>
              </a:xfrm>
              <a:prstGeom prst="rect">
                <a:avLst/>
              </a:prstGeom>
            </p:spPr>
          </p:pic>
          <p:pic>
            <p:nvPicPr>
              <p:cNvPr id="106" name="Graphique 105" descr="Réseau en ligne avec un remplissage uni">
                <a:extLst>
                  <a:ext uri="{FF2B5EF4-FFF2-40B4-BE49-F238E27FC236}">
                    <a16:creationId xmlns:a16="http://schemas.microsoft.com/office/drawing/2014/main" id="{E78AFC9D-A96E-EDAB-1A18-E08A864B057D}"/>
                  </a:ext>
                </a:extLst>
              </p:cNvPr>
              <p:cNvPicPr>
                <a:picLocks noChangeAspect="1"/>
              </p:cNvPicPr>
              <p:nvPr/>
            </p:nvPicPr>
            <p:blipFill>
              <a:blip r:embed="rId108">
                <a:extLst>
                  <a:ext uri="{28A0092B-C50C-407E-A947-70E740481C1C}">
                    <a14:useLocalDpi xmlns:a14="http://schemas.microsoft.com/office/drawing/2010/main" val="0"/>
                  </a:ext>
                  <a:ext uri="{96DAC541-7B7A-43D3-8B79-37D633B846F1}">
                    <asvg:svgBlip xmlns:asvg="http://schemas.microsoft.com/office/drawing/2016/SVG/main" r:embed="rId109"/>
                  </a:ext>
                </a:extLst>
              </a:blip>
              <a:stretch>
                <a:fillRect/>
              </a:stretch>
            </p:blipFill>
            <p:spPr>
              <a:xfrm>
                <a:off x="10066135" y="5341229"/>
                <a:ext cx="914400" cy="914400"/>
              </a:xfrm>
              <a:prstGeom prst="rect">
                <a:avLst/>
              </a:prstGeom>
            </p:spPr>
          </p:pic>
          <p:grpSp>
            <p:nvGrpSpPr>
              <p:cNvPr id="107" name="Groupe 106">
                <a:extLst>
                  <a:ext uri="{FF2B5EF4-FFF2-40B4-BE49-F238E27FC236}">
                    <a16:creationId xmlns:a16="http://schemas.microsoft.com/office/drawing/2014/main" id="{C82D6B6E-7B1B-472F-E790-B8617342C493}"/>
                  </a:ext>
                </a:extLst>
              </p:cNvPr>
              <p:cNvGrpSpPr/>
              <p:nvPr/>
            </p:nvGrpSpPr>
            <p:grpSpPr>
              <a:xfrm>
                <a:off x="8632968" y="4529072"/>
                <a:ext cx="1791083" cy="1287429"/>
                <a:chOff x="8274918" y="4478329"/>
                <a:chExt cx="1791083" cy="1287429"/>
              </a:xfrm>
            </p:grpSpPr>
            <p:pic>
              <p:nvPicPr>
                <p:cNvPr id="108" name="Graphique 107" descr="Bâtiment avec un remplissage uni">
                  <a:extLst>
                    <a:ext uri="{FF2B5EF4-FFF2-40B4-BE49-F238E27FC236}">
                      <a16:creationId xmlns:a16="http://schemas.microsoft.com/office/drawing/2014/main" id="{DDE321EC-078C-A262-2494-28448E230FD0}"/>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8725807" y="4753283"/>
                  <a:ext cx="914400" cy="914400"/>
                </a:xfrm>
                <a:prstGeom prst="rect">
                  <a:avLst/>
                </a:prstGeom>
              </p:spPr>
            </p:pic>
            <p:sp>
              <p:nvSpPr>
                <p:cNvPr id="109" name="Flèche : droite 108">
                  <a:extLst>
                    <a:ext uri="{FF2B5EF4-FFF2-40B4-BE49-F238E27FC236}">
                      <a16:creationId xmlns:a16="http://schemas.microsoft.com/office/drawing/2014/main" id="{151EDC7C-38E2-7578-BB02-7F05B25AA566}"/>
                    </a:ext>
                  </a:extLst>
                </p:cNvPr>
                <p:cNvSpPr/>
                <p:nvPr/>
              </p:nvSpPr>
              <p:spPr>
                <a:xfrm rot="19318800">
                  <a:off x="9688254" y="447832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110" name="Flèche : droite 109">
                  <a:extLst>
                    <a:ext uri="{FF2B5EF4-FFF2-40B4-BE49-F238E27FC236}">
                      <a16:creationId xmlns:a16="http://schemas.microsoft.com/office/drawing/2014/main" id="{C655D3A0-ACEC-4A33-A13D-7DD674443B62}"/>
                    </a:ext>
                  </a:extLst>
                </p:cNvPr>
                <p:cNvSpPr/>
                <p:nvPr/>
              </p:nvSpPr>
              <p:spPr>
                <a:xfrm rot="2412443">
                  <a:off x="9689689" y="536291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111" name="Flèche : droite 110">
                  <a:extLst>
                    <a:ext uri="{FF2B5EF4-FFF2-40B4-BE49-F238E27FC236}">
                      <a16:creationId xmlns:a16="http://schemas.microsoft.com/office/drawing/2014/main" id="{CEE2634A-3DD1-3FA9-347E-3BD98162473D}"/>
                    </a:ext>
                  </a:extLst>
                </p:cNvPr>
                <p:cNvSpPr/>
                <p:nvPr/>
              </p:nvSpPr>
              <p:spPr>
                <a:xfrm rot="8279483">
                  <a:off x="8287182" y="5362622"/>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112" name="Flèche : droite 111">
                  <a:extLst>
                    <a:ext uri="{FF2B5EF4-FFF2-40B4-BE49-F238E27FC236}">
                      <a16:creationId xmlns:a16="http://schemas.microsoft.com/office/drawing/2014/main" id="{2C93BDFF-D81D-A0EE-DCF3-93CAEFA2B1E0}"/>
                    </a:ext>
                  </a:extLst>
                </p:cNvPr>
                <p:cNvSpPr/>
                <p:nvPr/>
              </p:nvSpPr>
              <p:spPr>
                <a:xfrm rot="13573193">
                  <a:off x="8288184" y="447896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grpSp>
        </p:grpSp>
      </p:grpSp>
      <p:grpSp>
        <p:nvGrpSpPr>
          <p:cNvPr id="113" name="Groupe 112">
            <a:extLst>
              <a:ext uri="{FF2B5EF4-FFF2-40B4-BE49-F238E27FC236}">
                <a16:creationId xmlns:a16="http://schemas.microsoft.com/office/drawing/2014/main" id="{F71530B5-06AA-2BE7-33DA-145B2AA3D07D}"/>
              </a:ext>
            </a:extLst>
          </p:cNvPr>
          <p:cNvGrpSpPr/>
          <p:nvPr/>
        </p:nvGrpSpPr>
        <p:grpSpPr>
          <a:xfrm>
            <a:off x="9367722" y="2177492"/>
            <a:ext cx="932115" cy="910198"/>
            <a:chOff x="8224358" y="3342553"/>
            <a:chExt cx="1188000" cy="1160065"/>
          </a:xfrm>
        </p:grpSpPr>
        <p:sp>
          <p:nvSpPr>
            <p:cNvPr id="114" name="Rectangle 113">
              <a:extLst>
                <a:ext uri="{FF2B5EF4-FFF2-40B4-BE49-F238E27FC236}">
                  <a16:creationId xmlns:a16="http://schemas.microsoft.com/office/drawing/2014/main" id="{E49DB828-7182-398F-41B7-4C7DC74E9BF8}"/>
                </a:ext>
              </a:extLst>
            </p:cNvPr>
            <p:cNvSpPr/>
            <p:nvPr/>
          </p:nvSpPr>
          <p:spPr>
            <a:xfrm>
              <a:off x="8224358" y="3891151"/>
              <a:ext cx="1188000" cy="6114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Vente</a:t>
              </a:r>
            </a:p>
            <a:p>
              <a:pPr algn="ctr"/>
              <a:r>
                <a:rPr lang="fr-FR" sz="900" dirty="0">
                  <a:solidFill>
                    <a:schemeClr val="bg1"/>
                  </a:solidFill>
                </a:rPr>
                <a:t>Développement commercial</a:t>
              </a:r>
            </a:p>
          </p:txBody>
        </p:sp>
        <p:grpSp>
          <p:nvGrpSpPr>
            <p:cNvPr id="115" name="Groupe 114">
              <a:extLst>
                <a:ext uri="{FF2B5EF4-FFF2-40B4-BE49-F238E27FC236}">
                  <a16:creationId xmlns:a16="http://schemas.microsoft.com/office/drawing/2014/main" id="{0A42A15B-2C21-79EC-572B-48914399A84B}"/>
                </a:ext>
              </a:extLst>
            </p:cNvPr>
            <p:cNvGrpSpPr/>
            <p:nvPr/>
          </p:nvGrpSpPr>
          <p:grpSpPr>
            <a:xfrm>
              <a:off x="8256771" y="3342553"/>
              <a:ext cx="1126180" cy="424682"/>
              <a:chOff x="1677224" y="4399902"/>
              <a:chExt cx="3984628" cy="1541940"/>
            </a:xfrm>
          </p:grpSpPr>
          <p:pic>
            <p:nvPicPr>
              <p:cNvPr id="116" name="Graphique 115" descr="Poignée de main avec un remplissage uni">
                <a:extLst>
                  <a:ext uri="{FF2B5EF4-FFF2-40B4-BE49-F238E27FC236}">
                    <a16:creationId xmlns:a16="http://schemas.microsoft.com/office/drawing/2014/main" id="{DF834A8F-EE7A-9295-C535-3D4E114A6225}"/>
                  </a:ext>
                </a:extLst>
              </p:cNvPr>
              <p:cNvPicPr>
                <a:picLocks noChangeAspect="1"/>
              </p:cNvPicPr>
              <p:nvPr/>
            </p:nvPicPr>
            <p:blipFill>
              <a:blip r:embed="rId110">
                <a:extLst>
                  <a:ext uri="{28A0092B-C50C-407E-A947-70E740481C1C}">
                    <a14:useLocalDpi xmlns:a14="http://schemas.microsoft.com/office/drawing/2010/main" val="0"/>
                  </a:ext>
                  <a:ext uri="{96DAC541-7B7A-43D3-8B79-37D633B846F1}">
                    <asvg:svgBlip xmlns:asvg="http://schemas.microsoft.com/office/drawing/2016/SVG/main" r:embed="rId111"/>
                  </a:ext>
                </a:extLst>
              </a:blip>
              <a:stretch>
                <a:fillRect/>
              </a:stretch>
            </p:blipFill>
            <p:spPr>
              <a:xfrm>
                <a:off x="1677224" y="4473520"/>
                <a:ext cx="1394705" cy="1394705"/>
              </a:xfrm>
              <a:prstGeom prst="rect">
                <a:avLst/>
              </a:prstGeom>
            </p:spPr>
          </p:pic>
          <p:pic>
            <p:nvPicPr>
              <p:cNvPr id="117" name="Graphique 116" descr="Contrat avec un remplissage uni">
                <a:extLst>
                  <a:ext uri="{FF2B5EF4-FFF2-40B4-BE49-F238E27FC236}">
                    <a16:creationId xmlns:a16="http://schemas.microsoft.com/office/drawing/2014/main" id="{65783434-DD9A-6620-0E2D-1944FCF31EC4}"/>
                  </a:ext>
                </a:extLst>
              </p:cNvPr>
              <p:cNvPicPr>
                <a:picLocks noChangeAspect="1"/>
              </p:cNvPicPr>
              <p:nvPr/>
            </p:nvPicPr>
            <p:blipFill>
              <a:blip r:embed="rId112">
                <a:extLst>
                  <a:ext uri="{28A0092B-C50C-407E-A947-70E740481C1C}">
                    <a14:useLocalDpi xmlns:a14="http://schemas.microsoft.com/office/drawing/2010/main" val="0"/>
                  </a:ext>
                  <a:ext uri="{96DAC541-7B7A-43D3-8B79-37D633B846F1}">
                    <asvg:svgBlip xmlns:asvg="http://schemas.microsoft.com/office/drawing/2016/SVG/main" r:embed="rId113"/>
                  </a:ext>
                </a:extLst>
              </a:blip>
              <a:stretch>
                <a:fillRect/>
              </a:stretch>
            </p:blipFill>
            <p:spPr>
              <a:xfrm>
                <a:off x="3003278" y="4578031"/>
                <a:ext cx="1185682" cy="1185682"/>
              </a:xfrm>
              <a:prstGeom prst="rect">
                <a:avLst/>
              </a:prstGeom>
            </p:spPr>
          </p:pic>
          <p:pic>
            <p:nvPicPr>
              <p:cNvPr id="118" name="Graphique 117" descr="Tendance à la hausse avec un remplissage uni">
                <a:extLst>
                  <a:ext uri="{FF2B5EF4-FFF2-40B4-BE49-F238E27FC236}">
                    <a16:creationId xmlns:a16="http://schemas.microsoft.com/office/drawing/2014/main" id="{5712010E-62B8-AB4F-80BA-9E173BC545D7}"/>
                  </a:ext>
                </a:extLst>
              </p:cNvPr>
              <p:cNvPicPr>
                <a:picLocks noChangeAspect="1"/>
              </p:cNvPicPr>
              <p:nvPr/>
            </p:nvPicPr>
            <p:blipFill>
              <a:blip r:embed="rId114">
                <a:extLst>
                  <a:ext uri="{28A0092B-C50C-407E-A947-70E740481C1C}">
                    <a14:useLocalDpi xmlns:a14="http://schemas.microsoft.com/office/drawing/2010/main" val="0"/>
                  </a:ext>
                  <a:ext uri="{96DAC541-7B7A-43D3-8B79-37D633B846F1}">
                    <asvg:svgBlip xmlns:asvg="http://schemas.microsoft.com/office/drawing/2016/SVG/main" r:embed="rId115"/>
                  </a:ext>
                </a:extLst>
              </a:blip>
              <a:stretch>
                <a:fillRect/>
              </a:stretch>
            </p:blipFill>
            <p:spPr>
              <a:xfrm>
                <a:off x="4119912" y="4399902"/>
                <a:ext cx="1541940" cy="1541940"/>
              </a:xfrm>
              <a:prstGeom prst="rect">
                <a:avLst/>
              </a:prstGeom>
            </p:spPr>
          </p:pic>
        </p:grpSp>
      </p:grpSp>
      <p:grpSp>
        <p:nvGrpSpPr>
          <p:cNvPr id="119" name="Groupe 118">
            <a:extLst>
              <a:ext uri="{FF2B5EF4-FFF2-40B4-BE49-F238E27FC236}">
                <a16:creationId xmlns:a16="http://schemas.microsoft.com/office/drawing/2014/main" id="{906360DC-93B1-6150-26E7-367B8D765FE8}"/>
              </a:ext>
            </a:extLst>
          </p:cNvPr>
          <p:cNvGrpSpPr/>
          <p:nvPr/>
        </p:nvGrpSpPr>
        <p:grpSpPr>
          <a:xfrm>
            <a:off x="11259883" y="2098530"/>
            <a:ext cx="932117" cy="989160"/>
            <a:chOff x="12377873" y="2362674"/>
            <a:chExt cx="746267" cy="791936"/>
          </a:xfrm>
        </p:grpSpPr>
        <p:sp>
          <p:nvSpPr>
            <p:cNvPr id="120" name="Rectangle 119">
              <a:extLst>
                <a:ext uri="{FF2B5EF4-FFF2-40B4-BE49-F238E27FC236}">
                  <a16:creationId xmlns:a16="http://schemas.microsoft.com/office/drawing/2014/main" id="{271435E9-BCD4-1C3C-1848-09FF8D16E1D9}"/>
                </a:ext>
              </a:extLst>
            </p:cNvPr>
            <p:cNvSpPr/>
            <p:nvPr/>
          </p:nvSpPr>
          <p:spPr>
            <a:xfrm>
              <a:off x="12377873" y="2831967"/>
              <a:ext cx="746267" cy="32264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Autres</a:t>
              </a:r>
              <a:endParaRPr lang="fr-FR" sz="900" dirty="0">
                <a:solidFill>
                  <a:schemeClr val="bg1"/>
                </a:solidFill>
              </a:endParaRPr>
            </a:p>
          </p:txBody>
        </p:sp>
        <p:pic>
          <p:nvPicPr>
            <p:cNvPr id="121" name="Graphique 120" descr="Bâtiment avec un remplissage uni">
              <a:extLst>
                <a:ext uri="{FF2B5EF4-FFF2-40B4-BE49-F238E27FC236}">
                  <a16:creationId xmlns:a16="http://schemas.microsoft.com/office/drawing/2014/main" id="{2357CD07-B95B-39F5-3640-7B82F57D2E0C}"/>
                </a:ext>
              </a:extLst>
            </p:cNvPr>
            <p:cNvPicPr>
              <a:picLocks noChangeAspect="1"/>
            </p:cNvPicPr>
            <p:nvPr/>
          </p:nvPicPr>
          <p:blipFill>
            <a:blip r:embed="rId116">
              <a:extLst>
                <a:ext uri="{28A0092B-C50C-407E-A947-70E740481C1C}">
                  <a14:useLocalDpi xmlns:a14="http://schemas.microsoft.com/office/drawing/2010/main" val="0"/>
                </a:ext>
                <a:ext uri="{96DAC541-7B7A-43D3-8B79-37D633B846F1}">
                  <asvg:svgBlip xmlns:asvg="http://schemas.microsoft.com/office/drawing/2016/SVG/main" r:embed="rId117"/>
                </a:ext>
              </a:extLst>
            </a:blip>
            <a:stretch>
              <a:fillRect/>
            </a:stretch>
          </p:blipFill>
          <p:spPr>
            <a:xfrm>
              <a:off x="12564531" y="2362674"/>
              <a:ext cx="372950" cy="372950"/>
            </a:xfrm>
            <a:prstGeom prst="rect">
              <a:avLst/>
            </a:prstGeom>
          </p:spPr>
        </p:pic>
      </p:grpSp>
      <p:sp>
        <p:nvSpPr>
          <p:cNvPr id="125" name="Rectangle 124">
            <a:extLst>
              <a:ext uri="{FF2B5EF4-FFF2-40B4-BE49-F238E27FC236}">
                <a16:creationId xmlns:a16="http://schemas.microsoft.com/office/drawing/2014/main" id="{71FAB3D9-FF24-25C9-741E-706EAD559969}"/>
              </a:ext>
            </a:extLst>
          </p:cNvPr>
          <p:cNvSpPr/>
          <p:nvPr/>
        </p:nvSpPr>
        <p:spPr>
          <a:xfrm>
            <a:off x="-11200" y="4766814"/>
            <a:ext cx="11264803" cy="4352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📅✍️Présentation et formation sur le concept et les exemples de Communautés d’entreprise et leur performance</a:t>
            </a:r>
          </a:p>
          <a:p>
            <a:pPr algn="ctr"/>
            <a:r>
              <a:rPr lang="fr-FR" sz="1050" dirty="0">
                <a:solidFill>
                  <a:schemeClr val="tx1"/>
                </a:solidFill>
              </a:rPr>
              <a:t>⚙️Utilisation d’approches intermédiaires (réunions ponctuelles, etc.) et pas-à-pas (sous les contraintes de l’opérationnel), sans vouloir forcer l’approche Communauté</a:t>
            </a:r>
          </a:p>
        </p:txBody>
      </p:sp>
      <p:sp>
        <p:nvSpPr>
          <p:cNvPr id="127" name="Rectangle 126">
            <a:extLst>
              <a:ext uri="{FF2B5EF4-FFF2-40B4-BE49-F238E27FC236}">
                <a16:creationId xmlns:a16="http://schemas.microsoft.com/office/drawing/2014/main" id="{86BD585B-552F-6843-9A7A-396F839FBB30}"/>
              </a:ext>
            </a:extLst>
          </p:cNvPr>
          <p:cNvSpPr/>
          <p:nvPr/>
        </p:nvSpPr>
        <p:spPr>
          <a:xfrm>
            <a:off x="-4920" y="3994599"/>
            <a:ext cx="11264804" cy="69289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⚙️Positionner la Communauté sur des fonctions et sujets complémentaires aux équipes en place </a:t>
            </a:r>
          </a:p>
          <a:p>
            <a:pPr algn="ctr"/>
            <a:r>
              <a:rPr lang="fr-FR" sz="1000" dirty="0">
                <a:solidFill>
                  <a:schemeClr val="tx1"/>
                </a:solidFill>
              </a:rPr>
              <a:t>⚙️Intégrer les équipes en place (dans les fonctions d’entreprise) dans les membres ou sponsors</a:t>
            </a:r>
          </a:p>
          <a:p>
            <a:pPr algn="ctr"/>
            <a:r>
              <a:rPr lang="fr-FR" sz="1000" dirty="0">
                <a:solidFill>
                  <a:schemeClr val="tx1"/>
                </a:solidFill>
              </a:rPr>
              <a:t>📅✍️Communiquer sur la complémentarité et l’intégration avec les équipes en place</a:t>
            </a:r>
          </a:p>
          <a:p>
            <a:pPr algn="ctr"/>
            <a:r>
              <a:rPr lang="fr-FR" sz="1000" dirty="0">
                <a:solidFill>
                  <a:schemeClr val="tx1"/>
                </a:solidFill>
              </a:rPr>
              <a:t> 📅✍️Profiter de la Communauté pour mettre en valeur le travail existant et les membres des équipes en place</a:t>
            </a:r>
          </a:p>
        </p:txBody>
      </p:sp>
      <p:sp>
        <p:nvSpPr>
          <p:cNvPr id="132" name="Rectangle 131">
            <a:extLst>
              <a:ext uri="{FF2B5EF4-FFF2-40B4-BE49-F238E27FC236}">
                <a16:creationId xmlns:a16="http://schemas.microsoft.com/office/drawing/2014/main" id="{3E196A57-ED3D-8E8C-6191-7B03B2A6ECD6}"/>
              </a:ext>
            </a:extLst>
          </p:cNvPr>
          <p:cNvSpPr/>
          <p:nvPr/>
        </p:nvSpPr>
        <p:spPr>
          <a:xfrm>
            <a:off x="-4921" y="3123556"/>
            <a:ext cx="11264803" cy="82511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⚙️Mise en place de sponsors décisionnaires (au besoin ou systématiques).  </a:t>
            </a:r>
          </a:p>
          <a:p>
            <a:pPr algn="ctr"/>
            <a:r>
              <a:rPr lang="fr-FR" sz="1000" dirty="0">
                <a:solidFill>
                  <a:schemeClr val="tx1"/>
                </a:solidFill>
              </a:rPr>
              <a:t>✍️Créer un contrat moral de Communauté avec l’entreprise (clarification des obligations et libertés)</a:t>
            </a:r>
          </a:p>
          <a:p>
            <a:pPr algn="ctr"/>
            <a:r>
              <a:rPr lang="fr-FR" sz="1000" dirty="0">
                <a:solidFill>
                  <a:schemeClr val="tx1"/>
                </a:solidFill>
              </a:rPr>
              <a:t>⚙️Ouvrir une ligne de budget / un centre de coût plafonné, et les règles d’affectation. </a:t>
            </a:r>
          </a:p>
          <a:p>
            <a:pPr algn="ctr"/>
            <a:r>
              <a:rPr lang="fr-FR" sz="1000" dirty="0">
                <a:solidFill>
                  <a:schemeClr val="tx1"/>
                </a:solidFill>
              </a:rPr>
              <a:t>📅✍️ Envoyer / Présenter régulièrement les contributions pour l’entreprise de la Communauté ou de communauté similaires</a:t>
            </a:r>
          </a:p>
          <a:p>
            <a:pPr algn="ctr"/>
            <a:r>
              <a:rPr lang="fr-FR" sz="1000" dirty="0">
                <a:solidFill>
                  <a:schemeClr val="tx1"/>
                </a:solidFill>
              </a:rPr>
              <a:t>📅✍️⚙️S’engager à produire un certain nombre de livrables ou d’atteindre des objectifs / résultats clés</a:t>
            </a:r>
          </a:p>
        </p:txBody>
      </p:sp>
    </p:spTree>
    <p:extLst>
      <p:ext uri="{BB962C8B-B14F-4D97-AF65-F5344CB8AC3E}">
        <p14:creationId xmlns:p14="http://schemas.microsoft.com/office/powerpoint/2010/main" val="230219552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1216616" y="365125"/>
            <a:ext cx="10137183" cy="1325563"/>
          </a:xfrm>
        </p:spPr>
        <p:txBody>
          <a:bodyPr>
            <a:normAutofit fontScale="90000"/>
          </a:bodyPr>
          <a:lstStyle/>
          <a:p>
            <a:r>
              <a:rPr lang="fr-FR" dirty="0"/>
              <a:t>Les réponses aux blocages de l’entreprise  – Liste d’exemples</a:t>
            </a:r>
            <a:br>
              <a:rPr lang="fr-FR" sz="2200" dirty="0"/>
            </a:br>
            <a:r>
              <a:rPr lang="fr-FR" sz="2200" dirty="0"/>
              <a:t>📅Evènements  , ✍️Contenus, ⚙️Structuration de Communauté</a:t>
            </a:r>
            <a:endParaRPr lang="fr-FR" dirty="0"/>
          </a:p>
        </p:txBody>
      </p:sp>
      <p:pic>
        <p:nvPicPr>
          <p:cNvPr id="63" name="Graphique 62" descr="Bâtiment avec un remplissage uni">
            <a:extLst>
              <a:ext uri="{FF2B5EF4-FFF2-40B4-BE49-F238E27FC236}">
                <a16:creationId xmlns:a16="http://schemas.microsoft.com/office/drawing/2014/main" id="{53D2E0C7-7748-DFE6-8F74-73ABCD44378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08616" y="432569"/>
            <a:ext cx="1008000" cy="1008000"/>
          </a:xfrm>
          <a:prstGeom prst="rect">
            <a:avLst/>
          </a:prstGeom>
        </p:spPr>
      </p:pic>
      <p:grpSp>
        <p:nvGrpSpPr>
          <p:cNvPr id="4" name="Groupe 3">
            <a:extLst>
              <a:ext uri="{FF2B5EF4-FFF2-40B4-BE49-F238E27FC236}">
                <a16:creationId xmlns:a16="http://schemas.microsoft.com/office/drawing/2014/main" id="{AA14FDF6-1518-B5B7-48D6-9C11B0EC8D41}"/>
              </a:ext>
            </a:extLst>
          </p:cNvPr>
          <p:cNvGrpSpPr/>
          <p:nvPr/>
        </p:nvGrpSpPr>
        <p:grpSpPr>
          <a:xfrm>
            <a:off x="3055786" y="2189772"/>
            <a:ext cx="1006665" cy="897918"/>
            <a:chOff x="6597866" y="3344326"/>
            <a:chExt cx="1188000" cy="1059664"/>
          </a:xfrm>
        </p:grpSpPr>
        <p:sp>
          <p:nvSpPr>
            <p:cNvPr id="5" name="Rectangle 4">
              <a:extLst>
                <a:ext uri="{FF2B5EF4-FFF2-40B4-BE49-F238E27FC236}">
                  <a16:creationId xmlns:a16="http://schemas.microsoft.com/office/drawing/2014/main" id="{0D352936-672B-7D99-4473-E04EAF24B12C}"/>
                </a:ext>
              </a:extLst>
            </p:cNvPr>
            <p:cNvSpPr/>
            <p:nvPr/>
          </p:nvSpPr>
          <p:spPr>
            <a:xfrm>
              <a:off x="6597866"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RH</a:t>
              </a:r>
            </a:p>
            <a:p>
              <a:pPr algn="ctr"/>
              <a:r>
                <a:rPr lang="fr-FR" sz="900" dirty="0">
                  <a:solidFill>
                    <a:schemeClr val="bg1"/>
                  </a:solidFill>
                </a:rPr>
                <a:t>Carrières</a:t>
              </a:r>
            </a:p>
          </p:txBody>
        </p:sp>
        <p:grpSp>
          <p:nvGrpSpPr>
            <p:cNvPr id="6" name="Groupe 5">
              <a:extLst>
                <a:ext uri="{FF2B5EF4-FFF2-40B4-BE49-F238E27FC236}">
                  <a16:creationId xmlns:a16="http://schemas.microsoft.com/office/drawing/2014/main" id="{EBFD6DC6-C447-0702-4524-74EA6DE03061}"/>
                </a:ext>
              </a:extLst>
            </p:cNvPr>
            <p:cNvGrpSpPr/>
            <p:nvPr/>
          </p:nvGrpSpPr>
          <p:grpSpPr>
            <a:xfrm>
              <a:off x="6650513" y="3344326"/>
              <a:ext cx="1020563" cy="496065"/>
              <a:chOff x="6713702" y="745208"/>
              <a:chExt cx="4891967" cy="2377838"/>
            </a:xfrm>
          </p:grpSpPr>
          <p:pic>
            <p:nvPicPr>
              <p:cNvPr id="7" name="Graphique 6" descr="Ramper avec un remplissage uni">
                <a:extLst>
                  <a:ext uri="{FF2B5EF4-FFF2-40B4-BE49-F238E27FC236}">
                    <a16:creationId xmlns:a16="http://schemas.microsoft.com/office/drawing/2014/main" id="{775CC251-4E5D-9FEE-2209-AB95165864B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713702" y="2208646"/>
                <a:ext cx="914400" cy="914400"/>
              </a:xfrm>
              <a:prstGeom prst="rect">
                <a:avLst/>
              </a:prstGeom>
            </p:spPr>
          </p:pic>
          <p:pic>
            <p:nvPicPr>
              <p:cNvPr id="8" name="Graphique 7" descr="Marcher avec un remplissage uni">
                <a:extLst>
                  <a:ext uri="{FF2B5EF4-FFF2-40B4-BE49-F238E27FC236}">
                    <a16:creationId xmlns:a16="http://schemas.microsoft.com/office/drawing/2014/main" id="{E49E777D-6B32-E7DD-9379-20BB87C7411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50711" y="1900170"/>
                <a:ext cx="914400" cy="914400"/>
              </a:xfrm>
              <a:prstGeom prst="rect">
                <a:avLst/>
              </a:prstGeom>
            </p:spPr>
          </p:pic>
          <p:pic>
            <p:nvPicPr>
              <p:cNvPr id="9" name="Graphique 8" descr="Courir avec un remplissage uni">
                <a:extLst>
                  <a:ext uri="{FF2B5EF4-FFF2-40B4-BE49-F238E27FC236}">
                    <a16:creationId xmlns:a16="http://schemas.microsoft.com/office/drawing/2014/main" id="{9DA193DD-6DF0-0F1E-4C61-655D4048C73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587720" y="1591693"/>
                <a:ext cx="914400" cy="914400"/>
              </a:xfrm>
              <a:prstGeom prst="rect">
                <a:avLst/>
              </a:prstGeom>
            </p:spPr>
          </p:pic>
          <p:pic>
            <p:nvPicPr>
              <p:cNvPr id="10" name="Graphique 9" descr="Héros avec un remplissage uni">
                <a:extLst>
                  <a:ext uri="{FF2B5EF4-FFF2-40B4-BE49-F238E27FC236}">
                    <a16:creationId xmlns:a16="http://schemas.microsoft.com/office/drawing/2014/main" id="{2FBFE21E-B062-7613-C887-DCBE69CA15A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691269" y="745208"/>
                <a:ext cx="914400" cy="914400"/>
              </a:xfrm>
              <a:prstGeom prst="rect">
                <a:avLst/>
              </a:prstGeom>
            </p:spPr>
          </p:pic>
          <p:pic>
            <p:nvPicPr>
              <p:cNvPr id="11" name="Graphique 10" descr="Aspiration avec un remplissage uni">
                <a:extLst>
                  <a:ext uri="{FF2B5EF4-FFF2-40B4-BE49-F238E27FC236}">
                    <a16:creationId xmlns:a16="http://schemas.microsoft.com/office/drawing/2014/main" id="{AB5566F2-1B62-B84F-B99F-0E82C9417AE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524729" y="1053685"/>
                <a:ext cx="1143931" cy="1143931"/>
              </a:xfrm>
              <a:prstGeom prst="rect">
                <a:avLst/>
              </a:prstGeom>
            </p:spPr>
          </p:pic>
        </p:grpSp>
      </p:grpSp>
      <p:grpSp>
        <p:nvGrpSpPr>
          <p:cNvPr id="12" name="Groupe 11">
            <a:extLst>
              <a:ext uri="{FF2B5EF4-FFF2-40B4-BE49-F238E27FC236}">
                <a16:creationId xmlns:a16="http://schemas.microsoft.com/office/drawing/2014/main" id="{2E70B5C7-0E8B-2E14-F03C-307208436653}"/>
              </a:ext>
            </a:extLst>
          </p:cNvPr>
          <p:cNvGrpSpPr/>
          <p:nvPr/>
        </p:nvGrpSpPr>
        <p:grpSpPr>
          <a:xfrm>
            <a:off x="-6102" y="1790084"/>
            <a:ext cx="1006666" cy="1297606"/>
            <a:chOff x="1241541" y="2872641"/>
            <a:chExt cx="1188000" cy="1531349"/>
          </a:xfrm>
        </p:grpSpPr>
        <p:sp>
          <p:nvSpPr>
            <p:cNvPr id="13" name="Rectangle 12">
              <a:extLst>
                <a:ext uri="{FF2B5EF4-FFF2-40B4-BE49-F238E27FC236}">
                  <a16:creationId xmlns:a16="http://schemas.microsoft.com/office/drawing/2014/main" id="{EC34C5B2-B5EA-26F0-E8FC-E7F111BF906C}"/>
                </a:ext>
              </a:extLst>
            </p:cNvPr>
            <p:cNvSpPr/>
            <p:nvPr/>
          </p:nvSpPr>
          <p:spPr>
            <a:xfrm>
              <a:off x="1241541"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RH</a:t>
              </a:r>
            </a:p>
            <a:p>
              <a:pPr algn="ctr"/>
              <a:r>
                <a:rPr lang="fr-FR" sz="900" dirty="0">
                  <a:solidFill>
                    <a:schemeClr val="bg1"/>
                  </a:solidFill>
                </a:rPr>
                <a:t>Recrutement</a:t>
              </a:r>
            </a:p>
          </p:txBody>
        </p:sp>
        <p:grpSp>
          <p:nvGrpSpPr>
            <p:cNvPr id="14" name="Groupe 13">
              <a:extLst>
                <a:ext uri="{FF2B5EF4-FFF2-40B4-BE49-F238E27FC236}">
                  <a16:creationId xmlns:a16="http://schemas.microsoft.com/office/drawing/2014/main" id="{DDD9A456-E2AE-8BFD-373F-3F2E125B56D3}"/>
                </a:ext>
              </a:extLst>
            </p:cNvPr>
            <p:cNvGrpSpPr/>
            <p:nvPr/>
          </p:nvGrpSpPr>
          <p:grpSpPr>
            <a:xfrm>
              <a:off x="1464325" y="2872641"/>
              <a:ext cx="785986" cy="957881"/>
              <a:chOff x="8056685" y="3865046"/>
              <a:chExt cx="2005985" cy="2444694"/>
            </a:xfrm>
          </p:grpSpPr>
          <p:pic>
            <p:nvPicPr>
              <p:cNvPr id="15" name="Graphique 14" descr="Salle de conseil avec un remplissage uni">
                <a:extLst>
                  <a:ext uri="{FF2B5EF4-FFF2-40B4-BE49-F238E27FC236}">
                    <a16:creationId xmlns:a16="http://schemas.microsoft.com/office/drawing/2014/main" id="{16641EBC-97BE-8E31-7771-5C2B084FFC25}"/>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b="16472"/>
              <a:stretch/>
            </p:blipFill>
            <p:spPr>
              <a:xfrm>
                <a:off x="8485542" y="5133555"/>
                <a:ext cx="1408125" cy="1176185"/>
              </a:xfrm>
              <a:prstGeom prst="rect">
                <a:avLst/>
              </a:prstGeom>
            </p:spPr>
          </p:pic>
          <p:pic>
            <p:nvPicPr>
              <p:cNvPr id="16" name="Graphique 15" descr="Croissance de l'activité avec un remplissage uni">
                <a:extLst>
                  <a:ext uri="{FF2B5EF4-FFF2-40B4-BE49-F238E27FC236}">
                    <a16:creationId xmlns:a16="http://schemas.microsoft.com/office/drawing/2014/main" id="{F3B2367A-C6B3-45D8-47E5-E79760380FE5}"/>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056685" y="3865046"/>
                <a:ext cx="2005985" cy="2005985"/>
              </a:xfrm>
              <a:prstGeom prst="rect">
                <a:avLst/>
              </a:prstGeom>
            </p:spPr>
          </p:pic>
        </p:grpSp>
      </p:grpSp>
      <p:grpSp>
        <p:nvGrpSpPr>
          <p:cNvPr id="17" name="Groupe 16">
            <a:extLst>
              <a:ext uri="{FF2B5EF4-FFF2-40B4-BE49-F238E27FC236}">
                <a16:creationId xmlns:a16="http://schemas.microsoft.com/office/drawing/2014/main" id="{3F76D37F-6986-C5CF-67AF-D4947AA06D5E}"/>
              </a:ext>
            </a:extLst>
          </p:cNvPr>
          <p:cNvGrpSpPr/>
          <p:nvPr/>
        </p:nvGrpSpPr>
        <p:grpSpPr>
          <a:xfrm>
            <a:off x="1014528" y="2079690"/>
            <a:ext cx="1006666" cy="1008000"/>
            <a:chOff x="2998706" y="3222767"/>
            <a:chExt cx="1188000" cy="1189575"/>
          </a:xfrm>
        </p:grpSpPr>
        <p:sp>
          <p:nvSpPr>
            <p:cNvPr id="18" name="Rectangle 17">
              <a:extLst>
                <a:ext uri="{FF2B5EF4-FFF2-40B4-BE49-F238E27FC236}">
                  <a16:creationId xmlns:a16="http://schemas.microsoft.com/office/drawing/2014/main" id="{1E4747E3-5E83-A440-A209-BBD08F8DE99B}"/>
                </a:ext>
              </a:extLst>
            </p:cNvPr>
            <p:cNvSpPr/>
            <p:nvPr/>
          </p:nvSpPr>
          <p:spPr>
            <a:xfrm>
              <a:off x="2998706" y="3898719"/>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a:solidFill>
                    <a:schemeClr val="bg1"/>
                  </a:solidFill>
                </a:rPr>
                <a:t>RH</a:t>
              </a:r>
            </a:p>
            <a:p>
              <a:pPr algn="ctr"/>
              <a:r>
                <a:rPr lang="fr-FR" sz="900">
                  <a:solidFill>
                    <a:schemeClr val="bg1"/>
                  </a:solidFill>
                </a:rPr>
                <a:t>Intégration</a:t>
              </a:r>
            </a:p>
          </p:txBody>
        </p:sp>
        <p:grpSp>
          <p:nvGrpSpPr>
            <p:cNvPr id="19" name="Groupe 18">
              <a:extLst>
                <a:ext uri="{FF2B5EF4-FFF2-40B4-BE49-F238E27FC236}">
                  <a16:creationId xmlns:a16="http://schemas.microsoft.com/office/drawing/2014/main" id="{3411B8BA-2A1D-103B-1201-DAA80B70578E}"/>
                </a:ext>
              </a:extLst>
            </p:cNvPr>
            <p:cNvGrpSpPr/>
            <p:nvPr/>
          </p:nvGrpSpPr>
          <p:grpSpPr>
            <a:xfrm>
              <a:off x="3130879" y="3222767"/>
              <a:ext cx="935471" cy="541840"/>
              <a:chOff x="626984" y="628802"/>
              <a:chExt cx="5131851" cy="2356880"/>
            </a:xfrm>
          </p:grpSpPr>
          <p:cxnSp>
            <p:nvCxnSpPr>
              <p:cNvPr id="20" name="Connecteur droit avec flèche 19">
                <a:extLst>
                  <a:ext uri="{FF2B5EF4-FFF2-40B4-BE49-F238E27FC236}">
                    <a16:creationId xmlns:a16="http://schemas.microsoft.com/office/drawing/2014/main" id="{7371A370-E90B-EE1A-20EE-F827EA0B0446}"/>
                  </a:ext>
                </a:extLst>
              </p:cNvPr>
              <p:cNvCxnSpPr>
                <a:cxnSpLocks/>
              </p:cNvCxnSpPr>
              <p:nvPr/>
            </p:nvCxnSpPr>
            <p:spPr>
              <a:xfrm flipV="1">
                <a:off x="626984" y="1565043"/>
                <a:ext cx="5131851" cy="1210667"/>
              </a:xfrm>
              <a:prstGeom prst="straightConnector1">
                <a:avLst/>
              </a:prstGeom>
              <a:ln w="57150">
                <a:prstDash val="dash"/>
                <a:tailEnd type="triangle"/>
              </a:ln>
            </p:spPr>
            <p:style>
              <a:lnRef idx="1">
                <a:schemeClr val="accent1"/>
              </a:lnRef>
              <a:fillRef idx="0">
                <a:schemeClr val="accent1"/>
              </a:fillRef>
              <a:effectRef idx="0">
                <a:schemeClr val="accent1"/>
              </a:effectRef>
              <a:fontRef idx="minor">
                <a:schemeClr val="tx1"/>
              </a:fontRef>
            </p:style>
          </p:cxnSp>
          <p:pic>
            <p:nvPicPr>
              <p:cNvPr id="21" name="Graphique 20" descr="Personne confuse avec un remplissage uni">
                <a:extLst>
                  <a:ext uri="{FF2B5EF4-FFF2-40B4-BE49-F238E27FC236}">
                    <a16:creationId xmlns:a16="http://schemas.microsoft.com/office/drawing/2014/main" id="{09453C78-B867-5BAC-52BE-8F9F74EF17E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604967" y="1805997"/>
                <a:ext cx="940978" cy="940978"/>
              </a:xfrm>
              <a:prstGeom prst="rect">
                <a:avLst/>
              </a:prstGeom>
            </p:spPr>
          </p:pic>
          <p:pic>
            <p:nvPicPr>
              <p:cNvPr id="22" name="Graphique 21" descr="Réussite du groupe avec un remplissage uni">
                <a:extLst>
                  <a:ext uri="{FF2B5EF4-FFF2-40B4-BE49-F238E27FC236}">
                    <a16:creationId xmlns:a16="http://schemas.microsoft.com/office/drawing/2014/main" id="{929BCADD-A65A-4D2E-F52C-4ABB0A84525D}"/>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228767" y="628802"/>
                <a:ext cx="1492354" cy="1492354"/>
              </a:xfrm>
              <a:prstGeom prst="rect">
                <a:avLst/>
              </a:prstGeom>
            </p:spPr>
          </p:pic>
          <p:pic>
            <p:nvPicPr>
              <p:cNvPr id="23" name="Graphique 22" descr="Personne confuse avec un remplissage uni">
                <a:extLst>
                  <a:ext uri="{FF2B5EF4-FFF2-40B4-BE49-F238E27FC236}">
                    <a16:creationId xmlns:a16="http://schemas.microsoft.com/office/drawing/2014/main" id="{070D4F6A-D9D1-C82C-0029-C9746D92B6B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2479567" y="1609677"/>
                <a:ext cx="940978" cy="940978"/>
              </a:xfrm>
              <a:prstGeom prst="rect">
                <a:avLst/>
              </a:prstGeom>
            </p:spPr>
          </p:pic>
          <p:pic>
            <p:nvPicPr>
              <p:cNvPr id="24" name="Graphique 23" descr="Personne confuse avec un remplissage uni">
                <a:extLst>
                  <a:ext uri="{FF2B5EF4-FFF2-40B4-BE49-F238E27FC236}">
                    <a16:creationId xmlns:a16="http://schemas.microsoft.com/office/drawing/2014/main" id="{C0CF3C95-067D-CB82-47E2-A8390D0DED44}"/>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656694" y="2044704"/>
                <a:ext cx="940978" cy="940978"/>
              </a:xfrm>
              <a:prstGeom prst="rect">
                <a:avLst/>
              </a:prstGeom>
            </p:spPr>
          </p:pic>
          <p:pic>
            <p:nvPicPr>
              <p:cNvPr id="25" name="Graphique 24" descr="Personne confuse avec un remplissage uni">
                <a:extLst>
                  <a:ext uri="{FF2B5EF4-FFF2-40B4-BE49-F238E27FC236}">
                    <a16:creationId xmlns:a16="http://schemas.microsoft.com/office/drawing/2014/main" id="{01D58CDB-7629-894D-9245-0BC9E6814082}"/>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3293254" y="1399398"/>
                <a:ext cx="940978" cy="940978"/>
              </a:xfrm>
              <a:prstGeom prst="rect">
                <a:avLst/>
              </a:prstGeom>
            </p:spPr>
          </p:pic>
          <p:pic>
            <p:nvPicPr>
              <p:cNvPr id="26" name="Graphique 25" descr="Personne confuse avec un remplissage uni">
                <a:extLst>
                  <a:ext uri="{FF2B5EF4-FFF2-40B4-BE49-F238E27FC236}">
                    <a16:creationId xmlns:a16="http://schemas.microsoft.com/office/drawing/2014/main" id="{16BA4189-09FE-9343-51BB-51CC9DB4D850}"/>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4234476" y="1189119"/>
                <a:ext cx="940978" cy="940978"/>
              </a:xfrm>
              <a:prstGeom prst="rect">
                <a:avLst/>
              </a:prstGeom>
            </p:spPr>
          </p:pic>
        </p:grpSp>
      </p:grpSp>
      <p:grpSp>
        <p:nvGrpSpPr>
          <p:cNvPr id="27" name="Groupe 26">
            <a:extLst>
              <a:ext uri="{FF2B5EF4-FFF2-40B4-BE49-F238E27FC236}">
                <a16:creationId xmlns:a16="http://schemas.microsoft.com/office/drawing/2014/main" id="{09655FA3-2C7A-F141-6E9A-4B0F9C1D6316}"/>
              </a:ext>
            </a:extLst>
          </p:cNvPr>
          <p:cNvGrpSpPr/>
          <p:nvPr/>
        </p:nvGrpSpPr>
        <p:grpSpPr>
          <a:xfrm>
            <a:off x="2035159" y="1758132"/>
            <a:ext cx="990361" cy="1329558"/>
            <a:chOff x="4859249" y="2834933"/>
            <a:chExt cx="1168760" cy="1569057"/>
          </a:xfrm>
        </p:grpSpPr>
        <p:sp>
          <p:nvSpPr>
            <p:cNvPr id="28" name="Rectangle 27">
              <a:extLst>
                <a:ext uri="{FF2B5EF4-FFF2-40B4-BE49-F238E27FC236}">
                  <a16:creationId xmlns:a16="http://schemas.microsoft.com/office/drawing/2014/main" id="{28AFC419-590F-3EE6-991D-070BC26EE84B}"/>
                </a:ext>
              </a:extLst>
            </p:cNvPr>
            <p:cNvSpPr/>
            <p:nvPr/>
          </p:nvSpPr>
          <p:spPr>
            <a:xfrm>
              <a:off x="4859249" y="3890367"/>
              <a:ext cx="116876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RH</a:t>
              </a:r>
            </a:p>
            <a:p>
              <a:pPr algn="ctr"/>
              <a:r>
                <a:rPr lang="fr-FR" sz="900" dirty="0">
                  <a:solidFill>
                    <a:schemeClr val="bg1"/>
                  </a:solidFill>
                </a:rPr>
                <a:t>Formation</a:t>
              </a:r>
            </a:p>
          </p:txBody>
        </p:sp>
        <p:grpSp>
          <p:nvGrpSpPr>
            <p:cNvPr id="29" name="Groupe 28">
              <a:extLst>
                <a:ext uri="{FF2B5EF4-FFF2-40B4-BE49-F238E27FC236}">
                  <a16:creationId xmlns:a16="http://schemas.microsoft.com/office/drawing/2014/main" id="{47538D23-C1D1-C4FA-F54B-A032EA9C87BE}"/>
                </a:ext>
              </a:extLst>
            </p:cNvPr>
            <p:cNvGrpSpPr/>
            <p:nvPr/>
          </p:nvGrpSpPr>
          <p:grpSpPr>
            <a:xfrm>
              <a:off x="4953396" y="2834933"/>
              <a:ext cx="1021038" cy="1060714"/>
              <a:chOff x="1793893" y="3948469"/>
              <a:chExt cx="2716107" cy="2749848"/>
            </a:xfrm>
          </p:grpSpPr>
          <p:pic>
            <p:nvPicPr>
              <p:cNvPr id="30" name="Graphique 29" descr="Diplôme roulé avec un remplissage uni">
                <a:extLst>
                  <a:ext uri="{FF2B5EF4-FFF2-40B4-BE49-F238E27FC236}">
                    <a16:creationId xmlns:a16="http://schemas.microsoft.com/office/drawing/2014/main" id="{347DFFCF-4660-34B1-6A65-595EF9A04A04}"/>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2976734" y="5783917"/>
                <a:ext cx="914400" cy="914400"/>
              </a:xfrm>
              <a:prstGeom prst="rect">
                <a:avLst/>
              </a:prstGeom>
            </p:spPr>
          </p:pic>
          <p:grpSp>
            <p:nvGrpSpPr>
              <p:cNvPr id="31" name="Groupe 30">
                <a:extLst>
                  <a:ext uri="{FF2B5EF4-FFF2-40B4-BE49-F238E27FC236}">
                    <a16:creationId xmlns:a16="http://schemas.microsoft.com/office/drawing/2014/main" id="{5A4D0AA6-E551-1281-B649-C1347FA8A510}"/>
                  </a:ext>
                </a:extLst>
              </p:cNvPr>
              <p:cNvGrpSpPr/>
              <p:nvPr/>
            </p:nvGrpSpPr>
            <p:grpSpPr>
              <a:xfrm>
                <a:off x="1793893" y="3948469"/>
                <a:ext cx="2716107" cy="2284168"/>
                <a:chOff x="1793893" y="3948469"/>
                <a:chExt cx="2716107" cy="2284168"/>
              </a:xfrm>
            </p:grpSpPr>
            <p:sp>
              <p:nvSpPr>
                <p:cNvPr id="32" name="Ellipse 31">
                  <a:extLst>
                    <a:ext uri="{FF2B5EF4-FFF2-40B4-BE49-F238E27FC236}">
                      <a16:creationId xmlns:a16="http://schemas.microsoft.com/office/drawing/2014/main" id="{B02BE06B-2CDF-F3B5-49F1-5A7A2A021230}"/>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pic>
              <p:nvPicPr>
                <p:cNvPr id="33" name="Graphique 32" descr="Transférer avec un remplissage uni">
                  <a:extLst>
                    <a:ext uri="{FF2B5EF4-FFF2-40B4-BE49-F238E27FC236}">
                      <a16:creationId xmlns:a16="http://schemas.microsoft.com/office/drawing/2014/main" id="{3F8810A4-6328-CCBD-377F-560D78A0AB12}"/>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1979208" y="4142052"/>
                  <a:ext cx="914400" cy="914400"/>
                </a:xfrm>
                <a:prstGeom prst="rect">
                  <a:avLst/>
                </a:prstGeom>
              </p:spPr>
            </p:pic>
            <p:pic>
              <p:nvPicPr>
                <p:cNvPr id="34" name="Graphique 33" descr="Toque d'étudiant avec un remplissage uni">
                  <a:extLst>
                    <a:ext uri="{FF2B5EF4-FFF2-40B4-BE49-F238E27FC236}">
                      <a16:creationId xmlns:a16="http://schemas.microsoft.com/office/drawing/2014/main" id="{BA04A040-202D-5D0B-1D73-B1F307041B03}"/>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3260713" y="3948469"/>
                  <a:ext cx="914400" cy="914400"/>
                </a:xfrm>
                <a:prstGeom prst="rect">
                  <a:avLst/>
                </a:prstGeom>
              </p:spPr>
            </p:pic>
            <p:pic>
              <p:nvPicPr>
                <p:cNvPr id="35" name="Graphique 34" descr="Idée avec un remplissage uni">
                  <a:extLst>
                    <a:ext uri="{FF2B5EF4-FFF2-40B4-BE49-F238E27FC236}">
                      <a16:creationId xmlns:a16="http://schemas.microsoft.com/office/drawing/2014/main" id="{DBBED618-3DF2-C18B-28E4-9091F661BAE4}"/>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1793893" y="5264448"/>
                  <a:ext cx="914400" cy="914400"/>
                </a:xfrm>
                <a:prstGeom prst="rect">
                  <a:avLst/>
                </a:prstGeom>
              </p:spPr>
            </p:pic>
            <p:pic>
              <p:nvPicPr>
                <p:cNvPr id="36" name="Graphique 35" descr="Chat avec un remplissage uni">
                  <a:extLst>
                    <a:ext uri="{FF2B5EF4-FFF2-40B4-BE49-F238E27FC236}">
                      <a16:creationId xmlns:a16="http://schemas.microsoft.com/office/drawing/2014/main" id="{67287957-7417-5754-3EF8-EADF3F47E523}"/>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3595600" y="4881866"/>
                  <a:ext cx="914400" cy="914400"/>
                </a:xfrm>
                <a:prstGeom prst="rect">
                  <a:avLst/>
                </a:prstGeom>
              </p:spPr>
            </p:pic>
          </p:grpSp>
        </p:grpSp>
      </p:grpSp>
      <p:grpSp>
        <p:nvGrpSpPr>
          <p:cNvPr id="37" name="Groupe 36">
            <a:extLst>
              <a:ext uri="{FF2B5EF4-FFF2-40B4-BE49-F238E27FC236}">
                <a16:creationId xmlns:a16="http://schemas.microsoft.com/office/drawing/2014/main" id="{5E5E0067-31A8-FC40-540F-5A5594E1816C}"/>
              </a:ext>
            </a:extLst>
          </p:cNvPr>
          <p:cNvGrpSpPr/>
          <p:nvPr/>
        </p:nvGrpSpPr>
        <p:grpSpPr>
          <a:xfrm>
            <a:off x="4076415" y="1972638"/>
            <a:ext cx="867920" cy="1115052"/>
            <a:chOff x="1263318" y="4795766"/>
            <a:chExt cx="1188000" cy="1526271"/>
          </a:xfrm>
        </p:grpSpPr>
        <p:sp>
          <p:nvSpPr>
            <p:cNvPr id="38" name="Rectangle 37">
              <a:extLst>
                <a:ext uri="{FF2B5EF4-FFF2-40B4-BE49-F238E27FC236}">
                  <a16:creationId xmlns:a16="http://schemas.microsoft.com/office/drawing/2014/main" id="{12165C19-31FE-4B80-05EE-30A4B00A7A0D}"/>
                </a:ext>
              </a:extLst>
            </p:cNvPr>
            <p:cNvSpPr/>
            <p:nvPr/>
          </p:nvSpPr>
          <p:spPr>
            <a:xfrm>
              <a:off x="1263318" y="5726307"/>
              <a:ext cx="1188000" cy="59573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a:t>
              </a:r>
            </a:p>
            <a:p>
              <a:pPr algn="ctr"/>
              <a:r>
                <a:rPr lang="fr-FR" sz="900" dirty="0">
                  <a:solidFill>
                    <a:schemeClr val="bg1"/>
                  </a:solidFill>
                </a:rPr>
                <a:t>Projets</a:t>
              </a:r>
            </a:p>
          </p:txBody>
        </p:sp>
        <p:grpSp>
          <p:nvGrpSpPr>
            <p:cNvPr id="39" name="Groupe 38">
              <a:extLst>
                <a:ext uri="{FF2B5EF4-FFF2-40B4-BE49-F238E27FC236}">
                  <a16:creationId xmlns:a16="http://schemas.microsoft.com/office/drawing/2014/main" id="{39D9D85F-AF65-ADD2-31C7-E42AD131BC38}"/>
                </a:ext>
              </a:extLst>
            </p:cNvPr>
            <p:cNvGrpSpPr/>
            <p:nvPr/>
          </p:nvGrpSpPr>
          <p:grpSpPr>
            <a:xfrm>
              <a:off x="1366615" y="4795766"/>
              <a:ext cx="1006494" cy="888801"/>
              <a:chOff x="7967905" y="574228"/>
              <a:chExt cx="2945866" cy="2601395"/>
            </a:xfrm>
          </p:grpSpPr>
          <p:sp>
            <p:nvSpPr>
              <p:cNvPr id="40" name="Ellipse 39">
                <a:extLst>
                  <a:ext uri="{FF2B5EF4-FFF2-40B4-BE49-F238E27FC236}">
                    <a16:creationId xmlns:a16="http://schemas.microsoft.com/office/drawing/2014/main" id="{5C10A6B5-47DE-A465-D96C-3A3ACFB018FD}"/>
                  </a:ext>
                </a:extLst>
              </p:cNvPr>
              <p:cNvSpPr/>
              <p:nvPr/>
            </p:nvSpPr>
            <p:spPr>
              <a:xfrm>
                <a:off x="8454825" y="965640"/>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pic>
            <p:nvPicPr>
              <p:cNvPr id="41" name="Graphique 40" descr="Dossier ouvert avec un remplissage uni">
                <a:extLst>
                  <a:ext uri="{FF2B5EF4-FFF2-40B4-BE49-F238E27FC236}">
                    <a16:creationId xmlns:a16="http://schemas.microsoft.com/office/drawing/2014/main" id="{FD202AD0-F2A5-8DC3-4715-D5580B6BAC61}"/>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7967905" y="1044764"/>
                <a:ext cx="914400" cy="914400"/>
              </a:xfrm>
              <a:prstGeom prst="rect">
                <a:avLst/>
              </a:prstGeom>
            </p:spPr>
          </p:pic>
          <p:pic>
            <p:nvPicPr>
              <p:cNvPr id="42" name="Graphique 41" descr="Diagramme de Gantt avec un remplissage uni">
                <a:extLst>
                  <a:ext uri="{FF2B5EF4-FFF2-40B4-BE49-F238E27FC236}">
                    <a16:creationId xmlns:a16="http://schemas.microsoft.com/office/drawing/2014/main" id="{FB7EE233-C9EA-5341-CB29-8B9AC45334D9}"/>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8454079" y="2190978"/>
                <a:ext cx="914400" cy="914400"/>
              </a:xfrm>
              <a:prstGeom prst="rect">
                <a:avLst/>
              </a:prstGeom>
            </p:spPr>
          </p:pic>
          <p:pic>
            <p:nvPicPr>
              <p:cNvPr id="43" name="Graphique 42" descr="Calendrier mensuel avec un remplissage uni">
                <a:extLst>
                  <a:ext uri="{FF2B5EF4-FFF2-40B4-BE49-F238E27FC236}">
                    <a16:creationId xmlns:a16="http://schemas.microsoft.com/office/drawing/2014/main" id="{C25A0C6B-281C-EC35-BC69-BBAE10CDA1A2}"/>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9597330" y="2261223"/>
                <a:ext cx="914400" cy="914400"/>
              </a:xfrm>
              <a:prstGeom prst="rect">
                <a:avLst/>
              </a:prstGeom>
            </p:spPr>
          </p:pic>
          <p:pic>
            <p:nvPicPr>
              <p:cNvPr id="44" name="Graphique 43" descr="Priorités avec un remplissage uni">
                <a:extLst>
                  <a:ext uri="{FF2B5EF4-FFF2-40B4-BE49-F238E27FC236}">
                    <a16:creationId xmlns:a16="http://schemas.microsoft.com/office/drawing/2014/main" id="{7A293B5A-DAB1-8014-1B99-EB26E645A887}"/>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flipV="1">
                <a:off x="8952575" y="574228"/>
                <a:ext cx="914400" cy="1089697"/>
              </a:xfrm>
              <a:prstGeom prst="rect">
                <a:avLst/>
              </a:prstGeom>
            </p:spPr>
          </p:pic>
          <p:pic>
            <p:nvPicPr>
              <p:cNvPr id="45" name="Graphique 44" descr="Graphique à barres avec tendance à la baisse avec un remplissage uni">
                <a:extLst>
                  <a:ext uri="{FF2B5EF4-FFF2-40B4-BE49-F238E27FC236}">
                    <a16:creationId xmlns:a16="http://schemas.microsoft.com/office/drawing/2014/main" id="{F09E0EE1-9EC4-DDCF-849F-71A635BD395C}"/>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9999371" y="992534"/>
                <a:ext cx="914400" cy="914400"/>
              </a:xfrm>
              <a:prstGeom prst="rect">
                <a:avLst/>
              </a:prstGeom>
            </p:spPr>
          </p:pic>
        </p:grpSp>
      </p:grpSp>
      <p:grpSp>
        <p:nvGrpSpPr>
          <p:cNvPr id="46" name="Groupe 45">
            <a:extLst>
              <a:ext uri="{FF2B5EF4-FFF2-40B4-BE49-F238E27FC236}">
                <a16:creationId xmlns:a16="http://schemas.microsoft.com/office/drawing/2014/main" id="{FF9D94DC-7D14-BFC4-82C0-9E3C12EABA2E}"/>
              </a:ext>
            </a:extLst>
          </p:cNvPr>
          <p:cNvGrpSpPr/>
          <p:nvPr/>
        </p:nvGrpSpPr>
        <p:grpSpPr>
          <a:xfrm>
            <a:off x="4958299" y="2025844"/>
            <a:ext cx="867921" cy="1061846"/>
            <a:chOff x="2945394" y="4865339"/>
            <a:chExt cx="1188000" cy="1453443"/>
          </a:xfrm>
        </p:grpSpPr>
        <p:sp>
          <p:nvSpPr>
            <p:cNvPr id="47" name="Rectangle 46">
              <a:extLst>
                <a:ext uri="{FF2B5EF4-FFF2-40B4-BE49-F238E27FC236}">
                  <a16:creationId xmlns:a16="http://schemas.microsoft.com/office/drawing/2014/main" id="{A654428F-4146-08F4-0E68-497058FAD939}"/>
                </a:ext>
              </a:extLst>
            </p:cNvPr>
            <p:cNvSpPr/>
            <p:nvPr/>
          </p:nvSpPr>
          <p:spPr>
            <a:xfrm>
              <a:off x="2945394" y="5707751"/>
              <a:ext cx="1188000" cy="61103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a:t>
              </a:r>
            </a:p>
            <a:p>
              <a:pPr algn="ctr"/>
              <a:r>
                <a:rPr lang="fr-FR" sz="900" dirty="0">
                  <a:solidFill>
                    <a:schemeClr val="bg1"/>
                  </a:solidFill>
                </a:rPr>
                <a:t>Qualité &amp; Méthodes</a:t>
              </a:r>
            </a:p>
          </p:txBody>
        </p:sp>
        <p:grpSp>
          <p:nvGrpSpPr>
            <p:cNvPr id="48" name="Groupe 47">
              <a:extLst>
                <a:ext uri="{FF2B5EF4-FFF2-40B4-BE49-F238E27FC236}">
                  <a16:creationId xmlns:a16="http://schemas.microsoft.com/office/drawing/2014/main" id="{38A6918B-C8FF-05E1-61F4-32B03FE985DD}"/>
                </a:ext>
              </a:extLst>
            </p:cNvPr>
            <p:cNvGrpSpPr/>
            <p:nvPr/>
          </p:nvGrpSpPr>
          <p:grpSpPr>
            <a:xfrm>
              <a:off x="3034186" y="4865339"/>
              <a:ext cx="962635" cy="814307"/>
              <a:chOff x="1619081" y="3908041"/>
              <a:chExt cx="3348357" cy="2476948"/>
            </a:xfrm>
          </p:grpSpPr>
          <p:pic>
            <p:nvPicPr>
              <p:cNvPr id="49" name="Graphique 48" descr="Graphique en radar avec un remplissage uni">
                <a:extLst>
                  <a:ext uri="{FF2B5EF4-FFF2-40B4-BE49-F238E27FC236}">
                    <a16:creationId xmlns:a16="http://schemas.microsoft.com/office/drawing/2014/main" id="{E195B8F8-B3E9-F300-00A4-7FB05E434ABB}"/>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1619081" y="5084439"/>
                <a:ext cx="1290292" cy="1290292"/>
              </a:xfrm>
              <a:prstGeom prst="rect">
                <a:avLst/>
              </a:prstGeom>
            </p:spPr>
          </p:pic>
          <p:pic>
            <p:nvPicPr>
              <p:cNvPr id="50" name="Graphique 49" descr="Compteur bas avec un remplissage uni">
                <a:extLst>
                  <a:ext uri="{FF2B5EF4-FFF2-40B4-BE49-F238E27FC236}">
                    <a16:creationId xmlns:a16="http://schemas.microsoft.com/office/drawing/2014/main" id="{6663B442-FD60-751E-3905-36E56C2ABF76}"/>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flipH="1">
                <a:off x="2795861" y="3908041"/>
                <a:ext cx="898916" cy="914400"/>
              </a:xfrm>
              <a:prstGeom prst="rect">
                <a:avLst/>
              </a:prstGeom>
            </p:spPr>
          </p:pic>
          <p:pic>
            <p:nvPicPr>
              <p:cNvPr id="51" name="Graphique 50" descr="Cercles avec flèches avec un remplissage uni">
                <a:extLst>
                  <a:ext uri="{FF2B5EF4-FFF2-40B4-BE49-F238E27FC236}">
                    <a16:creationId xmlns:a16="http://schemas.microsoft.com/office/drawing/2014/main" id="{7BBF4D30-75F6-E0C7-34C3-A0AD8647A245}"/>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rot="18361995">
                <a:off x="2644083" y="4661879"/>
                <a:ext cx="1172888" cy="1172888"/>
              </a:xfrm>
              <a:prstGeom prst="rect">
                <a:avLst/>
              </a:prstGeom>
            </p:spPr>
          </p:pic>
          <p:pic>
            <p:nvPicPr>
              <p:cNvPr id="52" name="Graphique 51" descr="Presse-papiers badge avec un remplissage uni">
                <a:extLst>
                  <a:ext uri="{FF2B5EF4-FFF2-40B4-BE49-F238E27FC236}">
                    <a16:creationId xmlns:a16="http://schemas.microsoft.com/office/drawing/2014/main" id="{8E39B31F-17AE-50F8-C30C-9354C7B01228}"/>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3755728" y="5173279"/>
                <a:ext cx="1211710" cy="1211710"/>
              </a:xfrm>
              <a:prstGeom prst="rect">
                <a:avLst/>
              </a:prstGeom>
            </p:spPr>
          </p:pic>
        </p:grpSp>
      </p:grpSp>
      <p:grpSp>
        <p:nvGrpSpPr>
          <p:cNvPr id="53" name="Groupe 52">
            <a:extLst>
              <a:ext uri="{FF2B5EF4-FFF2-40B4-BE49-F238E27FC236}">
                <a16:creationId xmlns:a16="http://schemas.microsoft.com/office/drawing/2014/main" id="{6AAB5054-2F86-9767-82F3-F17ABCD8E8C3}"/>
              </a:ext>
            </a:extLst>
          </p:cNvPr>
          <p:cNvGrpSpPr/>
          <p:nvPr/>
        </p:nvGrpSpPr>
        <p:grpSpPr>
          <a:xfrm>
            <a:off x="5840184" y="2133374"/>
            <a:ext cx="867921" cy="954316"/>
            <a:chOff x="4704331" y="5050873"/>
            <a:chExt cx="1188000" cy="1306257"/>
          </a:xfrm>
        </p:grpSpPr>
        <p:sp>
          <p:nvSpPr>
            <p:cNvPr id="54" name="Rectangle 53">
              <a:extLst>
                <a:ext uri="{FF2B5EF4-FFF2-40B4-BE49-F238E27FC236}">
                  <a16:creationId xmlns:a16="http://schemas.microsoft.com/office/drawing/2014/main" id="{B7FFFEB9-1BB8-7E10-AA9D-6C11C9075F1D}"/>
                </a:ext>
              </a:extLst>
            </p:cNvPr>
            <p:cNvSpPr/>
            <p:nvPr/>
          </p:nvSpPr>
          <p:spPr>
            <a:xfrm>
              <a:off x="4704331" y="570138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a:t>
              </a:r>
            </a:p>
            <a:p>
              <a:pPr algn="ctr"/>
              <a:r>
                <a:rPr lang="fr-FR" sz="900" dirty="0">
                  <a:solidFill>
                    <a:schemeClr val="bg1"/>
                  </a:solidFill>
                </a:rPr>
                <a:t>Gestion des connaissances</a:t>
              </a:r>
            </a:p>
          </p:txBody>
        </p:sp>
        <p:grpSp>
          <p:nvGrpSpPr>
            <p:cNvPr id="55" name="Groupe 54">
              <a:extLst>
                <a:ext uri="{FF2B5EF4-FFF2-40B4-BE49-F238E27FC236}">
                  <a16:creationId xmlns:a16="http://schemas.microsoft.com/office/drawing/2014/main" id="{0B36EB80-6159-B3B4-E55D-3FD888639DB1}"/>
                </a:ext>
              </a:extLst>
            </p:cNvPr>
            <p:cNvGrpSpPr/>
            <p:nvPr/>
          </p:nvGrpSpPr>
          <p:grpSpPr>
            <a:xfrm>
              <a:off x="4771800" y="5050873"/>
              <a:ext cx="1076472" cy="553441"/>
              <a:chOff x="6389474" y="3987996"/>
              <a:chExt cx="5385544" cy="2536749"/>
            </a:xfrm>
          </p:grpSpPr>
          <p:cxnSp>
            <p:nvCxnSpPr>
              <p:cNvPr id="56" name="Connecteur droit avec flèche 55">
                <a:extLst>
                  <a:ext uri="{FF2B5EF4-FFF2-40B4-BE49-F238E27FC236}">
                    <a16:creationId xmlns:a16="http://schemas.microsoft.com/office/drawing/2014/main" id="{14AE34DC-0D1B-6B84-E291-45AACB532236}"/>
                  </a:ext>
                </a:extLst>
              </p:cNvPr>
              <p:cNvCxnSpPr>
                <a:cxnSpLocks/>
              </p:cNvCxnSpPr>
              <p:nvPr/>
            </p:nvCxnSpPr>
            <p:spPr>
              <a:xfrm flipV="1">
                <a:off x="6535271" y="6100758"/>
                <a:ext cx="1486117" cy="22439"/>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57" name="Graphique 56" descr="Télécharger du cloud avec un remplissage uni">
                <a:extLst>
                  <a:ext uri="{FF2B5EF4-FFF2-40B4-BE49-F238E27FC236}">
                    <a16:creationId xmlns:a16="http://schemas.microsoft.com/office/drawing/2014/main" id="{363900E9-08CA-85AC-65F9-9F026B73E361}"/>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8320900" y="3987996"/>
                <a:ext cx="675060" cy="675060"/>
              </a:xfrm>
              <a:prstGeom prst="rect">
                <a:avLst/>
              </a:prstGeom>
            </p:spPr>
          </p:pic>
          <p:pic>
            <p:nvPicPr>
              <p:cNvPr id="58" name="Graphique 57" descr="Serveur avec un remplissage uni">
                <a:extLst>
                  <a:ext uri="{FF2B5EF4-FFF2-40B4-BE49-F238E27FC236}">
                    <a16:creationId xmlns:a16="http://schemas.microsoft.com/office/drawing/2014/main" id="{D895FF7C-2BA7-2210-5311-F217194430F3}"/>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8995960" y="3987996"/>
                <a:ext cx="675060" cy="675060"/>
              </a:xfrm>
              <a:prstGeom prst="rect">
                <a:avLst/>
              </a:prstGeom>
            </p:spPr>
          </p:pic>
          <p:pic>
            <p:nvPicPr>
              <p:cNvPr id="59" name="Graphique 58" descr="Tête avec engrenages avec un remplissage uni">
                <a:extLst>
                  <a:ext uri="{FF2B5EF4-FFF2-40B4-BE49-F238E27FC236}">
                    <a16:creationId xmlns:a16="http://schemas.microsoft.com/office/drawing/2014/main" id="{6DB9413D-ADA8-4DA0-B751-1EF702C044C2}"/>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6389474" y="5495508"/>
                <a:ext cx="914400" cy="914400"/>
              </a:xfrm>
              <a:prstGeom prst="rect">
                <a:avLst/>
              </a:prstGeom>
            </p:spPr>
          </p:pic>
          <p:sp>
            <p:nvSpPr>
              <p:cNvPr id="60" name="Flèche : droite 59">
                <a:extLst>
                  <a:ext uri="{FF2B5EF4-FFF2-40B4-BE49-F238E27FC236}">
                    <a16:creationId xmlns:a16="http://schemas.microsoft.com/office/drawing/2014/main" id="{B58510DD-9AAA-DF65-B789-4D98C269987B}"/>
                  </a:ext>
                </a:extLst>
              </p:cNvPr>
              <p:cNvSpPr/>
              <p:nvPr/>
            </p:nvSpPr>
            <p:spPr>
              <a:xfrm rot="2221843">
                <a:off x="9714954" y="4900835"/>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pic>
            <p:nvPicPr>
              <p:cNvPr id="61" name="Graphique 60" descr="Enseignant avec un remplissage uni">
                <a:extLst>
                  <a:ext uri="{FF2B5EF4-FFF2-40B4-BE49-F238E27FC236}">
                    <a16:creationId xmlns:a16="http://schemas.microsoft.com/office/drawing/2014/main" id="{4914E850-BFCA-8F0A-D377-BA9B81D65E3C}"/>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a:off x="8353404" y="4668590"/>
                <a:ext cx="639776" cy="639776"/>
              </a:xfrm>
              <a:prstGeom prst="rect">
                <a:avLst/>
              </a:prstGeom>
            </p:spPr>
          </p:pic>
          <p:cxnSp>
            <p:nvCxnSpPr>
              <p:cNvPr id="62" name="Connecteur droit avec flèche 61">
                <a:extLst>
                  <a:ext uri="{FF2B5EF4-FFF2-40B4-BE49-F238E27FC236}">
                    <a16:creationId xmlns:a16="http://schemas.microsoft.com/office/drawing/2014/main" id="{D7567FCA-E9F3-916A-AC25-1BB7E4242A3A}"/>
                  </a:ext>
                </a:extLst>
              </p:cNvPr>
              <p:cNvCxnSpPr>
                <a:cxnSpLocks/>
              </p:cNvCxnSpPr>
              <p:nvPr/>
            </p:nvCxnSpPr>
            <p:spPr>
              <a:xfrm flipV="1">
                <a:off x="9709150" y="6092806"/>
                <a:ext cx="2065868" cy="15905"/>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64" name="Graphique 63" descr="Tête avec engrenages avec un remplissage uni">
                <a:extLst>
                  <a:ext uri="{FF2B5EF4-FFF2-40B4-BE49-F238E27FC236}">
                    <a16:creationId xmlns:a16="http://schemas.microsoft.com/office/drawing/2014/main" id="{580478B2-07B0-DB51-D09C-F477673C6B15}"/>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10652219" y="5495508"/>
                <a:ext cx="914400" cy="914400"/>
              </a:xfrm>
              <a:prstGeom prst="rect">
                <a:avLst/>
              </a:prstGeom>
            </p:spPr>
          </p:pic>
          <p:sp>
            <p:nvSpPr>
              <p:cNvPr id="65" name="Flèche : droite 64">
                <a:extLst>
                  <a:ext uri="{FF2B5EF4-FFF2-40B4-BE49-F238E27FC236}">
                    <a16:creationId xmlns:a16="http://schemas.microsoft.com/office/drawing/2014/main" id="{5362CFC3-01C8-2C4A-9641-BBF111EDA100}"/>
                  </a:ext>
                </a:extLst>
              </p:cNvPr>
              <p:cNvSpPr/>
              <p:nvPr/>
            </p:nvSpPr>
            <p:spPr>
              <a:xfrm rot="18844370">
                <a:off x="7386229" y="4956663"/>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pic>
            <p:nvPicPr>
              <p:cNvPr id="66" name="Graphique 65" descr="Groupe de personnes avec un remplissage uni">
                <a:extLst>
                  <a:ext uri="{FF2B5EF4-FFF2-40B4-BE49-F238E27FC236}">
                    <a16:creationId xmlns:a16="http://schemas.microsoft.com/office/drawing/2014/main" id="{6505C925-624C-1827-6FC3-19F748EA5295}"/>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9025684" y="4682443"/>
                <a:ext cx="565880" cy="565880"/>
              </a:xfrm>
              <a:prstGeom prst="rect">
                <a:avLst/>
              </a:prstGeom>
            </p:spPr>
          </p:pic>
          <p:pic>
            <p:nvPicPr>
              <p:cNvPr id="67" name="Graphique 66" descr="Stop avec un remplissage uni">
                <a:extLst>
                  <a:ext uri="{FF2B5EF4-FFF2-40B4-BE49-F238E27FC236}">
                    <a16:creationId xmlns:a16="http://schemas.microsoft.com/office/drawing/2014/main" id="{DAF7F611-F4FC-7BF6-5C95-85A1E7A33936}"/>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7905881" y="5610345"/>
                <a:ext cx="914400" cy="914400"/>
              </a:xfrm>
              <a:prstGeom prst="rect">
                <a:avLst/>
              </a:prstGeom>
            </p:spPr>
          </p:pic>
          <p:grpSp>
            <p:nvGrpSpPr>
              <p:cNvPr id="68" name="Groupe 67">
                <a:extLst>
                  <a:ext uri="{FF2B5EF4-FFF2-40B4-BE49-F238E27FC236}">
                    <a16:creationId xmlns:a16="http://schemas.microsoft.com/office/drawing/2014/main" id="{619FAE1E-9746-C467-C955-4AB98BDBBDEC}"/>
                  </a:ext>
                </a:extLst>
              </p:cNvPr>
              <p:cNvGrpSpPr/>
              <p:nvPr/>
            </p:nvGrpSpPr>
            <p:grpSpPr>
              <a:xfrm>
                <a:off x="9279050" y="5495508"/>
                <a:ext cx="914400" cy="914400"/>
                <a:chOff x="9251950" y="5495508"/>
                <a:chExt cx="914400" cy="914400"/>
              </a:xfrm>
            </p:grpSpPr>
            <p:pic>
              <p:nvPicPr>
                <p:cNvPr id="69" name="Graphique 68" descr="Tête avec engrenages avec un remplissage uni">
                  <a:extLst>
                    <a:ext uri="{FF2B5EF4-FFF2-40B4-BE49-F238E27FC236}">
                      <a16:creationId xmlns:a16="http://schemas.microsoft.com/office/drawing/2014/main" id="{06D376FA-93A9-9E5F-496F-E16E30991AA6}"/>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9251950" y="5495508"/>
                  <a:ext cx="914400" cy="914400"/>
                </a:xfrm>
                <a:prstGeom prst="rect">
                  <a:avLst/>
                </a:prstGeom>
              </p:spPr>
            </p:pic>
            <p:sp>
              <p:nvSpPr>
                <p:cNvPr id="70" name="Rectangle 69">
                  <a:extLst>
                    <a:ext uri="{FF2B5EF4-FFF2-40B4-BE49-F238E27FC236}">
                      <a16:creationId xmlns:a16="http://schemas.microsoft.com/office/drawing/2014/main" id="{F6481BDA-6021-343A-4866-86366DF6E008}"/>
                    </a:ext>
                  </a:extLst>
                </p:cNvPr>
                <p:cNvSpPr/>
                <p:nvPr/>
              </p:nvSpPr>
              <p:spPr>
                <a:xfrm>
                  <a:off x="9453160" y="5700257"/>
                  <a:ext cx="402041" cy="33468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71" name="Rectangle 70">
                  <a:extLst>
                    <a:ext uri="{FF2B5EF4-FFF2-40B4-BE49-F238E27FC236}">
                      <a16:creationId xmlns:a16="http://schemas.microsoft.com/office/drawing/2014/main" id="{E4C7CC6A-AB58-353E-B9E2-879F75A806A0}"/>
                    </a:ext>
                  </a:extLst>
                </p:cNvPr>
                <p:cNvSpPr/>
                <p:nvPr/>
              </p:nvSpPr>
              <p:spPr>
                <a:xfrm>
                  <a:off x="9566945" y="5606948"/>
                  <a:ext cx="262408" cy="34576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grpSp>
        </p:grpSp>
      </p:grpSp>
      <p:grpSp>
        <p:nvGrpSpPr>
          <p:cNvPr id="72" name="Groupe 71">
            <a:extLst>
              <a:ext uri="{FF2B5EF4-FFF2-40B4-BE49-F238E27FC236}">
                <a16:creationId xmlns:a16="http://schemas.microsoft.com/office/drawing/2014/main" id="{3F529115-BE5C-CBDB-500F-CD8EC1542ED2}"/>
              </a:ext>
            </a:extLst>
          </p:cNvPr>
          <p:cNvGrpSpPr/>
          <p:nvPr/>
        </p:nvGrpSpPr>
        <p:grpSpPr>
          <a:xfrm>
            <a:off x="8485838" y="2231229"/>
            <a:ext cx="867920" cy="856461"/>
            <a:chOff x="9979734" y="5177643"/>
            <a:chExt cx="1188000" cy="1172315"/>
          </a:xfrm>
        </p:grpSpPr>
        <p:sp>
          <p:nvSpPr>
            <p:cNvPr id="73" name="Rectangle 72">
              <a:extLst>
                <a:ext uri="{FF2B5EF4-FFF2-40B4-BE49-F238E27FC236}">
                  <a16:creationId xmlns:a16="http://schemas.microsoft.com/office/drawing/2014/main" id="{FA46FCDE-A1CE-B900-A5AC-F9D8C3A92D30}"/>
                </a:ext>
              </a:extLst>
            </p:cNvPr>
            <p:cNvSpPr/>
            <p:nvPr/>
          </p:nvSpPr>
          <p:spPr>
            <a:xfrm>
              <a:off x="9979734" y="5694208"/>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a:t>
              </a:r>
            </a:p>
            <a:p>
              <a:pPr algn="ctr"/>
              <a:r>
                <a:rPr lang="fr-FR" sz="900" dirty="0">
                  <a:solidFill>
                    <a:schemeClr val="bg1"/>
                  </a:solidFill>
                </a:rPr>
                <a:t>Transformation d’entreprise</a:t>
              </a:r>
            </a:p>
          </p:txBody>
        </p:sp>
        <p:grpSp>
          <p:nvGrpSpPr>
            <p:cNvPr id="74" name="Groupe 73">
              <a:extLst>
                <a:ext uri="{FF2B5EF4-FFF2-40B4-BE49-F238E27FC236}">
                  <a16:creationId xmlns:a16="http://schemas.microsoft.com/office/drawing/2014/main" id="{54701DF7-E86E-3404-7296-C1596AA00A2E}"/>
                </a:ext>
              </a:extLst>
            </p:cNvPr>
            <p:cNvGrpSpPr/>
            <p:nvPr/>
          </p:nvGrpSpPr>
          <p:grpSpPr>
            <a:xfrm>
              <a:off x="10053885" y="5177643"/>
              <a:ext cx="1025143" cy="399185"/>
              <a:chOff x="6479122" y="1406591"/>
              <a:chExt cx="5241664" cy="1686141"/>
            </a:xfrm>
          </p:grpSpPr>
          <p:pic>
            <p:nvPicPr>
              <p:cNvPr id="75" name="Graphique 74" descr="Soucoupe volante avec un remplissage uni">
                <a:extLst>
                  <a:ext uri="{FF2B5EF4-FFF2-40B4-BE49-F238E27FC236}">
                    <a16:creationId xmlns:a16="http://schemas.microsoft.com/office/drawing/2014/main" id="{59386BCC-53A3-70C5-E848-A2A46F85D226}"/>
                  </a:ext>
                </a:extLst>
              </p:cNvPr>
              <p:cNvPicPr>
                <a:picLocks noChangeAspect="1"/>
              </p:cNvPicPr>
              <p:nvPr/>
            </p:nvPicPr>
            <p:blipFill>
              <a:blip r:embed="rId74">
                <a:extLst>
                  <a:ext uri="{28A0092B-C50C-407E-A947-70E740481C1C}">
                    <a14:useLocalDpi xmlns:a14="http://schemas.microsoft.com/office/drawing/2010/main" val="0"/>
                  </a:ext>
                  <a:ext uri="{96DAC541-7B7A-43D3-8B79-37D633B846F1}">
                    <asvg:svgBlip xmlns:asvg="http://schemas.microsoft.com/office/drawing/2016/SVG/main" r:embed="rId75"/>
                  </a:ext>
                </a:extLst>
              </a:blip>
              <a:stretch>
                <a:fillRect/>
              </a:stretch>
            </p:blipFill>
            <p:spPr>
              <a:xfrm>
                <a:off x="10806386" y="1406591"/>
                <a:ext cx="914400" cy="914400"/>
              </a:xfrm>
              <a:prstGeom prst="rect">
                <a:avLst/>
              </a:prstGeom>
            </p:spPr>
          </p:pic>
          <p:pic>
            <p:nvPicPr>
              <p:cNvPr id="76" name="Graphique 75" descr="Usine avec un remplissage uni">
                <a:extLst>
                  <a:ext uri="{FF2B5EF4-FFF2-40B4-BE49-F238E27FC236}">
                    <a16:creationId xmlns:a16="http://schemas.microsoft.com/office/drawing/2014/main" id="{727EE421-E640-14AE-A2F0-93C32081A5EA}"/>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8642754" y="1406591"/>
                <a:ext cx="914400" cy="914400"/>
              </a:xfrm>
              <a:prstGeom prst="rect">
                <a:avLst/>
              </a:prstGeom>
            </p:spPr>
          </p:pic>
          <p:pic>
            <p:nvPicPr>
              <p:cNvPr id="77" name="Graphique 76" descr="Pyramide avec un remplissage uni">
                <a:extLst>
                  <a:ext uri="{FF2B5EF4-FFF2-40B4-BE49-F238E27FC236}">
                    <a16:creationId xmlns:a16="http://schemas.microsoft.com/office/drawing/2014/main" id="{EF2D1D2A-C04F-9D5C-498D-DBB8E115E96C}"/>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6479122" y="1406591"/>
                <a:ext cx="914400" cy="914400"/>
              </a:xfrm>
              <a:prstGeom prst="rect">
                <a:avLst/>
              </a:prstGeom>
            </p:spPr>
          </p:pic>
          <p:pic>
            <p:nvPicPr>
              <p:cNvPr id="78" name="Graphique 77" descr="Bâtiment avec un remplissage uni">
                <a:extLst>
                  <a:ext uri="{FF2B5EF4-FFF2-40B4-BE49-F238E27FC236}">
                    <a16:creationId xmlns:a16="http://schemas.microsoft.com/office/drawing/2014/main" id="{CD44ECDF-713E-988B-FEDB-579C0C747E38}"/>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9724570" y="2178332"/>
                <a:ext cx="914400" cy="914400"/>
              </a:xfrm>
              <a:prstGeom prst="rect">
                <a:avLst/>
              </a:prstGeom>
            </p:spPr>
          </p:pic>
          <p:pic>
            <p:nvPicPr>
              <p:cNvPr id="79" name="Graphique 78" descr="Scène de château avec un remplissage uni">
                <a:extLst>
                  <a:ext uri="{FF2B5EF4-FFF2-40B4-BE49-F238E27FC236}">
                    <a16:creationId xmlns:a16="http://schemas.microsoft.com/office/drawing/2014/main" id="{E9882852-17E5-BE1A-221B-3ACCE3C6C9CB}"/>
                  </a:ext>
                </a:extLst>
              </p:cNvPr>
              <p:cNvPicPr>
                <a:picLocks noChangeAspect="1"/>
              </p:cNvPicPr>
              <p:nvPr/>
            </p:nvPicPr>
            <p:blipFill>
              <a:blip r:embed="rId82">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7560938" y="2178332"/>
                <a:ext cx="914400" cy="914400"/>
              </a:xfrm>
              <a:prstGeom prst="rect">
                <a:avLst/>
              </a:prstGeom>
            </p:spPr>
          </p:pic>
          <p:sp>
            <p:nvSpPr>
              <p:cNvPr id="80" name="Flèche : droite 79">
                <a:extLst>
                  <a:ext uri="{FF2B5EF4-FFF2-40B4-BE49-F238E27FC236}">
                    <a16:creationId xmlns:a16="http://schemas.microsoft.com/office/drawing/2014/main" id="{9A6F1BEC-8B06-4AEB-1007-4F4F2ED3F63A}"/>
                  </a:ext>
                </a:extLst>
              </p:cNvPr>
              <p:cNvSpPr/>
              <p:nvPr/>
            </p:nvSpPr>
            <p:spPr>
              <a:xfrm rot="2412443">
                <a:off x="7420834" y="196308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81" name="Flèche : droite 80">
                <a:extLst>
                  <a:ext uri="{FF2B5EF4-FFF2-40B4-BE49-F238E27FC236}">
                    <a16:creationId xmlns:a16="http://schemas.microsoft.com/office/drawing/2014/main" id="{1DE4F637-3768-9705-11F6-2E3A49771C8B}"/>
                  </a:ext>
                </a:extLst>
              </p:cNvPr>
              <p:cNvSpPr/>
              <p:nvPr/>
            </p:nvSpPr>
            <p:spPr>
              <a:xfrm rot="19318800">
                <a:off x="8295844"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82" name="Flèche : droite 81">
                <a:extLst>
                  <a:ext uri="{FF2B5EF4-FFF2-40B4-BE49-F238E27FC236}">
                    <a16:creationId xmlns:a16="http://schemas.microsoft.com/office/drawing/2014/main" id="{2EB190C0-A211-6C39-B574-5574EEE7E16F}"/>
                  </a:ext>
                </a:extLst>
              </p:cNvPr>
              <p:cNvSpPr/>
              <p:nvPr/>
            </p:nvSpPr>
            <p:spPr>
              <a:xfrm rot="19318800">
                <a:off x="10452959"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83" name="Flèche : droite 82">
                <a:extLst>
                  <a:ext uri="{FF2B5EF4-FFF2-40B4-BE49-F238E27FC236}">
                    <a16:creationId xmlns:a16="http://schemas.microsoft.com/office/drawing/2014/main" id="{B1893704-AF27-C02F-82EC-3AB1DDDDD742}"/>
                  </a:ext>
                </a:extLst>
              </p:cNvPr>
              <p:cNvSpPr/>
              <p:nvPr/>
            </p:nvSpPr>
            <p:spPr>
              <a:xfrm rot="2412443">
                <a:off x="9514335" y="192072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grpSp>
      </p:grpSp>
      <p:grpSp>
        <p:nvGrpSpPr>
          <p:cNvPr id="84" name="Groupe 83">
            <a:extLst>
              <a:ext uri="{FF2B5EF4-FFF2-40B4-BE49-F238E27FC236}">
                <a16:creationId xmlns:a16="http://schemas.microsoft.com/office/drawing/2014/main" id="{29270413-AEBE-421A-3A50-A8F7949CCF95}"/>
              </a:ext>
            </a:extLst>
          </p:cNvPr>
          <p:cNvGrpSpPr/>
          <p:nvPr/>
        </p:nvGrpSpPr>
        <p:grpSpPr>
          <a:xfrm>
            <a:off x="6722069" y="2071431"/>
            <a:ext cx="867921" cy="1016259"/>
            <a:chOff x="6450988" y="4963473"/>
            <a:chExt cx="1188000" cy="1391043"/>
          </a:xfrm>
        </p:grpSpPr>
        <p:sp>
          <p:nvSpPr>
            <p:cNvPr id="85" name="Rectangle 84">
              <a:extLst>
                <a:ext uri="{FF2B5EF4-FFF2-40B4-BE49-F238E27FC236}">
                  <a16:creationId xmlns:a16="http://schemas.microsoft.com/office/drawing/2014/main" id="{AA9D0B0A-A01E-8CC7-9648-E2B40E673E3A}"/>
                </a:ext>
              </a:extLst>
            </p:cNvPr>
            <p:cNvSpPr/>
            <p:nvPr/>
          </p:nvSpPr>
          <p:spPr>
            <a:xfrm>
              <a:off x="6450988" y="5698766"/>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 </a:t>
              </a:r>
            </a:p>
            <a:p>
              <a:pPr algn="ctr"/>
              <a:r>
                <a:rPr lang="fr-FR" sz="900" dirty="0">
                  <a:solidFill>
                    <a:schemeClr val="bg1"/>
                  </a:solidFill>
                </a:rPr>
                <a:t>Management Transverse</a:t>
              </a:r>
            </a:p>
          </p:txBody>
        </p:sp>
        <p:grpSp>
          <p:nvGrpSpPr>
            <p:cNvPr id="86" name="Groupe 85">
              <a:extLst>
                <a:ext uri="{FF2B5EF4-FFF2-40B4-BE49-F238E27FC236}">
                  <a16:creationId xmlns:a16="http://schemas.microsoft.com/office/drawing/2014/main" id="{0CDABDA6-76B1-F9E2-ECFA-E5E6A34CB14B}"/>
                </a:ext>
              </a:extLst>
            </p:cNvPr>
            <p:cNvGrpSpPr/>
            <p:nvPr/>
          </p:nvGrpSpPr>
          <p:grpSpPr>
            <a:xfrm>
              <a:off x="6677241" y="4963473"/>
              <a:ext cx="730189" cy="610409"/>
              <a:chOff x="1734369" y="510800"/>
              <a:chExt cx="2873060" cy="2423359"/>
            </a:xfrm>
          </p:grpSpPr>
          <p:pic>
            <p:nvPicPr>
              <p:cNvPr id="87" name="Graphique 86" descr="Avertissement avec un remplissage uni">
                <a:extLst>
                  <a:ext uri="{FF2B5EF4-FFF2-40B4-BE49-F238E27FC236}">
                    <a16:creationId xmlns:a16="http://schemas.microsoft.com/office/drawing/2014/main" id="{C5A6DDF4-B78C-5142-5800-AA227D171E2A}"/>
                  </a:ext>
                </a:extLst>
              </p:cNvPr>
              <p:cNvPicPr>
                <a:picLocks noChangeAspect="1"/>
              </p:cNvPicPr>
              <p:nvPr/>
            </p:nvPicPr>
            <p:blipFill>
              <a:blip r:embed="rId84">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1734369" y="1978134"/>
                <a:ext cx="914400" cy="914400"/>
              </a:xfrm>
              <a:prstGeom prst="rect">
                <a:avLst/>
              </a:prstGeom>
            </p:spPr>
          </p:pic>
          <p:pic>
            <p:nvPicPr>
              <p:cNvPr id="88" name="Graphique 87" descr="Chat avec un remplissage uni">
                <a:extLst>
                  <a:ext uri="{FF2B5EF4-FFF2-40B4-BE49-F238E27FC236}">
                    <a16:creationId xmlns:a16="http://schemas.microsoft.com/office/drawing/2014/main" id="{1BBE9874-89E2-1775-2ADB-1E694978B970}"/>
                  </a:ext>
                </a:extLst>
              </p:cNvPr>
              <p:cNvPicPr>
                <a:picLocks noChangeAspect="1"/>
              </p:cNvPicPr>
              <p:nvPr/>
            </p:nvPicPr>
            <p:blipFill>
              <a:blip r:embed="rId86">
                <a:extLst>
                  <a:ext uri="{28A0092B-C50C-407E-A947-70E740481C1C}">
                    <a14:useLocalDpi xmlns:a14="http://schemas.microsoft.com/office/drawing/2010/main" val="0"/>
                  </a:ext>
                  <a:ext uri="{96DAC541-7B7A-43D3-8B79-37D633B846F1}">
                    <asvg:svgBlip xmlns:asvg="http://schemas.microsoft.com/office/drawing/2016/SVG/main" r:embed="rId87"/>
                  </a:ext>
                </a:extLst>
              </a:blip>
              <a:stretch>
                <a:fillRect/>
              </a:stretch>
            </p:blipFill>
            <p:spPr>
              <a:xfrm>
                <a:off x="2713699" y="1562559"/>
                <a:ext cx="914400" cy="914400"/>
              </a:xfrm>
              <a:prstGeom prst="rect">
                <a:avLst/>
              </a:prstGeom>
            </p:spPr>
          </p:pic>
          <p:pic>
            <p:nvPicPr>
              <p:cNvPr id="89" name="Graphique 88" descr="Liste de contrôle avec un remplissage uni">
                <a:extLst>
                  <a:ext uri="{FF2B5EF4-FFF2-40B4-BE49-F238E27FC236}">
                    <a16:creationId xmlns:a16="http://schemas.microsoft.com/office/drawing/2014/main" id="{C72FCC95-563D-561C-2E96-1FD8AD08BD50}"/>
                  </a:ext>
                </a:extLst>
              </p:cNvPr>
              <p:cNvPicPr>
                <a:picLocks noChangeAspect="1"/>
              </p:cNvPicPr>
              <p:nvPr/>
            </p:nvPicPr>
            <p:blipFill>
              <a:blip r:embed="rId88">
                <a:extLst>
                  <a:ext uri="{28A0092B-C50C-407E-A947-70E740481C1C}">
                    <a14:useLocalDpi xmlns:a14="http://schemas.microsoft.com/office/drawing/2010/main" val="0"/>
                  </a:ext>
                  <a:ext uri="{96DAC541-7B7A-43D3-8B79-37D633B846F1}">
                    <asvg:svgBlip xmlns:asvg="http://schemas.microsoft.com/office/drawing/2016/SVG/main" r:embed="rId89"/>
                  </a:ext>
                </a:extLst>
              </a:blip>
              <a:stretch>
                <a:fillRect/>
              </a:stretch>
            </p:blipFill>
            <p:spPr>
              <a:xfrm>
                <a:off x="3693029" y="2019759"/>
                <a:ext cx="914400" cy="914400"/>
              </a:xfrm>
              <a:prstGeom prst="rect">
                <a:avLst/>
              </a:prstGeom>
            </p:spPr>
          </p:pic>
          <p:pic>
            <p:nvPicPr>
              <p:cNvPr id="90" name="Graphique 89" descr="Synchronisation avec le cloud avec un remplissage uni">
                <a:extLst>
                  <a:ext uri="{FF2B5EF4-FFF2-40B4-BE49-F238E27FC236}">
                    <a16:creationId xmlns:a16="http://schemas.microsoft.com/office/drawing/2014/main" id="{2F790F55-1D1B-F42A-ADD3-A71E776C5DBB}"/>
                  </a:ext>
                </a:extLst>
              </p:cNvPr>
              <p:cNvPicPr>
                <a:picLocks noChangeAspect="1"/>
              </p:cNvPicPr>
              <p:nvPr/>
            </p:nvPicPr>
            <p:blipFill>
              <a:blip r:embed="rId90">
                <a:extLst>
                  <a:ext uri="{28A0092B-C50C-407E-A947-70E740481C1C}">
                    <a14:useLocalDpi xmlns:a14="http://schemas.microsoft.com/office/drawing/2010/main" val="0"/>
                  </a:ext>
                  <a:ext uri="{96DAC541-7B7A-43D3-8B79-37D633B846F1}">
                    <asvg:svgBlip xmlns:asvg="http://schemas.microsoft.com/office/drawing/2016/SVG/main" r:embed="rId91"/>
                  </a:ext>
                </a:extLst>
              </a:blip>
              <a:stretch>
                <a:fillRect/>
              </a:stretch>
            </p:blipFill>
            <p:spPr>
              <a:xfrm>
                <a:off x="2778630" y="510800"/>
                <a:ext cx="914400" cy="914400"/>
              </a:xfrm>
              <a:prstGeom prst="rect">
                <a:avLst/>
              </a:prstGeom>
            </p:spPr>
          </p:pic>
        </p:grpSp>
      </p:grpSp>
      <p:grpSp>
        <p:nvGrpSpPr>
          <p:cNvPr id="91" name="Groupe 90">
            <a:extLst>
              <a:ext uri="{FF2B5EF4-FFF2-40B4-BE49-F238E27FC236}">
                <a16:creationId xmlns:a16="http://schemas.microsoft.com/office/drawing/2014/main" id="{0281D153-3A4A-6EBB-02C5-FEE02F6FD8D8}"/>
              </a:ext>
            </a:extLst>
          </p:cNvPr>
          <p:cNvGrpSpPr/>
          <p:nvPr/>
        </p:nvGrpSpPr>
        <p:grpSpPr>
          <a:xfrm>
            <a:off x="7603954" y="1913010"/>
            <a:ext cx="867920" cy="1174680"/>
            <a:chOff x="8188500" y="4755609"/>
            <a:chExt cx="1188000" cy="1607891"/>
          </a:xfrm>
        </p:grpSpPr>
        <p:sp>
          <p:nvSpPr>
            <p:cNvPr id="92" name="Rectangle 91">
              <a:extLst>
                <a:ext uri="{FF2B5EF4-FFF2-40B4-BE49-F238E27FC236}">
                  <a16:creationId xmlns:a16="http://schemas.microsoft.com/office/drawing/2014/main" id="{BB38758B-724B-0B0A-A8F5-D322CA665E73}"/>
                </a:ext>
              </a:extLst>
            </p:cNvPr>
            <p:cNvSpPr/>
            <p:nvPr/>
          </p:nvSpPr>
          <p:spPr>
            <a:xfrm>
              <a:off x="8188500" y="570775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Opérations </a:t>
              </a:r>
            </a:p>
            <a:p>
              <a:pPr algn="ctr"/>
              <a:r>
                <a:rPr lang="fr-FR" sz="900" dirty="0">
                  <a:solidFill>
                    <a:schemeClr val="bg1"/>
                  </a:solidFill>
                </a:rPr>
                <a:t>Innovation</a:t>
              </a:r>
            </a:p>
          </p:txBody>
        </p:sp>
        <p:grpSp>
          <p:nvGrpSpPr>
            <p:cNvPr id="93" name="Groupe 92">
              <a:extLst>
                <a:ext uri="{FF2B5EF4-FFF2-40B4-BE49-F238E27FC236}">
                  <a16:creationId xmlns:a16="http://schemas.microsoft.com/office/drawing/2014/main" id="{5DDE6EEB-D103-2990-89D0-4E2BB53DA415}"/>
                </a:ext>
              </a:extLst>
            </p:cNvPr>
            <p:cNvGrpSpPr/>
            <p:nvPr/>
          </p:nvGrpSpPr>
          <p:grpSpPr>
            <a:xfrm>
              <a:off x="8302488" y="4755609"/>
              <a:ext cx="985193" cy="908867"/>
              <a:chOff x="1770451" y="635328"/>
              <a:chExt cx="2847387" cy="2660604"/>
            </a:xfrm>
          </p:grpSpPr>
          <p:sp>
            <p:nvSpPr>
              <p:cNvPr id="94" name="Ellipse 93">
                <a:extLst>
                  <a:ext uri="{FF2B5EF4-FFF2-40B4-BE49-F238E27FC236}">
                    <a16:creationId xmlns:a16="http://schemas.microsoft.com/office/drawing/2014/main" id="{8D921AE7-4D78-AF8C-C3A5-6BCEF35816D8}"/>
                  </a:ext>
                </a:extLst>
              </p:cNvPr>
              <p:cNvSpPr/>
              <p:nvPr/>
            </p:nvSpPr>
            <p:spPr>
              <a:xfrm>
                <a:off x="2285862" y="956143"/>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pic>
            <p:nvPicPr>
              <p:cNvPr id="95" name="Graphique 94" descr="Lunettes 3D avec un remplissage uni">
                <a:extLst>
                  <a:ext uri="{FF2B5EF4-FFF2-40B4-BE49-F238E27FC236}">
                    <a16:creationId xmlns:a16="http://schemas.microsoft.com/office/drawing/2014/main" id="{83BA93BD-36BE-C66C-A192-C936695DDF43}"/>
                  </a:ext>
                </a:extLst>
              </p:cNvPr>
              <p:cNvPicPr>
                <a:picLocks noChangeAspect="1"/>
              </p:cNvPicPr>
              <p:nvPr/>
            </p:nvPicPr>
            <p:blipFill>
              <a:blip r:embed="rId92">
                <a:extLst>
                  <a:ext uri="{28A0092B-C50C-407E-A947-70E740481C1C}">
                    <a14:useLocalDpi xmlns:a14="http://schemas.microsoft.com/office/drawing/2010/main" val="0"/>
                  </a:ext>
                  <a:ext uri="{96DAC541-7B7A-43D3-8B79-37D633B846F1}">
                    <asvg:svgBlip xmlns:asvg="http://schemas.microsoft.com/office/drawing/2016/SVG/main" r:embed="rId93"/>
                  </a:ext>
                </a:extLst>
              </a:blip>
              <a:stretch>
                <a:fillRect/>
              </a:stretch>
            </p:blipFill>
            <p:spPr>
              <a:xfrm>
                <a:off x="2339651" y="643202"/>
                <a:ext cx="914400" cy="914400"/>
              </a:xfrm>
              <a:prstGeom prst="rect">
                <a:avLst/>
              </a:prstGeom>
            </p:spPr>
          </p:pic>
          <p:pic>
            <p:nvPicPr>
              <p:cNvPr id="96" name="Graphique 95" descr="Mannequin test avec un remplissage uni">
                <a:extLst>
                  <a:ext uri="{FF2B5EF4-FFF2-40B4-BE49-F238E27FC236}">
                    <a16:creationId xmlns:a16="http://schemas.microsoft.com/office/drawing/2014/main" id="{EF13D84D-6592-B155-530B-B512C0C7F136}"/>
                  </a:ext>
                </a:extLst>
              </p:cNvPr>
              <p:cNvPicPr>
                <a:picLocks noChangeAspect="1"/>
              </p:cNvPicPr>
              <p:nvPr/>
            </p:nvPicPr>
            <p:blipFill>
              <a:blip r:embed="rId94">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2825957" y="2381532"/>
                <a:ext cx="914400" cy="914400"/>
              </a:xfrm>
              <a:prstGeom prst="rect">
                <a:avLst/>
              </a:prstGeom>
            </p:spPr>
          </p:pic>
          <p:pic>
            <p:nvPicPr>
              <p:cNvPr id="97" name="Graphique 96" descr="Homme scientifique avec un remplissage uni">
                <a:extLst>
                  <a:ext uri="{FF2B5EF4-FFF2-40B4-BE49-F238E27FC236}">
                    <a16:creationId xmlns:a16="http://schemas.microsoft.com/office/drawing/2014/main" id="{5F2D5272-B15D-8922-2416-572884B9F032}"/>
                  </a:ext>
                </a:extLst>
              </p:cNvPr>
              <p:cNvPicPr>
                <a:picLocks noChangeAspect="1"/>
              </p:cNvPicPr>
              <p:nvPr/>
            </p:nvPicPr>
            <p:blipFill>
              <a:blip r:embed="rId96">
                <a:extLst>
                  <a:ext uri="{28A0092B-C50C-407E-A947-70E740481C1C}">
                    <a14:useLocalDpi xmlns:a14="http://schemas.microsoft.com/office/drawing/2010/main" val="0"/>
                  </a:ext>
                  <a:ext uri="{96DAC541-7B7A-43D3-8B79-37D633B846F1}">
                    <asvg:svgBlip xmlns:asvg="http://schemas.microsoft.com/office/drawing/2016/SVG/main" r:embed="rId97"/>
                  </a:ext>
                </a:extLst>
              </a:blip>
              <a:stretch>
                <a:fillRect/>
              </a:stretch>
            </p:blipFill>
            <p:spPr>
              <a:xfrm>
                <a:off x="3612503" y="635328"/>
                <a:ext cx="914400" cy="914400"/>
              </a:xfrm>
              <a:prstGeom prst="rect">
                <a:avLst/>
              </a:prstGeom>
            </p:spPr>
          </p:pic>
          <p:pic>
            <p:nvPicPr>
              <p:cNvPr id="98" name="Graphique 97" descr="Presse-papiers mixte avec un remplissage uni">
                <a:extLst>
                  <a:ext uri="{FF2B5EF4-FFF2-40B4-BE49-F238E27FC236}">
                    <a16:creationId xmlns:a16="http://schemas.microsoft.com/office/drawing/2014/main" id="{E2718F17-0AD8-5A88-AFB4-14F41BEA2200}"/>
                  </a:ext>
                </a:extLst>
              </p:cNvPr>
              <p:cNvPicPr>
                <a:picLocks noChangeAspect="1"/>
              </p:cNvPicPr>
              <p:nvPr/>
            </p:nvPicPr>
            <p:blipFill>
              <a:blip r:embed="rId98">
                <a:extLst>
                  <a:ext uri="{28A0092B-C50C-407E-A947-70E740481C1C}">
                    <a14:useLocalDpi xmlns:a14="http://schemas.microsoft.com/office/drawing/2010/main" val="0"/>
                  </a:ext>
                  <a:ext uri="{96DAC541-7B7A-43D3-8B79-37D633B846F1}">
                    <asvg:svgBlip xmlns:asvg="http://schemas.microsoft.com/office/drawing/2016/SVG/main" r:embed="rId99"/>
                  </a:ext>
                </a:extLst>
              </a:blip>
              <a:stretch>
                <a:fillRect/>
              </a:stretch>
            </p:blipFill>
            <p:spPr>
              <a:xfrm>
                <a:off x="3703438" y="1819176"/>
                <a:ext cx="914400" cy="914400"/>
              </a:xfrm>
              <a:prstGeom prst="rect">
                <a:avLst/>
              </a:prstGeom>
            </p:spPr>
          </p:pic>
          <p:pic>
            <p:nvPicPr>
              <p:cNvPr id="99" name="Graphique 98" descr="Brainstorming de groupe avec un remplissage uni">
                <a:extLst>
                  <a:ext uri="{FF2B5EF4-FFF2-40B4-BE49-F238E27FC236}">
                    <a16:creationId xmlns:a16="http://schemas.microsoft.com/office/drawing/2014/main" id="{E323BB4C-D811-B9EA-4C8E-009E4A479440}"/>
                  </a:ext>
                </a:extLst>
              </p:cNvPr>
              <p:cNvPicPr>
                <a:picLocks noChangeAspect="1"/>
              </p:cNvPicPr>
              <p:nvPr/>
            </p:nvPicPr>
            <p:blipFill>
              <a:blip r:embed="rId100">
                <a:extLst>
                  <a:ext uri="{28A0092B-C50C-407E-A947-70E740481C1C}">
                    <a14:useLocalDpi xmlns:a14="http://schemas.microsoft.com/office/drawing/2010/main" val="0"/>
                  </a:ext>
                  <a:ext uri="{96DAC541-7B7A-43D3-8B79-37D633B846F1}">
                    <asvg:svgBlip xmlns:asvg="http://schemas.microsoft.com/office/drawing/2016/SVG/main" r:embed="rId101"/>
                  </a:ext>
                </a:extLst>
              </a:blip>
              <a:stretch>
                <a:fillRect/>
              </a:stretch>
            </p:blipFill>
            <p:spPr>
              <a:xfrm>
                <a:off x="1770451" y="1557602"/>
                <a:ext cx="914400" cy="914400"/>
              </a:xfrm>
              <a:prstGeom prst="rect">
                <a:avLst/>
              </a:prstGeom>
            </p:spPr>
          </p:pic>
        </p:grpSp>
      </p:grpSp>
      <p:grpSp>
        <p:nvGrpSpPr>
          <p:cNvPr id="100" name="Groupe 99">
            <a:extLst>
              <a:ext uri="{FF2B5EF4-FFF2-40B4-BE49-F238E27FC236}">
                <a16:creationId xmlns:a16="http://schemas.microsoft.com/office/drawing/2014/main" id="{08B4A3F0-3028-C653-4809-D635E35D4874}"/>
              </a:ext>
            </a:extLst>
          </p:cNvPr>
          <p:cNvGrpSpPr/>
          <p:nvPr/>
        </p:nvGrpSpPr>
        <p:grpSpPr>
          <a:xfrm>
            <a:off x="10313801" y="1967062"/>
            <a:ext cx="932115" cy="1120628"/>
            <a:chOff x="9927646" y="3089935"/>
            <a:chExt cx="1188000" cy="1428262"/>
          </a:xfrm>
        </p:grpSpPr>
        <p:sp>
          <p:nvSpPr>
            <p:cNvPr id="101" name="Rectangle 100">
              <a:extLst>
                <a:ext uri="{FF2B5EF4-FFF2-40B4-BE49-F238E27FC236}">
                  <a16:creationId xmlns:a16="http://schemas.microsoft.com/office/drawing/2014/main" id="{A0B66BDF-3F10-5C45-9D44-F2BF970E6A04}"/>
                </a:ext>
              </a:extLst>
            </p:cNvPr>
            <p:cNvSpPr/>
            <p:nvPr/>
          </p:nvSpPr>
          <p:spPr>
            <a:xfrm>
              <a:off x="9927646" y="3907611"/>
              <a:ext cx="1188000" cy="6105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Vente</a:t>
              </a:r>
            </a:p>
            <a:p>
              <a:pPr algn="ctr"/>
              <a:r>
                <a:rPr lang="fr-FR" sz="900" dirty="0">
                  <a:solidFill>
                    <a:schemeClr val="bg1"/>
                  </a:solidFill>
                </a:rPr>
                <a:t>Communication externe</a:t>
              </a:r>
            </a:p>
          </p:txBody>
        </p:sp>
        <p:grpSp>
          <p:nvGrpSpPr>
            <p:cNvPr id="102" name="Groupe 101">
              <a:extLst>
                <a:ext uri="{FF2B5EF4-FFF2-40B4-BE49-F238E27FC236}">
                  <a16:creationId xmlns:a16="http://schemas.microsoft.com/office/drawing/2014/main" id="{95FF1BC5-74A8-3F7C-BF1E-A0B5C9F012F8}"/>
                </a:ext>
              </a:extLst>
            </p:cNvPr>
            <p:cNvGrpSpPr/>
            <p:nvPr/>
          </p:nvGrpSpPr>
          <p:grpSpPr>
            <a:xfrm>
              <a:off x="10028058" y="3089935"/>
              <a:ext cx="999718" cy="764069"/>
              <a:chOff x="7993201" y="3990786"/>
              <a:chExt cx="3083654" cy="2356787"/>
            </a:xfrm>
          </p:grpSpPr>
          <p:pic>
            <p:nvPicPr>
              <p:cNvPr id="103" name="Graphique 102" descr="Podcasting avec un remplissage uni">
                <a:extLst>
                  <a:ext uri="{FF2B5EF4-FFF2-40B4-BE49-F238E27FC236}">
                    <a16:creationId xmlns:a16="http://schemas.microsoft.com/office/drawing/2014/main" id="{426EC593-DC03-9179-3B74-2405683ACDCA}"/>
                  </a:ext>
                </a:extLst>
              </p:cNvPr>
              <p:cNvPicPr>
                <a:picLocks noChangeAspect="1"/>
              </p:cNvPicPr>
              <p:nvPr/>
            </p:nvPicPr>
            <p:blipFill>
              <a:blip r:embed="rId102">
                <a:extLst>
                  <a:ext uri="{28A0092B-C50C-407E-A947-70E740481C1C}">
                    <a14:useLocalDpi xmlns:a14="http://schemas.microsoft.com/office/drawing/2010/main" val="0"/>
                  </a:ext>
                  <a:ext uri="{96DAC541-7B7A-43D3-8B79-37D633B846F1}">
                    <asvg:svgBlip xmlns:asvg="http://schemas.microsoft.com/office/drawing/2016/SVG/main" r:embed="rId103"/>
                  </a:ext>
                </a:extLst>
              </a:blip>
              <a:stretch>
                <a:fillRect/>
              </a:stretch>
            </p:blipFill>
            <p:spPr>
              <a:xfrm>
                <a:off x="7993201" y="3990786"/>
                <a:ext cx="914400" cy="914400"/>
              </a:xfrm>
              <a:prstGeom prst="rect">
                <a:avLst/>
              </a:prstGeom>
            </p:spPr>
          </p:pic>
          <p:pic>
            <p:nvPicPr>
              <p:cNvPr id="104" name="Graphique 103" descr="Vlog avec un remplissage uni">
                <a:extLst>
                  <a:ext uri="{FF2B5EF4-FFF2-40B4-BE49-F238E27FC236}">
                    <a16:creationId xmlns:a16="http://schemas.microsoft.com/office/drawing/2014/main" id="{CACE9E38-EDA0-C62B-3273-1ACA8398DA2B}"/>
                  </a:ext>
                </a:extLst>
              </p:cNvPr>
              <p:cNvPicPr>
                <a:picLocks noChangeAspect="1"/>
              </p:cNvPicPr>
              <p:nvPr/>
            </p:nvPicPr>
            <p:blipFill>
              <a:blip r:embed="rId104">
                <a:extLst>
                  <a:ext uri="{28A0092B-C50C-407E-A947-70E740481C1C}">
                    <a14:useLocalDpi xmlns:a14="http://schemas.microsoft.com/office/drawing/2010/main" val="0"/>
                  </a:ext>
                  <a:ext uri="{96DAC541-7B7A-43D3-8B79-37D633B846F1}">
                    <asvg:svgBlip xmlns:asvg="http://schemas.microsoft.com/office/drawing/2016/SVG/main" r:embed="rId105"/>
                  </a:ext>
                </a:extLst>
              </a:blip>
              <a:stretch>
                <a:fillRect/>
              </a:stretch>
            </p:blipFill>
            <p:spPr>
              <a:xfrm>
                <a:off x="8000671" y="5433173"/>
                <a:ext cx="914400" cy="914400"/>
              </a:xfrm>
              <a:prstGeom prst="rect">
                <a:avLst/>
              </a:prstGeom>
            </p:spPr>
          </p:pic>
          <p:pic>
            <p:nvPicPr>
              <p:cNvPr id="105" name="Graphique 104" descr="Journal avec un remplissage uni">
                <a:extLst>
                  <a:ext uri="{FF2B5EF4-FFF2-40B4-BE49-F238E27FC236}">
                    <a16:creationId xmlns:a16="http://schemas.microsoft.com/office/drawing/2014/main" id="{E8A64E73-665E-C10D-BC48-3CA00A98A25A}"/>
                  </a:ext>
                </a:extLst>
              </p:cNvPr>
              <p:cNvPicPr>
                <a:picLocks noChangeAspect="1"/>
              </p:cNvPicPr>
              <p:nvPr/>
            </p:nvPicPr>
            <p:blipFill>
              <a:blip r:embed="rId106">
                <a:extLst>
                  <a:ext uri="{28A0092B-C50C-407E-A947-70E740481C1C}">
                    <a14:useLocalDpi xmlns:a14="http://schemas.microsoft.com/office/drawing/2010/main" val="0"/>
                  </a:ext>
                  <a:ext uri="{96DAC541-7B7A-43D3-8B79-37D633B846F1}">
                    <asvg:svgBlip xmlns:asvg="http://schemas.microsoft.com/office/drawing/2016/SVG/main" r:embed="rId107"/>
                  </a:ext>
                </a:extLst>
              </a:blip>
              <a:stretch>
                <a:fillRect/>
              </a:stretch>
            </p:blipFill>
            <p:spPr>
              <a:xfrm>
                <a:off x="10162455" y="4013608"/>
                <a:ext cx="914400" cy="914400"/>
              </a:xfrm>
              <a:prstGeom prst="rect">
                <a:avLst/>
              </a:prstGeom>
            </p:spPr>
          </p:pic>
          <p:pic>
            <p:nvPicPr>
              <p:cNvPr id="106" name="Graphique 105" descr="Réseau en ligne avec un remplissage uni">
                <a:extLst>
                  <a:ext uri="{FF2B5EF4-FFF2-40B4-BE49-F238E27FC236}">
                    <a16:creationId xmlns:a16="http://schemas.microsoft.com/office/drawing/2014/main" id="{E78AFC9D-A96E-EDAB-1A18-E08A864B057D}"/>
                  </a:ext>
                </a:extLst>
              </p:cNvPr>
              <p:cNvPicPr>
                <a:picLocks noChangeAspect="1"/>
              </p:cNvPicPr>
              <p:nvPr/>
            </p:nvPicPr>
            <p:blipFill>
              <a:blip r:embed="rId108">
                <a:extLst>
                  <a:ext uri="{28A0092B-C50C-407E-A947-70E740481C1C}">
                    <a14:useLocalDpi xmlns:a14="http://schemas.microsoft.com/office/drawing/2010/main" val="0"/>
                  </a:ext>
                  <a:ext uri="{96DAC541-7B7A-43D3-8B79-37D633B846F1}">
                    <asvg:svgBlip xmlns:asvg="http://schemas.microsoft.com/office/drawing/2016/SVG/main" r:embed="rId109"/>
                  </a:ext>
                </a:extLst>
              </a:blip>
              <a:stretch>
                <a:fillRect/>
              </a:stretch>
            </p:blipFill>
            <p:spPr>
              <a:xfrm>
                <a:off x="10066135" y="5341229"/>
                <a:ext cx="914400" cy="914400"/>
              </a:xfrm>
              <a:prstGeom prst="rect">
                <a:avLst/>
              </a:prstGeom>
            </p:spPr>
          </p:pic>
          <p:grpSp>
            <p:nvGrpSpPr>
              <p:cNvPr id="107" name="Groupe 106">
                <a:extLst>
                  <a:ext uri="{FF2B5EF4-FFF2-40B4-BE49-F238E27FC236}">
                    <a16:creationId xmlns:a16="http://schemas.microsoft.com/office/drawing/2014/main" id="{C82D6B6E-7B1B-472F-E790-B8617342C493}"/>
                  </a:ext>
                </a:extLst>
              </p:cNvPr>
              <p:cNvGrpSpPr/>
              <p:nvPr/>
            </p:nvGrpSpPr>
            <p:grpSpPr>
              <a:xfrm>
                <a:off x="8632968" y="4529072"/>
                <a:ext cx="1791083" cy="1287429"/>
                <a:chOff x="8274918" y="4478329"/>
                <a:chExt cx="1791083" cy="1287429"/>
              </a:xfrm>
            </p:grpSpPr>
            <p:pic>
              <p:nvPicPr>
                <p:cNvPr id="108" name="Graphique 107" descr="Bâtiment avec un remplissage uni">
                  <a:extLst>
                    <a:ext uri="{FF2B5EF4-FFF2-40B4-BE49-F238E27FC236}">
                      <a16:creationId xmlns:a16="http://schemas.microsoft.com/office/drawing/2014/main" id="{DDE321EC-078C-A262-2494-28448E230FD0}"/>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8725807" y="4753283"/>
                  <a:ext cx="914400" cy="914400"/>
                </a:xfrm>
                <a:prstGeom prst="rect">
                  <a:avLst/>
                </a:prstGeom>
              </p:spPr>
            </p:pic>
            <p:sp>
              <p:nvSpPr>
                <p:cNvPr id="109" name="Flèche : droite 108">
                  <a:extLst>
                    <a:ext uri="{FF2B5EF4-FFF2-40B4-BE49-F238E27FC236}">
                      <a16:creationId xmlns:a16="http://schemas.microsoft.com/office/drawing/2014/main" id="{151EDC7C-38E2-7578-BB02-7F05B25AA566}"/>
                    </a:ext>
                  </a:extLst>
                </p:cNvPr>
                <p:cNvSpPr/>
                <p:nvPr/>
              </p:nvSpPr>
              <p:spPr>
                <a:xfrm rot="19318800">
                  <a:off x="9688254" y="447832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110" name="Flèche : droite 109">
                  <a:extLst>
                    <a:ext uri="{FF2B5EF4-FFF2-40B4-BE49-F238E27FC236}">
                      <a16:creationId xmlns:a16="http://schemas.microsoft.com/office/drawing/2014/main" id="{C655D3A0-ACEC-4A33-A13D-7DD674443B62}"/>
                    </a:ext>
                  </a:extLst>
                </p:cNvPr>
                <p:cNvSpPr/>
                <p:nvPr/>
              </p:nvSpPr>
              <p:spPr>
                <a:xfrm rot="2412443">
                  <a:off x="9689689" y="536291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111" name="Flèche : droite 110">
                  <a:extLst>
                    <a:ext uri="{FF2B5EF4-FFF2-40B4-BE49-F238E27FC236}">
                      <a16:creationId xmlns:a16="http://schemas.microsoft.com/office/drawing/2014/main" id="{CEE2634A-3DD1-3FA9-347E-3BD98162473D}"/>
                    </a:ext>
                  </a:extLst>
                </p:cNvPr>
                <p:cNvSpPr/>
                <p:nvPr/>
              </p:nvSpPr>
              <p:spPr>
                <a:xfrm rot="8279483">
                  <a:off x="8287182" y="5362622"/>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sp>
              <p:nvSpPr>
                <p:cNvPr id="112" name="Flèche : droite 111">
                  <a:extLst>
                    <a:ext uri="{FF2B5EF4-FFF2-40B4-BE49-F238E27FC236}">
                      <a16:creationId xmlns:a16="http://schemas.microsoft.com/office/drawing/2014/main" id="{2C93BDFF-D81D-A0EE-DCF3-93CAEFA2B1E0}"/>
                    </a:ext>
                  </a:extLst>
                </p:cNvPr>
                <p:cNvSpPr/>
                <p:nvPr/>
              </p:nvSpPr>
              <p:spPr>
                <a:xfrm rot="13573193">
                  <a:off x="8288184" y="447896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a:p>
              </p:txBody>
            </p:sp>
          </p:grpSp>
        </p:grpSp>
      </p:grpSp>
      <p:grpSp>
        <p:nvGrpSpPr>
          <p:cNvPr id="113" name="Groupe 112">
            <a:extLst>
              <a:ext uri="{FF2B5EF4-FFF2-40B4-BE49-F238E27FC236}">
                <a16:creationId xmlns:a16="http://schemas.microsoft.com/office/drawing/2014/main" id="{F71530B5-06AA-2BE7-33DA-145B2AA3D07D}"/>
              </a:ext>
            </a:extLst>
          </p:cNvPr>
          <p:cNvGrpSpPr/>
          <p:nvPr/>
        </p:nvGrpSpPr>
        <p:grpSpPr>
          <a:xfrm>
            <a:off x="9367722" y="2177492"/>
            <a:ext cx="932115" cy="910198"/>
            <a:chOff x="8224358" y="3342553"/>
            <a:chExt cx="1188000" cy="1160065"/>
          </a:xfrm>
        </p:grpSpPr>
        <p:sp>
          <p:nvSpPr>
            <p:cNvPr id="114" name="Rectangle 113">
              <a:extLst>
                <a:ext uri="{FF2B5EF4-FFF2-40B4-BE49-F238E27FC236}">
                  <a16:creationId xmlns:a16="http://schemas.microsoft.com/office/drawing/2014/main" id="{E49DB828-7182-398F-41B7-4C7DC74E9BF8}"/>
                </a:ext>
              </a:extLst>
            </p:cNvPr>
            <p:cNvSpPr/>
            <p:nvPr/>
          </p:nvSpPr>
          <p:spPr>
            <a:xfrm>
              <a:off x="8224358" y="3891151"/>
              <a:ext cx="1188000" cy="6114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Vente</a:t>
              </a:r>
            </a:p>
            <a:p>
              <a:pPr algn="ctr"/>
              <a:r>
                <a:rPr lang="fr-FR" sz="900" dirty="0">
                  <a:solidFill>
                    <a:schemeClr val="bg1"/>
                  </a:solidFill>
                </a:rPr>
                <a:t>Développement commercial</a:t>
              </a:r>
            </a:p>
          </p:txBody>
        </p:sp>
        <p:grpSp>
          <p:nvGrpSpPr>
            <p:cNvPr id="115" name="Groupe 114">
              <a:extLst>
                <a:ext uri="{FF2B5EF4-FFF2-40B4-BE49-F238E27FC236}">
                  <a16:creationId xmlns:a16="http://schemas.microsoft.com/office/drawing/2014/main" id="{0A42A15B-2C21-79EC-572B-48914399A84B}"/>
                </a:ext>
              </a:extLst>
            </p:cNvPr>
            <p:cNvGrpSpPr/>
            <p:nvPr/>
          </p:nvGrpSpPr>
          <p:grpSpPr>
            <a:xfrm>
              <a:off x="8256771" y="3342553"/>
              <a:ext cx="1126180" cy="424682"/>
              <a:chOff x="1677224" y="4399902"/>
              <a:chExt cx="3984628" cy="1541940"/>
            </a:xfrm>
          </p:grpSpPr>
          <p:pic>
            <p:nvPicPr>
              <p:cNvPr id="116" name="Graphique 115" descr="Poignée de main avec un remplissage uni">
                <a:extLst>
                  <a:ext uri="{FF2B5EF4-FFF2-40B4-BE49-F238E27FC236}">
                    <a16:creationId xmlns:a16="http://schemas.microsoft.com/office/drawing/2014/main" id="{DF834A8F-EE7A-9295-C535-3D4E114A6225}"/>
                  </a:ext>
                </a:extLst>
              </p:cNvPr>
              <p:cNvPicPr>
                <a:picLocks noChangeAspect="1"/>
              </p:cNvPicPr>
              <p:nvPr/>
            </p:nvPicPr>
            <p:blipFill>
              <a:blip r:embed="rId110">
                <a:extLst>
                  <a:ext uri="{28A0092B-C50C-407E-A947-70E740481C1C}">
                    <a14:useLocalDpi xmlns:a14="http://schemas.microsoft.com/office/drawing/2010/main" val="0"/>
                  </a:ext>
                  <a:ext uri="{96DAC541-7B7A-43D3-8B79-37D633B846F1}">
                    <asvg:svgBlip xmlns:asvg="http://schemas.microsoft.com/office/drawing/2016/SVG/main" r:embed="rId111"/>
                  </a:ext>
                </a:extLst>
              </a:blip>
              <a:stretch>
                <a:fillRect/>
              </a:stretch>
            </p:blipFill>
            <p:spPr>
              <a:xfrm>
                <a:off x="1677224" y="4473520"/>
                <a:ext cx="1394705" cy="1394705"/>
              </a:xfrm>
              <a:prstGeom prst="rect">
                <a:avLst/>
              </a:prstGeom>
            </p:spPr>
          </p:pic>
          <p:pic>
            <p:nvPicPr>
              <p:cNvPr id="117" name="Graphique 116" descr="Contrat avec un remplissage uni">
                <a:extLst>
                  <a:ext uri="{FF2B5EF4-FFF2-40B4-BE49-F238E27FC236}">
                    <a16:creationId xmlns:a16="http://schemas.microsoft.com/office/drawing/2014/main" id="{65783434-DD9A-6620-0E2D-1944FCF31EC4}"/>
                  </a:ext>
                </a:extLst>
              </p:cNvPr>
              <p:cNvPicPr>
                <a:picLocks noChangeAspect="1"/>
              </p:cNvPicPr>
              <p:nvPr/>
            </p:nvPicPr>
            <p:blipFill>
              <a:blip r:embed="rId112">
                <a:extLst>
                  <a:ext uri="{28A0092B-C50C-407E-A947-70E740481C1C}">
                    <a14:useLocalDpi xmlns:a14="http://schemas.microsoft.com/office/drawing/2010/main" val="0"/>
                  </a:ext>
                  <a:ext uri="{96DAC541-7B7A-43D3-8B79-37D633B846F1}">
                    <asvg:svgBlip xmlns:asvg="http://schemas.microsoft.com/office/drawing/2016/SVG/main" r:embed="rId113"/>
                  </a:ext>
                </a:extLst>
              </a:blip>
              <a:stretch>
                <a:fillRect/>
              </a:stretch>
            </p:blipFill>
            <p:spPr>
              <a:xfrm>
                <a:off x="3003278" y="4578031"/>
                <a:ext cx="1185682" cy="1185682"/>
              </a:xfrm>
              <a:prstGeom prst="rect">
                <a:avLst/>
              </a:prstGeom>
            </p:spPr>
          </p:pic>
          <p:pic>
            <p:nvPicPr>
              <p:cNvPr id="118" name="Graphique 117" descr="Tendance à la hausse avec un remplissage uni">
                <a:extLst>
                  <a:ext uri="{FF2B5EF4-FFF2-40B4-BE49-F238E27FC236}">
                    <a16:creationId xmlns:a16="http://schemas.microsoft.com/office/drawing/2014/main" id="{5712010E-62B8-AB4F-80BA-9E173BC545D7}"/>
                  </a:ext>
                </a:extLst>
              </p:cNvPr>
              <p:cNvPicPr>
                <a:picLocks noChangeAspect="1"/>
              </p:cNvPicPr>
              <p:nvPr/>
            </p:nvPicPr>
            <p:blipFill>
              <a:blip r:embed="rId114">
                <a:extLst>
                  <a:ext uri="{28A0092B-C50C-407E-A947-70E740481C1C}">
                    <a14:useLocalDpi xmlns:a14="http://schemas.microsoft.com/office/drawing/2010/main" val="0"/>
                  </a:ext>
                  <a:ext uri="{96DAC541-7B7A-43D3-8B79-37D633B846F1}">
                    <asvg:svgBlip xmlns:asvg="http://schemas.microsoft.com/office/drawing/2016/SVG/main" r:embed="rId115"/>
                  </a:ext>
                </a:extLst>
              </a:blip>
              <a:stretch>
                <a:fillRect/>
              </a:stretch>
            </p:blipFill>
            <p:spPr>
              <a:xfrm>
                <a:off x="4119912" y="4399902"/>
                <a:ext cx="1541940" cy="1541940"/>
              </a:xfrm>
              <a:prstGeom prst="rect">
                <a:avLst/>
              </a:prstGeom>
            </p:spPr>
          </p:pic>
        </p:grpSp>
      </p:grpSp>
      <p:grpSp>
        <p:nvGrpSpPr>
          <p:cNvPr id="119" name="Groupe 118">
            <a:extLst>
              <a:ext uri="{FF2B5EF4-FFF2-40B4-BE49-F238E27FC236}">
                <a16:creationId xmlns:a16="http://schemas.microsoft.com/office/drawing/2014/main" id="{906360DC-93B1-6150-26E7-367B8D765FE8}"/>
              </a:ext>
            </a:extLst>
          </p:cNvPr>
          <p:cNvGrpSpPr/>
          <p:nvPr/>
        </p:nvGrpSpPr>
        <p:grpSpPr>
          <a:xfrm>
            <a:off x="11259883" y="2098530"/>
            <a:ext cx="932117" cy="989160"/>
            <a:chOff x="12377873" y="2362674"/>
            <a:chExt cx="746267" cy="791936"/>
          </a:xfrm>
        </p:grpSpPr>
        <p:sp>
          <p:nvSpPr>
            <p:cNvPr id="120" name="Rectangle 119">
              <a:extLst>
                <a:ext uri="{FF2B5EF4-FFF2-40B4-BE49-F238E27FC236}">
                  <a16:creationId xmlns:a16="http://schemas.microsoft.com/office/drawing/2014/main" id="{271435E9-BCD4-1C3C-1848-09FF8D16E1D9}"/>
                </a:ext>
              </a:extLst>
            </p:cNvPr>
            <p:cNvSpPr/>
            <p:nvPr/>
          </p:nvSpPr>
          <p:spPr>
            <a:xfrm>
              <a:off x="12377873" y="2831967"/>
              <a:ext cx="746267" cy="32264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rPr>
                <a:t>Autres</a:t>
              </a:r>
              <a:endParaRPr lang="fr-FR" sz="900" dirty="0">
                <a:solidFill>
                  <a:schemeClr val="bg1"/>
                </a:solidFill>
              </a:endParaRPr>
            </a:p>
          </p:txBody>
        </p:sp>
        <p:pic>
          <p:nvPicPr>
            <p:cNvPr id="121" name="Graphique 120" descr="Bâtiment avec un remplissage uni">
              <a:extLst>
                <a:ext uri="{FF2B5EF4-FFF2-40B4-BE49-F238E27FC236}">
                  <a16:creationId xmlns:a16="http://schemas.microsoft.com/office/drawing/2014/main" id="{2357CD07-B95B-39F5-3640-7B82F57D2E0C}"/>
                </a:ext>
              </a:extLst>
            </p:cNvPr>
            <p:cNvPicPr>
              <a:picLocks noChangeAspect="1"/>
            </p:cNvPicPr>
            <p:nvPr/>
          </p:nvPicPr>
          <p:blipFill>
            <a:blip r:embed="rId116">
              <a:extLst>
                <a:ext uri="{28A0092B-C50C-407E-A947-70E740481C1C}">
                  <a14:useLocalDpi xmlns:a14="http://schemas.microsoft.com/office/drawing/2010/main" val="0"/>
                </a:ext>
                <a:ext uri="{96DAC541-7B7A-43D3-8B79-37D633B846F1}">
                  <asvg:svgBlip xmlns:asvg="http://schemas.microsoft.com/office/drawing/2016/SVG/main" r:embed="rId117"/>
                </a:ext>
              </a:extLst>
            </a:blip>
            <a:stretch>
              <a:fillRect/>
            </a:stretch>
          </p:blipFill>
          <p:spPr>
            <a:xfrm>
              <a:off x="12564531" y="2362674"/>
              <a:ext cx="372950" cy="372950"/>
            </a:xfrm>
            <a:prstGeom prst="rect">
              <a:avLst/>
            </a:prstGeom>
          </p:spPr>
        </p:pic>
      </p:grpSp>
      <p:sp>
        <p:nvSpPr>
          <p:cNvPr id="124" name="Rectangle 123">
            <a:extLst>
              <a:ext uri="{FF2B5EF4-FFF2-40B4-BE49-F238E27FC236}">
                <a16:creationId xmlns:a16="http://schemas.microsoft.com/office/drawing/2014/main" id="{C392C416-6632-05BC-C714-949F288FB559}"/>
              </a:ext>
            </a:extLst>
          </p:cNvPr>
          <p:cNvSpPr/>
          <p:nvPr/>
        </p:nvSpPr>
        <p:spPr>
          <a:xfrm>
            <a:off x="4074341" y="3105217"/>
            <a:ext cx="861975" cy="195334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⚙️Contrat moral, livrables, Rôles responsabilités et toute autre action rapprochant la Communauté d’un format classique d’équipe</a:t>
            </a:r>
          </a:p>
        </p:txBody>
      </p:sp>
      <p:sp>
        <p:nvSpPr>
          <p:cNvPr id="126" name="Rectangle 125">
            <a:extLst>
              <a:ext uri="{FF2B5EF4-FFF2-40B4-BE49-F238E27FC236}">
                <a16:creationId xmlns:a16="http://schemas.microsoft.com/office/drawing/2014/main" id="{6A833765-3DA0-B38F-D412-CE4D96A1A5CE}"/>
              </a:ext>
            </a:extLst>
          </p:cNvPr>
          <p:cNvSpPr/>
          <p:nvPr/>
        </p:nvSpPr>
        <p:spPr>
          <a:xfrm>
            <a:off x="1023154" y="3114094"/>
            <a:ext cx="978988" cy="108780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📅Organisation d’événements entre membres et non-membres</a:t>
            </a:r>
          </a:p>
        </p:txBody>
      </p:sp>
      <p:sp>
        <p:nvSpPr>
          <p:cNvPr id="129" name="Rectangle 128">
            <a:extLst>
              <a:ext uri="{FF2B5EF4-FFF2-40B4-BE49-F238E27FC236}">
                <a16:creationId xmlns:a16="http://schemas.microsoft.com/office/drawing/2014/main" id="{06F7CA24-7B3D-644D-AFF8-8F118207230C}"/>
              </a:ext>
            </a:extLst>
          </p:cNvPr>
          <p:cNvSpPr/>
          <p:nvPr/>
        </p:nvSpPr>
        <p:spPr>
          <a:xfrm>
            <a:off x="6724376" y="3114096"/>
            <a:ext cx="861975" cy="166209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⚙️Rapports d’activités et propositions de rôles de sponsors décisionnaires (systématiques ou au besoin) aux managers transverses</a:t>
            </a:r>
          </a:p>
        </p:txBody>
      </p:sp>
      <p:sp>
        <p:nvSpPr>
          <p:cNvPr id="134" name="Rectangle 133">
            <a:extLst>
              <a:ext uri="{FF2B5EF4-FFF2-40B4-BE49-F238E27FC236}">
                <a16:creationId xmlns:a16="http://schemas.microsoft.com/office/drawing/2014/main" id="{2A409F37-7010-696F-080E-B150BC04E1C4}"/>
              </a:ext>
            </a:extLst>
          </p:cNvPr>
          <p:cNvSpPr/>
          <p:nvPr/>
        </p:nvSpPr>
        <p:spPr>
          <a:xfrm>
            <a:off x="4958299" y="3114095"/>
            <a:ext cx="873291" cy="166209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
            </a:r>
            <a:r>
              <a:rPr lang="fr-FR" sz="900" dirty="0"/>
              <a:t>✍️</a:t>
            </a:r>
            <a:r>
              <a:rPr lang="fr-FR" sz="900" dirty="0">
                <a:solidFill>
                  <a:schemeClr val="tx1"/>
                </a:solidFill>
              </a:rPr>
              <a:t>Règles de restriction et d’usages de certains outils pour la Communauté, avec clarification des raisons de ces usages (sécurité, coûts, etc.)</a:t>
            </a:r>
          </a:p>
        </p:txBody>
      </p:sp>
      <p:sp>
        <p:nvSpPr>
          <p:cNvPr id="135" name="Rectangle 134">
            <a:extLst>
              <a:ext uri="{FF2B5EF4-FFF2-40B4-BE49-F238E27FC236}">
                <a16:creationId xmlns:a16="http://schemas.microsoft.com/office/drawing/2014/main" id="{5A57079A-7D90-52E5-2281-203649C58767}"/>
              </a:ext>
            </a:extLst>
          </p:cNvPr>
          <p:cNvSpPr/>
          <p:nvPr/>
        </p:nvSpPr>
        <p:spPr>
          <a:xfrm>
            <a:off x="7603120" y="3114096"/>
            <a:ext cx="861975" cy="141595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⚙️Définition et partage au plus tôt des règles sur la propriété intellectuelle de l’information générée par la Communauté </a:t>
            </a:r>
          </a:p>
        </p:txBody>
      </p:sp>
      <p:sp>
        <p:nvSpPr>
          <p:cNvPr id="137" name="Rectangle 136">
            <a:extLst>
              <a:ext uri="{FF2B5EF4-FFF2-40B4-BE49-F238E27FC236}">
                <a16:creationId xmlns:a16="http://schemas.microsoft.com/office/drawing/2014/main" id="{C48E57B5-3742-468A-0D59-2861AB570FF4}"/>
              </a:ext>
            </a:extLst>
          </p:cNvPr>
          <p:cNvSpPr/>
          <p:nvPr/>
        </p:nvSpPr>
        <p:spPr>
          <a:xfrm>
            <a:off x="10324671" y="3104101"/>
            <a:ext cx="923552" cy="141477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⚙️Règles de partage et mise en avant (dans les communications externes) des activités à impact fort de la Communauté</a:t>
            </a:r>
          </a:p>
        </p:txBody>
      </p:sp>
      <p:sp>
        <p:nvSpPr>
          <p:cNvPr id="138" name="Rectangle 137">
            <a:extLst>
              <a:ext uri="{FF2B5EF4-FFF2-40B4-BE49-F238E27FC236}">
                <a16:creationId xmlns:a16="http://schemas.microsoft.com/office/drawing/2014/main" id="{DDA36122-4ED3-8831-1889-8ABA973E20B5}"/>
              </a:ext>
            </a:extLst>
          </p:cNvPr>
          <p:cNvSpPr/>
          <p:nvPr/>
        </p:nvSpPr>
        <p:spPr>
          <a:xfrm>
            <a:off x="3055786" y="3114095"/>
            <a:ext cx="998290" cy="166209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Séances d’idéations collective dédiées carrières, avec présence des responsables carrières</a:t>
            </a:r>
          </a:p>
        </p:txBody>
      </p:sp>
      <p:sp>
        <p:nvSpPr>
          <p:cNvPr id="140" name="Rectangle 139">
            <a:extLst>
              <a:ext uri="{FF2B5EF4-FFF2-40B4-BE49-F238E27FC236}">
                <a16:creationId xmlns:a16="http://schemas.microsoft.com/office/drawing/2014/main" id="{F41B79CA-9FB6-D79E-FE01-BDFF7242156D}"/>
              </a:ext>
            </a:extLst>
          </p:cNvPr>
          <p:cNvSpPr/>
          <p:nvPr/>
        </p:nvSpPr>
        <p:spPr>
          <a:xfrm>
            <a:off x="5856644" y="3109947"/>
            <a:ext cx="850964" cy="77415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⚙️Usage d’un outil unifié pour la gestion des connaissances</a:t>
            </a:r>
          </a:p>
        </p:txBody>
      </p:sp>
      <p:sp>
        <p:nvSpPr>
          <p:cNvPr id="141" name="Rectangle 140">
            <a:extLst>
              <a:ext uri="{FF2B5EF4-FFF2-40B4-BE49-F238E27FC236}">
                <a16:creationId xmlns:a16="http://schemas.microsoft.com/office/drawing/2014/main" id="{E02771F5-50D5-FEA5-B225-AE24359C0264}"/>
              </a:ext>
            </a:extLst>
          </p:cNvPr>
          <p:cNvSpPr/>
          <p:nvPr/>
        </p:nvSpPr>
        <p:spPr>
          <a:xfrm>
            <a:off x="8494090" y="3115282"/>
            <a:ext cx="861975" cy="141477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📅⚙️Présentation et structuration de la Communauté comme étant pilote et porteuse de la Transformation </a:t>
            </a:r>
          </a:p>
        </p:txBody>
      </p:sp>
      <p:sp>
        <p:nvSpPr>
          <p:cNvPr id="142" name="Rectangle 141">
            <a:extLst>
              <a:ext uri="{FF2B5EF4-FFF2-40B4-BE49-F238E27FC236}">
                <a16:creationId xmlns:a16="http://schemas.microsoft.com/office/drawing/2014/main" id="{E6C062EB-E03F-F097-7448-46420D47DB8A}"/>
              </a:ext>
            </a:extLst>
          </p:cNvPr>
          <p:cNvSpPr/>
          <p:nvPr/>
        </p:nvSpPr>
        <p:spPr>
          <a:xfrm>
            <a:off x="9378592" y="3114527"/>
            <a:ext cx="923552" cy="111775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place de règles de confidentialité sur les données échangées avec l’extérieur</a:t>
            </a:r>
          </a:p>
        </p:txBody>
      </p:sp>
      <p:sp>
        <p:nvSpPr>
          <p:cNvPr id="143" name="Rectangle 142">
            <a:extLst>
              <a:ext uri="{FF2B5EF4-FFF2-40B4-BE49-F238E27FC236}">
                <a16:creationId xmlns:a16="http://schemas.microsoft.com/office/drawing/2014/main" id="{FDB32765-6C33-A1C5-3446-B76EA5E1FA16}"/>
              </a:ext>
            </a:extLst>
          </p:cNvPr>
          <p:cNvSpPr/>
          <p:nvPr/>
        </p:nvSpPr>
        <p:spPr>
          <a:xfrm>
            <a:off x="2033783" y="3120512"/>
            <a:ext cx="993111" cy="114537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⚙️Construction de parcours combinant communauté + formation classique via RH</a:t>
            </a:r>
          </a:p>
        </p:txBody>
      </p:sp>
      <p:sp>
        <p:nvSpPr>
          <p:cNvPr id="150" name="Rectangle 149">
            <a:extLst>
              <a:ext uri="{FF2B5EF4-FFF2-40B4-BE49-F238E27FC236}">
                <a16:creationId xmlns:a16="http://schemas.microsoft.com/office/drawing/2014/main" id="{1A50D0C7-F974-66A2-42FF-8F3B38A484DD}"/>
              </a:ext>
            </a:extLst>
          </p:cNvPr>
          <p:cNvSpPr/>
          <p:nvPr/>
        </p:nvSpPr>
        <p:spPr>
          <a:xfrm>
            <a:off x="1023153" y="4232282"/>
            <a:ext cx="972489" cy="146718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⚙️Clarification de conditions d’entrée dans la Communauté et ouverture éventuelle à rejoindre</a:t>
            </a:r>
          </a:p>
        </p:txBody>
      </p:sp>
      <p:sp>
        <p:nvSpPr>
          <p:cNvPr id="151" name="Rectangle 150">
            <a:extLst>
              <a:ext uri="{FF2B5EF4-FFF2-40B4-BE49-F238E27FC236}">
                <a16:creationId xmlns:a16="http://schemas.microsoft.com/office/drawing/2014/main" id="{1E6A87DB-AACC-F052-FE04-E49BAED43EAA}"/>
              </a:ext>
            </a:extLst>
          </p:cNvPr>
          <p:cNvSpPr/>
          <p:nvPr/>
        </p:nvSpPr>
        <p:spPr>
          <a:xfrm>
            <a:off x="2038906" y="4298713"/>
            <a:ext cx="986613" cy="123783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⚙️Centrer les sujets d’apprentissages sur des sujets certifiables et préparer à la certification</a:t>
            </a:r>
          </a:p>
        </p:txBody>
      </p:sp>
      <p:sp>
        <p:nvSpPr>
          <p:cNvPr id="136" name="Rectangle 135">
            <a:extLst>
              <a:ext uri="{FF2B5EF4-FFF2-40B4-BE49-F238E27FC236}">
                <a16:creationId xmlns:a16="http://schemas.microsoft.com/office/drawing/2014/main" id="{598886F5-1F03-0CA4-383A-43D98EDB8D19}"/>
              </a:ext>
            </a:extLst>
          </p:cNvPr>
          <p:cNvSpPr/>
          <p:nvPr/>
        </p:nvSpPr>
        <p:spPr>
          <a:xfrm>
            <a:off x="5856644" y="3906359"/>
            <a:ext cx="850964" cy="13451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⚙️Mise en place de la Communauté directement avec les normes définies par la gestion de connaissances </a:t>
            </a:r>
          </a:p>
        </p:txBody>
      </p:sp>
      <p:sp>
        <p:nvSpPr>
          <p:cNvPr id="139" name="Rectangle 138">
            <a:extLst>
              <a:ext uri="{FF2B5EF4-FFF2-40B4-BE49-F238E27FC236}">
                <a16:creationId xmlns:a16="http://schemas.microsoft.com/office/drawing/2014/main" id="{07E280A4-4520-4DBA-B826-D05E1CCF9A5F}"/>
              </a:ext>
            </a:extLst>
          </p:cNvPr>
          <p:cNvSpPr/>
          <p:nvPr/>
        </p:nvSpPr>
        <p:spPr>
          <a:xfrm>
            <a:off x="8485838" y="4557647"/>
            <a:ext cx="861975" cy="206965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📅Evénements dans la Communauté où des débutants peuvent venir ponctuellement se renseigner ou se former sur la transformation auprès des membres</a:t>
            </a:r>
          </a:p>
        </p:txBody>
      </p:sp>
    </p:spTree>
    <p:extLst>
      <p:ext uri="{BB962C8B-B14F-4D97-AF65-F5344CB8AC3E}">
        <p14:creationId xmlns:p14="http://schemas.microsoft.com/office/powerpoint/2010/main" val="3509494382"/>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C15B105-1058-4280-5DE6-496EFB2DEC89}"/>
              </a:ext>
            </a:extLst>
          </p:cNvPr>
          <p:cNvSpPr>
            <a:spLocks noGrp="1"/>
          </p:cNvSpPr>
          <p:nvPr>
            <p:ph type="title"/>
          </p:nvPr>
        </p:nvSpPr>
        <p:spPr>
          <a:xfrm>
            <a:off x="1581150" y="365125"/>
            <a:ext cx="9772650" cy="995907"/>
          </a:xfrm>
        </p:spPr>
        <p:txBody>
          <a:bodyPr>
            <a:normAutofit/>
          </a:bodyPr>
          <a:lstStyle/>
          <a:p>
            <a:r>
              <a:rPr lang="fr-FR" sz="2800" dirty="0"/>
              <a:t>Les blocages à l’engagement d’un sponsor potentiel</a:t>
            </a:r>
            <a:br>
              <a:rPr lang="fr-FR" sz="2800" dirty="0"/>
            </a:br>
            <a:r>
              <a:rPr lang="fr-FR" sz="2800" dirty="0"/>
              <a:t>Liste d’exemples</a:t>
            </a:r>
          </a:p>
        </p:txBody>
      </p:sp>
      <p:grpSp>
        <p:nvGrpSpPr>
          <p:cNvPr id="12" name="Groupe 11">
            <a:extLst>
              <a:ext uri="{FF2B5EF4-FFF2-40B4-BE49-F238E27FC236}">
                <a16:creationId xmlns:a16="http://schemas.microsoft.com/office/drawing/2014/main" id="{ABF84861-6F59-780F-7D32-F925D2D2C84E}"/>
              </a:ext>
            </a:extLst>
          </p:cNvPr>
          <p:cNvGrpSpPr/>
          <p:nvPr/>
        </p:nvGrpSpPr>
        <p:grpSpPr>
          <a:xfrm>
            <a:off x="223529" y="365125"/>
            <a:ext cx="1255731" cy="995907"/>
            <a:chOff x="5064446" y="1851546"/>
            <a:chExt cx="3517367" cy="2789586"/>
          </a:xfrm>
        </p:grpSpPr>
        <p:pic>
          <p:nvPicPr>
            <p:cNvPr id="13" name="Graphique 12" descr="Employée de bureau avec un remplissage uni">
              <a:extLst>
                <a:ext uri="{FF2B5EF4-FFF2-40B4-BE49-F238E27FC236}">
                  <a16:creationId xmlns:a16="http://schemas.microsoft.com/office/drawing/2014/main" id="{25754455-5EF2-984C-DEED-7C03DC32A0E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45784" y="2079750"/>
              <a:ext cx="2521669" cy="2521669"/>
            </a:xfrm>
            <a:prstGeom prst="rect">
              <a:avLst/>
            </a:prstGeom>
          </p:spPr>
        </p:pic>
        <p:pic>
          <p:nvPicPr>
            <p:cNvPr id="14" name="Graphique 13" descr="Mégaphone avec un remplissage uni">
              <a:extLst>
                <a:ext uri="{FF2B5EF4-FFF2-40B4-BE49-F238E27FC236}">
                  <a16:creationId xmlns:a16="http://schemas.microsoft.com/office/drawing/2014/main" id="{EAC6D142-1934-9C33-F35F-0426E5D75D47}"/>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t="14658"/>
            <a:stretch/>
          </p:blipFill>
          <p:spPr>
            <a:xfrm rot="256443">
              <a:off x="7821274" y="2636665"/>
              <a:ext cx="760539" cy="649056"/>
            </a:xfrm>
            <a:prstGeom prst="rect">
              <a:avLst/>
            </a:prstGeom>
          </p:spPr>
        </p:pic>
        <p:pic>
          <p:nvPicPr>
            <p:cNvPr id="15" name="Graphique 14" descr="Bouclier coche avec un remplissage uni">
              <a:extLst>
                <a:ext uri="{FF2B5EF4-FFF2-40B4-BE49-F238E27FC236}">
                  <a16:creationId xmlns:a16="http://schemas.microsoft.com/office/drawing/2014/main" id="{3857424A-8008-AA2E-B4D4-347219969D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02847" y="3316113"/>
              <a:ext cx="632787" cy="632787"/>
            </a:xfrm>
            <a:prstGeom prst="rect">
              <a:avLst/>
            </a:prstGeom>
          </p:spPr>
        </p:pic>
        <p:pic>
          <p:nvPicPr>
            <p:cNvPr id="16" name="Graphique 15" descr="Tirelire avec un remplissage uni">
              <a:extLst>
                <a:ext uri="{FF2B5EF4-FFF2-40B4-BE49-F238E27FC236}">
                  <a16:creationId xmlns:a16="http://schemas.microsoft.com/office/drawing/2014/main" id="{1A5D8ED5-0A0B-D502-9045-FAF9FFB0B8E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7507152" y="3954810"/>
              <a:ext cx="759628" cy="686322"/>
            </a:xfrm>
            <a:prstGeom prst="rect">
              <a:avLst/>
            </a:prstGeom>
          </p:spPr>
        </p:pic>
        <p:pic>
          <p:nvPicPr>
            <p:cNvPr id="17" name="Graphique 16" descr="Index pointant vers la droite vu du côté du dos de la main avec un remplissage uni">
              <a:extLst>
                <a:ext uri="{FF2B5EF4-FFF2-40B4-BE49-F238E27FC236}">
                  <a16:creationId xmlns:a16="http://schemas.microsoft.com/office/drawing/2014/main" id="{1C5A352D-74AD-A57A-4E2E-6DF7252E7538}"/>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13336"/>
            <a:stretch/>
          </p:blipFill>
          <p:spPr>
            <a:xfrm rot="18229742">
              <a:off x="7462263" y="1907472"/>
              <a:ext cx="838736" cy="726884"/>
            </a:xfrm>
            <a:prstGeom prst="rect">
              <a:avLst/>
            </a:prstGeom>
          </p:spPr>
        </p:pic>
        <p:pic>
          <p:nvPicPr>
            <p:cNvPr id="18" name="Graphique 17" descr="Calendrier journalier avec un remplissage uni">
              <a:extLst>
                <a:ext uri="{FF2B5EF4-FFF2-40B4-BE49-F238E27FC236}">
                  <a16:creationId xmlns:a16="http://schemas.microsoft.com/office/drawing/2014/main" id="{557BDD80-8B45-B023-2F7B-8B98E527CC3E}"/>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266526" y="2469352"/>
              <a:ext cx="491841" cy="491841"/>
            </a:xfrm>
            <a:prstGeom prst="rect">
              <a:avLst/>
            </a:prstGeom>
          </p:spPr>
        </p:pic>
        <p:pic>
          <p:nvPicPr>
            <p:cNvPr id="19" name="Graphique 18" descr="Menottes avec un remplissage uni">
              <a:extLst>
                <a:ext uri="{FF2B5EF4-FFF2-40B4-BE49-F238E27FC236}">
                  <a16:creationId xmlns:a16="http://schemas.microsoft.com/office/drawing/2014/main" id="{22F1E536-83CF-1632-DD0C-E12DB644F81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064446" y="3093895"/>
              <a:ext cx="538611" cy="538611"/>
            </a:xfrm>
            <a:prstGeom prst="rect">
              <a:avLst/>
            </a:prstGeom>
          </p:spPr>
        </p:pic>
        <p:pic>
          <p:nvPicPr>
            <p:cNvPr id="20" name="Graphique 19" descr="Marteau d'officiel avec un remplissage uni">
              <a:extLst>
                <a:ext uri="{FF2B5EF4-FFF2-40B4-BE49-F238E27FC236}">
                  <a16:creationId xmlns:a16="http://schemas.microsoft.com/office/drawing/2014/main" id="{28650201-6D37-26A3-32C2-D4953BD6ECB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126450" y="3854695"/>
              <a:ext cx="538610" cy="499611"/>
            </a:xfrm>
            <a:prstGeom prst="rect">
              <a:avLst/>
            </a:prstGeom>
          </p:spPr>
        </p:pic>
      </p:grpSp>
      <p:sp>
        <p:nvSpPr>
          <p:cNvPr id="26" name="Rectangle 25">
            <a:extLst>
              <a:ext uri="{FF2B5EF4-FFF2-40B4-BE49-F238E27FC236}">
                <a16:creationId xmlns:a16="http://schemas.microsoft.com/office/drawing/2014/main" id="{0FB0D976-46FE-8C1C-EA54-E80EF39C5666}"/>
              </a:ext>
            </a:extLst>
          </p:cNvPr>
          <p:cNvSpPr/>
          <p:nvPr/>
        </p:nvSpPr>
        <p:spPr>
          <a:xfrm>
            <a:off x="305950" y="2844775"/>
            <a:ext cx="986756" cy="105259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🎯Crainte de s’écarter de ses propres intérêts en termes d’évolution ou d’objectifs personnels</a:t>
            </a:r>
          </a:p>
        </p:txBody>
      </p:sp>
      <p:pic>
        <p:nvPicPr>
          <p:cNvPr id="47" name="Image 46">
            <a:extLst>
              <a:ext uri="{FF2B5EF4-FFF2-40B4-BE49-F238E27FC236}">
                <a16:creationId xmlns:a16="http://schemas.microsoft.com/office/drawing/2014/main" id="{0628E1E4-E68D-2B27-56B0-B7B8778C545E}"/>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295673" y="1346854"/>
            <a:ext cx="998001" cy="1409700"/>
          </a:xfrm>
          <a:prstGeom prst="rect">
            <a:avLst/>
          </a:prstGeom>
        </p:spPr>
      </p:pic>
      <p:pic>
        <p:nvPicPr>
          <p:cNvPr id="48" name="Image 47">
            <a:extLst>
              <a:ext uri="{FF2B5EF4-FFF2-40B4-BE49-F238E27FC236}">
                <a16:creationId xmlns:a16="http://schemas.microsoft.com/office/drawing/2014/main" id="{06376EB7-06A4-CB8C-6475-A4DD3DF3023B}"/>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2663993" y="1346854"/>
            <a:ext cx="998001" cy="1409700"/>
          </a:xfrm>
          <a:prstGeom prst="rect">
            <a:avLst/>
          </a:prstGeom>
        </p:spPr>
      </p:pic>
      <p:pic>
        <p:nvPicPr>
          <p:cNvPr id="49" name="Image 48" descr="Une image contenant texte&#10;&#10;Description générée automatiquement">
            <a:extLst>
              <a:ext uri="{FF2B5EF4-FFF2-40B4-BE49-F238E27FC236}">
                <a16:creationId xmlns:a16="http://schemas.microsoft.com/office/drawing/2014/main" id="{E33132A3-876D-A921-8A3B-519F0CA5678A}"/>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6217118" y="1346854"/>
            <a:ext cx="998001" cy="1409700"/>
          </a:xfrm>
          <a:prstGeom prst="rect">
            <a:avLst/>
          </a:prstGeom>
        </p:spPr>
      </p:pic>
      <p:pic>
        <p:nvPicPr>
          <p:cNvPr id="50" name="Image 49">
            <a:extLst>
              <a:ext uri="{FF2B5EF4-FFF2-40B4-BE49-F238E27FC236}">
                <a16:creationId xmlns:a16="http://schemas.microsoft.com/office/drawing/2014/main" id="{835C1130-9BF2-DC6B-2619-A46E04DEEC33}"/>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8585438" y="1346854"/>
            <a:ext cx="998001" cy="1409700"/>
          </a:xfrm>
          <a:prstGeom prst="rect">
            <a:avLst/>
          </a:prstGeom>
        </p:spPr>
      </p:pic>
      <p:pic>
        <p:nvPicPr>
          <p:cNvPr id="51" name="Image 50">
            <a:extLst>
              <a:ext uri="{FF2B5EF4-FFF2-40B4-BE49-F238E27FC236}">
                <a16:creationId xmlns:a16="http://schemas.microsoft.com/office/drawing/2014/main" id="{EB4EEE4E-7D85-4194-3CC5-321B8241140C}"/>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1479833" y="1346854"/>
            <a:ext cx="998001" cy="1409700"/>
          </a:xfrm>
          <a:prstGeom prst="rect">
            <a:avLst/>
          </a:prstGeom>
        </p:spPr>
      </p:pic>
      <p:pic>
        <p:nvPicPr>
          <p:cNvPr id="52" name="Image 51">
            <a:extLst>
              <a:ext uri="{FF2B5EF4-FFF2-40B4-BE49-F238E27FC236}">
                <a16:creationId xmlns:a16="http://schemas.microsoft.com/office/drawing/2014/main" id="{2827F177-1762-5A89-DE9A-502B4BD7F0FB}"/>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3848153" y="1346854"/>
            <a:ext cx="998001" cy="1409700"/>
          </a:xfrm>
          <a:prstGeom prst="rect">
            <a:avLst/>
          </a:prstGeom>
        </p:spPr>
      </p:pic>
      <p:pic>
        <p:nvPicPr>
          <p:cNvPr id="53" name="Image 52" descr="Une image contenant texte&#10;&#10;Description générée automatiquement">
            <a:extLst>
              <a:ext uri="{FF2B5EF4-FFF2-40B4-BE49-F238E27FC236}">
                <a16:creationId xmlns:a16="http://schemas.microsoft.com/office/drawing/2014/main" id="{77AB5529-1B1A-2DF0-2841-5C1B8193CEE8}"/>
              </a:ext>
            </a:extLst>
          </p:cNvPr>
          <p:cNvPicPr>
            <a:picLocks noChangeAspect="1"/>
          </p:cNvPicPr>
          <p:nvPr/>
        </p:nvPicPr>
        <p:blipFill>
          <a:blip r:embed="rId24">
            <a:extLst>
              <a:ext uri="{28A0092B-C50C-407E-A947-70E740481C1C}">
                <a14:useLocalDpi xmlns:a14="http://schemas.microsoft.com/office/drawing/2010/main" val="0"/>
              </a:ext>
            </a:extLst>
          </a:blip>
          <a:stretch>
            <a:fillRect/>
          </a:stretch>
        </p:blipFill>
        <p:spPr>
          <a:xfrm>
            <a:off x="7401278" y="1346854"/>
            <a:ext cx="998001" cy="1409700"/>
          </a:xfrm>
          <a:prstGeom prst="rect">
            <a:avLst/>
          </a:prstGeom>
        </p:spPr>
      </p:pic>
      <p:pic>
        <p:nvPicPr>
          <p:cNvPr id="54" name="Image 53" descr="Une image contenant texte&#10;&#10;Description générée automatiquement">
            <a:extLst>
              <a:ext uri="{FF2B5EF4-FFF2-40B4-BE49-F238E27FC236}">
                <a16:creationId xmlns:a16="http://schemas.microsoft.com/office/drawing/2014/main" id="{C572C234-7297-0E37-42A2-03BE8CAE520E}"/>
              </a:ext>
            </a:extLst>
          </p:cNvPr>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9769599" y="1346854"/>
            <a:ext cx="998001" cy="1409700"/>
          </a:xfrm>
          <a:prstGeom prst="rect">
            <a:avLst/>
          </a:prstGeom>
        </p:spPr>
      </p:pic>
      <p:sp>
        <p:nvSpPr>
          <p:cNvPr id="55" name="Rectangle 54">
            <a:extLst>
              <a:ext uri="{FF2B5EF4-FFF2-40B4-BE49-F238E27FC236}">
                <a16:creationId xmlns:a16="http://schemas.microsoft.com/office/drawing/2014/main" id="{98B8B59D-028A-9B94-2530-6AB88A97EFCE}"/>
              </a:ext>
            </a:extLst>
          </p:cNvPr>
          <p:cNvSpPr/>
          <p:nvPr/>
        </p:nvSpPr>
        <p:spPr>
          <a:xfrm>
            <a:off x="11025070" y="1433127"/>
            <a:ext cx="890251" cy="1261537"/>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pic>
        <p:nvPicPr>
          <p:cNvPr id="61" name="Image 60" descr="Une image contenant texte&#10;&#10;Description générée automatiquement">
            <a:extLst>
              <a:ext uri="{FF2B5EF4-FFF2-40B4-BE49-F238E27FC236}">
                <a16:creationId xmlns:a16="http://schemas.microsoft.com/office/drawing/2014/main" id="{BE3864C3-55BB-8BF5-BE3F-0C899EFAC1A4}"/>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5032313" y="1346854"/>
            <a:ext cx="998646" cy="1397013"/>
          </a:xfrm>
          <a:prstGeom prst="rect">
            <a:avLst/>
          </a:prstGeom>
        </p:spPr>
      </p:pic>
      <p:sp>
        <p:nvSpPr>
          <p:cNvPr id="23" name="Rectangle 22">
            <a:extLst>
              <a:ext uri="{FF2B5EF4-FFF2-40B4-BE49-F238E27FC236}">
                <a16:creationId xmlns:a16="http://schemas.microsoft.com/office/drawing/2014/main" id="{9D331114-36B3-461A-E4E8-FD7E6B04D24D}"/>
              </a:ext>
            </a:extLst>
          </p:cNvPr>
          <p:cNvSpPr/>
          <p:nvPr/>
        </p:nvSpPr>
        <p:spPr>
          <a:xfrm>
            <a:off x="6217118" y="2831537"/>
            <a:ext cx="998001" cy="1121778"/>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Questionnement sur sa propre utilité lors de la prise d’autonomie d’une Communauté</a:t>
            </a:r>
          </a:p>
        </p:txBody>
      </p:sp>
      <p:sp>
        <p:nvSpPr>
          <p:cNvPr id="24" name="Rectangle 23">
            <a:extLst>
              <a:ext uri="{FF2B5EF4-FFF2-40B4-BE49-F238E27FC236}">
                <a16:creationId xmlns:a16="http://schemas.microsoft.com/office/drawing/2014/main" id="{4F825594-C42A-3B4A-0960-4E69138D706D}"/>
              </a:ext>
            </a:extLst>
          </p:cNvPr>
          <p:cNvSpPr/>
          <p:nvPr/>
        </p:nvSpPr>
        <p:spPr>
          <a:xfrm>
            <a:off x="5032313" y="2819146"/>
            <a:ext cx="998646" cy="976076"/>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Crainte d’échecs à assumer en cas de mauvaise performance ou dérives de la Communauté</a:t>
            </a:r>
          </a:p>
        </p:txBody>
      </p:sp>
      <p:sp>
        <p:nvSpPr>
          <p:cNvPr id="25" name="Rectangle 24">
            <a:extLst>
              <a:ext uri="{FF2B5EF4-FFF2-40B4-BE49-F238E27FC236}">
                <a16:creationId xmlns:a16="http://schemas.microsoft.com/office/drawing/2014/main" id="{DF3A3113-9266-555A-9C9A-0E9C8D9C8AC8}"/>
              </a:ext>
            </a:extLst>
          </p:cNvPr>
          <p:cNvSpPr/>
          <p:nvPr/>
        </p:nvSpPr>
        <p:spPr>
          <a:xfrm>
            <a:off x="1480636" y="2831536"/>
            <a:ext cx="998646" cy="990853"/>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🤴Crainte de perte de pouvoir ou de statut, et de la reconnaissance associée auprès des membres</a:t>
            </a:r>
          </a:p>
        </p:txBody>
      </p:sp>
      <p:sp>
        <p:nvSpPr>
          <p:cNvPr id="27" name="Rectangle 26">
            <a:extLst>
              <a:ext uri="{FF2B5EF4-FFF2-40B4-BE49-F238E27FC236}">
                <a16:creationId xmlns:a16="http://schemas.microsoft.com/office/drawing/2014/main" id="{D0E9DB82-28D6-EBD4-8F37-236B7CB7DEAE}"/>
              </a:ext>
            </a:extLst>
          </p:cNvPr>
          <p:cNvSpPr/>
          <p:nvPr/>
        </p:nvSpPr>
        <p:spPr>
          <a:xfrm>
            <a:off x="3847508" y="2831537"/>
            <a:ext cx="998646" cy="976076"/>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😱Anticipation de la perte de lien direct avec les membres par « court-circuit » via la Communauté</a:t>
            </a:r>
          </a:p>
        </p:txBody>
      </p:sp>
      <p:sp>
        <p:nvSpPr>
          <p:cNvPr id="28" name="Rectangle 27">
            <a:extLst>
              <a:ext uri="{FF2B5EF4-FFF2-40B4-BE49-F238E27FC236}">
                <a16:creationId xmlns:a16="http://schemas.microsoft.com/office/drawing/2014/main" id="{187E04B1-8CC0-F7BF-E3F3-04831F321A7F}"/>
              </a:ext>
            </a:extLst>
          </p:cNvPr>
          <p:cNvSpPr/>
          <p:nvPr/>
        </p:nvSpPr>
        <p:spPr>
          <a:xfrm>
            <a:off x="3847508" y="3882596"/>
            <a:ext cx="998646" cy="113165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😱Anticipation de la perte de lien direct avec des non-membres par « court-circuit » par la Communauté</a:t>
            </a:r>
          </a:p>
        </p:txBody>
      </p:sp>
      <p:sp>
        <p:nvSpPr>
          <p:cNvPr id="29" name="Rectangle 28">
            <a:extLst>
              <a:ext uri="{FF2B5EF4-FFF2-40B4-BE49-F238E27FC236}">
                <a16:creationId xmlns:a16="http://schemas.microsoft.com/office/drawing/2014/main" id="{1BEB9B2B-9621-142A-9B0F-8AAD54B622AE}"/>
              </a:ext>
            </a:extLst>
          </p:cNvPr>
          <p:cNvSpPr/>
          <p:nvPr/>
        </p:nvSpPr>
        <p:spPr>
          <a:xfrm>
            <a:off x="2663670" y="2831537"/>
            <a:ext cx="998646" cy="99085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🏋️Refus de la charge cognitive, relationnelle, ou de travail éventuelle lié au soutien d’une Communauté</a:t>
            </a:r>
          </a:p>
        </p:txBody>
      </p:sp>
      <p:sp>
        <p:nvSpPr>
          <p:cNvPr id="30" name="Rectangle 29">
            <a:extLst>
              <a:ext uri="{FF2B5EF4-FFF2-40B4-BE49-F238E27FC236}">
                <a16:creationId xmlns:a16="http://schemas.microsoft.com/office/drawing/2014/main" id="{2E17BE32-5BC6-3AA6-7840-BBB85CAEA1E6}"/>
              </a:ext>
            </a:extLst>
          </p:cNvPr>
          <p:cNvSpPr/>
          <p:nvPr/>
        </p:nvSpPr>
        <p:spPr>
          <a:xfrm>
            <a:off x="1478543" y="3905679"/>
            <a:ext cx="998646" cy="10252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🤔Méconnaissance du sujet ou du format de la Communauté et crainte d’exposer cette méconnaissance</a:t>
            </a:r>
          </a:p>
        </p:txBody>
      </p:sp>
      <p:sp>
        <p:nvSpPr>
          <p:cNvPr id="31" name="Rectangle 30">
            <a:extLst>
              <a:ext uri="{FF2B5EF4-FFF2-40B4-BE49-F238E27FC236}">
                <a16:creationId xmlns:a16="http://schemas.microsoft.com/office/drawing/2014/main" id="{76888011-DCF0-EB40-ECCC-1C94F37D3978}"/>
              </a:ext>
            </a:extLst>
          </p:cNvPr>
          <p:cNvSpPr/>
          <p:nvPr/>
        </p:nvSpPr>
        <p:spPr>
          <a:xfrm>
            <a:off x="2671356" y="3897374"/>
            <a:ext cx="998646" cy="1121777"/>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❔Méconnaissance du sujet ou du format de la Communauté et appréhension de la difficulté à entrer dans le sujet</a:t>
            </a:r>
          </a:p>
        </p:txBody>
      </p:sp>
      <p:sp>
        <p:nvSpPr>
          <p:cNvPr id="32" name="Rectangle 31">
            <a:extLst>
              <a:ext uri="{FF2B5EF4-FFF2-40B4-BE49-F238E27FC236}">
                <a16:creationId xmlns:a16="http://schemas.microsoft.com/office/drawing/2014/main" id="{704E676A-8E60-3B18-955A-FDC336A106B9}"/>
              </a:ext>
            </a:extLst>
          </p:cNvPr>
          <p:cNvSpPr/>
          <p:nvPr/>
        </p:nvSpPr>
        <p:spPr>
          <a:xfrm>
            <a:off x="7401278" y="2831537"/>
            <a:ext cx="998001" cy="1154056"/>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😞Rôle proposé différent du rôle attendu (rôle attendu plus aligné avec objectifs de réalisation de soi)</a:t>
            </a:r>
          </a:p>
        </p:txBody>
      </p:sp>
      <p:sp>
        <p:nvSpPr>
          <p:cNvPr id="33" name="Rectangle 32">
            <a:extLst>
              <a:ext uri="{FF2B5EF4-FFF2-40B4-BE49-F238E27FC236}">
                <a16:creationId xmlns:a16="http://schemas.microsoft.com/office/drawing/2014/main" id="{7BF361CF-76E4-E215-D89F-591C651587E8}"/>
              </a:ext>
            </a:extLst>
          </p:cNvPr>
          <p:cNvSpPr/>
          <p:nvPr/>
        </p:nvSpPr>
        <p:spPr>
          <a:xfrm>
            <a:off x="5032313" y="3836682"/>
            <a:ext cx="998646" cy="120492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Considération d’autres formats (qu’un format Communauté) comme étant plus efficaces pour servir les mêmes buts</a:t>
            </a:r>
          </a:p>
        </p:txBody>
      </p:sp>
      <p:sp>
        <p:nvSpPr>
          <p:cNvPr id="34" name="Rectangle 33">
            <a:extLst>
              <a:ext uri="{FF2B5EF4-FFF2-40B4-BE49-F238E27FC236}">
                <a16:creationId xmlns:a16="http://schemas.microsoft.com/office/drawing/2014/main" id="{A6A008E2-4B2F-47C5-0366-F87C1EFD6099}"/>
              </a:ext>
            </a:extLst>
          </p:cNvPr>
          <p:cNvSpPr/>
          <p:nvPr/>
        </p:nvSpPr>
        <p:spPr>
          <a:xfrm>
            <a:off x="5032313" y="5102663"/>
            <a:ext cx="998646" cy="73175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❕Autres sujets à traiter considérés comme prioritaires</a:t>
            </a:r>
          </a:p>
        </p:txBody>
      </p:sp>
      <p:sp>
        <p:nvSpPr>
          <p:cNvPr id="35" name="Rectangle 34">
            <a:extLst>
              <a:ext uri="{FF2B5EF4-FFF2-40B4-BE49-F238E27FC236}">
                <a16:creationId xmlns:a16="http://schemas.microsoft.com/office/drawing/2014/main" id="{93D096B9-A6C7-76BB-64A0-1073C07721CB}"/>
              </a:ext>
            </a:extLst>
          </p:cNvPr>
          <p:cNvSpPr/>
          <p:nvPr/>
        </p:nvSpPr>
        <p:spPr>
          <a:xfrm>
            <a:off x="8583990" y="2831536"/>
            <a:ext cx="998646" cy="1154056"/>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Considération de l’activité Communautaire comme étant un nouveau cadre à gérer, retirant alors de la liberté</a:t>
            </a:r>
          </a:p>
        </p:txBody>
      </p:sp>
      <p:sp>
        <p:nvSpPr>
          <p:cNvPr id="36" name="Rectangle 35">
            <a:extLst>
              <a:ext uri="{FF2B5EF4-FFF2-40B4-BE49-F238E27FC236}">
                <a16:creationId xmlns:a16="http://schemas.microsoft.com/office/drawing/2014/main" id="{E7E88D8C-7A29-005F-745C-5E865AAD7FD7}"/>
              </a:ext>
            </a:extLst>
          </p:cNvPr>
          <p:cNvSpPr/>
          <p:nvPr/>
        </p:nvSpPr>
        <p:spPr>
          <a:xfrm>
            <a:off x="8583990" y="4051673"/>
            <a:ext cx="998646" cy="106433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Considération que le format de la Communauté retire du pouvoir de décision et des libertés</a:t>
            </a:r>
          </a:p>
        </p:txBody>
      </p:sp>
      <p:sp>
        <p:nvSpPr>
          <p:cNvPr id="37" name="Rectangle 36">
            <a:extLst>
              <a:ext uri="{FF2B5EF4-FFF2-40B4-BE49-F238E27FC236}">
                <a16:creationId xmlns:a16="http://schemas.microsoft.com/office/drawing/2014/main" id="{ECEDD698-44CD-9052-AAAC-7F31BB25CEC5}"/>
              </a:ext>
            </a:extLst>
          </p:cNvPr>
          <p:cNvSpPr/>
          <p:nvPr/>
        </p:nvSpPr>
        <p:spPr>
          <a:xfrm>
            <a:off x="6215670" y="4028298"/>
            <a:ext cx="998001" cy="1121778"/>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🦾Crainte d’être remplacé par la Communauté sur des fonctions sur lesquelles on a construit sa carrière ou ses compétences</a:t>
            </a:r>
          </a:p>
        </p:txBody>
      </p:sp>
      <p:sp>
        <p:nvSpPr>
          <p:cNvPr id="38" name="Rectangle 37">
            <a:extLst>
              <a:ext uri="{FF2B5EF4-FFF2-40B4-BE49-F238E27FC236}">
                <a16:creationId xmlns:a16="http://schemas.microsoft.com/office/drawing/2014/main" id="{BA6338C1-747B-AC2A-E42A-773A668F3C50}"/>
              </a:ext>
            </a:extLst>
          </p:cNvPr>
          <p:cNvSpPr/>
          <p:nvPr/>
        </p:nvSpPr>
        <p:spPr>
          <a:xfrm>
            <a:off x="3847508" y="5051129"/>
            <a:ext cx="998646" cy="64045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⚔️Mauvaises relations existantes avec des leaders de la Communauté</a:t>
            </a:r>
          </a:p>
        </p:txBody>
      </p:sp>
      <p:sp>
        <p:nvSpPr>
          <p:cNvPr id="39" name="Rectangle 38">
            <a:extLst>
              <a:ext uri="{FF2B5EF4-FFF2-40B4-BE49-F238E27FC236}">
                <a16:creationId xmlns:a16="http://schemas.microsoft.com/office/drawing/2014/main" id="{DC417CF0-F360-B957-70FC-0C6CA3729CB6}"/>
              </a:ext>
            </a:extLst>
          </p:cNvPr>
          <p:cNvSpPr/>
          <p:nvPr/>
        </p:nvSpPr>
        <p:spPr>
          <a:xfrm>
            <a:off x="3841593" y="5729681"/>
            <a:ext cx="998646" cy="1108286"/>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😕Difficulté à imaginer ou accepter des motivateurs différents des siens chez les membres de la Communauté </a:t>
            </a:r>
          </a:p>
        </p:txBody>
      </p:sp>
      <p:sp>
        <p:nvSpPr>
          <p:cNvPr id="40" name="Rectangle 39">
            <a:extLst>
              <a:ext uri="{FF2B5EF4-FFF2-40B4-BE49-F238E27FC236}">
                <a16:creationId xmlns:a16="http://schemas.microsoft.com/office/drawing/2014/main" id="{0377D393-C5D6-43ED-486B-8A5EFD6DF492}"/>
              </a:ext>
            </a:extLst>
          </p:cNvPr>
          <p:cNvSpPr/>
          <p:nvPr/>
        </p:nvSpPr>
        <p:spPr>
          <a:xfrm>
            <a:off x="6215670" y="5219317"/>
            <a:ext cx="998001" cy="1273558"/>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🌍Considération de la Communauté comme étant surtout du divertissement et remise en question du sens profond</a:t>
            </a:r>
          </a:p>
        </p:txBody>
      </p:sp>
      <p:sp>
        <p:nvSpPr>
          <p:cNvPr id="41" name="Rectangle 40">
            <a:extLst>
              <a:ext uri="{FF2B5EF4-FFF2-40B4-BE49-F238E27FC236}">
                <a16:creationId xmlns:a16="http://schemas.microsoft.com/office/drawing/2014/main" id="{1C4B58D0-09E3-C390-4284-2D5BB61748F0}"/>
              </a:ext>
            </a:extLst>
          </p:cNvPr>
          <p:cNvSpPr/>
          <p:nvPr/>
        </p:nvSpPr>
        <p:spPr>
          <a:xfrm>
            <a:off x="5032958" y="5887485"/>
            <a:ext cx="998001" cy="942495"/>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Considération de la Communauté comme du divertissement détournant des obligations</a:t>
            </a:r>
          </a:p>
        </p:txBody>
      </p:sp>
      <p:sp>
        <p:nvSpPr>
          <p:cNvPr id="42" name="Rectangle 41">
            <a:extLst>
              <a:ext uri="{FF2B5EF4-FFF2-40B4-BE49-F238E27FC236}">
                <a16:creationId xmlns:a16="http://schemas.microsoft.com/office/drawing/2014/main" id="{B30880EA-1303-DD0D-24A0-27F4D08D4AC4}"/>
              </a:ext>
            </a:extLst>
          </p:cNvPr>
          <p:cNvSpPr/>
          <p:nvPr/>
        </p:nvSpPr>
        <p:spPr>
          <a:xfrm>
            <a:off x="1487518" y="5014246"/>
            <a:ext cx="998001" cy="99085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😒Rôle proposé ne fournissant pas la forme ou le niveau de reconnaissance attendu pour un soutien</a:t>
            </a:r>
          </a:p>
        </p:txBody>
      </p:sp>
      <p:sp>
        <p:nvSpPr>
          <p:cNvPr id="43" name="Rectangle 42">
            <a:extLst>
              <a:ext uri="{FF2B5EF4-FFF2-40B4-BE49-F238E27FC236}">
                <a16:creationId xmlns:a16="http://schemas.microsoft.com/office/drawing/2014/main" id="{3D2590B9-4903-6DBC-DAD5-0991C0405654}"/>
              </a:ext>
            </a:extLst>
          </p:cNvPr>
          <p:cNvSpPr/>
          <p:nvPr/>
        </p:nvSpPr>
        <p:spPr>
          <a:xfrm>
            <a:off x="314281" y="3985593"/>
            <a:ext cx="986756" cy="1366583"/>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⬆️Crainte d’impact sur la mobilité professionnelle (par exemple hiérarchique) par l’association à la Communauté</a:t>
            </a:r>
          </a:p>
        </p:txBody>
      </p:sp>
      <p:sp>
        <p:nvSpPr>
          <p:cNvPr id="44" name="Rectangle 43">
            <a:extLst>
              <a:ext uri="{FF2B5EF4-FFF2-40B4-BE49-F238E27FC236}">
                <a16:creationId xmlns:a16="http://schemas.microsoft.com/office/drawing/2014/main" id="{1DD6FBC2-6ED5-5925-209E-7EE73F91F5CB}"/>
              </a:ext>
            </a:extLst>
          </p:cNvPr>
          <p:cNvSpPr/>
          <p:nvPr/>
        </p:nvSpPr>
        <p:spPr>
          <a:xfrm>
            <a:off x="1479188" y="6088390"/>
            <a:ext cx="998001" cy="752744"/>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🤡Crainte des répercussions d’image en cas de soutien de la Communauté</a:t>
            </a:r>
          </a:p>
        </p:txBody>
      </p:sp>
      <p:sp>
        <p:nvSpPr>
          <p:cNvPr id="45" name="Rectangle 44">
            <a:extLst>
              <a:ext uri="{FF2B5EF4-FFF2-40B4-BE49-F238E27FC236}">
                <a16:creationId xmlns:a16="http://schemas.microsoft.com/office/drawing/2014/main" id="{C42BB439-60A1-2324-B42B-7C838122977A}"/>
              </a:ext>
            </a:extLst>
          </p:cNvPr>
          <p:cNvSpPr/>
          <p:nvPr/>
        </p:nvSpPr>
        <p:spPr>
          <a:xfrm>
            <a:off x="7401278" y="4079724"/>
            <a:ext cx="998001" cy="127245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🥱Impression de déjà fait ou déjà vu réduisant l’intérêt en termes de réalisation de soi par le soutien d’une Communauté</a:t>
            </a:r>
          </a:p>
        </p:txBody>
      </p:sp>
      <p:sp>
        <p:nvSpPr>
          <p:cNvPr id="46" name="Rectangle 45">
            <a:extLst>
              <a:ext uri="{FF2B5EF4-FFF2-40B4-BE49-F238E27FC236}">
                <a16:creationId xmlns:a16="http://schemas.microsoft.com/office/drawing/2014/main" id="{CDFFD62B-6E78-AE3C-B461-13991390B351}"/>
              </a:ext>
            </a:extLst>
          </p:cNvPr>
          <p:cNvSpPr/>
          <p:nvPr/>
        </p:nvSpPr>
        <p:spPr>
          <a:xfrm>
            <a:off x="9769599" y="2831535"/>
            <a:ext cx="998001" cy="1269911"/>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🤐Crainte que la pensée de groupe d’une Communauté réduise la liberté d’expression et le jugement individuels</a:t>
            </a:r>
          </a:p>
        </p:txBody>
      </p:sp>
      <p:sp>
        <p:nvSpPr>
          <p:cNvPr id="56" name="Rectangle 55">
            <a:extLst>
              <a:ext uri="{FF2B5EF4-FFF2-40B4-BE49-F238E27FC236}">
                <a16:creationId xmlns:a16="http://schemas.microsoft.com/office/drawing/2014/main" id="{7DFA43CC-288C-19E8-D294-B29A2B356CF5}"/>
              </a:ext>
            </a:extLst>
          </p:cNvPr>
          <p:cNvSpPr/>
          <p:nvPr/>
        </p:nvSpPr>
        <p:spPr>
          <a:xfrm>
            <a:off x="9769599" y="4192435"/>
            <a:ext cx="998001" cy="1159741"/>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😶Crainte que l’effet collégial d’une Communauté réduise les possibilités d’exprimer sa propre créativité</a:t>
            </a:r>
          </a:p>
        </p:txBody>
      </p:sp>
      <p:sp>
        <p:nvSpPr>
          <p:cNvPr id="58" name="Rectangle 57">
            <a:extLst>
              <a:ext uri="{FF2B5EF4-FFF2-40B4-BE49-F238E27FC236}">
                <a16:creationId xmlns:a16="http://schemas.microsoft.com/office/drawing/2014/main" id="{79D95466-9507-024C-8BBA-32D84DF5012C}"/>
              </a:ext>
            </a:extLst>
          </p:cNvPr>
          <p:cNvSpPr/>
          <p:nvPr/>
        </p:nvSpPr>
        <p:spPr>
          <a:xfrm>
            <a:off x="2677593" y="5116012"/>
            <a:ext cx="998646" cy="1242721"/>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🥱Considération des activités communautaires comme étant ni intéressantes, ni stimulantes, ni apaisantes pour quelqu’un dans sa position</a:t>
            </a:r>
          </a:p>
        </p:txBody>
      </p:sp>
      <p:sp>
        <p:nvSpPr>
          <p:cNvPr id="59" name="Rectangle 58">
            <a:extLst>
              <a:ext uri="{FF2B5EF4-FFF2-40B4-BE49-F238E27FC236}">
                <a16:creationId xmlns:a16="http://schemas.microsoft.com/office/drawing/2014/main" id="{07B5E66F-03FA-BAD6-E23A-9A7C72782238}"/>
              </a:ext>
            </a:extLst>
          </p:cNvPr>
          <p:cNvSpPr/>
          <p:nvPr/>
        </p:nvSpPr>
        <p:spPr>
          <a:xfrm>
            <a:off x="10971196" y="2842747"/>
            <a:ext cx="998001" cy="83163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📧Sollicitation pas vue ou diluée dans une très grande masse d’information</a:t>
            </a:r>
          </a:p>
        </p:txBody>
      </p:sp>
      <p:sp>
        <p:nvSpPr>
          <p:cNvPr id="60" name="Rectangle 59">
            <a:extLst>
              <a:ext uri="{FF2B5EF4-FFF2-40B4-BE49-F238E27FC236}">
                <a16:creationId xmlns:a16="http://schemas.microsoft.com/office/drawing/2014/main" id="{C639484A-BF25-CC87-6D46-D08341243DD7}"/>
              </a:ext>
            </a:extLst>
          </p:cNvPr>
          <p:cNvSpPr/>
          <p:nvPr/>
        </p:nvSpPr>
        <p:spPr>
          <a:xfrm>
            <a:off x="10971196" y="3752210"/>
            <a:ext cx="998001" cy="895292"/>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📅Malgré une très grande motivation, manque  exceptionnel de disponibilité</a:t>
            </a:r>
          </a:p>
        </p:txBody>
      </p:sp>
      <p:sp>
        <p:nvSpPr>
          <p:cNvPr id="62" name="Rectangle 61">
            <a:extLst>
              <a:ext uri="{FF2B5EF4-FFF2-40B4-BE49-F238E27FC236}">
                <a16:creationId xmlns:a16="http://schemas.microsoft.com/office/drawing/2014/main" id="{3D27C3C0-B3C2-35E7-89E1-A38C22541ECC}"/>
              </a:ext>
            </a:extLst>
          </p:cNvPr>
          <p:cNvSpPr/>
          <p:nvPr/>
        </p:nvSpPr>
        <p:spPr>
          <a:xfrm>
            <a:off x="10971196" y="4725333"/>
            <a:ext cx="998001" cy="1109080"/>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🚷Effet de saturation : manque de place pour des sponsors supplémentaires dans un rôle donné</a:t>
            </a:r>
          </a:p>
        </p:txBody>
      </p:sp>
    </p:spTree>
    <p:extLst>
      <p:ext uri="{BB962C8B-B14F-4D97-AF65-F5344CB8AC3E}">
        <p14:creationId xmlns:p14="http://schemas.microsoft.com/office/powerpoint/2010/main" val="206511309"/>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1216616" y="365125"/>
            <a:ext cx="10137183" cy="1325563"/>
          </a:xfrm>
        </p:spPr>
        <p:txBody>
          <a:bodyPr>
            <a:noAutofit/>
          </a:bodyPr>
          <a:lstStyle/>
          <a:p>
            <a:r>
              <a:rPr lang="fr-FR" sz="3200" dirty="0"/>
              <a:t>Les réponses aux blocages de sponsors – Liste d’exemples</a:t>
            </a:r>
            <a:br>
              <a:rPr lang="fr-FR" sz="3200" dirty="0"/>
            </a:br>
            <a:r>
              <a:rPr lang="fr-FR" sz="1600" dirty="0"/>
              <a:t>📅Evènements  , ✍️Contenus, ⚙️Structuration de Communauté</a:t>
            </a:r>
            <a:endParaRPr lang="fr-FR" sz="3200" dirty="0"/>
          </a:p>
        </p:txBody>
      </p:sp>
      <p:pic>
        <p:nvPicPr>
          <p:cNvPr id="25" name="Image 24">
            <a:extLst>
              <a:ext uri="{FF2B5EF4-FFF2-40B4-BE49-F238E27FC236}">
                <a16:creationId xmlns:a16="http://schemas.microsoft.com/office/drawing/2014/main" id="{606255BE-23A7-ADAF-2326-89C7A7C1166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1104" y="1695766"/>
            <a:ext cx="1120155" cy="1582246"/>
          </a:xfrm>
          <a:prstGeom prst="rect">
            <a:avLst/>
          </a:prstGeom>
        </p:spPr>
      </p:pic>
      <p:pic>
        <p:nvPicPr>
          <p:cNvPr id="27" name="Image 26">
            <a:extLst>
              <a:ext uri="{FF2B5EF4-FFF2-40B4-BE49-F238E27FC236}">
                <a16:creationId xmlns:a16="http://schemas.microsoft.com/office/drawing/2014/main" id="{BF0668E5-1F29-C6FB-93FA-4659CD0F7B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19950" y="1695766"/>
            <a:ext cx="1120155" cy="1582246"/>
          </a:xfrm>
          <a:prstGeom prst="rect">
            <a:avLst/>
          </a:prstGeom>
        </p:spPr>
      </p:pic>
      <p:pic>
        <p:nvPicPr>
          <p:cNvPr id="28" name="Image 27" descr="Une image contenant texte&#10;&#10;Description générée automatiquement">
            <a:extLst>
              <a:ext uri="{FF2B5EF4-FFF2-40B4-BE49-F238E27FC236}">
                <a16:creationId xmlns:a16="http://schemas.microsoft.com/office/drawing/2014/main" id="{C52BFFBF-1047-476C-6469-7AF91D6DBF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73894" y="1695766"/>
            <a:ext cx="1120155" cy="1582246"/>
          </a:xfrm>
          <a:prstGeom prst="rect">
            <a:avLst/>
          </a:prstGeom>
        </p:spPr>
      </p:pic>
      <p:pic>
        <p:nvPicPr>
          <p:cNvPr id="29" name="Image 28">
            <a:extLst>
              <a:ext uri="{FF2B5EF4-FFF2-40B4-BE49-F238E27FC236}">
                <a16:creationId xmlns:a16="http://schemas.microsoft.com/office/drawing/2014/main" id="{66A8C156-F0A3-1263-C6C5-F0E1328E750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532740" y="1695766"/>
            <a:ext cx="1120155" cy="1582246"/>
          </a:xfrm>
          <a:prstGeom prst="rect">
            <a:avLst/>
          </a:prstGeom>
        </p:spPr>
      </p:pic>
      <p:pic>
        <p:nvPicPr>
          <p:cNvPr id="30" name="Image 29">
            <a:extLst>
              <a:ext uri="{FF2B5EF4-FFF2-40B4-BE49-F238E27FC236}">
                <a16:creationId xmlns:a16="http://schemas.microsoft.com/office/drawing/2014/main" id="{6E90BE4D-1EA5-ED16-87E6-4E680E0807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440527" y="1695766"/>
            <a:ext cx="1120155" cy="1582246"/>
          </a:xfrm>
          <a:prstGeom prst="rect">
            <a:avLst/>
          </a:prstGeom>
        </p:spPr>
      </p:pic>
      <p:pic>
        <p:nvPicPr>
          <p:cNvPr id="31" name="Image 30">
            <a:extLst>
              <a:ext uri="{FF2B5EF4-FFF2-40B4-BE49-F238E27FC236}">
                <a16:creationId xmlns:a16="http://schemas.microsoft.com/office/drawing/2014/main" id="{A564748B-E5B0-4E9F-7813-01D7C51BCBB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799373" y="1695766"/>
            <a:ext cx="1120155" cy="1582246"/>
          </a:xfrm>
          <a:prstGeom prst="rect">
            <a:avLst/>
          </a:prstGeom>
        </p:spPr>
      </p:pic>
      <p:pic>
        <p:nvPicPr>
          <p:cNvPr id="32" name="Image 31" descr="Une image contenant texte&#10;&#10;Description générée automatiquement">
            <a:extLst>
              <a:ext uri="{FF2B5EF4-FFF2-40B4-BE49-F238E27FC236}">
                <a16:creationId xmlns:a16="http://schemas.microsoft.com/office/drawing/2014/main" id="{85BA04D4-8763-76EF-5EFF-C98B2E55124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353317" y="1695766"/>
            <a:ext cx="1120155" cy="1582246"/>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1C07BFD-8376-7366-5CAE-D9628DFEBEB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712160" y="1695766"/>
            <a:ext cx="1120155" cy="1582246"/>
          </a:xfrm>
          <a:prstGeom prst="rect">
            <a:avLst/>
          </a:prstGeom>
        </p:spPr>
      </p:pic>
      <p:sp>
        <p:nvSpPr>
          <p:cNvPr id="42" name="Rectangle 41">
            <a:extLst>
              <a:ext uri="{FF2B5EF4-FFF2-40B4-BE49-F238E27FC236}">
                <a16:creationId xmlns:a16="http://schemas.microsoft.com/office/drawing/2014/main" id="{D5B4002B-AE18-2BAE-0D73-078BB2432DAD}"/>
              </a:ext>
            </a:extLst>
          </p:cNvPr>
          <p:cNvSpPr/>
          <p:nvPr/>
        </p:nvSpPr>
        <p:spPr>
          <a:xfrm>
            <a:off x="10877538" y="1690688"/>
            <a:ext cx="1120155"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pic>
        <p:nvPicPr>
          <p:cNvPr id="55" name="Image 54" descr="Une image contenant texte&#10;&#10;Description générée automatiquement">
            <a:extLst>
              <a:ext uri="{FF2B5EF4-FFF2-40B4-BE49-F238E27FC236}">
                <a16:creationId xmlns:a16="http://schemas.microsoft.com/office/drawing/2014/main" id="{DA501538-118F-0D88-B78B-6F0A5EC7490C}"/>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978796" y="1695766"/>
            <a:ext cx="1135830" cy="1588921"/>
          </a:xfrm>
          <a:prstGeom prst="rect">
            <a:avLst/>
          </a:prstGeom>
        </p:spPr>
      </p:pic>
      <p:grpSp>
        <p:nvGrpSpPr>
          <p:cNvPr id="70" name="Groupe 69">
            <a:extLst>
              <a:ext uri="{FF2B5EF4-FFF2-40B4-BE49-F238E27FC236}">
                <a16:creationId xmlns:a16="http://schemas.microsoft.com/office/drawing/2014/main" id="{1EE3685D-5B5F-D7CC-3F23-749ADEAA7B17}"/>
              </a:ext>
            </a:extLst>
          </p:cNvPr>
          <p:cNvGrpSpPr/>
          <p:nvPr/>
        </p:nvGrpSpPr>
        <p:grpSpPr>
          <a:xfrm>
            <a:off x="223530" y="478971"/>
            <a:ext cx="1112184" cy="882061"/>
            <a:chOff x="5064446" y="1851546"/>
            <a:chExt cx="3517367" cy="2789586"/>
          </a:xfrm>
        </p:grpSpPr>
        <p:pic>
          <p:nvPicPr>
            <p:cNvPr id="73" name="Graphique 72" descr="Employée de bureau avec un remplissage uni">
              <a:extLst>
                <a:ext uri="{FF2B5EF4-FFF2-40B4-BE49-F238E27FC236}">
                  <a16:creationId xmlns:a16="http://schemas.microsoft.com/office/drawing/2014/main" id="{2C60849E-B574-2584-52B1-3285613AD06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445784" y="2079750"/>
              <a:ext cx="2521669" cy="2521669"/>
            </a:xfrm>
            <a:prstGeom prst="rect">
              <a:avLst/>
            </a:prstGeom>
          </p:spPr>
        </p:pic>
        <p:pic>
          <p:nvPicPr>
            <p:cNvPr id="74" name="Graphique 73" descr="Mégaphone avec un remplissage uni">
              <a:extLst>
                <a:ext uri="{FF2B5EF4-FFF2-40B4-BE49-F238E27FC236}">
                  <a16:creationId xmlns:a16="http://schemas.microsoft.com/office/drawing/2014/main" id="{2EDAEC2C-AD52-AC21-A6FD-239136947307}"/>
                </a:ext>
              </a:extLst>
            </p:cNvPr>
            <p:cNvPicPr>
              <a:picLocks noChangeAspect="1"/>
            </p:cNvPicPr>
            <p:nvPr/>
          </p:nvPicPr>
          <p:blipFill rotWithShape="1">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rcRect t="14658"/>
            <a:stretch/>
          </p:blipFill>
          <p:spPr>
            <a:xfrm rot="256443">
              <a:off x="7821274" y="2636665"/>
              <a:ext cx="760539" cy="649056"/>
            </a:xfrm>
            <a:prstGeom prst="rect">
              <a:avLst/>
            </a:prstGeom>
          </p:spPr>
        </p:pic>
        <p:pic>
          <p:nvPicPr>
            <p:cNvPr id="75" name="Graphique 74" descr="Bouclier coche avec un remplissage uni">
              <a:extLst>
                <a:ext uri="{FF2B5EF4-FFF2-40B4-BE49-F238E27FC236}">
                  <a16:creationId xmlns:a16="http://schemas.microsoft.com/office/drawing/2014/main" id="{50F294CB-062F-AEBA-3700-F6700F17F0F5}"/>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7802847" y="3316113"/>
              <a:ext cx="632787" cy="632787"/>
            </a:xfrm>
            <a:prstGeom prst="rect">
              <a:avLst/>
            </a:prstGeom>
          </p:spPr>
        </p:pic>
        <p:pic>
          <p:nvPicPr>
            <p:cNvPr id="76" name="Graphique 75" descr="Tirelire avec un remplissage uni">
              <a:extLst>
                <a:ext uri="{FF2B5EF4-FFF2-40B4-BE49-F238E27FC236}">
                  <a16:creationId xmlns:a16="http://schemas.microsoft.com/office/drawing/2014/main" id="{0AAE5E18-F9E8-6E32-5795-D9BDE4754C6D}"/>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flipH="1">
              <a:off x="7507152" y="3954810"/>
              <a:ext cx="759628" cy="686322"/>
            </a:xfrm>
            <a:prstGeom prst="rect">
              <a:avLst/>
            </a:prstGeom>
          </p:spPr>
        </p:pic>
        <p:pic>
          <p:nvPicPr>
            <p:cNvPr id="88" name="Graphique 87" descr="Index pointant vers la droite vu du côté du dos de la main avec un remplissage uni">
              <a:extLst>
                <a:ext uri="{FF2B5EF4-FFF2-40B4-BE49-F238E27FC236}">
                  <a16:creationId xmlns:a16="http://schemas.microsoft.com/office/drawing/2014/main" id="{5270FA72-6A2D-729B-500B-489BAFFA7589}"/>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rcRect t="13336"/>
            <a:stretch/>
          </p:blipFill>
          <p:spPr>
            <a:xfrm rot="18229742">
              <a:off x="7462263" y="1907472"/>
              <a:ext cx="838736" cy="726884"/>
            </a:xfrm>
            <a:prstGeom prst="rect">
              <a:avLst/>
            </a:prstGeom>
          </p:spPr>
        </p:pic>
        <p:pic>
          <p:nvPicPr>
            <p:cNvPr id="90" name="Graphique 89" descr="Calendrier journalier avec un remplissage uni">
              <a:extLst>
                <a:ext uri="{FF2B5EF4-FFF2-40B4-BE49-F238E27FC236}">
                  <a16:creationId xmlns:a16="http://schemas.microsoft.com/office/drawing/2014/main" id="{43B9C07B-2A4D-F8CA-2ED2-60ECDF8D4391}"/>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5266526" y="2469352"/>
              <a:ext cx="491841" cy="491841"/>
            </a:xfrm>
            <a:prstGeom prst="rect">
              <a:avLst/>
            </a:prstGeom>
          </p:spPr>
        </p:pic>
        <p:pic>
          <p:nvPicPr>
            <p:cNvPr id="93" name="Graphique 92" descr="Menottes avec un remplissage uni">
              <a:extLst>
                <a:ext uri="{FF2B5EF4-FFF2-40B4-BE49-F238E27FC236}">
                  <a16:creationId xmlns:a16="http://schemas.microsoft.com/office/drawing/2014/main" id="{B0900F0C-E67B-DDB8-4244-0EB795C16273}"/>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5064446" y="3093895"/>
              <a:ext cx="538611" cy="538611"/>
            </a:xfrm>
            <a:prstGeom prst="rect">
              <a:avLst/>
            </a:prstGeom>
          </p:spPr>
        </p:pic>
        <p:pic>
          <p:nvPicPr>
            <p:cNvPr id="94" name="Graphique 93" descr="Marteau d'officiel avec un remplissage uni">
              <a:extLst>
                <a:ext uri="{FF2B5EF4-FFF2-40B4-BE49-F238E27FC236}">
                  <a16:creationId xmlns:a16="http://schemas.microsoft.com/office/drawing/2014/main" id="{8EEE0CC9-F606-6103-73A0-7C8CB65C81A5}"/>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5126450" y="3854695"/>
              <a:ext cx="538610" cy="499611"/>
            </a:xfrm>
            <a:prstGeom prst="rect">
              <a:avLst/>
            </a:prstGeom>
          </p:spPr>
        </p:pic>
      </p:grpSp>
      <p:sp>
        <p:nvSpPr>
          <p:cNvPr id="95" name="Rectangle 94">
            <a:extLst>
              <a:ext uri="{FF2B5EF4-FFF2-40B4-BE49-F238E27FC236}">
                <a16:creationId xmlns:a16="http://schemas.microsoft.com/office/drawing/2014/main" id="{BF8080E6-EF41-F89F-9915-1DD37FB9F714}"/>
              </a:ext>
            </a:extLst>
          </p:cNvPr>
          <p:cNvSpPr/>
          <p:nvPr/>
        </p:nvSpPr>
        <p:spPr>
          <a:xfrm>
            <a:off x="10877537" y="3335462"/>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Création d’une Communauté similaire, avec laquelle tisser des liens</a:t>
            </a:r>
          </a:p>
        </p:txBody>
      </p:sp>
      <p:sp>
        <p:nvSpPr>
          <p:cNvPr id="96" name="Rectangle 95">
            <a:extLst>
              <a:ext uri="{FF2B5EF4-FFF2-40B4-BE49-F238E27FC236}">
                <a16:creationId xmlns:a16="http://schemas.microsoft.com/office/drawing/2014/main" id="{A6CECFEA-F3B3-9C63-EA86-5357B87E3B6B}"/>
              </a:ext>
            </a:extLst>
          </p:cNvPr>
          <p:cNvSpPr/>
          <p:nvPr/>
        </p:nvSpPr>
        <p:spPr>
          <a:xfrm>
            <a:off x="10877536" y="4003046"/>
            <a:ext cx="1120155" cy="27083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Relances régulières</a:t>
            </a:r>
          </a:p>
        </p:txBody>
      </p:sp>
      <p:sp>
        <p:nvSpPr>
          <p:cNvPr id="24" name="Rectangle 23">
            <a:extLst>
              <a:ext uri="{FF2B5EF4-FFF2-40B4-BE49-F238E27FC236}">
                <a16:creationId xmlns:a16="http://schemas.microsoft.com/office/drawing/2014/main" id="{8BE7B5AE-383C-E9FD-BA80-840E2D2C10A0}"/>
              </a:ext>
            </a:extLst>
          </p:cNvPr>
          <p:cNvSpPr/>
          <p:nvPr/>
        </p:nvSpPr>
        <p:spPr>
          <a:xfrm>
            <a:off x="261104" y="3335464"/>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Mise en valeur des qualités de sponsor et de leur importance de pour évoluer</a:t>
            </a:r>
          </a:p>
        </p:txBody>
      </p:sp>
      <p:sp>
        <p:nvSpPr>
          <p:cNvPr id="26" name="Rectangle 25">
            <a:extLst>
              <a:ext uri="{FF2B5EF4-FFF2-40B4-BE49-F238E27FC236}">
                <a16:creationId xmlns:a16="http://schemas.microsoft.com/office/drawing/2014/main" id="{7744E5DD-847C-C645-8C69-13D7EEA3FF43}"/>
              </a:ext>
            </a:extLst>
          </p:cNvPr>
          <p:cNvSpPr/>
          <p:nvPr/>
        </p:nvSpPr>
        <p:spPr>
          <a:xfrm>
            <a:off x="1440527" y="3335464"/>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Rôle particulier (décisionnaire, etc.) ou d’autorité donné au sponsor</a:t>
            </a:r>
          </a:p>
        </p:txBody>
      </p:sp>
      <p:sp>
        <p:nvSpPr>
          <p:cNvPr id="34" name="Rectangle 33">
            <a:extLst>
              <a:ext uri="{FF2B5EF4-FFF2-40B4-BE49-F238E27FC236}">
                <a16:creationId xmlns:a16="http://schemas.microsoft.com/office/drawing/2014/main" id="{91427696-2B52-B6F7-7933-38C1C0CC9D0E}"/>
              </a:ext>
            </a:extLst>
          </p:cNvPr>
          <p:cNvSpPr/>
          <p:nvPr/>
        </p:nvSpPr>
        <p:spPr>
          <a:xfrm>
            <a:off x="2619949" y="3335463"/>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Réduction de la charge nécessaire au sponsoring : décisions facilitées, etc.</a:t>
            </a:r>
          </a:p>
        </p:txBody>
      </p:sp>
      <p:sp>
        <p:nvSpPr>
          <p:cNvPr id="35" name="Rectangle 34">
            <a:extLst>
              <a:ext uri="{FF2B5EF4-FFF2-40B4-BE49-F238E27FC236}">
                <a16:creationId xmlns:a16="http://schemas.microsoft.com/office/drawing/2014/main" id="{D11A6373-D63C-B62D-D189-B98D083C1C4F}"/>
              </a:ext>
            </a:extLst>
          </p:cNvPr>
          <p:cNvSpPr/>
          <p:nvPr/>
        </p:nvSpPr>
        <p:spPr>
          <a:xfrm>
            <a:off x="3815049" y="3335463"/>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Organisation de moments avec le sponsor (membres, non membres, etc.)</a:t>
            </a:r>
          </a:p>
        </p:txBody>
      </p:sp>
      <p:sp>
        <p:nvSpPr>
          <p:cNvPr id="36" name="Rectangle 35">
            <a:extLst>
              <a:ext uri="{FF2B5EF4-FFF2-40B4-BE49-F238E27FC236}">
                <a16:creationId xmlns:a16="http://schemas.microsoft.com/office/drawing/2014/main" id="{0B8D246F-7DA7-D223-C05F-713680018A2E}"/>
              </a:ext>
            </a:extLst>
          </p:cNvPr>
          <p:cNvSpPr/>
          <p:nvPr/>
        </p:nvSpPr>
        <p:spPr>
          <a:xfrm>
            <a:off x="4994472" y="3335463"/>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Prise de responsabilité des membres en cas d’échecs de la Communauté</a:t>
            </a:r>
          </a:p>
        </p:txBody>
      </p:sp>
      <p:sp>
        <p:nvSpPr>
          <p:cNvPr id="37" name="Rectangle 36">
            <a:extLst>
              <a:ext uri="{FF2B5EF4-FFF2-40B4-BE49-F238E27FC236}">
                <a16:creationId xmlns:a16="http://schemas.microsoft.com/office/drawing/2014/main" id="{05A17F77-2171-EE83-F0DF-438F5088B793}"/>
              </a:ext>
            </a:extLst>
          </p:cNvPr>
          <p:cNvSpPr/>
          <p:nvPr/>
        </p:nvSpPr>
        <p:spPr>
          <a:xfrm>
            <a:off x="6173894" y="3335462"/>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Nouveau rôle clé donné au sponsor dans la Communauté et accompagnement au changement</a:t>
            </a:r>
          </a:p>
        </p:txBody>
      </p:sp>
      <p:sp>
        <p:nvSpPr>
          <p:cNvPr id="38" name="Rectangle 37">
            <a:extLst>
              <a:ext uri="{FF2B5EF4-FFF2-40B4-BE49-F238E27FC236}">
                <a16:creationId xmlns:a16="http://schemas.microsoft.com/office/drawing/2014/main" id="{CE9933EC-1EE7-9EF6-9C55-27C52ACF0B62}"/>
              </a:ext>
            </a:extLst>
          </p:cNvPr>
          <p:cNvSpPr/>
          <p:nvPr/>
        </p:nvSpPr>
        <p:spPr>
          <a:xfrm>
            <a:off x="7346292" y="3335463"/>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Ajustement du rôle donné au sponsor</a:t>
            </a:r>
          </a:p>
        </p:txBody>
      </p:sp>
      <p:sp>
        <p:nvSpPr>
          <p:cNvPr id="39" name="Rectangle 38">
            <a:extLst>
              <a:ext uri="{FF2B5EF4-FFF2-40B4-BE49-F238E27FC236}">
                <a16:creationId xmlns:a16="http://schemas.microsoft.com/office/drawing/2014/main" id="{AD0A9882-2323-8F59-6FA0-C0D93F9C0F84}"/>
              </a:ext>
            </a:extLst>
          </p:cNvPr>
          <p:cNvSpPr/>
          <p:nvPr/>
        </p:nvSpPr>
        <p:spPr>
          <a:xfrm>
            <a:off x="8525715" y="3335463"/>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Clarification et réduction de la charge et des responsabilités demandées au sponsor</a:t>
            </a:r>
          </a:p>
        </p:txBody>
      </p:sp>
      <p:sp>
        <p:nvSpPr>
          <p:cNvPr id="40" name="Rectangle 39">
            <a:extLst>
              <a:ext uri="{FF2B5EF4-FFF2-40B4-BE49-F238E27FC236}">
                <a16:creationId xmlns:a16="http://schemas.microsoft.com/office/drawing/2014/main" id="{3B68E00D-3173-24B1-A2D4-E08AE8A62E70}"/>
              </a:ext>
            </a:extLst>
          </p:cNvPr>
          <p:cNvSpPr/>
          <p:nvPr/>
        </p:nvSpPr>
        <p:spPr>
          <a:xfrm>
            <a:off x="9705137" y="3335462"/>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Maintien de canaux d’expression asynchrones et anonymes « à l’abri de la pensée de groupe »</a:t>
            </a:r>
          </a:p>
        </p:txBody>
      </p:sp>
      <p:sp>
        <p:nvSpPr>
          <p:cNvPr id="43" name="Rectangle 42">
            <a:extLst>
              <a:ext uri="{FF2B5EF4-FFF2-40B4-BE49-F238E27FC236}">
                <a16:creationId xmlns:a16="http://schemas.microsoft.com/office/drawing/2014/main" id="{6EFB75C6-1FD5-1F9A-9F51-6EBB3AFBBB8E}"/>
              </a:ext>
            </a:extLst>
          </p:cNvPr>
          <p:cNvSpPr/>
          <p:nvPr/>
        </p:nvSpPr>
        <p:spPr>
          <a:xfrm>
            <a:off x="1440527" y="4018097"/>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p>
          <a:p>
            <a:pPr algn="ctr"/>
            <a:r>
              <a:rPr lang="fr-FR" sz="800" dirty="0">
                <a:solidFill>
                  <a:schemeClr val="tx1"/>
                </a:solidFill>
              </a:rPr>
              <a:t>Commencement de la Communauté dans un format connu du sponsor</a:t>
            </a:r>
          </a:p>
        </p:txBody>
      </p:sp>
      <p:sp>
        <p:nvSpPr>
          <p:cNvPr id="44" name="Rectangle 43">
            <a:extLst>
              <a:ext uri="{FF2B5EF4-FFF2-40B4-BE49-F238E27FC236}">
                <a16:creationId xmlns:a16="http://schemas.microsoft.com/office/drawing/2014/main" id="{488686A0-790C-C894-B658-9E0B48AA7BB0}"/>
              </a:ext>
            </a:extLst>
          </p:cNvPr>
          <p:cNvSpPr/>
          <p:nvPr/>
        </p:nvSpPr>
        <p:spPr>
          <a:xfrm>
            <a:off x="2619949" y="4018096"/>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Présentation en amont au préalable d’exemples de Communauté et de sponsors associés</a:t>
            </a:r>
          </a:p>
        </p:txBody>
      </p:sp>
      <p:sp>
        <p:nvSpPr>
          <p:cNvPr id="45" name="Rectangle 44">
            <a:extLst>
              <a:ext uri="{FF2B5EF4-FFF2-40B4-BE49-F238E27FC236}">
                <a16:creationId xmlns:a16="http://schemas.microsoft.com/office/drawing/2014/main" id="{C53AB337-6E69-2745-428F-EA474DF11C19}"/>
              </a:ext>
            </a:extLst>
          </p:cNvPr>
          <p:cNvSpPr/>
          <p:nvPr/>
        </p:nvSpPr>
        <p:spPr>
          <a:xfrm>
            <a:off x="3815049" y="4018096"/>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Discussion et partage sur les différences de motivation entre membres</a:t>
            </a:r>
          </a:p>
        </p:txBody>
      </p:sp>
      <p:sp>
        <p:nvSpPr>
          <p:cNvPr id="46" name="Rectangle 45">
            <a:extLst>
              <a:ext uri="{FF2B5EF4-FFF2-40B4-BE49-F238E27FC236}">
                <a16:creationId xmlns:a16="http://schemas.microsoft.com/office/drawing/2014/main" id="{9DAE4A37-E658-90B2-A226-C0C9699BEB67}"/>
              </a:ext>
            </a:extLst>
          </p:cNvPr>
          <p:cNvSpPr/>
          <p:nvPr/>
        </p:nvSpPr>
        <p:spPr>
          <a:xfrm>
            <a:off x="4994472" y="4018096"/>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Information régulière sur les résultats et performance de la Communauté</a:t>
            </a:r>
          </a:p>
        </p:txBody>
      </p:sp>
      <p:sp>
        <p:nvSpPr>
          <p:cNvPr id="47" name="Rectangle 46">
            <a:extLst>
              <a:ext uri="{FF2B5EF4-FFF2-40B4-BE49-F238E27FC236}">
                <a16:creationId xmlns:a16="http://schemas.microsoft.com/office/drawing/2014/main" id="{4F9C132B-C328-B902-D62D-2229B644FFD2}"/>
              </a:ext>
            </a:extLst>
          </p:cNvPr>
          <p:cNvSpPr/>
          <p:nvPr/>
        </p:nvSpPr>
        <p:spPr>
          <a:xfrm>
            <a:off x="6173894" y="4018095"/>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Usage des compétences clés de sponsor dans les activités communautaires</a:t>
            </a:r>
          </a:p>
        </p:txBody>
      </p:sp>
      <p:sp>
        <p:nvSpPr>
          <p:cNvPr id="48" name="Rectangle 47">
            <a:extLst>
              <a:ext uri="{FF2B5EF4-FFF2-40B4-BE49-F238E27FC236}">
                <a16:creationId xmlns:a16="http://schemas.microsoft.com/office/drawing/2014/main" id="{C8BCD893-087A-8582-FD1B-FAF57492289F}"/>
              </a:ext>
            </a:extLst>
          </p:cNvPr>
          <p:cNvSpPr/>
          <p:nvPr/>
        </p:nvSpPr>
        <p:spPr>
          <a:xfrm>
            <a:off x="7346292" y="4018096"/>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 </a:t>
            </a:r>
            <a:r>
              <a:rPr lang="fr-FR" sz="800" dirty="0">
                <a:solidFill>
                  <a:schemeClr val="tx1"/>
                </a:solidFill>
              </a:rPr>
              <a:t>Demande de partage de recommandations de la part du sponsor en tant qu’expérimenté</a:t>
            </a:r>
          </a:p>
        </p:txBody>
      </p:sp>
      <p:sp>
        <p:nvSpPr>
          <p:cNvPr id="49" name="Rectangle 48">
            <a:extLst>
              <a:ext uri="{FF2B5EF4-FFF2-40B4-BE49-F238E27FC236}">
                <a16:creationId xmlns:a16="http://schemas.microsoft.com/office/drawing/2014/main" id="{A749C7B5-4E9F-DBF9-0F62-E1725844E1C5}"/>
              </a:ext>
            </a:extLst>
          </p:cNvPr>
          <p:cNvSpPr/>
          <p:nvPr/>
        </p:nvSpPr>
        <p:spPr>
          <a:xfrm>
            <a:off x="8525715" y="4018096"/>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Investigation sur les pouvoirs perdus par le sponsor par l’existence de la Communauté</a:t>
            </a:r>
          </a:p>
        </p:txBody>
      </p:sp>
      <p:sp>
        <p:nvSpPr>
          <p:cNvPr id="50" name="Rectangle 49">
            <a:extLst>
              <a:ext uri="{FF2B5EF4-FFF2-40B4-BE49-F238E27FC236}">
                <a16:creationId xmlns:a16="http://schemas.microsoft.com/office/drawing/2014/main" id="{2F81E899-DCD1-3609-40C1-867B9396C534}"/>
              </a:ext>
            </a:extLst>
          </p:cNvPr>
          <p:cNvSpPr/>
          <p:nvPr/>
        </p:nvSpPr>
        <p:spPr>
          <a:xfrm>
            <a:off x="9705137" y="4018095"/>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 </a:t>
            </a:r>
            <a:r>
              <a:rPr lang="fr-FR" sz="800" dirty="0">
                <a:solidFill>
                  <a:schemeClr val="tx1"/>
                </a:solidFill>
              </a:rPr>
              <a:t>Soutien aux activités individuelles pour les membres (par ex par mise en commun de moyens)</a:t>
            </a:r>
          </a:p>
        </p:txBody>
      </p:sp>
      <p:sp>
        <p:nvSpPr>
          <p:cNvPr id="52" name="Rectangle 51">
            <a:extLst>
              <a:ext uri="{FF2B5EF4-FFF2-40B4-BE49-F238E27FC236}">
                <a16:creationId xmlns:a16="http://schemas.microsoft.com/office/drawing/2014/main" id="{A61F98A3-32E1-DEF0-C2A0-F3D077C27C1D}"/>
              </a:ext>
            </a:extLst>
          </p:cNvPr>
          <p:cNvSpPr/>
          <p:nvPr/>
        </p:nvSpPr>
        <p:spPr>
          <a:xfrm>
            <a:off x="1440527" y="4700728"/>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Mise en valeur et en avant du sponsor et de son rôle clé</a:t>
            </a:r>
          </a:p>
        </p:txBody>
      </p:sp>
      <p:sp>
        <p:nvSpPr>
          <p:cNvPr id="53" name="Rectangle 52">
            <a:extLst>
              <a:ext uri="{FF2B5EF4-FFF2-40B4-BE49-F238E27FC236}">
                <a16:creationId xmlns:a16="http://schemas.microsoft.com/office/drawing/2014/main" id="{8D5DC1BA-95C9-3661-79C8-2793024ACE89}"/>
              </a:ext>
            </a:extLst>
          </p:cNvPr>
          <p:cNvSpPr/>
          <p:nvPr/>
        </p:nvSpPr>
        <p:spPr>
          <a:xfrm>
            <a:off x="2619949" y="4700727"/>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Organisation de rencontres avec d’autres sponsors satisfaits de leurs Communautés</a:t>
            </a:r>
          </a:p>
        </p:txBody>
      </p:sp>
      <p:sp>
        <p:nvSpPr>
          <p:cNvPr id="56" name="Rectangle 55">
            <a:extLst>
              <a:ext uri="{FF2B5EF4-FFF2-40B4-BE49-F238E27FC236}">
                <a16:creationId xmlns:a16="http://schemas.microsoft.com/office/drawing/2014/main" id="{0F92A622-0D9C-C2D1-D37D-864F924C4DEB}"/>
              </a:ext>
            </a:extLst>
          </p:cNvPr>
          <p:cNvSpPr/>
          <p:nvPr/>
        </p:nvSpPr>
        <p:spPr>
          <a:xfrm>
            <a:off x="4994472" y="4700727"/>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Ajustement du type et  de la quantité de temps dédié à la Communauté (pro, pauses, perso, …)</a:t>
            </a:r>
          </a:p>
        </p:txBody>
      </p:sp>
      <p:sp>
        <p:nvSpPr>
          <p:cNvPr id="57" name="Rectangle 56">
            <a:extLst>
              <a:ext uri="{FF2B5EF4-FFF2-40B4-BE49-F238E27FC236}">
                <a16:creationId xmlns:a16="http://schemas.microsoft.com/office/drawing/2014/main" id="{6894EF3F-F231-9755-1177-2D14CD4A9E6B}"/>
              </a:ext>
            </a:extLst>
          </p:cNvPr>
          <p:cNvSpPr/>
          <p:nvPr/>
        </p:nvSpPr>
        <p:spPr>
          <a:xfrm>
            <a:off x="6173894" y="4700726"/>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Travail sur le sens, l’impact, et la visibilité des résultats communautaires auprès des sponsors</a:t>
            </a:r>
          </a:p>
        </p:txBody>
      </p:sp>
      <p:sp>
        <p:nvSpPr>
          <p:cNvPr id="60" name="Rectangle 59">
            <a:extLst>
              <a:ext uri="{FF2B5EF4-FFF2-40B4-BE49-F238E27FC236}">
                <a16:creationId xmlns:a16="http://schemas.microsoft.com/office/drawing/2014/main" id="{1882D716-C0B8-33EC-AF94-D5E1A35A1FCF}"/>
              </a:ext>
            </a:extLst>
          </p:cNvPr>
          <p:cNvSpPr/>
          <p:nvPr/>
        </p:nvSpPr>
        <p:spPr>
          <a:xfrm>
            <a:off x="9705137" y="4700726"/>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Rôle de sponsor décisionnaire</a:t>
            </a:r>
          </a:p>
        </p:txBody>
      </p:sp>
      <p:sp>
        <p:nvSpPr>
          <p:cNvPr id="62" name="Rectangle 61">
            <a:extLst>
              <a:ext uri="{FF2B5EF4-FFF2-40B4-BE49-F238E27FC236}">
                <a16:creationId xmlns:a16="http://schemas.microsoft.com/office/drawing/2014/main" id="{192D075A-6749-C286-BE69-46AFB1E2974F}"/>
              </a:ext>
            </a:extLst>
          </p:cNvPr>
          <p:cNvSpPr/>
          <p:nvPr/>
        </p:nvSpPr>
        <p:spPr>
          <a:xfrm>
            <a:off x="1440527" y="5383361"/>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Investigation sur les inquiétudes d’image liées à la Communauté et communications</a:t>
            </a:r>
          </a:p>
        </p:txBody>
      </p:sp>
      <p:sp>
        <p:nvSpPr>
          <p:cNvPr id="65" name="Rectangle 64">
            <a:extLst>
              <a:ext uri="{FF2B5EF4-FFF2-40B4-BE49-F238E27FC236}">
                <a16:creationId xmlns:a16="http://schemas.microsoft.com/office/drawing/2014/main" id="{58FA900E-6D83-AD9E-F13C-4A115D60D06E}"/>
              </a:ext>
            </a:extLst>
          </p:cNvPr>
          <p:cNvSpPr/>
          <p:nvPr/>
        </p:nvSpPr>
        <p:spPr>
          <a:xfrm>
            <a:off x="4994472" y="5383360"/>
            <a:ext cx="1120155" cy="62518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t>
            </a:r>
            <a:r>
              <a:rPr lang="fr-FR" sz="800" dirty="0">
                <a:solidFill>
                  <a:schemeClr val="tx1"/>
                </a:solidFill>
              </a:rPr>
              <a:t>Positionnement des sujets communautaires et comparaison avec autre sujets</a:t>
            </a:r>
          </a:p>
        </p:txBody>
      </p:sp>
    </p:spTree>
    <p:extLst>
      <p:ext uri="{BB962C8B-B14F-4D97-AF65-F5344CB8AC3E}">
        <p14:creationId xmlns:p14="http://schemas.microsoft.com/office/powerpoint/2010/main" val="217570479"/>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BFDB059-EBC7-4F12-DC2F-6BAFC5825DA8}"/>
              </a:ext>
            </a:extLst>
          </p:cNvPr>
          <p:cNvSpPr>
            <a:spLocks noGrp="1"/>
          </p:cNvSpPr>
          <p:nvPr>
            <p:ph type="title"/>
          </p:nvPr>
        </p:nvSpPr>
        <p:spPr/>
        <p:txBody>
          <a:bodyPr/>
          <a:lstStyle/>
          <a:p>
            <a:r>
              <a:rPr lang="fr-FR" dirty="0"/>
              <a:t>Pressions classiques des membres d’une Communauté sur l’entreprise</a:t>
            </a:r>
          </a:p>
        </p:txBody>
      </p:sp>
      <p:grpSp>
        <p:nvGrpSpPr>
          <p:cNvPr id="18" name="Groupe 17">
            <a:extLst>
              <a:ext uri="{FF2B5EF4-FFF2-40B4-BE49-F238E27FC236}">
                <a16:creationId xmlns:a16="http://schemas.microsoft.com/office/drawing/2014/main" id="{903554D4-F331-8F48-C3F5-EA33AF381E1D}"/>
              </a:ext>
            </a:extLst>
          </p:cNvPr>
          <p:cNvGrpSpPr/>
          <p:nvPr/>
        </p:nvGrpSpPr>
        <p:grpSpPr>
          <a:xfrm>
            <a:off x="5532430" y="5644200"/>
            <a:ext cx="1004893" cy="847205"/>
            <a:chOff x="8982504" y="3274976"/>
            <a:chExt cx="1230670" cy="1037553"/>
          </a:xfrm>
          <a:solidFill>
            <a:srgbClr val="ED7D31"/>
          </a:solidFill>
        </p:grpSpPr>
        <p:pic>
          <p:nvPicPr>
            <p:cNvPr id="19" name="Graphique 18" descr="Utilisateur avec un remplissage uni">
              <a:extLst>
                <a:ext uri="{FF2B5EF4-FFF2-40B4-BE49-F238E27FC236}">
                  <a16:creationId xmlns:a16="http://schemas.microsoft.com/office/drawing/2014/main" id="{A6C1669E-85B0-AD58-53F5-7894E3D58F6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20" name="Graphique 19" descr="Utilisateur avec un remplissage uni">
              <a:extLst>
                <a:ext uri="{FF2B5EF4-FFF2-40B4-BE49-F238E27FC236}">
                  <a16:creationId xmlns:a16="http://schemas.microsoft.com/office/drawing/2014/main" id="{0C5BDEEA-C649-15D1-F9F0-D525EAFA301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21" name="Graphique 20" descr="Utilisateur avec un remplissage uni">
              <a:extLst>
                <a:ext uri="{FF2B5EF4-FFF2-40B4-BE49-F238E27FC236}">
                  <a16:creationId xmlns:a16="http://schemas.microsoft.com/office/drawing/2014/main" id="{E4C1A83D-17C3-D3DD-8D83-F38EE3ADACC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22" name="Graphique 21" descr="Utilisateur avec un remplissage uni">
              <a:extLst>
                <a:ext uri="{FF2B5EF4-FFF2-40B4-BE49-F238E27FC236}">
                  <a16:creationId xmlns:a16="http://schemas.microsoft.com/office/drawing/2014/main" id="{756A392A-D346-527D-1AED-80D0E657A0A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23" name="Graphique 22" descr="Utilisateur avec un remplissage uni">
              <a:extLst>
                <a:ext uri="{FF2B5EF4-FFF2-40B4-BE49-F238E27FC236}">
                  <a16:creationId xmlns:a16="http://schemas.microsoft.com/office/drawing/2014/main" id="{6D24FBC7-F423-84E4-9432-DB18A1327D5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24" name="Graphique 23" descr="Utilisateur avec un remplissage uni">
              <a:extLst>
                <a:ext uri="{FF2B5EF4-FFF2-40B4-BE49-F238E27FC236}">
                  <a16:creationId xmlns:a16="http://schemas.microsoft.com/office/drawing/2014/main" id="{EC2ABAFC-D26F-4DEE-18D4-1D176351A25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25" name="Graphique 24" descr="Utilisateur avec un remplissage uni">
              <a:extLst>
                <a:ext uri="{FF2B5EF4-FFF2-40B4-BE49-F238E27FC236}">
                  <a16:creationId xmlns:a16="http://schemas.microsoft.com/office/drawing/2014/main" id="{8A1005DF-86CE-E7DE-9C0E-2BA2EE4CD4F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26" name="Graphique 25" descr="Utilisateur avec un remplissage uni">
              <a:extLst>
                <a:ext uri="{FF2B5EF4-FFF2-40B4-BE49-F238E27FC236}">
                  <a16:creationId xmlns:a16="http://schemas.microsoft.com/office/drawing/2014/main" id="{14D36388-EC1A-814B-FEDE-8CDF13C5582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27" name="Graphique 26" descr="Utilisateur avec un remplissage uni">
              <a:extLst>
                <a:ext uri="{FF2B5EF4-FFF2-40B4-BE49-F238E27FC236}">
                  <a16:creationId xmlns:a16="http://schemas.microsoft.com/office/drawing/2014/main" id="{02FC874C-5F8C-A3B1-4FE1-D92F830B779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28" name="Graphique 27" descr="Utilisateur avec un remplissage uni">
              <a:extLst>
                <a:ext uri="{FF2B5EF4-FFF2-40B4-BE49-F238E27FC236}">
                  <a16:creationId xmlns:a16="http://schemas.microsoft.com/office/drawing/2014/main" id="{39A8ABE0-D0B3-3131-4791-7E795723324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29" name="Graphique 28" descr="Utilisateur avec un remplissage uni">
              <a:extLst>
                <a:ext uri="{FF2B5EF4-FFF2-40B4-BE49-F238E27FC236}">
                  <a16:creationId xmlns:a16="http://schemas.microsoft.com/office/drawing/2014/main" id="{8B9F677B-DB68-8CC2-AA4D-FDBB052EB7C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sp>
        <p:nvSpPr>
          <p:cNvPr id="44" name="Espace réservé du contenu 2">
            <a:extLst>
              <a:ext uri="{FF2B5EF4-FFF2-40B4-BE49-F238E27FC236}">
                <a16:creationId xmlns:a16="http://schemas.microsoft.com/office/drawing/2014/main" id="{5944F345-0278-2780-A083-D034732D7BC5}"/>
              </a:ext>
            </a:extLst>
          </p:cNvPr>
          <p:cNvSpPr txBox="1">
            <a:spLocks/>
          </p:cNvSpPr>
          <p:nvPr/>
        </p:nvSpPr>
        <p:spPr>
          <a:xfrm>
            <a:off x="6470116" y="6027100"/>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62" name="Flèche : haut 61">
            <a:extLst>
              <a:ext uri="{FF2B5EF4-FFF2-40B4-BE49-F238E27FC236}">
                <a16:creationId xmlns:a16="http://schemas.microsoft.com/office/drawing/2014/main" id="{E06736C4-5C2C-78B6-4F73-3560ACB56C92}"/>
              </a:ext>
            </a:extLst>
          </p:cNvPr>
          <p:cNvSpPr/>
          <p:nvPr/>
        </p:nvSpPr>
        <p:spPr>
          <a:xfrm>
            <a:off x="4451541" y="2983313"/>
            <a:ext cx="3065893" cy="2251807"/>
          </a:xfrm>
          <a:prstGeom prst="upArrow">
            <a:avLst>
              <a:gd name="adj1" fmla="val 50000"/>
              <a:gd name="adj2" fmla="val 2582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t>Pressions des membres sur l’entreprise</a:t>
            </a:r>
            <a:endParaRPr lang="fr-FR" sz="1400" dirty="0"/>
          </a:p>
        </p:txBody>
      </p:sp>
      <p:pic>
        <p:nvPicPr>
          <p:cNvPr id="30" name="Graphique 29" descr="Coffre au trésor avec un remplissage uni">
            <a:extLst>
              <a:ext uri="{FF2B5EF4-FFF2-40B4-BE49-F238E27FC236}">
                <a16:creationId xmlns:a16="http://schemas.microsoft.com/office/drawing/2014/main" id="{0D854944-5E31-B456-B849-5064C490E60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91486" y="3742246"/>
            <a:ext cx="483536" cy="483536"/>
          </a:xfrm>
          <a:prstGeom prst="rect">
            <a:avLst/>
          </a:prstGeom>
        </p:spPr>
      </p:pic>
      <p:grpSp>
        <p:nvGrpSpPr>
          <p:cNvPr id="31" name="Groupe 30">
            <a:extLst>
              <a:ext uri="{FF2B5EF4-FFF2-40B4-BE49-F238E27FC236}">
                <a16:creationId xmlns:a16="http://schemas.microsoft.com/office/drawing/2014/main" id="{1FAD66BE-AC49-1A49-9899-8A0F302AE17B}"/>
              </a:ext>
            </a:extLst>
          </p:cNvPr>
          <p:cNvGrpSpPr/>
          <p:nvPr/>
        </p:nvGrpSpPr>
        <p:grpSpPr>
          <a:xfrm>
            <a:off x="1410950" y="3801109"/>
            <a:ext cx="788755" cy="483536"/>
            <a:chOff x="8496164" y="663605"/>
            <a:chExt cx="2837988" cy="1739790"/>
          </a:xfrm>
        </p:grpSpPr>
        <p:pic>
          <p:nvPicPr>
            <p:cNvPr id="32" name="Graphique 31" descr="Évaluation 3 étoiles avec un remplissage uni">
              <a:extLst>
                <a:ext uri="{FF2B5EF4-FFF2-40B4-BE49-F238E27FC236}">
                  <a16:creationId xmlns:a16="http://schemas.microsoft.com/office/drawing/2014/main" id="{A77EF6A7-BBA6-1F83-9EF1-3F72EAE16A0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96164" y="663605"/>
              <a:ext cx="1739790" cy="1739790"/>
            </a:xfrm>
            <a:prstGeom prst="rect">
              <a:avLst/>
            </a:prstGeom>
          </p:spPr>
        </p:pic>
        <p:pic>
          <p:nvPicPr>
            <p:cNvPr id="33" name="Graphique 32" descr="Évaluation 3 étoiles avec un remplissage uni">
              <a:extLst>
                <a:ext uri="{FF2B5EF4-FFF2-40B4-BE49-F238E27FC236}">
                  <a16:creationId xmlns:a16="http://schemas.microsoft.com/office/drawing/2014/main" id="{1AC3426E-568F-D0F3-BB23-217CD34DAAE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33972"/>
            <a:stretch/>
          </p:blipFill>
          <p:spPr>
            <a:xfrm>
              <a:off x="10185399" y="663605"/>
              <a:ext cx="1148753" cy="1739790"/>
            </a:xfrm>
            <a:prstGeom prst="rect">
              <a:avLst/>
            </a:prstGeom>
          </p:spPr>
        </p:pic>
      </p:grpSp>
      <p:pic>
        <p:nvPicPr>
          <p:cNvPr id="35" name="Graphique 34" descr="Utilisateurs avec un remplissage uni">
            <a:extLst>
              <a:ext uri="{FF2B5EF4-FFF2-40B4-BE49-F238E27FC236}">
                <a16:creationId xmlns:a16="http://schemas.microsoft.com/office/drawing/2014/main" id="{14BE847C-1914-BC4C-05A5-4DF013DA0C5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574271" y="3781582"/>
            <a:ext cx="499752" cy="499752"/>
          </a:xfrm>
          <a:prstGeom prst="rect">
            <a:avLst/>
          </a:prstGeom>
        </p:spPr>
      </p:pic>
      <p:pic>
        <p:nvPicPr>
          <p:cNvPr id="36" name="Graphique 35" descr="Globe terrestre : Europe et Afrique avec un remplissage uni">
            <a:extLst>
              <a:ext uri="{FF2B5EF4-FFF2-40B4-BE49-F238E27FC236}">
                <a16:creationId xmlns:a16="http://schemas.microsoft.com/office/drawing/2014/main" id="{5603C73D-7C2E-71BE-6164-6CF264F54BE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62116" y="3662411"/>
            <a:ext cx="643205" cy="643205"/>
          </a:xfrm>
          <a:prstGeom prst="rect">
            <a:avLst/>
          </a:prstGeom>
        </p:spPr>
      </p:pic>
      <p:pic>
        <p:nvPicPr>
          <p:cNvPr id="37" name="Graphique 36" descr="Aspiration avec un remplissage uni">
            <a:extLst>
              <a:ext uri="{FF2B5EF4-FFF2-40B4-BE49-F238E27FC236}">
                <a16:creationId xmlns:a16="http://schemas.microsoft.com/office/drawing/2014/main" id="{2F55BF24-B121-9062-DA47-D8E68D67525F}"/>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914772" y="3695590"/>
            <a:ext cx="585744" cy="585744"/>
          </a:xfrm>
          <a:prstGeom prst="rect">
            <a:avLst/>
          </a:prstGeom>
        </p:spPr>
      </p:pic>
      <p:sp>
        <p:nvSpPr>
          <p:cNvPr id="41" name="ZoneTexte 40">
            <a:extLst>
              <a:ext uri="{FF2B5EF4-FFF2-40B4-BE49-F238E27FC236}">
                <a16:creationId xmlns:a16="http://schemas.microsoft.com/office/drawing/2014/main" id="{4A2C0FC9-F4A1-7C06-AC09-4B11681AAE87}"/>
              </a:ext>
            </a:extLst>
          </p:cNvPr>
          <p:cNvSpPr txBox="1"/>
          <p:nvPr/>
        </p:nvSpPr>
        <p:spPr>
          <a:xfrm>
            <a:off x="80574" y="4225782"/>
            <a:ext cx="1159993" cy="1200329"/>
          </a:xfrm>
          <a:prstGeom prst="rect">
            <a:avLst/>
          </a:prstGeom>
          <a:noFill/>
        </p:spPr>
        <p:txBody>
          <a:bodyPr wrap="square">
            <a:spAutoFit/>
          </a:bodyPr>
          <a:lstStyle/>
          <a:p>
            <a:pPr algn="ctr"/>
            <a:r>
              <a:rPr lang="fr-FR" sz="1200" dirty="0">
                <a:solidFill>
                  <a:srgbClr val="ED7D31"/>
                </a:solidFill>
              </a:rPr>
              <a:t>Demande de moyens et de liberté (ressources, budget, temps à donner)</a:t>
            </a:r>
          </a:p>
        </p:txBody>
      </p:sp>
      <p:sp>
        <p:nvSpPr>
          <p:cNvPr id="42" name="ZoneTexte 41">
            <a:extLst>
              <a:ext uri="{FF2B5EF4-FFF2-40B4-BE49-F238E27FC236}">
                <a16:creationId xmlns:a16="http://schemas.microsoft.com/office/drawing/2014/main" id="{5E990571-78C0-7FFF-05C2-1EA7C59F9E42}"/>
              </a:ext>
            </a:extLst>
          </p:cNvPr>
          <p:cNvSpPr txBox="1"/>
          <p:nvPr/>
        </p:nvSpPr>
        <p:spPr>
          <a:xfrm>
            <a:off x="1291742" y="4235167"/>
            <a:ext cx="1005429" cy="830997"/>
          </a:xfrm>
          <a:prstGeom prst="rect">
            <a:avLst/>
          </a:prstGeom>
          <a:noFill/>
        </p:spPr>
        <p:txBody>
          <a:bodyPr wrap="square">
            <a:spAutoFit/>
          </a:bodyPr>
          <a:lstStyle/>
          <a:p>
            <a:pPr algn="ctr"/>
            <a:r>
              <a:rPr lang="fr-FR" sz="1200" dirty="0">
                <a:solidFill>
                  <a:srgbClr val="ED7D31"/>
                </a:solidFill>
              </a:rPr>
              <a:t>Demande de stimulation ou de bien être </a:t>
            </a:r>
          </a:p>
        </p:txBody>
      </p:sp>
      <p:pic>
        <p:nvPicPr>
          <p:cNvPr id="43" name="Graphique 42" descr="Sablier plein avec un remplissage uni">
            <a:extLst>
              <a:ext uri="{FF2B5EF4-FFF2-40B4-BE49-F238E27FC236}">
                <a16:creationId xmlns:a16="http://schemas.microsoft.com/office/drawing/2014/main" id="{4E53BCB8-3202-36BB-D960-B370EF4561F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98256" y="3660353"/>
            <a:ext cx="543111" cy="543111"/>
          </a:xfrm>
          <a:prstGeom prst="rect">
            <a:avLst/>
          </a:prstGeom>
        </p:spPr>
      </p:pic>
      <p:pic>
        <p:nvPicPr>
          <p:cNvPr id="45" name="Graphique 44" descr="Pinceau avec un remplissage uni">
            <a:extLst>
              <a:ext uri="{FF2B5EF4-FFF2-40B4-BE49-F238E27FC236}">
                <a16:creationId xmlns:a16="http://schemas.microsoft.com/office/drawing/2014/main" id="{AA503C13-8C27-5CA8-4241-2B34AB623007}"/>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578063" y="3431715"/>
            <a:ext cx="512996" cy="512996"/>
          </a:xfrm>
          <a:prstGeom prst="rect">
            <a:avLst/>
          </a:prstGeom>
        </p:spPr>
      </p:pic>
      <p:sp>
        <p:nvSpPr>
          <p:cNvPr id="48" name="ZoneTexte 47">
            <a:extLst>
              <a:ext uri="{FF2B5EF4-FFF2-40B4-BE49-F238E27FC236}">
                <a16:creationId xmlns:a16="http://schemas.microsoft.com/office/drawing/2014/main" id="{7F6DA8AE-FCF1-6A98-1538-040F4CC44105}"/>
              </a:ext>
            </a:extLst>
          </p:cNvPr>
          <p:cNvSpPr txBox="1"/>
          <p:nvPr/>
        </p:nvSpPr>
        <p:spPr>
          <a:xfrm>
            <a:off x="2397839" y="4234548"/>
            <a:ext cx="1159993" cy="830997"/>
          </a:xfrm>
          <a:prstGeom prst="rect">
            <a:avLst/>
          </a:prstGeom>
          <a:noFill/>
        </p:spPr>
        <p:txBody>
          <a:bodyPr wrap="square">
            <a:spAutoFit/>
          </a:bodyPr>
          <a:lstStyle/>
          <a:p>
            <a:pPr algn="ctr"/>
            <a:r>
              <a:rPr lang="fr-FR" sz="1200" dirty="0">
                <a:solidFill>
                  <a:srgbClr val="ED7D31"/>
                </a:solidFill>
              </a:rPr>
              <a:t>Demande de reconnaissance et possibilités d’évolution</a:t>
            </a:r>
          </a:p>
        </p:txBody>
      </p:sp>
      <p:sp>
        <p:nvSpPr>
          <p:cNvPr id="49" name="ZoneTexte 48">
            <a:extLst>
              <a:ext uri="{FF2B5EF4-FFF2-40B4-BE49-F238E27FC236}">
                <a16:creationId xmlns:a16="http://schemas.microsoft.com/office/drawing/2014/main" id="{DEC0984F-F4B5-9154-2470-589CBCB4D99A}"/>
              </a:ext>
            </a:extLst>
          </p:cNvPr>
          <p:cNvSpPr txBox="1"/>
          <p:nvPr/>
        </p:nvSpPr>
        <p:spPr>
          <a:xfrm>
            <a:off x="3604291" y="4256423"/>
            <a:ext cx="1307435" cy="276999"/>
          </a:xfrm>
          <a:prstGeom prst="rect">
            <a:avLst/>
          </a:prstGeom>
          <a:noFill/>
        </p:spPr>
        <p:txBody>
          <a:bodyPr wrap="square">
            <a:spAutoFit/>
          </a:bodyPr>
          <a:lstStyle/>
          <a:p>
            <a:pPr algn="ctr"/>
            <a:r>
              <a:rPr lang="fr-FR" sz="1200" dirty="0">
                <a:solidFill>
                  <a:srgbClr val="ED7D31"/>
                </a:solidFill>
              </a:rPr>
              <a:t>Demande de sens</a:t>
            </a:r>
          </a:p>
        </p:txBody>
      </p:sp>
      <p:pic>
        <p:nvPicPr>
          <p:cNvPr id="34" name="Graphique 33" descr="Bâtiment avec un remplissage uni">
            <a:extLst>
              <a:ext uri="{FF2B5EF4-FFF2-40B4-BE49-F238E27FC236}">
                <a16:creationId xmlns:a16="http://schemas.microsoft.com/office/drawing/2014/main" id="{82A7237D-48B2-6282-EA95-52A2F79840EB}"/>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262218" y="1584088"/>
            <a:ext cx="1419616" cy="1419616"/>
          </a:xfrm>
          <a:prstGeom prst="rect">
            <a:avLst/>
          </a:prstGeom>
        </p:spPr>
      </p:pic>
      <p:sp>
        <p:nvSpPr>
          <p:cNvPr id="38" name="Espace réservé du contenu 2">
            <a:extLst>
              <a:ext uri="{FF2B5EF4-FFF2-40B4-BE49-F238E27FC236}">
                <a16:creationId xmlns:a16="http://schemas.microsoft.com/office/drawing/2014/main" id="{35ACFFD8-E1F3-DD85-367D-8E09CAC9C2A7}"/>
              </a:ext>
            </a:extLst>
          </p:cNvPr>
          <p:cNvSpPr txBox="1">
            <a:spLocks/>
          </p:cNvSpPr>
          <p:nvPr/>
        </p:nvSpPr>
        <p:spPr>
          <a:xfrm>
            <a:off x="6344186" y="2647652"/>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t>Entreprise</a:t>
            </a:r>
          </a:p>
        </p:txBody>
      </p:sp>
    </p:spTree>
    <p:extLst>
      <p:ext uri="{BB962C8B-B14F-4D97-AF65-F5344CB8AC3E}">
        <p14:creationId xmlns:p14="http://schemas.microsoft.com/office/powerpoint/2010/main" val="1902553356"/>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BFDB059-EBC7-4F12-DC2F-6BAFC5825DA8}"/>
              </a:ext>
            </a:extLst>
          </p:cNvPr>
          <p:cNvSpPr>
            <a:spLocks noGrp="1"/>
          </p:cNvSpPr>
          <p:nvPr>
            <p:ph type="title"/>
          </p:nvPr>
        </p:nvSpPr>
        <p:spPr/>
        <p:txBody>
          <a:bodyPr/>
          <a:lstStyle/>
          <a:p>
            <a:r>
              <a:rPr lang="fr-FR" dirty="0"/>
              <a:t>Pressions classiques d’une entreprise sur une de ses Communautés</a:t>
            </a:r>
          </a:p>
        </p:txBody>
      </p:sp>
      <p:pic>
        <p:nvPicPr>
          <p:cNvPr id="34" name="Graphique 33" descr="Poignée de main avec un remplissage uni">
            <a:extLst>
              <a:ext uri="{FF2B5EF4-FFF2-40B4-BE49-F238E27FC236}">
                <a16:creationId xmlns:a16="http://schemas.microsoft.com/office/drawing/2014/main" id="{CDCB9E17-1819-5C15-E8EF-7535B454647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581169" y="3105477"/>
            <a:ext cx="872062" cy="872062"/>
          </a:xfrm>
          <a:prstGeom prst="rect">
            <a:avLst/>
          </a:prstGeom>
        </p:spPr>
      </p:pic>
      <p:sp>
        <p:nvSpPr>
          <p:cNvPr id="38" name="ZoneTexte 37">
            <a:extLst>
              <a:ext uri="{FF2B5EF4-FFF2-40B4-BE49-F238E27FC236}">
                <a16:creationId xmlns:a16="http://schemas.microsoft.com/office/drawing/2014/main" id="{9EA2ECD6-5B3A-44E2-9DF5-E1058B4D60AA}"/>
              </a:ext>
            </a:extLst>
          </p:cNvPr>
          <p:cNvSpPr txBox="1"/>
          <p:nvPr/>
        </p:nvSpPr>
        <p:spPr>
          <a:xfrm>
            <a:off x="7366982" y="3822966"/>
            <a:ext cx="1286847" cy="830997"/>
          </a:xfrm>
          <a:prstGeom prst="rect">
            <a:avLst/>
          </a:prstGeom>
          <a:noFill/>
        </p:spPr>
        <p:txBody>
          <a:bodyPr wrap="square">
            <a:spAutoFit/>
          </a:bodyPr>
          <a:lstStyle/>
          <a:p>
            <a:pPr algn="ctr"/>
            <a:r>
              <a:rPr lang="fr-FR" sz="1200" dirty="0"/>
              <a:t>Demande d’engagement et d’ouverture aux autres</a:t>
            </a:r>
          </a:p>
        </p:txBody>
      </p:sp>
      <p:sp>
        <p:nvSpPr>
          <p:cNvPr id="40" name="ZoneTexte 39">
            <a:extLst>
              <a:ext uri="{FF2B5EF4-FFF2-40B4-BE49-F238E27FC236}">
                <a16:creationId xmlns:a16="http://schemas.microsoft.com/office/drawing/2014/main" id="{8D787522-A501-E8ED-A63F-EE2A042B3440}"/>
              </a:ext>
            </a:extLst>
          </p:cNvPr>
          <p:cNvSpPr txBox="1"/>
          <p:nvPr/>
        </p:nvSpPr>
        <p:spPr>
          <a:xfrm>
            <a:off x="8664724" y="3824436"/>
            <a:ext cx="1418652" cy="830997"/>
          </a:xfrm>
          <a:prstGeom prst="rect">
            <a:avLst/>
          </a:prstGeom>
          <a:noFill/>
        </p:spPr>
        <p:txBody>
          <a:bodyPr wrap="square">
            <a:spAutoFit/>
          </a:bodyPr>
          <a:lstStyle/>
          <a:p>
            <a:pPr algn="ctr"/>
            <a:r>
              <a:rPr lang="fr-FR" sz="1200" dirty="0"/>
              <a:t>Demande d’alignement avec les obligations existantes</a:t>
            </a:r>
          </a:p>
        </p:txBody>
      </p:sp>
      <p:pic>
        <p:nvPicPr>
          <p:cNvPr id="46" name="Graphique 45" descr="Presse-papiers vérifié avec un remplissage uni">
            <a:extLst>
              <a:ext uri="{FF2B5EF4-FFF2-40B4-BE49-F238E27FC236}">
                <a16:creationId xmlns:a16="http://schemas.microsoft.com/office/drawing/2014/main" id="{BA971D29-40DB-DD84-D40D-70BDE4BA092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57597" y="3052207"/>
            <a:ext cx="823101" cy="823101"/>
          </a:xfrm>
          <a:prstGeom prst="rect">
            <a:avLst/>
          </a:prstGeom>
        </p:spPr>
      </p:pic>
      <p:pic>
        <p:nvPicPr>
          <p:cNvPr id="50" name="Graphique 49" descr="Aspiration avec un remplissage uni">
            <a:extLst>
              <a:ext uri="{FF2B5EF4-FFF2-40B4-BE49-F238E27FC236}">
                <a16:creationId xmlns:a16="http://schemas.microsoft.com/office/drawing/2014/main" id="{052B6537-F661-ECD1-42CA-DDA83C1A5C0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263141" y="3073640"/>
            <a:ext cx="733363" cy="733363"/>
          </a:xfrm>
          <a:prstGeom prst="rect">
            <a:avLst/>
          </a:prstGeom>
        </p:spPr>
      </p:pic>
      <p:sp>
        <p:nvSpPr>
          <p:cNvPr id="51" name="ZoneTexte 50">
            <a:extLst>
              <a:ext uri="{FF2B5EF4-FFF2-40B4-BE49-F238E27FC236}">
                <a16:creationId xmlns:a16="http://schemas.microsoft.com/office/drawing/2014/main" id="{ABB56BAC-84D4-BA9B-A5ED-BECDAAC3B07A}"/>
              </a:ext>
            </a:extLst>
          </p:cNvPr>
          <p:cNvSpPr txBox="1"/>
          <p:nvPr/>
        </p:nvSpPr>
        <p:spPr>
          <a:xfrm>
            <a:off x="9994608" y="3807003"/>
            <a:ext cx="1191469" cy="830997"/>
          </a:xfrm>
          <a:prstGeom prst="rect">
            <a:avLst/>
          </a:prstGeom>
          <a:noFill/>
        </p:spPr>
        <p:txBody>
          <a:bodyPr wrap="square">
            <a:spAutoFit/>
          </a:bodyPr>
          <a:lstStyle/>
          <a:p>
            <a:pPr algn="ctr"/>
            <a:r>
              <a:rPr lang="fr-FR" sz="1200" dirty="0"/>
              <a:t>Demande de développement de compétences</a:t>
            </a:r>
          </a:p>
        </p:txBody>
      </p:sp>
      <p:pic>
        <p:nvPicPr>
          <p:cNvPr id="30" name="Graphique 29" descr="Bâtiment avec un remplissage uni">
            <a:extLst>
              <a:ext uri="{FF2B5EF4-FFF2-40B4-BE49-F238E27FC236}">
                <a16:creationId xmlns:a16="http://schemas.microsoft.com/office/drawing/2014/main" id="{359660C4-4990-BABB-39CC-C562CEC5229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262218" y="1584088"/>
            <a:ext cx="1419616" cy="1419616"/>
          </a:xfrm>
          <a:prstGeom prst="rect">
            <a:avLst/>
          </a:prstGeom>
        </p:spPr>
      </p:pic>
      <p:sp>
        <p:nvSpPr>
          <p:cNvPr id="31" name="Espace réservé du contenu 2">
            <a:extLst>
              <a:ext uri="{FF2B5EF4-FFF2-40B4-BE49-F238E27FC236}">
                <a16:creationId xmlns:a16="http://schemas.microsoft.com/office/drawing/2014/main" id="{E3CBB4EF-BCFD-74AE-D928-5FAE63A4F4BE}"/>
              </a:ext>
            </a:extLst>
          </p:cNvPr>
          <p:cNvSpPr txBox="1">
            <a:spLocks/>
          </p:cNvSpPr>
          <p:nvPr/>
        </p:nvSpPr>
        <p:spPr>
          <a:xfrm>
            <a:off x="6344186" y="2647652"/>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t>Entreprise</a:t>
            </a:r>
          </a:p>
        </p:txBody>
      </p:sp>
      <p:grpSp>
        <p:nvGrpSpPr>
          <p:cNvPr id="32" name="Groupe 31">
            <a:extLst>
              <a:ext uri="{FF2B5EF4-FFF2-40B4-BE49-F238E27FC236}">
                <a16:creationId xmlns:a16="http://schemas.microsoft.com/office/drawing/2014/main" id="{F7672616-95A1-7113-623F-D33D59801E02}"/>
              </a:ext>
            </a:extLst>
          </p:cNvPr>
          <p:cNvGrpSpPr/>
          <p:nvPr/>
        </p:nvGrpSpPr>
        <p:grpSpPr>
          <a:xfrm>
            <a:off x="5532430" y="5644200"/>
            <a:ext cx="1004893" cy="847205"/>
            <a:chOff x="8982504" y="3274976"/>
            <a:chExt cx="1230670" cy="1037553"/>
          </a:xfrm>
          <a:solidFill>
            <a:srgbClr val="ED7D31"/>
          </a:solidFill>
        </p:grpSpPr>
        <p:pic>
          <p:nvPicPr>
            <p:cNvPr id="33" name="Graphique 32" descr="Utilisateur avec un remplissage uni">
              <a:extLst>
                <a:ext uri="{FF2B5EF4-FFF2-40B4-BE49-F238E27FC236}">
                  <a16:creationId xmlns:a16="http://schemas.microsoft.com/office/drawing/2014/main" id="{4A7BFD41-273B-794F-E983-FD65A2E2CEA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301028" y="3274976"/>
              <a:ext cx="336064" cy="336064"/>
            </a:xfrm>
            <a:prstGeom prst="rect">
              <a:avLst/>
            </a:prstGeom>
          </p:spPr>
        </p:pic>
        <p:pic>
          <p:nvPicPr>
            <p:cNvPr id="35" name="Graphique 34" descr="Utilisateur avec un remplissage uni">
              <a:extLst>
                <a:ext uri="{FF2B5EF4-FFF2-40B4-BE49-F238E27FC236}">
                  <a16:creationId xmlns:a16="http://schemas.microsoft.com/office/drawing/2014/main" id="{ECA8674F-C54A-04FB-7570-428DC2B4CAB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54140" y="3512720"/>
              <a:ext cx="336064" cy="336064"/>
            </a:xfrm>
            <a:prstGeom prst="rect">
              <a:avLst/>
            </a:prstGeom>
          </p:spPr>
        </p:pic>
        <p:pic>
          <p:nvPicPr>
            <p:cNvPr id="36" name="Graphique 35" descr="Utilisateur avec un remplissage uni">
              <a:extLst>
                <a:ext uri="{FF2B5EF4-FFF2-40B4-BE49-F238E27FC236}">
                  <a16:creationId xmlns:a16="http://schemas.microsoft.com/office/drawing/2014/main" id="{016D22B6-DEDE-EF5B-6682-2DC49A0D849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345616" y="3561880"/>
              <a:ext cx="336064" cy="336064"/>
            </a:xfrm>
            <a:prstGeom prst="rect">
              <a:avLst/>
            </a:prstGeom>
          </p:spPr>
        </p:pic>
        <p:pic>
          <p:nvPicPr>
            <p:cNvPr id="37" name="Graphique 36" descr="Utilisateur avec un remplissage uni">
              <a:extLst>
                <a:ext uri="{FF2B5EF4-FFF2-40B4-BE49-F238E27FC236}">
                  <a16:creationId xmlns:a16="http://schemas.microsoft.com/office/drawing/2014/main" id="{3C580E7D-C1B3-F878-A1C3-DE9C5C00BD4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592504" y="3418428"/>
              <a:ext cx="336064" cy="336064"/>
            </a:xfrm>
            <a:prstGeom prst="rect">
              <a:avLst/>
            </a:prstGeom>
          </p:spPr>
        </p:pic>
        <p:pic>
          <p:nvPicPr>
            <p:cNvPr id="41" name="Graphique 40" descr="Utilisateur avec un remplissage uni">
              <a:extLst>
                <a:ext uri="{FF2B5EF4-FFF2-40B4-BE49-F238E27FC236}">
                  <a16:creationId xmlns:a16="http://schemas.microsoft.com/office/drawing/2014/main" id="{A3558D98-5FA9-70F8-89B6-E3B27FB7D51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635196" y="3680752"/>
              <a:ext cx="336064" cy="336064"/>
            </a:xfrm>
            <a:prstGeom prst="rect">
              <a:avLst/>
            </a:prstGeom>
          </p:spPr>
        </p:pic>
        <p:pic>
          <p:nvPicPr>
            <p:cNvPr id="42" name="Graphique 41" descr="Utilisateur avec un remplissage uni">
              <a:extLst>
                <a:ext uri="{FF2B5EF4-FFF2-40B4-BE49-F238E27FC236}">
                  <a16:creationId xmlns:a16="http://schemas.microsoft.com/office/drawing/2014/main" id="{F751F13D-C6AA-F817-479E-0D1651EB79C6}"/>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256440" y="3848784"/>
              <a:ext cx="336064" cy="336064"/>
            </a:xfrm>
            <a:prstGeom prst="rect">
              <a:avLst/>
            </a:prstGeom>
          </p:spPr>
        </p:pic>
        <p:pic>
          <p:nvPicPr>
            <p:cNvPr id="43" name="Graphique 42" descr="Utilisateur avec un remplissage uni">
              <a:extLst>
                <a:ext uri="{FF2B5EF4-FFF2-40B4-BE49-F238E27FC236}">
                  <a16:creationId xmlns:a16="http://schemas.microsoft.com/office/drawing/2014/main" id="{6CA1BCBC-30A3-9AB2-7C8A-5B0BA7E6D0C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982504" y="3835028"/>
              <a:ext cx="336064" cy="336064"/>
            </a:xfrm>
            <a:prstGeom prst="rect">
              <a:avLst/>
            </a:prstGeom>
          </p:spPr>
        </p:pic>
        <p:pic>
          <p:nvPicPr>
            <p:cNvPr id="45" name="Graphique 44" descr="Utilisateur avec un remplissage uni">
              <a:extLst>
                <a:ext uri="{FF2B5EF4-FFF2-40B4-BE49-F238E27FC236}">
                  <a16:creationId xmlns:a16="http://schemas.microsoft.com/office/drawing/2014/main" id="{3DD03898-B772-9DCC-8ABA-0E6B74D0AE0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520868" y="3943076"/>
              <a:ext cx="336064" cy="336064"/>
            </a:xfrm>
            <a:prstGeom prst="rect">
              <a:avLst/>
            </a:prstGeom>
          </p:spPr>
        </p:pic>
        <p:pic>
          <p:nvPicPr>
            <p:cNvPr id="48" name="Graphique 47" descr="Utilisateur avec un remplissage uni">
              <a:extLst>
                <a:ext uri="{FF2B5EF4-FFF2-40B4-BE49-F238E27FC236}">
                  <a16:creationId xmlns:a16="http://schemas.microsoft.com/office/drawing/2014/main" id="{4A79C01C-944D-44F1-47AC-101F8446AF4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742772" y="3976465"/>
              <a:ext cx="336064" cy="336064"/>
            </a:xfrm>
            <a:prstGeom prst="rect">
              <a:avLst/>
            </a:prstGeom>
          </p:spPr>
        </p:pic>
        <p:pic>
          <p:nvPicPr>
            <p:cNvPr id="49" name="Graphique 48" descr="Utilisateur avec un remplissage uni">
              <a:extLst>
                <a:ext uri="{FF2B5EF4-FFF2-40B4-BE49-F238E27FC236}">
                  <a16:creationId xmlns:a16="http://schemas.microsoft.com/office/drawing/2014/main" id="{2FBE3760-4B60-DA23-BE61-13466B9CC514}"/>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877110" y="3705332"/>
              <a:ext cx="336064" cy="336064"/>
            </a:xfrm>
            <a:prstGeom prst="rect">
              <a:avLst/>
            </a:prstGeom>
          </p:spPr>
        </p:pic>
        <p:pic>
          <p:nvPicPr>
            <p:cNvPr id="52" name="Graphique 51" descr="Utilisateur avec un remplissage uni">
              <a:extLst>
                <a:ext uri="{FF2B5EF4-FFF2-40B4-BE49-F238E27FC236}">
                  <a16:creationId xmlns:a16="http://schemas.microsoft.com/office/drawing/2014/main" id="{74EE590D-46DB-DC2E-16DB-F5854D671FB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856932" y="3429000"/>
              <a:ext cx="336064" cy="336064"/>
            </a:xfrm>
            <a:prstGeom prst="rect">
              <a:avLst/>
            </a:prstGeom>
          </p:spPr>
        </p:pic>
      </p:grpSp>
      <p:sp>
        <p:nvSpPr>
          <p:cNvPr id="53" name="Espace réservé du contenu 2">
            <a:extLst>
              <a:ext uri="{FF2B5EF4-FFF2-40B4-BE49-F238E27FC236}">
                <a16:creationId xmlns:a16="http://schemas.microsoft.com/office/drawing/2014/main" id="{1CA34F29-E3A1-573B-A561-D6758F11834B}"/>
              </a:ext>
            </a:extLst>
          </p:cNvPr>
          <p:cNvSpPr txBox="1">
            <a:spLocks/>
          </p:cNvSpPr>
          <p:nvPr/>
        </p:nvSpPr>
        <p:spPr>
          <a:xfrm>
            <a:off x="6470116" y="6027100"/>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54" name="Flèche : bas 53">
            <a:extLst>
              <a:ext uri="{FF2B5EF4-FFF2-40B4-BE49-F238E27FC236}">
                <a16:creationId xmlns:a16="http://schemas.microsoft.com/office/drawing/2014/main" id="{8B21B49B-D709-F0B4-97E8-12E11FBB6EB8}"/>
              </a:ext>
            </a:extLst>
          </p:cNvPr>
          <p:cNvSpPr/>
          <p:nvPr/>
        </p:nvSpPr>
        <p:spPr>
          <a:xfrm>
            <a:off x="4451541" y="2983313"/>
            <a:ext cx="3065893" cy="2640817"/>
          </a:xfrm>
          <a:prstGeom prst="downArrow">
            <a:avLst>
              <a:gd name="adj1" fmla="val 50000"/>
              <a:gd name="adj2" fmla="val 24115"/>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t>Pression de l’entreprise sur les membres</a:t>
            </a:r>
          </a:p>
        </p:txBody>
      </p:sp>
    </p:spTree>
    <p:extLst>
      <p:ext uri="{BB962C8B-B14F-4D97-AF65-F5344CB8AC3E}">
        <p14:creationId xmlns:p14="http://schemas.microsoft.com/office/powerpoint/2010/main" val="3318376735"/>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0FD6128-2BFA-B9E8-0D96-DD95E1C6A3EA}"/>
              </a:ext>
            </a:extLst>
          </p:cNvPr>
          <p:cNvSpPr>
            <a:spLocks noGrp="1"/>
          </p:cNvSpPr>
          <p:nvPr>
            <p:ph type="title"/>
          </p:nvPr>
        </p:nvSpPr>
        <p:spPr>
          <a:xfrm>
            <a:off x="838200" y="365126"/>
            <a:ext cx="10515600" cy="730150"/>
          </a:xfrm>
        </p:spPr>
        <p:txBody>
          <a:bodyPr>
            <a:normAutofit/>
          </a:bodyPr>
          <a:lstStyle/>
          <a:p>
            <a:r>
              <a:rPr lang="fr-FR" sz="4000" dirty="0"/>
              <a:t>Exemples de pression d’une partie vers l’autre</a:t>
            </a:r>
          </a:p>
        </p:txBody>
      </p:sp>
      <p:pic>
        <p:nvPicPr>
          <p:cNvPr id="4" name="Graphique 3" descr="Bâtiment avec un remplissage uni">
            <a:extLst>
              <a:ext uri="{FF2B5EF4-FFF2-40B4-BE49-F238E27FC236}">
                <a16:creationId xmlns:a16="http://schemas.microsoft.com/office/drawing/2014/main" id="{90009974-5B73-419C-754F-AD3C0212BF0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262218" y="1584088"/>
            <a:ext cx="1419616" cy="1419616"/>
          </a:xfrm>
          <a:prstGeom prst="rect">
            <a:avLst/>
          </a:prstGeom>
        </p:spPr>
      </p:pic>
      <p:sp>
        <p:nvSpPr>
          <p:cNvPr id="5" name="Espace réservé du contenu 2">
            <a:extLst>
              <a:ext uri="{FF2B5EF4-FFF2-40B4-BE49-F238E27FC236}">
                <a16:creationId xmlns:a16="http://schemas.microsoft.com/office/drawing/2014/main" id="{57B1F74D-6C8B-A6AF-D8A7-AF7BD80AF706}"/>
              </a:ext>
            </a:extLst>
          </p:cNvPr>
          <p:cNvSpPr txBox="1">
            <a:spLocks/>
          </p:cNvSpPr>
          <p:nvPr/>
        </p:nvSpPr>
        <p:spPr>
          <a:xfrm>
            <a:off x="6344186" y="2647652"/>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t>Entreprise</a:t>
            </a:r>
          </a:p>
        </p:txBody>
      </p:sp>
      <p:grpSp>
        <p:nvGrpSpPr>
          <p:cNvPr id="6" name="Groupe 5">
            <a:extLst>
              <a:ext uri="{FF2B5EF4-FFF2-40B4-BE49-F238E27FC236}">
                <a16:creationId xmlns:a16="http://schemas.microsoft.com/office/drawing/2014/main" id="{131EA7A3-66D7-BFB7-2376-6DBF1C43AD7F}"/>
              </a:ext>
            </a:extLst>
          </p:cNvPr>
          <p:cNvGrpSpPr/>
          <p:nvPr/>
        </p:nvGrpSpPr>
        <p:grpSpPr>
          <a:xfrm>
            <a:off x="5532430" y="5644200"/>
            <a:ext cx="1004893" cy="847205"/>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CF658B31-23DD-5568-7E37-689E1E64273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00D0B5A9-FD05-8287-7F98-D4B9B7552B3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66EBA1D2-872A-EF80-7415-4A6341098CB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6BF1D5E5-57FE-2910-35DF-A03BDA3F7F1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9BBABF30-C496-73D6-28B1-035464434E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FAB437BE-F0FE-FDB9-445A-931E05F9D29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4C512BB8-8004-F768-E8AF-5E7549FF39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FA9FBA61-2605-82EF-DB63-542D67F03C3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53975B6C-AF94-B80D-EF34-25160BD671E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324E8EE8-592A-CDC0-5463-A5D912A8C43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79C07627-89F9-70CA-669A-2845B6DE2BD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8" name="Flèche : bas 17">
            <a:extLst>
              <a:ext uri="{FF2B5EF4-FFF2-40B4-BE49-F238E27FC236}">
                <a16:creationId xmlns:a16="http://schemas.microsoft.com/office/drawing/2014/main" id="{93DB44B2-F4A4-F4A0-DC0F-D0B13177144B}"/>
              </a:ext>
            </a:extLst>
          </p:cNvPr>
          <p:cNvSpPr/>
          <p:nvPr/>
        </p:nvSpPr>
        <p:spPr>
          <a:xfrm>
            <a:off x="5919909" y="3268066"/>
            <a:ext cx="1177114" cy="2238724"/>
          </a:xfrm>
          <a:prstGeom prst="downArrow">
            <a:avLst>
              <a:gd name="adj1" fmla="val 50000"/>
              <a:gd name="adj2" fmla="val 24115"/>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b="1" dirty="0"/>
          </a:p>
        </p:txBody>
      </p:sp>
      <p:sp>
        <p:nvSpPr>
          <p:cNvPr id="20" name="Flèche : haut 19">
            <a:extLst>
              <a:ext uri="{FF2B5EF4-FFF2-40B4-BE49-F238E27FC236}">
                <a16:creationId xmlns:a16="http://schemas.microsoft.com/office/drawing/2014/main" id="{9BC98EE1-CABA-1A7B-2142-765DF94DC13C}"/>
              </a:ext>
            </a:extLst>
          </p:cNvPr>
          <p:cNvSpPr/>
          <p:nvPr/>
        </p:nvSpPr>
        <p:spPr>
          <a:xfrm>
            <a:off x="5091654" y="2976800"/>
            <a:ext cx="1177114" cy="2251807"/>
          </a:xfrm>
          <a:prstGeom prst="upArrow">
            <a:avLst>
              <a:gd name="adj1" fmla="val 50000"/>
              <a:gd name="adj2" fmla="val 2582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21" name="Espace réservé du contenu 2">
            <a:extLst>
              <a:ext uri="{FF2B5EF4-FFF2-40B4-BE49-F238E27FC236}">
                <a16:creationId xmlns:a16="http://schemas.microsoft.com/office/drawing/2014/main" id="{72B5DEA1-3AEA-7724-F1E2-E9EA47CA2F4F}"/>
              </a:ext>
            </a:extLst>
          </p:cNvPr>
          <p:cNvSpPr txBox="1">
            <a:spLocks/>
          </p:cNvSpPr>
          <p:nvPr/>
        </p:nvSpPr>
        <p:spPr>
          <a:xfrm>
            <a:off x="6470116" y="6027100"/>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23" name="Rectangle 22">
            <a:extLst>
              <a:ext uri="{FF2B5EF4-FFF2-40B4-BE49-F238E27FC236}">
                <a16:creationId xmlns:a16="http://schemas.microsoft.com/office/drawing/2014/main" id="{62A5F976-C3E0-958F-9C3C-73E35AB0A9FD}"/>
              </a:ext>
            </a:extLst>
          </p:cNvPr>
          <p:cNvSpPr/>
          <p:nvPr/>
        </p:nvSpPr>
        <p:spPr>
          <a:xfrm>
            <a:off x="9567564" y="4236419"/>
            <a:ext cx="2079940" cy="10122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Peut-on se permettre, pendant le temps de travail, et quand les clients sont encore en demande, de se consacrer à des associations ou à ce qui peut être vu (de loin) comme des trivialités ? Les sujets opérationnels devraient être la priorité.</a:t>
            </a:r>
          </a:p>
        </p:txBody>
      </p:sp>
      <p:sp>
        <p:nvSpPr>
          <p:cNvPr id="25" name="Rectangle 24">
            <a:extLst>
              <a:ext uri="{FF2B5EF4-FFF2-40B4-BE49-F238E27FC236}">
                <a16:creationId xmlns:a16="http://schemas.microsoft.com/office/drawing/2014/main" id="{51B72B33-D7DA-C04D-E9DA-957BE1D084DF}"/>
              </a:ext>
            </a:extLst>
          </p:cNvPr>
          <p:cNvSpPr/>
          <p:nvPr/>
        </p:nvSpPr>
        <p:spPr>
          <a:xfrm>
            <a:off x="7346404" y="4236419"/>
            <a:ext cx="2079940" cy="10122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 plan de recrutement et le bilan collectif des compétences a montré qu’il manquait certaines compétences dans le département, nécessaire au bon entretien des actifs et des activités. Ce serait bien que la Communauté aborde ces sujets en priorité.  </a:t>
            </a:r>
          </a:p>
        </p:txBody>
      </p:sp>
      <p:sp>
        <p:nvSpPr>
          <p:cNvPr id="27" name="Rectangle 26">
            <a:extLst>
              <a:ext uri="{FF2B5EF4-FFF2-40B4-BE49-F238E27FC236}">
                <a16:creationId xmlns:a16="http://schemas.microsoft.com/office/drawing/2014/main" id="{C3492821-B678-99A5-F600-BC6176147CFF}"/>
              </a:ext>
            </a:extLst>
          </p:cNvPr>
          <p:cNvSpPr/>
          <p:nvPr/>
        </p:nvSpPr>
        <p:spPr>
          <a:xfrm>
            <a:off x="9567564" y="3124835"/>
            <a:ext cx="2079940" cy="10122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budgets ont été comme toujours difficiles à négocier, et un usage de budget un peu trop extravagant « en des temps de réductions budgétaires » peut être très mal vécu par les départements d’à-côté. Mieux vaut rester sobre dans la Communauté.</a:t>
            </a:r>
          </a:p>
        </p:txBody>
      </p:sp>
      <p:sp>
        <p:nvSpPr>
          <p:cNvPr id="29" name="Rectangle 28">
            <a:extLst>
              <a:ext uri="{FF2B5EF4-FFF2-40B4-BE49-F238E27FC236}">
                <a16:creationId xmlns:a16="http://schemas.microsoft.com/office/drawing/2014/main" id="{FFABEA91-07FE-28C4-AEEC-89EAA7A030D1}"/>
              </a:ext>
            </a:extLst>
          </p:cNvPr>
          <p:cNvSpPr/>
          <p:nvPr/>
        </p:nvSpPr>
        <p:spPr>
          <a:xfrm>
            <a:off x="7346404" y="3124835"/>
            <a:ext cx="2079940" cy="10122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Cela fait déjà plusieurs mois que les membres s’investissent hebdomadairement dans la Communauté alors que leurs projets semblent être en difficulté. On leur demande de participer moins pour pouvoir travailler plus</a:t>
            </a:r>
          </a:p>
        </p:txBody>
      </p:sp>
      <p:sp>
        <p:nvSpPr>
          <p:cNvPr id="32" name="Rectangle 31">
            <a:extLst>
              <a:ext uri="{FF2B5EF4-FFF2-40B4-BE49-F238E27FC236}">
                <a16:creationId xmlns:a16="http://schemas.microsoft.com/office/drawing/2014/main" id="{8AF3524D-565A-F922-B160-4DE8ABBED061}"/>
              </a:ext>
            </a:extLst>
          </p:cNvPr>
          <p:cNvSpPr/>
          <p:nvPr/>
        </p:nvSpPr>
        <p:spPr>
          <a:xfrm>
            <a:off x="2696247" y="4204922"/>
            <a:ext cx="2079940" cy="10122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aimeraient bien travailler des technologies nouvelles ou au moins leurs versions à jour du marché plutôt que d’être contraints (dans la Communauté) de travailler sur les versions actuellement en production</a:t>
            </a:r>
          </a:p>
        </p:txBody>
      </p:sp>
      <p:sp>
        <p:nvSpPr>
          <p:cNvPr id="33" name="Rectangle 32">
            <a:extLst>
              <a:ext uri="{FF2B5EF4-FFF2-40B4-BE49-F238E27FC236}">
                <a16:creationId xmlns:a16="http://schemas.microsoft.com/office/drawing/2014/main" id="{370E3D57-A830-F165-D4AE-002F163283DF}"/>
              </a:ext>
            </a:extLst>
          </p:cNvPr>
          <p:cNvSpPr/>
          <p:nvPr/>
        </p:nvSpPr>
        <p:spPr>
          <a:xfrm>
            <a:off x="475087" y="4204922"/>
            <a:ext cx="2079940" cy="10122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est l’occasion de travailler sur des sujets qui ont un sens beaucoup plus concret que les réunions de pilotage du quotidien : aide aux associations, rencontres d’utilisateurs, entraide entre membres, …</a:t>
            </a:r>
          </a:p>
        </p:txBody>
      </p:sp>
      <p:sp>
        <p:nvSpPr>
          <p:cNvPr id="34" name="Rectangle 33">
            <a:extLst>
              <a:ext uri="{FF2B5EF4-FFF2-40B4-BE49-F238E27FC236}">
                <a16:creationId xmlns:a16="http://schemas.microsoft.com/office/drawing/2014/main" id="{C390CEE0-5EDF-ECD4-C3B6-8D9EA7EE8680}"/>
              </a:ext>
            </a:extLst>
          </p:cNvPr>
          <p:cNvSpPr/>
          <p:nvPr/>
        </p:nvSpPr>
        <p:spPr>
          <a:xfrm>
            <a:off x="2696247" y="3093338"/>
            <a:ext cx="2079940" cy="10122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Pour pouvoir apprendre et mettre en place des initiatives plus long terme avec la Communauté, les membres ont besoin de plus de temps et de liberté. Si on leur met la pression managériale, cela avance trop lentement pour être significatif ou intéressant.</a:t>
            </a:r>
          </a:p>
        </p:txBody>
      </p:sp>
      <p:sp>
        <p:nvSpPr>
          <p:cNvPr id="35" name="Rectangle 34">
            <a:extLst>
              <a:ext uri="{FF2B5EF4-FFF2-40B4-BE49-F238E27FC236}">
                <a16:creationId xmlns:a16="http://schemas.microsoft.com/office/drawing/2014/main" id="{DCDB7780-695A-400A-EDA4-05B2D846FAE5}"/>
              </a:ext>
            </a:extLst>
          </p:cNvPr>
          <p:cNvSpPr/>
          <p:nvPr/>
        </p:nvSpPr>
        <p:spPr>
          <a:xfrm>
            <a:off x="475087" y="3093338"/>
            <a:ext cx="2079940" cy="10122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Il est assez incroyable pour les membres qu’on puisse recruter autant de prestataires et leur permettre une forme d’inefficacité, alors qu’un micro-budget pour un événement clé de Communauté pourrait faire la différence sur l’engagement au quotidien.</a:t>
            </a:r>
          </a:p>
        </p:txBody>
      </p:sp>
    </p:spTree>
    <p:extLst>
      <p:ext uri="{BB962C8B-B14F-4D97-AF65-F5344CB8AC3E}">
        <p14:creationId xmlns:p14="http://schemas.microsoft.com/office/powerpoint/2010/main" val="2688283061"/>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Graphique 9" descr="Utilisateur avec un remplissage uni">
            <a:extLst>
              <a:ext uri="{FF2B5EF4-FFF2-40B4-BE49-F238E27FC236}">
                <a16:creationId xmlns:a16="http://schemas.microsoft.com/office/drawing/2014/main" id="{44A8E526-14C5-1C1B-3F86-3EDAD53D9C0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803796" y="5436021"/>
            <a:ext cx="546942" cy="546942"/>
          </a:xfrm>
          <a:prstGeom prst="rect">
            <a:avLst/>
          </a:prstGeom>
        </p:spPr>
      </p:pic>
      <p:pic>
        <p:nvPicPr>
          <p:cNvPr id="11" name="Graphique 10" descr="Utilisateur avec un remplissage uni">
            <a:extLst>
              <a:ext uri="{FF2B5EF4-FFF2-40B4-BE49-F238E27FC236}">
                <a16:creationId xmlns:a16="http://schemas.microsoft.com/office/drawing/2014/main" id="{1FED1BE9-017F-A00B-0ACC-CE56987C05C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088728" y="5436021"/>
            <a:ext cx="546942" cy="546942"/>
          </a:xfrm>
          <a:prstGeom prst="rect">
            <a:avLst/>
          </a:prstGeom>
        </p:spPr>
      </p:pic>
      <p:pic>
        <p:nvPicPr>
          <p:cNvPr id="12" name="Graphique 11" descr="Utilisateur avec un remplissage uni">
            <a:extLst>
              <a:ext uri="{FF2B5EF4-FFF2-40B4-BE49-F238E27FC236}">
                <a16:creationId xmlns:a16="http://schemas.microsoft.com/office/drawing/2014/main" id="{4EF77813-4192-FC7A-3FAD-4189AE5E543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67564" y="5436021"/>
            <a:ext cx="546942" cy="546942"/>
          </a:xfrm>
          <a:prstGeom prst="rect">
            <a:avLst/>
          </a:prstGeom>
        </p:spPr>
      </p:pic>
      <p:pic>
        <p:nvPicPr>
          <p:cNvPr id="13" name="Graphique 12" descr="Utilisateur avec un remplissage uni">
            <a:extLst>
              <a:ext uri="{FF2B5EF4-FFF2-40B4-BE49-F238E27FC236}">
                <a16:creationId xmlns:a16="http://schemas.microsoft.com/office/drawing/2014/main" id="{D0C68117-1618-DBF1-9064-91CD1333CCB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737571" y="5436021"/>
            <a:ext cx="546942" cy="546942"/>
          </a:xfrm>
          <a:prstGeom prst="rect">
            <a:avLst/>
          </a:prstGeom>
        </p:spPr>
      </p:pic>
      <p:grpSp>
        <p:nvGrpSpPr>
          <p:cNvPr id="130" name="Groupe 129">
            <a:extLst>
              <a:ext uri="{FF2B5EF4-FFF2-40B4-BE49-F238E27FC236}">
                <a16:creationId xmlns:a16="http://schemas.microsoft.com/office/drawing/2014/main" id="{7E68A4A0-A152-746C-41DD-7613DC34C93B}"/>
              </a:ext>
            </a:extLst>
          </p:cNvPr>
          <p:cNvGrpSpPr/>
          <p:nvPr/>
        </p:nvGrpSpPr>
        <p:grpSpPr>
          <a:xfrm>
            <a:off x="10839383" y="2433575"/>
            <a:ext cx="1234611" cy="1478678"/>
            <a:chOff x="10900856" y="1002375"/>
            <a:chExt cx="1234611" cy="1478678"/>
          </a:xfrm>
        </p:grpSpPr>
        <p:grpSp>
          <p:nvGrpSpPr>
            <p:cNvPr id="67" name="Groupe 66">
              <a:extLst>
                <a:ext uri="{FF2B5EF4-FFF2-40B4-BE49-F238E27FC236}">
                  <a16:creationId xmlns:a16="http://schemas.microsoft.com/office/drawing/2014/main" id="{91FFF4BF-E2B2-392D-522A-B5A0EAD75846}"/>
                </a:ext>
              </a:extLst>
            </p:cNvPr>
            <p:cNvGrpSpPr/>
            <p:nvPr/>
          </p:nvGrpSpPr>
          <p:grpSpPr>
            <a:xfrm>
              <a:off x="11015494" y="1002375"/>
              <a:ext cx="1004893" cy="847205"/>
              <a:chOff x="526728" y="3262391"/>
              <a:chExt cx="1230670" cy="1037553"/>
            </a:xfrm>
          </p:grpSpPr>
          <p:pic>
            <p:nvPicPr>
              <p:cNvPr id="5" name="Graphique 4" descr="Utilisateur avec un remplissage uni">
                <a:extLst>
                  <a:ext uri="{FF2B5EF4-FFF2-40B4-BE49-F238E27FC236}">
                    <a16:creationId xmlns:a16="http://schemas.microsoft.com/office/drawing/2014/main" id="{8FC7F187-577B-6A0A-F3D1-2D6C22227C6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45252" y="3262391"/>
                <a:ext cx="336064" cy="336064"/>
              </a:xfrm>
              <a:prstGeom prst="rect">
                <a:avLst/>
              </a:prstGeom>
            </p:spPr>
          </p:pic>
          <p:pic>
            <p:nvPicPr>
              <p:cNvPr id="6" name="Graphique 5" descr="Utilisateur avec un remplissage uni">
                <a:extLst>
                  <a:ext uri="{FF2B5EF4-FFF2-40B4-BE49-F238E27FC236}">
                    <a16:creationId xmlns:a16="http://schemas.microsoft.com/office/drawing/2014/main" id="{5D0C7364-DBAC-3202-A965-17CE03B97F6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98364" y="3500135"/>
                <a:ext cx="336064" cy="336064"/>
              </a:xfrm>
              <a:prstGeom prst="rect">
                <a:avLst/>
              </a:prstGeom>
            </p:spPr>
          </p:pic>
          <p:pic>
            <p:nvPicPr>
              <p:cNvPr id="7" name="Graphique 6" descr="Utilisateur avec un remplissage uni">
                <a:extLst>
                  <a:ext uri="{FF2B5EF4-FFF2-40B4-BE49-F238E27FC236}">
                    <a16:creationId xmlns:a16="http://schemas.microsoft.com/office/drawing/2014/main" id="{FD34AD63-A006-FD74-F3B0-7F921572C74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89840" y="3549295"/>
                <a:ext cx="336064" cy="336064"/>
              </a:xfrm>
              <a:prstGeom prst="rect">
                <a:avLst/>
              </a:prstGeom>
            </p:spPr>
          </p:pic>
          <p:pic>
            <p:nvPicPr>
              <p:cNvPr id="8" name="Graphique 7" descr="Utilisateur avec un remplissage uni">
                <a:extLst>
                  <a:ext uri="{FF2B5EF4-FFF2-40B4-BE49-F238E27FC236}">
                    <a16:creationId xmlns:a16="http://schemas.microsoft.com/office/drawing/2014/main" id="{0B6809A9-5719-CB5B-CB21-C1AFD5F2A66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36728" y="3405843"/>
                <a:ext cx="336064" cy="336064"/>
              </a:xfrm>
              <a:prstGeom prst="rect">
                <a:avLst/>
              </a:prstGeom>
            </p:spPr>
          </p:pic>
          <p:pic>
            <p:nvPicPr>
              <p:cNvPr id="9" name="Graphique 8" descr="Utilisateur avec un remplissage uni">
                <a:extLst>
                  <a:ext uri="{FF2B5EF4-FFF2-40B4-BE49-F238E27FC236}">
                    <a16:creationId xmlns:a16="http://schemas.microsoft.com/office/drawing/2014/main" id="{CC63751A-4E71-CE69-8E7D-51808CB187D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79420" y="3668167"/>
                <a:ext cx="336064" cy="336064"/>
              </a:xfrm>
              <a:prstGeom prst="rect">
                <a:avLst/>
              </a:prstGeom>
            </p:spPr>
          </p:pic>
          <p:pic>
            <p:nvPicPr>
              <p:cNvPr id="14" name="Graphique 13" descr="Utilisateur avec un remplissage uni">
                <a:extLst>
                  <a:ext uri="{FF2B5EF4-FFF2-40B4-BE49-F238E27FC236}">
                    <a16:creationId xmlns:a16="http://schemas.microsoft.com/office/drawing/2014/main" id="{887299DB-A3F2-2847-E660-B396F8715C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00664" y="3836199"/>
                <a:ext cx="336064" cy="336064"/>
              </a:xfrm>
              <a:prstGeom prst="rect">
                <a:avLst/>
              </a:prstGeom>
            </p:spPr>
          </p:pic>
          <p:pic>
            <p:nvPicPr>
              <p:cNvPr id="15" name="Graphique 14" descr="Utilisateur avec un remplissage uni">
                <a:extLst>
                  <a:ext uri="{FF2B5EF4-FFF2-40B4-BE49-F238E27FC236}">
                    <a16:creationId xmlns:a16="http://schemas.microsoft.com/office/drawing/2014/main" id="{A47ACDBC-BEAC-CDBF-841D-0CA2CDF66C8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26728" y="3822443"/>
                <a:ext cx="336064" cy="336064"/>
              </a:xfrm>
              <a:prstGeom prst="rect">
                <a:avLst/>
              </a:prstGeom>
            </p:spPr>
          </p:pic>
          <p:pic>
            <p:nvPicPr>
              <p:cNvPr id="16" name="Graphique 15" descr="Utilisateur avec un remplissage uni">
                <a:extLst>
                  <a:ext uri="{FF2B5EF4-FFF2-40B4-BE49-F238E27FC236}">
                    <a16:creationId xmlns:a16="http://schemas.microsoft.com/office/drawing/2014/main" id="{64E8C4B4-5B77-C727-0AB7-C7DF588E586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65092" y="3930491"/>
                <a:ext cx="336064" cy="336064"/>
              </a:xfrm>
              <a:prstGeom prst="rect">
                <a:avLst/>
              </a:prstGeom>
            </p:spPr>
          </p:pic>
          <p:pic>
            <p:nvPicPr>
              <p:cNvPr id="17" name="Graphique 16" descr="Utilisateur avec un remplissage uni">
                <a:extLst>
                  <a:ext uri="{FF2B5EF4-FFF2-40B4-BE49-F238E27FC236}">
                    <a16:creationId xmlns:a16="http://schemas.microsoft.com/office/drawing/2014/main" id="{0E31AAE0-4870-FA50-796B-F4468705A0F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286996" y="3963880"/>
                <a:ext cx="336064" cy="336064"/>
              </a:xfrm>
              <a:prstGeom prst="rect">
                <a:avLst/>
              </a:prstGeom>
            </p:spPr>
          </p:pic>
          <p:pic>
            <p:nvPicPr>
              <p:cNvPr id="18" name="Graphique 17" descr="Utilisateur avec un remplissage uni">
                <a:extLst>
                  <a:ext uri="{FF2B5EF4-FFF2-40B4-BE49-F238E27FC236}">
                    <a16:creationId xmlns:a16="http://schemas.microsoft.com/office/drawing/2014/main" id="{D3B17A36-63DC-A7F9-3DF6-1AFB455F9A4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421334" y="3692747"/>
                <a:ext cx="336064" cy="336064"/>
              </a:xfrm>
              <a:prstGeom prst="rect">
                <a:avLst/>
              </a:prstGeom>
            </p:spPr>
          </p:pic>
          <p:pic>
            <p:nvPicPr>
              <p:cNvPr id="19" name="Graphique 18" descr="Utilisateur avec un remplissage uni">
                <a:extLst>
                  <a:ext uri="{FF2B5EF4-FFF2-40B4-BE49-F238E27FC236}">
                    <a16:creationId xmlns:a16="http://schemas.microsoft.com/office/drawing/2014/main" id="{D4976C88-D205-F6CD-ED99-6AFF44F55C1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401156" y="3416415"/>
                <a:ext cx="336064" cy="336064"/>
              </a:xfrm>
              <a:prstGeom prst="rect">
                <a:avLst/>
              </a:prstGeom>
            </p:spPr>
          </p:pic>
        </p:grpSp>
        <p:sp>
          <p:nvSpPr>
            <p:cNvPr id="64" name="ZoneTexte 63">
              <a:extLst>
                <a:ext uri="{FF2B5EF4-FFF2-40B4-BE49-F238E27FC236}">
                  <a16:creationId xmlns:a16="http://schemas.microsoft.com/office/drawing/2014/main" id="{F0AFF57F-031A-B8CF-E6C8-AC6D2B1756E0}"/>
                </a:ext>
              </a:extLst>
            </p:cNvPr>
            <p:cNvSpPr txBox="1"/>
            <p:nvPr/>
          </p:nvSpPr>
          <p:spPr>
            <a:xfrm>
              <a:off x="10900856" y="2019388"/>
              <a:ext cx="1234611" cy="461665"/>
            </a:xfrm>
            <a:prstGeom prst="rect">
              <a:avLst/>
            </a:prstGeom>
            <a:noFill/>
          </p:spPr>
          <p:txBody>
            <a:bodyPr wrap="square">
              <a:spAutoFit/>
            </a:bodyPr>
            <a:lstStyle/>
            <a:p>
              <a:pPr lvl="0" algn="ctr"/>
              <a:r>
                <a:rPr lang="fr-FR" sz="1200" b="1" dirty="0"/>
                <a:t>Equipe transverse</a:t>
              </a:r>
              <a:endParaRPr lang="fr-FR" sz="1200" dirty="0"/>
            </a:p>
          </p:txBody>
        </p:sp>
      </p:grpSp>
      <p:grpSp>
        <p:nvGrpSpPr>
          <p:cNvPr id="129" name="Groupe 128">
            <a:extLst>
              <a:ext uri="{FF2B5EF4-FFF2-40B4-BE49-F238E27FC236}">
                <a16:creationId xmlns:a16="http://schemas.microsoft.com/office/drawing/2014/main" id="{9018E372-5D03-EDC7-124A-660BA3B8BC8B}"/>
              </a:ext>
            </a:extLst>
          </p:cNvPr>
          <p:cNvGrpSpPr/>
          <p:nvPr/>
        </p:nvGrpSpPr>
        <p:grpSpPr>
          <a:xfrm>
            <a:off x="9690384" y="2629065"/>
            <a:ext cx="1234611" cy="1685743"/>
            <a:chOff x="9340989" y="1333708"/>
            <a:chExt cx="1234611" cy="1685743"/>
          </a:xfrm>
        </p:grpSpPr>
        <p:grpSp>
          <p:nvGrpSpPr>
            <p:cNvPr id="66" name="Groupe 65">
              <a:extLst>
                <a:ext uri="{FF2B5EF4-FFF2-40B4-BE49-F238E27FC236}">
                  <a16:creationId xmlns:a16="http://schemas.microsoft.com/office/drawing/2014/main" id="{93C1B13C-395E-139C-260A-8F2F493CB169}"/>
                </a:ext>
              </a:extLst>
            </p:cNvPr>
            <p:cNvGrpSpPr/>
            <p:nvPr/>
          </p:nvGrpSpPr>
          <p:grpSpPr>
            <a:xfrm>
              <a:off x="9457741" y="1333708"/>
              <a:ext cx="1004893" cy="847205"/>
              <a:chOff x="2908831" y="3262391"/>
              <a:chExt cx="1230670" cy="1037553"/>
            </a:xfrm>
          </p:grpSpPr>
          <p:pic>
            <p:nvPicPr>
              <p:cNvPr id="20" name="Graphique 19" descr="Utilisateur avec un remplissage uni">
                <a:extLst>
                  <a:ext uri="{FF2B5EF4-FFF2-40B4-BE49-F238E27FC236}">
                    <a16:creationId xmlns:a16="http://schemas.microsoft.com/office/drawing/2014/main" id="{78D80F9B-153D-989D-A5BA-81BA962321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227355" y="3262391"/>
                <a:ext cx="336064" cy="336064"/>
              </a:xfrm>
              <a:prstGeom prst="rect">
                <a:avLst/>
              </a:prstGeom>
            </p:spPr>
          </p:pic>
          <p:pic>
            <p:nvPicPr>
              <p:cNvPr id="21" name="Graphique 20" descr="Utilisateur avec un remplissage uni">
                <a:extLst>
                  <a:ext uri="{FF2B5EF4-FFF2-40B4-BE49-F238E27FC236}">
                    <a16:creationId xmlns:a16="http://schemas.microsoft.com/office/drawing/2014/main" id="{968A9A0C-55B8-13FA-899B-5CB8EB98B4D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980467" y="3500135"/>
                <a:ext cx="336064" cy="336064"/>
              </a:xfrm>
              <a:prstGeom prst="rect">
                <a:avLst/>
              </a:prstGeom>
            </p:spPr>
          </p:pic>
          <p:pic>
            <p:nvPicPr>
              <p:cNvPr id="22" name="Graphique 21" descr="Utilisateur avec un remplissage uni">
                <a:extLst>
                  <a:ext uri="{FF2B5EF4-FFF2-40B4-BE49-F238E27FC236}">
                    <a16:creationId xmlns:a16="http://schemas.microsoft.com/office/drawing/2014/main" id="{24D2FC15-0E84-E05D-D62B-6B9D5BFB0A4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271943" y="3549295"/>
                <a:ext cx="336064" cy="336064"/>
              </a:xfrm>
              <a:prstGeom prst="rect">
                <a:avLst/>
              </a:prstGeom>
            </p:spPr>
          </p:pic>
          <p:pic>
            <p:nvPicPr>
              <p:cNvPr id="23" name="Graphique 22" descr="Utilisateur avec un remplissage uni">
                <a:extLst>
                  <a:ext uri="{FF2B5EF4-FFF2-40B4-BE49-F238E27FC236}">
                    <a16:creationId xmlns:a16="http://schemas.microsoft.com/office/drawing/2014/main" id="{6F5420D8-2AAD-225C-9DB6-AB90C66FA75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518831" y="3405843"/>
                <a:ext cx="336064" cy="336064"/>
              </a:xfrm>
              <a:prstGeom prst="rect">
                <a:avLst/>
              </a:prstGeom>
            </p:spPr>
          </p:pic>
          <p:pic>
            <p:nvPicPr>
              <p:cNvPr id="24" name="Graphique 23" descr="Utilisateur avec un remplissage uni">
                <a:extLst>
                  <a:ext uri="{FF2B5EF4-FFF2-40B4-BE49-F238E27FC236}">
                    <a16:creationId xmlns:a16="http://schemas.microsoft.com/office/drawing/2014/main" id="{387181F5-005E-3230-B50C-5B3FE71EAC5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61523" y="3668167"/>
                <a:ext cx="336064" cy="336064"/>
              </a:xfrm>
              <a:prstGeom prst="rect">
                <a:avLst/>
              </a:prstGeom>
            </p:spPr>
          </p:pic>
          <p:pic>
            <p:nvPicPr>
              <p:cNvPr id="25" name="Graphique 24" descr="Utilisateur avec un remplissage uni">
                <a:extLst>
                  <a:ext uri="{FF2B5EF4-FFF2-40B4-BE49-F238E27FC236}">
                    <a16:creationId xmlns:a16="http://schemas.microsoft.com/office/drawing/2014/main" id="{28E9E373-D824-A187-E905-0C9E02EA615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182767" y="3836199"/>
                <a:ext cx="336064" cy="336064"/>
              </a:xfrm>
              <a:prstGeom prst="rect">
                <a:avLst/>
              </a:prstGeom>
            </p:spPr>
          </p:pic>
          <p:pic>
            <p:nvPicPr>
              <p:cNvPr id="26" name="Graphique 25" descr="Utilisateur avec un remplissage uni">
                <a:extLst>
                  <a:ext uri="{FF2B5EF4-FFF2-40B4-BE49-F238E27FC236}">
                    <a16:creationId xmlns:a16="http://schemas.microsoft.com/office/drawing/2014/main" id="{5F055C6B-1644-B22C-F912-026336F866E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908831" y="3822443"/>
                <a:ext cx="336064" cy="336064"/>
              </a:xfrm>
              <a:prstGeom prst="rect">
                <a:avLst/>
              </a:prstGeom>
            </p:spPr>
          </p:pic>
          <p:pic>
            <p:nvPicPr>
              <p:cNvPr id="27" name="Graphique 26" descr="Utilisateur avec un remplissage uni">
                <a:extLst>
                  <a:ext uri="{FF2B5EF4-FFF2-40B4-BE49-F238E27FC236}">
                    <a16:creationId xmlns:a16="http://schemas.microsoft.com/office/drawing/2014/main" id="{2BE6EDB6-C9D1-0CF7-0522-052112EBBEE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47195" y="3930491"/>
                <a:ext cx="336064" cy="336064"/>
              </a:xfrm>
              <a:prstGeom prst="rect">
                <a:avLst/>
              </a:prstGeom>
            </p:spPr>
          </p:pic>
          <p:pic>
            <p:nvPicPr>
              <p:cNvPr id="28" name="Graphique 27" descr="Utilisateur avec un remplissage uni">
                <a:extLst>
                  <a:ext uri="{FF2B5EF4-FFF2-40B4-BE49-F238E27FC236}">
                    <a16:creationId xmlns:a16="http://schemas.microsoft.com/office/drawing/2014/main" id="{6473B3D4-3886-4233-79C3-82D812482B7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669099" y="3963880"/>
                <a:ext cx="336064" cy="336064"/>
              </a:xfrm>
              <a:prstGeom prst="rect">
                <a:avLst/>
              </a:prstGeom>
            </p:spPr>
          </p:pic>
          <p:pic>
            <p:nvPicPr>
              <p:cNvPr id="29" name="Graphique 28" descr="Utilisateur avec un remplissage uni">
                <a:extLst>
                  <a:ext uri="{FF2B5EF4-FFF2-40B4-BE49-F238E27FC236}">
                    <a16:creationId xmlns:a16="http://schemas.microsoft.com/office/drawing/2014/main" id="{C6977EB5-E0DB-9B3A-D3E8-9823748B2BC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03437" y="3692747"/>
                <a:ext cx="336064" cy="336064"/>
              </a:xfrm>
              <a:prstGeom prst="rect">
                <a:avLst/>
              </a:prstGeom>
            </p:spPr>
          </p:pic>
          <p:pic>
            <p:nvPicPr>
              <p:cNvPr id="30" name="Graphique 29" descr="Utilisateur avec un remplissage uni">
                <a:extLst>
                  <a:ext uri="{FF2B5EF4-FFF2-40B4-BE49-F238E27FC236}">
                    <a16:creationId xmlns:a16="http://schemas.microsoft.com/office/drawing/2014/main" id="{A2E50A28-13B0-186A-31C7-B3925D21DE3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783259" y="3416415"/>
                <a:ext cx="336064" cy="336064"/>
              </a:xfrm>
              <a:prstGeom prst="rect">
                <a:avLst/>
              </a:prstGeom>
            </p:spPr>
          </p:pic>
        </p:grpSp>
        <p:sp>
          <p:nvSpPr>
            <p:cNvPr id="65" name="ZoneTexte 64">
              <a:extLst>
                <a:ext uri="{FF2B5EF4-FFF2-40B4-BE49-F238E27FC236}">
                  <a16:creationId xmlns:a16="http://schemas.microsoft.com/office/drawing/2014/main" id="{BA307FD2-CAE3-3B95-CB09-CAAA2CE512D6}"/>
                </a:ext>
              </a:extLst>
            </p:cNvPr>
            <p:cNvSpPr txBox="1"/>
            <p:nvPr/>
          </p:nvSpPr>
          <p:spPr>
            <a:xfrm>
              <a:off x="9340989" y="2373120"/>
              <a:ext cx="1234611" cy="646331"/>
            </a:xfrm>
            <a:prstGeom prst="rect">
              <a:avLst/>
            </a:prstGeom>
            <a:noFill/>
          </p:spPr>
          <p:txBody>
            <a:bodyPr wrap="square">
              <a:spAutoFit/>
            </a:bodyPr>
            <a:lstStyle/>
            <a:p>
              <a:pPr lvl="0" algn="ctr"/>
              <a:r>
                <a:rPr lang="fr-FR" sz="1200" b="1" dirty="0"/>
                <a:t>Projet transverse, Taskforce</a:t>
              </a:r>
              <a:endParaRPr lang="fr-FR" sz="1200" dirty="0"/>
            </a:p>
          </p:txBody>
        </p:sp>
      </p:grpSp>
      <p:grpSp>
        <p:nvGrpSpPr>
          <p:cNvPr id="128" name="Groupe 127">
            <a:extLst>
              <a:ext uri="{FF2B5EF4-FFF2-40B4-BE49-F238E27FC236}">
                <a16:creationId xmlns:a16="http://schemas.microsoft.com/office/drawing/2014/main" id="{B50A9651-DA03-505B-9D8D-63F18CB2E268}"/>
              </a:ext>
            </a:extLst>
          </p:cNvPr>
          <p:cNvGrpSpPr/>
          <p:nvPr/>
        </p:nvGrpSpPr>
        <p:grpSpPr>
          <a:xfrm>
            <a:off x="8362043" y="2904060"/>
            <a:ext cx="1234611" cy="1730997"/>
            <a:chOff x="7814839" y="1289648"/>
            <a:chExt cx="1234611" cy="1730997"/>
          </a:xfrm>
        </p:grpSpPr>
        <p:grpSp>
          <p:nvGrpSpPr>
            <p:cNvPr id="68" name="Groupe 67">
              <a:extLst>
                <a:ext uri="{FF2B5EF4-FFF2-40B4-BE49-F238E27FC236}">
                  <a16:creationId xmlns:a16="http://schemas.microsoft.com/office/drawing/2014/main" id="{07788589-03A6-C71D-2B49-0C425C43C90A}"/>
                </a:ext>
              </a:extLst>
            </p:cNvPr>
            <p:cNvGrpSpPr/>
            <p:nvPr/>
          </p:nvGrpSpPr>
          <p:grpSpPr>
            <a:xfrm>
              <a:off x="7924195" y="1289648"/>
              <a:ext cx="1004893" cy="847205"/>
              <a:chOff x="5160208" y="3308115"/>
              <a:chExt cx="1230670" cy="1037553"/>
            </a:xfrm>
          </p:grpSpPr>
          <p:pic>
            <p:nvPicPr>
              <p:cNvPr id="31" name="Graphique 30" descr="Utilisateur avec un remplissage uni">
                <a:extLst>
                  <a:ext uri="{FF2B5EF4-FFF2-40B4-BE49-F238E27FC236}">
                    <a16:creationId xmlns:a16="http://schemas.microsoft.com/office/drawing/2014/main" id="{7764A82A-076E-B743-ED34-43A13A1AD6C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478732" y="3308115"/>
                <a:ext cx="336064" cy="336064"/>
              </a:xfrm>
              <a:prstGeom prst="rect">
                <a:avLst/>
              </a:prstGeom>
            </p:spPr>
          </p:pic>
          <p:pic>
            <p:nvPicPr>
              <p:cNvPr id="32" name="Graphique 31" descr="Utilisateur avec un remplissage uni">
                <a:extLst>
                  <a:ext uri="{FF2B5EF4-FFF2-40B4-BE49-F238E27FC236}">
                    <a16:creationId xmlns:a16="http://schemas.microsoft.com/office/drawing/2014/main" id="{F34C5A78-3098-E934-22D4-1A724788A80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31844" y="3545859"/>
                <a:ext cx="336064" cy="336064"/>
              </a:xfrm>
              <a:prstGeom prst="rect">
                <a:avLst/>
              </a:prstGeom>
            </p:spPr>
          </p:pic>
          <p:pic>
            <p:nvPicPr>
              <p:cNvPr id="33" name="Graphique 32" descr="Utilisateur avec un remplissage uni">
                <a:extLst>
                  <a:ext uri="{FF2B5EF4-FFF2-40B4-BE49-F238E27FC236}">
                    <a16:creationId xmlns:a16="http://schemas.microsoft.com/office/drawing/2014/main" id="{4904843A-5B24-3377-6190-BCB8449E24C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523320" y="3595019"/>
                <a:ext cx="336064" cy="336064"/>
              </a:xfrm>
              <a:prstGeom prst="rect">
                <a:avLst/>
              </a:prstGeom>
            </p:spPr>
          </p:pic>
          <p:pic>
            <p:nvPicPr>
              <p:cNvPr id="34" name="Graphique 33" descr="Utilisateur avec un remplissage uni">
                <a:extLst>
                  <a:ext uri="{FF2B5EF4-FFF2-40B4-BE49-F238E27FC236}">
                    <a16:creationId xmlns:a16="http://schemas.microsoft.com/office/drawing/2014/main" id="{A40CA35F-E4B8-DD3B-C8A5-5763048A680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770208" y="3451567"/>
                <a:ext cx="336064" cy="336064"/>
              </a:xfrm>
              <a:prstGeom prst="rect">
                <a:avLst/>
              </a:prstGeom>
            </p:spPr>
          </p:pic>
          <p:pic>
            <p:nvPicPr>
              <p:cNvPr id="35" name="Graphique 34" descr="Utilisateur avec un remplissage uni">
                <a:extLst>
                  <a:ext uri="{FF2B5EF4-FFF2-40B4-BE49-F238E27FC236}">
                    <a16:creationId xmlns:a16="http://schemas.microsoft.com/office/drawing/2014/main" id="{1E91F410-1A31-4477-0D5A-68C3D5219AE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2900" y="3713891"/>
                <a:ext cx="336064" cy="336064"/>
              </a:xfrm>
              <a:prstGeom prst="rect">
                <a:avLst/>
              </a:prstGeom>
            </p:spPr>
          </p:pic>
          <p:pic>
            <p:nvPicPr>
              <p:cNvPr id="36" name="Graphique 35" descr="Utilisateur avec un remplissage uni">
                <a:extLst>
                  <a:ext uri="{FF2B5EF4-FFF2-40B4-BE49-F238E27FC236}">
                    <a16:creationId xmlns:a16="http://schemas.microsoft.com/office/drawing/2014/main" id="{93398A95-CAD9-32D8-9CEA-3C91E697D12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434144" y="3881923"/>
                <a:ext cx="336064" cy="336064"/>
              </a:xfrm>
              <a:prstGeom prst="rect">
                <a:avLst/>
              </a:prstGeom>
            </p:spPr>
          </p:pic>
          <p:pic>
            <p:nvPicPr>
              <p:cNvPr id="37" name="Graphique 36" descr="Utilisateur avec un remplissage uni">
                <a:extLst>
                  <a:ext uri="{FF2B5EF4-FFF2-40B4-BE49-F238E27FC236}">
                    <a16:creationId xmlns:a16="http://schemas.microsoft.com/office/drawing/2014/main" id="{E864CEFA-7E19-4BDE-2B13-70885C60DE4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160208" y="3868167"/>
                <a:ext cx="336064" cy="336064"/>
              </a:xfrm>
              <a:prstGeom prst="rect">
                <a:avLst/>
              </a:prstGeom>
            </p:spPr>
          </p:pic>
          <p:pic>
            <p:nvPicPr>
              <p:cNvPr id="38" name="Graphique 37" descr="Utilisateur avec un remplissage uni">
                <a:extLst>
                  <a:ext uri="{FF2B5EF4-FFF2-40B4-BE49-F238E27FC236}">
                    <a16:creationId xmlns:a16="http://schemas.microsoft.com/office/drawing/2014/main" id="{5AFE5638-3FF3-59C2-07B5-59AD71761C6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698572" y="3976215"/>
                <a:ext cx="336064" cy="336064"/>
              </a:xfrm>
              <a:prstGeom prst="rect">
                <a:avLst/>
              </a:prstGeom>
            </p:spPr>
          </p:pic>
          <p:pic>
            <p:nvPicPr>
              <p:cNvPr id="39" name="Graphique 38" descr="Utilisateur avec un remplissage uni">
                <a:extLst>
                  <a:ext uri="{FF2B5EF4-FFF2-40B4-BE49-F238E27FC236}">
                    <a16:creationId xmlns:a16="http://schemas.microsoft.com/office/drawing/2014/main" id="{06D419E6-F01A-517B-4643-AEA61E2D3F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920476" y="4009604"/>
                <a:ext cx="336064" cy="336064"/>
              </a:xfrm>
              <a:prstGeom prst="rect">
                <a:avLst/>
              </a:prstGeom>
            </p:spPr>
          </p:pic>
          <p:pic>
            <p:nvPicPr>
              <p:cNvPr id="40" name="Graphique 39" descr="Utilisateur avec un remplissage uni">
                <a:extLst>
                  <a:ext uri="{FF2B5EF4-FFF2-40B4-BE49-F238E27FC236}">
                    <a16:creationId xmlns:a16="http://schemas.microsoft.com/office/drawing/2014/main" id="{2C969C19-F489-C82A-E322-3C27EE52C22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54814" y="3738471"/>
                <a:ext cx="336064" cy="336064"/>
              </a:xfrm>
              <a:prstGeom prst="rect">
                <a:avLst/>
              </a:prstGeom>
            </p:spPr>
          </p:pic>
          <p:pic>
            <p:nvPicPr>
              <p:cNvPr id="41" name="Graphique 40" descr="Utilisateur avec un remplissage uni">
                <a:extLst>
                  <a:ext uri="{FF2B5EF4-FFF2-40B4-BE49-F238E27FC236}">
                    <a16:creationId xmlns:a16="http://schemas.microsoft.com/office/drawing/2014/main" id="{C2A70D9B-9F88-F542-EAC7-162B4924DD2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34636" y="3462139"/>
                <a:ext cx="336064" cy="336064"/>
              </a:xfrm>
              <a:prstGeom prst="rect">
                <a:avLst/>
              </a:prstGeom>
            </p:spPr>
          </p:pic>
        </p:grpSp>
        <p:sp>
          <p:nvSpPr>
            <p:cNvPr id="71" name="ZoneTexte 70">
              <a:extLst>
                <a:ext uri="{FF2B5EF4-FFF2-40B4-BE49-F238E27FC236}">
                  <a16:creationId xmlns:a16="http://schemas.microsoft.com/office/drawing/2014/main" id="{7745114B-7C4F-4465-0F77-CD20FC01226D}"/>
                </a:ext>
              </a:extLst>
            </p:cNvPr>
            <p:cNvSpPr txBox="1"/>
            <p:nvPr/>
          </p:nvSpPr>
          <p:spPr>
            <a:xfrm>
              <a:off x="7814839" y="2374314"/>
              <a:ext cx="1234611" cy="646331"/>
            </a:xfrm>
            <a:prstGeom prst="rect">
              <a:avLst/>
            </a:prstGeom>
            <a:noFill/>
          </p:spPr>
          <p:txBody>
            <a:bodyPr wrap="square">
              <a:spAutoFit/>
            </a:bodyPr>
            <a:lstStyle/>
            <a:p>
              <a:pPr lvl="0" algn="ctr"/>
              <a:r>
                <a:rPr lang="fr-FR" sz="1200" b="1" dirty="0"/>
                <a:t>Communauté massivement soutenue</a:t>
              </a:r>
              <a:endParaRPr lang="fr-FR" sz="1200" dirty="0"/>
            </a:p>
          </p:txBody>
        </p:sp>
      </p:grpSp>
      <p:grpSp>
        <p:nvGrpSpPr>
          <p:cNvPr id="126" name="Groupe 125">
            <a:extLst>
              <a:ext uri="{FF2B5EF4-FFF2-40B4-BE49-F238E27FC236}">
                <a16:creationId xmlns:a16="http://schemas.microsoft.com/office/drawing/2014/main" id="{83DA8CCC-3E4C-51A5-5442-17D67EAF971B}"/>
              </a:ext>
            </a:extLst>
          </p:cNvPr>
          <p:cNvGrpSpPr/>
          <p:nvPr/>
        </p:nvGrpSpPr>
        <p:grpSpPr>
          <a:xfrm>
            <a:off x="5705355" y="3464993"/>
            <a:ext cx="1234611" cy="1662317"/>
            <a:chOff x="4727856" y="2939324"/>
            <a:chExt cx="1234611" cy="1662317"/>
          </a:xfrm>
        </p:grpSpPr>
        <p:grpSp>
          <p:nvGrpSpPr>
            <p:cNvPr id="69" name="Groupe 68">
              <a:extLst>
                <a:ext uri="{FF2B5EF4-FFF2-40B4-BE49-F238E27FC236}">
                  <a16:creationId xmlns:a16="http://schemas.microsoft.com/office/drawing/2014/main" id="{3FF3C2E0-E341-7C46-48D5-4230DD8DD28C}"/>
                </a:ext>
              </a:extLst>
            </p:cNvPr>
            <p:cNvGrpSpPr/>
            <p:nvPr/>
          </p:nvGrpSpPr>
          <p:grpSpPr>
            <a:xfrm>
              <a:off x="4842715" y="2939324"/>
              <a:ext cx="1004893" cy="847205"/>
              <a:chOff x="7146490" y="3274976"/>
              <a:chExt cx="1230670" cy="1037553"/>
            </a:xfrm>
          </p:grpSpPr>
          <p:pic>
            <p:nvPicPr>
              <p:cNvPr id="42" name="Graphique 41" descr="Utilisateur avec un remplissage uni">
                <a:extLst>
                  <a:ext uri="{FF2B5EF4-FFF2-40B4-BE49-F238E27FC236}">
                    <a16:creationId xmlns:a16="http://schemas.microsoft.com/office/drawing/2014/main" id="{62BAA293-5013-E797-F209-B4B43D3B317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465014" y="3274976"/>
                <a:ext cx="336064" cy="336064"/>
              </a:xfrm>
              <a:prstGeom prst="rect">
                <a:avLst/>
              </a:prstGeom>
            </p:spPr>
          </p:pic>
          <p:pic>
            <p:nvPicPr>
              <p:cNvPr id="43" name="Graphique 42" descr="Utilisateur avec un remplissage uni">
                <a:extLst>
                  <a:ext uri="{FF2B5EF4-FFF2-40B4-BE49-F238E27FC236}">
                    <a16:creationId xmlns:a16="http://schemas.microsoft.com/office/drawing/2014/main" id="{25367222-3320-02A6-00B6-392FC0B7154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218126" y="3512720"/>
                <a:ext cx="336064" cy="336064"/>
              </a:xfrm>
              <a:prstGeom prst="rect">
                <a:avLst/>
              </a:prstGeom>
            </p:spPr>
          </p:pic>
          <p:pic>
            <p:nvPicPr>
              <p:cNvPr id="44" name="Graphique 43" descr="Utilisateur avec un remplissage uni">
                <a:extLst>
                  <a:ext uri="{FF2B5EF4-FFF2-40B4-BE49-F238E27FC236}">
                    <a16:creationId xmlns:a16="http://schemas.microsoft.com/office/drawing/2014/main" id="{97275152-9D31-0035-4C90-30E54F2B774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509602" y="3561880"/>
                <a:ext cx="336064" cy="336064"/>
              </a:xfrm>
              <a:prstGeom prst="rect">
                <a:avLst/>
              </a:prstGeom>
            </p:spPr>
          </p:pic>
          <p:pic>
            <p:nvPicPr>
              <p:cNvPr id="45" name="Graphique 44" descr="Utilisateur avec un remplissage uni">
                <a:extLst>
                  <a:ext uri="{FF2B5EF4-FFF2-40B4-BE49-F238E27FC236}">
                    <a16:creationId xmlns:a16="http://schemas.microsoft.com/office/drawing/2014/main" id="{D6C1545E-B48D-1BF1-E24D-39C3986E944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756490" y="3418428"/>
                <a:ext cx="336064" cy="336064"/>
              </a:xfrm>
              <a:prstGeom prst="rect">
                <a:avLst/>
              </a:prstGeom>
            </p:spPr>
          </p:pic>
          <p:pic>
            <p:nvPicPr>
              <p:cNvPr id="46" name="Graphique 45" descr="Utilisateur avec un remplissage uni">
                <a:extLst>
                  <a:ext uri="{FF2B5EF4-FFF2-40B4-BE49-F238E27FC236}">
                    <a16:creationId xmlns:a16="http://schemas.microsoft.com/office/drawing/2014/main" id="{1FF02EE8-C8C3-D416-5BF3-33C00850D78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799182" y="3680752"/>
                <a:ext cx="336064" cy="336064"/>
              </a:xfrm>
              <a:prstGeom prst="rect">
                <a:avLst/>
              </a:prstGeom>
            </p:spPr>
          </p:pic>
          <p:pic>
            <p:nvPicPr>
              <p:cNvPr id="47" name="Graphique 46" descr="Utilisateur avec un remplissage uni">
                <a:extLst>
                  <a:ext uri="{FF2B5EF4-FFF2-40B4-BE49-F238E27FC236}">
                    <a16:creationId xmlns:a16="http://schemas.microsoft.com/office/drawing/2014/main" id="{5219EDCB-BB21-5242-EF88-75E5658E1A0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420426" y="3848784"/>
                <a:ext cx="336064" cy="336064"/>
              </a:xfrm>
              <a:prstGeom prst="rect">
                <a:avLst/>
              </a:prstGeom>
            </p:spPr>
          </p:pic>
          <p:pic>
            <p:nvPicPr>
              <p:cNvPr id="48" name="Graphique 47" descr="Utilisateur avec un remplissage uni">
                <a:extLst>
                  <a:ext uri="{FF2B5EF4-FFF2-40B4-BE49-F238E27FC236}">
                    <a16:creationId xmlns:a16="http://schemas.microsoft.com/office/drawing/2014/main" id="{A6B79196-ABFE-2104-8037-44EF2C1079A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146490" y="3835028"/>
                <a:ext cx="336064" cy="336064"/>
              </a:xfrm>
              <a:prstGeom prst="rect">
                <a:avLst/>
              </a:prstGeom>
            </p:spPr>
          </p:pic>
          <p:pic>
            <p:nvPicPr>
              <p:cNvPr id="49" name="Graphique 48" descr="Utilisateur avec un remplissage uni">
                <a:extLst>
                  <a:ext uri="{FF2B5EF4-FFF2-40B4-BE49-F238E27FC236}">
                    <a16:creationId xmlns:a16="http://schemas.microsoft.com/office/drawing/2014/main" id="{4D123222-794D-EEB6-B981-FB146BE9F65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84854" y="3943076"/>
                <a:ext cx="336064" cy="336064"/>
              </a:xfrm>
              <a:prstGeom prst="rect">
                <a:avLst/>
              </a:prstGeom>
            </p:spPr>
          </p:pic>
          <p:pic>
            <p:nvPicPr>
              <p:cNvPr id="50" name="Graphique 49" descr="Utilisateur avec un remplissage uni">
                <a:extLst>
                  <a:ext uri="{FF2B5EF4-FFF2-40B4-BE49-F238E27FC236}">
                    <a16:creationId xmlns:a16="http://schemas.microsoft.com/office/drawing/2014/main" id="{3743344F-72ED-D7DE-FB0D-47B285E3216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906758" y="3976465"/>
                <a:ext cx="336064" cy="336064"/>
              </a:xfrm>
              <a:prstGeom prst="rect">
                <a:avLst/>
              </a:prstGeom>
            </p:spPr>
          </p:pic>
          <p:pic>
            <p:nvPicPr>
              <p:cNvPr id="51" name="Graphique 50" descr="Utilisateur avec un remplissage uni">
                <a:extLst>
                  <a:ext uri="{FF2B5EF4-FFF2-40B4-BE49-F238E27FC236}">
                    <a16:creationId xmlns:a16="http://schemas.microsoft.com/office/drawing/2014/main" id="{9242942C-02CA-E70C-7D40-CBF58F14D52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041096" y="3705332"/>
                <a:ext cx="336064" cy="336064"/>
              </a:xfrm>
              <a:prstGeom prst="rect">
                <a:avLst/>
              </a:prstGeom>
            </p:spPr>
          </p:pic>
          <p:pic>
            <p:nvPicPr>
              <p:cNvPr id="52" name="Graphique 51" descr="Utilisateur avec un remplissage uni">
                <a:extLst>
                  <a:ext uri="{FF2B5EF4-FFF2-40B4-BE49-F238E27FC236}">
                    <a16:creationId xmlns:a16="http://schemas.microsoft.com/office/drawing/2014/main" id="{D0B5433F-CDA3-4BB9-9606-589EB9EE1EC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020918" y="3429000"/>
                <a:ext cx="336064" cy="336064"/>
              </a:xfrm>
              <a:prstGeom prst="rect">
                <a:avLst/>
              </a:prstGeom>
            </p:spPr>
          </p:pic>
        </p:grpSp>
        <p:sp>
          <p:nvSpPr>
            <p:cNvPr id="72" name="ZoneTexte 71">
              <a:extLst>
                <a:ext uri="{FF2B5EF4-FFF2-40B4-BE49-F238E27FC236}">
                  <a16:creationId xmlns:a16="http://schemas.microsoft.com/office/drawing/2014/main" id="{86EC8E81-F608-9102-1933-2242F66E282A}"/>
                </a:ext>
              </a:extLst>
            </p:cNvPr>
            <p:cNvSpPr txBox="1"/>
            <p:nvPr/>
          </p:nvSpPr>
          <p:spPr>
            <a:xfrm>
              <a:off x="4727856" y="3955310"/>
              <a:ext cx="1234611" cy="646331"/>
            </a:xfrm>
            <a:prstGeom prst="rect">
              <a:avLst/>
            </a:prstGeom>
            <a:noFill/>
          </p:spPr>
          <p:txBody>
            <a:bodyPr wrap="square">
              <a:spAutoFit/>
            </a:bodyPr>
            <a:lstStyle/>
            <a:p>
              <a:pPr lvl="0" algn="ctr"/>
              <a:r>
                <a:rPr lang="fr-FR" sz="1200" b="1" dirty="0"/>
                <a:t>Communauté d’entreprise soutenue</a:t>
              </a:r>
              <a:endParaRPr lang="fr-FR" sz="1200" dirty="0"/>
            </a:p>
          </p:txBody>
        </p:sp>
      </p:grpSp>
      <p:grpSp>
        <p:nvGrpSpPr>
          <p:cNvPr id="127" name="Groupe 126">
            <a:extLst>
              <a:ext uri="{FF2B5EF4-FFF2-40B4-BE49-F238E27FC236}">
                <a16:creationId xmlns:a16="http://schemas.microsoft.com/office/drawing/2014/main" id="{111C1CA9-040C-5F36-6A81-D2299D67F531}"/>
              </a:ext>
            </a:extLst>
          </p:cNvPr>
          <p:cNvGrpSpPr/>
          <p:nvPr/>
        </p:nvGrpSpPr>
        <p:grpSpPr>
          <a:xfrm>
            <a:off x="7033699" y="3213052"/>
            <a:ext cx="1234611" cy="1860830"/>
            <a:chOff x="6265567" y="2309683"/>
            <a:chExt cx="1234611" cy="1860830"/>
          </a:xfrm>
        </p:grpSpPr>
        <p:grpSp>
          <p:nvGrpSpPr>
            <p:cNvPr id="70" name="Groupe 69">
              <a:extLst>
                <a:ext uri="{FF2B5EF4-FFF2-40B4-BE49-F238E27FC236}">
                  <a16:creationId xmlns:a16="http://schemas.microsoft.com/office/drawing/2014/main" id="{A166FD07-4F2B-54A9-E958-10FE9BF21663}"/>
                </a:ext>
              </a:extLst>
            </p:cNvPr>
            <p:cNvGrpSpPr/>
            <p:nvPr/>
          </p:nvGrpSpPr>
          <p:grpSpPr>
            <a:xfrm>
              <a:off x="6380426" y="2309683"/>
              <a:ext cx="1004893" cy="847205"/>
              <a:chOff x="8982504" y="3274976"/>
              <a:chExt cx="1230670" cy="1037553"/>
            </a:xfrm>
          </p:grpSpPr>
          <p:pic>
            <p:nvPicPr>
              <p:cNvPr id="53" name="Graphique 52" descr="Utilisateur avec un remplissage uni">
                <a:extLst>
                  <a:ext uri="{FF2B5EF4-FFF2-40B4-BE49-F238E27FC236}">
                    <a16:creationId xmlns:a16="http://schemas.microsoft.com/office/drawing/2014/main" id="{6470B7D0-87B9-45E7-A1AE-A91292D656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54" name="Graphique 53" descr="Utilisateur avec un remplissage uni">
                <a:extLst>
                  <a:ext uri="{FF2B5EF4-FFF2-40B4-BE49-F238E27FC236}">
                    <a16:creationId xmlns:a16="http://schemas.microsoft.com/office/drawing/2014/main" id="{B67B3AAA-F911-3285-5A9D-C2999584A6D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55" name="Graphique 54" descr="Utilisateur avec un remplissage uni">
                <a:extLst>
                  <a:ext uri="{FF2B5EF4-FFF2-40B4-BE49-F238E27FC236}">
                    <a16:creationId xmlns:a16="http://schemas.microsoft.com/office/drawing/2014/main" id="{33FA4526-DF48-39A1-08F8-F48CDD09C87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56" name="Graphique 55" descr="Utilisateur avec un remplissage uni">
                <a:extLst>
                  <a:ext uri="{FF2B5EF4-FFF2-40B4-BE49-F238E27FC236}">
                    <a16:creationId xmlns:a16="http://schemas.microsoft.com/office/drawing/2014/main" id="{A342AED5-5037-59EC-4ACA-115955E1D65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57" name="Graphique 56" descr="Utilisateur avec un remplissage uni">
                <a:extLst>
                  <a:ext uri="{FF2B5EF4-FFF2-40B4-BE49-F238E27FC236}">
                    <a16:creationId xmlns:a16="http://schemas.microsoft.com/office/drawing/2014/main" id="{1775B333-CD21-66A0-F0C7-776346FCA5F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58" name="Graphique 57" descr="Utilisateur avec un remplissage uni">
                <a:extLst>
                  <a:ext uri="{FF2B5EF4-FFF2-40B4-BE49-F238E27FC236}">
                    <a16:creationId xmlns:a16="http://schemas.microsoft.com/office/drawing/2014/main" id="{2811BE26-16E4-0E1F-721A-DC99ACD30C7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59" name="Graphique 58" descr="Utilisateur avec un remplissage uni">
                <a:extLst>
                  <a:ext uri="{FF2B5EF4-FFF2-40B4-BE49-F238E27FC236}">
                    <a16:creationId xmlns:a16="http://schemas.microsoft.com/office/drawing/2014/main" id="{EB295D86-2CBC-6319-3B86-2EA2A60B149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60" name="Graphique 59" descr="Utilisateur avec un remplissage uni">
                <a:extLst>
                  <a:ext uri="{FF2B5EF4-FFF2-40B4-BE49-F238E27FC236}">
                    <a16:creationId xmlns:a16="http://schemas.microsoft.com/office/drawing/2014/main" id="{A1FF8083-0AA6-7EB2-69D1-645DF59A890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61" name="Graphique 60" descr="Utilisateur avec un remplissage uni">
                <a:extLst>
                  <a:ext uri="{FF2B5EF4-FFF2-40B4-BE49-F238E27FC236}">
                    <a16:creationId xmlns:a16="http://schemas.microsoft.com/office/drawing/2014/main" id="{22E57485-E236-86C4-7837-06335B403CE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42772" y="3976465"/>
                <a:ext cx="336064" cy="336064"/>
              </a:xfrm>
              <a:prstGeom prst="rect">
                <a:avLst/>
              </a:prstGeom>
            </p:spPr>
          </p:pic>
          <p:pic>
            <p:nvPicPr>
              <p:cNvPr id="62" name="Graphique 61" descr="Utilisateur avec un remplissage uni">
                <a:extLst>
                  <a:ext uri="{FF2B5EF4-FFF2-40B4-BE49-F238E27FC236}">
                    <a16:creationId xmlns:a16="http://schemas.microsoft.com/office/drawing/2014/main" id="{44DC4D50-A64E-AB75-B6FA-5D968EE5C42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63" name="Graphique 62" descr="Utilisateur avec un remplissage uni">
                <a:extLst>
                  <a:ext uri="{FF2B5EF4-FFF2-40B4-BE49-F238E27FC236}">
                    <a16:creationId xmlns:a16="http://schemas.microsoft.com/office/drawing/2014/main" id="{065EF49D-8C2B-4434-B424-2AC7B5151C1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sp>
          <p:nvSpPr>
            <p:cNvPr id="73" name="ZoneTexte 72">
              <a:extLst>
                <a:ext uri="{FF2B5EF4-FFF2-40B4-BE49-F238E27FC236}">
                  <a16:creationId xmlns:a16="http://schemas.microsoft.com/office/drawing/2014/main" id="{E51C4F73-2C38-7AEA-4396-6517304A17B6}"/>
                </a:ext>
              </a:extLst>
            </p:cNvPr>
            <p:cNvSpPr txBox="1"/>
            <p:nvPr/>
          </p:nvSpPr>
          <p:spPr>
            <a:xfrm>
              <a:off x="6265567" y="3339516"/>
              <a:ext cx="1234611" cy="830997"/>
            </a:xfrm>
            <a:prstGeom prst="rect">
              <a:avLst/>
            </a:prstGeom>
            <a:noFill/>
          </p:spPr>
          <p:txBody>
            <a:bodyPr wrap="square">
              <a:spAutoFit/>
            </a:bodyPr>
            <a:lstStyle/>
            <a:p>
              <a:pPr lvl="0" algn="ctr"/>
              <a:r>
                <a:rPr lang="fr-FR" sz="1200" b="1" dirty="0"/>
                <a:t>Communauté d’entreprise officiellement animée</a:t>
              </a:r>
              <a:endParaRPr lang="fr-FR" sz="1200" dirty="0"/>
            </a:p>
          </p:txBody>
        </p:sp>
      </p:grpSp>
      <p:grpSp>
        <p:nvGrpSpPr>
          <p:cNvPr id="124" name="Groupe 123">
            <a:extLst>
              <a:ext uri="{FF2B5EF4-FFF2-40B4-BE49-F238E27FC236}">
                <a16:creationId xmlns:a16="http://schemas.microsoft.com/office/drawing/2014/main" id="{CC9DC39A-1059-C0B7-0C31-905D5DF30379}"/>
              </a:ext>
            </a:extLst>
          </p:cNvPr>
          <p:cNvGrpSpPr/>
          <p:nvPr/>
        </p:nvGrpSpPr>
        <p:grpSpPr>
          <a:xfrm>
            <a:off x="1720323" y="4151043"/>
            <a:ext cx="1234611" cy="1500187"/>
            <a:chOff x="1652434" y="3869336"/>
            <a:chExt cx="1234611" cy="1500187"/>
          </a:xfrm>
        </p:grpSpPr>
        <p:sp>
          <p:nvSpPr>
            <p:cNvPr id="74" name="ZoneTexte 73">
              <a:extLst>
                <a:ext uri="{FF2B5EF4-FFF2-40B4-BE49-F238E27FC236}">
                  <a16:creationId xmlns:a16="http://schemas.microsoft.com/office/drawing/2014/main" id="{329C2CFD-4E60-F875-C658-F6BDE66A7673}"/>
                </a:ext>
              </a:extLst>
            </p:cNvPr>
            <p:cNvSpPr txBox="1"/>
            <p:nvPr/>
          </p:nvSpPr>
          <p:spPr>
            <a:xfrm>
              <a:off x="1652434" y="4907858"/>
              <a:ext cx="1234611" cy="461665"/>
            </a:xfrm>
            <a:prstGeom prst="rect">
              <a:avLst/>
            </a:prstGeom>
            <a:noFill/>
          </p:spPr>
          <p:txBody>
            <a:bodyPr wrap="square">
              <a:spAutoFit/>
            </a:bodyPr>
            <a:lstStyle/>
            <a:p>
              <a:pPr lvl="0" algn="ctr"/>
              <a:r>
                <a:rPr lang="fr-FR" sz="1200" b="1" dirty="0"/>
                <a:t>Communauté pro / perso </a:t>
              </a:r>
            </a:p>
          </p:txBody>
        </p:sp>
        <p:grpSp>
          <p:nvGrpSpPr>
            <p:cNvPr id="75" name="Groupe 74">
              <a:extLst>
                <a:ext uri="{FF2B5EF4-FFF2-40B4-BE49-F238E27FC236}">
                  <a16:creationId xmlns:a16="http://schemas.microsoft.com/office/drawing/2014/main" id="{27FDAD60-206C-E634-A1C3-A3D93B41F46E}"/>
                </a:ext>
              </a:extLst>
            </p:cNvPr>
            <p:cNvGrpSpPr/>
            <p:nvPr/>
          </p:nvGrpSpPr>
          <p:grpSpPr>
            <a:xfrm>
              <a:off x="1767293" y="3869336"/>
              <a:ext cx="1004893" cy="847205"/>
              <a:chOff x="8982504" y="3274976"/>
              <a:chExt cx="1230670" cy="1037553"/>
            </a:xfrm>
            <a:solidFill>
              <a:srgbClr val="ED7D31"/>
            </a:solidFill>
          </p:grpSpPr>
          <p:pic>
            <p:nvPicPr>
              <p:cNvPr id="76" name="Graphique 75" descr="Utilisateur avec un remplissage uni">
                <a:extLst>
                  <a:ext uri="{FF2B5EF4-FFF2-40B4-BE49-F238E27FC236}">
                    <a16:creationId xmlns:a16="http://schemas.microsoft.com/office/drawing/2014/main" id="{07234F4E-D63B-AA1A-879C-32195783690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77" name="Graphique 76" descr="Utilisateur avec un remplissage uni">
                <a:extLst>
                  <a:ext uri="{FF2B5EF4-FFF2-40B4-BE49-F238E27FC236}">
                    <a16:creationId xmlns:a16="http://schemas.microsoft.com/office/drawing/2014/main" id="{7FE735AF-39D8-02AA-A93F-DF797A1E77D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78" name="Graphique 77" descr="Utilisateur avec un remplissage uni">
                <a:extLst>
                  <a:ext uri="{FF2B5EF4-FFF2-40B4-BE49-F238E27FC236}">
                    <a16:creationId xmlns:a16="http://schemas.microsoft.com/office/drawing/2014/main" id="{830A84A4-2D5C-6266-32F1-347D8705E2B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79" name="Graphique 78" descr="Utilisateur avec un remplissage uni">
                <a:extLst>
                  <a:ext uri="{FF2B5EF4-FFF2-40B4-BE49-F238E27FC236}">
                    <a16:creationId xmlns:a16="http://schemas.microsoft.com/office/drawing/2014/main" id="{8A32E1C6-F528-45A7-6BA6-C711D3186A3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80" name="Graphique 79" descr="Utilisateur avec un remplissage uni">
                <a:extLst>
                  <a:ext uri="{FF2B5EF4-FFF2-40B4-BE49-F238E27FC236}">
                    <a16:creationId xmlns:a16="http://schemas.microsoft.com/office/drawing/2014/main" id="{7B98E08F-CB96-660A-0E66-CAC0A630AFD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81" name="Graphique 80" descr="Utilisateur avec un remplissage uni">
                <a:extLst>
                  <a:ext uri="{FF2B5EF4-FFF2-40B4-BE49-F238E27FC236}">
                    <a16:creationId xmlns:a16="http://schemas.microsoft.com/office/drawing/2014/main" id="{3DD040C2-42BE-7D53-7913-9F1902E55EC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82" name="Graphique 81" descr="Utilisateur avec un remplissage uni">
                <a:extLst>
                  <a:ext uri="{FF2B5EF4-FFF2-40B4-BE49-F238E27FC236}">
                    <a16:creationId xmlns:a16="http://schemas.microsoft.com/office/drawing/2014/main" id="{FEB1819B-20F5-D8A5-F24F-9F2858E0D68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83" name="Graphique 82" descr="Utilisateur avec un remplissage uni">
                <a:extLst>
                  <a:ext uri="{FF2B5EF4-FFF2-40B4-BE49-F238E27FC236}">
                    <a16:creationId xmlns:a16="http://schemas.microsoft.com/office/drawing/2014/main" id="{8C9E49A4-9AE0-CC2B-4226-8B3F1C8399A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7E05C734-D6EB-09D2-95EB-B384E527D8C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85" name="Graphique 84" descr="Utilisateur avec un remplissage uni">
                <a:extLst>
                  <a:ext uri="{FF2B5EF4-FFF2-40B4-BE49-F238E27FC236}">
                    <a16:creationId xmlns:a16="http://schemas.microsoft.com/office/drawing/2014/main" id="{6F5D7871-BFB1-2DAF-0F9C-09B9E8D1BFB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86" name="Graphique 85" descr="Utilisateur avec un remplissage uni">
                <a:extLst>
                  <a:ext uri="{FF2B5EF4-FFF2-40B4-BE49-F238E27FC236}">
                    <a16:creationId xmlns:a16="http://schemas.microsoft.com/office/drawing/2014/main" id="{C066D996-7EFC-549E-A9B9-FC94B0A85F3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grpSp>
        <p:nvGrpSpPr>
          <p:cNvPr id="125" name="Groupe 124">
            <a:extLst>
              <a:ext uri="{FF2B5EF4-FFF2-40B4-BE49-F238E27FC236}">
                <a16:creationId xmlns:a16="http://schemas.microsoft.com/office/drawing/2014/main" id="{1434ABF2-6961-11AB-E8F3-4372FDBED374}"/>
              </a:ext>
            </a:extLst>
          </p:cNvPr>
          <p:cNvGrpSpPr/>
          <p:nvPr/>
        </p:nvGrpSpPr>
        <p:grpSpPr>
          <a:xfrm>
            <a:off x="4377011" y="3739384"/>
            <a:ext cx="1234611" cy="1662317"/>
            <a:chOff x="3190145" y="3404330"/>
            <a:chExt cx="1234611" cy="1662317"/>
          </a:xfrm>
        </p:grpSpPr>
        <p:grpSp>
          <p:nvGrpSpPr>
            <p:cNvPr id="107" name="Groupe 106">
              <a:extLst>
                <a:ext uri="{FF2B5EF4-FFF2-40B4-BE49-F238E27FC236}">
                  <a16:creationId xmlns:a16="http://schemas.microsoft.com/office/drawing/2014/main" id="{322E30C0-181A-D227-4D91-ED87E3B3DBA6}"/>
                </a:ext>
              </a:extLst>
            </p:cNvPr>
            <p:cNvGrpSpPr/>
            <p:nvPr/>
          </p:nvGrpSpPr>
          <p:grpSpPr>
            <a:xfrm>
              <a:off x="3305004" y="3404330"/>
              <a:ext cx="1004893" cy="847205"/>
              <a:chOff x="7146490" y="3274976"/>
              <a:chExt cx="1230670" cy="1037553"/>
            </a:xfrm>
          </p:grpSpPr>
          <p:pic>
            <p:nvPicPr>
              <p:cNvPr id="109" name="Graphique 108" descr="Utilisateur avec un remplissage uni">
                <a:extLst>
                  <a:ext uri="{FF2B5EF4-FFF2-40B4-BE49-F238E27FC236}">
                    <a16:creationId xmlns:a16="http://schemas.microsoft.com/office/drawing/2014/main" id="{EE9E0AD0-6B6F-3C4B-A8D1-B1D7289E325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465014" y="3274976"/>
                <a:ext cx="336064" cy="336064"/>
              </a:xfrm>
              <a:prstGeom prst="rect">
                <a:avLst/>
              </a:prstGeom>
            </p:spPr>
          </p:pic>
          <p:pic>
            <p:nvPicPr>
              <p:cNvPr id="110" name="Graphique 109" descr="Utilisateur avec un remplissage uni">
                <a:extLst>
                  <a:ext uri="{FF2B5EF4-FFF2-40B4-BE49-F238E27FC236}">
                    <a16:creationId xmlns:a16="http://schemas.microsoft.com/office/drawing/2014/main" id="{9F8E261D-211D-3752-92CB-89D512764C9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218126" y="3512720"/>
                <a:ext cx="336064" cy="336064"/>
              </a:xfrm>
              <a:prstGeom prst="rect">
                <a:avLst/>
              </a:prstGeom>
            </p:spPr>
          </p:pic>
          <p:pic>
            <p:nvPicPr>
              <p:cNvPr id="111" name="Graphique 110" descr="Utilisateur avec un remplissage uni">
                <a:extLst>
                  <a:ext uri="{FF2B5EF4-FFF2-40B4-BE49-F238E27FC236}">
                    <a16:creationId xmlns:a16="http://schemas.microsoft.com/office/drawing/2014/main" id="{8C9162C6-D30B-336A-40E4-6CE5128607F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509602" y="3561880"/>
                <a:ext cx="336064" cy="336064"/>
              </a:xfrm>
              <a:prstGeom prst="rect">
                <a:avLst/>
              </a:prstGeom>
            </p:spPr>
          </p:pic>
          <p:pic>
            <p:nvPicPr>
              <p:cNvPr id="112" name="Graphique 111" descr="Utilisateur avec un remplissage uni">
                <a:extLst>
                  <a:ext uri="{FF2B5EF4-FFF2-40B4-BE49-F238E27FC236}">
                    <a16:creationId xmlns:a16="http://schemas.microsoft.com/office/drawing/2014/main" id="{237E471B-BECD-5220-A490-8C606AE92CB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756490" y="3418428"/>
                <a:ext cx="336064" cy="336064"/>
              </a:xfrm>
              <a:prstGeom prst="rect">
                <a:avLst/>
              </a:prstGeom>
            </p:spPr>
          </p:pic>
          <p:pic>
            <p:nvPicPr>
              <p:cNvPr id="113" name="Graphique 112" descr="Utilisateur avec un remplissage uni">
                <a:extLst>
                  <a:ext uri="{FF2B5EF4-FFF2-40B4-BE49-F238E27FC236}">
                    <a16:creationId xmlns:a16="http://schemas.microsoft.com/office/drawing/2014/main" id="{3C989EF6-6F01-0A51-C960-1E6721B7910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799182" y="3680752"/>
                <a:ext cx="336064" cy="336064"/>
              </a:xfrm>
              <a:prstGeom prst="rect">
                <a:avLst/>
              </a:prstGeom>
            </p:spPr>
          </p:pic>
          <p:pic>
            <p:nvPicPr>
              <p:cNvPr id="114" name="Graphique 113" descr="Utilisateur avec un remplissage uni">
                <a:extLst>
                  <a:ext uri="{FF2B5EF4-FFF2-40B4-BE49-F238E27FC236}">
                    <a16:creationId xmlns:a16="http://schemas.microsoft.com/office/drawing/2014/main" id="{E78DF592-772A-6EAF-C2F4-7A6967E77CC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420426" y="3848784"/>
                <a:ext cx="336064" cy="336064"/>
              </a:xfrm>
              <a:prstGeom prst="rect">
                <a:avLst/>
              </a:prstGeom>
            </p:spPr>
          </p:pic>
          <p:pic>
            <p:nvPicPr>
              <p:cNvPr id="115" name="Graphique 114" descr="Utilisateur avec un remplissage uni">
                <a:extLst>
                  <a:ext uri="{FF2B5EF4-FFF2-40B4-BE49-F238E27FC236}">
                    <a16:creationId xmlns:a16="http://schemas.microsoft.com/office/drawing/2014/main" id="{9C587D8E-E053-681F-1858-D58A8D669FF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146490" y="3835028"/>
                <a:ext cx="336064" cy="336064"/>
              </a:xfrm>
              <a:prstGeom prst="rect">
                <a:avLst/>
              </a:prstGeom>
            </p:spPr>
          </p:pic>
          <p:pic>
            <p:nvPicPr>
              <p:cNvPr id="116" name="Graphique 115" descr="Utilisateur avec un remplissage uni">
                <a:extLst>
                  <a:ext uri="{FF2B5EF4-FFF2-40B4-BE49-F238E27FC236}">
                    <a16:creationId xmlns:a16="http://schemas.microsoft.com/office/drawing/2014/main" id="{71020543-43EA-7A65-00DA-1FF3B87D67B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84854" y="3943076"/>
                <a:ext cx="336064" cy="336064"/>
              </a:xfrm>
              <a:prstGeom prst="rect">
                <a:avLst/>
              </a:prstGeom>
            </p:spPr>
          </p:pic>
          <p:pic>
            <p:nvPicPr>
              <p:cNvPr id="117" name="Graphique 116" descr="Utilisateur avec un remplissage uni">
                <a:extLst>
                  <a:ext uri="{FF2B5EF4-FFF2-40B4-BE49-F238E27FC236}">
                    <a16:creationId xmlns:a16="http://schemas.microsoft.com/office/drawing/2014/main" id="{1CCF4797-1F40-0FC5-D680-A3E1278A874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906758" y="3976465"/>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1B4756D6-5544-AD0C-0E9F-DED7043B273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041096" y="3705332"/>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941C7752-9B5E-C343-662B-880862F2FBD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020918" y="3429000"/>
                <a:ext cx="336064" cy="336064"/>
              </a:xfrm>
              <a:prstGeom prst="rect">
                <a:avLst/>
              </a:prstGeom>
            </p:spPr>
          </p:pic>
        </p:grpSp>
        <p:sp>
          <p:nvSpPr>
            <p:cNvPr id="108" name="ZoneTexte 107">
              <a:extLst>
                <a:ext uri="{FF2B5EF4-FFF2-40B4-BE49-F238E27FC236}">
                  <a16:creationId xmlns:a16="http://schemas.microsoft.com/office/drawing/2014/main" id="{B26F4647-307C-8C73-5346-716FE67D17A4}"/>
                </a:ext>
              </a:extLst>
            </p:cNvPr>
            <p:cNvSpPr txBox="1"/>
            <p:nvPr/>
          </p:nvSpPr>
          <p:spPr>
            <a:xfrm>
              <a:off x="3190145" y="4420316"/>
              <a:ext cx="1234611" cy="646331"/>
            </a:xfrm>
            <a:prstGeom prst="rect">
              <a:avLst/>
            </a:prstGeom>
            <a:noFill/>
          </p:spPr>
          <p:txBody>
            <a:bodyPr wrap="square">
              <a:spAutoFit/>
            </a:bodyPr>
            <a:lstStyle/>
            <a:p>
              <a:pPr lvl="0" algn="ctr"/>
              <a:r>
                <a:rPr lang="fr-FR" sz="1200" b="1" dirty="0"/>
                <a:t>Communauté d’entreprise non soutenue</a:t>
              </a:r>
              <a:endParaRPr lang="fr-FR" sz="1200" dirty="0"/>
            </a:p>
          </p:txBody>
        </p:sp>
      </p:grpSp>
      <p:grpSp>
        <p:nvGrpSpPr>
          <p:cNvPr id="123" name="Groupe 122">
            <a:extLst>
              <a:ext uri="{FF2B5EF4-FFF2-40B4-BE49-F238E27FC236}">
                <a16:creationId xmlns:a16="http://schemas.microsoft.com/office/drawing/2014/main" id="{CAC76E84-A4EC-D371-CEFF-92CE8C78C42B}"/>
              </a:ext>
            </a:extLst>
          </p:cNvPr>
          <p:cNvGrpSpPr/>
          <p:nvPr/>
        </p:nvGrpSpPr>
        <p:grpSpPr>
          <a:xfrm>
            <a:off x="391979" y="5163961"/>
            <a:ext cx="1234611" cy="1471170"/>
            <a:chOff x="115275" y="3485644"/>
            <a:chExt cx="1234611" cy="1471170"/>
          </a:xfrm>
        </p:grpSpPr>
        <p:grpSp>
          <p:nvGrpSpPr>
            <p:cNvPr id="94" name="Groupe 93">
              <a:extLst>
                <a:ext uri="{FF2B5EF4-FFF2-40B4-BE49-F238E27FC236}">
                  <a16:creationId xmlns:a16="http://schemas.microsoft.com/office/drawing/2014/main" id="{8245B086-2903-EC77-F51E-0CEEA9F97C41}"/>
                </a:ext>
              </a:extLst>
            </p:cNvPr>
            <p:cNvGrpSpPr/>
            <p:nvPr/>
          </p:nvGrpSpPr>
          <p:grpSpPr>
            <a:xfrm>
              <a:off x="230134" y="3485644"/>
              <a:ext cx="1004893" cy="847205"/>
              <a:chOff x="8982504" y="3274976"/>
              <a:chExt cx="1230670" cy="1037553"/>
            </a:xfrm>
            <a:solidFill>
              <a:srgbClr val="ED7D31"/>
            </a:solidFill>
          </p:grpSpPr>
          <p:pic>
            <p:nvPicPr>
              <p:cNvPr id="95" name="Graphique 94" descr="Utilisateur avec un remplissage uni">
                <a:extLst>
                  <a:ext uri="{FF2B5EF4-FFF2-40B4-BE49-F238E27FC236}">
                    <a16:creationId xmlns:a16="http://schemas.microsoft.com/office/drawing/2014/main" id="{10D02284-D53D-ACC7-3CEE-A9722622197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96" name="Graphique 95" descr="Utilisateur avec un remplissage uni">
                <a:extLst>
                  <a:ext uri="{FF2B5EF4-FFF2-40B4-BE49-F238E27FC236}">
                    <a16:creationId xmlns:a16="http://schemas.microsoft.com/office/drawing/2014/main" id="{26E24495-BB54-0F2C-44EB-30DA94B5C1B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97" name="Graphique 96" descr="Utilisateur avec un remplissage uni">
                <a:extLst>
                  <a:ext uri="{FF2B5EF4-FFF2-40B4-BE49-F238E27FC236}">
                    <a16:creationId xmlns:a16="http://schemas.microsoft.com/office/drawing/2014/main" id="{91647003-65FC-C288-0B1E-27E49282CE6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635C5784-3E3A-9A40-3C33-9C611287A1F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39CD5309-75D5-376E-1971-EFDECE8B09A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EEEF3372-D8F8-4C64-61F6-9B0B0D20616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37495EDD-9977-CCFA-F64C-C816A004166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3F4F68AD-3D61-7CF4-AD96-95BF71B2107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1280A002-795D-6235-5948-85367A4132E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56B8F29B-6557-2BC5-E491-665AA00EF98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8F44FFCE-FD9C-7B47-E8B2-6804B655B7B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56932" y="3429000"/>
                <a:ext cx="336064" cy="336064"/>
              </a:xfrm>
              <a:prstGeom prst="rect">
                <a:avLst/>
              </a:prstGeom>
            </p:spPr>
          </p:pic>
        </p:grpSp>
        <p:sp>
          <p:nvSpPr>
            <p:cNvPr id="120" name="ZoneTexte 119">
              <a:extLst>
                <a:ext uri="{FF2B5EF4-FFF2-40B4-BE49-F238E27FC236}">
                  <a16:creationId xmlns:a16="http://schemas.microsoft.com/office/drawing/2014/main" id="{A743B311-AFA1-05A6-FF85-D02F1C0AB54A}"/>
                </a:ext>
              </a:extLst>
            </p:cNvPr>
            <p:cNvSpPr txBox="1"/>
            <p:nvPr/>
          </p:nvSpPr>
          <p:spPr>
            <a:xfrm>
              <a:off x="115275" y="4495149"/>
              <a:ext cx="1234611" cy="461665"/>
            </a:xfrm>
            <a:prstGeom prst="rect">
              <a:avLst/>
            </a:prstGeom>
            <a:noFill/>
          </p:spPr>
          <p:txBody>
            <a:bodyPr wrap="square">
              <a:spAutoFit/>
            </a:bodyPr>
            <a:lstStyle/>
            <a:p>
              <a:pPr lvl="0" algn="ctr"/>
              <a:r>
                <a:rPr lang="fr-FR" sz="1200" b="1" dirty="0"/>
                <a:t>Communauté perso </a:t>
              </a:r>
            </a:p>
          </p:txBody>
        </p:sp>
      </p:grpSp>
      <p:sp>
        <p:nvSpPr>
          <p:cNvPr id="133" name="ZoneTexte 132">
            <a:extLst>
              <a:ext uri="{FF2B5EF4-FFF2-40B4-BE49-F238E27FC236}">
                <a16:creationId xmlns:a16="http://schemas.microsoft.com/office/drawing/2014/main" id="{98CB9347-DF0D-D26F-5559-F78CF9849979}"/>
              </a:ext>
            </a:extLst>
          </p:cNvPr>
          <p:cNvSpPr txBox="1"/>
          <p:nvPr/>
        </p:nvSpPr>
        <p:spPr>
          <a:xfrm>
            <a:off x="8684616" y="5930502"/>
            <a:ext cx="651182" cy="646331"/>
          </a:xfrm>
          <a:prstGeom prst="rect">
            <a:avLst/>
          </a:prstGeom>
          <a:noFill/>
        </p:spPr>
        <p:txBody>
          <a:bodyPr wrap="square">
            <a:spAutoFit/>
          </a:bodyPr>
          <a:lstStyle/>
          <a:p>
            <a:pPr lvl="0" algn="ctr"/>
            <a:r>
              <a:rPr lang="fr-FR" sz="900" dirty="0"/>
              <a:t>Membre sur du temps perso</a:t>
            </a:r>
          </a:p>
        </p:txBody>
      </p:sp>
      <p:sp>
        <p:nvSpPr>
          <p:cNvPr id="134" name="ZoneTexte 133">
            <a:extLst>
              <a:ext uri="{FF2B5EF4-FFF2-40B4-BE49-F238E27FC236}">
                <a16:creationId xmlns:a16="http://schemas.microsoft.com/office/drawing/2014/main" id="{8B86D865-4CAF-3259-70CC-33EBDD0D7A3A}"/>
              </a:ext>
            </a:extLst>
          </p:cNvPr>
          <p:cNvSpPr txBox="1"/>
          <p:nvPr/>
        </p:nvSpPr>
        <p:spPr>
          <a:xfrm>
            <a:off x="9284513" y="5902263"/>
            <a:ext cx="734233" cy="784830"/>
          </a:xfrm>
          <a:prstGeom prst="rect">
            <a:avLst/>
          </a:prstGeom>
          <a:noFill/>
        </p:spPr>
        <p:txBody>
          <a:bodyPr wrap="square">
            <a:spAutoFit/>
          </a:bodyPr>
          <a:lstStyle/>
          <a:p>
            <a:pPr lvl="0" algn="ctr"/>
            <a:r>
              <a:rPr lang="fr-FR" sz="900" dirty="0"/>
              <a:t>Membre sur du temps pro « non productif »</a:t>
            </a:r>
          </a:p>
        </p:txBody>
      </p:sp>
      <p:sp>
        <p:nvSpPr>
          <p:cNvPr id="135" name="ZoneTexte 134">
            <a:extLst>
              <a:ext uri="{FF2B5EF4-FFF2-40B4-BE49-F238E27FC236}">
                <a16:creationId xmlns:a16="http://schemas.microsoft.com/office/drawing/2014/main" id="{A804EC6B-EBF7-970A-741F-359E77BF2C8A}"/>
              </a:ext>
            </a:extLst>
          </p:cNvPr>
          <p:cNvSpPr txBox="1"/>
          <p:nvPr/>
        </p:nvSpPr>
        <p:spPr>
          <a:xfrm>
            <a:off x="10005425" y="5896690"/>
            <a:ext cx="734233" cy="646331"/>
          </a:xfrm>
          <a:prstGeom prst="rect">
            <a:avLst/>
          </a:prstGeom>
          <a:noFill/>
        </p:spPr>
        <p:txBody>
          <a:bodyPr wrap="square">
            <a:spAutoFit/>
          </a:bodyPr>
          <a:lstStyle/>
          <a:p>
            <a:pPr lvl="0" algn="ctr"/>
            <a:r>
              <a:rPr lang="fr-FR" sz="900" dirty="0"/>
              <a:t>Membre sur du temps pro</a:t>
            </a:r>
          </a:p>
          <a:p>
            <a:pPr lvl="0" algn="ctr"/>
            <a:r>
              <a:rPr lang="fr-FR" sz="900" dirty="0"/>
              <a:t>productif</a:t>
            </a:r>
          </a:p>
        </p:txBody>
      </p:sp>
      <p:sp>
        <p:nvSpPr>
          <p:cNvPr id="136" name="ZoneTexte 135">
            <a:extLst>
              <a:ext uri="{FF2B5EF4-FFF2-40B4-BE49-F238E27FC236}">
                <a16:creationId xmlns:a16="http://schemas.microsoft.com/office/drawing/2014/main" id="{1F293E59-3770-4F1C-B091-60F111E161AA}"/>
              </a:ext>
            </a:extLst>
          </p:cNvPr>
          <p:cNvSpPr txBox="1"/>
          <p:nvPr/>
        </p:nvSpPr>
        <p:spPr>
          <a:xfrm>
            <a:off x="10719953" y="5896690"/>
            <a:ext cx="734233" cy="923330"/>
          </a:xfrm>
          <a:prstGeom prst="rect">
            <a:avLst/>
          </a:prstGeom>
          <a:noFill/>
        </p:spPr>
        <p:txBody>
          <a:bodyPr wrap="square">
            <a:spAutoFit/>
          </a:bodyPr>
          <a:lstStyle/>
          <a:p>
            <a:pPr lvl="0" algn="ctr"/>
            <a:r>
              <a:rPr lang="fr-FR" sz="900" dirty="0"/>
              <a:t>Poste officiel. Exemple : Community Manager dédié</a:t>
            </a:r>
          </a:p>
        </p:txBody>
      </p:sp>
      <p:sp>
        <p:nvSpPr>
          <p:cNvPr id="139" name="Titre 131">
            <a:extLst>
              <a:ext uri="{FF2B5EF4-FFF2-40B4-BE49-F238E27FC236}">
                <a16:creationId xmlns:a16="http://schemas.microsoft.com/office/drawing/2014/main" id="{00FAD24B-6D79-A61E-1FCD-EFEDD6FBDBFE}"/>
              </a:ext>
            </a:extLst>
          </p:cNvPr>
          <p:cNvSpPr txBox="1">
            <a:spLocks/>
          </p:cNvSpPr>
          <p:nvPr/>
        </p:nvSpPr>
        <p:spPr>
          <a:xfrm>
            <a:off x="10442431" y="1372420"/>
            <a:ext cx="1655067" cy="463815"/>
          </a:xfrm>
          <a:prstGeom prst="rect">
            <a:avLst/>
          </a:prstGeom>
        </p:spPr>
        <p:txBody>
          <a:bodyPr vert="horz" lIns="91440" tIns="45720" rIns="91440" bIns="45720" rtlCol="0" anchor="ctr">
            <a:normAutofit fontScale="92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dirty="0"/>
              <a:t>Pression sur </a:t>
            </a:r>
            <a:r>
              <a:rPr lang="fr-FR" sz="1400" b="1" dirty="0"/>
              <a:t>la valeur pour l’entreprise</a:t>
            </a:r>
          </a:p>
        </p:txBody>
      </p:sp>
      <p:grpSp>
        <p:nvGrpSpPr>
          <p:cNvPr id="143" name="Groupe 142">
            <a:extLst>
              <a:ext uri="{FF2B5EF4-FFF2-40B4-BE49-F238E27FC236}">
                <a16:creationId xmlns:a16="http://schemas.microsoft.com/office/drawing/2014/main" id="{CD3BA8FC-980B-FD22-BB57-5DF050BC09A4}"/>
              </a:ext>
            </a:extLst>
          </p:cNvPr>
          <p:cNvGrpSpPr/>
          <p:nvPr/>
        </p:nvGrpSpPr>
        <p:grpSpPr>
          <a:xfrm>
            <a:off x="3066429" y="3718203"/>
            <a:ext cx="1234611" cy="1869519"/>
            <a:chOff x="1652434" y="3869336"/>
            <a:chExt cx="1234611" cy="1869519"/>
          </a:xfrm>
        </p:grpSpPr>
        <p:sp>
          <p:nvSpPr>
            <p:cNvPr id="144" name="ZoneTexte 143">
              <a:extLst>
                <a:ext uri="{FF2B5EF4-FFF2-40B4-BE49-F238E27FC236}">
                  <a16:creationId xmlns:a16="http://schemas.microsoft.com/office/drawing/2014/main" id="{F67762F1-9908-32AB-C556-FD29F607ED28}"/>
                </a:ext>
              </a:extLst>
            </p:cNvPr>
            <p:cNvSpPr txBox="1"/>
            <p:nvPr/>
          </p:nvSpPr>
          <p:spPr>
            <a:xfrm>
              <a:off x="1652434" y="4907858"/>
              <a:ext cx="1234611" cy="830997"/>
            </a:xfrm>
            <a:prstGeom prst="rect">
              <a:avLst/>
            </a:prstGeom>
            <a:noFill/>
          </p:spPr>
          <p:txBody>
            <a:bodyPr wrap="square">
              <a:spAutoFit/>
            </a:bodyPr>
            <a:lstStyle/>
            <a:p>
              <a:pPr lvl="0" algn="ctr"/>
              <a:r>
                <a:rPr lang="fr-FR" sz="1200" b="1" dirty="0"/>
                <a:t>Communauté pro / perso officiellement soutenue </a:t>
              </a:r>
            </a:p>
          </p:txBody>
        </p:sp>
        <p:grpSp>
          <p:nvGrpSpPr>
            <p:cNvPr id="145" name="Groupe 144">
              <a:extLst>
                <a:ext uri="{FF2B5EF4-FFF2-40B4-BE49-F238E27FC236}">
                  <a16:creationId xmlns:a16="http://schemas.microsoft.com/office/drawing/2014/main" id="{E525B106-2D4A-112A-39AA-6DE738B7C610}"/>
                </a:ext>
              </a:extLst>
            </p:cNvPr>
            <p:cNvGrpSpPr/>
            <p:nvPr/>
          </p:nvGrpSpPr>
          <p:grpSpPr>
            <a:xfrm>
              <a:off x="1767293" y="3869336"/>
              <a:ext cx="1004893" cy="847205"/>
              <a:chOff x="8982504" y="3274976"/>
              <a:chExt cx="1230670" cy="1037553"/>
            </a:xfrm>
            <a:solidFill>
              <a:srgbClr val="ED7D31"/>
            </a:solidFill>
          </p:grpSpPr>
          <p:pic>
            <p:nvPicPr>
              <p:cNvPr id="146" name="Graphique 145" descr="Utilisateur avec un remplissage uni">
                <a:extLst>
                  <a:ext uri="{FF2B5EF4-FFF2-40B4-BE49-F238E27FC236}">
                    <a16:creationId xmlns:a16="http://schemas.microsoft.com/office/drawing/2014/main" id="{6935001C-8EB2-8A7D-CDA2-EFD912E5754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47" name="Graphique 146" descr="Utilisateur avec un remplissage uni">
                <a:extLst>
                  <a:ext uri="{FF2B5EF4-FFF2-40B4-BE49-F238E27FC236}">
                    <a16:creationId xmlns:a16="http://schemas.microsoft.com/office/drawing/2014/main" id="{CED6B4EC-5F3B-EE98-420D-B9D28EDA50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7B0958D7-5959-5D2F-4E22-B2E286225EE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C6B9F963-70CB-B9E1-B952-37E9DD6EA89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150" name="Graphique 149" descr="Utilisateur avec un remplissage uni">
                <a:extLst>
                  <a:ext uri="{FF2B5EF4-FFF2-40B4-BE49-F238E27FC236}">
                    <a16:creationId xmlns:a16="http://schemas.microsoft.com/office/drawing/2014/main" id="{E46B3EA9-AB2D-0D1A-A950-D6ED2236C10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151" name="Graphique 150" descr="Utilisateur avec un remplissage uni">
                <a:extLst>
                  <a:ext uri="{FF2B5EF4-FFF2-40B4-BE49-F238E27FC236}">
                    <a16:creationId xmlns:a16="http://schemas.microsoft.com/office/drawing/2014/main" id="{9E4326FB-EE2B-BC1F-2AA6-A013217CA2B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152" name="Graphique 151" descr="Utilisateur avec un remplissage uni">
                <a:extLst>
                  <a:ext uri="{FF2B5EF4-FFF2-40B4-BE49-F238E27FC236}">
                    <a16:creationId xmlns:a16="http://schemas.microsoft.com/office/drawing/2014/main" id="{68F93976-7B93-C0B1-4C04-537E3141BE0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153" name="Graphique 152" descr="Utilisateur avec un remplissage uni">
                <a:extLst>
                  <a:ext uri="{FF2B5EF4-FFF2-40B4-BE49-F238E27FC236}">
                    <a16:creationId xmlns:a16="http://schemas.microsoft.com/office/drawing/2014/main" id="{6EC13ABA-CE97-5517-1D36-D07A6DA46E4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154" name="Graphique 153" descr="Utilisateur avec un remplissage uni">
                <a:extLst>
                  <a:ext uri="{FF2B5EF4-FFF2-40B4-BE49-F238E27FC236}">
                    <a16:creationId xmlns:a16="http://schemas.microsoft.com/office/drawing/2014/main" id="{54C5CC6E-9995-0C0C-58AA-2A76A87F2AF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155" name="Graphique 154" descr="Utilisateur avec un remplissage uni">
                <a:extLst>
                  <a:ext uri="{FF2B5EF4-FFF2-40B4-BE49-F238E27FC236}">
                    <a16:creationId xmlns:a16="http://schemas.microsoft.com/office/drawing/2014/main" id="{135497C8-6C8C-22AD-C113-15E444FB1C5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156" name="Graphique 155" descr="Utilisateur avec un remplissage uni">
                <a:extLst>
                  <a:ext uri="{FF2B5EF4-FFF2-40B4-BE49-F238E27FC236}">
                    <a16:creationId xmlns:a16="http://schemas.microsoft.com/office/drawing/2014/main" id="{F1F0DE22-9F37-4265-E5A6-D09381E172C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sp>
        <p:nvSpPr>
          <p:cNvPr id="157" name="Titre 131">
            <a:extLst>
              <a:ext uri="{FF2B5EF4-FFF2-40B4-BE49-F238E27FC236}">
                <a16:creationId xmlns:a16="http://schemas.microsoft.com/office/drawing/2014/main" id="{2557804E-3C78-92B2-BA82-C4881D7B7AC2}"/>
              </a:ext>
            </a:extLst>
          </p:cNvPr>
          <p:cNvSpPr txBox="1">
            <a:spLocks/>
          </p:cNvSpPr>
          <p:nvPr/>
        </p:nvSpPr>
        <p:spPr>
          <a:xfrm>
            <a:off x="9153540" y="5221258"/>
            <a:ext cx="1881078" cy="254226"/>
          </a:xfrm>
          <a:prstGeom prst="rect">
            <a:avLst/>
          </a:prstGeom>
        </p:spPr>
        <p:txBody>
          <a:bodyPr vert="horz" lIns="91440" tIns="45720" rIns="91440" bIns="45720" rtlCol="0" anchor="ctr">
            <a:normAutofit fontScale="925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Légende</a:t>
            </a:r>
          </a:p>
        </p:txBody>
      </p:sp>
      <p:sp>
        <p:nvSpPr>
          <p:cNvPr id="4" name="Flèche : double flèche horizontale 3">
            <a:extLst>
              <a:ext uri="{FF2B5EF4-FFF2-40B4-BE49-F238E27FC236}">
                <a16:creationId xmlns:a16="http://schemas.microsoft.com/office/drawing/2014/main" id="{120E94BA-295E-8E33-294B-A701A4DF8F65}"/>
              </a:ext>
            </a:extLst>
          </p:cNvPr>
          <p:cNvSpPr/>
          <p:nvPr/>
        </p:nvSpPr>
        <p:spPr>
          <a:xfrm>
            <a:off x="450974" y="1787224"/>
            <a:ext cx="11261042" cy="387138"/>
          </a:xfrm>
          <a:prstGeom prst="leftRightArrow">
            <a:avLst/>
          </a:prstGeom>
          <a:gradFill>
            <a:gsLst>
              <a:gs pos="0">
                <a:srgbClr val="ED7D31"/>
              </a:gs>
              <a:gs pos="33000">
                <a:schemeClr val="bg1">
                  <a:lumMod val="75000"/>
                </a:schemeClr>
              </a:gs>
              <a:gs pos="75000">
                <a:srgbClr val="3494BA"/>
              </a:gs>
              <a:gs pos="100000">
                <a:schemeClr val="tx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9" name="Titre 131">
            <a:extLst>
              <a:ext uri="{FF2B5EF4-FFF2-40B4-BE49-F238E27FC236}">
                <a16:creationId xmlns:a16="http://schemas.microsoft.com/office/drawing/2014/main" id="{661B1C38-BAB6-2D16-F9CA-95F54EB38E78}"/>
              </a:ext>
            </a:extLst>
          </p:cNvPr>
          <p:cNvSpPr txBox="1">
            <a:spLocks/>
          </p:cNvSpPr>
          <p:nvPr/>
        </p:nvSpPr>
        <p:spPr>
          <a:xfrm>
            <a:off x="113005" y="1369918"/>
            <a:ext cx="1655067" cy="463815"/>
          </a:xfrm>
          <a:prstGeom prst="rect">
            <a:avLst/>
          </a:prstGeom>
        </p:spPr>
        <p:txBody>
          <a:bodyPr vert="horz" lIns="91440" tIns="45720" rIns="91440" bIns="45720" rtlCol="0" anchor="ctr">
            <a:normAutofit fontScale="92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dirty="0"/>
              <a:t>Pression sur la valeur pour </a:t>
            </a:r>
            <a:r>
              <a:rPr lang="fr-FR" sz="1400" b="1" dirty="0">
                <a:solidFill>
                  <a:srgbClr val="ED7D31"/>
                </a:solidFill>
              </a:rPr>
              <a:t>les membres</a:t>
            </a:r>
          </a:p>
        </p:txBody>
      </p:sp>
      <p:sp>
        <p:nvSpPr>
          <p:cNvPr id="160" name="Titre 131">
            <a:extLst>
              <a:ext uri="{FF2B5EF4-FFF2-40B4-BE49-F238E27FC236}">
                <a16:creationId xmlns:a16="http://schemas.microsoft.com/office/drawing/2014/main" id="{00CD182D-8CF5-CF9D-62D5-9F5E9A684AF0}"/>
              </a:ext>
            </a:extLst>
          </p:cNvPr>
          <p:cNvSpPr>
            <a:spLocks noGrp="1"/>
          </p:cNvSpPr>
          <p:nvPr>
            <p:ph type="title"/>
          </p:nvPr>
        </p:nvSpPr>
        <p:spPr>
          <a:xfrm>
            <a:off x="838200" y="365125"/>
            <a:ext cx="10515600" cy="709219"/>
          </a:xfrm>
        </p:spPr>
        <p:txBody>
          <a:bodyPr>
            <a:normAutofit fontScale="90000"/>
          </a:bodyPr>
          <a:lstStyle/>
          <a:p>
            <a:r>
              <a:rPr lang="fr-FR" dirty="0"/>
              <a:t>Gradient du temps investi et pressions de valeur</a:t>
            </a:r>
          </a:p>
        </p:txBody>
      </p:sp>
    </p:spTree>
    <p:extLst>
      <p:ext uri="{BB962C8B-B14F-4D97-AF65-F5344CB8AC3E}">
        <p14:creationId xmlns:p14="http://schemas.microsoft.com/office/powerpoint/2010/main" val="57504218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C2AE752-93B6-99AF-E590-89F4CB9255B1}"/>
              </a:ext>
            </a:extLst>
          </p:cNvPr>
          <p:cNvSpPr>
            <a:spLocks noGrp="1"/>
          </p:cNvSpPr>
          <p:nvPr>
            <p:ph type="title"/>
          </p:nvPr>
        </p:nvSpPr>
        <p:spPr/>
        <p:txBody>
          <a:bodyPr>
            <a:normAutofit/>
          </a:bodyPr>
          <a:lstStyle/>
          <a:p>
            <a:r>
              <a:rPr lang="fr-FR" dirty="0"/>
              <a:t>Tension entre valeur pour les « membres », valeur pour « entreprise » </a:t>
            </a:r>
          </a:p>
        </p:txBody>
      </p:sp>
      <p:pic>
        <p:nvPicPr>
          <p:cNvPr id="4" name="Graphique 3" descr="Utilisateur avec un remplissage uni">
            <a:extLst>
              <a:ext uri="{FF2B5EF4-FFF2-40B4-BE49-F238E27FC236}">
                <a16:creationId xmlns:a16="http://schemas.microsoft.com/office/drawing/2014/main" id="{A09283F6-A951-74DC-3369-9977024482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05532" y="3469227"/>
            <a:ext cx="1903122" cy="1903122"/>
          </a:xfrm>
          <a:prstGeom prst="rect">
            <a:avLst/>
          </a:prstGeom>
        </p:spPr>
      </p:pic>
      <p:sp>
        <p:nvSpPr>
          <p:cNvPr id="5" name="Titre 131">
            <a:extLst>
              <a:ext uri="{FF2B5EF4-FFF2-40B4-BE49-F238E27FC236}">
                <a16:creationId xmlns:a16="http://schemas.microsoft.com/office/drawing/2014/main" id="{52DED5AB-C857-9B09-0EA1-247396291DE0}"/>
              </a:ext>
            </a:extLst>
          </p:cNvPr>
          <p:cNvSpPr txBox="1">
            <a:spLocks/>
          </p:cNvSpPr>
          <p:nvPr/>
        </p:nvSpPr>
        <p:spPr>
          <a:xfrm>
            <a:off x="157224" y="4003634"/>
            <a:ext cx="914401" cy="834308"/>
          </a:xfrm>
          <a:prstGeom prst="rect">
            <a:avLst/>
          </a:prstGeom>
        </p:spPr>
        <p:txBody>
          <a:bodyPr vert="horz" lIns="91440" tIns="45720" rIns="91440" bIns="45720" rtlCol="0" anchor="ctr">
            <a:normAutofit fontScale="92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Membre extrême</a:t>
            </a:r>
          </a:p>
          <a:p>
            <a:pPr algn="ctr"/>
            <a:r>
              <a:rPr lang="fr-FR" sz="1400" b="1" dirty="0"/>
              <a:t>(cas théorique)</a:t>
            </a:r>
          </a:p>
        </p:txBody>
      </p:sp>
      <p:pic>
        <p:nvPicPr>
          <p:cNvPr id="7" name="Graphique 6" descr="Bâtiment avec un remplissage uni">
            <a:extLst>
              <a:ext uri="{FF2B5EF4-FFF2-40B4-BE49-F238E27FC236}">
                <a16:creationId xmlns:a16="http://schemas.microsoft.com/office/drawing/2014/main" id="{A0E06B62-E045-8B85-5577-4972B7E4313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30660" y="3469227"/>
            <a:ext cx="1722120" cy="1722120"/>
          </a:xfrm>
          <a:prstGeom prst="rect">
            <a:avLst/>
          </a:prstGeom>
        </p:spPr>
      </p:pic>
      <p:sp>
        <p:nvSpPr>
          <p:cNvPr id="8" name="Titre 131">
            <a:extLst>
              <a:ext uri="{FF2B5EF4-FFF2-40B4-BE49-F238E27FC236}">
                <a16:creationId xmlns:a16="http://schemas.microsoft.com/office/drawing/2014/main" id="{851B460C-74DC-9DE1-D463-D5E53F75B982}"/>
              </a:ext>
            </a:extLst>
          </p:cNvPr>
          <p:cNvSpPr txBox="1">
            <a:spLocks/>
          </p:cNvSpPr>
          <p:nvPr/>
        </p:nvSpPr>
        <p:spPr>
          <a:xfrm>
            <a:off x="11105507" y="4003634"/>
            <a:ext cx="1075699" cy="740204"/>
          </a:xfrm>
          <a:prstGeom prst="rect">
            <a:avLst/>
          </a:prstGeom>
        </p:spPr>
        <p:txBody>
          <a:bodyPr vert="horz" lIns="91440" tIns="45720" rIns="91440" bIns="45720" rtlCol="0" anchor="ctr">
            <a:normAutofit fontScale="925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Entreprise extrême</a:t>
            </a:r>
          </a:p>
          <a:p>
            <a:pPr algn="ctr"/>
            <a:r>
              <a:rPr lang="fr-FR" sz="1400" b="1" dirty="0"/>
              <a:t>(cas théorique)</a:t>
            </a:r>
          </a:p>
        </p:txBody>
      </p:sp>
      <p:sp>
        <p:nvSpPr>
          <p:cNvPr id="9" name="Bulle narrative : ronde 8">
            <a:extLst>
              <a:ext uri="{FF2B5EF4-FFF2-40B4-BE49-F238E27FC236}">
                <a16:creationId xmlns:a16="http://schemas.microsoft.com/office/drawing/2014/main" id="{B09095E2-375C-9917-1E6A-86112717B41E}"/>
              </a:ext>
            </a:extLst>
          </p:cNvPr>
          <p:cNvSpPr/>
          <p:nvPr/>
        </p:nvSpPr>
        <p:spPr>
          <a:xfrm>
            <a:off x="614424" y="5372349"/>
            <a:ext cx="3716323" cy="1250463"/>
          </a:xfrm>
          <a:prstGeom prst="wedgeEllipseCallout">
            <a:avLst>
              <a:gd name="adj1" fmla="val -18278"/>
              <a:gd name="adj2" fmla="val -66921"/>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solidFill>
              </a:rPr>
              <a:t>Ce serait bien que l’entreprise investisse notre </a:t>
            </a:r>
            <a:r>
              <a:rPr lang="fr-FR" sz="1400" b="1" dirty="0">
                <a:solidFill>
                  <a:srgbClr val="3494BA"/>
                </a:solidFill>
              </a:rPr>
              <a:t>temps pro </a:t>
            </a:r>
            <a:r>
              <a:rPr lang="fr-FR" sz="1400" dirty="0">
                <a:solidFill>
                  <a:schemeClr val="tx1"/>
                </a:solidFill>
              </a:rPr>
              <a:t>pour un maximum de </a:t>
            </a:r>
            <a:r>
              <a:rPr lang="fr-FR" sz="1400" b="1" dirty="0">
                <a:solidFill>
                  <a:srgbClr val="ED7D31"/>
                </a:solidFill>
              </a:rPr>
              <a:t>valeur perso </a:t>
            </a:r>
            <a:r>
              <a:rPr lang="fr-FR" sz="1400" dirty="0">
                <a:solidFill>
                  <a:schemeClr val="tx1"/>
                </a:solidFill>
              </a:rPr>
              <a:t>pour les membres</a:t>
            </a:r>
          </a:p>
        </p:txBody>
      </p:sp>
      <p:sp>
        <p:nvSpPr>
          <p:cNvPr id="10" name="Bulle narrative : ronde 9">
            <a:extLst>
              <a:ext uri="{FF2B5EF4-FFF2-40B4-BE49-F238E27FC236}">
                <a16:creationId xmlns:a16="http://schemas.microsoft.com/office/drawing/2014/main" id="{D134FC13-4106-EFFD-4798-8D61B1721E98}"/>
              </a:ext>
            </a:extLst>
          </p:cNvPr>
          <p:cNvSpPr/>
          <p:nvPr/>
        </p:nvSpPr>
        <p:spPr>
          <a:xfrm>
            <a:off x="7399978" y="5250057"/>
            <a:ext cx="3716323" cy="1250463"/>
          </a:xfrm>
          <a:prstGeom prst="wedgeEllipseCallout">
            <a:avLst>
              <a:gd name="adj1" fmla="val 37704"/>
              <a:gd name="adj2" fmla="val -582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solidFill>
              </a:rPr>
              <a:t>Ce serait bien que les membres s’investissent </a:t>
            </a:r>
            <a:r>
              <a:rPr lang="fr-FR" sz="1400" b="1" dirty="0">
                <a:solidFill>
                  <a:srgbClr val="ED7D31"/>
                </a:solidFill>
              </a:rPr>
              <a:t>en temps perso </a:t>
            </a:r>
            <a:r>
              <a:rPr lang="fr-FR" sz="1400" dirty="0">
                <a:solidFill>
                  <a:schemeClr val="tx1"/>
                </a:solidFill>
              </a:rPr>
              <a:t>pour un maximum de valeur </a:t>
            </a:r>
            <a:r>
              <a:rPr lang="fr-FR" sz="1400" b="1" dirty="0">
                <a:solidFill>
                  <a:srgbClr val="3494BA"/>
                </a:solidFill>
              </a:rPr>
              <a:t>pour l’entreprise</a:t>
            </a:r>
          </a:p>
        </p:txBody>
      </p:sp>
      <p:sp>
        <p:nvSpPr>
          <p:cNvPr id="11" name="Flèche : double flèche horizontale 10">
            <a:extLst>
              <a:ext uri="{FF2B5EF4-FFF2-40B4-BE49-F238E27FC236}">
                <a16:creationId xmlns:a16="http://schemas.microsoft.com/office/drawing/2014/main" id="{4736D9A9-A7DA-D3CD-2343-78D4414403FA}"/>
              </a:ext>
            </a:extLst>
          </p:cNvPr>
          <p:cNvSpPr/>
          <p:nvPr/>
        </p:nvSpPr>
        <p:spPr>
          <a:xfrm>
            <a:off x="2615236" y="3793275"/>
            <a:ext cx="7308843" cy="1341599"/>
          </a:xfrm>
          <a:prstGeom prst="leftRightArrow">
            <a:avLst/>
          </a:prstGeom>
          <a:gradFill>
            <a:gsLst>
              <a:gs pos="0">
                <a:srgbClr val="ED7D31"/>
              </a:gs>
              <a:gs pos="33000">
                <a:schemeClr val="bg1">
                  <a:lumMod val="75000"/>
                </a:schemeClr>
              </a:gs>
              <a:gs pos="75000">
                <a:srgbClr val="3494BA"/>
              </a:gs>
              <a:gs pos="100000">
                <a:schemeClr val="tx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dirty="0">
                <a:solidFill>
                  <a:schemeClr val="tx1"/>
                </a:solidFill>
              </a:rPr>
              <a:t>Cas réels</a:t>
            </a:r>
          </a:p>
        </p:txBody>
      </p:sp>
      <p:grpSp>
        <p:nvGrpSpPr>
          <p:cNvPr id="13" name="Groupe 12">
            <a:extLst>
              <a:ext uri="{FF2B5EF4-FFF2-40B4-BE49-F238E27FC236}">
                <a16:creationId xmlns:a16="http://schemas.microsoft.com/office/drawing/2014/main" id="{23D555D1-9E6F-9317-147F-4DA044F1CE9E}"/>
              </a:ext>
            </a:extLst>
          </p:cNvPr>
          <p:cNvGrpSpPr/>
          <p:nvPr/>
        </p:nvGrpSpPr>
        <p:grpSpPr>
          <a:xfrm>
            <a:off x="9398843" y="2081281"/>
            <a:ext cx="1004893" cy="847205"/>
            <a:chOff x="8982504" y="3274976"/>
            <a:chExt cx="1230670" cy="1037553"/>
          </a:xfrm>
          <a:solidFill>
            <a:srgbClr val="ED7D31"/>
          </a:solidFill>
        </p:grpSpPr>
        <p:pic>
          <p:nvPicPr>
            <p:cNvPr id="15" name="Graphique 14" descr="Utilisateur avec un remplissage uni">
              <a:extLst>
                <a:ext uri="{FF2B5EF4-FFF2-40B4-BE49-F238E27FC236}">
                  <a16:creationId xmlns:a16="http://schemas.microsoft.com/office/drawing/2014/main" id="{F2BE8A29-29D8-0133-5431-BEC848C04B0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6" name="Graphique 15" descr="Utilisateur avec un remplissage uni">
              <a:extLst>
                <a:ext uri="{FF2B5EF4-FFF2-40B4-BE49-F238E27FC236}">
                  <a16:creationId xmlns:a16="http://schemas.microsoft.com/office/drawing/2014/main" id="{30EB6839-FD16-21E7-C9F7-AD2F22F3640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7" name="Graphique 16" descr="Utilisateur avec un remplissage uni">
              <a:extLst>
                <a:ext uri="{FF2B5EF4-FFF2-40B4-BE49-F238E27FC236}">
                  <a16:creationId xmlns:a16="http://schemas.microsoft.com/office/drawing/2014/main" id="{DB7167D3-FA27-DF3E-61FC-C23697FB36C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8" name="Graphique 17" descr="Utilisateur avec un remplissage uni">
              <a:extLst>
                <a:ext uri="{FF2B5EF4-FFF2-40B4-BE49-F238E27FC236}">
                  <a16:creationId xmlns:a16="http://schemas.microsoft.com/office/drawing/2014/main" id="{1A577F28-B582-CB08-30E2-D94F4AFE36E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9" name="Graphique 18" descr="Utilisateur avec un remplissage uni">
              <a:extLst>
                <a:ext uri="{FF2B5EF4-FFF2-40B4-BE49-F238E27FC236}">
                  <a16:creationId xmlns:a16="http://schemas.microsoft.com/office/drawing/2014/main" id="{53C060A9-75C9-4729-40C0-7819E673412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20" name="Graphique 19" descr="Utilisateur avec un remplissage uni">
              <a:extLst>
                <a:ext uri="{FF2B5EF4-FFF2-40B4-BE49-F238E27FC236}">
                  <a16:creationId xmlns:a16="http://schemas.microsoft.com/office/drawing/2014/main" id="{98FB0986-2AD0-E290-5F7C-FAEFC981CD6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21" name="Graphique 20" descr="Utilisateur avec un remplissage uni">
              <a:extLst>
                <a:ext uri="{FF2B5EF4-FFF2-40B4-BE49-F238E27FC236}">
                  <a16:creationId xmlns:a16="http://schemas.microsoft.com/office/drawing/2014/main" id="{24DBB3F8-A71B-9F64-547A-CF7044E2E04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22" name="Graphique 21" descr="Utilisateur avec un remplissage uni">
              <a:extLst>
                <a:ext uri="{FF2B5EF4-FFF2-40B4-BE49-F238E27FC236}">
                  <a16:creationId xmlns:a16="http://schemas.microsoft.com/office/drawing/2014/main" id="{BA6B0E48-E859-BA14-A132-5FE52C5B24D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23" name="Graphique 22" descr="Utilisateur avec un remplissage uni">
              <a:extLst>
                <a:ext uri="{FF2B5EF4-FFF2-40B4-BE49-F238E27FC236}">
                  <a16:creationId xmlns:a16="http://schemas.microsoft.com/office/drawing/2014/main" id="{09A4E18C-6267-D842-F85B-287541C781A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24" name="Graphique 23" descr="Utilisateur avec un remplissage uni">
              <a:extLst>
                <a:ext uri="{FF2B5EF4-FFF2-40B4-BE49-F238E27FC236}">
                  <a16:creationId xmlns:a16="http://schemas.microsoft.com/office/drawing/2014/main" id="{881D9CFB-5B7E-2294-53FA-0FAA1C8DB16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25" name="Graphique 24" descr="Utilisateur avec un remplissage uni">
              <a:extLst>
                <a:ext uri="{FF2B5EF4-FFF2-40B4-BE49-F238E27FC236}">
                  <a16:creationId xmlns:a16="http://schemas.microsoft.com/office/drawing/2014/main" id="{8F8FD699-369B-40C4-BC0A-4035E3B983F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sp>
        <p:nvSpPr>
          <p:cNvPr id="3" name="Flèche : droite 2">
            <a:extLst>
              <a:ext uri="{FF2B5EF4-FFF2-40B4-BE49-F238E27FC236}">
                <a16:creationId xmlns:a16="http://schemas.microsoft.com/office/drawing/2014/main" id="{5A357BA6-0737-185A-F3F2-FA2F00BB845E}"/>
              </a:ext>
            </a:extLst>
          </p:cNvPr>
          <p:cNvSpPr/>
          <p:nvPr/>
        </p:nvSpPr>
        <p:spPr>
          <a:xfrm>
            <a:off x="10403236" y="2254983"/>
            <a:ext cx="360727" cy="520117"/>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7" name="Graphique 26" descr="Bâtiment avec un remplissage uni">
            <a:extLst>
              <a:ext uri="{FF2B5EF4-FFF2-40B4-BE49-F238E27FC236}">
                <a16:creationId xmlns:a16="http://schemas.microsoft.com/office/drawing/2014/main" id="{8C254DA7-8773-A95D-03C4-A897B819803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925439" y="2112689"/>
            <a:ext cx="360136" cy="360136"/>
          </a:xfrm>
          <a:prstGeom prst="rect">
            <a:avLst/>
          </a:prstGeom>
        </p:spPr>
      </p:pic>
      <p:pic>
        <p:nvPicPr>
          <p:cNvPr id="29" name="Graphique 28" descr="Graphique en courbe stick de hockey avec un remplissage uni">
            <a:extLst>
              <a:ext uri="{FF2B5EF4-FFF2-40B4-BE49-F238E27FC236}">
                <a16:creationId xmlns:a16="http://schemas.microsoft.com/office/drawing/2014/main" id="{82B341C2-D10F-9D1D-5340-D27CFB84F03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743242" y="2081281"/>
            <a:ext cx="914400" cy="914400"/>
          </a:xfrm>
          <a:prstGeom prst="rect">
            <a:avLst/>
          </a:prstGeom>
        </p:spPr>
      </p:pic>
      <p:sp>
        <p:nvSpPr>
          <p:cNvPr id="30" name="Phylactère : pensées 29">
            <a:extLst>
              <a:ext uri="{FF2B5EF4-FFF2-40B4-BE49-F238E27FC236}">
                <a16:creationId xmlns:a16="http://schemas.microsoft.com/office/drawing/2014/main" id="{6AB9399E-9674-A152-57CD-44E7923B7C77}"/>
              </a:ext>
            </a:extLst>
          </p:cNvPr>
          <p:cNvSpPr/>
          <p:nvPr/>
        </p:nvSpPr>
        <p:spPr>
          <a:xfrm>
            <a:off x="9115378" y="1690688"/>
            <a:ext cx="2936442" cy="1616515"/>
          </a:xfrm>
          <a:prstGeom prst="cloudCallout">
            <a:avLst>
              <a:gd name="adj1" fmla="val 6878"/>
              <a:gd name="adj2" fmla="val 5731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 name="Groupe 31">
            <a:extLst>
              <a:ext uri="{FF2B5EF4-FFF2-40B4-BE49-F238E27FC236}">
                <a16:creationId xmlns:a16="http://schemas.microsoft.com/office/drawing/2014/main" id="{8F133D67-4832-B504-E2B8-7EBA4DA6EF23}"/>
              </a:ext>
            </a:extLst>
          </p:cNvPr>
          <p:cNvGrpSpPr/>
          <p:nvPr/>
        </p:nvGrpSpPr>
        <p:grpSpPr>
          <a:xfrm>
            <a:off x="817823" y="2300149"/>
            <a:ext cx="1004893" cy="847205"/>
            <a:chOff x="8982504" y="3274976"/>
            <a:chExt cx="1230670" cy="1037553"/>
          </a:xfrm>
          <a:solidFill>
            <a:schemeClr val="tx1"/>
          </a:solidFill>
        </p:grpSpPr>
        <p:pic>
          <p:nvPicPr>
            <p:cNvPr id="33" name="Graphique 32" descr="Utilisateur avec un remplissage uni">
              <a:extLst>
                <a:ext uri="{FF2B5EF4-FFF2-40B4-BE49-F238E27FC236}">
                  <a16:creationId xmlns:a16="http://schemas.microsoft.com/office/drawing/2014/main" id="{143DF422-5313-BBD3-1F02-4543CB1ACA5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34" name="Graphique 33" descr="Utilisateur avec un remplissage uni">
              <a:extLst>
                <a:ext uri="{FF2B5EF4-FFF2-40B4-BE49-F238E27FC236}">
                  <a16:creationId xmlns:a16="http://schemas.microsoft.com/office/drawing/2014/main" id="{1EAA1455-E9EE-4F3D-6FAA-5E22933D5EE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35" name="Graphique 34" descr="Utilisateur avec un remplissage uni">
              <a:extLst>
                <a:ext uri="{FF2B5EF4-FFF2-40B4-BE49-F238E27FC236}">
                  <a16:creationId xmlns:a16="http://schemas.microsoft.com/office/drawing/2014/main" id="{4A10DCF9-6D5F-5BEE-2518-5E1A58BECAB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45616" y="3561880"/>
              <a:ext cx="336064" cy="336064"/>
            </a:xfrm>
            <a:prstGeom prst="rect">
              <a:avLst/>
            </a:prstGeom>
          </p:spPr>
        </p:pic>
        <p:pic>
          <p:nvPicPr>
            <p:cNvPr id="36" name="Graphique 35" descr="Utilisateur avec un remplissage uni">
              <a:extLst>
                <a:ext uri="{FF2B5EF4-FFF2-40B4-BE49-F238E27FC236}">
                  <a16:creationId xmlns:a16="http://schemas.microsoft.com/office/drawing/2014/main" id="{25E6770C-B905-D99F-009B-C90BE0E6D99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37" name="Graphique 36" descr="Utilisateur avec un remplissage uni">
              <a:extLst>
                <a:ext uri="{FF2B5EF4-FFF2-40B4-BE49-F238E27FC236}">
                  <a16:creationId xmlns:a16="http://schemas.microsoft.com/office/drawing/2014/main" id="{11A1750D-DB3A-45D3-14DB-95165212823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38" name="Graphique 37" descr="Utilisateur avec un remplissage uni">
              <a:extLst>
                <a:ext uri="{FF2B5EF4-FFF2-40B4-BE49-F238E27FC236}">
                  <a16:creationId xmlns:a16="http://schemas.microsoft.com/office/drawing/2014/main" id="{C2410BDD-1390-8A36-B296-67E38027E52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39" name="Graphique 38" descr="Utilisateur avec un remplissage uni">
              <a:extLst>
                <a:ext uri="{FF2B5EF4-FFF2-40B4-BE49-F238E27FC236}">
                  <a16:creationId xmlns:a16="http://schemas.microsoft.com/office/drawing/2014/main" id="{7FA05563-B40E-3044-C507-C1384F2C61D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82504" y="3835028"/>
              <a:ext cx="336064" cy="336064"/>
            </a:xfrm>
            <a:prstGeom prst="rect">
              <a:avLst/>
            </a:prstGeom>
          </p:spPr>
        </p:pic>
        <p:pic>
          <p:nvPicPr>
            <p:cNvPr id="40" name="Graphique 39" descr="Utilisateur avec un remplissage uni">
              <a:extLst>
                <a:ext uri="{FF2B5EF4-FFF2-40B4-BE49-F238E27FC236}">
                  <a16:creationId xmlns:a16="http://schemas.microsoft.com/office/drawing/2014/main" id="{E86D7B9B-ED5B-CD6A-388A-8EF0BFE28CB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20868" y="3943076"/>
              <a:ext cx="336064" cy="336064"/>
            </a:xfrm>
            <a:prstGeom prst="rect">
              <a:avLst/>
            </a:prstGeom>
          </p:spPr>
        </p:pic>
        <p:pic>
          <p:nvPicPr>
            <p:cNvPr id="41" name="Graphique 40" descr="Utilisateur avec un remplissage uni">
              <a:extLst>
                <a:ext uri="{FF2B5EF4-FFF2-40B4-BE49-F238E27FC236}">
                  <a16:creationId xmlns:a16="http://schemas.microsoft.com/office/drawing/2014/main" id="{65CD560B-E68F-AECF-A24F-50D316D2191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42" name="Graphique 41" descr="Utilisateur avec un remplissage uni">
              <a:extLst>
                <a:ext uri="{FF2B5EF4-FFF2-40B4-BE49-F238E27FC236}">
                  <a16:creationId xmlns:a16="http://schemas.microsoft.com/office/drawing/2014/main" id="{F7E93865-0CFD-DF25-B7CC-F756A4ED595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43" name="Graphique 42" descr="Utilisateur avec un remplissage uni">
              <a:extLst>
                <a:ext uri="{FF2B5EF4-FFF2-40B4-BE49-F238E27FC236}">
                  <a16:creationId xmlns:a16="http://schemas.microsoft.com/office/drawing/2014/main" id="{8E2A03F6-01A4-44A8-4836-3E59C77807F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56932" y="3429000"/>
              <a:ext cx="336064" cy="336064"/>
            </a:xfrm>
            <a:prstGeom prst="rect">
              <a:avLst/>
            </a:prstGeom>
          </p:spPr>
        </p:pic>
      </p:grpSp>
      <p:sp>
        <p:nvSpPr>
          <p:cNvPr id="44" name="Flèche : droite 43">
            <a:extLst>
              <a:ext uri="{FF2B5EF4-FFF2-40B4-BE49-F238E27FC236}">
                <a16:creationId xmlns:a16="http://schemas.microsoft.com/office/drawing/2014/main" id="{EB2C469E-166E-4F94-9D3B-96E25F5E504D}"/>
              </a:ext>
            </a:extLst>
          </p:cNvPr>
          <p:cNvSpPr/>
          <p:nvPr/>
        </p:nvSpPr>
        <p:spPr>
          <a:xfrm>
            <a:off x="1822216" y="2473851"/>
            <a:ext cx="360727" cy="520117"/>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6" name="Graphique 45" descr="Graphique en courbe stick de hockey avec un remplissage uni">
            <a:extLst>
              <a:ext uri="{FF2B5EF4-FFF2-40B4-BE49-F238E27FC236}">
                <a16:creationId xmlns:a16="http://schemas.microsoft.com/office/drawing/2014/main" id="{5252599D-D17D-416C-4AC8-69A51EDC178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106181" y="2292757"/>
            <a:ext cx="914400" cy="914400"/>
          </a:xfrm>
          <a:prstGeom prst="rect">
            <a:avLst/>
          </a:prstGeom>
        </p:spPr>
      </p:pic>
      <p:sp>
        <p:nvSpPr>
          <p:cNvPr id="47" name="Phylactère : pensées 46">
            <a:extLst>
              <a:ext uri="{FF2B5EF4-FFF2-40B4-BE49-F238E27FC236}">
                <a16:creationId xmlns:a16="http://schemas.microsoft.com/office/drawing/2014/main" id="{C1ECDA22-79BC-197C-60AD-47EA420A55F8}"/>
              </a:ext>
            </a:extLst>
          </p:cNvPr>
          <p:cNvSpPr/>
          <p:nvPr/>
        </p:nvSpPr>
        <p:spPr>
          <a:xfrm>
            <a:off x="534358" y="1909556"/>
            <a:ext cx="2936442" cy="1616515"/>
          </a:xfrm>
          <a:prstGeom prst="cloudCallout">
            <a:avLst>
              <a:gd name="adj1" fmla="val -15406"/>
              <a:gd name="adj2" fmla="val 5367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8" name="Graphique 47" descr="Utilisateur avec un remplissage uni">
            <a:extLst>
              <a:ext uri="{FF2B5EF4-FFF2-40B4-BE49-F238E27FC236}">
                <a16:creationId xmlns:a16="http://schemas.microsoft.com/office/drawing/2014/main" id="{BC73A163-126A-AEE0-D8E2-2A0F5E802BE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423434" y="2436647"/>
            <a:ext cx="305334" cy="305334"/>
          </a:xfrm>
          <a:prstGeom prst="rect">
            <a:avLst/>
          </a:prstGeom>
        </p:spPr>
      </p:pic>
    </p:spTree>
    <p:extLst>
      <p:ext uri="{BB962C8B-B14F-4D97-AF65-F5344CB8AC3E}">
        <p14:creationId xmlns:p14="http://schemas.microsoft.com/office/powerpoint/2010/main" val="1383179158"/>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9C23F03-E4B0-EF4B-0557-8643F6857180}"/>
              </a:ext>
            </a:extLst>
          </p:cNvPr>
          <p:cNvSpPr>
            <a:spLocks noGrp="1"/>
          </p:cNvSpPr>
          <p:nvPr>
            <p:ph type="title"/>
          </p:nvPr>
        </p:nvSpPr>
        <p:spPr/>
        <p:txBody>
          <a:bodyPr/>
          <a:lstStyle/>
          <a:p>
            <a:r>
              <a:rPr lang="fr-FR" dirty="0"/>
              <a:t>Transmission des pressions</a:t>
            </a:r>
            <a:br>
              <a:rPr lang="fr-FR" dirty="0"/>
            </a:br>
            <a:r>
              <a:rPr lang="fr-FR" dirty="0"/>
              <a:t>Exemple</a:t>
            </a:r>
          </a:p>
        </p:txBody>
      </p:sp>
      <p:sp>
        <p:nvSpPr>
          <p:cNvPr id="3" name="Espace réservé du contenu 2">
            <a:extLst>
              <a:ext uri="{FF2B5EF4-FFF2-40B4-BE49-F238E27FC236}">
                <a16:creationId xmlns:a16="http://schemas.microsoft.com/office/drawing/2014/main" id="{CD96891A-7CFA-4272-62B4-39B17C2DC193}"/>
              </a:ext>
            </a:extLst>
          </p:cNvPr>
          <p:cNvSpPr>
            <a:spLocks noGrp="1"/>
          </p:cNvSpPr>
          <p:nvPr>
            <p:ph idx="1"/>
          </p:nvPr>
        </p:nvSpPr>
        <p:spPr>
          <a:xfrm>
            <a:off x="9552052" y="1834616"/>
            <a:ext cx="2246508" cy="4351338"/>
          </a:xfrm>
        </p:spPr>
        <p:txBody>
          <a:bodyPr>
            <a:normAutofit/>
          </a:bodyPr>
          <a:lstStyle/>
          <a:p>
            <a:r>
              <a:rPr lang="fr-FR" sz="1400" dirty="0"/>
              <a:t>Les pressions d’une partie vers l’autre peuvent se répercuter sous forme d’autres pressions </a:t>
            </a:r>
          </a:p>
          <a:p>
            <a:r>
              <a:rPr lang="fr-FR" sz="1400" dirty="0"/>
              <a:t>Les pressions peuvent résoudre les tensions si elles sont effectives, mais plusieurs pressions contradictoires augmentent les tensions. </a:t>
            </a:r>
          </a:p>
        </p:txBody>
      </p:sp>
      <p:pic>
        <p:nvPicPr>
          <p:cNvPr id="4" name="Graphique 3" descr="Bâtiment avec un remplissage uni">
            <a:extLst>
              <a:ext uri="{FF2B5EF4-FFF2-40B4-BE49-F238E27FC236}">
                <a16:creationId xmlns:a16="http://schemas.microsoft.com/office/drawing/2014/main" id="{E56D8B56-6407-8083-3601-B1098242955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111941" y="1540432"/>
            <a:ext cx="1008000" cy="1008000"/>
          </a:xfrm>
          <a:prstGeom prst="rect">
            <a:avLst/>
          </a:prstGeom>
        </p:spPr>
      </p:pic>
      <p:pic>
        <p:nvPicPr>
          <p:cNvPr id="5" name="Graphique 4" descr="Bâtiment avec un remplissage uni">
            <a:extLst>
              <a:ext uri="{FF2B5EF4-FFF2-40B4-BE49-F238E27FC236}">
                <a16:creationId xmlns:a16="http://schemas.microsoft.com/office/drawing/2014/main" id="{96A8113D-409F-8AB9-9829-F7A3DE5892C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069321" y="1522460"/>
            <a:ext cx="1008000" cy="1008000"/>
          </a:xfrm>
          <a:prstGeom prst="rect">
            <a:avLst/>
          </a:prstGeom>
        </p:spPr>
      </p:pic>
      <p:grpSp>
        <p:nvGrpSpPr>
          <p:cNvPr id="6" name="Groupe 5">
            <a:extLst>
              <a:ext uri="{FF2B5EF4-FFF2-40B4-BE49-F238E27FC236}">
                <a16:creationId xmlns:a16="http://schemas.microsoft.com/office/drawing/2014/main" id="{15F119DC-9ED5-5BB6-8347-CFA787E40142}"/>
              </a:ext>
            </a:extLst>
          </p:cNvPr>
          <p:cNvGrpSpPr/>
          <p:nvPr/>
        </p:nvGrpSpPr>
        <p:grpSpPr>
          <a:xfrm>
            <a:off x="1952531" y="5896694"/>
            <a:ext cx="1004893" cy="847205"/>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E226E7EF-37E0-3980-2BF9-9874341BC3C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A2DE6FDC-4A97-BAC1-0682-B45428123D0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51764FBA-0CE7-DC2E-7491-877E0B1F099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3532A4A1-2AA7-7F0E-EE86-658BC297ED6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3F5B6004-DFBD-3EF5-577C-21205BD1B85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CF8AC0FF-C3DA-E4E4-C63E-D40826D2023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B97B7895-DB4C-D08E-5F72-A1C3B867EAC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E00E9CC1-E05D-C531-3907-210F3132F82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3D450597-CDBD-E472-8F87-96C533E0D91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3BC8C23A-17B9-955B-E1DB-B2BBFA91C8A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DA20640D-2FA6-7686-528B-2260BDC8B88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grpSp>
        <p:nvGrpSpPr>
          <p:cNvPr id="18" name="Groupe 17">
            <a:extLst>
              <a:ext uri="{FF2B5EF4-FFF2-40B4-BE49-F238E27FC236}">
                <a16:creationId xmlns:a16="http://schemas.microsoft.com/office/drawing/2014/main" id="{7656BECD-734F-6D76-B544-1C517AE14B38}"/>
              </a:ext>
            </a:extLst>
          </p:cNvPr>
          <p:cNvGrpSpPr/>
          <p:nvPr/>
        </p:nvGrpSpPr>
        <p:grpSpPr>
          <a:xfrm>
            <a:off x="6995151" y="5896694"/>
            <a:ext cx="1004893" cy="847205"/>
            <a:chOff x="8982504" y="3274976"/>
            <a:chExt cx="1230670" cy="1037553"/>
          </a:xfrm>
          <a:solidFill>
            <a:srgbClr val="ED7D31"/>
          </a:solidFill>
        </p:grpSpPr>
        <p:pic>
          <p:nvPicPr>
            <p:cNvPr id="19" name="Graphique 18" descr="Utilisateur avec un remplissage uni">
              <a:extLst>
                <a:ext uri="{FF2B5EF4-FFF2-40B4-BE49-F238E27FC236}">
                  <a16:creationId xmlns:a16="http://schemas.microsoft.com/office/drawing/2014/main" id="{31907F92-1048-F434-6AA7-56B5EBEC1E2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0" name="Graphique 19" descr="Utilisateur avec un remplissage uni">
              <a:extLst>
                <a:ext uri="{FF2B5EF4-FFF2-40B4-BE49-F238E27FC236}">
                  <a16:creationId xmlns:a16="http://schemas.microsoft.com/office/drawing/2014/main" id="{7187BDB2-72E3-7908-79D9-A6604F5AF91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1" name="Graphique 20" descr="Utilisateur avec un remplissage uni">
              <a:extLst>
                <a:ext uri="{FF2B5EF4-FFF2-40B4-BE49-F238E27FC236}">
                  <a16:creationId xmlns:a16="http://schemas.microsoft.com/office/drawing/2014/main" id="{67542B3E-BC0C-CBE1-FA63-D8BC876F0D3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2" name="Graphique 21" descr="Utilisateur avec un remplissage uni">
              <a:extLst>
                <a:ext uri="{FF2B5EF4-FFF2-40B4-BE49-F238E27FC236}">
                  <a16:creationId xmlns:a16="http://schemas.microsoft.com/office/drawing/2014/main" id="{B2819B47-E7AB-0C5F-B64F-5E32D4C4D35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3" name="Graphique 22" descr="Utilisateur avec un remplissage uni">
              <a:extLst>
                <a:ext uri="{FF2B5EF4-FFF2-40B4-BE49-F238E27FC236}">
                  <a16:creationId xmlns:a16="http://schemas.microsoft.com/office/drawing/2014/main" id="{4D526830-8291-2C90-9203-DCFAEF6B34F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4" name="Graphique 23" descr="Utilisateur avec un remplissage uni">
              <a:extLst>
                <a:ext uri="{FF2B5EF4-FFF2-40B4-BE49-F238E27FC236}">
                  <a16:creationId xmlns:a16="http://schemas.microsoft.com/office/drawing/2014/main" id="{40BC257E-B826-495E-D8DE-19E505039E8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5" name="Graphique 24" descr="Utilisateur avec un remplissage uni">
              <a:extLst>
                <a:ext uri="{FF2B5EF4-FFF2-40B4-BE49-F238E27FC236}">
                  <a16:creationId xmlns:a16="http://schemas.microsoft.com/office/drawing/2014/main" id="{D02B58F6-9A7E-6C97-BA32-CBFADECA761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6" name="Graphique 25" descr="Utilisateur avec un remplissage uni">
              <a:extLst>
                <a:ext uri="{FF2B5EF4-FFF2-40B4-BE49-F238E27FC236}">
                  <a16:creationId xmlns:a16="http://schemas.microsoft.com/office/drawing/2014/main" id="{2241E86E-F2E4-DEE1-F192-74DB4CA6497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7" name="Graphique 26" descr="Utilisateur avec un remplissage uni">
              <a:extLst>
                <a:ext uri="{FF2B5EF4-FFF2-40B4-BE49-F238E27FC236}">
                  <a16:creationId xmlns:a16="http://schemas.microsoft.com/office/drawing/2014/main" id="{C5989B91-0F2C-52D8-ABE1-40DCA24910E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8" name="Graphique 27" descr="Utilisateur avec un remplissage uni">
              <a:extLst>
                <a:ext uri="{FF2B5EF4-FFF2-40B4-BE49-F238E27FC236}">
                  <a16:creationId xmlns:a16="http://schemas.microsoft.com/office/drawing/2014/main" id="{5B6F8A01-61F2-7428-209B-C7A0A24A248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9" name="Graphique 28" descr="Utilisateur avec un remplissage uni">
              <a:extLst>
                <a:ext uri="{FF2B5EF4-FFF2-40B4-BE49-F238E27FC236}">
                  <a16:creationId xmlns:a16="http://schemas.microsoft.com/office/drawing/2014/main" id="{D1B63273-96FC-E35A-25F6-929C1F69316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30" name="Flèche : droite 29">
            <a:extLst>
              <a:ext uri="{FF2B5EF4-FFF2-40B4-BE49-F238E27FC236}">
                <a16:creationId xmlns:a16="http://schemas.microsoft.com/office/drawing/2014/main" id="{3AFC23A2-89C0-B2B9-8CF4-9B80CD168ED9}"/>
              </a:ext>
            </a:extLst>
          </p:cNvPr>
          <p:cNvSpPr/>
          <p:nvPr/>
        </p:nvSpPr>
        <p:spPr>
          <a:xfrm>
            <a:off x="2776367" y="5850000"/>
            <a:ext cx="4350094" cy="642875"/>
          </a:xfrm>
          <a:prstGeom prst="right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Pression pour augmenter l’investissement en temps</a:t>
            </a:r>
          </a:p>
        </p:txBody>
      </p:sp>
      <p:pic>
        <p:nvPicPr>
          <p:cNvPr id="31" name="Graphique 30" descr="Employée de bureau avec un remplissage uni">
            <a:extLst>
              <a:ext uri="{FF2B5EF4-FFF2-40B4-BE49-F238E27FC236}">
                <a16:creationId xmlns:a16="http://schemas.microsoft.com/office/drawing/2014/main" id="{CE2D1D52-9E68-7FBD-EF14-375DCEFCAC3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157263" y="3598749"/>
            <a:ext cx="927445" cy="927445"/>
          </a:xfrm>
          <a:prstGeom prst="rect">
            <a:avLst/>
          </a:prstGeom>
        </p:spPr>
      </p:pic>
      <p:sp>
        <p:nvSpPr>
          <p:cNvPr id="32" name="Flèche : bas 31">
            <a:extLst>
              <a:ext uri="{FF2B5EF4-FFF2-40B4-BE49-F238E27FC236}">
                <a16:creationId xmlns:a16="http://schemas.microsoft.com/office/drawing/2014/main" id="{593787A3-5FF0-4B64-329D-522BB00807A9}"/>
              </a:ext>
            </a:extLst>
          </p:cNvPr>
          <p:cNvSpPr/>
          <p:nvPr/>
        </p:nvSpPr>
        <p:spPr>
          <a:xfrm>
            <a:off x="2093049" y="4434025"/>
            <a:ext cx="1892394" cy="1605490"/>
          </a:xfrm>
          <a:prstGeom prst="downArrow">
            <a:avLst>
              <a:gd name="adj1" fmla="val 50000"/>
              <a:gd name="adj2" fmla="val 50523"/>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Pression pour créer de l’engagement</a:t>
            </a:r>
          </a:p>
        </p:txBody>
      </p:sp>
      <p:sp>
        <p:nvSpPr>
          <p:cNvPr id="33" name="Flèche : bas 32">
            <a:extLst>
              <a:ext uri="{FF2B5EF4-FFF2-40B4-BE49-F238E27FC236}">
                <a16:creationId xmlns:a16="http://schemas.microsoft.com/office/drawing/2014/main" id="{3840BCFE-1BB2-EE66-328C-D8A293047DB4}"/>
              </a:ext>
            </a:extLst>
          </p:cNvPr>
          <p:cNvSpPr/>
          <p:nvPr/>
        </p:nvSpPr>
        <p:spPr>
          <a:xfrm>
            <a:off x="1702964" y="2384507"/>
            <a:ext cx="2555693" cy="1366714"/>
          </a:xfrm>
          <a:prstGeom prst="down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Pression pour la valeur pour l’entreprise</a:t>
            </a:r>
          </a:p>
        </p:txBody>
      </p:sp>
      <p:sp>
        <p:nvSpPr>
          <p:cNvPr id="36" name="Flèche : bas 35">
            <a:extLst>
              <a:ext uri="{FF2B5EF4-FFF2-40B4-BE49-F238E27FC236}">
                <a16:creationId xmlns:a16="http://schemas.microsoft.com/office/drawing/2014/main" id="{AE44D696-5511-330B-62BC-D367D8329F98}"/>
              </a:ext>
            </a:extLst>
          </p:cNvPr>
          <p:cNvSpPr/>
          <p:nvPr/>
        </p:nvSpPr>
        <p:spPr>
          <a:xfrm>
            <a:off x="6684249" y="2373686"/>
            <a:ext cx="1892394" cy="3585547"/>
          </a:xfrm>
          <a:prstGeom prst="down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Pression pour réduire l’investissement en temps</a:t>
            </a:r>
          </a:p>
        </p:txBody>
      </p:sp>
      <p:sp>
        <p:nvSpPr>
          <p:cNvPr id="37" name="Espace réservé du contenu 2">
            <a:extLst>
              <a:ext uri="{FF2B5EF4-FFF2-40B4-BE49-F238E27FC236}">
                <a16:creationId xmlns:a16="http://schemas.microsoft.com/office/drawing/2014/main" id="{5BFE9259-0A97-153A-BE37-5529B89E6CBB}"/>
              </a:ext>
            </a:extLst>
          </p:cNvPr>
          <p:cNvSpPr txBox="1">
            <a:spLocks/>
          </p:cNvSpPr>
          <p:nvPr/>
        </p:nvSpPr>
        <p:spPr>
          <a:xfrm>
            <a:off x="1435736" y="3936745"/>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a:solidFill>
                  <a:srgbClr val="ED7D31"/>
                </a:solidFill>
              </a:rPr>
              <a:t>Sponsor</a:t>
            </a:r>
            <a:endParaRPr lang="fr-FR" sz="1600" b="1" dirty="0">
              <a:solidFill>
                <a:srgbClr val="ED7D31"/>
              </a:solidFill>
            </a:endParaRPr>
          </a:p>
        </p:txBody>
      </p:sp>
      <p:sp>
        <p:nvSpPr>
          <p:cNvPr id="39" name="Espace réservé du contenu 2">
            <a:extLst>
              <a:ext uri="{FF2B5EF4-FFF2-40B4-BE49-F238E27FC236}">
                <a16:creationId xmlns:a16="http://schemas.microsoft.com/office/drawing/2014/main" id="{82DA0C7A-1319-E9BB-0E31-7F38B7296461}"/>
              </a:ext>
            </a:extLst>
          </p:cNvPr>
          <p:cNvSpPr txBox="1">
            <a:spLocks/>
          </p:cNvSpPr>
          <p:nvPr/>
        </p:nvSpPr>
        <p:spPr>
          <a:xfrm>
            <a:off x="8013051" y="6130963"/>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40" name="Espace réservé du contenu 2">
            <a:extLst>
              <a:ext uri="{FF2B5EF4-FFF2-40B4-BE49-F238E27FC236}">
                <a16:creationId xmlns:a16="http://schemas.microsoft.com/office/drawing/2014/main" id="{ECA3B661-1A44-A63A-F265-31E6E6558F98}"/>
              </a:ext>
            </a:extLst>
          </p:cNvPr>
          <p:cNvSpPr txBox="1">
            <a:spLocks/>
          </p:cNvSpPr>
          <p:nvPr/>
        </p:nvSpPr>
        <p:spPr>
          <a:xfrm>
            <a:off x="1076367" y="6090822"/>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41" name="Espace réservé du contenu 2">
            <a:extLst>
              <a:ext uri="{FF2B5EF4-FFF2-40B4-BE49-F238E27FC236}">
                <a16:creationId xmlns:a16="http://schemas.microsoft.com/office/drawing/2014/main" id="{7E9CFD41-D48F-5400-B369-B6D70985033E}"/>
              </a:ext>
            </a:extLst>
          </p:cNvPr>
          <p:cNvSpPr txBox="1">
            <a:spLocks/>
          </p:cNvSpPr>
          <p:nvPr/>
        </p:nvSpPr>
        <p:spPr>
          <a:xfrm>
            <a:off x="1209118" y="1861826"/>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Entreprise</a:t>
            </a:r>
          </a:p>
        </p:txBody>
      </p:sp>
      <p:sp>
        <p:nvSpPr>
          <p:cNvPr id="42" name="Espace réservé du contenu 2">
            <a:extLst>
              <a:ext uri="{FF2B5EF4-FFF2-40B4-BE49-F238E27FC236}">
                <a16:creationId xmlns:a16="http://schemas.microsoft.com/office/drawing/2014/main" id="{B550C06C-9767-8E64-A9D8-ABDAD267FA7B}"/>
              </a:ext>
            </a:extLst>
          </p:cNvPr>
          <p:cNvSpPr txBox="1">
            <a:spLocks/>
          </p:cNvSpPr>
          <p:nvPr/>
        </p:nvSpPr>
        <p:spPr>
          <a:xfrm>
            <a:off x="7983568" y="1907201"/>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Entreprise</a:t>
            </a:r>
          </a:p>
        </p:txBody>
      </p:sp>
      <p:sp>
        <p:nvSpPr>
          <p:cNvPr id="43" name="Flèche : gauche 42">
            <a:extLst>
              <a:ext uri="{FF2B5EF4-FFF2-40B4-BE49-F238E27FC236}">
                <a16:creationId xmlns:a16="http://schemas.microsoft.com/office/drawing/2014/main" id="{D675618D-60E3-A006-3FA1-D51DA862B2CE}"/>
              </a:ext>
            </a:extLst>
          </p:cNvPr>
          <p:cNvSpPr/>
          <p:nvPr/>
        </p:nvSpPr>
        <p:spPr>
          <a:xfrm>
            <a:off x="2725152" y="6243128"/>
            <a:ext cx="4350094" cy="642875"/>
          </a:xfrm>
          <a:prstGeom prst="left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Pression pour augmenter la valeur pour les membres</a:t>
            </a:r>
          </a:p>
        </p:txBody>
      </p:sp>
      <p:sp>
        <p:nvSpPr>
          <p:cNvPr id="44" name="Flèche : haut 43">
            <a:extLst>
              <a:ext uri="{FF2B5EF4-FFF2-40B4-BE49-F238E27FC236}">
                <a16:creationId xmlns:a16="http://schemas.microsoft.com/office/drawing/2014/main" id="{7791142F-95DA-87DB-1A3C-0A10508DC0F5}"/>
              </a:ext>
            </a:extLst>
          </p:cNvPr>
          <p:cNvSpPr/>
          <p:nvPr/>
        </p:nvSpPr>
        <p:spPr>
          <a:xfrm>
            <a:off x="1139298" y="4416971"/>
            <a:ext cx="1508291" cy="1605490"/>
          </a:xfrm>
          <a:prstGeom prst="up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Pression pour des ressources supplémentaires</a:t>
            </a:r>
          </a:p>
        </p:txBody>
      </p:sp>
      <p:sp>
        <p:nvSpPr>
          <p:cNvPr id="45" name="Espace réservé du contenu 2">
            <a:extLst>
              <a:ext uri="{FF2B5EF4-FFF2-40B4-BE49-F238E27FC236}">
                <a16:creationId xmlns:a16="http://schemas.microsoft.com/office/drawing/2014/main" id="{5924B8E4-79A3-1101-8811-9D2A5830BC03}"/>
              </a:ext>
            </a:extLst>
          </p:cNvPr>
          <p:cNvSpPr txBox="1">
            <a:spLocks/>
          </p:cNvSpPr>
          <p:nvPr/>
        </p:nvSpPr>
        <p:spPr>
          <a:xfrm>
            <a:off x="3754670" y="2552035"/>
            <a:ext cx="461546" cy="375723"/>
          </a:xfrm>
          <a:prstGeom prst="rect">
            <a:avLst/>
          </a:prstGeom>
          <a:ln>
            <a:solidFill>
              <a:srgbClr val="FF0000"/>
            </a:solidFill>
          </a:ln>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2000" b="1" dirty="0"/>
              <a:t>1</a:t>
            </a:r>
          </a:p>
        </p:txBody>
      </p:sp>
      <p:sp>
        <p:nvSpPr>
          <p:cNvPr id="47" name="Espace réservé du contenu 2">
            <a:extLst>
              <a:ext uri="{FF2B5EF4-FFF2-40B4-BE49-F238E27FC236}">
                <a16:creationId xmlns:a16="http://schemas.microsoft.com/office/drawing/2014/main" id="{25D63C72-5F3E-3750-FC6B-F5D76B5FB22A}"/>
              </a:ext>
            </a:extLst>
          </p:cNvPr>
          <p:cNvSpPr txBox="1">
            <a:spLocks/>
          </p:cNvSpPr>
          <p:nvPr/>
        </p:nvSpPr>
        <p:spPr>
          <a:xfrm>
            <a:off x="3754670" y="4612748"/>
            <a:ext cx="461546" cy="375723"/>
          </a:xfrm>
          <a:prstGeom prst="rect">
            <a:avLst/>
          </a:prstGeom>
          <a:ln>
            <a:solidFill>
              <a:srgbClr val="FF0000"/>
            </a:solidFill>
          </a:ln>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2000" b="1" dirty="0"/>
              <a:t>2</a:t>
            </a:r>
          </a:p>
        </p:txBody>
      </p:sp>
      <p:sp>
        <p:nvSpPr>
          <p:cNvPr id="48" name="Espace réservé du contenu 2">
            <a:extLst>
              <a:ext uri="{FF2B5EF4-FFF2-40B4-BE49-F238E27FC236}">
                <a16:creationId xmlns:a16="http://schemas.microsoft.com/office/drawing/2014/main" id="{20013A65-0B90-39A8-AFC0-94F0C6AC52E7}"/>
              </a:ext>
            </a:extLst>
          </p:cNvPr>
          <p:cNvSpPr txBox="1">
            <a:spLocks/>
          </p:cNvSpPr>
          <p:nvPr/>
        </p:nvSpPr>
        <p:spPr>
          <a:xfrm>
            <a:off x="4608045" y="5537596"/>
            <a:ext cx="461546" cy="375723"/>
          </a:xfrm>
          <a:prstGeom prst="rect">
            <a:avLst/>
          </a:prstGeom>
          <a:ln>
            <a:solidFill>
              <a:srgbClr val="FF0000"/>
            </a:solidFill>
          </a:ln>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2000" b="1" dirty="0"/>
              <a:t>3</a:t>
            </a:r>
          </a:p>
        </p:txBody>
      </p:sp>
      <p:sp>
        <p:nvSpPr>
          <p:cNvPr id="49" name="Espace réservé du contenu 2">
            <a:extLst>
              <a:ext uri="{FF2B5EF4-FFF2-40B4-BE49-F238E27FC236}">
                <a16:creationId xmlns:a16="http://schemas.microsoft.com/office/drawing/2014/main" id="{5EDA2B54-F3D2-5385-B7A8-CBC9A9276763}"/>
              </a:ext>
            </a:extLst>
          </p:cNvPr>
          <p:cNvSpPr txBox="1">
            <a:spLocks/>
          </p:cNvSpPr>
          <p:nvPr/>
        </p:nvSpPr>
        <p:spPr>
          <a:xfrm>
            <a:off x="6613625" y="4519409"/>
            <a:ext cx="461546" cy="375723"/>
          </a:xfrm>
          <a:prstGeom prst="rect">
            <a:avLst/>
          </a:prstGeom>
          <a:ln>
            <a:solidFill>
              <a:srgbClr val="FF0000"/>
            </a:solidFill>
          </a:ln>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2000" b="1" dirty="0"/>
              <a:t>4</a:t>
            </a:r>
          </a:p>
        </p:txBody>
      </p:sp>
      <p:sp>
        <p:nvSpPr>
          <p:cNvPr id="50" name="Espace réservé du contenu 2">
            <a:extLst>
              <a:ext uri="{FF2B5EF4-FFF2-40B4-BE49-F238E27FC236}">
                <a16:creationId xmlns:a16="http://schemas.microsoft.com/office/drawing/2014/main" id="{6C35764F-0C73-915A-C0D8-614073E0AF7B}"/>
              </a:ext>
            </a:extLst>
          </p:cNvPr>
          <p:cNvSpPr txBox="1">
            <a:spLocks/>
          </p:cNvSpPr>
          <p:nvPr/>
        </p:nvSpPr>
        <p:spPr>
          <a:xfrm>
            <a:off x="6426489" y="6405373"/>
            <a:ext cx="461546" cy="375723"/>
          </a:xfrm>
          <a:prstGeom prst="rect">
            <a:avLst/>
          </a:prstGeom>
          <a:ln>
            <a:solidFill>
              <a:srgbClr val="FF0000"/>
            </a:solidFill>
          </a:ln>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2000" b="1" dirty="0"/>
              <a:t>5</a:t>
            </a:r>
          </a:p>
        </p:txBody>
      </p:sp>
      <p:sp>
        <p:nvSpPr>
          <p:cNvPr id="51" name="Espace réservé du contenu 2">
            <a:extLst>
              <a:ext uri="{FF2B5EF4-FFF2-40B4-BE49-F238E27FC236}">
                <a16:creationId xmlns:a16="http://schemas.microsoft.com/office/drawing/2014/main" id="{4E410A07-4D09-0895-5AE4-23C1B889547E}"/>
              </a:ext>
            </a:extLst>
          </p:cNvPr>
          <p:cNvSpPr txBox="1">
            <a:spLocks/>
          </p:cNvSpPr>
          <p:nvPr/>
        </p:nvSpPr>
        <p:spPr>
          <a:xfrm>
            <a:off x="960082" y="5237028"/>
            <a:ext cx="461546" cy="375723"/>
          </a:xfrm>
          <a:prstGeom prst="rect">
            <a:avLst/>
          </a:prstGeom>
          <a:ln>
            <a:solidFill>
              <a:srgbClr val="FF0000"/>
            </a:solidFill>
          </a:ln>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2000" b="1" dirty="0"/>
              <a:t>6</a:t>
            </a:r>
          </a:p>
        </p:txBody>
      </p:sp>
      <p:sp>
        <p:nvSpPr>
          <p:cNvPr id="52" name="Flèche : haut 51">
            <a:extLst>
              <a:ext uri="{FF2B5EF4-FFF2-40B4-BE49-F238E27FC236}">
                <a16:creationId xmlns:a16="http://schemas.microsoft.com/office/drawing/2014/main" id="{48A069C0-0D71-2E9E-AE81-B1FA9325E272}"/>
              </a:ext>
            </a:extLst>
          </p:cNvPr>
          <p:cNvSpPr/>
          <p:nvPr/>
        </p:nvSpPr>
        <p:spPr>
          <a:xfrm>
            <a:off x="879182" y="2266880"/>
            <a:ext cx="1508291" cy="1605490"/>
          </a:xfrm>
          <a:prstGeom prst="up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Pression pour prise de risques supplémentaires</a:t>
            </a:r>
          </a:p>
        </p:txBody>
      </p:sp>
      <p:sp>
        <p:nvSpPr>
          <p:cNvPr id="53" name="Espace réservé du contenu 2">
            <a:extLst>
              <a:ext uri="{FF2B5EF4-FFF2-40B4-BE49-F238E27FC236}">
                <a16:creationId xmlns:a16="http://schemas.microsoft.com/office/drawing/2014/main" id="{570C88FA-565F-3362-8AC9-1619F13F6711}"/>
              </a:ext>
            </a:extLst>
          </p:cNvPr>
          <p:cNvSpPr txBox="1">
            <a:spLocks/>
          </p:cNvSpPr>
          <p:nvPr/>
        </p:nvSpPr>
        <p:spPr>
          <a:xfrm>
            <a:off x="680778" y="3206759"/>
            <a:ext cx="461546" cy="375723"/>
          </a:xfrm>
          <a:prstGeom prst="rect">
            <a:avLst/>
          </a:prstGeom>
          <a:ln>
            <a:solidFill>
              <a:srgbClr val="FF0000"/>
            </a:solidFill>
          </a:ln>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2000" b="1" dirty="0"/>
              <a:t>7</a:t>
            </a:r>
          </a:p>
        </p:txBody>
      </p:sp>
    </p:spTree>
    <p:extLst>
      <p:ext uri="{BB962C8B-B14F-4D97-AF65-F5344CB8AC3E}">
        <p14:creationId xmlns:p14="http://schemas.microsoft.com/office/powerpoint/2010/main" val="319352866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BFDB059-EBC7-4F12-DC2F-6BAFC5825DA8}"/>
              </a:ext>
            </a:extLst>
          </p:cNvPr>
          <p:cNvSpPr>
            <a:spLocks noGrp="1"/>
          </p:cNvSpPr>
          <p:nvPr>
            <p:ph type="title"/>
          </p:nvPr>
        </p:nvSpPr>
        <p:spPr>
          <a:xfrm>
            <a:off x="838200" y="356417"/>
            <a:ext cx="10515600" cy="922526"/>
          </a:xfrm>
        </p:spPr>
        <p:txBody>
          <a:bodyPr>
            <a:noAutofit/>
          </a:bodyPr>
          <a:lstStyle/>
          <a:p>
            <a:r>
              <a:rPr lang="fr-FR" sz="3200" dirty="0"/>
              <a:t>Tensions entre parties sur la valeur d’une Communauté</a:t>
            </a:r>
            <a:br>
              <a:rPr lang="fr-FR" sz="3200" dirty="0"/>
            </a:br>
            <a:endParaRPr lang="fr-FR" sz="3200" dirty="0"/>
          </a:p>
        </p:txBody>
      </p:sp>
      <p:pic>
        <p:nvPicPr>
          <p:cNvPr id="64" name="Graphique 63" descr="Bâtiment avec un remplissage uni">
            <a:extLst>
              <a:ext uri="{FF2B5EF4-FFF2-40B4-BE49-F238E27FC236}">
                <a16:creationId xmlns:a16="http://schemas.microsoft.com/office/drawing/2014/main" id="{FF36E3B7-58DA-3549-F480-D8FE3A324A7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807468" y="1032969"/>
            <a:ext cx="1008000" cy="1008000"/>
          </a:xfrm>
          <a:prstGeom prst="rect">
            <a:avLst/>
          </a:prstGeom>
        </p:spPr>
      </p:pic>
      <p:pic>
        <p:nvPicPr>
          <p:cNvPr id="66" name="Graphique 65" descr="Bâtiment avec un remplissage uni">
            <a:extLst>
              <a:ext uri="{FF2B5EF4-FFF2-40B4-BE49-F238E27FC236}">
                <a16:creationId xmlns:a16="http://schemas.microsoft.com/office/drawing/2014/main" id="{BC41B658-4163-0E79-6432-C2859BD07D7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932788" y="996316"/>
            <a:ext cx="1008000" cy="1008000"/>
          </a:xfrm>
          <a:prstGeom prst="rect">
            <a:avLst/>
          </a:prstGeom>
        </p:spPr>
      </p:pic>
      <p:grpSp>
        <p:nvGrpSpPr>
          <p:cNvPr id="67" name="Groupe 66">
            <a:extLst>
              <a:ext uri="{FF2B5EF4-FFF2-40B4-BE49-F238E27FC236}">
                <a16:creationId xmlns:a16="http://schemas.microsoft.com/office/drawing/2014/main" id="{18D24A12-847B-D7C4-C096-BDB0ED2841B5}"/>
              </a:ext>
            </a:extLst>
          </p:cNvPr>
          <p:cNvGrpSpPr/>
          <p:nvPr/>
        </p:nvGrpSpPr>
        <p:grpSpPr>
          <a:xfrm>
            <a:off x="2772744" y="5396168"/>
            <a:ext cx="1004893" cy="847205"/>
            <a:chOff x="8982504" y="3274976"/>
            <a:chExt cx="1230670" cy="1037553"/>
          </a:xfrm>
          <a:solidFill>
            <a:srgbClr val="ED7D31"/>
          </a:solidFill>
        </p:grpSpPr>
        <p:pic>
          <p:nvPicPr>
            <p:cNvPr id="68" name="Graphique 67" descr="Utilisateur avec un remplissage uni">
              <a:extLst>
                <a:ext uri="{FF2B5EF4-FFF2-40B4-BE49-F238E27FC236}">
                  <a16:creationId xmlns:a16="http://schemas.microsoft.com/office/drawing/2014/main" id="{15B55A91-F5CC-6AB3-6ECA-726C4037BBC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69" name="Graphique 68" descr="Utilisateur avec un remplissage uni">
              <a:extLst>
                <a:ext uri="{FF2B5EF4-FFF2-40B4-BE49-F238E27FC236}">
                  <a16:creationId xmlns:a16="http://schemas.microsoft.com/office/drawing/2014/main" id="{16EC65AA-D5CC-4FE3-9BA6-BDF0324FFDA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70" name="Graphique 69" descr="Utilisateur avec un remplissage uni">
              <a:extLst>
                <a:ext uri="{FF2B5EF4-FFF2-40B4-BE49-F238E27FC236}">
                  <a16:creationId xmlns:a16="http://schemas.microsoft.com/office/drawing/2014/main" id="{7BDA1AEC-44CE-696B-EDF4-AC2DE42A407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71" name="Graphique 70" descr="Utilisateur avec un remplissage uni">
              <a:extLst>
                <a:ext uri="{FF2B5EF4-FFF2-40B4-BE49-F238E27FC236}">
                  <a16:creationId xmlns:a16="http://schemas.microsoft.com/office/drawing/2014/main" id="{ABB1CF4E-6071-EE75-EC96-24DE247F757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72" name="Graphique 71" descr="Utilisateur avec un remplissage uni">
              <a:extLst>
                <a:ext uri="{FF2B5EF4-FFF2-40B4-BE49-F238E27FC236}">
                  <a16:creationId xmlns:a16="http://schemas.microsoft.com/office/drawing/2014/main" id="{F988E29E-063A-7A4D-45E0-2CF91B1BD8F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73" name="Graphique 72" descr="Utilisateur avec un remplissage uni">
              <a:extLst>
                <a:ext uri="{FF2B5EF4-FFF2-40B4-BE49-F238E27FC236}">
                  <a16:creationId xmlns:a16="http://schemas.microsoft.com/office/drawing/2014/main" id="{62CDB847-DB6F-0288-E664-E4481407B7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74" name="Graphique 73" descr="Utilisateur avec un remplissage uni">
              <a:extLst>
                <a:ext uri="{FF2B5EF4-FFF2-40B4-BE49-F238E27FC236}">
                  <a16:creationId xmlns:a16="http://schemas.microsoft.com/office/drawing/2014/main" id="{6849438F-6D30-86FC-F2BE-A09BB64CB69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75" name="Graphique 74" descr="Utilisateur avec un remplissage uni">
              <a:extLst>
                <a:ext uri="{FF2B5EF4-FFF2-40B4-BE49-F238E27FC236}">
                  <a16:creationId xmlns:a16="http://schemas.microsoft.com/office/drawing/2014/main" id="{E5901B32-4F20-7620-709E-88F1A20E4DF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76" name="Graphique 75" descr="Utilisateur avec un remplissage uni">
              <a:extLst>
                <a:ext uri="{FF2B5EF4-FFF2-40B4-BE49-F238E27FC236}">
                  <a16:creationId xmlns:a16="http://schemas.microsoft.com/office/drawing/2014/main" id="{63BA5DBA-FF2E-1221-2E14-F32F704ED2A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77" name="Graphique 76" descr="Utilisateur avec un remplissage uni">
              <a:extLst>
                <a:ext uri="{FF2B5EF4-FFF2-40B4-BE49-F238E27FC236}">
                  <a16:creationId xmlns:a16="http://schemas.microsoft.com/office/drawing/2014/main" id="{526EF52B-EB22-BBA3-8261-9E26025A4B2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78" name="Graphique 77" descr="Utilisateur avec un remplissage uni">
              <a:extLst>
                <a:ext uri="{FF2B5EF4-FFF2-40B4-BE49-F238E27FC236}">
                  <a16:creationId xmlns:a16="http://schemas.microsoft.com/office/drawing/2014/main" id="{5F6D9CCB-47BC-5793-5EA4-F4C801AAAEB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grpSp>
        <p:nvGrpSpPr>
          <p:cNvPr id="79" name="Groupe 78">
            <a:extLst>
              <a:ext uri="{FF2B5EF4-FFF2-40B4-BE49-F238E27FC236}">
                <a16:creationId xmlns:a16="http://schemas.microsoft.com/office/drawing/2014/main" id="{74F3D627-DEDA-7D07-D8BC-77F43B83317C}"/>
              </a:ext>
            </a:extLst>
          </p:cNvPr>
          <p:cNvGrpSpPr/>
          <p:nvPr/>
        </p:nvGrpSpPr>
        <p:grpSpPr>
          <a:xfrm>
            <a:off x="8690678" y="5389231"/>
            <a:ext cx="1004893" cy="847205"/>
            <a:chOff x="8982504" y="3274976"/>
            <a:chExt cx="1230670" cy="1037553"/>
          </a:xfrm>
          <a:solidFill>
            <a:srgbClr val="ED7D31"/>
          </a:solidFill>
        </p:grpSpPr>
        <p:pic>
          <p:nvPicPr>
            <p:cNvPr id="80" name="Graphique 79" descr="Utilisateur avec un remplissage uni">
              <a:extLst>
                <a:ext uri="{FF2B5EF4-FFF2-40B4-BE49-F238E27FC236}">
                  <a16:creationId xmlns:a16="http://schemas.microsoft.com/office/drawing/2014/main" id="{2355FD84-F38A-0DE4-3BC3-C463C2825B2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1" name="Graphique 80" descr="Utilisateur avec un remplissage uni">
              <a:extLst>
                <a:ext uri="{FF2B5EF4-FFF2-40B4-BE49-F238E27FC236}">
                  <a16:creationId xmlns:a16="http://schemas.microsoft.com/office/drawing/2014/main" id="{ADF5C7FE-7816-712D-F6DB-B2042E6EE45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2" name="Graphique 81" descr="Utilisateur avec un remplissage uni">
              <a:extLst>
                <a:ext uri="{FF2B5EF4-FFF2-40B4-BE49-F238E27FC236}">
                  <a16:creationId xmlns:a16="http://schemas.microsoft.com/office/drawing/2014/main" id="{07AD87B4-13B4-A7C5-A795-3E7DB6BE46B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83" name="Graphique 82" descr="Utilisateur avec un remplissage uni">
              <a:extLst>
                <a:ext uri="{FF2B5EF4-FFF2-40B4-BE49-F238E27FC236}">
                  <a16:creationId xmlns:a16="http://schemas.microsoft.com/office/drawing/2014/main" id="{6BACA993-F44E-E195-7DE1-E69E6ABAD8E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84" name="Graphique 83" descr="Utilisateur avec un remplissage uni">
              <a:extLst>
                <a:ext uri="{FF2B5EF4-FFF2-40B4-BE49-F238E27FC236}">
                  <a16:creationId xmlns:a16="http://schemas.microsoft.com/office/drawing/2014/main" id="{64B17839-FB89-ACDE-E287-A4A8A1277EF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85" name="Graphique 84" descr="Utilisateur avec un remplissage uni">
              <a:extLst>
                <a:ext uri="{FF2B5EF4-FFF2-40B4-BE49-F238E27FC236}">
                  <a16:creationId xmlns:a16="http://schemas.microsoft.com/office/drawing/2014/main" id="{66A8891C-EAD2-28DF-6159-18421F1C47B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86" name="Graphique 85" descr="Utilisateur avec un remplissage uni">
              <a:extLst>
                <a:ext uri="{FF2B5EF4-FFF2-40B4-BE49-F238E27FC236}">
                  <a16:creationId xmlns:a16="http://schemas.microsoft.com/office/drawing/2014/main" id="{254033A9-C067-81B7-7309-7847BEAFE3B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87" name="Graphique 86" descr="Utilisateur avec un remplissage uni">
              <a:extLst>
                <a:ext uri="{FF2B5EF4-FFF2-40B4-BE49-F238E27FC236}">
                  <a16:creationId xmlns:a16="http://schemas.microsoft.com/office/drawing/2014/main" id="{E8C191F9-BCFA-EC47-FBDC-8E7C183047C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88" name="Graphique 87" descr="Utilisateur avec un remplissage uni">
              <a:extLst>
                <a:ext uri="{FF2B5EF4-FFF2-40B4-BE49-F238E27FC236}">
                  <a16:creationId xmlns:a16="http://schemas.microsoft.com/office/drawing/2014/main" id="{02E2F4D4-6799-C868-4709-5120281F054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89" name="Graphique 88" descr="Utilisateur avec un remplissage uni">
              <a:extLst>
                <a:ext uri="{FF2B5EF4-FFF2-40B4-BE49-F238E27FC236}">
                  <a16:creationId xmlns:a16="http://schemas.microsoft.com/office/drawing/2014/main" id="{6B7ED0F1-AB28-34DE-B3AD-24ADD903433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90" name="Graphique 89" descr="Utilisateur avec un remplissage uni">
              <a:extLst>
                <a:ext uri="{FF2B5EF4-FFF2-40B4-BE49-F238E27FC236}">
                  <a16:creationId xmlns:a16="http://schemas.microsoft.com/office/drawing/2014/main" id="{62E7A2BE-E12B-6870-CDEF-F9AAA167938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91" name="Graphique 90" descr="Employée de bureau avec un remplissage uni">
            <a:extLst>
              <a:ext uri="{FF2B5EF4-FFF2-40B4-BE49-F238E27FC236}">
                <a16:creationId xmlns:a16="http://schemas.microsoft.com/office/drawing/2014/main" id="{3DE244D3-2A11-9F84-88C1-38E6C653741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977476" y="3098223"/>
            <a:ext cx="927445" cy="927445"/>
          </a:xfrm>
          <a:prstGeom prst="rect">
            <a:avLst/>
          </a:prstGeom>
        </p:spPr>
      </p:pic>
      <p:pic>
        <p:nvPicPr>
          <p:cNvPr id="92" name="Graphique 91" descr="Employée de bureau avec un remplissage uni">
            <a:extLst>
              <a:ext uri="{FF2B5EF4-FFF2-40B4-BE49-F238E27FC236}">
                <a16:creationId xmlns:a16="http://schemas.microsoft.com/office/drawing/2014/main" id="{B761D8E8-399B-1BE6-3A0E-FC8028A5B56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452490" y="3170219"/>
            <a:ext cx="927445" cy="927445"/>
          </a:xfrm>
          <a:prstGeom prst="rect">
            <a:avLst/>
          </a:prstGeom>
        </p:spPr>
      </p:pic>
      <p:sp>
        <p:nvSpPr>
          <p:cNvPr id="93" name="Espace réservé du contenu 2">
            <a:extLst>
              <a:ext uri="{FF2B5EF4-FFF2-40B4-BE49-F238E27FC236}">
                <a16:creationId xmlns:a16="http://schemas.microsoft.com/office/drawing/2014/main" id="{FD5C99C9-495C-4267-06D8-B06625E8176C}"/>
              </a:ext>
            </a:extLst>
          </p:cNvPr>
          <p:cNvSpPr txBox="1">
            <a:spLocks/>
          </p:cNvSpPr>
          <p:nvPr/>
        </p:nvSpPr>
        <p:spPr>
          <a:xfrm>
            <a:off x="2255949" y="3436219"/>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a:solidFill>
                  <a:srgbClr val="ED7D31"/>
                </a:solidFill>
              </a:rPr>
              <a:t>Sponsor</a:t>
            </a:r>
            <a:endParaRPr lang="fr-FR" sz="1600" b="1" dirty="0">
              <a:solidFill>
                <a:srgbClr val="ED7D31"/>
              </a:solidFill>
            </a:endParaRPr>
          </a:p>
        </p:txBody>
      </p:sp>
      <p:sp>
        <p:nvSpPr>
          <p:cNvPr id="94" name="Espace réservé du contenu 2">
            <a:extLst>
              <a:ext uri="{FF2B5EF4-FFF2-40B4-BE49-F238E27FC236}">
                <a16:creationId xmlns:a16="http://schemas.microsoft.com/office/drawing/2014/main" id="{3BD6703C-6E79-5EA9-83EA-D935599854EA}"/>
              </a:ext>
            </a:extLst>
          </p:cNvPr>
          <p:cNvSpPr txBox="1">
            <a:spLocks/>
          </p:cNvSpPr>
          <p:nvPr/>
        </p:nvSpPr>
        <p:spPr>
          <a:xfrm>
            <a:off x="7107293" y="3432020"/>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Sponsor</a:t>
            </a:r>
          </a:p>
        </p:txBody>
      </p:sp>
      <p:sp>
        <p:nvSpPr>
          <p:cNvPr id="95" name="Espace réservé du contenu 2">
            <a:extLst>
              <a:ext uri="{FF2B5EF4-FFF2-40B4-BE49-F238E27FC236}">
                <a16:creationId xmlns:a16="http://schemas.microsoft.com/office/drawing/2014/main" id="{B444E650-0CC6-1140-99CD-D0B62B362F4F}"/>
              </a:ext>
            </a:extLst>
          </p:cNvPr>
          <p:cNvSpPr txBox="1">
            <a:spLocks/>
          </p:cNvSpPr>
          <p:nvPr/>
        </p:nvSpPr>
        <p:spPr>
          <a:xfrm>
            <a:off x="9708578" y="5623500"/>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96" name="Espace réservé du contenu 2">
            <a:extLst>
              <a:ext uri="{FF2B5EF4-FFF2-40B4-BE49-F238E27FC236}">
                <a16:creationId xmlns:a16="http://schemas.microsoft.com/office/drawing/2014/main" id="{A75AB331-5134-8905-F397-0DE932269F8C}"/>
              </a:ext>
            </a:extLst>
          </p:cNvPr>
          <p:cNvSpPr txBox="1">
            <a:spLocks/>
          </p:cNvSpPr>
          <p:nvPr/>
        </p:nvSpPr>
        <p:spPr>
          <a:xfrm>
            <a:off x="1896580" y="5590296"/>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97" name="Espace réservé du contenu 2">
            <a:extLst>
              <a:ext uri="{FF2B5EF4-FFF2-40B4-BE49-F238E27FC236}">
                <a16:creationId xmlns:a16="http://schemas.microsoft.com/office/drawing/2014/main" id="{31C4C4FD-DD40-9AA1-269D-2F39EFC930B0}"/>
              </a:ext>
            </a:extLst>
          </p:cNvPr>
          <p:cNvSpPr txBox="1">
            <a:spLocks/>
          </p:cNvSpPr>
          <p:nvPr/>
        </p:nvSpPr>
        <p:spPr>
          <a:xfrm>
            <a:off x="2029331" y="1361300"/>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Entreprise</a:t>
            </a:r>
          </a:p>
        </p:txBody>
      </p:sp>
      <p:sp>
        <p:nvSpPr>
          <p:cNvPr id="98" name="Espace réservé du contenu 2">
            <a:extLst>
              <a:ext uri="{FF2B5EF4-FFF2-40B4-BE49-F238E27FC236}">
                <a16:creationId xmlns:a16="http://schemas.microsoft.com/office/drawing/2014/main" id="{DECB2BA6-FDF3-50A7-954E-F6A16EC981FF}"/>
              </a:ext>
            </a:extLst>
          </p:cNvPr>
          <p:cNvSpPr txBox="1">
            <a:spLocks/>
          </p:cNvSpPr>
          <p:nvPr/>
        </p:nvSpPr>
        <p:spPr>
          <a:xfrm>
            <a:off x="9679095" y="1399738"/>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Entreprise</a:t>
            </a:r>
          </a:p>
        </p:txBody>
      </p:sp>
      <p:grpSp>
        <p:nvGrpSpPr>
          <p:cNvPr id="99" name="Groupe 98">
            <a:extLst>
              <a:ext uri="{FF2B5EF4-FFF2-40B4-BE49-F238E27FC236}">
                <a16:creationId xmlns:a16="http://schemas.microsoft.com/office/drawing/2014/main" id="{8D3E949A-33DD-4E78-C600-76762F8BF62D}"/>
              </a:ext>
            </a:extLst>
          </p:cNvPr>
          <p:cNvGrpSpPr/>
          <p:nvPr/>
        </p:nvGrpSpPr>
        <p:grpSpPr>
          <a:xfrm>
            <a:off x="3152817" y="1939952"/>
            <a:ext cx="582779" cy="1236552"/>
            <a:chOff x="4327736" y="1771722"/>
            <a:chExt cx="1754416" cy="1735486"/>
          </a:xfrm>
          <a:solidFill>
            <a:srgbClr val="FF9999"/>
          </a:solidFill>
        </p:grpSpPr>
        <p:sp>
          <p:nvSpPr>
            <p:cNvPr id="100" name="Flèche : haut 99">
              <a:extLst>
                <a:ext uri="{FF2B5EF4-FFF2-40B4-BE49-F238E27FC236}">
                  <a16:creationId xmlns:a16="http://schemas.microsoft.com/office/drawing/2014/main" id="{8734E50E-32BB-A19A-7AA6-895EB4A806FD}"/>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01" name="Flèche : bas 100">
              <a:extLst>
                <a:ext uri="{FF2B5EF4-FFF2-40B4-BE49-F238E27FC236}">
                  <a16:creationId xmlns:a16="http://schemas.microsoft.com/office/drawing/2014/main" id="{91C0E36B-8AFE-5AED-5922-C07C59CCC3CF}"/>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02" name="Groupe 101">
            <a:extLst>
              <a:ext uri="{FF2B5EF4-FFF2-40B4-BE49-F238E27FC236}">
                <a16:creationId xmlns:a16="http://schemas.microsoft.com/office/drawing/2014/main" id="{8394D33E-8697-EDAA-5E90-B89B503E8956}"/>
              </a:ext>
            </a:extLst>
          </p:cNvPr>
          <p:cNvGrpSpPr/>
          <p:nvPr/>
        </p:nvGrpSpPr>
        <p:grpSpPr>
          <a:xfrm>
            <a:off x="3194699" y="3985305"/>
            <a:ext cx="582779" cy="1410862"/>
            <a:chOff x="4327736" y="1771722"/>
            <a:chExt cx="1754416" cy="1735486"/>
          </a:xfrm>
          <a:solidFill>
            <a:srgbClr val="FF9999"/>
          </a:solidFill>
        </p:grpSpPr>
        <p:sp>
          <p:nvSpPr>
            <p:cNvPr id="103" name="Flèche : haut 102">
              <a:extLst>
                <a:ext uri="{FF2B5EF4-FFF2-40B4-BE49-F238E27FC236}">
                  <a16:creationId xmlns:a16="http://schemas.microsoft.com/office/drawing/2014/main" id="{9A34E7C1-DBE6-1116-E050-6D1A70450F25}"/>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04" name="Flèche : bas 103">
              <a:extLst>
                <a:ext uri="{FF2B5EF4-FFF2-40B4-BE49-F238E27FC236}">
                  <a16:creationId xmlns:a16="http://schemas.microsoft.com/office/drawing/2014/main" id="{D376CBDA-1FFF-9129-53E6-D35928975F62}"/>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05" name="Groupe 104">
            <a:extLst>
              <a:ext uri="{FF2B5EF4-FFF2-40B4-BE49-F238E27FC236}">
                <a16:creationId xmlns:a16="http://schemas.microsoft.com/office/drawing/2014/main" id="{120F8E79-1D76-8E55-1DE3-F8DFD61C7A87}"/>
              </a:ext>
            </a:extLst>
          </p:cNvPr>
          <p:cNvGrpSpPr/>
          <p:nvPr/>
        </p:nvGrpSpPr>
        <p:grpSpPr>
          <a:xfrm rot="16200000">
            <a:off x="4907077" y="2329927"/>
            <a:ext cx="582779" cy="2777464"/>
            <a:chOff x="4327736" y="1771722"/>
            <a:chExt cx="1754416" cy="1735486"/>
          </a:xfrm>
          <a:solidFill>
            <a:srgbClr val="FF9999"/>
          </a:solidFill>
        </p:grpSpPr>
        <p:sp>
          <p:nvSpPr>
            <p:cNvPr id="106" name="Flèche : haut 105">
              <a:extLst>
                <a:ext uri="{FF2B5EF4-FFF2-40B4-BE49-F238E27FC236}">
                  <a16:creationId xmlns:a16="http://schemas.microsoft.com/office/drawing/2014/main" id="{674C9686-613A-00FC-5583-0995AF2F9AE7}"/>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07" name="Flèche : bas 106">
              <a:extLst>
                <a:ext uri="{FF2B5EF4-FFF2-40B4-BE49-F238E27FC236}">
                  <a16:creationId xmlns:a16="http://schemas.microsoft.com/office/drawing/2014/main" id="{1D189C9A-2683-3413-F0E1-2CBBE8FEA455}"/>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08" name="Groupe 107">
            <a:extLst>
              <a:ext uri="{FF2B5EF4-FFF2-40B4-BE49-F238E27FC236}">
                <a16:creationId xmlns:a16="http://schemas.microsoft.com/office/drawing/2014/main" id="{B7CA833B-7F3D-B742-B93C-33D3AE3322E0}"/>
              </a:ext>
            </a:extLst>
          </p:cNvPr>
          <p:cNvGrpSpPr/>
          <p:nvPr/>
        </p:nvGrpSpPr>
        <p:grpSpPr>
          <a:xfrm rot="16200000">
            <a:off x="6024511" y="3063384"/>
            <a:ext cx="582779" cy="4983137"/>
            <a:chOff x="4327736" y="1771722"/>
            <a:chExt cx="1754416" cy="1735486"/>
          </a:xfrm>
          <a:solidFill>
            <a:srgbClr val="FF9999"/>
          </a:solidFill>
        </p:grpSpPr>
        <p:sp>
          <p:nvSpPr>
            <p:cNvPr id="109" name="Flèche : haut 108">
              <a:extLst>
                <a:ext uri="{FF2B5EF4-FFF2-40B4-BE49-F238E27FC236}">
                  <a16:creationId xmlns:a16="http://schemas.microsoft.com/office/drawing/2014/main" id="{8A359004-0BB6-D3B1-607B-9CA29CB1D82A}"/>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10" name="Flèche : bas 109">
              <a:extLst>
                <a:ext uri="{FF2B5EF4-FFF2-40B4-BE49-F238E27FC236}">
                  <a16:creationId xmlns:a16="http://schemas.microsoft.com/office/drawing/2014/main" id="{F70A6F83-E37A-BF22-2852-03F08AF9348C}"/>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11" name="Groupe 110">
            <a:extLst>
              <a:ext uri="{FF2B5EF4-FFF2-40B4-BE49-F238E27FC236}">
                <a16:creationId xmlns:a16="http://schemas.microsoft.com/office/drawing/2014/main" id="{F3AB39AD-E620-4C64-B4C9-FCA95D68A972}"/>
              </a:ext>
            </a:extLst>
          </p:cNvPr>
          <p:cNvGrpSpPr/>
          <p:nvPr/>
        </p:nvGrpSpPr>
        <p:grpSpPr>
          <a:xfrm>
            <a:off x="9006906" y="1997814"/>
            <a:ext cx="582779" cy="3371347"/>
            <a:chOff x="4327736" y="1771722"/>
            <a:chExt cx="1754416" cy="1735486"/>
          </a:xfrm>
          <a:solidFill>
            <a:srgbClr val="FF9999"/>
          </a:solidFill>
        </p:grpSpPr>
        <p:sp>
          <p:nvSpPr>
            <p:cNvPr id="112" name="Flèche : haut 111">
              <a:extLst>
                <a:ext uri="{FF2B5EF4-FFF2-40B4-BE49-F238E27FC236}">
                  <a16:creationId xmlns:a16="http://schemas.microsoft.com/office/drawing/2014/main" id="{D8875535-1425-54A8-38F3-19E3CD281A5A}"/>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13" name="Flèche : bas 112">
              <a:extLst>
                <a:ext uri="{FF2B5EF4-FFF2-40B4-BE49-F238E27FC236}">
                  <a16:creationId xmlns:a16="http://schemas.microsoft.com/office/drawing/2014/main" id="{BE4600BA-6AAF-C3E1-E383-8B17CFF89693}"/>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sp>
        <p:nvSpPr>
          <p:cNvPr id="114" name="ZoneTexte 113">
            <a:extLst>
              <a:ext uri="{FF2B5EF4-FFF2-40B4-BE49-F238E27FC236}">
                <a16:creationId xmlns:a16="http://schemas.microsoft.com/office/drawing/2014/main" id="{4527038E-7748-F8F0-56D9-F2D67859A654}"/>
              </a:ext>
            </a:extLst>
          </p:cNvPr>
          <p:cNvSpPr txBox="1"/>
          <p:nvPr/>
        </p:nvSpPr>
        <p:spPr>
          <a:xfrm>
            <a:off x="4351709" y="3461914"/>
            <a:ext cx="2019542" cy="523220"/>
          </a:xfrm>
          <a:prstGeom prst="rect">
            <a:avLst/>
          </a:prstGeom>
          <a:noFill/>
        </p:spPr>
        <p:txBody>
          <a:bodyPr wrap="square">
            <a:spAutoFit/>
          </a:bodyPr>
          <a:lstStyle/>
          <a:p>
            <a:pPr algn="ctr"/>
            <a:r>
              <a:rPr lang="fr-FR" sz="1400" dirty="0"/>
              <a:t>Tensions entre différents sponsors </a:t>
            </a:r>
          </a:p>
        </p:txBody>
      </p:sp>
      <p:sp>
        <p:nvSpPr>
          <p:cNvPr id="115" name="ZoneTexte 114">
            <a:extLst>
              <a:ext uri="{FF2B5EF4-FFF2-40B4-BE49-F238E27FC236}">
                <a16:creationId xmlns:a16="http://schemas.microsoft.com/office/drawing/2014/main" id="{9349D0D3-4760-FB4D-C5A3-6595984AC7CD}"/>
              </a:ext>
            </a:extLst>
          </p:cNvPr>
          <p:cNvSpPr txBox="1"/>
          <p:nvPr/>
        </p:nvSpPr>
        <p:spPr>
          <a:xfrm>
            <a:off x="4881972" y="5268699"/>
            <a:ext cx="2752745" cy="584775"/>
          </a:xfrm>
          <a:prstGeom prst="rect">
            <a:avLst/>
          </a:prstGeom>
          <a:noFill/>
        </p:spPr>
        <p:txBody>
          <a:bodyPr wrap="square">
            <a:spAutoFit/>
          </a:bodyPr>
          <a:lstStyle/>
          <a:p>
            <a:pPr algn="ctr"/>
            <a:r>
              <a:rPr lang="fr-FR" sz="1600" dirty="0"/>
              <a:t>Décalage entre les membres d’une même communauté</a:t>
            </a:r>
          </a:p>
        </p:txBody>
      </p:sp>
      <p:sp>
        <p:nvSpPr>
          <p:cNvPr id="116" name="ZoneTexte 115">
            <a:extLst>
              <a:ext uri="{FF2B5EF4-FFF2-40B4-BE49-F238E27FC236}">
                <a16:creationId xmlns:a16="http://schemas.microsoft.com/office/drawing/2014/main" id="{B9D02B38-4420-642D-52B1-AE5D633B32A2}"/>
              </a:ext>
            </a:extLst>
          </p:cNvPr>
          <p:cNvSpPr txBox="1"/>
          <p:nvPr/>
        </p:nvSpPr>
        <p:spPr>
          <a:xfrm>
            <a:off x="2599504" y="2126580"/>
            <a:ext cx="1576396" cy="738664"/>
          </a:xfrm>
          <a:prstGeom prst="rect">
            <a:avLst/>
          </a:prstGeom>
          <a:noFill/>
        </p:spPr>
        <p:txBody>
          <a:bodyPr wrap="square">
            <a:spAutoFit/>
          </a:bodyPr>
          <a:lstStyle/>
          <a:p>
            <a:pPr algn="ctr"/>
            <a:r>
              <a:rPr lang="fr-FR" sz="1400" dirty="0"/>
              <a:t>Tensions entre sponsors et entreprise</a:t>
            </a:r>
          </a:p>
        </p:txBody>
      </p:sp>
      <p:sp>
        <p:nvSpPr>
          <p:cNvPr id="117" name="ZoneTexte 116">
            <a:extLst>
              <a:ext uri="{FF2B5EF4-FFF2-40B4-BE49-F238E27FC236}">
                <a16:creationId xmlns:a16="http://schemas.microsoft.com/office/drawing/2014/main" id="{93448678-9E45-9F96-9438-58673D8D9988}"/>
              </a:ext>
            </a:extLst>
          </p:cNvPr>
          <p:cNvSpPr txBox="1"/>
          <p:nvPr/>
        </p:nvSpPr>
        <p:spPr>
          <a:xfrm>
            <a:off x="2715029" y="4311156"/>
            <a:ext cx="1576396" cy="738664"/>
          </a:xfrm>
          <a:prstGeom prst="rect">
            <a:avLst/>
          </a:prstGeom>
          <a:noFill/>
        </p:spPr>
        <p:txBody>
          <a:bodyPr wrap="square">
            <a:spAutoFit/>
          </a:bodyPr>
          <a:lstStyle/>
          <a:p>
            <a:pPr algn="ctr"/>
            <a:r>
              <a:rPr lang="fr-FR" sz="1400" dirty="0"/>
              <a:t>Tensions entre membres et sponsor</a:t>
            </a:r>
          </a:p>
        </p:txBody>
      </p:sp>
      <p:sp>
        <p:nvSpPr>
          <p:cNvPr id="118" name="ZoneTexte 117">
            <a:extLst>
              <a:ext uri="{FF2B5EF4-FFF2-40B4-BE49-F238E27FC236}">
                <a16:creationId xmlns:a16="http://schemas.microsoft.com/office/drawing/2014/main" id="{EBCA9758-ADD9-6094-A7CC-221B80B984E3}"/>
              </a:ext>
            </a:extLst>
          </p:cNvPr>
          <p:cNvSpPr txBox="1"/>
          <p:nvPr/>
        </p:nvSpPr>
        <p:spPr>
          <a:xfrm>
            <a:off x="8594093" y="3176504"/>
            <a:ext cx="1463760" cy="738664"/>
          </a:xfrm>
          <a:prstGeom prst="rect">
            <a:avLst/>
          </a:prstGeom>
          <a:noFill/>
        </p:spPr>
        <p:txBody>
          <a:bodyPr wrap="square">
            <a:spAutoFit/>
          </a:bodyPr>
          <a:lstStyle/>
          <a:p>
            <a:pPr algn="ctr"/>
            <a:r>
              <a:rPr lang="fr-FR" sz="1400" dirty="0"/>
              <a:t>Tensions entre membres et entreprise</a:t>
            </a:r>
          </a:p>
        </p:txBody>
      </p:sp>
    </p:spTree>
    <p:extLst>
      <p:ext uri="{BB962C8B-B14F-4D97-AF65-F5344CB8AC3E}">
        <p14:creationId xmlns:p14="http://schemas.microsoft.com/office/powerpoint/2010/main" val="102536959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BFDB059-EBC7-4F12-DC2F-6BAFC5825DA8}"/>
              </a:ext>
            </a:extLst>
          </p:cNvPr>
          <p:cNvSpPr>
            <a:spLocks noGrp="1"/>
          </p:cNvSpPr>
          <p:nvPr>
            <p:ph type="title"/>
          </p:nvPr>
        </p:nvSpPr>
        <p:spPr>
          <a:xfrm>
            <a:off x="838200" y="356417"/>
            <a:ext cx="10515600" cy="922526"/>
          </a:xfrm>
        </p:spPr>
        <p:txBody>
          <a:bodyPr>
            <a:noAutofit/>
          </a:bodyPr>
          <a:lstStyle/>
          <a:p>
            <a:r>
              <a:rPr lang="fr-FR" sz="3200" dirty="0"/>
              <a:t>Tensions entre parties sur la valeur d’une Communauté</a:t>
            </a:r>
            <a:br>
              <a:rPr lang="fr-FR" sz="3200" dirty="0"/>
            </a:br>
            <a:r>
              <a:rPr lang="fr-FR" sz="3200" dirty="0"/>
              <a:t>Exemples de situations</a:t>
            </a:r>
          </a:p>
        </p:txBody>
      </p:sp>
      <p:pic>
        <p:nvPicPr>
          <p:cNvPr id="64" name="Graphique 63" descr="Bâtiment avec un remplissage uni">
            <a:extLst>
              <a:ext uri="{FF2B5EF4-FFF2-40B4-BE49-F238E27FC236}">
                <a16:creationId xmlns:a16="http://schemas.microsoft.com/office/drawing/2014/main" id="{FF36E3B7-58DA-3549-F480-D8FE3A324A7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807468" y="1032969"/>
            <a:ext cx="1008000" cy="1008000"/>
          </a:xfrm>
          <a:prstGeom prst="rect">
            <a:avLst/>
          </a:prstGeom>
        </p:spPr>
      </p:pic>
      <p:pic>
        <p:nvPicPr>
          <p:cNvPr id="66" name="Graphique 65" descr="Bâtiment avec un remplissage uni">
            <a:extLst>
              <a:ext uri="{FF2B5EF4-FFF2-40B4-BE49-F238E27FC236}">
                <a16:creationId xmlns:a16="http://schemas.microsoft.com/office/drawing/2014/main" id="{BC41B658-4163-0E79-6432-C2859BD07D7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932788" y="996316"/>
            <a:ext cx="1008000" cy="1008000"/>
          </a:xfrm>
          <a:prstGeom prst="rect">
            <a:avLst/>
          </a:prstGeom>
        </p:spPr>
      </p:pic>
      <p:grpSp>
        <p:nvGrpSpPr>
          <p:cNvPr id="67" name="Groupe 66">
            <a:extLst>
              <a:ext uri="{FF2B5EF4-FFF2-40B4-BE49-F238E27FC236}">
                <a16:creationId xmlns:a16="http://schemas.microsoft.com/office/drawing/2014/main" id="{18D24A12-847B-D7C4-C096-BDB0ED2841B5}"/>
              </a:ext>
            </a:extLst>
          </p:cNvPr>
          <p:cNvGrpSpPr/>
          <p:nvPr/>
        </p:nvGrpSpPr>
        <p:grpSpPr>
          <a:xfrm>
            <a:off x="2772744" y="5396168"/>
            <a:ext cx="1004893" cy="847205"/>
            <a:chOff x="8982504" y="3274976"/>
            <a:chExt cx="1230670" cy="1037553"/>
          </a:xfrm>
          <a:solidFill>
            <a:srgbClr val="ED7D31"/>
          </a:solidFill>
        </p:grpSpPr>
        <p:pic>
          <p:nvPicPr>
            <p:cNvPr id="68" name="Graphique 67" descr="Utilisateur avec un remplissage uni">
              <a:extLst>
                <a:ext uri="{FF2B5EF4-FFF2-40B4-BE49-F238E27FC236}">
                  <a16:creationId xmlns:a16="http://schemas.microsoft.com/office/drawing/2014/main" id="{15B55A91-F5CC-6AB3-6ECA-726C4037BBC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69" name="Graphique 68" descr="Utilisateur avec un remplissage uni">
              <a:extLst>
                <a:ext uri="{FF2B5EF4-FFF2-40B4-BE49-F238E27FC236}">
                  <a16:creationId xmlns:a16="http://schemas.microsoft.com/office/drawing/2014/main" id="{16EC65AA-D5CC-4FE3-9BA6-BDF0324FFDA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70" name="Graphique 69" descr="Utilisateur avec un remplissage uni">
              <a:extLst>
                <a:ext uri="{FF2B5EF4-FFF2-40B4-BE49-F238E27FC236}">
                  <a16:creationId xmlns:a16="http://schemas.microsoft.com/office/drawing/2014/main" id="{7BDA1AEC-44CE-696B-EDF4-AC2DE42A407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71" name="Graphique 70" descr="Utilisateur avec un remplissage uni">
              <a:extLst>
                <a:ext uri="{FF2B5EF4-FFF2-40B4-BE49-F238E27FC236}">
                  <a16:creationId xmlns:a16="http://schemas.microsoft.com/office/drawing/2014/main" id="{ABB1CF4E-6071-EE75-EC96-24DE247F757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72" name="Graphique 71" descr="Utilisateur avec un remplissage uni">
              <a:extLst>
                <a:ext uri="{FF2B5EF4-FFF2-40B4-BE49-F238E27FC236}">
                  <a16:creationId xmlns:a16="http://schemas.microsoft.com/office/drawing/2014/main" id="{F988E29E-063A-7A4D-45E0-2CF91B1BD8F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73" name="Graphique 72" descr="Utilisateur avec un remplissage uni">
              <a:extLst>
                <a:ext uri="{FF2B5EF4-FFF2-40B4-BE49-F238E27FC236}">
                  <a16:creationId xmlns:a16="http://schemas.microsoft.com/office/drawing/2014/main" id="{62CDB847-DB6F-0288-E664-E4481407B7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74" name="Graphique 73" descr="Utilisateur avec un remplissage uni">
              <a:extLst>
                <a:ext uri="{FF2B5EF4-FFF2-40B4-BE49-F238E27FC236}">
                  <a16:creationId xmlns:a16="http://schemas.microsoft.com/office/drawing/2014/main" id="{6849438F-6D30-86FC-F2BE-A09BB64CB69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75" name="Graphique 74" descr="Utilisateur avec un remplissage uni">
              <a:extLst>
                <a:ext uri="{FF2B5EF4-FFF2-40B4-BE49-F238E27FC236}">
                  <a16:creationId xmlns:a16="http://schemas.microsoft.com/office/drawing/2014/main" id="{E5901B32-4F20-7620-709E-88F1A20E4DF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76" name="Graphique 75" descr="Utilisateur avec un remplissage uni">
              <a:extLst>
                <a:ext uri="{FF2B5EF4-FFF2-40B4-BE49-F238E27FC236}">
                  <a16:creationId xmlns:a16="http://schemas.microsoft.com/office/drawing/2014/main" id="{63BA5DBA-FF2E-1221-2E14-F32F704ED2A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77" name="Graphique 76" descr="Utilisateur avec un remplissage uni">
              <a:extLst>
                <a:ext uri="{FF2B5EF4-FFF2-40B4-BE49-F238E27FC236}">
                  <a16:creationId xmlns:a16="http://schemas.microsoft.com/office/drawing/2014/main" id="{526EF52B-EB22-BBA3-8261-9E26025A4B2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78" name="Graphique 77" descr="Utilisateur avec un remplissage uni">
              <a:extLst>
                <a:ext uri="{FF2B5EF4-FFF2-40B4-BE49-F238E27FC236}">
                  <a16:creationId xmlns:a16="http://schemas.microsoft.com/office/drawing/2014/main" id="{5F6D9CCB-47BC-5793-5EA4-F4C801AAAEB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grpSp>
        <p:nvGrpSpPr>
          <p:cNvPr id="79" name="Groupe 78">
            <a:extLst>
              <a:ext uri="{FF2B5EF4-FFF2-40B4-BE49-F238E27FC236}">
                <a16:creationId xmlns:a16="http://schemas.microsoft.com/office/drawing/2014/main" id="{74F3D627-DEDA-7D07-D8BC-77F43B83317C}"/>
              </a:ext>
            </a:extLst>
          </p:cNvPr>
          <p:cNvGrpSpPr/>
          <p:nvPr/>
        </p:nvGrpSpPr>
        <p:grpSpPr>
          <a:xfrm>
            <a:off x="8690678" y="5389231"/>
            <a:ext cx="1004893" cy="847205"/>
            <a:chOff x="8982504" y="3274976"/>
            <a:chExt cx="1230670" cy="1037553"/>
          </a:xfrm>
          <a:solidFill>
            <a:srgbClr val="ED7D31"/>
          </a:solidFill>
        </p:grpSpPr>
        <p:pic>
          <p:nvPicPr>
            <p:cNvPr id="80" name="Graphique 79" descr="Utilisateur avec un remplissage uni">
              <a:extLst>
                <a:ext uri="{FF2B5EF4-FFF2-40B4-BE49-F238E27FC236}">
                  <a16:creationId xmlns:a16="http://schemas.microsoft.com/office/drawing/2014/main" id="{2355FD84-F38A-0DE4-3BC3-C463C2825B2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1" name="Graphique 80" descr="Utilisateur avec un remplissage uni">
              <a:extLst>
                <a:ext uri="{FF2B5EF4-FFF2-40B4-BE49-F238E27FC236}">
                  <a16:creationId xmlns:a16="http://schemas.microsoft.com/office/drawing/2014/main" id="{ADF5C7FE-7816-712D-F6DB-B2042E6EE45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2" name="Graphique 81" descr="Utilisateur avec un remplissage uni">
              <a:extLst>
                <a:ext uri="{FF2B5EF4-FFF2-40B4-BE49-F238E27FC236}">
                  <a16:creationId xmlns:a16="http://schemas.microsoft.com/office/drawing/2014/main" id="{07AD87B4-13B4-A7C5-A795-3E7DB6BE46B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83" name="Graphique 82" descr="Utilisateur avec un remplissage uni">
              <a:extLst>
                <a:ext uri="{FF2B5EF4-FFF2-40B4-BE49-F238E27FC236}">
                  <a16:creationId xmlns:a16="http://schemas.microsoft.com/office/drawing/2014/main" id="{6BACA993-F44E-E195-7DE1-E69E6ABAD8E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84" name="Graphique 83" descr="Utilisateur avec un remplissage uni">
              <a:extLst>
                <a:ext uri="{FF2B5EF4-FFF2-40B4-BE49-F238E27FC236}">
                  <a16:creationId xmlns:a16="http://schemas.microsoft.com/office/drawing/2014/main" id="{64B17839-FB89-ACDE-E287-A4A8A1277EF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85" name="Graphique 84" descr="Utilisateur avec un remplissage uni">
              <a:extLst>
                <a:ext uri="{FF2B5EF4-FFF2-40B4-BE49-F238E27FC236}">
                  <a16:creationId xmlns:a16="http://schemas.microsoft.com/office/drawing/2014/main" id="{66A8891C-EAD2-28DF-6159-18421F1C47B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86" name="Graphique 85" descr="Utilisateur avec un remplissage uni">
              <a:extLst>
                <a:ext uri="{FF2B5EF4-FFF2-40B4-BE49-F238E27FC236}">
                  <a16:creationId xmlns:a16="http://schemas.microsoft.com/office/drawing/2014/main" id="{254033A9-C067-81B7-7309-7847BEAFE3B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87" name="Graphique 86" descr="Utilisateur avec un remplissage uni">
              <a:extLst>
                <a:ext uri="{FF2B5EF4-FFF2-40B4-BE49-F238E27FC236}">
                  <a16:creationId xmlns:a16="http://schemas.microsoft.com/office/drawing/2014/main" id="{E8C191F9-BCFA-EC47-FBDC-8E7C183047C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88" name="Graphique 87" descr="Utilisateur avec un remplissage uni">
              <a:extLst>
                <a:ext uri="{FF2B5EF4-FFF2-40B4-BE49-F238E27FC236}">
                  <a16:creationId xmlns:a16="http://schemas.microsoft.com/office/drawing/2014/main" id="{02E2F4D4-6799-C868-4709-5120281F054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89" name="Graphique 88" descr="Utilisateur avec un remplissage uni">
              <a:extLst>
                <a:ext uri="{FF2B5EF4-FFF2-40B4-BE49-F238E27FC236}">
                  <a16:creationId xmlns:a16="http://schemas.microsoft.com/office/drawing/2014/main" id="{6B7ED0F1-AB28-34DE-B3AD-24ADD903433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90" name="Graphique 89" descr="Utilisateur avec un remplissage uni">
              <a:extLst>
                <a:ext uri="{FF2B5EF4-FFF2-40B4-BE49-F238E27FC236}">
                  <a16:creationId xmlns:a16="http://schemas.microsoft.com/office/drawing/2014/main" id="{62E7A2BE-E12B-6870-CDEF-F9AAA167938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91" name="Graphique 90" descr="Employée de bureau avec un remplissage uni">
            <a:extLst>
              <a:ext uri="{FF2B5EF4-FFF2-40B4-BE49-F238E27FC236}">
                <a16:creationId xmlns:a16="http://schemas.microsoft.com/office/drawing/2014/main" id="{3DE244D3-2A11-9F84-88C1-38E6C653741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977476" y="3098223"/>
            <a:ext cx="927445" cy="927445"/>
          </a:xfrm>
          <a:prstGeom prst="rect">
            <a:avLst/>
          </a:prstGeom>
        </p:spPr>
      </p:pic>
      <p:pic>
        <p:nvPicPr>
          <p:cNvPr id="92" name="Graphique 91" descr="Employée de bureau avec un remplissage uni">
            <a:extLst>
              <a:ext uri="{FF2B5EF4-FFF2-40B4-BE49-F238E27FC236}">
                <a16:creationId xmlns:a16="http://schemas.microsoft.com/office/drawing/2014/main" id="{B761D8E8-399B-1BE6-3A0E-FC8028A5B56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452490" y="3170219"/>
            <a:ext cx="927445" cy="927445"/>
          </a:xfrm>
          <a:prstGeom prst="rect">
            <a:avLst/>
          </a:prstGeom>
        </p:spPr>
      </p:pic>
      <p:sp>
        <p:nvSpPr>
          <p:cNvPr id="93" name="Espace réservé du contenu 2">
            <a:extLst>
              <a:ext uri="{FF2B5EF4-FFF2-40B4-BE49-F238E27FC236}">
                <a16:creationId xmlns:a16="http://schemas.microsoft.com/office/drawing/2014/main" id="{FD5C99C9-495C-4267-06D8-B06625E8176C}"/>
              </a:ext>
            </a:extLst>
          </p:cNvPr>
          <p:cNvSpPr txBox="1">
            <a:spLocks/>
          </p:cNvSpPr>
          <p:nvPr/>
        </p:nvSpPr>
        <p:spPr>
          <a:xfrm>
            <a:off x="2255949" y="3436219"/>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a:solidFill>
                  <a:srgbClr val="ED7D31"/>
                </a:solidFill>
              </a:rPr>
              <a:t>Sponsor</a:t>
            </a:r>
            <a:endParaRPr lang="fr-FR" sz="1600" b="1" dirty="0">
              <a:solidFill>
                <a:srgbClr val="ED7D31"/>
              </a:solidFill>
            </a:endParaRPr>
          </a:p>
        </p:txBody>
      </p:sp>
      <p:sp>
        <p:nvSpPr>
          <p:cNvPr id="94" name="Espace réservé du contenu 2">
            <a:extLst>
              <a:ext uri="{FF2B5EF4-FFF2-40B4-BE49-F238E27FC236}">
                <a16:creationId xmlns:a16="http://schemas.microsoft.com/office/drawing/2014/main" id="{3BD6703C-6E79-5EA9-83EA-D935599854EA}"/>
              </a:ext>
            </a:extLst>
          </p:cNvPr>
          <p:cNvSpPr txBox="1">
            <a:spLocks/>
          </p:cNvSpPr>
          <p:nvPr/>
        </p:nvSpPr>
        <p:spPr>
          <a:xfrm>
            <a:off x="7107293" y="3432020"/>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Sponsor</a:t>
            </a:r>
          </a:p>
        </p:txBody>
      </p:sp>
      <p:sp>
        <p:nvSpPr>
          <p:cNvPr id="95" name="Espace réservé du contenu 2">
            <a:extLst>
              <a:ext uri="{FF2B5EF4-FFF2-40B4-BE49-F238E27FC236}">
                <a16:creationId xmlns:a16="http://schemas.microsoft.com/office/drawing/2014/main" id="{B444E650-0CC6-1140-99CD-D0B62B362F4F}"/>
              </a:ext>
            </a:extLst>
          </p:cNvPr>
          <p:cNvSpPr txBox="1">
            <a:spLocks/>
          </p:cNvSpPr>
          <p:nvPr/>
        </p:nvSpPr>
        <p:spPr>
          <a:xfrm>
            <a:off x="9708578" y="5623500"/>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96" name="Espace réservé du contenu 2">
            <a:extLst>
              <a:ext uri="{FF2B5EF4-FFF2-40B4-BE49-F238E27FC236}">
                <a16:creationId xmlns:a16="http://schemas.microsoft.com/office/drawing/2014/main" id="{A75AB331-5134-8905-F397-0DE932269F8C}"/>
              </a:ext>
            </a:extLst>
          </p:cNvPr>
          <p:cNvSpPr txBox="1">
            <a:spLocks/>
          </p:cNvSpPr>
          <p:nvPr/>
        </p:nvSpPr>
        <p:spPr>
          <a:xfrm>
            <a:off x="1896580" y="5590296"/>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97" name="Espace réservé du contenu 2">
            <a:extLst>
              <a:ext uri="{FF2B5EF4-FFF2-40B4-BE49-F238E27FC236}">
                <a16:creationId xmlns:a16="http://schemas.microsoft.com/office/drawing/2014/main" id="{31C4C4FD-DD40-9AA1-269D-2F39EFC930B0}"/>
              </a:ext>
            </a:extLst>
          </p:cNvPr>
          <p:cNvSpPr txBox="1">
            <a:spLocks/>
          </p:cNvSpPr>
          <p:nvPr/>
        </p:nvSpPr>
        <p:spPr>
          <a:xfrm>
            <a:off x="2029331" y="1361300"/>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Entreprise</a:t>
            </a:r>
          </a:p>
        </p:txBody>
      </p:sp>
      <p:sp>
        <p:nvSpPr>
          <p:cNvPr id="98" name="Espace réservé du contenu 2">
            <a:extLst>
              <a:ext uri="{FF2B5EF4-FFF2-40B4-BE49-F238E27FC236}">
                <a16:creationId xmlns:a16="http://schemas.microsoft.com/office/drawing/2014/main" id="{DECB2BA6-FDF3-50A7-954E-F6A16EC981FF}"/>
              </a:ext>
            </a:extLst>
          </p:cNvPr>
          <p:cNvSpPr txBox="1">
            <a:spLocks/>
          </p:cNvSpPr>
          <p:nvPr/>
        </p:nvSpPr>
        <p:spPr>
          <a:xfrm>
            <a:off x="9679095" y="1399738"/>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Entreprise</a:t>
            </a:r>
          </a:p>
        </p:txBody>
      </p:sp>
      <p:grpSp>
        <p:nvGrpSpPr>
          <p:cNvPr id="99" name="Groupe 98">
            <a:extLst>
              <a:ext uri="{FF2B5EF4-FFF2-40B4-BE49-F238E27FC236}">
                <a16:creationId xmlns:a16="http://schemas.microsoft.com/office/drawing/2014/main" id="{8D3E949A-33DD-4E78-C600-76762F8BF62D}"/>
              </a:ext>
            </a:extLst>
          </p:cNvPr>
          <p:cNvGrpSpPr/>
          <p:nvPr/>
        </p:nvGrpSpPr>
        <p:grpSpPr>
          <a:xfrm>
            <a:off x="3152817" y="1939952"/>
            <a:ext cx="582779" cy="1236552"/>
            <a:chOff x="4327736" y="1771722"/>
            <a:chExt cx="1754416" cy="1735486"/>
          </a:xfrm>
          <a:solidFill>
            <a:srgbClr val="FF9999"/>
          </a:solidFill>
        </p:grpSpPr>
        <p:sp>
          <p:nvSpPr>
            <p:cNvPr id="100" name="Flèche : haut 99">
              <a:extLst>
                <a:ext uri="{FF2B5EF4-FFF2-40B4-BE49-F238E27FC236}">
                  <a16:creationId xmlns:a16="http://schemas.microsoft.com/office/drawing/2014/main" id="{8734E50E-32BB-A19A-7AA6-895EB4A806FD}"/>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01" name="Flèche : bas 100">
              <a:extLst>
                <a:ext uri="{FF2B5EF4-FFF2-40B4-BE49-F238E27FC236}">
                  <a16:creationId xmlns:a16="http://schemas.microsoft.com/office/drawing/2014/main" id="{91C0E36B-8AFE-5AED-5922-C07C59CCC3CF}"/>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02" name="Groupe 101">
            <a:extLst>
              <a:ext uri="{FF2B5EF4-FFF2-40B4-BE49-F238E27FC236}">
                <a16:creationId xmlns:a16="http://schemas.microsoft.com/office/drawing/2014/main" id="{8394D33E-8697-EDAA-5E90-B89B503E8956}"/>
              </a:ext>
            </a:extLst>
          </p:cNvPr>
          <p:cNvGrpSpPr/>
          <p:nvPr/>
        </p:nvGrpSpPr>
        <p:grpSpPr>
          <a:xfrm>
            <a:off x="3194699" y="3985305"/>
            <a:ext cx="582779" cy="1410862"/>
            <a:chOff x="4327736" y="1771722"/>
            <a:chExt cx="1754416" cy="1735486"/>
          </a:xfrm>
          <a:solidFill>
            <a:srgbClr val="FF9999"/>
          </a:solidFill>
        </p:grpSpPr>
        <p:sp>
          <p:nvSpPr>
            <p:cNvPr id="103" name="Flèche : haut 102">
              <a:extLst>
                <a:ext uri="{FF2B5EF4-FFF2-40B4-BE49-F238E27FC236}">
                  <a16:creationId xmlns:a16="http://schemas.microsoft.com/office/drawing/2014/main" id="{9A34E7C1-DBE6-1116-E050-6D1A70450F25}"/>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04" name="Flèche : bas 103">
              <a:extLst>
                <a:ext uri="{FF2B5EF4-FFF2-40B4-BE49-F238E27FC236}">
                  <a16:creationId xmlns:a16="http://schemas.microsoft.com/office/drawing/2014/main" id="{D376CBDA-1FFF-9129-53E6-D35928975F62}"/>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05" name="Groupe 104">
            <a:extLst>
              <a:ext uri="{FF2B5EF4-FFF2-40B4-BE49-F238E27FC236}">
                <a16:creationId xmlns:a16="http://schemas.microsoft.com/office/drawing/2014/main" id="{120F8E79-1D76-8E55-1DE3-F8DFD61C7A87}"/>
              </a:ext>
            </a:extLst>
          </p:cNvPr>
          <p:cNvGrpSpPr/>
          <p:nvPr/>
        </p:nvGrpSpPr>
        <p:grpSpPr>
          <a:xfrm rot="16200000">
            <a:off x="4907077" y="2329927"/>
            <a:ext cx="582779" cy="2777464"/>
            <a:chOff x="4327736" y="1771722"/>
            <a:chExt cx="1754416" cy="1735486"/>
          </a:xfrm>
          <a:solidFill>
            <a:srgbClr val="FF9999"/>
          </a:solidFill>
        </p:grpSpPr>
        <p:sp>
          <p:nvSpPr>
            <p:cNvPr id="106" name="Flèche : haut 105">
              <a:extLst>
                <a:ext uri="{FF2B5EF4-FFF2-40B4-BE49-F238E27FC236}">
                  <a16:creationId xmlns:a16="http://schemas.microsoft.com/office/drawing/2014/main" id="{674C9686-613A-00FC-5583-0995AF2F9AE7}"/>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07" name="Flèche : bas 106">
              <a:extLst>
                <a:ext uri="{FF2B5EF4-FFF2-40B4-BE49-F238E27FC236}">
                  <a16:creationId xmlns:a16="http://schemas.microsoft.com/office/drawing/2014/main" id="{1D189C9A-2683-3413-F0E1-2CBBE8FEA455}"/>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08" name="Groupe 107">
            <a:extLst>
              <a:ext uri="{FF2B5EF4-FFF2-40B4-BE49-F238E27FC236}">
                <a16:creationId xmlns:a16="http://schemas.microsoft.com/office/drawing/2014/main" id="{B7CA833B-7F3D-B742-B93C-33D3AE3322E0}"/>
              </a:ext>
            </a:extLst>
          </p:cNvPr>
          <p:cNvGrpSpPr/>
          <p:nvPr/>
        </p:nvGrpSpPr>
        <p:grpSpPr>
          <a:xfrm rot="16200000">
            <a:off x="6024511" y="3063384"/>
            <a:ext cx="582779" cy="4983137"/>
            <a:chOff x="4327736" y="1771722"/>
            <a:chExt cx="1754416" cy="1735486"/>
          </a:xfrm>
          <a:solidFill>
            <a:srgbClr val="FF9999"/>
          </a:solidFill>
        </p:grpSpPr>
        <p:sp>
          <p:nvSpPr>
            <p:cNvPr id="109" name="Flèche : haut 108">
              <a:extLst>
                <a:ext uri="{FF2B5EF4-FFF2-40B4-BE49-F238E27FC236}">
                  <a16:creationId xmlns:a16="http://schemas.microsoft.com/office/drawing/2014/main" id="{8A359004-0BB6-D3B1-607B-9CA29CB1D82A}"/>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10" name="Flèche : bas 109">
              <a:extLst>
                <a:ext uri="{FF2B5EF4-FFF2-40B4-BE49-F238E27FC236}">
                  <a16:creationId xmlns:a16="http://schemas.microsoft.com/office/drawing/2014/main" id="{F70A6F83-E37A-BF22-2852-03F08AF9348C}"/>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11" name="Groupe 110">
            <a:extLst>
              <a:ext uri="{FF2B5EF4-FFF2-40B4-BE49-F238E27FC236}">
                <a16:creationId xmlns:a16="http://schemas.microsoft.com/office/drawing/2014/main" id="{F3AB39AD-E620-4C64-B4C9-FCA95D68A972}"/>
              </a:ext>
            </a:extLst>
          </p:cNvPr>
          <p:cNvGrpSpPr/>
          <p:nvPr/>
        </p:nvGrpSpPr>
        <p:grpSpPr>
          <a:xfrm>
            <a:off x="9006906" y="1997814"/>
            <a:ext cx="582779" cy="3371347"/>
            <a:chOff x="4327736" y="1771722"/>
            <a:chExt cx="1754416" cy="1735486"/>
          </a:xfrm>
          <a:solidFill>
            <a:srgbClr val="FF9999"/>
          </a:solidFill>
        </p:grpSpPr>
        <p:sp>
          <p:nvSpPr>
            <p:cNvPr id="112" name="Flèche : haut 111">
              <a:extLst>
                <a:ext uri="{FF2B5EF4-FFF2-40B4-BE49-F238E27FC236}">
                  <a16:creationId xmlns:a16="http://schemas.microsoft.com/office/drawing/2014/main" id="{D8875535-1425-54A8-38F3-19E3CD281A5A}"/>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13" name="Flèche : bas 112">
              <a:extLst>
                <a:ext uri="{FF2B5EF4-FFF2-40B4-BE49-F238E27FC236}">
                  <a16:creationId xmlns:a16="http://schemas.microsoft.com/office/drawing/2014/main" id="{BE4600BA-6AAF-C3E1-E383-8B17CFF89693}"/>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sp>
        <p:nvSpPr>
          <p:cNvPr id="114" name="ZoneTexte 113">
            <a:extLst>
              <a:ext uri="{FF2B5EF4-FFF2-40B4-BE49-F238E27FC236}">
                <a16:creationId xmlns:a16="http://schemas.microsoft.com/office/drawing/2014/main" id="{4527038E-7748-F8F0-56D9-F2D67859A654}"/>
              </a:ext>
            </a:extLst>
          </p:cNvPr>
          <p:cNvSpPr txBox="1"/>
          <p:nvPr/>
        </p:nvSpPr>
        <p:spPr>
          <a:xfrm>
            <a:off x="4351709" y="3461914"/>
            <a:ext cx="2019542" cy="523220"/>
          </a:xfrm>
          <a:prstGeom prst="rect">
            <a:avLst/>
          </a:prstGeom>
          <a:noFill/>
        </p:spPr>
        <p:txBody>
          <a:bodyPr wrap="square">
            <a:spAutoFit/>
          </a:bodyPr>
          <a:lstStyle/>
          <a:p>
            <a:pPr algn="ctr"/>
            <a:r>
              <a:rPr lang="fr-FR" sz="1400" dirty="0"/>
              <a:t>Tensions entre différents sponsors </a:t>
            </a:r>
          </a:p>
        </p:txBody>
      </p:sp>
      <p:sp>
        <p:nvSpPr>
          <p:cNvPr id="115" name="ZoneTexte 114">
            <a:extLst>
              <a:ext uri="{FF2B5EF4-FFF2-40B4-BE49-F238E27FC236}">
                <a16:creationId xmlns:a16="http://schemas.microsoft.com/office/drawing/2014/main" id="{9349D0D3-4760-FB4D-C5A3-6595984AC7CD}"/>
              </a:ext>
            </a:extLst>
          </p:cNvPr>
          <p:cNvSpPr txBox="1"/>
          <p:nvPr/>
        </p:nvSpPr>
        <p:spPr>
          <a:xfrm>
            <a:off x="4881972" y="5268699"/>
            <a:ext cx="2752745" cy="584775"/>
          </a:xfrm>
          <a:prstGeom prst="rect">
            <a:avLst/>
          </a:prstGeom>
          <a:noFill/>
        </p:spPr>
        <p:txBody>
          <a:bodyPr wrap="square">
            <a:spAutoFit/>
          </a:bodyPr>
          <a:lstStyle/>
          <a:p>
            <a:pPr algn="ctr"/>
            <a:r>
              <a:rPr lang="fr-FR" sz="1600" dirty="0"/>
              <a:t>Décalage entre les membres d’une même communauté</a:t>
            </a:r>
          </a:p>
        </p:txBody>
      </p:sp>
      <p:sp>
        <p:nvSpPr>
          <p:cNvPr id="116" name="ZoneTexte 115">
            <a:extLst>
              <a:ext uri="{FF2B5EF4-FFF2-40B4-BE49-F238E27FC236}">
                <a16:creationId xmlns:a16="http://schemas.microsoft.com/office/drawing/2014/main" id="{B9D02B38-4420-642D-52B1-AE5D633B32A2}"/>
              </a:ext>
            </a:extLst>
          </p:cNvPr>
          <p:cNvSpPr txBox="1"/>
          <p:nvPr/>
        </p:nvSpPr>
        <p:spPr>
          <a:xfrm>
            <a:off x="2599504" y="2126580"/>
            <a:ext cx="1576396" cy="738664"/>
          </a:xfrm>
          <a:prstGeom prst="rect">
            <a:avLst/>
          </a:prstGeom>
          <a:noFill/>
        </p:spPr>
        <p:txBody>
          <a:bodyPr wrap="square">
            <a:spAutoFit/>
          </a:bodyPr>
          <a:lstStyle/>
          <a:p>
            <a:pPr algn="ctr"/>
            <a:r>
              <a:rPr lang="fr-FR" sz="1400" dirty="0"/>
              <a:t>Tensions entre sponsors et entreprise</a:t>
            </a:r>
          </a:p>
        </p:txBody>
      </p:sp>
      <p:sp>
        <p:nvSpPr>
          <p:cNvPr id="117" name="ZoneTexte 116">
            <a:extLst>
              <a:ext uri="{FF2B5EF4-FFF2-40B4-BE49-F238E27FC236}">
                <a16:creationId xmlns:a16="http://schemas.microsoft.com/office/drawing/2014/main" id="{93448678-9E45-9F96-9438-58673D8D9988}"/>
              </a:ext>
            </a:extLst>
          </p:cNvPr>
          <p:cNvSpPr txBox="1"/>
          <p:nvPr/>
        </p:nvSpPr>
        <p:spPr>
          <a:xfrm>
            <a:off x="2715029" y="4311156"/>
            <a:ext cx="1576396" cy="738664"/>
          </a:xfrm>
          <a:prstGeom prst="rect">
            <a:avLst/>
          </a:prstGeom>
          <a:noFill/>
        </p:spPr>
        <p:txBody>
          <a:bodyPr wrap="square">
            <a:spAutoFit/>
          </a:bodyPr>
          <a:lstStyle/>
          <a:p>
            <a:pPr algn="ctr"/>
            <a:r>
              <a:rPr lang="fr-FR" sz="1400" dirty="0"/>
              <a:t>Tensions entre membres et sponsor</a:t>
            </a:r>
          </a:p>
        </p:txBody>
      </p:sp>
      <p:sp>
        <p:nvSpPr>
          <p:cNvPr id="118" name="ZoneTexte 117">
            <a:extLst>
              <a:ext uri="{FF2B5EF4-FFF2-40B4-BE49-F238E27FC236}">
                <a16:creationId xmlns:a16="http://schemas.microsoft.com/office/drawing/2014/main" id="{EBCA9758-ADD9-6094-A7CC-221B80B984E3}"/>
              </a:ext>
            </a:extLst>
          </p:cNvPr>
          <p:cNvSpPr txBox="1"/>
          <p:nvPr/>
        </p:nvSpPr>
        <p:spPr>
          <a:xfrm>
            <a:off x="8594093" y="3176504"/>
            <a:ext cx="1463760" cy="738664"/>
          </a:xfrm>
          <a:prstGeom prst="rect">
            <a:avLst/>
          </a:prstGeom>
          <a:noFill/>
        </p:spPr>
        <p:txBody>
          <a:bodyPr wrap="square">
            <a:spAutoFit/>
          </a:bodyPr>
          <a:lstStyle/>
          <a:p>
            <a:pPr algn="ctr"/>
            <a:r>
              <a:rPr lang="fr-FR" sz="1400" dirty="0"/>
              <a:t>Tensions entre membres et entreprise</a:t>
            </a:r>
          </a:p>
        </p:txBody>
      </p:sp>
      <p:sp>
        <p:nvSpPr>
          <p:cNvPr id="119" name="Rectangle 118">
            <a:extLst>
              <a:ext uri="{FF2B5EF4-FFF2-40B4-BE49-F238E27FC236}">
                <a16:creationId xmlns:a16="http://schemas.microsoft.com/office/drawing/2014/main" id="{CACC550B-2D31-CE86-679C-F9CBCD4E3B4D}"/>
              </a:ext>
            </a:extLst>
          </p:cNvPr>
          <p:cNvSpPr/>
          <p:nvPr/>
        </p:nvSpPr>
        <p:spPr>
          <a:xfrm>
            <a:off x="482051" y="2059385"/>
            <a:ext cx="1773898" cy="927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Un sponsor de Communauté défend un degré de liberté et d’autonomie des membres qui est rare voire rejeté dans le reste de l’entreprise</a:t>
            </a:r>
          </a:p>
        </p:txBody>
      </p:sp>
      <p:sp>
        <p:nvSpPr>
          <p:cNvPr id="120" name="Rectangle 119">
            <a:extLst>
              <a:ext uri="{FF2B5EF4-FFF2-40B4-BE49-F238E27FC236}">
                <a16:creationId xmlns:a16="http://schemas.microsoft.com/office/drawing/2014/main" id="{D03DEED7-672C-2E91-C7D8-76207641DFC7}"/>
              </a:ext>
            </a:extLst>
          </p:cNvPr>
          <p:cNvSpPr/>
          <p:nvPr/>
        </p:nvSpPr>
        <p:spPr>
          <a:xfrm>
            <a:off x="434133" y="4216765"/>
            <a:ext cx="1773898" cy="927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Un sponsor souhaite que la Communauté travaille sur un objectif stratégique qui n’est pas la priorité en valeur pour les membres</a:t>
            </a:r>
          </a:p>
        </p:txBody>
      </p:sp>
      <p:sp>
        <p:nvSpPr>
          <p:cNvPr id="121" name="Rectangle 120">
            <a:extLst>
              <a:ext uri="{FF2B5EF4-FFF2-40B4-BE49-F238E27FC236}">
                <a16:creationId xmlns:a16="http://schemas.microsoft.com/office/drawing/2014/main" id="{C595457F-BAA7-7A3D-6CB7-491246936907}"/>
              </a:ext>
            </a:extLst>
          </p:cNvPr>
          <p:cNvSpPr/>
          <p:nvPr/>
        </p:nvSpPr>
        <p:spPr>
          <a:xfrm>
            <a:off x="4509267" y="2415702"/>
            <a:ext cx="1773898" cy="927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Deux managers d’une communauté transverse à leurs départements ne sont pas d’accord sur « qui devrait être responsable » de la Communauté</a:t>
            </a:r>
          </a:p>
        </p:txBody>
      </p:sp>
      <p:sp>
        <p:nvSpPr>
          <p:cNvPr id="122" name="Rectangle 121">
            <a:extLst>
              <a:ext uri="{FF2B5EF4-FFF2-40B4-BE49-F238E27FC236}">
                <a16:creationId xmlns:a16="http://schemas.microsoft.com/office/drawing/2014/main" id="{29BE70A8-A29E-5A26-D2AD-3EDF9324FAAA}"/>
              </a:ext>
            </a:extLst>
          </p:cNvPr>
          <p:cNvSpPr/>
          <p:nvPr/>
        </p:nvSpPr>
        <p:spPr>
          <a:xfrm>
            <a:off x="5531098" y="5841205"/>
            <a:ext cx="1773898" cy="927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Certains membres préfèreraient creuser un sujet A tandis que d’autres choisiraient plutôt de se spécialiser dans un sujet B.</a:t>
            </a:r>
          </a:p>
        </p:txBody>
      </p:sp>
      <p:sp>
        <p:nvSpPr>
          <p:cNvPr id="123" name="Rectangle 122">
            <a:extLst>
              <a:ext uri="{FF2B5EF4-FFF2-40B4-BE49-F238E27FC236}">
                <a16:creationId xmlns:a16="http://schemas.microsoft.com/office/drawing/2014/main" id="{EBC1D83E-3310-FADD-87AE-F65E05FB2575}"/>
              </a:ext>
            </a:extLst>
          </p:cNvPr>
          <p:cNvSpPr/>
          <p:nvPr/>
        </p:nvSpPr>
        <p:spPr>
          <a:xfrm>
            <a:off x="10091783" y="2692827"/>
            <a:ext cx="1773898" cy="9274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Les membres n’osent pas s’investir dans la Communauté de peur de répercussions de leurs hiérarchies ou de collègues non membres.</a:t>
            </a:r>
          </a:p>
        </p:txBody>
      </p:sp>
    </p:spTree>
    <p:extLst>
      <p:ext uri="{BB962C8B-B14F-4D97-AF65-F5344CB8AC3E}">
        <p14:creationId xmlns:p14="http://schemas.microsoft.com/office/powerpoint/2010/main" val="1773160782"/>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 name="Graphique 38" descr="Bâtiment avec un remplissage uni">
            <a:extLst>
              <a:ext uri="{FF2B5EF4-FFF2-40B4-BE49-F238E27FC236}">
                <a16:creationId xmlns:a16="http://schemas.microsoft.com/office/drawing/2014/main" id="{509C25D9-2C04-E3C4-90EB-14EB9B8C1C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528793" y="1424855"/>
            <a:ext cx="1008000" cy="1008000"/>
          </a:xfrm>
          <a:prstGeom prst="rect">
            <a:avLst/>
          </a:prstGeom>
        </p:spPr>
      </p:pic>
      <p:pic>
        <p:nvPicPr>
          <p:cNvPr id="36" name="Graphique 35" descr="Bâtiment avec un remplissage uni">
            <a:extLst>
              <a:ext uri="{FF2B5EF4-FFF2-40B4-BE49-F238E27FC236}">
                <a16:creationId xmlns:a16="http://schemas.microsoft.com/office/drawing/2014/main" id="{7968050C-DC71-8993-D8A0-300319019C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654113" y="1388202"/>
            <a:ext cx="1008000" cy="1008000"/>
          </a:xfrm>
          <a:prstGeom prst="rect">
            <a:avLst/>
          </a:prstGeom>
        </p:spPr>
      </p:pic>
      <p:sp>
        <p:nvSpPr>
          <p:cNvPr id="2" name="Titre 1">
            <a:extLst>
              <a:ext uri="{FF2B5EF4-FFF2-40B4-BE49-F238E27FC236}">
                <a16:creationId xmlns:a16="http://schemas.microsoft.com/office/drawing/2014/main" id="{8BFDB059-EBC7-4F12-DC2F-6BAFC5825DA8}"/>
              </a:ext>
            </a:extLst>
          </p:cNvPr>
          <p:cNvSpPr>
            <a:spLocks noGrp="1"/>
          </p:cNvSpPr>
          <p:nvPr>
            <p:ph type="title"/>
          </p:nvPr>
        </p:nvSpPr>
        <p:spPr>
          <a:xfrm>
            <a:off x="838200" y="365125"/>
            <a:ext cx="10515600" cy="856297"/>
          </a:xfrm>
        </p:spPr>
        <p:txBody>
          <a:bodyPr>
            <a:noAutofit/>
          </a:bodyPr>
          <a:lstStyle/>
          <a:p>
            <a:r>
              <a:rPr lang="fr-FR" sz="3600" dirty="0"/>
              <a:t>Tensions sur la valeur d’une Communauté</a:t>
            </a:r>
            <a:br>
              <a:rPr lang="fr-FR" sz="3600" dirty="0"/>
            </a:br>
            <a:r>
              <a:rPr lang="fr-FR" sz="2400" dirty="0"/>
              <a:t>Exemples de réponses opérationnelles de réduction de pression</a:t>
            </a:r>
            <a:br>
              <a:rPr lang="fr-FR" sz="3600" dirty="0"/>
            </a:br>
            <a:r>
              <a:rPr lang="fr-FR" sz="1100" dirty="0"/>
              <a:t>📅Evènements  , ✍️Contenus, ⚙️Structuration de Communauté, 📅+⚙️Structuration de moments, ✍️+⚙️ Structuration de Contenus</a:t>
            </a:r>
            <a:endParaRPr lang="fr-FR" sz="3600" dirty="0"/>
          </a:p>
        </p:txBody>
      </p:sp>
      <p:grpSp>
        <p:nvGrpSpPr>
          <p:cNvPr id="5" name="Groupe 4">
            <a:extLst>
              <a:ext uri="{FF2B5EF4-FFF2-40B4-BE49-F238E27FC236}">
                <a16:creationId xmlns:a16="http://schemas.microsoft.com/office/drawing/2014/main" id="{134BB5A3-DBA2-6C9E-E517-F2059B3A0731}"/>
              </a:ext>
            </a:extLst>
          </p:cNvPr>
          <p:cNvGrpSpPr/>
          <p:nvPr/>
        </p:nvGrpSpPr>
        <p:grpSpPr>
          <a:xfrm>
            <a:off x="2494069" y="5788054"/>
            <a:ext cx="1004893" cy="847205"/>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5EBA7851-F747-9F49-79E7-09A1897D22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239C2124-2F5E-B61D-59AF-49D42808864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757ED3E3-550E-91F1-8777-A80AD5ABEE5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B9D0C369-55DD-D939-2651-E42DFAFEA4A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1D6B69FA-F630-6B52-A901-25289EBB89D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70F81186-8A34-1804-AD84-CC6173D8638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476283E5-C705-A6A5-A57E-F4F4121DDCB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15DE004E-DD5C-0880-08B0-EA1CBE1D68A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DC09C8C4-9EB2-17F9-42D4-3BE0DF32169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FB517289-47FD-8FF4-30DD-E1E7493E2BE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581CBEED-9717-1B51-D748-3D275DD8095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grpSp>
        <p:nvGrpSpPr>
          <p:cNvPr id="18" name="Groupe 17">
            <a:extLst>
              <a:ext uri="{FF2B5EF4-FFF2-40B4-BE49-F238E27FC236}">
                <a16:creationId xmlns:a16="http://schemas.microsoft.com/office/drawing/2014/main" id="{903554D4-F331-8F48-C3F5-EA33AF381E1D}"/>
              </a:ext>
            </a:extLst>
          </p:cNvPr>
          <p:cNvGrpSpPr/>
          <p:nvPr/>
        </p:nvGrpSpPr>
        <p:grpSpPr>
          <a:xfrm>
            <a:off x="8412003" y="5781117"/>
            <a:ext cx="1004893" cy="847205"/>
            <a:chOff x="8982504" y="3274976"/>
            <a:chExt cx="1230670" cy="1037553"/>
          </a:xfrm>
          <a:solidFill>
            <a:srgbClr val="ED7D31"/>
          </a:solidFill>
        </p:grpSpPr>
        <p:pic>
          <p:nvPicPr>
            <p:cNvPr id="19" name="Graphique 18" descr="Utilisateur avec un remplissage uni">
              <a:extLst>
                <a:ext uri="{FF2B5EF4-FFF2-40B4-BE49-F238E27FC236}">
                  <a16:creationId xmlns:a16="http://schemas.microsoft.com/office/drawing/2014/main" id="{A6C1669E-85B0-AD58-53F5-7894E3D58F6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0" name="Graphique 19" descr="Utilisateur avec un remplissage uni">
              <a:extLst>
                <a:ext uri="{FF2B5EF4-FFF2-40B4-BE49-F238E27FC236}">
                  <a16:creationId xmlns:a16="http://schemas.microsoft.com/office/drawing/2014/main" id="{0C5BDEEA-C649-15D1-F9F0-D525EAFA301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1" name="Graphique 20" descr="Utilisateur avec un remplissage uni">
              <a:extLst>
                <a:ext uri="{FF2B5EF4-FFF2-40B4-BE49-F238E27FC236}">
                  <a16:creationId xmlns:a16="http://schemas.microsoft.com/office/drawing/2014/main" id="{E4C1A83D-17C3-D3DD-8D83-F38EE3ADACC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2" name="Graphique 21" descr="Utilisateur avec un remplissage uni">
              <a:extLst>
                <a:ext uri="{FF2B5EF4-FFF2-40B4-BE49-F238E27FC236}">
                  <a16:creationId xmlns:a16="http://schemas.microsoft.com/office/drawing/2014/main" id="{756A392A-D346-527D-1AED-80D0E657A0A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3" name="Graphique 22" descr="Utilisateur avec un remplissage uni">
              <a:extLst>
                <a:ext uri="{FF2B5EF4-FFF2-40B4-BE49-F238E27FC236}">
                  <a16:creationId xmlns:a16="http://schemas.microsoft.com/office/drawing/2014/main" id="{6D24FBC7-F423-84E4-9432-DB18A1327D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4" name="Graphique 23" descr="Utilisateur avec un remplissage uni">
              <a:extLst>
                <a:ext uri="{FF2B5EF4-FFF2-40B4-BE49-F238E27FC236}">
                  <a16:creationId xmlns:a16="http://schemas.microsoft.com/office/drawing/2014/main" id="{EC2ABAFC-D26F-4DEE-18D4-1D176351A25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5" name="Graphique 24" descr="Utilisateur avec un remplissage uni">
              <a:extLst>
                <a:ext uri="{FF2B5EF4-FFF2-40B4-BE49-F238E27FC236}">
                  <a16:creationId xmlns:a16="http://schemas.microsoft.com/office/drawing/2014/main" id="{8A1005DF-86CE-E7DE-9C0E-2BA2EE4CD4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6" name="Graphique 25" descr="Utilisateur avec un remplissage uni">
              <a:extLst>
                <a:ext uri="{FF2B5EF4-FFF2-40B4-BE49-F238E27FC236}">
                  <a16:creationId xmlns:a16="http://schemas.microsoft.com/office/drawing/2014/main" id="{14D36388-EC1A-814B-FEDE-8CDF13C5582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7" name="Graphique 26" descr="Utilisateur avec un remplissage uni">
              <a:extLst>
                <a:ext uri="{FF2B5EF4-FFF2-40B4-BE49-F238E27FC236}">
                  <a16:creationId xmlns:a16="http://schemas.microsoft.com/office/drawing/2014/main" id="{02FC874C-5F8C-A3B1-4FE1-D92F830B779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8" name="Graphique 27" descr="Utilisateur avec un remplissage uni">
              <a:extLst>
                <a:ext uri="{FF2B5EF4-FFF2-40B4-BE49-F238E27FC236}">
                  <a16:creationId xmlns:a16="http://schemas.microsoft.com/office/drawing/2014/main" id="{39A8ABE0-D0B3-3131-4791-7E79572332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9" name="Graphique 28" descr="Utilisateur avec un remplissage uni">
              <a:extLst>
                <a:ext uri="{FF2B5EF4-FFF2-40B4-BE49-F238E27FC236}">
                  <a16:creationId xmlns:a16="http://schemas.microsoft.com/office/drawing/2014/main" id="{8B9F677B-DB68-8CC2-AA4D-FDBB052EB7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31" name="Graphique 30" descr="Employée de bureau avec un remplissage uni">
            <a:extLst>
              <a:ext uri="{FF2B5EF4-FFF2-40B4-BE49-F238E27FC236}">
                <a16:creationId xmlns:a16="http://schemas.microsoft.com/office/drawing/2014/main" id="{F0F4164E-5CB4-462C-659A-70D8F0EA68A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698801" y="3490109"/>
            <a:ext cx="927445" cy="927445"/>
          </a:xfrm>
          <a:prstGeom prst="rect">
            <a:avLst/>
          </a:prstGeom>
        </p:spPr>
      </p:pic>
      <p:pic>
        <p:nvPicPr>
          <p:cNvPr id="35" name="Graphique 34" descr="Employée de bureau avec un remplissage uni">
            <a:extLst>
              <a:ext uri="{FF2B5EF4-FFF2-40B4-BE49-F238E27FC236}">
                <a16:creationId xmlns:a16="http://schemas.microsoft.com/office/drawing/2014/main" id="{0F0623A6-56F9-157A-B07D-C685C0E09AB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173815" y="3562105"/>
            <a:ext cx="927445" cy="927445"/>
          </a:xfrm>
          <a:prstGeom prst="rect">
            <a:avLst/>
          </a:prstGeom>
        </p:spPr>
      </p:pic>
      <p:sp>
        <p:nvSpPr>
          <p:cNvPr id="40" name="Espace réservé du contenu 2">
            <a:extLst>
              <a:ext uri="{FF2B5EF4-FFF2-40B4-BE49-F238E27FC236}">
                <a16:creationId xmlns:a16="http://schemas.microsoft.com/office/drawing/2014/main" id="{EB55843C-6034-043A-4E13-D92D793A4380}"/>
              </a:ext>
            </a:extLst>
          </p:cNvPr>
          <p:cNvSpPr>
            <a:spLocks noGrp="1"/>
          </p:cNvSpPr>
          <p:nvPr>
            <p:ph idx="1"/>
          </p:nvPr>
        </p:nvSpPr>
        <p:spPr>
          <a:xfrm>
            <a:off x="1977274" y="3828105"/>
            <a:ext cx="1177114" cy="445686"/>
          </a:xfrm>
        </p:spPr>
        <p:txBody>
          <a:bodyPr>
            <a:normAutofit/>
          </a:bodyPr>
          <a:lstStyle/>
          <a:p>
            <a:pPr marL="0" indent="0">
              <a:buNone/>
            </a:pPr>
            <a:r>
              <a:rPr lang="fr-FR" sz="1600" b="1" dirty="0">
                <a:solidFill>
                  <a:srgbClr val="ED7D31"/>
                </a:solidFill>
              </a:rPr>
              <a:t>Sponsor</a:t>
            </a:r>
          </a:p>
        </p:txBody>
      </p:sp>
      <p:sp>
        <p:nvSpPr>
          <p:cNvPr id="41" name="Espace réservé du contenu 2">
            <a:extLst>
              <a:ext uri="{FF2B5EF4-FFF2-40B4-BE49-F238E27FC236}">
                <a16:creationId xmlns:a16="http://schemas.microsoft.com/office/drawing/2014/main" id="{269736E4-2948-7978-6C12-07423AA1BAA4}"/>
              </a:ext>
            </a:extLst>
          </p:cNvPr>
          <p:cNvSpPr txBox="1">
            <a:spLocks/>
          </p:cNvSpPr>
          <p:nvPr/>
        </p:nvSpPr>
        <p:spPr>
          <a:xfrm>
            <a:off x="6828618" y="3823906"/>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Sponsor</a:t>
            </a:r>
          </a:p>
        </p:txBody>
      </p:sp>
      <p:sp>
        <p:nvSpPr>
          <p:cNvPr id="42" name="Espace réservé du contenu 2">
            <a:extLst>
              <a:ext uri="{FF2B5EF4-FFF2-40B4-BE49-F238E27FC236}">
                <a16:creationId xmlns:a16="http://schemas.microsoft.com/office/drawing/2014/main" id="{DA4985F9-956A-1F46-F8BA-30451CB5D41B}"/>
              </a:ext>
            </a:extLst>
          </p:cNvPr>
          <p:cNvSpPr txBox="1">
            <a:spLocks/>
          </p:cNvSpPr>
          <p:nvPr/>
        </p:nvSpPr>
        <p:spPr>
          <a:xfrm>
            <a:off x="9429903" y="6015386"/>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43" name="Espace réservé du contenu 2">
            <a:extLst>
              <a:ext uri="{FF2B5EF4-FFF2-40B4-BE49-F238E27FC236}">
                <a16:creationId xmlns:a16="http://schemas.microsoft.com/office/drawing/2014/main" id="{F3788224-D9C8-41CA-C2C7-57798A2E450C}"/>
              </a:ext>
            </a:extLst>
          </p:cNvPr>
          <p:cNvSpPr txBox="1">
            <a:spLocks/>
          </p:cNvSpPr>
          <p:nvPr/>
        </p:nvSpPr>
        <p:spPr>
          <a:xfrm>
            <a:off x="1617905" y="5982182"/>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44" name="Espace réservé du contenu 2">
            <a:extLst>
              <a:ext uri="{FF2B5EF4-FFF2-40B4-BE49-F238E27FC236}">
                <a16:creationId xmlns:a16="http://schemas.microsoft.com/office/drawing/2014/main" id="{B5E73FB4-FE4B-94BF-B79A-973601A77802}"/>
              </a:ext>
            </a:extLst>
          </p:cNvPr>
          <p:cNvSpPr txBox="1">
            <a:spLocks/>
          </p:cNvSpPr>
          <p:nvPr/>
        </p:nvSpPr>
        <p:spPr>
          <a:xfrm>
            <a:off x="1750656" y="1753186"/>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Entreprise</a:t>
            </a:r>
          </a:p>
        </p:txBody>
      </p:sp>
      <p:sp>
        <p:nvSpPr>
          <p:cNvPr id="45" name="Espace réservé du contenu 2">
            <a:extLst>
              <a:ext uri="{FF2B5EF4-FFF2-40B4-BE49-F238E27FC236}">
                <a16:creationId xmlns:a16="http://schemas.microsoft.com/office/drawing/2014/main" id="{5690FB4D-DD72-FFD8-1F39-65CB8AF30924}"/>
              </a:ext>
            </a:extLst>
          </p:cNvPr>
          <p:cNvSpPr txBox="1">
            <a:spLocks/>
          </p:cNvSpPr>
          <p:nvPr/>
        </p:nvSpPr>
        <p:spPr>
          <a:xfrm>
            <a:off x="9400420" y="1791624"/>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Entreprise</a:t>
            </a:r>
          </a:p>
        </p:txBody>
      </p:sp>
      <p:sp>
        <p:nvSpPr>
          <p:cNvPr id="46" name="Rectangle 45">
            <a:extLst>
              <a:ext uri="{FF2B5EF4-FFF2-40B4-BE49-F238E27FC236}">
                <a16:creationId xmlns:a16="http://schemas.microsoft.com/office/drawing/2014/main" id="{CB0AFEA1-B402-B4ED-4ACA-3379D23F9BD3}"/>
              </a:ext>
            </a:extLst>
          </p:cNvPr>
          <p:cNvSpPr/>
          <p:nvPr/>
        </p:nvSpPr>
        <p:spPr>
          <a:xfrm>
            <a:off x="1484735" y="2225336"/>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Ajustement du niveau d’obligation / de permission de participation</a:t>
            </a:r>
          </a:p>
        </p:txBody>
      </p:sp>
      <p:sp>
        <p:nvSpPr>
          <p:cNvPr id="47" name="Rectangle 46">
            <a:extLst>
              <a:ext uri="{FF2B5EF4-FFF2-40B4-BE49-F238E27FC236}">
                <a16:creationId xmlns:a16="http://schemas.microsoft.com/office/drawing/2014/main" id="{92CD0164-C3E8-CCBE-271D-F2A3843C12C7}"/>
              </a:ext>
            </a:extLst>
          </p:cNvPr>
          <p:cNvSpPr/>
          <p:nvPr/>
        </p:nvSpPr>
        <p:spPr>
          <a:xfrm>
            <a:off x="9458933" y="2601155"/>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Sponsors en soutien</a:t>
            </a:r>
          </a:p>
        </p:txBody>
      </p:sp>
      <p:sp>
        <p:nvSpPr>
          <p:cNvPr id="48" name="Rectangle 47">
            <a:extLst>
              <a:ext uri="{FF2B5EF4-FFF2-40B4-BE49-F238E27FC236}">
                <a16:creationId xmlns:a16="http://schemas.microsoft.com/office/drawing/2014/main" id="{0B1AB6A9-D346-10EC-64DC-63E3F4E04052}"/>
              </a:ext>
            </a:extLst>
          </p:cNvPr>
          <p:cNvSpPr/>
          <p:nvPr/>
        </p:nvSpPr>
        <p:spPr>
          <a:xfrm>
            <a:off x="3913865" y="6154949"/>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Division en sous-groupes ou en communautés plus alignées</a:t>
            </a:r>
          </a:p>
        </p:txBody>
      </p:sp>
      <p:sp>
        <p:nvSpPr>
          <p:cNvPr id="49" name="Rectangle 48">
            <a:extLst>
              <a:ext uri="{FF2B5EF4-FFF2-40B4-BE49-F238E27FC236}">
                <a16:creationId xmlns:a16="http://schemas.microsoft.com/office/drawing/2014/main" id="{BE45AF27-D9B1-6E05-61E8-8693F8655F20}"/>
              </a:ext>
            </a:extLst>
          </p:cNvPr>
          <p:cNvSpPr/>
          <p:nvPr/>
        </p:nvSpPr>
        <p:spPr>
          <a:xfrm>
            <a:off x="1565388" y="5053849"/>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Négociations sur l’autonomie, les obligations et le contrat moral</a:t>
            </a:r>
          </a:p>
        </p:txBody>
      </p:sp>
      <p:sp>
        <p:nvSpPr>
          <p:cNvPr id="50" name="Rectangle 49">
            <a:extLst>
              <a:ext uri="{FF2B5EF4-FFF2-40B4-BE49-F238E27FC236}">
                <a16:creationId xmlns:a16="http://schemas.microsoft.com/office/drawing/2014/main" id="{260C6117-709C-3111-D84D-6256EDB6CB61}"/>
              </a:ext>
            </a:extLst>
          </p:cNvPr>
          <p:cNvSpPr/>
          <p:nvPr/>
        </p:nvSpPr>
        <p:spPr>
          <a:xfrm>
            <a:off x="3791320" y="3137162"/>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Règles de Gouvernance entre sponsors</a:t>
            </a:r>
          </a:p>
        </p:txBody>
      </p:sp>
      <p:sp>
        <p:nvSpPr>
          <p:cNvPr id="51" name="Rectangle 50">
            <a:extLst>
              <a:ext uri="{FF2B5EF4-FFF2-40B4-BE49-F238E27FC236}">
                <a16:creationId xmlns:a16="http://schemas.microsoft.com/office/drawing/2014/main" id="{50727056-3F7C-7F53-DA95-57A7F3676F64}"/>
              </a:ext>
            </a:extLst>
          </p:cNvPr>
          <p:cNvSpPr/>
          <p:nvPr/>
        </p:nvSpPr>
        <p:spPr>
          <a:xfrm>
            <a:off x="5120889" y="3137162"/>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 </a:t>
            </a:r>
            <a:r>
              <a:rPr lang="fr-FR" sz="1000" dirty="0">
                <a:solidFill>
                  <a:schemeClr val="tx1"/>
                </a:solidFill>
              </a:rPr>
              <a:t>Négociation sur le pouvoir accordé et les responsabilités</a:t>
            </a:r>
          </a:p>
        </p:txBody>
      </p:sp>
      <p:sp>
        <p:nvSpPr>
          <p:cNvPr id="52" name="Rectangle 51">
            <a:extLst>
              <a:ext uri="{FF2B5EF4-FFF2-40B4-BE49-F238E27FC236}">
                <a16:creationId xmlns:a16="http://schemas.microsoft.com/office/drawing/2014/main" id="{033585D9-9051-AE76-3917-8AAA54B53026}"/>
              </a:ext>
            </a:extLst>
          </p:cNvPr>
          <p:cNvSpPr/>
          <p:nvPr/>
        </p:nvSpPr>
        <p:spPr>
          <a:xfrm>
            <a:off x="4726012" y="2434841"/>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Rôles de sponsors clarifiés</a:t>
            </a:r>
          </a:p>
        </p:txBody>
      </p:sp>
      <p:sp>
        <p:nvSpPr>
          <p:cNvPr id="53" name="Rectangle 52">
            <a:extLst>
              <a:ext uri="{FF2B5EF4-FFF2-40B4-BE49-F238E27FC236}">
                <a16:creationId xmlns:a16="http://schemas.microsoft.com/office/drawing/2014/main" id="{DDB9A295-3BE8-679E-EF2A-50D278DCAC73}"/>
              </a:ext>
            </a:extLst>
          </p:cNvPr>
          <p:cNvSpPr/>
          <p:nvPr/>
        </p:nvSpPr>
        <p:spPr>
          <a:xfrm>
            <a:off x="208516" y="5053849"/>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Rôle proposé au sponsor</a:t>
            </a:r>
          </a:p>
        </p:txBody>
      </p:sp>
      <p:sp>
        <p:nvSpPr>
          <p:cNvPr id="54" name="Rectangle 53">
            <a:extLst>
              <a:ext uri="{FF2B5EF4-FFF2-40B4-BE49-F238E27FC236}">
                <a16:creationId xmlns:a16="http://schemas.microsoft.com/office/drawing/2014/main" id="{825966F9-79AF-55D7-5F10-2213D16CDAC3}"/>
              </a:ext>
            </a:extLst>
          </p:cNvPr>
          <p:cNvSpPr/>
          <p:nvPr/>
        </p:nvSpPr>
        <p:spPr>
          <a:xfrm>
            <a:off x="208516" y="4323360"/>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Mise à plat de la valeur entreprise et membres</a:t>
            </a:r>
          </a:p>
        </p:txBody>
      </p:sp>
      <p:sp>
        <p:nvSpPr>
          <p:cNvPr id="55" name="Rectangle 54">
            <a:extLst>
              <a:ext uri="{FF2B5EF4-FFF2-40B4-BE49-F238E27FC236}">
                <a16:creationId xmlns:a16="http://schemas.microsoft.com/office/drawing/2014/main" id="{F32ABCAD-0C8C-4CD1-5497-780DAC778636}"/>
              </a:ext>
            </a:extLst>
          </p:cNvPr>
          <p:cNvSpPr/>
          <p:nvPr/>
        </p:nvSpPr>
        <p:spPr>
          <a:xfrm>
            <a:off x="1579794" y="4323360"/>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Promotion des attentes auprès des membres</a:t>
            </a:r>
          </a:p>
        </p:txBody>
      </p:sp>
      <p:sp>
        <p:nvSpPr>
          <p:cNvPr id="56" name="Rectangle 55">
            <a:extLst>
              <a:ext uri="{FF2B5EF4-FFF2-40B4-BE49-F238E27FC236}">
                <a16:creationId xmlns:a16="http://schemas.microsoft.com/office/drawing/2014/main" id="{4E97B060-5825-525C-EB0D-DA353BFE8417}"/>
              </a:ext>
            </a:extLst>
          </p:cNvPr>
          <p:cNvSpPr/>
          <p:nvPr/>
        </p:nvSpPr>
        <p:spPr>
          <a:xfrm>
            <a:off x="9448279" y="3315416"/>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chemeClr val="tx1"/>
              </a:solidFill>
            </a:endParaRPr>
          </a:p>
          <a:p>
            <a:pPr algn="ctr"/>
            <a:r>
              <a:rPr lang="fr-FR" sz="1000" dirty="0"/>
              <a:t>✍️</a:t>
            </a:r>
            <a:r>
              <a:rPr lang="fr-FR" sz="1000" dirty="0">
                <a:solidFill>
                  <a:schemeClr val="tx1"/>
                </a:solidFill>
              </a:rPr>
              <a:t>Mise à plat de la valeur pour l’entreprise</a:t>
            </a:r>
          </a:p>
          <a:p>
            <a:pPr algn="ctr"/>
            <a:endParaRPr lang="fr-FR" sz="1000" dirty="0">
              <a:solidFill>
                <a:schemeClr val="tx1"/>
              </a:solidFill>
            </a:endParaRPr>
          </a:p>
        </p:txBody>
      </p:sp>
      <p:sp>
        <p:nvSpPr>
          <p:cNvPr id="57" name="Rectangle 56">
            <a:extLst>
              <a:ext uri="{FF2B5EF4-FFF2-40B4-BE49-F238E27FC236}">
                <a16:creationId xmlns:a16="http://schemas.microsoft.com/office/drawing/2014/main" id="{FAA57615-1CD1-87F3-5D6D-592F83B52DDE}"/>
              </a:ext>
            </a:extLst>
          </p:cNvPr>
          <p:cNvSpPr/>
          <p:nvPr/>
        </p:nvSpPr>
        <p:spPr>
          <a:xfrm>
            <a:off x="9448279" y="4034330"/>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Ajustement du niveau d’obligation / de permission de participation</a:t>
            </a:r>
          </a:p>
        </p:txBody>
      </p:sp>
      <p:sp>
        <p:nvSpPr>
          <p:cNvPr id="59" name="Rectangle 58">
            <a:extLst>
              <a:ext uri="{FF2B5EF4-FFF2-40B4-BE49-F238E27FC236}">
                <a16:creationId xmlns:a16="http://schemas.microsoft.com/office/drawing/2014/main" id="{AAD184BF-C798-246A-4EE2-A217E8B5A83A}"/>
              </a:ext>
            </a:extLst>
          </p:cNvPr>
          <p:cNvSpPr/>
          <p:nvPr/>
        </p:nvSpPr>
        <p:spPr>
          <a:xfrm>
            <a:off x="10798915" y="3315416"/>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Négociation des membres avec leurs hiérarchies et collègues</a:t>
            </a:r>
          </a:p>
        </p:txBody>
      </p:sp>
      <p:sp>
        <p:nvSpPr>
          <p:cNvPr id="60" name="Rectangle 59">
            <a:extLst>
              <a:ext uri="{FF2B5EF4-FFF2-40B4-BE49-F238E27FC236}">
                <a16:creationId xmlns:a16="http://schemas.microsoft.com/office/drawing/2014/main" id="{39B641C7-93B4-A637-EC7B-BDCBE2E9D7AF}"/>
              </a:ext>
            </a:extLst>
          </p:cNvPr>
          <p:cNvSpPr/>
          <p:nvPr/>
        </p:nvSpPr>
        <p:spPr>
          <a:xfrm>
            <a:off x="10798915" y="4034330"/>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Ajustement de la forme de temps investi</a:t>
            </a:r>
          </a:p>
        </p:txBody>
      </p:sp>
      <p:sp>
        <p:nvSpPr>
          <p:cNvPr id="62" name="Rectangle 61">
            <a:extLst>
              <a:ext uri="{FF2B5EF4-FFF2-40B4-BE49-F238E27FC236}">
                <a16:creationId xmlns:a16="http://schemas.microsoft.com/office/drawing/2014/main" id="{00D2A310-4985-7F7E-4D90-A1B9238D0027}"/>
              </a:ext>
            </a:extLst>
          </p:cNvPr>
          <p:cNvSpPr/>
          <p:nvPr/>
        </p:nvSpPr>
        <p:spPr>
          <a:xfrm>
            <a:off x="10798915" y="2590282"/>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Invitation à participer pour découvrir et constater</a:t>
            </a:r>
          </a:p>
        </p:txBody>
      </p:sp>
      <p:sp>
        <p:nvSpPr>
          <p:cNvPr id="63" name="Rectangle 62">
            <a:extLst>
              <a:ext uri="{FF2B5EF4-FFF2-40B4-BE49-F238E27FC236}">
                <a16:creationId xmlns:a16="http://schemas.microsoft.com/office/drawing/2014/main" id="{C95440A9-F4AC-C371-C98E-D3DE6C5CD0A3}"/>
              </a:ext>
            </a:extLst>
          </p:cNvPr>
          <p:cNvSpPr/>
          <p:nvPr/>
        </p:nvSpPr>
        <p:spPr>
          <a:xfrm>
            <a:off x="136623" y="2234765"/>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Mise à plat de la valeur pour l’entreprise</a:t>
            </a:r>
          </a:p>
        </p:txBody>
      </p:sp>
      <p:sp>
        <p:nvSpPr>
          <p:cNvPr id="64" name="Rectangle 63">
            <a:extLst>
              <a:ext uri="{FF2B5EF4-FFF2-40B4-BE49-F238E27FC236}">
                <a16:creationId xmlns:a16="http://schemas.microsoft.com/office/drawing/2014/main" id="{187A39B0-C5EE-3111-7266-BA60F1265DD0}"/>
              </a:ext>
            </a:extLst>
          </p:cNvPr>
          <p:cNvSpPr/>
          <p:nvPr/>
        </p:nvSpPr>
        <p:spPr>
          <a:xfrm>
            <a:off x="231682" y="4332789"/>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Promotion des activités auprès du sponsor</a:t>
            </a:r>
          </a:p>
        </p:txBody>
      </p:sp>
      <p:sp>
        <p:nvSpPr>
          <p:cNvPr id="65" name="Rectangle 64">
            <a:extLst>
              <a:ext uri="{FF2B5EF4-FFF2-40B4-BE49-F238E27FC236}">
                <a16:creationId xmlns:a16="http://schemas.microsoft.com/office/drawing/2014/main" id="{612478C3-C4EA-0B27-24D7-F8257D5AB7E7}"/>
              </a:ext>
            </a:extLst>
          </p:cNvPr>
          <p:cNvSpPr/>
          <p:nvPr/>
        </p:nvSpPr>
        <p:spPr>
          <a:xfrm>
            <a:off x="133796" y="2933548"/>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Ajustement de la forme de temps investi (productif, pause, personnel, …)</a:t>
            </a:r>
          </a:p>
        </p:txBody>
      </p:sp>
      <p:sp>
        <p:nvSpPr>
          <p:cNvPr id="66" name="Rectangle 65">
            <a:extLst>
              <a:ext uri="{FF2B5EF4-FFF2-40B4-BE49-F238E27FC236}">
                <a16:creationId xmlns:a16="http://schemas.microsoft.com/office/drawing/2014/main" id="{E4AC5621-F726-E14D-E791-E819D62B979E}"/>
              </a:ext>
            </a:extLst>
          </p:cNvPr>
          <p:cNvSpPr/>
          <p:nvPr/>
        </p:nvSpPr>
        <p:spPr>
          <a:xfrm>
            <a:off x="1482210" y="2925584"/>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Promotion du format Communauté</a:t>
            </a:r>
          </a:p>
          <a:p>
            <a:pPr algn="ctr"/>
            <a:r>
              <a:rPr lang="fr-FR" sz="1000" dirty="0">
                <a:solidFill>
                  <a:schemeClr val="tx1"/>
                </a:solidFill>
              </a:rPr>
              <a:t>Négociation</a:t>
            </a:r>
          </a:p>
        </p:txBody>
      </p:sp>
      <p:sp>
        <p:nvSpPr>
          <p:cNvPr id="67" name="Rectangle 66">
            <a:extLst>
              <a:ext uri="{FF2B5EF4-FFF2-40B4-BE49-F238E27FC236}">
                <a16:creationId xmlns:a16="http://schemas.microsoft.com/office/drawing/2014/main" id="{02196FAE-AC68-6EEC-97FF-F8C05987C6F8}"/>
              </a:ext>
            </a:extLst>
          </p:cNvPr>
          <p:cNvSpPr/>
          <p:nvPr/>
        </p:nvSpPr>
        <p:spPr>
          <a:xfrm>
            <a:off x="5276531" y="6150147"/>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Alternance des activités pour satisfaire un groupe puis l’autre</a:t>
            </a:r>
          </a:p>
        </p:txBody>
      </p:sp>
      <p:sp>
        <p:nvSpPr>
          <p:cNvPr id="68" name="Rectangle 67">
            <a:extLst>
              <a:ext uri="{FF2B5EF4-FFF2-40B4-BE49-F238E27FC236}">
                <a16:creationId xmlns:a16="http://schemas.microsoft.com/office/drawing/2014/main" id="{68105E5C-59F3-5AAA-92C5-053C73F50EF0}"/>
              </a:ext>
            </a:extLst>
          </p:cNvPr>
          <p:cNvSpPr/>
          <p:nvPr/>
        </p:nvSpPr>
        <p:spPr>
          <a:xfrm>
            <a:off x="6612247" y="6150146"/>
            <a:ext cx="1275160" cy="631071"/>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a:t>
            </a:r>
            <a:r>
              <a:rPr lang="fr-FR" sz="1000" dirty="0">
                <a:solidFill>
                  <a:schemeClr val="tx1"/>
                </a:solidFill>
              </a:rPr>
              <a:t>Négociation sur un format commun pour poser les concessions </a:t>
            </a:r>
          </a:p>
        </p:txBody>
      </p:sp>
      <p:grpSp>
        <p:nvGrpSpPr>
          <p:cNvPr id="69" name="Groupe 68">
            <a:extLst>
              <a:ext uri="{FF2B5EF4-FFF2-40B4-BE49-F238E27FC236}">
                <a16:creationId xmlns:a16="http://schemas.microsoft.com/office/drawing/2014/main" id="{B07E6651-8123-3623-86A1-A54FE29D0DC3}"/>
              </a:ext>
            </a:extLst>
          </p:cNvPr>
          <p:cNvGrpSpPr/>
          <p:nvPr/>
        </p:nvGrpSpPr>
        <p:grpSpPr>
          <a:xfrm>
            <a:off x="2874142" y="2331838"/>
            <a:ext cx="582779" cy="1236552"/>
            <a:chOff x="4327736" y="1771722"/>
            <a:chExt cx="1754416" cy="1735486"/>
          </a:xfrm>
          <a:solidFill>
            <a:srgbClr val="FF9999"/>
          </a:solidFill>
        </p:grpSpPr>
        <p:sp>
          <p:nvSpPr>
            <p:cNvPr id="70" name="Flèche : haut 69">
              <a:extLst>
                <a:ext uri="{FF2B5EF4-FFF2-40B4-BE49-F238E27FC236}">
                  <a16:creationId xmlns:a16="http://schemas.microsoft.com/office/drawing/2014/main" id="{0E6F677D-AEDB-CE6F-0E4E-C6A894804A12}"/>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71" name="Flèche : bas 70">
              <a:extLst>
                <a:ext uri="{FF2B5EF4-FFF2-40B4-BE49-F238E27FC236}">
                  <a16:creationId xmlns:a16="http://schemas.microsoft.com/office/drawing/2014/main" id="{A33340AC-2047-45D6-5263-3F9DB2095205}"/>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72" name="Groupe 71">
            <a:extLst>
              <a:ext uri="{FF2B5EF4-FFF2-40B4-BE49-F238E27FC236}">
                <a16:creationId xmlns:a16="http://schemas.microsoft.com/office/drawing/2014/main" id="{BFD1F4CF-4532-4287-0147-890EF47FDF20}"/>
              </a:ext>
            </a:extLst>
          </p:cNvPr>
          <p:cNvGrpSpPr/>
          <p:nvPr/>
        </p:nvGrpSpPr>
        <p:grpSpPr>
          <a:xfrm>
            <a:off x="2916024" y="4377191"/>
            <a:ext cx="582779" cy="1410862"/>
            <a:chOff x="4327736" y="1771722"/>
            <a:chExt cx="1754416" cy="1735486"/>
          </a:xfrm>
          <a:solidFill>
            <a:srgbClr val="FF9999"/>
          </a:solidFill>
        </p:grpSpPr>
        <p:sp>
          <p:nvSpPr>
            <p:cNvPr id="73" name="Flèche : haut 72">
              <a:extLst>
                <a:ext uri="{FF2B5EF4-FFF2-40B4-BE49-F238E27FC236}">
                  <a16:creationId xmlns:a16="http://schemas.microsoft.com/office/drawing/2014/main" id="{E65EF479-1254-D72F-3E94-613EDE316B72}"/>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74" name="Flèche : bas 73">
              <a:extLst>
                <a:ext uri="{FF2B5EF4-FFF2-40B4-BE49-F238E27FC236}">
                  <a16:creationId xmlns:a16="http://schemas.microsoft.com/office/drawing/2014/main" id="{348BBE56-9DB2-16AB-00BF-7F653BDF8F88}"/>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75" name="Groupe 74">
            <a:extLst>
              <a:ext uri="{FF2B5EF4-FFF2-40B4-BE49-F238E27FC236}">
                <a16:creationId xmlns:a16="http://schemas.microsoft.com/office/drawing/2014/main" id="{C4010C26-8999-A4F2-B232-9ADFE1850709}"/>
              </a:ext>
            </a:extLst>
          </p:cNvPr>
          <p:cNvGrpSpPr/>
          <p:nvPr/>
        </p:nvGrpSpPr>
        <p:grpSpPr>
          <a:xfrm rot="16200000">
            <a:off x="4628402" y="2721813"/>
            <a:ext cx="582779" cy="2777464"/>
            <a:chOff x="4327736" y="1771722"/>
            <a:chExt cx="1754416" cy="1735486"/>
          </a:xfrm>
          <a:solidFill>
            <a:srgbClr val="FF9999"/>
          </a:solidFill>
        </p:grpSpPr>
        <p:sp>
          <p:nvSpPr>
            <p:cNvPr id="76" name="Flèche : haut 75">
              <a:extLst>
                <a:ext uri="{FF2B5EF4-FFF2-40B4-BE49-F238E27FC236}">
                  <a16:creationId xmlns:a16="http://schemas.microsoft.com/office/drawing/2014/main" id="{6AFEB5FA-5F84-FA3F-A4F1-C7E12E22630F}"/>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77" name="Flèche : bas 76">
              <a:extLst>
                <a:ext uri="{FF2B5EF4-FFF2-40B4-BE49-F238E27FC236}">
                  <a16:creationId xmlns:a16="http://schemas.microsoft.com/office/drawing/2014/main" id="{9993ED84-6FD0-FB5B-5DD0-13595ED19F39}"/>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78" name="Groupe 77">
            <a:extLst>
              <a:ext uri="{FF2B5EF4-FFF2-40B4-BE49-F238E27FC236}">
                <a16:creationId xmlns:a16="http://schemas.microsoft.com/office/drawing/2014/main" id="{74C03282-D6F4-2DA4-9A29-6A3BE310B2B1}"/>
              </a:ext>
            </a:extLst>
          </p:cNvPr>
          <p:cNvGrpSpPr/>
          <p:nvPr/>
        </p:nvGrpSpPr>
        <p:grpSpPr>
          <a:xfrm rot="16200000">
            <a:off x="5745836" y="3455270"/>
            <a:ext cx="582779" cy="4983137"/>
            <a:chOff x="4327736" y="1771722"/>
            <a:chExt cx="1754416" cy="1735486"/>
          </a:xfrm>
          <a:solidFill>
            <a:srgbClr val="FF9999"/>
          </a:solidFill>
        </p:grpSpPr>
        <p:sp>
          <p:nvSpPr>
            <p:cNvPr id="79" name="Flèche : haut 78">
              <a:extLst>
                <a:ext uri="{FF2B5EF4-FFF2-40B4-BE49-F238E27FC236}">
                  <a16:creationId xmlns:a16="http://schemas.microsoft.com/office/drawing/2014/main" id="{04D37746-F750-D9EC-895A-F6EEFA31DC43}"/>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80" name="Flèche : bas 79">
              <a:extLst>
                <a:ext uri="{FF2B5EF4-FFF2-40B4-BE49-F238E27FC236}">
                  <a16:creationId xmlns:a16="http://schemas.microsoft.com/office/drawing/2014/main" id="{1691AD9C-D060-E68B-D809-583F99062DA1}"/>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81" name="Groupe 80">
            <a:extLst>
              <a:ext uri="{FF2B5EF4-FFF2-40B4-BE49-F238E27FC236}">
                <a16:creationId xmlns:a16="http://schemas.microsoft.com/office/drawing/2014/main" id="{FEA76082-F487-6995-5AF1-09FD3E371561}"/>
              </a:ext>
            </a:extLst>
          </p:cNvPr>
          <p:cNvGrpSpPr/>
          <p:nvPr/>
        </p:nvGrpSpPr>
        <p:grpSpPr>
          <a:xfrm>
            <a:off x="8728231" y="2389700"/>
            <a:ext cx="582779" cy="3371347"/>
            <a:chOff x="4327736" y="1771722"/>
            <a:chExt cx="1754416" cy="1735486"/>
          </a:xfrm>
          <a:solidFill>
            <a:srgbClr val="FF9999"/>
          </a:solidFill>
        </p:grpSpPr>
        <p:sp>
          <p:nvSpPr>
            <p:cNvPr id="82" name="Flèche : haut 81">
              <a:extLst>
                <a:ext uri="{FF2B5EF4-FFF2-40B4-BE49-F238E27FC236}">
                  <a16:creationId xmlns:a16="http://schemas.microsoft.com/office/drawing/2014/main" id="{08F70C47-901F-1A7E-40F1-5C1A4C34C6F0}"/>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83" name="Flèche : bas 82">
              <a:extLst>
                <a:ext uri="{FF2B5EF4-FFF2-40B4-BE49-F238E27FC236}">
                  <a16:creationId xmlns:a16="http://schemas.microsoft.com/office/drawing/2014/main" id="{08DC8A56-798A-7B61-E6DC-EC9E65EE1662}"/>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spTree>
    <p:extLst>
      <p:ext uri="{BB962C8B-B14F-4D97-AF65-F5344CB8AC3E}">
        <p14:creationId xmlns:p14="http://schemas.microsoft.com/office/powerpoint/2010/main" val="2685637384"/>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77E3838-1990-434A-0BD5-DD4AAF11724E}"/>
              </a:ext>
            </a:extLst>
          </p:cNvPr>
          <p:cNvSpPr>
            <a:spLocks noGrp="1"/>
          </p:cNvSpPr>
          <p:nvPr>
            <p:ph type="title"/>
          </p:nvPr>
        </p:nvSpPr>
        <p:spPr/>
        <p:txBody>
          <a:bodyPr/>
          <a:lstStyle/>
          <a:p>
            <a:r>
              <a:rPr lang="fr-FR" dirty="0"/>
              <a:t>Nature des tensions sur la valeur</a:t>
            </a:r>
          </a:p>
        </p:txBody>
      </p:sp>
      <p:sp>
        <p:nvSpPr>
          <p:cNvPr id="4" name="Phylactère : pensées 3">
            <a:extLst>
              <a:ext uri="{FF2B5EF4-FFF2-40B4-BE49-F238E27FC236}">
                <a16:creationId xmlns:a16="http://schemas.microsoft.com/office/drawing/2014/main" id="{6FAA267B-3B90-DCC9-45EF-75B49C9D9327}"/>
              </a:ext>
            </a:extLst>
          </p:cNvPr>
          <p:cNvSpPr/>
          <p:nvPr/>
        </p:nvSpPr>
        <p:spPr>
          <a:xfrm>
            <a:off x="3810147" y="2272118"/>
            <a:ext cx="2768367" cy="1635853"/>
          </a:xfrm>
          <a:prstGeom prst="cloudCallout">
            <a:avLst>
              <a:gd name="adj1" fmla="val -24772"/>
              <a:gd name="adj2" fmla="val 4506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attendue, imaginée, espérée</a:t>
            </a:r>
          </a:p>
        </p:txBody>
      </p:sp>
      <p:sp>
        <p:nvSpPr>
          <p:cNvPr id="5" name="Parchemin : horizontal 4">
            <a:extLst>
              <a:ext uri="{FF2B5EF4-FFF2-40B4-BE49-F238E27FC236}">
                <a16:creationId xmlns:a16="http://schemas.microsoft.com/office/drawing/2014/main" id="{60F39A25-E9EF-A5B4-22D1-4E3620087A54}"/>
              </a:ext>
            </a:extLst>
          </p:cNvPr>
          <p:cNvSpPr/>
          <p:nvPr/>
        </p:nvSpPr>
        <p:spPr>
          <a:xfrm>
            <a:off x="6789517" y="2204973"/>
            <a:ext cx="2684477" cy="1539904"/>
          </a:xfrm>
          <a:prstGeom prst="horizontalScroll">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exprimée, officialisée, visée</a:t>
            </a:r>
          </a:p>
        </p:txBody>
      </p:sp>
      <p:sp>
        <p:nvSpPr>
          <p:cNvPr id="6" name="Bulle narrative : ronde 5">
            <a:extLst>
              <a:ext uri="{FF2B5EF4-FFF2-40B4-BE49-F238E27FC236}">
                <a16:creationId xmlns:a16="http://schemas.microsoft.com/office/drawing/2014/main" id="{505BD7BB-BFFD-C9A5-B919-427FE9DF24F8}"/>
              </a:ext>
            </a:extLst>
          </p:cNvPr>
          <p:cNvSpPr/>
          <p:nvPr/>
        </p:nvSpPr>
        <p:spPr>
          <a:xfrm>
            <a:off x="9660571" y="2204973"/>
            <a:ext cx="2341140" cy="1446227"/>
          </a:xfrm>
          <a:prstGeom prst="wedgeEllipseCallout">
            <a:avLst>
              <a:gd name="adj1" fmla="val -57504"/>
              <a:gd name="adj2" fmla="val 4861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effective, constatée, réelle</a:t>
            </a:r>
          </a:p>
        </p:txBody>
      </p:sp>
      <p:sp>
        <p:nvSpPr>
          <p:cNvPr id="29" name="Espace réservé du contenu 2">
            <a:extLst>
              <a:ext uri="{FF2B5EF4-FFF2-40B4-BE49-F238E27FC236}">
                <a16:creationId xmlns:a16="http://schemas.microsoft.com/office/drawing/2014/main" id="{EC497145-7D04-E56A-CC56-5DFCAC7FA878}"/>
              </a:ext>
            </a:extLst>
          </p:cNvPr>
          <p:cNvSpPr>
            <a:spLocks noGrp="1"/>
          </p:cNvSpPr>
          <p:nvPr>
            <p:ph idx="1"/>
          </p:nvPr>
        </p:nvSpPr>
        <p:spPr>
          <a:xfrm>
            <a:off x="742405" y="1569208"/>
            <a:ext cx="2693273" cy="4351338"/>
          </a:xfrm>
        </p:spPr>
        <p:txBody>
          <a:bodyPr>
            <a:normAutofit/>
          </a:bodyPr>
          <a:lstStyle/>
          <a:p>
            <a:pPr marL="0" indent="0">
              <a:buNone/>
            </a:pPr>
            <a:r>
              <a:rPr lang="fr-FR" sz="1800" dirty="0"/>
              <a:t>Les tensions sur la valeur peuvent être liées à des dissonances entre parties en désaccord. </a:t>
            </a:r>
          </a:p>
          <a:p>
            <a:pPr marL="0" indent="0">
              <a:buNone/>
            </a:pPr>
            <a:endParaRPr lang="fr-FR" sz="1800" dirty="0"/>
          </a:p>
          <a:p>
            <a:pPr marL="0" indent="0">
              <a:buNone/>
            </a:pPr>
            <a:r>
              <a:rPr lang="fr-FR" sz="1800" dirty="0"/>
              <a:t>Elles peuvent aussi être liées, pour une même personne, lorsqu’il y a dissonance entre les attentes, les déclarations, et les effets réels au quotidien</a:t>
            </a:r>
          </a:p>
        </p:txBody>
      </p:sp>
    </p:spTree>
    <p:extLst>
      <p:ext uri="{BB962C8B-B14F-4D97-AF65-F5344CB8AC3E}">
        <p14:creationId xmlns:p14="http://schemas.microsoft.com/office/powerpoint/2010/main" val="37647903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77E3838-1990-434A-0BD5-DD4AAF11724E}"/>
              </a:ext>
            </a:extLst>
          </p:cNvPr>
          <p:cNvSpPr>
            <a:spLocks noGrp="1"/>
          </p:cNvSpPr>
          <p:nvPr>
            <p:ph type="title"/>
          </p:nvPr>
        </p:nvSpPr>
        <p:spPr/>
        <p:txBody>
          <a:bodyPr>
            <a:normAutofit/>
          </a:bodyPr>
          <a:lstStyle/>
          <a:p>
            <a:r>
              <a:rPr lang="fr-FR" sz="3600" dirty="0"/>
              <a:t>Nature des tensions sur la valeur</a:t>
            </a:r>
            <a:br>
              <a:rPr lang="fr-FR" sz="3600" dirty="0"/>
            </a:br>
            <a:r>
              <a:rPr lang="fr-FR" sz="3600" dirty="0"/>
              <a:t>Exemples d’informations liées</a:t>
            </a:r>
          </a:p>
        </p:txBody>
      </p:sp>
      <p:sp>
        <p:nvSpPr>
          <p:cNvPr id="4" name="Phylactère : pensées 3">
            <a:extLst>
              <a:ext uri="{FF2B5EF4-FFF2-40B4-BE49-F238E27FC236}">
                <a16:creationId xmlns:a16="http://schemas.microsoft.com/office/drawing/2014/main" id="{6FAA267B-3B90-DCC9-45EF-75B49C9D9327}"/>
              </a:ext>
            </a:extLst>
          </p:cNvPr>
          <p:cNvSpPr/>
          <p:nvPr/>
        </p:nvSpPr>
        <p:spPr>
          <a:xfrm>
            <a:off x="477925" y="1793147"/>
            <a:ext cx="2768367" cy="1635853"/>
          </a:xfrm>
          <a:prstGeom prst="cloudCallout">
            <a:avLst>
              <a:gd name="adj1" fmla="val -24772"/>
              <a:gd name="adj2" fmla="val 4506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attendue, imaginée, espérée</a:t>
            </a:r>
          </a:p>
        </p:txBody>
      </p:sp>
      <p:sp>
        <p:nvSpPr>
          <p:cNvPr id="5" name="Parchemin : horizontal 4">
            <a:extLst>
              <a:ext uri="{FF2B5EF4-FFF2-40B4-BE49-F238E27FC236}">
                <a16:creationId xmlns:a16="http://schemas.microsoft.com/office/drawing/2014/main" id="{60F39A25-E9EF-A5B4-22D1-4E3620087A54}"/>
              </a:ext>
            </a:extLst>
          </p:cNvPr>
          <p:cNvSpPr/>
          <p:nvPr/>
        </p:nvSpPr>
        <p:spPr>
          <a:xfrm>
            <a:off x="4753761" y="1726002"/>
            <a:ext cx="2684477" cy="1539904"/>
          </a:xfrm>
          <a:prstGeom prst="horizontalScroll">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exprimée, officialisée, visée</a:t>
            </a:r>
          </a:p>
        </p:txBody>
      </p:sp>
      <p:sp>
        <p:nvSpPr>
          <p:cNvPr id="6" name="Bulle narrative : ronde 5">
            <a:extLst>
              <a:ext uri="{FF2B5EF4-FFF2-40B4-BE49-F238E27FC236}">
                <a16:creationId xmlns:a16="http://schemas.microsoft.com/office/drawing/2014/main" id="{505BD7BB-BFFD-C9A5-B919-427FE9DF24F8}"/>
              </a:ext>
            </a:extLst>
          </p:cNvPr>
          <p:cNvSpPr/>
          <p:nvPr/>
        </p:nvSpPr>
        <p:spPr>
          <a:xfrm>
            <a:off x="9381897" y="1726002"/>
            <a:ext cx="2341140" cy="1446227"/>
          </a:xfrm>
          <a:prstGeom prst="wedgeEllipseCallout">
            <a:avLst>
              <a:gd name="adj1" fmla="val -57504"/>
              <a:gd name="adj2" fmla="val 4861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effective, constatée, réelle</a:t>
            </a:r>
          </a:p>
        </p:txBody>
      </p:sp>
      <p:sp>
        <p:nvSpPr>
          <p:cNvPr id="19" name="Rectangle 18">
            <a:extLst>
              <a:ext uri="{FF2B5EF4-FFF2-40B4-BE49-F238E27FC236}">
                <a16:creationId xmlns:a16="http://schemas.microsoft.com/office/drawing/2014/main" id="{8B4E18FF-DFD1-2F29-51CF-2F07F122EA97}"/>
              </a:ext>
            </a:extLst>
          </p:cNvPr>
          <p:cNvSpPr/>
          <p:nvPr/>
        </p:nvSpPr>
        <p:spPr>
          <a:xfrm>
            <a:off x="304560" y="3664502"/>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Ambitions liées à des vocations personnelles ou des obligations</a:t>
            </a:r>
          </a:p>
        </p:txBody>
      </p:sp>
      <p:sp>
        <p:nvSpPr>
          <p:cNvPr id="20" name="Rectangle 19">
            <a:extLst>
              <a:ext uri="{FF2B5EF4-FFF2-40B4-BE49-F238E27FC236}">
                <a16:creationId xmlns:a16="http://schemas.microsoft.com/office/drawing/2014/main" id="{527FCFAD-60C1-ADF4-E1A7-00D8831A6334}"/>
              </a:ext>
            </a:extLst>
          </p:cNvPr>
          <p:cNvSpPr/>
          <p:nvPr/>
        </p:nvSpPr>
        <p:spPr>
          <a:xfrm>
            <a:off x="304560" y="4655280"/>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Attentes suite à comparaison à des exemples de Communauté</a:t>
            </a:r>
          </a:p>
        </p:txBody>
      </p:sp>
      <p:sp>
        <p:nvSpPr>
          <p:cNvPr id="21" name="Rectangle 20">
            <a:extLst>
              <a:ext uri="{FF2B5EF4-FFF2-40B4-BE49-F238E27FC236}">
                <a16:creationId xmlns:a16="http://schemas.microsoft.com/office/drawing/2014/main" id="{035AAEC9-DD55-BFE3-4505-EBA150449270}"/>
              </a:ext>
            </a:extLst>
          </p:cNvPr>
          <p:cNvSpPr/>
          <p:nvPr/>
        </p:nvSpPr>
        <p:spPr>
          <a:xfrm>
            <a:off x="1923803" y="3664502"/>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Généralisations et suppositions sur la base des premiers événements</a:t>
            </a:r>
          </a:p>
        </p:txBody>
      </p:sp>
      <p:sp>
        <p:nvSpPr>
          <p:cNvPr id="22" name="Rectangle 21">
            <a:extLst>
              <a:ext uri="{FF2B5EF4-FFF2-40B4-BE49-F238E27FC236}">
                <a16:creationId xmlns:a16="http://schemas.microsoft.com/office/drawing/2014/main" id="{77FED140-0938-3A90-8BA7-A00FA429B4BD}"/>
              </a:ext>
            </a:extLst>
          </p:cNvPr>
          <p:cNvSpPr/>
          <p:nvPr/>
        </p:nvSpPr>
        <p:spPr>
          <a:xfrm>
            <a:off x="1923803" y="4655280"/>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Imagination sur la base de ce qui a déjà été présenté</a:t>
            </a:r>
          </a:p>
        </p:txBody>
      </p:sp>
      <p:sp>
        <p:nvSpPr>
          <p:cNvPr id="23" name="Rectangle 22">
            <a:extLst>
              <a:ext uri="{FF2B5EF4-FFF2-40B4-BE49-F238E27FC236}">
                <a16:creationId xmlns:a16="http://schemas.microsoft.com/office/drawing/2014/main" id="{EF633428-681D-3484-D00A-21C882794F17}"/>
              </a:ext>
            </a:extLst>
          </p:cNvPr>
          <p:cNvSpPr/>
          <p:nvPr/>
        </p:nvSpPr>
        <p:spPr>
          <a:xfrm>
            <a:off x="304559" y="5646058"/>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Espoirs liés à ce qui a été promis ou demandé</a:t>
            </a:r>
          </a:p>
        </p:txBody>
      </p:sp>
      <p:sp>
        <p:nvSpPr>
          <p:cNvPr id="24" name="Rectangle 23">
            <a:extLst>
              <a:ext uri="{FF2B5EF4-FFF2-40B4-BE49-F238E27FC236}">
                <a16:creationId xmlns:a16="http://schemas.microsoft.com/office/drawing/2014/main" id="{78A188D8-549D-6ACC-A4E7-D63F0A09B689}"/>
              </a:ext>
            </a:extLst>
          </p:cNvPr>
          <p:cNvSpPr/>
          <p:nvPr/>
        </p:nvSpPr>
        <p:spPr>
          <a:xfrm>
            <a:off x="1923802" y="5646058"/>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Motivations des membres</a:t>
            </a:r>
          </a:p>
        </p:txBody>
      </p:sp>
      <p:sp>
        <p:nvSpPr>
          <p:cNvPr id="25" name="Rectangle 24">
            <a:extLst>
              <a:ext uri="{FF2B5EF4-FFF2-40B4-BE49-F238E27FC236}">
                <a16:creationId xmlns:a16="http://schemas.microsoft.com/office/drawing/2014/main" id="{EFAC6B2D-D514-2C7B-DDE8-9F201C56E7B7}"/>
              </a:ext>
            </a:extLst>
          </p:cNvPr>
          <p:cNvSpPr/>
          <p:nvPr/>
        </p:nvSpPr>
        <p:spPr>
          <a:xfrm>
            <a:off x="4589689" y="3664502"/>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Mandats, contrats, prises d’engagements</a:t>
            </a:r>
          </a:p>
        </p:txBody>
      </p:sp>
      <p:sp>
        <p:nvSpPr>
          <p:cNvPr id="26" name="Rectangle 25">
            <a:extLst>
              <a:ext uri="{FF2B5EF4-FFF2-40B4-BE49-F238E27FC236}">
                <a16:creationId xmlns:a16="http://schemas.microsoft.com/office/drawing/2014/main" id="{A94D276C-7C84-4470-52AD-48634780DEC5}"/>
              </a:ext>
            </a:extLst>
          </p:cNvPr>
          <p:cNvSpPr/>
          <p:nvPr/>
        </p:nvSpPr>
        <p:spPr>
          <a:xfrm>
            <a:off x="4589689" y="4655280"/>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Présentations de la Communauté, brochures, plaquettes, vidéos</a:t>
            </a:r>
          </a:p>
        </p:txBody>
      </p:sp>
      <p:sp>
        <p:nvSpPr>
          <p:cNvPr id="27" name="Rectangle 26">
            <a:extLst>
              <a:ext uri="{FF2B5EF4-FFF2-40B4-BE49-F238E27FC236}">
                <a16:creationId xmlns:a16="http://schemas.microsoft.com/office/drawing/2014/main" id="{1230F6CB-2526-13FD-87BE-E3EEF126D25D}"/>
              </a:ext>
            </a:extLst>
          </p:cNvPr>
          <p:cNvSpPr/>
          <p:nvPr/>
        </p:nvSpPr>
        <p:spPr>
          <a:xfrm>
            <a:off x="6208932" y="3664502"/>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Résultats d’ateliers de cocréation, de conception. CR de réunions de décision.</a:t>
            </a:r>
          </a:p>
        </p:txBody>
      </p:sp>
      <p:sp>
        <p:nvSpPr>
          <p:cNvPr id="28" name="Rectangle 27">
            <a:extLst>
              <a:ext uri="{FF2B5EF4-FFF2-40B4-BE49-F238E27FC236}">
                <a16:creationId xmlns:a16="http://schemas.microsoft.com/office/drawing/2014/main" id="{31A8F934-9270-90C4-3D37-7ED2475C046B}"/>
              </a:ext>
            </a:extLst>
          </p:cNvPr>
          <p:cNvSpPr/>
          <p:nvPr/>
        </p:nvSpPr>
        <p:spPr>
          <a:xfrm>
            <a:off x="6208932" y="4655280"/>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Liste d’objectifs, raison d’être écrites, Manifeste, </a:t>
            </a:r>
          </a:p>
          <a:p>
            <a:pPr algn="ctr"/>
            <a:r>
              <a:rPr lang="fr-FR" sz="1200" dirty="0">
                <a:solidFill>
                  <a:schemeClr val="bg1"/>
                </a:solidFill>
                <a:sym typeface="Wingdings" panose="05000000000000000000" pitchFamily="2" charset="2"/>
              </a:rPr>
              <a:t>Pitch de la Communauté</a:t>
            </a:r>
          </a:p>
        </p:txBody>
      </p:sp>
      <p:sp>
        <p:nvSpPr>
          <p:cNvPr id="16" name="Rectangle 15">
            <a:extLst>
              <a:ext uri="{FF2B5EF4-FFF2-40B4-BE49-F238E27FC236}">
                <a16:creationId xmlns:a16="http://schemas.microsoft.com/office/drawing/2014/main" id="{8A2EB12F-542A-2636-6A31-2F14479A7819}"/>
              </a:ext>
            </a:extLst>
          </p:cNvPr>
          <p:cNvSpPr/>
          <p:nvPr/>
        </p:nvSpPr>
        <p:spPr>
          <a:xfrm>
            <a:off x="8874306" y="3664502"/>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Résultats de sondages, d’enquêtes de satisfaction, etc.</a:t>
            </a:r>
          </a:p>
        </p:txBody>
      </p:sp>
      <p:sp>
        <p:nvSpPr>
          <p:cNvPr id="17" name="Rectangle 16">
            <a:extLst>
              <a:ext uri="{FF2B5EF4-FFF2-40B4-BE49-F238E27FC236}">
                <a16:creationId xmlns:a16="http://schemas.microsoft.com/office/drawing/2014/main" id="{A4FFFCCB-0CF4-AE91-4B07-20A9B7ACF078}"/>
              </a:ext>
            </a:extLst>
          </p:cNvPr>
          <p:cNvSpPr/>
          <p:nvPr/>
        </p:nvSpPr>
        <p:spPr>
          <a:xfrm>
            <a:off x="8874306" y="4655280"/>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Verbatims, expression des membres sur leur vécu </a:t>
            </a:r>
          </a:p>
        </p:txBody>
      </p:sp>
      <p:sp>
        <p:nvSpPr>
          <p:cNvPr id="18" name="Rectangle 17">
            <a:extLst>
              <a:ext uri="{FF2B5EF4-FFF2-40B4-BE49-F238E27FC236}">
                <a16:creationId xmlns:a16="http://schemas.microsoft.com/office/drawing/2014/main" id="{E818BEAE-9BC0-0A1D-6CEB-0278A57B7DA8}"/>
              </a:ext>
            </a:extLst>
          </p:cNvPr>
          <p:cNvSpPr/>
          <p:nvPr/>
        </p:nvSpPr>
        <p:spPr>
          <a:xfrm>
            <a:off x="10493549" y="3664502"/>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Notes en fin d’événements ou de contenus, retours, commentaires, </a:t>
            </a:r>
            <a:r>
              <a:rPr lang="fr-FR" sz="1200" dirty="0" err="1">
                <a:solidFill>
                  <a:schemeClr val="bg1"/>
                </a:solidFill>
                <a:sym typeface="Wingdings" panose="05000000000000000000" pitchFamily="2" charset="2"/>
              </a:rPr>
              <a:t>CRs</a:t>
            </a:r>
            <a:r>
              <a:rPr lang="fr-FR" sz="1200" dirty="0">
                <a:solidFill>
                  <a:schemeClr val="bg1"/>
                </a:solidFill>
                <a:sym typeface="Wingdings" panose="05000000000000000000" pitchFamily="2" charset="2"/>
              </a:rPr>
              <a:t> …</a:t>
            </a:r>
          </a:p>
        </p:txBody>
      </p:sp>
      <p:sp>
        <p:nvSpPr>
          <p:cNvPr id="29" name="Rectangle 28">
            <a:extLst>
              <a:ext uri="{FF2B5EF4-FFF2-40B4-BE49-F238E27FC236}">
                <a16:creationId xmlns:a16="http://schemas.microsoft.com/office/drawing/2014/main" id="{6ADE63E8-8827-49C6-8AB6-3285B38C9EC2}"/>
              </a:ext>
            </a:extLst>
          </p:cNvPr>
          <p:cNvSpPr/>
          <p:nvPr/>
        </p:nvSpPr>
        <p:spPr>
          <a:xfrm>
            <a:off x="10493549" y="4655280"/>
            <a:ext cx="1498513" cy="907499"/>
          </a:xfrm>
          <a:prstGeom prst="rect">
            <a:avLst/>
          </a:prstGeom>
          <a:solidFill>
            <a:srgbClr val="3494B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bg1"/>
                </a:solidFill>
                <a:sym typeface="Wingdings" panose="05000000000000000000" pitchFamily="2" charset="2"/>
              </a:rPr>
              <a:t>Actions faites en complément de l’expérience communautaire </a:t>
            </a:r>
          </a:p>
        </p:txBody>
      </p:sp>
    </p:spTree>
    <p:extLst>
      <p:ext uri="{BB962C8B-B14F-4D97-AF65-F5344CB8AC3E}">
        <p14:creationId xmlns:p14="http://schemas.microsoft.com/office/powerpoint/2010/main" val="8254648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77E3838-1990-434A-0BD5-DD4AAF11724E}"/>
              </a:ext>
            </a:extLst>
          </p:cNvPr>
          <p:cNvSpPr>
            <a:spLocks noGrp="1"/>
          </p:cNvSpPr>
          <p:nvPr>
            <p:ph type="title"/>
          </p:nvPr>
        </p:nvSpPr>
        <p:spPr/>
        <p:txBody>
          <a:bodyPr/>
          <a:lstStyle/>
          <a:p>
            <a:r>
              <a:rPr lang="fr-FR" dirty="0"/>
              <a:t>Nature des tensions sur la valeur</a:t>
            </a:r>
            <a:br>
              <a:rPr lang="fr-FR" dirty="0"/>
            </a:br>
            <a:r>
              <a:rPr lang="fr-FR" dirty="0"/>
              <a:t>Exemples de tensions</a:t>
            </a:r>
          </a:p>
        </p:txBody>
      </p:sp>
      <p:sp>
        <p:nvSpPr>
          <p:cNvPr id="4" name="Phylactère : pensées 3">
            <a:extLst>
              <a:ext uri="{FF2B5EF4-FFF2-40B4-BE49-F238E27FC236}">
                <a16:creationId xmlns:a16="http://schemas.microsoft.com/office/drawing/2014/main" id="{6FAA267B-3B90-DCC9-45EF-75B49C9D9327}"/>
              </a:ext>
            </a:extLst>
          </p:cNvPr>
          <p:cNvSpPr/>
          <p:nvPr/>
        </p:nvSpPr>
        <p:spPr>
          <a:xfrm>
            <a:off x="473444" y="3347852"/>
            <a:ext cx="2768367" cy="1635853"/>
          </a:xfrm>
          <a:prstGeom prst="cloudCallout">
            <a:avLst>
              <a:gd name="adj1" fmla="val -24772"/>
              <a:gd name="adj2" fmla="val 4506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attendue, imaginée, espérée</a:t>
            </a:r>
          </a:p>
        </p:txBody>
      </p:sp>
      <p:sp>
        <p:nvSpPr>
          <p:cNvPr id="5" name="Parchemin : horizontal 4">
            <a:extLst>
              <a:ext uri="{FF2B5EF4-FFF2-40B4-BE49-F238E27FC236}">
                <a16:creationId xmlns:a16="http://schemas.microsoft.com/office/drawing/2014/main" id="{60F39A25-E9EF-A5B4-22D1-4E3620087A54}"/>
              </a:ext>
            </a:extLst>
          </p:cNvPr>
          <p:cNvSpPr/>
          <p:nvPr/>
        </p:nvSpPr>
        <p:spPr>
          <a:xfrm>
            <a:off x="4749280" y="3280707"/>
            <a:ext cx="2684477" cy="1539904"/>
          </a:xfrm>
          <a:prstGeom prst="horizontalScroll">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exprimée, officialisée, visée</a:t>
            </a:r>
          </a:p>
        </p:txBody>
      </p:sp>
      <p:sp>
        <p:nvSpPr>
          <p:cNvPr id="6" name="Bulle narrative : ronde 5">
            <a:extLst>
              <a:ext uri="{FF2B5EF4-FFF2-40B4-BE49-F238E27FC236}">
                <a16:creationId xmlns:a16="http://schemas.microsoft.com/office/drawing/2014/main" id="{505BD7BB-BFFD-C9A5-B919-427FE9DF24F8}"/>
              </a:ext>
            </a:extLst>
          </p:cNvPr>
          <p:cNvSpPr/>
          <p:nvPr/>
        </p:nvSpPr>
        <p:spPr>
          <a:xfrm>
            <a:off x="9377416" y="3280707"/>
            <a:ext cx="2341140" cy="1446227"/>
          </a:xfrm>
          <a:prstGeom prst="wedgeEllipseCallout">
            <a:avLst>
              <a:gd name="adj1" fmla="val -57504"/>
              <a:gd name="adj2" fmla="val 4861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effective, constatée, réelle</a:t>
            </a:r>
          </a:p>
        </p:txBody>
      </p:sp>
      <p:sp>
        <p:nvSpPr>
          <p:cNvPr id="34" name="Flèche : double flèche horizontale 33">
            <a:extLst>
              <a:ext uri="{FF2B5EF4-FFF2-40B4-BE49-F238E27FC236}">
                <a16:creationId xmlns:a16="http://schemas.microsoft.com/office/drawing/2014/main" id="{EAB274FA-F271-B223-DE7B-F061A9BECD4A}"/>
              </a:ext>
            </a:extLst>
          </p:cNvPr>
          <p:cNvSpPr/>
          <p:nvPr/>
        </p:nvSpPr>
        <p:spPr>
          <a:xfrm>
            <a:off x="2662079" y="3773987"/>
            <a:ext cx="2448000" cy="675508"/>
          </a:xfrm>
          <a:prstGeom prst="leftRight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solidFill>
                <a:schemeClr val="tx1"/>
              </a:solidFill>
            </a:endParaRPr>
          </a:p>
        </p:txBody>
      </p:sp>
      <p:sp>
        <p:nvSpPr>
          <p:cNvPr id="40" name="Flèche : double flèche horizontale 39">
            <a:extLst>
              <a:ext uri="{FF2B5EF4-FFF2-40B4-BE49-F238E27FC236}">
                <a16:creationId xmlns:a16="http://schemas.microsoft.com/office/drawing/2014/main" id="{B07998DB-3C3E-5F12-5A3E-7ADB19696F15}"/>
              </a:ext>
            </a:extLst>
          </p:cNvPr>
          <p:cNvSpPr/>
          <p:nvPr/>
        </p:nvSpPr>
        <p:spPr>
          <a:xfrm>
            <a:off x="7208048" y="3546659"/>
            <a:ext cx="2684476" cy="1008000"/>
          </a:xfrm>
          <a:prstGeom prst="leftRight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solidFill>
                <a:schemeClr val="tx1"/>
              </a:solidFill>
            </a:endParaRPr>
          </a:p>
        </p:txBody>
      </p:sp>
      <p:pic>
        <p:nvPicPr>
          <p:cNvPr id="9" name="Graphique 8" descr="Actualiser avec un remplissage uni">
            <a:extLst>
              <a:ext uri="{FF2B5EF4-FFF2-40B4-BE49-F238E27FC236}">
                <a16:creationId xmlns:a16="http://schemas.microsoft.com/office/drawing/2014/main" id="{20A8D188-0F6B-A979-3C27-28CB2B284C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1160274" y="2664011"/>
            <a:ext cx="1233391" cy="1233391"/>
          </a:xfrm>
          <a:prstGeom prst="rect">
            <a:avLst/>
          </a:prstGeom>
        </p:spPr>
      </p:pic>
      <p:sp>
        <p:nvSpPr>
          <p:cNvPr id="10" name="Rectangle 9">
            <a:extLst>
              <a:ext uri="{FF2B5EF4-FFF2-40B4-BE49-F238E27FC236}">
                <a16:creationId xmlns:a16="http://schemas.microsoft.com/office/drawing/2014/main" id="{AEC4FFB6-5690-F9F6-93C7-5E786AB47594}"/>
              </a:ext>
            </a:extLst>
          </p:cNvPr>
          <p:cNvSpPr/>
          <p:nvPr/>
        </p:nvSpPr>
        <p:spPr>
          <a:xfrm>
            <a:off x="794641" y="2196650"/>
            <a:ext cx="2119717" cy="48253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Attentes différentes sur la valeur 🤼entre différentes personnes</a:t>
            </a:r>
          </a:p>
        </p:txBody>
      </p:sp>
      <p:pic>
        <p:nvPicPr>
          <p:cNvPr id="13" name="Graphique 12" descr="Actualiser avec un remplissage uni">
            <a:extLst>
              <a:ext uri="{FF2B5EF4-FFF2-40B4-BE49-F238E27FC236}">
                <a16:creationId xmlns:a16="http://schemas.microsoft.com/office/drawing/2014/main" id="{7F32CA41-64D9-FE18-84EC-704D726EBF6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5470877" y="2664011"/>
            <a:ext cx="1233391" cy="1233391"/>
          </a:xfrm>
          <a:prstGeom prst="rect">
            <a:avLst/>
          </a:prstGeom>
        </p:spPr>
      </p:pic>
      <p:sp>
        <p:nvSpPr>
          <p:cNvPr id="14" name="Rectangle 13">
            <a:extLst>
              <a:ext uri="{FF2B5EF4-FFF2-40B4-BE49-F238E27FC236}">
                <a16:creationId xmlns:a16="http://schemas.microsoft.com/office/drawing/2014/main" id="{16C09A83-C8A0-BD74-6815-EAB3483F11DA}"/>
              </a:ext>
            </a:extLst>
          </p:cNvPr>
          <p:cNvSpPr/>
          <p:nvPr/>
        </p:nvSpPr>
        <p:spPr>
          <a:xfrm>
            <a:off x="5006635" y="2215972"/>
            <a:ext cx="2119717" cy="48253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Désaccords officialisés ou connus 🤼entre différentes personnes</a:t>
            </a:r>
          </a:p>
        </p:txBody>
      </p:sp>
      <p:pic>
        <p:nvPicPr>
          <p:cNvPr id="15" name="Graphique 14" descr="Actualiser avec un remplissage uni">
            <a:extLst>
              <a:ext uri="{FF2B5EF4-FFF2-40B4-BE49-F238E27FC236}">
                <a16:creationId xmlns:a16="http://schemas.microsoft.com/office/drawing/2014/main" id="{A1C2D5D2-1726-5A25-67FC-60D7AAEBB46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9697590" y="2522195"/>
            <a:ext cx="1233391" cy="1233391"/>
          </a:xfrm>
          <a:prstGeom prst="rect">
            <a:avLst/>
          </a:prstGeom>
        </p:spPr>
      </p:pic>
      <p:sp>
        <p:nvSpPr>
          <p:cNvPr id="16" name="Rectangle 15">
            <a:extLst>
              <a:ext uri="{FF2B5EF4-FFF2-40B4-BE49-F238E27FC236}">
                <a16:creationId xmlns:a16="http://schemas.microsoft.com/office/drawing/2014/main" id="{2360B5BF-93B7-4122-AFDE-C976976C633E}"/>
              </a:ext>
            </a:extLst>
          </p:cNvPr>
          <p:cNvSpPr/>
          <p:nvPr/>
        </p:nvSpPr>
        <p:spPr>
          <a:xfrm>
            <a:off x="9218629" y="2023599"/>
            <a:ext cx="2256260" cy="658245"/>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Sentiment d’inégalité ou d’injustice 🤼entre différentes personnes , valeur tirée trop faible par rapport à la contribution</a:t>
            </a:r>
          </a:p>
        </p:txBody>
      </p:sp>
      <p:sp>
        <p:nvSpPr>
          <p:cNvPr id="18" name="Rectangle 17">
            <a:extLst>
              <a:ext uri="{FF2B5EF4-FFF2-40B4-BE49-F238E27FC236}">
                <a16:creationId xmlns:a16="http://schemas.microsoft.com/office/drawing/2014/main" id="{C15A618C-C990-8696-7976-0E553B1182B4}"/>
              </a:ext>
            </a:extLst>
          </p:cNvPr>
          <p:cNvSpPr/>
          <p:nvPr/>
        </p:nvSpPr>
        <p:spPr>
          <a:xfrm>
            <a:off x="2805623" y="4657277"/>
            <a:ext cx="2119717" cy="48253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Non-expression ou mauvaise expression de la valeur attendue au moment des officialisations</a:t>
            </a:r>
          </a:p>
        </p:txBody>
      </p:sp>
      <p:sp>
        <p:nvSpPr>
          <p:cNvPr id="19" name="Rectangle 18">
            <a:extLst>
              <a:ext uri="{FF2B5EF4-FFF2-40B4-BE49-F238E27FC236}">
                <a16:creationId xmlns:a16="http://schemas.microsoft.com/office/drawing/2014/main" id="{9242D995-0E75-8D16-7684-42B1608F50C1}"/>
              </a:ext>
            </a:extLst>
          </p:cNvPr>
          <p:cNvSpPr/>
          <p:nvPr/>
        </p:nvSpPr>
        <p:spPr>
          <a:xfrm>
            <a:off x="2805621" y="5210109"/>
            <a:ext cx="2119717" cy="48253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Flou sur les décisions prises vis-à-vis de la valeur attendue</a:t>
            </a:r>
          </a:p>
        </p:txBody>
      </p:sp>
      <p:sp>
        <p:nvSpPr>
          <p:cNvPr id="20" name="Rectangle 19">
            <a:extLst>
              <a:ext uri="{FF2B5EF4-FFF2-40B4-BE49-F238E27FC236}">
                <a16:creationId xmlns:a16="http://schemas.microsoft.com/office/drawing/2014/main" id="{E46A111B-1305-39A1-3AD7-4560FCE86B0C}"/>
              </a:ext>
            </a:extLst>
          </p:cNvPr>
          <p:cNvSpPr/>
          <p:nvPr/>
        </p:nvSpPr>
        <p:spPr>
          <a:xfrm>
            <a:off x="2805621" y="5762942"/>
            <a:ext cx="2119717" cy="48253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Décisions qui ne sont pas en accord avec les motivations ou attentes</a:t>
            </a:r>
          </a:p>
        </p:txBody>
      </p:sp>
      <p:sp>
        <p:nvSpPr>
          <p:cNvPr id="21" name="Rectangle 20">
            <a:extLst>
              <a:ext uri="{FF2B5EF4-FFF2-40B4-BE49-F238E27FC236}">
                <a16:creationId xmlns:a16="http://schemas.microsoft.com/office/drawing/2014/main" id="{5FEFE9F8-D24A-C060-75E9-32896A9CFBDF}"/>
              </a:ext>
            </a:extLst>
          </p:cNvPr>
          <p:cNvSpPr/>
          <p:nvPr/>
        </p:nvSpPr>
        <p:spPr>
          <a:xfrm>
            <a:off x="7433757" y="4983705"/>
            <a:ext cx="2119717" cy="48253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Inefficacité de réalisation</a:t>
            </a:r>
          </a:p>
          <a:p>
            <a:pPr algn="ctr"/>
            <a:r>
              <a:rPr lang="fr-FR" sz="1100" dirty="0">
                <a:solidFill>
                  <a:schemeClr val="tx1"/>
                </a:solidFill>
              </a:rPr>
              <a:t>Promesses non tenues</a:t>
            </a:r>
          </a:p>
        </p:txBody>
      </p:sp>
      <p:sp>
        <p:nvSpPr>
          <p:cNvPr id="22" name="Rectangle 21">
            <a:extLst>
              <a:ext uri="{FF2B5EF4-FFF2-40B4-BE49-F238E27FC236}">
                <a16:creationId xmlns:a16="http://schemas.microsoft.com/office/drawing/2014/main" id="{6EF987A7-84DD-D994-0D2A-544093B3B4A1}"/>
              </a:ext>
            </a:extLst>
          </p:cNvPr>
          <p:cNvSpPr/>
          <p:nvPr/>
        </p:nvSpPr>
        <p:spPr>
          <a:xfrm>
            <a:off x="7433924" y="5527092"/>
            <a:ext cx="2119717" cy="48253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Décalage souhaits-réalité, vente de rêves, ambitions déliées de la faisabilité, déceptions</a:t>
            </a:r>
          </a:p>
        </p:txBody>
      </p:sp>
      <p:sp>
        <p:nvSpPr>
          <p:cNvPr id="23" name="Rectangle 22">
            <a:extLst>
              <a:ext uri="{FF2B5EF4-FFF2-40B4-BE49-F238E27FC236}">
                <a16:creationId xmlns:a16="http://schemas.microsoft.com/office/drawing/2014/main" id="{E9D1F5EF-502E-153A-77F6-DD34B8581AA3}"/>
              </a:ext>
            </a:extLst>
          </p:cNvPr>
          <p:cNvSpPr/>
          <p:nvPr/>
        </p:nvSpPr>
        <p:spPr>
          <a:xfrm>
            <a:off x="7433755" y="6089370"/>
            <a:ext cx="2119717" cy="48253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Choc de la réalité, nouveautés pas présentes « sur le papier » ou au moment d’officialiser</a:t>
            </a:r>
          </a:p>
        </p:txBody>
      </p:sp>
      <p:sp>
        <p:nvSpPr>
          <p:cNvPr id="24" name="Rectangle 23">
            <a:extLst>
              <a:ext uri="{FF2B5EF4-FFF2-40B4-BE49-F238E27FC236}">
                <a16:creationId xmlns:a16="http://schemas.microsoft.com/office/drawing/2014/main" id="{F6F8D478-C42E-5B63-7E50-C1163652A89B}"/>
              </a:ext>
            </a:extLst>
          </p:cNvPr>
          <p:cNvSpPr/>
          <p:nvPr/>
        </p:nvSpPr>
        <p:spPr>
          <a:xfrm>
            <a:off x="9218629" y="1283807"/>
            <a:ext cx="2256260" cy="658245"/>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Différences de vécu, d’interprétation et de satisfaction des résultats</a:t>
            </a:r>
          </a:p>
        </p:txBody>
      </p:sp>
      <p:sp>
        <p:nvSpPr>
          <p:cNvPr id="3" name="Rectangle 19">
            <a:extLst>
              <a:ext uri="{FF2B5EF4-FFF2-40B4-BE49-F238E27FC236}">
                <a16:creationId xmlns:a16="http://schemas.microsoft.com/office/drawing/2014/main" id="{ED228283-EC36-FA1D-5F00-70B78B861D01}"/>
              </a:ext>
            </a:extLst>
          </p:cNvPr>
          <p:cNvSpPr/>
          <p:nvPr/>
        </p:nvSpPr>
        <p:spPr>
          <a:xfrm>
            <a:off x="2805620" y="6291524"/>
            <a:ext cx="2119717" cy="482539"/>
          </a:xfrm>
          <a:prstGeom prst="rect">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Valeur imaginée pas toujours révélable </a:t>
            </a:r>
          </a:p>
        </p:txBody>
      </p:sp>
    </p:spTree>
    <p:extLst>
      <p:ext uri="{BB962C8B-B14F-4D97-AF65-F5344CB8AC3E}">
        <p14:creationId xmlns:p14="http://schemas.microsoft.com/office/powerpoint/2010/main" val="4025007192"/>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77E3838-1990-434A-0BD5-DD4AAF11724E}"/>
              </a:ext>
            </a:extLst>
          </p:cNvPr>
          <p:cNvSpPr>
            <a:spLocks noGrp="1"/>
          </p:cNvSpPr>
          <p:nvPr>
            <p:ph type="title"/>
          </p:nvPr>
        </p:nvSpPr>
        <p:spPr>
          <a:xfrm>
            <a:off x="838200" y="365126"/>
            <a:ext cx="10515600" cy="647899"/>
          </a:xfrm>
        </p:spPr>
        <p:txBody>
          <a:bodyPr>
            <a:noAutofit/>
          </a:bodyPr>
          <a:lstStyle/>
          <a:p>
            <a:r>
              <a:rPr lang="fr-FR" sz="3200" dirty="0"/>
              <a:t>Nature des tensions sur la valeur</a:t>
            </a:r>
            <a:br>
              <a:rPr lang="fr-FR" sz="3200" dirty="0"/>
            </a:br>
            <a:r>
              <a:rPr lang="fr-FR" sz="3200" dirty="0"/>
              <a:t>Exemples de situations</a:t>
            </a:r>
          </a:p>
        </p:txBody>
      </p:sp>
      <p:sp>
        <p:nvSpPr>
          <p:cNvPr id="42" name="Non égal 41">
            <a:extLst>
              <a:ext uri="{FF2B5EF4-FFF2-40B4-BE49-F238E27FC236}">
                <a16:creationId xmlns:a16="http://schemas.microsoft.com/office/drawing/2014/main" id="{80A6873B-3A40-EA35-EAD6-8B96F7F4EB1A}"/>
              </a:ext>
            </a:extLst>
          </p:cNvPr>
          <p:cNvSpPr/>
          <p:nvPr/>
        </p:nvSpPr>
        <p:spPr>
          <a:xfrm>
            <a:off x="7927414" y="3429000"/>
            <a:ext cx="956345" cy="889335"/>
          </a:xfrm>
          <a:prstGeom prst="mathNotEqual">
            <a:avLst/>
          </a:prstGeom>
          <a:solidFill>
            <a:srgbClr val="FF99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44" name="Non égal 43">
            <a:extLst>
              <a:ext uri="{FF2B5EF4-FFF2-40B4-BE49-F238E27FC236}">
                <a16:creationId xmlns:a16="http://schemas.microsoft.com/office/drawing/2014/main" id="{06C06512-83E6-8E18-0802-30728B598DAE}"/>
              </a:ext>
            </a:extLst>
          </p:cNvPr>
          <p:cNvSpPr/>
          <p:nvPr/>
        </p:nvSpPr>
        <p:spPr>
          <a:xfrm>
            <a:off x="3420362" y="3559152"/>
            <a:ext cx="956345" cy="889335"/>
          </a:xfrm>
          <a:prstGeom prst="mathNotEqual">
            <a:avLst/>
          </a:prstGeom>
          <a:solidFill>
            <a:srgbClr val="FF99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45" name="Phylactère : pensées 44">
            <a:extLst>
              <a:ext uri="{FF2B5EF4-FFF2-40B4-BE49-F238E27FC236}">
                <a16:creationId xmlns:a16="http://schemas.microsoft.com/office/drawing/2014/main" id="{AA924FB6-FD63-3112-2BEF-4FF62C4B62A6}"/>
              </a:ext>
            </a:extLst>
          </p:cNvPr>
          <p:cNvSpPr/>
          <p:nvPr/>
        </p:nvSpPr>
        <p:spPr>
          <a:xfrm>
            <a:off x="473444" y="3347852"/>
            <a:ext cx="2768367" cy="1635853"/>
          </a:xfrm>
          <a:prstGeom prst="cloudCallout">
            <a:avLst>
              <a:gd name="adj1" fmla="val -24772"/>
              <a:gd name="adj2" fmla="val 4506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attendue, imaginée, espérée</a:t>
            </a:r>
          </a:p>
        </p:txBody>
      </p:sp>
      <p:sp>
        <p:nvSpPr>
          <p:cNvPr id="46" name="Parchemin : horizontal 45">
            <a:extLst>
              <a:ext uri="{FF2B5EF4-FFF2-40B4-BE49-F238E27FC236}">
                <a16:creationId xmlns:a16="http://schemas.microsoft.com/office/drawing/2014/main" id="{1F732D49-0522-323A-1D39-9ED77751DBD5}"/>
              </a:ext>
            </a:extLst>
          </p:cNvPr>
          <p:cNvSpPr/>
          <p:nvPr/>
        </p:nvSpPr>
        <p:spPr>
          <a:xfrm>
            <a:off x="4749280" y="3280707"/>
            <a:ext cx="2684477" cy="1539904"/>
          </a:xfrm>
          <a:prstGeom prst="horizontalScroll">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exprimée, officialisée, visée</a:t>
            </a:r>
          </a:p>
        </p:txBody>
      </p:sp>
      <p:sp>
        <p:nvSpPr>
          <p:cNvPr id="47" name="Bulle narrative : ronde 46">
            <a:extLst>
              <a:ext uri="{FF2B5EF4-FFF2-40B4-BE49-F238E27FC236}">
                <a16:creationId xmlns:a16="http://schemas.microsoft.com/office/drawing/2014/main" id="{D1F56852-2205-FDE6-498B-7CCE5DAAB091}"/>
              </a:ext>
            </a:extLst>
          </p:cNvPr>
          <p:cNvSpPr/>
          <p:nvPr/>
        </p:nvSpPr>
        <p:spPr>
          <a:xfrm>
            <a:off x="9377416" y="3280707"/>
            <a:ext cx="2341140" cy="1446227"/>
          </a:xfrm>
          <a:prstGeom prst="wedgeEllipseCallout">
            <a:avLst>
              <a:gd name="adj1" fmla="val -57504"/>
              <a:gd name="adj2" fmla="val 4861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effective, constatée, réelle</a:t>
            </a:r>
          </a:p>
        </p:txBody>
      </p:sp>
      <p:sp>
        <p:nvSpPr>
          <p:cNvPr id="9" name="Rectangle 8">
            <a:extLst>
              <a:ext uri="{FF2B5EF4-FFF2-40B4-BE49-F238E27FC236}">
                <a16:creationId xmlns:a16="http://schemas.microsoft.com/office/drawing/2014/main" id="{DBBC3371-BE57-4792-5134-87B3A73B297F}"/>
              </a:ext>
            </a:extLst>
          </p:cNvPr>
          <p:cNvSpPr/>
          <p:nvPr/>
        </p:nvSpPr>
        <p:spPr>
          <a:xfrm>
            <a:off x="2425867" y="4983705"/>
            <a:ext cx="2945333" cy="150917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Avant le lancement, les fondateurs imaginaient la Communauté pendant un créneau régulier du temps de travail. </a:t>
            </a:r>
          </a:p>
          <a:p>
            <a:pPr algn="ctr"/>
            <a:endParaRPr lang="fr-FR" sz="1000" dirty="0">
              <a:solidFill>
                <a:schemeClr val="tx1"/>
              </a:solidFill>
            </a:endParaRPr>
          </a:p>
          <a:p>
            <a:pPr algn="ctr"/>
            <a:r>
              <a:rPr lang="fr-FR" sz="1000" dirty="0">
                <a:solidFill>
                  <a:schemeClr val="tx1"/>
                </a:solidFill>
              </a:rPr>
              <a:t>Au final, la décision est de n’organiser des événements que pendant le temps personnel et de pause, ce qui donne moins de temps libre.</a:t>
            </a:r>
          </a:p>
        </p:txBody>
      </p:sp>
      <p:sp>
        <p:nvSpPr>
          <p:cNvPr id="10" name="Rectangle 9">
            <a:extLst>
              <a:ext uri="{FF2B5EF4-FFF2-40B4-BE49-F238E27FC236}">
                <a16:creationId xmlns:a16="http://schemas.microsoft.com/office/drawing/2014/main" id="{F051B9F5-CB53-437C-1B75-290C3DCF9F1F}"/>
              </a:ext>
            </a:extLst>
          </p:cNvPr>
          <p:cNvSpPr/>
          <p:nvPr/>
        </p:nvSpPr>
        <p:spPr>
          <a:xfrm>
            <a:off x="7086941" y="4983705"/>
            <a:ext cx="2945333" cy="150917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Officiellement, la Communauté ne sollicite les membres que pendant leur temps de travail. Dans les faits, les membres se retrouvent avec une grande partie des activités, voire des obligations, pendant leur temps personnel.</a:t>
            </a:r>
          </a:p>
        </p:txBody>
      </p:sp>
      <p:sp>
        <p:nvSpPr>
          <p:cNvPr id="11" name="Rectangle 10">
            <a:extLst>
              <a:ext uri="{FF2B5EF4-FFF2-40B4-BE49-F238E27FC236}">
                <a16:creationId xmlns:a16="http://schemas.microsoft.com/office/drawing/2014/main" id="{F02E271A-9F20-D819-6DCC-A4105DFED122}"/>
              </a:ext>
            </a:extLst>
          </p:cNvPr>
          <p:cNvSpPr/>
          <p:nvPr/>
        </p:nvSpPr>
        <p:spPr>
          <a:xfrm>
            <a:off x="4614905" y="1321896"/>
            <a:ext cx="2945333" cy="153990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Il y a un fort désaccord entre membres sur la possibilité de participation des prestataires externes à la Communauté.</a:t>
            </a:r>
          </a:p>
          <a:p>
            <a:pPr algn="ctr"/>
            <a:r>
              <a:rPr lang="fr-FR" sz="1000" dirty="0">
                <a:solidFill>
                  <a:schemeClr val="tx1"/>
                </a:solidFill>
              </a:rPr>
              <a:t> </a:t>
            </a:r>
          </a:p>
          <a:p>
            <a:pPr algn="ctr"/>
            <a:r>
              <a:rPr lang="fr-FR" sz="1000" dirty="0">
                <a:solidFill>
                  <a:schemeClr val="tx1"/>
                </a:solidFill>
              </a:rPr>
              <a:t>Certains aimeraient profiter de la Communauté pour resserrer les liens entre les personnes qui resteront dans le département sur le long terme, d’autres aimeraient profiter pour apprendre des prestataires.</a:t>
            </a:r>
          </a:p>
          <a:p>
            <a:pPr algn="ctr"/>
            <a:endParaRPr lang="fr-FR" sz="1000" dirty="0">
              <a:solidFill>
                <a:schemeClr val="tx1"/>
              </a:solidFill>
            </a:endParaRPr>
          </a:p>
          <a:p>
            <a:pPr algn="ctr"/>
            <a:r>
              <a:rPr lang="fr-FR" sz="1000" dirty="0">
                <a:solidFill>
                  <a:schemeClr val="tx1"/>
                </a:solidFill>
              </a:rPr>
              <a:t>Les règles de Communauté précisent mal ce point.</a:t>
            </a:r>
          </a:p>
        </p:txBody>
      </p:sp>
      <p:sp>
        <p:nvSpPr>
          <p:cNvPr id="12" name="Rectangle 11">
            <a:extLst>
              <a:ext uri="{FF2B5EF4-FFF2-40B4-BE49-F238E27FC236}">
                <a16:creationId xmlns:a16="http://schemas.microsoft.com/office/drawing/2014/main" id="{28598676-4116-5703-BCC9-ADF49AC1C0BE}"/>
              </a:ext>
            </a:extLst>
          </p:cNvPr>
          <p:cNvSpPr/>
          <p:nvPr/>
        </p:nvSpPr>
        <p:spPr>
          <a:xfrm>
            <a:off x="296478" y="1337733"/>
            <a:ext cx="2945333" cy="150917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Certains membres souhaitent une Communauté pour avoir des sujets stimulants, parfois reposants, une bouffée d’oxygène. </a:t>
            </a:r>
          </a:p>
          <a:p>
            <a:pPr algn="ctr"/>
            <a:r>
              <a:rPr lang="fr-FR" sz="1000" dirty="0">
                <a:solidFill>
                  <a:schemeClr val="tx1"/>
                </a:solidFill>
              </a:rPr>
              <a:t>D’autres auraient vraiment préféré ce créneau pour traiter des sujets opérationnels, et prendre des décisions fortes.</a:t>
            </a:r>
          </a:p>
          <a:p>
            <a:pPr algn="ctr"/>
            <a:r>
              <a:rPr lang="fr-FR" sz="1000" dirty="0">
                <a:solidFill>
                  <a:schemeClr val="tx1"/>
                </a:solidFill>
              </a:rPr>
              <a:t>Personne ne s’est exprimé directement dessus encore.</a:t>
            </a:r>
          </a:p>
        </p:txBody>
      </p:sp>
      <p:sp>
        <p:nvSpPr>
          <p:cNvPr id="13" name="Rectangle 12">
            <a:extLst>
              <a:ext uri="{FF2B5EF4-FFF2-40B4-BE49-F238E27FC236}">
                <a16:creationId xmlns:a16="http://schemas.microsoft.com/office/drawing/2014/main" id="{ECA3A0D8-C2FE-A093-57ED-9685F659D08D}"/>
              </a:ext>
            </a:extLst>
          </p:cNvPr>
          <p:cNvSpPr/>
          <p:nvPr/>
        </p:nvSpPr>
        <p:spPr>
          <a:xfrm>
            <a:off x="8933332" y="1325060"/>
            <a:ext cx="2945333" cy="150917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Certains membres ont l’impression de tirer beaucoup de choses de la Communauté pour assez peu d’efforts.</a:t>
            </a:r>
          </a:p>
          <a:p>
            <a:pPr algn="ctr"/>
            <a:r>
              <a:rPr lang="fr-FR" sz="1000" dirty="0">
                <a:solidFill>
                  <a:schemeClr val="tx1"/>
                </a:solidFill>
              </a:rPr>
              <a:t>D’autres membres ont l’impression de devoir apprendre et s’adapter beaucoup, pour n’en tirer que pas grand-chose d’utile.</a:t>
            </a:r>
          </a:p>
        </p:txBody>
      </p:sp>
      <p:pic>
        <p:nvPicPr>
          <p:cNvPr id="14" name="Graphique 13" descr="Actualiser avec un remplissage uni">
            <a:extLst>
              <a:ext uri="{FF2B5EF4-FFF2-40B4-BE49-F238E27FC236}">
                <a16:creationId xmlns:a16="http://schemas.microsoft.com/office/drawing/2014/main" id="{FE0EBE1F-E056-B86A-369C-212040E15CB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1160274" y="2664011"/>
            <a:ext cx="1233391" cy="1233391"/>
          </a:xfrm>
          <a:prstGeom prst="rect">
            <a:avLst/>
          </a:prstGeom>
        </p:spPr>
      </p:pic>
      <p:pic>
        <p:nvPicPr>
          <p:cNvPr id="15" name="Graphique 14" descr="Actualiser avec un remplissage uni">
            <a:extLst>
              <a:ext uri="{FF2B5EF4-FFF2-40B4-BE49-F238E27FC236}">
                <a16:creationId xmlns:a16="http://schemas.microsoft.com/office/drawing/2014/main" id="{388A9C5E-25BF-8809-CEB3-11138BCA5D7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5470877" y="2664011"/>
            <a:ext cx="1233391" cy="1233391"/>
          </a:xfrm>
          <a:prstGeom prst="rect">
            <a:avLst/>
          </a:prstGeom>
        </p:spPr>
      </p:pic>
      <p:pic>
        <p:nvPicPr>
          <p:cNvPr id="16" name="Graphique 15" descr="Actualiser avec un remplissage uni">
            <a:extLst>
              <a:ext uri="{FF2B5EF4-FFF2-40B4-BE49-F238E27FC236}">
                <a16:creationId xmlns:a16="http://schemas.microsoft.com/office/drawing/2014/main" id="{3B548473-2633-37B7-F440-DFEFE1ADC6C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9697590" y="2522195"/>
            <a:ext cx="1233391" cy="1233391"/>
          </a:xfrm>
          <a:prstGeom prst="rect">
            <a:avLst/>
          </a:prstGeom>
        </p:spPr>
      </p:pic>
    </p:spTree>
    <p:extLst>
      <p:ext uri="{BB962C8B-B14F-4D97-AF65-F5344CB8AC3E}">
        <p14:creationId xmlns:p14="http://schemas.microsoft.com/office/powerpoint/2010/main" val="2636162761"/>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77E3838-1990-434A-0BD5-DD4AAF11724E}"/>
              </a:ext>
            </a:extLst>
          </p:cNvPr>
          <p:cNvSpPr>
            <a:spLocks noGrp="1"/>
          </p:cNvSpPr>
          <p:nvPr>
            <p:ph type="title"/>
          </p:nvPr>
        </p:nvSpPr>
        <p:spPr>
          <a:xfrm>
            <a:off x="838200" y="365125"/>
            <a:ext cx="10515600" cy="871189"/>
          </a:xfrm>
        </p:spPr>
        <p:txBody>
          <a:bodyPr>
            <a:normAutofit fontScale="90000"/>
          </a:bodyPr>
          <a:lstStyle/>
          <a:p>
            <a:r>
              <a:rPr lang="fr-FR" sz="2800" dirty="0"/>
              <a:t>Nature des tensions de valeur : </a:t>
            </a:r>
            <a:r>
              <a:rPr lang="fr-FR" sz="3100" dirty="0"/>
              <a:t>Exemples de réponses opérationnelles aux tensions sur la valeur d’une Communauté</a:t>
            </a:r>
            <a:br>
              <a:rPr lang="fr-FR" sz="1200" dirty="0"/>
            </a:br>
            <a:r>
              <a:rPr lang="fr-FR" sz="1200" dirty="0"/>
              <a:t>📅Evènements  , ✍️Contenus, ⚙️Structuration de Communauté, 📅+⚙️Structuration de moments, ✍️+⚙️ Structuration de Contenus</a:t>
            </a:r>
          </a:p>
        </p:txBody>
      </p:sp>
      <p:sp>
        <p:nvSpPr>
          <p:cNvPr id="9" name="Phylactère : pensées 8">
            <a:extLst>
              <a:ext uri="{FF2B5EF4-FFF2-40B4-BE49-F238E27FC236}">
                <a16:creationId xmlns:a16="http://schemas.microsoft.com/office/drawing/2014/main" id="{3CBB4FD4-D7CC-CB8B-C82A-3E1789DF1B9F}"/>
              </a:ext>
            </a:extLst>
          </p:cNvPr>
          <p:cNvSpPr/>
          <p:nvPr/>
        </p:nvSpPr>
        <p:spPr>
          <a:xfrm>
            <a:off x="473444" y="3347852"/>
            <a:ext cx="2768367" cy="1635853"/>
          </a:xfrm>
          <a:prstGeom prst="cloudCallout">
            <a:avLst>
              <a:gd name="adj1" fmla="val -24772"/>
              <a:gd name="adj2" fmla="val 4506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attendue, imaginée, espérée</a:t>
            </a:r>
          </a:p>
        </p:txBody>
      </p:sp>
      <p:sp>
        <p:nvSpPr>
          <p:cNvPr id="10" name="Parchemin : horizontal 9">
            <a:extLst>
              <a:ext uri="{FF2B5EF4-FFF2-40B4-BE49-F238E27FC236}">
                <a16:creationId xmlns:a16="http://schemas.microsoft.com/office/drawing/2014/main" id="{3614003A-6875-A7ED-259A-6BC959819B6C}"/>
              </a:ext>
            </a:extLst>
          </p:cNvPr>
          <p:cNvSpPr/>
          <p:nvPr/>
        </p:nvSpPr>
        <p:spPr>
          <a:xfrm>
            <a:off x="4753761" y="3280707"/>
            <a:ext cx="2684477" cy="1539904"/>
          </a:xfrm>
          <a:prstGeom prst="horizontalScroll">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exprimée, officialisée, visée</a:t>
            </a:r>
          </a:p>
        </p:txBody>
      </p:sp>
      <p:sp>
        <p:nvSpPr>
          <p:cNvPr id="11" name="Bulle narrative : ronde 10">
            <a:extLst>
              <a:ext uri="{FF2B5EF4-FFF2-40B4-BE49-F238E27FC236}">
                <a16:creationId xmlns:a16="http://schemas.microsoft.com/office/drawing/2014/main" id="{78B49D10-63B0-CFDA-75E8-B1C73F4B6EF7}"/>
              </a:ext>
            </a:extLst>
          </p:cNvPr>
          <p:cNvSpPr/>
          <p:nvPr/>
        </p:nvSpPr>
        <p:spPr>
          <a:xfrm>
            <a:off x="9377416" y="3280707"/>
            <a:ext cx="2341140" cy="1446227"/>
          </a:xfrm>
          <a:prstGeom prst="wedgeEllipseCallout">
            <a:avLst>
              <a:gd name="adj1" fmla="val -57504"/>
              <a:gd name="adj2" fmla="val 4861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effective, constatée, réelle</a:t>
            </a:r>
          </a:p>
        </p:txBody>
      </p:sp>
      <p:sp>
        <p:nvSpPr>
          <p:cNvPr id="14" name="Flèche : double flèche horizontale 13">
            <a:extLst>
              <a:ext uri="{FF2B5EF4-FFF2-40B4-BE49-F238E27FC236}">
                <a16:creationId xmlns:a16="http://schemas.microsoft.com/office/drawing/2014/main" id="{7AD0F450-4774-7D0B-9428-7B4E4D8BF168}"/>
              </a:ext>
            </a:extLst>
          </p:cNvPr>
          <p:cNvSpPr/>
          <p:nvPr/>
        </p:nvSpPr>
        <p:spPr>
          <a:xfrm>
            <a:off x="2535952" y="3661778"/>
            <a:ext cx="2664000" cy="1008000"/>
          </a:xfrm>
          <a:prstGeom prst="lef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100" dirty="0">
              <a:solidFill>
                <a:schemeClr val="tx1"/>
              </a:solidFill>
            </a:endParaRPr>
          </a:p>
        </p:txBody>
      </p:sp>
      <p:sp>
        <p:nvSpPr>
          <p:cNvPr id="15" name="Flèche : double flèche horizontale 14">
            <a:extLst>
              <a:ext uri="{FF2B5EF4-FFF2-40B4-BE49-F238E27FC236}">
                <a16:creationId xmlns:a16="http://schemas.microsoft.com/office/drawing/2014/main" id="{C91F43F2-FBF3-236B-8236-E9658180DEA0}"/>
              </a:ext>
            </a:extLst>
          </p:cNvPr>
          <p:cNvSpPr/>
          <p:nvPr/>
        </p:nvSpPr>
        <p:spPr>
          <a:xfrm>
            <a:off x="7073587" y="3661778"/>
            <a:ext cx="2664000" cy="1008000"/>
          </a:xfrm>
          <a:prstGeom prst="lef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100" dirty="0">
              <a:solidFill>
                <a:schemeClr val="tx1"/>
              </a:solidFill>
            </a:endParaRPr>
          </a:p>
        </p:txBody>
      </p:sp>
      <p:pic>
        <p:nvPicPr>
          <p:cNvPr id="8" name="Graphique 7" descr="Actualiser avec un remplissage uni">
            <a:extLst>
              <a:ext uri="{FF2B5EF4-FFF2-40B4-BE49-F238E27FC236}">
                <a16:creationId xmlns:a16="http://schemas.microsoft.com/office/drawing/2014/main" id="{F5CF8286-EAF9-C1A7-2A2D-F3FE920A17C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1261875" y="2650209"/>
            <a:ext cx="967932" cy="967932"/>
          </a:xfrm>
          <a:prstGeom prst="rect">
            <a:avLst/>
          </a:prstGeom>
        </p:spPr>
      </p:pic>
      <p:pic>
        <p:nvPicPr>
          <p:cNvPr id="13" name="Graphique 12" descr="Actualiser avec un remplissage uni">
            <a:extLst>
              <a:ext uri="{FF2B5EF4-FFF2-40B4-BE49-F238E27FC236}">
                <a16:creationId xmlns:a16="http://schemas.microsoft.com/office/drawing/2014/main" id="{81B1BF5F-C032-78E4-C783-ABCA49E863B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5607552" y="2650209"/>
            <a:ext cx="967932" cy="967932"/>
          </a:xfrm>
          <a:prstGeom prst="rect">
            <a:avLst/>
          </a:prstGeom>
        </p:spPr>
      </p:pic>
      <p:pic>
        <p:nvPicPr>
          <p:cNvPr id="17" name="Graphique 16" descr="Actualiser avec un remplissage uni">
            <a:extLst>
              <a:ext uri="{FF2B5EF4-FFF2-40B4-BE49-F238E27FC236}">
                <a16:creationId xmlns:a16="http://schemas.microsoft.com/office/drawing/2014/main" id="{C8BD044B-6263-8063-E679-4D4BBB9B04B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9995873" y="2650208"/>
            <a:ext cx="967932" cy="967932"/>
          </a:xfrm>
          <a:prstGeom prst="rect">
            <a:avLst/>
          </a:prstGeom>
        </p:spPr>
      </p:pic>
      <p:sp>
        <p:nvSpPr>
          <p:cNvPr id="18" name="Rectangle 17">
            <a:extLst>
              <a:ext uri="{FF2B5EF4-FFF2-40B4-BE49-F238E27FC236}">
                <a16:creationId xmlns:a16="http://schemas.microsoft.com/office/drawing/2014/main" id="{AE226D2E-5E0C-3D0F-9520-E6B8EE45576F}"/>
              </a:ext>
            </a:extLst>
          </p:cNvPr>
          <p:cNvSpPr/>
          <p:nvPr/>
        </p:nvSpPr>
        <p:spPr>
          <a:xfrm>
            <a:off x="9218629" y="2121101"/>
            <a:ext cx="2119717"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📅✍️Ajustements et négociations sur les contributions de chacun – Atelier W3</a:t>
            </a:r>
          </a:p>
        </p:txBody>
      </p:sp>
      <p:sp>
        <p:nvSpPr>
          <p:cNvPr id="34" name="Rectangle 33">
            <a:extLst>
              <a:ext uri="{FF2B5EF4-FFF2-40B4-BE49-F238E27FC236}">
                <a16:creationId xmlns:a16="http://schemas.microsoft.com/office/drawing/2014/main" id="{8F41E2A4-64C7-36F7-6405-2144E3F19E06}"/>
              </a:ext>
            </a:extLst>
          </p:cNvPr>
          <p:cNvSpPr/>
          <p:nvPr/>
        </p:nvSpPr>
        <p:spPr>
          <a:xfrm>
            <a:off x="9218629" y="1356709"/>
            <a:ext cx="2119717"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Partage et mise en commun des résultats de la Communauté, et du niveau de satisfaction de chacun</a:t>
            </a:r>
          </a:p>
        </p:txBody>
      </p:sp>
      <p:sp>
        <p:nvSpPr>
          <p:cNvPr id="35" name="Rectangle 34">
            <a:extLst>
              <a:ext uri="{FF2B5EF4-FFF2-40B4-BE49-F238E27FC236}">
                <a16:creationId xmlns:a16="http://schemas.microsoft.com/office/drawing/2014/main" id="{A38AC5E2-38DA-F710-32A3-4ED0DAED7E5A}"/>
              </a:ext>
            </a:extLst>
          </p:cNvPr>
          <p:cNvSpPr/>
          <p:nvPr/>
        </p:nvSpPr>
        <p:spPr>
          <a:xfrm>
            <a:off x="699969" y="2094736"/>
            <a:ext cx="2119717"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Faire expliciter les demandes des sponsors, de l’entreprise, les contraintes, les craintes des non-membres</a:t>
            </a:r>
          </a:p>
        </p:txBody>
      </p:sp>
      <p:sp>
        <p:nvSpPr>
          <p:cNvPr id="36" name="Rectangle 35">
            <a:extLst>
              <a:ext uri="{FF2B5EF4-FFF2-40B4-BE49-F238E27FC236}">
                <a16:creationId xmlns:a16="http://schemas.microsoft.com/office/drawing/2014/main" id="{073807C2-D173-7AEA-BBD1-E4244E3ACC8A}"/>
              </a:ext>
            </a:extLst>
          </p:cNvPr>
          <p:cNvSpPr/>
          <p:nvPr/>
        </p:nvSpPr>
        <p:spPr>
          <a:xfrm>
            <a:off x="699969" y="1330344"/>
            <a:ext cx="2119717"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Faire discuter des attentes, espérances, imaginations, inspirations entre les membres (sans forcément les poser)</a:t>
            </a:r>
          </a:p>
        </p:txBody>
      </p:sp>
      <p:sp>
        <p:nvSpPr>
          <p:cNvPr id="37" name="Rectangle 36">
            <a:extLst>
              <a:ext uri="{FF2B5EF4-FFF2-40B4-BE49-F238E27FC236}">
                <a16:creationId xmlns:a16="http://schemas.microsoft.com/office/drawing/2014/main" id="{1C1A7095-58CB-4A6A-CBBB-E5A4D3258083}"/>
              </a:ext>
            </a:extLst>
          </p:cNvPr>
          <p:cNvSpPr/>
          <p:nvPr/>
        </p:nvSpPr>
        <p:spPr>
          <a:xfrm>
            <a:off x="3976283" y="2121101"/>
            <a:ext cx="2119717"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Officialiser les accords, partager les documents au-delà de la Communauté  </a:t>
            </a:r>
          </a:p>
        </p:txBody>
      </p:sp>
      <p:sp>
        <p:nvSpPr>
          <p:cNvPr id="38" name="Rectangle 37">
            <a:extLst>
              <a:ext uri="{FF2B5EF4-FFF2-40B4-BE49-F238E27FC236}">
                <a16:creationId xmlns:a16="http://schemas.microsoft.com/office/drawing/2014/main" id="{9E0C66B1-929C-A3F6-2131-8FF2866B3172}"/>
              </a:ext>
            </a:extLst>
          </p:cNvPr>
          <p:cNvSpPr/>
          <p:nvPr/>
        </p:nvSpPr>
        <p:spPr>
          <a:xfrm>
            <a:off x="3976283" y="1356709"/>
            <a:ext cx="2119717"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Faire de l’amélioration continue, organiser des négociations et amender les règles, livrables, contrats</a:t>
            </a:r>
          </a:p>
        </p:txBody>
      </p:sp>
      <p:sp>
        <p:nvSpPr>
          <p:cNvPr id="39" name="Rectangle 38">
            <a:extLst>
              <a:ext uri="{FF2B5EF4-FFF2-40B4-BE49-F238E27FC236}">
                <a16:creationId xmlns:a16="http://schemas.microsoft.com/office/drawing/2014/main" id="{47951A40-676F-8207-8782-F5933DF37F39}"/>
              </a:ext>
            </a:extLst>
          </p:cNvPr>
          <p:cNvSpPr/>
          <p:nvPr/>
        </p:nvSpPr>
        <p:spPr>
          <a:xfrm>
            <a:off x="2741335" y="5433326"/>
            <a:ext cx="2104939"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tx1"/>
                </a:solidFill>
              </a:rPr>
              <a:t> </a:t>
            </a:r>
            <a:r>
              <a:rPr lang="fr-FR" sz="1100" dirty="0"/>
              <a:t>⚙️</a:t>
            </a:r>
            <a:r>
              <a:rPr lang="fr-FR" sz="1100" dirty="0">
                <a:solidFill>
                  <a:schemeClr val="tx1"/>
                </a:solidFill>
              </a:rPr>
              <a:t>Utiliser des grilles de lecture pour faciliter l’expression des attentes</a:t>
            </a:r>
          </a:p>
        </p:txBody>
      </p:sp>
      <p:sp>
        <p:nvSpPr>
          <p:cNvPr id="40" name="Rectangle 39">
            <a:extLst>
              <a:ext uri="{FF2B5EF4-FFF2-40B4-BE49-F238E27FC236}">
                <a16:creationId xmlns:a16="http://schemas.microsoft.com/office/drawing/2014/main" id="{A6D247D7-63E6-A1CE-BD61-5A1264357605}"/>
              </a:ext>
            </a:extLst>
          </p:cNvPr>
          <p:cNvSpPr/>
          <p:nvPr/>
        </p:nvSpPr>
        <p:spPr>
          <a:xfrm>
            <a:off x="2741335" y="4682685"/>
            <a:ext cx="2104939"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Interviewer, auditer la différence « attentes et déclarations »</a:t>
            </a:r>
          </a:p>
        </p:txBody>
      </p:sp>
      <p:sp>
        <p:nvSpPr>
          <p:cNvPr id="41" name="Rectangle 40">
            <a:extLst>
              <a:ext uri="{FF2B5EF4-FFF2-40B4-BE49-F238E27FC236}">
                <a16:creationId xmlns:a16="http://schemas.microsoft.com/office/drawing/2014/main" id="{71CDAAA0-3106-15F5-D169-D6984C62A7E7}"/>
              </a:ext>
            </a:extLst>
          </p:cNvPr>
          <p:cNvSpPr/>
          <p:nvPr/>
        </p:nvSpPr>
        <p:spPr>
          <a:xfrm>
            <a:off x="7345727" y="5433326"/>
            <a:ext cx="2119717"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Créer un rôle de gardien des valeurs et raison d’être de la Communauté (sponsor ou membre)</a:t>
            </a:r>
          </a:p>
        </p:txBody>
      </p:sp>
      <p:sp>
        <p:nvSpPr>
          <p:cNvPr id="42" name="Rectangle 41">
            <a:extLst>
              <a:ext uri="{FF2B5EF4-FFF2-40B4-BE49-F238E27FC236}">
                <a16:creationId xmlns:a16="http://schemas.microsoft.com/office/drawing/2014/main" id="{1D5E960B-70F1-C956-89EE-7B11215C0F58}"/>
              </a:ext>
            </a:extLst>
          </p:cNvPr>
          <p:cNvSpPr/>
          <p:nvPr/>
        </p:nvSpPr>
        <p:spPr>
          <a:xfrm>
            <a:off x="7345727" y="4682685"/>
            <a:ext cx="2119717"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Atelier pour identifier, exprimer et traiter les dissonances entre les déclarations et le quotidien</a:t>
            </a:r>
          </a:p>
        </p:txBody>
      </p:sp>
      <p:sp>
        <p:nvSpPr>
          <p:cNvPr id="43" name="Rectangle 42">
            <a:extLst>
              <a:ext uri="{FF2B5EF4-FFF2-40B4-BE49-F238E27FC236}">
                <a16:creationId xmlns:a16="http://schemas.microsoft.com/office/drawing/2014/main" id="{C8A78CDF-8529-8567-7799-492A0AF6DFB1}"/>
              </a:ext>
            </a:extLst>
          </p:cNvPr>
          <p:cNvSpPr/>
          <p:nvPr/>
        </p:nvSpPr>
        <p:spPr>
          <a:xfrm>
            <a:off x="7345727" y="6183967"/>
            <a:ext cx="2119717"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Partager des exemples et contre-exemples d’histoires de membres conformes ou non à la raison d’être de la Communauté</a:t>
            </a:r>
          </a:p>
        </p:txBody>
      </p:sp>
      <p:sp>
        <p:nvSpPr>
          <p:cNvPr id="44" name="Rectangle 43">
            <a:extLst>
              <a:ext uri="{FF2B5EF4-FFF2-40B4-BE49-F238E27FC236}">
                <a16:creationId xmlns:a16="http://schemas.microsoft.com/office/drawing/2014/main" id="{32EC6384-0307-42BC-83F4-4F676F11CAE8}"/>
              </a:ext>
            </a:extLst>
          </p:cNvPr>
          <p:cNvSpPr/>
          <p:nvPr/>
        </p:nvSpPr>
        <p:spPr>
          <a:xfrm>
            <a:off x="2741335" y="6183967"/>
            <a:ext cx="2104939"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Décider collectivement des artefacts (nom, raison d’être, etc.), contrats moraux, règles, livrables, activités</a:t>
            </a:r>
          </a:p>
        </p:txBody>
      </p:sp>
      <p:sp>
        <p:nvSpPr>
          <p:cNvPr id="24" name="Rectangle 23">
            <a:extLst>
              <a:ext uri="{FF2B5EF4-FFF2-40B4-BE49-F238E27FC236}">
                <a16:creationId xmlns:a16="http://schemas.microsoft.com/office/drawing/2014/main" id="{1FD624F8-D364-FBDD-E835-9863502C1039}"/>
              </a:ext>
            </a:extLst>
          </p:cNvPr>
          <p:cNvSpPr/>
          <p:nvPr/>
        </p:nvSpPr>
        <p:spPr>
          <a:xfrm>
            <a:off x="6172843" y="2121101"/>
            <a:ext cx="2119717"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Etablir des sous-groupes aux missions différentes dans la Communauté</a:t>
            </a:r>
          </a:p>
        </p:txBody>
      </p:sp>
      <p:sp>
        <p:nvSpPr>
          <p:cNvPr id="25" name="Rectangle 24">
            <a:extLst>
              <a:ext uri="{FF2B5EF4-FFF2-40B4-BE49-F238E27FC236}">
                <a16:creationId xmlns:a16="http://schemas.microsoft.com/office/drawing/2014/main" id="{B2600BDB-FEB4-010D-E639-170F2C8026DD}"/>
              </a:ext>
            </a:extLst>
          </p:cNvPr>
          <p:cNvSpPr/>
          <p:nvPr/>
        </p:nvSpPr>
        <p:spPr>
          <a:xfrm>
            <a:off x="6172843" y="1356709"/>
            <a:ext cx="2119717" cy="658245"/>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a:t>
            </a:r>
            <a:r>
              <a:rPr lang="fr-FR" sz="1100" dirty="0">
                <a:solidFill>
                  <a:schemeClr val="tx1"/>
                </a:solidFill>
              </a:rPr>
              <a:t>Clarifier les conditions d’adhésion à la Communauté ou d’exclusion de la Communauté</a:t>
            </a:r>
          </a:p>
        </p:txBody>
      </p:sp>
    </p:spTree>
    <p:extLst>
      <p:ext uri="{BB962C8B-B14F-4D97-AF65-F5344CB8AC3E}">
        <p14:creationId xmlns:p14="http://schemas.microsoft.com/office/powerpoint/2010/main" val="2013167791"/>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6305015-3000-74E6-E87A-2247971EA455}"/>
              </a:ext>
            </a:extLst>
          </p:cNvPr>
          <p:cNvSpPr>
            <a:spLocks noGrp="1"/>
          </p:cNvSpPr>
          <p:nvPr>
            <p:ph type="title"/>
          </p:nvPr>
        </p:nvSpPr>
        <p:spPr>
          <a:xfrm>
            <a:off x="838200" y="365125"/>
            <a:ext cx="10515600" cy="682439"/>
          </a:xfrm>
        </p:spPr>
        <p:txBody>
          <a:bodyPr>
            <a:normAutofit/>
          </a:bodyPr>
          <a:lstStyle/>
          <a:p>
            <a:r>
              <a:rPr lang="fr-FR" sz="2800" dirty="0"/>
              <a:t>Ecrire un contrat moral entre parties (membres, entreprise, sponsors)</a:t>
            </a:r>
          </a:p>
        </p:txBody>
      </p:sp>
      <p:sp>
        <p:nvSpPr>
          <p:cNvPr id="5" name="Parchemin : horizontal 4">
            <a:extLst>
              <a:ext uri="{FF2B5EF4-FFF2-40B4-BE49-F238E27FC236}">
                <a16:creationId xmlns:a16="http://schemas.microsoft.com/office/drawing/2014/main" id="{F1893615-613F-0997-0EE1-938F3B5F6DE9}"/>
              </a:ext>
            </a:extLst>
          </p:cNvPr>
          <p:cNvSpPr/>
          <p:nvPr/>
        </p:nvSpPr>
        <p:spPr>
          <a:xfrm rot="5400000">
            <a:off x="-262517" y="2053966"/>
            <a:ext cx="4753802" cy="3748283"/>
          </a:xfrm>
          <a:prstGeom prst="horizontalScroll">
            <a:avLst/>
          </a:prstGeom>
          <a:noFill/>
          <a:ln w="28575">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fr-FR" dirty="0">
                <a:solidFill>
                  <a:schemeClr val="tx1"/>
                </a:solidFill>
              </a:rPr>
              <a:t>Contrat moral</a:t>
            </a:r>
          </a:p>
          <a:p>
            <a:pPr algn="ctr"/>
            <a:endParaRPr lang="fr-FR" sz="1400" dirty="0">
              <a:solidFill>
                <a:schemeClr val="tx1"/>
              </a:solidFill>
            </a:endParaRPr>
          </a:p>
          <a:p>
            <a:pPr algn="ctr"/>
            <a:endParaRPr lang="fr-FR" sz="1400" dirty="0">
              <a:solidFill>
                <a:schemeClr val="tx1"/>
              </a:solidFill>
            </a:endParaRPr>
          </a:p>
          <a:p>
            <a:pPr algn="ctr"/>
            <a:r>
              <a:rPr lang="fr-FR" sz="1200" dirty="0">
                <a:solidFill>
                  <a:schemeClr val="tx1"/>
                </a:solidFill>
              </a:rPr>
              <a:t>Un contrat moral de Communauté est un contrat fixé entre différentes parties pour clarifier l’engagement et les attentes de chacune envers les autres (« contrat »), sans avoir la lourdeur ou l’impact relationnel des contreparties à valeur légale (« moral »)</a:t>
            </a:r>
          </a:p>
          <a:p>
            <a:pPr algn="ctr"/>
            <a:endParaRPr lang="fr-FR" sz="1200" dirty="0">
              <a:solidFill>
                <a:schemeClr val="tx1"/>
              </a:solidFill>
            </a:endParaRPr>
          </a:p>
          <a:p>
            <a:pPr algn="ctr"/>
            <a:r>
              <a:rPr lang="fr-FR" sz="1200" dirty="0">
                <a:solidFill>
                  <a:schemeClr val="tx1"/>
                </a:solidFill>
              </a:rPr>
              <a:t>Un contrat moral de Communauté d’entreprise peut avoir différents signataires</a:t>
            </a:r>
          </a:p>
          <a:p>
            <a:pPr algn="ctr"/>
            <a:endParaRPr lang="fr-FR" sz="1200" dirty="0">
              <a:solidFill>
                <a:schemeClr val="tx1"/>
              </a:solidFill>
            </a:endParaRPr>
          </a:p>
          <a:p>
            <a:pPr algn="ctr"/>
            <a:endParaRPr lang="fr-FR" sz="1200" dirty="0">
              <a:solidFill>
                <a:schemeClr val="tx1"/>
              </a:solidFill>
            </a:endParaRPr>
          </a:p>
        </p:txBody>
      </p:sp>
      <p:pic>
        <p:nvPicPr>
          <p:cNvPr id="6" name="Graphique 5" descr="Bâtiment avec un remplissage uni">
            <a:extLst>
              <a:ext uri="{FF2B5EF4-FFF2-40B4-BE49-F238E27FC236}">
                <a16:creationId xmlns:a16="http://schemas.microsoft.com/office/drawing/2014/main" id="{8B681BA6-BBA9-361A-CEB1-680291DBC9C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71093" y="5503593"/>
            <a:ext cx="556284" cy="556284"/>
          </a:xfrm>
          <a:prstGeom prst="rect">
            <a:avLst/>
          </a:prstGeom>
        </p:spPr>
      </p:pic>
      <p:grpSp>
        <p:nvGrpSpPr>
          <p:cNvPr id="7" name="Groupe 6">
            <a:extLst>
              <a:ext uri="{FF2B5EF4-FFF2-40B4-BE49-F238E27FC236}">
                <a16:creationId xmlns:a16="http://schemas.microsoft.com/office/drawing/2014/main" id="{7BEB195F-2804-B7B4-B571-67A47ECC0A33}"/>
              </a:ext>
            </a:extLst>
          </p:cNvPr>
          <p:cNvGrpSpPr/>
          <p:nvPr/>
        </p:nvGrpSpPr>
        <p:grpSpPr>
          <a:xfrm>
            <a:off x="2634520" y="5462022"/>
            <a:ext cx="701977" cy="570004"/>
            <a:chOff x="8982504" y="3274976"/>
            <a:chExt cx="1230670" cy="1037553"/>
          </a:xfrm>
          <a:solidFill>
            <a:srgbClr val="ED7D31"/>
          </a:solidFill>
        </p:grpSpPr>
        <p:pic>
          <p:nvPicPr>
            <p:cNvPr id="8" name="Graphique 7" descr="Utilisateur avec un remplissage uni">
              <a:extLst>
                <a:ext uri="{FF2B5EF4-FFF2-40B4-BE49-F238E27FC236}">
                  <a16:creationId xmlns:a16="http://schemas.microsoft.com/office/drawing/2014/main" id="{6497A5D1-6ACF-464D-285D-2538E8DFF82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9" name="Graphique 8" descr="Utilisateur avec un remplissage uni">
              <a:extLst>
                <a:ext uri="{FF2B5EF4-FFF2-40B4-BE49-F238E27FC236}">
                  <a16:creationId xmlns:a16="http://schemas.microsoft.com/office/drawing/2014/main" id="{72070080-365D-BB0F-A73A-338D8E4DAB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0" name="Graphique 9" descr="Utilisateur avec un remplissage uni">
              <a:extLst>
                <a:ext uri="{FF2B5EF4-FFF2-40B4-BE49-F238E27FC236}">
                  <a16:creationId xmlns:a16="http://schemas.microsoft.com/office/drawing/2014/main" id="{870CB0E7-3D7D-AF51-A55E-412140BCC39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1" name="Graphique 10" descr="Utilisateur avec un remplissage uni">
              <a:extLst>
                <a:ext uri="{FF2B5EF4-FFF2-40B4-BE49-F238E27FC236}">
                  <a16:creationId xmlns:a16="http://schemas.microsoft.com/office/drawing/2014/main" id="{B37E07E6-9BD6-D568-0775-3740477873B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2" name="Graphique 11" descr="Utilisateur avec un remplissage uni">
              <a:extLst>
                <a:ext uri="{FF2B5EF4-FFF2-40B4-BE49-F238E27FC236}">
                  <a16:creationId xmlns:a16="http://schemas.microsoft.com/office/drawing/2014/main" id="{F6678F2F-6368-A776-D048-EEBCF066530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3" name="Graphique 12" descr="Utilisateur avec un remplissage uni">
              <a:extLst>
                <a:ext uri="{FF2B5EF4-FFF2-40B4-BE49-F238E27FC236}">
                  <a16:creationId xmlns:a16="http://schemas.microsoft.com/office/drawing/2014/main" id="{7B0F8261-984A-B627-0973-A117A4E33FB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4" name="Graphique 13" descr="Utilisateur avec un remplissage uni">
              <a:extLst>
                <a:ext uri="{FF2B5EF4-FFF2-40B4-BE49-F238E27FC236}">
                  <a16:creationId xmlns:a16="http://schemas.microsoft.com/office/drawing/2014/main" id="{3222B7DE-8D2B-0C97-BA65-F7BBD12B80A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5" name="Graphique 14" descr="Utilisateur avec un remplissage uni">
              <a:extLst>
                <a:ext uri="{FF2B5EF4-FFF2-40B4-BE49-F238E27FC236}">
                  <a16:creationId xmlns:a16="http://schemas.microsoft.com/office/drawing/2014/main" id="{9E1DAC82-3F9D-8BE4-8F36-3912783BD68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6" name="Graphique 15" descr="Utilisateur avec un remplissage uni">
              <a:extLst>
                <a:ext uri="{FF2B5EF4-FFF2-40B4-BE49-F238E27FC236}">
                  <a16:creationId xmlns:a16="http://schemas.microsoft.com/office/drawing/2014/main" id="{019AF855-8F2F-638D-0E83-6F0D5A675B6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7" name="Graphique 16" descr="Utilisateur avec un remplissage uni">
              <a:extLst>
                <a:ext uri="{FF2B5EF4-FFF2-40B4-BE49-F238E27FC236}">
                  <a16:creationId xmlns:a16="http://schemas.microsoft.com/office/drawing/2014/main" id="{6A3A9210-92A4-71C4-8A75-F5916E26EF7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8" name="Graphique 17" descr="Utilisateur avec un remplissage uni">
              <a:extLst>
                <a:ext uri="{FF2B5EF4-FFF2-40B4-BE49-F238E27FC236}">
                  <a16:creationId xmlns:a16="http://schemas.microsoft.com/office/drawing/2014/main" id="{98FE1A8C-5772-D559-566F-ADD37353A27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9" name="Graphique 18" descr="Employée de bureau avec un remplissage uni">
            <a:extLst>
              <a:ext uri="{FF2B5EF4-FFF2-40B4-BE49-F238E27FC236}">
                <a16:creationId xmlns:a16="http://schemas.microsoft.com/office/drawing/2014/main" id="{8D740093-7577-DC69-F904-4AEB2CAC2E1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651303" y="5457797"/>
            <a:ext cx="647875" cy="647875"/>
          </a:xfrm>
          <a:prstGeom prst="rect">
            <a:avLst/>
          </a:prstGeom>
        </p:spPr>
      </p:pic>
      <p:sp>
        <p:nvSpPr>
          <p:cNvPr id="20" name="Espace réservé du contenu 2">
            <a:extLst>
              <a:ext uri="{FF2B5EF4-FFF2-40B4-BE49-F238E27FC236}">
                <a16:creationId xmlns:a16="http://schemas.microsoft.com/office/drawing/2014/main" id="{5BBB28DE-9CFF-0A81-6E71-5EC8893CB4FF}"/>
              </a:ext>
            </a:extLst>
          </p:cNvPr>
          <p:cNvSpPr txBox="1">
            <a:spLocks/>
          </p:cNvSpPr>
          <p:nvPr/>
        </p:nvSpPr>
        <p:spPr>
          <a:xfrm>
            <a:off x="1646414" y="6023135"/>
            <a:ext cx="822284" cy="2998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100" b="1" dirty="0">
                <a:solidFill>
                  <a:srgbClr val="3494BA"/>
                </a:solidFill>
              </a:rPr>
              <a:t>Sponsor</a:t>
            </a:r>
          </a:p>
        </p:txBody>
      </p:sp>
      <p:sp>
        <p:nvSpPr>
          <p:cNvPr id="21" name="Espace réservé du contenu 2">
            <a:extLst>
              <a:ext uri="{FF2B5EF4-FFF2-40B4-BE49-F238E27FC236}">
                <a16:creationId xmlns:a16="http://schemas.microsoft.com/office/drawing/2014/main" id="{305F7023-D890-CE04-C3B2-31BDD8C300B0}"/>
              </a:ext>
            </a:extLst>
          </p:cNvPr>
          <p:cNvSpPr txBox="1">
            <a:spLocks/>
          </p:cNvSpPr>
          <p:nvPr/>
        </p:nvSpPr>
        <p:spPr>
          <a:xfrm>
            <a:off x="2591002" y="6005149"/>
            <a:ext cx="822284" cy="2998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100" b="1" dirty="0">
                <a:solidFill>
                  <a:srgbClr val="ED7D31"/>
                </a:solidFill>
              </a:rPr>
              <a:t>Membres</a:t>
            </a:r>
          </a:p>
        </p:txBody>
      </p:sp>
      <p:sp>
        <p:nvSpPr>
          <p:cNvPr id="22" name="Espace réservé du contenu 2">
            <a:extLst>
              <a:ext uri="{FF2B5EF4-FFF2-40B4-BE49-F238E27FC236}">
                <a16:creationId xmlns:a16="http://schemas.microsoft.com/office/drawing/2014/main" id="{4218C106-C666-A5F8-1A53-FA7DD5FF3510}"/>
              </a:ext>
            </a:extLst>
          </p:cNvPr>
          <p:cNvSpPr txBox="1">
            <a:spLocks/>
          </p:cNvSpPr>
          <p:nvPr/>
        </p:nvSpPr>
        <p:spPr>
          <a:xfrm>
            <a:off x="725816" y="6040557"/>
            <a:ext cx="822284" cy="2998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100" b="1" dirty="0">
                <a:solidFill>
                  <a:srgbClr val="ED7D31"/>
                </a:solidFill>
              </a:rPr>
              <a:t>Entreprise</a:t>
            </a:r>
          </a:p>
        </p:txBody>
      </p:sp>
      <p:sp>
        <p:nvSpPr>
          <p:cNvPr id="24" name="ZoneTexte 23">
            <a:extLst>
              <a:ext uri="{FF2B5EF4-FFF2-40B4-BE49-F238E27FC236}">
                <a16:creationId xmlns:a16="http://schemas.microsoft.com/office/drawing/2014/main" id="{2D3C4FD9-BC5C-292D-9213-A2FD780E446C}"/>
              </a:ext>
            </a:extLst>
          </p:cNvPr>
          <p:cNvSpPr txBox="1"/>
          <p:nvPr/>
        </p:nvSpPr>
        <p:spPr>
          <a:xfrm>
            <a:off x="4519377" y="1499123"/>
            <a:ext cx="3138723" cy="4678204"/>
          </a:xfrm>
          <a:prstGeom prst="rect">
            <a:avLst/>
          </a:prstGeom>
          <a:solidFill>
            <a:srgbClr val="54FFB3"/>
          </a:solidFill>
        </p:spPr>
        <p:txBody>
          <a:bodyPr wrap="square">
            <a:spAutoFit/>
          </a:bodyPr>
          <a:lstStyle/>
          <a:p>
            <a:pPr marL="0" indent="0">
              <a:buNone/>
            </a:pPr>
            <a:r>
              <a:rPr lang="fr-FR" dirty="0"/>
              <a:t>Utilités d’un contrat moral </a:t>
            </a:r>
          </a:p>
          <a:p>
            <a:pPr lvl="1"/>
            <a:endParaRPr lang="fr-FR" sz="1400" dirty="0"/>
          </a:p>
          <a:p>
            <a:pPr lvl="1"/>
            <a:r>
              <a:rPr lang="fr-FR" sz="1400" dirty="0"/>
              <a:t>Il matérialise un accord avec clarté pour </a:t>
            </a:r>
            <a:r>
              <a:rPr lang="fr-FR" sz="1400" b="1" dirty="0"/>
              <a:t>moins de confusion au quotidien</a:t>
            </a:r>
          </a:p>
          <a:p>
            <a:pPr lvl="1"/>
            <a:endParaRPr lang="fr-FR" sz="1400" dirty="0"/>
          </a:p>
          <a:p>
            <a:pPr lvl="1"/>
            <a:r>
              <a:rPr lang="fr-FR" sz="1400" dirty="0"/>
              <a:t>Il explicite des conditions, ce qui qui permet de les </a:t>
            </a:r>
            <a:r>
              <a:rPr lang="fr-FR" sz="1400" b="1" dirty="0"/>
              <a:t>rediscuter plus facilement plus tard </a:t>
            </a:r>
            <a:r>
              <a:rPr lang="fr-FR" sz="1400" dirty="0"/>
              <a:t>(par exemple pour amélioration continue)</a:t>
            </a:r>
          </a:p>
          <a:p>
            <a:pPr lvl="1"/>
            <a:endParaRPr lang="fr-FR" sz="1400" dirty="0"/>
          </a:p>
          <a:p>
            <a:pPr lvl="1"/>
            <a:r>
              <a:rPr lang="fr-FR" sz="1400" dirty="0"/>
              <a:t>Il permet de se référer à un </a:t>
            </a:r>
            <a:r>
              <a:rPr lang="fr-FR" sz="1400" b="1" dirty="0"/>
              <a:t>document commun plutôt qu’à des accords tacites </a:t>
            </a:r>
            <a:r>
              <a:rPr lang="fr-FR" sz="1400" dirty="0"/>
              <a:t>entre individus (plus facilement oubliés, moins facilement partagés à grande échelle, etc.)</a:t>
            </a:r>
          </a:p>
          <a:p>
            <a:pPr lvl="1"/>
            <a:endParaRPr lang="fr-FR" sz="1400" dirty="0"/>
          </a:p>
          <a:p>
            <a:pPr lvl="1"/>
            <a:r>
              <a:rPr lang="fr-FR" sz="1400" dirty="0"/>
              <a:t>Il peut avoir un effet positif sur la </a:t>
            </a:r>
            <a:r>
              <a:rPr lang="fr-FR" sz="1400" b="1" dirty="0"/>
              <a:t>sécurité psychologique </a:t>
            </a:r>
            <a:r>
              <a:rPr lang="fr-FR" sz="1400" dirty="0"/>
              <a:t>des membres « Les écrits restent »</a:t>
            </a:r>
          </a:p>
        </p:txBody>
      </p:sp>
      <p:sp>
        <p:nvSpPr>
          <p:cNvPr id="25" name="ZoneTexte 24">
            <a:extLst>
              <a:ext uri="{FF2B5EF4-FFF2-40B4-BE49-F238E27FC236}">
                <a16:creationId xmlns:a16="http://schemas.microsoft.com/office/drawing/2014/main" id="{B2135DD8-C026-688C-3402-4FDF97E035BB}"/>
              </a:ext>
            </a:extLst>
          </p:cNvPr>
          <p:cNvSpPr txBox="1"/>
          <p:nvPr/>
        </p:nvSpPr>
        <p:spPr>
          <a:xfrm>
            <a:off x="8188562" y="1495392"/>
            <a:ext cx="3138723" cy="4739759"/>
          </a:xfrm>
          <a:prstGeom prst="rect">
            <a:avLst/>
          </a:prstGeom>
          <a:solidFill>
            <a:schemeClr val="bg1">
              <a:lumMod val="95000"/>
            </a:schemeClr>
          </a:solidFill>
        </p:spPr>
        <p:txBody>
          <a:bodyPr wrap="square">
            <a:spAutoFit/>
          </a:bodyPr>
          <a:lstStyle/>
          <a:p>
            <a:pPr marL="0" indent="0">
              <a:buNone/>
            </a:pPr>
            <a:r>
              <a:rPr lang="fr-FR" dirty="0"/>
              <a:t>Le format d’un contrat moral </a:t>
            </a:r>
          </a:p>
          <a:p>
            <a:pPr marL="0" indent="0">
              <a:buNone/>
            </a:pPr>
            <a:endParaRPr lang="fr-FR" dirty="0"/>
          </a:p>
          <a:p>
            <a:pPr marL="0" indent="0">
              <a:buNone/>
            </a:pPr>
            <a:r>
              <a:rPr lang="fr-FR" sz="1400" dirty="0"/>
              <a:t>Doit rester </a:t>
            </a:r>
            <a:r>
              <a:rPr lang="fr-FR" sz="1400" b="1" dirty="0"/>
              <a:t>suffisamment léger</a:t>
            </a:r>
            <a:r>
              <a:rPr lang="fr-FR" sz="1400" dirty="0"/>
              <a:t> pour rester dans l’état d’esprit « Communautés » </a:t>
            </a:r>
          </a:p>
          <a:p>
            <a:pPr marL="0" indent="0">
              <a:buNone/>
            </a:pPr>
            <a:endParaRPr lang="fr-FR" sz="1400" dirty="0"/>
          </a:p>
          <a:p>
            <a:pPr marL="0" indent="0">
              <a:buNone/>
            </a:pPr>
            <a:r>
              <a:rPr lang="fr-FR" sz="1400" dirty="0"/>
              <a:t>Ne concerne que rarement 100% des activités (sinon trop lourd), pour laisser de la liberté aux membres et parties</a:t>
            </a:r>
          </a:p>
          <a:p>
            <a:pPr marL="0" indent="0">
              <a:buNone/>
            </a:pPr>
            <a:endParaRPr lang="fr-FR" sz="1400" dirty="0"/>
          </a:p>
          <a:p>
            <a:pPr marL="0" indent="0">
              <a:buNone/>
            </a:pPr>
            <a:r>
              <a:rPr lang="fr-FR" sz="1400" dirty="0"/>
              <a:t>Représente souvent </a:t>
            </a:r>
            <a:r>
              <a:rPr lang="fr-FR" sz="1400" b="1" dirty="0"/>
              <a:t>l’état d’esprit plutôt que les conditions exactes</a:t>
            </a:r>
            <a:r>
              <a:rPr lang="fr-FR" sz="1400" dirty="0"/>
              <a:t> à la lettre près</a:t>
            </a:r>
          </a:p>
          <a:p>
            <a:pPr marL="0" indent="0">
              <a:buNone/>
            </a:pPr>
            <a:endParaRPr lang="fr-FR" sz="1400" dirty="0"/>
          </a:p>
          <a:p>
            <a:pPr marL="0" indent="0">
              <a:buNone/>
            </a:pPr>
            <a:r>
              <a:rPr lang="fr-FR" sz="1400" dirty="0"/>
              <a:t>Est </a:t>
            </a:r>
            <a:r>
              <a:rPr lang="fr-FR" sz="1400" b="1" dirty="0"/>
              <a:t>suffisamment court </a:t>
            </a:r>
            <a:r>
              <a:rPr lang="fr-FR" sz="1400" dirty="0"/>
              <a:t>pour être globalement compris par de nouveaux entrants ou des tiers</a:t>
            </a:r>
          </a:p>
          <a:p>
            <a:pPr marL="0" indent="0">
              <a:buNone/>
            </a:pPr>
            <a:endParaRPr lang="fr-FR" sz="1400" dirty="0"/>
          </a:p>
          <a:p>
            <a:pPr marL="0" indent="0">
              <a:buNone/>
            </a:pPr>
            <a:r>
              <a:rPr lang="fr-FR" sz="1400" dirty="0"/>
              <a:t>Ne fait </a:t>
            </a:r>
            <a:r>
              <a:rPr lang="fr-FR" sz="1400" b="1" dirty="0"/>
              <a:t>pas ou très peu de mentions des pénalités </a:t>
            </a:r>
            <a:r>
              <a:rPr lang="fr-FR" sz="1400" dirty="0"/>
              <a:t>et autres pour rester un repère plutôt qu’une menace défensive</a:t>
            </a:r>
          </a:p>
        </p:txBody>
      </p:sp>
    </p:spTree>
    <p:extLst>
      <p:ext uri="{BB962C8B-B14F-4D97-AF65-F5344CB8AC3E}">
        <p14:creationId xmlns:p14="http://schemas.microsoft.com/office/powerpoint/2010/main" val="2033426289"/>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6305015-3000-74E6-E87A-2247971EA455}"/>
              </a:ext>
            </a:extLst>
          </p:cNvPr>
          <p:cNvSpPr>
            <a:spLocks noGrp="1"/>
          </p:cNvSpPr>
          <p:nvPr>
            <p:ph type="title"/>
          </p:nvPr>
        </p:nvSpPr>
        <p:spPr>
          <a:xfrm>
            <a:off x="838200" y="365125"/>
            <a:ext cx="10515600" cy="682439"/>
          </a:xfrm>
        </p:spPr>
        <p:txBody>
          <a:bodyPr>
            <a:normAutofit fontScale="90000"/>
          </a:bodyPr>
          <a:lstStyle/>
          <a:p>
            <a:r>
              <a:rPr lang="fr-FR" sz="2800" dirty="0"/>
              <a:t>Ecrire un contrat moral entre parties (membres, entreprise, sponsors)</a:t>
            </a:r>
            <a:br>
              <a:rPr lang="fr-FR" sz="2800" dirty="0"/>
            </a:br>
            <a:r>
              <a:rPr lang="fr-FR" sz="2800" dirty="0"/>
              <a:t>Exemples de contenus</a:t>
            </a:r>
          </a:p>
        </p:txBody>
      </p:sp>
      <p:graphicFrame>
        <p:nvGraphicFramePr>
          <p:cNvPr id="3" name="Tableau 4">
            <a:extLst>
              <a:ext uri="{FF2B5EF4-FFF2-40B4-BE49-F238E27FC236}">
                <a16:creationId xmlns:a16="http://schemas.microsoft.com/office/drawing/2014/main" id="{52D271F9-6D93-EA3D-CA5E-08FE4FD7E7CF}"/>
              </a:ext>
            </a:extLst>
          </p:cNvPr>
          <p:cNvGraphicFramePr>
            <a:graphicFrameLocks noGrp="1"/>
          </p:cNvGraphicFramePr>
          <p:nvPr>
            <p:extLst>
              <p:ext uri="{D42A27DB-BD31-4B8C-83A1-F6EECF244321}">
                <p14:modId xmlns:p14="http://schemas.microsoft.com/office/powerpoint/2010/main" val="3357013605"/>
              </p:ext>
            </p:extLst>
          </p:nvPr>
        </p:nvGraphicFramePr>
        <p:xfrm>
          <a:off x="783072" y="2322822"/>
          <a:ext cx="10693401" cy="3032491"/>
        </p:xfrm>
        <a:graphic>
          <a:graphicData uri="http://schemas.openxmlformats.org/drawingml/2006/table">
            <a:tbl>
              <a:tblPr>
                <a:tableStyleId>{5C22544A-7EE6-4342-B048-85BDC9FD1C3A}</a:tableStyleId>
              </a:tblPr>
              <a:tblGrid>
                <a:gridCol w="3564467">
                  <a:extLst>
                    <a:ext uri="{9D8B030D-6E8A-4147-A177-3AD203B41FA5}">
                      <a16:colId xmlns:a16="http://schemas.microsoft.com/office/drawing/2014/main" val="1036471690"/>
                    </a:ext>
                  </a:extLst>
                </a:gridCol>
                <a:gridCol w="3564467">
                  <a:extLst>
                    <a:ext uri="{9D8B030D-6E8A-4147-A177-3AD203B41FA5}">
                      <a16:colId xmlns:a16="http://schemas.microsoft.com/office/drawing/2014/main" val="335043735"/>
                    </a:ext>
                  </a:extLst>
                </a:gridCol>
                <a:gridCol w="3564467">
                  <a:extLst>
                    <a:ext uri="{9D8B030D-6E8A-4147-A177-3AD203B41FA5}">
                      <a16:colId xmlns:a16="http://schemas.microsoft.com/office/drawing/2014/main" val="2316145449"/>
                    </a:ext>
                  </a:extLst>
                </a:gridCol>
              </a:tblGrid>
              <a:tr h="1078211">
                <a:tc gridSpan="3">
                  <a:txBody>
                    <a:bodyPr/>
                    <a:lstStyle/>
                    <a:p>
                      <a:r>
                        <a:rPr lang="fr-FR" b="1" i="1" dirty="0"/>
                        <a:t>Ensemble, nous visons par la Communauté de</a:t>
                      </a:r>
                    </a:p>
                    <a:p>
                      <a:pPr algn="ctr"/>
                      <a:endParaRPr lang="fr-FR" i="1" dirty="0"/>
                    </a:p>
                    <a:p>
                      <a:pPr algn="ctr"/>
                      <a:endParaRPr lang="fr-FR" i="1" dirty="0"/>
                    </a:p>
                  </a:txBody>
                  <a:tcPr>
                    <a:solidFill>
                      <a:schemeClr val="bg1"/>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275226672"/>
                  </a:ext>
                </a:extLst>
              </a:tr>
              <a:tr h="977140">
                <a:tc>
                  <a:txBody>
                    <a:bodyPr/>
                    <a:lstStyle/>
                    <a:p>
                      <a:pPr marL="0" indent="0">
                        <a:buNone/>
                      </a:pPr>
                      <a:r>
                        <a:rPr lang="fr-FR" b="1" i="1" dirty="0"/>
                        <a:t>L’entreprise s’engage à </a:t>
                      </a:r>
                    </a:p>
                  </a:txBody>
                  <a:tcPr>
                    <a:solidFill>
                      <a:schemeClr val="bg1">
                        <a:lumMod val="8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i="1" dirty="0"/>
                        <a:t>Les sponsors s’engagent à</a:t>
                      </a:r>
                    </a:p>
                    <a:p>
                      <a:endParaRPr lang="fr-FR" i="1" dirty="0"/>
                    </a:p>
                    <a:p>
                      <a:endParaRPr lang="fr-FR" i="1" dirty="0"/>
                    </a:p>
                  </a:txBody>
                  <a:tcPr>
                    <a:solidFill>
                      <a:schemeClr val="accent1">
                        <a:lumMod val="40000"/>
                        <a:lumOff val="6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i="1" dirty="0"/>
                        <a:t>Les membres s’engagent à </a:t>
                      </a:r>
                    </a:p>
                    <a:p>
                      <a:endParaRPr lang="fr-FR" i="1" dirty="0"/>
                    </a:p>
                  </a:txBody>
                  <a:tcPr>
                    <a:solidFill>
                      <a:schemeClr val="accent2">
                        <a:lumMod val="40000"/>
                        <a:lumOff val="60000"/>
                      </a:schemeClr>
                    </a:solidFill>
                  </a:tcPr>
                </a:tc>
                <a:extLst>
                  <a:ext uri="{0D108BD9-81ED-4DB2-BD59-A6C34878D82A}">
                    <a16:rowId xmlns:a16="http://schemas.microsoft.com/office/drawing/2014/main" val="1833810210"/>
                  </a:ext>
                </a:extLst>
              </a:tr>
              <a:tr h="9771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i="1" dirty="0"/>
                        <a:t>Et dans la mesure du possible</a:t>
                      </a:r>
                    </a:p>
                    <a:p>
                      <a:endParaRPr lang="fr-FR" i="1" dirty="0"/>
                    </a:p>
                  </a:txBody>
                  <a:tcPr>
                    <a:solidFill>
                      <a:schemeClr val="bg1">
                        <a:lumMod val="8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i="1" dirty="0"/>
                        <a:t>Et dans la mesure du possible</a:t>
                      </a:r>
                    </a:p>
                    <a:p>
                      <a:endParaRPr lang="fr-FR" i="1" dirty="0"/>
                    </a:p>
                    <a:p>
                      <a:endParaRPr lang="fr-FR" i="1" dirty="0"/>
                    </a:p>
                  </a:txBody>
                  <a:tcPr>
                    <a:solidFill>
                      <a:schemeClr val="accent1">
                        <a:lumMod val="40000"/>
                        <a:lumOff val="6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i="1" dirty="0"/>
                        <a:t>Et dans la mesure du possible</a:t>
                      </a:r>
                    </a:p>
                    <a:p>
                      <a:endParaRPr lang="fr-FR" i="1" dirty="0"/>
                    </a:p>
                  </a:txBody>
                  <a:tcPr>
                    <a:solidFill>
                      <a:schemeClr val="accent2">
                        <a:lumMod val="40000"/>
                        <a:lumOff val="60000"/>
                      </a:schemeClr>
                    </a:solidFill>
                  </a:tcPr>
                </a:tc>
                <a:extLst>
                  <a:ext uri="{0D108BD9-81ED-4DB2-BD59-A6C34878D82A}">
                    <a16:rowId xmlns:a16="http://schemas.microsoft.com/office/drawing/2014/main" val="4266428415"/>
                  </a:ext>
                </a:extLst>
              </a:tr>
            </a:tbl>
          </a:graphicData>
        </a:graphic>
      </p:graphicFrame>
      <p:sp>
        <p:nvSpPr>
          <p:cNvPr id="5" name="Parchemin : horizontal 4">
            <a:extLst>
              <a:ext uri="{FF2B5EF4-FFF2-40B4-BE49-F238E27FC236}">
                <a16:creationId xmlns:a16="http://schemas.microsoft.com/office/drawing/2014/main" id="{CD09BFED-CE47-5C84-14EA-CE2D31C609B8}"/>
              </a:ext>
            </a:extLst>
          </p:cNvPr>
          <p:cNvSpPr/>
          <p:nvPr/>
        </p:nvSpPr>
        <p:spPr>
          <a:xfrm rot="5400000">
            <a:off x="3418821" y="-2250155"/>
            <a:ext cx="5354358" cy="12050372"/>
          </a:xfrm>
          <a:prstGeom prst="horizontalScroll">
            <a:avLst/>
          </a:prstGeom>
          <a:noFill/>
          <a:ln w="28575">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t"/>
          <a:lstStyle/>
          <a:p>
            <a:pPr algn="ctr"/>
            <a:r>
              <a:rPr lang="fr-FR" sz="2800" b="1" dirty="0">
                <a:solidFill>
                  <a:schemeClr val="tx1"/>
                </a:solidFill>
              </a:rPr>
              <a:t>Contrat moral de la Communauté XYZ</a:t>
            </a:r>
          </a:p>
          <a:p>
            <a:pPr algn="ctr"/>
            <a:endParaRPr lang="fr-FR" sz="1400" dirty="0">
              <a:solidFill>
                <a:schemeClr val="tx1"/>
              </a:solidFill>
            </a:endParaRPr>
          </a:p>
          <a:p>
            <a:pPr algn="ctr"/>
            <a:endParaRPr lang="fr-FR" sz="1200" dirty="0">
              <a:solidFill>
                <a:schemeClr val="tx1"/>
              </a:solidFill>
            </a:endParaRPr>
          </a:p>
          <a:p>
            <a:pPr algn="ctr"/>
            <a:endParaRPr lang="fr-FR" sz="1200" dirty="0">
              <a:solidFill>
                <a:schemeClr val="tx1"/>
              </a:solidFill>
            </a:endParaRPr>
          </a:p>
        </p:txBody>
      </p:sp>
      <p:pic>
        <p:nvPicPr>
          <p:cNvPr id="6" name="Graphique 5" descr="Bâtiment avec un remplissage uni">
            <a:extLst>
              <a:ext uri="{FF2B5EF4-FFF2-40B4-BE49-F238E27FC236}">
                <a16:creationId xmlns:a16="http://schemas.microsoft.com/office/drawing/2014/main" id="{EB378247-A3CE-ACEC-94C2-8B56554F738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75288" y="5656051"/>
            <a:ext cx="556284" cy="556284"/>
          </a:xfrm>
          <a:prstGeom prst="rect">
            <a:avLst/>
          </a:prstGeom>
        </p:spPr>
      </p:pic>
      <p:grpSp>
        <p:nvGrpSpPr>
          <p:cNvPr id="7" name="Groupe 6">
            <a:extLst>
              <a:ext uri="{FF2B5EF4-FFF2-40B4-BE49-F238E27FC236}">
                <a16:creationId xmlns:a16="http://schemas.microsoft.com/office/drawing/2014/main" id="{A8CF6019-1DBC-CC7A-A73A-6CFF041CBE08}"/>
              </a:ext>
            </a:extLst>
          </p:cNvPr>
          <p:cNvGrpSpPr/>
          <p:nvPr/>
        </p:nvGrpSpPr>
        <p:grpSpPr>
          <a:xfrm>
            <a:off x="7987594" y="5623011"/>
            <a:ext cx="701977" cy="570004"/>
            <a:chOff x="8982504" y="3274976"/>
            <a:chExt cx="1230670" cy="1037553"/>
          </a:xfrm>
          <a:solidFill>
            <a:srgbClr val="ED7D31"/>
          </a:solidFill>
        </p:grpSpPr>
        <p:pic>
          <p:nvPicPr>
            <p:cNvPr id="8" name="Graphique 7" descr="Utilisateur avec un remplissage uni">
              <a:extLst>
                <a:ext uri="{FF2B5EF4-FFF2-40B4-BE49-F238E27FC236}">
                  <a16:creationId xmlns:a16="http://schemas.microsoft.com/office/drawing/2014/main" id="{D2D7A349-0AAF-8EEB-807A-D2B7C8A0D32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9" name="Graphique 8" descr="Utilisateur avec un remplissage uni">
              <a:extLst>
                <a:ext uri="{FF2B5EF4-FFF2-40B4-BE49-F238E27FC236}">
                  <a16:creationId xmlns:a16="http://schemas.microsoft.com/office/drawing/2014/main" id="{6699A2AA-A585-FE86-4F53-3ACE8412427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0" name="Graphique 9" descr="Utilisateur avec un remplissage uni">
              <a:extLst>
                <a:ext uri="{FF2B5EF4-FFF2-40B4-BE49-F238E27FC236}">
                  <a16:creationId xmlns:a16="http://schemas.microsoft.com/office/drawing/2014/main" id="{5FEA995C-E486-FBFA-7D19-E755199BF2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AB19C6D-D51A-2CE6-F43C-9789F29BB7B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2" name="Graphique 11" descr="Utilisateur avec un remplissage uni">
              <a:extLst>
                <a:ext uri="{FF2B5EF4-FFF2-40B4-BE49-F238E27FC236}">
                  <a16:creationId xmlns:a16="http://schemas.microsoft.com/office/drawing/2014/main" id="{4B586117-7B7E-040F-C49B-975801C14A6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3" name="Graphique 12" descr="Utilisateur avec un remplissage uni">
              <a:extLst>
                <a:ext uri="{FF2B5EF4-FFF2-40B4-BE49-F238E27FC236}">
                  <a16:creationId xmlns:a16="http://schemas.microsoft.com/office/drawing/2014/main" id="{33F73BD3-9E34-DABB-FC82-181C5BC9F24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4" name="Graphique 13" descr="Utilisateur avec un remplissage uni">
              <a:extLst>
                <a:ext uri="{FF2B5EF4-FFF2-40B4-BE49-F238E27FC236}">
                  <a16:creationId xmlns:a16="http://schemas.microsoft.com/office/drawing/2014/main" id="{A6214CD2-3A9F-BF0E-72CE-D53C2B835B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5" name="Graphique 14" descr="Utilisateur avec un remplissage uni">
              <a:extLst>
                <a:ext uri="{FF2B5EF4-FFF2-40B4-BE49-F238E27FC236}">
                  <a16:creationId xmlns:a16="http://schemas.microsoft.com/office/drawing/2014/main" id="{7D4F0DEB-5327-EBD9-BDEC-541E42DD221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6" name="Graphique 15" descr="Utilisateur avec un remplissage uni">
              <a:extLst>
                <a:ext uri="{FF2B5EF4-FFF2-40B4-BE49-F238E27FC236}">
                  <a16:creationId xmlns:a16="http://schemas.microsoft.com/office/drawing/2014/main" id="{8CAC165B-1101-67C8-0F6B-2CC4E9BD05F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7" name="Graphique 16" descr="Utilisateur avec un remplissage uni">
              <a:extLst>
                <a:ext uri="{FF2B5EF4-FFF2-40B4-BE49-F238E27FC236}">
                  <a16:creationId xmlns:a16="http://schemas.microsoft.com/office/drawing/2014/main" id="{5092F561-BE16-F8F8-81E3-C43728FA73A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8" name="Graphique 17" descr="Utilisateur avec un remplissage uni">
              <a:extLst>
                <a:ext uri="{FF2B5EF4-FFF2-40B4-BE49-F238E27FC236}">
                  <a16:creationId xmlns:a16="http://schemas.microsoft.com/office/drawing/2014/main" id="{986105C8-8910-1389-BDAA-10C5EB952BA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9" name="Graphique 18" descr="Employée de bureau avec un remplissage uni">
            <a:extLst>
              <a:ext uri="{FF2B5EF4-FFF2-40B4-BE49-F238E27FC236}">
                <a16:creationId xmlns:a16="http://schemas.microsoft.com/office/drawing/2014/main" id="{55EAD650-BB11-BF6F-BD1A-E17CF06E6B6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388524" y="5601426"/>
            <a:ext cx="647875" cy="647875"/>
          </a:xfrm>
          <a:prstGeom prst="rect">
            <a:avLst/>
          </a:prstGeom>
        </p:spPr>
      </p:pic>
      <p:sp>
        <p:nvSpPr>
          <p:cNvPr id="20" name="Espace réservé du contenu 2">
            <a:extLst>
              <a:ext uri="{FF2B5EF4-FFF2-40B4-BE49-F238E27FC236}">
                <a16:creationId xmlns:a16="http://schemas.microsoft.com/office/drawing/2014/main" id="{A73179C7-6538-4C61-A238-A4CD3EBF18B5}"/>
              </a:ext>
            </a:extLst>
          </p:cNvPr>
          <p:cNvSpPr txBox="1">
            <a:spLocks/>
          </p:cNvSpPr>
          <p:nvPr/>
        </p:nvSpPr>
        <p:spPr>
          <a:xfrm>
            <a:off x="4383635" y="6166764"/>
            <a:ext cx="822284" cy="2998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100" b="1" dirty="0">
                <a:solidFill>
                  <a:srgbClr val="3494BA"/>
                </a:solidFill>
              </a:rPr>
              <a:t>Sponsor</a:t>
            </a:r>
          </a:p>
        </p:txBody>
      </p:sp>
      <p:sp>
        <p:nvSpPr>
          <p:cNvPr id="21" name="Espace réservé du contenu 2">
            <a:extLst>
              <a:ext uri="{FF2B5EF4-FFF2-40B4-BE49-F238E27FC236}">
                <a16:creationId xmlns:a16="http://schemas.microsoft.com/office/drawing/2014/main" id="{1CEE3D54-FE84-1839-42DE-566E6A3FA196}"/>
              </a:ext>
            </a:extLst>
          </p:cNvPr>
          <p:cNvSpPr txBox="1">
            <a:spLocks/>
          </p:cNvSpPr>
          <p:nvPr/>
        </p:nvSpPr>
        <p:spPr>
          <a:xfrm>
            <a:off x="7944076" y="6166138"/>
            <a:ext cx="822284" cy="2998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100" b="1" dirty="0">
                <a:solidFill>
                  <a:srgbClr val="ED7D31"/>
                </a:solidFill>
              </a:rPr>
              <a:t>Membres</a:t>
            </a:r>
          </a:p>
        </p:txBody>
      </p:sp>
      <p:sp>
        <p:nvSpPr>
          <p:cNvPr id="22" name="Espace réservé du contenu 2">
            <a:extLst>
              <a:ext uri="{FF2B5EF4-FFF2-40B4-BE49-F238E27FC236}">
                <a16:creationId xmlns:a16="http://schemas.microsoft.com/office/drawing/2014/main" id="{0E9276F3-01A4-FA26-C89E-F5019058DB00}"/>
              </a:ext>
            </a:extLst>
          </p:cNvPr>
          <p:cNvSpPr txBox="1">
            <a:spLocks/>
          </p:cNvSpPr>
          <p:nvPr/>
        </p:nvSpPr>
        <p:spPr>
          <a:xfrm>
            <a:off x="1030011" y="6193015"/>
            <a:ext cx="822284" cy="2998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100" b="1" dirty="0"/>
              <a:t>Entreprise</a:t>
            </a:r>
          </a:p>
        </p:txBody>
      </p:sp>
      <p:sp>
        <p:nvSpPr>
          <p:cNvPr id="23" name="Rectangle 22">
            <a:extLst>
              <a:ext uri="{FF2B5EF4-FFF2-40B4-BE49-F238E27FC236}">
                <a16:creationId xmlns:a16="http://schemas.microsoft.com/office/drawing/2014/main" id="{3EA0972E-89BF-B1F7-17CD-F27E6478F6A8}"/>
              </a:ext>
            </a:extLst>
          </p:cNvPr>
          <p:cNvSpPr/>
          <p:nvPr/>
        </p:nvSpPr>
        <p:spPr>
          <a:xfrm>
            <a:off x="859273" y="3775031"/>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0" i="0" dirty="0">
                <a:solidFill>
                  <a:schemeClr val="tx1"/>
                </a:solidFill>
              </a:rPr>
              <a:t>Garantir aux membres la possibilité de s’engager un certain nombre d’heures de travail par semaine pour la cause de la Communauté</a:t>
            </a:r>
            <a:endParaRPr lang="fr-FR" sz="1200" dirty="0"/>
          </a:p>
        </p:txBody>
      </p:sp>
      <p:sp>
        <p:nvSpPr>
          <p:cNvPr id="24" name="Rectangle 23">
            <a:extLst>
              <a:ext uri="{FF2B5EF4-FFF2-40B4-BE49-F238E27FC236}">
                <a16:creationId xmlns:a16="http://schemas.microsoft.com/office/drawing/2014/main" id="{55B0960F-7ED7-004F-8D74-24FA09CB5103}"/>
              </a:ext>
            </a:extLst>
          </p:cNvPr>
          <p:cNvSpPr/>
          <p:nvPr/>
        </p:nvSpPr>
        <p:spPr>
          <a:xfrm>
            <a:off x="4448610" y="3775031"/>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0" i="0" dirty="0">
                <a:solidFill>
                  <a:schemeClr val="tx1"/>
                </a:solidFill>
              </a:rPr>
              <a:t>Intervenir en cas de conflit d’intérêt entre directives de la Communauté et directives managériales des membres</a:t>
            </a:r>
            <a:endParaRPr lang="fr-FR" sz="1200" dirty="0"/>
          </a:p>
        </p:txBody>
      </p:sp>
      <p:sp>
        <p:nvSpPr>
          <p:cNvPr id="25" name="Rectangle 24">
            <a:extLst>
              <a:ext uri="{FF2B5EF4-FFF2-40B4-BE49-F238E27FC236}">
                <a16:creationId xmlns:a16="http://schemas.microsoft.com/office/drawing/2014/main" id="{D11C7ADA-BF3A-3A82-30E6-CB22C4109F05}"/>
              </a:ext>
            </a:extLst>
          </p:cNvPr>
          <p:cNvSpPr/>
          <p:nvPr/>
        </p:nvSpPr>
        <p:spPr>
          <a:xfrm>
            <a:off x="4448610" y="4748445"/>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0" i="0" dirty="0">
                <a:solidFill>
                  <a:schemeClr val="tx1"/>
                </a:solidFill>
              </a:rPr>
              <a:t>- Promouvoir la Communauté </a:t>
            </a:r>
          </a:p>
          <a:p>
            <a:pPr algn="ctr"/>
            <a:r>
              <a:rPr lang="fr-FR" sz="1200" dirty="0">
                <a:solidFill>
                  <a:schemeClr val="tx1"/>
                </a:solidFill>
              </a:rPr>
              <a:t>- Respecter l’autonomie des membres</a:t>
            </a:r>
            <a:endParaRPr lang="fr-FR" sz="1200" dirty="0"/>
          </a:p>
        </p:txBody>
      </p:sp>
      <p:sp>
        <p:nvSpPr>
          <p:cNvPr id="26" name="Rectangle 25">
            <a:extLst>
              <a:ext uri="{FF2B5EF4-FFF2-40B4-BE49-F238E27FC236}">
                <a16:creationId xmlns:a16="http://schemas.microsoft.com/office/drawing/2014/main" id="{7C082D5E-BB18-7439-8E2A-04D9089851BF}"/>
              </a:ext>
            </a:extLst>
          </p:cNvPr>
          <p:cNvSpPr/>
          <p:nvPr/>
        </p:nvSpPr>
        <p:spPr>
          <a:xfrm>
            <a:off x="859273" y="4734305"/>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ctr">
              <a:buFontTx/>
              <a:buChar char="-"/>
            </a:pPr>
            <a:r>
              <a:rPr lang="fr-FR" sz="1200" b="0" i="0" dirty="0">
                <a:solidFill>
                  <a:schemeClr val="tx1"/>
                </a:solidFill>
              </a:rPr>
              <a:t>Fournir outils, locaux, réseau à la Communauté</a:t>
            </a:r>
          </a:p>
          <a:p>
            <a:pPr marL="171450" indent="-171450" algn="ctr">
              <a:buFontTx/>
              <a:buChar char="-"/>
            </a:pPr>
            <a:r>
              <a:rPr lang="fr-FR" sz="1200" dirty="0">
                <a:solidFill>
                  <a:schemeClr val="tx1"/>
                </a:solidFill>
              </a:rPr>
              <a:t>Laisser la Communauté libre de communiquer ses activités en dehors de l’entreprise</a:t>
            </a:r>
            <a:endParaRPr lang="fr-FR" sz="1200" dirty="0"/>
          </a:p>
        </p:txBody>
      </p:sp>
      <p:sp>
        <p:nvSpPr>
          <p:cNvPr id="27" name="Rectangle 26">
            <a:extLst>
              <a:ext uri="{FF2B5EF4-FFF2-40B4-BE49-F238E27FC236}">
                <a16:creationId xmlns:a16="http://schemas.microsoft.com/office/drawing/2014/main" id="{DD908A2A-23EC-F930-CA16-CA2701CD788F}"/>
              </a:ext>
            </a:extLst>
          </p:cNvPr>
          <p:cNvSpPr/>
          <p:nvPr/>
        </p:nvSpPr>
        <p:spPr>
          <a:xfrm>
            <a:off x="7987594" y="4751237"/>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ctr">
              <a:buFontTx/>
              <a:buChar char="-"/>
            </a:pPr>
            <a:r>
              <a:rPr lang="fr-FR" sz="1200" b="0" i="0" dirty="0">
                <a:solidFill>
                  <a:schemeClr val="tx1"/>
                </a:solidFill>
              </a:rPr>
              <a:t>Capitaliser autant que possible les informations générées dans la Communauté</a:t>
            </a:r>
          </a:p>
          <a:p>
            <a:pPr marL="171450" indent="-171450" algn="ctr">
              <a:buFontTx/>
              <a:buChar char="-"/>
            </a:pPr>
            <a:r>
              <a:rPr lang="fr-FR" sz="1200" dirty="0">
                <a:solidFill>
                  <a:schemeClr val="tx1"/>
                </a:solidFill>
              </a:rPr>
              <a:t>Mettre en valeur l’entreprise et son soutien</a:t>
            </a:r>
            <a:endParaRPr lang="fr-FR" sz="1200" dirty="0"/>
          </a:p>
        </p:txBody>
      </p:sp>
      <p:sp>
        <p:nvSpPr>
          <p:cNvPr id="28" name="Rectangle 27">
            <a:extLst>
              <a:ext uri="{FF2B5EF4-FFF2-40B4-BE49-F238E27FC236}">
                <a16:creationId xmlns:a16="http://schemas.microsoft.com/office/drawing/2014/main" id="{19E6EA1A-B5F0-DEAF-22BC-057D248C046B}"/>
              </a:ext>
            </a:extLst>
          </p:cNvPr>
          <p:cNvSpPr/>
          <p:nvPr/>
        </p:nvSpPr>
        <p:spPr>
          <a:xfrm>
            <a:off x="7987594" y="3776625"/>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ctr">
              <a:buFontTx/>
              <a:buChar char="-"/>
            </a:pPr>
            <a:r>
              <a:rPr lang="fr-FR" sz="1200" b="0" i="0" dirty="0">
                <a:solidFill>
                  <a:schemeClr val="tx1"/>
                </a:solidFill>
              </a:rPr>
              <a:t>Créer des livrables sur XYZ utilisables par toute l’entreprise</a:t>
            </a:r>
          </a:p>
          <a:p>
            <a:pPr marL="171450" indent="-171450" algn="ctr">
              <a:buFontTx/>
              <a:buChar char="-"/>
            </a:pPr>
            <a:r>
              <a:rPr lang="fr-FR" sz="1200" dirty="0">
                <a:solidFill>
                  <a:schemeClr val="tx1"/>
                </a:solidFill>
              </a:rPr>
              <a:t>Développer l’excellence en XYZ pour tous</a:t>
            </a:r>
            <a:endParaRPr lang="fr-FR" sz="1200" dirty="0"/>
          </a:p>
        </p:txBody>
      </p:sp>
      <p:pic>
        <p:nvPicPr>
          <p:cNvPr id="30" name="Graphique 29" descr="Badge coche avec un remplissage uni">
            <a:extLst>
              <a:ext uri="{FF2B5EF4-FFF2-40B4-BE49-F238E27FC236}">
                <a16:creationId xmlns:a16="http://schemas.microsoft.com/office/drawing/2014/main" id="{C8AAFD5F-4D7C-B110-C060-F9A07A8E05C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100157" y="5508053"/>
            <a:ext cx="914400" cy="914400"/>
          </a:xfrm>
          <a:prstGeom prst="rect">
            <a:avLst/>
          </a:prstGeom>
        </p:spPr>
      </p:pic>
      <p:pic>
        <p:nvPicPr>
          <p:cNvPr id="32" name="Graphique 31" descr="Signature avec un remplissage uni">
            <a:extLst>
              <a:ext uri="{FF2B5EF4-FFF2-40B4-BE49-F238E27FC236}">
                <a16:creationId xmlns:a16="http://schemas.microsoft.com/office/drawing/2014/main" id="{55195F74-98B8-FD23-4AD4-CEC1F4ED92A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577166" y="5532847"/>
            <a:ext cx="914400" cy="914400"/>
          </a:xfrm>
          <a:prstGeom prst="rect">
            <a:avLst/>
          </a:prstGeom>
        </p:spPr>
      </p:pic>
      <p:pic>
        <p:nvPicPr>
          <p:cNvPr id="33" name="Graphique 32" descr="Signature avec un remplissage uni">
            <a:extLst>
              <a:ext uri="{FF2B5EF4-FFF2-40B4-BE49-F238E27FC236}">
                <a16:creationId xmlns:a16="http://schemas.microsoft.com/office/drawing/2014/main" id="{9349CA4C-3181-6960-4B98-BB1A65FFF6B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409808" y="5508053"/>
            <a:ext cx="914400" cy="914400"/>
          </a:xfrm>
          <a:prstGeom prst="rect">
            <a:avLst/>
          </a:prstGeom>
        </p:spPr>
      </p:pic>
      <p:sp>
        <p:nvSpPr>
          <p:cNvPr id="34" name="Rectangle 33">
            <a:extLst>
              <a:ext uri="{FF2B5EF4-FFF2-40B4-BE49-F238E27FC236}">
                <a16:creationId xmlns:a16="http://schemas.microsoft.com/office/drawing/2014/main" id="{2E2B71F8-F1F8-703B-BD4F-08F55D2A001E}"/>
              </a:ext>
            </a:extLst>
          </p:cNvPr>
          <p:cNvSpPr/>
          <p:nvPr/>
        </p:nvSpPr>
        <p:spPr>
          <a:xfrm>
            <a:off x="2707122" y="2761058"/>
            <a:ext cx="6610350"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ctr">
              <a:buFontTx/>
              <a:buChar char="-"/>
            </a:pPr>
            <a:r>
              <a:rPr lang="fr-FR" sz="1200" b="0" i="0" dirty="0">
                <a:solidFill>
                  <a:schemeClr val="tx1"/>
                </a:solidFill>
              </a:rPr>
              <a:t>Créer une nouvelle discipline «XYZ » avec les compétences et efforts des membres</a:t>
            </a:r>
          </a:p>
          <a:p>
            <a:pPr marL="171450" indent="-171450" algn="ctr">
              <a:buFontTx/>
              <a:buChar char="-"/>
            </a:pPr>
            <a:r>
              <a:rPr lang="fr-FR" sz="1200" dirty="0">
                <a:solidFill>
                  <a:schemeClr val="tx1"/>
                </a:solidFill>
              </a:rPr>
              <a:t>Former les membres à XYZ jusqu’à un niveau d’excellence</a:t>
            </a:r>
          </a:p>
          <a:p>
            <a:pPr marL="171450" indent="-171450" algn="ctr">
              <a:buFontTx/>
              <a:buChar char="-"/>
            </a:pPr>
            <a:r>
              <a:rPr lang="fr-FR" sz="1200" dirty="0">
                <a:solidFill>
                  <a:schemeClr val="tx1"/>
                </a:solidFill>
              </a:rPr>
              <a:t>Aider quiconque dans l’entreprise à appliquer et bénéficier de XYZ</a:t>
            </a:r>
            <a:endParaRPr lang="fr-FR" sz="1200" dirty="0"/>
          </a:p>
        </p:txBody>
      </p:sp>
    </p:spTree>
    <p:extLst>
      <p:ext uri="{BB962C8B-B14F-4D97-AF65-F5344CB8AC3E}">
        <p14:creationId xmlns:p14="http://schemas.microsoft.com/office/powerpoint/2010/main" val="2126343746"/>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0454FF1-E024-FA09-7E9C-7833A10856B2}"/>
              </a:ext>
            </a:extLst>
          </p:cNvPr>
          <p:cNvSpPr>
            <a:spLocks noGrp="1"/>
          </p:cNvSpPr>
          <p:nvPr>
            <p:ph type="title"/>
          </p:nvPr>
        </p:nvSpPr>
        <p:spPr/>
        <p:txBody>
          <a:bodyPr/>
          <a:lstStyle/>
          <a:p>
            <a:r>
              <a:rPr lang="fr-FR" dirty="0"/>
              <a:t>Renseignement sur la Communauté</a:t>
            </a:r>
          </a:p>
        </p:txBody>
      </p:sp>
      <p:sp>
        <p:nvSpPr>
          <p:cNvPr id="7" name="Espace réservé du contenu 6">
            <a:extLst>
              <a:ext uri="{FF2B5EF4-FFF2-40B4-BE49-F238E27FC236}">
                <a16:creationId xmlns:a16="http://schemas.microsoft.com/office/drawing/2014/main" id="{09FC56EB-36ED-D081-2554-CFE262E9B18F}"/>
              </a:ext>
            </a:extLst>
          </p:cNvPr>
          <p:cNvSpPr>
            <a:spLocks noGrp="1"/>
          </p:cNvSpPr>
          <p:nvPr>
            <p:ph idx="1"/>
          </p:nvPr>
        </p:nvSpPr>
        <p:spPr>
          <a:xfrm>
            <a:off x="838200" y="1602377"/>
            <a:ext cx="3486723" cy="4890498"/>
          </a:xfrm>
        </p:spPr>
        <p:txBody>
          <a:bodyPr>
            <a:normAutofit/>
          </a:bodyPr>
          <a:lstStyle/>
          <a:p>
            <a:pPr marL="0" indent="0">
              <a:buNone/>
            </a:pPr>
            <a:r>
              <a:rPr lang="fr-FR" sz="1400" dirty="0"/>
              <a:t>Même avec les meilleures capacités de décision, exemples et autres inspirations, il est très difficile de mettre ces compétences en application « en aveugle », c’est à dire sans connaître son terrain. </a:t>
            </a:r>
          </a:p>
          <a:p>
            <a:pPr marL="0" indent="0">
              <a:buNone/>
            </a:pPr>
            <a:endParaRPr lang="fr-FR" sz="1400" dirty="0"/>
          </a:p>
          <a:p>
            <a:pPr marL="0" indent="0">
              <a:buNone/>
            </a:pPr>
            <a:r>
              <a:rPr lang="fr-FR" sz="1400" dirty="0"/>
              <a:t>Dans la plupart des situations, il est essentiel de connaître sa Communauté, ses parties prenantes, son histoire, son état actuel et son potentiel futur. </a:t>
            </a:r>
          </a:p>
          <a:p>
            <a:pPr marL="0" indent="0">
              <a:buNone/>
            </a:pPr>
            <a:endParaRPr lang="fr-FR" sz="1400" dirty="0"/>
          </a:p>
          <a:p>
            <a:pPr marL="0" indent="0">
              <a:buNone/>
            </a:pPr>
            <a:r>
              <a:rPr lang="fr-FR" sz="1400" dirty="0"/>
              <a:t>Au-delà de la Communauté telle quelle, la connaissance des conditions favorables ou défavorables à certaines actions permet de mieux décider.</a:t>
            </a:r>
          </a:p>
          <a:p>
            <a:pPr marL="0" indent="0">
              <a:buNone/>
            </a:pPr>
            <a:endParaRPr lang="fr-FR" sz="1400" dirty="0"/>
          </a:p>
          <a:p>
            <a:pPr marL="0" indent="0">
              <a:buNone/>
            </a:pPr>
            <a:r>
              <a:rPr lang="fr-FR" sz="1400" dirty="0"/>
              <a:t>Cette connaissance peut se développer par des moyens de renseignement.</a:t>
            </a:r>
          </a:p>
        </p:txBody>
      </p:sp>
      <p:pic>
        <p:nvPicPr>
          <p:cNvPr id="4" name="Image 3">
            <a:extLst>
              <a:ext uri="{FF2B5EF4-FFF2-40B4-BE49-F238E27FC236}">
                <a16:creationId xmlns:a16="http://schemas.microsoft.com/office/drawing/2014/main" id="{26682CD8-6163-D85E-9106-29EA2B782F79}"/>
              </a:ext>
            </a:extLst>
          </p:cNvPr>
          <p:cNvPicPr>
            <a:picLocks noChangeAspect="1"/>
          </p:cNvPicPr>
          <p:nvPr/>
        </p:nvPicPr>
        <p:blipFill>
          <a:blip r:embed="rId2">
            <a:extLst>
              <a:ext uri="{BEBA8EAE-BF5A-486C-A8C5-ECC9F3942E4B}">
                <a14:imgProps xmlns:a14="http://schemas.microsoft.com/office/drawing/2010/main">
                  <a14:imgLayer r:embed="rId3">
                    <a14:imgEffect>
                      <a14:artisticBlur radius="50"/>
                    </a14:imgEffect>
                  </a14:imgLayer>
                </a14:imgProps>
              </a:ext>
              <a:ext uri="{28A0092B-C50C-407E-A947-70E740481C1C}">
                <a14:useLocalDpi xmlns:a14="http://schemas.microsoft.com/office/drawing/2010/main" val="0"/>
              </a:ext>
            </a:extLst>
          </a:blip>
          <a:stretch>
            <a:fillRect/>
          </a:stretch>
        </p:blipFill>
        <p:spPr>
          <a:xfrm>
            <a:off x="5038541" y="2035916"/>
            <a:ext cx="2153017" cy="1947968"/>
          </a:xfrm>
          <a:prstGeom prst="rect">
            <a:avLst/>
          </a:prstGeom>
        </p:spPr>
      </p:pic>
      <p:pic>
        <p:nvPicPr>
          <p:cNvPr id="15" name="Image 14">
            <a:extLst>
              <a:ext uri="{FF2B5EF4-FFF2-40B4-BE49-F238E27FC236}">
                <a16:creationId xmlns:a16="http://schemas.microsoft.com/office/drawing/2014/main" id="{DD0C97E6-DE52-53D3-F189-83F22DA16B2D}"/>
              </a:ext>
            </a:extLst>
          </p:cNvPr>
          <p:cNvPicPr>
            <a:picLocks noChangeAspect="1"/>
          </p:cNvPicPr>
          <p:nvPr/>
        </p:nvPicPr>
        <p:blipFill>
          <a:blip r:embed="rId4">
            <a:extLst>
              <a:ext uri="{BEBA8EAE-BF5A-486C-A8C5-ECC9F3942E4B}">
                <a14:imgProps xmlns:a14="http://schemas.microsoft.com/office/drawing/2010/main">
                  <a14:imgLayer r:embed="rId3">
                    <a14:imgEffect>
                      <a14:artisticBlur radius="25"/>
                    </a14:imgEffect>
                  </a14:imgLayer>
                </a14:imgProps>
              </a:ext>
              <a:ext uri="{28A0092B-C50C-407E-A947-70E740481C1C}">
                <a14:useLocalDpi xmlns:a14="http://schemas.microsoft.com/office/drawing/2010/main" val="0"/>
              </a:ext>
            </a:extLst>
          </a:blip>
          <a:stretch>
            <a:fillRect/>
          </a:stretch>
        </p:blipFill>
        <p:spPr>
          <a:xfrm>
            <a:off x="7327863" y="2035916"/>
            <a:ext cx="2153017" cy="1947968"/>
          </a:xfrm>
          <a:prstGeom prst="rect">
            <a:avLst/>
          </a:prstGeom>
        </p:spPr>
      </p:pic>
      <p:pic>
        <p:nvPicPr>
          <p:cNvPr id="16" name="Image 15">
            <a:extLst>
              <a:ext uri="{FF2B5EF4-FFF2-40B4-BE49-F238E27FC236}">
                <a16:creationId xmlns:a16="http://schemas.microsoft.com/office/drawing/2014/main" id="{2AE7C986-2616-34D8-5883-C1F90C2ECE90}"/>
              </a:ext>
            </a:extLst>
          </p:cNvPr>
          <p:cNvPicPr>
            <a:picLocks noChangeAspect="1"/>
          </p:cNvPicPr>
          <p:nvPr/>
        </p:nvPicPr>
        <p:blipFill>
          <a:blip r:embed="rId5">
            <a:extLst>
              <a:ext uri="{BEBA8EAE-BF5A-486C-A8C5-ECC9F3942E4B}">
                <a14:imgProps xmlns:a14="http://schemas.microsoft.com/office/drawing/2010/main">
                  <a14:imgLayer r:embed="rId3">
                    <a14:imgEffect>
                      <a14:artisticBlur radius="5"/>
                    </a14:imgEffect>
                  </a14:imgLayer>
                </a14:imgProps>
              </a:ext>
              <a:ext uri="{28A0092B-C50C-407E-A947-70E740481C1C}">
                <a14:useLocalDpi xmlns:a14="http://schemas.microsoft.com/office/drawing/2010/main" val="0"/>
              </a:ext>
            </a:extLst>
          </a:blip>
          <a:stretch>
            <a:fillRect/>
          </a:stretch>
        </p:blipFill>
        <p:spPr>
          <a:xfrm>
            <a:off x="9617185" y="2035916"/>
            <a:ext cx="2153017" cy="1947968"/>
          </a:xfrm>
          <a:prstGeom prst="rect">
            <a:avLst/>
          </a:prstGeom>
        </p:spPr>
      </p:pic>
      <p:sp>
        <p:nvSpPr>
          <p:cNvPr id="17" name="Flèche : haut 16">
            <a:extLst>
              <a:ext uri="{FF2B5EF4-FFF2-40B4-BE49-F238E27FC236}">
                <a16:creationId xmlns:a16="http://schemas.microsoft.com/office/drawing/2014/main" id="{29BAA7BA-4AF0-C2E2-F13E-52027E618797}"/>
              </a:ext>
            </a:extLst>
          </p:cNvPr>
          <p:cNvSpPr/>
          <p:nvPr/>
        </p:nvSpPr>
        <p:spPr>
          <a:xfrm rot="5400000">
            <a:off x="8109263" y="944818"/>
            <a:ext cx="621871" cy="6700003"/>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18" name="Espace réservé du contenu 4" descr="Informations avec un remplissage uni">
            <a:extLst>
              <a:ext uri="{FF2B5EF4-FFF2-40B4-BE49-F238E27FC236}">
                <a16:creationId xmlns:a16="http://schemas.microsoft.com/office/drawing/2014/main" id="{C8D4DA97-5CCB-65A6-695B-F5458E7A587A}"/>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9528" t="9241" r="9444" b="9731"/>
          <a:stretch/>
        </p:blipFill>
        <p:spPr>
          <a:xfrm>
            <a:off x="4730605" y="4605755"/>
            <a:ext cx="857839" cy="857839"/>
          </a:xfrm>
          <a:prstGeom prst="rect">
            <a:avLst/>
          </a:prstGeom>
        </p:spPr>
      </p:pic>
      <p:pic>
        <p:nvPicPr>
          <p:cNvPr id="19" name="Espace réservé du contenu 4" descr="Informations avec un remplissage uni">
            <a:extLst>
              <a:ext uri="{FF2B5EF4-FFF2-40B4-BE49-F238E27FC236}">
                <a16:creationId xmlns:a16="http://schemas.microsoft.com/office/drawing/2014/main" id="{BC49A7DE-1F5C-846E-B9E0-1BB77EC25A5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9528" t="9241" r="9444" b="9731"/>
          <a:stretch/>
        </p:blipFill>
        <p:spPr>
          <a:xfrm>
            <a:off x="6930600" y="4605757"/>
            <a:ext cx="857839" cy="857839"/>
          </a:xfrm>
          <a:prstGeom prst="rect">
            <a:avLst/>
          </a:prstGeom>
        </p:spPr>
      </p:pic>
      <p:pic>
        <p:nvPicPr>
          <p:cNvPr id="20" name="Espace réservé du contenu 4" descr="Informations avec un remplissage uni">
            <a:extLst>
              <a:ext uri="{FF2B5EF4-FFF2-40B4-BE49-F238E27FC236}">
                <a16:creationId xmlns:a16="http://schemas.microsoft.com/office/drawing/2014/main" id="{469FAF66-885D-B544-C88C-943C32D8AA2A}"/>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9528" t="9241" r="9444" b="9731"/>
          <a:stretch/>
        </p:blipFill>
        <p:spPr>
          <a:xfrm>
            <a:off x="9051960" y="4605756"/>
            <a:ext cx="857839" cy="857839"/>
          </a:xfrm>
          <a:prstGeom prst="rect">
            <a:avLst/>
          </a:prstGeom>
        </p:spPr>
      </p:pic>
      <p:pic>
        <p:nvPicPr>
          <p:cNvPr id="22" name="Image 21" descr="Une image contenant texte&#10;&#10;Description générée automatiquement">
            <a:extLst>
              <a:ext uri="{FF2B5EF4-FFF2-40B4-BE49-F238E27FC236}">
                <a16:creationId xmlns:a16="http://schemas.microsoft.com/office/drawing/2014/main" id="{847D1730-1DEC-87CA-C585-C9C4B13DFB7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1062515" y="2673156"/>
            <a:ext cx="370990" cy="475065"/>
          </a:xfrm>
          <a:prstGeom prst="rect">
            <a:avLst/>
          </a:prstGeom>
        </p:spPr>
      </p:pic>
      <p:pic>
        <p:nvPicPr>
          <p:cNvPr id="23" name="Image 22" descr="Une image contenant texte&#10;&#10;Description générée automatiquement">
            <a:extLst>
              <a:ext uri="{FF2B5EF4-FFF2-40B4-BE49-F238E27FC236}">
                <a16:creationId xmlns:a16="http://schemas.microsoft.com/office/drawing/2014/main" id="{1AAB7FAA-90E6-B894-31CA-4AE9BB1EF35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968860" y="2728998"/>
            <a:ext cx="370990" cy="470486"/>
          </a:xfrm>
          <a:prstGeom prst="rect">
            <a:avLst/>
          </a:prstGeom>
        </p:spPr>
      </p:pic>
      <p:pic>
        <p:nvPicPr>
          <p:cNvPr id="24" name="Graphique 23" descr="Poumons avec un remplissage uni">
            <a:extLst>
              <a:ext uri="{FF2B5EF4-FFF2-40B4-BE49-F238E27FC236}">
                <a16:creationId xmlns:a16="http://schemas.microsoft.com/office/drawing/2014/main" id="{8C5970B1-131E-8483-B2D5-4F84B7426AD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515102" y="2801460"/>
            <a:ext cx="352846" cy="352846"/>
          </a:xfrm>
          <a:prstGeom prst="rect">
            <a:avLst/>
          </a:prstGeom>
        </p:spPr>
      </p:pic>
    </p:spTree>
    <p:extLst>
      <p:ext uri="{BB962C8B-B14F-4D97-AF65-F5344CB8AC3E}">
        <p14:creationId xmlns:p14="http://schemas.microsoft.com/office/powerpoint/2010/main" val="2506971083"/>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07A2B7B-2550-D2EB-996C-552D918CD20F}"/>
              </a:ext>
            </a:extLst>
          </p:cNvPr>
          <p:cNvSpPr>
            <a:spLocks noGrp="1"/>
          </p:cNvSpPr>
          <p:nvPr>
            <p:ph type="title"/>
          </p:nvPr>
        </p:nvSpPr>
        <p:spPr>
          <a:xfrm>
            <a:off x="1866900" y="365125"/>
            <a:ext cx="9486900" cy="1325563"/>
          </a:xfrm>
        </p:spPr>
        <p:txBody>
          <a:bodyPr/>
          <a:lstStyle/>
          <a:p>
            <a:r>
              <a:rPr lang="fr-FR" dirty="0"/>
              <a:t>Le Renseignement délibéré</a:t>
            </a:r>
          </a:p>
        </p:txBody>
      </p:sp>
      <p:sp>
        <p:nvSpPr>
          <p:cNvPr id="3" name="Espace réservé du contenu 2">
            <a:extLst>
              <a:ext uri="{FF2B5EF4-FFF2-40B4-BE49-F238E27FC236}">
                <a16:creationId xmlns:a16="http://schemas.microsoft.com/office/drawing/2014/main" id="{20817707-0C0D-10DE-3CEF-6AD3C32BE121}"/>
              </a:ext>
            </a:extLst>
          </p:cNvPr>
          <p:cNvSpPr>
            <a:spLocks noGrp="1"/>
          </p:cNvSpPr>
          <p:nvPr>
            <p:ph idx="1"/>
          </p:nvPr>
        </p:nvSpPr>
        <p:spPr>
          <a:xfrm>
            <a:off x="838201" y="1825625"/>
            <a:ext cx="3276600" cy="4667250"/>
          </a:xfrm>
        </p:spPr>
        <p:txBody>
          <a:bodyPr>
            <a:normAutofit/>
          </a:bodyPr>
          <a:lstStyle/>
          <a:p>
            <a:pPr marL="0" indent="0">
              <a:buNone/>
            </a:pPr>
            <a:r>
              <a:rPr lang="fr-FR" sz="1800" b="1" dirty="0"/>
              <a:t>Qu’est-ce que c’est ? </a:t>
            </a:r>
          </a:p>
          <a:p>
            <a:pPr marL="0" indent="0">
              <a:buNone/>
            </a:pPr>
            <a:r>
              <a:rPr lang="fr-FR" sz="1800" dirty="0"/>
              <a:t>Le renseignement délibéré est l’action de se renseigner sur la Communauté avec un a priori sur la nature ou le type d’information qu’on recherche (par exemple, des avis sur un sujet donné).</a:t>
            </a:r>
          </a:p>
          <a:p>
            <a:pPr marL="0" indent="0">
              <a:buNone/>
            </a:pPr>
            <a:r>
              <a:rPr lang="fr-FR" sz="1800" dirty="0"/>
              <a:t>Dans le renseignement délibéré, on s’attend aux moments où on va recevoir l’information, et on a souvent l’idée de comment elle sera traitée par la suite.</a:t>
            </a:r>
          </a:p>
          <a:p>
            <a:pPr marL="0" indent="0">
              <a:buNone/>
            </a:pPr>
            <a:r>
              <a:rPr lang="fr-FR" sz="1800" dirty="0"/>
              <a:t>Formulé autrement, dans le renseignement libéré, on a « déjà les questions »</a:t>
            </a:r>
          </a:p>
        </p:txBody>
      </p:sp>
      <p:sp>
        <p:nvSpPr>
          <p:cNvPr id="4" name="Espace réservé du contenu 2">
            <a:extLst>
              <a:ext uri="{FF2B5EF4-FFF2-40B4-BE49-F238E27FC236}">
                <a16:creationId xmlns:a16="http://schemas.microsoft.com/office/drawing/2014/main" id="{17BFC387-3E12-3C5B-1CD5-FEF7D8290E25}"/>
              </a:ext>
            </a:extLst>
          </p:cNvPr>
          <p:cNvSpPr txBox="1">
            <a:spLocks/>
          </p:cNvSpPr>
          <p:nvPr/>
        </p:nvSpPr>
        <p:spPr>
          <a:xfrm>
            <a:off x="4362451" y="1825625"/>
            <a:ext cx="3276600" cy="435133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800" b="1" dirty="0"/>
              <a:t>Avantages et Inconvénients</a:t>
            </a:r>
            <a:endParaRPr lang="fr-FR" sz="1800" dirty="0"/>
          </a:p>
        </p:txBody>
      </p:sp>
      <p:sp>
        <p:nvSpPr>
          <p:cNvPr id="5" name="Espace réservé du contenu 2">
            <a:extLst>
              <a:ext uri="{FF2B5EF4-FFF2-40B4-BE49-F238E27FC236}">
                <a16:creationId xmlns:a16="http://schemas.microsoft.com/office/drawing/2014/main" id="{5F2D11EB-E222-91BF-2DF9-9192BD137BD1}"/>
              </a:ext>
            </a:extLst>
          </p:cNvPr>
          <p:cNvSpPr txBox="1">
            <a:spLocks/>
          </p:cNvSpPr>
          <p:nvPr/>
        </p:nvSpPr>
        <p:spPr>
          <a:xfrm>
            <a:off x="7886701" y="1825625"/>
            <a:ext cx="3276600" cy="4441825"/>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800" b="1" dirty="0"/>
              <a:t>Différences majeures avec le renseignement par interception</a:t>
            </a:r>
          </a:p>
          <a:p>
            <a:r>
              <a:rPr lang="fr-FR" sz="1800" dirty="0"/>
              <a:t>Les informations sont demandées (souvent officiellement)</a:t>
            </a:r>
          </a:p>
          <a:p>
            <a:r>
              <a:rPr lang="fr-FR" sz="1800" dirty="0"/>
              <a:t>Beaucoup plus exposé aux biais méthodologiques, biais de soumission aux groupes, aux limites des outils</a:t>
            </a:r>
          </a:p>
          <a:p>
            <a:r>
              <a:rPr lang="fr-FR" sz="1800" dirty="0"/>
              <a:t>Besoin d’outils et de méthodes de base</a:t>
            </a:r>
          </a:p>
          <a:p>
            <a:r>
              <a:rPr lang="fr-FR" sz="1800" dirty="0"/>
              <a:t>Souvent plus déductif qu’inductif, modèles d’information a priori</a:t>
            </a:r>
          </a:p>
          <a:p>
            <a:endParaRPr lang="fr-FR" sz="1800" dirty="0"/>
          </a:p>
        </p:txBody>
      </p:sp>
      <p:sp>
        <p:nvSpPr>
          <p:cNvPr id="6" name="Rectangle 5">
            <a:extLst>
              <a:ext uri="{FF2B5EF4-FFF2-40B4-BE49-F238E27FC236}">
                <a16:creationId xmlns:a16="http://schemas.microsoft.com/office/drawing/2014/main" id="{2DFF1BE5-EF45-35F2-862C-26BB77716128}"/>
              </a:ext>
            </a:extLst>
          </p:cNvPr>
          <p:cNvSpPr/>
          <p:nvPr/>
        </p:nvSpPr>
        <p:spPr>
          <a:xfrm>
            <a:off x="4362451" y="2305050"/>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Permet de bien cibler l’information à récupérer</a:t>
            </a:r>
          </a:p>
        </p:txBody>
      </p:sp>
      <p:sp>
        <p:nvSpPr>
          <p:cNvPr id="7" name="Rectangle 6">
            <a:extLst>
              <a:ext uri="{FF2B5EF4-FFF2-40B4-BE49-F238E27FC236}">
                <a16:creationId xmlns:a16="http://schemas.microsoft.com/office/drawing/2014/main" id="{2F8DC624-5A31-9801-C437-1BFFA6845FBF}"/>
              </a:ext>
            </a:extLst>
          </p:cNvPr>
          <p:cNvSpPr/>
          <p:nvPr/>
        </p:nvSpPr>
        <p:spPr>
          <a:xfrm>
            <a:off x="5927609" y="2305050"/>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Réduit la capacité à capter les informations annexes ou inattendues</a:t>
            </a:r>
          </a:p>
        </p:txBody>
      </p:sp>
      <p:sp>
        <p:nvSpPr>
          <p:cNvPr id="8" name="Rectangle 7">
            <a:extLst>
              <a:ext uri="{FF2B5EF4-FFF2-40B4-BE49-F238E27FC236}">
                <a16:creationId xmlns:a16="http://schemas.microsoft.com/office/drawing/2014/main" id="{42CB1D57-CDAC-5AA5-F347-F0E772026EB7}"/>
              </a:ext>
            </a:extLst>
          </p:cNvPr>
          <p:cNvSpPr/>
          <p:nvPr/>
        </p:nvSpPr>
        <p:spPr>
          <a:xfrm>
            <a:off x="4362451" y="3195447"/>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Plus grande facilité d’interprétation des résultats de renseignement</a:t>
            </a:r>
          </a:p>
        </p:txBody>
      </p:sp>
      <p:sp>
        <p:nvSpPr>
          <p:cNvPr id="9" name="Rectangle 8">
            <a:extLst>
              <a:ext uri="{FF2B5EF4-FFF2-40B4-BE49-F238E27FC236}">
                <a16:creationId xmlns:a16="http://schemas.microsoft.com/office/drawing/2014/main" id="{C035C7D9-F4E9-9CDC-AC0F-4D4815190995}"/>
              </a:ext>
            </a:extLst>
          </p:cNvPr>
          <p:cNvSpPr/>
          <p:nvPr/>
        </p:nvSpPr>
        <p:spPr>
          <a:xfrm>
            <a:off x="5927609" y="3195446"/>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Besoin de définir a priori une grille de lecture ou au moins une liste de questions</a:t>
            </a:r>
          </a:p>
        </p:txBody>
      </p:sp>
      <p:sp>
        <p:nvSpPr>
          <p:cNvPr id="10" name="Rectangle 9">
            <a:extLst>
              <a:ext uri="{FF2B5EF4-FFF2-40B4-BE49-F238E27FC236}">
                <a16:creationId xmlns:a16="http://schemas.microsoft.com/office/drawing/2014/main" id="{88734784-7B88-8F22-3124-27471135EBB0}"/>
              </a:ext>
            </a:extLst>
          </p:cNvPr>
          <p:cNvSpPr/>
          <p:nvPr/>
        </p:nvSpPr>
        <p:spPr>
          <a:xfrm>
            <a:off x="4362451" y="4085843"/>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Maîtrise du moment ou de l’intervalle de temps de réception de l’information</a:t>
            </a:r>
          </a:p>
        </p:txBody>
      </p:sp>
      <p:sp>
        <p:nvSpPr>
          <p:cNvPr id="11" name="Rectangle 10">
            <a:extLst>
              <a:ext uri="{FF2B5EF4-FFF2-40B4-BE49-F238E27FC236}">
                <a16:creationId xmlns:a16="http://schemas.microsoft.com/office/drawing/2014/main" id="{B31CE562-0178-8A9D-50E9-9A4F76F3DDB6}"/>
              </a:ext>
            </a:extLst>
          </p:cNvPr>
          <p:cNvSpPr/>
          <p:nvPr/>
        </p:nvSpPr>
        <p:spPr>
          <a:xfrm>
            <a:off x="5927609" y="4085842"/>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Souvent besoin de solliciter les parties interrogées (membres, sponsors, etc.) </a:t>
            </a:r>
          </a:p>
        </p:txBody>
      </p:sp>
      <p:pic>
        <p:nvPicPr>
          <p:cNvPr id="14" name="Graphique 13" descr="Femme scientifique avec un remplissage uni">
            <a:extLst>
              <a:ext uri="{FF2B5EF4-FFF2-40B4-BE49-F238E27FC236}">
                <a16:creationId xmlns:a16="http://schemas.microsoft.com/office/drawing/2014/main" id="{525F30E9-BD48-72DC-7AF1-5DECB2B0D68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752476" y="365125"/>
            <a:ext cx="1114424" cy="1114424"/>
          </a:xfrm>
          <a:prstGeom prst="rect">
            <a:avLst/>
          </a:prstGeom>
        </p:spPr>
      </p:pic>
    </p:spTree>
    <p:extLst>
      <p:ext uri="{BB962C8B-B14F-4D97-AF65-F5344CB8AC3E}">
        <p14:creationId xmlns:p14="http://schemas.microsoft.com/office/powerpoint/2010/main" val="386127556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580489C-266C-DBB1-ED72-837A565327DD}"/>
              </a:ext>
            </a:extLst>
          </p:cNvPr>
          <p:cNvSpPr>
            <a:spLocks noGrp="1"/>
          </p:cNvSpPr>
          <p:nvPr>
            <p:ph type="title"/>
          </p:nvPr>
        </p:nvSpPr>
        <p:spPr>
          <a:xfrm>
            <a:off x="1825322" y="365125"/>
            <a:ext cx="9528477" cy="841459"/>
          </a:xfrm>
        </p:spPr>
        <p:txBody>
          <a:bodyPr>
            <a:noAutofit/>
          </a:bodyPr>
          <a:lstStyle/>
          <a:p>
            <a:r>
              <a:rPr lang="fr-FR" sz="3200" b="1" dirty="0"/>
              <a:t>Renseignement délibéré</a:t>
            </a:r>
            <a:br>
              <a:rPr lang="fr-FR" sz="3200" b="1" dirty="0"/>
            </a:br>
            <a:r>
              <a:rPr lang="fr-FR" sz="1800" dirty="0"/>
              <a:t>Exemples d’actions </a:t>
            </a:r>
            <a:r>
              <a:rPr lang="fr-FR" sz="1400" dirty="0"/>
              <a:t>📅Evènements  , ✍️Contenus, ⚙️Structuration de Communauté, 📅+⚙️Structuration de moments, ✍️+⚙️ Structuration de Contenus</a:t>
            </a:r>
            <a:endParaRPr lang="fr-FR" sz="3200" dirty="0"/>
          </a:p>
        </p:txBody>
      </p:sp>
      <p:grpSp>
        <p:nvGrpSpPr>
          <p:cNvPr id="14" name="Groupe 13">
            <a:extLst>
              <a:ext uri="{FF2B5EF4-FFF2-40B4-BE49-F238E27FC236}">
                <a16:creationId xmlns:a16="http://schemas.microsoft.com/office/drawing/2014/main" id="{A296D38E-9DAE-8DEB-8974-36FE4CC18B7B}"/>
              </a:ext>
            </a:extLst>
          </p:cNvPr>
          <p:cNvGrpSpPr/>
          <p:nvPr/>
        </p:nvGrpSpPr>
        <p:grpSpPr>
          <a:xfrm>
            <a:off x="669732" y="1902092"/>
            <a:ext cx="1176599" cy="921643"/>
            <a:chOff x="7748306" y="490159"/>
            <a:chExt cx="3442453" cy="2696512"/>
          </a:xfrm>
        </p:grpSpPr>
        <p:pic>
          <p:nvPicPr>
            <p:cNvPr id="3" name="Graphique 2" descr="Enveloppe avec un remplissage uni">
              <a:extLst>
                <a:ext uri="{FF2B5EF4-FFF2-40B4-BE49-F238E27FC236}">
                  <a16:creationId xmlns:a16="http://schemas.microsoft.com/office/drawing/2014/main" id="{F09C4CD1-7F08-7741-6B12-4E84F35DAA8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276359" y="490159"/>
              <a:ext cx="914400" cy="914400"/>
            </a:xfrm>
            <a:prstGeom prst="rect">
              <a:avLst/>
            </a:prstGeom>
          </p:spPr>
        </p:pic>
        <p:grpSp>
          <p:nvGrpSpPr>
            <p:cNvPr id="4" name="Groupe 3">
              <a:extLst>
                <a:ext uri="{FF2B5EF4-FFF2-40B4-BE49-F238E27FC236}">
                  <a16:creationId xmlns:a16="http://schemas.microsoft.com/office/drawing/2014/main" id="{D2A9616A-EE46-1685-962D-AEEAF28E6D51}"/>
                </a:ext>
              </a:extLst>
            </p:cNvPr>
            <p:cNvGrpSpPr/>
            <p:nvPr/>
          </p:nvGrpSpPr>
          <p:grpSpPr>
            <a:xfrm>
              <a:off x="7748306" y="1139265"/>
              <a:ext cx="1452457" cy="1899771"/>
              <a:chOff x="7682578" y="1021976"/>
              <a:chExt cx="1658646" cy="2169460"/>
            </a:xfrm>
          </p:grpSpPr>
          <p:pic>
            <p:nvPicPr>
              <p:cNvPr id="5" name="Graphique 4" descr="Papier contour">
                <a:extLst>
                  <a:ext uri="{FF2B5EF4-FFF2-40B4-BE49-F238E27FC236}">
                    <a16:creationId xmlns:a16="http://schemas.microsoft.com/office/drawing/2014/main" id="{C53304FA-7302-3484-FF0A-23906B80B5FE}"/>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17172" t="6805" r="16563" b="6523"/>
              <a:stretch/>
            </p:blipFill>
            <p:spPr>
              <a:xfrm>
                <a:off x="7682578" y="1021976"/>
                <a:ext cx="1658646" cy="2169460"/>
              </a:xfrm>
              <a:prstGeom prst="rect">
                <a:avLst/>
              </a:prstGeom>
            </p:spPr>
          </p:pic>
          <p:pic>
            <p:nvPicPr>
              <p:cNvPr id="6" name="Graphique 5" descr="Aide avec un remplissage uni">
                <a:extLst>
                  <a:ext uri="{FF2B5EF4-FFF2-40B4-BE49-F238E27FC236}">
                    <a16:creationId xmlns:a16="http://schemas.microsoft.com/office/drawing/2014/main" id="{DFE779A1-B6E3-FE41-5993-D358853BA35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29327" y="1628496"/>
                <a:ext cx="537883" cy="537883"/>
              </a:xfrm>
              <a:prstGeom prst="rect">
                <a:avLst/>
              </a:prstGeom>
            </p:spPr>
          </p:pic>
          <p:pic>
            <p:nvPicPr>
              <p:cNvPr id="7" name="Graphique 6" descr="Aide avec un remplissage uni">
                <a:extLst>
                  <a:ext uri="{FF2B5EF4-FFF2-40B4-BE49-F238E27FC236}">
                    <a16:creationId xmlns:a16="http://schemas.microsoft.com/office/drawing/2014/main" id="{92F5A6D8-ADD2-DDFF-7D6F-C21DBE46A5D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836722" y="2103170"/>
                <a:ext cx="537883" cy="537883"/>
              </a:xfrm>
              <a:prstGeom prst="rect">
                <a:avLst/>
              </a:prstGeom>
            </p:spPr>
          </p:pic>
          <p:pic>
            <p:nvPicPr>
              <p:cNvPr id="8" name="Graphique 7" descr="Aide avec un remplissage uni">
                <a:extLst>
                  <a:ext uri="{FF2B5EF4-FFF2-40B4-BE49-F238E27FC236}">
                    <a16:creationId xmlns:a16="http://schemas.microsoft.com/office/drawing/2014/main" id="{C7221CEE-FA68-83CC-0ABC-A21090C1001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829326" y="2577844"/>
                <a:ext cx="537883" cy="537883"/>
              </a:xfrm>
              <a:prstGeom prst="rect">
                <a:avLst/>
              </a:prstGeom>
            </p:spPr>
          </p:pic>
        </p:grpSp>
        <p:cxnSp>
          <p:nvCxnSpPr>
            <p:cNvPr id="9" name="Connecteur : en angle 8">
              <a:extLst>
                <a:ext uri="{FF2B5EF4-FFF2-40B4-BE49-F238E27FC236}">
                  <a16:creationId xmlns:a16="http://schemas.microsoft.com/office/drawing/2014/main" id="{9261A411-8395-6642-4D3C-F400A4332FD8}"/>
                </a:ext>
              </a:extLst>
            </p:cNvPr>
            <p:cNvCxnSpPr>
              <a:stCxn id="5" idx="3"/>
              <a:endCxn id="3" idx="1"/>
            </p:cNvCxnSpPr>
            <p:nvPr/>
          </p:nvCxnSpPr>
          <p:spPr>
            <a:xfrm flipV="1">
              <a:off x="9200763" y="947359"/>
              <a:ext cx="1075596" cy="1141792"/>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0" name="Connecteur : en angle 9">
              <a:extLst>
                <a:ext uri="{FF2B5EF4-FFF2-40B4-BE49-F238E27FC236}">
                  <a16:creationId xmlns:a16="http://schemas.microsoft.com/office/drawing/2014/main" id="{0544B28F-1F90-B2FC-585D-619151232F79}"/>
                </a:ext>
              </a:extLst>
            </p:cNvPr>
            <p:cNvCxnSpPr>
              <a:cxnSpLocks/>
              <a:stCxn id="5" idx="3"/>
            </p:cNvCxnSpPr>
            <p:nvPr/>
          </p:nvCxnSpPr>
          <p:spPr>
            <a:xfrm flipV="1">
              <a:off x="9200763" y="1815071"/>
              <a:ext cx="1075596" cy="274080"/>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1" name="Connecteur : en angle 10">
              <a:extLst>
                <a:ext uri="{FF2B5EF4-FFF2-40B4-BE49-F238E27FC236}">
                  <a16:creationId xmlns:a16="http://schemas.microsoft.com/office/drawing/2014/main" id="{DA9791F4-A9AC-A879-EBF5-CF5049356715}"/>
                </a:ext>
              </a:extLst>
            </p:cNvPr>
            <p:cNvCxnSpPr>
              <a:cxnSpLocks/>
              <a:stCxn id="5" idx="3"/>
            </p:cNvCxnSpPr>
            <p:nvPr/>
          </p:nvCxnSpPr>
          <p:spPr>
            <a:xfrm>
              <a:off x="9200763" y="2089151"/>
              <a:ext cx="1075596" cy="593631"/>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pic>
          <p:nvPicPr>
            <p:cNvPr id="12" name="Graphique 11" descr="Réseau en ligne avec un remplissage uni">
              <a:extLst>
                <a:ext uri="{FF2B5EF4-FFF2-40B4-BE49-F238E27FC236}">
                  <a16:creationId xmlns:a16="http://schemas.microsoft.com/office/drawing/2014/main" id="{F81B7AA4-2ED9-A7E9-0B88-D0310A0718E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0214892" y="2272271"/>
              <a:ext cx="914400" cy="914400"/>
            </a:xfrm>
            <a:prstGeom prst="rect">
              <a:avLst/>
            </a:prstGeom>
          </p:spPr>
        </p:pic>
        <p:pic>
          <p:nvPicPr>
            <p:cNvPr id="13" name="Graphique 12" descr="Réunion en ligne avec un remplissage uni">
              <a:extLst>
                <a:ext uri="{FF2B5EF4-FFF2-40B4-BE49-F238E27FC236}">
                  <a16:creationId xmlns:a16="http://schemas.microsoft.com/office/drawing/2014/main" id="{38B50ED0-7BA1-1E7D-80F8-2D15FE4506B3}"/>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0276359" y="1348236"/>
              <a:ext cx="914400" cy="914400"/>
            </a:xfrm>
            <a:prstGeom prst="rect">
              <a:avLst/>
            </a:prstGeom>
          </p:spPr>
        </p:pic>
      </p:grpSp>
      <p:sp>
        <p:nvSpPr>
          <p:cNvPr id="15" name="Rectangle 14">
            <a:extLst>
              <a:ext uri="{FF2B5EF4-FFF2-40B4-BE49-F238E27FC236}">
                <a16:creationId xmlns:a16="http://schemas.microsoft.com/office/drawing/2014/main" id="{276BCA58-248A-8A93-06E3-1F50B67D386A}"/>
              </a:ext>
            </a:extLst>
          </p:cNvPr>
          <p:cNvSpPr/>
          <p:nvPr/>
        </p:nvSpPr>
        <p:spPr>
          <a:xfrm>
            <a:off x="497778" y="284723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✍️Questionnaire numérique / Sondage</a:t>
            </a:r>
          </a:p>
        </p:txBody>
      </p:sp>
      <p:grpSp>
        <p:nvGrpSpPr>
          <p:cNvPr id="25" name="Groupe 24">
            <a:extLst>
              <a:ext uri="{FF2B5EF4-FFF2-40B4-BE49-F238E27FC236}">
                <a16:creationId xmlns:a16="http://schemas.microsoft.com/office/drawing/2014/main" id="{1DF907CF-32B7-C336-4EED-C86B22E564E6}"/>
              </a:ext>
            </a:extLst>
          </p:cNvPr>
          <p:cNvGrpSpPr/>
          <p:nvPr/>
        </p:nvGrpSpPr>
        <p:grpSpPr>
          <a:xfrm>
            <a:off x="2450268" y="1888136"/>
            <a:ext cx="1121389" cy="935599"/>
            <a:chOff x="7829664" y="3812797"/>
            <a:chExt cx="3361095" cy="2804234"/>
          </a:xfrm>
        </p:grpSpPr>
        <p:pic>
          <p:nvPicPr>
            <p:cNvPr id="16" name="Graphique 15" descr="Homme avec un remplissage uni">
              <a:extLst>
                <a:ext uri="{FF2B5EF4-FFF2-40B4-BE49-F238E27FC236}">
                  <a16:creationId xmlns:a16="http://schemas.microsoft.com/office/drawing/2014/main" id="{EDC2E886-6857-92E6-EE63-5F822430AE27}"/>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t="1" b="40502"/>
            <a:stretch/>
          </p:blipFill>
          <p:spPr>
            <a:xfrm>
              <a:off x="8312323" y="4821183"/>
              <a:ext cx="2878436" cy="1712563"/>
            </a:xfrm>
            <a:prstGeom prst="rect">
              <a:avLst/>
            </a:prstGeom>
          </p:spPr>
        </p:pic>
        <p:grpSp>
          <p:nvGrpSpPr>
            <p:cNvPr id="17" name="Groupe 16">
              <a:extLst>
                <a:ext uri="{FF2B5EF4-FFF2-40B4-BE49-F238E27FC236}">
                  <a16:creationId xmlns:a16="http://schemas.microsoft.com/office/drawing/2014/main" id="{1A3E3ED7-3DA4-E2C6-71F7-FBA94B451C20}"/>
                </a:ext>
              </a:extLst>
            </p:cNvPr>
            <p:cNvGrpSpPr/>
            <p:nvPr/>
          </p:nvGrpSpPr>
          <p:grpSpPr>
            <a:xfrm>
              <a:off x="7829664" y="4904469"/>
              <a:ext cx="1747769" cy="1712562"/>
              <a:chOff x="786592" y="4813146"/>
              <a:chExt cx="1747769" cy="1712562"/>
            </a:xfrm>
          </p:grpSpPr>
          <p:pic>
            <p:nvPicPr>
              <p:cNvPr id="18" name="Graphique 17" descr="Microphone avec un remplissage uni">
                <a:extLst>
                  <a:ext uri="{FF2B5EF4-FFF2-40B4-BE49-F238E27FC236}">
                    <a16:creationId xmlns:a16="http://schemas.microsoft.com/office/drawing/2014/main" id="{2D3BEAA2-EF82-251B-0A7F-742CD389D6B4}"/>
                  </a:ext>
                </a:extLst>
              </p:cNvPr>
              <p:cNvPicPr>
                <a:picLocks noChangeAspect="1"/>
              </p:cNvPicPr>
              <p:nvPr/>
            </p:nvPicPr>
            <p:blipFill rotWithShape="1">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rcRect l="26582" r="43264" b="738"/>
              <a:stretch/>
            </p:blipFill>
            <p:spPr>
              <a:xfrm rot="927067" flipH="1">
                <a:off x="2184345" y="5290444"/>
                <a:ext cx="350016" cy="1222715"/>
              </a:xfrm>
              <a:prstGeom prst="rect">
                <a:avLst/>
              </a:prstGeom>
            </p:spPr>
          </p:pic>
          <p:pic>
            <p:nvPicPr>
              <p:cNvPr id="19" name="Graphique 18" descr="Personne confuse avec un remplissage uni">
                <a:extLst>
                  <a:ext uri="{FF2B5EF4-FFF2-40B4-BE49-F238E27FC236}">
                    <a16:creationId xmlns:a16="http://schemas.microsoft.com/office/drawing/2014/main" id="{8D93713C-1E6D-7BAC-9AAA-E9DE75F00118}"/>
                  </a:ext>
                </a:extLst>
              </p:cNvPr>
              <p:cNvPicPr>
                <a:picLocks noChangeAspect="1"/>
              </p:cNvPicPr>
              <p:nvPr/>
            </p:nvPicPr>
            <p:blipFill rotWithShape="1">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l="38856" r="14769" b="50034"/>
              <a:stretch/>
            </p:blipFill>
            <p:spPr>
              <a:xfrm>
                <a:off x="786592" y="4813146"/>
                <a:ext cx="1589482" cy="1712562"/>
              </a:xfrm>
              <a:prstGeom prst="rect">
                <a:avLst/>
              </a:prstGeom>
            </p:spPr>
          </p:pic>
        </p:grpSp>
        <p:pic>
          <p:nvPicPr>
            <p:cNvPr id="20" name="Graphique 19" descr="Bulle de discussion contour">
              <a:extLst>
                <a:ext uri="{FF2B5EF4-FFF2-40B4-BE49-F238E27FC236}">
                  <a16:creationId xmlns:a16="http://schemas.microsoft.com/office/drawing/2014/main" id="{A570A55D-06E6-0805-D3F4-85AE3F2CE8DD}"/>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903" b="12311"/>
            <a:stretch/>
          </p:blipFill>
          <p:spPr>
            <a:xfrm flipH="1">
              <a:off x="9657562" y="3812797"/>
              <a:ext cx="1501399" cy="1188720"/>
            </a:xfrm>
            <a:prstGeom prst="rect">
              <a:avLst/>
            </a:prstGeom>
          </p:spPr>
        </p:pic>
        <p:grpSp>
          <p:nvGrpSpPr>
            <p:cNvPr id="21" name="Groupe 20">
              <a:extLst>
                <a:ext uri="{FF2B5EF4-FFF2-40B4-BE49-F238E27FC236}">
                  <a16:creationId xmlns:a16="http://schemas.microsoft.com/office/drawing/2014/main" id="{E70BF7BC-3322-6728-EEC9-56B82409E20F}"/>
                </a:ext>
              </a:extLst>
            </p:cNvPr>
            <p:cNvGrpSpPr/>
            <p:nvPr/>
          </p:nvGrpSpPr>
          <p:grpSpPr>
            <a:xfrm>
              <a:off x="7954346" y="3871337"/>
              <a:ext cx="1501399" cy="1188720"/>
              <a:chOff x="1733248" y="3784720"/>
              <a:chExt cx="1501399" cy="1188720"/>
            </a:xfrm>
          </p:grpSpPr>
          <p:pic>
            <p:nvPicPr>
              <p:cNvPr id="22" name="Graphique 21" descr="Bulle de discussion contour">
                <a:extLst>
                  <a:ext uri="{FF2B5EF4-FFF2-40B4-BE49-F238E27FC236}">
                    <a16:creationId xmlns:a16="http://schemas.microsoft.com/office/drawing/2014/main" id="{511B25EA-A05B-48C9-B1AC-B102501C95FE}"/>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23" name="Rectangle 22">
                <a:extLst>
                  <a:ext uri="{FF2B5EF4-FFF2-40B4-BE49-F238E27FC236}">
                    <a16:creationId xmlns:a16="http://schemas.microsoft.com/office/drawing/2014/main" id="{9D8C6126-F339-04DC-002D-1F38BB197D2E}"/>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24" name="Graphique 23" descr="Aide avec un remplissage uni">
              <a:extLst>
                <a:ext uri="{FF2B5EF4-FFF2-40B4-BE49-F238E27FC236}">
                  <a16:creationId xmlns:a16="http://schemas.microsoft.com/office/drawing/2014/main" id="{98F75E94-4ABA-B8D6-7B75-2A2120443EE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360689" y="3975365"/>
              <a:ext cx="679669" cy="679669"/>
            </a:xfrm>
            <a:prstGeom prst="rect">
              <a:avLst/>
            </a:prstGeom>
          </p:spPr>
        </p:pic>
      </p:grpSp>
      <p:sp>
        <p:nvSpPr>
          <p:cNvPr id="159" name="Rectangle 158">
            <a:extLst>
              <a:ext uri="{FF2B5EF4-FFF2-40B4-BE49-F238E27FC236}">
                <a16:creationId xmlns:a16="http://schemas.microsoft.com/office/drawing/2014/main" id="{1A3D9E8D-4727-93B6-8BF9-FB7B7BDFEDFA}"/>
              </a:ext>
            </a:extLst>
          </p:cNvPr>
          <p:cNvSpPr/>
          <p:nvPr/>
        </p:nvSpPr>
        <p:spPr>
          <a:xfrm>
            <a:off x="2140372" y="284723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Interview de membre / membre potentiel</a:t>
            </a:r>
          </a:p>
        </p:txBody>
      </p:sp>
      <p:grpSp>
        <p:nvGrpSpPr>
          <p:cNvPr id="35" name="Groupe 34">
            <a:extLst>
              <a:ext uri="{FF2B5EF4-FFF2-40B4-BE49-F238E27FC236}">
                <a16:creationId xmlns:a16="http://schemas.microsoft.com/office/drawing/2014/main" id="{65CC4531-3866-B01E-E196-AE2ACA542F1E}"/>
              </a:ext>
            </a:extLst>
          </p:cNvPr>
          <p:cNvGrpSpPr/>
          <p:nvPr/>
        </p:nvGrpSpPr>
        <p:grpSpPr>
          <a:xfrm>
            <a:off x="4091891" y="1888136"/>
            <a:ext cx="1113255" cy="937684"/>
            <a:chOff x="2361041" y="3812797"/>
            <a:chExt cx="3329297" cy="2804234"/>
          </a:xfrm>
        </p:grpSpPr>
        <p:pic>
          <p:nvPicPr>
            <p:cNvPr id="26" name="Graphique 25" descr="Employée de bureau avec un remplissage uni">
              <a:extLst>
                <a:ext uri="{FF2B5EF4-FFF2-40B4-BE49-F238E27FC236}">
                  <a16:creationId xmlns:a16="http://schemas.microsoft.com/office/drawing/2014/main" id="{69062F7E-F2A8-A167-5C47-9FDFA81E1B38}"/>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875660" y="4634141"/>
              <a:ext cx="1537069" cy="1537069"/>
            </a:xfrm>
            <a:prstGeom prst="rect">
              <a:avLst/>
            </a:prstGeom>
          </p:spPr>
        </p:pic>
        <p:grpSp>
          <p:nvGrpSpPr>
            <p:cNvPr id="27" name="Groupe 26">
              <a:extLst>
                <a:ext uri="{FF2B5EF4-FFF2-40B4-BE49-F238E27FC236}">
                  <a16:creationId xmlns:a16="http://schemas.microsoft.com/office/drawing/2014/main" id="{5E27D47F-4F01-1B57-9673-1F3557F7C76A}"/>
                </a:ext>
              </a:extLst>
            </p:cNvPr>
            <p:cNvGrpSpPr/>
            <p:nvPr/>
          </p:nvGrpSpPr>
          <p:grpSpPr>
            <a:xfrm>
              <a:off x="2361041" y="4904469"/>
              <a:ext cx="1747769" cy="1712562"/>
              <a:chOff x="786592" y="4813146"/>
              <a:chExt cx="1747769" cy="1712562"/>
            </a:xfrm>
          </p:grpSpPr>
          <p:pic>
            <p:nvPicPr>
              <p:cNvPr id="28" name="Graphique 27" descr="Microphone avec un remplissage uni">
                <a:extLst>
                  <a:ext uri="{FF2B5EF4-FFF2-40B4-BE49-F238E27FC236}">
                    <a16:creationId xmlns:a16="http://schemas.microsoft.com/office/drawing/2014/main" id="{CF554960-5664-F937-7DF5-117BDF1D6EDA}"/>
                  </a:ext>
                </a:extLst>
              </p:cNvPr>
              <p:cNvPicPr>
                <a:picLocks noChangeAspect="1"/>
              </p:cNvPicPr>
              <p:nvPr/>
            </p:nvPicPr>
            <p:blipFill rotWithShape="1">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rcRect l="26582" r="43264" b="738"/>
              <a:stretch/>
            </p:blipFill>
            <p:spPr>
              <a:xfrm rot="927067" flipH="1">
                <a:off x="2184345" y="5290444"/>
                <a:ext cx="350016" cy="1222715"/>
              </a:xfrm>
              <a:prstGeom prst="rect">
                <a:avLst/>
              </a:prstGeom>
            </p:spPr>
          </p:pic>
          <p:pic>
            <p:nvPicPr>
              <p:cNvPr id="29" name="Graphique 28" descr="Personne confuse avec un remplissage uni">
                <a:extLst>
                  <a:ext uri="{FF2B5EF4-FFF2-40B4-BE49-F238E27FC236}">
                    <a16:creationId xmlns:a16="http://schemas.microsoft.com/office/drawing/2014/main" id="{8C236D66-3445-6BE6-8747-7C900AFD360E}"/>
                  </a:ext>
                </a:extLst>
              </p:cNvPr>
              <p:cNvPicPr>
                <a:picLocks noChangeAspect="1"/>
              </p:cNvPicPr>
              <p:nvPr/>
            </p:nvPicPr>
            <p:blipFill rotWithShape="1">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l="38856" r="14769" b="50034"/>
              <a:stretch/>
            </p:blipFill>
            <p:spPr>
              <a:xfrm>
                <a:off x="786592" y="4813146"/>
                <a:ext cx="1589482" cy="1712562"/>
              </a:xfrm>
              <a:prstGeom prst="rect">
                <a:avLst/>
              </a:prstGeom>
            </p:spPr>
          </p:pic>
        </p:grpSp>
        <p:pic>
          <p:nvPicPr>
            <p:cNvPr id="30" name="Graphique 29" descr="Bulle de discussion contour">
              <a:extLst>
                <a:ext uri="{FF2B5EF4-FFF2-40B4-BE49-F238E27FC236}">
                  <a16:creationId xmlns:a16="http://schemas.microsoft.com/office/drawing/2014/main" id="{7FFB4C85-91F8-D000-C3D8-17491D17C1E6}"/>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903" b="12311"/>
            <a:stretch/>
          </p:blipFill>
          <p:spPr>
            <a:xfrm flipH="1">
              <a:off x="4188939" y="3812797"/>
              <a:ext cx="1501399" cy="1188720"/>
            </a:xfrm>
            <a:prstGeom prst="rect">
              <a:avLst/>
            </a:prstGeom>
          </p:spPr>
        </p:pic>
        <p:grpSp>
          <p:nvGrpSpPr>
            <p:cNvPr id="31" name="Groupe 30">
              <a:extLst>
                <a:ext uri="{FF2B5EF4-FFF2-40B4-BE49-F238E27FC236}">
                  <a16:creationId xmlns:a16="http://schemas.microsoft.com/office/drawing/2014/main" id="{9950A6BE-C103-F9D7-9DBE-3A7335D1A4F3}"/>
                </a:ext>
              </a:extLst>
            </p:cNvPr>
            <p:cNvGrpSpPr/>
            <p:nvPr/>
          </p:nvGrpSpPr>
          <p:grpSpPr>
            <a:xfrm>
              <a:off x="2485723" y="3871337"/>
              <a:ext cx="1501399" cy="1188720"/>
              <a:chOff x="1733248" y="3784720"/>
              <a:chExt cx="1501399" cy="1188720"/>
            </a:xfrm>
          </p:grpSpPr>
          <p:pic>
            <p:nvPicPr>
              <p:cNvPr id="32" name="Graphique 31" descr="Bulle de discussion contour">
                <a:extLst>
                  <a:ext uri="{FF2B5EF4-FFF2-40B4-BE49-F238E27FC236}">
                    <a16:creationId xmlns:a16="http://schemas.microsoft.com/office/drawing/2014/main" id="{DD62A598-B188-E0C1-4BA7-F86BE030764B}"/>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33" name="Rectangle 32">
                <a:extLst>
                  <a:ext uri="{FF2B5EF4-FFF2-40B4-BE49-F238E27FC236}">
                    <a16:creationId xmlns:a16="http://schemas.microsoft.com/office/drawing/2014/main" id="{AC7014A2-7217-D23A-D6E0-16964AD42DF0}"/>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34" name="Graphique 33" descr="Aide avec un remplissage uni">
              <a:extLst>
                <a:ext uri="{FF2B5EF4-FFF2-40B4-BE49-F238E27FC236}">
                  <a16:creationId xmlns:a16="http://schemas.microsoft.com/office/drawing/2014/main" id="{0866CAF1-618E-705A-B416-251397AA532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892066" y="3975365"/>
              <a:ext cx="679669" cy="679669"/>
            </a:xfrm>
            <a:prstGeom prst="rect">
              <a:avLst/>
            </a:prstGeom>
          </p:spPr>
        </p:pic>
      </p:grpSp>
      <p:sp>
        <p:nvSpPr>
          <p:cNvPr id="160" name="Rectangle 159">
            <a:extLst>
              <a:ext uri="{FF2B5EF4-FFF2-40B4-BE49-F238E27FC236}">
                <a16:creationId xmlns:a16="http://schemas.microsoft.com/office/drawing/2014/main" id="{65A5FD20-30D3-022F-A148-724F9C646B97}"/>
              </a:ext>
            </a:extLst>
          </p:cNvPr>
          <p:cNvSpPr/>
          <p:nvPr/>
        </p:nvSpPr>
        <p:spPr>
          <a:xfrm>
            <a:off x="3782966" y="284723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Interview de sponsor / sponsor potentiel</a:t>
            </a:r>
          </a:p>
        </p:txBody>
      </p:sp>
      <p:grpSp>
        <p:nvGrpSpPr>
          <p:cNvPr id="63" name="Groupe 62">
            <a:extLst>
              <a:ext uri="{FF2B5EF4-FFF2-40B4-BE49-F238E27FC236}">
                <a16:creationId xmlns:a16="http://schemas.microsoft.com/office/drawing/2014/main" id="{1ECAE655-1D0D-04C3-5766-013B1DEDAE7E}"/>
              </a:ext>
            </a:extLst>
          </p:cNvPr>
          <p:cNvGrpSpPr/>
          <p:nvPr/>
        </p:nvGrpSpPr>
        <p:grpSpPr>
          <a:xfrm>
            <a:off x="5443252" y="2032843"/>
            <a:ext cx="1348758" cy="773835"/>
            <a:chOff x="1774127" y="3261367"/>
            <a:chExt cx="4861346" cy="2789143"/>
          </a:xfrm>
        </p:grpSpPr>
        <p:pic>
          <p:nvPicPr>
            <p:cNvPr id="36" name="Graphique 35" descr="Signe pouce en haut avec un remplissage uni">
              <a:extLst>
                <a:ext uri="{FF2B5EF4-FFF2-40B4-BE49-F238E27FC236}">
                  <a16:creationId xmlns:a16="http://schemas.microsoft.com/office/drawing/2014/main" id="{BBEEB4CC-302E-3E17-9403-34F69FBBE79F}"/>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2839034" y="3261367"/>
              <a:ext cx="470653" cy="470653"/>
            </a:xfrm>
            <a:prstGeom prst="rect">
              <a:avLst/>
            </a:prstGeom>
          </p:spPr>
        </p:pic>
        <p:pic>
          <p:nvPicPr>
            <p:cNvPr id="37" name="Graphique 36" descr="Pouce en bas avec un remplissage uni">
              <a:extLst>
                <a:ext uri="{FF2B5EF4-FFF2-40B4-BE49-F238E27FC236}">
                  <a16:creationId xmlns:a16="http://schemas.microsoft.com/office/drawing/2014/main" id="{8D580C52-C407-FA24-7CFF-FAFA493AB394}"/>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3787316" y="3319278"/>
              <a:ext cx="508752" cy="508752"/>
            </a:xfrm>
            <a:prstGeom prst="rect">
              <a:avLst/>
            </a:prstGeom>
          </p:spPr>
        </p:pic>
        <p:sp>
          <p:nvSpPr>
            <p:cNvPr id="38" name="Rectangle 37">
              <a:extLst>
                <a:ext uri="{FF2B5EF4-FFF2-40B4-BE49-F238E27FC236}">
                  <a16:creationId xmlns:a16="http://schemas.microsoft.com/office/drawing/2014/main" id="{85B17CB7-CD51-EC78-483E-197E62DD7D39}"/>
                </a:ext>
              </a:extLst>
            </p:cNvPr>
            <p:cNvSpPr/>
            <p:nvPr/>
          </p:nvSpPr>
          <p:spPr>
            <a:xfrm>
              <a:off x="262624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Rectangle 38">
              <a:extLst>
                <a:ext uri="{FF2B5EF4-FFF2-40B4-BE49-F238E27FC236}">
                  <a16:creationId xmlns:a16="http://schemas.microsoft.com/office/drawing/2014/main" id="{5C0B434E-FA8A-1421-291E-C48254ACAB23}"/>
                </a:ext>
              </a:extLst>
            </p:cNvPr>
            <p:cNvSpPr/>
            <p:nvPr/>
          </p:nvSpPr>
          <p:spPr>
            <a:xfrm>
              <a:off x="3583068"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0" name="Rectangle 39">
              <a:extLst>
                <a:ext uri="{FF2B5EF4-FFF2-40B4-BE49-F238E27FC236}">
                  <a16:creationId xmlns:a16="http://schemas.microsoft.com/office/drawing/2014/main" id="{1BEFC64C-0542-A460-CECA-0CE09C93ECA4}"/>
                </a:ext>
              </a:extLst>
            </p:cNvPr>
            <p:cNvSpPr/>
            <p:nvPr/>
          </p:nvSpPr>
          <p:spPr>
            <a:xfrm>
              <a:off x="4539889"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1" name="Rectangle 40">
              <a:extLst>
                <a:ext uri="{FF2B5EF4-FFF2-40B4-BE49-F238E27FC236}">
                  <a16:creationId xmlns:a16="http://schemas.microsoft.com/office/drawing/2014/main" id="{D4B79276-95BB-B0DF-F47B-B3587C42D733}"/>
                </a:ext>
              </a:extLst>
            </p:cNvPr>
            <p:cNvSpPr/>
            <p:nvPr/>
          </p:nvSpPr>
          <p:spPr>
            <a:xfrm>
              <a:off x="550755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42" name="Graphique 41" descr="Aide avec un remplissage uni">
              <a:extLst>
                <a:ext uri="{FF2B5EF4-FFF2-40B4-BE49-F238E27FC236}">
                  <a16:creationId xmlns:a16="http://schemas.microsoft.com/office/drawing/2014/main" id="{7A540938-9429-7E80-4BAE-A012044EA97D}"/>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4793476" y="3319278"/>
              <a:ext cx="471018" cy="471018"/>
            </a:xfrm>
            <a:prstGeom prst="rect">
              <a:avLst/>
            </a:prstGeom>
          </p:spPr>
        </p:pic>
        <p:grpSp>
          <p:nvGrpSpPr>
            <p:cNvPr id="43" name="Groupe 42">
              <a:extLst>
                <a:ext uri="{FF2B5EF4-FFF2-40B4-BE49-F238E27FC236}">
                  <a16:creationId xmlns:a16="http://schemas.microsoft.com/office/drawing/2014/main" id="{739AA9F3-567D-7509-76A1-58E1FA5019FB}"/>
                </a:ext>
              </a:extLst>
            </p:cNvPr>
            <p:cNvGrpSpPr/>
            <p:nvPr/>
          </p:nvGrpSpPr>
          <p:grpSpPr>
            <a:xfrm>
              <a:off x="5689707" y="3294556"/>
              <a:ext cx="533474" cy="533474"/>
              <a:chOff x="5638800" y="2971800"/>
              <a:chExt cx="914400" cy="914400"/>
            </a:xfrm>
          </p:grpSpPr>
          <p:pic>
            <p:nvPicPr>
              <p:cNvPr id="44" name="Graphique 43" descr="Sphères de Harvey 100% avec un remplissage uni">
                <a:extLst>
                  <a:ext uri="{FF2B5EF4-FFF2-40B4-BE49-F238E27FC236}">
                    <a16:creationId xmlns:a16="http://schemas.microsoft.com/office/drawing/2014/main" id="{E2DB271D-E9B9-EC70-51F0-0FD130FCB200}"/>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5638800" y="2971800"/>
                <a:ext cx="914400" cy="914400"/>
              </a:xfrm>
              <a:prstGeom prst="rect">
                <a:avLst/>
              </a:prstGeom>
            </p:spPr>
          </p:pic>
          <p:pic>
            <p:nvPicPr>
              <p:cNvPr id="45" name="Graphique 44" descr="Lumières allumées avec un remplissage uni">
                <a:extLst>
                  <a:ext uri="{FF2B5EF4-FFF2-40B4-BE49-F238E27FC236}">
                    <a16:creationId xmlns:a16="http://schemas.microsoft.com/office/drawing/2014/main" id="{93B48BC5-FA59-747F-4D7D-D82AEA590026}"/>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5710913" y="3066427"/>
                <a:ext cx="767522" cy="767522"/>
              </a:xfrm>
              <a:prstGeom prst="rect">
                <a:avLst/>
              </a:prstGeom>
            </p:spPr>
          </p:pic>
        </p:grpSp>
        <p:sp>
          <p:nvSpPr>
            <p:cNvPr id="46" name="Rectangle 45">
              <a:extLst>
                <a:ext uri="{FF2B5EF4-FFF2-40B4-BE49-F238E27FC236}">
                  <a16:creationId xmlns:a16="http://schemas.microsoft.com/office/drawing/2014/main" id="{2D7750F4-7143-A014-93E7-1EF4F0E79788}"/>
                </a:ext>
              </a:extLst>
            </p:cNvPr>
            <p:cNvSpPr/>
            <p:nvPr/>
          </p:nvSpPr>
          <p:spPr>
            <a:xfrm>
              <a:off x="2682556"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7" name="Rectangle 46">
              <a:extLst>
                <a:ext uri="{FF2B5EF4-FFF2-40B4-BE49-F238E27FC236}">
                  <a16:creationId xmlns:a16="http://schemas.microsoft.com/office/drawing/2014/main" id="{54960F75-1F39-7815-9FE7-3B45B0BA3F0B}"/>
                </a:ext>
              </a:extLst>
            </p:cNvPr>
            <p:cNvSpPr/>
            <p:nvPr/>
          </p:nvSpPr>
          <p:spPr>
            <a:xfrm>
              <a:off x="2991651"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8" name="Rectangle 47">
              <a:extLst>
                <a:ext uri="{FF2B5EF4-FFF2-40B4-BE49-F238E27FC236}">
                  <a16:creationId xmlns:a16="http://schemas.microsoft.com/office/drawing/2014/main" id="{42F554F4-6CAB-5624-8C9B-C824BD2821CF}"/>
                </a:ext>
              </a:extLst>
            </p:cNvPr>
            <p:cNvSpPr/>
            <p:nvPr/>
          </p:nvSpPr>
          <p:spPr>
            <a:xfrm>
              <a:off x="2912610" y="4148465"/>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9" name="Rectangle 48">
              <a:extLst>
                <a:ext uri="{FF2B5EF4-FFF2-40B4-BE49-F238E27FC236}">
                  <a16:creationId xmlns:a16="http://schemas.microsoft.com/office/drawing/2014/main" id="{19B742F0-6025-9ACF-A46F-D64D4BA49945}"/>
                </a:ext>
              </a:extLst>
            </p:cNvPr>
            <p:cNvSpPr/>
            <p:nvPr/>
          </p:nvSpPr>
          <p:spPr>
            <a:xfrm>
              <a:off x="3680364" y="3871561"/>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0" name="Rectangle 49">
              <a:extLst>
                <a:ext uri="{FF2B5EF4-FFF2-40B4-BE49-F238E27FC236}">
                  <a16:creationId xmlns:a16="http://schemas.microsoft.com/office/drawing/2014/main" id="{7FAD25B3-1908-64C1-0776-2A3FBAC41633}"/>
                </a:ext>
              </a:extLst>
            </p:cNvPr>
            <p:cNvSpPr/>
            <p:nvPr/>
          </p:nvSpPr>
          <p:spPr>
            <a:xfrm>
              <a:off x="4016069" y="398672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1" name="Rectangle 50">
              <a:extLst>
                <a:ext uri="{FF2B5EF4-FFF2-40B4-BE49-F238E27FC236}">
                  <a16:creationId xmlns:a16="http://schemas.microsoft.com/office/drawing/2014/main" id="{4F64B77C-DCB0-96AF-F348-0F03F29EDF6E}"/>
                </a:ext>
              </a:extLst>
            </p:cNvPr>
            <p:cNvSpPr/>
            <p:nvPr/>
          </p:nvSpPr>
          <p:spPr>
            <a:xfrm>
              <a:off x="3698403" y="4181149"/>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2" name="Rectangle 51">
              <a:extLst>
                <a:ext uri="{FF2B5EF4-FFF2-40B4-BE49-F238E27FC236}">
                  <a16:creationId xmlns:a16="http://schemas.microsoft.com/office/drawing/2014/main" id="{A87E6601-B543-DEC6-FFC4-70317EBC356D}"/>
                </a:ext>
              </a:extLst>
            </p:cNvPr>
            <p:cNvSpPr/>
            <p:nvPr/>
          </p:nvSpPr>
          <p:spPr>
            <a:xfrm>
              <a:off x="4604347" y="3858182"/>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3" name="Rectangle 52">
              <a:extLst>
                <a:ext uri="{FF2B5EF4-FFF2-40B4-BE49-F238E27FC236}">
                  <a16:creationId xmlns:a16="http://schemas.microsoft.com/office/drawing/2014/main" id="{5C95C9CE-C55D-878E-A187-6D6177E9A802}"/>
                </a:ext>
              </a:extLst>
            </p:cNvPr>
            <p:cNvSpPr/>
            <p:nvPr/>
          </p:nvSpPr>
          <p:spPr>
            <a:xfrm>
              <a:off x="4928163" y="384379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4" name="Rectangle 53">
              <a:extLst>
                <a:ext uri="{FF2B5EF4-FFF2-40B4-BE49-F238E27FC236}">
                  <a16:creationId xmlns:a16="http://schemas.microsoft.com/office/drawing/2014/main" id="{795874FD-5011-4406-CD65-5B96D09AE96A}"/>
                </a:ext>
              </a:extLst>
            </p:cNvPr>
            <p:cNvSpPr/>
            <p:nvPr/>
          </p:nvSpPr>
          <p:spPr>
            <a:xfrm>
              <a:off x="4844841" y="4195507"/>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5" name="Rectangle 54">
              <a:extLst>
                <a:ext uri="{FF2B5EF4-FFF2-40B4-BE49-F238E27FC236}">
                  <a16:creationId xmlns:a16="http://schemas.microsoft.com/office/drawing/2014/main" id="{245E161D-1A8F-2C05-CA77-76EFEEC361EC}"/>
                </a:ext>
              </a:extLst>
            </p:cNvPr>
            <p:cNvSpPr/>
            <p:nvPr/>
          </p:nvSpPr>
          <p:spPr>
            <a:xfrm>
              <a:off x="5637937" y="386543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6" name="Rectangle 55">
              <a:extLst>
                <a:ext uri="{FF2B5EF4-FFF2-40B4-BE49-F238E27FC236}">
                  <a16:creationId xmlns:a16="http://schemas.microsoft.com/office/drawing/2014/main" id="{925259D0-1CE2-E499-AD33-CD00ADD4BC95}"/>
                </a:ext>
              </a:extLst>
            </p:cNvPr>
            <p:cNvSpPr/>
            <p:nvPr/>
          </p:nvSpPr>
          <p:spPr>
            <a:xfrm>
              <a:off x="5908449" y="4146553"/>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7" name="Rectangle 56">
              <a:extLst>
                <a:ext uri="{FF2B5EF4-FFF2-40B4-BE49-F238E27FC236}">
                  <a16:creationId xmlns:a16="http://schemas.microsoft.com/office/drawing/2014/main" id="{ABAE4B76-3D49-8A5C-BAC9-1CA8306D117C}"/>
                </a:ext>
              </a:extLst>
            </p:cNvPr>
            <p:cNvSpPr/>
            <p:nvPr/>
          </p:nvSpPr>
          <p:spPr>
            <a:xfrm>
              <a:off x="5973166" y="384301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pic>
          <p:nvPicPr>
            <p:cNvPr id="58" name="Graphique 57" descr="Personne confuse avec un remplissage uni">
              <a:extLst>
                <a:ext uri="{FF2B5EF4-FFF2-40B4-BE49-F238E27FC236}">
                  <a16:creationId xmlns:a16="http://schemas.microsoft.com/office/drawing/2014/main" id="{AF547358-2D75-5EED-397C-759AF7566C1A}"/>
                </a:ext>
              </a:extLst>
            </p:cNvPr>
            <p:cNvPicPr>
              <a:picLocks noChangeAspect="1"/>
            </p:cNvPicPr>
            <p:nvPr/>
          </p:nvPicPr>
          <p:blipFill rotWithShape="1">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rcRect l="13721" r="14768" b="50034"/>
            <a:stretch/>
          </p:blipFill>
          <p:spPr>
            <a:xfrm>
              <a:off x="5070241" y="4696406"/>
              <a:ext cx="1565232" cy="1093672"/>
            </a:xfrm>
            <a:prstGeom prst="rect">
              <a:avLst/>
            </a:prstGeom>
          </p:spPr>
        </p:pic>
        <p:sp>
          <p:nvSpPr>
            <p:cNvPr id="59" name="Rectangle 58">
              <a:extLst>
                <a:ext uri="{FF2B5EF4-FFF2-40B4-BE49-F238E27FC236}">
                  <a16:creationId xmlns:a16="http://schemas.microsoft.com/office/drawing/2014/main" id="{2EAFA246-06DF-359E-02C7-EDB2570C4B9B}"/>
                </a:ext>
              </a:extLst>
            </p:cNvPr>
            <p:cNvSpPr/>
            <p:nvPr/>
          </p:nvSpPr>
          <p:spPr>
            <a:xfrm>
              <a:off x="5070241" y="5355918"/>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pic>
          <p:nvPicPr>
            <p:cNvPr id="60" name="Graphique 59" descr="Homme avec un remplissage uni">
              <a:extLst>
                <a:ext uri="{FF2B5EF4-FFF2-40B4-BE49-F238E27FC236}">
                  <a16:creationId xmlns:a16="http://schemas.microsoft.com/office/drawing/2014/main" id="{FB4B5913-6146-B3C4-5534-CB1F1B052F20}"/>
                </a:ext>
              </a:extLst>
            </p:cNvPr>
            <p:cNvPicPr>
              <a:picLocks noChangeAspect="1"/>
            </p:cNvPicPr>
            <p:nvPr/>
          </p:nvPicPr>
          <p:blipFill rotWithShape="1">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rcRect t="1" b="40502"/>
            <a:stretch/>
          </p:blipFill>
          <p:spPr>
            <a:xfrm>
              <a:off x="3267315" y="4792695"/>
              <a:ext cx="2011658" cy="1226716"/>
            </a:xfrm>
            <a:prstGeom prst="rect">
              <a:avLst/>
            </a:prstGeom>
          </p:spPr>
        </p:pic>
        <p:pic>
          <p:nvPicPr>
            <p:cNvPr id="61" name="Graphique 60" descr="Homme avec un remplissage uni">
              <a:extLst>
                <a:ext uri="{FF2B5EF4-FFF2-40B4-BE49-F238E27FC236}">
                  <a16:creationId xmlns:a16="http://schemas.microsoft.com/office/drawing/2014/main" id="{40940812-44E3-B0CF-5EB0-D2EF3CE4A834}"/>
                </a:ext>
              </a:extLst>
            </p:cNvPr>
            <p:cNvPicPr>
              <a:picLocks noChangeAspect="1"/>
            </p:cNvPicPr>
            <p:nvPr/>
          </p:nvPicPr>
          <p:blipFill rotWithShape="1">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rcRect t="1" b="40502"/>
            <a:stretch/>
          </p:blipFill>
          <p:spPr>
            <a:xfrm>
              <a:off x="2276236" y="4718638"/>
              <a:ext cx="2061836" cy="1226716"/>
            </a:xfrm>
            <a:prstGeom prst="rect">
              <a:avLst/>
            </a:prstGeom>
          </p:spPr>
        </p:pic>
        <p:pic>
          <p:nvPicPr>
            <p:cNvPr id="62" name="Graphique 61" descr="Homme avec un remplissage uni">
              <a:extLst>
                <a:ext uri="{FF2B5EF4-FFF2-40B4-BE49-F238E27FC236}">
                  <a16:creationId xmlns:a16="http://schemas.microsoft.com/office/drawing/2014/main" id="{8B3DB45D-81EA-0012-21AA-2A945371159D}"/>
                </a:ext>
              </a:extLst>
            </p:cNvPr>
            <p:cNvPicPr>
              <a:picLocks noChangeAspect="1"/>
            </p:cNvPicPr>
            <p:nvPr/>
          </p:nvPicPr>
          <p:blipFill rotWithShape="1">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rcRect l="20753" t="1048" b="40502"/>
            <a:stretch/>
          </p:blipFill>
          <p:spPr>
            <a:xfrm>
              <a:off x="1774127" y="4845372"/>
              <a:ext cx="1633936" cy="1205138"/>
            </a:xfrm>
            <a:prstGeom prst="rect">
              <a:avLst/>
            </a:prstGeom>
          </p:spPr>
        </p:pic>
      </p:grpSp>
      <p:sp>
        <p:nvSpPr>
          <p:cNvPr id="161" name="Rectangle 160">
            <a:extLst>
              <a:ext uri="{FF2B5EF4-FFF2-40B4-BE49-F238E27FC236}">
                <a16:creationId xmlns:a16="http://schemas.microsoft.com/office/drawing/2014/main" id="{7D226724-EA25-076C-ACF0-3D8472CBB47E}"/>
              </a:ext>
            </a:extLst>
          </p:cNvPr>
          <p:cNvSpPr/>
          <p:nvPr/>
        </p:nvSpPr>
        <p:spPr>
          <a:xfrm>
            <a:off x="5425560" y="284723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généraliste d’amélioration continue </a:t>
            </a:r>
          </a:p>
        </p:txBody>
      </p:sp>
      <p:grpSp>
        <p:nvGrpSpPr>
          <p:cNvPr id="89" name="Groupe 88">
            <a:extLst>
              <a:ext uri="{FF2B5EF4-FFF2-40B4-BE49-F238E27FC236}">
                <a16:creationId xmlns:a16="http://schemas.microsoft.com/office/drawing/2014/main" id="{612ABAA7-C7C7-8A4C-30C4-9352E18B0772}"/>
              </a:ext>
            </a:extLst>
          </p:cNvPr>
          <p:cNvGrpSpPr/>
          <p:nvPr/>
        </p:nvGrpSpPr>
        <p:grpSpPr>
          <a:xfrm>
            <a:off x="7132456" y="1986593"/>
            <a:ext cx="1458903" cy="810761"/>
            <a:chOff x="5262966" y="3441208"/>
            <a:chExt cx="5110014" cy="2839805"/>
          </a:xfrm>
        </p:grpSpPr>
        <p:pic>
          <p:nvPicPr>
            <p:cNvPr id="64" name="Graphique 63" descr="Personne confuse avec un remplissage uni">
              <a:extLst>
                <a:ext uri="{FF2B5EF4-FFF2-40B4-BE49-F238E27FC236}">
                  <a16:creationId xmlns:a16="http://schemas.microsoft.com/office/drawing/2014/main" id="{F78D8970-E712-5218-12A0-817377B3F116}"/>
                </a:ext>
              </a:extLst>
            </p:cNvPr>
            <p:cNvPicPr>
              <a:picLocks noChangeAspect="1"/>
            </p:cNvPicPr>
            <p:nvPr/>
          </p:nvPicPr>
          <p:blipFill rotWithShape="1">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rcRect l="13721" r="14768" b="50034"/>
            <a:stretch/>
          </p:blipFill>
          <p:spPr>
            <a:xfrm>
              <a:off x="6504238" y="4125117"/>
              <a:ext cx="1565232" cy="1093672"/>
            </a:xfrm>
            <a:prstGeom prst="rect">
              <a:avLst/>
            </a:prstGeom>
          </p:spPr>
        </p:pic>
        <p:pic>
          <p:nvPicPr>
            <p:cNvPr id="65" name="Graphique 64" descr="Homme avec un remplissage uni">
              <a:extLst>
                <a:ext uri="{FF2B5EF4-FFF2-40B4-BE49-F238E27FC236}">
                  <a16:creationId xmlns:a16="http://schemas.microsoft.com/office/drawing/2014/main" id="{2DB4F94F-288C-920E-13C8-80DB7BA801C5}"/>
                </a:ext>
              </a:extLst>
            </p:cNvPr>
            <p:cNvPicPr>
              <a:picLocks noChangeAspect="1"/>
            </p:cNvPicPr>
            <p:nvPr/>
          </p:nvPicPr>
          <p:blipFill rotWithShape="1">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rcRect l="22505" t="2891" b="40502"/>
            <a:stretch/>
          </p:blipFill>
          <p:spPr>
            <a:xfrm>
              <a:off x="5262966" y="4794268"/>
              <a:ext cx="1597831" cy="1167136"/>
            </a:xfrm>
            <a:prstGeom prst="rect">
              <a:avLst/>
            </a:prstGeom>
          </p:spPr>
        </p:pic>
        <p:pic>
          <p:nvPicPr>
            <p:cNvPr id="66" name="Graphique 65" descr="Homme avec un remplissage uni">
              <a:extLst>
                <a:ext uri="{FF2B5EF4-FFF2-40B4-BE49-F238E27FC236}">
                  <a16:creationId xmlns:a16="http://schemas.microsoft.com/office/drawing/2014/main" id="{7F2FC93A-8B69-D589-3B20-9BD18C26B85D}"/>
                </a:ext>
              </a:extLst>
            </p:cNvPr>
            <p:cNvPicPr>
              <a:picLocks noChangeAspect="1"/>
            </p:cNvPicPr>
            <p:nvPr/>
          </p:nvPicPr>
          <p:blipFill rotWithShape="1">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rcRect t="1" b="40502"/>
            <a:stretch/>
          </p:blipFill>
          <p:spPr>
            <a:xfrm>
              <a:off x="5713008" y="4989115"/>
              <a:ext cx="2061836" cy="1226716"/>
            </a:xfrm>
            <a:prstGeom prst="rect">
              <a:avLst/>
            </a:prstGeom>
          </p:spPr>
        </p:pic>
        <p:pic>
          <p:nvPicPr>
            <p:cNvPr id="67" name="Graphique 66" descr="Homme avec un remplissage uni">
              <a:extLst>
                <a:ext uri="{FF2B5EF4-FFF2-40B4-BE49-F238E27FC236}">
                  <a16:creationId xmlns:a16="http://schemas.microsoft.com/office/drawing/2014/main" id="{D758116C-4FAA-D1EF-9EE0-9778A9E6C88E}"/>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t="1" b="40502"/>
            <a:stretch/>
          </p:blipFill>
          <p:spPr>
            <a:xfrm>
              <a:off x="7113689" y="5054297"/>
              <a:ext cx="2061836" cy="1226716"/>
            </a:xfrm>
            <a:prstGeom prst="rect">
              <a:avLst/>
            </a:prstGeom>
          </p:spPr>
        </p:pic>
        <p:pic>
          <p:nvPicPr>
            <p:cNvPr id="68" name="Graphique 67" descr="Homme avec un remplissage uni">
              <a:extLst>
                <a:ext uri="{FF2B5EF4-FFF2-40B4-BE49-F238E27FC236}">
                  <a16:creationId xmlns:a16="http://schemas.microsoft.com/office/drawing/2014/main" id="{9B14B231-96AF-586C-008D-32A72D455AE9}"/>
                </a:ext>
              </a:extLst>
            </p:cNvPr>
            <p:cNvPicPr>
              <a:picLocks noChangeAspect="1"/>
            </p:cNvPicPr>
            <p:nvPr/>
          </p:nvPicPr>
          <p:blipFill rotWithShape="1">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rcRect t="1" b="40502"/>
            <a:stretch/>
          </p:blipFill>
          <p:spPr>
            <a:xfrm>
              <a:off x="8311144" y="4781138"/>
              <a:ext cx="2061836" cy="1226716"/>
            </a:xfrm>
            <a:prstGeom prst="rect">
              <a:avLst/>
            </a:prstGeom>
          </p:spPr>
        </p:pic>
        <p:grpSp>
          <p:nvGrpSpPr>
            <p:cNvPr id="69" name="Groupe 68">
              <a:extLst>
                <a:ext uri="{FF2B5EF4-FFF2-40B4-BE49-F238E27FC236}">
                  <a16:creationId xmlns:a16="http://schemas.microsoft.com/office/drawing/2014/main" id="{4CF1C9CF-5330-8D57-6BCC-37053F40E4FE}"/>
                </a:ext>
              </a:extLst>
            </p:cNvPr>
            <p:cNvGrpSpPr/>
            <p:nvPr/>
          </p:nvGrpSpPr>
          <p:grpSpPr>
            <a:xfrm>
              <a:off x="5646534" y="3908602"/>
              <a:ext cx="1177654" cy="932398"/>
              <a:chOff x="7137810" y="856157"/>
              <a:chExt cx="1501399" cy="1188720"/>
            </a:xfrm>
          </p:grpSpPr>
          <p:grpSp>
            <p:nvGrpSpPr>
              <p:cNvPr id="70" name="Groupe 69">
                <a:extLst>
                  <a:ext uri="{FF2B5EF4-FFF2-40B4-BE49-F238E27FC236}">
                    <a16:creationId xmlns:a16="http://schemas.microsoft.com/office/drawing/2014/main" id="{E9A67F95-39E5-D7C5-CC07-A6C7989E259C}"/>
                  </a:ext>
                </a:extLst>
              </p:cNvPr>
              <p:cNvGrpSpPr/>
              <p:nvPr/>
            </p:nvGrpSpPr>
            <p:grpSpPr>
              <a:xfrm>
                <a:off x="7137810" y="856157"/>
                <a:ext cx="1501399" cy="1188720"/>
                <a:chOff x="1733248" y="3784720"/>
                <a:chExt cx="1501399" cy="1188720"/>
              </a:xfrm>
            </p:grpSpPr>
            <p:pic>
              <p:nvPicPr>
                <p:cNvPr id="72" name="Graphique 71" descr="Bulle de discussion contour">
                  <a:extLst>
                    <a:ext uri="{FF2B5EF4-FFF2-40B4-BE49-F238E27FC236}">
                      <a16:creationId xmlns:a16="http://schemas.microsoft.com/office/drawing/2014/main" id="{3A680FF1-9F1E-BC62-001B-642D3032D943}"/>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73" name="Rectangle 72">
                  <a:extLst>
                    <a:ext uri="{FF2B5EF4-FFF2-40B4-BE49-F238E27FC236}">
                      <a16:creationId xmlns:a16="http://schemas.microsoft.com/office/drawing/2014/main" id="{0C0E32E9-67CC-6A71-5955-2A94C51815F5}"/>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71" name="Graphique 70" descr="Aide avec un remplissage uni">
                <a:extLst>
                  <a:ext uri="{FF2B5EF4-FFF2-40B4-BE49-F238E27FC236}">
                    <a16:creationId xmlns:a16="http://schemas.microsoft.com/office/drawing/2014/main" id="{7ABC0B63-034D-4377-EBED-FC2927F72E7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544153" y="960185"/>
                <a:ext cx="679669" cy="679669"/>
              </a:xfrm>
              <a:prstGeom prst="rect">
                <a:avLst/>
              </a:prstGeom>
            </p:spPr>
          </p:pic>
        </p:grpSp>
        <p:grpSp>
          <p:nvGrpSpPr>
            <p:cNvPr id="74" name="Groupe 73">
              <a:extLst>
                <a:ext uri="{FF2B5EF4-FFF2-40B4-BE49-F238E27FC236}">
                  <a16:creationId xmlns:a16="http://schemas.microsoft.com/office/drawing/2014/main" id="{B7E41B8B-8CEE-F356-73F4-844661525D83}"/>
                </a:ext>
              </a:extLst>
            </p:cNvPr>
            <p:cNvGrpSpPr/>
            <p:nvPr/>
          </p:nvGrpSpPr>
          <p:grpSpPr>
            <a:xfrm>
              <a:off x="9150985" y="3973784"/>
              <a:ext cx="1177654" cy="932398"/>
              <a:chOff x="7137810" y="856157"/>
              <a:chExt cx="1501399" cy="1188720"/>
            </a:xfrm>
          </p:grpSpPr>
          <p:grpSp>
            <p:nvGrpSpPr>
              <p:cNvPr id="75" name="Groupe 74">
                <a:extLst>
                  <a:ext uri="{FF2B5EF4-FFF2-40B4-BE49-F238E27FC236}">
                    <a16:creationId xmlns:a16="http://schemas.microsoft.com/office/drawing/2014/main" id="{CECEDBB0-D27D-5B87-14C8-F700E468E07F}"/>
                  </a:ext>
                </a:extLst>
              </p:cNvPr>
              <p:cNvGrpSpPr/>
              <p:nvPr/>
            </p:nvGrpSpPr>
            <p:grpSpPr>
              <a:xfrm>
                <a:off x="7137810" y="856157"/>
                <a:ext cx="1501399" cy="1188720"/>
                <a:chOff x="1733248" y="3784720"/>
                <a:chExt cx="1501399" cy="1188720"/>
              </a:xfrm>
            </p:grpSpPr>
            <p:pic>
              <p:nvPicPr>
                <p:cNvPr id="77" name="Graphique 76" descr="Bulle de discussion contour">
                  <a:extLst>
                    <a:ext uri="{FF2B5EF4-FFF2-40B4-BE49-F238E27FC236}">
                      <a16:creationId xmlns:a16="http://schemas.microsoft.com/office/drawing/2014/main" id="{3430FC0D-071C-D033-BF0D-ACD360B7E059}"/>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78" name="Rectangle 77">
                  <a:extLst>
                    <a:ext uri="{FF2B5EF4-FFF2-40B4-BE49-F238E27FC236}">
                      <a16:creationId xmlns:a16="http://schemas.microsoft.com/office/drawing/2014/main" id="{800CC0A1-8341-E8D4-343F-59EDDE4B0708}"/>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76" name="Graphique 75" descr="Aide avec un remplissage uni">
                <a:extLst>
                  <a:ext uri="{FF2B5EF4-FFF2-40B4-BE49-F238E27FC236}">
                    <a16:creationId xmlns:a16="http://schemas.microsoft.com/office/drawing/2014/main" id="{8942B6CF-9F79-9A48-391B-7A2878689433}"/>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7544153" y="960185"/>
                <a:ext cx="679669" cy="679669"/>
              </a:xfrm>
              <a:prstGeom prst="rect">
                <a:avLst/>
              </a:prstGeom>
            </p:spPr>
          </p:pic>
        </p:grpSp>
        <p:grpSp>
          <p:nvGrpSpPr>
            <p:cNvPr id="79" name="Groupe 78">
              <a:extLst>
                <a:ext uri="{FF2B5EF4-FFF2-40B4-BE49-F238E27FC236}">
                  <a16:creationId xmlns:a16="http://schemas.microsoft.com/office/drawing/2014/main" id="{C79BAE0C-7CAB-DF4A-CC43-2D5291C7B52E}"/>
                </a:ext>
              </a:extLst>
            </p:cNvPr>
            <p:cNvGrpSpPr/>
            <p:nvPr/>
          </p:nvGrpSpPr>
          <p:grpSpPr>
            <a:xfrm>
              <a:off x="7995548" y="4371003"/>
              <a:ext cx="1177654" cy="932398"/>
              <a:chOff x="7137810" y="856157"/>
              <a:chExt cx="1501399" cy="1188720"/>
            </a:xfrm>
          </p:grpSpPr>
          <p:grpSp>
            <p:nvGrpSpPr>
              <p:cNvPr id="80" name="Groupe 79">
                <a:extLst>
                  <a:ext uri="{FF2B5EF4-FFF2-40B4-BE49-F238E27FC236}">
                    <a16:creationId xmlns:a16="http://schemas.microsoft.com/office/drawing/2014/main" id="{82A99AC9-47C4-0D61-9002-1DAE5113CD06}"/>
                  </a:ext>
                </a:extLst>
              </p:cNvPr>
              <p:cNvGrpSpPr/>
              <p:nvPr/>
            </p:nvGrpSpPr>
            <p:grpSpPr>
              <a:xfrm>
                <a:off x="7137810" y="856157"/>
                <a:ext cx="1501399" cy="1188720"/>
                <a:chOff x="1733248" y="3784720"/>
                <a:chExt cx="1501399" cy="1188720"/>
              </a:xfrm>
            </p:grpSpPr>
            <p:pic>
              <p:nvPicPr>
                <p:cNvPr id="82" name="Graphique 81" descr="Bulle de discussion contour">
                  <a:extLst>
                    <a:ext uri="{FF2B5EF4-FFF2-40B4-BE49-F238E27FC236}">
                      <a16:creationId xmlns:a16="http://schemas.microsoft.com/office/drawing/2014/main" id="{62B2B0B2-204A-BF29-49BB-BE6D37ED4E68}"/>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83" name="Rectangle 82">
                  <a:extLst>
                    <a:ext uri="{FF2B5EF4-FFF2-40B4-BE49-F238E27FC236}">
                      <a16:creationId xmlns:a16="http://schemas.microsoft.com/office/drawing/2014/main" id="{6994BE71-37F9-3E75-7C29-3C2975389369}"/>
                    </a:ext>
                  </a:extLst>
                </p:cNvPr>
                <p:cNvSpPr/>
                <p:nvPr/>
              </p:nvSpPr>
              <p:spPr>
                <a:xfrm>
                  <a:off x="1992203" y="3912698"/>
                  <a:ext cx="964659" cy="693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81" name="Graphique 80" descr="Aide avec un remplissage uni">
                <a:extLst>
                  <a:ext uri="{FF2B5EF4-FFF2-40B4-BE49-F238E27FC236}">
                    <a16:creationId xmlns:a16="http://schemas.microsoft.com/office/drawing/2014/main" id="{18A42F67-7E2E-A736-CAD4-3740947E05E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544153" y="960186"/>
                <a:ext cx="679669" cy="679669"/>
              </a:xfrm>
              <a:prstGeom prst="rect">
                <a:avLst/>
              </a:prstGeom>
            </p:spPr>
          </p:pic>
        </p:grpSp>
        <p:grpSp>
          <p:nvGrpSpPr>
            <p:cNvPr id="84" name="Groupe 83">
              <a:extLst>
                <a:ext uri="{FF2B5EF4-FFF2-40B4-BE49-F238E27FC236}">
                  <a16:creationId xmlns:a16="http://schemas.microsoft.com/office/drawing/2014/main" id="{7807DBCD-715B-E0A0-865F-17219505A786}"/>
                </a:ext>
              </a:extLst>
            </p:cNvPr>
            <p:cNvGrpSpPr/>
            <p:nvPr/>
          </p:nvGrpSpPr>
          <p:grpSpPr>
            <a:xfrm flipH="1">
              <a:off x="5659211" y="5047355"/>
              <a:ext cx="1111063" cy="932398"/>
              <a:chOff x="1733248" y="3784720"/>
              <a:chExt cx="1501399" cy="1188720"/>
            </a:xfrm>
          </p:grpSpPr>
          <p:pic>
            <p:nvPicPr>
              <p:cNvPr id="85" name="Graphique 84" descr="Bulle de discussion contour">
                <a:extLst>
                  <a:ext uri="{FF2B5EF4-FFF2-40B4-BE49-F238E27FC236}">
                    <a16:creationId xmlns:a16="http://schemas.microsoft.com/office/drawing/2014/main" id="{668DF84F-D2EA-C435-E889-D52E025931DC}"/>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86" name="Rectangle 85">
                <a:extLst>
                  <a:ext uri="{FF2B5EF4-FFF2-40B4-BE49-F238E27FC236}">
                    <a16:creationId xmlns:a16="http://schemas.microsoft.com/office/drawing/2014/main" id="{202FFB67-B5FF-DB66-281F-F8A7737C83D9}"/>
                  </a:ext>
                </a:extLst>
              </p:cNvPr>
              <p:cNvSpPr/>
              <p:nvPr/>
            </p:nvSpPr>
            <p:spPr>
              <a:xfrm>
                <a:off x="2011149" y="3919483"/>
                <a:ext cx="958375" cy="701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87" name="Graphique 86" descr="Aide avec un remplissage uni">
              <a:extLst>
                <a:ext uri="{FF2B5EF4-FFF2-40B4-BE49-F238E27FC236}">
                  <a16:creationId xmlns:a16="http://schemas.microsoft.com/office/drawing/2014/main" id="{96379214-02EF-C49A-E703-60CDB4ECF814}"/>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5962303" y="5137520"/>
              <a:ext cx="533113" cy="533113"/>
            </a:xfrm>
            <a:prstGeom prst="rect">
              <a:avLst/>
            </a:prstGeom>
          </p:spPr>
        </p:pic>
        <p:pic>
          <p:nvPicPr>
            <p:cNvPr id="88" name="Graphique 87" descr="Bulle de discussion contour">
              <a:extLst>
                <a:ext uri="{FF2B5EF4-FFF2-40B4-BE49-F238E27FC236}">
                  <a16:creationId xmlns:a16="http://schemas.microsoft.com/office/drawing/2014/main" id="{083227A5-2F8D-4CE6-B3E8-459ED43CBEEC}"/>
                </a:ext>
              </a:extLst>
            </p:cNvPr>
            <p:cNvPicPr>
              <a:picLocks noChangeAspect="1"/>
            </p:cNvPicPr>
            <p:nvPr/>
          </p:nvPicPr>
          <p:blipFill rotWithShape="1">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rcRect t="16003" b="12311"/>
            <a:stretch/>
          </p:blipFill>
          <p:spPr>
            <a:xfrm flipH="1">
              <a:off x="6853990" y="3441208"/>
              <a:ext cx="1436183" cy="777844"/>
            </a:xfrm>
            <a:prstGeom prst="rect">
              <a:avLst/>
            </a:prstGeom>
          </p:spPr>
        </p:pic>
      </p:grpSp>
      <p:sp>
        <p:nvSpPr>
          <p:cNvPr id="162" name="Rectangle 161">
            <a:extLst>
              <a:ext uri="{FF2B5EF4-FFF2-40B4-BE49-F238E27FC236}">
                <a16:creationId xmlns:a16="http://schemas.microsoft.com/office/drawing/2014/main" id="{AEF4DF8F-AA43-CCD7-AEC9-61C018F8CBD8}"/>
              </a:ext>
            </a:extLst>
          </p:cNvPr>
          <p:cNvSpPr/>
          <p:nvPr/>
        </p:nvSpPr>
        <p:spPr>
          <a:xfrm>
            <a:off x="7068154" y="2848637"/>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Session de questions / réponses</a:t>
            </a:r>
          </a:p>
        </p:txBody>
      </p:sp>
      <p:grpSp>
        <p:nvGrpSpPr>
          <p:cNvPr id="101" name="Groupe 100">
            <a:extLst>
              <a:ext uri="{FF2B5EF4-FFF2-40B4-BE49-F238E27FC236}">
                <a16:creationId xmlns:a16="http://schemas.microsoft.com/office/drawing/2014/main" id="{AFF0A930-3E23-ECD6-F958-DD44AF5338A5}"/>
              </a:ext>
            </a:extLst>
          </p:cNvPr>
          <p:cNvGrpSpPr/>
          <p:nvPr/>
        </p:nvGrpSpPr>
        <p:grpSpPr>
          <a:xfrm>
            <a:off x="8888816" y="2032843"/>
            <a:ext cx="1110925" cy="841667"/>
            <a:chOff x="1506440" y="3824518"/>
            <a:chExt cx="3572592" cy="2706694"/>
          </a:xfrm>
        </p:grpSpPr>
        <p:pic>
          <p:nvPicPr>
            <p:cNvPr id="90" name="Graphique 89" descr="Écran avec un remplissage uni">
              <a:extLst>
                <a:ext uri="{FF2B5EF4-FFF2-40B4-BE49-F238E27FC236}">
                  <a16:creationId xmlns:a16="http://schemas.microsoft.com/office/drawing/2014/main" id="{4A232720-4578-D152-75BC-750895CF5B6E}"/>
                </a:ext>
              </a:extLst>
            </p:cNvPr>
            <p:cNvPicPr>
              <a:picLocks noChangeAspect="1"/>
            </p:cNvPicPr>
            <p:nvPr/>
          </p:nvPicPr>
          <p:blipFill rotWithShape="1">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rcRect t="12489" b="11748"/>
            <a:stretch/>
          </p:blipFill>
          <p:spPr>
            <a:xfrm>
              <a:off x="1506440" y="3824518"/>
              <a:ext cx="3572592" cy="2706694"/>
            </a:xfrm>
            <a:prstGeom prst="rect">
              <a:avLst/>
            </a:prstGeom>
          </p:spPr>
        </p:pic>
        <p:pic>
          <p:nvPicPr>
            <p:cNvPr id="91" name="Graphique 90" descr="Aide avec un remplissage uni">
              <a:extLst>
                <a:ext uri="{FF2B5EF4-FFF2-40B4-BE49-F238E27FC236}">
                  <a16:creationId xmlns:a16="http://schemas.microsoft.com/office/drawing/2014/main" id="{F286D17F-0064-BE31-8DFD-8E157F7033F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214410" y="4182812"/>
              <a:ext cx="533113" cy="533113"/>
            </a:xfrm>
            <a:prstGeom prst="rect">
              <a:avLst/>
            </a:prstGeom>
          </p:spPr>
        </p:pic>
        <p:pic>
          <p:nvPicPr>
            <p:cNvPr id="92" name="Graphique 91" descr="Aide avec un remplissage uni">
              <a:extLst>
                <a:ext uri="{FF2B5EF4-FFF2-40B4-BE49-F238E27FC236}">
                  <a16:creationId xmlns:a16="http://schemas.microsoft.com/office/drawing/2014/main" id="{16A7B114-CE21-2D45-3DA4-C062509455C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204900" y="4678870"/>
              <a:ext cx="533113" cy="533113"/>
            </a:xfrm>
            <a:prstGeom prst="rect">
              <a:avLst/>
            </a:prstGeom>
          </p:spPr>
        </p:pic>
        <p:pic>
          <p:nvPicPr>
            <p:cNvPr id="93" name="Graphique 92" descr="Aide avec un remplissage uni">
              <a:extLst>
                <a:ext uri="{FF2B5EF4-FFF2-40B4-BE49-F238E27FC236}">
                  <a16:creationId xmlns:a16="http://schemas.microsoft.com/office/drawing/2014/main" id="{889DF450-E4A7-275C-5B71-FC645C3B9CB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204899" y="5183146"/>
              <a:ext cx="533113" cy="533113"/>
            </a:xfrm>
            <a:prstGeom prst="rect">
              <a:avLst/>
            </a:prstGeom>
          </p:spPr>
        </p:pic>
        <p:sp>
          <p:nvSpPr>
            <p:cNvPr id="94" name="Rectangle 93">
              <a:extLst>
                <a:ext uri="{FF2B5EF4-FFF2-40B4-BE49-F238E27FC236}">
                  <a16:creationId xmlns:a16="http://schemas.microsoft.com/office/drawing/2014/main" id="{3E284816-8BA4-5A75-B768-DB82A3BF5395}"/>
                </a:ext>
              </a:extLst>
            </p:cNvPr>
            <p:cNvSpPr/>
            <p:nvPr/>
          </p:nvSpPr>
          <p:spPr>
            <a:xfrm>
              <a:off x="2747956" y="4268422"/>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5" name="Rectangle 94">
              <a:extLst>
                <a:ext uri="{FF2B5EF4-FFF2-40B4-BE49-F238E27FC236}">
                  <a16:creationId xmlns:a16="http://schemas.microsoft.com/office/drawing/2014/main" id="{EDD2BB05-04D2-578F-9C49-3C89D65A2703}"/>
                </a:ext>
              </a:extLst>
            </p:cNvPr>
            <p:cNvSpPr/>
            <p:nvPr/>
          </p:nvSpPr>
          <p:spPr>
            <a:xfrm>
              <a:off x="2747956" y="4401646"/>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6" name="Rectangle 95">
              <a:extLst>
                <a:ext uri="{FF2B5EF4-FFF2-40B4-BE49-F238E27FC236}">
                  <a16:creationId xmlns:a16="http://schemas.microsoft.com/office/drawing/2014/main" id="{EA3B94F6-1A86-8B41-4220-B8EF0D1690C1}"/>
                </a:ext>
              </a:extLst>
            </p:cNvPr>
            <p:cNvSpPr/>
            <p:nvPr/>
          </p:nvSpPr>
          <p:spPr>
            <a:xfrm>
              <a:off x="2747956" y="4541907"/>
              <a:ext cx="842969" cy="536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7" name="Rectangle 96">
              <a:extLst>
                <a:ext uri="{FF2B5EF4-FFF2-40B4-BE49-F238E27FC236}">
                  <a16:creationId xmlns:a16="http://schemas.microsoft.com/office/drawing/2014/main" id="{06C1A1FE-C45D-2983-CC4F-1F8BEA3588A0}"/>
                </a:ext>
              </a:extLst>
            </p:cNvPr>
            <p:cNvSpPr/>
            <p:nvPr/>
          </p:nvSpPr>
          <p:spPr>
            <a:xfrm>
              <a:off x="2738012" y="4837318"/>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8" name="Rectangle 97">
              <a:extLst>
                <a:ext uri="{FF2B5EF4-FFF2-40B4-BE49-F238E27FC236}">
                  <a16:creationId xmlns:a16="http://schemas.microsoft.com/office/drawing/2014/main" id="{076A2498-217B-7A4D-FEB5-BFD33C5442DB}"/>
                </a:ext>
              </a:extLst>
            </p:cNvPr>
            <p:cNvSpPr/>
            <p:nvPr/>
          </p:nvSpPr>
          <p:spPr>
            <a:xfrm>
              <a:off x="2738012" y="4954061"/>
              <a:ext cx="1219919" cy="45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9" name="Rectangle 98">
              <a:extLst>
                <a:ext uri="{FF2B5EF4-FFF2-40B4-BE49-F238E27FC236}">
                  <a16:creationId xmlns:a16="http://schemas.microsoft.com/office/drawing/2014/main" id="{B2C6AC3E-8264-FF10-61E5-6FDC2B9780BE}"/>
                </a:ext>
              </a:extLst>
            </p:cNvPr>
            <p:cNvSpPr/>
            <p:nvPr/>
          </p:nvSpPr>
          <p:spPr>
            <a:xfrm>
              <a:off x="2744425" y="5374984"/>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00" name="Rectangle 99">
              <a:extLst>
                <a:ext uri="{FF2B5EF4-FFF2-40B4-BE49-F238E27FC236}">
                  <a16:creationId xmlns:a16="http://schemas.microsoft.com/office/drawing/2014/main" id="{7115A003-30E5-BF69-260E-3FB107A15F7B}"/>
                </a:ext>
              </a:extLst>
            </p:cNvPr>
            <p:cNvSpPr/>
            <p:nvPr/>
          </p:nvSpPr>
          <p:spPr>
            <a:xfrm>
              <a:off x="2744425" y="5469715"/>
              <a:ext cx="141121" cy="45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163" name="Rectangle 162">
            <a:extLst>
              <a:ext uri="{FF2B5EF4-FFF2-40B4-BE49-F238E27FC236}">
                <a16:creationId xmlns:a16="http://schemas.microsoft.com/office/drawing/2014/main" id="{481F0DCD-875C-F221-B062-98AD103C6DB7}"/>
              </a:ext>
            </a:extLst>
          </p:cNvPr>
          <p:cNvSpPr/>
          <p:nvPr/>
        </p:nvSpPr>
        <p:spPr>
          <a:xfrm>
            <a:off x="8741805" y="284723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✍️⚙️Système de FAQ</a:t>
            </a:r>
          </a:p>
        </p:txBody>
      </p:sp>
      <p:grpSp>
        <p:nvGrpSpPr>
          <p:cNvPr id="110" name="Groupe 109">
            <a:extLst>
              <a:ext uri="{FF2B5EF4-FFF2-40B4-BE49-F238E27FC236}">
                <a16:creationId xmlns:a16="http://schemas.microsoft.com/office/drawing/2014/main" id="{CEE39E24-23B0-16A4-F8DB-07F31647C2D8}"/>
              </a:ext>
            </a:extLst>
          </p:cNvPr>
          <p:cNvGrpSpPr/>
          <p:nvPr/>
        </p:nvGrpSpPr>
        <p:grpSpPr>
          <a:xfrm>
            <a:off x="10634038" y="2075652"/>
            <a:ext cx="1048684" cy="794512"/>
            <a:chOff x="7707845" y="3809110"/>
            <a:chExt cx="3572592" cy="2706694"/>
          </a:xfrm>
        </p:grpSpPr>
        <p:pic>
          <p:nvPicPr>
            <p:cNvPr id="102" name="Graphique 101" descr="Écran avec un remplissage uni">
              <a:extLst>
                <a:ext uri="{FF2B5EF4-FFF2-40B4-BE49-F238E27FC236}">
                  <a16:creationId xmlns:a16="http://schemas.microsoft.com/office/drawing/2014/main" id="{46AA1E8E-8151-EA36-543E-8F26059E5770}"/>
                </a:ext>
              </a:extLst>
            </p:cNvPr>
            <p:cNvPicPr>
              <a:picLocks noChangeAspect="1"/>
            </p:cNvPicPr>
            <p:nvPr/>
          </p:nvPicPr>
          <p:blipFill rotWithShape="1">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rcRect t="12489" b="11748"/>
            <a:stretch/>
          </p:blipFill>
          <p:spPr>
            <a:xfrm>
              <a:off x="7707845" y="3809110"/>
              <a:ext cx="3572592" cy="2706694"/>
            </a:xfrm>
            <a:prstGeom prst="rect">
              <a:avLst/>
            </a:prstGeom>
          </p:spPr>
        </p:pic>
        <p:pic>
          <p:nvPicPr>
            <p:cNvPr id="103" name="Graphique 102" descr="Nuage de points contour">
              <a:extLst>
                <a:ext uri="{FF2B5EF4-FFF2-40B4-BE49-F238E27FC236}">
                  <a16:creationId xmlns:a16="http://schemas.microsoft.com/office/drawing/2014/main" id="{759D2159-B52D-C620-1FEB-7C9072D60FB1}"/>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9781041" y="4872876"/>
              <a:ext cx="914400" cy="914400"/>
            </a:xfrm>
            <a:prstGeom prst="rect">
              <a:avLst/>
            </a:prstGeom>
          </p:spPr>
        </p:pic>
        <p:pic>
          <p:nvPicPr>
            <p:cNvPr id="104" name="Graphique 103" descr="Graphique en radar contour">
              <a:extLst>
                <a:ext uri="{FF2B5EF4-FFF2-40B4-BE49-F238E27FC236}">
                  <a16:creationId xmlns:a16="http://schemas.microsoft.com/office/drawing/2014/main" id="{B5A2667B-83A2-3CD9-0BD6-3FF5050A1284}"/>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8445896" y="4103814"/>
              <a:ext cx="914400" cy="914400"/>
            </a:xfrm>
            <a:prstGeom prst="rect">
              <a:avLst/>
            </a:prstGeom>
          </p:spPr>
        </p:pic>
        <p:pic>
          <p:nvPicPr>
            <p:cNvPr id="105" name="Graphique 104" descr="Graphique en secteurs avec un remplissage uni">
              <a:extLst>
                <a:ext uri="{FF2B5EF4-FFF2-40B4-BE49-F238E27FC236}">
                  <a16:creationId xmlns:a16="http://schemas.microsoft.com/office/drawing/2014/main" id="{93A29648-8216-787A-5772-DAEFA758D636}"/>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9781041" y="4102813"/>
              <a:ext cx="914400" cy="914400"/>
            </a:xfrm>
            <a:prstGeom prst="rect">
              <a:avLst/>
            </a:prstGeom>
          </p:spPr>
        </p:pic>
        <p:pic>
          <p:nvPicPr>
            <p:cNvPr id="106" name="Graphique 105" descr="Signe pouce en haut avec un remplissage uni">
              <a:extLst>
                <a:ext uri="{FF2B5EF4-FFF2-40B4-BE49-F238E27FC236}">
                  <a16:creationId xmlns:a16="http://schemas.microsoft.com/office/drawing/2014/main" id="{17AE3077-A0D4-E7D4-9445-8B9B34C06AA5}"/>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8872671" y="4942539"/>
              <a:ext cx="470653" cy="470653"/>
            </a:xfrm>
            <a:prstGeom prst="rect">
              <a:avLst/>
            </a:prstGeom>
          </p:spPr>
        </p:pic>
        <p:sp>
          <p:nvSpPr>
            <p:cNvPr id="107" name="ZoneTexte 106">
              <a:extLst>
                <a:ext uri="{FF2B5EF4-FFF2-40B4-BE49-F238E27FC236}">
                  <a16:creationId xmlns:a16="http://schemas.microsoft.com/office/drawing/2014/main" id="{AC8325D7-3D4A-D265-0FCD-5C90B03B2E26}"/>
                </a:ext>
              </a:extLst>
            </p:cNvPr>
            <p:cNvSpPr txBox="1"/>
            <p:nvPr/>
          </p:nvSpPr>
          <p:spPr>
            <a:xfrm>
              <a:off x="8333956" y="5043862"/>
              <a:ext cx="825705" cy="471830"/>
            </a:xfrm>
            <a:prstGeom prst="rect">
              <a:avLst/>
            </a:prstGeom>
            <a:noFill/>
          </p:spPr>
          <p:txBody>
            <a:bodyPr wrap="none" rtlCol="0">
              <a:spAutoFit/>
            </a:bodyPr>
            <a:lstStyle/>
            <a:p>
              <a:r>
                <a:rPr lang="fr-FR" sz="300" dirty="0"/>
                <a:t>512</a:t>
              </a:r>
            </a:p>
          </p:txBody>
        </p:sp>
        <p:sp>
          <p:nvSpPr>
            <p:cNvPr id="108" name="ZoneTexte 107">
              <a:extLst>
                <a:ext uri="{FF2B5EF4-FFF2-40B4-BE49-F238E27FC236}">
                  <a16:creationId xmlns:a16="http://schemas.microsoft.com/office/drawing/2014/main" id="{9D650453-09DA-A188-85DD-9816341D5C79}"/>
                </a:ext>
              </a:extLst>
            </p:cNvPr>
            <p:cNvSpPr txBox="1"/>
            <p:nvPr/>
          </p:nvSpPr>
          <p:spPr>
            <a:xfrm>
              <a:off x="8468611" y="5332358"/>
              <a:ext cx="760173" cy="471830"/>
            </a:xfrm>
            <a:prstGeom prst="rect">
              <a:avLst/>
            </a:prstGeom>
            <a:noFill/>
          </p:spPr>
          <p:txBody>
            <a:bodyPr wrap="none" rtlCol="0">
              <a:spAutoFit/>
            </a:bodyPr>
            <a:lstStyle/>
            <a:p>
              <a:r>
                <a:rPr lang="fr-FR" sz="300" dirty="0"/>
                <a:t>32</a:t>
              </a:r>
            </a:p>
          </p:txBody>
        </p:sp>
        <p:pic>
          <p:nvPicPr>
            <p:cNvPr id="109" name="Graphique 108" descr="Signe pouce en haut avec un remplissage uni">
              <a:extLst>
                <a:ext uri="{FF2B5EF4-FFF2-40B4-BE49-F238E27FC236}">
                  <a16:creationId xmlns:a16="http://schemas.microsoft.com/office/drawing/2014/main" id="{3A115F6C-1CF5-C535-7405-7CC2CD4385A3}"/>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flipV="1">
              <a:off x="8903096" y="5352168"/>
              <a:ext cx="403358" cy="403358"/>
            </a:xfrm>
            <a:prstGeom prst="rect">
              <a:avLst/>
            </a:prstGeom>
          </p:spPr>
        </p:pic>
      </p:grpSp>
      <p:sp>
        <p:nvSpPr>
          <p:cNvPr id="164" name="Rectangle 163">
            <a:extLst>
              <a:ext uri="{FF2B5EF4-FFF2-40B4-BE49-F238E27FC236}">
                <a16:creationId xmlns:a16="http://schemas.microsoft.com/office/drawing/2014/main" id="{EFAD9DD7-A19A-75A9-2B8D-FBE8D0908C1D}"/>
              </a:ext>
            </a:extLst>
          </p:cNvPr>
          <p:cNvSpPr/>
          <p:nvPr/>
        </p:nvSpPr>
        <p:spPr>
          <a:xfrm>
            <a:off x="10384401" y="285336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⚙️Etude d’indicateurs automatiques (consommation, …)</a:t>
            </a:r>
          </a:p>
        </p:txBody>
      </p:sp>
      <p:grpSp>
        <p:nvGrpSpPr>
          <p:cNvPr id="357" name="Groupe 356">
            <a:extLst>
              <a:ext uri="{FF2B5EF4-FFF2-40B4-BE49-F238E27FC236}">
                <a16:creationId xmlns:a16="http://schemas.microsoft.com/office/drawing/2014/main" id="{E5DD6C13-4794-EC1E-F4FF-31A2B29B7973}"/>
              </a:ext>
            </a:extLst>
          </p:cNvPr>
          <p:cNvGrpSpPr/>
          <p:nvPr/>
        </p:nvGrpSpPr>
        <p:grpSpPr>
          <a:xfrm>
            <a:off x="2400878" y="4308874"/>
            <a:ext cx="987844" cy="884966"/>
            <a:chOff x="4425170" y="3632190"/>
            <a:chExt cx="3109158" cy="2785359"/>
          </a:xfrm>
        </p:grpSpPr>
        <p:grpSp>
          <p:nvGrpSpPr>
            <p:cNvPr id="358" name="Groupe 357">
              <a:extLst>
                <a:ext uri="{FF2B5EF4-FFF2-40B4-BE49-F238E27FC236}">
                  <a16:creationId xmlns:a16="http://schemas.microsoft.com/office/drawing/2014/main" id="{2DC3D3EE-DED4-9B23-F088-2F4B532DE2EB}"/>
                </a:ext>
              </a:extLst>
            </p:cNvPr>
            <p:cNvGrpSpPr/>
            <p:nvPr/>
          </p:nvGrpSpPr>
          <p:grpSpPr>
            <a:xfrm>
              <a:off x="4425170" y="3632190"/>
              <a:ext cx="3109158" cy="2785359"/>
              <a:chOff x="7455204" y="423920"/>
              <a:chExt cx="3109158" cy="2785359"/>
            </a:xfrm>
          </p:grpSpPr>
          <p:grpSp>
            <p:nvGrpSpPr>
              <p:cNvPr id="367" name="Groupe 366">
                <a:extLst>
                  <a:ext uri="{FF2B5EF4-FFF2-40B4-BE49-F238E27FC236}">
                    <a16:creationId xmlns:a16="http://schemas.microsoft.com/office/drawing/2014/main" id="{9B291204-F85C-C6B2-0C41-9D95A7C1CA20}"/>
                  </a:ext>
                </a:extLst>
              </p:cNvPr>
              <p:cNvGrpSpPr/>
              <p:nvPr/>
            </p:nvGrpSpPr>
            <p:grpSpPr>
              <a:xfrm>
                <a:off x="7645253" y="585600"/>
                <a:ext cx="2773811" cy="2623679"/>
                <a:chOff x="7693584" y="632578"/>
                <a:chExt cx="2773811" cy="2623679"/>
              </a:xfrm>
            </p:grpSpPr>
            <p:sp>
              <p:nvSpPr>
                <p:cNvPr id="371" name="Ellipse 370">
                  <a:extLst>
                    <a:ext uri="{FF2B5EF4-FFF2-40B4-BE49-F238E27FC236}">
                      <a16:creationId xmlns:a16="http://schemas.microsoft.com/office/drawing/2014/main" id="{BBCDF59B-714A-FBF1-5503-5B3826F16712}"/>
                    </a:ext>
                  </a:extLst>
                </p:cNvPr>
                <p:cNvSpPr/>
                <p:nvPr/>
              </p:nvSpPr>
              <p:spPr>
                <a:xfrm>
                  <a:off x="8234943" y="63257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72" name="Ellipse 371">
                  <a:extLst>
                    <a:ext uri="{FF2B5EF4-FFF2-40B4-BE49-F238E27FC236}">
                      <a16:creationId xmlns:a16="http://schemas.microsoft.com/office/drawing/2014/main" id="{1A1AB116-A0D1-E921-0983-31373F144EB0}"/>
                    </a:ext>
                  </a:extLst>
                </p:cNvPr>
                <p:cNvSpPr/>
                <p:nvPr/>
              </p:nvSpPr>
              <p:spPr>
                <a:xfrm>
                  <a:off x="7693584" y="150713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73" name="Ellipse 372">
                  <a:extLst>
                    <a:ext uri="{FF2B5EF4-FFF2-40B4-BE49-F238E27FC236}">
                      <a16:creationId xmlns:a16="http://schemas.microsoft.com/office/drawing/2014/main" id="{D933B82C-EBF5-6A2A-78BA-82944D1ACC5E}"/>
                    </a:ext>
                  </a:extLst>
                </p:cNvPr>
                <p:cNvSpPr/>
                <p:nvPr/>
              </p:nvSpPr>
              <p:spPr>
                <a:xfrm>
                  <a:off x="8718277" y="150713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pic>
            <p:nvPicPr>
              <p:cNvPr id="368" name="Graphique 367" descr="Logement avec un remplissage uni">
                <a:extLst>
                  <a:ext uri="{FF2B5EF4-FFF2-40B4-BE49-F238E27FC236}">
                    <a16:creationId xmlns:a16="http://schemas.microsoft.com/office/drawing/2014/main" id="{01AFF9E3-EE8E-95A7-DF11-925042B1C58A}"/>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9937244" y="2487557"/>
                <a:ext cx="627118" cy="627118"/>
              </a:xfrm>
              <a:prstGeom prst="rect">
                <a:avLst/>
              </a:prstGeom>
            </p:spPr>
          </p:pic>
          <p:pic>
            <p:nvPicPr>
              <p:cNvPr id="369" name="Graphique 368" descr="Outils d'exploitation minière avec un remplissage uni">
                <a:extLst>
                  <a:ext uri="{FF2B5EF4-FFF2-40B4-BE49-F238E27FC236}">
                    <a16:creationId xmlns:a16="http://schemas.microsoft.com/office/drawing/2014/main" id="{6FDA9791-1B07-9228-37AA-54E01DAC2869}"/>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7455204" y="2531261"/>
                <a:ext cx="580613" cy="580613"/>
              </a:xfrm>
              <a:prstGeom prst="rect">
                <a:avLst/>
              </a:prstGeom>
            </p:spPr>
          </p:pic>
          <p:pic>
            <p:nvPicPr>
              <p:cNvPr id="370" name="Graphique 369" descr="Cœur avec un remplissage uni">
                <a:extLst>
                  <a:ext uri="{FF2B5EF4-FFF2-40B4-BE49-F238E27FC236}">
                    <a16:creationId xmlns:a16="http://schemas.microsoft.com/office/drawing/2014/main" id="{B378D71A-39B6-9208-1C02-A1B9EE5557EE}"/>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8735090" y="423920"/>
                <a:ext cx="652161" cy="652161"/>
              </a:xfrm>
              <a:prstGeom prst="rect">
                <a:avLst/>
              </a:prstGeom>
            </p:spPr>
          </p:pic>
        </p:grpSp>
        <p:sp>
          <p:nvSpPr>
            <p:cNvPr id="359" name="Rectangle 358">
              <a:extLst>
                <a:ext uri="{FF2B5EF4-FFF2-40B4-BE49-F238E27FC236}">
                  <a16:creationId xmlns:a16="http://schemas.microsoft.com/office/drawing/2014/main" id="{FFB06B07-A124-0CE5-F727-AC649C59204C}"/>
                </a:ext>
              </a:extLst>
            </p:cNvPr>
            <p:cNvSpPr/>
            <p:nvPr/>
          </p:nvSpPr>
          <p:spPr>
            <a:xfrm>
              <a:off x="5281786" y="4714527"/>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60" name="Rectangle 359">
              <a:extLst>
                <a:ext uri="{FF2B5EF4-FFF2-40B4-BE49-F238E27FC236}">
                  <a16:creationId xmlns:a16="http://schemas.microsoft.com/office/drawing/2014/main" id="{52CAA294-2E05-4D0D-0DBE-37D6E281F586}"/>
                </a:ext>
              </a:extLst>
            </p:cNvPr>
            <p:cNvSpPr/>
            <p:nvPr/>
          </p:nvSpPr>
          <p:spPr>
            <a:xfrm>
              <a:off x="5537898" y="4905178"/>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61" name="Rectangle 360">
              <a:extLst>
                <a:ext uri="{FF2B5EF4-FFF2-40B4-BE49-F238E27FC236}">
                  <a16:creationId xmlns:a16="http://schemas.microsoft.com/office/drawing/2014/main" id="{BBFB2E3D-BCE3-FF37-5AF9-5AEA42E786F9}"/>
                </a:ext>
              </a:extLst>
            </p:cNvPr>
            <p:cNvSpPr/>
            <p:nvPr/>
          </p:nvSpPr>
          <p:spPr>
            <a:xfrm>
              <a:off x="5862145" y="5211431"/>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62" name="Rectangle 361">
              <a:extLst>
                <a:ext uri="{FF2B5EF4-FFF2-40B4-BE49-F238E27FC236}">
                  <a16:creationId xmlns:a16="http://schemas.microsoft.com/office/drawing/2014/main" id="{54AF8E40-56E0-FFD2-6E5B-60AE00E48A79}"/>
                </a:ext>
              </a:extLst>
            </p:cNvPr>
            <p:cNvSpPr/>
            <p:nvPr/>
          </p:nvSpPr>
          <p:spPr>
            <a:xfrm>
              <a:off x="5237093" y="5620455"/>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63" name="Rectangle 362">
              <a:extLst>
                <a:ext uri="{FF2B5EF4-FFF2-40B4-BE49-F238E27FC236}">
                  <a16:creationId xmlns:a16="http://schemas.microsoft.com/office/drawing/2014/main" id="{5788FC9F-BF3C-6AB3-A7F7-B490F4AB8389}"/>
                </a:ext>
              </a:extLst>
            </p:cNvPr>
            <p:cNvSpPr/>
            <p:nvPr/>
          </p:nvSpPr>
          <p:spPr>
            <a:xfrm>
              <a:off x="6452646" y="4791042"/>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64" name="Rectangle 363">
              <a:extLst>
                <a:ext uri="{FF2B5EF4-FFF2-40B4-BE49-F238E27FC236}">
                  <a16:creationId xmlns:a16="http://schemas.microsoft.com/office/drawing/2014/main" id="{947723EE-DDD8-B99A-6C2E-23BFC547E10E}"/>
                </a:ext>
              </a:extLst>
            </p:cNvPr>
            <p:cNvSpPr/>
            <p:nvPr/>
          </p:nvSpPr>
          <p:spPr>
            <a:xfrm>
              <a:off x="6769327" y="5276776"/>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65" name="Rectangle 364">
              <a:extLst>
                <a:ext uri="{FF2B5EF4-FFF2-40B4-BE49-F238E27FC236}">
                  <a16:creationId xmlns:a16="http://schemas.microsoft.com/office/drawing/2014/main" id="{6599FBA1-F977-00D8-7FB6-339C749C7972}"/>
                </a:ext>
              </a:extLst>
            </p:cNvPr>
            <p:cNvSpPr/>
            <p:nvPr/>
          </p:nvSpPr>
          <p:spPr>
            <a:xfrm>
              <a:off x="5857959" y="5954806"/>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66" name="Rectangle 365">
              <a:extLst>
                <a:ext uri="{FF2B5EF4-FFF2-40B4-BE49-F238E27FC236}">
                  <a16:creationId xmlns:a16="http://schemas.microsoft.com/office/drawing/2014/main" id="{16FEDD51-2023-B160-0616-F1DBD0149BBC}"/>
                </a:ext>
              </a:extLst>
            </p:cNvPr>
            <p:cNvSpPr/>
            <p:nvPr/>
          </p:nvSpPr>
          <p:spPr>
            <a:xfrm>
              <a:off x="6432029" y="4194085"/>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pic>
        <p:nvPicPr>
          <p:cNvPr id="374" name="Image 373">
            <a:extLst>
              <a:ext uri="{FF2B5EF4-FFF2-40B4-BE49-F238E27FC236}">
                <a16:creationId xmlns:a16="http://schemas.microsoft.com/office/drawing/2014/main" id="{C14CB4E4-A198-A489-C938-D83ECF112B66}"/>
              </a:ext>
            </a:extLst>
          </p:cNvPr>
          <p:cNvPicPr>
            <a:picLocks noChangeAspect="1"/>
          </p:cNvPicPr>
          <p:nvPr/>
        </p:nvPicPr>
        <p:blipFill>
          <a:blip r:embed="rId64">
            <a:extLst>
              <a:ext uri="{28A0092B-C50C-407E-A947-70E740481C1C}">
                <a14:useLocalDpi xmlns:a14="http://schemas.microsoft.com/office/drawing/2010/main" val="0"/>
              </a:ext>
            </a:extLst>
          </a:blip>
          <a:stretch>
            <a:fillRect/>
          </a:stretch>
        </p:blipFill>
        <p:spPr>
          <a:xfrm>
            <a:off x="4052715" y="4434797"/>
            <a:ext cx="1103082" cy="608397"/>
          </a:xfrm>
          <a:prstGeom prst="rect">
            <a:avLst/>
          </a:prstGeom>
        </p:spPr>
      </p:pic>
      <p:sp>
        <p:nvSpPr>
          <p:cNvPr id="383" name="Rectangle 382">
            <a:extLst>
              <a:ext uri="{FF2B5EF4-FFF2-40B4-BE49-F238E27FC236}">
                <a16:creationId xmlns:a16="http://schemas.microsoft.com/office/drawing/2014/main" id="{DEEDE0F4-4219-D324-68E1-12A2DC4008E8}"/>
              </a:ext>
            </a:extLst>
          </p:cNvPr>
          <p:cNvSpPr/>
          <p:nvPr/>
        </p:nvSpPr>
        <p:spPr>
          <a:xfrm>
            <a:off x="10438343" y="5225086"/>
            <a:ext cx="1339649"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📅Atelier d’identification de la valeur</a:t>
            </a:r>
          </a:p>
        </p:txBody>
      </p:sp>
      <p:sp>
        <p:nvSpPr>
          <p:cNvPr id="384" name="Rectangle 383">
            <a:extLst>
              <a:ext uri="{FF2B5EF4-FFF2-40B4-BE49-F238E27FC236}">
                <a16:creationId xmlns:a16="http://schemas.microsoft.com/office/drawing/2014/main" id="{5864E083-0B64-BE05-E66C-5E02510F93AB}"/>
              </a:ext>
            </a:extLst>
          </p:cNvPr>
          <p:cNvSpPr/>
          <p:nvPr/>
        </p:nvSpPr>
        <p:spPr>
          <a:xfrm>
            <a:off x="2170534" y="522508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W2 Topics Mapping</a:t>
            </a:r>
          </a:p>
        </p:txBody>
      </p:sp>
      <p:sp>
        <p:nvSpPr>
          <p:cNvPr id="385" name="Rectangle 384">
            <a:extLst>
              <a:ext uri="{FF2B5EF4-FFF2-40B4-BE49-F238E27FC236}">
                <a16:creationId xmlns:a16="http://schemas.microsoft.com/office/drawing/2014/main" id="{C265C326-B31D-C467-1F1F-A2CDEDF94744}"/>
              </a:ext>
            </a:extLst>
          </p:cNvPr>
          <p:cNvSpPr/>
          <p:nvPr/>
        </p:nvSpPr>
        <p:spPr>
          <a:xfrm>
            <a:off x="3819000" y="522508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W1 sur l’investissement en temps</a:t>
            </a:r>
          </a:p>
        </p:txBody>
      </p:sp>
      <p:grpSp>
        <p:nvGrpSpPr>
          <p:cNvPr id="386" name="Groupe 385">
            <a:extLst>
              <a:ext uri="{FF2B5EF4-FFF2-40B4-BE49-F238E27FC236}">
                <a16:creationId xmlns:a16="http://schemas.microsoft.com/office/drawing/2014/main" id="{C7B000EC-A5B6-8415-7FF4-663B998E9979}"/>
              </a:ext>
            </a:extLst>
          </p:cNvPr>
          <p:cNvGrpSpPr/>
          <p:nvPr/>
        </p:nvGrpSpPr>
        <p:grpSpPr>
          <a:xfrm>
            <a:off x="5422676" y="4366429"/>
            <a:ext cx="1583556" cy="741212"/>
            <a:chOff x="463550" y="1420160"/>
            <a:chExt cx="11264900" cy="5272740"/>
          </a:xfrm>
        </p:grpSpPr>
        <p:sp>
          <p:nvSpPr>
            <p:cNvPr id="387" name="Trapèze 386">
              <a:extLst>
                <a:ext uri="{FF2B5EF4-FFF2-40B4-BE49-F238E27FC236}">
                  <a16:creationId xmlns:a16="http://schemas.microsoft.com/office/drawing/2014/main" id="{02012929-7D3E-5C8C-EAAB-951392A459BD}"/>
                </a:ext>
              </a:extLst>
            </p:cNvPr>
            <p:cNvSpPr/>
            <p:nvPr/>
          </p:nvSpPr>
          <p:spPr>
            <a:xfrm>
              <a:off x="463550" y="5080000"/>
              <a:ext cx="11264900" cy="1612900"/>
            </a:xfrm>
            <a:prstGeom prst="trapezoid">
              <a:avLst>
                <a:gd name="adj" fmla="val 6358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 b="1" dirty="0">
                  <a:solidFill>
                    <a:schemeClr val="tx1"/>
                  </a:solidFill>
                </a:rPr>
                <a:t>CAUSE</a:t>
              </a:r>
            </a:p>
          </p:txBody>
        </p:sp>
        <p:sp>
          <p:nvSpPr>
            <p:cNvPr id="388" name="Triangle isocèle 387">
              <a:extLst>
                <a:ext uri="{FF2B5EF4-FFF2-40B4-BE49-F238E27FC236}">
                  <a16:creationId xmlns:a16="http://schemas.microsoft.com/office/drawing/2014/main" id="{26B34F57-646C-8426-CE97-C6AEA782351B}"/>
                </a:ext>
              </a:extLst>
            </p:cNvPr>
            <p:cNvSpPr/>
            <p:nvPr/>
          </p:nvSpPr>
          <p:spPr>
            <a:xfrm>
              <a:off x="2800350" y="1420160"/>
              <a:ext cx="6553200" cy="1529080"/>
            </a:xfrm>
            <a:prstGeom prst="triangle">
              <a:avLst>
                <a:gd name="adj" fmla="val 5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 dirty="0">
                  <a:solidFill>
                    <a:schemeClr val="tx1"/>
                  </a:solidFill>
                </a:rPr>
                <a:t>GREAT GOAL</a:t>
              </a:r>
            </a:p>
            <a:p>
              <a:pPr algn="ctr"/>
              <a:endParaRPr lang="en-US" sz="400" dirty="0">
                <a:solidFill>
                  <a:schemeClr val="tx1"/>
                </a:solidFill>
              </a:endParaRPr>
            </a:p>
          </p:txBody>
        </p:sp>
        <p:grpSp>
          <p:nvGrpSpPr>
            <p:cNvPr id="389" name="Groupe 388">
              <a:extLst>
                <a:ext uri="{FF2B5EF4-FFF2-40B4-BE49-F238E27FC236}">
                  <a16:creationId xmlns:a16="http://schemas.microsoft.com/office/drawing/2014/main" id="{69696409-B27D-CF69-A074-09BDE5B94393}"/>
                </a:ext>
              </a:extLst>
            </p:cNvPr>
            <p:cNvGrpSpPr/>
            <p:nvPr/>
          </p:nvGrpSpPr>
          <p:grpSpPr>
            <a:xfrm>
              <a:off x="1527175" y="3040767"/>
              <a:ext cx="9137650" cy="1969383"/>
              <a:chOff x="1644650" y="3040767"/>
              <a:chExt cx="9137650" cy="1907219"/>
            </a:xfrm>
          </p:grpSpPr>
          <p:sp>
            <p:nvSpPr>
              <p:cNvPr id="392" name="Trapèze 391">
                <a:extLst>
                  <a:ext uri="{FF2B5EF4-FFF2-40B4-BE49-F238E27FC236}">
                    <a16:creationId xmlns:a16="http://schemas.microsoft.com/office/drawing/2014/main" id="{07BF864E-D454-D80F-8970-148C64560B3A}"/>
                  </a:ext>
                </a:extLst>
              </p:cNvPr>
              <p:cNvSpPr/>
              <p:nvPr/>
            </p:nvSpPr>
            <p:spPr>
              <a:xfrm>
                <a:off x="1644650"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BAD MEMORIES</a:t>
                </a:r>
                <a:endParaRPr lang="en-US" sz="100" dirty="0">
                  <a:solidFill>
                    <a:schemeClr val="tx1"/>
                  </a:solidFill>
                </a:endParaRPr>
              </a:p>
            </p:txBody>
          </p:sp>
          <p:sp>
            <p:nvSpPr>
              <p:cNvPr id="393" name="Trapèze 392">
                <a:extLst>
                  <a:ext uri="{FF2B5EF4-FFF2-40B4-BE49-F238E27FC236}">
                    <a16:creationId xmlns:a16="http://schemas.microsoft.com/office/drawing/2014/main" id="{A65B0BEC-88CF-6BB1-45C8-7B07B8DFEF5B}"/>
                  </a:ext>
                </a:extLst>
              </p:cNvPr>
              <p:cNvSpPr/>
              <p:nvPr/>
            </p:nvSpPr>
            <p:spPr>
              <a:xfrm>
                <a:off x="2314030"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WRONG STORIES</a:t>
                </a:r>
              </a:p>
            </p:txBody>
          </p:sp>
          <p:sp>
            <p:nvSpPr>
              <p:cNvPr id="394" name="Trapèze 393">
                <a:extLst>
                  <a:ext uri="{FF2B5EF4-FFF2-40B4-BE49-F238E27FC236}">
                    <a16:creationId xmlns:a16="http://schemas.microsoft.com/office/drawing/2014/main" id="{A6ED7BA6-6878-29DF-6FC0-13732A5AB5AF}"/>
                  </a:ext>
                </a:extLst>
              </p:cNvPr>
              <p:cNvSpPr/>
              <p:nvPr/>
            </p:nvSpPr>
            <p:spPr>
              <a:xfrm>
                <a:off x="6261747"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GOOD MEMORIES</a:t>
                </a:r>
                <a:endParaRPr lang="en-US" sz="100" dirty="0">
                  <a:solidFill>
                    <a:schemeClr val="tx1"/>
                  </a:solidFill>
                </a:endParaRPr>
              </a:p>
            </p:txBody>
          </p:sp>
          <p:sp>
            <p:nvSpPr>
              <p:cNvPr id="395" name="Trapèze 394">
                <a:extLst>
                  <a:ext uri="{FF2B5EF4-FFF2-40B4-BE49-F238E27FC236}">
                    <a16:creationId xmlns:a16="http://schemas.microsoft.com/office/drawing/2014/main" id="{8DFF7814-9C57-34AE-34C7-D6FE276023F6}"/>
                  </a:ext>
                </a:extLst>
              </p:cNvPr>
              <p:cNvSpPr/>
              <p:nvPr/>
            </p:nvSpPr>
            <p:spPr>
              <a:xfrm>
                <a:off x="6927306"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IDEAL STORIES</a:t>
                </a:r>
              </a:p>
            </p:txBody>
          </p:sp>
        </p:grpSp>
        <p:sp>
          <p:nvSpPr>
            <p:cNvPr id="390" name="Triangle isocèle 389">
              <a:extLst>
                <a:ext uri="{FF2B5EF4-FFF2-40B4-BE49-F238E27FC236}">
                  <a16:creationId xmlns:a16="http://schemas.microsoft.com/office/drawing/2014/main" id="{04137F9A-70B9-4C38-0B38-6F278F8C5227}"/>
                </a:ext>
              </a:extLst>
            </p:cNvPr>
            <p:cNvSpPr/>
            <p:nvPr/>
          </p:nvSpPr>
          <p:spPr>
            <a:xfrm rot="10800000">
              <a:off x="4952497" y="3040768"/>
              <a:ext cx="2287008" cy="1795683"/>
            </a:xfrm>
            <a:prstGeom prst="triangl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91" name="ZoneTexte 390">
              <a:extLst>
                <a:ext uri="{FF2B5EF4-FFF2-40B4-BE49-F238E27FC236}">
                  <a16:creationId xmlns:a16="http://schemas.microsoft.com/office/drawing/2014/main" id="{2E218A17-AB8E-FB6C-559A-244CF2019F86}"/>
                </a:ext>
              </a:extLst>
            </p:cNvPr>
            <p:cNvSpPr txBox="1"/>
            <p:nvPr/>
          </p:nvSpPr>
          <p:spPr>
            <a:xfrm>
              <a:off x="4952498" y="3044169"/>
              <a:ext cx="2287010" cy="875771"/>
            </a:xfrm>
            <a:prstGeom prst="rect">
              <a:avLst/>
            </a:prstGeom>
            <a:noFill/>
          </p:spPr>
          <p:txBody>
            <a:bodyPr wrap="square">
              <a:spAutoFit/>
            </a:bodyPr>
            <a:lstStyle/>
            <a:p>
              <a:pPr algn="ctr"/>
              <a:r>
                <a:rPr lang="en-US" sz="200" b="1" dirty="0"/>
                <a:t>CONDITIONS</a:t>
              </a:r>
            </a:p>
          </p:txBody>
        </p:sp>
      </p:grpSp>
      <p:sp>
        <p:nvSpPr>
          <p:cNvPr id="396" name="Rectangle 395">
            <a:extLst>
              <a:ext uri="{FF2B5EF4-FFF2-40B4-BE49-F238E27FC236}">
                <a16:creationId xmlns:a16="http://schemas.microsoft.com/office/drawing/2014/main" id="{6231716D-2328-CF7C-4C78-369A4387C82B}"/>
              </a:ext>
            </a:extLst>
          </p:cNvPr>
          <p:cNvSpPr/>
          <p:nvPr/>
        </p:nvSpPr>
        <p:spPr>
          <a:xfrm>
            <a:off x="5451412" y="522508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sur la raison d’être</a:t>
            </a:r>
          </a:p>
          <a:p>
            <a:pPr algn="ctr"/>
            <a:r>
              <a:rPr lang="fr-FR" sz="1200" dirty="0">
                <a:solidFill>
                  <a:schemeClr val="tx1"/>
                </a:solidFill>
              </a:rPr>
              <a:t>Pyramide la raison d’être</a:t>
            </a:r>
          </a:p>
        </p:txBody>
      </p:sp>
      <p:sp>
        <p:nvSpPr>
          <p:cNvPr id="482" name="Rectangle 481">
            <a:extLst>
              <a:ext uri="{FF2B5EF4-FFF2-40B4-BE49-F238E27FC236}">
                <a16:creationId xmlns:a16="http://schemas.microsoft.com/office/drawing/2014/main" id="{9B8CE857-E870-D05C-6DA3-E9E1B589DA67}"/>
              </a:ext>
            </a:extLst>
          </p:cNvPr>
          <p:cNvSpPr/>
          <p:nvPr/>
        </p:nvSpPr>
        <p:spPr>
          <a:xfrm>
            <a:off x="8771671" y="522508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Etude des présences, absences, retards, refus, rejets</a:t>
            </a:r>
          </a:p>
        </p:txBody>
      </p:sp>
      <p:sp>
        <p:nvSpPr>
          <p:cNvPr id="483" name="Rectangle 482">
            <a:extLst>
              <a:ext uri="{FF2B5EF4-FFF2-40B4-BE49-F238E27FC236}">
                <a16:creationId xmlns:a16="http://schemas.microsoft.com/office/drawing/2014/main" id="{8C115003-1646-A4F9-F5E2-6D1AE197EB53}"/>
              </a:ext>
            </a:extLst>
          </p:cNvPr>
          <p:cNvSpPr/>
          <p:nvPr/>
        </p:nvSpPr>
        <p:spPr>
          <a:xfrm>
            <a:off x="497778" y="522508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Phase de feedback pendant les événements</a:t>
            </a:r>
          </a:p>
        </p:txBody>
      </p:sp>
      <p:sp>
        <p:nvSpPr>
          <p:cNvPr id="484" name="Rectangle 483">
            <a:extLst>
              <a:ext uri="{FF2B5EF4-FFF2-40B4-BE49-F238E27FC236}">
                <a16:creationId xmlns:a16="http://schemas.microsoft.com/office/drawing/2014/main" id="{11FC80F7-17AB-2CF5-BB31-9C13708B2D26}"/>
              </a:ext>
            </a:extLst>
          </p:cNvPr>
          <p:cNvSpPr/>
          <p:nvPr/>
        </p:nvSpPr>
        <p:spPr>
          <a:xfrm>
            <a:off x="7101328" y="522508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Système de notation et de  commentaires de contenus</a:t>
            </a:r>
          </a:p>
        </p:txBody>
      </p:sp>
      <p:pic>
        <p:nvPicPr>
          <p:cNvPr id="485" name="Graphique 484" descr="Évaluation 1 étoile avec un remplissage uni">
            <a:extLst>
              <a:ext uri="{FF2B5EF4-FFF2-40B4-BE49-F238E27FC236}">
                <a16:creationId xmlns:a16="http://schemas.microsoft.com/office/drawing/2014/main" id="{FD14514A-514E-7400-D321-240DE8A4C019}"/>
              </a:ext>
            </a:extLst>
          </p:cNvPr>
          <p:cNvPicPr>
            <a:picLocks noChangeAspect="1"/>
          </p:cNvPicPr>
          <p:nvPr/>
        </p:nvPicPr>
        <p:blipFill>
          <a:blip r:embed="rId65">
            <a:extLst>
              <a:ext uri="{28A0092B-C50C-407E-A947-70E740481C1C}">
                <a14:useLocalDpi xmlns:a14="http://schemas.microsoft.com/office/drawing/2010/main" val="0"/>
              </a:ext>
              <a:ext uri="{96DAC541-7B7A-43D3-8B79-37D633B846F1}">
                <asvg:svgBlip xmlns:asvg="http://schemas.microsoft.com/office/drawing/2016/SVG/main" r:embed="rId66"/>
              </a:ext>
            </a:extLst>
          </a:blip>
          <a:stretch>
            <a:fillRect/>
          </a:stretch>
        </p:blipFill>
        <p:spPr>
          <a:xfrm>
            <a:off x="7411224" y="4406481"/>
            <a:ext cx="914400" cy="914400"/>
          </a:xfrm>
          <a:prstGeom prst="rect">
            <a:avLst/>
          </a:prstGeom>
        </p:spPr>
      </p:pic>
      <p:grpSp>
        <p:nvGrpSpPr>
          <p:cNvPr id="486" name="Groupe 485">
            <a:extLst>
              <a:ext uri="{FF2B5EF4-FFF2-40B4-BE49-F238E27FC236}">
                <a16:creationId xmlns:a16="http://schemas.microsoft.com/office/drawing/2014/main" id="{DCFE7A85-667A-78BF-32A0-706D2AAD162A}"/>
              </a:ext>
            </a:extLst>
          </p:cNvPr>
          <p:cNvGrpSpPr/>
          <p:nvPr/>
        </p:nvGrpSpPr>
        <p:grpSpPr>
          <a:xfrm>
            <a:off x="970016" y="4642963"/>
            <a:ext cx="779586" cy="458947"/>
            <a:chOff x="2626246" y="3261367"/>
            <a:chExt cx="2809874" cy="1654184"/>
          </a:xfrm>
        </p:grpSpPr>
        <p:pic>
          <p:nvPicPr>
            <p:cNvPr id="487" name="Graphique 486" descr="Signe pouce en haut avec un remplissage uni">
              <a:extLst>
                <a:ext uri="{FF2B5EF4-FFF2-40B4-BE49-F238E27FC236}">
                  <a16:creationId xmlns:a16="http://schemas.microsoft.com/office/drawing/2014/main" id="{E966F223-BBCF-F7C5-4991-A9721059A7C5}"/>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2839034" y="3261367"/>
              <a:ext cx="470653" cy="470653"/>
            </a:xfrm>
            <a:prstGeom prst="rect">
              <a:avLst/>
            </a:prstGeom>
          </p:spPr>
        </p:pic>
        <p:pic>
          <p:nvPicPr>
            <p:cNvPr id="488" name="Graphique 487" descr="Pouce en bas avec un remplissage uni">
              <a:extLst>
                <a:ext uri="{FF2B5EF4-FFF2-40B4-BE49-F238E27FC236}">
                  <a16:creationId xmlns:a16="http://schemas.microsoft.com/office/drawing/2014/main" id="{8E19E3BF-CC4B-9150-1B72-742D9F695902}"/>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3787316" y="3319278"/>
              <a:ext cx="508752" cy="508752"/>
            </a:xfrm>
            <a:prstGeom prst="rect">
              <a:avLst/>
            </a:prstGeom>
          </p:spPr>
        </p:pic>
        <p:sp>
          <p:nvSpPr>
            <p:cNvPr id="489" name="Rectangle 488">
              <a:extLst>
                <a:ext uri="{FF2B5EF4-FFF2-40B4-BE49-F238E27FC236}">
                  <a16:creationId xmlns:a16="http://schemas.microsoft.com/office/drawing/2014/main" id="{BB1A5ED3-0068-9094-70A8-21925B1E4BD8}"/>
                </a:ext>
              </a:extLst>
            </p:cNvPr>
            <p:cNvSpPr/>
            <p:nvPr/>
          </p:nvSpPr>
          <p:spPr>
            <a:xfrm>
              <a:off x="262624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90" name="Rectangle 489">
              <a:extLst>
                <a:ext uri="{FF2B5EF4-FFF2-40B4-BE49-F238E27FC236}">
                  <a16:creationId xmlns:a16="http://schemas.microsoft.com/office/drawing/2014/main" id="{8D42398F-ADA1-7837-E74E-65E3DF541E41}"/>
                </a:ext>
              </a:extLst>
            </p:cNvPr>
            <p:cNvSpPr/>
            <p:nvPr/>
          </p:nvSpPr>
          <p:spPr>
            <a:xfrm>
              <a:off x="3583068"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91" name="Rectangle 490">
              <a:extLst>
                <a:ext uri="{FF2B5EF4-FFF2-40B4-BE49-F238E27FC236}">
                  <a16:creationId xmlns:a16="http://schemas.microsoft.com/office/drawing/2014/main" id="{80A35746-474B-CAE7-5ADB-89D375E460FB}"/>
                </a:ext>
              </a:extLst>
            </p:cNvPr>
            <p:cNvSpPr/>
            <p:nvPr/>
          </p:nvSpPr>
          <p:spPr>
            <a:xfrm>
              <a:off x="4539889"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492" name="Graphique 491" descr="Aide avec un remplissage uni">
              <a:extLst>
                <a:ext uri="{FF2B5EF4-FFF2-40B4-BE49-F238E27FC236}">
                  <a16:creationId xmlns:a16="http://schemas.microsoft.com/office/drawing/2014/main" id="{C36E14D5-8C31-6DF8-0AD0-16919C26902D}"/>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4793476" y="3319278"/>
              <a:ext cx="471018" cy="471018"/>
            </a:xfrm>
            <a:prstGeom prst="rect">
              <a:avLst/>
            </a:prstGeom>
          </p:spPr>
        </p:pic>
        <p:sp>
          <p:nvSpPr>
            <p:cNvPr id="493" name="Rectangle 492">
              <a:extLst>
                <a:ext uri="{FF2B5EF4-FFF2-40B4-BE49-F238E27FC236}">
                  <a16:creationId xmlns:a16="http://schemas.microsoft.com/office/drawing/2014/main" id="{C03D4C9C-2A54-44F9-A1A5-AED150239496}"/>
                </a:ext>
              </a:extLst>
            </p:cNvPr>
            <p:cNvSpPr/>
            <p:nvPr/>
          </p:nvSpPr>
          <p:spPr>
            <a:xfrm>
              <a:off x="2682556"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94" name="Rectangle 493">
              <a:extLst>
                <a:ext uri="{FF2B5EF4-FFF2-40B4-BE49-F238E27FC236}">
                  <a16:creationId xmlns:a16="http://schemas.microsoft.com/office/drawing/2014/main" id="{BBDB318D-8071-C373-DDBE-91451C3AD6C7}"/>
                </a:ext>
              </a:extLst>
            </p:cNvPr>
            <p:cNvSpPr/>
            <p:nvPr/>
          </p:nvSpPr>
          <p:spPr>
            <a:xfrm>
              <a:off x="2991651"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95" name="Rectangle 494">
              <a:extLst>
                <a:ext uri="{FF2B5EF4-FFF2-40B4-BE49-F238E27FC236}">
                  <a16:creationId xmlns:a16="http://schemas.microsoft.com/office/drawing/2014/main" id="{27942828-6B77-FDC8-FCE7-86DE600BC2FE}"/>
                </a:ext>
              </a:extLst>
            </p:cNvPr>
            <p:cNvSpPr/>
            <p:nvPr/>
          </p:nvSpPr>
          <p:spPr>
            <a:xfrm>
              <a:off x="2912610" y="4148465"/>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96" name="Rectangle 495">
              <a:extLst>
                <a:ext uri="{FF2B5EF4-FFF2-40B4-BE49-F238E27FC236}">
                  <a16:creationId xmlns:a16="http://schemas.microsoft.com/office/drawing/2014/main" id="{CC2F4D90-F40A-6335-4AC4-A39A2C9AE5C4}"/>
                </a:ext>
              </a:extLst>
            </p:cNvPr>
            <p:cNvSpPr/>
            <p:nvPr/>
          </p:nvSpPr>
          <p:spPr>
            <a:xfrm>
              <a:off x="3680364" y="3871561"/>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97" name="Rectangle 496">
              <a:extLst>
                <a:ext uri="{FF2B5EF4-FFF2-40B4-BE49-F238E27FC236}">
                  <a16:creationId xmlns:a16="http://schemas.microsoft.com/office/drawing/2014/main" id="{F0EB7554-5C90-7953-AD1C-2ED499652F3D}"/>
                </a:ext>
              </a:extLst>
            </p:cNvPr>
            <p:cNvSpPr/>
            <p:nvPr/>
          </p:nvSpPr>
          <p:spPr>
            <a:xfrm>
              <a:off x="4016069" y="398672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98" name="Rectangle 497">
              <a:extLst>
                <a:ext uri="{FF2B5EF4-FFF2-40B4-BE49-F238E27FC236}">
                  <a16:creationId xmlns:a16="http://schemas.microsoft.com/office/drawing/2014/main" id="{C5720A08-D195-A2E0-E221-56EB029FDCBF}"/>
                </a:ext>
              </a:extLst>
            </p:cNvPr>
            <p:cNvSpPr/>
            <p:nvPr/>
          </p:nvSpPr>
          <p:spPr>
            <a:xfrm>
              <a:off x="3698403" y="4181149"/>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99" name="Rectangle 498">
              <a:extLst>
                <a:ext uri="{FF2B5EF4-FFF2-40B4-BE49-F238E27FC236}">
                  <a16:creationId xmlns:a16="http://schemas.microsoft.com/office/drawing/2014/main" id="{45642A59-19B3-05E9-6A08-6F0D361E08A6}"/>
                </a:ext>
              </a:extLst>
            </p:cNvPr>
            <p:cNvSpPr/>
            <p:nvPr/>
          </p:nvSpPr>
          <p:spPr>
            <a:xfrm>
              <a:off x="4604347" y="3858182"/>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00" name="Rectangle 499">
              <a:extLst>
                <a:ext uri="{FF2B5EF4-FFF2-40B4-BE49-F238E27FC236}">
                  <a16:creationId xmlns:a16="http://schemas.microsoft.com/office/drawing/2014/main" id="{456E6EF4-6905-B95F-CC56-8B9BEA8D8889}"/>
                </a:ext>
              </a:extLst>
            </p:cNvPr>
            <p:cNvSpPr/>
            <p:nvPr/>
          </p:nvSpPr>
          <p:spPr>
            <a:xfrm>
              <a:off x="4928163" y="384379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01" name="Rectangle 500">
              <a:extLst>
                <a:ext uri="{FF2B5EF4-FFF2-40B4-BE49-F238E27FC236}">
                  <a16:creationId xmlns:a16="http://schemas.microsoft.com/office/drawing/2014/main" id="{5EE31D19-1190-E4D4-BF66-027967E42984}"/>
                </a:ext>
              </a:extLst>
            </p:cNvPr>
            <p:cNvSpPr/>
            <p:nvPr/>
          </p:nvSpPr>
          <p:spPr>
            <a:xfrm>
              <a:off x="4844841" y="4195507"/>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grpSp>
      <p:grpSp>
        <p:nvGrpSpPr>
          <p:cNvPr id="502" name="Groupe 501">
            <a:extLst>
              <a:ext uri="{FF2B5EF4-FFF2-40B4-BE49-F238E27FC236}">
                <a16:creationId xmlns:a16="http://schemas.microsoft.com/office/drawing/2014/main" id="{132459C2-E7D7-C3F4-9DE2-E4E75AAB8C67}"/>
              </a:ext>
            </a:extLst>
          </p:cNvPr>
          <p:cNvGrpSpPr/>
          <p:nvPr/>
        </p:nvGrpSpPr>
        <p:grpSpPr>
          <a:xfrm>
            <a:off x="10553703" y="4898537"/>
            <a:ext cx="1224290" cy="184791"/>
            <a:chOff x="261104" y="1695766"/>
            <a:chExt cx="10571211" cy="1595596"/>
          </a:xfrm>
        </p:grpSpPr>
        <p:pic>
          <p:nvPicPr>
            <p:cNvPr id="254" name="Image 253">
              <a:extLst>
                <a:ext uri="{FF2B5EF4-FFF2-40B4-BE49-F238E27FC236}">
                  <a16:creationId xmlns:a16="http://schemas.microsoft.com/office/drawing/2014/main" id="{A3F8B21F-16B3-BB7A-FCA3-6973CE59E107}"/>
                </a:ext>
              </a:extLst>
            </p:cNvPr>
            <p:cNvPicPr>
              <a:picLocks noChangeAspect="1"/>
            </p:cNvPicPr>
            <p:nvPr/>
          </p:nvPicPr>
          <p:blipFill>
            <a:blip r:embed="rId67">
              <a:extLst>
                <a:ext uri="{28A0092B-C50C-407E-A947-70E740481C1C}">
                  <a14:useLocalDpi xmlns:a14="http://schemas.microsoft.com/office/drawing/2010/main" val="0"/>
                </a:ext>
              </a:extLst>
            </a:blip>
            <a:stretch>
              <a:fillRect/>
            </a:stretch>
          </p:blipFill>
          <p:spPr>
            <a:xfrm>
              <a:off x="261104" y="1702441"/>
              <a:ext cx="1120155" cy="1582246"/>
            </a:xfrm>
            <a:prstGeom prst="rect">
              <a:avLst/>
            </a:prstGeom>
          </p:spPr>
        </p:pic>
        <p:pic>
          <p:nvPicPr>
            <p:cNvPr id="255" name="Image 254">
              <a:extLst>
                <a:ext uri="{FF2B5EF4-FFF2-40B4-BE49-F238E27FC236}">
                  <a16:creationId xmlns:a16="http://schemas.microsoft.com/office/drawing/2014/main" id="{6595AD58-57D7-BE3C-1CDA-1978F0FFBB73}"/>
                </a:ext>
              </a:extLst>
            </p:cNvPr>
            <p:cNvPicPr>
              <a:picLocks noChangeAspect="1"/>
            </p:cNvPicPr>
            <p:nvPr/>
          </p:nvPicPr>
          <p:blipFill>
            <a:blip r:embed="rId68">
              <a:extLst>
                <a:ext uri="{28A0092B-C50C-407E-A947-70E740481C1C}">
                  <a14:useLocalDpi xmlns:a14="http://schemas.microsoft.com/office/drawing/2010/main" val="0"/>
                </a:ext>
              </a:extLst>
            </a:blip>
            <a:stretch>
              <a:fillRect/>
            </a:stretch>
          </p:blipFill>
          <p:spPr>
            <a:xfrm>
              <a:off x="2620940" y="1702441"/>
              <a:ext cx="1120155" cy="1582246"/>
            </a:xfrm>
            <a:prstGeom prst="rect">
              <a:avLst/>
            </a:prstGeom>
          </p:spPr>
        </p:pic>
        <p:pic>
          <p:nvPicPr>
            <p:cNvPr id="256" name="Image 255" descr="Une image contenant texte&#10;&#10;Description générée automatiquement">
              <a:extLst>
                <a:ext uri="{FF2B5EF4-FFF2-40B4-BE49-F238E27FC236}">
                  <a16:creationId xmlns:a16="http://schemas.microsoft.com/office/drawing/2014/main" id="{5BA1AB6C-623A-C00B-BBEA-2047F2864E2D}"/>
                </a:ext>
              </a:extLst>
            </p:cNvPr>
            <p:cNvPicPr>
              <a:picLocks noChangeAspect="1"/>
            </p:cNvPicPr>
            <p:nvPr/>
          </p:nvPicPr>
          <p:blipFill>
            <a:blip r:embed="rId69">
              <a:extLst>
                <a:ext uri="{28A0092B-C50C-407E-A947-70E740481C1C}">
                  <a14:useLocalDpi xmlns:a14="http://schemas.microsoft.com/office/drawing/2010/main" val="0"/>
                </a:ext>
              </a:extLst>
            </a:blip>
            <a:stretch>
              <a:fillRect/>
            </a:stretch>
          </p:blipFill>
          <p:spPr>
            <a:xfrm>
              <a:off x="6207372" y="1695766"/>
              <a:ext cx="1120155" cy="1582246"/>
            </a:xfrm>
            <a:prstGeom prst="rect">
              <a:avLst/>
            </a:prstGeom>
          </p:spPr>
        </p:pic>
        <p:pic>
          <p:nvPicPr>
            <p:cNvPr id="257" name="Image 256">
              <a:extLst>
                <a:ext uri="{FF2B5EF4-FFF2-40B4-BE49-F238E27FC236}">
                  <a16:creationId xmlns:a16="http://schemas.microsoft.com/office/drawing/2014/main" id="{D59F6CB2-F16B-8034-A2FB-2F2F1894EB96}"/>
                </a:ext>
              </a:extLst>
            </p:cNvPr>
            <p:cNvPicPr>
              <a:picLocks noChangeAspect="1"/>
            </p:cNvPicPr>
            <p:nvPr/>
          </p:nvPicPr>
          <p:blipFill>
            <a:blip r:embed="rId70">
              <a:extLst>
                <a:ext uri="{28A0092B-C50C-407E-A947-70E740481C1C}">
                  <a14:useLocalDpi xmlns:a14="http://schemas.microsoft.com/office/drawing/2010/main" val="0"/>
                </a:ext>
              </a:extLst>
            </a:blip>
            <a:stretch>
              <a:fillRect/>
            </a:stretch>
          </p:blipFill>
          <p:spPr>
            <a:xfrm>
              <a:off x="8546782" y="1695766"/>
              <a:ext cx="1120155" cy="1582246"/>
            </a:xfrm>
            <a:prstGeom prst="rect">
              <a:avLst/>
            </a:prstGeom>
          </p:spPr>
        </p:pic>
        <p:pic>
          <p:nvPicPr>
            <p:cNvPr id="258" name="Image 257">
              <a:extLst>
                <a:ext uri="{FF2B5EF4-FFF2-40B4-BE49-F238E27FC236}">
                  <a16:creationId xmlns:a16="http://schemas.microsoft.com/office/drawing/2014/main" id="{09D8CA02-3A3D-7FF4-79BE-DFBC302912CC}"/>
                </a:ext>
              </a:extLst>
            </p:cNvPr>
            <p:cNvPicPr>
              <a:picLocks noChangeAspect="1"/>
            </p:cNvPicPr>
            <p:nvPr/>
          </p:nvPicPr>
          <p:blipFill>
            <a:blip r:embed="rId71">
              <a:extLst>
                <a:ext uri="{28A0092B-C50C-407E-A947-70E740481C1C}">
                  <a14:useLocalDpi xmlns:a14="http://schemas.microsoft.com/office/drawing/2010/main" val="0"/>
                </a:ext>
              </a:extLst>
            </a:blip>
            <a:stretch>
              <a:fillRect/>
            </a:stretch>
          </p:blipFill>
          <p:spPr>
            <a:xfrm>
              <a:off x="1446008" y="1702441"/>
              <a:ext cx="1120155" cy="1582246"/>
            </a:xfrm>
            <a:prstGeom prst="rect">
              <a:avLst/>
            </a:prstGeom>
          </p:spPr>
        </p:pic>
        <p:pic>
          <p:nvPicPr>
            <p:cNvPr id="259" name="Image 258">
              <a:extLst>
                <a:ext uri="{FF2B5EF4-FFF2-40B4-BE49-F238E27FC236}">
                  <a16:creationId xmlns:a16="http://schemas.microsoft.com/office/drawing/2014/main" id="{32FDD9B0-957D-DE00-1BD9-CC39AA5CF8C4}"/>
                </a:ext>
              </a:extLst>
            </p:cNvPr>
            <p:cNvPicPr>
              <a:picLocks noChangeAspect="1"/>
            </p:cNvPicPr>
            <p:nvPr/>
          </p:nvPicPr>
          <p:blipFill>
            <a:blip r:embed="rId72">
              <a:extLst>
                <a:ext uri="{28A0092B-C50C-407E-A947-70E740481C1C}">
                  <a14:useLocalDpi xmlns:a14="http://schemas.microsoft.com/office/drawing/2010/main" val="0"/>
                </a:ext>
              </a:extLst>
            </a:blip>
            <a:stretch>
              <a:fillRect/>
            </a:stretch>
          </p:blipFill>
          <p:spPr>
            <a:xfrm>
              <a:off x="3814945" y="1702441"/>
              <a:ext cx="1120155" cy="1582246"/>
            </a:xfrm>
            <a:prstGeom prst="rect">
              <a:avLst/>
            </a:prstGeom>
          </p:spPr>
        </p:pic>
        <p:pic>
          <p:nvPicPr>
            <p:cNvPr id="260" name="Image 259" descr="Une image contenant texte&#10;&#10;Description générée automatiquement">
              <a:extLst>
                <a:ext uri="{FF2B5EF4-FFF2-40B4-BE49-F238E27FC236}">
                  <a16:creationId xmlns:a16="http://schemas.microsoft.com/office/drawing/2014/main" id="{0B592DD7-5139-ECAD-EAC7-F2FA97D15BBB}"/>
                </a:ext>
              </a:extLst>
            </p:cNvPr>
            <p:cNvPicPr>
              <a:picLocks noChangeAspect="1"/>
            </p:cNvPicPr>
            <p:nvPr/>
          </p:nvPicPr>
          <p:blipFill>
            <a:blip r:embed="rId73">
              <a:extLst>
                <a:ext uri="{28A0092B-C50C-407E-A947-70E740481C1C}">
                  <a14:useLocalDpi xmlns:a14="http://schemas.microsoft.com/office/drawing/2010/main" val="0"/>
                </a:ext>
              </a:extLst>
            </a:blip>
            <a:stretch>
              <a:fillRect/>
            </a:stretch>
          </p:blipFill>
          <p:spPr>
            <a:xfrm>
              <a:off x="7381401" y="1695766"/>
              <a:ext cx="1120155" cy="1582246"/>
            </a:xfrm>
            <a:prstGeom prst="rect">
              <a:avLst/>
            </a:prstGeom>
          </p:spPr>
        </p:pic>
        <p:pic>
          <p:nvPicPr>
            <p:cNvPr id="261" name="Image 260" descr="Une image contenant texte&#10;&#10;Description générée automatiquement">
              <a:extLst>
                <a:ext uri="{FF2B5EF4-FFF2-40B4-BE49-F238E27FC236}">
                  <a16:creationId xmlns:a16="http://schemas.microsoft.com/office/drawing/2014/main" id="{BDA133FF-703C-2E14-BDF7-395642FCC52F}"/>
                </a:ext>
              </a:extLst>
            </p:cNvPr>
            <p:cNvPicPr>
              <a:picLocks noChangeAspect="1"/>
            </p:cNvPicPr>
            <p:nvPr/>
          </p:nvPicPr>
          <p:blipFill>
            <a:blip r:embed="rId74">
              <a:extLst>
                <a:ext uri="{28A0092B-C50C-407E-A947-70E740481C1C}">
                  <a14:useLocalDpi xmlns:a14="http://schemas.microsoft.com/office/drawing/2010/main" val="0"/>
                </a:ext>
              </a:extLst>
            </a:blip>
            <a:stretch>
              <a:fillRect/>
            </a:stretch>
          </p:blipFill>
          <p:spPr>
            <a:xfrm>
              <a:off x="9712160" y="1695766"/>
              <a:ext cx="1120155" cy="1582246"/>
            </a:xfrm>
            <a:prstGeom prst="rect">
              <a:avLst/>
            </a:prstGeom>
          </p:spPr>
        </p:pic>
        <p:pic>
          <p:nvPicPr>
            <p:cNvPr id="262" name="Image 261" descr="Une image contenant texte&#10;&#10;Description générée automatiquement">
              <a:extLst>
                <a:ext uri="{FF2B5EF4-FFF2-40B4-BE49-F238E27FC236}">
                  <a16:creationId xmlns:a16="http://schemas.microsoft.com/office/drawing/2014/main" id="{3D1B1DA9-19EC-4DB1-01F7-DE5B273761A9}"/>
                </a:ext>
              </a:extLst>
            </p:cNvPr>
            <p:cNvPicPr>
              <a:picLocks noChangeAspect="1"/>
            </p:cNvPicPr>
            <p:nvPr/>
          </p:nvPicPr>
          <p:blipFill>
            <a:blip r:embed="rId75">
              <a:extLst>
                <a:ext uri="{28A0092B-C50C-407E-A947-70E740481C1C}">
                  <a14:useLocalDpi xmlns:a14="http://schemas.microsoft.com/office/drawing/2010/main" val="0"/>
                </a:ext>
              </a:extLst>
            </a:blip>
            <a:stretch>
              <a:fillRect/>
            </a:stretch>
          </p:blipFill>
          <p:spPr>
            <a:xfrm>
              <a:off x="4993795" y="1702441"/>
              <a:ext cx="1135830" cy="1588921"/>
            </a:xfrm>
            <a:prstGeom prst="rect">
              <a:avLst/>
            </a:prstGeom>
          </p:spPr>
        </p:pic>
      </p:grpSp>
      <p:grpSp>
        <p:nvGrpSpPr>
          <p:cNvPr id="264" name="Groupe 263">
            <a:extLst>
              <a:ext uri="{FF2B5EF4-FFF2-40B4-BE49-F238E27FC236}">
                <a16:creationId xmlns:a16="http://schemas.microsoft.com/office/drawing/2014/main" id="{991DD6C9-A941-DC6A-627B-19AFAE8A44DD}"/>
              </a:ext>
            </a:extLst>
          </p:cNvPr>
          <p:cNvGrpSpPr/>
          <p:nvPr/>
        </p:nvGrpSpPr>
        <p:grpSpPr>
          <a:xfrm>
            <a:off x="10412443" y="4384192"/>
            <a:ext cx="123305" cy="477372"/>
            <a:chOff x="1087583" y="694189"/>
            <a:chExt cx="1484849" cy="5748556"/>
          </a:xfrm>
        </p:grpSpPr>
        <p:cxnSp>
          <p:nvCxnSpPr>
            <p:cNvPr id="265" name="Connecteur droit avec flèche 264">
              <a:extLst>
                <a:ext uri="{FF2B5EF4-FFF2-40B4-BE49-F238E27FC236}">
                  <a16:creationId xmlns:a16="http://schemas.microsoft.com/office/drawing/2014/main" id="{2E3F1A73-11BC-F6B9-43F6-26D4676A63F6}"/>
                </a:ext>
              </a:extLst>
            </p:cNvPr>
            <p:cNvCxnSpPr>
              <a:cxnSpLocks/>
            </p:cNvCxnSpPr>
            <p:nvPr/>
          </p:nvCxnSpPr>
          <p:spPr>
            <a:xfrm flipV="1">
              <a:off x="1809036" y="694189"/>
              <a:ext cx="0" cy="5748556"/>
            </a:xfrm>
            <a:prstGeom prst="straightConnector1">
              <a:avLst/>
            </a:prstGeom>
            <a:ln w="3175">
              <a:tailEnd type="triangle"/>
            </a:ln>
          </p:spPr>
          <p:style>
            <a:lnRef idx="1">
              <a:schemeClr val="accent1"/>
            </a:lnRef>
            <a:fillRef idx="0">
              <a:schemeClr val="accent1"/>
            </a:fillRef>
            <a:effectRef idx="0">
              <a:schemeClr val="accent1"/>
            </a:effectRef>
            <a:fontRef idx="minor">
              <a:schemeClr val="tx1"/>
            </a:fontRef>
          </p:style>
        </p:cxnSp>
        <p:sp>
          <p:nvSpPr>
            <p:cNvPr id="266" name="Rectangle 265">
              <a:extLst>
                <a:ext uri="{FF2B5EF4-FFF2-40B4-BE49-F238E27FC236}">
                  <a16:creationId xmlns:a16="http://schemas.microsoft.com/office/drawing/2014/main" id="{8FB9B6FA-FBD8-5D13-DD54-83241FFA7AAC}"/>
                </a:ext>
              </a:extLst>
            </p:cNvPr>
            <p:cNvSpPr/>
            <p:nvPr/>
          </p:nvSpPr>
          <p:spPr>
            <a:xfrm>
              <a:off x="1087583" y="1055232"/>
              <a:ext cx="1484849" cy="595619"/>
            </a:xfrm>
            <a:prstGeom prst="rect">
              <a:avLst/>
            </a:prstGeom>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267" name="Rectangle 266">
              <a:extLst>
                <a:ext uri="{FF2B5EF4-FFF2-40B4-BE49-F238E27FC236}">
                  <a16:creationId xmlns:a16="http://schemas.microsoft.com/office/drawing/2014/main" id="{48AD5F43-0EB7-2ED9-A8EF-1895FAA74CCE}"/>
                </a:ext>
              </a:extLst>
            </p:cNvPr>
            <p:cNvSpPr/>
            <p:nvPr/>
          </p:nvSpPr>
          <p:spPr>
            <a:xfrm>
              <a:off x="1087583" y="2098260"/>
              <a:ext cx="1484849" cy="914401"/>
            </a:xfrm>
            <a:prstGeom prst="rect">
              <a:avLst/>
            </a:prstGeom>
            <a:solidFill>
              <a:srgbClr val="ED7D3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268" name="Rectangle 267">
              <a:extLst>
                <a:ext uri="{FF2B5EF4-FFF2-40B4-BE49-F238E27FC236}">
                  <a16:creationId xmlns:a16="http://schemas.microsoft.com/office/drawing/2014/main" id="{D7FCA39F-2B40-90D3-41CB-5F823D3C006D}"/>
                </a:ext>
              </a:extLst>
            </p:cNvPr>
            <p:cNvSpPr/>
            <p:nvPr/>
          </p:nvSpPr>
          <p:spPr>
            <a:xfrm>
              <a:off x="1087583" y="3550455"/>
              <a:ext cx="1484849" cy="54528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269" name="Rectangle 268">
              <a:extLst>
                <a:ext uri="{FF2B5EF4-FFF2-40B4-BE49-F238E27FC236}">
                  <a16:creationId xmlns:a16="http://schemas.microsoft.com/office/drawing/2014/main" id="{DD22D808-3193-977C-CD8B-0E17A03A7307}"/>
                </a:ext>
              </a:extLst>
            </p:cNvPr>
            <p:cNvSpPr/>
            <p:nvPr/>
          </p:nvSpPr>
          <p:spPr>
            <a:xfrm>
              <a:off x="1087583" y="4840958"/>
              <a:ext cx="1484849" cy="545285"/>
            </a:xfrm>
            <a:prstGeom prst="rect">
              <a:avLst/>
            </a:prstGeom>
            <a:solidFill>
              <a:schemeClr val="bg1">
                <a:lumMod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270" name="Rectangle 269">
              <a:extLst>
                <a:ext uri="{FF2B5EF4-FFF2-40B4-BE49-F238E27FC236}">
                  <a16:creationId xmlns:a16="http://schemas.microsoft.com/office/drawing/2014/main" id="{6F33A3C5-B814-EC15-FFC2-381257F416A5}"/>
                </a:ext>
              </a:extLst>
            </p:cNvPr>
            <p:cNvSpPr/>
            <p:nvPr/>
          </p:nvSpPr>
          <p:spPr>
            <a:xfrm>
              <a:off x="1087583" y="5858818"/>
              <a:ext cx="1484849" cy="54528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503" name="Rectangle 502">
            <a:extLst>
              <a:ext uri="{FF2B5EF4-FFF2-40B4-BE49-F238E27FC236}">
                <a16:creationId xmlns:a16="http://schemas.microsoft.com/office/drawing/2014/main" id="{C04C190E-C87E-AF9F-39C7-3BC256097320}"/>
              </a:ext>
            </a:extLst>
          </p:cNvPr>
          <p:cNvSpPr/>
          <p:nvPr/>
        </p:nvSpPr>
        <p:spPr>
          <a:xfrm>
            <a:off x="10560929" y="4785129"/>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2" name="Rectangle 271">
            <a:extLst>
              <a:ext uri="{FF2B5EF4-FFF2-40B4-BE49-F238E27FC236}">
                <a16:creationId xmlns:a16="http://schemas.microsoft.com/office/drawing/2014/main" id="{FA38E0CF-A05D-63DF-2713-9F480CBA5DF4}"/>
              </a:ext>
            </a:extLst>
          </p:cNvPr>
          <p:cNvSpPr/>
          <p:nvPr/>
        </p:nvSpPr>
        <p:spPr>
          <a:xfrm>
            <a:off x="10667750" y="4503497"/>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3" name="Rectangle 272">
            <a:extLst>
              <a:ext uri="{FF2B5EF4-FFF2-40B4-BE49-F238E27FC236}">
                <a16:creationId xmlns:a16="http://schemas.microsoft.com/office/drawing/2014/main" id="{34BE79BC-0444-AEC8-EC51-1DB87E7FCB3A}"/>
              </a:ext>
            </a:extLst>
          </p:cNvPr>
          <p:cNvSpPr/>
          <p:nvPr/>
        </p:nvSpPr>
        <p:spPr>
          <a:xfrm>
            <a:off x="10943933" y="4405211"/>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4" name="Rectangle 273">
            <a:extLst>
              <a:ext uri="{FF2B5EF4-FFF2-40B4-BE49-F238E27FC236}">
                <a16:creationId xmlns:a16="http://schemas.microsoft.com/office/drawing/2014/main" id="{5801491E-1C6E-ADCE-FE5A-41DF8201A990}"/>
              </a:ext>
            </a:extLst>
          </p:cNvPr>
          <p:cNvSpPr/>
          <p:nvPr/>
        </p:nvSpPr>
        <p:spPr>
          <a:xfrm>
            <a:off x="10730646" y="4977255"/>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5" name="Rectangle 274">
            <a:extLst>
              <a:ext uri="{FF2B5EF4-FFF2-40B4-BE49-F238E27FC236}">
                <a16:creationId xmlns:a16="http://schemas.microsoft.com/office/drawing/2014/main" id="{A40B819A-4017-C65E-1764-AA2F511871EE}"/>
              </a:ext>
            </a:extLst>
          </p:cNvPr>
          <p:cNvSpPr/>
          <p:nvPr/>
        </p:nvSpPr>
        <p:spPr>
          <a:xfrm>
            <a:off x="11113650" y="4597337"/>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6" name="Rectangle 275">
            <a:extLst>
              <a:ext uri="{FF2B5EF4-FFF2-40B4-BE49-F238E27FC236}">
                <a16:creationId xmlns:a16="http://schemas.microsoft.com/office/drawing/2014/main" id="{85BCC3B8-8D7C-30AD-6549-07A6D5A364C2}"/>
              </a:ext>
            </a:extLst>
          </p:cNvPr>
          <p:cNvSpPr/>
          <p:nvPr/>
        </p:nvSpPr>
        <p:spPr>
          <a:xfrm>
            <a:off x="11395226" y="4405211"/>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7" name="Rectangle 276">
            <a:extLst>
              <a:ext uri="{FF2B5EF4-FFF2-40B4-BE49-F238E27FC236}">
                <a16:creationId xmlns:a16="http://schemas.microsoft.com/office/drawing/2014/main" id="{63D9E208-595C-8F18-AAE9-67F000CECAEE}"/>
              </a:ext>
            </a:extLst>
          </p:cNvPr>
          <p:cNvSpPr/>
          <p:nvPr/>
        </p:nvSpPr>
        <p:spPr>
          <a:xfrm>
            <a:off x="11241878" y="4732511"/>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505" name="Graphique 504" descr="Calendrier journalier avec un remplissage uni">
            <a:extLst>
              <a:ext uri="{FF2B5EF4-FFF2-40B4-BE49-F238E27FC236}">
                <a16:creationId xmlns:a16="http://schemas.microsoft.com/office/drawing/2014/main" id="{E17A97A8-FD8E-B4E6-BD53-467EC5B0FB3C}"/>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8943051" y="4014182"/>
            <a:ext cx="914400" cy="914400"/>
          </a:xfrm>
          <a:prstGeom prst="rect">
            <a:avLst/>
          </a:prstGeom>
        </p:spPr>
      </p:pic>
      <p:pic>
        <p:nvPicPr>
          <p:cNvPr id="282" name="Graphique 281" descr="Homme avec un remplissage uni">
            <a:extLst>
              <a:ext uri="{FF2B5EF4-FFF2-40B4-BE49-F238E27FC236}">
                <a16:creationId xmlns:a16="http://schemas.microsoft.com/office/drawing/2014/main" id="{6FEBDDD1-5697-120D-3D12-F96DC268810E}"/>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l="20753" t="1048" b="40502"/>
          <a:stretch/>
        </p:blipFill>
        <p:spPr>
          <a:xfrm>
            <a:off x="8927924" y="4500789"/>
            <a:ext cx="453328" cy="334360"/>
          </a:xfrm>
          <a:prstGeom prst="rect">
            <a:avLst/>
          </a:prstGeom>
        </p:spPr>
      </p:pic>
      <p:pic>
        <p:nvPicPr>
          <p:cNvPr id="283" name="Graphique 282" descr="Homme avec un remplissage uni">
            <a:extLst>
              <a:ext uri="{FF2B5EF4-FFF2-40B4-BE49-F238E27FC236}">
                <a16:creationId xmlns:a16="http://schemas.microsoft.com/office/drawing/2014/main" id="{FEE5C431-07A3-E982-4B67-054E97C1F0A7}"/>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l="20753" t="1048" b="40502"/>
          <a:stretch/>
        </p:blipFill>
        <p:spPr>
          <a:xfrm>
            <a:off x="9185901" y="4481861"/>
            <a:ext cx="453328" cy="334360"/>
          </a:xfrm>
          <a:prstGeom prst="rect">
            <a:avLst/>
          </a:prstGeom>
        </p:spPr>
      </p:pic>
      <p:pic>
        <p:nvPicPr>
          <p:cNvPr id="284" name="Graphique 283" descr="Homme avec un remplissage uni">
            <a:extLst>
              <a:ext uri="{FF2B5EF4-FFF2-40B4-BE49-F238E27FC236}">
                <a16:creationId xmlns:a16="http://schemas.microsoft.com/office/drawing/2014/main" id="{9ACAAF48-C26C-9924-BE88-2F11C801DF43}"/>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l="20753" t="1048" b="40502"/>
          <a:stretch/>
        </p:blipFill>
        <p:spPr>
          <a:xfrm>
            <a:off x="9448410" y="4500093"/>
            <a:ext cx="453328" cy="334360"/>
          </a:xfrm>
          <a:prstGeom prst="rect">
            <a:avLst/>
          </a:prstGeom>
        </p:spPr>
      </p:pic>
      <p:pic>
        <p:nvPicPr>
          <p:cNvPr id="285" name="Graphique 284" descr="Loupe avec un remplissage uni">
            <a:extLst>
              <a:ext uri="{FF2B5EF4-FFF2-40B4-BE49-F238E27FC236}">
                <a16:creationId xmlns:a16="http://schemas.microsoft.com/office/drawing/2014/main" id="{06ADB0FD-6985-FEE8-D652-B00B7417522A}"/>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9065740" y="4293989"/>
            <a:ext cx="914400" cy="914400"/>
          </a:xfrm>
          <a:prstGeom prst="rect">
            <a:avLst/>
          </a:prstGeom>
        </p:spPr>
      </p:pic>
      <p:pic>
        <p:nvPicPr>
          <p:cNvPr id="286" name="Graphique 285" descr="Femme scientifique avec un remplissage uni">
            <a:extLst>
              <a:ext uri="{FF2B5EF4-FFF2-40B4-BE49-F238E27FC236}">
                <a16:creationId xmlns:a16="http://schemas.microsoft.com/office/drawing/2014/main" id="{09AC1D88-493D-1F8F-F433-AD323B6488C3}"/>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rcRect/>
          <a:stretch/>
        </p:blipFill>
        <p:spPr>
          <a:xfrm>
            <a:off x="752476" y="365125"/>
            <a:ext cx="1114424" cy="1114424"/>
          </a:xfrm>
          <a:prstGeom prst="rect">
            <a:avLst/>
          </a:prstGeom>
        </p:spPr>
      </p:pic>
    </p:spTree>
    <p:extLst>
      <p:ext uri="{BB962C8B-B14F-4D97-AF65-F5344CB8AC3E}">
        <p14:creationId xmlns:p14="http://schemas.microsoft.com/office/powerpoint/2010/main" val="334692761"/>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580489C-266C-DBB1-ED72-837A565327DD}"/>
              </a:ext>
            </a:extLst>
          </p:cNvPr>
          <p:cNvSpPr>
            <a:spLocks noGrp="1"/>
          </p:cNvSpPr>
          <p:nvPr>
            <p:ph type="title"/>
          </p:nvPr>
        </p:nvSpPr>
        <p:spPr>
          <a:xfrm>
            <a:off x="1752600" y="365125"/>
            <a:ext cx="9601200" cy="1325563"/>
          </a:xfrm>
        </p:spPr>
        <p:txBody>
          <a:bodyPr>
            <a:noAutofit/>
          </a:bodyPr>
          <a:lstStyle/>
          <a:p>
            <a:r>
              <a:rPr lang="fr-FR" sz="3200" b="1" dirty="0"/>
              <a:t>Renseignement délibéré</a:t>
            </a:r>
            <a:br>
              <a:rPr lang="fr-FR" sz="3200" b="1" dirty="0"/>
            </a:br>
            <a:r>
              <a:rPr lang="fr-FR" sz="1800" dirty="0"/>
              <a:t>Exemples d’</a:t>
            </a:r>
            <a:r>
              <a:rPr lang="fr-FR" sz="1800" dirty="0">
                <a:solidFill>
                  <a:srgbClr val="00B050"/>
                </a:solidFill>
              </a:rPr>
              <a:t>avantages</a:t>
            </a:r>
            <a:r>
              <a:rPr lang="fr-FR" sz="1800" dirty="0"/>
              <a:t>, </a:t>
            </a:r>
            <a:r>
              <a:rPr lang="fr-FR" sz="1800" dirty="0">
                <a:solidFill>
                  <a:srgbClr val="FF0000"/>
                </a:solidFill>
              </a:rPr>
              <a:t>inconvénients</a:t>
            </a:r>
            <a:r>
              <a:rPr lang="fr-FR" sz="1800" dirty="0"/>
              <a:t>, </a:t>
            </a:r>
            <a:r>
              <a:rPr lang="fr-FR" sz="1800" dirty="0">
                <a:solidFill>
                  <a:srgbClr val="ED7D31"/>
                </a:solidFill>
              </a:rPr>
              <a:t>conditions favorables </a:t>
            </a:r>
            <a:r>
              <a:rPr lang="fr-FR" sz="1800" dirty="0"/>
              <a:t>par moyens de renseignement</a:t>
            </a:r>
            <a:endParaRPr lang="fr-FR" sz="3200" dirty="0"/>
          </a:p>
        </p:txBody>
      </p:sp>
      <p:grpSp>
        <p:nvGrpSpPr>
          <p:cNvPr id="14" name="Groupe 13">
            <a:extLst>
              <a:ext uri="{FF2B5EF4-FFF2-40B4-BE49-F238E27FC236}">
                <a16:creationId xmlns:a16="http://schemas.microsoft.com/office/drawing/2014/main" id="{A296D38E-9DAE-8DEB-8974-36FE4CC18B7B}"/>
              </a:ext>
            </a:extLst>
          </p:cNvPr>
          <p:cNvGrpSpPr/>
          <p:nvPr/>
        </p:nvGrpSpPr>
        <p:grpSpPr>
          <a:xfrm>
            <a:off x="693577" y="1653102"/>
            <a:ext cx="1176599" cy="921643"/>
            <a:chOff x="7748306" y="490159"/>
            <a:chExt cx="3442453" cy="2696512"/>
          </a:xfrm>
        </p:grpSpPr>
        <p:pic>
          <p:nvPicPr>
            <p:cNvPr id="3" name="Graphique 2" descr="Enveloppe avec un remplissage uni">
              <a:extLst>
                <a:ext uri="{FF2B5EF4-FFF2-40B4-BE49-F238E27FC236}">
                  <a16:creationId xmlns:a16="http://schemas.microsoft.com/office/drawing/2014/main" id="{F09C4CD1-7F08-7741-6B12-4E84F35DAA8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276359" y="490159"/>
              <a:ext cx="914400" cy="914400"/>
            </a:xfrm>
            <a:prstGeom prst="rect">
              <a:avLst/>
            </a:prstGeom>
          </p:spPr>
        </p:pic>
        <p:grpSp>
          <p:nvGrpSpPr>
            <p:cNvPr id="4" name="Groupe 3">
              <a:extLst>
                <a:ext uri="{FF2B5EF4-FFF2-40B4-BE49-F238E27FC236}">
                  <a16:creationId xmlns:a16="http://schemas.microsoft.com/office/drawing/2014/main" id="{D2A9616A-EE46-1685-962D-AEEAF28E6D51}"/>
                </a:ext>
              </a:extLst>
            </p:cNvPr>
            <p:cNvGrpSpPr/>
            <p:nvPr/>
          </p:nvGrpSpPr>
          <p:grpSpPr>
            <a:xfrm>
              <a:off x="7748306" y="1139265"/>
              <a:ext cx="1452457" cy="1899771"/>
              <a:chOff x="7682578" y="1021976"/>
              <a:chExt cx="1658646" cy="2169460"/>
            </a:xfrm>
          </p:grpSpPr>
          <p:pic>
            <p:nvPicPr>
              <p:cNvPr id="5" name="Graphique 4" descr="Papier contour">
                <a:extLst>
                  <a:ext uri="{FF2B5EF4-FFF2-40B4-BE49-F238E27FC236}">
                    <a16:creationId xmlns:a16="http://schemas.microsoft.com/office/drawing/2014/main" id="{C53304FA-7302-3484-FF0A-23906B80B5FE}"/>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17172" t="6805" r="16563" b="6523"/>
              <a:stretch/>
            </p:blipFill>
            <p:spPr>
              <a:xfrm>
                <a:off x="7682578" y="1021976"/>
                <a:ext cx="1658646" cy="2169460"/>
              </a:xfrm>
              <a:prstGeom prst="rect">
                <a:avLst/>
              </a:prstGeom>
            </p:spPr>
          </p:pic>
          <p:pic>
            <p:nvPicPr>
              <p:cNvPr id="6" name="Graphique 5" descr="Aide avec un remplissage uni">
                <a:extLst>
                  <a:ext uri="{FF2B5EF4-FFF2-40B4-BE49-F238E27FC236}">
                    <a16:creationId xmlns:a16="http://schemas.microsoft.com/office/drawing/2014/main" id="{DFE779A1-B6E3-FE41-5993-D358853BA35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29327" y="1628496"/>
                <a:ext cx="537883" cy="537883"/>
              </a:xfrm>
              <a:prstGeom prst="rect">
                <a:avLst/>
              </a:prstGeom>
            </p:spPr>
          </p:pic>
          <p:pic>
            <p:nvPicPr>
              <p:cNvPr id="7" name="Graphique 6" descr="Aide avec un remplissage uni">
                <a:extLst>
                  <a:ext uri="{FF2B5EF4-FFF2-40B4-BE49-F238E27FC236}">
                    <a16:creationId xmlns:a16="http://schemas.microsoft.com/office/drawing/2014/main" id="{92F5A6D8-ADD2-DDFF-7D6F-C21DBE46A5D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836722" y="2103170"/>
                <a:ext cx="537883" cy="537883"/>
              </a:xfrm>
              <a:prstGeom prst="rect">
                <a:avLst/>
              </a:prstGeom>
            </p:spPr>
          </p:pic>
          <p:pic>
            <p:nvPicPr>
              <p:cNvPr id="8" name="Graphique 7" descr="Aide avec un remplissage uni">
                <a:extLst>
                  <a:ext uri="{FF2B5EF4-FFF2-40B4-BE49-F238E27FC236}">
                    <a16:creationId xmlns:a16="http://schemas.microsoft.com/office/drawing/2014/main" id="{C7221CEE-FA68-83CC-0ABC-A21090C1001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829326" y="2577844"/>
                <a:ext cx="537883" cy="537883"/>
              </a:xfrm>
              <a:prstGeom prst="rect">
                <a:avLst/>
              </a:prstGeom>
            </p:spPr>
          </p:pic>
        </p:grpSp>
        <p:cxnSp>
          <p:nvCxnSpPr>
            <p:cNvPr id="9" name="Connecteur : en angle 8">
              <a:extLst>
                <a:ext uri="{FF2B5EF4-FFF2-40B4-BE49-F238E27FC236}">
                  <a16:creationId xmlns:a16="http://schemas.microsoft.com/office/drawing/2014/main" id="{9261A411-8395-6642-4D3C-F400A4332FD8}"/>
                </a:ext>
              </a:extLst>
            </p:cNvPr>
            <p:cNvCxnSpPr>
              <a:stCxn id="5" idx="3"/>
              <a:endCxn id="3" idx="1"/>
            </p:cNvCxnSpPr>
            <p:nvPr/>
          </p:nvCxnSpPr>
          <p:spPr>
            <a:xfrm flipV="1">
              <a:off x="9200763" y="947359"/>
              <a:ext cx="1075596" cy="1141792"/>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0" name="Connecteur : en angle 9">
              <a:extLst>
                <a:ext uri="{FF2B5EF4-FFF2-40B4-BE49-F238E27FC236}">
                  <a16:creationId xmlns:a16="http://schemas.microsoft.com/office/drawing/2014/main" id="{0544B28F-1F90-B2FC-585D-619151232F79}"/>
                </a:ext>
              </a:extLst>
            </p:cNvPr>
            <p:cNvCxnSpPr>
              <a:cxnSpLocks/>
              <a:stCxn id="5" idx="3"/>
            </p:cNvCxnSpPr>
            <p:nvPr/>
          </p:nvCxnSpPr>
          <p:spPr>
            <a:xfrm flipV="1">
              <a:off x="9200763" y="1815071"/>
              <a:ext cx="1075596" cy="274080"/>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1" name="Connecteur : en angle 10">
              <a:extLst>
                <a:ext uri="{FF2B5EF4-FFF2-40B4-BE49-F238E27FC236}">
                  <a16:creationId xmlns:a16="http://schemas.microsoft.com/office/drawing/2014/main" id="{DA9791F4-A9AC-A879-EBF5-CF5049356715}"/>
                </a:ext>
              </a:extLst>
            </p:cNvPr>
            <p:cNvCxnSpPr>
              <a:cxnSpLocks/>
              <a:stCxn id="5" idx="3"/>
            </p:cNvCxnSpPr>
            <p:nvPr/>
          </p:nvCxnSpPr>
          <p:spPr>
            <a:xfrm>
              <a:off x="9200763" y="2089151"/>
              <a:ext cx="1075596" cy="593631"/>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pic>
          <p:nvPicPr>
            <p:cNvPr id="12" name="Graphique 11" descr="Réseau en ligne avec un remplissage uni">
              <a:extLst>
                <a:ext uri="{FF2B5EF4-FFF2-40B4-BE49-F238E27FC236}">
                  <a16:creationId xmlns:a16="http://schemas.microsoft.com/office/drawing/2014/main" id="{F81B7AA4-2ED9-A7E9-0B88-D0310A0718E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0214892" y="2272271"/>
              <a:ext cx="914400" cy="914400"/>
            </a:xfrm>
            <a:prstGeom prst="rect">
              <a:avLst/>
            </a:prstGeom>
          </p:spPr>
        </p:pic>
        <p:pic>
          <p:nvPicPr>
            <p:cNvPr id="13" name="Graphique 12" descr="Réunion en ligne avec un remplissage uni">
              <a:extLst>
                <a:ext uri="{FF2B5EF4-FFF2-40B4-BE49-F238E27FC236}">
                  <a16:creationId xmlns:a16="http://schemas.microsoft.com/office/drawing/2014/main" id="{38B50ED0-7BA1-1E7D-80F8-2D15FE4506B3}"/>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0276359" y="1348236"/>
              <a:ext cx="914400" cy="914400"/>
            </a:xfrm>
            <a:prstGeom prst="rect">
              <a:avLst/>
            </a:prstGeom>
          </p:spPr>
        </p:pic>
      </p:grpSp>
      <p:sp>
        <p:nvSpPr>
          <p:cNvPr id="15" name="Rectangle 14">
            <a:extLst>
              <a:ext uri="{FF2B5EF4-FFF2-40B4-BE49-F238E27FC236}">
                <a16:creationId xmlns:a16="http://schemas.microsoft.com/office/drawing/2014/main" id="{276BCA58-248A-8A93-06E3-1F50B67D386A}"/>
              </a:ext>
            </a:extLst>
          </p:cNvPr>
          <p:cNvSpPr/>
          <p:nvPr/>
        </p:nvSpPr>
        <p:spPr>
          <a:xfrm>
            <a:off x="521623" y="259824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✍️Questionnaire numérique / Sondage</a:t>
            </a:r>
          </a:p>
        </p:txBody>
      </p:sp>
      <p:grpSp>
        <p:nvGrpSpPr>
          <p:cNvPr id="25" name="Groupe 24">
            <a:extLst>
              <a:ext uri="{FF2B5EF4-FFF2-40B4-BE49-F238E27FC236}">
                <a16:creationId xmlns:a16="http://schemas.microsoft.com/office/drawing/2014/main" id="{1DF907CF-32B7-C336-4EED-C86B22E564E6}"/>
              </a:ext>
            </a:extLst>
          </p:cNvPr>
          <p:cNvGrpSpPr/>
          <p:nvPr/>
        </p:nvGrpSpPr>
        <p:grpSpPr>
          <a:xfrm>
            <a:off x="2474113" y="1639146"/>
            <a:ext cx="1121389" cy="935599"/>
            <a:chOff x="7829664" y="3812797"/>
            <a:chExt cx="3361095" cy="2804234"/>
          </a:xfrm>
        </p:grpSpPr>
        <p:pic>
          <p:nvPicPr>
            <p:cNvPr id="16" name="Graphique 15" descr="Homme avec un remplissage uni">
              <a:extLst>
                <a:ext uri="{FF2B5EF4-FFF2-40B4-BE49-F238E27FC236}">
                  <a16:creationId xmlns:a16="http://schemas.microsoft.com/office/drawing/2014/main" id="{EDC2E886-6857-92E6-EE63-5F822430AE27}"/>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t="1" b="40502"/>
            <a:stretch/>
          </p:blipFill>
          <p:spPr>
            <a:xfrm>
              <a:off x="8312323" y="4821183"/>
              <a:ext cx="2878436" cy="1712563"/>
            </a:xfrm>
            <a:prstGeom prst="rect">
              <a:avLst/>
            </a:prstGeom>
          </p:spPr>
        </p:pic>
        <p:grpSp>
          <p:nvGrpSpPr>
            <p:cNvPr id="17" name="Groupe 16">
              <a:extLst>
                <a:ext uri="{FF2B5EF4-FFF2-40B4-BE49-F238E27FC236}">
                  <a16:creationId xmlns:a16="http://schemas.microsoft.com/office/drawing/2014/main" id="{1A3E3ED7-3DA4-E2C6-71F7-FBA94B451C20}"/>
                </a:ext>
              </a:extLst>
            </p:cNvPr>
            <p:cNvGrpSpPr/>
            <p:nvPr/>
          </p:nvGrpSpPr>
          <p:grpSpPr>
            <a:xfrm>
              <a:off x="7829664" y="4904469"/>
              <a:ext cx="1747769" cy="1712562"/>
              <a:chOff x="786592" y="4813146"/>
              <a:chExt cx="1747769" cy="1712562"/>
            </a:xfrm>
          </p:grpSpPr>
          <p:pic>
            <p:nvPicPr>
              <p:cNvPr id="18" name="Graphique 17" descr="Microphone avec un remplissage uni">
                <a:extLst>
                  <a:ext uri="{FF2B5EF4-FFF2-40B4-BE49-F238E27FC236}">
                    <a16:creationId xmlns:a16="http://schemas.microsoft.com/office/drawing/2014/main" id="{2D3BEAA2-EF82-251B-0A7F-742CD389D6B4}"/>
                  </a:ext>
                </a:extLst>
              </p:cNvPr>
              <p:cNvPicPr>
                <a:picLocks noChangeAspect="1"/>
              </p:cNvPicPr>
              <p:nvPr/>
            </p:nvPicPr>
            <p:blipFill rotWithShape="1">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rcRect l="26582" r="43264" b="738"/>
              <a:stretch/>
            </p:blipFill>
            <p:spPr>
              <a:xfrm rot="927067" flipH="1">
                <a:off x="2184345" y="5290444"/>
                <a:ext cx="350016" cy="1222715"/>
              </a:xfrm>
              <a:prstGeom prst="rect">
                <a:avLst/>
              </a:prstGeom>
            </p:spPr>
          </p:pic>
          <p:pic>
            <p:nvPicPr>
              <p:cNvPr id="19" name="Graphique 18" descr="Personne confuse avec un remplissage uni">
                <a:extLst>
                  <a:ext uri="{FF2B5EF4-FFF2-40B4-BE49-F238E27FC236}">
                    <a16:creationId xmlns:a16="http://schemas.microsoft.com/office/drawing/2014/main" id="{8D93713C-1E6D-7BAC-9AAA-E9DE75F00118}"/>
                  </a:ext>
                </a:extLst>
              </p:cNvPr>
              <p:cNvPicPr>
                <a:picLocks noChangeAspect="1"/>
              </p:cNvPicPr>
              <p:nvPr/>
            </p:nvPicPr>
            <p:blipFill rotWithShape="1">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l="38856" r="14769" b="50034"/>
              <a:stretch/>
            </p:blipFill>
            <p:spPr>
              <a:xfrm>
                <a:off x="786592" y="4813146"/>
                <a:ext cx="1589482" cy="1712562"/>
              </a:xfrm>
              <a:prstGeom prst="rect">
                <a:avLst/>
              </a:prstGeom>
            </p:spPr>
          </p:pic>
        </p:grpSp>
        <p:pic>
          <p:nvPicPr>
            <p:cNvPr id="20" name="Graphique 19" descr="Bulle de discussion contour">
              <a:extLst>
                <a:ext uri="{FF2B5EF4-FFF2-40B4-BE49-F238E27FC236}">
                  <a16:creationId xmlns:a16="http://schemas.microsoft.com/office/drawing/2014/main" id="{A570A55D-06E6-0805-D3F4-85AE3F2CE8DD}"/>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903" b="12311"/>
            <a:stretch/>
          </p:blipFill>
          <p:spPr>
            <a:xfrm flipH="1">
              <a:off x="9657562" y="3812797"/>
              <a:ext cx="1501399" cy="1188720"/>
            </a:xfrm>
            <a:prstGeom prst="rect">
              <a:avLst/>
            </a:prstGeom>
          </p:spPr>
        </p:pic>
        <p:grpSp>
          <p:nvGrpSpPr>
            <p:cNvPr id="21" name="Groupe 20">
              <a:extLst>
                <a:ext uri="{FF2B5EF4-FFF2-40B4-BE49-F238E27FC236}">
                  <a16:creationId xmlns:a16="http://schemas.microsoft.com/office/drawing/2014/main" id="{E70BF7BC-3322-6728-EEC9-56B82409E20F}"/>
                </a:ext>
              </a:extLst>
            </p:cNvPr>
            <p:cNvGrpSpPr/>
            <p:nvPr/>
          </p:nvGrpSpPr>
          <p:grpSpPr>
            <a:xfrm>
              <a:off x="7954346" y="3871337"/>
              <a:ext cx="1501399" cy="1188720"/>
              <a:chOff x="1733248" y="3784720"/>
              <a:chExt cx="1501399" cy="1188720"/>
            </a:xfrm>
          </p:grpSpPr>
          <p:pic>
            <p:nvPicPr>
              <p:cNvPr id="22" name="Graphique 21" descr="Bulle de discussion contour">
                <a:extLst>
                  <a:ext uri="{FF2B5EF4-FFF2-40B4-BE49-F238E27FC236}">
                    <a16:creationId xmlns:a16="http://schemas.microsoft.com/office/drawing/2014/main" id="{511B25EA-A05B-48C9-B1AC-B102501C95FE}"/>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23" name="Rectangle 22">
                <a:extLst>
                  <a:ext uri="{FF2B5EF4-FFF2-40B4-BE49-F238E27FC236}">
                    <a16:creationId xmlns:a16="http://schemas.microsoft.com/office/drawing/2014/main" id="{9D8C6126-F339-04DC-002D-1F38BB197D2E}"/>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24" name="Graphique 23" descr="Aide avec un remplissage uni">
              <a:extLst>
                <a:ext uri="{FF2B5EF4-FFF2-40B4-BE49-F238E27FC236}">
                  <a16:creationId xmlns:a16="http://schemas.microsoft.com/office/drawing/2014/main" id="{98F75E94-4ABA-B8D6-7B75-2A2120443EE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360689" y="3975365"/>
              <a:ext cx="679669" cy="679669"/>
            </a:xfrm>
            <a:prstGeom prst="rect">
              <a:avLst/>
            </a:prstGeom>
          </p:spPr>
        </p:pic>
      </p:grpSp>
      <p:sp>
        <p:nvSpPr>
          <p:cNvPr id="159" name="Rectangle 158">
            <a:extLst>
              <a:ext uri="{FF2B5EF4-FFF2-40B4-BE49-F238E27FC236}">
                <a16:creationId xmlns:a16="http://schemas.microsoft.com/office/drawing/2014/main" id="{1A3D9E8D-4727-93B6-8BF9-FB7B7BDFEDFA}"/>
              </a:ext>
            </a:extLst>
          </p:cNvPr>
          <p:cNvSpPr/>
          <p:nvPr/>
        </p:nvSpPr>
        <p:spPr>
          <a:xfrm>
            <a:off x="2164217" y="259824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Interview de membre / membre potentiel</a:t>
            </a:r>
          </a:p>
        </p:txBody>
      </p:sp>
      <p:grpSp>
        <p:nvGrpSpPr>
          <p:cNvPr id="35" name="Groupe 34">
            <a:extLst>
              <a:ext uri="{FF2B5EF4-FFF2-40B4-BE49-F238E27FC236}">
                <a16:creationId xmlns:a16="http://schemas.microsoft.com/office/drawing/2014/main" id="{65CC4531-3866-B01E-E196-AE2ACA542F1E}"/>
              </a:ext>
            </a:extLst>
          </p:cNvPr>
          <p:cNvGrpSpPr/>
          <p:nvPr/>
        </p:nvGrpSpPr>
        <p:grpSpPr>
          <a:xfrm>
            <a:off x="4115736" y="1639146"/>
            <a:ext cx="1113255" cy="937684"/>
            <a:chOff x="2361041" y="3812797"/>
            <a:chExt cx="3329297" cy="2804234"/>
          </a:xfrm>
        </p:grpSpPr>
        <p:pic>
          <p:nvPicPr>
            <p:cNvPr id="26" name="Graphique 25" descr="Employée de bureau avec un remplissage uni">
              <a:extLst>
                <a:ext uri="{FF2B5EF4-FFF2-40B4-BE49-F238E27FC236}">
                  <a16:creationId xmlns:a16="http://schemas.microsoft.com/office/drawing/2014/main" id="{69062F7E-F2A8-A167-5C47-9FDFA81E1B38}"/>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875660" y="4634141"/>
              <a:ext cx="1537069" cy="1537069"/>
            </a:xfrm>
            <a:prstGeom prst="rect">
              <a:avLst/>
            </a:prstGeom>
          </p:spPr>
        </p:pic>
        <p:grpSp>
          <p:nvGrpSpPr>
            <p:cNvPr id="27" name="Groupe 26">
              <a:extLst>
                <a:ext uri="{FF2B5EF4-FFF2-40B4-BE49-F238E27FC236}">
                  <a16:creationId xmlns:a16="http://schemas.microsoft.com/office/drawing/2014/main" id="{5E27D47F-4F01-1B57-9673-1F3557F7C76A}"/>
                </a:ext>
              </a:extLst>
            </p:cNvPr>
            <p:cNvGrpSpPr/>
            <p:nvPr/>
          </p:nvGrpSpPr>
          <p:grpSpPr>
            <a:xfrm>
              <a:off x="2361041" y="4904469"/>
              <a:ext cx="1747769" cy="1712562"/>
              <a:chOff x="786592" y="4813146"/>
              <a:chExt cx="1747769" cy="1712562"/>
            </a:xfrm>
          </p:grpSpPr>
          <p:pic>
            <p:nvPicPr>
              <p:cNvPr id="28" name="Graphique 27" descr="Microphone avec un remplissage uni">
                <a:extLst>
                  <a:ext uri="{FF2B5EF4-FFF2-40B4-BE49-F238E27FC236}">
                    <a16:creationId xmlns:a16="http://schemas.microsoft.com/office/drawing/2014/main" id="{CF554960-5664-F937-7DF5-117BDF1D6EDA}"/>
                  </a:ext>
                </a:extLst>
              </p:cNvPr>
              <p:cNvPicPr>
                <a:picLocks noChangeAspect="1"/>
              </p:cNvPicPr>
              <p:nvPr/>
            </p:nvPicPr>
            <p:blipFill rotWithShape="1">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rcRect l="26582" r="43264" b="738"/>
              <a:stretch/>
            </p:blipFill>
            <p:spPr>
              <a:xfrm rot="927067" flipH="1">
                <a:off x="2184345" y="5290444"/>
                <a:ext cx="350016" cy="1222715"/>
              </a:xfrm>
              <a:prstGeom prst="rect">
                <a:avLst/>
              </a:prstGeom>
            </p:spPr>
          </p:pic>
          <p:pic>
            <p:nvPicPr>
              <p:cNvPr id="29" name="Graphique 28" descr="Personne confuse avec un remplissage uni">
                <a:extLst>
                  <a:ext uri="{FF2B5EF4-FFF2-40B4-BE49-F238E27FC236}">
                    <a16:creationId xmlns:a16="http://schemas.microsoft.com/office/drawing/2014/main" id="{8C236D66-3445-6BE6-8747-7C900AFD360E}"/>
                  </a:ext>
                </a:extLst>
              </p:cNvPr>
              <p:cNvPicPr>
                <a:picLocks noChangeAspect="1"/>
              </p:cNvPicPr>
              <p:nvPr/>
            </p:nvPicPr>
            <p:blipFill rotWithShape="1">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l="38856" r="14769" b="50034"/>
              <a:stretch/>
            </p:blipFill>
            <p:spPr>
              <a:xfrm>
                <a:off x="786592" y="4813146"/>
                <a:ext cx="1589482" cy="1712562"/>
              </a:xfrm>
              <a:prstGeom prst="rect">
                <a:avLst/>
              </a:prstGeom>
            </p:spPr>
          </p:pic>
        </p:grpSp>
        <p:pic>
          <p:nvPicPr>
            <p:cNvPr id="30" name="Graphique 29" descr="Bulle de discussion contour">
              <a:extLst>
                <a:ext uri="{FF2B5EF4-FFF2-40B4-BE49-F238E27FC236}">
                  <a16:creationId xmlns:a16="http://schemas.microsoft.com/office/drawing/2014/main" id="{7FFB4C85-91F8-D000-C3D8-17491D17C1E6}"/>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903" b="12311"/>
            <a:stretch/>
          </p:blipFill>
          <p:spPr>
            <a:xfrm flipH="1">
              <a:off x="4188939" y="3812797"/>
              <a:ext cx="1501399" cy="1188720"/>
            </a:xfrm>
            <a:prstGeom prst="rect">
              <a:avLst/>
            </a:prstGeom>
          </p:spPr>
        </p:pic>
        <p:grpSp>
          <p:nvGrpSpPr>
            <p:cNvPr id="31" name="Groupe 30">
              <a:extLst>
                <a:ext uri="{FF2B5EF4-FFF2-40B4-BE49-F238E27FC236}">
                  <a16:creationId xmlns:a16="http://schemas.microsoft.com/office/drawing/2014/main" id="{9950A6BE-C103-F9D7-9DBE-3A7335D1A4F3}"/>
                </a:ext>
              </a:extLst>
            </p:cNvPr>
            <p:cNvGrpSpPr/>
            <p:nvPr/>
          </p:nvGrpSpPr>
          <p:grpSpPr>
            <a:xfrm>
              <a:off x="2485723" y="3871337"/>
              <a:ext cx="1501399" cy="1188720"/>
              <a:chOff x="1733248" y="3784720"/>
              <a:chExt cx="1501399" cy="1188720"/>
            </a:xfrm>
          </p:grpSpPr>
          <p:pic>
            <p:nvPicPr>
              <p:cNvPr id="32" name="Graphique 31" descr="Bulle de discussion contour">
                <a:extLst>
                  <a:ext uri="{FF2B5EF4-FFF2-40B4-BE49-F238E27FC236}">
                    <a16:creationId xmlns:a16="http://schemas.microsoft.com/office/drawing/2014/main" id="{DD62A598-B188-E0C1-4BA7-F86BE030764B}"/>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33" name="Rectangle 32">
                <a:extLst>
                  <a:ext uri="{FF2B5EF4-FFF2-40B4-BE49-F238E27FC236}">
                    <a16:creationId xmlns:a16="http://schemas.microsoft.com/office/drawing/2014/main" id="{AC7014A2-7217-D23A-D6E0-16964AD42DF0}"/>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34" name="Graphique 33" descr="Aide avec un remplissage uni">
              <a:extLst>
                <a:ext uri="{FF2B5EF4-FFF2-40B4-BE49-F238E27FC236}">
                  <a16:creationId xmlns:a16="http://schemas.microsoft.com/office/drawing/2014/main" id="{0866CAF1-618E-705A-B416-251397AA532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892066" y="3975365"/>
              <a:ext cx="679669" cy="679669"/>
            </a:xfrm>
            <a:prstGeom prst="rect">
              <a:avLst/>
            </a:prstGeom>
          </p:spPr>
        </p:pic>
      </p:grpSp>
      <p:sp>
        <p:nvSpPr>
          <p:cNvPr id="160" name="Rectangle 159">
            <a:extLst>
              <a:ext uri="{FF2B5EF4-FFF2-40B4-BE49-F238E27FC236}">
                <a16:creationId xmlns:a16="http://schemas.microsoft.com/office/drawing/2014/main" id="{65A5FD20-30D3-022F-A148-724F9C646B97}"/>
              </a:ext>
            </a:extLst>
          </p:cNvPr>
          <p:cNvSpPr/>
          <p:nvPr/>
        </p:nvSpPr>
        <p:spPr>
          <a:xfrm>
            <a:off x="3806811" y="259824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Interview de sponsor / sponsor potentiel</a:t>
            </a:r>
          </a:p>
        </p:txBody>
      </p:sp>
      <p:grpSp>
        <p:nvGrpSpPr>
          <p:cNvPr id="63" name="Groupe 62">
            <a:extLst>
              <a:ext uri="{FF2B5EF4-FFF2-40B4-BE49-F238E27FC236}">
                <a16:creationId xmlns:a16="http://schemas.microsoft.com/office/drawing/2014/main" id="{1ECAE655-1D0D-04C3-5766-013B1DEDAE7E}"/>
              </a:ext>
            </a:extLst>
          </p:cNvPr>
          <p:cNvGrpSpPr/>
          <p:nvPr/>
        </p:nvGrpSpPr>
        <p:grpSpPr>
          <a:xfrm>
            <a:off x="5467097" y="1783853"/>
            <a:ext cx="1348758" cy="773835"/>
            <a:chOff x="1774127" y="3261367"/>
            <a:chExt cx="4861346" cy="2789143"/>
          </a:xfrm>
        </p:grpSpPr>
        <p:pic>
          <p:nvPicPr>
            <p:cNvPr id="36" name="Graphique 35" descr="Signe pouce en haut avec un remplissage uni">
              <a:extLst>
                <a:ext uri="{FF2B5EF4-FFF2-40B4-BE49-F238E27FC236}">
                  <a16:creationId xmlns:a16="http://schemas.microsoft.com/office/drawing/2014/main" id="{BBEEB4CC-302E-3E17-9403-34F69FBBE79F}"/>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2839034" y="3261367"/>
              <a:ext cx="470653" cy="470653"/>
            </a:xfrm>
            <a:prstGeom prst="rect">
              <a:avLst/>
            </a:prstGeom>
          </p:spPr>
        </p:pic>
        <p:pic>
          <p:nvPicPr>
            <p:cNvPr id="37" name="Graphique 36" descr="Pouce en bas avec un remplissage uni">
              <a:extLst>
                <a:ext uri="{FF2B5EF4-FFF2-40B4-BE49-F238E27FC236}">
                  <a16:creationId xmlns:a16="http://schemas.microsoft.com/office/drawing/2014/main" id="{8D580C52-C407-FA24-7CFF-FAFA493AB394}"/>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3787316" y="3319278"/>
              <a:ext cx="508752" cy="508752"/>
            </a:xfrm>
            <a:prstGeom prst="rect">
              <a:avLst/>
            </a:prstGeom>
          </p:spPr>
        </p:pic>
        <p:sp>
          <p:nvSpPr>
            <p:cNvPr id="38" name="Rectangle 37">
              <a:extLst>
                <a:ext uri="{FF2B5EF4-FFF2-40B4-BE49-F238E27FC236}">
                  <a16:creationId xmlns:a16="http://schemas.microsoft.com/office/drawing/2014/main" id="{85B17CB7-CD51-EC78-483E-197E62DD7D39}"/>
                </a:ext>
              </a:extLst>
            </p:cNvPr>
            <p:cNvSpPr/>
            <p:nvPr/>
          </p:nvSpPr>
          <p:spPr>
            <a:xfrm>
              <a:off x="262624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Rectangle 38">
              <a:extLst>
                <a:ext uri="{FF2B5EF4-FFF2-40B4-BE49-F238E27FC236}">
                  <a16:creationId xmlns:a16="http://schemas.microsoft.com/office/drawing/2014/main" id="{5C0B434E-FA8A-1421-291E-C48254ACAB23}"/>
                </a:ext>
              </a:extLst>
            </p:cNvPr>
            <p:cNvSpPr/>
            <p:nvPr/>
          </p:nvSpPr>
          <p:spPr>
            <a:xfrm>
              <a:off x="3583068"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0" name="Rectangle 39">
              <a:extLst>
                <a:ext uri="{FF2B5EF4-FFF2-40B4-BE49-F238E27FC236}">
                  <a16:creationId xmlns:a16="http://schemas.microsoft.com/office/drawing/2014/main" id="{1BEFC64C-0542-A460-CECA-0CE09C93ECA4}"/>
                </a:ext>
              </a:extLst>
            </p:cNvPr>
            <p:cNvSpPr/>
            <p:nvPr/>
          </p:nvSpPr>
          <p:spPr>
            <a:xfrm>
              <a:off x="4539889"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1" name="Rectangle 40">
              <a:extLst>
                <a:ext uri="{FF2B5EF4-FFF2-40B4-BE49-F238E27FC236}">
                  <a16:creationId xmlns:a16="http://schemas.microsoft.com/office/drawing/2014/main" id="{D4B79276-95BB-B0DF-F47B-B3587C42D733}"/>
                </a:ext>
              </a:extLst>
            </p:cNvPr>
            <p:cNvSpPr/>
            <p:nvPr/>
          </p:nvSpPr>
          <p:spPr>
            <a:xfrm>
              <a:off x="550755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42" name="Graphique 41" descr="Aide avec un remplissage uni">
              <a:extLst>
                <a:ext uri="{FF2B5EF4-FFF2-40B4-BE49-F238E27FC236}">
                  <a16:creationId xmlns:a16="http://schemas.microsoft.com/office/drawing/2014/main" id="{7A540938-9429-7E80-4BAE-A012044EA97D}"/>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4793476" y="3319278"/>
              <a:ext cx="471018" cy="471018"/>
            </a:xfrm>
            <a:prstGeom prst="rect">
              <a:avLst/>
            </a:prstGeom>
          </p:spPr>
        </p:pic>
        <p:grpSp>
          <p:nvGrpSpPr>
            <p:cNvPr id="43" name="Groupe 42">
              <a:extLst>
                <a:ext uri="{FF2B5EF4-FFF2-40B4-BE49-F238E27FC236}">
                  <a16:creationId xmlns:a16="http://schemas.microsoft.com/office/drawing/2014/main" id="{739AA9F3-567D-7509-76A1-58E1FA5019FB}"/>
                </a:ext>
              </a:extLst>
            </p:cNvPr>
            <p:cNvGrpSpPr/>
            <p:nvPr/>
          </p:nvGrpSpPr>
          <p:grpSpPr>
            <a:xfrm>
              <a:off x="5689707" y="3294556"/>
              <a:ext cx="533474" cy="533474"/>
              <a:chOff x="5638800" y="2971800"/>
              <a:chExt cx="914400" cy="914400"/>
            </a:xfrm>
          </p:grpSpPr>
          <p:pic>
            <p:nvPicPr>
              <p:cNvPr id="44" name="Graphique 43" descr="Sphères de Harvey 100% avec un remplissage uni">
                <a:extLst>
                  <a:ext uri="{FF2B5EF4-FFF2-40B4-BE49-F238E27FC236}">
                    <a16:creationId xmlns:a16="http://schemas.microsoft.com/office/drawing/2014/main" id="{E2DB271D-E9B9-EC70-51F0-0FD130FCB200}"/>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5638800" y="2971800"/>
                <a:ext cx="914400" cy="914400"/>
              </a:xfrm>
              <a:prstGeom prst="rect">
                <a:avLst/>
              </a:prstGeom>
            </p:spPr>
          </p:pic>
          <p:pic>
            <p:nvPicPr>
              <p:cNvPr id="45" name="Graphique 44" descr="Lumières allumées avec un remplissage uni">
                <a:extLst>
                  <a:ext uri="{FF2B5EF4-FFF2-40B4-BE49-F238E27FC236}">
                    <a16:creationId xmlns:a16="http://schemas.microsoft.com/office/drawing/2014/main" id="{93B48BC5-FA59-747F-4D7D-D82AEA590026}"/>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5710913" y="3066427"/>
                <a:ext cx="767522" cy="767522"/>
              </a:xfrm>
              <a:prstGeom prst="rect">
                <a:avLst/>
              </a:prstGeom>
            </p:spPr>
          </p:pic>
        </p:grpSp>
        <p:sp>
          <p:nvSpPr>
            <p:cNvPr id="46" name="Rectangle 45">
              <a:extLst>
                <a:ext uri="{FF2B5EF4-FFF2-40B4-BE49-F238E27FC236}">
                  <a16:creationId xmlns:a16="http://schemas.microsoft.com/office/drawing/2014/main" id="{2D7750F4-7143-A014-93E7-1EF4F0E79788}"/>
                </a:ext>
              </a:extLst>
            </p:cNvPr>
            <p:cNvSpPr/>
            <p:nvPr/>
          </p:nvSpPr>
          <p:spPr>
            <a:xfrm>
              <a:off x="2682556"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7" name="Rectangle 46">
              <a:extLst>
                <a:ext uri="{FF2B5EF4-FFF2-40B4-BE49-F238E27FC236}">
                  <a16:creationId xmlns:a16="http://schemas.microsoft.com/office/drawing/2014/main" id="{54960F75-1F39-7815-9FE7-3B45B0BA3F0B}"/>
                </a:ext>
              </a:extLst>
            </p:cNvPr>
            <p:cNvSpPr/>
            <p:nvPr/>
          </p:nvSpPr>
          <p:spPr>
            <a:xfrm>
              <a:off x="2991651"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8" name="Rectangle 47">
              <a:extLst>
                <a:ext uri="{FF2B5EF4-FFF2-40B4-BE49-F238E27FC236}">
                  <a16:creationId xmlns:a16="http://schemas.microsoft.com/office/drawing/2014/main" id="{42F554F4-6CAB-5624-8C9B-C824BD2821CF}"/>
                </a:ext>
              </a:extLst>
            </p:cNvPr>
            <p:cNvSpPr/>
            <p:nvPr/>
          </p:nvSpPr>
          <p:spPr>
            <a:xfrm>
              <a:off x="2912610" y="4148465"/>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9" name="Rectangle 48">
              <a:extLst>
                <a:ext uri="{FF2B5EF4-FFF2-40B4-BE49-F238E27FC236}">
                  <a16:creationId xmlns:a16="http://schemas.microsoft.com/office/drawing/2014/main" id="{19B742F0-6025-9ACF-A46F-D64D4BA49945}"/>
                </a:ext>
              </a:extLst>
            </p:cNvPr>
            <p:cNvSpPr/>
            <p:nvPr/>
          </p:nvSpPr>
          <p:spPr>
            <a:xfrm>
              <a:off x="3680364" y="3871561"/>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0" name="Rectangle 49">
              <a:extLst>
                <a:ext uri="{FF2B5EF4-FFF2-40B4-BE49-F238E27FC236}">
                  <a16:creationId xmlns:a16="http://schemas.microsoft.com/office/drawing/2014/main" id="{7FAD25B3-1908-64C1-0776-2A3FBAC41633}"/>
                </a:ext>
              </a:extLst>
            </p:cNvPr>
            <p:cNvSpPr/>
            <p:nvPr/>
          </p:nvSpPr>
          <p:spPr>
            <a:xfrm>
              <a:off x="4016069" y="398672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1" name="Rectangle 50">
              <a:extLst>
                <a:ext uri="{FF2B5EF4-FFF2-40B4-BE49-F238E27FC236}">
                  <a16:creationId xmlns:a16="http://schemas.microsoft.com/office/drawing/2014/main" id="{4F64B77C-DCB0-96AF-F348-0F03F29EDF6E}"/>
                </a:ext>
              </a:extLst>
            </p:cNvPr>
            <p:cNvSpPr/>
            <p:nvPr/>
          </p:nvSpPr>
          <p:spPr>
            <a:xfrm>
              <a:off x="3698403" y="4181149"/>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2" name="Rectangle 51">
              <a:extLst>
                <a:ext uri="{FF2B5EF4-FFF2-40B4-BE49-F238E27FC236}">
                  <a16:creationId xmlns:a16="http://schemas.microsoft.com/office/drawing/2014/main" id="{A87E6601-B543-DEC6-FFC4-70317EBC356D}"/>
                </a:ext>
              </a:extLst>
            </p:cNvPr>
            <p:cNvSpPr/>
            <p:nvPr/>
          </p:nvSpPr>
          <p:spPr>
            <a:xfrm>
              <a:off x="4604347" y="3858182"/>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3" name="Rectangle 52">
              <a:extLst>
                <a:ext uri="{FF2B5EF4-FFF2-40B4-BE49-F238E27FC236}">
                  <a16:creationId xmlns:a16="http://schemas.microsoft.com/office/drawing/2014/main" id="{5C95C9CE-C55D-878E-A187-6D6177E9A802}"/>
                </a:ext>
              </a:extLst>
            </p:cNvPr>
            <p:cNvSpPr/>
            <p:nvPr/>
          </p:nvSpPr>
          <p:spPr>
            <a:xfrm>
              <a:off x="4928163" y="384379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4" name="Rectangle 53">
              <a:extLst>
                <a:ext uri="{FF2B5EF4-FFF2-40B4-BE49-F238E27FC236}">
                  <a16:creationId xmlns:a16="http://schemas.microsoft.com/office/drawing/2014/main" id="{795874FD-5011-4406-CD65-5B96D09AE96A}"/>
                </a:ext>
              </a:extLst>
            </p:cNvPr>
            <p:cNvSpPr/>
            <p:nvPr/>
          </p:nvSpPr>
          <p:spPr>
            <a:xfrm>
              <a:off x="4844841" y="4195507"/>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5" name="Rectangle 54">
              <a:extLst>
                <a:ext uri="{FF2B5EF4-FFF2-40B4-BE49-F238E27FC236}">
                  <a16:creationId xmlns:a16="http://schemas.microsoft.com/office/drawing/2014/main" id="{245E161D-1A8F-2C05-CA77-76EFEEC361EC}"/>
                </a:ext>
              </a:extLst>
            </p:cNvPr>
            <p:cNvSpPr/>
            <p:nvPr/>
          </p:nvSpPr>
          <p:spPr>
            <a:xfrm>
              <a:off x="5637937" y="386543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6" name="Rectangle 55">
              <a:extLst>
                <a:ext uri="{FF2B5EF4-FFF2-40B4-BE49-F238E27FC236}">
                  <a16:creationId xmlns:a16="http://schemas.microsoft.com/office/drawing/2014/main" id="{925259D0-1CE2-E499-AD33-CD00ADD4BC95}"/>
                </a:ext>
              </a:extLst>
            </p:cNvPr>
            <p:cNvSpPr/>
            <p:nvPr/>
          </p:nvSpPr>
          <p:spPr>
            <a:xfrm>
              <a:off x="5908449" y="4146553"/>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57" name="Rectangle 56">
              <a:extLst>
                <a:ext uri="{FF2B5EF4-FFF2-40B4-BE49-F238E27FC236}">
                  <a16:creationId xmlns:a16="http://schemas.microsoft.com/office/drawing/2014/main" id="{ABAE4B76-3D49-8A5C-BAC9-1CA8306D117C}"/>
                </a:ext>
              </a:extLst>
            </p:cNvPr>
            <p:cNvSpPr/>
            <p:nvPr/>
          </p:nvSpPr>
          <p:spPr>
            <a:xfrm>
              <a:off x="5973166" y="384301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pic>
          <p:nvPicPr>
            <p:cNvPr id="58" name="Graphique 57" descr="Personne confuse avec un remplissage uni">
              <a:extLst>
                <a:ext uri="{FF2B5EF4-FFF2-40B4-BE49-F238E27FC236}">
                  <a16:creationId xmlns:a16="http://schemas.microsoft.com/office/drawing/2014/main" id="{AF547358-2D75-5EED-397C-759AF7566C1A}"/>
                </a:ext>
              </a:extLst>
            </p:cNvPr>
            <p:cNvPicPr>
              <a:picLocks noChangeAspect="1"/>
            </p:cNvPicPr>
            <p:nvPr/>
          </p:nvPicPr>
          <p:blipFill rotWithShape="1">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rcRect l="13721" r="14768" b="50034"/>
            <a:stretch/>
          </p:blipFill>
          <p:spPr>
            <a:xfrm>
              <a:off x="5070241" y="4696406"/>
              <a:ext cx="1565232" cy="1093672"/>
            </a:xfrm>
            <a:prstGeom prst="rect">
              <a:avLst/>
            </a:prstGeom>
          </p:spPr>
        </p:pic>
        <p:sp>
          <p:nvSpPr>
            <p:cNvPr id="59" name="Rectangle 58">
              <a:extLst>
                <a:ext uri="{FF2B5EF4-FFF2-40B4-BE49-F238E27FC236}">
                  <a16:creationId xmlns:a16="http://schemas.microsoft.com/office/drawing/2014/main" id="{2EAFA246-06DF-359E-02C7-EDB2570C4B9B}"/>
                </a:ext>
              </a:extLst>
            </p:cNvPr>
            <p:cNvSpPr/>
            <p:nvPr/>
          </p:nvSpPr>
          <p:spPr>
            <a:xfrm>
              <a:off x="5070241" y="5355918"/>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pic>
          <p:nvPicPr>
            <p:cNvPr id="60" name="Graphique 59" descr="Homme avec un remplissage uni">
              <a:extLst>
                <a:ext uri="{FF2B5EF4-FFF2-40B4-BE49-F238E27FC236}">
                  <a16:creationId xmlns:a16="http://schemas.microsoft.com/office/drawing/2014/main" id="{FB4B5913-6146-B3C4-5534-CB1F1B052F20}"/>
                </a:ext>
              </a:extLst>
            </p:cNvPr>
            <p:cNvPicPr>
              <a:picLocks noChangeAspect="1"/>
            </p:cNvPicPr>
            <p:nvPr/>
          </p:nvPicPr>
          <p:blipFill rotWithShape="1">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rcRect t="1" b="40502"/>
            <a:stretch/>
          </p:blipFill>
          <p:spPr>
            <a:xfrm>
              <a:off x="3267315" y="4792695"/>
              <a:ext cx="2011658" cy="1226716"/>
            </a:xfrm>
            <a:prstGeom prst="rect">
              <a:avLst/>
            </a:prstGeom>
          </p:spPr>
        </p:pic>
        <p:pic>
          <p:nvPicPr>
            <p:cNvPr id="61" name="Graphique 60" descr="Homme avec un remplissage uni">
              <a:extLst>
                <a:ext uri="{FF2B5EF4-FFF2-40B4-BE49-F238E27FC236}">
                  <a16:creationId xmlns:a16="http://schemas.microsoft.com/office/drawing/2014/main" id="{40940812-44E3-B0CF-5EB0-D2EF3CE4A834}"/>
                </a:ext>
              </a:extLst>
            </p:cNvPr>
            <p:cNvPicPr>
              <a:picLocks noChangeAspect="1"/>
            </p:cNvPicPr>
            <p:nvPr/>
          </p:nvPicPr>
          <p:blipFill rotWithShape="1">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rcRect t="1" b="40502"/>
            <a:stretch/>
          </p:blipFill>
          <p:spPr>
            <a:xfrm>
              <a:off x="2276236" y="4718638"/>
              <a:ext cx="2061836" cy="1226716"/>
            </a:xfrm>
            <a:prstGeom prst="rect">
              <a:avLst/>
            </a:prstGeom>
          </p:spPr>
        </p:pic>
        <p:pic>
          <p:nvPicPr>
            <p:cNvPr id="62" name="Graphique 61" descr="Homme avec un remplissage uni">
              <a:extLst>
                <a:ext uri="{FF2B5EF4-FFF2-40B4-BE49-F238E27FC236}">
                  <a16:creationId xmlns:a16="http://schemas.microsoft.com/office/drawing/2014/main" id="{8B3DB45D-81EA-0012-21AA-2A945371159D}"/>
                </a:ext>
              </a:extLst>
            </p:cNvPr>
            <p:cNvPicPr>
              <a:picLocks noChangeAspect="1"/>
            </p:cNvPicPr>
            <p:nvPr/>
          </p:nvPicPr>
          <p:blipFill rotWithShape="1">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rcRect l="20753" t="1048" b="40502"/>
            <a:stretch/>
          </p:blipFill>
          <p:spPr>
            <a:xfrm>
              <a:off x="1774127" y="4845372"/>
              <a:ext cx="1633936" cy="1205138"/>
            </a:xfrm>
            <a:prstGeom prst="rect">
              <a:avLst/>
            </a:prstGeom>
          </p:spPr>
        </p:pic>
      </p:grpSp>
      <p:sp>
        <p:nvSpPr>
          <p:cNvPr id="161" name="Rectangle 160">
            <a:extLst>
              <a:ext uri="{FF2B5EF4-FFF2-40B4-BE49-F238E27FC236}">
                <a16:creationId xmlns:a16="http://schemas.microsoft.com/office/drawing/2014/main" id="{7D226724-EA25-076C-ACF0-3D8472CBB47E}"/>
              </a:ext>
            </a:extLst>
          </p:cNvPr>
          <p:cNvSpPr/>
          <p:nvPr/>
        </p:nvSpPr>
        <p:spPr>
          <a:xfrm>
            <a:off x="5449405" y="259824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généraliste d’amélioration continue </a:t>
            </a:r>
          </a:p>
        </p:txBody>
      </p:sp>
      <p:grpSp>
        <p:nvGrpSpPr>
          <p:cNvPr id="89" name="Groupe 88">
            <a:extLst>
              <a:ext uri="{FF2B5EF4-FFF2-40B4-BE49-F238E27FC236}">
                <a16:creationId xmlns:a16="http://schemas.microsoft.com/office/drawing/2014/main" id="{612ABAA7-C7C7-8A4C-30C4-9352E18B0772}"/>
              </a:ext>
            </a:extLst>
          </p:cNvPr>
          <p:cNvGrpSpPr/>
          <p:nvPr/>
        </p:nvGrpSpPr>
        <p:grpSpPr>
          <a:xfrm>
            <a:off x="7156301" y="1737603"/>
            <a:ext cx="1458903" cy="810761"/>
            <a:chOff x="5262966" y="3441208"/>
            <a:chExt cx="5110014" cy="2839805"/>
          </a:xfrm>
        </p:grpSpPr>
        <p:pic>
          <p:nvPicPr>
            <p:cNvPr id="64" name="Graphique 63" descr="Personne confuse avec un remplissage uni">
              <a:extLst>
                <a:ext uri="{FF2B5EF4-FFF2-40B4-BE49-F238E27FC236}">
                  <a16:creationId xmlns:a16="http://schemas.microsoft.com/office/drawing/2014/main" id="{F78D8970-E712-5218-12A0-817377B3F116}"/>
                </a:ext>
              </a:extLst>
            </p:cNvPr>
            <p:cNvPicPr>
              <a:picLocks noChangeAspect="1"/>
            </p:cNvPicPr>
            <p:nvPr/>
          </p:nvPicPr>
          <p:blipFill rotWithShape="1">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rcRect l="13721" r="14768" b="50034"/>
            <a:stretch/>
          </p:blipFill>
          <p:spPr>
            <a:xfrm>
              <a:off x="6504238" y="4125117"/>
              <a:ext cx="1565232" cy="1093672"/>
            </a:xfrm>
            <a:prstGeom prst="rect">
              <a:avLst/>
            </a:prstGeom>
          </p:spPr>
        </p:pic>
        <p:pic>
          <p:nvPicPr>
            <p:cNvPr id="65" name="Graphique 64" descr="Homme avec un remplissage uni">
              <a:extLst>
                <a:ext uri="{FF2B5EF4-FFF2-40B4-BE49-F238E27FC236}">
                  <a16:creationId xmlns:a16="http://schemas.microsoft.com/office/drawing/2014/main" id="{2DB4F94F-288C-920E-13C8-80DB7BA801C5}"/>
                </a:ext>
              </a:extLst>
            </p:cNvPr>
            <p:cNvPicPr>
              <a:picLocks noChangeAspect="1"/>
            </p:cNvPicPr>
            <p:nvPr/>
          </p:nvPicPr>
          <p:blipFill rotWithShape="1">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rcRect l="22505" t="2891" b="40502"/>
            <a:stretch/>
          </p:blipFill>
          <p:spPr>
            <a:xfrm>
              <a:off x="5262966" y="4794268"/>
              <a:ext cx="1597831" cy="1167136"/>
            </a:xfrm>
            <a:prstGeom prst="rect">
              <a:avLst/>
            </a:prstGeom>
          </p:spPr>
        </p:pic>
        <p:pic>
          <p:nvPicPr>
            <p:cNvPr id="66" name="Graphique 65" descr="Homme avec un remplissage uni">
              <a:extLst>
                <a:ext uri="{FF2B5EF4-FFF2-40B4-BE49-F238E27FC236}">
                  <a16:creationId xmlns:a16="http://schemas.microsoft.com/office/drawing/2014/main" id="{7F2FC93A-8B69-D589-3B20-9BD18C26B85D}"/>
                </a:ext>
              </a:extLst>
            </p:cNvPr>
            <p:cNvPicPr>
              <a:picLocks noChangeAspect="1"/>
            </p:cNvPicPr>
            <p:nvPr/>
          </p:nvPicPr>
          <p:blipFill rotWithShape="1">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rcRect t="1" b="40502"/>
            <a:stretch/>
          </p:blipFill>
          <p:spPr>
            <a:xfrm>
              <a:off x="5713008" y="4989115"/>
              <a:ext cx="2061836" cy="1226716"/>
            </a:xfrm>
            <a:prstGeom prst="rect">
              <a:avLst/>
            </a:prstGeom>
          </p:spPr>
        </p:pic>
        <p:pic>
          <p:nvPicPr>
            <p:cNvPr id="67" name="Graphique 66" descr="Homme avec un remplissage uni">
              <a:extLst>
                <a:ext uri="{FF2B5EF4-FFF2-40B4-BE49-F238E27FC236}">
                  <a16:creationId xmlns:a16="http://schemas.microsoft.com/office/drawing/2014/main" id="{D758116C-4FAA-D1EF-9EE0-9778A9E6C88E}"/>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t="1" b="40502"/>
            <a:stretch/>
          </p:blipFill>
          <p:spPr>
            <a:xfrm>
              <a:off x="7113689" y="5054297"/>
              <a:ext cx="2061836" cy="1226716"/>
            </a:xfrm>
            <a:prstGeom prst="rect">
              <a:avLst/>
            </a:prstGeom>
          </p:spPr>
        </p:pic>
        <p:pic>
          <p:nvPicPr>
            <p:cNvPr id="68" name="Graphique 67" descr="Homme avec un remplissage uni">
              <a:extLst>
                <a:ext uri="{FF2B5EF4-FFF2-40B4-BE49-F238E27FC236}">
                  <a16:creationId xmlns:a16="http://schemas.microsoft.com/office/drawing/2014/main" id="{9B14B231-96AF-586C-008D-32A72D455AE9}"/>
                </a:ext>
              </a:extLst>
            </p:cNvPr>
            <p:cNvPicPr>
              <a:picLocks noChangeAspect="1"/>
            </p:cNvPicPr>
            <p:nvPr/>
          </p:nvPicPr>
          <p:blipFill rotWithShape="1">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rcRect t="1" b="40502"/>
            <a:stretch/>
          </p:blipFill>
          <p:spPr>
            <a:xfrm>
              <a:off x="8311144" y="4781138"/>
              <a:ext cx="2061836" cy="1226716"/>
            </a:xfrm>
            <a:prstGeom prst="rect">
              <a:avLst/>
            </a:prstGeom>
          </p:spPr>
        </p:pic>
        <p:grpSp>
          <p:nvGrpSpPr>
            <p:cNvPr id="69" name="Groupe 68">
              <a:extLst>
                <a:ext uri="{FF2B5EF4-FFF2-40B4-BE49-F238E27FC236}">
                  <a16:creationId xmlns:a16="http://schemas.microsoft.com/office/drawing/2014/main" id="{4CF1C9CF-5330-8D57-6BCC-37053F40E4FE}"/>
                </a:ext>
              </a:extLst>
            </p:cNvPr>
            <p:cNvGrpSpPr/>
            <p:nvPr/>
          </p:nvGrpSpPr>
          <p:grpSpPr>
            <a:xfrm>
              <a:off x="5646534" y="3908602"/>
              <a:ext cx="1177654" cy="932398"/>
              <a:chOff x="7137810" y="856157"/>
              <a:chExt cx="1501399" cy="1188720"/>
            </a:xfrm>
          </p:grpSpPr>
          <p:grpSp>
            <p:nvGrpSpPr>
              <p:cNvPr id="70" name="Groupe 69">
                <a:extLst>
                  <a:ext uri="{FF2B5EF4-FFF2-40B4-BE49-F238E27FC236}">
                    <a16:creationId xmlns:a16="http://schemas.microsoft.com/office/drawing/2014/main" id="{E9A67F95-39E5-D7C5-CC07-A6C7989E259C}"/>
                  </a:ext>
                </a:extLst>
              </p:cNvPr>
              <p:cNvGrpSpPr/>
              <p:nvPr/>
            </p:nvGrpSpPr>
            <p:grpSpPr>
              <a:xfrm>
                <a:off x="7137810" y="856157"/>
                <a:ext cx="1501399" cy="1188720"/>
                <a:chOff x="1733248" y="3784720"/>
                <a:chExt cx="1501399" cy="1188720"/>
              </a:xfrm>
            </p:grpSpPr>
            <p:pic>
              <p:nvPicPr>
                <p:cNvPr id="72" name="Graphique 71" descr="Bulle de discussion contour">
                  <a:extLst>
                    <a:ext uri="{FF2B5EF4-FFF2-40B4-BE49-F238E27FC236}">
                      <a16:creationId xmlns:a16="http://schemas.microsoft.com/office/drawing/2014/main" id="{3A680FF1-9F1E-BC62-001B-642D3032D943}"/>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73" name="Rectangle 72">
                  <a:extLst>
                    <a:ext uri="{FF2B5EF4-FFF2-40B4-BE49-F238E27FC236}">
                      <a16:creationId xmlns:a16="http://schemas.microsoft.com/office/drawing/2014/main" id="{0C0E32E9-67CC-6A71-5955-2A94C51815F5}"/>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71" name="Graphique 70" descr="Aide avec un remplissage uni">
                <a:extLst>
                  <a:ext uri="{FF2B5EF4-FFF2-40B4-BE49-F238E27FC236}">
                    <a16:creationId xmlns:a16="http://schemas.microsoft.com/office/drawing/2014/main" id="{7ABC0B63-034D-4377-EBED-FC2927F72E7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544153" y="960185"/>
                <a:ext cx="679669" cy="679669"/>
              </a:xfrm>
              <a:prstGeom prst="rect">
                <a:avLst/>
              </a:prstGeom>
            </p:spPr>
          </p:pic>
        </p:grpSp>
        <p:grpSp>
          <p:nvGrpSpPr>
            <p:cNvPr id="74" name="Groupe 73">
              <a:extLst>
                <a:ext uri="{FF2B5EF4-FFF2-40B4-BE49-F238E27FC236}">
                  <a16:creationId xmlns:a16="http://schemas.microsoft.com/office/drawing/2014/main" id="{B7E41B8B-8CEE-F356-73F4-844661525D83}"/>
                </a:ext>
              </a:extLst>
            </p:cNvPr>
            <p:cNvGrpSpPr/>
            <p:nvPr/>
          </p:nvGrpSpPr>
          <p:grpSpPr>
            <a:xfrm>
              <a:off x="9150985" y="3973784"/>
              <a:ext cx="1177654" cy="932398"/>
              <a:chOff x="7137810" y="856157"/>
              <a:chExt cx="1501399" cy="1188720"/>
            </a:xfrm>
          </p:grpSpPr>
          <p:grpSp>
            <p:nvGrpSpPr>
              <p:cNvPr id="75" name="Groupe 74">
                <a:extLst>
                  <a:ext uri="{FF2B5EF4-FFF2-40B4-BE49-F238E27FC236}">
                    <a16:creationId xmlns:a16="http://schemas.microsoft.com/office/drawing/2014/main" id="{CECEDBB0-D27D-5B87-14C8-F700E468E07F}"/>
                  </a:ext>
                </a:extLst>
              </p:cNvPr>
              <p:cNvGrpSpPr/>
              <p:nvPr/>
            </p:nvGrpSpPr>
            <p:grpSpPr>
              <a:xfrm>
                <a:off x="7137810" y="856157"/>
                <a:ext cx="1501399" cy="1188720"/>
                <a:chOff x="1733248" y="3784720"/>
                <a:chExt cx="1501399" cy="1188720"/>
              </a:xfrm>
            </p:grpSpPr>
            <p:pic>
              <p:nvPicPr>
                <p:cNvPr id="77" name="Graphique 76" descr="Bulle de discussion contour">
                  <a:extLst>
                    <a:ext uri="{FF2B5EF4-FFF2-40B4-BE49-F238E27FC236}">
                      <a16:creationId xmlns:a16="http://schemas.microsoft.com/office/drawing/2014/main" id="{3430FC0D-071C-D033-BF0D-ACD360B7E059}"/>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78" name="Rectangle 77">
                  <a:extLst>
                    <a:ext uri="{FF2B5EF4-FFF2-40B4-BE49-F238E27FC236}">
                      <a16:creationId xmlns:a16="http://schemas.microsoft.com/office/drawing/2014/main" id="{800CC0A1-8341-E8D4-343F-59EDDE4B0708}"/>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76" name="Graphique 75" descr="Aide avec un remplissage uni">
                <a:extLst>
                  <a:ext uri="{FF2B5EF4-FFF2-40B4-BE49-F238E27FC236}">
                    <a16:creationId xmlns:a16="http://schemas.microsoft.com/office/drawing/2014/main" id="{8942B6CF-9F79-9A48-391B-7A2878689433}"/>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7544153" y="960185"/>
                <a:ext cx="679669" cy="679669"/>
              </a:xfrm>
              <a:prstGeom prst="rect">
                <a:avLst/>
              </a:prstGeom>
            </p:spPr>
          </p:pic>
        </p:grpSp>
        <p:grpSp>
          <p:nvGrpSpPr>
            <p:cNvPr id="79" name="Groupe 78">
              <a:extLst>
                <a:ext uri="{FF2B5EF4-FFF2-40B4-BE49-F238E27FC236}">
                  <a16:creationId xmlns:a16="http://schemas.microsoft.com/office/drawing/2014/main" id="{C79BAE0C-7CAB-DF4A-CC43-2D5291C7B52E}"/>
                </a:ext>
              </a:extLst>
            </p:cNvPr>
            <p:cNvGrpSpPr/>
            <p:nvPr/>
          </p:nvGrpSpPr>
          <p:grpSpPr>
            <a:xfrm>
              <a:off x="7995548" y="4371003"/>
              <a:ext cx="1177654" cy="932398"/>
              <a:chOff x="7137810" y="856157"/>
              <a:chExt cx="1501399" cy="1188720"/>
            </a:xfrm>
          </p:grpSpPr>
          <p:grpSp>
            <p:nvGrpSpPr>
              <p:cNvPr id="80" name="Groupe 79">
                <a:extLst>
                  <a:ext uri="{FF2B5EF4-FFF2-40B4-BE49-F238E27FC236}">
                    <a16:creationId xmlns:a16="http://schemas.microsoft.com/office/drawing/2014/main" id="{82A99AC9-47C4-0D61-9002-1DAE5113CD06}"/>
                  </a:ext>
                </a:extLst>
              </p:cNvPr>
              <p:cNvGrpSpPr/>
              <p:nvPr/>
            </p:nvGrpSpPr>
            <p:grpSpPr>
              <a:xfrm>
                <a:off x="7137810" y="856157"/>
                <a:ext cx="1501399" cy="1188720"/>
                <a:chOff x="1733248" y="3784720"/>
                <a:chExt cx="1501399" cy="1188720"/>
              </a:xfrm>
            </p:grpSpPr>
            <p:pic>
              <p:nvPicPr>
                <p:cNvPr id="82" name="Graphique 81" descr="Bulle de discussion contour">
                  <a:extLst>
                    <a:ext uri="{FF2B5EF4-FFF2-40B4-BE49-F238E27FC236}">
                      <a16:creationId xmlns:a16="http://schemas.microsoft.com/office/drawing/2014/main" id="{62B2B0B2-204A-BF29-49BB-BE6D37ED4E68}"/>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83" name="Rectangle 82">
                  <a:extLst>
                    <a:ext uri="{FF2B5EF4-FFF2-40B4-BE49-F238E27FC236}">
                      <a16:creationId xmlns:a16="http://schemas.microsoft.com/office/drawing/2014/main" id="{6994BE71-37F9-3E75-7C29-3C2975389369}"/>
                    </a:ext>
                  </a:extLst>
                </p:cNvPr>
                <p:cNvSpPr/>
                <p:nvPr/>
              </p:nvSpPr>
              <p:spPr>
                <a:xfrm>
                  <a:off x="1992203" y="3912698"/>
                  <a:ext cx="964659" cy="693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81" name="Graphique 80" descr="Aide avec un remplissage uni">
                <a:extLst>
                  <a:ext uri="{FF2B5EF4-FFF2-40B4-BE49-F238E27FC236}">
                    <a16:creationId xmlns:a16="http://schemas.microsoft.com/office/drawing/2014/main" id="{18A42F67-7E2E-A736-CAD4-3740947E05E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544153" y="960186"/>
                <a:ext cx="679669" cy="679669"/>
              </a:xfrm>
              <a:prstGeom prst="rect">
                <a:avLst/>
              </a:prstGeom>
            </p:spPr>
          </p:pic>
        </p:grpSp>
        <p:grpSp>
          <p:nvGrpSpPr>
            <p:cNvPr id="84" name="Groupe 83">
              <a:extLst>
                <a:ext uri="{FF2B5EF4-FFF2-40B4-BE49-F238E27FC236}">
                  <a16:creationId xmlns:a16="http://schemas.microsoft.com/office/drawing/2014/main" id="{7807DBCD-715B-E0A0-865F-17219505A786}"/>
                </a:ext>
              </a:extLst>
            </p:cNvPr>
            <p:cNvGrpSpPr/>
            <p:nvPr/>
          </p:nvGrpSpPr>
          <p:grpSpPr>
            <a:xfrm flipH="1">
              <a:off x="5659211" y="5047355"/>
              <a:ext cx="1111063" cy="932398"/>
              <a:chOff x="1733248" y="3784720"/>
              <a:chExt cx="1501399" cy="1188720"/>
            </a:xfrm>
          </p:grpSpPr>
          <p:pic>
            <p:nvPicPr>
              <p:cNvPr id="85" name="Graphique 84" descr="Bulle de discussion contour">
                <a:extLst>
                  <a:ext uri="{FF2B5EF4-FFF2-40B4-BE49-F238E27FC236}">
                    <a16:creationId xmlns:a16="http://schemas.microsoft.com/office/drawing/2014/main" id="{668DF84F-D2EA-C435-E889-D52E025931DC}"/>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2801" b="12412"/>
              <a:stretch/>
            </p:blipFill>
            <p:spPr>
              <a:xfrm flipH="1">
                <a:off x="1733248" y="3784720"/>
                <a:ext cx="1501399" cy="1188720"/>
              </a:xfrm>
              <a:prstGeom prst="rect">
                <a:avLst/>
              </a:prstGeom>
            </p:spPr>
          </p:pic>
          <p:sp>
            <p:nvSpPr>
              <p:cNvPr id="86" name="Rectangle 85">
                <a:extLst>
                  <a:ext uri="{FF2B5EF4-FFF2-40B4-BE49-F238E27FC236}">
                    <a16:creationId xmlns:a16="http://schemas.microsoft.com/office/drawing/2014/main" id="{202FFB67-B5FF-DB66-281F-F8A7737C83D9}"/>
                  </a:ext>
                </a:extLst>
              </p:cNvPr>
              <p:cNvSpPr/>
              <p:nvPr/>
            </p:nvSpPr>
            <p:spPr>
              <a:xfrm>
                <a:off x="2011149" y="3919483"/>
                <a:ext cx="958375" cy="701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87" name="Graphique 86" descr="Aide avec un remplissage uni">
              <a:extLst>
                <a:ext uri="{FF2B5EF4-FFF2-40B4-BE49-F238E27FC236}">
                  <a16:creationId xmlns:a16="http://schemas.microsoft.com/office/drawing/2014/main" id="{96379214-02EF-C49A-E703-60CDB4ECF814}"/>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5962303" y="5137520"/>
              <a:ext cx="533113" cy="533113"/>
            </a:xfrm>
            <a:prstGeom prst="rect">
              <a:avLst/>
            </a:prstGeom>
          </p:spPr>
        </p:pic>
        <p:pic>
          <p:nvPicPr>
            <p:cNvPr id="88" name="Graphique 87" descr="Bulle de discussion contour">
              <a:extLst>
                <a:ext uri="{FF2B5EF4-FFF2-40B4-BE49-F238E27FC236}">
                  <a16:creationId xmlns:a16="http://schemas.microsoft.com/office/drawing/2014/main" id="{083227A5-2F8D-4CE6-B3E8-459ED43CBEEC}"/>
                </a:ext>
              </a:extLst>
            </p:cNvPr>
            <p:cNvPicPr>
              <a:picLocks noChangeAspect="1"/>
            </p:cNvPicPr>
            <p:nvPr/>
          </p:nvPicPr>
          <p:blipFill rotWithShape="1">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rcRect t="16003" b="12311"/>
            <a:stretch/>
          </p:blipFill>
          <p:spPr>
            <a:xfrm flipH="1">
              <a:off x="6853990" y="3441208"/>
              <a:ext cx="1436183" cy="777844"/>
            </a:xfrm>
            <a:prstGeom prst="rect">
              <a:avLst/>
            </a:prstGeom>
          </p:spPr>
        </p:pic>
      </p:grpSp>
      <p:sp>
        <p:nvSpPr>
          <p:cNvPr id="162" name="Rectangle 161">
            <a:extLst>
              <a:ext uri="{FF2B5EF4-FFF2-40B4-BE49-F238E27FC236}">
                <a16:creationId xmlns:a16="http://schemas.microsoft.com/office/drawing/2014/main" id="{AEF4DF8F-AA43-CCD7-AEC9-61C018F8CBD8}"/>
              </a:ext>
            </a:extLst>
          </p:cNvPr>
          <p:cNvSpPr/>
          <p:nvPr/>
        </p:nvSpPr>
        <p:spPr>
          <a:xfrm>
            <a:off x="7091999" y="2599647"/>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Session de questions / réponses</a:t>
            </a:r>
          </a:p>
        </p:txBody>
      </p:sp>
      <p:grpSp>
        <p:nvGrpSpPr>
          <p:cNvPr id="101" name="Groupe 100">
            <a:extLst>
              <a:ext uri="{FF2B5EF4-FFF2-40B4-BE49-F238E27FC236}">
                <a16:creationId xmlns:a16="http://schemas.microsoft.com/office/drawing/2014/main" id="{AFF0A930-3E23-ECD6-F958-DD44AF5338A5}"/>
              </a:ext>
            </a:extLst>
          </p:cNvPr>
          <p:cNvGrpSpPr/>
          <p:nvPr/>
        </p:nvGrpSpPr>
        <p:grpSpPr>
          <a:xfrm>
            <a:off x="8912661" y="1783853"/>
            <a:ext cx="1110925" cy="841667"/>
            <a:chOff x="1506440" y="3824518"/>
            <a:chExt cx="3572592" cy="2706694"/>
          </a:xfrm>
        </p:grpSpPr>
        <p:pic>
          <p:nvPicPr>
            <p:cNvPr id="90" name="Graphique 89" descr="Écran avec un remplissage uni">
              <a:extLst>
                <a:ext uri="{FF2B5EF4-FFF2-40B4-BE49-F238E27FC236}">
                  <a16:creationId xmlns:a16="http://schemas.microsoft.com/office/drawing/2014/main" id="{4A232720-4578-D152-75BC-750895CF5B6E}"/>
                </a:ext>
              </a:extLst>
            </p:cNvPr>
            <p:cNvPicPr>
              <a:picLocks noChangeAspect="1"/>
            </p:cNvPicPr>
            <p:nvPr/>
          </p:nvPicPr>
          <p:blipFill rotWithShape="1">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rcRect t="12489" b="11748"/>
            <a:stretch/>
          </p:blipFill>
          <p:spPr>
            <a:xfrm>
              <a:off x="1506440" y="3824518"/>
              <a:ext cx="3572592" cy="2706694"/>
            </a:xfrm>
            <a:prstGeom prst="rect">
              <a:avLst/>
            </a:prstGeom>
          </p:spPr>
        </p:pic>
        <p:pic>
          <p:nvPicPr>
            <p:cNvPr id="91" name="Graphique 90" descr="Aide avec un remplissage uni">
              <a:extLst>
                <a:ext uri="{FF2B5EF4-FFF2-40B4-BE49-F238E27FC236}">
                  <a16:creationId xmlns:a16="http://schemas.microsoft.com/office/drawing/2014/main" id="{F286D17F-0064-BE31-8DFD-8E157F7033F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214410" y="4182812"/>
              <a:ext cx="533113" cy="533113"/>
            </a:xfrm>
            <a:prstGeom prst="rect">
              <a:avLst/>
            </a:prstGeom>
          </p:spPr>
        </p:pic>
        <p:pic>
          <p:nvPicPr>
            <p:cNvPr id="92" name="Graphique 91" descr="Aide avec un remplissage uni">
              <a:extLst>
                <a:ext uri="{FF2B5EF4-FFF2-40B4-BE49-F238E27FC236}">
                  <a16:creationId xmlns:a16="http://schemas.microsoft.com/office/drawing/2014/main" id="{16A7B114-CE21-2D45-3DA4-C062509455C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204900" y="4678870"/>
              <a:ext cx="533113" cy="533113"/>
            </a:xfrm>
            <a:prstGeom prst="rect">
              <a:avLst/>
            </a:prstGeom>
          </p:spPr>
        </p:pic>
        <p:pic>
          <p:nvPicPr>
            <p:cNvPr id="93" name="Graphique 92" descr="Aide avec un remplissage uni">
              <a:extLst>
                <a:ext uri="{FF2B5EF4-FFF2-40B4-BE49-F238E27FC236}">
                  <a16:creationId xmlns:a16="http://schemas.microsoft.com/office/drawing/2014/main" id="{889DF450-E4A7-275C-5B71-FC645C3B9CB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204899" y="5183146"/>
              <a:ext cx="533113" cy="533113"/>
            </a:xfrm>
            <a:prstGeom prst="rect">
              <a:avLst/>
            </a:prstGeom>
          </p:spPr>
        </p:pic>
        <p:sp>
          <p:nvSpPr>
            <p:cNvPr id="94" name="Rectangle 93">
              <a:extLst>
                <a:ext uri="{FF2B5EF4-FFF2-40B4-BE49-F238E27FC236}">
                  <a16:creationId xmlns:a16="http://schemas.microsoft.com/office/drawing/2014/main" id="{3E284816-8BA4-5A75-B768-DB82A3BF5395}"/>
                </a:ext>
              </a:extLst>
            </p:cNvPr>
            <p:cNvSpPr/>
            <p:nvPr/>
          </p:nvSpPr>
          <p:spPr>
            <a:xfrm>
              <a:off x="2747956" y="4268422"/>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5" name="Rectangle 94">
              <a:extLst>
                <a:ext uri="{FF2B5EF4-FFF2-40B4-BE49-F238E27FC236}">
                  <a16:creationId xmlns:a16="http://schemas.microsoft.com/office/drawing/2014/main" id="{EDD2BB05-04D2-578F-9C49-3C89D65A2703}"/>
                </a:ext>
              </a:extLst>
            </p:cNvPr>
            <p:cNvSpPr/>
            <p:nvPr/>
          </p:nvSpPr>
          <p:spPr>
            <a:xfrm>
              <a:off x="2747956" y="4401646"/>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6" name="Rectangle 95">
              <a:extLst>
                <a:ext uri="{FF2B5EF4-FFF2-40B4-BE49-F238E27FC236}">
                  <a16:creationId xmlns:a16="http://schemas.microsoft.com/office/drawing/2014/main" id="{EA3B94F6-1A86-8B41-4220-B8EF0D1690C1}"/>
                </a:ext>
              </a:extLst>
            </p:cNvPr>
            <p:cNvSpPr/>
            <p:nvPr/>
          </p:nvSpPr>
          <p:spPr>
            <a:xfrm>
              <a:off x="2747956" y="4541907"/>
              <a:ext cx="842969" cy="536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7" name="Rectangle 96">
              <a:extLst>
                <a:ext uri="{FF2B5EF4-FFF2-40B4-BE49-F238E27FC236}">
                  <a16:creationId xmlns:a16="http://schemas.microsoft.com/office/drawing/2014/main" id="{06C1A1FE-C45D-2983-CC4F-1F8BEA3588A0}"/>
                </a:ext>
              </a:extLst>
            </p:cNvPr>
            <p:cNvSpPr/>
            <p:nvPr/>
          </p:nvSpPr>
          <p:spPr>
            <a:xfrm>
              <a:off x="2738012" y="4837318"/>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8" name="Rectangle 97">
              <a:extLst>
                <a:ext uri="{FF2B5EF4-FFF2-40B4-BE49-F238E27FC236}">
                  <a16:creationId xmlns:a16="http://schemas.microsoft.com/office/drawing/2014/main" id="{076A2498-217B-7A4D-FEB5-BFD33C5442DB}"/>
                </a:ext>
              </a:extLst>
            </p:cNvPr>
            <p:cNvSpPr/>
            <p:nvPr/>
          </p:nvSpPr>
          <p:spPr>
            <a:xfrm>
              <a:off x="2738012" y="4954061"/>
              <a:ext cx="1219919" cy="45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9" name="Rectangle 98">
              <a:extLst>
                <a:ext uri="{FF2B5EF4-FFF2-40B4-BE49-F238E27FC236}">
                  <a16:creationId xmlns:a16="http://schemas.microsoft.com/office/drawing/2014/main" id="{B2C6AC3E-8264-FF10-61E5-6FDC2B9780BE}"/>
                </a:ext>
              </a:extLst>
            </p:cNvPr>
            <p:cNvSpPr/>
            <p:nvPr/>
          </p:nvSpPr>
          <p:spPr>
            <a:xfrm>
              <a:off x="2744425" y="5374984"/>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00" name="Rectangle 99">
              <a:extLst>
                <a:ext uri="{FF2B5EF4-FFF2-40B4-BE49-F238E27FC236}">
                  <a16:creationId xmlns:a16="http://schemas.microsoft.com/office/drawing/2014/main" id="{7115A003-30E5-BF69-260E-3FB107A15F7B}"/>
                </a:ext>
              </a:extLst>
            </p:cNvPr>
            <p:cNvSpPr/>
            <p:nvPr/>
          </p:nvSpPr>
          <p:spPr>
            <a:xfrm>
              <a:off x="2744425" y="5469715"/>
              <a:ext cx="141121" cy="45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163" name="Rectangle 162">
            <a:extLst>
              <a:ext uri="{FF2B5EF4-FFF2-40B4-BE49-F238E27FC236}">
                <a16:creationId xmlns:a16="http://schemas.microsoft.com/office/drawing/2014/main" id="{481F0DCD-875C-F221-B062-98AD103C6DB7}"/>
              </a:ext>
            </a:extLst>
          </p:cNvPr>
          <p:cNvSpPr/>
          <p:nvPr/>
        </p:nvSpPr>
        <p:spPr>
          <a:xfrm>
            <a:off x="8765650" y="259824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✍️⚙️Système de FAQ</a:t>
            </a:r>
          </a:p>
        </p:txBody>
      </p:sp>
      <p:grpSp>
        <p:nvGrpSpPr>
          <p:cNvPr id="110" name="Groupe 109">
            <a:extLst>
              <a:ext uri="{FF2B5EF4-FFF2-40B4-BE49-F238E27FC236}">
                <a16:creationId xmlns:a16="http://schemas.microsoft.com/office/drawing/2014/main" id="{CEE39E24-23B0-16A4-F8DB-07F31647C2D8}"/>
              </a:ext>
            </a:extLst>
          </p:cNvPr>
          <p:cNvGrpSpPr/>
          <p:nvPr/>
        </p:nvGrpSpPr>
        <p:grpSpPr>
          <a:xfrm>
            <a:off x="10657883" y="1826662"/>
            <a:ext cx="1048684" cy="794512"/>
            <a:chOff x="7707845" y="3809110"/>
            <a:chExt cx="3572592" cy="2706694"/>
          </a:xfrm>
        </p:grpSpPr>
        <p:pic>
          <p:nvPicPr>
            <p:cNvPr id="102" name="Graphique 101" descr="Écran avec un remplissage uni">
              <a:extLst>
                <a:ext uri="{FF2B5EF4-FFF2-40B4-BE49-F238E27FC236}">
                  <a16:creationId xmlns:a16="http://schemas.microsoft.com/office/drawing/2014/main" id="{46AA1E8E-8151-EA36-543E-8F26059E5770}"/>
                </a:ext>
              </a:extLst>
            </p:cNvPr>
            <p:cNvPicPr>
              <a:picLocks noChangeAspect="1"/>
            </p:cNvPicPr>
            <p:nvPr/>
          </p:nvPicPr>
          <p:blipFill rotWithShape="1">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rcRect t="12489" b="11748"/>
            <a:stretch/>
          </p:blipFill>
          <p:spPr>
            <a:xfrm>
              <a:off x="7707845" y="3809110"/>
              <a:ext cx="3572592" cy="2706694"/>
            </a:xfrm>
            <a:prstGeom prst="rect">
              <a:avLst/>
            </a:prstGeom>
          </p:spPr>
        </p:pic>
        <p:pic>
          <p:nvPicPr>
            <p:cNvPr id="103" name="Graphique 102" descr="Nuage de points contour">
              <a:extLst>
                <a:ext uri="{FF2B5EF4-FFF2-40B4-BE49-F238E27FC236}">
                  <a16:creationId xmlns:a16="http://schemas.microsoft.com/office/drawing/2014/main" id="{759D2159-B52D-C620-1FEB-7C9072D60FB1}"/>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9781041" y="4872876"/>
              <a:ext cx="914400" cy="914400"/>
            </a:xfrm>
            <a:prstGeom prst="rect">
              <a:avLst/>
            </a:prstGeom>
          </p:spPr>
        </p:pic>
        <p:pic>
          <p:nvPicPr>
            <p:cNvPr id="104" name="Graphique 103" descr="Graphique en radar contour">
              <a:extLst>
                <a:ext uri="{FF2B5EF4-FFF2-40B4-BE49-F238E27FC236}">
                  <a16:creationId xmlns:a16="http://schemas.microsoft.com/office/drawing/2014/main" id="{B5A2667B-83A2-3CD9-0BD6-3FF5050A1284}"/>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8445896" y="4103814"/>
              <a:ext cx="914400" cy="914400"/>
            </a:xfrm>
            <a:prstGeom prst="rect">
              <a:avLst/>
            </a:prstGeom>
          </p:spPr>
        </p:pic>
        <p:pic>
          <p:nvPicPr>
            <p:cNvPr id="105" name="Graphique 104" descr="Graphique en secteurs avec un remplissage uni">
              <a:extLst>
                <a:ext uri="{FF2B5EF4-FFF2-40B4-BE49-F238E27FC236}">
                  <a16:creationId xmlns:a16="http://schemas.microsoft.com/office/drawing/2014/main" id="{93A29648-8216-787A-5772-DAEFA758D636}"/>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9781041" y="4102813"/>
              <a:ext cx="914400" cy="914400"/>
            </a:xfrm>
            <a:prstGeom prst="rect">
              <a:avLst/>
            </a:prstGeom>
          </p:spPr>
        </p:pic>
        <p:pic>
          <p:nvPicPr>
            <p:cNvPr id="106" name="Graphique 105" descr="Signe pouce en haut avec un remplissage uni">
              <a:extLst>
                <a:ext uri="{FF2B5EF4-FFF2-40B4-BE49-F238E27FC236}">
                  <a16:creationId xmlns:a16="http://schemas.microsoft.com/office/drawing/2014/main" id="{17AE3077-A0D4-E7D4-9445-8B9B34C06AA5}"/>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8872671" y="4942539"/>
              <a:ext cx="470653" cy="470653"/>
            </a:xfrm>
            <a:prstGeom prst="rect">
              <a:avLst/>
            </a:prstGeom>
          </p:spPr>
        </p:pic>
        <p:sp>
          <p:nvSpPr>
            <p:cNvPr id="107" name="ZoneTexte 106">
              <a:extLst>
                <a:ext uri="{FF2B5EF4-FFF2-40B4-BE49-F238E27FC236}">
                  <a16:creationId xmlns:a16="http://schemas.microsoft.com/office/drawing/2014/main" id="{AC8325D7-3D4A-D265-0FCD-5C90B03B2E26}"/>
                </a:ext>
              </a:extLst>
            </p:cNvPr>
            <p:cNvSpPr txBox="1"/>
            <p:nvPr/>
          </p:nvSpPr>
          <p:spPr>
            <a:xfrm>
              <a:off x="8333956" y="5043862"/>
              <a:ext cx="825705" cy="471830"/>
            </a:xfrm>
            <a:prstGeom prst="rect">
              <a:avLst/>
            </a:prstGeom>
            <a:noFill/>
          </p:spPr>
          <p:txBody>
            <a:bodyPr wrap="none" rtlCol="0">
              <a:spAutoFit/>
            </a:bodyPr>
            <a:lstStyle/>
            <a:p>
              <a:r>
                <a:rPr lang="fr-FR" sz="300" dirty="0"/>
                <a:t>512</a:t>
              </a:r>
            </a:p>
          </p:txBody>
        </p:sp>
        <p:sp>
          <p:nvSpPr>
            <p:cNvPr id="108" name="ZoneTexte 107">
              <a:extLst>
                <a:ext uri="{FF2B5EF4-FFF2-40B4-BE49-F238E27FC236}">
                  <a16:creationId xmlns:a16="http://schemas.microsoft.com/office/drawing/2014/main" id="{9D650453-09DA-A188-85DD-9816341D5C79}"/>
                </a:ext>
              </a:extLst>
            </p:cNvPr>
            <p:cNvSpPr txBox="1"/>
            <p:nvPr/>
          </p:nvSpPr>
          <p:spPr>
            <a:xfrm>
              <a:off x="8468611" y="5332358"/>
              <a:ext cx="760173" cy="471830"/>
            </a:xfrm>
            <a:prstGeom prst="rect">
              <a:avLst/>
            </a:prstGeom>
            <a:noFill/>
          </p:spPr>
          <p:txBody>
            <a:bodyPr wrap="none" rtlCol="0">
              <a:spAutoFit/>
            </a:bodyPr>
            <a:lstStyle/>
            <a:p>
              <a:r>
                <a:rPr lang="fr-FR" sz="300" dirty="0"/>
                <a:t>32</a:t>
              </a:r>
            </a:p>
          </p:txBody>
        </p:sp>
        <p:pic>
          <p:nvPicPr>
            <p:cNvPr id="109" name="Graphique 108" descr="Signe pouce en haut avec un remplissage uni">
              <a:extLst>
                <a:ext uri="{FF2B5EF4-FFF2-40B4-BE49-F238E27FC236}">
                  <a16:creationId xmlns:a16="http://schemas.microsoft.com/office/drawing/2014/main" id="{3A115F6C-1CF5-C535-7405-7CC2CD4385A3}"/>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flipV="1">
              <a:off x="8903096" y="5352168"/>
              <a:ext cx="403358" cy="403358"/>
            </a:xfrm>
            <a:prstGeom prst="rect">
              <a:avLst/>
            </a:prstGeom>
          </p:spPr>
        </p:pic>
      </p:grpSp>
      <p:sp>
        <p:nvSpPr>
          <p:cNvPr id="164" name="Rectangle 163">
            <a:extLst>
              <a:ext uri="{FF2B5EF4-FFF2-40B4-BE49-F238E27FC236}">
                <a16:creationId xmlns:a16="http://schemas.microsoft.com/office/drawing/2014/main" id="{EFAD9DD7-A19A-75A9-2B8D-FBE8D0908C1D}"/>
              </a:ext>
            </a:extLst>
          </p:cNvPr>
          <p:cNvSpPr/>
          <p:nvPr/>
        </p:nvSpPr>
        <p:spPr>
          <a:xfrm>
            <a:off x="10408246" y="260437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⚙️Etude d’indicateurs automatiques</a:t>
            </a:r>
          </a:p>
        </p:txBody>
      </p:sp>
      <p:sp>
        <p:nvSpPr>
          <p:cNvPr id="326" name="Rectangle 325">
            <a:extLst>
              <a:ext uri="{FF2B5EF4-FFF2-40B4-BE49-F238E27FC236}">
                <a16:creationId xmlns:a16="http://schemas.microsoft.com/office/drawing/2014/main" id="{A676E196-5B76-BE04-3564-1577757EE22B}"/>
              </a:ext>
            </a:extLst>
          </p:cNvPr>
          <p:cNvSpPr/>
          <p:nvPr/>
        </p:nvSpPr>
        <p:spPr>
          <a:xfrm>
            <a:off x="521623" y="3319874"/>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Très bien pour s’adresser à un grand nombre et uniformiser les résultats </a:t>
            </a:r>
          </a:p>
        </p:txBody>
      </p:sp>
      <p:sp>
        <p:nvSpPr>
          <p:cNvPr id="327" name="Rectangle 326">
            <a:extLst>
              <a:ext uri="{FF2B5EF4-FFF2-40B4-BE49-F238E27FC236}">
                <a16:creationId xmlns:a16="http://schemas.microsoft.com/office/drawing/2014/main" id="{E0D471BF-2427-F4F6-CB2C-61F111C7C056}"/>
              </a:ext>
            </a:extLst>
          </p:cNvPr>
          <p:cNvSpPr/>
          <p:nvPr/>
        </p:nvSpPr>
        <p:spPr>
          <a:xfrm>
            <a:off x="2164217" y="3319874"/>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Permet de capter des nuances, de creuser qualitativement. Nourrit la relation avec les interviewés.</a:t>
            </a:r>
          </a:p>
        </p:txBody>
      </p:sp>
      <p:sp>
        <p:nvSpPr>
          <p:cNvPr id="328" name="Rectangle 327">
            <a:extLst>
              <a:ext uri="{FF2B5EF4-FFF2-40B4-BE49-F238E27FC236}">
                <a16:creationId xmlns:a16="http://schemas.microsoft.com/office/drawing/2014/main" id="{C39A99A7-C612-48E7-33B9-9DC7FB0E96D7}"/>
              </a:ext>
            </a:extLst>
          </p:cNvPr>
          <p:cNvSpPr/>
          <p:nvPr/>
        </p:nvSpPr>
        <p:spPr>
          <a:xfrm>
            <a:off x="3806811" y="3319874"/>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Permet de capter des nuances, de creuser qualitativement. Nourrit la relation avec les interviewés.</a:t>
            </a:r>
          </a:p>
        </p:txBody>
      </p:sp>
      <p:sp>
        <p:nvSpPr>
          <p:cNvPr id="329" name="Rectangle 328">
            <a:extLst>
              <a:ext uri="{FF2B5EF4-FFF2-40B4-BE49-F238E27FC236}">
                <a16:creationId xmlns:a16="http://schemas.microsoft.com/office/drawing/2014/main" id="{9A10AE8A-CD79-BBE1-8623-BB3AEDBEA757}"/>
              </a:ext>
            </a:extLst>
          </p:cNvPr>
          <p:cNvSpPr/>
          <p:nvPr/>
        </p:nvSpPr>
        <p:spPr>
          <a:xfrm>
            <a:off x="5449405" y="3319874"/>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Permet de faire interagir les participants entre eux directement, de rebondir sur les idées, équilibre entre le formel et participatif</a:t>
            </a:r>
          </a:p>
        </p:txBody>
      </p:sp>
      <p:sp>
        <p:nvSpPr>
          <p:cNvPr id="330" name="Rectangle 329">
            <a:extLst>
              <a:ext uri="{FF2B5EF4-FFF2-40B4-BE49-F238E27FC236}">
                <a16:creationId xmlns:a16="http://schemas.microsoft.com/office/drawing/2014/main" id="{E0C09E77-8840-F650-C406-17723ED1461F}"/>
              </a:ext>
            </a:extLst>
          </p:cNvPr>
          <p:cNvSpPr/>
          <p:nvPr/>
        </p:nvSpPr>
        <p:spPr>
          <a:xfrm>
            <a:off x="7091999" y="3321617"/>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Permet de s’informer sur les doutes des participants, et sur leurs réactions aux réponses par la même occasion.</a:t>
            </a:r>
          </a:p>
        </p:txBody>
      </p:sp>
      <p:sp>
        <p:nvSpPr>
          <p:cNvPr id="331" name="Rectangle 330">
            <a:extLst>
              <a:ext uri="{FF2B5EF4-FFF2-40B4-BE49-F238E27FC236}">
                <a16:creationId xmlns:a16="http://schemas.microsoft.com/office/drawing/2014/main" id="{7EDA0CFA-ABAA-B465-F2ED-A26A6AF18AB2}"/>
              </a:ext>
            </a:extLst>
          </p:cNvPr>
          <p:cNvSpPr/>
          <p:nvPr/>
        </p:nvSpPr>
        <p:spPr>
          <a:xfrm>
            <a:off x="8765650" y="3319874"/>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Capte les doutes. Fournit la fonction réponse en plus du renseignement. Capitalise l’information automatiquement.</a:t>
            </a:r>
          </a:p>
        </p:txBody>
      </p:sp>
      <p:sp>
        <p:nvSpPr>
          <p:cNvPr id="332" name="Rectangle 331">
            <a:extLst>
              <a:ext uri="{FF2B5EF4-FFF2-40B4-BE49-F238E27FC236}">
                <a16:creationId xmlns:a16="http://schemas.microsoft.com/office/drawing/2014/main" id="{FD5FF8B8-7A5A-82F2-A53A-D02886139967}"/>
              </a:ext>
            </a:extLst>
          </p:cNvPr>
          <p:cNvSpPr/>
          <p:nvPr/>
        </p:nvSpPr>
        <p:spPr>
          <a:xfrm>
            <a:off x="10408246" y="3327480"/>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Pas de sollicitation des membres pour se renseigner.</a:t>
            </a:r>
          </a:p>
        </p:txBody>
      </p:sp>
      <p:sp>
        <p:nvSpPr>
          <p:cNvPr id="334" name="Rectangle 333">
            <a:extLst>
              <a:ext uri="{FF2B5EF4-FFF2-40B4-BE49-F238E27FC236}">
                <a16:creationId xmlns:a16="http://schemas.microsoft.com/office/drawing/2014/main" id="{1677DE3A-2A5E-EFD5-310F-DD3F98BC3257}"/>
              </a:ext>
            </a:extLst>
          </p:cNvPr>
          <p:cNvSpPr/>
          <p:nvPr/>
        </p:nvSpPr>
        <p:spPr>
          <a:xfrm>
            <a:off x="521623" y="4171932"/>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Résultats simples qui vont peu en profondeur qualitativement, proportion de répondants souvent faible</a:t>
            </a:r>
          </a:p>
        </p:txBody>
      </p:sp>
      <p:sp>
        <p:nvSpPr>
          <p:cNvPr id="335" name="Rectangle 334">
            <a:extLst>
              <a:ext uri="{FF2B5EF4-FFF2-40B4-BE49-F238E27FC236}">
                <a16:creationId xmlns:a16="http://schemas.microsoft.com/office/drawing/2014/main" id="{6A5154A0-4FB7-B1E5-4A84-05562B02B612}"/>
              </a:ext>
            </a:extLst>
          </p:cNvPr>
          <p:cNvSpPr/>
          <p:nvPr/>
        </p:nvSpPr>
        <p:spPr>
          <a:xfrm>
            <a:off x="2164217" y="4171932"/>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Coûteux sur un grand volume de personnes, difficile d’agréger les résultats très diversifiés</a:t>
            </a:r>
          </a:p>
        </p:txBody>
      </p:sp>
      <p:sp>
        <p:nvSpPr>
          <p:cNvPr id="336" name="Rectangle 335">
            <a:extLst>
              <a:ext uri="{FF2B5EF4-FFF2-40B4-BE49-F238E27FC236}">
                <a16:creationId xmlns:a16="http://schemas.microsoft.com/office/drawing/2014/main" id="{3231C43F-88D1-9969-6D30-4CDC704964B7}"/>
              </a:ext>
            </a:extLst>
          </p:cNvPr>
          <p:cNvSpPr/>
          <p:nvPr/>
        </p:nvSpPr>
        <p:spPr>
          <a:xfrm>
            <a:off x="3806811" y="4171932"/>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Souvent difficile d’accéder à un sponsor et à obtenir des informations officieuses étant données leurs fréquentes positions de pouvoir.</a:t>
            </a:r>
          </a:p>
        </p:txBody>
      </p:sp>
      <p:sp>
        <p:nvSpPr>
          <p:cNvPr id="337" name="Rectangle 336">
            <a:extLst>
              <a:ext uri="{FF2B5EF4-FFF2-40B4-BE49-F238E27FC236}">
                <a16:creationId xmlns:a16="http://schemas.microsoft.com/office/drawing/2014/main" id="{BFA7E3D1-1EF5-DC12-4D5C-1C31E36075E6}"/>
              </a:ext>
            </a:extLst>
          </p:cNvPr>
          <p:cNvSpPr/>
          <p:nvPr/>
        </p:nvSpPr>
        <p:spPr>
          <a:xfrm>
            <a:off x="5449405" y="4171932"/>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d’une confiance préalable entre participants pour l’authenticité, effets de pensée de groupe</a:t>
            </a:r>
          </a:p>
        </p:txBody>
      </p:sp>
      <p:sp>
        <p:nvSpPr>
          <p:cNvPr id="338" name="Rectangle 337">
            <a:extLst>
              <a:ext uri="{FF2B5EF4-FFF2-40B4-BE49-F238E27FC236}">
                <a16:creationId xmlns:a16="http://schemas.microsoft.com/office/drawing/2014/main" id="{62BEB3DC-AE42-6211-317E-2C4153C87A9C}"/>
              </a:ext>
            </a:extLst>
          </p:cNvPr>
          <p:cNvSpPr/>
          <p:nvPr/>
        </p:nvSpPr>
        <p:spPr>
          <a:xfrm>
            <a:off x="7091999" y="4173676"/>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d’une confiance préalable en la personne à qui on pose les questions, besoin d’une curiosité ou d’un engagement minimaux pour oser questionner</a:t>
            </a:r>
          </a:p>
        </p:txBody>
      </p:sp>
      <p:sp>
        <p:nvSpPr>
          <p:cNvPr id="339" name="Rectangle 338">
            <a:extLst>
              <a:ext uri="{FF2B5EF4-FFF2-40B4-BE49-F238E27FC236}">
                <a16:creationId xmlns:a16="http://schemas.microsoft.com/office/drawing/2014/main" id="{E8C55DCD-5DDC-5321-DBB0-059F9FD641BC}"/>
              </a:ext>
            </a:extLst>
          </p:cNvPr>
          <p:cNvSpPr/>
          <p:nvPr/>
        </p:nvSpPr>
        <p:spPr>
          <a:xfrm>
            <a:off x="8765650" y="4171932"/>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d’un outil pour la FAQ (accès partagé, soumission de questions, etc.). Les réponses doivent pouvoir être écrites (et sont donc souvent officielles).</a:t>
            </a:r>
          </a:p>
        </p:txBody>
      </p:sp>
      <p:sp>
        <p:nvSpPr>
          <p:cNvPr id="340" name="Rectangle 339">
            <a:extLst>
              <a:ext uri="{FF2B5EF4-FFF2-40B4-BE49-F238E27FC236}">
                <a16:creationId xmlns:a16="http://schemas.microsoft.com/office/drawing/2014/main" id="{677B788C-A43E-E27A-B69B-04EB8260F7B1}"/>
              </a:ext>
            </a:extLst>
          </p:cNvPr>
          <p:cNvSpPr/>
          <p:nvPr/>
        </p:nvSpPr>
        <p:spPr>
          <a:xfrm>
            <a:off x="10408246" y="4179538"/>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de mettre en place les mesures, information souvent limitée à des points quantitatifs sur des usages. Peu d’information sur les blocages, rejets, réticences.</a:t>
            </a:r>
          </a:p>
        </p:txBody>
      </p:sp>
      <p:sp>
        <p:nvSpPr>
          <p:cNvPr id="342" name="Rectangle 341">
            <a:extLst>
              <a:ext uri="{FF2B5EF4-FFF2-40B4-BE49-F238E27FC236}">
                <a16:creationId xmlns:a16="http://schemas.microsoft.com/office/drawing/2014/main" id="{FDFCF340-69B3-42C6-E9F2-724555D90EC6}"/>
              </a:ext>
            </a:extLst>
          </p:cNvPr>
          <p:cNvSpPr/>
          <p:nvPr/>
        </p:nvSpPr>
        <p:spPr>
          <a:xfrm>
            <a:off x="521623" y="5023991"/>
            <a:ext cx="1492148" cy="821945"/>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Beaucoup de personnes à interroger, sans connaître en amont qui aura une réponse riche ou pauvre. Peu de disponibilité commune.</a:t>
            </a:r>
          </a:p>
        </p:txBody>
      </p:sp>
      <p:sp>
        <p:nvSpPr>
          <p:cNvPr id="343" name="Rectangle 342">
            <a:extLst>
              <a:ext uri="{FF2B5EF4-FFF2-40B4-BE49-F238E27FC236}">
                <a16:creationId xmlns:a16="http://schemas.microsoft.com/office/drawing/2014/main" id="{64540666-3C90-E4AA-3E1A-6562EA069E6E}"/>
              </a:ext>
            </a:extLst>
          </p:cNvPr>
          <p:cNvSpPr/>
          <p:nvPr/>
        </p:nvSpPr>
        <p:spPr>
          <a:xfrm>
            <a:off x="2164217" y="5023991"/>
            <a:ext cx="1492148" cy="821945"/>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Nombre de répondants nécessaires assez faible. Disponibilité commune faible.</a:t>
            </a:r>
          </a:p>
        </p:txBody>
      </p:sp>
      <p:sp>
        <p:nvSpPr>
          <p:cNvPr id="344" name="Rectangle 343">
            <a:extLst>
              <a:ext uri="{FF2B5EF4-FFF2-40B4-BE49-F238E27FC236}">
                <a16:creationId xmlns:a16="http://schemas.microsoft.com/office/drawing/2014/main" id="{CF090F85-39FD-AE69-7E7E-EE657558EAAC}"/>
              </a:ext>
            </a:extLst>
          </p:cNvPr>
          <p:cNvSpPr/>
          <p:nvPr/>
        </p:nvSpPr>
        <p:spPr>
          <a:xfrm>
            <a:off x="3806811" y="5023991"/>
            <a:ext cx="1492148" cy="821945"/>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Présence et engagement de sponsor(s). Importance ou potentiel stratégique de la Communauté pour l’entreprise.</a:t>
            </a:r>
          </a:p>
        </p:txBody>
      </p:sp>
      <p:sp>
        <p:nvSpPr>
          <p:cNvPr id="345" name="Rectangle 344">
            <a:extLst>
              <a:ext uri="{FF2B5EF4-FFF2-40B4-BE49-F238E27FC236}">
                <a16:creationId xmlns:a16="http://schemas.microsoft.com/office/drawing/2014/main" id="{D73202C6-C650-AFA9-99FA-12929B40B671}"/>
              </a:ext>
            </a:extLst>
          </p:cNvPr>
          <p:cNvSpPr/>
          <p:nvPr/>
        </p:nvSpPr>
        <p:spPr>
          <a:xfrm>
            <a:off x="5449405" y="5023991"/>
            <a:ext cx="1492148" cy="821945"/>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Culture de co-construction, ouverture à l’amélioration continue, pratique existante d’ateliers en collectif</a:t>
            </a:r>
          </a:p>
        </p:txBody>
      </p:sp>
      <p:sp>
        <p:nvSpPr>
          <p:cNvPr id="346" name="Rectangle 345">
            <a:extLst>
              <a:ext uri="{FF2B5EF4-FFF2-40B4-BE49-F238E27FC236}">
                <a16:creationId xmlns:a16="http://schemas.microsoft.com/office/drawing/2014/main" id="{328505BF-06E7-0F2E-5E0A-8A73EBA636B2}"/>
              </a:ext>
            </a:extLst>
          </p:cNvPr>
          <p:cNvSpPr/>
          <p:nvPr/>
        </p:nvSpPr>
        <p:spPr>
          <a:xfrm>
            <a:off x="7091999" y="5025734"/>
            <a:ext cx="1492148" cy="821945"/>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Ouverture et acceptation du questionnement (pas de sanction de ceux qui ont des questions)</a:t>
            </a:r>
          </a:p>
        </p:txBody>
      </p:sp>
      <p:sp>
        <p:nvSpPr>
          <p:cNvPr id="347" name="Rectangle 346">
            <a:extLst>
              <a:ext uri="{FF2B5EF4-FFF2-40B4-BE49-F238E27FC236}">
                <a16:creationId xmlns:a16="http://schemas.microsoft.com/office/drawing/2014/main" id="{FACF9B02-8651-4FF2-1F06-0592373BA207}"/>
              </a:ext>
            </a:extLst>
          </p:cNvPr>
          <p:cNvSpPr/>
          <p:nvPr/>
        </p:nvSpPr>
        <p:spPr>
          <a:xfrm>
            <a:off x="8765650" y="5023991"/>
            <a:ext cx="1492148" cy="821945"/>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Pas de disponibilité commune des répondants, et besoin de capitaliser l’information et les réponses</a:t>
            </a:r>
          </a:p>
        </p:txBody>
      </p:sp>
      <p:sp>
        <p:nvSpPr>
          <p:cNvPr id="348" name="Rectangle 347">
            <a:extLst>
              <a:ext uri="{FF2B5EF4-FFF2-40B4-BE49-F238E27FC236}">
                <a16:creationId xmlns:a16="http://schemas.microsoft.com/office/drawing/2014/main" id="{1FB39BC9-9723-2425-B1A9-02698C249B87}"/>
              </a:ext>
            </a:extLst>
          </p:cNvPr>
          <p:cNvSpPr/>
          <p:nvPr/>
        </p:nvSpPr>
        <p:spPr>
          <a:xfrm>
            <a:off x="10408246" y="5031597"/>
            <a:ext cx="1492148" cy="821945"/>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Grand volume d’activités sur les outils de la Communauté</a:t>
            </a:r>
          </a:p>
        </p:txBody>
      </p:sp>
      <p:sp>
        <p:nvSpPr>
          <p:cNvPr id="350" name="Rectangle 349">
            <a:extLst>
              <a:ext uri="{FF2B5EF4-FFF2-40B4-BE49-F238E27FC236}">
                <a16:creationId xmlns:a16="http://schemas.microsoft.com/office/drawing/2014/main" id="{E91CC4C7-F6BC-A7A3-DB6A-759AFB8D7B80}"/>
              </a:ext>
            </a:extLst>
          </p:cNvPr>
          <p:cNvSpPr/>
          <p:nvPr/>
        </p:nvSpPr>
        <p:spPr>
          <a:xfrm>
            <a:off x="521623" y="5876049"/>
            <a:ext cx="1492148" cy="82194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d’un résultat quantitatif pour appuyer une décision ou une prise de risque. </a:t>
            </a:r>
          </a:p>
        </p:txBody>
      </p:sp>
      <p:sp>
        <p:nvSpPr>
          <p:cNvPr id="351" name="Rectangle 350">
            <a:extLst>
              <a:ext uri="{FF2B5EF4-FFF2-40B4-BE49-F238E27FC236}">
                <a16:creationId xmlns:a16="http://schemas.microsoft.com/office/drawing/2014/main" id="{604D4B0A-FCED-6AA2-7F1D-8F2CBA0DFA47}"/>
              </a:ext>
            </a:extLst>
          </p:cNvPr>
          <p:cNvSpPr/>
          <p:nvPr/>
        </p:nvSpPr>
        <p:spPr>
          <a:xfrm>
            <a:off x="2164217" y="5876049"/>
            <a:ext cx="1492148" cy="82194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d’un résultat qualitatif plus nuancé, difficulté à établir un questionnaire unifié pour tous</a:t>
            </a:r>
          </a:p>
        </p:txBody>
      </p:sp>
      <p:sp>
        <p:nvSpPr>
          <p:cNvPr id="352" name="Rectangle 351">
            <a:extLst>
              <a:ext uri="{FF2B5EF4-FFF2-40B4-BE49-F238E27FC236}">
                <a16:creationId xmlns:a16="http://schemas.microsoft.com/office/drawing/2014/main" id="{2569617A-57C1-EEA6-4219-BE8FC5CADFA9}"/>
              </a:ext>
            </a:extLst>
          </p:cNvPr>
          <p:cNvSpPr/>
          <p:nvPr/>
        </p:nvSpPr>
        <p:spPr>
          <a:xfrm>
            <a:off x="3806811" y="5876049"/>
            <a:ext cx="1492148" cy="82194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de mieux connaître la position officielle de l’entreprise et certaines informations à plus haut niveau de décision</a:t>
            </a:r>
          </a:p>
        </p:txBody>
      </p:sp>
      <p:sp>
        <p:nvSpPr>
          <p:cNvPr id="353" name="Rectangle 352">
            <a:extLst>
              <a:ext uri="{FF2B5EF4-FFF2-40B4-BE49-F238E27FC236}">
                <a16:creationId xmlns:a16="http://schemas.microsoft.com/office/drawing/2014/main" id="{EFF27C88-73E3-67D2-3331-570EF874ADE4}"/>
              </a:ext>
            </a:extLst>
          </p:cNvPr>
          <p:cNvSpPr/>
          <p:nvPr/>
        </p:nvSpPr>
        <p:spPr>
          <a:xfrm>
            <a:off x="5449405" y="5876049"/>
            <a:ext cx="1492148" cy="82194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d’exposer directement entre membres, d’échanger, comparer, partager</a:t>
            </a:r>
          </a:p>
        </p:txBody>
      </p:sp>
      <p:sp>
        <p:nvSpPr>
          <p:cNvPr id="354" name="Rectangle 353">
            <a:extLst>
              <a:ext uri="{FF2B5EF4-FFF2-40B4-BE49-F238E27FC236}">
                <a16:creationId xmlns:a16="http://schemas.microsoft.com/office/drawing/2014/main" id="{B3B78C86-9816-2434-F93F-547F726AF532}"/>
              </a:ext>
            </a:extLst>
          </p:cNvPr>
          <p:cNvSpPr/>
          <p:nvPr/>
        </p:nvSpPr>
        <p:spPr>
          <a:xfrm>
            <a:off x="7091999" y="5877793"/>
            <a:ext cx="1492148" cy="82194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Présence potentielle de doutes à propos de la Communauté, son sujet, ses activités, sa valeur, ce qu’il y a autour</a:t>
            </a:r>
          </a:p>
        </p:txBody>
      </p:sp>
      <p:sp>
        <p:nvSpPr>
          <p:cNvPr id="355" name="Rectangle 354">
            <a:extLst>
              <a:ext uri="{FF2B5EF4-FFF2-40B4-BE49-F238E27FC236}">
                <a16:creationId xmlns:a16="http://schemas.microsoft.com/office/drawing/2014/main" id="{0D690518-A9B0-F475-0C69-D897983CBABE}"/>
              </a:ext>
            </a:extLst>
          </p:cNvPr>
          <p:cNvSpPr/>
          <p:nvPr/>
        </p:nvSpPr>
        <p:spPr>
          <a:xfrm>
            <a:off x="8765650" y="5876049"/>
            <a:ext cx="1492148" cy="82194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Présence potentielle de doutes à propos de la Communauté, son sujet, ses activités, sa valeur, ce qu’il y a autour</a:t>
            </a:r>
          </a:p>
        </p:txBody>
      </p:sp>
      <p:sp>
        <p:nvSpPr>
          <p:cNvPr id="356" name="Rectangle 355">
            <a:extLst>
              <a:ext uri="{FF2B5EF4-FFF2-40B4-BE49-F238E27FC236}">
                <a16:creationId xmlns:a16="http://schemas.microsoft.com/office/drawing/2014/main" id="{B1F7A123-9B36-375B-473D-64561653D7D7}"/>
              </a:ext>
            </a:extLst>
          </p:cNvPr>
          <p:cNvSpPr/>
          <p:nvPr/>
        </p:nvSpPr>
        <p:spPr>
          <a:xfrm>
            <a:off x="10408246" y="5883655"/>
            <a:ext cx="1492148" cy="82194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d’information quantitatives pour décider (par exemple, dimensionner des services)</a:t>
            </a:r>
          </a:p>
        </p:txBody>
      </p:sp>
      <p:pic>
        <p:nvPicPr>
          <p:cNvPr id="145" name="Graphique 144" descr="Femme scientifique avec un remplissage uni">
            <a:extLst>
              <a:ext uri="{FF2B5EF4-FFF2-40B4-BE49-F238E27FC236}">
                <a16:creationId xmlns:a16="http://schemas.microsoft.com/office/drawing/2014/main" id="{D5500B73-BF43-C0FF-8C4B-BE5CD67E4F0A}"/>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rcRect/>
          <a:stretch/>
        </p:blipFill>
        <p:spPr>
          <a:xfrm>
            <a:off x="752476" y="365125"/>
            <a:ext cx="1114424" cy="1114424"/>
          </a:xfrm>
          <a:prstGeom prst="rect">
            <a:avLst/>
          </a:prstGeom>
        </p:spPr>
      </p:pic>
    </p:spTree>
    <p:extLst>
      <p:ext uri="{BB962C8B-B14F-4D97-AF65-F5344CB8AC3E}">
        <p14:creationId xmlns:p14="http://schemas.microsoft.com/office/powerpoint/2010/main" val="4222922665"/>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580489C-266C-DBB1-ED72-837A565327DD}"/>
              </a:ext>
            </a:extLst>
          </p:cNvPr>
          <p:cNvSpPr>
            <a:spLocks noGrp="1"/>
          </p:cNvSpPr>
          <p:nvPr>
            <p:ph type="title"/>
          </p:nvPr>
        </p:nvSpPr>
        <p:spPr>
          <a:xfrm>
            <a:off x="1742140" y="365125"/>
            <a:ext cx="9611660" cy="1325563"/>
          </a:xfrm>
        </p:spPr>
        <p:txBody>
          <a:bodyPr>
            <a:noAutofit/>
          </a:bodyPr>
          <a:lstStyle/>
          <a:p>
            <a:r>
              <a:rPr lang="fr-FR" sz="3200" b="1" dirty="0"/>
              <a:t>Renseignement délibéré</a:t>
            </a:r>
            <a:br>
              <a:rPr lang="fr-FR" sz="4800" b="1" dirty="0"/>
            </a:br>
            <a:r>
              <a:rPr lang="fr-FR" sz="1800" dirty="0"/>
              <a:t>Exemples d’</a:t>
            </a:r>
            <a:r>
              <a:rPr lang="fr-FR" sz="1800" dirty="0">
                <a:solidFill>
                  <a:srgbClr val="00B050"/>
                </a:solidFill>
              </a:rPr>
              <a:t>avantages</a:t>
            </a:r>
            <a:r>
              <a:rPr lang="fr-FR" sz="1800" dirty="0"/>
              <a:t>, </a:t>
            </a:r>
            <a:r>
              <a:rPr lang="fr-FR" sz="1800" dirty="0">
                <a:solidFill>
                  <a:srgbClr val="FF0000"/>
                </a:solidFill>
              </a:rPr>
              <a:t>inconvénients</a:t>
            </a:r>
            <a:r>
              <a:rPr lang="fr-FR" sz="1800" dirty="0"/>
              <a:t>, </a:t>
            </a:r>
            <a:r>
              <a:rPr lang="fr-FR" sz="1800" dirty="0">
                <a:solidFill>
                  <a:srgbClr val="ED7D31"/>
                </a:solidFill>
              </a:rPr>
              <a:t>conditions favorables </a:t>
            </a:r>
            <a:r>
              <a:rPr lang="fr-FR" sz="1800" dirty="0"/>
              <a:t>par moyens de renseignement</a:t>
            </a:r>
            <a:endParaRPr lang="fr-FR" sz="3200" dirty="0"/>
          </a:p>
        </p:txBody>
      </p:sp>
      <p:grpSp>
        <p:nvGrpSpPr>
          <p:cNvPr id="135" name="Groupe 134">
            <a:extLst>
              <a:ext uri="{FF2B5EF4-FFF2-40B4-BE49-F238E27FC236}">
                <a16:creationId xmlns:a16="http://schemas.microsoft.com/office/drawing/2014/main" id="{255337F8-2E23-0645-21EC-93CABE4CABC2}"/>
              </a:ext>
            </a:extLst>
          </p:cNvPr>
          <p:cNvGrpSpPr/>
          <p:nvPr/>
        </p:nvGrpSpPr>
        <p:grpSpPr>
          <a:xfrm>
            <a:off x="2393416" y="1599386"/>
            <a:ext cx="987844" cy="884966"/>
            <a:chOff x="4425170" y="3632190"/>
            <a:chExt cx="3109158" cy="2785359"/>
          </a:xfrm>
        </p:grpSpPr>
        <p:grpSp>
          <p:nvGrpSpPr>
            <p:cNvPr id="119" name="Groupe 118">
              <a:extLst>
                <a:ext uri="{FF2B5EF4-FFF2-40B4-BE49-F238E27FC236}">
                  <a16:creationId xmlns:a16="http://schemas.microsoft.com/office/drawing/2014/main" id="{8E4E37B3-0F61-28B0-51D8-CA20DD3C4F8E}"/>
                </a:ext>
              </a:extLst>
            </p:cNvPr>
            <p:cNvGrpSpPr/>
            <p:nvPr/>
          </p:nvGrpSpPr>
          <p:grpSpPr>
            <a:xfrm>
              <a:off x="4425170" y="3632190"/>
              <a:ext cx="3109158" cy="2785359"/>
              <a:chOff x="7455204" y="423920"/>
              <a:chExt cx="3109158" cy="2785359"/>
            </a:xfrm>
          </p:grpSpPr>
          <p:grpSp>
            <p:nvGrpSpPr>
              <p:cNvPr id="120" name="Groupe 119">
                <a:extLst>
                  <a:ext uri="{FF2B5EF4-FFF2-40B4-BE49-F238E27FC236}">
                    <a16:creationId xmlns:a16="http://schemas.microsoft.com/office/drawing/2014/main" id="{289D0340-24CD-C97A-BF5F-15D887291E80}"/>
                  </a:ext>
                </a:extLst>
              </p:cNvPr>
              <p:cNvGrpSpPr/>
              <p:nvPr/>
            </p:nvGrpSpPr>
            <p:grpSpPr>
              <a:xfrm>
                <a:off x="7645253" y="585600"/>
                <a:ext cx="2773811" cy="2623679"/>
                <a:chOff x="7693584" y="632578"/>
                <a:chExt cx="2773811" cy="2623679"/>
              </a:xfrm>
            </p:grpSpPr>
            <p:sp>
              <p:nvSpPr>
                <p:cNvPr id="124" name="Ellipse 123">
                  <a:extLst>
                    <a:ext uri="{FF2B5EF4-FFF2-40B4-BE49-F238E27FC236}">
                      <a16:creationId xmlns:a16="http://schemas.microsoft.com/office/drawing/2014/main" id="{A2112FAA-D352-9CAC-3B33-3AA38AA7390A}"/>
                    </a:ext>
                  </a:extLst>
                </p:cNvPr>
                <p:cNvSpPr/>
                <p:nvPr/>
              </p:nvSpPr>
              <p:spPr>
                <a:xfrm>
                  <a:off x="8234943" y="63257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25" name="Ellipse 124">
                  <a:extLst>
                    <a:ext uri="{FF2B5EF4-FFF2-40B4-BE49-F238E27FC236}">
                      <a16:creationId xmlns:a16="http://schemas.microsoft.com/office/drawing/2014/main" id="{A4EA0B46-780F-E812-A72C-8933B0504BE4}"/>
                    </a:ext>
                  </a:extLst>
                </p:cNvPr>
                <p:cNvSpPr/>
                <p:nvPr/>
              </p:nvSpPr>
              <p:spPr>
                <a:xfrm>
                  <a:off x="7693584" y="150713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26" name="Ellipse 125">
                  <a:extLst>
                    <a:ext uri="{FF2B5EF4-FFF2-40B4-BE49-F238E27FC236}">
                      <a16:creationId xmlns:a16="http://schemas.microsoft.com/office/drawing/2014/main" id="{3E84664C-80C3-47CF-D51E-DE9C48CCBD23}"/>
                    </a:ext>
                  </a:extLst>
                </p:cNvPr>
                <p:cNvSpPr/>
                <p:nvPr/>
              </p:nvSpPr>
              <p:spPr>
                <a:xfrm>
                  <a:off x="8718277" y="150713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pic>
            <p:nvPicPr>
              <p:cNvPr id="121" name="Graphique 120" descr="Logement avec un remplissage uni">
                <a:extLst>
                  <a:ext uri="{FF2B5EF4-FFF2-40B4-BE49-F238E27FC236}">
                    <a16:creationId xmlns:a16="http://schemas.microsoft.com/office/drawing/2014/main" id="{91836C3A-2137-88FC-95AE-43EA06854FC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937244" y="2487557"/>
                <a:ext cx="627118" cy="627118"/>
              </a:xfrm>
              <a:prstGeom prst="rect">
                <a:avLst/>
              </a:prstGeom>
            </p:spPr>
          </p:pic>
          <p:pic>
            <p:nvPicPr>
              <p:cNvPr id="122" name="Graphique 121" descr="Outils d'exploitation minière avec un remplissage uni">
                <a:extLst>
                  <a:ext uri="{FF2B5EF4-FFF2-40B4-BE49-F238E27FC236}">
                    <a16:creationId xmlns:a16="http://schemas.microsoft.com/office/drawing/2014/main" id="{58622124-4062-958C-A9F8-9880C458CAF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455204" y="2531261"/>
                <a:ext cx="580613" cy="580613"/>
              </a:xfrm>
              <a:prstGeom prst="rect">
                <a:avLst/>
              </a:prstGeom>
            </p:spPr>
          </p:pic>
          <p:pic>
            <p:nvPicPr>
              <p:cNvPr id="123" name="Graphique 122" descr="Cœur avec un remplissage uni">
                <a:extLst>
                  <a:ext uri="{FF2B5EF4-FFF2-40B4-BE49-F238E27FC236}">
                    <a16:creationId xmlns:a16="http://schemas.microsoft.com/office/drawing/2014/main" id="{DC7470CB-E298-3785-3801-6CFD9D33DA6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735090" y="423920"/>
                <a:ext cx="652161" cy="652161"/>
              </a:xfrm>
              <a:prstGeom prst="rect">
                <a:avLst/>
              </a:prstGeom>
            </p:spPr>
          </p:pic>
        </p:grpSp>
        <p:sp>
          <p:nvSpPr>
            <p:cNvPr id="127" name="Rectangle 126">
              <a:extLst>
                <a:ext uri="{FF2B5EF4-FFF2-40B4-BE49-F238E27FC236}">
                  <a16:creationId xmlns:a16="http://schemas.microsoft.com/office/drawing/2014/main" id="{11E6B267-864F-DE71-E6F8-A4A75DF139D0}"/>
                </a:ext>
              </a:extLst>
            </p:cNvPr>
            <p:cNvSpPr/>
            <p:nvPr/>
          </p:nvSpPr>
          <p:spPr>
            <a:xfrm>
              <a:off x="5281786" y="4714527"/>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28" name="Rectangle 127">
              <a:extLst>
                <a:ext uri="{FF2B5EF4-FFF2-40B4-BE49-F238E27FC236}">
                  <a16:creationId xmlns:a16="http://schemas.microsoft.com/office/drawing/2014/main" id="{E18DC1B8-10D8-EEE0-A5D4-1B5275D2C551}"/>
                </a:ext>
              </a:extLst>
            </p:cNvPr>
            <p:cNvSpPr/>
            <p:nvPr/>
          </p:nvSpPr>
          <p:spPr>
            <a:xfrm>
              <a:off x="5537898" y="4905178"/>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29" name="Rectangle 128">
              <a:extLst>
                <a:ext uri="{FF2B5EF4-FFF2-40B4-BE49-F238E27FC236}">
                  <a16:creationId xmlns:a16="http://schemas.microsoft.com/office/drawing/2014/main" id="{BA78F3B7-07FF-4275-17F3-B52FB8FE2EB0}"/>
                </a:ext>
              </a:extLst>
            </p:cNvPr>
            <p:cNvSpPr/>
            <p:nvPr/>
          </p:nvSpPr>
          <p:spPr>
            <a:xfrm>
              <a:off x="5862145" y="5211431"/>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30" name="Rectangle 129">
              <a:extLst>
                <a:ext uri="{FF2B5EF4-FFF2-40B4-BE49-F238E27FC236}">
                  <a16:creationId xmlns:a16="http://schemas.microsoft.com/office/drawing/2014/main" id="{B71C02E3-C811-0CF4-A8A8-0128D355E2E3}"/>
                </a:ext>
              </a:extLst>
            </p:cNvPr>
            <p:cNvSpPr/>
            <p:nvPr/>
          </p:nvSpPr>
          <p:spPr>
            <a:xfrm>
              <a:off x="5237093" y="5620455"/>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31" name="Rectangle 130">
              <a:extLst>
                <a:ext uri="{FF2B5EF4-FFF2-40B4-BE49-F238E27FC236}">
                  <a16:creationId xmlns:a16="http://schemas.microsoft.com/office/drawing/2014/main" id="{446D7D5E-544B-8B15-68D6-C1C7E8B16B1F}"/>
                </a:ext>
              </a:extLst>
            </p:cNvPr>
            <p:cNvSpPr/>
            <p:nvPr/>
          </p:nvSpPr>
          <p:spPr>
            <a:xfrm>
              <a:off x="6452646" y="4791042"/>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32" name="Rectangle 131">
              <a:extLst>
                <a:ext uri="{FF2B5EF4-FFF2-40B4-BE49-F238E27FC236}">
                  <a16:creationId xmlns:a16="http://schemas.microsoft.com/office/drawing/2014/main" id="{342044A8-C7B6-596C-3379-8FA2643224D0}"/>
                </a:ext>
              </a:extLst>
            </p:cNvPr>
            <p:cNvSpPr/>
            <p:nvPr/>
          </p:nvSpPr>
          <p:spPr>
            <a:xfrm>
              <a:off x="6769327" y="5276776"/>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33" name="Rectangle 132">
              <a:extLst>
                <a:ext uri="{FF2B5EF4-FFF2-40B4-BE49-F238E27FC236}">
                  <a16:creationId xmlns:a16="http://schemas.microsoft.com/office/drawing/2014/main" id="{045801C7-45E7-5E3C-765C-B19B05C5F393}"/>
                </a:ext>
              </a:extLst>
            </p:cNvPr>
            <p:cNvSpPr/>
            <p:nvPr/>
          </p:nvSpPr>
          <p:spPr>
            <a:xfrm>
              <a:off x="5857959" y="5954806"/>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34" name="Rectangle 133">
              <a:extLst>
                <a:ext uri="{FF2B5EF4-FFF2-40B4-BE49-F238E27FC236}">
                  <a16:creationId xmlns:a16="http://schemas.microsoft.com/office/drawing/2014/main" id="{3A20F1F8-0671-EBF8-40AD-A4889C25A81E}"/>
                </a:ext>
              </a:extLst>
            </p:cNvPr>
            <p:cNvSpPr/>
            <p:nvPr/>
          </p:nvSpPr>
          <p:spPr>
            <a:xfrm>
              <a:off x="6432029" y="4194085"/>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pic>
        <p:nvPicPr>
          <p:cNvPr id="157" name="Image 156">
            <a:extLst>
              <a:ext uri="{FF2B5EF4-FFF2-40B4-BE49-F238E27FC236}">
                <a16:creationId xmlns:a16="http://schemas.microsoft.com/office/drawing/2014/main" id="{D6A9BDFA-895E-D23C-E3B1-F62F83370B7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045253" y="1725309"/>
            <a:ext cx="1103082" cy="608397"/>
          </a:xfrm>
          <a:prstGeom prst="rect">
            <a:avLst/>
          </a:prstGeom>
        </p:spPr>
      </p:pic>
      <p:sp>
        <p:nvSpPr>
          <p:cNvPr id="166" name="Rectangle 165">
            <a:extLst>
              <a:ext uri="{FF2B5EF4-FFF2-40B4-BE49-F238E27FC236}">
                <a16:creationId xmlns:a16="http://schemas.microsoft.com/office/drawing/2014/main" id="{D5C40DDB-8739-4C48-1653-D3CD4382D73E}"/>
              </a:ext>
            </a:extLst>
          </p:cNvPr>
          <p:cNvSpPr/>
          <p:nvPr/>
        </p:nvSpPr>
        <p:spPr>
          <a:xfrm>
            <a:off x="2163072" y="2515598"/>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W2 Topics Mapping</a:t>
            </a:r>
          </a:p>
        </p:txBody>
      </p:sp>
      <p:sp>
        <p:nvSpPr>
          <p:cNvPr id="167" name="Rectangle 166">
            <a:extLst>
              <a:ext uri="{FF2B5EF4-FFF2-40B4-BE49-F238E27FC236}">
                <a16:creationId xmlns:a16="http://schemas.microsoft.com/office/drawing/2014/main" id="{F50E9E52-3B10-A060-1A86-422B5905987C}"/>
              </a:ext>
            </a:extLst>
          </p:cNvPr>
          <p:cNvSpPr/>
          <p:nvPr/>
        </p:nvSpPr>
        <p:spPr>
          <a:xfrm>
            <a:off x="3811538" y="2515598"/>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W1 sur l’investissement en temps</a:t>
            </a:r>
          </a:p>
        </p:txBody>
      </p:sp>
      <p:grpSp>
        <p:nvGrpSpPr>
          <p:cNvPr id="168" name="Groupe 167">
            <a:extLst>
              <a:ext uri="{FF2B5EF4-FFF2-40B4-BE49-F238E27FC236}">
                <a16:creationId xmlns:a16="http://schemas.microsoft.com/office/drawing/2014/main" id="{7EEFB5B7-A762-66AB-D61D-1C90728C4314}"/>
              </a:ext>
            </a:extLst>
          </p:cNvPr>
          <p:cNvGrpSpPr/>
          <p:nvPr/>
        </p:nvGrpSpPr>
        <p:grpSpPr>
          <a:xfrm>
            <a:off x="5415214" y="1656941"/>
            <a:ext cx="1583556" cy="741212"/>
            <a:chOff x="463550" y="1420160"/>
            <a:chExt cx="11264900" cy="5272740"/>
          </a:xfrm>
        </p:grpSpPr>
        <p:sp>
          <p:nvSpPr>
            <p:cNvPr id="169" name="Trapèze 168">
              <a:extLst>
                <a:ext uri="{FF2B5EF4-FFF2-40B4-BE49-F238E27FC236}">
                  <a16:creationId xmlns:a16="http://schemas.microsoft.com/office/drawing/2014/main" id="{D8930B89-C625-842A-31E5-F5EB34D0AE0C}"/>
                </a:ext>
              </a:extLst>
            </p:cNvPr>
            <p:cNvSpPr/>
            <p:nvPr/>
          </p:nvSpPr>
          <p:spPr>
            <a:xfrm>
              <a:off x="463550" y="5080000"/>
              <a:ext cx="11264900" cy="1612900"/>
            </a:xfrm>
            <a:prstGeom prst="trapezoid">
              <a:avLst>
                <a:gd name="adj" fmla="val 6358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 b="1" dirty="0">
                  <a:solidFill>
                    <a:schemeClr val="tx1"/>
                  </a:solidFill>
                </a:rPr>
                <a:t>CAUSE</a:t>
              </a:r>
            </a:p>
          </p:txBody>
        </p:sp>
        <p:sp>
          <p:nvSpPr>
            <p:cNvPr id="170" name="Triangle isocèle 169">
              <a:extLst>
                <a:ext uri="{FF2B5EF4-FFF2-40B4-BE49-F238E27FC236}">
                  <a16:creationId xmlns:a16="http://schemas.microsoft.com/office/drawing/2014/main" id="{E61E3B02-B651-FA52-1EEA-0C2F04427361}"/>
                </a:ext>
              </a:extLst>
            </p:cNvPr>
            <p:cNvSpPr/>
            <p:nvPr/>
          </p:nvSpPr>
          <p:spPr>
            <a:xfrm>
              <a:off x="2800350" y="1420160"/>
              <a:ext cx="6553200" cy="1529080"/>
            </a:xfrm>
            <a:prstGeom prst="triangle">
              <a:avLst>
                <a:gd name="adj" fmla="val 5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 dirty="0">
                  <a:solidFill>
                    <a:schemeClr val="tx1"/>
                  </a:solidFill>
                </a:rPr>
                <a:t>GREAT GOAL</a:t>
              </a:r>
            </a:p>
            <a:p>
              <a:pPr algn="ctr"/>
              <a:endParaRPr lang="en-US" sz="400" dirty="0">
                <a:solidFill>
                  <a:schemeClr val="tx1"/>
                </a:solidFill>
              </a:endParaRPr>
            </a:p>
          </p:txBody>
        </p:sp>
        <p:grpSp>
          <p:nvGrpSpPr>
            <p:cNvPr id="171" name="Groupe 170">
              <a:extLst>
                <a:ext uri="{FF2B5EF4-FFF2-40B4-BE49-F238E27FC236}">
                  <a16:creationId xmlns:a16="http://schemas.microsoft.com/office/drawing/2014/main" id="{FECA926C-8793-FE0D-C412-6503DEFA6FC5}"/>
                </a:ext>
              </a:extLst>
            </p:cNvPr>
            <p:cNvGrpSpPr/>
            <p:nvPr/>
          </p:nvGrpSpPr>
          <p:grpSpPr>
            <a:xfrm>
              <a:off x="1527175" y="3040767"/>
              <a:ext cx="9137650" cy="1969383"/>
              <a:chOff x="1644650" y="3040767"/>
              <a:chExt cx="9137650" cy="1907219"/>
            </a:xfrm>
          </p:grpSpPr>
          <p:sp>
            <p:nvSpPr>
              <p:cNvPr id="174" name="Trapèze 173">
                <a:extLst>
                  <a:ext uri="{FF2B5EF4-FFF2-40B4-BE49-F238E27FC236}">
                    <a16:creationId xmlns:a16="http://schemas.microsoft.com/office/drawing/2014/main" id="{8477A604-E4BE-B180-5FBB-FAD46A04DE89}"/>
                  </a:ext>
                </a:extLst>
              </p:cNvPr>
              <p:cNvSpPr/>
              <p:nvPr/>
            </p:nvSpPr>
            <p:spPr>
              <a:xfrm>
                <a:off x="1644650"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BAD MEMORIES</a:t>
                </a:r>
                <a:endParaRPr lang="en-US" sz="100" dirty="0">
                  <a:solidFill>
                    <a:schemeClr val="tx1"/>
                  </a:solidFill>
                </a:endParaRPr>
              </a:p>
            </p:txBody>
          </p:sp>
          <p:sp>
            <p:nvSpPr>
              <p:cNvPr id="175" name="Trapèze 174">
                <a:extLst>
                  <a:ext uri="{FF2B5EF4-FFF2-40B4-BE49-F238E27FC236}">
                    <a16:creationId xmlns:a16="http://schemas.microsoft.com/office/drawing/2014/main" id="{9FC0279A-C473-4426-6591-E5A4ED1E04AD}"/>
                  </a:ext>
                </a:extLst>
              </p:cNvPr>
              <p:cNvSpPr/>
              <p:nvPr/>
            </p:nvSpPr>
            <p:spPr>
              <a:xfrm>
                <a:off x="2314030"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WRONG STORIES</a:t>
                </a:r>
              </a:p>
            </p:txBody>
          </p:sp>
          <p:sp>
            <p:nvSpPr>
              <p:cNvPr id="176" name="Trapèze 175">
                <a:extLst>
                  <a:ext uri="{FF2B5EF4-FFF2-40B4-BE49-F238E27FC236}">
                    <a16:creationId xmlns:a16="http://schemas.microsoft.com/office/drawing/2014/main" id="{2930BA63-36A5-107B-A456-84A75F0BD111}"/>
                  </a:ext>
                </a:extLst>
              </p:cNvPr>
              <p:cNvSpPr/>
              <p:nvPr/>
            </p:nvSpPr>
            <p:spPr>
              <a:xfrm>
                <a:off x="6261747"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GOOD MEMORIES</a:t>
                </a:r>
                <a:endParaRPr lang="en-US" sz="100" dirty="0">
                  <a:solidFill>
                    <a:schemeClr val="tx1"/>
                  </a:solidFill>
                </a:endParaRPr>
              </a:p>
            </p:txBody>
          </p:sp>
          <p:sp>
            <p:nvSpPr>
              <p:cNvPr id="177" name="Trapèze 176">
                <a:extLst>
                  <a:ext uri="{FF2B5EF4-FFF2-40B4-BE49-F238E27FC236}">
                    <a16:creationId xmlns:a16="http://schemas.microsoft.com/office/drawing/2014/main" id="{9DDDAB64-C780-A6C2-5A5E-9326DDCC4754}"/>
                  </a:ext>
                </a:extLst>
              </p:cNvPr>
              <p:cNvSpPr/>
              <p:nvPr/>
            </p:nvSpPr>
            <p:spPr>
              <a:xfrm>
                <a:off x="6927306"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IDEAL STORIES</a:t>
                </a:r>
              </a:p>
            </p:txBody>
          </p:sp>
        </p:grpSp>
        <p:sp>
          <p:nvSpPr>
            <p:cNvPr id="172" name="Triangle isocèle 171">
              <a:extLst>
                <a:ext uri="{FF2B5EF4-FFF2-40B4-BE49-F238E27FC236}">
                  <a16:creationId xmlns:a16="http://schemas.microsoft.com/office/drawing/2014/main" id="{58CFBEE2-C775-6E6C-B8CA-21884E56245B}"/>
                </a:ext>
              </a:extLst>
            </p:cNvPr>
            <p:cNvSpPr/>
            <p:nvPr/>
          </p:nvSpPr>
          <p:spPr>
            <a:xfrm rot="10800000">
              <a:off x="4952497" y="3040768"/>
              <a:ext cx="2287008" cy="1795683"/>
            </a:xfrm>
            <a:prstGeom prst="triangl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173" name="ZoneTexte 172">
              <a:extLst>
                <a:ext uri="{FF2B5EF4-FFF2-40B4-BE49-F238E27FC236}">
                  <a16:creationId xmlns:a16="http://schemas.microsoft.com/office/drawing/2014/main" id="{4076D561-B1AE-ABE9-9A44-52701D00C72D}"/>
                </a:ext>
              </a:extLst>
            </p:cNvPr>
            <p:cNvSpPr txBox="1"/>
            <p:nvPr/>
          </p:nvSpPr>
          <p:spPr>
            <a:xfrm>
              <a:off x="4952498" y="3044169"/>
              <a:ext cx="2287010" cy="875771"/>
            </a:xfrm>
            <a:prstGeom prst="rect">
              <a:avLst/>
            </a:prstGeom>
            <a:noFill/>
          </p:spPr>
          <p:txBody>
            <a:bodyPr wrap="square">
              <a:spAutoFit/>
            </a:bodyPr>
            <a:lstStyle/>
            <a:p>
              <a:pPr algn="ctr"/>
              <a:r>
                <a:rPr lang="en-US" sz="200" b="1" dirty="0"/>
                <a:t>CONDITIONS</a:t>
              </a:r>
            </a:p>
          </p:txBody>
        </p:sp>
      </p:grpSp>
      <p:sp>
        <p:nvSpPr>
          <p:cNvPr id="178" name="Rectangle 177">
            <a:extLst>
              <a:ext uri="{FF2B5EF4-FFF2-40B4-BE49-F238E27FC236}">
                <a16:creationId xmlns:a16="http://schemas.microsoft.com/office/drawing/2014/main" id="{AC17DAAD-854A-1104-69CD-5E0A67FDDBE5}"/>
              </a:ext>
            </a:extLst>
          </p:cNvPr>
          <p:cNvSpPr/>
          <p:nvPr/>
        </p:nvSpPr>
        <p:spPr>
          <a:xfrm>
            <a:off x="5443950" y="2515598"/>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sur la raison d’être</a:t>
            </a:r>
          </a:p>
          <a:p>
            <a:pPr algn="ctr"/>
            <a:r>
              <a:rPr lang="fr-FR" sz="1200" dirty="0">
                <a:solidFill>
                  <a:schemeClr val="tx1"/>
                </a:solidFill>
              </a:rPr>
              <a:t>Pyramide la raison d’être</a:t>
            </a:r>
          </a:p>
        </p:txBody>
      </p:sp>
      <p:sp>
        <p:nvSpPr>
          <p:cNvPr id="264" name="Rectangle 263">
            <a:extLst>
              <a:ext uri="{FF2B5EF4-FFF2-40B4-BE49-F238E27FC236}">
                <a16:creationId xmlns:a16="http://schemas.microsoft.com/office/drawing/2014/main" id="{127DF91B-4DE1-5114-1B77-2D1588408A84}"/>
              </a:ext>
            </a:extLst>
          </p:cNvPr>
          <p:cNvSpPr/>
          <p:nvPr/>
        </p:nvSpPr>
        <p:spPr>
          <a:xfrm>
            <a:off x="8764209" y="2515598"/>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Etude des présences, absences, retards, arguments de refus, …</a:t>
            </a:r>
          </a:p>
        </p:txBody>
      </p:sp>
      <p:sp>
        <p:nvSpPr>
          <p:cNvPr id="265" name="Rectangle 264">
            <a:extLst>
              <a:ext uri="{FF2B5EF4-FFF2-40B4-BE49-F238E27FC236}">
                <a16:creationId xmlns:a16="http://schemas.microsoft.com/office/drawing/2014/main" id="{1EBECD80-54CA-93F7-BED0-A236B890C4BF}"/>
              </a:ext>
            </a:extLst>
          </p:cNvPr>
          <p:cNvSpPr/>
          <p:nvPr/>
        </p:nvSpPr>
        <p:spPr>
          <a:xfrm>
            <a:off x="490316" y="2515598"/>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Phase de feedback pendant les événements</a:t>
            </a:r>
          </a:p>
        </p:txBody>
      </p:sp>
      <p:sp>
        <p:nvSpPr>
          <p:cNvPr id="266" name="Rectangle 265">
            <a:extLst>
              <a:ext uri="{FF2B5EF4-FFF2-40B4-BE49-F238E27FC236}">
                <a16:creationId xmlns:a16="http://schemas.microsoft.com/office/drawing/2014/main" id="{56F18D18-EBB7-FF0A-7C6F-F4D559BB492C}"/>
              </a:ext>
            </a:extLst>
          </p:cNvPr>
          <p:cNvSpPr/>
          <p:nvPr/>
        </p:nvSpPr>
        <p:spPr>
          <a:xfrm>
            <a:off x="7093866" y="2515598"/>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Système de notation et de  commentaires de contenus</a:t>
            </a:r>
          </a:p>
        </p:txBody>
      </p:sp>
      <p:pic>
        <p:nvPicPr>
          <p:cNvPr id="137" name="Graphique 136" descr="Évaluation 1 étoile avec un remplissage uni">
            <a:extLst>
              <a:ext uri="{FF2B5EF4-FFF2-40B4-BE49-F238E27FC236}">
                <a16:creationId xmlns:a16="http://schemas.microsoft.com/office/drawing/2014/main" id="{D3DDE8F2-731F-6698-A203-41B58A974FA4}"/>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403762" y="1696993"/>
            <a:ext cx="914400" cy="914400"/>
          </a:xfrm>
          <a:prstGeom prst="rect">
            <a:avLst/>
          </a:prstGeom>
        </p:spPr>
      </p:pic>
      <p:grpSp>
        <p:nvGrpSpPr>
          <p:cNvPr id="267" name="Groupe 266">
            <a:extLst>
              <a:ext uri="{FF2B5EF4-FFF2-40B4-BE49-F238E27FC236}">
                <a16:creationId xmlns:a16="http://schemas.microsoft.com/office/drawing/2014/main" id="{64E78809-1DC6-314B-A152-8AFB02DB62C7}"/>
              </a:ext>
            </a:extLst>
          </p:cNvPr>
          <p:cNvGrpSpPr/>
          <p:nvPr/>
        </p:nvGrpSpPr>
        <p:grpSpPr>
          <a:xfrm>
            <a:off x="962554" y="1933475"/>
            <a:ext cx="779586" cy="458947"/>
            <a:chOff x="2626246" y="3261367"/>
            <a:chExt cx="2809874" cy="1654184"/>
          </a:xfrm>
        </p:grpSpPr>
        <p:pic>
          <p:nvPicPr>
            <p:cNvPr id="268" name="Graphique 267" descr="Signe pouce en haut avec un remplissage uni">
              <a:extLst>
                <a:ext uri="{FF2B5EF4-FFF2-40B4-BE49-F238E27FC236}">
                  <a16:creationId xmlns:a16="http://schemas.microsoft.com/office/drawing/2014/main" id="{9216B02B-B4C4-B8B7-F589-C5C4D640A77E}"/>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839034" y="3261367"/>
              <a:ext cx="470653" cy="470653"/>
            </a:xfrm>
            <a:prstGeom prst="rect">
              <a:avLst/>
            </a:prstGeom>
          </p:spPr>
        </p:pic>
        <p:pic>
          <p:nvPicPr>
            <p:cNvPr id="269" name="Graphique 268" descr="Pouce en bas avec un remplissage uni">
              <a:extLst>
                <a:ext uri="{FF2B5EF4-FFF2-40B4-BE49-F238E27FC236}">
                  <a16:creationId xmlns:a16="http://schemas.microsoft.com/office/drawing/2014/main" id="{D6B49BEA-1180-56F9-1413-03C039970B40}"/>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3787316" y="3319278"/>
              <a:ext cx="508752" cy="508752"/>
            </a:xfrm>
            <a:prstGeom prst="rect">
              <a:avLst/>
            </a:prstGeom>
          </p:spPr>
        </p:pic>
        <p:sp>
          <p:nvSpPr>
            <p:cNvPr id="270" name="Rectangle 269">
              <a:extLst>
                <a:ext uri="{FF2B5EF4-FFF2-40B4-BE49-F238E27FC236}">
                  <a16:creationId xmlns:a16="http://schemas.microsoft.com/office/drawing/2014/main" id="{10DEF797-E50F-D574-189E-FDF1C7BEAC8F}"/>
                </a:ext>
              </a:extLst>
            </p:cNvPr>
            <p:cNvSpPr/>
            <p:nvPr/>
          </p:nvSpPr>
          <p:spPr>
            <a:xfrm>
              <a:off x="262624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 name="Rectangle 270">
              <a:extLst>
                <a:ext uri="{FF2B5EF4-FFF2-40B4-BE49-F238E27FC236}">
                  <a16:creationId xmlns:a16="http://schemas.microsoft.com/office/drawing/2014/main" id="{C7F720A7-1C89-CD3D-FD36-44B77C06D52A}"/>
                </a:ext>
              </a:extLst>
            </p:cNvPr>
            <p:cNvSpPr/>
            <p:nvPr/>
          </p:nvSpPr>
          <p:spPr>
            <a:xfrm>
              <a:off x="3583068"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2" name="Rectangle 271">
              <a:extLst>
                <a:ext uri="{FF2B5EF4-FFF2-40B4-BE49-F238E27FC236}">
                  <a16:creationId xmlns:a16="http://schemas.microsoft.com/office/drawing/2014/main" id="{61651580-D22A-B92F-FA55-587C0C952FEE}"/>
                </a:ext>
              </a:extLst>
            </p:cNvPr>
            <p:cNvSpPr/>
            <p:nvPr/>
          </p:nvSpPr>
          <p:spPr>
            <a:xfrm>
              <a:off x="4539889"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74" name="Graphique 273" descr="Aide avec un remplissage uni">
              <a:extLst>
                <a:ext uri="{FF2B5EF4-FFF2-40B4-BE49-F238E27FC236}">
                  <a16:creationId xmlns:a16="http://schemas.microsoft.com/office/drawing/2014/main" id="{134644B2-0E82-33B1-964D-D353653DA519}"/>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4793476" y="3319278"/>
              <a:ext cx="471018" cy="471018"/>
            </a:xfrm>
            <a:prstGeom prst="rect">
              <a:avLst/>
            </a:prstGeom>
          </p:spPr>
        </p:pic>
        <p:sp>
          <p:nvSpPr>
            <p:cNvPr id="276" name="Rectangle 275">
              <a:extLst>
                <a:ext uri="{FF2B5EF4-FFF2-40B4-BE49-F238E27FC236}">
                  <a16:creationId xmlns:a16="http://schemas.microsoft.com/office/drawing/2014/main" id="{22A26B13-133F-7D27-138E-6D2E8367F825}"/>
                </a:ext>
              </a:extLst>
            </p:cNvPr>
            <p:cNvSpPr/>
            <p:nvPr/>
          </p:nvSpPr>
          <p:spPr>
            <a:xfrm>
              <a:off x="2682556"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77" name="Rectangle 276">
              <a:extLst>
                <a:ext uri="{FF2B5EF4-FFF2-40B4-BE49-F238E27FC236}">
                  <a16:creationId xmlns:a16="http://schemas.microsoft.com/office/drawing/2014/main" id="{737ECE5B-4E4E-12A2-440E-1058F293EF42}"/>
                </a:ext>
              </a:extLst>
            </p:cNvPr>
            <p:cNvSpPr/>
            <p:nvPr/>
          </p:nvSpPr>
          <p:spPr>
            <a:xfrm>
              <a:off x="2991651"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78" name="Rectangle 277">
              <a:extLst>
                <a:ext uri="{FF2B5EF4-FFF2-40B4-BE49-F238E27FC236}">
                  <a16:creationId xmlns:a16="http://schemas.microsoft.com/office/drawing/2014/main" id="{3F950AA2-07EC-7D74-C179-A73C0F98BB12}"/>
                </a:ext>
              </a:extLst>
            </p:cNvPr>
            <p:cNvSpPr/>
            <p:nvPr/>
          </p:nvSpPr>
          <p:spPr>
            <a:xfrm>
              <a:off x="2912610" y="4148465"/>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79" name="Rectangle 278">
              <a:extLst>
                <a:ext uri="{FF2B5EF4-FFF2-40B4-BE49-F238E27FC236}">
                  <a16:creationId xmlns:a16="http://schemas.microsoft.com/office/drawing/2014/main" id="{AA73F657-3E15-0EE6-06C4-280722287D13}"/>
                </a:ext>
              </a:extLst>
            </p:cNvPr>
            <p:cNvSpPr/>
            <p:nvPr/>
          </p:nvSpPr>
          <p:spPr>
            <a:xfrm>
              <a:off x="3680364" y="3871561"/>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80" name="Rectangle 279">
              <a:extLst>
                <a:ext uri="{FF2B5EF4-FFF2-40B4-BE49-F238E27FC236}">
                  <a16:creationId xmlns:a16="http://schemas.microsoft.com/office/drawing/2014/main" id="{825C75BE-42A2-18FD-BFEC-84E1745C63C9}"/>
                </a:ext>
              </a:extLst>
            </p:cNvPr>
            <p:cNvSpPr/>
            <p:nvPr/>
          </p:nvSpPr>
          <p:spPr>
            <a:xfrm>
              <a:off x="4016069" y="398672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81" name="Rectangle 280">
              <a:extLst>
                <a:ext uri="{FF2B5EF4-FFF2-40B4-BE49-F238E27FC236}">
                  <a16:creationId xmlns:a16="http://schemas.microsoft.com/office/drawing/2014/main" id="{4690F486-4F26-1A81-3C3A-AD0C2CC8023F}"/>
                </a:ext>
              </a:extLst>
            </p:cNvPr>
            <p:cNvSpPr/>
            <p:nvPr/>
          </p:nvSpPr>
          <p:spPr>
            <a:xfrm>
              <a:off x="3698403" y="4181149"/>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82" name="Rectangle 281">
              <a:extLst>
                <a:ext uri="{FF2B5EF4-FFF2-40B4-BE49-F238E27FC236}">
                  <a16:creationId xmlns:a16="http://schemas.microsoft.com/office/drawing/2014/main" id="{9D486167-9BD9-0F19-AB02-F04F0FC14BB3}"/>
                </a:ext>
              </a:extLst>
            </p:cNvPr>
            <p:cNvSpPr/>
            <p:nvPr/>
          </p:nvSpPr>
          <p:spPr>
            <a:xfrm>
              <a:off x="4604347" y="3858182"/>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83" name="Rectangle 282">
              <a:extLst>
                <a:ext uri="{FF2B5EF4-FFF2-40B4-BE49-F238E27FC236}">
                  <a16:creationId xmlns:a16="http://schemas.microsoft.com/office/drawing/2014/main" id="{CB27FDDD-C9EB-9F8B-099D-081E84DE8598}"/>
                </a:ext>
              </a:extLst>
            </p:cNvPr>
            <p:cNvSpPr/>
            <p:nvPr/>
          </p:nvSpPr>
          <p:spPr>
            <a:xfrm>
              <a:off x="4928163" y="384379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84" name="Rectangle 283">
              <a:extLst>
                <a:ext uri="{FF2B5EF4-FFF2-40B4-BE49-F238E27FC236}">
                  <a16:creationId xmlns:a16="http://schemas.microsoft.com/office/drawing/2014/main" id="{01EEB870-F5BA-E449-C5B3-9C5AE8DA7CC8}"/>
                </a:ext>
              </a:extLst>
            </p:cNvPr>
            <p:cNvSpPr/>
            <p:nvPr/>
          </p:nvSpPr>
          <p:spPr>
            <a:xfrm>
              <a:off x="4844841" y="4195507"/>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grpSp>
      <p:sp>
        <p:nvSpPr>
          <p:cNvPr id="312" name="Rectangle 311">
            <a:extLst>
              <a:ext uri="{FF2B5EF4-FFF2-40B4-BE49-F238E27FC236}">
                <a16:creationId xmlns:a16="http://schemas.microsoft.com/office/drawing/2014/main" id="{0596AA44-F803-C9AF-3EC0-DF35A0279A7D}"/>
              </a:ext>
            </a:extLst>
          </p:cNvPr>
          <p:cNvSpPr/>
          <p:nvPr/>
        </p:nvSpPr>
        <p:spPr>
          <a:xfrm>
            <a:off x="10436642" y="3247852"/>
            <a:ext cx="1339649" cy="83753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Permet de poser et d’exprimer les motivations en même temps que les différents niveaux d’intention. Exploitable directement.</a:t>
            </a:r>
          </a:p>
        </p:txBody>
      </p:sp>
      <p:sp>
        <p:nvSpPr>
          <p:cNvPr id="313" name="Rectangle 312">
            <a:extLst>
              <a:ext uri="{FF2B5EF4-FFF2-40B4-BE49-F238E27FC236}">
                <a16:creationId xmlns:a16="http://schemas.microsoft.com/office/drawing/2014/main" id="{F08808AB-92BE-06F5-C77E-483A53386746}"/>
              </a:ext>
            </a:extLst>
          </p:cNvPr>
          <p:cNvSpPr/>
          <p:nvPr/>
        </p:nvSpPr>
        <p:spPr>
          <a:xfrm>
            <a:off x="2168833" y="3247852"/>
            <a:ext cx="1492148" cy="83753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Permet d’identifier plusieurs dimensions (intérêt, maîtrise, valeur) et des sujets, résultat exploitable directement pour la feuille de route.</a:t>
            </a:r>
          </a:p>
        </p:txBody>
      </p:sp>
      <p:sp>
        <p:nvSpPr>
          <p:cNvPr id="314" name="Rectangle 313">
            <a:extLst>
              <a:ext uri="{FF2B5EF4-FFF2-40B4-BE49-F238E27FC236}">
                <a16:creationId xmlns:a16="http://schemas.microsoft.com/office/drawing/2014/main" id="{E4A425D4-818A-8E4F-1EFF-6B9591267643}"/>
              </a:ext>
            </a:extLst>
          </p:cNvPr>
          <p:cNvSpPr/>
          <p:nvPr/>
        </p:nvSpPr>
        <p:spPr>
          <a:xfrm>
            <a:off x="3817299" y="3247852"/>
            <a:ext cx="1492148" cy="83753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Permet d’identifier les préférences d’investissement de temps, exploitable directement pour choisir le type d’activités.</a:t>
            </a:r>
          </a:p>
        </p:txBody>
      </p:sp>
      <p:sp>
        <p:nvSpPr>
          <p:cNvPr id="315" name="Rectangle 314">
            <a:extLst>
              <a:ext uri="{FF2B5EF4-FFF2-40B4-BE49-F238E27FC236}">
                <a16:creationId xmlns:a16="http://schemas.microsoft.com/office/drawing/2014/main" id="{B058043F-0690-C406-DBD0-960FB7F52111}"/>
              </a:ext>
            </a:extLst>
          </p:cNvPr>
          <p:cNvSpPr/>
          <p:nvPr/>
        </p:nvSpPr>
        <p:spPr>
          <a:xfrm>
            <a:off x="5449711" y="3247852"/>
            <a:ext cx="1492148" cy="83753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Approche par le storytelling (réel ou fictif) plus facile pour les participants, permet de récupérer l’information sur les motivations et la valeur</a:t>
            </a:r>
          </a:p>
        </p:txBody>
      </p:sp>
      <p:sp>
        <p:nvSpPr>
          <p:cNvPr id="316" name="Rectangle 315">
            <a:extLst>
              <a:ext uri="{FF2B5EF4-FFF2-40B4-BE49-F238E27FC236}">
                <a16:creationId xmlns:a16="http://schemas.microsoft.com/office/drawing/2014/main" id="{B2AED2C5-7766-D940-6821-87AA8E24EDE6}"/>
              </a:ext>
            </a:extLst>
          </p:cNvPr>
          <p:cNvSpPr/>
          <p:nvPr/>
        </p:nvSpPr>
        <p:spPr>
          <a:xfrm>
            <a:off x="8769970" y="3247852"/>
            <a:ext cx="1492148" cy="83753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Informations très concrètes. Résultat exploitable directement pour calibrer les événements</a:t>
            </a:r>
          </a:p>
        </p:txBody>
      </p:sp>
      <p:sp>
        <p:nvSpPr>
          <p:cNvPr id="317" name="Rectangle 316">
            <a:extLst>
              <a:ext uri="{FF2B5EF4-FFF2-40B4-BE49-F238E27FC236}">
                <a16:creationId xmlns:a16="http://schemas.microsoft.com/office/drawing/2014/main" id="{932C871D-EAE8-4C23-4F85-AF4693395E83}"/>
              </a:ext>
            </a:extLst>
          </p:cNvPr>
          <p:cNvSpPr/>
          <p:nvPr/>
        </p:nvSpPr>
        <p:spPr>
          <a:xfrm>
            <a:off x="496077" y="3247852"/>
            <a:ext cx="1492148" cy="83753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Pas de sollicitation supplémentaire des membres. Permet de constater des améliorations en cas de mesure systématique</a:t>
            </a:r>
          </a:p>
        </p:txBody>
      </p:sp>
      <p:sp>
        <p:nvSpPr>
          <p:cNvPr id="318" name="Rectangle 317">
            <a:extLst>
              <a:ext uri="{FF2B5EF4-FFF2-40B4-BE49-F238E27FC236}">
                <a16:creationId xmlns:a16="http://schemas.microsoft.com/office/drawing/2014/main" id="{4E2E61AF-D851-3F88-1D5F-5CDAE3E822A5}"/>
              </a:ext>
            </a:extLst>
          </p:cNvPr>
          <p:cNvSpPr/>
          <p:nvPr/>
        </p:nvSpPr>
        <p:spPr>
          <a:xfrm>
            <a:off x="7099627" y="3247852"/>
            <a:ext cx="1492148" cy="83753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Donne de l’information directement liée à chaque contenu, capitalise facilement l’information</a:t>
            </a:r>
          </a:p>
        </p:txBody>
      </p:sp>
      <p:sp>
        <p:nvSpPr>
          <p:cNvPr id="320" name="Rectangle 319">
            <a:extLst>
              <a:ext uri="{FF2B5EF4-FFF2-40B4-BE49-F238E27FC236}">
                <a16:creationId xmlns:a16="http://schemas.microsoft.com/office/drawing/2014/main" id="{4C53BEA7-673E-7F90-63D8-7099802D8B82}"/>
              </a:ext>
            </a:extLst>
          </p:cNvPr>
          <p:cNvSpPr/>
          <p:nvPr/>
        </p:nvSpPr>
        <p:spPr>
          <a:xfrm>
            <a:off x="10436642" y="4130931"/>
            <a:ext cx="1339649" cy="837539"/>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S’exprimer en termes de valeur pour les membres est plutôt inhabituel (par rapport à décrire l’activité)</a:t>
            </a:r>
          </a:p>
        </p:txBody>
      </p:sp>
      <p:sp>
        <p:nvSpPr>
          <p:cNvPr id="321" name="Rectangle 320">
            <a:extLst>
              <a:ext uri="{FF2B5EF4-FFF2-40B4-BE49-F238E27FC236}">
                <a16:creationId xmlns:a16="http://schemas.microsoft.com/office/drawing/2014/main" id="{B6771078-4237-67D2-0232-F9966C1F7D13}"/>
              </a:ext>
            </a:extLst>
          </p:cNvPr>
          <p:cNvSpPr/>
          <p:nvPr/>
        </p:nvSpPr>
        <p:spPr>
          <a:xfrm>
            <a:off x="2168833" y="4130931"/>
            <a:ext cx="1492148" cy="837539"/>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La liste de sujets votés doit être suffisamment claire et homogènes pour que les votes aient une valeur.</a:t>
            </a:r>
          </a:p>
        </p:txBody>
      </p:sp>
      <p:sp>
        <p:nvSpPr>
          <p:cNvPr id="322" name="Rectangle 321">
            <a:extLst>
              <a:ext uri="{FF2B5EF4-FFF2-40B4-BE49-F238E27FC236}">
                <a16:creationId xmlns:a16="http://schemas.microsoft.com/office/drawing/2014/main" id="{0BB005D3-388F-FB35-EDD7-6B49ED959D15}"/>
              </a:ext>
            </a:extLst>
          </p:cNvPr>
          <p:cNvSpPr/>
          <p:nvPr/>
        </p:nvSpPr>
        <p:spPr>
          <a:xfrm>
            <a:off x="3817299" y="4130931"/>
            <a:ext cx="1492148" cy="837539"/>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Parfois peu de connaissance en amont de la forme d’investissement de temps qui serait stable, risque de pensée de groupe.</a:t>
            </a:r>
          </a:p>
        </p:txBody>
      </p:sp>
      <p:sp>
        <p:nvSpPr>
          <p:cNvPr id="323" name="Rectangle 322">
            <a:extLst>
              <a:ext uri="{FF2B5EF4-FFF2-40B4-BE49-F238E27FC236}">
                <a16:creationId xmlns:a16="http://schemas.microsoft.com/office/drawing/2014/main" id="{E93305E2-9C8E-52AE-F9B9-A8B6083B964C}"/>
              </a:ext>
            </a:extLst>
          </p:cNvPr>
          <p:cNvSpPr/>
          <p:nvPr/>
        </p:nvSpPr>
        <p:spPr>
          <a:xfrm>
            <a:off x="5449711" y="4130931"/>
            <a:ext cx="1492148" cy="837539"/>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Risque de pensée de groupe, résultat plus difficile à exploiter opérationnellement. </a:t>
            </a:r>
          </a:p>
        </p:txBody>
      </p:sp>
      <p:sp>
        <p:nvSpPr>
          <p:cNvPr id="324" name="Rectangle 323">
            <a:extLst>
              <a:ext uri="{FF2B5EF4-FFF2-40B4-BE49-F238E27FC236}">
                <a16:creationId xmlns:a16="http://schemas.microsoft.com/office/drawing/2014/main" id="{2C6623A5-BF47-7CCC-64D5-E67084DDA987}"/>
              </a:ext>
            </a:extLst>
          </p:cNvPr>
          <p:cNvSpPr/>
          <p:nvPr/>
        </p:nvSpPr>
        <p:spPr>
          <a:xfrm>
            <a:off x="8769970" y="4130931"/>
            <a:ext cx="1492148" cy="837539"/>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Etudier ces données peut être mal vu. Besoin de beaucoup d’information en amont, ne donne souvent qu’assez peu d’information sur les raisons.</a:t>
            </a:r>
          </a:p>
        </p:txBody>
      </p:sp>
      <p:sp>
        <p:nvSpPr>
          <p:cNvPr id="325" name="Rectangle 324">
            <a:extLst>
              <a:ext uri="{FF2B5EF4-FFF2-40B4-BE49-F238E27FC236}">
                <a16:creationId xmlns:a16="http://schemas.microsoft.com/office/drawing/2014/main" id="{30B18073-210D-0479-35D8-11556561C4F4}"/>
              </a:ext>
            </a:extLst>
          </p:cNvPr>
          <p:cNvSpPr/>
          <p:nvPr/>
        </p:nvSpPr>
        <p:spPr>
          <a:xfrm>
            <a:off x="496077" y="4130931"/>
            <a:ext cx="1492148" cy="837539"/>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Réduit le temps dédié au but principal des événements, risques de pensée de groupe</a:t>
            </a:r>
          </a:p>
        </p:txBody>
      </p:sp>
      <p:sp>
        <p:nvSpPr>
          <p:cNvPr id="326" name="Rectangle 325">
            <a:extLst>
              <a:ext uri="{FF2B5EF4-FFF2-40B4-BE49-F238E27FC236}">
                <a16:creationId xmlns:a16="http://schemas.microsoft.com/office/drawing/2014/main" id="{3DD13791-3A07-08AE-12AE-AFEE87CD0693}"/>
              </a:ext>
            </a:extLst>
          </p:cNvPr>
          <p:cNvSpPr/>
          <p:nvPr/>
        </p:nvSpPr>
        <p:spPr>
          <a:xfrm>
            <a:off x="7099627" y="4130931"/>
            <a:ext cx="1492148" cy="837539"/>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Un grand volume de commentaires peut être difficile à traiter, pas d’accès aux informations sur les personnes sans intérêt pour les contenus</a:t>
            </a:r>
          </a:p>
        </p:txBody>
      </p:sp>
      <p:sp>
        <p:nvSpPr>
          <p:cNvPr id="328" name="Rectangle 327">
            <a:extLst>
              <a:ext uri="{FF2B5EF4-FFF2-40B4-BE49-F238E27FC236}">
                <a16:creationId xmlns:a16="http://schemas.microsoft.com/office/drawing/2014/main" id="{EE718B77-3A71-667C-32E6-0ED8AF29C39C}"/>
              </a:ext>
            </a:extLst>
          </p:cNvPr>
          <p:cNvSpPr/>
          <p:nvPr/>
        </p:nvSpPr>
        <p:spPr>
          <a:xfrm>
            <a:off x="10436642" y="5014009"/>
            <a:ext cx="1339649" cy="83753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Flou sur ce que la Communauté apporte aux membres (comparativement à la clarté sur ce qu’on y fait)</a:t>
            </a:r>
          </a:p>
        </p:txBody>
      </p:sp>
      <p:sp>
        <p:nvSpPr>
          <p:cNvPr id="329" name="Rectangle 328">
            <a:extLst>
              <a:ext uri="{FF2B5EF4-FFF2-40B4-BE49-F238E27FC236}">
                <a16:creationId xmlns:a16="http://schemas.microsoft.com/office/drawing/2014/main" id="{F43EF1C0-FDE7-768E-7C2E-6A261B1F1DAF}"/>
              </a:ext>
            </a:extLst>
          </p:cNvPr>
          <p:cNvSpPr/>
          <p:nvPr/>
        </p:nvSpPr>
        <p:spPr>
          <a:xfrm>
            <a:off x="2168833" y="5014009"/>
            <a:ext cx="1492148" cy="83753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Grande diversité de sujets parmi lesquels il faut choisir et pour lesquels il est difficile de choisir une activité</a:t>
            </a:r>
          </a:p>
        </p:txBody>
      </p:sp>
      <p:sp>
        <p:nvSpPr>
          <p:cNvPr id="330" name="Rectangle 329">
            <a:extLst>
              <a:ext uri="{FF2B5EF4-FFF2-40B4-BE49-F238E27FC236}">
                <a16:creationId xmlns:a16="http://schemas.microsoft.com/office/drawing/2014/main" id="{2C40A51F-3B91-E46C-D43D-F6E4B8C7F8AB}"/>
              </a:ext>
            </a:extLst>
          </p:cNvPr>
          <p:cNvSpPr/>
          <p:nvPr/>
        </p:nvSpPr>
        <p:spPr>
          <a:xfrm>
            <a:off x="3817299" y="5014009"/>
            <a:ext cx="1492148" cy="83753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Les membres semblent être disponibles pour la Communauté à des moments où il n’y a pas d’activités</a:t>
            </a:r>
          </a:p>
        </p:txBody>
      </p:sp>
      <p:sp>
        <p:nvSpPr>
          <p:cNvPr id="331" name="Rectangle 330">
            <a:extLst>
              <a:ext uri="{FF2B5EF4-FFF2-40B4-BE49-F238E27FC236}">
                <a16:creationId xmlns:a16="http://schemas.microsoft.com/office/drawing/2014/main" id="{8B7C5370-D68F-EC33-F429-5D087FA5EEFB}"/>
              </a:ext>
            </a:extLst>
          </p:cNvPr>
          <p:cNvSpPr/>
          <p:nvPr/>
        </p:nvSpPr>
        <p:spPr>
          <a:xfrm>
            <a:off x="5449711" y="5014009"/>
            <a:ext cx="1492148" cy="83753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Motivations et imagination sur la Communauté « dispersées » (jamais recensement à un même emplacement)</a:t>
            </a:r>
          </a:p>
        </p:txBody>
      </p:sp>
      <p:sp>
        <p:nvSpPr>
          <p:cNvPr id="332" name="Rectangle 331">
            <a:extLst>
              <a:ext uri="{FF2B5EF4-FFF2-40B4-BE49-F238E27FC236}">
                <a16:creationId xmlns:a16="http://schemas.microsoft.com/office/drawing/2014/main" id="{F543F713-9394-6D96-B3F3-F6940FED843C}"/>
              </a:ext>
            </a:extLst>
          </p:cNvPr>
          <p:cNvSpPr/>
          <p:nvPr/>
        </p:nvSpPr>
        <p:spPr>
          <a:xfrm>
            <a:off x="8769970" y="5014009"/>
            <a:ext cx="1492148" cy="83753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Nombre suffisamment grand d’événements et données disponibles sur ces événements</a:t>
            </a:r>
          </a:p>
        </p:txBody>
      </p:sp>
      <p:sp>
        <p:nvSpPr>
          <p:cNvPr id="333" name="Rectangle 332">
            <a:extLst>
              <a:ext uri="{FF2B5EF4-FFF2-40B4-BE49-F238E27FC236}">
                <a16:creationId xmlns:a16="http://schemas.microsoft.com/office/drawing/2014/main" id="{C4B95DAA-8938-ED04-4419-D5B977291DD5}"/>
              </a:ext>
            </a:extLst>
          </p:cNvPr>
          <p:cNvSpPr/>
          <p:nvPr/>
        </p:nvSpPr>
        <p:spPr>
          <a:xfrm>
            <a:off x="496077" y="5014009"/>
            <a:ext cx="1492148" cy="83753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Très peu de disponibilité des membres en dehors des moments collectifs</a:t>
            </a:r>
          </a:p>
        </p:txBody>
      </p:sp>
      <p:sp>
        <p:nvSpPr>
          <p:cNvPr id="334" name="Rectangle 333">
            <a:extLst>
              <a:ext uri="{FF2B5EF4-FFF2-40B4-BE49-F238E27FC236}">
                <a16:creationId xmlns:a16="http://schemas.microsoft.com/office/drawing/2014/main" id="{A44DC32E-6BC9-CEFC-D217-32C7BD46F3E1}"/>
              </a:ext>
            </a:extLst>
          </p:cNvPr>
          <p:cNvSpPr/>
          <p:nvPr/>
        </p:nvSpPr>
        <p:spPr>
          <a:xfrm>
            <a:off x="7099627" y="5014009"/>
            <a:ext cx="1492148" cy="83753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Nombre suffisamment important de contenus et de membres, et intérêt dans un meilleur ciblage de contenus</a:t>
            </a:r>
          </a:p>
        </p:txBody>
      </p:sp>
      <p:sp>
        <p:nvSpPr>
          <p:cNvPr id="336" name="Rectangle 335">
            <a:extLst>
              <a:ext uri="{FF2B5EF4-FFF2-40B4-BE49-F238E27FC236}">
                <a16:creationId xmlns:a16="http://schemas.microsoft.com/office/drawing/2014/main" id="{D34FB83A-F837-111D-37C4-289F253F76AF}"/>
              </a:ext>
            </a:extLst>
          </p:cNvPr>
          <p:cNvSpPr/>
          <p:nvPr/>
        </p:nvSpPr>
        <p:spPr>
          <a:xfrm>
            <a:off x="10436642" y="5897090"/>
            <a:ext cx="1339649" cy="837539"/>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de recentrer les activités de la Communauté sur ce qui apporterait le plus</a:t>
            </a:r>
          </a:p>
        </p:txBody>
      </p:sp>
      <p:sp>
        <p:nvSpPr>
          <p:cNvPr id="337" name="Rectangle 336">
            <a:extLst>
              <a:ext uri="{FF2B5EF4-FFF2-40B4-BE49-F238E27FC236}">
                <a16:creationId xmlns:a16="http://schemas.microsoft.com/office/drawing/2014/main" id="{71F751D0-2F47-537D-8DDF-1DF6D3941B99}"/>
              </a:ext>
            </a:extLst>
          </p:cNvPr>
          <p:cNvSpPr/>
          <p:nvPr/>
        </p:nvSpPr>
        <p:spPr>
          <a:xfrm>
            <a:off x="2168833" y="5897090"/>
            <a:ext cx="1492148" cy="837539"/>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Sous-groupes informels, de composition incertaine, basés sur les sujets d’affinité. Cette incertitude force un « tronc commun » lourd et peu efficace.</a:t>
            </a:r>
          </a:p>
        </p:txBody>
      </p:sp>
      <p:sp>
        <p:nvSpPr>
          <p:cNvPr id="338" name="Rectangle 337">
            <a:extLst>
              <a:ext uri="{FF2B5EF4-FFF2-40B4-BE49-F238E27FC236}">
                <a16:creationId xmlns:a16="http://schemas.microsoft.com/office/drawing/2014/main" id="{5DFCA32D-4BA2-35BE-CCBC-1F293DF9990A}"/>
              </a:ext>
            </a:extLst>
          </p:cNvPr>
          <p:cNvSpPr/>
          <p:nvPr/>
        </p:nvSpPr>
        <p:spPr>
          <a:xfrm>
            <a:off x="3817299" y="5897090"/>
            <a:ext cx="1492148" cy="837539"/>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de se renseigner sur le temps que chacun peut mettre, à des fins de dimensionnement d’activité par exemple</a:t>
            </a:r>
          </a:p>
        </p:txBody>
      </p:sp>
      <p:sp>
        <p:nvSpPr>
          <p:cNvPr id="339" name="Rectangle 338">
            <a:extLst>
              <a:ext uri="{FF2B5EF4-FFF2-40B4-BE49-F238E27FC236}">
                <a16:creationId xmlns:a16="http://schemas.microsoft.com/office/drawing/2014/main" id="{A469C1D3-5ADE-F2AC-5C2B-ACB540879DAB}"/>
              </a:ext>
            </a:extLst>
          </p:cNvPr>
          <p:cNvSpPr/>
          <p:nvPr/>
        </p:nvSpPr>
        <p:spPr>
          <a:xfrm>
            <a:off x="5449711" y="5897090"/>
            <a:ext cx="1492148" cy="837539"/>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de poser ce que les membres s’imaginent pour la Communauté (en termes d’histoires, de vécu)</a:t>
            </a:r>
          </a:p>
        </p:txBody>
      </p:sp>
      <p:sp>
        <p:nvSpPr>
          <p:cNvPr id="340" name="Rectangle 339">
            <a:extLst>
              <a:ext uri="{FF2B5EF4-FFF2-40B4-BE49-F238E27FC236}">
                <a16:creationId xmlns:a16="http://schemas.microsoft.com/office/drawing/2014/main" id="{1A445770-4A90-6D82-DD41-655B93A968AA}"/>
              </a:ext>
            </a:extLst>
          </p:cNvPr>
          <p:cNvSpPr/>
          <p:nvPr/>
        </p:nvSpPr>
        <p:spPr>
          <a:xfrm>
            <a:off x="8769970" y="5897090"/>
            <a:ext cx="1492148" cy="837539"/>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Besoin de calibrer les événements, mieux les cibler</a:t>
            </a:r>
          </a:p>
        </p:txBody>
      </p:sp>
      <p:sp>
        <p:nvSpPr>
          <p:cNvPr id="341" name="Rectangle 340">
            <a:extLst>
              <a:ext uri="{FF2B5EF4-FFF2-40B4-BE49-F238E27FC236}">
                <a16:creationId xmlns:a16="http://schemas.microsoft.com/office/drawing/2014/main" id="{53E4CA4B-44BF-D2AA-9507-30A986115559}"/>
              </a:ext>
            </a:extLst>
          </p:cNvPr>
          <p:cNvSpPr/>
          <p:nvPr/>
        </p:nvSpPr>
        <p:spPr>
          <a:xfrm>
            <a:off x="496077" y="5897090"/>
            <a:ext cx="1492148" cy="837539"/>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Capacité à exprimer des retours sincères en présence des autres</a:t>
            </a:r>
          </a:p>
        </p:txBody>
      </p:sp>
      <p:sp>
        <p:nvSpPr>
          <p:cNvPr id="342" name="Rectangle 341">
            <a:extLst>
              <a:ext uri="{FF2B5EF4-FFF2-40B4-BE49-F238E27FC236}">
                <a16:creationId xmlns:a16="http://schemas.microsoft.com/office/drawing/2014/main" id="{A6959A81-281C-00BF-D0CF-AD6AFCC736AE}"/>
              </a:ext>
            </a:extLst>
          </p:cNvPr>
          <p:cNvSpPr/>
          <p:nvPr/>
        </p:nvSpPr>
        <p:spPr>
          <a:xfrm>
            <a:off x="7099627" y="5897090"/>
            <a:ext cx="1492148" cy="837539"/>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Disponibilité et propension des membres à consulter du contenu de la Communauté et à donner des retours</a:t>
            </a:r>
          </a:p>
        </p:txBody>
      </p:sp>
      <p:sp>
        <p:nvSpPr>
          <p:cNvPr id="273" name="Rectangle 272">
            <a:extLst>
              <a:ext uri="{FF2B5EF4-FFF2-40B4-BE49-F238E27FC236}">
                <a16:creationId xmlns:a16="http://schemas.microsoft.com/office/drawing/2014/main" id="{E7CBBF0A-7C94-2AE1-DAAE-E5435F001F2B}"/>
              </a:ext>
            </a:extLst>
          </p:cNvPr>
          <p:cNvSpPr/>
          <p:nvPr/>
        </p:nvSpPr>
        <p:spPr>
          <a:xfrm>
            <a:off x="10438346" y="2515598"/>
            <a:ext cx="1339649"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📅Atelier d’identification de la valeur</a:t>
            </a:r>
          </a:p>
        </p:txBody>
      </p:sp>
      <p:grpSp>
        <p:nvGrpSpPr>
          <p:cNvPr id="275" name="Groupe 274">
            <a:extLst>
              <a:ext uri="{FF2B5EF4-FFF2-40B4-BE49-F238E27FC236}">
                <a16:creationId xmlns:a16="http://schemas.microsoft.com/office/drawing/2014/main" id="{88AD4DF5-C54B-5719-2F9B-3F4D2E5686FE}"/>
              </a:ext>
            </a:extLst>
          </p:cNvPr>
          <p:cNvGrpSpPr/>
          <p:nvPr/>
        </p:nvGrpSpPr>
        <p:grpSpPr>
          <a:xfrm>
            <a:off x="10553706" y="2189049"/>
            <a:ext cx="1224290" cy="184791"/>
            <a:chOff x="261104" y="1695766"/>
            <a:chExt cx="10571211" cy="1595596"/>
          </a:xfrm>
        </p:grpSpPr>
        <p:pic>
          <p:nvPicPr>
            <p:cNvPr id="285" name="Image 284">
              <a:extLst>
                <a:ext uri="{FF2B5EF4-FFF2-40B4-BE49-F238E27FC236}">
                  <a16:creationId xmlns:a16="http://schemas.microsoft.com/office/drawing/2014/main" id="{EC24520C-2459-92C9-5F9C-D39F115F601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261104" y="1702441"/>
              <a:ext cx="1120155" cy="1582246"/>
            </a:xfrm>
            <a:prstGeom prst="rect">
              <a:avLst/>
            </a:prstGeom>
          </p:spPr>
        </p:pic>
        <p:pic>
          <p:nvPicPr>
            <p:cNvPr id="286" name="Image 285">
              <a:extLst>
                <a:ext uri="{FF2B5EF4-FFF2-40B4-BE49-F238E27FC236}">
                  <a16:creationId xmlns:a16="http://schemas.microsoft.com/office/drawing/2014/main" id="{36D4F98E-BD8D-A640-A083-D4CA5926E3BE}"/>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2620940" y="1702441"/>
              <a:ext cx="1120155" cy="1582246"/>
            </a:xfrm>
            <a:prstGeom prst="rect">
              <a:avLst/>
            </a:prstGeom>
          </p:spPr>
        </p:pic>
        <p:pic>
          <p:nvPicPr>
            <p:cNvPr id="287" name="Image 286" descr="Une image contenant texte&#10;&#10;Description générée automatiquement">
              <a:extLst>
                <a:ext uri="{FF2B5EF4-FFF2-40B4-BE49-F238E27FC236}">
                  <a16:creationId xmlns:a16="http://schemas.microsoft.com/office/drawing/2014/main" id="{7645CFB8-909B-DDD1-22FC-B4702CE4EDB7}"/>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6207372" y="1695766"/>
              <a:ext cx="1120155" cy="1582246"/>
            </a:xfrm>
            <a:prstGeom prst="rect">
              <a:avLst/>
            </a:prstGeom>
          </p:spPr>
        </p:pic>
        <p:pic>
          <p:nvPicPr>
            <p:cNvPr id="288" name="Image 287">
              <a:extLst>
                <a:ext uri="{FF2B5EF4-FFF2-40B4-BE49-F238E27FC236}">
                  <a16:creationId xmlns:a16="http://schemas.microsoft.com/office/drawing/2014/main" id="{92BA9573-A9D1-2DFC-4DA8-0BD11CE43D30}"/>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8546782" y="1695766"/>
              <a:ext cx="1120155" cy="1582246"/>
            </a:xfrm>
            <a:prstGeom prst="rect">
              <a:avLst/>
            </a:prstGeom>
          </p:spPr>
        </p:pic>
        <p:pic>
          <p:nvPicPr>
            <p:cNvPr id="289" name="Image 288">
              <a:extLst>
                <a:ext uri="{FF2B5EF4-FFF2-40B4-BE49-F238E27FC236}">
                  <a16:creationId xmlns:a16="http://schemas.microsoft.com/office/drawing/2014/main" id="{2F6E5F22-62CC-644B-D8A7-6E34C6E3C9A0}"/>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1446008" y="1702441"/>
              <a:ext cx="1120155" cy="1582246"/>
            </a:xfrm>
            <a:prstGeom prst="rect">
              <a:avLst/>
            </a:prstGeom>
          </p:spPr>
        </p:pic>
        <p:pic>
          <p:nvPicPr>
            <p:cNvPr id="290" name="Image 289">
              <a:extLst>
                <a:ext uri="{FF2B5EF4-FFF2-40B4-BE49-F238E27FC236}">
                  <a16:creationId xmlns:a16="http://schemas.microsoft.com/office/drawing/2014/main" id="{559A5F4E-362A-6CD5-6107-0FDE9B748F08}"/>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3814945" y="1702441"/>
              <a:ext cx="1120155" cy="1582246"/>
            </a:xfrm>
            <a:prstGeom prst="rect">
              <a:avLst/>
            </a:prstGeom>
          </p:spPr>
        </p:pic>
        <p:pic>
          <p:nvPicPr>
            <p:cNvPr id="291" name="Image 290" descr="Une image contenant texte&#10;&#10;Description générée automatiquement">
              <a:extLst>
                <a:ext uri="{FF2B5EF4-FFF2-40B4-BE49-F238E27FC236}">
                  <a16:creationId xmlns:a16="http://schemas.microsoft.com/office/drawing/2014/main" id="{9F97ACB0-01AD-216E-41AB-6D108AABDCCA}"/>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7381401" y="1695766"/>
              <a:ext cx="1120155" cy="1582246"/>
            </a:xfrm>
            <a:prstGeom prst="rect">
              <a:avLst/>
            </a:prstGeom>
          </p:spPr>
        </p:pic>
        <p:pic>
          <p:nvPicPr>
            <p:cNvPr id="292" name="Image 291" descr="Une image contenant texte&#10;&#10;Description générée automatiquement">
              <a:extLst>
                <a:ext uri="{FF2B5EF4-FFF2-40B4-BE49-F238E27FC236}">
                  <a16:creationId xmlns:a16="http://schemas.microsoft.com/office/drawing/2014/main" id="{DAD55455-698C-6A5D-B155-65C2745068EB}"/>
                </a:ext>
              </a:extLst>
            </p:cNvPr>
            <p:cNvPicPr>
              <a:picLocks noChangeAspect="1"/>
            </p:cNvPicPr>
            <p:nvPr/>
          </p:nvPicPr>
          <p:blipFill>
            <a:blip r:embed="rId24">
              <a:extLst>
                <a:ext uri="{28A0092B-C50C-407E-A947-70E740481C1C}">
                  <a14:useLocalDpi xmlns:a14="http://schemas.microsoft.com/office/drawing/2010/main" val="0"/>
                </a:ext>
              </a:extLst>
            </a:blip>
            <a:stretch>
              <a:fillRect/>
            </a:stretch>
          </p:blipFill>
          <p:spPr>
            <a:xfrm>
              <a:off x="9712160" y="1695766"/>
              <a:ext cx="1120155" cy="1582246"/>
            </a:xfrm>
            <a:prstGeom prst="rect">
              <a:avLst/>
            </a:prstGeom>
          </p:spPr>
        </p:pic>
        <p:pic>
          <p:nvPicPr>
            <p:cNvPr id="293" name="Image 292" descr="Une image contenant texte&#10;&#10;Description générée automatiquement">
              <a:extLst>
                <a:ext uri="{FF2B5EF4-FFF2-40B4-BE49-F238E27FC236}">
                  <a16:creationId xmlns:a16="http://schemas.microsoft.com/office/drawing/2014/main" id="{55BBFC76-A9D0-1E6D-3FF9-A1667EEAB6A2}"/>
                </a:ext>
              </a:extLst>
            </p:cNvPr>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4993795" y="1702441"/>
              <a:ext cx="1135830" cy="1588921"/>
            </a:xfrm>
            <a:prstGeom prst="rect">
              <a:avLst/>
            </a:prstGeom>
          </p:spPr>
        </p:pic>
      </p:grpSp>
      <p:grpSp>
        <p:nvGrpSpPr>
          <p:cNvPr id="294" name="Groupe 293">
            <a:extLst>
              <a:ext uri="{FF2B5EF4-FFF2-40B4-BE49-F238E27FC236}">
                <a16:creationId xmlns:a16="http://schemas.microsoft.com/office/drawing/2014/main" id="{464723D9-C547-D894-C282-CC0C532F5615}"/>
              </a:ext>
            </a:extLst>
          </p:cNvPr>
          <p:cNvGrpSpPr/>
          <p:nvPr/>
        </p:nvGrpSpPr>
        <p:grpSpPr>
          <a:xfrm>
            <a:off x="10412446" y="1674704"/>
            <a:ext cx="123305" cy="477372"/>
            <a:chOff x="1087583" y="694189"/>
            <a:chExt cx="1484849" cy="5748556"/>
          </a:xfrm>
        </p:grpSpPr>
        <p:cxnSp>
          <p:nvCxnSpPr>
            <p:cNvPr id="295" name="Connecteur droit avec flèche 294">
              <a:extLst>
                <a:ext uri="{FF2B5EF4-FFF2-40B4-BE49-F238E27FC236}">
                  <a16:creationId xmlns:a16="http://schemas.microsoft.com/office/drawing/2014/main" id="{2C792EC6-3D98-4F05-EFB4-33142F5C92E2}"/>
                </a:ext>
              </a:extLst>
            </p:cNvPr>
            <p:cNvCxnSpPr>
              <a:cxnSpLocks/>
            </p:cNvCxnSpPr>
            <p:nvPr/>
          </p:nvCxnSpPr>
          <p:spPr>
            <a:xfrm flipV="1">
              <a:off x="1809036" y="694189"/>
              <a:ext cx="0" cy="5748556"/>
            </a:xfrm>
            <a:prstGeom prst="straightConnector1">
              <a:avLst/>
            </a:prstGeom>
            <a:ln w="3175">
              <a:tailEnd type="triangle"/>
            </a:ln>
          </p:spPr>
          <p:style>
            <a:lnRef idx="1">
              <a:schemeClr val="accent1"/>
            </a:lnRef>
            <a:fillRef idx="0">
              <a:schemeClr val="accent1"/>
            </a:fillRef>
            <a:effectRef idx="0">
              <a:schemeClr val="accent1"/>
            </a:effectRef>
            <a:fontRef idx="minor">
              <a:schemeClr val="tx1"/>
            </a:fontRef>
          </p:style>
        </p:cxnSp>
        <p:sp>
          <p:nvSpPr>
            <p:cNvPr id="296" name="Rectangle 295">
              <a:extLst>
                <a:ext uri="{FF2B5EF4-FFF2-40B4-BE49-F238E27FC236}">
                  <a16:creationId xmlns:a16="http://schemas.microsoft.com/office/drawing/2014/main" id="{47B06863-61FB-96EF-7649-7EC88EAE040B}"/>
                </a:ext>
              </a:extLst>
            </p:cNvPr>
            <p:cNvSpPr/>
            <p:nvPr/>
          </p:nvSpPr>
          <p:spPr>
            <a:xfrm>
              <a:off x="1087583" y="1055232"/>
              <a:ext cx="1484849" cy="595619"/>
            </a:xfrm>
            <a:prstGeom prst="rect">
              <a:avLst/>
            </a:prstGeom>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297" name="Rectangle 296">
              <a:extLst>
                <a:ext uri="{FF2B5EF4-FFF2-40B4-BE49-F238E27FC236}">
                  <a16:creationId xmlns:a16="http://schemas.microsoft.com/office/drawing/2014/main" id="{A87E0ADB-076B-2FDC-C66C-197471D13F38}"/>
                </a:ext>
              </a:extLst>
            </p:cNvPr>
            <p:cNvSpPr/>
            <p:nvPr/>
          </p:nvSpPr>
          <p:spPr>
            <a:xfrm>
              <a:off x="1087583" y="2098260"/>
              <a:ext cx="1484849" cy="914401"/>
            </a:xfrm>
            <a:prstGeom prst="rect">
              <a:avLst/>
            </a:prstGeom>
            <a:solidFill>
              <a:srgbClr val="ED7D3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298" name="Rectangle 297">
              <a:extLst>
                <a:ext uri="{FF2B5EF4-FFF2-40B4-BE49-F238E27FC236}">
                  <a16:creationId xmlns:a16="http://schemas.microsoft.com/office/drawing/2014/main" id="{464343A9-33F0-478B-9960-894395E04781}"/>
                </a:ext>
              </a:extLst>
            </p:cNvPr>
            <p:cNvSpPr/>
            <p:nvPr/>
          </p:nvSpPr>
          <p:spPr>
            <a:xfrm>
              <a:off x="1087583" y="3550455"/>
              <a:ext cx="1484849" cy="54528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299" name="Rectangle 298">
              <a:extLst>
                <a:ext uri="{FF2B5EF4-FFF2-40B4-BE49-F238E27FC236}">
                  <a16:creationId xmlns:a16="http://schemas.microsoft.com/office/drawing/2014/main" id="{09BDD6CE-E762-341B-2129-1DAAB7E15D79}"/>
                </a:ext>
              </a:extLst>
            </p:cNvPr>
            <p:cNvSpPr/>
            <p:nvPr/>
          </p:nvSpPr>
          <p:spPr>
            <a:xfrm>
              <a:off x="1087583" y="4840958"/>
              <a:ext cx="1484849" cy="545285"/>
            </a:xfrm>
            <a:prstGeom prst="rect">
              <a:avLst/>
            </a:prstGeom>
            <a:solidFill>
              <a:schemeClr val="bg1">
                <a:lumMod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300" name="Rectangle 299">
              <a:extLst>
                <a:ext uri="{FF2B5EF4-FFF2-40B4-BE49-F238E27FC236}">
                  <a16:creationId xmlns:a16="http://schemas.microsoft.com/office/drawing/2014/main" id="{E201ECC8-3831-94EE-E88F-D4266F7F2E6C}"/>
                </a:ext>
              </a:extLst>
            </p:cNvPr>
            <p:cNvSpPr/>
            <p:nvPr/>
          </p:nvSpPr>
          <p:spPr>
            <a:xfrm>
              <a:off x="1087583" y="5858818"/>
              <a:ext cx="1484849" cy="54528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301" name="Rectangle 300">
            <a:extLst>
              <a:ext uri="{FF2B5EF4-FFF2-40B4-BE49-F238E27FC236}">
                <a16:creationId xmlns:a16="http://schemas.microsoft.com/office/drawing/2014/main" id="{30EE4AC8-4B63-32D0-82D2-0274D793E613}"/>
              </a:ext>
            </a:extLst>
          </p:cNvPr>
          <p:cNvSpPr/>
          <p:nvPr/>
        </p:nvSpPr>
        <p:spPr>
          <a:xfrm>
            <a:off x="10560932" y="2075641"/>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2" name="Rectangle 301">
            <a:extLst>
              <a:ext uri="{FF2B5EF4-FFF2-40B4-BE49-F238E27FC236}">
                <a16:creationId xmlns:a16="http://schemas.microsoft.com/office/drawing/2014/main" id="{340E5B78-C805-1C29-0187-696E4CE61B30}"/>
              </a:ext>
            </a:extLst>
          </p:cNvPr>
          <p:cNvSpPr/>
          <p:nvPr/>
        </p:nvSpPr>
        <p:spPr>
          <a:xfrm>
            <a:off x="10667753" y="1794009"/>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 name="Rectangle 302">
            <a:extLst>
              <a:ext uri="{FF2B5EF4-FFF2-40B4-BE49-F238E27FC236}">
                <a16:creationId xmlns:a16="http://schemas.microsoft.com/office/drawing/2014/main" id="{9CF96817-25B0-4B8D-79F5-15DFB1BB45CC}"/>
              </a:ext>
            </a:extLst>
          </p:cNvPr>
          <p:cNvSpPr/>
          <p:nvPr/>
        </p:nvSpPr>
        <p:spPr>
          <a:xfrm>
            <a:off x="10943936" y="1695723"/>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 name="Rectangle 303">
            <a:extLst>
              <a:ext uri="{FF2B5EF4-FFF2-40B4-BE49-F238E27FC236}">
                <a16:creationId xmlns:a16="http://schemas.microsoft.com/office/drawing/2014/main" id="{10DF2A3C-0C1B-A0D2-4A78-C5D97BB09927}"/>
              </a:ext>
            </a:extLst>
          </p:cNvPr>
          <p:cNvSpPr/>
          <p:nvPr/>
        </p:nvSpPr>
        <p:spPr>
          <a:xfrm>
            <a:off x="10730649" y="2267767"/>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 name="Rectangle 304">
            <a:extLst>
              <a:ext uri="{FF2B5EF4-FFF2-40B4-BE49-F238E27FC236}">
                <a16:creationId xmlns:a16="http://schemas.microsoft.com/office/drawing/2014/main" id="{09CDB6EE-AAF0-7A28-95A0-69E8DD8A4F78}"/>
              </a:ext>
            </a:extLst>
          </p:cNvPr>
          <p:cNvSpPr/>
          <p:nvPr/>
        </p:nvSpPr>
        <p:spPr>
          <a:xfrm>
            <a:off x="11113653" y="1887849"/>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 name="Rectangle 305">
            <a:extLst>
              <a:ext uri="{FF2B5EF4-FFF2-40B4-BE49-F238E27FC236}">
                <a16:creationId xmlns:a16="http://schemas.microsoft.com/office/drawing/2014/main" id="{6863B0E0-F5CF-CCA5-FFF6-4A575E391F5C}"/>
              </a:ext>
            </a:extLst>
          </p:cNvPr>
          <p:cNvSpPr/>
          <p:nvPr/>
        </p:nvSpPr>
        <p:spPr>
          <a:xfrm>
            <a:off x="11395229" y="1695723"/>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 name="Rectangle 306">
            <a:extLst>
              <a:ext uri="{FF2B5EF4-FFF2-40B4-BE49-F238E27FC236}">
                <a16:creationId xmlns:a16="http://schemas.microsoft.com/office/drawing/2014/main" id="{073DC42F-E984-7886-587C-6C81B0299294}"/>
              </a:ext>
            </a:extLst>
          </p:cNvPr>
          <p:cNvSpPr/>
          <p:nvPr/>
        </p:nvSpPr>
        <p:spPr>
          <a:xfrm>
            <a:off x="11241881" y="2023023"/>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308" name="Graphique 307" descr="Calendrier journalier avec un remplissage uni">
            <a:extLst>
              <a:ext uri="{FF2B5EF4-FFF2-40B4-BE49-F238E27FC236}">
                <a16:creationId xmlns:a16="http://schemas.microsoft.com/office/drawing/2014/main" id="{869A03B8-BCE9-6330-180D-5C4882B9F527}"/>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8990526" y="1332718"/>
            <a:ext cx="914400" cy="914400"/>
          </a:xfrm>
          <a:prstGeom prst="rect">
            <a:avLst/>
          </a:prstGeom>
        </p:spPr>
      </p:pic>
      <p:pic>
        <p:nvPicPr>
          <p:cNvPr id="309" name="Graphique 308" descr="Homme avec un remplissage uni">
            <a:extLst>
              <a:ext uri="{FF2B5EF4-FFF2-40B4-BE49-F238E27FC236}">
                <a16:creationId xmlns:a16="http://schemas.microsoft.com/office/drawing/2014/main" id="{84D8CC02-D0A6-1CF2-E454-318FFB0D8349}"/>
              </a:ext>
            </a:extLst>
          </p:cNvPr>
          <p:cNvPicPr>
            <a:picLocks noChangeAspect="1"/>
          </p:cNvPicPr>
          <p:nvPr/>
        </p:nvPicPr>
        <p:blipFill rotWithShape="1">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rcRect l="20753" t="1048" b="40502"/>
          <a:stretch/>
        </p:blipFill>
        <p:spPr>
          <a:xfrm>
            <a:off x="8975399" y="1819325"/>
            <a:ext cx="453328" cy="334360"/>
          </a:xfrm>
          <a:prstGeom prst="rect">
            <a:avLst/>
          </a:prstGeom>
        </p:spPr>
      </p:pic>
      <p:pic>
        <p:nvPicPr>
          <p:cNvPr id="310" name="Graphique 309" descr="Homme avec un remplissage uni">
            <a:extLst>
              <a:ext uri="{FF2B5EF4-FFF2-40B4-BE49-F238E27FC236}">
                <a16:creationId xmlns:a16="http://schemas.microsoft.com/office/drawing/2014/main" id="{20012399-6C9D-9A23-80AA-B9CFF050532D}"/>
              </a:ext>
            </a:extLst>
          </p:cNvPr>
          <p:cNvPicPr>
            <a:picLocks noChangeAspect="1"/>
          </p:cNvPicPr>
          <p:nvPr/>
        </p:nvPicPr>
        <p:blipFill rotWithShape="1">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rcRect l="20753" t="1048" b="40502"/>
          <a:stretch/>
        </p:blipFill>
        <p:spPr>
          <a:xfrm>
            <a:off x="9233376" y="1800397"/>
            <a:ext cx="453328" cy="334360"/>
          </a:xfrm>
          <a:prstGeom prst="rect">
            <a:avLst/>
          </a:prstGeom>
        </p:spPr>
      </p:pic>
      <p:pic>
        <p:nvPicPr>
          <p:cNvPr id="311" name="Graphique 310" descr="Homme avec un remplissage uni">
            <a:extLst>
              <a:ext uri="{FF2B5EF4-FFF2-40B4-BE49-F238E27FC236}">
                <a16:creationId xmlns:a16="http://schemas.microsoft.com/office/drawing/2014/main" id="{BBA99847-2F0A-B742-274D-0E79023B38F4}"/>
              </a:ext>
            </a:extLst>
          </p:cNvPr>
          <p:cNvPicPr>
            <a:picLocks noChangeAspect="1"/>
          </p:cNvPicPr>
          <p:nvPr/>
        </p:nvPicPr>
        <p:blipFill rotWithShape="1">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rcRect l="20753" t="1048" b="40502"/>
          <a:stretch/>
        </p:blipFill>
        <p:spPr>
          <a:xfrm>
            <a:off x="9495885" y="1818629"/>
            <a:ext cx="453328" cy="334360"/>
          </a:xfrm>
          <a:prstGeom prst="rect">
            <a:avLst/>
          </a:prstGeom>
        </p:spPr>
      </p:pic>
      <p:pic>
        <p:nvPicPr>
          <p:cNvPr id="319" name="Graphique 318" descr="Loupe avec un remplissage uni">
            <a:extLst>
              <a:ext uri="{FF2B5EF4-FFF2-40B4-BE49-F238E27FC236}">
                <a16:creationId xmlns:a16="http://schemas.microsoft.com/office/drawing/2014/main" id="{6C1CD45B-8FB4-05C3-919B-4E52B7098E4A}"/>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9113215" y="1612525"/>
            <a:ext cx="914400" cy="914400"/>
          </a:xfrm>
          <a:prstGeom prst="rect">
            <a:avLst/>
          </a:prstGeom>
        </p:spPr>
      </p:pic>
      <p:pic>
        <p:nvPicPr>
          <p:cNvPr id="327" name="Graphique 326" descr="Femme scientifique avec un remplissage uni">
            <a:extLst>
              <a:ext uri="{FF2B5EF4-FFF2-40B4-BE49-F238E27FC236}">
                <a16:creationId xmlns:a16="http://schemas.microsoft.com/office/drawing/2014/main" id="{5A0C15E7-3B75-DA99-5FA8-85F819451F2E}"/>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a:stretch/>
        </p:blipFill>
        <p:spPr>
          <a:xfrm>
            <a:off x="752476" y="365125"/>
            <a:ext cx="1114424" cy="1114424"/>
          </a:xfrm>
          <a:prstGeom prst="rect">
            <a:avLst/>
          </a:prstGeom>
        </p:spPr>
      </p:pic>
    </p:spTree>
    <p:extLst>
      <p:ext uri="{BB962C8B-B14F-4D97-AF65-F5344CB8AC3E}">
        <p14:creationId xmlns:p14="http://schemas.microsoft.com/office/powerpoint/2010/main" val="366009796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1216616" y="365125"/>
            <a:ext cx="10137183" cy="1325563"/>
          </a:xfrm>
        </p:spPr>
        <p:txBody>
          <a:bodyPr>
            <a:noAutofit/>
          </a:bodyPr>
          <a:lstStyle/>
          <a:p>
            <a:r>
              <a:rPr lang="fr-FR" sz="2400" b="1" dirty="0"/>
              <a:t>Renseignement délibéré :</a:t>
            </a:r>
            <a:br>
              <a:rPr lang="fr-FR" sz="2400" dirty="0"/>
            </a:br>
            <a:r>
              <a:rPr lang="fr-FR" sz="2400" dirty="0"/>
              <a:t>Exemples de questions à poser – valeur et blocages pour les membres</a:t>
            </a:r>
          </a:p>
        </p:txBody>
      </p:sp>
      <p:pic>
        <p:nvPicPr>
          <p:cNvPr id="25" name="Image 24">
            <a:extLst>
              <a:ext uri="{FF2B5EF4-FFF2-40B4-BE49-F238E27FC236}">
                <a16:creationId xmlns:a16="http://schemas.microsoft.com/office/drawing/2014/main" id="{606255BE-23A7-ADAF-2326-89C7A7C1166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1104" y="1618551"/>
            <a:ext cx="1120155" cy="1582246"/>
          </a:xfrm>
          <a:prstGeom prst="rect">
            <a:avLst/>
          </a:prstGeom>
        </p:spPr>
      </p:pic>
      <p:pic>
        <p:nvPicPr>
          <p:cNvPr id="27" name="Image 26">
            <a:extLst>
              <a:ext uri="{FF2B5EF4-FFF2-40B4-BE49-F238E27FC236}">
                <a16:creationId xmlns:a16="http://schemas.microsoft.com/office/drawing/2014/main" id="{BF0668E5-1F29-C6FB-93FA-4659CD0F7B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19950" y="1611876"/>
            <a:ext cx="1120155" cy="1582246"/>
          </a:xfrm>
          <a:prstGeom prst="rect">
            <a:avLst/>
          </a:prstGeom>
        </p:spPr>
      </p:pic>
      <p:pic>
        <p:nvPicPr>
          <p:cNvPr id="28" name="Image 27" descr="Une image contenant texte&#10;&#10;Description générée automatiquement">
            <a:extLst>
              <a:ext uri="{FF2B5EF4-FFF2-40B4-BE49-F238E27FC236}">
                <a16:creationId xmlns:a16="http://schemas.microsoft.com/office/drawing/2014/main" id="{C52BFFBF-1047-476C-6469-7AF91D6DBF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73894" y="1611876"/>
            <a:ext cx="1120155" cy="1582246"/>
          </a:xfrm>
          <a:prstGeom prst="rect">
            <a:avLst/>
          </a:prstGeom>
        </p:spPr>
      </p:pic>
      <p:pic>
        <p:nvPicPr>
          <p:cNvPr id="29" name="Image 28">
            <a:extLst>
              <a:ext uri="{FF2B5EF4-FFF2-40B4-BE49-F238E27FC236}">
                <a16:creationId xmlns:a16="http://schemas.microsoft.com/office/drawing/2014/main" id="{66A8C156-F0A3-1263-C6C5-F0E1328E750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532740" y="1611876"/>
            <a:ext cx="1120155" cy="1582246"/>
          </a:xfrm>
          <a:prstGeom prst="rect">
            <a:avLst/>
          </a:prstGeom>
        </p:spPr>
      </p:pic>
      <p:pic>
        <p:nvPicPr>
          <p:cNvPr id="30" name="Image 29">
            <a:extLst>
              <a:ext uri="{FF2B5EF4-FFF2-40B4-BE49-F238E27FC236}">
                <a16:creationId xmlns:a16="http://schemas.microsoft.com/office/drawing/2014/main" id="{6E90BE4D-1EA5-ED16-87E6-4E680E0807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440527" y="1611876"/>
            <a:ext cx="1120155" cy="1582246"/>
          </a:xfrm>
          <a:prstGeom prst="rect">
            <a:avLst/>
          </a:prstGeom>
        </p:spPr>
      </p:pic>
      <p:pic>
        <p:nvPicPr>
          <p:cNvPr id="31" name="Image 30">
            <a:extLst>
              <a:ext uri="{FF2B5EF4-FFF2-40B4-BE49-F238E27FC236}">
                <a16:creationId xmlns:a16="http://schemas.microsoft.com/office/drawing/2014/main" id="{A564748B-E5B0-4E9F-7813-01D7C51BCBB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799373" y="1611876"/>
            <a:ext cx="1120155" cy="1582246"/>
          </a:xfrm>
          <a:prstGeom prst="rect">
            <a:avLst/>
          </a:prstGeom>
        </p:spPr>
      </p:pic>
      <p:pic>
        <p:nvPicPr>
          <p:cNvPr id="32" name="Image 31" descr="Une image contenant texte&#10;&#10;Description générée automatiquement">
            <a:extLst>
              <a:ext uri="{FF2B5EF4-FFF2-40B4-BE49-F238E27FC236}">
                <a16:creationId xmlns:a16="http://schemas.microsoft.com/office/drawing/2014/main" id="{85BA04D4-8763-76EF-5EFF-C98B2E55124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353317" y="1611876"/>
            <a:ext cx="1120155" cy="1582246"/>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1C07BFD-8376-7366-5CAE-D9628DFEBEB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712160" y="1611876"/>
            <a:ext cx="1120155" cy="1582246"/>
          </a:xfrm>
          <a:prstGeom prst="rect">
            <a:avLst/>
          </a:prstGeom>
        </p:spPr>
      </p:pic>
      <p:sp>
        <p:nvSpPr>
          <p:cNvPr id="42" name="Rectangle 41">
            <a:extLst>
              <a:ext uri="{FF2B5EF4-FFF2-40B4-BE49-F238E27FC236}">
                <a16:creationId xmlns:a16="http://schemas.microsoft.com/office/drawing/2014/main" id="{D5B4002B-AE18-2BAE-0D73-078BB2432DAD}"/>
              </a:ext>
            </a:extLst>
          </p:cNvPr>
          <p:cNvSpPr/>
          <p:nvPr/>
        </p:nvSpPr>
        <p:spPr>
          <a:xfrm>
            <a:off x="10877538" y="1606798"/>
            <a:ext cx="1120155"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pic>
        <p:nvPicPr>
          <p:cNvPr id="55" name="Image 54" descr="Une image contenant texte&#10;&#10;Description générée automatiquement">
            <a:extLst>
              <a:ext uri="{FF2B5EF4-FFF2-40B4-BE49-F238E27FC236}">
                <a16:creationId xmlns:a16="http://schemas.microsoft.com/office/drawing/2014/main" id="{DA501538-118F-0D88-B78B-6F0A5EC7490C}"/>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978796" y="1611876"/>
            <a:ext cx="1135830" cy="1588921"/>
          </a:xfrm>
          <a:prstGeom prst="rect">
            <a:avLst/>
          </a:prstGeom>
        </p:spPr>
      </p:pic>
      <p:grpSp>
        <p:nvGrpSpPr>
          <p:cNvPr id="50" name="Groupe 49">
            <a:extLst>
              <a:ext uri="{FF2B5EF4-FFF2-40B4-BE49-F238E27FC236}">
                <a16:creationId xmlns:a16="http://schemas.microsoft.com/office/drawing/2014/main" id="{71D7620C-0310-FCF1-DC7D-D06A9E6D577E}"/>
              </a:ext>
            </a:extLst>
          </p:cNvPr>
          <p:cNvGrpSpPr/>
          <p:nvPr/>
        </p:nvGrpSpPr>
        <p:grpSpPr>
          <a:xfrm>
            <a:off x="254879" y="503219"/>
            <a:ext cx="1004893" cy="847205"/>
            <a:chOff x="8982504" y="3274976"/>
            <a:chExt cx="1230670" cy="1037553"/>
          </a:xfrm>
          <a:solidFill>
            <a:srgbClr val="ED7D31"/>
          </a:solidFill>
        </p:grpSpPr>
        <p:pic>
          <p:nvPicPr>
            <p:cNvPr id="51" name="Graphique 50" descr="Utilisateur avec un remplissage uni">
              <a:extLst>
                <a:ext uri="{FF2B5EF4-FFF2-40B4-BE49-F238E27FC236}">
                  <a16:creationId xmlns:a16="http://schemas.microsoft.com/office/drawing/2014/main" id="{FC437C24-B215-7321-97F6-BC93F62D954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01028" y="3274976"/>
              <a:ext cx="336064" cy="336064"/>
            </a:xfrm>
            <a:prstGeom prst="rect">
              <a:avLst/>
            </a:prstGeom>
          </p:spPr>
        </p:pic>
        <p:pic>
          <p:nvPicPr>
            <p:cNvPr id="52" name="Graphique 51" descr="Utilisateur avec un remplissage uni">
              <a:extLst>
                <a:ext uri="{FF2B5EF4-FFF2-40B4-BE49-F238E27FC236}">
                  <a16:creationId xmlns:a16="http://schemas.microsoft.com/office/drawing/2014/main" id="{F40BB642-342D-B3BF-1E4C-C3EEB475F56E}"/>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54140" y="3512720"/>
              <a:ext cx="336064" cy="336064"/>
            </a:xfrm>
            <a:prstGeom prst="rect">
              <a:avLst/>
            </a:prstGeom>
          </p:spPr>
        </p:pic>
        <p:pic>
          <p:nvPicPr>
            <p:cNvPr id="53" name="Graphique 52" descr="Utilisateur avec un remplissage uni">
              <a:extLst>
                <a:ext uri="{FF2B5EF4-FFF2-40B4-BE49-F238E27FC236}">
                  <a16:creationId xmlns:a16="http://schemas.microsoft.com/office/drawing/2014/main" id="{B7491FED-941C-88F8-B843-1AB5A7448BD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45616" y="3561880"/>
              <a:ext cx="336064" cy="336064"/>
            </a:xfrm>
            <a:prstGeom prst="rect">
              <a:avLst/>
            </a:prstGeom>
          </p:spPr>
        </p:pic>
        <p:pic>
          <p:nvPicPr>
            <p:cNvPr id="54" name="Graphique 53" descr="Utilisateur avec un remplissage uni">
              <a:extLst>
                <a:ext uri="{FF2B5EF4-FFF2-40B4-BE49-F238E27FC236}">
                  <a16:creationId xmlns:a16="http://schemas.microsoft.com/office/drawing/2014/main" id="{37752C6A-E354-DBE2-91BB-417928ED429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92504" y="3418428"/>
              <a:ext cx="336064" cy="336064"/>
            </a:xfrm>
            <a:prstGeom prst="rect">
              <a:avLst/>
            </a:prstGeom>
          </p:spPr>
        </p:pic>
        <p:pic>
          <p:nvPicPr>
            <p:cNvPr id="56" name="Graphique 55" descr="Utilisateur avec un remplissage uni">
              <a:extLst>
                <a:ext uri="{FF2B5EF4-FFF2-40B4-BE49-F238E27FC236}">
                  <a16:creationId xmlns:a16="http://schemas.microsoft.com/office/drawing/2014/main" id="{31BE684F-0DB5-B58C-B9DC-73AE9B2D522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635196" y="3680752"/>
              <a:ext cx="336064" cy="336064"/>
            </a:xfrm>
            <a:prstGeom prst="rect">
              <a:avLst/>
            </a:prstGeom>
          </p:spPr>
        </p:pic>
        <p:pic>
          <p:nvPicPr>
            <p:cNvPr id="57" name="Graphique 56" descr="Utilisateur avec un remplissage uni">
              <a:extLst>
                <a:ext uri="{FF2B5EF4-FFF2-40B4-BE49-F238E27FC236}">
                  <a16:creationId xmlns:a16="http://schemas.microsoft.com/office/drawing/2014/main" id="{D2948BE0-488C-B5FE-DCC2-DD72B625E92E}"/>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256440" y="3848784"/>
              <a:ext cx="336064" cy="336064"/>
            </a:xfrm>
            <a:prstGeom prst="rect">
              <a:avLst/>
            </a:prstGeom>
          </p:spPr>
        </p:pic>
        <p:pic>
          <p:nvPicPr>
            <p:cNvPr id="58" name="Graphique 57" descr="Utilisateur avec un remplissage uni">
              <a:extLst>
                <a:ext uri="{FF2B5EF4-FFF2-40B4-BE49-F238E27FC236}">
                  <a16:creationId xmlns:a16="http://schemas.microsoft.com/office/drawing/2014/main" id="{E9F6E718-290D-543E-4E3E-14BFB6A9A7A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82504" y="3835028"/>
              <a:ext cx="336064" cy="336064"/>
            </a:xfrm>
            <a:prstGeom prst="rect">
              <a:avLst/>
            </a:prstGeom>
          </p:spPr>
        </p:pic>
        <p:pic>
          <p:nvPicPr>
            <p:cNvPr id="59" name="Graphique 58" descr="Utilisateur avec un remplissage uni">
              <a:extLst>
                <a:ext uri="{FF2B5EF4-FFF2-40B4-BE49-F238E27FC236}">
                  <a16:creationId xmlns:a16="http://schemas.microsoft.com/office/drawing/2014/main" id="{702501F4-093D-4504-C889-C5370617ED4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0868" y="3943076"/>
              <a:ext cx="336064" cy="336064"/>
            </a:xfrm>
            <a:prstGeom prst="rect">
              <a:avLst/>
            </a:prstGeom>
          </p:spPr>
        </p:pic>
        <p:pic>
          <p:nvPicPr>
            <p:cNvPr id="60" name="Graphique 59" descr="Utilisateur avec un remplissage uni">
              <a:extLst>
                <a:ext uri="{FF2B5EF4-FFF2-40B4-BE49-F238E27FC236}">
                  <a16:creationId xmlns:a16="http://schemas.microsoft.com/office/drawing/2014/main" id="{B814ADD3-987F-47C2-3C22-2775CC79A60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42772" y="3976465"/>
              <a:ext cx="336064" cy="336064"/>
            </a:xfrm>
            <a:prstGeom prst="rect">
              <a:avLst/>
            </a:prstGeom>
          </p:spPr>
        </p:pic>
        <p:pic>
          <p:nvPicPr>
            <p:cNvPr id="61" name="Graphique 60" descr="Utilisateur avec un remplissage uni">
              <a:extLst>
                <a:ext uri="{FF2B5EF4-FFF2-40B4-BE49-F238E27FC236}">
                  <a16:creationId xmlns:a16="http://schemas.microsoft.com/office/drawing/2014/main" id="{6814C550-AE49-8BB8-E8D6-13F72C26A08C}"/>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77110" y="3705332"/>
              <a:ext cx="336064" cy="336064"/>
            </a:xfrm>
            <a:prstGeom prst="rect">
              <a:avLst/>
            </a:prstGeom>
          </p:spPr>
        </p:pic>
        <p:pic>
          <p:nvPicPr>
            <p:cNvPr id="62" name="Graphique 61" descr="Utilisateur avec un remplissage uni">
              <a:extLst>
                <a:ext uri="{FF2B5EF4-FFF2-40B4-BE49-F238E27FC236}">
                  <a16:creationId xmlns:a16="http://schemas.microsoft.com/office/drawing/2014/main" id="{52E4C2E1-BCF7-7096-D6B3-0B041846C52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56932" y="3429000"/>
              <a:ext cx="336064" cy="336064"/>
            </a:xfrm>
            <a:prstGeom prst="rect">
              <a:avLst/>
            </a:prstGeom>
          </p:spPr>
        </p:pic>
      </p:grpSp>
      <p:sp>
        <p:nvSpPr>
          <p:cNvPr id="65" name="Rectangle 64">
            <a:extLst>
              <a:ext uri="{FF2B5EF4-FFF2-40B4-BE49-F238E27FC236}">
                <a16:creationId xmlns:a16="http://schemas.microsoft.com/office/drawing/2014/main" id="{4F22A9FC-5AD8-BA7A-43DB-CE2CF8B8F3FE}"/>
              </a:ext>
            </a:extLst>
          </p:cNvPr>
          <p:cNvSpPr/>
          <p:nvPr/>
        </p:nvSpPr>
        <p:spPr>
          <a:xfrm>
            <a:off x="243219" y="3267786"/>
            <a:ext cx="11742814" cy="31662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qui motive les membres ? Qu’apprécient-ils dans la Communauté ? Qu’est-ce qui les ferait venir et s’engager ? Qu’est-ce qui les fait rester ? Que préfèrent-ils de la Communauté ? </a:t>
            </a:r>
          </a:p>
          <a:p>
            <a:pPr algn="ctr"/>
            <a:r>
              <a:rPr lang="fr-FR" sz="900" dirty="0">
                <a:solidFill>
                  <a:schemeClr val="tx1"/>
                </a:solidFill>
              </a:rPr>
              <a:t>Que voudraient-ils de la Communauté dans leurs rêves les plus fous ? Quelles sont les motivations exprimées ? Officieuses ?</a:t>
            </a:r>
          </a:p>
        </p:txBody>
      </p:sp>
      <p:sp>
        <p:nvSpPr>
          <p:cNvPr id="66" name="Rectangle 65">
            <a:extLst>
              <a:ext uri="{FF2B5EF4-FFF2-40B4-BE49-F238E27FC236}">
                <a16:creationId xmlns:a16="http://schemas.microsoft.com/office/drawing/2014/main" id="{75CF8436-20E0-DA8C-7110-B4DD571231FD}"/>
              </a:ext>
            </a:extLst>
          </p:cNvPr>
          <p:cNvSpPr/>
          <p:nvPr/>
        </p:nvSpPr>
        <p:spPr>
          <a:xfrm>
            <a:off x="1440529" y="3981884"/>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les membres auraient-ils besoin de plus de reconnaissance ?</a:t>
            </a:r>
          </a:p>
        </p:txBody>
      </p:sp>
      <p:sp>
        <p:nvSpPr>
          <p:cNvPr id="67" name="Rectangle 66">
            <a:extLst>
              <a:ext uri="{FF2B5EF4-FFF2-40B4-BE49-F238E27FC236}">
                <a16:creationId xmlns:a16="http://schemas.microsoft.com/office/drawing/2014/main" id="{A3D9E854-D9D0-06BA-9753-B1761CC84782}"/>
              </a:ext>
            </a:extLst>
          </p:cNvPr>
          <p:cNvSpPr/>
          <p:nvPr/>
        </p:nvSpPr>
        <p:spPr>
          <a:xfrm>
            <a:off x="1440527" y="4603232"/>
            <a:ext cx="1121698"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Sur quels aspects mérite(rai)lm plus de reconnaissance ?</a:t>
            </a:r>
          </a:p>
        </p:txBody>
      </p:sp>
      <p:sp>
        <p:nvSpPr>
          <p:cNvPr id="68" name="Rectangle 67">
            <a:extLst>
              <a:ext uri="{FF2B5EF4-FFF2-40B4-BE49-F238E27FC236}">
                <a16:creationId xmlns:a16="http://schemas.microsoft.com/office/drawing/2014/main" id="{1011FE30-A053-8A5B-3605-CE019B00FE6D}"/>
              </a:ext>
            </a:extLst>
          </p:cNvPr>
          <p:cNvSpPr/>
          <p:nvPr/>
        </p:nvSpPr>
        <p:spPr>
          <a:xfrm>
            <a:off x="2619951" y="3981884"/>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sont ils satisfaits de l’expérience ? A quel point ?</a:t>
            </a:r>
          </a:p>
        </p:txBody>
      </p:sp>
      <p:sp>
        <p:nvSpPr>
          <p:cNvPr id="69" name="Rectangle 68">
            <a:extLst>
              <a:ext uri="{FF2B5EF4-FFF2-40B4-BE49-F238E27FC236}">
                <a16:creationId xmlns:a16="http://schemas.microsoft.com/office/drawing/2014/main" id="{281E703D-4810-B651-4C48-AB9AFD6D2F41}"/>
              </a:ext>
            </a:extLst>
          </p:cNvPr>
          <p:cNvSpPr/>
          <p:nvPr/>
        </p:nvSpPr>
        <p:spPr>
          <a:xfrm>
            <a:off x="2619950" y="4603231"/>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stimule les membres ? A quel point?</a:t>
            </a:r>
          </a:p>
        </p:txBody>
      </p:sp>
      <p:sp>
        <p:nvSpPr>
          <p:cNvPr id="70" name="Rectangle 69">
            <a:extLst>
              <a:ext uri="{FF2B5EF4-FFF2-40B4-BE49-F238E27FC236}">
                <a16:creationId xmlns:a16="http://schemas.microsoft.com/office/drawing/2014/main" id="{C4E953E4-DC1F-E87F-CABB-D03195E3B405}"/>
              </a:ext>
            </a:extLst>
          </p:cNvPr>
          <p:cNvSpPr/>
          <p:nvPr/>
        </p:nvSpPr>
        <p:spPr>
          <a:xfrm>
            <a:off x="2619950" y="5208138"/>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les membres se sentent-ils à l’aise ? Pourquoi ?</a:t>
            </a:r>
          </a:p>
        </p:txBody>
      </p:sp>
      <p:sp>
        <p:nvSpPr>
          <p:cNvPr id="71" name="Rectangle 70">
            <a:extLst>
              <a:ext uri="{FF2B5EF4-FFF2-40B4-BE49-F238E27FC236}">
                <a16:creationId xmlns:a16="http://schemas.microsoft.com/office/drawing/2014/main" id="{BD596517-1DB5-8D66-12C6-EB1F915BBE8C}"/>
              </a:ext>
            </a:extLst>
          </p:cNvPr>
          <p:cNvSpPr/>
          <p:nvPr/>
        </p:nvSpPr>
        <p:spPr>
          <a:xfrm>
            <a:off x="2619949" y="5829485"/>
            <a:ext cx="1120154" cy="554359"/>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 craignent les membres ? Qu’est-ce qui les ferait se sentir mal ?</a:t>
            </a:r>
          </a:p>
        </p:txBody>
      </p:sp>
      <p:sp>
        <p:nvSpPr>
          <p:cNvPr id="72" name="Rectangle 71">
            <a:extLst>
              <a:ext uri="{FF2B5EF4-FFF2-40B4-BE49-F238E27FC236}">
                <a16:creationId xmlns:a16="http://schemas.microsoft.com/office/drawing/2014/main" id="{6F450B97-0290-BBC9-BA12-148D01A6F3F0}"/>
              </a:ext>
            </a:extLst>
          </p:cNvPr>
          <p:cNvSpPr/>
          <p:nvPr/>
        </p:nvSpPr>
        <p:spPr>
          <a:xfrm>
            <a:off x="1440527" y="5208138"/>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Auprès de qui cherche(rai)</a:t>
            </a:r>
            <a:r>
              <a:rPr lang="fr-FR" sz="900" dirty="0" err="1">
                <a:solidFill>
                  <a:schemeClr val="tx1"/>
                </a:solidFill>
              </a:rPr>
              <a:t>ent-ils</a:t>
            </a:r>
            <a:r>
              <a:rPr lang="fr-FR" sz="900" dirty="0">
                <a:solidFill>
                  <a:schemeClr val="tx1"/>
                </a:solidFill>
              </a:rPr>
              <a:t> de la reconnaissance ? </a:t>
            </a:r>
          </a:p>
        </p:txBody>
      </p:sp>
      <p:sp>
        <p:nvSpPr>
          <p:cNvPr id="73" name="Rectangle 72">
            <a:extLst>
              <a:ext uri="{FF2B5EF4-FFF2-40B4-BE49-F238E27FC236}">
                <a16:creationId xmlns:a16="http://schemas.microsoft.com/office/drawing/2014/main" id="{D405D7BE-AAAB-FC10-0D55-A97AF174BF43}"/>
              </a:ext>
            </a:extLst>
          </p:cNvPr>
          <p:cNvSpPr/>
          <p:nvPr/>
        </p:nvSpPr>
        <p:spPr>
          <a:xfrm>
            <a:off x="1440526" y="5829485"/>
            <a:ext cx="1120154" cy="554359"/>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qui entrave(rait) la reconnaissance des membres ?</a:t>
            </a:r>
          </a:p>
        </p:txBody>
      </p:sp>
      <p:sp>
        <p:nvSpPr>
          <p:cNvPr id="74" name="Rectangle 73">
            <a:extLst>
              <a:ext uri="{FF2B5EF4-FFF2-40B4-BE49-F238E27FC236}">
                <a16:creationId xmlns:a16="http://schemas.microsoft.com/office/drawing/2014/main" id="{4CA62A38-178D-EBEB-49C8-D117BBCCF902}"/>
              </a:ext>
            </a:extLst>
          </p:cNvPr>
          <p:cNvSpPr/>
          <p:nvPr/>
        </p:nvSpPr>
        <p:spPr>
          <a:xfrm>
            <a:off x="3799374" y="3981884"/>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aiment ils le côté collectif ? En demandent ils plus?</a:t>
            </a:r>
          </a:p>
        </p:txBody>
      </p:sp>
      <p:sp>
        <p:nvSpPr>
          <p:cNvPr id="75" name="Rectangle 74">
            <a:extLst>
              <a:ext uri="{FF2B5EF4-FFF2-40B4-BE49-F238E27FC236}">
                <a16:creationId xmlns:a16="http://schemas.microsoft.com/office/drawing/2014/main" id="{031CFC9E-0F80-8E01-4225-42FBFFA99E78}"/>
              </a:ext>
            </a:extLst>
          </p:cNvPr>
          <p:cNvSpPr/>
          <p:nvPr/>
        </p:nvSpPr>
        <p:spPr>
          <a:xfrm>
            <a:off x="3799373" y="4603231"/>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les membres se sentent liés aux autres ? </a:t>
            </a:r>
          </a:p>
        </p:txBody>
      </p:sp>
      <p:sp>
        <p:nvSpPr>
          <p:cNvPr id="76" name="Rectangle 75">
            <a:extLst>
              <a:ext uri="{FF2B5EF4-FFF2-40B4-BE49-F238E27FC236}">
                <a16:creationId xmlns:a16="http://schemas.microsoft.com/office/drawing/2014/main" id="{939058DD-7F94-2008-ED9D-140B6C8D2DE7}"/>
              </a:ext>
            </a:extLst>
          </p:cNvPr>
          <p:cNvSpPr/>
          <p:nvPr/>
        </p:nvSpPr>
        <p:spPr>
          <a:xfrm>
            <a:off x="3799373" y="5208138"/>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 ce qui est apprécié dans les relations entre membres ?</a:t>
            </a:r>
          </a:p>
        </p:txBody>
      </p:sp>
      <p:sp>
        <p:nvSpPr>
          <p:cNvPr id="77" name="Rectangle 76">
            <a:extLst>
              <a:ext uri="{FF2B5EF4-FFF2-40B4-BE49-F238E27FC236}">
                <a16:creationId xmlns:a16="http://schemas.microsoft.com/office/drawing/2014/main" id="{D2B70849-FED4-8A76-9D6C-6390EF66BC7B}"/>
              </a:ext>
            </a:extLst>
          </p:cNvPr>
          <p:cNvSpPr/>
          <p:nvPr/>
        </p:nvSpPr>
        <p:spPr>
          <a:xfrm>
            <a:off x="3799372" y="5829485"/>
            <a:ext cx="1120154" cy="554359"/>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 ce qui empêche ou nuit aux relations entre membres ?</a:t>
            </a:r>
          </a:p>
        </p:txBody>
      </p:sp>
      <p:sp>
        <p:nvSpPr>
          <p:cNvPr id="94" name="Rectangle 93">
            <a:extLst>
              <a:ext uri="{FF2B5EF4-FFF2-40B4-BE49-F238E27FC236}">
                <a16:creationId xmlns:a16="http://schemas.microsoft.com/office/drawing/2014/main" id="{BCE3623A-3BBC-4B94-9CA1-CB42135E1620}"/>
              </a:ext>
            </a:extLst>
          </p:cNvPr>
          <p:cNvSpPr/>
          <p:nvPr/>
        </p:nvSpPr>
        <p:spPr>
          <a:xfrm>
            <a:off x="4972897" y="3981884"/>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font-ils le lien avec leur travail ? A quel point ?</a:t>
            </a:r>
          </a:p>
        </p:txBody>
      </p:sp>
      <p:sp>
        <p:nvSpPr>
          <p:cNvPr id="100" name="Rectangle 99">
            <a:extLst>
              <a:ext uri="{FF2B5EF4-FFF2-40B4-BE49-F238E27FC236}">
                <a16:creationId xmlns:a16="http://schemas.microsoft.com/office/drawing/2014/main" id="{BCA98B01-AC2B-A51C-3894-850CE9714111}"/>
              </a:ext>
            </a:extLst>
          </p:cNvPr>
          <p:cNvSpPr/>
          <p:nvPr/>
        </p:nvSpPr>
        <p:spPr>
          <a:xfrm>
            <a:off x="4972896" y="4603231"/>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S’attendent-ils à un impact positif sur leur travail? Sur quels aspects ?</a:t>
            </a:r>
          </a:p>
        </p:txBody>
      </p:sp>
      <p:sp>
        <p:nvSpPr>
          <p:cNvPr id="110" name="Rectangle 109">
            <a:extLst>
              <a:ext uri="{FF2B5EF4-FFF2-40B4-BE49-F238E27FC236}">
                <a16:creationId xmlns:a16="http://schemas.microsoft.com/office/drawing/2014/main" id="{72196C4A-38B8-D496-909A-D5103752DB10}"/>
              </a:ext>
            </a:extLst>
          </p:cNvPr>
          <p:cNvSpPr/>
          <p:nvPr/>
        </p:nvSpPr>
        <p:spPr>
          <a:xfrm>
            <a:off x="4972896" y="5208138"/>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obligations les empêchent de participer ? Les ralentissent ?</a:t>
            </a:r>
          </a:p>
        </p:txBody>
      </p:sp>
      <p:sp>
        <p:nvSpPr>
          <p:cNvPr id="111" name="Rectangle 110">
            <a:extLst>
              <a:ext uri="{FF2B5EF4-FFF2-40B4-BE49-F238E27FC236}">
                <a16:creationId xmlns:a16="http://schemas.microsoft.com/office/drawing/2014/main" id="{73FF8D48-2BBD-1BE4-C76C-AE731E760527}"/>
              </a:ext>
            </a:extLst>
          </p:cNvPr>
          <p:cNvSpPr/>
          <p:nvPr/>
        </p:nvSpPr>
        <p:spPr>
          <a:xfrm>
            <a:off x="4972895" y="5829485"/>
            <a:ext cx="1120154" cy="554359"/>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Ont-ils des blocages liés à leur travail actuel ? Si oui lesquels ?</a:t>
            </a:r>
          </a:p>
        </p:txBody>
      </p:sp>
      <p:sp>
        <p:nvSpPr>
          <p:cNvPr id="112" name="Rectangle 111">
            <a:extLst>
              <a:ext uri="{FF2B5EF4-FFF2-40B4-BE49-F238E27FC236}">
                <a16:creationId xmlns:a16="http://schemas.microsoft.com/office/drawing/2014/main" id="{F490B80B-FF7A-AA92-1C4A-F0235320BB6D}"/>
              </a:ext>
            </a:extLst>
          </p:cNvPr>
          <p:cNvSpPr/>
          <p:nvPr/>
        </p:nvSpPr>
        <p:spPr>
          <a:xfrm>
            <a:off x="6152320" y="3981884"/>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cherchent-ils du sens ? En trouvent-ils ?</a:t>
            </a:r>
          </a:p>
        </p:txBody>
      </p:sp>
      <p:sp>
        <p:nvSpPr>
          <p:cNvPr id="113" name="Rectangle 112">
            <a:extLst>
              <a:ext uri="{FF2B5EF4-FFF2-40B4-BE49-F238E27FC236}">
                <a16:creationId xmlns:a16="http://schemas.microsoft.com/office/drawing/2014/main" id="{C9051F1D-42E8-9598-4BFB-4EA4C8C64BA8}"/>
              </a:ext>
            </a:extLst>
          </p:cNvPr>
          <p:cNvSpPr/>
          <p:nvPr/>
        </p:nvSpPr>
        <p:spPr>
          <a:xfrm>
            <a:off x="6152319" y="4603231"/>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les membres veulent-ils contribuer à quelque chose ?</a:t>
            </a:r>
          </a:p>
        </p:txBody>
      </p:sp>
      <p:sp>
        <p:nvSpPr>
          <p:cNvPr id="114" name="Rectangle 113">
            <a:extLst>
              <a:ext uri="{FF2B5EF4-FFF2-40B4-BE49-F238E27FC236}">
                <a16:creationId xmlns:a16="http://schemas.microsoft.com/office/drawing/2014/main" id="{5D2EB20A-0439-10CA-C021-C20DC963804F}"/>
              </a:ext>
            </a:extLst>
          </p:cNvPr>
          <p:cNvSpPr/>
          <p:nvPr/>
        </p:nvSpPr>
        <p:spPr>
          <a:xfrm>
            <a:off x="6152319" y="5208138"/>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Pour qui les membres s’engage(raie)nt ils ? Pourquoi ?</a:t>
            </a:r>
          </a:p>
        </p:txBody>
      </p:sp>
      <p:sp>
        <p:nvSpPr>
          <p:cNvPr id="115" name="Rectangle 114">
            <a:extLst>
              <a:ext uri="{FF2B5EF4-FFF2-40B4-BE49-F238E27FC236}">
                <a16:creationId xmlns:a16="http://schemas.microsoft.com/office/drawing/2014/main" id="{F450C34D-4450-3CAD-71EF-D98D943E08B7}"/>
              </a:ext>
            </a:extLst>
          </p:cNvPr>
          <p:cNvSpPr/>
          <p:nvPr/>
        </p:nvSpPr>
        <p:spPr>
          <a:xfrm>
            <a:off x="6152318" y="5829485"/>
            <a:ext cx="1120154" cy="554359"/>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Y’a-t-il critique ou rejet du sens de la Communauté ? Pourquoi ?</a:t>
            </a:r>
          </a:p>
        </p:txBody>
      </p:sp>
      <p:sp>
        <p:nvSpPr>
          <p:cNvPr id="116" name="Rectangle 115">
            <a:extLst>
              <a:ext uri="{FF2B5EF4-FFF2-40B4-BE49-F238E27FC236}">
                <a16:creationId xmlns:a16="http://schemas.microsoft.com/office/drawing/2014/main" id="{52AEF012-D7CE-C33B-482E-FC79D3A4806C}"/>
              </a:ext>
            </a:extLst>
          </p:cNvPr>
          <p:cNvSpPr/>
          <p:nvPr/>
        </p:nvSpPr>
        <p:spPr>
          <a:xfrm>
            <a:off x="7353319" y="3981884"/>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les membres cherchent-ils à apprendre ?</a:t>
            </a:r>
          </a:p>
        </p:txBody>
      </p:sp>
      <p:sp>
        <p:nvSpPr>
          <p:cNvPr id="117" name="Rectangle 116">
            <a:extLst>
              <a:ext uri="{FF2B5EF4-FFF2-40B4-BE49-F238E27FC236}">
                <a16:creationId xmlns:a16="http://schemas.microsoft.com/office/drawing/2014/main" id="{22B3E341-7788-72E9-B205-724BF806A392}"/>
              </a:ext>
            </a:extLst>
          </p:cNvPr>
          <p:cNvSpPr/>
          <p:nvPr/>
        </p:nvSpPr>
        <p:spPr>
          <a:xfrm>
            <a:off x="7353318" y="4603231"/>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 ce que les membres aiment, souhaitent apprendre ?</a:t>
            </a:r>
          </a:p>
        </p:txBody>
      </p:sp>
      <p:sp>
        <p:nvSpPr>
          <p:cNvPr id="118" name="Rectangle 117">
            <a:extLst>
              <a:ext uri="{FF2B5EF4-FFF2-40B4-BE49-F238E27FC236}">
                <a16:creationId xmlns:a16="http://schemas.microsoft.com/office/drawing/2014/main" id="{31044BB3-3A77-4D53-153D-4729935B600F}"/>
              </a:ext>
            </a:extLst>
          </p:cNvPr>
          <p:cNvSpPr/>
          <p:nvPr/>
        </p:nvSpPr>
        <p:spPr>
          <a:xfrm>
            <a:off x="7353318" y="5208138"/>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objectifs individuels de réussite des membres ?</a:t>
            </a:r>
          </a:p>
        </p:txBody>
      </p:sp>
      <p:sp>
        <p:nvSpPr>
          <p:cNvPr id="119" name="Rectangle 118">
            <a:extLst>
              <a:ext uri="{FF2B5EF4-FFF2-40B4-BE49-F238E27FC236}">
                <a16:creationId xmlns:a16="http://schemas.microsoft.com/office/drawing/2014/main" id="{C5F09A8F-A7DE-863D-046F-A14373FC27E7}"/>
              </a:ext>
            </a:extLst>
          </p:cNvPr>
          <p:cNvSpPr/>
          <p:nvPr/>
        </p:nvSpPr>
        <p:spPr>
          <a:xfrm>
            <a:off x="7353317" y="5829485"/>
            <a:ext cx="1120154" cy="554359"/>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 côté collectif les freine-t-il dans leur développement perso ?</a:t>
            </a:r>
          </a:p>
        </p:txBody>
      </p:sp>
      <p:sp>
        <p:nvSpPr>
          <p:cNvPr id="120" name="Rectangle 119">
            <a:extLst>
              <a:ext uri="{FF2B5EF4-FFF2-40B4-BE49-F238E27FC236}">
                <a16:creationId xmlns:a16="http://schemas.microsoft.com/office/drawing/2014/main" id="{CB104FB1-D0E4-D859-0504-1A19D6935E41}"/>
              </a:ext>
            </a:extLst>
          </p:cNvPr>
          <p:cNvSpPr/>
          <p:nvPr/>
        </p:nvSpPr>
        <p:spPr>
          <a:xfrm>
            <a:off x="8532742" y="3981884"/>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se sentent-ils assez ou trop libres dans la Communauté ? </a:t>
            </a:r>
          </a:p>
        </p:txBody>
      </p:sp>
      <p:sp>
        <p:nvSpPr>
          <p:cNvPr id="121" name="Rectangle 120">
            <a:extLst>
              <a:ext uri="{FF2B5EF4-FFF2-40B4-BE49-F238E27FC236}">
                <a16:creationId xmlns:a16="http://schemas.microsoft.com/office/drawing/2014/main" id="{5599B054-E234-BDEB-6B92-113B221ADBF1}"/>
              </a:ext>
            </a:extLst>
          </p:cNvPr>
          <p:cNvSpPr/>
          <p:nvPr/>
        </p:nvSpPr>
        <p:spPr>
          <a:xfrm>
            <a:off x="8532741" y="4603231"/>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que la Communauté leur permet, et n’est pas permis ailleurs ?</a:t>
            </a:r>
          </a:p>
        </p:txBody>
      </p:sp>
      <p:sp>
        <p:nvSpPr>
          <p:cNvPr id="122" name="Rectangle 121">
            <a:extLst>
              <a:ext uri="{FF2B5EF4-FFF2-40B4-BE49-F238E27FC236}">
                <a16:creationId xmlns:a16="http://schemas.microsoft.com/office/drawing/2014/main" id="{E4A2C818-4BEC-7286-7E0A-E73DB2808459}"/>
              </a:ext>
            </a:extLst>
          </p:cNvPr>
          <p:cNvSpPr/>
          <p:nvPr/>
        </p:nvSpPr>
        <p:spPr>
          <a:xfrm>
            <a:off x="8532741" y="5208138"/>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formes de libertés seraient bénéfiques ? Sont demandées ? </a:t>
            </a:r>
          </a:p>
        </p:txBody>
      </p:sp>
      <p:sp>
        <p:nvSpPr>
          <p:cNvPr id="123" name="Rectangle 122">
            <a:extLst>
              <a:ext uri="{FF2B5EF4-FFF2-40B4-BE49-F238E27FC236}">
                <a16:creationId xmlns:a16="http://schemas.microsoft.com/office/drawing/2014/main" id="{F85B022B-A278-8D1A-6265-89D9B4D31CCB}"/>
              </a:ext>
            </a:extLst>
          </p:cNvPr>
          <p:cNvSpPr/>
          <p:nvPr/>
        </p:nvSpPr>
        <p:spPr>
          <a:xfrm>
            <a:off x="8532740" y="5829485"/>
            <a:ext cx="1120154" cy="554359"/>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craignent-ils de s’engager ? Pourquoi ?</a:t>
            </a:r>
          </a:p>
        </p:txBody>
      </p:sp>
      <p:sp>
        <p:nvSpPr>
          <p:cNvPr id="124" name="Rectangle 123">
            <a:extLst>
              <a:ext uri="{FF2B5EF4-FFF2-40B4-BE49-F238E27FC236}">
                <a16:creationId xmlns:a16="http://schemas.microsoft.com/office/drawing/2014/main" id="{A64F0B18-8C9D-871A-4B90-D4D2F33BFAEE}"/>
              </a:ext>
            </a:extLst>
          </p:cNvPr>
          <p:cNvSpPr/>
          <p:nvPr/>
        </p:nvSpPr>
        <p:spPr>
          <a:xfrm>
            <a:off x="9706265" y="3981884"/>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s’attendent-ils à créer par la Communauté ?</a:t>
            </a:r>
          </a:p>
        </p:txBody>
      </p:sp>
      <p:sp>
        <p:nvSpPr>
          <p:cNvPr id="125" name="Rectangle 124">
            <a:extLst>
              <a:ext uri="{FF2B5EF4-FFF2-40B4-BE49-F238E27FC236}">
                <a16:creationId xmlns:a16="http://schemas.microsoft.com/office/drawing/2014/main" id="{AD503DC3-C540-B522-14A9-CC9CE7953D81}"/>
              </a:ext>
            </a:extLst>
          </p:cNvPr>
          <p:cNvSpPr/>
          <p:nvPr/>
        </p:nvSpPr>
        <p:spPr>
          <a:xfrm>
            <a:off x="9706264" y="4603231"/>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pourrait-elle aider les membres à créer et s’exprimer?</a:t>
            </a:r>
          </a:p>
        </p:txBody>
      </p:sp>
      <p:sp>
        <p:nvSpPr>
          <p:cNvPr id="126" name="Rectangle 125">
            <a:extLst>
              <a:ext uri="{FF2B5EF4-FFF2-40B4-BE49-F238E27FC236}">
                <a16:creationId xmlns:a16="http://schemas.microsoft.com/office/drawing/2014/main" id="{7AAA4E6A-0027-EAF8-1540-7A8FB4FF7136}"/>
              </a:ext>
            </a:extLst>
          </p:cNvPr>
          <p:cNvSpPr/>
          <p:nvPr/>
        </p:nvSpPr>
        <p:spPr>
          <a:xfrm>
            <a:off x="9706264" y="5208138"/>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que les membres ont pris goût à créer ?</a:t>
            </a:r>
          </a:p>
        </p:txBody>
      </p:sp>
      <p:sp>
        <p:nvSpPr>
          <p:cNvPr id="127" name="Rectangle 126">
            <a:extLst>
              <a:ext uri="{FF2B5EF4-FFF2-40B4-BE49-F238E27FC236}">
                <a16:creationId xmlns:a16="http://schemas.microsoft.com/office/drawing/2014/main" id="{92E609E5-11FC-A77C-FCE3-1D9EE7BCF672}"/>
              </a:ext>
            </a:extLst>
          </p:cNvPr>
          <p:cNvSpPr/>
          <p:nvPr/>
        </p:nvSpPr>
        <p:spPr>
          <a:xfrm>
            <a:off x="9706263" y="5829485"/>
            <a:ext cx="1120154" cy="554359"/>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 côté collectif empêche-t-il les membres de s’exprimer ?</a:t>
            </a:r>
          </a:p>
        </p:txBody>
      </p:sp>
      <p:sp>
        <p:nvSpPr>
          <p:cNvPr id="128" name="Rectangle 127">
            <a:extLst>
              <a:ext uri="{FF2B5EF4-FFF2-40B4-BE49-F238E27FC236}">
                <a16:creationId xmlns:a16="http://schemas.microsoft.com/office/drawing/2014/main" id="{D2EBFF6B-9EC5-6C48-2430-2326569EA899}"/>
              </a:ext>
            </a:extLst>
          </p:cNvPr>
          <p:cNvSpPr/>
          <p:nvPr/>
        </p:nvSpPr>
        <p:spPr>
          <a:xfrm>
            <a:off x="10885688" y="3981884"/>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sont-ils motivés par autre chose que les motivateurs listés ?</a:t>
            </a:r>
          </a:p>
        </p:txBody>
      </p:sp>
      <p:sp>
        <p:nvSpPr>
          <p:cNvPr id="129" name="Rectangle 128">
            <a:extLst>
              <a:ext uri="{FF2B5EF4-FFF2-40B4-BE49-F238E27FC236}">
                <a16:creationId xmlns:a16="http://schemas.microsoft.com/office/drawing/2014/main" id="{9B47F30F-317F-322F-7EE3-8C05E055EF9B}"/>
              </a:ext>
            </a:extLst>
          </p:cNvPr>
          <p:cNvSpPr/>
          <p:nvPr/>
        </p:nvSpPr>
        <p:spPr>
          <a:xfrm>
            <a:off x="10885687" y="4603231"/>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Est-ce qu’il y a des motivations très particulières des membres ?</a:t>
            </a:r>
          </a:p>
        </p:txBody>
      </p:sp>
      <p:sp>
        <p:nvSpPr>
          <p:cNvPr id="130" name="Rectangle 129">
            <a:extLst>
              <a:ext uri="{FF2B5EF4-FFF2-40B4-BE49-F238E27FC236}">
                <a16:creationId xmlns:a16="http://schemas.microsoft.com/office/drawing/2014/main" id="{0A3C4684-19AA-BA2B-AD7D-4935008EB8CC}"/>
              </a:ext>
            </a:extLst>
          </p:cNvPr>
          <p:cNvSpPr/>
          <p:nvPr/>
        </p:nvSpPr>
        <p:spPr>
          <a:xfrm>
            <a:off x="10885687" y="5208138"/>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que les attentes des membres ont d’exceptionnel ?</a:t>
            </a:r>
          </a:p>
        </p:txBody>
      </p:sp>
      <p:sp>
        <p:nvSpPr>
          <p:cNvPr id="131" name="Rectangle 130">
            <a:extLst>
              <a:ext uri="{FF2B5EF4-FFF2-40B4-BE49-F238E27FC236}">
                <a16:creationId xmlns:a16="http://schemas.microsoft.com/office/drawing/2014/main" id="{A3B7AEB0-381A-C8EC-D545-37AA1711AB11}"/>
              </a:ext>
            </a:extLst>
          </p:cNvPr>
          <p:cNvSpPr/>
          <p:nvPr/>
        </p:nvSpPr>
        <p:spPr>
          <a:xfrm>
            <a:off x="10885686" y="5829485"/>
            <a:ext cx="1120154" cy="554359"/>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autres blocages des membres ? De quelle source ?</a:t>
            </a:r>
          </a:p>
        </p:txBody>
      </p:sp>
      <p:sp>
        <p:nvSpPr>
          <p:cNvPr id="132" name="Rectangle 131">
            <a:extLst>
              <a:ext uri="{FF2B5EF4-FFF2-40B4-BE49-F238E27FC236}">
                <a16:creationId xmlns:a16="http://schemas.microsoft.com/office/drawing/2014/main" id="{0913902E-6BC4-F1B5-7815-CE5971A79DFC}"/>
              </a:ext>
            </a:extLst>
          </p:cNvPr>
          <p:cNvSpPr/>
          <p:nvPr/>
        </p:nvSpPr>
        <p:spPr>
          <a:xfrm>
            <a:off x="254881" y="3981884"/>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Est-ce que les membres cherchent à gagner quelque chose ? Quoi ?</a:t>
            </a:r>
          </a:p>
        </p:txBody>
      </p:sp>
      <p:sp>
        <p:nvSpPr>
          <p:cNvPr id="133" name="Rectangle 132">
            <a:extLst>
              <a:ext uri="{FF2B5EF4-FFF2-40B4-BE49-F238E27FC236}">
                <a16:creationId xmlns:a16="http://schemas.microsoft.com/office/drawing/2014/main" id="{6A0A7EE4-71E0-DD1F-ADC7-2C0FD2C6B3D9}"/>
              </a:ext>
            </a:extLst>
          </p:cNvPr>
          <p:cNvSpPr/>
          <p:nvPr/>
        </p:nvSpPr>
        <p:spPr>
          <a:xfrm>
            <a:off x="254880" y="4603231"/>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que les membres ont à gagner (pour eux) en s’engageant ?</a:t>
            </a:r>
          </a:p>
        </p:txBody>
      </p:sp>
      <p:sp>
        <p:nvSpPr>
          <p:cNvPr id="134" name="Rectangle 133">
            <a:extLst>
              <a:ext uri="{FF2B5EF4-FFF2-40B4-BE49-F238E27FC236}">
                <a16:creationId xmlns:a16="http://schemas.microsoft.com/office/drawing/2014/main" id="{AD40D1CD-10ED-3881-F1A7-0C3CB8DF8300}"/>
              </a:ext>
            </a:extLst>
          </p:cNvPr>
          <p:cNvSpPr/>
          <p:nvPr/>
        </p:nvSpPr>
        <p:spPr>
          <a:xfrm>
            <a:off x="254880" y="5208138"/>
            <a:ext cx="1120154" cy="554359"/>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Y’a-t-il des gains attendus via la Communauté ?  Non satisfaits ?</a:t>
            </a:r>
          </a:p>
        </p:txBody>
      </p:sp>
      <p:sp>
        <p:nvSpPr>
          <p:cNvPr id="135" name="Rectangle 134">
            <a:extLst>
              <a:ext uri="{FF2B5EF4-FFF2-40B4-BE49-F238E27FC236}">
                <a16:creationId xmlns:a16="http://schemas.microsoft.com/office/drawing/2014/main" id="{5FCB1903-3059-F591-D2E0-76B999E8C87E}"/>
              </a:ext>
            </a:extLst>
          </p:cNvPr>
          <p:cNvSpPr/>
          <p:nvPr/>
        </p:nvSpPr>
        <p:spPr>
          <a:xfrm>
            <a:off x="254879" y="5829485"/>
            <a:ext cx="1120154" cy="554359"/>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entrave-t-elle les gains souhaités par les membres ? </a:t>
            </a:r>
          </a:p>
        </p:txBody>
      </p:sp>
      <p:sp>
        <p:nvSpPr>
          <p:cNvPr id="78" name="Rectangle 77">
            <a:extLst>
              <a:ext uri="{FF2B5EF4-FFF2-40B4-BE49-F238E27FC236}">
                <a16:creationId xmlns:a16="http://schemas.microsoft.com/office/drawing/2014/main" id="{1A92E187-1BB6-20AA-CF14-46C6553DA32C}"/>
              </a:ext>
            </a:extLst>
          </p:cNvPr>
          <p:cNvSpPr/>
          <p:nvPr/>
        </p:nvSpPr>
        <p:spPr>
          <a:xfrm>
            <a:off x="243219" y="3660826"/>
            <a:ext cx="11742814" cy="253810"/>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blocages et démotivations ? Exprimés ou officieux ? Quels sont les sujets les plus souvent évoqués comme problématiques ? </a:t>
            </a:r>
          </a:p>
          <a:p>
            <a:pPr algn="ctr"/>
            <a:r>
              <a:rPr lang="fr-FR" sz="900" dirty="0">
                <a:solidFill>
                  <a:schemeClr val="tx1"/>
                </a:solidFill>
              </a:rPr>
              <a:t>Qu’est-ce qui a motivé les dépriorisations, départs ou abandons ?</a:t>
            </a:r>
          </a:p>
        </p:txBody>
      </p:sp>
      <p:pic>
        <p:nvPicPr>
          <p:cNvPr id="79" name="Graphique 78" descr="Femme scientifique avec un remplissage uni">
            <a:extLst>
              <a:ext uri="{FF2B5EF4-FFF2-40B4-BE49-F238E27FC236}">
                <a16:creationId xmlns:a16="http://schemas.microsoft.com/office/drawing/2014/main" id="{2EE28371-F4E3-B0B9-4941-64AE37EFB47D}"/>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rcRect/>
          <a:stretch/>
        </p:blipFill>
        <p:spPr>
          <a:xfrm>
            <a:off x="699376" y="249688"/>
            <a:ext cx="381595" cy="381595"/>
          </a:xfrm>
          <a:prstGeom prst="rect">
            <a:avLst/>
          </a:prstGeom>
        </p:spPr>
      </p:pic>
    </p:spTree>
    <p:extLst>
      <p:ext uri="{BB962C8B-B14F-4D97-AF65-F5344CB8AC3E}">
        <p14:creationId xmlns:p14="http://schemas.microsoft.com/office/powerpoint/2010/main" val="4148734727"/>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1216616" y="365125"/>
            <a:ext cx="10137183" cy="1325563"/>
          </a:xfrm>
        </p:spPr>
        <p:txBody>
          <a:bodyPr>
            <a:noAutofit/>
          </a:bodyPr>
          <a:lstStyle/>
          <a:p>
            <a:r>
              <a:rPr lang="fr-FR" sz="2400" b="1" dirty="0"/>
              <a:t>Renseignement délibéré :</a:t>
            </a:r>
            <a:br>
              <a:rPr lang="fr-FR" sz="2400" dirty="0"/>
            </a:br>
            <a:r>
              <a:rPr lang="fr-FR" sz="2400" dirty="0"/>
              <a:t>Exemple de sondage – valeur et blocages pour les membres</a:t>
            </a:r>
          </a:p>
        </p:txBody>
      </p:sp>
      <p:grpSp>
        <p:nvGrpSpPr>
          <p:cNvPr id="50" name="Groupe 49">
            <a:extLst>
              <a:ext uri="{FF2B5EF4-FFF2-40B4-BE49-F238E27FC236}">
                <a16:creationId xmlns:a16="http://schemas.microsoft.com/office/drawing/2014/main" id="{71D7620C-0310-FCF1-DC7D-D06A9E6D577E}"/>
              </a:ext>
            </a:extLst>
          </p:cNvPr>
          <p:cNvGrpSpPr/>
          <p:nvPr/>
        </p:nvGrpSpPr>
        <p:grpSpPr>
          <a:xfrm>
            <a:off x="254879" y="503219"/>
            <a:ext cx="1004893" cy="847205"/>
            <a:chOff x="8982504" y="3274976"/>
            <a:chExt cx="1230670" cy="1037553"/>
          </a:xfrm>
          <a:solidFill>
            <a:srgbClr val="ED7D31"/>
          </a:solidFill>
        </p:grpSpPr>
        <p:pic>
          <p:nvPicPr>
            <p:cNvPr id="51" name="Graphique 50" descr="Utilisateur avec un remplissage uni">
              <a:extLst>
                <a:ext uri="{FF2B5EF4-FFF2-40B4-BE49-F238E27FC236}">
                  <a16:creationId xmlns:a16="http://schemas.microsoft.com/office/drawing/2014/main" id="{FC437C24-B215-7321-97F6-BC93F62D954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52" name="Graphique 51" descr="Utilisateur avec un remplissage uni">
              <a:extLst>
                <a:ext uri="{FF2B5EF4-FFF2-40B4-BE49-F238E27FC236}">
                  <a16:creationId xmlns:a16="http://schemas.microsoft.com/office/drawing/2014/main" id="{F40BB642-342D-B3BF-1E4C-C3EEB475F56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53" name="Graphique 52" descr="Utilisateur avec un remplissage uni">
              <a:extLst>
                <a:ext uri="{FF2B5EF4-FFF2-40B4-BE49-F238E27FC236}">
                  <a16:creationId xmlns:a16="http://schemas.microsoft.com/office/drawing/2014/main" id="{B7491FED-941C-88F8-B843-1AB5A7448BD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54" name="Graphique 53" descr="Utilisateur avec un remplissage uni">
              <a:extLst>
                <a:ext uri="{FF2B5EF4-FFF2-40B4-BE49-F238E27FC236}">
                  <a16:creationId xmlns:a16="http://schemas.microsoft.com/office/drawing/2014/main" id="{37752C6A-E354-DBE2-91BB-417928ED429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56" name="Graphique 55" descr="Utilisateur avec un remplissage uni">
              <a:extLst>
                <a:ext uri="{FF2B5EF4-FFF2-40B4-BE49-F238E27FC236}">
                  <a16:creationId xmlns:a16="http://schemas.microsoft.com/office/drawing/2014/main" id="{31BE684F-0DB5-B58C-B9DC-73AE9B2D522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57" name="Graphique 56" descr="Utilisateur avec un remplissage uni">
              <a:extLst>
                <a:ext uri="{FF2B5EF4-FFF2-40B4-BE49-F238E27FC236}">
                  <a16:creationId xmlns:a16="http://schemas.microsoft.com/office/drawing/2014/main" id="{D2948BE0-488C-B5FE-DCC2-DD72B625E92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58" name="Graphique 57" descr="Utilisateur avec un remplissage uni">
              <a:extLst>
                <a:ext uri="{FF2B5EF4-FFF2-40B4-BE49-F238E27FC236}">
                  <a16:creationId xmlns:a16="http://schemas.microsoft.com/office/drawing/2014/main" id="{E9F6E718-290D-543E-4E3E-14BFB6A9A7A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59" name="Graphique 58" descr="Utilisateur avec un remplissage uni">
              <a:extLst>
                <a:ext uri="{FF2B5EF4-FFF2-40B4-BE49-F238E27FC236}">
                  <a16:creationId xmlns:a16="http://schemas.microsoft.com/office/drawing/2014/main" id="{702501F4-093D-4504-C889-C5370617ED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60" name="Graphique 59" descr="Utilisateur avec un remplissage uni">
              <a:extLst>
                <a:ext uri="{FF2B5EF4-FFF2-40B4-BE49-F238E27FC236}">
                  <a16:creationId xmlns:a16="http://schemas.microsoft.com/office/drawing/2014/main" id="{B814ADD3-987F-47C2-3C22-2775CC79A60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61" name="Graphique 60" descr="Utilisateur avec un remplissage uni">
              <a:extLst>
                <a:ext uri="{FF2B5EF4-FFF2-40B4-BE49-F238E27FC236}">
                  <a16:creationId xmlns:a16="http://schemas.microsoft.com/office/drawing/2014/main" id="{6814C550-AE49-8BB8-E8D6-13F72C26A0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62" name="Graphique 61" descr="Utilisateur avec un remplissage uni">
              <a:extLst>
                <a:ext uri="{FF2B5EF4-FFF2-40B4-BE49-F238E27FC236}">
                  <a16:creationId xmlns:a16="http://schemas.microsoft.com/office/drawing/2014/main" id="{52E4C2E1-BCF7-7096-D6B3-0B041846C52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79" name="Graphique 78" descr="Femme scientifique avec un remplissage uni">
            <a:extLst>
              <a:ext uri="{FF2B5EF4-FFF2-40B4-BE49-F238E27FC236}">
                <a16:creationId xmlns:a16="http://schemas.microsoft.com/office/drawing/2014/main" id="{2EE28371-F4E3-B0B9-4941-64AE37EFB47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699376" y="249688"/>
            <a:ext cx="381595" cy="381595"/>
          </a:xfrm>
          <a:prstGeom prst="rect">
            <a:avLst/>
          </a:prstGeom>
        </p:spPr>
      </p:pic>
      <p:sp>
        <p:nvSpPr>
          <p:cNvPr id="18" name="ZoneTexte 17">
            <a:extLst>
              <a:ext uri="{FF2B5EF4-FFF2-40B4-BE49-F238E27FC236}">
                <a16:creationId xmlns:a16="http://schemas.microsoft.com/office/drawing/2014/main" id="{367075ED-81A4-17E6-768C-940CF7F42AB2}"/>
              </a:ext>
            </a:extLst>
          </p:cNvPr>
          <p:cNvSpPr txBox="1"/>
          <p:nvPr/>
        </p:nvSpPr>
        <p:spPr>
          <a:xfrm>
            <a:off x="2282487" y="1485284"/>
            <a:ext cx="8005440" cy="369332"/>
          </a:xfrm>
          <a:prstGeom prst="rect">
            <a:avLst/>
          </a:prstGeom>
          <a:noFill/>
        </p:spPr>
        <p:txBody>
          <a:bodyPr wrap="square">
            <a:spAutoFit/>
          </a:bodyPr>
          <a:lstStyle/>
          <a:p>
            <a:pPr algn="ctr"/>
            <a:r>
              <a:rPr lang="fr-FR" sz="1800" b="1" dirty="0">
                <a:solidFill>
                  <a:schemeClr val="tx1"/>
                </a:solidFill>
              </a:rPr>
              <a:t>Qu’est-ce qui vous motive aujourd’hui à vous participer dans la Communauté ?</a:t>
            </a:r>
            <a:endParaRPr lang="fr-FR" b="1" dirty="0"/>
          </a:p>
        </p:txBody>
      </p:sp>
      <p:graphicFrame>
        <p:nvGraphicFramePr>
          <p:cNvPr id="4" name="Tableau 4">
            <a:extLst>
              <a:ext uri="{FF2B5EF4-FFF2-40B4-BE49-F238E27FC236}">
                <a16:creationId xmlns:a16="http://schemas.microsoft.com/office/drawing/2014/main" id="{8EA3540A-61B5-6EDF-97BD-F43042166373}"/>
              </a:ext>
            </a:extLst>
          </p:cNvPr>
          <p:cNvGraphicFramePr>
            <a:graphicFrameLocks noGrp="1"/>
          </p:cNvGraphicFramePr>
          <p:nvPr>
            <p:extLst>
              <p:ext uri="{D42A27DB-BD31-4B8C-83A1-F6EECF244321}">
                <p14:modId xmlns:p14="http://schemas.microsoft.com/office/powerpoint/2010/main" val="1969979330"/>
              </p:ext>
            </p:extLst>
          </p:nvPr>
        </p:nvGraphicFramePr>
        <p:xfrm>
          <a:off x="615764" y="1796893"/>
          <a:ext cx="11175130" cy="4863157"/>
        </p:xfrm>
        <a:graphic>
          <a:graphicData uri="http://schemas.openxmlformats.org/drawingml/2006/table">
            <a:tbl>
              <a:tblPr>
                <a:tableStyleId>{5C22544A-7EE6-4342-B048-85BDC9FD1C3A}</a:tableStyleId>
              </a:tblPr>
              <a:tblGrid>
                <a:gridCol w="2235026">
                  <a:extLst>
                    <a:ext uri="{9D8B030D-6E8A-4147-A177-3AD203B41FA5}">
                      <a16:colId xmlns:a16="http://schemas.microsoft.com/office/drawing/2014/main" val="1540516576"/>
                    </a:ext>
                  </a:extLst>
                </a:gridCol>
                <a:gridCol w="2235026">
                  <a:extLst>
                    <a:ext uri="{9D8B030D-6E8A-4147-A177-3AD203B41FA5}">
                      <a16:colId xmlns:a16="http://schemas.microsoft.com/office/drawing/2014/main" val="3579869998"/>
                    </a:ext>
                  </a:extLst>
                </a:gridCol>
                <a:gridCol w="2235026">
                  <a:extLst>
                    <a:ext uri="{9D8B030D-6E8A-4147-A177-3AD203B41FA5}">
                      <a16:colId xmlns:a16="http://schemas.microsoft.com/office/drawing/2014/main" val="3858283668"/>
                    </a:ext>
                  </a:extLst>
                </a:gridCol>
                <a:gridCol w="2235026">
                  <a:extLst>
                    <a:ext uri="{9D8B030D-6E8A-4147-A177-3AD203B41FA5}">
                      <a16:colId xmlns:a16="http://schemas.microsoft.com/office/drawing/2014/main" val="2025395901"/>
                    </a:ext>
                  </a:extLst>
                </a:gridCol>
                <a:gridCol w="2235026">
                  <a:extLst>
                    <a:ext uri="{9D8B030D-6E8A-4147-A177-3AD203B41FA5}">
                      <a16:colId xmlns:a16="http://schemas.microsoft.com/office/drawing/2014/main" val="2803159225"/>
                    </a:ext>
                  </a:extLst>
                </a:gridCol>
              </a:tblGrid>
              <a:tr h="421343">
                <a:tc>
                  <a:txBody>
                    <a:bodyPr/>
                    <a:lstStyle/>
                    <a:p>
                      <a:pPr algn="ctr"/>
                      <a:endParaRPr lang="fr-FR" dirty="0"/>
                    </a:p>
                  </a:txBody>
                  <a:tcPr anchor="ctr"/>
                </a:tc>
                <a:tc>
                  <a:txBody>
                    <a:bodyPr/>
                    <a:lstStyle/>
                    <a:p>
                      <a:pPr algn="ctr"/>
                      <a:r>
                        <a:rPr lang="fr-FR" sz="1000" b="1" dirty="0"/>
                        <a:t>C’est vraiment pour cela que je m’engage</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000" b="1" dirty="0"/>
                        <a:t>C’est un effet de bord appréciable ou parfois cela arrive par accident, mais ce n’est pas la raison de mon engagement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000" b="1" dirty="0"/>
                        <a:t>J’y suis obligé</a:t>
                      </a:r>
                    </a:p>
                  </a:txBody>
                  <a:tcPr anchor="ctr"/>
                </a:tc>
                <a:tc>
                  <a:txBody>
                    <a:bodyPr/>
                    <a:lstStyle/>
                    <a:p>
                      <a:pPr algn="ctr"/>
                      <a:r>
                        <a:rPr lang="fr-FR" sz="1000" b="1" dirty="0"/>
                        <a:t>Pas vraiment</a:t>
                      </a:r>
                    </a:p>
                  </a:txBody>
                  <a:tcPr anchor="ctr"/>
                </a:tc>
                <a:extLst>
                  <a:ext uri="{0D108BD9-81ED-4DB2-BD59-A6C34878D82A}">
                    <a16:rowId xmlns:a16="http://schemas.microsoft.com/office/drawing/2014/main" val="1030754613"/>
                  </a:ext>
                </a:extLst>
              </a:tr>
              <a:tr h="450202">
                <a:tc>
                  <a:txBody>
                    <a:bodyPr/>
                    <a:lstStyle/>
                    <a:p>
                      <a:pPr algn="ctr"/>
                      <a:r>
                        <a:rPr lang="fr-FR" sz="1000" b="1" dirty="0"/>
                        <a:t>Pouvoir gagner de l’argent et des cadeaux</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extLst>
                  <a:ext uri="{0D108BD9-81ED-4DB2-BD59-A6C34878D82A}">
                    <a16:rowId xmlns:a16="http://schemas.microsoft.com/office/drawing/2014/main" val="2199367621"/>
                  </a:ext>
                </a:extLst>
              </a:tr>
              <a:tr h="421343">
                <a:tc>
                  <a:txBody>
                    <a:bodyPr/>
                    <a:lstStyle/>
                    <a:p>
                      <a:pPr algn="ctr"/>
                      <a:r>
                        <a:rPr lang="fr-FR" sz="1000" b="1" dirty="0"/>
                        <a:t>Être reconnu dans l’entreprise, parmi mes pairs ou non-pairs, ou à l’extérieur</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extLst>
                  <a:ext uri="{0D108BD9-81ED-4DB2-BD59-A6C34878D82A}">
                    <a16:rowId xmlns:a16="http://schemas.microsoft.com/office/drawing/2014/main" val="4090543064"/>
                  </a:ext>
                </a:extLst>
              </a:tr>
              <a:tr h="450202">
                <a:tc>
                  <a:txBody>
                    <a:bodyPr/>
                    <a:lstStyle/>
                    <a:p>
                      <a:pPr algn="ctr"/>
                      <a:r>
                        <a:rPr lang="fr-FR" sz="1000" b="1" dirty="0"/>
                        <a:t>Vivre des expériences (moments, contenus…) stimulantes ou apaisantes</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extLst>
                  <a:ext uri="{0D108BD9-81ED-4DB2-BD59-A6C34878D82A}">
                    <a16:rowId xmlns:a16="http://schemas.microsoft.com/office/drawing/2014/main" val="1778386639"/>
                  </a:ext>
                </a:extLst>
              </a:tr>
              <a:tr h="421343">
                <a:tc>
                  <a:txBody>
                    <a:bodyPr/>
                    <a:lstStyle/>
                    <a:p>
                      <a:pPr algn="ctr"/>
                      <a:r>
                        <a:rPr lang="fr-FR" sz="1000" b="1" dirty="0"/>
                        <a:t>Tisser des liens et des relations avec les autres membres ou d’autres personnes</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extLst>
                  <a:ext uri="{0D108BD9-81ED-4DB2-BD59-A6C34878D82A}">
                    <a16:rowId xmlns:a16="http://schemas.microsoft.com/office/drawing/2014/main" val="2452718684"/>
                  </a:ext>
                </a:extLst>
              </a:tr>
              <a:tr h="421343">
                <a:tc>
                  <a:txBody>
                    <a:bodyPr/>
                    <a:lstStyle/>
                    <a:p>
                      <a:pPr algn="ctr"/>
                      <a:r>
                        <a:rPr lang="fr-FR" sz="1000" b="1" dirty="0"/>
                        <a:t>Pouvoir mieux faire mon travail à terme</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extLst>
                  <a:ext uri="{0D108BD9-81ED-4DB2-BD59-A6C34878D82A}">
                    <a16:rowId xmlns:a16="http://schemas.microsoft.com/office/drawing/2014/main" val="3769819012"/>
                  </a:ext>
                </a:extLst>
              </a:tr>
              <a:tr h="421343">
                <a:tc>
                  <a:txBody>
                    <a:bodyPr/>
                    <a:lstStyle/>
                    <a:p>
                      <a:pPr algn="ctr"/>
                      <a:r>
                        <a:rPr lang="fr-FR" sz="1000" b="1" dirty="0"/>
                        <a:t>Développer mes compétences, apprendre, me réaliser</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extLst>
                  <a:ext uri="{0D108BD9-81ED-4DB2-BD59-A6C34878D82A}">
                    <a16:rowId xmlns:a16="http://schemas.microsoft.com/office/drawing/2014/main" val="2810685413"/>
                  </a:ext>
                </a:extLst>
              </a:tr>
              <a:tr h="450202">
                <a:tc>
                  <a:txBody>
                    <a:bodyPr/>
                    <a:lstStyle/>
                    <a:p>
                      <a:pPr algn="ctr"/>
                      <a:r>
                        <a:rPr lang="fr-FR" sz="1000" b="1" dirty="0"/>
                        <a:t>Avoir plus de liberté pour traiter certains sujets ou du temps libre</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extLst>
                  <a:ext uri="{0D108BD9-81ED-4DB2-BD59-A6C34878D82A}">
                    <a16:rowId xmlns:a16="http://schemas.microsoft.com/office/drawing/2014/main" val="3167905665"/>
                  </a:ext>
                </a:extLst>
              </a:tr>
              <a:tr h="450202">
                <a:tc>
                  <a:txBody>
                    <a:bodyPr/>
                    <a:lstStyle/>
                    <a:p>
                      <a:pPr algn="ctr"/>
                      <a:r>
                        <a:rPr lang="fr-FR" sz="1000" b="1" dirty="0"/>
                        <a:t>Pouvoir m’exprimer ou exprimer ma créativité</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a:ln>
                            <a:noFill/>
                          </a:ln>
                          <a:solidFill>
                            <a:prstClr val="black"/>
                          </a:solidFill>
                          <a:effectLst/>
                          <a:uLnTx/>
                          <a:uFillTx/>
                          <a:latin typeface="Calibri" panose="020F0502020204030204"/>
                          <a:ea typeface="+mn-ea"/>
                          <a:cs typeface="+mn-cs"/>
                        </a:rPr>
                        <a:t>o</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extLst>
                  <a:ext uri="{0D108BD9-81ED-4DB2-BD59-A6C34878D82A}">
                    <a16:rowId xmlns:a16="http://schemas.microsoft.com/office/drawing/2014/main" val="510071466"/>
                  </a:ext>
                </a:extLst>
              </a:tr>
              <a:tr h="421343">
                <a:tc>
                  <a:txBody>
                    <a:bodyPr/>
                    <a:lstStyle/>
                    <a:p>
                      <a:pPr algn="ctr"/>
                      <a:r>
                        <a:rPr lang="fr-FR" sz="1000" b="1" dirty="0"/>
                        <a:t>D’autres raisons (écrire lesquelles ensuite)</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rPr>
                        <a:t>………</a:t>
                      </a: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dirty="0">
                          <a:ln>
                            <a:noFill/>
                          </a:ln>
                          <a:solidFill>
                            <a:prstClr val="black"/>
                          </a:solidFill>
                          <a:effectLst/>
                          <a:uLnTx/>
                          <a:uFillTx/>
                          <a:latin typeface="+mn-lt"/>
                          <a:ea typeface="+mn-ea"/>
                          <a:cs typeface="+mn-cs"/>
                        </a:rPr>
                        <a:t>………</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dirty="0">
                          <a:ln>
                            <a:noFill/>
                          </a:ln>
                          <a:solidFill>
                            <a:prstClr val="black"/>
                          </a:solidFill>
                          <a:effectLst/>
                          <a:uLnTx/>
                          <a:uFillTx/>
                          <a:latin typeface="+mn-lt"/>
                          <a:ea typeface="+mn-ea"/>
                          <a:cs typeface="+mn-cs"/>
                        </a:rPr>
                        <a:t>………</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dirty="0">
                          <a:ln>
                            <a:noFill/>
                          </a:ln>
                          <a:solidFill>
                            <a:prstClr val="black"/>
                          </a:solidFill>
                          <a:effectLst/>
                          <a:uLnTx/>
                          <a:uFillTx/>
                          <a:latin typeface="+mn-lt"/>
                          <a:ea typeface="+mn-ea"/>
                          <a:cs typeface="+mn-cs"/>
                        </a:rPr>
                        <a:t>………</a:t>
                      </a:r>
                      <a:endParaRPr kumimoji="0" lang="fr-FR" sz="2000" b="0" i="0" u="none" strike="noStrike" kern="1200" cap="none" spc="0" normalizeH="0" baseline="0" noProof="0" dirty="0">
                        <a:ln>
                          <a:noFill/>
                        </a:ln>
                        <a:solidFill>
                          <a:prstClr val="black"/>
                        </a:solidFill>
                        <a:effectLst/>
                        <a:uLnTx/>
                        <a:uFillTx/>
                        <a:latin typeface="Calibri" panose="020F0502020204030204"/>
                        <a:ea typeface="+mn-ea"/>
                        <a:cs typeface="+mn-cs"/>
                      </a:endParaRPr>
                    </a:p>
                  </a:txBody>
                  <a:tcPr anchor="ctr">
                    <a:solidFill>
                      <a:schemeClr val="bg1"/>
                    </a:solidFill>
                  </a:tcPr>
                </a:tc>
                <a:extLst>
                  <a:ext uri="{0D108BD9-81ED-4DB2-BD59-A6C34878D82A}">
                    <a16:rowId xmlns:a16="http://schemas.microsoft.com/office/drawing/2014/main" val="3684827309"/>
                  </a:ext>
                </a:extLst>
              </a:tr>
            </a:tbl>
          </a:graphicData>
        </a:graphic>
      </p:graphicFrame>
    </p:spTree>
    <p:extLst>
      <p:ext uri="{BB962C8B-B14F-4D97-AF65-F5344CB8AC3E}">
        <p14:creationId xmlns:p14="http://schemas.microsoft.com/office/powerpoint/2010/main" val="2592623035"/>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BD9BA32-DB0F-2E81-C62D-5411BE05E2A8}"/>
              </a:ext>
            </a:extLst>
          </p:cNvPr>
          <p:cNvSpPr>
            <a:spLocks noGrp="1"/>
          </p:cNvSpPr>
          <p:nvPr>
            <p:ph type="title"/>
          </p:nvPr>
        </p:nvSpPr>
        <p:spPr>
          <a:xfrm>
            <a:off x="1216616" y="365126"/>
            <a:ext cx="10137183" cy="674471"/>
          </a:xfrm>
        </p:spPr>
        <p:txBody>
          <a:bodyPr>
            <a:noAutofit/>
          </a:bodyPr>
          <a:lstStyle/>
          <a:p>
            <a:r>
              <a:rPr lang="fr-FR" sz="3200" b="1" dirty="0"/>
              <a:t>Renseignement délibéré : </a:t>
            </a:r>
            <a:r>
              <a:rPr lang="fr-FR" sz="3200" dirty="0"/>
              <a:t>Exemples de questions à poser – blocages et valeur pour l’entreprise</a:t>
            </a:r>
          </a:p>
        </p:txBody>
      </p:sp>
      <p:pic>
        <p:nvPicPr>
          <p:cNvPr id="63" name="Graphique 62" descr="Bâtiment avec un remplissage uni">
            <a:extLst>
              <a:ext uri="{FF2B5EF4-FFF2-40B4-BE49-F238E27FC236}">
                <a16:creationId xmlns:a16="http://schemas.microsoft.com/office/drawing/2014/main" id="{53D2E0C7-7748-DFE6-8F74-73ABCD44378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47183" y="156475"/>
            <a:ext cx="1008000" cy="1008000"/>
          </a:xfrm>
          <a:prstGeom prst="rect">
            <a:avLst/>
          </a:prstGeom>
        </p:spPr>
      </p:pic>
      <p:grpSp>
        <p:nvGrpSpPr>
          <p:cNvPr id="4" name="Groupe 3">
            <a:extLst>
              <a:ext uri="{FF2B5EF4-FFF2-40B4-BE49-F238E27FC236}">
                <a16:creationId xmlns:a16="http://schemas.microsoft.com/office/drawing/2014/main" id="{15B6083F-CF91-8CC1-B174-DEBEFDF315F4}"/>
              </a:ext>
            </a:extLst>
          </p:cNvPr>
          <p:cNvGrpSpPr/>
          <p:nvPr/>
        </p:nvGrpSpPr>
        <p:grpSpPr>
          <a:xfrm>
            <a:off x="3060707" y="1747109"/>
            <a:ext cx="1006665" cy="897918"/>
            <a:chOff x="6597866" y="3344326"/>
            <a:chExt cx="1188000" cy="1059664"/>
          </a:xfrm>
        </p:grpSpPr>
        <p:sp>
          <p:nvSpPr>
            <p:cNvPr id="5" name="Rectangle 4">
              <a:extLst>
                <a:ext uri="{FF2B5EF4-FFF2-40B4-BE49-F238E27FC236}">
                  <a16:creationId xmlns:a16="http://schemas.microsoft.com/office/drawing/2014/main" id="{2A6E6EAC-9FD5-4AA7-ECC8-71A56ECC92AA}"/>
                </a:ext>
              </a:extLst>
            </p:cNvPr>
            <p:cNvSpPr/>
            <p:nvPr/>
          </p:nvSpPr>
          <p:spPr>
            <a:xfrm>
              <a:off x="6597866"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RH</a:t>
              </a:r>
            </a:p>
            <a:p>
              <a:pPr algn="ctr"/>
              <a:r>
                <a:rPr lang="fr-FR" sz="800" dirty="0">
                  <a:solidFill>
                    <a:schemeClr val="bg1"/>
                  </a:solidFill>
                </a:rPr>
                <a:t>Carrières</a:t>
              </a:r>
            </a:p>
          </p:txBody>
        </p:sp>
        <p:grpSp>
          <p:nvGrpSpPr>
            <p:cNvPr id="6" name="Groupe 5">
              <a:extLst>
                <a:ext uri="{FF2B5EF4-FFF2-40B4-BE49-F238E27FC236}">
                  <a16:creationId xmlns:a16="http://schemas.microsoft.com/office/drawing/2014/main" id="{24392813-8FDC-5A7A-3AA6-9766C7E9E03B}"/>
                </a:ext>
              </a:extLst>
            </p:cNvPr>
            <p:cNvGrpSpPr/>
            <p:nvPr/>
          </p:nvGrpSpPr>
          <p:grpSpPr>
            <a:xfrm>
              <a:off x="6650513" y="3344326"/>
              <a:ext cx="1020563" cy="496065"/>
              <a:chOff x="6713702" y="745208"/>
              <a:chExt cx="4891967" cy="2377838"/>
            </a:xfrm>
          </p:grpSpPr>
          <p:pic>
            <p:nvPicPr>
              <p:cNvPr id="7" name="Graphique 6" descr="Ramper avec un remplissage uni">
                <a:extLst>
                  <a:ext uri="{FF2B5EF4-FFF2-40B4-BE49-F238E27FC236}">
                    <a16:creationId xmlns:a16="http://schemas.microsoft.com/office/drawing/2014/main" id="{68FA2C16-3C3B-D317-D516-24D9CB02A2C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713702" y="2208646"/>
                <a:ext cx="914400" cy="914400"/>
              </a:xfrm>
              <a:prstGeom prst="rect">
                <a:avLst/>
              </a:prstGeom>
            </p:spPr>
          </p:pic>
          <p:pic>
            <p:nvPicPr>
              <p:cNvPr id="8" name="Graphique 7" descr="Marcher avec un remplissage uni">
                <a:extLst>
                  <a:ext uri="{FF2B5EF4-FFF2-40B4-BE49-F238E27FC236}">
                    <a16:creationId xmlns:a16="http://schemas.microsoft.com/office/drawing/2014/main" id="{6542FD8B-4245-4F9C-61E7-AA1139E3918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50711" y="1900170"/>
                <a:ext cx="914400" cy="914400"/>
              </a:xfrm>
              <a:prstGeom prst="rect">
                <a:avLst/>
              </a:prstGeom>
            </p:spPr>
          </p:pic>
          <p:pic>
            <p:nvPicPr>
              <p:cNvPr id="9" name="Graphique 8" descr="Courir avec un remplissage uni">
                <a:extLst>
                  <a:ext uri="{FF2B5EF4-FFF2-40B4-BE49-F238E27FC236}">
                    <a16:creationId xmlns:a16="http://schemas.microsoft.com/office/drawing/2014/main" id="{FD61369A-C702-A3C7-9561-1B768DA2E58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587720" y="1591693"/>
                <a:ext cx="914400" cy="914400"/>
              </a:xfrm>
              <a:prstGeom prst="rect">
                <a:avLst/>
              </a:prstGeom>
            </p:spPr>
          </p:pic>
          <p:pic>
            <p:nvPicPr>
              <p:cNvPr id="10" name="Graphique 9" descr="Héros avec un remplissage uni">
                <a:extLst>
                  <a:ext uri="{FF2B5EF4-FFF2-40B4-BE49-F238E27FC236}">
                    <a16:creationId xmlns:a16="http://schemas.microsoft.com/office/drawing/2014/main" id="{B26CAA9D-8FB5-D24C-9B0F-7BC2B96B8A8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691269" y="745208"/>
                <a:ext cx="914400" cy="914400"/>
              </a:xfrm>
              <a:prstGeom prst="rect">
                <a:avLst/>
              </a:prstGeom>
            </p:spPr>
          </p:pic>
          <p:pic>
            <p:nvPicPr>
              <p:cNvPr id="11" name="Graphique 10" descr="Aspiration avec un remplissage uni">
                <a:extLst>
                  <a:ext uri="{FF2B5EF4-FFF2-40B4-BE49-F238E27FC236}">
                    <a16:creationId xmlns:a16="http://schemas.microsoft.com/office/drawing/2014/main" id="{8A0446A2-6BBA-5487-32BD-8FF9C9CF484A}"/>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524729" y="1053685"/>
                <a:ext cx="1143931" cy="1143931"/>
              </a:xfrm>
              <a:prstGeom prst="rect">
                <a:avLst/>
              </a:prstGeom>
            </p:spPr>
          </p:pic>
        </p:grpSp>
      </p:grpSp>
      <p:grpSp>
        <p:nvGrpSpPr>
          <p:cNvPr id="12" name="Groupe 11">
            <a:extLst>
              <a:ext uri="{FF2B5EF4-FFF2-40B4-BE49-F238E27FC236}">
                <a16:creationId xmlns:a16="http://schemas.microsoft.com/office/drawing/2014/main" id="{2FE457BE-F44C-1ECA-7B6A-0BDF58CE9276}"/>
              </a:ext>
            </a:extLst>
          </p:cNvPr>
          <p:cNvGrpSpPr/>
          <p:nvPr/>
        </p:nvGrpSpPr>
        <p:grpSpPr>
          <a:xfrm>
            <a:off x="-3815" y="1347421"/>
            <a:ext cx="1006666" cy="1297606"/>
            <a:chOff x="1241541" y="2872641"/>
            <a:chExt cx="1188000" cy="1531349"/>
          </a:xfrm>
        </p:grpSpPr>
        <p:sp>
          <p:nvSpPr>
            <p:cNvPr id="13" name="Rectangle 12">
              <a:extLst>
                <a:ext uri="{FF2B5EF4-FFF2-40B4-BE49-F238E27FC236}">
                  <a16:creationId xmlns:a16="http://schemas.microsoft.com/office/drawing/2014/main" id="{48B8E546-65E4-B3F4-2DB8-8CE67C164B9A}"/>
                </a:ext>
              </a:extLst>
            </p:cNvPr>
            <p:cNvSpPr/>
            <p:nvPr/>
          </p:nvSpPr>
          <p:spPr>
            <a:xfrm>
              <a:off x="1241541"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RH</a:t>
              </a:r>
            </a:p>
            <a:p>
              <a:pPr algn="ctr"/>
              <a:r>
                <a:rPr lang="fr-FR" sz="800" dirty="0">
                  <a:solidFill>
                    <a:schemeClr val="bg1"/>
                  </a:solidFill>
                </a:rPr>
                <a:t>Recrutement</a:t>
              </a:r>
            </a:p>
          </p:txBody>
        </p:sp>
        <p:grpSp>
          <p:nvGrpSpPr>
            <p:cNvPr id="14" name="Groupe 13">
              <a:extLst>
                <a:ext uri="{FF2B5EF4-FFF2-40B4-BE49-F238E27FC236}">
                  <a16:creationId xmlns:a16="http://schemas.microsoft.com/office/drawing/2014/main" id="{A985B79C-4361-5781-5E2E-1EB4D2936894}"/>
                </a:ext>
              </a:extLst>
            </p:cNvPr>
            <p:cNvGrpSpPr/>
            <p:nvPr/>
          </p:nvGrpSpPr>
          <p:grpSpPr>
            <a:xfrm>
              <a:off x="1464325" y="2872641"/>
              <a:ext cx="785986" cy="957881"/>
              <a:chOff x="8056685" y="3865046"/>
              <a:chExt cx="2005985" cy="2444694"/>
            </a:xfrm>
          </p:grpSpPr>
          <p:pic>
            <p:nvPicPr>
              <p:cNvPr id="15" name="Graphique 14" descr="Salle de conseil avec un remplissage uni">
                <a:extLst>
                  <a:ext uri="{FF2B5EF4-FFF2-40B4-BE49-F238E27FC236}">
                    <a16:creationId xmlns:a16="http://schemas.microsoft.com/office/drawing/2014/main" id="{2E232CB8-A491-BF0E-27AB-53596C4A1F47}"/>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b="16472"/>
              <a:stretch/>
            </p:blipFill>
            <p:spPr>
              <a:xfrm>
                <a:off x="8485542" y="5133555"/>
                <a:ext cx="1408125" cy="1176185"/>
              </a:xfrm>
              <a:prstGeom prst="rect">
                <a:avLst/>
              </a:prstGeom>
            </p:spPr>
          </p:pic>
          <p:pic>
            <p:nvPicPr>
              <p:cNvPr id="16" name="Graphique 15" descr="Croissance de l'activité avec un remplissage uni">
                <a:extLst>
                  <a:ext uri="{FF2B5EF4-FFF2-40B4-BE49-F238E27FC236}">
                    <a16:creationId xmlns:a16="http://schemas.microsoft.com/office/drawing/2014/main" id="{5CFFFADF-A20C-AF2E-0661-1CD9A14357E3}"/>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056685" y="3865046"/>
                <a:ext cx="2005985" cy="2005985"/>
              </a:xfrm>
              <a:prstGeom prst="rect">
                <a:avLst/>
              </a:prstGeom>
            </p:spPr>
          </p:pic>
        </p:grpSp>
      </p:grpSp>
      <p:grpSp>
        <p:nvGrpSpPr>
          <p:cNvPr id="17" name="Groupe 16">
            <a:extLst>
              <a:ext uri="{FF2B5EF4-FFF2-40B4-BE49-F238E27FC236}">
                <a16:creationId xmlns:a16="http://schemas.microsoft.com/office/drawing/2014/main" id="{438BE167-08A5-14A6-48DA-5B37B2853671}"/>
              </a:ext>
            </a:extLst>
          </p:cNvPr>
          <p:cNvGrpSpPr/>
          <p:nvPr/>
        </p:nvGrpSpPr>
        <p:grpSpPr>
          <a:xfrm>
            <a:off x="1019449" y="1637027"/>
            <a:ext cx="1006666" cy="1008000"/>
            <a:chOff x="2998706" y="3222767"/>
            <a:chExt cx="1188000" cy="1189575"/>
          </a:xfrm>
        </p:grpSpPr>
        <p:sp>
          <p:nvSpPr>
            <p:cNvPr id="18" name="Rectangle 17">
              <a:extLst>
                <a:ext uri="{FF2B5EF4-FFF2-40B4-BE49-F238E27FC236}">
                  <a16:creationId xmlns:a16="http://schemas.microsoft.com/office/drawing/2014/main" id="{E5248C84-FDAE-D0BA-62B2-17D85B966D9C}"/>
                </a:ext>
              </a:extLst>
            </p:cNvPr>
            <p:cNvSpPr/>
            <p:nvPr/>
          </p:nvSpPr>
          <p:spPr>
            <a:xfrm>
              <a:off x="2998706" y="3898719"/>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a:solidFill>
                    <a:schemeClr val="bg1"/>
                  </a:solidFill>
                </a:rPr>
                <a:t>RH</a:t>
              </a:r>
            </a:p>
            <a:p>
              <a:pPr algn="ctr"/>
              <a:r>
                <a:rPr lang="fr-FR" sz="800">
                  <a:solidFill>
                    <a:schemeClr val="bg1"/>
                  </a:solidFill>
                </a:rPr>
                <a:t>Intégration</a:t>
              </a:r>
            </a:p>
          </p:txBody>
        </p:sp>
        <p:grpSp>
          <p:nvGrpSpPr>
            <p:cNvPr id="19" name="Groupe 18">
              <a:extLst>
                <a:ext uri="{FF2B5EF4-FFF2-40B4-BE49-F238E27FC236}">
                  <a16:creationId xmlns:a16="http://schemas.microsoft.com/office/drawing/2014/main" id="{61B99626-37CF-44CC-D2EA-051D56EDF4F5}"/>
                </a:ext>
              </a:extLst>
            </p:cNvPr>
            <p:cNvGrpSpPr/>
            <p:nvPr/>
          </p:nvGrpSpPr>
          <p:grpSpPr>
            <a:xfrm>
              <a:off x="3130879" y="3222767"/>
              <a:ext cx="935471" cy="541840"/>
              <a:chOff x="626984" y="628802"/>
              <a:chExt cx="5131851" cy="2356880"/>
            </a:xfrm>
          </p:grpSpPr>
          <p:cxnSp>
            <p:nvCxnSpPr>
              <p:cNvPr id="20" name="Connecteur droit avec flèche 19">
                <a:extLst>
                  <a:ext uri="{FF2B5EF4-FFF2-40B4-BE49-F238E27FC236}">
                    <a16:creationId xmlns:a16="http://schemas.microsoft.com/office/drawing/2014/main" id="{B22CCD7C-D02B-460B-1BF6-8DC61529E637}"/>
                  </a:ext>
                </a:extLst>
              </p:cNvPr>
              <p:cNvCxnSpPr>
                <a:cxnSpLocks/>
              </p:cNvCxnSpPr>
              <p:nvPr/>
            </p:nvCxnSpPr>
            <p:spPr>
              <a:xfrm flipV="1">
                <a:off x="626984" y="1565043"/>
                <a:ext cx="5131851" cy="1210667"/>
              </a:xfrm>
              <a:prstGeom prst="straightConnector1">
                <a:avLst/>
              </a:prstGeom>
              <a:ln w="57150">
                <a:prstDash val="dash"/>
                <a:tailEnd type="triangle"/>
              </a:ln>
            </p:spPr>
            <p:style>
              <a:lnRef idx="1">
                <a:schemeClr val="accent1"/>
              </a:lnRef>
              <a:fillRef idx="0">
                <a:schemeClr val="accent1"/>
              </a:fillRef>
              <a:effectRef idx="0">
                <a:schemeClr val="accent1"/>
              </a:effectRef>
              <a:fontRef idx="minor">
                <a:schemeClr val="tx1"/>
              </a:fontRef>
            </p:style>
          </p:cxnSp>
          <p:pic>
            <p:nvPicPr>
              <p:cNvPr id="21" name="Graphique 20" descr="Personne confuse avec un remplissage uni">
                <a:extLst>
                  <a:ext uri="{FF2B5EF4-FFF2-40B4-BE49-F238E27FC236}">
                    <a16:creationId xmlns:a16="http://schemas.microsoft.com/office/drawing/2014/main" id="{38A9F931-4435-D5E4-F153-7E818327ED26}"/>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604967" y="1805997"/>
                <a:ext cx="940978" cy="940978"/>
              </a:xfrm>
              <a:prstGeom prst="rect">
                <a:avLst/>
              </a:prstGeom>
            </p:spPr>
          </p:pic>
          <p:pic>
            <p:nvPicPr>
              <p:cNvPr id="22" name="Graphique 21" descr="Réussite du groupe avec un remplissage uni">
                <a:extLst>
                  <a:ext uri="{FF2B5EF4-FFF2-40B4-BE49-F238E27FC236}">
                    <a16:creationId xmlns:a16="http://schemas.microsoft.com/office/drawing/2014/main" id="{7DC0C871-F477-0066-7609-F76341A2527B}"/>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228767" y="628802"/>
                <a:ext cx="1492354" cy="1492354"/>
              </a:xfrm>
              <a:prstGeom prst="rect">
                <a:avLst/>
              </a:prstGeom>
            </p:spPr>
          </p:pic>
          <p:pic>
            <p:nvPicPr>
              <p:cNvPr id="23" name="Graphique 22" descr="Personne confuse avec un remplissage uni">
                <a:extLst>
                  <a:ext uri="{FF2B5EF4-FFF2-40B4-BE49-F238E27FC236}">
                    <a16:creationId xmlns:a16="http://schemas.microsoft.com/office/drawing/2014/main" id="{13AD84C1-86DD-18AA-3E2E-4E08DA5E6B48}"/>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2479567" y="1609677"/>
                <a:ext cx="940978" cy="940978"/>
              </a:xfrm>
              <a:prstGeom prst="rect">
                <a:avLst/>
              </a:prstGeom>
            </p:spPr>
          </p:pic>
          <p:pic>
            <p:nvPicPr>
              <p:cNvPr id="24" name="Graphique 23" descr="Personne confuse avec un remplissage uni">
                <a:extLst>
                  <a:ext uri="{FF2B5EF4-FFF2-40B4-BE49-F238E27FC236}">
                    <a16:creationId xmlns:a16="http://schemas.microsoft.com/office/drawing/2014/main" id="{3C093DED-B8B8-4DAF-28D7-FA24AE4AA60A}"/>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656694" y="2044704"/>
                <a:ext cx="940978" cy="940978"/>
              </a:xfrm>
              <a:prstGeom prst="rect">
                <a:avLst/>
              </a:prstGeom>
            </p:spPr>
          </p:pic>
          <p:pic>
            <p:nvPicPr>
              <p:cNvPr id="25" name="Graphique 24" descr="Personne confuse avec un remplissage uni">
                <a:extLst>
                  <a:ext uri="{FF2B5EF4-FFF2-40B4-BE49-F238E27FC236}">
                    <a16:creationId xmlns:a16="http://schemas.microsoft.com/office/drawing/2014/main" id="{63DD6E98-3D8F-B750-DE33-C167F349AA1E}"/>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3293254" y="1399398"/>
                <a:ext cx="940978" cy="940978"/>
              </a:xfrm>
              <a:prstGeom prst="rect">
                <a:avLst/>
              </a:prstGeom>
            </p:spPr>
          </p:pic>
          <p:pic>
            <p:nvPicPr>
              <p:cNvPr id="26" name="Graphique 25" descr="Personne confuse avec un remplissage uni">
                <a:extLst>
                  <a:ext uri="{FF2B5EF4-FFF2-40B4-BE49-F238E27FC236}">
                    <a16:creationId xmlns:a16="http://schemas.microsoft.com/office/drawing/2014/main" id="{C87DBCC8-0559-6CED-FD3E-9DEBE6D5A5AC}"/>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4234476" y="1189119"/>
                <a:ext cx="940978" cy="940978"/>
              </a:xfrm>
              <a:prstGeom prst="rect">
                <a:avLst/>
              </a:prstGeom>
            </p:spPr>
          </p:pic>
        </p:grpSp>
      </p:grpSp>
      <p:grpSp>
        <p:nvGrpSpPr>
          <p:cNvPr id="27" name="Groupe 26">
            <a:extLst>
              <a:ext uri="{FF2B5EF4-FFF2-40B4-BE49-F238E27FC236}">
                <a16:creationId xmlns:a16="http://schemas.microsoft.com/office/drawing/2014/main" id="{E5A4F626-AF45-7687-76DE-2411183C5FE8}"/>
              </a:ext>
            </a:extLst>
          </p:cNvPr>
          <p:cNvGrpSpPr/>
          <p:nvPr/>
        </p:nvGrpSpPr>
        <p:grpSpPr>
          <a:xfrm>
            <a:off x="2040079" y="1315469"/>
            <a:ext cx="1006664" cy="1329558"/>
            <a:chOff x="4859249" y="2834933"/>
            <a:chExt cx="1188000" cy="1569057"/>
          </a:xfrm>
        </p:grpSpPr>
        <p:sp>
          <p:nvSpPr>
            <p:cNvPr id="28" name="Rectangle 27">
              <a:extLst>
                <a:ext uri="{FF2B5EF4-FFF2-40B4-BE49-F238E27FC236}">
                  <a16:creationId xmlns:a16="http://schemas.microsoft.com/office/drawing/2014/main" id="{9FD1B835-20FB-DDBF-98A7-2C2547940B90}"/>
                </a:ext>
              </a:extLst>
            </p:cNvPr>
            <p:cNvSpPr/>
            <p:nvPr/>
          </p:nvSpPr>
          <p:spPr>
            <a:xfrm>
              <a:off x="4859249" y="3890367"/>
              <a:ext cx="1188000" cy="51362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RH</a:t>
              </a:r>
            </a:p>
            <a:p>
              <a:pPr algn="ctr"/>
              <a:r>
                <a:rPr lang="fr-FR" sz="800" dirty="0">
                  <a:solidFill>
                    <a:schemeClr val="bg1"/>
                  </a:solidFill>
                </a:rPr>
                <a:t>Formation</a:t>
              </a:r>
            </a:p>
          </p:txBody>
        </p:sp>
        <p:grpSp>
          <p:nvGrpSpPr>
            <p:cNvPr id="29" name="Groupe 28">
              <a:extLst>
                <a:ext uri="{FF2B5EF4-FFF2-40B4-BE49-F238E27FC236}">
                  <a16:creationId xmlns:a16="http://schemas.microsoft.com/office/drawing/2014/main" id="{90EAA6E8-0F0C-004C-3F8A-04161BEF1A90}"/>
                </a:ext>
              </a:extLst>
            </p:cNvPr>
            <p:cNvGrpSpPr/>
            <p:nvPr/>
          </p:nvGrpSpPr>
          <p:grpSpPr>
            <a:xfrm>
              <a:off x="4953396" y="2834933"/>
              <a:ext cx="1021038" cy="1060714"/>
              <a:chOff x="1793893" y="3948469"/>
              <a:chExt cx="2716107" cy="2749848"/>
            </a:xfrm>
          </p:grpSpPr>
          <p:pic>
            <p:nvPicPr>
              <p:cNvPr id="30" name="Graphique 29" descr="Diplôme roulé avec un remplissage uni">
                <a:extLst>
                  <a:ext uri="{FF2B5EF4-FFF2-40B4-BE49-F238E27FC236}">
                    <a16:creationId xmlns:a16="http://schemas.microsoft.com/office/drawing/2014/main" id="{AA273368-B758-AFE7-9FB0-9B9BFEC5BF93}"/>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2976734" y="5783917"/>
                <a:ext cx="914400" cy="914400"/>
              </a:xfrm>
              <a:prstGeom prst="rect">
                <a:avLst/>
              </a:prstGeom>
            </p:spPr>
          </p:pic>
          <p:grpSp>
            <p:nvGrpSpPr>
              <p:cNvPr id="31" name="Groupe 30">
                <a:extLst>
                  <a:ext uri="{FF2B5EF4-FFF2-40B4-BE49-F238E27FC236}">
                    <a16:creationId xmlns:a16="http://schemas.microsoft.com/office/drawing/2014/main" id="{79857A8B-719C-AF7C-5F19-837BED43ED31}"/>
                  </a:ext>
                </a:extLst>
              </p:cNvPr>
              <p:cNvGrpSpPr/>
              <p:nvPr/>
            </p:nvGrpSpPr>
            <p:grpSpPr>
              <a:xfrm>
                <a:off x="1793893" y="3948469"/>
                <a:ext cx="2716107" cy="2284168"/>
                <a:chOff x="1793893" y="3948469"/>
                <a:chExt cx="2716107" cy="2284168"/>
              </a:xfrm>
            </p:grpSpPr>
            <p:sp>
              <p:nvSpPr>
                <p:cNvPr id="32" name="Ellipse 31">
                  <a:extLst>
                    <a:ext uri="{FF2B5EF4-FFF2-40B4-BE49-F238E27FC236}">
                      <a16:creationId xmlns:a16="http://schemas.microsoft.com/office/drawing/2014/main" id="{A465CDBD-B163-2ED3-6225-BB31EB1B8834}"/>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33" name="Graphique 32" descr="Transférer avec un remplissage uni">
                  <a:extLst>
                    <a:ext uri="{FF2B5EF4-FFF2-40B4-BE49-F238E27FC236}">
                      <a16:creationId xmlns:a16="http://schemas.microsoft.com/office/drawing/2014/main" id="{5F087CC6-57DF-E51C-76DD-2CE25AF34FAF}"/>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1979208" y="4142052"/>
                  <a:ext cx="914400" cy="914400"/>
                </a:xfrm>
                <a:prstGeom prst="rect">
                  <a:avLst/>
                </a:prstGeom>
              </p:spPr>
            </p:pic>
            <p:pic>
              <p:nvPicPr>
                <p:cNvPr id="34" name="Graphique 33" descr="Toque d'étudiant avec un remplissage uni">
                  <a:extLst>
                    <a:ext uri="{FF2B5EF4-FFF2-40B4-BE49-F238E27FC236}">
                      <a16:creationId xmlns:a16="http://schemas.microsoft.com/office/drawing/2014/main" id="{236C92DD-8B66-4A08-001A-2047BF051CCF}"/>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3260713" y="3948469"/>
                  <a:ext cx="914400" cy="914400"/>
                </a:xfrm>
                <a:prstGeom prst="rect">
                  <a:avLst/>
                </a:prstGeom>
              </p:spPr>
            </p:pic>
            <p:pic>
              <p:nvPicPr>
                <p:cNvPr id="35" name="Graphique 34" descr="Idée avec un remplissage uni">
                  <a:extLst>
                    <a:ext uri="{FF2B5EF4-FFF2-40B4-BE49-F238E27FC236}">
                      <a16:creationId xmlns:a16="http://schemas.microsoft.com/office/drawing/2014/main" id="{CF64FDCA-1DEC-BF6E-D44A-65F961852FE0}"/>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1793893" y="5264448"/>
                  <a:ext cx="914400" cy="914400"/>
                </a:xfrm>
                <a:prstGeom prst="rect">
                  <a:avLst/>
                </a:prstGeom>
              </p:spPr>
            </p:pic>
            <p:pic>
              <p:nvPicPr>
                <p:cNvPr id="36" name="Graphique 35" descr="Chat avec un remplissage uni">
                  <a:extLst>
                    <a:ext uri="{FF2B5EF4-FFF2-40B4-BE49-F238E27FC236}">
                      <a16:creationId xmlns:a16="http://schemas.microsoft.com/office/drawing/2014/main" id="{E5B91798-4B2F-E554-C66A-E9EC7AF08AEB}"/>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3595600" y="4881866"/>
                  <a:ext cx="914400" cy="914400"/>
                </a:xfrm>
                <a:prstGeom prst="rect">
                  <a:avLst/>
                </a:prstGeom>
              </p:spPr>
            </p:pic>
          </p:grpSp>
        </p:grpSp>
      </p:grpSp>
      <p:grpSp>
        <p:nvGrpSpPr>
          <p:cNvPr id="37" name="Groupe 36">
            <a:extLst>
              <a:ext uri="{FF2B5EF4-FFF2-40B4-BE49-F238E27FC236}">
                <a16:creationId xmlns:a16="http://schemas.microsoft.com/office/drawing/2014/main" id="{E6C7298A-F6C8-23FD-ACE7-1A0590B1B7B4}"/>
              </a:ext>
            </a:extLst>
          </p:cNvPr>
          <p:cNvGrpSpPr/>
          <p:nvPr/>
        </p:nvGrpSpPr>
        <p:grpSpPr>
          <a:xfrm>
            <a:off x="4081336" y="1529975"/>
            <a:ext cx="867920" cy="1115052"/>
            <a:chOff x="1263318" y="4795766"/>
            <a:chExt cx="1188000" cy="1526271"/>
          </a:xfrm>
        </p:grpSpPr>
        <p:sp>
          <p:nvSpPr>
            <p:cNvPr id="38" name="Rectangle 37">
              <a:extLst>
                <a:ext uri="{FF2B5EF4-FFF2-40B4-BE49-F238E27FC236}">
                  <a16:creationId xmlns:a16="http://schemas.microsoft.com/office/drawing/2014/main" id="{E36ED61B-1B56-B5B9-5655-BDD96E61176C}"/>
                </a:ext>
              </a:extLst>
            </p:cNvPr>
            <p:cNvSpPr/>
            <p:nvPr/>
          </p:nvSpPr>
          <p:spPr>
            <a:xfrm>
              <a:off x="1263318" y="5726307"/>
              <a:ext cx="1188000" cy="59573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a:t>
              </a:r>
            </a:p>
            <a:p>
              <a:pPr algn="ctr"/>
              <a:r>
                <a:rPr lang="fr-FR" sz="800" dirty="0">
                  <a:solidFill>
                    <a:schemeClr val="bg1"/>
                  </a:solidFill>
                </a:rPr>
                <a:t>Projets</a:t>
              </a:r>
            </a:p>
          </p:txBody>
        </p:sp>
        <p:grpSp>
          <p:nvGrpSpPr>
            <p:cNvPr id="39" name="Groupe 38">
              <a:extLst>
                <a:ext uri="{FF2B5EF4-FFF2-40B4-BE49-F238E27FC236}">
                  <a16:creationId xmlns:a16="http://schemas.microsoft.com/office/drawing/2014/main" id="{BFDADD59-ED94-DBFB-62DB-FE1068FD9E44}"/>
                </a:ext>
              </a:extLst>
            </p:cNvPr>
            <p:cNvGrpSpPr/>
            <p:nvPr/>
          </p:nvGrpSpPr>
          <p:grpSpPr>
            <a:xfrm>
              <a:off x="1366615" y="4795766"/>
              <a:ext cx="1006494" cy="888801"/>
              <a:chOff x="7967905" y="574228"/>
              <a:chExt cx="2945866" cy="2601395"/>
            </a:xfrm>
          </p:grpSpPr>
          <p:sp>
            <p:nvSpPr>
              <p:cNvPr id="40" name="Ellipse 39">
                <a:extLst>
                  <a:ext uri="{FF2B5EF4-FFF2-40B4-BE49-F238E27FC236}">
                    <a16:creationId xmlns:a16="http://schemas.microsoft.com/office/drawing/2014/main" id="{DD5FB968-9AB0-AE10-F7F6-F224DD8ED73D}"/>
                  </a:ext>
                </a:extLst>
              </p:cNvPr>
              <p:cNvSpPr/>
              <p:nvPr/>
            </p:nvSpPr>
            <p:spPr>
              <a:xfrm>
                <a:off x="8454825" y="965640"/>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41" name="Graphique 40" descr="Dossier ouvert avec un remplissage uni">
                <a:extLst>
                  <a:ext uri="{FF2B5EF4-FFF2-40B4-BE49-F238E27FC236}">
                    <a16:creationId xmlns:a16="http://schemas.microsoft.com/office/drawing/2014/main" id="{F504EB38-BCA9-5CEB-22F3-BF4C144778F8}"/>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7967905" y="1044764"/>
                <a:ext cx="914400" cy="914400"/>
              </a:xfrm>
              <a:prstGeom prst="rect">
                <a:avLst/>
              </a:prstGeom>
            </p:spPr>
          </p:pic>
          <p:pic>
            <p:nvPicPr>
              <p:cNvPr id="42" name="Graphique 41" descr="Diagramme de Gantt avec un remplissage uni">
                <a:extLst>
                  <a:ext uri="{FF2B5EF4-FFF2-40B4-BE49-F238E27FC236}">
                    <a16:creationId xmlns:a16="http://schemas.microsoft.com/office/drawing/2014/main" id="{8D5193C0-5737-E4D6-CCC8-79020F53DB84}"/>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8454079" y="2190978"/>
                <a:ext cx="914400" cy="914400"/>
              </a:xfrm>
              <a:prstGeom prst="rect">
                <a:avLst/>
              </a:prstGeom>
            </p:spPr>
          </p:pic>
          <p:pic>
            <p:nvPicPr>
              <p:cNvPr id="43" name="Graphique 42" descr="Calendrier mensuel avec un remplissage uni">
                <a:extLst>
                  <a:ext uri="{FF2B5EF4-FFF2-40B4-BE49-F238E27FC236}">
                    <a16:creationId xmlns:a16="http://schemas.microsoft.com/office/drawing/2014/main" id="{B07A6167-E1FD-9690-66C9-2B00C7766E5A}"/>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9597330" y="2261223"/>
                <a:ext cx="914400" cy="914400"/>
              </a:xfrm>
              <a:prstGeom prst="rect">
                <a:avLst/>
              </a:prstGeom>
            </p:spPr>
          </p:pic>
          <p:pic>
            <p:nvPicPr>
              <p:cNvPr id="44" name="Graphique 43" descr="Priorités avec un remplissage uni">
                <a:extLst>
                  <a:ext uri="{FF2B5EF4-FFF2-40B4-BE49-F238E27FC236}">
                    <a16:creationId xmlns:a16="http://schemas.microsoft.com/office/drawing/2014/main" id="{E97ECEC0-42F5-CC9F-C72A-F42F3EDF1C57}"/>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flipV="1">
                <a:off x="8952575" y="574228"/>
                <a:ext cx="914400" cy="1089697"/>
              </a:xfrm>
              <a:prstGeom prst="rect">
                <a:avLst/>
              </a:prstGeom>
            </p:spPr>
          </p:pic>
          <p:pic>
            <p:nvPicPr>
              <p:cNvPr id="45" name="Graphique 44" descr="Graphique à barres avec tendance à la baisse avec un remplissage uni">
                <a:extLst>
                  <a:ext uri="{FF2B5EF4-FFF2-40B4-BE49-F238E27FC236}">
                    <a16:creationId xmlns:a16="http://schemas.microsoft.com/office/drawing/2014/main" id="{E6F89193-127F-2E4B-C367-1C152E3DB174}"/>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9999371" y="992534"/>
                <a:ext cx="914400" cy="914400"/>
              </a:xfrm>
              <a:prstGeom prst="rect">
                <a:avLst/>
              </a:prstGeom>
            </p:spPr>
          </p:pic>
        </p:grpSp>
      </p:grpSp>
      <p:grpSp>
        <p:nvGrpSpPr>
          <p:cNvPr id="46" name="Groupe 45">
            <a:extLst>
              <a:ext uri="{FF2B5EF4-FFF2-40B4-BE49-F238E27FC236}">
                <a16:creationId xmlns:a16="http://schemas.microsoft.com/office/drawing/2014/main" id="{8110C709-48BE-1C99-CF5E-B100F44ABB60}"/>
              </a:ext>
            </a:extLst>
          </p:cNvPr>
          <p:cNvGrpSpPr/>
          <p:nvPr/>
        </p:nvGrpSpPr>
        <p:grpSpPr>
          <a:xfrm>
            <a:off x="4963220" y="1583181"/>
            <a:ext cx="867921" cy="1061846"/>
            <a:chOff x="2945394" y="4865339"/>
            <a:chExt cx="1188000" cy="1453443"/>
          </a:xfrm>
        </p:grpSpPr>
        <p:sp>
          <p:nvSpPr>
            <p:cNvPr id="47" name="Rectangle 46">
              <a:extLst>
                <a:ext uri="{FF2B5EF4-FFF2-40B4-BE49-F238E27FC236}">
                  <a16:creationId xmlns:a16="http://schemas.microsoft.com/office/drawing/2014/main" id="{EEBE8B3A-EA9A-31C8-46ED-6AC172F258AF}"/>
                </a:ext>
              </a:extLst>
            </p:cNvPr>
            <p:cNvSpPr/>
            <p:nvPr/>
          </p:nvSpPr>
          <p:spPr>
            <a:xfrm>
              <a:off x="2945394" y="5707751"/>
              <a:ext cx="1188000" cy="61103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a:t>
              </a:r>
            </a:p>
            <a:p>
              <a:pPr algn="ctr"/>
              <a:r>
                <a:rPr lang="fr-FR" sz="800" dirty="0">
                  <a:solidFill>
                    <a:schemeClr val="bg1"/>
                  </a:solidFill>
                </a:rPr>
                <a:t>Qualité &amp; Méthodes</a:t>
              </a:r>
            </a:p>
          </p:txBody>
        </p:sp>
        <p:grpSp>
          <p:nvGrpSpPr>
            <p:cNvPr id="48" name="Groupe 47">
              <a:extLst>
                <a:ext uri="{FF2B5EF4-FFF2-40B4-BE49-F238E27FC236}">
                  <a16:creationId xmlns:a16="http://schemas.microsoft.com/office/drawing/2014/main" id="{AB97BF80-BA9C-055C-8884-37F1FF1BF778}"/>
                </a:ext>
              </a:extLst>
            </p:cNvPr>
            <p:cNvGrpSpPr/>
            <p:nvPr/>
          </p:nvGrpSpPr>
          <p:grpSpPr>
            <a:xfrm>
              <a:off x="3034186" y="4865339"/>
              <a:ext cx="962635" cy="814307"/>
              <a:chOff x="1619081" y="3908041"/>
              <a:chExt cx="3348357" cy="2476948"/>
            </a:xfrm>
          </p:grpSpPr>
          <p:pic>
            <p:nvPicPr>
              <p:cNvPr id="49" name="Graphique 48" descr="Graphique en radar avec un remplissage uni">
                <a:extLst>
                  <a:ext uri="{FF2B5EF4-FFF2-40B4-BE49-F238E27FC236}">
                    <a16:creationId xmlns:a16="http://schemas.microsoft.com/office/drawing/2014/main" id="{F34E4742-00EC-266D-0989-A9DBF2F0282C}"/>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1619081" y="5084439"/>
                <a:ext cx="1290292" cy="1290292"/>
              </a:xfrm>
              <a:prstGeom prst="rect">
                <a:avLst/>
              </a:prstGeom>
            </p:spPr>
          </p:pic>
          <p:pic>
            <p:nvPicPr>
              <p:cNvPr id="50" name="Graphique 49" descr="Compteur bas avec un remplissage uni">
                <a:extLst>
                  <a:ext uri="{FF2B5EF4-FFF2-40B4-BE49-F238E27FC236}">
                    <a16:creationId xmlns:a16="http://schemas.microsoft.com/office/drawing/2014/main" id="{27E54F2A-4AC5-E1EE-09F9-EB831F32E0DB}"/>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flipH="1">
                <a:off x="2795861" y="3908041"/>
                <a:ext cx="898916" cy="914400"/>
              </a:xfrm>
              <a:prstGeom prst="rect">
                <a:avLst/>
              </a:prstGeom>
            </p:spPr>
          </p:pic>
          <p:pic>
            <p:nvPicPr>
              <p:cNvPr id="51" name="Graphique 50" descr="Cercles avec flèches avec un remplissage uni">
                <a:extLst>
                  <a:ext uri="{FF2B5EF4-FFF2-40B4-BE49-F238E27FC236}">
                    <a16:creationId xmlns:a16="http://schemas.microsoft.com/office/drawing/2014/main" id="{A3B7AED5-D635-7476-0A5D-37F0D474AE5C}"/>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rot="18361995">
                <a:off x="2644083" y="4661879"/>
                <a:ext cx="1172888" cy="1172888"/>
              </a:xfrm>
              <a:prstGeom prst="rect">
                <a:avLst/>
              </a:prstGeom>
            </p:spPr>
          </p:pic>
          <p:pic>
            <p:nvPicPr>
              <p:cNvPr id="52" name="Graphique 51" descr="Presse-papiers badge avec un remplissage uni">
                <a:extLst>
                  <a:ext uri="{FF2B5EF4-FFF2-40B4-BE49-F238E27FC236}">
                    <a16:creationId xmlns:a16="http://schemas.microsoft.com/office/drawing/2014/main" id="{D4B1F49E-A0BE-18AB-4AD9-9786C06E0270}"/>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3755728" y="5173279"/>
                <a:ext cx="1211710" cy="1211710"/>
              </a:xfrm>
              <a:prstGeom prst="rect">
                <a:avLst/>
              </a:prstGeom>
            </p:spPr>
          </p:pic>
        </p:grpSp>
      </p:grpSp>
      <p:grpSp>
        <p:nvGrpSpPr>
          <p:cNvPr id="53" name="Groupe 52">
            <a:extLst>
              <a:ext uri="{FF2B5EF4-FFF2-40B4-BE49-F238E27FC236}">
                <a16:creationId xmlns:a16="http://schemas.microsoft.com/office/drawing/2014/main" id="{A7D0C21D-1F7D-B553-5E98-87567AB1A3E9}"/>
              </a:ext>
            </a:extLst>
          </p:cNvPr>
          <p:cNvGrpSpPr/>
          <p:nvPr/>
        </p:nvGrpSpPr>
        <p:grpSpPr>
          <a:xfrm>
            <a:off x="5845105" y="1690711"/>
            <a:ext cx="867921" cy="954316"/>
            <a:chOff x="4704331" y="5050873"/>
            <a:chExt cx="1188000" cy="1306257"/>
          </a:xfrm>
        </p:grpSpPr>
        <p:sp>
          <p:nvSpPr>
            <p:cNvPr id="54" name="Rectangle 53">
              <a:extLst>
                <a:ext uri="{FF2B5EF4-FFF2-40B4-BE49-F238E27FC236}">
                  <a16:creationId xmlns:a16="http://schemas.microsoft.com/office/drawing/2014/main" id="{594426D2-9011-8279-36B9-18A536B1785C}"/>
                </a:ext>
              </a:extLst>
            </p:cNvPr>
            <p:cNvSpPr/>
            <p:nvPr/>
          </p:nvSpPr>
          <p:spPr>
            <a:xfrm>
              <a:off x="4704331" y="570138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a:t>
              </a:r>
            </a:p>
            <a:p>
              <a:pPr algn="ctr"/>
              <a:r>
                <a:rPr lang="fr-FR" sz="800" dirty="0">
                  <a:solidFill>
                    <a:schemeClr val="bg1"/>
                  </a:solidFill>
                </a:rPr>
                <a:t>Gestion des connaissances</a:t>
              </a:r>
            </a:p>
          </p:txBody>
        </p:sp>
        <p:grpSp>
          <p:nvGrpSpPr>
            <p:cNvPr id="55" name="Groupe 54">
              <a:extLst>
                <a:ext uri="{FF2B5EF4-FFF2-40B4-BE49-F238E27FC236}">
                  <a16:creationId xmlns:a16="http://schemas.microsoft.com/office/drawing/2014/main" id="{C85973FF-F1BC-B994-BBB2-5B54A6BC20A2}"/>
                </a:ext>
              </a:extLst>
            </p:cNvPr>
            <p:cNvGrpSpPr/>
            <p:nvPr/>
          </p:nvGrpSpPr>
          <p:grpSpPr>
            <a:xfrm>
              <a:off x="4771800" y="5050873"/>
              <a:ext cx="1076472" cy="553441"/>
              <a:chOff x="6389474" y="3987996"/>
              <a:chExt cx="5385544" cy="2536749"/>
            </a:xfrm>
          </p:grpSpPr>
          <p:cxnSp>
            <p:nvCxnSpPr>
              <p:cNvPr id="56" name="Connecteur droit avec flèche 55">
                <a:extLst>
                  <a:ext uri="{FF2B5EF4-FFF2-40B4-BE49-F238E27FC236}">
                    <a16:creationId xmlns:a16="http://schemas.microsoft.com/office/drawing/2014/main" id="{C42D7D1E-CE1A-C185-6A7A-F241696A13A9}"/>
                  </a:ext>
                </a:extLst>
              </p:cNvPr>
              <p:cNvCxnSpPr>
                <a:cxnSpLocks/>
              </p:cNvCxnSpPr>
              <p:nvPr/>
            </p:nvCxnSpPr>
            <p:spPr>
              <a:xfrm flipV="1">
                <a:off x="6535271" y="6100758"/>
                <a:ext cx="1486117" cy="22439"/>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57" name="Graphique 56" descr="Télécharger du cloud avec un remplissage uni">
                <a:extLst>
                  <a:ext uri="{FF2B5EF4-FFF2-40B4-BE49-F238E27FC236}">
                    <a16:creationId xmlns:a16="http://schemas.microsoft.com/office/drawing/2014/main" id="{0458F867-B923-E00C-00CE-30A1269F1684}"/>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8320900" y="3987996"/>
                <a:ext cx="675060" cy="675060"/>
              </a:xfrm>
              <a:prstGeom prst="rect">
                <a:avLst/>
              </a:prstGeom>
            </p:spPr>
          </p:pic>
          <p:pic>
            <p:nvPicPr>
              <p:cNvPr id="58" name="Graphique 57" descr="Serveur avec un remplissage uni">
                <a:extLst>
                  <a:ext uri="{FF2B5EF4-FFF2-40B4-BE49-F238E27FC236}">
                    <a16:creationId xmlns:a16="http://schemas.microsoft.com/office/drawing/2014/main" id="{7EE20A3F-7017-B17A-4FA7-F1D46F4D7168}"/>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8995960" y="3987996"/>
                <a:ext cx="675060" cy="675060"/>
              </a:xfrm>
              <a:prstGeom prst="rect">
                <a:avLst/>
              </a:prstGeom>
            </p:spPr>
          </p:pic>
          <p:pic>
            <p:nvPicPr>
              <p:cNvPr id="59" name="Graphique 58" descr="Tête avec engrenages avec un remplissage uni">
                <a:extLst>
                  <a:ext uri="{FF2B5EF4-FFF2-40B4-BE49-F238E27FC236}">
                    <a16:creationId xmlns:a16="http://schemas.microsoft.com/office/drawing/2014/main" id="{AE54FCB8-5DB2-058B-023F-5D09DBD40B32}"/>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6389474" y="5495508"/>
                <a:ext cx="914400" cy="914400"/>
              </a:xfrm>
              <a:prstGeom prst="rect">
                <a:avLst/>
              </a:prstGeom>
            </p:spPr>
          </p:pic>
          <p:sp>
            <p:nvSpPr>
              <p:cNvPr id="60" name="Flèche : droite 59">
                <a:extLst>
                  <a:ext uri="{FF2B5EF4-FFF2-40B4-BE49-F238E27FC236}">
                    <a16:creationId xmlns:a16="http://schemas.microsoft.com/office/drawing/2014/main" id="{A45FC425-BB1F-4CC8-0462-BEB62B1DEFF5}"/>
                  </a:ext>
                </a:extLst>
              </p:cNvPr>
              <p:cNvSpPr/>
              <p:nvPr/>
            </p:nvSpPr>
            <p:spPr>
              <a:xfrm rot="2221843">
                <a:off x="9714954" y="4900835"/>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61" name="Graphique 60" descr="Enseignant avec un remplissage uni">
                <a:extLst>
                  <a:ext uri="{FF2B5EF4-FFF2-40B4-BE49-F238E27FC236}">
                    <a16:creationId xmlns:a16="http://schemas.microsoft.com/office/drawing/2014/main" id="{EE4BF913-C80F-BF02-E5DC-0F6488747749}"/>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a:off x="8353404" y="4668590"/>
                <a:ext cx="639776" cy="639776"/>
              </a:xfrm>
              <a:prstGeom prst="rect">
                <a:avLst/>
              </a:prstGeom>
            </p:spPr>
          </p:pic>
          <p:cxnSp>
            <p:nvCxnSpPr>
              <p:cNvPr id="62" name="Connecteur droit avec flèche 61">
                <a:extLst>
                  <a:ext uri="{FF2B5EF4-FFF2-40B4-BE49-F238E27FC236}">
                    <a16:creationId xmlns:a16="http://schemas.microsoft.com/office/drawing/2014/main" id="{3FBE77C6-DC0A-5B69-C89C-970DC79C77D0}"/>
                  </a:ext>
                </a:extLst>
              </p:cNvPr>
              <p:cNvCxnSpPr>
                <a:cxnSpLocks/>
              </p:cNvCxnSpPr>
              <p:nvPr/>
            </p:nvCxnSpPr>
            <p:spPr>
              <a:xfrm flipV="1">
                <a:off x="9709150" y="6092806"/>
                <a:ext cx="2065868" cy="15905"/>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64" name="Graphique 63" descr="Tête avec engrenages avec un remplissage uni">
                <a:extLst>
                  <a:ext uri="{FF2B5EF4-FFF2-40B4-BE49-F238E27FC236}">
                    <a16:creationId xmlns:a16="http://schemas.microsoft.com/office/drawing/2014/main" id="{7DFEEC20-7105-FB88-73BD-9E65E086323C}"/>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10652219" y="5495508"/>
                <a:ext cx="914400" cy="914400"/>
              </a:xfrm>
              <a:prstGeom prst="rect">
                <a:avLst/>
              </a:prstGeom>
            </p:spPr>
          </p:pic>
          <p:sp>
            <p:nvSpPr>
              <p:cNvPr id="65" name="Flèche : droite 64">
                <a:extLst>
                  <a:ext uri="{FF2B5EF4-FFF2-40B4-BE49-F238E27FC236}">
                    <a16:creationId xmlns:a16="http://schemas.microsoft.com/office/drawing/2014/main" id="{2D53D978-0F41-47D7-6D68-620233E5C7E0}"/>
                  </a:ext>
                </a:extLst>
              </p:cNvPr>
              <p:cNvSpPr/>
              <p:nvPr/>
            </p:nvSpPr>
            <p:spPr>
              <a:xfrm rot="18844370">
                <a:off x="7386229" y="4956663"/>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66" name="Graphique 65" descr="Groupe de personnes avec un remplissage uni">
                <a:extLst>
                  <a:ext uri="{FF2B5EF4-FFF2-40B4-BE49-F238E27FC236}">
                    <a16:creationId xmlns:a16="http://schemas.microsoft.com/office/drawing/2014/main" id="{B12DBA10-1767-4E33-F9F9-8C51E3854588}"/>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9025684" y="4682443"/>
                <a:ext cx="565880" cy="565880"/>
              </a:xfrm>
              <a:prstGeom prst="rect">
                <a:avLst/>
              </a:prstGeom>
            </p:spPr>
          </p:pic>
          <p:pic>
            <p:nvPicPr>
              <p:cNvPr id="67" name="Graphique 66" descr="Stop avec un remplissage uni">
                <a:extLst>
                  <a:ext uri="{FF2B5EF4-FFF2-40B4-BE49-F238E27FC236}">
                    <a16:creationId xmlns:a16="http://schemas.microsoft.com/office/drawing/2014/main" id="{45306F10-E247-BCE6-C2C5-3CE1FE401292}"/>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7905881" y="5610345"/>
                <a:ext cx="914400" cy="914400"/>
              </a:xfrm>
              <a:prstGeom prst="rect">
                <a:avLst/>
              </a:prstGeom>
            </p:spPr>
          </p:pic>
          <p:grpSp>
            <p:nvGrpSpPr>
              <p:cNvPr id="68" name="Groupe 67">
                <a:extLst>
                  <a:ext uri="{FF2B5EF4-FFF2-40B4-BE49-F238E27FC236}">
                    <a16:creationId xmlns:a16="http://schemas.microsoft.com/office/drawing/2014/main" id="{A565F425-C821-B7AB-F335-7D93924B36BD}"/>
                  </a:ext>
                </a:extLst>
              </p:cNvPr>
              <p:cNvGrpSpPr/>
              <p:nvPr/>
            </p:nvGrpSpPr>
            <p:grpSpPr>
              <a:xfrm>
                <a:off x="9279050" y="5495508"/>
                <a:ext cx="914400" cy="914400"/>
                <a:chOff x="9251950" y="5495508"/>
                <a:chExt cx="914400" cy="914400"/>
              </a:xfrm>
            </p:grpSpPr>
            <p:pic>
              <p:nvPicPr>
                <p:cNvPr id="69" name="Graphique 68" descr="Tête avec engrenages avec un remplissage uni">
                  <a:extLst>
                    <a:ext uri="{FF2B5EF4-FFF2-40B4-BE49-F238E27FC236}">
                      <a16:creationId xmlns:a16="http://schemas.microsoft.com/office/drawing/2014/main" id="{E63033DF-DD0D-CC92-DE36-651B4EA44218}"/>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9251950" y="5495508"/>
                  <a:ext cx="914400" cy="914400"/>
                </a:xfrm>
                <a:prstGeom prst="rect">
                  <a:avLst/>
                </a:prstGeom>
              </p:spPr>
            </p:pic>
            <p:sp>
              <p:nvSpPr>
                <p:cNvPr id="70" name="Rectangle 69">
                  <a:extLst>
                    <a:ext uri="{FF2B5EF4-FFF2-40B4-BE49-F238E27FC236}">
                      <a16:creationId xmlns:a16="http://schemas.microsoft.com/office/drawing/2014/main" id="{1889A623-699D-1215-F470-5FCB854B2185}"/>
                    </a:ext>
                  </a:extLst>
                </p:cNvPr>
                <p:cNvSpPr/>
                <p:nvPr/>
              </p:nvSpPr>
              <p:spPr>
                <a:xfrm>
                  <a:off x="9453160" y="5700257"/>
                  <a:ext cx="402041" cy="33468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71" name="Rectangle 70">
                  <a:extLst>
                    <a:ext uri="{FF2B5EF4-FFF2-40B4-BE49-F238E27FC236}">
                      <a16:creationId xmlns:a16="http://schemas.microsoft.com/office/drawing/2014/main" id="{5D444A44-7703-0EA5-35EA-C57AF891C400}"/>
                    </a:ext>
                  </a:extLst>
                </p:cNvPr>
                <p:cNvSpPr/>
                <p:nvPr/>
              </p:nvSpPr>
              <p:spPr>
                <a:xfrm>
                  <a:off x="9566945" y="5606948"/>
                  <a:ext cx="262408" cy="34576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grpSp>
        </p:grpSp>
      </p:grpSp>
      <p:grpSp>
        <p:nvGrpSpPr>
          <p:cNvPr id="72" name="Groupe 71">
            <a:extLst>
              <a:ext uri="{FF2B5EF4-FFF2-40B4-BE49-F238E27FC236}">
                <a16:creationId xmlns:a16="http://schemas.microsoft.com/office/drawing/2014/main" id="{69C57A89-4DDE-768C-81B6-6BB4F46F7868}"/>
              </a:ext>
            </a:extLst>
          </p:cNvPr>
          <p:cNvGrpSpPr/>
          <p:nvPr/>
        </p:nvGrpSpPr>
        <p:grpSpPr>
          <a:xfrm>
            <a:off x="8490759" y="1788566"/>
            <a:ext cx="867920" cy="856461"/>
            <a:chOff x="9979734" y="5177643"/>
            <a:chExt cx="1188000" cy="1172315"/>
          </a:xfrm>
        </p:grpSpPr>
        <p:sp>
          <p:nvSpPr>
            <p:cNvPr id="73" name="Rectangle 72">
              <a:extLst>
                <a:ext uri="{FF2B5EF4-FFF2-40B4-BE49-F238E27FC236}">
                  <a16:creationId xmlns:a16="http://schemas.microsoft.com/office/drawing/2014/main" id="{3CE7D0D8-B849-7735-A37E-6B0ABFCBB2FB}"/>
                </a:ext>
              </a:extLst>
            </p:cNvPr>
            <p:cNvSpPr/>
            <p:nvPr/>
          </p:nvSpPr>
          <p:spPr>
            <a:xfrm>
              <a:off x="9979734" y="5694208"/>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a:t>
              </a:r>
            </a:p>
            <a:p>
              <a:pPr algn="ctr"/>
              <a:r>
                <a:rPr lang="fr-FR" sz="800" dirty="0">
                  <a:solidFill>
                    <a:schemeClr val="bg1"/>
                  </a:solidFill>
                </a:rPr>
                <a:t>Transformation d’entreprise</a:t>
              </a:r>
            </a:p>
          </p:txBody>
        </p:sp>
        <p:grpSp>
          <p:nvGrpSpPr>
            <p:cNvPr id="74" name="Groupe 73">
              <a:extLst>
                <a:ext uri="{FF2B5EF4-FFF2-40B4-BE49-F238E27FC236}">
                  <a16:creationId xmlns:a16="http://schemas.microsoft.com/office/drawing/2014/main" id="{06624DC3-E2F1-2EF6-CB86-F13A6B3E1018}"/>
                </a:ext>
              </a:extLst>
            </p:cNvPr>
            <p:cNvGrpSpPr/>
            <p:nvPr/>
          </p:nvGrpSpPr>
          <p:grpSpPr>
            <a:xfrm>
              <a:off x="10053885" y="5177643"/>
              <a:ext cx="1025143" cy="399185"/>
              <a:chOff x="6479122" y="1406591"/>
              <a:chExt cx="5241664" cy="1686141"/>
            </a:xfrm>
          </p:grpSpPr>
          <p:pic>
            <p:nvPicPr>
              <p:cNvPr id="75" name="Graphique 74" descr="Soucoupe volante avec un remplissage uni">
                <a:extLst>
                  <a:ext uri="{FF2B5EF4-FFF2-40B4-BE49-F238E27FC236}">
                    <a16:creationId xmlns:a16="http://schemas.microsoft.com/office/drawing/2014/main" id="{38253329-BA6A-E9D1-5AC9-0BE136B0ACCE}"/>
                  </a:ext>
                </a:extLst>
              </p:cNvPr>
              <p:cNvPicPr>
                <a:picLocks noChangeAspect="1"/>
              </p:cNvPicPr>
              <p:nvPr/>
            </p:nvPicPr>
            <p:blipFill>
              <a:blip r:embed="rId74">
                <a:extLst>
                  <a:ext uri="{28A0092B-C50C-407E-A947-70E740481C1C}">
                    <a14:useLocalDpi xmlns:a14="http://schemas.microsoft.com/office/drawing/2010/main" val="0"/>
                  </a:ext>
                  <a:ext uri="{96DAC541-7B7A-43D3-8B79-37D633B846F1}">
                    <asvg:svgBlip xmlns:asvg="http://schemas.microsoft.com/office/drawing/2016/SVG/main" r:embed="rId75"/>
                  </a:ext>
                </a:extLst>
              </a:blip>
              <a:stretch>
                <a:fillRect/>
              </a:stretch>
            </p:blipFill>
            <p:spPr>
              <a:xfrm>
                <a:off x="10806386" y="1406591"/>
                <a:ext cx="914400" cy="914400"/>
              </a:xfrm>
              <a:prstGeom prst="rect">
                <a:avLst/>
              </a:prstGeom>
            </p:spPr>
          </p:pic>
          <p:pic>
            <p:nvPicPr>
              <p:cNvPr id="76" name="Graphique 75" descr="Usine avec un remplissage uni">
                <a:extLst>
                  <a:ext uri="{FF2B5EF4-FFF2-40B4-BE49-F238E27FC236}">
                    <a16:creationId xmlns:a16="http://schemas.microsoft.com/office/drawing/2014/main" id="{7597668D-F94D-513A-5126-746FBDCF6266}"/>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8642754" y="1406591"/>
                <a:ext cx="914400" cy="914400"/>
              </a:xfrm>
              <a:prstGeom prst="rect">
                <a:avLst/>
              </a:prstGeom>
            </p:spPr>
          </p:pic>
          <p:pic>
            <p:nvPicPr>
              <p:cNvPr id="77" name="Graphique 76" descr="Pyramide avec un remplissage uni">
                <a:extLst>
                  <a:ext uri="{FF2B5EF4-FFF2-40B4-BE49-F238E27FC236}">
                    <a16:creationId xmlns:a16="http://schemas.microsoft.com/office/drawing/2014/main" id="{C6206D71-A42F-B775-B177-0408FD6A247D}"/>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6479122" y="1406591"/>
                <a:ext cx="914400" cy="914400"/>
              </a:xfrm>
              <a:prstGeom prst="rect">
                <a:avLst/>
              </a:prstGeom>
            </p:spPr>
          </p:pic>
          <p:pic>
            <p:nvPicPr>
              <p:cNvPr id="78" name="Graphique 77" descr="Bâtiment avec un remplissage uni">
                <a:extLst>
                  <a:ext uri="{FF2B5EF4-FFF2-40B4-BE49-F238E27FC236}">
                    <a16:creationId xmlns:a16="http://schemas.microsoft.com/office/drawing/2014/main" id="{3C3ECA17-40A3-8C31-D0BD-D6DB08F6896C}"/>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9724570" y="2178332"/>
                <a:ext cx="914400" cy="914400"/>
              </a:xfrm>
              <a:prstGeom prst="rect">
                <a:avLst/>
              </a:prstGeom>
            </p:spPr>
          </p:pic>
          <p:pic>
            <p:nvPicPr>
              <p:cNvPr id="79" name="Graphique 78" descr="Scène de château avec un remplissage uni">
                <a:extLst>
                  <a:ext uri="{FF2B5EF4-FFF2-40B4-BE49-F238E27FC236}">
                    <a16:creationId xmlns:a16="http://schemas.microsoft.com/office/drawing/2014/main" id="{311E6EC2-6DC0-D99E-686A-8059022AEBA9}"/>
                  </a:ext>
                </a:extLst>
              </p:cNvPr>
              <p:cNvPicPr>
                <a:picLocks noChangeAspect="1"/>
              </p:cNvPicPr>
              <p:nvPr/>
            </p:nvPicPr>
            <p:blipFill>
              <a:blip r:embed="rId82">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7560938" y="2178332"/>
                <a:ext cx="914400" cy="914400"/>
              </a:xfrm>
              <a:prstGeom prst="rect">
                <a:avLst/>
              </a:prstGeom>
            </p:spPr>
          </p:pic>
          <p:sp>
            <p:nvSpPr>
              <p:cNvPr id="80" name="Flèche : droite 79">
                <a:extLst>
                  <a:ext uri="{FF2B5EF4-FFF2-40B4-BE49-F238E27FC236}">
                    <a16:creationId xmlns:a16="http://schemas.microsoft.com/office/drawing/2014/main" id="{87B434AA-D831-4D5F-3A36-8ECAAA866E0A}"/>
                  </a:ext>
                </a:extLst>
              </p:cNvPr>
              <p:cNvSpPr/>
              <p:nvPr/>
            </p:nvSpPr>
            <p:spPr>
              <a:xfrm rot="2412443">
                <a:off x="7420834" y="196308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81" name="Flèche : droite 80">
                <a:extLst>
                  <a:ext uri="{FF2B5EF4-FFF2-40B4-BE49-F238E27FC236}">
                    <a16:creationId xmlns:a16="http://schemas.microsoft.com/office/drawing/2014/main" id="{65E35AD6-B1C1-3206-B787-9FE20D6E4C3C}"/>
                  </a:ext>
                </a:extLst>
              </p:cNvPr>
              <p:cNvSpPr/>
              <p:nvPr/>
            </p:nvSpPr>
            <p:spPr>
              <a:xfrm rot="19318800">
                <a:off x="8295844"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82" name="Flèche : droite 81">
                <a:extLst>
                  <a:ext uri="{FF2B5EF4-FFF2-40B4-BE49-F238E27FC236}">
                    <a16:creationId xmlns:a16="http://schemas.microsoft.com/office/drawing/2014/main" id="{B326D8E5-753E-1429-9A68-5CE2822272DD}"/>
                  </a:ext>
                </a:extLst>
              </p:cNvPr>
              <p:cNvSpPr/>
              <p:nvPr/>
            </p:nvSpPr>
            <p:spPr>
              <a:xfrm rot="19318800">
                <a:off x="10452959"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83" name="Flèche : droite 82">
                <a:extLst>
                  <a:ext uri="{FF2B5EF4-FFF2-40B4-BE49-F238E27FC236}">
                    <a16:creationId xmlns:a16="http://schemas.microsoft.com/office/drawing/2014/main" id="{399EE325-95FE-E6FF-9FFF-80E4EBCCC826}"/>
                  </a:ext>
                </a:extLst>
              </p:cNvPr>
              <p:cNvSpPr/>
              <p:nvPr/>
            </p:nvSpPr>
            <p:spPr>
              <a:xfrm rot="2412443">
                <a:off x="9514335" y="192072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grpSp>
      </p:grpSp>
      <p:grpSp>
        <p:nvGrpSpPr>
          <p:cNvPr id="84" name="Groupe 83">
            <a:extLst>
              <a:ext uri="{FF2B5EF4-FFF2-40B4-BE49-F238E27FC236}">
                <a16:creationId xmlns:a16="http://schemas.microsoft.com/office/drawing/2014/main" id="{7C714D27-A4B5-CA9F-9A9F-045978BA49D8}"/>
              </a:ext>
            </a:extLst>
          </p:cNvPr>
          <p:cNvGrpSpPr/>
          <p:nvPr/>
        </p:nvGrpSpPr>
        <p:grpSpPr>
          <a:xfrm>
            <a:off x="6726990" y="1628768"/>
            <a:ext cx="867921" cy="1016259"/>
            <a:chOff x="6450988" y="4963473"/>
            <a:chExt cx="1188000" cy="1391043"/>
          </a:xfrm>
        </p:grpSpPr>
        <p:sp>
          <p:nvSpPr>
            <p:cNvPr id="85" name="Rectangle 84">
              <a:extLst>
                <a:ext uri="{FF2B5EF4-FFF2-40B4-BE49-F238E27FC236}">
                  <a16:creationId xmlns:a16="http://schemas.microsoft.com/office/drawing/2014/main" id="{95364F16-1A9A-FA6D-5FF0-C552F2712A9C}"/>
                </a:ext>
              </a:extLst>
            </p:cNvPr>
            <p:cNvSpPr/>
            <p:nvPr/>
          </p:nvSpPr>
          <p:spPr>
            <a:xfrm>
              <a:off x="6450988" y="5698766"/>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 </a:t>
              </a:r>
            </a:p>
            <a:p>
              <a:pPr algn="ctr"/>
              <a:r>
                <a:rPr lang="fr-FR" sz="800" dirty="0">
                  <a:solidFill>
                    <a:schemeClr val="bg1"/>
                  </a:solidFill>
                </a:rPr>
                <a:t>Management Transverse</a:t>
              </a:r>
            </a:p>
          </p:txBody>
        </p:sp>
        <p:grpSp>
          <p:nvGrpSpPr>
            <p:cNvPr id="86" name="Groupe 85">
              <a:extLst>
                <a:ext uri="{FF2B5EF4-FFF2-40B4-BE49-F238E27FC236}">
                  <a16:creationId xmlns:a16="http://schemas.microsoft.com/office/drawing/2014/main" id="{A064287D-36CC-B2E2-6D6A-19C465508F0E}"/>
                </a:ext>
              </a:extLst>
            </p:cNvPr>
            <p:cNvGrpSpPr/>
            <p:nvPr/>
          </p:nvGrpSpPr>
          <p:grpSpPr>
            <a:xfrm>
              <a:off x="6677241" y="4963473"/>
              <a:ext cx="730189" cy="610409"/>
              <a:chOff x="1734369" y="510800"/>
              <a:chExt cx="2873060" cy="2423359"/>
            </a:xfrm>
          </p:grpSpPr>
          <p:pic>
            <p:nvPicPr>
              <p:cNvPr id="87" name="Graphique 86" descr="Avertissement avec un remplissage uni">
                <a:extLst>
                  <a:ext uri="{FF2B5EF4-FFF2-40B4-BE49-F238E27FC236}">
                    <a16:creationId xmlns:a16="http://schemas.microsoft.com/office/drawing/2014/main" id="{494D5008-3857-F774-ED05-2933ED572E33}"/>
                  </a:ext>
                </a:extLst>
              </p:cNvPr>
              <p:cNvPicPr>
                <a:picLocks noChangeAspect="1"/>
              </p:cNvPicPr>
              <p:nvPr/>
            </p:nvPicPr>
            <p:blipFill>
              <a:blip r:embed="rId84">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1734369" y="1978134"/>
                <a:ext cx="914400" cy="914400"/>
              </a:xfrm>
              <a:prstGeom prst="rect">
                <a:avLst/>
              </a:prstGeom>
            </p:spPr>
          </p:pic>
          <p:pic>
            <p:nvPicPr>
              <p:cNvPr id="88" name="Graphique 87" descr="Chat avec un remplissage uni">
                <a:extLst>
                  <a:ext uri="{FF2B5EF4-FFF2-40B4-BE49-F238E27FC236}">
                    <a16:creationId xmlns:a16="http://schemas.microsoft.com/office/drawing/2014/main" id="{23B5497D-3E59-BB66-BB6E-13E3367BEA4D}"/>
                  </a:ext>
                </a:extLst>
              </p:cNvPr>
              <p:cNvPicPr>
                <a:picLocks noChangeAspect="1"/>
              </p:cNvPicPr>
              <p:nvPr/>
            </p:nvPicPr>
            <p:blipFill>
              <a:blip r:embed="rId86">
                <a:extLst>
                  <a:ext uri="{28A0092B-C50C-407E-A947-70E740481C1C}">
                    <a14:useLocalDpi xmlns:a14="http://schemas.microsoft.com/office/drawing/2010/main" val="0"/>
                  </a:ext>
                  <a:ext uri="{96DAC541-7B7A-43D3-8B79-37D633B846F1}">
                    <asvg:svgBlip xmlns:asvg="http://schemas.microsoft.com/office/drawing/2016/SVG/main" r:embed="rId87"/>
                  </a:ext>
                </a:extLst>
              </a:blip>
              <a:stretch>
                <a:fillRect/>
              </a:stretch>
            </p:blipFill>
            <p:spPr>
              <a:xfrm>
                <a:off x="2713699" y="1562559"/>
                <a:ext cx="914400" cy="914400"/>
              </a:xfrm>
              <a:prstGeom prst="rect">
                <a:avLst/>
              </a:prstGeom>
            </p:spPr>
          </p:pic>
          <p:pic>
            <p:nvPicPr>
              <p:cNvPr id="89" name="Graphique 88" descr="Liste de contrôle avec un remplissage uni">
                <a:extLst>
                  <a:ext uri="{FF2B5EF4-FFF2-40B4-BE49-F238E27FC236}">
                    <a16:creationId xmlns:a16="http://schemas.microsoft.com/office/drawing/2014/main" id="{B4112D61-DBC1-CCB0-CD77-FD4678D8B528}"/>
                  </a:ext>
                </a:extLst>
              </p:cNvPr>
              <p:cNvPicPr>
                <a:picLocks noChangeAspect="1"/>
              </p:cNvPicPr>
              <p:nvPr/>
            </p:nvPicPr>
            <p:blipFill>
              <a:blip r:embed="rId88">
                <a:extLst>
                  <a:ext uri="{28A0092B-C50C-407E-A947-70E740481C1C}">
                    <a14:useLocalDpi xmlns:a14="http://schemas.microsoft.com/office/drawing/2010/main" val="0"/>
                  </a:ext>
                  <a:ext uri="{96DAC541-7B7A-43D3-8B79-37D633B846F1}">
                    <asvg:svgBlip xmlns:asvg="http://schemas.microsoft.com/office/drawing/2016/SVG/main" r:embed="rId89"/>
                  </a:ext>
                </a:extLst>
              </a:blip>
              <a:stretch>
                <a:fillRect/>
              </a:stretch>
            </p:blipFill>
            <p:spPr>
              <a:xfrm>
                <a:off x="3693029" y="2019759"/>
                <a:ext cx="914400" cy="914400"/>
              </a:xfrm>
              <a:prstGeom prst="rect">
                <a:avLst/>
              </a:prstGeom>
            </p:spPr>
          </p:pic>
          <p:pic>
            <p:nvPicPr>
              <p:cNvPr id="90" name="Graphique 89" descr="Synchronisation avec le cloud avec un remplissage uni">
                <a:extLst>
                  <a:ext uri="{FF2B5EF4-FFF2-40B4-BE49-F238E27FC236}">
                    <a16:creationId xmlns:a16="http://schemas.microsoft.com/office/drawing/2014/main" id="{BFFE67FC-D315-D329-A767-A534D4A596D4}"/>
                  </a:ext>
                </a:extLst>
              </p:cNvPr>
              <p:cNvPicPr>
                <a:picLocks noChangeAspect="1"/>
              </p:cNvPicPr>
              <p:nvPr/>
            </p:nvPicPr>
            <p:blipFill>
              <a:blip r:embed="rId90">
                <a:extLst>
                  <a:ext uri="{28A0092B-C50C-407E-A947-70E740481C1C}">
                    <a14:useLocalDpi xmlns:a14="http://schemas.microsoft.com/office/drawing/2010/main" val="0"/>
                  </a:ext>
                  <a:ext uri="{96DAC541-7B7A-43D3-8B79-37D633B846F1}">
                    <asvg:svgBlip xmlns:asvg="http://schemas.microsoft.com/office/drawing/2016/SVG/main" r:embed="rId91"/>
                  </a:ext>
                </a:extLst>
              </a:blip>
              <a:stretch>
                <a:fillRect/>
              </a:stretch>
            </p:blipFill>
            <p:spPr>
              <a:xfrm>
                <a:off x="2778630" y="510800"/>
                <a:ext cx="914400" cy="914400"/>
              </a:xfrm>
              <a:prstGeom prst="rect">
                <a:avLst/>
              </a:prstGeom>
            </p:spPr>
          </p:pic>
        </p:grpSp>
      </p:grpSp>
      <p:grpSp>
        <p:nvGrpSpPr>
          <p:cNvPr id="91" name="Groupe 90">
            <a:extLst>
              <a:ext uri="{FF2B5EF4-FFF2-40B4-BE49-F238E27FC236}">
                <a16:creationId xmlns:a16="http://schemas.microsoft.com/office/drawing/2014/main" id="{B4DB1AA8-9925-69FB-ED54-79DF8C6F8AC5}"/>
              </a:ext>
            </a:extLst>
          </p:cNvPr>
          <p:cNvGrpSpPr/>
          <p:nvPr/>
        </p:nvGrpSpPr>
        <p:grpSpPr>
          <a:xfrm>
            <a:off x="7608875" y="1470347"/>
            <a:ext cx="867920" cy="1174680"/>
            <a:chOff x="8188500" y="4755609"/>
            <a:chExt cx="1188000" cy="1607891"/>
          </a:xfrm>
        </p:grpSpPr>
        <p:sp>
          <p:nvSpPr>
            <p:cNvPr id="92" name="Rectangle 91">
              <a:extLst>
                <a:ext uri="{FF2B5EF4-FFF2-40B4-BE49-F238E27FC236}">
                  <a16:creationId xmlns:a16="http://schemas.microsoft.com/office/drawing/2014/main" id="{2C11E83C-479E-C921-C2B8-FB8C4E4031A5}"/>
                </a:ext>
              </a:extLst>
            </p:cNvPr>
            <p:cNvSpPr/>
            <p:nvPr/>
          </p:nvSpPr>
          <p:spPr>
            <a:xfrm>
              <a:off x="8188500" y="5707750"/>
              <a:ext cx="1188000" cy="65575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Opérations </a:t>
              </a:r>
            </a:p>
            <a:p>
              <a:pPr algn="ctr"/>
              <a:r>
                <a:rPr lang="fr-FR" sz="800" dirty="0">
                  <a:solidFill>
                    <a:schemeClr val="bg1"/>
                  </a:solidFill>
                </a:rPr>
                <a:t>Innovation</a:t>
              </a:r>
            </a:p>
          </p:txBody>
        </p:sp>
        <p:grpSp>
          <p:nvGrpSpPr>
            <p:cNvPr id="93" name="Groupe 92">
              <a:extLst>
                <a:ext uri="{FF2B5EF4-FFF2-40B4-BE49-F238E27FC236}">
                  <a16:creationId xmlns:a16="http://schemas.microsoft.com/office/drawing/2014/main" id="{89C596AF-1F51-9D07-2EB8-12901B64835C}"/>
                </a:ext>
              </a:extLst>
            </p:cNvPr>
            <p:cNvGrpSpPr/>
            <p:nvPr/>
          </p:nvGrpSpPr>
          <p:grpSpPr>
            <a:xfrm>
              <a:off x="8302488" y="4755609"/>
              <a:ext cx="985193" cy="908867"/>
              <a:chOff x="1770451" y="635328"/>
              <a:chExt cx="2847387" cy="2660604"/>
            </a:xfrm>
          </p:grpSpPr>
          <p:sp>
            <p:nvSpPr>
              <p:cNvPr id="94" name="Ellipse 93">
                <a:extLst>
                  <a:ext uri="{FF2B5EF4-FFF2-40B4-BE49-F238E27FC236}">
                    <a16:creationId xmlns:a16="http://schemas.microsoft.com/office/drawing/2014/main" id="{CB0AF4FE-F017-47F1-C068-10BC3A6328A9}"/>
                  </a:ext>
                </a:extLst>
              </p:cNvPr>
              <p:cNvSpPr/>
              <p:nvPr/>
            </p:nvSpPr>
            <p:spPr>
              <a:xfrm>
                <a:off x="2285862" y="956143"/>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pic>
            <p:nvPicPr>
              <p:cNvPr id="95" name="Graphique 94" descr="Lunettes 3D avec un remplissage uni">
                <a:extLst>
                  <a:ext uri="{FF2B5EF4-FFF2-40B4-BE49-F238E27FC236}">
                    <a16:creationId xmlns:a16="http://schemas.microsoft.com/office/drawing/2014/main" id="{A197CBB6-CDEA-F450-B00D-D8F2B5E98A1A}"/>
                  </a:ext>
                </a:extLst>
              </p:cNvPr>
              <p:cNvPicPr>
                <a:picLocks noChangeAspect="1"/>
              </p:cNvPicPr>
              <p:nvPr/>
            </p:nvPicPr>
            <p:blipFill>
              <a:blip r:embed="rId92">
                <a:extLst>
                  <a:ext uri="{28A0092B-C50C-407E-A947-70E740481C1C}">
                    <a14:useLocalDpi xmlns:a14="http://schemas.microsoft.com/office/drawing/2010/main" val="0"/>
                  </a:ext>
                  <a:ext uri="{96DAC541-7B7A-43D3-8B79-37D633B846F1}">
                    <asvg:svgBlip xmlns:asvg="http://schemas.microsoft.com/office/drawing/2016/SVG/main" r:embed="rId93"/>
                  </a:ext>
                </a:extLst>
              </a:blip>
              <a:stretch>
                <a:fillRect/>
              </a:stretch>
            </p:blipFill>
            <p:spPr>
              <a:xfrm>
                <a:off x="2339651" y="643202"/>
                <a:ext cx="914400" cy="914400"/>
              </a:xfrm>
              <a:prstGeom prst="rect">
                <a:avLst/>
              </a:prstGeom>
            </p:spPr>
          </p:pic>
          <p:pic>
            <p:nvPicPr>
              <p:cNvPr id="96" name="Graphique 95" descr="Mannequin test avec un remplissage uni">
                <a:extLst>
                  <a:ext uri="{FF2B5EF4-FFF2-40B4-BE49-F238E27FC236}">
                    <a16:creationId xmlns:a16="http://schemas.microsoft.com/office/drawing/2014/main" id="{C157820B-19F5-064B-EA4D-8E3A07B742AB}"/>
                  </a:ext>
                </a:extLst>
              </p:cNvPr>
              <p:cNvPicPr>
                <a:picLocks noChangeAspect="1"/>
              </p:cNvPicPr>
              <p:nvPr/>
            </p:nvPicPr>
            <p:blipFill>
              <a:blip r:embed="rId94">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2825957" y="2381532"/>
                <a:ext cx="914400" cy="914400"/>
              </a:xfrm>
              <a:prstGeom prst="rect">
                <a:avLst/>
              </a:prstGeom>
            </p:spPr>
          </p:pic>
          <p:pic>
            <p:nvPicPr>
              <p:cNvPr id="97" name="Graphique 96" descr="Homme scientifique avec un remplissage uni">
                <a:extLst>
                  <a:ext uri="{FF2B5EF4-FFF2-40B4-BE49-F238E27FC236}">
                    <a16:creationId xmlns:a16="http://schemas.microsoft.com/office/drawing/2014/main" id="{EB902E72-A9ED-AAB2-7C0B-2DD6B7EFB2A6}"/>
                  </a:ext>
                </a:extLst>
              </p:cNvPr>
              <p:cNvPicPr>
                <a:picLocks noChangeAspect="1"/>
              </p:cNvPicPr>
              <p:nvPr/>
            </p:nvPicPr>
            <p:blipFill>
              <a:blip r:embed="rId96">
                <a:extLst>
                  <a:ext uri="{28A0092B-C50C-407E-A947-70E740481C1C}">
                    <a14:useLocalDpi xmlns:a14="http://schemas.microsoft.com/office/drawing/2010/main" val="0"/>
                  </a:ext>
                  <a:ext uri="{96DAC541-7B7A-43D3-8B79-37D633B846F1}">
                    <asvg:svgBlip xmlns:asvg="http://schemas.microsoft.com/office/drawing/2016/SVG/main" r:embed="rId97"/>
                  </a:ext>
                </a:extLst>
              </a:blip>
              <a:stretch>
                <a:fillRect/>
              </a:stretch>
            </p:blipFill>
            <p:spPr>
              <a:xfrm>
                <a:off x="3612503" y="635328"/>
                <a:ext cx="914400" cy="914400"/>
              </a:xfrm>
              <a:prstGeom prst="rect">
                <a:avLst/>
              </a:prstGeom>
            </p:spPr>
          </p:pic>
          <p:pic>
            <p:nvPicPr>
              <p:cNvPr id="98" name="Graphique 97" descr="Presse-papiers mixte avec un remplissage uni">
                <a:extLst>
                  <a:ext uri="{FF2B5EF4-FFF2-40B4-BE49-F238E27FC236}">
                    <a16:creationId xmlns:a16="http://schemas.microsoft.com/office/drawing/2014/main" id="{45D72DBC-9BF3-5AFB-3D33-BA7C84161992}"/>
                  </a:ext>
                </a:extLst>
              </p:cNvPr>
              <p:cNvPicPr>
                <a:picLocks noChangeAspect="1"/>
              </p:cNvPicPr>
              <p:nvPr/>
            </p:nvPicPr>
            <p:blipFill>
              <a:blip r:embed="rId98">
                <a:extLst>
                  <a:ext uri="{28A0092B-C50C-407E-A947-70E740481C1C}">
                    <a14:useLocalDpi xmlns:a14="http://schemas.microsoft.com/office/drawing/2010/main" val="0"/>
                  </a:ext>
                  <a:ext uri="{96DAC541-7B7A-43D3-8B79-37D633B846F1}">
                    <asvg:svgBlip xmlns:asvg="http://schemas.microsoft.com/office/drawing/2016/SVG/main" r:embed="rId99"/>
                  </a:ext>
                </a:extLst>
              </a:blip>
              <a:stretch>
                <a:fillRect/>
              </a:stretch>
            </p:blipFill>
            <p:spPr>
              <a:xfrm>
                <a:off x="3703438" y="1819176"/>
                <a:ext cx="914400" cy="914400"/>
              </a:xfrm>
              <a:prstGeom prst="rect">
                <a:avLst/>
              </a:prstGeom>
            </p:spPr>
          </p:pic>
          <p:pic>
            <p:nvPicPr>
              <p:cNvPr id="99" name="Graphique 98" descr="Brainstorming de groupe avec un remplissage uni">
                <a:extLst>
                  <a:ext uri="{FF2B5EF4-FFF2-40B4-BE49-F238E27FC236}">
                    <a16:creationId xmlns:a16="http://schemas.microsoft.com/office/drawing/2014/main" id="{19C2C399-1041-B2C3-A43B-9CF8478F15D6}"/>
                  </a:ext>
                </a:extLst>
              </p:cNvPr>
              <p:cNvPicPr>
                <a:picLocks noChangeAspect="1"/>
              </p:cNvPicPr>
              <p:nvPr/>
            </p:nvPicPr>
            <p:blipFill>
              <a:blip r:embed="rId100">
                <a:extLst>
                  <a:ext uri="{28A0092B-C50C-407E-A947-70E740481C1C}">
                    <a14:useLocalDpi xmlns:a14="http://schemas.microsoft.com/office/drawing/2010/main" val="0"/>
                  </a:ext>
                  <a:ext uri="{96DAC541-7B7A-43D3-8B79-37D633B846F1}">
                    <asvg:svgBlip xmlns:asvg="http://schemas.microsoft.com/office/drawing/2016/SVG/main" r:embed="rId101"/>
                  </a:ext>
                </a:extLst>
              </a:blip>
              <a:stretch>
                <a:fillRect/>
              </a:stretch>
            </p:blipFill>
            <p:spPr>
              <a:xfrm>
                <a:off x="1770451" y="1557602"/>
                <a:ext cx="914400" cy="914400"/>
              </a:xfrm>
              <a:prstGeom prst="rect">
                <a:avLst/>
              </a:prstGeom>
            </p:spPr>
          </p:pic>
        </p:grpSp>
      </p:grpSp>
      <p:grpSp>
        <p:nvGrpSpPr>
          <p:cNvPr id="100" name="Groupe 99">
            <a:extLst>
              <a:ext uri="{FF2B5EF4-FFF2-40B4-BE49-F238E27FC236}">
                <a16:creationId xmlns:a16="http://schemas.microsoft.com/office/drawing/2014/main" id="{D9779794-9FD0-3790-728C-0242CD02D2E3}"/>
              </a:ext>
            </a:extLst>
          </p:cNvPr>
          <p:cNvGrpSpPr/>
          <p:nvPr/>
        </p:nvGrpSpPr>
        <p:grpSpPr>
          <a:xfrm>
            <a:off x="10318722" y="1524399"/>
            <a:ext cx="932115" cy="1120628"/>
            <a:chOff x="9927646" y="3089935"/>
            <a:chExt cx="1188000" cy="1428262"/>
          </a:xfrm>
        </p:grpSpPr>
        <p:sp>
          <p:nvSpPr>
            <p:cNvPr id="101" name="Rectangle 100">
              <a:extLst>
                <a:ext uri="{FF2B5EF4-FFF2-40B4-BE49-F238E27FC236}">
                  <a16:creationId xmlns:a16="http://schemas.microsoft.com/office/drawing/2014/main" id="{4948C0E5-A56B-C523-5E15-7BABD4050E43}"/>
                </a:ext>
              </a:extLst>
            </p:cNvPr>
            <p:cNvSpPr/>
            <p:nvPr/>
          </p:nvSpPr>
          <p:spPr>
            <a:xfrm>
              <a:off x="9927646" y="3907611"/>
              <a:ext cx="1188000" cy="6105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Vente</a:t>
              </a:r>
            </a:p>
            <a:p>
              <a:pPr algn="ctr"/>
              <a:r>
                <a:rPr lang="fr-FR" sz="800" dirty="0">
                  <a:solidFill>
                    <a:schemeClr val="bg1"/>
                  </a:solidFill>
                </a:rPr>
                <a:t>Communication externe</a:t>
              </a:r>
            </a:p>
          </p:txBody>
        </p:sp>
        <p:grpSp>
          <p:nvGrpSpPr>
            <p:cNvPr id="102" name="Groupe 101">
              <a:extLst>
                <a:ext uri="{FF2B5EF4-FFF2-40B4-BE49-F238E27FC236}">
                  <a16:creationId xmlns:a16="http://schemas.microsoft.com/office/drawing/2014/main" id="{B4A94589-9956-4648-2921-5E5D81E492D8}"/>
                </a:ext>
              </a:extLst>
            </p:cNvPr>
            <p:cNvGrpSpPr/>
            <p:nvPr/>
          </p:nvGrpSpPr>
          <p:grpSpPr>
            <a:xfrm>
              <a:off x="10028058" y="3089935"/>
              <a:ext cx="999718" cy="764069"/>
              <a:chOff x="7993201" y="3990786"/>
              <a:chExt cx="3083654" cy="2356787"/>
            </a:xfrm>
          </p:grpSpPr>
          <p:pic>
            <p:nvPicPr>
              <p:cNvPr id="103" name="Graphique 102" descr="Podcasting avec un remplissage uni">
                <a:extLst>
                  <a:ext uri="{FF2B5EF4-FFF2-40B4-BE49-F238E27FC236}">
                    <a16:creationId xmlns:a16="http://schemas.microsoft.com/office/drawing/2014/main" id="{A6F0FF15-4F0D-40C1-57A3-8DB2C6B55FB3}"/>
                  </a:ext>
                </a:extLst>
              </p:cNvPr>
              <p:cNvPicPr>
                <a:picLocks noChangeAspect="1"/>
              </p:cNvPicPr>
              <p:nvPr/>
            </p:nvPicPr>
            <p:blipFill>
              <a:blip r:embed="rId102">
                <a:extLst>
                  <a:ext uri="{28A0092B-C50C-407E-A947-70E740481C1C}">
                    <a14:useLocalDpi xmlns:a14="http://schemas.microsoft.com/office/drawing/2010/main" val="0"/>
                  </a:ext>
                  <a:ext uri="{96DAC541-7B7A-43D3-8B79-37D633B846F1}">
                    <asvg:svgBlip xmlns:asvg="http://schemas.microsoft.com/office/drawing/2016/SVG/main" r:embed="rId103"/>
                  </a:ext>
                </a:extLst>
              </a:blip>
              <a:stretch>
                <a:fillRect/>
              </a:stretch>
            </p:blipFill>
            <p:spPr>
              <a:xfrm>
                <a:off x="7993201" y="3990786"/>
                <a:ext cx="914400" cy="914400"/>
              </a:xfrm>
              <a:prstGeom prst="rect">
                <a:avLst/>
              </a:prstGeom>
            </p:spPr>
          </p:pic>
          <p:pic>
            <p:nvPicPr>
              <p:cNvPr id="104" name="Graphique 103" descr="Vlog avec un remplissage uni">
                <a:extLst>
                  <a:ext uri="{FF2B5EF4-FFF2-40B4-BE49-F238E27FC236}">
                    <a16:creationId xmlns:a16="http://schemas.microsoft.com/office/drawing/2014/main" id="{87DE49F9-0C78-7CC5-CFE5-6F519249D26E}"/>
                  </a:ext>
                </a:extLst>
              </p:cNvPr>
              <p:cNvPicPr>
                <a:picLocks noChangeAspect="1"/>
              </p:cNvPicPr>
              <p:nvPr/>
            </p:nvPicPr>
            <p:blipFill>
              <a:blip r:embed="rId104">
                <a:extLst>
                  <a:ext uri="{28A0092B-C50C-407E-A947-70E740481C1C}">
                    <a14:useLocalDpi xmlns:a14="http://schemas.microsoft.com/office/drawing/2010/main" val="0"/>
                  </a:ext>
                  <a:ext uri="{96DAC541-7B7A-43D3-8B79-37D633B846F1}">
                    <asvg:svgBlip xmlns:asvg="http://schemas.microsoft.com/office/drawing/2016/SVG/main" r:embed="rId105"/>
                  </a:ext>
                </a:extLst>
              </a:blip>
              <a:stretch>
                <a:fillRect/>
              </a:stretch>
            </p:blipFill>
            <p:spPr>
              <a:xfrm>
                <a:off x="8000671" y="5433173"/>
                <a:ext cx="914400" cy="914400"/>
              </a:xfrm>
              <a:prstGeom prst="rect">
                <a:avLst/>
              </a:prstGeom>
            </p:spPr>
          </p:pic>
          <p:pic>
            <p:nvPicPr>
              <p:cNvPr id="105" name="Graphique 104" descr="Journal avec un remplissage uni">
                <a:extLst>
                  <a:ext uri="{FF2B5EF4-FFF2-40B4-BE49-F238E27FC236}">
                    <a16:creationId xmlns:a16="http://schemas.microsoft.com/office/drawing/2014/main" id="{DBB9559F-CA4C-E030-89A8-B5A07CE844AA}"/>
                  </a:ext>
                </a:extLst>
              </p:cNvPr>
              <p:cNvPicPr>
                <a:picLocks noChangeAspect="1"/>
              </p:cNvPicPr>
              <p:nvPr/>
            </p:nvPicPr>
            <p:blipFill>
              <a:blip r:embed="rId106">
                <a:extLst>
                  <a:ext uri="{28A0092B-C50C-407E-A947-70E740481C1C}">
                    <a14:useLocalDpi xmlns:a14="http://schemas.microsoft.com/office/drawing/2010/main" val="0"/>
                  </a:ext>
                  <a:ext uri="{96DAC541-7B7A-43D3-8B79-37D633B846F1}">
                    <asvg:svgBlip xmlns:asvg="http://schemas.microsoft.com/office/drawing/2016/SVG/main" r:embed="rId107"/>
                  </a:ext>
                </a:extLst>
              </a:blip>
              <a:stretch>
                <a:fillRect/>
              </a:stretch>
            </p:blipFill>
            <p:spPr>
              <a:xfrm>
                <a:off x="10162455" y="4013608"/>
                <a:ext cx="914400" cy="914400"/>
              </a:xfrm>
              <a:prstGeom prst="rect">
                <a:avLst/>
              </a:prstGeom>
            </p:spPr>
          </p:pic>
          <p:pic>
            <p:nvPicPr>
              <p:cNvPr id="106" name="Graphique 105" descr="Réseau en ligne avec un remplissage uni">
                <a:extLst>
                  <a:ext uri="{FF2B5EF4-FFF2-40B4-BE49-F238E27FC236}">
                    <a16:creationId xmlns:a16="http://schemas.microsoft.com/office/drawing/2014/main" id="{9CADCCD9-1EBE-F549-05A2-324E097AC468}"/>
                  </a:ext>
                </a:extLst>
              </p:cNvPr>
              <p:cNvPicPr>
                <a:picLocks noChangeAspect="1"/>
              </p:cNvPicPr>
              <p:nvPr/>
            </p:nvPicPr>
            <p:blipFill>
              <a:blip r:embed="rId108">
                <a:extLst>
                  <a:ext uri="{28A0092B-C50C-407E-A947-70E740481C1C}">
                    <a14:useLocalDpi xmlns:a14="http://schemas.microsoft.com/office/drawing/2010/main" val="0"/>
                  </a:ext>
                  <a:ext uri="{96DAC541-7B7A-43D3-8B79-37D633B846F1}">
                    <asvg:svgBlip xmlns:asvg="http://schemas.microsoft.com/office/drawing/2016/SVG/main" r:embed="rId109"/>
                  </a:ext>
                </a:extLst>
              </a:blip>
              <a:stretch>
                <a:fillRect/>
              </a:stretch>
            </p:blipFill>
            <p:spPr>
              <a:xfrm>
                <a:off x="10066135" y="5341229"/>
                <a:ext cx="914400" cy="914400"/>
              </a:xfrm>
              <a:prstGeom prst="rect">
                <a:avLst/>
              </a:prstGeom>
            </p:spPr>
          </p:pic>
          <p:grpSp>
            <p:nvGrpSpPr>
              <p:cNvPr id="107" name="Groupe 106">
                <a:extLst>
                  <a:ext uri="{FF2B5EF4-FFF2-40B4-BE49-F238E27FC236}">
                    <a16:creationId xmlns:a16="http://schemas.microsoft.com/office/drawing/2014/main" id="{F7FA818C-A62B-BCE1-18F6-2D80CCE424E8}"/>
                  </a:ext>
                </a:extLst>
              </p:cNvPr>
              <p:cNvGrpSpPr/>
              <p:nvPr/>
            </p:nvGrpSpPr>
            <p:grpSpPr>
              <a:xfrm>
                <a:off x="8632968" y="4529072"/>
                <a:ext cx="1791083" cy="1287429"/>
                <a:chOff x="8274918" y="4478329"/>
                <a:chExt cx="1791083" cy="1287429"/>
              </a:xfrm>
            </p:grpSpPr>
            <p:pic>
              <p:nvPicPr>
                <p:cNvPr id="108" name="Graphique 107" descr="Bâtiment avec un remplissage uni">
                  <a:extLst>
                    <a:ext uri="{FF2B5EF4-FFF2-40B4-BE49-F238E27FC236}">
                      <a16:creationId xmlns:a16="http://schemas.microsoft.com/office/drawing/2014/main" id="{9CBA1ACF-27D1-6B72-3EB1-1B8393A1ACBD}"/>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8725807" y="4753283"/>
                  <a:ext cx="914400" cy="914400"/>
                </a:xfrm>
                <a:prstGeom prst="rect">
                  <a:avLst/>
                </a:prstGeom>
              </p:spPr>
            </p:pic>
            <p:sp>
              <p:nvSpPr>
                <p:cNvPr id="109" name="Flèche : droite 108">
                  <a:extLst>
                    <a:ext uri="{FF2B5EF4-FFF2-40B4-BE49-F238E27FC236}">
                      <a16:creationId xmlns:a16="http://schemas.microsoft.com/office/drawing/2014/main" id="{B9A2F823-DBA4-E3B3-819C-8C7B99D7877A}"/>
                    </a:ext>
                  </a:extLst>
                </p:cNvPr>
                <p:cNvSpPr/>
                <p:nvPr/>
              </p:nvSpPr>
              <p:spPr>
                <a:xfrm rot="19318800">
                  <a:off x="9688254" y="447832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110" name="Flèche : droite 109">
                  <a:extLst>
                    <a:ext uri="{FF2B5EF4-FFF2-40B4-BE49-F238E27FC236}">
                      <a16:creationId xmlns:a16="http://schemas.microsoft.com/office/drawing/2014/main" id="{2B51D2C1-0317-AB7F-B6A3-75E3FB0C5051}"/>
                    </a:ext>
                  </a:extLst>
                </p:cNvPr>
                <p:cNvSpPr/>
                <p:nvPr/>
              </p:nvSpPr>
              <p:spPr>
                <a:xfrm rot="2412443">
                  <a:off x="9689689" y="536291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111" name="Flèche : droite 110">
                  <a:extLst>
                    <a:ext uri="{FF2B5EF4-FFF2-40B4-BE49-F238E27FC236}">
                      <a16:creationId xmlns:a16="http://schemas.microsoft.com/office/drawing/2014/main" id="{3449562F-0A42-7C0C-082E-5B316B14F07D}"/>
                    </a:ext>
                  </a:extLst>
                </p:cNvPr>
                <p:cNvSpPr/>
                <p:nvPr/>
              </p:nvSpPr>
              <p:spPr>
                <a:xfrm rot="8279483">
                  <a:off x="8287182" y="5362622"/>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sp>
              <p:nvSpPr>
                <p:cNvPr id="112" name="Flèche : droite 111">
                  <a:extLst>
                    <a:ext uri="{FF2B5EF4-FFF2-40B4-BE49-F238E27FC236}">
                      <a16:creationId xmlns:a16="http://schemas.microsoft.com/office/drawing/2014/main" id="{0CFDB9AB-FB43-7653-5826-478477D69147}"/>
                    </a:ext>
                  </a:extLst>
                </p:cNvPr>
                <p:cNvSpPr/>
                <p:nvPr/>
              </p:nvSpPr>
              <p:spPr>
                <a:xfrm rot="13573193">
                  <a:off x="8288184" y="447896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a:p>
              </p:txBody>
            </p:sp>
          </p:grpSp>
        </p:grpSp>
      </p:grpSp>
      <p:grpSp>
        <p:nvGrpSpPr>
          <p:cNvPr id="113" name="Groupe 112">
            <a:extLst>
              <a:ext uri="{FF2B5EF4-FFF2-40B4-BE49-F238E27FC236}">
                <a16:creationId xmlns:a16="http://schemas.microsoft.com/office/drawing/2014/main" id="{EAABCB8C-822F-C897-49E2-DBF556913386}"/>
              </a:ext>
            </a:extLst>
          </p:cNvPr>
          <p:cNvGrpSpPr/>
          <p:nvPr/>
        </p:nvGrpSpPr>
        <p:grpSpPr>
          <a:xfrm>
            <a:off x="9372643" y="1734829"/>
            <a:ext cx="932115" cy="910198"/>
            <a:chOff x="8224358" y="3342553"/>
            <a:chExt cx="1188000" cy="1160065"/>
          </a:xfrm>
        </p:grpSpPr>
        <p:sp>
          <p:nvSpPr>
            <p:cNvPr id="114" name="Rectangle 113">
              <a:extLst>
                <a:ext uri="{FF2B5EF4-FFF2-40B4-BE49-F238E27FC236}">
                  <a16:creationId xmlns:a16="http://schemas.microsoft.com/office/drawing/2014/main" id="{465A2CAC-78D0-9438-B4BB-EBB030E12A2E}"/>
                </a:ext>
              </a:extLst>
            </p:cNvPr>
            <p:cNvSpPr/>
            <p:nvPr/>
          </p:nvSpPr>
          <p:spPr>
            <a:xfrm>
              <a:off x="8224358" y="3891151"/>
              <a:ext cx="1188000" cy="6114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Vente</a:t>
              </a:r>
            </a:p>
            <a:p>
              <a:pPr algn="ctr"/>
              <a:r>
                <a:rPr lang="fr-FR" sz="800" dirty="0">
                  <a:solidFill>
                    <a:schemeClr val="bg1"/>
                  </a:solidFill>
                </a:rPr>
                <a:t>Développement commercial</a:t>
              </a:r>
            </a:p>
          </p:txBody>
        </p:sp>
        <p:grpSp>
          <p:nvGrpSpPr>
            <p:cNvPr id="115" name="Groupe 114">
              <a:extLst>
                <a:ext uri="{FF2B5EF4-FFF2-40B4-BE49-F238E27FC236}">
                  <a16:creationId xmlns:a16="http://schemas.microsoft.com/office/drawing/2014/main" id="{E2433D57-7F0C-62E4-D588-5EBE38CF0B3D}"/>
                </a:ext>
              </a:extLst>
            </p:cNvPr>
            <p:cNvGrpSpPr/>
            <p:nvPr/>
          </p:nvGrpSpPr>
          <p:grpSpPr>
            <a:xfrm>
              <a:off x="8256771" y="3342553"/>
              <a:ext cx="1126180" cy="424682"/>
              <a:chOff x="1677224" y="4399902"/>
              <a:chExt cx="3984628" cy="1541940"/>
            </a:xfrm>
          </p:grpSpPr>
          <p:pic>
            <p:nvPicPr>
              <p:cNvPr id="116" name="Graphique 115" descr="Poignée de main avec un remplissage uni">
                <a:extLst>
                  <a:ext uri="{FF2B5EF4-FFF2-40B4-BE49-F238E27FC236}">
                    <a16:creationId xmlns:a16="http://schemas.microsoft.com/office/drawing/2014/main" id="{2156C1E6-73A3-7EA3-6F91-B41EBDC2592F}"/>
                  </a:ext>
                </a:extLst>
              </p:cNvPr>
              <p:cNvPicPr>
                <a:picLocks noChangeAspect="1"/>
              </p:cNvPicPr>
              <p:nvPr/>
            </p:nvPicPr>
            <p:blipFill>
              <a:blip r:embed="rId110">
                <a:extLst>
                  <a:ext uri="{28A0092B-C50C-407E-A947-70E740481C1C}">
                    <a14:useLocalDpi xmlns:a14="http://schemas.microsoft.com/office/drawing/2010/main" val="0"/>
                  </a:ext>
                  <a:ext uri="{96DAC541-7B7A-43D3-8B79-37D633B846F1}">
                    <asvg:svgBlip xmlns:asvg="http://schemas.microsoft.com/office/drawing/2016/SVG/main" r:embed="rId111"/>
                  </a:ext>
                </a:extLst>
              </a:blip>
              <a:stretch>
                <a:fillRect/>
              </a:stretch>
            </p:blipFill>
            <p:spPr>
              <a:xfrm>
                <a:off x="1677224" y="4473520"/>
                <a:ext cx="1394705" cy="1394705"/>
              </a:xfrm>
              <a:prstGeom prst="rect">
                <a:avLst/>
              </a:prstGeom>
            </p:spPr>
          </p:pic>
          <p:pic>
            <p:nvPicPr>
              <p:cNvPr id="117" name="Graphique 116" descr="Contrat avec un remplissage uni">
                <a:extLst>
                  <a:ext uri="{FF2B5EF4-FFF2-40B4-BE49-F238E27FC236}">
                    <a16:creationId xmlns:a16="http://schemas.microsoft.com/office/drawing/2014/main" id="{18E4D1D7-6686-D2BE-DF13-886804BC0C5A}"/>
                  </a:ext>
                </a:extLst>
              </p:cNvPr>
              <p:cNvPicPr>
                <a:picLocks noChangeAspect="1"/>
              </p:cNvPicPr>
              <p:nvPr/>
            </p:nvPicPr>
            <p:blipFill>
              <a:blip r:embed="rId112">
                <a:extLst>
                  <a:ext uri="{28A0092B-C50C-407E-A947-70E740481C1C}">
                    <a14:useLocalDpi xmlns:a14="http://schemas.microsoft.com/office/drawing/2010/main" val="0"/>
                  </a:ext>
                  <a:ext uri="{96DAC541-7B7A-43D3-8B79-37D633B846F1}">
                    <asvg:svgBlip xmlns:asvg="http://schemas.microsoft.com/office/drawing/2016/SVG/main" r:embed="rId113"/>
                  </a:ext>
                </a:extLst>
              </a:blip>
              <a:stretch>
                <a:fillRect/>
              </a:stretch>
            </p:blipFill>
            <p:spPr>
              <a:xfrm>
                <a:off x="3003278" y="4578031"/>
                <a:ext cx="1185682" cy="1185682"/>
              </a:xfrm>
              <a:prstGeom prst="rect">
                <a:avLst/>
              </a:prstGeom>
            </p:spPr>
          </p:pic>
          <p:pic>
            <p:nvPicPr>
              <p:cNvPr id="118" name="Graphique 117" descr="Tendance à la hausse avec un remplissage uni">
                <a:extLst>
                  <a:ext uri="{FF2B5EF4-FFF2-40B4-BE49-F238E27FC236}">
                    <a16:creationId xmlns:a16="http://schemas.microsoft.com/office/drawing/2014/main" id="{95DCC835-562D-8B73-BC88-8CA2A4C5D652}"/>
                  </a:ext>
                </a:extLst>
              </p:cNvPr>
              <p:cNvPicPr>
                <a:picLocks noChangeAspect="1"/>
              </p:cNvPicPr>
              <p:nvPr/>
            </p:nvPicPr>
            <p:blipFill>
              <a:blip r:embed="rId114">
                <a:extLst>
                  <a:ext uri="{28A0092B-C50C-407E-A947-70E740481C1C}">
                    <a14:useLocalDpi xmlns:a14="http://schemas.microsoft.com/office/drawing/2010/main" val="0"/>
                  </a:ext>
                  <a:ext uri="{96DAC541-7B7A-43D3-8B79-37D633B846F1}">
                    <asvg:svgBlip xmlns:asvg="http://schemas.microsoft.com/office/drawing/2016/SVG/main" r:embed="rId115"/>
                  </a:ext>
                </a:extLst>
              </a:blip>
              <a:stretch>
                <a:fillRect/>
              </a:stretch>
            </p:blipFill>
            <p:spPr>
              <a:xfrm>
                <a:off x="4119912" y="4399902"/>
                <a:ext cx="1541940" cy="1541940"/>
              </a:xfrm>
              <a:prstGeom prst="rect">
                <a:avLst/>
              </a:prstGeom>
            </p:spPr>
          </p:pic>
        </p:grpSp>
      </p:grpSp>
      <p:grpSp>
        <p:nvGrpSpPr>
          <p:cNvPr id="119" name="Groupe 118">
            <a:extLst>
              <a:ext uri="{FF2B5EF4-FFF2-40B4-BE49-F238E27FC236}">
                <a16:creationId xmlns:a16="http://schemas.microsoft.com/office/drawing/2014/main" id="{8B9F26D8-785F-6806-9E95-6E8118570064}"/>
              </a:ext>
            </a:extLst>
          </p:cNvPr>
          <p:cNvGrpSpPr/>
          <p:nvPr/>
        </p:nvGrpSpPr>
        <p:grpSpPr>
          <a:xfrm>
            <a:off x="11264804" y="1655867"/>
            <a:ext cx="932117" cy="989160"/>
            <a:chOff x="12377873" y="2362674"/>
            <a:chExt cx="746267" cy="791936"/>
          </a:xfrm>
        </p:grpSpPr>
        <p:sp>
          <p:nvSpPr>
            <p:cNvPr id="120" name="Rectangle 119">
              <a:extLst>
                <a:ext uri="{FF2B5EF4-FFF2-40B4-BE49-F238E27FC236}">
                  <a16:creationId xmlns:a16="http://schemas.microsoft.com/office/drawing/2014/main" id="{AF759ADB-E4BA-10C6-48E1-87C8A4D3D82E}"/>
                </a:ext>
              </a:extLst>
            </p:cNvPr>
            <p:cNvSpPr/>
            <p:nvPr/>
          </p:nvSpPr>
          <p:spPr>
            <a:xfrm>
              <a:off x="12377873" y="2831967"/>
              <a:ext cx="746267" cy="32264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bg1"/>
                  </a:solidFill>
                </a:rPr>
                <a:t>Autres</a:t>
              </a:r>
              <a:endParaRPr lang="fr-FR" sz="800" dirty="0">
                <a:solidFill>
                  <a:schemeClr val="bg1"/>
                </a:solidFill>
              </a:endParaRPr>
            </a:p>
          </p:txBody>
        </p:sp>
        <p:pic>
          <p:nvPicPr>
            <p:cNvPr id="121" name="Graphique 120" descr="Bâtiment avec un remplissage uni">
              <a:extLst>
                <a:ext uri="{FF2B5EF4-FFF2-40B4-BE49-F238E27FC236}">
                  <a16:creationId xmlns:a16="http://schemas.microsoft.com/office/drawing/2014/main" id="{FD23F42B-9844-04D1-DDD7-3382C937328A}"/>
                </a:ext>
              </a:extLst>
            </p:cNvPr>
            <p:cNvPicPr>
              <a:picLocks noChangeAspect="1"/>
            </p:cNvPicPr>
            <p:nvPr/>
          </p:nvPicPr>
          <p:blipFill>
            <a:blip r:embed="rId116">
              <a:extLst>
                <a:ext uri="{28A0092B-C50C-407E-A947-70E740481C1C}">
                  <a14:useLocalDpi xmlns:a14="http://schemas.microsoft.com/office/drawing/2010/main" val="0"/>
                </a:ext>
                <a:ext uri="{96DAC541-7B7A-43D3-8B79-37D633B846F1}">
                  <asvg:svgBlip xmlns:asvg="http://schemas.microsoft.com/office/drawing/2016/SVG/main" r:embed="rId117"/>
                </a:ext>
              </a:extLst>
            </a:blip>
            <a:stretch>
              <a:fillRect/>
            </a:stretch>
          </p:blipFill>
          <p:spPr>
            <a:xfrm>
              <a:off x="12564531" y="2362674"/>
              <a:ext cx="372950" cy="372950"/>
            </a:xfrm>
            <a:prstGeom prst="rect">
              <a:avLst/>
            </a:prstGeom>
          </p:spPr>
        </p:pic>
      </p:grpSp>
      <p:sp>
        <p:nvSpPr>
          <p:cNvPr id="134" name="Rectangle 133">
            <a:extLst>
              <a:ext uri="{FF2B5EF4-FFF2-40B4-BE49-F238E27FC236}">
                <a16:creationId xmlns:a16="http://schemas.microsoft.com/office/drawing/2014/main" id="{D09DCDDE-8ED9-DF17-8328-A638129D79C3}"/>
              </a:ext>
            </a:extLst>
          </p:cNvPr>
          <p:cNvSpPr/>
          <p:nvPr/>
        </p:nvSpPr>
        <p:spPr>
          <a:xfrm>
            <a:off x="-3815" y="2711406"/>
            <a:ext cx="11252038" cy="31662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que la Communauté apporte à l’entreprise (au-delà des membres) ? A quelles fonctions d’entreprise est-ce quelle contribue ? Au-delà du service pour les membres, quels sont les bénéfices pour l’entreprise ? </a:t>
            </a:r>
          </a:p>
        </p:txBody>
      </p:sp>
      <p:sp>
        <p:nvSpPr>
          <p:cNvPr id="135" name="Rectangle 134">
            <a:extLst>
              <a:ext uri="{FF2B5EF4-FFF2-40B4-BE49-F238E27FC236}">
                <a16:creationId xmlns:a16="http://schemas.microsoft.com/office/drawing/2014/main" id="{99F75DCC-177F-BF40-3BD2-98325A0F5657}"/>
              </a:ext>
            </a:extLst>
          </p:cNvPr>
          <p:cNvSpPr/>
          <p:nvPr/>
        </p:nvSpPr>
        <p:spPr>
          <a:xfrm>
            <a:off x="-3815" y="3092251"/>
            <a:ext cx="11252038" cy="33500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Est-ce que la Communauté a des effets de bord malvenus pour l’entreprise ? Est-ce qu’il y a des départements qui sont ou seraient contre la Communauté ? La Communauté est-elle en concurrence ou fait elle ombrage à un département ou une équipe existante ? </a:t>
            </a:r>
          </a:p>
        </p:txBody>
      </p:sp>
      <p:sp>
        <p:nvSpPr>
          <p:cNvPr id="122" name="Rectangle 121">
            <a:extLst>
              <a:ext uri="{FF2B5EF4-FFF2-40B4-BE49-F238E27FC236}">
                <a16:creationId xmlns:a16="http://schemas.microsoft.com/office/drawing/2014/main" id="{16821EF0-4578-9BA6-E7A9-AFCE54416DAE}"/>
              </a:ext>
            </a:extLst>
          </p:cNvPr>
          <p:cNvSpPr/>
          <p:nvPr/>
        </p:nvSpPr>
        <p:spPr>
          <a:xfrm>
            <a:off x="4086316" y="3491471"/>
            <a:ext cx="861975"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effets positifs de la Communauté sur les opérations ?</a:t>
            </a:r>
          </a:p>
        </p:txBody>
      </p:sp>
      <p:sp>
        <p:nvSpPr>
          <p:cNvPr id="123" name="Rectangle 122">
            <a:extLst>
              <a:ext uri="{FF2B5EF4-FFF2-40B4-BE49-F238E27FC236}">
                <a16:creationId xmlns:a16="http://schemas.microsoft.com/office/drawing/2014/main" id="{F964A741-7802-FDC4-3C7A-6EA162C920DF}"/>
              </a:ext>
            </a:extLst>
          </p:cNvPr>
          <p:cNvSpPr/>
          <p:nvPr/>
        </p:nvSpPr>
        <p:spPr>
          <a:xfrm>
            <a:off x="1035129" y="3491471"/>
            <a:ext cx="978988"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aide-t-elle à l’intégration des nouveaux collaborateurs? Comment ?</a:t>
            </a:r>
          </a:p>
        </p:txBody>
      </p:sp>
      <p:sp>
        <p:nvSpPr>
          <p:cNvPr id="124" name="Rectangle 123">
            <a:extLst>
              <a:ext uri="{FF2B5EF4-FFF2-40B4-BE49-F238E27FC236}">
                <a16:creationId xmlns:a16="http://schemas.microsoft.com/office/drawing/2014/main" id="{DDBC4184-4783-2539-B29A-9E0F5843DC2F}"/>
              </a:ext>
            </a:extLst>
          </p:cNvPr>
          <p:cNvSpPr/>
          <p:nvPr/>
        </p:nvSpPr>
        <p:spPr>
          <a:xfrm>
            <a:off x="6736351" y="3491471"/>
            <a:ext cx="861975"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aide-t-elle à gérer des questions transverses entre services ? Comment ?</a:t>
            </a:r>
          </a:p>
        </p:txBody>
      </p:sp>
      <p:sp>
        <p:nvSpPr>
          <p:cNvPr id="125" name="Rectangle 124">
            <a:extLst>
              <a:ext uri="{FF2B5EF4-FFF2-40B4-BE49-F238E27FC236}">
                <a16:creationId xmlns:a16="http://schemas.microsoft.com/office/drawing/2014/main" id="{995DA386-87D5-3181-D27E-721E3BC01927}"/>
              </a:ext>
            </a:extLst>
          </p:cNvPr>
          <p:cNvSpPr/>
          <p:nvPr/>
        </p:nvSpPr>
        <p:spPr>
          <a:xfrm>
            <a:off x="-3815" y="3491471"/>
            <a:ext cx="1006666"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aide-t-elle à trouver des candidats ?</a:t>
            </a:r>
          </a:p>
        </p:txBody>
      </p:sp>
      <p:sp>
        <p:nvSpPr>
          <p:cNvPr id="126" name="Rectangle 125">
            <a:extLst>
              <a:ext uri="{FF2B5EF4-FFF2-40B4-BE49-F238E27FC236}">
                <a16:creationId xmlns:a16="http://schemas.microsoft.com/office/drawing/2014/main" id="{C66CFDD8-4460-B32D-14DE-352777959DA1}"/>
              </a:ext>
            </a:extLst>
          </p:cNvPr>
          <p:cNvSpPr/>
          <p:nvPr/>
        </p:nvSpPr>
        <p:spPr>
          <a:xfrm>
            <a:off x="4978558" y="3491471"/>
            <a:ext cx="873291"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aide ou pourrait-elle aider à améliorer la Qualité ?</a:t>
            </a:r>
          </a:p>
        </p:txBody>
      </p:sp>
      <p:sp>
        <p:nvSpPr>
          <p:cNvPr id="127" name="Rectangle 126">
            <a:extLst>
              <a:ext uri="{FF2B5EF4-FFF2-40B4-BE49-F238E27FC236}">
                <a16:creationId xmlns:a16="http://schemas.microsoft.com/office/drawing/2014/main" id="{0E81E2DF-CD0F-F89A-8135-98EF0B8D131D}"/>
              </a:ext>
            </a:extLst>
          </p:cNvPr>
          <p:cNvSpPr/>
          <p:nvPr/>
        </p:nvSpPr>
        <p:spPr>
          <a:xfrm>
            <a:off x="7615095" y="3491471"/>
            <a:ext cx="861975"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est-ce que la Communauté innove ? Diffuse ces innovations dans l’entreprise ?</a:t>
            </a:r>
          </a:p>
        </p:txBody>
      </p:sp>
      <p:sp>
        <p:nvSpPr>
          <p:cNvPr id="128" name="Rectangle 127">
            <a:extLst>
              <a:ext uri="{FF2B5EF4-FFF2-40B4-BE49-F238E27FC236}">
                <a16:creationId xmlns:a16="http://schemas.microsoft.com/office/drawing/2014/main" id="{398C33B6-9EB9-5DCA-2C7B-6D553320AF34}"/>
              </a:ext>
            </a:extLst>
          </p:cNvPr>
          <p:cNvSpPr/>
          <p:nvPr/>
        </p:nvSpPr>
        <p:spPr>
          <a:xfrm>
            <a:off x="10336646" y="3491471"/>
            <a:ext cx="923552"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que la Communauté communique au-delà de l’entreprise ? Comment ?</a:t>
            </a:r>
          </a:p>
        </p:txBody>
      </p:sp>
      <p:sp>
        <p:nvSpPr>
          <p:cNvPr id="129" name="Rectangle 128">
            <a:extLst>
              <a:ext uri="{FF2B5EF4-FFF2-40B4-BE49-F238E27FC236}">
                <a16:creationId xmlns:a16="http://schemas.microsoft.com/office/drawing/2014/main" id="{07E2ECBD-6017-0637-F01B-16C56899B9E0}"/>
              </a:ext>
            </a:extLst>
          </p:cNvPr>
          <p:cNvSpPr/>
          <p:nvPr/>
        </p:nvSpPr>
        <p:spPr>
          <a:xfrm>
            <a:off x="3067761" y="3491471"/>
            <a:ext cx="998290"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aide-t-elle les membres ou non membres à mieux définir ou choisir leur carrière ?</a:t>
            </a:r>
          </a:p>
        </p:txBody>
      </p:sp>
      <p:sp>
        <p:nvSpPr>
          <p:cNvPr id="130" name="Rectangle 129">
            <a:extLst>
              <a:ext uri="{FF2B5EF4-FFF2-40B4-BE49-F238E27FC236}">
                <a16:creationId xmlns:a16="http://schemas.microsoft.com/office/drawing/2014/main" id="{99DDFD1F-CC53-8B35-C24B-D0460B007929}"/>
              </a:ext>
            </a:extLst>
          </p:cNvPr>
          <p:cNvSpPr/>
          <p:nvPr/>
        </p:nvSpPr>
        <p:spPr>
          <a:xfrm>
            <a:off x="5868619" y="3491471"/>
            <a:ext cx="850964"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aide-t-elle a entretenir, transmettre, créer des connaissances ?</a:t>
            </a:r>
          </a:p>
        </p:txBody>
      </p:sp>
      <p:sp>
        <p:nvSpPr>
          <p:cNvPr id="131" name="Rectangle 130">
            <a:extLst>
              <a:ext uri="{FF2B5EF4-FFF2-40B4-BE49-F238E27FC236}">
                <a16:creationId xmlns:a16="http://schemas.microsoft.com/office/drawing/2014/main" id="{12861113-DAC0-ECB0-D9F8-C6212EFBB0DA}"/>
              </a:ext>
            </a:extLst>
          </p:cNvPr>
          <p:cNvSpPr/>
          <p:nvPr/>
        </p:nvSpPr>
        <p:spPr>
          <a:xfrm>
            <a:off x="8506065" y="3491471"/>
            <a:ext cx="861975"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Comment la Communauté contribue-t-elle à transformer l’entreprise ?</a:t>
            </a:r>
          </a:p>
        </p:txBody>
      </p:sp>
      <p:sp>
        <p:nvSpPr>
          <p:cNvPr id="132" name="Rectangle 131">
            <a:extLst>
              <a:ext uri="{FF2B5EF4-FFF2-40B4-BE49-F238E27FC236}">
                <a16:creationId xmlns:a16="http://schemas.microsoft.com/office/drawing/2014/main" id="{14417B7C-6B48-48C3-D11B-12BDA43F7807}"/>
              </a:ext>
            </a:extLst>
          </p:cNvPr>
          <p:cNvSpPr/>
          <p:nvPr/>
        </p:nvSpPr>
        <p:spPr>
          <a:xfrm>
            <a:off x="9390567" y="3491471"/>
            <a:ext cx="923552"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Comment est-ce que la Communauté aide-t-elle à développer des relations clients (si elle le fait)?</a:t>
            </a:r>
          </a:p>
        </p:txBody>
      </p:sp>
      <p:sp>
        <p:nvSpPr>
          <p:cNvPr id="133" name="Rectangle 132">
            <a:extLst>
              <a:ext uri="{FF2B5EF4-FFF2-40B4-BE49-F238E27FC236}">
                <a16:creationId xmlns:a16="http://schemas.microsoft.com/office/drawing/2014/main" id="{C7F0A964-3FF4-D83E-69EE-3F6D83146083}"/>
              </a:ext>
            </a:extLst>
          </p:cNvPr>
          <p:cNvSpPr/>
          <p:nvPr/>
        </p:nvSpPr>
        <p:spPr>
          <a:xfrm>
            <a:off x="2044384" y="3491471"/>
            <a:ext cx="986613"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participe-t-elle à former les collaborateurs ? A quelle ampleur ?</a:t>
            </a:r>
          </a:p>
        </p:txBody>
      </p:sp>
      <p:sp>
        <p:nvSpPr>
          <p:cNvPr id="136" name="Rectangle 135">
            <a:extLst>
              <a:ext uri="{FF2B5EF4-FFF2-40B4-BE49-F238E27FC236}">
                <a16:creationId xmlns:a16="http://schemas.microsoft.com/office/drawing/2014/main" id="{79906C1E-4286-44E3-DFEC-EA7592CB88F8}"/>
              </a:ext>
            </a:extLst>
          </p:cNvPr>
          <p:cNvSpPr/>
          <p:nvPr/>
        </p:nvSpPr>
        <p:spPr>
          <a:xfrm>
            <a:off x="4091111" y="4633129"/>
            <a:ext cx="861975"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projets sont-ils meilleurs (accélérés, fiabilisé, …) grâce à la Communauté ?</a:t>
            </a:r>
          </a:p>
        </p:txBody>
      </p:sp>
      <p:sp>
        <p:nvSpPr>
          <p:cNvPr id="137" name="Rectangle 136">
            <a:extLst>
              <a:ext uri="{FF2B5EF4-FFF2-40B4-BE49-F238E27FC236}">
                <a16:creationId xmlns:a16="http://schemas.microsoft.com/office/drawing/2014/main" id="{1C8CDE94-E5A9-9847-7F52-905D73DEC3F0}"/>
              </a:ext>
            </a:extLst>
          </p:cNvPr>
          <p:cNvSpPr/>
          <p:nvPr/>
        </p:nvSpPr>
        <p:spPr>
          <a:xfrm>
            <a:off x="1039924" y="4633129"/>
            <a:ext cx="978988"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Sur quels points la Communauté aide-t-elle à mieux se sentir dans l’entreprise ? Quels effets sur l’intégration?</a:t>
            </a:r>
          </a:p>
        </p:txBody>
      </p:sp>
      <p:sp>
        <p:nvSpPr>
          <p:cNvPr id="138" name="Rectangle 137">
            <a:extLst>
              <a:ext uri="{FF2B5EF4-FFF2-40B4-BE49-F238E27FC236}">
                <a16:creationId xmlns:a16="http://schemas.microsoft.com/office/drawing/2014/main" id="{57C3C974-2BA8-BAF8-6659-29A0DA532BED}"/>
              </a:ext>
            </a:extLst>
          </p:cNvPr>
          <p:cNvSpPr/>
          <p:nvPr/>
        </p:nvSpPr>
        <p:spPr>
          <a:xfrm>
            <a:off x="6741146" y="4633129"/>
            <a:ext cx="861975"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charges de management transverse la Communauté prend-elle ? Directement ?</a:t>
            </a:r>
          </a:p>
        </p:txBody>
      </p:sp>
      <p:sp>
        <p:nvSpPr>
          <p:cNvPr id="139" name="Rectangle 138">
            <a:extLst>
              <a:ext uri="{FF2B5EF4-FFF2-40B4-BE49-F238E27FC236}">
                <a16:creationId xmlns:a16="http://schemas.microsoft.com/office/drawing/2014/main" id="{1C930B2D-8842-9C6A-1835-B078AE59CF82}"/>
              </a:ext>
            </a:extLst>
          </p:cNvPr>
          <p:cNvSpPr/>
          <p:nvPr/>
        </p:nvSpPr>
        <p:spPr>
          <a:xfrm>
            <a:off x="980" y="4633129"/>
            <a:ext cx="1006666"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aide-t-elle à mieux ou plus recruter ?</a:t>
            </a:r>
          </a:p>
        </p:txBody>
      </p:sp>
      <p:sp>
        <p:nvSpPr>
          <p:cNvPr id="140" name="Rectangle 139">
            <a:extLst>
              <a:ext uri="{FF2B5EF4-FFF2-40B4-BE49-F238E27FC236}">
                <a16:creationId xmlns:a16="http://schemas.microsoft.com/office/drawing/2014/main" id="{C1FD0A9A-94E8-0A59-1887-835403DB3E52}"/>
              </a:ext>
            </a:extLst>
          </p:cNvPr>
          <p:cNvSpPr/>
          <p:nvPr/>
        </p:nvSpPr>
        <p:spPr>
          <a:xfrm>
            <a:off x="4983353" y="4633129"/>
            <a:ext cx="873291"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sont ou seraient les contributions de la Communauté aux méthodes de l’entreprise ?</a:t>
            </a:r>
          </a:p>
        </p:txBody>
      </p:sp>
      <p:sp>
        <p:nvSpPr>
          <p:cNvPr id="141" name="Rectangle 140">
            <a:extLst>
              <a:ext uri="{FF2B5EF4-FFF2-40B4-BE49-F238E27FC236}">
                <a16:creationId xmlns:a16="http://schemas.microsoft.com/office/drawing/2014/main" id="{FE57745B-2091-9D4A-53FE-1E2DB22514EF}"/>
              </a:ext>
            </a:extLst>
          </p:cNvPr>
          <p:cNvSpPr/>
          <p:nvPr/>
        </p:nvSpPr>
        <p:spPr>
          <a:xfrm>
            <a:off x="7619890" y="4633129"/>
            <a:ext cx="861975"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que la Communauté fait de nouveau ou de différent avec de la Valeur ?</a:t>
            </a:r>
          </a:p>
        </p:txBody>
      </p:sp>
      <p:sp>
        <p:nvSpPr>
          <p:cNvPr id="142" name="Rectangle 141">
            <a:extLst>
              <a:ext uri="{FF2B5EF4-FFF2-40B4-BE49-F238E27FC236}">
                <a16:creationId xmlns:a16="http://schemas.microsoft.com/office/drawing/2014/main" id="{6A919EA0-DEAA-8B44-8A95-92F810670BFD}"/>
              </a:ext>
            </a:extLst>
          </p:cNvPr>
          <p:cNvSpPr/>
          <p:nvPr/>
        </p:nvSpPr>
        <p:spPr>
          <a:xfrm>
            <a:off x="10341441" y="4633129"/>
            <a:ext cx="923552"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bénéfices de la Communauté sur l’extérieur de l’entreprise ? Les fait elle connaître ? Comment ?</a:t>
            </a:r>
          </a:p>
        </p:txBody>
      </p:sp>
      <p:sp>
        <p:nvSpPr>
          <p:cNvPr id="143" name="Rectangle 142">
            <a:extLst>
              <a:ext uri="{FF2B5EF4-FFF2-40B4-BE49-F238E27FC236}">
                <a16:creationId xmlns:a16="http://schemas.microsoft.com/office/drawing/2014/main" id="{12311E7C-72C9-C163-9B06-C1A2780DBAE8}"/>
              </a:ext>
            </a:extLst>
          </p:cNvPr>
          <p:cNvSpPr/>
          <p:nvPr/>
        </p:nvSpPr>
        <p:spPr>
          <a:xfrm>
            <a:off x="3072556" y="4633129"/>
            <a:ext cx="998290"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la Communauté contribue-t-elle à la rétention des collaborateurs ? Via des nouveaux chemins ? </a:t>
            </a:r>
          </a:p>
        </p:txBody>
      </p:sp>
      <p:sp>
        <p:nvSpPr>
          <p:cNvPr id="144" name="Rectangle 143">
            <a:extLst>
              <a:ext uri="{FF2B5EF4-FFF2-40B4-BE49-F238E27FC236}">
                <a16:creationId xmlns:a16="http://schemas.microsoft.com/office/drawing/2014/main" id="{FA01FE09-B69F-B3A6-AF9D-9CB4818670F6}"/>
              </a:ext>
            </a:extLst>
          </p:cNvPr>
          <p:cNvSpPr/>
          <p:nvPr/>
        </p:nvSpPr>
        <p:spPr>
          <a:xfrm>
            <a:off x="5873414" y="4633129"/>
            <a:ext cx="850964"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Comment est-ce que la communauté capitalise ses connaissances ? A qui cela sert-il ?</a:t>
            </a:r>
          </a:p>
        </p:txBody>
      </p:sp>
      <p:sp>
        <p:nvSpPr>
          <p:cNvPr id="145" name="Rectangle 144">
            <a:extLst>
              <a:ext uri="{FF2B5EF4-FFF2-40B4-BE49-F238E27FC236}">
                <a16:creationId xmlns:a16="http://schemas.microsoft.com/office/drawing/2014/main" id="{99BEC72D-D4DF-42D2-24B0-E7A0B5F72D0C}"/>
              </a:ext>
            </a:extLst>
          </p:cNvPr>
          <p:cNvSpPr/>
          <p:nvPr/>
        </p:nvSpPr>
        <p:spPr>
          <a:xfrm>
            <a:off x="8510860" y="4633129"/>
            <a:ext cx="861975"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changements dans l’entreprise apportés par ou via la Communauté ?</a:t>
            </a:r>
          </a:p>
        </p:txBody>
      </p:sp>
      <p:sp>
        <p:nvSpPr>
          <p:cNvPr id="146" name="Rectangle 145">
            <a:extLst>
              <a:ext uri="{FF2B5EF4-FFF2-40B4-BE49-F238E27FC236}">
                <a16:creationId xmlns:a16="http://schemas.microsoft.com/office/drawing/2014/main" id="{18D83AE3-9DF7-02D7-0518-490D9196689F}"/>
              </a:ext>
            </a:extLst>
          </p:cNvPr>
          <p:cNvSpPr/>
          <p:nvPr/>
        </p:nvSpPr>
        <p:spPr>
          <a:xfrm>
            <a:off x="9395362" y="4633129"/>
            <a:ext cx="923552"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quels moments clés la Communauté contribue-t-elle au développement commercial ?</a:t>
            </a:r>
          </a:p>
        </p:txBody>
      </p:sp>
      <p:sp>
        <p:nvSpPr>
          <p:cNvPr id="147" name="Rectangle 146">
            <a:extLst>
              <a:ext uri="{FF2B5EF4-FFF2-40B4-BE49-F238E27FC236}">
                <a16:creationId xmlns:a16="http://schemas.microsoft.com/office/drawing/2014/main" id="{5EE71167-1AD5-6F4F-545B-36C72C085512}"/>
              </a:ext>
            </a:extLst>
          </p:cNvPr>
          <p:cNvSpPr/>
          <p:nvPr/>
        </p:nvSpPr>
        <p:spPr>
          <a:xfrm>
            <a:off x="2049179" y="4633129"/>
            <a:ext cx="986613" cy="1048171"/>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Sur quoi est-ce que la Communauté forme-t-elle directement ou indirectement ?</a:t>
            </a:r>
          </a:p>
        </p:txBody>
      </p:sp>
      <p:sp>
        <p:nvSpPr>
          <p:cNvPr id="149" name="Rectangle 148">
            <a:extLst>
              <a:ext uri="{FF2B5EF4-FFF2-40B4-BE49-F238E27FC236}">
                <a16:creationId xmlns:a16="http://schemas.microsoft.com/office/drawing/2014/main" id="{16D2805E-24BB-8C51-23E5-3E1B44ABF0F2}"/>
              </a:ext>
            </a:extLst>
          </p:cNvPr>
          <p:cNvSpPr/>
          <p:nvPr/>
        </p:nvSpPr>
        <p:spPr>
          <a:xfrm>
            <a:off x="4094036" y="5735806"/>
            <a:ext cx="861975"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 est l’impact réel/perçu/anticipé du temps de Communauté sur les projets ?</a:t>
            </a:r>
          </a:p>
        </p:txBody>
      </p:sp>
      <p:sp>
        <p:nvSpPr>
          <p:cNvPr id="150" name="Rectangle 149">
            <a:extLst>
              <a:ext uri="{FF2B5EF4-FFF2-40B4-BE49-F238E27FC236}">
                <a16:creationId xmlns:a16="http://schemas.microsoft.com/office/drawing/2014/main" id="{6D9643D3-0EBD-CF77-2955-10AD04C81505}"/>
              </a:ext>
            </a:extLst>
          </p:cNvPr>
          <p:cNvSpPr/>
          <p:nvPr/>
        </p:nvSpPr>
        <p:spPr>
          <a:xfrm>
            <a:off x="1042849" y="5735806"/>
            <a:ext cx="978988"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empêche ou ralentit-elle l’intégration des nouveaux membres ? Les exclut-elle ?</a:t>
            </a:r>
          </a:p>
        </p:txBody>
      </p:sp>
      <p:sp>
        <p:nvSpPr>
          <p:cNvPr id="151" name="Rectangle 150">
            <a:extLst>
              <a:ext uri="{FF2B5EF4-FFF2-40B4-BE49-F238E27FC236}">
                <a16:creationId xmlns:a16="http://schemas.microsoft.com/office/drawing/2014/main" id="{9B65D304-5F40-D83E-7DF0-F3E1A654184A}"/>
              </a:ext>
            </a:extLst>
          </p:cNvPr>
          <p:cNvSpPr/>
          <p:nvPr/>
        </p:nvSpPr>
        <p:spPr>
          <a:xfrm>
            <a:off x="6744071" y="5735806"/>
            <a:ext cx="861975"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la Communauté alourdit-elle le besoin en management transverse ?</a:t>
            </a:r>
          </a:p>
        </p:txBody>
      </p:sp>
      <p:sp>
        <p:nvSpPr>
          <p:cNvPr id="152" name="Rectangle 151">
            <a:extLst>
              <a:ext uri="{FF2B5EF4-FFF2-40B4-BE49-F238E27FC236}">
                <a16:creationId xmlns:a16="http://schemas.microsoft.com/office/drawing/2014/main" id="{D52734E0-EBA9-0BB3-21C4-94C92733B269}"/>
              </a:ext>
            </a:extLst>
          </p:cNvPr>
          <p:cNvSpPr/>
          <p:nvPr/>
        </p:nvSpPr>
        <p:spPr>
          <a:xfrm>
            <a:off x="3905" y="5735806"/>
            <a:ext cx="1006666"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impacte-t-elle négativement le recrutement ?</a:t>
            </a:r>
          </a:p>
        </p:txBody>
      </p:sp>
      <p:sp>
        <p:nvSpPr>
          <p:cNvPr id="153" name="Rectangle 152">
            <a:extLst>
              <a:ext uri="{FF2B5EF4-FFF2-40B4-BE49-F238E27FC236}">
                <a16:creationId xmlns:a16="http://schemas.microsoft.com/office/drawing/2014/main" id="{2E580F9F-E52C-A55A-DBFD-9E6AAC684BF7}"/>
              </a:ext>
            </a:extLst>
          </p:cNvPr>
          <p:cNvSpPr/>
          <p:nvPr/>
        </p:nvSpPr>
        <p:spPr>
          <a:xfrm>
            <a:off x="4986278" y="5735806"/>
            <a:ext cx="873291"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empêche-t-elle l’établissement de méthodes ou de Qualité ? Comment ?</a:t>
            </a:r>
          </a:p>
        </p:txBody>
      </p:sp>
      <p:sp>
        <p:nvSpPr>
          <p:cNvPr id="154" name="Rectangle 153">
            <a:extLst>
              <a:ext uri="{FF2B5EF4-FFF2-40B4-BE49-F238E27FC236}">
                <a16:creationId xmlns:a16="http://schemas.microsoft.com/office/drawing/2014/main" id="{1E961B18-D284-9BE7-6F49-D206B6346CF7}"/>
              </a:ext>
            </a:extLst>
          </p:cNvPr>
          <p:cNvSpPr/>
          <p:nvPr/>
        </p:nvSpPr>
        <p:spPr>
          <a:xfrm>
            <a:off x="7622815" y="5735806"/>
            <a:ext cx="861975"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empêche-t-elle certaines formes d’innovation ? Lesquelles ?</a:t>
            </a:r>
          </a:p>
        </p:txBody>
      </p:sp>
      <p:sp>
        <p:nvSpPr>
          <p:cNvPr id="155" name="Rectangle 154">
            <a:extLst>
              <a:ext uri="{FF2B5EF4-FFF2-40B4-BE49-F238E27FC236}">
                <a16:creationId xmlns:a16="http://schemas.microsoft.com/office/drawing/2014/main" id="{A83119B6-0C75-3B51-8A02-7664D5AC7C76}"/>
              </a:ext>
            </a:extLst>
          </p:cNvPr>
          <p:cNvSpPr/>
          <p:nvPr/>
        </p:nvSpPr>
        <p:spPr>
          <a:xfrm>
            <a:off x="10344366" y="5735806"/>
            <a:ext cx="923552"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communications de la Communauté sont-elles en ligne avec les règles de la </a:t>
            </a:r>
            <a:r>
              <a:rPr lang="fr-FR" sz="900" dirty="0" err="1">
                <a:solidFill>
                  <a:schemeClr val="tx1"/>
                </a:solidFill>
              </a:rPr>
              <a:t>Comm</a:t>
            </a:r>
            <a:r>
              <a:rPr lang="fr-FR" sz="900" dirty="0">
                <a:solidFill>
                  <a:schemeClr val="tx1"/>
                </a:solidFill>
              </a:rPr>
              <a:t> externe ?</a:t>
            </a:r>
          </a:p>
        </p:txBody>
      </p:sp>
      <p:sp>
        <p:nvSpPr>
          <p:cNvPr id="156" name="Rectangle 155">
            <a:extLst>
              <a:ext uri="{FF2B5EF4-FFF2-40B4-BE49-F238E27FC236}">
                <a16:creationId xmlns:a16="http://schemas.microsoft.com/office/drawing/2014/main" id="{EA05F4D3-F7A9-7ABA-3400-5CAAF04EA72F}"/>
              </a:ext>
            </a:extLst>
          </p:cNvPr>
          <p:cNvSpPr/>
          <p:nvPr/>
        </p:nvSpPr>
        <p:spPr>
          <a:xfrm>
            <a:off x="3075481" y="5735806"/>
            <a:ext cx="998290"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a-t-elle un effet sur l’attrition des collaborateurs ? Pourquoi et comment ? </a:t>
            </a:r>
          </a:p>
        </p:txBody>
      </p:sp>
      <p:sp>
        <p:nvSpPr>
          <p:cNvPr id="157" name="Rectangle 156">
            <a:extLst>
              <a:ext uri="{FF2B5EF4-FFF2-40B4-BE49-F238E27FC236}">
                <a16:creationId xmlns:a16="http://schemas.microsoft.com/office/drawing/2014/main" id="{1EC2190D-5377-5B62-061C-75491ECCABA6}"/>
              </a:ext>
            </a:extLst>
          </p:cNvPr>
          <p:cNvSpPr/>
          <p:nvPr/>
        </p:nvSpPr>
        <p:spPr>
          <a:xfrm>
            <a:off x="5876339" y="5735806"/>
            <a:ext cx="850964"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perd elle les connaissances ? Capitalise-t-elle assez ?</a:t>
            </a:r>
          </a:p>
        </p:txBody>
      </p:sp>
      <p:sp>
        <p:nvSpPr>
          <p:cNvPr id="158" name="Rectangle 157">
            <a:extLst>
              <a:ext uri="{FF2B5EF4-FFF2-40B4-BE49-F238E27FC236}">
                <a16:creationId xmlns:a16="http://schemas.microsoft.com/office/drawing/2014/main" id="{03A5C497-C2A8-F75A-9710-3CAA74A2B7CF}"/>
              </a:ext>
            </a:extLst>
          </p:cNvPr>
          <p:cNvSpPr/>
          <p:nvPr/>
        </p:nvSpPr>
        <p:spPr>
          <a:xfrm>
            <a:off x="8513785" y="5735806"/>
            <a:ext cx="861975"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Transformation d’entreprise est-elle ralentie par la Communauté ? Pourquoi et comment ?</a:t>
            </a:r>
          </a:p>
        </p:txBody>
      </p:sp>
      <p:sp>
        <p:nvSpPr>
          <p:cNvPr id="159" name="Rectangle 158">
            <a:extLst>
              <a:ext uri="{FF2B5EF4-FFF2-40B4-BE49-F238E27FC236}">
                <a16:creationId xmlns:a16="http://schemas.microsoft.com/office/drawing/2014/main" id="{7453DDA8-270F-A6EC-CBB7-BA183FED3072}"/>
              </a:ext>
            </a:extLst>
          </p:cNvPr>
          <p:cNvSpPr/>
          <p:nvPr/>
        </p:nvSpPr>
        <p:spPr>
          <a:xfrm>
            <a:off x="9398287" y="5735806"/>
            <a:ext cx="923552"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 développement commercial peut-il être touché par les activités communautaires ? Comment?</a:t>
            </a:r>
          </a:p>
        </p:txBody>
      </p:sp>
      <p:sp>
        <p:nvSpPr>
          <p:cNvPr id="160" name="Rectangle 159">
            <a:extLst>
              <a:ext uri="{FF2B5EF4-FFF2-40B4-BE49-F238E27FC236}">
                <a16:creationId xmlns:a16="http://schemas.microsoft.com/office/drawing/2014/main" id="{E6E04801-3B64-1134-B6FC-600C4918D169}"/>
              </a:ext>
            </a:extLst>
          </p:cNvPr>
          <p:cNvSpPr/>
          <p:nvPr/>
        </p:nvSpPr>
        <p:spPr>
          <a:xfrm>
            <a:off x="2052104" y="5735806"/>
            <a:ext cx="986613" cy="1048171"/>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la communauté détourne-t-elle de la formation classique ? Sur quels points ?</a:t>
            </a:r>
          </a:p>
        </p:txBody>
      </p:sp>
      <p:pic>
        <p:nvPicPr>
          <p:cNvPr id="161" name="Graphique 160" descr="Femme scientifique avec un remplissage uni">
            <a:extLst>
              <a:ext uri="{FF2B5EF4-FFF2-40B4-BE49-F238E27FC236}">
                <a16:creationId xmlns:a16="http://schemas.microsoft.com/office/drawing/2014/main" id="{8813141D-8AF0-7DDB-D37F-557304BFA333}"/>
              </a:ext>
            </a:extLst>
          </p:cNvPr>
          <p:cNvPicPr>
            <a:picLocks noChangeAspect="1"/>
          </p:cNvPicPr>
          <p:nvPr/>
        </p:nvPicPr>
        <p:blipFill>
          <a:blip r:embed="rId118">
            <a:extLst>
              <a:ext uri="{28A0092B-C50C-407E-A947-70E740481C1C}">
                <a14:useLocalDpi xmlns:a14="http://schemas.microsoft.com/office/drawing/2010/main" val="0"/>
              </a:ext>
              <a:ext uri="{96DAC541-7B7A-43D3-8B79-37D633B846F1}">
                <asvg:svgBlip xmlns:asvg="http://schemas.microsoft.com/office/drawing/2016/SVG/main" r:embed="rId119"/>
              </a:ext>
            </a:extLst>
          </a:blip>
          <a:srcRect/>
          <a:stretch/>
        </p:blipFill>
        <p:spPr>
          <a:xfrm>
            <a:off x="209507" y="402853"/>
            <a:ext cx="381595" cy="381595"/>
          </a:xfrm>
          <a:prstGeom prst="rect">
            <a:avLst/>
          </a:prstGeom>
        </p:spPr>
      </p:pic>
    </p:spTree>
    <p:extLst>
      <p:ext uri="{BB962C8B-B14F-4D97-AF65-F5344CB8AC3E}">
        <p14:creationId xmlns:p14="http://schemas.microsoft.com/office/powerpoint/2010/main" val="1160458399"/>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C15B105-1058-4280-5DE6-496EFB2DEC89}"/>
              </a:ext>
            </a:extLst>
          </p:cNvPr>
          <p:cNvSpPr>
            <a:spLocks noGrp="1"/>
          </p:cNvSpPr>
          <p:nvPr>
            <p:ph type="title"/>
          </p:nvPr>
        </p:nvSpPr>
        <p:spPr>
          <a:xfrm>
            <a:off x="1581150" y="365125"/>
            <a:ext cx="9772650" cy="995907"/>
          </a:xfrm>
        </p:spPr>
        <p:txBody>
          <a:bodyPr>
            <a:normAutofit/>
          </a:bodyPr>
          <a:lstStyle/>
          <a:p>
            <a:r>
              <a:rPr lang="fr-FR" sz="2800" b="1" dirty="0"/>
              <a:t>Renseignement délibéré : </a:t>
            </a:r>
            <a:r>
              <a:rPr lang="fr-FR" sz="2800" dirty="0"/>
              <a:t>Exemples de questions à poser – blocages et valeur pour les sponsors</a:t>
            </a:r>
          </a:p>
        </p:txBody>
      </p:sp>
      <p:grpSp>
        <p:nvGrpSpPr>
          <p:cNvPr id="12" name="Groupe 11">
            <a:extLst>
              <a:ext uri="{FF2B5EF4-FFF2-40B4-BE49-F238E27FC236}">
                <a16:creationId xmlns:a16="http://schemas.microsoft.com/office/drawing/2014/main" id="{ABF84861-6F59-780F-7D32-F925D2D2C84E}"/>
              </a:ext>
            </a:extLst>
          </p:cNvPr>
          <p:cNvGrpSpPr/>
          <p:nvPr/>
        </p:nvGrpSpPr>
        <p:grpSpPr>
          <a:xfrm>
            <a:off x="711490" y="518219"/>
            <a:ext cx="869660" cy="689718"/>
            <a:chOff x="5064446" y="1851546"/>
            <a:chExt cx="3517367" cy="2789586"/>
          </a:xfrm>
        </p:grpSpPr>
        <p:pic>
          <p:nvPicPr>
            <p:cNvPr id="13" name="Graphique 12" descr="Employée de bureau avec un remplissage uni">
              <a:extLst>
                <a:ext uri="{FF2B5EF4-FFF2-40B4-BE49-F238E27FC236}">
                  <a16:creationId xmlns:a16="http://schemas.microsoft.com/office/drawing/2014/main" id="{25754455-5EF2-984C-DEED-7C03DC32A0E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45784" y="2079750"/>
              <a:ext cx="2521669" cy="2521669"/>
            </a:xfrm>
            <a:prstGeom prst="rect">
              <a:avLst/>
            </a:prstGeom>
          </p:spPr>
        </p:pic>
        <p:pic>
          <p:nvPicPr>
            <p:cNvPr id="14" name="Graphique 13" descr="Mégaphone avec un remplissage uni">
              <a:extLst>
                <a:ext uri="{FF2B5EF4-FFF2-40B4-BE49-F238E27FC236}">
                  <a16:creationId xmlns:a16="http://schemas.microsoft.com/office/drawing/2014/main" id="{EAC6D142-1934-9C33-F35F-0426E5D75D47}"/>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t="14658"/>
            <a:stretch/>
          </p:blipFill>
          <p:spPr>
            <a:xfrm rot="256443">
              <a:off x="7821274" y="2636665"/>
              <a:ext cx="760539" cy="649056"/>
            </a:xfrm>
            <a:prstGeom prst="rect">
              <a:avLst/>
            </a:prstGeom>
          </p:spPr>
        </p:pic>
        <p:pic>
          <p:nvPicPr>
            <p:cNvPr id="15" name="Graphique 14" descr="Bouclier coche avec un remplissage uni">
              <a:extLst>
                <a:ext uri="{FF2B5EF4-FFF2-40B4-BE49-F238E27FC236}">
                  <a16:creationId xmlns:a16="http://schemas.microsoft.com/office/drawing/2014/main" id="{3857424A-8008-AA2E-B4D4-347219969D3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02847" y="3316113"/>
              <a:ext cx="632787" cy="632787"/>
            </a:xfrm>
            <a:prstGeom prst="rect">
              <a:avLst/>
            </a:prstGeom>
          </p:spPr>
        </p:pic>
        <p:pic>
          <p:nvPicPr>
            <p:cNvPr id="16" name="Graphique 15" descr="Tirelire avec un remplissage uni">
              <a:extLst>
                <a:ext uri="{FF2B5EF4-FFF2-40B4-BE49-F238E27FC236}">
                  <a16:creationId xmlns:a16="http://schemas.microsoft.com/office/drawing/2014/main" id="{1A5D8ED5-0A0B-D502-9045-FAF9FFB0B8E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7507152" y="3954810"/>
              <a:ext cx="759628" cy="686322"/>
            </a:xfrm>
            <a:prstGeom prst="rect">
              <a:avLst/>
            </a:prstGeom>
          </p:spPr>
        </p:pic>
        <p:pic>
          <p:nvPicPr>
            <p:cNvPr id="17" name="Graphique 16" descr="Index pointant vers la droite vu du côté du dos de la main avec un remplissage uni">
              <a:extLst>
                <a:ext uri="{FF2B5EF4-FFF2-40B4-BE49-F238E27FC236}">
                  <a16:creationId xmlns:a16="http://schemas.microsoft.com/office/drawing/2014/main" id="{1C5A352D-74AD-A57A-4E2E-6DF7252E7538}"/>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13336"/>
            <a:stretch/>
          </p:blipFill>
          <p:spPr>
            <a:xfrm rot="18229742">
              <a:off x="7462263" y="1907472"/>
              <a:ext cx="838736" cy="726884"/>
            </a:xfrm>
            <a:prstGeom prst="rect">
              <a:avLst/>
            </a:prstGeom>
          </p:spPr>
        </p:pic>
        <p:pic>
          <p:nvPicPr>
            <p:cNvPr id="18" name="Graphique 17" descr="Calendrier journalier avec un remplissage uni">
              <a:extLst>
                <a:ext uri="{FF2B5EF4-FFF2-40B4-BE49-F238E27FC236}">
                  <a16:creationId xmlns:a16="http://schemas.microsoft.com/office/drawing/2014/main" id="{557BDD80-8B45-B023-2F7B-8B98E527CC3E}"/>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266526" y="2469352"/>
              <a:ext cx="491841" cy="491841"/>
            </a:xfrm>
            <a:prstGeom prst="rect">
              <a:avLst/>
            </a:prstGeom>
          </p:spPr>
        </p:pic>
        <p:pic>
          <p:nvPicPr>
            <p:cNvPr id="19" name="Graphique 18" descr="Menottes avec un remplissage uni">
              <a:extLst>
                <a:ext uri="{FF2B5EF4-FFF2-40B4-BE49-F238E27FC236}">
                  <a16:creationId xmlns:a16="http://schemas.microsoft.com/office/drawing/2014/main" id="{22F1E536-83CF-1632-DD0C-E12DB644F81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064446" y="3093895"/>
              <a:ext cx="538611" cy="538611"/>
            </a:xfrm>
            <a:prstGeom prst="rect">
              <a:avLst/>
            </a:prstGeom>
          </p:spPr>
        </p:pic>
        <p:pic>
          <p:nvPicPr>
            <p:cNvPr id="20" name="Graphique 19" descr="Marteau d'officiel avec un remplissage uni">
              <a:extLst>
                <a:ext uri="{FF2B5EF4-FFF2-40B4-BE49-F238E27FC236}">
                  <a16:creationId xmlns:a16="http://schemas.microsoft.com/office/drawing/2014/main" id="{28650201-6D37-26A3-32C2-D4953BD6ECB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126450" y="3854695"/>
              <a:ext cx="538610" cy="499611"/>
            </a:xfrm>
            <a:prstGeom prst="rect">
              <a:avLst/>
            </a:prstGeom>
          </p:spPr>
        </p:pic>
      </p:grpSp>
      <p:pic>
        <p:nvPicPr>
          <p:cNvPr id="47" name="Image 46">
            <a:extLst>
              <a:ext uri="{FF2B5EF4-FFF2-40B4-BE49-F238E27FC236}">
                <a16:creationId xmlns:a16="http://schemas.microsoft.com/office/drawing/2014/main" id="{0628E1E4-E68D-2B27-56B0-B7B8778C545E}"/>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295673" y="1440354"/>
            <a:ext cx="1090262" cy="1540021"/>
          </a:xfrm>
          <a:prstGeom prst="rect">
            <a:avLst/>
          </a:prstGeom>
        </p:spPr>
      </p:pic>
      <p:pic>
        <p:nvPicPr>
          <p:cNvPr id="48" name="Image 47">
            <a:extLst>
              <a:ext uri="{FF2B5EF4-FFF2-40B4-BE49-F238E27FC236}">
                <a16:creationId xmlns:a16="http://schemas.microsoft.com/office/drawing/2014/main" id="{06376EB7-06A4-CB8C-6475-A4DD3DF3023B}"/>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2663979" y="1440354"/>
            <a:ext cx="1090262" cy="1540021"/>
          </a:xfrm>
          <a:prstGeom prst="rect">
            <a:avLst/>
          </a:prstGeom>
        </p:spPr>
      </p:pic>
      <p:pic>
        <p:nvPicPr>
          <p:cNvPr id="49" name="Image 48" descr="Une image contenant texte&#10;&#10;Description générée automatiquement">
            <a:extLst>
              <a:ext uri="{FF2B5EF4-FFF2-40B4-BE49-F238E27FC236}">
                <a16:creationId xmlns:a16="http://schemas.microsoft.com/office/drawing/2014/main" id="{E33132A3-876D-A921-8A3B-519F0CA5678A}"/>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6217143" y="1440354"/>
            <a:ext cx="1090262" cy="1540021"/>
          </a:xfrm>
          <a:prstGeom prst="rect">
            <a:avLst/>
          </a:prstGeom>
        </p:spPr>
      </p:pic>
      <p:pic>
        <p:nvPicPr>
          <p:cNvPr id="50" name="Image 49">
            <a:extLst>
              <a:ext uri="{FF2B5EF4-FFF2-40B4-BE49-F238E27FC236}">
                <a16:creationId xmlns:a16="http://schemas.microsoft.com/office/drawing/2014/main" id="{835C1130-9BF2-DC6B-2619-A46E04DEEC33}"/>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8585449" y="1440354"/>
            <a:ext cx="1090262" cy="1540021"/>
          </a:xfrm>
          <a:prstGeom prst="rect">
            <a:avLst/>
          </a:prstGeom>
        </p:spPr>
      </p:pic>
      <p:pic>
        <p:nvPicPr>
          <p:cNvPr id="51" name="Image 50">
            <a:extLst>
              <a:ext uri="{FF2B5EF4-FFF2-40B4-BE49-F238E27FC236}">
                <a16:creationId xmlns:a16="http://schemas.microsoft.com/office/drawing/2014/main" id="{EB4EEE4E-7D85-4194-3CC5-321B8241140C}"/>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1479826" y="1440354"/>
            <a:ext cx="1090262" cy="1540021"/>
          </a:xfrm>
          <a:prstGeom prst="rect">
            <a:avLst/>
          </a:prstGeom>
        </p:spPr>
      </p:pic>
      <p:pic>
        <p:nvPicPr>
          <p:cNvPr id="52" name="Image 51">
            <a:extLst>
              <a:ext uri="{FF2B5EF4-FFF2-40B4-BE49-F238E27FC236}">
                <a16:creationId xmlns:a16="http://schemas.microsoft.com/office/drawing/2014/main" id="{2827F177-1762-5A89-DE9A-502B4BD7F0FB}"/>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3848132" y="1440354"/>
            <a:ext cx="1090262" cy="1540021"/>
          </a:xfrm>
          <a:prstGeom prst="rect">
            <a:avLst/>
          </a:prstGeom>
        </p:spPr>
      </p:pic>
      <p:pic>
        <p:nvPicPr>
          <p:cNvPr id="53" name="Image 52" descr="Une image contenant texte&#10;&#10;Description générée automatiquement">
            <a:extLst>
              <a:ext uri="{FF2B5EF4-FFF2-40B4-BE49-F238E27FC236}">
                <a16:creationId xmlns:a16="http://schemas.microsoft.com/office/drawing/2014/main" id="{77AB5529-1B1A-2DF0-2841-5C1B8193CEE8}"/>
              </a:ext>
            </a:extLst>
          </p:cNvPr>
          <p:cNvPicPr>
            <a:picLocks noChangeAspect="1"/>
          </p:cNvPicPr>
          <p:nvPr/>
        </p:nvPicPr>
        <p:blipFill>
          <a:blip r:embed="rId24">
            <a:extLst>
              <a:ext uri="{28A0092B-C50C-407E-A947-70E740481C1C}">
                <a14:useLocalDpi xmlns:a14="http://schemas.microsoft.com/office/drawing/2010/main" val="0"/>
              </a:ext>
            </a:extLst>
          </a:blip>
          <a:stretch>
            <a:fillRect/>
          </a:stretch>
        </p:blipFill>
        <p:spPr>
          <a:xfrm>
            <a:off x="7401296" y="1440354"/>
            <a:ext cx="1090262" cy="1540021"/>
          </a:xfrm>
          <a:prstGeom prst="rect">
            <a:avLst/>
          </a:prstGeom>
        </p:spPr>
      </p:pic>
      <p:pic>
        <p:nvPicPr>
          <p:cNvPr id="54" name="Image 53" descr="Une image contenant texte&#10;&#10;Description générée automatiquement">
            <a:extLst>
              <a:ext uri="{FF2B5EF4-FFF2-40B4-BE49-F238E27FC236}">
                <a16:creationId xmlns:a16="http://schemas.microsoft.com/office/drawing/2014/main" id="{C572C234-7297-0E37-42A2-03BE8CAE520E}"/>
              </a:ext>
            </a:extLst>
          </p:cNvPr>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9769599" y="1440354"/>
            <a:ext cx="1090262" cy="1540021"/>
          </a:xfrm>
          <a:prstGeom prst="rect">
            <a:avLst/>
          </a:prstGeom>
        </p:spPr>
      </p:pic>
      <p:sp>
        <p:nvSpPr>
          <p:cNvPr id="55" name="Rectangle 54">
            <a:extLst>
              <a:ext uri="{FF2B5EF4-FFF2-40B4-BE49-F238E27FC236}">
                <a16:creationId xmlns:a16="http://schemas.microsoft.com/office/drawing/2014/main" id="{98B8B59D-028A-9B94-2530-6AB88A97EFCE}"/>
              </a:ext>
            </a:extLst>
          </p:cNvPr>
          <p:cNvSpPr/>
          <p:nvPr/>
        </p:nvSpPr>
        <p:spPr>
          <a:xfrm>
            <a:off x="11028612" y="1519509"/>
            <a:ext cx="890251" cy="1261537"/>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AUTRES</a:t>
            </a:r>
          </a:p>
        </p:txBody>
      </p:sp>
      <p:pic>
        <p:nvPicPr>
          <p:cNvPr id="61" name="Image 60" descr="Une image contenant texte&#10;&#10;Description générée automatiquement">
            <a:extLst>
              <a:ext uri="{FF2B5EF4-FFF2-40B4-BE49-F238E27FC236}">
                <a16:creationId xmlns:a16="http://schemas.microsoft.com/office/drawing/2014/main" id="{BE3864C3-55BB-8BF5-BE3F-0C899EFAC1A4}"/>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5032285" y="1440355"/>
            <a:ext cx="1090967" cy="1526162"/>
          </a:xfrm>
          <a:prstGeom prst="rect">
            <a:avLst/>
          </a:prstGeom>
        </p:spPr>
      </p:pic>
      <p:sp>
        <p:nvSpPr>
          <p:cNvPr id="22" name="Rectangle 21">
            <a:extLst>
              <a:ext uri="{FF2B5EF4-FFF2-40B4-BE49-F238E27FC236}">
                <a16:creationId xmlns:a16="http://schemas.microsoft.com/office/drawing/2014/main" id="{56C39D07-26DE-9E98-DD95-E263E5EC90A9}"/>
              </a:ext>
            </a:extLst>
          </p:cNvPr>
          <p:cNvSpPr/>
          <p:nvPr/>
        </p:nvSpPr>
        <p:spPr>
          <a:xfrm>
            <a:off x="295673" y="3866946"/>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Les sponsors ont-ils l’intention de gains financiers ou matériels avec la Communauté ?</a:t>
            </a:r>
          </a:p>
        </p:txBody>
      </p:sp>
      <p:sp>
        <p:nvSpPr>
          <p:cNvPr id="23" name="Rectangle 22">
            <a:extLst>
              <a:ext uri="{FF2B5EF4-FFF2-40B4-BE49-F238E27FC236}">
                <a16:creationId xmlns:a16="http://schemas.microsoft.com/office/drawing/2014/main" id="{04246119-F867-44D8-91B7-39E76EF2CA55}"/>
              </a:ext>
            </a:extLst>
          </p:cNvPr>
          <p:cNvSpPr/>
          <p:nvPr/>
        </p:nvSpPr>
        <p:spPr>
          <a:xfrm>
            <a:off x="1486341" y="3866948"/>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Les sponsors cherchent-ils de la reconnaissance via la Communauté ?</a:t>
            </a:r>
          </a:p>
        </p:txBody>
      </p:sp>
      <p:sp>
        <p:nvSpPr>
          <p:cNvPr id="24" name="Rectangle 23">
            <a:extLst>
              <a:ext uri="{FF2B5EF4-FFF2-40B4-BE49-F238E27FC236}">
                <a16:creationId xmlns:a16="http://schemas.microsoft.com/office/drawing/2014/main" id="{FBB9EAEC-BCE3-9C96-D232-C567066EA027}"/>
              </a:ext>
            </a:extLst>
          </p:cNvPr>
          <p:cNvSpPr/>
          <p:nvPr/>
        </p:nvSpPr>
        <p:spPr>
          <a:xfrm>
            <a:off x="2665763" y="3866946"/>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Les sponsors cherchent-ils à vivre des moments de Communauté qui les stimule ? Les apaise ?</a:t>
            </a:r>
          </a:p>
        </p:txBody>
      </p:sp>
      <p:sp>
        <p:nvSpPr>
          <p:cNvPr id="25" name="Rectangle 24">
            <a:extLst>
              <a:ext uri="{FF2B5EF4-FFF2-40B4-BE49-F238E27FC236}">
                <a16:creationId xmlns:a16="http://schemas.microsoft.com/office/drawing/2014/main" id="{CD2A9E95-1D4A-C593-2ADA-127C026ACB62}"/>
              </a:ext>
            </a:extLst>
          </p:cNvPr>
          <p:cNvSpPr/>
          <p:nvPr/>
        </p:nvSpPr>
        <p:spPr>
          <a:xfrm>
            <a:off x="3860863" y="3866946"/>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Les sponsors trouvent-ils dans la Communauté un moyen de tisser des liens avec les autres ?</a:t>
            </a:r>
          </a:p>
        </p:txBody>
      </p:sp>
      <p:sp>
        <p:nvSpPr>
          <p:cNvPr id="26" name="Rectangle 25">
            <a:extLst>
              <a:ext uri="{FF2B5EF4-FFF2-40B4-BE49-F238E27FC236}">
                <a16:creationId xmlns:a16="http://schemas.microsoft.com/office/drawing/2014/main" id="{6D853CC0-D5FB-AFEC-A868-17D2E8C310ED}"/>
              </a:ext>
            </a:extLst>
          </p:cNvPr>
          <p:cNvSpPr/>
          <p:nvPr/>
        </p:nvSpPr>
        <p:spPr>
          <a:xfrm>
            <a:off x="5040286" y="3866946"/>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aide-t-elle les sponsors à mieux atteindre leurs objectifs?</a:t>
            </a:r>
          </a:p>
        </p:txBody>
      </p:sp>
      <p:sp>
        <p:nvSpPr>
          <p:cNvPr id="27" name="Rectangle 26">
            <a:extLst>
              <a:ext uri="{FF2B5EF4-FFF2-40B4-BE49-F238E27FC236}">
                <a16:creationId xmlns:a16="http://schemas.microsoft.com/office/drawing/2014/main" id="{9A49A97D-A529-23FE-171A-A9D45CEADA29}"/>
              </a:ext>
            </a:extLst>
          </p:cNvPr>
          <p:cNvSpPr/>
          <p:nvPr/>
        </p:nvSpPr>
        <p:spPr>
          <a:xfrm>
            <a:off x="6219708" y="3866946"/>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Quels impacts de la Communauté positifs sont importants pour les sponsors ?</a:t>
            </a:r>
          </a:p>
        </p:txBody>
      </p:sp>
      <p:sp>
        <p:nvSpPr>
          <p:cNvPr id="28" name="Rectangle 27">
            <a:extLst>
              <a:ext uri="{FF2B5EF4-FFF2-40B4-BE49-F238E27FC236}">
                <a16:creationId xmlns:a16="http://schemas.microsoft.com/office/drawing/2014/main" id="{085399F5-C995-148D-39CD-727A49E2984E}"/>
              </a:ext>
            </a:extLst>
          </p:cNvPr>
          <p:cNvSpPr/>
          <p:nvPr/>
        </p:nvSpPr>
        <p:spPr>
          <a:xfrm>
            <a:off x="7392106" y="3866946"/>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Les sponsors cherchent-ils à développer leurs compétences grâce à  la Communauté ?</a:t>
            </a:r>
          </a:p>
        </p:txBody>
      </p:sp>
      <p:sp>
        <p:nvSpPr>
          <p:cNvPr id="29" name="Rectangle 28">
            <a:extLst>
              <a:ext uri="{FF2B5EF4-FFF2-40B4-BE49-F238E27FC236}">
                <a16:creationId xmlns:a16="http://schemas.microsoft.com/office/drawing/2014/main" id="{FFE18B6A-E73C-B393-9DC7-35A7C7598B15}"/>
              </a:ext>
            </a:extLst>
          </p:cNvPr>
          <p:cNvSpPr/>
          <p:nvPr/>
        </p:nvSpPr>
        <p:spPr>
          <a:xfrm>
            <a:off x="8571529" y="3866946"/>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donne-t-elle des libertés supplémentaires aux sponsors ? </a:t>
            </a:r>
          </a:p>
        </p:txBody>
      </p:sp>
      <p:sp>
        <p:nvSpPr>
          <p:cNvPr id="30" name="Rectangle 29">
            <a:extLst>
              <a:ext uri="{FF2B5EF4-FFF2-40B4-BE49-F238E27FC236}">
                <a16:creationId xmlns:a16="http://schemas.microsoft.com/office/drawing/2014/main" id="{A6C72FFD-8F4A-B45C-F9B3-8CDBE63D07BD}"/>
              </a:ext>
            </a:extLst>
          </p:cNvPr>
          <p:cNvSpPr/>
          <p:nvPr/>
        </p:nvSpPr>
        <p:spPr>
          <a:xfrm>
            <a:off x="9769599" y="3866946"/>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permet-elle aux sponsors de mieux s’exprimer ? D’être créatifs ?</a:t>
            </a:r>
          </a:p>
        </p:txBody>
      </p:sp>
      <p:sp>
        <p:nvSpPr>
          <p:cNvPr id="31" name="Rectangle 30">
            <a:extLst>
              <a:ext uri="{FF2B5EF4-FFF2-40B4-BE49-F238E27FC236}">
                <a16:creationId xmlns:a16="http://schemas.microsoft.com/office/drawing/2014/main" id="{CBF886F3-2D83-3586-496E-F4A57E5AE8B5}"/>
              </a:ext>
            </a:extLst>
          </p:cNvPr>
          <p:cNvSpPr/>
          <p:nvPr/>
        </p:nvSpPr>
        <p:spPr>
          <a:xfrm>
            <a:off x="295673" y="4529472"/>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Qu’est-ce que la Communauté peut faire gagner financièrement aux sponsors ?</a:t>
            </a:r>
          </a:p>
        </p:txBody>
      </p:sp>
      <p:sp>
        <p:nvSpPr>
          <p:cNvPr id="32" name="Rectangle 31">
            <a:extLst>
              <a:ext uri="{FF2B5EF4-FFF2-40B4-BE49-F238E27FC236}">
                <a16:creationId xmlns:a16="http://schemas.microsoft.com/office/drawing/2014/main" id="{0D98B021-9DE2-EFCE-FB97-12D46C352E1E}"/>
              </a:ext>
            </a:extLst>
          </p:cNvPr>
          <p:cNvSpPr/>
          <p:nvPr/>
        </p:nvSpPr>
        <p:spPr>
          <a:xfrm>
            <a:off x="1486341" y="4529474"/>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contribue-t-elle à faire mieux reconnaître les sponsors? Comment?</a:t>
            </a:r>
          </a:p>
        </p:txBody>
      </p:sp>
      <p:sp>
        <p:nvSpPr>
          <p:cNvPr id="33" name="Rectangle 32">
            <a:extLst>
              <a:ext uri="{FF2B5EF4-FFF2-40B4-BE49-F238E27FC236}">
                <a16:creationId xmlns:a16="http://schemas.microsoft.com/office/drawing/2014/main" id="{4BC9574E-D75C-3734-EDDC-B4F1A10103A9}"/>
              </a:ext>
            </a:extLst>
          </p:cNvPr>
          <p:cNvSpPr/>
          <p:nvPr/>
        </p:nvSpPr>
        <p:spPr>
          <a:xfrm>
            <a:off x="2665763" y="4529472"/>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Qu’est-ce que les sponsors trouvent stimulants ou apaisants dans la Communauté ?</a:t>
            </a:r>
          </a:p>
        </p:txBody>
      </p:sp>
      <p:sp>
        <p:nvSpPr>
          <p:cNvPr id="34" name="Rectangle 33">
            <a:extLst>
              <a:ext uri="{FF2B5EF4-FFF2-40B4-BE49-F238E27FC236}">
                <a16:creationId xmlns:a16="http://schemas.microsoft.com/office/drawing/2014/main" id="{7E38C8A7-0A6B-5761-59C0-5091A08E5D74}"/>
              </a:ext>
            </a:extLst>
          </p:cNvPr>
          <p:cNvSpPr/>
          <p:nvPr/>
        </p:nvSpPr>
        <p:spPr>
          <a:xfrm>
            <a:off x="3860863" y="4529472"/>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Quels liens sont tissés avec les sponsors (et appréciés par eux)?</a:t>
            </a:r>
          </a:p>
        </p:txBody>
      </p:sp>
      <p:sp>
        <p:nvSpPr>
          <p:cNvPr id="35" name="Rectangle 34">
            <a:extLst>
              <a:ext uri="{FF2B5EF4-FFF2-40B4-BE49-F238E27FC236}">
                <a16:creationId xmlns:a16="http://schemas.microsoft.com/office/drawing/2014/main" id="{7C28CDE5-33A9-015C-3A54-6D60197DDC18}"/>
              </a:ext>
            </a:extLst>
          </p:cNvPr>
          <p:cNvSpPr/>
          <p:nvPr/>
        </p:nvSpPr>
        <p:spPr>
          <a:xfrm>
            <a:off x="5040286" y="4529472"/>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Qu’est-ce que les sponsors attendent comme effet de la Communauté sur l’entreprise ?</a:t>
            </a:r>
          </a:p>
        </p:txBody>
      </p:sp>
      <p:sp>
        <p:nvSpPr>
          <p:cNvPr id="36" name="Rectangle 35">
            <a:extLst>
              <a:ext uri="{FF2B5EF4-FFF2-40B4-BE49-F238E27FC236}">
                <a16:creationId xmlns:a16="http://schemas.microsoft.com/office/drawing/2014/main" id="{2732821D-10E3-6905-C40B-36D15EB2D860}"/>
              </a:ext>
            </a:extLst>
          </p:cNvPr>
          <p:cNvSpPr/>
          <p:nvPr/>
        </p:nvSpPr>
        <p:spPr>
          <a:xfrm>
            <a:off x="6219708" y="4529472"/>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Quel sens les sponsors trouvent-ils à la Communauté et leur contribution ?</a:t>
            </a:r>
          </a:p>
        </p:txBody>
      </p:sp>
      <p:sp>
        <p:nvSpPr>
          <p:cNvPr id="37" name="Rectangle 36">
            <a:extLst>
              <a:ext uri="{FF2B5EF4-FFF2-40B4-BE49-F238E27FC236}">
                <a16:creationId xmlns:a16="http://schemas.microsoft.com/office/drawing/2014/main" id="{538E9BF5-BB0A-3B16-70D7-845597ECCF10}"/>
              </a:ext>
            </a:extLst>
          </p:cNvPr>
          <p:cNvSpPr/>
          <p:nvPr/>
        </p:nvSpPr>
        <p:spPr>
          <a:xfrm>
            <a:off x="7392106" y="4529472"/>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Quelles sont les compétences développées par les sponsors grâce à la Communauté ?</a:t>
            </a:r>
          </a:p>
        </p:txBody>
      </p:sp>
      <p:sp>
        <p:nvSpPr>
          <p:cNvPr id="38" name="Rectangle 37">
            <a:extLst>
              <a:ext uri="{FF2B5EF4-FFF2-40B4-BE49-F238E27FC236}">
                <a16:creationId xmlns:a16="http://schemas.microsoft.com/office/drawing/2014/main" id="{5CFB1756-F88C-A4D7-604C-AD8142FA5D0E}"/>
              </a:ext>
            </a:extLst>
          </p:cNvPr>
          <p:cNvSpPr/>
          <p:nvPr/>
        </p:nvSpPr>
        <p:spPr>
          <a:xfrm>
            <a:off x="8571529" y="4529472"/>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aide-t-elle les sponsors à trouver du temps libre ou moins de travail ?</a:t>
            </a:r>
          </a:p>
        </p:txBody>
      </p:sp>
      <p:sp>
        <p:nvSpPr>
          <p:cNvPr id="39" name="Rectangle 38">
            <a:extLst>
              <a:ext uri="{FF2B5EF4-FFF2-40B4-BE49-F238E27FC236}">
                <a16:creationId xmlns:a16="http://schemas.microsoft.com/office/drawing/2014/main" id="{0977397F-54BF-6095-E37F-079DA9A64332}"/>
              </a:ext>
            </a:extLst>
          </p:cNvPr>
          <p:cNvSpPr/>
          <p:nvPr/>
        </p:nvSpPr>
        <p:spPr>
          <a:xfrm>
            <a:off x="9769599" y="4529472"/>
            <a:ext cx="1079017" cy="583185"/>
          </a:xfrm>
          <a:prstGeom prst="rect">
            <a:avLst/>
          </a:prstGeom>
          <a:solidFill>
            <a:schemeClr val="bg1"/>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Quels sont les opportunités que la Communauté offre au sponsor pour s’exprimer ?</a:t>
            </a:r>
          </a:p>
        </p:txBody>
      </p:sp>
      <p:sp>
        <p:nvSpPr>
          <p:cNvPr id="40" name="Rectangle 39">
            <a:extLst>
              <a:ext uri="{FF2B5EF4-FFF2-40B4-BE49-F238E27FC236}">
                <a16:creationId xmlns:a16="http://schemas.microsoft.com/office/drawing/2014/main" id="{474DC9CF-6FD4-40EE-132A-412E128E5D90}"/>
              </a:ext>
            </a:extLst>
          </p:cNvPr>
          <p:cNvSpPr/>
          <p:nvPr/>
        </p:nvSpPr>
        <p:spPr>
          <a:xfrm>
            <a:off x="295673" y="5191998"/>
            <a:ext cx="1079017" cy="583185"/>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bloque ou réduit-elle certains gains des sponsors ?</a:t>
            </a:r>
          </a:p>
        </p:txBody>
      </p:sp>
      <p:sp>
        <p:nvSpPr>
          <p:cNvPr id="41" name="Rectangle 40">
            <a:extLst>
              <a:ext uri="{FF2B5EF4-FFF2-40B4-BE49-F238E27FC236}">
                <a16:creationId xmlns:a16="http://schemas.microsoft.com/office/drawing/2014/main" id="{9BDD0471-BE75-A5F5-8A9F-DCD91FD6E600}"/>
              </a:ext>
            </a:extLst>
          </p:cNvPr>
          <p:cNvSpPr/>
          <p:nvPr/>
        </p:nvSpPr>
        <p:spPr>
          <a:xfrm>
            <a:off x="1486341" y="5192000"/>
            <a:ext cx="1079017" cy="583185"/>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nuit-elle à la reconnaissance sociale des sponsors ? Comment ?</a:t>
            </a:r>
          </a:p>
        </p:txBody>
      </p:sp>
      <p:sp>
        <p:nvSpPr>
          <p:cNvPr id="42" name="Rectangle 41">
            <a:extLst>
              <a:ext uri="{FF2B5EF4-FFF2-40B4-BE49-F238E27FC236}">
                <a16:creationId xmlns:a16="http://schemas.microsoft.com/office/drawing/2014/main" id="{CBD35D85-12AD-7C0C-A2B0-11DAD022C34F}"/>
              </a:ext>
            </a:extLst>
          </p:cNvPr>
          <p:cNvSpPr/>
          <p:nvPr/>
        </p:nvSpPr>
        <p:spPr>
          <a:xfrm>
            <a:off x="2665763" y="5191998"/>
            <a:ext cx="1079017" cy="583185"/>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L’expérience de la Communauté est-elle assez stimulante ou apaisante pour les sponsors ?</a:t>
            </a:r>
          </a:p>
        </p:txBody>
      </p:sp>
      <p:sp>
        <p:nvSpPr>
          <p:cNvPr id="43" name="Rectangle 42">
            <a:extLst>
              <a:ext uri="{FF2B5EF4-FFF2-40B4-BE49-F238E27FC236}">
                <a16:creationId xmlns:a16="http://schemas.microsoft.com/office/drawing/2014/main" id="{4FF41E1A-9513-F36E-1765-4460E29EB793}"/>
              </a:ext>
            </a:extLst>
          </p:cNvPr>
          <p:cNvSpPr/>
          <p:nvPr/>
        </p:nvSpPr>
        <p:spPr>
          <a:xfrm>
            <a:off x="3860863" y="5191998"/>
            <a:ext cx="1079017" cy="583185"/>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Il y a-t-il une réticence à tisser des liens de la part des sponsors ?</a:t>
            </a:r>
          </a:p>
        </p:txBody>
      </p:sp>
      <p:sp>
        <p:nvSpPr>
          <p:cNvPr id="44" name="Rectangle 43">
            <a:extLst>
              <a:ext uri="{FF2B5EF4-FFF2-40B4-BE49-F238E27FC236}">
                <a16:creationId xmlns:a16="http://schemas.microsoft.com/office/drawing/2014/main" id="{0C40562B-6295-136B-5478-C31D30750796}"/>
              </a:ext>
            </a:extLst>
          </p:cNvPr>
          <p:cNvSpPr/>
          <p:nvPr/>
        </p:nvSpPr>
        <p:spPr>
          <a:xfrm>
            <a:off x="5040286" y="5191998"/>
            <a:ext cx="1079017" cy="583185"/>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nuit-elle aux objectifs professionnels et responsabilités des sponsors ?</a:t>
            </a:r>
          </a:p>
        </p:txBody>
      </p:sp>
      <p:sp>
        <p:nvSpPr>
          <p:cNvPr id="45" name="Rectangle 44">
            <a:extLst>
              <a:ext uri="{FF2B5EF4-FFF2-40B4-BE49-F238E27FC236}">
                <a16:creationId xmlns:a16="http://schemas.microsoft.com/office/drawing/2014/main" id="{B052E001-EEA3-BA05-6BAA-A0AC2D2C5059}"/>
              </a:ext>
            </a:extLst>
          </p:cNvPr>
          <p:cNvSpPr/>
          <p:nvPr/>
        </p:nvSpPr>
        <p:spPr>
          <a:xfrm>
            <a:off x="6219708" y="5191998"/>
            <a:ext cx="1079017" cy="583185"/>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a-t-elle un impact désaligné avec les volontés d’impact des sponsors ?</a:t>
            </a:r>
          </a:p>
        </p:txBody>
      </p:sp>
      <p:sp>
        <p:nvSpPr>
          <p:cNvPr id="46" name="Rectangle 45">
            <a:extLst>
              <a:ext uri="{FF2B5EF4-FFF2-40B4-BE49-F238E27FC236}">
                <a16:creationId xmlns:a16="http://schemas.microsoft.com/office/drawing/2014/main" id="{46AB436E-C5B6-E582-3ADE-F8A916E40F80}"/>
              </a:ext>
            </a:extLst>
          </p:cNvPr>
          <p:cNvSpPr/>
          <p:nvPr/>
        </p:nvSpPr>
        <p:spPr>
          <a:xfrm>
            <a:off x="7392106" y="5191998"/>
            <a:ext cx="1079017" cy="583185"/>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empêche-t-elle les sponsors d’utiliser certaines compétences ?</a:t>
            </a:r>
          </a:p>
        </p:txBody>
      </p:sp>
      <p:sp>
        <p:nvSpPr>
          <p:cNvPr id="56" name="Rectangle 55">
            <a:extLst>
              <a:ext uri="{FF2B5EF4-FFF2-40B4-BE49-F238E27FC236}">
                <a16:creationId xmlns:a16="http://schemas.microsoft.com/office/drawing/2014/main" id="{085DE08C-DFBA-C161-6895-11BAE1174581}"/>
              </a:ext>
            </a:extLst>
          </p:cNvPr>
          <p:cNvSpPr/>
          <p:nvPr/>
        </p:nvSpPr>
        <p:spPr>
          <a:xfrm>
            <a:off x="8571529" y="5191998"/>
            <a:ext cx="1079017" cy="583185"/>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retire-t-elle de la liberté aux sponsors ?</a:t>
            </a:r>
          </a:p>
        </p:txBody>
      </p:sp>
      <p:sp>
        <p:nvSpPr>
          <p:cNvPr id="57" name="Rectangle 56">
            <a:extLst>
              <a:ext uri="{FF2B5EF4-FFF2-40B4-BE49-F238E27FC236}">
                <a16:creationId xmlns:a16="http://schemas.microsoft.com/office/drawing/2014/main" id="{3B9DFC0E-D8FB-93A0-19E7-CC9A899B0EE8}"/>
              </a:ext>
            </a:extLst>
          </p:cNvPr>
          <p:cNvSpPr/>
          <p:nvPr/>
        </p:nvSpPr>
        <p:spPr>
          <a:xfrm>
            <a:off x="9769599" y="5191998"/>
            <a:ext cx="1079017" cy="583185"/>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La Communauté retire-t-elle un espace d’expression aux sponsors ?</a:t>
            </a:r>
          </a:p>
        </p:txBody>
      </p:sp>
      <p:sp>
        <p:nvSpPr>
          <p:cNvPr id="58" name="Rectangle 57">
            <a:extLst>
              <a:ext uri="{FF2B5EF4-FFF2-40B4-BE49-F238E27FC236}">
                <a16:creationId xmlns:a16="http://schemas.microsoft.com/office/drawing/2014/main" id="{F9B411AB-F58F-2893-1846-C7A6BAA7702E}"/>
              </a:ext>
            </a:extLst>
          </p:cNvPr>
          <p:cNvSpPr/>
          <p:nvPr/>
        </p:nvSpPr>
        <p:spPr>
          <a:xfrm>
            <a:off x="295673" y="3088853"/>
            <a:ext cx="10552943" cy="31662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qui motive les sponsors ? Qu’est ce que les sponsors tirent de la Communauté ?</a:t>
            </a:r>
          </a:p>
        </p:txBody>
      </p:sp>
      <p:sp>
        <p:nvSpPr>
          <p:cNvPr id="59" name="Rectangle 58">
            <a:extLst>
              <a:ext uri="{FF2B5EF4-FFF2-40B4-BE49-F238E27FC236}">
                <a16:creationId xmlns:a16="http://schemas.microsoft.com/office/drawing/2014/main" id="{2FDA959B-9F9F-D2CA-BC58-EBA50F0FA8BC}"/>
              </a:ext>
            </a:extLst>
          </p:cNvPr>
          <p:cNvSpPr/>
          <p:nvPr/>
        </p:nvSpPr>
        <p:spPr>
          <a:xfrm>
            <a:off x="295673" y="3469698"/>
            <a:ext cx="10552943" cy="33500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qui bloque les sponsors ? Qu’est-ce qui les retient de soutenir plus la Communauté ?</a:t>
            </a:r>
          </a:p>
        </p:txBody>
      </p:sp>
      <p:pic>
        <p:nvPicPr>
          <p:cNvPr id="60" name="Graphique 59" descr="Femme scientifique avec un remplissage uni">
            <a:extLst>
              <a:ext uri="{FF2B5EF4-FFF2-40B4-BE49-F238E27FC236}">
                <a16:creationId xmlns:a16="http://schemas.microsoft.com/office/drawing/2014/main" id="{C4932CBD-7C4C-F5F6-32F8-28FB9E9F7F99}"/>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rcRect/>
          <a:stretch/>
        </p:blipFill>
        <p:spPr>
          <a:xfrm>
            <a:off x="326543" y="707733"/>
            <a:ext cx="381595" cy="381595"/>
          </a:xfrm>
          <a:prstGeom prst="rect">
            <a:avLst/>
          </a:prstGeom>
        </p:spPr>
      </p:pic>
    </p:spTree>
    <p:extLst>
      <p:ext uri="{BB962C8B-B14F-4D97-AF65-F5344CB8AC3E}">
        <p14:creationId xmlns:p14="http://schemas.microsoft.com/office/powerpoint/2010/main" val="1852235110"/>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5" name="Graphique 104" descr="Boîte à archives avec un remplissage uni">
            <a:extLst>
              <a:ext uri="{FF2B5EF4-FFF2-40B4-BE49-F238E27FC236}">
                <a16:creationId xmlns:a16="http://schemas.microsoft.com/office/drawing/2014/main" id="{A9299BCC-08BA-5CE1-B0BC-8E9E0DAE5C3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94360" y="415543"/>
            <a:ext cx="640022" cy="640024"/>
          </a:xfrm>
          <a:prstGeom prst="rect">
            <a:avLst/>
          </a:prstGeom>
        </p:spPr>
      </p:pic>
      <p:grpSp>
        <p:nvGrpSpPr>
          <p:cNvPr id="33" name="Groupe 32">
            <a:extLst>
              <a:ext uri="{FF2B5EF4-FFF2-40B4-BE49-F238E27FC236}">
                <a16:creationId xmlns:a16="http://schemas.microsoft.com/office/drawing/2014/main" id="{F1175F81-6C9E-03C1-9603-851B2BEFCA53}"/>
              </a:ext>
            </a:extLst>
          </p:cNvPr>
          <p:cNvGrpSpPr/>
          <p:nvPr/>
        </p:nvGrpSpPr>
        <p:grpSpPr>
          <a:xfrm>
            <a:off x="2631931" y="1078272"/>
            <a:ext cx="1290140" cy="768030"/>
            <a:chOff x="6804504" y="2072289"/>
            <a:chExt cx="1274604" cy="758783"/>
          </a:xfrm>
        </p:grpSpPr>
        <p:sp>
          <p:nvSpPr>
            <p:cNvPr id="86" name="ZoneTexte 85">
              <a:extLst>
                <a:ext uri="{FF2B5EF4-FFF2-40B4-BE49-F238E27FC236}">
                  <a16:creationId xmlns:a16="http://schemas.microsoft.com/office/drawing/2014/main" id="{6879B4F5-7249-D76D-827E-167DCAEB8C0C}"/>
                </a:ext>
              </a:extLst>
            </p:cNvPr>
            <p:cNvSpPr txBox="1"/>
            <p:nvPr/>
          </p:nvSpPr>
          <p:spPr>
            <a:xfrm>
              <a:off x="6804504" y="2603019"/>
              <a:ext cx="1274604" cy="228053"/>
            </a:xfrm>
            <a:prstGeom prst="rect">
              <a:avLst/>
            </a:prstGeom>
            <a:noFill/>
          </p:spPr>
          <p:txBody>
            <a:bodyPr wrap="square">
              <a:spAutoFit/>
            </a:bodyPr>
            <a:lstStyle/>
            <a:p>
              <a:pPr algn="ctr"/>
              <a:r>
                <a:rPr lang="fr-FR" sz="900" dirty="0"/>
                <a:t>Outils</a:t>
              </a:r>
            </a:p>
          </p:txBody>
        </p:sp>
        <p:pic>
          <p:nvPicPr>
            <p:cNvPr id="87" name="Graphique 86" descr="Chat avec un remplissage uni">
              <a:extLst>
                <a:ext uri="{FF2B5EF4-FFF2-40B4-BE49-F238E27FC236}">
                  <a16:creationId xmlns:a16="http://schemas.microsoft.com/office/drawing/2014/main" id="{555D4255-98C8-0A46-C2F5-8D7DBC51F62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213206" y="2072289"/>
              <a:ext cx="457200" cy="457200"/>
            </a:xfrm>
            <a:prstGeom prst="rect">
              <a:avLst/>
            </a:prstGeom>
          </p:spPr>
        </p:pic>
      </p:grpSp>
      <p:grpSp>
        <p:nvGrpSpPr>
          <p:cNvPr id="34" name="Groupe 33">
            <a:extLst>
              <a:ext uri="{FF2B5EF4-FFF2-40B4-BE49-F238E27FC236}">
                <a16:creationId xmlns:a16="http://schemas.microsoft.com/office/drawing/2014/main" id="{EEFF5F19-CACC-34BC-0DF5-F8EF86522A61}"/>
              </a:ext>
            </a:extLst>
          </p:cNvPr>
          <p:cNvGrpSpPr/>
          <p:nvPr/>
        </p:nvGrpSpPr>
        <p:grpSpPr>
          <a:xfrm>
            <a:off x="5098568" y="1078272"/>
            <a:ext cx="1045011" cy="768030"/>
            <a:chOff x="5551821" y="2072289"/>
            <a:chExt cx="1032426" cy="758783"/>
          </a:xfrm>
        </p:grpSpPr>
        <p:sp>
          <p:nvSpPr>
            <p:cNvPr id="84" name="ZoneTexte 83">
              <a:extLst>
                <a:ext uri="{FF2B5EF4-FFF2-40B4-BE49-F238E27FC236}">
                  <a16:creationId xmlns:a16="http://schemas.microsoft.com/office/drawing/2014/main" id="{88E122B4-BDDD-1A26-35BE-5FE972547E3F}"/>
                </a:ext>
              </a:extLst>
            </p:cNvPr>
            <p:cNvSpPr txBox="1"/>
            <p:nvPr/>
          </p:nvSpPr>
          <p:spPr>
            <a:xfrm>
              <a:off x="5551821" y="2603019"/>
              <a:ext cx="1032426" cy="228053"/>
            </a:xfrm>
            <a:prstGeom prst="rect">
              <a:avLst/>
            </a:prstGeom>
            <a:noFill/>
          </p:spPr>
          <p:txBody>
            <a:bodyPr wrap="square">
              <a:spAutoFit/>
            </a:bodyPr>
            <a:lstStyle/>
            <a:p>
              <a:pPr algn="ctr"/>
              <a:r>
                <a:rPr lang="fr-FR" sz="900" dirty="0"/>
                <a:t>Disponibilité</a:t>
              </a:r>
            </a:p>
          </p:txBody>
        </p:sp>
        <p:pic>
          <p:nvPicPr>
            <p:cNvPr id="85" name="Graphique 84" descr="Sablier 60% avec un remplissage uni">
              <a:extLst>
                <a:ext uri="{FF2B5EF4-FFF2-40B4-BE49-F238E27FC236}">
                  <a16:creationId xmlns:a16="http://schemas.microsoft.com/office/drawing/2014/main" id="{1C10ABDD-ECBD-D688-7A2F-AD07289DD00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847251" y="2072289"/>
              <a:ext cx="457200" cy="457200"/>
            </a:xfrm>
            <a:prstGeom prst="rect">
              <a:avLst/>
            </a:prstGeom>
          </p:spPr>
        </p:pic>
      </p:grpSp>
      <p:grpSp>
        <p:nvGrpSpPr>
          <p:cNvPr id="35" name="Groupe 34">
            <a:extLst>
              <a:ext uri="{FF2B5EF4-FFF2-40B4-BE49-F238E27FC236}">
                <a16:creationId xmlns:a16="http://schemas.microsoft.com/office/drawing/2014/main" id="{8600E144-4A7D-293F-F417-1B0161F6ED28}"/>
              </a:ext>
            </a:extLst>
          </p:cNvPr>
          <p:cNvGrpSpPr/>
          <p:nvPr/>
        </p:nvGrpSpPr>
        <p:grpSpPr>
          <a:xfrm>
            <a:off x="8656237" y="1070492"/>
            <a:ext cx="1045011" cy="768030"/>
            <a:chOff x="4204166" y="2072289"/>
            <a:chExt cx="1032426" cy="758783"/>
          </a:xfrm>
        </p:grpSpPr>
        <p:sp>
          <p:nvSpPr>
            <p:cNvPr id="82" name="ZoneTexte 81">
              <a:extLst>
                <a:ext uri="{FF2B5EF4-FFF2-40B4-BE49-F238E27FC236}">
                  <a16:creationId xmlns:a16="http://schemas.microsoft.com/office/drawing/2014/main" id="{ED60DF6B-0984-B90B-BC31-AD62DEDD79AF}"/>
                </a:ext>
              </a:extLst>
            </p:cNvPr>
            <p:cNvSpPr txBox="1"/>
            <p:nvPr/>
          </p:nvSpPr>
          <p:spPr>
            <a:xfrm>
              <a:off x="4204166" y="2603019"/>
              <a:ext cx="1032426" cy="228053"/>
            </a:xfrm>
            <a:prstGeom prst="rect">
              <a:avLst/>
            </a:prstGeom>
            <a:noFill/>
          </p:spPr>
          <p:txBody>
            <a:bodyPr wrap="square">
              <a:spAutoFit/>
            </a:bodyPr>
            <a:lstStyle/>
            <a:p>
              <a:pPr algn="ctr"/>
              <a:r>
                <a:rPr lang="fr-FR" sz="900" dirty="0"/>
                <a:t>Motivations</a:t>
              </a:r>
            </a:p>
          </p:txBody>
        </p:sp>
        <p:pic>
          <p:nvPicPr>
            <p:cNvPr id="83" name="Graphique 82" descr="Flèches de chevron avec un remplissage uni">
              <a:extLst>
                <a:ext uri="{FF2B5EF4-FFF2-40B4-BE49-F238E27FC236}">
                  <a16:creationId xmlns:a16="http://schemas.microsoft.com/office/drawing/2014/main" id="{F23E6C8D-AB80-7FD6-6944-F3621D50435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491779" y="2072289"/>
              <a:ext cx="457200" cy="457200"/>
            </a:xfrm>
            <a:prstGeom prst="rect">
              <a:avLst/>
            </a:prstGeom>
          </p:spPr>
        </p:pic>
      </p:grpSp>
      <p:grpSp>
        <p:nvGrpSpPr>
          <p:cNvPr id="36" name="Groupe 35">
            <a:extLst>
              <a:ext uri="{FF2B5EF4-FFF2-40B4-BE49-F238E27FC236}">
                <a16:creationId xmlns:a16="http://schemas.microsoft.com/office/drawing/2014/main" id="{56A750D2-65DA-A54F-3D04-920598D0D55C}"/>
              </a:ext>
            </a:extLst>
          </p:cNvPr>
          <p:cNvGrpSpPr/>
          <p:nvPr/>
        </p:nvGrpSpPr>
        <p:grpSpPr>
          <a:xfrm>
            <a:off x="6279086" y="1070492"/>
            <a:ext cx="1045011" cy="768030"/>
            <a:chOff x="2428298" y="2091339"/>
            <a:chExt cx="1032426" cy="758783"/>
          </a:xfrm>
        </p:grpSpPr>
        <p:sp>
          <p:nvSpPr>
            <p:cNvPr id="55" name="ZoneTexte 54">
              <a:extLst>
                <a:ext uri="{FF2B5EF4-FFF2-40B4-BE49-F238E27FC236}">
                  <a16:creationId xmlns:a16="http://schemas.microsoft.com/office/drawing/2014/main" id="{585BF505-BAAD-2A1C-A7F4-123C86280140}"/>
                </a:ext>
              </a:extLst>
            </p:cNvPr>
            <p:cNvSpPr txBox="1"/>
            <p:nvPr/>
          </p:nvSpPr>
          <p:spPr>
            <a:xfrm>
              <a:off x="2428298" y="2622069"/>
              <a:ext cx="1032426" cy="228053"/>
            </a:xfrm>
            <a:prstGeom prst="rect">
              <a:avLst/>
            </a:prstGeom>
            <a:noFill/>
          </p:spPr>
          <p:txBody>
            <a:bodyPr wrap="square">
              <a:spAutoFit/>
            </a:bodyPr>
            <a:lstStyle/>
            <a:p>
              <a:pPr algn="ctr"/>
              <a:r>
                <a:rPr lang="fr-FR" sz="900" dirty="0"/>
                <a:t>Compétences</a:t>
              </a:r>
            </a:p>
          </p:txBody>
        </p:sp>
        <p:pic>
          <p:nvPicPr>
            <p:cNvPr id="56" name="Graphique 55" descr="Tête avec engrenages avec un remplissage uni">
              <a:extLst>
                <a:ext uri="{FF2B5EF4-FFF2-40B4-BE49-F238E27FC236}">
                  <a16:creationId xmlns:a16="http://schemas.microsoft.com/office/drawing/2014/main" id="{F66F4135-44F2-8CB3-EA3C-AA00982F8BC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732130" y="2091339"/>
              <a:ext cx="457200" cy="457200"/>
            </a:xfrm>
            <a:prstGeom prst="rect">
              <a:avLst/>
            </a:prstGeom>
          </p:spPr>
        </p:pic>
      </p:grpSp>
      <p:grpSp>
        <p:nvGrpSpPr>
          <p:cNvPr id="37" name="Groupe 36">
            <a:extLst>
              <a:ext uri="{FF2B5EF4-FFF2-40B4-BE49-F238E27FC236}">
                <a16:creationId xmlns:a16="http://schemas.microsoft.com/office/drawing/2014/main" id="{216B9AFC-CC71-CB05-6CF8-7820773C9F21}"/>
              </a:ext>
            </a:extLst>
          </p:cNvPr>
          <p:cNvGrpSpPr/>
          <p:nvPr/>
        </p:nvGrpSpPr>
        <p:grpSpPr>
          <a:xfrm>
            <a:off x="1660636" y="1080368"/>
            <a:ext cx="763651" cy="768030"/>
            <a:chOff x="236639" y="2072289"/>
            <a:chExt cx="754455" cy="758783"/>
          </a:xfrm>
        </p:grpSpPr>
        <p:sp>
          <p:nvSpPr>
            <p:cNvPr id="53" name="ZoneTexte 52">
              <a:extLst>
                <a:ext uri="{FF2B5EF4-FFF2-40B4-BE49-F238E27FC236}">
                  <a16:creationId xmlns:a16="http://schemas.microsoft.com/office/drawing/2014/main" id="{371C2C11-EE3C-7041-2E74-34158E47809C}"/>
                </a:ext>
              </a:extLst>
            </p:cNvPr>
            <p:cNvSpPr txBox="1"/>
            <p:nvPr/>
          </p:nvSpPr>
          <p:spPr>
            <a:xfrm>
              <a:off x="236639" y="2603019"/>
              <a:ext cx="754455" cy="228053"/>
            </a:xfrm>
            <a:prstGeom prst="rect">
              <a:avLst/>
            </a:prstGeom>
            <a:noFill/>
          </p:spPr>
          <p:txBody>
            <a:bodyPr wrap="square">
              <a:spAutoFit/>
            </a:bodyPr>
            <a:lstStyle/>
            <a:p>
              <a:pPr algn="ctr"/>
              <a:r>
                <a:rPr lang="fr-FR" sz="900" dirty="0"/>
                <a:t>Matériel</a:t>
              </a:r>
            </a:p>
          </p:txBody>
        </p:sp>
        <p:pic>
          <p:nvPicPr>
            <p:cNvPr id="54" name="Graphique 53" descr="Diable avec un remplissage uni">
              <a:extLst>
                <a:ext uri="{FF2B5EF4-FFF2-40B4-BE49-F238E27FC236}">
                  <a16:creationId xmlns:a16="http://schemas.microsoft.com/office/drawing/2014/main" id="{655771C6-B981-1459-735C-265585DD673F}"/>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66612" y="2072289"/>
              <a:ext cx="457200" cy="457200"/>
            </a:xfrm>
            <a:prstGeom prst="rect">
              <a:avLst/>
            </a:prstGeom>
          </p:spPr>
        </p:pic>
      </p:grpSp>
      <p:grpSp>
        <p:nvGrpSpPr>
          <p:cNvPr id="38" name="Groupe 37">
            <a:extLst>
              <a:ext uri="{FF2B5EF4-FFF2-40B4-BE49-F238E27FC236}">
                <a16:creationId xmlns:a16="http://schemas.microsoft.com/office/drawing/2014/main" id="{161E7DB9-4A55-75ED-D8EC-CFA4F7B2E522}"/>
              </a:ext>
            </a:extLst>
          </p:cNvPr>
          <p:cNvGrpSpPr/>
          <p:nvPr/>
        </p:nvGrpSpPr>
        <p:grpSpPr>
          <a:xfrm>
            <a:off x="7251071" y="1075158"/>
            <a:ext cx="1398608" cy="768030"/>
            <a:chOff x="1276816" y="2072289"/>
            <a:chExt cx="1381765" cy="758783"/>
          </a:xfrm>
        </p:grpSpPr>
        <p:sp>
          <p:nvSpPr>
            <p:cNvPr id="51" name="ZoneTexte 50">
              <a:extLst>
                <a:ext uri="{FF2B5EF4-FFF2-40B4-BE49-F238E27FC236}">
                  <a16:creationId xmlns:a16="http://schemas.microsoft.com/office/drawing/2014/main" id="{B2E3D74F-5464-B93B-4270-11872AC7791A}"/>
                </a:ext>
              </a:extLst>
            </p:cNvPr>
            <p:cNvSpPr txBox="1"/>
            <p:nvPr/>
          </p:nvSpPr>
          <p:spPr>
            <a:xfrm>
              <a:off x="1276816" y="2603019"/>
              <a:ext cx="1381765" cy="228053"/>
            </a:xfrm>
            <a:prstGeom prst="rect">
              <a:avLst/>
            </a:prstGeom>
            <a:noFill/>
          </p:spPr>
          <p:txBody>
            <a:bodyPr wrap="square">
              <a:spAutoFit/>
            </a:bodyPr>
            <a:lstStyle/>
            <a:p>
              <a:pPr algn="ctr"/>
              <a:r>
                <a:rPr lang="fr-FR" sz="900" dirty="0"/>
                <a:t>Informations clé</a:t>
              </a:r>
            </a:p>
          </p:txBody>
        </p:sp>
        <p:pic>
          <p:nvPicPr>
            <p:cNvPr id="52" name="Graphique 51" descr="Informations avec un remplissage uni">
              <a:extLst>
                <a:ext uri="{FF2B5EF4-FFF2-40B4-BE49-F238E27FC236}">
                  <a16:creationId xmlns:a16="http://schemas.microsoft.com/office/drawing/2014/main" id="{9AEDE73F-C6D9-646E-AA12-3F89590A51CB}"/>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726018" y="2072289"/>
              <a:ext cx="478914" cy="478914"/>
            </a:xfrm>
            <a:prstGeom prst="rect">
              <a:avLst/>
            </a:prstGeom>
          </p:spPr>
        </p:pic>
      </p:grpSp>
      <p:grpSp>
        <p:nvGrpSpPr>
          <p:cNvPr id="39" name="Groupe 38">
            <a:extLst>
              <a:ext uri="{FF2B5EF4-FFF2-40B4-BE49-F238E27FC236}">
                <a16:creationId xmlns:a16="http://schemas.microsoft.com/office/drawing/2014/main" id="{7D752712-0989-4EAB-5CEE-1F76880890D2}"/>
              </a:ext>
            </a:extLst>
          </p:cNvPr>
          <p:cNvGrpSpPr/>
          <p:nvPr/>
        </p:nvGrpSpPr>
        <p:grpSpPr>
          <a:xfrm>
            <a:off x="189313" y="1092768"/>
            <a:ext cx="1290140" cy="768030"/>
            <a:chOff x="8215494" y="2072289"/>
            <a:chExt cx="1274604" cy="758783"/>
          </a:xfrm>
        </p:grpSpPr>
        <p:sp>
          <p:nvSpPr>
            <p:cNvPr id="49" name="ZoneTexte 48">
              <a:extLst>
                <a:ext uri="{FF2B5EF4-FFF2-40B4-BE49-F238E27FC236}">
                  <a16:creationId xmlns:a16="http://schemas.microsoft.com/office/drawing/2014/main" id="{D7DCB3ED-544C-12DD-0ACD-6A662EC9C6D9}"/>
                </a:ext>
              </a:extLst>
            </p:cNvPr>
            <p:cNvSpPr txBox="1"/>
            <p:nvPr/>
          </p:nvSpPr>
          <p:spPr>
            <a:xfrm>
              <a:off x="8215494" y="2603019"/>
              <a:ext cx="1274604" cy="228053"/>
            </a:xfrm>
            <a:prstGeom prst="rect">
              <a:avLst/>
            </a:prstGeom>
            <a:noFill/>
          </p:spPr>
          <p:txBody>
            <a:bodyPr wrap="square">
              <a:spAutoFit/>
            </a:bodyPr>
            <a:lstStyle/>
            <a:p>
              <a:pPr algn="ctr"/>
              <a:r>
                <a:rPr lang="fr-FR" sz="900" dirty="0"/>
                <a:t>Espaces et lieux</a:t>
              </a:r>
            </a:p>
          </p:txBody>
        </p:sp>
        <p:pic>
          <p:nvPicPr>
            <p:cNvPr id="50" name="Graphique 49" descr="Conseil d’administration avec un remplissage uni">
              <a:extLst>
                <a:ext uri="{FF2B5EF4-FFF2-40B4-BE49-F238E27FC236}">
                  <a16:creationId xmlns:a16="http://schemas.microsoft.com/office/drawing/2014/main" id="{036F3685-E147-0FBF-812E-31B1301C6D58}"/>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574409" y="2072289"/>
              <a:ext cx="556773" cy="556773"/>
            </a:xfrm>
            <a:prstGeom prst="rect">
              <a:avLst/>
            </a:prstGeom>
          </p:spPr>
        </p:pic>
      </p:grpSp>
      <p:grpSp>
        <p:nvGrpSpPr>
          <p:cNvPr id="40" name="Groupe 39">
            <a:extLst>
              <a:ext uri="{FF2B5EF4-FFF2-40B4-BE49-F238E27FC236}">
                <a16:creationId xmlns:a16="http://schemas.microsoft.com/office/drawing/2014/main" id="{7EFB2420-767F-1D78-12C3-7E440504C1E6}"/>
              </a:ext>
            </a:extLst>
          </p:cNvPr>
          <p:cNvGrpSpPr/>
          <p:nvPr/>
        </p:nvGrpSpPr>
        <p:grpSpPr>
          <a:xfrm>
            <a:off x="4068609" y="1074039"/>
            <a:ext cx="773820" cy="768030"/>
            <a:chOff x="9827467" y="2072289"/>
            <a:chExt cx="764501" cy="758783"/>
          </a:xfrm>
        </p:grpSpPr>
        <p:pic>
          <p:nvPicPr>
            <p:cNvPr id="47" name="Graphique 46" descr="Tirelire avec un remplissage uni">
              <a:extLst>
                <a:ext uri="{FF2B5EF4-FFF2-40B4-BE49-F238E27FC236}">
                  <a16:creationId xmlns:a16="http://schemas.microsoft.com/office/drawing/2014/main" id="{F25D3454-0062-0BA7-AF8C-64288995F13B}"/>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9956969" y="2072289"/>
              <a:ext cx="540000" cy="540000"/>
            </a:xfrm>
            <a:prstGeom prst="rect">
              <a:avLst/>
            </a:prstGeom>
          </p:spPr>
        </p:pic>
        <p:sp>
          <p:nvSpPr>
            <p:cNvPr id="48" name="ZoneTexte 47">
              <a:extLst>
                <a:ext uri="{FF2B5EF4-FFF2-40B4-BE49-F238E27FC236}">
                  <a16:creationId xmlns:a16="http://schemas.microsoft.com/office/drawing/2014/main" id="{AFD8E84E-B207-0533-212C-3CA8B4CE3926}"/>
                </a:ext>
              </a:extLst>
            </p:cNvPr>
            <p:cNvSpPr txBox="1"/>
            <p:nvPr/>
          </p:nvSpPr>
          <p:spPr>
            <a:xfrm>
              <a:off x="9827467" y="2603019"/>
              <a:ext cx="764501" cy="228053"/>
            </a:xfrm>
            <a:prstGeom prst="rect">
              <a:avLst/>
            </a:prstGeom>
            <a:noFill/>
          </p:spPr>
          <p:txBody>
            <a:bodyPr wrap="square">
              <a:spAutoFit/>
            </a:bodyPr>
            <a:lstStyle/>
            <a:p>
              <a:pPr algn="ctr"/>
              <a:r>
                <a:rPr lang="fr-FR" sz="900" dirty="0"/>
                <a:t>Budget</a:t>
              </a:r>
            </a:p>
          </p:txBody>
        </p:sp>
      </p:grpSp>
      <p:grpSp>
        <p:nvGrpSpPr>
          <p:cNvPr id="41" name="Groupe 40">
            <a:extLst>
              <a:ext uri="{FF2B5EF4-FFF2-40B4-BE49-F238E27FC236}">
                <a16:creationId xmlns:a16="http://schemas.microsoft.com/office/drawing/2014/main" id="{338A4877-FE9B-DA22-9A1C-90F9F50E5BD6}"/>
              </a:ext>
            </a:extLst>
          </p:cNvPr>
          <p:cNvGrpSpPr/>
          <p:nvPr/>
        </p:nvGrpSpPr>
        <p:grpSpPr>
          <a:xfrm>
            <a:off x="11160345" y="1078272"/>
            <a:ext cx="773820" cy="768030"/>
            <a:chOff x="11150144" y="2072289"/>
            <a:chExt cx="764501" cy="758783"/>
          </a:xfrm>
        </p:grpSpPr>
        <p:pic>
          <p:nvPicPr>
            <p:cNvPr id="45" name="Graphique 44" descr="Badge point d’interrogation avec un remplissage uni">
              <a:extLst>
                <a:ext uri="{FF2B5EF4-FFF2-40B4-BE49-F238E27FC236}">
                  <a16:creationId xmlns:a16="http://schemas.microsoft.com/office/drawing/2014/main" id="{DFB865F7-0895-2BFB-B77B-16E9A0DCDB54}"/>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1270657" y="2072289"/>
              <a:ext cx="540000" cy="540000"/>
            </a:xfrm>
            <a:prstGeom prst="rect">
              <a:avLst/>
            </a:prstGeom>
          </p:spPr>
        </p:pic>
        <p:sp>
          <p:nvSpPr>
            <p:cNvPr id="46" name="ZoneTexte 45">
              <a:extLst>
                <a:ext uri="{FF2B5EF4-FFF2-40B4-BE49-F238E27FC236}">
                  <a16:creationId xmlns:a16="http://schemas.microsoft.com/office/drawing/2014/main" id="{CF551D45-B341-EAD9-F7A0-C1B9F4164C53}"/>
                </a:ext>
              </a:extLst>
            </p:cNvPr>
            <p:cNvSpPr txBox="1"/>
            <p:nvPr/>
          </p:nvSpPr>
          <p:spPr>
            <a:xfrm>
              <a:off x="11150144" y="2603019"/>
              <a:ext cx="764501" cy="228053"/>
            </a:xfrm>
            <a:prstGeom prst="rect">
              <a:avLst/>
            </a:prstGeom>
            <a:noFill/>
          </p:spPr>
          <p:txBody>
            <a:bodyPr wrap="square">
              <a:spAutoFit/>
            </a:bodyPr>
            <a:lstStyle/>
            <a:p>
              <a:pPr algn="ctr"/>
              <a:r>
                <a:rPr lang="fr-FR" sz="900" dirty="0"/>
                <a:t>Autres</a:t>
              </a:r>
            </a:p>
          </p:txBody>
        </p:sp>
      </p:grpSp>
      <p:grpSp>
        <p:nvGrpSpPr>
          <p:cNvPr id="42" name="Groupe 41">
            <a:extLst>
              <a:ext uri="{FF2B5EF4-FFF2-40B4-BE49-F238E27FC236}">
                <a16:creationId xmlns:a16="http://schemas.microsoft.com/office/drawing/2014/main" id="{91B1713A-8BC2-BCB0-D2E1-8CFC80FF809A}"/>
              </a:ext>
            </a:extLst>
          </p:cNvPr>
          <p:cNvGrpSpPr/>
          <p:nvPr/>
        </p:nvGrpSpPr>
        <p:grpSpPr>
          <a:xfrm>
            <a:off x="9695022" y="1055567"/>
            <a:ext cx="1342840" cy="787620"/>
            <a:chOff x="9651618" y="1361747"/>
            <a:chExt cx="1326669" cy="778137"/>
          </a:xfrm>
        </p:grpSpPr>
        <p:pic>
          <p:nvPicPr>
            <p:cNvPr id="43" name="Graphique 42" descr="Signe pouce en haut avec un remplissage uni">
              <a:extLst>
                <a:ext uri="{FF2B5EF4-FFF2-40B4-BE49-F238E27FC236}">
                  <a16:creationId xmlns:a16="http://schemas.microsoft.com/office/drawing/2014/main" id="{A0C38452-3156-CF6F-FA14-5D34165FE151}"/>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10057766" y="1361747"/>
              <a:ext cx="514374" cy="514374"/>
            </a:xfrm>
            <a:prstGeom prst="rect">
              <a:avLst/>
            </a:prstGeom>
          </p:spPr>
        </p:pic>
        <p:sp>
          <p:nvSpPr>
            <p:cNvPr id="44" name="ZoneTexte 43">
              <a:extLst>
                <a:ext uri="{FF2B5EF4-FFF2-40B4-BE49-F238E27FC236}">
                  <a16:creationId xmlns:a16="http://schemas.microsoft.com/office/drawing/2014/main" id="{2AB0E275-14E8-4FA2-3558-9DE12E3B1588}"/>
                </a:ext>
              </a:extLst>
            </p:cNvPr>
            <p:cNvSpPr txBox="1"/>
            <p:nvPr/>
          </p:nvSpPr>
          <p:spPr>
            <a:xfrm>
              <a:off x="9651618" y="1911831"/>
              <a:ext cx="1326669" cy="228053"/>
            </a:xfrm>
            <a:prstGeom prst="rect">
              <a:avLst/>
            </a:prstGeom>
            <a:noFill/>
          </p:spPr>
          <p:txBody>
            <a:bodyPr wrap="square">
              <a:spAutoFit/>
            </a:bodyPr>
            <a:lstStyle/>
            <a:p>
              <a:pPr algn="ctr"/>
              <a:r>
                <a:rPr lang="fr-FR" sz="900" dirty="0"/>
                <a:t>Soutien extérieur</a:t>
              </a:r>
            </a:p>
          </p:txBody>
        </p:sp>
      </p:grpSp>
      <p:sp>
        <p:nvSpPr>
          <p:cNvPr id="88" name="Rectangle 87">
            <a:extLst>
              <a:ext uri="{FF2B5EF4-FFF2-40B4-BE49-F238E27FC236}">
                <a16:creationId xmlns:a16="http://schemas.microsoft.com/office/drawing/2014/main" id="{A2D80509-9FC3-817C-E855-F58CD8A37B23}"/>
              </a:ext>
            </a:extLst>
          </p:cNvPr>
          <p:cNvSpPr/>
          <p:nvPr/>
        </p:nvSpPr>
        <p:spPr>
          <a:xfrm>
            <a:off x="1480214" y="1989281"/>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matériels clés de votre Communauté ? (S’il y a)</a:t>
            </a:r>
          </a:p>
        </p:txBody>
      </p:sp>
      <p:sp>
        <p:nvSpPr>
          <p:cNvPr id="89" name="Rectangle 88">
            <a:extLst>
              <a:ext uri="{FF2B5EF4-FFF2-40B4-BE49-F238E27FC236}">
                <a16:creationId xmlns:a16="http://schemas.microsoft.com/office/drawing/2014/main" id="{13449835-5EF1-1E74-FFD5-96302107B989}"/>
              </a:ext>
            </a:extLst>
          </p:cNvPr>
          <p:cNvSpPr/>
          <p:nvPr/>
        </p:nvSpPr>
        <p:spPr>
          <a:xfrm>
            <a:off x="2696446" y="1989281"/>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outils à usage fréquent de la Communauté ? Que permettent-ils ?</a:t>
            </a:r>
          </a:p>
        </p:txBody>
      </p:sp>
      <p:sp>
        <p:nvSpPr>
          <p:cNvPr id="90" name="Rectangle 89">
            <a:extLst>
              <a:ext uri="{FF2B5EF4-FFF2-40B4-BE49-F238E27FC236}">
                <a16:creationId xmlns:a16="http://schemas.microsoft.com/office/drawing/2014/main" id="{AD9FAE9A-3E5A-C7D4-05B5-E5FD0A807E2A}"/>
              </a:ext>
            </a:extLst>
          </p:cNvPr>
          <p:cNvSpPr/>
          <p:nvPr/>
        </p:nvSpPr>
        <p:spPr>
          <a:xfrm>
            <a:off x="7446478" y="1989281"/>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sont les informations clés que détiennent les membres ? (expériences, contacts, …)</a:t>
            </a:r>
          </a:p>
        </p:txBody>
      </p:sp>
      <p:sp>
        <p:nvSpPr>
          <p:cNvPr id="91" name="Rectangle 90">
            <a:extLst>
              <a:ext uri="{FF2B5EF4-FFF2-40B4-BE49-F238E27FC236}">
                <a16:creationId xmlns:a16="http://schemas.microsoft.com/office/drawing/2014/main" id="{9A58C9A9-DF29-9DEA-8A0F-1E633F62501E}"/>
              </a:ext>
            </a:extLst>
          </p:cNvPr>
          <p:cNvSpPr/>
          <p:nvPr/>
        </p:nvSpPr>
        <p:spPr>
          <a:xfrm>
            <a:off x="6281716" y="1989281"/>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sont les compétences clés des membres ? Lesquelles sont les plus mises à profit ?</a:t>
            </a:r>
          </a:p>
        </p:txBody>
      </p:sp>
      <p:sp>
        <p:nvSpPr>
          <p:cNvPr id="92" name="Rectangle 91">
            <a:extLst>
              <a:ext uri="{FF2B5EF4-FFF2-40B4-BE49-F238E27FC236}">
                <a16:creationId xmlns:a16="http://schemas.microsoft.com/office/drawing/2014/main" id="{E091568C-599D-BB58-5F5D-CC7DDC285103}"/>
              </a:ext>
            </a:extLst>
          </p:cNvPr>
          <p:cNvSpPr/>
          <p:nvPr/>
        </p:nvSpPr>
        <p:spPr>
          <a:xfrm>
            <a:off x="8625116" y="1989281"/>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sont les motivations communes des membres ? Les problèmes communs ?</a:t>
            </a:r>
          </a:p>
        </p:txBody>
      </p:sp>
      <p:sp>
        <p:nvSpPr>
          <p:cNvPr id="93" name="Rectangle 92">
            <a:extLst>
              <a:ext uri="{FF2B5EF4-FFF2-40B4-BE49-F238E27FC236}">
                <a16:creationId xmlns:a16="http://schemas.microsoft.com/office/drawing/2014/main" id="{43BC3713-AF54-1A68-2604-3624829FB1B4}"/>
              </a:ext>
            </a:extLst>
          </p:cNvPr>
          <p:cNvSpPr/>
          <p:nvPr/>
        </p:nvSpPr>
        <p:spPr>
          <a:xfrm>
            <a:off x="5098568" y="1989281"/>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sont les disponibilités des membres en moyenne ? Qui sont les plus disponibles?</a:t>
            </a:r>
          </a:p>
        </p:txBody>
      </p:sp>
      <p:sp>
        <p:nvSpPr>
          <p:cNvPr id="94" name="Rectangle 93">
            <a:extLst>
              <a:ext uri="{FF2B5EF4-FFF2-40B4-BE49-F238E27FC236}">
                <a16:creationId xmlns:a16="http://schemas.microsoft.com/office/drawing/2014/main" id="{94F375B5-C214-2CD4-305D-A441C8095B93}"/>
              </a:ext>
            </a:extLst>
          </p:cNvPr>
          <p:cNvSpPr/>
          <p:nvPr/>
        </p:nvSpPr>
        <p:spPr>
          <a:xfrm>
            <a:off x="284238" y="1983211"/>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espaces et lieux où se retrouvent la Communauté ?</a:t>
            </a:r>
          </a:p>
        </p:txBody>
      </p:sp>
      <p:sp>
        <p:nvSpPr>
          <p:cNvPr id="95" name="Rectangle 94">
            <a:extLst>
              <a:ext uri="{FF2B5EF4-FFF2-40B4-BE49-F238E27FC236}">
                <a16:creationId xmlns:a16="http://schemas.microsoft.com/office/drawing/2014/main" id="{8E30FC1B-CDB0-9C0A-F4F9-D852E1319FD5}"/>
              </a:ext>
            </a:extLst>
          </p:cNvPr>
          <p:cNvSpPr/>
          <p:nvPr/>
        </p:nvSpPr>
        <p:spPr>
          <a:xfrm>
            <a:off x="3897507" y="1989281"/>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vos besoins et vos sources en termes de budget ?</a:t>
            </a:r>
          </a:p>
        </p:txBody>
      </p:sp>
      <p:sp>
        <p:nvSpPr>
          <p:cNvPr id="96" name="Rectangle 95">
            <a:extLst>
              <a:ext uri="{FF2B5EF4-FFF2-40B4-BE49-F238E27FC236}">
                <a16:creationId xmlns:a16="http://schemas.microsoft.com/office/drawing/2014/main" id="{A4C36D90-C3A5-9447-F7DD-CD7F6E7201E8}"/>
              </a:ext>
            </a:extLst>
          </p:cNvPr>
          <p:cNvSpPr/>
          <p:nvPr/>
        </p:nvSpPr>
        <p:spPr>
          <a:xfrm>
            <a:off x="9810267" y="1989281"/>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Qui aide la Communauté ? Sur quels points ? Et comment ? </a:t>
            </a:r>
          </a:p>
        </p:txBody>
      </p:sp>
      <p:sp>
        <p:nvSpPr>
          <p:cNvPr id="100" name="Rectangle 99">
            <a:extLst>
              <a:ext uri="{FF2B5EF4-FFF2-40B4-BE49-F238E27FC236}">
                <a16:creationId xmlns:a16="http://schemas.microsoft.com/office/drawing/2014/main" id="{5202E4F2-1E61-9C2E-CCA3-ADFA06FBCE96}"/>
              </a:ext>
            </a:extLst>
          </p:cNvPr>
          <p:cNvSpPr/>
          <p:nvPr/>
        </p:nvSpPr>
        <p:spPr>
          <a:xfrm>
            <a:off x="280420" y="2931716"/>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les espaces et lieux de la Communauté répondent-ils aux besoins ?</a:t>
            </a:r>
          </a:p>
        </p:txBody>
      </p:sp>
      <p:sp>
        <p:nvSpPr>
          <p:cNvPr id="101" name="Rectangle 100">
            <a:extLst>
              <a:ext uri="{FF2B5EF4-FFF2-40B4-BE49-F238E27FC236}">
                <a16:creationId xmlns:a16="http://schemas.microsoft.com/office/drawing/2014/main" id="{2A5C3EF2-627E-B073-5CCA-00BF6C3A4DB5}"/>
              </a:ext>
            </a:extLst>
          </p:cNvPr>
          <p:cNvSpPr/>
          <p:nvPr/>
        </p:nvSpPr>
        <p:spPr>
          <a:xfrm>
            <a:off x="280420" y="3880221"/>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sont les contraintes que créent les espaces et lieux utilisés actuellement ? </a:t>
            </a:r>
          </a:p>
        </p:txBody>
      </p:sp>
      <p:sp>
        <p:nvSpPr>
          <p:cNvPr id="102" name="Rectangle 101">
            <a:extLst>
              <a:ext uri="{FF2B5EF4-FFF2-40B4-BE49-F238E27FC236}">
                <a16:creationId xmlns:a16="http://schemas.microsoft.com/office/drawing/2014/main" id="{54F34621-2BB2-812B-0314-9FAC760F3E8C}"/>
              </a:ext>
            </a:extLst>
          </p:cNvPr>
          <p:cNvSpPr/>
          <p:nvPr/>
        </p:nvSpPr>
        <p:spPr>
          <a:xfrm>
            <a:off x="280420" y="4828726"/>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Avez-vous mis de côté ou éliminé certaines idées d’activités à cause des lieux ?</a:t>
            </a:r>
          </a:p>
        </p:txBody>
      </p:sp>
      <p:sp>
        <p:nvSpPr>
          <p:cNvPr id="103" name="Rectangle 102">
            <a:extLst>
              <a:ext uri="{FF2B5EF4-FFF2-40B4-BE49-F238E27FC236}">
                <a16:creationId xmlns:a16="http://schemas.microsoft.com/office/drawing/2014/main" id="{57E791BE-7413-D64A-A9EB-4D79979AD2D5}"/>
              </a:ext>
            </a:extLst>
          </p:cNvPr>
          <p:cNvSpPr/>
          <p:nvPr/>
        </p:nvSpPr>
        <p:spPr>
          <a:xfrm>
            <a:off x="2696446" y="2931716"/>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qui a poussé à utiliser les outils en place plutôt que d’autres ?</a:t>
            </a:r>
          </a:p>
        </p:txBody>
      </p:sp>
      <p:sp>
        <p:nvSpPr>
          <p:cNvPr id="104" name="Rectangle 103">
            <a:extLst>
              <a:ext uri="{FF2B5EF4-FFF2-40B4-BE49-F238E27FC236}">
                <a16:creationId xmlns:a16="http://schemas.microsoft.com/office/drawing/2014/main" id="{0216947D-6EAD-81E5-7753-A9B2B2EDB2B1}"/>
              </a:ext>
            </a:extLst>
          </p:cNvPr>
          <p:cNvSpPr/>
          <p:nvPr/>
        </p:nvSpPr>
        <p:spPr>
          <a:xfrm>
            <a:off x="2692296" y="3880221"/>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Avez-vous mis de côté ou éliminé certaines idées d’activités à cause des limitations d’outils ?</a:t>
            </a:r>
          </a:p>
        </p:txBody>
      </p:sp>
      <p:sp>
        <p:nvSpPr>
          <p:cNvPr id="106" name="Rectangle 105">
            <a:extLst>
              <a:ext uri="{FF2B5EF4-FFF2-40B4-BE49-F238E27FC236}">
                <a16:creationId xmlns:a16="http://schemas.microsoft.com/office/drawing/2014/main" id="{DD867409-D32D-651A-DF63-43DAAE2D1948}"/>
              </a:ext>
            </a:extLst>
          </p:cNvPr>
          <p:cNvSpPr/>
          <p:nvPr/>
        </p:nvSpPr>
        <p:spPr>
          <a:xfrm>
            <a:off x="1480214" y="2935181"/>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 matériel clé gagnerait-il à être mieux mutualisé ? </a:t>
            </a:r>
          </a:p>
        </p:txBody>
      </p:sp>
      <p:sp>
        <p:nvSpPr>
          <p:cNvPr id="107" name="Rectangle 106">
            <a:extLst>
              <a:ext uri="{FF2B5EF4-FFF2-40B4-BE49-F238E27FC236}">
                <a16:creationId xmlns:a16="http://schemas.microsoft.com/office/drawing/2014/main" id="{D3564CF9-1781-083F-24C3-275D01E5CA4F}"/>
              </a:ext>
            </a:extLst>
          </p:cNvPr>
          <p:cNvSpPr/>
          <p:nvPr/>
        </p:nvSpPr>
        <p:spPr>
          <a:xfrm>
            <a:off x="7436236" y="2926422"/>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qui facilite le partage d’informations entre les membres ?</a:t>
            </a:r>
          </a:p>
        </p:txBody>
      </p:sp>
      <p:sp>
        <p:nvSpPr>
          <p:cNvPr id="108" name="Rectangle 107">
            <a:extLst>
              <a:ext uri="{FF2B5EF4-FFF2-40B4-BE49-F238E27FC236}">
                <a16:creationId xmlns:a16="http://schemas.microsoft.com/office/drawing/2014/main" id="{7D2F5D4D-4461-1CE1-6E16-641BF2E3629E}"/>
              </a:ext>
            </a:extLst>
          </p:cNvPr>
          <p:cNvSpPr/>
          <p:nvPr/>
        </p:nvSpPr>
        <p:spPr>
          <a:xfrm>
            <a:off x="6271474" y="2926422"/>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compétences des membres pourraient être mises à profit ou en commun ?</a:t>
            </a:r>
          </a:p>
        </p:txBody>
      </p:sp>
      <p:sp>
        <p:nvSpPr>
          <p:cNvPr id="109" name="Rectangle 108">
            <a:extLst>
              <a:ext uri="{FF2B5EF4-FFF2-40B4-BE49-F238E27FC236}">
                <a16:creationId xmlns:a16="http://schemas.microsoft.com/office/drawing/2014/main" id="{000815A3-69E5-BD14-D923-658BDE628F4C}"/>
              </a:ext>
            </a:extLst>
          </p:cNvPr>
          <p:cNvSpPr/>
          <p:nvPr/>
        </p:nvSpPr>
        <p:spPr>
          <a:xfrm>
            <a:off x="8635263" y="3880220"/>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Sur quels points est-ce que les membres ne sont pas d’accord ? </a:t>
            </a:r>
          </a:p>
        </p:txBody>
      </p:sp>
      <p:sp>
        <p:nvSpPr>
          <p:cNvPr id="110" name="Rectangle 109">
            <a:extLst>
              <a:ext uri="{FF2B5EF4-FFF2-40B4-BE49-F238E27FC236}">
                <a16:creationId xmlns:a16="http://schemas.microsoft.com/office/drawing/2014/main" id="{69005543-CCB1-5971-9D91-011AF0D44154}"/>
              </a:ext>
            </a:extLst>
          </p:cNvPr>
          <p:cNvSpPr/>
          <p:nvPr/>
        </p:nvSpPr>
        <p:spPr>
          <a:xfrm>
            <a:off x="5088326" y="2926422"/>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Quand sont les moments de disponibilité commune des membres ? A quels endroits ?</a:t>
            </a:r>
          </a:p>
        </p:txBody>
      </p:sp>
      <p:sp>
        <p:nvSpPr>
          <p:cNvPr id="111" name="Rectangle 110">
            <a:extLst>
              <a:ext uri="{FF2B5EF4-FFF2-40B4-BE49-F238E27FC236}">
                <a16:creationId xmlns:a16="http://schemas.microsoft.com/office/drawing/2014/main" id="{16042951-4818-B0A0-FB65-693A74AE8F1F}"/>
              </a:ext>
            </a:extLst>
          </p:cNvPr>
          <p:cNvSpPr/>
          <p:nvPr/>
        </p:nvSpPr>
        <p:spPr>
          <a:xfrm>
            <a:off x="3887265" y="2926422"/>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Comment a évolué le budget de la Communauté ? Sur quels postes ? Comment évoluera-t-il ?</a:t>
            </a:r>
          </a:p>
        </p:txBody>
      </p:sp>
      <p:sp>
        <p:nvSpPr>
          <p:cNvPr id="112" name="Rectangle 111">
            <a:extLst>
              <a:ext uri="{FF2B5EF4-FFF2-40B4-BE49-F238E27FC236}">
                <a16:creationId xmlns:a16="http://schemas.microsoft.com/office/drawing/2014/main" id="{38991C54-0DE4-9E4E-6B00-7EA9A954B8BD}"/>
              </a:ext>
            </a:extLst>
          </p:cNvPr>
          <p:cNvSpPr/>
          <p:nvPr/>
        </p:nvSpPr>
        <p:spPr>
          <a:xfrm>
            <a:off x="9800025" y="2926422"/>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Qui pourrait aider la Communauté ? Sur quels points ? Comment ?</a:t>
            </a:r>
          </a:p>
        </p:txBody>
      </p:sp>
      <p:sp>
        <p:nvSpPr>
          <p:cNvPr id="113" name="Rectangle 112">
            <a:extLst>
              <a:ext uri="{FF2B5EF4-FFF2-40B4-BE49-F238E27FC236}">
                <a16:creationId xmlns:a16="http://schemas.microsoft.com/office/drawing/2014/main" id="{93386CD6-6A92-6C51-A308-37F34A411767}"/>
              </a:ext>
            </a:extLst>
          </p:cNvPr>
          <p:cNvSpPr/>
          <p:nvPr/>
        </p:nvSpPr>
        <p:spPr>
          <a:xfrm>
            <a:off x="7436236" y="3880221"/>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qui rend difficile le partage d’informations entre les membres ?</a:t>
            </a:r>
          </a:p>
        </p:txBody>
      </p:sp>
      <p:sp>
        <p:nvSpPr>
          <p:cNvPr id="114" name="Rectangle 113">
            <a:extLst>
              <a:ext uri="{FF2B5EF4-FFF2-40B4-BE49-F238E27FC236}">
                <a16:creationId xmlns:a16="http://schemas.microsoft.com/office/drawing/2014/main" id="{C28CD353-7E2D-0FD9-0136-ADB9C9F8E138}"/>
              </a:ext>
            </a:extLst>
          </p:cNvPr>
          <p:cNvSpPr/>
          <p:nvPr/>
        </p:nvSpPr>
        <p:spPr>
          <a:xfrm>
            <a:off x="6271474" y="3880221"/>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Au regard des objectifs de Communauté, quelles sont les compétences manquantes des membres ?</a:t>
            </a:r>
          </a:p>
        </p:txBody>
      </p:sp>
      <p:sp>
        <p:nvSpPr>
          <p:cNvPr id="115" name="Rectangle 114">
            <a:extLst>
              <a:ext uri="{FF2B5EF4-FFF2-40B4-BE49-F238E27FC236}">
                <a16:creationId xmlns:a16="http://schemas.microsoft.com/office/drawing/2014/main" id="{649D6BD2-F85F-EB9B-B97B-C630E41826D8}"/>
              </a:ext>
            </a:extLst>
          </p:cNvPr>
          <p:cNvSpPr/>
          <p:nvPr/>
        </p:nvSpPr>
        <p:spPr>
          <a:xfrm>
            <a:off x="8635263" y="4834019"/>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qui démotive les membres ?</a:t>
            </a:r>
          </a:p>
        </p:txBody>
      </p:sp>
      <p:sp>
        <p:nvSpPr>
          <p:cNvPr id="116" name="Rectangle 115">
            <a:extLst>
              <a:ext uri="{FF2B5EF4-FFF2-40B4-BE49-F238E27FC236}">
                <a16:creationId xmlns:a16="http://schemas.microsoft.com/office/drawing/2014/main" id="{CDE45985-F2F4-C052-3F9A-46C70543CF45}"/>
              </a:ext>
            </a:extLst>
          </p:cNvPr>
          <p:cNvSpPr/>
          <p:nvPr/>
        </p:nvSpPr>
        <p:spPr>
          <a:xfrm>
            <a:off x="5088326" y="3880221"/>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ont-ils des difficultés à se retrouver ? Pour quelles raisons ?</a:t>
            </a:r>
          </a:p>
        </p:txBody>
      </p:sp>
      <p:sp>
        <p:nvSpPr>
          <p:cNvPr id="117" name="Rectangle 116">
            <a:extLst>
              <a:ext uri="{FF2B5EF4-FFF2-40B4-BE49-F238E27FC236}">
                <a16:creationId xmlns:a16="http://schemas.microsoft.com/office/drawing/2014/main" id="{BE56E6B4-E4D1-114D-DD4D-2417E87C8753}"/>
              </a:ext>
            </a:extLst>
          </p:cNvPr>
          <p:cNvSpPr/>
          <p:nvPr/>
        </p:nvSpPr>
        <p:spPr>
          <a:xfrm>
            <a:off x="3887265" y="3880221"/>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Aujourd’hui, quel budget est le plus limitant pour le développement de la Communauté ?</a:t>
            </a:r>
          </a:p>
        </p:txBody>
      </p:sp>
      <p:sp>
        <p:nvSpPr>
          <p:cNvPr id="118" name="Rectangle 117">
            <a:extLst>
              <a:ext uri="{FF2B5EF4-FFF2-40B4-BE49-F238E27FC236}">
                <a16:creationId xmlns:a16="http://schemas.microsoft.com/office/drawing/2014/main" id="{762F8B1E-32BC-8BD2-8548-1D17CBDE0534}"/>
              </a:ext>
            </a:extLst>
          </p:cNvPr>
          <p:cNvSpPr/>
          <p:nvPr/>
        </p:nvSpPr>
        <p:spPr>
          <a:xfrm>
            <a:off x="9800025" y="3880221"/>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a-t-elle perdu des soutiens ? Pourquoi ? </a:t>
            </a:r>
          </a:p>
        </p:txBody>
      </p:sp>
      <p:sp>
        <p:nvSpPr>
          <p:cNvPr id="119" name="Rectangle 118">
            <a:extLst>
              <a:ext uri="{FF2B5EF4-FFF2-40B4-BE49-F238E27FC236}">
                <a16:creationId xmlns:a16="http://schemas.microsoft.com/office/drawing/2014/main" id="{65A47988-09C5-041C-F8D0-2622EA5B8D6E}"/>
              </a:ext>
            </a:extLst>
          </p:cNvPr>
          <p:cNvSpPr/>
          <p:nvPr/>
        </p:nvSpPr>
        <p:spPr>
          <a:xfrm>
            <a:off x="7436236" y="4828726"/>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De quelles informations clés manquent les membres pour réaliser leurs objectifs ?</a:t>
            </a:r>
          </a:p>
        </p:txBody>
      </p:sp>
      <p:sp>
        <p:nvSpPr>
          <p:cNvPr id="120" name="Rectangle 119">
            <a:extLst>
              <a:ext uri="{FF2B5EF4-FFF2-40B4-BE49-F238E27FC236}">
                <a16:creationId xmlns:a16="http://schemas.microsoft.com/office/drawing/2014/main" id="{F462E7C4-F01F-125D-1A2D-A980872CE9A1}"/>
              </a:ext>
            </a:extLst>
          </p:cNvPr>
          <p:cNvSpPr/>
          <p:nvPr/>
        </p:nvSpPr>
        <p:spPr>
          <a:xfrm>
            <a:off x="6271474" y="4828726"/>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arrivent-ils à accéder à des compétences extérieures ? Sinon pourquoi ?</a:t>
            </a:r>
          </a:p>
        </p:txBody>
      </p:sp>
      <p:sp>
        <p:nvSpPr>
          <p:cNvPr id="121" name="Rectangle 120">
            <a:extLst>
              <a:ext uri="{FF2B5EF4-FFF2-40B4-BE49-F238E27FC236}">
                <a16:creationId xmlns:a16="http://schemas.microsoft.com/office/drawing/2014/main" id="{75199E76-CB4A-440A-5DCA-83CE85071B67}"/>
              </a:ext>
            </a:extLst>
          </p:cNvPr>
          <p:cNvSpPr/>
          <p:nvPr/>
        </p:nvSpPr>
        <p:spPr>
          <a:xfrm>
            <a:off x="8635263" y="5782524"/>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sont les différences entre les motivations déclarées et les motivations sur le terrain ?</a:t>
            </a:r>
          </a:p>
        </p:txBody>
      </p:sp>
      <p:sp>
        <p:nvSpPr>
          <p:cNvPr id="122" name="Rectangle 121">
            <a:extLst>
              <a:ext uri="{FF2B5EF4-FFF2-40B4-BE49-F238E27FC236}">
                <a16:creationId xmlns:a16="http://schemas.microsoft.com/office/drawing/2014/main" id="{965E4709-FD46-F0CC-E92C-FF14AA876071}"/>
              </a:ext>
            </a:extLst>
          </p:cNvPr>
          <p:cNvSpPr/>
          <p:nvPr/>
        </p:nvSpPr>
        <p:spPr>
          <a:xfrm>
            <a:off x="5088326" y="4828726"/>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qui rendrait les membres de moins en moins disponibles ?</a:t>
            </a:r>
          </a:p>
        </p:txBody>
      </p:sp>
      <p:sp>
        <p:nvSpPr>
          <p:cNvPr id="123" name="Rectangle 122">
            <a:extLst>
              <a:ext uri="{FF2B5EF4-FFF2-40B4-BE49-F238E27FC236}">
                <a16:creationId xmlns:a16="http://schemas.microsoft.com/office/drawing/2014/main" id="{CAAC987F-BC95-0FE6-C506-2A19EA6E07DD}"/>
              </a:ext>
            </a:extLst>
          </p:cNvPr>
          <p:cNvSpPr/>
          <p:nvPr/>
        </p:nvSpPr>
        <p:spPr>
          <a:xfrm>
            <a:off x="3887265" y="4828726"/>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a:p>
            <a:pPr algn="ctr"/>
            <a:r>
              <a:rPr lang="fr-FR" sz="900" dirty="0">
                <a:solidFill>
                  <a:schemeClr val="tx1"/>
                </a:solidFill>
              </a:rPr>
              <a:t>Quelles sont les contraintes créées par le fonctionnement / les processus de budget ? </a:t>
            </a:r>
          </a:p>
          <a:p>
            <a:pPr algn="ctr"/>
            <a:endParaRPr lang="fr-FR" sz="900" dirty="0">
              <a:solidFill>
                <a:schemeClr val="tx1"/>
              </a:solidFill>
            </a:endParaRPr>
          </a:p>
        </p:txBody>
      </p:sp>
      <p:sp>
        <p:nvSpPr>
          <p:cNvPr id="124" name="Rectangle 123">
            <a:extLst>
              <a:ext uri="{FF2B5EF4-FFF2-40B4-BE49-F238E27FC236}">
                <a16:creationId xmlns:a16="http://schemas.microsoft.com/office/drawing/2014/main" id="{BEE0928F-33E1-14B3-65E5-40DB74DE43DA}"/>
              </a:ext>
            </a:extLst>
          </p:cNvPr>
          <p:cNvSpPr/>
          <p:nvPr/>
        </p:nvSpPr>
        <p:spPr>
          <a:xfrm>
            <a:off x="9800025" y="4828726"/>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connaît-elle de l’opposition extérieure? De qui ? Pourquoi ? </a:t>
            </a:r>
          </a:p>
        </p:txBody>
      </p:sp>
      <p:sp>
        <p:nvSpPr>
          <p:cNvPr id="125" name="Rectangle 124">
            <a:extLst>
              <a:ext uri="{FF2B5EF4-FFF2-40B4-BE49-F238E27FC236}">
                <a16:creationId xmlns:a16="http://schemas.microsoft.com/office/drawing/2014/main" id="{641FA359-9E34-78A5-D6D7-C26CFDE48986}"/>
              </a:ext>
            </a:extLst>
          </p:cNvPr>
          <p:cNvSpPr/>
          <p:nvPr/>
        </p:nvSpPr>
        <p:spPr>
          <a:xfrm>
            <a:off x="7436236" y="5777231"/>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qui rend difficile l’acquisition d’informations clé ? </a:t>
            </a:r>
          </a:p>
        </p:txBody>
      </p:sp>
      <p:sp>
        <p:nvSpPr>
          <p:cNvPr id="126" name="Rectangle 125">
            <a:extLst>
              <a:ext uri="{FF2B5EF4-FFF2-40B4-BE49-F238E27FC236}">
                <a16:creationId xmlns:a16="http://schemas.microsoft.com/office/drawing/2014/main" id="{23030D44-743F-1476-5FE6-29947B3ED3D1}"/>
              </a:ext>
            </a:extLst>
          </p:cNvPr>
          <p:cNvSpPr/>
          <p:nvPr/>
        </p:nvSpPr>
        <p:spPr>
          <a:xfrm>
            <a:off x="3887265" y="5777230"/>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connaît-elle des limites liées à la trésorerie ? Aux revenus ?</a:t>
            </a:r>
          </a:p>
        </p:txBody>
      </p:sp>
      <p:sp>
        <p:nvSpPr>
          <p:cNvPr id="127" name="Rectangle 126">
            <a:extLst>
              <a:ext uri="{FF2B5EF4-FFF2-40B4-BE49-F238E27FC236}">
                <a16:creationId xmlns:a16="http://schemas.microsoft.com/office/drawing/2014/main" id="{4B2EC5C7-8F6E-5806-AC7B-EA7EC705D53B}"/>
              </a:ext>
            </a:extLst>
          </p:cNvPr>
          <p:cNvSpPr/>
          <p:nvPr/>
        </p:nvSpPr>
        <p:spPr>
          <a:xfrm>
            <a:off x="5088326" y="5780947"/>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Qu’est-ce qui fait qu’entre deux moments Communautaires, les membres oublient la Communauté ?</a:t>
            </a:r>
          </a:p>
        </p:txBody>
      </p:sp>
      <p:sp>
        <p:nvSpPr>
          <p:cNvPr id="128" name="Rectangle 127">
            <a:extLst>
              <a:ext uri="{FF2B5EF4-FFF2-40B4-BE49-F238E27FC236}">
                <a16:creationId xmlns:a16="http://schemas.microsoft.com/office/drawing/2014/main" id="{3444C860-B323-90AB-A676-202CE90FE5A1}"/>
              </a:ext>
            </a:extLst>
          </p:cNvPr>
          <p:cNvSpPr/>
          <p:nvPr/>
        </p:nvSpPr>
        <p:spPr>
          <a:xfrm>
            <a:off x="1469617" y="3880220"/>
            <a:ext cx="1107924" cy="865577"/>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Avez-vous mis de côté ou éliminé certaines idées d’activités à cause du matériel?</a:t>
            </a:r>
          </a:p>
        </p:txBody>
      </p:sp>
      <p:sp>
        <p:nvSpPr>
          <p:cNvPr id="72" name="Rectangle 71">
            <a:extLst>
              <a:ext uri="{FF2B5EF4-FFF2-40B4-BE49-F238E27FC236}">
                <a16:creationId xmlns:a16="http://schemas.microsoft.com/office/drawing/2014/main" id="{53C78BCB-4C41-9065-5B75-54E3E1E098D8}"/>
              </a:ext>
            </a:extLst>
          </p:cNvPr>
          <p:cNvSpPr/>
          <p:nvPr/>
        </p:nvSpPr>
        <p:spPr>
          <a:xfrm>
            <a:off x="8625116" y="2926421"/>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Sur quels objectifs est-ce que les membres se sont-ils mis d’accord ? </a:t>
            </a:r>
          </a:p>
        </p:txBody>
      </p:sp>
      <p:sp>
        <p:nvSpPr>
          <p:cNvPr id="75" name="Titre 1">
            <a:extLst>
              <a:ext uri="{FF2B5EF4-FFF2-40B4-BE49-F238E27FC236}">
                <a16:creationId xmlns:a16="http://schemas.microsoft.com/office/drawing/2014/main" id="{15701B14-F4BC-467A-9521-E4FB3ABA0C42}"/>
              </a:ext>
            </a:extLst>
          </p:cNvPr>
          <p:cNvSpPr>
            <a:spLocks noGrp="1"/>
          </p:cNvSpPr>
          <p:nvPr>
            <p:ph type="title"/>
          </p:nvPr>
        </p:nvSpPr>
        <p:spPr>
          <a:xfrm>
            <a:off x="956364" y="161609"/>
            <a:ext cx="9772650" cy="995907"/>
          </a:xfrm>
        </p:spPr>
        <p:txBody>
          <a:bodyPr>
            <a:normAutofit/>
          </a:bodyPr>
          <a:lstStyle/>
          <a:p>
            <a:r>
              <a:rPr lang="fr-FR" sz="2800" b="1" dirty="0"/>
              <a:t>Renseignement délibéré : </a:t>
            </a:r>
            <a:r>
              <a:rPr lang="fr-FR" sz="2800" dirty="0"/>
              <a:t>Exemples de questions à poser – blocages et valeur pour les ressources</a:t>
            </a:r>
          </a:p>
        </p:txBody>
      </p:sp>
    </p:spTree>
    <p:extLst>
      <p:ext uri="{BB962C8B-B14F-4D97-AF65-F5344CB8AC3E}">
        <p14:creationId xmlns:p14="http://schemas.microsoft.com/office/powerpoint/2010/main" val="554314884"/>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 name="Groupe 87">
            <a:extLst>
              <a:ext uri="{FF2B5EF4-FFF2-40B4-BE49-F238E27FC236}">
                <a16:creationId xmlns:a16="http://schemas.microsoft.com/office/drawing/2014/main" id="{2E5172DC-B0C8-F79F-7857-6D71DC21B16F}"/>
              </a:ext>
            </a:extLst>
          </p:cNvPr>
          <p:cNvGrpSpPr/>
          <p:nvPr/>
        </p:nvGrpSpPr>
        <p:grpSpPr>
          <a:xfrm>
            <a:off x="9882981" y="2827825"/>
            <a:ext cx="1991465" cy="2442209"/>
            <a:chOff x="8860995" y="282959"/>
            <a:chExt cx="3407094" cy="4178249"/>
          </a:xfrm>
          <a:solidFill>
            <a:schemeClr val="tx1"/>
          </a:solidFill>
        </p:grpSpPr>
        <p:pic>
          <p:nvPicPr>
            <p:cNvPr id="89" name="Graphique 88" descr="Diagramme de flux avec un remplissage uni">
              <a:extLst>
                <a:ext uri="{FF2B5EF4-FFF2-40B4-BE49-F238E27FC236}">
                  <a16:creationId xmlns:a16="http://schemas.microsoft.com/office/drawing/2014/main" id="{7B1FA9F2-0968-F40A-1D16-D178049692A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90" name="Groupe 89">
              <a:extLst>
                <a:ext uri="{FF2B5EF4-FFF2-40B4-BE49-F238E27FC236}">
                  <a16:creationId xmlns:a16="http://schemas.microsoft.com/office/drawing/2014/main" id="{E5A8A27F-179A-F6BD-2251-1C4E19678125}"/>
                </a:ext>
              </a:extLst>
            </p:cNvPr>
            <p:cNvGrpSpPr/>
            <p:nvPr/>
          </p:nvGrpSpPr>
          <p:grpSpPr>
            <a:xfrm>
              <a:off x="8860995" y="282959"/>
              <a:ext cx="3360434" cy="4178249"/>
              <a:chOff x="8860995" y="282959"/>
              <a:chExt cx="3360434" cy="4178249"/>
            </a:xfrm>
            <a:grpFill/>
          </p:grpSpPr>
          <p:pic>
            <p:nvPicPr>
              <p:cNvPr id="91" name="Graphique 90" descr="Diagramme de flux avec un remplissage uni">
                <a:extLst>
                  <a:ext uri="{FF2B5EF4-FFF2-40B4-BE49-F238E27FC236}">
                    <a16:creationId xmlns:a16="http://schemas.microsoft.com/office/drawing/2014/main" id="{B76C4A38-7052-01CB-E58C-ABA99B61EF6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92" name="Graphique 91" descr="Diagramme de flux avec un remplissage uni">
                <a:extLst>
                  <a:ext uri="{FF2B5EF4-FFF2-40B4-BE49-F238E27FC236}">
                    <a16:creationId xmlns:a16="http://schemas.microsoft.com/office/drawing/2014/main" id="{F5B5FF72-9CA0-1165-5FAF-8FDFA191CFE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93" name="Graphique 92" descr="Diagramme de flux avec un remplissage uni">
                <a:extLst>
                  <a:ext uri="{FF2B5EF4-FFF2-40B4-BE49-F238E27FC236}">
                    <a16:creationId xmlns:a16="http://schemas.microsoft.com/office/drawing/2014/main" id="{324C79AA-6FD9-A7F4-44AE-41A7692655A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94" name="Graphique 93" descr="Diagramme de flux avec un remplissage uni">
                <a:extLst>
                  <a:ext uri="{FF2B5EF4-FFF2-40B4-BE49-F238E27FC236}">
                    <a16:creationId xmlns:a16="http://schemas.microsoft.com/office/drawing/2014/main" id="{6EF867F2-2F26-BB06-B8F6-B34C50FDE8E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95" name="Graphique 94" descr="Diagramme de flux avec un remplissage uni">
                <a:extLst>
                  <a:ext uri="{FF2B5EF4-FFF2-40B4-BE49-F238E27FC236}">
                    <a16:creationId xmlns:a16="http://schemas.microsoft.com/office/drawing/2014/main" id="{997830FD-EC9F-EFE5-5C8E-FA116DCEEBA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96" name="Graphique 95" descr="Diagramme de flux avec un remplissage uni">
                <a:extLst>
                  <a:ext uri="{FF2B5EF4-FFF2-40B4-BE49-F238E27FC236}">
                    <a16:creationId xmlns:a16="http://schemas.microsoft.com/office/drawing/2014/main" id="{5792D281-6FAB-D3E8-C460-CAB85D971A8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97" name="Graphique 96" descr="Diagramme de flux avec un remplissage uni">
                <a:extLst>
                  <a:ext uri="{FF2B5EF4-FFF2-40B4-BE49-F238E27FC236}">
                    <a16:creationId xmlns:a16="http://schemas.microsoft.com/office/drawing/2014/main" id="{C8E6E8AB-58CB-6C06-46E1-8511236153D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98" name="Graphique 97" descr="Diagramme de flux avec un remplissage uni">
                <a:extLst>
                  <a:ext uri="{FF2B5EF4-FFF2-40B4-BE49-F238E27FC236}">
                    <a16:creationId xmlns:a16="http://schemas.microsoft.com/office/drawing/2014/main" id="{0CA065C2-5333-B881-5A2A-90F775AACD7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99" name="Graphique 98" descr="Diagramme de flux avec un remplissage uni">
                <a:extLst>
                  <a:ext uri="{FF2B5EF4-FFF2-40B4-BE49-F238E27FC236}">
                    <a16:creationId xmlns:a16="http://schemas.microsoft.com/office/drawing/2014/main" id="{DE47146C-3725-4498-C000-060BA3C1869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100" name="Graphique 99" descr="Diagramme de flux avec un remplissage uni">
                <a:extLst>
                  <a:ext uri="{FF2B5EF4-FFF2-40B4-BE49-F238E27FC236}">
                    <a16:creationId xmlns:a16="http://schemas.microsoft.com/office/drawing/2014/main" id="{650109E2-F0BD-1507-0FFF-DE8FF3805DA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101" name="Graphique 100" descr="Diagramme de flux avec un remplissage uni">
                <a:extLst>
                  <a:ext uri="{FF2B5EF4-FFF2-40B4-BE49-F238E27FC236}">
                    <a16:creationId xmlns:a16="http://schemas.microsoft.com/office/drawing/2014/main" id="{474F6F3D-FE97-F4C5-318C-BEF8A4E0D94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102" name="Graphique 101" descr="Diagramme de flux avec un remplissage uni">
                <a:extLst>
                  <a:ext uri="{FF2B5EF4-FFF2-40B4-BE49-F238E27FC236}">
                    <a16:creationId xmlns:a16="http://schemas.microsoft.com/office/drawing/2014/main" id="{7C95C397-DC5B-0D73-9FED-6B3F3E398EB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103" name="Graphique 102" descr="Diagramme de flux avec un remplissage uni">
                <a:extLst>
                  <a:ext uri="{FF2B5EF4-FFF2-40B4-BE49-F238E27FC236}">
                    <a16:creationId xmlns:a16="http://schemas.microsoft.com/office/drawing/2014/main" id="{6A7585B3-E322-A0B4-649F-59609BC4EEF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104" name="Graphique 103" descr="Diagramme de flux avec un remplissage uni">
                <a:extLst>
                  <a:ext uri="{FF2B5EF4-FFF2-40B4-BE49-F238E27FC236}">
                    <a16:creationId xmlns:a16="http://schemas.microsoft.com/office/drawing/2014/main" id="{2234F2F6-6150-042D-34A5-435C0B32A6F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105" name="Graphique 104" descr="Diagramme de flux avec un remplissage uni">
                <a:extLst>
                  <a:ext uri="{FF2B5EF4-FFF2-40B4-BE49-F238E27FC236}">
                    <a16:creationId xmlns:a16="http://schemas.microsoft.com/office/drawing/2014/main" id="{1CBFCB62-8464-0D01-148C-1815779FE97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106" name="Graphique 105" descr="Diagramme de flux avec un remplissage uni">
                <a:extLst>
                  <a:ext uri="{FF2B5EF4-FFF2-40B4-BE49-F238E27FC236}">
                    <a16:creationId xmlns:a16="http://schemas.microsoft.com/office/drawing/2014/main" id="{FD435E30-A34F-C2A1-8FC2-D85231A6536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grpSp>
        <p:nvGrpSpPr>
          <p:cNvPr id="2" name="Groupe 1">
            <a:extLst>
              <a:ext uri="{FF2B5EF4-FFF2-40B4-BE49-F238E27FC236}">
                <a16:creationId xmlns:a16="http://schemas.microsoft.com/office/drawing/2014/main" id="{AF3FCAE7-C495-DDCE-691C-DD47693E734E}"/>
              </a:ext>
            </a:extLst>
          </p:cNvPr>
          <p:cNvGrpSpPr/>
          <p:nvPr/>
        </p:nvGrpSpPr>
        <p:grpSpPr>
          <a:xfrm>
            <a:off x="126762" y="2713561"/>
            <a:ext cx="2470601" cy="2081723"/>
            <a:chOff x="1002939" y="2686938"/>
            <a:chExt cx="2470601" cy="2081723"/>
          </a:xfrm>
        </p:grpSpPr>
        <p:sp>
          <p:nvSpPr>
            <p:cNvPr id="107" name="Forme libre : forme 106">
              <a:extLst>
                <a:ext uri="{FF2B5EF4-FFF2-40B4-BE49-F238E27FC236}">
                  <a16:creationId xmlns:a16="http://schemas.microsoft.com/office/drawing/2014/main" id="{ADA138BA-04D7-D611-C5EA-107136030AAC}"/>
                </a:ext>
              </a:extLst>
            </p:cNvPr>
            <p:cNvSpPr/>
            <p:nvPr/>
          </p:nvSpPr>
          <p:spPr>
            <a:xfrm>
              <a:off x="1002939" y="2686938"/>
              <a:ext cx="1846868" cy="121566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7620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08" name="Forme libre : forme 107">
              <a:extLst>
                <a:ext uri="{FF2B5EF4-FFF2-40B4-BE49-F238E27FC236}">
                  <a16:creationId xmlns:a16="http://schemas.microsoft.com/office/drawing/2014/main" id="{9BC62DA7-0774-D8DF-6DDD-812B3D8AF3E3}"/>
                </a:ext>
              </a:extLst>
            </p:cNvPr>
            <p:cNvSpPr/>
            <p:nvPr/>
          </p:nvSpPr>
          <p:spPr>
            <a:xfrm>
              <a:off x="2370656" y="3584340"/>
              <a:ext cx="1102884" cy="1184321"/>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7620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09" name="Forme libre : forme 108">
              <a:extLst>
                <a:ext uri="{FF2B5EF4-FFF2-40B4-BE49-F238E27FC236}">
                  <a16:creationId xmlns:a16="http://schemas.microsoft.com/office/drawing/2014/main" id="{96652759-F9B2-332D-18A3-5C0DA37363C7}"/>
                </a:ext>
              </a:extLst>
            </p:cNvPr>
            <p:cNvSpPr/>
            <p:nvPr/>
          </p:nvSpPr>
          <p:spPr>
            <a:xfrm>
              <a:off x="1080707" y="3543045"/>
              <a:ext cx="1482348" cy="598041"/>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7620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35" name="Titre 1">
            <a:extLst>
              <a:ext uri="{FF2B5EF4-FFF2-40B4-BE49-F238E27FC236}">
                <a16:creationId xmlns:a16="http://schemas.microsoft.com/office/drawing/2014/main" id="{A5618FAE-D13A-53DB-E0BF-00D114B23310}"/>
              </a:ext>
            </a:extLst>
          </p:cNvPr>
          <p:cNvSpPr txBox="1">
            <a:spLocks/>
          </p:cNvSpPr>
          <p:nvPr/>
        </p:nvSpPr>
        <p:spPr>
          <a:xfrm>
            <a:off x="126762" y="2065040"/>
            <a:ext cx="2584264"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Communautés d’entreprise </a:t>
            </a:r>
          </a:p>
        </p:txBody>
      </p:sp>
      <p:sp>
        <p:nvSpPr>
          <p:cNvPr id="136" name="Titre 1">
            <a:extLst>
              <a:ext uri="{FF2B5EF4-FFF2-40B4-BE49-F238E27FC236}">
                <a16:creationId xmlns:a16="http://schemas.microsoft.com/office/drawing/2014/main" id="{7989E85E-26C3-BA11-C4C3-BC285E5E0A48}"/>
              </a:ext>
            </a:extLst>
          </p:cNvPr>
          <p:cNvSpPr txBox="1">
            <a:spLocks/>
          </p:cNvSpPr>
          <p:nvPr/>
        </p:nvSpPr>
        <p:spPr>
          <a:xfrm>
            <a:off x="9371654" y="2094708"/>
            <a:ext cx="2792840" cy="59223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800" dirty="0"/>
              <a:t>Formats traditionnels (équipes, département, poste officiel etc.)</a:t>
            </a:r>
          </a:p>
        </p:txBody>
      </p:sp>
      <p:sp>
        <p:nvSpPr>
          <p:cNvPr id="137" name="Titre 1">
            <a:extLst>
              <a:ext uri="{FF2B5EF4-FFF2-40B4-BE49-F238E27FC236}">
                <a16:creationId xmlns:a16="http://schemas.microsoft.com/office/drawing/2014/main" id="{FE3F54C2-1B17-2A52-0AB9-0B09D89A80D9}"/>
              </a:ext>
            </a:extLst>
          </p:cNvPr>
          <p:cNvSpPr>
            <a:spLocks noGrp="1"/>
          </p:cNvSpPr>
          <p:nvPr>
            <p:ph type="title"/>
          </p:nvPr>
        </p:nvSpPr>
        <p:spPr>
          <a:xfrm>
            <a:off x="1312762" y="365125"/>
            <a:ext cx="10041038" cy="1325563"/>
          </a:xfrm>
        </p:spPr>
        <p:txBody>
          <a:bodyPr>
            <a:noAutofit/>
          </a:bodyPr>
          <a:lstStyle/>
          <a:p>
            <a:r>
              <a:rPr lang="fr-FR" sz="3200" b="1" dirty="0"/>
              <a:t>Renseignement délibéré : </a:t>
            </a:r>
            <a:r>
              <a:rPr lang="fr-FR" sz="3200" dirty="0"/>
              <a:t>Exemples de questions à poser – blocages et valeur en termes de format</a:t>
            </a:r>
          </a:p>
        </p:txBody>
      </p:sp>
      <p:grpSp>
        <p:nvGrpSpPr>
          <p:cNvPr id="29" name="Groupe 28">
            <a:extLst>
              <a:ext uri="{FF2B5EF4-FFF2-40B4-BE49-F238E27FC236}">
                <a16:creationId xmlns:a16="http://schemas.microsoft.com/office/drawing/2014/main" id="{6E1C65DA-181C-E630-E4C4-52E8ABE539A4}"/>
              </a:ext>
            </a:extLst>
          </p:cNvPr>
          <p:cNvGrpSpPr/>
          <p:nvPr/>
        </p:nvGrpSpPr>
        <p:grpSpPr>
          <a:xfrm>
            <a:off x="147728" y="4000299"/>
            <a:ext cx="1234754" cy="1117758"/>
            <a:chOff x="-4435634" y="3221970"/>
            <a:chExt cx="4325260" cy="3915430"/>
          </a:xfrm>
        </p:grpSpPr>
        <p:pic>
          <p:nvPicPr>
            <p:cNvPr id="30" name="Espace réservé du contenu 6" descr="Tribunal contour">
              <a:extLst>
                <a:ext uri="{FF2B5EF4-FFF2-40B4-BE49-F238E27FC236}">
                  <a16:creationId xmlns:a16="http://schemas.microsoft.com/office/drawing/2014/main" id="{2F8B8C90-0FFB-2E80-8563-14CBBB3F6790}"/>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12060" r="8805" b="62496"/>
            <a:stretch/>
          </p:blipFill>
          <p:spPr>
            <a:xfrm>
              <a:off x="-4435633" y="3221970"/>
              <a:ext cx="4325259" cy="1324928"/>
            </a:xfrm>
            <a:prstGeom prst="rect">
              <a:avLst/>
            </a:prstGeom>
          </p:spPr>
        </p:pic>
        <p:grpSp>
          <p:nvGrpSpPr>
            <p:cNvPr id="31" name="Groupe 30">
              <a:extLst>
                <a:ext uri="{FF2B5EF4-FFF2-40B4-BE49-F238E27FC236}">
                  <a16:creationId xmlns:a16="http://schemas.microsoft.com/office/drawing/2014/main" id="{6200D35A-E840-6BBE-637E-AA1D6AC2CF2C}"/>
                </a:ext>
              </a:extLst>
            </p:cNvPr>
            <p:cNvGrpSpPr/>
            <p:nvPr/>
          </p:nvGrpSpPr>
          <p:grpSpPr>
            <a:xfrm>
              <a:off x="-4435634" y="4520418"/>
              <a:ext cx="4325260" cy="2616982"/>
              <a:chOff x="-4435634" y="4520418"/>
              <a:chExt cx="4325260" cy="2616982"/>
            </a:xfrm>
          </p:grpSpPr>
          <p:pic>
            <p:nvPicPr>
              <p:cNvPr id="32" name="Espace réservé du contenu 6" descr="Tribunal contour">
                <a:extLst>
                  <a:ext uri="{FF2B5EF4-FFF2-40B4-BE49-F238E27FC236}">
                    <a16:creationId xmlns:a16="http://schemas.microsoft.com/office/drawing/2014/main" id="{DECB01E6-5041-064F-686E-DB9109DBA0E1}"/>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37523" r="8805" b="24898"/>
              <a:stretch/>
            </p:blipFill>
            <p:spPr>
              <a:xfrm>
                <a:off x="-4435633" y="4520418"/>
                <a:ext cx="4325259" cy="1956816"/>
              </a:xfrm>
              <a:prstGeom prst="rect">
                <a:avLst/>
              </a:prstGeom>
            </p:spPr>
          </p:pic>
          <p:pic>
            <p:nvPicPr>
              <p:cNvPr id="33" name="Graphique 32" descr="Réussite du groupe avec un remplissage uni">
                <a:extLst>
                  <a:ext uri="{FF2B5EF4-FFF2-40B4-BE49-F238E27FC236}">
                    <a16:creationId xmlns:a16="http://schemas.microsoft.com/office/drawing/2014/main" id="{F9AE94FC-E33D-0733-137F-9FB98D7C7155}"/>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3979" b="19010"/>
              <a:stretch/>
            </p:blipFill>
            <p:spPr>
              <a:xfrm>
                <a:off x="-3132680" y="5325090"/>
                <a:ext cx="1719352" cy="1152144"/>
              </a:xfrm>
              <a:prstGeom prst="rect">
                <a:avLst/>
              </a:prstGeom>
            </p:spPr>
          </p:pic>
          <p:pic>
            <p:nvPicPr>
              <p:cNvPr id="34" name="Espace réservé du contenu 6" descr="Tribunal contour">
                <a:extLst>
                  <a:ext uri="{FF2B5EF4-FFF2-40B4-BE49-F238E27FC236}">
                    <a16:creationId xmlns:a16="http://schemas.microsoft.com/office/drawing/2014/main" id="{4898D518-41DB-DEDA-BCC5-4ABE9ACD9CCD}"/>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l="8133" t="75103" r="8805" b="12219"/>
              <a:stretch/>
            </p:blipFill>
            <p:spPr>
              <a:xfrm>
                <a:off x="-4435634" y="6477233"/>
                <a:ext cx="4325259" cy="660167"/>
              </a:xfrm>
              <a:prstGeom prst="rect">
                <a:avLst/>
              </a:prstGeom>
            </p:spPr>
          </p:pic>
        </p:grpSp>
      </p:grpSp>
      <p:sp>
        <p:nvSpPr>
          <p:cNvPr id="3" name="Flèche : droite 2">
            <a:extLst>
              <a:ext uri="{FF2B5EF4-FFF2-40B4-BE49-F238E27FC236}">
                <a16:creationId xmlns:a16="http://schemas.microsoft.com/office/drawing/2014/main" id="{C83F12CD-818C-80BC-8E0C-8A62C2DC3BF2}"/>
              </a:ext>
            </a:extLst>
          </p:cNvPr>
          <p:cNvSpPr/>
          <p:nvPr/>
        </p:nvSpPr>
        <p:spPr>
          <a:xfrm>
            <a:off x="3093040" y="3457341"/>
            <a:ext cx="5846896" cy="513349"/>
          </a:xfrm>
          <a:prstGeom prst="rightArrow">
            <a:avLst>
              <a:gd name="adj1" fmla="val 50000"/>
              <a:gd name="adj2" fmla="val 288588"/>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100" b="1" dirty="0"/>
          </a:p>
        </p:txBody>
      </p:sp>
      <p:sp>
        <p:nvSpPr>
          <p:cNvPr id="37" name="Flèche : gauche 36">
            <a:extLst>
              <a:ext uri="{FF2B5EF4-FFF2-40B4-BE49-F238E27FC236}">
                <a16:creationId xmlns:a16="http://schemas.microsoft.com/office/drawing/2014/main" id="{394948C7-1197-5823-D312-5731CB027C3F}"/>
              </a:ext>
            </a:extLst>
          </p:cNvPr>
          <p:cNvSpPr/>
          <p:nvPr/>
        </p:nvSpPr>
        <p:spPr>
          <a:xfrm>
            <a:off x="3055680" y="4306640"/>
            <a:ext cx="5846896" cy="513349"/>
          </a:xfrm>
          <a:prstGeom prst="leftArrow">
            <a:avLst>
              <a:gd name="adj1" fmla="val 50000"/>
              <a:gd name="adj2" fmla="val 29512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100" b="1" dirty="0"/>
          </a:p>
        </p:txBody>
      </p:sp>
      <p:sp>
        <p:nvSpPr>
          <p:cNvPr id="48" name="Rectangle 47">
            <a:extLst>
              <a:ext uri="{FF2B5EF4-FFF2-40B4-BE49-F238E27FC236}">
                <a16:creationId xmlns:a16="http://schemas.microsoft.com/office/drawing/2014/main" id="{0B4B6D56-A9ED-DFDF-A608-B482A7D63214}"/>
              </a:ext>
            </a:extLst>
          </p:cNvPr>
          <p:cNvSpPr/>
          <p:nvPr/>
        </p:nvSpPr>
        <p:spPr>
          <a:xfrm>
            <a:off x="5220702" y="2493823"/>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Qu’est-ce qui limite l’autonomie de la Communauté ? A qui doit-elle rendre des comptes ? Sous quelle forme ?</a:t>
            </a:r>
          </a:p>
        </p:txBody>
      </p:sp>
      <p:sp>
        <p:nvSpPr>
          <p:cNvPr id="49" name="Rectangle 48">
            <a:extLst>
              <a:ext uri="{FF2B5EF4-FFF2-40B4-BE49-F238E27FC236}">
                <a16:creationId xmlns:a16="http://schemas.microsoft.com/office/drawing/2014/main" id="{4627AE3A-C727-0028-FAFF-50F574194608}"/>
              </a:ext>
            </a:extLst>
          </p:cNvPr>
          <p:cNvSpPr/>
          <p:nvPr/>
        </p:nvSpPr>
        <p:spPr>
          <a:xfrm>
            <a:off x="4055940" y="2493823"/>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Qu’est-ce qui pousserait la Communauté à s’officialiser en tant qu’équipe ?</a:t>
            </a:r>
          </a:p>
        </p:txBody>
      </p:sp>
      <p:sp>
        <p:nvSpPr>
          <p:cNvPr id="50" name="Rectangle 49">
            <a:extLst>
              <a:ext uri="{FF2B5EF4-FFF2-40B4-BE49-F238E27FC236}">
                <a16:creationId xmlns:a16="http://schemas.microsoft.com/office/drawing/2014/main" id="{0626B708-F61E-CFAD-F17C-A361A2AA4BA3}"/>
              </a:ext>
            </a:extLst>
          </p:cNvPr>
          <p:cNvSpPr/>
          <p:nvPr/>
        </p:nvSpPr>
        <p:spPr>
          <a:xfrm>
            <a:off x="6399340" y="2493823"/>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Pourquoi avoir fait une Communauté et pas tout simplement une équipe ?</a:t>
            </a:r>
          </a:p>
        </p:txBody>
      </p:sp>
      <p:sp>
        <p:nvSpPr>
          <p:cNvPr id="52" name="Rectangle 51">
            <a:extLst>
              <a:ext uri="{FF2B5EF4-FFF2-40B4-BE49-F238E27FC236}">
                <a16:creationId xmlns:a16="http://schemas.microsoft.com/office/drawing/2014/main" id="{A49B4173-EF9C-C6AC-F016-9888D657EF4A}"/>
              </a:ext>
            </a:extLst>
          </p:cNvPr>
          <p:cNvSpPr/>
          <p:nvPr/>
        </p:nvSpPr>
        <p:spPr>
          <a:xfrm>
            <a:off x="7584491" y="2493823"/>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Quelles activités dans la Communauté sont très détenues ou centralisées par des équipes existantes par ailleurs ?</a:t>
            </a:r>
          </a:p>
        </p:txBody>
      </p:sp>
      <p:sp>
        <p:nvSpPr>
          <p:cNvPr id="58" name="Rectangle 57">
            <a:extLst>
              <a:ext uri="{FF2B5EF4-FFF2-40B4-BE49-F238E27FC236}">
                <a16:creationId xmlns:a16="http://schemas.microsoft.com/office/drawing/2014/main" id="{C7B4DC62-1ADD-9DEF-34CA-39C5866B84BA}"/>
              </a:ext>
            </a:extLst>
          </p:cNvPr>
          <p:cNvSpPr/>
          <p:nvPr/>
        </p:nvSpPr>
        <p:spPr>
          <a:xfrm>
            <a:off x="5440950" y="4917198"/>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Pourquoi est-ce que la Communauté ne pourrait-elle PAS devenir une équipe ?</a:t>
            </a:r>
          </a:p>
        </p:txBody>
      </p:sp>
      <p:sp>
        <p:nvSpPr>
          <p:cNvPr id="59" name="Rectangle 58">
            <a:extLst>
              <a:ext uri="{FF2B5EF4-FFF2-40B4-BE49-F238E27FC236}">
                <a16:creationId xmlns:a16="http://schemas.microsoft.com/office/drawing/2014/main" id="{1CFF7C49-5797-5C8A-D079-D3E85A07F5CC}"/>
              </a:ext>
            </a:extLst>
          </p:cNvPr>
          <p:cNvSpPr/>
          <p:nvPr/>
        </p:nvSpPr>
        <p:spPr>
          <a:xfrm>
            <a:off x="4276188" y="4917198"/>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Quelles libertés ont les membres dans la Communauté et n’ont pas dans leurs équipes ?</a:t>
            </a:r>
          </a:p>
        </p:txBody>
      </p:sp>
      <p:sp>
        <p:nvSpPr>
          <p:cNvPr id="60" name="Rectangle 59">
            <a:extLst>
              <a:ext uri="{FF2B5EF4-FFF2-40B4-BE49-F238E27FC236}">
                <a16:creationId xmlns:a16="http://schemas.microsoft.com/office/drawing/2014/main" id="{83130C1F-89DD-827F-A000-408C568E66EE}"/>
              </a:ext>
            </a:extLst>
          </p:cNvPr>
          <p:cNvSpPr/>
          <p:nvPr/>
        </p:nvSpPr>
        <p:spPr>
          <a:xfrm>
            <a:off x="6619588" y="4917198"/>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Qu’est-ce qui est très transverse et multi-équipes dans la Communauté ?</a:t>
            </a:r>
          </a:p>
        </p:txBody>
      </p:sp>
      <p:sp>
        <p:nvSpPr>
          <p:cNvPr id="61" name="Rectangle 60">
            <a:extLst>
              <a:ext uri="{FF2B5EF4-FFF2-40B4-BE49-F238E27FC236}">
                <a16:creationId xmlns:a16="http://schemas.microsoft.com/office/drawing/2014/main" id="{9271D4B8-311A-FB11-EB54-D42AB0E288DB}"/>
              </a:ext>
            </a:extLst>
          </p:cNvPr>
          <p:cNvSpPr/>
          <p:nvPr/>
        </p:nvSpPr>
        <p:spPr>
          <a:xfrm>
            <a:off x="3093040" y="4917198"/>
            <a:ext cx="1107924" cy="865577"/>
          </a:xfrm>
          <a:prstGeom prst="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solidFill>
                  <a:schemeClr val="tx1"/>
                </a:solidFill>
              </a:rPr>
              <a:t>Quels sont les fonctionnements de la Communauté qui sont hérités de la façon dont sont gérées les équipes ? Cela bloque-t-il ?</a:t>
            </a:r>
          </a:p>
        </p:txBody>
      </p:sp>
      <p:grpSp>
        <p:nvGrpSpPr>
          <p:cNvPr id="5" name="Groupe 4">
            <a:extLst>
              <a:ext uri="{FF2B5EF4-FFF2-40B4-BE49-F238E27FC236}">
                <a16:creationId xmlns:a16="http://schemas.microsoft.com/office/drawing/2014/main" id="{5E741B99-31EB-A9D7-1A4B-00C03AB42B29}"/>
              </a:ext>
            </a:extLst>
          </p:cNvPr>
          <p:cNvGrpSpPr/>
          <p:nvPr/>
        </p:nvGrpSpPr>
        <p:grpSpPr>
          <a:xfrm>
            <a:off x="82962" y="326108"/>
            <a:ext cx="1229800" cy="1215667"/>
            <a:chOff x="-3726451" y="2933151"/>
            <a:chExt cx="1229800" cy="1215667"/>
          </a:xfrm>
        </p:grpSpPr>
        <p:grpSp>
          <p:nvGrpSpPr>
            <p:cNvPr id="63" name="Groupe 62">
              <a:extLst>
                <a:ext uri="{FF2B5EF4-FFF2-40B4-BE49-F238E27FC236}">
                  <a16:creationId xmlns:a16="http://schemas.microsoft.com/office/drawing/2014/main" id="{635D299E-2F0D-257B-EABA-5F5CDC09131E}"/>
                </a:ext>
              </a:extLst>
            </p:cNvPr>
            <p:cNvGrpSpPr/>
            <p:nvPr/>
          </p:nvGrpSpPr>
          <p:grpSpPr>
            <a:xfrm>
              <a:off x="-3568666" y="2933151"/>
              <a:ext cx="991299" cy="1215667"/>
              <a:chOff x="8860995" y="282959"/>
              <a:chExt cx="3407094" cy="4178249"/>
            </a:xfrm>
            <a:solidFill>
              <a:schemeClr val="tx1"/>
            </a:solidFill>
          </p:grpSpPr>
          <p:pic>
            <p:nvPicPr>
              <p:cNvPr id="64" name="Graphique 63" descr="Diagramme de flux avec un remplissage uni">
                <a:extLst>
                  <a:ext uri="{FF2B5EF4-FFF2-40B4-BE49-F238E27FC236}">
                    <a16:creationId xmlns:a16="http://schemas.microsoft.com/office/drawing/2014/main" id="{FA7B23E3-3F50-A3E9-3DE8-5D5135B3E89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53689" y="3108467"/>
                <a:ext cx="914400" cy="603649"/>
              </a:xfrm>
              <a:prstGeom prst="rect">
                <a:avLst/>
              </a:prstGeom>
            </p:spPr>
          </p:pic>
          <p:grpSp>
            <p:nvGrpSpPr>
              <p:cNvPr id="67" name="Groupe 66">
                <a:extLst>
                  <a:ext uri="{FF2B5EF4-FFF2-40B4-BE49-F238E27FC236}">
                    <a16:creationId xmlns:a16="http://schemas.microsoft.com/office/drawing/2014/main" id="{E868BA8E-E66E-9F2F-F975-AC1F9E0F9CF9}"/>
                  </a:ext>
                </a:extLst>
              </p:cNvPr>
              <p:cNvGrpSpPr/>
              <p:nvPr/>
            </p:nvGrpSpPr>
            <p:grpSpPr>
              <a:xfrm>
                <a:off x="8860995" y="282959"/>
                <a:ext cx="3360434" cy="4178249"/>
                <a:chOff x="8860995" y="282959"/>
                <a:chExt cx="3360434" cy="4178249"/>
              </a:xfrm>
              <a:grpFill/>
            </p:grpSpPr>
            <p:pic>
              <p:nvPicPr>
                <p:cNvPr id="68" name="Graphique 67" descr="Diagramme de flux avec un remplissage uni">
                  <a:extLst>
                    <a:ext uri="{FF2B5EF4-FFF2-40B4-BE49-F238E27FC236}">
                      <a16:creationId xmlns:a16="http://schemas.microsoft.com/office/drawing/2014/main" id="{6E5A7D4C-BA4E-B183-39F9-248641C5B0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85908" y="282959"/>
                  <a:ext cx="914400" cy="914400"/>
                </a:xfrm>
                <a:prstGeom prst="rect">
                  <a:avLst/>
                </a:prstGeom>
              </p:spPr>
            </p:pic>
            <p:pic>
              <p:nvPicPr>
                <p:cNvPr id="69" name="Graphique 68" descr="Diagramme de flux avec un remplissage uni">
                  <a:extLst>
                    <a:ext uri="{FF2B5EF4-FFF2-40B4-BE49-F238E27FC236}">
                      <a16:creationId xmlns:a16="http://schemas.microsoft.com/office/drawing/2014/main" id="{4F4030D3-E431-AC2D-8923-F7A1DE8DB35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013706"/>
                  <a:ext cx="914400" cy="603649"/>
                </a:xfrm>
                <a:prstGeom prst="rect">
                  <a:avLst/>
                </a:prstGeom>
              </p:spPr>
            </p:pic>
            <p:pic>
              <p:nvPicPr>
                <p:cNvPr id="70" name="Graphique 69" descr="Diagramme de flux avec un remplissage uni">
                  <a:extLst>
                    <a:ext uri="{FF2B5EF4-FFF2-40B4-BE49-F238E27FC236}">
                      <a16:creationId xmlns:a16="http://schemas.microsoft.com/office/drawing/2014/main" id="{63E3E356-6612-4B4B-C4A3-6F8A2573B94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460854" y="1453033"/>
                  <a:ext cx="914400" cy="603649"/>
                </a:xfrm>
                <a:prstGeom prst="rect">
                  <a:avLst/>
                </a:prstGeom>
              </p:spPr>
            </p:pic>
            <p:pic>
              <p:nvPicPr>
                <p:cNvPr id="71" name="Graphique 70" descr="Diagramme de flux avec un remplissage uni">
                  <a:extLst>
                    <a:ext uri="{FF2B5EF4-FFF2-40B4-BE49-F238E27FC236}">
                      <a16:creationId xmlns:a16="http://schemas.microsoft.com/office/drawing/2014/main" id="{3E134F8F-EB3B-A732-3529-51480552E71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154819" y="1868228"/>
                  <a:ext cx="914400" cy="603649"/>
                </a:xfrm>
                <a:prstGeom prst="rect">
                  <a:avLst/>
                </a:prstGeom>
              </p:spPr>
            </p:pic>
            <p:pic>
              <p:nvPicPr>
                <p:cNvPr id="72" name="Graphique 71" descr="Diagramme de flux avec un remplissage uni">
                  <a:extLst>
                    <a:ext uri="{FF2B5EF4-FFF2-40B4-BE49-F238E27FC236}">
                      <a16:creationId xmlns:a16="http://schemas.microsoft.com/office/drawing/2014/main" id="{3B75740E-98BF-4341-C561-AE7CCC6CEA9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9758979" y="1841293"/>
                  <a:ext cx="914400" cy="603649"/>
                </a:xfrm>
                <a:prstGeom prst="rect">
                  <a:avLst/>
                </a:prstGeom>
              </p:spPr>
            </p:pic>
            <p:pic>
              <p:nvPicPr>
                <p:cNvPr id="73" name="Graphique 72" descr="Diagramme de flux avec un remplissage uni">
                  <a:extLst>
                    <a:ext uri="{FF2B5EF4-FFF2-40B4-BE49-F238E27FC236}">
                      <a16:creationId xmlns:a16="http://schemas.microsoft.com/office/drawing/2014/main" id="{3B67C18F-83AD-EA29-C5BD-66ABCEFED00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8860995" y="2287625"/>
                  <a:ext cx="914400" cy="603649"/>
                </a:xfrm>
                <a:prstGeom prst="rect">
                  <a:avLst/>
                </a:prstGeom>
              </p:spPr>
            </p:pic>
            <p:pic>
              <p:nvPicPr>
                <p:cNvPr id="74" name="Graphique 73" descr="Diagramme de flux avec un remplissage uni">
                  <a:extLst>
                    <a:ext uri="{FF2B5EF4-FFF2-40B4-BE49-F238E27FC236}">
                      <a16:creationId xmlns:a16="http://schemas.microsoft.com/office/drawing/2014/main" id="{4225081E-40BD-4C72-6FFD-6010D6D86C3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412836" y="1004605"/>
                  <a:ext cx="914400" cy="603649"/>
                </a:xfrm>
                <a:prstGeom prst="rect">
                  <a:avLst/>
                </a:prstGeom>
              </p:spPr>
            </p:pic>
            <p:pic>
              <p:nvPicPr>
                <p:cNvPr id="75" name="Graphique 74" descr="Diagramme de flux avec un remplissage uni">
                  <a:extLst>
                    <a:ext uri="{FF2B5EF4-FFF2-40B4-BE49-F238E27FC236}">
                      <a16:creationId xmlns:a16="http://schemas.microsoft.com/office/drawing/2014/main" id="{11482F56-63FF-C6C3-8B34-C4DA01DAE26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23076" y="1403998"/>
                  <a:ext cx="914400" cy="603649"/>
                </a:xfrm>
                <a:prstGeom prst="rect">
                  <a:avLst/>
                </a:prstGeom>
              </p:spPr>
            </p:pic>
            <p:pic>
              <p:nvPicPr>
                <p:cNvPr id="76" name="Graphique 75" descr="Diagramme de flux avec un remplissage uni">
                  <a:extLst>
                    <a:ext uri="{FF2B5EF4-FFF2-40B4-BE49-F238E27FC236}">
                      <a16:creationId xmlns:a16="http://schemas.microsoft.com/office/drawing/2014/main" id="{38B4293D-EE9E-4667-E8D0-51CFF5342D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22751" y="2243336"/>
                  <a:ext cx="914400" cy="603649"/>
                </a:xfrm>
                <a:prstGeom prst="rect">
                  <a:avLst/>
                </a:prstGeom>
              </p:spPr>
            </p:pic>
            <p:pic>
              <p:nvPicPr>
                <p:cNvPr id="77" name="Graphique 76" descr="Diagramme de flux avec un remplissage uni">
                  <a:extLst>
                    <a:ext uri="{FF2B5EF4-FFF2-40B4-BE49-F238E27FC236}">
                      <a16:creationId xmlns:a16="http://schemas.microsoft.com/office/drawing/2014/main" id="{C98DAE2A-044B-B811-79D7-E991F18B021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34729" y="2661108"/>
                  <a:ext cx="914400" cy="603649"/>
                </a:xfrm>
                <a:prstGeom prst="rect">
                  <a:avLst/>
                </a:prstGeom>
              </p:spPr>
            </p:pic>
            <p:pic>
              <p:nvPicPr>
                <p:cNvPr id="78" name="Graphique 77" descr="Diagramme de flux avec un remplissage uni">
                  <a:extLst>
                    <a:ext uri="{FF2B5EF4-FFF2-40B4-BE49-F238E27FC236}">
                      <a16:creationId xmlns:a16="http://schemas.microsoft.com/office/drawing/2014/main" id="{C07B7355-E163-910A-7CB2-E3AA9A4C632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046261" y="3060336"/>
                  <a:ext cx="914400" cy="603649"/>
                </a:xfrm>
                <a:prstGeom prst="rect">
                  <a:avLst/>
                </a:prstGeom>
              </p:spPr>
            </p:pic>
            <p:pic>
              <p:nvPicPr>
                <p:cNvPr id="79" name="Graphique 78" descr="Diagramme de flux avec un remplissage uni">
                  <a:extLst>
                    <a:ext uri="{FF2B5EF4-FFF2-40B4-BE49-F238E27FC236}">
                      <a16:creationId xmlns:a16="http://schemas.microsoft.com/office/drawing/2014/main" id="{F11A46A8-00AE-FD40-7F45-A905B6F560D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21201" y="1809840"/>
                  <a:ext cx="914400" cy="603649"/>
                </a:xfrm>
                <a:prstGeom prst="rect">
                  <a:avLst/>
                </a:prstGeom>
              </p:spPr>
            </p:pic>
            <p:pic>
              <p:nvPicPr>
                <p:cNvPr id="80" name="Graphique 79" descr="Diagramme de flux avec un remplissage uni">
                  <a:extLst>
                    <a:ext uri="{FF2B5EF4-FFF2-40B4-BE49-F238E27FC236}">
                      <a16:creationId xmlns:a16="http://schemas.microsoft.com/office/drawing/2014/main" id="{FBE08DA1-3144-5E6E-8BA1-EF4A899B56E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307029" y="2255207"/>
                  <a:ext cx="914400" cy="603649"/>
                </a:xfrm>
                <a:prstGeom prst="rect">
                  <a:avLst/>
                </a:prstGeom>
              </p:spPr>
            </p:pic>
            <p:pic>
              <p:nvPicPr>
                <p:cNvPr id="81" name="Graphique 80" descr="Diagramme de flux avec un remplissage uni">
                  <a:extLst>
                    <a:ext uri="{FF2B5EF4-FFF2-40B4-BE49-F238E27FC236}">
                      <a16:creationId xmlns:a16="http://schemas.microsoft.com/office/drawing/2014/main" id="{D4D045DF-BF46-7CDD-69C6-398BD921232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39740" y="2681006"/>
                  <a:ext cx="914400" cy="603649"/>
                </a:xfrm>
                <a:prstGeom prst="rect">
                  <a:avLst/>
                </a:prstGeom>
              </p:spPr>
            </p:pic>
            <p:pic>
              <p:nvPicPr>
                <p:cNvPr id="82" name="Graphique 81" descr="Diagramme de flux avec un remplissage uni">
                  <a:extLst>
                    <a:ext uri="{FF2B5EF4-FFF2-40B4-BE49-F238E27FC236}">
                      <a16:creationId xmlns:a16="http://schemas.microsoft.com/office/drawing/2014/main" id="{85F5FB92-663E-16A1-05FB-158B9C91819A}"/>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1057840" y="3490451"/>
                  <a:ext cx="914400" cy="603649"/>
                </a:xfrm>
                <a:prstGeom prst="rect">
                  <a:avLst/>
                </a:prstGeom>
              </p:spPr>
            </p:pic>
            <p:pic>
              <p:nvPicPr>
                <p:cNvPr id="83" name="Graphique 82" descr="Diagramme de flux avec un remplissage uni">
                  <a:extLst>
                    <a:ext uri="{FF2B5EF4-FFF2-40B4-BE49-F238E27FC236}">
                      <a16:creationId xmlns:a16="http://schemas.microsoft.com/office/drawing/2014/main" id="{8DF4FB7D-0E75-D06C-D6EE-B6C000F8639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t="33984"/>
                <a:stretch/>
              </p:blipFill>
              <p:spPr>
                <a:xfrm>
                  <a:off x="10741017" y="3857559"/>
                  <a:ext cx="914400" cy="603649"/>
                </a:xfrm>
                <a:prstGeom prst="rect">
                  <a:avLst/>
                </a:prstGeom>
              </p:spPr>
            </p:pic>
          </p:grpSp>
        </p:grpSp>
        <p:sp>
          <p:nvSpPr>
            <p:cNvPr id="84" name="Forme libre : forme 83">
              <a:extLst>
                <a:ext uri="{FF2B5EF4-FFF2-40B4-BE49-F238E27FC236}">
                  <a16:creationId xmlns:a16="http://schemas.microsoft.com/office/drawing/2014/main" id="{B80E26C3-218D-453F-B8CB-3563FD83FEC0}"/>
                </a:ext>
              </a:extLst>
            </p:cNvPr>
            <p:cNvSpPr/>
            <p:nvPr/>
          </p:nvSpPr>
          <p:spPr>
            <a:xfrm>
              <a:off x="-3726451" y="3092070"/>
              <a:ext cx="919322" cy="60512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1905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 name="Forme libre : forme 84">
              <a:extLst>
                <a:ext uri="{FF2B5EF4-FFF2-40B4-BE49-F238E27FC236}">
                  <a16:creationId xmlns:a16="http://schemas.microsoft.com/office/drawing/2014/main" id="{02EA009B-803E-4236-3067-6E1D062658B7}"/>
                </a:ext>
              </a:extLst>
            </p:cNvPr>
            <p:cNvSpPr/>
            <p:nvPr/>
          </p:nvSpPr>
          <p:spPr>
            <a:xfrm>
              <a:off x="-3045638" y="3538773"/>
              <a:ext cx="548987" cy="589524"/>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1905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 name="Forme libre : forme 85">
              <a:extLst>
                <a:ext uri="{FF2B5EF4-FFF2-40B4-BE49-F238E27FC236}">
                  <a16:creationId xmlns:a16="http://schemas.microsoft.com/office/drawing/2014/main" id="{826B2684-EFE6-9B35-DBD3-BB55B3886216}"/>
                </a:ext>
              </a:extLst>
            </p:cNvPr>
            <p:cNvSpPr/>
            <p:nvPr/>
          </p:nvSpPr>
          <p:spPr>
            <a:xfrm>
              <a:off x="-3687740" y="3518217"/>
              <a:ext cx="737874" cy="297689"/>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1905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1119138964"/>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DEE560F-324E-9A1E-9A7A-807B5D33F118}"/>
              </a:ext>
            </a:extLst>
          </p:cNvPr>
          <p:cNvSpPr>
            <a:spLocks noGrp="1"/>
          </p:cNvSpPr>
          <p:nvPr>
            <p:ph type="title"/>
          </p:nvPr>
        </p:nvSpPr>
        <p:spPr>
          <a:xfrm>
            <a:off x="1390530" y="365126"/>
            <a:ext cx="9963270" cy="731662"/>
          </a:xfrm>
        </p:spPr>
        <p:txBody>
          <a:bodyPr>
            <a:noAutofit/>
          </a:bodyPr>
          <a:lstStyle/>
          <a:p>
            <a:r>
              <a:rPr lang="fr-FR" sz="2400" dirty="0"/>
              <a:t>Les blocages invitant à passer d’une approche à une autre </a:t>
            </a:r>
            <a:br>
              <a:rPr lang="fr-FR" sz="2400" dirty="0"/>
            </a:br>
            <a:r>
              <a:rPr lang="fr-FR" sz="2400" dirty="0"/>
              <a:t>Liste d’exemples</a:t>
            </a:r>
          </a:p>
        </p:txBody>
      </p:sp>
      <p:sp>
        <p:nvSpPr>
          <p:cNvPr id="57" name="Flèche : double flèche horizontale 56">
            <a:extLst>
              <a:ext uri="{FF2B5EF4-FFF2-40B4-BE49-F238E27FC236}">
                <a16:creationId xmlns:a16="http://schemas.microsoft.com/office/drawing/2014/main" id="{0F58E9E7-9BB8-0B12-90B6-A1CA1B8A2589}"/>
              </a:ext>
            </a:extLst>
          </p:cNvPr>
          <p:cNvSpPr/>
          <p:nvPr/>
        </p:nvSpPr>
        <p:spPr>
          <a:xfrm rot="5400000">
            <a:off x="3452838" y="3487063"/>
            <a:ext cx="5431214" cy="362093"/>
          </a:xfrm>
          <a:prstGeom prst="lef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58" name="Groupe 57">
            <a:extLst>
              <a:ext uri="{FF2B5EF4-FFF2-40B4-BE49-F238E27FC236}">
                <a16:creationId xmlns:a16="http://schemas.microsoft.com/office/drawing/2014/main" id="{382F5184-74BF-1060-335D-2D3D0FEC7248}"/>
              </a:ext>
            </a:extLst>
          </p:cNvPr>
          <p:cNvGrpSpPr/>
          <p:nvPr/>
        </p:nvGrpSpPr>
        <p:grpSpPr>
          <a:xfrm>
            <a:off x="5404615" y="1456018"/>
            <a:ext cx="1409636" cy="1188435"/>
            <a:chOff x="8982504" y="3274976"/>
            <a:chExt cx="1230670" cy="1037553"/>
          </a:xfrm>
          <a:solidFill>
            <a:srgbClr val="ED7D31"/>
          </a:solidFill>
        </p:grpSpPr>
        <p:pic>
          <p:nvPicPr>
            <p:cNvPr id="59" name="Graphique 58" descr="Utilisateur avec un remplissage uni">
              <a:extLst>
                <a:ext uri="{FF2B5EF4-FFF2-40B4-BE49-F238E27FC236}">
                  <a16:creationId xmlns:a16="http://schemas.microsoft.com/office/drawing/2014/main" id="{A27B56B9-D7E3-DC5C-12A7-C6228C6F07F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60" name="Graphique 59" descr="Utilisateur avec un remplissage uni">
              <a:extLst>
                <a:ext uri="{FF2B5EF4-FFF2-40B4-BE49-F238E27FC236}">
                  <a16:creationId xmlns:a16="http://schemas.microsoft.com/office/drawing/2014/main" id="{867C0C23-C915-977D-AD4F-8D4A3A8CF9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61" name="Graphique 60" descr="Utilisateur avec un remplissage uni">
              <a:extLst>
                <a:ext uri="{FF2B5EF4-FFF2-40B4-BE49-F238E27FC236}">
                  <a16:creationId xmlns:a16="http://schemas.microsoft.com/office/drawing/2014/main" id="{75D3D6AB-090D-ED61-5F4E-6AB2D6D910E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62" name="Graphique 61" descr="Utilisateur avec un remplissage uni">
              <a:extLst>
                <a:ext uri="{FF2B5EF4-FFF2-40B4-BE49-F238E27FC236}">
                  <a16:creationId xmlns:a16="http://schemas.microsoft.com/office/drawing/2014/main" id="{4DAC0A45-9E92-F8CD-E43F-A6A013AE8D3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63" name="Graphique 62" descr="Utilisateur avec un remplissage uni">
              <a:extLst>
                <a:ext uri="{FF2B5EF4-FFF2-40B4-BE49-F238E27FC236}">
                  <a16:creationId xmlns:a16="http://schemas.microsoft.com/office/drawing/2014/main" id="{F17307F1-D200-6606-B9E5-B218CE64E7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64" name="Graphique 63" descr="Utilisateur avec un remplissage uni">
              <a:extLst>
                <a:ext uri="{FF2B5EF4-FFF2-40B4-BE49-F238E27FC236}">
                  <a16:creationId xmlns:a16="http://schemas.microsoft.com/office/drawing/2014/main" id="{85D61B09-4C25-6A84-9A89-B9919B8C78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65" name="Graphique 64" descr="Utilisateur avec un remplissage uni">
              <a:extLst>
                <a:ext uri="{FF2B5EF4-FFF2-40B4-BE49-F238E27FC236}">
                  <a16:creationId xmlns:a16="http://schemas.microsoft.com/office/drawing/2014/main" id="{89B9D389-BB34-C31C-556C-2FF3CD68E48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66" name="Graphique 65" descr="Utilisateur avec un remplissage uni">
              <a:extLst>
                <a:ext uri="{FF2B5EF4-FFF2-40B4-BE49-F238E27FC236}">
                  <a16:creationId xmlns:a16="http://schemas.microsoft.com/office/drawing/2014/main" id="{F3E0318C-5F2C-E766-2317-0DEBF38C273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67" name="Graphique 66" descr="Utilisateur avec un remplissage uni">
              <a:extLst>
                <a:ext uri="{FF2B5EF4-FFF2-40B4-BE49-F238E27FC236}">
                  <a16:creationId xmlns:a16="http://schemas.microsoft.com/office/drawing/2014/main" id="{A65B93B4-1AD3-7EEC-6373-F9D5815418A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68" name="Graphique 67" descr="Utilisateur avec un remplissage uni">
              <a:extLst>
                <a:ext uri="{FF2B5EF4-FFF2-40B4-BE49-F238E27FC236}">
                  <a16:creationId xmlns:a16="http://schemas.microsoft.com/office/drawing/2014/main" id="{8773DF0D-B6DD-BE8D-A98C-5A096D630FE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69" name="Graphique 68" descr="Utilisateur avec un remplissage uni">
              <a:extLst>
                <a:ext uri="{FF2B5EF4-FFF2-40B4-BE49-F238E27FC236}">
                  <a16:creationId xmlns:a16="http://schemas.microsoft.com/office/drawing/2014/main" id="{FE7231DB-1E8D-2B9C-11C9-2941BDB080C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70" name="Graphique 69" descr="Utilisateur avec un remplissage uni">
            <a:extLst>
              <a:ext uri="{FF2B5EF4-FFF2-40B4-BE49-F238E27FC236}">
                <a16:creationId xmlns:a16="http://schemas.microsoft.com/office/drawing/2014/main" id="{9F62980A-40B6-FAAD-4078-B001B315E0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49653" y="5353773"/>
            <a:ext cx="384935" cy="384935"/>
          </a:xfrm>
          <a:prstGeom prst="rect">
            <a:avLst/>
          </a:prstGeom>
        </p:spPr>
      </p:pic>
      <p:grpSp>
        <p:nvGrpSpPr>
          <p:cNvPr id="71" name="Groupe 70">
            <a:extLst>
              <a:ext uri="{FF2B5EF4-FFF2-40B4-BE49-F238E27FC236}">
                <a16:creationId xmlns:a16="http://schemas.microsoft.com/office/drawing/2014/main" id="{38314FC3-83AD-E3DD-69EE-9D44F11AAF2B}"/>
              </a:ext>
            </a:extLst>
          </p:cNvPr>
          <p:cNvGrpSpPr/>
          <p:nvPr/>
        </p:nvGrpSpPr>
        <p:grpSpPr>
          <a:xfrm>
            <a:off x="5503008" y="3425026"/>
            <a:ext cx="993720" cy="1024122"/>
            <a:chOff x="9345616" y="3418428"/>
            <a:chExt cx="867558" cy="894101"/>
          </a:xfrm>
          <a:solidFill>
            <a:srgbClr val="ED7D31"/>
          </a:solidFill>
        </p:grpSpPr>
        <p:pic>
          <p:nvPicPr>
            <p:cNvPr id="72" name="Graphique 71" descr="Utilisateur avec un remplissage uni">
              <a:extLst>
                <a:ext uri="{FF2B5EF4-FFF2-40B4-BE49-F238E27FC236}">
                  <a16:creationId xmlns:a16="http://schemas.microsoft.com/office/drawing/2014/main" id="{4F8FA9B5-771A-AB3A-391D-EA39432BB5B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73" name="Graphique 72" descr="Utilisateur avec un remplissage uni">
              <a:extLst>
                <a:ext uri="{FF2B5EF4-FFF2-40B4-BE49-F238E27FC236}">
                  <a16:creationId xmlns:a16="http://schemas.microsoft.com/office/drawing/2014/main" id="{2BD09AFB-599C-9386-00A8-C5AC6CAF144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74" name="Graphique 73" descr="Utilisateur avec un remplissage uni">
              <a:extLst>
                <a:ext uri="{FF2B5EF4-FFF2-40B4-BE49-F238E27FC236}">
                  <a16:creationId xmlns:a16="http://schemas.microsoft.com/office/drawing/2014/main" id="{ADA3112A-A80F-D966-ECF2-66B498FE2C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75" name="Graphique 74" descr="Utilisateur avec un remplissage uni">
              <a:extLst>
                <a:ext uri="{FF2B5EF4-FFF2-40B4-BE49-F238E27FC236}">
                  <a16:creationId xmlns:a16="http://schemas.microsoft.com/office/drawing/2014/main" id="{B6E386FD-D9FB-204C-8CD1-1EBAA7ED5C9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76" name="Graphique 75" descr="Utilisateur avec un remplissage uni">
              <a:extLst>
                <a:ext uri="{FF2B5EF4-FFF2-40B4-BE49-F238E27FC236}">
                  <a16:creationId xmlns:a16="http://schemas.microsoft.com/office/drawing/2014/main" id="{B18115A8-DC68-5608-0B45-64AF07A5B83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77" name="Graphique 76" descr="Utilisateur avec un remplissage uni">
              <a:extLst>
                <a:ext uri="{FF2B5EF4-FFF2-40B4-BE49-F238E27FC236}">
                  <a16:creationId xmlns:a16="http://schemas.microsoft.com/office/drawing/2014/main" id="{6CE9A41C-C24C-A843-8F75-D538493B5D7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grpSp>
      <p:pic>
        <p:nvPicPr>
          <p:cNvPr id="78" name="Graphique 77" descr="Calendrier journalier avec un remplissage uni">
            <a:extLst>
              <a:ext uri="{FF2B5EF4-FFF2-40B4-BE49-F238E27FC236}">
                <a16:creationId xmlns:a16="http://schemas.microsoft.com/office/drawing/2014/main" id="{6DDFFF10-5078-805D-9579-D7E1FD07EB8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84190" y="3509605"/>
            <a:ext cx="451308" cy="451308"/>
          </a:xfrm>
          <a:prstGeom prst="rect">
            <a:avLst/>
          </a:prstGeom>
        </p:spPr>
      </p:pic>
      <p:pic>
        <p:nvPicPr>
          <p:cNvPr id="79" name="Graphique 78" descr="Utilisateur avec un remplissage uni">
            <a:extLst>
              <a:ext uri="{FF2B5EF4-FFF2-40B4-BE49-F238E27FC236}">
                <a16:creationId xmlns:a16="http://schemas.microsoft.com/office/drawing/2014/main" id="{2D447ED1-A736-26D5-3FF2-698C9000330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511522" y="6007813"/>
            <a:ext cx="384935" cy="384935"/>
          </a:xfrm>
          <a:prstGeom prst="rect">
            <a:avLst/>
          </a:prstGeom>
        </p:spPr>
      </p:pic>
      <p:pic>
        <p:nvPicPr>
          <p:cNvPr id="80" name="Graphique 79" descr="Utilisateur avec un remplissage uni">
            <a:extLst>
              <a:ext uri="{FF2B5EF4-FFF2-40B4-BE49-F238E27FC236}">
                <a16:creationId xmlns:a16="http://schemas.microsoft.com/office/drawing/2014/main" id="{6009EF81-9F33-D1B7-1A13-E1BC1A8D82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375271" y="5998782"/>
            <a:ext cx="384935" cy="384935"/>
          </a:xfrm>
          <a:prstGeom prst="rect">
            <a:avLst/>
          </a:prstGeom>
        </p:spPr>
      </p:pic>
      <p:pic>
        <p:nvPicPr>
          <p:cNvPr id="81" name="Graphique 80" descr="Utilisateur avec un remplissage uni">
            <a:extLst>
              <a:ext uri="{FF2B5EF4-FFF2-40B4-BE49-F238E27FC236}">
                <a16:creationId xmlns:a16="http://schemas.microsoft.com/office/drawing/2014/main" id="{40C73136-637A-D31D-E58F-45805ED2D24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150564" y="5306364"/>
            <a:ext cx="384935" cy="384935"/>
          </a:xfrm>
          <a:prstGeom prst="rect">
            <a:avLst/>
          </a:prstGeom>
        </p:spPr>
      </p:pic>
      <p:sp>
        <p:nvSpPr>
          <p:cNvPr id="3" name="Flèche : bas 2">
            <a:extLst>
              <a:ext uri="{FF2B5EF4-FFF2-40B4-BE49-F238E27FC236}">
                <a16:creationId xmlns:a16="http://schemas.microsoft.com/office/drawing/2014/main" id="{750729E3-B48F-88C2-C72B-36EBF791822F}"/>
              </a:ext>
            </a:extLst>
          </p:cNvPr>
          <p:cNvSpPr/>
          <p:nvPr/>
        </p:nvSpPr>
        <p:spPr>
          <a:xfrm>
            <a:off x="6880137" y="2704452"/>
            <a:ext cx="485734" cy="731661"/>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7" name="Flèche : bas 96">
            <a:extLst>
              <a:ext uri="{FF2B5EF4-FFF2-40B4-BE49-F238E27FC236}">
                <a16:creationId xmlns:a16="http://schemas.microsoft.com/office/drawing/2014/main" id="{3E07BF96-9457-FFF3-359E-89D9CB0F8114}"/>
              </a:ext>
            </a:extLst>
          </p:cNvPr>
          <p:cNvSpPr/>
          <p:nvPr/>
        </p:nvSpPr>
        <p:spPr>
          <a:xfrm rot="10800000">
            <a:off x="4751473" y="2684640"/>
            <a:ext cx="485734" cy="74038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8" name="Flèche : bas 97">
            <a:extLst>
              <a:ext uri="{FF2B5EF4-FFF2-40B4-BE49-F238E27FC236}">
                <a16:creationId xmlns:a16="http://schemas.microsoft.com/office/drawing/2014/main" id="{21AA1AB3-1646-1D35-4F6D-824B1BA7FA88}"/>
              </a:ext>
            </a:extLst>
          </p:cNvPr>
          <p:cNvSpPr/>
          <p:nvPr/>
        </p:nvSpPr>
        <p:spPr>
          <a:xfrm>
            <a:off x="6867434" y="4767170"/>
            <a:ext cx="485734" cy="731661"/>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9" name="Flèche : bas 98">
            <a:extLst>
              <a:ext uri="{FF2B5EF4-FFF2-40B4-BE49-F238E27FC236}">
                <a16:creationId xmlns:a16="http://schemas.microsoft.com/office/drawing/2014/main" id="{B2DFBDFB-08E5-FED9-78E5-18A7D8E0A9F1}"/>
              </a:ext>
            </a:extLst>
          </p:cNvPr>
          <p:cNvSpPr/>
          <p:nvPr/>
        </p:nvSpPr>
        <p:spPr>
          <a:xfrm rot="10800000">
            <a:off x="4754366" y="4668574"/>
            <a:ext cx="485734" cy="721940"/>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Rectangle 37">
            <a:extLst>
              <a:ext uri="{FF2B5EF4-FFF2-40B4-BE49-F238E27FC236}">
                <a16:creationId xmlns:a16="http://schemas.microsoft.com/office/drawing/2014/main" id="{7C656117-0AD9-7C57-4E70-DF1B9B22D1F7}"/>
              </a:ext>
            </a:extLst>
          </p:cNvPr>
          <p:cNvSpPr/>
          <p:nvPr/>
        </p:nvSpPr>
        <p:spPr>
          <a:xfrm>
            <a:off x="9197272" y="1950422"/>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se projettent-ils un futur commun ? Si oui, à quel horizon ? Quelle importance a ce futur pour eux ?</a:t>
            </a:r>
          </a:p>
        </p:txBody>
      </p:sp>
      <p:sp>
        <p:nvSpPr>
          <p:cNvPr id="39" name="Rectangle 38">
            <a:extLst>
              <a:ext uri="{FF2B5EF4-FFF2-40B4-BE49-F238E27FC236}">
                <a16:creationId xmlns:a16="http://schemas.microsoft.com/office/drawing/2014/main" id="{DD9DC7A0-47F3-4377-313C-EAEA639E7927}"/>
              </a:ext>
            </a:extLst>
          </p:cNvPr>
          <p:cNvSpPr/>
          <p:nvPr/>
        </p:nvSpPr>
        <p:spPr>
          <a:xfrm>
            <a:off x="9198382" y="1067050"/>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tissent-ils vraiment des relations entre eux ou bien sont-ils plutôt à consommer des événements ?</a:t>
            </a:r>
          </a:p>
        </p:txBody>
      </p:sp>
      <p:sp>
        <p:nvSpPr>
          <p:cNvPr id="40" name="Rectangle 39">
            <a:extLst>
              <a:ext uri="{FF2B5EF4-FFF2-40B4-BE49-F238E27FC236}">
                <a16:creationId xmlns:a16="http://schemas.microsoft.com/office/drawing/2014/main" id="{8133E6D1-B26F-314A-2B38-298F186A7084}"/>
              </a:ext>
            </a:extLst>
          </p:cNvPr>
          <p:cNvSpPr/>
          <p:nvPr/>
        </p:nvSpPr>
        <p:spPr>
          <a:xfrm>
            <a:off x="7955128" y="1950422"/>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La Communauté parvient-elle à garder du lien entre les événements ?</a:t>
            </a:r>
          </a:p>
        </p:txBody>
      </p:sp>
      <p:sp>
        <p:nvSpPr>
          <p:cNvPr id="45" name="Rectangle 44">
            <a:extLst>
              <a:ext uri="{FF2B5EF4-FFF2-40B4-BE49-F238E27FC236}">
                <a16:creationId xmlns:a16="http://schemas.microsoft.com/office/drawing/2014/main" id="{1E26613A-128B-76A7-6E6C-92FC080FE9FB}"/>
              </a:ext>
            </a:extLst>
          </p:cNvPr>
          <p:cNvSpPr/>
          <p:nvPr/>
        </p:nvSpPr>
        <p:spPr>
          <a:xfrm>
            <a:off x="7955128" y="1061428"/>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ont-ils des motivations communes au-delà des événements ?</a:t>
            </a:r>
          </a:p>
        </p:txBody>
      </p:sp>
      <p:sp>
        <p:nvSpPr>
          <p:cNvPr id="47" name="Rectangle 46">
            <a:extLst>
              <a:ext uri="{FF2B5EF4-FFF2-40B4-BE49-F238E27FC236}">
                <a16:creationId xmlns:a16="http://schemas.microsoft.com/office/drawing/2014/main" id="{1711153C-B5A5-8A4E-2CAF-BB589178B89D}"/>
              </a:ext>
            </a:extLst>
          </p:cNvPr>
          <p:cNvSpPr/>
          <p:nvPr/>
        </p:nvSpPr>
        <p:spPr>
          <a:xfrm>
            <a:off x="9197272" y="4261672"/>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 est la part de questions spécifiques aux individus dans la Communauté ? </a:t>
            </a:r>
          </a:p>
        </p:txBody>
      </p:sp>
      <p:sp>
        <p:nvSpPr>
          <p:cNvPr id="49" name="Rectangle 48">
            <a:extLst>
              <a:ext uri="{FF2B5EF4-FFF2-40B4-BE49-F238E27FC236}">
                <a16:creationId xmlns:a16="http://schemas.microsoft.com/office/drawing/2014/main" id="{7E380445-DEEE-CF5D-F627-DC2A2D0E5F08}"/>
              </a:ext>
            </a:extLst>
          </p:cNvPr>
          <p:cNvSpPr/>
          <p:nvPr/>
        </p:nvSpPr>
        <p:spPr>
          <a:xfrm>
            <a:off x="7955128" y="4261672"/>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A-t-on les moyens ou les délais de réunir tous les membres plutôt que d’aller voir chacun individuellement ?</a:t>
            </a:r>
          </a:p>
        </p:txBody>
      </p:sp>
      <p:sp>
        <p:nvSpPr>
          <p:cNvPr id="51" name="Rectangle 50">
            <a:extLst>
              <a:ext uri="{FF2B5EF4-FFF2-40B4-BE49-F238E27FC236}">
                <a16:creationId xmlns:a16="http://schemas.microsoft.com/office/drawing/2014/main" id="{947B8E8B-D415-1501-7740-3FC9594BB285}"/>
              </a:ext>
            </a:extLst>
          </p:cNvPr>
          <p:cNvSpPr/>
          <p:nvPr/>
        </p:nvSpPr>
        <p:spPr>
          <a:xfrm>
            <a:off x="9197272" y="3372677"/>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ont-ils une disponibilité commune suffisamment proche pour pouvoir tous se retrouver ?</a:t>
            </a:r>
          </a:p>
        </p:txBody>
      </p:sp>
      <p:sp>
        <p:nvSpPr>
          <p:cNvPr id="53" name="Rectangle 52">
            <a:extLst>
              <a:ext uri="{FF2B5EF4-FFF2-40B4-BE49-F238E27FC236}">
                <a16:creationId xmlns:a16="http://schemas.microsoft.com/office/drawing/2014/main" id="{374E5A50-8D56-307D-D361-D8D4AA440867}"/>
              </a:ext>
            </a:extLst>
          </p:cNvPr>
          <p:cNvSpPr/>
          <p:nvPr/>
        </p:nvSpPr>
        <p:spPr>
          <a:xfrm>
            <a:off x="7955128" y="3372677"/>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ont-ils du mal à s’exprimer ou s’exposer en groupes sur certains sujets ?</a:t>
            </a:r>
          </a:p>
        </p:txBody>
      </p:sp>
      <p:sp>
        <p:nvSpPr>
          <p:cNvPr id="102" name="Rectangle 101">
            <a:extLst>
              <a:ext uri="{FF2B5EF4-FFF2-40B4-BE49-F238E27FC236}">
                <a16:creationId xmlns:a16="http://schemas.microsoft.com/office/drawing/2014/main" id="{A24B8807-F9B3-FE55-D65E-2D70786FD5ED}"/>
              </a:ext>
            </a:extLst>
          </p:cNvPr>
          <p:cNvSpPr/>
          <p:nvPr/>
        </p:nvSpPr>
        <p:spPr>
          <a:xfrm>
            <a:off x="2230025" y="2879885"/>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Des opportunités de tisser des liens sont-elles perdues à cause du côté ponctuel des événements ?</a:t>
            </a:r>
          </a:p>
        </p:txBody>
      </p:sp>
      <p:sp>
        <p:nvSpPr>
          <p:cNvPr id="103" name="Rectangle 102">
            <a:extLst>
              <a:ext uri="{FF2B5EF4-FFF2-40B4-BE49-F238E27FC236}">
                <a16:creationId xmlns:a16="http://schemas.microsoft.com/office/drawing/2014/main" id="{92510575-97E0-73E5-7205-F477C30FE38B}"/>
              </a:ext>
            </a:extLst>
          </p:cNvPr>
          <p:cNvSpPr/>
          <p:nvPr/>
        </p:nvSpPr>
        <p:spPr>
          <a:xfrm>
            <a:off x="2230025" y="3753652"/>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Des messages ponctuels entre les membres présents auraient-ils pu profiter à beaucoup d’absents ?</a:t>
            </a:r>
          </a:p>
        </p:txBody>
      </p:sp>
      <p:sp>
        <p:nvSpPr>
          <p:cNvPr id="104" name="Rectangle 103">
            <a:extLst>
              <a:ext uri="{FF2B5EF4-FFF2-40B4-BE49-F238E27FC236}">
                <a16:creationId xmlns:a16="http://schemas.microsoft.com/office/drawing/2014/main" id="{C22B5E7D-FF25-A75D-3075-6C9E97AE6C2D}"/>
              </a:ext>
            </a:extLst>
          </p:cNvPr>
          <p:cNvSpPr/>
          <p:nvPr/>
        </p:nvSpPr>
        <p:spPr>
          <a:xfrm>
            <a:off x="3494644" y="2879885"/>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souhaitent-ils se retrouver ou communiquer entre les événements ?</a:t>
            </a:r>
          </a:p>
        </p:txBody>
      </p:sp>
      <p:sp>
        <p:nvSpPr>
          <p:cNvPr id="105" name="Rectangle 104">
            <a:extLst>
              <a:ext uri="{FF2B5EF4-FFF2-40B4-BE49-F238E27FC236}">
                <a16:creationId xmlns:a16="http://schemas.microsoft.com/office/drawing/2014/main" id="{1427543D-E002-C514-A5E6-7DD43DDBC5E6}"/>
              </a:ext>
            </a:extLst>
          </p:cNvPr>
          <p:cNvSpPr/>
          <p:nvPr/>
        </p:nvSpPr>
        <p:spPr>
          <a:xfrm>
            <a:off x="3492138" y="3753652"/>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Une réunion ponctuelle est-elle insuffisante pour l’activité voulue par ou pour les membres ?</a:t>
            </a:r>
          </a:p>
        </p:txBody>
      </p:sp>
      <p:sp>
        <p:nvSpPr>
          <p:cNvPr id="108" name="Rectangle 107">
            <a:extLst>
              <a:ext uri="{FF2B5EF4-FFF2-40B4-BE49-F238E27FC236}">
                <a16:creationId xmlns:a16="http://schemas.microsoft.com/office/drawing/2014/main" id="{562CDBA0-0272-98D3-31CF-BF3BBB6F1902}"/>
              </a:ext>
            </a:extLst>
          </p:cNvPr>
          <p:cNvSpPr/>
          <p:nvPr/>
        </p:nvSpPr>
        <p:spPr>
          <a:xfrm>
            <a:off x="3494779" y="5985900"/>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A-t-on suffisamment de moyens pour traiter les cas chacun individuellement ?</a:t>
            </a:r>
          </a:p>
        </p:txBody>
      </p:sp>
      <p:sp>
        <p:nvSpPr>
          <p:cNvPr id="110" name="Rectangle 109">
            <a:extLst>
              <a:ext uri="{FF2B5EF4-FFF2-40B4-BE49-F238E27FC236}">
                <a16:creationId xmlns:a16="http://schemas.microsoft.com/office/drawing/2014/main" id="{48A41F64-4287-9E8A-090E-01722548FADE}"/>
              </a:ext>
            </a:extLst>
          </p:cNvPr>
          <p:cNvSpPr/>
          <p:nvPr/>
        </p:nvSpPr>
        <p:spPr>
          <a:xfrm>
            <a:off x="2257369" y="5096905"/>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sujets traités individuellement gagneraient-ils à être traités collectivement ?</a:t>
            </a:r>
          </a:p>
        </p:txBody>
      </p:sp>
      <p:sp>
        <p:nvSpPr>
          <p:cNvPr id="111" name="Rectangle 110">
            <a:extLst>
              <a:ext uri="{FF2B5EF4-FFF2-40B4-BE49-F238E27FC236}">
                <a16:creationId xmlns:a16="http://schemas.microsoft.com/office/drawing/2014/main" id="{15775819-FB8F-4E04-6214-3F691D9EF4BA}"/>
              </a:ext>
            </a:extLst>
          </p:cNvPr>
          <p:cNvSpPr/>
          <p:nvPr/>
        </p:nvSpPr>
        <p:spPr>
          <a:xfrm>
            <a:off x="2245846" y="5970700"/>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A quel point le traitement individuel créé-t-il des répétitions inutiles ?</a:t>
            </a:r>
          </a:p>
        </p:txBody>
      </p:sp>
      <p:sp>
        <p:nvSpPr>
          <p:cNvPr id="112" name="Rectangle 111">
            <a:extLst>
              <a:ext uri="{FF2B5EF4-FFF2-40B4-BE49-F238E27FC236}">
                <a16:creationId xmlns:a16="http://schemas.microsoft.com/office/drawing/2014/main" id="{B7B9AC00-2519-5A87-F8D1-980C08E48369}"/>
              </a:ext>
            </a:extLst>
          </p:cNvPr>
          <p:cNvSpPr/>
          <p:nvPr/>
        </p:nvSpPr>
        <p:spPr>
          <a:xfrm>
            <a:off x="3494779" y="5096905"/>
            <a:ext cx="1163170" cy="809582"/>
          </a:xfrm>
          <a:prstGeom prst="rect">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besoins sont-ils suffisamment communs pour réunir tous les individus ensemble ?</a:t>
            </a:r>
          </a:p>
        </p:txBody>
      </p:sp>
      <p:sp>
        <p:nvSpPr>
          <p:cNvPr id="117" name="Titre 1">
            <a:extLst>
              <a:ext uri="{FF2B5EF4-FFF2-40B4-BE49-F238E27FC236}">
                <a16:creationId xmlns:a16="http://schemas.microsoft.com/office/drawing/2014/main" id="{B914C0E1-A57D-6176-94CE-7E459F307FFC}"/>
              </a:ext>
            </a:extLst>
          </p:cNvPr>
          <p:cNvSpPr txBox="1">
            <a:spLocks/>
          </p:cNvSpPr>
          <p:nvPr/>
        </p:nvSpPr>
        <p:spPr>
          <a:xfrm>
            <a:off x="5455376" y="2426139"/>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118" name="Titre 1">
            <a:extLst>
              <a:ext uri="{FF2B5EF4-FFF2-40B4-BE49-F238E27FC236}">
                <a16:creationId xmlns:a16="http://schemas.microsoft.com/office/drawing/2014/main" id="{270414F2-E236-949C-2430-E9257DA86F06}"/>
              </a:ext>
            </a:extLst>
          </p:cNvPr>
          <p:cNvSpPr txBox="1">
            <a:spLocks/>
          </p:cNvSpPr>
          <p:nvPr/>
        </p:nvSpPr>
        <p:spPr>
          <a:xfrm>
            <a:off x="5308118" y="4307604"/>
            <a:ext cx="1555855"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par</a:t>
            </a:r>
          </a:p>
          <a:p>
            <a:pPr algn="ctr"/>
            <a:r>
              <a:rPr lang="fr-FR" sz="1400" b="1" dirty="0"/>
              <a:t>réunion ponctuelle </a:t>
            </a:r>
          </a:p>
        </p:txBody>
      </p:sp>
      <p:sp>
        <p:nvSpPr>
          <p:cNvPr id="119" name="Titre 1">
            <a:extLst>
              <a:ext uri="{FF2B5EF4-FFF2-40B4-BE49-F238E27FC236}">
                <a16:creationId xmlns:a16="http://schemas.microsoft.com/office/drawing/2014/main" id="{9B830693-0232-9A2A-0167-E4DD4C28A6C9}"/>
              </a:ext>
            </a:extLst>
          </p:cNvPr>
          <p:cNvSpPr txBox="1">
            <a:spLocks/>
          </p:cNvSpPr>
          <p:nvPr/>
        </p:nvSpPr>
        <p:spPr>
          <a:xfrm>
            <a:off x="5455376" y="6201110"/>
            <a:ext cx="1371600" cy="721940"/>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individus</a:t>
            </a:r>
          </a:p>
        </p:txBody>
      </p:sp>
    </p:spTree>
    <p:extLst>
      <p:ext uri="{BB962C8B-B14F-4D97-AF65-F5344CB8AC3E}">
        <p14:creationId xmlns:p14="http://schemas.microsoft.com/office/powerpoint/2010/main" val="3021981470"/>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 name="Groupe 60">
            <a:extLst>
              <a:ext uri="{FF2B5EF4-FFF2-40B4-BE49-F238E27FC236}">
                <a16:creationId xmlns:a16="http://schemas.microsoft.com/office/drawing/2014/main" id="{751C5E13-3F90-54FC-4FEB-90D8F76DB457}"/>
              </a:ext>
            </a:extLst>
          </p:cNvPr>
          <p:cNvGrpSpPr/>
          <p:nvPr/>
        </p:nvGrpSpPr>
        <p:grpSpPr>
          <a:xfrm>
            <a:off x="9789801" y="2557755"/>
            <a:ext cx="1341912" cy="3437178"/>
            <a:chOff x="4327736" y="1889604"/>
            <a:chExt cx="1797765" cy="1474183"/>
          </a:xfrm>
          <a:solidFill>
            <a:srgbClr val="FF9999"/>
          </a:solidFill>
        </p:grpSpPr>
        <p:sp>
          <p:nvSpPr>
            <p:cNvPr id="62" name="Flèche : haut 61">
              <a:extLst>
                <a:ext uri="{FF2B5EF4-FFF2-40B4-BE49-F238E27FC236}">
                  <a16:creationId xmlns:a16="http://schemas.microsoft.com/office/drawing/2014/main" id="{E06736C4-5C2C-78B6-4F73-3560ACB56C92}"/>
                </a:ext>
              </a:extLst>
            </p:cNvPr>
            <p:cNvSpPr/>
            <p:nvPr/>
          </p:nvSpPr>
          <p:spPr>
            <a:xfrm>
              <a:off x="4327736" y="1889604"/>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63" name="Flèche : bas 62">
              <a:extLst>
                <a:ext uri="{FF2B5EF4-FFF2-40B4-BE49-F238E27FC236}">
                  <a16:creationId xmlns:a16="http://schemas.microsoft.com/office/drawing/2014/main" id="{6878BEEE-C363-EAD1-0C0B-FF144EB2C0C3}"/>
                </a:ext>
              </a:extLst>
            </p:cNvPr>
            <p:cNvSpPr/>
            <p:nvPr/>
          </p:nvSpPr>
          <p:spPr>
            <a:xfrm>
              <a:off x="4963458" y="2010742"/>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pic>
        <p:nvPicPr>
          <p:cNvPr id="39" name="Graphique 38" descr="Bâtiment avec un remplissage uni">
            <a:extLst>
              <a:ext uri="{FF2B5EF4-FFF2-40B4-BE49-F238E27FC236}">
                <a16:creationId xmlns:a16="http://schemas.microsoft.com/office/drawing/2014/main" id="{509C25D9-2C04-E3C4-90EB-14EB9B8C1C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923507" y="1574361"/>
            <a:ext cx="1008000" cy="1008000"/>
          </a:xfrm>
          <a:prstGeom prst="rect">
            <a:avLst/>
          </a:prstGeom>
        </p:spPr>
      </p:pic>
      <p:pic>
        <p:nvPicPr>
          <p:cNvPr id="36" name="Graphique 35" descr="Bâtiment avec un remplissage uni">
            <a:extLst>
              <a:ext uri="{FF2B5EF4-FFF2-40B4-BE49-F238E27FC236}">
                <a16:creationId xmlns:a16="http://schemas.microsoft.com/office/drawing/2014/main" id="{7968050C-DC71-8993-D8A0-300319019C4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880887" y="1537362"/>
            <a:ext cx="1008000" cy="1008000"/>
          </a:xfrm>
          <a:prstGeom prst="rect">
            <a:avLst/>
          </a:prstGeom>
        </p:spPr>
      </p:pic>
      <p:sp>
        <p:nvSpPr>
          <p:cNvPr id="2" name="Titre 1">
            <a:extLst>
              <a:ext uri="{FF2B5EF4-FFF2-40B4-BE49-F238E27FC236}">
                <a16:creationId xmlns:a16="http://schemas.microsoft.com/office/drawing/2014/main" id="{8BFDB059-EBC7-4F12-DC2F-6BAFC5825DA8}"/>
              </a:ext>
            </a:extLst>
          </p:cNvPr>
          <p:cNvSpPr>
            <a:spLocks noGrp="1"/>
          </p:cNvSpPr>
          <p:nvPr>
            <p:ph type="title"/>
          </p:nvPr>
        </p:nvSpPr>
        <p:spPr>
          <a:xfrm>
            <a:off x="838200" y="365125"/>
            <a:ext cx="10515600" cy="650099"/>
          </a:xfrm>
        </p:spPr>
        <p:txBody>
          <a:bodyPr>
            <a:noAutofit/>
          </a:bodyPr>
          <a:lstStyle/>
          <a:p>
            <a:r>
              <a:rPr lang="fr-FR" sz="3200" b="1" dirty="0"/>
              <a:t>Renseignement délibéré : </a:t>
            </a:r>
            <a:r>
              <a:rPr lang="fr-FR" sz="3200" dirty="0"/>
              <a:t>Exemples de questions à poser – localisation des pressions et tensions</a:t>
            </a:r>
          </a:p>
        </p:txBody>
      </p:sp>
      <p:grpSp>
        <p:nvGrpSpPr>
          <p:cNvPr id="5" name="Groupe 4">
            <a:extLst>
              <a:ext uri="{FF2B5EF4-FFF2-40B4-BE49-F238E27FC236}">
                <a16:creationId xmlns:a16="http://schemas.microsoft.com/office/drawing/2014/main" id="{134BB5A3-DBA2-6C9E-E517-F2059B3A0731}"/>
              </a:ext>
            </a:extLst>
          </p:cNvPr>
          <p:cNvGrpSpPr/>
          <p:nvPr/>
        </p:nvGrpSpPr>
        <p:grpSpPr>
          <a:xfrm>
            <a:off x="4764097" y="5930623"/>
            <a:ext cx="1004893" cy="847205"/>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5EBA7851-F747-9F49-79E7-09A1897D22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239C2124-2F5E-B61D-59AF-49D42808864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757ED3E3-550E-91F1-8777-A80AD5ABEE5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B9D0C369-55DD-D939-2651-E42DFAFEA4A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1D6B69FA-F630-6B52-A901-25289EBB89D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70F81186-8A34-1804-AD84-CC6173D8638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476283E5-C705-A6A5-A57E-F4F4121DDCB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15DE004E-DD5C-0880-08B0-EA1CBE1D68A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DC09C8C4-9EB2-17F9-42D4-3BE0DF32169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FB517289-47FD-8FF4-30DD-E1E7493E2BE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581CBEED-9717-1B51-D748-3D275DD8095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grpSp>
        <p:nvGrpSpPr>
          <p:cNvPr id="18" name="Groupe 17">
            <a:extLst>
              <a:ext uri="{FF2B5EF4-FFF2-40B4-BE49-F238E27FC236}">
                <a16:creationId xmlns:a16="http://schemas.microsoft.com/office/drawing/2014/main" id="{903554D4-F331-8F48-C3F5-EA33AF381E1D}"/>
              </a:ext>
            </a:extLst>
          </p:cNvPr>
          <p:cNvGrpSpPr/>
          <p:nvPr/>
        </p:nvGrpSpPr>
        <p:grpSpPr>
          <a:xfrm>
            <a:off x="9806717" y="5930623"/>
            <a:ext cx="1004893" cy="847205"/>
            <a:chOff x="8982504" y="3274976"/>
            <a:chExt cx="1230670" cy="1037553"/>
          </a:xfrm>
          <a:solidFill>
            <a:srgbClr val="ED7D31"/>
          </a:solidFill>
        </p:grpSpPr>
        <p:pic>
          <p:nvPicPr>
            <p:cNvPr id="19" name="Graphique 18" descr="Utilisateur avec un remplissage uni">
              <a:extLst>
                <a:ext uri="{FF2B5EF4-FFF2-40B4-BE49-F238E27FC236}">
                  <a16:creationId xmlns:a16="http://schemas.microsoft.com/office/drawing/2014/main" id="{A6C1669E-85B0-AD58-53F5-7894E3D58F6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0" name="Graphique 19" descr="Utilisateur avec un remplissage uni">
              <a:extLst>
                <a:ext uri="{FF2B5EF4-FFF2-40B4-BE49-F238E27FC236}">
                  <a16:creationId xmlns:a16="http://schemas.microsoft.com/office/drawing/2014/main" id="{0C5BDEEA-C649-15D1-F9F0-D525EAFA301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1" name="Graphique 20" descr="Utilisateur avec un remplissage uni">
              <a:extLst>
                <a:ext uri="{FF2B5EF4-FFF2-40B4-BE49-F238E27FC236}">
                  <a16:creationId xmlns:a16="http://schemas.microsoft.com/office/drawing/2014/main" id="{E4C1A83D-17C3-D3DD-8D83-F38EE3ADACC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2" name="Graphique 21" descr="Utilisateur avec un remplissage uni">
              <a:extLst>
                <a:ext uri="{FF2B5EF4-FFF2-40B4-BE49-F238E27FC236}">
                  <a16:creationId xmlns:a16="http://schemas.microsoft.com/office/drawing/2014/main" id="{756A392A-D346-527D-1AED-80D0E657A0A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3" name="Graphique 22" descr="Utilisateur avec un remplissage uni">
              <a:extLst>
                <a:ext uri="{FF2B5EF4-FFF2-40B4-BE49-F238E27FC236}">
                  <a16:creationId xmlns:a16="http://schemas.microsoft.com/office/drawing/2014/main" id="{6D24FBC7-F423-84E4-9432-DB18A1327D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4" name="Graphique 23" descr="Utilisateur avec un remplissage uni">
              <a:extLst>
                <a:ext uri="{FF2B5EF4-FFF2-40B4-BE49-F238E27FC236}">
                  <a16:creationId xmlns:a16="http://schemas.microsoft.com/office/drawing/2014/main" id="{EC2ABAFC-D26F-4DEE-18D4-1D176351A25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5" name="Graphique 24" descr="Utilisateur avec un remplissage uni">
              <a:extLst>
                <a:ext uri="{FF2B5EF4-FFF2-40B4-BE49-F238E27FC236}">
                  <a16:creationId xmlns:a16="http://schemas.microsoft.com/office/drawing/2014/main" id="{8A1005DF-86CE-E7DE-9C0E-2BA2EE4CD4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6" name="Graphique 25" descr="Utilisateur avec un remplissage uni">
              <a:extLst>
                <a:ext uri="{FF2B5EF4-FFF2-40B4-BE49-F238E27FC236}">
                  <a16:creationId xmlns:a16="http://schemas.microsoft.com/office/drawing/2014/main" id="{14D36388-EC1A-814B-FEDE-8CDF13C5582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7" name="Graphique 26" descr="Utilisateur avec un remplissage uni">
              <a:extLst>
                <a:ext uri="{FF2B5EF4-FFF2-40B4-BE49-F238E27FC236}">
                  <a16:creationId xmlns:a16="http://schemas.microsoft.com/office/drawing/2014/main" id="{02FC874C-5F8C-A3B1-4FE1-D92F830B779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8" name="Graphique 27" descr="Utilisateur avec un remplissage uni">
              <a:extLst>
                <a:ext uri="{FF2B5EF4-FFF2-40B4-BE49-F238E27FC236}">
                  <a16:creationId xmlns:a16="http://schemas.microsoft.com/office/drawing/2014/main" id="{39A8ABE0-D0B3-3131-4791-7E79572332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9" name="Graphique 28" descr="Utilisateur avec un remplissage uni">
              <a:extLst>
                <a:ext uri="{FF2B5EF4-FFF2-40B4-BE49-F238E27FC236}">
                  <a16:creationId xmlns:a16="http://schemas.microsoft.com/office/drawing/2014/main" id="{8B9F677B-DB68-8CC2-AA4D-FDBB052EB7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31" name="Graphique 30" descr="Employée de bureau avec un remplissage uni">
            <a:extLst>
              <a:ext uri="{FF2B5EF4-FFF2-40B4-BE49-F238E27FC236}">
                <a16:creationId xmlns:a16="http://schemas.microsoft.com/office/drawing/2014/main" id="{F0F4164E-5CB4-462C-659A-70D8F0EA68A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68829" y="3632678"/>
            <a:ext cx="927445" cy="927445"/>
          </a:xfrm>
          <a:prstGeom prst="rect">
            <a:avLst/>
          </a:prstGeom>
        </p:spPr>
      </p:pic>
      <p:pic>
        <p:nvPicPr>
          <p:cNvPr id="35" name="Graphique 34" descr="Employée de bureau avec un remplissage uni">
            <a:extLst>
              <a:ext uri="{FF2B5EF4-FFF2-40B4-BE49-F238E27FC236}">
                <a16:creationId xmlns:a16="http://schemas.microsoft.com/office/drawing/2014/main" id="{0F0623A6-56F9-157A-B07D-C685C0E09AB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3327" y="3575298"/>
            <a:ext cx="927445" cy="927445"/>
          </a:xfrm>
          <a:prstGeom prst="rect">
            <a:avLst/>
          </a:prstGeom>
        </p:spPr>
      </p:pic>
      <p:sp>
        <p:nvSpPr>
          <p:cNvPr id="40" name="Espace réservé du contenu 2">
            <a:extLst>
              <a:ext uri="{FF2B5EF4-FFF2-40B4-BE49-F238E27FC236}">
                <a16:creationId xmlns:a16="http://schemas.microsoft.com/office/drawing/2014/main" id="{5CD06CAB-F39F-0862-2E7E-BA40D822028A}"/>
              </a:ext>
            </a:extLst>
          </p:cNvPr>
          <p:cNvSpPr>
            <a:spLocks noGrp="1"/>
          </p:cNvSpPr>
          <p:nvPr>
            <p:ph idx="1"/>
          </p:nvPr>
        </p:nvSpPr>
        <p:spPr>
          <a:xfrm>
            <a:off x="4247302" y="3970674"/>
            <a:ext cx="1177114" cy="445686"/>
          </a:xfrm>
        </p:spPr>
        <p:txBody>
          <a:bodyPr>
            <a:normAutofit/>
          </a:bodyPr>
          <a:lstStyle/>
          <a:p>
            <a:pPr marL="0" indent="0">
              <a:buNone/>
            </a:pPr>
            <a:r>
              <a:rPr lang="fr-FR" sz="1600" b="1" dirty="0">
                <a:solidFill>
                  <a:srgbClr val="ED7D31"/>
                </a:solidFill>
              </a:rPr>
              <a:t>Sponsor</a:t>
            </a:r>
          </a:p>
        </p:txBody>
      </p:sp>
      <p:sp>
        <p:nvSpPr>
          <p:cNvPr id="41" name="Espace réservé du contenu 2">
            <a:extLst>
              <a:ext uri="{FF2B5EF4-FFF2-40B4-BE49-F238E27FC236}">
                <a16:creationId xmlns:a16="http://schemas.microsoft.com/office/drawing/2014/main" id="{A4549FF5-0BF8-9823-925E-30A6917C891B}"/>
              </a:ext>
            </a:extLst>
          </p:cNvPr>
          <p:cNvSpPr txBox="1">
            <a:spLocks/>
          </p:cNvSpPr>
          <p:nvPr/>
        </p:nvSpPr>
        <p:spPr>
          <a:xfrm>
            <a:off x="728951" y="3990730"/>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Sponsor</a:t>
            </a:r>
          </a:p>
        </p:txBody>
      </p:sp>
      <p:sp>
        <p:nvSpPr>
          <p:cNvPr id="44" name="Espace réservé du contenu 2">
            <a:extLst>
              <a:ext uri="{FF2B5EF4-FFF2-40B4-BE49-F238E27FC236}">
                <a16:creationId xmlns:a16="http://schemas.microsoft.com/office/drawing/2014/main" id="{5944F345-0278-2780-A083-D034732D7BC5}"/>
              </a:ext>
            </a:extLst>
          </p:cNvPr>
          <p:cNvSpPr txBox="1">
            <a:spLocks/>
          </p:cNvSpPr>
          <p:nvPr/>
        </p:nvSpPr>
        <p:spPr>
          <a:xfrm>
            <a:off x="10824617" y="6164892"/>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45" name="Espace réservé du contenu 2">
            <a:extLst>
              <a:ext uri="{FF2B5EF4-FFF2-40B4-BE49-F238E27FC236}">
                <a16:creationId xmlns:a16="http://schemas.microsoft.com/office/drawing/2014/main" id="{3AE45F6A-C1EB-05A7-2080-AA2C28B590EA}"/>
              </a:ext>
            </a:extLst>
          </p:cNvPr>
          <p:cNvSpPr txBox="1">
            <a:spLocks/>
          </p:cNvSpPr>
          <p:nvPr/>
        </p:nvSpPr>
        <p:spPr>
          <a:xfrm>
            <a:off x="3887933" y="6124751"/>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Membres</a:t>
            </a:r>
          </a:p>
        </p:txBody>
      </p:sp>
      <p:sp>
        <p:nvSpPr>
          <p:cNvPr id="46" name="Espace réservé du contenu 2">
            <a:extLst>
              <a:ext uri="{FF2B5EF4-FFF2-40B4-BE49-F238E27FC236}">
                <a16:creationId xmlns:a16="http://schemas.microsoft.com/office/drawing/2014/main" id="{EBEE01DA-42EF-B4A6-AD65-3FB36BD16395}"/>
              </a:ext>
            </a:extLst>
          </p:cNvPr>
          <p:cNvSpPr txBox="1">
            <a:spLocks/>
          </p:cNvSpPr>
          <p:nvPr/>
        </p:nvSpPr>
        <p:spPr>
          <a:xfrm>
            <a:off x="4020684" y="1895755"/>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Entreprise</a:t>
            </a:r>
          </a:p>
        </p:txBody>
      </p:sp>
      <p:sp>
        <p:nvSpPr>
          <p:cNvPr id="47" name="Espace réservé du contenu 2">
            <a:extLst>
              <a:ext uri="{FF2B5EF4-FFF2-40B4-BE49-F238E27FC236}">
                <a16:creationId xmlns:a16="http://schemas.microsoft.com/office/drawing/2014/main" id="{B1416E0E-71F2-2D6A-990D-435BC4882EEF}"/>
              </a:ext>
            </a:extLst>
          </p:cNvPr>
          <p:cNvSpPr txBox="1">
            <a:spLocks/>
          </p:cNvSpPr>
          <p:nvPr/>
        </p:nvSpPr>
        <p:spPr>
          <a:xfrm>
            <a:off x="10795134" y="1941130"/>
            <a:ext cx="1177114" cy="4456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solidFill>
                  <a:srgbClr val="ED7D31"/>
                </a:solidFill>
              </a:rPr>
              <a:t>Entreprise</a:t>
            </a:r>
          </a:p>
        </p:txBody>
      </p:sp>
      <p:grpSp>
        <p:nvGrpSpPr>
          <p:cNvPr id="42" name="Groupe 41">
            <a:extLst>
              <a:ext uri="{FF2B5EF4-FFF2-40B4-BE49-F238E27FC236}">
                <a16:creationId xmlns:a16="http://schemas.microsoft.com/office/drawing/2014/main" id="{4D2392F3-EA43-12D9-4F40-0D439D96A375}"/>
              </a:ext>
            </a:extLst>
          </p:cNvPr>
          <p:cNvGrpSpPr/>
          <p:nvPr/>
        </p:nvGrpSpPr>
        <p:grpSpPr>
          <a:xfrm>
            <a:off x="1534810" y="3710609"/>
            <a:ext cx="2790721" cy="760389"/>
            <a:chOff x="568644" y="3141688"/>
            <a:chExt cx="491228" cy="282811"/>
          </a:xfrm>
          <a:solidFill>
            <a:srgbClr val="FF9999"/>
          </a:solidFill>
        </p:grpSpPr>
        <p:sp>
          <p:nvSpPr>
            <p:cNvPr id="43" name="Flèche : bas 42">
              <a:extLst>
                <a:ext uri="{FF2B5EF4-FFF2-40B4-BE49-F238E27FC236}">
                  <a16:creationId xmlns:a16="http://schemas.microsoft.com/office/drawing/2014/main" id="{DA91B070-A257-CB74-FD24-616E34D955CD}"/>
                </a:ext>
              </a:extLst>
            </p:cNvPr>
            <p:cNvSpPr/>
            <p:nvPr/>
          </p:nvSpPr>
          <p:spPr>
            <a:xfrm rot="16200000">
              <a:off x="745157" y="3013058"/>
              <a:ext cx="186085" cy="443345"/>
            </a:xfrm>
            <a:prstGeom prst="down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sp>
          <p:nvSpPr>
            <p:cNvPr id="48" name="Flèche : bas 47">
              <a:extLst>
                <a:ext uri="{FF2B5EF4-FFF2-40B4-BE49-F238E27FC236}">
                  <a16:creationId xmlns:a16="http://schemas.microsoft.com/office/drawing/2014/main" id="{FB645F95-F729-2B17-94CC-E20AFC60EF11}"/>
                </a:ext>
              </a:extLst>
            </p:cNvPr>
            <p:cNvSpPr/>
            <p:nvPr/>
          </p:nvSpPr>
          <p:spPr>
            <a:xfrm rot="16200000" flipV="1">
              <a:off x="697274" y="3109784"/>
              <a:ext cx="186085" cy="443345"/>
            </a:xfrm>
            <a:prstGeom prst="down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grpSp>
        <p:nvGrpSpPr>
          <p:cNvPr id="50" name="Groupe 49">
            <a:extLst>
              <a:ext uri="{FF2B5EF4-FFF2-40B4-BE49-F238E27FC236}">
                <a16:creationId xmlns:a16="http://schemas.microsoft.com/office/drawing/2014/main" id="{6E90C02B-B79F-04C4-F04F-56F069E99F46}"/>
              </a:ext>
            </a:extLst>
          </p:cNvPr>
          <p:cNvGrpSpPr/>
          <p:nvPr/>
        </p:nvGrpSpPr>
        <p:grpSpPr>
          <a:xfrm>
            <a:off x="5848065" y="6243881"/>
            <a:ext cx="3995060" cy="554359"/>
            <a:chOff x="525050" y="3141688"/>
            <a:chExt cx="534822" cy="279127"/>
          </a:xfrm>
          <a:solidFill>
            <a:srgbClr val="FF9999"/>
          </a:solidFill>
        </p:grpSpPr>
        <p:sp>
          <p:nvSpPr>
            <p:cNvPr id="51" name="Flèche : bas 50">
              <a:extLst>
                <a:ext uri="{FF2B5EF4-FFF2-40B4-BE49-F238E27FC236}">
                  <a16:creationId xmlns:a16="http://schemas.microsoft.com/office/drawing/2014/main" id="{0050A863-FAC0-7CF6-4397-F9BB574D862D}"/>
                </a:ext>
              </a:extLst>
            </p:cNvPr>
            <p:cNvSpPr/>
            <p:nvPr/>
          </p:nvSpPr>
          <p:spPr>
            <a:xfrm rot="16200000">
              <a:off x="745157" y="3013058"/>
              <a:ext cx="186085" cy="443345"/>
            </a:xfrm>
            <a:prstGeom prst="down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sp>
          <p:nvSpPr>
            <p:cNvPr id="52" name="Flèche : bas 51">
              <a:extLst>
                <a:ext uri="{FF2B5EF4-FFF2-40B4-BE49-F238E27FC236}">
                  <a16:creationId xmlns:a16="http://schemas.microsoft.com/office/drawing/2014/main" id="{E5BE5469-B62E-E168-282B-CE39F3E776FC}"/>
                </a:ext>
              </a:extLst>
            </p:cNvPr>
            <p:cNvSpPr/>
            <p:nvPr/>
          </p:nvSpPr>
          <p:spPr>
            <a:xfrm rot="16200000" flipV="1">
              <a:off x="653680" y="3106100"/>
              <a:ext cx="186085" cy="443345"/>
            </a:xfrm>
            <a:prstGeom prst="down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grpSp>
        <p:nvGrpSpPr>
          <p:cNvPr id="6" name="Groupe 5">
            <a:extLst>
              <a:ext uri="{FF2B5EF4-FFF2-40B4-BE49-F238E27FC236}">
                <a16:creationId xmlns:a16="http://schemas.microsoft.com/office/drawing/2014/main" id="{3D86BF39-2F73-872A-E304-B5CB8CC41AC4}"/>
              </a:ext>
            </a:extLst>
          </p:cNvPr>
          <p:cNvGrpSpPr/>
          <p:nvPr/>
        </p:nvGrpSpPr>
        <p:grpSpPr>
          <a:xfrm>
            <a:off x="4908802" y="2449147"/>
            <a:ext cx="1001691" cy="1236552"/>
            <a:chOff x="4327736" y="1771722"/>
            <a:chExt cx="1754416" cy="1735486"/>
          </a:xfrm>
          <a:solidFill>
            <a:srgbClr val="FF9999"/>
          </a:solidFill>
        </p:grpSpPr>
        <p:sp>
          <p:nvSpPr>
            <p:cNvPr id="54" name="Flèche : haut 53">
              <a:extLst>
                <a:ext uri="{FF2B5EF4-FFF2-40B4-BE49-F238E27FC236}">
                  <a16:creationId xmlns:a16="http://schemas.microsoft.com/office/drawing/2014/main" id="{89C4B2A1-7430-85BE-833E-B86BDD4756D6}"/>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55" name="Flèche : bas 54">
              <a:extLst>
                <a:ext uri="{FF2B5EF4-FFF2-40B4-BE49-F238E27FC236}">
                  <a16:creationId xmlns:a16="http://schemas.microsoft.com/office/drawing/2014/main" id="{06955809-59E6-FDBE-61D0-A39E9AB4C2C0}"/>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57" name="Groupe 56">
            <a:extLst>
              <a:ext uri="{FF2B5EF4-FFF2-40B4-BE49-F238E27FC236}">
                <a16:creationId xmlns:a16="http://schemas.microsoft.com/office/drawing/2014/main" id="{8597E574-5717-DBC9-29F4-8318C1642B5A}"/>
              </a:ext>
            </a:extLst>
          </p:cNvPr>
          <p:cNvGrpSpPr/>
          <p:nvPr/>
        </p:nvGrpSpPr>
        <p:grpSpPr>
          <a:xfrm>
            <a:off x="4987777" y="4506477"/>
            <a:ext cx="1047643" cy="1598204"/>
            <a:chOff x="4327736" y="1771722"/>
            <a:chExt cx="1816656" cy="1594499"/>
          </a:xfrm>
          <a:solidFill>
            <a:srgbClr val="FF9999"/>
          </a:solidFill>
        </p:grpSpPr>
        <p:sp>
          <p:nvSpPr>
            <p:cNvPr id="58" name="Flèche : haut 57">
              <a:extLst>
                <a:ext uri="{FF2B5EF4-FFF2-40B4-BE49-F238E27FC236}">
                  <a16:creationId xmlns:a16="http://schemas.microsoft.com/office/drawing/2014/main" id="{E88557EA-FA00-27EF-A71D-923471AF01B0}"/>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59" name="Flèche : bas 58">
              <a:extLst>
                <a:ext uri="{FF2B5EF4-FFF2-40B4-BE49-F238E27FC236}">
                  <a16:creationId xmlns:a16="http://schemas.microsoft.com/office/drawing/2014/main" id="{9FA3D6B4-932B-783A-0B54-38D7267DF757}"/>
                </a:ext>
              </a:extLst>
            </p:cNvPr>
            <p:cNvSpPr/>
            <p:nvPr/>
          </p:nvSpPr>
          <p:spPr>
            <a:xfrm>
              <a:off x="4982349" y="2013176"/>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sp>
        <p:nvSpPr>
          <p:cNvPr id="64" name="Rectangle 63">
            <a:extLst>
              <a:ext uri="{FF2B5EF4-FFF2-40B4-BE49-F238E27FC236}">
                <a16:creationId xmlns:a16="http://schemas.microsoft.com/office/drawing/2014/main" id="{8D948E2C-3984-414C-B786-DC3538B89984}"/>
              </a:ext>
            </a:extLst>
          </p:cNvPr>
          <p:cNvSpPr/>
          <p:nvPr/>
        </p:nvSpPr>
        <p:spPr>
          <a:xfrm>
            <a:off x="6637447" y="5814272"/>
            <a:ext cx="1353680" cy="677356"/>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Est-ce qu’il y a des désaccords ou des dissensions entre membres ?</a:t>
            </a:r>
          </a:p>
        </p:txBody>
      </p:sp>
      <p:sp>
        <p:nvSpPr>
          <p:cNvPr id="53" name="Rectangle 52">
            <a:extLst>
              <a:ext uri="{FF2B5EF4-FFF2-40B4-BE49-F238E27FC236}">
                <a16:creationId xmlns:a16="http://schemas.microsoft.com/office/drawing/2014/main" id="{CDF31E46-B8DA-1026-BCD5-04BDB9E7CD85}"/>
              </a:ext>
            </a:extLst>
          </p:cNvPr>
          <p:cNvSpPr/>
          <p:nvPr/>
        </p:nvSpPr>
        <p:spPr>
          <a:xfrm>
            <a:off x="8089911" y="5814272"/>
            <a:ext cx="1353680" cy="677356"/>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Est-ce qu’il y a des sous-groupes de membres issus de désaccords ?</a:t>
            </a:r>
          </a:p>
        </p:txBody>
      </p:sp>
      <p:sp>
        <p:nvSpPr>
          <p:cNvPr id="56" name="Rectangle 55">
            <a:extLst>
              <a:ext uri="{FF2B5EF4-FFF2-40B4-BE49-F238E27FC236}">
                <a16:creationId xmlns:a16="http://schemas.microsoft.com/office/drawing/2014/main" id="{BF734E74-17DF-E2E2-464F-AFBD6A7342FF}"/>
              </a:ext>
            </a:extLst>
          </p:cNvPr>
          <p:cNvSpPr/>
          <p:nvPr/>
        </p:nvSpPr>
        <p:spPr>
          <a:xfrm>
            <a:off x="8893663" y="4658745"/>
            <a:ext cx="1353680" cy="677356"/>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ont-ils des exigences vis-à-vis de l’entreprise pour pouvoir participer à la Communauté ?</a:t>
            </a:r>
          </a:p>
        </p:txBody>
      </p:sp>
      <p:sp>
        <p:nvSpPr>
          <p:cNvPr id="60" name="Rectangle 59">
            <a:extLst>
              <a:ext uri="{FF2B5EF4-FFF2-40B4-BE49-F238E27FC236}">
                <a16:creationId xmlns:a16="http://schemas.microsoft.com/office/drawing/2014/main" id="{17E7A6EC-B1CB-C0E6-79C3-DB14B269272D}"/>
              </a:ext>
            </a:extLst>
          </p:cNvPr>
          <p:cNvSpPr/>
          <p:nvPr/>
        </p:nvSpPr>
        <p:spPr>
          <a:xfrm>
            <a:off x="8893663" y="3858350"/>
            <a:ext cx="1353680" cy="677356"/>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sont-ils en contradiction avec leurs obligations du quotidien quand ils participent à la Communauté ?</a:t>
            </a:r>
          </a:p>
        </p:txBody>
      </p:sp>
      <p:sp>
        <p:nvSpPr>
          <p:cNvPr id="67" name="Rectangle 66">
            <a:extLst>
              <a:ext uri="{FF2B5EF4-FFF2-40B4-BE49-F238E27FC236}">
                <a16:creationId xmlns:a16="http://schemas.microsoft.com/office/drawing/2014/main" id="{0FA75F0B-2C03-2E01-FFF1-2C76E92AA663}"/>
              </a:ext>
            </a:extLst>
          </p:cNvPr>
          <p:cNvSpPr/>
          <p:nvPr/>
        </p:nvSpPr>
        <p:spPr>
          <a:xfrm>
            <a:off x="10786013" y="3947054"/>
            <a:ext cx="1353680" cy="677356"/>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L’entreprise a-t-elle des exigences envers les membres pour leur participation à la Communauté ?</a:t>
            </a:r>
          </a:p>
        </p:txBody>
      </p:sp>
      <p:sp>
        <p:nvSpPr>
          <p:cNvPr id="68" name="Rectangle 67">
            <a:extLst>
              <a:ext uri="{FF2B5EF4-FFF2-40B4-BE49-F238E27FC236}">
                <a16:creationId xmlns:a16="http://schemas.microsoft.com/office/drawing/2014/main" id="{13052F0E-9D19-CD28-9216-0B83D3E159F5}"/>
              </a:ext>
            </a:extLst>
          </p:cNvPr>
          <p:cNvSpPr/>
          <p:nvPr/>
        </p:nvSpPr>
        <p:spPr>
          <a:xfrm>
            <a:off x="10797859" y="3166935"/>
            <a:ext cx="1353680" cy="677356"/>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hiérarchies des membres s’opposent-elles ou ralentissent-elles la participation à la Communauté ?</a:t>
            </a:r>
          </a:p>
        </p:txBody>
      </p:sp>
      <p:sp>
        <p:nvSpPr>
          <p:cNvPr id="69" name="Rectangle 68">
            <a:extLst>
              <a:ext uri="{FF2B5EF4-FFF2-40B4-BE49-F238E27FC236}">
                <a16:creationId xmlns:a16="http://schemas.microsoft.com/office/drawing/2014/main" id="{BDD7AA77-40C9-4557-BEBE-F0FB1985C870}"/>
              </a:ext>
            </a:extLst>
          </p:cNvPr>
          <p:cNvSpPr/>
          <p:nvPr/>
        </p:nvSpPr>
        <p:spPr>
          <a:xfrm>
            <a:off x="5638382" y="2748774"/>
            <a:ext cx="1353680" cy="677356"/>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sponsors sont-ils alignés ou en opposition avec l’entreprise ?</a:t>
            </a:r>
          </a:p>
        </p:txBody>
      </p:sp>
      <p:sp>
        <p:nvSpPr>
          <p:cNvPr id="70" name="Rectangle 69">
            <a:extLst>
              <a:ext uri="{FF2B5EF4-FFF2-40B4-BE49-F238E27FC236}">
                <a16:creationId xmlns:a16="http://schemas.microsoft.com/office/drawing/2014/main" id="{27EF8D6D-F2D9-8DA1-887E-87101FE37CC1}"/>
              </a:ext>
            </a:extLst>
          </p:cNvPr>
          <p:cNvSpPr/>
          <p:nvPr/>
        </p:nvSpPr>
        <p:spPr>
          <a:xfrm>
            <a:off x="3911876" y="2626416"/>
            <a:ext cx="1353680" cy="677356"/>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En quoi les sponsors se démarquent-ils de la politique générale de l’entreprise ?</a:t>
            </a:r>
          </a:p>
        </p:txBody>
      </p:sp>
      <p:sp>
        <p:nvSpPr>
          <p:cNvPr id="72" name="Rectangle 71">
            <a:extLst>
              <a:ext uri="{FF2B5EF4-FFF2-40B4-BE49-F238E27FC236}">
                <a16:creationId xmlns:a16="http://schemas.microsoft.com/office/drawing/2014/main" id="{997341BE-1216-3000-171F-DF03995D9682}"/>
              </a:ext>
            </a:extLst>
          </p:cNvPr>
          <p:cNvSpPr/>
          <p:nvPr/>
        </p:nvSpPr>
        <p:spPr>
          <a:xfrm>
            <a:off x="3948528" y="4950376"/>
            <a:ext cx="1353680" cy="677356"/>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membres ont-ils beaucoup de demandes et d’attentes vis-à-vis du sponsor ? </a:t>
            </a:r>
          </a:p>
        </p:txBody>
      </p:sp>
      <p:sp>
        <p:nvSpPr>
          <p:cNvPr id="73" name="Rectangle 72">
            <a:extLst>
              <a:ext uri="{FF2B5EF4-FFF2-40B4-BE49-F238E27FC236}">
                <a16:creationId xmlns:a16="http://schemas.microsoft.com/office/drawing/2014/main" id="{2D2673A0-1BD3-6109-6480-197EE697B6A1}"/>
              </a:ext>
            </a:extLst>
          </p:cNvPr>
          <p:cNvSpPr/>
          <p:nvPr/>
        </p:nvSpPr>
        <p:spPr>
          <a:xfrm>
            <a:off x="1959006" y="4197457"/>
            <a:ext cx="1353680" cy="677356"/>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points de désaccords entre les sponsors ? Comment sont-ils traités (s’ils le sont) aujourd’hui ? </a:t>
            </a:r>
          </a:p>
        </p:txBody>
      </p:sp>
      <p:sp>
        <p:nvSpPr>
          <p:cNvPr id="77" name="Rectangle 76">
            <a:extLst>
              <a:ext uri="{FF2B5EF4-FFF2-40B4-BE49-F238E27FC236}">
                <a16:creationId xmlns:a16="http://schemas.microsoft.com/office/drawing/2014/main" id="{ECDBD5F2-948A-184E-CD29-E02C9856A8C8}"/>
              </a:ext>
            </a:extLst>
          </p:cNvPr>
          <p:cNvSpPr/>
          <p:nvPr/>
        </p:nvSpPr>
        <p:spPr>
          <a:xfrm>
            <a:off x="5736087" y="4904555"/>
            <a:ext cx="1353680" cy="677356"/>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 sponsors pousse-t-il les membres à adopter certains comportements ? Pourquoi ?</a:t>
            </a:r>
          </a:p>
        </p:txBody>
      </p:sp>
      <p:pic>
        <p:nvPicPr>
          <p:cNvPr id="75" name="Graphique 74" descr="Femme scientifique avec un remplissage uni">
            <a:extLst>
              <a:ext uri="{FF2B5EF4-FFF2-40B4-BE49-F238E27FC236}">
                <a16:creationId xmlns:a16="http://schemas.microsoft.com/office/drawing/2014/main" id="{B99827C9-7236-EDC4-4562-58E526B9513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p:blipFill>
        <p:spPr>
          <a:xfrm>
            <a:off x="133026" y="244132"/>
            <a:ext cx="771092" cy="771092"/>
          </a:xfrm>
          <a:prstGeom prst="rect">
            <a:avLst/>
          </a:prstGeom>
        </p:spPr>
      </p:pic>
    </p:spTree>
    <p:extLst>
      <p:ext uri="{BB962C8B-B14F-4D97-AF65-F5344CB8AC3E}">
        <p14:creationId xmlns:p14="http://schemas.microsoft.com/office/powerpoint/2010/main" val="3124333843"/>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BFDB059-EBC7-4F12-DC2F-6BAFC5825DA8}"/>
              </a:ext>
            </a:extLst>
          </p:cNvPr>
          <p:cNvSpPr>
            <a:spLocks noGrp="1"/>
          </p:cNvSpPr>
          <p:nvPr>
            <p:ph type="title"/>
          </p:nvPr>
        </p:nvSpPr>
        <p:spPr>
          <a:xfrm>
            <a:off x="838200" y="365125"/>
            <a:ext cx="10515600" cy="650099"/>
          </a:xfrm>
        </p:spPr>
        <p:txBody>
          <a:bodyPr>
            <a:normAutofit fontScale="90000"/>
          </a:bodyPr>
          <a:lstStyle/>
          <a:p>
            <a:r>
              <a:rPr lang="fr-FR" sz="3200" b="1" dirty="0"/>
              <a:t>Renseignement délibéré : </a:t>
            </a:r>
            <a:r>
              <a:rPr lang="fr-FR" sz="3200" dirty="0"/>
              <a:t>Exemples de questions à poser – Nature des tensions</a:t>
            </a:r>
          </a:p>
        </p:txBody>
      </p:sp>
      <p:sp>
        <p:nvSpPr>
          <p:cNvPr id="56" name="Phylactère : pensées 55">
            <a:extLst>
              <a:ext uri="{FF2B5EF4-FFF2-40B4-BE49-F238E27FC236}">
                <a16:creationId xmlns:a16="http://schemas.microsoft.com/office/drawing/2014/main" id="{A1021E02-6A04-FACF-F8D3-8FC50502E1CB}"/>
              </a:ext>
            </a:extLst>
          </p:cNvPr>
          <p:cNvSpPr/>
          <p:nvPr/>
        </p:nvSpPr>
        <p:spPr>
          <a:xfrm>
            <a:off x="473444" y="3347852"/>
            <a:ext cx="2768367" cy="1635853"/>
          </a:xfrm>
          <a:prstGeom prst="cloudCallout">
            <a:avLst>
              <a:gd name="adj1" fmla="val -24772"/>
              <a:gd name="adj2" fmla="val 4506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attendue, imaginée, espérée</a:t>
            </a:r>
          </a:p>
        </p:txBody>
      </p:sp>
      <p:sp>
        <p:nvSpPr>
          <p:cNvPr id="60" name="Parchemin : horizontal 59">
            <a:extLst>
              <a:ext uri="{FF2B5EF4-FFF2-40B4-BE49-F238E27FC236}">
                <a16:creationId xmlns:a16="http://schemas.microsoft.com/office/drawing/2014/main" id="{B5AE206B-204E-018D-5664-E92A5AB12294}"/>
              </a:ext>
            </a:extLst>
          </p:cNvPr>
          <p:cNvSpPr/>
          <p:nvPr/>
        </p:nvSpPr>
        <p:spPr>
          <a:xfrm>
            <a:off x="4749280" y="3280707"/>
            <a:ext cx="2684477" cy="1539904"/>
          </a:xfrm>
          <a:prstGeom prst="horizontalScroll">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exprimée, officialisée, visée</a:t>
            </a:r>
          </a:p>
        </p:txBody>
      </p:sp>
      <p:sp>
        <p:nvSpPr>
          <p:cNvPr id="64" name="Bulle narrative : ronde 63">
            <a:extLst>
              <a:ext uri="{FF2B5EF4-FFF2-40B4-BE49-F238E27FC236}">
                <a16:creationId xmlns:a16="http://schemas.microsoft.com/office/drawing/2014/main" id="{F2D54EFC-5881-F9A4-14A9-E152D3412F30}"/>
              </a:ext>
            </a:extLst>
          </p:cNvPr>
          <p:cNvSpPr/>
          <p:nvPr/>
        </p:nvSpPr>
        <p:spPr>
          <a:xfrm>
            <a:off x="9377415" y="3280707"/>
            <a:ext cx="2492029" cy="1446227"/>
          </a:xfrm>
          <a:prstGeom prst="wedgeEllipseCallout">
            <a:avLst>
              <a:gd name="adj1" fmla="val -57504"/>
              <a:gd name="adj2" fmla="val 4861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Valeur effective, constatée, réelle</a:t>
            </a:r>
          </a:p>
        </p:txBody>
      </p:sp>
      <p:sp>
        <p:nvSpPr>
          <p:cNvPr id="65" name="Flèche : double flèche horizontale 64">
            <a:extLst>
              <a:ext uri="{FF2B5EF4-FFF2-40B4-BE49-F238E27FC236}">
                <a16:creationId xmlns:a16="http://schemas.microsoft.com/office/drawing/2014/main" id="{AB29C91D-ECED-52D4-D6B1-D28DF7C670AD}"/>
              </a:ext>
            </a:extLst>
          </p:cNvPr>
          <p:cNvSpPr/>
          <p:nvPr/>
        </p:nvSpPr>
        <p:spPr>
          <a:xfrm>
            <a:off x="2667743" y="3546659"/>
            <a:ext cx="2448000" cy="1008000"/>
          </a:xfrm>
          <a:prstGeom prst="leftRight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66" name="Flèche : double flèche horizontale 65">
            <a:extLst>
              <a:ext uri="{FF2B5EF4-FFF2-40B4-BE49-F238E27FC236}">
                <a16:creationId xmlns:a16="http://schemas.microsoft.com/office/drawing/2014/main" id="{A4511168-0DB6-FE4C-0624-4733D41617C6}"/>
              </a:ext>
            </a:extLst>
          </p:cNvPr>
          <p:cNvSpPr/>
          <p:nvPr/>
        </p:nvSpPr>
        <p:spPr>
          <a:xfrm>
            <a:off x="7208048" y="3546659"/>
            <a:ext cx="2684476" cy="1008000"/>
          </a:xfrm>
          <a:prstGeom prst="leftRight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pic>
        <p:nvPicPr>
          <p:cNvPr id="67" name="Graphique 66" descr="Actualiser avec un remplissage uni">
            <a:extLst>
              <a:ext uri="{FF2B5EF4-FFF2-40B4-BE49-F238E27FC236}">
                <a16:creationId xmlns:a16="http://schemas.microsoft.com/office/drawing/2014/main" id="{E877538D-1FCD-7D14-47E2-90B1038BCB1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1160274" y="2664010"/>
            <a:ext cx="1233391" cy="1233391"/>
          </a:xfrm>
          <a:prstGeom prst="rect">
            <a:avLst/>
          </a:prstGeom>
        </p:spPr>
      </p:pic>
      <p:pic>
        <p:nvPicPr>
          <p:cNvPr id="69" name="Graphique 68" descr="Actualiser avec un remplissage uni">
            <a:extLst>
              <a:ext uri="{FF2B5EF4-FFF2-40B4-BE49-F238E27FC236}">
                <a16:creationId xmlns:a16="http://schemas.microsoft.com/office/drawing/2014/main" id="{FC036B3F-D040-5F57-299C-CAD4A296244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5470877" y="2664011"/>
            <a:ext cx="1233391" cy="1233391"/>
          </a:xfrm>
          <a:prstGeom prst="rect">
            <a:avLst/>
          </a:prstGeom>
        </p:spPr>
      </p:pic>
      <p:pic>
        <p:nvPicPr>
          <p:cNvPr id="71" name="Graphique 70" descr="Actualiser avec un remplissage uni">
            <a:extLst>
              <a:ext uri="{FF2B5EF4-FFF2-40B4-BE49-F238E27FC236}">
                <a16:creationId xmlns:a16="http://schemas.microsoft.com/office/drawing/2014/main" id="{2F5224BD-8467-8463-8C07-D0BECB6E0D2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6200000">
            <a:off x="9894272" y="2664010"/>
            <a:ext cx="1233391" cy="1233391"/>
          </a:xfrm>
          <a:prstGeom prst="rect">
            <a:avLst/>
          </a:prstGeom>
        </p:spPr>
      </p:pic>
      <p:sp>
        <p:nvSpPr>
          <p:cNvPr id="14" name="Rectangle 13">
            <a:extLst>
              <a:ext uri="{FF2B5EF4-FFF2-40B4-BE49-F238E27FC236}">
                <a16:creationId xmlns:a16="http://schemas.microsoft.com/office/drawing/2014/main" id="{FF92745E-A898-B1FB-7028-E3567D90675E}"/>
              </a:ext>
            </a:extLst>
          </p:cNvPr>
          <p:cNvSpPr/>
          <p:nvPr/>
        </p:nvSpPr>
        <p:spPr>
          <a:xfrm>
            <a:off x="3124749" y="4594452"/>
            <a:ext cx="1460305" cy="753440"/>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écarts entre les souhaits/attentes, et ce qui est posé officiellement dans les intentions de la Communauté ?</a:t>
            </a:r>
          </a:p>
        </p:txBody>
      </p:sp>
      <p:sp>
        <p:nvSpPr>
          <p:cNvPr id="15" name="Rectangle 14">
            <a:extLst>
              <a:ext uri="{FF2B5EF4-FFF2-40B4-BE49-F238E27FC236}">
                <a16:creationId xmlns:a16="http://schemas.microsoft.com/office/drawing/2014/main" id="{D25337C1-E0AE-1720-25D6-66700A60FA20}"/>
              </a:ext>
            </a:extLst>
          </p:cNvPr>
          <p:cNvSpPr/>
          <p:nvPr/>
        </p:nvSpPr>
        <p:spPr>
          <a:xfrm>
            <a:off x="3131073" y="5414763"/>
            <a:ext cx="1460305" cy="753440"/>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souhaits et espoirs ont-ils été traduits sous forme d’objectifs, d’intentions concrètes ? Sinon, lesquels manquent-ils ?</a:t>
            </a:r>
          </a:p>
        </p:txBody>
      </p:sp>
      <p:sp>
        <p:nvSpPr>
          <p:cNvPr id="17" name="Rectangle 16">
            <a:extLst>
              <a:ext uri="{FF2B5EF4-FFF2-40B4-BE49-F238E27FC236}">
                <a16:creationId xmlns:a16="http://schemas.microsoft.com/office/drawing/2014/main" id="{8490AB9F-CA56-7F4A-B5DC-23EBF7268670}"/>
              </a:ext>
            </a:extLst>
          </p:cNvPr>
          <p:cNvSpPr/>
          <p:nvPr/>
        </p:nvSpPr>
        <p:spPr>
          <a:xfrm>
            <a:off x="7837083" y="4594452"/>
            <a:ext cx="1460305" cy="753440"/>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sont les différences entre « ce qui est vécu dans la Communauté » et « ce qui est sur le papier » ?</a:t>
            </a:r>
          </a:p>
        </p:txBody>
      </p:sp>
      <p:sp>
        <p:nvSpPr>
          <p:cNvPr id="18" name="Rectangle 17">
            <a:extLst>
              <a:ext uri="{FF2B5EF4-FFF2-40B4-BE49-F238E27FC236}">
                <a16:creationId xmlns:a16="http://schemas.microsoft.com/office/drawing/2014/main" id="{E271468B-64FF-2044-DA69-E02FA80356C5}"/>
              </a:ext>
            </a:extLst>
          </p:cNvPr>
          <p:cNvSpPr/>
          <p:nvPr/>
        </p:nvSpPr>
        <p:spPr>
          <a:xfrm>
            <a:off x="7837082" y="5414763"/>
            <a:ext cx="1460305" cy="753440"/>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Quels sont les écarts et les dissonances entre l’officiel (par exemple, les valeurs) et le concret dans la Communauté ? </a:t>
            </a:r>
          </a:p>
        </p:txBody>
      </p:sp>
      <p:sp>
        <p:nvSpPr>
          <p:cNvPr id="20" name="Rectangle 19">
            <a:extLst>
              <a:ext uri="{FF2B5EF4-FFF2-40B4-BE49-F238E27FC236}">
                <a16:creationId xmlns:a16="http://schemas.microsoft.com/office/drawing/2014/main" id="{90E4637F-D49A-BA70-B7E6-3900BA595ACC}"/>
              </a:ext>
            </a:extLst>
          </p:cNvPr>
          <p:cNvSpPr/>
          <p:nvPr/>
        </p:nvSpPr>
        <p:spPr>
          <a:xfrm>
            <a:off x="4585054" y="2034624"/>
            <a:ext cx="1460305" cy="753440"/>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objectifs posés par les différents membres sont-ils incompatibles? Et avec ceux des sponsors ? </a:t>
            </a:r>
          </a:p>
        </p:txBody>
      </p:sp>
      <p:sp>
        <p:nvSpPr>
          <p:cNvPr id="21" name="Rectangle 20">
            <a:extLst>
              <a:ext uri="{FF2B5EF4-FFF2-40B4-BE49-F238E27FC236}">
                <a16:creationId xmlns:a16="http://schemas.microsoft.com/office/drawing/2014/main" id="{1B78C102-68B3-09E4-7A44-A30B40531C2C}"/>
              </a:ext>
            </a:extLst>
          </p:cNvPr>
          <p:cNvSpPr/>
          <p:nvPr/>
        </p:nvSpPr>
        <p:spPr>
          <a:xfrm>
            <a:off x="6137081" y="2034624"/>
            <a:ext cx="1460305" cy="753440"/>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ambitions officielles de la Communauté créent-elles des différents ou des tensions entre membres ? Pourquoi ?</a:t>
            </a:r>
          </a:p>
        </p:txBody>
      </p:sp>
      <p:pic>
        <p:nvPicPr>
          <p:cNvPr id="26" name="Graphique 25" descr="Femme scientifique avec un remplissage uni">
            <a:extLst>
              <a:ext uri="{FF2B5EF4-FFF2-40B4-BE49-F238E27FC236}">
                <a16:creationId xmlns:a16="http://schemas.microsoft.com/office/drawing/2014/main" id="{7FCD875A-BF60-9B61-2105-9E9C214C5DF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133026" y="244132"/>
            <a:ext cx="771092" cy="771092"/>
          </a:xfrm>
          <a:prstGeom prst="rect">
            <a:avLst/>
          </a:prstGeom>
        </p:spPr>
      </p:pic>
      <p:sp>
        <p:nvSpPr>
          <p:cNvPr id="27" name="Rectangle 26">
            <a:extLst>
              <a:ext uri="{FF2B5EF4-FFF2-40B4-BE49-F238E27FC236}">
                <a16:creationId xmlns:a16="http://schemas.microsoft.com/office/drawing/2014/main" id="{41E0ADBA-3FD4-2F46-2943-37E758487408}"/>
              </a:ext>
            </a:extLst>
          </p:cNvPr>
          <p:cNvSpPr/>
          <p:nvPr/>
        </p:nvSpPr>
        <p:spPr>
          <a:xfrm>
            <a:off x="9057691" y="2063017"/>
            <a:ext cx="1460305" cy="753440"/>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Est-ce qu’il y a des écarts importants entre ce que différents membres reçoivent ou tirent de la Communauté ? Lesquels ?</a:t>
            </a:r>
          </a:p>
        </p:txBody>
      </p:sp>
      <p:sp>
        <p:nvSpPr>
          <p:cNvPr id="28" name="Rectangle 27">
            <a:extLst>
              <a:ext uri="{FF2B5EF4-FFF2-40B4-BE49-F238E27FC236}">
                <a16:creationId xmlns:a16="http://schemas.microsoft.com/office/drawing/2014/main" id="{C7BDF621-896D-D2DC-00AB-282C3E39317E}"/>
              </a:ext>
            </a:extLst>
          </p:cNvPr>
          <p:cNvSpPr/>
          <p:nvPr/>
        </p:nvSpPr>
        <p:spPr>
          <a:xfrm>
            <a:off x="10609718" y="2063017"/>
            <a:ext cx="1460305" cy="753440"/>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Qui sont ceux qui tirent le plus de la Communauté ? Le moins ? Comment s’entendent-ils ?</a:t>
            </a:r>
          </a:p>
        </p:txBody>
      </p:sp>
      <p:sp>
        <p:nvSpPr>
          <p:cNvPr id="29" name="Rectangle 28">
            <a:extLst>
              <a:ext uri="{FF2B5EF4-FFF2-40B4-BE49-F238E27FC236}">
                <a16:creationId xmlns:a16="http://schemas.microsoft.com/office/drawing/2014/main" id="{307256D0-0255-560F-8AC2-662BFDAA5D75}"/>
              </a:ext>
            </a:extLst>
          </p:cNvPr>
          <p:cNvSpPr/>
          <p:nvPr/>
        </p:nvSpPr>
        <p:spPr>
          <a:xfrm>
            <a:off x="229479" y="2033190"/>
            <a:ext cx="1460305" cy="753440"/>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Les attentes en termes de valeur sont-elles différentes entre les membres ? Entre membres et sponsors ? Et l’entreprise?</a:t>
            </a:r>
          </a:p>
        </p:txBody>
      </p:sp>
      <p:sp>
        <p:nvSpPr>
          <p:cNvPr id="30" name="Rectangle 29">
            <a:extLst>
              <a:ext uri="{FF2B5EF4-FFF2-40B4-BE49-F238E27FC236}">
                <a16:creationId xmlns:a16="http://schemas.microsoft.com/office/drawing/2014/main" id="{01931F18-D1AC-7109-29F5-F3AC41816E21}"/>
              </a:ext>
            </a:extLst>
          </p:cNvPr>
          <p:cNvSpPr/>
          <p:nvPr/>
        </p:nvSpPr>
        <p:spPr>
          <a:xfrm>
            <a:off x="1781506" y="2033190"/>
            <a:ext cx="1460305" cy="753440"/>
          </a:xfrm>
          <a:prstGeom prst="rect">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Quelles différences en termes de souhaits ont été exprimées ? Ne le sont pas encore ?</a:t>
            </a:r>
          </a:p>
        </p:txBody>
      </p:sp>
    </p:spTree>
    <p:extLst>
      <p:ext uri="{BB962C8B-B14F-4D97-AF65-F5344CB8AC3E}">
        <p14:creationId xmlns:p14="http://schemas.microsoft.com/office/powerpoint/2010/main" val="3868478744"/>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990D7B1-CEE7-13B0-12D4-811738829C25}"/>
              </a:ext>
            </a:extLst>
          </p:cNvPr>
          <p:cNvSpPr>
            <a:spLocks noGrp="1"/>
          </p:cNvSpPr>
          <p:nvPr>
            <p:ph type="title"/>
          </p:nvPr>
        </p:nvSpPr>
        <p:spPr>
          <a:xfrm>
            <a:off x="771525" y="-6259"/>
            <a:ext cx="10416812" cy="1182591"/>
          </a:xfrm>
        </p:spPr>
        <p:txBody>
          <a:bodyPr>
            <a:normAutofit/>
          </a:bodyPr>
          <a:lstStyle/>
          <a:p>
            <a:r>
              <a:rPr lang="fr-FR" sz="3200" dirty="0"/>
              <a:t>Les limites du renseignement délibéré</a:t>
            </a:r>
            <a:br>
              <a:rPr lang="fr-FR" sz="3200" dirty="0"/>
            </a:br>
            <a:r>
              <a:rPr lang="fr-FR" sz="3200" dirty="0"/>
              <a:t>Exemples de situations</a:t>
            </a:r>
          </a:p>
        </p:txBody>
      </p:sp>
      <p:sp>
        <p:nvSpPr>
          <p:cNvPr id="4" name="Espace réservé du contenu 2">
            <a:extLst>
              <a:ext uri="{FF2B5EF4-FFF2-40B4-BE49-F238E27FC236}">
                <a16:creationId xmlns:a16="http://schemas.microsoft.com/office/drawing/2014/main" id="{939225A4-DBAC-C547-86F6-B95E40D91300}"/>
              </a:ext>
            </a:extLst>
          </p:cNvPr>
          <p:cNvSpPr txBox="1">
            <a:spLocks/>
          </p:cNvSpPr>
          <p:nvPr/>
        </p:nvSpPr>
        <p:spPr>
          <a:xfrm>
            <a:off x="1595480" y="1176333"/>
            <a:ext cx="1483460" cy="1602915"/>
          </a:xfrm>
          <a:prstGeom prst="rect">
            <a:avLst/>
          </a:prstGeom>
          <a:solidFill>
            <a:srgbClr val="3494BA"/>
          </a:solidFill>
          <a:ln>
            <a:solidFill>
              <a:srgbClr val="3494BA"/>
            </a:solidFill>
          </a:ln>
        </p:spPr>
        <p:txBody>
          <a:bodyPr vert="horz" lIns="91440" tIns="45720" rIns="91440" bIns="4572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000" b="1" dirty="0">
                <a:solidFill>
                  <a:schemeClr val="bg1"/>
                </a:solidFill>
              </a:rPr>
              <a:t>Limites de mesure techniques ou logistiques</a:t>
            </a:r>
          </a:p>
          <a:p>
            <a:pPr marL="0" indent="0" algn="ctr">
              <a:buNone/>
            </a:pPr>
            <a:r>
              <a:rPr lang="fr-FR" sz="1000" dirty="0">
                <a:solidFill>
                  <a:schemeClr val="bg1"/>
                </a:solidFill>
              </a:rPr>
              <a:t>Ce qui est difficile voire impossible d’exprimer étant donnés les moyens, outils, d’expression</a:t>
            </a:r>
          </a:p>
        </p:txBody>
      </p:sp>
      <p:sp>
        <p:nvSpPr>
          <p:cNvPr id="5" name="Espace réservé du contenu 2">
            <a:extLst>
              <a:ext uri="{FF2B5EF4-FFF2-40B4-BE49-F238E27FC236}">
                <a16:creationId xmlns:a16="http://schemas.microsoft.com/office/drawing/2014/main" id="{5FDC04A3-98DA-C435-48EC-D786682211E5}"/>
              </a:ext>
            </a:extLst>
          </p:cNvPr>
          <p:cNvSpPr txBox="1">
            <a:spLocks/>
          </p:cNvSpPr>
          <p:nvPr/>
        </p:nvSpPr>
        <p:spPr>
          <a:xfrm>
            <a:off x="3100609" y="1176333"/>
            <a:ext cx="1483460" cy="1602915"/>
          </a:xfrm>
          <a:prstGeom prst="rect">
            <a:avLst/>
          </a:prstGeom>
          <a:solidFill>
            <a:srgbClr val="3494BA"/>
          </a:solidFill>
          <a:ln>
            <a:solidFill>
              <a:srgbClr val="3494BA"/>
            </a:solidFill>
          </a:ln>
        </p:spPr>
        <p:txBody>
          <a:bodyPr vert="horz" lIns="91440" tIns="45720" rIns="91440" bIns="4572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000" b="1" dirty="0">
                <a:solidFill>
                  <a:schemeClr val="bg1"/>
                </a:solidFill>
              </a:rPr>
              <a:t>Tabous reconnus comme tel</a:t>
            </a:r>
          </a:p>
          <a:p>
            <a:pPr marL="0" indent="0" algn="ctr">
              <a:buNone/>
            </a:pPr>
            <a:r>
              <a:rPr lang="fr-FR" sz="1000" dirty="0">
                <a:solidFill>
                  <a:schemeClr val="bg1"/>
                </a:solidFill>
              </a:rPr>
              <a:t>Ce qui est reconnu comme « non convenable » (immoral, trop risqué, …) de faire exprimer</a:t>
            </a:r>
          </a:p>
        </p:txBody>
      </p:sp>
      <p:sp>
        <p:nvSpPr>
          <p:cNvPr id="6" name="Espace réservé du contenu 2">
            <a:extLst>
              <a:ext uri="{FF2B5EF4-FFF2-40B4-BE49-F238E27FC236}">
                <a16:creationId xmlns:a16="http://schemas.microsoft.com/office/drawing/2014/main" id="{7945E7B3-1D5F-E384-2B33-4AF2BBECB154}"/>
              </a:ext>
            </a:extLst>
          </p:cNvPr>
          <p:cNvSpPr txBox="1">
            <a:spLocks/>
          </p:cNvSpPr>
          <p:nvPr/>
        </p:nvSpPr>
        <p:spPr>
          <a:xfrm>
            <a:off x="4605738" y="1176333"/>
            <a:ext cx="1483460" cy="1602915"/>
          </a:xfrm>
          <a:prstGeom prst="rect">
            <a:avLst/>
          </a:prstGeom>
          <a:solidFill>
            <a:srgbClr val="3494BA"/>
          </a:solidFill>
          <a:ln>
            <a:solidFill>
              <a:srgbClr val="3494BA"/>
            </a:solidFill>
          </a:ln>
        </p:spPr>
        <p:txBody>
          <a:bodyPr vert="horz" lIns="91440" tIns="45720" rIns="91440" bIns="4572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000" b="1" dirty="0">
                <a:solidFill>
                  <a:schemeClr val="bg1"/>
                </a:solidFill>
              </a:rPr>
              <a:t>Fausses insignifiances</a:t>
            </a:r>
          </a:p>
          <a:p>
            <a:pPr marL="0" indent="0" algn="ctr">
              <a:buNone/>
            </a:pPr>
            <a:r>
              <a:rPr lang="fr-FR" sz="1000" dirty="0">
                <a:solidFill>
                  <a:schemeClr val="bg1"/>
                </a:solidFill>
              </a:rPr>
              <a:t>Ce dont les parties ont conscience, mais qui ne semble pas assez important pour être exprimé, alors que ça pourrait l’être</a:t>
            </a:r>
          </a:p>
        </p:txBody>
      </p:sp>
      <p:sp>
        <p:nvSpPr>
          <p:cNvPr id="7" name="Espace réservé du contenu 2">
            <a:extLst>
              <a:ext uri="{FF2B5EF4-FFF2-40B4-BE49-F238E27FC236}">
                <a16:creationId xmlns:a16="http://schemas.microsoft.com/office/drawing/2014/main" id="{7D5E1EDA-0355-A41B-1C85-55D78B846A44}"/>
              </a:ext>
            </a:extLst>
          </p:cNvPr>
          <p:cNvSpPr txBox="1">
            <a:spLocks/>
          </p:cNvSpPr>
          <p:nvPr/>
        </p:nvSpPr>
        <p:spPr>
          <a:xfrm>
            <a:off x="6110867" y="1176333"/>
            <a:ext cx="1483460" cy="1602915"/>
          </a:xfrm>
          <a:prstGeom prst="rect">
            <a:avLst/>
          </a:prstGeom>
          <a:solidFill>
            <a:srgbClr val="3494BA"/>
          </a:solidFill>
          <a:ln>
            <a:solidFill>
              <a:srgbClr val="3494BA"/>
            </a:solidFill>
          </a:ln>
        </p:spPr>
        <p:txBody>
          <a:bodyPr vert="horz" lIns="91440" tIns="45720" rIns="91440" bIns="4572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000" b="1" dirty="0">
                <a:solidFill>
                  <a:schemeClr val="bg1"/>
                </a:solidFill>
              </a:rPr>
              <a:t>Points présents et inconscients</a:t>
            </a:r>
          </a:p>
          <a:p>
            <a:pPr marL="0" indent="0" algn="ctr">
              <a:buNone/>
            </a:pPr>
            <a:r>
              <a:rPr lang="fr-FR" sz="1000" dirty="0">
                <a:solidFill>
                  <a:schemeClr val="bg1"/>
                </a:solidFill>
              </a:rPr>
              <a:t>Ce dont les parties n’ont pas conscience ou qu’elles n’ont pas remarqué, et qu’elles n’expriment pas ou pas facilement</a:t>
            </a:r>
          </a:p>
        </p:txBody>
      </p:sp>
      <p:sp>
        <p:nvSpPr>
          <p:cNvPr id="9" name="ZoneTexte 8">
            <a:extLst>
              <a:ext uri="{FF2B5EF4-FFF2-40B4-BE49-F238E27FC236}">
                <a16:creationId xmlns:a16="http://schemas.microsoft.com/office/drawing/2014/main" id="{927BD583-21EE-1540-7917-33766E38DAC5}"/>
              </a:ext>
            </a:extLst>
          </p:cNvPr>
          <p:cNvSpPr txBox="1"/>
          <p:nvPr/>
        </p:nvSpPr>
        <p:spPr>
          <a:xfrm>
            <a:off x="90351" y="1176333"/>
            <a:ext cx="1483460" cy="1602915"/>
          </a:xfrm>
          <a:prstGeom prst="rect">
            <a:avLst/>
          </a:prstGeom>
          <a:solidFill>
            <a:srgbClr val="3494BA"/>
          </a:solidFill>
          <a:ln>
            <a:solidFill>
              <a:srgbClr val="3494BA"/>
            </a:solidFill>
          </a:ln>
        </p:spPr>
        <p:txBody>
          <a:bodyPr wrap="square" anchor="t">
            <a:noAutofit/>
          </a:bodyPr>
          <a:lstStyle/>
          <a:p>
            <a:pPr algn="ctr"/>
            <a:r>
              <a:rPr lang="fr-FR" sz="1000" b="1" dirty="0">
                <a:solidFill>
                  <a:schemeClr val="bg1"/>
                </a:solidFill>
              </a:rPr>
              <a:t>Craintes situationnelles</a:t>
            </a:r>
          </a:p>
          <a:p>
            <a:pPr algn="ctr"/>
            <a:endParaRPr lang="fr-FR" sz="1000" dirty="0">
              <a:solidFill>
                <a:schemeClr val="bg1"/>
              </a:solidFill>
            </a:endParaRPr>
          </a:p>
          <a:p>
            <a:pPr algn="ctr"/>
            <a:r>
              <a:rPr lang="fr-FR" sz="1000" dirty="0">
                <a:solidFill>
                  <a:schemeClr val="bg1"/>
                </a:solidFill>
              </a:rPr>
              <a:t>Ce que les parties n’osent pas exprimer dans une situation donnée</a:t>
            </a:r>
          </a:p>
        </p:txBody>
      </p:sp>
      <p:sp>
        <p:nvSpPr>
          <p:cNvPr id="10" name="Espace réservé du contenu 2">
            <a:extLst>
              <a:ext uri="{FF2B5EF4-FFF2-40B4-BE49-F238E27FC236}">
                <a16:creationId xmlns:a16="http://schemas.microsoft.com/office/drawing/2014/main" id="{DEA74067-3F9E-9611-1625-2DB0CC6B086F}"/>
              </a:ext>
            </a:extLst>
          </p:cNvPr>
          <p:cNvSpPr txBox="1">
            <a:spLocks/>
          </p:cNvSpPr>
          <p:nvPr/>
        </p:nvSpPr>
        <p:spPr>
          <a:xfrm>
            <a:off x="7615998" y="1176333"/>
            <a:ext cx="1483460" cy="1602915"/>
          </a:xfrm>
          <a:prstGeom prst="rect">
            <a:avLst/>
          </a:prstGeom>
          <a:solidFill>
            <a:srgbClr val="3494BA"/>
          </a:solidFill>
          <a:ln>
            <a:solidFill>
              <a:srgbClr val="3494BA"/>
            </a:solidFill>
          </a:ln>
        </p:spPr>
        <p:txBody>
          <a:bodyPr vert="horz" lIns="91440" tIns="45720" rIns="91440" bIns="4572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000" b="1" dirty="0">
                <a:solidFill>
                  <a:schemeClr val="bg1"/>
                </a:solidFill>
              </a:rPr>
              <a:t>Manqués</a:t>
            </a:r>
          </a:p>
          <a:p>
            <a:pPr marL="0" indent="0" algn="ctr">
              <a:buNone/>
            </a:pPr>
            <a:r>
              <a:rPr lang="fr-FR" sz="1000" dirty="0">
                <a:solidFill>
                  <a:schemeClr val="bg1"/>
                </a:solidFill>
              </a:rPr>
              <a:t>Ce qui aurait voulu être exprimé, mais que les circonstances ont fait manquer (oubli, incompréhension, etc.)</a:t>
            </a:r>
          </a:p>
        </p:txBody>
      </p:sp>
      <p:sp>
        <p:nvSpPr>
          <p:cNvPr id="11" name="ZoneTexte 10">
            <a:extLst>
              <a:ext uri="{FF2B5EF4-FFF2-40B4-BE49-F238E27FC236}">
                <a16:creationId xmlns:a16="http://schemas.microsoft.com/office/drawing/2014/main" id="{00A39D21-727D-0A4E-1387-25E8B409FD4A}"/>
              </a:ext>
            </a:extLst>
          </p:cNvPr>
          <p:cNvSpPr txBox="1"/>
          <p:nvPr/>
        </p:nvSpPr>
        <p:spPr>
          <a:xfrm>
            <a:off x="90351" y="2817639"/>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Auto-censure</a:t>
            </a:r>
          </a:p>
          <a:p>
            <a:pPr algn="ctr"/>
            <a:r>
              <a:rPr lang="fr-FR" sz="1000" dirty="0"/>
              <a:t>Par peur d’être pointés du doigt et suite à des représailles fortes dans le passé, les membres n’expriment pas leurs mécontentements vis-à-vis du sponsor un peu trop présent ou du Community Manager considéré comme « son allié »</a:t>
            </a:r>
          </a:p>
        </p:txBody>
      </p:sp>
      <p:sp>
        <p:nvSpPr>
          <p:cNvPr id="12" name="ZoneTexte 11">
            <a:extLst>
              <a:ext uri="{FF2B5EF4-FFF2-40B4-BE49-F238E27FC236}">
                <a16:creationId xmlns:a16="http://schemas.microsoft.com/office/drawing/2014/main" id="{4BA308DD-4CE8-F77D-5662-D3717B7FA8EB}"/>
              </a:ext>
            </a:extLst>
          </p:cNvPr>
          <p:cNvSpPr txBox="1"/>
          <p:nvPr/>
        </p:nvSpPr>
        <p:spPr>
          <a:xfrm>
            <a:off x="1595480" y="2817639"/>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Limites techniques</a:t>
            </a:r>
          </a:p>
          <a:p>
            <a:pPr algn="ctr"/>
            <a:r>
              <a:rPr lang="fr-FR" sz="1000" dirty="0"/>
              <a:t>Pour des raisons de sécurité informatique, l’outil de sondage n’est accessible qu’aux internes de l’entreprise et pas aux prestataires, qui pourtant sont ceux qui organisent les Communautés.</a:t>
            </a:r>
          </a:p>
        </p:txBody>
      </p:sp>
      <p:sp>
        <p:nvSpPr>
          <p:cNvPr id="14" name="ZoneTexte 13">
            <a:extLst>
              <a:ext uri="{FF2B5EF4-FFF2-40B4-BE49-F238E27FC236}">
                <a16:creationId xmlns:a16="http://schemas.microsoft.com/office/drawing/2014/main" id="{E667857C-6A28-DC52-2DE2-B1974D83B145}"/>
              </a:ext>
            </a:extLst>
          </p:cNvPr>
          <p:cNvSpPr txBox="1"/>
          <p:nvPr/>
        </p:nvSpPr>
        <p:spPr>
          <a:xfrm>
            <a:off x="4605740" y="2817639"/>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Potentiels d’amélioration </a:t>
            </a:r>
          </a:p>
          <a:p>
            <a:pPr algn="ctr"/>
            <a:r>
              <a:rPr lang="fr-FR" sz="1000" b="1" dirty="0"/>
              <a:t>« cachés »</a:t>
            </a:r>
          </a:p>
          <a:p>
            <a:pPr algn="ctr"/>
            <a:r>
              <a:rPr lang="fr-FR" sz="1000" dirty="0"/>
              <a:t>Beaucoup ont fini par se faire aux bugs de l’outil de travail (tableau blanc numérique) de la Communauté, et ne prennent pas le temps de les noter comme potentiel d’amélioration, malgré un quotidien très contraignant et limitatif.</a:t>
            </a:r>
          </a:p>
        </p:txBody>
      </p:sp>
      <p:sp>
        <p:nvSpPr>
          <p:cNvPr id="15" name="ZoneTexte 14">
            <a:extLst>
              <a:ext uri="{FF2B5EF4-FFF2-40B4-BE49-F238E27FC236}">
                <a16:creationId xmlns:a16="http://schemas.microsoft.com/office/drawing/2014/main" id="{14828AA0-5B14-AB6F-C4EE-422A11F629C5}"/>
              </a:ext>
            </a:extLst>
          </p:cNvPr>
          <p:cNvSpPr txBox="1"/>
          <p:nvPr/>
        </p:nvSpPr>
        <p:spPr>
          <a:xfrm>
            <a:off x="6110869" y="2817639"/>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Difficulté à pointer</a:t>
            </a:r>
          </a:p>
          <a:p>
            <a:pPr algn="ctr"/>
            <a:r>
              <a:rPr lang="fr-FR" sz="1000" dirty="0"/>
              <a:t>Dans la Communauté des ambassadeurs, certains membres motivés ne comprennent pas vraiment ce qui les bloquent. Ils mentionnent surtout le « manque de temps », mais lorsqu’on les aide à creuser, de nombreuses raisons peuvent émerger (conflit par exemple.)</a:t>
            </a:r>
          </a:p>
        </p:txBody>
      </p:sp>
      <p:sp>
        <p:nvSpPr>
          <p:cNvPr id="16" name="ZoneTexte 15">
            <a:extLst>
              <a:ext uri="{FF2B5EF4-FFF2-40B4-BE49-F238E27FC236}">
                <a16:creationId xmlns:a16="http://schemas.microsoft.com/office/drawing/2014/main" id="{AB2E5BCC-71A4-2803-9F05-876F050D5720}"/>
              </a:ext>
            </a:extLst>
          </p:cNvPr>
          <p:cNvSpPr txBox="1"/>
          <p:nvPr/>
        </p:nvSpPr>
        <p:spPr>
          <a:xfrm>
            <a:off x="7615998" y="2817639"/>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Dilution d’information</a:t>
            </a:r>
          </a:p>
          <a:p>
            <a:pPr algn="ctr"/>
            <a:r>
              <a:rPr lang="fr-FR" sz="1000" dirty="0"/>
              <a:t>Les journées de séminaire de la Communauté EFGH a été très longue et riche. Quand on demande le ressenti et retours des membres, on a surtout de l’information sur la fin de l’événement et les moments forts, mais aucune information sur le début car oublié.</a:t>
            </a:r>
          </a:p>
        </p:txBody>
      </p:sp>
      <p:sp>
        <p:nvSpPr>
          <p:cNvPr id="17" name="ZoneTexte 16">
            <a:extLst>
              <a:ext uri="{FF2B5EF4-FFF2-40B4-BE49-F238E27FC236}">
                <a16:creationId xmlns:a16="http://schemas.microsoft.com/office/drawing/2014/main" id="{39B3ECE4-3741-06A0-39A5-9CAA8F5429C5}"/>
              </a:ext>
            </a:extLst>
          </p:cNvPr>
          <p:cNvSpPr txBox="1"/>
          <p:nvPr/>
        </p:nvSpPr>
        <p:spPr>
          <a:xfrm>
            <a:off x="90351" y="4857015"/>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Dissimulation</a:t>
            </a:r>
          </a:p>
          <a:p>
            <a:pPr algn="ctr"/>
            <a:r>
              <a:rPr lang="fr-FR" sz="1000" dirty="0"/>
              <a:t>Dans la Communauté de pratique XYZ, la motivation de certains membres sont liés à une compétition entre certaines hiérarchies pour « détenir le sujet », mais ils n’osent pas mettre ce point en avant et expriment plutôt l’impact positif et le sens.</a:t>
            </a:r>
          </a:p>
        </p:txBody>
      </p:sp>
      <p:sp>
        <p:nvSpPr>
          <p:cNvPr id="18" name="ZoneTexte 17">
            <a:extLst>
              <a:ext uri="{FF2B5EF4-FFF2-40B4-BE49-F238E27FC236}">
                <a16:creationId xmlns:a16="http://schemas.microsoft.com/office/drawing/2014/main" id="{96A35616-0C7F-1B33-51B9-42779FC7B888}"/>
              </a:ext>
            </a:extLst>
          </p:cNvPr>
          <p:cNvSpPr txBox="1"/>
          <p:nvPr/>
        </p:nvSpPr>
        <p:spPr>
          <a:xfrm>
            <a:off x="1595480" y="4857015"/>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Limites de sollicitation</a:t>
            </a:r>
          </a:p>
          <a:p>
            <a:pPr algn="ctr"/>
            <a:r>
              <a:rPr lang="fr-FR" sz="1000" dirty="0"/>
              <a:t>Il y aurait beaucoup d’informations intéressantes à partager entre les membres. Mais ils ont déjà été tellement sollicité dernièrement et n’ont tellement pas goût à de longs questionnaires qu’on doit se limiter.</a:t>
            </a:r>
          </a:p>
        </p:txBody>
      </p:sp>
      <p:sp>
        <p:nvSpPr>
          <p:cNvPr id="19" name="ZoneTexte 18">
            <a:extLst>
              <a:ext uri="{FF2B5EF4-FFF2-40B4-BE49-F238E27FC236}">
                <a16:creationId xmlns:a16="http://schemas.microsoft.com/office/drawing/2014/main" id="{CD1F02FB-30F3-B3A0-B239-A7D14C14DC7F}"/>
              </a:ext>
            </a:extLst>
          </p:cNvPr>
          <p:cNvSpPr txBox="1"/>
          <p:nvPr/>
        </p:nvSpPr>
        <p:spPr>
          <a:xfrm>
            <a:off x="4605740" y="4857015"/>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Sous-estimation de l’importance</a:t>
            </a:r>
          </a:p>
          <a:p>
            <a:pPr algn="ctr"/>
            <a:r>
              <a:rPr lang="fr-FR" sz="1000" dirty="0"/>
              <a:t>Les membres ont souvent négligé le rôle que pouvait jouer le sponsor sur leurs libertés, jusqu’au jour où il est parti. De nombreux sujets intéressants pour les membres ont perdu tout soutien extérieur jusqu’à disparaître.</a:t>
            </a:r>
          </a:p>
        </p:txBody>
      </p:sp>
      <p:sp>
        <p:nvSpPr>
          <p:cNvPr id="20" name="ZoneTexte 19">
            <a:extLst>
              <a:ext uri="{FF2B5EF4-FFF2-40B4-BE49-F238E27FC236}">
                <a16:creationId xmlns:a16="http://schemas.microsoft.com/office/drawing/2014/main" id="{4D68CBCD-2BB5-F9D1-8128-E8A387C8B962}"/>
              </a:ext>
            </a:extLst>
          </p:cNvPr>
          <p:cNvSpPr txBox="1"/>
          <p:nvPr/>
        </p:nvSpPr>
        <p:spPr>
          <a:xfrm>
            <a:off x="6110869" y="4857015"/>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Point complexe</a:t>
            </a:r>
          </a:p>
          <a:p>
            <a:pPr algn="ctr"/>
            <a:r>
              <a:rPr lang="fr-FR" sz="1000" dirty="0"/>
              <a:t>Chaque membre souhaite ne plus avoir à « passer de personne en personne pour arriver à traiter un sujet » et veut des points de contact, mais en même temps souhaite éviter « d’être sollicité par tous ». Aucun ne comprend la difficulté de ces 2 contraintes simultanées.</a:t>
            </a:r>
          </a:p>
        </p:txBody>
      </p:sp>
      <p:sp>
        <p:nvSpPr>
          <p:cNvPr id="21" name="ZoneTexte 20">
            <a:extLst>
              <a:ext uri="{FF2B5EF4-FFF2-40B4-BE49-F238E27FC236}">
                <a16:creationId xmlns:a16="http://schemas.microsoft.com/office/drawing/2014/main" id="{24D4D136-F795-637C-DD78-6755D5E58749}"/>
              </a:ext>
            </a:extLst>
          </p:cNvPr>
          <p:cNvSpPr txBox="1"/>
          <p:nvPr/>
        </p:nvSpPr>
        <p:spPr>
          <a:xfrm>
            <a:off x="7615998" y="4857015"/>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Opportunités manquées</a:t>
            </a:r>
          </a:p>
          <a:p>
            <a:pPr algn="ctr"/>
            <a:r>
              <a:rPr lang="fr-FR" sz="1000" dirty="0"/>
              <a:t>Il fallait bien mettre une date limite au sondage, et la plupart des utilisateurs de la plateforme XYZ (constituant la Communauté) n’ayant pas vu passer la notification, la réponse au sondage est très limitée.</a:t>
            </a:r>
          </a:p>
        </p:txBody>
      </p:sp>
      <p:sp>
        <p:nvSpPr>
          <p:cNvPr id="22" name="ZoneTexte 21">
            <a:extLst>
              <a:ext uri="{FF2B5EF4-FFF2-40B4-BE49-F238E27FC236}">
                <a16:creationId xmlns:a16="http://schemas.microsoft.com/office/drawing/2014/main" id="{8814A7D3-BDB2-C9AF-FD63-0737AE1D7948}"/>
              </a:ext>
            </a:extLst>
          </p:cNvPr>
          <p:cNvSpPr txBox="1"/>
          <p:nvPr/>
        </p:nvSpPr>
        <p:spPr>
          <a:xfrm>
            <a:off x="3100609" y="2817639"/>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Sujets à passif</a:t>
            </a:r>
          </a:p>
          <a:p>
            <a:pPr algn="ctr"/>
            <a:r>
              <a:rPr lang="fr-FR" sz="1000" dirty="0"/>
              <a:t>Dans la culture de l’entreprise XYZ, il est mal vu de parler de reconnaissance sociale, car cela est lié à des sujets conflictuels historiques. Aborder ce thème dans ces mots pourrait déclencher des complications mal venues avec certaines organisations.</a:t>
            </a:r>
          </a:p>
        </p:txBody>
      </p:sp>
      <p:sp>
        <p:nvSpPr>
          <p:cNvPr id="23" name="ZoneTexte 22">
            <a:extLst>
              <a:ext uri="{FF2B5EF4-FFF2-40B4-BE49-F238E27FC236}">
                <a16:creationId xmlns:a16="http://schemas.microsoft.com/office/drawing/2014/main" id="{657BFA39-4D3C-2DDF-74EF-454B488DD220}"/>
              </a:ext>
            </a:extLst>
          </p:cNvPr>
          <p:cNvSpPr txBox="1"/>
          <p:nvPr/>
        </p:nvSpPr>
        <p:spPr>
          <a:xfrm>
            <a:off x="3100609" y="4857015"/>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Sujet exclu de la culture</a:t>
            </a:r>
          </a:p>
          <a:p>
            <a:pPr algn="ctr"/>
            <a:r>
              <a:rPr lang="fr-FR" sz="1000" dirty="0"/>
              <a:t>Entre les membres de la Communauté sur le sujet technique ABCD, parler d’argent, d’augmentation ou même de carrière dans ce domaine est un sujet que chacun imagine comme tabou, alors qu’individuellement c’est une préoccupation forte.</a:t>
            </a:r>
          </a:p>
        </p:txBody>
      </p:sp>
      <p:sp>
        <p:nvSpPr>
          <p:cNvPr id="32" name="Espace réservé du contenu 2">
            <a:extLst>
              <a:ext uri="{FF2B5EF4-FFF2-40B4-BE49-F238E27FC236}">
                <a16:creationId xmlns:a16="http://schemas.microsoft.com/office/drawing/2014/main" id="{AE3E5DE6-52A6-A9E7-0F00-44FAF09D2C48}"/>
              </a:ext>
            </a:extLst>
          </p:cNvPr>
          <p:cNvSpPr txBox="1">
            <a:spLocks/>
          </p:cNvSpPr>
          <p:nvPr/>
        </p:nvSpPr>
        <p:spPr>
          <a:xfrm>
            <a:off x="9121128" y="1176333"/>
            <a:ext cx="1483460" cy="1602915"/>
          </a:xfrm>
          <a:prstGeom prst="rect">
            <a:avLst/>
          </a:prstGeom>
          <a:solidFill>
            <a:srgbClr val="3494BA"/>
          </a:solidFill>
          <a:ln>
            <a:solidFill>
              <a:srgbClr val="3494BA"/>
            </a:solidFill>
          </a:ln>
        </p:spPr>
        <p:txBody>
          <a:bodyPr vert="horz" lIns="91440" tIns="45720" rIns="91440" bIns="4572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000" b="1" dirty="0">
                <a:solidFill>
                  <a:schemeClr val="bg1"/>
                </a:solidFill>
              </a:rPr>
              <a:t>Informations indisponibles en amont</a:t>
            </a:r>
          </a:p>
          <a:p>
            <a:pPr marL="0" indent="0" algn="ctr">
              <a:buNone/>
            </a:pPr>
            <a:r>
              <a:rPr lang="fr-FR" sz="1000" dirty="0">
                <a:solidFill>
                  <a:schemeClr val="bg1"/>
                </a:solidFill>
              </a:rPr>
              <a:t>Ce qui ne peut pas encore être exprimé à date ou en amont de la vie de Communauté</a:t>
            </a:r>
          </a:p>
        </p:txBody>
      </p:sp>
      <p:sp>
        <p:nvSpPr>
          <p:cNvPr id="33" name="ZoneTexte 32">
            <a:extLst>
              <a:ext uri="{FF2B5EF4-FFF2-40B4-BE49-F238E27FC236}">
                <a16:creationId xmlns:a16="http://schemas.microsoft.com/office/drawing/2014/main" id="{042BC55A-2DCF-61BC-E16A-EA29DA315E51}"/>
              </a:ext>
            </a:extLst>
          </p:cNvPr>
          <p:cNvSpPr txBox="1"/>
          <p:nvPr/>
        </p:nvSpPr>
        <p:spPr>
          <a:xfrm>
            <a:off x="10634325" y="2817639"/>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Biais du survivant </a:t>
            </a:r>
            <a:r>
              <a:rPr lang="fr-FR" sz="1000" dirty="0"/>
              <a:t>: </a:t>
            </a:r>
          </a:p>
          <a:p>
            <a:pPr algn="ctr"/>
            <a:r>
              <a:rPr lang="fr-FR" sz="1000" dirty="0"/>
              <a:t>Suite à une baisse d’activité, le Community Manager a demandé aux membres quelles étaient leurs plus grandes difficultés, c’est surtout les membres « qui ne sont pas encore partis » qui se sont exprimés.</a:t>
            </a:r>
          </a:p>
        </p:txBody>
      </p:sp>
      <p:sp>
        <p:nvSpPr>
          <p:cNvPr id="34" name="ZoneTexte 33">
            <a:extLst>
              <a:ext uri="{FF2B5EF4-FFF2-40B4-BE49-F238E27FC236}">
                <a16:creationId xmlns:a16="http://schemas.microsoft.com/office/drawing/2014/main" id="{89B63427-E2CF-64AE-7D71-D7C52CCDFD96}"/>
              </a:ext>
            </a:extLst>
          </p:cNvPr>
          <p:cNvSpPr txBox="1"/>
          <p:nvPr/>
        </p:nvSpPr>
        <p:spPr>
          <a:xfrm>
            <a:off x="10634325" y="4857015"/>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Limites d’interprétation </a:t>
            </a:r>
            <a:r>
              <a:rPr lang="fr-FR" sz="1000" dirty="0"/>
              <a:t>: Selon le ton avec lequel on relit les transcriptions des interviews des membres, on peut déduire vraiment une position à prendre ou tout son contraire. Une information complémentaire pourrait aider à décider d’une interprétation correcte.</a:t>
            </a:r>
          </a:p>
        </p:txBody>
      </p:sp>
      <p:sp>
        <p:nvSpPr>
          <p:cNvPr id="24" name="ZoneTexte 23">
            <a:extLst>
              <a:ext uri="{FF2B5EF4-FFF2-40B4-BE49-F238E27FC236}">
                <a16:creationId xmlns:a16="http://schemas.microsoft.com/office/drawing/2014/main" id="{DCED0D94-DC46-7E1A-40FB-2F525B09D1C6}"/>
              </a:ext>
            </a:extLst>
          </p:cNvPr>
          <p:cNvSpPr txBox="1"/>
          <p:nvPr/>
        </p:nvSpPr>
        <p:spPr>
          <a:xfrm>
            <a:off x="9121127" y="2817639"/>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Informations accessibles par l’exécution seulement</a:t>
            </a:r>
            <a:r>
              <a:rPr lang="fr-FR" sz="1000" dirty="0"/>
              <a:t>: </a:t>
            </a:r>
          </a:p>
          <a:p>
            <a:pPr algn="ctr"/>
            <a:r>
              <a:rPr lang="fr-FR" sz="1000" dirty="0"/>
              <a:t>Tant que certaines expériences n’ont pas été vécues sur plusieurs sessions, il est difficile de prendre du recul sur leur valeur opérationnelle et de s’exprimer a priori sur ce sujet (mais a posteriori ok)</a:t>
            </a:r>
          </a:p>
        </p:txBody>
      </p:sp>
      <p:sp>
        <p:nvSpPr>
          <p:cNvPr id="25" name="ZoneTexte 24">
            <a:extLst>
              <a:ext uri="{FF2B5EF4-FFF2-40B4-BE49-F238E27FC236}">
                <a16:creationId xmlns:a16="http://schemas.microsoft.com/office/drawing/2014/main" id="{76689030-5131-F10B-58D8-B0101E46C29F}"/>
              </a:ext>
            </a:extLst>
          </p:cNvPr>
          <p:cNvSpPr txBox="1"/>
          <p:nvPr/>
        </p:nvSpPr>
        <p:spPr>
          <a:xfrm>
            <a:off x="9121127" y="4857015"/>
            <a:ext cx="1483460" cy="2000985"/>
          </a:xfrm>
          <a:prstGeom prst="rect">
            <a:avLst/>
          </a:prstGeom>
          <a:solidFill>
            <a:schemeClr val="bg1"/>
          </a:solidFill>
          <a:ln>
            <a:solidFill>
              <a:schemeClr val="tx1"/>
            </a:solidFill>
          </a:ln>
        </p:spPr>
        <p:txBody>
          <a:bodyPr wrap="square" anchor="ctr">
            <a:noAutofit/>
          </a:bodyPr>
          <a:lstStyle/>
          <a:p>
            <a:pPr algn="ctr"/>
            <a:r>
              <a:rPr lang="fr-FR" sz="1000" b="1" dirty="0"/>
              <a:t>Ignorance ignorée </a:t>
            </a:r>
          </a:p>
          <a:p>
            <a:pPr algn="ctr"/>
            <a:r>
              <a:rPr lang="fr-FR" sz="1000" dirty="0"/>
              <a:t>Les membres n’ont jamais vu d’exemples  en entreprise de Communautés orientées « Impact positif » telles que des Communautés caritatives. Ils ne savent pas ou peu s’exprimer dessus.</a:t>
            </a:r>
          </a:p>
        </p:txBody>
      </p:sp>
      <p:sp>
        <p:nvSpPr>
          <p:cNvPr id="27" name="Espace réservé du contenu 2">
            <a:extLst>
              <a:ext uri="{FF2B5EF4-FFF2-40B4-BE49-F238E27FC236}">
                <a16:creationId xmlns:a16="http://schemas.microsoft.com/office/drawing/2014/main" id="{BEF4A122-1BD2-7398-3C22-C439E8F8607A}"/>
              </a:ext>
            </a:extLst>
          </p:cNvPr>
          <p:cNvSpPr txBox="1">
            <a:spLocks/>
          </p:cNvSpPr>
          <p:nvPr/>
        </p:nvSpPr>
        <p:spPr>
          <a:xfrm>
            <a:off x="10626258" y="1176332"/>
            <a:ext cx="1483460" cy="1602915"/>
          </a:xfrm>
          <a:prstGeom prst="rect">
            <a:avLst/>
          </a:prstGeom>
          <a:solidFill>
            <a:srgbClr val="3494BA"/>
          </a:solidFill>
          <a:ln>
            <a:solidFill>
              <a:srgbClr val="3494BA"/>
            </a:solidFill>
          </a:ln>
        </p:spPr>
        <p:txBody>
          <a:bodyPr vert="horz" lIns="91440" tIns="45720" rIns="91440" bIns="4572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000" b="1" dirty="0">
                <a:solidFill>
                  <a:schemeClr val="bg1"/>
                </a:solidFill>
              </a:rPr>
              <a:t>Autres</a:t>
            </a:r>
          </a:p>
        </p:txBody>
      </p:sp>
      <p:pic>
        <p:nvPicPr>
          <p:cNvPr id="28" name="Graphique 27" descr="Femme scientifique avec un remplissage uni">
            <a:extLst>
              <a:ext uri="{FF2B5EF4-FFF2-40B4-BE49-F238E27FC236}">
                <a16:creationId xmlns:a16="http://schemas.microsoft.com/office/drawing/2014/main" id="{82CB426B-C24E-E52A-D687-937E69FC214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133026" y="244132"/>
            <a:ext cx="771092" cy="771092"/>
          </a:xfrm>
          <a:prstGeom prst="rect">
            <a:avLst/>
          </a:prstGeom>
        </p:spPr>
      </p:pic>
    </p:spTree>
    <p:extLst>
      <p:ext uri="{BB962C8B-B14F-4D97-AF65-F5344CB8AC3E}">
        <p14:creationId xmlns:p14="http://schemas.microsoft.com/office/powerpoint/2010/main" val="2699635114"/>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07A2B7B-2550-D2EB-996C-552D918CD20F}"/>
              </a:ext>
            </a:extLst>
          </p:cNvPr>
          <p:cNvSpPr>
            <a:spLocks noGrp="1"/>
          </p:cNvSpPr>
          <p:nvPr>
            <p:ph type="title"/>
          </p:nvPr>
        </p:nvSpPr>
        <p:spPr>
          <a:xfrm>
            <a:off x="1685924" y="365125"/>
            <a:ext cx="9667875" cy="1325563"/>
          </a:xfrm>
        </p:spPr>
        <p:txBody>
          <a:bodyPr/>
          <a:lstStyle/>
          <a:p>
            <a:r>
              <a:rPr lang="fr-FR" dirty="0"/>
              <a:t>Le Renseignement par interception</a:t>
            </a:r>
          </a:p>
        </p:txBody>
      </p:sp>
      <p:sp>
        <p:nvSpPr>
          <p:cNvPr id="3" name="Espace réservé du contenu 2">
            <a:extLst>
              <a:ext uri="{FF2B5EF4-FFF2-40B4-BE49-F238E27FC236}">
                <a16:creationId xmlns:a16="http://schemas.microsoft.com/office/drawing/2014/main" id="{20817707-0C0D-10DE-3CEF-6AD3C32BE121}"/>
              </a:ext>
            </a:extLst>
          </p:cNvPr>
          <p:cNvSpPr>
            <a:spLocks noGrp="1"/>
          </p:cNvSpPr>
          <p:nvPr>
            <p:ph idx="1"/>
          </p:nvPr>
        </p:nvSpPr>
        <p:spPr>
          <a:xfrm>
            <a:off x="838201" y="1825625"/>
            <a:ext cx="3076574" cy="4745860"/>
          </a:xfrm>
        </p:spPr>
        <p:txBody>
          <a:bodyPr>
            <a:normAutofit fontScale="92500" lnSpcReduction="20000"/>
          </a:bodyPr>
          <a:lstStyle/>
          <a:p>
            <a:pPr marL="0" indent="0">
              <a:buNone/>
            </a:pPr>
            <a:r>
              <a:rPr lang="fr-FR" sz="1800" b="1" dirty="0"/>
              <a:t>Qu’est-ce que c’est ? </a:t>
            </a:r>
          </a:p>
          <a:p>
            <a:pPr marL="0" indent="0">
              <a:buNone/>
            </a:pPr>
            <a:r>
              <a:rPr lang="fr-FR" sz="1800" dirty="0"/>
              <a:t>Le renseignement par interception est plus communément appelé le renseignement « terrain ».</a:t>
            </a:r>
          </a:p>
          <a:p>
            <a:pPr marL="0" indent="0">
              <a:buNone/>
            </a:pPr>
            <a:r>
              <a:rPr lang="fr-FR" sz="1800" dirty="0"/>
              <a:t>Il s’agit de la captation d’information sans avoir défini (et donc souvent sans exprimer) au préalable quelles informations on souhaite capter, sous quel format, dans quelles modalités, suivant quelle grille de lecture, etc. </a:t>
            </a:r>
          </a:p>
          <a:p>
            <a:pPr marL="0" indent="0">
              <a:buNone/>
            </a:pPr>
            <a:r>
              <a:rPr lang="fr-FR" sz="1800" dirty="0"/>
              <a:t>Il se base beaucoup sur l’observation et l’interprétation. C’est souvent une forme « non voulue » et naturelle, ce qui préserve les relations avec les parties. La relation de confiance avec les parties peut être clé pour ce renseignement.</a:t>
            </a:r>
          </a:p>
          <a:p>
            <a:endParaRPr lang="fr-FR" sz="1800" dirty="0"/>
          </a:p>
        </p:txBody>
      </p:sp>
      <p:sp>
        <p:nvSpPr>
          <p:cNvPr id="4" name="Espace réservé du contenu 2">
            <a:extLst>
              <a:ext uri="{FF2B5EF4-FFF2-40B4-BE49-F238E27FC236}">
                <a16:creationId xmlns:a16="http://schemas.microsoft.com/office/drawing/2014/main" id="{17BFC387-3E12-3C5B-1CD5-FEF7D8290E25}"/>
              </a:ext>
            </a:extLst>
          </p:cNvPr>
          <p:cNvSpPr txBox="1">
            <a:spLocks/>
          </p:cNvSpPr>
          <p:nvPr/>
        </p:nvSpPr>
        <p:spPr>
          <a:xfrm>
            <a:off x="4362451" y="1825625"/>
            <a:ext cx="3276600" cy="435133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fr-FR" sz="1800" b="1" dirty="0"/>
              <a:t>Avantages &amp; Inconvénients</a:t>
            </a:r>
          </a:p>
          <a:p>
            <a:pPr marL="0" indent="0">
              <a:buNone/>
            </a:pPr>
            <a:endParaRPr lang="fr-FR" sz="1800" dirty="0"/>
          </a:p>
        </p:txBody>
      </p:sp>
      <p:sp>
        <p:nvSpPr>
          <p:cNvPr id="5" name="Espace réservé du contenu 2">
            <a:extLst>
              <a:ext uri="{FF2B5EF4-FFF2-40B4-BE49-F238E27FC236}">
                <a16:creationId xmlns:a16="http://schemas.microsoft.com/office/drawing/2014/main" id="{5F2D11EB-E222-91BF-2DF9-9192BD137BD1}"/>
              </a:ext>
            </a:extLst>
          </p:cNvPr>
          <p:cNvSpPr txBox="1">
            <a:spLocks/>
          </p:cNvSpPr>
          <p:nvPr/>
        </p:nvSpPr>
        <p:spPr>
          <a:xfrm>
            <a:off x="7886701" y="1825625"/>
            <a:ext cx="3276600" cy="4351338"/>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800" b="1" dirty="0"/>
              <a:t>Différence majeures avec le renseignement délibéré</a:t>
            </a:r>
            <a:endParaRPr lang="fr-FR" sz="1600" dirty="0"/>
          </a:p>
          <a:p>
            <a:r>
              <a:rPr lang="fr-FR" sz="1800" dirty="0"/>
              <a:t>Les informations sont « interceptées » (souvent officieusement)</a:t>
            </a:r>
          </a:p>
          <a:p>
            <a:r>
              <a:rPr lang="fr-FR" sz="1800" dirty="0"/>
              <a:t>Beaucoup plus exposé aux biais de confirmation, biais affectif, stéréotypes et préjugés</a:t>
            </a:r>
          </a:p>
          <a:p>
            <a:r>
              <a:rPr lang="fr-FR" sz="1800" dirty="0"/>
              <a:t>Peut se faire sans aucun outil ou méthode</a:t>
            </a:r>
          </a:p>
          <a:p>
            <a:r>
              <a:rPr lang="fr-FR" sz="1800" dirty="0"/>
              <a:t>Souvent plus inductif que déductifs, modèles d’information émergents</a:t>
            </a:r>
          </a:p>
          <a:p>
            <a:endParaRPr lang="fr-FR" sz="1800" dirty="0"/>
          </a:p>
        </p:txBody>
      </p:sp>
      <p:sp>
        <p:nvSpPr>
          <p:cNvPr id="6" name="Rectangle 5">
            <a:extLst>
              <a:ext uri="{FF2B5EF4-FFF2-40B4-BE49-F238E27FC236}">
                <a16:creationId xmlns:a16="http://schemas.microsoft.com/office/drawing/2014/main" id="{A7621600-6536-FE6E-41EB-AC9E5731D890}"/>
              </a:ext>
            </a:extLst>
          </p:cNvPr>
          <p:cNvSpPr/>
          <p:nvPr/>
        </p:nvSpPr>
        <p:spPr>
          <a:xfrm>
            <a:off x="4286251" y="2187955"/>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Souvent moins coûteux en termes de sollicitation des membres, considéré comme « naturel »</a:t>
            </a:r>
          </a:p>
        </p:txBody>
      </p:sp>
      <p:sp>
        <p:nvSpPr>
          <p:cNvPr id="7" name="Rectangle 6">
            <a:extLst>
              <a:ext uri="{FF2B5EF4-FFF2-40B4-BE49-F238E27FC236}">
                <a16:creationId xmlns:a16="http://schemas.microsoft.com/office/drawing/2014/main" id="{56522362-06EE-0D9B-FC2C-B64C6F58C2ED}"/>
              </a:ext>
            </a:extLst>
          </p:cNvPr>
          <p:cNvSpPr/>
          <p:nvPr/>
        </p:nvSpPr>
        <p:spPr>
          <a:xfrm>
            <a:off x="5851409" y="2187955"/>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Plus difficile de s’assurer qu’on disposera d’une information donnée à un moment donné </a:t>
            </a:r>
          </a:p>
        </p:txBody>
      </p:sp>
      <p:sp>
        <p:nvSpPr>
          <p:cNvPr id="8" name="Rectangle 7">
            <a:extLst>
              <a:ext uri="{FF2B5EF4-FFF2-40B4-BE49-F238E27FC236}">
                <a16:creationId xmlns:a16="http://schemas.microsoft.com/office/drawing/2014/main" id="{8F95C658-FE8E-2051-EFC6-908DB9AD321C}"/>
              </a:ext>
            </a:extLst>
          </p:cNvPr>
          <p:cNvSpPr/>
          <p:nvPr/>
        </p:nvSpPr>
        <p:spPr>
          <a:xfrm>
            <a:off x="4286251" y="3078352"/>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Résultats riches de signaux faibles, d’informations hors modèles et grilles de lecture </a:t>
            </a:r>
          </a:p>
        </p:txBody>
      </p:sp>
      <p:sp>
        <p:nvSpPr>
          <p:cNvPr id="9" name="Rectangle 8">
            <a:extLst>
              <a:ext uri="{FF2B5EF4-FFF2-40B4-BE49-F238E27FC236}">
                <a16:creationId xmlns:a16="http://schemas.microsoft.com/office/drawing/2014/main" id="{536F3A3F-6714-1957-3BCB-748D749E340F}"/>
              </a:ext>
            </a:extLst>
          </p:cNvPr>
          <p:cNvSpPr/>
          <p:nvPr/>
        </p:nvSpPr>
        <p:spPr>
          <a:xfrm>
            <a:off x="5851409" y="3078351"/>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Besoin d’une capacité d’interprétation, et risques associés à l’interprétation (biais...)</a:t>
            </a:r>
          </a:p>
        </p:txBody>
      </p:sp>
      <p:sp>
        <p:nvSpPr>
          <p:cNvPr id="10" name="Rectangle 9">
            <a:extLst>
              <a:ext uri="{FF2B5EF4-FFF2-40B4-BE49-F238E27FC236}">
                <a16:creationId xmlns:a16="http://schemas.microsoft.com/office/drawing/2014/main" id="{C9F17FDE-062F-350B-8082-F00D6DCEBCBE}"/>
              </a:ext>
            </a:extLst>
          </p:cNvPr>
          <p:cNvSpPr/>
          <p:nvPr/>
        </p:nvSpPr>
        <p:spPr>
          <a:xfrm>
            <a:off x="4286251" y="3968748"/>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Information souvent beaucoup plus riche, plus fine que les modèles</a:t>
            </a:r>
          </a:p>
        </p:txBody>
      </p:sp>
      <p:sp>
        <p:nvSpPr>
          <p:cNvPr id="11" name="Rectangle 10">
            <a:extLst>
              <a:ext uri="{FF2B5EF4-FFF2-40B4-BE49-F238E27FC236}">
                <a16:creationId xmlns:a16="http://schemas.microsoft.com/office/drawing/2014/main" id="{E93E5232-7BCA-2B61-068A-D47B20EEECB9}"/>
              </a:ext>
            </a:extLst>
          </p:cNvPr>
          <p:cNvSpPr/>
          <p:nvPr/>
        </p:nvSpPr>
        <p:spPr>
          <a:xfrm>
            <a:off x="5851409" y="3968747"/>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Besoin d’accéder à des moments moins formels et disponibilité nécessaire associée</a:t>
            </a:r>
          </a:p>
        </p:txBody>
      </p:sp>
      <p:sp>
        <p:nvSpPr>
          <p:cNvPr id="12" name="Rectangle 11">
            <a:extLst>
              <a:ext uri="{FF2B5EF4-FFF2-40B4-BE49-F238E27FC236}">
                <a16:creationId xmlns:a16="http://schemas.microsoft.com/office/drawing/2014/main" id="{1190FF07-AC23-F6FD-9FA8-B877BFC855CF}"/>
              </a:ext>
            </a:extLst>
          </p:cNvPr>
          <p:cNvSpPr/>
          <p:nvPr/>
        </p:nvSpPr>
        <p:spPr>
          <a:xfrm>
            <a:off x="4286251" y="4859144"/>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N’est jamais « éteint » pour peu qu’on reste vigilants et ouverts, considéré « naturel »</a:t>
            </a:r>
          </a:p>
        </p:txBody>
      </p:sp>
      <p:sp>
        <p:nvSpPr>
          <p:cNvPr id="13" name="Rectangle 12">
            <a:extLst>
              <a:ext uri="{FF2B5EF4-FFF2-40B4-BE49-F238E27FC236}">
                <a16:creationId xmlns:a16="http://schemas.microsoft.com/office/drawing/2014/main" id="{5B4BAEE6-BB4E-F987-C361-AF20F0A7C2F3}"/>
              </a:ext>
            </a:extLst>
          </p:cNvPr>
          <p:cNvSpPr/>
          <p:nvPr/>
        </p:nvSpPr>
        <p:spPr>
          <a:xfrm>
            <a:off x="5851409" y="4849235"/>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Information plus difficile à ranger, stocker, organiser, et retransmettre</a:t>
            </a:r>
          </a:p>
        </p:txBody>
      </p:sp>
      <p:sp>
        <p:nvSpPr>
          <p:cNvPr id="14" name="Rectangle 13">
            <a:extLst>
              <a:ext uri="{FF2B5EF4-FFF2-40B4-BE49-F238E27FC236}">
                <a16:creationId xmlns:a16="http://schemas.microsoft.com/office/drawing/2014/main" id="{F8F5D1CE-0A71-8B9F-D4E5-81678E43432E}"/>
              </a:ext>
            </a:extLst>
          </p:cNvPr>
          <p:cNvSpPr/>
          <p:nvPr/>
        </p:nvSpPr>
        <p:spPr>
          <a:xfrm>
            <a:off x="4286251" y="5749540"/>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Convient mieux aux profils intuitifs qui rejettent la lourdeur du renseignement délibéré</a:t>
            </a:r>
          </a:p>
        </p:txBody>
      </p:sp>
      <p:sp>
        <p:nvSpPr>
          <p:cNvPr id="15" name="Rectangle 14">
            <a:extLst>
              <a:ext uri="{FF2B5EF4-FFF2-40B4-BE49-F238E27FC236}">
                <a16:creationId xmlns:a16="http://schemas.microsoft.com/office/drawing/2014/main" id="{D7649D77-58A7-AE4C-862A-D5F9701D0669}"/>
              </a:ext>
            </a:extLst>
          </p:cNvPr>
          <p:cNvSpPr/>
          <p:nvPr/>
        </p:nvSpPr>
        <p:spPr>
          <a:xfrm>
            <a:off x="5851409" y="5732519"/>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Plus difficile de se former pour s’améliorer sur cette forme de renseignement</a:t>
            </a:r>
          </a:p>
        </p:txBody>
      </p:sp>
      <p:pic>
        <p:nvPicPr>
          <p:cNvPr id="16" name="Graphique 15" descr="Femme détective avec un remplissage uni">
            <a:extLst>
              <a:ext uri="{FF2B5EF4-FFF2-40B4-BE49-F238E27FC236}">
                <a16:creationId xmlns:a16="http://schemas.microsoft.com/office/drawing/2014/main" id="{EE2125D9-47EF-853C-2756-BAE2FB5C515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52476" y="365125"/>
            <a:ext cx="1114424" cy="1114424"/>
          </a:xfrm>
          <a:prstGeom prst="rect">
            <a:avLst/>
          </a:prstGeom>
        </p:spPr>
      </p:pic>
    </p:spTree>
    <p:extLst>
      <p:ext uri="{BB962C8B-B14F-4D97-AF65-F5344CB8AC3E}">
        <p14:creationId xmlns:p14="http://schemas.microsoft.com/office/powerpoint/2010/main" val="3345643761"/>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580489C-266C-DBB1-ED72-837A565327DD}"/>
              </a:ext>
            </a:extLst>
          </p:cNvPr>
          <p:cNvSpPr>
            <a:spLocks noGrp="1"/>
          </p:cNvSpPr>
          <p:nvPr>
            <p:ph type="title"/>
          </p:nvPr>
        </p:nvSpPr>
        <p:spPr>
          <a:xfrm>
            <a:off x="1823512" y="365125"/>
            <a:ext cx="9530288" cy="841459"/>
          </a:xfrm>
        </p:spPr>
        <p:txBody>
          <a:bodyPr>
            <a:noAutofit/>
          </a:bodyPr>
          <a:lstStyle/>
          <a:p>
            <a:r>
              <a:rPr lang="fr-FR" sz="3200" b="1" dirty="0"/>
              <a:t>Renseignement par interception</a:t>
            </a:r>
            <a:br>
              <a:rPr lang="fr-FR" sz="3200" b="1" dirty="0"/>
            </a:br>
            <a:r>
              <a:rPr lang="fr-FR" sz="1800" dirty="0"/>
              <a:t>Exemples d’actions opérationnelles </a:t>
            </a:r>
            <a:br>
              <a:rPr lang="fr-FR" sz="1800" dirty="0"/>
            </a:br>
            <a:r>
              <a:rPr lang="fr-FR" sz="1400" dirty="0"/>
              <a:t>📅Evènements  , ✍️Contenus, ⚙️Structuration de Communauté, 📅+⚙️Structuration de moments, ✍️+⚙️ Structuration de Contenus</a:t>
            </a:r>
            <a:endParaRPr lang="fr-FR" sz="3200" dirty="0"/>
          </a:p>
        </p:txBody>
      </p:sp>
      <p:sp>
        <p:nvSpPr>
          <p:cNvPr id="15" name="Rectangle 14">
            <a:extLst>
              <a:ext uri="{FF2B5EF4-FFF2-40B4-BE49-F238E27FC236}">
                <a16:creationId xmlns:a16="http://schemas.microsoft.com/office/drawing/2014/main" id="{276BCA58-248A-8A93-06E3-1F50B67D386A}"/>
              </a:ext>
            </a:extLst>
          </p:cNvPr>
          <p:cNvSpPr/>
          <p:nvPr/>
        </p:nvSpPr>
        <p:spPr>
          <a:xfrm>
            <a:off x="544912" y="2590530"/>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📅⚙️Participation en observateur ou écoute active aux moments de la Communauté</a:t>
            </a:r>
          </a:p>
        </p:txBody>
      </p:sp>
      <p:sp>
        <p:nvSpPr>
          <p:cNvPr id="159" name="Rectangle 158">
            <a:extLst>
              <a:ext uri="{FF2B5EF4-FFF2-40B4-BE49-F238E27FC236}">
                <a16:creationId xmlns:a16="http://schemas.microsoft.com/office/drawing/2014/main" id="{1A3D9E8D-4727-93B6-8BF9-FB7B7BDFEDFA}"/>
              </a:ext>
            </a:extLst>
          </p:cNvPr>
          <p:cNvSpPr/>
          <p:nvPr/>
        </p:nvSpPr>
        <p:spPr>
          <a:xfrm>
            <a:off x="2187506" y="2590530"/>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 Immersion dans le quotidien des membres (en dehors de la Communauté)</a:t>
            </a:r>
          </a:p>
        </p:txBody>
      </p:sp>
      <p:sp>
        <p:nvSpPr>
          <p:cNvPr id="160" name="Rectangle 159">
            <a:extLst>
              <a:ext uri="{FF2B5EF4-FFF2-40B4-BE49-F238E27FC236}">
                <a16:creationId xmlns:a16="http://schemas.microsoft.com/office/drawing/2014/main" id="{65A5FD20-30D3-022F-A148-724F9C646B97}"/>
              </a:ext>
            </a:extLst>
          </p:cNvPr>
          <p:cNvSpPr/>
          <p:nvPr/>
        </p:nvSpPr>
        <p:spPr>
          <a:xfrm>
            <a:off x="3830100" y="2590530"/>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 Immersion dans les moments informels (Pause café, sorties…)</a:t>
            </a:r>
          </a:p>
        </p:txBody>
      </p:sp>
      <p:sp>
        <p:nvSpPr>
          <p:cNvPr id="161" name="Rectangle 160">
            <a:extLst>
              <a:ext uri="{FF2B5EF4-FFF2-40B4-BE49-F238E27FC236}">
                <a16:creationId xmlns:a16="http://schemas.microsoft.com/office/drawing/2014/main" id="{7D226724-EA25-076C-ACF0-3D8472CBB47E}"/>
              </a:ext>
            </a:extLst>
          </p:cNvPr>
          <p:cNvSpPr/>
          <p:nvPr/>
        </p:nvSpPr>
        <p:spPr>
          <a:xfrm>
            <a:off x="5472694" y="2590530"/>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✍️Consultation de contenus liés à la Communauté (</a:t>
            </a:r>
            <a:r>
              <a:rPr lang="fr-FR" sz="1100" dirty="0" err="1">
                <a:solidFill>
                  <a:schemeClr val="tx1"/>
                </a:solidFill>
              </a:rPr>
              <a:t>CRs</a:t>
            </a:r>
            <a:r>
              <a:rPr lang="fr-FR" sz="1100" dirty="0">
                <a:solidFill>
                  <a:schemeClr val="tx1"/>
                </a:solidFill>
              </a:rPr>
              <a:t>, études, etc.)</a:t>
            </a:r>
          </a:p>
        </p:txBody>
      </p:sp>
      <p:sp>
        <p:nvSpPr>
          <p:cNvPr id="162" name="Rectangle 161">
            <a:extLst>
              <a:ext uri="{FF2B5EF4-FFF2-40B4-BE49-F238E27FC236}">
                <a16:creationId xmlns:a16="http://schemas.microsoft.com/office/drawing/2014/main" id="{AEF4DF8F-AA43-CCD7-AEC9-61C018F8CBD8}"/>
              </a:ext>
            </a:extLst>
          </p:cNvPr>
          <p:cNvSpPr/>
          <p:nvPr/>
        </p:nvSpPr>
        <p:spPr>
          <a:xfrm>
            <a:off x="7115288" y="259193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⚙️Fréquentation des membres (moments en dehors de la Communauté)</a:t>
            </a:r>
          </a:p>
        </p:txBody>
      </p:sp>
      <p:sp>
        <p:nvSpPr>
          <p:cNvPr id="163" name="Rectangle 162">
            <a:extLst>
              <a:ext uri="{FF2B5EF4-FFF2-40B4-BE49-F238E27FC236}">
                <a16:creationId xmlns:a16="http://schemas.microsoft.com/office/drawing/2014/main" id="{481F0DCD-875C-F221-B062-98AD103C6DB7}"/>
              </a:ext>
            </a:extLst>
          </p:cNvPr>
          <p:cNvSpPr/>
          <p:nvPr/>
        </p:nvSpPr>
        <p:spPr>
          <a:xfrm>
            <a:off x="8788939" y="2590530"/>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⚙️Fréquentation des non-membres proches des membres</a:t>
            </a:r>
          </a:p>
        </p:txBody>
      </p:sp>
      <p:sp>
        <p:nvSpPr>
          <p:cNvPr id="164" name="Rectangle 163">
            <a:extLst>
              <a:ext uri="{FF2B5EF4-FFF2-40B4-BE49-F238E27FC236}">
                <a16:creationId xmlns:a16="http://schemas.microsoft.com/office/drawing/2014/main" id="{EFAD9DD7-A19A-75A9-2B8D-FBE8D0908C1D}"/>
              </a:ext>
            </a:extLst>
          </p:cNvPr>
          <p:cNvSpPr/>
          <p:nvPr/>
        </p:nvSpPr>
        <p:spPr>
          <a:xfrm>
            <a:off x="10431535" y="2596664"/>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⚙️Respect exemplaire des notions d’anonymat et de la confidentialité</a:t>
            </a:r>
          </a:p>
        </p:txBody>
      </p:sp>
      <p:sp>
        <p:nvSpPr>
          <p:cNvPr id="262" name="Rectangle 261">
            <a:extLst>
              <a:ext uri="{FF2B5EF4-FFF2-40B4-BE49-F238E27FC236}">
                <a16:creationId xmlns:a16="http://schemas.microsoft.com/office/drawing/2014/main" id="{C8EFFBF7-FD2D-8D41-3272-8FE46D4E9A25}"/>
              </a:ext>
            </a:extLst>
          </p:cNvPr>
          <p:cNvSpPr/>
          <p:nvPr/>
        </p:nvSpPr>
        <p:spPr>
          <a:xfrm>
            <a:off x="544912" y="4947987"/>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📅Discussions libres (sans contraintes) avec les membres potentiels</a:t>
            </a:r>
          </a:p>
        </p:txBody>
      </p:sp>
      <p:sp>
        <p:nvSpPr>
          <p:cNvPr id="263" name="Rectangle 262">
            <a:extLst>
              <a:ext uri="{FF2B5EF4-FFF2-40B4-BE49-F238E27FC236}">
                <a16:creationId xmlns:a16="http://schemas.microsoft.com/office/drawing/2014/main" id="{0F5BB147-3EEC-E4A4-B6D9-ECEE1B0D2D17}"/>
              </a:ext>
            </a:extLst>
          </p:cNvPr>
          <p:cNvSpPr/>
          <p:nvPr/>
        </p:nvSpPr>
        <p:spPr>
          <a:xfrm>
            <a:off x="2187506" y="4947987"/>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⚙️📅Participation à toutes les activités soi-même en tant que membre</a:t>
            </a:r>
          </a:p>
        </p:txBody>
      </p:sp>
      <p:sp>
        <p:nvSpPr>
          <p:cNvPr id="264" name="Rectangle 263">
            <a:extLst>
              <a:ext uri="{FF2B5EF4-FFF2-40B4-BE49-F238E27FC236}">
                <a16:creationId xmlns:a16="http://schemas.microsoft.com/office/drawing/2014/main" id="{8A215C9F-E765-BCA2-FB8A-C158A8E93B53}"/>
              </a:ext>
            </a:extLst>
          </p:cNvPr>
          <p:cNvSpPr/>
          <p:nvPr/>
        </p:nvSpPr>
        <p:spPr>
          <a:xfrm>
            <a:off x="3830100" y="4947987"/>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⚙️📅Participation à toutes les activités soi-même en tant que sponsor</a:t>
            </a:r>
          </a:p>
        </p:txBody>
      </p:sp>
      <p:sp>
        <p:nvSpPr>
          <p:cNvPr id="265" name="Rectangle 264">
            <a:extLst>
              <a:ext uri="{FF2B5EF4-FFF2-40B4-BE49-F238E27FC236}">
                <a16:creationId xmlns:a16="http://schemas.microsoft.com/office/drawing/2014/main" id="{92A43A34-DD44-FE17-3C5E-0ADE20BC5F87}"/>
              </a:ext>
            </a:extLst>
          </p:cNvPr>
          <p:cNvSpPr/>
          <p:nvPr/>
        </p:nvSpPr>
        <p:spPr>
          <a:xfrm>
            <a:off x="5472694" y="4947987"/>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⚙️Fréquentation des sponsors en dehors de leurs interactions avec la Communauté</a:t>
            </a:r>
          </a:p>
        </p:txBody>
      </p:sp>
      <p:sp>
        <p:nvSpPr>
          <p:cNvPr id="266" name="Rectangle 265">
            <a:extLst>
              <a:ext uri="{FF2B5EF4-FFF2-40B4-BE49-F238E27FC236}">
                <a16:creationId xmlns:a16="http://schemas.microsoft.com/office/drawing/2014/main" id="{66700A3C-F6CE-FB38-6CE5-56D5FCBBC4B6}"/>
              </a:ext>
            </a:extLst>
          </p:cNvPr>
          <p:cNvSpPr/>
          <p:nvPr/>
        </p:nvSpPr>
        <p:spPr>
          <a:xfrm>
            <a:off x="7115288" y="4949393"/>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 Fréquentation des proches des sponsors</a:t>
            </a:r>
          </a:p>
        </p:txBody>
      </p:sp>
      <p:sp>
        <p:nvSpPr>
          <p:cNvPr id="267" name="Rectangle 266">
            <a:extLst>
              <a:ext uri="{FF2B5EF4-FFF2-40B4-BE49-F238E27FC236}">
                <a16:creationId xmlns:a16="http://schemas.microsoft.com/office/drawing/2014/main" id="{2BA521F8-61A0-760D-9861-487ECD8B4887}"/>
              </a:ext>
            </a:extLst>
          </p:cNvPr>
          <p:cNvSpPr/>
          <p:nvPr/>
        </p:nvSpPr>
        <p:spPr>
          <a:xfrm>
            <a:off x="8788939" y="4947987"/>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⚙️Transparence avec les sponsors sur ce qui est partagé à leur propos</a:t>
            </a:r>
          </a:p>
        </p:txBody>
      </p:sp>
      <p:sp>
        <p:nvSpPr>
          <p:cNvPr id="268" name="Rectangle 267">
            <a:extLst>
              <a:ext uri="{FF2B5EF4-FFF2-40B4-BE49-F238E27FC236}">
                <a16:creationId xmlns:a16="http://schemas.microsoft.com/office/drawing/2014/main" id="{93D4A178-74C3-C724-679E-C9F76D5163E4}"/>
              </a:ext>
            </a:extLst>
          </p:cNvPr>
          <p:cNvSpPr/>
          <p:nvPr/>
        </p:nvSpPr>
        <p:spPr>
          <a:xfrm>
            <a:off x="10431535" y="495412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⚙️Transparence avec les membres sur ce qui est partagé à leur propos</a:t>
            </a:r>
          </a:p>
        </p:txBody>
      </p:sp>
      <p:grpSp>
        <p:nvGrpSpPr>
          <p:cNvPr id="269" name="Groupe 268">
            <a:extLst>
              <a:ext uri="{FF2B5EF4-FFF2-40B4-BE49-F238E27FC236}">
                <a16:creationId xmlns:a16="http://schemas.microsoft.com/office/drawing/2014/main" id="{C8A98FB6-12E6-070F-F6AA-545A5D0DA1CC}"/>
              </a:ext>
            </a:extLst>
          </p:cNvPr>
          <p:cNvGrpSpPr/>
          <p:nvPr/>
        </p:nvGrpSpPr>
        <p:grpSpPr>
          <a:xfrm>
            <a:off x="2482928" y="1817270"/>
            <a:ext cx="1082761" cy="668875"/>
            <a:chOff x="1853030" y="3305280"/>
            <a:chExt cx="4434487" cy="2739401"/>
          </a:xfrm>
        </p:grpSpPr>
        <p:pic>
          <p:nvPicPr>
            <p:cNvPr id="270" name="Graphique 269" descr="Personne confuse avec un remplissage uni">
              <a:extLst>
                <a:ext uri="{FF2B5EF4-FFF2-40B4-BE49-F238E27FC236}">
                  <a16:creationId xmlns:a16="http://schemas.microsoft.com/office/drawing/2014/main" id="{A9A5A227-04EF-F5F0-E59F-88AEB0098AD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0539" r="14769" b="50034"/>
            <a:stretch/>
          </p:blipFill>
          <p:spPr>
            <a:xfrm>
              <a:off x="1853030" y="4332121"/>
              <a:ext cx="846318" cy="1712560"/>
            </a:xfrm>
            <a:prstGeom prst="rect">
              <a:avLst/>
            </a:prstGeom>
          </p:spPr>
        </p:pic>
        <p:pic>
          <p:nvPicPr>
            <p:cNvPr id="271" name="Graphique 270" descr="Loupe avec un remplissage uni">
              <a:extLst>
                <a:ext uri="{FF2B5EF4-FFF2-40B4-BE49-F238E27FC236}">
                  <a16:creationId xmlns:a16="http://schemas.microsoft.com/office/drawing/2014/main" id="{14FDD9D6-6F68-4F81-EB13-79C1AFB0E94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235992" y="4467181"/>
              <a:ext cx="1589482" cy="1442437"/>
            </a:xfrm>
            <a:prstGeom prst="rect">
              <a:avLst/>
            </a:prstGeom>
          </p:spPr>
        </p:pic>
        <p:pic>
          <p:nvPicPr>
            <p:cNvPr id="272" name="Graphique 271" descr="Bureau avec un remplissage uni">
              <a:extLst>
                <a:ext uri="{FF2B5EF4-FFF2-40B4-BE49-F238E27FC236}">
                  <a16:creationId xmlns:a16="http://schemas.microsoft.com/office/drawing/2014/main" id="{50DEB733-E434-AB45-F14B-4DDC16E8F57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608539" y="3305280"/>
              <a:ext cx="1211427" cy="1211427"/>
            </a:xfrm>
            <a:prstGeom prst="rect">
              <a:avLst/>
            </a:prstGeom>
          </p:spPr>
        </p:pic>
        <p:pic>
          <p:nvPicPr>
            <p:cNvPr id="273" name="Graphique 272" descr="Travail à domicile avec un remplissage uni">
              <a:extLst>
                <a:ext uri="{FF2B5EF4-FFF2-40B4-BE49-F238E27FC236}">
                  <a16:creationId xmlns:a16="http://schemas.microsoft.com/office/drawing/2014/main" id="{51E37C21-F8EE-2192-2757-140CD30CC21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076090" y="3519632"/>
              <a:ext cx="1211427" cy="1211427"/>
            </a:xfrm>
            <a:prstGeom prst="rect">
              <a:avLst/>
            </a:prstGeom>
          </p:spPr>
        </p:pic>
        <p:pic>
          <p:nvPicPr>
            <p:cNvPr id="274" name="Graphique 273" descr="Employée de bureau avec un remplissage uni">
              <a:extLst>
                <a:ext uri="{FF2B5EF4-FFF2-40B4-BE49-F238E27FC236}">
                  <a16:creationId xmlns:a16="http://schemas.microsoft.com/office/drawing/2014/main" id="{73168E7E-B05E-67EE-1874-E9B8D2FE07F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93582" y="4059507"/>
              <a:ext cx="914400" cy="914400"/>
            </a:xfrm>
            <a:prstGeom prst="rect">
              <a:avLst/>
            </a:prstGeom>
          </p:spPr>
        </p:pic>
        <p:pic>
          <p:nvPicPr>
            <p:cNvPr id="275" name="Graphique 274" descr="Employé de bureau avec un remplissage uni">
              <a:extLst>
                <a:ext uri="{FF2B5EF4-FFF2-40B4-BE49-F238E27FC236}">
                  <a16:creationId xmlns:a16="http://schemas.microsoft.com/office/drawing/2014/main" id="{D23CB36A-F86A-9511-0628-6FB20AC39B7F}"/>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063677" y="4707358"/>
              <a:ext cx="914400" cy="914400"/>
            </a:xfrm>
            <a:prstGeom prst="rect">
              <a:avLst/>
            </a:prstGeom>
          </p:spPr>
        </p:pic>
        <p:pic>
          <p:nvPicPr>
            <p:cNvPr id="276" name="Graphique 275" descr="Bulle de discussion contour">
              <a:extLst>
                <a:ext uri="{FF2B5EF4-FFF2-40B4-BE49-F238E27FC236}">
                  <a16:creationId xmlns:a16="http://schemas.microsoft.com/office/drawing/2014/main" id="{42AD492E-C0D7-E5B8-DD51-3526DF355131}"/>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t="12903" b="12311"/>
            <a:stretch/>
          </p:blipFill>
          <p:spPr>
            <a:xfrm>
              <a:off x="4951600" y="4547142"/>
              <a:ext cx="451149" cy="365688"/>
            </a:xfrm>
            <a:prstGeom prst="rect">
              <a:avLst/>
            </a:prstGeom>
          </p:spPr>
        </p:pic>
      </p:grpSp>
      <p:pic>
        <p:nvPicPr>
          <p:cNvPr id="4" name="Graphique 3" descr="Femme détective avec un remplissage uni">
            <a:extLst>
              <a:ext uri="{FF2B5EF4-FFF2-40B4-BE49-F238E27FC236}">
                <a16:creationId xmlns:a16="http://schemas.microsoft.com/office/drawing/2014/main" id="{B731B892-EFED-AD13-BCA5-4AB81013CB91}"/>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699117" y="2100969"/>
            <a:ext cx="424223" cy="424223"/>
          </a:xfrm>
          <a:prstGeom prst="rect">
            <a:avLst/>
          </a:prstGeom>
        </p:spPr>
      </p:pic>
      <p:pic>
        <p:nvPicPr>
          <p:cNvPr id="27" name="Graphique 26" descr="Réussite du groupe avec un remplissage uni">
            <a:extLst>
              <a:ext uri="{FF2B5EF4-FFF2-40B4-BE49-F238E27FC236}">
                <a16:creationId xmlns:a16="http://schemas.microsoft.com/office/drawing/2014/main" id="{520EACFA-2A5C-392A-968F-F8D86877A0F0}"/>
              </a:ext>
            </a:extLst>
          </p:cNvPr>
          <p:cNvPicPr>
            <a:picLocks noChangeAspect="1"/>
          </p:cNvPicPr>
          <p:nvPr/>
        </p:nvPicPr>
        <p:blipFill rotWithShape="1">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rcRect t="13979" b="19010"/>
          <a:stretch/>
        </p:blipFill>
        <p:spPr>
          <a:xfrm>
            <a:off x="1031596" y="1895558"/>
            <a:ext cx="854499" cy="572602"/>
          </a:xfrm>
          <a:prstGeom prst="rect">
            <a:avLst/>
          </a:prstGeom>
        </p:spPr>
      </p:pic>
      <p:grpSp>
        <p:nvGrpSpPr>
          <p:cNvPr id="11" name="Groupe 10">
            <a:extLst>
              <a:ext uri="{FF2B5EF4-FFF2-40B4-BE49-F238E27FC236}">
                <a16:creationId xmlns:a16="http://schemas.microsoft.com/office/drawing/2014/main" id="{9BD1638E-531B-DB24-50FA-812451F80BFF}"/>
              </a:ext>
            </a:extLst>
          </p:cNvPr>
          <p:cNvGrpSpPr/>
          <p:nvPr/>
        </p:nvGrpSpPr>
        <p:grpSpPr>
          <a:xfrm>
            <a:off x="3927920" y="1680239"/>
            <a:ext cx="1196717" cy="841459"/>
            <a:chOff x="3736815" y="1436205"/>
            <a:chExt cx="1565948" cy="1101080"/>
          </a:xfrm>
        </p:grpSpPr>
        <p:pic>
          <p:nvPicPr>
            <p:cNvPr id="28" name="Graphique 27" descr="Femme détective avec un remplissage uni">
              <a:extLst>
                <a:ext uri="{FF2B5EF4-FFF2-40B4-BE49-F238E27FC236}">
                  <a16:creationId xmlns:a16="http://schemas.microsoft.com/office/drawing/2014/main" id="{596CA924-E759-A8E1-32EC-B78213252DAA}"/>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3736815" y="1982174"/>
              <a:ext cx="555113" cy="555111"/>
            </a:xfrm>
            <a:prstGeom prst="rect">
              <a:avLst/>
            </a:prstGeom>
          </p:spPr>
        </p:pic>
        <p:pic>
          <p:nvPicPr>
            <p:cNvPr id="10" name="Graphique 9" descr="Réunion contour">
              <a:extLst>
                <a:ext uri="{FF2B5EF4-FFF2-40B4-BE49-F238E27FC236}">
                  <a16:creationId xmlns:a16="http://schemas.microsoft.com/office/drawing/2014/main" id="{0DA5EC60-5DA3-C5A9-4EDE-63395C542808}"/>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252823" y="1436205"/>
              <a:ext cx="1049940" cy="1049940"/>
            </a:xfrm>
            <a:prstGeom prst="rect">
              <a:avLst/>
            </a:prstGeom>
          </p:spPr>
        </p:pic>
        <p:pic>
          <p:nvPicPr>
            <p:cNvPr id="37" name="Graphique 36" descr="Noix de coco avec un remplissage uni">
              <a:extLst>
                <a:ext uri="{FF2B5EF4-FFF2-40B4-BE49-F238E27FC236}">
                  <a16:creationId xmlns:a16="http://schemas.microsoft.com/office/drawing/2014/main" id="{D07E6855-B551-531C-32F1-48B019467AD1}"/>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4344958" y="1841799"/>
              <a:ext cx="452386" cy="452386"/>
            </a:xfrm>
            <a:prstGeom prst="rect">
              <a:avLst/>
            </a:prstGeom>
          </p:spPr>
        </p:pic>
        <p:pic>
          <p:nvPicPr>
            <p:cNvPr id="38" name="Graphique 37" descr="Tasse de latte avec un remplissage uni">
              <a:extLst>
                <a:ext uri="{FF2B5EF4-FFF2-40B4-BE49-F238E27FC236}">
                  <a16:creationId xmlns:a16="http://schemas.microsoft.com/office/drawing/2014/main" id="{B62BF6E6-36E4-81D8-D49E-0A4F638B241A}"/>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4751701" y="1775060"/>
              <a:ext cx="519125" cy="519125"/>
            </a:xfrm>
            <a:prstGeom prst="rect">
              <a:avLst/>
            </a:prstGeom>
          </p:spPr>
        </p:pic>
      </p:grpSp>
      <p:pic>
        <p:nvPicPr>
          <p:cNvPr id="40" name="Graphique 39" descr="Femme détective avec un remplissage uni">
            <a:extLst>
              <a:ext uri="{FF2B5EF4-FFF2-40B4-BE49-F238E27FC236}">
                <a16:creationId xmlns:a16="http://schemas.microsoft.com/office/drawing/2014/main" id="{816DE186-0FD8-0019-7ADD-92C1688D619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540249" y="2137557"/>
            <a:ext cx="424223" cy="424223"/>
          </a:xfrm>
          <a:prstGeom prst="rect">
            <a:avLst/>
          </a:prstGeom>
        </p:spPr>
      </p:pic>
      <p:pic>
        <p:nvPicPr>
          <p:cNvPr id="16" name="Graphique 15" descr="Base de données avec un remplissage uni">
            <a:extLst>
              <a:ext uri="{FF2B5EF4-FFF2-40B4-BE49-F238E27FC236}">
                <a16:creationId xmlns:a16="http://schemas.microsoft.com/office/drawing/2014/main" id="{B24483E4-6EFA-BD59-6972-A6C24E1536CC}"/>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6096000" y="1591199"/>
            <a:ext cx="680131" cy="680131"/>
          </a:xfrm>
          <a:prstGeom prst="rect">
            <a:avLst/>
          </a:prstGeom>
        </p:spPr>
      </p:pic>
      <p:pic>
        <p:nvPicPr>
          <p:cNvPr id="45" name="Graphique 44" descr="Recherche de dossiers avec un remplissage uni">
            <a:extLst>
              <a:ext uri="{FF2B5EF4-FFF2-40B4-BE49-F238E27FC236}">
                <a16:creationId xmlns:a16="http://schemas.microsoft.com/office/drawing/2014/main" id="{41230929-8ADD-7653-600D-46FD47D32BB8}"/>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5861440" y="1949355"/>
            <a:ext cx="662880" cy="662880"/>
          </a:xfrm>
          <a:prstGeom prst="rect">
            <a:avLst/>
          </a:prstGeom>
        </p:spPr>
      </p:pic>
      <p:pic>
        <p:nvPicPr>
          <p:cNvPr id="18" name="Graphique 17" descr="Salle de conseil avec un remplissage uni">
            <a:extLst>
              <a:ext uri="{FF2B5EF4-FFF2-40B4-BE49-F238E27FC236}">
                <a16:creationId xmlns:a16="http://schemas.microsoft.com/office/drawing/2014/main" id="{13350C69-AA74-7612-61D8-2DA78A012CE3}"/>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909112" y="4162738"/>
            <a:ext cx="914400" cy="914400"/>
          </a:xfrm>
          <a:prstGeom prst="rect">
            <a:avLst/>
          </a:prstGeom>
        </p:spPr>
      </p:pic>
      <p:pic>
        <p:nvPicPr>
          <p:cNvPr id="48" name="Graphique 47" descr="Femme détective avec un remplissage uni">
            <a:extLst>
              <a:ext uri="{FF2B5EF4-FFF2-40B4-BE49-F238E27FC236}">
                <a16:creationId xmlns:a16="http://schemas.microsoft.com/office/drawing/2014/main" id="{46977A89-70D7-954A-098F-4644B5222150}"/>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b="48385"/>
          <a:stretch/>
        </p:blipFill>
        <p:spPr>
          <a:xfrm>
            <a:off x="938122" y="4285163"/>
            <a:ext cx="370436" cy="191200"/>
          </a:xfrm>
          <a:prstGeom prst="rect">
            <a:avLst/>
          </a:prstGeom>
        </p:spPr>
      </p:pic>
      <p:pic>
        <p:nvPicPr>
          <p:cNvPr id="20" name="Graphique 19" descr="Homme professeur avec un remplissage uni">
            <a:extLst>
              <a:ext uri="{FF2B5EF4-FFF2-40B4-BE49-F238E27FC236}">
                <a16:creationId xmlns:a16="http://schemas.microsoft.com/office/drawing/2014/main" id="{49B7CD19-91FA-9BEC-ABA5-097EC6690394}"/>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8152015" y="4508821"/>
            <a:ext cx="391403" cy="391403"/>
          </a:xfrm>
          <a:prstGeom prst="rect">
            <a:avLst/>
          </a:prstGeom>
        </p:spPr>
      </p:pic>
      <p:pic>
        <p:nvPicPr>
          <p:cNvPr id="22" name="Graphique 21" descr="Homme pilote avec un remplissage uni">
            <a:extLst>
              <a:ext uri="{FF2B5EF4-FFF2-40B4-BE49-F238E27FC236}">
                <a16:creationId xmlns:a16="http://schemas.microsoft.com/office/drawing/2014/main" id="{42A1CBD4-24E9-8DEE-E9C8-E2EBC409C47E}"/>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7984304" y="4421472"/>
            <a:ext cx="391403" cy="391403"/>
          </a:xfrm>
          <a:prstGeom prst="rect">
            <a:avLst/>
          </a:prstGeom>
        </p:spPr>
      </p:pic>
      <p:pic>
        <p:nvPicPr>
          <p:cNvPr id="24" name="Graphique 23" descr="Employé de bureau avec un remplissage uni">
            <a:extLst>
              <a:ext uri="{FF2B5EF4-FFF2-40B4-BE49-F238E27FC236}">
                <a16:creationId xmlns:a16="http://schemas.microsoft.com/office/drawing/2014/main" id="{21C60BCB-7B84-81AA-8BB0-45F1FF2E0B1F}"/>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7782689" y="4331853"/>
            <a:ext cx="391403" cy="391403"/>
          </a:xfrm>
          <a:prstGeom prst="rect">
            <a:avLst/>
          </a:prstGeom>
        </p:spPr>
      </p:pic>
      <p:pic>
        <p:nvPicPr>
          <p:cNvPr id="26" name="Graphique 25" descr="Femme juge avec un remplissage uni">
            <a:extLst>
              <a:ext uri="{FF2B5EF4-FFF2-40B4-BE49-F238E27FC236}">
                <a16:creationId xmlns:a16="http://schemas.microsoft.com/office/drawing/2014/main" id="{AA9695ED-4480-B258-D937-C51542257311}"/>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7557434" y="4481853"/>
            <a:ext cx="391403" cy="391403"/>
          </a:xfrm>
          <a:prstGeom prst="rect">
            <a:avLst/>
          </a:prstGeom>
        </p:spPr>
      </p:pic>
      <p:pic>
        <p:nvPicPr>
          <p:cNvPr id="58" name="Graphique 57" descr="Femme détective avec un remplissage uni">
            <a:extLst>
              <a:ext uri="{FF2B5EF4-FFF2-40B4-BE49-F238E27FC236}">
                <a16:creationId xmlns:a16="http://schemas.microsoft.com/office/drawing/2014/main" id="{061ABF44-9C09-D052-86F4-5E1CA6D806B0}"/>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130557" y="4495175"/>
            <a:ext cx="424223" cy="424223"/>
          </a:xfrm>
          <a:prstGeom prst="rect">
            <a:avLst/>
          </a:prstGeom>
        </p:spPr>
      </p:pic>
      <p:sp>
        <p:nvSpPr>
          <p:cNvPr id="29" name="Bulle narrative : ronde 28">
            <a:extLst>
              <a:ext uri="{FF2B5EF4-FFF2-40B4-BE49-F238E27FC236}">
                <a16:creationId xmlns:a16="http://schemas.microsoft.com/office/drawing/2014/main" id="{BD97940A-AB84-C99C-BF73-1288C7D35710}"/>
              </a:ext>
            </a:extLst>
          </p:cNvPr>
          <p:cNvSpPr/>
          <p:nvPr/>
        </p:nvSpPr>
        <p:spPr>
          <a:xfrm>
            <a:off x="7130557" y="3957657"/>
            <a:ext cx="914400" cy="417673"/>
          </a:xfrm>
          <a:prstGeom prst="wedgeEllipseCallout">
            <a:avLst>
              <a:gd name="adj1" fmla="val 28646"/>
              <a:gd name="adj2" fmla="val 70110"/>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60" name="Graphique 59" descr="Employée de bureau avec un remplissage uni">
            <a:extLst>
              <a:ext uri="{FF2B5EF4-FFF2-40B4-BE49-F238E27FC236}">
                <a16:creationId xmlns:a16="http://schemas.microsoft.com/office/drawing/2014/main" id="{5FE96546-B9FA-9694-CB1D-765F3A6C97EC}"/>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7379576" y="3983976"/>
            <a:ext cx="373559" cy="373559"/>
          </a:xfrm>
          <a:prstGeom prst="rect">
            <a:avLst/>
          </a:prstGeom>
        </p:spPr>
      </p:pic>
      <p:sp>
        <p:nvSpPr>
          <p:cNvPr id="61" name="Bulle narrative : ronde 60">
            <a:extLst>
              <a:ext uri="{FF2B5EF4-FFF2-40B4-BE49-F238E27FC236}">
                <a16:creationId xmlns:a16="http://schemas.microsoft.com/office/drawing/2014/main" id="{74EB188F-6A09-4A81-CA0F-EC85626C524C}"/>
              </a:ext>
            </a:extLst>
          </p:cNvPr>
          <p:cNvSpPr/>
          <p:nvPr/>
        </p:nvSpPr>
        <p:spPr>
          <a:xfrm>
            <a:off x="7160111" y="3964433"/>
            <a:ext cx="914400" cy="417673"/>
          </a:xfrm>
          <a:prstGeom prst="wedgeEllipseCallout">
            <a:avLst>
              <a:gd name="adj1" fmla="val 4688"/>
              <a:gd name="adj2" fmla="val 71250"/>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Bulle narrative : ronde 63">
            <a:extLst>
              <a:ext uri="{FF2B5EF4-FFF2-40B4-BE49-F238E27FC236}">
                <a16:creationId xmlns:a16="http://schemas.microsoft.com/office/drawing/2014/main" id="{50492E14-6E66-77A8-3791-413EA107F305}"/>
              </a:ext>
            </a:extLst>
          </p:cNvPr>
          <p:cNvSpPr/>
          <p:nvPr/>
        </p:nvSpPr>
        <p:spPr>
          <a:xfrm>
            <a:off x="7216239" y="3942055"/>
            <a:ext cx="914400" cy="417673"/>
          </a:xfrm>
          <a:prstGeom prst="wedgeEllipseCallout">
            <a:avLst>
              <a:gd name="adj1" fmla="val 48438"/>
              <a:gd name="adj2" fmla="val 67829"/>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65" name="Graphique 64" descr="Femme détective avec un remplissage uni">
            <a:extLst>
              <a:ext uri="{FF2B5EF4-FFF2-40B4-BE49-F238E27FC236}">
                <a16:creationId xmlns:a16="http://schemas.microsoft.com/office/drawing/2014/main" id="{2E1A2D21-4410-EFB7-4AE8-D1777256D148}"/>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2181771" y="2017504"/>
            <a:ext cx="424223" cy="424223"/>
          </a:xfrm>
          <a:prstGeom prst="rect">
            <a:avLst/>
          </a:prstGeom>
        </p:spPr>
      </p:pic>
      <p:pic>
        <p:nvPicPr>
          <p:cNvPr id="33" name="Graphique 32" descr="Golf avec un remplissage uni">
            <a:extLst>
              <a:ext uri="{FF2B5EF4-FFF2-40B4-BE49-F238E27FC236}">
                <a16:creationId xmlns:a16="http://schemas.microsoft.com/office/drawing/2014/main" id="{287921D8-9BE1-923F-71F1-3E759E1BAF9C}"/>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6205046" y="3979107"/>
            <a:ext cx="914400" cy="914400"/>
          </a:xfrm>
          <a:prstGeom prst="rect">
            <a:avLst/>
          </a:prstGeom>
        </p:spPr>
      </p:pic>
      <p:pic>
        <p:nvPicPr>
          <p:cNvPr id="70" name="Graphique 69" descr="Femme détective avec un remplissage uni">
            <a:extLst>
              <a:ext uri="{FF2B5EF4-FFF2-40B4-BE49-F238E27FC236}">
                <a16:creationId xmlns:a16="http://schemas.microsoft.com/office/drawing/2014/main" id="{1E371D2F-2C69-69D1-BC8C-E4277C42E055}"/>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597080" y="4014675"/>
            <a:ext cx="662879" cy="662879"/>
          </a:xfrm>
          <a:prstGeom prst="rect">
            <a:avLst/>
          </a:prstGeom>
        </p:spPr>
      </p:pic>
      <p:pic>
        <p:nvPicPr>
          <p:cNvPr id="71" name="Graphique 70" descr="Clubs de golf avec un remplissage uni">
            <a:extLst>
              <a:ext uri="{FF2B5EF4-FFF2-40B4-BE49-F238E27FC236}">
                <a16:creationId xmlns:a16="http://schemas.microsoft.com/office/drawing/2014/main" id="{E3D02517-349B-A9D4-8006-0951A23C5240}"/>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rot="818932">
            <a:off x="5923987" y="4295925"/>
            <a:ext cx="536548" cy="536548"/>
          </a:xfrm>
          <a:prstGeom prst="rect">
            <a:avLst/>
          </a:prstGeom>
        </p:spPr>
      </p:pic>
      <p:pic>
        <p:nvPicPr>
          <p:cNvPr id="72" name="Graphique 71" descr="Femme détective avec un remplissage uni">
            <a:extLst>
              <a:ext uri="{FF2B5EF4-FFF2-40B4-BE49-F238E27FC236}">
                <a16:creationId xmlns:a16="http://schemas.microsoft.com/office/drawing/2014/main" id="{ED6883C1-A526-DF9E-B131-5C86C3A912E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862259" y="4317372"/>
            <a:ext cx="473349" cy="473349"/>
          </a:xfrm>
          <a:prstGeom prst="rect">
            <a:avLst/>
          </a:prstGeom>
        </p:spPr>
      </p:pic>
      <p:pic>
        <p:nvPicPr>
          <p:cNvPr id="73" name="Graphique 72" descr="Femme détective avec un remplissage uni">
            <a:extLst>
              <a:ext uri="{FF2B5EF4-FFF2-40B4-BE49-F238E27FC236}">
                <a16:creationId xmlns:a16="http://schemas.microsoft.com/office/drawing/2014/main" id="{7B3F9DDB-3EC1-9326-DDE9-F8C03F27E897}"/>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0413826" y="4317053"/>
            <a:ext cx="473349" cy="473349"/>
          </a:xfrm>
          <a:prstGeom prst="rect">
            <a:avLst/>
          </a:prstGeom>
        </p:spPr>
      </p:pic>
      <p:sp>
        <p:nvSpPr>
          <p:cNvPr id="34" name="Bulle narrative : ronde 33">
            <a:extLst>
              <a:ext uri="{FF2B5EF4-FFF2-40B4-BE49-F238E27FC236}">
                <a16:creationId xmlns:a16="http://schemas.microsoft.com/office/drawing/2014/main" id="{B698714E-B16F-CA05-7EDF-7FF5266AA9B1}"/>
              </a:ext>
            </a:extLst>
          </p:cNvPr>
          <p:cNvSpPr/>
          <p:nvPr/>
        </p:nvSpPr>
        <p:spPr>
          <a:xfrm>
            <a:off x="9105900" y="4014675"/>
            <a:ext cx="666750" cy="367431"/>
          </a:xfrm>
          <a:prstGeom prst="wedgeEllipseCallou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5" name="Graphique 74" descr="Employée de bureau avec un remplissage uni">
            <a:extLst>
              <a:ext uri="{FF2B5EF4-FFF2-40B4-BE49-F238E27FC236}">
                <a16:creationId xmlns:a16="http://schemas.microsoft.com/office/drawing/2014/main" id="{62646FC2-88C9-FB48-40FE-9467A01E05FA}"/>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9695436" y="4305148"/>
            <a:ext cx="450517" cy="450517"/>
          </a:xfrm>
          <a:prstGeom prst="rect">
            <a:avLst/>
          </a:prstGeom>
        </p:spPr>
      </p:pic>
      <p:pic>
        <p:nvPicPr>
          <p:cNvPr id="76" name="Graphique 75" descr="Réussite du groupe avec un remplissage uni">
            <a:extLst>
              <a:ext uri="{FF2B5EF4-FFF2-40B4-BE49-F238E27FC236}">
                <a16:creationId xmlns:a16="http://schemas.microsoft.com/office/drawing/2014/main" id="{258F0C3D-E552-DB0F-02C5-A15475BEF2BC}"/>
              </a:ext>
            </a:extLst>
          </p:cNvPr>
          <p:cNvPicPr>
            <a:picLocks noChangeAspect="1"/>
          </p:cNvPicPr>
          <p:nvPr/>
        </p:nvPicPr>
        <p:blipFill rotWithShape="1">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rcRect t="13979" b="19010"/>
          <a:stretch/>
        </p:blipFill>
        <p:spPr>
          <a:xfrm>
            <a:off x="11119408" y="4308507"/>
            <a:ext cx="763143" cy="511384"/>
          </a:xfrm>
          <a:prstGeom prst="rect">
            <a:avLst/>
          </a:prstGeom>
        </p:spPr>
      </p:pic>
      <p:sp>
        <p:nvSpPr>
          <p:cNvPr id="77" name="Bulle narrative : ronde 76">
            <a:extLst>
              <a:ext uri="{FF2B5EF4-FFF2-40B4-BE49-F238E27FC236}">
                <a16:creationId xmlns:a16="http://schemas.microsoft.com/office/drawing/2014/main" id="{901823C5-BD27-0456-CF75-9EB928424501}"/>
              </a:ext>
            </a:extLst>
          </p:cNvPr>
          <p:cNvSpPr/>
          <p:nvPr/>
        </p:nvSpPr>
        <p:spPr>
          <a:xfrm>
            <a:off x="10641493" y="4014675"/>
            <a:ext cx="666750" cy="367431"/>
          </a:xfrm>
          <a:prstGeom prst="wedgeEllipseCallou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8" name="Graphique 77" descr="Femme détective avec un remplissage uni">
            <a:extLst>
              <a:ext uri="{FF2B5EF4-FFF2-40B4-BE49-F238E27FC236}">
                <a16:creationId xmlns:a16="http://schemas.microsoft.com/office/drawing/2014/main" id="{6576A843-7E98-BCEF-CD13-4B5748D3DABD}"/>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0501519" y="2056200"/>
            <a:ext cx="473349" cy="473349"/>
          </a:xfrm>
          <a:prstGeom prst="rect">
            <a:avLst/>
          </a:prstGeom>
        </p:spPr>
      </p:pic>
      <p:pic>
        <p:nvPicPr>
          <p:cNvPr id="41" name="Graphique 40" descr="Scanner oculaire avec un remplissage uni">
            <a:extLst>
              <a:ext uri="{FF2B5EF4-FFF2-40B4-BE49-F238E27FC236}">
                <a16:creationId xmlns:a16="http://schemas.microsoft.com/office/drawing/2014/main" id="{CDE21F91-CD6D-995E-4F02-681698B82BA4}"/>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a:off x="10851043" y="1708200"/>
            <a:ext cx="914400" cy="914400"/>
          </a:xfrm>
          <a:prstGeom prst="rect">
            <a:avLst/>
          </a:prstGeom>
        </p:spPr>
      </p:pic>
      <p:pic>
        <p:nvPicPr>
          <p:cNvPr id="43" name="Graphique 42" descr="Informations avec un remplissage uni">
            <a:extLst>
              <a:ext uri="{FF2B5EF4-FFF2-40B4-BE49-F238E27FC236}">
                <a16:creationId xmlns:a16="http://schemas.microsoft.com/office/drawing/2014/main" id="{6F1F7150-B188-7325-933F-1E8CCECFEA11}"/>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9266238" y="4018833"/>
            <a:ext cx="368027" cy="368027"/>
          </a:xfrm>
          <a:prstGeom prst="rect">
            <a:avLst/>
          </a:prstGeom>
        </p:spPr>
      </p:pic>
      <p:pic>
        <p:nvPicPr>
          <p:cNvPr id="83" name="Graphique 82" descr="Informations avec un remplissage uni">
            <a:extLst>
              <a:ext uri="{FF2B5EF4-FFF2-40B4-BE49-F238E27FC236}">
                <a16:creationId xmlns:a16="http://schemas.microsoft.com/office/drawing/2014/main" id="{7946AEF2-9577-1075-460B-66E75CAB2E5E}"/>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10787021" y="4006402"/>
            <a:ext cx="368027" cy="368027"/>
          </a:xfrm>
          <a:prstGeom prst="rect">
            <a:avLst/>
          </a:prstGeom>
        </p:spPr>
      </p:pic>
      <p:pic>
        <p:nvPicPr>
          <p:cNvPr id="84" name="Graphique 83" descr="Femme détective avec un remplissage uni">
            <a:extLst>
              <a:ext uri="{FF2B5EF4-FFF2-40B4-BE49-F238E27FC236}">
                <a16:creationId xmlns:a16="http://schemas.microsoft.com/office/drawing/2014/main" id="{1D57D7F1-8261-4B5F-2E04-869B47328545}"/>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821657" y="2153749"/>
            <a:ext cx="424223" cy="424223"/>
          </a:xfrm>
          <a:prstGeom prst="rect">
            <a:avLst/>
          </a:prstGeom>
        </p:spPr>
      </p:pic>
      <p:sp>
        <p:nvSpPr>
          <p:cNvPr id="85" name="Bulle narrative : ronde 84">
            <a:extLst>
              <a:ext uri="{FF2B5EF4-FFF2-40B4-BE49-F238E27FC236}">
                <a16:creationId xmlns:a16="http://schemas.microsoft.com/office/drawing/2014/main" id="{E6AD70EA-C3E8-E0F8-0028-A26E290AC648}"/>
              </a:ext>
            </a:extLst>
          </p:cNvPr>
          <p:cNvSpPr/>
          <p:nvPr/>
        </p:nvSpPr>
        <p:spPr>
          <a:xfrm>
            <a:off x="9134202" y="1627575"/>
            <a:ext cx="914400" cy="417673"/>
          </a:xfrm>
          <a:prstGeom prst="wedgeEllipseCallout">
            <a:avLst>
              <a:gd name="adj1" fmla="val 28646"/>
              <a:gd name="adj2" fmla="val 70110"/>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 name="Bulle narrative : ronde 86">
            <a:extLst>
              <a:ext uri="{FF2B5EF4-FFF2-40B4-BE49-F238E27FC236}">
                <a16:creationId xmlns:a16="http://schemas.microsoft.com/office/drawing/2014/main" id="{233D74B4-09FE-7895-0D46-09F1352D202E}"/>
              </a:ext>
            </a:extLst>
          </p:cNvPr>
          <p:cNvSpPr/>
          <p:nvPr/>
        </p:nvSpPr>
        <p:spPr>
          <a:xfrm>
            <a:off x="9163756" y="1634351"/>
            <a:ext cx="914400" cy="417673"/>
          </a:xfrm>
          <a:prstGeom prst="wedgeEllipseCallout">
            <a:avLst>
              <a:gd name="adj1" fmla="val 4688"/>
              <a:gd name="adj2" fmla="val 71250"/>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Bulle narrative : ronde 87">
            <a:extLst>
              <a:ext uri="{FF2B5EF4-FFF2-40B4-BE49-F238E27FC236}">
                <a16:creationId xmlns:a16="http://schemas.microsoft.com/office/drawing/2014/main" id="{EC102341-E645-CE8E-0F5C-F3F13B7D0770}"/>
              </a:ext>
            </a:extLst>
          </p:cNvPr>
          <p:cNvSpPr/>
          <p:nvPr/>
        </p:nvSpPr>
        <p:spPr>
          <a:xfrm>
            <a:off x="9219884" y="1611973"/>
            <a:ext cx="914400" cy="417673"/>
          </a:xfrm>
          <a:prstGeom prst="wedgeEllipseCallout">
            <a:avLst>
              <a:gd name="adj1" fmla="val 48438"/>
              <a:gd name="adj2" fmla="val 67829"/>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6" name="Graphique 45" descr="Femme vétérinaire avec un remplissage uni">
            <a:extLst>
              <a:ext uri="{FF2B5EF4-FFF2-40B4-BE49-F238E27FC236}">
                <a16:creationId xmlns:a16="http://schemas.microsoft.com/office/drawing/2014/main" id="{21401D51-9974-AE3C-701D-CED9260FF02A}"/>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9159768" y="2119284"/>
            <a:ext cx="389192" cy="389192"/>
          </a:xfrm>
          <a:prstGeom prst="rect">
            <a:avLst/>
          </a:prstGeom>
        </p:spPr>
      </p:pic>
      <p:pic>
        <p:nvPicPr>
          <p:cNvPr id="49" name="Graphique 48" descr="Une artiste avec un remplissage uni">
            <a:extLst>
              <a:ext uri="{FF2B5EF4-FFF2-40B4-BE49-F238E27FC236}">
                <a16:creationId xmlns:a16="http://schemas.microsoft.com/office/drawing/2014/main" id="{A6B6F583-9102-360D-E520-4C76CC07B4F7}"/>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9369630" y="2052558"/>
            <a:ext cx="389192" cy="389192"/>
          </a:xfrm>
          <a:prstGeom prst="rect">
            <a:avLst/>
          </a:prstGeom>
        </p:spPr>
      </p:pic>
      <p:pic>
        <p:nvPicPr>
          <p:cNvPr id="51" name="Graphique 50" descr="Une astronaute avec un remplissage uni">
            <a:extLst>
              <a:ext uri="{FF2B5EF4-FFF2-40B4-BE49-F238E27FC236}">
                <a16:creationId xmlns:a16="http://schemas.microsoft.com/office/drawing/2014/main" id="{A57E3408-1CD4-87E5-5737-5ADFDCDA8320}"/>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9632753" y="2125044"/>
            <a:ext cx="389192" cy="389192"/>
          </a:xfrm>
          <a:prstGeom prst="rect">
            <a:avLst/>
          </a:prstGeom>
        </p:spPr>
      </p:pic>
      <p:pic>
        <p:nvPicPr>
          <p:cNvPr id="53" name="Graphique 52" descr="Programmeur avec un remplissage uni">
            <a:extLst>
              <a:ext uri="{FF2B5EF4-FFF2-40B4-BE49-F238E27FC236}">
                <a16:creationId xmlns:a16="http://schemas.microsoft.com/office/drawing/2014/main" id="{08111E9D-F4D0-FF1F-989F-9B3AAC435624}"/>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9929478" y="2150113"/>
            <a:ext cx="389192" cy="389192"/>
          </a:xfrm>
          <a:prstGeom prst="rect">
            <a:avLst/>
          </a:prstGeom>
        </p:spPr>
      </p:pic>
      <p:pic>
        <p:nvPicPr>
          <p:cNvPr id="97" name="Graphique 96" descr="Réussite du groupe avec un remplissage uni">
            <a:extLst>
              <a:ext uri="{FF2B5EF4-FFF2-40B4-BE49-F238E27FC236}">
                <a16:creationId xmlns:a16="http://schemas.microsoft.com/office/drawing/2014/main" id="{FC5F7C40-F91A-67F7-581A-15727B037B0D}"/>
              </a:ext>
            </a:extLst>
          </p:cNvPr>
          <p:cNvPicPr>
            <a:picLocks noChangeAspect="1"/>
          </p:cNvPicPr>
          <p:nvPr/>
        </p:nvPicPr>
        <p:blipFill rotWithShape="1">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rcRect t="13979" b="19010"/>
          <a:stretch/>
        </p:blipFill>
        <p:spPr>
          <a:xfrm>
            <a:off x="9471823" y="1708200"/>
            <a:ext cx="351472" cy="235522"/>
          </a:xfrm>
          <a:prstGeom prst="rect">
            <a:avLst/>
          </a:prstGeom>
        </p:spPr>
      </p:pic>
      <p:pic>
        <p:nvPicPr>
          <p:cNvPr id="102" name="Graphique 101" descr="Femme détective avec un remplissage uni">
            <a:extLst>
              <a:ext uri="{FF2B5EF4-FFF2-40B4-BE49-F238E27FC236}">
                <a16:creationId xmlns:a16="http://schemas.microsoft.com/office/drawing/2014/main" id="{4DD955B6-F436-BA10-CDB6-B75E249F62D3}"/>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226462" y="1902119"/>
            <a:ext cx="452419" cy="452419"/>
          </a:xfrm>
          <a:prstGeom prst="rect">
            <a:avLst/>
          </a:prstGeom>
        </p:spPr>
      </p:pic>
      <p:pic>
        <p:nvPicPr>
          <p:cNvPr id="104" name="Graphique 103" descr="Raquette et balle de tennis avec un remplissage uni">
            <a:extLst>
              <a:ext uri="{FF2B5EF4-FFF2-40B4-BE49-F238E27FC236}">
                <a16:creationId xmlns:a16="http://schemas.microsoft.com/office/drawing/2014/main" id="{1B8C97E0-141D-B915-B6D2-A6067D5D90BB}"/>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7468333" y="1952518"/>
            <a:ext cx="423762" cy="423762"/>
          </a:xfrm>
          <a:prstGeom prst="rect">
            <a:avLst/>
          </a:prstGeom>
        </p:spPr>
      </p:pic>
      <p:pic>
        <p:nvPicPr>
          <p:cNvPr id="105" name="Graphique 104" descr="Tennis avec un remplissage uni">
            <a:extLst>
              <a:ext uri="{FF2B5EF4-FFF2-40B4-BE49-F238E27FC236}">
                <a16:creationId xmlns:a16="http://schemas.microsoft.com/office/drawing/2014/main" id="{82E47ED2-EBF7-01F4-31E5-4732115D17DD}"/>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flipH="1">
            <a:off x="7934065" y="1891507"/>
            <a:ext cx="619027" cy="604823"/>
          </a:xfrm>
          <a:prstGeom prst="rect">
            <a:avLst/>
          </a:prstGeom>
        </p:spPr>
      </p:pic>
      <p:pic>
        <p:nvPicPr>
          <p:cNvPr id="107" name="Graphique 106" descr="Réussite du groupe avec un remplissage uni">
            <a:extLst>
              <a:ext uri="{FF2B5EF4-FFF2-40B4-BE49-F238E27FC236}">
                <a16:creationId xmlns:a16="http://schemas.microsoft.com/office/drawing/2014/main" id="{B2C9BC5E-D4C0-E2C6-2892-66DFB675CA56}"/>
              </a:ext>
            </a:extLst>
          </p:cNvPr>
          <p:cNvPicPr>
            <a:picLocks noChangeAspect="1"/>
          </p:cNvPicPr>
          <p:nvPr/>
        </p:nvPicPr>
        <p:blipFill rotWithShape="1">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rcRect t="13979" b="19010"/>
          <a:stretch/>
        </p:blipFill>
        <p:spPr>
          <a:xfrm>
            <a:off x="2716145" y="4280805"/>
            <a:ext cx="854499" cy="572602"/>
          </a:xfrm>
          <a:prstGeom prst="rect">
            <a:avLst/>
          </a:prstGeom>
        </p:spPr>
      </p:pic>
      <p:grpSp>
        <p:nvGrpSpPr>
          <p:cNvPr id="67" name="Groupe 66">
            <a:extLst>
              <a:ext uri="{FF2B5EF4-FFF2-40B4-BE49-F238E27FC236}">
                <a16:creationId xmlns:a16="http://schemas.microsoft.com/office/drawing/2014/main" id="{A540057C-FD8A-90EB-B416-0BE74A4B7809}"/>
              </a:ext>
            </a:extLst>
          </p:cNvPr>
          <p:cNvGrpSpPr/>
          <p:nvPr/>
        </p:nvGrpSpPr>
        <p:grpSpPr>
          <a:xfrm>
            <a:off x="2468923" y="4190415"/>
            <a:ext cx="329850" cy="642120"/>
            <a:chOff x="2323812" y="4019924"/>
            <a:chExt cx="329850" cy="642120"/>
          </a:xfrm>
        </p:grpSpPr>
        <p:pic>
          <p:nvPicPr>
            <p:cNvPr id="110" name="Graphique 109" descr="Réussite du groupe avec un remplissage uni">
              <a:extLst>
                <a:ext uri="{FF2B5EF4-FFF2-40B4-BE49-F238E27FC236}">
                  <a16:creationId xmlns:a16="http://schemas.microsoft.com/office/drawing/2014/main" id="{1373BD5C-55FA-A4CE-6BE7-BAA17DD530D9}"/>
                </a:ext>
              </a:extLst>
            </p:cNvPr>
            <p:cNvPicPr>
              <a:picLocks noChangeAspect="1"/>
            </p:cNvPicPr>
            <p:nvPr/>
          </p:nvPicPr>
          <p:blipFill rotWithShape="1">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rcRect l="29244" t="13685" r="49590" b="31096"/>
            <a:stretch/>
          </p:blipFill>
          <p:spPr>
            <a:xfrm>
              <a:off x="2366359" y="4019924"/>
              <a:ext cx="246134" cy="642120"/>
            </a:xfrm>
            <a:prstGeom prst="rect">
              <a:avLst/>
            </a:prstGeom>
          </p:spPr>
        </p:pic>
        <p:sp>
          <p:nvSpPr>
            <p:cNvPr id="66" name="Rectangle 65">
              <a:extLst>
                <a:ext uri="{FF2B5EF4-FFF2-40B4-BE49-F238E27FC236}">
                  <a16:creationId xmlns:a16="http://schemas.microsoft.com/office/drawing/2014/main" id="{C6CD6EF0-7DFB-1135-B77F-D28E3E930CD4}"/>
                </a:ext>
              </a:extLst>
            </p:cNvPr>
            <p:cNvSpPr/>
            <p:nvPr/>
          </p:nvSpPr>
          <p:spPr>
            <a:xfrm>
              <a:off x="2424323" y="4096443"/>
              <a:ext cx="128377" cy="1280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13" name="Graphique 112" descr="Femme détective avec un remplissage uni">
              <a:extLst>
                <a:ext uri="{FF2B5EF4-FFF2-40B4-BE49-F238E27FC236}">
                  <a16:creationId xmlns:a16="http://schemas.microsoft.com/office/drawing/2014/main" id="{6F28ECBB-9CCA-79AA-2E67-996588AB41AD}"/>
                </a:ext>
              </a:extLst>
            </p:cNvPr>
            <p:cNvPicPr>
              <a:picLocks noChangeAspect="1"/>
            </p:cNvPicPr>
            <p:nvPr/>
          </p:nvPicPr>
          <p:blipFill rotWithShape="1">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rcRect t="1" b="43949"/>
            <a:stretch/>
          </p:blipFill>
          <p:spPr>
            <a:xfrm>
              <a:off x="2323812" y="4046394"/>
              <a:ext cx="329850" cy="184880"/>
            </a:xfrm>
            <a:prstGeom prst="rect">
              <a:avLst/>
            </a:prstGeom>
          </p:spPr>
        </p:pic>
      </p:grpSp>
      <p:pic>
        <p:nvPicPr>
          <p:cNvPr id="115" name="Graphique 114" descr="Femme détective avec un remplissage uni">
            <a:extLst>
              <a:ext uri="{FF2B5EF4-FFF2-40B4-BE49-F238E27FC236}">
                <a16:creationId xmlns:a16="http://schemas.microsoft.com/office/drawing/2014/main" id="{94C25D0A-731E-F1A7-FC9A-96318A60F568}"/>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3903031" y="4190415"/>
            <a:ext cx="545430" cy="545430"/>
          </a:xfrm>
          <a:prstGeom prst="rect">
            <a:avLst/>
          </a:prstGeom>
        </p:spPr>
      </p:pic>
      <p:pic>
        <p:nvPicPr>
          <p:cNvPr id="69" name="Graphique 68" descr="Réunion avec un remplissage uni">
            <a:extLst>
              <a:ext uri="{FF2B5EF4-FFF2-40B4-BE49-F238E27FC236}">
                <a16:creationId xmlns:a16="http://schemas.microsoft.com/office/drawing/2014/main" id="{F3F3D931-9445-0D48-DA42-962565DDC96C}"/>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4267529" y="3924906"/>
            <a:ext cx="914400" cy="914400"/>
          </a:xfrm>
          <a:prstGeom prst="rect">
            <a:avLst/>
          </a:prstGeom>
        </p:spPr>
      </p:pic>
      <p:pic>
        <p:nvPicPr>
          <p:cNvPr id="118" name="Graphique 117" descr="Employée de bureau avec un remplissage uni">
            <a:extLst>
              <a:ext uri="{FF2B5EF4-FFF2-40B4-BE49-F238E27FC236}">
                <a16:creationId xmlns:a16="http://schemas.microsoft.com/office/drawing/2014/main" id="{9D1EFE7A-FD5F-2EAB-BAA4-11AE6C521B71}"/>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4806522" y="4093593"/>
            <a:ext cx="373559" cy="373559"/>
          </a:xfrm>
          <a:prstGeom prst="rect">
            <a:avLst/>
          </a:prstGeom>
        </p:spPr>
      </p:pic>
      <p:pic>
        <p:nvPicPr>
          <p:cNvPr id="119" name="Graphique 118" descr="Employée de bureau avec un remplissage uni">
            <a:extLst>
              <a:ext uri="{FF2B5EF4-FFF2-40B4-BE49-F238E27FC236}">
                <a16:creationId xmlns:a16="http://schemas.microsoft.com/office/drawing/2014/main" id="{3D18A270-CA51-0130-B412-9607B8C9C0CA}"/>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4539841" y="4055679"/>
            <a:ext cx="373559" cy="373559"/>
          </a:xfrm>
          <a:prstGeom prst="rect">
            <a:avLst/>
          </a:prstGeom>
        </p:spPr>
      </p:pic>
      <p:pic>
        <p:nvPicPr>
          <p:cNvPr id="120" name="Graphique 119" descr="Employée de bureau avec un remplissage uni">
            <a:extLst>
              <a:ext uri="{FF2B5EF4-FFF2-40B4-BE49-F238E27FC236}">
                <a16:creationId xmlns:a16="http://schemas.microsoft.com/office/drawing/2014/main" id="{AE9C6256-5599-EB6C-8ED6-AB435BE91B75}"/>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4273542" y="4093593"/>
            <a:ext cx="373559" cy="373559"/>
          </a:xfrm>
          <a:prstGeom prst="rect">
            <a:avLst/>
          </a:prstGeom>
        </p:spPr>
      </p:pic>
      <p:pic>
        <p:nvPicPr>
          <p:cNvPr id="121" name="Graphique 120" descr="Femme détective avec un remplissage uni">
            <a:extLst>
              <a:ext uri="{FF2B5EF4-FFF2-40B4-BE49-F238E27FC236}">
                <a16:creationId xmlns:a16="http://schemas.microsoft.com/office/drawing/2014/main" id="{D9EA1314-A0E0-CEAD-BD4F-27B707E0E360}"/>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52476" y="365125"/>
            <a:ext cx="1114424" cy="1114424"/>
          </a:xfrm>
          <a:prstGeom prst="rect">
            <a:avLst/>
          </a:prstGeom>
        </p:spPr>
      </p:pic>
    </p:spTree>
    <p:extLst>
      <p:ext uri="{BB962C8B-B14F-4D97-AF65-F5344CB8AC3E}">
        <p14:creationId xmlns:p14="http://schemas.microsoft.com/office/powerpoint/2010/main" val="737047890"/>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FDEFCF7-5B8C-74AA-0D30-A796A8A68EA7}"/>
              </a:ext>
            </a:extLst>
          </p:cNvPr>
          <p:cNvSpPr>
            <a:spLocks noGrp="1"/>
          </p:cNvSpPr>
          <p:nvPr>
            <p:ph type="title"/>
          </p:nvPr>
        </p:nvSpPr>
        <p:spPr>
          <a:xfrm>
            <a:off x="1743074" y="365125"/>
            <a:ext cx="9610725" cy="606425"/>
          </a:xfrm>
        </p:spPr>
        <p:txBody>
          <a:bodyPr>
            <a:normAutofit fontScale="90000"/>
          </a:bodyPr>
          <a:lstStyle/>
          <a:p>
            <a:r>
              <a:rPr lang="fr-FR" sz="3200" dirty="0"/>
              <a:t>Exemples de signaux « faibles »</a:t>
            </a:r>
            <a:br>
              <a:rPr lang="fr-FR" sz="3200" dirty="0"/>
            </a:br>
            <a:r>
              <a:rPr lang="fr-FR" sz="3200" dirty="0"/>
              <a:t>en Renseignement par interception</a:t>
            </a:r>
          </a:p>
        </p:txBody>
      </p:sp>
      <p:sp>
        <p:nvSpPr>
          <p:cNvPr id="3" name="Espace réservé du contenu 2">
            <a:extLst>
              <a:ext uri="{FF2B5EF4-FFF2-40B4-BE49-F238E27FC236}">
                <a16:creationId xmlns:a16="http://schemas.microsoft.com/office/drawing/2014/main" id="{4E9CADFF-83D7-8C06-F5DD-E4492EC056B7}"/>
              </a:ext>
            </a:extLst>
          </p:cNvPr>
          <p:cNvSpPr>
            <a:spLocks noGrp="1"/>
          </p:cNvSpPr>
          <p:nvPr>
            <p:ph idx="1"/>
          </p:nvPr>
        </p:nvSpPr>
        <p:spPr>
          <a:xfrm>
            <a:off x="831916" y="1744074"/>
            <a:ext cx="2782956" cy="4675580"/>
          </a:xfrm>
        </p:spPr>
        <p:txBody>
          <a:bodyPr>
            <a:normAutofit fontScale="92500" lnSpcReduction="10000"/>
          </a:bodyPr>
          <a:lstStyle/>
          <a:p>
            <a:pPr marL="0" indent="0">
              <a:buNone/>
            </a:pPr>
            <a:r>
              <a:rPr lang="fr-FR" sz="1400" dirty="0"/>
              <a:t>Contrairement aux renseignements délibérés qui ont souvent des grilles de lecture ou des questions prêtes, le renseignement par interception considère souvent une gamme plus riche d’informations et de signaux.</a:t>
            </a:r>
          </a:p>
          <a:p>
            <a:pPr marL="0" indent="0">
              <a:buNone/>
            </a:pPr>
            <a:endParaRPr lang="fr-FR" sz="1400" dirty="0"/>
          </a:p>
          <a:p>
            <a:pPr marL="0" indent="0">
              <a:buNone/>
            </a:pPr>
            <a:r>
              <a:rPr lang="fr-FR" sz="1400" dirty="0"/>
              <a:t>Ces signaux sont souvent plus difficiles à déclencher soi-même, et peuvent moduler l’interprétation des résultats du renseignement délibéré.</a:t>
            </a:r>
          </a:p>
          <a:p>
            <a:pPr marL="0" indent="0">
              <a:buNone/>
            </a:pPr>
            <a:endParaRPr lang="fr-FR" sz="1400" dirty="0"/>
          </a:p>
          <a:p>
            <a:pPr marL="0" indent="0">
              <a:buNone/>
            </a:pPr>
            <a:r>
              <a:rPr lang="fr-FR" sz="1400" dirty="0"/>
              <a:t>Pour capter ces signaux, il y a besoin de vigilance, et d’une capacité de rapprochement de plusieurs signaux entre eux.</a:t>
            </a:r>
          </a:p>
          <a:p>
            <a:pPr marL="0" indent="0">
              <a:buNone/>
            </a:pPr>
            <a:endParaRPr lang="fr-FR" sz="1400" dirty="0"/>
          </a:p>
          <a:p>
            <a:pPr marL="0" indent="0">
              <a:buNone/>
            </a:pPr>
            <a:r>
              <a:rPr lang="fr-FR" sz="1400" dirty="0"/>
              <a:t>L’observation de ces signaux est souvent éliminée des actions de renseignement délibérés. </a:t>
            </a:r>
            <a:r>
              <a:rPr lang="fr-FR" sz="1400" b="1" dirty="0"/>
              <a:t>Ces signaux sont souvent considérés comme trop  nombreux, difficiles à capter, à normaliser ou à interpréter.</a:t>
            </a:r>
          </a:p>
        </p:txBody>
      </p:sp>
      <p:sp>
        <p:nvSpPr>
          <p:cNvPr id="5" name="ZoneTexte 4">
            <a:extLst>
              <a:ext uri="{FF2B5EF4-FFF2-40B4-BE49-F238E27FC236}">
                <a16:creationId xmlns:a16="http://schemas.microsoft.com/office/drawing/2014/main" id="{1643AB5C-FD88-B582-D717-EDC27AC26C2B}"/>
              </a:ext>
            </a:extLst>
          </p:cNvPr>
          <p:cNvSpPr txBox="1"/>
          <p:nvPr/>
        </p:nvSpPr>
        <p:spPr>
          <a:xfrm>
            <a:off x="3614872" y="2319318"/>
            <a:ext cx="1296000" cy="1404655"/>
          </a:xfrm>
          <a:prstGeom prst="rect">
            <a:avLst/>
          </a:prstGeom>
          <a:solidFill>
            <a:schemeClr val="accent1"/>
          </a:solidFill>
        </p:spPr>
        <p:txBody>
          <a:bodyPr wrap="square">
            <a:noAutofit/>
          </a:bodyPr>
          <a:lstStyle/>
          <a:p>
            <a:pPr algn="ctr"/>
            <a:r>
              <a:rPr lang="fr-FR" sz="1200" dirty="0">
                <a:solidFill>
                  <a:schemeClr val="bg1"/>
                </a:solidFill>
              </a:rPr>
              <a:t>Vitesse ou lenteur de réponse, richesse ou pauvreté des messages</a:t>
            </a:r>
          </a:p>
        </p:txBody>
      </p:sp>
      <p:sp>
        <p:nvSpPr>
          <p:cNvPr id="8" name="ZoneTexte 7">
            <a:extLst>
              <a:ext uri="{FF2B5EF4-FFF2-40B4-BE49-F238E27FC236}">
                <a16:creationId xmlns:a16="http://schemas.microsoft.com/office/drawing/2014/main" id="{E7235286-ABA9-01C8-4B51-0BBC4509BC9A}"/>
              </a:ext>
            </a:extLst>
          </p:cNvPr>
          <p:cNvSpPr txBox="1"/>
          <p:nvPr/>
        </p:nvSpPr>
        <p:spPr>
          <a:xfrm>
            <a:off x="7916425" y="2319318"/>
            <a:ext cx="1296000" cy="1404655"/>
          </a:xfrm>
          <a:prstGeom prst="rect">
            <a:avLst/>
          </a:prstGeom>
          <a:solidFill>
            <a:schemeClr val="accent1"/>
          </a:solidFill>
        </p:spPr>
        <p:txBody>
          <a:bodyPr wrap="square">
            <a:noAutofit/>
          </a:bodyPr>
          <a:lstStyle/>
          <a:p>
            <a:pPr algn="ctr"/>
            <a:r>
              <a:rPr lang="fr-FR" sz="1200" dirty="0">
                <a:solidFill>
                  <a:schemeClr val="bg1"/>
                </a:solidFill>
              </a:rPr>
              <a:t>Niveau de fatigue ou d’énergie</a:t>
            </a:r>
          </a:p>
          <a:p>
            <a:pPr algn="ctr"/>
            <a:r>
              <a:rPr lang="fr-FR" sz="1200" dirty="0">
                <a:solidFill>
                  <a:schemeClr val="bg1"/>
                </a:solidFill>
              </a:rPr>
              <a:t>Niveau d’excitation</a:t>
            </a:r>
          </a:p>
          <a:p>
            <a:pPr algn="ctr"/>
            <a:r>
              <a:rPr lang="fr-FR" sz="1200" dirty="0">
                <a:solidFill>
                  <a:schemeClr val="bg1"/>
                </a:solidFill>
              </a:rPr>
              <a:t>Intensité des émotions et des intentions</a:t>
            </a:r>
          </a:p>
        </p:txBody>
      </p:sp>
      <p:sp>
        <p:nvSpPr>
          <p:cNvPr id="9" name="ZoneTexte 8">
            <a:extLst>
              <a:ext uri="{FF2B5EF4-FFF2-40B4-BE49-F238E27FC236}">
                <a16:creationId xmlns:a16="http://schemas.microsoft.com/office/drawing/2014/main" id="{28651ECD-155F-22FD-C1A2-49AD3F2D511D}"/>
              </a:ext>
            </a:extLst>
          </p:cNvPr>
          <p:cNvSpPr txBox="1"/>
          <p:nvPr/>
        </p:nvSpPr>
        <p:spPr>
          <a:xfrm>
            <a:off x="5048723" y="2319318"/>
            <a:ext cx="1296000" cy="1404655"/>
          </a:xfrm>
          <a:prstGeom prst="rect">
            <a:avLst/>
          </a:prstGeom>
          <a:solidFill>
            <a:schemeClr val="accent1"/>
          </a:solidFill>
        </p:spPr>
        <p:txBody>
          <a:bodyPr wrap="square">
            <a:noAutofit/>
          </a:bodyPr>
          <a:lstStyle/>
          <a:p>
            <a:pPr algn="ctr"/>
            <a:r>
              <a:rPr lang="fr-FR" sz="1200" dirty="0">
                <a:solidFill>
                  <a:schemeClr val="bg1"/>
                </a:solidFill>
              </a:rPr>
              <a:t>Assiduité récente et régularité, absences, retards</a:t>
            </a:r>
          </a:p>
        </p:txBody>
      </p:sp>
      <p:sp>
        <p:nvSpPr>
          <p:cNvPr id="10" name="ZoneTexte 9">
            <a:extLst>
              <a:ext uri="{FF2B5EF4-FFF2-40B4-BE49-F238E27FC236}">
                <a16:creationId xmlns:a16="http://schemas.microsoft.com/office/drawing/2014/main" id="{4146F327-B558-00DE-4FEA-D0232E80A121}"/>
              </a:ext>
            </a:extLst>
          </p:cNvPr>
          <p:cNvSpPr txBox="1"/>
          <p:nvPr/>
        </p:nvSpPr>
        <p:spPr>
          <a:xfrm>
            <a:off x="6482574" y="2319318"/>
            <a:ext cx="1296000" cy="1404655"/>
          </a:xfrm>
          <a:prstGeom prst="rect">
            <a:avLst/>
          </a:prstGeom>
          <a:solidFill>
            <a:schemeClr val="accent1"/>
          </a:solidFill>
        </p:spPr>
        <p:txBody>
          <a:bodyPr wrap="square">
            <a:noAutofit/>
          </a:bodyPr>
          <a:lstStyle/>
          <a:p>
            <a:pPr algn="ctr"/>
            <a:r>
              <a:rPr lang="fr-FR" sz="1200" dirty="0">
                <a:solidFill>
                  <a:schemeClr val="bg1"/>
                </a:solidFill>
              </a:rPr>
              <a:t>Micro-plaintes et micro-célébrations (gestes, expressions, interjections…)</a:t>
            </a:r>
          </a:p>
        </p:txBody>
      </p:sp>
      <p:sp>
        <p:nvSpPr>
          <p:cNvPr id="11" name="ZoneTexte 10">
            <a:extLst>
              <a:ext uri="{FF2B5EF4-FFF2-40B4-BE49-F238E27FC236}">
                <a16:creationId xmlns:a16="http://schemas.microsoft.com/office/drawing/2014/main" id="{3C31FB4E-E86E-F5DB-9BD1-0D7DC35C0D90}"/>
              </a:ext>
            </a:extLst>
          </p:cNvPr>
          <p:cNvSpPr txBox="1"/>
          <p:nvPr/>
        </p:nvSpPr>
        <p:spPr>
          <a:xfrm>
            <a:off x="9350278" y="2319318"/>
            <a:ext cx="1296000" cy="1404655"/>
          </a:xfrm>
          <a:prstGeom prst="rect">
            <a:avLst/>
          </a:prstGeom>
          <a:solidFill>
            <a:schemeClr val="accent1"/>
          </a:solidFill>
        </p:spPr>
        <p:txBody>
          <a:bodyPr wrap="square">
            <a:noAutofit/>
          </a:bodyPr>
          <a:lstStyle/>
          <a:p>
            <a:pPr algn="ctr"/>
            <a:r>
              <a:rPr lang="fr-FR" sz="1200" dirty="0">
                <a:solidFill>
                  <a:schemeClr val="bg1"/>
                </a:solidFill>
              </a:rPr>
              <a:t>Réticences (ou actions effectuées malgré elles), conflits, </a:t>
            </a:r>
            <a:r>
              <a:rPr lang="fr-FR" sz="1200">
                <a:solidFill>
                  <a:schemeClr val="bg1"/>
                </a:solidFill>
              </a:rPr>
              <a:t>ironies, tensions </a:t>
            </a:r>
            <a:r>
              <a:rPr lang="fr-FR" sz="1200" dirty="0">
                <a:solidFill>
                  <a:schemeClr val="bg1"/>
                </a:solidFill>
              </a:rPr>
              <a:t>relationnelles</a:t>
            </a:r>
            <a:r>
              <a:rPr lang="fr-FR" sz="1200">
                <a:solidFill>
                  <a:schemeClr val="bg1"/>
                </a:solidFill>
              </a:rPr>
              <a:t>, Sarcasmes </a:t>
            </a:r>
            <a:endParaRPr lang="fr-FR" sz="1200" dirty="0">
              <a:solidFill>
                <a:schemeClr val="bg1"/>
              </a:solidFill>
            </a:endParaRPr>
          </a:p>
        </p:txBody>
      </p:sp>
      <p:sp>
        <p:nvSpPr>
          <p:cNvPr id="12" name="ZoneTexte 11">
            <a:extLst>
              <a:ext uri="{FF2B5EF4-FFF2-40B4-BE49-F238E27FC236}">
                <a16:creationId xmlns:a16="http://schemas.microsoft.com/office/drawing/2014/main" id="{EA66F58E-6EF5-C3FA-65BE-EA05E71AC457}"/>
              </a:ext>
            </a:extLst>
          </p:cNvPr>
          <p:cNvSpPr txBox="1"/>
          <p:nvPr/>
        </p:nvSpPr>
        <p:spPr>
          <a:xfrm>
            <a:off x="9350278" y="5088220"/>
            <a:ext cx="1296000" cy="1404655"/>
          </a:xfrm>
          <a:prstGeom prst="rect">
            <a:avLst/>
          </a:prstGeom>
          <a:solidFill>
            <a:schemeClr val="accent1"/>
          </a:solidFill>
        </p:spPr>
        <p:txBody>
          <a:bodyPr wrap="square">
            <a:noAutofit/>
          </a:bodyPr>
          <a:lstStyle/>
          <a:p>
            <a:pPr algn="ctr"/>
            <a:r>
              <a:rPr lang="fr-FR" sz="1200" dirty="0">
                <a:solidFill>
                  <a:schemeClr val="bg1"/>
                </a:solidFill>
              </a:rPr>
              <a:t>Ressentis plus ou moins assumés par leurs porteurs</a:t>
            </a:r>
          </a:p>
          <a:p>
            <a:pPr algn="ctr"/>
            <a:r>
              <a:rPr lang="fr-FR" sz="1200" dirty="0">
                <a:solidFill>
                  <a:schemeClr val="bg1"/>
                </a:solidFill>
              </a:rPr>
              <a:t>Contradictions</a:t>
            </a:r>
          </a:p>
        </p:txBody>
      </p:sp>
      <p:sp>
        <p:nvSpPr>
          <p:cNvPr id="13" name="ZoneTexte 12">
            <a:extLst>
              <a:ext uri="{FF2B5EF4-FFF2-40B4-BE49-F238E27FC236}">
                <a16:creationId xmlns:a16="http://schemas.microsoft.com/office/drawing/2014/main" id="{A532BDB3-7382-1D01-E75C-D59E95501A79}"/>
              </a:ext>
            </a:extLst>
          </p:cNvPr>
          <p:cNvSpPr txBox="1"/>
          <p:nvPr/>
        </p:nvSpPr>
        <p:spPr>
          <a:xfrm>
            <a:off x="7916425" y="5088220"/>
            <a:ext cx="1296000" cy="1404655"/>
          </a:xfrm>
          <a:prstGeom prst="rect">
            <a:avLst/>
          </a:prstGeom>
          <a:solidFill>
            <a:schemeClr val="accent1"/>
          </a:solidFill>
        </p:spPr>
        <p:txBody>
          <a:bodyPr wrap="square">
            <a:noAutofit/>
          </a:bodyPr>
          <a:lstStyle/>
          <a:p>
            <a:pPr algn="ctr"/>
            <a:r>
              <a:rPr lang="fr-FR" sz="1200" dirty="0">
                <a:solidFill>
                  <a:schemeClr val="bg1"/>
                </a:solidFill>
              </a:rPr>
              <a:t>Mots utilisés pour évoquer une situation ou une personne</a:t>
            </a:r>
          </a:p>
          <a:p>
            <a:pPr algn="ctr"/>
            <a:r>
              <a:rPr lang="fr-FR" sz="1200" dirty="0">
                <a:solidFill>
                  <a:schemeClr val="bg1"/>
                </a:solidFill>
              </a:rPr>
              <a:t>Champ lexical</a:t>
            </a:r>
          </a:p>
        </p:txBody>
      </p:sp>
      <p:sp>
        <p:nvSpPr>
          <p:cNvPr id="14" name="ZoneTexte 13">
            <a:extLst>
              <a:ext uri="{FF2B5EF4-FFF2-40B4-BE49-F238E27FC236}">
                <a16:creationId xmlns:a16="http://schemas.microsoft.com/office/drawing/2014/main" id="{A3E3036B-0871-186E-35F7-E7ED3CBCCCEC}"/>
              </a:ext>
            </a:extLst>
          </p:cNvPr>
          <p:cNvSpPr txBox="1"/>
          <p:nvPr/>
        </p:nvSpPr>
        <p:spPr>
          <a:xfrm>
            <a:off x="6482574" y="5088220"/>
            <a:ext cx="1296000" cy="1404655"/>
          </a:xfrm>
          <a:prstGeom prst="rect">
            <a:avLst/>
          </a:prstGeom>
          <a:solidFill>
            <a:schemeClr val="accent1"/>
          </a:solidFill>
        </p:spPr>
        <p:txBody>
          <a:bodyPr wrap="square">
            <a:noAutofit/>
          </a:bodyPr>
          <a:lstStyle/>
          <a:p>
            <a:pPr algn="ctr"/>
            <a:r>
              <a:rPr lang="fr-FR" sz="1200" dirty="0">
                <a:solidFill>
                  <a:schemeClr val="bg1"/>
                </a:solidFill>
              </a:rPr>
              <a:t>Connotations, Amalgames, généralisations, raccourcis, considérations simplifiées</a:t>
            </a:r>
          </a:p>
        </p:txBody>
      </p:sp>
      <p:sp>
        <p:nvSpPr>
          <p:cNvPr id="15" name="ZoneTexte 14">
            <a:extLst>
              <a:ext uri="{FF2B5EF4-FFF2-40B4-BE49-F238E27FC236}">
                <a16:creationId xmlns:a16="http://schemas.microsoft.com/office/drawing/2014/main" id="{87161B5A-23B2-B782-CEF9-D38363CE5183}"/>
              </a:ext>
            </a:extLst>
          </p:cNvPr>
          <p:cNvSpPr txBox="1"/>
          <p:nvPr/>
        </p:nvSpPr>
        <p:spPr>
          <a:xfrm>
            <a:off x="5048723" y="5088220"/>
            <a:ext cx="1296000" cy="1404655"/>
          </a:xfrm>
          <a:prstGeom prst="rect">
            <a:avLst/>
          </a:prstGeom>
          <a:solidFill>
            <a:schemeClr val="accent1"/>
          </a:solidFill>
        </p:spPr>
        <p:txBody>
          <a:bodyPr wrap="square">
            <a:noAutofit/>
          </a:bodyPr>
          <a:lstStyle/>
          <a:p>
            <a:pPr algn="ctr"/>
            <a:r>
              <a:rPr lang="fr-FR" sz="1200" dirty="0">
                <a:solidFill>
                  <a:schemeClr val="bg1"/>
                </a:solidFill>
              </a:rPr>
              <a:t>Comportements exceptionnels, Dissimulations visibles </a:t>
            </a:r>
          </a:p>
          <a:p>
            <a:pPr algn="ctr"/>
            <a:r>
              <a:rPr lang="fr-FR" sz="1200" dirty="0">
                <a:solidFill>
                  <a:schemeClr val="bg1"/>
                </a:solidFill>
              </a:rPr>
              <a:t>Liens entre sujets a priori indépendants</a:t>
            </a:r>
          </a:p>
        </p:txBody>
      </p:sp>
      <p:sp>
        <p:nvSpPr>
          <p:cNvPr id="16" name="ZoneTexte 15">
            <a:extLst>
              <a:ext uri="{FF2B5EF4-FFF2-40B4-BE49-F238E27FC236}">
                <a16:creationId xmlns:a16="http://schemas.microsoft.com/office/drawing/2014/main" id="{17234E2D-BB83-581F-7A14-D45791AAB8BB}"/>
              </a:ext>
            </a:extLst>
          </p:cNvPr>
          <p:cNvSpPr txBox="1"/>
          <p:nvPr/>
        </p:nvSpPr>
        <p:spPr>
          <a:xfrm>
            <a:off x="3614872" y="5088220"/>
            <a:ext cx="1296000" cy="1404655"/>
          </a:xfrm>
          <a:prstGeom prst="rect">
            <a:avLst/>
          </a:prstGeom>
          <a:solidFill>
            <a:schemeClr val="accent1"/>
          </a:solidFill>
        </p:spPr>
        <p:txBody>
          <a:bodyPr wrap="square">
            <a:noAutofit/>
          </a:bodyPr>
          <a:lstStyle/>
          <a:p>
            <a:pPr algn="ctr"/>
            <a:r>
              <a:rPr lang="fr-FR" sz="1200" dirty="0">
                <a:solidFill>
                  <a:schemeClr val="bg1"/>
                </a:solidFill>
              </a:rPr>
              <a:t>Ton de voix,</a:t>
            </a:r>
          </a:p>
          <a:p>
            <a:pPr algn="ctr"/>
            <a:r>
              <a:rPr lang="fr-FR" sz="1200" dirty="0">
                <a:solidFill>
                  <a:schemeClr val="bg1"/>
                </a:solidFill>
              </a:rPr>
              <a:t>Sous-entendus,</a:t>
            </a:r>
          </a:p>
          <a:p>
            <a:pPr algn="ctr"/>
            <a:r>
              <a:rPr lang="fr-FR" sz="1200" dirty="0">
                <a:solidFill>
                  <a:schemeClr val="bg1"/>
                </a:solidFill>
              </a:rPr>
              <a:t>Suggestions passives </a:t>
            </a:r>
          </a:p>
        </p:txBody>
      </p:sp>
      <p:pic>
        <p:nvPicPr>
          <p:cNvPr id="17" name="Graphique 16" descr="Femme détective avec un remplissage uni">
            <a:extLst>
              <a:ext uri="{FF2B5EF4-FFF2-40B4-BE49-F238E27FC236}">
                <a16:creationId xmlns:a16="http://schemas.microsoft.com/office/drawing/2014/main" id="{3CCBC193-F3CA-FDBC-BA04-1061646ED9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33426" y="243388"/>
            <a:ext cx="1114424" cy="1114424"/>
          </a:xfrm>
          <a:prstGeom prst="rect">
            <a:avLst/>
          </a:prstGeom>
        </p:spPr>
      </p:pic>
      <p:sp>
        <p:nvSpPr>
          <p:cNvPr id="18" name="ZoneTexte 17">
            <a:extLst>
              <a:ext uri="{FF2B5EF4-FFF2-40B4-BE49-F238E27FC236}">
                <a16:creationId xmlns:a16="http://schemas.microsoft.com/office/drawing/2014/main" id="{D27B7309-E7FC-1E2E-3C65-55530E1397E7}"/>
              </a:ext>
            </a:extLst>
          </p:cNvPr>
          <p:cNvSpPr txBox="1"/>
          <p:nvPr/>
        </p:nvSpPr>
        <p:spPr>
          <a:xfrm>
            <a:off x="10784131" y="2319318"/>
            <a:ext cx="1296000" cy="1404655"/>
          </a:xfrm>
          <a:prstGeom prst="rect">
            <a:avLst/>
          </a:prstGeom>
          <a:solidFill>
            <a:schemeClr val="accent1"/>
          </a:solidFill>
        </p:spPr>
        <p:txBody>
          <a:bodyPr wrap="square">
            <a:noAutofit/>
          </a:bodyPr>
          <a:lstStyle/>
          <a:p>
            <a:pPr algn="ctr"/>
            <a:r>
              <a:rPr lang="fr-FR" sz="1200" dirty="0">
                <a:solidFill>
                  <a:schemeClr val="bg1"/>
                </a:solidFill>
              </a:rPr>
              <a:t>Traits de caractères communs</a:t>
            </a:r>
          </a:p>
          <a:p>
            <a:pPr algn="ctr"/>
            <a:r>
              <a:rPr lang="fr-FR" sz="1200" dirty="0">
                <a:solidFill>
                  <a:schemeClr val="bg1"/>
                </a:solidFill>
              </a:rPr>
              <a:t>Points communs entre personnes non remarqués ni demandables</a:t>
            </a:r>
          </a:p>
        </p:txBody>
      </p:sp>
      <p:sp>
        <p:nvSpPr>
          <p:cNvPr id="19" name="ZoneTexte 18">
            <a:extLst>
              <a:ext uri="{FF2B5EF4-FFF2-40B4-BE49-F238E27FC236}">
                <a16:creationId xmlns:a16="http://schemas.microsoft.com/office/drawing/2014/main" id="{BF9908A7-A750-E279-E546-A84B857750C3}"/>
              </a:ext>
            </a:extLst>
          </p:cNvPr>
          <p:cNvSpPr txBox="1"/>
          <p:nvPr/>
        </p:nvSpPr>
        <p:spPr>
          <a:xfrm>
            <a:off x="10784131" y="5088220"/>
            <a:ext cx="1296000" cy="1404655"/>
          </a:xfrm>
          <a:prstGeom prst="rect">
            <a:avLst/>
          </a:prstGeom>
          <a:solidFill>
            <a:schemeClr val="accent1"/>
          </a:solidFill>
        </p:spPr>
        <p:txBody>
          <a:bodyPr wrap="square">
            <a:noAutofit/>
          </a:bodyPr>
          <a:lstStyle/>
          <a:p>
            <a:pPr algn="ctr"/>
            <a:r>
              <a:rPr lang="fr-FR" sz="1200" dirty="0">
                <a:solidFill>
                  <a:schemeClr val="bg1"/>
                </a:solidFill>
              </a:rPr>
              <a:t>Traits de caractères exceptionnels, </a:t>
            </a:r>
          </a:p>
          <a:p>
            <a:pPr algn="ctr"/>
            <a:r>
              <a:rPr lang="fr-FR" sz="1200" dirty="0">
                <a:solidFill>
                  <a:schemeClr val="bg1"/>
                </a:solidFill>
              </a:rPr>
              <a:t>Traits de personnalités ou qualités exceptionnels</a:t>
            </a:r>
          </a:p>
        </p:txBody>
      </p:sp>
      <p:pic>
        <p:nvPicPr>
          <p:cNvPr id="6" name="Graphique 5" descr="Visage fou avec remplissage uni avec un remplissage uni">
            <a:extLst>
              <a:ext uri="{FF2B5EF4-FFF2-40B4-BE49-F238E27FC236}">
                <a16:creationId xmlns:a16="http://schemas.microsoft.com/office/drawing/2014/main" id="{6571D23F-672A-81B6-E7AF-152C68AB64D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974931" y="4183236"/>
            <a:ext cx="914400" cy="914400"/>
          </a:xfrm>
          <a:prstGeom prst="rect">
            <a:avLst/>
          </a:prstGeom>
        </p:spPr>
      </p:pic>
      <p:pic>
        <p:nvPicPr>
          <p:cNvPr id="20" name="Graphique 19" descr="Visage grimaçant et transpirant avec remplissage uni avec un remplissage uni">
            <a:extLst>
              <a:ext uri="{FF2B5EF4-FFF2-40B4-BE49-F238E27FC236}">
                <a16:creationId xmlns:a16="http://schemas.microsoft.com/office/drawing/2014/main" id="{5E231A69-993A-4E27-519E-04618048732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4683" y="4190751"/>
            <a:ext cx="914400" cy="914400"/>
          </a:xfrm>
          <a:prstGeom prst="rect">
            <a:avLst/>
          </a:prstGeom>
        </p:spPr>
      </p:pic>
      <p:pic>
        <p:nvPicPr>
          <p:cNvPr id="22" name="Graphique 21" descr="Formes simples avec un remplissage uni">
            <a:extLst>
              <a:ext uri="{FF2B5EF4-FFF2-40B4-BE49-F238E27FC236}">
                <a16:creationId xmlns:a16="http://schemas.microsoft.com/office/drawing/2014/main" id="{DAC3D13B-167A-A79F-E91C-AA4A8035179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673374" y="4198753"/>
            <a:ext cx="914400" cy="914400"/>
          </a:xfrm>
          <a:prstGeom prst="rect">
            <a:avLst/>
          </a:prstGeom>
        </p:spPr>
      </p:pic>
      <p:pic>
        <p:nvPicPr>
          <p:cNvPr id="24" name="Graphique 23" descr="Chaussée glissante avec un remplissage uni">
            <a:extLst>
              <a:ext uri="{FF2B5EF4-FFF2-40B4-BE49-F238E27FC236}">
                <a16:creationId xmlns:a16="http://schemas.microsoft.com/office/drawing/2014/main" id="{F7697944-B36B-2C7B-6EB6-66F6C9E95DA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177782" y="4157341"/>
            <a:ext cx="914400" cy="914400"/>
          </a:xfrm>
          <a:prstGeom prst="rect">
            <a:avLst/>
          </a:prstGeom>
        </p:spPr>
      </p:pic>
      <p:pic>
        <p:nvPicPr>
          <p:cNvPr id="26" name="Graphique 25" descr="Commande vocale avec un remplissage uni">
            <a:extLst>
              <a:ext uri="{FF2B5EF4-FFF2-40B4-BE49-F238E27FC236}">
                <a16:creationId xmlns:a16="http://schemas.microsoft.com/office/drawing/2014/main" id="{683BD7CB-8782-CF14-503E-E032AC87470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818376" y="4198753"/>
            <a:ext cx="914400" cy="914400"/>
          </a:xfrm>
          <a:prstGeom prst="rect">
            <a:avLst/>
          </a:prstGeom>
        </p:spPr>
      </p:pic>
      <p:pic>
        <p:nvPicPr>
          <p:cNvPr id="28" name="Graphique 27" descr="Danser avec un remplissage uni">
            <a:extLst>
              <a:ext uri="{FF2B5EF4-FFF2-40B4-BE49-F238E27FC236}">
                <a16:creationId xmlns:a16="http://schemas.microsoft.com/office/drawing/2014/main" id="{9402A706-7B49-76AA-8EEF-4A830BBFFCDB}"/>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0974931" y="1358018"/>
            <a:ext cx="914400" cy="914400"/>
          </a:xfrm>
          <a:prstGeom prst="rect">
            <a:avLst/>
          </a:prstGeom>
        </p:spPr>
      </p:pic>
      <p:pic>
        <p:nvPicPr>
          <p:cNvPr id="32" name="Graphique 31" descr="Poing serré avec un remplissage uni">
            <a:extLst>
              <a:ext uri="{FF2B5EF4-FFF2-40B4-BE49-F238E27FC236}">
                <a16:creationId xmlns:a16="http://schemas.microsoft.com/office/drawing/2014/main" id="{64AC39D2-F813-E21A-9964-AF32DE90B53B}"/>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488520" y="1286874"/>
            <a:ext cx="914400" cy="914400"/>
          </a:xfrm>
          <a:prstGeom prst="rect">
            <a:avLst/>
          </a:prstGeom>
        </p:spPr>
      </p:pic>
      <p:pic>
        <p:nvPicPr>
          <p:cNvPr id="34" name="Graphique 33" descr="Commentaire cœur brisé avec un remplissage uni">
            <a:extLst>
              <a:ext uri="{FF2B5EF4-FFF2-40B4-BE49-F238E27FC236}">
                <a16:creationId xmlns:a16="http://schemas.microsoft.com/office/drawing/2014/main" id="{4FBB64CE-788F-20A6-1FA4-FEBADD90070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6543380" y="1557804"/>
            <a:ext cx="606425" cy="606425"/>
          </a:xfrm>
          <a:prstGeom prst="rect">
            <a:avLst/>
          </a:prstGeom>
        </p:spPr>
      </p:pic>
      <p:pic>
        <p:nvPicPr>
          <p:cNvPr id="36" name="Graphique 35" descr="Commentaire, Je n’aime pas avec un remplissage uni">
            <a:extLst>
              <a:ext uri="{FF2B5EF4-FFF2-40B4-BE49-F238E27FC236}">
                <a16:creationId xmlns:a16="http://schemas.microsoft.com/office/drawing/2014/main" id="{AFB17F3C-8184-6226-1E66-944E08CBF29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7065157" y="1557803"/>
            <a:ext cx="606425" cy="606425"/>
          </a:xfrm>
          <a:prstGeom prst="rect">
            <a:avLst/>
          </a:prstGeom>
        </p:spPr>
      </p:pic>
      <p:pic>
        <p:nvPicPr>
          <p:cNvPr id="38" name="Graphique 37" descr="Batterie plate avec un remplissage uni">
            <a:extLst>
              <a:ext uri="{FF2B5EF4-FFF2-40B4-BE49-F238E27FC236}">
                <a16:creationId xmlns:a16="http://schemas.microsoft.com/office/drawing/2014/main" id="{5CD45958-61E4-C76C-1ABB-B9EE7C2DFE5A}"/>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147968" y="1357812"/>
            <a:ext cx="914400" cy="914400"/>
          </a:xfrm>
          <a:prstGeom prst="rect">
            <a:avLst/>
          </a:prstGeom>
        </p:spPr>
      </p:pic>
      <p:pic>
        <p:nvPicPr>
          <p:cNvPr id="42" name="Graphique 41" descr="Calendrier journalier avec un remplissage uni">
            <a:extLst>
              <a:ext uri="{FF2B5EF4-FFF2-40B4-BE49-F238E27FC236}">
                <a16:creationId xmlns:a16="http://schemas.microsoft.com/office/drawing/2014/main" id="{09D90B5E-94B0-F3B8-5ECF-16272BE92FFE}"/>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5192458" y="1331315"/>
            <a:ext cx="914400" cy="914400"/>
          </a:xfrm>
          <a:prstGeom prst="rect">
            <a:avLst/>
          </a:prstGeom>
        </p:spPr>
      </p:pic>
      <p:pic>
        <p:nvPicPr>
          <p:cNvPr id="44" name="Graphique 43" descr="Bulle de discussion avec un remplissage uni">
            <a:extLst>
              <a:ext uri="{FF2B5EF4-FFF2-40B4-BE49-F238E27FC236}">
                <a16:creationId xmlns:a16="http://schemas.microsoft.com/office/drawing/2014/main" id="{0C1DD753-6CAA-6896-4AF9-D0BADFD47A61}"/>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3841536" y="1357812"/>
            <a:ext cx="914400" cy="914400"/>
          </a:xfrm>
          <a:prstGeom prst="rect">
            <a:avLst/>
          </a:prstGeom>
        </p:spPr>
      </p:pic>
      <p:pic>
        <p:nvPicPr>
          <p:cNvPr id="46" name="Graphique 45" descr="Hashtag avec un remplissage uni">
            <a:extLst>
              <a:ext uri="{FF2B5EF4-FFF2-40B4-BE49-F238E27FC236}">
                <a16:creationId xmlns:a16="http://schemas.microsoft.com/office/drawing/2014/main" id="{D956183B-CDFE-806E-7FDA-FF44CE1CD98E}"/>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8127683" y="4157341"/>
            <a:ext cx="914400" cy="914400"/>
          </a:xfrm>
          <a:prstGeom prst="rect">
            <a:avLst/>
          </a:prstGeom>
        </p:spPr>
      </p:pic>
      <p:pic>
        <p:nvPicPr>
          <p:cNvPr id="48" name="Graphique 47" descr="Fermer avec un remplissage uni">
            <a:extLst>
              <a:ext uri="{FF2B5EF4-FFF2-40B4-BE49-F238E27FC236}">
                <a16:creationId xmlns:a16="http://schemas.microsoft.com/office/drawing/2014/main" id="{0DEAFD07-A4A8-A569-5DDC-4634EA392D23}"/>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5370426" y="1708616"/>
            <a:ext cx="177334" cy="177334"/>
          </a:xfrm>
          <a:prstGeom prst="rect">
            <a:avLst/>
          </a:prstGeom>
        </p:spPr>
      </p:pic>
      <p:pic>
        <p:nvPicPr>
          <p:cNvPr id="49" name="Graphique 48" descr="Fermer avec un remplissage uni">
            <a:extLst>
              <a:ext uri="{FF2B5EF4-FFF2-40B4-BE49-F238E27FC236}">
                <a16:creationId xmlns:a16="http://schemas.microsoft.com/office/drawing/2014/main" id="{7F01493A-86B6-4353-0DF5-594C69E5A31B}"/>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5557706" y="1708616"/>
            <a:ext cx="177334" cy="177334"/>
          </a:xfrm>
          <a:prstGeom prst="rect">
            <a:avLst/>
          </a:prstGeom>
        </p:spPr>
      </p:pic>
      <p:pic>
        <p:nvPicPr>
          <p:cNvPr id="50" name="Graphique 49" descr="Fermer avec un remplissage uni">
            <a:extLst>
              <a:ext uri="{FF2B5EF4-FFF2-40B4-BE49-F238E27FC236}">
                <a16:creationId xmlns:a16="http://schemas.microsoft.com/office/drawing/2014/main" id="{B22E5574-4CB1-68EF-A475-4C756E55D600}"/>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5747065" y="1708616"/>
            <a:ext cx="177334" cy="177334"/>
          </a:xfrm>
          <a:prstGeom prst="rect">
            <a:avLst/>
          </a:prstGeom>
        </p:spPr>
      </p:pic>
      <p:pic>
        <p:nvPicPr>
          <p:cNvPr id="51" name="Graphique 50" descr="Fermer avec un remplissage uni">
            <a:extLst>
              <a:ext uri="{FF2B5EF4-FFF2-40B4-BE49-F238E27FC236}">
                <a16:creationId xmlns:a16="http://schemas.microsoft.com/office/drawing/2014/main" id="{5653F0C6-D9DC-0AD5-9E7C-41D541FACF3A}"/>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5387272" y="1829822"/>
            <a:ext cx="177334" cy="177334"/>
          </a:xfrm>
          <a:prstGeom prst="rect">
            <a:avLst/>
          </a:prstGeom>
        </p:spPr>
      </p:pic>
      <p:pic>
        <p:nvPicPr>
          <p:cNvPr id="52" name="Graphique 51" descr="Fermer avec un remplissage uni">
            <a:extLst>
              <a:ext uri="{FF2B5EF4-FFF2-40B4-BE49-F238E27FC236}">
                <a16:creationId xmlns:a16="http://schemas.microsoft.com/office/drawing/2014/main" id="{F5D3E869-AD2C-362A-B7D8-645E7F6BF2E7}"/>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5550806" y="1829822"/>
            <a:ext cx="177334" cy="177334"/>
          </a:xfrm>
          <a:prstGeom prst="rect">
            <a:avLst/>
          </a:prstGeom>
        </p:spPr>
      </p:pic>
      <p:pic>
        <p:nvPicPr>
          <p:cNvPr id="53" name="Graphique 52" descr="Fermer avec un remplissage uni">
            <a:extLst>
              <a:ext uri="{FF2B5EF4-FFF2-40B4-BE49-F238E27FC236}">
                <a16:creationId xmlns:a16="http://schemas.microsoft.com/office/drawing/2014/main" id="{1BF62970-0720-C384-DAED-67FDBA83F53D}"/>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5748009" y="1925300"/>
            <a:ext cx="177334" cy="177334"/>
          </a:xfrm>
          <a:prstGeom prst="rect">
            <a:avLst/>
          </a:prstGeom>
        </p:spPr>
      </p:pic>
    </p:spTree>
    <p:extLst>
      <p:ext uri="{BB962C8B-B14F-4D97-AF65-F5344CB8AC3E}">
        <p14:creationId xmlns:p14="http://schemas.microsoft.com/office/powerpoint/2010/main" val="2312092988"/>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FDEFCF7-5B8C-74AA-0D30-A796A8A68EA7}"/>
              </a:ext>
            </a:extLst>
          </p:cNvPr>
          <p:cNvSpPr>
            <a:spLocks noGrp="1"/>
          </p:cNvSpPr>
          <p:nvPr>
            <p:ph type="title"/>
          </p:nvPr>
        </p:nvSpPr>
        <p:spPr>
          <a:xfrm>
            <a:off x="1743074" y="365125"/>
            <a:ext cx="9610725" cy="606425"/>
          </a:xfrm>
        </p:spPr>
        <p:txBody>
          <a:bodyPr>
            <a:normAutofit fontScale="90000"/>
          </a:bodyPr>
          <a:lstStyle/>
          <a:p>
            <a:r>
              <a:rPr lang="fr-FR" sz="3200" dirty="0"/>
              <a:t>Exemples de signaux « faibles »</a:t>
            </a:r>
            <a:br>
              <a:rPr lang="fr-FR" sz="3200" dirty="0"/>
            </a:br>
            <a:r>
              <a:rPr lang="fr-FR" sz="3200" dirty="0"/>
              <a:t>en Renseignement par interception</a:t>
            </a:r>
          </a:p>
        </p:txBody>
      </p:sp>
      <p:pic>
        <p:nvPicPr>
          <p:cNvPr id="17" name="Graphique 16" descr="Femme détective avec un remplissage uni">
            <a:extLst>
              <a:ext uri="{FF2B5EF4-FFF2-40B4-BE49-F238E27FC236}">
                <a16:creationId xmlns:a16="http://schemas.microsoft.com/office/drawing/2014/main" id="{3CCBC193-F3CA-FDBC-BA04-1061646ED9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33426" y="243388"/>
            <a:ext cx="1114424" cy="1114424"/>
          </a:xfrm>
          <a:prstGeom prst="rect">
            <a:avLst/>
          </a:prstGeom>
        </p:spPr>
      </p:pic>
      <p:grpSp>
        <p:nvGrpSpPr>
          <p:cNvPr id="43" name="Groupe 42">
            <a:extLst>
              <a:ext uri="{FF2B5EF4-FFF2-40B4-BE49-F238E27FC236}">
                <a16:creationId xmlns:a16="http://schemas.microsoft.com/office/drawing/2014/main" id="{37F66788-984C-A724-1771-C1C7181AC7F9}"/>
              </a:ext>
            </a:extLst>
          </p:cNvPr>
          <p:cNvGrpSpPr/>
          <p:nvPr/>
        </p:nvGrpSpPr>
        <p:grpSpPr>
          <a:xfrm>
            <a:off x="8136341" y="1629030"/>
            <a:ext cx="956564" cy="1799567"/>
            <a:chOff x="8945057" y="3918964"/>
            <a:chExt cx="1070666" cy="1908064"/>
          </a:xfrm>
        </p:grpSpPr>
        <p:sp>
          <p:nvSpPr>
            <p:cNvPr id="19" name="ZoneTexte 18">
              <a:extLst>
                <a:ext uri="{FF2B5EF4-FFF2-40B4-BE49-F238E27FC236}">
                  <a16:creationId xmlns:a16="http://schemas.microsoft.com/office/drawing/2014/main" id="{BF9908A7-A750-E279-E546-A84B857750C3}"/>
                </a:ext>
              </a:extLst>
            </p:cNvPr>
            <p:cNvSpPr txBox="1"/>
            <p:nvPr/>
          </p:nvSpPr>
          <p:spPr>
            <a:xfrm>
              <a:off x="8945057" y="4666599"/>
              <a:ext cx="1070666" cy="1160429"/>
            </a:xfrm>
            <a:prstGeom prst="rect">
              <a:avLst/>
            </a:prstGeom>
            <a:solidFill>
              <a:schemeClr val="accent1"/>
            </a:solidFill>
          </p:spPr>
          <p:txBody>
            <a:bodyPr wrap="square">
              <a:noAutofit/>
            </a:bodyPr>
            <a:lstStyle/>
            <a:p>
              <a:pPr algn="ctr"/>
              <a:r>
                <a:rPr lang="fr-FR" sz="900" dirty="0">
                  <a:solidFill>
                    <a:schemeClr val="bg1"/>
                  </a:solidFill>
                </a:rPr>
                <a:t>Traits de caractères exceptionnels, </a:t>
              </a:r>
            </a:p>
            <a:p>
              <a:pPr algn="ctr"/>
              <a:r>
                <a:rPr lang="fr-FR" sz="900" dirty="0">
                  <a:solidFill>
                    <a:schemeClr val="bg1"/>
                  </a:solidFill>
                </a:rPr>
                <a:t>Traits de personnalités ou qualités exceptionnels</a:t>
              </a:r>
            </a:p>
          </p:txBody>
        </p:sp>
        <p:pic>
          <p:nvPicPr>
            <p:cNvPr id="6" name="Graphique 5" descr="Visage fou avec remplissage uni avec un remplissage uni">
              <a:extLst>
                <a:ext uri="{FF2B5EF4-FFF2-40B4-BE49-F238E27FC236}">
                  <a16:creationId xmlns:a16="http://schemas.microsoft.com/office/drawing/2014/main" id="{6571D23F-672A-81B6-E7AF-152C68AB64D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02683" y="3918964"/>
              <a:ext cx="755414" cy="755414"/>
            </a:xfrm>
            <a:prstGeom prst="rect">
              <a:avLst/>
            </a:prstGeom>
          </p:spPr>
        </p:pic>
      </p:grpSp>
      <p:grpSp>
        <p:nvGrpSpPr>
          <p:cNvPr id="30" name="Groupe 29">
            <a:extLst>
              <a:ext uri="{FF2B5EF4-FFF2-40B4-BE49-F238E27FC236}">
                <a16:creationId xmlns:a16="http://schemas.microsoft.com/office/drawing/2014/main" id="{A781F71F-DAC9-AA94-3967-BF74F071A864}"/>
              </a:ext>
            </a:extLst>
          </p:cNvPr>
          <p:cNvGrpSpPr/>
          <p:nvPr/>
        </p:nvGrpSpPr>
        <p:grpSpPr>
          <a:xfrm>
            <a:off x="7122173" y="1629030"/>
            <a:ext cx="956564" cy="1799567"/>
            <a:chOff x="7760507" y="3918964"/>
            <a:chExt cx="1070666" cy="1908064"/>
          </a:xfrm>
        </p:grpSpPr>
        <p:sp>
          <p:nvSpPr>
            <p:cNvPr id="12" name="ZoneTexte 11">
              <a:extLst>
                <a:ext uri="{FF2B5EF4-FFF2-40B4-BE49-F238E27FC236}">
                  <a16:creationId xmlns:a16="http://schemas.microsoft.com/office/drawing/2014/main" id="{EA66F58E-6EF5-C3FA-65BE-EA05E71AC457}"/>
                </a:ext>
              </a:extLst>
            </p:cNvPr>
            <p:cNvSpPr txBox="1"/>
            <p:nvPr/>
          </p:nvSpPr>
          <p:spPr>
            <a:xfrm>
              <a:off x="7760507" y="4666599"/>
              <a:ext cx="1070666" cy="1160429"/>
            </a:xfrm>
            <a:prstGeom prst="rect">
              <a:avLst/>
            </a:prstGeom>
            <a:solidFill>
              <a:schemeClr val="accent1"/>
            </a:solidFill>
          </p:spPr>
          <p:txBody>
            <a:bodyPr wrap="square">
              <a:noAutofit/>
            </a:bodyPr>
            <a:lstStyle/>
            <a:p>
              <a:pPr algn="ctr"/>
              <a:r>
                <a:rPr lang="fr-FR" sz="900" dirty="0">
                  <a:solidFill>
                    <a:schemeClr val="bg1"/>
                  </a:solidFill>
                </a:rPr>
                <a:t>Ressentis plus ou moins assumés par leurs porteurs</a:t>
              </a:r>
            </a:p>
            <a:p>
              <a:pPr algn="ctr"/>
              <a:r>
                <a:rPr lang="fr-FR" sz="900" dirty="0">
                  <a:solidFill>
                    <a:schemeClr val="bg1"/>
                  </a:solidFill>
                </a:rPr>
                <a:t>Contradictions</a:t>
              </a:r>
            </a:p>
          </p:txBody>
        </p:sp>
        <p:pic>
          <p:nvPicPr>
            <p:cNvPr id="20" name="Graphique 19" descr="Visage grimaçant et transpirant avec remplissage uni avec un remplissage uni">
              <a:extLst>
                <a:ext uri="{FF2B5EF4-FFF2-40B4-BE49-F238E27FC236}">
                  <a16:creationId xmlns:a16="http://schemas.microsoft.com/office/drawing/2014/main" id="{5E231A69-993A-4E27-519E-04618048732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914589" y="3918964"/>
              <a:ext cx="755414" cy="755414"/>
            </a:xfrm>
            <a:prstGeom prst="rect">
              <a:avLst/>
            </a:prstGeom>
          </p:spPr>
        </p:pic>
      </p:grpSp>
      <p:grpSp>
        <p:nvGrpSpPr>
          <p:cNvPr id="41" name="Groupe 40">
            <a:extLst>
              <a:ext uri="{FF2B5EF4-FFF2-40B4-BE49-F238E27FC236}">
                <a16:creationId xmlns:a16="http://schemas.microsoft.com/office/drawing/2014/main" id="{241E2B7D-7FB4-1A87-D810-E4FA7FAFE91D}"/>
              </a:ext>
            </a:extLst>
          </p:cNvPr>
          <p:cNvGrpSpPr/>
          <p:nvPr/>
        </p:nvGrpSpPr>
        <p:grpSpPr>
          <a:xfrm>
            <a:off x="5093839" y="1633562"/>
            <a:ext cx="956563" cy="1795098"/>
            <a:chOff x="5613929" y="1632702"/>
            <a:chExt cx="1070666" cy="1903327"/>
          </a:xfrm>
        </p:grpSpPr>
        <p:sp>
          <p:nvSpPr>
            <p:cNvPr id="14" name="ZoneTexte 13">
              <a:extLst>
                <a:ext uri="{FF2B5EF4-FFF2-40B4-BE49-F238E27FC236}">
                  <a16:creationId xmlns:a16="http://schemas.microsoft.com/office/drawing/2014/main" id="{A3E3036B-0871-186E-35F7-E7ED3CBCCCEC}"/>
                </a:ext>
              </a:extLst>
            </p:cNvPr>
            <p:cNvSpPr txBox="1"/>
            <p:nvPr/>
          </p:nvSpPr>
          <p:spPr>
            <a:xfrm>
              <a:off x="5613929" y="2375600"/>
              <a:ext cx="1070666" cy="1160429"/>
            </a:xfrm>
            <a:prstGeom prst="rect">
              <a:avLst/>
            </a:prstGeom>
            <a:solidFill>
              <a:schemeClr val="accent1"/>
            </a:solidFill>
          </p:spPr>
          <p:txBody>
            <a:bodyPr wrap="square">
              <a:noAutofit/>
            </a:bodyPr>
            <a:lstStyle/>
            <a:p>
              <a:pPr algn="ctr"/>
              <a:r>
                <a:rPr lang="fr-FR" sz="900" dirty="0">
                  <a:solidFill>
                    <a:schemeClr val="bg1"/>
                  </a:solidFill>
                </a:rPr>
                <a:t>Connotations, Amalgames, généralisations, raccourcis, considérations simplifiées</a:t>
              </a:r>
            </a:p>
          </p:txBody>
        </p:sp>
        <p:pic>
          <p:nvPicPr>
            <p:cNvPr id="22" name="Graphique 21" descr="Formes simples avec un remplissage uni">
              <a:extLst>
                <a:ext uri="{FF2B5EF4-FFF2-40B4-BE49-F238E27FC236}">
                  <a16:creationId xmlns:a16="http://schemas.microsoft.com/office/drawing/2014/main" id="{DAC3D13B-167A-A79F-E91C-AA4A8035179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771555" y="1632702"/>
              <a:ext cx="755414" cy="755414"/>
            </a:xfrm>
            <a:prstGeom prst="rect">
              <a:avLst/>
            </a:prstGeom>
          </p:spPr>
        </p:pic>
      </p:grpSp>
      <p:grpSp>
        <p:nvGrpSpPr>
          <p:cNvPr id="40" name="Groupe 39">
            <a:extLst>
              <a:ext uri="{FF2B5EF4-FFF2-40B4-BE49-F238E27FC236}">
                <a16:creationId xmlns:a16="http://schemas.microsoft.com/office/drawing/2014/main" id="{AFBC5281-4D20-208A-FC4D-855B49AC3C5C}"/>
              </a:ext>
            </a:extLst>
          </p:cNvPr>
          <p:cNvGrpSpPr/>
          <p:nvPr/>
        </p:nvGrpSpPr>
        <p:grpSpPr>
          <a:xfrm>
            <a:off x="4079672" y="1608572"/>
            <a:ext cx="956563" cy="1819742"/>
            <a:chOff x="4503313" y="1606573"/>
            <a:chExt cx="1070666" cy="1929456"/>
          </a:xfrm>
        </p:grpSpPr>
        <p:sp>
          <p:nvSpPr>
            <p:cNvPr id="15" name="ZoneTexte 14">
              <a:extLst>
                <a:ext uri="{FF2B5EF4-FFF2-40B4-BE49-F238E27FC236}">
                  <a16:creationId xmlns:a16="http://schemas.microsoft.com/office/drawing/2014/main" id="{87161B5A-23B2-B782-CEF9-D38363CE5183}"/>
                </a:ext>
              </a:extLst>
            </p:cNvPr>
            <p:cNvSpPr txBox="1"/>
            <p:nvPr/>
          </p:nvSpPr>
          <p:spPr>
            <a:xfrm>
              <a:off x="4503313" y="2375600"/>
              <a:ext cx="1070666" cy="1160429"/>
            </a:xfrm>
            <a:prstGeom prst="rect">
              <a:avLst/>
            </a:prstGeom>
            <a:solidFill>
              <a:schemeClr val="accent1"/>
            </a:solidFill>
          </p:spPr>
          <p:txBody>
            <a:bodyPr wrap="square">
              <a:noAutofit/>
            </a:bodyPr>
            <a:lstStyle/>
            <a:p>
              <a:pPr algn="ctr"/>
              <a:r>
                <a:rPr lang="fr-FR" sz="900" dirty="0">
                  <a:solidFill>
                    <a:schemeClr val="bg1"/>
                  </a:solidFill>
                </a:rPr>
                <a:t>Comportements exceptionnels, Dissimulations visibles </a:t>
              </a:r>
            </a:p>
            <a:p>
              <a:pPr algn="ctr"/>
              <a:r>
                <a:rPr lang="fr-FR" sz="900" dirty="0">
                  <a:solidFill>
                    <a:schemeClr val="bg1"/>
                  </a:solidFill>
                </a:rPr>
                <a:t>Liens entre sujets a priori indépendants</a:t>
              </a:r>
            </a:p>
          </p:txBody>
        </p:sp>
        <p:pic>
          <p:nvPicPr>
            <p:cNvPr id="24" name="Graphique 23" descr="Chaussée glissante avec un remplissage uni">
              <a:extLst>
                <a:ext uri="{FF2B5EF4-FFF2-40B4-BE49-F238E27FC236}">
                  <a16:creationId xmlns:a16="http://schemas.microsoft.com/office/drawing/2014/main" id="{F7697944-B36B-2C7B-6EB6-66F6C9E95DA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4639747" y="1606573"/>
              <a:ext cx="755414" cy="755414"/>
            </a:xfrm>
            <a:prstGeom prst="rect">
              <a:avLst/>
            </a:prstGeom>
          </p:spPr>
        </p:pic>
      </p:grpSp>
      <p:grpSp>
        <p:nvGrpSpPr>
          <p:cNvPr id="39" name="Groupe 38">
            <a:extLst>
              <a:ext uri="{FF2B5EF4-FFF2-40B4-BE49-F238E27FC236}">
                <a16:creationId xmlns:a16="http://schemas.microsoft.com/office/drawing/2014/main" id="{B1E9238D-D590-5901-7695-4C3D7AAD359D}"/>
              </a:ext>
            </a:extLst>
          </p:cNvPr>
          <p:cNvGrpSpPr/>
          <p:nvPr/>
        </p:nvGrpSpPr>
        <p:grpSpPr>
          <a:xfrm>
            <a:off x="3065504" y="1641291"/>
            <a:ext cx="956564" cy="1787477"/>
            <a:chOff x="3289050" y="1640784"/>
            <a:chExt cx="1070666" cy="1895245"/>
          </a:xfrm>
        </p:grpSpPr>
        <p:sp>
          <p:nvSpPr>
            <p:cNvPr id="16" name="ZoneTexte 15">
              <a:extLst>
                <a:ext uri="{FF2B5EF4-FFF2-40B4-BE49-F238E27FC236}">
                  <a16:creationId xmlns:a16="http://schemas.microsoft.com/office/drawing/2014/main" id="{17234E2D-BB83-581F-7A14-D45791AAB8BB}"/>
                </a:ext>
              </a:extLst>
            </p:cNvPr>
            <p:cNvSpPr txBox="1"/>
            <p:nvPr/>
          </p:nvSpPr>
          <p:spPr>
            <a:xfrm>
              <a:off x="3289050" y="2375600"/>
              <a:ext cx="1070666" cy="1160429"/>
            </a:xfrm>
            <a:prstGeom prst="rect">
              <a:avLst/>
            </a:prstGeom>
            <a:solidFill>
              <a:schemeClr val="accent1"/>
            </a:solidFill>
          </p:spPr>
          <p:txBody>
            <a:bodyPr wrap="square">
              <a:noAutofit/>
            </a:bodyPr>
            <a:lstStyle/>
            <a:p>
              <a:pPr algn="ctr"/>
              <a:r>
                <a:rPr lang="fr-FR" sz="900" dirty="0">
                  <a:solidFill>
                    <a:schemeClr val="bg1"/>
                  </a:solidFill>
                </a:rPr>
                <a:t>Ton de voix,</a:t>
              </a:r>
            </a:p>
            <a:p>
              <a:pPr algn="ctr"/>
              <a:r>
                <a:rPr lang="fr-FR" sz="900" dirty="0">
                  <a:solidFill>
                    <a:schemeClr val="bg1"/>
                  </a:solidFill>
                </a:rPr>
                <a:t>Sous-entendus,</a:t>
              </a:r>
            </a:p>
            <a:p>
              <a:pPr algn="ctr"/>
              <a:r>
                <a:rPr lang="fr-FR" sz="900" dirty="0">
                  <a:solidFill>
                    <a:schemeClr val="bg1"/>
                  </a:solidFill>
                </a:rPr>
                <a:t>Suggestions passives </a:t>
              </a:r>
            </a:p>
          </p:txBody>
        </p:sp>
        <p:pic>
          <p:nvPicPr>
            <p:cNvPr id="26" name="Graphique 25" descr="Commande vocale avec un remplissage uni">
              <a:extLst>
                <a:ext uri="{FF2B5EF4-FFF2-40B4-BE49-F238E27FC236}">
                  <a16:creationId xmlns:a16="http://schemas.microsoft.com/office/drawing/2014/main" id="{683BD7CB-8782-CF14-503E-E032AC87470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457171" y="1640784"/>
              <a:ext cx="755414" cy="755414"/>
            </a:xfrm>
            <a:prstGeom prst="rect">
              <a:avLst/>
            </a:prstGeom>
          </p:spPr>
        </p:pic>
      </p:grpSp>
      <p:grpSp>
        <p:nvGrpSpPr>
          <p:cNvPr id="35" name="Groupe 34">
            <a:extLst>
              <a:ext uri="{FF2B5EF4-FFF2-40B4-BE49-F238E27FC236}">
                <a16:creationId xmlns:a16="http://schemas.microsoft.com/office/drawing/2014/main" id="{82A82171-C5BE-4960-28A7-0A4EEBC2F852}"/>
              </a:ext>
            </a:extLst>
          </p:cNvPr>
          <p:cNvGrpSpPr/>
          <p:nvPr/>
        </p:nvGrpSpPr>
        <p:grpSpPr>
          <a:xfrm>
            <a:off x="11178844" y="1658015"/>
            <a:ext cx="956564" cy="1770985"/>
            <a:chOff x="11043884" y="1606573"/>
            <a:chExt cx="1070666" cy="1877759"/>
          </a:xfrm>
        </p:grpSpPr>
        <p:sp>
          <p:nvSpPr>
            <p:cNvPr id="18" name="ZoneTexte 17">
              <a:extLst>
                <a:ext uri="{FF2B5EF4-FFF2-40B4-BE49-F238E27FC236}">
                  <a16:creationId xmlns:a16="http://schemas.microsoft.com/office/drawing/2014/main" id="{D27B7309-E7FC-1E2E-3C65-55530E1397E7}"/>
                </a:ext>
              </a:extLst>
            </p:cNvPr>
            <p:cNvSpPr txBox="1"/>
            <p:nvPr/>
          </p:nvSpPr>
          <p:spPr>
            <a:xfrm>
              <a:off x="11043884" y="2323903"/>
              <a:ext cx="1070666" cy="1160429"/>
            </a:xfrm>
            <a:prstGeom prst="rect">
              <a:avLst/>
            </a:prstGeom>
            <a:solidFill>
              <a:schemeClr val="accent1"/>
            </a:solidFill>
          </p:spPr>
          <p:txBody>
            <a:bodyPr wrap="square">
              <a:noAutofit/>
            </a:bodyPr>
            <a:lstStyle/>
            <a:p>
              <a:pPr algn="ctr"/>
              <a:r>
                <a:rPr lang="fr-FR" sz="900" dirty="0">
                  <a:solidFill>
                    <a:schemeClr val="bg1"/>
                  </a:solidFill>
                </a:rPr>
                <a:t>Traits de caractères communs</a:t>
              </a:r>
            </a:p>
            <a:p>
              <a:pPr algn="ctr"/>
              <a:r>
                <a:rPr lang="fr-FR" sz="900" dirty="0">
                  <a:solidFill>
                    <a:schemeClr val="bg1"/>
                  </a:solidFill>
                </a:rPr>
                <a:t>Points communs entre personnes non remarqués ni demandables</a:t>
              </a:r>
            </a:p>
          </p:txBody>
        </p:sp>
        <p:pic>
          <p:nvPicPr>
            <p:cNvPr id="28" name="Graphique 27" descr="Danser avec un remplissage uni">
              <a:extLst>
                <a:ext uri="{FF2B5EF4-FFF2-40B4-BE49-F238E27FC236}">
                  <a16:creationId xmlns:a16="http://schemas.microsoft.com/office/drawing/2014/main" id="{9402A706-7B49-76AA-8EEF-4A830BBFFCDB}"/>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1239317" y="1606573"/>
              <a:ext cx="755414" cy="755414"/>
            </a:xfrm>
            <a:prstGeom prst="rect">
              <a:avLst/>
            </a:prstGeom>
          </p:spPr>
        </p:pic>
      </p:grpSp>
      <p:grpSp>
        <p:nvGrpSpPr>
          <p:cNvPr id="33" name="Groupe 32">
            <a:extLst>
              <a:ext uri="{FF2B5EF4-FFF2-40B4-BE49-F238E27FC236}">
                <a16:creationId xmlns:a16="http://schemas.microsoft.com/office/drawing/2014/main" id="{0A10D478-89F6-61B1-FD0B-5A1E0F5E20E8}"/>
              </a:ext>
            </a:extLst>
          </p:cNvPr>
          <p:cNvGrpSpPr/>
          <p:nvPr/>
        </p:nvGrpSpPr>
        <p:grpSpPr>
          <a:xfrm>
            <a:off x="10164677" y="1690734"/>
            <a:ext cx="956563" cy="1738719"/>
            <a:chOff x="9859334" y="1640784"/>
            <a:chExt cx="1070666" cy="1843548"/>
          </a:xfrm>
        </p:grpSpPr>
        <p:sp>
          <p:nvSpPr>
            <p:cNvPr id="11" name="ZoneTexte 10">
              <a:extLst>
                <a:ext uri="{FF2B5EF4-FFF2-40B4-BE49-F238E27FC236}">
                  <a16:creationId xmlns:a16="http://schemas.microsoft.com/office/drawing/2014/main" id="{3C31FB4E-E86E-F5DB-9BD1-0D7DC35C0D90}"/>
                </a:ext>
              </a:extLst>
            </p:cNvPr>
            <p:cNvSpPr txBox="1"/>
            <p:nvPr/>
          </p:nvSpPr>
          <p:spPr>
            <a:xfrm>
              <a:off x="9859334" y="2323903"/>
              <a:ext cx="1070666" cy="1160429"/>
            </a:xfrm>
            <a:prstGeom prst="rect">
              <a:avLst/>
            </a:prstGeom>
            <a:solidFill>
              <a:schemeClr val="accent1"/>
            </a:solidFill>
          </p:spPr>
          <p:txBody>
            <a:bodyPr wrap="square">
              <a:noAutofit/>
            </a:bodyPr>
            <a:lstStyle/>
            <a:p>
              <a:pPr algn="ctr"/>
              <a:r>
                <a:rPr lang="fr-FR" sz="900" dirty="0">
                  <a:solidFill>
                    <a:schemeClr val="bg1"/>
                  </a:solidFill>
                </a:rPr>
                <a:t>Réticences (ou actions malgré réticences), conflits, ironies, tensions relationnelles, Sarcasmes </a:t>
              </a:r>
            </a:p>
          </p:txBody>
        </p:sp>
        <p:pic>
          <p:nvPicPr>
            <p:cNvPr id="32" name="Graphique 31" descr="Poing serré avec un remplissage uni">
              <a:extLst>
                <a:ext uri="{FF2B5EF4-FFF2-40B4-BE49-F238E27FC236}">
                  <a16:creationId xmlns:a16="http://schemas.microsoft.com/office/drawing/2014/main" id="{64AC39D2-F813-E21A-9964-AF32DE90B53B}"/>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991677" y="1640784"/>
              <a:ext cx="755414" cy="755414"/>
            </a:xfrm>
            <a:prstGeom prst="rect">
              <a:avLst/>
            </a:prstGeom>
          </p:spPr>
        </p:pic>
      </p:grpSp>
      <p:grpSp>
        <p:nvGrpSpPr>
          <p:cNvPr id="45" name="Groupe 44">
            <a:extLst>
              <a:ext uri="{FF2B5EF4-FFF2-40B4-BE49-F238E27FC236}">
                <a16:creationId xmlns:a16="http://schemas.microsoft.com/office/drawing/2014/main" id="{8E16A096-CA60-4F33-2727-DD08D697C22F}"/>
              </a:ext>
            </a:extLst>
          </p:cNvPr>
          <p:cNvGrpSpPr/>
          <p:nvPr/>
        </p:nvGrpSpPr>
        <p:grpSpPr>
          <a:xfrm>
            <a:off x="2051336" y="1823215"/>
            <a:ext cx="956564" cy="1608078"/>
            <a:chOff x="2195266" y="1822916"/>
            <a:chExt cx="1070666" cy="1705030"/>
          </a:xfrm>
        </p:grpSpPr>
        <p:sp>
          <p:nvSpPr>
            <p:cNvPr id="10" name="ZoneTexte 9">
              <a:extLst>
                <a:ext uri="{FF2B5EF4-FFF2-40B4-BE49-F238E27FC236}">
                  <a16:creationId xmlns:a16="http://schemas.microsoft.com/office/drawing/2014/main" id="{4146F327-B558-00DE-4FEA-D0232E80A121}"/>
                </a:ext>
              </a:extLst>
            </p:cNvPr>
            <p:cNvSpPr txBox="1"/>
            <p:nvPr/>
          </p:nvSpPr>
          <p:spPr>
            <a:xfrm>
              <a:off x="2195266" y="2367517"/>
              <a:ext cx="1070666" cy="1160429"/>
            </a:xfrm>
            <a:prstGeom prst="rect">
              <a:avLst/>
            </a:prstGeom>
            <a:solidFill>
              <a:schemeClr val="accent1"/>
            </a:solidFill>
          </p:spPr>
          <p:txBody>
            <a:bodyPr wrap="square">
              <a:noAutofit/>
            </a:bodyPr>
            <a:lstStyle/>
            <a:p>
              <a:pPr algn="ctr"/>
              <a:r>
                <a:rPr lang="fr-FR" sz="900" dirty="0">
                  <a:solidFill>
                    <a:schemeClr val="bg1"/>
                  </a:solidFill>
                </a:rPr>
                <a:t>Micro-plaintes et micro-célébrations (gestes, expressions, interjections…)</a:t>
              </a:r>
            </a:p>
          </p:txBody>
        </p:sp>
        <p:pic>
          <p:nvPicPr>
            <p:cNvPr id="34" name="Graphique 33" descr="Commentaire cœur brisé avec un remplissage uni">
              <a:extLst>
                <a:ext uri="{FF2B5EF4-FFF2-40B4-BE49-F238E27FC236}">
                  <a16:creationId xmlns:a16="http://schemas.microsoft.com/office/drawing/2014/main" id="{4FBB64CE-788F-20A6-1FA4-FEBADD90070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277701" y="1822917"/>
              <a:ext cx="500987" cy="500987"/>
            </a:xfrm>
            <a:prstGeom prst="rect">
              <a:avLst/>
            </a:prstGeom>
          </p:spPr>
        </p:pic>
        <p:pic>
          <p:nvPicPr>
            <p:cNvPr id="36" name="Graphique 35" descr="Commentaire, Je n’aime pas avec un remplissage uni">
              <a:extLst>
                <a:ext uri="{FF2B5EF4-FFF2-40B4-BE49-F238E27FC236}">
                  <a16:creationId xmlns:a16="http://schemas.microsoft.com/office/drawing/2014/main" id="{AFB17F3C-8184-6226-1E66-944E08CBF29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2708756" y="1822916"/>
              <a:ext cx="500987" cy="500987"/>
            </a:xfrm>
            <a:prstGeom prst="rect">
              <a:avLst/>
            </a:prstGeom>
          </p:spPr>
        </p:pic>
      </p:grpSp>
      <p:grpSp>
        <p:nvGrpSpPr>
          <p:cNvPr id="31" name="Groupe 30">
            <a:extLst>
              <a:ext uri="{FF2B5EF4-FFF2-40B4-BE49-F238E27FC236}">
                <a16:creationId xmlns:a16="http://schemas.microsoft.com/office/drawing/2014/main" id="{A8299BA1-7CA2-FD5D-5279-F574C0F3B9DA}"/>
              </a:ext>
            </a:extLst>
          </p:cNvPr>
          <p:cNvGrpSpPr/>
          <p:nvPr/>
        </p:nvGrpSpPr>
        <p:grpSpPr>
          <a:xfrm>
            <a:off x="9150509" y="1710739"/>
            <a:ext cx="956564" cy="1718994"/>
            <a:chOff x="8674784" y="1661699"/>
            <a:chExt cx="1070666" cy="1822633"/>
          </a:xfrm>
        </p:grpSpPr>
        <p:sp>
          <p:nvSpPr>
            <p:cNvPr id="8" name="ZoneTexte 7">
              <a:extLst>
                <a:ext uri="{FF2B5EF4-FFF2-40B4-BE49-F238E27FC236}">
                  <a16:creationId xmlns:a16="http://schemas.microsoft.com/office/drawing/2014/main" id="{E7235286-ABA9-01C8-4B51-0BBC4509BC9A}"/>
                </a:ext>
              </a:extLst>
            </p:cNvPr>
            <p:cNvSpPr txBox="1"/>
            <p:nvPr/>
          </p:nvSpPr>
          <p:spPr>
            <a:xfrm>
              <a:off x="8674784" y="2323903"/>
              <a:ext cx="1070666" cy="1160429"/>
            </a:xfrm>
            <a:prstGeom prst="rect">
              <a:avLst/>
            </a:prstGeom>
            <a:solidFill>
              <a:schemeClr val="accent1"/>
            </a:solidFill>
          </p:spPr>
          <p:txBody>
            <a:bodyPr wrap="square">
              <a:noAutofit/>
            </a:bodyPr>
            <a:lstStyle/>
            <a:p>
              <a:pPr algn="ctr"/>
              <a:r>
                <a:rPr lang="fr-FR" sz="900" dirty="0">
                  <a:solidFill>
                    <a:schemeClr val="bg1"/>
                  </a:solidFill>
                </a:rPr>
                <a:t>Niveau de fatigue ou d’énergie, d’excitation</a:t>
              </a:r>
            </a:p>
            <a:p>
              <a:pPr algn="ctr"/>
              <a:r>
                <a:rPr lang="fr-FR" sz="900" dirty="0">
                  <a:solidFill>
                    <a:schemeClr val="bg1"/>
                  </a:solidFill>
                </a:rPr>
                <a:t>Intensité des émotions et des intentions</a:t>
              </a:r>
            </a:p>
          </p:txBody>
        </p:sp>
        <p:pic>
          <p:nvPicPr>
            <p:cNvPr id="38" name="Graphique 37" descr="Batterie plate avec un remplissage uni">
              <a:extLst>
                <a:ext uri="{FF2B5EF4-FFF2-40B4-BE49-F238E27FC236}">
                  <a16:creationId xmlns:a16="http://schemas.microsoft.com/office/drawing/2014/main" id="{5CD45958-61E4-C76C-1ABB-B9EE7C2DFE5A}"/>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856416" y="1661699"/>
              <a:ext cx="755414" cy="755414"/>
            </a:xfrm>
            <a:prstGeom prst="rect">
              <a:avLst/>
            </a:prstGeom>
          </p:spPr>
        </p:pic>
      </p:grpSp>
      <p:grpSp>
        <p:nvGrpSpPr>
          <p:cNvPr id="21" name="Groupe 20">
            <a:extLst>
              <a:ext uri="{FF2B5EF4-FFF2-40B4-BE49-F238E27FC236}">
                <a16:creationId xmlns:a16="http://schemas.microsoft.com/office/drawing/2014/main" id="{9DAB4FA4-0931-9621-CA64-95B661F3CCD0}"/>
              </a:ext>
            </a:extLst>
          </p:cNvPr>
          <p:cNvGrpSpPr/>
          <p:nvPr/>
        </p:nvGrpSpPr>
        <p:grpSpPr>
          <a:xfrm>
            <a:off x="23000" y="1666131"/>
            <a:ext cx="956564" cy="1762982"/>
            <a:chOff x="3614872" y="1461289"/>
            <a:chExt cx="1296000" cy="2262684"/>
          </a:xfrm>
        </p:grpSpPr>
        <p:sp>
          <p:nvSpPr>
            <p:cNvPr id="5" name="ZoneTexte 4">
              <a:extLst>
                <a:ext uri="{FF2B5EF4-FFF2-40B4-BE49-F238E27FC236}">
                  <a16:creationId xmlns:a16="http://schemas.microsoft.com/office/drawing/2014/main" id="{1643AB5C-FD88-B582-D717-EDC27AC26C2B}"/>
                </a:ext>
              </a:extLst>
            </p:cNvPr>
            <p:cNvSpPr txBox="1"/>
            <p:nvPr/>
          </p:nvSpPr>
          <p:spPr>
            <a:xfrm>
              <a:off x="3614872" y="2319318"/>
              <a:ext cx="1296000" cy="1404655"/>
            </a:xfrm>
            <a:prstGeom prst="rect">
              <a:avLst/>
            </a:prstGeom>
            <a:solidFill>
              <a:schemeClr val="accent1"/>
            </a:solidFill>
          </p:spPr>
          <p:txBody>
            <a:bodyPr wrap="square">
              <a:noAutofit/>
            </a:bodyPr>
            <a:lstStyle/>
            <a:p>
              <a:pPr algn="ctr"/>
              <a:r>
                <a:rPr lang="fr-FR" sz="900" dirty="0">
                  <a:solidFill>
                    <a:schemeClr val="bg1"/>
                  </a:solidFill>
                </a:rPr>
                <a:t>Vitesse ou lenteur de réponse, richesse ou pauvreté des messages</a:t>
              </a:r>
            </a:p>
          </p:txBody>
        </p:sp>
        <p:pic>
          <p:nvPicPr>
            <p:cNvPr id="44" name="Graphique 43" descr="Bulle de discussion avec un remplissage uni">
              <a:extLst>
                <a:ext uri="{FF2B5EF4-FFF2-40B4-BE49-F238E27FC236}">
                  <a16:creationId xmlns:a16="http://schemas.microsoft.com/office/drawing/2014/main" id="{0C1DD753-6CAA-6896-4AF9-D0BADFD47A61}"/>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841536" y="1461289"/>
              <a:ext cx="914400" cy="914400"/>
            </a:xfrm>
            <a:prstGeom prst="rect">
              <a:avLst/>
            </a:prstGeom>
          </p:spPr>
        </p:pic>
      </p:grpSp>
      <p:grpSp>
        <p:nvGrpSpPr>
          <p:cNvPr id="29" name="Groupe 28">
            <a:extLst>
              <a:ext uri="{FF2B5EF4-FFF2-40B4-BE49-F238E27FC236}">
                <a16:creationId xmlns:a16="http://schemas.microsoft.com/office/drawing/2014/main" id="{08D349BB-F03C-94BD-746B-CD9A51DF9098}"/>
              </a:ext>
            </a:extLst>
          </p:cNvPr>
          <p:cNvGrpSpPr/>
          <p:nvPr/>
        </p:nvGrpSpPr>
        <p:grpSpPr>
          <a:xfrm>
            <a:off x="6108006" y="1608570"/>
            <a:ext cx="956563" cy="1819743"/>
            <a:chOff x="6575957" y="3897571"/>
            <a:chExt cx="1070666" cy="1929457"/>
          </a:xfrm>
        </p:grpSpPr>
        <p:sp>
          <p:nvSpPr>
            <p:cNvPr id="13" name="ZoneTexte 12">
              <a:extLst>
                <a:ext uri="{FF2B5EF4-FFF2-40B4-BE49-F238E27FC236}">
                  <a16:creationId xmlns:a16="http://schemas.microsoft.com/office/drawing/2014/main" id="{A532BDB3-7382-1D01-E75C-D59E95501A79}"/>
                </a:ext>
              </a:extLst>
            </p:cNvPr>
            <p:cNvSpPr txBox="1"/>
            <p:nvPr/>
          </p:nvSpPr>
          <p:spPr>
            <a:xfrm>
              <a:off x="6575957" y="4666599"/>
              <a:ext cx="1070666" cy="1160429"/>
            </a:xfrm>
            <a:prstGeom prst="rect">
              <a:avLst/>
            </a:prstGeom>
            <a:solidFill>
              <a:schemeClr val="accent1"/>
            </a:solidFill>
          </p:spPr>
          <p:txBody>
            <a:bodyPr wrap="square">
              <a:noAutofit/>
            </a:bodyPr>
            <a:lstStyle/>
            <a:p>
              <a:pPr algn="ctr"/>
              <a:r>
                <a:rPr lang="fr-FR" sz="900" dirty="0">
                  <a:solidFill>
                    <a:schemeClr val="bg1"/>
                  </a:solidFill>
                </a:rPr>
                <a:t>Mots utilisés pour évoquer une situation ou une personne</a:t>
              </a:r>
            </a:p>
            <a:p>
              <a:pPr algn="ctr"/>
              <a:r>
                <a:rPr lang="fr-FR" sz="900" dirty="0">
                  <a:solidFill>
                    <a:schemeClr val="bg1"/>
                  </a:solidFill>
                </a:rPr>
                <a:t>Champ lexical</a:t>
              </a:r>
            </a:p>
          </p:txBody>
        </p:sp>
        <p:pic>
          <p:nvPicPr>
            <p:cNvPr id="46" name="Graphique 45" descr="Hashtag avec un remplissage uni">
              <a:extLst>
                <a:ext uri="{FF2B5EF4-FFF2-40B4-BE49-F238E27FC236}">
                  <a16:creationId xmlns:a16="http://schemas.microsoft.com/office/drawing/2014/main" id="{D956183B-CDFE-806E-7FDA-FF44CE1CD98E}"/>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6750483" y="3897571"/>
              <a:ext cx="755414" cy="755414"/>
            </a:xfrm>
            <a:prstGeom prst="rect">
              <a:avLst/>
            </a:prstGeom>
          </p:spPr>
        </p:pic>
      </p:grpSp>
      <p:grpSp>
        <p:nvGrpSpPr>
          <p:cNvPr id="37" name="Groupe 36">
            <a:extLst>
              <a:ext uri="{FF2B5EF4-FFF2-40B4-BE49-F238E27FC236}">
                <a16:creationId xmlns:a16="http://schemas.microsoft.com/office/drawing/2014/main" id="{B94C84EC-A252-BE64-074A-0DB849F0CC4A}"/>
              </a:ext>
            </a:extLst>
          </p:cNvPr>
          <p:cNvGrpSpPr/>
          <p:nvPr/>
        </p:nvGrpSpPr>
        <p:grpSpPr>
          <a:xfrm>
            <a:off x="1037168" y="1652820"/>
            <a:ext cx="956564" cy="1776107"/>
            <a:chOff x="1174093" y="1644756"/>
            <a:chExt cx="1070666" cy="1883190"/>
          </a:xfrm>
        </p:grpSpPr>
        <p:sp>
          <p:nvSpPr>
            <p:cNvPr id="9" name="ZoneTexte 8">
              <a:extLst>
                <a:ext uri="{FF2B5EF4-FFF2-40B4-BE49-F238E27FC236}">
                  <a16:creationId xmlns:a16="http://schemas.microsoft.com/office/drawing/2014/main" id="{28651ECD-155F-22FD-C1A2-49AD3F2D511D}"/>
                </a:ext>
              </a:extLst>
            </p:cNvPr>
            <p:cNvSpPr txBox="1"/>
            <p:nvPr/>
          </p:nvSpPr>
          <p:spPr>
            <a:xfrm>
              <a:off x="1174093" y="2367517"/>
              <a:ext cx="1070666" cy="1160429"/>
            </a:xfrm>
            <a:prstGeom prst="rect">
              <a:avLst/>
            </a:prstGeom>
            <a:solidFill>
              <a:schemeClr val="accent1"/>
            </a:solidFill>
          </p:spPr>
          <p:txBody>
            <a:bodyPr wrap="square">
              <a:noAutofit/>
            </a:bodyPr>
            <a:lstStyle/>
            <a:p>
              <a:pPr algn="ctr"/>
              <a:r>
                <a:rPr lang="fr-FR" sz="900" dirty="0">
                  <a:solidFill>
                    <a:schemeClr val="bg1"/>
                  </a:solidFill>
                </a:rPr>
                <a:t>Assiduité récente et régularité, absences, retards</a:t>
              </a:r>
            </a:p>
          </p:txBody>
        </p:sp>
        <p:grpSp>
          <p:nvGrpSpPr>
            <p:cNvPr id="23" name="Groupe 22">
              <a:extLst>
                <a:ext uri="{FF2B5EF4-FFF2-40B4-BE49-F238E27FC236}">
                  <a16:creationId xmlns:a16="http://schemas.microsoft.com/office/drawing/2014/main" id="{1C734343-F428-1081-7DDB-9F75FE0D720C}"/>
                </a:ext>
              </a:extLst>
            </p:cNvPr>
            <p:cNvGrpSpPr/>
            <p:nvPr/>
          </p:nvGrpSpPr>
          <p:grpSpPr>
            <a:xfrm>
              <a:off x="1386661" y="1644756"/>
              <a:ext cx="755414" cy="755414"/>
              <a:chOff x="1693204" y="1435972"/>
              <a:chExt cx="914400" cy="914400"/>
            </a:xfrm>
          </p:grpSpPr>
          <p:pic>
            <p:nvPicPr>
              <p:cNvPr id="42" name="Graphique 41" descr="Calendrier journalier avec un remplissage uni">
                <a:extLst>
                  <a:ext uri="{FF2B5EF4-FFF2-40B4-BE49-F238E27FC236}">
                    <a16:creationId xmlns:a16="http://schemas.microsoft.com/office/drawing/2014/main" id="{09D90B5E-94B0-F3B8-5ECF-16272BE92FFE}"/>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1693204" y="1435972"/>
                <a:ext cx="914400" cy="914400"/>
              </a:xfrm>
              <a:prstGeom prst="rect">
                <a:avLst/>
              </a:prstGeom>
            </p:spPr>
          </p:pic>
          <p:pic>
            <p:nvPicPr>
              <p:cNvPr id="48" name="Graphique 47" descr="Fermer avec un remplissage uni">
                <a:extLst>
                  <a:ext uri="{FF2B5EF4-FFF2-40B4-BE49-F238E27FC236}">
                    <a16:creationId xmlns:a16="http://schemas.microsoft.com/office/drawing/2014/main" id="{0DEAFD07-A4A8-A569-5DDC-4634EA392D23}"/>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1871172" y="1813273"/>
                <a:ext cx="177334" cy="177334"/>
              </a:xfrm>
              <a:prstGeom prst="rect">
                <a:avLst/>
              </a:prstGeom>
            </p:spPr>
          </p:pic>
          <p:pic>
            <p:nvPicPr>
              <p:cNvPr id="49" name="Graphique 48" descr="Fermer avec un remplissage uni">
                <a:extLst>
                  <a:ext uri="{FF2B5EF4-FFF2-40B4-BE49-F238E27FC236}">
                    <a16:creationId xmlns:a16="http://schemas.microsoft.com/office/drawing/2014/main" id="{7F01493A-86B6-4353-0DF5-594C69E5A31B}"/>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2058452" y="1813273"/>
                <a:ext cx="177334" cy="177334"/>
              </a:xfrm>
              <a:prstGeom prst="rect">
                <a:avLst/>
              </a:prstGeom>
            </p:spPr>
          </p:pic>
          <p:pic>
            <p:nvPicPr>
              <p:cNvPr id="50" name="Graphique 49" descr="Fermer avec un remplissage uni">
                <a:extLst>
                  <a:ext uri="{FF2B5EF4-FFF2-40B4-BE49-F238E27FC236}">
                    <a16:creationId xmlns:a16="http://schemas.microsoft.com/office/drawing/2014/main" id="{B22E5574-4CB1-68EF-A475-4C756E55D600}"/>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2247811" y="1813273"/>
                <a:ext cx="177334" cy="177334"/>
              </a:xfrm>
              <a:prstGeom prst="rect">
                <a:avLst/>
              </a:prstGeom>
            </p:spPr>
          </p:pic>
          <p:pic>
            <p:nvPicPr>
              <p:cNvPr id="51" name="Graphique 50" descr="Fermer avec un remplissage uni">
                <a:extLst>
                  <a:ext uri="{FF2B5EF4-FFF2-40B4-BE49-F238E27FC236}">
                    <a16:creationId xmlns:a16="http://schemas.microsoft.com/office/drawing/2014/main" id="{5653F0C6-D9DC-0AD5-9E7C-41D541FACF3A}"/>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1888018" y="1934479"/>
                <a:ext cx="177334" cy="177334"/>
              </a:xfrm>
              <a:prstGeom prst="rect">
                <a:avLst/>
              </a:prstGeom>
            </p:spPr>
          </p:pic>
          <p:pic>
            <p:nvPicPr>
              <p:cNvPr id="52" name="Graphique 51" descr="Fermer avec un remplissage uni">
                <a:extLst>
                  <a:ext uri="{FF2B5EF4-FFF2-40B4-BE49-F238E27FC236}">
                    <a16:creationId xmlns:a16="http://schemas.microsoft.com/office/drawing/2014/main" id="{F5D3E869-AD2C-362A-B7D8-645E7F6BF2E7}"/>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2051552" y="1934479"/>
                <a:ext cx="177334" cy="177334"/>
              </a:xfrm>
              <a:prstGeom prst="rect">
                <a:avLst/>
              </a:prstGeom>
            </p:spPr>
          </p:pic>
          <p:pic>
            <p:nvPicPr>
              <p:cNvPr id="53" name="Graphique 52" descr="Fermer avec un remplissage uni">
                <a:extLst>
                  <a:ext uri="{FF2B5EF4-FFF2-40B4-BE49-F238E27FC236}">
                    <a16:creationId xmlns:a16="http://schemas.microsoft.com/office/drawing/2014/main" id="{1BF62970-0720-C384-DAED-67FDBA83F53D}"/>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2248755" y="2029957"/>
                <a:ext cx="177334" cy="177334"/>
              </a:xfrm>
              <a:prstGeom prst="rect">
                <a:avLst/>
              </a:prstGeom>
            </p:spPr>
          </p:pic>
        </p:grpSp>
      </p:grpSp>
      <p:sp>
        <p:nvSpPr>
          <p:cNvPr id="54" name="ZoneTexte 53">
            <a:extLst>
              <a:ext uri="{FF2B5EF4-FFF2-40B4-BE49-F238E27FC236}">
                <a16:creationId xmlns:a16="http://schemas.microsoft.com/office/drawing/2014/main" id="{AECBE257-6CD4-4F78-69F8-4785375E4333}"/>
              </a:ext>
            </a:extLst>
          </p:cNvPr>
          <p:cNvSpPr txBox="1"/>
          <p:nvPr/>
        </p:nvSpPr>
        <p:spPr>
          <a:xfrm>
            <a:off x="31468" y="3550429"/>
            <a:ext cx="956564" cy="1574021"/>
          </a:xfrm>
          <a:prstGeom prst="rect">
            <a:avLst/>
          </a:prstGeom>
          <a:solidFill>
            <a:schemeClr val="bg1"/>
          </a:solidFill>
          <a:ln>
            <a:solidFill>
              <a:schemeClr val="tx1"/>
            </a:solidFill>
          </a:ln>
        </p:spPr>
        <p:txBody>
          <a:bodyPr wrap="square">
            <a:noAutofit/>
          </a:bodyPr>
          <a:lstStyle/>
          <a:p>
            <a:pPr algn="ctr"/>
            <a:r>
              <a:rPr lang="fr-FR" sz="900" dirty="0"/>
              <a:t>Demander l’avis des participants en fin d’événement mène à des réponses de plus en plus lentes, évasives, et des commentaires pauvres</a:t>
            </a:r>
          </a:p>
        </p:txBody>
      </p:sp>
      <p:sp>
        <p:nvSpPr>
          <p:cNvPr id="56" name="ZoneTexte 55">
            <a:extLst>
              <a:ext uri="{FF2B5EF4-FFF2-40B4-BE49-F238E27FC236}">
                <a16:creationId xmlns:a16="http://schemas.microsoft.com/office/drawing/2014/main" id="{AEAF84E2-2ECB-9825-848D-7B610BA9517D}"/>
              </a:ext>
            </a:extLst>
          </p:cNvPr>
          <p:cNvSpPr txBox="1"/>
          <p:nvPr/>
        </p:nvSpPr>
        <p:spPr>
          <a:xfrm>
            <a:off x="31468" y="5191869"/>
            <a:ext cx="956564" cy="1574021"/>
          </a:xfrm>
          <a:prstGeom prst="rect">
            <a:avLst/>
          </a:prstGeom>
          <a:solidFill>
            <a:schemeClr val="bg1"/>
          </a:solidFill>
          <a:ln>
            <a:solidFill>
              <a:schemeClr val="tx1"/>
            </a:solidFill>
          </a:ln>
        </p:spPr>
        <p:txBody>
          <a:bodyPr wrap="square">
            <a:noAutofit/>
          </a:bodyPr>
          <a:lstStyle/>
          <a:p>
            <a:pPr algn="ctr"/>
            <a:r>
              <a:rPr lang="fr-FR" sz="900" dirty="0"/>
              <a:t>Chez XYZ, dès qu’on aborder le sujet de </a:t>
            </a:r>
            <a:r>
              <a:rPr lang="fr-FR" sz="900" dirty="0" err="1"/>
              <a:t>laa</a:t>
            </a:r>
            <a:r>
              <a:rPr lang="fr-FR" sz="900" dirty="0"/>
              <a:t> collaboration avec la Communauté ABCDE, les réponses et remarques sont extrêmement rapides </a:t>
            </a:r>
          </a:p>
        </p:txBody>
      </p:sp>
      <p:sp>
        <p:nvSpPr>
          <p:cNvPr id="57" name="ZoneTexte 56">
            <a:extLst>
              <a:ext uri="{FF2B5EF4-FFF2-40B4-BE49-F238E27FC236}">
                <a16:creationId xmlns:a16="http://schemas.microsoft.com/office/drawing/2014/main" id="{5C0624D7-BB0E-B50C-8653-C195E8B152F8}"/>
              </a:ext>
            </a:extLst>
          </p:cNvPr>
          <p:cNvSpPr txBox="1"/>
          <p:nvPr/>
        </p:nvSpPr>
        <p:spPr>
          <a:xfrm>
            <a:off x="1037168" y="3550429"/>
            <a:ext cx="956564" cy="1574021"/>
          </a:xfrm>
          <a:prstGeom prst="rect">
            <a:avLst/>
          </a:prstGeom>
          <a:solidFill>
            <a:schemeClr val="bg1"/>
          </a:solidFill>
          <a:ln>
            <a:solidFill>
              <a:schemeClr val="tx1"/>
            </a:solidFill>
          </a:ln>
        </p:spPr>
        <p:txBody>
          <a:bodyPr wrap="square">
            <a:noAutofit/>
          </a:bodyPr>
          <a:lstStyle/>
          <a:p>
            <a:pPr algn="ctr"/>
            <a:r>
              <a:rPr lang="fr-FR" sz="900" dirty="0"/>
              <a:t>Aux cinq ou six événements de retours d’expérience de la Communauté, les membres arrivent de plus en plus en retard et s’en vont de plus en plus tôt. </a:t>
            </a:r>
          </a:p>
        </p:txBody>
      </p:sp>
      <p:sp>
        <p:nvSpPr>
          <p:cNvPr id="58" name="ZoneTexte 57">
            <a:extLst>
              <a:ext uri="{FF2B5EF4-FFF2-40B4-BE49-F238E27FC236}">
                <a16:creationId xmlns:a16="http://schemas.microsoft.com/office/drawing/2014/main" id="{48D189CA-F9A9-9DED-CA1C-22FA80628C6B}"/>
              </a:ext>
            </a:extLst>
          </p:cNvPr>
          <p:cNvSpPr txBox="1"/>
          <p:nvPr/>
        </p:nvSpPr>
        <p:spPr>
          <a:xfrm>
            <a:off x="1037168" y="5191869"/>
            <a:ext cx="956564" cy="1574021"/>
          </a:xfrm>
          <a:prstGeom prst="rect">
            <a:avLst/>
          </a:prstGeom>
          <a:solidFill>
            <a:schemeClr val="bg1"/>
          </a:solidFill>
          <a:ln>
            <a:solidFill>
              <a:schemeClr val="tx1"/>
            </a:solidFill>
          </a:ln>
        </p:spPr>
        <p:txBody>
          <a:bodyPr wrap="square">
            <a:noAutofit/>
          </a:bodyPr>
          <a:lstStyle/>
          <a:p>
            <a:pPr algn="ctr"/>
            <a:r>
              <a:rPr lang="fr-FR" sz="900" dirty="0"/>
              <a:t>Le nombre de participants reste globalement le même aux célébrations, mais certains membres sont de plus en plus réguliers et présents</a:t>
            </a:r>
          </a:p>
        </p:txBody>
      </p:sp>
      <p:sp>
        <p:nvSpPr>
          <p:cNvPr id="59" name="ZoneTexte 58">
            <a:extLst>
              <a:ext uri="{FF2B5EF4-FFF2-40B4-BE49-F238E27FC236}">
                <a16:creationId xmlns:a16="http://schemas.microsoft.com/office/drawing/2014/main" id="{A6048A45-B398-8B20-B529-8DAAB8000001}"/>
              </a:ext>
            </a:extLst>
          </p:cNvPr>
          <p:cNvSpPr txBox="1"/>
          <p:nvPr/>
        </p:nvSpPr>
        <p:spPr>
          <a:xfrm>
            <a:off x="2049384" y="3550429"/>
            <a:ext cx="956564" cy="1574021"/>
          </a:xfrm>
          <a:prstGeom prst="rect">
            <a:avLst/>
          </a:prstGeom>
          <a:solidFill>
            <a:schemeClr val="bg1"/>
          </a:solidFill>
          <a:ln>
            <a:solidFill>
              <a:schemeClr val="tx1"/>
            </a:solidFill>
          </a:ln>
        </p:spPr>
        <p:txBody>
          <a:bodyPr wrap="square">
            <a:noAutofit/>
          </a:bodyPr>
          <a:lstStyle/>
          <a:p>
            <a:pPr algn="ctr"/>
            <a:r>
              <a:rPr lang="fr-FR" sz="900" dirty="0"/>
              <a:t>Dans la Communauté de pratique XYZ, à chaque fois qu’on évoque  l’outil ABCD (d’entreprise), tous semble s’accorder pour l’utiliser mais font la moue </a:t>
            </a:r>
          </a:p>
        </p:txBody>
      </p:sp>
      <p:sp>
        <p:nvSpPr>
          <p:cNvPr id="60" name="ZoneTexte 59">
            <a:extLst>
              <a:ext uri="{FF2B5EF4-FFF2-40B4-BE49-F238E27FC236}">
                <a16:creationId xmlns:a16="http://schemas.microsoft.com/office/drawing/2014/main" id="{0A60FE09-5062-300A-C761-B0AC62D6A011}"/>
              </a:ext>
            </a:extLst>
          </p:cNvPr>
          <p:cNvSpPr txBox="1"/>
          <p:nvPr/>
        </p:nvSpPr>
        <p:spPr>
          <a:xfrm>
            <a:off x="2049384" y="5191869"/>
            <a:ext cx="956564" cy="1574021"/>
          </a:xfrm>
          <a:prstGeom prst="rect">
            <a:avLst/>
          </a:prstGeom>
          <a:solidFill>
            <a:schemeClr val="bg1"/>
          </a:solidFill>
          <a:ln>
            <a:solidFill>
              <a:schemeClr val="tx1"/>
            </a:solidFill>
          </a:ln>
        </p:spPr>
        <p:txBody>
          <a:bodyPr wrap="square">
            <a:noAutofit/>
          </a:bodyPr>
          <a:lstStyle/>
          <a:p>
            <a:pPr algn="ctr"/>
            <a:r>
              <a:rPr lang="fr-FR" sz="900" dirty="0"/>
              <a:t>L’annonce de la fusion de la Communauté A avec la Communauté B a été bien accueillie en séance, mais critiquée indirectement à la pause café.</a:t>
            </a:r>
          </a:p>
        </p:txBody>
      </p:sp>
      <p:sp>
        <p:nvSpPr>
          <p:cNvPr id="61" name="ZoneTexte 60">
            <a:extLst>
              <a:ext uri="{FF2B5EF4-FFF2-40B4-BE49-F238E27FC236}">
                <a16:creationId xmlns:a16="http://schemas.microsoft.com/office/drawing/2014/main" id="{7BFC4D93-FADF-6D8B-4191-ECE5A83A9E89}"/>
              </a:ext>
            </a:extLst>
          </p:cNvPr>
          <p:cNvSpPr txBox="1"/>
          <p:nvPr/>
        </p:nvSpPr>
        <p:spPr>
          <a:xfrm>
            <a:off x="3068047" y="3550429"/>
            <a:ext cx="956564" cy="1574021"/>
          </a:xfrm>
          <a:prstGeom prst="rect">
            <a:avLst/>
          </a:prstGeom>
          <a:solidFill>
            <a:schemeClr val="bg1"/>
          </a:solidFill>
          <a:ln>
            <a:solidFill>
              <a:schemeClr val="tx1"/>
            </a:solidFill>
          </a:ln>
        </p:spPr>
        <p:txBody>
          <a:bodyPr wrap="square">
            <a:noAutofit/>
          </a:bodyPr>
          <a:lstStyle/>
          <a:p>
            <a:pPr algn="ctr"/>
            <a:r>
              <a:rPr lang="fr-FR" sz="900" dirty="0"/>
              <a:t>Lorsque le leader de la Communauté demande qui veut s’engager sur ce trimestre, tous répondent oui en séance mais beaucoup avec une voix blasée</a:t>
            </a:r>
          </a:p>
        </p:txBody>
      </p:sp>
      <p:sp>
        <p:nvSpPr>
          <p:cNvPr id="62" name="ZoneTexte 61">
            <a:extLst>
              <a:ext uri="{FF2B5EF4-FFF2-40B4-BE49-F238E27FC236}">
                <a16:creationId xmlns:a16="http://schemas.microsoft.com/office/drawing/2014/main" id="{41A2E185-90F6-1A78-B6BE-D33A2139EE1E}"/>
              </a:ext>
            </a:extLst>
          </p:cNvPr>
          <p:cNvSpPr txBox="1"/>
          <p:nvPr/>
        </p:nvSpPr>
        <p:spPr>
          <a:xfrm>
            <a:off x="3068047" y="5191869"/>
            <a:ext cx="956564" cy="1574021"/>
          </a:xfrm>
          <a:prstGeom prst="rect">
            <a:avLst/>
          </a:prstGeom>
          <a:solidFill>
            <a:schemeClr val="bg1"/>
          </a:solidFill>
          <a:ln>
            <a:solidFill>
              <a:schemeClr val="tx1"/>
            </a:solidFill>
          </a:ln>
        </p:spPr>
        <p:txBody>
          <a:bodyPr wrap="square">
            <a:noAutofit/>
          </a:bodyPr>
          <a:lstStyle/>
          <a:p>
            <a:pPr algn="ctr"/>
            <a:r>
              <a:rPr lang="fr-FR" sz="900" dirty="0"/>
              <a:t>Les négociations entre membres sur la feuille de route de la Communauté ont toujours lieu, mais ont changé de ton : les séances sont beaucoup plus tendues.</a:t>
            </a:r>
          </a:p>
        </p:txBody>
      </p:sp>
      <p:sp>
        <p:nvSpPr>
          <p:cNvPr id="63" name="ZoneTexte 62">
            <a:extLst>
              <a:ext uri="{FF2B5EF4-FFF2-40B4-BE49-F238E27FC236}">
                <a16:creationId xmlns:a16="http://schemas.microsoft.com/office/drawing/2014/main" id="{9785BC8E-4AE1-9B77-0239-97D605647246}"/>
              </a:ext>
            </a:extLst>
          </p:cNvPr>
          <p:cNvSpPr txBox="1"/>
          <p:nvPr/>
        </p:nvSpPr>
        <p:spPr>
          <a:xfrm>
            <a:off x="4079671" y="3550429"/>
            <a:ext cx="956564" cy="1574021"/>
          </a:xfrm>
          <a:prstGeom prst="rect">
            <a:avLst/>
          </a:prstGeom>
          <a:solidFill>
            <a:schemeClr val="bg1"/>
          </a:solidFill>
          <a:ln>
            <a:solidFill>
              <a:schemeClr val="tx1"/>
            </a:solidFill>
          </a:ln>
        </p:spPr>
        <p:txBody>
          <a:bodyPr wrap="square">
            <a:noAutofit/>
          </a:bodyPr>
          <a:lstStyle/>
          <a:p>
            <a:pPr algn="ctr"/>
            <a:r>
              <a:rPr lang="fr-FR" sz="900" dirty="0"/>
              <a:t>Dernièrement et soudainement, le membre XYZ s’est beaucoup investi dans la Communauté et a tenté de fédérer d’autres autour de lui.</a:t>
            </a:r>
          </a:p>
        </p:txBody>
      </p:sp>
      <p:sp>
        <p:nvSpPr>
          <p:cNvPr id="64" name="ZoneTexte 63">
            <a:extLst>
              <a:ext uri="{FF2B5EF4-FFF2-40B4-BE49-F238E27FC236}">
                <a16:creationId xmlns:a16="http://schemas.microsoft.com/office/drawing/2014/main" id="{E1E91585-13A0-96DC-40D5-64896A5ABB4B}"/>
              </a:ext>
            </a:extLst>
          </p:cNvPr>
          <p:cNvSpPr txBox="1"/>
          <p:nvPr/>
        </p:nvSpPr>
        <p:spPr>
          <a:xfrm>
            <a:off x="4079671" y="5191869"/>
            <a:ext cx="956564" cy="1574021"/>
          </a:xfrm>
          <a:prstGeom prst="rect">
            <a:avLst/>
          </a:prstGeom>
          <a:solidFill>
            <a:schemeClr val="bg1"/>
          </a:solidFill>
          <a:ln>
            <a:solidFill>
              <a:schemeClr val="tx1"/>
            </a:solidFill>
          </a:ln>
        </p:spPr>
        <p:txBody>
          <a:bodyPr wrap="square">
            <a:noAutofit/>
          </a:bodyPr>
          <a:lstStyle/>
          <a:p>
            <a:pPr algn="ctr"/>
            <a:r>
              <a:rPr lang="fr-FR" sz="900" dirty="0"/>
              <a:t>Suite à l’ouverture des discussions sur le sujet XYZ, un des membres a  soudainement quitté la session de </a:t>
            </a:r>
            <a:r>
              <a:rPr lang="fr-FR" sz="900" dirty="0" err="1"/>
              <a:t>co-développement,sans</a:t>
            </a:r>
            <a:r>
              <a:rPr lang="fr-FR" sz="900" dirty="0"/>
              <a:t> aucune explication.</a:t>
            </a:r>
          </a:p>
        </p:txBody>
      </p:sp>
      <p:sp>
        <p:nvSpPr>
          <p:cNvPr id="65" name="ZoneTexte 64">
            <a:extLst>
              <a:ext uri="{FF2B5EF4-FFF2-40B4-BE49-F238E27FC236}">
                <a16:creationId xmlns:a16="http://schemas.microsoft.com/office/drawing/2014/main" id="{61ED511D-5D8F-59AA-646B-8FB72CEF30EB}"/>
              </a:ext>
            </a:extLst>
          </p:cNvPr>
          <p:cNvSpPr txBox="1"/>
          <p:nvPr/>
        </p:nvSpPr>
        <p:spPr>
          <a:xfrm>
            <a:off x="5093838" y="3550429"/>
            <a:ext cx="956564" cy="1574021"/>
          </a:xfrm>
          <a:prstGeom prst="rect">
            <a:avLst/>
          </a:prstGeom>
          <a:solidFill>
            <a:schemeClr val="bg1"/>
          </a:solidFill>
          <a:ln>
            <a:solidFill>
              <a:schemeClr val="tx1"/>
            </a:solidFill>
          </a:ln>
        </p:spPr>
        <p:txBody>
          <a:bodyPr wrap="square">
            <a:noAutofit/>
          </a:bodyPr>
          <a:lstStyle/>
          <a:p>
            <a:pPr algn="ctr"/>
            <a:r>
              <a:rPr lang="fr-FR" sz="900" dirty="0"/>
              <a:t>Les membres se mettent à évoquer les autres départements comme un seul groupe monolithique, tous ligués contre eux et incompétents </a:t>
            </a:r>
          </a:p>
        </p:txBody>
      </p:sp>
      <p:sp>
        <p:nvSpPr>
          <p:cNvPr id="66" name="ZoneTexte 65">
            <a:extLst>
              <a:ext uri="{FF2B5EF4-FFF2-40B4-BE49-F238E27FC236}">
                <a16:creationId xmlns:a16="http://schemas.microsoft.com/office/drawing/2014/main" id="{C5CC8323-300A-08C5-EE76-E823521838FA}"/>
              </a:ext>
            </a:extLst>
          </p:cNvPr>
          <p:cNvSpPr txBox="1"/>
          <p:nvPr/>
        </p:nvSpPr>
        <p:spPr>
          <a:xfrm>
            <a:off x="5093838" y="5191869"/>
            <a:ext cx="956564" cy="1574021"/>
          </a:xfrm>
          <a:prstGeom prst="rect">
            <a:avLst/>
          </a:prstGeom>
          <a:solidFill>
            <a:schemeClr val="bg1"/>
          </a:solidFill>
          <a:ln>
            <a:solidFill>
              <a:schemeClr val="tx1"/>
            </a:solidFill>
          </a:ln>
        </p:spPr>
        <p:txBody>
          <a:bodyPr wrap="square">
            <a:noAutofit/>
          </a:bodyPr>
          <a:lstStyle/>
          <a:p>
            <a:pPr algn="ctr"/>
            <a:r>
              <a:rPr lang="fr-FR" sz="900" dirty="0"/>
              <a:t>Certains membres qui adorent particulièrement une activité font le raccourci sur le goût des autres membres en supposant l’unanimité</a:t>
            </a:r>
          </a:p>
        </p:txBody>
      </p:sp>
      <p:sp>
        <p:nvSpPr>
          <p:cNvPr id="67" name="ZoneTexte 66">
            <a:extLst>
              <a:ext uri="{FF2B5EF4-FFF2-40B4-BE49-F238E27FC236}">
                <a16:creationId xmlns:a16="http://schemas.microsoft.com/office/drawing/2014/main" id="{79220EEB-2C59-B08D-7190-E6BE6C2F17D0}"/>
              </a:ext>
            </a:extLst>
          </p:cNvPr>
          <p:cNvSpPr txBox="1"/>
          <p:nvPr/>
        </p:nvSpPr>
        <p:spPr>
          <a:xfrm>
            <a:off x="6108005" y="3550429"/>
            <a:ext cx="956564" cy="1574021"/>
          </a:xfrm>
          <a:prstGeom prst="rect">
            <a:avLst/>
          </a:prstGeom>
          <a:solidFill>
            <a:schemeClr val="bg1"/>
          </a:solidFill>
          <a:ln>
            <a:solidFill>
              <a:schemeClr val="tx1"/>
            </a:solidFill>
          </a:ln>
        </p:spPr>
        <p:txBody>
          <a:bodyPr wrap="square">
            <a:noAutofit/>
          </a:bodyPr>
          <a:lstStyle/>
          <a:p>
            <a:pPr algn="ctr"/>
            <a:r>
              <a:rPr lang="fr-FR" sz="900" dirty="0"/>
              <a:t>A chaque fois que les membres abordent le sujet XYZ, ils utilisent du vocabulaire très négatif</a:t>
            </a:r>
          </a:p>
        </p:txBody>
      </p:sp>
      <p:sp>
        <p:nvSpPr>
          <p:cNvPr id="68" name="ZoneTexte 67">
            <a:extLst>
              <a:ext uri="{FF2B5EF4-FFF2-40B4-BE49-F238E27FC236}">
                <a16:creationId xmlns:a16="http://schemas.microsoft.com/office/drawing/2014/main" id="{BDCBDF11-5B94-0AEB-5F70-50C125812904}"/>
              </a:ext>
            </a:extLst>
          </p:cNvPr>
          <p:cNvSpPr txBox="1"/>
          <p:nvPr/>
        </p:nvSpPr>
        <p:spPr>
          <a:xfrm>
            <a:off x="6108005" y="5191869"/>
            <a:ext cx="956564" cy="1574021"/>
          </a:xfrm>
          <a:prstGeom prst="rect">
            <a:avLst/>
          </a:prstGeom>
          <a:solidFill>
            <a:schemeClr val="bg1"/>
          </a:solidFill>
          <a:ln>
            <a:solidFill>
              <a:schemeClr val="tx1"/>
            </a:solidFill>
          </a:ln>
        </p:spPr>
        <p:txBody>
          <a:bodyPr wrap="square">
            <a:noAutofit/>
          </a:bodyPr>
          <a:lstStyle/>
          <a:p>
            <a:pPr algn="ctr"/>
            <a:r>
              <a:rPr lang="fr-FR" sz="900" dirty="0"/>
              <a:t>Lorsque la Communauté parle de l’équipe XYZ, elle en parle de manière très déshumanisée, uniquement fonctionnelle, et sans considération</a:t>
            </a:r>
          </a:p>
        </p:txBody>
      </p:sp>
      <p:sp>
        <p:nvSpPr>
          <p:cNvPr id="69" name="ZoneTexte 68">
            <a:extLst>
              <a:ext uri="{FF2B5EF4-FFF2-40B4-BE49-F238E27FC236}">
                <a16:creationId xmlns:a16="http://schemas.microsoft.com/office/drawing/2014/main" id="{837D32F3-855D-E099-C6E2-779FB16B138B}"/>
              </a:ext>
            </a:extLst>
          </p:cNvPr>
          <p:cNvSpPr txBox="1"/>
          <p:nvPr/>
        </p:nvSpPr>
        <p:spPr>
          <a:xfrm>
            <a:off x="7122173" y="3550429"/>
            <a:ext cx="956564" cy="1574021"/>
          </a:xfrm>
          <a:prstGeom prst="rect">
            <a:avLst/>
          </a:prstGeom>
          <a:solidFill>
            <a:schemeClr val="bg1"/>
          </a:solidFill>
          <a:ln>
            <a:solidFill>
              <a:schemeClr val="tx1"/>
            </a:solidFill>
          </a:ln>
        </p:spPr>
        <p:txBody>
          <a:bodyPr wrap="square">
            <a:noAutofit/>
          </a:bodyPr>
          <a:lstStyle/>
          <a:p>
            <a:pPr algn="ctr"/>
            <a:r>
              <a:rPr lang="fr-FR" sz="900" dirty="0"/>
              <a:t>Les membres sont particulièrement joyeux et enjoués en ce moment, même si cela n’est pas visible dans </a:t>
            </a:r>
            <a:r>
              <a:rPr lang="fr-FR" sz="900"/>
              <a:t>les événements ou les sondages</a:t>
            </a:r>
            <a:endParaRPr lang="fr-FR" sz="900" dirty="0"/>
          </a:p>
        </p:txBody>
      </p:sp>
      <p:sp>
        <p:nvSpPr>
          <p:cNvPr id="70" name="ZoneTexte 69">
            <a:extLst>
              <a:ext uri="{FF2B5EF4-FFF2-40B4-BE49-F238E27FC236}">
                <a16:creationId xmlns:a16="http://schemas.microsoft.com/office/drawing/2014/main" id="{43B95719-0102-2FEE-AE83-1B33A7835B3F}"/>
              </a:ext>
            </a:extLst>
          </p:cNvPr>
          <p:cNvSpPr txBox="1"/>
          <p:nvPr/>
        </p:nvSpPr>
        <p:spPr>
          <a:xfrm>
            <a:off x="7122173" y="5191869"/>
            <a:ext cx="956564" cy="1574021"/>
          </a:xfrm>
          <a:prstGeom prst="rect">
            <a:avLst/>
          </a:prstGeom>
          <a:solidFill>
            <a:schemeClr val="bg1"/>
          </a:solidFill>
          <a:ln>
            <a:solidFill>
              <a:schemeClr val="tx1"/>
            </a:solidFill>
          </a:ln>
        </p:spPr>
        <p:txBody>
          <a:bodyPr wrap="square">
            <a:noAutofit/>
          </a:bodyPr>
          <a:lstStyle/>
          <a:p>
            <a:pPr algn="ctr"/>
            <a:r>
              <a:rPr lang="fr-FR" sz="900" dirty="0"/>
              <a:t>Une majorité vient en webconférence et les chiffres de présence sont record, mais contrairement à ailleurs, aucune caméra n’est allumée et tous sont en muet</a:t>
            </a:r>
          </a:p>
        </p:txBody>
      </p:sp>
      <p:sp>
        <p:nvSpPr>
          <p:cNvPr id="71" name="ZoneTexte 70">
            <a:extLst>
              <a:ext uri="{FF2B5EF4-FFF2-40B4-BE49-F238E27FC236}">
                <a16:creationId xmlns:a16="http://schemas.microsoft.com/office/drawing/2014/main" id="{08270242-EB85-42F4-2F62-24ABFA225D70}"/>
              </a:ext>
            </a:extLst>
          </p:cNvPr>
          <p:cNvSpPr txBox="1"/>
          <p:nvPr/>
        </p:nvSpPr>
        <p:spPr>
          <a:xfrm>
            <a:off x="8136341" y="3550429"/>
            <a:ext cx="956564" cy="1574021"/>
          </a:xfrm>
          <a:prstGeom prst="rect">
            <a:avLst/>
          </a:prstGeom>
          <a:solidFill>
            <a:schemeClr val="bg1"/>
          </a:solidFill>
          <a:ln>
            <a:solidFill>
              <a:schemeClr val="tx1"/>
            </a:solidFill>
          </a:ln>
        </p:spPr>
        <p:txBody>
          <a:bodyPr wrap="square">
            <a:noAutofit/>
          </a:bodyPr>
          <a:lstStyle/>
          <a:p>
            <a:pPr algn="ctr"/>
            <a:r>
              <a:rPr lang="fr-FR" sz="900" dirty="0"/>
              <a:t>X est un membre qui présente un leadership naturel très fort, cette qualité se remarque beaucoup en événement mais pas sur les données</a:t>
            </a:r>
          </a:p>
        </p:txBody>
      </p:sp>
      <p:sp>
        <p:nvSpPr>
          <p:cNvPr id="72" name="ZoneTexte 71">
            <a:extLst>
              <a:ext uri="{FF2B5EF4-FFF2-40B4-BE49-F238E27FC236}">
                <a16:creationId xmlns:a16="http://schemas.microsoft.com/office/drawing/2014/main" id="{5C32350F-8F93-29D0-74B7-706B7640A8FE}"/>
              </a:ext>
            </a:extLst>
          </p:cNvPr>
          <p:cNvSpPr txBox="1"/>
          <p:nvPr/>
        </p:nvSpPr>
        <p:spPr>
          <a:xfrm>
            <a:off x="8136341" y="5191869"/>
            <a:ext cx="956564" cy="1574021"/>
          </a:xfrm>
          <a:prstGeom prst="rect">
            <a:avLst/>
          </a:prstGeom>
          <a:solidFill>
            <a:schemeClr val="bg1"/>
          </a:solidFill>
          <a:ln>
            <a:solidFill>
              <a:schemeClr val="tx1"/>
            </a:solidFill>
          </a:ln>
        </p:spPr>
        <p:txBody>
          <a:bodyPr wrap="square">
            <a:noAutofit/>
          </a:bodyPr>
          <a:lstStyle/>
          <a:p>
            <a:pPr algn="ctr"/>
            <a:r>
              <a:rPr lang="fr-FR" sz="900" dirty="0"/>
              <a:t>Y fait des remarques désobligeantes indirectes qui ne sont pas visibles dans les retours d’expérience mais dont on parle souvent au café </a:t>
            </a:r>
          </a:p>
        </p:txBody>
      </p:sp>
      <p:sp>
        <p:nvSpPr>
          <p:cNvPr id="73" name="ZoneTexte 72">
            <a:extLst>
              <a:ext uri="{FF2B5EF4-FFF2-40B4-BE49-F238E27FC236}">
                <a16:creationId xmlns:a16="http://schemas.microsoft.com/office/drawing/2014/main" id="{CCA36A30-B4A5-2B5A-2997-EFB7B5319152}"/>
              </a:ext>
            </a:extLst>
          </p:cNvPr>
          <p:cNvSpPr txBox="1"/>
          <p:nvPr/>
        </p:nvSpPr>
        <p:spPr>
          <a:xfrm>
            <a:off x="9150509" y="3550429"/>
            <a:ext cx="956564" cy="1574021"/>
          </a:xfrm>
          <a:prstGeom prst="rect">
            <a:avLst/>
          </a:prstGeom>
          <a:solidFill>
            <a:schemeClr val="bg1"/>
          </a:solidFill>
          <a:ln>
            <a:solidFill>
              <a:schemeClr val="tx1"/>
            </a:solidFill>
          </a:ln>
        </p:spPr>
        <p:txBody>
          <a:bodyPr wrap="square">
            <a:noAutofit/>
          </a:bodyPr>
          <a:lstStyle/>
          <a:p>
            <a:pPr algn="ctr"/>
            <a:r>
              <a:rPr lang="fr-FR" sz="900" dirty="0"/>
              <a:t> Même si le nombre de points négatifs est resté le même dans les scores,</a:t>
            </a:r>
          </a:p>
          <a:p>
            <a:pPr algn="ctr"/>
            <a:r>
              <a:rPr lang="fr-FR" sz="900" dirty="0"/>
              <a:t>dernièrement, les colères et frustrations étaient plus importantes </a:t>
            </a:r>
          </a:p>
        </p:txBody>
      </p:sp>
      <p:sp>
        <p:nvSpPr>
          <p:cNvPr id="74" name="ZoneTexte 73">
            <a:extLst>
              <a:ext uri="{FF2B5EF4-FFF2-40B4-BE49-F238E27FC236}">
                <a16:creationId xmlns:a16="http://schemas.microsoft.com/office/drawing/2014/main" id="{434A7CFF-44A6-1C6A-B068-2A65A840B4A4}"/>
              </a:ext>
            </a:extLst>
          </p:cNvPr>
          <p:cNvSpPr txBox="1"/>
          <p:nvPr/>
        </p:nvSpPr>
        <p:spPr>
          <a:xfrm>
            <a:off x="9150509" y="5191869"/>
            <a:ext cx="956564" cy="1574021"/>
          </a:xfrm>
          <a:prstGeom prst="rect">
            <a:avLst/>
          </a:prstGeom>
          <a:solidFill>
            <a:schemeClr val="bg1"/>
          </a:solidFill>
          <a:ln>
            <a:solidFill>
              <a:schemeClr val="tx1"/>
            </a:solidFill>
          </a:ln>
        </p:spPr>
        <p:txBody>
          <a:bodyPr wrap="square">
            <a:noAutofit/>
          </a:bodyPr>
          <a:lstStyle/>
          <a:p>
            <a:pPr algn="ctr"/>
            <a:r>
              <a:rPr lang="fr-FR" sz="900" dirty="0"/>
              <a:t>Depuis la fin du projet EFGHI, le niveau d’énergie est bien plus élevé chez les membres. Pourtant, aucun ne faisait partie de ce projet. </a:t>
            </a:r>
          </a:p>
        </p:txBody>
      </p:sp>
      <p:sp>
        <p:nvSpPr>
          <p:cNvPr id="75" name="ZoneTexte 74">
            <a:extLst>
              <a:ext uri="{FF2B5EF4-FFF2-40B4-BE49-F238E27FC236}">
                <a16:creationId xmlns:a16="http://schemas.microsoft.com/office/drawing/2014/main" id="{3BE9A678-7A22-6B31-BDE1-2FDF26FC45DF}"/>
              </a:ext>
            </a:extLst>
          </p:cNvPr>
          <p:cNvSpPr txBox="1"/>
          <p:nvPr/>
        </p:nvSpPr>
        <p:spPr>
          <a:xfrm>
            <a:off x="10164677" y="3550429"/>
            <a:ext cx="956564" cy="1574021"/>
          </a:xfrm>
          <a:prstGeom prst="rect">
            <a:avLst/>
          </a:prstGeom>
          <a:solidFill>
            <a:schemeClr val="bg1"/>
          </a:solidFill>
          <a:ln>
            <a:solidFill>
              <a:schemeClr val="tx1"/>
            </a:solidFill>
          </a:ln>
        </p:spPr>
        <p:txBody>
          <a:bodyPr wrap="square">
            <a:noAutofit/>
          </a:bodyPr>
          <a:lstStyle/>
          <a:p>
            <a:pPr algn="ctr"/>
            <a:r>
              <a:rPr lang="fr-FR" sz="900" dirty="0"/>
              <a:t>Les membres ont acquiescé sur le fait de s’engager dans les événements car le top manager était là, mais ce n’est pas le cas quand il est absent.</a:t>
            </a:r>
          </a:p>
        </p:txBody>
      </p:sp>
      <p:sp>
        <p:nvSpPr>
          <p:cNvPr id="76" name="ZoneTexte 75">
            <a:extLst>
              <a:ext uri="{FF2B5EF4-FFF2-40B4-BE49-F238E27FC236}">
                <a16:creationId xmlns:a16="http://schemas.microsoft.com/office/drawing/2014/main" id="{B14EC01A-A8DC-0BAB-2301-4E5321B77620}"/>
              </a:ext>
            </a:extLst>
          </p:cNvPr>
          <p:cNvSpPr txBox="1"/>
          <p:nvPr/>
        </p:nvSpPr>
        <p:spPr>
          <a:xfrm>
            <a:off x="10164677" y="5191869"/>
            <a:ext cx="956564" cy="1574021"/>
          </a:xfrm>
          <a:prstGeom prst="rect">
            <a:avLst/>
          </a:prstGeom>
          <a:solidFill>
            <a:schemeClr val="bg1"/>
          </a:solidFill>
          <a:ln>
            <a:solidFill>
              <a:schemeClr val="tx1"/>
            </a:solidFill>
          </a:ln>
        </p:spPr>
        <p:txBody>
          <a:bodyPr wrap="square">
            <a:noAutofit/>
          </a:bodyPr>
          <a:lstStyle/>
          <a:p>
            <a:pPr algn="ctr"/>
            <a:r>
              <a:rPr lang="fr-FR" sz="900" dirty="0"/>
              <a:t>Dernièrement, les membres ont montré une réticence à donner leurs avis personnels, et beaucoup se réfèrent aux ordres officiels sans </a:t>
            </a:r>
            <a:r>
              <a:rPr lang="fr-FR" sz="900"/>
              <a:t>oser s’exprimer</a:t>
            </a:r>
            <a:endParaRPr lang="fr-FR" sz="900" dirty="0"/>
          </a:p>
        </p:txBody>
      </p:sp>
      <p:sp>
        <p:nvSpPr>
          <p:cNvPr id="77" name="ZoneTexte 76">
            <a:extLst>
              <a:ext uri="{FF2B5EF4-FFF2-40B4-BE49-F238E27FC236}">
                <a16:creationId xmlns:a16="http://schemas.microsoft.com/office/drawing/2014/main" id="{57C00F9C-2AF7-C8FB-949B-31711BFE5A88}"/>
              </a:ext>
            </a:extLst>
          </p:cNvPr>
          <p:cNvSpPr txBox="1"/>
          <p:nvPr/>
        </p:nvSpPr>
        <p:spPr>
          <a:xfrm>
            <a:off x="11178844" y="3550429"/>
            <a:ext cx="956564" cy="1574021"/>
          </a:xfrm>
          <a:prstGeom prst="rect">
            <a:avLst/>
          </a:prstGeom>
          <a:solidFill>
            <a:schemeClr val="bg1"/>
          </a:solidFill>
          <a:ln>
            <a:solidFill>
              <a:schemeClr val="tx1"/>
            </a:solidFill>
          </a:ln>
        </p:spPr>
        <p:txBody>
          <a:bodyPr wrap="square">
            <a:noAutofit/>
          </a:bodyPr>
          <a:lstStyle/>
          <a:p>
            <a:pPr algn="ctr"/>
            <a:r>
              <a:rPr lang="fr-FR" sz="900" dirty="0"/>
              <a:t>On remarque que les membres les moins motivés sont tous ceux qui viennent du département XYZ, même si officiellement ça n’est pas mesuré</a:t>
            </a:r>
          </a:p>
        </p:txBody>
      </p:sp>
      <p:sp>
        <p:nvSpPr>
          <p:cNvPr id="78" name="ZoneTexte 77">
            <a:extLst>
              <a:ext uri="{FF2B5EF4-FFF2-40B4-BE49-F238E27FC236}">
                <a16:creationId xmlns:a16="http://schemas.microsoft.com/office/drawing/2014/main" id="{DBC7D04F-F872-828A-7203-982041ED8765}"/>
              </a:ext>
            </a:extLst>
          </p:cNvPr>
          <p:cNvSpPr txBox="1"/>
          <p:nvPr/>
        </p:nvSpPr>
        <p:spPr>
          <a:xfrm>
            <a:off x="11178844" y="5191869"/>
            <a:ext cx="956564" cy="1574021"/>
          </a:xfrm>
          <a:prstGeom prst="rect">
            <a:avLst/>
          </a:prstGeom>
          <a:solidFill>
            <a:schemeClr val="bg1"/>
          </a:solidFill>
          <a:ln>
            <a:solidFill>
              <a:schemeClr val="tx1"/>
            </a:solidFill>
          </a:ln>
        </p:spPr>
        <p:txBody>
          <a:bodyPr wrap="square">
            <a:noAutofit/>
          </a:bodyPr>
          <a:lstStyle/>
          <a:p>
            <a:pPr algn="ctr"/>
            <a:r>
              <a:rPr lang="fr-FR" sz="900" dirty="0"/>
              <a:t>Il n’y a pas eu de statistique officielle sur le sujet, mais les membres de la Communauté EFGHI semblent tous ou presque être des femmes de plus de 45 ans. </a:t>
            </a:r>
          </a:p>
        </p:txBody>
      </p:sp>
    </p:spTree>
    <p:extLst>
      <p:ext uri="{BB962C8B-B14F-4D97-AF65-F5344CB8AC3E}">
        <p14:creationId xmlns:p14="http://schemas.microsoft.com/office/powerpoint/2010/main" val="3862259570"/>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990D7B1-CEE7-13B0-12D4-811738829C25}"/>
              </a:ext>
            </a:extLst>
          </p:cNvPr>
          <p:cNvSpPr>
            <a:spLocks noGrp="1"/>
          </p:cNvSpPr>
          <p:nvPr>
            <p:ph type="title"/>
          </p:nvPr>
        </p:nvSpPr>
        <p:spPr>
          <a:xfrm>
            <a:off x="1695450" y="365125"/>
            <a:ext cx="9659938" cy="823913"/>
          </a:xfrm>
        </p:spPr>
        <p:txBody>
          <a:bodyPr>
            <a:normAutofit fontScale="90000"/>
          </a:bodyPr>
          <a:lstStyle/>
          <a:p>
            <a:r>
              <a:rPr lang="fr-FR" sz="2800" dirty="0"/>
              <a:t>Exemple d’une situation où on peut moduler les résultats d’un renseignement délibéré grâce au renseignement par interception</a:t>
            </a:r>
          </a:p>
        </p:txBody>
      </p:sp>
      <p:pic>
        <p:nvPicPr>
          <p:cNvPr id="8" name="Graphique 7" descr="Femme détective avec un remplissage uni">
            <a:extLst>
              <a:ext uri="{FF2B5EF4-FFF2-40B4-BE49-F238E27FC236}">
                <a16:creationId xmlns:a16="http://schemas.microsoft.com/office/drawing/2014/main" id="{EED2DECD-0A23-9F25-161E-04F49F3D052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76739" y="219869"/>
            <a:ext cx="969169" cy="969169"/>
          </a:xfrm>
          <a:prstGeom prst="rect">
            <a:avLst/>
          </a:prstGeom>
        </p:spPr>
      </p:pic>
      <p:pic>
        <p:nvPicPr>
          <p:cNvPr id="9" name="Graphique 8" descr="Femme scientifique avec un remplissage uni">
            <a:extLst>
              <a:ext uri="{FF2B5EF4-FFF2-40B4-BE49-F238E27FC236}">
                <a16:creationId xmlns:a16="http://schemas.microsoft.com/office/drawing/2014/main" id="{71DE54CD-692F-DD97-DC68-DBF5DC8394F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133026" y="244132"/>
            <a:ext cx="944906" cy="944906"/>
          </a:xfrm>
          <a:prstGeom prst="rect">
            <a:avLst/>
          </a:prstGeom>
        </p:spPr>
      </p:pic>
      <p:pic>
        <p:nvPicPr>
          <p:cNvPr id="5" name="Graphique 4" descr="Femme scientifique avec un remplissage uni">
            <a:extLst>
              <a:ext uri="{FF2B5EF4-FFF2-40B4-BE49-F238E27FC236}">
                <a16:creationId xmlns:a16="http://schemas.microsoft.com/office/drawing/2014/main" id="{D35D7CEF-497C-C138-42C3-6C3CA935881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2881544" y="1968418"/>
            <a:ext cx="944906" cy="944906"/>
          </a:xfrm>
          <a:prstGeom prst="rect">
            <a:avLst/>
          </a:prstGeom>
        </p:spPr>
      </p:pic>
      <p:pic>
        <p:nvPicPr>
          <p:cNvPr id="6" name="Graphique 5" descr="Femme détective avec un remplissage uni">
            <a:extLst>
              <a:ext uri="{FF2B5EF4-FFF2-40B4-BE49-F238E27FC236}">
                <a16:creationId xmlns:a16="http://schemas.microsoft.com/office/drawing/2014/main" id="{6CEACED8-7B8B-4645-1773-779FAE4FE84D}"/>
              </a:ext>
            </a:extLst>
          </p:cNvPr>
          <p:cNvPicPr>
            <a:picLocks noChangeAspect="1"/>
          </p:cNvPicPr>
          <p:nvPr/>
        </p:nvPicPr>
        <p:blipFill rotWithShape="1">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l="10076"/>
          <a:stretch/>
        </p:blipFill>
        <p:spPr>
          <a:xfrm>
            <a:off x="62002" y="4292072"/>
            <a:ext cx="871515" cy="969169"/>
          </a:xfrm>
          <a:prstGeom prst="rect">
            <a:avLst/>
          </a:prstGeom>
        </p:spPr>
      </p:pic>
      <p:sp>
        <p:nvSpPr>
          <p:cNvPr id="3" name="Bulle narrative : ronde 2">
            <a:extLst>
              <a:ext uri="{FF2B5EF4-FFF2-40B4-BE49-F238E27FC236}">
                <a16:creationId xmlns:a16="http://schemas.microsoft.com/office/drawing/2014/main" id="{66EB8687-288F-13AB-4111-EC3696DF602F}"/>
              </a:ext>
            </a:extLst>
          </p:cNvPr>
          <p:cNvSpPr/>
          <p:nvPr/>
        </p:nvSpPr>
        <p:spPr>
          <a:xfrm>
            <a:off x="4119237" y="1478671"/>
            <a:ext cx="5120196" cy="1434653"/>
          </a:xfrm>
          <a:prstGeom prst="wedgeEllipseCallout">
            <a:avLst>
              <a:gd name="adj1" fmla="val -61511"/>
              <a:gd name="adj2" fmla="val 14377"/>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200" b="1" dirty="0">
                <a:solidFill>
                  <a:schemeClr val="tx1"/>
                </a:solidFill>
              </a:rPr>
              <a:t>Les</a:t>
            </a:r>
            <a:r>
              <a:rPr lang="fr-FR" sz="1200" dirty="0">
                <a:solidFill>
                  <a:schemeClr val="tx1"/>
                </a:solidFill>
              </a:rPr>
              <a:t> </a:t>
            </a:r>
            <a:r>
              <a:rPr lang="fr-FR" sz="1200" b="1" dirty="0">
                <a:solidFill>
                  <a:schemeClr val="tx1"/>
                </a:solidFill>
              </a:rPr>
              <a:t>sondages</a:t>
            </a:r>
            <a:r>
              <a:rPr lang="fr-FR" sz="1200" dirty="0">
                <a:solidFill>
                  <a:schemeClr val="tx1"/>
                </a:solidFill>
              </a:rPr>
              <a:t> indiquent que : </a:t>
            </a:r>
          </a:p>
          <a:p>
            <a:pPr marL="171450" indent="-171450">
              <a:buFontTx/>
              <a:buChar char="-"/>
            </a:pPr>
            <a:r>
              <a:rPr lang="fr-FR" sz="1200" dirty="0">
                <a:solidFill>
                  <a:schemeClr val="tx1"/>
                </a:solidFill>
              </a:rPr>
              <a:t>les membres sont majoritairement intéressés par le</a:t>
            </a:r>
            <a:r>
              <a:rPr lang="fr-FR" sz="1200" b="1" dirty="0">
                <a:solidFill>
                  <a:schemeClr val="tx1"/>
                </a:solidFill>
              </a:rPr>
              <a:t> </a:t>
            </a:r>
            <a:r>
              <a:rPr lang="fr-FR" sz="1200" dirty="0">
                <a:solidFill>
                  <a:schemeClr val="tx1"/>
                </a:solidFill>
              </a:rPr>
              <a:t>développement de compétences </a:t>
            </a:r>
          </a:p>
          <a:p>
            <a:pPr marL="171450" indent="-171450">
              <a:buFontTx/>
              <a:buChar char="-"/>
            </a:pPr>
            <a:r>
              <a:rPr lang="fr-FR" sz="1200" dirty="0">
                <a:solidFill>
                  <a:schemeClr val="tx1"/>
                </a:solidFill>
              </a:rPr>
              <a:t>En second vient le lien avec les autres membres et leur expérience</a:t>
            </a:r>
          </a:p>
        </p:txBody>
      </p:sp>
      <p:sp>
        <p:nvSpPr>
          <p:cNvPr id="10" name="Bulle narrative : ronde 9">
            <a:extLst>
              <a:ext uri="{FF2B5EF4-FFF2-40B4-BE49-F238E27FC236}">
                <a16:creationId xmlns:a16="http://schemas.microsoft.com/office/drawing/2014/main" id="{2FB1F074-FA84-ABDB-BB01-C7819A16AAA8}"/>
              </a:ext>
            </a:extLst>
          </p:cNvPr>
          <p:cNvSpPr/>
          <p:nvPr/>
        </p:nvSpPr>
        <p:spPr>
          <a:xfrm>
            <a:off x="1420803" y="3648319"/>
            <a:ext cx="4520045" cy="2344108"/>
          </a:xfrm>
          <a:prstGeom prst="wedgeEllipseCallout">
            <a:avLst>
              <a:gd name="adj1" fmla="val -64632"/>
              <a:gd name="adj2" fmla="val 1313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L’immersion dans les moments informels </a:t>
            </a:r>
            <a:r>
              <a:rPr lang="fr-FR" sz="1200" dirty="0">
                <a:solidFill>
                  <a:schemeClr val="tx1"/>
                </a:solidFill>
              </a:rPr>
              <a:t>indique que :</a:t>
            </a:r>
          </a:p>
          <a:p>
            <a:pPr marL="171450" indent="-171450">
              <a:buFontTx/>
              <a:buChar char="-"/>
            </a:pPr>
            <a:r>
              <a:rPr lang="fr-FR" sz="1200" dirty="0">
                <a:solidFill>
                  <a:schemeClr val="tx1"/>
                </a:solidFill>
              </a:rPr>
              <a:t>Les compétences sont celles dont les membres ont besoin pour résoudre leurs questions opérationnelles</a:t>
            </a:r>
          </a:p>
          <a:p>
            <a:pPr marL="171450" indent="-171450">
              <a:buFontTx/>
              <a:buChar char="-"/>
            </a:pPr>
            <a:r>
              <a:rPr lang="fr-FR" sz="1200" dirty="0">
                <a:solidFill>
                  <a:schemeClr val="tx1"/>
                </a:solidFill>
              </a:rPr>
              <a:t>Les membres aiment surtout le temps libre offert par la Communauté, qui permet de souffler. Il s’avère que ce temps libre est passé avec les autres.</a:t>
            </a:r>
          </a:p>
        </p:txBody>
      </p:sp>
      <p:pic>
        <p:nvPicPr>
          <p:cNvPr id="11" name="Graphique 10" descr="Femme détective avec un remplissage uni">
            <a:extLst>
              <a:ext uri="{FF2B5EF4-FFF2-40B4-BE49-F238E27FC236}">
                <a16:creationId xmlns:a16="http://schemas.microsoft.com/office/drawing/2014/main" id="{58486911-E3D3-A3F2-BB87-A487C2802EC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144476" y="4292072"/>
            <a:ext cx="969169" cy="969169"/>
          </a:xfrm>
          <a:prstGeom prst="rect">
            <a:avLst/>
          </a:prstGeom>
        </p:spPr>
      </p:pic>
      <p:sp>
        <p:nvSpPr>
          <p:cNvPr id="12" name="Bulle narrative : ronde 11">
            <a:extLst>
              <a:ext uri="{FF2B5EF4-FFF2-40B4-BE49-F238E27FC236}">
                <a16:creationId xmlns:a16="http://schemas.microsoft.com/office/drawing/2014/main" id="{05B19021-62A6-9E6C-3BA8-517EE8F4864E}"/>
              </a:ext>
            </a:extLst>
          </p:cNvPr>
          <p:cNvSpPr/>
          <p:nvPr/>
        </p:nvSpPr>
        <p:spPr>
          <a:xfrm>
            <a:off x="7600931" y="3648319"/>
            <a:ext cx="4520045" cy="2344108"/>
          </a:xfrm>
          <a:prstGeom prst="wedgeEllipseCallout">
            <a:avLst>
              <a:gd name="adj1" fmla="val -64632"/>
              <a:gd name="adj2" fmla="val 1313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L’immersion dans les moments informels </a:t>
            </a:r>
            <a:r>
              <a:rPr lang="fr-FR" sz="1200" dirty="0">
                <a:solidFill>
                  <a:schemeClr val="tx1"/>
                </a:solidFill>
              </a:rPr>
              <a:t>indique que :</a:t>
            </a:r>
          </a:p>
          <a:p>
            <a:pPr marL="171450" indent="-171450">
              <a:buFontTx/>
              <a:buChar char="-"/>
            </a:pPr>
            <a:r>
              <a:rPr lang="fr-FR" sz="1200" dirty="0">
                <a:solidFill>
                  <a:schemeClr val="tx1"/>
                </a:solidFill>
              </a:rPr>
              <a:t>Les compétences concernent surtout les nouvelles technologies sur le marché (pas celles des projets actuels), qui permettent l’employabilité, et donc les augmentations.</a:t>
            </a:r>
          </a:p>
          <a:p>
            <a:pPr marL="171450" indent="-171450">
              <a:buFontTx/>
              <a:buChar char="-"/>
            </a:pPr>
            <a:r>
              <a:rPr lang="fr-FR" sz="1200" dirty="0">
                <a:solidFill>
                  <a:schemeClr val="tx1"/>
                </a:solidFill>
              </a:rPr>
              <a:t>Les membres passent surtout du temps entre eux à discuter de comment mettre leurs talents à profit de causes plus nobles. Ils se retrouvent sur ce point, d’où le lien.</a:t>
            </a:r>
          </a:p>
          <a:p>
            <a:pPr marL="171450" indent="-171450">
              <a:buFontTx/>
              <a:buChar char="-"/>
            </a:pPr>
            <a:endParaRPr lang="fr-FR" sz="1200" dirty="0">
              <a:solidFill>
                <a:schemeClr val="tx1"/>
              </a:solidFill>
            </a:endParaRPr>
          </a:p>
        </p:txBody>
      </p:sp>
      <p:cxnSp>
        <p:nvCxnSpPr>
          <p:cNvPr id="13" name="Connecteur droit 12">
            <a:extLst>
              <a:ext uri="{FF2B5EF4-FFF2-40B4-BE49-F238E27FC236}">
                <a16:creationId xmlns:a16="http://schemas.microsoft.com/office/drawing/2014/main" id="{3ABC55AE-D77B-94B9-4DDF-77C241AA8D11}"/>
              </a:ext>
            </a:extLst>
          </p:cNvPr>
          <p:cNvCxnSpPr>
            <a:cxnSpLocks/>
          </p:cNvCxnSpPr>
          <p:nvPr/>
        </p:nvCxnSpPr>
        <p:spPr>
          <a:xfrm>
            <a:off x="6214366" y="3559946"/>
            <a:ext cx="0" cy="31160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ZoneTexte 14">
            <a:extLst>
              <a:ext uri="{FF2B5EF4-FFF2-40B4-BE49-F238E27FC236}">
                <a16:creationId xmlns:a16="http://schemas.microsoft.com/office/drawing/2014/main" id="{CC23374C-F015-7241-09D6-6EB69E84EED9}"/>
              </a:ext>
            </a:extLst>
          </p:cNvPr>
          <p:cNvSpPr txBox="1"/>
          <p:nvPr/>
        </p:nvSpPr>
        <p:spPr>
          <a:xfrm>
            <a:off x="2916790" y="3391464"/>
            <a:ext cx="1528070" cy="307777"/>
          </a:xfrm>
          <a:prstGeom prst="rect">
            <a:avLst/>
          </a:prstGeom>
          <a:noFill/>
        </p:spPr>
        <p:txBody>
          <a:bodyPr wrap="square">
            <a:spAutoFit/>
          </a:bodyPr>
          <a:lstStyle/>
          <a:p>
            <a:pPr algn="ctr"/>
            <a:r>
              <a:rPr lang="fr-FR" sz="1400" b="1" dirty="0">
                <a:solidFill>
                  <a:schemeClr val="tx1"/>
                </a:solidFill>
              </a:rPr>
              <a:t>Scénario 1</a:t>
            </a:r>
          </a:p>
        </p:txBody>
      </p:sp>
      <p:sp>
        <p:nvSpPr>
          <p:cNvPr id="16" name="ZoneTexte 15">
            <a:extLst>
              <a:ext uri="{FF2B5EF4-FFF2-40B4-BE49-F238E27FC236}">
                <a16:creationId xmlns:a16="http://schemas.microsoft.com/office/drawing/2014/main" id="{7A900B1F-B83E-20CD-804A-B2CAB5940CE4}"/>
              </a:ext>
            </a:extLst>
          </p:cNvPr>
          <p:cNvSpPr txBox="1"/>
          <p:nvPr/>
        </p:nvSpPr>
        <p:spPr>
          <a:xfrm>
            <a:off x="7515322" y="3382587"/>
            <a:ext cx="4676677" cy="307777"/>
          </a:xfrm>
          <a:prstGeom prst="rect">
            <a:avLst/>
          </a:prstGeom>
          <a:noFill/>
        </p:spPr>
        <p:txBody>
          <a:bodyPr wrap="square">
            <a:spAutoFit/>
          </a:bodyPr>
          <a:lstStyle/>
          <a:p>
            <a:pPr algn="ctr"/>
            <a:r>
              <a:rPr lang="fr-FR" sz="1400" b="1" dirty="0">
                <a:solidFill>
                  <a:schemeClr val="tx1"/>
                </a:solidFill>
              </a:rPr>
              <a:t>Scénario 2</a:t>
            </a:r>
          </a:p>
        </p:txBody>
      </p:sp>
      <p:sp>
        <p:nvSpPr>
          <p:cNvPr id="18" name="ZoneTexte 17">
            <a:extLst>
              <a:ext uri="{FF2B5EF4-FFF2-40B4-BE49-F238E27FC236}">
                <a16:creationId xmlns:a16="http://schemas.microsoft.com/office/drawing/2014/main" id="{69FD95D8-14ED-A4A2-DEF4-1454D9A56143}"/>
              </a:ext>
            </a:extLst>
          </p:cNvPr>
          <p:cNvSpPr txBox="1"/>
          <p:nvPr/>
        </p:nvSpPr>
        <p:spPr>
          <a:xfrm>
            <a:off x="5387634" y="1170894"/>
            <a:ext cx="2583402" cy="307777"/>
          </a:xfrm>
          <a:prstGeom prst="rect">
            <a:avLst/>
          </a:prstGeom>
          <a:noFill/>
        </p:spPr>
        <p:txBody>
          <a:bodyPr wrap="square">
            <a:spAutoFit/>
          </a:bodyPr>
          <a:lstStyle/>
          <a:p>
            <a:pPr algn="ctr"/>
            <a:r>
              <a:rPr lang="fr-FR" sz="1400" b="1" dirty="0">
                <a:solidFill>
                  <a:schemeClr val="tx1"/>
                </a:solidFill>
              </a:rPr>
              <a:t>Information de base</a:t>
            </a:r>
          </a:p>
        </p:txBody>
      </p:sp>
      <p:sp>
        <p:nvSpPr>
          <p:cNvPr id="19" name="Flèche : bas 18">
            <a:extLst>
              <a:ext uri="{FF2B5EF4-FFF2-40B4-BE49-F238E27FC236}">
                <a16:creationId xmlns:a16="http://schemas.microsoft.com/office/drawing/2014/main" id="{376ADAB3-A254-6998-19D6-B809630679B4}"/>
              </a:ext>
            </a:extLst>
          </p:cNvPr>
          <p:cNvSpPr/>
          <p:nvPr/>
        </p:nvSpPr>
        <p:spPr>
          <a:xfrm rot="2350913">
            <a:off x="4173247" y="2873998"/>
            <a:ext cx="816745" cy="58447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Flèche : bas 19">
            <a:extLst>
              <a:ext uri="{FF2B5EF4-FFF2-40B4-BE49-F238E27FC236}">
                <a16:creationId xmlns:a16="http://schemas.microsoft.com/office/drawing/2014/main" id="{7998EDB6-342D-D455-2F2F-921A6F02A409}"/>
              </a:ext>
            </a:extLst>
          </p:cNvPr>
          <p:cNvSpPr/>
          <p:nvPr/>
        </p:nvSpPr>
        <p:spPr>
          <a:xfrm rot="19280464">
            <a:off x="8238516" y="2872774"/>
            <a:ext cx="816745" cy="58447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ZoneTexte 20">
            <a:extLst>
              <a:ext uri="{FF2B5EF4-FFF2-40B4-BE49-F238E27FC236}">
                <a16:creationId xmlns:a16="http://schemas.microsoft.com/office/drawing/2014/main" id="{50306356-B923-747E-95CF-C82D492FDDC2}"/>
              </a:ext>
            </a:extLst>
          </p:cNvPr>
          <p:cNvSpPr txBox="1"/>
          <p:nvPr/>
        </p:nvSpPr>
        <p:spPr>
          <a:xfrm>
            <a:off x="498596" y="1716351"/>
            <a:ext cx="1969396" cy="965355"/>
          </a:xfrm>
          <a:prstGeom prst="rect">
            <a:avLst/>
          </a:prstGeom>
          <a:noFill/>
          <a:ln>
            <a:solidFill>
              <a:schemeClr val="tx1"/>
            </a:solidFill>
          </a:ln>
        </p:spPr>
        <p:txBody>
          <a:bodyPr wrap="square">
            <a:noAutofit/>
          </a:bodyPr>
          <a:lstStyle/>
          <a:p>
            <a:pPr algn="ctr"/>
            <a:r>
              <a:rPr lang="fr-FR" sz="1200" dirty="0"/>
              <a:t>La Communauté XYZ est une Communauté de pratique. Les Community Boosters se posent la question de la valeur pour les membres.</a:t>
            </a:r>
          </a:p>
        </p:txBody>
      </p:sp>
    </p:spTree>
    <p:extLst>
      <p:ext uri="{BB962C8B-B14F-4D97-AF65-F5344CB8AC3E}">
        <p14:creationId xmlns:p14="http://schemas.microsoft.com/office/powerpoint/2010/main" val="422898783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Graphique 20" descr="Femme scientifique avec un remplissage uni">
            <a:extLst>
              <a:ext uri="{FF2B5EF4-FFF2-40B4-BE49-F238E27FC236}">
                <a16:creationId xmlns:a16="http://schemas.microsoft.com/office/drawing/2014/main" id="{E365CE1B-7021-8777-B787-6B234F2378A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39360" y="4347920"/>
            <a:ext cx="944906" cy="944906"/>
          </a:xfrm>
          <a:prstGeom prst="rect">
            <a:avLst/>
          </a:prstGeom>
        </p:spPr>
      </p:pic>
      <p:pic>
        <p:nvPicPr>
          <p:cNvPr id="20" name="Graphique 19" descr="Femme scientifique avec un remplissage uni">
            <a:extLst>
              <a:ext uri="{FF2B5EF4-FFF2-40B4-BE49-F238E27FC236}">
                <a16:creationId xmlns:a16="http://schemas.microsoft.com/office/drawing/2014/main" id="{FE65E980-5200-C083-9A48-9F6AE108842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6214366" y="4347920"/>
            <a:ext cx="944906" cy="944906"/>
          </a:xfrm>
          <a:prstGeom prst="rect">
            <a:avLst/>
          </a:prstGeom>
        </p:spPr>
      </p:pic>
      <p:sp>
        <p:nvSpPr>
          <p:cNvPr id="2" name="Titre 1">
            <a:extLst>
              <a:ext uri="{FF2B5EF4-FFF2-40B4-BE49-F238E27FC236}">
                <a16:creationId xmlns:a16="http://schemas.microsoft.com/office/drawing/2014/main" id="{F990D7B1-CEE7-13B0-12D4-811738829C25}"/>
              </a:ext>
            </a:extLst>
          </p:cNvPr>
          <p:cNvSpPr>
            <a:spLocks noGrp="1"/>
          </p:cNvSpPr>
          <p:nvPr>
            <p:ph type="title"/>
          </p:nvPr>
        </p:nvSpPr>
        <p:spPr>
          <a:xfrm>
            <a:off x="1695450" y="365125"/>
            <a:ext cx="9659938" cy="823913"/>
          </a:xfrm>
        </p:spPr>
        <p:txBody>
          <a:bodyPr>
            <a:normAutofit fontScale="90000"/>
          </a:bodyPr>
          <a:lstStyle/>
          <a:p>
            <a:r>
              <a:rPr lang="fr-FR" sz="2800" dirty="0"/>
              <a:t>Exemple d’une situation où on peut moduler les résultats d’un renseignement par interception par les résultats d’un renseignement délibéré</a:t>
            </a:r>
          </a:p>
        </p:txBody>
      </p:sp>
      <p:pic>
        <p:nvPicPr>
          <p:cNvPr id="8" name="Graphique 7" descr="Femme détective avec un remplissage uni">
            <a:extLst>
              <a:ext uri="{FF2B5EF4-FFF2-40B4-BE49-F238E27FC236}">
                <a16:creationId xmlns:a16="http://schemas.microsoft.com/office/drawing/2014/main" id="{EED2DECD-0A23-9F25-161E-04F49F3D052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6739" y="219869"/>
            <a:ext cx="969169" cy="969169"/>
          </a:xfrm>
          <a:prstGeom prst="rect">
            <a:avLst/>
          </a:prstGeom>
        </p:spPr>
      </p:pic>
      <p:pic>
        <p:nvPicPr>
          <p:cNvPr id="9" name="Graphique 8" descr="Femme scientifique avec un remplissage uni">
            <a:extLst>
              <a:ext uri="{FF2B5EF4-FFF2-40B4-BE49-F238E27FC236}">
                <a16:creationId xmlns:a16="http://schemas.microsoft.com/office/drawing/2014/main" id="{71DE54CD-692F-DD97-DC68-DBF5DC8394F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133026" y="244132"/>
            <a:ext cx="944906" cy="944906"/>
          </a:xfrm>
          <a:prstGeom prst="rect">
            <a:avLst/>
          </a:prstGeom>
        </p:spPr>
      </p:pic>
      <p:pic>
        <p:nvPicPr>
          <p:cNvPr id="6" name="Graphique 5" descr="Femme détective avec un remplissage uni">
            <a:extLst>
              <a:ext uri="{FF2B5EF4-FFF2-40B4-BE49-F238E27FC236}">
                <a16:creationId xmlns:a16="http://schemas.microsoft.com/office/drawing/2014/main" id="{E5040FA8-505D-F6F8-3F6D-4C21D299E9E2}"/>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10076"/>
          <a:stretch/>
        </p:blipFill>
        <p:spPr>
          <a:xfrm>
            <a:off x="2831418" y="1809283"/>
            <a:ext cx="871515" cy="969169"/>
          </a:xfrm>
          <a:prstGeom prst="rect">
            <a:avLst/>
          </a:prstGeom>
        </p:spPr>
      </p:pic>
      <p:sp>
        <p:nvSpPr>
          <p:cNvPr id="7" name="Bulle narrative : ronde 6">
            <a:extLst>
              <a:ext uri="{FF2B5EF4-FFF2-40B4-BE49-F238E27FC236}">
                <a16:creationId xmlns:a16="http://schemas.microsoft.com/office/drawing/2014/main" id="{D42A4896-9B65-E116-D2E4-41558DB30065}"/>
              </a:ext>
            </a:extLst>
          </p:cNvPr>
          <p:cNvSpPr/>
          <p:nvPr/>
        </p:nvSpPr>
        <p:spPr>
          <a:xfrm>
            <a:off x="4119237" y="1478671"/>
            <a:ext cx="5120196" cy="1434653"/>
          </a:xfrm>
          <a:prstGeom prst="wedgeEllipseCallout">
            <a:avLst>
              <a:gd name="adj1" fmla="val -61511"/>
              <a:gd name="adj2" fmla="val 14377"/>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200" b="1" dirty="0">
                <a:solidFill>
                  <a:schemeClr val="tx1"/>
                </a:solidFill>
              </a:rPr>
              <a:t>La participation aux activités en tant que membre </a:t>
            </a:r>
            <a:r>
              <a:rPr lang="fr-FR" sz="1200" dirty="0">
                <a:solidFill>
                  <a:schemeClr val="tx1"/>
                </a:solidFill>
              </a:rPr>
              <a:t>indique que : </a:t>
            </a:r>
          </a:p>
          <a:p>
            <a:pPr marL="171450" indent="-171450">
              <a:buFontTx/>
              <a:buChar char="-"/>
            </a:pPr>
            <a:r>
              <a:rPr lang="fr-FR" sz="1200" dirty="0">
                <a:solidFill>
                  <a:schemeClr val="tx1"/>
                </a:solidFill>
              </a:rPr>
              <a:t>Les moments de stimulation sont les plus appréciés</a:t>
            </a:r>
          </a:p>
          <a:p>
            <a:pPr marL="171450" indent="-171450">
              <a:buFontTx/>
              <a:buChar char="-"/>
            </a:pPr>
            <a:r>
              <a:rPr lang="fr-FR" sz="1200" dirty="0">
                <a:solidFill>
                  <a:schemeClr val="tx1"/>
                </a:solidFill>
              </a:rPr>
              <a:t>Des micro-plaintes et sarcasmes ont lieu quant à la sollicitation « entre les événements » (salles de discussion, sondage, etc.)</a:t>
            </a:r>
          </a:p>
        </p:txBody>
      </p:sp>
      <p:sp>
        <p:nvSpPr>
          <p:cNvPr id="10" name="Bulle narrative : ronde 9">
            <a:extLst>
              <a:ext uri="{FF2B5EF4-FFF2-40B4-BE49-F238E27FC236}">
                <a16:creationId xmlns:a16="http://schemas.microsoft.com/office/drawing/2014/main" id="{7BDF70A1-301E-9D2F-254F-D41FEF02F865}"/>
              </a:ext>
            </a:extLst>
          </p:cNvPr>
          <p:cNvSpPr/>
          <p:nvPr/>
        </p:nvSpPr>
        <p:spPr>
          <a:xfrm>
            <a:off x="1420803" y="3648319"/>
            <a:ext cx="4520045" cy="2344108"/>
          </a:xfrm>
          <a:prstGeom prst="wedgeEllipseCallout">
            <a:avLst>
              <a:gd name="adj1" fmla="val -64632"/>
              <a:gd name="adj2" fmla="val 1313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Les études de données sur les présences/absences/refus/rejets </a:t>
            </a:r>
            <a:r>
              <a:rPr lang="fr-FR" sz="1200" dirty="0">
                <a:solidFill>
                  <a:schemeClr val="tx1"/>
                </a:solidFill>
              </a:rPr>
              <a:t>indiquent que:</a:t>
            </a:r>
          </a:p>
          <a:p>
            <a:pPr marL="171450" indent="-171450">
              <a:buFontTx/>
              <a:buChar char="-"/>
            </a:pPr>
            <a:r>
              <a:rPr lang="fr-FR" sz="1200" dirty="0">
                <a:solidFill>
                  <a:schemeClr val="tx1"/>
                </a:solidFill>
              </a:rPr>
              <a:t>Les membres qui viennent régulièrement proviennent tous du même service, car leur projet est concerné.</a:t>
            </a:r>
          </a:p>
          <a:p>
            <a:pPr marL="171450" indent="-171450">
              <a:buFontTx/>
              <a:buChar char="-"/>
            </a:pPr>
            <a:r>
              <a:rPr lang="fr-FR" sz="1200" dirty="0">
                <a:solidFill>
                  <a:schemeClr val="tx1"/>
                </a:solidFill>
              </a:rPr>
              <a:t>Les autres membres gardent surtout le contact et les CR via la salle de discussion et sont les plus répondants aux sondages</a:t>
            </a:r>
          </a:p>
        </p:txBody>
      </p:sp>
      <p:sp>
        <p:nvSpPr>
          <p:cNvPr id="12" name="Bulle narrative : ronde 11">
            <a:extLst>
              <a:ext uri="{FF2B5EF4-FFF2-40B4-BE49-F238E27FC236}">
                <a16:creationId xmlns:a16="http://schemas.microsoft.com/office/drawing/2014/main" id="{A6FA552C-96F0-58A7-D33F-DFACD7DD880E}"/>
              </a:ext>
            </a:extLst>
          </p:cNvPr>
          <p:cNvSpPr/>
          <p:nvPr/>
        </p:nvSpPr>
        <p:spPr>
          <a:xfrm>
            <a:off x="7600931" y="3648319"/>
            <a:ext cx="4520045" cy="2344108"/>
          </a:xfrm>
          <a:prstGeom prst="wedgeEllipseCallout">
            <a:avLst>
              <a:gd name="adj1" fmla="val -64632"/>
              <a:gd name="adj2" fmla="val 1313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Les sondages (anonymes) </a:t>
            </a:r>
            <a:r>
              <a:rPr lang="fr-FR" sz="1200" dirty="0">
                <a:solidFill>
                  <a:schemeClr val="tx1"/>
                </a:solidFill>
              </a:rPr>
              <a:t>indiquent que :</a:t>
            </a:r>
          </a:p>
          <a:p>
            <a:pPr marL="171450" indent="-171450">
              <a:buFontTx/>
              <a:buChar char="-"/>
            </a:pPr>
            <a:r>
              <a:rPr lang="fr-FR" sz="1200" dirty="0">
                <a:solidFill>
                  <a:schemeClr val="tx1"/>
                </a:solidFill>
              </a:rPr>
              <a:t>Les contenus de la Communauté sont stimulants et permettent de sortir du quotidien, même en replay ou en résumé</a:t>
            </a:r>
          </a:p>
          <a:p>
            <a:pPr marL="171450" indent="-171450">
              <a:buFontTx/>
              <a:buChar char="-"/>
            </a:pPr>
            <a:r>
              <a:rPr lang="fr-FR" sz="1200" dirty="0">
                <a:solidFill>
                  <a:schemeClr val="tx1"/>
                </a:solidFill>
              </a:rPr>
              <a:t>Beaucoup de participants ne se sentent pas à l’aise avec partager leurs problèmes en communauté mais préféreraient en individuel</a:t>
            </a:r>
          </a:p>
        </p:txBody>
      </p:sp>
      <p:sp>
        <p:nvSpPr>
          <p:cNvPr id="13" name="ZoneTexte 12">
            <a:extLst>
              <a:ext uri="{FF2B5EF4-FFF2-40B4-BE49-F238E27FC236}">
                <a16:creationId xmlns:a16="http://schemas.microsoft.com/office/drawing/2014/main" id="{2F60EDDD-004C-5BA7-E787-49F1F02FDADC}"/>
              </a:ext>
            </a:extLst>
          </p:cNvPr>
          <p:cNvSpPr txBox="1"/>
          <p:nvPr/>
        </p:nvSpPr>
        <p:spPr>
          <a:xfrm>
            <a:off x="2916790" y="3391464"/>
            <a:ext cx="1528070" cy="307777"/>
          </a:xfrm>
          <a:prstGeom prst="rect">
            <a:avLst/>
          </a:prstGeom>
          <a:noFill/>
        </p:spPr>
        <p:txBody>
          <a:bodyPr wrap="square">
            <a:spAutoFit/>
          </a:bodyPr>
          <a:lstStyle/>
          <a:p>
            <a:pPr algn="ctr"/>
            <a:r>
              <a:rPr lang="fr-FR" sz="1400" b="1" dirty="0">
                <a:solidFill>
                  <a:schemeClr val="tx1"/>
                </a:solidFill>
              </a:rPr>
              <a:t>Scénario 1</a:t>
            </a:r>
          </a:p>
        </p:txBody>
      </p:sp>
      <p:sp>
        <p:nvSpPr>
          <p:cNvPr id="14" name="ZoneTexte 13">
            <a:extLst>
              <a:ext uri="{FF2B5EF4-FFF2-40B4-BE49-F238E27FC236}">
                <a16:creationId xmlns:a16="http://schemas.microsoft.com/office/drawing/2014/main" id="{3F9C3939-FC06-616A-E234-1FAEF9C9EFA7}"/>
              </a:ext>
            </a:extLst>
          </p:cNvPr>
          <p:cNvSpPr txBox="1"/>
          <p:nvPr/>
        </p:nvSpPr>
        <p:spPr>
          <a:xfrm>
            <a:off x="7515322" y="3382587"/>
            <a:ext cx="4676677" cy="307777"/>
          </a:xfrm>
          <a:prstGeom prst="rect">
            <a:avLst/>
          </a:prstGeom>
          <a:noFill/>
        </p:spPr>
        <p:txBody>
          <a:bodyPr wrap="square">
            <a:spAutoFit/>
          </a:bodyPr>
          <a:lstStyle/>
          <a:p>
            <a:pPr algn="ctr"/>
            <a:r>
              <a:rPr lang="fr-FR" sz="1400" b="1" dirty="0">
                <a:solidFill>
                  <a:schemeClr val="tx1"/>
                </a:solidFill>
              </a:rPr>
              <a:t>Scénario 2</a:t>
            </a:r>
          </a:p>
        </p:txBody>
      </p:sp>
      <p:sp>
        <p:nvSpPr>
          <p:cNvPr id="15" name="ZoneTexte 14">
            <a:extLst>
              <a:ext uri="{FF2B5EF4-FFF2-40B4-BE49-F238E27FC236}">
                <a16:creationId xmlns:a16="http://schemas.microsoft.com/office/drawing/2014/main" id="{DF597625-F41E-4868-D8B1-6C43B3A147BB}"/>
              </a:ext>
            </a:extLst>
          </p:cNvPr>
          <p:cNvSpPr txBox="1"/>
          <p:nvPr/>
        </p:nvSpPr>
        <p:spPr>
          <a:xfrm>
            <a:off x="5387634" y="1170894"/>
            <a:ext cx="2583402" cy="307777"/>
          </a:xfrm>
          <a:prstGeom prst="rect">
            <a:avLst/>
          </a:prstGeom>
          <a:noFill/>
        </p:spPr>
        <p:txBody>
          <a:bodyPr wrap="square">
            <a:spAutoFit/>
          </a:bodyPr>
          <a:lstStyle/>
          <a:p>
            <a:pPr algn="ctr"/>
            <a:r>
              <a:rPr lang="fr-FR" sz="1400" b="1" dirty="0">
                <a:solidFill>
                  <a:schemeClr val="tx1"/>
                </a:solidFill>
              </a:rPr>
              <a:t>Information de base</a:t>
            </a:r>
          </a:p>
        </p:txBody>
      </p:sp>
      <p:sp>
        <p:nvSpPr>
          <p:cNvPr id="16" name="Flèche : bas 15">
            <a:extLst>
              <a:ext uri="{FF2B5EF4-FFF2-40B4-BE49-F238E27FC236}">
                <a16:creationId xmlns:a16="http://schemas.microsoft.com/office/drawing/2014/main" id="{8703CAF0-34C0-E3DC-1293-CA62CB9E018B}"/>
              </a:ext>
            </a:extLst>
          </p:cNvPr>
          <p:cNvSpPr/>
          <p:nvPr/>
        </p:nvSpPr>
        <p:spPr>
          <a:xfrm rot="2350913">
            <a:off x="4173247" y="2873998"/>
            <a:ext cx="816745" cy="58447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Flèche : bas 16">
            <a:extLst>
              <a:ext uri="{FF2B5EF4-FFF2-40B4-BE49-F238E27FC236}">
                <a16:creationId xmlns:a16="http://schemas.microsoft.com/office/drawing/2014/main" id="{6CA9C648-8317-386A-1B1B-9D7270BDE1ED}"/>
              </a:ext>
            </a:extLst>
          </p:cNvPr>
          <p:cNvSpPr/>
          <p:nvPr/>
        </p:nvSpPr>
        <p:spPr>
          <a:xfrm rot="19280464">
            <a:off x="8238516" y="2872774"/>
            <a:ext cx="816745" cy="58447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ZoneTexte 17">
            <a:extLst>
              <a:ext uri="{FF2B5EF4-FFF2-40B4-BE49-F238E27FC236}">
                <a16:creationId xmlns:a16="http://schemas.microsoft.com/office/drawing/2014/main" id="{7F10A287-59ED-CCFA-4226-F38A66B79DB7}"/>
              </a:ext>
            </a:extLst>
          </p:cNvPr>
          <p:cNvSpPr txBox="1"/>
          <p:nvPr/>
        </p:nvSpPr>
        <p:spPr>
          <a:xfrm>
            <a:off x="498596" y="1716351"/>
            <a:ext cx="1969396" cy="965355"/>
          </a:xfrm>
          <a:prstGeom prst="rect">
            <a:avLst/>
          </a:prstGeom>
          <a:noFill/>
          <a:ln>
            <a:solidFill>
              <a:schemeClr val="tx1"/>
            </a:solidFill>
          </a:ln>
        </p:spPr>
        <p:txBody>
          <a:bodyPr wrap="square">
            <a:noAutofit/>
          </a:bodyPr>
          <a:lstStyle/>
          <a:p>
            <a:pPr algn="ctr"/>
            <a:r>
              <a:rPr lang="fr-FR" sz="1200" dirty="0"/>
              <a:t>La Communauté XYZ est une Communauté de pratique. Les Community Boosters se posent la question de la valeur pour les membres.</a:t>
            </a:r>
          </a:p>
        </p:txBody>
      </p:sp>
      <p:cxnSp>
        <p:nvCxnSpPr>
          <p:cNvPr id="19" name="Connecteur droit 18">
            <a:extLst>
              <a:ext uri="{FF2B5EF4-FFF2-40B4-BE49-F238E27FC236}">
                <a16:creationId xmlns:a16="http://schemas.microsoft.com/office/drawing/2014/main" id="{F1510CC9-5801-7B69-F991-318F51C880CA}"/>
              </a:ext>
            </a:extLst>
          </p:cNvPr>
          <p:cNvCxnSpPr>
            <a:cxnSpLocks/>
          </p:cNvCxnSpPr>
          <p:nvPr/>
        </p:nvCxnSpPr>
        <p:spPr>
          <a:xfrm>
            <a:off x="6214366" y="3559946"/>
            <a:ext cx="0" cy="31160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89684380"/>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7993A3D-DFBE-6948-4607-0DF04715E9F1}"/>
              </a:ext>
            </a:extLst>
          </p:cNvPr>
          <p:cNvSpPr>
            <a:spLocks noGrp="1"/>
          </p:cNvSpPr>
          <p:nvPr>
            <p:ph type="title"/>
          </p:nvPr>
        </p:nvSpPr>
        <p:spPr>
          <a:xfrm>
            <a:off x="838200" y="365125"/>
            <a:ext cx="10515600" cy="671195"/>
          </a:xfrm>
        </p:spPr>
        <p:txBody>
          <a:bodyPr>
            <a:normAutofit fontScale="90000"/>
          </a:bodyPr>
          <a:lstStyle/>
          <a:p>
            <a:r>
              <a:rPr lang="fr-FR" sz="3600" dirty="0"/>
              <a:t>Niveaux de renseignement et risques situationnels associés</a:t>
            </a:r>
          </a:p>
        </p:txBody>
      </p:sp>
      <p:cxnSp>
        <p:nvCxnSpPr>
          <p:cNvPr id="11" name="Connecteur droit avec flèche 10">
            <a:extLst>
              <a:ext uri="{FF2B5EF4-FFF2-40B4-BE49-F238E27FC236}">
                <a16:creationId xmlns:a16="http://schemas.microsoft.com/office/drawing/2014/main" id="{9E40582A-A3BB-B947-1CBE-DAB43B376EE6}"/>
              </a:ext>
            </a:extLst>
          </p:cNvPr>
          <p:cNvCxnSpPr>
            <a:cxnSpLocks/>
          </p:cNvCxnSpPr>
          <p:nvPr/>
        </p:nvCxnSpPr>
        <p:spPr>
          <a:xfrm flipV="1">
            <a:off x="1054100" y="1981200"/>
            <a:ext cx="0" cy="4255625"/>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Connecteur droit avec flèche 11">
            <a:extLst>
              <a:ext uri="{FF2B5EF4-FFF2-40B4-BE49-F238E27FC236}">
                <a16:creationId xmlns:a16="http://schemas.microsoft.com/office/drawing/2014/main" id="{FB7A70C6-3FF0-5806-3531-FF60556BDBB9}"/>
              </a:ext>
            </a:extLst>
          </p:cNvPr>
          <p:cNvCxnSpPr>
            <a:cxnSpLocks/>
          </p:cNvCxnSpPr>
          <p:nvPr/>
        </p:nvCxnSpPr>
        <p:spPr>
          <a:xfrm>
            <a:off x="723900" y="5816600"/>
            <a:ext cx="10191750" cy="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7" name="Graphique 16" descr="Femme scientifique avec un remplissage uni">
            <a:extLst>
              <a:ext uri="{FF2B5EF4-FFF2-40B4-BE49-F238E27FC236}">
                <a16:creationId xmlns:a16="http://schemas.microsoft.com/office/drawing/2014/main" id="{2993FFFB-5899-5EC8-6223-70E3C2F5F8F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581647" y="1016272"/>
            <a:ext cx="944906" cy="944906"/>
          </a:xfrm>
          <a:prstGeom prst="rect">
            <a:avLst/>
          </a:prstGeom>
        </p:spPr>
      </p:pic>
      <p:pic>
        <p:nvPicPr>
          <p:cNvPr id="18" name="Graphique 17" descr="Femme détective avec un remplissage uni">
            <a:extLst>
              <a:ext uri="{FF2B5EF4-FFF2-40B4-BE49-F238E27FC236}">
                <a16:creationId xmlns:a16="http://schemas.microsoft.com/office/drawing/2014/main" id="{EFCA7DBA-95A7-0B9F-D976-7C4E33978759}"/>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10076"/>
          <a:stretch/>
        </p:blipFill>
        <p:spPr>
          <a:xfrm>
            <a:off x="11032342" y="5267656"/>
            <a:ext cx="871515" cy="969169"/>
          </a:xfrm>
          <a:prstGeom prst="rect">
            <a:avLst/>
          </a:prstGeom>
        </p:spPr>
      </p:pic>
      <p:sp>
        <p:nvSpPr>
          <p:cNvPr id="22" name="ZoneTexte 21">
            <a:extLst>
              <a:ext uri="{FF2B5EF4-FFF2-40B4-BE49-F238E27FC236}">
                <a16:creationId xmlns:a16="http://schemas.microsoft.com/office/drawing/2014/main" id="{7C3DBEF5-C64F-8654-74AD-9700828BEB65}"/>
              </a:ext>
            </a:extLst>
          </p:cNvPr>
          <p:cNvSpPr txBox="1"/>
          <p:nvPr/>
        </p:nvSpPr>
        <p:spPr>
          <a:xfrm>
            <a:off x="1371601" y="1016272"/>
            <a:ext cx="1943099" cy="954107"/>
          </a:xfrm>
          <a:prstGeom prst="rect">
            <a:avLst/>
          </a:prstGeom>
          <a:noFill/>
        </p:spPr>
        <p:txBody>
          <a:bodyPr wrap="square">
            <a:spAutoFit/>
          </a:bodyPr>
          <a:lstStyle/>
          <a:p>
            <a:r>
              <a:rPr lang="fr-FR" sz="1400" b="1" dirty="0"/>
              <a:t>Richesse des informations issues des renseignements délibérés</a:t>
            </a:r>
          </a:p>
        </p:txBody>
      </p:sp>
      <p:sp>
        <p:nvSpPr>
          <p:cNvPr id="23" name="ZoneTexte 22">
            <a:extLst>
              <a:ext uri="{FF2B5EF4-FFF2-40B4-BE49-F238E27FC236}">
                <a16:creationId xmlns:a16="http://schemas.microsoft.com/office/drawing/2014/main" id="{4AB69F53-D859-9843-C433-5A71A5A2C6C2}"/>
              </a:ext>
            </a:extLst>
          </p:cNvPr>
          <p:cNvSpPr txBox="1"/>
          <p:nvPr/>
        </p:nvSpPr>
        <p:spPr>
          <a:xfrm>
            <a:off x="9948624" y="6119336"/>
            <a:ext cx="2167435" cy="738664"/>
          </a:xfrm>
          <a:prstGeom prst="rect">
            <a:avLst/>
          </a:prstGeom>
          <a:noFill/>
        </p:spPr>
        <p:txBody>
          <a:bodyPr wrap="square">
            <a:spAutoFit/>
          </a:bodyPr>
          <a:lstStyle/>
          <a:p>
            <a:r>
              <a:rPr lang="fr-FR" sz="1400" b="1" dirty="0"/>
              <a:t>Richesse des informations issues des renseignements par interception</a:t>
            </a:r>
          </a:p>
        </p:txBody>
      </p:sp>
      <p:sp>
        <p:nvSpPr>
          <p:cNvPr id="24" name="ZoneTexte 23">
            <a:extLst>
              <a:ext uri="{FF2B5EF4-FFF2-40B4-BE49-F238E27FC236}">
                <a16:creationId xmlns:a16="http://schemas.microsoft.com/office/drawing/2014/main" id="{CB45836F-5A9D-3409-0686-D3C307C760CE}"/>
              </a:ext>
            </a:extLst>
          </p:cNvPr>
          <p:cNvSpPr txBox="1"/>
          <p:nvPr/>
        </p:nvSpPr>
        <p:spPr>
          <a:xfrm>
            <a:off x="1" y="2601403"/>
            <a:ext cx="927098" cy="307777"/>
          </a:xfrm>
          <a:prstGeom prst="rect">
            <a:avLst/>
          </a:prstGeom>
          <a:noFill/>
        </p:spPr>
        <p:txBody>
          <a:bodyPr wrap="square">
            <a:spAutoFit/>
          </a:bodyPr>
          <a:lstStyle/>
          <a:p>
            <a:pPr algn="r"/>
            <a:r>
              <a:rPr lang="fr-FR" sz="1400" b="1" dirty="0"/>
              <a:t>Riche</a:t>
            </a:r>
          </a:p>
        </p:txBody>
      </p:sp>
      <p:sp>
        <p:nvSpPr>
          <p:cNvPr id="25" name="ZoneTexte 24">
            <a:extLst>
              <a:ext uri="{FF2B5EF4-FFF2-40B4-BE49-F238E27FC236}">
                <a16:creationId xmlns:a16="http://schemas.microsoft.com/office/drawing/2014/main" id="{B6A724D4-42FC-20E5-E6E8-40318311FDC8}"/>
              </a:ext>
            </a:extLst>
          </p:cNvPr>
          <p:cNvSpPr txBox="1"/>
          <p:nvPr/>
        </p:nvSpPr>
        <p:spPr>
          <a:xfrm>
            <a:off x="0" y="3802797"/>
            <a:ext cx="927099" cy="307777"/>
          </a:xfrm>
          <a:prstGeom prst="rect">
            <a:avLst/>
          </a:prstGeom>
          <a:noFill/>
        </p:spPr>
        <p:txBody>
          <a:bodyPr wrap="square">
            <a:spAutoFit/>
          </a:bodyPr>
          <a:lstStyle/>
          <a:p>
            <a:pPr algn="r"/>
            <a:r>
              <a:rPr lang="fr-FR" sz="1400" b="1" dirty="0"/>
              <a:t>Moyenne</a:t>
            </a:r>
          </a:p>
        </p:txBody>
      </p:sp>
      <p:sp>
        <p:nvSpPr>
          <p:cNvPr id="26" name="ZoneTexte 25">
            <a:extLst>
              <a:ext uri="{FF2B5EF4-FFF2-40B4-BE49-F238E27FC236}">
                <a16:creationId xmlns:a16="http://schemas.microsoft.com/office/drawing/2014/main" id="{ABC3A582-6549-C9B2-9D78-6BED85AA5159}"/>
              </a:ext>
            </a:extLst>
          </p:cNvPr>
          <p:cNvSpPr txBox="1"/>
          <p:nvPr/>
        </p:nvSpPr>
        <p:spPr>
          <a:xfrm>
            <a:off x="0" y="5051819"/>
            <a:ext cx="927099" cy="307777"/>
          </a:xfrm>
          <a:prstGeom prst="rect">
            <a:avLst/>
          </a:prstGeom>
          <a:noFill/>
        </p:spPr>
        <p:txBody>
          <a:bodyPr wrap="square">
            <a:spAutoFit/>
          </a:bodyPr>
          <a:lstStyle/>
          <a:p>
            <a:pPr algn="r"/>
            <a:r>
              <a:rPr lang="fr-FR" sz="1400" b="1" dirty="0"/>
              <a:t>Pauvre</a:t>
            </a:r>
          </a:p>
        </p:txBody>
      </p:sp>
      <p:sp>
        <p:nvSpPr>
          <p:cNvPr id="27" name="ZoneTexte 26">
            <a:extLst>
              <a:ext uri="{FF2B5EF4-FFF2-40B4-BE49-F238E27FC236}">
                <a16:creationId xmlns:a16="http://schemas.microsoft.com/office/drawing/2014/main" id="{10D49E4D-3F2C-57DB-1982-02BB0549C191}"/>
              </a:ext>
            </a:extLst>
          </p:cNvPr>
          <p:cNvSpPr txBox="1"/>
          <p:nvPr/>
        </p:nvSpPr>
        <p:spPr>
          <a:xfrm>
            <a:off x="8244577" y="5952350"/>
            <a:ext cx="927098" cy="307777"/>
          </a:xfrm>
          <a:prstGeom prst="rect">
            <a:avLst/>
          </a:prstGeom>
          <a:noFill/>
        </p:spPr>
        <p:txBody>
          <a:bodyPr wrap="square">
            <a:spAutoFit/>
          </a:bodyPr>
          <a:lstStyle/>
          <a:p>
            <a:pPr algn="r"/>
            <a:r>
              <a:rPr lang="fr-FR" sz="1400" b="1" dirty="0"/>
              <a:t>Riche</a:t>
            </a:r>
          </a:p>
        </p:txBody>
      </p:sp>
      <p:sp>
        <p:nvSpPr>
          <p:cNvPr id="28" name="ZoneTexte 27">
            <a:extLst>
              <a:ext uri="{FF2B5EF4-FFF2-40B4-BE49-F238E27FC236}">
                <a16:creationId xmlns:a16="http://schemas.microsoft.com/office/drawing/2014/main" id="{7DEBA7EB-049E-D9F5-C83E-CED20B97D33A}"/>
              </a:ext>
            </a:extLst>
          </p:cNvPr>
          <p:cNvSpPr txBox="1"/>
          <p:nvPr/>
        </p:nvSpPr>
        <p:spPr>
          <a:xfrm>
            <a:off x="4788233" y="5952350"/>
            <a:ext cx="927099" cy="307777"/>
          </a:xfrm>
          <a:prstGeom prst="rect">
            <a:avLst/>
          </a:prstGeom>
          <a:noFill/>
        </p:spPr>
        <p:txBody>
          <a:bodyPr wrap="square">
            <a:spAutoFit/>
          </a:bodyPr>
          <a:lstStyle/>
          <a:p>
            <a:pPr algn="r"/>
            <a:r>
              <a:rPr lang="fr-FR" sz="1400" b="1" dirty="0"/>
              <a:t>Moyenne</a:t>
            </a:r>
          </a:p>
        </p:txBody>
      </p:sp>
      <p:sp>
        <p:nvSpPr>
          <p:cNvPr id="29" name="ZoneTexte 28">
            <a:extLst>
              <a:ext uri="{FF2B5EF4-FFF2-40B4-BE49-F238E27FC236}">
                <a16:creationId xmlns:a16="http://schemas.microsoft.com/office/drawing/2014/main" id="{BB1F43B8-8D56-E3B1-C8B0-1E270B935E59}"/>
              </a:ext>
            </a:extLst>
          </p:cNvPr>
          <p:cNvSpPr txBox="1"/>
          <p:nvPr/>
        </p:nvSpPr>
        <p:spPr>
          <a:xfrm>
            <a:off x="1331889" y="5952350"/>
            <a:ext cx="927099" cy="307777"/>
          </a:xfrm>
          <a:prstGeom prst="rect">
            <a:avLst/>
          </a:prstGeom>
          <a:noFill/>
        </p:spPr>
        <p:txBody>
          <a:bodyPr wrap="square">
            <a:spAutoFit/>
          </a:bodyPr>
          <a:lstStyle/>
          <a:p>
            <a:pPr algn="r"/>
            <a:r>
              <a:rPr lang="fr-FR" sz="1400" b="1" dirty="0"/>
              <a:t>Pauvre</a:t>
            </a:r>
          </a:p>
        </p:txBody>
      </p:sp>
      <p:sp>
        <p:nvSpPr>
          <p:cNvPr id="42" name="Rectangle 41">
            <a:extLst>
              <a:ext uri="{FF2B5EF4-FFF2-40B4-BE49-F238E27FC236}">
                <a16:creationId xmlns:a16="http://schemas.microsoft.com/office/drawing/2014/main" id="{2E8E7A6F-5395-E743-C926-2737FD987ED6}"/>
              </a:ext>
            </a:extLst>
          </p:cNvPr>
          <p:cNvSpPr/>
          <p:nvPr/>
        </p:nvSpPr>
        <p:spPr>
          <a:xfrm>
            <a:off x="1141502" y="4656347"/>
            <a:ext cx="1577083" cy="1091441"/>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Très peu de charge de travail de renseignement délibéré ou d’interprétation de renseignement par interception. L’effort peut se centrer sur l’activité et l’intention…</a:t>
            </a:r>
          </a:p>
        </p:txBody>
      </p:sp>
      <p:sp>
        <p:nvSpPr>
          <p:cNvPr id="43" name="Rectangle 42">
            <a:extLst>
              <a:ext uri="{FF2B5EF4-FFF2-40B4-BE49-F238E27FC236}">
                <a16:creationId xmlns:a16="http://schemas.microsoft.com/office/drawing/2014/main" id="{7949C132-3F41-A54A-DBF1-94BF3EB8307F}"/>
              </a:ext>
            </a:extLst>
          </p:cNvPr>
          <p:cNvSpPr/>
          <p:nvPr/>
        </p:nvSpPr>
        <p:spPr>
          <a:xfrm>
            <a:off x="2757972" y="4656347"/>
            <a:ext cx="1577083" cy="1091441"/>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…mais les décisions « en aveugle », risques de fatigue par désalignements non détectés (tensions entre valeur attendue, officielle et effective).</a:t>
            </a:r>
          </a:p>
        </p:txBody>
      </p:sp>
      <p:sp>
        <p:nvSpPr>
          <p:cNvPr id="44" name="Rectangle 43">
            <a:extLst>
              <a:ext uri="{FF2B5EF4-FFF2-40B4-BE49-F238E27FC236}">
                <a16:creationId xmlns:a16="http://schemas.microsoft.com/office/drawing/2014/main" id="{C1C1BE42-7F12-0C31-F781-175C46C138E1}"/>
              </a:ext>
            </a:extLst>
          </p:cNvPr>
          <p:cNvSpPr/>
          <p:nvPr/>
        </p:nvSpPr>
        <p:spPr>
          <a:xfrm>
            <a:off x="1141502" y="2026823"/>
            <a:ext cx="1577083" cy="1091441"/>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La Communauté peut être « Data-</a:t>
            </a:r>
            <a:r>
              <a:rPr lang="fr-FR" sz="900" dirty="0" err="1">
                <a:solidFill>
                  <a:schemeClr val="tx1"/>
                </a:solidFill>
              </a:rPr>
              <a:t>driven</a:t>
            </a:r>
            <a:r>
              <a:rPr lang="fr-FR" sz="900" dirty="0">
                <a:solidFill>
                  <a:schemeClr val="tx1"/>
                </a:solidFill>
              </a:rPr>
              <a:t> », les décisions sont justes sur le papier…</a:t>
            </a:r>
          </a:p>
        </p:txBody>
      </p:sp>
      <p:sp>
        <p:nvSpPr>
          <p:cNvPr id="45" name="Rectangle 44">
            <a:extLst>
              <a:ext uri="{FF2B5EF4-FFF2-40B4-BE49-F238E27FC236}">
                <a16:creationId xmlns:a16="http://schemas.microsoft.com/office/drawing/2014/main" id="{5D475132-413D-0DD1-9E75-23112B6C2D11}"/>
              </a:ext>
            </a:extLst>
          </p:cNvPr>
          <p:cNvSpPr/>
          <p:nvPr/>
        </p:nvSpPr>
        <p:spPr>
          <a:xfrm>
            <a:off x="2736411" y="2026823"/>
            <a:ext cx="1577083" cy="1091441"/>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fr-FR" sz="900" dirty="0">
                <a:solidFill>
                  <a:schemeClr val="tx1"/>
                </a:solidFill>
              </a:rPr>
              <a:t>…mais potentiellement déconnectées du terrain. </a:t>
            </a:r>
          </a:p>
          <a:p>
            <a:r>
              <a:rPr lang="fr-FR" sz="900" dirty="0">
                <a:solidFill>
                  <a:schemeClr val="tx1"/>
                </a:solidFill>
              </a:rPr>
              <a:t>Risques de tension entre valeur officielle et effective.</a:t>
            </a:r>
          </a:p>
        </p:txBody>
      </p:sp>
      <p:sp>
        <p:nvSpPr>
          <p:cNvPr id="46" name="Rectangle 45">
            <a:extLst>
              <a:ext uri="{FF2B5EF4-FFF2-40B4-BE49-F238E27FC236}">
                <a16:creationId xmlns:a16="http://schemas.microsoft.com/office/drawing/2014/main" id="{499D3D37-FFEF-D943-3766-98134241ED1D}"/>
              </a:ext>
            </a:extLst>
          </p:cNvPr>
          <p:cNvSpPr/>
          <p:nvPr/>
        </p:nvSpPr>
        <p:spPr>
          <a:xfrm>
            <a:off x="7501438" y="1967360"/>
            <a:ext cx="1577083" cy="1091441"/>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900" dirty="0">
                <a:solidFill>
                  <a:schemeClr val="tx1"/>
                </a:solidFill>
              </a:rPr>
              <a:t>Très bonne information à propos de la Communauté et décisions plus facilement appuyées…</a:t>
            </a:r>
          </a:p>
        </p:txBody>
      </p:sp>
      <p:sp>
        <p:nvSpPr>
          <p:cNvPr id="47" name="Rectangle 46">
            <a:extLst>
              <a:ext uri="{FF2B5EF4-FFF2-40B4-BE49-F238E27FC236}">
                <a16:creationId xmlns:a16="http://schemas.microsoft.com/office/drawing/2014/main" id="{6CF4D5B2-53D5-5886-4F0F-788E2B05A3F5}"/>
              </a:ext>
            </a:extLst>
          </p:cNvPr>
          <p:cNvSpPr/>
          <p:nvPr/>
        </p:nvSpPr>
        <p:spPr>
          <a:xfrm>
            <a:off x="9096346" y="1967360"/>
            <a:ext cx="1577083" cy="1091441"/>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fr-FR" sz="900" dirty="0">
                <a:solidFill>
                  <a:schemeClr val="tx1"/>
                </a:solidFill>
              </a:rPr>
              <a:t>…mais risques de ralentissements liés à la richesse de l’information (surcharge, fatigue, difficultés à gérer le désordre). Moins de prise de risque et de sérendipité</a:t>
            </a:r>
          </a:p>
        </p:txBody>
      </p:sp>
      <p:sp>
        <p:nvSpPr>
          <p:cNvPr id="48" name="Rectangle 47">
            <a:extLst>
              <a:ext uri="{FF2B5EF4-FFF2-40B4-BE49-F238E27FC236}">
                <a16:creationId xmlns:a16="http://schemas.microsoft.com/office/drawing/2014/main" id="{CB21434A-8FE5-FCEB-E956-C071E47008F2}"/>
              </a:ext>
            </a:extLst>
          </p:cNvPr>
          <p:cNvSpPr/>
          <p:nvPr/>
        </p:nvSpPr>
        <p:spPr>
          <a:xfrm>
            <a:off x="7522207" y="4656347"/>
            <a:ext cx="1577083" cy="1091441"/>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fr-FR" sz="900" dirty="0">
                <a:solidFill>
                  <a:schemeClr val="tx1"/>
                </a:solidFill>
              </a:rPr>
              <a:t>Intégration forte au terrain, mais très peu d’information officielle ou quantitative. « Informellement ça tourne »…</a:t>
            </a:r>
          </a:p>
        </p:txBody>
      </p:sp>
      <p:sp>
        <p:nvSpPr>
          <p:cNvPr id="49" name="Rectangle 48">
            <a:extLst>
              <a:ext uri="{FF2B5EF4-FFF2-40B4-BE49-F238E27FC236}">
                <a16:creationId xmlns:a16="http://schemas.microsoft.com/office/drawing/2014/main" id="{5F171C8D-B6B8-0072-CF93-4248AFB563C7}"/>
              </a:ext>
            </a:extLst>
          </p:cNvPr>
          <p:cNvSpPr/>
          <p:nvPr/>
        </p:nvSpPr>
        <p:spPr>
          <a:xfrm>
            <a:off x="9117116" y="4656347"/>
            <a:ext cx="1577083" cy="1091441"/>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fr-FR" sz="900" dirty="0">
                <a:solidFill>
                  <a:schemeClr val="tx1"/>
                </a:solidFill>
              </a:rPr>
              <a:t>…mais risques de difficultés pour justifier certaines décisions sans données. Risques de tensions entre valeur attendue et valeur officialisée. Manque de quantitatif, risque de généralisation hâtive.</a:t>
            </a:r>
          </a:p>
        </p:txBody>
      </p:sp>
    </p:spTree>
    <p:extLst>
      <p:ext uri="{BB962C8B-B14F-4D97-AF65-F5344CB8AC3E}">
        <p14:creationId xmlns:p14="http://schemas.microsoft.com/office/powerpoint/2010/main" val="544735621"/>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AE65D78-5FE8-DC39-E639-218C260325AF}"/>
              </a:ext>
            </a:extLst>
          </p:cNvPr>
          <p:cNvSpPr>
            <a:spLocks noGrp="1"/>
          </p:cNvSpPr>
          <p:nvPr>
            <p:ph type="title"/>
          </p:nvPr>
        </p:nvSpPr>
        <p:spPr>
          <a:xfrm>
            <a:off x="1704975" y="365125"/>
            <a:ext cx="9648824" cy="1011701"/>
          </a:xfrm>
        </p:spPr>
        <p:txBody>
          <a:bodyPr>
            <a:normAutofit/>
          </a:bodyPr>
          <a:lstStyle/>
          <a:p>
            <a:r>
              <a:rPr lang="fr-FR" sz="3200" dirty="0"/>
              <a:t>De l’action de renseignement au réseau de renseignement de la Communauté</a:t>
            </a:r>
          </a:p>
        </p:txBody>
      </p:sp>
      <p:sp>
        <p:nvSpPr>
          <p:cNvPr id="3" name="Espace réservé du contenu 2">
            <a:extLst>
              <a:ext uri="{FF2B5EF4-FFF2-40B4-BE49-F238E27FC236}">
                <a16:creationId xmlns:a16="http://schemas.microsoft.com/office/drawing/2014/main" id="{28881CE1-9D39-CA3B-291E-EE10B95ABAB4}"/>
              </a:ext>
            </a:extLst>
          </p:cNvPr>
          <p:cNvSpPr>
            <a:spLocks noGrp="1"/>
          </p:cNvSpPr>
          <p:nvPr>
            <p:ph idx="1"/>
          </p:nvPr>
        </p:nvSpPr>
        <p:spPr>
          <a:xfrm>
            <a:off x="553883" y="1910010"/>
            <a:ext cx="3629025" cy="4667251"/>
          </a:xfrm>
        </p:spPr>
        <p:txBody>
          <a:bodyPr>
            <a:normAutofit lnSpcReduction="10000"/>
          </a:bodyPr>
          <a:lstStyle/>
          <a:p>
            <a:pPr marL="0" indent="0">
              <a:buNone/>
            </a:pPr>
            <a:r>
              <a:rPr lang="fr-FR" sz="1400" dirty="0"/>
              <a:t>Le renseignement étant « en continu » et nécessitant une grande activité et une présence répartie, il peut être intéressant de développer un réseau de renseignement pour s’informer sur la Communauté. </a:t>
            </a:r>
          </a:p>
          <a:p>
            <a:pPr marL="0" indent="0">
              <a:buNone/>
            </a:pPr>
            <a:endParaRPr lang="fr-FR" sz="1400" dirty="0"/>
          </a:p>
          <a:p>
            <a:pPr marL="0" indent="0">
              <a:buNone/>
            </a:pPr>
            <a:r>
              <a:rPr lang="fr-FR" sz="1400" dirty="0"/>
              <a:t>Ce réseau de renseignement peut être formel ou (plus souvent) informel. Il a rarement à être caché des membres ou des sponsors, et s’appuie sur une confiance forte voire très forte (au moins dans la fiabilité des informations et l’intégrité des membres du réseau).</a:t>
            </a:r>
          </a:p>
          <a:p>
            <a:pPr marL="0" indent="0">
              <a:buNone/>
            </a:pPr>
            <a:endParaRPr lang="fr-FR" sz="1400" dirty="0"/>
          </a:p>
          <a:p>
            <a:pPr marL="0" indent="0">
              <a:buNone/>
            </a:pPr>
            <a:r>
              <a:rPr lang="fr-FR" sz="1400" dirty="0"/>
              <a:t>Il se compose de personnes clés (pas forcément liées entre elles au quotidien) qui ont des propensions, des compétences naturelles et des situations adéquates pour le renseignement par interception.</a:t>
            </a:r>
          </a:p>
          <a:p>
            <a:pPr marL="0" indent="0">
              <a:buNone/>
            </a:pPr>
            <a:endParaRPr lang="fr-FR" sz="1400" dirty="0"/>
          </a:p>
          <a:p>
            <a:pPr marL="0" indent="0">
              <a:buNone/>
            </a:pPr>
            <a:r>
              <a:rPr lang="fr-FR" sz="1400" dirty="0"/>
              <a:t>Ce réseau de renseignement peut aussi être un moteur fort dans le renseignement délibéré.</a:t>
            </a:r>
          </a:p>
          <a:p>
            <a:pPr marL="0" indent="0">
              <a:buNone/>
            </a:pPr>
            <a:endParaRPr lang="fr-FR" sz="1400" dirty="0"/>
          </a:p>
        </p:txBody>
      </p:sp>
      <p:grpSp>
        <p:nvGrpSpPr>
          <p:cNvPr id="66" name="Groupe 65">
            <a:extLst>
              <a:ext uri="{FF2B5EF4-FFF2-40B4-BE49-F238E27FC236}">
                <a16:creationId xmlns:a16="http://schemas.microsoft.com/office/drawing/2014/main" id="{2F1DAC52-4B64-C6D0-60A0-7ADF2614157B}"/>
              </a:ext>
            </a:extLst>
          </p:cNvPr>
          <p:cNvGrpSpPr/>
          <p:nvPr/>
        </p:nvGrpSpPr>
        <p:grpSpPr>
          <a:xfrm>
            <a:off x="4529345" y="2526384"/>
            <a:ext cx="3375301" cy="2685870"/>
            <a:chOff x="6224617" y="2272350"/>
            <a:chExt cx="4357242" cy="3467242"/>
          </a:xfrm>
        </p:grpSpPr>
        <p:pic>
          <p:nvPicPr>
            <p:cNvPr id="5" name="Graphique 4" descr="Visage portant des lunettes de soleil à remplissage uni avec un remplissage uni">
              <a:extLst>
                <a:ext uri="{FF2B5EF4-FFF2-40B4-BE49-F238E27FC236}">
                  <a16:creationId xmlns:a16="http://schemas.microsoft.com/office/drawing/2014/main" id="{4012C280-C434-911D-AA14-9FD133746F9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726670" y="3129133"/>
              <a:ext cx="397698" cy="397698"/>
            </a:xfrm>
            <a:prstGeom prst="rect">
              <a:avLst/>
            </a:prstGeom>
          </p:spPr>
        </p:pic>
        <p:pic>
          <p:nvPicPr>
            <p:cNvPr id="6" name="Graphique 5" descr="Visage portant des lunettes de soleil à remplissage uni avec un remplissage uni">
              <a:extLst>
                <a:ext uri="{FF2B5EF4-FFF2-40B4-BE49-F238E27FC236}">
                  <a16:creationId xmlns:a16="http://schemas.microsoft.com/office/drawing/2014/main" id="{69B115D7-B220-6251-2956-34D99BCE04B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975068" y="4565465"/>
              <a:ext cx="397698" cy="397698"/>
            </a:xfrm>
            <a:prstGeom prst="rect">
              <a:avLst/>
            </a:prstGeom>
          </p:spPr>
        </p:pic>
        <p:pic>
          <p:nvPicPr>
            <p:cNvPr id="8" name="Graphique 7" descr="Visage souriant à remplissage solide avec un remplissage uni">
              <a:extLst>
                <a:ext uri="{FF2B5EF4-FFF2-40B4-BE49-F238E27FC236}">
                  <a16:creationId xmlns:a16="http://schemas.microsoft.com/office/drawing/2014/main" id="{B7458569-2AD8-6060-9B2C-6B1691F0AF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507588" y="3314841"/>
              <a:ext cx="504684" cy="504684"/>
            </a:xfrm>
            <a:prstGeom prst="rect">
              <a:avLst/>
            </a:prstGeom>
          </p:spPr>
        </p:pic>
        <p:pic>
          <p:nvPicPr>
            <p:cNvPr id="9" name="Graphique 8" descr="Visage souriant à remplissage solide avec un remplissage uni">
              <a:extLst>
                <a:ext uri="{FF2B5EF4-FFF2-40B4-BE49-F238E27FC236}">
                  <a16:creationId xmlns:a16="http://schemas.microsoft.com/office/drawing/2014/main" id="{6F901EEC-0B13-6DB9-CF89-930D8B5D0CD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995370" y="4293162"/>
              <a:ext cx="504684" cy="504684"/>
            </a:xfrm>
            <a:prstGeom prst="rect">
              <a:avLst/>
            </a:prstGeom>
          </p:spPr>
        </p:pic>
        <p:pic>
          <p:nvPicPr>
            <p:cNvPr id="11" name="Graphique 10" descr="Visage sans expression avec remplissage uni avec un remplissage uni">
              <a:extLst>
                <a:ext uri="{FF2B5EF4-FFF2-40B4-BE49-F238E27FC236}">
                  <a16:creationId xmlns:a16="http://schemas.microsoft.com/office/drawing/2014/main" id="{69BCED62-58A4-4D13-030C-6942AAFFE85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268752" y="2510351"/>
              <a:ext cx="397698" cy="397698"/>
            </a:xfrm>
            <a:prstGeom prst="rect">
              <a:avLst/>
            </a:prstGeom>
          </p:spPr>
        </p:pic>
        <p:pic>
          <p:nvPicPr>
            <p:cNvPr id="12" name="Graphique 11" descr="Visage sans expression avec remplissage uni avec un remplissage uni">
              <a:extLst>
                <a:ext uri="{FF2B5EF4-FFF2-40B4-BE49-F238E27FC236}">
                  <a16:creationId xmlns:a16="http://schemas.microsoft.com/office/drawing/2014/main" id="{06941860-661E-EC9A-2698-480FD83842D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86808" y="3862021"/>
              <a:ext cx="397698" cy="397698"/>
            </a:xfrm>
            <a:prstGeom prst="rect">
              <a:avLst/>
            </a:prstGeom>
          </p:spPr>
        </p:pic>
        <p:pic>
          <p:nvPicPr>
            <p:cNvPr id="13" name="Graphique 12" descr="Visage portant des lunettes de soleil à remplissage uni avec un remplissage uni">
              <a:extLst>
                <a:ext uri="{FF2B5EF4-FFF2-40B4-BE49-F238E27FC236}">
                  <a16:creationId xmlns:a16="http://schemas.microsoft.com/office/drawing/2014/main" id="{A43BAD88-B264-BA3E-E65E-ABDD3BEC9D3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542711" y="4849984"/>
              <a:ext cx="397698" cy="397698"/>
            </a:xfrm>
            <a:prstGeom prst="rect">
              <a:avLst/>
            </a:prstGeom>
          </p:spPr>
        </p:pic>
        <p:pic>
          <p:nvPicPr>
            <p:cNvPr id="14" name="Graphique 13" descr="Visage portant des lunettes de soleil à remplissage uni avec un remplissage uni">
              <a:extLst>
                <a:ext uri="{FF2B5EF4-FFF2-40B4-BE49-F238E27FC236}">
                  <a16:creationId xmlns:a16="http://schemas.microsoft.com/office/drawing/2014/main" id="{4ED41F83-D533-1A1B-4A9E-3923EE608EA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02606" y="3483086"/>
              <a:ext cx="397698" cy="397698"/>
            </a:xfrm>
            <a:prstGeom prst="rect">
              <a:avLst/>
            </a:prstGeom>
          </p:spPr>
        </p:pic>
        <p:pic>
          <p:nvPicPr>
            <p:cNvPr id="16" name="Graphique 15" descr="Visage portant des lunettes de soleil à remplissage uni avec un remplissage uni">
              <a:extLst>
                <a:ext uri="{FF2B5EF4-FFF2-40B4-BE49-F238E27FC236}">
                  <a16:creationId xmlns:a16="http://schemas.microsoft.com/office/drawing/2014/main" id="{4B8F40AE-DBF9-E260-A4B1-343F271A210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773384" y="3085946"/>
              <a:ext cx="397698" cy="397698"/>
            </a:xfrm>
            <a:prstGeom prst="rect">
              <a:avLst/>
            </a:prstGeom>
          </p:spPr>
        </p:pic>
        <p:pic>
          <p:nvPicPr>
            <p:cNvPr id="17" name="Graphique 16" descr="Souriant avec un visage et des cœurs avec remplissage uni avec un remplissage uni">
              <a:extLst>
                <a:ext uri="{FF2B5EF4-FFF2-40B4-BE49-F238E27FC236}">
                  <a16:creationId xmlns:a16="http://schemas.microsoft.com/office/drawing/2014/main" id="{2AF0A602-9B41-7E15-293C-BFF614BF1ED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155657" y="4364049"/>
              <a:ext cx="504684" cy="504684"/>
            </a:xfrm>
            <a:prstGeom prst="rect">
              <a:avLst/>
            </a:prstGeom>
          </p:spPr>
        </p:pic>
        <p:pic>
          <p:nvPicPr>
            <p:cNvPr id="18" name="Graphique 17" descr="Visage nerveux à remplissage uni avec un remplissage uni">
              <a:extLst>
                <a:ext uri="{FF2B5EF4-FFF2-40B4-BE49-F238E27FC236}">
                  <a16:creationId xmlns:a16="http://schemas.microsoft.com/office/drawing/2014/main" id="{A867B364-B2C9-CA71-D936-6BA41442AF8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224617" y="4118780"/>
              <a:ext cx="397698" cy="397698"/>
            </a:xfrm>
            <a:prstGeom prst="rect">
              <a:avLst/>
            </a:prstGeom>
          </p:spPr>
        </p:pic>
        <p:pic>
          <p:nvPicPr>
            <p:cNvPr id="19" name="Graphique 18" descr="Visage sans expression avec remplissage uni avec un remplissage uni">
              <a:extLst>
                <a:ext uri="{FF2B5EF4-FFF2-40B4-BE49-F238E27FC236}">
                  <a16:creationId xmlns:a16="http://schemas.microsoft.com/office/drawing/2014/main" id="{4743CD7F-5020-2FA4-5562-8200FF77CF8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440069" y="4465399"/>
              <a:ext cx="397698" cy="397698"/>
            </a:xfrm>
            <a:prstGeom prst="rect">
              <a:avLst/>
            </a:prstGeom>
          </p:spPr>
        </p:pic>
        <p:pic>
          <p:nvPicPr>
            <p:cNvPr id="20" name="Graphique 19" descr="Visage sans expression avec remplissage uni avec un remplissage uni">
              <a:extLst>
                <a:ext uri="{FF2B5EF4-FFF2-40B4-BE49-F238E27FC236}">
                  <a16:creationId xmlns:a16="http://schemas.microsoft.com/office/drawing/2014/main" id="{8CF1C9C1-B3DD-7A3F-6025-5C012F52FB6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256762" y="3008375"/>
              <a:ext cx="397698" cy="397698"/>
            </a:xfrm>
            <a:prstGeom prst="rect">
              <a:avLst/>
            </a:prstGeom>
          </p:spPr>
        </p:pic>
        <p:pic>
          <p:nvPicPr>
            <p:cNvPr id="21" name="Graphique 20" descr="Visage nerveux à remplissage uni avec un remplissage uni">
              <a:extLst>
                <a:ext uri="{FF2B5EF4-FFF2-40B4-BE49-F238E27FC236}">
                  <a16:creationId xmlns:a16="http://schemas.microsoft.com/office/drawing/2014/main" id="{FACA6505-BA5E-D75D-CBBD-5C585A2DFB6F}"/>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982345" y="5254525"/>
              <a:ext cx="397698" cy="397698"/>
            </a:xfrm>
            <a:prstGeom prst="rect">
              <a:avLst/>
            </a:prstGeom>
          </p:spPr>
        </p:pic>
        <p:pic>
          <p:nvPicPr>
            <p:cNvPr id="22" name="Graphique 21" descr="Visage sans expression avec remplissage uni avec un remplissage uni">
              <a:extLst>
                <a:ext uri="{FF2B5EF4-FFF2-40B4-BE49-F238E27FC236}">
                  <a16:creationId xmlns:a16="http://schemas.microsoft.com/office/drawing/2014/main" id="{A3128B8C-AB29-BE4E-D530-A96BE3D0150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065290" y="2272350"/>
              <a:ext cx="397698" cy="397698"/>
            </a:xfrm>
            <a:prstGeom prst="rect">
              <a:avLst/>
            </a:prstGeom>
          </p:spPr>
        </p:pic>
        <p:pic>
          <p:nvPicPr>
            <p:cNvPr id="23" name="Graphique 22" descr="Visage sans expression avec remplissage uni avec un remplissage uni">
              <a:extLst>
                <a:ext uri="{FF2B5EF4-FFF2-40B4-BE49-F238E27FC236}">
                  <a16:creationId xmlns:a16="http://schemas.microsoft.com/office/drawing/2014/main" id="{30296794-7ADE-CD79-552C-14E4157C916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36342" y="4973063"/>
              <a:ext cx="397698" cy="397698"/>
            </a:xfrm>
            <a:prstGeom prst="rect">
              <a:avLst/>
            </a:prstGeom>
          </p:spPr>
        </p:pic>
        <p:pic>
          <p:nvPicPr>
            <p:cNvPr id="24" name="Graphique 23" descr="Visage sans expression avec remplissage uni avec un remplissage uni">
              <a:extLst>
                <a:ext uri="{FF2B5EF4-FFF2-40B4-BE49-F238E27FC236}">
                  <a16:creationId xmlns:a16="http://schemas.microsoft.com/office/drawing/2014/main" id="{64419476-DC9C-15D1-FF0C-9EA5801D889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184161" y="4128312"/>
              <a:ext cx="397698" cy="397698"/>
            </a:xfrm>
            <a:prstGeom prst="rect">
              <a:avLst/>
            </a:prstGeom>
          </p:spPr>
        </p:pic>
        <p:pic>
          <p:nvPicPr>
            <p:cNvPr id="25" name="Graphique 24" descr="Visage sans expression avec remplissage uni avec un remplissage uni">
              <a:extLst>
                <a:ext uri="{FF2B5EF4-FFF2-40B4-BE49-F238E27FC236}">
                  <a16:creationId xmlns:a16="http://schemas.microsoft.com/office/drawing/2014/main" id="{F190B6D7-840F-B0E1-2ACA-B130E2BD287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059218" y="4543157"/>
              <a:ext cx="397698" cy="397698"/>
            </a:xfrm>
            <a:prstGeom prst="rect">
              <a:avLst/>
            </a:prstGeom>
          </p:spPr>
        </p:pic>
        <p:pic>
          <p:nvPicPr>
            <p:cNvPr id="26" name="Graphique 25" descr="Visage nerveux à remplissage uni avec un remplissage uni">
              <a:extLst>
                <a:ext uri="{FF2B5EF4-FFF2-40B4-BE49-F238E27FC236}">
                  <a16:creationId xmlns:a16="http://schemas.microsoft.com/office/drawing/2014/main" id="{F28F0673-718E-FFC9-4325-C855035B8F2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359083" y="4818529"/>
              <a:ext cx="397698" cy="397698"/>
            </a:xfrm>
            <a:prstGeom prst="rect">
              <a:avLst/>
            </a:prstGeom>
          </p:spPr>
        </p:pic>
        <p:pic>
          <p:nvPicPr>
            <p:cNvPr id="27" name="Graphique 26" descr="Visage sans expression avec remplissage uni avec un remplissage uni">
              <a:extLst>
                <a:ext uri="{FF2B5EF4-FFF2-40B4-BE49-F238E27FC236}">
                  <a16:creationId xmlns:a16="http://schemas.microsoft.com/office/drawing/2014/main" id="{13B80209-C3B5-B703-C4EC-2666D80149D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184018" y="2860459"/>
              <a:ext cx="397698" cy="397698"/>
            </a:xfrm>
            <a:prstGeom prst="rect">
              <a:avLst/>
            </a:prstGeom>
          </p:spPr>
        </p:pic>
        <p:pic>
          <p:nvPicPr>
            <p:cNvPr id="28" name="Graphique 27" descr="Visage sans expression avec remplissage uni avec un remplissage uni">
              <a:extLst>
                <a:ext uri="{FF2B5EF4-FFF2-40B4-BE49-F238E27FC236}">
                  <a16:creationId xmlns:a16="http://schemas.microsoft.com/office/drawing/2014/main" id="{9B2BC983-E78B-86A3-3596-F4DB00CADD4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357962" y="3553616"/>
              <a:ext cx="397698" cy="397698"/>
            </a:xfrm>
            <a:prstGeom prst="rect">
              <a:avLst/>
            </a:prstGeom>
          </p:spPr>
        </p:pic>
        <p:cxnSp>
          <p:nvCxnSpPr>
            <p:cNvPr id="29" name="Connecteur droit 28">
              <a:extLst>
                <a:ext uri="{FF2B5EF4-FFF2-40B4-BE49-F238E27FC236}">
                  <a16:creationId xmlns:a16="http://schemas.microsoft.com/office/drawing/2014/main" id="{F63B3B07-DC81-3AE8-D371-0D57BC789659}"/>
                </a:ext>
              </a:extLst>
            </p:cNvPr>
            <p:cNvCxnSpPr>
              <a:cxnSpLocks/>
              <a:endCxn id="18" idx="3"/>
            </p:cNvCxnSpPr>
            <p:nvPr/>
          </p:nvCxnSpPr>
          <p:spPr>
            <a:xfrm flipH="1">
              <a:off x="6622315" y="4209748"/>
              <a:ext cx="193649" cy="107881"/>
            </a:xfrm>
            <a:prstGeom prst="line">
              <a:avLst/>
            </a:prstGeom>
          </p:spPr>
          <p:style>
            <a:lnRef idx="1">
              <a:schemeClr val="accent1"/>
            </a:lnRef>
            <a:fillRef idx="0">
              <a:schemeClr val="accent1"/>
            </a:fillRef>
            <a:effectRef idx="0">
              <a:schemeClr val="accent1"/>
            </a:effectRef>
            <a:fontRef idx="minor">
              <a:schemeClr val="tx1"/>
            </a:fontRef>
          </p:style>
        </p:cxnSp>
        <p:pic>
          <p:nvPicPr>
            <p:cNvPr id="30" name="Graphique 29" descr="Souriant avec un visage et des cœurs avec remplissage uni avec un remplissage uni">
              <a:extLst>
                <a:ext uri="{FF2B5EF4-FFF2-40B4-BE49-F238E27FC236}">
                  <a16:creationId xmlns:a16="http://schemas.microsoft.com/office/drawing/2014/main" id="{BAECC501-7595-591E-D435-96F58A0C645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55540" y="2560778"/>
              <a:ext cx="504684" cy="504684"/>
            </a:xfrm>
            <a:prstGeom prst="rect">
              <a:avLst/>
            </a:prstGeom>
          </p:spPr>
        </p:pic>
        <p:cxnSp>
          <p:nvCxnSpPr>
            <p:cNvPr id="33" name="Connecteur droit 32">
              <a:extLst>
                <a:ext uri="{FF2B5EF4-FFF2-40B4-BE49-F238E27FC236}">
                  <a16:creationId xmlns:a16="http://schemas.microsoft.com/office/drawing/2014/main" id="{B252E8A2-0BD4-F2E9-BCF1-5BF72EFA9A09}"/>
                </a:ext>
              </a:extLst>
            </p:cNvPr>
            <p:cNvCxnSpPr>
              <a:cxnSpLocks/>
            </p:cNvCxnSpPr>
            <p:nvPr/>
          </p:nvCxnSpPr>
          <p:spPr>
            <a:xfrm flipH="1">
              <a:off x="9622829" y="4076205"/>
              <a:ext cx="368513" cy="418431"/>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34" name="Connecteur droit 33">
              <a:extLst>
                <a:ext uri="{FF2B5EF4-FFF2-40B4-BE49-F238E27FC236}">
                  <a16:creationId xmlns:a16="http://schemas.microsoft.com/office/drawing/2014/main" id="{3E35D73F-B65E-0095-C880-4C1E062CB1D2}"/>
                </a:ext>
              </a:extLst>
            </p:cNvPr>
            <p:cNvCxnSpPr>
              <a:cxnSpLocks/>
              <a:endCxn id="12" idx="3"/>
            </p:cNvCxnSpPr>
            <p:nvPr/>
          </p:nvCxnSpPr>
          <p:spPr>
            <a:xfrm flipH="1">
              <a:off x="9684506" y="3863059"/>
              <a:ext cx="93690" cy="197811"/>
            </a:xfrm>
            <a:prstGeom prst="line">
              <a:avLst/>
            </a:prstGeom>
          </p:spPr>
          <p:style>
            <a:lnRef idx="1">
              <a:schemeClr val="accent1"/>
            </a:lnRef>
            <a:fillRef idx="0">
              <a:schemeClr val="accent1"/>
            </a:fillRef>
            <a:effectRef idx="0">
              <a:schemeClr val="accent1"/>
            </a:effectRef>
            <a:fontRef idx="minor">
              <a:schemeClr val="tx1"/>
            </a:fontRef>
          </p:style>
        </p:cxnSp>
        <p:cxnSp>
          <p:nvCxnSpPr>
            <p:cNvPr id="35" name="Connecteur droit 34">
              <a:extLst>
                <a:ext uri="{FF2B5EF4-FFF2-40B4-BE49-F238E27FC236}">
                  <a16:creationId xmlns:a16="http://schemas.microsoft.com/office/drawing/2014/main" id="{00F255CF-731C-21D8-0606-B92C3F8A4C03}"/>
                </a:ext>
              </a:extLst>
            </p:cNvPr>
            <p:cNvCxnSpPr>
              <a:cxnSpLocks/>
            </p:cNvCxnSpPr>
            <p:nvPr/>
          </p:nvCxnSpPr>
          <p:spPr>
            <a:xfrm>
              <a:off x="9431957" y="2884122"/>
              <a:ext cx="422932" cy="76579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6" name="Connecteur droit 35">
              <a:extLst>
                <a:ext uri="{FF2B5EF4-FFF2-40B4-BE49-F238E27FC236}">
                  <a16:creationId xmlns:a16="http://schemas.microsoft.com/office/drawing/2014/main" id="{A25D64BA-7EB1-9AD2-04F7-A2BA7A56DCD4}"/>
                </a:ext>
              </a:extLst>
            </p:cNvPr>
            <p:cNvCxnSpPr>
              <a:cxnSpLocks/>
              <a:stCxn id="16" idx="3"/>
              <a:endCxn id="14" idx="0"/>
            </p:cNvCxnSpPr>
            <p:nvPr/>
          </p:nvCxnSpPr>
          <p:spPr>
            <a:xfrm>
              <a:off x="9171082" y="3284795"/>
              <a:ext cx="30373" cy="198291"/>
            </a:xfrm>
            <a:prstGeom prst="line">
              <a:avLst/>
            </a:prstGeom>
          </p:spPr>
          <p:style>
            <a:lnRef idx="1">
              <a:schemeClr val="accent1"/>
            </a:lnRef>
            <a:fillRef idx="0">
              <a:schemeClr val="accent1"/>
            </a:fillRef>
            <a:effectRef idx="0">
              <a:schemeClr val="accent1"/>
            </a:effectRef>
            <a:fontRef idx="minor">
              <a:schemeClr val="tx1"/>
            </a:fontRef>
          </p:style>
        </p:cxnSp>
        <p:cxnSp>
          <p:nvCxnSpPr>
            <p:cNvPr id="37" name="Connecteur droit 36">
              <a:extLst>
                <a:ext uri="{FF2B5EF4-FFF2-40B4-BE49-F238E27FC236}">
                  <a16:creationId xmlns:a16="http://schemas.microsoft.com/office/drawing/2014/main" id="{4D3F9357-555D-E870-F9C1-3D6341CF47C9}"/>
                </a:ext>
              </a:extLst>
            </p:cNvPr>
            <p:cNvCxnSpPr>
              <a:cxnSpLocks/>
            </p:cNvCxnSpPr>
            <p:nvPr/>
          </p:nvCxnSpPr>
          <p:spPr>
            <a:xfrm flipH="1" flipV="1">
              <a:off x="10128623" y="3992545"/>
              <a:ext cx="141910" cy="200694"/>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C1EA14DC-3A58-C09F-5108-BEBEFF3BEB0E}"/>
                </a:ext>
              </a:extLst>
            </p:cNvPr>
            <p:cNvCxnSpPr>
              <a:cxnSpLocks/>
            </p:cNvCxnSpPr>
            <p:nvPr/>
          </p:nvCxnSpPr>
          <p:spPr>
            <a:xfrm>
              <a:off x="9185560" y="3846363"/>
              <a:ext cx="123846" cy="593520"/>
            </a:xfrm>
            <a:prstGeom prst="line">
              <a:avLst/>
            </a:prstGeom>
          </p:spPr>
          <p:style>
            <a:lnRef idx="1">
              <a:schemeClr val="accent1"/>
            </a:lnRef>
            <a:fillRef idx="0">
              <a:schemeClr val="accent1"/>
            </a:fillRef>
            <a:effectRef idx="0">
              <a:schemeClr val="accent1"/>
            </a:effectRef>
            <a:fontRef idx="minor">
              <a:schemeClr val="tx1"/>
            </a:fontRef>
          </p:style>
        </p:cxnSp>
        <p:cxnSp>
          <p:nvCxnSpPr>
            <p:cNvPr id="39" name="Connecteur droit 38">
              <a:extLst>
                <a:ext uri="{FF2B5EF4-FFF2-40B4-BE49-F238E27FC236}">
                  <a16:creationId xmlns:a16="http://schemas.microsoft.com/office/drawing/2014/main" id="{A9C4A742-49DC-525E-12B9-B69D50F523E6}"/>
                </a:ext>
              </a:extLst>
            </p:cNvPr>
            <p:cNvCxnSpPr>
              <a:cxnSpLocks/>
              <a:endCxn id="17" idx="3"/>
            </p:cNvCxnSpPr>
            <p:nvPr/>
          </p:nvCxnSpPr>
          <p:spPr>
            <a:xfrm flipH="1" flipV="1">
              <a:off x="9660341" y="4616391"/>
              <a:ext cx="443702" cy="75566"/>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necteur droit 39">
              <a:extLst>
                <a:ext uri="{FF2B5EF4-FFF2-40B4-BE49-F238E27FC236}">
                  <a16:creationId xmlns:a16="http://schemas.microsoft.com/office/drawing/2014/main" id="{090FDADD-4B47-E436-9D05-17B55FD2048D}"/>
                </a:ext>
              </a:extLst>
            </p:cNvPr>
            <p:cNvCxnSpPr>
              <a:cxnSpLocks/>
            </p:cNvCxnSpPr>
            <p:nvPr/>
          </p:nvCxnSpPr>
          <p:spPr>
            <a:xfrm>
              <a:off x="8684770" y="3970612"/>
              <a:ext cx="561431" cy="459192"/>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necteur droit 40">
              <a:extLst>
                <a:ext uri="{FF2B5EF4-FFF2-40B4-BE49-F238E27FC236}">
                  <a16:creationId xmlns:a16="http://schemas.microsoft.com/office/drawing/2014/main" id="{06DCF959-0FC8-80BB-6131-D08BC8F15873}"/>
                </a:ext>
              </a:extLst>
            </p:cNvPr>
            <p:cNvCxnSpPr>
              <a:cxnSpLocks/>
              <a:stCxn id="9" idx="3"/>
              <a:endCxn id="17" idx="1"/>
            </p:cNvCxnSpPr>
            <p:nvPr/>
          </p:nvCxnSpPr>
          <p:spPr>
            <a:xfrm>
              <a:off x="8500054" y="4545504"/>
              <a:ext cx="655603" cy="70887"/>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necteur droit 41">
              <a:extLst>
                <a:ext uri="{FF2B5EF4-FFF2-40B4-BE49-F238E27FC236}">
                  <a16:creationId xmlns:a16="http://schemas.microsoft.com/office/drawing/2014/main" id="{15BF2913-FB5A-45D7-BA7B-A930FCD9FE25}"/>
                </a:ext>
              </a:extLst>
            </p:cNvPr>
            <p:cNvCxnSpPr>
              <a:cxnSpLocks/>
            </p:cNvCxnSpPr>
            <p:nvPr/>
          </p:nvCxnSpPr>
          <p:spPr>
            <a:xfrm flipV="1">
              <a:off x="8004189" y="3976756"/>
              <a:ext cx="229007" cy="216285"/>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necteur droit 42">
              <a:extLst>
                <a:ext uri="{FF2B5EF4-FFF2-40B4-BE49-F238E27FC236}">
                  <a16:creationId xmlns:a16="http://schemas.microsoft.com/office/drawing/2014/main" id="{0D037B78-D38E-252C-8849-81EA5BAE7B54}"/>
                </a:ext>
              </a:extLst>
            </p:cNvPr>
            <p:cNvCxnSpPr>
              <a:cxnSpLocks/>
            </p:cNvCxnSpPr>
            <p:nvPr/>
          </p:nvCxnSpPr>
          <p:spPr>
            <a:xfrm flipV="1">
              <a:off x="7775182" y="3365034"/>
              <a:ext cx="493570" cy="699272"/>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692EF1C2-F11F-2214-07A2-D928998B379C}"/>
                </a:ext>
              </a:extLst>
            </p:cNvPr>
            <p:cNvCxnSpPr>
              <a:cxnSpLocks/>
            </p:cNvCxnSpPr>
            <p:nvPr/>
          </p:nvCxnSpPr>
          <p:spPr>
            <a:xfrm flipV="1">
              <a:off x="7217515" y="3734972"/>
              <a:ext cx="373716" cy="426713"/>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298C36A0-8B67-4E21-4083-F934ADE6887C}"/>
                </a:ext>
              </a:extLst>
            </p:cNvPr>
            <p:cNvCxnSpPr>
              <a:cxnSpLocks/>
            </p:cNvCxnSpPr>
            <p:nvPr/>
          </p:nvCxnSpPr>
          <p:spPr>
            <a:xfrm flipV="1">
              <a:off x="6784026" y="4359453"/>
              <a:ext cx="139507" cy="269706"/>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necteur droit 45">
              <a:extLst>
                <a:ext uri="{FF2B5EF4-FFF2-40B4-BE49-F238E27FC236}">
                  <a16:creationId xmlns:a16="http://schemas.microsoft.com/office/drawing/2014/main" id="{21798475-43F8-10DA-79D5-2A9A7B37DCE7}"/>
                </a:ext>
              </a:extLst>
            </p:cNvPr>
            <p:cNvCxnSpPr>
              <a:cxnSpLocks/>
              <a:endCxn id="6" idx="2"/>
            </p:cNvCxnSpPr>
            <p:nvPr/>
          </p:nvCxnSpPr>
          <p:spPr>
            <a:xfrm flipV="1">
              <a:off x="7170105" y="4963163"/>
              <a:ext cx="3812" cy="330712"/>
            </a:xfrm>
            <a:prstGeom prst="line">
              <a:avLst/>
            </a:prstGeom>
          </p:spPr>
          <p:style>
            <a:lnRef idx="1">
              <a:schemeClr val="accent1"/>
            </a:lnRef>
            <a:fillRef idx="0">
              <a:schemeClr val="accent1"/>
            </a:fillRef>
            <a:effectRef idx="0">
              <a:schemeClr val="accent1"/>
            </a:effectRef>
            <a:fontRef idx="minor">
              <a:schemeClr val="tx1"/>
            </a:fontRef>
          </p:style>
        </p:cxnSp>
        <p:cxnSp>
          <p:nvCxnSpPr>
            <p:cNvPr id="47" name="Connecteur droit 46">
              <a:extLst>
                <a:ext uri="{FF2B5EF4-FFF2-40B4-BE49-F238E27FC236}">
                  <a16:creationId xmlns:a16="http://schemas.microsoft.com/office/drawing/2014/main" id="{CD2390E9-554D-DE8B-A998-643113A6D6E4}"/>
                </a:ext>
              </a:extLst>
            </p:cNvPr>
            <p:cNvCxnSpPr>
              <a:cxnSpLocks/>
            </p:cNvCxnSpPr>
            <p:nvPr/>
          </p:nvCxnSpPr>
          <p:spPr>
            <a:xfrm flipV="1">
              <a:off x="7322872" y="5180212"/>
              <a:ext cx="258844" cy="141783"/>
            </a:xfrm>
            <a:prstGeom prst="line">
              <a:avLst/>
            </a:prstGeom>
          </p:spPr>
          <p:style>
            <a:lnRef idx="1">
              <a:schemeClr val="accent1"/>
            </a:lnRef>
            <a:fillRef idx="0">
              <a:schemeClr val="accent1"/>
            </a:fillRef>
            <a:effectRef idx="0">
              <a:schemeClr val="accent1"/>
            </a:effectRef>
            <a:fontRef idx="minor">
              <a:schemeClr val="tx1"/>
            </a:fontRef>
          </p:style>
        </p:cxnSp>
        <p:cxnSp>
          <p:nvCxnSpPr>
            <p:cNvPr id="48" name="Connecteur droit 47">
              <a:extLst>
                <a:ext uri="{FF2B5EF4-FFF2-40B4-BE49-F238E27FC236}">
                  <a16:creationId xmlns:a16="http://schemas.microsoft.com/office/drawing/2014/main" id="{7C43929F-00A1-3E61-0207-0B4B9849DD2D}"/>
                </a:ext>
              </a:extLst>
            </p:cNvPr>
            <p:cNvCxnSpPr>
              <a:cxnSpLocks/>
            </p:cNvCxnSpPr>
            <p:nvPr/>
          </p:nvCxnSpPr>
          <p:spPr>
            <a:xfrm flipH="1" flipV="1">
              <a:off x="7843573" y="4544820"/>
              <a:ext cx="71132" cy="507252"/>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49" name="Connecteur droit 48">
              <a:extLst>
                <a:ext uri="{FF2B5EF4-FFF2-40B4-BE49-F238E27FC236}">
                  <a16:creationId xmlns:a16="http://schemas.microsoft.com/office/drawing/2014/main" id="{8D7ADFE4-2F9B-733E-7567-60C974A42D15}"/>
                </a:ext>
              </a:extLst>
            </p:cNvPr>
            <p:cNvCxnSpPr>
              <a:cxnSpLocks/>
            </p:cNvCxnSpPr>
            <p:nvPr/>
          </p:nvCxnSpPr>
          <p:spPr>
            <a:xfrm flipH="1" flipV="1">
              <a:off x="7067411" y="3469529"/>
              <a:ext cx="547291" cy="148403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0" name="Connecteur droit 49">
              <a:extLst>
                <a:ext uri="{FF2B5EF4-FFF2-40B4-BE49-F238E27FC236}">
                  <a16:creationId xmlns:a16="http://schemas.microsoft.com/office/drawing/2014/main" id="{D100D794-C00C-B644-2CCC-2601B10D94F8}"/>
                </a:ext>
              </a:extLst>
            </p:cNvPr>
            <p:cNvCxnSpPr>
              <a:cxnSpLocks/>
              <a:endCxn id="8" idx="1"/>
            </p:cNvCxnSpPr>
            <p:nvPr/>
          </p:nvCxnSpPr>
          <p:spPr>
            <a:xfrm flipV="1">
              <a:off x="6775819" y="3567183"/>
              <a:ext cx="731769" cy="254708"/>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1" name="Connecteur droit 50">
              <a:extLst>
                <a:ext uri="{FF2B5EF4-FFF2-40B4-BE49-F238E27FC236}">
                  <a16:creationId xmlns:a16="http://schemas.microsoft.com/office/drawing/2014/main" id="{2D38F126-E840-C404-ECF4-3B1D15FDEDFD}"/>
                </a:ext>
              </a:extLst>
            </p:cNvPr>
            <p:cNvCxnSpPr>
              <a:cxnSpLocks/>
            </p:cNvCxnSpPr>
            <p:nvPr/>
          </p:nvCxnSpPr>
          <p:spPr>
            <a:xfrm flipH="1" flipV="1">
              <a:off x="7415738" y="2504647"/>
              <a:ext cx="397927" cy="275526"/>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Connecteur droit 51">
              <a:extLst>
                <a:ext uri="{FF2B5EF4-FFF2-40B4-BE49-F238E27FC236}">
                  <a16:creationId xmlns:a16="http://schemas.microsoft.com/office/drawing/2014/main" id="{BE94541D-C84F-2DED-6207-03206551F7EC}"/>
                </a:ext>
              </a:extLst>
            </p:cNvPr>
            <p:cNvCxnSpPr>
              <a:cxnSpLocks/>
            </p:cNvCxnSpPr>
            <p:nvPr/>
          </p:nvCxnSpPr>
          <p:spPr>
            <a:xfrm flipH="1">
              <a:off x="7051655" y="2970458"/>
              <a:ext cx="200052" cy="258177"/>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Connecteur droit 52">
              <a:extLst>
                <a:ext uri="{FF2B5EF4-FFF2-40B4-BE49-F238E27FC236}">
                  <a16:creationId xmlns:a16="http://schemas.microsoft.com/office/drawing/2014/main" id="{81571A60-4538-43D2-527A-8E3598AB5234}"/>
                </a:ext>
              </a:extLst>
            </p:cNvPr>
            <p:cNvCxnSpPr>
              <a:cxnSpLocks/>
              <a:endCxn id="20" idx="0"/>
            </p:cNvCxnSpPr>
            <p:nvPr/>
          </p:nvCxnSpPr>
          <p:spPr>
            <a:xfrm>
              <a:off x="8447764" y="2858603"/>
              <a:ext cx="7847" cy="149772"/>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Connecteur droit 53">
              <a:extLst>
                <a:ext uri="{FF2B5EF4-FFF2-40B4-BE49-F238E27FC236}">
                  <a16:creationId xmlns:a16="http://schemas.microsoft.com/office/drawing/2014/main" id="{382D6146-0976-8A55-C1EF-8CFA9F3EC5BA}"/>
                </a:ext>
              </a:extLst>
            </p:cNvPr>
            <p:cNvCxnSpPr>
              <a:cxnSpLocks/>
            </p:cNvCxnSpPr>
            <p:nvPr/>
          </p:nvCxnSpPr>
          <p:spPr>
            <a:xfrm>
              <a:off x="8351236" y="4733302"/>
              <a:ext cx="74409" cy="164665"/>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Connecteur droit 54">
              <a:extLst>
                <a:ext uri="{FF2B5EF4-FFF2-40B4-BE49-F238E27FC236}">
                  <a16:creationId xmlns:a16="http://schemas.microsoft.com/office/drawing/2014/main" id="{EB4BF993-F5A6-7CEB-310E-30859D7EDA2B}"/>
                </a:ext>
              </a:extLst>
            </p:cNvPr>
            <p:cNvCxnSpPr>
              <a:cxnSpLocks/>
            </p:cNvCxnSpPr>
            <p:nvPr/>
          </p:nvCxnSpPr>
          <p:spPr>
            <a:xfrm>
              <a:off x="8654460" y="4047465"/>
              <a:ext cx="271287" cy="1177579"/>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56" name="Connecteur droit 55">
              <a:extLst>
                <a:ext uri="{FF2B5EF4-FFF2-40B4-BE49-F238E27FC236}">
                  <a16:creationId xmlns:a16="http://schemas.microsoft.com/office/drawing/2014/main" id="{6DD18E86-5FD5-072D-10AD-9DC494F6DB52}"/>
                </a:ext>
              </a:extLst>
            </p:cNvPr>
            <p:cNvCxnSpPr>
              <a:cxnSpLocks/>
            </p:cNvCxnSpPr>
            <p:nvPr/>
          </p:nvCxnSpPr>
          <p:spPr>
            <a:xfrm>
              <a:off x="7896586" y="5180212"/>
              <a:ext cx="719287" cy="23404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Connecteur droit 56">
              <a:extLst>
                <a:ext uri="{FF2B5EF4-FFF2-40B4-BE49-F238E27FC236}">
                  <a16:creationId xmlns:a16="http://schemas.microsoft.com/office/drawing/2014/main" id="{1879F5B9-8EC3-9C0D-E04D-88785C95DC00}"/>
                </a:ext>
              </a:extLst>
            </p:cNvPr>
            <p:cNvCxnSpPr>
              <a:cxnSpLocks/>
            </p:cNvCxnSpPr>
            <p:nvPr/>
          </p:nvCxnSpPr>
          <p:spPr>
            <a:xfrm>
              <a:off x="9350383" y="3661524"/>
              <a:ext cx="504506" cy="100942"/>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58" name="Connecteur droit 57">
              <a:extLst>
                <a:ext uri="{FF2B5EF4-FFF2-40B4-BE49-F238E27FC236}">
                  <a16:creationId xmlns:a16="http://schemas.microsoft.com/office/drawing/2014/main" id="{A114AFD0-083A-A08F-0DFB-E23CBF329EB1}"/>
                </a:ext>
              </a:extLst>
            </p:cNvPr>
            <p:cNvCxnSpPr>
              <a:cxnSpLocks/>
            </p:cNvCxnSpPr>
            <p:nvPr/>
          </p:nvCxnSpPr>
          <p:spPr>
            <a:xfrm>
              <a:off x="7033345" y="4427128"/>
              <a:ext cx="17224" cy="18031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9" name="Connecteur droit 58">
              <a:extLst>
                <a:ext uri="{FF2B5EF4-FFF2-40B4-BE49-F238E27FC236}">
                  <a16:creationId xmlns:a16="http://schemas.microsoft.com/office/drawing/2014/main" id="{811541F4-C031-56D5-33B8-50F4492F7536}"/>
                </a:ext>
              </a:extLst>
            </p:cNvPr>
            <p:cNvCxnSpPr>
              <a:cxnSpLocks/>
            </p:cNvCxnSpPr>
            <p:nvPr/>
          </p:nvCxnSpPr>
          <p:spPr>
            <a:xfrm>
              <a:off x="7803606" y="3150674"/>
              <a:ext cx="17224" cy="180318"/>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necteur droit 59">
              <a:extLst>
                <a:ext uri="{FF2B5EF4-FFF2-40B4-BE49-F238E27FC236}">
                  <a16:creationId xmlns:a16="http://schemas.microsoft.com/office/drawing/2014/main" id="{E623460D-7C76-46FF-B635-7849017A2A8C}"/>
                </a:ext>
              </a:extLst>
            </p:cNvPr>
            <p:cNvCxnSpPr>
              <a:cxnSpLocks/>
            </p:cNvCxnSpPr>
            <p:nvPr/>
          </p:nvCxnSpPr>
          <p:spPr>
            <a:xfrm>
              <a:off x="7977933" y="3083560"/>
              <a:ext cx="312333" cy="417522"/>
            </a:xfrm>
            <a:prstGeom prst="line">
              <a:avLst/>
            </a:prstGeom>
            <a:ln w="38100"/>
          </p:spPr>
          <p:style>
            <a:lnRef idx="1">
              <a:schemeClr val="accent1"/>
            </a:lnRef>
            <a:fillRef idx="0">
              <a:schemeClr val="accent1"/>
            </a:fillRef>
            <a:effectRef idx="0">
              <a:schemeClr val="accent1"/>
            </a:effectRef>
            <a:fontRef idx="minor">
              <a:schemeClr val="tx1"/>
            </a:fontRef>
          </p:style>
        </p:cxnSp>
        <p:pic>
          <p:nvPicPr>
            <p:cNvPr id="61" name="Graphique 60" descr="Femme détective avec un remplissage uni">
              <a:extLst>
                <a:ext uri="{FF2B5EF4-FFF2-40B4-BE49-F238E27FC236}">
                  <a16:creationId xmlns:a16="http://schemas.microsoft.com/office/drawing/2014/main" id="{1A620BEA-9445-2961-55EA-3CDCBF978FB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6749590" y="3809205"/>
              <a:ext cx="524412" cy="524412"/>
            </a:xfrm>
            <a:prstGeom prst="rect">
              <a:avLst/>
            </a:prstGeom>
          </p:spPr>
        </p:pic>
        <p:pic>
          <p:nvPicPr>
            <p:cNvPr id="62" name="Graphique 61" descr="Femme détective avec un remplissage uni">
              <a:extLst>
                <a:ext uri="{FF2B5EF4-FFF2-40B4-BE49-F238E27FC236}">
                  <a16:creationId xmlns:a16="http://schemas.microsoft.com/office/drawing/2014/main" id="{4BBF5D2B-7837-62AD-43E8-9CE4DBD1F743}"/>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664547" y="2574863"/>
              <a:ext cx="524412" cy="524412"/>
            </a:xfrm>
            <a:prstGeom prst="rect">
              <a:avLst/>
            </a:prstGeom>
          </p:spPr>
        </p:pic>
        <p:pic>
          <p:nvPicPr>
            <p:cNvPr id="63" name="Graphique 62" descr="Femme détective avec un remplissage uni">
              <a:extLst>
                <a:ext uri="{FF2B5EF4-FFF2-40B4-BE49-F238E27FC236}">
                  <a16:creationId xmlns:a16="http://schemas.microsoft.com/office/drawing/2014/main" id="{6A97F257-89E5-4551-C743-71708AD3CF3E}"/>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701767" y="3516188"/>
              <a:ext cx="524412" cy="524412"/>
            </a:xfrm>
            <a:prstGeom prst="rect">
              <a:avLst/>
            </a:prstGeom>
          </p:spPr>
        </p:pic>
        <p:pic>
          <p:nvPicPr>
            <p:cNvPr id="64" name="Graphique 63" descr="Femme détective avec un remplissage uni">
              <a:extLst>
                <a:ext uri="{FF2B5EF4-FFF2-40B4-BE49-F238E27FC236}">
                  <a16:creationId xmlns:a16="http://schemas.microsoft.com/office/drawing/2014/main" id="{AF169030-E319-E6B6-FC4B-3E699A578BA6}"/>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563128" y="4035091"/>
              <a:ext cx="524412" cy="524412"/>
            </a:xfrm>
            <a:prstGeom prst="rect">
              <a:avLst/>
            </a:prstGeom>
          </p:spPr>
        </p:pic>
        <p:pic>
          <p:nvPicPr>
            <p:cNvPr id="65" name="Graphique 64" descr="Femme détective avec un remplissage uni">
              <a:extLst>
                <a:ext uri="{FF2B5EF4-FFF2-40B4-BE49-F238E27FC236}">
                  <a16:creationId xmlns:a16="http://schemas.microsoft.com/office/drawing/2014/main" id="{39572D1A-1B07-CBE4-06CC-BA1EDB17044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147365" y="3355403"/>
              <a:ext cx="730288" cy="730288"/>
            </a:xfrm>
            <a:prstGeom prst="rect">
              <a:avLst/>
            </a:prstGeom>
          </p:spPr>
        </p:pic>
        <p:pic>
          <p:nvPicPr>
            <p:cNvPr id="70" name="Graphique 69" descr="Femme détective avec un remplissage uni">
              <a:extLst>
                <a:ext uri="{FF2B5EF4-FFF2-40B4-BE49-F238E27FC236}">
                  <a16:creationId xmlns:a16="http://schemas.microsoft.com/office/drawing/2014/main" id="{F846DE48-6D42-C0EB-1AE7-9EA758F1D582}"/>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652467" y="5215180"/>
              <a:ext cx="524412" cy="524412"/>
            </a:xfrm>
            <a:prstGeom prst="rect">
              <a:avLst/>
            </a:prstGeom>
          </p:spPr>
        </p:pic>
      </p:grpSp>
      <p:sp>
        <p:nvSpPr>
          <p:cNvPr id="67" name="Espace réservé du contenu 2">
            <a:extLst>
              <a:ext uri="{FF2B5EF4-FFF2-40B4-BE49-F238E27FC236}">
                <a16:creationId xmlns:a16="http://schemas.microsoft.com/office/drawing/2014/main" id="{477E0488-D3B3-EF9B-F77C-BFDE66CDCE7B}"/>
              </a:ext>
            </a:extLst>
          </p:cNvPr>
          <p:cNvSpPr txBox="1">
            <a:spLocks/>
          </p:cNvSpPr>
          <p:nvPr/>
        </p:nvSpPr>
        <p:spPr>
          <a:xfrm>
            <a:off x="8148622" y="1910010"/>
            <a:ext cx="3629025" cy="466725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400" dirty="0"/>
              <a:t>Dans la pratique, le réseau de renseignement peut être intéressant à établir avant même l’existence de la Communauté, et être constitué de futurs membres ou sponsors.</a:t>
            </a:r>
          </a:p>
          <a:p>
            <a:pPr marL="0" indent="0">
              <a:buFont typeface="Arial" panose="020B0604020202020204" pitchFamily="34" charset="0"/>
              <a:buNone/>
            </a:pPr>
            <a:endParaRPr lang="fr-FR" sz="1400" dirty="0"/>
          </a:p>
          <a:p>
            <a:pPr marL="0" indent="0">
              <a:buFont typeface="Arial" panose="020B0604020202020204" pitchFamily="34" charset="0"/>
              <a:buNone/>
            </a:pPr>
            <a:r>
              <a:rPr lang="fr-FR" sz="1400" dirty="0"/>
              <a:t>L’appauvrissement d’un réseau de renseignement précède des décisions prises avec moins d’information, et potentiellement des phases de déclin.</a:t>
            </a:r>
          </a:p>
          <a:p>
            <a:pPr marL="0" indent="0">
              <a:buFont typeface="Arial" panose="020B0604020202020204" pitchFamily="34" charset="0"/>
              <a:buNone/>
            </a:pPr>
            <a:endParaRPr lang="fr-FR" sz="1400" dirty="0"/>
          </a:p>
          <a:p>
            <a:pPr marL="0" indent="0">
              <a:buFont typeface="Arial" panose="020B0604020202020204" pitchFamily="34" charset="0"/>
              <a:buNone/>
            </a:pPr>
            <a:r>
              <a:rPr lang="fr-FR" sz="1400" dirty="0"/>
              <a:t>Une certaine part de disponibilité « invisible à l’extérieur de la Communauté ou de l’équipe de gestion » est souvent dédiée par les Community Boosters pour faire vivre ce réseau de renseignement, peu importe la taille de la Communauté.  </a:t>
            </a:r>
          </a:p>
        </p:txBody>
      </p:sp>
      <p:pic>
        <p:nvPicPr>
          <p:cNvPr id="68" name="Graphique 67" descr="Femme détective avec un remplissage uni">
            <a:extLst>
              <a:ext uri="{FF2B5EF4-FFF2-40B4-BE49-F238E27FC236}">
                <a16:creationId xmlns:a16="http://schemas.microsoft.com/office/drawing/2014/main" id="{B63E36B9-E1DF-2F37-E099-27D3097E1F2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752476" y="365125"/>
            <a:ext cx="1114424" cy="1114424"/>
          </a:xfrm>
          <a:prstGeom prst="rect">
            <a:avLst/>
          </a:prstGeom>
        </p:spPr>
      </p:pic>
    </p:spTree>
    <p:extLst>
      <p:ext uri="{BB962C8B-B14F-4D97-AF65-F5344CB8AC3E}">
        <p14:creationId xmlns:p14="http://schemas.microsoft.com/office/powerpoint/2010/main" val="3886517435"/>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4CB8076-EA3A-09B3-7DC1-31CD66F69E46}"/>
              </a:ext>
            </a:extLst>
          </p:cNvPr>
          <p:cNvSpPr>
            <a:spLocks noGrp="1"/>
          </p:cNvSpPr>
          <p:nvPr>
            <p:ph type="title"/>
          </p:nvPr>
        </p:nvSpPr>
        <p:spPr>
          <a:xfrm>
            <a:off x="1722933" y="365125"/>
            <a:ext cx="5938496" cy="662879"/>
          </a:xfrm>
        </p:spPr>
        <p:txBody>
          <a:bodyPr>
            <a:normAutofit/>
          </a:bodyPr>
          <a:lstStyle/>
          <a:p>
            <a:r>
              <a:rPr lang="fr-FR" sz="4000" dirty="0"/>
              <a:t>Prioriser</a:t>
            </a:r>
          </a:p>
        </p:txBody>
      </p:sp>
      <p:sp>
        <p:nvSpPr>
          <p:cNvPr id="3" name="Espace réservé du contenu 2">
            <a:extLst>
              <a:ext uri="{FF2B5EF4-FFF2-40B4-BE49-F238E27FC236}">
                <a16:creationId xmlns:a16="http://schemas.microsoft.com/office/drawing/2014/main" id="{03AFD134-2DEF-6686-DFC0-950345ACEF7E}"/>
              </a:ext>
            </a:extLst>
          </p:cNvPr>
          <p:cNvSpPr>
            <a:spLocks noGrp="1"/>
          </p:cNvSpPr>
          <p:nvPr>
            <p:ph idx="1"/>
          </p:nvPr>
        </p:nvSpPr>
        <p:spPr>
          <a:xfrm>
            <a:off x="726960" y="1789443"/>
            <a:ext cx="4175314" cy="4943415"/>
          </a:xfrm>
        </p:spPr>
        <p:txBody>
          <a:bodyPr>
            <a:noAutofit/>
          </a:bodyPr>
          <a:lstStyle/>
          <a:p>
            <a:pPr marL="0" indent="0">
              <a:buNone/>
            </a:pPr>
            <a:r>
              <a:rPr lang="fr-FR" sz="1600" dirty="0"/>
              <a:t>Plus on connaît la Communauté, plus on trouve d’opportunités ou d’activités de valeur à effectuer. </a:t>
            </a:r>
          </a:p>
          <a:p>
            <a:pPr marL="0" indent="0">
              <a:buNone/>
            </a:pPr>
            <a:r>
              <a:rPr lang="fr-FR" sz="1600" dirty="0"/>
              <a:t>Ce grand potentiel d’opportunités n’a aucune valeur effective s’il reste une liste d’actions jamais commencée. </a:t>
            </a:r>
          </a:p>
          <a:p>
            <a:pPr marL="0" indent="0">
              <a:buNone/>
            </a:pPr>
            <a:r>
              <a:rPr lang="fr-FR" sz="1600" dirty="0"/>
              <a:t>Il y a rarement la capacité de commencer et terminer toutes les actions recensées dans un délai satisfaisant. Cette incapacité peut générer de la confusion voire de l’anxiété.</a:t>
            </a:r>
          </a:p>
          <a:p>
            <a:pPr marL="0" indent="0">
              <a:buNone/>
            </a:pPr>
            <a:r>
              <a:rPr lang="fr-FR" sz="1600" dirty="0"/>
              <a:t>Prioriser consiste à ordonner ces actions pour plus facilement décider dans lesquelles injecter de l’effort à un moment donné.</a:t>
            </a:r>
          </a:p>
          <a:p>
            <a:pPr marL="0" indent="0">
              <a:buNone/>
            </a:pPr>
            <a:r>
              <a:rPr lang="fr-FR" sz="1600" dirty="0"/>
              <a:t>Prioriser les actions de la Communauté peut servir à la fois les membres, les Community Boosters ou même les sponsors.</a:t>
            </a:r>
          </a:p>
        </p:txBody>
      </p:sp>
      <p:sp>
        <p:nvSpPr>
          <p:cNvPr id="4" name="Rectangle 3">
            <a:extLst>
              <a:ext uri="{FF2B5EF4-FFF2-40B4-BE49-F238E27FC236}">
                <a16:creationId xmlns:a16="http://schemas.microsoft.com/office/drawing/2014/main" id="{CA841B86-ED8E-F0D0-71F1-C0C8E5E900D9}"/>
              </a:ext>
            </a:extLst>
          </p:cNvPr>
          <p:cNvSpPr/>
          <p:nvPr/>
        </p:nvSpPr>
        <p:spPr>
          <a:xfrm>
            <a:off x="10324776" y="894769"/>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5" name="Rectangle 4">
            <a:extLst>
              <a:ext uri="{FF2B5EF4-FFF2-40B4-BE49-F238E27FC236}">
                <a16:creationId xmlns:a16="http://schemas.microsoft.com/office/drawing/2014/main" id="{62E2D749-1154-162A-67AA-6421344F7C13}"/>
              </a:ext>
            </a:extLst>
          </p:cNvPr>
          <p:cNvSpPr/>
          <p:nvPr/>
        </p:nvSpPr>
        <p:spPr>
          <a:xfrm>
            <a:off x="10324776" y="4801574"/>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6" name="Rectangle 5">
            <a:extLst>
              <a:ext uri="{FF2B5EF4-FFF2-40B4-BE49-F238E27FC236}">
                <a16:creationId xmlns:a16="http://schemas.microsoft.com/office/drawing/2014/main" id="{A7DC9358-8804-9DEE-3510-BF899B814C7F}"/>
              </a:ext>
            </a:extLst>
          </p:cNvPr>
          <p:cNvSpPr/>
          <p:nvPr/>
        </p:nvSpPr>
        <p:spPr>
          <a:xfrm>
            <a:off x="10324776" y="4020213"/>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7" name="Rectangle 6">
            <a:extLst>
              <a:ext uri="{FF2B5EF4-FFF2-40B4-BE49-F238E27FC236}">
                <a16:creationId xmlns:a16="http://schemas.microsoft.com/office/drawing/2014/main" id="{38A2DA31-F74A-6C38-71F9-2F6424503A4F}"/>
              </a:ext>
            </a:extLst>
          </p:cNvPr>
          <p:cNvSpPr/>
          <p:nvPr/>
        </p:nvSpPr>
        <p:spPr>
          <a:xfrm>
            <a:off x="10324776" y="245749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8" name="Rectangle 7">
            <a:extLst>
              <a:ext uri="{FF2B5EF4-FFF2-40B4-BE49-F238E27FC236}">
                <a16:creationId xmlns:a16="http://schemas.microsoft.com/office/drawing/2014/main" id="{67952193-1F22-FAAD-2F0F-287239AEC155}"/>
              </a:ext>
            </a:extLst>
          </p:cNvPr>
          <p:cNvSpPr/>
          <p:nvPr/>
        </p:nvSpPr>
        <p:spPr>
          <a:xfrm>
            <a:off x="10324776" y="323885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9" name="Rectangle 8">
            <a:extLst>
              <a:ext uri="{FF2B5EF4-FFF2-40B4-BE49-F238E27FC236}">
                <a16:creationId xmlns:a16="http://schemas.microsoft.com/office/drawing/2014/main" id="{D58873CE-AE41-E9E7-0347-B17251D41A9A}"/>
              </a:ext>
            </a:extLst>
          </p:cNvPr>
          <p:cNvSpPr/>
          <p:nvPr/>
        </p:nvSpPr>
        <p:spPr>
          <a:xfrm>
            <a:off x="10324776" y="1676130"/>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14" name="Rectangle 13">
            <a:extLst>
              <a:ext uri="{FF2B5EF4-FFF2-40B4-BE49-F238E27FC236}">
                <a16:creationId xmlns:a16="http://schemas.microsoft.com/office/drawing/2014/main" id="{FB99CB57-2EEB-2EBD-421C-95AAA58492B0}"/>
              </a:ext>
            </a:extLst>
          </p:cNvPr>
          <p:cNvSpPr/>
          <p:nvPr/>
        </p:nvSpPr>
        <p:spPr>
          <a:xfrm>
            <a:off x="5282391" y="894769"/>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15" name="Rectangle 14">
            <a:extLst>
              <a:ext uri="{FF2B5EF4-FFF2-40B4-BE49-F238E27FC236}">
                <a16:creationId xmlns:a16="http://schemas.microsoft.com/office/drawing/2014/main" id="{FB1D3B81-3276-D703-9A2F-5052C0189AE2}"/>
              </a:ext>
            </a:extLst>
          </p:cNvPr>
          <p:cNvSpPr/>
          <p:nvPr/>
        </p:nvSpPr>
        <p:spPr>
          <a:xfrm>
            <a:off x="5282391" y="4801574"/>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16" name="Rectangle 15">
            <a:extLst>
              <a:ext uri="{FF2B5EF4-FFF2-40B4-BE49-F238E27FC236}">
                <a16:creationId xmlns:a16="http://schemas.microsoft.com/office/drawing/2014/main" id="{9D86ACE7-52F7-F5C5-0A4D-E1BCCDD45829}"/>
              </a:ext>
            </a:extLst>
          </p:cNvPr>
          <p:cNvSpPr/>
          <p:nvPr/>
        </p:nvSpPr>
        <p:spPr>
          <a:xfrm>
            <a:off x="5282391" y="4020213"/>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17" name="Rectangle 16">
            <a:extLst>
              <a:ext uri="{FF2B5EF4-FFF2-40B4-BE49-F238E27FC236}">
                <a16:creationId xmlns:a16="http://schemas.microsoft.com/office/drawing/2014/main" id="{D7D5A17D-17F3-95F7-AD6B-C281E5982062}"/>
              </a:ext>
            </a:extLst>
          </p:cNvPr>
          <p:cNvSpPr/>
          <p:nvPr/>
        </p:nvSpPr>
        <p:spPr>
          <a:xfrm>
            <a:off x="5282391" y="245749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18" name="Rectangle 17">
            <a:extLst>
              <a:ext uri="{FF2B5EF4-FFF2-40B4-BE49-F238E27FC236}">
                <a16:creationId xmlns:a16="http://schemas.microsoft.com/office/drawing/2014/main" id="{1EC7E6FE-8928-E6C8-F444-61A4B30F7113}"/>
              </a:ext>
            </a:extLst>
          </p:cNvPr>
          <p:cNvSpPr/>
          <p:nvPr/>
        </p:nvSpPr>
        <p:spPr>
          <a:xfrm>
            <a:off x="5282391" y="323885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19" name="Rectangle 18">
            <a:extLst>
              <a:ext uri="{FF2B5EF4-FFF2-40B4-BE49-F238E27FC236}">
                <a16:creationId xmlns:a16="http://schemas.microsoft.com/office/drawing/2014/main" id="{819C0E05-33FE-BCFD-A0A7-1AB1072A2DA6}"/>
              </a:ext>
            </a:extLst>
          </p:cNvPr>
          <p:cNvSpPr/>
          <p:nvPr/>
        </p:nvSpPr>
        <p:spPr>
          <a:xfrm>
            <a:off x="5282391" y="1676130"/>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12" name="Accolade ouvrante 11">
            <a:extLst>
              <a:ext uri="{FF2B5EF4-FFF2-40B4-BE49-F238E27FC236}">
                <a16:creationId xmlns:a16="http://schemas.microsoft.com/office/drawing/2014/main" id="{CBC17171-6B1E-70F2-7AC1-3A5AF58DC96E}"/>
              </a:ext>
            </a:extLst>
          </p:cNvPr>
          <p:cNvSpPr/>
          <p:nvPr/>
        </p:nvSpPr>
        <p:spPr>
          <a:xfrm>
            <a:off x="9625253" y="894769"/>
            <a:ext cx="602190" cy="4569684"/>
          </a:xfrm>
          <a:prstGeom prst="leftBrace">
            <a:avLst>
              <a:gd name="adj1" fmla="val 8333"/>
              <a:gd name="adj2" fmla="val 49029"/>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20" name="Accolade fermante 19">
            <a:extLst>
              <a:ext uri="{FF2B5EF4-FFF2-40B4-BE49-F238E27FC236}">
                <a16:creationId xmlns:a16="http://schemas.microsoft.com/office/drawing/2014/main" id="{0CA53F50-3AE2-C2EB-862D-6A5ACE87FC1B}"/>
              </a:ext>
            </a:extLst>
          </p:cNvPr>
          <p:cNvSpPr/>
          <p:nvPr/>
        </p:nvSpPr>
        <p:spPr>
          <a:xfrm>
            <a:off x="6977338" y="894769"/>
            <a:ext cx="602190" cy="4569684"/>
          </a:xfrm>
          <a:prstGeom prst="rightBrace">
            <a:avLst>
              <a:gd name="adj1" fmla="val 8333"/>
              <a:gd name="adj2" fmla="val 49223"/>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21" name="Flèche : droite 20">
            <a:extLst>
              <a:ext uri="{FF2B5EF4-FFF2-40B4-BE49-F238E27FC236}">
                <a16:creationId xmlns:a16="http://schemas.microsoft.com/office/drawing/2014/main" id="{B015BFB1-7BF8-C125-AB2C-2A435B78518F}"/>
              </a:ext>
            </a:extLst>
          </p:cNvPr>
          <p:cNvSpPr/>
          <p:nvPr/>
        </p:nvSpPr>
        <p:spPr>
          <a:xfrm>
            <a:off x="7660494" y="2530005"/>
            <a:ext cx="1883793" cy="118073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PRIORISATION</a:t>
            </a:r>
          </a:p>
        </p:txBody>
      </p:sp>
      <p:sp>
        <p:nvSpPr>
          <p:cNvPr id="22" name="ZoneTexte 21">
            <a:extLst>
              <a:ext uri="{FF2B5EF4-FFF2-40B4-BE49-F238E27FC236}">
                <a16:creationId xmlns:a16="http://schemas.microsoft.com/office/drawing/2014/main" id="{063765B3-14B1-7A5E-0C75-AE08E8B6ACE9}"/>
              </a:ext>
            </a:extLst>
          </p:cNvPr>
          <p:cNvSpPr txBox="1"/>
          <p:nvPr/>
        </p:nvSpPr>
        <p:spPr>
          <a:xfrm>
            <a:off x="4999607" y="5670909"/>
            <a:ext cx="2192785" cy="923330"/>
          </a:xfrm>
          <a:prstGeom prst="rect">
            <a:avLst/>
          </a:prstGeom>
          <a:noFill/>
        </p:spPr>
        <p:txBody>
          <a:bodyPr wrap="square" rtlCol="0">
            <a:spAutoFit/>
          </a:bodyPr>
          <a:lstStyle/>
          <a:p>
            <a:pPr algn="ctr"/>
            <a:r>
              <a:rPr lang="fr-FR" dirty="0"/>
              <a:t>Liste d’actions dont on ne sait pas par laquelle commencer</a:t>
            </a:r>
          </a:p>
        </p:txBody>
      </p:sp>
      <p:sp>
        <p:nvSpPr>
          <p:cNvPr id="23" name="ZoneTexte 22">
            <a:extLst>
              <a:ext uri="{FF2B5EF4-FFF2-40B4-BE49-F238E27FC236}">
                <a16:creationId xmlns:a16="http://schemas.microsoft.com/office/drawing/2014/main" id="{B0EC40BA-EF9E-4B43-0B27-665470881E1E}"/>
              </a:ext>
            </a:extLst>
          </p:cNvPr>
          <p:cNvSpPr txBox="1"/>
          <p:nvPr/>
        </p:nvSpPr>
        <p:spPr>
          <a:xfrm>
            <a:off x="9900592" y="5670909"/>
            <a:ext cx="2192785" cy="923330"/>
          </a:xfrm>
          <a:prstGeom prst="rect">
            <a:avLst/>
          </a:prstGeom>
          <a:noFill/>
        </p:spPr>
        <p:txBody>
          <a:bodyPr wrap="square" rtlCol="0">
            <a:spAutoFit/>
          </a:bodyPr>
          <a:lstStyle/>
          <a:p>
            <a:pPr algn="ctr"/>
            <a:r>
              <a:rPr lang="fr-FR" dirty="0"/>
              <a:t>Liste d’actions dont on sait par laquelle commencer</a:t>
            </a:r>
          </a:p>
        </p:txBody>
      </p:sp>
      <p:pic>
        <p:nvPicPr>
          <p:cNvPr id="25" name="Graphique 24" descr="Priorités avec un remplissage uni">
            <a:extLst>
              <a:ext uri="{FF2B5EF4-FFF2-40B4-BE49-F238E27FC236}">
                <a16:creationId xmlns:a16="http://schemas.microsoft.com/office/drawing/2014/main" id="{C819BCF9-D1A2-D463-C9B0-CD67B9E369D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20259" y="276349"/>
            <a:ext cx="920773" cy="920773"/>
          </a:xfrm>
          <a:prstGeom prst="rect">
            <a:avLst/>
          </a:prstGeom>
        </p:spPr>
      </p:pic>
    </p:spTree>
    <p:extLst>
      <p:ext uri="{BB962C8B-B14F-4D97-AF65-F5344CB8AC3E}">
        <p14:creationId xmlns:p14="http://schemas.microsoft.com/office/powerpoint/2010/main" val="2297790213"/>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F295253-DD75-D409-E8F4-173E025628A2}"/>
              </a:ext>
            </a:extLst>
          </p:cNvPr>
          <p:cNvSpPr>
            <a:spLocks noGrp="1"/>
          </p:cNvSpPr>
          <p:nvPr>
            <p:ph type="title"/>
          </p:nvPr>
        </p:nvSpPr>
        <p:spPr>
          <a:xfrm>
            <a:off x="1476374" y="365126"/>
            <a:ext cx="9877425" cy="1084234"/>
          </a:xfrm>
        </p:spPr>
        <p:txBody>
          <a:bodyPr>
            <a:normAutofit/>
          </a:bodyPr>
          <a:lstStyle/>
          <a:p>
            <a:r>
              <a:rPr lang="fr-FR" sz="3600" dirty="0"/>
              <a:t>Les conditions pour pouvoir prioriser</a:t>
            </a:r>
            <a:br>
              <a:rPr lang="fr-FR" sz="3600" dirty="0"/>
            </a:br>
            <a:r>
              <a:rPr lang="fr-FR" sz="3600" dirty="0"/>
              <a:t>et les risques quand les conditions sont absentes</a:t>
            </a:r>
          </a:p>
        </p:txBody>
      </p:sp>
      <p:sp>
        <p:nvSpPr>
          <p:cNvPr id="3" name="Espace réservé du contenu 2">
            <a:extLst>
              <a:ext uri="{FF2B5EF4-FFF2-40B4-BE49-F238E27FC236}">
                <a16:creationId xmlns:a16="http://schemas.microsoft.com/office/drawing/2014/main" id="{B8BF344D-CFEA-06DF-156F-9EB8EAA042EB}"/>
              </a:ext>
            </a:extLst>
          </p:cNvPr>
          <p:cNvSpPr>
            <a:spLocks noGrp="1"/>
          </p:cNvSpPr>
          <p:nvPr>
            <p:ph idx="1"/>
          </p:nvPr>
        </p:nvSpPr>
        <p:spPr>
          <a:xfrm>
            <a:off x="6819901" y="1592071"/>
            <a:ext cx="2632070" cy="646332"/>
          </a:xfrm>
        </p:spPr>
        <p:txBody>
          <a:bodyPr>
            <a:normAutofit fontScale="92500" lnSpcReduction="20000"/>
          </a:bodyPr>
          <a:lstStyle/>
          <a:p>
            <a:pPr marL="0" indent="0">
              <a:buNone/>
            </a:pPr>
            <a:r>
              <a:rPr lang="fr-FR" sz="1800" dirty="0"/>
              <a:t>Si ces 3 hypothèses ne tiennent pas, on peut arriver sur des situations où </a:t>
            </a:r>
          </a:p>
          <a:p>
            <a:pPr marL="457200" lvl="1" indent="0">
              <a:buNone/>
            </a:pPr>
            <a:endParaRPr lang="fr-FR" sz="1800" dirty="0"/>
          </a:p>
        </p:txBody>
      </p:sp>
      <p:sp>
        <p:nvSpPr>
          <p:cNvPr id="4" name="ZoneTexte 3">
            <a:extLst>
              <a:ext uri="{FF2B5EF4-FFF2-40B4-BE49-F238E27FC236}">
                <a16:creationId xmlns:a16="http://schemas.microsoft.com/office/drawing/2014/main" id="{3620F5A7-A3E2-B68E-8395-3EEF0D9D942C}"/>
              </a:ext>
            </a:extLst>
          </p:cNvPr>
          <p:cNvSpPr txBox="1"/>
          <p:nvPr/>
        </p:nvSpPr>
        <p:spPr>
          <a:xfrm>
            <a:off x="9588494" y="3776419"/>
            <a:ext cx="2508252" cy="1384994"/>
          </a:xfrm>
          <a:prstGeom prst="rect">
            <a:avLst/>
          </a:prstGeom>
          <a:noFill/>
          <a:ln>
            <a:solidFill>
              <a:schemeClr val="tx1"/>
            </a:solidFill>
          </a:ln>
        </p:spPr>
        <p:txBody>
          <a:bodyPr wrap="square" anchor="ctr">
            <a:noAutofit/>
          </a:bodyPr>
          <a:lstStyle/>
          <a:p>
            <a:pPr algn="ctr"/>
            <a:r>
              <a:rPr lang="fr-FR" sz="1200" dirty="0"/>
              <a:t>La Communauté n’existe pas encore, les membres cibles ne sont pas encore définis, les membres potentiels ne sont pas encore rencontrés. </a:t>
            </a:r>
          </a:p>
          <a:p>
            <a:pPr algn="ctr"/>
            <a:r>
              <a:rPr lang="fr-FR" sz="1200" dirty="0"/>
              <a:t>On cherche à prioriser quels contenus leur plairaient le plus</a:t>
            </a:r>
          </a:p>
        </p:txBody>
      </p:sp>
      <p:sp>
        <p:nvSpPr>
          <p:cNvPr id="5" name="ZoneTexte 4">
            <a:extLst>
              <a:ext uri="{FF2B5EF4-FFF2-40B4-BE49-F238E27FC236}">
                <a16:creationId xmlns:a16="http://schemas.microsoft.com/office/drawing/2014/main" id="{1551385D-DE81-0AC5-13C2-9BAE16FBFFB8}"/>
              </a:ext>
            </a:extLst>
          </p:cNvPr>
          <p:cNvSpPr txBox="1"/>
          <p:nvPr/>
        </p:nvSpPr>
        <p:spPr>
          <a:xfrm>
            <a:off x="9588494" y="5292321"/>
            <a:ext cx="2508252" cy="1384995"/>
          </a:xfrm>
          <a:prstGeom prst="rect">
            <a:avLst/>
          </a:prstGeom>
          <a:noFill/>
          <a:ln>
            <a:solidFill>
              <a:schemeClr val="tx1"/>
            </a:solidFill>
          </a:ln>
        </p:spPr>
        <p:txBody>
          <a:bodyPr wrap="square" anchor="ctr">
            <a:noAutofit/>
          </a:bodyPr>
          <a:lstStyle/>
          <a:p>
            <a:pPr algn="ctr"/>
            <a:r>
              <a:rPr lang="fr-FR" sz="1200" dirty="0"/>
              <a:t>Il y a 14 types d’événements possibles pour la prochaine heure collective. Il a été convenu de consulter au moins 10 membres et les 4 sponsors pour décider, donc prochain rendez-vous dans 3 mois.</a:t>
            </a:r>
          </a:p>
        </p:txBody>
      </p:sp>
      <p:sp>
        <p:nvSpPr>
          <p:cNvPr id="6" name="ZoneTexte 5">
            <a:extLst>
              <a:ext uri="{FF2B5EF4-FFF2-40B4-BE49-F238E27FC236}">
                <a16:creationId xmlns:a16="http://schemas.microsoft.com/office/drawing/2014/main" id="{71F884D6-CAB7-7965-8803-5BDC6E4619E2}"/>
              </a:ext>
            </a:extLst>
          </p:cNvPr>
          <p:cNvSpPr txBox="1"/>
          <p:nvPr/>
        </p:nvSpPr>
        <p:spPr>
          <a:xfrm>
            <a:off x="9588494" y="2239826"/>
            <a:ext cx="2508252" cy="1384994"/>
          </a:xfrm>
          <a:prstGeom prst="rect">
            <a:avLst/>
          </a:prstGeom>
          <a:noFill/>
          <a:ln>
            <a:solidFill>
              <a:schemeClr val="tx1"/>
            </a:solidFill>
          </a:ln>
        </p:spPr>
        <p:txBody>
          <a:bodyPr wrap="square" anchor="ctr">
            <a:noAutofit/>
          </a:bodyPr>
          <a:lstStyle/>
          <a:p>
            <a:pPr algn="ctr"/>
            <a:r>
              <a:rPr lang="fr-FR" sz="1200" dirty="0"/>
              <a:t>On veut monter une Communauté avec les 500 membres du service, mais on n’a pas encore choisi de thème ni d’effet cible. Aucune contrainte de la part de qui que ce soit, personne n’a d’avis de départ ni de choses à exprimer.</a:t>
            </a:r>
          </a:p>
        </p:txBody>
      </p:sp>
      <p:sp>
        <p:nvSpPr>
          <p:cNvPr id="8" name="ZoneTexte 7">
            <a:extLst>
              <a:ext uri="{FF2B5EF4-FFF2-40B4-BE49-F238E27FC236}">
                <a16:creationId xmlns:a16="http://schemas.microsoft.com/office/drawing/2014/main" id="{798CCD9A-B226-08DA-DE11-D37E7713EAC0}"/>
              </a:ext>
            </a:extLst>
          </p:cNvPr>
          <p:cNvSpPr txBox="1"/>
          <p:nvPr/>
        </p:nvSpPr>
        <p:spPr>
          <a:xfrm>
            <a:off x="4298942" y="1590596"/>
            <a:ext cx="2508252" cy="646331"/>
          </a:xfrm>
          <a:prstGeom prst="rect">
            <a:avLst/>
          </a:prstGeom>
          <a:noFill/>
        </p:spPr>
        <p:txBody>
          <a:bodyPr wrap="square">
            <a:spAutoFit/>
          </a:bodyPr>
          <a:lstStyle/>
          <a:p>
            <a:pPr marL="0" indent="0">
              <a:buNone/>
            </a:pPr>
            <a:r>
              <a:rPr lang="fr-FR" sz="1800" dirty="0"/>
              <a:t>Prioriser repose sur les hypothèses suivantes : </a:t>
            </a:r>
          </a:p>
        </p:txBody>
      </p:sp>
      <p:sp>
        <p:nvSpPr>
          <p:cNvPr id="14" name="ZoneTexte 13">
            <a:extLst>
              <a:ext uri="{FF2B5EF4-FFF2-40B4-BE49-F238E27FC236}">
                <a16:creationId xmlns:a16="http://schemas.microsoft.com/office/drawing/2014/main" id="{C3BA3A6E-3D9B-0265-36EF-4B7DF70A7AD5}"/>
              </a:ext>
            </a:extLst>
          </p:cNvPr>
          <p:cNvSpPr txBox="1"/>
          <p:nvPr/>
        </p:nvSpPr>
        <p:spPr>
          <a:xfrm>
            <a:off x="4279892" y="2238403"/>
            <a:ext cx="2508252" cy="1384994"/>
          </a:xfrm>
          <a:prstGeom prst="rect">
            <a:avLst/>
          </a:prstGeom>
          <a:solidFill>
            <a:srgbClr val="ED7D31"/>
          </a:solidFill>
          <a:ln>
            <a:noFill/>
          </a:ln>
        </p:spPr>
        <p:txBody>
          <a:bodyPr wrap="square" anchor="ctr">
            <a:noAutofit/>
          </a:bodyPr>
          <a:lstStyle/>
          <a:p>
            <a:pPr algn="ctr"/>
            <a:r>
              <a:rPr lang="fr-FR" sz="1200" dirty="0"/>
              <a:t>La Communauté dispose des ressources (outils, personnes, disponibilité, méthodes, contenus …) pour prioriser. Les personnes qui priorisent sont prêtes à cette responsabilité.</a:t>
            </a:r>
          </a:p>
        </p:txBody>
      </p:sp>
      <p:sp>
        <p:nvSpPr>
          <p:cNvPr id="15" name="ZoneTexte 14">
            <a:extLst>
              <a:ext uri="{FF2B5EF4-FFF2-40B4-BE49-F238E27FC236}">
                <a16:creationId xmlns:a16="http://schemas.microsoft.com/office/drawing/2014/main" id="{2104B7F1-B861-99A5-34EE-42C35B9708D4}"/>
              </a:ext>
            </a:extLst>
          </p:cNvPr>
          <p:cNvSpPr txBox="1"/>
          <p:nvPr/>
        </p:nvSpPr>
        <p:spPr>
          <a:xfrm>
            <a:off x="4298943" y="3765227"/>
            <a:ext cx="2508252" cy="1384994"/>
          </a:xfrm>
          <a:prstGeom prst="rect">
            <a:avLst/>
          </a:prstGeom>
          <a:solidFill>
            <a:srgbClr val="ED7D31"/>
          </a:solidFill>
          <a:ln>
            <a:noFill/>
          </a:ln>
        </p:spPr>
        <p:txBody>
          <a:bodyPr wrap="square" anchor="ctr">
            <a:noAutofit/>
          </a:bodyPr>
          <a:lstStyle/>
          <a:p>
            <a:pPr algn="ctr"/>
            <a:r>
              <a:rPr lang="fr-FR" sz="1200" dirty="0"/>
              <a:t>Un bon choix dans l’ordre peut apporter un bénéfice supérieur qu’un choix au hasard ou sans aucune réflexion</a:t>
            </a:r>
          </a:p>
        </p:txBody>
      </p:sp>
      <p:sp>
        <p:nvSpPr>
          <p:cNvPr id="16" name="ZoneTexte 15">
            <a:extLst>
              <a:ext uri="{FF2B5EF4-FFF2-40B4-BE49-F238E27FC236}">
                <a16:creationId xmlns:a16="http://schemas.microsoft.com/office/drawing/2014/main" id="{595CD38A-F4E9-7887-19B0-3E66D7DC4174}"/>
              </a:ext>
            </a:extLst>
          </p:cNvPr>
          <p:cNvSpPr txBox="1"/>
          <p:nvPr/>
        </p:nvSpPr>
        <p:spPr>
          <a:xfrm>
            <a:off x="4298942" y="5292322"/>
            <a:ext cx="2508252" cy="1384994"/>
          </a:xfrm>
          <a:prstGeom prst="rect">
            <a:avLst/>
          </a:prstGeom>
          <a:solidFill>
            <a:srgbClr val="ED7D31"/>
          </a:solidFill>
          <a:ln>
            <a:noFill/>
          </a:ln>
        </p:spPr>
        <p:txBody>
          <a:bodyPr wrap="square" anchor="ctr">
            <a:noAutofit/>
          </a:bodyPr>
          <a:lstStyle/>
          <a:p>
            <a:pPr algn="ctr"/>
            <a:r>
              <a:rPr lang="fr-FR" sz="1200" dirty="0"/>
              <a:t>Il est possible de « Bien choisir » parmi une liste de potentiels. (On fait l’hypothèse qu’il existe de meilleurs choix que d’autres)</a:t>
            </a:r>
          </a:p>
        </p:txBody>
      </p:sp>
      <p:sp>
        <p:nvSpPr>
          <p:cNvPr id="17" name="ZoneTexte 16">
            <a:extLst>
              <a:ext uri="{FF2B5EF4-FFF2-40B4-BE49-F238E27FC236}">
                <a16:creationId xmlns:a16="http://schemas.microsoft.com/office/drawing/2014/main" id="{11111B9C-2845-32FD-996E-0056DAAD41CA}"/>
              </a:ext>
            </a:extLst>
          </p:cNvPr>
          <p:cNvSpPr txBox="1"/>
          <p:nvPr/>
        </p:nvSpPr>
        <p:spPr>
          <a:xfrm>
            <a:off x="6943718" y="3766703"/>
            <a:ext cx="2508252" cy="1384994"/>
          </a:xfrm>
          <a:prstGeom prst="rect">
            <a:avLst/>
          </a:prstGeom>
          <a:solidFill>
            <a:srgbClr val="FF7C80"/>
          </a:solidFill>
          <a:ln>
            <a:noFill/>
          </a:ln>
        </p:spPr>
        <p:txBody>
          <a:bodyPr wrap="square" anchor="ctr">
            <a:noAutofit/>
          </a:bodyPr>
          <a:lstStyle/>
          <a:p>
            <a:pPr algn="ctr"/>
            <a:r>
              <a:rPr lang="fr-FR" sz="1200" dirty="0"/>
              <a:t>On dépense tellement d’énergie à prioriser qu’il n’y en a plus pour effectuer l’action qui est derrière la priorisation, ou pire : La Communauté est fatiguée sans sortir de l’indécision.</a:t>
            </a:r>
          </a:p>
        </p:txBody>
      </p:sp>
      <p:sp>
        <p:nvSpPr>
          <p:cNvPr id="18" name="ZoneTexte 17">
            <a:extLst>
              <a:ext uri="{FF2B5EF4-FFF2-40B4-BE49-F238E27FC236}">
                <a16:creationId xmlns:a16="http://schemas.microsoft.com/office/drawing/2014/main" id="{C1AE45CE-8E9C-56C9-8CB4-EEBBA42E910F}"/>
              </a:ext>
            </a:extLst>
          </p:cNvPr>
          <p:cNvSpPr txBox="1"/>
          <p:nvPr/>
        </p:nvSpPr>
        <p:spPr>
          <a:xfrm>
            <a:off x="6943718" y="5282606"/>
            <a:ext cx="2508252" cy="1384994"/>
          </a:xfrm>
          <a:prstGeom prst="rect">
            <a:avLst/>
          </a:prstGeom>
          <a:solidFill>
            <a:srgbClr val="FF7C80"/>
          </a:solidFill>
          <a:ln>
            <a:noFill/>
          </a:ln>
        </p:spPr>
        <p:txBody>
          <a:bodyPr wrap="square" anchor="ctr">
            <a:noAutofit/>
          </a:bodyPr>
          <a:lstStyle/>
          <a:p>
            <a:pPr algn="ctr"/>
            <a:r>
              <a:rPr lang="fr-FR" sz="1200" dirty="0"/>
              <a:t>La notion de « bon choix » est tellement difficile (subjective, soumise à consensus, incertaine, etc.) que tous les choix se valent</a:t>
            </a:r>
          </a:p>
        </p:txBody>
      </p:sp>
      <p:sp>
        <p:nvSpPr>
          <p:cNvPr id="19" name="ZoneTexte 18">
            <a:extLst>
              <a:ext uri="{FF2B5EF4-FFF2-40B4-BE49-F238E27FC236}">
                <a16:creationId xmlns:a16="http://schemas.microsoft.com/office/drawing/2014/main" id="{94523A02-A601-5B6B-D222-4907571DF223}"/>
              </a:ext>
            </a:extLst>
          </p:cNvPr>
          <p:cNvSpPr txBox="1"/>
          <p:nvPr/>
        </p:nvSpPr>
        <p:spPr>
          <a:xfrm>
            <a:off x="6943720" y="2238403"/>
            <a:ext cx="2508252" cy="1384994"/>
          </a:xfrm>
          <a:prstGeom prst="rect">
            <a:avLst/>
          </a:prstGeom>
          <a:solidFill>
            <a:srgbClr val="FF7C80"/>
          </a:solidFill>
          <a:ln>
            <a:noFill/>
          </a:ln>
        </p:spPr>
        <p:txBody>
          <a:bodyPr wrap="square" anchor="ctr">
            <a:noAutofit/>
          </a:bodyPr>
          <a:lstStyle/>
          <a:p>
            <a:pPr algn="ctr"/>
            <a:r>
              <a:rPr lang="fr-FR" sz="1200" dirty="0"/>
              <a:t>On a des difficultés à bien choisir car la liste d’options est trop floue, infinie, pas réunie au bon endroit ou trop hétérogène</a:t>
            </a:r>
          </a:p>
        </p:txBody>
      </p:sp>
      <p:pic>
        <p:nvPicPr>
          <p:cNvPr id="20" name="Graphique 19" descr="Priorités avec un remplissage uni">
            <a:extLst>
              <a:ext uri="{FF2B5EF4-FFF2-40B4-BE49-F238E27FC236}">
                <a16:creationId xmlns:a16="http://schemas.microsoft.com/office/drawing/2014/main" id="{A2416457-6C91-443B-B253-3004B120F5F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34988" y="277823"/>
            <a:ext cx="1171537" cy="1171537"/>
          </a:xfrm>
          <a:prstGeom prst="rect">
            <a:avLst/>
          </a:prstGeom>
        </p:spPr>
      </p:pic>
      <p:grpSp>
        <p:nvGrpSpPr>
          <p:cNvPr id="29" name="Groupe 28">
            <a:extLst>
              <a:ext uri="{FF2B5EF4-FFF2-40B4-BE49-F238E27FC236}">
                <a16:creationId xmlns:a16="http://schemas.microsoft.com/office/drawing/2014/main" id="{9F661546-1B05-9E55-7450-35B4B87BB6A5}"/>
              </a:ext>
            </a:extLst>
          </p:cNvPr>
          <p:cNvGrpSpPr/>
          <p:nvPr/>
        </p:nvGrpSpPr>
        <p:grpSpPr>
          <a:xfrm>
            <a:off x="1014721" y="4342744"/>
            <a:ext cx="1991300" cy="1991300"/>
            <a:chOff x="168514" y="2615341"/>
            <a:chExt cx="914400" cy="914400"/>
          </a:xfrm>
        </p:grpSpPr>
        <p:pic>
          <p:nvPicPr>
            <p:cNvPr id="30" name="Graphique 29" descr="Homme conductrice avec un remplissage uni">
              <a:extLst>
                <a:ext uri="{FF2B5EF4-FFF2-40B4-BE49-F238E27FC236}">
                  <a16:creationId xmlns:a16="http://schemas.microsoft.com/office/drawing/2014/main" id="{B9B0AD6F-BDEE-EE58-3D0E-DD43347E48F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68514" y="2615341"/>
              <a:ext cx="914400" cy="914400"/>
            </a:xfrm>
            <a:prstGeom prst="rect">
              <a:avLst/>
            </a:prstGeom>
          </p:spPr>
        </p:pic>
        <p:sp>
          <p:nvSpPr>
            <p:cNvPr id="31" name="Rectangle 30">
              <a:extLst>
                <a:ext uri="{FF2B5EF4-FFF2-40B4-BE49-F238E27FC236}">
                  <a16:creationId xmlns:a16="http://schemas.microsoft.com/office/drawing/2014/main" id="{45286582-F90C-1D50-C908-50DAF15524BB}"/>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sp>
        <p:nvSpPr>
          <p:cNvPr id="32" name="Bulle narrative : ronde 31">
            <a:extLst>
              <a:ext uri="{FF2B5EF4-FFF2-40B4-BE49-F238E27FC236}">
                <a16:creationId xmlns:a16="http://schemas.microsoft.com/office/drawing/2014/main" id="{F1125EE8-7888-F2FC-92AF-226C24483E74}"/>
              </a:ext>
            </a:extLst>
          </p:cNvPr>
          <p:cNvSpPr/>
          <p:nvPr/>
        </p:nvSpPr>
        <p:spPr>
          <a:xfrm>
            <a:off x="1018151" y="1704975"/>
            <a:ext cx="2429900" cy="2425694"/>
          </a:xfrm>
          <a:prstGeom prst="wedgeEllipseCallout">
            <a:avLst>
              <a:gd name="adj1" fmla="val -7897"/>
              <a:gd name="adj2" fmla="val 5975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De quoi avons-nous besoin pour prioriser ?</a:t>
            </a:r>
          </a:p>
        </p:txBody>
      </p:sp>
    </p:spTree>
    <p:extLst>
      <p:ext uri="{BB962C8B-B14F-4D97-AF65-F5344CB8AC3E}">
        <p14:creationId xmlns:p14="http://schemas.microsoft.com/office/powerpoint/2010/main" val="3252132370"/>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552BFC1-E4AD-675B-B895-5EEE4EE65F14}"/>
              </a:ext>
            </a:extLst>
          </p:cNvPr>
          <p:cNvSpPr>
            <a:spLocks noGrp="1"/>
          </p:cNvSpPr>
          <p:nvPr>
            <p:ph type="title"/>
          </p:nvPr>
        </p:nvSpPr>
        <p:spPr>
          <a:xfrm>
            <a:off x="1552574" y="365126"/>
            <a:ext cx="9801225" cy="901700"/>
          </a:xfrm>
        </p:spPr>
        <p:txBody>
          <a:bodyPr>
            <a:normAutofit/>
          </a:bodyPr>
          <a:lstStyle/>
          <a:p>
            <a:r>
              <a:rPr lang="fr-FR" sz="4000" dirty="0"/>
              <a:t>L’exercice de priorisation et ses effets</a:t>
            </a:r>
          </a:p>
        </p:txBody>
      </p:sp>
      <p:sp>
        <p:nvSpPr>
          <p:cNvPr id="4" name="ZoneTexte 3">
            <a:extLst>
              <a:ext uri="{FF2B5EF4-FFF2-40B4-BE49-F238E27FC236}">
                <a16:creationId xmlns:a16="http://schemas.microsoft.com/office/drawing/2014/main" id="{9DBF43AE-CA05-ECF1-462E-E41964A8A8E2}"/>
              </a:ext>
            </a:extLst>
          </p:cNvPr>
          <p:cNvSpPr txBox="1"/>
          <p:nvPr/>
        </p:nvSpPr>
        <p:spPr>
          <a:xfrm>
            <a:off x="4641748" y="2061679"/>
            <a:ext cx="2131141" cy="715332"/>
          </a:xfrm>
          <a:prstGeom prst="rect">
            <a:avLst/>
          </a:prstGeom>
          <a:solidFill>
            <a:srgbClr val="54FFB3"/>
          </a:solidFill>
          <a:ln>
            <a:noFill/>
          </a:ln>
        </p:spPr>
        <p:txBody>
          <a:bodyPr wrap="square" anchor="ctr">
            <a:noAutofit/>
          </a:bodyPr>
          <a:lstStyle/>
          <a:p>
            <a:pPr algn="ctr"/>
            <a:r>
              <a:rPr lang="fr-FR" sz="1200" dirty="0"/>
              <a:t>Donne l’occasion supplémentaire de s’exprimer sur l’intérêt relatif d’actions à faire</a:t>
            </a:r>
          </a:p>
        </p:txBody>
      </p:sp>
      <p:sp>
        <p:nvSpPr>
          <p:cNvPr id="5" name="ZoneTexte 4">
            <a:extLst>
              <a:ext uri="{FF2B5EF4-FFF2-40B4-BE49-F238E27FC236}">
                <a16:creationId xmlns:a16="http://schemas.microsoft.com/office/drawing/2014/main" id="{F70E366A-E969-960B-BF6F-96299A73CC32}"/>
              </a:ext>
            </a:extLst>
          </p:cNvPr>
          <p:cNvSpPr txBox="1"/>
          <p:nvPr/>
        </p:nvSpPr>
        <p:spPr>
          <a:xfrm>
            <a:off x="4641748" y="2826916"/>
            <a:ext cx="2131141" cy="715332"/>
          </a:xfrm>
          <a:prstGeom prst="rect">
            <a:avLst/>
          </a:prstGeom>
          <a:solidFill>
            <a:srgbClr val="54FFB3"/>
          </a:solidFill>
          <a:ln>
            <a:noFill/>
          </a:ln>
        </p:spPr>
        <p:txBody>
          <a:bodyPr wrap="square" anchor="ctr">
            <a:noAutofit/>
          </a:bodyPr>
          <a:lstStyle/>
          <a:p>
            <a:pPr algn="ctr"/>
            <a:r>
              <a:rPr lang="fr-FR" sz="1200" dirty="0"/>
              <a:t>Donne l’occasion de clarifier un cap commun pour la Communauté</a:t>
            </a:r>
          </a:p>
        </p:txBody>
      </p:sp>
      <p:sp>
        <p:nvSpPr>
          <p:cNvPr id="6" name="ZoneTexte 5">
            <a:extLst>
              <a:ext uri="{FF2B5EF4-FFF2-40B4-BE49-F238E27FC236}">
                <a16:creationId xmlns:a16="http://schemas.microsoft.com/office/drawing/2014/main" id="{9DE18490-F88B-76F5-B50B-D08B64AEB32A}"/>
              </a:ext>
            </a:extLst>
          </p:cNvPr>
          <p:cNvSpPr txBox="1"/>
          <p:nvPr/>
        </p:nvSpPr>
        <p:spPr>
          <a:xfrm>
            <a:off x="6854750" y="2061678"/>
            <a:ext cx="2131141" cy="715332"/>
          </a:xfrm>
          <a:prstGeom prst="rect">
            <a:avLst/>
          </a:prstGeom>
          <a:solidFill>
            <a:srgbClr val="FF7C80"/>
          </a:solidFill>
          <a:ln>
            <a:noFill/>
          </a:ln>
        </p:spPr>
        <p:txBody>
          <a:bodyPr wrap="square" anchor="ctr">
            <a:noAutofit/>
          </a:bodyPr>
          <a:lstStyle/>
          <a:p>
            <a:pPr algn="ctr"/>
            <a:r>
              <a:rPr lang="fr-FR" sz="1200" dirty="0"/>
              <a:t>Nécessite l’effort préalable de recenser à un même endroit suffisamment d’éléments comparables</a:t>
            </a:r>
          </a:p>
        </p:txBody>
      </p:sp>
      <p:sp>
        <p:nvSpPr>
          <p:cNvPr id="7" name="ZoneTexte 6">
            <a:extLst>
              <a:ext uri="{FF2B5EF4-FFF2-40B4-BE49-F238E27FC236}">
                <a16:creationId xmlns:a16="http://schemas.microsoft.com/office/drawing/2014/main" id="{BA4FE51D-CBB3-097B-2552-9AB92DD49C31}"/>
              </a:ext>
            </a:extLst>
          </p:cNvPr>
          <p:cNvSpPr txBox="1"/>
          <p:nvPr/>
        </p:nvSpPr>
        <p:spPr>
          <a:xfrm>
            <a:off x="6854751" y="2826915"/>
            <a:ext cx="2131141" cy="715332"/>
          </a:xfrm>
          <a:prstGeom prst="rect">
            <a:avLst/>
          </a:prstGeom>
          <a:solidFill>
            <a:srgbClr val="FF7C80"/>
          </a:solidFill>
          <a:ln>
            <a:noFill/>
          </a:ln>
        </p:spPr>
        <p:txBody>
          <a:bodyPr wrap="square" anchor="ctr">
            <a:noAutofit/>
          </a:bodyPr>
          <a:lstStyle/>
          <a:p>
            <a:pPr algn="ctr"/>
            <a:r>
              <a:rPr lang="fr-FR" sz="1200" dirty="0"/>
              <a:t>Peut donner l’impression d’enfermer dans un ordre et retirer le sentiment de liberté</a:t>
            </a:r>
          </a:p>
        </p:txBody>
      </p:sp>
      <p:sp>
        <p:nvSpPr>
          <p:cNvPr id="8" name="ZoneTexte 7">
            <a:extLst>
              <a:ext uri="{FF2B5EF4-FFF2-40B4-BE49-F238E27FC236}">
                <a16:creationId xmlns:a16="http://schemas.microsoft.com/office/drawing/2014/main" id="{D62D977C-FA45-2C5F-D262-CD4232F160B6}"/>
              </a:ext>
            </a:extLst>
          </p:cNvPr>
          <p:cNvSpPr txBox="1"/>
          <p:nvPr/>
        </p:nvSpPr>
        <p:spPr>
          <a:xfrm>
            <a:off x="4641747" y="3592153"/>
            <a:ext cx="2131141" cy="715332"/>
          </a:xfrm>
          <a:prstGeom prst="rect">
            <a:avLst/>
          </a:prstGeom>
          <a:solidFill>
            <a:srgbClr val="54FFB3"/>
          </a:solidFill>
          <a:ln>
            <a:noFill/>
          </a:ln>
        </p:spPr>
        <p:txBody>
          <a:bodyPr wrap="square" anchor="ctr">
            <a:noAutofit/>
          </a:bodyPr>
          <a:lstStyle/>
          <a:p>
            <a:pPr algn="ctr"/>
            <a:r>
              <a:rPr lang="fr-FR" sz="1200" dirty="0"/>
              <a:t>Peut faire émerger une façon de décider, peut faire trouver un accord supplémentaire dans la foulée</a:t>
            </a:r>
          </a:p>
        </p:txBody>
      </p:sp>
      <p:sp>
        <p:nvSpPr>
          <p:cNvPr id="9" name="ZoneTexte 8">
            <a:extLst>
              <a:ext uri="{FF2B5EF4-FFF2-40B4-BE49-F238E27FC236}">
                <a16:creationId xmlns:a16="http://schemas.microsoft.com/office/drawing/2014/main" id="{508F0642-F8E2-B55C-3E2B-3DF3E68A60CA}"/>
              </a:ext>
            </a:extLst>
          </p:cNvPr>
          <p:cNvSpPr txBox="1"/>
          <p:nvPr/>
        </p:nvSpPr>
        <p:spPr>
          <a:xfrm>
            <a:off x="4641746" y="4357390"/>
            <a:ext cx="2131141" cy="715332"/>
          </a:xfrm>
          <a:prstGeom prst="rect">
            <a:avLst/>
          </a:prstGeom>
          <a:solidFill>
            <a:srgbClr val="54FFB3"/>
          </a:solidFill>
          <a:ln>
            <a:noFill/>
          </a:ln>
        </p:spPr>
        <p:txBody>
          <a:bodyPr wrap="square" anchor="ctr">
            <a:noAutofit/>
          </a:bodyPr>
          <a:lstStyle/>
          <a:p>
            <a:pPr algn="ctr"/>
            <a:r>
              <a:rPr lang="fr-FR" sz="1200" dirty="0"/>
              <a:t>Peut faire émerger des leaders informels, permet d’identifier les dynamiques d’influence entre membres</a:t>
            </a:r>
          </a:p>
        </p:txBody>
      </p:sp>
      <p:sp>
        <p:nvSpPr>
          <p:cNvPr id="10" name="ZoneTexte 9">
            <a:extLst>
              <a:ext uri="{FF2B5EF4-FFF2-40B4-BE49-F238E27FC236}">
                <a16:creationId xmlns:a16="http://schemas.microsoft.com/office/drawing/2014/main" id="{22A67C58-6D76-C988-8D30-68F9295A9A2D}"/>
              </a:ext>
            </a:extLst>
          </p:cNvPr>
          <p:cNvSpPr txBox="1"/>
          <p:nvPr/>
        </p:nvSpPr>
        <p:spPr>
          <a:xfrm>
            <a:off x="4641746" y="5122628"/>
            <a:ext cx="2131141" cy="715332"/>
          </a:xfrm>
          <a:prstGeom prst="rect">
            <a:avLst/>
          </a:prstGeom>
          <a:solidFill>
            <a:srgbClr val="54FFB3"/>
          </a:solidFill>
          <a:ln>
            <a:noFill/>
          </a:ln>
        </p:spPr>
        <p:txBody>
          <a:bodyPr wrap="square" anchor="ctr">
            <a:noAutofit/>
          </a:bodyPr>
          <a:lstStyle/>
          <a:p>
            <a:pPr algn="ctr"/>
            <a:r>
              <a:rPr lang="fr-FR" sz="1200" dirty="0"/>
              <a:t>Réduit la frustration future de ne pas effectuer certaines actions reconnues « non prioritaires »</a:t>
            </a:r>
          </a:p>
        </p:txBody>
      </p:sp>
      <p:sp>
        <p:nvSpPr>
          <p:cNvPr id="12" name="ZoneTexte 11">
            <a:extLst>
              <a:ext uri="{FF2B5EF4-FFF2-40B4-BE49-F238E27FC236}">
                <a16:creationId xmlns:a16="http://schemas.microsoft.com/office/drawing/2014/main" id="{931519C3-3D07-3A0A-D688-C4225BE4AB55}"/>
              </a:ext>
            </a:extLst>
          </p:cNvPr>
          <p:cNvSpPr txBox="1"/>
          <p:nvPr/>
        </p:nvSpPr>
        <p:spPr>
          <a:xfrm>
            <a:off x="6854749" y="3592153"/>
            <a:ext cx="2131141" cy="715332"/>
          </a:xfrm>
          <a:prstGeom prst="rect">
            <a:avLst/>
          </a:prstGeom>
          <a:solidFill>
            <a:srgbClr val="FF7C80"/>
          </a:solidFill>
          <a:ln>
            <a:noFill/>
          </a:ln>
        </p:spPr>
        <p:txBody>
          <a:bodyPr wrap="square" anchor="ctr">
            <a:noAutofit/>
          </a:bodyPr>
          <a:lstStyle/>
          <a:p>
            <a:pPr algn="ctr"/>
            <a:r>
              <a:rPr lang="fr-FR" sz="1200" dirty="0"/>
              <a:t>Peut générer de la confusion et encore plus de complexité, des éléments supplémentaires</a:t>
            </a:r>
          </a:p>
        </p:txBody>
      </p:sp>
      <p:sp>
        <p:nvSpPr>
          <p:cNvPr id="13" name="ZoneTexte 12">
            <a:extLst>
              <a:ext uri="{FF2B5EF4-FFF2-40B4-BE49-F238E27FC236}">
                <a16:creationId xmlns:a16="http://schemas.microsoft.com/office/drawing/2014/main" id="{C79A1E03-67AB-1CA8-2CAA-8FEF7D5CA247}"/>
              </a:ext>
            </a:extLst>
          </p:cNvPr>
          <p:cNvSpPr txBox="1"/>
          <p:nvPr/>
        </p:nvSpPr>
        <p:spPr>
          <a:xfrm>
            <a:off x="6854749" y="4357153"/>
            <a:ext cx="2131141" cy="715332"/>
          </a:xfrm>
          <a:prstGeom prst="rect">
            <a:avLst/>
          </a:prstGeom>
          <a:solidFill>
            <a:srgbClr val="FF7C80"/>
          </a:solidFill>
          <a:ln>
            <a:noFill/>
          </a:ln>
        </p:spPr>
        <p:txBody>
          <a:bodyPr wrap="square" anchor="ctr">
            <a:noAutofit/>
          </a:bodyPr>
          <a:lstStyle/>
          <a:p>
            <a:pPr algn="ctr"/>
            <a:r>
              <a:rPr lang="fr-FR" sz="1200" dirty="0"/>
              <a:t>Nécessite certaines conditions de déroulement (facilitation, étapes, ...) si la priorisation se fait en groupe</a:t>
            </a:r>
          </a:p>
        </p:txBody>
      </p:sp>
      <p:sp>
        <p:nvSpPr>
          <p:cNvPr id="14" name="ZoneTexte 13">
            <a:extLst>
              <a:ext uri="{FF2B5EF4-FFF2-40B4-BE49-F238E27FC236}">
                <a16:creationId xmlns:a16="http://schemas.microsoft.com/office/drawing/2014/main" id="{0A004812-F391-2944-21EE-BE0E4C7EE9DD}"/>
              </a:ext>
            </a:extLst>
          </p:cNvPr>
          <p:cNvSpPr txBox="1"/>
          <p:nvPr/>
        </p:nvSpPr>
        <p:spPr>
          <a:xfrm>
            <a:off x="6854749" y="5122152"/>
            <a:ext cx="2131141" cy="715332"/>
          </a:xfrm>
          <a:prstGeom prst="rect">
            <a:avLst/>
          </a:prstGeom>
          <a:solidFill>
            <a:srgbClr val="FF7C80"/>
          </a:solidFill>
          <a:ln>
            <a:noFill/>
          </a:ln>
        </p:spPr>
        <p:txBody>
          <a:bodyPr wrap="square" anchor="ctr">
            <a:noAutofit/>
          </a:bodyPr>
          <a:lstStyle/>
          <a:p>
            <a:pPr algn="ctr"/>
            <a:r>
              <a:rPr lang="fr-FR" sz="1200" dirty="0"/>
              <a:t>Déclenche la désillusion, peut créer de la frustration sur le moment car « On ne peut pas tout faire »</a:t>
            </a:r>
          </a:p>
        </p:txBody>
      </p:sp>
      <p:sp>
        <p:nvSpPr>
          <p:cNvPr id="15" name="ZoneTexte 14">
            <a:extLst>
              <a:ext uri="{FF2B5EF4-FFF2-40B4-BE49-F238E27FC236}">
                <a16:creationId xmlns:a16="http://schemas.microsoft.com/office/drawing/2014/main" id="{9B2DC4F7-BAFF-4FDD-AD47-F2FAB72B19B8}"/>
              </a:ext>
            </a:extLst>
          </p:cNvPr>
          <p:cNvSpPr txBox="1"/>
          <p:nvPr/>
        </p:nvSpPr>
        <p:spPr>
          <a:xfrm>
            <a:off x="4641746" y="5887866"/>
            <a:ext cx="2131141" cy="715332"/>
          </a:xfrm>
          <a:prstGeom prst="rect">
            <a:avLst/>
          </a:prstGeom>
          <a:solidFill>
            <a:srgbClr val="54FFB3"/>
          </a:solidFill>
          <a:ln>
            <a:noFill/>
          </a:ln>
        </p:spPr>
        <p:txBody>
          <a:bodyPr wrap="square" anchor="ctr">
            <a:noAutofit/>
          </a:bodyPr>
          <a:lstStyle/>
          <a:p>
            <a:pPr algn="ctr"/>
            <a:r>
              <a:rPr lang="fr-FR" sz="1200" dirty="0"/>
              <a:t>Est l’occasion d’un moment collectif, d’une interaction supplémentaire</a:t>
            </a:r>
          </a:p>
        </p:txBody>
      </p:sp>
      <p:sp>
        <p:nvSpPr>
          <p:cNvPr id="16" name="ZoneTexte 15">
            <a:extLst>
              <a:ext uri="{FF2B5EF4-FFF2-40B4-BE49-F238E27FC236}">
                <a16:creationId xmlns:a16="http://schemas.microsoft.com/office/drawing/2014/main" id="{345A7053-85A4-A5B3-2F97-8155EF3A9546}"/>
              </a:ext>
            </a:extLst>
          </p:cNvPr>
          <p:cNvSpPr txBox="1"/>
          <p:nvPr/>
        </p:nvSpPr>
        <p:spPr>
          <a:xfrm>
            <a:off x="6854749" y="5887865"/>
            <a:ext cx="2131141" cy="715332"/>
          </a:xfrm>
          <a:prstGeom prst="rect">
            <a:avLst/>
          </a:prstGeom>
          <a:solidFill>
            <a:srgbClr val="FF7C80"/>
          </a:solidFill>
          <a:ln>
            <a:noFill/>
          </a:ln>
        </p:spPr>
        <p:txBody>
          <a:bodyPr wrap="square" anchor="ctr">
            <a:noAutofit/>
          </a:bodyPr>
          <a:lstStyle/>
          <a:p>
            <a:pPr algn="ctr"/>
            <a:r>
              <a:rPr lang="fr-FR" sz="1200" dirty="0"/>
              <a:t>Met en exergue les désaccords sur le moment (peut impacter le sentiment d’unité)</a:t>
            </a:r>
          </a:p>
        </p:txBody>
      </p:sp>
      <p:pic>
        <p:nvPicPr>
          <p:cNvPr id="17" name="Graphique 16" descr="Priorités avec un remplissage uni">
            <a:extLst>
              <a:ext uri="{FF2B5EF4-FFF2-40B4-BE49-F238E27FC236}">
                <a16:creationId xmlns:a16="http://schemas.microsoft.com/office/drawing/2014/main" id="{29B96189-8D87-9AD7-E07F-258C73E26FE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54063" y="307364"/>
            <a:ext cx="1171537" cy="1171537"/>
          </a:xfrm>
          <a:prstGeom prst="rect">
            <a:avLst/>
          </a:prstGeom>
        </p:spPr>
      </p:pic>
      <p:grpSp>
        <p:nvGrpSpPr>
          <p:cNvPr id="18" name="Groupe 17">
            <a:extLst>
              <a:ext uri="{FF2B5EF4-FFF2-40B4-BE49-F238E27FC236}">
                <a16:creationId xmlns:a16="http://schemas.microsoft.com/office/drawing/2014/main" id="{AAE53CAE-90A8-970C-C1A9-3EF3C8E4209B}"/>
              </a:ext>
            </a:extLst>
          </p:cNvPr>
          <p:cNvGrpSpPr/>
          <p:nvPr/>
        </p:nvGrpSpPr>
        <p:grpSpPr>
          <a:xfrm>
            <a:off x="1014721" y="4342744"/>
            <a:ext cx="1991300" cy="1991300"/>
            <a:chOff x="168514" y="2615341"/>
            <a:chExt cx="914400" cy="914400"/>
          </a:xfrm>
        </p:grpSpPr>
        <p:pic>
          <p:nvPicPr>
            <p:cNvPr id="19" name="Graphique 18" descr="Homme conductrice avec un remplissage uni">
              <a:extLst>
                <a:ext uri="{FF2B5EF4-FFF2-40B4-BE49-F238E27FC236}">
                  <a16:creationId xmlns:a16="http://schemas.microsoft.com/office/drawing/2014/main" id="{96C78278-9711-E105-936A-F00F2C1B447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68514" y="2615341"/>
              <a:ext cx="914400" cy="914400"/>
            </a:xfrm>
            <a:prstGeom prst="rect">
              <a:avLst/>
            </a:prstGeom>
          </p:spPr>
        </p:pic>
        <p:sp>
          <p:nvSpPr>
            <p:cNvPr id="20" name="Rectangle 19">
              <a:extLst>
                <a:ext uri="{FF2B5EF4-FFF2-40B4-BE49-F238E27FC236}">
                  <a16:creationId xmlns:a16="http://schemas.microsoft.com/office/drawing/2014/main" id="{C2C2BA32-BF86-77FD-657C-D8EBD2E0ACF4}"/>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sp>
        <p:nvSpPr>
          <p:cNvPr id="21" name="Bulle narrative : ronde 20">
            <a:extLst>
              <a:ext uri="{FF2B5EF4-FFF2-40B4-BE49-F238E27FC236}">
                <a16:creationId xmlns:a16="http://schemas.microsoft.com/office/drawing/2014/main" id="{07302B13-E9E4-D4E1-BBC9-4538A8B3C757}"/>
              </a:ext>
            </a:extLst>
          </p:cNvPr>
          <p:cNvSpPr/>
          <p:nvPr/>
        </p:nvSpPr>
        <p:spPr>
          <a:xfrm>
            <a:off x="1018151" y="1704975"/>
            <a:ext cx="2429900" cy="2425694"/>
          </a:xfrm>
          <a:prstGeom prst="wedgeEllipseCallout">
            <a:avLst>
              <a:gd name="adj1" fmla="val -7897"/>
              <a:gd name="adj2" fmla="val 5975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Quels sont les autres effets de la priorisation sur la Communauté ?</a:t>
            </a:r>
          </a:p>
        </p:txBody>
      </p:sp>
      <p:sp>
        <p:nvSpPr>
          <p:cNvPr id="22" name="ZoneTexte 21">
            <a:extLst>
              <a:ext uri="{FF2B5EF4-FFF2-40B4-BE49-F238E27FC236}">
                <a16:creationId xmlns:a16="http://schemas.microsoft.com/office/drawing/2014/main" id="{BE60AB6F-195F-8CFF-BD5E-C1C3D5F054C2}"/>
              </a:ext>
            </a:extLst>
          </p:cNvPr>
          <p:cNvSpPr txBox="1"/>
          <p:nvPr/>
        </p:nvSpPr>
        <p:spPr>
          <a:xfrm>
            <a:off x="4642292" y="1288010"/>
            <a:ext cx="2131141" cy="715332"/>
          </a:xfrm>
          <a:prstGeom prst="rect">
            <a:avLst/>
          </a:prstGeom>
          <a:solidFill>
            <a:srgbClr val="54FFB3"/>
          </a:solidFill>
          <a:ln>
            <a:noFill/>
          </a:ln>
        </p:spPr>
        <p:txBody>
          <a:bodyPr wrap="square" anchor="ctr">
            <a:noAutofit/>
          </a:bodyPr>
          <a:lstStyle/>
          <a:p>
            <a:pPr algn="ctr"/>
            <a:r>
              <a:rPr lang="fr-FR" sz="1200" dirty="0"/>
              <a:t>Officialise l’accord sur « Ce par quoi on commence »</a:t>
            </a:r>
          </a:p>
        </p:txBody>
      </p:sp>
      <p:sp>
        <p:nvSpPr>
          <p:cNvPr id="23" name="ZoneTexte 22">
            <a:extLst>
              <a:ext uri="{FF2B5EF4-FFF2-40B4-BE49-F238E27FC236}">
                <a16:creationId xmlns:a16="http://schemas.microsoft.com/office/drawing/2014/main" id="{B4458CA3-D902-C144-146C-5D347F78AA37}"/>
              </a:ext>
            </a:extLst>
          </p:cNvPr>
          <p:cNvSpPr txBox="1"/>
          <p:nvPr/>
        </p:nvSpPr>
        <p:spPr>
          <a:xfrm>
            <a:off x="6855294" y="1288009"/>
            <a:ext cx="2131141" cy="715332"/>
          </a:xfrm>
          <a:prstGeom prst="rect">
            <a:avLst/>
          </a:prstGeom>
          <a:solidFill>
            <a:srgbClr val="FF7C80"/>
          </a:solidFill>
          <a:ln>
            <a:noFill/>
          </a:ln>
        </p:spPr>
        <p:txBody>
          <a:bodyPr wrap="square" anchor="ctr">
            <a:noAutofit/>
          </a:bodyPr>
          <a:lstStyle/>
          <a:p>
            <a:pPr algn="ctr"/>
            <a:r>
              <a:rPr lang="fr-FR" sz="1200" dirty="0"/>
              <a:t>Peut nécessiter de faire accepter aux membres les conditions de la décision</a:t>
            </a:r>
          </a:p>
        </p:txBody>
      </p:sp>
    </p:spTree>
    <p:extLst>
      <p:ext uri="{BB962C8B-B14F-4D97-AF65-F5344CB8AC3E}">
        <p14:creationId xmlns:p14="http://schemas.microsoft.com/office/powerpoint/2010/main" val="3081944416"/>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4D059F9-E966-7265-8186-245F19C49032}"/>
              </a:ext>
            </a:extLst>
          </p:cNvPr>
          <p:cNvSpPr>
            <a:spLocks noGrp="1"/>
          </p:cNvSpPr>
          <p:nvPr>
            <p:ph type="title"/>
          </p:nvPr>
        </p:nvSpPr>
        <p:spPr>
          <a:xfrm>
            <a:off x="1625600" y="365126"/>
            <a:ext cx="9728200" cy="632842"/>
          </a:xfrm>
        </p:spPr>
        <p:txBody>
          <a:bodyPr>
            <a:normAutofit fontScale="90000"/>
          </a:bodyPr>
          <a:lstStyle/>
          <a:p>
            <a:r>
              <a:rPr lang="fr-FR" dirty="0"/>
              <a:t>Les points de priorisation de la Communauté</a:t>
            </a:r>
          </a:p>
        </p:txBody>
      </p:sp>
      <p:sp>
        <p:nvSpPr>
          <p:cNvPr id="3" name="Espace réservé du contenu 2">
            <a:extLst>
              <a:ext uri="{FF2B5EF4-FFF2-40B4-BE49-F238E27FC236}">
                <a16:creationId xmlns:a16="http://schemas.microsoft.com/office/drawing/2014/main" id="{EBF1F1EC-2130-F7F0-3237-3FABC40F0AAF}"/>
              </a:ext>
            </a:extLst>
          </p:cNvPr>
          <p:cNvSpPr>
            <a:spLocks noGrp="1"/>
          </p:cNvSpPr>
          <p:nvPr>
            <p:ph idx="1"/>
          </p:nvPr>
        </p:nvSpPr>
        <p:spPr>
          <a:xfrm>
            <a:off x="2763347" y="1539295"/>
            <a:ext cx="8053704" cy="1603375"/>
          </a:xfrm>
        </p:spPr>
        <p:txBody>
          <a:bodyPr>
            <a:normAutofit/>
          </a:bodyPr>
          <a:lstStyle/>
          <a:p>
            <a:r>
              <a:rPr lang="fr-FR" sz="1800" dirty="0"/>
              <a:t>Il y a souvent beaucoup de choses à faire dans la Communauté et pour la Communauté. Vouloir tout prioriser systématiquement par tous et en continu peut avoir des coûts de gestion très importants.</a:t>
            </a:r>
          </a:p>
          <a:p>
            <a:r>
              <a:rPr lang="fr-FR" sz="1800" dirty="0"/>
              <a:t>Pour simplifier l’exercice de priorisation on peut définir des points de priorisation. Chaque point est une instance de priorisation définie par :</a:t>
            </a:r>
          </a:p>
          <a:p>
            <a:pPr marL="457200" lvl="1" indent="0">
              <a:buNone/>
            </a:pPr>
            <a:endParaRPr lang="fr-FR" sz="1600" dirty="0"/>
          </a:p>
        </p:txBody>
      </p:sp>
      <p:grpSp>
        <p:nvGrpSpPr>
          <p:cNvPr id="4" name="Groupe 3">
            <a:extLst>
              <a:ext uri="{FF2B5EF4-FFF2-40B4-BE49-F238E27FC236}">
                <a16:creationId xmlns:a16="http://schemas.microsoft.com/office/drawing/2014/main" id="{E0A4765B-78DD-7700-6B10-480D7A18E261}"/>
              </a:ext>
            </a:extLst>
          </p:cNvPr>
          <p:cNvGrpSpPr/>
          <p:nvPr/>
        </p:nvGrpSpPr>
        <p:grpSpPr>
          <a:xfrm>
            <a:off x="289327" y="4393391"/>
            <a:ext cx="1991300" cy="1991300"/>
            <a:chOff x="168514" y="2615341"/>
            <a:chExt cx="914400" cy="914400"/>
          </a:xfrm>
        </p:grpSpPr>
        <p:pic>
          <p:nvPicPr>
            <p:cNvPr id="5" name="Graphique 4" descr="Homme conductrice avec un remplissage uni">
              <a:extLst>
                <a:ext uri="{FF2B5EF4-FFF2-40B4-BE49-F238E27FC236}">
                  <a16:creationId xmlns:a16="http://schemas.microsoft.com/office/drawing/2014/main" id="{E0E486DD-46A6-8103-1ABD-9DB33862B96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514" y="2615341"/>
              <a:ext cx="914400" cy="914400"/>
            </a:xfrm>
            <a:prstGeom prst="rect">
              <a:avLst/>
            </a:prstGeom>
          </p:spPr>
        </p:pic>
        <p:sp>
          <p:nvSpPr>
            <p:cNvPr id="6" name="Rectangle 5">
              <a:extLst>
                <a:ext uri="{FF2B5EF4-FFF2-40B4-BE49-F238E27FC236}">
                  <a16:creationId xmlns:a16="http://schemas.microsoft.com/office/drawing/2014/main" id="{3E589221-CC21-8169-313C-3B72935A2E3E}"/>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sp>
        <p:nvSpPr>
          <p:cNvPr id="7" name="Bulle narrative : ronde 6">
            <a:extLst>
              <a:ext uri="{FF2B5EF4-FFF2-40B4-BE49-F238E27FC236}">
                <a16:creationId xmlns:a16="http://schemas.microsoft.com/office/drawing/2014/main" id="{9D22D8BD-C27F-FAED-0348-B7406AE259B5}"/>
              </a:ext>
            </a:extLst>
          </p:cNvPr>
          <p:cNvSpPr/>
          <p:nvPr/>
        </p:nvSpPr>
        <p:spPr>
          <a:xfrm>
            <a:off x="292757" y="1755622"/>
            <a:ext cx="2429900" cy="2425694"/>
          </a:xfrm>
          <a:prstGeom prst="wedgeEllipseCallout">
            <a:avLst>
              <a:gd name="adj1" fmla="val -7897"/>
              <a:gd name="adj2" fmla="val 5975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Doit-on TOUT prioriser EN CONTINU et PAR TOUS ?</a:t>
            </a:r>
          </a:p>
        </p:txBody>
      </p:sp>
      <p:sp>
        <p:nvSpPr>
          <p:cNvPr id="11" name="ZoneTexte 10">
            <a:extLst>
              <a:ext uri="{FF2B5EF4-FFF2-40B4-BE49-F238E27FC236}">
                <a16:creationId xmlns:a16="http://schemas.microsoft.com/office/drawing/2014/main" id="{37AB1452-5429-24A4-5558-398F5D74FE12}"/>
              </a:ext>
            </a:extLst>
          </p:cNvPr>
          <p:cNvSpPr txBox="1"/>
          <p:nvPr/>
        </p:nvSpPr>
        <p:spPr>
          <a:xfrm>
            <a:off x="2681159" y="4290373"/>
            <a:ext cx="1323975" cy="1569660"/>
          </a:xfrm>
          <a:prstGeom prst="rect">
            <a:avLst/>
          </a:prstGeom>
          <a:noFill/>
        </p:spPr>
        <p:txBody>
          <a:bodyPr wrap="square">
            <a:spAutoFit/>
          </a:bodyPr>
          <a:lstStyle/>
          <a:p>
            <a:pPr algn="ctr"/>
            <a:r>
              <a:rPr lang="fr-FR" sz="1200" b="1" dirty="0"/>
              <a:t>LE PÉRIMÈTRE DE PRIORISATION</a:t>
            </a:r>
          </a:p>
          <a:p>
            <a:pPr algn="ctr"/>
            <a:endParaRPr lang="fr-FR" sz="1200" b="1" dirty="0"/>
          </a:p>
          <a:p>
            <a:pPr algn="ctr"/>
            <a:r>
              <a:rPr lang="fr-FR" sz="1200" dirty="0"/>
              <a:t>Le point commun des éléments parmi lesquels on choisit ou qu’on range</a:t>
            </a:r>
          </a:p>
        </p:txBody>
      </p:sp>
      <p:sp>
        <p:nvSpPr>
          <p:cNvPr id="13" name="ZoneTexte 12">
            <a:extLst>
              <a:ext uri="{FF2B5EF4-FFF2-40B4-BE49-F238E27FC236}">
                <a16:creationId xmlns:a16="http://schemas.microsoft.com/office/drawing/2014/main" id="{9E6D7CA9-4F7A-1161-D237-4F77CD760E8A}"/>
              </a:ext>
            </a:extLst>
          </p:cNvPr>
          <p:cNvSpPr txBox="1"/>
          <p:nvPr/>
        </p:nvSpPr>
        <p:spPr>
          <a:xfrm>
            <a:off x="5282487" y="4290373"/>
            <a:ext cx="1323975" cy="1754326"/>
          </a:xfrm>
          <a:prstGeom prst="rect">
            <a:avLst/>
          </a:prstGeom>
          <a:noFill/>
        </p:spPr>
        <p:txBody>
          <a:bodyPr wrap="square">
            <a:spAutoFit/>
          </a:bodyPr>
          <a:lstStyle/>
          <a:p>
            <a:pPr algn="ctr"/>
            <a:r>
              <a:rPr lang="fr-FR" sz="1200" b="1" dirty="0"/>
              <a:t>LE NIVEAU DE CENTRALISATION DES DECISIONS</a:t>
            </a:r>
          </a:p>
          <a:p>
            <a:pPr algn="ctr"/>
            <a:endParaRPr lang="fr-FR" sz="1200" b="1" dirty="0"/>
          </a:p>
          <a:p>
            <a:pPr algn="ctr"/>
            <a:r>
              <a:rPr lang="fr-FR" sz="1200" dirty="0"/>
              <a:t>A quel point les décisions sont centralisée / distribuée dans la Communauté</a:t>
            </a:r>
          </a:p>
        </p:txBody>
      </p:sp>
      <p:sp>
        <p:nvSpPr>
          <p:cNvPr id="14" name="ZoneTexte 13">
            <a:extLst>
              <a:ext uri="{FF2B5EF4-FFF2-40B4-BE49-F238E27FC236}">
                <a16:creationId xmlns:a16="http://schemas.microsoft.com/office/drawing/2014/main" id="{1FC673AC-FC42-F09C-A417-28D9DFB82C80}"/>
              </a:ext>
            </a:extLst>
          </p:cNvPr>
          <p:cNvSpPr txBox="1"/>
          <p:nvPr/>
        </p:nvSpPr>
        <p:spPr>
          <a:xfrm>
            <a:off x="3981823" y="4290584"/>
            <a:ext cx="1323975" cy="1754326"/>
          </a:xfrm>
          <a:prstGeom prst="rect">
            <a:avLst/>
          </a:prstGeom>
          <a:noFill/>
        </p:spPr>
        <p:txBody>
          <a:bodyPr wrap="square">
            <a:spAutoFit/>
          </a:bodyPr>
          <a:lstStyle/>
          <a:p>
            <a:pPr algn="ctr"/>
            <a:r>
              <a:rPr lang="fr-FR" sz="1200" b="1" dirty="0"/>
              <a:t>LE BACKLOG A PRIORISER</a:t>
            </a:r>
          </a:p>
          <a:p>
            <a:pPr algn="ctr"/>
            <a:endParaRPr lang="fr-FR" sz="1200" b="1" dirty="0"/>
          </a:p>
          <a:p>
            <a:pPr algn="ctr"/>
            <a:r>
              <a:rPr lang="fr-FR" sz="1200" dirty="0"/>
              <a:t>Le contenant (outil , liste, …) dans lequel se trouvent les éléments à prioriser</a:t>
            </a:r>
          </a:p>
        </p:txBody>
      </p:sp>
      <p:sp>
        <p:nvSpPr>
          <p:cNvPr id="15" name="ZoneTexte 14">
            <a:extLst>
              <a:ext uri="{FF2B5EF4-FFF2-40B4-BE49-F238E27FC236}">
                <a16:creationId xmlns:a16="http://schemas.microsoft.com/office/drawing/2014/main" id="{63725A3B-AC94-960D-8BC8-777ECBAF5C56}"/>
              </a:ext>
            </a:extLst>
          </p:cNvPr>
          <p:cNvSpPr txBox="1"/>
          <p:nvPr/>
        </p:nvSpPr>
        <p:spPr>
          <a:xfrm>
            <a:off x="6606462" y="4276727"/>
            <a:ext cx="1323975" cy="1200329"/>
          </a:xfrm>
          <a:prstGeom prst="rect">
            <a:avLst/>
          </a:prstGeom>
          <a:noFill/>
        </p:spPr>
        <p:txBody>
          <a:bodyPr wrap="square">
            <a:spAutoFit/>
          </a:bodyPr>
          <a:lstStyle/>
          <a:p>
            <a:pPr algn="ctr"/>
            <a:r>
              <a:rPr lang="fr-FR" sz="1200" b="1" dirty="0"/>
              <a:t>LA LOGIQUE DE PRIORISATION</a:t>
            </a:r>
          </a:p>
          <a:p>
            <a:pPr algn="ctr"/>
            <a:endParaRPr lang="fr-FR" sz="1200" b="1" dirty="0"/>
          </a:p>
          <a:p>
            <a:pPr algn="ctr"/>
            <a:r>
              <a:rPr lang="fr-FR" sz="1200" dirty="0"/>
              <a:t>La ou les raisons pour lesquelles on prioriser</a:t>
            </a:r>
          </a:p>
        </p:txBody>
      </p:sp>
      <p:sp>
        <p:nvSpPr>
          <p:cNvPr id="16" name="ZoneTexte 15">
            <a:extLst>
              <a:ext uri="{FF2B5EF4-FFF2-40B4-BE49-F238E27FC236}">
                <a16:creationId xmlns:a16="http://schemas.microsoft.com/office/drawing/2014/main" id="{95FB59E9-8383-EFBE-F594-9853D40D0754}"/>
              </a:ext>
            </a:extLst>
          </p:cNvPr>
          <p:cNvSpPr txBox="1"/>
          <p:nvPr/>
        </p:nvSpPr>
        <p:spPr>
          <a:xfrm>
            <a:off x="7931941" y="4290373"/>
            <a:ext cx="1323975" cy="1569660"/>
          </a:xfrm>
          <a:prstGeom prst="rect">
            <a:avLst/>
          </a:prstGeom>
          <a:noFill/>
        </p:spPr>
        <p:txBody>
          <a:bodyPr wrap="square">
            <a:spAutoFit/>
          </a:bodyPr>
          <a:lstStyle/>
          <a:p>
            <a:pPr algn="ctr"/>
            <a:r>
              <a:rPr lang="fr-FR" sz="1200" b="1" dirty="0"/>
              <a:t>LE MOMENT DE PRIORISATION</a:t>
            </a:r>
          </a:p>
          <a:p>
            <a:pPr algn="ctr"/>
            <a:endParaRPr lang="fr-FR" sz="1200" b="1" dirty="0"/>
          </a:p>
          <a:p>
            <a:pPr algn="ctr"/>
            <a:r>
              <a:rPr lang="fr-FR" sz="1200" dirty="0"/>
              <a:t>La ou les dates / heures, les durées de session, les déclencheurs, le timing</a:t>
            </a:r>
          </a:p>
        </p:txBody>
      </p:sp>
      <p:sp>
        <p:nvSpPr>
          <p:cNvPr id="17" name="ZoneTexte 16">
            <a:extLst>
              <a:ext uri="{FF2B5EF4-FFF2-40B4-BE49-F238E27FC236}">
                <a16:creationId xmlns:a16="http://schemas.microsoft.com/office/drawing/2014/main" id="{EDEFF1DD-B2ED-A065-48ED-D1BB21630FD4}"/>
              </a:ext>
            </a:extLst>
          </p:cNvPr>
          <p:cNvSpPr txBox="1"/>
          <p:nvPr/>
        </p:nvSpPr>
        <p:spPr>
          <a:xfrm>
            <a:off x="9257420" y="4290373"/>
            <a:ext cx="1323975" cy="1569660"/>
          </a:xfrm>
          <a:prstGeom prst="rect">
            <a:avLst/>
          </a:prstGeom>
          <a:noFill/>
        </p:spPr>
        <p:txBody>
          <a:bodyPr wrap="square">
            <a:spAutoFit/>
          </a:bodyPr>
          <a:lstStyle/>
          <a:p>
            <a:pPr algn="ctr"/>
            <a:r>
              <a:rPr lang="fr-FR" sz="1200" b="1" dirty="0"/>
              <a:t>LA METHODE DE PRIORISATION</a:t>
            </a:r>
          </a:p>
          <a:p>
            <a:pPr algn="ctr"/>
            <a:endParaRPr lang="fr-FR" sz="1200" b="1" dirty="0"/>
          </a:p>
          <a:p>
            <a:pPr algn="ctr"/>
            <a:r>
              <a:rPr lang="fr-FR" sz="1200" dirty="0"/>
              <a:t>La ou les dates / heures, les durées de session, les déclencheurs, le timing</a:t>
            </a:r>
          </a:p>
        </p:txBody>
      </p:sp>
      <p:pic>
        <p:nvPicPr>
          <p:cNvPr id="18" name="Graphique 17" descr="Priorités avec un remplissage uni">
            <a:extLst>
              <a:ext uri="{FF2B5EF4-FFF2-40B4-BE49-F238E27FC236}">
                <a16:creationId xmlns:a16="http://schemas.microsoft.com/office/drawing/2014/main" id="{9E65C850-ECA9-71B9-42DB-F65F6E743D1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910161" y="3576433"/>
            <a:ext cx="713940" cy="713940"/>
          </a:xfrm>
          <a:prstGeom prst="rect">
            <a:avLst/>
          </a:prstGeom>
        </p:spPr>
      </p:pic>
      <p:pic>
        <p:nvPicPr>
          <p:cNvPr id="19" name="Graphique 18" descr="Liste contour">
            <a:extLst>
              <a:ext uri="{FF2B5EF4-FFF2-40B4-BE49-F238E27FC236}">
                <a16:creationId xmlns:a16="http://schemas.microsoft.com/office/drawing/2014/main" id="{984F75C7-4B7D-19ED-2AFD-ED9CD336F61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269295" y="3576433"/>
            <a:ext cx="714046" cy="714046"/>
          </a:xfrm>
          <a:prstGeom prst="rect">
            <a:avLst/>
          </a:prstGeom>
        </p:spPr>
      </p:pic>
      <p:grpSp>
        <p:nvGrpSpPr>
          <p:cNvPr id="20" name="Groupe 19">
            <a:extLst>
              <a:ext uri="{FF2B5EF4-FFF2-40B4-BE49-F238E27FC236}">
                <a16:creationId xmlns:a16="http://schemas.microsoft.com/office/drawing/2014/main" id="{EC38D362-4A43-EFB9-E15F-B0782A4B1D4C}"/>
              </a:ext>
            </a:extLst>
          </p:cNvPr>
          <p:cNvGrpSpPr/>
          <p:nvPr/>
        </p:nvGrpSpPr>
        <p:grpSpPr>
          <a:xfrm>
            <a:off x="5514947" y="3443845"/>
            <a:ext cx="905676" cy="832882"/>
            <a:chOff x="6564654" y="2339787"/>
            <a:chExt cx="1084118" cy="996982"/>
          </a:xfrm>
        </p:grpSpPr>
        <p:grpSp>
          <p:nvGrpSpPr>
            <p:cNvPr id="21" name="Groupe 20">
              <a:extLst>
                <a:ext uri="{FF2B5EF4-FFF2-40B4-BE49-F238E27FC236}">
                  <a16:creationId xmlns:a16="http://schemas.microsoft.com/office/drawing/2014/main" id="{F013F38A-17AC-03A1-3C93-6767F6869C22}"/>
                </a:ext>
              </a:extLst>
            </p:cNvPr>
            <p:cNvGrpSpPr/>
            <p:nvPr/>
          </p:nvGrpSpPr>
          <p:grpSpPr>
            <a:xfrm>
              <a:off x="6852830" y="2879569"/>
              <a:ext cx="457200" cy="457200"/>
              <a:chOff x="3982824" y="1896400"/>
              <a:chExt cx="914400" cy="914400"/>
            </a:xfrm>
          </p:grpSpPr>
          <p:pic>
            <p:nvPicPr>
              <p:cNvPr id="31" name="Graphique 30" descr="Homme conductrice avec un remplissage uni">
                <a:extLst>
                  <a:ext uri="{FF2B5EF4-FFF2-40B4-BE49-F238E27FC236}">
                    <a16:creationId xmlns:a16="http://schemas.microsoft.com/office/drawing/2014/main" id="{59033AF8-408A-BD8C-691C-DEF048C13A3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2" name="Rectangle 31">
                <a:extLst>
                  <a:ext uri="{FF2B5EF4-FFF2-40B4-BE49-F238E27FC236}">
                    <a16:creationId xmlns:a16="http://schemas.microsoft.com/office/drawing/2014/main" id="{2DB62933-35B7-A559-9D15-6B1303D0C48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2" name="Groupe 21">
              <a:extLst>
                <a:ext uri="{FF2B5EF4-FFF2-40B4-BE49-F238E27FC236}">
                  <a16:creationId xmlns:a16="http://schemas.microsoft.com/office/drawing/2014/main" id="{6F3AE54D-18AE-304E-6E69-D8D281458B91}"/>
                </a:ext>
              </a:extLst>
            </p:cNvPr>
            <p:cNvGrpSpPr/>
            <p:nvPr/>
          </p:nvGrpSpPr>
          <p:grpSpPr>
            <a:xfrm>
              <a:off x="6564654" y="2650969"/>
              <a:ext cx="457200" cy="457200"/>
              <a:chOff x="3982824" y="1896400"/>
              <a:chExt cx="914400" cy="914400"/>
            </a:xfrm>
          </p:grpSpPr>
          <p:pic>
            <p:nvPicPr>
              <p:cNvPr id="29" name="Graphique 28" descr="Homme conductrice avec un remplissage uni">
                <a:extLst>
                  <a:ext uri="{FF2B5EF4-FFF2-40B4-BE49-F238E27FC236}">
                    <a16:creationId xmlns:a16="http://schemas.microsoft.com/office/drawing/2014/main" id="{A1402434-0B95-D16E-19FF-161624E622F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30" name="Rectangle 29">
                <a:extLst>
                  <a:ext uri="{FF2B5EF4-FFF2-40B4-BE49-F238E27FC236}">
                    <a16:creationId xmlns:a16="http://schemas.microsoft.com/office/drawing/2014/main" id="{364E57F6-26F0-EB29-29A5-53C5A9F415D6}"/>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3" name="Groupe 22">
              <a:extLst>
                <a:ext uri="{FF2B5EF4-FFF2-40B4-BE49-F238E27FC236}">
                  <a16:creationId xmlns:a16="http://schemas.microsoft.com/office/drawing/2014/main" id="{ADF80528-2C87-AC6F-BD94-5A2D49031169}"/>
                </a:ext>
              </a:extLst>
            </p:cNvPr>
            <p:cNvGrpSpPr/>
            <p:nvPr/>
          </p:nvGrpSpPr>
          <p:grpSpPr>
            <a:xfrm>
              <a:off x="6896431" y="2339787"/>
              <a:ext cx="457200" cy="457200"/>
              <a:chOff x="3982824" y="1896400"/>
              <a:chExt cx="914400" cy="914400"/>
            </a:xfrm>
          </p:grpSpPr>
          <p:pic>
            <p:nvPicPr>
              <p:cNvPr id="27" name="Graphique 26" descr="Homme conductrice avec un remplissage uni">
                <a:extLst>
                  <a:ext uri="{FF2B5EF4-FFF2-40B4-BE49-F238E27FC236}">
                    <a16:creationId xmlns:a16="http://schemas.microsoft.com/office/drawing/2014/main" id="{7E9931F0-D23B-3135-E49B-BE4CBF2E13F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82824" y="1896400"/>
                <a:ext cx="914400" cy="914400"/>
              </a:xfrm>
              <a:prstGeom prst="rect">
                <a:avLst/>
              </a:prstGeom>
            </p:spPr>
          </p:pic>
          <p:sp>
            <p:nvSpPr>
              <p:cNvPr id="28" name="Rectangle 27">
                <a:extLst>
                  <a:ext uri="{FF2B5EF4-FFF2-40B4-BE49-F238E27FC236}">
                    <a16:creationId xmlns:a16="http://schemas.microsoft.com/office/drawing/2014/main" id="{49943B42-2250-3536-2CCE-7B2821DBF56A}"/>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4" name="Groupe 23">
              <a:extLst>
                <a:ext uri="{FF2B5EF4-FFF2-40B4-BE49-F238E27FC236}">
                  <a16:creationId xmlns:a16="http://schemas.microsoft.com/office/drawing/2014/main" id="{9FBAA3EB-8B7C-02A6-AED5-0F22D45D0364}"/>
                </a:ext>
              </a:extLst>
            </p:cNvPr>
            <p:cNvGrpSpPr/>
            <p:nvPr/>
          </p:nvGrpSpPr>
          <p:grpSpPr>
            <a:xfrm>
              <a:off x="7191572" y="2664966"/>
              <a:ext cx="457200" cy="457200"/>
              <a:chOff x="3982824" y="1896400"/>
              <a:chExt cx="914400" cy="914400"/>
            </a:xfrm>
          </p:grpSpPr>
          <p:pic>
            <p:nvPicPr>
              <p:cNvPr id="25" name="Graphique 24" descr="Homme conductrice avec un remplissage uni">
                <a:extLst>
                  <a:ext uri="{FF2B5EF4-FFF2-40B4-BE49-F238E27FC236}">
                    <a16:creationId xmlns:a16="http://schemas.microsoft.com/office/drawing/2014/main" id="{6C505449-74C7-7E5C-271F-CF7ADF3D0F9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6" name="Rectangle 25">
                <a:extLst>
                  <a:ext uri="{FF2B5EF4-FFF2-40B4-BE49-F238E27FC236}">
                    <a16:creationId xmlns:a16="http://schemas.microsoft.com/office/drawing/2014/main" id="{E313FDCD-2776-77DF-5951-EC949D44A822}"/>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44" name="Groupe 43">
            <a:extLst>
              <a:ext uri="{FF2B5EF4-FFF2-40B4-BE49-F238E27FC236}">
                <a16:creationId xmlns:a16="http://schemas.microsoft.com/office/drawing/2014/main" id="{686A0CB4-C187-72BD-3217-D7D54B2142CD}"/>
              </a:ext>
            </a:extLst>
          </p:cNvPr>
          <p:cNvGrpSpPr/>
          <p:nvPr/>
        </p:nvGrpSpPr>
        <p:grpSpPr>
          <a:xfrm>
            <a:off x="6909985" y="3645731"/>
            <a:ext cx="661493" cy="593446"/>
            <a:chOff x="-2303692" y="7227105"/>
            <a:chExt cx="1156064" cy="1037141"/>
          </a:xfrm>
        </p:grpSpPr>
        <p:grpSp>
          <p:nvGrpSpPr>
            <p:cNvPr id="38" name="Groupe 37">
              <a:extLst>
                <a:ext uri="{FF2B5EF4-FFF2-40B4-BE49-F238E27FC236}">
                  <a16:creationId xmlns:a16="http://schemas.microsoft.com/office/drawing/2014/main" id="{8E5378C1-2C77-D451-01E1-C33A274041C4}"/>
                </a:ext>
              </a:extLst>
            </p:cNvPr>
            <p:cNvGrpSpPr/>
            <p:nvPr/>
          </p:nvGrpSpPr>
          <p:grpSpPr>
            <a:xfrm>
              <a:off x="-2062028" y="7349846"/>
              <a:ext cx="914400" cy="914400"/>
              <a:chOff x="381000" y="3527564"/>
              <a:chExt cx="914400" cy="914400"/>
            </a:xfrm>
            <a:solidFill>
              <a:schemeClr val="accent1"/>
            </a:solidFill>
          </p:grpSpPr>
          <p:pic>
            <p:nvPicPr>
              <p:cNvPr id="40" name="Graphique 39" descr="Homme conductrice avec un remplissage uni">
                <a:extLst>
                  <a:ext uri="{FF2B5EF4-FFF2-40B4-BE49-F238E27FC236}">
                    <a16:creationId xmlns:a16="http://schemas.microsoft.com/office/drawing/2014/main" id="{428BCD1C-58F6-BE3B-0092-BD0F9A3ABBD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81000" y="3527564"/>
                <a:ext cx="914400" cy="914400"/>
              </a:xfrm>
              <a:prstGeom prst="rect">
                <a:avLst/>
              </a:prstGeom>
            </p:spPr>
          </p:pic>
          <p:sp>
            <p:nvSpPr>
              <p:cNvPr id="41" name="Rectangle 40">
                <a:extLst>
                  <a:ext uri="{FF2B5EF4-FFF2-40B4-BE49-F238E27FC236}">
                    <a16:creationId xmlns:a16="http://schemas.microsoft.com/office/drawing/2014/main" id="{A096AD5A-A282-71CE-8D9D-1599D5439AA0}"/>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43" name="Graphique 42" descr="Point d’interrogation avec un remplissage uni">
              <a:extLst>
                <a:ext uri="{FF2B5EF4-FFF2-40B4-BE49-F238E27FC236}">
                  <a16:creationId xmlns:a16="http://schemas.microsoft.com/office/drawing/2014/main" id="{CB5804E1-B70A-421A-2EF5-4EAD1677EE80}"/>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303692" y="7227105"/>
              <a:ext cx="483327" cy="483327"/>
            </a:xfrm>
            <a:prstGeom prst="rect">
              <a:avLst/>
            </a:prstGeom>
          </p:spPr>
        </p:pic>
      </p:grpSp>
      <p:pic>
        <p:nvPicPr>
          <p:cNvPr id="46" name="Graphique 45" descr="Calendrier journalier avec un remplissage uni">
            <a:extLst>
              <a:ext uri="{FF2B5EF4-FFF2-40B4-BE49-F238E27FC236}">
                <a16:creationId xmlns:a16="http://schemas.microsoft.com/office/drawing/2014/main" id="{9E668C4C-5412-0B58-4CF3-1703C42962E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316778" y="3643940"/>
            <a:ext cx="612501" cy="612501"/>
          </a:xfrm>
          <a:prstGeom prst="rect">
            <a:avLst/>
          </a:prstGeom>
        </p:spPr>
      </p:pic>
      <p:pic>
        <p:nvPicPr>
          <p:cNvPr id="48" name="Graphique 47" descr="Filtrer avec un remplissage uni">
            <a:extLst>
              <a:ext uri="{FF2B5EF4-FFF2-40B4-BE49-F238E27FC236}">
                <a16:creationId xmlns:a16="http://schemas.microsoft.com/office/drawing/2014/main" id="{37B14AEA-67C0-C7B5-33ED-19A3E73ED74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563448" y="3462447"/>
            <a:ext cx="702450" cy="702450"/>
          </a:xfrm>
          <a:prstGeom prst="rect">
            <a:avLst/>
          </a:prstGeom>
        </p:spPr>
      </p:pic>
      <p:pic>
        <p:nvPicPr>
          <p:cNvPr id="49" name="Graphique 48" descr="Priorités avec un remplissage uni">
            <a:extLst>
              <a:ext uri="{FF2B5EF4-FFF2-40B4-BE49-F238E27FC236}">
                <a16:creationId xmlns:a16="http://schemas.microsoft.com/office/drawing/2014/main" id="{BC6FF5B2-9476-B9FB-45A1-C29F4824078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796641" y="3576433"/>
            <a:ext cx="308784" cy="308784"/>
          </a:xfrm>
          <a:prstGeom prst="rect">
            <a:avLst/>
          </a:prstGeom>
        </p:spPr>
      </p:pic>
      <p:pic>
        <p:nvPicPr>
          <p:cNvPr id="50" name="Graphique 49" descr="Priorités avec un remplissage uni">
            <a:extLst>
              <a:ext uri="{FF2B5EF4-FFF2-40B4-BE49-F238E27FC236}">
                <a16:creationId xmlns:a16="http://schemas.microsoft.com/office/drawing/2014/main" id="{C03FDC24-D048-B98D-C208-2178DD2CCA7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14195" y="4039420"/>
            <a:ext cx="308784" cy="308784"/>
          </a:xfrm>
          <a:prstGeom prst="rect">
            <a:avLst/>
          </a:prstGeom>
        </p:spPr>
      </p:pic>
      <p:sp>
        <p:nvSpPr>
          <p:cNvPr id="51" name="ZoneTexte 50">
            <a:extLst>
              <a:ext uri="{FF2B5EF4-FFF2-40B4-BE49-F238E27FC236}">
                <a16:creationId xmlns:a16="http://schemas.microsoft.com/office/drawing/2014/main" id="{81CCF6C8-0480-6B14-0373-8B00B9F5E926}"/>
              </a:ext>
            </a:extLst>
          </p:cNvPr>
          <p:cNvSpPr txBox="1"/>
          <p:nvPr/>
        </p:nvSpPr>
        <p:spPr>
          <a:xfrm>
            <a:off x="10612368" y="4253268"/>
            <a:ext cx="1507885" cy="1384995"/>
          </a:xfrm>
          <a:prstGeom prst="rect">
            <a:avLst/>
          </a:prstGeom>
          <a:noFill/>
        </p:spPr>
        <p:txBody>
          <a:bodyPr wrap="square">
            <a:spAutoFit/>
          </a:bodyPr>
          <a:lstStyle/>
          <a:p>
            <a:pPr algn="ctr"/>
            <a:r>
              <a:rPr lang="fr-FR" sz="1200" b="1" dirty="0"/>
              <a:t>LA COMMUNICATION DES DECISIONS</a:t>
            </a:r>
          </a:p>
          <a:p>
            <a:pPr algn="ctr"/>
            <a:endParaRPr lang="fr-FR" sz="1200" b="1" dirty="0"/>
          </a:p>
          <a:p>
            <a:pPr algn="ctr"/>
            <a:r>
              <a:rPr lang="fr-FR" sz="1200" dirty="0"/>
              <a:t>Comment le résultat de la priorisation est communiqué</a:t>
            </a:r>
          </a:p>
        </p:txBody>
      </p:sp>
      <p:pic>
        <p:nvPicPr>
          <p:cNvPr id="53" name="Graphique 52" descr="Enveloppe avec un remplissage uni">
            <a:extLst>
              <a:ext uri="{FF2B5EF4-FFF2-40B4-BE49-F238E27FC236}">
                <a16:creationId xmlns:a16="http://schemas.microsoft.com/office/drawing/2014/main" id="{DE93C838-4DC9-010D-BFA7-554DAE24C5DD}"/>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0973879" y="3693475"/>
            <a:ext cx="691889" cy="691889"/>
          </a:xfrm>
          <a:prstGeom prst="rect">
            <a:avLst/>
          </a:prstGeom>
        </p:spPr>
      </p:pic>
      <p:pic>
        <p:nvPicPr>
          <p:cNvPr id="54" name="Graphique 53" descr="Priorités avec un remplissage uni">
            <a:extLst>
              <a:ext uri="{FF2B5EF4-FFF2-40B4-BE49-F238E27FC236}">
                <a16:creationId xmlns:a16="http://schemas.microsoft.com/office/drawing/2014/main" id="{1A8C297F-128C-B4F5-187B-06D404F01B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191929" y="3854241"/>
            <a:ext cx="214258" cy="214258"/>
          </a:xfrm>
          <a:prstGeom prst="rect">
            <a:avLst/>
          </a:prstGeom>
        </p:spPr>
      </p:pic>
      <p:pic>
        <p:nvPicPr>
          <p:cNvPr id="55" name="Graphique 54" descr="Priorités avec un remplissage uni">
            <a:extLst>
              <a:ext uri="{FF2B5EF4-FFF2-40B4-BE49-F238E27FC236}">
                <a16:creationId xmlns:a16="http://schemas.microsoft.com/office/drawing/2014/main" id="{D1672C7F-1E45-AEA7-7375-484DAEE8A66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54063" y="307364"/>
            <a:ext cx="1171537" cy="1171537"/>
          </a:xfrm>
          <a:prstGeom prst="rect">
            <a:avLst/>
          </a:prstGeom>
        </p:spPr>
      </p:pic>
    </p:spTree>
    <p:extLst>
      <p:ext uri="{BB962C8B-B14F-4D97-AF65-F5344CB8AC3E}">
        <p14:creationId xmlns:p14="http://schemas.microsoft.com/office/powerpoint/2010/main" val="142222299"/>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4D059F9-E966-7265-8186-245F19C49032}"/>
              </a:ext>
            </a:extLst>
          </p:cNvPr>
          <p:cNvSpPr>
            <a:spLocks noGrp="1"/>
          </p:cNvSpPr>
          <p:nvPr>
            <p:ph type="title"/>
          </p:nvPr>
        </p:nvSpPr>
        <p:spPr>
          <a:xfrm>
            <a:off x="1590089" y="286360"/>
            <a:ext cx="9664190" cy="632842"/>
          </a:xfrm>
        </p:spPr>
        <p:txBody>
          <a:bodyPr>
            <a:normAutofit fontScale="90000"/>
          </a:bodyPr>
          <a:lstStyle/>
          <a:p>
            <a:r>
              <a:rPr lang="fr-FR" dirty="0"/>
              <a:t>Les points de priorisation de la Communauté</a:t>
            </a:r>
            <a:br>
              <a:rPr lang="fr-FR" dirty="0"/>
            </a:br>
            <a:r>
              <a:rPr lang="fr-FR" dirty="0"/>
              <a:t>Actions liées</a:t>
            </a:r>
          </a:p>
        </p:txBody>
      </p:sp>
      <p:grpSp>
        <p:nvGrpSpPr>
          <p:cNvPr id="4" name="Groupe 3">
            <a:extLst>
              <a:ext uri="{FF2B5EF4-FFF2-40B4-BE49-F238E27FC236}">
                <a16:creationId xmlns:a16="http://schemas.microsoft.com/office/drawing/2014/main" id="{E0A4765B-78DD-7700-6B10-480D7A18E261}"/>
              </a:ext>
            </a:extLst>
          </p:cNvPr>
          <p:cNvGrpSpPr/>
          <p:nvPr/>
        </p:nvGrpSpPr>
        <p:grpSpPr>
          <a:xfrm>
            <a:off x="289327" y="4393391"/>
            <a:ext cx="1991300" cy="1991300"/>
            <a:chOff x="168514" y="2615341"/>
            <a:chExt cx="914400" cy="914400"/>
          </a:xfrm>
        </p:grpSpPr>
        <p:pic>
          <p:nvPicPr>
            <p:cNvPr id="5" name="Graphique 4" descr="Homme conductrice avec un remplissage uni">
              <a:extLst>
                <a:ext uri="{FF2B5EF4-FFF2-40B4-BE49-F238E27FC236}">
                  <a16:creationId xmlns:a16="http://schemas.microsoft.com/office/drawing/2014/main" id="{E0E486DD-46A6-8103-1ABD-9DB33862B96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514" y="2615341"/>
              <a:ext cx="914400" cy="914400"/>
            </a:xfrm>
            <a:prstGeom prst="rect">
              <a:avLst/>
            </a:prstGeom>
          </p:spPr>
        </p:pic>
        <p:sp>
          <p:nvSpPr>
            <p:cNvPr id="6" name="Rectangle 5">
              <a:extLst>
                <a:ext uri="{FF2B5EF4-FFF2-40B4-BE49-F238E27FC236}">
                  <a16:creationId xmlns:a16="http://schemas.microsoft.com/office/drawing/2014/main" id="{3E589221-CC21-8169-313C-3B72935A2E3E}"/>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sp>
        <p:nvSpPr>
          <p:cNvPr id="7" name="Bulle narrative : ronde 6">
            <a:extLst>
              <a:ext uri="{FF2B5EF4-FFF2-40B4-BE49-F238E27FC236}">
                <a16:creationId xmlns:a16="http://schemas.microsoft.com/office/drawing/2014/main" id="{9D22D8BD-C27F-FAED-0348-B7406AE259B5}"/>
              </a:ext>
            </a:extLst>
          </p:cNvPr>
          <p:cNvSpPr/>
          <p:nvPr/>
        </p:nvSpPr>
        <p:spPr>
          <a:xfrm>
            <a:off x="292757" y="1755622"/>
            <a:ext cx="2157867" cy="2425694"/>
          </a:xfrm>
          <a:prstGeom prst="wedgeEllipseCallout">
            <a:avLst>
              <a:gd name="adj1" fmla="val -7897"/>
              <a:gd name="adj2" fmla="val 5975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QUE FAIRE POUR PRIORISER ?</a:t>
            </a:r>
          </a:p>
        </p:txBody>
      </p:sp>
      <p:grpSp>
        <p:nvGrpSpPr>
          <p:cNvPr id="10" name="Groupe 9">
            <a:extLst>
              <a:ext uri="{FF2B5EF4-FFF2-40B4-BE49-F238E27FC236}">
                <a16:creationId xmlns:a16="http://schemas.microsoft.com/office/drawing/2014/main" id="{8F0E083D-D156-B04E-988A-FA9C5B84AAF3}"/>
              </a:ext>
            </a:extLst>
          </p:cNvPr>
          <p:cNvGrpSpPr/>
          <p:nvPr/>
        </p:nvGrpSpPr>
        <p:grpSpPr>
          <a:xfrm>
            <a:off x="2722657" y="2157208"/>
            <a:ext cx="1323975" cy="1360271"/>
            <a:chOff x="2722657" y="2157208"/>
            <a:chExt cx="1323975" cy="1360271"/>
          </a:xfrm>
        </p:grpSpPr>
        <p:sp>
          <p:nvSpPr>
            <p:cNvPr id="11" name="ZoneTexte 10">
              <a:extLst>
                <a:ext uri="{FF2B5EF4-FFF2-40B4-BE49-F238E27FC236}">
                  <a16:creationId xmlns:a16="http://schemas.microsoft.com/office/drawing/2014/main" id="{37AB1452-5429-24A4-5558-398F5D74FE12}"/>
                </a:ext>
              </a:extLst>
            </p:cNvPr>
            <p:cNvSpPr txBox="1"/>
            <p:nvPr/>
          </p:nvSpPr>
          <p:spPr>
            <a:xfrm>
              <a:off x="2722657" y="2871148"/>
              <a:ext cx="1323975" cy="646331"/>
            </a:xfrm>
            <a:prstGeom prst="rect">
              <a:avLst/>
            </a:prstGeom>
            <a:noFill/>
          </p:spPr>
          <p:txBody>
            <a:bodyPr wrap="square">
              <a:spAutoFit/>
            </a:bodyPr>
            <a:lstStyle/>
            <a:p>
              <a:pPr algn="ctr"/>
              <a:r>
                <a:rPr lang="fr-FR" sz="1200" b="1" dirty="0"/>
                <a:t>PÉRIMÈTRE DE PRIORISATION</a:t>
              </a:r>
            </a:p>
            <a:p>
              <a:pPr algn="ctr"/>
              <a:endParaRPr lang="fr-FR" sz="1200" b="1" dirty="0"/>
            </a:p>
          </p:txBody>
        </p:sp>
        <p:pic>
          <p:nvPicPr>
            <p:cNvPr id="18" name="Graphique 17" descr="Priorités avec un remplissage uni">
              <a:extLst>
                <a:ext uri="{FF2B5EF4-FFF2-40B4-BE49-F238E27FC236}">
                  <a16:creationId xmlns:a16="http://schemas.microsoft.com/office/drawing/2014/main" id="{9E65C850-ECA9-71B9-42DB-F65F6E743D1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027674" y="2157208"/>
              <a:ext cx="713940" cy="713940"/>
            </a:xfrm>
            <a:prstGeom prst="rect">
              <a:avLst/>
            </a:prstGeom>
          </p:spPr>
        </p:pic>
      </p:grpSp>
      <p:grpSp>
        <p:nvGrpSpPr>
          <p:cNvPr id="12" name="Groupe 11">
            <a:extLst>
              <a:ext uri="{FF2B5EF4-FFF2-40B4-BE49-F238E27FC236}">
                <a16:creationId xmlns:a16="http://schemas.microsoft.com/office/drawing/2014/main" id="{09392D66-BBDE-5F11-1D8D-BC8379F0995F}"/>
              </a:ext>
            </a:extLst>
          </p:cNvPr>
          <p:cNvGrpSpPr/>
          <p:nvPr/>
        </p:nvGrpSpPr>
        <p:grpSpPr>
          <a:xfrm>
            <a:off x="4044525" y="2157208"/>
            <a:ext cx="1323975" cy="1360482"/>
            <a:chOff x="4023321" y="2157208"/>
            <a:chExt cx="1323975" cy="1360482"/>
          </a:xfrm>
        </p:grpSpPr>
        <p:sp>
          <p:nvSpPr>
            <p:cNvPr id="14" name="ZoneTexte 13">
              <a:extLst>
                <a:ext uri="{FF2B5EF4-FFF2-40B4-BE49-F238E27FC236}">
                  <a16:creationId xmlns:a16="http://schemas.microsoft.com/office/drawing/2014/main" id="{1FC673AC-FC42-F09C-A417-28D9DFB82C80}"/>
                </a:ext>
              </a:extLst>
            </p:cNvPr>
            <p:cNvSpPr txBox="1"/>
            <p:nvPr/>
          </p:nvSpPr>
          <p:spPr>
            <a:xfrm>
              <a:off x="4023321" y="2871359"/>
              <a:ext cx="1323975" cy="646331"/>
            </a:xfrm>
            <a:prstGeom prst="rect">
              <a:avLst/>
            </a:prstGeom>
            <a:noFill/>
          </p:spPr>
          <p:txBody>
            <a:bodyPr wrap="square">
              <a:spAutoFit/>
            </a:bodyPr>
            <a:lstStyle/>
            <a:p>
              <a:pPr algn="ctr"/>
              <a:r>
                <a:rPr lang="fr-FR" sz="1200" b="1" dirty="0"/>
                <a:t>BACKLOG A PRIORISER</a:t>
              </a:r>
            </a:p>
            <a:p>
              <a:pPr algn="ctr"/>
              <a:endParaRPr lang="fr-FR" sz="1200" b="1" dirty="0"/>
            </a:p>
          </p:txBody>
        </p:sp>
        <p:pic>
          <p:nvPicPr>
            <p:cNvPr id="19" name="Graphique 18" descr="Liste contour">
              <a:extLst>
                <a:ext uri="{FF2B5EF4-FFF2-40B4-BE49-F238E27FC236}">
                  <a16:creationId xmlns:a16="http://schemas.microsoft.com/office/drawing/2014/main" id="{984F75C7-4B7D-19ED-2AFD-ED9CD336F61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310793" y="2157208"/>
              <a:ext cx="714046" cy="714046"/>
            </a:xfrm>
            <a:prstGeom prst="rect">
              <a:avLst/>
            </a:prstGeom>
          </p:spPr>
        </p:pic>
      </p:grpSp>
      <p:grpSp>
        <p:nvGrpSpPr>
          <p:cNvPr id="33" name="Groupe 32">
            <a:extLst>
              <a:ext uri="{FF2B5EF4-FFF2-40B4-BE49-F238E27FC236}">
                <a16:creationId xmlns:a16="http://schemas.microsoft.com/office/drawing/2014/main" id="{D787305A-497C-FA46-6C31-D50E9D72FA51}"/>
              </a:ext>
            </a:extLst>
          </p:cNvPr>
          <p:cNvGrpSpPr/>
          <p:nvPr/>
        </p:nvGrpSpPr>
        <p:grpSpPr>
          <a:xfrm>
            <a:off x="5366393" y="2024620"/>
            <a:ext cx="1323975" cy="1677525"/>
            <a:chOff x="5323985" y="2024620"/>
            <a:chExt cx="1323975" cy="1677525"/>
          </a:xfrm>
        </p:grpSpPr>
        <p:sp>
          <p:nvSpPr>
            <p:cNvPr id="13" name="ZoneTexte 12">
              <a:extLst>
                <a:ext uri="{FF2B5EF4-FFF2-40B4-BE49-F238E27FC236}">
                  <a16:creationId xmlns:a16="http://schemas.microsoft.com/office/drawing/2014/main" id="{9E6D7CA9-4F7A-1161-D237-4F77CD760E8A}"/>
                </a:ext>
              </a:extLst>
            </p:cNvPr>
            <p:cNvSpPr txBox="1"/>
            <p:nvPr/>
          </p:nvSpPr>
          <p:spPr>
            <a:xfrm>
              <a:off x="5323985" y="2871148"/>
              <a:ext cx="1323975" cy="830997"/>
            </a:xfrm>
            <a:prstGeom prst="rect">
              <a:avLst/>
            </a:prstGeom>
            <a:noFill/>
          </p:spPr>
          <p:txBody>
            <a:bodyPr wrap="square">
              <a:spAutoFit/>
            </a:bodyPr>
            <a:lstStyle/>
            <a:p>
              <a:pPr algn="ctr"/>
              <a:r>
                <a:rPr lang="fr-FR" sz="1200" b="1" dirty="0"/>
                <a:t>NIVEAU DE CENTRALISATION DES DECISIONS</a:t>
              </a:r>
            </a:p>
            <a:p>
              <a:pPr algn="ctr"/>
              <a:endParaRPr lang="fr-FR" sz="1200" b="1" dirty="0"/>
            </a:p>
          </p:txBody>
        </p:sp>
        <p:grpSp>
          <p:nvGrpSpPr>
            <p:cNvPr id="20" name="Groupe 19">
              <a:extLst>
                <a:ext uri="{FF2B5EF4-FFF2-40B4-BE49-F238E27FC236}">
                  <a16:creationId xmlns:a16="http://schemas.microsoft.com/office/drawing/2014/main" id="{EC38D362-4A43-EFB9-E15F-B0782A4B1D4C}"/>
                </a:ext>
              </a:extLst>
            </p:cNvPr>
            <p:cNvGrpSpPr/>
            <p:nvPr/>
          </p:nvGrpSpPr>
          <p:grpSpPr>
            <a:xfrm>
              <a:off x="5556445" y="2024620"/>
              <a:ext cx="905676" cy="832882"/>
              <a:chOff x="6564654" y="2339787"/>
              <a:chExt cx="1084118" cy="996982"/>
            </a:xfrm>
          </p:grpSpPr>
          <p:grpSp>
            <p:nvGrpSpPr>
              <p:cNvPr id="21" name="Groupe 20">
                <a:extLst>
                  <a:ext uri="{FF2B5EF4-FFF2-40B4-BE49-F238E27FC236}">
                    <a16:creationId xmlns:a16="http://schemas.microsoft.com/office/drawing/2014/main" id="{F013F38A-17AC-03A1-3C93-6767F6869C22}"/>
                  </a:ext>
                </a:extLst>
              </p:cNvPr>
              <p:cNvGrpSpPr/>
              <p:nvPr/>
            </p:nvGrpSpPr>
            <p:grpSpPr>
              <a:xfrm>
                <a:off x="6852830" y="2879569"/>
                <a:ext cx="457200" cy="457200"/>
                <a:chOff x="3982824" y="1896400"/>
                <a:chExt cx="914400" cy="914400"/>
              </a:xfrm>
            </p:grpSpPr>
            <p:pic>
              <p:nvPicPr>
                <p:cNvPr id="31" name="Graphique 30" descr="Homme conductrice avec un remplissage uni">
                  <a:extLst>
                    <a:ext uri="{FF2B5EF4-FFF2-40B4-BE49-F238E27FC236}">
                      <a16:creationId xmlns:a16="http://schemas.microsoft.com/office/drawing/2014/main" id="{59033AF8-408A-BD8C-691C-DEF048C13A3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2" name="Rectangle 31">
                  <a:extLst>
                    <a:ext uri="{FF2B5EF4-FFF2-40B4-BE49-F238E27FC236}">
                      <a16:creationId xmlns:a16="http://schemas.microsoft.com/office/drawing/2014/main" id="{2DB62933-35B7-A559-9D15-6B1303D0C48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2" name="Groupe 21">
                <a:extLst>
                  <a:ext uri="{FF2B5EF4-FFF2-40B4-BE49-F238E27FC236}">
                    <a16:creationId xmlns:a16="http://schemas.microsoft.com/office/drawing/2014/main" id="{6F3AE54D-18AE-304E-6E69-D8D281458B91}"/>
                  </a:ext>
                </a:extLst>
              </p:cNvPr>
              <p:cNvGrpSpPr/>
              <p:nvPr/>
            </p:nvGrpSpPr>
            <p:grpSpPr>
              <a:xfrm>
                <a:off x="6564654" y="2650969"/>
                <a:ext cx="457200" cy="457200"/>
                <a:chOff x="3982824" y="1896400"/>
                <a:chExt cx="914400" cy="914400"/>
              </a:xfrm>
            </p:grpSpPr>
            <p:pic>
              <p:nvPicPr>
                <p:cNvPr id="29" name="Graphique 28" descr="Homme conductrice avec un remplissage uni">
                  <a:extLst>
                    <a:ext uri="{FF2B5EF4-FFF2-40B4-BE49-F238E27FC236}">
                      <a16:creationId xmlns:a16="http://schemas.microsoft.com/office/drawing/2014/main" id="{A1402434-0B95-D16E-19FF-161624E622F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30" name="Rectangle 29">
                  <a:extLst>
                    <a:ext uri="{FF2B5EF4-FFF2-40B4-BE49-F238E27FC236}">
                      <a16:creationId xmlns:a16="http://schemas.microsoft.com/office/drawing/2014/main" id="{364E57F6-26F0-EB29-29A5-53C5A9F415D6}"/>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3" name="Groupe 22">
                <a:extLst>
                  <a:ext uri="{FF2B5EF4-FFF2-40B4-BE49-F238E27FC236}">
                    <a16:creationId xmlns:a16="http://schemas.microsoft.com/office/drawing/2014/main" id="{ADF80528-2C87-AC6F-BD94-5A2D49031169}"/>
                  </a:ext>
                </a:extLst>
              </p:cNvPr>
              <p:cNvGrpSpPr/>
              <p:nvPr/>
            </p:nvGrpSpPr>
            <p:grpSpPr>
              <a:xfrm>
                <a:off x="6896431" y="2339787"/>
                <a:ext cx="457200" cy="457200"/>
                <a:chOff x="3982824" y="1896400"/>
                <a:chExt cx="914400" cy="914400"/>
              </a:xfrm>
            </p:grpSpPr>
            <p:pic>
              <p:nvPicPr>
                <p:cNvPr id="27" name="Graphique 26" descr="Homme conductrice avec un remplissage uni">
                  <a:extLst>
                    <a:ext uri="{FF2B5EF4-FFF2-40B4-BE49-F238E27FC236}">
                      <a16:creationId xmlns:a16="http://schemas.microsoft.com/office/drawing/2014/main" id="{7E9931F0-D23B-3135-E49B-BE4CBF2E13F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82824" y="1896400"/>
                  <a:ext cx="914400" cy="914400"/>
                </a:xfrm>
                <a:prstGeom prst="rect">
                  <a:avLst/>
                </a:prstGeom>
              </p:spPr>
            </p:pic>
            <p:sp>
              <p:nvSpPr>
                <p:cNvPr id="28" name="Rectangle 27">
                  <a:extLst>
                    <a:ext uri="{FF2B5EF4-FFF2-40B4-BE49-F238E27FC236}">
                      <a16:creationId xmlns:a16="http://schemas.microsoft.com/office/drawing/2014/main" id="{49943B42-2250-3536-2CCE-7B2821DBF56A}"/>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4" name="Groupe 23">
                <a:extLst>
                  <a:ext uri="{FF2B5EF4-FFF2-40B4-BE49-F238E27FC236}">
                    <a16:creationId xmlns:a16="http://schemas.microsoft.com/office/drawing/2014/main" id="{9FBAA3EB-8B7C-02A6-AED5-0F22D45D0364}"/>
                  </a:ext>
                </a:extLst>
              </p:cNvPr>
              <p:cNvGrpSpPr/>
              <p:nvPr/>
            </p:nvGrpSpPr>
            <p:grpSpPr>
              <a:xfrm>
                <a:off x="7191572" y="2664966"/>
                <a:ext cx="457200" cy="457200"/>
                <a:chOff x="3982824" y="1896400"/>
                <a:chExt cx="914400" cy="914400"/>
              </a:xfrm>
            </p:grpSpPr>
            <p:pic>
              <p:nvPicPr>
                <p:cNvPr id="25" name="Graphique 24" descr="Homme conductrice avec un remplissage uni">
                  <a:extLst>
                    <a:ext uri="{FF2B5EF4-FFF2-40B4-BE49-F238E27FC236}">
                      <a16:creationId xmlns:a16="http://schemas.microsoft.com/office/drawing/2014/main" id="{6C505449-74C7-7E5C-271F-CF7ADF3D0F9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6" name="Rectangle 25">
                  <a:extLst>
                    <a:ext uri="{FF2B5EF4-FFF2-40B4-BE49-F238E27FC236}">
                      <a16:creationId xmlns:a16="http://schemas.microsoft.com/office/drawing/2014/main" id="{E313FDCD-2776-77DF-5951-EC949D44A822}"/>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grpSp>
        <p:nvGrpSpPr>
          <p:cNvPr id="34" name="Groupe 33">
            <a:extLst>
              <a:ext uri="{FF2B5EF4-FFF2-40B4-BE49-F238E27FC236}">
                <a16:creationId xmlns:a16="http://schemas.microsoft.com/office/drawing/2014/main" id="{FF82BA20-1ED6-C70E-D793-183F43266CC3}"/>
              </a:ext>
            </a:extLst>
          </p:cNvPr>
          <p:cNvGrpSpPr/>
          <p:nvPr/>
        </p:nvGrpSpPr>
        <p:grpSpPr>
          <a:xfrm>
            <a:off x="6688261" y="2226506"/>
            <a:ext cx="1323975" cy="1277327"/>
            <a:chOff x="6647960" y="2226506"/>
            <a:chExt cx="1323975" cy="1277327"/>
          </a:xfrm>
        </p:grpSpPr>
        <p:sp>
          <p:nvSpPr>
            <p:cNvPr id="15" name="ZoneTexte 14">
              <a:extLst>
                <a:ext uri="{FF2B5EF4-FFF2-40B4-BE49-F238E27FC236}">
                  <a16:creationId xmlns:a16="http://schemas.microsoft.com/office/drawing/2014/main" id="{63725A3B-AC94-960D-8BC8-777ECBAF5C56}"/>
                </a:ext>
              </a:extLst>
            </p:cNvPr>
            <p:cNvSpPr txBox="1"/>
            <p:nvPr/>
          </p:nvSpPr>
          <p:spPr>
            <a:xfrm>
              <a:off x="6647960" y="2857502"/>
              <a:ext cx="1323975" cy="646331"/>
            </a:xfrm>
            <a:prstGeom prst="rect">
              <a:avLst/>
            </a:prstGeom>
            <a:noFill/>
          </p:spPr>
          <p:txBody>
            <a:bodyPr wrap="square">
              <a:spAutoFit/>
            </a:bodyPr>
            <a:lstStyle/>
            <a:p>
              <a:pPr algn="ctr"/>
              <a:r>
                <a:rPr lang="fr-FR" sz="1200" b="1" dirty="0"/>
                <a:t>LOGIQUE DE PRIORISATION</a:t>
              </a:r>
            </a:p>
            <a:p>
              <a:pPr algn="ctr"/>
              <a:endParaRPr lang="fr-FR" sz="1200" b="1" dirty="0"/>
            </a:p>
          </p:txBody>
        </p:sp>
        <p:grpSp>
          <p:nvGrpSpPr>
            <p:cNvPr id="44" name="Groupe 43">
              <a:extLst>
                <a:ext uri="{FF2B5EF4-FFF2-40B4-BE49-F238E27FC236}">
                  <a16:creationId xmlns:a16="http://schemas.microsoft.com/office/drawing/2014/main" id="{686A0CB4-C187-72BD-3217-D7D54B2142CD}"/>
                </a:ext>
              </a:extLst>
            </p:cNvPr>
            <p:cNvGrpSpPr/>
            <p:nvPr/>
          </p:nvGrpSpPr>
          <p:grpSpPr>
            <a:xfrm>
              <a:off x="6951483" y="2226506"/>
              <a:ext cx="661493" cy="593446"/>
              <a:chOff x="-2303692" y="7227105"/>
              <a:chExt cx="1156064" cy="1037141"/>
            </a:xfrm>
          </p:grpSpPr>
          <p:grpSp>
            <p:nvGrpSpPr>
              <p:cNvPr id="38" name="Groupe 37">
                <a:extLst>
                  <a:ext uri="{FF2B5EF4-FFF2-40B4-BE49-F238E27FC236}">
                    <a16:creationId xmlns:a16="http://schemas.microsoft.com/office/drawing/2014/main" id="{8E5378C1-2C77-D451-01E1-C33A274041C4}"/>
                  </a:ext>
                </a:extLst>
              </p:cNvPr>
              <p:cNvGrpSpPr/>
              <p:nvPr/>
            </p:nvGrpSpPr>
            <p:grpSpPr>
              <a:xfrm>
                <a:off x="-2062028" y="7349846"/>
                <a:ext cx="914400" cy="914400"/>
                <a:chOff x="381000" y="3527564"/>
                <a:chExt cx="914400" cy="914400"/>
              </a:xfrm>
              <a:solidFill>
                <a:schemeClr val="accent1"/>
              </a:solidFill>
            </p:grpSpPr>
            <p:pic>
              <p:nvPicPr>
                <p:cNvPr id="40" name="Graphique 39" descr="Homme conductrice avec un remplissage uni">
                  <a:extLst>
                    <a:ext uri="{FF2B5EF4-FFF2-40B4-BE49-F238E27FC236}">
                      <a16:creationId xmlns:a16="http://schemas.microsoft.com/office/drawing/2014/main" id="{428BCD1C-58F6-BE3B-0092-BD0F9A3ABBD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81000" y="3527564"/>
                  <a:ext cx="914400" cy="914400"/>
                </a:xfrm>
                <a:prstGeom prst="rect">
                  <a:avLst/>
                </a:prstGeom>
              </p:spPr>
            </p:pic>
            <p:sp>
              <p:nvSpPr>
                <p:cNvPr id="41" name="Rectangle 40">
                  <a:extLst>
                    <a:ext uri="{FF2B5EF4-FFF2-40B4-BE49-F238E27FC236}">
                      <a16:creationId xmlns:a16="http://schemas.microsoft.com/office/drawing/2014/main" id="{A096AD5A-A282-71CE-8D9D-1599D5439AA0}"/>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43" name="Graphique 42" descr="Point d’interrogation avec un remplissage uni">
                <a:extLst>
                  <a:ext uri="{FF2B5EF4-FFF2-40B4-BE49-F238E27FC236}">
                    <a16:creationId xmlns:a16="http://schemas.microsoft.com/office/drawing/2014/main" id="{CB5804E1-B70A-421A-2EF5-4EAD1677EE80}"/>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303692" y="7227105"/>
                <a:ext cx="483327" cy="483327"/>
              </a:xfrm>
              <a:prstGeom prst="rect">
                <a:avLst/>
              </a:prstGeom>
            </p:spPr>
          </p:pic>
        </p:grpSp>
      </p:grpSp>
      <p:grpSp>
        <p:nvGrpSpPr>
          <p:cNvPr id="35" name="Groupe 34">
            <a:extLst>
              <a:ext uri="{FF2B5EF4-FFF2-40B4-BE49-F238E27FC236}">
                <a16:creationId xmlns:a16="http://schemas.microsoft.com/office/drawing/2014/main" id="{B3AC3D2D-4141-345B-3A0F-1AD3424CBFFD}"/>
              </a:ext>
            </a:extLst>
          </p:cNvPr>
          <p:cNvGrpSpPr/>
          <p:nvPr/>
        </p:nvGrpSpPr>
        <p:grpSpPr>
          <a:xfrm>
            <a:off x="8010129" y="2157208"/>
            <a:ext cx="1323975" cy="1360271"/>
            <a:chOff x="7973439" y="2157208"/>
            <a:chExt cx="1323975" cy="1360271"/>
          </a:xfrm>
        </p:grpSpPr>
        <p:sp>
          <p:nvSpPr>
            <p:cNvPr id="16" name="ZoneTexte 15">
              <a:extLst>
                <a:ext uri="{FF2B5EF4-FFF2-40B4-BE49-F238E27FC236}">
                  <a16:creationId xmlns:a16="http://schemas.microsoft.com/office/drawing/2014/main" id="{95FB59E9-8383-EFBE-F594-9853D40D0754}"/>
                </a:ext>
              </a:extLst>
            </p:cNvPr>
            <p:cNvSpPr txBox="1"/>
            <p:nvPr/>
          </p:nvSpPr>
          <p:spPr>
            <a:xfrm>
              <a:off x="7973439" y="2871148"/>
              <a:ext cx="1323975" cy="646331"/>
            </a:xfrm>
            <a:prstGeom prst="rect">
              <a:avLst/>
            </a:prstGeom>
            <a:noFill/>
          </p:spPr>
          <p:txBody>
            <a:bodyPr wrap="square">
              <a:spAutoFit/>
            </a:bodyPr>
            <a:lstStyle/>
            <a:p>
              <a:pPr algn="ctr"/>
              <a:r>
                <a:rPr lang="fr-FR" sz="1200" b="1" dirty="0"/>
                <a:t>MOMENT DE PRIORISATION</a:t>
              </a:r>
            </a:p>
            <a:p>
              <a:pPr algn="ctr"/>
              <a:endParaRPr lang="fr-FR" sz="1200" b="1" dirty="0"/>
            </a:p>
          </p:txBody>
        </p:sp>
        <p:pic>
          <p:nvPicPr>
            <p:cNvPr id="46" name="Graphique 45" descr="Calendrier journalier avec un remplissage uni">
              <a:extLst>
                <a:ext uri="{FF2B5EF4-FFF2-40B4-BE49-F238E27FC236}">
                  <a16:creationId xmlns:a16="http://schemas.microsoft.com/office/drawing/2014/main" id="{9E668C4C-5412-0B58-4CF3-1703C42962E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358276" y="2224715"/>
              <a:ext cx="612501" cy="612501"/>
            </a:xfrm>
            <a:prstGeom prst="rect">
              <a:avLst/>
            </a:prstGeom>
          </p:spPr>
        </p:pic>
        <p:pic>
          <p:nvPicPr>
            <p:cNvPr id="49" name="Graphique 48" descr="Priorités avec un remplissage uni">
              <a:extLst>
                <a:ext uri="{FF2B5EF4-FFF2-40B4-BE49-F238E27FC236}">
                  <a16:creationId xmlns:a16="http://schemas.microsoft.com/office/drawing/2014/main" id="{BC6FF5B2-9476-B9FB-45A1-C29F4824078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838139" y="2157208"/>
              <a:ext cx="308784" cy="308784"/>
            </a:xfrm>
            <a:prstGeom prst="rect">
              <a:avLst/>
            </a:prstGeom>
          </p:spPr>
        </p:pic>
      </p:grpSp>
      <p:grpSp>
        <p:nvGrpSpPr>
          <p:cNvPr id="36" name="Groupe 35">
            <a:extLst>
              <a:ext uri="{FF2B5EF4-FFF2-40B4-BE49-F238E27FC236}">
                <a16:creationId xmlns:a16="http://schemas.microsoft.com/office/drawing/2014/main" id="{B5E6C3C1-25D4-BA99-0377-057D756308F8}"/>
              </a:ext>
            </a:extLst>
          </p:cNvPr>
          <p:cNvGrpSpPr/>
          <p:nvPr/>
        </p:nvGrpSpPr>
        <p:grpSpPr>
          <a:xfrm>
            <a:off x="9331997" y="2043222"/>
            <a:ext cx="1323975" cy="1474257"/>
            <a:chOff x="9298918" y="2043222"/>
            <a:chExt cx="1323975" cy="1474257"/>
          </a:xfrm>
        </p:grpSpPr>
        <p:sp>
          <p:nvSpPr>
            <p:cNvPr id="17" name="ZoneTexte 16">
              <a:extLst>
                <a:ext uri="{FF2B5EF4-FFF2-40B4-BE49-F238E27FC236}">
                  <a16:creationId xmlns:a16="http://schemas.microsoft.com/office/drawing/2014/main" id="{EDEFF1DD-B2ED-A065-48ED-D1BB21630FD4}"/>
                </a:ext>
              </a:extLst>
            </p:cNvPr>
            <p:cNvSpPr txBox="1"/>
            <p:nvPr/>
          </p:nvSpPr>
          <p:spPr>
            <a:xfrm>
              <a:off x="9298918" y="2871148"/>
              <a:ext cx="1323975" cy="646331"/>
            </a:xfrm>
            <a:prstGeom prst="rect">
              <a:avLst/>
            </a:prstGeom>
            <a:noFill/>
          </p:spPr>
          <p:txBody>
            <a:bodyPr wrap="square">
              <a:spAutoFit/>
            </a:bodyPr>
            <a:lstStyle/>
            <a:p>
              <a:pPr algn="ctr"/>
              <a:r>
                <a:rPr lang="fr-FR" sz="1200" b="1" dirty="0"/>
                <a:t>METHODE DE PRIORISATION</a:t>
              </a:r>
            </a:p>
            <a:p>
              <a:pPr algn="ctr"/>
              <a:endParaRPr lang="fr-FR" sz="1200" b="1" dirty="0"/>
            </a:p>
          </p:txBody>
        </p:sp>
        <p:pic>
          <p:nvPicPr>
            <p:cNvPr id="48" name="Graphique 47" descr="Filtrer avec un remplissage uni">
              <a:extLst>
                <a:ext uri="{FF2B5EF4-FFF2-40B4-BE49-F238E27FC236}">
                  <a16:creationId xmlns:a16="http://schemas.microsoft.com/office/drawing/2014/main" id="{37B14AEA-67C0-C7B5-33ED-19A3E73ED74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604946" y="2043222"/>
              <a:ext cx="702450" cy="702450"/>
            </a:xfrm>
            <a:prstGeom prst="rect">
              <a:avLst/>
            </a:prstGeom>
          </p:spPr>
        </p:pic>
        <p:pic>
          <p:nvPicPr>
            <p:cNvPr id="50" name="Graphique 49" descr="Priorités avec un remplissage uni">
              <a:extLst>
                <a:ext uri="{FF2B5EF4-FFF2-40B4-BE49-F238E27FC236}">
                  <a16:creationId xmlns:a16="http://schemas.microsoft.com/office/drawing/2014/main" id="{C03FDC24-D048-B98D-C208-2178DD2CCA7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55693" y="2620195"/>
              <a:ext cx="308784" cy="308784"/>
            </a:xfrm>
            <a:prstGeom prst="rect">
              <a:avLst/>
            </a:prstGeom>
          </p:spPr>
        </p:pic>
      </p:grpSp>
      <p:grpSp>
        <p:nvGrpSpPr>
          <p:cNvPr id="37" name="Groupe 36">
            <a:extLst>
              <a:ext uri="{FF2B5EF4-FFF2-40B4-BE49-F238E27FC236}">
                <a16:creationId xmlns:a16="http://schemas.microsoft.com/office/drawing/2014/main" id="{0EC80FF4-0038-85C6-9E16-2234B8048F01}"/>
              </a:ext>
            </a:extLst>
          </p:cNvPr>
          <p:cNvGrpSpPr/>
          <p:nvPr/>
        </p:nvGrpSpPr>
        <p:grpSpPr>
          <a:xfrm>
            <a:off x="10653866" y="2274250"/>
            <a:ext cx="1507885" cy="1021458"/>
            <a:chOff x="10653866" y="2274250"/>
            <a:chExt cx="1507885" cy="1021458"/>
          </a:xfrm>
        </p:grpSpPr>
        <p:sp>
          <p:nvSpPr>
            <p:cNvPr id="51" name="ZoneTexte 50">
              <a:extLst>
                <a:ext uri="{FF2B5EF4-FFF2-40B4-BE49-F238E27FC236}">
                  <a16:creationId xmlns:a16="http://schemas.microsoft.com/office/drawing/2014/main" id="{81CCF6C8-0480-6B14-0373-8B00B9F5E926}"/>
                </a:ext>
              </a:extLst>
            </p:cNvPr>
            <p:cNvSpPr txBox="1"/>
            <p:nvPr/>
          </p:nvSpPr>
          <p:spPr>
            <a:xfrm>
              <a:off x="10653866" y="2834043"/>
              <a:ext cx="1507885" cy="461665"/>
            </a:xfrm>
            <a:prstGeom prst="rect">
              <a:avLst/>
            </a:prstGeom>
            <a:noFill/>
          </p:spPr>
          <p:txBody>
            <a:bodyPr wrap="square">
              <a:spAutoFit/>
            </a:bodyPr>
            <a:lstStyle/>
            <a:p>
              <a:pPr algn="ctr"/>
              <a:r>
                <a:rPr lang="fr-FR" sz="1200" b="1" dirty="0"/>
                <a:t>COMMUNICATION DES DECISIONS</a:t>
              </a:r>
            </a:p>
          </p:txBody>
        </p:sp>
        <p:pic>
          <p:nvPicPr>
            <p:cNvPr id="53" name="Graphique 52" descr="Enveloppe avec un remplissage uni">
              <a:extLst>
                <a:ext uri="{FF2B5EF4-FFF2-40B4-BE49-F238E27FC236}">
                  <a16:creationId xmlns:a16="http://schemas.microsoft.com/office/drawing/2014/main" id="{DE93C838-4DC9-010D-BFA7-554DAE24C5DD}"/>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1015377" y="2274250"/>
              <a:ext cx="691889" cy="691889"/>
            </a:xfrm>
            <a:prstGeom prst="rect">
              <a:avLst/>
            </a:prstGeom>
          </p:spPr>
        </p:pic>
        <p:pic>
          <p:nvPicPr>
            <p:cNvPr id="54" name="Graphique 53" descr="Priorités avec un remplissage uni">
              <a:extLst>
                <a:ext uri="{FF2B5EF4-FFF2-40B4-BE49-F238E27FC236}">
                  <a16:creationId xmlns:a16="http://schemas.microsoft.com/office/drawing/2014/main" id="{1A8C297F-128C-B4F5-187B-06D404F01B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33427" y="2435016"/>
              <a:ext cx="214258" cy="214258"/>
            </a:xfrm>
            <a:prstGeom prst="rect">
              <a:avLst/>
            </a:prstGeom>
          </p:spPr>
        </p:pic>
      </p:grpSp>
      <p:sp>
        <p:nvSpPr>
          <p:cNvPr id="47" name="Rectangle 46">
            <a:extLst>
              <a:ext uri="{FF2B5EF4-FFF2-40B4-BE49-F238E27FC236}">
                <a16:creationId xmlns:a16="http://schemas.microsoft.com/office/drawing/2014/main" id="{D14D33F3-2519-24EF-876A-5BC78941B329}"/>
              </a:ext>
            </a:extLst>
          </p:cNvPr>
          <p:cNvSpPr/>
          <p:nvPr/>
        </p:nvSpPr>
        <p:spPr>
          <a:xfrm>
            <a:off x="2831056" y="3702145"/>
            <a:ext cx="1192265" cy="131773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⚙️Définir / Délimiter ce qui sera priorisé</a:t>
            </a:r>
          </a:p>
          <a:p>
            <a:pPr algn="ctr"/>
            <a:endParaRPr lang="fr-FR" sz="1100" dirty="0">
              <a:solidFill>
                <a:schemeClr val="tx1"/>
              </a:solidFill>
            </a:endParaRPr>
          </a:p>
        </p:txBody>
      </p:sp>
      <p:sp>
        <p:nvSpPr>
          <p:cNvPr id="52" name="Rectangle 51">
            <a:extLst>
              <a:ext uri="{FF2B5EF4-FFF2-40B4-BE49-F238E27FC236}">
                <a16:creationId xmlns:a16="http://schemas.microsoft.com/office/drawing/2014/main" id="{3DFBB289-F92C-D9A4-2A6D-8937ADBDB91F}"/>
              </a:ext>
            </a:extLst>
          </p:cNvPr>
          <p:cNvSpPr/>
          <p:nvPr/>
        </p:nvSpPr>
        <p:spPr>
          <a:xfrm>
            <a:off x="4152621" y="3702145"/>
            <a:ext cx="1192265" cy="131773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⚙️+✍️Réunir les éléments à prioriser au même endroit</a:t>
            </a:r>
          </a:p>
          <a:p>
            <a:pPr algn="ctr"/>
            <a:endParaRPr lang="fr-FR" sz="1100" dirty="0">
              <a:solidFill>
                <a:schemeClr val="tx1"/>
              </a:solidFill>
            </a:endParaRPr>
          </a:p>
        </p:txBody>
      </p:sp>
      <p:sp>
        <p:nvSpPr>
          <p:cNvPr id="55" name="Rectangle 54">
            <a:extLst>
              <a:ext uri="{FF2B5EF4-FFF2-40B4-BE49-F238E27FC236}">
                <a16:creationId xmlns:a16="http://schemas.microsoft.com/office/drawing/2014/main" id="{3F01771D-654F-5023-8FA9-8E5EE19631F1}"/>
              </a:ext>
            </a:extLst>
          </p:cNvPr>
          <p:cNvSpPr/>
          <p:nvPr/>
        </p:nvSpPr>
        <p:spPr>
          <a:xfrm>
            <a:off x="5474186" y="3702145"/>
            <a:ext cx="1192265" cy="131773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⚙️Identifier qui fera la priorisation et les contacter</a:t>
            </a:r>
          </a:p>
        </p:txBody>
      </p:sp>
      <p:sp>
        <p:nvSpPr>
          <p:cNvPr id="56" name="Rectangle 55">
            <a:extLst>
              <a:ext uri="{FF2B5EF4-FFF2-40B4-BE49-F238E27FC236}">
                <a16:creationId xmlns:a16="http://schemas.microsoft.com/office/drawing/2014/main" id="{BFB271C1-99A4-6A96-4373-2D670CCC8A0B}"/>
              </a:ext>
            </a:extLst>
          </p:cNvPr>
          <p:cNvSpPr/>
          <p:nvPr/>
        </p:nvSpPr>
        <p:spPr>
          <a:xfrm>
            <a:off x="6795751" y="3702145"/>
            <a:ext cx="1192265" cy="131773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⚙️Clarifier dans quels contexte et but on priorise </a:t>
            </a:r>
          </a:p>
        </p:txBody>
      </p:sp>
      <p:sp>
        <p:nvSpPr>
          <p:cNvPr id="57" name="Rectangle 56">
            <a:extLst>
              <a:ext uri="{FF2B5EF4-FFF2-40B4-BE49-F238E27FC236}">
                <a16:creationId xmlns:a16="http://schemas.microsoft.com/office/drawing/2014/main" id="{27359ABD-69D3-2280-34CC-EEACFEFBE434}"/>
              </a:ext>
            </a:extLst>
          </p:cNvPr>
          <p:cNvSpPr/>
          <p:nvPr/>
        </p:nvSpPr>
        <p:spPr>
          <a:xfrm>
            <a:off x="8117316" y="3702145"/>
            <a:ext cx="1192265" cy="131773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📅Fixer la date et l’événement de priorisation</a:t>
            </a:r>
          </a:p>
          <a:p>
            <a:pPr algn="ctr"/>
            <a:endParaRPr lang="fr-FR" sz="1100" dirty="0">
              <a:solidFill>
                <a:schemeClr val="tx1"/>
              </a:solidFill>
            </a:endParaRPr>
          </a:p>
        </p:txBody>
      </p:sp>
      <p:sp>
        <p:nvSpPr>
          <p:cNvPr id="58" name="Rectangle 57">
            <a:extLst>
              <a:ext uri="{FF2B5EF4-FFF2-40B4-BE49-F238E27FC236}">
                <a16:creationId xmlns:a16="http://schemas.microsoft.com/office/drawing/2014/main" id="{E6A1E3BA-6B46-4261-7754-469BA5AC38B1}"/>
              </a:ext>
            </a:extLst>
          </p:cNvPr>
          <p:cNvSpPr/>
          <p:nvPr/>
        </p:nvSpPr>
        <p:spPr>
          <a:xfrm>
            <a:off x="9438881" y="3702145"/>
            <a:ext cx="1192265" cy="131773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📅+⚙️Choisir un déroulement de la priorisation</a:t>
            </a:r>
          </a:p>
          <a:p>
            <a:pPr algn="ctr"/>
            <a:endParaRPr lang="fr-FR" sz="1100" dirty="0">
              <a:solidFill>
                <a:schemeClr val="tx1"/>
              </a:solidFill>
            </a:endParaRPr>
          </a:p>
        </p:txBody>
      </p:sp>
      <p:sp>
        <p:nvSpPr>
          <p:cNvPr id="59" name="Rectangle 58">
            <a:extLst>
              <a:ext uri="{FF2B5EF4-FFF2-40B4-BE49-F238E27FC236}">
                <a16:creationId xmlns:a16="http://schemas.microsoft.com/office/drawing/2014/main" id="{45388C9D-CF12-3991-4677-3315BBB7D45D}"/>
              </a:ext>
            </a:extLst>
          </p:cNvPr>
          <p:cNvSpPr/>
          <p:nvPr/>
        </p:nvSpPr>
        <p:spPr>
          <a:xfrm>
            <a:off x="10760444" y="3702145"/>
            <a:ext cx="1192265" cy="131773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✍️Envoyer ou publier les résultats de la priorisation</a:t>
            </a:r>
          </a:p>
          <a:p>
            <a:pPr algn="ctr"/>
            <a:endParaRPr lang="fr-FR" sz="1100" dirty="0">
              <a:solidFill>
                <a:schemeClr val="tx1"/>
              </a:solidFill>
            </a:endParaRPr>
          </a:p>
        </p:txBody>
      </p:sp>
      <p:pic>
        <p:nvPicPr>
          <p:cNvPr id="60" name="Graphique 59" descr="Priorités avec un remplissage uni">
            <a:extLst>
              <a:ext uri="{FF2B5EF4-FFF2-40B4-BE49-F238E27FC236}">
                <a16:creationId xmlns:a16="http://schemas.microsoft.com/office/drawing/2014/main" id="{29274ACF-EFC7-F279-FF77-CCB08A721D7B}"/>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18552" y="1348"/>
            <a:ext cx="1171537" cy="1171537"/>
          </a:xfrm>
          <a:prstGeom prst="rect">
            <a:avLst/>
          </a:prstGeom>
        </p:spPr>
      </p:pic>
    </p:spTree>
    <p:extLst>
      <p:ext uri="{BB962C8B-B14F-4D97-AF65-F5344CB8AC3E}">
        <p14:creationId xmlns:p14="http://schemas.microsoft.com/office/powerpoint/2010/main" val="1522386289"/>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E39779A-C1ED-741B-9817-5667FC3C8308}"/>
              </a:ext>
            </a:extLst>
          </p:cNvPr>
          <p:cNvSpPr>
            <a:spLocks noGrp="1"/>
          </p:cNvSpPr>
          <p:nvPr>
            <p:ph type="title"/>
          </p:nvPr>
        </p:nvSpPr>
        <p:spPr/>
        <p:txBody>
          <a:bodyPr>
            <a:normAutofit/>
          </a:bodyPr>
          <a:lstStyle/>
          <a:p>
            <a:r>
              <a:rPr lang="fr-FR" sz="3200" dirty="0"/>
              <a:t>Les périmètres de priorisation</a:t>
            </a:r>
          </a:p>
        </p:txBody>
      </p:sp>
      <p:sp>
        <p:nvSpPr>
          <p:cNvPr id="3" name="Espace réservé du contenu 2">
            <a:extLst>
              <a:ext uri="{FF2B5EF4-FFF2-40B4-BE49-F238E27FC236}">
                <a16:creationId xmlns:a16="http://schemas.microsoft.com/office/drawing/2014/main" id="{6BADD7D1-6D18-5AEE-EC79-9A29006C15BC}"/>
              </a:ext>
            </a:extLst>
          </p:cNvPr>
          <p:cNvSpPr>
            <a:spLocks noGrp="1"/>
          </p:cNvSpPr>
          <p:nvPr>
            <p:ph idx="1"/>
          </p:nvPr>
        </p:nvSpPr>
        <p:spPr>
          <a:xfrm>
            <a:off x="838201" y="1825625"/>
            <a:ext cx="4710344" cy="4667250"/>
          </a:xfrm>
        </p:spPr>
        <p:txBody>
          <a:bodyPr>
            <a:noAutofit/>
          </a:bodyPr>
          <a:lstStyle/>
          <a:p>
            <a:pPr marL="0" indent="0">
              <a:buNone/>
            </a:pPr>
            <a:r>
              <a:rPr lang="fr-FR" sz="1800" dirty="0"/>
              <a:t>Chaque point de priorisation vient avec un périmètre qui lui est dédié.</a:t>
            </a:r>
          </a:p>
          <a:p>
            <a:pPr marL="0" indent="0">
              <a:buNone/>
            </a:pPr>
            <a:r>
              <a:rPr lang="fr-FR" sz="1800" dirty="0"/>
              <a:t>Dans la plupart des cas, il existe une liste globale des actions à faire pour la Communauté. </a:t>
            </a:r>
          </a:p>
          <a:p>
            <a:pPr marL="0" indent="0">
              <a:buNone/>
            </a:pPr>
            <a:r>
              <a:rPr lang="fr-FR" sz="1800" dirty="0"/>
              <a:t>Lorsque la Communauté grandit ou bien quand les circonstances s’y prête, il peut devenir intéressant de diviser cette liste globale en plusieurs domaines.</a:t>
            </a:r>
          </a:p>
          <a:p>
            <a:pPr marL="0" indent="0">
              <a:buNone/>
            </a:pPr>
            <a:r>
              <a:rPr lang="fr-FR" sz="1800" dirty="0"/>
              <a:t>Cette division en plusieurs domaines offre plusieurs possibilités, entre autres de fonctionner plus ou moins « indépendamment » et éviter certaines lourdeurs.</a:t>
            </a:r>
          </a:p>
          <a:p>
            <a:pPr marL="0" indent="0">
              <a:buNone/>
            </a:pPr>
            <a:r>
              <a:rPr lang="fr-FR" sz="1800" dirty="0"/>
              <a:t>Cette possibilité vient avec des questions subsidiaires telles que : « Comment découper ? » et « à quel point découper ?» et « Doit-on quand même synchroniser les domaines ? »</a:t>
            </a:r>
          </a:p>
        </p:txBody>
      </p:sp>
      <p:pic>
        <p:nvPicPr>
          <p:cNvPr id="6" name="Graphique 5" descr="Priorités avec un remplissage uni">
            <a:extLst>
              <a:ext uri="{FF2B5EF4-FFF2-40B4-BE49-F238E27FC236}">
                <a16:creationId xmlns:a16="http://schemas.microsoft.com/office/drawing/2014/main" id="{52797C90-6781-D4DA-E78F-1D15B387A7A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220647" y="1534825"/>
            <a:ext cx="1171537" cy="1171537"/>
          </a:xfrm>
          <a:prstGeom prst="rect">
            <a:avLst/>
          </a:prstGeom>
        </p:spPr>
      </p:pic>
      <p:pic>
        <p:nvPicPr>
          <p:cNvPr id="7" name="Graphique 6" descr="Priorités avec un remplissage uni">
            <a:extLst>
              <a:ext uri="{FF2B5EF4-FFF2-40B4-BE49-F238E27FC236}">
                <a16:creationId xmlns:a16="http://schemas.microsoft.com/office/drawing/2014/main" id="{76E59CD8-7993-7786-BC4F-F16F70D6456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165804" y="4030475"/>
            <a:ext cx="837014" cy="837014"/>
          </a:xfrm>
          <a:prstGeom prst="rect">
            <a:avLst/>
          </a:prstGeom>
        </p:spPr>
      </p:pic>
      <p:pic>
        <p:nvPicPr>
          <p:cNvPr id="8" name="Graphique 7" descr="Priorités avec un remplissage uni">
            <a:extLst>
              <a:ext uri="{FF2B5EF4-FFF2-40B4-BE49-F238E27FC236}">
                <a16:creationId xmlns:a16="http://schemas.microsoft.com/office/drawing/2014/main" id="{D202E0DF-BC56-8B77-5803-EC80289290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383258" y="4030475"/>
            <a:ext cx="837014" cy="837014"/>
          </a:xfrm>
          <a:prstGeom prst="rect">
            <a:avLst/>
          </a:prstGeom>
        </p:spPr>
      </p:pic>
      <p:pic>
        <p:nvPicPr>
          <p:cNvPr id="9" name="Graphique 8" descr="Priorités avec un remplissage uni">
            <a:extLst>
              <a:ext uri="{FF2B5EF4-FFF2-40B4-BE49-F238E27FC236}">
                <a16:creationId xmlns:a16="http://schemas.microsoft.com/office/drawing/2014/main" id="{216E8EE5-86EE-89EE-1533-EC3AC87DB48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67377" y="4030475"/>
            <a:ext cx="837014" cy="837014"/>
          </a:xfrm>
          <a:prstGeom prst="rect">
            <a:avLst/>
          </a:prstGeom>
        </p:spPr>
      </p:pic>
      <p:sp>
        <p:nvSpPr>
          <p:cNvPr id="10" name="Flèche : bas 9">
            <a:extLst>
              <a:ext uri="{FF2B5EF4-FFF2-40B4-BE49-F238E27FC236}">
                <a16:creationId xmlns:a16="http://schemas.microsoft.com/office/drawing/2014/main" id="{C110F68C-5AA3-E9A2-B648-FB9850A1E1EB}"/>
              </a:ext>
            </a:extLst>
          </p:cNvPr>
          <p:cNvSpPr/>
          <p:nvPr/>
        </p:nvSpPr>
        <p:spPr>
          <a:xfrm>
            <a:off x="8801765" y="3574538"/>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Flèche : bas 10">
            <a:extLst>
              <a:ext uri="{FF2B5EF4-FFF2-40B4-BE49-F238E27FC236}">
                <a16:creationId xmlns:a16="http://schemas.microsoft.com/office/drawing/2014/main" id="{7DFB84C0-E897-1A28-92A3-7A82DD68B450}"/>
              </a:ext>
            </a:extLst>
          </p:cNvPr>
          <p:cNvSpPr/>
          <p:nvPr/>
        </p:nvSpPr>
        <p:spPr>
          <a:xfrm rot="19457352">
            <a:off x="9622345" y="3426492"/>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Flèche : bas 11">
            <a:extLst>
              <a:ext uri="{FF2B5EF4-FFF2-40B4-BE49-F238E27FC236}">
                <a16:creationId xmlns:a16="http://schemas.microsoft.com/office/drawing/2014/main" id="{E5AD535A-5F5A-4B71-811C-CD9AC6709E55}"/>
              </a:ext>
            </a:extLst>
          </p:cNvPr>
          <p:cNvSpPr/>
          <p:nvPr/>
        </p:nvSpPr>
        <p:spPr>
          <a:xfrm rot="2847762">
            <a:off x="7975596" y="3388339"/>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ZoneTexte 12">
            <a:extLst>
              <a:ext uri="{FF2B5EF4-FFF2-40B4-BE49-F238E27FC236}">
                <a16:creationId xmlns:a16="http://schemas.microsoft.com/office/drawing/2014/main" id="{3725BE34-E5D7-A5D7-E0B2-5F5D321D392E}"/>
              </a:ext>
            </a:extLst>
          </p:cNvPr>
          <p:cNvSpPr txBox="1"/>
          <p:nvPr/>
        </p:nvSpPr>
        <p:spPr>
          <a:xfrm>
            <a:off x="8207623" y="1404020"/>
            <a:ext cx="1557143" cy="261610"/>
          </a:xfrm>
          <a:prstGeom prst="rect">
            <a:avLst/>
          </a:prstGeom>
          <a:noFill/>
        </p:spPr>
        <p:txBody>
          <a:bodyPr wrap="square">
            <a:spAutoFit/>
          </a:bodyPr>
          <a:lstStyle/>
          <a:p>
            <a:pPr algn="ctr"/>
            <a:r>
              <a:rPr lang="fr-FR" sz="1100" b="1" dirty="0"/>
              <a:t>Liste globale d’actions</a:t>
            </a:r>
          </a:p>
        </p:txBody>
      </p:sp>
      <p:pic>
        <p:nvPicPr>
          <p:cNvPr id="14" name="Graphique 13" descr="Ciseaux avec un remplissage uni">
            <a:extLst>
              <a:ext uri="{FF2B5EF4-FFF2-40B4-BE49-F238E27FC236}">
                <a16:creationId xmlns:a16="http://schemas.microsoft.com/office/drawing/2014/main" id="{4074D5D0-CE3B-B817-0F35-D2DB8095707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374285" y="2594237"/>
            <a:ext cx="1171536" cy="1171536"/>
          </a:xfrm>
          <a:prstGeom prst="rect">
            <a:avLst/>
          </a:prstGeom>
        </p:spPr>
      </p:pic>
    </p:spTree>
    <p:extLst>
      <p:ext uri="{BB962C8B-B14F-4D97-AF65-F5344CB8AC3E}">
        <p14:creationId xmlns:p14="http://schemas.microsoft.com/office/powerpoint/2010/main" val="1424563407"/>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5FE058C-C139-EBB0-5B1E-9DD9AE97EDA8}"/>
              </a:ext>
            </a:extLst>
          </p:cNvPr>
          <p:cNvSpPr>
            <a:spLocks noGrp="1"/>
          </p:cNvSpPr>
          <p:nvPr>
            <p:ph type="title"/>
          </p:nvPr>
        </p:nvSpPr>
        <p:spPr>
          <a:xfrm>
            <a:off x="838200" y="365125"/>
            <a:ext cx="10515600" cy="865613"/>
          </a:xfrm>
        </p:spPr>
        <p:txBody>
          <a:bodyPr>
            <a:normAutofit fontScale="90000"/>
          </a:bodyPr>
          <a:lstStyle/>
          <a:p>
            <a:r>
              <a:rPr lang="fr-FR" sz="3600" dirty="0"/>
              <a:t>Sur quel périmètre se fait la priorisation ?</a:t>
            </a:r>
            <a:br>
              <a:rPr lang="fr-FR" sz="3600" dirty="0"/>
            </a:br>
            <a:r>
              <a:rPr lang="fr-FR" sz="3600" dirty="0"/>
              <a:t>Les niveaux de découpage en domaines</a:t>
            </a:r>
          </a:p>
        </p:txBody>
      </p:sp>
      <p:sp>
        <p:nvSpPr>
          <p:cNvPr id="4" name="Flèche : double flèche horizontale 3">
            <a:extLst>
              <a:ext uri="{FF2B5EF4-FFF2-40B4-BE49-F238E27FC236}">
                <a16:creationId xmlns:a16="http://schemas.microsoft.com/office/drawing/2014/main" id="{F2E25F68-78FA-A8CA-A4DC-98303ED7579D}"/>
              </a:ext>
            </a:extLst>
          </p:cNvPr>
          <p:cNvSpPr/>
          <p:nvPr/>
        </p:nvSpPr>
        <p:spPr>
          <a:xfrm rot="5400000">
            <a:off x="-465187" y="4003929"/>
            <a:ext cx="4592524" cy="3602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sp>
        <p:nvSpPr>
          <p:cNvPr id="5" name="ZoneTexte 4">
            <a:extLst>
              <a:ext uri="{FF2B5EF4-FFF2-40B4-BE49-F238E27FC236}">
                <a16:creationId xmlns:a16="http://schemas.microsoft.com/office/drawing/2014/main" id="{C5863CAC-4EFA-F22D-417D-9DDD369E1B59}"/>
              </a:ext>
            </a:extLst>
          </p:cNvPr>
          <p:cNvSpPr txBox="1"/>
          <p:nvPr/>
        </p:nvSpPr>
        <p:spPr>
          <a:xfrm>
            <a:off x="84343" y="5671628"/>
            <a:ext cx="1802574" cy="369332"/>
          </a:xfrm>
          <a:prstGeom prst="rect">
            <a:avLst/>
          </a:prstGeom>
          <a:noFill/>
        </p:spPr>
        <p:txBody>
          <a:bodyPr wrap="square">
            <a:spAutoFit/>
          </a:bodyPr>
          <a:lstStyle/>
          <a:p>
            <a:pPr algn="ctr"/>
            <a:r>
              <a:rPr lang="fr-FR" b="1" dirty="0"/>
              <a:t>DÉCOUPAGE</a:t>
            </a:r>
          </a:p>
        </p:txBody>
      </p:sp>
      <p:pic>
        <p:nvPicPr>
          <p:cNvPr id="6" name="Graphique 5" descr="Priorités avec un remplissage uni">
            <a:extLst>
              <a:ext uri="{FF2B5EF4-FFF2-40B4-BE49-F238E27FC236}">
                <a16:creationId xmlns:a16="http://schemas.microsoft.com/office/drawing/2014/main" id="{3ED22ACE-7BCF-DAE5-5D9C-958E1CCF4E7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438000" y="1815545"/>
            <a:ext cx="1171537" cy="1171537"/>
          </a:xfrm>
          <a:prstGeom prst="rect">
            <a:avLst/>
          </a:prstGeom>
        </p:spPr>
      </p:pic>
      <p:sp>
        <p:nvSpPr>
          <p:cNvPr id="7" name="ZoneTexte 6">
            <a:extLst>
              <a:ext uri="{FF2B5EF4-FFF2-40B4-BE49-F238E27FC236}">
                <a16:creationId xmlns:a16="http://schemas.microsoft.com/office/drawing/2014/main" id="{C0882376-D5C5-6B93-8414-03273918668B}"/>
              </a:ext>
            </a:extLst>
          </p:cNvPr>
          <p:cNvSpPr txBox="1"/>
          <p:nvPr/>
        </p:nvSpPr>
        <p:spPr>
          <a:xfrm>
            <a:off x="-40691" y="1943107"/>
            <a:ext cx="1802574" cy="646331"/>
          </a:xfrm>
          <a:prstGeom prst="rect">
            <a:avLst/>
          </a:prstGeom>
          <a:noFill/>
        </p:spPr>
        <p:txBody>
          <a:bodyPr wrap="square">
            <a:spAutoFit/>
          </a:bodyPr>
          <a:lstStyle/>
          <a:p>
            <a:pPr algn="ctr"/>
            <a:r>
              <a:rPr lang="fr-FR" b="1" dirty="0"/>
              <a:t>PAS DE DÉCOUPAGE</a:t>
            </a:r>
          </a:p>
        </p:txBody>
      </p:sp>
      <p:sp>
        <p:nvSpPr>
          <p:cNvPr id="8" name="ZoneTexte 7">
            <a:extLst>
              <a:ext uri="{FF2B5EF4-FFF2-40B4-BE49-F238E27FC236}">
                <a16:creationId xmlns:a16="http://schemas.microsoft.com/office/drawing/2014/main" id="{6E2A6B95-B552-EBD0-5B2D-8ED84C8B8DA8}"/>
              </a:ext>
            </a:extLst>
          </p:cNvPr>
          <p:cNvSpPr txBox="1"/>
          <p:nvPr/>
        </p:nvSpPr>
        <p:spPr>
          <a:xfrm>
            <a:off x="99038" y="3548623"/>
            <a:ext cx="1802574" cy="646331"/>
          </a:xfrm>
          <a:prstGeom prst="rect">
            <a:avLst/>
          </a:prstGeom>
          <a:noFill/>
        </p:spPr>
        <p:txBody>
          <a:bodyPr wrap="square">
            <a:spAutoFit/>
          </a:bodyPr>
          <a:lstStyle/>
          <a:p>
            <a:pPr algn="ctr"/>
            <a:r>
              <a:rPr lang="fr-FR" b="1" dirty="0"/>
              <a:t>SEMI DÉCOUPAGE</a:t>
            </a:r>
          </a:p>
        </p:txBody>
      </p:sp>
      <p:pic>
        <p:nvPicPr>
          <p:cNvPr id="9" name="Graphique 8" descr="Priorités avec un remplissage uni">
            <a:extLst>
              <a:ext uri="{FF2B5EF4-FFF2-40B4-BE49-F238E27FC236}">
                <a16:creationId xmlns:a16="http://schemas.microsoft.com/office/drawing/2014/main" id="{3D25229E-9706-4C74-9232-432FA27FAD7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081369" y="5499324"/>
            <a:ext cx="713940" cy="713940"/>
          </a:xfrm>
          <a:prstGeom prst="rect">
            <a:avLst/>
          </a:prstGeom>
        </p:spPr>
      </p:pic>
      <p:pic>
        <p:nvPicPr>
          <p:cNvPr id="10" name="Graphique 9" descr="Priorités avec un remplissage uni">
            <a:extLst>
              <a:ext uri="{FF2B5EF4-FFF2-40B4-BE49-F238E27FC236}">
                <a16:creationId xmlns:a16="http://schemas.microsoft.com/office/drawing/2014/main" id="{746CA6E2-8834-C9E1-A6A5-25BAFDA2807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152436" y="5499324"/>
            <a:ext cx="713940" cy="713940"/>
          </a:xfrm>
          <a:prstGeom prst="rect">
            <a:avLst/>
          </a:prstGeom>
        </p:spPr>
      </p:pic>
      <p:pic>
        <p:nvPicPr>
          <p:cNvPr id="11" name="Graphique 10" descr="Priorités avec un remplissage uni">
            <a:extLst>
              <a:ext uri="{FF2B5EF4-FFF2-40B4-BE49-F238E27FC236}">
                <a16:creationId xmlns:a16="http://schemas.microsoft.com/office/drawing/2014/main" id="{0181FDC9-BE4D-8F6D-7F41-D911A142B2E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223503" y="5499324"/>
            <a:ext cx="713940" cy="713940"/>
          </a:xfrm>
          <a:prstGeom prst="rect">
            <a:avLst/>
          </a:prstGeom>
        </p:spPr>
      </p:pic>
      <p:pic>
        <p:nvPicPr>
          <p:cNvPr id="13" name="Graphique 12" descr="Priorités avec un remplissage uni">
            <a:extLst>
              <a:ext uri="{FF2B5EF4-FFF2-40B4-BE49-F238E27FC236}">
                <a16:creationId xmlns:a16="http://schemas.microsoft.com/office/drawing/2014/main" id="{9ED40ABB-EE00-B356-AC36-A0A218C077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081370" y="3586516"/>
            <a:ext cx="713940" cy="713940"/>
          </a:xfrm>
          <a:prstGeom prst="rect">
            <a:avLst/>
          </a:prstGeom>
        </p:spPr>
      </p:pic>
      <p:pic>
        <p:nvPicPr>
          <p:cNvPr id="14" name="Graphique 13" descr="Priorités avec un remplissage uni">
            <a:extLst>
              <a:ext uri="{FF2B5EF4-FFF2-40B4-BE49-F238E27FC236}">
                <a16:creationId xmlns:a16="http://schemas.microsoft.com/office/drawing/2014/main" id="{68B59A52-2934-DF00-EA8E-5F2B980B95A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154826" y="3586516"/>
            <a:ext cx="713940" cy="713940"/>
          </a:xfrm>
          <a:prstGeom prst="rect">
            <a:avLst/>
          </a:prstGeom>
        </p:spPr>
      </p:pic>
      <p:pic>
        <p:nvPicPr>
          <p:cNvPr id="15" name="Graphique 14" descr="Priorités avec un remplissage uni">
            <a:extLst>
              <a:ext uri="{FF2B5EF4-FFF2-40B4-BE49-F238E27FC236}">
                <a16:creationId xmlns:a16="http://schemas.microsoft.com/office/drawing/2014/main" id="{CA20A6AC-C71B-85A9-37B3-6981CA0D0BE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228281" y="3586516"/>
            <a:ext cx="713940" cy="713940"/>
          </a:xfrm>
          <a:prstGeom prst="rect">
            <a:avLst/>
          </a:prstGeom>
        </p:spPr>
      </p:pic>
      <p:pic>
        <p:nvPicPr>
          <p:cNvPr id="17" name="Graphique 16" descr="Lien avec un remplissage uni">
            <a:extLst>
              <a:ext uri="{FF2B5EF4-FFF2-40B4-BE49-F238E27FC236}">
                <a16:creationId xmlns:a16="http://schemas.microsoft.com/office/drawing/2014/main" id="{9C36D28C-20D5-5690-ED60-A992D36D851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746468" y="3714886"/>
            <a:ext cx="457200" cy="457200"/>
          </a:xfrm>
          <a:prstGeom prst="rect">
            <a:avLst/>
          </a:prstGeom>
        </p:spPr>
      </p:pic>
      <p:pic>
        <p:nvPicPr>
          <p:cNvPr id="18" name="Graphique 17" descr="Lien avec un remplissage uni">
            <a:extLst>
              <a:ext uri="{FF2B5EF4-FFF2-40B4-BE49-F238E27FC236}">
                <a16:creationId xmlns:a16="http://schemas.microsoft.com/office/drawing/2014/main" id="{DF10A7C5-4130-E544-FD48-2D664518DEE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19924" y="3714886"/>
            <a:ext cx="457200" cy="457200"/>
          </a:xfrm>
          <a:prstGeom prst="rect">
            <a:avLst/>
          </a:prstGeom>
        </p:spPr>
      </p:pic>
      <p:sp>
        <p:nvSpPr>
          <p:cNvPr id="27" name="Espace réservé du contenu 9">
            <a:extLst>
              <a:ext uri="{FF2B5EF4-FFF2-40B4-BE49-F238E27FC236}">
                <a16:creationId xmlns:a16="http://schemas.microsoft.com/office/drawing/2014/main" id="{67A4970C-2842-496D-A650-C5923C09EEFB}"/>
              </a:ext>
            </a:extLst>
          </p:cNvPr>
          <p:cNvSpPr>
            <a:spLocks noGrp="1"/>
          </p:cNvSpPr>
          <p:nvPr>
            <p:ph idx="1"/>
          </p:nvPr>
        </p:nvSpPr>
        <p:spPr>
          <a:xfrm>
            <a:off x="5092350" y="5372622"/>
            <a:ext cx="6928040" cy="1107683"/>
          </a:xfrm>
        </p:spPr>
        <p:txBody>
          <a:bodyPr>
            <a:noAutofit/>
          </a:bodyPr>
          <a:lstStyle/>
          <a:p>
            <a:pPr marL="0" indent="0">
              <a:buNone/>
            </a:pPr>
            <a:r>
              <a:rPr lang="fr-FR" sz="1800" b="1" dirty="0"/>
              <a:t>LES ACTIONS DIVISÉES EN PLUSIEURS DOMAINES INDÉPENDANTS</a:t>
            </a:r>
          </a:p>
          <a:p>
            <a:pPr marL="0" indent="0">
              <a:buNone/>
            </a:pPr>
            <a:r>
              <a:rPr lang="fr-FR" sz="1800" b="1" dirty="0">
                <a:solidFill>
                  <a:srgbClr val="3494BA"/>
                </a:solidFill>
              </a:rPr>
              <a:t>LA PRIORISATION EST DÉCENTRALISÉE, ET LES RÉSULTATS SONT LIBRES LES UNS DES AUTRES</a:t>
            </a:r>
          </a:p>
          <a:p>
            <a:pPr marL="0" indent="0">
              <a:buNone/>
            </a:pPr>
            <a:r>
              <a:rPr lang="fr-FR" sz="1800" b="1" dirty="0">
                <a:solidFill>
                  <a:srgbClr val="ED7D31"/>
                </a:solidFill>
              </a:rPr>
              <a:t>VISIONS LOCALES</a:t>
            </a:r>
          </a:p>
          <a:p>
            <a:endParaRPr lang="fr-FR" sz="1800" b="1" dirty="0">
              <a:solidFill>
                <a:srgbClr val="ED7D31"/>
              </a:solidFill>
            </a:endParaRPr>
          </a:p>
        </p:txBody>
      </p:sp>
      <p:sp>
        <p:nvSpPr>
          <p:cNvPr id="28" name="ZoneTexte 27">
            <a:extLst>
              <a:ext uri="{FF2B5EF4-FFF2-40B4-BE49-F238E27FC236}">
                <a16:creationId xmlns:a16="http://schemas.microsoft.com/office/drawing/2014/main" id="{EC75B2F8-DACA-9673-98AF-F4264C3FB275}"/>
              </a:ext>
            </a:extLst>
          </p:cNvPr>
          <p:cNvSpPr txBox="1"/>
          <p:nvPr/>
        </p:nvSpPr>
        <p:spPr>
          <a:xfrm>
            <a:off x="5092503" y="1943107"/>
            <a:ext cx="6927887" cy="1200329"/>
          </a:xfrm>
          <a:prstGeom prst="rect">
            <a:avLst/>
          </a:prstGeom>
          <a:noFill/>
        </p:spPr>
        <p:txBody>
          <a:bodyPr wrap="square">
            <a:spAutoFit/>
          </a:bodyPr>
          <a:lstStyle/>
          <a:p>
            <a:r>
              <a:rPr lang="fr-FR" b="1" dirty="0"/>
              <a:t>UN SEUL GRAND DOMAINE (TOUTES LES ACTIONS A FAIRE UN SEUL ENDROIT)</a:t>
            </a:r>
          </a:p>
          <a:p>
            <a:pPr marL="0" indent="0">
              <a:buNone/>
            </a:pPr>
            <a:r>
              <a:rPr lang="fr-FR" b="1" dirty="0">
                <a:solidFill>
                  <a:srgbClr val="3494BA"/>
                </a:solidFill>
              </a:rPr>
              <a:t>TOUTE LA PRIORISATION CENTRALISÉE</a:t>
            </a:r>
          </a:p>
          <a:p>
            <a:pPr marL="0" indent="0">
              <a:buNone/>
            </a:pPr>
            <a:r>
              <a:rPr lang="fr-FR" b="1" dirty="0">
                <a:solidFill>
                  <a:srgbClr val="ED7D31"/>
                </a:solidFill>
              </a:rPr>
              <a:t>VISION GLOBALE</a:t>
            </a:r>
            <a:endParaRPr lang="fr-FR" dirty="0">
              <a:solidFill>
                <a:srgbClr val="ED7D31"/>
              </a:solidFill>
            </a:endParaRPr>
          </a:p>
        </p:txBody>
      </p:sp>
      <p:sp>
        <p:nvSpPr>
          <p:cNvPr id="29" name="ZoneTexte 28">
            <a:extLst>
              <a:ext uri="{FF2B5EF4-FFF2-40B4-BE49-F238E27FC236}">
                <a16:creationId xmlns:a16="http://schemas.microsoft.com/office/drawing/2014/main" id="{9C464A85-0C65-41AD-4B3D-FD65B43551FC}"/>
              </a:ext>
            </a:extLst>
          </p:cNvPr>
          <p:cNvSpPr txBox="1"/>
          <p:nvPr/>
        </p:nvSpPr>
        <p:spPr>
          <a:xfrm>
            <a:off x="5092350" y="3632117"/>
            <a:ext cx="6928040" cy="1200329"/>
          </a:xfrm>
          <a:prstGeom prst="rect">
            <a:avLst/>
          </a:prstGeom>
          <a:noFill/>
        </p:spPr>
        <p:txBody>
          <a:bodyPr wrap="square">
            <a:spAutoFit/>
          </a:bodyPr>
          <a:lstStyle/>
          <a:p>
            <a:pPr marL="0" indent="0">
              <a:buNone/>
            </a:pPr>
            <a:r>
              <a:rPr lang="fr-FR" sz="1800" b="1" dirty="0"/>
              <a:t>LES ACTIONS DIVISÉES EN PLUSIEURS DOMAINES LIÉS</a:t>
            </a:r>
          </a:p>
          <a:p>
            <a:pPr marL="0" indent="0">
              <a:buNone/>
            </a:pPr>
            <a:r>
              <a:rPr lang="fr-FR" b="1" dirty="0">
                <a:solidFill>
                  <a:srgbClr val="3494BA"/>
                </a:solidFill>
              </a:rPr>
              <a:t>LA PRIORISATION EST DÉCENTRALISÉE MAIS LES RESULTATS SONT ALIGNÉS</a:t>
            </a:r>
          </a:p>
          <a:p>
            <a:pPr marL="0" indent="0">
              <a:buNone/>
            </a:pPr>
            <a:r>
              <a:rPr lang="fr-FR" b="1" dirty="0">
                <a:solidFill>
                  <a:srgbClr val="ED7D31"/>
                </a:solidFill>
              </a:rPr>
              <a:t>VISION GLOBALE EN PLUSIEURS TEMPS</a:t>
            </a:r>
            <a:endParaRPr lang="fr-FR" dirty="0">
              <a:solidFill>
                <a:srgbClr val="ED7D31"/>
              </a:solidFill>
            </a:endParaRPr>
          </a:p>
        </p:txBody>
      </p:sp>
      <p:pic>
        <p:nvPicPr>
          <p:cNvPr id="30" name="Graphique 29" descr="Ciseaux avec un remplissage uni">
            <a:extLst>
              <a:ext uri="{FF2B5EF4-FFF2-40B4-BE49-F238E27FC236}">
                <a16:creationId xmlns:a16="http://schemas.microsoft.com/office/drawing/2014/main" id="{99459BFE-CB53-14BF-42D8-5C572FA977B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441566" y="3076095"/>
            <a:ext cx="768174" cy="768174"/>
          </a:xfrm>
          <a:prstGeom prst="rect">
            <a:avLst/>
          </a:prstGeom>
        </p:spPr>
      </p:pic>
      <p:pic>
        <p:nvPicPr>
          <p:cNvPr id="31" name="Graphique 30" descr="Ciseaux avec un remplissage uni">
            <a:extLst>
              <a:ext uri="{FF2B5EF4-FFF2-40B4-BE49-F238E27FC236}">
                <a16:creationId xmlns:a16="http://schemas.microsoft.com/office/drawing/2014/main" id="{9FF676AE-A859-4ACA-7274-93511CEE7CD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222069" y="4779761"/>
            <a:ext cx="768174" cy="768174"/>
          </a:xfrm>
          <a:prstGeom prst="rect">
            <a:avLst/>
          </a:prstGeom>
        </p:spPr>
      </p:pic>
      <p:pic>
        <p:nvPicPr>
          <p:cNvPr id="32" name="Graphique 31" descr="Ciseaux avec un remplissage uni">
            <a:extLst>
              <a:ext uri="{FF2B5EF4-FFF2-40B4-BE49-F238E27FC236}">
                <a16:creationId xmlns:a16="http://schemas.microsoft.com/office/drawing/2014/main" id="{84EECB6A-A8CE-CCD8-F01F-01FBAAEFF0C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606156" y="4845589"/>
            <a:ext cx="768174" cy="768174"/>
          </a:xfrm>
          <a:prstGeom prst="rect">
            <a:avLst/>
          </a:prstGeom>
        </p:spPr>
      </p:pic>
    </p:spTree>
    <p:extLst>
      <p:ext uri="{BB962C8B-B14F-4D97-AF65-F5344CB8AC3E}">
        <p14:creationId xmlns:p14="http://schemas.microsoft.com/office/powerpoint/2010/main" val="2779592410"/>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5FE058C-C139-EBB0-5B1E-9DD9AE97EDA8}"/>
              </a:ext>
            </a:extLst>
          </p:cNvPr>
          <p:cNvSpPr>
            <a:spLocks noGrp="1"/>
          </p:cNvSpPr>
          <p:nvPr>
            <p:ph type="title"/>
          </p:nvPr>
        </p:nvSpPr>
        <p:spPr/>
        <p:txBody>
          <a:bodyPr>
            <a:normAutofit/>
          </a:bodyPr>
          <a:lstStyle/>
          <a:p>
            <a:r>
              <a:rPr lang="fr-FR" sz="3600" dirty="0"/>
              <a:t>Les niveaux de découpage en domaines </a:t>
            </a:r>
            <a:br>
              <a:rPr lang="fr-FR" sz="3600" dirty="0"/>
            </a:br>
            <a:r>
              <a:rPr lang="fr-FR" sz="3600" dirty="0"/>
              <a:t>Exemples de situations </a:t>
            </a:r>
          </a:p>
        </p:txBody>
      </p:sp>
      <p:sp>
        <p:nvSpPr>
          <p:cNvPr id="16" name="ZoneTexte 15">
            <a:extLst>
              <a:ext uri="{FF2B5EF4-FFF2-40B4-BE49-F238E27FC236}">
                <a16:creationId xmlns:a16="http://schemas.microsoft.com/office/drawing/2014/main" id="{E55DC189-6EA9-6338-F18E-40F255A148A6}"/>
              </a:ext>
            </a:extLst>
          </p:cNvPr>
          <p:cNvSpPr txBox="1"/>
          <p:nvPr/>
        </p:nvSpPr>
        <p:spPr>
          <a:xfrm>
            <a:off x="6096000" y="1696549"/>
            <a:ext cx="1738449" cy="1209459"/>
          </a:xfrm>
          <a:prstGeom prst="rect">
            <a:avLst/>
          </a:prstGeom>
          <a:solidFill>
            <a:schemeClr val="bg1"/>
          </a:solidFill>
          <a:ln>
            <a:solidFill>
              <a:schemeClr val="tx1"/>
            </a:solidFill>
          </a:ln>
        </p:spPr>
        <p:txBody>
          <a:bodyPr wrap="square" anchor="ctr">
            <a:noAutofit/>
          </a:bodyPr>
          <a:lstStyle/>
          <a:p>
            <a:pPr algn="ctr"/>
            <a:r>
              <a:rPr lang="fr-FR" sz="1000" dirty="0"/>
              <a:t>La Communauté vient de se lancer et toutes les idées d’activités ont été notées </a:t>
            </a:r>
          </a:p>
        </p:txBody>
      </p:sp>
      <p:sp>
        <p:nvSpPr>
          <p:cNvPr id="19" name="ZoneTexte 18">
            <a:extLst>
              <a:ext uri="{FF2B5EF4-FFF2-40B4-BE49-F238E27FC236}">
                <a16:creationId xmlns:a16="http://schemas.microsoft.com/office/drawing/2014/main" id="{9770B51A-F9E6-D78D-F4F2-72F8A565D485}"/>
              </a:ext>
            </a:extLst>
          </p:cNvPr>
          <p:cNvSpPr txBox="1"/>
          <p:nvPr/>
        </p:nvSpPr>
        <p:spPr>
          <a:xfrm>
            <a:off x="7979689" y="1696549"/>
            <a:ext cx="1738449" cy="1209459"/>
          </a:xfrm>
          <a:prstGeom prst="rect">
            <a:avLst/>
          </a:prstGeom>
          <a:solidFill>
            <a:schemeClr val="bg1"/>
          </a:solidFill>
          <a:ln>
            <a:solidFill>
              <a:schemeClr val="tx1"/>
            </a:solidFill>
          </a:ln>
        </p:spPr>
        <p:txBody>
          <a:bodyPr wrap="square" anchor="ctr">
            <a:noAutofit/>
          </a:bodyPr>
          <a:lstStyle/>
          <a:p>
            <a:pPr algn="ctr"/>
            <a:r>
              <a:rPr lang="fr-FR" sz="1000" dirty="0"/>
              <a:t>Comme il y a assez peu de membres actifs, toutes les actions de Communication, des événements, et d’outillage sont à prioriser entre elles et recensées dans une liste commune.</a:t>
            </a:r>
          </a:p>
        </p:txBody>
      </p:sp>
      <p:sp>
        <p:nvSpPr>
          <p:cNvPr id="20" name="ZoneTexte 19">
            <a:extLst>
              <a:ext uri="{FF2B5EF4-FFF2-40B4-BE49-F238E27FC236}">
                <a16:creationId xmlns:a16="http://schemas.microsoft.com/office/drawing/2014/main" id="{499DE650-672C-9FAB-C6D4-7DE75AE0519F}"/>
              </a:ext>
            </a:extLst>
          </p:cNvPr>
          <p:cNvSpPr txBox="1"/>
          <p:nvPr/>
        </p:nvSpPr>
        <p:spPr>
          <a:xfrm>
            <a:off x="9863378" y="1696549"/>
            <a:ext cx="1738449" cy="1209459"/>
          </a:xfrm>
          <a:prstGeom prst="rect">
            <a:avLst/>
          </a:prstGeom>
          <a:solidFill>
            <a:schemeClr val="bg1"/>
          </a:solidFill>
          <a:ln>
            <a:solidFill>
              <a:schemeClr val="tx1"/>
            </a:solidFill>
          </a:ln>
        </p:spPr>
        <p:txBody>
          <a:bodyPr wrap="square" anchor="ctr">
            <a:noAutofit/>
          </a:bodyPr>
          <a:lstStyle/>
          <a:p>
            <a:pPr algn="ctr"/>
            <a:r>
              <a:rPr lang="fr-FR" sz="1000" dirty="0"/>
              <a:t>Les sous-groupes de la Communauté se servent dans une banque commune de sujets à prendre, premier arrivés, premiers servis</a:t>
            </a:r>
          </a:p>
        </p:txBody>
      </p:sp>
      <p:sp>
        <p:nvSpPr>
          <p:cNvPr id="21" name="ZoneTexte 20">
            <a:extLst>
              <a:ext uri="{FF2B5EF4-FFF2-40B4-BE49-F238E27FC236}">
                <a16:creationId xmlns:a16="http://schemas.microsoft.com/office/drawing/2014/main" id="{6AE10A99-EB21-1403-95E4-F240FBFA94DF}"/>
              </a:ext>
            </a:extLst>
          </p:cNvPr>
          <p:cNvSpPr txBox="1"/>
          <p:nvPr/>
        </p:nvSpPr>
        <p:spPr>
          <a:xfrm>
            <a:off x="6096000" y="3340644"/>
            <a:ext cx="1738449" cy="1209459"/>
          </a:xfrm>
          <a:prstGeom prst="rect">
            <a:avLst/>
          </a:prstGeom>
          <a:solidFill>
            <a:schemeClr val="bg1"/>
          </a:solidFill>
          <a:ln>
            <a:solidFill>
              <a:schemeClr val="tx1"/>
            </a:solidFill>
          </a:ln>
        </p:spPr>
        <p:txBody>
          <a:bodyPr wrap="square" anchor="ctr">
            <a:noAutofit/>
          </a:bodyPr>
          <a:lstStyle/>
          <a:p>
            <a:pPr algn="ctr"/>
            <a:r>
              <a:rPr lang="fr-FR" sz="1000" dirty="0"/>
              <a:t>Ce n’est noté nulle part, mais les membres ont tous en tête à peu près quoi faire, et se sont consultés rapidement à ce sujet.</a:t>
            </a:r>
          </a:p>
        </p:txBody>
      </p:sp>
      <p:sp>
        <p:nvSpPr>
          <p:cNvPr id="22" name="ZoneTexte 21">
            <a:extLst>
              <a:ext uri="{FF2B5EF4-FFF2-40B4-BE49-F238E27FC236}">
                <a16:creationId xmlns:a16="http://schemas.microsoft.com/office/drawing/2014/main" id="{1F102A77-29F4-26FD-D382-B9E591E2073E}"/>
              </a:ext>
            </a:extLst>
          </p:cNvPr>
          <p:cNvSpPr txBox="1"/>
          <p:nvPr/>
        </p:nvSpPr>
        <p:spPr>
          <a:xfrm>
            <a:off x="7979689" y="3340644"/>
            <a:ext cx="1738449" cy="1209459"/>
          </a:xfrm>
          <a:prstGeom prst="rect">
            <a:avLst/>
          </a:prstGeom>
          <a:solidFill>
            <a:schemeClr val="bg1"/>
          </a:solidFill>
          <a:ln>
            <a:solidFill>
              <a:schemeClr val="tx1"/>
            </a:solidFill>
          </a:ln>
        </p:spPr>
        <p:txBody>
          <a:bodyPr wrap="square" anchor="ctr">
            <a:noAutofit/>
          </a:bodyPr>
          <a:lstStyle/>
          <a:p>
            <a:pPr algn="ctr"/>
            <a:r>
              <a:rPr lang="fr-FR" sz="1000" dirty="0"/>
              <a:t>La gestion de la Communauté est divisée en plusieurs domaines : Communication, Evènements, et Outillage. Les responsables se voient régulièrement pour aligner les feuilles de route.</a:t>
            </a:r>
          </a:p>
        </p:txBody>
      </p:sp>
      <p:sp>
        <p:nvSpPr>
          <p:cNvPr id="23" name="ZoneTexte 22">
            <a:extLst>
              <a:ext uri="{FF2B5EF4-FFF2-40B4-BE49-F238E27FC236}">
                <a16:creationId xmlns:a16="http://schemas.microsoft.com/office/drawing/2014/main" id="{742BF6E0-A71C-285B-74A6-5AB7ADF106B3}"/>
              </a:ext>
            </a:extLst>
          </p:cNvPr>
          <p:cNvSpPr txBox="1"/>
          <p:nvPr/>
        </p:nvSpPr>
        <p:spPr>
          <a:xfrm>
            <a:off x="9863378" y="3340644"/>
            <a:ext cx="1738449" cy="1209459"/>
          </a:xfrm>
          <a:prstGeom prst="rect">
            <a:avLst/>
          </a:prstGeom>
          <a:solidFill>
            <a:schemeClr val="bg1"/>
          </a:solidFill>
          <a:ln>
            <a:solidFill>
              <a:schemeClr val="tx1"/>
            </a:solidFill>
          </a:ln>
        </p:spPr>
        <p:txBody>
          <a:bodyPr wrap="square" anchor="ctr">
            <a:noAutofit/>
          </a:bodyPr>
          <a:lstStyle/>
          <a:p>
            <a:pPr algn="ctr"/>
            <a:r>
              <a:rPr lang="fr-FR" sz="1000" dirty="0"/>
              <a:t>Les Sous-groupes de la Communauté ont chacun leurs calendriers d’événements. Pour éviter de faire deux fois le même (et le proposer en global plutôt), les sous-groupes s’alignent à chaque semestre.</a:t>
            </a:r>
          </a:p>
        </p:txBody>
      </p:sp>
      <p:sp>
        <p:nvSpPr>
          <p:cNvPr id="24" name="ZoneTexte 23">
            <a:extLst>
              <a:ext uri="{FF2B5EF4-FFF2-40B4-BE49-F238E27FC236}">
                <a16:creationId xmlns:a16="http://schemas.microsoft.com/office/drawing/2014/main" id="{ABECB318-C4D6-9DF2-155B-E1FACA7B1063}"/>
              </a:ext>
            </a:extLst>
          </p:cNvPr>
          <p:cNvSpPr txBox="1"/>
          <p:nvPr/>
        </p:nvSpPr>
        <p:spPr>
          <a:xfrm>
            <a:off x="6096000" y="4984739"/>
            <a:ext cx="1738449" cy="1209459"/>
          </a:xfrm>
          <a:prstGeom prst="rect">
            <a:avLst/>
          </a:prstGeom>
          <a:solidFill>
            <a:schemeClr val="bg1"/>
          </a:solidFill>
          <a:ln>
            <a:solidFill>
              <a:schemeClr val="tx1"/>
            </a:solidFill>
          </a:ln>
        </p:spPr>
        <p:txBody>
          <a:bodyPr wrap="square" anchor="ctr">
            <a:noAutofit/>
          </a:bodyPr>
          <a:lstStyle/>
          <a:p>
            <a:pPr algn="ctr"/>
            <a:r>
              <a:rPr lang="fr-FR" sz="1000" dirty="0"/>
              <a:t>La Communauté est tout juste lancée, et chacun est libre de définir ce qu’il/elle souhaite faire pour y contribuer, sans avoir à consulter les autres en amont.</a:t>
            </a:r>
          </a:p>
        </p:txBody>
      </p:sp>
      <p:sp>
        <p:nvSpPr>
          <p:cNvPr id="25" name="ZoneTexte 24">
            <a:extLst>
              <a:ext uri="{FF2B5EF4-FFF2-40B4-BE49-F238E27FC236}">
                <a16:creationId xmlns:a16="http://schemas.microsoft.com/office/drawing/2014/main" id="{BC00531A-F99C-0B54-1A60-58A22BE77C1C}"/>
              </a:ext>
            </a:extLst>
          </p:cNvPr>
          <p:cNvSpPr txBox="1"/>
          <p:nvPr/>
        </p:nvSpPr>
        <p:spPr>
          <a:xfrm>
            <a:off x="7979689" y="4984739"/>
            <a:ext cx="1738449" cy="1209459"/>
          </a:xfrm>
          <a:prstGeom prst="rect">
            <a:avLst/>
          </a:prstGeom>
          <a:solidFill>
            <a:schemeClr val="bg1"/>
          </a:solidFill>
          <a:ln>
            <a:solidFill>
              <a:schemeClr val="tx1"/>
            </a:solidFill>
          </a:ln>
        </p:spPr>
        <p:txBody>
          <a:bodyPr wrap="square" anchor="ctr">
            <a:noAutofit/>
          </a:bodyPr>
          <a:lstStyle/>
          <a:p>
            <a:pPr algn="ctr"/>
            <a:r>
              <a:rPr lang="fr-FR" sz="1000" dirty="0"/>
              <a:t>La Communication, les événements, et l’outillage de la Communauté sont dédiés à trois équipes qui gèrent chacune leurs sujets à leurs propres rythmes et selon leurs propres objectifs.</a:t>
            </a:r>
          </a:p>
        </p:txBody>
      </p:sp>
      <p:sp>
        <p:nvSpPr>
          <p:cNvPr id="26" name="ZoneTexte 25">
            <a:extLst>
              <a:ext uri="{FF2B5EF4-FFF2-40B4-BE49-F238E27FC236}">
                <a16:creationId xmlns:a16="http://schemas.microsoft.com/office/drawing/2014/main" id="{7DCB5397-C1EF-ED89-B09E-CBC58DCA22E1}"/>
              </a:ext>
            </a:extLst>
          </p:cNvPr>
          <p:cNvSpPr txBox="1"/>
          <p:nvPr/>
        </p:nvSpPr>
        <p:spPr>
          <a:xfrm>
            <a:off x="9863378" y="4984739"/>
            <a:ext cx="1738449" cy="1209459"/>
          </a:xfrm>
          <a:prstGeom prst="rect">
            <a:avLst/>
          </a:prstGeom>
          <a:solidFill>
            <a:schemeClr val="bg1"/>
          </a:solidFill>
          <a:ln>
            <a:solidFill>
              <a:schemeClr val="tx1"/>
            </a:solidFill>
          </a:ln>
        </p:spPr>
        <p:txBody>
          <a:bodyPr wrap="square" anchor="ctr">
            <a:noAutofit/>
          </a:bodyPr>
          <a:lstStyle/>
          <a:p>
            <a:pPr algn="ctr"/>
            <a:r>
              <a:rPr lang="fr-FR" sz="1000" dirty="0"/>
              <a:t>Chaque sous-groupe de la Communauté fait sa feuille de route de son côté. Indépendamment de cela, ils se retrouvent une fois par an pour une célébration.</a:t>
            </a:r>
          </a:p>
        </p:txBody>
      </p:sp>
      <p:sp>
        <p:nvSpPr>
          <p:cNvPr id="29" name="Flèche : double flèche horizontale 28">
            <a:extLst>
              <a:ext uri="{FF2B5EF4-FFF2-40B4-BE49-F238E27FC236}">
                <a16:creationId xmlns:a16="http://schemas.microsoft.com/office/drawing/2014/main" id="{AFDBEDB6-92E0-0C31-5078-B480396E6CFA}"/>
              </a:ext>
            </a:extLst>
          </p:cNvPr>
          <p:cNvSpPr/>
          <p:nvPr/>
        </p:nvSpPr>
        <p:spPr>
          <a:xfrm rot="5400000">
            <a:off x="-160387" y="3927894"/>
            <a:ext cx="4592524" cy="3602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sp>
        <p:nvSpPr>
          <p:cNvPr id="30" name="ZoneTexte 29">
            <a:extLst>
              <a:ext uri="{FF2B5EF4-FFF2-40B4-BE49-F238E27FC236}">
                <a16:creationId xmlns:a16="http://schemas.microsoft.com/office/drawing/2014/main" id="{8C46446C-AA5C-C411-BDD9-BF9841EE28BF}"/>
              </a:ext>
            </a:extLst>
          </p:cNvPr>
          <p:cNvSpPr txBox="1"/>
          <p:nvPr/>
        </p:nvSpPr>
        <p:spPr>
          <a:xfrm>
            <a:off x="389143" y="5595593"/>
            <a:ext cx="1802574" cy="369332"/>
          </a:xfrm>
          <a:prstGeom prst="rect">
            <a:avLst/>
          </a:prstGeom>
          <a:noFill/>
        </p:spPr>
        <p:txBody>
          <a:bodyPr wrap="square">
            <a:spAutoFit/>
          </a:bodyPr>
          <a:lstStyle/>
          <a:p>
            <a:pPr algn="ctr"/>
            <a:r>
              <a:rPr lang="fr-FR" b="1" dirty="0"/>
              <a:t>DÉCOUPAGE</a:t>
            </a:r>
          </a:p>
        </p:txBody>
      </p:sp>
      <p:pic>
        <p:nvPicPr>
          <p:cNvPr id="31" name="Graphique 30" descr="Priorités avec un remplissage uni">
            <a:extLst>
              <a:ext uri="{FF2B5EF4-FFF2-40B4-BE49-F238E27FC236}">
                <a16:creationId xmlns:a16="http://schemas.microsoft.com/office/drawing/2014/main" id="{4E2D5100-A602-6FC7-6B67-CBCFB224646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642517" y="1734471"/>
            <a:ext cx="1171537" cy="1171537"/>
          </a:xfrm>
          <a:prstGeom prst="rect">
            <a:avLst/>
          </a:prstGeom>
        </p:spPr>
      </p:pic>
      <p:sp>
        <p:nvSpPr>
          <p:cNvPr id="32" name="ZoneTexte 31">
            <a:extLst>
              <a:ext uri="{FF2B5EF4-FFF2-40B4-BE49-F238E27FC236}">
                <a16:creationId xmlns:a16="http://schemas.microsoft.com/office/drawing/2014/main" id="{DD669EAF-E7B7-94B7-100F-19CE4537A57A}"/>
              </a:ext>
            </a:extLst>
          </p:cNvPr>
          <p:cNvSpPr txBox="1"/>
          <p:nvPr/>
        </p:nvSpPr>
        <p:spPr>
          <a:xfrm>
            <a:off x="264109" y="1867072"/>
            <a:ext cx="1802574" cy="646331"/>
          </a:xfrm>
          <a:prstGeom prst="rect">
            <a:avLst/>
          </a:prstGeom>
          <a:noFill/>
        </p:spPr>
        <p:txBody>
          <a:bodyPr wrap="square">
            <a:spAutoFit/>
          </a:bodyPr>
          <a:lstStyle/>
          <a:p>
            <a:pPr algn="ctr"/>
            <a:r>
              <a:rPr lang="fr-FR" b="1" dirty="0"/>
              <a:t>PAS DE DÉCOUPAGE</a:t>
            </a:r>
          </a:p>
        </p:txBody>
      </p:sp>
      <p:sp>
        <p:nvSpPr>
          <p:cNvPr id="33" name="ZoneTexte 32">
            <a:extLst>
              <a:ext uri="{FF2B5EF4-FFF2-40B4-BE49-F238E27FC236}">
                <a16:creationId xmlns:a16="http://schemas.microsoft.com/office/drawing/2014/main" id="{0D418C14-1761-47DC-A633-3E2FAEAD4D33}"/>
              </a:ext>
            </a:extLst>
          </p:cNvPr>
          <p:cNvSpPr txBox="1"/>
          <p:nvPr/>
        </p:nvSpPr>
        <p:spPr>
          <a:xfrm>
            <a:off x="403838" y="3472588"/>
            <a:ext cx="1802574" cy="646331"/>
          </a:xfrm>
          <a:prstGeom prst="rect">
            <a:avLst/>
          </a:prstGeom>
          <a:noFill/>
        </p:spPr>
        <p:txBody>
          <a:bodyPr wrap="square">
            <a:spAutoFit/>
          </a:bodyPr>
          <a:lstStyle/>
          <a:p>
            <a:pPr algn="ctr"/>
            <a:r>
              <a:rPr lang="fr-FR" b="1" dirty="0"/>
              <a:t>SEMI DÉCOUPAGE</a:t>
            </a:r>
          </a:p>
        </p:txBody>
      </p:sp>
      <p:pic>
        <p:nvPicPr>
          <p:cNvPr id="34" name="Graphique 33" descr="Priorités avec un remplissage uni">
            <a:extLst>
              <a:ext uri="{FF2B5EF4-FFF2-40B4-BE49-F238E27FC236}">
                <a16:creationId xmlns:a16="http://schemas.microsoft.com/office/drawing/2014/main" id="{84E80F26-E3BD-0828-DA0C-B5DE8A0C0F3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386169" y="5423289"/>
            <a:ext cx="713940" cy="713940"/>
          </a:xfrm>
          <a:prstGeom prst="rect">
            <a:avLst/>
          </a:prstGeom>
        </p:spPr>
      </p:pic>
      <p:pic>
        <p:nvPicPr>
          <p:cNvPr id="35" name="Graphique 34" descr="Priorités avec un remplissage uni">
            <a:extLst>
              <a:ext uri="{FF2B5EF4-FFF2-40B4-BE49-F238E27FC236}">
                <a16:creationId xmlns:a16="http://schemas.microsoft.com/office/drawing/2014/main" id="{3D05C665-C806-74F7-A774-D65CE13AA39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57236" y="5423289"/>
            <a:ext cx="713940" cy="713940"/>
          </a:xfrm>
          <a:prstGeom prst="rect">
            <a:avLst/>
          </a:prstGeom>
        </p:spPr>
      </p:pic>
      <p:pic>
        <p:nvPicPr>
          <p:cNvPr id="36" name="Graphique 35" descr="Priorités avec un remplissage uni">
            <a:extLst>
              <a:ext uri="{FF2B5EF4-FFF2-40B4-BE49-F238E27FC236}">
                <a16:creationId xmlns:a16="http://schemas.microsoft.com/office/drawing/2014/main" id="{0CCCB867-45B9-3123-2477-ADC47A9E1E7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528303" y="5423289"/>
            <a:ext cx="713940" cy="713940"/>
          </a:xfrm>
          <a:prstGeom prst="rect">
            <a:avLst/>
          </a:prstGeom>
        </p:spPr>
      </p:pic>
      <p:pic>
        <p:nvPicPr>
          <p:cNvPr id="37" name="Graphique 36" descr="Priorités avec un remplissage uni">
            <a:extLst>
              <a:ext uri="{FF2B5EF4-FFF2-40B4-BE49-F238E27FC236}">
                <a16:creationId xmlns:a16="http://schemas.microsoft.com/office/drawing/2014/main" id="{A262FF53-8797-DEAC-1DE4-CB255213813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386170" y="3510481"/>
            <a:ext cx="713940" cy="713940"/>
          </a:xfrm>
          <a:prstGeom prst="rect">
            <a:avLst/>
          </a:prstGeom>
        </p:spPr>
      </p:pic>
      <p:pic>
        <p:nvPicPr>
          <p:cNvPr id="38" name="Graphique 37" descr="Priorités avec un remplissage uni">
            <a:extLst>
              <a:ext uri="{FF2B5EF4-FFF2-40B4-BE49-F238E27FC236}">
                <a16:creationId xmlns:a16="http://schemas.microsoft.com/office/drawing/2014/main" id="{B6544383-B977-51E7-D499-0E69A941B02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59626" y="3510481"/>
            <a:ext cx="713940" cy="713940"/>
          </a:xfrm>
          <a:prstGeom prst="rect">
            <a:avLst/>
          </a:prstGeom>
        </p:spPr>
      </p:pic>
      <p:pic>
        <p:nvPicPr>
          <p:cNvPr id="39" name="Graphique 38" descr="Priorités avec un remplissage uni">
            <a:extLst>
              <a:ext uri="{FF2B5EF4-FFF2-40B4-BE49-F238E27FC236}">
                <a16:creationId xmlns:a16="http://schemas.microsoft.com/office/drawing/2014/main" id="{47AD4518-6D1C-4594-CED4-E41135E8964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533081" y="3510481"/>
            <a:ext cx="713940" cy="713940"/>
          </a:xfrm>
          <a:prstGeom prst="rect">
            <a:avLst/>
          </a:prstGeom>
        </p:spPr>
      </p:pic>
      <p:pic>
        <p:nvPicPr>
          <p:cNvPr id="40" name="Graphique 39" descr="Lien avec un remplissage uni">
            <a:extLst>
              <a:ext uri="{FF2B5EF4-FFF2-40B4-BE49-F238E27FC236}">
                <a16:creationId xmlns:a16="http://schemas.microsoft.com/office/drawing/2014/main" id="{B7017059-D403-E98F-5ECD-09330A47A34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51268" y="3638851"/>
            <a:ext cx="457200" cy="457200"/>
          </a:xfrm>
          <a:prstGeom prst="rect">
            <a:avLst/>
          </a:prstGeom>
        </p:spPr>
      </p:pic>
      <p:pic>
        <p:nvPicPr>
          <p:cNvPr id="41" name="Graphique 40" descr="Lien avec un remplissage uni">
            <a:extLst>
              <a:ext uri="{FF2B5EF4-FFF2-40B4-BE49-F238E27FC236}">
                <a16:creationId xmlns:a16="http://schemas.microsoft.com/office/drawing/2014/main" id="{4CD62BA2-6DE2-82B6-518D-A59A1B7FFC2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124724" y="3638851"/>
            <a:ext cx="457200" cy="457200"/>
          </a:xfrm>
          <a:prstGeom prst="rect">
            <a:avLst/>
          </a:prstGeom>
        </p:spPr>
      </p:pic>
      <p:pic>
        <p:nvPicPr>
          <p:cNvPr id="42" name="Graphique 41" descr="Ciseaux avec un remplissage uni">
            <a:extLst>
              <a:ext uri="{FF2B5EF4-FFF2-40B4-BE49-F238E27FC236}">
                <a16:creationId xmlns:a16="http://schemas.microsoft.com/office/drawing/2014/main" id="{8AAEE42F-611D-B85A-A9A9-B7B6736FC5B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746366" y="3000060"/>
            <a:ext cx="768174" cy="768174"/>
          </a:xfrm>
          <a:prstGeom prst="rect">
            <a:avLst/>
          </a:prstGeom>
        </p:spPr>
      </p:pic>
      <p:pic>
        <p:nvPicPr>
          <p:cNvPr id="43" name="Graphique 42" descr="Ciseaux avec un remplissage uni">
            <a:extLst>
              <a:ext uri="{FF2B5EF4-FFF2-40B4-BE49-F238E27FC236}">
                <a16:creationId xmlns:a16="http://schemas.microsoft.com/office/drawing/2014/main" id="{E1F9BA8F-2C07-981E-5CEF-439E568D26D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526869" y="4703726"/>
            <a:ext cx="768174" cy="768174"/>
          </a:xfrm>
          <a:prstGeom prst="rect">
            <a:avLst/>
          </a:prstGeom>
        </p:spPr>
      </p:pic>
      <p:pic>
        <p:nvPicPr>
          <p:cNvPr id="44" name="Graphique 43" descr="Ciseaux avec un remplissage uni">
            <a:extLst>
              <a:ext uri="{FF2B5EF4-FFF2-40B4-BE49-F238E27FC236}">
                <a16:creationId xmlns:a16="http://schemas.microsoft.com/office/drawing/2014/main" id="{3CC87CA8-541D-283B-0E9E-E4F8B770CFA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910956" y="4769554"/>
            <a:ext cx="768174" cy="768174"/>
          </a:xfrm>
          <a:prstGeom prst="rect">
            <a:avLst/>
          </a:prstGeom>
        </p:spPr>
      </p:pic>
      <p:sp>
        <p:nvSpPr>
          <p:cNvPr id="3" name="Rectangle 2">
            <a:extLst>
              <a:ext uri="{FF2B5EF4-FFF2-40B4-BE49-F238E27FC236}">
                <a16:creationId xmlns:a16="http://schemas.microsoft.com/office/drawing/2014/main" id="{98259339-FD25-319F-1223-2520559BE29F}"/>
              </a:ext>
            </a:extLst>
          </p:cNvPr>
          <p:cNvSpPr/>
          <p:nvPr/>
        </p:nvSpPr>
        <p:spPr>
          <a:xfrm>
            <a:off x="838200" y="1009650"/>
            <a:ext cx="1840930" cy="51373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1804450714"/>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E39779A-C1ED-741B-9817-5667FC3C8308}"/>
              </a:ext>
            </a:extLst>
          </p:cNvPr>
          <p:cNvSpPr>
            <a:spLocks noGrp="1"/>
          </p:cNvSpPr>
          <p:nvPr>
            <p:ph type="title"/>
          </p:nvPr>
        </p:nvSpPr>
        <p:spPr/>
        <p:txBody>
          <a:bodyPr>
            <a:normAutofit/>
          </a:bodyPr>
          <a:lstStyle/>
          <a:p>
            <a:r>
              <a:rPr lang="fr-FR" sz="3200" dirty="0"/>
              <a:t>Les domaines de priorisation</a:t>
            </a:r>
            <a:br>
              <a:rPr lang="fr-FR" sz="3200" dirty="0"/>
            </a:br>
            <a:r>
              <a:rPr lang="fr-FR" sz="3200" dirty="0"/>
              <a:t>Exemples de découpages en domaines</a:t>
            </a:r>
          </a:p>
        </p:txBody>
      </p:sp>
      <p:pic>
        <p:nvPicPr>
          <p:cNvPr id="4" name="Graphique 3" descr="Priorités avec un remplissage uni">
            <a:extLst>
              <a:ext uri="{FF2B5EF4-FFF2-40B4-BE49-F238E27FC236}">
                <a16:creationId xmlns:a16="http://schemas.microsoft.com/office/drawing/2014/main" id="{DB942B46-EFCD-BAC0-4CA4-83E5EF6A646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93820" y="1690688"/>
            <a:ext cx="1171537" cy="1171537"/>
          </a:xfrm>
          <a:prstGeom prst="rect">
            <a:avLst/>
          </a:prstGeom>
        </p:spPr>
      </p:pic>
      <p:pic>
        <p:nvPicPr>
          <p:cNvPr id="5" name="Graphique 4" descr="Priorités avec un remplissage uni">
            <a:extLst>
              <a:ext uri="{FF2B5EF4-FFF2-40B4-BE49-F238E27FC236}">
                <a16:creationId xmlns:a16="http://schemas.microsoft.com/office/drawing/2014/main" id="{D71234EA-152D-AFBC-D619-6830099AC52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26757" y="4709903"/>
            <a:ext cx="837014" cy="837014"/>
          </a:xfrm>
          <a:prstGeom prst="rect">
            <a:avLst/>
          </a:prstGeom>
        </p:spPr>
      </p:pic>
      <p:pic>
        <p:nvPicPr>
          <p:cNvPr id="6" name="Graphique 5" descr="Priorités avec un remplissage uni">
            <a:extLst>
              <a:ext uri="{FF2B5EF4-FFF2-40B4-BE49-F238E27FC236}">
                <a16:creationId xmlns:a16="http://schemas.microsoft.com/office/drawing/2014/main" id="{279E02A6-8E41-BF2A-15E5-ED6FA93207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544211" y="4709903"/>
            <a:ext cx="837014" cy="837014"/>
          </a:xfrm>
          <a:prstGeom prst="rect">
            <a:avLst/>
          </a:prstGeom>
        </p:spPr>
      </p:pic>
      <p:pic>
        <p:nvPicPr>
          <p:cNvPr id="7" name="Graphique 6" descr="Priorités avec un remplissage uni">
            <a:extLst>
              <a:ext uri="{FF2B5EF4-FFF2-40B4-BE49-F238E27FC236}">
                <a16:creationId xmlns:a16="http://schemas.microsoft.com/office/drawing/2014/main" id="{AC94F1E0-8415-12EB-8859-E5FA3392F01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828330" y="4709903"/>
            <a:ext cx="837014" cy="837014"/>
          </a:xfrm>
          <a:prstGeom prst="rect">
            <a:avLst/>
          </a:prstGeom>
        </p:spPr>
      </p:pic>
      <p:pic>
        <p:nvPicPr>
          <p:cNvPr id="9" name="Graphique 8" descr="Engrenage avec un remplissage uni">
            <a:extLst>
              <a:ext uri="{FF2B5EF4-FFF2-40B4-BE49-F238E27FC236}">
                <a16:creationId xmlns:a16="http://schemas.microsoft.com/office/drawing/2014/main" id="{B58E9D42-65F4-50BC-73BA-8D777836D84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58897" y="4266773"/>
            <a:ext cx="548196" cy="548196"/>
          </a:xfrm>
          <a:prstGeom prst="rect">
            <a:avLst/>
          </a:prstGeom>
        </p:spPr>
      </p:pic>
      <p:pic>
        <p:nvPicPr>
          <p:cNvPr id="11" name="Graphique 10" descr="Stylo de calligraphie avec un remplissage uni">
            <a:extLst>
              <a:ext uri="{FF2B5EF4-FFF2-40B4-BE49-F238E27FC236}">
                <a16:creationId xmlns:a16="http://schemas.microsoft.com/office/drawing/2014/main" id="{1D098190-CD69-E9D4-1153-56C76FC946E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71917" y="4266773"/>
            <a:ext cx="548196" cy="548196"/>
          </a:xfrm>
          <a:prstGeom prst="rect">
            <a:avLst/>
          </a:prstGeom>
        </p:spPr>
      </p:pic>
      <p:pic>
        <p:nvPicPr>
          <p:cNvPr id="13" name="Graphique 12" descr="Calendrier journalier avec un remplissage uni">
            <a:extLst>
              <a:ext uri="{FF2B5EF4-FFF2-40B4-BE49-F238E27FC236}">
                <a16:creationId xmlns:a16="http://schemas.microsoft.com/office/drawing/2014/main" id="{463FB626-D3B8-EC2E-79E2-C0C489DF09B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824902" y="4268802"/>
            <a:ext cx="548196" cy="548196"/>
          </a:xfrm>
          <a:prstGeom prst="rect">
            <a:avLst/>
          </a:prstGeom>
        </p:spPr>
      </p:pic>
      <p:pic>
        <p:nvPicPr>
          <p:cNvPr id="15" name="Graphique 14" descr="Ciseaux avec un remplissage uni">
            <a:extLst>
              <a:ext uri="{FF2B5EF4-FFF2-40B4-BE49-F238E27FC236}">
                <a16:creationId xmlns:a16="http://schemas.microsoft.com/office/drawing/2014/main" id="{CA62C407-4AA8-EBC5-2EC0-67DD5E229B8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31923" y="2744869"/>
            <a:ext cx="768174" cy="768174"/>
          </a:xfrm>
          <a:prstGeom prst="rect">
            <a:avLst/>
          </a:prstGeom>
        </p:spPr>
      </p:pic>
      <p:sp>
        <p:nvSpPr>
          <p:cNvPr id="16" name="Flèche : bas 15">
            <a:extLst>
              <a:ext uri="{FF2B5EF4-FFF2-40B4-BE49-F238E27FC236}">
                <a16:creationId xmlns:a16="http://schemas.microsoft.com/office/drawing/2014/main" id="{F3C02449-0BE3-8106-8C62-A3B2478BB8F5}"/>
              </a:ext>
            </a:extLst>
          </p:cNvPr>
          <p:cNvSpPr/>
          <p:nvPr/>
        </p:nvSpPr>
        <p:spPr>
          <a:xfrm>
            <a:off x="1974938" y="3730401"/>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Flèche : bas 16">
            <a:extLst>
              <a:ext uri="{FF2B5EF4-FFF2-40B4-BE49-F238E27FC236}">
                <a16:creationId xmlns:a16="http://schemas.microsoft.com/office/drawing/2014/main" id="{7AB85ECD-0B0C-8584-A428-6459B4AC7820}"/>
              </a:ext>
            </a:extLst>
          </p:cNvPr>
          <p:cNvSpPr/>
          <p:nvPr/>
        </p:nvSpPr>
        <p:spPr>
          <a:xfrm rot="19457352">
            <a:off x="2795518" y="3582355"/>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Flèche : bas 17">
            <a:extLst>
              <a:ext uri="{FF2B5EF4-FFF2-40B4-BE49-F238E27FC236}">
                <a16:creationId xmlns:a16="http://schemas.microsoft.com/office/drawing/2014/main" id="{EE5D6D37-3C22-E1DD-B878-1D32DB08723A}"/>
              </a:ext>
            </a:extLst>
          </p:cNvPr>
          <p:cNvSpPr/>
          <p:nvPr/>
        </p:nvSpPr>
        <p:spPr>
          <a:xfrm rot="2847762">
            <a:off x="1148769" y="3544202"/>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ZoneTexte 19">
            <a:extLst>
              <a:ext uri="{FF2B5EF4-FFF2-40B4-BE49-F238E27FC236}">
                <a16:creationId xmlns:a16="http://schemas.microsoft.com/office/drawing/2014/main" id="{E60FED73-3710-D0A8-ED70-7E22ADBE36A8}"/>
              </a:ext>
            </a:extLst>
          </p:cNvPr>
          <p:cNvSpPr txBox="1"/>
          <p:nvPr/>
        </p:nvSpPr>
        <p:spPr>
          <a:xfrm>
            <a:off x="110232" y="5690177"/>
            <a:ext cx="1270063" cy="646331"/>
          </a:xfrm>
          <a:prstGeom prst="rect">
            <a:avLst/>
          </a:prstGeom>
          <a:noFill/>
        </p:spPr>
        <p:txBody>
          <a:bodyPr wrap="square">
            <a:spAutoFit/>
          </a:bodyPr>
          <a:lstStyle/>
          <a:p>
            <a:pPr algn="ctr"/>
            <a:r>
              <a:rPr lang="fr-FR" sz="1200" b="1" dirty="0">
                <a:solidFill>
                  <a:srgbClr val="3494BA"/>
                </a:solidFill>
              </a:rPr>
              <a:t>Actions de Production de contenus</a:t>
            </a:r>
          </a:p>
        </p:txBody>
      </p:sp>
      <p:sp>
        <p:nvSpPr>
          <p:cNvPr id="21" name="ZoneTexte 20">
            <a:extLst>
              <a:ext uri="{FF2B5EF4-FFF2-40B4-BE49-F238E27FC236}">
                <a16:creationId xmlns:a16="http://schemas.microsoft.com/office/drawing/2014/main" id="{3170A411-C915-BECA-3F9F-E83C5AC34FFB}"/>
              </a:ext>
            </a:extLst>
          </p:cNvPr>
          <p:cNvSpPr txBox="1"/>
          <p:nvPr/>
        </p:nvSpPr>
        <p:spPr>
          <a:xfrm>
            <a:off x="1446585" y="5690177"/>
            <a:ext cx="1270063" cy="646331"/>
          </a:xfrm>
          <a:prstGeom prst="rect">
            <a:avLst/>
          </a:prstGeom>
          <a:noFill/>
        </p:spPr>
        <p:txBody>
          <a:bodyPr wrap="square">
            <a:spAutoFit/>
          </a:bodyPr>
          <a:lstStyle/>
          <a:p>
            <a:pPr algn="ctr"/>
            <a:r>
              <a:rPr lang="fr-FR" sz="1200" b="1" dirty="0">
                <a:solidFill>
                  <a:srgbClr val="3494BA"/>
                </a:solidFill>
              </a:rPr>
              <a:t>Actions d’organisation d’événements</a:t>
            </a:r>
          </a:p>
        </p:txBody>
      </p:sp>
      <p:sp>
        <p:nvSpPr>
          <p:cNvPr id="22" name="ZoneTexte 21">
            <a:extLst>
              <a:ext uri="{FF2B5EF4-FFF2-40B4-BE49-F238E27FC236}">
                <a16:creationId xmlns:a16="http://schemas.microsoft.com/office/drawing/2014/main" id="{5F0039C5-E6AE-C07F-4DB2-6AE8917DB012}"/>
              </a:ext>
            </a:extLst>
          </p:cNvPr>
          <p:cNvSpPr txBox="1"/>
          <p:nvPr/>
        </p:nvSpPr>
        <p:spPr>
          <a:xfrm>
            <a:off x="2711784" y="5685867"/>
            <a:ext cx="1270063" cy="646331"/>
          </a:xfrm>
          <a:prstGeom prst="rect">
            <a:avLst/>
          </a:prstGeom>
          <a:noFill/>
        </p:spPr>
        <p:txBody>
          <a:bodyPr wrap="square">
            <a:spAutoFit/>
          </a:bodyPr>
          <a:lstStyle/>
          <a:p>
            <a:pPr algn="ctr"/>
            <a:r>
              <a:rPr lang="fr-FR" sz="1200" b="1" dirty="0">
                <a:solidFill>
                  <a:srgbClr val="3494BA"/>
                </a:solidFill>
              </a:rPr>
              <a:t>Actions de structuration de Communauté</a:t>
            </a:r>
          </a:p>
        </p:txBody>
      </p:sp>
      <p:sp>
        <p:nvSpPr>
          <p:cNvPr id="23" name="ZoneTexte 22">
            <a:extLst>
              <a:ext uri="{FF2B5EF4-FFF2-40B4-BE49-F238E27FC236}">
                <a16:creationId xmlns:a16="http://schemas.microsoft.com/office/drawing/2014/main" id="{62608806-C8CE-EAC9-6646-2A406B13AEF5}"/>
              </a:ext>
            </a:extLst>
          </p:cNvPr>
          <p:cNvSpPr txBox="1"/>
          <p:nvPr/>
        </p:nvSpPr>
        <p:spPr>
          <a:xfrm>
            <a:off x="1393820" y="2723266"/>
            <a:ext cx="1722134" cy="923330"/>
          </a:xfrm>
          <a:prstGeom prst="rect">
            <a:avLst/>
          </a:prstGeom>
          <a:noFill/>
        </p:spPr>
        <p:txBody>
          <a:bodyPr wrap="square">
            <a:spAutoFit/>
          </a:bodyPr>
          <a:lstStyle/>
          <a:p>
            <a:pPr algn="ctr"/>
            <a:r>
              <a:rPr lang="fr-FR" b="1" dirty="0">
                <a:solidFill>
                  <a:srgbClr val="ED7D31"/>
                </a:solidFill>
              </a:rPr>
              <a:t>DECOUPAGE EN DOMAINES</a:t>
            </a:r>
          </a:p>
          <a:p>
            <a:pPr algn="ctr"/>
            <a:r>
              <a:rPr lang="fr-FR" b="1" dirty="0">
                <a:solidFill>
                  <a:srgbClr val="ED7D31"/>
                </a:solidFill>
              </a:rPr>
              <a:t>FONCTIONNELS</a:t>
            </a:r>
          </a:p>
        </p:txBody>
      </p:sp>
      <p:sp>
        <p:nvSpPr>
          <p:cNvPr id="24" name="ZoneTexte 23">
            <a:extLst>
              <a:ext uri="{FF2B5EF4-FFF2-40B4-BE49-F238E27FC236}">
                <a16:creationId xmlns:a16="http://schemas.microsoft.com/office/drawing/2014/main" id="{33FD0960-F6C7-2200-E03E-FF76BC9AECA7}"/>
              </a:ext>
            </a:extLst>
          </p:cNvPr>
          <p:cNvSpPr txBox="1"/>
          <p:nvPr/>
        </p:nvSpPr>
        <p:spPr>
          <a:xfrm>
            <a:off x="1476315" y="1601786"/>
            <a:ext cx="1557143" cy="261610"/>
          </a:xfrm>
          <a:prstGeom prst="rect">
            <a:avLst/>
          </a:prstGeom>
          <a:noFill/>
        </p:spPr>
        <p:txBody>
          <a:bodyPr wrap="square">
            <a:spAutoFit/>
          </a:bodyPr>
          <a:lstStyle/>
          <a:p>
            <a:pPr algn="ctr"/>
            <a:r>
              <a:rPr lang="fr-FR" sz="1100" b="1" dirty="0"/>
              <a:t>Liste globale d’actions</a:t>
            </a:r>
          </a:p>
        </p:txBody>
      </p:sp>
      <p:pic>
        <p:nvPicPr>
          <p:cNvPr id="25" name="Graphique 24" descr="Priorités avec un remplissage uni">
            <a:extLst>
              <a:ext uri="{FF2B5EF4-FFF2-40B4-BE49-F238E27FC236}">
                <a16:creationId xmlns:a16="http://schemas.microsoft.com/office/drawing/2014/main" id="{6108A295-ED65-E279-F6A6-5C37086741D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510231" y="1690688"/>
            <a:ext cx="1171537" cy="1171537"/>
          </a:xfrm>
          <a:prstGeom prst="rect">
            <a:avLst/>
          </a:prstGeom>
        </p:spPr>
      </p:pic>
      <p:pic>
        <p:nvPicPr>
          <p:cNvPr id="26" name="Graphique 25" descr="Priorités avec un remplissage uni">
            <a:extLst>
              <a:ext uri="{FF2B5EF4-FFF2-40B4-BE49-F238E27FC236}">
                <a16:creationId xmlns:a16="http://schemas.microsoft.com/office/drawing/2014/main" id="{2AAF0F69-6BB4-CE9A-680D-EC06B8591FA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443168" y="4709903"/>
            <a:ext cx="837014" cy="837014"/>
          </a:xfrm>
          <a:prstGeom prst="rect">
            <a:avLst/>
          </a:prstGeom>
        </p:spPr>
      </p:pic>
      <p:pic>
        <p:nvPicPr>
          <p:cNvPr id="27" name="Graphique 26" descr="Priorités avec un remplissage uni">
            <a:extLst>
              <a:ext uri="{FF2B5EF4-FFF2-40B4-BE49-F238E27FC236}">
                <a16:creationId xmlns:a16="http://schemas.microsoft.com/office/drawing/2014/main" id="{61CC4D34-F5E6-E5B7-957F-B860661C120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660622" y="4709903"/>
            <a:ext cx="837014" cy="837014"/>
          </a:xfrm>
          <a:prstGeom prst="rect">
            <a:avLst/>
          </a:prstGeom>
        </p:spPr>
      </p:pic>
      <p:pic>
        <p:nvPicPr>
          <p:cNvPr id="28" name="Graphique 27" descr="Priorités avec un remplissage uni">
            <a:extLst>
              <a:ext uri="{FF2B5EF4-FFF2-40B4-BE49-F238E27FC236}">
                <a16:creationId xmlns:a16="http://schemas.microsoft.com/office/drawing/2014/main" id="{D013C71D-4B66-0A96-047E-489D23AB036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944741" y="4709903"/>
            <a:ext cx="837014" cy="837014"/>
          </a:xfrm>
          <a:prstGeom prst="rect">
            <a:avLst/>
          </a:prstGeom>
        </p:spPr>
      </p:pic>
      <p:pic>
        <p:nvPicPr>
          <p:cNvPr id="32" name="Graphique 31" descr="Ciseaux avec un remplissage uni">
            <a:extLst>
              <a:ext uri="{FF2B5EF4-FFF2-40B4-BE49-F238E27FC236}">
                <a16:creationId xmlns:a16="http://schemas.microsoft.com/office/drawing/2014/main" id="{A78AF51B-3DA3-19D8-B128-3971D998C173}"/>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4848334" y="2744869"/>
            <a:ext cx="768174" cy="768174"/>
          </a:xfrm>
          <a:prstGeom prst="rect">
            <a:avLst/>
          </a:prstGeom>
        </p:spPr>
      </p:pic>
      <p:sp>
        <p:nvSpPr>
          <p:cNvPr id="33" name="Flèche : bas 32">
            <a:extLst>
              <a:ext uri="{FF2B5EF4-FFF2-40B4-BE49-F238E27FC236}">
                <a16:creationId xmlns:a16="http://schemas.microsoft.com/office/drawing/2014/main" id="{0D71A46E-D5A9-B2CD-B9E4-0AAB1394D2DE}"/>
              </a:ext>
            </a:extLst>
          </p:cNvPr>
          <p:cNvSpPr/>
          <p:nvPr/>
        </p:nvSpPr>
        <p:spPr>
          <a:xfrm>
            <a:off x="6091349" y="3730401"/>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Flèche : bas 33">
            <a:extLst>
              <a:ext uri="{FF2B5EF4-FFF2-40B4-BE49-F238E27FC236}">
                <a16:creationId xmlns:a16="http://schemas.microsoft.com/office/drawing/2014/main" id="{9276DDC4-B056-6289-8DB6-3C338FBB15C1}"/>
              </a:ext>
            </a:extLst>
          </p:cNvPr>
          <p:cNvSpPr/>
          <p:nvPr/>
        </p:nvSpPr>
        <p:spPr>
          <a:xfrm rot="19457352">
            <a:off x="6911929" y="3582355"/>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Flèche : bas 34">
            <a:extLst>
              <a:ext uri="{FF2B5EF4-FFF2-40B4-BE49-F238E27FC236}">
                <a16:creationId xmlns:a16="http://schemas.microsoft.com/office/drawing/2014/main" id="{F3122BA8-422D-8E76-BF94-B55BCD0F9BC9}"/>
              </a:ext>
            </a:extLst>
          </p:cNvPr>
          <p:cNvSpPr/>
          <p:nvPr/>
        </p:nvSpPr>
        <p:spPr>
          <a:xfrm rot="2847762">
            <a:off x="5265180" y="3544202"/>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ZoneTexte 35">
            <a:extLst>
              <a:ext uri="{FF2B5EF4-FFF2-40B4-BE49-F238E27FC236}">
                <a16:creationId xmlns:a16="http://schemas.microsoft.com/office/drawing/2014/main" id="{7A472431-388B-5C94-2841-C0B46347D425}"/>
              </a:ext>
            </a:extLst>
          </p:cNvPr>
          <p:cNvSpPr txBox="1"/>
          <p:nvPr/>
        </p:nvSpPr>
        <p:spPr>
          <a:xfrm>
            <a:off x="4226643" y="5690177"/>
            <a:ext cx="1270063" cy="646331"/>
          </a:xfrm>
          <a:prstGeom prst="rect">
            <a:avLst/>
          </a:prstGeom>
          <a:noFill/>
        </p:spPr>
        <p:txBody>
          <a:bodyPr wrap="square">
            <a:spAutoFit/>
          </a:bodyPr>
          <a:lstStyle/>
          <a:p>
            <a:pPr algn="ctr"/>
            <a:r>
              <a:rPr lang="fr-FR" sz="1200" b="1" dirty="0">
                <a:solidFill>
                  <a:srgbClr val="3494BA"/>
                </a:solidFill>
              </a:rPr>
              <a:t>Actions liées </a:t>
            </a:r>
          </a:p>
          <a:p>
            <a:pPr algn="ctr"/>
            <a:r>
              <a:rPr lang="fr-FR" sz="1200" b="1" dirty="0">
                <a:solidFill>
                  <a:srgbClr val="3494BA"/>
                </a:solidFill>
              </a:rPr>
              <a:t>au sujet A de la Communauté</a:t>
            </a:r>
          </a:p>
        </p:txBody>
      </p:sp>
      <p:sp>
        <p:nvSpPr>
          <p:cNvPr id="37" name="ZoneTexte 36">
            <a:extLst>
              <a:ext uri="{FF2B5EF4-FFF2-40B4-BE49-F238E27FC236}">
                <a16:creationId xmlns:a16="http://schemas.microsoft.com/office/drawing/2014/main" id="{E4B672BF-8968-1B81-868B-F60A14F8C594}"/>
              </a:ext>
            </a:extLst>
          </p:cNvPr>
          <p:cNvSpPr txBox="1"/>
          <p:nvPr/>
        </p:nvSpPr>
        <p:spPr>
          <a:xfrm>
            <a:off x="5562996" y="5690177"/>
            <a:ext cx="1270063" cy="646331"/>
          </a:xfrm>
          <a:prstGeom prst="rect">
            <a:avLst/>
          </a:prstGeom>
          <a:noFill/>
        </p:spPr>
        <p:txBody>
          <a:bodyPr wrap="square">
            <a:spAutoFit/>
          </a:bodyPr>
          <a:lstStyle/>
          <a:p>
            <a:pPr algn="ctr"/>
            <a:r>
              <a:rPr lang="fr-FR" sz="1200" b="1" dirty="0">
                <a:solidFill>
                  <a:srgbClr val="3494BA"/>
                </a:solidFill>
              </a:rPr>
              <a:t>Actions liées </a:t>
            </a:r>
          </a:p>
          <a:p>
            <a:pPr algn="ctr"/>
            <a:r>
              <a:rPr lang="fr-FR" sz="1200" b="1" dirty="0">
                <a:solidFill>
                  <a:srgbClr val="3494BA"/>
                </a:solidFill>
              </a:rPr>
              <a:t>au sujet B de la Communauté</a:t>
            </a:r>
          </a:p>
        </p:txBody>
      </p:sp>
      <p:sp>
        <p:nvSpPr>
          <p:cNvPr id="38" name="ZoneTexte 37">
            <a:extLst>
              <a:ext uri="{FF2B5EF4-FFF2-40B4-BE49-F238E27FC236}">
                <a16:creationId xmlns:a16="http://schemas.microsoft.com/office/drawing/2014/main" id="{663D7A76-5FEA-1486-AD51-E180B4CF480A}"/>
              </a:ext>
            </a:extLst>
          </p:cNvPr>
          <p:cNvSpPr txBox="1"/>
          <p:nvPr/>
        </p:nvSpPr>
        <p:spPr>
          <a:xfrm>
            <a:off x="6828195" y="5685867"/>
            <a:ext cx="1270063" cy="646331"/>
          </a:xfrm>
          <a:prstGeom prst="rect">
            <a:avLst/>
          </a:prstGeom>
          <a:noFill/>
        </p:spPr>
        <p:txBody>
          <a:bodyPr wrap="square">
            <a:spAutoFit/>
          </a:bodyPr>
          <a:lstStyle/>
          <a:p>
            <a:pPr algn="ctr"/>
            <a:r>
              <a:rPr lang="fr-FR" sz="1200" b="1" dirty="0">
                <a:solidFill>
                  <a:srgbClr val="3494BA"/>
                </a:solidFill>
              </a:rPr>
              <a:t>Actions liées </a:t>
            </a:r>
          </a:p>
          <a:p>
            <a:pPr algn="ctr"/>
            <a:r>
              <a:rPr lang="fr-FR" sz="1200" b="1" dirty="0">
                <a:solidFill>
                  <a:srgbClr val="3494BA"/>
                </a:solidFill>
              </a:rPr>
              <a:t>au sujet C de la Communauté</a:t>
            </a:r>
          </a:p>
        </p:txBody>
      </p:sp>
      <p:sp>
        <p:nvSpPr>
          <p:cNvPr id="39" name="ZoneTexte 38">
            <a:extLst>
              <a:ext uri="{FF2B5EF4-FFF2-40B4-BE49-F238E27FC236}">
                <a16:creationId xmlns:a16="http://schemas.microsoft.com/office/drawing/2014/main" id="{6AC95011-A43E-BDB2-B351-AF7786647CF3}"/>
              </a:ext>
            </a:extLst>
          </p:cNvPr>
          <p:cNvSpPr txBox="1"/>
          <p:nvPr/>
        </p:nvSpPr>
        <p:spPr>
          <a:xfrm>
            <a:off x="5510231" y="2723266"/>
            <a:ext cx="1722134" cy="923330"/>
          </a:xfrm>
          <a:prstGeom prst="rect">
            <a:avLst/>
          </a:prstGeom>
          <a:noFill/>
        </p:spPr>
        <p:txBody>
          <a:bodyPr wrap="square">
            <a:spAutoFit/>
          </a:bodyPr>
          <a:lstStyle/>
          <a:p>
            <a:pPr algn="ctr"/>
            <a:r>
              <a:rPr lang="fr-FR" b="1" dirty="0">
                <a:solidFill>
                  <a:srgbClr val="ED7D31"/>
                </a:solidFill>
              </a:rPr>
              <a:t>DECOUPAGE EN DOMAINES</a:t>
            </a:r>
          </a:p>
          <a:p>
            <a:pPr algn="ctr"/>
            <a:r>
              <a:rPr lang="fr-FR" b="1" dirty="0">
                <a:solidFill>
                  <a:srgbClr val="ED7D31"/>
                </a:solidFill>
              </a:rPr>
              <a:t>PAR SUJET</a:t>
            </a:r>
          </a:p>
        </p:txBody>
      </p:sp>
      <p:sp>
        <p:nvSpPr>
          <p:cNvPr id="40" name="ZoneTexte 39">
            <a:extLst>
              <a:ext uri="{FF2B5EF4-FFF2-40B4-BE49-F238E27FC236}">
                <a16:creationId xmlns:a16="http://schemas.microsoft.com/office/drawing/2014/main" id="{A93BFAAC-4FB1-BB0B-78C3-19B901EDC610}"/>
              </a:ext>
            </a:extLst>
          </p:cNvPr>
          <p:cNvSpPr txBox="1"/>
          <p:nvPr/>
        </p:nvSpPr>
        <p:spPr>
          <a:xfrm>
            <a:off x="5592726" y="1601786"/>
            <a:ext cx="1557143" cy="261610"/>
          </a:xfrm>
          <a:prstGeom prst="rect">
            <a:avLst/>
          </a:prstGeom>
          <a:noFill/>
        </p:spPr>
        <p:txBody>
          <a:bodyPr wrap="square">
            <a:spAutoFit/>
          </a:bodyPr>
          <a:lstStyle/>
          <a:p>
            <a:pPr algn="ctr"/>
            <a:r>
              <a:rPr lang="fr-FR" sz="1100" b="1" dirty="0"/>
              <a:t>Liste globale d’actions</a:t>
            </a:r>
          </a:p>
        </p:txBody>
      </p:sp>
      <p:pic>
        <p:nvPicPr>
          <p:cNvPr id="41" name="Graphique 40" descr="Priorités avec un remplissage uni">
            <a:extLst>
              <a:ext uri="{FF2B5EF4-FFF2-40B4-BE49-F238E27FC236}">
                <a16:creationId xmlns:a16="http://schemas.microsoft.com/office/drawing/2014/main" id="{1BDCE60A-2CBF-B939-4CDA-66EFF2DA92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44148" y="1686378"/>
            <a:ext cx="1171537" cy="1171537"/>
          </a:xfrm>
          <a:prstGeom prst="rect">
            <a:avLst/>
          </a:prstGeom>
        </p:spPr>
      </p:pic>
      <p:pic>
        <p:nvPicPr>
          <p:cNvPr id="42" name="Graphique 41" descr="Priorités avec un remplissage uni">
            <a:extLst>
              <a:ext uri="{FF2B5EF4-FFF2-40B4-BE49-F238E27FC236}">
                <a16:creationId xmlns:a16="http://schemas.microsoft.com/office/drawing/2014/main" id="{495C7548-6845-96C4-C39D-7FF0037DF0E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77085" y="4705593"/>
            <a:ext cx="837014" cy="837014"/>
          </a:xfrm>
          <a:prstGeom prst="rect">
            <a:avLst/>
          </a:prstGeom>
        </p:spPr>
      </p:pic>
      <p:pic>
        <p:nvPicPr>
          <p:cNvPr id="43" name="Graphique 42" descr="Priorités avec un remplissage uni">
            <a:extLst>
              <a:ext uri="{FF2B5EF4-FFF2-40B4-BE49-F238E27FC236}">
                <a16:creationId xmlns:a16="http://schemas.microsoft.com/office/drawing/2014/main" id="{36D16F61-C38A-FD34-9785-3638BF24D31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94539" y="4705593"/>
            <a:ext cx="837014" cy="837014"/>
          </a:xfrm>
          <a:prstGeom prst="rect">
            <a:avLst/>
          </a:prstGeom>
        </p:spPr>
      </p:pic>
      <p:pic>
        <p:nvPicPr>
          <p:cNvPr id="44" name="Graphique 43" descr="Priorités avec un remplissage uni">
            <a:extLst>
              <a:ext uri="{FF2B5EF4-FFF2-40B4-BE49-F238E27FC236}">
                <a16:creationId xmlns:a16="http://schemas.microsoft.com/office/drawing/2014/main" id="{ED8778ED-858F-FAA3-DDFE-F2B5BED4E2D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978658" y="4705593"/>
            <a:ext cx="837014" cy="837014"/>
          </a:xfrm>
          <a:prstGeom prst="rect">
            <a:avLst/>
          </a:prstGeom>
        </p:spPr>
      </p:pic>
      <p:pic>
        <p:nvPicPr>
          <p:cNvPr id="48" name="Graphique 47" descr="Ciseaux avec un remplissage uni">
            <a:extLst>
              <a:ext uri="{FF2B5EF4-FFF2-40B4-BE49-F238E27FC236}">
                <a16:creationId xmlns:a16="http://schemas.microsoft.com/office/drawing/2014/main" id="{A7285880-F364-DD2B-7348-18E5A599B123}"/>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882251" y="2740559"/>
            <a:ext cx="768174" cy="768174"/>
          </a:xfrm>
          <a:prstGeom prst="rect">
            <a:avLst/>
          </a:prstGeom>
        </p:spPr>
      </p:pic>
      <p:sp>
        <p:nvSpPr>
          <p:cNvPr id="49" name="Flèche : bas 48">
            <a:extLst>
              <a:ext uri="{FF2B5EF4-FFF2-40B4-BE49-F238E27FC236}">
                <a16:creationId xmlns:a16="http://schemas.microsoft.com/office/drawing/2014/main" id="{0190A845-E122-F56B-B713-247D91B0DEB3}"/>
              </a:ext>
            </a:extLst>
          </p:cNvPr>
          <p:cNvSpPr/>
          <p:nvPr/>
        </p:nvSpPr>
        <p:spPr>
          <a:xfrm>
            <a:off x="10125266" y="3726091"/>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Flèche : bas 49">
            <a:extLst>
              <a:ext uri="{FF2B5EF4-FFF2-40B4-BE49-F238E27FC236}">
                <a16:creationId xmlns:a16="http://schemas.microsoft.com/office/drawing/2014/main" id="{4D7CD5E8-227F-0BCF-0ADB-4286CD97E54F}"/>
              </a:ext>
            </a:extLst>
          </p:cNvPr>
          <p:cNvSpPr/>
          <p:nvPr/>
        </p:nvSpPr>
        <p:spPr>
          <a:xfrm rot="19457352">
            <a:off x="10945846" y="3578045"/>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Flèche : bas 50">
            <a:extLst>
              <a:ext uri="{FF2B5EF4-FFF2-40B4-BE49-F238E27FC236}">
                <a16:creationId xmlns:a16="http://schemas.microsoft.com/office/drawing/2014/main" id="{EEF62B1B-0486-C00F-5AF8-3139976674F0}"/>
              </a:ext>
            </a:extLst>
          </p:cNvPr>
          <p:cNvSpPr/>
          <p:nvPr/>
        </p:nvSpPr>
        <p:spPr>
          <a:xfrm rot="2847762">
            <a:off x="9299097" y="3539892"/>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ZoneTexte 51">
            <a:extLst>
              <a:ext uri="{FF2B5EF4-FFF2-40B4-BE49-F238E27FC236}">
                <a16:creationId xmlns:a16="http://schemas.microsoft.com/office/drawing/2014/main" id="{70557602-4B85-CA31-E059-60A220F4E5FA}"/>
              </a:ext>
            </a:extLst>
          </p:cNvPr>
          <p:cNvSpPr txBox="1"/>
          <p:nvPr/>
        </p:nvSpPr>
        <p:spPr>
          <a:xfrm>
            <a:off x="8260560" y="5685867"/>
            <a:ext cx="1270063" cy="646331"/>
          </a:xfrm>
          <a:prstGeom prst="rect">
            <a:avLst/>
          </a:prstGeom>
          <a:noFill/>
        </p:spPr>
        <p:txBody>
          <a:bodyPr wrap="square">
            <a:spAutoFit/>
          </a:bodyPr>
          <a:lstStyle/>
          <a:p>
            <a:pPr algn="ctr"/>
            <a:r>
              <a:rPr lang="fr-FR" sz="1200" b="1" dirty="0">
                <a:solidFill>
                  <a:srgbClr val="3494BA"/>
                </a:solidFill>
              </a:rPr>
              <a:t>Actions liées </a:t>
            </a:r>
          </a:p>
          <a:p>
            <a:pPr algn="ctr"/>
            <a:r>
              <a:rPr lang="fr-FR" sz="1200" b="1" dirty="0">
                <a:solidFill>
                  <a:srgbClr val="3494BA"/>
                </a:solidFill>
              </a:rPr>
              <a:t>au sous-groupe de membres X</a:t>
            </a:r>
          </a:p>
        </p:txBody>
      </p:sp>
      <p:sp>
        <p:nvSpPr>
          <p:cNvPr id="53" name="ZoneTexte 52">
            <a:extLst>
              <a:ext uri="{FF2B5EF4-FFF2-40B4-BE49-F238E27FC236}">
                <a16:creationId xmlns:a16="http://schemas.microsoft.com/office/drawing/2014/main" id="{46ED0E5D-DF57-BAA9-95F4-DBCDA03A28EF}"/>
              </a:ext>
            </a:extLst>
          </p:cNvPr>
          <p:cNvSpPr txBox="1"/>
          <p:nvPr/>
        </p:nvSpPr>
        <p:spPr>
          <a:xfrm>
            <a:off x="9596913" y="5685867"/>
            <a:ext cx="1270063" cy="646331"/>
          </a:xfrm>
          <a:prstGeom prst="rect">
            <a:avLst/>
          </a:prstGeom>
          <a:noFill/>
        </p:spPr>
        <p:txBody>
          <a:bodyPr wrap="square">
            <a:spAutoFit/>
          </a:bodyPr>
          <a:lstStyle/>
          <a:p>
            <a:pPr algn="ctr"/>
            <a:r>
              <a:rPr lang="fr-FR" sz="1200" b="1" dirty="0">
                <a:solidFill>
                  <a:srgbClr val="3494BA"/>
                </a:solidFill>
              </a:rPr>
              <a:t>Actions liées </a:t>
            </a:r>
          </a:p>
          <a:p>
            <a:pPr algn="ctr"/>
            <a:r>
              <a:rPr lang="fr-FR" sz="1200" b="1" dirty="0">
                <a:solidFill>
                  <a:srgbClr val="3494BA"/>
                </a:solidFill>
              </a:rPr>
              <a:t>au sous-groupe de membres Y</a:t>
            </a:r>
          </a:p>
        </p:txBody>
      </p:sp>
      <p:sp>
        <p:nvSpPr>
          <p:cNvPr id="54" name="ZoneTexte 53">
            <a:extLst>
              <a:ext uri="{FF2B5EF4-FFF2-40B4-BE49-F238E27FC236}">
                <a16:creationId xmlns:a16="http://schemas.microsoft.com/office/drawing/2014/main" id="{BD972440-33AC-4E8A-E31A-3F678087EC83}"/>
              </a:ext>
            </a:extLst>
          </p:cNvPr>
          <p:cNvSpPr txBox="1"/>
          <p:nvPr/>
        </p:nvSpPr>
        <p:spPr>
          <a:xfrm>
            <a:off x="10862112" y="5681557"/>
            <a:ext cx="1270063" cy="646331"/>
          </a:xfrm>
          <a:prstGeom prst="rect">
            <a:avLst/>
          </a:prstGeom>
          <a:noFill/>
        </p:spPr>
        <p:txBody>
          <a:bodyPr wrap="square">
            <a:spAutoFit/>
          </a:bodyPr>
          <a:lstStyle/>
          <a:p>
            <a:pPr algn="ctr"/>
            <a:r>
              <a:rPr lang="fr-FR" sz="1200" b="1" dirty="0">
                <a:solidFill>
                  <a:srgbClr val="3494BA"/>
                </a:solidFill>
              </a:rPr>
              <a:t>Actions liées </a:t>
            </a:r>
          </a:p>
          <a:p>
            <a:pPr algn="ctr"/>
            <a:r>
              <a:rPr lang="fr-FR" sz="1200" b="1" dirty="0">
                <a:solidFill>
                  <a:srgbClr val="3494BA"/>
                </a:solidFill>
              </a:rPr>
              <a:t>au sous-groupe de membres Z</a:t>
            </a:r>
          </a:p>
        </p:txBody>
      </p:sp>
      <p:sp>
        <p:nvSpPr>
          <p:cNvPr id="55" name="ZoneTexte 54">
            <a:extLst>
              <a:ext uri="{FF2B5EF4-FFF2-40B4-BE49-F238E27FC236}">
                <a16:creationId xmlns:a16="http://schemas.microsoft.com/office/drawing/2014/main" id="{DFB90C63-C94C-2082-432E-407D1E69105E}"/>
              </a:ext>
            </a:extLst>
          </p:cNvPr>
          <p:cNvSpPr txBox="1"/>
          <p:nvPr/>
        </p:nvSpPr>
        <p:spPr>
          <a:xfrm>
            <a:off x="9345945" y="2682739"/>
            <a:ext cx="2213273" cy="923330"/>
          </a:xfrm>
          <a:prstGeom prst="rect">
            <a:avLst/>
          </a:prstGeom>
          <a:noFill/>
        </p:spPr>
        <p:txBody>
          <a:bodyPr wrap="square">
            <a:spAutoFit/>
          </a:bodyPr>
          <a:lstStyle/>
          <a:p>
            <a:pPr algn="ctr"/>
            <a:r>
              <a:rPr lang="fr-FR" b="1" dirty="0">
                <a:solidFill>
                  <a:srgbClr val="ED7D31"/>
                </a:solidFill>
              </a:rPr>
              <a:t>DECOUPAGE EN DOMAINES</a:t>
            </a:r>
          </a:p>
          <a:p>
            <a:pPr algn="ctr"/>
            <a:r>
              <a:rPr lang="fr-FR" b="1" dirty="0">
                <a:solidFill>
                  <a:srgbClr val="ED7D31"/>
                </a:solidFill>
              </a:rPr>
              <a:t>PAR SOUS-GROUPES</a:t>
            </a:r>
          </a:p>
        </p:txBody>
      </p:sp>
      <p:sp>
        <p:nvSpPr>
          <p:cNvPr id="56" name="ZoneTexte 55">
            <a:extLst>
              <a:ext uri="{FF2B5EF4-FFF2-40B4-BE49-F238E27FC236}">
                <a16:creationId xmlns:a16="http://schemas.microsoft.com/office/drawing/2014/main" id="{1E0B198D-7E3E-7DDF-FAD7-62B07CE8EFB5}"/>
              </a:ext>
            </a:extLst>
          </p:cNvPr>
          <p:cNvSpPr txBox="1"/>
          <p:nvPr/>
        </p:nvSpPr>
        <p:spPr>
          <a:xfrm>
            <a:off x="9626643" y="1597476"/>
            <a:ext cx="1557143" cy="261610"/>
          </a:xfrm>
          <a:prstGeom prst="rect">
            <a:avLst/>
          </a:prstGeom>
          <a:noFill/>
        </p:spPr>
        <p:txBody>
          <a:bodyPr wrap="square">
            <a:spAutoFit/>
          </a:bodyPr>
          <a:lstStyle/>
          <a:p>
            <a:pPr algn="ctr"/>
            <a:r>
              <a:rPr lang="fr-FR" sz="1100" b="1" dirty="0"/>
              <a:t>Liste globale d’actions</a:t>
            </a:r>
          </a:p>
        </p:txBody>
      </p:sp>
      <p:cxnSp>
        <p:nvCxnSpPr>
          <p:cNvPr id="58" name="Connecteur droit 57">
            <a:extLst>
              <a:ext uri="{FF2B5EF4-FFF2-40B4-BE49-F238E27FC236}">
                <a16:creationId xmlns:a16="http://schemas.microsoft.com/office/drawing/2014/main" id="{0A669F0E-FD0E-4A7D-FB3E-5310F183C348}"/>
              </a:ext>
            </a:extLst>
          </p:cNvPr>
          <p:cNvCxnSpPr/>
          <p:nvPr/>
        </p:nvCxnSpPr>
        <p:spPr>
          <a:xfrm>
            <a:off x="4121547" y="1597476"/>
            <a:ext cx="0" cy="4706814"/>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necteur droit 58">
            <a:extLst>
              <a:ext uri="{FF2B5EF4-FFF2-40B4-BE49-F238E27FC236}">
                <a16:creationId xmlns:a16="http://schemas.microsoft.com/office/drawing/2014/main" id="{3626A9CF-AE26-9B6D-58FE-1B8A26056366}"/>
              </a:ext>
            </a:extLst>
          </p:cNvPr>
          <p:cNvCxnSpPr/>
          <p:nvPr/>
        </p:nvCxnSpPr>
        <p:spPr>
          <a:xfrm>
            <a:off x="8260560" y="1650835"/>
            <a:ext cx="0" cy="4706814"/>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pic>
        <p:nvPicPr>
          <p:cNvPr id="61" name="Graphique 60" descr="Femme agricultrice avec un remplissage uni">
            <a:extLst>
              <a:ext uri="{FF2B5EF4-FFF2-40B4-BE49-F238E27FC236}">
                <a16:creationId xmlns:a16="http://schemas.microsoft.com/office/drawing/2014/main" id="{1B709EC9-A944-0F86-6DDF-F36CCA02AFF5}"/>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382005" y="4264430"/>
            <a:ext cx="573976" cy="573976"/>
          </a:xfrm>
          <a:prstGeom prst="rect">
            <a:avLst/>
          </a:prstGeom>
        </p:spPr>
      </p:pic>
      <p:pic>
        <p:nvPicPr>
          <p:cNvPr id="63" name="Graphique 62" descr="Homme agriculteur avec un remplissage uni">
            <a:extLst>
              <a:ext uri="{FF2B5EF4-FFF2-40B4-BE49-F238E27FC236}">
                <a16:creationId xmlns:a16="http://schemas.microsoft.com/office/drawing/2014/main" id="{DAE6F985-0485-FFBB-8716-6ACB9223C5FA}"/>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809950" y="4256895"/>
            <a:ext cx="573976" cy="573976"/>
          </a:xfrm>
          <a:prstGeom prst="rect">
            <a:avLst/>
          </a:prstGeom>
        </p:spPr>
      </p:pic>
      <p:pic>
        <p:nvPicPr>
          <p:cNvPr id="65" name="Graphique 64" descr="Programmeur avec un remplissage uni">
            <a:extLst>
              <a:ext uri="{FF2B5EF4-FFF2-40B4-BE49-F238E27FC236}">
                <a16:creationId xmlns:a16="http://schemas.microsoft.com/office/drawing/2014/main" id="{CFF2D758-DE9C-5BA9-B51F-7D06D149A3BB}"/>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9694539" y="4219058"/>
            <a:ext cx="573976" cy="573976"/>
          </a:xfrm>
          <a:prstGeom prst="rect">
            <a:avLst/>
          </a:prstGeom>
        </p:spPr>
      </p:pic>
      <p:pic>
        <p:nvPicPr>
          <p:cNvPr id="67" name="Graphique 66" descr="Employée de bureau avec un remplissage uni">
            <a:extLst>
              <a:ext uri="{FF2B5EF4-FFF2-40B4-BE49-F238E27FC236}">
                <a16:creationId xmlns:a16="http://schemas.microsoft.com/office/drawing/2014/main" id="{817AF796-5E0E-AEF9-739A-E787F7CB2613}"/>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0936290" y="4239766"/>
            <a:ext cx="573976" cy="573976"/>
          </a:xfrm>
          <a:prstGeom prst="rect">
            <a:avLst/>
          </a:prstGeom>
        </p:spPr>
      </p:pic>
      <p:pic>
        <p:nvPicPr>
          <p:cNvPr id="69" name="Graphique 68" descr="Programmatrice avec un remplissage uni">
            <a:extLst>
              <a:ext uri="{FF2B5EF4-FFF2-40B4-BE49-F238E27FC236}">
                <a16:creationId xmlns:a16="http://schemas.microsoft.com/office/drawing/2014/main" id="{0D75A484-0092-181C-48A9-56F65A1000E0}"/>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10135597" y="4211914"/>
            <a:ext cx="573976" cy="573976"/>
          </a:xfrm>
          <a:prstGeom prst="rect">
            <a:avLst/>
          </a:prstGeom>
        </p:spPr>
      </p:pic>
      <p:pic>
        <p:nvPicPr>
          <p:cNvPr id="71" name="Graphique 70" descr="Employé de bureau avec un remplissage uni">
            <a:extLst>
              <a:ext uri="{FF2B5EF4-FFF2-40B4-BE49-F238E27FC236}">
                <a16:creationId xmlns:a16="http://schemas.microsoft.com/office/drawing/2014/main" id="{906493BD-B7D2-2884-D083-6C1526689C0F}"/>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11341027" y="4235456"/>
            <a:ext cx="573976" cy="573976"/>
          </a:xfrm>
          <a:prstGeom prst="rect">
            <a:avLst/>
          </a:prstGeom>
        </p:spPr>
      </p:pic>
      <p:pic>
        <p:nvPicPr>
          <p:cNvPr id="75" name="Graphique 74" descr="Serveur avec un remplissage uni">
            <a:extLst>
              <a:ext uri="{FF2B5EF4-FFF2-40B4-BE49-F238E27FC236}">
                <a16:creationId xmlns:a16="http://schemas.microsoft.com/office/drawing/2014/main" id="{F1E9E99E-8ECF-8CED-4C4C-84FC9B0AD1BA}"/>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4594363" y="4189262"/>
            <a:ext cx="646332" cy="646332"/>
          </a:xfrm>
          <a:prstGeom prst="rect">
            <a:avLst/>
          </a:prstGeom>
        </p:spPr>
      </p:pic>
      <p:pic>
        <p:nvPicPr>
          <p:cNvPr id="77" name="Graphique 76" descr="Tubes à essai avec un remplissage uni">
            <a:extLst>
              <a:ext uri="{FF2B5EF4-FFF2-40B4-BE49-F238E27FC236}">
                <a16:creationId xmlns:a16="http://schemas.microsoft.com/office/drawing/2014/main" id="{F05F3ABD-5BDB-FF6C-2498-4DFE5A6A11C1}"/>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5819077" y="4202274"/>
            <a:ext cx="646332" cy="646332"/>
          </a:xfrm>
          <a:prstGeom prst="rect">
            <a:avLst/>
          </a:prstGeom>
        </p:spPr>
      </p:pic>
      <p:pic>
        <p:nvPicPr>
          <p:cNvPr id="79" name="Graphique 78" descr="Paysage spatial avec un remplissage uni">
            <a:extLst>
              <a:ext uri="{FF2B5EF4-FFF2-40B4-BE49-F238E27FC236}">
                <a16:creationId xmlns:a16="http://schemas.microsoft.com/office/drawing/2014/main" id="{966A7543-AE74-14E7-7618-DB00E6684035}"/>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7068074" y="4149698"/>
            <a:ext cx="646332" cy="646332"/>
          </a:xfrm>
          <a:prstGeom prst="rect">
            <a:avLst/>
          </a:prstGeom>
        </p:spPr>
      </p:pic>
    </p:spTree>
    <p:extLst>
      <p:ext uri="{BB962C8B-B14F-4D97-AF65-F5344CB8AC3E}">
        <p14:creationId xmlns:p14="http://schemas.microsoft.com/office/powerpoint/2010/main" val="1676978321"/>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E39779A-C1ED-741B-9817-5667FC3C8308}"/>
              </a:ext>
            </a:extLst>
          </p:cNvPr>
          <p:cNvSpPr>
            <a:spLocks noGrp="1"/>
          </p:cNvSpPr>
          <p:nvPr>
            <p:ph type="title"/>
          </p:nvPr>
        </p:nvSpPr>
        <p:spPr/>
        <p:txBody>
          <a:bodyPr>
            <a:normAutofit/>
          </a:bodyPr>
          <a:lstStyle/>
          <a:p>
            <a:r>
              <a:rPr lang="fr-FR" sz="3200" dirty="0"/>
              <a:t>Les périmètres de priorisation</a:t>
            </a:r>
            <a:br>
              <a:rPr lang="fr-FR" sz="3200" dirty="0"/>
            </a:br>
            <a:r>
              <a:rPr lang="fr-FR" sz="3200" dirty="0"/>
              <a:t>Exemples de découpages en périmètre</a:t>
            </a:r>
          </a:p>
        </p:txBody>
      </p:sp>
      <p:pic>
        <p:nvPicPr>
          <p:cNvPr id="4" name="Graphique 3" descr="Priorités avec un remplissage uni">
            <a:extLst>
              <a:ext uri="{FF2B5EF4-FFF2-40B4-BE49-F238E27FC236}">
                <a16:creationId xmlns:a16="http://schemas.microsoft.com/office/drawing/2014/main" id="{DB942B46-EFCD-BAC0-4CA4-83E5EF6A646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93820" y="1690688"/>
            <a:ext cx="1171537" cy="1171537"/>
          </a:xfrm>
          <a:prstGeom prst="rect">
            <a:avLst/>
          </a:prstGeom>
        </p:spPr>
      </p:pic>
      <p:pic>
        <p:nvPicPr>
          <p:cNvPr id="5" name="Graphique 4" descr="Priorités avec un remplissage uni">
            <a:extLst>
              <a:ext uri="{FF2B5EF4-FFF2-40B4-BE49-F238E27FC236}">
                <a16:creationId xmlns:a16="http://schemas.microsoft.com/office/drawing/2014/main" id="{D71234EA-152D-AFBC-D619-6830099AC52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26757" y="4709903"/>
            <a:ext cx="837014" cy="837014"/>
          </a:xfrm>
          <a:prstGeom prst="rect">
            <a:avLst/>
          </a:prstGeom>
        </p:spPr>
      </p:pic>
      <p:pic>
        <p:nvPicPr>
          <p:cNvPr id="6" name="Graphique 5" descr="Priorités avec un remplissage uni">
            <a:extLst>
              <a:ext uri="{FF2B5EF4-FFF2-40B4-BE49-F238E27FC236}">
                <a16:creationId xmlns:a16="http://schemas.microsoft.com/office/drawing/2014/main" id="{279E02A6-8E41-BF2A-15E5-ED6FA93207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544211" y="4709903"/>
            <a:ext cx="837014" cy="837014"/>
          </a:xfrm>
          <a:prstGeom prst="rect">
            <a:avLst/>
          </a:prstGeom>
        </p:spPr>
      </p:pic>
      <p:pic>
        <p:nvPicPr>
          <p:cNvPr id="7" name="Graphique 6" descr="Priorités avec un remplissage uni">
            <a:extLst>
              <a:ext uri="{FF2B5EF4-FFF2-40B4-BE49-F238E27FC236}">
                <a16:creationId xmlns:a16="http://schemas.microsoft.com/office/drawing/2014/main" id="{AC94F1E0-8415-12EB-8859-E5FA3392F01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828330" y="4709903"/>
            <a:ext cx="837014" cy="837014"/>
          </a:xfrm>
          <a:prstGeom prst="rect">
            <a:avLst/>
          </a:prstGeom>
        </p:spPr>
      </p:pic>
      <p:pic>
        <p:nvPicPr>
          <p:cNvPr id="15" name="Graphique 14" descr="Ciseaux avec un remplissage uni">
            <a:extLst>
              <a:ext uri="{FF2B5EF4-FFF2-40B4-BE49-F238E27FC236}">
                <a16:creationId xmlns:a16="http://schemas.microsoft.com/office/drawing/2014/main" id="{CA62C407-4AA8-EBC5-2EC0-67DD5E229B8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99128" y="2714635"/>
            <a:ext cx="768174" cy="768174"/>
          </a:xfrm>
          <a:prstGeom prst="rect">
            <a:avLst/>
          </a:prstGeom>
        </p:spPr>
      </p:pic>
      <p:sp>
        <p:nvSpPr>
          <p:cNvPr id="16" name="Flèche : bas 15">
            <a:extLst>
              <a:ext uri="{FF2B5EF4-FFF2-40B4-BE49-F238E27FC236}">
                <a16:creationId xmlns:a16="http://schemas.microsoft.com/office/drawing/2014/main" id="{F3C02449-0BE3-8106-8C62-A3B2478BB8F5}"/>
              </a:ext>
            </a:extLst>
          </p:cNvPr>
          <p:cNvSpPr/>
          <p:nvPr/>
        </p:nvSpPr>
        <p:spPr>
          <a:xfrm>
            <a:off x="1974938" y="3730401"/>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Flèche : bas 16">
            <a:extLst>
              <a:ext uri="{FF2B5EF4-FFF2-40B4-BE49-F238E27FC236}">
                <a16:creationId xmlns:a16="http://schemas.microsoft.com/office/drawing/2014/main" id="{7AB85ECD-0B0C-8584-A428-6459B4AC7820}"/>
              </a:ext>
            </a:extLst>
          </p:cNvPr>
          <p:cNvSpPr/>
          <p:nvPr/>
        </p:nvSpPr>
        <p:spPr>
          <a:xfrm rot="19457352">
            <a:off x="2795518" y="3582355"/>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Flèche : bas 17">
            <a:extLst>
              <a:ext uri="{FF2B5EF4-FFF2-40B4-BE49-F238E27FC236}">
                <a16:creationId xmlns:a16="http://schemas.microsoft.com/office/drawing/2014/main" id="{EE5D6D37-3C22-E1DD-B878-1D32DB08723A}"/>
              </a:ext>
            </a:extLst>
          </p:cNvPr>
          <p:cNvSpPr/>
          <p:nvPr/>
        </p:nvSpPr>
        <p:spPr>
          <a:xfrm rot="2847762">
            <a:off x="1148769" y="3544202"/>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ZoneTexte 19">
            <a:extLst>
              <a:ext uri="{FF2B5EF4-FFF2-40B4-BE49-F238E27FC236}">
                <a16:creationId xmlns:a16="http://schemas.microsoft.com/office/drawing/2014/main" id="{E60FED73-3710-D0A8-ED70-7E22ADBE36A8}"/>
              </a:ext>
            </a:extLst>
          </p:cNvPr>
          <p:cNvSpPr txBox="1"/>
          <p:nvPr/>
        </p:nvSpPr>
        <p:spPr>
          <a:xfrm>
            <a:off x="110232" y="5690177"/>
            <a:ext cx="1270063" cy="461665"/>
          </a:xfrm>
          <a:prstGeom prst="rect">
            <a:avLst/>
          </a:prstGeom>
          <a:noFill/>
        </p:spPr>
        <p:txBody>
          <a:bodyPr wrap="square">
            <a:spAutoFit/>
          </a:bodyPr>
          <a:lstStyle/>
          <a:p>
            <a:pPr algn="ctr"/>
            <a:r>
              <a:rPr lang="fr-FR" sz="1200" b="1" dirty="0">
                <a:solidFill>
                  <a:srgbClr val="3494BA"/>
                </a:solidFill>
              </a:rPr>
              <a:t>Actions </a:t>
            </a:r>
          </a:p>
          <a:p>
            <a:pPr algn="ctr"/>
            <a:r>
              <a:rPr lang="fr-FR" sz="1200" b="1" dirty="0">
                <a:solidFill>
                  <a:srgbClr val="3494BA"/>
                </a:solidFill>
              </a:rPr>
              <a:t>au stade d’idées</a:t>
            </a:r>
          </a:p>
        </p:txBody>
      </p:sp>
      <p:sp>
        <p:nvSpPr>
          <p:cNvPr id="21" name="ZoneTexte 20">
            <a:extLst>
              <a:ext uri="{FF2B5EF4-FFF2-40B4-BE49-F238E27FC236}">
                <a16:creationId xmlns:a16="http://schemas.microsoft.com/office/drawing/2014/main" id="{3170A411-C915-BECA-3F9F-E83C5AC34FFB}"/>
              </a:ext>
            </a:extLst>
          </p:cNvPr>
          <p:cNvSpPr txBox="1"/>
          <p:nvPr/>
        </p:nvSpPr>
        <p:spPr>
          <a:xfrm>
            <a:off x="1446585" y="5690177"/>
            <a:ext cx="1270063" cy="461665"/>
          </a:xfrm>
          <a:prstGeom prst="rect">
            <a:avLst/>
          </a:prstGeom>
          <a:noFill/>
        </p:spPr>
        <p:txBody>
          <a:bodyPr wrap="square">
            <a:spAutoFit/>
          </a:bodyPr>
          <a:lstStyle/>
          <a:p>
            <a:pPr algn="ctr"/>
            <a:r>
              <a:rPr lang="fr-FR" sz="1200" b="1" dirty="0">
                <a:solidFill>
                  <a:srgbClr val="3494BA"/>
                </a:solidFill>
              </a:rPr>
              <a:t>Actions prêtes à commencer</a:t>
            </a:r>
          </a:p>
        </p:txBody>
      </p:sp>
      <p:sp>
        <p:nvSpPr>
          <p:cNvPr id="22" name="ZoneTexte 21">
            <a:extLst>
              <a:ext uri="{FF2B5EF4-FFF2-40B4-BE49-F238E27FC236}">
                <a16:creationId xmlns:a16="http://schemas.microsoft.com/office/drawing/2014/main" id="{5F0039C5-E6AE-C07F-4DB2-6AE8917DB012}"/>
              </a:ext>
            </a:extLst>
          </p:cNvPr>
          <p:cNvSpPr txBox="1"/>
          <p:nvPr/>
        </p:nvSpPr>
        <p:spPr>
          <a:xfrm>
            <a:off x="2711784" y="5685867"/>
            <a:ext cx="1270063" cy="276999"/>
          </a:xfrm>
          <a:prstGeom prst="rect">
            <a:avLst/>
          </a:prstGeom>
          <a:noFill/>
        </p:spPr>
        <p:txBody>
          <a:bodyPr wrap="square">
            <a:spAutoFit/>
          </a:bodyPr>
          <a:lstStyle/>
          <a:p>
            <a:pPr algn="ctr"/>
            <a:r>
              <a:rPr lang="fr-FR" sz="1200" b="1" dirty="0">
                <a:solidFill>
                  <a:srgbClr val="3494BA"/>
                </a:solidFill>
              </a:rPr>
              <a:t>Actions en cours </a:t>
            </a:r>
          </a:p>
        </p:txBody>
      </p:sp>
      <p:sp>
        <p:nvSpPr>
          <p:cNvPr id="23" name="ZoneTexte 22">
            <a:extLst>
              <a:ext uri="{FF2B5EF4-FFF2-40B4-BE49-F238E27FC236}">
                <a16:creationId xmlns:a16="http://schemas.microsoft.com/office/drawing/2014/main" id="{62608806-C8CE-EAC9-6646-2A406B13AEF5}"/>
              </a:ext>
            </a:extLst>
          </p:cNvPr>
          <p:cNvSpPr txBox="1"/>
          <p:nvPr/>
        </p:nvSpPr>
        <p:spPr>
          <a:xfrm>
            <a:off x="965558" y="2693032"/>
            <a:ext cx="3001257" cy="646331"/>
          </a:xfrm>
          <a:prstGeom prst="rect">
            <a:avLst/>
          </a:prstGeom>
          <a:noFill/>
        </p:spPr>
        <p:txBody>
          <a:bodyPr wrap="square">
            <a:spAutoFit/>
          </a:bodyPr>
          <a:lstStyle/>
          <a:p>
            <a:pPr algn="ctr"/>
            <a:r>
              <a:rPr lang="fr-FR" b="1" dirty="0">
                <a:solidFill>
                  <a:srgbClr val="ED7D31"/>
                </a:solidFill>
              </a:rPr>
              <a:t>DECOUPAGE EN DOMAINES</a:t>
            </a:r>
          </a:p>
          <a:p>
            <a:pPr algn="ctr"/>
            <a:r>
              <a:rPr lang="fr-FR" b="1" dirty="0">
                <a:solidFill>
                  <a:srgbClr val="ED7D31"/>
                </a:solidFill>
              </a:rPr>
              <a:t>PAR ÉTAT D’AVANCEMENT</a:t>
            </a:r>
          </a:p>
        </p:txBody>
      </p:sp>
      <p:sp>
        <p:nvSpPr>
          <p:cNvPr id="24" name="ZoneTexte 23">
            <a:extLst>
              <a:ext uri="{FF2B5EF4-FFF2-40B4-BE49-F238E27FC236}">
                <a16:creationId xmlns:a16="http://schemas.microsoft.com/office/drawing/2014/main" id="{33FD0960-F6C7-2200-E03E-FF76BC9AECA7}"/>
              </a:ext>
            </a:extLst>
          </p:cNvPr>
          <p:cNvSpPr txBox="1"/>
          <p:nvPr/>
        </p:nvSpPr>
        <p:spPr>
          <a:xfrm>
            <a:off x="1476315" y="1601786"/>
            <a:ext cx="1557143" cy="261610"/>
          </a:xfrm>
          <a:prstGeom prst="rect">
            <a:avLst/>
          </a:prstGeom>
          <a:noFill/>
        </p:spPr>
        <p:txBody>
          <a:bodyPr wrap="square">
            <a:spAutoFit/>
          </a:bodyPr>
          <a:lstStyle/>
          <a:p>
            <a:pPr algn="ctr"/>
            <a:r>
              <a:rPr lang="fr-FR" sz="1100" b="1" dirty="0"/>
              <a:t>Liste globale d’actions</a:t>
            </a:r>
          </a:p>
        </p:txBody>
      </p:sp>
      <p:pic>
        <p:nvPicPr>
          <p:cNvPr id="25" name="Graphique 24" descr="Priorités avec un remplissage uni">
            <a:extLst>
              <a:ext uri="{FF2B5EF4-FFF2-40B4-BE49-F238E27FC236}">
                <a16:creationId xmlns:a16="http://schemas.microsoft.com/office/drawing/2014/main" id="{6108A295-ED65-E279-F6A6-5C37086741D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510231" y="1690688"/>
            <a:ext cx="1171537" cy="1171537"/>
          </a:xfrm>
          <a:prstGeom prst="rect">
            <a:avLst/>
          </a:prstGeom>
        </p:spPr>
      </p:pic>
      <p:pic>
        <p:nvPicPr>
          <p:cNvPr id="26" name="Graphique 25" descr="Priorités avec un remplissage uni">
            <a:extLst>
              <a:ext uri="{FF2B5EF4-FFF2-40B4-BE49-F238E27FC236}">
                <a16:creationId xmlns:a16="http://schemas.microsoft.com/office/drawing/2014/main" id="{2AAF0F69-6BB4-CE9A-680D-EC06B8591FA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443168" y="4709903"/>
            <a:ext cx="837014" cy="837014"/>
          </a:xfrm>
          <a:prstGeom prst="rect">
            <a:avLst/>
          </a:prstGeom>
        </p:spPr>
      </p:pic>
      <p:pic>
        <p:nvPicPr>
          <p:cNvPr id="27" name="Graphique 26" descr="Priorités avec un remplissage uni">
            <a:extLst>
              <a:ext uri="{FF2B5EF4-FFF2-40B4-BE49-F238E27FC236}">
                <a16:creationId xmlns:a16="http://schemas.microsoft.com/office/drawing/2014/main" id="{61CC4D34-F5E6-E5B7-957F-B860661C120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660622" y="4709903"/>
            <a:ext cx="837014" cy="837014"/>
          </a:xfrm>
          <a:prstGeom prst="rect">
            <a:avLst/>
          </a:prstGeom>
        </p:spPr>
      </p:pic>
      <p:pic>
        <p:nvPicPr>
          <p:cNvPr id="28" name="Graphique 27" descr="Priorités avec un remplissage uni">
            <a:extLst>
              <a:ext uri="{FF2B5EF4-FFF2-40B4-BE49-F238E27FC236}">
                <a16:creationId xmlns:a16="http://schemas.microsoft.com/office/drawing/2014/main" id="{D013C71D-4B66-0A96-047E-489D23AB036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944741" y="4709903"/>
            <a:ext cx="837014" cy="837014"/>
          </a:xfrm>
          <a:prstGeom prst="rect">
            <a:avLst/>
          </a:prstGeom>
        </p:spPr>
      </p:pic>
      <p:pic>
        <p:nvPicPr>
          <p:cNvPr id="32" name="Graphique 31" descr="Ciseaux avec un remplissage uni">
            <a:extLst>
              <a:ext uri="{FF2B5EF4-FFF2-40B4-BE49-F238E27FC236}">
                <a16:creationId xmlns:a16="http://schemas.microsoft.com/office/drawing/2014/main" id="{A78AF51B-3DA3-19D8-B128-3971D998C17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427124" y="2760317"/>
            <a:ext cx="768174" cy="768174"/>
          </a:xfrm>
          <a:prstGeom prst="rect">
            <a:avLst/>
          </a:prstGeom>
        </p:spPr>
      </p:pic>
      <p:sp>
        <p:nvSpPr>
          <p:cNvPr id="33" name="Flèche : bas 32">
            <a:extLst>
              <a:ext uri="{FF2B5EF4-FFF2-40B4-BE49-F238E27FC236}">
                <a16:creationId xmlns:a16="http://schemas.microsoft.com/office/drawing/2014/main" id="{0D71A46E-D5A9-B2CD-B9E4-0AAB1394D2DE}"/>
              </a:ext>
            </a:extLst>
          </p:cNvPr>
          <p:cNvSpPr/>
          <p:nvPr/>
        </p:nvSpPr>
        <p:spPr>
          <a:xfrm>
            <a:off x="6091349" y="3730401"/>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Flèche : bas 33">
            <a:extLst>
              <a:ext uri="{FF2B5EF4-FFF2-40B4-BE49-F238E27FC236}">
                <a16:creationId xmlns:a16="http://schemas.microsoft.com/office/drawing/2014/main" id="{9276DDC4-B056-6289-8DB6-3C338FBB15C1}"/>
              </a:ext>
            </a:extLst>
          </p:cNvPr>
          <p:cNvSpPr/>
          <p:nvPr/>
        </p:nvSpPr>
        <p:spPr>
          <a:xfrm rot="19457352">
            <a:off x="6911929" y="3582355"/>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Flèche : bas 34">
            <a:extLst>
              <a:ext uri="{FF2B5EF4-FFF2-40B4-BE49-F238E27FC236}">
                <a16:creationId xmlns:a16="http://schemas.microsoft.com/office/drawing/2014/main" id="{F3122BA8-422D-8E76-BF94-B55BCD0F9BC9}"/>
              </a:ext>
            </a:extLst>
          </p:cNvPr>
          <p:cNvSpPr/>
          <p:nvPr/>
        </p:nvSpPr>
        <p:spPr>
          <a:xfrm rot="2847762">
            <a:off x="5265180" y="3544202"/>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ZoneTexte 35">
            <a:extLst>
              <a:ext uri="{FF2B5EF4-FFF2-40B4-BE49-F238E27FC236}">
                <a16:creationId xmlns:a16="http://schemas.microsoft.com/office/drawing/2014/main" id="{7A472431-388B-5C94-2841-C0B46347D425}"/>
              </a:ext>
            </a:extLst>
          </p:cNvPr>
          <p:cNvSpPr txBox="1"/>
          <p:nvPr/>
        </p:nvSpPr>
        <p:spPr>
          <a:xfrm>
            <a:off x="4226643" y="5690177"/>
            <a:ext cx="1270063" cy="830997"/>
          </a:xfrm>
          <a:prstGeom prst="rect">
            <a:avLst/>
          </a:prstGeom>
          <a:noFill/>
        </p:spPr>
        <p:txBody>
          <a:bodyPr wrap="square">
            <a:spAutoFit/>
          </a:bodyPr>
          <a:lstStyle/>
          <a:p>
            <a:pPr algn="ctr"/>
            <a:r>
              <a:rPr lang="fr-FR" sz="1200" b="1" dirty="0">
                <a:solidFill>
                  <a:srgbClr val="3494BA"/>
                </a:solidFill>
              </a:rPr>
              <a:t>Actions suivies par la Leader L dans la Communauté</a:t>
            </a:r>
          </a:p>
        </p:txBody>
      </p:sp>
      <p:sp>
        <p:nvSpPr>
          <p:cNvPr id="37" name="ZoneTexte 36">
            <a:extLst>
              <a:ext uri="{FF2B5EF4-FFF2-40B4-BE49-F238E27FC236}">
                <a16:creationId xmlns:a16="http://schemas.microsoft.com/office/drawing/2014/main" id="{E4B672BF-8968-1B81-868B-F60A14F8C594}"/>
              </a:ext>
            </a:extLst>
          </p:cNvPr>
          <p:cNvSpPr txBox="1"/>
          <p:nvPr/>
        </p:nvSpPr>
        <p:spPr>
          <a:xfrm>
            <a:off x="5562996" y="5690177"/>
            <a:ext cx="1270063" cy="830997"/>
          </a:xfrm>
          <a:prstGeom prst="rect">
            <a:avLst/>
          </a:prstGeom>
          <a:noFill/>
        </p:spPr>
        <p:txBody>
          <a:bodyPr wrap="square">
            <a:spAutoFit/>
          </a:bodyPr>
          <a:lstStyle/>
          <a:p>
            <a:pPr algn="ctr"/>
            <a:r>
              <a:rPr lang="fr-FR" sz="1200" b="1" dirty="0">
                <a:solidFill>
                  <a:srgbClr val="3494BA"/>
                </a:solidFill>
              </a:rPr>
              <a:t>Actions suivies par le Leader M dans la Communauté</a:t>
            </a:r>
          </a:p>
        </p:txBody>
      </p:sp>
      <p:sp>
        <p:nvSpPr>
          <p:cNvPr id="38" name="ZoneTexte 37">
            <a:extLst>
              <a:ext uri="{FF2B5EF4-FFF2-40B4-BE49-F238E27FC236}">
                <a16:creationId xmlns:a16="http://schemas.microsoft.com/office/drawing/2014/main" id="{663D7A76-5FEA-1486-AD51-E180B4CF480A}"/>
              </a:ext>
            </a:extLst>
          </p:cNvPr>
          <p:cNvSpPr txBox="1"/>
          <p:nvPr/>
        </p:nvSpPr>
        <p:spPr>
          <a:xfrm>
            <a:off x="6828195" y="5685867"/>
            <a:ext cx="1270063" cy="830997"/>
          </a:xfrm>
          <a:prstGeom prst="rect">
            <a:avLst/>
          </a:prstGeom>
          <a:noFill/>
        </p:spPr>
        <p:txBody>
          <a:bodyPr wrap="square">
            <a:spAutoFit/>
          </a:bodyPr>
          <a:lstStyle/>
          <a:p>
            <a:pPr algn="ctr"/>
            <a:r>
              <a:rPr lang="fr-FR" sz="1200" b="1" dirty="0">
                <a:solidFill>
                  <a:srgbClr val="3494BA"/>
                </a:solidFill>
              </a:rPr>
              <a:t>Actions suivies par la Leader N dans la Communauté</a:t>
            </a:r>
          </a:p>
        </p:txBody>
      </p:sp>
      <p:sp>
        <p:nvSpPr>
          <p:cNvPr id="39" name="ZoneTexte 38">
            <a:extLst>
              <a:ext uri="{FF2B5EF4-FFF2-40B4-BE49-F238E27FC236}">
                <a16:creationId xmlns:a16="http://schemas.microsoft.com/office/drawing/2014/main" id="{6AC95011-A43E-BDB2-B351-AF7786647CF3}"/>
              </a:ext>
            </a:extLst>
          </p:cNvPr>
          <p:cNvSpPr txBox="1"/>
          <p:nvPr/>
        </p:nvSpPr>
        <p:spPr>
          <a:xfrm>
            <a:off x="5510231" y="2723266"/>
            <a:ext cx="1722134" cy="923330"/>
          </a:xfrm>
          <a:prstGeom prst="rect">
            <a:avLst/>
          </a:prstGeom>
          <a:noFill/>
        </p:spPr>
        <p:txBody>
          <a:bodyPr wrap="square">
            <a:spAutoFit/>
          </a:bodyPr>
          <a:lstStyle/>
          <a:p>
            <a:pPr algn="ctr"/>
            <a:r>
              <a:rPr lang="fr-FR" b="1" dirty="0">
                <a:solidFill>
                  <a:srgbClr val="ED7D31"/>
                </a:solidFill>
              </a:rPr>
              <a:t>DECOUPAGE EN DOMAINES</a:t>
            </a:r>
          </a:p>
          <a:p>
            <a:pPr algn="ctr"/>
            <a:r>
              <a:rPr lang="fr-FR" b="1" dirty="0">
                <a:solidFill>
                  <a:srgbClr val="ED7D31"/>
                </a:solidFill>
              </a:rPr>
              <a:t>PAR LEADERS</a:t>
            </a:r>
          </a:p>
        </p:txBody>
      </p:sp>
      <p:sp>
        <p:nvSpPr>
          <p:cNvPr id="40" name="ZoneTexte 39">
            <a:extLst>
              <a:ext uri="{FF2B5EF4-FFF2-40B4-BE49-F238E27FC236}">
                <a16:creationId xmlns:a16="http://schemas.microsoft.com/office/drawing/2014/main" id="{A93BFAAC-4FB1-BB0B-78C3-19B901EDC610}"/>
              </a:ext>
            </a:extLst>
          </p:cNvPr>
          <p:cNvSpPr txBox="1"/>
          <p:nvPr/>
        </p:nvSpPr>
        <p:spPr>
          <a:xfrm>
            <a:off x="5592726" y="1601786"/>
            <a:ext cx="1557143" cy="261610"/>
          </a:xfrm>
          <a:prstGeom prst="rect">
            <a:avLst/>
          </a:prstGeom>
          <a:noFill/>
        </p:spPr>
        <p:txBody>
          <a:bodyPr wrap="square">
            <a:spAutoFit/>
          </a:bodyPr>
          <a:lstStyle/>
          <a:p>
            <a:pPr algn="ctr"/>
            <a:r>
              <a:rPr lang="fr-FR" sz="1100" b="1" dirty="0"/>
              <a:t>Liste globale d’actions</a:t>
            </a:r>
          </a:p>
        </p:txBody>
      </p:sp>
      <p:pic>
        <p:nvPicPr>
          <p:cNvPr id="41" name="Graphique 40" descr="Priorités avec un remplissage uni">
            <a:extLst>
              <a:ext uri="{FF2B5EF4-FFF2-40B4-BE49-F238E27FC236}">
                <a16:creationId xmlns:a16="http://schemas.microsoft.com/office/drawing/2014/main" id="{1BDCE60A-2CBF-B939-4CDA-66EFF2DA92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44148" y="1686378"/>
            <a:ext cx="1171537" cy="1171537"/>
          </a:xfrm>
          <a:prstGeom prst="rect">
            <a:avLst/>
          </a:prstGeom>
        </p:spPr>
      </p:pic>
      <p:pic>
        <p:nvPicPr>
          <p:cNvPr id="42" name="Graphique 41" descr="Priorités avec un remplissage uni">
            <a:extLst>
              <a:ext uri="{FF2B5EF4-FFF2-40B4-BE49-F238E27FC236}">
                <a16:creationId xmlns:a16="http://schemas.microsoft.com/office/drawing/2014/main" id="{495C7548-6845-96C4-C39D-7FF0037DF0E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77085" y="4705593"/>
            <a:ext cx="837014" cy="837014"/>
          </a:xfrm>
          <a:prstGeom prst="rect">
            <a:avLst/>
          </a:prstGeom>
        </p:spPr>
      </p:pic>
      <p:pic>
        <p:nvPicPr>
          <p:cNvPr id="43" name="Graphique 42" descr="Priorités avec un remplissage uni">
            <a:extLst>
              <a:ext uri="{FF2B5EF4-FFF2-40B4-BE49-F238E27FC236}">
                <a16:creationId xmlns:a16="http://schemas.microsoft.com/office/drawing/2014/main" id="{36D16F61-C38A-FD34-9785-3638BF24D31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94539" y="4705593"/>
            <a:ext cx="837014" cy="837014"/>
          </a:xfrm>
          <a:prstGeom prst="rect">
            <a:avLst/>
          </a:prstGeom>
        </p:spPr>
      </p:pic>
      <p:pic>
        <p:nvPicPr>
          <p:cNvPr id="44" name="Graphique 43" descr="Priorités avec un remplissage uni">
            <a:extLst>
              <a:ext uri="{FF2B5EF4-FFF2-40B4-BE49-F238E27FC236}">
                <a16:creationId xmlns:a16="http://schemas.microsoft.com/office/drawing/2014/main" id="{ED8778ED-858F-FAA3-DDFE-F2B5BED4E2D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978658" y="4705593"/>
            <a:ext cx="837014" cy="837014"/>
          </a:xfrm>
          <a:prstGeom prst="rect">
            <a:avLst/>
          </a:prstGeom>
        </p:spPr>
      </p:pic>
      <p:pic>
        <p:nvPicPr>
          <p:cNvPr id="48" name="Graphique 47" descr="Ciseaux avec un remplissage uni">
            <a:extLst>
              <a:ext uri="{FF2B5EF4-FFF2-40B4-BE49-F238E27FC236}">
                <a16:creationId xmlns:a16="http://schemas.microsoft.com/office/drawing/2014/main" id="{A7285880-F364-DD2B-7348-18E5A599B12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37549" y="2752857"/>
            <a:ext cx="768174" cy="768174"/>
          </a:xfrm>
          <a:prstGeom prst="rect">
            <a:avLst/>
          </a:prstGeom>
        </p:spPr>
      </p:pic>
      <p:sp>
        <p:nvSpPr>
          <p:cNvPr id="49" name="Flèche : bas 48">
            <a:extLst>
              <a:ext uri="{FF2B5EF4-FFF2-40B4-BE49-F238E27FC236}">
                <a16:creationId xmlns:a16="http://schemas.microsoft.com/office/drawing/2014/main" id="{0190A845-E122-F56B-B713-247D91B0DEB3}"/>
              </a:ext>
            </a:extLst>
          </p:cNvPr>
          <p:cNvSpPr/>
          <p:nvPr/>
        </p:nvSpPr>
        <p:spPr>
          <a:xfrm>
            <a:off x="10125266" y="3726091"/>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Flèche : bas 49">
            <a:extLst>
              <a:ext uri="{FF2B5EF4-FFF2-40B4-BE49-F238E27FC236}">
                <a16:creationId xmlns:a16="http://schemas.microsoft.com/office/drawing/2014/main" id="{4D7CD5E8-227F-0BCF-0ADB-4286CD97E54F}"/>
              </a:ext>
            </a:extLst>
          </p:cNvPr>
          <p:cNvSpPr/>
          <p:nvPr/>
        </p:nvSpPr>
        <p:spPr>
          <a:xfrm rot="19457352">
            <a:off x="10945846" y="3578045"/>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Flèche : bas 50">
            <a:extLst>
              <a:ext uri="{FF2B5EF4-FFF2-40B4-BE49-F238E27FC236}">
                <a16:creationId xmlns:a16="http://schemas.microsoft.com/office/drawing/2014/main" id="{EEF62B1B-0486-C00F-5AF8-3139976674F0}"/>
              </a:ext>
            </a:extLst>
          </p:cNvPr>
          <p:cNvSpPr/>
          <p:nvPr/>
        </p:nvSpPr>
        <p:spPr>
          <a:xfrm rot="2847762">
            <a:off x="9299097" y="3539892"/>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ZoneTexte 51">
            <a:extLst>
              <a:ext uri="{FF2B5EF4-FFF2-40B4-BE49-F238E27FC236}">
                <a16:creationId xmlns:a16="http://schemas.microsoft.com/office/drawing/2014/main" id="{70557602-4B85-CA31-E059-60A220F4E5FA}"/>
              </a:ext>
            </a:extLst>
          </p:cNvPr>
          <p:cNvSpPr txBox="1"/>
          <p:nvPr/>
        </p:nvSpPr>
        <p:spPr>
          <a:xfrm>
            <a:off x="8260560" y="5685867"/>
            <a:ext cx="1270063" cy="646331"/>
          </a:xfrm>
          <a:prstGeom prst="rect">
            <a:avLst/>
          </a:prstGeom>
          <a:noFill/>
        </p:spPr>
        <p:txBody>
          <a:bodyPr wrap="square">
            <a:spAutoFit/>
          </a:bodyPr>
          <a:lstStyle/>
          <a:p>
            <a:pPr algn="ctr"/>
            <a:r>
              <a:rPr lang="fr-FR" sz="1200" b="1" dirty="0">
                <a:solidFill>
                  <a:srgbClr val="3494BA"/>
                </a:solidFill>
              </a:rPr>
              <a:t>Actions à valeur d’abord pour les membres</a:t>
            </a:r>
          </a:p>
        </p:txBody>
      </p:sp>
      <p:sp>
        <p:nvSpPr>
          <p:cNvPr id="53" name="ZoneTexte 52">
            <a:extLst>
              <a:ext uri="{FF2B5EF4-FFF2-40B4-BE49-F238E27FC236}">
                <a16:creationId xmlns:a16="http://schemas.microsoft.com/office/drawing/2014/main" id="{46ED0E5D-DF57-BAA9-95F4-DBCDA03A28EF}"/>
              </a:ext>
            </a:extLst>
          </p:cNvPr>
          <p:cNvSpPr txBox="1"/>
          <p:nvPr/>
        </p:nvSpPr>
        <p:spPr>
          <a:xfrm>
            <a:off x="9596913" y="5685867"/>
            <a:ext cx="1270063" cy="646331"/>
          </a:xfrm>
          <a:prstGeom prst="rect">
            <a:avLst/>
          </a:prstGeom>
          <a:noFill/>
        </p:spPr>
        <p:txBody>
          <a:bodyPr wrap="square">
            <a:spAutoFit/>
          </a:bodyPr>
          <a:lstStyle/>
          <a:p>
            <a:pPr algn="ctr"/>
            <a:r>
              <a:rPr lang="fr-FR" sz="1200" b="1" dirty="0">
                <a:solidFill>
                  <a:srgbClr val="3494BA"/>
                </a:solidFill>
              </a:rPr>
              <a:t>Actions à valeur d’abord pour les sponsors</a:t>
            </a:r>
          </a:p>
        </p:txBody>
      </p:sp>
      <p:sp>
        <p:nvSpPr>
          <p:cNvPr id="54" name="ZoneTexte 53">
            <a:extLst>
              <a:ext uri="{FF2B5EF4-FFF2-40B4-BE49-F238E27FC236}">
                <a16:creationId xmlns:a16="http://schemas.microsoft.com/office/drawing/2014/main" id="{BD972440-33AC-4E8A-E31A-3F678087EC83}"/>
              </a:ext>
            </a:extLst>
          </p:cNvPr>
          <p:cNvSpPr txBox="1"/>
          <p:nvPr/>
        </p:nvSpPr>
        <p:spPr>
          <a:xfrm>
            <a:off x="10862112" y="5681557"/>
            <a:ext cx="1270063" cy="646331"/>
          </a:xfrm>
          <a:prstGeom prst="rect">
            <a:avLst/>
          </a:prstGeom>
          <a:noFill/>
        </p:spPr>
        <p:txBody>
          <a:bodyPr wrap="square">
            <a:spAutoFit/>
          </a:bodyPr>
          <a:lstStyle/>
          <a:p>
            <a:pPr algn="ctr"/>
            <a:r>
              <a:rPr lang="fr-FR" sz="1200" b="1" dirty="0">
                <a:solidFill>
                  <a:srgbClr val="3494BA"/>
                </a:solidFill>
              </a:rPr>
              <a:t>Actions à valeur d’abord pour l’entreprise</a:t>
            </a:r>
          </a:p>
        </p:txBody>
      </p:sp>
      <p:sp>
        <p:nvSpPr>
          <p:cNvPr id="55" name="ZoneTexte 54">
            <a:extLst>
              <a:ext uri="{FF2B5EF4-FFF2-40B4-BE49-F238E27FC236}">
                <a16:creationId xmlns:a16="http://schemas.microsoft.com/office/drawing/2014/main" id="{DFB90C63-C94C-2082-432E-407D1E69105E}"/>
              </a:ext>
            </a:extLst>
          </p:cNvPr>
          <p:cNvSpPr txBox="1"/>
          <p:nvPr/>
        </p:nvSpPr>
        <p:spPr>
          <a:xfrm>
            <a:off x="8995289" y="2682739"/>
            <a:ext cx="2705478" cy="923330"/>
          </a:xfrm>
          <a:prstGeom prst="rect">
            <a:avLst/>
          </a:prstGeom>
          <a:noFill/>
        </p:spPr>
        <p:txBody>
          <a:bodyPr wrap="square">
            <a:spAutoFit/>
          </a:bodyPr>
          <a:lstStyle/>
          <a:p>
            <a:pPr algn="ctr"/>
            <a:r>
              <a:rPr lang="fr-FR" b="1" dirty="0">
                <a:solidFill>
                  <a:srgbClr val="ED7D31"/>
                </a:solidFill>
              </a:rPr>
              <a:t>DECOUPAGE EN DOMAINES</a:t>
            </a:r>
          </a:p>
          <a:p>
            <a:pPr algn="ctr"/>
            <a:r>
              <a:rPr lang="fr-FR" b="1" dirty="0">
                <a:solidFill>
                  <a:srgbClr val="ED7D31"/>
                </a:solidFill>
              </a:rPr>
              <a:t>PAR PARTIE PRENANTES</a:t>
            </a:r>
          </a:p>
        </p:txBody>
      </p:sp>
      <p:sp>
        <p:nvSpPr>
          <p:cNvPr id="56" name="ZoneTexte 55">
            <a:extLst>
              <a:ext uri="{FF2B5EF4-FFF2-40B4-BE49-F238E27FC236}">
                <a16:creationId xmlns:a16="http://schemas.microsoft.com/office/drawing/2014/main" id="{1E0B198D-7E3E-7DDF-FAD7-62B07CE8EFB5}"/>
              </a:ext>
            </a:extLst>
          </p:cNvPr>
          <p:cNvSpPr txBox="1"/>
          <p:nvPr/>
        </p:nvSpPr>
        <p:spPr>
          <a:xfrm>
            <a:off x="9626643" y="1597476"/>
            <a:ext cx="1557143" cy="261610"/>
          </a:xfrm>
          <a:prstGeom prst="rect">
            <a:avLst/>
          </a:prstGeom>
          <a:noFill/>
        </p:spPr>
        <p:txBody>
          <a:bodyPr wrap="square">
            <a:spAutoFit/>
          </a:bodyPr>
          <a:lstStyle/>
          <a:p>
            <a:pPr algn="ctr"/>
            <a:r>
              <a:rPr lang="fr-FR" sz="1100" b="1" dirty="0"/>
              <a:t>Liste globale d’actions</a:t>
            </a:r>
          </a:p>
        </p:txBody>
      </p:sp>
      <p:cxnSp>
        <p:nvCxnSpPr>
          <p:cNvPr id="58" name="Connecteur droit 57">
            <a:extLst>
              <a:ext uri="{FF2B5EF4-FFF2-40B4-BE49-F238E27FC236}">
                <a16:creationId xmlns:a16="http://schemas.microsoft.com/office/drawing/2014/main" id="{0A669F0E-FD0E-4A7D-FB3E-5310F183C348}"/>
              </a:ext>
            </a:extLst>
          </p:cNvPr>
          <p:cNvCxnSpPr/>
          <p:nvPr/>
        </p:nvCxnSpPr>
        <p:spPr>
          <a:xfrm>
            <a:off x="4121547" y="1597476"/>
            <a:ext cx="0" cy="4706814"/>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necteur droit 58">
            <a:extLst>
              <a:ext uri="{FF2B5EF4-FFF2-40B4-BE49-F238E27FC236}">
                <a16:creationId xmlns:a16="http://schemas.microsoft.com/office/drawing/2014/main" id="{3626A9CF-AE26-9B6D-58FE-1B8A26056366}"/>
              </a:ext>
            </a:extLst>
          </p:cNvPr>
          <p:cNvCxnSpPr/>
          <p:nvPr/>
        </p:nvCxnSpPr>
        <p:spPr>
          <a:xfrm>
            <a:off x="8260560" y="1650835"/>
            <a:ext cx="0" cy="4706814"/>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pic>
        <p:nvPicPr>
          <p:cNvPr id="57" name="Graphique 56" descr="Bâtiment avec un remplissage uni">
            <a:extLst>
              <a:ext uri="{FF2B5EF4-FFF2-40B4-BE49-F238E27FC236}">
                <a16:creationId xmlns:a16="http://schemas.microsoft.com/office/drawing/2014/main" id="{A85A4D9B-9A84-C1A8-BA87-0CD02DD11AD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268300" y="4275047"/>
            <a:ext cx="522648" cy="522648"/>
          </a:xfrm>
          <a:prstGeom prst="rect">
            <a:avLst/>
          </a:prstGeom>
        </p:spPr>
      </p:pic>
      <p:grpSp>
        <p:nvGrpSpPr>
          <p:cNvPr id="60" name="Groupe 59">
            <a:extLst>
              <a:ext uri="{FF2B5EF4-FFF2-40B4-BE49-F238E27FC236}">
                <a16:creationId xmlns:a16="http://schemas.microsoft.com/office/drawing/2014/main" id="{C9B0A187-C5AF-3DFF-5925-3FBC988A39A2}"/>
              </a:ext>
            </a:extLst>
          </p:cNvPr>
          <p:cNvGrpSpPr/>
          <p:nvPr/>
        </p:nvGrpSpPr>
        <p:grpSpPr>
          <a:xfrm>
            <a:off x="8685837" y="4275047"/>
            <a:ext cx="601851" cy="507408"/>
            <a:chOff x="8982504" y="3274976"/>
            <a:chExt cx="1230670" cy="1037553"/>
          </a:xfrm>
          <a:solidFill>
            <a:srgbClr val="3494BA"/>
          </a:solidFill>
        </p:grpSpPr>
        <p:pic>
          <p:nvPicPr>
            <p:cNvPr id="62" name="Graphique 61" descr="Utilisateur avec un remplissage uni">
              <a:extLst>
                <a:ext uri="{FF2B5EF4-FFF2-40B4-BE49-F238E27FC236}">
                  <a16:creationId xmlns:a16="http://schemas.microsoft.com/office/drawing/2014/main" id="{5261E639-4E29-ECD1-3B2A-5AC8796C1F9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301028" y="3274976"/>
              <a:ext cx="336064" cy="336064"/>
            </a:xfrm>
            <a:prstGeom prst="rect">
              <a:avLst/>
            </a:prstGeom>
          </p:spPr>
        </p:pic>
        <p:pic>
          <p:nvPicPr>
            <p:cNvPr id="64" name="Graphique 63" descr="Utilisateur avec un remplissage uni">
              <a:extLst>
                <a:ext uri="{FF2B5EF4-FFF2-40B4-BE49-F238E27FC236}">
                  <a16:creationId xmlns:a16="http://schemas.microsoft.com/office/drawing/2014/main" id="{364E44B7-DBA3-14E6-0B4C-4E48DAF40A06}"/>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54140" y="3512720"/>
              <a:ext cx="336064" cy="336064"/>
            </a:xfrm>
            <a:prstGeom prst="rect">
              <a:avLst/>
            </a:prstGeom>
          </p:spPr>
        </p:pic>
        <p:pic>
          <p:nvPicPr>
            <p:cNvPr id="66" name="Graphique 65" descr="Utilisateur avec un remplissage uni">
              <a:extLst>
                <a:ext uri="{FF2B5EF4-FFF2-40B4-BE49-F238E27FC236}">
                  <a16:creationId xmlns:a16="http://schemas.microsoft.com/office/drawing/2014/main" id="{F15AF07F-BBDF-372F-E6B0-27212A20830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345616" y="3561880"/>
              <a:ext cx="336064" cy="336064"/>
            </a:xfrm>
            <a:prstGeom prst="rect">
              <a:avLst/>
            </a:prstGeom>
          </p:spPr>
        </p:pic>
        <p:pic>
          <p:nvPicPr>
            <p:cNvPr id="68" name="Graphique 67" descr="Utilisateur avec un remplissage uni">
              <a:extLst>
                <a:ext uri="{FF2B5EF4-FFF2-40B4-BE49-F238E27FC236}">
                  <a16:creationId xmlns:a16="http://schemas.microsoft.com/office/drawing/2014/main" id="{F91C10C1-9CA9-A784-0670-BA04818241A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592504" y="3418428"/>
              <a:ext cx="336064" cy="336064"/>
            </a:xfrm>
            <a:prstGeom prst="rect">
              <a:avLst/>
            </a:prstGeom>
          </p:spPr>
        </p:pic>
        <p:pic>
          <p:nvPicPr>
            <p:cNvPr id="70" name="Graphique 69" descr="Utilisateur avec un remplissage uni">
              <a:extLst>
                <a:ext uri="{FF2B5EF4-FFF2-40B4-BE49-F238E27FC236}">
                  <a16:creationId xmlns:a16="http://schemas.microsoft.com/office/drawing/2014/main" id="{5FD76317-3A70-9B69-D0B5-EB6E1C907A0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635196" y="3680752"/>
              <a:ext cx="336064" cy="336064"/>
            </a:xfrm>
            <a:prstGeom prst="rect">
              <a:avLst/>
            </a:prstGeom>
          </p:spPr>
        </p:pic>
        <p:pic>
          <p:nvPicPr>
            <p:cNvPr id="72" name="Graphique 71" descr="Utilisateur avec un remplissage uni">
              <a:extLst>
                <a:ext uri="{FF2B5EF4-FFF2-40B4-BE49-F238E27FC236}">
                  <a16:creationId xmlns:a16="http://schemas.microsoft.com/office/drawing/2014/main" id="{CC8259EF-BDB8-E54B-0FBA-A134C046FF1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256440" y="3848784"/>
              <a:ext cx="336064" cy="336064"/>
            </a:xfrm>
            <a:prstGeom prst="rect">
              <a:avLst/>
            </a:prstGeom>
          </p:spPr>
        </p:pic>
        <p:pic>
          <p:nvPicPr>
            <p:cNvPr id="73" name="Graphique 72" descr="Utilisateur avec un remplissage uni">
              <a:extLst>
                <a:ext uri="{FF2B5EF4-FFF2-40B4-BE49-F238E27FC236}">
                  <a16:creationId xmlns:a16="http://schemas.microsoft.com/office/drawing/2014/main" id="{4E8B5226-3464-36B2-81A3-5D579DC6839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982504" y="3835028"/>
              <a:ext cx="336064" cy="336064"/>
            </a:xfrm>
            <a:prstGeom prst="rect">
              <a:avLst/>
            </a:prstGeom>
          </p:spPr>
        </p:pic>
        <p:pic>
          <p:nvPicPr>
            <p:cNvPr id="74" name="Graphique 73" descr="Utilisateur avec un remplissage uni">
              <a:extLst>
                <a:ext uri="{FF2B5EF4-FFF2-40B4-BE49-F238E27FC236}">
                  <a16:creationId xmlns:a16="http://schemas.microsoft.com/office/drawing/2014/main" id="{7D66F63A-2E32-7782-C7CE-307CCE9D7636}"/>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520868" y="3943076"/>
              <a:ext cx="336064" cy="336064"/>
            </a:xfrm>
            <a:prstGeom prst="rect">
              <a:avLst/>
            </a:prstGeom>
          </p:spPr>
        </p:pic>
        <p:pic>
          <p:nvPicPr>
            <p:cNvPr id="76" name="Graphique 75" descr="Utilisateur avec un remplissage uni">
              <a:extLst>
                <a:ext uri="{FF2B5EF4-FFF2-40B4-BE49-F238E27FC236}">
                  <a16:creationId xmlns:a16="http://schemas.microsoft.com/office/drawing/2014/main" id="{38BF968B-3DE8-54E2-8381-73DA6504F43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742772" y="3976465"/>
              <a:ext cx="336064" cy="336064"/>
            </a:xfrm>
            <a:prstGeom prst="rect">
              <a:avLst/>
            </a:prstGeom>
          </p:spPr>
        </p:pic>
        <p:pic>
          <p:nvPicPr>
            <p:cNvPr id="78" name="Graphique 77" descr="Utilisateur avec un remplissage uni">
              <a:extLst>
                <a:ext uri="{FF2B5EF4-FFF2-40B4-BE49-F238E27FC236}">
                  <a16:creationId xmlns:a16="http://schemas.microsoft.com/office/drawing/2014/main" id="{1140F053-39A7-A8FB-86C0-43FECD8684F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877110" y="3705332"/>
              <a:ext cx="336064" cy="336064"/>
            </a:xfrm>
            <a:prstGeom prst="rect">
              <a:avLst/>
            </a:prstGeom>
          </p:spPr>
        </p:pic>
        <p:pic>
          <p:nvPicPr>
            <p:cNvPr id="80" name="Graphique 79" descr="Utilisateur avec un remplissage uni">
              <a:extLst>
                <a:ext uri="{FF2B5EF4-FFF2-40B4-BE49-F238E27FC236}">
                  <a16:creationId xmlns:a16="http://schemas.microsoft.com/office/drawing/2014/main" id="{F6D35F50-7A11-CEBA-E8C5-1F343553BCD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856932" y="3429000"/>
              <a:ext cx="336064" cy="336064"/>
            </a:xfrm>
            <a:prstGeom prst="rect">
              <a:avLst/>
            </a:prstGeom>
          </p:spPr>
        </p:pic>
      </p:grpSp>
      <p:grpSp>
        <p:nvGrpSpPr>
          <p:cNvPr id="81" name="Groupe 80">
            <a:extLst>
              <a:ext uri="{FF2B5EF4-FFF2-40B4-BE49-F238E27FC236}">
                <a16:creationId xmlns:a16="http://schemas.microsoft.com/office/drawing/2014/main" id="{F962BABE-7B8D-77C7-8F93-8C5288D77C63}"/>
              </a:ext>
            </a:extLst>
          </p:cNvPr>
          <p:cNvGrpSpPr/>
          <p:nvPr/>
        </p:nvGrpSpPr>
        <p:grpSpPr>
          <a:xfrm>
            <a:off x="9915884" y="4288690"/>
            <a:ext cx="641801" cy="509005"/>
            <a:chOff x="5064446" y="1851546"/>
            <a:chExt cx="3517367" cy="2789586"/>
          </a:xfrm>
          <a:solidFill>
            <a:srgbClr val="3494BA"/>
          </a:solidFill>
        </p:grpSpPr>
        <p:pic>
          <p:nvPicPr>
            <p:cNvPr id="82" name="Graphique 81" descr="Employée de bureau avec un remplissage uni">
              <a:extLst>
                <a:ext uri="{FF2B5EF4-FFF2-40B4-BE49-F238E27FC236}">
                  <a16:creationId xmlns:a16="http://schemas.microsoft.com/office/drawing/2014/main" id="{8B609CBA-F838-FDA3-C255-FFF659BFB38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445784" y="2079750"/>
              <a:ext cx="2521669" cy="2521669"/>
            </a:xfrm>
            <a:prstGeom prst="rect">
              <a:avLst/>
            </a:prstGeom>
          </p:spPr>
        </p:pic>
        <p:pic>
          <p:nvPicPr>
            <p:cNvPr id="83" name="Graphique 82" descr="Mégaphone avec un remplissage uni">
              <a:extLst>
                <a:ext uri="{FF2B5EF4-FFF2-40B4-BE49-F238E27FC236}">
                  <a16:creationId xmlns:a16="http://schemas.microsoft.com/office/drawing/2014/main" id="{487C319C-3745-741D-7022-472AEAF13D0E}"/>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t="14658"/>
            <a:stretch/>
          </p:blipFill>
          <p:spPr>
            <a:xfrm rot="256443">
              <a:off x="7821274" y="2636665"/>
              <a:ext cx="760539" cy="649056"/>
            </a:xfrm>
            <a:prstGeom prst="rect">
              <a:avLst/>
            </a:prstGeom>
          </p:spPr>
        </p:pic>
        <p:pic>
          <p:nvPicPr>
            <p:cNvPr id="84" name="Graphique 83" descr="Bouclier coche avec un remplissage uni">
              <a:extLst>
                <a:ext uri="{FF2B5EF4-FFF2-40B4-BE49-F238E27FC236}">
                  <a16:creationId xmlns:a16="http://schemas.microsoft.com/office/drawing/2014/main" id="{CCC16969-9B42-7027-C6A9-F348585DFEC7}"/>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802847" y="3316113"/>
              <a:ext cx="632787" cy="632787"/>
            </a:xfrm>
            <a:prstGeom prst="rect">
              <a:avLst/>
            </a:prstGeom>
          </p:spPr>
        </p:pic>
        <p:pic>
          <p:nvPicPr>
            <p:cNvPr id="85" name="Graphique 84" descr="Tirelire avec un remplissage uni">
              <a:extLst>
                <a:ext uri="{FF2B5EF4-FFF2-40B4-BE49-F238E27FC236}">
                  <a16:creationId xmlns:a16="http://schemas.microsoft.com/office/drawing/2014/main" id="{CA07D1A9-1B87-E8B4-ED63-DB197065983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flipH="1">
              <a:off x="7507152" y="3954810"/>
              <a:ext cx="759628" cy="686322"/>
            </a:xfrm>
            <a:prstGeom prst="rect">
              <a:avLst/>
            </a:prstGeom>
          </p:spPr>
        </p:pic>
        <p:pic>
          <p:nvPicPr>
            <p:cNvPr id="86" name="Graphique 85" descr="Index pointant vers la droite vu du côté du dos de la main avec un remplissage uni">
              <a:extLst>
                <a:ext uri="{FF2B5EF4-FFF2-40B4-BE49-F238E27FC236}">
                  <a16:creationId xmlns:a16="http://schemas.microsoft.com/office/drawing/2014/main" id="{DA76E5F7-9680-C798-98B1-99DEA79E510E}"/>
                </a:ext>
              </a:extLst>
            </p:cNvPr>
            <p:cNvPicPr>
              <a:picLocks noChangeAspect="1"/>
            </p:cNvPicPr>
            <p:nvPr/>
          </p:nvPicPr>
          <p:blipFill rotWithShape="1">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t="13336"/>
            <a:stretch/>
          </p:blipFill>
          <p:spPr>
            <a:xfrm rot="18229742">
              <a:off x="7462263" y="1907472"/>
              <a:ext cx="838736" cy="726884"/>
            </a:xfrm>
            <a:prstGeom prst="rect">
              <a:avLst/>
            </a:prstGeom>
          </p:spPr>
        </p:pic>
        <p:pic>
          <p:nvPicPr>
            <p:cNvPr id="87" name="Graphique 86" descr="Calendrier journalier avec un remplissage uni">
              <a:extLst>
                <a:ext uri="{FF2B5EF4-FFF2-40B4-BE49-F238E27FC236}">
                  <a16:creationId xmlns:a16="http://schemas.microsoft.com/office/drawing/2014/main" id="{5EFA795D-9086-0CE6-5578-C02E3B2D393F}"/>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5266526" y="2469352"/>
              <a:ext cx="491841" cy="491841"/>
            </a:xfrm>
            <a:prstGeom prst="rect">
              <a:avLst/>
            </a:prstGeom>
          </p:spPr>
        </p:pic>
        <p:pic>
          <p:nvPicPr>
            <p:cNvPr id="88" name="Graphique 87" descr="Menottes avec un remplissage uni">
              <a:extLst>
                <a:ext uri="{FF2B5EF4-FFF2-40B4-BE49-F238E27FC236}">
                  <a16:creationId xmlns:a16="http://schemas.microsoft.com/office/drawing/2014/main" id="{528A669D-4EE1-D44E-ED5B-6584EC40F3F8}"/>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5064446" y="3093895"/>
              <a:ext cx="538611" cy="538611"/>
            </a:xfrm>
            <a:prstGeom prst="rect">
              <a:avLst/>
            </a:prstGeom>
          </p:spPr>
        </p:pic>
        <p:pic>
          <p:nvPicPr>
            <p:cNvPr id="89" name="Graphique 88" descr="Marteau d'officiel avec un remplissage uni">
              <a:extLst>
                <a:ext uri="{FF2B5EF4-FFF2-40B4-BE49-F238E27FC236}">
                  <a16:creationId xmlns:a16="http://schemas.microsoft.com/office/drawing/2014/main" id="{D5FCFF9D-654B-A1BF-2B3D-64B4135C50E0}"/>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5126450" y="3854695"/>
              <a:ext cx="538610" cy="499611"/>
            </a:xfrm>
            <a:prstGeom prst="rect">
              <a:avLst/>
            </a:prstGeom>
          </p:spPr>
        </p:pic>
      </p:grpSp>
      <p:pic>
        <p:nvPicPr>
          <p:cNvPr id="8" name="Graphique 7" descr="Case à cocher barrée avec un remplissage uni">
            <a:extLst>
              <a:ext uri="{FF2B5EF4-FFF2-40B4-BE49-F238E27FC236}">
                <a16:creationId xmlns:a16="http://schemas.microsoft.com/office/drawing/2014/main" id="{91406075-4EAD-568D-781E-723410CCF132}"/>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2903531" y="4028310"/>
            <a:ext cx="914400" cy="914400"/>
          </a:xfrm>
          <a:prstGeom prst="rect">
            <a:avLst/>
          </a:prstGeom>
        </p:spPr>
      </p:pic>
      <p:pic>
        <p:nvPicPr>
          <p:cNvPr id="12" name="Graphique 11" descr="Lumières allumées avec un remplissage uni">
            <a:extLst>
              <a:ext uri="{FF2B5EF4-FFF2-40B4-BE49-F238E27FC236}">
                <a16:creationId xmlns:a16="http://schemas.microsoft.com/office/drawing/2014/main" id="{E955D388-B5C9-6EC5-1F14-9D1A6A67EB15}"/>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511795" y="4069554"/>
            <a:ext cx="704585" cy="704585"/>
          </a:xfrm>
          <a:prstGeom prst="rect">
            <a:avLst/>
          </a:prstGeom>
        </p:spPr>
      </p:pic>
      <p:sp>
        <p:nvSpPr>
          <p:cNvPr id="14" name="Rectangle 13">
            <a:extLst>
              <a:ext uri="{FF2B5EF4-FFF2-40B4-BE49-F238E27FC236}">
                <a16:creationId xmlns:a16="http://schemas.microsoft.com/office/drawing/2014/main" id="{2B41517F-6B90-CB97-4D46-0E83C249E941}"/>
              </a:ext>
            </a:extLst>
          </p:cNvPr>
          <p:cNvSpPr/>
          <p:nvPr/>
        </p:nvSpPr>
        <p:spPr>
          <a:xfrm>
            <a:off x="1838708" y="4252326"/>
            <a:ext cx="444432" cy="453267"/>
          </a:xfrm>
          <a:prstGeom prst="rect">
            <a:avLst/>
          </a:prstGeom>
          <a:solidFill>
            <a:schemeClr val="bg1"/>
          </a:solid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9" name="Graphique 28" descr="Femme détective avec un remplissage uni">
            <a:extLst>
              <a:ext uri="{FF2B5EF4-FFF2-40B4-BE49-F238E27FC236}">
                <a16:creationId xmlns:a16="http://schemas.microsoft.com/office/drawing/2014/main" id="{461E465B-8A48-61C0-6A1C-F2DB08CB70E7}"/>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4644542" y="4081501"/>
            <a:ext cx="648184" cy="648184"/>
          </a:xfrm>
          <a:prstGeom prst="rect">
            <a:avLst/>
          </a:prstGeom>
        </p:spPr>
      </p:pic>
      <p:pic>
        <p:nvPicPr>
          <p:cNvPr id="31" name="Graphique 30" descr="Cowboy mâle avec un remplissage uni">
            <a:extLst>
              <a:ext uri="{FF2B5EF4-FFF2-40B4-BE49-F238E27FC236}">
                <a16:creationId xmlns:a16="http://schemas.microsoft.com/office/drawing/2014/main" id="{6D322A24-BBA8-26F1-11BB-6D422AE49A53}"/>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5840626" y="4201181"/>
            <a:ext cx="648184" cy="648184"/>
          </a:xfrm>
          <a:prstGeom prst="rect">
            <a:avLst/>
          </a:prstGeom>
        </p:spPr>
      </p:pic>
      <p:pic>
        <p:nvPicPr>
          <p:cNvPr id="46" name="Graphique 45" descr="Femme juge avec un remplissage uni">
            <a:extLst>
              <a:ext uri="{FF2B5EF4-FFF2-40B4-BE49-F238E27FC236}">
                <a16:creationId xmlns:a16="http://schemas.microsoft.com/office/drawing/2014/main" id="{89140334-94B7-2B4E-168F-6E16FA5474FB}"/>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7200555" y="4115305"/>
            <a:ext cx="648184" cy="648184"/>
          </a:xfrm>
          <a:prstGeom prst="rect">
            <a:avLst/>
          </a:prstGeom>
        </p:spPr>
      </p:pic>
    </p:spTree>
    <p:extLst>
      <p:ext uri="{BB962C8B-B14F-4D97-AF65-F5344CB8AC3E}">
        <p14:creationId xmlns:p14="http://schemas.microsoft.com/office/powerpoint/2010/main" val="277210151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5FE058C-C139-EBB0-5B1E-9DD9AE97EDA8}"/>
              </a:ext>
            </a:extLst>
          </p:cNvPr>
          <p:cNvSpPr>
            <a:spLocks noGrp="1"/>
          </p:cNvSpPr>
          <p:nvPr>
            <p:ph type="title"/>
          </p:nvPr>
        </p:nvSpPr>
        <p:spPr/>
        <p:txBody>
          <a:bodyPr>
            <a:noAutofit/>
          </a:bodyPr>
          <a:lstStyle/>
          <a:p>
            <a:r>
              <a:rPr lang="fr-FR" sz="3200" dirty="0"/>
              <a:t>Les niveaux de découpage en domaines</a:t>
            </a:r>
            <a:br>
              <a:rPr lang="fr-FR" sz="3200" dirty="0"/>
            </a:br>
            <a:r>
              <a:rPr lang="fr-FR" sz="3200" dirty="0">
                <a:solidFill>
                  <a:srgbClr val="00B050"/>
                </a:solidFill>
              </a:rPr>
              <a:t>Avantages</a:t>
            </a:r>
            <a:r>
              <a:rPr lang="fr-FR" sz="3200" dirty="0"/>
              <a:t> et </a:t>
            </a:r>
            <a:r>
              <a:rPr lang="fr-FR" sz="3200" dirty="0">
                <a:solidFill>
                  <a:srgbClr val="FF0000"/>
                </a:solidFill>
              </a:rPr>
              <a:t>Inconvénients</a:t>
            </a:r>
            <a:r>
              <a:rPr lang="fr-FR" sz="3200" dirty="0"/>
              <a:t> de chaque niveau de découpage</a:t>
            </a:r>
          </a:p>
        </p:txBody>
      </p:sp>
      <p:sp>
        <p:nvSpPr>
          <p:cNvPr id="16" name="ZoneTexte 15">
            <a:extLst>
              <a:ext uri="{FF2B5EF4-FFF2-40B4-BE49-F238E27FC236}">
                <a16:creationId xmlns:a16="http://schemas.microsoft.com/office/drawing/2014/main" id="{872CC055-F484-47D8-00A1-9717A71BBE5D}"/>
              </a:ext>
            </a:extLst>
          </p:cNvPr>
          <p:cNvSpPr txBox="1"/>
          <p:nvPr/>
        </p:nvSpPr>
        <p:spPr>
          <a:xfrm>
            <a:off x="5700214" y="1946760"/>
            <a:ext cx="2481820" cy="1209459"/>
          </a:xfrm>
          <a:prstGeom prst="rect">
            <a:avLst/>
          </a:prstGeom>
          <a:solidFill>
            <a:srgbClr val="54FFB3"/>
          </a:solidFill>
          <a:ln>
            <a:noFill/>
          </a:ln>
        </p:spPr>
        <p:txBody>
          <a:bodyPr wrap="square" anchor="ctr">
            <a:noAutofit/>
          </a:bodyPr>
          <a:lstStyle/>
          <a:p>
            <a:pPr algn="ctr"/>
            <a:r>
              <a:rPr lang="fr-FR" sz="1000" dirty="0"/>
              <a:t>Simplicité du « Tout au même endroit » : un seul outil, un seul processus, …</a:t>
            </a:r>
          </a:p>
          <a:p>
            <a:pPr algn="ctr"/>
            <a:r>
              <a:rPr lang="fr-FR" sz="1000" dirty="0"/>
              <a:t>Pas de perte de visibilité globale</a:t>
            </a:r>
          </a:p>
          <a:p>
            <a:pPr algn="ctr"/>
            <a:r>
              <a:rPr lang="fr-FR" sz="1000" dirty="0"/>
              <a:t>Mesure globale possible de l’activité.</a:t>
            </a:r>
          </a:p>
        </p:txBody>
      </p:sp>
      <p:sp>
        <p:nvSpPr>
          <p:cNvPr id="19" name="ZoneTexte 18">
            <a:extLst>
              <a:ext uri="{FF2B5EF4-FFF2-40B4-BE49-F238E27FC236}">
                <a16:creationId xmlns:a16="http://schemas.microsoft.com/office/drawing/2014/main" id="{AF94D30B-FD43-0B59-CA3E-8BF2B84D56C2}"/>
              </a:ext>
            </a:extLst>
          </p:cNvPr>
          <p:cNvSpPr txBox="1"/>
          <p:nvPr/>
        </p:nvSpPr>
        <p:spPr>
          <a:xfrm>
            <a:off x="8389379" y="1946760"/>
            <a:ext cx="2481820" cy="1209459"/>
          </a:xfrm>
          <a:prstGeom prst="rect">
            <a:avLst/>
          </a:prstGeom>
          <a:solidFill>
            <a:srgbClr val="FF7C80"/>
          </a:solidFill>
          <a:ln>
            <a:noFill/>
          </a:ln>
        </p:spPr>
        <p:txBody>
          <a:bodyPr wrap="square" anchor="ctr">
            <a:noAutofit/>
          </a:bodyPr>
          <a:lstStyle/>
          <a:p>
            <a:pPr algn="ctr"/>
            <a:r>
              <a:rPr lang="fr-FR" sz="1000" dirty="0"/>
              <a:t>Formalisme, outil, processus commun à trouver et à établir</a:t>
            </a:r>
          </a:p>
          <a:p>
            <a:pPr algn="ctr"/>
            <a:r>
              <a:rPr lang="fr-FR" sz="1000" dirty="0"/>
              <a:t>Difficile à gérer lorsqu’il y a un grand nombre d’éléments (perte de lisibilité), Filtres à mettre en place</a:t>
            </a:r>
          </a:p>
        </p:txBody>
      </p:sp>
      <p:sp>
        <p:nvSpPr>
          <p:cNvPr id="21" name="ZoneTexte 20">
            <a:extLst>
              <a:ext uri="{FF2B5EF4-FFF2-40B4-BE49-F238E27FC236}">
                <a16:creationId xmlns:a16="http://schemas.microsoft.com/office/drawing/2014/main" id="{07A89EEF-4139-8C25-71F6-B9B07F8C7086}"/>
              </a:ext>
            </a:extLst>
          </p:cNvPr>
          <p:cNvSpPr txBox="1"/>
          <p:nvPr/>
        </p:nvSpPr>
        <p:spPr>
          <a:xfrm>
            <a:off x="5700214" y="3590855"/>
            <a:ext cx="2481820" cy="1209459"/>
          </a:xfrm>
          <a:prstGeom prst="rect">
            <a:avLst/>
          </a:prstGeom>
          <a:solidFill>
            <a:srgbClr val="54FFB3"/>
          </a:solidFill>
          <a:ln>
            <a:noFill/>
          </a:ln>
        </p:spPr>
        <p:txBody>
          <a:bodyPr wrap="square" anchor="ctr">
            <a:noAutofit/>
          </a:bodyPr>
          <a:lstStyle/>
          <a:p>
            <a:pPr algn="ctr"/>
            <a:r>
              <a:rPr lang="fr-FR" sz="1000" dirty="0"/>
              <a:t>Autonomie (toutefois limitée) sur chaque domaine</a:t>
            </a:r>
          </a:p>
          <a:p>
            <a:pPr algn="ctr"/>
            <a:r>
              <a:rPr lang="fr-FR" sz="1000" dirty="0"/>
              <a:t>Possibilité d’utiliser des outils différents (même si peu recommandé)</a:t>
            </a:r>
          </a:p>
          <a:p>
            <a:pPr algn="ctr"/>
            <a:r>
              <a:rPr lang="fr-FR" sz="1000" dirty="0"/>
              <a:t>Fonctionne mieux qu’un seul grand sur un nombre élevé d’éléments à prioriser</a:t>
            </a:r>
          </a:p>
        </p:txBody>
      </p:sp>
      <p:sp>
        <p:nvSpPr>
          <p:cNvPr id="22" name="ZoneTexte 21">
            <a:extLst>
              <a:ext uri="{FF2B5EF4-FFF2-40B4-BE49-F238E27FC236}">
                <a16:creationId xmlns:a16="http://schemas.microsoft.com/office/drawing/2014/main" id="{FB4A4D7B-770B-4325-E1AB-2275527769C6}"/>
              </a:ext>
            </a:extLst>
          </p:cNvPr>
          <p:cNvSpPr txBox="1"/>
          <p:nvPr/>
        </p:nvSpPr>
        <p:spPr>
          <a:xfrm>
            <a:off x="8389379" y="3590855"/>
            <a:ext cx="2481820" cy="1209459"/>
          </a:xfrm>
          <a:prstGeom prst="rect">
            <a:avLst/>
          </a:prstGeom>
          <a:solidFill>
            <a:srgbClr val="FF7C80"/>
          </a:solidFill>
          <a:ln>
            <a:noFill/>
          </a:ln>
        </p:spPr>
        <p:txBody>
          <a:bodyPr wrap="square" anchor="ctr">
            <a:noAutofit/>
          </a:bodyPr>
          <a:lstStyle/>
          <a:p>
            <a:pPr algn="ctr"/>
            <a:r>
              <a:rPr lang="fr-FR" sz="1000" dirty="0"/>
              <a:t>Charge d’aligner plusieurs domaines et processus à trouver / établir (ex: PI Planning, réunion de </a:t>
            </a:r>
            <a:r>
              <a:rPr lang="fr-FR" sz="1000" dirty="0" err="1"/>
              <a:t>synchonisation</a:t>
            </a:r>
            <a:r>
              <a:rPr lang="fr-FR" sz="1000" dirty="0"/>
              <a:t>, …)</a:t>
            </a:r>
          </a:p>
          <a:p>
            <a:pPr algn="ctr"/>
            <a:endParaRPr lang="fr-FR" sz="1000" dirty="0"/>
          </a:p>
        </p:txBody>
      </p:sp>
      <p:sp>
        <p:nvSpPr>
          <p:cNvPr id="24" name="ZoneTexte 23">
            <a:extLst>
              <a:ext uri="{FF2B5EF4-FFF2-40B4-BE49-F238E27FC236}">
                <a16:creationId xmlns:a16="http://schemas.microsoft.com/office/drawing/2014/main" id="{A98BADFD-2F52-3048-FBDE-152408E13A01}"/>
              </a:ext>
            </a:extLst>
          </p:cNvPr>
          <p:cNvSpPr txBox="1"/>
          <p:nvPr/>
        </p:nvSpPr>
        <p:spPr>
          <a:xfrm>
            <a:off x="5700214" y="5234950"/>
            <a:ext cx="2481820" cy="1209459"/>
          </a:xfrm>
          <a:prstGeom prst="rect">
            <a:avLst/>
          </a:prstGeom>
          <a:solidFill>
            <a:srgbClr val="54FFB3"/>
          </a:solidFill>
          <a:ln>
            <a:noFill/>
          </a:ln>
        </p:spPr>
        <p:txBody>
          <a:bodyPr wrap="square" anchor="ctr">
            <a:noAutofit/>
          </a:bodyPr>
          <a:lstStyle/>
          <a:p>
            <a:pPr algn="ctr"/>
            <a:r>
              <a:rPr lang="fr-FR" sz="1000" dirty="0"/>
              <a:t>Autonomie et liberté sur la gestion de chaque sous-périmètre</a:t>
            </a:r>
          </a:p>
          <a:p>
            <a:pPr algn="ctr"/>
            <a:r>
              <a:rPr lang="fr-FR" sz="1000" dirty="0"/>
              <a:t>Possibilité d’utiliser des outils différents</a:t>
            </a:r>
          </a:p>
          <a:p>
            <a:pPr algn="ctr"/>
            <a:r>
              <a:rPr lang="fr-FR" sz="1000" dirty="0"/>
              <a:t>Pas de pression sur la synchronisation</a:t>
            </a:r>
          </a:p>
          <a:p>
            <a:pPr algn="ctr"/>
            <a:r>
              <a:rPr lang="fr-FR" sz="1000" dirty="0"/>
              <a:t>Quasiment inévitable sur un nombre très élevé d’éléments à prioriser</a:t>
            </a:r>
          </a:p>
        </p:txBody>
      </p:sp>
      <p:sp>
        <p:nvSpPr>
          <p:cNvPr id="25" name="ZoneTexte 24">
            <a:extLst>
              <a:ext uri="{FF2B5EF4-FFF2-40B4-BE49-F238E27FC236}">
                <a16:creationId xmlns:a16="http://schemas.microsoft.com/office/drawing/2014/main" id="{21F65DB2-2441-9413-39EC-C46B6E4F3E51}"/>
              </a:ext>
            </a:extLst>
          </p:cNvPr>
          <p:cNvSpPr txBox="1"/>
          <p:nvPr/>
        </p:nvSpPr>
        <p:spPr>
          <a:xfrm>
            <a:off x="8389379" y="5234950"/>
            <a:ext cx="2481820" cy="1209459"/>
          </a:xfrm>
          <a:prstGeom prst="rect">
            <a:avLst/>
          </a:prstGeom>
          <a:solidFill>
            <a:srgbClr val="FF7C80"/>
          </a:solidFill>
          <a:ln>
            <a:noFill/>
          </a:ln>
        </p:spPr>
        <p:txBody>
          <a:bodyPr wrap="square" anchor="ctr">
            <a:noAutofit/>
          </a:bodyPr>
          <a:lstStyle/>
          <a:p>
            <a:pPr algn="ctr"/>
            <a:r>
              <a:rPr lang="fr-FR" sz="1000" dirty="0"/>
              <a:t>Redondance</a:t>
            </a:r>
          </a:p>
          <a:p>
            <a:pPr algn="ctr"/>
            <a:r>
              <a:rPr lang="fr-FR" sz="1000" dirty="0"/>
              <a:t>Perte d’opportunités de synergie</a:t>
            </a:r>
          </a:p>
          <a:p>
            <a:pPr algn="ctr"/>
            <a:r>
              <a:rPr lang="fr-FR" sz="1000" dirty="0"/>
              <a:t>Perte de visibilité globale, Mesure globale de l’activité plus difficile</a:t>
            </a:r>
          </a:p>
          <a:p>
            <a:pPr algn="ctr"/>
            <a:endParaRPr lang="fr-FR" sz="1000" dirty="0"/>
          </a:p>
        </p:txBody>
      </p:sp>
      <p:sp>
        <p:nvSpPr>
          <p:cNvPr id="27" name="Flèche : double flèche horizontale 26">
            <a:extLst>
              <a:ext uri="{FF2B5EF4-FFF2-40B4-BE49-F238E27FC236}">
                <a16:creationId xmlns:a16="http://schemas.microsoft.com/office/drawing/2014/main" id="{5814C702-6307-753E-4916-525DBEEEF73A}"/>
              </a:ext>
            </a:extLst>
          </p:cNvPr>
          <p:cNvSpPr/>
          <p:nvPr/>
        </p:nvSpPr>
        <p:spPr>
          <a:xfrm rot="5400000">
            <a:off x="-171819" y="4178105"/>
            <a:ext cx="4592524" cy="3602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sp>
        <p:nvSpPr>
          <p:cNvPr id="28" name="ZoneTexte 27">
            <a:extLst>
              <a:ext uri="{FF2B5EF4-FFF2-40B4-BE49-F238E27FC236}">
                <a16:creationId xmlns:a16="http://schemas.microsoft.com/office/drawing/2014/main" id="{4C6CCB9D-F76F-62B2-2DE7-00357DA9ACB1}"/>
              </a:ext>
            </a:extLst>
          </p:cNvPr>
          <p:cNvSpPr txBox="1"/>
          <p:nvPr/>
        </p:nvSpPr>
        <p:spPr>
          <a:xfrm>
            <a:off x="377711" y="5845804"/>
            <a:ext cx="1802574" cy="369332"/>
          </a:xfrm>
          <a:prstGeom prst="rect">
            <a:avLst/>
          </a:prstGeom>
          <a:noFill/>
        </p:spPr>
        <p:txBody>
          <a:bodyPr wrap="square">
            <a:spAutoFit/>
          </a:bodyPr>
          <a:lstStyle/>
          <a:p>
            <a:pPr algn="ctr"/>
            <a:r>
              <a:rPr lang="fr-FR" b="1" dirty="0"/>
              <a:t>DÉCOUPAGE</a:t>
            </a:r>
          </a:p>
        </p:txBody>
      </p:sp>
      <p:pic>
        <p:nvPicPr>
          <p:cNvPr id="29" name="Graphique 28" descr="Priorités avec un remplissage uni">
            <a:extLst>
              <a:ext uri="{FF2B5EF4-FFF2-40B4-BE49-F238E27FC236}">
                <a16:creationId xmlns:a16="http://schemas.microsoft.com/office/drawing/2014/main" id="{E19BB55E-FEBB-F0F4-7DDA-634D7B29CD5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631085" y="1984682"/>
            <a:ext cx="1171537" cy="1171537"/>
          </a:xfrm>
          <a:prstGeom prst="rect">
            <a:avLst/>
          </a:prstGeom>
        </p:spPr>
      </p:pic>
      <p:sp>
        <p:nvSpPr>
          <p:cNvPr id="30" name="ZoneTexte 29">
            <a:extLst>
              <a:ext uri="{FF2B5EF4-FFF2-40B4-BE49-F238E27FC236}">
                <a16:creationId xmlns:a16="http://schemas.microsoft.com/office/drawing/2014/main" id="{23DB13F0-E96F-2AB3-A99C-9B1C24BA73AC}"/>
              </a:ext>
            </a:extLst>
          </p:cNvPr>
          <p:cNvSpPr txBox="1"/>
          <p:nvPr/>
        </p:nvSpPr>
        <p:spPr>
          <a:xfrm>
            <a:off x="252677" y="2117283"/>
            <a:ext cx="1802574" cy="646331"/>
          </a:xfrm>
          <a:prstGeom prst="rect">
            <a:avLst/>
          </a:prstGeom>
          <a:noFill/>
        </p:spPr>
        <p:txBody>
          <a:bodyPr wrap="square">
            <a:spAutoFit/>
          </a:bodyPr>
          <a:lstStyle/>
          <a:p>
            <a:pPr algn="ctr"/>
            <a:r>
              <a:rPr lang="fr-FR" b="1" dirty="0"/>
              <a:t>PAS DE DÉCOUPAGE</a:t>
            </a:r>
          </a:p>
        </p:txBody>
      </p:sp>
      <p:sp>
        <p:nvSpPr>
          <p:cNvPr id="31" name="ZoneTexte 30">
            <a:extLst>
              <a:ext uri="{FF2B5EF4-FFF2-40B4-BE49-F238E27FC236}">
                <a16:creationId xmlns:a16="http://schemas.microsoft.com/office/drawing/2014/main" id="{3E2557C8-BD10-7FC6-BE9C-FDBF1398D1F9}"/>
              </a:ext>
            </a:extLst>
          </p:cNvPr>
          <p:cNvSpPr txBox="1"/>
          <p:nvPr/>
        </p:nvSpPr>
        <p:spPr>
          <a:xfrm>
            <a:off x="392406" y="3722799"/>
            <a:ext cx="1802574" cy="646331"/>
          </a:xfrm>
          <a:prstGeom prst="rect">
            <a:avLst/>
          </a:prstGeom>
          <a:noFill/>
        </p:spPr>
        <p:txBody>
          <a:bodyPr wrap="square">
            <a:spAutoFit/>
          </a:bodyPr>
          <a:lstStyle/>
          <a:p>
            <a:pPr algn="ctr"/>
            <a:r>
              <a:rPr lang="fr-FR" b="1" dirty="0"/>
              <a:t>SEMI DÉCOUPAGE</a:t>
            </a:r>
          </a:p>
        </p:txBody>
      </p:sp>
      <p:pic>
        <p:nvPicPr>
          <p:cNvPr id="32" name="Graphique 31" descr="Priorités avec un remplissage uni">
            <a:extLst>
              <a:ext uri="{FF2B5EF4-FFF2-40B4-BE49-F238E27FC236}">
                <a16:creationId xmlns:a16="http://schemas.microsoft.com/office/drawing/2014/main" id="{D81787E5-7C2E-8284-804C-0E9DD8A8523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374737" y="5673500"/>
            <a:ext cx="713940" cy="713940"/>
          </a:xfrm>
          <a:prstGeom prst="rect">
            <a:avLst/>
          </a:prstGeom>
        </p:spPr>
      </p:pic>
      <p:pic>
        <p:nvPicPr>
          <p:cNvPr id="33" name="Graphique 32" descr="Priorités avec un remplissage uni">
            <a:extLst>
              <a:ext uri="{FF2B5EF4-FFF2-40B4-BE49-F238E27FC236}">
                <a16:creationId xmlns:a16="http://schemas.microsoft.com/office/drawing/2014/main" id="{BC5832F1-2422-7988-0E09-2106ED4EC47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45804" y="5673500"/>
            <a:ext cx="713940" cy="713940"/>
          </a:xfrm>
          <a:prstGeom prst="rect">
            <a:avLst/>
          </a:prstGeom>
        </p:spPr>
      </p:pic>
      <p:pic>
        <p:nvPicPr>
          <p:cNvPr id="34" name="Graphique 33" descr="Priorités avec un remplissage uni">
            <a:extLst>
              <a:ext uri="{FF2B5EF4-FFF2-40B4-BE49-F238E27FC236}">
                <a16:creationId xmlns:a16="http://schemas.microsoft.com/office/drawing/2014/main" id="{B87B3AA2-237A-9F92-B164-037846669D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516871" y="5673500"/>
            <a:ext cx="713940" cy="713940"/>
          </a:xfrm>
          <a:prstGeom prst="rect">
            <a:avLst/>
          </a:prstGeom>
        </p:spPr>
      </p:pic>
      <p:pic>
        <p:nvPicPr>
          <p:cNvPr id="35" name="Graphique 34" descr="Priorités avec un remplissage uni">
            <a:extLst>
              <a:ext uri="{FF2B5EF4-FFF2-40B4-BE49-F238E27FC236}">
                <a16:creationId xmlns:a16="http://schemas.microsoft.com/office/drawing/2014/main" id="{7E6AB379-FC12-ADDB-2884-CEDB3A2711A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374738" y="3760692"/>
            <a:ext cx="713940" cy="713940"/>
          </a:xfrm>
          <a:prstGeom prst="rect">
            <a:avLst/>
          </a:prstGeom>
        </p:spPr>
      </p:pic>
      <p:pic>
        <p:nvPicPr>
          <p:cNvPr id="36" name="Graphique 35" descr="Priorités avec un remplissage uni">
            <a:extLst>
              <a:ext uri="{FF2B5EF4-FFF2-40B4-BE49-F238E27FC236}">
                <a16:creationId xmlns:a16="http://schemas.microsoft.com/office/drawing/2014/main" id="{1A5ED745-356D-BE79-ACF6-740BB5B1BFF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48194" y="3760692"/>
            <a:ext cx="713940" cy="713940"/>
          </a:xfrm>
          <a:prstGeom prst="rect">
            <a:avLst/>
          </a:prstGeom>
        </p:spPr>
      </p:pic>
      <p:pic>
        <p:nvPicPr>
          <p:cNvPr id="37" name="Graphique 36" descr="Priorités avec un remplissage uni">
            <a:extLst>
              <a:ext uri="{FF2B5EF4-FFF2-40B4-BE49-F238E27FC236}">
                <a16:creationId xmlns:a16="http://schemas.microsoft.com/office/drawing/2014/main" id="{A95ECFA9-F2D4-1F02-1D3B-450DB759945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521649" y="3760692"/>
            <a:ext cx="713940" cy="713940"/>
          </a:xfrm>
          <a:prstGeom prst="rect">
            <a:avLst/>
          </a:prstGeom>
        </p:spPr>
      </p:pic>
      <p:pic>
        <p:nvPicPr>
          <p:cNvPr id="38" name="Graphique 37" descr="Lien avec un remplissage uni">
            <a:extLst>
              <a:ext uri="{FF2B5EF4-FFF2-40B4-BE49-F238E27FC236}">
                <a16:creationId xmlns:a16="http://schemas.microsoft.com/office/drawing/2014/main" id="{70BC22F7-3EA1-07CD-FE31-4EBD3803964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39836" y="3889062"/>
            <a:ext cx="457200" cy="457200"/>
          </a:xfrm>
          <a:prstGeom prst="rect">
            <a:avLst/>
          </a:prstGeom>
        </p:spPr>
      </p:pic>
      <p:pic>
        <p:nvPicPr>
          <p:cNvPr id="39" name="Graphique 38" descr="Lien avec un remplissage uni">
            <a:extLst>
              <a:ext uri="{FF2B5EF4-FFF2-40B4-BE49-F238E27FC236}">
                <a16:creationId xmlns:a16="http://schemas.microsoft.com/office/drawing/2014/main" id="{039D56B7-542B-85F3-BA28-5B86B4856FC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113292" y="3889062"/>
            <a:ext cx="457200" cy="457200"/>
          </a:xfrm>
          <a:prstGeom prst="rect">
            <a:avLst/>
          </a:prstGeom>
        </p:spPr>
      </p:pic>
      <p:pic>
        <p:nvPicPr>
          <p:cNvPr id="40" name="Graphique 39" descr="Ciseaux avec un remplissage uni">
            <a:extLst>
              <a:ext uri="{FF2B5EF4-FFF2-40B4-BE49-F238E27FC236}">
                <a16:creationId xmlns:a16="http://schemas.microsoft.com/office/drawing/2014/main" id="{3A46EAE3-466C-E126-BDC0-BBB87F5F229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734934" y="3250271"/>
            <a:ext cx="768174" cy="768174"/>
          </a:xfrm>
          <a:prstGeom prst="rect">
            <a:avLst/>
          </a:prstGeom>
        </p:spPr>
      </p:pic>
      <p:pic>
        <p:nvPicPr>
          <p:cNvPr id="41" name="Graphique 40" descr="Ciseaux avec un remplissage uni">
            <a:extLst>
              <a:ext uri="{FF2B5EF4-FFF2-40B4-BE49-F238E27FC236}">
                <a16:creationId xmlns:a16="http://schemas.microsoft.com/office/drawing/2014/main" id="{2B395912-AB5F-E411-94BE-1A829AC1A58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515437" y="4953937"/>
            <a:ext cx="768174" cy="768174"/>
          </a:xfrm>
          <a:prstGeom prst="rect">
            <a:avLst/>
          </a:prstGeom>
        </p:spPr>
      </p:pic>
      <p:pic>
        <p:nvPicPr>
          <p:cNvPr id="42" name="Graphique 41" descr="Ciseaux avec un remplissage uni">
            <a:extLst>
              <a:ext uri="{FF2B5EF4-FFF2-40B4-BE49-F238E27FC236}">
                <a16:creationId xmlns:a16="http://schemas.microsoft.com/office/drawing/2014/main" id="{31EB2366-ED3C-70B4-D31B-D37BD00255E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899524" y="5019765"/>
            <a:ext cx="768174" cy="768174"/>
          </a:xfrm>
          <a:prstGeom prst="rect">
            <a:avLst/>
          </a:prstGeom>
        </p:spPr>
      </p:pic>
    </p:spTree>
    <p:extLst>
      <p:ext uri="{BB962C8B-B14F-4D97-AF65-F5344CB8AC3E}">
        <p14:creationId xmlns:p14="http://schemas.microsoft.com/office/powerpoint/2010/main" val="354337578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5FE058C-C139-EBB0-5B1E-9DD9AE97EDA8}"/>
              </a:ext>
            </a:extLst>
          </p:cNvPr>
          <p:cNvSpPr>
            <a:spLocks noGrp="1"/>
          </p:cNvSpPr>
          <p:nvPr>
            <p:ph type="title"/>
          </p:nvPr>
        </p:nvSpPr>
        <p:spPr/>
        <p:txBody>
          <a:bodyPr>
            <a:noAutofit/>
          </a:bodyPr>
          <a:lstStyle/>
          <a:p>
            <a:r>
              <a:rPr lang="fr-FR" sz="3200" dirty="0"/>
              <a:t>Les niveaux de découpage en domaines</a:t>
            </a:r>
            <a:br>
              <a:rPr lang="fr-FR" sz="3200" dirty="0"/>
            </a:br>
            <a:r>
              <a:rPr lang="fr-FR" sz="3200" dirty="0">
                <a:solidFill>
                  <a:srgbClr val="ED7D31"/>
                </a:solidFill>
              </a:rPr>
              <a:t>Conditions favorables </a:t>
            </a:r>
            <a:r>
              <a:rPr lang="fr-FR" sz="3200" dirty="0"/>
              <a:t>à chaque niveau de découpage</a:t>
            </a:r>
          </a:p>
        </p:txBody>
      </p:sp>
      <p:sp>
        <p:nvSpPr>
          <p:cNvPr id="16" name="ZoneTexte 15">
            <a:extLst>
              <a:ext uri="{FF2B5EF4-FFF2-40B4-BE49-F238E27FC236}">
                <a16:creationId xmlns:a16="http://schemas.microsoft.com/office/drawing/2014/main" id="{872CC055-F484-47D8-00A1-9717A71BBE5D}"/>
              </a:ext>
            </a:extLst>
          </p:cNvPr>
          <p:cNvSpPr txBox="1"/>
          <p:nvPr/>
        </p:nvSpPr>
        <p:spPr>
          <a:xfrm>
            <a:off x="5700214" y="1946760"/>
            <a:ext cx="1407764" cy="1209459"/>
          </a:xfrm>
          <a:prstGeom prst="rect">
            <a:avLst/>
          </a:prstGeom>
          <a:solidFill>
            <a:srgbClr val="ED7D31"/>
          </a:solidFill>
          <a:ln>
            <a:noFill/>
          </a:ln>
        </p:spPr>
        <p:txBody>
          <a:bodyPr wrap="square" anchor="ctr">
            <a:noAutofit/>
          </a:bodyPr>
          <a:lstStyle/>
          <a:p>
            <a:pPr algn="ctr"/>
            <a:r>
              <a:rPr lang="fr-FR" sz="1000" dirty="0"/>
              <a:t>Petit nombre d’éléments à prioriser</a:t>
            </a:r>
          </a:p>
        </p:txBody>
      </p:sp>
      <p:sp>
        <p:nvSpPr>
          <p:cNvPr id="19" name="ZoneTexte 18">
            <a:extLst>
              <a:ext uri="{FF2B5EF4-FFF2-40B4-BE49-F238E27FC236}">
                <a16:creationId xmlns:a16="http://schemas.microsoft.com/office/drawing/2014/main" id="{AF94D30B-FD43-0B59-CA3E-8BF2B84D56C2}"/>
              </a:ext>
            </a:extLst>
          </p:cNvPr>
          <p:cNvSpPr txBox="1"/>
          <p:nvPr/>
        </p:nvSpPr>
        <p:spPr>
          <a:xfrm>
            <a:off x="8712360" y="1946760"/>
            <a:ext cx="1407764" cy="1209459"/>
          </a:xfrm>
          <a:prstGeom prst="rect">
            <a:avLst/>
          </a:prstGeom>
          <a:solidFill>
            <a:srgbClr val="ED7D31"/>
          </a:solidFill>
          <a:ln>
            <a:noFill/>
          </a:ln>
        </p:spPr>
        <p:txBody>
          <a:bodyPr wrap="square" anchor="ctr">
            <a:noAutofit/>
          </a:bodyPr>
          <a:lstStyle/>
          <a:p>
            <a:pPr algn="ctr"/>
            <a:r>
              <a:rPr lang="fr-FR" sz="1000" dirty="0"/>
              <a:t>La Communauté a peu de moyens</a:t>
            </a:r>
          </a:p>
        </p:txBody>
      </p:sp>
      <p:sp>
        <p:nvSpPr>
          <p:cNvPr id="21" name="ZoneTexte 20">
            <a:extLst>
              <a:ext uri="{FF2B5EF4-FFF2-40B4-BE49-F238E27FC236}">
                <a16:creationId xmlns:a16="http://schemas.microsoft.com/office/drawing/2014/main" id="{07A89EEF-4139-8C25-71F6-B9B07F8C7086}"/>
              </a:ext>
            </a:extLst>
          </p:cNvPr>
          <p:cNvSpPr txBox="1"/>
          <p:nvPr/>
        </p:nvSpPr>
        <p:spPr>
          <a:xfrm>
            <a:off x="5700214" y="3590855"/>
            <a:ext cx="1407764" cy="1209459"/>
          </a:xfrm>
          <a:prstGeom prst="rect">
            <a:avLst/>
          </a:prstGeom>
          <a:solidFill>
            <a:srgbClr val="ED7D31"/>
          </a:solidFill>
          <a:ln>
            <a:noFill/>
          </a:ln>
        </p:spPr>
        <p:txBody>
          <a:bodyPr wrap="square" anchor="ctr">
            <a:noAutofit/>
          </a:bodyPr>
          <a:lstStyle/>
          <a:p>
            <a:pPr algn="ctr"/>
            <a:r>
              <a:rPr lang="fr-FR" sz="1000" dirty="0"/>
              <a:t>Grand nombre d’éléments à prioriser</a:t>
            </a:r>
          </a:p>
        </p:txBody>
      </p:sp>
      <p:sp>
        <p:nvSpPr>
          <p:cNvPr id="22" name="ZoneTexte 21">
            <a:extLst>
              <a:ext uri="{FF2B5EF4-FFF2-40B4-BE49-F238E27FC236}">
                <a16:creationId xmlns:a16="http://schemas.microsoft.com/office/drawing/2014/main" id="{FB4A4D7B-770B-4325-E1AB-2275527769C6}"/>
              </a:ext>
            </a:extLst>
          </p:cNvPr>
          <p:cNvSpPr txBox="1"/>
          <p:nvPr/>
        </p:nvSpPr>
        <p:spPr>
          <a:xfrm>
            <a:off x="8712360" y="3590855"/>
            <a:ext cx="1407764" cy="1209459"/>
          </a:xfrm>
          <a:prstGeom prst="rect">
            <a:avLst/>
          </a:prstGeom>
          <a:solidFill>
            <a:srgbClr val="ED7D31"/>
          </a:solidFill>
          <a:ln>
            <a:noFill/>
          </a:ln>
        </p:spPr>
        <p:txBody>
          <a:bodyPr wrap="square" anchor="ctr">
            <a:noAutofit/>
          </a:bodyPr>
          <a:lstStyle/>
          <a:p>
            <a:pPr algn="ctr"/>
            <a:r>
              <a:rPr lang="fr-FR" sz="1000" dirty="0"/>
              <a:t>La Communauté commence à développer des sous-groupes</a:t>
            </a:r>
          </a:p>
        </p:txBody>
      </p:sp>
      <p:sp>
        <p:nvSpPr>
          <p:cNvPr id="24" name="ZoneTexte 23">
            <a:extLst>
              <a:ext uri="{FF2B5EF4-FFF2-40B4-BE49-F238E27FC236}">
                <a16:creationId xmlns:a16="http://schemas.microsoft.com/office/drawing/2014/main" id="{A98BADFD-2F52-3048-FBDE-152408E13A01}"/>
              </a:ext>
            </a:extLst>
          </p:cNvPr>
          <p:cNvSpPr txBox="1"/>
          <p:nvPr/>
        </p:nvSpPr>
        <p:spPr>
          <a:xfrm>
            <a:off x="5700214" y="5234950"/>
            <a:ext cx="1407764" cy="1209459"/>
          </a:xfrm>
          <a:prstGeom prst="rect">
            <a:avLst/>
          </a:prstGeom>
          <a:solidFill>
            <a:srgbClr val="ED7D31"/>
          </a:solidFill>
          <a:ln>
            <a:noFill/>
          </a:ln>
        </p:spPr>
        <p:txBody>
          <a:bodyPr wrap="square" anchor="ctr">
            <a:noAutofit/>
          </a:bodyPr>
          <a:lstStyle/>
          <a:p>
            <a:pPr algn="ctr"/>
            <a:r>
              <a:rPr lang="fr-FR" sz="1000" dirty="0"/>
              <a:t>Très grand nombre d’éléments à prioriser</a:t>
            </a:r>
          </a:p>
        </p:txBody>
      </p:sp>
      <p:sp>
        <p:nvSpPr>
          <p:cNvPr id="25" name="ZoneTexte 24">
            <a:extLst>
              <a:ext uri="{FF2B5EF4-FFF2-40B4-BE49-F238E27FC236}">
                <a16:creationId xmlns:a16="http://schemas.microsoft.com/office/drawing/2014/main" id="{21F65DB2-2441-9413-39EC-C46B6E4F3E51}"/>
              </a:ext>
            </a:extLst>
          </p:cNvPr>
          <p:cNvSpPr txBox="1"/>
          <p:nvPr/>
        </p:nvSpPr>
        <p:spPr>
          <a:xfrm>
            <a:off x="8712360" y="5234950"/>
            <a:ext cx="1407764" cy="1209459"/>
          </a:xfrm>
          <a:prstGeom prst="rect">
            <a:avLst/>
          </a:prstGeom>
          <a:solidFill>
            <a:srgbClr val="ED7D31"/>
          </a:solidFill>
          <a:ln>
            <a:noFill/>
          </a:ln>
        </p:spPr>
        <p:txBody>
          <a:bodyPr wrap="square" anchor="ctr">
            <a:noAutofit/>
          </a:bodyPr>
          <a:lstStyle/>
          <a:p>
            <a:pPr algn="ctr"/>
            <a:r>
              <a:rPr lang="fr-FR" sz="1000" dirty="0"/>
              <a:t>Les sous-groupes de la Communauté commencent à développer leurs spécificités, leur autonomie, leur volonté d’indépendance</a:t>
            </a:r>
          </a:p>
        </p:txBody>
      </p:sp>
      <p:sp>
        <p:nvSpPr>
          <p:cNvPr id="23" name="Flèche : double flèche horizontale 22">
            <a:extLst>
              <a:ext uri="{FF2B5EF4-FFF2-40B4-BE49-F238E27FC236}">
                <a16:creationId xmlns:a16="http://schemas.microsoft.com/office/drawing/2014/main" id="{1C025180-6888-2143-B4C7-576E9932875C}"/>
              </a:ext>
            </a:extLst>
          </p:cNvPr>
          <p:cNvSpPr/>
          <p:nvPr/>
        </p:nvSpPr>
        <p:spPr>
          <a:xfrm rot="5400000">
            <a:off x="-44272" y="4140183"/>
            <a:ext cx="4592524" cy="3602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sp>
        <p:nvSpPr>
          <p:cNvPr id="26" name="ZoneTexte 25">
            <a:extLst>
              <a:ext uri="{FF2B5EF4-FFF2-40B4-BE49-F238E27FC236}">
                <a16:creationId xmlns:a16="http://schemas.microsoft.com/office/drawing/2014/main" id="{7F52B02D-6397-0727-D233-3E070CD8F231}"/>
              </a:ext>
            </a:extLst>
          </p:cNvPr>
          <p:cNvSpPr txBox="1"/>
          <p:nvPr/>
        </p:nvSpPr>
        <p:spPr>
          <a:xfrm>
            <a:off x="505258" y="5807882"/>
            <a:ext cx="1802574" cy="369332"/>
          </a:xfrm>
          <a:prstGeom prst="rect">
            <a:avLst/>
          </a:prstGeom>
          <a:noFill/>
        </p:spPr>
        <p:txBody>
          <a:bodyPr wrap="square">
            <a:spAutoFit/>
          </a:bodyPr>
          <a:lstStyle/>
          <a:p>
            <a:pPr algn="ctr"/>
            <a:r>
              <a:rPr lang="fr-FR" b="1" dirty="0"/>
              <a:t>DÉCOUPAGE</a:t>
            </a:r>
          </a:p>
        </p:txBody>
      </p:sp>
      <p:pic>
        <p:nvPicPr>
          <p:cNvPr id="27" name="Graphique 26" descr="Priorités avec un remplissage uni">
            <a:extLst>
              <a:ext uri="{FF2B5EF4-FFF2-40B4-BE49-F238E27FC236}">
                <a16:creationId xmlns:a16="http://schemas.microsoft.com/office/drawing/2014/main" id="{B7321DD4-D38D-1BB3-98C3-1A38B301DAA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758632" y="1946760"/>
            <a:ext cx="1171537" cy="1171537"/>
          </a:xfrm>
          <a:prstGeom prst="rect">
            <a:avLst/>
          </a:prstGeom>
        </p:spPr>
      </p:pic>
      <p:sp>
        <p:nvSpPr>
          <p:cNvPr id="28" name="ZoneTexte 27">
            <a:extLst>
              <a:ext uri="{FF2B5EF4-FFF2-40B4-BE49-F238E27FC236}">
                <a16:creationId xmlns:a16="http://schemas.microsoft.com/office/drawing/2014/main" id="{D4C5461C-4030-4F52-3597-F8D42099A02F}"/>
              </a:ext>
            </a:extLst>
          </p:cNvPr>
          <p:cNvSpPr txBox="1"/>
          <p:nvPr/>
        </p:nvSpPr>
        <p:spPr>
          <a:xfrm>
            <a:off x="380224" y="2079361"/>
            <a:ext cx="1802574" cy="646331"/>
          </a:xfrm>
          <a:prstGeom prst="rect">
            <a:avLst/>
          </a:prstGeom>
          <a:noFill/>
        </p:spPr>
        <p:txBody>
          <a:bodyPr wrap="square">
            <a:spAutoFit/>
          </a:bodyPr>
          <a:lstStyle/>
          <a:p>
            <a:pPr algn="ctr"/>
            <a:r>
              <a:rPr lang="fr-FR" b="1" dirty="0"/>
              <a:t>PAS DE DÉCOUPAGE</a:t>
            </a:r>
          </a:p>
        </p:txBody>
      </p:sp>
      <p:sp>
        <p:nvSpPr>
          <p:cNvPr id="29" name="ZoneTexte 28">
            <a:extLst>
              <a:ext uri="{FF2B5EF4-FFF2-40B4-BE49-F238E27FC236}">
                <a16:creationId xmlns:a16="http://schemas.microsoft.com/office/drawing/2014/main" id="{DC2A34AD-2446-868A-2CE9-98200929EC53}"/>
              </a:ext>
            </a:extLst>
          </p:cNvPr>
          <p:cNvSpPr txBox="1"/>
          <p:nvPr/>
        </p:nvSpPr>
        <p:spPr>
          <a:xfrm>
            <a:off x="519953" y="3684877"/>
            <a:ext cx="1802574" cy="646331"/>
          </a:xfrm>
          <a:prstGeom prst="rect">
            <a:avLst/>
          </a:prstGeom>
          <a:noFill/>
        </p:spPr>
        <p:txBody>
          <a:bodyPr wrap="square">
            <a:spAutoFit/>
          </a:bodyPr>
          <a:lstStyle/>
          <a:p>
            <a:pPr algn="ctr"/>
            <a:r>
              <a:rPr lang="fr-FR" b="1" dirty="0"/>
              <a:t>SEMI DÉCOUPAGE</a:t>
            </a:r>
          </a:p>
        </p:txBody>
      </p:sp>
      <p:pic>
        <p:nvPicPr>
          <p:cNvPr id="30" name="Graphique 29" descr="Priorités avec un remplissage uni">
            <a:extLst>
              <a:ext uri="{FF2B5EF4-FFF2-40B4-BE49-F238E27FC236}">
                <a16:creationId xmlns:a16="http://schemas.microsoft.com/office/drawing/2014/main" id="{8E552DE5-FD55-8701-6783-5AD219AE64E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502284" y="5635578"/>
            <a:ext cx="713940" cy="713940"/>
          </a:xfrm>
          <a:prstGeom prst="rect">
            <a:avLst/>
          </a:prstGeom>
        </p:spPr>
      </p:pic>
      <p:pic>
        <p:nvPicPr>
          <p:cNvPr id="31" name="Graphique 30" descr="Priorités avec un remplissage uni">
            <a:extLst>
              <a:ext uri="{FF2B5EF4-FFF2-40B4-BE49-F238E27FC236}">
                <a16:creationId xmlns:a16="http://schemas.microsoft.com/office/drawing/2014/main" id="{43C57032-39EF-8A94-26B6-2927843F0F1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73351" y="5635578"/>
            <a:ext cx="713940" cy="713940"/>
          </a:xfrm>
          <a:prstGeom prst="rect">
            <a:avLst/>
          </a:prstGeom>
        </p:spPr>
      </p:pic>
      <p:pic>
        <p:nvPicPr>
          <p:cNvPr id="32" name="Graphique 31" descr="Priorités avec un remplissage uni">
            <a:extLst>
              <a:ext uri="{FF2B5EF4-FFF2-40B4-BE49-F238E27FC236}">
                <a16:creationId xmlns:a16="http://schemas.microsoft.com/office/drawing/2014/main" id="{8228C242-4CCD-299F-18FC-0C0C1D81161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644418" y="5635578"/>
            <a:ext cx="713940" cy="713940"/>
          </a:xfrm>
          <a:prstGeom prst="rect">
            <a:avLst/>
          </a:prstGeom>
        </p:spPr>
      </p:pic>
      <p:pic>
        <p:nvPicPr>
          <p:cNvPr id="33" name="Graphique 32" descr="Priorités avec un remplissage uni">
            <a:extLst>
              <a:ext uri="{FF2B5EF4-FFF2-40B4-BE49-F238E27FC236}">
                <a16:creationId xmlns:a16="http://schemas.microsoft.com/office/drawing/2014/main" id="{7E5AC918-7895-F1DD-41B5-33F890FB021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502285" y="3722770"/>
            <a:ext cx="713940" cy="713940"/>
          </a:xfrm>
          <a:prstGeom prst="rect">
            <a:avLst/>
          </a:prstGeom>
        </p:spPr>
      </p:pic>
      <p:pic>
        <p:nvPicPr>
          <p:cNvPr id="34" name="Graphique 33" descr="Priorités avec un remplissage uni">
            <a:extLst>
              <a:ext uri="{FF2B5EF4-FFF2-40B4-BE49-F238E27FC236}">
                <a16:creationId xmlns:a16="http://schemas.microsoft.com/office/drawing/2014/main" id="{042C56CC-E6FE-4CC9-7D05-567D166E7C5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75741" y="3722770"/>
            <a:ext cx="713940" cy="713940"/>
          </a:xfrm>
          <a:prstGeom prst="rect">
            <a:avLst/>
          </a:prstGeom>
        </p:spPr>
      </p:pic>
      <p:pic>
        <p:nvPicPr>
          <p:cNvPr id="35" name="Graphique 34" descr="Priorités avec un remplissage uni">
            <a:extLst>
              <a:ext uri="{FF2B5EF4-FFF2-40B4-BE49-F238E27FC236}">
                <a16:creationId xmlns:a16="http://schemas.microsoft.com/office/drawing/2014/main" id="{529CA713-0E53-D7C4-6A27-3F6D2300C05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649196" y="3722770"/>
            <a:ext cx="713940" cy="713940"/>
          </a:xfrm>
          <a:prstGeom prst="rect">
            <a:avLst/>
          </a:prstGeom>
        </p:spPr>
      </p:pic>
      <p:pic>
        <p:nvPicPr>
          <p:cNvPr id="36" name="Graphique 35" descr="Lien avec un remplissage uni">
            <a:extLst>
              <a:ext uri="{FF2B5EF4-FFF2-40B4-BE49-F238E27FC236}">
                <a16:creationId xmlns:a16="http://schemas.microsoft.com/office/drawing/2014/main" id="{549A81F9-25E1-0636-3719-FBC807EB5D6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167383" y="3851140"/>
            <a:ext cx="457200" cy="457200"/>
          </a:xfrm>
          <a:prstGeom prst="rect">
            <a:avLst/>
          </a:prstGeom>
        </p:spPr>
      </p:pic>
      <p:pic>
        <p:nvPicPr>
          <p:cNvPr id="37" name="Graphique 36" descr="Lien avec un remplissage uni">
            <a:extLst>
              <a:ext uri="{FF2B5EF4-FFF2-40B4-BE49-F238E27FC236}">
                <a16:creationId xmlns:a16="http://schemas.microsoft.com/office/drawing/2014/main" id="{8B83BB78-DCAF-EE86-9615-FF06C283A1C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240839" y="3851140"/>
            <a:ext cx="457200" cy="457200"/>
          </a:xfrm>
          <a:prstGeom prst="rect">
            <a:avLst/>
          </a:prstGeom>
        </p:spPr>
      </p:pic>
      <p:pic>
        <p:nvPicPr>
          <p:cNvPr id="38" name="Graphique 37" descr="Ciseaux avec un remplissage uni">
            <a:extLst>
              <a:ext uri="{FF2B5EF4-FFF2-40B4-BE49-F238E27FC236}">
                <a16:creationId xmlns:a16="http://schemas.microsoft.com/office/drawing/2014/main" id="{F73ADA00-D73F-AA5E-56D0-4FBA173A7C1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862481" y="3212349"/>
            <a:ext cx="768174" cy="768174"/>
          </a:xfrm>
          <a:prstGeom prst="rect">
            <a:avLst/>
          </a:prstGeom>
        </p:spPr>
      </p:pic>
      <p:pic>
        <p:nvPicPr>
          <p:cNvPr id="39" name="Graphique 38" descr="Ciseaux avec un remplissage uni">
            <a:extLst>
              <a:ext uri="{FF2B5EF4-FFF2-40B4-BE49-F238E27FC236}">
                <a16:creationId xmlns:a16="http://schemas.microsoft.com/office/drawing/2014/main" id="{37EE8663-ED82-0A9A-DB7D-E9D8558E5B5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642984" y="4916015"/>
            <a:ext cx="768174" cy="768174"/>
          </a:xfrm>
          <a:prstGeom prst="rect">
            <a:avLst/>
          </a:prstGeom>
        </p:spPr>
      </p:pic>
      <p:pic>
        <p:nvPicPr>
          <p:cNvPr id="40" name="Graphique 39" descr="Ciseaux avec un remplissage uni">
            <a:extLst>
              <a:ext uri="{FF2B5EF4-FFF2-40B4-BE49-F238E27FC236}">
                <a16:creationId xmlns:a16="http://schemas.microsoft.com/office/drawing/2014/main" id="{D571709C-7DA7-AB84-22C3-DC8893265FD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027071" y="4981843"/>
            <a:ext cx="768174" cy="768174"/>
          </a:xfrm>
          <a:prstGeom prst="rect">
            <a:avLst/>
          </a:prstGeom>
        </p:spPr>
      </p:pic>
      <p:sp>
        <p:nvSpPr>
          <p:cNvPr id="41" name="ZoneTexte 40">
            <a:extLst>
              <a:ext uri="{FF2B5EF4-FFF2-40B4-BE49-F238E27FC236}">
                <a16:creationId xmlns:a16="http://schemas.microsoft.com/office/drawing/2014/main" id="{080C3B7A-DD8E-438A-4A69-8EDF6846EA98}"/>
              </a:ext>
            </a:extLst>
          </p:cNvPr>
          <p:cNvSpPr txBox="1"/>
          <p:nvPr/>
        </p:nvSpPr>
        <p:spPr>
          <a:xfrm>
            <a:off x="7192260" y="1946760"/>
            <a:ext cx="1407764" cy="1209459"/>
          </a:xfrm>
          <a:prstGeom prst="rect">
            <a:avLst/>
          </a:prstGeom>
          <a:solidFill>
            <a:srgbClr val="ED7D31"/>
          </a:solidFill>
          <a:ln>
            <a:noFill/>
          </a:ln>
        </p:spPr>
        <p:txBody>
          <a:bodyPr wrap="square" anchor="ctr">
            <a:noAutofit/>
          </a:bodyPr>
          <a:lstStyle/>
          <a:p>
            <a:pPr algn="ctr"/>
            <a:r>
              <a:rPr lang="fr-FR" sz="1000" dirty="0"/>
              <a:t>Eléments à prioriser assez homogènes</a:t>
            </a:r>
          </a:p>
        </p:txBody>
      </p:sp>
      <p:sp>
        <p:nvSpPr>
          <p:cNvPr id="42" name="ZoneTexte 41">
            <a:extLst>
              <a:ext uri="{FF2B5EF4-FFF2-40B4-BE49-F238E27FC236}">
                <a16:creationId xmlns:a16="http://schemas.microsoft.com/office/drawing/2014/main" id="{CCC1315E-8CFA-FC50-C97F-ACAF8130253A}"/>
              </a:ext>
            </a:extLst>
          </p:cNvPr>
          <p:cNvSpPr txBox="1"/>
          <p:nvPr/>
        </p:nvSpPr>
        <p:spPr>
          <a:xfrm>
            <a:off x="10204406" y="1946760"/>
            <a:ext cx="1407764" cy="1209459"/>
          </a:xfrm>
          <a:prstGeom prst="rect">
            <a:avLst/>
          </a:prstGeom>
          <a:solidFill>
            <a:srgbClr val="ED7D31"/>
          </a:solidFill>
          <a:ln>
            <a:noFill/>
          </a:ln>
        </p:spPr>
        <p:txBody>
          <a:bodyPr wrap="square" anchor="ctr">
            <a:noAutofit/>
          </a:bodyPr>
          <a:lstStyle/>
          <a:p>
            <a:pPr algn="ctr"/>
            <a:r>
              <a:rPr lang="fr-FR" sz="1000" dirty="0"/>
              <a:t>Les membres ne se sentent pas encore de prendre des décisions locales</a:t>
            </a:r>
          </a:p>
        </p:txBody>
      </p:sp>
      <p:sp>
        <p:nvSpPr>
          <p:cNvPr id="43" name="ZoneTexte 42">
            <a:extLst>
              <a:ext uri="{FF2B5EF4-FFF2-40B4-BE49-F238E27FC236}">
                <a16:creationId xmlns:a16="http://schemas.microsoft.com/office/drawing/2014/main" id="{7E584341-C92F-9B9F-5FD8-8261DE892F6D}"/>
              </a:ext>
            </a:extLst>
          </p:cNvPr>
          <p:cNvSpPr txBox="1"/>
          <p:nvPr/>
        </p:nvSpPr>
        <p:spPr>
          <a:xfrm>
            <a:off x="7192260" y="3590855"/>
            <a:ext cx="1407764" cy="1209459"/>
          </a:xfrm>
          <a:prstGeom prst="rect">
            <a:avLst/>
          </a:prstGeom>
          <a:solidFill>
            <a:srgbClr val="ED7D31"/>
          </a:solidFill>
          <a:ln>
            <a:noFill/>
          </a:ln>
        </p:spPr>
        <p:txBody>
          <a:bodyPr wrap="square" anchor="ctr">
            <a:noAutofit/>
          </a:bodyPr>
          <a:lstStyle/>
          <a:p>
            <a:pPr algn="ctr"/>
            <a:r>
              <a:rPr lang="fr-FR" sz="1000" dirty="0"/>
              <a:t>Les éléments à prioriser sont divisibles en catégories qui simplifieraient la priorisation</a:t>
            </a:r>
          </a:p>
        </p:txBody>
      </p:sp>
      <p:sp>
        <p:nvSpPr>
          <p:cNvPr id="44" name="ZoneTexte 43">
            <a:extLst>
              <a:ext uri="{FF2B5EF4-FFF2-40B4-BE49-F238E27FC236}">
                <a16:creationId xmlns:a16="http://schemas.microsoft.com/office/drawing/2014/main" id="{B128A436-236C-D3BD-04C6-44FE6141246A}"/>
              </a:ext>
            </a:extLst>
          </p:cNvPr>
          <p:cNvSpPr txBox="1"/>
          <p:nvPr/>
        </p:nvSpPr>
        <p:spPr>
          <a:xfrm>
            <a:off x="10204406" y="3590855"/>
            <a:ext cx="1407764" cy="1209459"/>
          </a:xfrm>
          <a:prstGeom prst="rect">
            <a:avLst/>
          </a:prstGeom>
          <a:solidFill>
            <a:srgbClr val="ED7D31"/>
          </a:solidFill>
          <a:ln>
            <a:noFill/>
          </a:ln>
        </p:spPr>
        <p:txBody>
          <a:bodyPr wrap="square" anchor="ctr">
            <a:noAutofit/>
          </a:bodyPr>
          <a:lstStyle/>
          <a:p>
            <a:pPr algn="ctr"/>
            <a:r>
              <a:rPr lang="fr-FR" sz="1000" dirty="0"/>
              <a:t>Les sous-groupes ont besoin d’être rattachés fortement à une vision globale </a:t>
            </a:r>
          </a:p>
        </p:txBody>
      </p:sp>
      <p:sp>
        <p:nvSpPr>
          <p:cNvPr id="45" name="ZoneTexte 44">
            <a:extLst>
              <a:ext uri="{FF2B5EF4-FFF2-40B4-BE49-F238E27FC236}">
                <a16:creationId xmlns:a16="http://schemas.microsoft.com/office/drawing/2014/main" id="{760F633C-7ADA-C20C-C110-D1B9A2286BE4}"/>
              </a:ext>
            </a:extLst>
          </p:cNvPr>
          <p:cNvSpPr txBox="1"/>
          <p:nvPr/>
        </p:nvSpPr>
        <p:spPr>
          <a:xfrm>
            <a:off x="7192260" y="5234950"/>
            <a:ext cx="1407764" cy="1209459"/>
          </a:xfrm>
          <a:prstGeom prst="rect">
            <a:avLst/>
          </a:prstGeom>
          <a:solidFill>
            <a:srgbClr val="ED7D31"/>
          </a:solidFill>
          <a:ln>
            <a:noFill/>
          </a:ln>
        </p:spPr>
        <p:txBody>
          <a:bodyPr wrap="square" anchor="ctr">
            <a:noAutofit/>
          </a:bodyPr>
          <a:lstStyle/>
          <a:p>
            <a:pPr algn="ctr"/>
            <a:r>
              <a:rPr lang="fr-FR" sz="1000" dirty="0"/>
              <a:t>Eléments hétérogènes avec catégories claires et distinctives</a:t>
            </a:r>
          </a:p>
        </p:txBody>
      </p:sp>
      <p:sp>
        <p:nvSpPr>
          <p:cNvPr id="46" name="ZoneTexte 45">
            <a:extLst>
              <a:ext uri="{FF2B5EF4-FFF2-40B4-BE49-F238E27FC236}">
                <a16:creationId xmlns:a16="http://schemas.microsoft.com/office/drawing/2014/main" id="{91965635-1712-8084-CD59-090DE1DECDF8}"/>
              </a:ext>
            </a:extLst>
          </p:cNvPr>
          <p:cNvSpPr txBox="1"/>
          <p:nvPr/>
        </p:nvSpPr>
        <p:spPr>
          <a:xfrm>
            <a:off x="10204406" y="5234950"/>
            <a:ext cx="1407764" cy="1209459"/>
          </a:xfrm>
          <a:prstGeom prst="rect">
            <a:avLst/>
          </a:prstGeom>
          <a:solidFill>
            <a:srgbClr val="ED7D31"/>
          </a:solidFill>
          <a:ln>
            <a:noFill/>
          </a:ln>
        </p:spPr>
        <p:txBody>
          <a:bodyPr wrap="square" anchor="ctr">
            <a:noAutofit/>
          </a:bodyPr>
          <a:lstStyle/>
          <a:p>
            <a:pPr algn="ctr"/>
            <a:r>
              <a:rPr lang="fr-FR" sz="1000" dirty="0"/>
              <a:t>Pas ou peu besoin d’une vision globale précise sur tout ce qui se passe dans la Communauté</a:t>
            </a:r>
          </a:p>
        </p:txBody>
      </p:sp>
    </p:spTree>
    <p:extLst>
      <p:ext uri="{BB962C8B-B14F-4D97-AF65-F5344CB8AC3E}">
        <p14:creationId xmlns:p14="http://schemas.microsoft.com/office/powerpoint/2010/main" val="1717861552"/>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69DA160-6DAA-BE40-587B-0E2C0F8C9F20}"/>
              </a:ext>
            </a:extLst>
          </p:cNvPr>
          <p:cNvSpPr>
            <a:spLocks noGrp="1"/>
          </p:cNvSpPr>
          <p:nvPr>
            <p:ph type="title"/>
          </p:nvPr>
        </p:nvSpPr>
        <p:spPr/>
        <p:txBody>
          <a:bodyPr>
            <a:normAutofit/>
          </a:bodyPr>
          <a:lstStyle/>
          <a:p>
            <a:r>
              <a:rPr lang="fr-FR" sz="3200" dirty="0"/>
              <a:t>Les niveaux de découpage en domaines</a:t>
            </a:r>
            <a:br>
              <a:rPr lang="fr-FR" sz="3200" dirty="0"/>
            </a:br>
            <a:r>
              <a:rPr lang="fr-FR" sz="3200" dirty="0"/>
              <a:t>Exemples de méthodes de priorisation</a:t>
            </a:r>
          </a:p>
        </p:txBody>
      </p:sp>
      <p:sp>
        <p:nvSpPr>
          <p:cNvPr id="13" name="Flèche : double flèche horizontale 12">
            <a:extLst>
              <a:ext uri="{FF2B5EF4-FFF2-40B4-BE49-F238E27FC236}">
                <a16:creationId xmlns:a16="http://schemas.microsoft.com/office/drawing/2014/main" id="{E43588F6-4C5B-4850-1A0F-DFA4289A2B68}"/>
              </a:ext>
            </a:extLst>
          </p:cNvPr>
          <p:cNvSpPr/>
          <p:nvPr/>
        </p:nvSpPr>
        <p:spPr>
          <a:xfrm rot="5400000">
            <a:off x="-271252" y="4016499"/>
            <a:ext cx="4592524" cy="3602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sp>
        <p:nvSpPr>
          <p:cNvPr id="14" name="ZoneTexte 13">
            <a:extLst>
              <a:ext uri="{FF2B5EF4-FFF2-40B4-BE49-F238E27FC236}">
                <a16:creationId xmlns:a16="http://schemas.microsoft.com/office/drawing/2014/main" id="{C228C8FC-A0F6-EEBE-3535-209232DEEDDC}"/>
              </a:ext>
            </a:extLst>
          </p:cNvPr>
          <p:cNvSpPr txBox="1"/>
          <p:nvPr/>
        </p:nvSpPr>
        <p:spPr>
          <a:xfrm>
            <a:off x="278278" y="5684198"/>
            <a:ext cx="1802574" cy="369332"/>
          </a:xfrm>
          <a:prstGeom prst="rect">
            <a:avLst/>
          </a:prstGeom>
          <a:noFill/>
        </p:spPr>
        <p:txBody>
          <a:bodyPr wrap="square">
            <a:spAutoFit/>
          </a:bodyPr>
          <a:lstStyle/>
          <a:p>
            <a:pPr algn="ctr"/>
            <a:r>
              <a:rPr lang="fr-FR" b="1" dirty="0"/>
              <a:t>DÉCOUPAGE</a:t>
            </a:r>
          </a:p>
        </p:txBody>
      </p:sp>
      <p:pic>
        <p:nvPicPr>
          <p:cNvPr id="15" name="Graphique 14" descr="Priorités avec un remplissage uni">
            <a:extLst>
              <a:ext uri="{FF2B5EF4-FFF2-40B4-BE49-F238E27FC236}">
                <a16:creationId xmlns:a16="http://schemas.microsoft.com/office/drawing/2014/main" id="{05AE0553-406F-3695-1585-F70690D58B7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31652" y="1823076"/>
            <a:ext cx="1171537" cy="1171537"/>
          </a:xfrm>
          <a:prstGeom prst="rect">
            <a:avLst/>
          </a:prstGeom>
        </p:spPr>
      </p:pic>
      <p:sp>
        <p:nvSpPr>
          <p:cNvPr id="16" name="ZoneTexte 15">
            <a:extLst>
              <a:ext uri="{FF2B5EF4-FFF2-40B4-BE49-F238E27FC236}">
                <a16:creationId xmlns:a16="http://schemas.microsoft.com/office/drawing/2014/main" id="{5A32EC78-8623-CC79-8498-82BF8F8CFFB0}"/>
              </a:ext>
            </a:extLst>
          </p:cNvPr>
          <p:cNvSpPr txBox="1"/>
          <p:nvPr/>
        </p:nvSpPr>
        <p:spPr>
          <a:xfrm>
            <a:off x="153244" y="1955677"/>
            <a:ext cx="1802574" cy="646331"/>
          </a:xfrm>
          <a:prstGeom prst="rect">
            <a:avLst/>
          </a:prstGeom>
          <a:noFill/>
        </p:spPr>
        <p:txBody>
          <a:bodyPr wrap="square">
            <a:spAutoFit/>
          </a:bodyPr>
          <a:lstStyle/>
          <a:p>
            <a:pPr algn="ctr"/>
            <a:r>
              <a:rPr lang="fr-FR" b="1" dirty="0"/>
              <a:t>PAS DE DÉCOUPAGE</a:t>
            </a:r>
          </a:p>
        </p:txBody>
      </p:sp>
      <p:sp>
        <p:nvSpPr>
          <p:cNvPr id="17" name="ZoneTexte 16">
            <a:extLst>
              <a:ext uri="{FF2B5EF4-FFF2-40B4-BE49-F238E27FC236}">
                <a16:creationId xmlns:a16="http://schemas.microsoft.com/office/drawing/2014/main" id="{C1124B51-CD8C-03F0-6D5C-6D21BF928F38}"/>
              </a:ext>
            </a:extLst>
          </p:cNvPr>
          <p:cNvSpPr txBox="1"/>
          <p:nvPr/>
        </p:nvSpPr>
        <p:spPr>
          <a:xfrm>
            <a:off x="292973" y="3561193"/>
            <a:ext cx="1802574" cy="646331"/>
          </a:xfrm>
          <a:prstGeom prst="rect">
            <a:avLst/>
          </a:prstGeom>
          <a:noFill/>
        </p:spPr>
        <p:txBody>
          <a:bodyPr wrap="square">
            <a:spAutoFit/>
          </a:bodyPr>
          <a:lstStyle/>
          <a:p>
            <a:pPr algn="ctr"/>
            <a:r>
              <a:rPr lang="fr-FR" b="1" dirty="0"/>
              <a:t>SEMI DÉCOUPAGE</a:t>
            </a:r>
          </a:p>
        </p:txBody>
      </p:sp>
      <p:pic>
        <p:nvPicPr>
          <p:cNvPr id="18" name="Graphique 17" descr="Priorités avec un remplissage uni">
            <a:extLst>
              <a:ext uri="{FF2B5EF4-FFF2-40B4-BE49-F238E27FC236}">
                <a16:creationId xmlns:a16="http://schemas.microsoft.com/office/drawing/2014/main" id="{732E7FCA-C1CB-3439-D9BA-CFE2E705D2F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275304" y="5511894"/>
            <a:ext cx="713940" cy="713940"/>
          </a:xfrm>
          <a:prstGeom prst="rect">
            <a:avLst/>
          </a:prstGeom>
        </p:spPr>
      </p:pic>
      <p:pic>
        <p:nvPicPr>
          <p:cNvPr id="19" name="Graphique 18" descr="Priorités avec un remplissage uni">
            <a:extLst>
              <a:ext uri="{FF2B5EF4-FFF2-40B4-BE49-F238E27FC236}">
                <a16:creationId xmlns:a16="http://schemas.microsoft.com/office/drawing/2014/main" id="{BDFE92E0-9068-B760-EEBE-ADD8F08945F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46371" y="5511894"/>
            <a:ext cx="713940" cy="713940"/>
          </a:xfrm>
          <a:prstGeom prst="rect">
            <a:avLst/>
          </a:prstGeom>
        </p:spPr>
      </p:pic>
      <p:pic>
        <p:nvPicPr>
          <p:cNvPr id="20" name="Graphique 19" descr="Priorités avec un remplissage uni">
            <a:extLst>
              <a:ext uri="{FF2B5EF4-FFF2-40B4-BE49-F238E27FC236}">
                <a16:creationId xmlns:a16="http://schemas.microsoft.com/office/drawing/2014/main" id="{E29DB3C8-7CEE-8B4F-9B99-5DA124316D8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417438" y="5511894"/>
            <a:ext cx="713940" cy="713940"/>
          </a:xfrm>
          <a:prstGeom prst="rect">
            <a:avLst/>
          </a:prstGeom>
        </p:spPr>
      </p:pic>
      <p:pic>
        <p:nvPicPr>
          <p:cNvPr id="21" name="Graphique 20" descr="Priorités avec un remplissage uni">
            <a:extLst>
              <a:ext uri="{FF2B5EF4-FFF2-40B4-BE49-F238E27FC236}">
                <a16:creationId xmlns:a16="http://schemas.microsoft.com/office/drawing/2014/main" id="{3C57A6B0-10AC-B46E-A31C-B4BE7629E92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275305" y="3599086"/>
            <a:ext cx="713940" cy="713940"/>
          </a:xfrm>
          <a:prstGeom prst="rect">
            <a:avLst/>
          </a:prstGeom>
        </p:spPr>
      </p:pic>
      <p:pic>
        <p:nvPicPr>
          <p:cNvPr id="22" name="Graphique 21" descr="Priorités avec un remplissage uni">
            <a:extLst>
              <a:ext uri="{FF2B5EF4-FFF2-40B4-BE49-F238E27FC236}">
                <a16:creationId xmlns:a16="http://schemas.microsoft.com/office/drawing/2014/main" id="{033155CC-199D-B20D-CAA5-89BC1192284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48761" y="3599086"/>
            <a:ext cx="713940" cy="713940"/>
          </a:xfrm>
          <a:prstGeom prst="rect">
            <a:avLst/>
          </a:prstGeom>
        </p:spPr>
      </p:pic>
      <p:pic>
        <p:nvPicPr>
          <p:cNvPr id="23" name="Graphique 22" descr="Priorités avec un remplissage uni">
            <a:extLst>
              <a:ext uri="{FF2B5EF4-FFF2-40B4-BE49-F238E27FC236}">
                <a16:creationId xmlns:a16="http://schemas.microsoft.com/office/drawing/2014/main" id="{F02EFCDF-9B76-FC5C-7494-6D730268B72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422216" y="3599086"/>
            <a:ext cx="713940" cy="713940"/>
          </a:xfrm>
          <a:prstGeom prst="rect">
            <a:avLst/>
          </a:prstGeom>
        </p:spPr>
      </p:pic>
      <p:pic>
        <p:nvPicPr>
          <p:cNvPr id="24" name="Graphique 23" descr="Lien avec un remplissage uni">
            <a:extLst>
              <a:ext uri="{FF2B5EF4-FFF2-40B4-BE49-F238E27FC236}">
                <a16:creationId xmlns:a16="http://schemas.microsoft.com/office/drawing/2014/main" id="{15B6A94C-996F-2178-DC3A-A7496B332CE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940403" y="3727456"/>
            <a:ext cx="457200" cy="457200"/>
          </a:xfrm>
          <a:prstGeom prst="rect">
            <a:avLst/>
          </a:prstGeom>
        </p:spPr>
      </p:pic>
      <p:pic>
        <p:nvPicPr>
          <p:cNvPr id="25" name="Graphique 24" descr="Lien avec un remplissage uni">
            <a:extLst>
              <a:ext uri="{FF2B5EF4-FFF2-40B4-BE49-F238E27FC236}">
                <a16:creationId xmlns:a16="http://schemas.microsoft.com/office/drawing/2014/main" id="{153CF6F6-2D2E-3F7B-7922-498CA7E7179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013859" y="3727456"/>
            <a:ext cx="457200" cy="457200"/>
          </a:xfrm>
          <a:prstGeom prst="rect">
            <a:avLst/>
          </a:prstGeom>
        </p:spPr>
      </p:pic>
      <p:pic>
        <p:nvPicPr>
          <p:cNvPr id="26" name="Graphique 25" descr="Ciseaux avec un remplissage uni">
            <a:extLst>
              <a:ext uri="{FF2B5EF4-FFF2-40B4-BE49-F238E27FC236}">
                <a16:creationId xmlns:a16="http://schemas.microsoft.com/office/drawing/2014/main" id="{F54E3D6D-1356-55F1-9877-BBED5ED51FE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635501" y="3088665"/>
            <a:ext cx="768174" cy="768174"/>
          </a:xfrm>
          <a:prstGeom prst="rect">
            <a:avLst/>
          </a:prstGeom>
        </p:spPr>
      </p:pic>
      <p:pic>
        <p:nvPicPr>
          <p:cNvPr id="27" name="Graphique 26" descr="Ciseaux avec un remplissage uni">
            <a:extLst>
              <a:ext uri="{FF2B5EF4-FFF2-40B4-BE49-F238E27FC236}">
                <a16:creationId xmlns:a16="http://schemas.microsoft.com/office/drawing/2014/main" id="{880DD3DC-870F-3E84-46C5-1E08BF39480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416004" y="4792331"/>
            <a:ext cx="768174" cy="768174"/>
          </a:xfrm>
          <a:prstGeom prst="rect">
            <a:avLst/>
          </a:prstGeom>
        </p:spPr>
      </p:pic>
      <p:pic>
        <p:nvPicPr>
          <p:cNvPr id="28" name="Graphique 27" descr="Ciseaux avec un remplissage uni">
            <a:extLst>
              <a:ext uri="{FF2B5EF4-FFF2-40B4-BE49-F238E27FC236}">
                <a16:creationId xmlns:a16="http://schemas.microsoft.com/office/drawing/2014/main" id="{283FACAD-6527-CF6D-910D-BC74CFEB274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800091" y="4858159"/>
            <a:ext cx="768174" cy="768174"/>
          </a:xfrm>
          <a:prstGeom prst="rect">
            <a:avLst/>
          </a:prstGeom>
        </p:spPr>
      </p:pic>
      <p:sp>
        <p:nvSpPr>
          <p:cNvPr id="29" name="ZoneTexte 28">
            <a:extLst>
              <a:ext uri="{FF2B5EF4-FFF2-40B4-BE49-F238E27FC236}">
                <a16:creationId xmlns:a16="http://schemas.microsoft.com/office/drawing/2014/main" id="{0A00404D-D1E7-89DE-F915-12CC27439430}"/>
              </a:ext>
            </a:extLst>
          </p:cNvPr>
          <p:cNvSpPr txBox="1"/>
          <p:nvPr/>
        </p:nvSpPr>
        <p:spPr>
          <a:xfrm>
            <a:off x="5647482" y="1785154"/>
            <a:ext cx="1657260" cy="1209459"/>
          </a:xfrm>
          <a:prstGeom prst="rect">
            <a:avLst/>
          </a:prstGeom>
          <a:solidFill>
            <a:schemeClr val="bg1">
              <a:lumMod val="85000"/>
            </a:schemeClr>
          </a:solidFill>
          <a:ln>
            <a:noFill/>
          </a:ln>
        </p:spPr>
        <p:txBody>
          <a:bodyPr wrap="square" anchor="ctr">
            <a:noAutofit/>
          </a:bodyPr>
          <a:lstStyle/>
          <a:p>
            <a:pPr algn="ctr"/>
            <a:r>
              <a:rPr lang="fr-FR" sz="1200" b="1" dirty="0"/>
              <a:t>Priorisation globale </a:t>
            </a:r>
          </a:p>
          <a:p>
            <a:pPr algn="ctr"/>
            <a:endParaRPr lang="fr-FR" sz="1200" b="1" dirty="0"/>
          </a:p>
          <a:p>
            <a:pPr algn="ctr"/>
            <a:r>
              <a:rPr lang="fr-FR" sz="1200" dirty="0"/>
              <a:t> Un grand exercice de priorisation avec tout</a:t>
            </a:r>
          </a:p>
        </p:txBody>
      </p:sp>
      <p:sp>
        <p:nvSpPr>
          <p:cNvPr id="31" name="ZoneTexte 30">
            <a:extLst>
              <a:ext uri="{FF2B5EF4-FFF2-40B4-BE49-F238E27FC236}">
                <a16:creationId xmlns:a16="http://schemas.microsoft.com/office/drawing/2014/main" id="{D69883C2-641E-906C-9A90-ED3DED69B8CC}"/>
              </a:ext>
            </a:extLst>
          </p:cNvPr>
          <p:cNvSpPr txBox="1"/>
          <p:nvPr/>
        </p:nvSpPr>
        <p:spPr>
          <a:xfrm>
            <a:off x="5647482" y="3429249"/>
            <a:ext cx="1657260" cy="1209459"/>
          </a:xfrm>
          <a:prstGeom prst="rect">
            <a:avLst/>
          </a:prstGeom>
          <a:solidFill>
            <a:schemeClr val="bg1">
              <a:lumMod val="85000"/>
            </a:schemeClr>
          </a:solidFill>
          <a:ln>
            <a:noFill/>
          </a:ln>
        </p:spPr>
        <p:txBody>
          <a:bodyPr wrap="square" anchor="ctr">
            <a:noAutofit/>
          </a:bodyPr>
          <a:lstStyle/>
          <a:p>
            <a:pPr algn="ctr"/>
            <a:r>
              <a:rPr lang="fr-FR" sz="1200" b="1" dirty="0"/>
              <a:t>Priorisation « Top Down »</a:t>
            </a:r>
          </a:p>
          <a:p>
            <a:pPr algn="ctr"/>
            <a:endParaRPr lang="fr-FR" sz="1200" b="1" dirty="0"/>
          </a:p>
          <a:p>
            <a:pPr algn="ctr"/>
            <a:r>
              <a:rPr lang="fr-FR" sz="1200" dirty="0"/>
              <a:t>On priorise un domaine central « maître » avant de prioriser les autres</a:t>
            </a:r>
          </a:p>
        </p:txBody>
      </p:sp>
      <p:sp>
        <p:nvSpPr>
          <p:cNvPr id="32" name="ZoneTexte 31">
            <a:extLst>
              <a:ext uri="{FF2B5EF4-FFF2-40B4-BE49-F238E27FC236}">
                <a16:creationId xmlns:a16="http://schemas.microsoft.com/office/drawing/2014/main" id="{8A9DD2D4-9A6D-F7B5-D1A6-B25AEA1F418C}"/>
              </a:ext>
            </a:extLst>
          </p:cNvPr>
          <p:cNvSpPr txBox="1"/>
          <p:nvPr/>
        </p:nvSpPr>
        <p:spPr>
          <a:xfrm>
            <a:off x="7443198" y="3429249"/>
            <a:ext cx="1657260" cy="1209459"/>
          </a:xfrm>
          <a:prstGeom prst="rect">
            <a:avLst/>
          </a:prstGeom>
          <a:solidFill>
            <a:schemeClr val="bg1">
              <a:lumMod val="85000"/>
            </a:schemeClr>
          </a:solidFill>
          <a:ln>
            <a:noFill/>
          </a:ln>
        </p:spPr>
        <p:txBody>
          <a:bodyPr wrap="square" anchor="ctr">
            <a:noAutofit/>
          </a:bodyPr>
          <a:lstStyle/>
          <a:p>
            <a:pPr algn="ctr"/>
            <a:r>
              <a:rPr lang="fr-FR" sz="1200" b="1" dirty="0"/>
              <a:t>Priorisation « Bottom Up » </a:t>
            </a:r>
          </a:p>
          <a:p>
            <a:pPr algn="ctr"/>
            <a:r>
              <a:rPr lang="fr-FR" sz="1200" dirty="0"/>
              <a:t>On priorise les domaines localement avant de faire une priorisation globale</a:t>
            </a:r>
          </a:p>
        </p:txBody>
      </p:sp>
      <p:sp>
        <p:nvSpPr>
          <p:cNvPr id="33" name="ZoneTexte 32">
            <a:extLst>
              <a:ext uri="{FF2B5EF4-FFF2-40B4-BE49-F238E27FC236}">
                <a16:creationId xmlns:a16="http://schemas.microsoft.com/office/drawing/2014/main" id="{6FD80CFF-9C26-FF60-F087-DEC92E80A53B}"/>
              </a:ext>
            </a:extLst>
          </p:cNvPr>
          <p:cNvSpPr txBox="1"/>
          <p:nvPr/>
        </p:nvSpPr>
        <p:spPr>
          <a:xfrm>
            <a:off x="5647482" y="5073344"/>
            <a:ext cx="1657260" cy="1209459"/>
          </a:xfrm>
          <a:prstGeom prst="rect">
            <a:avLst/>
          </a:prstGeom>
          <a:solidFill>
            <a:schemeClr val="bg1">
              <a:lumMod val="85000"/>
            </a:schemeClr>
          </a:solidFill>
          <a:ln>
            <a:noFill/>
          </a:ln>
        </p:spPr>
        <p:txBody>
          <a:bodyPr wrap="square" anchor="ctr">
            <a:noAutofit/>
          </a:bodyPr>
          <a:lstStyle/>
          <a:p>
            <a:pPr algn="ctr"/>
            <a:r>
              <a:rPr lang="fr-FR" sz="1200" b="1" dirty="0"/>
              <a:t>Priorisation « No influence » </a:t>
            </a:r>
          </a:p>
          <a:p>
            <a:pPr algn="ctr"/>
            <a:r>
              <a:rPr lang="fr-FR" sz="1200" dirty="0"/>
              <a:t>Chaque domaine est priorisé de son côté sans aucun lien avec les autres</a:t>
            </a:r>
          </a:p>
        </p:txBody>
      </p:sp>
      <p:sp>
        <p:nvSpPr>
          <p:cNvPr id="36" name="ZoneTexte 35">
            <a:extLst>
              <a:ext uri="{FF2B5EF4-FFF2-40B4-BE49-F238E27FC236}">
                <a16:creationId xmlns:a16="http://schemas.microsoft.com/office/drawing/2014/main" id="{C9D268DC-7288-559A-E44A-0B6871B784E9}"/>
              </a:ext>
            </a:extLst>
          </p:cNvPr>
          <p:cNvSpPr txBox="1"/>
          <p:nvPr/>
        </p:nvSpPr>
        <p:spPr>
          <a:xfrm>
            <a:off x="9250119" y="3429249"/>
            <a:ext cx="1657260" cy="1209459"/>
          </a:xfrm>
          <a:prstGeom prst="rect">
            <a:avLst/>
          </a:prstGeom>
          <a:solidFill>
            <a:schemeClr val="bg1">
              <a:lumMod val="85000"/>
            </a:schemeClr>
          </a:solidFill>
          <a:ln>
            <a:noFill/>
          </a:ln>
        </p:spPr>
        <p:txBody>
          <a:bodyPr wrap="square" anchor="ctr">
            <a:noAutofit/>
          </a:bodyPr>
          <a:lstStyle/>
          <a:p>
            <a:pPr algn="ctr"/>
            <a:r>
              <a:rPr lang="fr-FR" sz="1200" b="1" dirty="0"/>
              <a:t>Priorisation « </a:t>
            </a:r>
            <a:r>
              <a:rPr lang="fr-FR" sz="1200" b="1" dirty="0" err="1"/>
              <a:t>Equals</a:t>
            </a:r>
            <a:r>
              <a:rPr lang="fr-FR" sz="1200" b="1" dirty="0"/>
              <a:t> Sync »</a:t>
            </a:r>
          </a:p>
          <a:p>
            <a:pPr algn="ctr"/>
            <a:r>
              <a:rPr lang="fr-FR" sz="1200" dirty="0"/>
              <a:t>On priorise les périmètres en même temps avec une revue de synchronisation</a:t>
            </a:r>
          </a:p>
        </p:txBody>
      </p:sp>
    </p:spTree>
    <p:extLst>
      <p:ext uri="{BB962C8B-B14F-4D97-AF65-F5344CB8AC3E}">
        <p14:creationId xmlns:p14="http://schemas.microsoft.com/office/powerpoint/2010/main" val="2926916455"/>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8E6E72E-C166-4E9A-95E8-702C2E70BBD4}"/>
              </a:ext>
            </a:extLst>
          </p:cNvPr>
          <p:cNvSpPr>
            <a:spLocks noGrp="1"/>
          </p:cNvSpPr>
          <p:nvPr>
            <p:ph type="title"/>
          </p:nvPr>
        </p:nvSpPr>
        <p:spPr/>
        <p:txBody>
          <a:bodyPr>
            <a:normAutofit fontScale="90000"/>
          </a:bodyPr>
          <a:lstStyle/>
          <a:p>
            <a:r>
              <a:rPr lang="fr-FR" sz="3200" dirty="0"/>
              <a:t>Les priorisations en cas de « semi-découpage » et la synchronisation</a:t>
            </a:r>
            <a:br>
              <a:rPr lang="fr-FR" sz="3200" dirty="0"/>
            </a:br>
            <a:r>
              <a:rPr lang="fr-FR" sz="3200" dirty="0"/>
              <a:t>Exemples, </a:t>
            </a:r>
            <a:r>
              <a:rPr lang="fr-FR" sz="3200" dirty="0">
                <a:solidFill>
                  <a:srgbClr val="ED7D31"/>
                </a:solidFill>
              </a:rPr>
              <a:t>conditions favorables</a:t>
            </a:r>
            <a:r>
              <a:rPr lang="fr-FR" sz="3200" dirty="0"/>
              <a:t>, </a:t>
            </a:r>
            <a:r>
              <a:rPr lang="fr-FR" sz="3200" dirty="0">
                <a:solidFill>
                  <a:srgbClr val="00B050"/>
                </a:solidFill>
              </a:rPr>
              <a:t>avantages</a:t>
            </a:r>
            <a:r>
              <a:rPr lang="fr-FR" sz="3200" dirty="0"/>
              <a:t>, </a:t>
            </a:r>
            <a:r>
              <a:rPr lang="fr-FR" sz="3200" dirty="0">
                <a:solidFill>
                  <a:srgbClr val="FF0000"/>
                </a:solidFill>
              </a:rPr>
              <a:t>inconvénients</a:t>
            </a:r>
            <a:endParaRPr lang="fr-FR" sz="3200" dirty="0"/>
          </a:p>
        </p:txBody>
      </p:sp>
      <p:sp>
        <p:nvSpPr>
          <p:cNvPr id="5" name="ZoneTexte 4">
            <a:extLst>
              <a:ext uri="{FF2B5EF4-FFF2-40B4-BE49-F238E27FC236}">
                <a16:creationId xmlns:a16="http://schemas.microsoft.com/office/drawing/2014/main" id="{D2819C54-2444-4A51-0729-8D496F8FC4A1}"/>
              </a:ext>
            </a:extLst>
          </p:cNvPr>
          <p:cNvSpPr txBox="1"/>
          <p:nvPr/>
        </p:nvSpPr>
        <p:spPr>
          <a:xfrm>
            <a:off x="1548809" y="3129081"/>
            <a:ext cx="1657260" cy="1209459"/>
          </a:xfrm>
          <a:prstGeom prst="rect">
            <a:avLst/>
          </a:prstGeom>
          <a:solidFill>
            <a:schemeClr val="bg1">
              <a:lumMod val="85000"/>
            </a:schemeClr>
          </a:solidFill>
          <a:ln>
            <a:noFill/>
          </a:ln>
        </p:spPr>
        <p:txBody>
          <a:bodyPr wrap="square" anchor="ctr">
            <a:noAutofit/>
          </a:bodyPr>
          <a:lstStyle/>
          <a:p>
            <a:pPr algn="ctr"/>
            <a:r>
              <a:rPr lang="fr-FR" sz="1200" b="1" dirty="0"/>
              <a:t>Priorisation « Top Down »</a:t>
            </a:r>
          </a:p>
          <a:p>
            <a:pPr algn="ctr"/>
            <a:endParaRPr lang="fr-FR" sz="1200" b="1" dirty="0"/>
          </a:p>
          <a:p>
            <a:pPr algn="ctr"/>
            <a:r>
              <a:rPr lang="fr-FR" sz="1200" dirty="0"/>
              <a:t>On priorise un domaine central « maître » avant de prioriser les autres</a:t>
            </a:r>
          </a:p>
        </p:txBody>
      </p:sp>
      <p:sp>
        <p:nvSpPr>
          <p:cNvPr id="6" name="ZoneTexte 5">
            <a:extLst>
              <a:ext uri="{FF2B5EF4-FFF2-40B4-BE49-F238E27FC236}">
                <a16:creationId xmlns:a16="http://schemas.microsoft.com/office/drawing/2014/main" id="{563CFC61-0B96-4F64-CF95-58449216E8CD}"/>
              </a:ext>
            </a:extLst>
          </p:cNvPr>
          <p:cNvSpPr txBox="1"/>
          <p:nvPr/>
        </p:nvSpPr>
        <p:spPr>
          <a:xfrm>
            <a:off x="5354563" y="3129081"/>
            <a:ext cx="1657260" cy="1209459"/>
          </a:xfrm>
          <a:prstGeom prst="rect">
            <a:avLst/>
          </a:prstGeom>
          <a:solidFill>
            <a:schemeClr val="bg1">
              <a:lumMod val="85000"/>
            </a:schemeClr>
          </a:solidFill>
          <a:ln>
            <a:noFill/>
          </a:ln>
        </p:spPr>
        <p:txBody>
          <a:bodyPr wrap="square" anchor="ctr">
            <a:noAutofit/>
          </a:bodyPr>
          <a:lstStyle/>
          <a:p>
            <a:pPr algn="ctr"/>
            <a:r>
              <a:rPr lang="fr-FR" sz="1200" b="1" dirty="0"/>
              <a:t>Priorisation « Bottom Up » </a:t>
            </a:r>
          </a:p>
          <a:p>
            <a:pPr algn="ctr"/>
            <a:r>
              <a:rPr lang="fr-FR" sz="1200" dirty="0"/>
              <a:t>On priorise les domaines localement avant de faire une priorisation globale</a:t>
            </a:r>
          </a:p>
        </p:txBody>
      </p:sp>
      <p:sp>
        <p:nvSpPr>
          <p:cNvPr id="7" name="ZoneTexte 6">
            <a:extLst>
              <a:ext uri="{FF2B5EF4-FFF2-40B4-BE49-F238E27FC236}">
                <a16:creationId xmlns:a16="http://schemas.microsoft.com/office/drawing/2014/main" id="{60643E23-CE26-D36C-8AC3-307494D3B0E6}"/>
              </a:ext>
            </a:extLst>
          </p:cNvPr>
          <p:cNvSpPr txBox="1"/>
          <p:nvPr/>
        </p:nvSpPr>
        <p:spPr>
          <a:xfrm>
            <a:off x="9471710" y="3129081"/>
            <a:ext cx="1657260" cy="1209459"/>
          </a:xfrm>
          <a:prstGeom prst="rect">
            <a:avLst/>
          </a:prstGeom>
          <a:solidFill>
            <a:schemeClr val="bg1">
              <a:lumMod val="85000"/>
            </a:schemeClr>
          </a:solidFill>
          <a:ln>
            <a:noFill/>
          </a:ln>
        </p:spPr>
        <p:txBody>
          <a:bodyPr wrap="square" anchor="ctr">
            <a:noAutofit/>
          </a:bodyPr>
          <a:lstStyle/>
          <a:p>
            <a:pPr algn="ctr"/>
            <a:r>
              <a:rPr lang="fr-FR" sz="1200" b="1" dirty="0"/>
              <a:t>Priorisation « </a:t>
            </a:r>
            <a:r>
              <a:rPr lang="fr-FR" sz="1200" b="1" dirty="0" err="1"/>
              <a:t>Equals</a:t>
            </a:r>
            <a:r>
              <a:rPr lang="fr-FR" sz="1200" b="1" dirty="0"/>
              <a:t> Sync »</a:t>
            </a:r>
          </a:p>
          <a:p>
            <a:pPr algn="ctr"/>
            <a:r>
              <a:rPr lang="fr-FR" sz="1200" dirty="0"/>
              <a:t>On priorise les périmètres en même temps avec une revue de synchronisation</a:t>
            </a:r>
          </a:p>
        </p:txBody>
      </p:sp>
      <p:sp>
        <p:nvSpPr>
          <p:cNvPr id="8" name="ZoneTexte 7">
            <a:extLst>
              <a:ext uri="{FF2B5EF4-FFF2-40B4-BE49-F238E27FC236}">
                <a16:creationId xmlns:a16="http://schemas.microsoft.com/office/drawing/2014/main" id="{B1B60C2D-B6A4-4D11-DB5F-46F043D02DD9}"/>
              </a:ext>
            </a:extLst>
          </p:cNvPr>
          <p:cNvSpPr txBox="1"/>
          <p:nvPr/>
        </p:nvSpPr>
        <p:spPr>
          <a:xfrm>
            <a:off x="174252" y="4489200"/>
            <a:ext cx="1738449" cy="1063875"/>
          </a:xfrm>
          <a:prstGeom prst="rect">
            <a:avLst/>
          </a:prstGeom>
          <a:solidFill>
            <a:schemeClr val="bg1"/>
          </a:solidFill>
          <a:ln>
            <a:solidFill>
              <a:schemeClr val="tx1"/>
            </a:solidFill>
          </a:ln>
        </p:spPr>
        <p:txBody>
          <a:bodyPr wrap="square" anchor="ctr">
            <a:noAutofit/>
          </a:bodyPr>
          <a:lstStyle/>
          <a:p>
            <a:pPr algn="ctr"/>
            <a:r>
              <a:rPr lang="fr-FR" sz="1000" dirty="0"/>
              <a:t>La Communauté priorise les thèmes tous ensemble, les sous-groupes choisissent leur thème, et définissent chacun ce qu’ils souhaitent faire sur chaque thème</a:t>
            </a:r>
          </a:p>
        </p:txBody>
      </p:sp>
      <p:pic>
        <p:nvPicPr>
          <p:cNvPr id="17" name="Graphique 16" descr="Priorités avec un remplissage uni">
            <a:extLst>
              <a:ext uri="{FF2B5EF4-FFF2-40B4-BE49-F238E27FC236}">
                <a16:creationId xmlns:a16="http://schemas.microsoft.com/office/drawing/2014/main" id="{79409685-424E-6A22-B31D-FEC3BFB031C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121480" y="2653035"/>
            <a:ext cx="422880" cy="422880"/>
          </a:xfrm>
          <a:prstGeom prst="rect">
            <a:avLst/>
          </a:prstGeom>
        </p:spPr>
      </p:pic>
      <p:grpSp>
        <p:nvGrpSpPr>
          <p:cNvPr id="37" name="Groupe 36">
            <a:extLst>
              <a:ext uri="{FF2B5EF4-FFF2-40B4-BE49-F238E27FC236}">
                <a16:creationId xmlns:a16="http://schemas.microsoft.com/office/drawing/2014/main" id="{AD4CE3E4-1A06-543B-E4B5-03C7D430BAC2}"/>
              </a:ext>
            </a:extLst>
          </p:cNvPr>
          <p:cNvGrpSpPr/>
          <p:nvPr/>
        </p:nvGrpSpPr>
        <p:grpSpPr>
          <a:xfrm>
            <a:off x="1391613" y="1606587"/>
            <a:ext cx="1859315" cy="1364726"/>
            <a:chOff x="1391613" y="1606587"/>
            <a:chExt cx="1859315" cy="1364726"/>
          </a:xfrm>
        </p:grpSpPr>
        <p:pic>
          <p:nvPicPr>
            <p:cNvPr id="9" name="Graphique 8" descr="Priorités avec un remplissage uni">
              <a:extLst>
                <a:ext uri="{FF2B5EF4-FFF2-40B4-BE49-F238E27FC236}">
                  <a16:creationId xmlns:a16="http://schemas.microsoft.com/office/drawing/2014/main" id="{86952D2E-A42E-4B03-6BD0-3CC52C412E6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912701" y="1606587"/>
              <a:ext cx="713940" cy="713940"/>
            </a:xfrm>
            <a:prstGeom prst="rect">
              <a:avLst/>
            </a:prstGeom>
          </p:spPr>
        </p:pic>
        <p:grpSp>
          <p:nvGrpSpPr>
            <p:cNvPr id="19" name="Groupe 18">
              <a:extLst>
                <a:ext uri="{FF2B5EF4-FFF2-40B4-BE49-F238E27FC236}">
                  <a16:creationId xmlns:a16="http://schemas.microsoft.com/office/drawing/2014/main" id="{43296716-3EC3-2F83-7589-DD8F37843223}"/>
                </a:ext>
              </a:extLst>
            </p:cNvPr>
            <p:cNvGrpSpPr/>
            <p:nvPr/>
          </p:nvGrpSpPr>
          <p:grpSpPr>
            <a:xfrm>
              <a:off x="2702774" y="2193527"/>
              <a:ext cx="305789" cy="378666"/>
              <a:chOff x="2702774" y="2193527"/>
              <a:chExt cx="305789" cy="378666"/>
            </a:xfrm>
          </p:grpSpPr>
          <p:sp>
            <p:nvSpPr>
              <p:cNvPr id="11" name="Flèche : bas 10">
                <a:extLst>
                  <a:ext uri="{FF2B5EF4-FFF2-40B4-BE49-F238E27FC236}">
                    <a16:creationId xmlns:a16="http://schemas.microsoft.com/office/drawing/2014/main" id="{F43E1D8A-983D-C47D-E363-7E0B0D484145}"/>
                  </a:ext>
                </a:extLst>
              </p:cNvPr>
              <p:cNvSpPr/>
              <p:nvPr/>
            </p:nvSpPr>
            <p:spPr>
              <a:xfrm rot="19457352">
                <a:off x="2723721" y="2193527"/>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3" name="Graphique 12" descr="Lien avec un remplissage uni">
                <a:extLst>
                  <a:ext uri="{FF2B5EF4-FFF2-40B4-BE49-F238E27FC236}">
                    <a16:creationId xmlns:a16="http://schemas.microsoft.com/office/drawing/2014/main" id="{F718D0F2-3E7B-779B-2CBF-EDDDACD740A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551051">
                <a:off x="2702774" y="2205801"/>
                <a:ext cx="271731" cy="271731"/>
              </a:xfrm>
              <a:prstGeom prst="rect">
                <a:avLst/>
              </a:prstGeom>
            </p:spPr>
          </p:pic>
        </p:grpSp>
        <p:grpSp>
          <p:nvGrpSpPr>
            <p:cNvPr id="20" name="Groupe 19">
              <a:extLst>
                <a:ext uri="{FF2B5EF4-FFF2-40B4-BE49-F238E27FC236}">
                  <a16:creationId xmlns:a16="http://schemas.microsoft.com/office/drawing/2014/main" id="{5189C29B-B2E0-2B9F-F67B-A14F6D4DDD14}"/>
                </a:ext>
              </a:extLst>
            </p:cNvPr>
            <p:cNvGrpSpPr/>
            <p:nvPr/>
          </p:nvGrpSpPr>
          <p:grpSpPr>
            <a:xfrm>
              <a:off x="2211557" y="2234636"/>
              <a:ext cx="284842" cy="378666"/>
              <a:chOff x="2211557" y="2234636"/>
              <a:chExt cx="284842" cy="378666"/>
            </a:xfrm>
          </p:grpSpPr>
          <p:sp>
            <p:nvSpPr>
              <p:cNvPr id="10" name="Flèche : bas 9">
                <a:extLst>
                  <a:ext uri="{FF2B5EF4-FFF2-40B4-BE49-F238E27FC236}">
                    <a16:creationId xmlns:a16="http://schemas.microsoft.com/office/drawing/2014/main" id="{B8474D7F-73FA-93FC-4A93-E92357E4004B}"/>
                  </a:ext>
                </a:extLst>
              </p:cNvPr>
              <p:cNvSpPr/>
              <p:nvPr/>
            </p:nvSpPr>
            <p:spPr>
              <a:xfrm>
                <a:off x="2211557" y="2234636"/>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4" name="Graphique 13" descr="Lien avec un remplissage uni">
                <a:extLst>
                  <a:ext uri="{FF2B5EF4-FFF2-40B4-BE49-F238E27FC236}">
                    <a16:creationId xmlns:a16="http://schemas.microsoft.com/office/drawing/2014/main" id="{0F8795BB-9906-7987-AC46-4113B4B0276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678842">
                <a:off x="2219415" y="2240087"/>
                <a:ext cx="271731" cy="271731"/>
              </a:xfrm>
              <a:prstGeom prst="rect">
                <a:avLst/>
              </a:prstGeom>
            </p:spPr>
          </p:pic>
        </p:grpSp>
        <p:grpSp>
          <p:nvGrpSpPr>
            <p:cNvPr id="21" name="Groupe 20">
              <a:extLst>
                <a:ext uri="{FF2B5EF4-FFF2-40B4-BE49-F238E27FC236}">
                  <a16:creationId xmlns:a16="http://schemas.microsoft.com/office/drawing/2014/main" id="{A8BB96AE-2610-A91D-42B5-1FC8EB2004C3}"/>
                </a:ext>
              </a:extLst>
            </p:cNvPr>
            <p:cNvGrpSpPr/>
            <p:nvPr/>
          </p:nvGrpSpPr>
          <p:grpSpPr>
            <a:xfrm>
              <a:off x="1656188" y="2198922"/>
              <a:ext cx="378666" cy="319452"/>
              <a:chOff x="1656188" y="2198922"/>
              <a:chExt cx="378666" cy="319452"/>
            </a:xfrm>
          </p:grpSpPr>
          <p:sp>
            <p:nvSpPr>
              <p:cNvPr id="12" name="Flèche : bas 11">
                <a:extLst>
                  <a:ext uri="{FF2B5EF4-FFF2-40B4-BE49-F238E27FC236}">
                    <a16:creationId xmlns:a16="http://schemas.microsoft.com/office/drawing/2014/main" id="{137B93C6-E79E-FC67-28A0-794FD7F2F966}"/>
                  </a:ext>
                </a:extLst>
              </p:cNvPr>
              <p:cNvSpPr/>
              <p:nvPr/>
            </p:nvSpPr>
            <p:spPr>
              <a:xfrm rot="2847762">
                <a:off x="1703100" y="2186620"/>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 name="Graphique 14" descr="Lien avec un remplissage uni">
                <a:extLst>
                  <a:ext uri="{FF2B5EF4-FFF2-40B4-BE49-F238E27FC236}">
                    <a16:creationId xmlns:a16="http://schemas.microsoft.com/office/drawing/2014/main" id="{46A193E7-7E2A-3853-69C7-BDBE6855788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6200000">
                <a:off x="1753916" y="2198922"/>
                <a:ext cx="271731" cy="271731"/>
              </a:xfrm>
              <a:prstGeom prst="rect">
                <a:avLst/>
              </a:prstGeom>
            </p:spPr>
          </p:pic>
        </p:grpSp>
        <p:pic>
          <p:nvPicPr>
            <p:cNvPr id="16" name="Graphique 15" descr="Priorités avec un remplissage uni">
              <a:extLst>
                <a:ext uri="{FF2B5EF4-FFF2-40B4-BE49-F238E27FC236}">
                  <a16:creationId xmlns:a16="http://schemas.microsoft.com/office/drawing/2014/main" id="{3B101ECC-BA14-77D8-839C-F16722699D5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91613" y="2547989"/>
              <a:ext cx="422880" cy="422880"/>
            </a:xfrm>
            <a:prstGeom prst="rect">
              <a:avLst/>
            </a:prstGeom>
          </p:spPr>
        </p:pic>
        <p:pic>
          <p:nvPicPr>
            <p:cNvPr id="18" name="Graphique 17" descr="Priorités avec un remplissage uni">
              <a:extLst>
                <a:ext uri="{FF2B5EF4-FFF2-40B4-BE49-F238E27FC236}">
                  <a16:creationId xmlns:a16="http://schemas.microsoft.com/office/drawing/2014/main" id="{46F57AE0-45DE-337E-57C9-A8EF28CEC8E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28048" y="2548433"/>
              <a:ext cx="422880" cy="422880"/>
            </a:xfrm>
            <a:prstGeom prst="rect">
              <a:avLst/>
            </a:prstGeom>
          </p:spPr>
        </p:pic>
      </p:grpSp>
      <p:sp>
        <p:nvSpPr>
          <p:cNvPr id="22" name="ZoneTexte 21">
            <a:extLst>
              <a:ext uri="{FF2B5EF4-FFF2-40B4-BE49-F238E27FC236}">
                <a16:creationId xmlns:a16="http://schemas.microsoft.com/office/drawing/2014/main" id="{067A098D-4E8E-E17A-6E8E-B3DC331BBDD3}"/>
              </a:ext>
            </a:extLst>
          </p:cNvPr>
          <p:cNvSpPr txBox="1"/>
          <p:nvPr/>
        </p:nvSpPr>
        <p:spPr>
          <a:xfrm>
            <a:off x="4384310" y="4489199"/>
            <a:ext cx="1738449" cy="1063875"/>
          </a:xfrm>
          <a:prstGeom prst="rect">
            <a:avLst/>
          </a:prstGeom>
          <a:solidFill>
            <a:schemeClr val="bg1"/>
          </a:solidFill>
          <a:ln>
            <a:solidFill>
              <a:schemeClr val="tx1"/>
            </a:solidFill>
          </a:ln>
        </p:spPr>
        <p:txBody>
          <a:bodyPr wrap="square" anchor="ctr">
            <a:noAutofit/>
          </a:bodyPr>
          <a:lstStyle/>
          <a:p>
            <a:pPr algn="ctr"/>
            <a:r>
              <a:rPr lang="fr-FR" sz="1000" dirty="0"/>
              <a:t>Chaque sous-groupe propose des contenus à produire pour la Communauté et ont rangé leurs propositions. Ils se réunissent pour ranger le tout dans une feuille de route commune.</a:t>
            </a:r>
          </a:p>
        </p:txBody>
      </p:sp>
      <p:grpSp>
        <p:nvGrpSpPr>
          <p:cNvPr id="36" name="Groupe 35">
            <a:extLst>
              <a:ext uri="{FF2B5EF4-FFF2-40B4-BE49-F238E27FC236}">
                <a16:creationId xmlns:a16="http://schemas.microsoft.com/office/drawing/2014/main" id="{697E0BC7-5E53-235E-B412-A90EE0190A20}"/>
              </a:ext>
            </a:extLst>
          </p:cNvPr>
          <p:cNvGrpSpPr/>
          <p:nvPr/>
        </p:nvGrpSpPr>
        <p:grpSpPr>
          <a:xfrm>
            <a:off x="5253535" y="1648196"/>
            <a:ext cx="1859315" cy="1469328"/>
            <a:chOff x="4906144" y="1641339"/>
            <a:chExt cx="1859315" cy="1469328"/>
          </a:xfrm>
        </p:grpSpPr>
        <p:pic>
          <p:nvPicPr>
            <p:cNvPr id="23" name="Graphique 22" descr="Priorités avec un remplissage uni">
              <a:extLst>
                <a:ext uri="{FF2B5EF4-FFF2-40B4-BE49-F238E27FC236}">
                  <a16:creationId xmlns:a16="http://schemas.microsoft.com/office/drawing/2014/main" id="{4A4FB52E-8B27-D4B4-477B-D2D06F9E1A1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427232" y="1641339"/>
              <a:ext cx="713940" cy="713940"/>
            </a:xfrm>
            <a:prstGeom prst="rect">
              <a:avLst/>
            </a:prstGeom>
          </p:spPr>
        </p:pic>
        <p:grpSp>
          <p:nvGrpSpPr>
            <p:cNvPr id="24" name="Groupe 23">
              <a:extLst>
                <a:ext uri="{FF2B5EF4-FFF2-40B4-BE49-F238E27FC236}">
                  <a16:creationId xmlns:a16="http://schemas.microsoft.com/office/drawing/2014/main" id="{190BCCEE-93FE-1B1B-9060-56AA9A23D410}"/>
                </a:ext>
              </a:extLst>
            </p:cNvPr>
            <p:cNvGrpSpPr/>
            <p:nvPr/>
          </p:nvGrpSpPr>
          <p:grpSpPr>
            <a:xfrm rot="10800000">
              <a:off x="6217305" y="2228279"/>
              <a:ext cx="305789" cy="378666"/>
              <a:chOff x="2702774" y="2193527"/>
              <a:chExt cx="305789" cy="378666"/>
            </a:xfrm>
          </p:grpSpPr>
          <p:sp>
            <p:nvSpPr>
              <p:cNvPr id="25" name="Flèche : bas 24">
                <a:extLst>
                  <a:ext uri="{FF2B5EF4-FFF2-40B4-BE49-F238E27FC236}">
                    <a16:creationId xmlns:a16="http://schemas.microsoft.com/office/drawing/2014/main" id="{EAEF3C9B-D5F8-B2ED-440D-C0777000B3F2}"/>
                  </a:ext>
                </a:extLst>
              </p:cNvPr>
              <p:cNvSpPr/>
              <p:nvPr/>
            </p:nvSpPr>
            <p:spPr>
              <a:xfrm rot="19457352">
                <a:off x="2723721" y="2193527"/>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6" name="Graphique 25" descr="Lien avec un remplissage uni">
                <a:extLst>
                  <a:ext uri="{FF2B5EF4-FFF2-40B4-BE49-F238E27FC236}">
                    <a16:creationId xmlns:a16="http://schemas.microsoft.com/office/drawing/2014/main" id="{7D343B81-6FBF-F172-72C8-D87FE2405A0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551051">
                <a:off x="2702774" y="2205801"/>
                <a:ext cx="271731" cy="271731"/>
              </a:xfrm>
              <a:prstGeom prst="rect">
                <a:avLst/>
              </a:prstGeom>
            </p:spPr>
          </p:pic>
        </p:grpSp>
        <p:grpSp>
          <p:nvGrpSpPr>
            <p:cNvPr id="27" name="Groupe 26">
              <a:extLst>
                <a:ext uri="{FF2B5EF4-FFF2-40B4-BE49-F238E27FC236}">
                  <a16:creationId xmlns:a16="http://schemas.microsoft.com/office/drawing/2014/main" id="{F5367F19-6468-D604-5741-FFF8AFDDA687}"/>
                </a:ext>
              </a:extLst>
            </p:cNvPr>
            <p:cNvGrpSpPr/>
            <p:nvPr/>
          </p:nvGrpSpPr>
          <p:grpSpPr>
            <a:xfrm rot="10800000">
              <a:off x="5726088" y="2269388"/>
              <a:ext cx="284842" cy="378666"/>
              <a:chOff x="2211557" y="2234636"/>
              <a:chExt cx="284842" cy="378666"/>
            </a:xfrm>
          </p:grpSpPr>
          <p:sp>
            <p:nvSpPr>
              <p:cNvPr id="28" name="Flèche : bas 27">
                <a:extLst>
                  <a:ext uri="{FF2B5EF4-FFF2-40B4-BE49-F238E27FC236}">
                    <a16:creationId xmlns:a16="http://schemas.microsoft.com/office/drawing/2014/main" id="{C402553C-71DE-48C3-E6FA-AC6A86B00A9B}"/>
                  </a:ext>
                </a:extLst>
              </p:cNvPr>
              <p:cNvSpPr/>
              <p:nvPr/>
            </p:nvSpPr>
            <p:spPr>
              <a:xfrm>
                <a:off x="2211557" y="2234636"/>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9" name="Graphique 28" descr="Lien avec un remplissage uni">
                <a:extLst>
                  <a:ext uri="{FF2B5EF4-FFF2-40B4-BE49-F238E27FC236}">
                    <a16:creationId xmlns:a16="http://schemas.microsoft.com/office/drawing/2014/main" id="{BA8EB3CE-F902-B7CA-F08B-7928DF140B8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678842">
                <a:off x="2219415" y="2240087"/>
                <a:ext cx="271731" cy="271731"/>
              </a:xfrm>
              <a:prstGeom prst="rect">
                <a:avLst/>
              </a:prstGeom>
            </p:spPr>
          </p:pic>
        </p:grpSp>
        <p:grpSp>
          <p:nvGrpSpPr>
            <p:cNvPr id="30" name="Groupe 29">
              <a:extLst>
                <a:ext uri="{FF2B5EF4-FFF2-40B4-BE49-F238E27FC236}">
                  <a16:creationId xmlns:a16="http://schemas.microsoft.com/office/drawing/2014/main" id="{6AB60832-648E-5BC2-DCB1-07A66A4C6C57}"/>
                </a:ext>
              </a:extLst>
            </p:cNvPr>
            <p:cNvGrpSpPr/>
            <p:nvPr/>
          </p:nvGrpSpPr>
          <p:grpSpPr>
            <a:xfrm rot="10376875">
              <a:off x="5170719" y="2233674"/>
              <a:ext cx="378666" cy="319452"/>
              <a:chOff x="1656188" y="2198922"/>
              <a:chExt cx="378666" cy="319452"/>
            </a:xfrm>
          </p:grpSpPr>
          <p:sp>
            <p:nvSpPr>
              <p:cNvPr id="31" name="Flèche : bas 30">
                <a:extLst>
                  <a:ext uri="{FF2B5EF4-FFF2-40B4-BE49-F238E27FC236}">
                    <a16:creationId xmlns:a16="http://schemas.microsoft.com/office/drawing/2014/main" id="{FCA6D0ED-8950-AC00-D8BE-969671E22223}"/>
                  </a:ext>
                </a:extLst>
              </p:cNvPr>
              <p:cNvSpPr/>
              <p:nvPr/>
            </p:nvSpPr>
            <p:spPr>
              <a:xfrm rot="2847762">
                <a:off x="1703100" y="2186620"/>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32" name="Graphique 31" descr="Lien avec un remplissage uni">
                <a:extLst>
                  <a:ext uri="{FF2B5EF4-FFF2-40B4-BE49-F238E27FC236}">
                    <a16:creationId xmlns:a16="http://schemas.microsoft.com/office/drawing/2014/main" id="{C97D9A48-C10E-5B0F-72AA-D2F7BB1DE3C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6200000">
                <a:off x="1753916" y="2198922"/>
                <a:ext cx="271731" cy="271731"/>
              </a:xfrm>
              <a:prstGeom prst="rect">
                <a:avLst/>
              </a:prstGeom>
            </p:spPr>
          </p:pic>
        </p:grpSp>
        <p:pic>
          <p:nvPicPr>
            <p:cNvPr id="33" name="Graphique 32" descr="Priorités avec un remplissage uni">
              <a:extLst>
                <a:ext uri="{FF2B5EF4-FFF2-40B4-BE49-F238E27FC236}">
                  <a16:creationId xmlns:a16="http://schemas.microsoft.com/office/drawing/2014/main" id="{DEE4ABEC-7005-F502-4080-D4C60A09545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906144" y="2582741"/>
              <a:ext cx="422880" cy="422880"/>
            </a:xfrm>
            <a:prstGeom prst="rect">
              <a:avLst/>
            </a:prstGeom>
          </p:spPr>
        </p:pic>
        <p:pic>
          <p:nvPicPr>
            <p:cNvPr id="34" name="Graphique 33" descr="Priorités avec un remplissage uni">
              <a:extLst>
                <a:ext uri="{FF2B5EF4-FFF2-40B4-BE49-F238E27FC236}">
                  <a16:creationId xmlns:a16="http://schemas.microsoft.com/office/drawing/2014/main" id="{51CD5055-7E54-5FBF-BBC7-9BD40124A83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636011" y="2687787"/>
              <a:ext cx="422880" cy="422880"/>
            </a:xfrm>
            <a:prstGeom prst="rect">
              <a:avLst/>
            </a:prstGeom>
          </p:spPr>
        </p:pic>
        <p:pic>
          <p:nvPicPr>
            <p:cNvPr id="35" name="Graphique 34" descr="Priorités avec un remplissage uni">
              <a:extLst>
                <a:ext uri="{FF2B5EF4-FFF2-40B4-BE49-F238E27FC236}">
                  <a16:creationId xmlns:a16="http://schemas.microsoft.com/office/drawing/2014/main" id="{37AD248E-A013-C45A-C29D-0D228EC5C33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342579" y="2583185"/>
              <a:ext cx="422880" cy="422880"/>
            </a:xfrm>
            <a:prstGeom prst="rect">
              <a:avLst/>
            </a:prstGeom>
          </p:spPr>
        </p:pic>
      </p:grpSp>
      <p:grpSp>
        <p:nvGrpSpPr>
          <p:cNvPr id="62" name="Groupe 61">
            <a:extLst>
              <a:ext uri="{FF2B5EF4-FFF2-40B4-BE49-F238E27FC236}">
                <a16:creationId xmlns:a16="http://schemas.microsoft.com/office/drawing/2014/main" id="{9080EBA9-65E0-73A3-4B10-0B85D95DB4E9}"/>
              </a:ext>
            </a:extLst>
          </p:cNvPr>
          <p:cNvGrpSpPr/>
          <p:nvPr/>
        </p:nvGrpSpPr>
        <p:grpSpPr>
          <a:xfrm>
            <a:off x="9365257" y="1508032"/>
            <a:ext cx="1752589" cy="1587639"/>
            <a:chOff x="9184181" y="1424839"/>
            <a:chExt cx="1752589" cy="1587639"/>
          </a:xfrm>
        </p:grpSpPr>
        <p:grpSp>
          <p:nvGrpSpPr>
            <p:cNvPr id="40" name="Groupe 39">
              <a:extLst>
                <a:ext uri="{FF2B5EF4-FFF2-40B4-BE49-F238E27FC236}">
                  <a16:creationId xmlns:a16="http://schemas.microsoft.com/office/drawing/2014/main" id="{B06C2B70-2A9C-471A-04AC-80F0D6DE7273}"/>
                </a:ext>
              </a:extLst>
            </p:cNvPr>
            <p:cNvGrpSpPr/>
            <p:nvPr/>
          </p:nvGrpSpPr>
          <p:grpSpPr>
            <a:xfrm rot="4555793">
              <a:off x="9453749" y="1919484"/>
              <a:ext cx="305789" cy="378666"/>
              <a:chOff x="2702774" y="2193527"/>
              <a:chExt cx="305789" cy="378666"/>
            </a:xfrm>
          </p:grpSpPr>
          <p:sp>
            <p:nvSpPr>
              <p:cNvPr id="50" name="Flèche : bas 49">
                <a:extLst>
                  <a:ext uri="{FF2B5EF4-FFF2-40B4-BE49-F238E27FC236}">
                    <a16:creationId xmlns:a16="http://schemas.microsoft.com/office/drawing/2014/main" id="{AFDC9ED0-53D7-7780-F131-28816B758F34}"/>
                  </a:ext>
                </a:extLst>
              </p:cNvPr>
              <p:cNvSpPr/>
              <p:nvPr/>
            </p:nvSpPr>
            <p:spPr>
              <a:xfrm rot="19457352">
                <a:off x="2723721" y="2193527"/>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1" name="Graphique 50" descr="Lien avec un remplissage uni">
                <a:extLst>
                  <a:ext uri="{FF2B5EF4-FFF2-40B4-BE49-F238E27FC236}">
                    <a16:creationId xmlns:a16="http://schemas.microsoft.com/office/drawing/2014/main" id="{43016383-6A2A-E463-9ECB-D80B724717A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551051">
                <a:off x="2702774" y="2205801"/>
                <a:ext cx="271731" cy="271731"/>
              </a:xfrm>
              <a:prstGeom prst="rect">
                <a:avLst/>
              </a:prstGeom>
            </p:spPr>
          </p:pic>
        </p:grpSp>
        <p:grpSp>
          <p:nvGrpSpPr>
            <p:cNvPr id="41" name="Groupe 40">
              <a:extLst>
                <a:ext uri="{FF2B5EF4-FFF2-40B4-BE49-F238E27FC236}">
                  <a16:creationId xmlns:a16="http://schemas.microsoft.com/office/drawing/2014/main" id="{42E310BF-58CA-7BA3-51E6-E0E051D3466D}"/>
                </a:ext>
              </a:extLst>
            </p:cNvPr>
            <p:cNvGrpSpPr/>
            <p:nvPr/>
          </p:nvGrpSpPr>
          <p:grpSpPr>
            <a:xfrm rot="16200000">
              <a:off x="9909018" y="2430088"/>
              <a:ext cx="284842" cy="378666"/>
              <a:chOff x="2211557" y="2234636"/>
              <a:chExt cx="284842" cy="378666"/>
            </a:xfrm>
          </p:grpSpPr>
          <p:sp>
            <p:nvSpPr>
              <p:cNvPr id="48" name="Flèche : bas 47">
                <a:extLst>
                  <a:ext uri="{FF2B5EF4-FFF2-40B4-BE49-F238E27FC236}">
                    <a16:creationId xmlns:a16="http://schemas.microsoft.com/office/drawing/2014/main" id="{1EE50B97-ADB4-4BD4-BEDD-87302E7069B1}"/>
                  </a:ext>
                </a:extLst>
              </p:cNvPr>
              <p:cNvSpPr/>
              <p:nvPr/>
            </p:nvSpPr>
            <p:spPr>
              <a:xfrm>
                <a:off x="2211557" y="2234636"/>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9" name="Graphique 48" descr="Lien avec un remplissage uni">
                <a:extLst>
                  <a:ext uri="{FF2B5EF4-FFF2-40B4-BE49-F238E27FC236}">
                    <a16:creationId xmlns:a16="http://schemas.microsoft.com/office/drawing/2014/main" id="{98631576-6BA4-6220-4D6E-097CBFAC19A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678842">
                <a:off x="2219415" y="2240087"/>
                <a:ext cx="271731" cy="271731"/>
              </a:xfrm>
              <a:prstGeom prst="rect">
                <a:avLst/>
              </a:prstGeom>
            </p:spPr>
          </p:pic>
        </p:grpSp>
        <p:grpSp>
          <p:nvGrpSpPr>
            <p:cNvPr id="42" name="Groupe 41">
              <a:extLst>
                <a:ext uri="{FF2B5EF4-FFF2-40B4-BE49-F238E27FC236}">
                  <a16:creationId xmlns:a16="http://schemas.microsoft.com/office/drawing/2014/main" id="{F93726FD-3BC6-4E4C-23DF-EEABE7D4B2AF}"/>
                </a:ext>
              </a:extLst>
            </p:cNvPr>
            <p:cNvGrpSpPr/>
            <p:nvPr/>
          </p:nvGrpSpPr>
          <p:grpSpPr>
            <a:xfrm rot="10376875">
              <a:off x="9630015" y="2045373"/>
              <a:ext cx="378666" cy="319452"/>
              <a:chOff x="1656188" y="2198922"/>
              <a:chExt cx="378666" cy="319452"/>
            </a:xfrm>
          </p:grpSpPr>
          <p:sp>
            <p:nvSpPr>
              <p:cNvPr id="46" name="Flèche : bas 45">
                <a:extLst>
                  <a:ext uri="{FF2B5EF4-FFF2-40B4-BE49-F238E27FC236}">
                    <a16:creationId xmlns:a16="http://schemas.microsoft.com/office/drawing/2014/main" id="{980A0ECC-459C-53A3-24D8-1F127DB9EDCA}"/>
                  </a:ext>
                </a:extLst>
              </p:cNvPr>
              <p:cNvSpPr/>
              <p:nvPr/>
            </p:nvSpPr>
            <p:spPr>
              <a:xfrm rot="2847762">
                <a:off x="1703100" y="2186620"/>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7" name="Graphique 46" descr="Lien avec un remplissage uni">
                <a:extLst>
                  <a:ext uri="{FF2B5EF4-FFF2-40B4-BE49-F238E27FC236}">
                    <a16:creationId xmlns:a16="http://schemas.microsoft.com/office/drawing/2014/main" id="{AF9D1469-0494-C2D2-FBFB-8C1E6992BAD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6200000">
                <a:off x="1753916" y="2198922"/>
                <a:ext cx="271731" cy="271731"/>
              </a:xfrm>
              <a:prstGeom prst="rect">
                <a:avLst/>
              </a:prstGeom>
            </p:spPr>
          </p:pic>
        </p:grpSp>
        <p:pic>
          <p:nvPicPr>
            <p:cNvPr id="43" name="Graphique 42" descr="Priorités avec un remplissage uni">
              <a:extLst>
                <a:ext uri="{FF2B5EF4-FFF2-40B4-BE49-F238E27FC236}">
                  <a16:creationId xmlns:a16="http://schemas.microsoft.com/office/drawing/2014/main" id="{1DC6DC55-94DE-26AD-55A6-F2A254F03BF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87420" y="1424839"/>
              <a:ext cx="588702" cy="588702"/>
            </a:xfrm>
            <a:prstGeom prst="rect">
              <a:avLst/>
            </a:prstGeom>
          </p:spPr>
        </p:pic>
        <p:pic>
          <p:nvPicPr>
            <p:cNvPr id="44" name="Graphique 43" descr="Priorités avec un remplissage uni">
              <a:extLst>
                <a:ext uri="{FF2B5EF4-FFF2-40B4-BE49-F238E27FC236}">
                  <a16:creationId xmlns:a16="http://schemas.microsoft.com/office/drawing/2014/main" id="{96645667-95E9-B588-EA89-1F204465288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184181" y="2423776"/>
              <a:ext cx="588702" cy="588702"/>
            </a:xfrm>
            <a:prstGeom prst="rect">
              <a:avLst/>
            </a:prstGeom>
          </p:spPr>
        </p:pic>
        <p:pic>
          <p:nvPicPr>
            <p:cNvPr id="45" name="Graphique 44" descr="Priorités avec un remplissage uni">
              <a:extLst>
                <a:ext uri="{FF2B5EF4-FFF2-40B4-BE49-F238E27FC236}">
                  <a16:creationId xmlns:a16="http://schemas.microsoft.com/office/drawing/2014/main" id="{D24B7E71-D651-CB61-E47D-FEDAE4BAC48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348068" y="2387164"/>
              <a:ext cx="588702" cy="588702"/>
            </a:xfrm>
            <a:prstGeom prst="rect">
              <a:avLst/>
            </a:prstGeom>
          </p:spPr>
        </p:pic>
        <p:grpSp>
          <p:nvGrpSpPr>
            <p:cNvPr id="52" name="Groupe 51">
              <a:extLst>
                <a:ext uri="{FF2B5EF4-FFF2-40B4-BE49-F238E27FC236}">
                  <a16:creationId xmlns:a16="http://schemas.microsoft.com/office/drawing/2014/main" id="{3B0745AE-0249-8DDE-12A9-12BBDFFE6353}"/>
                </a:ext>
              </a:extLst>
            </p:cNvPr>
            <p:cNvGrpSpPr/>
            <p:nvPr/>
          </p:nvGrpSpPr>
          <p:grpSpPr>
            <a:xfrm rot="5400000">
              <a:off x="9870038" y="2651176"/>
              <a:ext cx="284842" cy="378666"/>
              <a:chOff x="2211557" y="2234636"/>
              <a:chExt cx="284842" cy="378666"/>
            </a:xfrm>
          </p:grpSpPr>
          <p:sp>
            <p:nvSpPr>
              <p:cNvPr id="53" name="Flèche : bas 52">
                <a:extLst>
                  <a:ext uri="{FF2B5EF4-FFF2-40B4-BE49-F238E27FC236}">
                    <a16:creationId xmlns:a16="http://schemas.microsoft.com/office/drawing/2014/main" id="{7F004923-E62A-AD1F-8245-C4A9B4039BC7}"/>
                  </a:ext>
                </a:extLst>
              </p:cNvPr>
              <p:cNvSpPr/>
              <p:nvPr/>
            </p:nvSpPr>
            <p:spPr>
              <a:xfrm>
                <a:off x="2211557" y="2234636"/>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4" name="Graphique 53" descr="Lien avec un remplissage uni">
                <a:extLst>
                  <a:ext uri="{FF2B5EF4-FFF2-40B4-BE49-F238E27FC236}">
                    <a16:creationId xmlns:a16="http://schemas.microsoft.com/office/drawing/2014/main" id="{F522B280-799E-4F4D-C331-EDB2DD2423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678842">
                <a:off x="2219415" y="2240087"/>
                <a:ext cx="271731" cy="271731"/>
              </a:xfrm>
              <a:prstGeom prst="rect">
                <a:avLst/>
              </a:prstGeom>
            </p:spPr>
          </p:pic>
        </p:grpSp>
        <p:grpSp>
          <p:nvGrpSpPr>
            <p:cNvPr id="55" name="Groupe 54">
              <a:extLst>
                <a:ext uri="{FF2B5EF4-FFF2-40B4-BE49-F238E27FC236}">
                  <a16:creationId xmlns:a16="http://schemas.microsoft.com/office/drawing/2014/main" id="{99783FA3-1E67-735D-33F3-63A212B87658}"/>
                </a:ext>
              </a:extLst>
            </p:cNvPr>
            <p:cNvGrpSpPr/>
            <p:nvPr/>
          </p:nvGrpSpPr>
          <p:grpSpPr>
            <a:xfrm rot="21291461">
              <a:off x="10261704" y="2028157"/>
              <a:ext cx="305789" cy="378666"/>
              <a:chOff x="2702774" y="2193527"/>
              <a:chExt cx="305789" cy="378666"/>
            </a:xfrm>
          </p:grpSpPr>
          <p:sp>
            <p:nvSpPr>
              <p:cNvPr id="56" name="Flèche : bas 55">
                <a:extLst>
                  <a:ext uri="{FF2B5EF4-FFF2-40B4-BE49-F238E27FC236}">
                    <a16:creationId xmlns:a16="http://schemas.microsoft.com/office/drawing/2014/main" id="{2553BB74-E377-2C89-4C72-274224D4E016}"/>
                  </a:ext>
                </a:extLst>
              </p:cNvPr>
              <p:cNvSpPr/>
              <p:nvPr/>
            </p:nvSpPr>
            <p:spPr>
              <a:xfrm rot="19457352">
                <a:off x="2723721" y="2193527"/>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7" name="Graphique 56" descr="Lien avec un remplissage uni">
                <a:extLst>
                  <a:ext uri="{FF2B5EF4-FFF2-40B4-BE49-F238E27FC236}">
                    <a16:creationId xmlns:a16="http://schemas.microsoft.com/office/drawing/2014/main" id="{A57D47BD-6694-994E-C113-6CE9720D488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551051">
                <a:off x="2702774" y="2205801"/>
                <a:ext cx="271731" cy="271731"/>
              </a:xfrm>
              <a:prstGeom prst="rect">
                <a:avLst/>
              </a:prstGeom>
            </p:spPr>
          </p:pic>
        </p:grpSp>
        <p:grpSp>
          <p:nvGrpSpPr>
            <p:cNvPr id="58" name="Groupe 57">
              <a:extLst>
                <a:ext uri="{FF2B5EF4-FFF2-40B4-BE49-F238E27FC236}">
                  <a16:creationId xmlns:a16="http://schemas.microsoft.com/office/drawing/2014/main" id="{CE8B3C29-E905-2484-E831-1DFCB352CF86}"/>
                </a:ext>
              </a:extLst>
            </p:cNvPr>
            <p:cNvGrpSpPr/>
            <p:nvPr/>
          </p:nvGrpSpPr>
          <p:grpSpPr>
            <a:xfrm rot="5512543">
              <a:off x="10411811" y="1925856"/>
              <a:ext cx="378666" cy="319452"/>
              <a:chOff x="1656188" y="2198922"/>
              <a:chExt cx="378666" cy="319452"/>
            </a:xfrm>
          </p:grpSpPr>
          <p:sp>
            <p:nvSpPr>
              <p:cNvPr id="59" name="Flèche : bas 58">
                <a:extLst>
                  <a:ext uri="{FF2B5EF4-FFF2-40B4-BE49-F238E27FC236}">
                    <a16:creationId xmlns:a16="http://schemas.microsoft.com/office/drawing/2014/main" id="{E67DC11A-555C-72F5-DABF-2136D435CD2B}"/>
                  </a:ext>
                </a:extLst>
              </p:cNvPr>
              <p:cNvSpPr/>
              <p:nvPr/>
            </p:nvSpPr>
            <p:spPr>
              <a:xfrm rot="2847762">
                <a:off x="1703100" y="2186620"/>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60" name="Graphique 59" descr="Lien avec un remplissage uni">
                <a:extLst>
                  <a:ext uri="{FF2B5EF4-FFF2-40B4-BE49-F238E27FC236}">
                    <a16:creationId xmlns:a16="http://schemas.microsoft.com/office/drawing/2014/main" id="{26FAA4A1-2B61-323A-F675-2E5CF03FA10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6200000">
                <a:off x="1753916" y="2198922"/>
                <a:ext cx="271731" cy="271731"/>
              </a:xfrm>
              <a:prstGeom prst="rect">
                <a:avLst/>
              </a:prstGeom>
            </p:spPr>
          </p:pic>
        </p:grpSp>
      </p:grpSp>
      <p:sp>
        <p:nvSpPr>
          <p:cNvPr id="63" name="ZoneTexte 62">
            <a:extLst>
              <a:ext uri="{FF2B5EF4-FFF2-40B4-BE49-F238E27FC236}">
                <a16:creationId xmlns:a16="http://schemas.microsoft.com/office/drawing/2014/main" id="{070A793D-E1A9-A4E1-5B61-BA0949B61C17}"/>
              </a:ext>
            </a:extLst>
          </p:cNvPr>
          <p:cNvSpPr txBox="1"/>
          <p:nvPr/>
        </p:nvSpPr>
        <p:spPr>
          <a:xfrm>
            <a:off x="8493958" y="4489199"/>
            <a:ext cx="1738449" cy="1063875"/>
          </a:xfrm>
          <a:prstGeom prst="rect">
            <a:avLst/>
          </a:prstGeom>
          <a:solidFill>
            <a:schemeClr val="bg1"/>
          </a:solidFill>
          <a:ln>
            <a:solidFill>
              <a:schemeClr val="tx1"/>
            </a:solidFill>
          </a:ln>
        </p:spPr>
        <p:txBody>
          <a:bodyPr wrap="square" anchor="ctr">
            <a:noAutofit/>
          </a:bodyPr>
          <a:lstStyle/>
          <a:p>
            <a:pPr algn="ctr"/>
            <a:r>
              <a:rPr lang="fr-FR" sz="1000" dirty="0"/>
              <a:t>Chaque sous-groupe se réunit tous les trimestres pour faire sa feuille de route. A l’occasion d’un grand événements, les sous-groupes se synchronisent et s’ajustent les uns aux autres</a:t>
            </a:r>
          </a:p>
        </p:txBody>
      </p:sp>
      <p:sp>
        <p:nvSpPr>
          <p:cNvPr id="66" name="ZoneTexte 65">
            <a:extLst>
              <a:ext uri="{FF2B5EF4-FFF2-40B4-BE49-F238E27FC236}">
                <a16:creationId xmlns:a16="http://schemas.microsoft.com/office/drawing/2014/main" id="{5B23A695-CC04-7C86-52B8-E16BDC14B0AB}"/>
              </a:ext>
            </a:extLst>
          </p:cNvPr>
          <p:cNvSpPr txBox="1"/>
          <p:nvPr/>
        </p:nvSpPr>
        <p:spPr>
          <a:xfrm>
            <a:off x="1958823" y="4489199"/>
            <a:ext cx="1738449" cy="1063875"/>
          </a:xfrm>
          <a:prstGeom prst="rect">
            <a:avLst/>
          </a:prstGeom>
          <a:solidFill>
            <a:srgbClr val="ED7D31"/>
          </a:solidFill>
          <a:ln>
            <a:noFill/>
          </a:ln>
        </p:spPr>
        <p:txBody>
          <a:bodyPr wrap="square" anchor="ctr">
            <a:noAutofit/>
          </a:bodyPr>
          <a:lstStyle/>
          <a:p>
            <a:pPr algn="ctr"/>
            <a:r>
              <a:rPr lang="fr-FR" sz="1000" dirty="0"/>
              <a:t>Il y a quand même besoin de se rattacher à une vision globale avant de prioriser son domaine en autonomie</a:t>
            </a:r>
          </a:p>
          <a:p>
            <a:pPr algn="ctr"/>
            <a:endParaRPr lang="fr-FR" sz="1000" dirty="0"/>
          </a:p>
          <a:p>
            <a:pPr algn="ctr"/>
            <a:r>
              <a:rPr lang="fr-FR" sz="1000" dirty="0"/>
              <a:t>Domaines « esclaves » indépendants</a:t>
            </a:r>
          </a:p>
        </p:txBody>
      </p:sp>
      <p:sp>
        <p:nvSpPr>
          <p:cNvPr id="67" name="ZoneTexte 66">
            <a:extLst>
              <a:ext uri="{FF2B5EF4-FFF2-40B4-BE49-F238E27FC236}">
                <a16:creationId xmlns:a16="http://schemas.microsoft.com/office/drawing/2014/main" id="{CAB6AB36-F85F-FA21-F9E8-DFEA58ABAC24}"/>
              </a:ext>
            </a:extLst>
          </p:cNvPr>
          <p:cNvSpPr txBox="1"/>
          <p:nvPr/>
        </p:nvSpPr>
        <p:spPr>
          <a:xfrm>
            <a:off x="6186049" y="4489199"/>
            <a:ext cx="1738449" cy="1063875"/>
          </a:xfrm>
          <a:prstGeom prst="rect">
            <a:avLst/>
          </a:prstGeom>
          <a:solidFill>
            <a:srgbClr val="ED7D31"/>
          </a:solidFill>
          <a:ln>
            <a:noFill/>
          </a:ln>
        </p:spPr>
        <p:txBody>
          <a:bodyPr wrap="square" anchor="ctr">
            <a:noAutofit/>
          </a:bodyPr>
          <a:lstStyle/>
          <a:p>
            <a:pPr algn="ctr"/>
            <a:r>
              <a:rPr lang="fr-FR" sz="1000" dirty="0"/>
              <a:t>Les actions décidées par chaque sous-groupe ont besoin de ressources partagées dont l’usage doit être priorisé</a:t>
            </a:r>
          </a:p>
          <a:p>
            <a:pPr algn="ctr"/>
            <a:r>
              <a:rPr lang="fr-FR" sz="1000" dirty="0"/>
              <a:t>Domaines « esclaves » indépendants</a:t>
            </a:r>
          </a:p>
        </p:txBody>
      </p:sp>
      <p:sp>
        <p:nvSpPr>
          <p:cNvPr id="68" name="ZoneTexte 67">
            <a:extLst>
              <a:ext uri="{FF2B5EF4-FFF2-40B4-BE49-F238E27FC236}">
                <a16:creationId xmlns:a16="http://schemas.microsoft.com/office/drawing/2014/main" id="{EDDFA318-974C-97FC-0350-E8A8C0B736EB}"/>
              </a:ext>
            </a:extLst>
          </p:cNvPr>
          <p:cNvSpPr txBox="1"/>
          <p:nvPr/>
        </p:nvSpPr>
        <p:spPr>
          <a:xfrm>
            <a:off x="10300340" y="4469974"/>
            <a:ext cx="1738449" cy="1063875"/>
          </a:xfrm>
          <a:prstGeom prst="rect">
            <a:avLst/>
          </a:prstGeom>
          <a:solidFill>
            <a:srgbClr val="ED7D31"/>
          </a:solidFill>
          <a:ln>
            <a:noFill/>
          </a:ln>
        </p:spPr>
        <p:txBody>
          <a:bodyPr wrap="square" anchor="ctr">
            <a:noAutofit/>
          </a:bodyPr>
          <a:lstStyle/>
          <a:p>
            <a:pPr algn="ctr"/>
            <a:r>
              <a:rPr lang="fr-FR" sz="1000" dirty="0"/>
              <a:t>Les éléments priorisés par chaque sous-groupes peuvent avoir de fortes dépendances les uns avec les autres</a:t>
            </a:r>
          </a:p>
        </p:txBody>
      </p:sp>
      <p:sp>
        <p:nvSpPr>
          <p:cNvPr id="69" name="Rectangle 68">
            <a:extLst>
              <a:ext uri="{FF2B5EF4-FFF2-40B4-BE49-F238E27FC236}">
                <a16:creationId xmlns:a16="http://schemas.microsoft.com/office/drawing/2014/main" id="{9D7B0810-5575-C756-30EF-FB2A4B9F701E}"/>
              </a:ext>
            </a:extLst>
          </p:cNvPr>
          <p:cNvSpPr/>
          <p:nvPr/>
        </p:nvSpPr>
        <p:spPr>
          <a:xfrm>
            <a:off x="838200" y="981075"/>
            <a:ext cx="1552575" cy="4673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ZoneTexte 69">
            <a:extLst>
              <a:ext uri="{FF2B5EF4-FFF2-40B4-BE49-F238E27FC236}">
                <a16:creationId xmlns:a16="http://schemas.microsoft.com/office/drawing/2014/main" id="{55770889-7580-F835-1340-FE9D636CD764}"/>
              </a:ext>
            </a:extLst>
          </p:cNvPr>
          <p:cNvSpPr txBox="1"/>
          <p:nvPr/>
        </p:nvSpPr>
        <p:spPr>
          <a:xfrm>
            <a:off x="180360" y="5616994"/>
            <a:ext cx="1738449" cy="1063875"/>
          </a:xfrm>
          <a:prstGeom prst="rect">
            <a:avLst/>
          </a:prstGeom>
          <a:solidFill>
            <a:srgbClr val="54FFB3"/>
          </a:solidFill>
          <a:ln>
            <a:noFill/>
          </a:ln>
        </p:spPr>
        <p:txBody>
          <a:bodyPr wrap="square" anchor="ctr">
            <a:noAutofit/>
          </a:bodyPr>
          <a:lstStyle/>
          <a:p>
            <a:pPr algn="ctr"/>
            <a:r>
              <a:rPr lang="fr-FR" sz="1000" dirty="0"/>
              <a:t>Permet à tous de se rattacher à une priorisation globale qui donne une cohérence</a:t>
            </a:r>
          </a:p>
        </p:txBody>
      </p:sp>
      <p:sp>
        <p:nvSpPr>
          <p:cNvPr id="71" name="ZoneTexte 70">
            <a:extLst>
              <a:ext uri="{FF2B5EF4-FFF2-40B4-BE49-F238E27FC236}">
                <a16:creationId xmlns:a16="http://schemas.microsoft.com/office/drawing/2014/main" id="{046A1698-6D01-F741-48F5-14FF2D66BB2B}"/>
              </a:ext>
            </a:extLst>
          </p:cNvPr>
          <p:cNvSpPr txBox="1"/>
          <p:nvPr/>
        </p:nvSpPr>
        <p:spPr>
          <a:xfrm>
            <a:off x="1958823" y="5616993"/>
            <a:ext cx="1738449" cy="1063875"/>
          </a:xfrm>
          <a:prstGeom prst="rect">
            <a:avLst/>
          </a:prstGeom>
          <a:solidFill>
            <a:srgbClr val="FF7C80"/>
          </a:solidFill>
          <a:ln>
            <a:noFill/>
          </a:ln>
        </p:spPr>
        <p:txBody>
          <a:bodyPr wrap="square" anchor="ctr">
            <a:noAutofit/>
          </a:bodyPr>
          <a:lstStyle/>
          <a:p>
            <a:pPr algn="ctr"/>
            <a:r>
              <a:rPr lang="fr-FR" sz="1000" dirty="0"/>
              <a:t>Perte de liberté liée à la « soumission » à la priorisation globale </a:t>
            </a:r>
          </a:p>
        </p:txBody>
      </p:sp>
      <p:sp>
        <p:nvSpPr>
          <p:cNvPr id="72" name="ZoneTexte 71">
            <a:extLst>
              <a:ext uri="{FF2B5EF4-FFF2-40B4-BE49-F238E27FC236}">
                <a16:creationId xmlns:a16="http://schemas.microsoft.com/office/drawing/2014/main" id="{46AEE933-2CA6-22F7-2506-D49C5316500C}"/>
              </a:ext>
            </a:extLst>
          </p:cNvPr>
          <p:cNvSpPr txBox="1"/>
          <p:nvPr/>
        </p:nvSpPr>
        <p:spPr>
          <a:xfrm>
            <a:off x="4401101" y="5616994"/>
            <a:ext cx="1738449" cy="1063875"/>
          </a:xfrm>
          <a:prstGeom prst="rect">
            <a:avLst/>
          </a:prstGeom>
          <a:solidFill>
            <a:srgbClr val="54FFB3"/>
          </a:solidFill>
          <a:ln>
            <a:noFill/>
          </a:ln>
        </p:spPr>
        <p:txBody>
          <a:bodyPr wrap="square" anchor="ctr">
            <a:noAutofit/>
          </a:bodyPr>
          <a:lstStyle/>
          <a:p>
            <a:pPr algn="ctr"/>
            <a:r>
              <a:rPr lang="fr-FR" sz="1000" dirty="0"/>
              <a:t>Donne beaucoup de liberté au départ pour les sous-domaines</a:t>
            </a:r>
          </a:p>
        </p:txBody>
      </p:sp>
      <p:sp>
        <p:nvSpPr>
          <p:cNvPr id="73" name="ZoneTexte 72">
            <a:extLst>
              <a:ext uri="{FF2B5EF4-FFF2-40B4-BE49-F238E27FC236}">
                <a16:creationId xmlns:a16="http://schemas.microsoft.com/office/drawing/2014/main" id="{C6C412D0-3476-AB6E-A893-4772540BC401}"/>
              </a:ext>
            </a:extLst>
          </p:cNvPr>
          <p:cNvSpPr txBox="1"/>
          <p:nvPr/>
        </p:nvSpPr>
        <p:spPr>
          <a:xfrm>
            <a:off x="6194842" y="5616991"/>
            <a:ext cx="1738449" cy="1063875"/>
          </a:xfrm>
          <a:prstGeom prst="rect">
            <a:avLst/>
          </a:prstGeom>
          <a:solidFill>
            <a:srgbClr val="FF7C80"/>
          </a:solidFill>
          <a:ln>
            <a:noFill/>
          </a:ln>
        </p:spPr>
        <p:txBody>
          <a:bodyPr wrap="square" anchor="ctr">
            <a:noAutofit/>
          </a:bodyPr>
          <a:lstStyle/>
          <a:p>
            <a:pPr algn="ctr"/>
            <a:r>
              <a:rPr lang="fr-FR" sz="1000" dirty="0"/>
              <a:t>Difficile de comprendre ou d’exprimer une vision globale</a:t>
            </a:r>
          </a:p>
          <a:p>
            <a:pPr algn="ctr"/>
            <a:endParaRPr lang="fr-FR" sz="1000" dirty="0"/>
          </a:p>
          <a:p>
            <a:pPr algn="ctr"/>
            <a:r>
              <a:rPr lang="fr-FR" sz="1000" dirty="0"/>
              <a:t>Risque de frustration si un domaine prend beaucoup plus d’importance qu’un autre</a:t>
            </a:r>
          </a:p>
        </p:txBody>
      </p:sp>
      <p:sp>
        <p:nvSpPr>
          <p:cNvPr id="74" name="ZoneTexte 73">
            <a:extLst>
              <a:ext uri="{FF2B5EF4-FFF2-40B4-BE49-F238E27FC236}">
                <a16:creationId xmlns:a16="http://schemas.microsoft.com/office/drawing/2014/main" id="{D4050075-0514-0A00-0325-7335A5BCB1ED}"/>
              </a:ext>
            </a:extLst>
          </p:cNvPr>
          <p:cNvSpPr txBox="1"/>
          <p:nvPr/>
        </p:nvSpPr>
        <p:spPr>
          <a:xfrm>
            <a:off x="8503102" y="5620276"/>
            <a:ext cx="1738449" cy="1063875"/>
          </a:xfrm>
          <a:prstGeom prst="rect">
            <a:avLst/>
          </a:prstGeom>
          <a:solidFill>
            <a:srgbClr val="54FFB3"/>
          </a:solidFill>
          <a:ln>
            <a:noFill/>
          </a:ln>
        </p:spPr>
        <p:txBody>
          <a:bodyPr wrap="square" anchor="ctr">
            <a:noAutofit/>
          </a:bodyPr>
          <a:lstStyle/>
          <a:p>
            <a:pPr algn="ctr"/>
            <a:r>
              <a:rPr lang="fr-FR" sz="1000" dirty="0"/>
              <a:t>Autonomie pour chaque domaine avec un effet de cohérence globale quand même</a:t>
            </a:r>
          </a:p>
        </p:txBody>
      </p:sp>
      <p:sp>
        <p:nvSpPr>
          <p:cNvPr id="75" name="ZoneTexte 74">
            <a:extLst>
              <a:ext uri="{FF2B5EF4-FFF2-40B4-BE49-F238E27FC236}">
                <a16:creationId xmlns:a16="http://schemas.microsoft.com/office/drawing/2014/main" id="{41A2A606-111C-CEA9-E042-6D890869CC3C}"/>
              </a:ext>
            </a:extLst>
          </p:cNvPr>
          <p:cNvSpPr txBox="1"/>
          <p:nvPr/>
        </p:nvSpPr>
        <p:spPr>
          <a:xfrm>
            <a:off x="10299759" y="5616992"/>
            <a:ext cx="1738449" cy="1063875"/>
          </a:xfrm>
          <a:prstGeom prst="rect">
            <a:avLst/>
          </a:prstGeom>
          <a:solidFill>
            <a:srgbClr val="FF7C80"/>
          </a:solidFill>
          <a:ln>
            <a:noFill/>
          </a:ln>
        </p:spPr>
        <p:txBody>
          <a:bodyPr wrap="square" anchor="ctr">
            <a:noAutofit/>
          </a:bodyPr>
          <a:lstStyle/>
          <a:p>
            <a:pPr algn="ctr"/>
            <a:r>
              <a:rPr lang="fr-FR" sz="1000" dirty="0"/>
              <a:t>Besoin d’une bonne compréhension des dépendances</a:t>
            </a:r>
          </a:p>
          <a:p>
            <a:pPr algn="ctr"/>
            <a:endParaRPr lang="fr-FR" sz="1000" dirty="0"/>
          </a:p>
          <a:p>
            <a:pPr algn="ctr"/>
            <a:r>
              <a:rPr lang="fr-FR" sz="1000" dirty="0"/>
              <a:t>Exercice de synchronisation potentiellement lourd</a:t>
            </a:r>
          </a:p>
        </p:txBody>
      </p:sp>
    </p:spTree>
    <p:extLst>
      <p:ext uri="{BB962C8B-B14F-4D97-AF65-F5344CB8AC3E}">
        <p14:creationId xmlns:p14="http://schemas.microsoft.com/office/powerpoint/2010/main" val="3392413157"/>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E39779A-C1ED-741B-9817-5667FC3C8308}"/>
              </a:ext>
            </a:extLst>
          </p:cNvPr>
          <p:cNvSpPr>
            <a:spLocks noGrp="1"/>
          </p:cNvSpPr>
          <p:nvPr>
            <p:ph type="title"/>
          </p:nvPr>
        </p:nvSpPr>
        <p:spPr>
          <a:xfrm>
            <a:off x="1741714" y="365125"/>
            <a:ext cx="9612086" cy="1325563"/>
          </a:xfrm>
        </p:spPr>
        <p:txBody>
          <a:bodyPr>
            <a:normAutofit/>
          </a:bodyPr>
          <a:lstStyle/>
          <a:p>
            <a:r>
              <a:rPr lang="fr-FR" sz="3200" dirty="0"/>
              <a:t>Faire un </a:t>
            </a:r>
            <a:r>
              <a:rPr lang="fr-FR" sz="3200" dirty="0" err="1"/>
              <a:t>backlog</a:t>
            </a:r>
            <a:endParaRPr lang="fr-FR" sz="3200" dirty="0"/>
          </a:p>
        </p:txBody>
      </p:sp>
      <p:sp>
        <p:nvSpPr>
          <p:cNvPr id="3" name="Espace réservé du contenu 2">
            <a:extLst>
              <a:ext uri="{FF2B5EF4-FFF2-40B4-BE49-F238E27FC236}">
                <a16:creationId xmlns:a16="http://schemas.microsoft.com/office/drawing/2014/main" id="{6BADD7D1-6D18-5AEE-EC79-9A29006C15BC}"/>
              </a:ext>
            </a:extLst>
          </p:cNvPr>
          <p:cNvSpPr>
            <a:spLocks noGrp="1"/>
          </p:cNvSpPr>
          <p:nvPr>
            <p:ph idx="1"/>
          </p:nvPr>
        </p:nvSpPr>
        <p:spPr>
          <a:xfrm>
            <a:off x="838201" y="1825625"/>
            <a:ext cx="4063930" cy="4667250"/>
          </a:xfrm>
        </p:spPr>
        <p:txBody>
          <a:bodyPr>
            <a:noAutofit/>
          </a:bodyPr>
          <a:lstStyle/>
          <a:p>
            <a:pPr marL="0" indent="0">
              <a:buNone/>
            </a:pPr>
            <a:r>
              <a:rPr lang="fr-FR" sz="1800" dirty="0" err="1"/>
              <a:t>Backlog</a:t>
            </a:r>
            <a:r>
              <a:rPr lang="fr-FR" sz="1800" dirty="0"/>
              <a:t>, liste des choses à faire, liste des courses, plan d’action, … Beaucoup d’appellations proches autour d’un même concept : celui de réunir à un même endroit « ce qu’on pourrait ou devrait faire ».</a:t>
            </a:r>
          </a:p>
          <a:p>
            <a:pPr marL="0" indent="0">
              <a:buNone/>
            </a:pPr>
            <a:r>
              <a:rPr lang="fr-FR" sz="1800" dirty="0"/>
              <a:t> Par simplicité pratique, nous appellerons par la suite « </a:t>
            </a:r>
            <a:r>
              <a:rPr lang="fr-FR" sz="1800" dirty="0" err="1"/>
              <a:t>Backlog</a:t>
            </a:r>
            <a:r>
              <a:rPr lang="fr-FR" sz="1800" dirty="0"/>
              <a:t> » cet ensemble d’information. </a:t>
            </a:r>
          </a:p>
          <a:p>
            <a:pPr marL="0" indent="0">
              <a:buNone/>
            </a:pPr>
            <a:r>
              <a:rPr lang="fr-FR" sz="1800" dirty="0"/>
              <a:t>Le </a:t>
            </a:r>
            <a:r>
              <a:rPr lang="fr-FR" sz="1800" dirty="0" err="1"/>
              <a:t>backlog</a:t>
            </a:r>
            <a:r>
              <a:rPr lang="fr-FR" sz="1800" dirty="0"/>
              <a:t> facilite le partage, permet de moins oublier, donne une vision partielle ou globale de ce qu’il y a à faire, et surtout permet de prioriser et de décider.</a:t>
            </a:r>
          </a:p>
          <a:p>
            <a:pPr marL="0" indent="0">
              <a:buNone/>
            </a:pPr>
            <a:r>
              <a:rPr lang="fr-FR" sz="1800" dirty="0"/>
              <a:t>Toutes les communautés n’ont pas l’habitude de tenir un </a:t>
            </a:r>
            <a:r>
              <a:rPr lang="fr-FR" sz="1800" dirty="0" err="1"/>
              <a:t>backlog</a:t>
            </a:r>
            <a:r>
              <a:rPr lang="fr-FR" sz="1800" dirty="0"/>
              <a:t> ou de l’entretenir régulièrement.</a:t>
            </a:r>
          </a:p>
        </p:txBody>
      </p:sp>
      <p:pic>
        <p:nvPicPr>
          <p:cNvPr id="5" name="Graphique 4" descr="Calendrier journalier avec un remplissage uni">
            <a:extLst>
              <a:ext uri="{FF2B5EF4-FFF2-40B4-BE49-F238E27FC236}">
                <a16:creationId xmlns:a16="http://schemas.microsoft.com/office/drawing/2014/main" id="{79FD8360-E716-A0A8-6DE9-52D22214BB4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35783" y="3651068"/>
            <a:ext cx="914400" cy="914400"/>
          </a:xfrm>
          <a:prstGeom prst="rect">
            <a:avLst/>
          </a:prstGeom>
        </p:spPr>
      </p:pic>
      <p:pic>
        <p:nvPicPr>
          <p:cNvPr id="7" name="Graphique 6" descr="Boîte de réception avec un remplissage uni">
            <a:extLst>
              <a:ext uri="{FF2B5EF4-FFF2-40B4-BE49-F238E27FC236}">
                <a16:creationId xmlns:a16="http://schemas.microsoft.com/office/drawing/2014/main" id="{A929BDD4-4895-51EB-57C4-749493AE308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96599" y="3942433"/>
            <a:ext cx="914400" cy="914400"/>
          </a:xfrm>
          <a:prstGeom prst="rect">
            <a:avLst/>
          </a:prstGeom>
        </p:spPr>
      </p:pic>
      <p:pic>
        <p:nvPicPr>
          <p:cNvPr id="9" name="Graphique 8" descr="Notes Post-it contour">
            <a:extLst>
              <a:ext uri="{FF2B5EF4-FFF2-40B4-BE49-F238E27FC236}">
                <a16:creationId xmlns:a16="http://schemas.microsoft.com/office/drawing/2014/main" id="{408BAB5F-4C13-AE5F-E6B1-D372908186E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800297" y="2672115"/>
            <a:ext cx="914400" cy="914400"/>
          </a:xfrm>
          <a:prstGeom prst="rect">
            <a:avLst/>
          </a:prstGeom>
        </p:spPr>
      </p:pic>
      <p:pic>
        <p:nvPicPr>
          <p:cNvPr id="11" name="Graphique 10" descr="Boîte de réception croix avec un remplissage uni">
            <a:extLst>
              <a:ext uri="{FF2B5EF4-FFF2-40B4-BE49-F238E27FC236}">
                <a16:creationId xmlns:a16="http://schemas.microsoft.com/office/drawing/2014/main" id="{1D2C3966-8365-5F1F-B0D9-5DA8D672E9F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992983" y="1756478"/>
            <a:ext cx="914400" cy="914400"/>
          </a:xfrm>
          <a:prstGeom prst="rect">
            <a:avLst/>
          </a:prstGeom>
        </p:spPr>
      </p:pic>
      <p:pic>
        <p:nvPicPr>
          <p:cNvPr id="13" name="Graphique 12" descr="Ampoule et engrenage avec un remplissage uni">
            <a:extLst>
              <a:ext uri="{FF2B5EF4-FFF2-40B4-BE49-F238E27FC236}">
                <a16:creationId xmlns:a16="http://schemas.microsoft.com/office/drawing/2014/main" id="{E1BB2DAB-DA0E-65F6-5505-F50ED5CB1FA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746249" y="1906478"/>
            <a:ext cx="914400" cy="914400"/>
          </a:xfrm>
          <a:prstGeom prst="rect">
            <a:avLst/>
          </a:prstGeom>
        </p:spPr>
      </p:pic>
      <p:pic>
        <p:nvPicPr>
          <p:cNvPr id="15" name="Graphique 14" descr="Ampoule et crayon avec un remplissage uni">
            <a:extLst>
              <a:ext uri="{FF2B5EF4-FFF2-40B4-BE49-F238E27FC236}">
                <a16:creationId xmlns:a16="http://schemas.microsoft.com/office/drawing/2014/main" id="{597EEFCA-789F-64E8-7D86-0B3BE643A520}"/>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1065931" y="2771387"/>
            <a:ext cx="914400" cy="914400"/>
          </a:xfrm>
          <a:prstGeom prst="rect">
            <a:avLst/>
          </a:prstGeom>
        </p:spPr>
      </p:pic>
      <p:pic>
        <p:nvPicPr>
          <p:cNvPr id="17" name="Graphique 16" descr="Flèche : pivoter à droite avec un remplissage uni">
            <a:extLst>
              <a:ext uri="{FF2B5EF4-FFF2-40B4-BE49-F238E27FC236}">
                <a16:creationId xmlns:a16="http://schemas.microsoft.com/office/drawing/2014/main" id="{5C64E3A9-2DE4-6117-3351-1AFDFA37AC2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rot="20524180">
            <a:off x="7930211" y="1341384"/>
            <a:ext cx="914400" cy="914400"/>
          </a:xfrm>
          <a:prstGeom prst="rect">
            <a:avLst/>
          </a:prstGeom>
        </p:spPr>
      </p:pic>
      <p:pic>
        <p:nvPicPr>
          <p:cNvPr id="19" name="Graphique 18" descr="Retour avec un remplissage uni">
            <a:extLst>
              <a:ext uri="{FF2B5EF4-FFF2-40B4-BE49-F238E27FC236}">
                <a16:creationId xmlns:a16="http://schemas.microsoft.com/office/drawing/2014/main" id="{9E3C68F2-E560-4233-001E-895470D90B1F}"/>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rot="1733821">
            <a:off x="7521362" y="3750525"/>
            <a:ext cx="914400" cy="914400"/>
          </a:xfrm>
          <a:prstGeom prst="rect">
            <a:avLst/>
          </a:prstGeom>
        </p:spPr>
      </p:pic>
      <p:pic>
        <p:nvPicPr>
          <p:cNvPr id="20" name="Graphique 19" descr="Flèche : pivoter à droite avec un remplissage uni">
            <a:extLst>
              <a:ext uri="{FF2B5EF4-FFF2-40B4-BE49-F238E27FC236}">
                <a16:creationId xmlns:a16="http://schemas.microsoft.com/office/drawing/2014/main" id="{5E292F1C-B54D-A00D-F1B4-42D58044E408}"/>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rot="21048272" flipH="1">
            <a:off x="10088735" y="1590358"/>
            <a:ext cx="845577" cy="914400"/>
          </a:xfrm>
          <a:prstGeom prst="rect">
            <a:avLst/>
          </a:prstGeom>
        </p:spPr>
      </p:pic>
      <p:pic>
        <p:nvPicPr>
          <p:cNvPr id="21" name="Graphique 20" descr="Retour avec un remplissage uni">
            <a:extLst>
              <a:ext uri="{FF2B5EF4-FFF2-40B4-BE49-F238E27FC236}">
                <a16:creationId xmlns:a16="http://schemas.microsoft.com/office/drawing/2014/main" id="{2C21090D-B864-2FE2-1002-92EEC5437B2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rot="1733821">
            <a:off x="7865696" y="2694722"/>
            <a:ext cx="914400" cy="914400"/>
          </a:xfrm>
          <a:prstGeom prst="rect">
            <a:avLst/>
          </a:prstGeom>
        </p:spPr>
      </p:pic>
      <p:pic>
        <p:nvPicPr>
          <p:cNvPr id="22" name="Graphique 21" descr="Retour avec un remplissage uni">
            <a:extLst>
              <a:ext uri="{FF2B5EF4-FFF2-40B4-BE49-F238E27FC236}">
                <a16:creationId xmlns:a16="http://schemas.microsoft.com/office/drawing/2014/main" id="{3BC78376-F7C5-5AF4-66FD-B566B5847CC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rot="18292999" flipH="1">
            <a:off x="9977897" y="2694721"/>
            <a:ext cx="947002" cy="914400"/>
          </a:xfrm>
          <a:prstGeom prst="rect">
            <a:avLst/>
          </a:prstGeom>
        </p:spPr>
      </p:pic>
      <p:pic>
        <p:nvPicPr>
          <p:cNvPr id="23" name="Graphique 22" descr="Retour avec un remplissage uni">
            <a:extLst>
              <a:ext uri="{FF2B5EF4-FFF2-40B4-BE49-F238E27FC236}">
                <a16:creationId xmlns:a16="http://schemas.microsoft.com/office/drawing/2014/main" id="{23443493-EEF4-9453-28A2-7E3B79FD11C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rot="20045758" flipH="1">
            <a:off x="10024436" y="3878485"/>
            <a:ext cx="947002" cy="914400"/>
          </a:xfrm>
          <a:prstGeom prst="rect">
            <a:avLst/>
          </a:prstGeom>
        </p:spPr>
      </p:pic>
      <p:pic>
        <p:nvPicPr>
          <p:cNvPr id="24" name="Graphique 23" descr="Priorités avec un remplissage uni">
            <a:extLst>
              <a:ext uri="{FF2B5EF4-FFF2-40B4-BE49-F238E27FC236}">
                <a16:creationId xmlns:a16="http://schemas.microsoft.com/office/drawing/2014/main" id="{8D2667E5-F33E-0FA8-C7A3-6AACF419F5A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34988" y="277823"/>
            <a:ext cx="1171537" cy="1171537"/>
          </a:xfrm>
          <a:prstGeom prst="rect">
            <a:avLst/>
          </a:prstGeom>
        </p:spPr>
      </p:pic>
      <p:grpSp>
        <p:nvGrpSpPr>
          <p:cNvPr id="31" name="Groupe 30">
            <a:extLst>
              <a:ext uri="{FF2B5EF4-FFF2-40B4-BE49-F238E27FC236}">
                <a16:creationId xmlns:a16="http://schemas.microsoft.com/office/drawing/2014/main" id="{BC5DBB47-0152-C832-39F5-B1B6966FB3A7}"/>
              </a:ext>
            </a:extLst>
          </p:cNvPr>
          <p:cNvGrpSpPr/>
          <p:nvPr/>
        </p:nvGrpSpPr>
        <p:grpSpPr>
          <a:xfrm>
            <a:off x="8881115" y="2548398"/>
            <a:ext cx="1062037" cy="3252476"/>
            <a:chOff x="10324776" y="894769"/>
            <a:chExt cx="1492148" cy="4569684"/>
          </a:xfrm>
        </p:grpSpPr>
        <p:sp>
          <p:nvSpPr>
            <p:cNvPr id="25" name="Rectangle 24">
              <a:extLst>
                <a:ext uri="{FF2B5EF4-FFF2-40B4-BE49-F238E27FC236}">
                  <a16:creationId xmlns:a16="http://schemas.microsoft.com/office/drawing/2014/main" id="{3E8599E8-67DC-B361-B8E5-BA3B509DEA6F}"/>
                </a:ext>
              </a:extLst>
            </p:cNvPr>
            <p:cNvSpPr/>
            <p:nvPr/>
          </p:nvSpPr>
          <p:spPr>
            <a:xfrm>
              <a:off x="10324776" y="894769"/>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26" name="Rectangle 25">
              <a:extLst>
                <a:ext uri="{FF2B5EF4-FFF2-40B4-BE49-F238E27FC236}">
                  <a16:creationId xmlns:a16="http://schemas.microsoft.com/office/drawing/2014/main" id="{02F01A40-1E28-45EB-AF56-F109F9482B05}"/>
                </a:ext>
              </a:extLst>
            </p:cNvPr>
            <p:cNvSpPr/>
            <p:nvPr/>
          </p:nvSpPr>
          <p:spPr>
            <a:xfrm>
              <a:off x="10324776" y="4801574"/>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27" name="Rectangle 26">
              <a:extLst>
                <a:ext uri="{FF2B5EF4-FFF2-40B4-BE49-F238E27FC236}">
                  <a16:creationId xmlns:a16="http://schemas.microsoft.com/office/drawing/2014/main" id="{7C4771D5-076E-AC63-51D2-256A202A05ED}"/>
                </a:ext>
              </a:extLst>
            </p:cNvPr>
            <p:cNvSpPr/>
            <p:nvPr/>
          </p:nvSpPr>
          <p:spPr>
            <a:xfrm>
              <a:off x="10324776" y="4020213"/>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28" name="Rectangle 27">
              <a:extLst>
                <a:ext uri="{FF2B5EF4-FFF2-40B4-BE49-F238E27FC236}">
                  <a16:creationId xmlns:a16="http://schemas.microsoft.com/office/drawing/2014/main" id="{981F9A0C-8A0C-55EF-7247-DAFFB2D95609}"/>
                </a:ext>
              </a:extLst>
            </p:cNvPr>
            <p:cNvSpPr/>
            <p:nvPr/>
          </p:nvSpPr>
          <p:spPr>
            <a:xfrm>
              <a:off x="10324776" y="245749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29" name="Rectangle 28">
              <a:extLst>
                <a:ext uri="{FF2B5EF4-FFF2-40B4-BE49-F238E27FC236}">
                  <a16:creationId xmlns:a16="http://schemas.microsoft.com/office/drawing/2014/main" id="{8FE653AB-77AF-78CB-B7B4-522CC6E86A1D}"/>
                </a:ext>
              </a:extLst>
            </p:cNvPr>
            <p:cNvSpPr/>
            <p:nvPr/>
          </p:nvSpPr>
          <p:spPr>
            <a:xfrm>
              <a:off x="10324776" y="323885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30" name="Rectangle 29">
              <a:extLst>
                <a:ext uri="{FF2B5EF4-FFF2-40B4-BE49-F238E27FC236}">
                  <a16:creationId xmlns:a16="http://schemas.microsoft.com/office/drawing/2014/main" id="{00087731-82FB-54B7-0DDB-C4787290C80A}"/>
                </a:ext>
              </a:extLst>
            </p:cNvPr>
            <p:cNvSpPr/>
            <p:nvPr/>
          </p:nvSpPr>
          <p:spPr>
            <a:xfrm>
              <a:off x="10324776" y="1676130"/>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grpSp>
    </p:spTree>
    <p:extLst>
      <p:ext uri="{BB962C8B-B14F-4D97-AF65-F5344CB8AC3E}">
        <p14:creationId xmlns:p14="http://schemas.microsoft.com/office/powerpoint/2010/main" val="512641314"/>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F8812F4-5EEF-E57C-6B49-A6B1DB11936B}"/>
              </a:ext>
            </a:extLst>
          </p:cNvPr>
          <p:cNvSpPr>
            <a:spLocks noGrp="1"/>
          </p:cNvSpPr>
          <p:nvPr>
            <p:ph type="title"/>
          </p:nvPr>
        </p:nvSpPr>
        <p:spPr/>
        <p:txBody>
          <a:bodyPr/>
          <a:lstStyle/>
          <a:p>
            <a:r>
              <a:rPr lang="fr-FR" dirty="0"/>
              <a:t>Faire un </a:t>
            </a:r>
            <a:r>
              <a:rPr lang="fr-FR" dirty="0" err="1"/>
              <a:t>backlog</a:t>
            </a:r>
            <a:br>
              <a:rPr lang="fr-FR" dirty="0"/>
            </a:br>
            <a:r>
              <a:rPr lang="fr-FR" dirty="0"/>
              <a:t>Les niveaux de simplicité</a:t>
            </a:r>
          </a:p>
        </p:txBody>
      </p:sp>
      <p:sp>
        <p:nvSpPr>
          <p:cNvPr id="17" name="ZoneTexte 16">
            <a:extLst>
              <a:ext uri="{FF2B5EF4-FFF2-40B4-BE49-F238E27FC236}">
                <a16:creationId xmlns:a16="http://schemas.microsoft.com/office/drawing/2014/main" id="{C8B3370C-2067-E5FB-49E8-FDD12623A72B}"/>
              </a:ext>
            </a:extLst>
          </p:cNvPr>
          <p:cNvSpPr txBox="1"/>
          <p:nvPr/>
        </p:nvSpPr>
        <p:spPr>
          <a:xfrm>
            <a:off x="997519" y="4281400"/>
            <a:ext cx="1063286" cy="646331"/>
          </a:xfrm>
          <a:prstGeom prst="rect">
            <a:avLst/>
          </a:prstGeom>
          <a:noFill/>
        </p:spPr>
        <p:txBody>
          <a:bodyPr wrap="square">
            <a:spAutoFit/>
          </a:bodyPr>
          <a:lstStyle/>
          <a:p>
            <a:pPr algn="ctr"/>
            <a:r>
              <a:rPr lang="fr-FR" dirty="0" err="1"/>
              <a:t>Backlog</a:t>
            </a:r>
            <a:r>
              <a:rPr lang="fr-FR" dirty="0"/>
              <a:t> mental</a:t>
            </a:r>
          </a:p>
        </p:txBody>
      </p:sp>
      <p:sp>
        <p:nvSpPr>
          <p:cNvPr id="18" name="ZoneTexte 17">
            <a:extLst>
              <a:ext uri="{FF2B5EF4-FFF2-40B4-BE49-F238E27FC236}">
                <a16:creationId xmlns:a16="http://schemas.microsoft.com/office/drawing/2014/main" id="{FCFF0778-EDA8-6BA2-986D-50F8953166CB}"/>
              </a:ext>
            </a:extLst>
          </p:cNvPr>
          <p:cNvSpPr txBox="1"/>
          <p:nvPr/>
        </p:nvSpPr>
        <p:spPr>
          <a:xfrm>
            <a:off x="3340139" y="4245563"/>
            <a:ext cx="1063286" cy="646331"/>
          </a:xfrm>
          <a:prstGeom prst="rect">
            <a:avLst/>
          </a:prstGeom>
          <a:noFill/>
        </p:spPr>
        <p:txBody>
          <a:bodyPr wrap="square">
            <a:spAutoFit/>
          </a:bodyPr>
          <a:lstStyle/>
          <a:p>
            <a:pPr algn="ctr"/>
            <a:r>
              <a:rPr lang="fr-FR" dirty="0"/>
              <a:t>Liste simple </a:t>
            </a:r>
          </a:p>
        </p:txBody>
      </p:sp>
      <p:sp>
        <p:nvSpPr>
          <p:cNvPr id="19" name="ZoneTexte 18">
            <a:extLst>
              <a:ext uri="{FF2B5EF4-FFF2-40B4-BE49-F238E27FC236}">
                <a16:creationId xmlns:a16="http://schemas.microsoft.com/office/drawing/2014/main" id="{2E68A3E1-0B9E-EDC4-7DC6-2732D61FF191}"/>
              </a:ext>
            </a:extLst>
          </p:cNvPr>
          <p:cNvSpPr txBox="1"/>
          <p:nvPr/>
        </p:nvSpPr>
        <p:spPr>
          <a:xfrm>
            <a:off x="5682759" y="4291623"/>
            <a:ext cx="1063286" cy="646331"/>
          </a:xfrm>
          <a:prstGeom prst="rect">
            <a:avLst/>
          </a:prstGeom>
          <a:noFill/>
        </p:spPr>
        <p:txBody>
          <a:bodyPr wrap="square">
            <a:spAutoFit/>
          </a:bodyPr>
          <a:lstStyle/>
          <a:p>
            <a:pPr algn="ctr"/>
            <a:r>
              <a:rPr lang="fr-FR" dirty="0"/>
              <a:t>Eléments mobiles</a:t>
            </a:r>
          </a:p>
        </p:txBody>
      </p:sp>
      <p:sp>
        <p:nvSpPr>
          <p:cNvPr id="20" name="ZoneTexte 19">
            <a:extLst>
              <a:ext uri="{FF2B5EF4-FFF2-40B4-BE49-F238E27FC236}">
                <a16:creationId xmlns:a16="http://schemas.microsoft.com/office/drawing/2014/main" id="{D3965969-1B21-ADA5-8382-F09D87EAC310}"/>
              </a:ext>
            </a:extLst>
          </p:cNvPr>
          <p:cNvSpPr txBox="1"/>
          <p:nvPr/>
        </p:nvSpPr>
        <p:spPr>
          <a:xfrm>
            <a:off x="7948905" y="4245562"/>
            <a:ext cx="1223061" cy="646331"/>
          </a:xfrm>
          <a:prstGeom prst="rect">
            <a:avLst/>
          </a:prstGeom>
          <a:noFill/>
        </p:spPr>
        <p:txBody>
          <a:bodyPr wrap="square">
            <a:spAutoFit/>
          </a:bodyPr>
          <a:lstStyle/>
          <a:p>
            <a:pPr algn="ctr"/>
            <a:r>
              <a:rPr lang="fr-FR" dirty="0"/>
              <a:t>Eléments structurés</a:t>
            </a:r>
          </a:p>
        </p:txBody>
      </p:sp>
      <p:sp>
        <p:nvSpPr>
          <p:cNvPr id="24" name="ZoneTexte 23">
            <a:extLst>
              <a:ext uri="{FF2B5EF4-FFF2-40B4-BE49-F238E27FC236}">
                <a16:creationId xmlns:a16="http://schemas.microsoft.com/office/drawing/2014/main" id="{FCDFB9D1-7FE3-9658-4DBC-325D4786403B}"/>
              </a:ext>
            </a:extLst>
          </p:cNvPr>
          <p:cNvSpPr txBox="1"/>
          <p:nvPr/>
        </p:nvSpPr>
        <p:spPr>
          <a:xfrm>
            <a:off x="9944599" y="4067101"/>
            <a:ext cx="1928886" cy="923330"/>
          </a:xfrm>
          <a:prstGeom prst="rect">
            <a:avLst/>
          </a:prstGeom>
          <a:noFill/>
        </p:spPr>
        <p:txBody>
          <a:bodyPr wrap="square">
            <a:spAutoFit/>
          </a:bodyPr>
          <a:lstStyle/>
          <a:p>
            <a:pPr algn="ctr"/>
            <a:r>
              <a:rPr lang="fr-FR" dirty="0"/>
              <a:t>Liste structurée d’éléments structurés</a:t>
            </a:r>
          </a:p>
        </p:txBody>
      </p:sp>
      <p:sp>
        <p:nvSpPr>
          <p:cNvPr id="31" name="ZoneTexte 30">
            <a:extLst>
              <a:ext uri="{FF2B5EF4-FFF2-40B4-BE49-F238E27FC236}">
                <a16:creationId xmlns:a16="http://schemas.microsoft.com/office/drawing/2014/main" id="{68F45DDC-1C60-A674-833E-A0486119F95C}"/>
              </a:ext>
            </a:extLst>
          </p:cNvPr>
          <p:cNvSpPr txBox="1"/>
          <p:nvPr/>
        </p:nvSpPr>
        <p:spPr>
          <a:xfrm>
            <a:off x="839070" y="4990198"/>
            <a:ext cx="1368269" cy="818356"/>
          </a:xfrm>
          <a:prstGeom prst="rect">
            <a:avLst/>
          </a:prstGeom>
          <a:noFill/>
          <a:ln>
            <a:solidFill>
              <a:schemeClr val="tx1"/>
            </a:solidFill>
          </a:ln>
        </p:spPr>
        <p:txBody>
          <a:bodyPr wrap="square" anchor="ctr">
            <a:noAutofit/>
          </a:bodyPr>
          <a:lstStyle/>
          <a:p>
            <a:pPr algn="ctr"/>
            <a:r>
              <a:rPr lang="fr-FR" sz="1400" dirty="0"/>
              <a:t>Le Community Booster a tout un plan dans sa tête</a:t>
            </a:r>
          </a:p>
        </p:txBody>
      </p:sp>
      <p:sp>
        <p:nvSpPr>
          <p:cNvPr id="32" name="ZoneTexte 31">
            <a:extLst>
              <a:ext uri="{FF2B5EF4-FFF2-40B4-BE49-F238E27FC236}">
                <a16:creationId xmlns:a16="http://schemas.microsoft.com/office/drawing/2014/main" id="{1AF5AE63-BA66-110F-1F5B-1C6D29E57459}"/>
              </a:ext>
            </a:extLst>
          </p:cNvPr>
          <p:cNvSpPr txBox="1"/>
          <p:nvPr/>
        </p:nvSpPr>
        <p:spPr>
          <a:xfrm>
            <a:off x="3184886" y="4990198"/>
            <a:ext cx="1368269" cy="818356"/>
          </a:xfrm>
          <a:prstGeom prst="rect">
            <a:avLst/>
          </a:prstGeom>
          <a:noFill/>
          <a:ln>
            <a:solidFill>
              <a:schemeClr val="tx1"/>
            </a:solidFill>
          </a:ln>
        </p:spPr>
        <p:txBody>
          <a:bodyPr wrap="square" anchor="ctr">
            <a:noAutofit/>
          </a:bodyPr>
          <a:lstStyle/>
          <a:p>
            <a:pPr algn="ctr"/>
            <a:r>
              <a:rPr lang="fr-FR" sz="1400" dirty="0"/>
              <a:t>Liste de courses à faire</a:t>
            </a:r>
          </a:p>
        </p:txBody>
      </p:sp>
      <p:sp>
        <p:nvSpPr>
          <p:cNvPr id="33" name="ZoneTexte 32">
            <a:extLst>
              <a:ext uri="{FF2B5EF4-FFF2-40B4-BE49-F238E27FC236}">
                <a16:creationId xmlns:a16="http://schemas.microsoft.com/office/drawing/2014/main" id="{A0ACC1D1-5C20-8F57-9B1B-E8644FCFFB67}"/>
              </a:ext>
            </a:extLst>
          </p:cNvPr>
          <p:cNvSpPr txBox="1"/>
          <p:nvPr/>
        </p:nvSpPr>
        <p:spPr>
          <a:xfrm>
            <a:off x="5530702" y="4990198"/>
            <a:ext cx="1368269" cy="818356"/>
          </a:xfrm>
          <a:prstGeom prst="rect">
            <a:avLst/>
          </a:prstGeom>
          <a:noFill/>
          <a:ln>
            <a:solidFill>
              <a:schemeClr val="tx1"/>
            </a:solidFill>
          </a:ln>
        </p:spPr>
        <p:txBody>
          <a:bodyPr wrap="square" anchor="ctr">
            <a:noAutofit/>
          </a:bodyPr>
          <a:lstStyle/>
          <a:p>
            <a:pPr algn="ctr"/>
            <a:r>
              <a:rPr lang="fr-FR" sz="1400" dirty="0"/>
              <a:t>Post-</a:t>
            </a:r>
            <a:r>
              <a:rPr lang="fr-FR" sz="1400" dirty="0" err="1"/>
              <a:t>its</a:t>
            </a:r>
            <a:r>
              <a:rPr lang="fr-FR" sz="1400" dirty="0"/>
              <a:t> sur un mur physique (ou virtuel)</a:t>
            </a:r>
          </a:p>
        </p:txBody>
      </p:sp>
      <p:sp>
        <p:nvSpPr>
          <p:cNvPr id="34" name="ZoneTexte 33">
            <a:extLst>
              <a:ext uri="{FF2B5EF4-FFF2-40B4-BE49-F238E27FC236}">
                <a16:creationId xmlns:a16="http://schemas.microsoft.com/office/drawing/2014/main" id="{BEE5E4E3-2C75-A177-B32F-464E041985BC}"/>
              </a:ext>
            </a:extLst>
          </p:cNvPr>
          <p:cNvSpPr txBox="1"/>
          <p:nvPr/>
        </p:nvSpPr>
        <p:spPr>
          <a:xfrm>
            <a:off x="7876518" y="4990198"/>
            <a:ext cx="1368269" cy="818356"/>
          </a:xfrm>
          <a:prstGeom prst="rect">
            <a:avLst/>
          </a:prstGeom>
          <a:noFill/>
          <a:ln>
            <a:solidFill>
              <a:schemeClr val="tx1"/>
            </a:solidFill>
          </a:ln>
        </p:spPr>
        <p:txBody>
          <a:bodyPr wrap="square" anchor="ctr">
            <a:noAutofit/>
          </a:bodyPr>
          <a:lstStyle/>
          <a:p>
            <a:pPr algn="ctr"/>
            <a:r>
              <a:rPr lang="fr-FR" sz="1400" dirty="0"/>
              <a:t>Tableau avec critères et notations</a:t>
            </a:r>
          </a:p>
        </p:txBody>
      </p:sp>
      <p:sp>
        <p:nvSpPr>
          <p:cNvPr id="35" name="ZoneTexte 34">
            <a:extLst>
              <a:ext uri="{FF2B5EF4-FFF2-40B4-BE49-F238E27FC236}">
                <a16:creationId xmlns:a16="http://schemas.microsoft.com/office/drawing/2014/main" id="{F2C5D186-7AAA-3903-A31F-FC0618931D30}"/>
              </a:ext>
            </a:extLst>
          </p:cNvPr>
          <p:cNvSpPr txBox="1"/>
          <p:nvPr/>
        </p:nvSpPr>
        <p:spPr>
          <a:xfrm>
            <a:off x="10222334" y="4990198"/>
            <a:ext cx="1368269" cy="818356"/>
          </a:xfrm>
          <a:prstGeom prst="rect">
            <a:avLst/>
          </a:prstGeom>
          <a:noFill/>
          <a:ln>
            <a:solidFill>
              <a:schemeClr val="tx1"/>
            </a:solidFill>
          </a:ln>
        </p:spPr>
        <p:txBody>
          <a:bodyPr wrap="square" anchor="ctr">
            <a:noAutofit/>
          </a:bodyPr>
          <a:lstStyle/>
          <a:p>
            <a:pPr algn="ctr"/>
            <a:r>
              <a:rPr lang="fr-FR" sz="1400" dirty="0"/>
              <a:t>Système de </a:t>
            </a:r>
            <a:r>
              <a:rPr lang="fr-FR" sz="1400" dirty="0" err="1"/>
              <a:t>ticketing</a:t>
            </a:r>
            <a:r>
              <a:rPr lang="fr-FR" sz="1400" dirty="0"/>
              <a:t> avancé (JIRA, Redmine, …)</a:t>
            </a:r>
          </a:p>
        </p:txBody>
      </p:sp>
      <p:sp>
        <p:nvSpPr>
          <p:cNvPr id="36" name="ZoneTexte 35">
            <a:extLst>
              <a:ext uri="{FF2B5EF4-FFF2-40B4-BE49-F238E27FC236}">
                <a16:creationId xmlns:a16="http://schemas.microsoft.com/office/drawing/2014/main" id="{CA27738C-5C0A-CDCD-5FEC-318360635CCC}"/>
              </a:ext>
            </a:extLst>
          </p:cNvPr>
          <p:cNvSpPr txBox="1"/>
          <p:nvPr/>
        </p:nvSpPr>
        <p:spPr>
          <a:xfrm>
            <a:off x="838200" y="5938428"/>
            <a:ext cx="1368269" cy="818356"/>
          </a:xfrm>
          <a:prstGeom prst="rect">
            <a:avLst/>
          </a:prstGeom>
          <a:noFill/>
          <a:ln>
            <a:solidFill>
              <a:schemeClr val="tx1"/>
            </a:solidFill>
          </a:ln>
        </p:spPr>
        <p:txBody>
          <a:bodyPr wrap="square" anchor="ctr">
            <a:noAutofit/>
          </a:bodyPr>
          <a:lstStyle/>
          <a:p>
            <a:pPr algn="ctr"/>
            <a:r>
              <a:rPr lang="fr-FR" sz="1400" dirty="0"/>
              <a:t>Les actions dans les habitudes non formalisées de l’expert</a:t>
            </a:r>
          </a:p>
        </p:txBody>
      </p:sp>
      <p:sp>
        <p:nvSpPr>
          <p:cNvPr id="37" name="ZoneTexte 36">
            <a:extLst>
              <a:ext uri="{FF2B5EF4-FFF2-40B4-BE49-F238E27FC236}">
                <a16:creationId xmlns:a16="http://schemas.microsoft.com/office/drawing/2014/main" id="{2FD7A299-50C2-A8E1-EB22-B0A1DF7815CF}"/>
              </a:ext>
            </a:extLst>
          </p:cNvPr>
          <p:cNvSpPr txBox="1"/>
          <p:nvPr/>
        </p:nvSpPr>
        <p:spPr>
          <a:xfrm>
            <a:off x="3184234" y="5938428"/>
            <a:ext cx="1368269" cy="818356"/>
          </a:xfrm>
          <a:prstGeom prst="rect">
            <a:avLst/>
          </a:prstGeom>
          <a:noFill/>
          <a:ln>
            <a:solidFill>
              <a:schemeClr val="tx1"/>
            </a:solidFill>
          </a:ln>
        </p:spPr>
        <p:txBody>
          <a:bodyPr wrap="square" anchor="ctr">
            <a:noAutofit/>
          </a:bodyPr>
          <a:lstStyle/>
          <a:p>
            <a:pPr algn="ctr"/>
            <a:r>
              <a:rPr lang="fr-FR" sz="1400" dirty="0"/>
              <a:t>Liste de tâches par mail</a:t>
            </a:r>
          </a:p>
        </p:txBody>
      </p:sp>
      <p:sp>
        <p:nvSpPr>
          <p:cNvPr id="38" name="ZoneTexte 37">
            <a:extLst>
              <a:ext uri="{FF2B5EF4-FFF2-40B4-BE49-F238E27FC236}">
                <a16:creationId xmlns:a16="http://schemas.microsoft.com/office/drawing/2014/main" id="{292B1DDE-521F-ED99-54B2-DDB5AA489B68}"/>
              </a:ext>
            </a:extLst>
          </p:cNvPr>
          <p:cNvSpPr txBox="1"/>
          <p:nvPr/>
        </p:nvSpPr>
        <p:spPr>
          <a:xfrm>
            <a:off x="5530268" y="5938428"/>
            <a:ext cx="1368269" cy="818356"/>
          </a:xfrm>
          <a:prstGeom prst="rect">
            <a:avLst/>
          </a:prstGeom>
          <a:noFill/>
          <a:ln>
            <a:solidFill>
              <a:schemeClr val="tx1"/>
            </a:solidFill>
          </a:ln>
        </p:spPr>
        <p:txBody>
          <a:bodyPr wrap="square" anchor="ctr">
            <a:noAutofit/>
          </a:bodyPr>
          <a:lstStyle/>
          <a:p>
            <a:pPr algn="ctr"/>
            <a:r>
              <a:rPr lang="fr-FR" sz="1400" dirty="0"/>
              <a:t>Tickets simple sur un outil simple (Trello, ..)</a:t>
            </a:r>
          </a:p>
        </p:txBody>
      </p:sp>
      <p:sp>
        <p:nvSpPr>
          <p:cNvPr id="39" name="ZoneTexte 38">
            <a:extLst>
              <a:ext uri="{FF2B5EF4-FFF2-40B4-BE49-F238E27FC236}">
                <a16:creationId xmlns:a16="http://schemas.microsoft.com/office/drawing/2014/main" id="{310A99FE-101C-DE4A-B4A6-444E38405212}"/>
              </a:ext>
            </a:extLst>
          </p:cNvPr>
          <p:cNvSpPr txBox="1"/>
          <p:nvPr/>
        </p:nvSpPr>
        <p:spPr>
          <a:xfrm>
            <a:off x="7876302" y="5938428"/>
            <a:ext cx="1368269" cy="818356"/>
          </a:xfrm>
          <a:prstGeom prst="rect">
            <a:avLst/>
          </a:prstGeom>
          <a:noFill/>
          <a:ln>
            <a:solidFill>
              <a:schemeClr val="tx1"/>
            </a:solidFill>
          </a:ln>
        </p:spPr>
        <p:txBody>
          <a:bodyPr wrap="square" anchor="ctr">
            <a:noAutofit/>
          </a:bodyPr>
          <a:lstStyle/>
          <a:p>
            <a:pPr algn="ctr"/>
            <a:r>
              <a:rPr lang="fr-FR" sz="1400" dirty="0"/>
              <a:t>Catalogue de contenus possibles notés par intérêt</a:t>
            </a:r>
          </a:p>
        </p:txBody>
      </p:sp>
      <p:sp>
        <p:nvSpPr>
          <p:cNvPr id="40" name="ZoneTexte 39">
            <a:extLst>
              <a:ext uri="{FF2B5EF4-FFF2-40B4-BE49-F238E27FC236}">
                <a16:creationId xmlns:a16="http://schemas.microsoft.com/office/drawing/2014/main" id="{85CBE078-54AF-B97B-0719-A36A3DEA08A5}"/>
              </a:ext>
            </a:extLst>
          </p:cNvPr>
          <p:cNvSpPr txBox="1"/>
          <p:nvPr/>
        </p:nvSpPr>
        <p:spPr>
          <a:xfrm>
            <a:off x="10222334" y="5938428"/>
            <a:ext cx="1368269" cy="818356"/>
          </a:xfrm>
          <a:prstGeom prst="rect">
            <a:avLst/>
          </a:prstGeom>
          <a:noFill/>
          <a:ln>
            <a:solidFill>
              <a:schemeClr val="tx1"/>
            </a:solidFill>
          </a:ln>
        </p:spPr>
        <p:txBody>
          <a:bodyPr wrap="square" anchor="ctr">
            <a:noAutofit/>
          </a:bodyPr>
          <a:lstStyle/>
          <a:p>
            <a:pPr algn="ctr"/>
            <a:r>
              <a:rPr lang="fr-FR" sz="1400" dirty="0"/>
              <a:t>Calendrier avec événements et contenus à venir, détaillés</a:t>
            </a:r>
          </a:p>
        </p:txBody>
      </p:sp>
      <p:sp>
        <p:nvSpPr>
          <p:cNvPr id="41" name="Flèche : double flèche horizontale 40">
            <a:extLst>
              <a:ext uri="{FF2B5EF4-FFF2-40B4-BE49-F238E27FC236}">
                <a16:creationId xmlns:a16="http://schemas.microsoft.com/office/drawing/2014/main" id="{F405207E-566D-F3F1-276A-1DE3E89D477A}"/>
              </a:ext>
            </a:extLst>
          </p:cNvPr>
          <p:cNvSpPr/>
          <p:nvPr/>
        </p:nvSpPr>
        <p:spPr>
          <a:xfrm>
            <a:off x="236738" y="1803319"/>
            <a:ext cx="11718524" cy="483327"/>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fr-FR" sz="1400" dirty="0"/>
          </a:p>
        </p:txBody>
      </p:sp>
      <p:pic>
        <p:nvPicPr>
          <p:cNvPr id="42" name="Graphique 41" descr="Bulle de pensée contour">
            <a:extLst>
              <a:ext uri="{FF2B5EF4-FFF2-40B4-BE49-F238E27FC236}">
                <a16:creationId xmlns:a16="http://schemas.microsoft.com/office/drawing/2014/main" id="{6A87C09E-77C0-F495-569C-5C6E5C9332E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flipH="1">
            <a:off x="586636" y="2179007"/>
            <a:ext cx="1265128" cy="1282443"/>
          </a:xfrm>
          <a:prstGeom prst="rect">
            <a:avLst/>
          </a:prstGeom>
        </p:spPr>
      </p:pic>
      <p:grpSp>
        <p:nvGrpSpPr>
          <p:cNvPr id="43" name="Groupe 42">
            <a:extLst>
              <a:ext uri="{FF2B5EF4-FFF2-40B4-BE49-F238E27FC236}">
                <a16:creationId xmlns:a16="http://schemas.microsoft.com/office/drawing/2014/main" id="{4E783DA0-82D9-3602-1082-C1723D696FE1}"/>
              </a:ext>
            </a:extLst>
          </p:cNvPr>
          <p:cNvGrpSpPr/>
          <p:nvPr/>
        </p:nvGrpSpPr>
        <p:grpSpPr>
          <a:xfrm>
            <a:off x="1168386" y="3277428"/>
            <a:ext cx="916093" cy="916094"/>
            <a:chOff x="1195526" y="3102720"/>
            <a:chExt cx="1771118" cy="1771119"/>
          </a:xfrm>
        </p:grpSpPr>
        <p:pic>
          <p:nvPicPr>
            <p:cNvPr id="44" name="Graphique 43" descr="Homme conductrice avec un remplissage uni">
              <a:extLst>
                <a:ext uri="{FF2B5EF4-FFF2-40B4-BE49-F238E27FC236}">
                  <a16:creationId xmlns:a16="http://schemas.microsoft.com/office/drawing/2014/main" id="{787997C9-CBE9-8C09-1BF2-F3323EB7199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95526" y="3102720"/>
              <a:ext cx="1771118" cy="1771119"/>
            </a:xfrm>
            <a:prstGeom prst="rect">
              <a:avLst/>
            </a:prstGeom>
          </p:spPr>
        </p:pic>
        <p:sp>
          <p:nvSpPr>
            <p:cNvPr id="45" name="Rectangle 44">
              <a:extLst>
                <a:ext uri="{FF2B5EF4-FFF2-40B4-BE49-F238E27FC236}">
                  <a16:creationId xmlns:a16="http://schemas.microsoft.com/office/drawing/2014/main" id="{19F95E77-65F9-E252-9C2D-3720A523208E}"/>
                </a:ext>
              </a:extLst>
            </p:cNvPr>
            <p:cNvSpPr/>
            <p:nvPr/>
          </p:nvSpPr>
          <p:spPr>
            <a:xfrm>
              <a:off x="2510447" y="3102720"/>
              <a:ext cx="456197" cy="9361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46" name="Graphique 45" descr="Priorités avec un remplissage uni">
            <a:extLst>
              <a:ext uri="{FF2B5EF4-FFF2-40B4-BE49-F238E27FC236}">
                <a16:creationId xmlns:a16="http://schemas.microsoft.com/office/drawing/2014/main" id="{598F5B39-EFE7-8F2C-30AE-251581526B8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13165" y="2397863"/>
            <a:ext cx="528942" cy="528942"/>
          </a:xfrm>
          <a:prstGeom prst="rect">
            <a:avLst/>
          </a:prstGeom>
        </p:spPr>
      </p:pic>
      <p:pic>
        <p:nvPicPr>
          <p:cNvPr id="47" name="Graphique 46" descr="Notes Post-it avec un remplissage uni">
            <a:extLst>
              <a:ext uri="{FF2B5EF4-FFF2-40B4-BE49-F238E27FC236}">
                <a16:creationId xmlns:a16="http://schemas.microsoft.com/office/drawing/2014/main" id="{D82695D8-4036-16B5-0E11-4D9B9D9583F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727789" y="2697286"/>
            <a:ext cx="914400" cy="914400"/>
          </a:xfrm>
          <a:prstGeom prst="rect">
            <a:avLst/>
          </a:prstGeom>
        </p:spPr>
      </p:pic>
      <p:pic>
        <p:nvPicPr>
          <p:cNvPr id="48" name="Graphique 47" descr="Liste contour">
            <a:extLst>
              <a:ext uri="{FF2B5EF4-FFF2-40B4-BE49-F238E27FC236}">
                <a16:creationId xmlns:a16="http://schemas.microsoft.com/office/drawing/2014/main" id="{E810708A-978D-823F-5BEC-A4D913D609E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461668" y="2659058"/>
            <a:ext cx="914400" cy="914400"/>
          </a:xfrm>
          <a:prstGeom prst="rect">
            <a:avLst/>
          </a:prstGeom>
        </p:spPr>
      </p:pic>
      <p:pic>
        <p:nvPicPr>
          <p:cNvPr id="49" name="Image 48">
            <a:extLst>
              <a:ext uri="{FF2B5EF4-FFF2-40B4-BE49-F238E27FC236}">
                <a16:creationId xmlns:a16="http://schemas.microsoft.com/office/drawing/2014/main" id="{1474A32D-7D2F-D27A-ECB4-7E61B89E5F5F}"/>
              </a:ext>
            </a:extLst>
          </p:cNvPr>
          <p:cNvPicPr>
            <a:picLocks noChangeAspect="1"/>
          </p:cNvPicPr>
          <p:nvPr/>
        </p:nvPicPr>
        <p:blipFill rotWithShape="1">
          <a:blip r:embed="rId12"/>
          <a:srcRect r="15531"/>
          <a:stretch/>
        </p:blipFill>
        <p:spPr>
          <a:xfrm>
            <a:off x="7475230" y="2827553"/>
            <a:ext cx="2124371" cy="607770"/>
          </a:xfrm>
          <a:prstGeom prst="rect">
            <a:avLst/>
          </a:prstGeom>
        </p:spPr>
      </p:pic>
      <p:pic>
        <p:nvPicPr>
          <p:cNvPr id="50" name="Image 49" descr="Une image contenant texte&#10;&#10;Description générée automatiquement">
            <a:extLst>
              <a:ext uri="{FF2B5EF4-FFF2-40B4-BE49-F238E27FC236}">
                <a16:creationId xmlns:a16="http://schemas.microsoft.com/office/drawing/2014/main" id="{A92EEC12-2AAD-7EC7-795F-F60F76B833C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9944599" y="2649661"/>
            <a:ext cx="1873188" cy="1085814"/>
          </a:xfrm>
          <a:prstGeom prst="rect">
            <a:avLst/>
          </a:prstGeom>
        </p:spPr>
      </p:pic>
      <p:sp>
        <p:nvSpPr>
          <p:cNvPr id="51" name="ZoneTexte 50">
            <a:extLst>
              <a:ext uri="{FF2B5EF4-FFF2-40B4-BE49-F238E27FC236}">
                <a16:creationId xmlns:a16="http://schemas.microsoft.com/office/drawing/2014/main" id="{80E2FF77-814F-6AAC-5B9F-508EE5FB22C5}"/>
              </a:ext>
            </a:extLst>
          </p:cNvPr>
          <p:cNvSpPr txBox="1"/>
          <p:nvPr/>
        </p:nvSpPr>
        <p:spPr>
          <a:xfrm>
            <a:off x="330231" y="1860316"/>
            <a:ext cx="1063286" cy="369332"/>
          </a:xfrm>
          <a:prstGeom prst="rect">
            <a:avLst/>
          </a:prstGeom>
          <a:noFill/>
        </p:spPr>
        <p:txBody>
          <a:bodyPr wrap="square">
            <a:spAutoFit/>
          </a:bodyPr>
          <a:lstStyle/>
          <a:p>
            <a:pPr algn="ctr"/>
            <a:r>
              <a:rPr lang="fr-FR" b="1" dirty="0">
                <a:solidFill>
                  <a:schemeClr val="bg1"/>
                </a:solidFill>
              </a:rPr>
              <a:t>Simple</a:t>
            </a:r>
          </a:p>
        </p:txBody>
      </p:sp>
      <p:sp>
        <p:nvSpPr>
          <p:cNvPr id="52" name="ZoneTexte 51">
            <a:extLst>
              <a:ext uri="{FF2B5EF4-FFF2-40B4-BE49-F238E27FC236}">
                <a16:creationId xmlns:a16="http://schemas.microsoft.com/office/drawing/2014/main" id="{9EE2CD5B-A1A3-690F-2965-067DEC861A2C}"/>
              </a:ext>
            </a:extLst>
          </p:cNvPr>
          <p:cNvSpPr txBox="1"/>
          <p:nvPr/>
        </p:nvSpPr>
        <p:spPr>
          <a:xfrm>
            <a:off x="10768910" y="1860316"/>
            <a:ext cx="1063286" cy="369332"/>
          </a:xfrm>
          <a:prstGeom prst="rect">
            <a:avLst/>
          </a:prstGeom>
          <a:noFill/>
        </p:spPr>
        <p:txBody>
          <a:bodyPr wrap="square">
            <a:spAutoFit/>
          </a:bodyPr>
          <a:lstStyle/>
          <a:p>
            <a:pPr algn="ctr"/>
            <a:r>
              <a:rPr lang="fr-FR" b="1" dirty="0">
                <a:solidFill>
                  <a:schemeClr val="bg1"/>
                </a:solidFill>
              </a:rPr>
              <a:t>Riche</a:t>
            </a:r>
          </a:p>
        </p:txBody>
      </p:sp>
    </p:spTree>
    <p:extLst>
      <p:ext uri="{BB962C8B-B14F-4D97-AF65-F5344CB8AC3E}">
        <p14:creationId xmlns:p14="http://schemas.microsoft.com/office/powerpoint/2010/main" val="1120533442"/>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F8812F4-5EEF-E57C-6B49-A6B1DB11936B}"/>
              </a:ext>
            </a:extLst>
          </p:cNvPr>
          <p:cNvSpPr>
            <a:spLocks noGrp="1"/>
          </p:cNvSpPr>
          <p:nvPr>
            <p:ph type="title"/>
          </p:nvPr>
        </p:nvSpPr>
        <p:spPr/>
        <p:txBody>
          <a:bodyPr/>
          <a:lstStyle/>
          <a:p>
            <a:r>
              <a:rPr lang="fr-FR" dirty="0"/>
              <a:t>Les niveaux de simplicité d’un </a:t>
            </a:r>
            <a:r>
              <a:rPr lang="fr-FR" dirty="0" err="1"/>
              <a:t>backlog</a:t>
            </a:r>
            <a:br>
              <a:rPr lang="fr-FR" dirty="0"/>
            </a:br>
            <a:r>
              <a:rPr lang="fr-FR" dirty="0"/>
              <a:t>Avantages et Inconvénients</a:t>
            </a:r>
          </a:p>
        </p:txBody>
      </p:sp>
      <p:sp>
        <p:nvSpPr>
          <p:cNvPr id="21" name="Flèche : double flèche horizontale 20">
            <a:extLst>
              <a:ext uri="{FF2B5EF4-FFF2-40B4-BE49-F238E27FC236}">
                <a16:creationId xmlns:a16="http://schemas.microsoft.com/office/drawing/2014/main" id="{3B1B431D-FE86-D3D4-01D9-A46BABB5FCE3}"/>
              </a:ext>
            </a:extLst>
          </p:cNvPr>
          <p:cNvSpPr/>
          <p:nvPr/>
        </p:nvSpPr>
        <p:spPr>
          <a:xfrm>
            <a:off x="236738" y="4289425"/>
            <a:ext cx="11718524" cy="483327"/>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fr-FR" sz="1400" dirty="0"/>
          </a:p>
        </p:txBody>
      </p:sp>
      <p:pic>
        <p:nvPicPr>
          <p:cNvPr id="22" name="Graphique 21" descr="Bulle de pensée contour">
            <a:extLst>
              <a:ext uri="{FF2B5EF4-FFF2-40B4-BE49-F238E27FC236}">
                <a16:creationId xmlns:a16="http://schemas.microsoft.com/office/drawing/2014/main" id="{8ED626B6-D33C-1583-AFFD-A395143664C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flipH="1">
            <a:off x="586636" y="4665113"/>
            <a:ext cx="1265128" cy="1282443"/>
          </a:xfrm>
          <a:prstGeom prst="rect">
            <a:avLst/>
          </a:prstGeom>
        </p:spPr>
      </p:pic>
      <p:grpSp>
        <p:nvGrpSpPr>
          <p:cNvPr id="25" name="Groupe 24">
            <a:extLst>
              <a:ext uri="{FF2B5EF4-FFF2-40B4-BE49-F238E27FC236}">
                <a16:creationId xmlns:a16="http://schemas.microsoft.com/office/drawing/2014/main" id="{1D73794B-FF9D-91D4-B086-35AE0C2904CF}"/>
              </a:ext>
            </a:extLst>
          </p:cNvPr>
          <p:cNvGrpSpPr/>
          <p:nvPr/>
        </p:nvGrpSpPr>
        <p:grpSpPr>
          <a:xfrm>
            <a:off x="1168386" y="5763534"/>
            <a:ext cx="916093" cy="916094"/>
            <a:chOff x="1195526" y="3102720"/>
            <a:chExt cx="1771118" cy="1771119"/>
          </a:xfrm>
        </p:grpSpPr>
        <p:pic>
          <p:nvPicPr>
            <p:cNvPr id="26" name="Graphique 25" descr="Homme conductrice avec un remplissage uni">
              <a:extLst>
                <a:ext uri="{FF2B5EF4-FFF2-40B4-BE49-F238E27FC236}">
                  <a16:creationId xmlns:a16="http://schemas.microsoft.com/office/drawing/2014/main" id="{314A616C-8384-7085-C32E-92D5FE4EACB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95526" y="3102720"/>
              <a:ext cx="1771118" cy="1771119"/>
            </a:xfrm>
            <a:prstGeom prst="rect">
              <a:avLst/>
            </a:prstGeom>
          </p:spPr>
        </p:pic>
        <p:sp>
          <p:nvSpPr>
            <p:cNvPr id="27" name="Rectangle 26">
              <a:extLst>
                <a:ext uri="{FF2B5EF4-FFF2-40B4-BE49-F238E27FC236}">
                  <a16:creationId xmlns:a16="http://schemas.microsoft.com/office/drawing/2014/main" id="{E490B6C2-648A-96F2-FB0E-54129E74C939}"/>
                </a:ext>
              </a:extLst>
            </p:cNvPr>
            <p:cNvSpPr/>
            <p:nvPr/>
          </p:nvSpPr>
          <p:spPr>
            <a:xfrm>
              <a:off x="2510447" y="3102720"/>
              <a:ext cx="456197" cy="9361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29" name="Graphique 28" descr="Priorités avec un remplissage uni">
            <a:extLst>
              <a:ext uri="{FF2B5EF4-FFF2-40B4-BE49-F238E27FC236}">
                <a16:creationId xmlns:a16="http://schemas.microsoft.com/office/drawing/2014/main" id="{48E9ED8C-1CFB-4999-D153-D2B5295C74B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13165" y="4883969"/>
            <a:ext cx="528942" cy="528942"/>
          </a:xfrm>
          <a:prstGeom prst="rect">
            <a:avLst/>
          </a:prstGeom>
        </p:spPr>
      </p:pic>
      <p:pic>
        <p:nvPicPr>
          <p:cNvPr id="30" name="Graphique 29" descr="Notes Post-it avec un remplissage uni">
            <a:extLst>
              <a:ext uri="{FF2B5EF4-FFF2-40B4-BE49-F238E27FC236}">
                <a16:creationId xmlns:a16="http://schemas.microsoft.com/office/drawing/2014/main" id="{E3F5B919-40EB-FA99-254F-DA3D7F08EA6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501197" y="5091245"/>
            <a:ext cx="914400" cy="914400"/>
          </a:xfrm>
          <a:prstGeom prst="rect">
            <a:avLst/>
          </a:prstGeom>
        </p:spPr>
      </p:pic>
      <p:pic>
        <p:nvPicPr>
          <p:cNvPr id="31" name="Graphique 30" descr="Liste contour">
            <a:extLst>
              <a:ext uri="{FF2B5EF4-FFF2-40B4-BE49-F238E27FC236}">
                <a16:creationId xmlns:a16="http://schemas.microsoft.com/office/drawing/2014/main" id="{3C22D84C-FF7B-41F7-CEA9-8157D515715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101119" y="5148440"/>
            <a:ext cx="914400" cy="914400"/>
          </a:xfrm>
          <a:prstGeom prst="rect">
            <a:avLst/>
          </a:prstGeom>
        </p:spPr>
      </p:pic>
      <p:pic>
        <p:nvPicPr>
          <p:cNvPr id="32" name="Image 31">
            <a:extLst>
              <a:ext uri="{FF2B5EF4-FFF2-40B4-BE49-F238E27FC236}">
                <a16:creationId xmlns:a16="http://schemas.microsoft.com/office/drawing/2014/main" id="{DEC453B0-C991-2236-A402-9DA1C4F79BBB}"/>
              </a:ext>
            </a:extLst>
          </p:cNvPr>
          <p:cNvPicPr>
            <a:picLocks noChangeAspect="1"/>
          </p:cNvPicPr>
          <p:nvPr/>
        </p:nvPicPr>
        <p:blipFill rotWithShape="1">
          <a:blip r:embed="rId12"/>
          <a:srcRect r="15531"/>
          <a:stretch/>
        </p:blipFill>
        <p:spPr>
          <a:xfrm>
            <a:off x="7148977" y="5232962"/>
            <a:ext cx="2350484" cy="672459"/>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C9B49A7-54E1-80C1-D9D3-299B7ABD5244}"/>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9832316" y="5220627"/>
            <a:ext cx="1873188" cy="1085814"/>
          </a:xfrm>
          <a:prstGeom prst="rect">
            <a:avLst/>
          </a:prstGeom>
        </p:spPr>
      </p:pic>
      <p:sp>
        <p:nvSpPr>
          <p:cNvPr id="34" name="ZoneTexte 33">
            <a:extLst>
              <a:ext uri="{FF2B5EF4-FFF2-40B4-BE49-F238E27FC236}">
                <a16:creationId xmlns:a16="http://schemas.microsoft.com/office/drawing/2014/main" id="{EDB31912-1872-144C-D76E-BBE298210774}"/>
              </a:ext>
            </a:extLst>
          </p:cNvPr>
          <p:cNvSpPr txBox="1"/>
          <p:nvPr/>
        </p:nvSpPr>
        <p:spPr>
          <a:xfrm>
            <a:off x="330231" y="4346422"/>
            <a:ext cx="1063286" cy="369332"/>
          </a:xfrm>
          <a:prstGeom prst="rect">
            <a:avLst/>
          </a:prstGeom>
          <a:noFill/>
        </p:spPr>
        <p:txBody>
          <a:bodyPr wrap="square">
            <a:spAutoFit/>
          </a:bodyPr>
          <a:lstStyle/>
          <a:p>
            <a:pPr algn="ctr"/>
            <a:r>
              <a:rPr lang="fr-FR" b="1" dirty="0">
                <a:solidFill>
                  <a:schemeClr val="bg1"/>
                </a:solidFill>
              </a:rPr>
              <a:t>Simple</a:t>
            </a:r>
          </a:p>
        </p:txBody>
      </p:sp>
      <p:sp>
        <p:nvSpPr>
          <p:cNvPr id="35" name="ZoneTexte 34">
            <a:extLst>
              <a:ext uri="{FF2B5EF4-FFF2-40B4-BE49-F238E27FC236}">
                <a16:creationId xmlns:a16="http://schemas.microsoft.com/office/drawing/2014/main" id="{40FEC702-7352-29FB-B7C5-86AE340BAE08}"/>
              </a:ext>
            </a:extLst>
          </p:cNvPr>
          <p:cNvSpPr txBox="1"/>
          <p:nvPr/>
        </p:nvSpPr>
        <p:spPr>
          <a:xfrm>
            <a:off x="10768910" y="4346422"/>
            <a:ext cx="1063286" cy="369332"/>
          </a:xfrm>
          <a:prstGeom prst="rect">
            <a:avLst/>
          </a:prstGeom>
          <a:noFill/>
        </p:spPr>
        <p:txBody>
          <a:bodyPr wrap="square">
            <a:spAutoFit/>
          </a:bodyPr>
          <a:lstStyle/>
          <a:p>
            <a:pPr algn="ctr"/>
            <a:r>
              <a:rPr lang="fr-FR" b="1" dirty="0">
                <a:solidFill>
                  <a:schemeClr val="bg1"/>
                </a:solidFill>
              </a:rPr>
              <a:t>Riche</a:t>
            </a:r>
          </a:p>
        </p:txBody>
      </p:sp>
      <p:sp>
        <p:nvSpPr>
          <p:cNvPr id="38" name="Rectangle 37">
            <a:extLst>
              <a:ext uri="{FF2B5EF4-FFF2-40B4-BE49-F238E27FC236}">
                <a16:creationId xmlns:a16="http://schemas.microsoft.com/office/drawing/2014/main" id="{FC089F88-D5BA-2E1C-5A06-7620C117D068}"/>
              </a:ext>
            </a:extLst>
          </p:cNvPr>
          <p:cNvSpPr/>
          <p:nvPr/>
        </p:nvSpPr>
        <p:spPr>
          <a:xfrm>
            <a:off x="9895772" y="1747685"/>
            <a:ext cx="1746276" cy="557504"/>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Scalable (compatible pour un usage à grande échelle)</a:t>
            </a:r>
          </a:p>
        </p:txBody>
      </p:sp>
      <p:sp>
        <p:nvSpPr>
          <p:cNvPr id="39" name="Rectangle 38">
            <a:extLst>
              <a:ext uri="{FF2B5EF4-FFF2-40B4-BE49-F238E27FC236}">
                <a16:creationId xmlns:a16="http://schemas.microsoft.com/office/drawing/2014/main" id="{662D5A64-6244-1FE6-86A9-32383F71EE02}"/>
              </a:ext>
            </a:extLst>
          </p:cNvPr>
          <p:cNvSpPr/>
          <p:nvPr/>
        </p:nvSpPr>
        <p:spPr>
          <a:xfrm>
            <a:off x="9895772" y="3051715"/>
            <a:ext cx="1746276" cy="557504"/>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Nécessite beaucoup de méta-travail et de </a:t>
            </a:r>
            <a:r>
              <a:rPr lang="fr-FR" sz="1100" dirty="0" err="1">
                <a:solidFill>
                  <a:schemeClr val="tx1"/>
                </a:solidFill>
              </a:rPr>
              <a:t>disicipline</a:t>
            </a:r>
            <a:endParaRPr lang="fr-FR" sz="1100" dirty="0">
              <a:solidFill>
                <a:schemeClr val="tx1"/>
              </a:solidFill>
            </a:endParaRPr>
          </a:p>
        </p:txBody>
      </p:sp>
      <p:sp>
        <p:nvSpPr>
          <p:cNvPr id="40" name="Rectangle 39">
            <a:extLst>
              <a:ext uri="{FF2B5EF4-FFF2-40B4-BE49-F238E27FC236}">
                <a16:creationId xmlns:a16="http://schemas.microsoft.com/office/drawing/2014/main" id="{5233CFF1-7B14-F26E-0951-4D63E4788F77}"/>
              </a:ext>
            </a:extLst>
          </p:cNvPr>
          <p:cNvSpPr/>
          <p:nvPr/>
        </p:nvSpPr>
        <p:spPr>
          <a:xfrm>
            <a:off x="9895772" y="2335251"/>
            <a:ext cx="1746276" cy="557504"/>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Plus facile pour un usage autonome</a:t>
            </a:r>
          </a:p>
        </p:txBody>
      </p:sp>
      <p:sp>
        <p:nvSpPr>
          <p:cNvPr id="41" name="Rectangle 40">
            <a:extLst>
              <a:ext uri="{FF2B5EF4-FFF2-40B4-BE49-F238E27FC236}">
                <a16:creationId xmlns:a16="http://schemas.microsoft.com/office/drawing/2014/main" id="{7CF3A278-37CC-DB8F-51EB-12E95C1485EE}"/>
              </a:ext>
            </a:extLst>
          </p:cNvPr>
          <p:cNvSpPr/>
          <p:nvPr/>
        </p:nvSpPr>
        <p:spPr>
          <a:xfrm>
            <a:off x="9895772" y="3639281"/>
            <a:ext cx="1746276" cy="557504"/>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Nécessite souvent un outil avancé (à accepter et à maîtriser)</a:t>
            </a:r>
          </a:p>
        </p:txBody>
      </p:sp>
      <p:sp>
        <p:nvSpPr>
          <p:cNvPr id="42" name="Rectangle 41">
            <a:extLst>
              <a:ext uri="{FF2B5EF4-FFF2-40B4-BE49-F238E27FC236}">
                <a16:creationId xmlns:a16="http://schemas.microsoft.com/office/drawing/2014/main" id="{4B3B60A5-1810-94C8-A220-A58933A538E4}"/>
              </a:ext>
            </a:extLst>
          </p:cNvPr>
          <p:cNvSpPr/>
          <p:nvPr/>
        </p:nvSpPr>
        <p:spPr>
          <a:xfrm>
            <a:off x="295248" y="1747685"/>
            <a:ext cx="1746276" cy="557504"/>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 plus naturel</a:t>
            </a:r>
          </a:p>
        </p:txBody>
      </p:sp>
      <p:sp>
        <p:nvSpPr>
          <p:cNvPr id="43" name="Rectangle 42">
            <a:extLst>
              <a:ext uri="{FF2B5EF4-FFF2-40B4-BE49-F238E27FC236}">
                <a16:creationId xmlns:a16="http://schemas.microsoft.com/office/drawing/2014/main" id="{4343F92B-8141-E64E-0822-04358D0DB971}"/>
              </a:ext>
            </a:extLst>
          </p:cNvPr>
          <p:cNvSpPr/>
          <p:nvPr/>
        </p:nvSpPr>
        <p:spPr>
          <a:xfrm>
            <a:off x="295248" y="3051715"/>
            <a:ext cx="1746276" cy="557504"/>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Dépend beaucoup de la personne (disponibilité, ouverture, capacité)</a:t>
            </a:r>
          </a:p>
        </p:txBody>
      </p:sp>
      <p:sp>
        <p:nvSpPr>
          <p:cNvPr id="44" name="Rectangle 43">
            <a:extLst>
              <a:ext uri="{FF2B5EF4-FFF2-40B4-BE49-F238E27FC236}">
                <a16:creationId xmlns:a16="http://schemas.microsoft.com/office/drawing/2014/main" id="{72A0439E-62D3-0C11-A3A4-4A8E1D3DB5C7}"/>
              </a:ext>
            </a:extLst>
          </p:cNvPr>
          <p:cNvSpPr/>
          <p:nvPr/>
        </p:nvSpPr>
        <p:spPr>
          <a:xfrm>
            <a:off x="295248" y="2335251"/>
            <a:ext cx="1746276" cy="557504"/>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Quasiment aucun méta-travail</a:t>
            </a:r>
          </a:p>
        </p:txBody>
      </p:sp>
      <p:sp>
        <p:nvSpPr>
          <p:cNvPr id="45" name="Rectangle 44">
            <a:extLst>
              <a:ext uri="{FF2B5EF4-FFF2-40B4-BE49-F238E27FC236}">
                <a16:creationId xmlns:a16="http://schemas.microsoft.com/office/drawing/2014/main" id="{381B2FC9-583F-09D2-AE6C-3453CC275964}"/>
              </a:ext>
            </a:extLst>
          </p:cNvPr>
          <p:cNvSpPr/>
          <p:nvPr/>
        </p:nvSpPr>
        <p:spPr>
          <a:xfrm>
            <a:off x="295248" y="3639281"/>
            <a:ext cx="1746276" cy="557504"/>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Difficile pour passer à l’échelle. Effort pour utiliser en équipe</a:t>
            </a:r>
          </a:p>
        </p:txBody>
      </p:sp>
      <p:sp>
        <p:nvSpPr>
          <p:cNvPr id="46" name="Rectangle 45">
            <a:extLst>
              <a:ext uri="{FF2B5EF4-FFF2-40B4-BE49-F238E27FC236}">
                <a16:creationId xmlns:a16="http://schemas.microsoft.com/office/drawing/2014/main" id="{39DB7E69-A26E-CB75-96EE-9515D6DC1086}"/>
              </a:ext>
            </a:extLst>
          </p:cNvPr>
          <p:cNvSpPr/>
          <p:nvPr/>
        </p:nvSpPr>
        <p:spPr>
          <a:xfrm>
            <a:off x="2695379" y="2335251"/>
            <a:ext cx="1746276" cy="557504"/>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Rapide à produire</a:t>
            </a:r>
          </a:p>
        </p:txBody>
      </p:sp>
      <p:sp>
        <p:nvSpPr>
          <p:cNvPr id="47" name="Rectangle 46">
            <a:extLst>
              <a:ext uri="{FF2B5EF4-FFF2-40B4-BE49-F238E27FC236}">
                <a16:creationId xmlns:a16="http://schemas.microsoft.com/office/drawing/2014/main" id="{F41CB025-E32B-BF65-DDC3-E55F102F6644}"/>
              </a:ext>
            </a:extLst>
          </p:cNvPr>
          <p:cNvSpPr/>
          <p:nvPr/>
        </p:nvSpPr>
        <p:spPr>
          <a:xfrm>
            <a:off x="2695379" y="1735315"/>
            <a:ext cx="1746276" cy="557504"/>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Permet de décharger mentalement</a:t>
            </a:r>
          </a:p>
        </p:txBody>
      </p:sp>
      <p:sp>
        <p:nvSpPr>
          <p:cNvPr id="48" name="Rectangle 47">
            <a:extLst>
              <a:ext uri="{FF2B5EF4-FFF2-40B4-BE49-F238E27FC236}">
                <a16:creationId xmlns:a16="http://schemas.microsoft.com/office/drawing/2014/main" id="{B7C26C2D-3A56-7F64-187E-902914728357}"/>
              </a:ext>
            </a:extLst>
          </p:cNvPr>
          <p:cNvSpPr/>
          <p:nvPr/>
        </p:nvSpPr>
        <p:spPr>
          <a:xfrm>
            <a:off x="2695379" y="3051715"/>
            <a:ext cx="1746276" cy="557504"/>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Souvent besoin du contexte ou de l’auteur pour comprendre </a:t>
            </a:r>
          </a:p>
        </p:txBody>
      </p:sp>
      <p:sp>
        <p:nvSpPr>
          <p:cNvPr id="49" name="Rectangle 48">
            <a:extLst>
              <a:ext uri="{FF2B5EF4-FFF2-40B4-BE49-F238E27FC236}">
                <a16:creationId xmlns:a16="http://schemas.microsoft.com/office/drawing/2014/main" id="{B94550AB-8AAE-4558-CC5F-16DE85C4C8B7}"/>
              </a:ext>
            </a:extLst>
          </p:cNvPr>
          <p:cNvSpPr/>
          <p:nvPr/>
        </p:nvSpPr>
        <p:spPr>
          <a:xfrm>
            <a:off x="2695379" y="3639281"/>
            <a:ext cx="1746276" cy="557504"/>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Difficile de rendre compte d’un ordre ou de le réarranger</a:t>
            </a:r>
          </a:p>
        </p:txBody>
      </p:sp>
      <p:sp>
        <p:nvSpPr>
          <p:cNvPr id="50" name="Rectangle 49">
            <a:extLst>
              <a:ext uri="{FF2B5EF4-FFF2-40B4-BE49-F238E27FC236}">
                <a16:creationId xmlns:a16="http://schemas.microsoft.com/office/drawing/2014/main" id="{DBA54EB3-7380-8277-4D77-20E1E1C66040}"/>
              </a:ext>
            </a:extLst>
          </p:cNvPr>
          <p:cNvSpPr/>
          <p:nvPr/>
        </p:nvSpPr>
        <p:spPr>
          <a:xfrm>
            <a:off x="5095510" y="2329101"/>
            <a:ext cx="1746276" cy="557504"/>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Rapide à produire</a:t>
            </a:r>
          </a:p>
        </p:txBody>
      </p:sp>
      <p:sp>
        <p:nvSpPr>
          <p:cNvPr id="51" name="Rectangle 50">
            <a:extLst>
              <a:ext uri="{FF2B5EF4-FFF2-40B4-BE49-F238E27FC236}">
                <a16:creationId xmlns:a16="http://schemas.microsoft.com/office/drawing/2014/main" id="{28BDE921-EF67-B4C3-CC65-D5FC2AEFC119}"/>
              </a:ext>
            </a:extLst>
          </p:cNvPr>
          <p:cNvSpPr/>
          <p:nvPr/>
        </p:nvSpPr>
        <p:spPr>
          <a:xfrm>
            <a:off x="5095510" y="1729165"/>
            <a:ext cx="1746276" cy="557504"/>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Flexible</a:t>
            </a:r>
          </a:p>
        </p:txBody>
      </p:sp>
      <p:sp>
        <p:nvSpPr>
          <p:cNvPr id="52" name="Rectangle 51">
            <a:extLst>
              <a:ext uri="{FF2B5EF4-FFF2-40B4-BE49-F238E27FC236}">
                <a16:creationId xmlns:a16="http://schemas.microsoft.com/office/drawing/2014/main" id="{9D58A7C2-10A2-B8F4-5E3F-979121B64DC0}"/>
              </a:ext>
            </a:extLst>
          </p:cNvPr>
          <p:cNvSpPr/>
          <p:nvPr/>
        </p:nvSpPr>
        <p:spPr>
          <a:xfrm>
            <a:off x="5095510" y="3045565"/>
            <a:ext cx="1746276" cy="557504"/>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Difficile de représenter beaucoup d’information par élément</a:t>
            </a:r>
          </a:p>
        </p:txBody>
      </p:sp>
      <p:sp>
        <p:nvSpPr>
          <p:cNvPr id="53" name="Rectangle 52">
            <a:extLst>
              <a:ext uri="{FF2B5EF4-FFF2-40B4-BE49-F238E27FC236}">
                <a16:creationId xmlns:a16="http://schemas.microsoft.com/office/drawing/2014/main" id="{DEC7E116-00C1-D6C4-ECBD-350D19663B16}"/>
              </a:ext>
            </a:extLst>
          </p:cNvPr>
          <p:cNvSpPr/>
          <p:nvPr/>
        </p:nvSpPr>
        <p:spPr>
          <a:xfrm>
            <a:off x="5095510" y="3633131"/>
            <a:ext cx="1746276" cy="557504"/>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Difficile à gérer avec un grand nombre d’élément</a:t>
            </a:r>
          </a:p>
        </p:txBody>
      </p:sp>
      <p:sp>
        <p:nvSpPr>
          <p:cNvPr id="54" name="Rectangle 53">
            <a:extLst>
              <a:ext uri="{FF2B5EF4-FFF2-40B4-BE49-F238E27FC236}">
                <a16:creationId xmlns:a16="http://schemas.microsoft.com/office/drawing/2014/main" id="{EDAE98DC-EDD9-4FCB-D24B-9F45BAB4B53B}"/>
              </a:ext>
            </a:extLst>
          </p:cNvPr>
          <p:cNvSpPr/>
          <p:nvPr/>
        </p:nvSpPr>
        <p:spPr>
          <a:xfrm>
            <a:off x="7495641" y="2347621"/>
            <a:ext cx="1746276" cy="557504"/>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Plus facile pour gérer un grand nombre d’éléments</a:t>
            </a:r>
          </a:p>
        </p:txBody>
      </p:sp>
      <p:sp>
        <p:nvSpPr>
          <p:cNvPr id="55" name="Rectangle 54">
            <a:extLst>
              <a:ext uri="{FF2B5EF4-FFF2-40B4-BE49-F238E27FC236}">
                <a16:creationId xmlns:a16="http://schemas.microsoft.com/office/drawing/2014/main" id="{69D6B0A5-49C9-F5FF-0901-246CD81F38C5}"/>
              </a:ext>
            </a:extLst>
          </p:cNvPr>
          <p:cNvSpPr/>
          <p:nvPr/>
        </p:nvSpPr>
        <p:spPr>
          <a:xfrm>
            <a:off x="7495641" y="1747685"/>
            <a:ext cx="1746276" cy="557504"/>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Riche en information</a:t>
            </a:r>
          </a:p>
        </p:txBody>
      </p:sp>
      <p:sp>
        <p:nvSpPr>
          <p:cNvPr id="56" name="Rectangle 55">
            <a:extLst>
              <a:ext uri="{FF2B5EF4-FFF2-40B4-BE49-F238E27FC236}">
                <a16:creationId xmlns:a16="http://schemas.microsoft.com/office/drawing/2014/main" id="{C2771C8E-3330-B64C-0D5B-46D4C1759ED3}"/>
              </a:ext>
            </a:extLst>
          </p:cNvPr>
          <p:cNvSpPr/>
          <p:nvPr/>
        </p:nvSpPr>
        <p:spPr>
          <a:xfrm>
            <a:off x="7495641" y="3064085"/>
            <a:ext cx="1746276" cy="557504"/>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Lourd à manipuler</a:t>
            </a:r>
          </a:p>
        </p:txBody>
      </p:sp>
      <p:sp>
        <p:nvSpPr>
          <p:cNvPr id="57" name="Rectangle 56">
            <a:extLst>
              <a:ext uri="{FF2B5EF4-FFF2-40B4-BE49-F238E27FC236}">
                <a16:creationId xmlns:a16="http://schemas.microsoft.com/office/drawing/2014/main" id="{078FB4DD-9F93-CCEE-BAB8-FDC9EFD2A758}"/>
              </a:ext>
            </a:extLst>
          </p:cNvPr>
          <p:cNvSpPr/>
          <p:nvPr/>
        </p:nvSpPr>
        <p:spPr>
          <a:xfrm>
            <a:off x="7495641" y="3651651"/>
            <a:ext cx="1746276" cy="557504"/>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Long à produire</a:t>
            </a:r>
          </a:p>
        </p:txBody>
      </p:sp>
    </p:spTree>
    <p:extLst>
      <p:ext uri="{BB962C8B-B14F-4D97-AF65-F5344CB8AC3E}">
        <p14:creationId xmlns:p14="http://schemas.microsoft.com/office/powerpoint/2010/main" val="281223624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F8812F4-5EEF-E57C-6B49-A6B1DB11936B}"/>
              </a:ext>
            </a:extLst>
          </p:cNvPr>
          <p:cNvSpPr>
            <a:spLocks noGrp="1"/>
          </p:cNvSpPr>
          <p:nvPr>
            <p:ph type="title"/>
          </p:nvPr>
        </p:nvSpPr>
        <p:spPr/>
        <p:txBody>
          <a:bodyPr/>
          <a:lstStyle/>
          <a:p>
            <a:r>
              <a:rPr lang="fr-FR" dirty="0"/>
              <a:t>Les niveaux de simplicité d’un </a:t>
            </a:r>
            <a:r>
              <a:rPr lang="fr-FR" dirty="0" err="1"/>
              <a:t>backlog</a:t>
            </a:r>
            <a:br>
              <a:rPr lang="fr-FR" dirty="0"/>
            </a:br>
            <a:r>
              <a:rPr lang="fr-FR" dirty="0"/>
              <a:t>Conditions favorables</a:t>
            </a:r>
          </a:p>
        </p:txBody>
      </p:sp>
      <p:sp>
        <p:nvSpPr>
          <p:cNvPr id="21" name="Flèche : double flèche horizontale 20">
            <a:extLst>
              <a:ext uri="{FF2B5EF4-FFF2-40B4-BE49-F238E27FC236}">
                <a16:creationId xmlns:a16="http://schemas.microsoft.com/office/drawing/2014/main" id="{3B1B431D-FE86-D3D4-01D9-A46BABB5FCE3}"/>
              </a:ext>
            </a:extLst>
          </p:cNvPr>
          <p:cNvSpPr/>
          <p:nvPr/>
        </p:nvSpPr>
        <p:spPr>
          <a:xfrm>
            <a:off x="236738" y="4289425"/>
            <a:ext cx="11718524" cy="483327"/>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fr-FR" sz="1400" dirty="0"/>
          </a:p>
        </p:txBody>
      </p:sp>
      <p:pic>
        <p:nvPicPr>
          <p:cNvPr id="22" name="Graphique 21" descr="Bulle de pensée contour">
            <a:extLst>
              <a:ext uri="{FF2B5EF4-FFF2-40B4-BE49-F238E27FC236}">
                <a16:creationId xmlns:a16="http://schemas.microsoft.com/office/drawing/2014/main" id="{8ED626B6-D33C-1583-AFFD-A395143664C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flipH="1">
            <a:off x="586636" y="4665113"/>
            <a:ext cx="1265128" cy="1282443"/>
          </a:xfrm>
          <a:prstGeom prst="rect">
            <a:avLst/>
          </a:prstGeom>
        </p:spPr>
      </p:pic>
      <p:grpSp>
        <p:nvGrpSpPr>
          <p:cNvPr id="25" name="Groupe 24">
            <a:extLst>
              <a:ext uri="{FF2B5EF4-FFF2-40B4-BE49-F238E27FC236}">
                <a16:creationId xmlns:a16="http://schemas.microsoft.com/office/drawing/2014/main" id="{1D73794B-FF9D-91D4-B086-35AE0C2904CF}"/>
              </a:ext>
            </a:extLst>
          </p:cNvPr>
          <p:cNvGrpSpPr/>
          <p:nvPr/>
        </p:nvGrpSpPr>
        <p:grpSpPr>
          <a:xfrm>
            <a:off x="1168386" y="5763534"/>
            <a:ext cx="916093" cy="916094"/>
            <a:chOff x="1195526" y="3102720"/>
            <a:chExt cx="1771118" cy="1771119"/>
          </a:xfrm>
        </p:grpSpPr>
        <p:pic>
          <p:nvPicPr>
            <p:cNvPr id="26" name="Graphique 25" descr="Homme conductrice avec un remplissage uni">
              <a:extLst>
                <a:ext uri="{FF2B5EF4-FFF2-40B4-BE49-F238E27FC236}">
                  <a16:creationId xmlns:a16="http://schemas.microsoft.com/office/drawing/2014/main" id="{314A616C-8384-7085-C32E-92D5FE4EACB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95526" y="3102720"/>
              <a:ext cx="1771118" cy="1771119"/>
            </a:xfrm>
            <a:prstGeom prst="rect">
              <a:avLst/>
            </a:prstGeom>
          </p:spPr>
        </p:pic>
        <p:sp>
          <p:nvSpPr>
            <p:cNvPr id="27" name="Rectangle 26">
              <a:extLst>
                <a:ext uri="{FF2B5EF4-FFF2-40B4-BE49-F238E27FC236}">
                  <a16:creationId xmlns:a16="http://schemas.microsoft.com/office/drawing/2014/main" id="{E490B6C2-648A-96F2-FB0E-54129E74C939}"/>
                </a:ext>
              </a:extLst>
            </p:cNvPr>
            <p:cNvSpPr/>
            <p:nvPr/>
          </p:nvSpPr>
          <p:spPr>
            <a:xfrm>
              <a:off x="2510447" y="3102720"/>
              <a:ext cx="456197" cy="9361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29" name="Graphique 28" descr="Priorités avec un remplissage uni">
            <a:extLst>
              <a:ext uri="{FF2B5EF4-FFF2-40B4-BE49-F238E27FC236}">
                <a16:creationId xmlns:a16="http://schemas.microsoft.com/office/drawing/2014/main" id="{48E9ED8C-1CFB-4999-D153-D2B5295C74B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13165" y="4883969"/>
            <a:ext cx="528942" cy="528942"/>
          </a:xfrm>
          <a:prstGeom prst="rect">
            <a:avLst/>
          </a:prstGeom>
        </p:spPr>
      </p:pic>
      <p:pic>
        <p:nvPicPr>
          <p:cNvPr id="30" name="Graphique 29" descr="Notes Post-it avec un remplissage uni">
            <a:extLst>
              <a:ext uri="{FF2B5EF4-FFF2-40B4-BE49-F238E27FC236}">
                <a16:creationId xmlns:a16="http://schemas.microsoft.com/office/drawing/2014/main" id="{E3F5B919-40EB-FA99-254F-DA3D7F08EA6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501197" y="5091245"/>
            <a:ext cx="914400" cy="914400"/>
          </a:xfrm>
          <a:prstGeom prst="rect">
            <a:avLst/>
          </a:prstGeom>
        </p:spPr>
      </p:pic>
      <p:pic>
        <p:nvPicPr>
          <p:cNvPr id="31" name="Graphique 30" descr="Liste contour">
            <a:extLst>
              <a:ext uri="{FF2B5EF4-FFF2-40B4-BE49-F238E27FC236}">
                <a16:creationId xmlns:a16="http://schemas.microsoft.com/office/drawing/2014/main" id="{3C22D84C-FF7B-41F7-CEA9-8157D515715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101119" y="5148440"/>
            <a:ext cx="914400" cy="914400"/>
          </a:xfrm>
          <a:prstGeom prst="rect">
            <a:avLst/>
          </a:prstGeom>
        </p:spPr>
      </p:pic>
      <p:pic>
        <p:nvPicPr>
          <p:cNvPr id="32" name="Image 31">
            <a:extLst>
              <a:ext uri="{FF2B5EF4-FFF2-40B4-BE49-F238E27FC236}">
                <a16:creationId xmlns:a16="http://schemas.microsoft.com/office/drawing/2014/main" id="{DEC453B0-C991-2236-A402-9DA1C4F79BBB}"/>
              </a:ext>
            </a:extLst>
          </p:cNvPr>
          <p:cNvPicPr>
            <a:picLocks noChangeAspect="1"/>
          </p:cNvPicPr>
          <p:nvPr/>
        </p:nvPicPr>
        <p:blipFill rotWithShape="1">
          <a:blip r:embed="rId12"/>
          <a:srcRect r="15531"/>
          <a:stretch/>
        </p:blipFill>
        <p:spPr>
          <a:xfrm>
            <a:off x="7148977" y="5232962"/>
            <a:ext cx="2350484" cy="672459"/>
          </a:xfrm>
          <a:prstGeom prst="rect">
            <a:avLst/>
          </a:prstGeom>
        </p:spPr>
      </p:pic>
      <p:pic>
        <p:nvPicPr>
          <p:cNvPr id="33" name="Image 32" descr="Une image contenant texte&#10;&#10;Description générée automatiquement">
            <a:extLst>
              <a:ext uri="{FF2B5EF4-FFF2-40B4-BE49-F238E27FC236}">
                <a16:creationId xmlns:a16="http://schemas.microsoft.com/office/drawing/2014/main" id="{6C9B49A7-54E1-80C1-D9D3-299B7ABD5244}"/>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9832316" y="5220627"/>
            <a:ext cx="1873188" cy="1085814"/>
          </a:xfrm>
          <a:prstGeom prst="rect">
            <a:avLst/>
          </a:prstGeom>
        </p:spPr>
      </p:pic>
      <p:sp>
        <p:nvSpPr>
          <p:cNvPr id="34" name="ZoneTexte 33">
            <a:extLst>
              <a:ext uri="{FF2B5EF4-FFF2-40B4-BE49-F238E27FC236}">
                <a16:creationId xmlns:a16="http://schemas.microsoft.com/office/drawing/2014/main" id="{EDB31912-1872-144C-D76E-BBE298210774}"/>
              </a:ext>
            </a:extLst>
          </p:cNvPr>
          <p:cNvSpPr txBox="1"/>
          <p:nvPr/>
        </p:nvSpPr>
        <p:spPr>
          <a:xfrm>
            <a:off x="330231" y="4346422"/>
            <a:ext cx="1063286" cy="369332"/>
          </a:xfrm>
          <a:prstGeom prst="rect">
            <a:avLst/>
          </a:prstGeom>
          <a:noFill/>
        </p:spPr>
        <p:txBody>
          <a:bodyPr wrap="square">
            <a:spAutoFit/>
          </a:bodyPr>
          <a:lstStyle/>
          <a:p>
            <a:pPr algn="ctr"/>
            <a:r>
              <a:rPr lang="fr-FR" b="1" dirty="0">
                <a:solidFill>
                  <a:schemeClr val="bg1"/>
                </a:solidFill>
              </a:rPr>
              <a:t>Simple</a:t>
            </a:r>
          </a:p>
        </p:txBody>
      </p:sp>
      <p:sp>
        <p:nvSpPr>
          <p:cNvPr id="35" name="ZoneTexte 34">
            <a:extLst>
              <a:ext uri="{FF2B5EF4-FFF2-40B4-BE49-F238E27FC236}">
                <a16:creationId xmlns:a16="http://schemas.microsoft.com/office/drawing/2014/main" id="{40FEC702-7352-29FB-B7C5-86AE340BAE08}"/>
              </a:ext>
            </a:extLst>
          </p:cNvPr>
          <p:cNvSpPr txBox="1"/>
          <p:nvPr/>
        </p:nvSpPr>
        <p:spPr>
          <a:xfrm>
            <a:off x="10768910" y="4346422"/>
            <a:ext cx="1063286" cy="369332"/>
          </a:xfrm>
          <a:prstGeom prst="rect">
            <a:avLst/>
          </a:prstGeom>
          <a:noFill/>
        </p:spPr>
        <p:txBody>
          <a:bodyPr wrap="square">
            <a:spAutoFit/>
          </a:bodyPr>
          <a:lstStyle/>
          <a:p>
            <a:pPr algn="ctr"/>
            <a:r>
              <a:rPr lang="fr-FR" b="1" dirty="0">
                <a:solidFill>
                  <a:schemeClr val="bg1"/>
                </a:solidFill>
              </a:rPr>
              <a:t>Riche</a:t>
            </a:r>
          </a:p>
        </p:txBody>
      </p:sp>
      <p:sp>
        <p:nvSpPr>
          <p:cNvPr id="38" name="Rectangle 37">
            <a:extLst>
              <a:ext uri="{FF2B5EF4-FFF2-40B4-BE49-F238E27FC236}">
                <a16:creationId xmlns:a16="http://schemas.microsoft.com/office/drawing/2014/main" id="{FC089F88-D5BA-2E1C-5A06-7620C117D068}"/>
              </a:ext>
            </a:extLst>
          </p:cNvPr>
          <p:cNvSpPr/>
          <p:nvPr/>
        </p:nvSpPr>
        <p:spPr>
          <a:xfrm>
            <a:off x="9895772" y="1710468"/>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beaucoup d’utilisateurs et de choses à faire</a:t>
            </a:r>
          </a:p>
        </p:txBody>
      </p:sp>
      <p:sp>
        <p:nvSpPr>
          <p:cNvPr id="39" name="Rectangle 38">
            <a:extLst>
              <a:ext uri="{FF2B5EF4-FFF2-40B4-BE49-F238E27FC236}">
                <a16:creationId xmlns:a16="http://schemas.microsoft.com/office/drawing/2014/main" id="{662D5A64-6244-1FE6-86A9-32383F71EE02}"/>
              </a:ext>
            </a:extLst>
          </p:cNvPr>
          <p:cNvSpPr/>
          <p:nvPr/>
        </p:nvSpPr>
        <p:spPr>
          <a:xfrm>
            <a:off x="9895772" y="2970500"/>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 besoin d’archivage et de traçabilité est fort</a:t>
            </a:r>
          </a:p>
        </p:txBody>
      </p:sp>
      <p:sp>
        <p:nvSpPr>
          <p:cNvPr id="40" name="Rectangle 39">
            <a:extLst>
              <a:ext uri="{FF2B5EF4-FFF2-40B4-BE49-F238E27FC236}">
                <a16:creationId xmlns:a16="http://schemas.microsoft.com/office/drawing/2014/main" id="{5233CFF1-7B14-F26E-0951-4D63E4788F77}"/>
              </a:ext>
            </a:extLst>
          </p:cNvPr>
          <p:cNvSpPr/>
          <p:nvPr/>
        </p:nvSpPr>
        <p:spPr>
          <a:xfrm>
            <a:off x="9895772" y="2340484"/>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une demande ou un besoin d’uniformiser un outil pour tous</a:t>
            </a:r>
          </a:p>
        </p:txBody>
      </p:sp>
      <p:sp>
        <p:nvSpPr>
          <p:cNvPr id="41" name="Rectangle 40">
            <a:extLst>
              <a:ext uri="{FF2B5EF4-FFF2-40B4-BE49-F238E27FC236}">
                <a16:creationId xmlns:a16="http://schemas.microsoft.com/office/drawing/2014/main" id="{7CF3A278-37CC-DB8F-51EB-12E95C1485EE}"/>
              </a:ext>
            </a:extLst>
          </p:cNvPr>
          <p:cNvSpPr/>
          <p:nvPr/>
        </p:nvSpPr>
        <p:spPr>
          <a:xfrm>
            <a:off x="9895772" y="3600516"/>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un besoin de suivre l’évolution d’un sujet à travers ses statuts dans des circuits longs</a:t>
            </a:r>
          </a:p>
        </p:txBody>
      </p:sp>
      <p:sp>
        <p:nvSpPr>
          <p:cNvPr id="42" name="Rectangle 41">
            <a:extLst>
              <a:ext uri="{FF2B5EF4-FFF2-40B4-BE49-F238E27FC236}">
                <a16:creationId xmlns:a16="http://schemas.microsoft.com/office/drawing/2014/main" id="{4B3B60A5-1810-94C8-A220-A58933A538E4}"/>
              </a:ext>
            </a:extLst>
          </p:cNvPr>
          <p:cNvSpPr/>
          <p:nvPr/>
        </p:nvSpPr>
        <p:spPr>
          <a:xfrm>
            <a:off x="295248" y="1710468"/>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Communauté vient de se lancer</a:t>
            </a:r>
          </a:p>
        </p:txBody>
      </p:sp>
      <p:sp>
        <p:nvSpPr>
          <p:cNvPr id="43" name="Rectangle 42">
            <a:extLst>
              <a:ext uri="{FF2B5EF4-FFF2-40B4-BE49-F238E27FC236}">
                <a16:creationId xmlns:a16="http://schemas.microsoft.com/office/drawing/2014/main" id="{4343F92B-8141-E64E-0822-04358D0DB971}"/>
              </a:ext>
            </a:extLst>
          </p:cNvPr>
          <p:cNvSpPr/>
          <p:nvPr/>
        </p:nvSpPr>
        <p:spPr>
          <a:xfrm>
            <a:off x="295248" y="2972982"/>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personnes qui décident ont bonne mémoire</a:t>
            </a:r>
          </a:p>
        </p:txBody>
      </p:sp>
      <p:sp>
        <p:nvSpPr>
          <p:cNvPr id="44" name="Rectangle 43">
            <a:extLst>
              <a:ext uri="{FF2B5EF4-FFF2-40B4-BE49-F238E27FC236}">
                <a16:creationId xmlns:a16="http://schemas.microsoft.com/office/drawing/2014/main" id="{72A0439E-62D3-0C11-A3A4-4A8E1D3DB5C7}"/>
              </a:ext>
            </a:extLst>
          </p:cNvPr>
          <p:cNvSpPr/>
          <p:nvPr/>
        </p:nvSpPr>
        <p:spPr>
          <a:xfrm>
            <a:off x="295248" y="2338002"/>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membres n’ont pas l’occasion de noter leurs idées facilement</a:t>
            </a:r>
          </a:p>
        </p:txBody>
      </p:sp>
      <p:sp>
        <p:nvSpPr>
          <p:cNvPr id="45" name="Rectangle 44">
            <a:extLst>
              <a:ext uri="{FF2B5EF4-FFF2-40B4-BE49-F238E27FC236}">
                <a16:creationId xmlns:a16="http://schemas.microsoft.com/office/drawing/2014/main" id="{381B2FC9-583F-09D2-AE6C-3453CC275964}"/>
              </a:ext>
            </a:extLst>
          </p:cNvPr>
          <p:cNvSpPr/>
          <p:nvPr/>
        </p:nvSpPr>
        <p:spPr>
          <a:xfrm>
            <a:off x="295248" y="3600516"/>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peu de priorisation à faire, ou bien elle se fait très naturellement</a:t>
            </a:r>
          </a:p>
        </p:txBody>
      </p:sp>
      <p:sp>
        <p:nvSpPr>
          <p:cNvPr id="46" name="Rectangle 45">
            <a:extLst>
              <a:ext uri="{FF2B5EF4-FFF2-40B4-BE49-F238E27FC236}">
                <a16:creationId xmlns:a16="http://schemas.microsoft.com/office/drawing/2014/main" id="{39DB7E69-A26E-CB75-96EE-9515D6DC1086}"/>
              </a:ext>
            </a:extLst>
          </p:cNvPr>
          <p:cNvSpPr/>
          <p:nvPr/>
        </p:nvSpPr>
        <p:spPr>
          <a:xfrm>
            <a:off x="2695379" y="2338002"/>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liste de choses à faire est finie et simple à comprendre</a:t>
            </a:r>
          </a:p>
        </p:txBody>
      </p:sp>
      <p:sp>
        <p:nvSpPr>
          <p:cNvPr id="47" name="Rectangle 46">
            <a:extLst>
              <a:ext uri="{FF2B5EF4-FFF2-40B4-BE49-F238E27FC236}">
                <a16:creationId xmlns:a16="http://schemas.microsoft.com/office/drawing/2014/main" id="{F41CB025-E32B-BF65-DDC3-E55F102F6644}"/>
              </a:ext>
            </a:extLst>
          </p:cNvPr>
          <p:cNvSpPr/>
          <p:nvPr/>
        </p:nvSpPr>
        <p:spPr>
          <a:xfrm>
            <a:off x="2695379" y="1697256"/>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un risque ponctuel d’oublier</a:t>
            </a:r>
          </a:p>
        </p:txBody>
      </p:sp>
      <p:sp>
        <p:nvSpPr>
          <p:cNvPr id="48" name="Rectangle 47">
            <a:extLst>
              <a:ext uri="{FF2B5EF4-FFF2-40B4-BE49-F238E27FC236}">
                <a16:creationId xmlns:a16="http://schemas.microsoft.com/office/drawing/2014/main" id="{B7C26C2D-3A56-7F64-187E-902914728357}"/>
              </a:ext>
            </a:extLst>
          </p:cNvPr>
          <p:cNvSpPr/>
          <p:nvPr/>
        </p:nvSpPr>
        <p:spPr>
          <a:xfrm>
            <a:off x="2695379" y="2972982"/>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L’ordre dans lequel on fait les choses ne compte pas, ou bien il est évident</a:t>
            </a:r>
          </a:p>
        </p:txBody>
      </p:sp>
      <p:sp>
        <p:nvSpPr>
          <p:cNvPr id="49" name="Rectangle 48">
            <a:extLst>
              <a:ext uri="{FF2B5EF4-FFF2-40B4-BE49-F238E27FC236}">
                <a16:creationId xmlns:a16="http://schemas.microsoft.com/office/drawing/2014/main" id="{B94550AB-8AAE-4558-CC5F-16DE85C4C8B7}"/>
              </a:ext>
            </a:extLst>
          </p:cNvPr>
          <p:cNvSpPr/>
          <p:nvPr/>
        </p:nvSpPr>
        <p:spPr>
          <a:xfrm>
            <a:off x="2695379" y="3600516"/>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éléments ont des états simples à suivre : fini ou pas fini (le reste ne compte que peu)</a:t>
            </a:r>
          </a:p>
        </p:txBody>
      </p:sp>
      <p:sp>
        <p:nvSpPr>
          <p:cNvPr id="50" name="Rectangle 49">
            <a:extLst>
              <a:ext uri="{FF2B5EF4-FFF2-40B4-BE49-F238E27FC236}">
                <a16:creationId xmlns:a16="http://schemas.microsoft.com/office/drawing/2014/main" id="{DBA54EB3-7380-8277-4D77-20E1E1C66040}"/>
              </a:ext>
            </a:extLst>
          </p:cNvPr>
          <p:cNvSpPr/>
          <p:nvPr/>
        </p:nvSpPr>
        <p:spPr>
          <a:xfrm>
            <a:off x="5095510" y="2331434"/>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éléments sont assez simples pour qu’un court résumé </a:t>
            </a:r>
          </a:p>
        </p:txBody>
      </p:sp>
      <p:sp>
        <p:nvSpPr>
          <p:cNvPr id="51" name="Rectangle 50">
            <a:extLst>
              <a:ext uri="{FF2B5EF4-FFF2-40B4-BE49-F238E27FC236}">
                <a16:creationId xmlns:a16="http://schemas.microsoft.com/office/drawing/2014/main" id="{28BDE921-EF67-B4C3-CC65-D5FC2AEFC119}"/>
              </a:ext>
            </a:extLst>
          </p:cNvPr>
          <p:cNvSpPr/>
          <p:nvPr/>
        </p:nvSpPr>
        <p:spPr>
          <a:xfrm>
            <a:off x="5095510" y="1690688"/>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assez peu d’éléments pour qu’on puisse s’y retrouver</a:t>
            </a:r>
          </a:p>
        </p:txBody>
      </p:sp>
      <p:sp>
        <p:nvSpPr>
          <p:cNvPr id="52" name="Rectangle 51">
            <a:extLst>
              <a:ext uri="{FF2B5EF4-FFF2-40B4-BE49-F238E27FC236}">
                <a16:creationId xmlns:a16="http://schemas.microsoft.com/office/drawing/2014/main" id="{9D58A7C2-10A2-B8F4-5E3F-979121B64DC0}"/>
              </a:ext>
            </a:extLst>
          </p:cNvPr>
          <p:cNvSpPr/>
          <p:nvPr/>
        </p:nvSpPr>
        <p:spPr>
          <a:xfrm>
            <a:off x="5095510" y="2966414"/>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un besoin de réagencer et réordonner de manière très facile</a:t>
            </a:r>
          </a:p>
        </p:txBody>
      </p:sp>
      <p:sp>
        <p:nvSpPr>
          <p:cNvPr id="53" name="Rectangle 52">
            <a:extLst>
              <a:ext uri="{FF2B5EF4-FFF2-40B4-BE49-F238E27FC236}">
                <a16:creationId xmlns:a16="http://schemas.microsoft.com/office/drawing/2014/main" id="{DEC7E116-00C1-D6C4-ECBD-350D19663B16}"/>
              </a:ext>
            </a:extLst>
          </p:cNvPr>
          <p:cNvSpPr/>
          <p:nvPr/>
        </p:nvSpPr>
        <p:spPr>
          <a:xfrm>
            <a:off x="5095510" y="3593948"/>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n’y a pas un grand besoin en termes de traçabilité</a:t>
            </a:r>
          </a:p>
        </p:txBody>
      </p:sp>
      <p:sp>
        <p:nvSpPr>
          <p:cNvPr id="54" name="Rectangle 53">
            <a:extLst>
              <a:ext uri="{FF2B5EF4-FFF2-40B4-BE49-F238E27FC236}">
                <a16:creationId xmlns:a16="http://schemas.microsoft.com/office/drawing/2014/main" id="{EDAE98DC-EDD9-4FCB-D24B-9F45BAB4B53B}"/>
              </a:ext>
            </a:extLst>
          </p:cNvPr>
          <p:cNvSpPr/>
          <p:nvPr/>
        </p:nvSpPr>
        <p:spPr>
          <a:xfrm>
            <a:off x="7495641" y="2351213"/>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un nombre suffisamment important d’éléments pour devoir filtrer</a:t>
            </a:r>
          </a:p>
        </p:txBody>
      </p:sp>
      <p:sp>
        <p:nvSpPr>
          <p:cNvPr id="55" name="Rectangle 54">
            <a:extLst>
              <a:ext uri="{FF2B5EF4-FFF2-40B4-BE49-F238E27FC236}">
                <a16:creationId xmlns:a16="http://schemas.microsoft.com/office/drawing/2014/main" id="{69D6B0A5-49C9-F5FF-0901-246CD81F38C5}"/>
              </a:ext>
            </a:extLst>
          </p:cNvPr>
          <p:cNvSpPr/>
          <p:nvPr/>
        </p:nvSpPr>
        <p:spPr>
          <a:xfrm>
            <a:off x="7495641" y="1710468"/>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de nombreux détails importants sur chaque éléments</a:t>
            </a:r>
          </a:p>
        </p:txBody>
      </p:sp>
      <p:sp>
        <p:nvSpPr>
          <p:cNvPr id="56" name="Rectangle 55">
            <a:extLst>
              <a:ext uri="{FF2B5EF4-FFF2-40B4-BE49-F238E27FC236}">
                <a16:creationId xmlns:a16="http://schemas.microsoft.com/office/drawing/2014/main" id="{C2771C8E-3330-B64C-0D5B-46D4C1759ED3}"/>
              </a:ext>
            </a:extLst>
          </p:cNvPr>
          <p:cNvSpPr/>
          <p:nvPr/>
        </p:nvSpPr>
        <p:spPr>
          <a:xfrm>
            <a:off x="7495641" y="2986194"/>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membres ou les décisionnaires ont la compétence de manipuler les outils</a:t>
            </a:r>
          </a:p>
        </p:txBody>
      </p:sp>
      <p:sp>
        <p:nvSpPr>
          <p:cNvPr id="57" name="Rectangle 56">
            <a:extLst>
              <a:ext uri="{FF2B5EF4-FFF2-40B4-BE49-F238E27FC236}">
                <a16:creationId xmlns:a16="http://schemas.microsoft.com/office/drawing/2014/main" id="{078FB4DD-9F93-CCEE-BAB8-FDC9EFD2A758}"/>
              </a:ext>
            </a:extLst>
          </p:cNvPr>
          <p:cNvSpPr/>
          <p:nvPr/>
        </p:nvSpPr>
        <p:spPr>
          <a:xfrm>
            <a:off x="7495641" y="3613728"/>
            <a:ext cx="1746276" cy="595427"/>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besoin de faire des statistiques ou des mesures sur les éléments</a:t>
            </a:r>
          </a:p>
        </p:txBody>
      </p:sp>
    </p:spTree>
    <p:extLst>
      <p:ext uri="{BB962C8B-B14F-4D97-AF65-F5344CB8AC3E}">
        <p14:creationId xmlns:p14="http://schemas.microsoft.com/office/powerpoint/2010/main" val="1420244877"/>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F8812F4-5EEF-E57C-6B49-A6B1DB11936B}"/>
              </a:ext>
            </a:extLst>
          </p:cNvPr>
          <p:cNvSpPr>
            <a:spLocks noGrp="1"/>
          </p:cNvSpPr>
          <p:nvPr>
            <p:ph type="title"/>
          </p:nvPr>
        </p:nvSpPr>
        <p:spPr/>
        <p:txBody>
          <a:bodyPr/>
          <a:lstStyle/>
          <a:p>
            <a:r>
              <a:rPr lang="fr-FR" dirty="0"/>
              <a:t>Quelques conditions pour un bon </a:t>
            </a:r>
            <a:r>
              <a:rPr lang="fr-FR" dirty="0" err="1"/>
              <a:t>backlog</a:t>
            </a:r>
            <a:endParaRPr lang="fr-FR" dirty="0"/>
          </a:p>
        </p:txBody>
      </p:sp>
      <p:sp>
        <p:nvSpPr>
          <p:cNvPr id="3" name="Espace réservé du contenu 2">
            <a:extLst>
              <a:ext uri="{FF2B5EF4-FFF2-40B4-BE49-F238E27FC236}">
                <a16:creationId xmlns:a16="http://schemas.microsoft.com/office/drawing/2014/main" id="{8B7CD727-25A6-8EDF-CBA7-FD645E64C582}"/>
              </a:ext>
            </a:extLst>
          </p:cNvPr>
          <p:cNvSpPr>
            <a:spLocks noGrp="1"/>
          </p:cNvSpPr>
          <p:nvPr>
            <p:ph idx="1"/>
          </p:nvPr>
        </p:nvSpPr>
        <p:spPr>
          <a:xfrm>
            <a:off x="1752600" y="1904001"/>
            <a:ext cx="6903719" cy="4351338"/>
          </a:xfrm>
        </p:spPr>
        <p:txBody>
          <a:bodyPr>
            <a:normAutofit/>
          </a:bodyPr>
          <a:lstStyle/>
          <a:p>
            <a:pPr marL="0" indent="0">
              <a:buNone/>
            </a:pPr>
            <a:r>
              <a:rPr lang="fr-FR" sz="1800" b="1" dirty="0"/>
              <a:t>Facilement accessible</a:t>
            </a:r>
          </a:p>
          <a:p>
            <a:pPr lvl="1"/>
            <a:r>
              <a:rPr lang="fr-FR" sz="1800" dirty="0"/>
              <a:t>Pour recueillir</a:t>
            </a:r>
          </a:p>
          <a:p>
            <a:pPr lvl="1"/>
            <a:r>
              <a:rPr lang="fr-FR" sz="1800" dirty="0"/>
              <a:t>Pour retrouver l’information</a:t>
            </a:r>
          </a:p>
          <a:p>
            <a:pPr lvl="1"/>
            <a:endParaRPr lang="fr-FR" sz="1800" dirty="0"/>
          </a:p>
          <a:p>
            <a:pPr marL="0" indent="0">
              <a:buNone/>
            </a:pPr>
            <a:r>
              <a:rPr lang="fr-FR" sz="1800" b="1" dirty="0"/>
              <a:t>Facilement navigable</a:t>
            </a:r>
          </a:p>
          <a:p>
            <a:pPr lvl="1"/>
            <a:r>
              <a:rPr lang="fr-FR" sz="1800" dirty="0"/>
              <a:t>Pas trop chargé</a:t>
            </a:r>
          </a:p>
          <a:p>
            <a:pPr lvl="1"/>
            <a:r>
              <a:rPr lang="fr-FR" sz="1800" dirty="0"/>
              <a:t>Filtrable s’il y a un grand nombre d’éléments</a:t>
            </a:r>
          </a:p>
          <a:p>
            <a:pPr lvl="1"/>
            <a:endParaRPr lang="fr-FR" sz="1800" dirty="0"/>
          </a:p>
          <a:p>
            <a:pPr marL="0" indent="0">
              <a:buNone/>
            </a:pPr>
            <a:r>
              <a:rPr lang="fr-FR" sz="1800" b="1" dirty="0"/>
              <a:t>Facile d’entretien</a:t>
            </a:r>
          </a:p>
          <a:p>
            <a:pPr lvl="1"/>
            <a:r>
              <a:rPr lang="fr-FR" sz="1800" dirty="0"/>
              <a:t>Eléments comparables ou rendus comparables (pour priorisation au moins)</a:t>
            </a:r>
          </a:p>
          <a:p>
            <a:pPr lvl="1"/>
            <a:r>
              <a:rPr lang="fr-FR" sz="1800" dirty="0"/>
              <a:t>Volume total visible</a:t>
            </a:r>
          </a:p>
          <a:p>
            <a:pPr lvl="1"/>
            <a:r>
              <a:rPr lang="fr-FR" sz="1800" dirty="0"/>
              <a:t>Ancienneté / Obsolescence facilement visualisable</a:t>
            </a:r>
          </a:p>
        </p:txBody>
      </p:sp>
      <p:pic>
        <p:nvPicPr>
          <p:cNvPr id="5" name="Graphique 4" descr="Loupe avec un remplissage uni">
            <a:extLst>
              <a:ext uri="{FF2B5EF4-FFF2-40B4-BE49-F238E27FC236}">
                <a16:creationId xmlns:a16="http://schemas.microsoft.com/office/drawing/2014/main" id="{60F4FF43-CA1F-02BA-6F82-94526605D00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38200" y="1904001"/>
            <a:ext cx="914400" cy="914400"/>
          </a:xfrm>
          <a:prstGeom prst="rect">
            <a:avLst/>
          </a:prstGeom>
        </p:spPr>
      </p:pic>
      <p:pic>
        <p:nvPicPr>
          <p:cNvPr id="10" name="Graphique 9" descr="Serpillière et seau avec un remplissage uni">
            <a:extLst>
              <a:ext uri="{FF2B5EF4-FFF2-40B4-BE49-F238E27FC236}">
                <a16:creationId xmlns:a16="http://schemas.microsoft.com/office/drawing/2014/main" id="{E6FFAB0F-8C06-06AF-1271-D6BF372F2A0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38200" y="4738297"/>
            <a:ext cx="914400" cy="914400"/>
          </a:xfrm>
          <a:prstGeom prst="rect">
            <a:avLst/>
          </a:prstGeom>
        </p:spPr>
      </p:pic>
      <p:pic>
        <p:nvPicPr>
          <p:cNvPr id="12" name="Graphique 11" descr="Geste de balayage avec un remplissage uni">
            <a:extLst>
              <a:ext uri="{FF2B5EF4-FFF2-40B4-BE49-F238E27FC236}">
                <a16:creationId xmlns:a16="http://schemas.microsoft.com/office/drawing/2014/main" id="{732650D6-5FFB-C232-F229-205CE4DE5FB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38200" y="3221255"/>
            <a:ext cx="914400" cy="914400"/>
          </a:xfrm>
          <a:prstGeom prst="rect">
            <a:avLst/>
          </a:prstGeom>
        </p:spPr>
      </p:pic>
    </p:spTree>
    <p:extLst>
      <p:ext uri="{BB962C8B-B14F-4D97-AF65-F5344CB8AC3E}">
        <p14:creationId xmlns:p14="http://schemas.microsoft.com/office/powerpoint/2010/main" val="2809890003"/>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EA3FF6-C16E-0387-513D-A082FB2A304E}"/>
              </a:ext>
            </a:extLst>
          </p:cNvPr>
          <p:cNvSpPr>
            <a:spLocks noGrp="1"/>
          </p:cNvSpPr>
          <p:nvPr>
            <p:ph type="title"/>
          </p:nvPr>
        </p:nvSpPr>
        <p:spPr>
          <a:xfrm>
            <a:off x="838200" y="365125"/>
            <a:ext cx="7534311" cy="1325563"/>
          </a:xfrm>
        </p:spPr>
        <p:txBody>
          <a:bodyPr>
            <a:noAutofit/>
          </a:bodyPr>
          <a:lstStyle/>
          <a:p>
            <a:r>
              <a:rPr lang="fr-FR" sz="3200" dirty="0"/>
              <a:t>Qui priorise ?</a:t>
            </a:r>
            <a:br>
              <a:rPr lang="fr-FR" sz="3200" dirty="0"/>
            </a:br>
            <a:r>
              <a:rPr lang="fr-FR" sz="3200" dirty="0"/>
              <a:t>Niveau de centralisation des décisions </a:t>
            </a:r>
          </a:p>
        </p:txBody>
      </p:sp>
      <p:sp>
        <p:nvSpPr>
          <p:cNvPr id="4" name="Flèche : double flèche horizontale 3">
            <a:extLst>
              <a:ext uri="{FF2B5EF4-FFF2-40B4-BE49-F238E27FC236}">
                <a16:creationId xmlns:a16="http://schemas.microsoft.com/office/drawing/2014/main" id="{1B8D61C3-81A0-31B4-E2FB-7AC7B41B03D8}"/>
              </a:ext>
            </a:extLst>
          </p:cNvPr>
          <p:cNvSpPr/>
          <p:nvPr/>
        </p:nvSpPr>
        <p:spPr>
          <a:xfrm>
            <a:off x="183755" y="4816620"/>
            <a:ext cx="11881059" cy="3602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sp>
        <p:nvSpPr>
          <p:cNvPr id="29" name="ZoneTexte 28">
            <a:extLst>
              <a:ext uri="{FF2B5EF4-FFF2-40B4-BE49-F238E27FC236}">
                <a16:creationId xmlns:a16="http://schemas.microsoft.com/office/drawing/2014/main" id="{6E484D5F-E755-5BB3-0483-3E324476BC6E}"/>
              </a:ext>
            </a:extLst>
          </p:cNvPr>
          <p:cNvSpPr txBox="1"/>
          <p:nvPr/>
        </p:nvSpPr>
        <p:spPr>
          <a:xfrm>
            <a:off x="10389426" y="5128469"/>
            <a:ext cx="1802574" cy="756059"/>
          </a:xfrm>
          <a:prstGeom prst="rect">
            <a:avLst/>
          </a:prstGeom>
          <a:noFill/>
        </p:spPr>
        <p:txBody>
          <a:bodyPr wrap="square">
            <a:spAutoFit/>
          </a:bodyPr>
          <a:lstStyle/>
          <a:p>
            <a:pPr algn="ctr"/>
            <a:r>
              <a:rPr lang="fr-FR" sz="1400" dirty="0"/>
              <a:t>Responsabilité est décentralisée chez les membres</a:t>
            </a:r>
          </a:p>
        </p:txBody>
      </p:sp>
      <p:sp>
        <p:nvSpPr>
          <p:cNvPr id="30" name="ZoneTexte 29">
            <a:extLst>
              <a:ext uri="{FF2B5EF4-FFF2-40B4-BE49-F238E27FC236}">
                <a16:creationId xmlns:a16="http://schemas.microsoft.com/office/drawing/2014/main" id="{B457523F-1815-3784-6F9E-D66819A71ACA}"/>
              </a:ext>
            </a:extLst>
          </p:cNvPr>
          <p:cNvSpPr txBox="1"/>
          <p:nvPr/>
        </p:nvSpPr>
        <p:spPr>
          <a:xfrm>
            <a:off x="22795" y="5128469"/>
            <a:ext cx="1802574" cy="756059"/>
          </a:xfrm>
          <a:prstGeom prst="rect">
            <a:avLst/>
          </a:prstGeom>
          <a:noFill/>
        </p:spPr>
        <p:txBody>
          <a:bodyPr wrap="square">
            <a:spAutoFit/>
          </a:bodyPr>
          <a:lstStyle/>
          <a:p>
            <a:pPr algn="ctr"/>
            <a:r>
              <a:rPr lang="fr-FR" sz="1400" dirty="0"/>
              <a:t>Responsabilité est centralisée chez des leaders</a:t>
            </a:r>
          </a:p>
        </p:txBody>
      </p:sp>
      <p:grpSp>
        <p:nvGrpSpPr>
          <p:cNvPr id="178" name="Groupe 177">
            <a:extLst>
              <a:ext uri="{FF2B5EF4-FFF2-40B4-BE49-F238E27FC236}">
                <a16:creationId xmlns:a16="http://schemas.microsoft.com/office/drawing/2014/main" id="{231D06BC-C956-F160-4104-A88DE0AFB6CF}"/>
              </a:ext>
            </a:extLst>
          </p:cNvPr>
          <p:cNvGrpSpPr/>
          <p:nvPr/>
        </p:nvGrpSpPr>
        <p:grpSpPr>
          <a:xfrm>
            <a:off x="310941" y="2734266"/>
            <a:ext cx="937195" cy="1502516"/>
            <a:chOff x="90185" y="2189111"/>
            <a:chExt cx="937195" cy="1502516"/>
          </a:xfrm>
        </p:grpSpPr>
        <p:sp>
          <p:nvSpPr>
            <p:cNvPr id="179" name="ZoneTexte 178">
              <a:extLst>
                <a:ext uri="{FF2B5EF4-FFF2-40B4-BE49-F238E27FC236}">
                  <a16:creationId xmlns:a16="http://schemas.microsoft.com/office/drawing/2014/main" id="{C28C87A0-E50B-6FEC-59E0-009DE7C1B9ED}"/>
                </a:ext>
              </a:extLst>
            </p:cNvPr>
            <p:cNvSpPr txBox="1"/>
            <p:nvPr/>
          </p:nvSpPr>
          <p:spPr>
            <a:xfrm>
              <a:off x="90185" y="3045296"/>
              <a:ext cx="899253" cy="646331"/>
            </a:xfrm>
            <a:prstGeom prst="rect">
              <a:avLst/>
            </a:prstGeom>
            <a:noFill/>
          </p:spPr>
          <p:txBody>
            <a:bodyPr wrap="square">
              <a:spAutoFit/>
            </a:bodyPr>
            <a:lstStyle/>
            <a:p>
              <a:pPr algn="ctr"/>
              <a:r>
                <a:rPr lang="fr-FR" sz="1200" dirty="0"/>
                <a:t>Priorisation par un(e) leader </a:t>
              </a:r>
            </a:p>
          </p:txBody>
        </p:sp>
        <p:grpSp>
          <p:nvGrpSpPr>
            <p:cNvPr id="198" name="Groupe 197">
              <a:extLst>
                <a:ext uri="{FF2B5EF4-FFF2-40B4-BE49-F238E27FC236}">
                  <a16:creationId xmlns:a16="http://schemas.microsoft.com/office/drawing/2014/main" id="{814DF423-0DA9-2F00-FAE3-BAED9E4E2F70}"/>
                </a:ext>
              </a:extLst>
            </p:cNvPr>
            <p:cNvGrpSpPr/>
            <p:nvPr/>
          </p:nvGrpSpPr>
          <p:grpSpPr>
            <a:xfrm>
              <a:off x="112980" y="2189111"/>
              <a:ext cx="914400" cy="914400"/>
              <a:chOff x="168514" y="2615341"/>
              <a:chExt cx="914400" cy="914400"/>
            </a:xfrm>
          </p:grpSpPr>
          <p:pic>
            <p:nvPicPr>
              <p:cNvPr id="199" name="Graphique 198" descr="Homme conductrice avec un remplissage uni">
                <a:extLst>
                  <a:ext uri="{FF2B5EF4-FFF2-40B4-BE49-F238E27FC236}">
                    <a16:creationId xmlns:a16="http://schemas.microsoft.com/office/drawing/2014/main" id="{7D7356FC-0476-0A30-BA0C-289304D661B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514" y="2615341"/>
                <a:ext cx="914400" cy="914400"/>
              </a:xfrm>
              <a:prstGeom prst="rect">
                <a:avLst/>
              </a:prstGeom>
            </p:spPr>
          </p:pic>
          <p:sp>
            <p:nvSpPr>
              <p:cNvPr id="200" name="Rectangle 199">
                <a:extLst>
                  <a:ext uri="{FF2B5EF4-FFF2-40B4-BE49-F238E27FC236}">
                    <a16:creationId xmlns:a16="http://schemas.microsoft.com/office/drawing/2014/main" id="{FECF8574-056E-05FB-8502-6003B0F5E10C}"/>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01" name="Groupe 200">
            <a:extLst>
              <a:ext uri="{FF2B5EF4-FFF2-40B4-BE49-F238E27FC236}">
                <a16:creationId xmlns:a16="http://schemas.microsoft.com/office/drawing/2014/main" id="{47F8588F-3783-7594-0B83-9465B926D2B8}"/>
              </a:ext>
            </a:extLst>
          </p:cNvPr>
          <p:cNvGrpSpPr/>
          <p:nvPr/>
        </p:nvGrpSpPr>
        <p:grpSpPr>
          <a:xfrm>
            <a:off x="5569343" y="2805144"/>
            <a:ext cx="1109884" cy="1466877"/>
            <a:chOff x="3705086" y="2662837"/>
            <a:chExt cx="1109884" cy="1466877"/>
          </a:xfrm>
        </p:grpSpPr>
        <p:sp>
          <p:nvSpPr>
            <p:cNvPr id="202" name="ZoneTexte 201">
              <a:extLst>
                <a:ext uri="{FF2B5EF4-FFF2-40B4-BE49-F238E27FC236}">
                  <a16:creationId xmlns:a16="http://schemas.microsoft.com/office/drawing/2014/main" id="{8737BB5B-0DD7-7470-9C38-31A236202F8C}"/>
                </a:ext>
              </a:extLst>
            </p:cNvPr>
            <p:cNvSpPr txBox="1"/>
            <p:nvPr/>
          </p:nvSpPr>
          <p:spPr>
            <a:xfrm>
              <a:off x="3705086" y="3483383"/>
              <a:ext cx="1109884" cy="646331"/>
            </a:xfrm>
            <a:prstGeom prst="rect">
              <a:avLst/>
            </a:prstGeom>
            <a:noFill/>
          </p:spPr>
          <p:txBody>
            <a:bodyPr wrap="square">
              <a:spAutoFit/>
            </a:bodyPr>
            <a:lstStyle/>
            <a:p>
              <a:pPr algn="ctr"/>
              <a:r>
                <a:rPr lang="fr-FR" sz="1200" dirty="0"/>
                <a:t>Comité fixe de priorisation, sans leader</a:t>
              </a:r>
            </a:p>
          </p:txBody>
        </p:sp>
        <p:grpSp>
          <p:nvGrpSpPr>
            <p:cNvPr id="203" name="Groupe 202">
              <a:extLst>
                <a:ext uri="{FF2B5EF4-FFF2-40B4-BE49-F238E27FC236}">
                  <a16:creationId xmlns:a16="http://schemas.microsoft.com/office/drawing/2014/main" id="{6F9B7F5D-2B5B-9D15-34DD-0F3D31966615}"/>
                </a:ext>
              </a:extLst>
            </p:cNvPr>
            <p:cNvGrpSpPr/>
            <p:nvPr/>
          </p:nvGrpSpPr>
          <p:grpSpPr>
            <a:xfrm>
              <a:off x="3834762" y="2662837"/>
              <a:ext cx="911213" cy="837974"/>
              <a:chOff x="3581321" y="2486328"/>
              <a:chExt cx="1084118" cy="996982"/>
            </a:xfrm>
          </p:grpSpPr>
          <p:grpSp>
            <p:nvGrpSpPr>
              <p:cNvPr id="204" name="Groupe 203">
                <a:extLst>
                  <a:ext uri="{FF2B5EF4-FFF2-40B4-BE49-F238E27FC236}">
                    <a16:creationId xmlns:a16="http://schemas.microsoft.com/office/drawing/2014/main" id="{C3D2B29C-0E88-885A-63DC-F0FC3F0B3163}"/>
                  </a:ext>
                </a:extLst>
              </p:cNvPr>
              <p:cNvGrpSpPr/>
              <p:nvPr/>
            </p:nvGrpSpPr>
            <p:grpSpPr>
              <a:xfrm>
                <a:off x="3869497" y="3026110"/>
                <a:ext cx="457200" cy="457200"/>
                <a:chOff x="3982824" y="1896400"/>
                <a:chExt cx="914400" cy="914400"/>
              </a:xfrm>
            </p:grpSpPr>
            <p:pic>
              <p:nvPicPr>
                <p:cNvPr id="230" name="Graphique 229" descr="Homme conductrice avec un remplissage uni">
                  <a:extLst>
                    <a:ext uri="{FF2B5EF4-FFF2-40B4-BE49-F238E27FC236}">
                      <a16:creationId xmlns:a16="http://schemas.microsoft.com/office/drawing/2014/main" id="{1EF034D4-602F-9556-1283-81628954712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31" name="Rectangle 230">
                  <a:extLst>
                    <a:ext uri="{FF2B5EF4-FFF2-40B4-BE49-F238E27FC236}">
                      <a16:creationId xmlns:a16="http://schemas.microsoft.com/office/drawing/2014/main" id="{740F3D61-7A2D-80B2-2DA9-7BE2083587D1}"/>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05" name="Groupe 204">
                <a:extLst>
                  <a:ext uri="{FF2B5EF4-FFF2-40B4-BE49-F238E27FC236}">
                    <a16:creationId xmlns:a16="http://schemas.microsoft.com/office/drawing/2014/main" id="{8AEA3FD7-AC0D-A9BF-5882-25B10230CBF5}"/>
                  </a:ext>
                </a:extLst>
              </p:cNvPr>
              <p:cNvGrpSpPr/>
              <p:nvPr/>
            </p:nvGrpSpPr>
            <p:grpSpPr>
              <a:xfrm>
                <a:off x="3581321" y="2797510"/>
                <a:ext cx="457200" cy="457200"/>
                <a:chOff x="3982824" y="1896400"/>
                <a:chExt cx="914400" cy="914400"/>
              </a:xfrm>
            </p:grpSpPr>
            <p:pic>
              <p:nvPicPr>
                <p:cNvPr id="228" name="Graphique 227" descr="Homme conductrice avec un remplissage uni">
                  <a:extLst>
                    <a:ext uri="{FF2B5EF4-FFF2-40B4-BE49-F238E27FC236}">
                      <a16:creationId xmlns:a16="http://schemas.microsoft.com/office/drawing/2014/main" id="{BE9E2A78-08E8-6094-A1BA-670A046AAEC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29" name="Rectangle 228">
                  <a:extLst>
                    <a:ext uri="{FF2B5EF4-FFF2-40B4-BE49-F238E27FC236}">
                      <a16:creationId xmlns:a16="http://schemas.microsoft.com/office/drawing/2014/main" id="{59439F34-F7F2-2C6B-2106-109AB3CE7356}"/>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06" name="Groupe 205">
                <a:extLst>
                  <a:ext uri="{FF2B5EF4-FFF2-40B4-BE49-F238E27FC236}">
                    <a16:creationId xmlns:a16="http://schemas.microsoft.com/office/drawing/2014/main" id="{43D1BF2E-5904-CFD2-337A-6962D1831EE3}"/>
                  </a:ext>
                </a:extLst>
              </p:cNvPr>
              <p:cNvGrpSpPr/>
              <p:nvPr/>
            </p:nvGrpSpPr>
            <p:grpSpPr>
              <a:xfrm>
                <a:off x="3913098" y="2486328"/>
                <a:ext cx="457200" cy="457200"/>
                <a:chOff x="3982824" y="1896400"/>
                <a:chExt cx="914400" cy="914400"/>
              </a:xfrm>
            </p:grpSpPr>
            <p:pic>
              <p:nvPicPr>
                <p:cNvPr id="210" name="Graphique 209" descr="Homme conductrice avec un remplissage uni">
                  <a:extLst>
                    <a:ext uri="{FF2B5EF4-FFF2-40B4-BE49-F238E27FC236}">
                      <a16:creationId xmlns:a16="http://schemas.microsoft.com/office/drawing/2014/main" id="{E2D91F2D-9C0C-B7F7-60C5-D8E7ED3EA36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27" name="Rectangle 226">
                  <a:extLst>
                    <a:ext uri="{FF2B5EF4-FFF2-40B4-BE49-F238E27FC236}">
                      <a16:creationId xmlns:a16="http://schemas.microsoft.com/office/drawing/2014/main" id="{3DF6A18C-B131-D470-D3FD-11EBB8183C0B}"/>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07" name="Groupe 206">
                <a:extLst>
                  <a:ext uri="{FF2B5EF4-FFF2-40B4-BE49-F238E27FC236}">
                    <a16:creationId xmlns:a16="http://schemas.microsoft.com/office/drawing/2014/main" id="{9606CFD8-7B8B-AC5F-52C7-27A028FDDF0E}"/>
                  </a:ext>
                </a:extLst>
              </p:cNvPr>
              <p:cNvGrpSpPr/>
              <p:nvPr/>
            </p:nvGrpSpPr>
            <p:grpSpPr>
              <a:xfrm>
                <a:off x="4208239" y="2811507"/>
                <a:ext cx="457200" cy="457200"/>
                <a:chOff x="3982824" y="1896400"/>
                <a:chExt cx="914400" cy="914400"/>
              </a:xfrm>
            </p:grpSpPr>
            <p:pic>
              <p:nvPicPr>
                <p:cNvPr id="208" name="Graphique 207" descr="Homme conductrice avec un remplissage uni">
                  <a:extLst>
                    <a:ext uri="{FF2B5EF4-FFF2-40B4-BE49-F238E27FC236}">
                      <a16:creationId xmlns:a16="http://schemas.microsoft.com/office/drawing/2014/main" id="{9964D60A-0E75-2E80-2491-F787FD0F5D9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09" name="Rectangle 208">
                  <a:extLst>
                    <a:ext uri="{FF2B5EF4-FFF2-40B4-BE49-F238E27FC236}">
                      <a16:creationId xmlns:a16="http://schemas.microsoft.com/office/drawing/2014/main" id="{5CC2725F-BBA5-11CA-5926-7C054CF44CC6}"/>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grpSp>
        <p:nvGrpSpPr>
          <p:cNvPr id="232" name="Groupe 231">
            <a:extLst>
              <a:ext uri="{FF2B5EF4-FFF2-40B4-BE49-F238E27FC236}">
                <a16:creationId xmlns:a16="http://schemas.microsoft.com/office/drawing/2014/main" id="{5D36B453-B5A1-FDB1-EC07-66C80B8698C4}"/>
              </a:ext>
            </a:extLst>
          </p:cNvPr>
          <p:cNvGrpSpPr/>
          <p:nvPr/>
        </p:nvGrpSpPr>
        <p:grpSpPr>
          <a:xfrm>
            <a:off x="10957019" y="2697327"/>
            <a:ext cx="1071241" cy="1573871"/>
            <a:chOff x="10875724" y="2275346"/>
            <a:chExt cx="1071241" cy="1573871"/>
          </a:xfrm>
        </p:grpSpPr>
        <p:sp>
          <p:nvSpPr>
            <p:cNvPr id="233" name="ZoneTexte 232">
              <a:extLst>
                <a:ext uri="{FF2B5EF4-FFF2-40B4-BE49-F238E27FC236}">
                  <a16:creationId xmlns:a16="http://schemas.microsoft.com/office/drawing/2014/main" id="{A32CD217-E6D4-D16A-1E4E-C21276775D15}"/>
                </a:ext>
              </a:extLst>
            </p:cNvPr>
            <p:cNvSpPr txBox="1"/>
            <p:nvPr/>
          </p:nvSpPr>
          <p:spPr>
            <a:xfrm>
              <a:off x="10875724" y="3202886"/>
              <a:ext cx="1068090" cy="646331"/>
            </a:xfrm>
            <a:prstGeom prst="rect">
              <a:avLst/>
            </a:prstGeom>
            <a:noFill/>
          </p:spPr>
          <p:txBody>
            <a:bodyPr wrap="square">
              <a:spAutoFit/>
            </a:bodyPr>
            <a:lstStyle/>
            <a:p>
              <a:pPr algn="ctr"/>
              <a:r>
                <a:rPr lang="fr-FR" sz="1200" dirty="0"/>
                <a:t>Priorisation par tous les membres</a:t>
              </a:r>
            </a:p>
          </p:txBody>
        </p:sp>
        <p:grpSp>
          <p:nvGrpSpPr>
            <p:cNvPr id="234" name="Groupe 233">
              <a:extLst>
                <a:ext uri="{FF2B5EF4-FFF2-40B4-BE49-F238E27FC236}">
                  <a16:creationId xmlns:a16="http://schemas.microsoft.com/office/drawing/2014/main" id="{E8025A3E-34FD-6D47-BC4D-1E9963882B94}"/>
                </a:ext>
              </a:extLst>
            </p:cNvPr>
            <p:cNvGrpSpPr/>
            <p:nvPr/>
          </p:nvGrpSpPr>
          <p:grpSpPr>
            <a:xfrm>
              <a:off x="10894603" y="2275346"/>
              <a:ext cx="1052362" cy="886148"/>
              <a:chOff x="8572649" y="1655556"/>
              <a:chExt cx="1409636" cy="1186993"/>
            </a:xfrm>
          </p:grpSpPr>
          <p:grpSp>
            <p:nvGrpSpPr>
              <p:cNvPr id="235" name="Groupe 234">
                <a:extLst>
                  <a:ext uri="{FF2B5EF4-FFF2-40B4-BE49-F238E27FC236}">
                    <a16:creationId xmlns:a16="http://schemas.microsoft.com/office/drawing/2014/main" id="{6CF8B074-52BD-9A23-9148-D47ECF686F5F}"/>
                  </a:ext>
                </a:extLst>
              </p:cNvPr>
              <p:cNvGrpSpPr/>
              <p:nvPr/>
            </p:nvGrpSpPr>
            <p:grpSpPr>
              <a:xfrm>
                <a:off x="8572649" y="1655556"/>
                <a:ext cx="1409636" cy="1186993"/>
                <a:chOff x="8982504" y="3274976"/>
                <a:chExt cx="1230670" cy="1036294"/>
              </a:xfrm>
              <a:solidFill>
                <a:srgbClr val="ED7D31"/>
              </a:solidFill>
            </p:grpSpPr>
            <p:pic>
              <p:nvPicPr>
                <p:cNvPr id="269" name="Graphique 268" descr="Utilisateur avec un remplissage uni">
                  <a:extLst>
                    <a:ext uri="{FF2B5EF4-FFF2-40B4-BE49-F238E27FC236}">
                      <a16:creationId xmlns:a16="http://schemas.microsoft.com/office/drawing/2014/main" id="{50938EFB-44E9-DDDE-56BC-6084EA8892B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01028" y="3274976"/>
                  <a:ext cx="336064" cy="336064"/>
                </a:xfrm>
                <a:prstGeom prst="rect">
                  <a:avLst/>
                </a:prstGeom>
              </p:spPr>
            </p:pic>
            <p:pic>
              <p:nvPicPr>
                <p:cNvPr id="270" name="Graphique 269" descr="Utilisateur avec un remplissage uni">
                  <a:extLst>
                    <a:ext uri="{FF2B5EF4-FFF2-40B4-BE49-F238E27FC236}">
                      <a16:creationId xmlns:a16="http://schemas.microsoft.com/office/drawing/2014/main" id="{1EEB5F7E-99F7-E7EF-F1CA-822CC491290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54140" y="3512720"/>
                  <a:ext cx="336064" cy="336064"/>
                </a:xfrm>
                <a:prstGeom prst="rect">
                  <a:avLst/>
                </a:prstGeom>
              </p:spPr>
            </p:pic>
            <p:pic>
              <p:nvPicPr>
                <p:cNvPr id="271" name="Graphique 270" descr="Utilisateur avec un remplissage uni">
                  <a:extLst>
                    <a:ext uri="{FF2B5EF4-FFF2-40B4-BE49-F238E27FC236}">
                      <a16:creationId xmlns:a16="http://schemas.microsoft.com/office/drawing/2014/main" id="{D884622E-0CCE-D17E-224F-E70F93D797A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272" name="Graphique 271" descr="Utilisateur avec un remplissage uni">
                  <a:extLst>
                    <a:ext uri="{FF2B5EF4-FFF2-40B4-BE49-F238E27FC236}">
                      <a16:creationId xmlns:a16="http://schemas.microsoft.com/office/drawing/2014/main" id="{B5C4C160-52A5-E1C6-EA73-FEF92B86D9A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273" name="Graphique 272" descr="Utilisateur avec un remplissage uni">
                  <a:extLst>
                    <a:ext uri="{FF2B5EF4-FFF2-40B4-BE49-F238E27FC236}">
                      <a16:creationId xmlns:a16="http://schemas.microsoft.com/office/drawing/2014/main" id="{A1D13968-E2C1-3805-A4C0-07764E53727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274" name="Graphique 273" descr="Utilisateur avec un remplissage uni">
                  <a:extLst>
                    <a:ext uri="{FF2B5EF4-FFF2-40B4-BE49-F238E27FC236}">
                      <a16:creationId xmlns:a16="http://schemas.microsoft.com/office/drawing/2014/main" id="{F62A929C-EB6B-606D-940B-2316B1C5792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275" name="Graphique 274" descr="Utilisateur avec un remplissage uni">
                  <a:extLst>
                    <a:ext uri="{FF2B5EF4-FFF2-40B4-BE49-F238E27FC236}">
                      <a16:creationId xmlns:a16="http://schemas.microsoft.com/office/drawing/2014/main" id="{A757EDEE-AA3B-EFAB-C6ED-6F613258C50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276" name="Graphique 275" descr="Utilisateur avec un remplissage uni">
                  <a:extLst>
                    <a:ext uri="{FF2B5EF4-FFF2-40B4-BE49-F238E27FC236}">
                      <a16:creationId xmlns:a16="http://schemas.microsoft.com/office/drawing/2014/main" id="{41F1BE11-F15E-2429-EF4C-D249D0543C2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277" name="Graphique 276" descr="Utilisateur avec un remplissage uni">
                  <a:extLst>
                    <a:ext uri="{FF2B5EF4-FFF2-40B4-BE49-F238E27FC236}">
                      <a16:creationId xmlns:a16="http://schemas.microsoft.com/office/drawing/2014/main" id="{1A384462-65CA-5CFF-EE89-520D27715D6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83417" y="3975206"/>
                  <a:ext cx="336064" cy="336064"/>
                </a:xfrm>
                <a:prstGeom prst="rect">
                  <a:avLst/>
                </a:prstGeom>
              </p:spPr>
            </p:pic>
            <p:pic>
              <p:nvPicPr>
                <p:cNvPr id="278" name="Graphique 277" descr="Utilisateur avec un remplissage uni">
                  <a:extLst>
                    <a:ext uri="{FF2B5EF4-FFF2-40B4-BE49-F238E27FC236}">
                      <a16:creationId xmlns:a16="http://schemas.microsoft.com/office/drawing/2014/main" id="{2BA3584A-2F98-A30C-50C6-60A88374E80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279" name="Graphique 278" descr="Utilisateur avec un remplissage uni">
                  <a:extLst>
                    <a:ext uri="{FF2B5EF4-FFF2-40B4-BE49-F238E27FC236}">
                      <a16:creationId xmlns:a16="http://schemas.microsoft.com/office/drawing/2014/main" id="{526BB467-4E01-5793-20C2-37027406278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236" name="Groupe 235">
                <a:extLst>
                  <a:ext uri="{FF2B5EF4-FFF2-40B4-BE49-F238E27FC236}">
                    <a16:creationId xmlns:a16="http://schemas.microsoft.com/office/drawing/2014/main" id="{FE2B0B75-779F-9E5D-5D92-1828775BB870}"/>
                  </a:ext>
                </a:extLst>
              </p:cNvPr>
              <p:cNvGrpSpPr/>
              <p:nvPr/>
            </p:nvGrpSpPr>
            <p:grpSpPr>
              <a:xfrm>
                <a:off x="8937492" y="1776645"/>
                <a:ext cx="102144" cy="191413"/>
                <a:chOff x="10178180" y="1782664"/>
                <a:chExt cx="102144" cy="191413"/>
              </a:xfrm>
            </p:grpSpPr>
            <p:cxnSp>
              <p:nvCxnSpPr>
                <p:cNvPr id="267" name="Connecteur droit 266">
                  <a:extLst>
                    <a:ext uri="{FF2B5EF4-FFF2-40B4-BE49-F238E27FC236}">
                      <a16:creationId xmlns:a16="http://schemas.microsoft.com/office/drawing/2014/main" id="{65AB7FBA-60B7-0C7F-8475-E812CF8894FD}"/>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68" name="Ellipse 267">
                  <a:extLst>
                    <a:ext uri="{FF2B5EF4-FFF2-40B4-BE49-F238E27FC236}">
                      <a16:creationId xmlns:a16="http://schemas.microsoft.com/office/drawing/2014/main" id="{C9317186-8162-A8D9-3CBA-472368CDEC60}"/>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37" name="Groupe 236">
                <a:extLst>
                  <a:ext uri="{FF2B5EF4-FFF2-40B4-BE49-F238E27FC236}">
                    <a16:creationId xmlns:a16="http://schemas.microsoft.com/office/drawing/2014/main" id="{BAD207E7-5967-F4B3-0667-ABA6D60C2F2F}"/>
                  </a:ext>
                </a:extLst>
              </p:cNvPr>
              <p:cNvGrpSpPr/>
              <p:nvPr/>
            </p:nvGrpSpPr>
            <p:grpSpPr>
              <a:xfrm>
                <a:off x="9268284" y="1944784"/>
                <a:ext cx="102144" cy="191413"/>
                <a:chOff x="10178180" y="1782664"/>
                <a:chExt cx="102144" cy="191413"/>
              </a:xfrm>
            </p:grpSpPr>
            <p:cxnSp>
              <p:nvCxnSpPr>
                <p:cNvPr id="265" name="Connecteur droit 264">
                  <a:extLst>
                    <a:ext uri="{FF2B5EF4-FFF2-40B4-BE49-F238E27FC236}">
                      <a16:creationId xmlns:a16="http://schemas.microsoft.com/office/drawing/2014/main" id="{9ADAF00C-5083-732E-0CF8-D05658D5EE49}"/>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66" name="Ellipse 265">
                  <a:extLst>
                    <a:ext uri="{FF2B5EF4-FFF2-40B4-BE49-F238E27FC236}">
                      <a16:creationId xmlns:a16="http://schemas.microsoft.com/office/drawing/2014/main" id="{850C218D-4459-CB1B-CCDD-1AD5D4568116}"/>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38" name="Groupe 237">
                <a:extLst>
                  <a:ext uri="{FF2B5EF4-FFF2-40B4-BE49-F238E27FC236}">
                    <a16:creationId xmlns:a16="http://schemas.microsoft.com/office/drawing/2014/main" id="{5EEE4248-2D13-23F8-A831-0BCF2E23BD0C}"/>
                  </a:ext>
                </a:extLst>
              </p:cNvPr>
              <p:cNvGrpSpPr/>
              <p:nvPr/>
            </p:nvGrpSpPr>
            <p:grpSpPr>
              <a:xfrm>
                <a:off x="9584871" y="1954555"/>
                <a:ext cx="102144" cy="191413"/>
                <a:chOff x="10178180" y="1782664"/>
                <a:chExt cx="102144" cy="191413"/>
              </a:xfrm>
            </p:grpSpPr>
            <p:cxnSp>
              <p:nvCxnSpPr>
                <p:cNvPr id="263" name="Connecteur droit 262">
                  <a:extLst>
                    <a:ext uri="{FF2B5EF4-FFF2-40B4-BE49-F238E27FC236}">
                      <a16:creationId xmlns:a16="http://schemas.microsoft.com/office/drawing/2014/main" id="{B1D5169C-A711-D301-59A2-045FC2ED413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64" name="Ellipse 263">
                  <a:extLst>
                    <a:ext uri="{FF2B5EF4-FFF2-40B4-BE49-F238E27FC236}">
                      <a16:creationId xmlns:a16="http://schemas.microsoft.com/office/drawing/2014/main" id="{337C43AD-EF68-17A2-1C2C-DF9C91AAF579}"/>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39" name="Groupe 238">
                <a:extLst>
                  <a:ext uri="{FF2B5EF4-FFF2-40B4-BE49-F238E27FC236}">
                    <a16:creationId xmlns:a16="http://schemas.microsoft.com/office/drawing/2014/main" id="{EAF34F4B-958C-FD96-5BC2-B7D28683BD3E}"/>
                  </a:ext>
                </a:extLst>
              </p:cNvPr>
              <p:cNvGrpSpPr/>
              <p:nvPr/>
            </p:nvGrpSpPr>
            <p:grpSpPr>
              <a:xfrm>
                <a:off x="9610640" y="2276238"/>
                <a:ext cx="102144" cy="191413"/>
                <a:chOff x="10178180" y="1782664"/>
                <a:chExt cx="102144" cy="191413"/>
              </a:xfrm>
            </p:grpSpPr>
            <p:cxnSp>
              <p:nvCxnSpPr>
                <p:cNvPr id="261" name="Connecteur droit 260">
                  <a:extLst>
                    <a:ext uri="{FF2B5EF4-FFF2-40B4-BE49-F238E27FC236}">
                      <a16:creationId xmlns:a16="http://schemas.microsoft.com/office/drawing/2014/main" id="{C2054AF5-5CF2-389E-7536-F33FD10C0EB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62" name="Ellipse 261">
                  <a:extLst>
                    <a:ext uri="{FF2B5EF4-FFF2-40B4-BE49-F238E27FC236}">
                      <a16:creationId xmlns:a16="http://schemas.microsoft.com/office/drawing/2014/main" id="{1C17970D-2DA5-AB72-F412-43FC8152E751}"/>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0" name="Groupe 239">
                <a:extLst>
                  <a:ext uri="{FF2B5EF4-FFF2-40B4-BE49-F238E27FC236}">
                    <a16:creationId xmlns:a16="http://schemas.microsoft.com/office/drawing/2014/main" id="{5AE5369C-EFDA-B2B3-4C3B-5282A5DC80AE}"/>
                  </a:ext>
                </a:extLst>
              </p:cNvPr>
              <p:cNvGrpSpPr/>
              <p:nvPr/>
            </p:nvGrpSpPr>
            <p:grpSpPr>
              <a:xfrm>
                <a:off x="9334800" y="2253116"/>
                <a:ext cx="102144" cy="191413"/>
                <a:chOff x="10178180" y="1782664"/>
                <a:chExt cx="102144" cy="191413"/>
              </a:xfrm>
            </p:grpSpPr>
            <p:cxnSp>
              <p:nvCxnSpPr>
                <p:cNvPr id="259" name="Connecteur droit 258">
                  <a:extLst>
                    <a:ext uri="{FF2B5EF4-FFF2-40B4-BE49-F238E27FC236}">
                      <a16:creationId xmlns:a16="http://schemas.microsoft.com/office/drawing/2014/main" id="{FC3A936D-11A6-E1F3-5697-990BECD8EA87}"/>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60" name="Ellipse 259">
                  <a:extLst>
                    <a:ext uri="{FF2B5EF4-FFF2-40B4-BE49-F238E27FC236}">
                      <a16:creationId xmlns:a16="http://schemas.microsoft.com/office/drawing/2014/main" id="{F36A61F1-4A40-5CBB-AA6A-F0BAA484CB3E}"/>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1" name="Groupe 240">
                <a:extLst>
                  <a:ext uri="{FF2B5EF4-FFF2-40B4-BE49-F238E27FC236}">
                    <a16:creationId xmlns:a16="http://schemas.microsoft.com/office/drawing/2014/main" id="{543057F6-2B73-0144-992D-DA0F493DE534}"/>
                  </a:ext>
                </a:extLst>
              </p:cNvPr>
              <p:cNvGrpSpPr/>
              <p:nvPr/>
            </p:nvGrpSpPr>
            <p:grpSpPr>
              <a:xfrm>
                <a:off x="8988065" y="2116634"/>
                <a:ext cx="102144" cy="191413"/>
                <a:chOff x="10178180" y="1782664"/>
                <a:chExt cx="102144" cy="191413"/>
              </a:xfrm>
            </p:grpSpPr>
            <p:cxnSp>
              <p:nvCxnSpPr>
                <p:cNvPr id="257" name="Connecteur droit 256">
                  <a:extLst>
                    <a:ext uri="{FF2B5EF4-FFF2-40B4-BE49-F238E27FC236}">
                      <a16:creationId xmlns:a16="http://schemas.microsoft.com/office/drawing/2014/main" id="{7164B75E-A7D2-ABE8-9B9B-8985E67A3006}"/>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58" name="Ellipse 257">
                  <a:extLst>
                    <a:ext uri="{FF2B5EF4-FFF2-40B4-BE49-F238E27FC236}">
                      <a16:creationId xmlns:a16="http://schemas.microsoft.com/office/drawing/2014/main" id="{03CEAAF6-8A42-AC71-1D08-6444094CDC1B}"/>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2" name="Groupe 241">
                <a:extLst>
                  <a:ext uri="{FF2B5EF4-FFF2-40B4-BE49-F238E27FC236}">
                    <a16:creationId xmlns:a16="http://schemas.microsoft.com/office/drawing/2014/main" id="{A26CFC27-EFE5-7462-BA79-440910FF4160}"/>
                  </a:ext>
                </a:extLst>
              </p:cNvPr>
              <p:cNvGrpSpPr/>
              <p:nvPr/>
            </p:nvGrpSpPr>
            <p:grpSpPr>
              <a:xfrm>
                <a:off x="8656873" y="2059330"/>
                <a:ext cx="102144" cy="191413"/>
                <a:chOff x="10178180" y="1782664"/>
                <a:chExt cx="102144" cy="191413"/>
              </a:xfrm>
            </p:grpSpPr>
            <p:cxnSp>
              <p:nvCxnSpPr>
                <p:cNvPr id="255" name="Connecteur droit 254">
                  <a:extLst>
                    <a:ext uri="{FF2B5EF4-FFF2-40B4-BE49-F238E27FC236}">
                      <a16:creationId xmlns:a16="http://schemas.microsoft.com/office/drawing/2014/main" id="{893DB391-5731-A203-680B-2C035813B543}"/>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56" name="Ellipse 255">
                  <a:extLst>
                    <a:ext uri="{FF2B5EF4-FFF2-40B4-BE49-F238E27FC236}">
                      <a16:creationId xmlns:a16="http://schemas.microsoft.com/office/drawing/2014/main" id="{8AC596E5-141F-1136-BCA2-A76FD78B2184}"/>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3" name="Groupe 242">
                <a:extLst>
                  <a:ext uri="{FF2B5EF4-FFF2-40B4-BE49-F238E27FC236}">
                    <a16:creationId xmlns:a16="http://schemas.microsoft.com/office/drawing/2014/main" id="{DA30F0F8-44E2-CF14-5EB1-9091CEACAEA2}"/>
                  </a:ext>
                </a:extLst>
              </p:cNvPr>
              <p:cNvGrpSpPr/>
              <p:nvPr/>
            </p:nvGrpSpPr>
            <p:grpSpPr>
              <a:xfrm>
                <a:off x="8574420" y="2433143"/>
                <a:ext cx="102144" cy="191413"/>
                <a:chOff x="10178180" y="1782664"/>
                <a:chExt cx="102144" cy="191413"/>
              </a:xfrm>
            </p:grpSpPr>
            <p:cxnSp>
              <p:nvCxnSpPr>
                <p:cNvPr id="253" name="Connecteur droit 252">
                  <a:extLst>
                    <a:ext uri="{FF2B5EF4-FFF2-40B4-BE49-F238E27FC236}">
                      <a16:creationId xmlns:a16="http://schemas.microsoft.com/office/drawing/2014/main" id="{61C9883A-28DE-F992-747B-41641B086C3F}"/>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54" name="Ellipse 253">
                  <a:extLst>
                    <a:ext uri="{FF2B5EF4-FFF2-40B4-BE49-F238E27FC236}">
                      <a16:creationId xmlns:a16="http://schemas.microsoft.com/office/drawing/2014/main" id="{C683EB77-3F17-7DF1-A0C4-0F85732532F8}"/>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4" name="Groupe 243">
                <a:extLst>
                  <a:ext uri="{FF2B5EF4-FFF2-40B4-BE49-F238E27FC236}">
                    <a16:creationId xmlns:a16="http://schemas.microsoft.com/office/drawing/2014/main" id="{ED8218F7-E76B-D77F-8BF8-7DF686CEB201}"/>
                  </a:ext>
                </a:extLst>
              </p:cNvPr>
              <p:cNvGrpSpPr/>
              <p:nvPr/>
            </p:nvGrpSpPr>
            <p:grpSpPr>
              <a:xfrm>
                <a:off x="8888568" y="2441622"/>
                <a:ext cx="102144" cy="191413"/>
                <a:chOff x="10178180" y="1782664"/>
                <a:chExt cx="102144" cy="191413"/>
              </a:xfrm>
            </p:grpSpPr>
            <p:cxnSp>
              <p:nvCxnSpPr>
                <p:cNvPr id="251" name="Connecteur droit 250">
                  <a:extLst>
                    <a:ext uri="{FF2B5EF4-FFF2-40B4-BE49-F238E27FC236}">
                      <a16:creationId xmlns:a16="http://schemas.microsoft.com/office/drawing/2014/main" id="{91D2F22D-7AEF-DF0D-C63E-9A6208EEF916}"/>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52" name="Ellipse 251">
                  <a:extLst>
                    <a:ext uri="{FF2B5EF4-FFF2-40B4-BE49-F238E27FC236}">
                      <a16:creationId xmlns:a16="http://schemas.microsoft.com/office/drawing/2014/main" id="{A6CD9DD3-4FC8-F2B2-B746-A5EE285E6AA6}"/>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5" name="Groupe 244">
                <a:extLst>
                  <a:ext uri="{FF2B5EF4-FFF2-40B4-BE49-F238E27FC236}">
                    <a16:creationId xmlns:a16="http://schemas.microsoft.com/office/drawing/2014/main" id="{6EBD957C-3A00-04EF-B99F-E53D548390E0}"/>
                  </a:ext>
                </a:extLst>
              </p:cNvPr>
              <p:cNvGrpSpPr/>
              <p:nvPr/>
            </p:nvGrpSpPr>
            <p:grpSpPr>
              <a:xfrm>
                <a:off x="9195077" y="2553446"/>
                <a:ext cx="102144" cy="191413"/>
                <a:chOff x="10178180" y="1782664"/>
                <a:chExt cx="102144" cy="191413"/>
              </a:xfrm>
            </p:grpSpPr>
            <p:cxnSp>
              <p:nvCxnSpPr>
                <p:cNvPr id="249" name="Connecteur droit 248">
                  <a:extLst>
                    <a:ext uri="{FF2B5EF4-FFF2-40B4-BE49-F238E27FC236}">
                      <a16:creationId xmlns:a16="http://schemas.microsoft.com/office/drawing/2014/main" id="{5C1D2174-84EE-F56F-7136-7E7EAD1007A2}"/>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50" name="Ellipse 249">
                  <a:extLst>
                    <a:ext uri="{FF2B5EF4-FFF2-40B4-BE49-F238E27FC236}">
                      <a16:creationId xmlns:a16="http://schemas.microsoft.com/office/drawing/2014/main" id="{EE406D84-C952-319C-76F0-346ED939EB69}"/>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6" name="Groupe 245">
                <a:extLst>
                  <a:ext uri="{FF2B5EF4-FFF2-40B4-BE49-F238E27FC236}">
                    <a16:creationId xmlns:a16="http://schemas.microsoft.com/office/drawing/2014/main" id="{C9A76386-5284-0774-29E1-021673C7164C}"/>
                  </a:ext>
                </a:extLst>
              </p:cNvPr>
              <p:cNvGrpSpPr/>
              <p:nvPr/>
            </p:nvGrpSpPr>
            <p:grpSpPr>
              <a:xfrm>
                <a:off x="9490032" y="2590463"/>
                <a:ext cx="102144" cy="191413"/>
                <a:chOff x="10178180" y="1782664"/>
                <a:chExt cx="102144" cy="191413"/>
              </a:xfrm>
            </p:grpSpPr>
            <p:cxnSp>
              <p:nvCxnSpPr>
                <p:cNvPr id="247" name="Connecteur droit 246">
                  <a:extLst>
                    <a:ext uri="{FF2B5EF4-FFF2-40B4-BE49-F238E27FC236}">
                      <a16:creationId xmlns:a16="http://schemas.microsoft.com/office/drawing/2014/main" id="{992034B1-D3E4-845A-D971-B451799FFD14}"/>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48" name="Ellipse 247">
                  <a:extLst>
                    <a:ext uri="{FF2B5EF4-FFF2-40B4-BE49-F238E27FC236}">
                      <a16:creationId xmlns:a16="http://schemas.microsoft.com/office/drawing/2014/main" id="{9F7F1D71-6A41-FD2A-4DB6-BFE40ED40154}"/>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grpSp>
        <p:nvGrpSpPr>
          <p:cNvPr id="280" name="Groupe 279">
            <a:extLst>
              <a:ext uri="{FF2B5EF4-FFF2-40B4-BE49-F238E27FC236}">
                <a16:creationId xmlns:a16="http://schemas.microsoft.com/office/drawing/2014/main" id="{B86BE269-635D-86C2-6375-5B4F869C2F47}"/>
              </a:ext>
            </a:extLst>
          </p:cNvPr>
          <p:cNvGrpSpPr/>
          <p:nvPr/>
        </p:nvGrpSpPr>
        <p:grpSpPr>
          <a:xfrm>
            <a:off x="9409446" y="2641829"/>
            <a:ext cx="1368269" cy="1816855"/>
            <a:chOff x="9328151" y="2202430"/>
            <a:chExt cx="1368269" cy="1816855"/>
          </a:xfrm>
        </p:grpSpPr>
        <p:sp>
          <p:nvSpPr>
            <p:cNvPr id="281" name="ZoneTexte 280">
              <a:extLst>
                <a:ext uri="{FF2B5EF4-FFF2-40B4-BE49-F238E27FC236}">
                  <a16:creationId xmlns:a16="http://schemas.microsoft.com/office/drawing/2014/main" id="{99D81302-AEE0-E4C5-D5BF-72290D56681F}"/>
                </a:ext>
              </a:extLst>
            </p:cNvPr>
            <p:cNvSpPr txBox="1"/>
            <p:nvPr/>
          </p:nvSpPr>
          <p:spPr>
            <a:xfrm>
              <a:off x="9328151" y="3188288"/>
              <a:ext cx="1368269" cy="830997"/>
            </a:xfrm>
            <a:prstGeom prst="rect">
              <a:avLst/>
            </a:prstGeom>
            <a:noFill/>
          </p:spPr>
          <p:txBody>
            <a:bodyPr wrap="square">
              <a:spAutoFit/>
            </a:bodyPr>
            <a:lstStyle/>
            <a:p>
              <a:pPr algn="ctr"/>
              <a:r>
                <a:rPr lang="fr-FR" sz="1200" dirty="0"/>
                <a:t>Priorisation par les membres les plus motivés (et ouverte à tous)</a:t>
              </a:r>
            </a:p>
          </p:txBody>
        </p:sp>
        <p:grpSp>
          <p:nvGrpSpPr>
            <p:cNvPr id="282" name="Groupe 281">
              <a:extLst>
                <a:ext uri="{FF2B5EF4-FFF2-40B4-BE49-F238E27FC236}">
                  <a16:creationId xmlns:a16="http://schemas.microsoft.com/office/drawing/2014/main" id="{F3B57A92-0C65-285F-C175-6F8E2A50CA05}"/>
                </a:ext>
              </a:extLst>
            </p:cNvPr>
            <p:cNvGrpSpPr/>
            <p:nvPr/>
          </p:nvGrpSpPr>
          <p:grpSpPr>
            <a:xfrm>
              <a:off x="9527870" y="2202430"/>
              <a:ext cx="1040302" cy="875993"/>
              <a:chOff x="8572649" y="1655556"/>
              <a:chExt cx="1409636" cy="1186993"/>
            </a:xfrm>
          </p:grpSpPr>
          <p:grpSp>
            <p:nvGrpSpPr>
              <p:cNvPr id="283" name="Groupe 282">
                <a:extLst>
                  <a:ext uri="{FF2B5EF4-FFF2-40B4-BE49-F238E27FC236}">
                    <a16:creationId xmlns:a16="http://schemas.microsoft.com/office/drawing/2014/main" id="{529F98E6-2D81-E70D-880F-3196D819FA7C}"/>
                  </a:ext>
                </a:extLst>
              </p:cNvPr>
              <p:cNvGrpSpPr/>
              <p:nvPr/>
            </p:nvGrpSpPr>
            <p:grpSpPr>
              <a:xfrm>
                <a:off x="8572649" y="1655556"/>
                <a:ext cx="1409636" cy="1186993"/>
                <a:chOff x="8982504" y="3274976"/>
                <a:chExt cx="1230670" cy="1036294"/>
              </a:xfrm>
              <a:solidFill>
                <a:srgbClr val="ED7D31"/>
              </a:solidFill>
            </p:grpSpPr>
            <p:pic>
              <p:nvPicPr>
                <p:cNvPr id="305" name="Graphique 304" descr="Utilisateur avec un remplissage uni">
                  <a:extLst>
                    <a:ext uri="{FF2B5EF4-FFF2-40B4-BE49-F238E27FC236}">
                      <a16:creationId xmlns:a16="http://schemas.microsoft.com/office/drawing/2014/main" id="{42ECF8AF-69CE-5538-9AA6-46D21329EEE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01028" y="3274976"/>
                  <a:ext cx="336064" cy="336064"/>
                </a:xfrm>
                <a:prstGeom prst="rect">
                  <a:avLst/>
                </a:prstGeom>
              </p:spPr>
            </p:pic>
            <p:pic>
              <p:nvPicPr>
                <p:cNvPr id="306" name="Graphique 305" descr="Utilisateur avec un remplissage uni">
                  <a:extLst>
                    <a:ext uri="{FF2B5EF4-FFF2-40B4-BE49-F238E27FC236}">
                      <a16:creationId xmlns:a16="http://schemas.microsoft.com/office/drawing/2014/main" id="{82E01AA0-D0E4-779B-D9FC-2B62E5ED792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54140" y="3512720"/>
                  <a:ext cx="336064" cy="336064"/>
                </a:xfrm>
                <a:prstGeom prst="rect">
                  <a:avLst/>
                </a:prstGeom>
              </p:spPr>
            </p:pic>
            <p:pic>
              <p:nvPicPr>
                <p:cNvPr id="307" name="Graphique 306" descr="Utilisateur avec un remplissage uni">
                  <a:extLst>
                    <a:ext uri="{FF2B5EF4-FFF2-40B4-BE49-F238E27FC236}">
                      <a16:creationId xmlns:a16="http://schemas.microsoft.com/office/drawing/2014/main" id="{470209FF-1360-0E56-94F6-6001D7E3DFF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308" name="Graphique 307" descr="Utilisateur avec un remplissage uni">
                  <a:extLst>
                    <a:ext uri="{FF2B5EF4-FFF2-40B4-BE49-F238E27FC236}">
                      <a16:creationId xmlns:a16="http://schemas.microsoft.com/office/drawing/2014/main" id="{57A073FC-DF9C-FC74-A23B-65D95155754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309" name="Graphique 308" descr="Utilisateur avec un remplissage uni">
                  <a:extLst>
                    <a:ext uri="{FF2B5EF4-FFF2-40B4-BE49-F238E27FC236}">
                      <a16:creationId xmlns:a16="http://schemas.microsoft.com/office/drawing/2014/main" id="{7C1732F9-33A5-2151-054C-26D4D2B5C82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310" name="Graphique 309" descr="Utilisateur avec un remplissage uni">
                  <a:extLst>
                    <a:ext uri="{FF2B5EF4-FFF2-40B4-BE49-F238E27FC236}">
                      <a16:creationId xmlns:a16="http://schemas.microsoft.com/office/drawing/2014/main" id="{99F21B42-80EB-97BC-7CF9-5457866B482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311" name="Graphique 310" descr="Utilisateur avec un remplissage uni">
                  <a:extLst>
                    <a:ext uri="{FF2B5EF4-FFF2-40B4-BE49-F238E27FC236}">
                      <a16:creationId xmlns:a16="http://schemas.microsoft.com/office/drawing/2014/main" id="{BBD63515-652A-802E-0FA3-07CD9E19E9B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312" name="Graphique 311" descr="Utilisateur avec un remplissage uni">
                  <a:extLst>
                    <a:ext uri="{FF2B5EF4-FFF2-40B4-BE49-F238E27FC236}">
                      <a16:creationId xmlns:a16="http://schemas.microsoft.com/office/drawing/2014/main" id="{9BDDB532-8121-EBDF-0583-3363C9261AD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313" name="Graphique 312" descr="Utilisateur avec un remplissage uni">
                  <a:extLst>
                    <a:ext uri="{FF2B5EF4-FFF2-40B4-BE49-F238E27FC236}">
                      <a16:creationId xmlns:a16="http://schemas.microsoft.com/office/drawing/2014/main" id="{09C46503-A610-57E6-420A-2E67AB33490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83417" y="3975206"/>
                  <a:ext cx="336064" cy="336064"/>
                </a:xfrm>
                <a:prstGeom prst="rect">
                  <a:avLst/>
                </a:prstGeom>
              </p:spPr>
            </p:pic>
            <p:pic>
              <p:nvPicPr>
                <p:cNvPr id="314" name="Graphique 313" descr="Utilisateur avec un remplissage uni">
                  <a:extLst>
                    <a:ext uri="{FF2B5EF4-FFF2-40B4-BE49-F238E27FC236}">
                      <a16:creationId xmlns:a16="http://schemas.microsoft.com/office/drawing/2014/main" id="{75CD1727-E7FA-47D3-5D7F-7FF3B63E816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315" name="Graphique 314" descr="Utilisateur avec un remplissage uni">
                  <a:extLst>
                    <a:ext uri="{FF2B5EF4-FFF2-40B4-BE49-F238E27FC236}">
                      <a16:creationId xmlns:a16="http://schemas.microsoft.com/office/drawing/2014/main" id="{1B818D66-A647-A3EA-6E3B-8D7970E5CA9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284" name="Groupe 283">
                <a:extLst>
                  <a:ext uri="{FF2B5EF4-FFF2-40B4-BE49-F238E27FC236}">
                    <a16:creationId xmlns:a16="http://schemas.microsoft.com/office/drawing/2014/main" id="{89149442-E5E5-101F-DFB9-075D6CF43930}"/>
                  </a:ext>
                </a:extLst>
              </p:cNvPr>
              <p:cNvGrpSpPr/>
              <p:nvPr/>
            </p:nvGrpSpPr>
            <p:grpSpPr>
              <a:xfrm>
                <a:off x="8937492" y="1776645"/>
                <a:ext cx="102144" cy="191413"/>
                <a:chOff x="10178180" y="1782664"/>
                <a:chExt cx="102144" cy="191413"/>
              </a:xfrm>
            </p:grpSpPr>
            <p:cxnSp>
              <p:nvCxnSpPr>
                <p:cNvPr id="303" name="Connecteur droit 302">
                  <a:extLst>
                    <a:ext uri="{FF2B5EF4-FFF2-40B4-BE49-F238E27FC236}">
                      <a16:creationId xmlns:a16="http://schemas.microsoft.com/office/drawing/2014/main" id="{A16BF448-371D-9A0E-4C1A-5E5CE3E7D63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304" name="Ellipse 303">
                  <a:extLst>
                    <a:ext uri="{FF2B5EF4-FFF2-40B4-BE49-F238E27FC236}">
                      <a16:creationId xmlns:a16="http://schemas.microsoft.com/office/drawing/2014/main" id="{809A9562-E2B4-D341-0E72-CC2336E64E09}"/>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85" name="Ellipse 284">
                <a:extLst>
                  <a:ext uri="{FF2B5EF4-FFF2-40B4-BE49-F238E27FC236}">
                    <a16:creationId xmlns:a16="http://schemas.microsoft.com/office/drawing/2014/main" id="{BD021CDD-B0C4-F5E6-730B-E914B35BE7FE}"/>
                  </a:ext>
                </a:extLst>
              </p:cNvPr>
              <p:cNvSpPr/>
              <p:nvPr/>
            </p:nvSpPr>
            <p:spPr>
              <a:xfrm>
                <a:off x="9301412" y="206718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6" name="Ellipse 285">
                <a:extLst>
                  <a:ext uri="{FF2B5EF4-FFF2-40B4-BE49-F238E27FC236}">
                    <a16:creationId xmlns:a16="http://schemas.microsoft.com/office/drawing/2014/main" id="{118D8CAA-D81B-15AE-E325-95E9C4B5FD81}"/>
                  </a:ext>
                </a:extLst>
              </p:cNvPr>
              <p:cNvSpPr/>
              <p:nvPr/>
            </p:nvSpPr>
            <p:spPr>
              <a:xfrm>
                <a:off x="9617999" y="2076952"/>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7" name="Ellipse 286">
                <a:extLst>
                  <a:ext uri="{FF2B5EF4-FFF2-40B4-BE49-F238E27FC236}">
                    <a16:creationId xmlns:a16="http://schemas.microsoft.com/office/drawing/2014/main" id="{8254C1D9-1B2E-16BC-C60A-9C48A5DAAE85}"/>
                  </a:ext>
                </a:extLst>
              </p:cNvPr>
              <p:cNvSpPr/>
              <p:nvPr/>
            </p:nvSpPr>
            <p:spPr>
              <a:xfrm>
                <a:off x="9643768" y="2398635"/>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8" name="Ellipse 287">
                <a:extLst>
                  <a:ext uri="{FF2B5EF4-FFF2-40B4-BE49-F238E27FC236}">
                    <a16:creationId xmlns:a16="http://schemas.microsoft.com/office/drawing/2014/main" id="{E9A9A387-001F-AA8A-3C60-93272A1641F3}"/>
                  </a:ext>
                </a:extLst>
              </p:cNvPr>
              <p:cNvSpPr/>
              <p:nvPr/>
            </p:nvSpPr>
            <p:spPr>
              <a:xfrm>
                <a:off x="9367928" y="237551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9" name="Groupe 288">
                <a:extLst>
                  <a:ext uri="{FF2B5EF4-FFF2-40B4-BE49-F238E27FC236}">
                    <a16:creationId xmlns:a16="http://schemas.microsoft.com/office/drawing/2014/main" id="{76469A24-6BB3-7D5D-B0F5-0E36C3BD06E3}"/>
                  </a:ext>
                </a:extLst>
              </p:cNvPr>
              <p:cNvGrpSpPr/>
              <p:nvPr/>
            </p:nvGrpSpPr>
            <p:grpSpPr>
              <a:xfrm>
                <a:off x="8988065" y="2116634"/>
                <a:ext cx="102144" cy="191413"/>
                <a:chOff x="10178180" y="1782664"/>
                <a:chExt cx="102144" cy="191413"/>
              </a:xfrm>
            </p:grpSpPr>
            <p:cxnSp>
              <p:nvCxnSpPr>
                <p:cNvPr id="301" name="Connecteur droit 300">
                  <a:extLst>
                    <a:ext uri="{FF2B5EF4-FFF2-40B4-BE49-F238E27FC236}">
                      <a16:creationId xmlns:a16="http://schemas.microsoft.com/office/drawing/2014/main" id="{26ED7C30-4C00-9A55-F811-22A68D902DE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302" name="Ellipse 301">
                  <a:extLst>
                    <a:ext uri="{FF2B5EF4-FFF2-40B4-BE49-F238E27FC236}">
                      <a16:creationId xmlns:a16="http://schemas.microsoft.com/office/drawing/2014/main" id="{B9857662-2665-0D57-7AC5-0AD0A5679B79}"/>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0" name="Groupe 289">
                <a:extLst>
                  <a:ext uri="{FF2B5EF4-FFF2-40B4-BE49-F238E27FC236}">
                    <a16:creationId xmlns:a16="http://schemas.microsoft.com/office/drawing/2014/main" id="{40EDB8A3-E530-34C2-41EE-C1A9B95C40F4}"/>
                  </a:ext>
                </a:extLst>
              </p:cNvPr>
              <p:cNvGrpSpPr/>
              <p:nvPr/>
            </p:nvGrpSpPr>
            <p:grpSpPr>
              <a:xfrm>
                <a:off x="8656873" y="2059330"/>
                <a:ext cx="102144" cy="191413"/>
                <a:chOff x="10178180" y="1782664"/>
                <a:chExt cx="102144" cy="191413"/>
              </a:xfrm>
            </p:grpSpPr>
            <p:cxnSp>
              <p:nvCxnSpPr>
                <p:cNvPr id="299" name="Connecteur droit 298">
                  <a:extLst>
                    <a:ext uri="{FF2B5EF4-FFF2-40B4-BE49-F238E27FC236}">
                      <a16:creationId xmlns:a16="http://schemas.microsoft.com/office/drawing/2014/main" id="{B5A20DF0-FB53-6DAE-3D41-5C9B24EE23F5}"/>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300" name="Ellipse 299">
                  <a:extLst>
                    <a:ext uri="{FF2B5EF4-FFF2-40B4-BE49-F238E27FC236}">
                      <a16:creationId xmlns:a16="http://schemas.microsoft.com/office/drawing/2014/main" id="{BA620DE3-0305-F51A-97EB-1384117DD92B}"/>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1" name="Groupe 290">
                <a:extLst>
                  <a:ext uri="{FF2B5EF4-FFF2-40B4-BE49-F238E27FC236}">
                    <a16:creationId xmlns:a16="http://schemas.microsoft.com/office/drawing/2014/main" id="{B175A43A-1844-0021-ED0F-08806CCF42D2}"/>
                  </a:ext>
                </a:extLst>
              </p:cNvPr>
              <p:cNvGrpSpPr/>
              <p:nvPr/>
            </p:nvGrpSpPr>
            <p:grpSpPr>
              <a:xfrm>
                <a:off x="8574420" y="2433143"/>
                <a:ext cx="102144" cy="191413"/>
                <a:chOff x="10178180" y="1782664"/>
                <a:chExt cx="102144" cy="191413"/>
              </a:xfrm>
            </p:grpSpPr>
            <p:cxnSp>
              <p:nvCxnSpPr>
                <p:cNvPr id="297" name="Connecteur droit 296">
                  <a:extLst>
                    <a:ext uri="{FF2B5EF4-FFF2-40B4-BE49-F238E27FC236}">
                      <a16:creationId xmlns:a16="http://schemas.microsoft.com/office/drawing/2014/main" id="{5CE83322-9E63-C85B-7035-0467EC1E7C8C}"/>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98" name="Ellipse 297">
                  <a:extLst>
                    <a:ext uri="{FF2B5EF4-FFF2-40B4-BE49-F238E27FC236}">
                      <a16:creationId xmlns:a16="http://schemas.microsoft.com/office/drawing/2014/main" id="{7EA14E31-A4F6-B90A-BA3A-A2A78861266F}"/>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2" name="Groupe 291">
                <a:extLst>
                  <a:ext uri="{FF2B5EF4-FFF2-40B4-BE49-F238E27FC236}">
                    <a16:creationId xmlns:a16="http://schemas.microsoft.com/office/drawing/2014/main" id="{709DAC4C-00A8-377B-AC9A-802E29867D1A}"/>
                  </a:ext>
                </a:extLst>
              </p:cNvPr>
              <p:cNvGrpSpPr/>
              <p:nvPr/>
            </p:nvGrpSpPr>
            <p:grpSpPr>
              <a:xfrm>
                <a:off x="8888568" y="2441622"/>
                <a:ext cx="102144" cy="191413"/>
                <a:chOff x="10178180" y="1782664"/>
                <a:chExt cx="102144" cy="191413"/>
              </a:xfrm>
            </p:grpSpPr>
            <p:cxnSp>
              <p:nvCxnSpPr>
                <p:cNvPr id="295" name="Connecteur droit 294">
                  <a:extLst>
                    <a:ext uri="{FF2B5EF4-FFF2-40B4-BE49-F238E27FC236}">
                      <a16:creationId xmlns:a16="http://schemas.microsoft.com/office/drawing/2014/main" id="{29DFB6E3-366F-DB12-F76D-36D9F38E8EE1}"/>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96" name="Ellipse 295">
                  <a:extLst>
                    <a:ext uri="{FF2B5EF4-FFF2-40B4-BE49-F238E27FC236}">
                      <a16:creationId xmlns:a16="http://schemas.microsoft.com/office/drawing/2014/main" id="{F8FE7E68-04B3-DD6F-32A5-A8CCBA1C4716}"/>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93" name="Ellipse 292">
                <a:extLst>
                  <a:ext uri="{FF2B5EF4-FFF2-40B4-BE49-F238E27FC236}">
                    <a16:creationId xmlns:a16="http://schemas.microsoft.com/office/drawing/2014/main" id="{B5637359-772F-19DE-13CB-064417B25D15}"/>
                  </a:ext>
                </a:extLst>
              </p:cNvPr>
              <p:cNvSpPr/>
              <p:nvPr/>
            </p:nvSpPr>
            <p:spPr>
              <a:xfrm>
                <a:off x="9228205" y="267584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 name="Ellipse 293">
                <a:extLst>
                  <a:ext uri="{FF2B5EF4-FFF2-40B4-BE49-F238E27FC236}">
                    <a16:creationId xmlns:a16="http://schemas.microsoft.com/office/drawing/2014/main" id="{7D563CE1-DC5B-D823-1981-BE9C8339E660}"/>
                  </a:ext>
                </a:extLst>
              </p:cNvPr>
              <p:cNvSpPr/>
              <p:nvPr/>
            </p:nvSpPr>
            <p:spPr>
              <a:xfrm>
                <a:off x="9523160" y="2712860"/>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316" name="Groupe 315">
            <a:extLst>
              <a:ext uri="{FF2B5EF4-FFF2-40B4-BE49-F238E27FC236}">
                <a16:creationId xmlns:a16="http://schemas.microsoft.com/office/drawing/2014/main" id="{90602E47-1263-4E16-6656-7CEEE17D1BC3}"/>
              </a:ext>
            </a:extLst>
          </p:cNvPr>
          <p:cNvGrpSpPr/>
          <p:nvPr/>
        </p:nvGrpSpPr>
        <p:grpSpPr>
          <a:xfrm>
            <a:off x="1554938" y="2772028"/>
            <a:ext cx="1142475" cy="1466540"/>
            <a:chOff x="1062995" y="2236944"/>
            <a:chExt cx="1142475" cy="1466540"/>
          </a:xfrm>
        </p:grpSpPr>
        <p:sp>
          <p:nvSpPr>
            <p:cNvPr id="317" name="ZoneTexte 316">
              <a:extLst>
                <a:ext uri="{FF2B5EF4-FFF2-40B4-BE49-F238E27FC236}">
                  <a16:creationId xmlns:a16="http://schemas.microsoft.com/office/drawing/2014/main" id="{5C53D44A-F22A-7F20-79B8-63694D772C0E}"/>
                </a:ext>
              </a:extLst>
            </p:cNvPr>
            <p:cNvSpPr txBox="1"/>
            <p:nvPr/>
          </p:nvSpPr>
          <p:spPr>
            <a:xfrm>
              <a:off x="1062995" y="3057153"/>
              <a:ext cx="1142475" cy="646331"/>
            </a:xfrm>
            <a:prstGeom prst="rect">
              <a:avLst/>
            </a:prstGeom>
            <a:noFill/>
          </p:spPr>
          <p:txBody>
            <a:bodyPr wrap="square">
              <a:spAutoFit/>
            </a:bodyPr>
            <a:lstStyle/>
            <a:p>
              <a:pPr algn="ctr"/>
              <a:r>
                <a:rPr lang="fr-FR" sz="1200" dirty="0"/>
                <a:t>Comité fixe de priorisation (dont leader)</a:t>
              </a:r>
            </a:p>
          </p:txBody>
        </p:sp>
        <p:grpSp>
          <p:nvGrpSpPr>
            <p:cNvPr id="318" name="Groupe 317">
              <a:extLst>
                <a:ext uri="{FF2B5EF4-FFF2-40B4-BE49-F238E27FC236}">
                  <a16:creationId xmlns:a16="http://schemas.microsoft.com/office/drawing/2014/main" id="{F535494A-CA6D-DFE5-12B5-CDC0331CDDE6}"/>
                </a:ext>
              </a:extLst>
            </p:cNvPr>
            <p:cNvGrpSpPr/>
            <p:nvPr/>
          </p:nvGrpSpPr>
          <p:grpSpPr>
            <a:xfrm>
              <a:off x="1162944" y="2236944"/>
              <a:ext cx="891895" cy="820209"/>
              <a:chOff x="1281387" y="2495253"/>
              <a:chExt cx="1084118" cy="996982"/>
            </a:xfrm>
          </p:grpSpPr>
          <p:grpSp>
            <p:nvGrpSpPr>
              <p:cNvPr id="319" name="Groupe 318">
                <a:extLst>
                  <a:ext uri="{FF2B5EF4-FFF2-40B4-BE49-F238E27FC236}">
                    <a16:creationId xmlns:a16="http://schemas.microsoft.com/office/drawing/2014/main" id="{DF6D60CD-3E00-3E21-3A83-E5329339CD10}"/>
                  </a:ext>
                </a:extLst>
              </p:cNvPr>
              <p:cNvGrpSpPr/>
              <p:nvPr/>
            </p:nvGrpSpPr>
            <p:grpSpPr>
              <a:xfrm>
                <a:off x="1569563" y="3035035"/>
                <a:ext cx="457200" cy="457200"/>
                <a:chOff x="3982824" y="1896400"/>
                <a:chExt cx="914400" cy="914400"/>
              </a:xfrm>
            </p:grpSpPr>
            <p:pic>
              <p:nvPicPr>
                <p:cNvPr id="329" name="Graphique 328" descr="Homme conductrice avec un remplissage uni">
                  <a:extLst>
                    <a:ext uri="{FF2B5EF4-FFF2-40B4-BE49-F238E27FC236}">
                      <a16:creationId xmlns:a16="http://schemas.microsoft.com/office/drawing/2014/main" id="{5379302F-9B52-9024-513C-DE148B9A326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330" name="Rectangle 329">
                  <a:extLst>
                    <a:ext uri="{FF2B5EF4-FFF2-40B4-BE49-F238E27FC236}">
                      <a16:creationId xmlns:a16="http://schemas.microsoft.com/office/drawing/2014/main" id="{6277118C-B6B9-80C3-A0C3-19AED272BD7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20" name="Groupe 319">
                <a:extLst>
                  <a:ext uri="{FF2B5EF4-FFF2-40B4-BE49-F238E27FC236}">
                    <a16:creationId xmlns:a16="http://schemas.microsoft.com/office/drawing/2014/main" id="{03EADEB5-06BE-92B8-B694-B3E28B52B58E}"/>
                  </a:ext>
                </a:extLst>
              </p:cNvPr>
              <p:cNvGrpSpPr/>
              <p:nvPr/>
            </p:nvGrpSpPr>
            <p:grpSpPr>
              <a:xfrm>
                <a:off x="1281387" y="2806435"/>
                <a:ext cx="457200" cy="457200"/>
                <a:chOff x="3982824" y="1896400"/>
                <a:chExt cx="914400" cy="914400"/>
              </a:xfrm>
            </p:grpSpPr>
            <p:pic>
              <p:nvPicPr>
                <p:cNvPr id="327" name="Graphique 326" descr="Homme conductrice avec un remplissage uni">
                  <a:extLst>
                    <a:ext uri="{FF2B5EF4-FFF2-40B4-BE49-F238E27FC236}">
                      <a16:creationId xmlns:a16="http://schemas.microsoft.com/office/drawing/2014/main" id="{6BAB7D07-3F53-288A-853F-1EB9615D73B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328" name="Rectangle 327">
                  <a:extLst>
                    <a:ext uri="{FF2B5EF4-FFF2-40B4-BE49-F238E27FC236}">
                      <a16:creationId xmlns:a16="http://schemas.microsoft.com/office/drawing/2014/main" id="{8187A43B-FD41-48C1-AFB0-7F6A8BC8421D}"/>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21" name="Groupe 320">
                <a:extLst>
                  <a:ext uri="{FF2B5EF4-FFF2-40B4-BE49-F238E27FC236}">
                    <a16:creationId xmlns:a16="http://schemas.microsoft.com/office/drawing/2014/main" id="{A47940E1-729A-EFDF-973D-D86DD4B2804C}"/>
                  </a:ext>
                </a:extLst>
              </p:cNvPr>
              <p:cNvGrpSpPr/>
              <p:nvPr/>
            </p:nvGrpSpPr>
            <p:grpSpPr>
              <a:xfrm>
                <a:off x="1613164" y="2495253"/>
                <a:ext cx="457200" cy="457200"/>
                <a:chOff x="3982824" y="1896400"/>
                <a:chExt cx="914400" cy="914400"/>
              </a:xfrm>
            </p:grpSpPr>
            <p:pic>
              <p:nvPicPr>
                <p:cNvPr id="325" name="Graphique 324" descr="Homme conductrice avec un remplissage uni">
                  <a:extLst>
                    <a:ext uri="{FF2B5EF4-FFF2-40B4-BE49-F238E27FC236}">
                      <a16:creationId xmlns:a16="http://schemas.microsoft.com/office/drawing/2014/main" id="{8E54E859-443A-FE94-4B9D-DC9DBC2DF12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326" name="Rectangle 325">
                  <a:extLst>
                    <a:ext uri="{FF2B5EF4-FFF2-40B4-BE49-F238E27FC236}">
                      <a16:creationId xmlns:a16="http://schemas.microsoft.com/office/drawing/2014/main" id="{C9885DE0-491B-B604-2939-D3B7DF450EC1}"/>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22" name="Groupe 321">
                <a:extLst>
                  <a:ext uri="{FF2B5EF4-FFF2-40B4-BE49-F238E27FC236}">
                    <a16:creationId xmlns:a16="http://schemas.microsoft.com/office/drawing/2014/main" id="{7A643A72-8DD1-7988-FF30-6B8BD6BF1629}"/>
                  </a:ext>
                </a:extLst>
              </p:cNvPr>
              <p:cNvGrpSpPr/>
              <p:nvPr/>
            </p:nvGrpSpPr>
            <p:grpSpPr>
              <a:xfrm>
                <a:off x="1908305" y="2820432"/>
                <a:ext cx="457200" cy="457200"/>
                <a:chOff x="3982824" y="1896400"/>
                <a:chExt cx="914400" cy="914400"/>
              </a:xfrm>
            </p:grpSpPr>
            <p:pic>
              <p:nvPicPr>
                <p:cNvPr id="323" name="Graphique 322" descr="Homme conductrice avec un remplissage uni">
                  <a:extLst>
                    <a:ext uri="{FF2B5EF4-FFF2-40B4-BE49-F238E27FC236}">
                      <a16:creationId xmlns:a16="http://schemas.microsoft.com/office/drawing/2014/main" id="{311E0D80-3602-C49F-D216-453DF87261F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324" name="Rectangle 323">
                  <a:extLst>
                    <a:ext uri="{FF2B5EF4-FFF2-40B4-BE49-F238E27FC236}">
                      <a16:creationId xmlns:a16="http://schemas.microsoft.com/office/drawing/2014/main" id="{3C674105-0914-9BE3-2BCB-7A528C9934F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grpSp>
        <p:nvGrpSpPr>
          <p:cNvPr id="331" name="Groupe 330">
            <a:extLst>
              <a:ext uri="{FF2B5EF4-FFF2-40B4-BE49-F238E27FC236}">
                <a16:creationId xmlns:a16="http://schemas.microsoft.com/office/drawing/2014/main" id="{4B885B29-A588-7867-20BA-23A166F876BB}"/>
              </a:ext>
            </a:extLst>
          </p:cNvPr>
          <p:cNvGrpSpPr/>
          <p:nvPr/>
        </p:nvGrpSpPr>
        <p:grpSpPr>
          <a:xfrm>
            <a:off x="8136419" y="2667012"/>
            <a:ext cx="1253441" cy="2149608"/>
            <a:chOff x="8055124" y="2227613"/>
            <a:chExt cx="1253441" cy="2149608"/>
          </a:xfrm>
        </p:grpSpPr>
        <p:sp>
          <p:nvSpPr>
            <p:cNvPr id="332" name="ZoneTexte 331">
              <a:extLst>
                <a:ext uri="{FF2B5EF4-FFF2-40B4-BE49-F238E27FC236}">
                  <a16:creationId xmlns:a16="http://schemas.microsoft.com/office/drawing/2014/main" id="{0C8F22E1-B1D5-BA30-0BFD-807CFF7377BE}"/>
                </a:ext>
              </a:extLst>
            </p:cNvPr>
            <p:cNvSpPr txBox="1"/>
            <p:nvPr/>
          </p:nvSpPr>
          <p:spPr>
            <a:xfrm>
              <a:off x="8055124" y="3176892"/>
              <a:ext cx="1253441" cy="1200329"/>
            </a:xfrm>
            <a:prstGeom prst="rect">
              <a:avLst/>
            </a:prstGeom>
            <a:noFill/>
          </p:spPr>
          <p:txBody>
            <a:bodyPr wrap="square">
              <a:spAutoFit/>
            </a:bodyPr>
            <a:lstStyle/>
            <a:p>
              <a:pPr algn="ctr"/>
              <a:r>
                <a:rPr lang="fr-FR" sz="1200" dirty="0"/>
                <a:t>Priorisation uniquement des représentants temporaires des membres pour la décision</a:t>
              </a:r>
            </a:p>
          </p:txBody>
        </p:sp>
        <p:grpSp>
          <p:nvGrpSpPr>
            <p:cNvPr id="333" name="Groupe 332">
              <a:extLst>
                <a:ext uri="{FF2B5EF4-FFF2-40B4-BE49-F238E27FC236}">
                  <a16:creationId xmlns:a16="http://schemas.microsoft.com/office/drawing/2014/main" id="{39E3031C-6B08-8661-1D5C-400083A06527}"/>
                </a:ext>
              </a:extLst>
            </p:cNvPr>
            <p:cNvGrpSpPr/>
            <p:nvPr/>
          </p:nvGrpSpPr>
          <p:grpSpPr>
            <a:xfrm>
              <a:off x="8249169" y="2227613"/>
              <a:ext cx="916532" cy="842866"/>
              <a:chOff x="7829288" y="2349771"/>
              <a:chExt cx="1084118" cy="996982"/>
            </a:xfrm>
          </p:grpSpPr>
          <p:grpSp>
            <p:nvGrpSpPr>
              <p:cNvPr id="334" name="Groupe 333">
                <a:extLst>
                  <a:ext uri="{FF2B5EF4-FFF2-40B4-BE49-F238E27FC236}">
                    <a16:creationId xmlns:a16="http://schemas.microsoft.com/office/drawing/2014/main" id="{E6942987-9A3D-C8E3-CB38-A152D5D60485}"/>
                  </a:ext>
                </a:extLst>
              </p:cNvPr>
              <p:cNvGrpSpPr/>
              <p:nvPr/>
            </p:nvGrpSpPr>
            <p:grpSpPr>
              <a:xfrm>
                <a:off x="8117464" y="2889553"/>
                <a:ext cx="457200" cy="457200"/>
                <a:chOff x="3982824" y="1896400"/>
                <a:chExt cx="914400" cy="914400"/>
              </a:xfrm>
            </p:grpSpPr>
            <p:pic>
              <p:nvPicPr>
                <p:cNvPr id="344" name="Graphique 343" descr="Homme conductrice avec un remplissage uni">
                  <a:extLst>
                    <a:ext uri="{FF2B5EF4-FFF2-40B4-BE49-F238E27FC236}">
                      <a16:creationId xmlns:a16="http://schemas.microsoft.com/office/drawing/2014/main" id="{088E62FD-7BC6-4DCC-445A-647DFB49674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45" name="Rectangle 344">
                  <a:extLst>
                    <a:ext uri="{FF2B5EF4-FFF2-40B4-BE49-F238E27FC236}">
                      <a16:creationId xmlns:a16="http://schemas.microsoft.com/office/drawing/2014/main" id="{6DD71A52-5B40-9775-34F2-B027E5FAB33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35" name="Groupe 334">
                <a:extLst>
                  <a:ext uri="{FF2B5EF4-FFF2-40B4-BE49-F238E27FC236}">
                    <a16:creationId xmlns:a16="http://schemas.microsoft.com/office/drawing/2014/main" id="{8B485F7F-96D6-A536-51F4-577C827D5BEB}"/>
                  </a:ext>
                </a:extLst>
              </p:cNvPr>
              <p:cNvGrpSpPr/>
              <p:nvPr/>
            </p:nvGrpSpPr>
            <p:grpSpPr>
              <a:xfrm>
                <a:off x="7829288" y="2660953"/>
                <a:ext cx="457200" cy="457200"/>
                <a:chOff x="3982824" y="1896400"/>
                <a:chExt cx="914400" cy="914400"/>
              </a:xfrm>
            </p:grpSpPr>
            <p:pic>
              <p:nvPicPr>
                <p:cNvPr id="342" name="Graphique 341" descr="Homme conductrice avec un remplissage uni">
                  <a:extLst>
                    <a:ext uri="{FF2B5EF4-FFF2-40B4-BE49-F238E27FC236}">
                      <a16:creationId xmlns:a16="http://schemas.microsoft.com/office/drawing/2014/main" id="{B68BBF8F-8F4D-3BE4-8985-3802EA9B76C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43" name="Rectangle 342">
                  <a:extLst>
                    <a:ext uri="{FF2B5EF4-FFF2-40B4-BE49-F238E27FC236}">
                      <a16:creationId xmlns:a16="http://schemas.microsoft.com/office/drawing/2014/main" id="{944DF84E-2470-29AA-B9D5-5FFA7A41A5E4}"/>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36" name="Groupe 335">
                <a:extLst>
                  <a:ext uri="{FF2B5EF4-FFF2-40B4-BE49-F238E27FC236}">
                    <a16:creationId xmlns:a16="http://schemas.microsoft.com/office/drawing/2014/main" id="{5EAF6645-38CA-3468-9255-7013848143D9}"/>
                  </a:ext>
                </a:extLst>
              </p:cNvPr>
              <p:cNvGrpSpPr/>
              <p:nvPr/>
            </p:nvGrpSpPr>
            <p:grpSpPr>
              <a:xfrm>
                <a:off x="8161065" y="2349771"/>
                <a:ext cx="457200" cy="457200"/>
                <a:chOff x="3982824" y="1896400"/>
                <a:chExt cx="914400" cy="914400"/>
              </a:xfrm>
            </p:grpSpPr>
            <p:pic>
              <p:nvPicPr>
                <p:cNvPr id="340" name="Graphique 339" descr="Homme conductrice avec un remplissage uni">
                  <a:extLst>
                    <a:ext uri="{FF2B5EF4-FFF2-40B4-BE49-F238E27FC236}">
                      <a16:creationId xmlns:a16="http://schemas.microsoft.com/office/drawing/2014/main" id="{D0D49F4D-C0FF-0CF0-B02E-0FD8A6B4733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41" name="Rectangle 340">
                  <a:extLst>
                    <a:ext uri="{FF2B5EF4-FFF2-40B4-BE49-F238E27FC236}">
                      <a16:creationId xmlns:a16="http://schemas.microsoft.com/office/drawing/2014/main" id="{BD2496CF-9698-58B4-BE7C-E340DC5D288B}"/>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37" name="Groupe 336">
                <a:extLst>
                  <a:ext uri="{FF2B5EF4-FFF2-40B4-BE49-F238E27FC236}">
                    <a16:creationId xmlns:a16="http://schemas.microsoft.com/office/drawing/2014/main" id="{616094E0-231A-AF7C-5236-47511A2BEFC6}"/>
                  </a:ext>
                </a:extLst>
              </p:cNvPr>
              <p:cNvGrpSpPr/>
              <p:nvPr/>
            </p:nvGrpSpPr>
            <p:grpSpPr>
              <a:xfrm>
                <a:off x="8456206" y="2674950"/>
                <a:ext cx="457200" cy="457200"/>
                <a:chOff x="3982824" y="1896400"/>
                <a:chExt cx="914400" cy="914400"/>
              </a:xfrm>
            </p:grpSpPr>
            <p:pic>
              <p:nvPicPr>
                <p:cNvPr id="338" name="Graphique 337" descr="Homme conductrice avec un remplissage uni">
                  <a:extLst>
                    <a:ext uri="{FF2B5EF4-FFF2-40B4-BE49-F238E27FC236}">
                      <a16:creationId xmlns:a16="http://schemas.microsoft.com/office/drawing/2014/main" id="{92689706-E8ED-A481-B82C-B0C96AC99B9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39" name="Rectangle 338">
                  <a:extLst>
                    <a:ext uri="{FF2B5EF4-FFF2-40B4-BE49-F238E27FC236}">
                      <a16:creationId xmlns:a16="http://schemas.microsoft.com/office/drawing/2014/main" id="{400A327F-1CB6-7FD2-FA79-64A97845D4D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grpSp>
        <p:nvGrpSpPr>
          <p:cNvPr id="346" name="Groupe 345">
            <a:extLst>
              <a:ext uri="{FF2B5EF4-FFF2-40B4-BE49-F238E27FC236}">
                <a16:creationId xmlns:a16="http://schemas.microsoft.com/office/drawing/2014/main" id="{DB61976C-F133-6E6D-BBB3-D9EBF3F745B0}"/>
              </a:ext>
            </a:extLst>
          </p:cNvPr>
          <p:cNvGrpSpPr/>
          <p:nvPr/>
        </p:nvGrpSpPr>
        <p:grpSpPr>
          <a:xfrm>
            <a:off x="6860311" y="2767645"/>
            <a:ext cx="1162308" cy="2041408"/>
            <a:chOff x="6142362" y="2215312"/>
            <a:chExt cx="1162308" cy="2041408"/>
          </a:xfrm>
        </p:grpSpPr>
        <p:sp>
          <p:nvSpPr>
            <p:cNvPr id="347" name="ZoneTexte 346">
              <a:extLst>
                <a:ext uri="{FF2B5EF4-FFF2-40B4-BE49-F238E27FC236}">
                  <a16:creationId xmlns:a16="http://schemas.microsoft.com/office/drawing/2014/main" id="{47B11345-D6B1-C17E-D61F-3602AFD30BF2}"/>
                </a:ext>
              </a:extLst>
            </p:cNvPr>
            <p:cNvSpPr txBox="1"/>
            <p:nvPr/>
          </p:nvSpPr>
          <p:spPr>
            <a:xfrm>
              <a:off x="6142362" y="3056391"/>
              <a:ext cx="1162308" cy="1200329"/>
            </a:xfrm>
            <a:prstGeom prst="rect">
              <a:avLst/>
            </a:prstGeom>
            <a:noFill/>
          </p:spPr>
          <p:txBody>
            <a:bodyPr wrap="square">
              <a:spAutoFit/>
            </a:bodyPr>
            <a:lstStyle/>
            <a:p>
              <a:pPr algn="ctr"/>
              <a:r>
                <a:rPr lang="fr-FR" sz="1200" dirty="0"/>
                <a:t>Comité fixe et représentants  temporaires (pour la décision), sans leader</a:t>
              </a:r>
            </a:p>
          </p:txBody>
        </p:sp>
        <p:grpSp>
          <p:nvGrpSpPr>
            <p:cNvPr id="348" name="Groupe 347">
              <a:extLst>
                <a:ext uri="{FF2B5EF4-FFF2-40B4-BE49-F238E27FC236}">
                  <a16:creationId xmlns:a16="http://schemas.microsoft.com/office/drawing/2014/main" id="{7859A48A-6423-B2C5-23AD-268EF2939273}"/>
                </a:ext>
              </a:extLst>
            </p:cNvPr>
            <p:cNvGrpSpPr/>
            <p:nvPr/>
          </p:nvGrpSpPr>
          <p:grpSpPr>
            <a:xfrm>
              <a:off x="6290594" y="2215312"/>
              <a:ext cx="905676" cy="832882"/>
              <a:chOff x="6564654" y="2339787"/>
              <a:chExt cx="1084118" cy="996982"/>
            </a:xfrm>
          </p:grpSpPr>
          <p:grpSp>
            <p:nvGrpSpPr>
              <p:cNvPr id="349" name="Groupe 348">
                <a:extLst>
                  <a:ext uri="{FF2B5EF4-FFF2-40B4-BE49-F238E27FC236}">
                    <a16:creationId xmlns:a16="http://schemas.microsoft.com/office/drawing/2014/main" id="{18FBBF02-0FD6-0B65-5382-CD5DBF2E0F41}"/>
                  </a:ext>
                </a:extLst>
              </p:cNvPr>
              <p:cNvGrpSpPr/>
              <p:nvPr/>
            </p:nvGrpSpPr>
            <p:grpSpPr>
              <a:xfrm>
                <a:off x="6852830" y="2879569"/>
                <a:ext cx="457200" cy="457200"/>
                <a:chOff x="3982824" y="1896400"/>
                <a:chExt cx="914400" cy="914400"/>
              </a:xfrm>
            </p:grpSpPr>
            <p:pic>
              <p:nvPicPr>
                <p:cNvPr id="359" name="Graphique 358" descr="Homme conductrice avec un remplissage uni">
                  <a:extLst>
                    <a:ext uri="{FF2B5EF4-FFF2-40B4-BE49-F238E27FC236}">
                      <a16:creationId xmlns:a16="http://schemas.microsoft.com/office/drawing/2014/main" id="{A896F379-66DA-9044-61DD-4CF15127E50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360" name="Rectangle 359">
                  <a:extLst>
                    <a:ext uri="{FF2B5EF4-FFF2-40B4-BE49-F238E27FC236}">
                      <a16:creationId xmlns:a16="http://schemas.microsoft.com/office/drawing/2014/main" id="{547DAB45-8A30-13C9-C88B-B1215D0657D3}"/>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50" name="Groupe 349">
                <a:extLst>
                  <a:ext uri="{FF2B5EF4-FFF2-40B4-BE49-F238E27FC236}">
                    <a16:creationId xmlns:a16="http://schemas.microsoft.com/office/drawing/2014/main" id="{760388D6-A73A-9E71-F38E-91B49CFF9776}"/>
                  </a:ext>
                </a:extLst>
              </p:cNvPr>
              <p:cNvGrpSpPr/>
              <p:nvPr/>
            </p:nvGrpSpPr>
            <p:grpSpPr>
              <a:xfrm>
                <a:off x="6564654" y="2650969"/>
                <a:ext cx="457200" cy="457200"/>
                <a:chOff x="3982824" y="1896400"/>
                <a:chExt cx="914400" cy="914400"/>
              </a:xfrm>
            </p:grpSpPr>
            <p:pic>
              <p:nvPicPr>
                <p:cNvPr id="357" name="Graphique 356" descr="Homme conductrice avec un remplissage uni">
                  <a:extLst>
                    <a:ext uri="{FF2B5EF4-FFF2-40B4-BE49-F238E27FC236}">
                      <a16:creationId xmlns:a16="http://schemas.microsoft.com/office/drawing/2014/main" id="{77D80DCC-FC3F-0E9A-9C80-2063BFB42CE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58" name="Rectangle 357">
                  <a:extLst>
                    <a:ext uri="{FF2B5EF4-FFF2-40B4-BE49-F238E27FC236}">
                      <a16:creationId xmlns:a16="http://schemas.microsoft.com/office/drawing/2014/main" id="{F571BC79-1346-608A-D8B1-BF0EDA07CF9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51" name="Groupe 350">
                <a:extLst>
                  <a:ext uri="{FF2B5EF4-FFF2-40B4-BE49-F238E27FC236}">
                    <a16:creationId xmlns:a16="http://schemas.microsoft.com/office/drawing/2014/main" id="{7388222C-2F66-A50F-E717-EAA4D28DDCBC}"/>
                  </a:ext>
                </a:extLst>
              </p:cNvPr>
              <p:cNvGrpSpPr/>
              <p:nvPr/>
            </p:nvGrpSpPr>
            <p:grpSpPr>
              <a:xfrm>
                <a:off x="6896431" y="2339787"/>
                <a:ext cx="457200" cy="457200"/>
                <a:chOff x="3982824" y="1896400"/>
                <a:chExt cx="914400" cy="914400"/>
              </a:xfrm>
            </p:grpSpPr>
            <p:pic>
              <p:nvPicPr>
                <p:cNvPr id="355" name="Graphique 354" descr="Homme conductrice avec un remplissage uni">
                  <a:extLst>
                    <a:ext uri="{FF2B5EF4-FFF2-40B4-BE49-F238E27FC236}">
                      <a16:creationId xmlns:a16="http://schemas.microsoft.com/office/drawing/2014/main" id="{B7395F49-8013-9800-DB05-CD860785606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56" name="Rectangle 355">
                  <a:extLst>
                    <a:ext uri="{FF2B5EF4-FFF2-40B4-BE49-F238E27FC236}">
                      <a16:creationId xmlns:a16="http://schemas.microsoft.com/office/drawing/2014/main" id="{356FF79B-340E-217D-31AA-535499E1E523}"/>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52" name="Groupe 351">
                <a:extLst>
                  <a:ext uri="{FF2B5EF4-FFF2-40B4-BE49-F238E27FC236}">
                    <a16:creationId xmlns:a16="http://schemas.microsoft.com/office/drawing/2014/main" id="{38F234B1-2D65-88ED-9512-7D79EBBEB1DE}"/>
                  </a:ext>
                </a:extLst>
              </p:cNvPr>
              <p:cNvGrpSpPr/>
              <p:nvPr/>
            </p:nvGrpSpPr>
            <p:grpSpPr>
              <a:xfrm>
                <a:off x="7191572" y="2664966"/>
                <a:ext cx="457200" cy="457200"/>
                <a:chOff x="3982824" y="1896400"/>
                <a:chExt cx="914400" cy="914400"/>
              </a:xfrm>
            </p:grpSpPr>
            <p:pic>
              <p:nvPicPr>
                <p:cNvPr id="353" name="Graphique 352" descr="Homme conductrice avec un remplissage uni">
                  <a:extLst>
                    <a:ext uri="{FF2B5EF4-FFF2-40B4-BE49-F238E27FC236}">
                      <a16:creationId xmlns:a16="http://schemas.microsoft.com/office/drawing/2014/main" id="{3ED8D13A-9380-9E9C-630A-E44D5513A92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354" name="Rectangle 353">
                  <a:extLst>
                    <a:ext uri="{FF2B5EF4-FFF2-40B4-BE49-F238E27FC236}">
                      <a16:creationId xmlns:a16="http://schemas.microsoft.com/office/drawing/2014/main" id="{C1F2D2CA-B161-7F95-8050-B7DBFB903B63}"/>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sp>
        <p:nvSpPr>
          <p:cNvPr id="361" name="Rectangle 360">
            <a:extLst>
              <a:ext uri="{FF2B5EF4-FFF2-40B4-BE49-F238E27FC236}">
                <a16:creationId xmlns:a16="http://schemas.microsoft.com/office/drawing/2014/main" id="{D8BED088-231B-EE29-0909-8F141DD4F39A}"/>
              </a:ext>
            </a:extLst>
          </p:cNvPr>
          <p:cNvSpPr/>
          <p:nvPr/>
        </p:nvSpPr>
        <p:spPr>
          <a:xfrm>
            <a:off x="2255530" y="2704089"/>
            <a:ext cx="235527" cy="3219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nvGrpSpPr>
          <p:cNvPr id="362" name="Groupe 361">
            <a:extLst>
              <a:ext uri="{FF2B5EF4-FFF2-40B4-BE49-F238E27FC236}">
                <a16:creationId xmlns:a16="http://schemas.microsoft.com/office/drawing/2014/main" id="{238288FC-D499-0541-85CB-8306CFCCDD0A}"/>
              </a:ext>
            </a:extLst>
          </p:cNvPr>
          <p:cNvGrpSpPr/>
          <p:nvPr/>
        </p:nvGrpSpPr>
        <p:grpSpPr>
          <a:xfrm>
            <a:off x="2713259" y="2802989"/>
            <a:ext cx="1368269" cy="1999564"/>
            <a:chOff x="2196623" y="2275346"/>
            <a:chExt cx="1368269" cy="1999564"/>
          </a:xfrm>
        </p:grpSpPr>
        <p:sp>
          <p:nvSpPr>
            <p:cNvPr id="363" name="ZoneTexte 362">
              <a:extLst>
                <a:ext uri="{FF2B5EF4-FFF2-40B4-BE49-F238E27FC236}">
                  <a16:creationId xmlns:a16="http://schemas.microsoft.com/office/drawing/2014/main" id="{AE0B16FD-D3CD-82C3-630B-0C668E0DA074}"/>
                </a:ext>
              </a:extLst>
            </p:cNvPr>
            <p:cNvSpPr txBox="1"/>
            <p:nvPr/>
          </p:nvSpPr>
          <p:spPr>
            <a:xfrm>
              <a:off x="2196623" y="3074581"/>
              <a:ext cx="1368269" cy="1200329"/>
            </a:xfrm>
            <a:prstGeom prst="rect">
              <a:avLst/>
            </a:prstGeom>
            <a:noFill/>
          </p:spPr>
          <p:txBody>
            <a:bodyPr wrap="square">
              <a:spAutoFit/>
            </a:bodyPr>
            <a:lstStyle/>
            <a:p>
              <a:pPr algn="ctr"/>
              <a:r>
                <a:rPr lang="fr-FR" sz="1200" dirty="0"/>
                <a:t>Priorisation par panel de représentants temporaires (pour la décision) et leader</a:t>
              </a:r>
            </a:p>
          </p:txBody>
        </p:sp>
        <p:grpSp>
          <p:nvGrpSpPr>
            <p:cNvPr id="364" name="Groupe 363">
              <a:extLst>
                <a:ext uri="{FF2B5EF4-FFF2-40B4-BE49-F238E27FC236}">
                  <a16:creationId xmlns:a16="http://schemas.microsoft.com/office/drawing/2014/main" id="{5F4BB1AB-B67E-42E6-299A-2DC1A54FA834}"/>
                </a:ext>
              </a:extLst>
            </p:cNvPr>
            <p:cNvGrpSpPr/>
            <p:nvPr/>
          </p:nvGrpSpPr>
          <p:grpSpPr>
            <a:xfrm>
              <a:off x="2465645" y="2275346"/>
              <a:ext cx="869466" cy="799583"/>
              <a:chOff x="2391091" y="2512442"/>
              <a:chExt cx="1084118" cy="996982"/>
            </a:xfrm>
          </p:grpSpPr>
          <p:grpSp>
            <p:nvGrpSpPr>
              <p:cNvPr id="365" name="Groupe 364">
                <a:extLst>
                  <a:ext uri="{FF2B5EF4-FFF2-40B4-BE49-F238E27FC236}">
                    <a16:creationId xmlns:a16="http://schemas.microsoft.com/office/drawing/2014/main" id="{29222779-6CF8-9F42-7080-CEC6342B9F86}"/>
                  </a:ext>
                </a:extLst>
              </p:cNvPr>
              <p:cNvGrpSpPr/>
              <p:nvPr/>
            </p:nvGrpSpPr>
            <p:grpSpPr>
              <a:xfrm>
                <a:off x="2679267" y="3052224"/>
                <a:ext cx="457200" cy="457200"/>
                <a:chOff x="3982824" y="1896400"/>
                <a:chExt cx="914400" cy="914400"/>
              </a:xfrm>
            </p:grpSpPr>
            <p:pic>
              <p:nvPicPr>
                <p:cNvPr id="375" name="Graphique 374" descr="Homme conductrice avec un remplissage uni">
                  <a:extLst>
                    <a:ext uri="{FF2B5EF4-FFF2-40B4-BE49-F238E27FC236}">
                      <a16:creationId xmlns:a16="http://schemas.microsoft.com/office/drawing/2014/main" id="{94D60D9F-9FEC-3F4A-9588-8FCDC1B3D4F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76" name="Rectangle 375">
                  <a:extLst>
                    <a:ext uri="{FF2B5EF4-FFF2-40B4-BE49-F238E27FC236}">
                      <a16:creationId xmlns:a16="http://schemas.microsoft.com/office/drawing/2014/main" id="{BA2D0CAE-172E-9DAC-9A59-2426EF84D25A}"/>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66" name="Groupe 365">
                <a:extLst>
                  <a:ext uri="{FF2B5EF4-FFF2-40B4-BE49-F238E27FC236}">
                    <a16:creationId xmlns:a16="http://schemas.microsoft.com/office/drawing/2014/main" id="{44431C79-9FAD-72B0-39B2-A8A31DBD13E1}"/>
                  </a:ext>
                </a:extLst>
              </p:cNvPr>
              <p:cNvGrpSpPr/>
              <p:nvPr/>
            </p:nvGrpSpPr>
            <p:grpSpPr>
              <a:xfrm>
                <a:off x="2391091" y="2823624"/>
                <a:ext cx="457200" cy="457200"/>
                <a:chOff x="3982824" y="1896400"/>
                <a:chExt cx="914400" cy="914400"/>
              </a:xfrm>
            </p:grpSpPr>
            <p:pic>
              <p:nvPicPr>
                <p:cNvPr id="373" name="Graphique 372" descr="Homme conductrice avec un remplissage uni">
                  <a:extLst>
                    <a:ext uri="{FF2B5EF4-FFF2-40B4-BE49-F238E27FC236}">
                      <a16:creationId xmlns:a16="http://schemas.microsoft.com/office/drawing/2014/main" id="{0424E78B-8873-6591-2670-EC93C745700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374" name="Rectangle 373">
                  <a:extLst>
                    <a:ext uri="{FF2B5EF4-FFF2-40B4-BE49-F238E27FC236}">
                      <a16:creationId xmlns:a16="http://schemas.microsoft.com/office/drawing/2014/main" id="{9A116ED6-7376-608E-80AE-38B435A8504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67" name="Groupe 366">
                <a:extLst>
                  <a:ext uri="{FF2B5EF4-FFF2-40B4-BE49-F238E27FC236}">
                    <a16:creationId xmlns:a16="http://schemas.microsoft.com/office/drawing/2014/main" id="{74FFAB24-EB4E-03E7-AB93-6EEC90618C8F}"/>
                  </a:ext>
                </a:extLst>
              </p:cNvPr>
              <p:cNvGrpSpPr/>
              <p:nvPr/>
            </p:nvGrpSpPr>
            <p:grpSpPr>
              <a:xfrm>
                <a:off x="2722868" y="2512442"/>
                <a:ext cx="457200" cy="457200"/>
                <a:chOff x="3982824" y="1896400"/>
                <a:chExt cx="914400" cy="914400"/>
              </a:xfrm>
            </p:grpSpPr>
            <p:pic>
              <p:nvPicPr>
                <p:cNvPr id="371" name="Graphique 370" descr="Homme conductrice avec un remplissage uni">
                  <a:extLst>
                    <a:ext uri="{FF2B5EF4-FFF2-40B4-BE49-F238E27FC236}">
                      <a16:creationId xmlns:a16="http://schemas.microsoft.com/office/drawing/2014/main" id="{6483DD6A-CE6A-6174-496F-65F769F04A2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72" name="Rectangle 371">
                  <a:extLst>
                    <a:ext uri="{FF2B5EF4-FFF2-40B4-BE49-F238E27FC236}">
                      <a16:creationId xmlns:a16="http://schemas.microsoft.com/office/drawing/2014/main" id="{3E800111-DC84-4031-26B7-D9A2423604DB}"/>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68" name="Groupe 367">
                <a:extLst>
                  <a:ext uri="{FF2B5EF4-FFF2-40B4-BE49-F238E27FC236}">
                    <a16:creationId xmlns:a16="http://schemas.microsoft.com/office/drawing/2014/main" id="{E537B6B4-91FA-A79A-6D7F-8FF670CAEE0F}"/>
                  </a:ext>
                </a:extLst>
              </p:cNvPr>
              <p:cNvGrpSpPr/>
              <p:nvPr/>
            </p:nvGrpSpPr>
            <p:grpSpPr>
              <a:xfrm>
                <a:off x="3018009" y="2837621"/>
                <a:ext cx="457200" cy="457200"/>
                <a:chOff x="3982824" y="1896400"/>
                <a:chExt cx="914400" cy="914400"/>
              </a:xfrm>
            </p:grpSpPr>
            <p:pic>
              <p:nvPicPr>
                <p:cNvPr id="369" name="Graphique 368" descr="Homme conductrice avec un remplissage uni">
                  <a:extLst>
                    <a:ext uri="{FF2B5EF4-FFF2-40B4-BE49-F238E27FC236}">
                      <a16:creationId xmlns:a16="http://schemas.microsoft.com/office/drawing/2014/main" id="{6E18DCF3-BF51-F318-915D-EF2762E8CF7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70" name="Rectangle 369">
                  <a:extLst>
                    <a:ext uri="{FF2B5EF4-FFF2-40B4-BE49-F238E27FC236}">
                      <a16:creationId xmlns:a16="http://schemas.microsoft.com/office/drawing/2014/main" id="{7BC1BFC4-83A6-F9FF-E6CC-98D45E28776A}"/>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grpSp>
        <p:nvGrpSpPr>
          <p:cNvPr id="377" name="Groupe 376">
            <a:extLst>
              <a:ext uri="{FF2B5EF4-FFF2-40B4-BE49-F238E27FC236}">
                <a16:creationId xmlns:a16="http://schemas.microsoft.com/office/drawing/2014/main" id="{FFC4787B-7027-239C-9C27-A1C39ACC754A}"/>
              </a:ext>
            </a:extLst>
          </p:cNvPr>
          <p:cNvGrpSpPr/>
          <p:nvPr/>
        </p:nvGrpSpPr>
        <p:grpSpPr>
          <a:xfrm>
            <a:off x="4154043" y="2741887"/>
            <a:ext cx="1162308" cy="2074733"/>
            <a:chOff x="3585405" y="2210059"/>
            <a:chExt cx="1162308" cy="2074733"/>
          </a:xfrm>
        </p:grpSpPr>
        <p:sp>
          <p:nvSpPr>
            <p:cNvPr id="378" name="ZoneTexte 377">
              <a:extLst>
                <a:ext uri="{FF2B5EF4-FFF2-40B4-BE49-F238E27FC236}">
                  <a16:creationId xmlns:a16="http://schemas.microsoft.com/office/drawing/2014/main" id="{9CF0303D-450D-AB72-BEEF-D8863052DB2B}"/>
                </a:ext>
              </a:extLst>
            </p:cNvPr>
            <p:cNvSpPr txBox="1"/>
            <p:nvPr/>
          </p:nvSpPr>
          <p:spPr>
            <a:xfrm>
              <a:off x="3585405" y="3084463"/>
              <a:ext cx="1162308" cy="1200329"/>
            </a:xfrm>
            <a:prstGeom prst="rect">
              <a:avLst/>
            </a:prstGeom>
            <a:noFill/>
          </p:spPr>
          <p:txBody>
            <a:bodyPr wrap="square">
              <a:spAutoFit/>
            </a:bodyPr>
            <a:lstStyle/>
            <a:p>
              <a:pPr algn="ctr"/>
              <a:r>
                <a:rPr lang="fr-FR" sz="1200" dirty="0"/>
                <a:t>Comité fixe et représentants  temporaires (pour la décision), avec leader</a:t>
              </a:r>
            </a:p>
          </p:txBody>
        </p:sp>
        <p:grpSp>
          <p:nvGrpSpPr>
            <p:cNvPr id="379" name="Groupe 378">
              <a:extLst>
                <a:ext uri="{FF2B5EF4-FFF2-40B4-BE49-F238E27FC236}">
                  <a16:creationId xmlns:a16="http://schemas.microsoft.com/office/drawing/2014/main" id="{FEF25973-7E5D-D455-58F3-3E7E87AA3505}"/>
                </a:ext>
              </a:extLst>
            </p:cNvPr>
            <p:cNvGrpSpPr/>
            <p:nvPr/>
          </p:nvGrpSpPr>
          <p:grpSpPr>
            <a:xfrm>
              <a:off x="3744097" y="2210059"/>
              <a:ext cx="905676" cy="832882"/>
              <a:chOff x="6564654" y="2339787"/>
              <a:chExt cx="1084118" cy="996982"/>
            </a:xfrm>
          </p:grpSpPr>
          <p:grpSp>
            <p:nvGrpSpPr>
              <p:cNvPr id="380" name="Groupe 379">
                <a:extLst>
                  <a:ext uri="{FF2B5EF4-FFF2-40B4-BE49-F238E27FC236}">
                    <a16:creationId xmlns:a16="http://schemas.microsoft.com/office/drawing/2014/main" id="{47CF9E5F-CB08-86BE-00E3-77183A1227A9}"/>
                  </a:ext>
                </a:extLst>
              </p:cNvPr>
              <p:cNvGrpSpPr/>
              <p:nvPr/>
            </p:nvGrpSpPr>
            <p:grpSpPr>
              <a:xfrm>
                <a:off x="6852830" y="2879569"/>
                <a:ext cx="457200" cy="457200"/>
                <a:chOff x="3982824" y="1896400"/>
                <a:chExt cx="914400" cy="914400"/>
              </a:xfrm>
            </p:grpSpPr>
            <p:pic>
              <p:nvPicPr>
                <p:cNvPr id="390" name="Graphique 389" descr="Homme conductrice avec un remplissage uni">
                  <a:extLst>
                    <a:ext uri="{FF2B5EF4-FFF2-40B4-BE49-F238E27FC236}">
                      <a16:creationId xmlns:a16="http://schemas.microsoft.com/office/drawing/2014/main" id="{1D79F1EF-FDD2-F941-DCD4-7588DD24062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391" name="Rectangle 390">
                  <a:extLst>
                    <a:ext uri="{FF2B5EF4-FFF2-40B4-BE49-F238E27FC236}">
                      <a16:creationId xmlns:a16="http://schemas.microsoft.com/office/drawing/2014/main" id="{38557743-E684-B900-3B60-B3F572979879}"/>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81" name="Groupe 380">
                <a:extLst>
                  <a:ext uri="{FF2B5EF4-FFF2-40B4-BE49-F238E27FC236}">
                    <a16:creationId xmlns:a16="http://schemas.microsoft.com/office/drawing/2014/main" id="{AEE65BD3-2042-E14F-A191-924119498BAB}"/>
                  </a:ext>
                </a:extLst>
              </p:cNvPr>
              <p:cNvGrpSpPr/>
              <p:nvPr/>
            </p:nvGrpSpPr>
            <p:grpSpPr>
              <a:xfrm>
                <a:off x="6564654" y="2650969"/>
                <a:ext cx="457200" cy="457200"/>
                <a:chOff x="3982824" y="1896400"/>
                <a:chExt cx="914400" cy="914400"/>
              </a:xfrm>
            </p:grpSpPr>
            <p:pic>
              <p:nvPicPr>
                <p:cNvPr id="388" name="Graphique 387" descr="Homme conductrice avec un remplissage uni">
                  <a:extLst>
                    <a:ext uri="{FF2B5EF4-FFF2-40B4-BE49-F238E27FC236}">
                      <a16:creationId xmlns:a16="http://schemas.microsoft.com/office/drawing/2014/main" id="{B529AE36-26CA-5FAD-D1AF-2700D473E48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389" name="Rectangle 388">
                  <a:extLst>
                    <a:ext uri="{FF2B5EF4-FFF2-40B4-BE49-F238E27FC236}">
                      <a16:creationId xmlns:a16="http://schemas.microsoft.com/office/drawing/2014/main" id="{0A305160-B70C-FFC4-A09A-AFD561BF8562}"/>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82" name="Groupe 381">
                <a:extLst>
                  <a:ext uri="{FF2B5EF4-FFF2-40B4-BE49-F238E27FC236}">
                    <a16:creationId xmlns:a16="http://schemas.microsoft.com/office/drawing/2014/main" id="{54FBA1FF-4031-50A2-D891-726373FB7B53}"/>
                  </a:ext>
                </a:extLst>
              </p:cNvPr>
              <p:cNvGrpSpPr/>
              <p:nvPr/>
            </p:nvGrpSpPr>
            <p:grpSpPr>
              <a:xfrm>
                <a:off x="6896431" y="2339787"/>
                <a:ext cx="457200" cy="457200"/>
                <a:chOff x="3982824" y="1896400"/>
                <a:chExt cx="914400" cy="914400"/>
              </a:xfrm>
            </p:grpSpPr>
            <p:pic>
              <p:nvPicPr>
                <p:cNvPr id="386" name="Graphique 385" descr="Homme conductrice avec un remplissage uni">
                  <a:extLst>
                    <a:ext uri="{FF2B5EF4-FFF2-40B4-BE49-F238E27FC236}">
                      <a16:creationId xmlns:a16="http://schemas.microsoft.com/office/drawing/2014/main" id="{942928C6-81BB-B7D3-D66C-CB43E34E8A3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87" name="Rectangle 386">
                  <a:extLst>
                    <a:ext uri="{FF2B5EF4-FFF2-40B4-BE49-F238E27FC236}">
                      <a16:creationId xmlns:a16="http://schemas.microsoft.com/office/drawing/2014/main" id="{DE5E1C02-4F8A-EEBC-3A73-C5521A9DD01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383" name="Groupe 382">
                <a:extLst>
                  <a:ext uri="{FF2B5EF4-FFF2-40B4-BE49-F238E27FC236}">
                    <a16:creationId xmlns:a16="http://schemas.microsoft.com/office/drawing/2014/main" id="{D23594E4-975E-319D-8164-E20B9F9B12BB}"/>
                  </a:ext>
                </a:extLst>
              </p:cNvPr>
              <p:cNvGrpSpPr/>
              <p:nvPr/>
            </p:nvGrpSpPr>
            <p:grpSpPr>
              <a:xfrm>
                <a:off x="7191572" y="2664966"/>
                <a:ext cx="457200" cy="457200"/>
                <a:chOff x="3982824" y="1896400"/>
                <a:chExt cx="914400" cy="914400"/>
              </a:xfrm>
            </p:grpSpPr>
            <p:pic>
              <p:nvPicPr>
                <p:cNvPr id="384" name="Graphique 383" descr="Homme conductrice avec un remplissage uni">
                  <a:extLst>
                    <a:ext uri="{FF2B5EF4-FFF2-40B4-BE49-F238E27FC236}">
                      <a16:creationId xmlns:a16="http://schemas.microsoft.com/office/drawing/2014/main" id="{F2FE35AD-F97C-9BC8-0C83-BBEBF74AC0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385" name="Rectangle 384">
                  <a:extLst>
                    <a:ext uri="{FF2B5EF4-FFF2-40B4-BE49-F238E27FC236}">
                      <a16:creationId xmlns:a16="http://schemas.microsoft.com/office/drawing/2014/main" id="{474ED116-464B-1354-3DD9-E29E470C8EA2}"/>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grpSp>
        <p:nvGrpSpPr>
          <p:cNvPr id="5" name="Groupe 4">
            <a:extLst>
              <a:ext uri="{FF2B5EF4-FFF2-40B4-BE49-F238E27FC236}">
                <a16:creationId xmlns:a16="http://schemas.microsoft.com/office/drawing/2014/main" id="{2AA79C92-7842-40ED-A304-F24532B237F3}"/>
              </a:ext>
            </a:extLst>
          </p:cNvPr>
          <p:cNvGrpSpPr/>
          <p:nvPr/>
        </p:nvGrpSpPr>
        <p:grpSpPr>
          <a:xfrm>
            <a:off x="9284334" y="695661"/>
            <a:ext cx="468598" cy="628148"/>
            <a:chOff x="90185" y="2189111"/>
            <a:chExt cx="937195" cy="1256296"/>
          </a:xfrm>
        </p:grpSpPr>
        <p:sp>
          <p:nvSpPr>
            <p:cNvPr id="6" name="ZoneTexte 5">
              <a:extLst>
                <a:ext uri="{FF2B5EF4-FFF2-40B4-BE49-F238E27FC236}">
                  <a16:creationId xmlns:a16="http://schemas.microsoft.com/office/drawing/2014/main" id="{4FEB0B56-A232-A39A-D8F3-B65F274CAD09}"/>
                </a:ext>
              </a:extLst>
            </p:cNvPr>
            <p:cNvSpPr txBox="1"/>
            <p:nvPr/>
          </p:nvSpPr>
          <p:spPr>
            <a:xfrm>
              <a:off x="90185" y="3045297"/>
              <a:ext cx="899251" cy="400110"/>
            </a:xfrm>
            <a:prstGeom prst="rect">
              <a:avLst/>
            </a:prstGeom>
            <a:noFill/>
          </p:spPr>
          <p:txBody>
            <a:bodyPr wrap="square">
              <a:spAutoFit/>
            </a:bodyPr>
            <a:lstStyle/>
            <a:p>
              <a:pPr algn="ctr"/>
              <a:r>
                <a:rPr lang="fr-FR" sz="700" dirty="0"/>
                <a:t>Leader</a:t>
              </a:r>
            </a:p>
          </p:txBody>
        </p:sp>
        <p:grpSp>
          <p:nvGrpSpPr>
            <p:cNvPr id="7" name="Groupe 6">
              <a:extLst>
                <a:ext uri="{FF2B5EF4-FFF2-40B4-BE49-F238E27FC236}">
                  <a16:creationId xmlns:a16="http://schemas.microsoft.com/office/drawing/2014/main" id="{65814333-86EC-EA97-324E-40230FFE52CC}"/>
                </a:ext>
              </a:extLst>
            </p:cNvPr>
            <p:cNvGrpSpPr/>
            <p:nvPr/>
          </p:nvGrpSpPr>
          <p:grpSpPr>
            <a:xfrm>
              <a:off x="112980" y="2189111"/>
              <a:ext cx="914400" cy="914400"/>
              <a:chOff x="168514" y="2615341"/>
              <a:chExt cx="914400" cy="914400"/>
            </a:xfrm>
          </p:grpSpPr>
          <p:pic>
            <p:nvPicPr>
              <p:cNvPr id="8" name="Graphique 7" descr="Homme conductrice avec un remplissage uni">
                <a:extLst>
                  <a:ext uri="{FF2B5EF4-FFF2-40B4-BE49-F238E27FC236}">
                    <a16:creationId xmlns:a16="http://schemas.microsoft.com/office/drawing/2014/main" id="{9FFAD24F-32DF-3D4C-9B6D-CB9888A48C9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514" y="2615341"/>
                <a:ext cx="914400" cy="914400"/>
              </a:xfrm>
              <a:prstGeom prst="rect">
                <a:avLst/>
              </a:prstGeom>
            </p:spPr>
          </p:pic>
          <p:sp>
            <p:nvSpPr>
              <p:cNvPr id="9" name="Rectangle 8">
                <a:extLst>
                  <a:ext uri="{FF2B5EF4-FFF2-40B4-BE49-F238E27FC236}">
                    <a16:creationId xmlns:a16="http://schemas.microsoft.com/office/drawing/2014/main" id="{5E56768A-03FC-DEB0-56C5-1D77942289CB}"/>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000" dirty="0"/>
              </a:p>
            </p:txBody>
          </p:sp>
        </p:grpSp>
      </p:grpSp>
      <p:grpSp>
        <p:nvGrpSpPr>
          <p:cNvPr id="10" name="Groupe 9">
            <a:extLst>
              <a:ext uri="{FF2B5EF4-FFF2-40B4-BE49-F238E27FC236}">
                <a16:creationId xmlns:a16="http://schemas.microsoft.com/office/drawing/2014/main" id="{694F06F9-A3AD-0455-96C5-96A5DBCBEAC9}"/>
              </a:ext>
            </a:extLst>
          </p:cNvPr>
          <p:cNvGrpSpPr/>
          <p:nvPr/>
        </p:nvGrpSpPr>
        <p:grpSpPr>
          <a:xfrm>
            <a:off x="9828538" y="684094"/>
            <a:ext cx="731689" cy="843591"/>
            <a:chOff x="90183" y="2189111"/>
            <a:chExt cx="1463376" cy="1687182"/>
          </a:xfrm>
        </p:grpSpPr>
        <p:sp>
          <p:nvSpPr>
            <p:cNvPr id="11" name="ZoneTexte 10">
              <a:extLst>
                <a:ext uri="{FF2B5EF4-FFF2-40B4-BE49-F238E27FC236}">
                  <a16:creationId xmlns:a16="http://schemas.microsoft.com/office/drawing/2014/main" id="{78816FED-6FC4-480B-DE90-EA3E3F8687F7}"/>
                </a:ext>
              </a:extLst>
            </p:cNvPr>
            <p:cNvSpPr txBox="1"/>
            <p:nvPr/>
          </p:nvSpPr>
          <p:spPr>
            <a:xfrm>
              <a:off x="90183" y="3045297"/>
              <a:ext cx="1463376" cy="830996"/>
            </a:xfrm>
            <a:prstGeom prst="rect">
              <a:avLst/>
            </a:prstGeom>
            <a:noFill/>
          </p:spPr>
          <p:txBody>
            <a:bodyPr wrap="square">
              <a:spAutoFit/>
            </a:bodyPr>
            <a:lstStyle/>
            <a:p>
              <a:pPr algn="ctr"/>
              <a:r>
                <a:rPr lang="fr-FR" sz="700" dirty="0"/>
                <a:t>Représentant fixe des membres</a:t>
              </a:r>
            </a:p>
          </p:txBody>
        </p:sp>
        <p:grpSp>
          <p:nvGrpSpPr>
            <p:cNvPr id="12" name="Groupe 11">
              <a:extLst>
                <a:ext uri="{FF2B5EF4-FFF2-40B4-BE49-F238E27FC236}">
                  <a16:creationId xmlns:a16="http://schemas.microsoft.com/office/drawing/2014/main" id="{B1951F20-FD17-4C02-53EC-F29C65CD6B8D}"/>
                </a:ext>
              </a:extLst>
            </p:cNvPr>
            <p:cNvGrpSpPr/>
            <p:nvPr/>
          </p:nvGrpSpPr>
          <p:grpSpPr>
            <a:xfrm>
              <a:off x="356721" y="2189111"/>
              <a:ext cx="931557" cy="914400"/>
              <a:chOff x="412255" y="2615341"/>
              <a:chExt cx="931557" cy="914400"/>
            </a:xfrm>
          </p:grpSpPr>
          <p:pic>
            <p:nvPicPr>
              <p:cNvPr id="13" name="Graphique 12" descr="Homme conductrice avec un remplissage uni">
                <a:extLst>
                  <a:ext uri="{FF2B5EF4-FFF2-40B4-BE49-F238E27FC236}">
                    <a16:creationId xmlns:a16="http://schemas.microsoft.com/office/drawing/2014/main" id="{694A58AF-1162-6532-8D0B-1313BC9F86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12255" y="2615341"/>
                <a:ext cx="914400" cy="914400"/>
              </a:xfrm>
              <a:prstGeom prst="rect">
                <a:avLst/>
              </a:prstGeom>
            </p:spPr>
          </p:pic>
          <p:sp>
            <p:nvSpPr>
              <p:cNvPr id="14" name="Rectangle 13">
                <a:extLst>
                  <a:ext uri="{FF2B5EF4-FFF2-40B4-BE49-F238E27FC236}">
                    <a16:creationId xmlns:a16="http://schemas.microsoft.com/office/drawing/2014/main" id="{E0E2080F-DB68-57BE-9B77-B8B2B1E6750F}"/>
                  </a:ext>
                </a:extLst>
              </p:cNvPr>
              <p:cNvSpPr/>
              <p:nvPr/>
            </p:nvSpPr>
            <p:spPr>
              <a:xfrm>
                <a:off x="1108285" y="2672523"/>
                <a:ext cx="235527" cy="4833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000" dirty="0"/>
              </a:p>
            </p:txBody>
          </p:sp>
        </p:grpSp>
      </p:grpSp>
      <p:grpSp>
        <p:nvGrpSpPr>
          <p:cNvPr id="15" name="Groupe 14">
            <a:extLst>
              <a:ext uri="{FF2B5EF4-FFF2-40B4-BE49-F238E27FC236}">
                <a16:creationId xmlns:a16="http://schemas.microsoft.com/office/drawing/2014/main" id="{6D62886B-ED5E-9502-B6B2-BE1B38E783B5}"/>
              </a:ext>
            </a:extLst>
          </p:cNvPr>
          <p:cNvGrpSpPr/>
          <p:nvPr/>
        </p:nvGrpSpPr>
        <p:grpSpPr>
          <a:xfrm>
            <a:off x="10542397" y="694001"/>
            <a:ext cx="731689" cy="1059035"/>
            <a:chOff x="90183" y="2189111"/>
            <a:chExt cx="1463376" cy="2118070"/>
          </a:xfrm>
        </p:grpSpPr>
        <p:sp>
          <p:nvSpPr>
            <p:cNvPr id="16" name="ZoneTexte 15">
              <a:extLst>
                <a:ext uri="{FF2B5EF4-FFF2-40B4-BE49-F238E27FC236}">
                  <a16:creationId xmlns:a16="http://schemas.microsoft.com/office/drawing/2014/main" id="{291BEA10-FB0B-A112-5F6A-F160FBCB19B1}"/>
                </a:ext>
              </a:extLst>
            </p:cNvPr>
            <p:cNvSpPr txBox="1"/>
            <p:nvPr/>
          </p:nvSpPr>
          <p:spPr>
            <a:xfrm>
              <a:off x="90183" y="3045297"/>
              <a:ext cx="1463376" cy="1261884"/>
            </a:xfrm>
            <a:prstGeom prst="rect">
              <a:avLst/>
            </a:prstGeom>
            <a:noFill/>
          </p:spPr>
          <p:txBody>
            <a:bodyPr wrap="square">
              <a:spAutoFit/>
            </a:bodyPr>
            <a:lstStyle/>
            <a:p>
              <a:pPr algn="ctr"/>
              <a:r>
                <a:rPr lang="fr-FR" sz="700" dirty="0"/>
                <a:t>Représentant temporaire des membres (juste pour la décision)</a:t>
              </a:r>
            </a:p>
          </p:txBody>
        </p:sp>
        <p:grpSp>
          <p:nvGrpSpPr>
            <p:cNvPr id="17" name="Groupe 16">
              <a:extLst>
                <a:ext uri="{FF2B5EF4-FFF2-40B4-BE49-F238E27FC236}">
                  <a16:creationId xmlns:a16="http://schemas.microsoft.com/office/drawing/2014/main" id="{546E8229-31AC-2898-46B1-710374EE2589}"/>
                </a:ext>
              </a:extLst>
            </p:cNvPr>
            <p:cNvGrpSpPr/>
            <p:nvPr/>
          </p:nvGrpSpPr>
          <p:grpSpPr>
            <a:xfrm>
              <a:off x="356721" y="2189111"/>
              <a:ext cx="931557" cy="914400"/>
              <a:chOff x="412255" y="2615341"/>
              <a:chExt cx="931557" cy="914400"/>
            </a:xfrm>
          </p:grpSpPr>
          <p:pic>
            <p:nvPicPr>
              <p:cNvPr id="18" name="Graphique 17" descr="Homme conductrice avec un remplissage uni">
                <a:extLst>
                  <a:ext uri="{FF2B5EF4-FFF2-40B4-BE49-F238E27FC236}">
                    <a16:creationId xmlns:a16="http://schemas.microsoft.com/office/drawing/2014/main" id="{28A225E9-EDA4-8AD7-DAA7-D64000EE97B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255" y="2615341"/>
                <a:ext cx="914400" cy="914400"/>
              </a:xfrm>
              <a:prstGeom prst="rect">
                <a:avLst/>
              </a:prstGeom>
            </p:spPr>
          </p:pic>
          <p:sp>
            <p:nvSpPr>
              <p:cNvPr id="19" name="Rectangle 18">
                <a:extLst>
                  <a:ext uri="{FF2B5EF4-FFF2-40B4-BE49-F238E27FC236}">
                    <a16:creationId xmlns:a16="http://schemas.microsoft.com/office/drawing/2014/main" id="{381027D0-A596-18D2-9D6F-DD2D8815D029}"/>
                  </a:ext>
                </a:extLst>
              </p:cNvPr>
              <p:cNvSpPr/>
              <p:nvPr/>
            </p:nvSpPr>
            <p:spPr>
              <a:xfrm>
                <a:off x="1108285" y="2672523"/>
                <a:ext cx="235527" cy="4833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000" dirty="0"/>
              </a:p>
            </p:txBody>
          </p:sp>
        </p:grpSp>
      </p:grpSp>
      <p:grpSp>
        <p:nvGrpSpPr>
          <p:cNvPr id="20" name="Groupe 19">
            <a:extLst>
              <a:ext uri="{FF2B5EF4-FFF2-40B4-BE49-F238E27FC236}">
                <a16:creationId xmlns:a16="http://schemas.microsoft.com/office/drawing/2014/main" id="{9FF3EC1D-23E3-C06B-B8FC-01A983D70411}"/>
              </a:ext>
            </a:extLst>
          </p:cNvPr>
          <p:cNvGrpSpPr/>
          <p:nvPr/>
        </p:nvGrpSpPr>
        <p:grpSpPr>
          <a:xfrm>
            <a:off x="11236582" y="700779"/>
            <a:ext cx="731689" cy="599557"/>
            <a:chOff x="90183" y="2246293"/>
            <a:chExt cx="1463376" cy="1199114"/>
          </a:xfrm>
        </p:grpSpPr>
        <p:sp>
          <p:nvSpPr>
            <p:cNvPr id="21" name="ZoneTexte 20">
              <a:extLst>
                <a:ext uri="{FF2B5EF4-FFF2-40B4-BE49-F238E27FC236}">
                  <a16:creationId xmlns:a16="http://schemas.microsoft.com/office/drawing/2014/main" id="{9BD2EEE8-6F16-AB04-1DD8-ED03C67CD677}"/>
                </a:ext>
              </a:extLst>
            </p:cNvPr>
            <p:cNvSpPr txBox="1"/>
            <p:nvPr/>
          </p:nvSpPr>
          <p:spPr>
            <a:xfrm>
              <a:off x="90183" y="3045297"/>
              <a:ext cx="1463376" cy="400110"/>
            </a:xfrm>
            <a:prstGeom prst="rect">
              <a:avLst/>
            </a:prstGeom>
            <a:noFill/>
          </p:spPr>
          <p:txBody>
            <a:bodyPr wrap="square">
              <a:spAutoFit/>
            </a:bodyPr>
            <a:lstStyle/>
            <a:p>
              <a:pPr algn="ctr"/>
              <a:r>
                <a:rPr lang="fr-FR" sz="700" dirty="0"/>
                <a:t>Membres</a:t>
              </a:r>
            </a:p>
          </p:txBody>
        </p:sp>
        <p:sp>
          <p:nvSpPr>
            <p:cNvPr id="24" name="Rectangle 23">
              <a:extLst>
                <a:ext uri="{FF2B5EF4-FFF2-40B4-BE49-F238E27FC236}">
                  <a16:creationId xmlns:a16="http://schemas.microsoft.com/office/drawing/2014/main" id="{1AC9F383-6296-3B0E-AE6C-3ADEAC31BBDF}"/>
                </a:ext>
              </a:extLst>
            </p:cNvPr>
            <p:cNvSpPr/>
            <p:nvPr/>
          </p:nvSpPr>
          <p:spPr>
            <a:xfrm>
              <a:off x="1052750" y="2246293"/>
              <a:ext cx="235528" cy="4833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000" dirty="0"/>
            </a:p>
          </p:txBody>
        </p:sp>
      </p:grpSp>
      <p:pic>
        <p:nvPicPr>
          <p:cNvPr id="25" name="Graphique 24" descr="Utilisateur avec un remplissage uni">
            <a:extLst>
              <a:ext uri="{FF2B5EF4-FFF2-40B4-BE49-F238E27FC236}">
                <a16:creationId xmlns:a16="http://schemas.microsoft.com/office/drawing/2014/main" id="{B3AB8077-C97B-3343-4897-13E7BE7D6AF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381431" y="684094"/>
            <a:ext cx="416187" cy="416187"/>
          </a:xfrm>
          <a:prstGeom prst="rect">
            <a:avLst/>
          </a:prstGeom>
        </p:spPr>
      </p:pic>
      <p:cxnSp>
        <p:nvCxnSpPr>
          <p:cNvPr id="26" name="Connecteur droit 25">
            <a:extLst>
              <a:ext uri="{FF2B5EF4-FFF2-40B4-BE49-F238E27FC236}">
                <a16:creationId xmlns:a16="http://schemas.microsoft.com/office/drawing/2014/main" id="{D15708C6-691F-C549-0157-26F9D0B14279}"/>
              </a:ext>
            </a:extLst>
          </p:cNvPr>
          <p:cNvCxnSpPr>
            <a:cxnSpLocks/>
          </p:cNvCxnSpPr>
          <p:nvPr/>
        </p:nvCxnSpPr>
        <p:spPr>
          <a:xfrm>
            <a:off x="11394403" y="893940"/>
            <a:ext cx="38267" cy="96066"/>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7" name="Ellipse 26">
            <a:extLst>
              <a:ext uri="{FF2B5EF4-FFF2-40B4-BE49-F238E27FC236}">
                <a16:creationId xmlns:a16="http://schemas.microsoft.com/office/drawing/2014/main" id="{00FC7E7C-921D-A60B-FAA6-E71F839503DE}"/>
              </a:ext>
            </a:extLst>
          </p:cNvPr>
          <p:cNvSpPr/>
          <p:nvPr/>
        </p:nvSpPr>
        <p:spPr>
          <a:xfrm>
            <a:off x="11418851" y="984268"/>
            <a:ext cx="50934" cy="50934"/>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ZoneTexte 27">
            <a:extLst>
              <a:ext uri="{FF2B5EF4-FFF2-40B4-BE49-F238E27FC236}">
                <a16:creationId xmlns:a16="http://schemas.microsoft.com/office/drawing/2014/main" id="{E0C0913F-76E6-0E50-D993-B67F922FA93D}"/>
              </a:ext>
            </a:extLst>
          </p:cNvPr>
          <p:cNvSpPr txBox="1"/>
          <p:nvPr/>
        </p:nvSpPr>
        <p:spPr>
          <a:xfrm>
            <a:off x="9745186" y="1756908"/>
            <a:ext cx="1753550" cy="307777"/>
          </a:xfrm>
          <a:prstGeom prst="rect">
            <a:avLst/>
          </a:prstGeom>
          <a:noFill/>
        </p:spPr>
        <p:txBody>
          <a:bodyPr wrap="square">
            <a:spAutoFit/>
          </a:bodyPr>
          <a:lstStyle/>
          <a:p>
            <a:pPr algn="ctr"/>
            <a:r>
              <a:rPr lang="fr-FR" sz="1400" b="1" dirty="0"/>
              <a:t>Légende</a:t>
            </a:r>
          </a:p>
        </p:txBody>
      </p:sp>
    </p:spTree>
    <p:extLst>
      <p:ext uri="{BB962C8B-B14F-4D97-AF65-F5344CB8AC3E}">
        <p14:creationId xmlns:p14="http://schemas.microsoft.com/office/powerpoint/2010/main" val="2310581659"/>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EA3FF6-C16E-0387-513D-A082FB2A304E}"/>
              </a:ext>
            </a:extLst>
          </p:cNvPr>
          <p:cNvSpPr>
            <a:spLocks noGrp="1"/>
          </p:cNvSpPr>
          <p:nvPr>
            <p:ph type="title"/>
          </p:nvPr>
        </p:nvSpPr>
        <p:spPr>
          <a:xfrm>
            <a:off x="838200" y="365125"/>
            <a:ext cx="8222070" cy="1325563"/>
          </a:xfrm>
        </p:spPr>
        <p:txBody>
          <a:bodyPr>
            <a:normAutofit/>
          </a:bodyPr>
          <a:lstStyle/>
          <a:p>
            <a:r>
              <a:rPr lang="fr-FR" sz="3600" dirty="0"/>
              <a:t>Niveau de centralisation des décisions </a:t>
            </a:r>
            <a:br>
              <a:rPr lang="fr-FR" sz="3600" dirty="0"/>
            </a:br>
            <a:r>
              <a:rPr lang="fr-FR" sz="3600" dirty="0"/>
              <a:t>Exemples</a:t>
            </a:r>
          </a:p>
        </p:txBody>
      </p:sp>
      <p:sp>
        <p:nvSpPr>
          <p:cNvPr id="4" name="Flèche : double flèche horizontale 3">
            <a:extLst>
              <a:ext uri="{FF2B5EF4-FFF2-40B4-BE49-F238E27FC236}">
                <a16:creationId xmlns:a16="http://schemas.microsoft.com/office/drawing/2014/main" id="{1B8D61C3-81A0-31B4-E2FB-7AC7B41B03D8}"/>
              </a:ext>
            </a:extLst>
          </p:cNvPr>
          <p:cNvSpPr/>
          <p:nvPr/>
        </p:nvSpPr>
        <p:spPr>
          <a:xfrm>
            <a:off x="155470" y="1690688"/>
            <a:ext cx="11881059" cy="3602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grpSp>
        <p:nvGrpSpPr>
          <p:cNvPr id="9" name="Groupe 8">
            <a:extLst>
              <a:ext uri="{FF2B5EF4-FFF2-40B4-BE49-F238E27FC236}">
                <a16:creationId xmlns:a16="http://schemas.microsoft.com/office/drawing/2014/main" id="{601FAD31-E000-3015-F300-7646FD142408}"/>
              </a:ext>
            </a:extLst>
          </p:cNvPr>
          <p:cNvGrpSpPr/>
          <p:nvPr/>
        </p:nvGrpSpPr>
        <p:grpSpPr>
          <a:xfrm>
            <a:off x="229646" y="2294867"/>
            <a:ext cx="937195" cy="1502516"/>
            <a:chOff x="90185" y="2189111"/>
            <a:chExt cx="937195" cy="1502516"/>
          </a:xfrm>
        </p:grpSpPr>
        <p:sp>
          <p:nvSpPr>
            <p:cNvPr id="12" name="ZoneTexte 11">
              <a:extLst>
                <a:ext uri="{FF2B5EF4-FFF2-40B4-BE49-F238E27FC236}">
                  <a16:creationId xmlns:a16="http://schemas.microsoft.com/office/drawing/2014/main" id="{DA521154-38A1-B090-18E5-130BC20A4901}"/>
                </a:ext>
              </a:extLst>
            </p:cNvPr>
            <p:cNvSpPr txBox="1"/>
            <p:nvPr/>
          </p:nvSpPr>
          <p:spPr>
            <a:xfrm>
              <a:off x="90185" y="3045296"/>
              <a:ext cx="899253" cy="646331"/>
            </a:xfrm>
            <a:prstGeom prst="rect">
              <a:avLst/>
            </a:prstGeom>
            <a:noFill/>
          </p:spPr>
          <p:txBody>
            <a:bodyPr wrap="square">
              <a:spAutoFit/>
            </a:bodyPr>
            <a:lstStyle/>
            <a:p>
              <a:pPr algn="ctr"/>
              <a:r>
                <a:rPr lang="fr-FR" sz="1200" dirty="0"/>
                <a:t>Priorisation par un(e) leader </a:t>
              </a:r>
            </a:p>
          </p:txBody>
        </p:sp>
        <p:grpSp>
          <p:nvGrpSpPr>
            <p:cNvPr id="5" name="Groupe 4">
              <a:extLst>
                <a:ext uri="{FF2B5EF4-FFF2-40B4-BE49-F238E27FC236}">
                  <a16:creationId xmlns:a16="http://schemas.microsoft.com/office/drawing/2014/main" id="{1A9C8CFC-B03E-153E-D108-257487295336}"/>
                </a:ext>
              </a:extLst>
            </p:cNvPr>
            <p:cNvGrpSpPr/>
            <p:nvPr/>
          </p:nvGrpSpPr>
          <p:grpSpPr>
            <a:xfrm>
              <a:off x="112980" y="2189111"/>
              <a:ext cx="914400" cy="914400"/>
              <a:chOff x="168514" y="2615341"/>
              <a:chExt cx="914400" cy="914400"/>
            </a:xfrm>
          </p:grpSpPr>
          <p:pic>
            <p:nvPicPr>
              <p:cNvPr id="11" name="Graphique 10" descr="Homme conductrice avec un remplissage uni">
                <a:extLst>
                  <a:ext uri="{FF2B5EF4-FFF2-40B4-BE49-F238E27FC236}">
                    <a16:creationId xmlns:a16="http://schemas.microsoft.com/office/drawing/2014/main" id="{3C86265E-30A5-B4E0-5DB1-FE2A5F0C531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514" y="2615341"/>
                <a:ext cx="914400" cy="914400"/>
              </a:xfrm>
              <a:prstGeom prst="rect">
                <a:avLst/>
              </a:prstGeom>
            </p:spPr>
          </p:pic>
          <p:sp>
            <p:nvSpPr>
              <p:cNvPr id="13" name="Rectangle 12">
                <a:extLst>
                  <a:ext uri="{FF2B5EF4-FFF2-40B4-BE49-F238E27FC236}">
                    <a16:creationId xmlns:a16="http://schemas.microsoft.com/office/drawing/2014/main" id="{EAF4B9D8-5F88-E7F2-0782-C954AB384D8C}"/>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26" name="Groupe 225">
            <a:extLst>
              <a:ext uri="{FF2B5EF4-FFF2-40B4-BE49-F238E27FC236}">
                <a16:creationId xmlns:a16="http://schemas.microsoft.com/office/drawing/2014/main" id="{97B9813F-AAFD-33DB-0916-2ECF750DB1B6}"/>
              </a:ext>
            </a:extLst>
          </p:cNvPr>
          <p:cNvGrpSpPr/>
          <p:nvPr/>
        </p:nvGrpSpPr>
        <p:grpSpPr>
          <a:xfrm>
            <a:off x="5488048" y="2365745"/>
            <a:ext cx="1109884" cy="1466877"/>
            <a:chOff x="3705086" y="2662837"/>
            <a:chExt cx="1109884" cy="1466877"/>
          </a:xfrm>
        </p:grpSpPr>
        <p:sp>
          <p:nvSpPr>
            <p:cNvPr id="23" name="ZoneTexte 22">
              <a:extLst>
                <a:ext uri="{FF2B5EF4-FFF2-40B4-BE49-F238E27FC236}">
                  <a16:creationId xmlns:a16="http://schemas.microsoft.com/office/drawing/2014/main" id="{9AB8AC7B-222E-EF28-5708-7F3585B33BB4}"/>
                </a:ext>
              </a:extLst>
            </p:cNvPr>
            <p:cNvSpPr txBox="1"/>
            <p:nvPr/>
          </p:nvSpPr>
          <p:spPr>
            <a:xfrm>
              <a:off x="3705086" y="3483383"/>
              <a:ext cx="1109884" cy="646331"/>
            </a:xfrm>
            <a:prstGeom prst="rect">
              <a:avLst/>
            </a:prstGeom>
            <a:noFill/>
          </p:spPr>
          <p:txBody>
            <a:bodyPr wrap="square">
              <a:spAutoFit/>
            </a:bodyPr>
            <a:lstStyle/>
            <a:p>
              <a:pPr algn="ctr"/>
              <a:r>
                <a:rPr lang="fr-FR" sz="1200" dirty="0"/>
                <a:t>Comité fixe de priorisation, sans leader</a:t>
              </a:r>
            </a:p>
          </p:txBody>
        </p:sp>
        <p:grpSp>
          <p:nvGrpSpPr>
            <p:cNvPr id="196" name="Groupe 195">
              <a:extLst>
                <a:ext uri="{FF2B5EF4-FFF2-40B4-BE49-F238E27FC236}">
                  <a16:creationId xmlns:a16="http://schemas.microsoft.com/office/drawing/2014/main" id="{5FA889AE-2306-E385-5A49-082326D1013C}"/>
                </a:ext>
              </a:extLst>
            </p:cNvPr>
            <p:cNvGrpSpPr/>
            <p:nvPr/>
          </p:nvGrpSpPr>
          <p:grpSpPr>
            <a:xfrm>
              <a:off x="3834762" y="2662837"/>
              <a:ext cx="911213" cy="837974"/>
              <a:chOff x="3581321" y="2486328"/>
              <a:chExt cx="1084118" cy="996982"/>
            </a:xfrm>
          </p:grpSpPr>
          <p:grpSp>
            <p:nvGrpSpPr>
              <p:cNvPr id="3" name="Groupe 2">
                <a:extLst>
                  <a:ext uri="{FF2B5EF4-FFF2-40B4-BE49-F238E27FC236}">
                    <a16:creationId xmlns:a16="http://schemas.microsoft.com/office/drawing/2014/main" id="{7F912EE1-FF45-10E2-133F-20A7AF858B98}"/>
                  </a:ext>
                </a:extLst>
              </p:cNvPr>
              <p:cNvGrpSpPr/>
              <p:nvPr/>
            </p:nvGrpSpPr>
            <p:grpSpPr>
              <a:xfrm>
                <a:off x="3869497" y="3026110"/>
                <a:ext cx="457200" cy="457200"/>
                <a:chOff x="3982824" y="1896400"/>
                <a:chExt cx="914400" cy="914400"/>
              </a:xfrm>
            </p:grpSpPr>
            <p:pic>
              <p:nvPicPr>
                <p:cNvPr id="14" name="Graphique 13" descr="Homme conductrice avec un remplissage uni">
                  <a:extLst>
                    <a:ext uri="{FF2B5EF4-FFF2-40B4-BE49-F238E27FC236}">
                      <a16:creationId xmlns:a16="http://schemas.microsoft.com/office/drawing/2014/main" id="{DD08FC1A-8D93-8C48-AB22-58667C2121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5" name="Rectangle 14">
                  <a:extLst>
                    <a:ext uri="{FF2B5EF4-FFF2-40B4-BE49-F238E27FC236}">
                      <a16:creationId xmlns:a16="http://schemas.microsoft.com/office/drawing/2014/main" id="{5FF7C9F3-54C9-51C1-5099-0E1D84B26F5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6" name="Groupe 15">
                <a:extLst>
                  <a:ext uri="{FF2B5EF4-FFF2-40B4-BE49-F238E27FC236}">
                    <a16:creationId xmlns:a16="http://schemas.microsoft.com/office/drawing/2014/main" id="{F52C4471-DAC8-4656-659D-64D4C9AA2B41}"/>
                  </a:ext>
                </a:extLst>
              </p:cNvPr>
              <p:cNvGrpSpPr/>
              <p:nvPr/>
            </p:nvGrpSpPr>
            <p:grpSpPr>
              <a:xfrm>
                <a:off x="3581321" y="2797510"/>
                <a:ext cx="457200" cy="457200"/>
                <a:chOff x="3982824" y="1896400"/>
                <a:chExt cx="914400" cy="914400"/>
              </a:xfrm>
            </p:grpSpPr>
            <p:pic>
              <p:nvPicPr>
                <p:cNvPr id="17" name="Graphique 16" descr="Homme conductrice avec un remplissage uni">
                  <a:extLst>
                    <a:ext uri="{FF2B5EF4-FFF2-40B4-BE49-F238E27FC236}">
                      <a16:creationId xmlns:a16="http://schemas.microsoft.com/office/drawing/2014/main" id="{BC52C520-6E3B-C4BD-0B26-5BA624FA239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8" name="Rectangle 17">
                  <a:extLst>
                    <a:ext uri="{FF2B5EF4-FFF2-40B4-BE49-F238E27FC236}">
                      <a16:creationId xmlns:a16="http://schemas.microsoft.com/office/drawing/2014/main" id="{68924C14-4722-5C6E-4B09-15CFA01A816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9" name="Groupe 18">
                <a:extLst>
                  <a:ext uri="{FF2B5EF4-FFF2-40B4-BE49-F238E27FC236}">
                    <a16:creationId xmlns:a16="http://schemas.microsoft.com/office/drawing/2014/main" id="{703BEBC2-C031-2598-DFF9-50E1B08DC814}"/>
                  </a:ext>
                </a:extLst>
              </p:cNvPr>
              <p:cNvGrpSpPr/>
              <p:nvPr/>
            </p:nvGrpSpPr>
            <p:grpSpPr>
              <a:xfrm>
                <a:off x="3913098" y="2486328"/>
                <a:ext cx="457200" cy="457200"/>
                <a:chOff x="3982824" y="1896400"/>
                <a:chExt cx="914400" cy="914400"/>
              </a:xfrm>
            </p:grpSpPr>
            <p:pic>
              <p:nvPicPr>
                <p:cNvPr id="20" name="Graphique 19" descr="Homme conductrice avec un remplissage uni">
                  <a:extLst>
                    <a:ext uri="{FF2B5EF4-FFF2-40B4-BE49-F238E27FC236}">
                      <a16:creationId xmlns:a16="http://schemas.microsoft.com/office/drawing/2014/main" id="{36AC1E7B-72E6-5EDF-C949-B1396676FFA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1" name="Rectangle 20">
                  <a:extLst>
                    <a:ext uri="{FF2B5EF4-FFF2-40B4-BE49-F238E27FC236}">
                      <a16:creationId xmlns:a16="http://schemas.microsoft.com/office/drawing/2014/main" id="{BE048EAC-0E2B-EFDF-69A3-E10B9DA46454}"/>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2" name="Groupe 21">
                <a:extLst>
                  <a:ext uri="{FF2B5EF4-FFF2-40B4-BE49-F238E27FC236}">
                    <a16:creationId xmlns:a16="http://schemas.microsoft.com/office/drawing/2014/main" id="{0FFFF44E-B82C-3D87-F64F-1B58829AF65B}"/>
                  </a:ext>
                </a:extLst>
              </p:cNvPr>
              <p:cNvGrpSpPr/>
              <p:nvPr/>
            </p:nvGrpSpPr>
            <p:grpSpPr>
              <a:xfrm>
                <a:off x="4208239" y="2811507"/>
                <a:ext cx="457200" cy="457200"/>
                <a:chOff x="3982824" y="1896400"/>
                <a:chExt cx="914400" cy="914400"/>
              </a:xfrm>
            </p:grpSpPr>
            <p:pic>
              <p:nvPicPr>
                <p:cNvPr id="24" name="Graphique 23" descr="Homme conductrice avec un remplissage uni">
                  <a:extLst>
                    <a:ext uri="{FF2B5EF4-FFF2-40B4-BE49-F238E27FC236}">
                      <a16:creationId xmlns:a16="http://schemas.microsoft.com/office/drawing/2014/main" id="{4A749839-CC6C-552F-6982-72C73D80FC1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6" name="Rectangle 25">
                  <a:extLst>
                    <a:ext uri="{FF2B5EF4-FFF2-40B4-BE49-F238E27FC236}">
                      <a16:creationId xmlns:a16="http://schemas.microsoft.com/office/drawing/2014/main" id="{EDF07221-05F2-F80D-36B5-3E4C90098C2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grpSp>
        <p:nvGrpSpPr>
          <p:cNvPr id="85" name="Groupe 84">
            <a:extLst>
              <a:ext uri="{FF2B5EF4-FFF2-40B4-BE49-F238E27FC236}">
                <a16:creationId xmlns:a16="http://schemas.microsoft.com/office/drawing/2014/main" id="{E0C564D8-59EE-355D-C15E-B10DA1E1E45F}"/>
              </a:ext>
            </a:extLst>
          </p:cNvPr>
          <p:cNvGrpSpPr/>
          <p:nvPr/>
        </p:nvGrpSpPr>
        <p:grpSpPr>
          <a:xfrm>
            <a:off x="10875724" y="2257928"/>
            <a:ext cx="1071241" cy="1573871"/>
            <a:chOff x="10875724" y="2275346"/>
            <a:chExt cx="1071241" cy="1573871"/>
          </a:xfrm>
        </p:grpSpPr>
        <p:sp>
          <p:nvSpPr>
            <p:cNvPr id="28" name="ZoneTexte 27">
              <a:extLst>
                <a:ext uri="{FF2B5EF4-FFF2-40B4-BE49-F238E27FC236}">
                  <a16:creationId xmlns:a16="http://schemas.microsoft.com/office/drawing/2014/main" id="{61A91B21-7CDD-91CB-FCC0-CB30511EF45B}"/>
                </a:ext>
              </a:extLst>
            </p:cNvPr>
            <p:cNvSpPr txBox="1"/>
            <p:nvPr/>
          </p:nvSpPr>
          <p:spPr>
            <a:xfrm>
              <a:off x="10875724" y="3202886"/>
              <a:ext cx="1068090" cy="646331"/>
            </a:xfrm>
            <a:prstGeom prst="rect">
              <a:avLst/>
            </a:prstGeom>
            <a:noFill/>
          </p:spPr>
          <p:txBody>
            <a:bodyPr wrap="square">
              <a:spAutoFit/>
            </a:bodyPr>
            <a:lstStyle/>
            <a:p>
              <a:pPr algn="ctr"/>
              <a:r>
                <a:rPr lang="fr-FR" sz="1200" dirty="0"/>
                <a:t>Priorisation par tous les membres</a:t>
              </a:r>
            </a:p>
          </p:txBody>
        </p:sp>
        <p:grpSp>
          <p:nvGrpSpPr>
            <p:cNvPr id="80" name="Groupe 79">
              <a:extLst>
                <a:ext uri="{FF2B5EF4-FFF2-40B4-BE49-F238E27FC236}">
                  <a16:creationId xmlns:a16="http://schemas.microsoft.com/office/drawing/2014/main" id="{76DF1703-0294-1B21-C7EB-B430AE5FF158}"/>
                </a:ext>
              </a:extLst>
            </p:cNvPr>
            <p:cNvGrpSpPr/>
            <p:nvPr/>
          </p:nvGrpSpPr>
          <p:grpSpPr>
            <a:xfrm>
              <a:off x="10894603" y="2275346"/>
              <a:ext cx="1052362" cy="886148"/>
              <a:chOff x="8572649" y="1655556"/>
              <a:chExt cx="1409636" cy="1186993"/>
            </a:xfrm>
          </p:grpSpPr>
          <p:grpSp>
            <p:nvGrpSpPr>
              <p:cNvPr id="27" name="Groupe 26">
                <a:extLst>
                  <a:ext uri="{FF2B5EF4-FFF2-40B4-BE49-F238E27FC236}">
                    <a16:creationId xmlns:a16="http://schemas.microsoft.com/office/drawing/2014/main" id="{0CDB3920-1489-9D70-C71F-FD85070368F1}"/>
                  </a:ext>
                </a:extLst>
              </p:cNvPr>
              <p:cNvGrpSpPr/>
              <p:nvPr/>
            </p:nvGrpSpPr>
            <p:grpSpPr>
              <a:xfrm>
                <a:off x="8572649" y="1655556"/>
                <a:ext cx="1409636" cy="1186993"/>
                <a:chOff x="8982504" y="3274976"/>
                <a:chExt cx="1230670" cy="1036294"/>
              </a:xfrm>
              <a:solidFill>
                <a:srgbClr val="ED7D31"/>
              </a:solidFill>
            </p:grpSpPr>
            <p:pic>
              <p:nvPicPr>
                <p:cNvPr id="31" name="Graphique 30" descr="Utilisateur avec un remplissage uni">
                  <a:extLst>
                    <a:ext uri="{FF2B5EF4-FFF2-40B4-BE49-F238E27FC236}">
                      <a16:creationId xmlns:a16="http://schemas.microsoft.com/office/drawing/2014/main" id="{A495576E-F8A8-EFD7-70F0-4B75ED7DD2D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01028" y="3274976"/>
                  <a:ext cx="336064" cy="336064"/>
                </a:xfrm>
                <a:prstGeom prst="rect">
                  <a:avLst/>
                </a:prstGeom>
              </p:spPr>
            </p:pic>
            <p:pic>
              <p:nvPicPr>
                <p:cNvPr id="32" name="Graphique 31" descr="Utilisateur avec un remplissage uni">
                  <a:extLst>
                    <a:ext uri="{FF2B5EF4-FFF2-40B4-BE49-F238E27FC236}">
                      <a16:creationId xmlns:a16="http://schemas.microsoft.com/office/drawing/2014/main" id="{F1553783-5166-0548-73B5-ED0985240F0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54140" y="3512720"/>
                  <a:ext cx="336064" cy="336064"/>
                </a:xfrm>
                <a:prstGeom prst="rect">
                  <a:avLst/>
                </a:prstGeom>
              </p:spPr>
            </p:pic>
            <p:pic>
              <p:nvPicPr>
                <p:cNvPr id="33" name="Graphique 32" descr="Utilisateur avec un remplissage uni">
                  <a:extLst>
                    <a:ext uri="{FF2B5EF4-FFF2-40B4-BE49-F238E27FC236}">
                      <a16:creationId xmlns:a16="http://schemas.microsoft.com/office/drawing/2014/main" id="{0E799515-D3DE-349A-7DD3-83F37B3E364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34" name="Graphique 33" descr="Utilisateur avec un remplissage uni">
                  <a:extLst>
                    <a:ext uri="{FF2B5EF4-FFF2-40B4-BE49-F238E27FC236}">
                      <a16:creationId xmlns:a16="http://schemas.microsoft.com/office/drawing/2014/main" id="{DC362F65-C83C-72DA-BC29-9000AF69A2D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35" name="Graphique 34" descr="Utilisateur avec un remplissage uni">
                  <a:extLst>
                    <a:ext uri="{FF2B5EF4-FFF2-40B4-BE49-F238E27FC236}">
                      <a16:creationId xmlns:a16="http://schemas.microsoft.com/office/drawing/2014/main" id="{254FCD80-1867-1504-4012-15788F327FC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36" name="Graphique 35" descr="Utilisateur avec un remplissage uni">
                  <a:extLst>
                    <a:ext uri="{FF2B5EF4-FFF2-40B4-BE49-F238E27FC236}">
                      <a16:creationId xmlns:a16="http://schemas.microsoft.com/office/drawing/2014/main" id="{CD7CCBB5-5AF8-AA04-7FB1-E67871F293B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37" name="Graphique 36" descr="Utilisateur avec un remplissage uni">
                  <a:extLst>
                    <a:ext uri="{FF2B5EF4-FFF2-40B4-BE49-F238E27FC236}">
                      <a16:creationId xmlns:a16="http://schemas.microsoft.com/office/drawing/2014/main" id="{BC57CE7F-5D1E-3C5D-162E-B49AB38F414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38" name="Graphique 37" descr="Utilisateur avec un remplissage uni">
                  <a:extLst>
                    <a:ext uri="{FF2B5EF4-FFF2-40B4-BE49-F238E27FC236}">
                      <a16:creationId xmlns:a16="http://schemas.microsoft.com/office/drawing/2014/main" id="{937273B5-60E5-1CC5-BC35-ECA6725B0B5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39" name="Graphique 38" descr="Utilisateur avec un remplissage uni">
                  <a:extLst>
                    <a:ext uri="{FF2B5EF4-FFF2-40B4-BE49-F238E27FC236}">
                      <a16:creationId xmlns:a16="http://schemas.microsoft.com/office/drawing/2014/main" id="{2F508100-D97E-AF81-709A-0D2FCFC776B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83417" y="3975206"/>
                  <a:ext cx="336064" cy="336064"/>
                </a:xfrm>
                <a:prstGeom prst="rect">
                  <a:avLst/>
                </a:prstGeom>
              </p:spPr>
            </p:pic>
            <p:pic>
              <p:nvPicPr>
                <p:cNvPr id="40" name="Graphique 39" descr="Utilisateur avec un remplissage uni">
                  <a:extLst>
                    <a:ext uri="{FF2B5EF4-FFF2-40B4-BE49-F238E27FC236}">
                      <a16:creationId xmlns:a16="http://schemas.microsoft.com/office/drawing/2014/main" id="{6A8D51CC-8F77-136C-3462-B48118B77C7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41" name="Graphique 40" descr="Utilisateur avec un remplissage uni">
                  <a:extLst>
                    <a:ext uri="{FF2B5EF4-FFF2-40B4-BE49-F238E27FC236}">
                      <a16:creationId xmlns:a16="http://schemas.microsoft.com/office/drawing/2014/main" id="{563F5F2A-DD2B-392F-5AD4-B4B0894CB20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47" name="Groupe 46">
                <a:extLst>
                  <a:ext uri="{FF2B5EF4-FFF2-40B4-BE49-F238E27FC236}">
                    <a16:creationId xmlns:a16="http://schemas.microsoft.com/office/drawing/2014/main" id="{68F598FC-8E0B-B58F-646A-438971FE06B7}"/>
                  </a:ext>
                </a:extLst>
              </p:cNvPr>
              <p:cNvGrpSpPr/>
              <p:nvPr/>
            </p:nvGrpSpPr>
            <p:grpSpPr>
              <a:xfrm>
                <a:off x="8937492" y="1776645"/>
                <a:ext cx="102144" cy="191413"/>
                <a:chOff x="10178180" y="1782664"/>
                <a:chExt cx="102144" cy="191413"/>
              </a:xfrm>
            </p:grpSpPr>
            <p:cxnSp>
              <p:nvCxnSpPr>
                <p:cNvPr id="48" name="Connecteur droit 47">
                  <a:extLst>
                    <a:ext uri="{FF2B5EF4-FFF2-40B4-BE49-F238E27FC236}">
                      <a16:creationId xmlns:a16="http://schemas.microsoft.com/office/drawing/2014/main" id="{728B653A-A12F-3A93-E212-995B779883B6}"/>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49" name="Ellipse 48">
                  <a:extLst>
                    <a:ext uri="{FF2B5EF4-FFF2-40B4-BE49-F238E27FC236}">
                      <a16:creationId xmlns:a16="http://schemas.microsoft.com/office/drawing/2014/main" id="{9F1336B0-1883-0BF7-F9EB-8038963340DC}"/>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0" name="Groupe 49">
                <a:extLst>
                  <a:ext uri="{FF2B5EF4-FFF2-40B4-BE49-F238E27FC236}">
                    <a16:creationId xmlns:a16="http://schemas.microsoft.com/office/drawing/2014/main" id="{89579BE6-80E6-AF2B-2712-7D1CEBCF4376}"/>
                  </a:ext>
                </a:extLst>
              </p:cNvPr>
              <p:cNvGrpSpPr/>
              <p:nvPr/>
            </p:nvGrpSpPr>
            <p:grpSpPr>
              <a:xfrm>
                <a:off x="9268284" y="1944784"/>
                <a:ext cx="102144" cy="191413"/>
                <a:chOff x="10178180" y="1782664"/>
                <a:chExt cx="102144" cy="191413"/>
              </a:xfrm>
            </p:grpSpPr>
            <p:cxnSp>
              <p:nvCxnSpPr>
                <p:cNvPr id="51" name="Connecteur droit 50">
                  <a:extLst>
                    <a:ext uri="{FF2B5EF4-FFF2-40B4-BE49-F238E27FC236}">
                      <a16:creationId xmlns:a16="http://schemas.microsoft.com/office/drawing/2014/main" id="{3AEBCE0E-6F9F-F53C-2D04-CA2FE5742D97}"/>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2" name="Ellipse 51">
                  <a:extLst>
                    <a:ext uri="{FF2B5EF4-FFF2-40B4-BE49-F238E27FC236}">
                      <a16:creationId xmlns:a16="http://schemas.microsoft.com/office/drawing/2014/main" id="{500F5E42-DD45-7593-8C86-158DA4BF4A86}"/>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 name="Groupe 52">
                <a:extLst>
                  <a:ext uri="{FF2B5EF4-FFF2-40B4-BE49-F238E27FC236}">
                    <a16:creationId xmlns:a16="http://schemas.microsoft.com/office/drawing/2014/main" id="{23DA674B-DAA1-BD66-539C-1E29FF7AC0AD}"/>
                  </a:ext>
                </a:extLst>
              </p:cNvPr>
              <p:cNvGrpSpPr/>
              <p:nvPr/>
            </p:nvGrpSpPr>
            <p:grpSpPr>
              <a:xfrm>
                <a:off x="9584871" y="1954555"/>
                <a:ext cx="102144" cy="191413"/>
                <a:chOff x="10178180" y="1782664"/>
                <a:chExt cx="102144" cy="191413"/>
              </a:xfrm>
            </p:grpSpPr>
            <p:cxnSp>
              <p:nvCxnSpPr>
                <p:cNvPr id="54" name="Connecteur droit 53">
                  <a:extLst>
                    <a:ext uri="{FF2B5EF4-FFF2-40B4-BE49-F238E27FC236}">
                      <a16:creationId xmlns:a16="http://schemas.microsoft.com/office/drawing/2014/main" id="{E5F5C14B-8A3E-B4CE-5037-5FF9CF025C2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5" name="Ellipse 54">
                  <a:extLst>
                    <a:ext uri="{FF2B5EF4-FFF2-40B4-BE49-F238E27FC236}">
                      <a16:creationId xmlns:a16="http://schemas.microsoft.com/office/drawing/2014/main" id="{01EA48E3-2A4A-20F8-BEAB-D402501293CA}"/>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 name="Groupe 55">
                <a:extLst>
                  <a:ext uri="{FF2B5EF4-FFF2-40B4-BE49-F238E27FC236}">
                    <a16:creationId xmlns:a16="http://schemas.microsoft.com/office/drawing/2014/main" id="{4C726DA9-C6F6-94C3-788F-97DA961118FD}"/>
                  </a:ext>
                </a:extLst>
              </p:cNvPr>
              <p:cNvGrpSpPr/>
              <p:nvPr/>
            </p:nvGrpSpPr>
            <p:grpSpPr>
              <a:xfrm>
                <a:off x="9610640" y="2276238"/>
                <a:ext cx="102144" cy="191413"/>
                <a:chOff x="10178180" y="1782664"/>
                <a:chExt cx="102144" cy="191413"/>
              </a:xfrm>
            </p:grpSpPr>
            <p:cxnSp>
              <p:nvCxnSpPr>
                <p:cNvPr id="57" name="Connecteur droit 56">
                  <a:extLst>
                    <a:ext uri="{FF2B5EF4-FFF2-40B4-BE49-F238E27FC236}">
                      <a16:creationId xmlns:a16="http://schemas.microsoft.com/office/drawing/2014/main" id="{5F621760-1CD6-2BA8-8584-E302BEEB39C7}"/>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8" name="Ellipse 57">
                  <a:extLst>
                    <a:ext uri="{FF2B5EF4-FFF2-40B4-BE49-F238E27FC236}">
                      <a16:creationId xmlns:a16="http://schemas.microsoft.com/office/drawing/2014/main" id="{3B0909A5-2FBF-75F2-0D7B-319C0FDF942F}"/>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a:extLst>
                  <a:ext uri="{FF2B5EF4-FFF2-40B4-BE49-F238E27FC236}">
                    <a16:creationId xmlns:a16="http://schemas.microsoft.com/office/drawing/2014/main" id="{C7AA4686-D40E-6D1D-16F8-0CE4C1A43540}"/>
                  </a:ext>
                </a:extLst>
              </p:cNvPr>
              <p:cNvGrpSpPr/>
              <p:nvPr/>
            </p:nvGrpSpPr>
            <p:grpSpPr>
              <a:xfrm>
                <a:off x="9334800" y="2253116"/>
                <a:ext cx="102144" cy="191413"/>
                <a:chOff x="10178180" y="1782664"/>
                <a:chExt cx="102144" cy="191413"/>
              </a:xfrm>
            </p:grpSpPr>
            <p:cxnSp>
              <p:nvCxnSpPr>
                <p:cNvPr id="60" name="Connecteur droit 59">
                  <a:extLst>
                    <a:ext uri="{FF2B5EF4-FFF2-40B4-BE49-F238E27FC236}">
                      <a16:creationId xmlns:a16="http://schemas.microsoft.com/office/drawing/2014/main" id="{6C2B2761-371E-3435-BE6F-ED4500D787EB}"/>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61" name="Ellipse 60">
                  <a:extLst>
                    <a:ext uri="{FF2B5EF4-FFF2-40B4-BE49-F238E27FC236}">
                      <a16:creationId xmlns:a16="http://schemas.microsoft.com/office/drawing/2014/main" id="{0CE5238E-5AD8-8B9A-AEFF-41B8C8FAFCDA}"/>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2" name="Groupe 61">
                <a:extLst>
                  <a:ext uri="{FF2B5EF4-FFF2-40B4-BE49-F238E27FC236}">
                    <a16:creationId xmlns:a16="http://schemas.microsoft.com/office/drawing/2014/main" id="{153237C4-6B2D-B058-C768-41B152A3560F}"/>
                  </a:ext>
                </a:extLst>
              </p:cNvPr>
              <p:cNvGrpSpPr/>
              <p:nvPr/>
            </p:nvGrpSpPr>
            <p:grpSpPr>
              <a:xfrm>
                <a:off x="8988065" y="2116634"/>
                <a:ext cx="102144" cy="191413"/>
                <a:chOff x="10178180" y="1782664"/>
                <a:chExt cx="102144" cy="191413"/>
              </a:xfrm>
            </p:grpSpPr>
            <p:cxnSp>
              <p:nvCxnSpPr>
                <p:cNvPr id="63" name="Connecteur droit 62">
                  <a:extLst>
                    <a:ext uri="{FF2B5EF4-FFF2-40B4-BE49-F238E27FC236}">
                      <a16:creationId xmlns:a16="http://schemas.microsoft.com/office/drawing/2014/main" id="{87A807BF-4CE4-B965-994A-2361C7681F0F}"/>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64" name="Ellipse 63">
                  <a:extLst>
                    <a:ext uri="{FF2B5EF4-FFF2-40B4-BE49-F238E27FC236}">
                      <a16:creationId xmlns:a16="http://schemas.microsoft.com/office/drawing/2014/main" id="{C821FC70-C081-A098-44C8-C43A0A27F84C}"/>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5" name="Groupe 64">
                <a:extLst>
                  <a:ext uri="{FF2B5EF4-FFF2-40B4-BE49-F238E27FC236}">
                    <a16:creationId xmlns:a16="http://schemas.microsoft.com/office/drawing/2014/main" id="{096046CC-F81D-67CA-B237-49213223E4BD}"/>
                  </a:ext>
                </a:extLst>
              </p:cNvPr>
              <p:cNvGrpSpPr/>
              <p:nvPr/>
            </p:nvGrpSpPr>
            <p:grpSpPr>
              <a:xfrm>
                <a:off x="8656873" y="2059330"/>
                <a:ext cx="102144" cy="191413"/>
                <a:chOff x="10178180" y="1782664"/>
                <a:chExt cx="102144" cy="191413"/>
              </a:xfrm>
            </p:grpSpPr>
            <p:cxnSp>
              <p:nvCxnSpPr>
                <p:cNvPr id="66" name="Connecteur droit 65">
                  <a:extLst>
                    <a:ext uri="{FF2B5EF4-FFF2-40B4-BE49-F238E27FC236}">
                      <a16:creationId xmlns:a16="http://schemas.microsoft.com/office/drawing/2014/main" id="{D1821798-3C99-7F36-09F7-581C2E5904E3}"/>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67" name="Ellipse 66">
                  <a:extLst>
                    <a:ext uri="{FF2B5EF4-FFF2-40B4-BE49-F238E27FC236}">
                      <a16:creationId xmlns:a16="http://schemas.microsoft.com/office/drawing/2014/main" id="{7FEE50A2-6244-3632-B911-F14C3B5C1D3A}"/>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8" name="Groupe 67">
                <a:extLst>
                  <a:ext uri="{FF2B5EF4-FFF2-40B4-BE49-F238E27FC236}">
                    <a16:creationId xmlns:a16="http://schemas.microsoft.com/office/drawing/2014/main" id="{98C1BB5B-65BE-7525-93B4-185DCAD9FF2A}"/>
                  </a:ext>
                </a:extLst>
              </p:cNvPr>
              <p:cNvGrpSpPr/>
              <p:nvPr/>
            </p:nvGrpSpPr>
            <p:grpSpPr>
              <a:xfrm>
                <a:off x="8574420" y="2433143"/>
                <a:ext cx="102144" cy="191413"/>
                <a:chOff x="10178180" y="1782664"/>
                <a:chExt cx="102144" cy="191413"/>
              </a:xfrm>
            </p:grpSpPr>
            <p:cxnSp>
              <p:nvCxnSpPr>
                <p:cNvPr id="69" name="Connecteur droit 68">
                  <a:extLst>
                    <a:ext uri="{FF2B5EF4-FFF2-40B4-BE49-F238E27FC236}">
                      <a16:creationId xmlns:a16="http://schemas.microsoft.com/office/drawing/2014/main" id="{4CBA8EDE-769D-BE57-D362-BD7961914504}"/>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0" name="Ellipse 69">
                  <a:extLst>
                    <a:ext uri="{FF2B5EF4-FFF2-40B4-BE49-F238E27FC236}">
                      <a16:creationId xmlns:a16="http://schemas.microsoft.com/office/drawing/2014/main" id="{DA425053-94E9-FA97-154B-789CDB6D714B}"/>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1" name="Groupe 70">
                <a:extLst>
                  <a:ext uri="{FF2B5EF4-FFF2-40B4-BE49-F238E27FC236}">
                    <a16:creationId xmlns:a16="http://schemas.microsoft.com/office/drawing/2014/main" id="{1747764C-FED7-005A-DC65-E463A6BCBFB2}"/>
                  </a:ext>
                </a:extLst>
              </p:cNvPr>
              <p:cNvGrpSpPr/>
              <p:nvPr/>
            </p:nvGrpSpPr>
            <p:grpSpPr>
              <a:xfrm>
                <a:off x="8888568" y="2441622"/>
                <a:ext cx="102144" cy="191413"/>
                <a:chOff x="10178180" y="1782664"/>
                <a:chExt cx="102144" cy="191413"/>
              </a:xfrm>
            </p:grpSpPr>
            <p:cxnSp>
              <p:nvCxnSpPr>
                <p:cNvPr id="72" name="Connecteur droit 71">
                  <a:extLst>
                    <a:ext uri="{FF2B5EF4-FFF2-40B4-BE49-F238E27FC236}">
                      <a16:creationId xmlns:a16="http://schemas.microsoft.com/office/drawing/2014/main" id="{C0310995-BC66-4DD3-3B21-F81EE1CF5492}"/>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3" name="Ellipse 72">
                  <a:extLst>
                    <a:ext uri="{FF2B5EF4-FFF2-40B4-BE49-F238E27FC236}">
                      <a16:creationId xmlns:a16="http://schemas.microsoft.com/office/drawing/2014/main" id="{82F5E7E7-BE45-4381-D9D9-B99FFED8DCE1}"/>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4" name="Groupe 73">
                <a:extLst>
                  <a:ext uri="{FF2B5EF4-FFF2-40B4-BE49-F238E27FC236}">
                    <a16:creationId xmlns:a16="http://schemas.microsoft.com/office/drawing/2014/main" id="{640C4F54-82A3-4F5A-498D-05DBCA042FA9}"/>
                  </a:ext>
                </a:extLst>
              </p:cNvPr>
              <p:cNvGrpSpPr/>
              <p:nvPr/>
            </p:nvGrpSpPr>
            <p:grpSpPr>
              <a:xfrm>
                <a:off x="9195077" y="2553446"/>
                <a:ext cx="102144" cy="191413"/>
                <a:chOff x="10178180" y="1782664"/>
                <a:chExt cx="102144" cy="191413"/>
              </a:xfrm>
            </p:grpSpPr>
            <p:cxnSp>
              <p:nvCxnSpPr>
                <p:cNvPr id="75" name="Connecteur droit 74">
                  <a:extLst>
                    <a:ext uri="{FF2B5EF4-FFF2-40B4-BE49-F238E27FC236}">
                      <a16:creationId xmlns:a16="http://schemas.microsoft.com/office/drawing/2014/main" id="{4D27A2EB-C5A6-383B-EC0E-D015C6F0465C}"/>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6" name="Ellipse 75">
                  <a:extLst>
                    <a:ext uri="{FF2B5EF4-FFF2-40B4-BE49-F238E27FC236}">
                      <a16:creationId xmlns:a16="http://schemas.microsoft.com/office/drawing/2014/main" id="{D10DF949-CD88-BAB3-C6AE-9E9318C35C86}"/>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7" name="Groupe 76">
                <a:extLst>
                  <a:ext uri="{FF2B5EF4-FFF2-40B4-BE49-F238E27FC236}">
                    <a16:creationId xmlns:a16="http://schemas.microsoft.com/office/drawing/2014/main" id="{82E195D3-0297-55BC-AC7A-64A01850B45C}"/>
                  </a:ext>
                </a:extLst>
              </p:cNvPr>
              <p:cNvGrpSpPr/>
              <p:nvPr/>
            </p:nvGrpSpPr>
            <p:grpSpPr>
              <a:xfrm>
                <a:off x="9490032" y="2590463"/>
                <a:ext cx="102144" cy="191413"/>
                <a:chOff x="10178180" y="1782664"/>
                <a:chExt cx="102144" cy="191413"/>
              </a:xfrm>
            </p:grpSpPr>
            <p:cxnSp>
              <p:nvCxnSpPr>
                <p:cNvPr id="78" name="Connecteur droit 77">
                  <a:extLst>
                    <a:ext uri="{FF2B5EF4-FFF2-40B4-BE49-F238E27FC236}">
                      <a16:creationId xmlns:a16="http://schemas.microsoft.com/office/drawing/2014/main" id="{23858187-F0FB-7E90-56D6-90FECDFC1352}"/>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9" name="Ellipse 78">
                  <a:extLst>
                    <a:ext uri="{FF2B5EF4-FFF2-40B4-BE49-F238E27FC236}">
                      <a16:creationId xmlns:a16="http://schemas.microsoft.com/office/drawing/2014/main" id="{C0B9B745-FE73-95D3-9222-44A4C266DC6E}"/>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grpSp>
        <p:nvGrpSpPr>
          <p:cNvPr id="46" name="Groupe 45">
            <a:extLst>
              <a:ext uri="{FF2B5EF4-FFF2-40B4-BE49-F238E27FC236}">
                <a16:creationId xmlns:a16="http://schemas.microsoft.com/office/drawing/2014/main" id="{ECA5E466-B291-1D92-60C4-71C59E58ED73}"/>
              </a:ext>
            </a:extLst>
          </p:cNvPr>
          <p:cNvGrpSpPr/>
          <p:nvPr/>
        </p:nvGrpSpPr>
        <p:grpSpPr>
          <a:xfrm>
            <a:off x="9328151" y="2202430"/>
            <a:ext cx="1368269" cy="1816855"/>
            <a:chOff x="9328151" y="2202430"/>
            <a:chExt cx="1368269" cy="1816855"/>
          </a:xfrm>
        </p:grpSpPr>
        <p:sp>
          <p:nvSpPr>
            <p:cNvPr id="81" name="ZoneTexte 80">
              <a:extLst>
                <a:ext uri="{FF2B5EF4-FFF2-40B4-BE49-F238E27FC236}">
                  <a16:creationId xmlns:a16="http://schemas.microsoft.com/office/drawing/2014/main" id="{EB68B995-F684-F68C-9FCF-6FCF68878C50}"/>
                </a:ext>
              </a:extLst>
            </p:cNvPr>
            <p:cNvSpPr txBox="1"/>
            <p:nvPr/>
          </p:nvSpPr>
          <p:spPr>
            <a:xfrm>
              <a:off x="9328151" y="3188288"/>
              <a:ext cx="1368269" cy="830997"/>
            </a:xfrm>
            <a:prstGeom prst="rect">
              <a:avLst/>
            </a:prstGeom>
            <a:noFill/>
          </p:spPr>
          <p:txBody>
            <a:bodyPr wrap="square">
              <a:spAutoFit/>
            </a:bodyPr>
            <a:lstStyle/>
            <a:p>
              <a:pPr algn="ctr"/>
              <a:r>
                <a:rPr lang="fr-FR" sz="1200" dirty="0"/>
                <a:t>Priorisation par les membres les plus motivés (et ouverte à tous)</a:t>
              </a:r>
            </a:p>
          </p:txBody>
        </p:sp>
        <p:grpSp>
          <p:nvGrpSpPr>
            <p:cNvPr id="82" name="Groupe 81">
              <a:extLst>
                <a:ext uri="{FF2B5EF4-FFF2-40B4-BE49-F238E27FC236}">
                  <a16:creationId xmlns:a16="http://schemas.microsoft.com/office/drawing/2014/main" id="{FF91FE13-1DB5-78D3-C518-919E45F2398B}"/>
                </a:ext>
              </a:extLst>
            </p:cNvPr>
            <p:cNvGrpSpPr/>
            <p:nvPr/>
          </p:nvGrpSpPr>
          <p:grpSpPr>
            <a:xfrm>
              <a:off x="9527870" y="2202430"/>
              <a:ext cx="1040302" cy="875993"/>
              <a:chOff x="8572649" y="1655556"/>
              <a:chExt cx="1409636" cy="1186993"/>
            </a:xfrm>
          </p:grpSpPr>
          <p:grpSp>
            <p:nvGrpSpPr>
              <p:cNvPr id="83" name="Groupe 82">
                <a:extLst>
                  <a:ext uri="{FF2B5EF4-FFF2-40B4-BE49-F238E27FC236}">
                    <a16:creationId xmlns:a16="http://schemas.microsoft.com/office/drawing/2014/main" id="{47093F6D-B03C-BD8F-1761-52646778CEE9}"/>
                  </a:ext>
                </a:extLst>
              </p:cNvPr>
              <p:cNvGrpSpPr/>
              <p:nvPr/>
            </p:nvGrpSpPr>
            <p:grpSpPr>
              <a:xfrm>
                <a:off x="8572649" y="1655556"/>
                <a:ext cx="1409636" cy="1186993"/>
                <a:chOff x="8982504" y="3274976"/>
                <a:chExt cx="1230670" cy="1036294"/>
              </a:xfrm>
              <a:solidFill>
                <a:srgbClr val="ED7D31"/>
              </a:solidFill>
            </p:grpSpPr>
            <p:pic>
              <p:nvPicPr>
                <p:cNvPr id="117" name="Graphique 116" descr="Utilisateur avec un remplissage uni">
                  <a:extLst>
                    <a:ext uri="{FF2B5EF4-FFF2-40B4-BE49-F238E27FC236}">
                      <a16:creationId xmlns:a16="http://schemas.microsoft.com/office/drawing/2014/main" id="{D3DB387E-03A9-52E8-654F-C8791AA3290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01028" y="3274976"/>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E9D16F13-D0FF-B4F9-8F3E-C79D923733F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54140" y="3512720"/>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313A5814-8660-83F5-3F92-BB6BE477636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120" name="Graphique 119" descr="Utilisateur avec un remplissage uni">
                  <a:extLst>
                    <a:ext uri="{FF2B5EF4-FFF2-40B4-BE49-F238E27FC236}">
                      <a16:creationId xmlns:a16="http://schemas.microsoft.com/office/drawing/2014/main" id="{67EDA0F9-67D3-3A12-7402-5D6ACFEB797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121" name="Graphique 120" descr="Utilisateur avec un remplissage uni">
                  <a:extLst>
                    <a:ext uri="{FF2B5EF4-FFF2-40B4-BE49-F238E27FC236}">
                      <a16:creationId xmlns:a16="http://schemas.microsoft.com/office/drawing/2014/main" id="{ED6EA79E-96B8-B109-9BDE-5C2449EA8F7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F13145A4-4363-AEBA-3470-FAA4478F50D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71F47DB5-C616-E79F-05AB-16D0291B2EE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B3B126FE-D29B-A1FB-8BA9-FFB63979A0E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125" name="Graphique 124" descr="Utilisateur avec un remplissage uni">
                  <a:extLst>
                    <a:ext uri="{FF2B5EF4-FFF2-40B4-BE49-F238E27FC236}">
                      <a16:creationId xmlns:a16="http://schemas.microsoft.com/office/drawing/2014/main" id="{7422B299-2C81-9F2B-829F-F766FA7A072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83417" y="3975206"/>
                  <a:ext cx="336064" cy="336064"/>
                </a:xfrm>
                <a:prstGeom prst="rect">
                  <a:avLst/>
                </a:prstGeom>
              </p:spPr>
            </p:pic>
            <p:pic>
              <p:nvPicPr>
                <p:cNvPr id="126" name="Graphique 125" descr="Utilisateur avec un remplissage uni">
                  <a:extLst>
                    <a:ext uri="{FF2B5EF4-FFF2-40B4-BE49-F238E27FC236}">
                      <a16:creationId xmlns:a16="http://schemas.microsoft.com/office/drawing/2014/main" id="{4072608D-2563-1520-94BD-C3CA470C283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127" name="Graphique 126" descr="Utilisateur avec un remplissage uni">
                  <a:extLst>
                    <a:ext uri="{FF2B5EF4-FFF2-40B4-BE49-F238E27FC236}">
                      <a16:creationId xmlns:a16="http://schemas.microsoft.com/office/drawing/2014/main" id="{15E5063B-32D6-A49B-9CD1-F583A09C32F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84" name="Groupe 83">
                <a:extLst>
                  <a:ext uri="{FF2B5EF4-FFF2-40B4-BE49-F238E27FC236}">
                    <a16:creationId xmlns:a16="http://schemas.microsoft.com/office/drawing/2014/main" id="{EA314F17-BBA7-0FF5-61D3-AE49BEDDE0EB}"/>
                  </a:ext>
                </a:extLst>
              </p:cNvPr>
              <p:cNvGrpSpPr/>
              <p:nvPr/>
            </p:nvGrpSpPr>
            <p:grpSpPr>
              <a:xfrm>
                <a:off x="8937492" y="1776645"/>
                <a:ext cx="102144" cy="191413"/>
                <a:chOff x="10178180" y="1782664"/>
                <a:chExt cx="102144" cy="191413"/>
              </a:xfrm>
            </p:grpSpPr>
            <p:cxnSp>
              <p:nvCxnSpPr>
                <p:cNvPr id="115" name="Connecteur droit 114">
                  <a:extLst>
                    <a:ext uri="{FF2B5EF4-FFF2-40B4-BE49-F238E27FC236}">
                      <a16:creationId xmlns:a16="http://schemas.microsoft.com/office/drawing/2014/main" id="{19E93377-4AEA-E0F7-A230-F1060412B0F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16" name="Ellipse 115">
                  <a:extLst>
                    <a:ext uri="{FF2B5EF4-FFF2-40B4-BE49-F238E27FC236}">
                      <a16:creationId xmlns:a16="http://schemas.microsoft.com/office/drawing/2014/main" id="{762A3EAA-9171-BDD0-4DD9-31D8F242B4CE}"/>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14" name="Ellipse 113">
                <a:extLst>
                  <a:ext uri="{FF2B5EF4-FFF2-40B4-BE49-F238E27FC236}">
                    <a16:creationId xmlns:a16="http://schemas.microsoft.com/office/drawing/2014/main" id="{8D01CD88-8FBD-09AE-BD84-8A8D25636F6C}"/>
                  </a:ext>
                </a:extLst>
              </p:cNvPr>
              <p:cNvSpPr/>
              <p:nvPr/>
            </p:nvSpPr>
            <p:spPr>
              <a:xfrm>
                <a:off x="9301412" y="206718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2" name="Ellipse 111">
                <a:extLst>
                  <a:ext uri="{FF2B5EF4-FFF2-40B4-BE49-F238E27FC236}">
                    <a16:creationId xmlns:a16="http://schemas.microsoft.com/office/drawing/2014/main" id="{AEC09D5A-3790-BA8B-C4E7-57ACAA47F04F}"/>
                  </a:ext>
                </a:extLst>
              </p:cNvPr>
              <p:cNvSpPr/>
              <p:nvPr/>
            </p:nvSpPr>
            <p:spPr>
              <a:xfrm>
                <a:off x="9617999" y="2076952"/>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Ellipse 109">
                <a:extLst>
                  <a:ext uri="{FF2B5EF4-FFF2-40B4-BE49-F238E27FC236}">
                    <a16:creationId xmlns:a16="http://schemas.microsoft.com/office/drawing/2014/main" id="{25930AA4-013B-585A-1FE0-A473950F70C7}"/>
                  </a:ext>
                </a:extLst>
              </p:cNvPr>
              <p:cNvSpPr/>
              <p:nvPr/>
            </p:nvSpPr>
            <p:spPr>
              <a:xfrm>
                <a:off x="9643768" y="2398635"/>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Ellipse 107">
                <a:extLst>
                  <a:ext uri="{FF2B5EF4-FFF2-40B4-BE49-F238E27FC236}">
                    <a16:creationId xmlns:a16="http://schemas.microsoft.com/office/drawing/2014/main" id="{8E4DC1D0-41E3-BCBF-A0B4-AA271FB08EC2}"/>
                  </a:ext>
                </a:extLst>
              </p:cNvPr>
              <p:cNvSpPr/>
              <p:nvPr/>
            </p:nvSpPr>
            <p:spPr>
              <a:xfrm>
                <a:off x="9367928" y="237551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 name="Groupe 88">
                <a:extLst>
                  <a:ext uri="{FF2B5EF4-FFF2-40B4-BE49-F238E27FC236}">
                    <a16:creationId xmlns:a16="http://schemas.microsoft.com/office/drawing/2014/main" id="{7F50F667-D994-9B38-D440-DE8EDA4D2785}"/>
                  </a:ext>
                </a:extLst>
              </p:cNvPr>
              <p:cNvGrpSpPr/>
              <p:nvPr/>
            </p:nvGrpSpPr>
            <p:grpSpPr>
              <a:xfrm>
                <a:off x="8988065" y="2116634"/>
                <a:ext cx="102144" cy="191413"/>
                <a:chOff x="10178180" y="1782664"/>
                <a:chExt cx="102144" cy="191413"/>
              </a:xfrm>
            </p:grpSpPr>
            <p:cxnSp>
              <p:nvCxnSpPr>
                <p:cNvPr id="105" name="Connecteur droit 104">
                  <a:extLst>
                    <a:ext uri="{FF2B5EF4-FFF2-40B4-BE49-F238E27FC236}">
                      <a16:creationId xmlns:a16="http://schemas.microsoft.com/office/drawing/2014/main" id="{7AA45FE3-3269-1ACA-7D49-9C79B17CA6E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6" name="Ellipse 105">
                  <a:extLst>
                    <a:ext uri="{FF2B5EF4-FFF2-40B4-BE49-F238E27FC236}">
                      <a16:creationId xmlns:a16="http://schemas.microsoft.com/office/drawing/2014/main" id="{E44ED6E9-19BA-EFBC-7C30-164514525631}"/>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0" name="Groupe 89">
                <a:extLst>
                  <a:ext uri="{FF2B5EF4-FFF2-40B4-BE49-F238E27FC236}">
                    <a16:creationId xmlns:a16="http://schemas.microsoft.com/office/drawing/2014/main" id="{2D54A68B-2E12-DBC6-C62C-2CD6FD29C843}"/>
                  </a:ext>
                </a:extLst>
              </p:cNvPr>
              <p:cNvGrpSpPr/>
              <p:nvPr/>
            </p:nvGrpSpPr>
            <p:grpSpPr>
              <a:xfrm>
                <a:off x="8656873" y="2059330"/>
                <a:ext cx="102144" cy="191413"/>
                <a:chOff x="10178180" y="1782664"/>
                <a:chExt cx="102144" cy="191413"/>
              </a:xfrm>
            </p:grpSpPr>
            <p:cxnSp>
              <p:nvCxnSpPr>
                <p:cNvPr id="103" name="Connecteur droit 102">
                  <a:extLst>
                    <a:ext uri="{FF2B5EF4-FFF2-40B4-BE49-F238E27FC236}">
                      <a16:creationId xmlns:a16="http://schemas.microsoft.com/office/drawing/2014/main" id="{76586263-BAA7-B7A2-3B73-F81F6C2B0FD6}"/>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4" name="Ellipse 103">
                  <a:extLst>
                    <a:ext uri="{FF2B5EF4-FFF2-40B4-BE49-F238E27FC236}">
                      <a16:creationId xmlns:a16="http://schemas.microsoft.com/office/drawing/2014/main" id="{99CC86FC-5A74-43A4-A44C-7721F5FB51B9}"/>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1" name="Groupe 90">
                <a:extLst>
                  <a:ext uri="{FF2B5EF4-FFF2-40B4-BE49-F238E27FC236}">
                    <a16:creationId xmlns:a16="http://schemas.microsoft.com/office/drawing/2014/main" id="{E94AF230-0075-1C54-BA52-DF8C81DAD8DF}"/>
                  </a:ext>
                </a:extLst>
              </p:cNvPr>
              <p:cNvGrpSpPr/>
              <p:nvPr/>
            </p:nvGrpSpPr>
            <p:grpSpPr>
              <a:xfrm>
                <a:off x="8574420" y="2433143"/>
                <a:ext cx="102144" cy="191413"/>
                <a:chOff x="10178180" y="1782664"/>
                <a:chExt cx="102144" cy="191413"/>
              </a:xfrm>
            </p:grpSpPr>
            <p:cxnSp>
              <p:nvCxnSpPr>
                <p:cNvPr id="101" name="Connecteur droit 100">
                  <a:extLst>
                    <a:ext uri="{FF2B5EF4-FFF2-40B4-BE49-F238E27FC236}">
                      <a16:creationId xmlns:a16="http://schemas.microsoft.com/office/drawing/2014/main" id="{BCFD34C1-8C34-9CBD-D91C-5C23938D780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2" name="Ellipse 101">
                  <a:extLst>
                    <a:ext uri="{FF2B5EF4-FFF2-40B4-BE49-F238E27FC236}">
                      <a16:creationId xmlns:a16="http://schemas.microsoft.com/office/drawing/2014/main" id="{DD0A2262-5003-73F7-726D-8C9AF827917F}"/>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2" name="Groupe 91">
                <a:extLst>
                  <a:ext uri="{FF2B5EF4-FFF2-40B4-BE49-F238E27FC236}">
                    <a16:creationId xmlns:a16="http://schemas.microsoft.com/office/drawing/2014/main" id="{C3197A3F-BBA2-C485-1DBF-7A9B8CA4793C}"/>
                  </a:ext>
                </a:extLst>
              </p:cNvPr>
              <p:cNvGrpSpPr/>
              <p:nvPr/>
            </p:nvGrpSpPr>
            <p:grpSpPr>
              <a:xfrm>
                <a:off x="8888568" y="2441622"/>
                <a:ext cx="102144" cy="191413"/>
                <a:chOff x="10178180" y="1782664"/>
                <a:chExt cx="102144" cy="191413"/>
              </a:xfrm>
            </p:grpSpPr>
            <p:cxnSp>
              <p:nvCxnSpPr>
                <p:cNvPr id="99" name="Connecteur droit 98">
                  <a:extLst>
                    <a:ext uri="{FF2B5EF4-FFF2-40B4-BE49-F238E27FC236}">
                      <a16:creationId xmlns:a16="http://schemas.microsoft.com/office/drawing/2014/main" id="{31D3B58A-A51E-0DB5-CD45-321CE33F3A7C}"/>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0" name="Ellipse 99">
                  <a:extLst>
                    <a:ext uri="{FF2B5EF4-FFF2-40B4-BE49-F238E27FC236}">
                      <a16:creationId xmlns:a16="http://schemas.microsoft.com/office/drawing/2014/main" id="{51714F0A-7BA6-8008-3213-D89CEF1015A4}"/>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98" name="Ellipse 97">
                <a:extLst>
                  <a:ext uri="{FF2B5EF4-FFF2-40B4-BE49-F238E27FC236}">
                    <a16:creationId xmlns:a16="http://schemas.microsoft.com/office/drawing/2014/main" id="{AAB996E5-8B2A-C897-6434-BD55C330FA14}"/>
                  </a:ext>
                </a:extLst>
              </p:cNvPr>
              <p:cNvSpPr/>
              <p:nvPr/>
            </p:nvSpPr>
            <p:spPr>
              <a:xfrm>
                <a:off x="9228205" y="267584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6" name="Ellipse 95">
                <a:extLst>
                  <a:ext uri="{FF2B5EF4-FFF2-40B4-BE49-F238E27FC236}">
                    <a16:creationId xmlns:a16="http://schemas.microsoft.com/office/drawing/2014/main" id="{B05F10E9-BB90-5471-794F-C660C6B11124}"/>
                  </a:ext>
                </a:extLst>
              </p:cNvPr>
              <p:cNvSpPr/>
              <p:nvPr/>
            </p:nvSpPr>
            <p:spPr>
              <a:xfrm>
                <a:off x="9523160" y="2712860"/>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8" name="Groupe 7">
            <a:extLst>
              <a:ext uri="{FF2B5EF4-FFF2-40B4-BE49-F238E27FC236}">
                <a16:creationId xmlns:a16="http://schemas.microsoft.com/office/drawing/2014/main" id="{7A8B4DA4-23AA-C509-A3DF-A779F46ECC9F}"/>
              </a:ext>
            </a:extLst>
          </p:cNvPr>
          <p:cNvGrpSpPr/>
          <p:nvPr/>
        </p:nvGrpSpPr>
        <p:grpSpPr>
          <a:xfrm>
            <a:off x="1473643" y="2332629"/>
            <a:ext cx="1142475" cy="1466540"/>
            <a:chOff x="1062995" y="2236944"/>
            <a:chExt cx="1142475" cy="1466540"/>
          </a:xfrm>
        </p:grpSpPr>
        <p:sp>
          <p:nvSpPr>
            <p:cNvPr id="128" name="ZoneTexte 127">
              <a:extLst>
                <a:ext uri="{FF2B5EF4-FFF2-40B4-BE49-F238E27FC236}">
                  <a16:creationId xmlns:a16="http://schemas.microsoft.com/office/drawing/2014/main" id="{2C486C57-8DAC-057F-E27A-80A6564CE6C2}"/>
                </a:ext>
              </a:extLst>
            </p:cNvPr>
            <p:cNvSpPr txBox="1"/>
            <p:nvPr/>
          </p:nvSpPr>
          <p:spPr>
            <a:xfrm>
              <a:off x="1062995" y="3057153"/>
              <a:ext cx="1142475" cy="646331"/>
            </a:xfrm>
            <a:prstGeom prst="rect">
              <a:avLst/>
            </a:prstGeom>
            <a:noFill/>
          </p:spPr>
          <p:txBody>
            <a:bodyPr wrap="square">
              <a:spAutoFit/>
            </a:bodyPr>
            <a:lstStyle/>
            <a:p>
              <a:pPr algn="ctr"/>
              <a:r>
                <a:rPr lang="fr-FR" sz="1200" dirty="0"/>
                <a:t>Comité fixe de priorisation (dont leader)</a:t>
              </a:r>
            </a:p>
          </p:txBody>
        </p:sp>
        <p:grpSp>
          <p:nvGrpSpPr>
            <p:cNvPr id="194" name="Groupe 193">
              <a:extLst>
                <a:ext uri="{FF2B5EF4-FFF2-40B4-BE49-F238E27FC236}">
                  <a16:creationId xmlns:a16="http://schemas.microsoft.com/office/drawing/2014/main" id="{A8866C6A-2303-00EA-E0E6-3AA3836CE4DF}"/>
                </a:ext>
              </a:extLst>
            </p:cNvPr>
            <p:cNvGrpSpPr/>
            <p:nvPr/>
          </p:nvGrpSpPr>
          <p:grpSpPr>
            <a:xfrm>
              <a:off x="1162944" y="2236944"/>
              <a:ext cx="891895" cy="820209"/>
              <a:chOff x="1281387" y="2495253"/>
              <a:chExt cx="1084118" cy="996982"/>
            </a:xfrm>
          </p:grpSpPr>
          <p:grpSp>
            <p:nvGrpSpPr>
              <p:cNvPr id="129" name="Groupe 128">
                <a:extLst>
                  <a:ext uri="{FF2B5EF4-FFF2-40B4-BE49-F238E27FC236}">
                    <a16:creationId xmlns:a16="http://schemas.microsoft.com/office/drawing/2014/main" id="{CD87458D-C676-86AE-2A00-DF844A0832E1}"/>
                  </a:ext>
                </a:extLst>
              </p:cNvPr>
              <p:cNvGrpSpPr/>
              <p:nvPr/>
            </p:nvGrpSpPr>
            <p:grpSpPr>
              <a:xfrm>
                <a:off x="1569563" y="3035035"/>
                <a:ext cx="457200" cy="457200"/>
                <a:chOff x="3982824" y="1896400"/>
                <a:chExt cx="914400" cy="914400"/>
              </a:xfrm>
            </p:grpSpPr>
            <p:pic>
              <p:nvPicPr>
                <p:cNvPr id="130" name="Graphique 129" descr="Homme conductrice avec un remplissage uni">
                  <a:extLst>
                    <a:ext uri="{FF2B5EF4-FFF2-40B4-BE49-F238E27FC236}">
                      <a16:creationId xmlns:a16="http://schemas.microsoft.com/office/drawing/2014/main" id="{3F776B8E-6FD1-EFE1-1952-A1750793CC5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31" name="Rectangle 130">
                  <a:extLst>
                    <a:ext uri="{FF2B5EF4-FFF2-40B4-BE49-F238E27FC236}">
                      <a16:creationId xmlns:a16="http://schemas.microsoft.com/office/drawing/2014/main" id="{1D975489-6CCA-ADEF-9E2D-C43AA294F64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32" name="Groupe 131">
                <a:extLst>
                  <a:ext uri="{FF2B5EF4-FFF2-40B4-BE49-F238E27FC236}">
                    <a16:creationId xmlns:a16="http://schemas.microsoft.com/office/drawing/2014/main" id="{0CCEF290-5A4C-B916-5E8F-3D849BD12EBB}"/>
                  </a:ext>
                </a:extLst>
              </p:cNvPr>
              <p:cNvGrpSpPr/>
              <p:nvPr/>
            </p:nvGrpSpPr>
            <p:grpSpPr>
              <a:xfrm>
                <a:off x="1281387" y="2806435"/>
                <a:ext cx="457200" cy="457200"/>
                <a:chOff x="3982824" y="1896400"/>
                <a:chExt cx="914400" cy="914400"/>
              </a:xfrm>
            </p:grpSpPr>
            <p:pic>
              <p:nvPicPr>
                <p:cNvPr id="133" name="Graphique 132" descr="Homme conductrice avec un remplissage uni">
                  <a:extLst>
                    <a:ext uri="{FF2B5EF4-FFF2-40B4-BE49-F238E27FC236}">
                      <a16:creationId xmlns:a16="http://schemas.microsoft.com/office/drawing/2014/main" id="{80A8E353-86F7-7283-FB60-EAE641EC2EE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134" name="Rectangle 133">
                  <a:extLst>
                    <a:ext uri="{FF2B5EF4-FFF2-40B4-BE49-F238E27FC236}">
                      <a16:creationId xmlns:a16="http://schemas.microsoft.com/office/drawing/2014/main" id="{DD4D86E7-D0BB-017F-2A11-2430DB55EEA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35" name="Groupe 134">
                <a:extLst>
                  <a:ext uri="{FF2B5EF4-FFF2-40B4-BE49-F238E27FC236}">
                    <a16:creationId xmlns:a16="http://schemas.microsoft.com/office/drawing/2014/main" id="{3F334C6C-B520-DB00-259B-331995ADC85F}"/>
                  </a:ext>
                </a:extLst>
              </p:cNvPr>
              <p:cNvGrpSpPr/>
              <p:nvPr/>
            </p:nvGrpSpPr>
            <p:grpSpPr>
              <a:xfrm>
                <a:off x="1613164" y="2495253"/>
                <a:ext cx="457200" cy="457200"/>
                <a:chOff x="3982824" y="1896400"/>
                <a:chExt cx="914400" cy="914400"/>
              </a:xfrm>
            </p:grpSpPr>
            <p:pic>
              <p:nvPicPr>
                <p:cNvPr id="136" name="Graphique 135" descr="Homme conductrice avec un remplissage uni">
                  <a:extLst>
                    <a:ext uri="{FF2B5EF4-FFF2-40B4-BE49-F238E27FC236}">
                      <a16:creationId xmlns:a16="http://schemas.microsoft.com/office/drawing/2014/main" id="{8F8FE6E4-E32A-2FC3-D4C6-5E431DD3F9F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37" name="Rectangle 136">
                  <a:extLst>
                    <a:ext uri="{FF2B5EF4-FFF2-40B4-BE49-F238E27FC236}">
                      <a16:creationId xmlns:a16="http://schemas.microsoft.com/office/drawing/2014/main" id="{9562F67F-8035-D678-B9FE-07425C11CFE0}"/>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38" name="Groupe 137">
                <a:extLst>
                  <a:ext uri="{FF2B5EF4-FFF2-40B4-BE49-F238E27FC236}">
                    <a16:creationId xmlns:a16="http://schemas.microsoft.com/office/drawing/2014/main" id="{0A43A8B1-E5A0-8573-8BFB-BE4A31E2DDE7}"/>
                  </a:ext>
                </a:extLst>
              </p:cNvPr>
              <p:cNvGrpSpPr/>
              <p:nvPr/>
            </p:nvGrpSpPr>
            <p:grpSpPr>
              <a:xfrm>
                <a:off x="1908305" y="2820432"/>
                <a:ext cx="457200" cy="457200"/>
                <a:chOff x="3982824" y="1896400"/>
                <a:chExt cx="914400" cy="914400"/>
              </a:xfrm>
            </p:grpSpPr>
            <p:pic>
              <p:nvPicPr>
                <p:cNvPr id="139" name="Graphique 138" descr="Homme conductrice avec un remplissage uni">
                  <a:extLst>
                    <a:ext uri="{FF2B5EF4-FFF2-40B4-BE49-F238E27FC236}">
                      <a16:creationId xmlns:a16="http://schemas.microsoft.com/office/drawing/2014/main" id="{33876E09-C820-D54A-EA0E-B73FCAB8F6B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40" name="Rectangle 139">
                  <a:extLst>
                    <a:ext uri="{FF2B5EF4-FFF2-40B4-BE49-F238E27FC236}">
                      <a16:creationId xmlns:a16="http://schemas.microsoft.com/office/drawing/2014/main" id="{6FD8AB23-E826-13A4-2B44-A74C20D7919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grpSp>
        <p:nvGrpSpPr>
          <p:cNvPr id="45" name="Groupe 44">
            <a:extLst>
              <a:ext uri="{FF2B5EF4-FFF2-40B4-BE49-F238E27FC236}">
                <a16:creationId xmlns:a16="http://schemas.microsoft.com/office/drawing/2014/main" id="{8205EC49-05E7-AC03-8DBC-8FC5463652A3}"/>
              </a:ext>
            </a:extLst>
          </p:cNvPr>
          <p:cNvGrpSpPr/>
          <p:nvPr/>
        </p:nvGrpSpPr>
        <p:grpSpPr>
          <a:xfrm>
            <a:off x="8055124" y="2227613"/>
            <a:ext cx="1253441" cy="2149608"/>
            <a:chOff x="8055124" y="2227613"/>
            <a:chExt cx="1253441" cy="2149608"/>
          </a:xfrm>
        </p:grpSpPr>
        <p:sp>
          <p:nvSpPr>
            <p:cNvPr id="25" name="ZoneTexte 24">
              <a:extLst>
                <a:ext uri="{FF2B5EF4-FFF2-40B4-BE49-F238E27FC236}">
                  <a16:creationId xmlns:a16="http://schemas.microsoft.com/office/drawing/2014/main" id="{D5E3F3A4-00C9-940A-536A-EB308291386F}"/>
                </a:ext>
              </a:extLst>
            </p:cNvPr>
            <p:cNvSpPr txBox="1"/>
            <p:nvPr/>
          </p:nvSpPr>
          <p:spPr>
            <a:xfrm>
              <a:off x="8055124" y="3176892"/>
              <a:ext cx="1253441" cy="1200329"/>
            </a:xfrm>
            <a:prstGeom prst="rect">
              <a:avLst/>
            </a:prstGeom>
            <a:noFill/>
          </p:spPr>
          <p:txBody>
            <a:bodyPr wrap="square">
              <a:spAutoFit/>
            </a:bodyPr>
            <a:lstStyle/>
            <a:p>
              <a:pPr algn="ctr"/>
              <a:r>
                <a:rPr lang="fr-FR" sz="1200" dirty="0"/>
                <a:t>Priorisation uniquement des représentants temporaires des membres pour la décision</a:t>
              </a:r>
            </a:p>
          </p:txBody>
        </p:sp>
        <p:grpSp>
          <p:nvGrpSpPr>
            <p:cNvPr id="211" name="Groupe 210">
              <a:extLst>
                <a:ext uri="{FF2B5EF4-FFF2-40B4-BE49-F238E27FC236}">
                  <a16:creationId xmlns:a16="http://schemas.microsoft.com/office/drawing/2014/main" id="{2E12CAFA-E626-23E9-D9A2-46EB772C6D13}"/>
                </a:ext>
              </a:extLst>
            </p:cNvPr>
            <p:cNvGrpSpPr/>
            <p:nvPr/>
          </p:nvGrpSpPr>
          <p:grpSpPr>
            <a:xfrm>
              <a:off x="8249169" y="2227613"/>
              <a:ext cx="916532" cy="842866"/>
              <a:chOff x="7829288" y="2349771"/>
              <a:chExt cx="1084118" cy="996982"/>
            </a:xfrm>
          </p:grpSpPr>
          <p:grpSp>
            <p:nvGrpSpPr>
              <p:cNvPr id="141" name="Groupe 140">
                <a:extLst>
                  <a:ext uri="{FF2B5EF4-FFF2-40B4-BE49-F238E27FC236}">
                    <a16:creationId xmlns:a16="http://schemas.microsoft.com/office/drawing/2014/main" id="{A8C0DF37-F9F7-CBB2-287C-8746FAEF646C}"/>
                  </a:ext>
                </a:extLst>
              </p:cNvPr>
              <p:cNvGrpSpPr/>
              <p:nvPr/>
            </p:nvGrpSpPr>
            <p:grpSpPr>
              <a:xfrm>
                <a:off x="8117464" y="2889553"/>
                <a:ext cx="457200" cy="457200"/>
                <a:chOff x="3982824" y="1896400"/>
                <a:chExt cx="914400" cy="914400"/>
              </a:xfrm>
            </p:grpSpPr>
            <p:pic>
              <p:nvPicPr>
                <p:cNvPr id="142" name="Graphique 141" descr="Homme conductrice avec un remplissage uni">
                  <a:extLst>
                    <a:ext uri="{FF2B5EF4-FFF2-40B4-BE49-F238E27FC236}">
                      <a16:creationId xmlns:a16="http://schemas.microsoft.com/office/drawing/2014/main" id="{1BFF74C9-AA26-33BB-1DC7-3AC51A8CE5F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43" name="Rectangle 142">
                  <a:extLst>
                    <a:ext uri="{FF2B5EF4-FFF2-40B4-BE49-F238E27FC236}">
                      <a16:creationId xmlns:a16="http://schemas.microsoft.com/office/drawing/2014/main" id="{36704B31-E518-D9AB-1ACE-762839E5D93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44" name="Groupe 143">
                <a:extLst>
                  <a:ext uri="{FF2B5EF4-FFF2-40B4-BE49-F238E27FC236}">
                    <a16:creationId xmlns:a16="http://schemas.microsoft.com/office/drawing/2014/main" id="{CC450B84-F961-35B8-0C2D-11F02F848D22}"/>
                  </a:ext>
                </a:extLst>
              </p:cNvPr>
              <p:cNvGrpSpPr/>
              <p:nvPr/>
            </p:nvGrpSpPr>
            <p:grpSpPr>
              <a:xfrm>
                <a:off x="7829288" y="2660953"/>
                <a:ext cx="457200" cy="457200"/>
                <a:chOff x="3982824" y="1896400"/>
                <a:chExt cx="914400" cy="914400"/>
              </a:xfrm>
            </p:grpSpPr>
            <p:pic>
              <p:nvPicPr>
                <p:cNvPr id="145" name="Graphique 144" descr="Homme conductrice avec un remplissage uni">
                  <a:extLst>
                    <a:ext uri="{FF2B5EF4-FFF2-40B4-BE49-F238E27FC236}">
                      <a16:creationId xmlns:a16="http://schemas.microsoft.com/office/drawing/2014/main" id="{18571E9B-E4D9-649F-AD31-974CD715739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46" name="Rectangle 145">
                  <a:extLst>
                    <a:ext uri="{FF2B5EF4-FFF2-40B4-BE49-F238E27FC236}">
                      <a16:creationId xmlns:a16="http://schemas.microsoft.com/office/drawing/2014/main" id="{8432368A-C51E-1803-219C-E737D2588DD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47" name="Groupe 146">
                <a:extLst>
                  <a:ext uri="{FF2B5EF4-FFF2-40B4-BE49-F238E27FC236}">
                    <a16:creationId xmlns:a16="http://schemas.microsoft.com/office/drawing/2014/main" id="{5AC3603F-04B7-393A-ECD6-CA880E4B8F51}"/>
                  </a:ext>
                </a:extLst>
              </p:cNvPr>
              <p:cNvGrpSpPr/>
              <p:nvPr/>
            </p:nvGrpSpPr>
            <p:grpSpPr>
              <a:xfrm>
                <a:off x="8161065" y="2349771"/>
                <a:ext cx="457200" cy="457200"/>
                <a:chOff x="3982824" y="1896400"/>
                <a:chExt cx="914400" cy="914400"/>
              </a:xfrm>
            </p:grpSpPr>
            <p:pic>
              <p:nvPicPr>
                <p:cNvPr id="148" name="Graphique 147" descr="Homme conductrice avec un remplissage uni">
                  <a:extLst>
                    <a:ext uri="{FF2B5EF4-FFF2-40B4-BE49-F238E27FC236}">
                      <a16:creationId xmlns:a16="http://schemas.microsoft.com/office/drawing/2014/main" id="{DD4262EC-32CB-9779-E36E-32B1E8AE230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49" name="Rectangle 148">
                  <a:extLst>
                    <a:ext uri="{FF2B5EF4-FFF2-40B4-BE49-F238E27FC236}">
                      <a16:creationId xmlns:a16="http://schemas.microsoft.com/office/drawing/2014/main" id="{C457C34A-F7EA-3FDD-E4CB-7B611378CCD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50" name="Groupe 149">
                <a:extLst>
                  <a:ext uri="{FF2B5EF4-FFF2-40B4-BE49-F238E27FC236}">
                    <a16:creationId xmlns:a16="http://schemas.microsoft.com/office/drawing/2014/main" id="{3E05E990-B85A-3621-EEFA-32B06FA843BF}"/>
                  </a:ext>
                </a:extLst>
              </p:cNvPr>
              <p:cNvGrpSpPr/>
              <p:nvPr/>
            </p:nvGrpSpPr>
            <p:grpSpPr>
              <a:xfrm>
                <a:off x="8456206" y="2674950"/>
                <a:ext cx="457200" cy="457200"/>
                <a:chOff x="3982824" y="1896400"/>
                <a:chExt cx="914400" cy="914400"/>
              </a:xfrm>
            </p:grpSpPr>
            <p:pic>
              <p:nvPicPr>
                <p:cNvPr id="151" name="Graphique 150" descr="Homme conductrice avec un remplissage uni">
                  <a:extLst>
                    <a:ext uri="{FF2B5EF4-FFF2-40B4-BE49-F238E27FC236}">
                      <a16:creationId xmlns:a16="http://schemas.microsoft.com/office/drawing/2014/main" id="{F0787F06-40F9-37FC-25D8-AC36C94F4D8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52" name="Rectangle 151">
                  <a:extLst>
                    <a:ext uri="{FF2B5EF4-FFF2-40B4-BE49-F238E27FC236}">
                      <a16:creationId xmlns:a16="http://schemas.microsoft.com/office/drawing/2014/main" id="{E90906A8-9462-110A-3FD3-010A9BAD16ED}"/>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grpSp>
        <p:nvGrpSpPr>
          <p:cNvPr id="10" name="Groupe 9">
            <a:extLst>
              <a:ext uri="{FF2B5EF4-FFF2-40B4-BE49-F238E27FC236}">
                <a16:creationId xmlns:a16="http://schemas.microsoft.com/office/drawing/2014/main" id="{7CBDDB73-A796-AA4A-97BE-1114D55C27B7}"/>
              </a:ext>
            </a:extLst>
          </p:cNvPr>
          <p:cNvGrpSpPr/>
          <p:nvPr/>
        </p:nvGrpSpPr>
        <p:grpSpPr>
          <a:xfrm>
            <a:off x="6779016" y="2328246"/>
            <a:ext cx="1162308" cy="2041408"/>
            <a:chOff x="6142362" y="2215312"/>
            <a:chExt cx="1162308" cy="2041408"/>
          </a:xfrm>
        </p:grpSpPr>
        <p:sp>
          <p:nvSpPr>
            <p:cNvPr id="153" name="ZoneTexte 152">
              <a:extLst>
                <a:ext uri="{FF2B5EF4-FFF2-40B4-BE49-F238E27FC236}">
                  <a16:creationId xmlns:a16="http://schemas.microsoft.com/office/drawing/2014/main" id="{34AE8EF3-81DB-31BE-2A13-EBDBF80204B3}"/>
                </a:ext>
              </a:extLst>
            </p:cNvPr>
            <p:cNvSpPr txBox="1"/>
            <p:nvPr/>
          </p:nvSpPr>
          <p:spPr>
            <a:xfrm>
              <a:off x="6142362" y="3056391"/>
              <a:ext cx="1162308" cy="1200329"/>
            </a:xfrm>
            <a:prstGeom prst="rect">
              <a:avLst/>
            </a:prstGeom>
            <a:noFill/>
          </p:spPr>
          <p:txBody>
            <a:bodyPr wrap="square">
              <a:spAutoFit/>
            </a:bodyPr>
            <a:lstStyle/>
            <a:p>
              <a:pPr algn="ctr"/>
              <a:r>
                <a:rPr lang="fr-FR" sz="1200" dirty="0"/>
                <a:t>Comité fixe et représentants  temporaires (pour la décision), sans leader</a:t>
              </a:r>
            </a:p>
          </p:txBody>
        </p:sp>
        <p:grpSp>
          <p:nvGrpSpPr>
            <p:cNvPr id="197" name="Groupe 196">
              <a:extLst>
                <a:ext uri="{FF2B5EF4-FFF2-40B4-BE49-F238E27FC236}">
                  <a16:creationId xmlns:a16="http://schemas.microsoft.com/office/drawing/2014/main" id="{39DFB8A2-87DF-3C40-3DF8-4EDD2FB9676C}"/>
                </a:ext>
              </a:extLst>
            </p:cNvPr>
            <p:cNvGrpSpPr/>
            <p:nvPr/>
          </p:nvGrpSpPr>
          <p:grpSpPr>
            <a:xfrm>
              <a:off x="6290594" y="2215312"/>
              <a:ext cx="905676" cy="832882"/>
              <a:chOff x="6564654" y="2339787"/>
              <a:chExt cx="1084118" cy="996982"/>
            </a:xfrm>
          </p:grpSpPr>
          <p:grpSp>
            <p:nvGrpSpPr>
              <p:cNvPr id="154" name="Groupe 153">
                <a:extLst>
                  <a:ext uri="{FF2B5EF4-FFF2-40B4-BE49-F238E27FC236}">
                    <a16:creationId xmlns:a16="http://schemas.microsoft.com/office/drawing/2014/main" id="{5597CE29-801F-F4D4-7FF8-190089A11972}"/>
                  </a:ext>
                </a:extLst>
              </p:cNvPr>
              <p:cNvGrpSpPr/>
              <p:nvPr/>
            </p:nvGrpSpPr>
            <p:grpSpPr>
              <a:xfrm>
                <a:off x="6852830" y="2879569"/>
                <a:ext cx="457200" cy="457200"/>
                <a:chOff x="3982824" y="1896400"/>
                <a:chExt cx="914400" cy="914400"/>
              </a:xfrm>
            </p:grpSpPr>
            <p:pic>
              <p:nvPicPr>
                <p:cNvPr id="155" name="Graphique 154" descr="Homme conductrice avec un remplissage uni">
                  <a:extLst>
                    <a:ext uri="{FF2B5EF4-FFF2-40B4-BE49-F238E27FC236}">
                      <a16:creationId xmlns:a16="http://schemas.microsoft.com/office/drawing/2014/main" id="{9DF07192-34B5-E01D-088B-7A49BFB2CD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56" name="Rectangle 155">
                  <a:extLst>
                    <a:ext uri="{FF2B5EF4-FFF2-40B4-BE49-F238E27FC236}">
                      <a16:creationId xmlns:a16="http://schemas.microsoft.com/office/drawing/2014/main" id="{3D8792FA-6197-892A-DE76-8AFBDD32E1E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57" name="Groupe 156">
                <a:extLst>
                  <a:ext uri="{FF2B5EF4-FFF2-40B4-BE49-F238E27FC236}">
                    <a16:creationId xmlns:a16="http://schemas.microsoft.com/office/drawing/2014/main" id="{B0D2165E-A82B-2471-32AE-D12DFAF0E195}"/>
                  </a:ext>
                </a:extLst>
              </p:cNvPr>
              <p:cNvGrpSpPr/>
              <p:nvPr/>
            </p:nvGrpSpPr>
            <p:grpSpPr>
              <a:xfrm>
                <a:off x="6564654" y="2650969"/>
                <a:ext cx="457200" cy="457200"/>
                <a:chOff x="3982824" y="1896400"/>
                <a:chExt cx="914400" cy="914400"/>
              </a:xfrm>
            </p:grpSpPr>
            <p:pic>
              <p:nvPicPr>
                <p:cNvPr id="158" name="Graphique 157" descr="Homme conductrice avec un remplissage uni">
                  <a:extLst>
                    <a:ext uri="{FF2B5EF4-FFF2-40B4-BE49-F238E27FC236}">
                      <a16:creationId xmlns:a16="http://schemas.microsoft.com/office/drawing/2014/main" id="{208B9B36-1648-682F-D4C5-95440DCB658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59" name="Rectangle 158">
                  <a:extLst>
                    <a:ext uri="{FF2B5EF4-FFF2-40B4-BE49-F238E27FC236}">
                      <a16:creationId xmlns:a16="http://schemas.microsoft.com/office/drawing/2014/main" id="{22037B60-D7C2-1BFF-A9FD-2E85908A859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60" name="Groupe 159">
                <a:extLst>
                  <a:ext uri="{FF2B5EF4-FFF2-40B4-BE49-F238E27FC236}">
                    <a16:creationId xmlns:a16="http://schemas.microsoft.com/office/drawing/2014/main" id="{CD003871-49AA-79D7-7992-FC23F430C371}"/>
                  </a:ext>
                </a:extLst>
              </p:cNvPr>
              <p:cNvGrpSpPr/>
              <p:nvPr/>
            </p:nvGrpSpPr>
            <p:grpSpPr>
              <a:xfrm>
                <a:off x="6896431" y="2339787"/>
                <a:ext cx="457200" cy="457200"/>
                <a:chOff x="3982824" y="1896400"/>
                <a:chExt cx="914400" cy="914400"/>
              </a:xfrm>
            </p:grpSpPr>
            <p:pic>
              <p:nvPicPr>
                <p:cNvPr id="161" name="Graphique 160" descr="Homme conductrice avec un remplissage uni">
                  <a:extLst>
                    <a:ext uri="{FF2B5EF4-FFF2-40B4-BE49-F238E27FC236}">
                      <a16:creationId xmlns:a16="http://schemas.microsoft.com/office/drawing/2014/main" id="{4EA12A8F-1A0D-6EA3-5635-A45660EA72A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62" name="Rectangle 161">
                  <a:extLst>
                    <a:ext uri="{FF2B5EF4-FFF2-40B4-BE49-F238E27FC236}">
                      <a16:creationId xmlns:a16="http://schemas.microsoft.com/office/drawing/2014/main" id="{241BE24A-6D99-048B-2A16-F10957E0963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63" name="Groupe 162">
                <a:extLst>
                  <a:ext uri="{FF2B5EF4-FFF2-40B4-BE49-F238E27FC236}">
                    <a16:creationId xmlns:a16="http://schemas.microsoft.com/office/drawing/2014/main" id="{2C388B47-8845-0B16-18DA-A22691633036}"/>
                  </a:ext>
                </a:extLst>
              </p:cNvPr>
              <p:cNvGrpSpPr/>
              <p:nvPr/>
            </p:nvGrpSpPr>
            <p:grpSpPr>
              <a:xfrm>
                <a:off x="7191572" y="2664966"/>
                <a:ext cx="457200" cy="457200"/>
                <a:chOff x="3982824" y="1896400"/>
                <a:chExt cx="914400" cy="914400"/>
              </a:xfrm>
            </p:grpSpPr>
            <p:pic>
              <p:nvPicPr>
                <p:cNvPr id="164" name="Graphique 163" descr="Homme conductrice avec un remplissage uni">
                  <a:extLst>
                    <a:ext uri="{FF2B5EF4-FFF2-40B4-BE49-F238E27FC236}">
                      <a16:creationId xmlns:a16="http://schemas.microsoft.com/office/drawing/2014/main" id="{D761C0BA-B720-377F-A1A9-0A98C5F0C78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65" name="Rectangle 164">
                  <a:extLst>
                    <a:ext uri="{FF2B5EF4-FFF2-40B4-BE49-F238E27FC236}">
                      <a16:creationId xmlns:a16="http://schemas.microsoft.com/office/drawing/2014/main" id="{C1D5C55C-5981-650A-255C-0D3555F1B79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sp>
        <p:nvSpPr>
          <p:cNvPr id="180" name="Rectangle 179">
            <a:extLst>
              <a:ext uri="{FF2B5EF4-FFF2-40B4-BE49-F238E27FC236}">
                <a16:creationId xmlns:a16="http://schemas.microsoft.com/office/drawing/2014/main" id="{C045CA31-EDEB-DD7E-9E48-8CF90D239BFC}"/>
              </a:ext>
            </a:extLst>
          </p:cNvPr>
          <p:cNvSpPr/>
          <p:nvPr/>
        </p:nvSpPr>
        <p:spPr>
          <a:xfrm>
            <a:off x="2174235" y="2264690"/>
            <a:ext cx="235527" cy="3219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nvGrpSpPr>
          <p:cNvPr id="7" name="Groupe 6">
            <a:extLst>
              <a:ext uri="{FF2B5EF4-FFF2-40B4-BE49-F238E27FC236}">
                <a16:creationId xmlns:a16="http://schemas.microsoft.com/office/drawing/2014/main" id="{0BECE82D-1867-3F14-5DA5-33E846F02F60}"/>
              </a:ext>
            </a:extLst>
          </p:cNvPr>
          <p:cNvGrpSpPr/>
          <p:nvPr/>
        </p:nvGrpSpPr>
        <p:grpSpPr>
          <a:xfrm>
            <a:off x="2631964" y="2363590"/>
            <a:ext cx="1368269" cy="1999564"/>
            <a:chOff x="2196623" y="2275346"/>
            <a:chExt cx="1368269" cy="1999564"/>
          </a:xfrm>
        </p:grpSpPr>
        <p:sp>
          <p:nvSpPr>
            <p:cNvPr id="181" name="ZoneTexte 180">
              <a:extLst>
                <a:ext uri="{FF2B5EF4-FFF2-40B4-BE49-F238E27FC236}">
                  <a16:creationId xmlns:a16="http://schemas.microsoft.com/office/drawing/2014/main" id="{752C795F-6AC4-7CA3-5127-CB5ECE9E21B3}"/>
                </a:ext>
              </a:extLst>
            </p:cNvPr>
            <p:cNvSpPr txBox="1"/>
            <p:nvPr/>
          </p:nvSpPr>
          <p:spPr>
            <a:xfrm>
              <a:off x="2196623" y="3074581"/>
              <a:ext cx="1368269" cy="1200329"/>
            </a:xfrm>
            <a:prstGeom prst="rect">
              <a:avLst/>
            </a:prstGeom>
            <a:noFill/>
          </p:spPr>
          <p:txBody>
            <a:bodyPr wrap="square">
              <a:spAutoFit/>
            </a:bodyPr>
            <a:lstStyle/>
            <a:p>
              <a:pPr algn="ctr"/>
              <a:r>
                <a:rPr lang="fr-FR" sz="1200" dirty="0"/>
                <a:t>Priorisation par panel de représentants temporaires (pour la décision) et leader</a:t>
              </a:r>
            </a:p>
          </p:txBody>
        </p:sp>
        <p:grpSp>
          <p:nvGrpSpPr>
            <p:cNvPr id="195" name="Groupe 194">
              <a:extLst>
                <a:ext uri="{FF2B5EF4-FFF2-40B4-BE49-F238E27FC236}">
                  <a16:creationId xmlns:a16="http://schemas.microsoft.com/office/drawing/2014/main" id="{75C1C294-1AC2-DCC2-79D9-0A05F6B91208}"/>
                </a:ext>
              </a:extLst>
            </p:cNvPr>
            <p:cNvGrpSpPr/>
            <p:nvPr/>
          </p:nvGrpSpPr>
          <p:grpSpPr>
            <a:xfrm>
              <a:off x="2465645" y="2275346"/>
              <a:ext cx="869466" cy="799583"/>
              <a:chOff x="2391091" y="2512442"/>
              <a:chExt cx="1084118" cy="996982"/>
            </a:xfrm>
          </p:grpSpPr>
          <p:grpSp>
            <p:nvGrpSpPr>
              <p:cNvPr id="182" name="Groupe 181">
                <a:extLst>
                  <a:ext uri="{FF2B5EF4-FFF2-40B4-BE49-F238E27FC236}">
                    <a16:creationId xmlns:a16="http://schemas.microsoft.com/office/drawing/2014/main" id="{E383318F-9C53-BA93-EA53-7E8710859FAA}"/>
                  </a:ext>
                </a:extLst>
              </p:cNvPr>
              <p:cNvGrpSpPr/>
              <p:nvPr/>
            </p:nvGrpSpPr>
            <p:grpSpPr>
              <a:xfrm>
                <a:off x="2679267" y="3052224"/>
                <a:ext cx="457200" cy="457200"/>
                <a:chOff x="3982824" y="1896400"/>
                <a:chExt cx="914400" cy="914400"/>
              </a:xfrm>
            </p:grpSpPr>
            <p:pic>
              <p:nvPicPr>
                <p:cNvPr id="183" name="Graphique 182" descr="Homme conductrice avec un remplissage uni">
                  <a:extLst>
                    <a:ext uri="{FF2B5EF4-FFF2-40B4-BE49-F238E27FC236}">
                      <a16:creationId xmlns:a16="http://schemas.microsoft.com/office/drawing/2014/main" id="{4223A2AF-FD47-49D2-8E61-B93F0C30886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84" name="Rectangle 183">
                  <a:extLst>
                    <a:ext uri="{FF2B5EF4-FFF2-40B4-BE49-F238E27FC236}">
                      <a16:creationId xmlns:a16="http://schemas.microsoft.com/office/drawing/2014/main" id="{2A5075E5-649E-87B8-5806-A58063BBF859}"/>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85" name="Groupe 184">
                <a:extLst>
                  <a:ext uri="{FF2B5EF4-FFF2-40B4-BE49-F238E27FC236}">
                    <a16:creationId xmlns:a16="http://schemas.microsoft.com/office/drawing/2014/main" id="{87D1221E-B850-9B8A-86B2-2103ECE0B142}"/>
                  </a:ext>
                </a:extLst>
              </p:cNvPr>
              <p:cNvGrpSpPr/>
              <p:nvPr/>
            </p:nvGrpSpPr>
            <p:grpSpPr>
              <a:xfrm>
                <a:off x="2391091" y="2823624"/>
                <a:ext cx="457200" cy="457200"/>
                <a:chOff x="3982824" y="1896400"/>
                <a:chExt cx="914400" cy="914400"/>
              </a:xfrm>
            </p:grpSpPr>
            <p:pic>
              <p:nvPicPr>
                <p:cNvPr id="186" name="Graphique 185" descr="Homme conductrice avec un remplissage uni">
                  <a:extLst>
                    <a:ext uri="{FF2B5EF4-FFF2-40B4-BE49-F238E27FC236}">
                      <a16:creationId xmlns:a16="http://schemas.microsoft.com/office/drawing/2014/main" id="{5BBE8459-0B6D-CB6C-6F5D-87689D79B1F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187" name="Rectangle 186">
                  <a:extLst>
                    <a:ext uri="{FF2B5EF4-FFF2-40B4-BE49-F238E27FC236}">
                      <a16:creationId xmlns:a16="http://schemas.microsoft.com/office/drawing/2014/main" id="{E275575F-430C-6D05-A8A2-542C2D45E54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88" name="Groupe 187">
                <a:extLst>
                  <a:ext uri="{FF2B5EF4-FFF2-40B4-BE49-F238E27FC236}">
                    <a16:creationId xmlns:a16="http://schemas.microsoft.com/office/drawing/2014/main" id="{568F8578-E177-84CE-3D3D-A561F86B0FCF}"/>
                  </a:ext>
                </a:extLst>
              </p:cNvPr>
              <p:cNvGrpSpPr/>
              <p:nvPr/>
            </p:nvGrpSpPr>
            <p:grpSpPr>
              <a:xfrm>
                <a:off x="2722868" y="2512442"/>
                <a:ext cx="457200" cy="457200"/>
                <a:chOff x="3982824" y="1896400"/>
                <a:chExt cx="914400" cy="914400"/>
              </a:xfrm>
            </p:grpSpPr>
            <p:pic>
              <p:nvPicPr>
                <p:cNvPr id="189" name="Graphique 188" descr="Homme conductrice avec un remplissage uni">
                  <a:extLst>
                    <a:ext uri="{FF2B5EF4-FFF2-40B4-BE49-F238E27FC236}">
                      <a16:creationId xmlns:a16="http://schemas.microsoft.com/office/drawing/2014/main" id="{B8AF0BC3-7344-9EB0-7C8D-FADCB9341BE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90" name="Rectangle 189">
                  <a:extLst>
                    <a:ext uri="{FF2B5EF4-FFF2-40B4-BE49-F238E27FC236}">
                      <a16:creationId xmlns:a16="http://schemas.microsoft.com/office/drawing/2014/main" id="{CB0B3FB9-52AA-7EA2-3BC5-1E568B9CB1B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91" name="Groupe 190">
                <a:extLst>
                  <a:ext uri="{FF2B5EF4-FFF2-40B4-BE49-F238E27FC236}">
                    <a16:creationId xmlns:a16="http://schemas.microsoft.com/office/drawing/2014/main" id="{A8839DAC-9FB6-5B3E-B397-A02720490D64}"/>
                  </a:ext>
                </a:extLst>
              </p:cNvPr>
              <p:cNvGrpSpPr/>
              <p:nvPr/>
            </p:nvGrpSpPr>
            <p:grpSpPr>
              <a:xfrm>
                <a:off x="3018009" y="2837621"/>
                <a:ext cx="457200" cy="457200"/>
                <a:chOff x="3982824" y="1896400"/>
                <a:chExt cx="914400" cy="914400"/>
              </a:xfrm>
            </p:grpSpPr>
            <p:pic>
              <p:nvPicPr>
                <p:cNvPr id="192" name="Graphique 191" descr="Homme conductrice avec un remplissage uni">
                  <a:extLst>
                    <a:ext uri="{FF2B5EF4-FFF2-40B4-BE49-F238E27FC236}">
                      <a16:creationId xmlns:a16="http://schemas.microsoft.com/office/drawing/2014/main" id="{5FD91FB1-CFBD-6EF8-C89E-BA527286DED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93" name="Rectangle 192">
                  <a:extLst>
                    <a:ext uri="{FF2B5EF4-FFF2-40B4-BE49-F238E27FC236}">
                      <a16:creationId xmlns:a16="http://schemas.microsoft.com/office/drawing/2014/main" id="{5E34B623-A67B-6EEE-9888-883D2D4AF9B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grpSp>
        <p:nvGrpSpPr>
          <p:cNvPr id="6" name="Groupe 5">
            <a:extLst>
              <a:ext uri="{FF2B5EF4-FFF2-40B4-BE49-F238E27FC236}">
                <a16:creationId xmlns:a16="http://schemas.microsoft.com/office/drawing/2014/main" id="{B860F81F-28BA-3212-00DE-70704E6095B1}"/>
              </a:ext>
            </a:extLst>
          </p:cNvPr>
          <p:cNvGrpSpPr/>
          <p:nvPr/>
        </p:nvGrpSpPr>
        <p:grpSpPr>
          <a:xfrm>
            <a:off x="4072748" y="2302488"/>
            <a:ext cx="1162308" cy="2074733"/>
            <a:chOff x="3585405" y="2210059"/>
            <a:chExt cx="1162308" cy="2074733"/>
          </a:xfrm>
        </p:grpSpPr>
        <p:sp>
          <p:nvSpPr>
            <p:cNvPr id="212" name="ZoneTexte 211">
              <a:extLst>
                <a:ext uri="{FF2B5EF4-FFF2-40B4-BE49-F238E27FC236}">
                  <a16:creationId xmlns:a16="http://schemas.microsoft.com/office/drawing/2014/main" id="{132D4635-29CB-1B0A-9CF3-97CD2C43314D}"/>
                </a:ext>
              </a:extLst>
            </p:cNvPr>
            <p:cNvSpPr txBox="1"/>
            <p:nvPr/>
          </p:nvSpPr>
          <p:spPr>
            <a:xfrm>
              <a:off x="3585405" y="3084463"/>
              <a:ext cx="1162308" cy="1200329"/>
            </a:xfrm>
            <a:prstGeom prst="rect">
              <a:avLst/>
            </a:prstGeom>
            <a:noFill/>
          </p:spPr>
          <p:txBody>
            <a:bodyPr wrap="square">
              <a:spAutoFit/>
            </a:bodyPr>
            <a:lstStyle/>
            <a:p>
              <a:pPr algn="ctr"/>
              <a:r>
                <a:rPr lang="fr-FR" sz="1200" dirty="0"/>
                <a:t>Comité fixe et représentants  temporaires (pour la décision), avec leader</a:t>
              </a:r>
            </a:p>
          </p:txBody>
        </p:sp>
        <p:grpSp>
          <p:nvGrpSpPr>
            <p:cNvPr id="213" name="Groupe 212">
              <a:extLst>
                <a:ext uri="{FF2B5EF4-FFF2-40B4-BE49-F238E27FC236}">
                  <a16:creationId xmlns:a16="http://schemas.microsoft.com/office/drawing/2014/main" id="{22F6BCEB-9278-101D-ACCF-D8F1DF40EDE8}"/>
                </a:ext>
              </a:extLst>
            </p:cNvPr>
            <p:cNvGrpSpPr/>
            <p:nvPr/>
          </p:nvGrpSpPr>
          <p:grpSpPr>
            <a:xfrm>
              <a:off x="3744097" y="2210059"/>
              <a:ext cx="905676" cy="832882"/>
              <a:chOff x="6564654" y="2339787"/>
              <a:chExt cx="1084118" cy="996982"/>
            </a:xfrm>
          </p:grpSpPr>
          <p:grpSp>
            <p:nvGrpSpPr>
              <p:cNvPr id="214" name="Groupe 213">
                <a:extLst>
                  <a:ext uri="{FF2B5EF4-FFF2-40B4-BE49-F238E27FC236}">
                    <a16:creationId xmlns:a16="http://schemas.microsoft.com/office/drawing/2014/main" id="{13C44D94-838C-28F7-C2A9-06C42FABA100}"/>
                  </a:ext>
                </a:extLst>
              </p:cNvPr>
              <p:cNvGrpSpPr/>
              <p:nvPr/>
            </p:nvGrpSpPr>
            <p:grpSpPr>
              <a:xfrm>
                <a:off x="6852830" y="2879569"/>
                <a:ext cx="457200" cy="457200"/>
                <a:chOff x="3982824" y="1896400"/>
                <a:chExt cx="914400" cy="914400"/>
              </a:xfrm>
            </p:grpSpPr>
            <p:pic>
              <p:nvPicPr>
                <p:cNvPr id="224" name="Graphique 223" descr="Homme conductrice avec un remplissage uni">
                  <a:extLst>
                    <a:ext uri="{FF2B5EF4-FFF2-40B4-BE49-F238E27FC236}">
                      <a16:creationId xmlns:a16="http://schemas.microsoft.com/office/drawing/2014/main" id="{CE952B51-4AD1-D95D-A0C7-29B7D999D1C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25" name="Rectangle 224">
                  <a:extLst>
                    <a:ext uri="{FF2B5EF4-FFF2-40B4-BE49-F238E27FC236}">
                      <a16:creationId xmlns:a16="http://schemas.microsoft.com/office/drawing/2014/main" id="{DC5D90A4-0155-C327-D600-38D222BFF3EB}"/>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15" name="Groupe 214">
                <a:extLst>
                  <a:ext uri="{FF2B5EF4-FFF2-40B4-BE49-F238E27FC236}">
                    <a16:creationId xmlns:a16="http://schemas.microsoft.com/office/drawing/2014/main" id="{F678518B-D6BD-34B1-5F53-4E5BE38D70C8}"/>
                  </a:ext>
                </a:extLst>
              </p:cNvPr>
              <p:cNvGrpSpPr/>
              <p:nvPr/>
            </p:nvGrpSpPr>
            <p:grpSpPr>
              <a:xfrm>
                <a:off x="6564654" y="2650969"/>
                <a:ext cx="457200" cy="457200"/>
                <a:chOff x="3982824" y="1896400"/>
                <a:chExt cx="914400" cy="914400"/>
              </a:xfrm>
            </p:grpSpPr>
            <p:pic>
              <p:nvPicPr>
                <p:cNvPr id="222" name="Graphique 221" descr="Homme conductrice avec un remplissage uni">
                  <a:extLst>
                    <a:ext uri="{FF2B5EF4-FFF2-40B4-BE49-F238E27FC236}">
                      <a16:creationId xmlns:a16="http://schemas.microsoft.com/office/drawing/2014/main" id="{C8390C62-A09F-2680-2437-49752DDFF19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223" name="Rectangle 222">
                  <a:extLst>
                    <a:ext uri="{FF2B5EF4-FFF2-40B4-BE49-F238E27FC236}">
                      <a16:creationId xmlns:a16="http://schemas.microsoft.com/office/drawing/2014/main" id="{B4230C87-3721-153A-4C38-1116B005116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16" name="Groupe 215">
                <a:extLst>
                  <a:ext uri="{FF2B5EF4-FFF2-40B4-BE49-F238E27FC236}">
                    <a16:creationId xmlns:a16="http://schemas.microsoft.com/office/drawing/2014/main" id="{AF4D5054-8E24-C360-427E-C28108737FEF}"/>
                  </a:ext>
                </a:extLst>
              </p:cNvPr>
              <p:cNvGrpSpPr/>
              <p:nvPr/>
            </p:nvGrpSpPr>
            <p:grpSpPr>
              <a:xfrm>
                <a:off x="6896431" y="2339787"/>
                <a:ext cx="457200" cy="457200"/>
                <a:chOff x="3982824" y="1896400"/>
                <a:chExt cx="914400" cy="914400"/>
              </a:xfrm>
            </p:grpSpPr>
            <p:pic>
              <p:nvPicPr>
                <p:cNvPr id="220" name="Graphique 219" descr="Homme conductrice avec un remplissage uni">
                  <a:extLst>
                    <a:ext uri="{FF2B5EF4-FFF2-40B4-BE49-F238E27FC236}">
                      <a16:creationId xmlns:a16="http://schemas.microsoft.com/office/drawing/2014/main" id="{03ACF000-A459-293C-DCC8-31B096E0C96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21" name="Rectangle 220">
                  <a:extLst>
                    <a:ext uri="{FF2B5EF4-FFF2-40B4-BE49-F238E27FC236}">
                      <a16:creationId xmlns:a16="http://schemas.microsoft.com/office/drawing/2014/main" id="{C082E61C-104D-D017-075D-F1805E08FFE1}"/>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17" name="Groupe 216">
                <a:extLst>
                  <a:ext uri="{FF2B5EF4-FFF2-40B4-BE49-F238E27FC236}">
                    <a16:creationId xmlns:a16="http://schemas.microsoft.com/office/drawing/2014/main" id="{90E6B887-6389-E418-BB90-E5AAE9CDDD2A}"/>
                  </a:ext>
                </a:extLst>
              </p:cNvPr>
              <p:cNvGrpSpPr/>
              <p:nvPr/>
            </p:nvGrpSpPr>
            <p:grpSpPr>
              <a:xfrm>
                <a:off x="7191572" y="2664966"/>
                <a:ext cx="457200" cy="457200"/>
                <a:chOff x="3982824" y="1896400"/>
                <a:chExt cx="914400" cy="914400"/>
              </a:xfrm>
            </p:grpSpPr>
            <p:pic>
              <p:nvPicPr>
                <p:cNvPr id="218" name="Graphique 217" descr="Homme conductrice avec un remplissage uni">
                  <a:extLst>
                    <a:ext uri="{FF2B5EF4-FFF2-40B4-BE49-F238E27FC236}">
                      <a16:creationId xmlns:a16="http://schemas.microsoft.com/office/drawing/2014/main" id="{CFC41439-FAC5-3DEF-8D7B-B49A0E72AEE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19" name="Rectangle 218">
                  <a:extLst>
                    <a:ext uri="{FF2B5EF4-FFF2-40B4-BE49-F238E27FC236}">
                      <a16:creationId xmlns:a16="http://schemas.microsoft.com/office/drawing/2014/main" id="{A15DC6CB-4EEC-5ADA-50F6-791B7685340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sp>
        <p:nvSpPr>
          <p:cNvPr id="179" name="Rectangle 178">
            <a:extLst>
              <a:ext uri="{FF2B5EF4-FFF2-40B4-BE49-F238E27FC236}">
                <a16:creationId xmlns:a16="http://schemas.microsoft.com/office/drawing/2014/main" id="{C26FE883-29C9-6822-AE7F-D55E5C10B515}"/>
              </a:ext>
            </a:extLst>
          </p:cNvPr>
          <p:cNvSpPr/>
          <p:nvPr/>
        </p:nvSpPr>
        <p:spPr>
          <a:xfrm>
            <a:off x="113417" y="4429720"/>
            <a:ext cx="1036948"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Un Community Booster qui  décide du calendrier des contenus</a:t>
            </a:r>
          </a:p>
        </p:txBody>
      </p:sp>
      <p:sp>
        <p:nvSpPr>
          <p:cNvPr id="200" name="Rectangle 199">
            <a:extLst>
              <a:ext uri="{FF2B5EF4-FFF2-40B4-BE49-F238E27FC236}">
                <a16:creationId xmlns:a16="http://schemas.microsoft.com/office/drawing/2014/main" id="{C168D7DC-488E-FA5B-D862-4AC546E476E8}"/>
              </a:ext>
            </a:extLst>
          </p:cNvPr>
          <p:cNvSpPr/>
          <p:nvPr/>
        </p:nvSpPr>
        <p:spPr>
          <a:xfrm>
            <a:off x="1442360" y="4429718"/>
            <a:ext cx="1054414"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Un cercle de leaders de Communauté qui est désigné pour prioriser</a:t>
            </a:r>
          </a:p>
        </p:txBody>
      </p:sp>
      <p:sp>
        <p:nvSpPr>
          <p:cNvPr id="201" name="Rectangle 200">
            <a:extLst>
              <a:ext uri="{FF2B5EF4-FFF2-40B4-BE49-F238E27FC236}">
                <a16:creationId xmlns:a16="http://schemas.microsoft.com/office/drawing/2014/main" id="{2D49284E-A660-AE25-7975-14B3B20687B5}"/>
              </a:ext>
            </a:extLst>
          </p:cNvPr>
          <p:cNvSpPr/>
          <p:nvPr/>
        </p:nvSpPr>
        <p:spPr>
          <a:xfrm>
            <a:off x="2788769" y="4429719"/>
            <a:ext cx="1054414"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Un Community Booster qui fait un panel de membres pour décider sur une règle de Communauté</a:t>
            </a:r>
          </a:p>
        </p:txBody>
      </p:sp>
      <p:sp>
        <p:nvSpPr>
          <p:cNvPr id="202" name="Rectangle 201">
            <a:extLst>
              <a:ext uri="{FF2B5EF4-FFF2-40B4-BE49-F238E27FC236}">
                <a16:creationId xmlns:a16="http://schemas.microsoft.com/office/drawing/2014/main" id="{DEACA220-E8C9-6431-BB6B-270D9ACA0327}"/>
              </a:ext>
            </a:extLst>
          </p:cNvPr>
          <p:cNvSpPr/>
          <p:nvPr/>
        </p:nvSpPr>
        <p:spPr>
          <a:xfrm>
            <a:off x="4135178" y="4429717"/>
            <a:ext cx="1054414"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Un Community Booster, les responsables associés aux sujet et des membres représentant</a:t>
            </a:r>
          </a:p>
        </p:txBody>
      </p:sp>
      <p:sp>
        <p:nvSpPr>
          <p:cNvPr id="203" name="Rectangle 202">
            <a:extLst>
              <a:ext uri="{FF2B5EF4-FFF2-40B4-BE49-F238E27FC236}">
                <a16:creationId xmlns:a16="http://schemas.microsoft.com/office/drawing/2014/main" id="{71869A31-82A4-9A92-914D-6AB9C427AD50}"/>
              </a:ext>
            </a:extLst>
          </p:cNvPr>
          <p:cNvSpPr/>
          <p:nvPr/>
        </p:nvSpPr>
        <p:spPr>
          <a:xfrm>
            <a:off x="5481587" y="4423730"/>
            <a:ext cx="1054414"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 cercle des responsables de Communauté qui fait un atelier entre eux</a:t>
            </a:r>
          </a:p>
        </p:txBody>
      </p:sp>
      <p:sp>
        <p:nvSpPr>
          <p:cNvPr id="204" name="Rectangle 203">
            <a:extLst>
              <a:ext uri="{FF2B5EF4-FFF2-40B4-BE49-F238E27FC236}">
                <a16:creationId xmlns:a16="http://schemas.microsoft.com/office/drawing/2014/main" id="{D2CAA1FE-6F78-8D4B-65BA-867C72867D33}"/>
              </a:ext>
            </a:extLst>
          </p:cNvPr>
          <p:cNvSpPr/>
          <p:nvPr/>
        </p:nvSpPr>
        <p:spPr>
          <a:xfrm>
            <a:off x="6827996" y="4423730"/>
            <a:ext cx="1054414"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Des responsables Communauté et des représentants de différents sous-groupes</a:t>
            </a:r>
          </a:p>
        </p:txBody>
      </p:sp>
      <p:sp>
        <p:nvSpPr>
          <p:cNvPr id="205" name="Rectangle 204">
            <a:extLst>
              <a:ext uri="{FF2B5EF4-FFF2-40B4-BE49-F238E27FC236}">
                <a16:creationId xmlns:a16="http://schemas.microsoft.com/office/drawing/2014/main" id="{C4CA904A-FC35-E45E-EC10-B426E54980B1}"/>
              </a:ext>
            </a:extLst>
          </p:cNvPr>
          <p:cNvSpPr/>
          <p:nvPr/>
        </p:nvSpPr>
        <p:spPr>
          <a:xfrm>
            <a:off x="8174405" y="4423729"/>
            <a:ext cx="1054414"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Un atelier de priorisation avec des représentants de différents sous-groupes</a:t>
            </a:r>
          </a:p>
        </p:txBody>
      </p:sp>
      <p:sp>
        <p:nvSpPr>
          <p:cNvPr id="206" name="Rectangle 205">
            <a:extLst>
              <a:ext uri="{FF2B5EF4-FFF2-40B4-BE49-F238E27FC236}">
                <a16:creationId xmlns:a16="http://schemas.microsoft.com/office/drawing/2014/main" id="{432DE354-D03D-19DB-21A3-7214D392BCD1}"/>
              </a:ext>
            </a:extLst>
          </p:cNvPr>
          <p:cNvSpPr/>
          <p:nvPr/>
        </p:nvSpPr>
        <p:spPr>
          <a:xfrm>
            <a:off x="9520814" y="4396600"/>
            <a:ext cx="1054414"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Un sondage facultatif pour décider de la prochaine activité parmi une liste</a:t>
            </a:r>
          </a:p>
        </p:txBody>
      </p:sp>
      <p:sp>
        <p:nvSpPr>
          <p:cNvPr id="207" name="Rectangle 206">
            <a:extLst>
              <a:ext uri="{FF2B5EF4-FFF2-40B4-BE49-F238E27FC236}">
                <a16:creationId xmlns:a16="http://schemas.microsoft.com/office/drawing/2014/main" id="{AF105012-6D8F-F57B-78EE-931018F319A5}"/>
              </a:ext>
            </a:extLst>
          </p:cNvPr>
          <p:cNvSpPr/>
          <p:nvPr/>
        </p:nvSpPr>
        <p:spPr>
          <a:xfrm>
            <a:off x="10867223" y="4396599"/>
            <a:ext cx="1054414"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Tous les membres qui votent à chaque fois pour la prochaine activité</a:t>
            </a:r>
          </a:p>
        </p:txBody>
      </p:sp>
      <p:grpSp>
        <p:nvGrpSpPr>
          <p:cNvPr id="29" name="Groupe 28">
            <a:extLst>
              <a:ext uri="{FF2B5EF4-FFF2-40B4-BE49-F238E27FC236}">
                <a16:creationId xmlns:a16="http://schemas.microsoft.com/office/drawing/2014/main" id="{0FDBEEE4-B947-403D-3587-9036B846CC2C}"/>
              </a:ext>
            </a:extLst>
          </p:cNvPr>
          <p:cNvGrpSpPr/>
          <p:nvPr/>
        </p:nvGrpSpPr>
        <p:grpSpPr>
          <a:xfrm>
            <a:off x="9441228" y="337611"/>
            <a:ext cx="468598" cy="628148"/>
            <a:chOff x="90185" y="2189111"/>
            <a:chExt cx="937195" cy="1256296"/>
          </a:xfrm>
        </p:grpSpPr>
        <p:sp>
          <p:nvSpPr>
            <p:cNvPr id="30" name="ZoneTexte 29">
              <a:extLst>
                <a:ext uri="{FF2B5EF4-FFF2-40B4-BE49-F238E27FC236}">
                  <a16:creationId xmlns:a16="http://schemas.microsoft.com/office/drawing/2014/main" id="{CC81EE2D-4CF2-3E8C-8107-61D3AE821276}"/>
                </a:ext>
              </a:extLst>
            </p:cNvPr>
            <p:cNvSpPr txBox="1"/>
            <p:nvPr/>
          </p:nvSpPr>
          <p:spPr>
            <a:xfrm>
              <a:off x="90185" y="3045297"/>
              <a:ext cx="899251" cy="400110"/>
            </a:xfrm>
            <a:prstGeom prst="rect">
              <a:avLst/>
            </a:prstGeom>
            <a:noFill/>
          </p:spPr>
          <p:txBody>
            <a:bodyPr wrap="square">
              <a:spAutoFit/>
            </a:bodyPr>
            <a:lstStyle/>
            <a:p>
              <a:pPr algn="ctr"/>
              <a:r>
                <a:rPr lang="fr-FR" sz="700" dirty="0"/>
                <a:t>Leader</a:t>
              </a:r>
            </a:p>
          </p:txBody>
        </p:sp>
        <p:grpSp>
          <p:nvGrpSpPr>
            <p:cNvPr id="42" name="Groupe 41">
              <a:extLst>
                <a:ext uri="{FF2B5EF4-FFF2-40B4-BE49-F238E27FC236}">
                  <a16:creationId xmlns:a16="http://schemas.microsoft.com/office/drawing/2014/main" id="{D11777F8-82FF-ADA2-FB56-29A3ACAB5408}"/>
                </a:ext>
              </a:extLst>
            </p:cNvPr>
            <p:cNvGrpSpPr/>
            <p:nvPr/>
          </p:nvGrpSpPr>
          <p:grpSpPr>
            <a:xfrm>
              <a:off x="112980" y="2189111"/>
              <a:ext cx="914400" cy="914400"/>
              <a:chOff x="168514" y="2615341"/>
              <a:chExt cx="914400" cy="914400"/>
            </a:xfrm>
          </p:grpSpPr>
          <p:pic>
            <p:nvPicPr>
              <p:cNvPr id="43" name="Graphique 42" descr="Homme conductrice avec un remplissage uni">
                <a:extLst>
                  <a:ext uri="{FF2B5EF4-FFF2-40B4-BE49-F238E27FC236}">
                    <a16:creationId xmlns:a16="http://schemas.microsoft.com/office/drawing/2014/main" id="{9BA0C4D9-604F-3335-608F-F86087590BB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514" y="2615341"/>
                <a:ext cx="914400" cy="914400"/>
              </a:xfrm>
              <a:prstGeom prst="rect">
                <a:avLst/>
              </a:prstGeom>
            </p:spPr>
          </p:pic>
          <p:sp>
            <p:nvSpPr>
              <p:cNvPr id="44" name="Rectangle 43">
                <a:extLst>
                  <a:ext uri="{FF2B5EF4-FFF2-40B4-BE49-F238E27FC236}">
                    <a16:creationId xmlns:a16="http://schemas.microsoft.com/office/drawing/2014/main" id="{014D939E-A732-B518-AD26-E64D3FD87EEC}"/>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000" dirty="0"/>
              </a:p>
            </p:txBody>
          </p:sp>
        </p:grpSp>
      </p:grpSp>
      <p:grpSp>
        <p:nvGrpSpPr>
          <p:cNvPr id="86" name="Groupe 85">
            <a:extLst>
              <a:ext uri="{FF2B5EF4-FFF2-40B4-BE49-F238E27FC236}">
                <a16:creationId xmlns:a16="http://schemas.microsoft.com/office/drawing/2014/main" id="{C2527723-0B66-23A6-470B-EE8621932036}"/>
              </a:ext>
            </a:extLst>
          </p:cNvPr>
          <p:cNvGrpSpPr/>
          <p:nvPr/>
        </p:nvGrpSpPr>
        <p:grpSpPr>
          <a:xfrm>
            <a:off x="9985432" y="326044"/>
            <a:ext cx="731689" cy="843591"/>
            <a:chOff x="90183" y="2189111"/>
            <a:chExt cx="1463376" cy="1687182"/>
          </a:xfrm>
        </p:grpSpPr>
        <p:sp>
          <p:nvSpPr>
            <p:cNvPr id="87" name="ZoneTexte 86">
              <a:extLst>
                <a:ext uri="{FF2B5EF4-FFF2-40B4-BE49-F238E27FC236}">
                  <a16:creationId xmlns:a16="http://schemas.microsoft.com/office/drawing/2014/main" id="{6B76CA4F-2EC8-8879-57F9-D94A18E30645}"/>
                </a:ext>
              </a:extLst>
            </p:cNvPr>
            <p:cNvSpPr txBox="1"/>
            <p:nvPr/>
          </p:nvSpPr>
          <p:spPr>
            <a:xfrm>
              <a:off x="90183" y="3045297"/>
              <a:ext cx="1463376" cy="830996"/>
            </a:xfrm>
            <a:prstGeom prst="rect">
              <a:avLst/>
            </a:prstGeom>
            <a:noFill/>
          </p:spPr>
          <p:txBody>
            <a:bodyPr wrap="square">
              <a:spAutoFit/>
            </a:bodyPr>
            <a:lstStyle/>
            <a:p>
              <a:pPr algn="ctr"/>
              <a:r>
                <a:rPr lang="fr-FR" sz="700" dirty="0"/>
                <a:t>Représentant fixe des membres</a:t>
              </a:r>
            </a:p>
          </p:txBody>
        </p:sp>
        <p:grpSp>
          <p:nvGrpSpPr>
            <p:cNvPr id="88" name="Groupe 87">
              <a:extLst>
                <a:ext uri="{FF2B5EF4-FFF2-40B4-BE49-F238E27FC236}">
                  <a16:creationId xmlns:a16="http://schemas.microsoft.com/office/drawing/2014/main" id="{2988396B-ADCE-D6D7-F8B6-8BCB576CF3A6}"/>
                </a:ext>
              </a:extLst>
            </p:cNvPr>
            <p:cNvGrpSpPr/>
            <p:nvPr/>
          </p:nvGrpSpPr>
          <p:grpSpPr>
            <a:xfrm>
              <a:off x="356721" y="2189111"/>
              <a:ext cx="931557" cy="914400"/>
              <a:chOff x="412255" y="2615341"/>
              <a:chExt cx="931557" cy="914400"/>
            </a:xfrm>
          </p:grpSpPr>
          <p:pic>
            <p:nvPicPr>
              <p:cNvPr id="93" name="Graphique 92" descr="Homme conductrice avec un remplissage uni">
                <a:extLst>
                  <a:ext uri="{FF2B5EF4-FFF2-40B4-BE49-F238E27FC236}">
                    <a16:creationId xmlns:a16="http://schemas.microsoft.com/office/drawing/2014/main" id="{70AA80D2-C6DA-8E8F-A1A5-D0E9568E6AF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12255" y="2615341"/>
                <a:ext cx="914400" cy="914400"/>
              </a:xfrm>
              <a:prstGeom prst="rect">
                <a:avLst/>
              </a:prstGeom>
            </p:spPr>
          </p:pic>
          <p:sp>
            <p:nvSpPr>
              <p:cNvPr id="94" name="Rectangle 93">
                <a:extLst>
                  <a:ext uri="{FF2B5EF4-FFF2-40B4-BE49-F238E27FC236}">
                    <a16:creationId xmlns:a16="http://schemas.microsoft.com/office/drawing/2014/main" id="{9E7C795D-104D-94AE-AB55-57B9C624496E}"/>
                  </a:ext>
                </a:extLst>
              </p:cNvPr>
              <p:cNvSpPr/>
              <p:nvPr/>
            </p:nvSpPr>
            <p:spPr>
              <a:xfrm>
                <a:off x="1108285" y="2672523"/>
                <a:ext cx="235527" cy="4833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000" dirty="0"/>
              </a:p>
            </p:txBody>
          </p:sp>
        </p:grpSp>
      </p:grpSp>
      <p:grpSp>
        <p:nvGrpSpPr>
          <p:cNvPr id="95" name="Groupe 94">
            <a:extLst>
              <a:ext uri="{FF2B5EF4-FFF2-40B4-BE49-F238E27FC236}">
                <a16:creationId xmlns:a16="http://schemas.microsoft.com/office/drawing/2014/main" id="{9662000F-BE6C-B2AA-FC3F-FC1B866B9B0B}"/>
              </a:ext>
            </a:extLst>
          </p:cNvPr>
          <p:cNvGrpSpPr/>
          <p:nvPr/>
        </p:nvGrpSpPr>
        <p:grpSpPr>
          <a:xfrm>
            <a:off x="10699291" y="335951"/>
            <a:ext cx="731689" cy="1059035"/>
            <a:chOff x="90183" y="2189111"/>
            <a:chExt cx="1463376" cy="2118070"/>
          </a:xfrm>
        </p:grpSpPr>
        <p:sp>
          <p:nvSpPr>
            <p:cNvPr id="97" name="ZoneTexte 96">
              <a:extLst>
                <a:ext uri="{FF2B5EF4-FFF2-40B4-BE49-F238E27FC236}">
                  <a16:creationId xmlns:a16="http://schemas.microsoft.com/office/drawing/2014/main" id="{C96A21DF-5FAB-A98A-C7C3-7E00D899E057}"/>
                </a:ext>
              </a:extLst>
            </p:cNvPr>
            <p:cNvSpPr txBox="1"/>
            <p:nvPr/>
          </p:nvSpPr>
          <p:spPr>
            <a:xfrm>
              <a:off x="90183" y="3045297"/>
              <a:ext cx="1463376" cy="1261884"/>
            </a:xfrm>
            <a:prstGeom prst="rect">
              <a:avLst/>
            </a:prstGeom>
            <a:noFill/>
          </p:spPr>
          <p:txBody>
            <a:bodyPr wrap="square">
              <a:spAutoFit/>
            </a:bodyPr>
            <a:lstStyle/>
            <a:p>
              <a:pPr algn="ctr"/>
              <a:r>
                <a:rPr lang="fr-FR" sz="700" dirty="0"/>
                <a:t>Représentant temporaire des membres (juste pour la décision)</a:t>
              </a:r>
            </a:p>
          </p:txBody>
        </p:sp>
        <p:grpSp>
          <p:nvGrpSpPr>
            <p:cNvPr id="107" name="Groupe 106">
              <a:extLst>
                <a:ext uri="{FF2B5EF4-FFF2-40B4-BE49-F238E27FC236}">
                  <a16:creationId xmlns:a16="http://schemas.microsoft.com/office/drawing/2014/main" id="{F79695EF-F22C-0866-3884-0EA1F7346248}"/>
                </a:ext>
              </a:extLst>
            </p:cNvPr>
            <p:cNvGrpSpPr/>
            <p:nvPr/>
          </p:nvGrpSpPr>
          <p:grpSpPr>
            <a:xfrm>
              <a:off x="356721" y="2189111"/>
              <a:ext cx="931557" cy="914400"/>
              <a:chOff x="412255" y="2615341"/>
              <a:chExt cx="931557" cy="914400"/>
            </a:xfrm>
          </p:grpSpPr>
          <p:pic>
            <p:nvPicPr>
              <p:cNvPr id="109" name="Graphique 108" descr="Homme conductrice avec un remplissage uni">
                <a:extLst>
                  <a:ext uri="{FF2B5EF4-FFF2-40B4-BE49-F238E27FC236}">
                    <a16:creationId xmlns:a16="http://schemas.microsoft.com/office/drawing/2014/main" id="{97827720-128F-DB20-C545-D53D235C189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12255" y="2615341"/>
                <a:ext cx="914400" cy="914400"/>
              </a:xfrm>
              <a:prstGeom prst="rect">
                <a:avLst/>
              </a:prstGeom>
            </p:spPr>
          </p:pic>
          <p:sp>
            <p:nvSpPr>
              <p:cNvPr id="111" name="Rectangle 110">
                <a:extLst>
                  <a:ext uri="{FF2B5EF4-FFF2-40B4-BE49-F238E27FC236}">
                    <a16:creationId xmlns:a16="http://schemas.microsoft.com/office/drawing/2014/main" id="{6AF71CAE-933C-7609-A0F5-558A1FE96258}"/>
                  </a:ext>
                </a:extLst>
              </p:cNvPr>
              <p:cNvSpPr/>
              <p:nvPr/>
            </p:nvSpPr>
            <p:spPr>
              <a:xfrm>
                <a:off x="1108285" y="2672523"/>
                <a:ext cx="235527" cy="4833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000" dirty="0"/>
              </a:p>
            </p:txBody>
          </p:sp>
        </p:grpSp>
      </p:grpSp>
      <p:grpSp>
        <p:nvGrpSpPr>
          <p:cNvPr id="113" name="Groupe 112">
            <a:extLst>
              <a:ext uri="{FF2B5EF4-FFF2-40B4-BE49-F238E27FC236}">
                <a16:creationId xmlns:a16="http://schemas.microsoft.com/office/drawing/2014/main" id="{144A9547-DAEA-29D0-C7E3-AD8A080C6ABA}"/>
              </a:ext>
            </a:extLst>
          </p:cNvPr>
          <p:cNvGrpSpPr/>
          <p:nvPr/>
        </p:nvGrpSpPr>
        <p:grpSpPr>
          <a:xfrm>
            <a:off x="11393476" y="342729"/>
            <a:ext cx="731689" cy="599557"/>
            <a:chOff x="90183" y="2246293"/>
            <a:chExt cx="1463376" cy="1199114"/>
          </a:xfrm>
        </p:grpSpPr>
        <p:sp>
          <p:nvSpPr>
            <p:cNvPr id="166" name="ZoneTexte 165">
              <a:extLst>
                <a:ext uri="{FF2B5EF4-FFF2-40B4-BE49-F238E27FC236}">
                  <a16:creationId xmlns:a16="http://schemas.microsoft.com/office/drawing/2014/main" id="{A4F504FE-94FD-AEED-EB5A-35981C43165C}"/>
                </a:ext>
              </a:extLst>
            </p:cNvPr>
            <p:cNvSpPr txBox="1"/>
            <p:nvPr/>
          </p:nvSpPr>
          <p:spPr>
            <a:xfrm>
              <a:off x="90183" y="3045297"/>
              <a:ext cx="1463376" cy="400110"/>
            </a:xfrm>
            <a:prstGeom prst="rect">
              <a:avLst/>
            </a:prstGeom>
            <a:noFill/>
          </p:spPr>
          <p:txBody>
            <a:bodyPr wrap="square">
              <a:spAutoFit/>
            </a:bodyPr>
            <a:lstStyle/>
            <a:p>
              <a:pPr algn="ctr"/>
              <a:r>
                <a:rPr lang="fr-FR" sz="700" dirty="0"/>
                <a:t>Membres</a:t>
              </a:r>
            </a:p>
          </p:txBody>
        </p:sp>
        <p:sp>
          <p:nvSpPr>
            <p:cNvPr id="167" name="Rectangle 166">
              <a:extLst>
                <a:ext uri="{FF2B5EF4-FFF2-40B4-BE49-F238E27FC236}">
                  <a16:creationId xmlns:a16="http://schemas.microsoft.com/office/drawing/2014/main" id="{DEE03EE6-00F1-3BF7-2506-04B3E4411DE9}"/>
                </a:ext>
              </a:extLst>
            </p:cNvPr>
            <p:cNvSpPr/>
            <p:nvPr/>
          </p:nvSpPr>
          <p:spPr>
            <a:xfrm>
              <a:off x="1052750" y="2246293"/>
              <a:ext cx="235528" cy="4833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000" dirty="0"/>
            </a:p>
          </p:txBody>
        </p:sp>
      </p:grpSp>
      <p:pic>
        <p:nvPicPr>
          <p:cNvPr id="168" name="Graphique 167" descr="Utilisateur avec un remplissage uni">
            <a:extLst>
              <a:ext uri="{FF2B5EF4-FFF2-40B4-BE49-F238E27FC236}">
                <a16:creationId xmlns:a16="http://schemas.microsoft.com/office/drawing/2014/main" id="{86D0185A-DF52-0EAB-889A-AC72CE51F3D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538325" y="326044"/>
            <a:ext cx="416187" cy="416187"/>
          </a:xfrm>
          <a:prstGeom prst="rect">
            <a:avLst/>
          </a:prstGeom>
        </p:spPr>
      </p:pic>
      <p:cxnSp>
        <p:nvCxnSpPr>
          <p:cNvPr id="169" name="Connecteur droit 168">
            <a:extLst>
              <a:ext uri="{FF2B5EF4-FFF2-40B4-BE49-F238E27FC236}">
                <a16:creationId xmlns:a16="http://schemas.microsoft.com/office/drawing/2014/main" id="{DC9FB911-9AC1-D6FE-E496-944950FBCCC7}"/>
              </a:ext>
            </a:extLst>
          </p:cNvPr>
          <p:cNvCxnSpPr>
            <a:cxnSpLocks/>
          </p:cNvCxnSpPr>
          <p:nvPr/>
        </p:nvCxnSpPr>
        <p:spPr>
          <a:xfrm>
            <a:off x="11551297" y="535890"/>
            <a:ext cx="38267" cy="96066"/>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70" name="Ellipse 169">
            <a:extLst>
              <a:ext uri="{FF2B5EF4-FFF2-40B4-BE49-F238E27FC236}">
                <a16:creationId xmlns:a16="http://schemas.microsoft.com/office/drawing/2014/main" id="{41B94C9A-2D81-9E33-E3D2-D1C2F1D29944}"/>
              </a:ext>
            </a:extLst>
          </p:cNvPr>
          <p:cNvSpPr/>
          <p:nvPr/>
        </p:nvSpPr>
        <p:spPr>
          <a:xfrm>
            <a:off x="11575745" y="626218"/>
            <a:ext cx="50934" cy="50934"/>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1" name="ZoneTexte 170">
            <a:extLst>
              <a:ext uri="{FF2B5EF4-FFF2-40B4-BE49-F238E27FC236}">
                <a16:creationId xmlns:a16="http://schemas.microsoft.com/office/drawing/2014/main" id="{4FCE5DF9-E3E7-F97A-E5F9-621A1438B0C7}"/>
              </a:ext>
            </a:extLst>
          </p:cNvPr>
          <p:cNvSpPr txBox="1"/>
          <p:nvPr/>
        </p:nvSpPr>
        <p:spPr>
          <a:xfrm>
            <a:off x="9902080" y="1398858"/>
            <a:ext cx="1753550" cy="307777"/>
          </a:xfrm>
          <a:prstGeom prst="rect">
            <a:avLst/>
          </a:prstGeom>
          <a:noFill/>
        </p:spPr>
        <p:txBody>
          <a:bodyPr wrap="square">
            <a:spAutoFit/>
          </a:bodyPr>
          <a:lstStyle/>
          <a:p>
            <a:pPr algn="ctr"/>
            <a:r>
              <a:rPr lang="fr-FR" sz="1400" b="1" dirty="0"/>
              <a:t>Légende</a:t>
            </a:r>
          </a:p>
        </p:txBody>
      </p:sp>
    </p:spTree>
    <p:extLst>
      <p:ext uri="{BB962C8B-B14F-4D97-AF65-F5344CB8AC3E}">
        <p14:creationId xmlns:p14="http://schemas.microsoft.com/office/powerpoint/2010/main" val="3819382765"/>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EA3FF6-C16E-0387-513D-A082FB2A304E}"/>
              </a:ext>
            </a:extLst>
          </p:cNvPr>
          <p:cNvSpPr>
            <a:spLocks noGrp="1"/>
          </p:cNvSpPr>
          <p:nvPr>
            <p:ph type="title"/>
          </p:nvPr>
        </p:nvSpPr>
        <p:spPr>
          <a:xfrm>
            <a:off x="838200" y="365126"/>
            <a:ext cx="10515600" cy="733668"/>
          </a:xfrm>
        </p:spPr>
        <p:txBody>
          <a:bodyPr>
            <a:noAutofit/>
          </a:bodyPr>
          <a:lstStyle/>
          <a:p>
            <a:r>
              <a:rPr lang="fr-FR" sz="3600" dirty="0"/>
              <a:t>Niveau de centralisation des décisions </a:t>
            </a:r>
            <a:br>
              <a:rPr lang="fr-FR" sz="3600" dirty="0"/>
            </a:br>
            <a:r>
              <a:rPr lang="fr-FR" sz="3600" dirty="0"/>
              <a:t>Avantages et inconvénients</a:t>
            </a:r>
          </a:p>
        </p:txBody>
      </p:sp>
      <p:sp>
        <p:nvSpPr>
          <p:cNvPr id="4" name="Flèche : double flèche horizontale 3">
            <a:extLst>
              <a:ext uri="{FF2B5EF4-FFF2-40B4-BE49-F238E27FC236}">
                <a16:creationId xmlns:a16="http://schemas.microsoft.com/office/drawing/2014/main" id="{1B8D61C3-81A0-31B4-E2FB-7AC7B41B03D8}"/>
              </a:ext>
            </a:extLst>
          </p:cNvPr>
          <p:cNvSpPr/>
          <p:nvPr/>
        </p:nvSpPr>
        <p:spPr>
          <a:xfrm>
            <a:off x="222191" y="2418426"/>
            <a:ext cx="11881059" cy="3602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sp>
        <p:nvSpPr>
          <p:cNvPr id="29" name="ZoneTexte 28">
            <a:extLst>
              <a:ext uri="{FF2B5EF4-FFF2-40B4-BE49-F238E27FC236}">
                <a16:creationId xmlns:a16="http://schemas.microsoft.com/office/drawing/2014/main" id="{6E484D5F-E755-5BB3-0483-3E324476BC6E}"/>
              </a:ext>
            </a:extLst>
          </p:cNvPr>
          <p:cNvSpPr txBox="1"/>
          <p:nvPr/>
        </p:nvSpPr>
        <p:spPr>
          <a:xfrm>
            <a:off x="10300676" y="2730275"/>
            <a:ext cx="1802574" cy="756059"/>
          </a:xfrm>
          <a:prstGeom prst="rect">
            <a:avLst/>
          </a:prstGeom>
          <a:noFill/>
        </p:spPr>
        <p:txBody>
          <a:bodyPr wrap="square">
            <a:spAutoFit/>
          </a:bodyPr>
          <a:lstStyle/>
          <a:p>
            <a:pPr algn="ctr"/>
            <a:r>
              <a:rPr lang="fr-FR" sz="1400" dirty="0"/>
              <a:t>Responsabilité est décentralisée chez les membres</a:t>
            </a:r>
          </a:p>
        </p:txBody>
      </p:sp>
      <p:sp>
        <p:nvSpPr>
          <p:cNvPr id="30" name="ZoneTexte 29">
            <a:extLst>
              <a:ext uri="{FF2B5EF4-FFF2-40B4-BE49-F238E27FC236}">
                <a16:creationId xmlns:a16="http://schemas.microsoft.com/office/drawing/2014/main" id="{B457523F-1815-3784-6F9E-D66819A71ACA}"/>
              </a:ext>
            </a:extLst>
          </p:cNvPr>
          <p:cNvSpPr txBox="1"/>
          <p:nvPr/>
        </p:nvSpPr>
        <p:spPr>
          <a:xfrm>
            <a:off x="-65955" y="2730275"/>
            <a:ext cx="1802574" cy="756059"/>
          </a:xfrm>
          <a:prstGeom prst="rect">
            <a:avLst/>
          </a:prstGeom>
          <a:noFill/>
        </p:spPr>
        <p:txBody>
          <a:bodyPr wrap="square">
            <a:spAutoFit/>
          </a:bodyPr>
          <a:lstStyle/>
          <a:p>
            <a:pPr algn="ctr"/>
            <a:r>
              <a:rPr lang="fr-FR" sz="1400" dirty="0"/>
              <a:t>Responsabilité est centralisée chez des leaders</a:t>
            </a:r>
          </a:p>
        </p:txBody>
      </p:sp>
      <p:grpSp>
        <p:nvGrpSpPr>
          <p:cNvPr id="5" name="Groupe 4">
            <a:extLst>
              <a:ext uri="{FF2B5EF4-FFF2-40B4-BE49-F238E27FC236}">
                <a16:creationId xmlns:a16="http://schemas.microsoft.com/office/drawing/2014/main" id="{1A9C8CFC-B03E-153E-D108-257487295336}"/>
              </a:ext>
            </a:extLst>
          </p:cNvPr>
          <p:cNvGrpSpPr/>
          <p:nvPr/>
        </p:nvGrpSpPr>
        <p:grpSpPr>
          <a:xfrm>
            <a:off x="168514" y="1378724"/>
            <a:ext cx="914400" cy="914400"/>
            <a:chOff x="168514" y="2615341"/>
            <a:chExt cx="914400" cy="914400"/>
          </a:xfrm>
        </p:grpSpPr>
        <p:pic>
          <p:nvPicPr>
            <p:cNvPr id="11" name="Graphique 10" descr="Homme conductrice avec un remplissage uni">
              <a:extLst>
                <a:ext uri="{FF2B5EF4-FFF2-40B4-BE49-F238E27FC236}">
                  <a16:creationId xmlns:a16="http://schemas.microsoft.com/office/drawing/2014/main" id="{3C86265E-30A5-B4E0-5DB1-FE2A5F0C531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514" y="2615341"/>
              <a:ext cx="914400" cy="914400"/>
            </a:xfrm>
            <a:prstGeom prst="rect">
              <a:avLst/>
            </a:prstGeom>
          </p:spPr>
        </p:pic>
        <p:sp>
          <p:nvSpPr>
            <p:cNvPr id="13" name="Rectangle 12">
              <a:extLst>
                <a:ext uri="{FF2B5EF4-FFF2-40B4-BE49-F238E27FC236}">
                  <a16:creationId xmlns:a16="http://schemas.microsoft.com/office/drawing/2014/main" id="{EAF4B9D8-5F88-E7F2-0782-C954AB384D8C}"/>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96" name="Groupe 195">
            <a:extLst>
              <a:ext uri="{FF2B5EF4-FFF2-40B4-BE49-F238E27FC236}">
                <a16:creationId xmlns:a16="http://schemas.microsoft.com/office/drawing/2014/main" id="{5FA889AE-2306-E385-5A49-082326D1013C}"/>
              </a:ext>
            </a:extLst>
          </p:cNvPr>
          <p:cNvGrpSpPr/>
          <p:nvPr/>
        </p:nvGrpSpPr>
        <p:grpSpPr>
          <a:xfrm>
            <a:off x="5036368" y="1445073"/>
            <a:ext cx="911213" cy="837974"/>
            <a:chOff x="3581321" y="2486328"/>
            <a:chExt cx="1084118" cy="996982"/>
          </a:xfrm>
        </p:grpSpPr>
        <p:grpSp>
          <p:nvGrpSpPr>
            <p:cNvPr id="3" name="Groupe 2">
              <a:extLst>
                <a:ext uri="{FF2B5EF4-FFF2-40B4-BE49-F238E27FC236}">
                  <a16:creationId xmlns:a16="http://schemas.microsoft.com/office/drawing/2014/main" id="{7F912EE1-FF45-10E2-133F-20A7AF858B98}"/>
                </a:ext>
              </a:extLst>
            </p:cNvPr>
            <p:cNvGrpSpPr/>
            <p:nvPr/>
          </p:nvGrpSpPr>
          <p:grpSpPr>
            <a:xfrm>
              <a:off x="3869497" y="3026110"/>
              <a:ext cx="457200" cy="457200"/>
              <a:chOff x="3982824" y="1896400"/>
              <a:chExt cx="914400" cy="914400"/>
            </a:xfrm>
          </p:grpSpPr>
          <p:pic>
            <p:nvPicPr>
              <p:cNvPr id="14" name="Graphique 13" descr="Homme conductrice avec un remplissage uni">
                <a:extLst>
                  <a:ext uri="{FF2B5EF4-FFF2-40B4-BE49-F238E27FC236}">
                    <a16:creationId xmlns:a16="http://schemas.microsoft.com/office/drawing/2014/main" id="{DD08FC1A-8D93-8C48-AB22-58667C2121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5" name="Rectangle 14">
                <a:extLst>
                  <a:ext uri="{FF2B5EF4-FFF2-40B4-BE49-F238E27FC236}">
                    <a16:creationId xmlns:a16="http://schemas.microsoft.com/office/drawing/2014/main" id="{5FF7C9F3-54C9-51C1-5099-0E1D84B26F5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6" name="Groupe 15">
              <a:extLst>
                <a:ext uri="{FF2B5EF4-FFF2-40B4-BE49-F238E27FC236}">
                  <a16:creationId xmlns:a16="http://schemas.microsoft.com/office/drawing/2014/main" id="{F52C4471-DAC8-4656-659D-64D4C9AA2B41}"/>
                </a:ext>
              </a:extLst>
            </p:cNvPr>
            <p:cNvGrpSpPr/>
            <p:nvPr/>
          </p:nvGrpSpPr>
          <p:grpSpPr>
            <a:xfrm>
              <a:off x="3581321" y="2797510"/>
              <a:ext cx="457200" cy="457200"/>
              <a:chOff x="3982824" y="1896400"/>
              <a:chExt cx="914400" cy="914400"/>
            </a:xfrm>
          </p:grpSpPr>
          <p:pic>
            <p:nvPicPr>
              <p:cNvPr id="17" name="Graphique 16" descr="Homme conductrice avec un remplissage uni">
                <a:extLst>
                  <a:ext uri="{FF2B5EF4-FFF2-40B4-BE49-F238E27FC236}">
                    <a16:creationId xmlns:a16="http://schemas.microsoft.com/office/drawing/2014/main" id="{BC52C520-6E3B-C4BD-0B26-5BA624FA239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8" name="Rectangle 17">
                <a:extLst>
                  <a:ext uri="{FF2B5EF4-FFF2-40B4-BE49-F238E27FC236}">
                    <a16:creationId xmlns:a16="http://schemas.microsoft.com/office/drawing/2014/main" id="{68924C14-4722-5C6E-4B09-15CFA01A816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9" name="Groupe 18">
              <a:extLst>
                <a:ext uri="{FF2B5EF4-FFF2-40B4-BE49-F238E27FC236}">
                  <a16:creationId xmlns:a16="http://schemas.microsoft.com/office/drawing/2014/main" id="{703BEBC2-C031-2598-DFF9-50E1B08DC814}"/>
                </a:ext>
              </a:extLst>
            </p:cNvPr>
            <p:cNvGrpSpPr/>
            <p:nvPr/>
          </p:nvGrpSpPr>
          <p:grpSpPr>
            <a:xfrm>
              <a:off x="3913098" y="2486328"/>
              <a:ext cx="457200" cy="457200"/>
              <a:chOff x="3982824" y="1896400"/>
              <a:chExt cx="914400" cy="914400"/>
            </a:xfrm>
          </p:grpSpPr>
          <p:pic>
            <p:nvPicPr>
              <p:cNvPr id="20" name="Graphique 19" descr="Homme conductrice avec un remplissage uni">
                <a:extLst>
                  <a:ext uri="{FF2B5EF4-FFF2-40B4-BE49-F238E27FC236}">
                    <a16:creationId xmlns:a16="http://schemas.microsoft.com/office/drawing/2014/main" id="{36AC1E7B-72E6-5EDF-C949-B1396676FFA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1" name="Rectangle 20">
                <a:extLst>
                  <a:ext uri="{FF2B5EF4-FFF2-40B4-BE49-F238E27FC236}">
                    <a16:creationId xmlns:a16="http://schemas.microsoft.com/office/drawing/2014/main" id="{BE048EAC-0E2B-EFDF-69A3-E10B9DA46454}"/>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2" name="Groupe 21">
              <a:extLst>
                <a:ext uri="{FF2B5EF4-FFF2-40B4-BE49-F238E27FC236}">
                  <a16:creationId xmlns:a16="http://schemas.microsoft.com/office/drawing/2014/main" id="{0FFFF44E-B82C-3D87-F64F-1B58829AF65B}"/>
                </a:ext>
              </a:extLst>
            </p:cNvPr>
            <p:cNvGrpSpPr/>
            <p:nvPr/>
          </p:nvGrpSpPr>
          <p:grpSpPr>
            <a:xfrm>
              <a:off x="4208239" y="2811507"/>
              <a:ext cx="457200" cy="457200"/>
              <a:chOff x="3982824" y="1896400"/>
              <a:chExt cx="914400" cy="914400"/>
            </a:xfrm>
          </p:grpSpPr>
          <p:pic>
            <p:nvPicPr>
              <p:cNvPr id="24" name="Graphique 23" descr="Homme conductrice avec un remplissage uni">
                <a:extLst>
                  <a:ext uri="{FF2B5EF4-FFF2-40B4-BE49-F238E27FC236}">
                    <a16:creationId xmlns:a16="http://schemas.microsoft.com/office/drawing/2014/main" id="{4A749839-CC6C-552F-6982-72C73D80FC1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6" name="Rectangle 25">
                <a:extLst>
                  <a:ext uri="{FF2B5EF4-FFF2-40B4-BE49-F238E27FC236}">
                    <a16:creationId xmlns:a16="http://schemas.microsoft.com/office/drawing/2014/main" id="{EDF07221-05F2-F80D-36B5-3E4C90098C2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80" name="Groupe 79">
            <a:extLst>
              <a:ext uri="{FF2B5EF4-FFF2-40B4-BE49-F238E27FC236}">
                <a16:creationId xmlns:a16="http://schemas.microsoft.com/office/drawing/2014/main" id="{76DF1703-0294-1B21-C7EB-B430AE5FF158}"/>
              </a:ext>
            </a:extLst>
          </p:cNvPr>
          <p:cNvGrpSpPr/>
          <p:nvPr/>
        </p:nvGrpSpPr>
        <p:grpSpPr>
          <a:xfrm>
            <a:off x="10832785" y="1323371"/>
            <a:ext cx="1220507" cy="1027736"/>
            <a:chOff x="8572649" y="1655556"/>
            <a:chExt cx="1409636" cy="1186993"/>
          </a:xfrm>
        </p:grpSpPr>
        <p:grpSp>
          <p:nvGrpSpPr>
            <p:cNvPr id="27" name="Groupe 26">
              <a:extLst>
                <a:ext uri="{FF2B5EF4-FFF2-40B4-BE49-F238E27FC236}">
                  <a16:creationId xmlns:a16="http://schemas.microsoft.com/office/drawing/2014/main" id="{0CDB3920-1489-9D70-C71F-FD85070368F1}"/>
                </a:ext>
              </a:extLst>
            </p:cNvPr>
            <p:cNvGrpSpPr/>
            <p:nvPr/>
          </p:nvGrpSpPr>
          <p:grpSpPr>
            <a:xfrm>
              <a:off x="8572649" y="1655556"/>
              <a:ext cx="1409636" cy="1186993"/>
              <a:chOff x="8982504" y="3274976"/>
              <a:chExt cx="1230670" cy="1036294"/>
            </a:xfrm>
            <a:solidFill>
              <a:srgbClr val="ED7D31"/>
            </a:solidFill>
          </p:grpSpPr>
          <p:pic>
            <p:nvPicPr>
              <p:cNvPr id="31" name="Graphique 30" descr="Utilisateur avec un remplissage uni">
                <a:extLst>
                  <a:ext uri="{FF2B5EF4-FFF2-40B4-BE49-F238E27FC236}">
                    <a16:creationId xmlns:a16="http://schemas.microsoft.com/office/drawing/2014/main" id="{A495576E-F8A8-EFD7-70F0-4B75ED7DD2D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01028" y="3274976"/>
                <a:ext cx="336064" cy="336064"/>
              </a:xfrm>
              <a:prstGeom prst="rect">
                <a:avLst/>
              </a:prstGeom>
            </p:spPr>
          </p:pic>
          <p:pic>
            <p:nvPicPr>
              <p:cNvPr id="32" name="Graphique 31" descr="Utilisateur avec un remplissage uni">
                <a:extLst>
                  <a:ext uri="{FF2B5EF4-FFF2-40B4-BE49-F238E27FC236}">
                    <a16:creationId xmlns:a16="http://schemas.microsoft.com/office/drawing/2014/main" id="{F1553783-5166-0548-73B5-ED0985240F0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54140" y="3512720"/>
                <a:ext cx="336064" cy="336064"/>
              </a:xfrm>
              <a:prstGeom prst="rect">
                <a:avLst/>
              </a:prstGeom>
            </p:spPr>
          </p:pic>
          <p:pic>
            <p:nvPicPr>
              <p:cNvPr id="33" name="Graphique 32" descr="Utilisateur avec un remplissage uni">
                <a:extLst>
                  <a:ext uri="{FF2B5EF4-FFF2-40B4-BE49-F238E27FC236}">
                    <a16:creationId xmlns:a16="http://schemas.microsoft.com/office/drawing/2014/main" id="{0E799515-D3DE-349A-7DD3-83F37B3E364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34" name="Graphique 33" descr="Utilisateur avec un remplissage uni">
                <a:extLst>
                  <a:ext uri="{FF2B5EF4-FFF2-40B4-BE49-F238E27FC236}">
                    <a16:creationId xmlns:a16="http://schemas.microsoft.com/office/drawing/2014/main" id="{DC362F65-C83C-72DA-BC29-9000AF69A2D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35" name="Graphique 34" descr="Utilisateur avec un remplissage uni">
                <a:extLst>
                  <a:ext uri="{FF2B5EF4-FFF2-40B4-BE49-F238E27FC236}">
                    <a16:creationId xmlns:a16="http://schemas.microsoft.com/office/drawing/2014/main" id="{254FCD80-1867-1504-4012-15788F327FC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36" name="Graphique 35" descr="Utilisateur avec un remplissage uni">
                <a:extLst>
                  <a:ext uri="{FF2B5EF4-FFF2-40B4-BE49-F238E27FC236}">
                    <a16:creationId xmlns:a16="http://schemas.microsoft.com/office/drawing/2014/main" id="{CD7CCBB5-5AF8-AA04-7FB1-E67871F293B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37" name="Graphique 36" descr="Utilisateur avec un remplissage uni">
                <a:extLst>
                  <a:ext uri="{FF2B5EF4-FFF2-40B4-BE49-F238E27FC236}">
                    <a16:creationId xmlns:a16="http://schemas.microsoft.com/office/drawing/2014/main" id="{BC57CE7F-5D1E-3C5D-162E-B49AB38F414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38" name="Graphique 37" descr="Utilisateur avec un remplissage uni">
                <a:extLst>
                  <a:ext uri="{FF2B5EF4-FFF2-40B4-BE49-F238E27FC236}">
                    <a16:creationId xmlns:a16="http://schemas.microsoft.com/office/drawing/2014/main" id="{937273B5-60E5-1CC5-BC35-ECA6725B0B5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39" name="Graphique 38" descr="Utilisateur avec un remplissage uni">
                <a:extLst>
                  <a:ext uri="{FF2B5EF4-FFF2-40B4-BE49-F238E27FC236}">
                    <a16:creationId xmlns:a16="http://schemas.microsoft.com/office/drawing/2014/main" id="{2F508100-D97E-AF81-709A-0D2FCFC776B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83417" y="3975206"/>
                <a:ext cx="336064" cy="336064"/>
              </a:xfrm>
              <a:prstGeom prst="rect">
                <a:avLst/>
              </a:prstGeom>
            </p:spPr>
          </p:pic>
          <p:pic>
            <p:nvPicPr>
              <p:cNvPr id="40" name="Graphique 39" descr="Utilisateur avec un remplissage uni">
                <a:extLst>
                  <a:ext uri="{FF2B5EF4-FFF2-40B4-BE49-F238E27FC236}">
                    <a16:creationId xmlns:a16="http://schemas.microsoft.com/office/drawing/2014/main" id="{6A8D51CC-8F77-136C-3462-B48118B77C7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41" name="Graphique 40" descr="Utilisateur avec un remplissage uni">
                <a:extLst>
                  <a:ext uri="{FF2B5EF4-FFF2-40B4-BE49-F238E27FC236}">
                    <a16:creationId xmlns:a16="http://schemas.microsoft.com/office/drawing/2014/main" id="{563F5F2A-DD2B-392F-5AD4-B4B0894CB20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47" name="Groupe 46">
              <a:extLst>
                <a:ext uri="{FF2B5EF4-FFF2-40B4-BE49-F238E27FC236}">
                  <a16:creationId xmlns:a16="http://schemas.microsoft.com/office/drawing/2014/main" id="{68F598FC-8E0B-B58F-646A-438971FE06B7}"/>
                </a:ext>
              </a:extLst>
            </p:cNvPr>
            <p:cNvGrpSpPr/>
            <p:nvPr/>
          </p:nvGrpSpPr>
          <p:grpSpPr>
            <a:xfrm>
              <a:off x="8937492" y="1776645"/>
              <a:ext cx="102144" cy="191413"/>
              <a:chOff x="10178180" y="1782664"/>
              <a:chExt cx="102144" cy="191413"/>
            </a:xfrm>
          </p:grpSpPr>
          <p:cxnSp>
            <p:nvCxnSpPr>
              <p:cNvPr id="48" name="Connecteur droit 47">
                <a:extLst>
                  <a:ext uri="{FF2B5EF4-FFF2-40B4-BE49-F238E27FC236}">
                    <a16:creationId xmlns:a16="http://schemas.microsoft.com/office/drawing/2014/main" id="{728B653A-A12F-3A93-E212-995B779883B6}"/>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49" name="Ellipse 48">
                <a:extLst>
                  <a:ext uri="{FF2B5EF4-FFF2-40B4-BE49-F238E27FC236}">
                    <a16:creationId xmlns:a16="http://schemas.microsoft.com/office/drawing/2014/main" id="{9F1336B0-1883-0BF7-F9EB-8038963340DC}"/>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0" name="Groupe 49">
              <a:extLst>
                <a:ext uri="{FF2B5EF4-FFF2-40B4-BE49-F238E27FC236}">
                  <a16:creationId xmlns:a16="http://schemas.microsoft.com/office/drawing/2014/main" id="{89579BE6-80E6-AF2B-2712-7D1CEBCF4376}"/>
                </a:ext>
              </a:extLst>
            </p:cNvPr>
            <p:cNvGrpSpPr/>
            <p:nvPr/>
          </p:nvGrpSpPr>
          <p:grpSpPr>
            <a:xfrm>
              <a:off x="9268284" y="1944784"/>
              <a:ext cx="102144" cy="191413"/>
              <a:chOff x="10178180" y="1782664"/>
              <a:chExt cx="102144" cy="191413"/>
            </a:xfrm>
          </p:grpSpPr>
          <p:cxnSp>
            <p:nvCxnSpPr>
              <p:cNvPr id="51" name="Connecteur droit 50">
                <a:extLst>
                  <a:ext uri="{FF2B5EF4-FFF2-40B4-BE49-F238E27FC236}">
                    <a16:creationId xmlns:a16="http://schemas.microsoft.com/office/drawing/2014/main" id="{3AEBCE0E-6F9F-F53C-2D04-CA2FE5742D97}"/>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2" name="Ellipse 51">
                <a:extLst>
                  <a:ext uri="{FF2B5EF4-FFF2-40B4-BE49-F238E27FC236}">
                    <a16:creationId xmlns:a16="http://schemas.microsoft.com/office/drawing/2014/main" id="{500F5E42-DD45-7593-8C86-158DA4BF4A86}"/>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 name="Groupe 52">
              <a:extLst>
                <a:ext uri="{FF2B5EF4-FFF2-40B4-BE49-F238E27FC236}">
                  <a16:creationId xmlns:a16="http://schemas.microsoft.com/office/drawing/2014/main" id="{23DA674B-DAA1-BD66-539C-1E29FF7AC0AD}"/>
                </a:ext>
              </a:extLst>
            </p:cNvPr>
            <p:cNvGrpSpPr/>
            <p:nvPr/>
          </p:nvGrpSpPr>
          <p:grpSpPr>
            <a:xfrm>
              <a:off x="9584871" y="1954555"/>
              <a:ext cx="102144" cy="191413"/>
              <a:chOff x="10178180" y="1782664"/>
              <a:chExt cx="102144" cy="191413"/>
            </a:xfrm>
          </p:grpSpPr>
          <p:cxnSp>
            <p:nvCxnSpPr>
              <p:cNvPr id="54" name="Connecteur droit 53">
                <a:extLst>
                  <a:ext uri="{FF2B5EF4-FFF2-40B4-BE49-F238E27FC236}">
                    <a16:creationId xmlns:a16="http://schemas.microsoft.com/office/drawing/2014/main" id="{E5F5C14B-8A3E-B4CE-5037-5FF9CF025C2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5" name="Ellipse 54">
                <a:extLst>
                  <a:ext uri="{FF2B5EF4-FFF2-40B4-BE49-F238E27FC236}">
                    <a16:creationId xmlns:a16="http://schemas.microsoft.com/office/drawing/2014/main" id="{01EA48E3-2A4A-20F8-BEAB-D402501293CA}"/>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 name="Groupe 55">
              <a:extLst>
                <a:ext uri="{FF2B5EF4-FFF2-40B4-BE49-F238E27FC236}">
                  <a16:creationId xmlns:a16="http://schemas.microsoft.com/office/drawing/2014/main" id="{4C726DA9-C6F6-94C3-788F-97DA961118FD}"/>
                </a:ext>
              </a:extLst>
            </p:cNvPr>
            <p:cNvGrpSpPr/>
            <p:nvPr/>
          </p:nvGrpSpPr>
          <p:grpSpPr>
            <a:xfrm>
              <a:off x="9610640" y="2276238"/>
              <a:ext cx="102144" cy="191413"/>
              <a:chOff x="10178180" y="1782664"/>
              <a:chExt cx="102144" cy="191413"/>
            </a:xfrm>
          </p:grpSpPr>
          <p:cxnSp>
            <p:nvCxnSpPr>
              <p:cNvPr id="57" name="Connecteur droit 56">
                <a:extLst>
                  <a:ext uri="{FF2B5EF4-FFF2-40B4-BE49-F238E27FC236}">
                    <a16:creationId xmlns:a16="http://schemas.microsoft.com/office/drawing/2014/main" id="{5F621760-1CD6-2BA8-8584-E302BEEB39C7}"/>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8" name="Ellipse 57">
                <a:extLst>
                  <a:ext uri="{FF2B5EF4-FFF2-40B4-BE49-F238E27FC236}">
                    <a16:creationId xmlns:a16="http://schemas.microsoft.com/office/drawing/2014/main" id="{3B0909A5-2FBF-75F2-0D7B-319C0FDF942F}"/>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a:extLst>
                <a:ext uri="{FF2B5EF4-FFF2-40B4-BE49-F238E27FC236}">
                  <a16:creationId xmlns:a16="http://schemas.microsoft.com/office/drawing/2014/main" id="{C7AA4686-D40E-6D1D-16F8-0CE4C1A43540}"/>
                </a:ext>
              </a:extLst>
            </p:cNvPr>
            <p:cNvGrpSpPr/>
            <p:nvPr/>
          </p:nvGrpSpPr>
          <p:grpSpPr>
            <a:xfrm>
              <a:off x="9334800" y="2253116"/>
              <a:ext cx="102144" cy="191413"/>
              <a:chOff x="10178180" y="1782664"/>
              <a:chExt cx="102144" cy="191413"/>
            </a:xfrm>
          </p:grpSpPr>
          <p:cxnSp>
            <p:nvCxnSpPr>
              <p:cNvPr id="60" name="Connecteur droit 59">
                <a:extLst>
                  <a:ext uri="{FF2B5EF4-FFF2-40B4-BE49-F238E27FC236}">
                    <a16:creationId xmlns:a16="http://schemas.microsoft.com/office/drawing/2014/main" id="{6C2B2761-371E-3435-BE6F-ED4500D787EB}"/>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61" name="Ellipse 60">
                <a:extLst>
                  <a:ext uri="{FF2B5EF4-FFF2-40B4-BE49-F238E27FC236}">
                    <a16:creationId xmlns:a16="http://schemas.microsoft.com/office/drawing/2014/main" id="{0CE5238E-5AD8-8B9A-AEFF-41B8C8FAFCDA}"/>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2" name="Groupe 61">
              <a:extLst>
                <a:ext uri="{FF2B5EF4-FFF2-40B4-BE49-F238E27FC236}">
                  <a16:creationId xmlns:a16="http://schemas.microsoft.com/office/drawing/2014/main" id="{153237C4-6B2D-B058-C768-41B152A3560F}"/>
                </a:ext>
              </a:extLst>
            </p:cNvPr>
            <p:cNvGrpSpPr/>
            <p:nvPr/>
          </p:nvGrpSpPr>
          <p:grpSpPr>
            <a:xfrm>
              <a:off x="8988065" y="2116634"/>
              <a:ext cx="102144" cy="191413"/>
              <a:chOff x="10178180" y="1782664"/>
              <a:chExt cx="102144" cy="191413"/>
            </a:xfrm>
          </p:grpSpPr>
          <p:cxnSp>
            <p:nvCxnSpPr>
              <p:cNvPr id="63" name="Connecteur droit 62">
                <a:extLst>
                  <a:ext uri="{FF2B5EF4-FFF2-40B4-BE49-F238E27FC236}">
                    <a16:creationId xmlns:a16="http://schemas.microsoft.com/office/drawing/2014/main" id="{87A807BF-4CE4-B965-994A-2361C7681F0F}"/>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64" name="Ellipse 63">
                <a:extLst>
                  <a:ext uri="{FF2B5EF4-FFF2-40B4-BE49-F238E27FC236}">
                    <a16:creationId xmlns:a16="http://schemas.microsoft.com/office/drawing/2014/main" id="{C821FC70-C081-A098-44C8-C43A0A27F84C}"/>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5" name="Groupe 64">
              <a:extLst>
                <a:ext uri="{FF2B5EF4-FFF2-40B4-BE49-F238E27FC236}">
                  <a16:creationId xmlns:a16="http://schemas.microsoft.com/office/drawing/2014/main" id="{096046CC-F81D-67CA-B237-49213223E4BD}"/>
                </a:ext>
              </a:extLst>
            </p:cNvPr>
            <p:cNvGrpSpPr/>
            <p:nvPr/>
          </p:nvGrpSpPr>
          <p:grpSpPr>
            <a:xfrm>
              <a:off x="8656873" y="2059330"/>
              <a:ext cx="102144" cy="191413"/>
              <a:chOff x="10178180" y="1782664"/>
              <a:chExt cx="102144" cy="191413"/>
            </a:xfrm>
          </p:grpSpPr>
          <p:cxnSp>
            <p:nvCxnSpPr>
              <p:cNvPr id="66" name="Connecteur droit 65">
                <a:extLst>
                  <a:ext uri="{FF2B5EF4-FFF2-40B4-BE49-F238E27FC236}">
                    <a16:creationId xmlns:a16="http://schemas.microsoft.com/office/drawing/2014/main" id="{D1821798-3C99-7F36-09F7-581C2E5904E3}"/>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67" name="Ellipse 66">
                <a:extLst>
                  <a:ext uri="{FF2B5EF4-FFF2-40B4-BE49-F238E27FC236}">
                    <a16:creationId xmlns:a16="http://schemas.microsoft.com/office/drawing/2014/main" id="{7FEE50A2-6244-3632-B911-F14C3B5C1D3A}"/>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8" name="Groupe 67">
              <a:extLst>
                <a:ext uri="{FF2B5EF4-FFF2-40B4-BE49-F238E27FC236}">
                  <a16:creationId xmlns:a16="http://schemas.microsoft.com/office/drawing/2014/main" id="{98C1BB5B-65BE-7525-93B4-185DCAD9FF2A}"/>
                </a:ext>
              </a:extLst>
            </p:cNvPr>
            <p:cNvGrpSpPr/>
            <p:nvPr/>
          </p:nvGrpSpPr>
          <p:grpSpPr>
            <a:xfrm>
              <a:off x="8574420" y="2433143"/>
              <a:ext cx="102144" cy="191413"/>
              <a:chOff x="10178180" y="1782664"/>
              <a:chExt cx="102144" cy="191413"/>
            </a:xfrm>
          </p:grpSpPr>
          <p:cxnSp>
            <p:nvCxnSpPr>
              <p:cNvPr id="69" name="Connecteur droit 68">
                <a:extLst>
                  <a:ext uri="{FF2B5EF4-FFF2-40B4-BE49-F238E27FC236}">
                    <a16:creationId xmlns:a16="http://schemas.microsoft.com/office/drawing/2014/main" id="{4CBA8EDE-769D-BE57-D362-BD7961914504}"/>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0" name="Ellipse 69">
                <a:extLst>
                  <a:ext uri="{FF2B5EF4-FFF2-40B4-BE49-F238E27FC236}">
                    <a16:creationId xmlns:a16="http://schemas.microsoft.com/office/drawing/2014/main" id="{DA425053-94E9-FA97-154B-789CDB6D714B}"/>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1" name="Groupe 70">
              <a:extLst>
                <a:ext uri="{FF2B5EF4-FFF2-40B4-BE49-F238E27FC236}">
                  <a16:creationId xmlns:a16="http://schemas.microsoft.com/office/drawing/2014/main" id="{1747764C-FED7-005A-DC65-E463A6BCBFB2}"/>
                </a:ext>
              </a:extLst>
            </p:cNvPr>
            <p:cNvGrpSpPr/>
            <p:nvPr/>
          </p:nvGrpSpPr>
          <p:grpSpPr>
            <a:xfrm>
              <a:off x="8888568" y="2441622"/>
              <a:ext cx="102144" cy="191413"/>
              <a:chOff x="10178180" y="1782664"/>
              <a:chExt cx="102144" cy="191413"/>
            </a:xfrm>
          </p:grpSpPr>
          <p:cxnSp>
            <p:nvCxnSpPr>
              <p:cNvPr id="72" name="Connecteur droit 71">
                <a:extLst>
                  <a:ext uri="{FF2B5EF4-FFF2-40B4-BE49-F238E27FC236}">
                    <a16:creationId xmlns:a16="http://schemas.microsoft.com/office/drawing/2014/main" id="{C0310995-BC66-4DD3-3B21-F81EE1CF5492}"/>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3" name="Ellipse 72">
                <a:extLst>
                  <a:ext uri="{FF2B5EF4-FFF2-40B4-BE49-F238E27FC236}">
                    <a16:creationId xmlns:a16="http://schemas.microsoft.com/office/drawing/2014/main" id="{82F5E7E7-BE45-4381-D9D9-B99FFED8DCE1}"/>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4" name="Groupe 73">
              <a:extLst>
                <a:ext uri="{FF2B5EF4-FFF2-40B4-BE49-F238E27FC236}">
                  <a16:creationId xmlns:a16="http://schemas.microsoft.com/office/drawing/2014/main" id="{640C4F54-82A3-4F5A-498D-05DBCA042FA9}"/>
                </a:ext>
              </a:extLst>
            </p:cNvPr>
            <p:cNvGrpSpPr/>
            <p:nvPr/>
          </p:nvGrpSpPr>
          <p:grpSpPr>
            <a:xfrm>
              <a:off x="9195077" y="2553446"/>
              <a:ext cx="102144" cy="191413"/>
              <a:chOff x="10178180" y="1782664"/>
              <a:chExt cx="102144" cy="191413"/>
            </a:xfrm>
          </p:grpSpPr>
          <p:cxnSp>
            <p:nvCxnSpPr>
              <p:cNvPr id="75" name="Connecteur droit 74">
                <a:extLst>
                  <a:ext uri="{FF2B5EF4-FFF2-40B4-BE49-F238E27FC236}">
                    <a16:creationId xmlns:a16="http://schemas.microsoft.com/office/drawing/2014/main" id="{4D27A2EB-C5A6-383B-EC0E-D015C6F0465C}"/>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6" name="Ellipse 75">
                <a:extLst>
                  <a:ext uri="{FF2B5EF4-FFF2-40B4-BE49-F238E27FC236}">
                    <a16:creationId xmlns:a16="http://schemas.microsoft.com/office/drawing/2014/main" id="{D10DF949-CD88-BAB3-C6AE-9E9318C35C86}"/>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7" name="Groupe 76">
              <a:extLst>
                <a:ext uri="{FF2B5EF4-FFF2-40B4-BE49-F238E27FC236}">
                  <a16:creationId xmlns:a16="http://schemas.microsoft.com/office/drawing/2014/main" id="{82E195D3-0297-55BC-AC7A-64A01850B45C}"/>
                </a:ext>
              </a:extLst>
            </p:cNvPr>
            <p:cNvGrpSpPr/>
            <p:nvPr/>
          </p:nvGrpSpPr>
          <p:grpSpPr>
            <a:xfrm>
              <a:off x="9490032" y="2590463"/>
              <a:ext cx="102144" cy="191413"/>
              <a:chOff x="10178180" y="1782664"/>
              <a:chExt cx="102144" cy="191413"/>
            </a:xfrm>
          </p:grpSpPr>
          <p:cxnSp>
            <p:nvCxnSpPr>
              <p:cNvPr id="78" name="Connecteur droit 77">
                <a:extLst>
                  <a:ext uri="{FF2B5EF4-FFF2-40B4-BE49-F238E27FC236}">
                    <a16:creationId xmlns:a16="http://schemas.microsoft.com/office/drawing/2014/main" id="{23858187-F0FB-7E90-56D6-90FECDFC1352}"/>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9" name="Ellipse 78">
                <a:extLst>
                  <a:ext uri="{FF2B5EF4-FFF2-40B4-BE49-F238E27FC236}">
                    <a16:creationId xmlns:a16="http://schemas.microsoft.com/office/drawing/2014/main" id="{C0B9B745-FE73-95D3-9222-44A4C266DC6E}"/>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82" name="Groupe 81">
            <a:extLst>
              <a:ext uri="{FF2B5EF4-FFF2-40B4-BE49-F238E27FC236}">
                <a16:creationId xmlns:a16="http://schemas.microsoft.com/office/drawing/2014/main" id="{FF91FE13-1DB5-78D3-C518-919E45F2398B}"/>
              </a:ext>
            </a:extLst>
          </p:cNvPr>
          <p:cNvGrpSpPr/>
          <p:nvPr/>
        </p:nvGrpSpPr>
        <p:grpSpPr>
          <a:xfrm>
            <a:off x="9237422" y="1285203"/>
            <a:ext cx="1230159" cy="1035863"/>
            <a:chOff x="8572649" y="1655556"/>
            <a:chExt cx="1409636" cy="1186993"/>
          </a:xfrm>
        </p:grpSpPr>
        <p:grpSp>
          <p:nvGrpSpPr>
            <p:cNvPr id="83" name="Groupe 82">
              <a:extLst>
                <a:ext uri="{FF2B5EF4-FFF2-40B4-BE49-F238E27FC236}">
                  <a16:creationId xmlns:a16="http://schemas.microsoft.com/office/drawing/2014/main" id="{47093F6D-B03C-BD8F-1761-52646778CEE9}"/>
                </a:ext>
              </a:extLst>
            </p:cNvPr>
            <p:cNvGrpSpPr/>
            <p:nvPr/>
          </p:nvGrpSpPr>
          <p:grpSpPr>
            <a:xfrm>
              <a:off x="8572649" y="1655556"/>
              <a:ext cx="1409636" cy="1186993"/>
              <a:chOff x="8982504" y="3274976"/>
              <a:chExt cx="1230670" cy="1036294"/>
            </a:xfrm>
            <a:solidFill>
              <a:srgbClr val="ED7D31"/>
            </a:solidFill>
          </p:grpSpPr>
          <p:pic>
            <p:nvPicPr>
              <p:cNvPr id="117" name="Graphique 116" descr="Utilisateur avec un remplissage uni">
                <a:extLst>
                  <a:ext uri="{FF2B5EF4-FFF2-40B4-BE49-F238E27FC236}">
                    <a16:creationId xmlns:a16="http://schemas.microsoft.com/office/drawing/2014/main" id="{D3DB387E-03A9-52E8-654F-C8791AA3290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01028" y="3274976"/>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E9D16F13-D0FF-B4F9-8F3E-C79D923733F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54140" y="3512720"/>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313A5814-8660-83F5-3F92-BB6BE477636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120" name="Graphique 119" descr="Utilisateur avec un remplissage uni">
                <a:extLst>
                  <a:ext uri="{FF2B5EF4-FFF2-40B4-BE49-F238E27FC236}">
                    <a16:creationId xmlns:a16="http://schemas.microsoft.com/office/drawing/2014/main" id="{67EDA0F9-67D3-3A12-7402-5D6ACFEB797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121" name="Graphique 120" descr="Utilisateur avec un remplissage uni">
                <a:extLst>
                  <a:ext uri="{FF2B5EF4-FFF2-40B4-BE49-F238E27FC236}">
                    <a16:creationId xmlns:a16="http://schemas.microsoft.com/office/drawing/2014/main" id="{ED6EA79E-96B8-B109-9BDE-5C2449EA8F7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F13145A4-4363-AEBA-3470-FAA4478F50D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71F47DB5-C616-E79F-05AB-16D0291B2EE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B3B126FE-D29B-A1FB-8BA9-FFB63979A0E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125" name="Graphique 124" descr="Utilisateur avec un remplissage uni">
                <a:extLst>
                  <a:ext uri="{FF2B5EF4-FFF2-40B4-BE49-F238E27FC236}">
                    <a16:creationId xmlns:a16="http://schemas.microsoft.com/office/drawing/2014/main" id="{7422B299-2C81-9F2B-829F-F766FA7A072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83417" y="3975206"/>
                <a:ext cx="336064" cy="336064"/>
              </a:xfrm>
              <a:prstGeom prst="rect">
                <a:avLst/>
              </a:prstGeom>
            </p:spPr>
          </p:pic>
          <p:pic>
            <p:nvPicPr>
              <p:cNvPr id="126" name="Graphique 125" descr="Utilisateur avec un remplissage uni">
                <a:extLst>
                  <a:ext uri="{FF2B5EF4-FFF2-40B4-BE49-F238E27FC236}">
                    <a16:creationId xmlns:a16="http://schemas.microsoft.com/office/drawing/2014/main" id="{4072608D-2563-1520-94BD-C3CA470C283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127" name="Graphique 126" descr="Utilisateur avec un remplissage uni">
                <a:extLst>
                  <a:ext uri="{FF2B5EF4-FFF2-40B4-BE49-F238E27FC236}">
                    <a16:creationId xmlns:a16="http://schemas.microsoft.com/office/drawing/2014/main" id="{15E5063B-32D6-A49B-9CD1-F583A09C32F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84" name="Groupe 83">
              <a:extLst>
                <a:ext uri="{FF2B5EF4-FFF2-40B4-BE49-F238E27FC236}">
                  <a16:creationId xmlns:a16="http://schemas.microsoft.com/office/drawing/2014/main" id="{EA314F17-BBA7-0FF5-61D3-AE49BEDDE0EB}"/>
                </a:ext>
              </a:extLst>
            </p:cNvPr>
            <p:cNvGrpSpPr/>
            <p:nvPr/>
          </p:nvGrpSpPr>
          <p:grpSpPr>
            <a:xfrm>
              <a:off x="8937492" y="1776645"/>
              <a:ext cx="102144" cy="191413"/>
              <a:chOff x="10178180" y="1782664"/>
              <a:chExt cx="102144" cy="191413"/>
            </a:xfrm>
          </p:grpSpPr>
          <p:cxnSp>
            <p:nvCxnSpPr>
              <p:cNvPr id="115" name="Connecteur droit 114">
                <a:extLst>
                  <a:ext uri="{FF2B5EF4-FFF2-40B4-BE49-F238E27FC236}">
                    <a16:creationId xmlns:a16="http://schemas.microsoft.com/office/drawing/2014/main" id="{19E93377-4AEA-E0F7-A230-F1060412B0F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16" name="Ellipse 115">
                <a:extLst>
                  <a:ext uri="{FF2B5EF4-FFF2-40B4-BE49-F238E27FC236}">
                    <a16:creationId xmlns:a16="http://schemas.microsoft.com/office/drawing/2014/main" id="{762A3EAA-9171-BDD0-4DD9-31D8F242B4CE}"/>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14" name="Ellipse 113">
              <a:extLst>
                <a:ext uri="{FF2B5EF4-FFF2-40B4-BE49-F238E27FC236}">
                  <a16:creationId xmlns:a16="http://schemas.microsoft.com/office/drawing/2014/main" id="{8D01CD88-8FBD-09AE-BD84-8A8D25636F6C}"/>
                </a:ext>
              </a:extLst>
            </p:cNvPr>
            <p:cNvSpPr/>
            <p:nvPr/>
          </p:nvSpPr>
          <p:spPr>
            <a:xfrm>
              <a:off x="9301412" y="206718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2" name="Ellipse 111">
              <a:extLst>
                <a:ext uri="{FF2B5EF4-FFF2-40B4-BE49-F238E27FC236}">
                  <a16:creationId xmlns:a16="http://schemas.microsoft.com/office/drawing/2014/main" id="{AEC09D5A-3790-BA8B-C4E7-57ACAA47F04F}"/>
                </a:ext>
              </a:extLst>
            </p:cNvPr>
            <p:cNvSpPr/>
            <p:nvPr/>
          </p:nvSpPr>
          <p:spPr>
            <a:xfrm>
              <a:off x="9617999" y="2076952"/>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Ellipse 109">
              <a:extLst>
                <a:ext uri="{FF2B5EF4-FFF2-40B4-BE49-F238E27FC236}">
                  <a16:creationId xmlns:a16="http://schemas.microsoft.com/office/drawing/2014/main" id="{25930AA4-013B-585A-1FE0-A473950F70C7}"/>
                </a:ext>
              </a:extLst>
            </p:cNvPr>
            <p:cNvSpPr/>
            <p:nvPr/>
          </p:nvSpPr>
          <p:spPr>
            <a:xfrm>
              <a:off x="9643768" y="2398635"/>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Ellipse 107">
              <a:extLst>
                <a:ext uri="{FF2B5EF4-FFF2-40B4-BE49-F238E27FC236}">
                  <a16:creationId xmlns:a16="http://schemas.microsoft.com/office/drawing/2014/main" id="{8E4DC1D0-41E3-BCBF-A0B4-AA271FB08EC2}"/>
                </a:ext>
              </a:extLst>
            </p:cNvPr>
            <p:cNvSpPr/>
            <p:nvPr/>
          </p:nvSpPr>
          <p:spPr>
            <a:xfrm>
              <a:off x="9367928" y="237551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 name="Groupe 88">
              <a:extLst>
                <a:ext uri="{FF2B5EF4-FFF2-40B4-BE49-F238E27FC236}">
                  <a16:creationId xmlns:a16="http://schemas.microsoft.com/office/drawing/2014/main" id="{7F50F667-D994-9B38-D440-DE8EDA4D2785}"/>
                </a:ext>
              </a:extLst>
            </p:cNvPr>
            <p:cNvGrpSpPr/>
            <p:nvPr/>
          </p:nvGrpSpPr>
          <p:grpSpPr>
            <a:xfrm>
              <a:off x="8988065" y="2116634"/>
              <a:ext cx="102144" cy="191413"/>
              <a:chOff x="10178180" y="1782664"/>
              <a:chExt cx="102144" cy="191413"/>
            </a:xfrm>
          </p:grpSpPr>
          <p:cxnSp>
            <p:nvCxnSpPr>
              <p:cNvPr id="105" name="Connecteur droit 104">
                <a:extLst>
                  <a:ext uri="{FF2B5EF4-FFF2-40B4-BE49-F238E27FC236}">
                    <a16:creationId xmlns:a16="http://schemas.microsoft.com/office/drawing/2014/main" id="{7AA45FE3-3269-1ACA-7D49-9C79B17CA6E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6" name="Ellipse 105">
                <a:extLst>
                  <a:ext uri="{FF2B5EF4-FFF2-40B4-BE49-F238E27FC236}">
                    <a16:creationId xmlns:a16="http://schemas.microsoft.com/office/drawing/2014/main" id="{E44ED6E9-19BA-EFBC-7C30-164514525631}"/>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0" name="Groupe 89">
              <a:extLst>
                <a:ext uri="{FF2B5EF4-FFF2-40B4-BE49-F238E27FC236}">
                  <a16:creationId xmlns:a16="http://schemas.microsoft.com/office/drawing/2014/main" id="{2D54A68B-2E12-DBC6-C62C-2CD6FD29C843}"/>
                </a:ext>
              </a:extLst>
            </p:cNvPr>
            <p:cNvGrpSpPr/>
            <p:nvPr/>
          </p:nvGrpSpPr>
          <p:grpSpPr>
            <a:xfrm>
              <a:off x="8656873" y="2059330"/>
              <a:ext cx="102144" cy="191413"/>
              <a:chOff x="10178180" y="1782664"/>
              <a:chExt cx="102144" cy="191413"/>
            </a:xfrm>
          </p:grpSpPr>
          <p:cxnSp>
            <p:nvCxnSpPr>
              <p:cNvPr id="103" name="Connecteur droit 102">
                <a:extLst>
                  <a:ext uri="{FF2B5EF4-FFF2-40B4-BE49-F238E27FC236}">
                    <a16:creationId xmlns:a16="http://schemas.microsoft.com/office/drawing/2014/main" id="{76586263-BAA7-B7A2-3B73-F81F6C2B0FD6}"/>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4" name="Ellipse 103">
                <a:extLst>
                  <a:ext uri="{FF2B5EF4-FFF2-40B4-BE49-F238E27FC236}">
                    <a16:creationId xmlns:a16="http://schemas.microsoft.com/office/drawing/2014/main" id="{99CC86FC-5A74-43A4-A44C-7721F5FB51B9}"/>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1" name="Groupe 90">
              <a:extLst>
                <a:ext uri="{FF2B5EF4-FFF2-40B4-BE49-F238E27FC236}">
                  <a16:creationId xmlns:a16="http://schemas.microsoft.com/office/drawing/2014/main" id="{E94AF230-0075-1C54-BA52-DF8C81DAD8DF}"/>
                </a:ext>
              </a:extLst>
            </p:cNvPr>
            <p:cNvGrpSpPr/>
            <p:nvPr/>
          </p:nvGrpSpPr>
          <p:grpSpPr>
            <a:xfrm>
              <a:off x="8574420" y="2433143"/>
              <a:ext cx="102144" cy="191413"/>
              <a:chOff x="10178180" y="1782664"/>
              <a:chExt cx="102144" cy="191413"/>
            </a:xfrm>
          </p:grpSpPr>
          <p:cxnSp>
            <p:nvCxnSpPr>
              <p:cNvPr id="101" name="Connecteur droit 100">
                <a:extLst>
                  <a:ext uri="{FF2B5EF4-FFF2-40B4-BE49-F238E27FC236}">
                    <a16:creationId xmlns:a16="http://schemas.microsoft.com/office/drawing/2014/main" id="{BCFD34C1-8C34-9CBD-D91C-5C23938D780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2" name="Ellipse 101">
                <a:extLst>
                  <a:ext uri="{FF2B5EF4-FFF2-40B4-BE49-F238E27FC236}">
                    <a16:creationId xmlns:a16="http://schemas.microsoft.com/office/drawing/2014/main" id="{DD0A2262-5003-73F7-726D-8C9AF827917F}"/>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2" name="Groupe 91">
              <a:extLst>
                <a:ext uri="{FF2B5EF4-FFF2-40B4-BE49-F238E27FC236}">
                  <a16:creationId xmlns:a16="http://schemas.microsoft.com/office/drawing/2014/main" id="{C3197A3F-BBA2-C485-1DBF-7A9B8CA4793C}"/>
                </a:ext>
              </a:extLst>
            </p:cNvPr>
            <p:cNvGrpSpPr/>
            <p:nvPr/>
          </p:nvGrpSpPr>
          <p:grpSpPr>
            <a:xfrm>
              <a:off x="8888568" y="2441622"/>
              <a:ext cx="102144" cy="191413"/>
              <a:chOff x="10178180" y="1782664"/>
              <a:chExt cx="102144" cy="191413"/>
            </a:xfrm>
          </p:grpSpPr>
          <p:cxnSp>
            <p:nvCxnSpPr>
              <p:cNvPr id="99" name="Connecteur droit 98">
                <a:extLst>
                  <a:ext uri="{FF2B5EF4-FFF2-40B4-BE49-F238E27FC236}">
                    <a16:creationId xmlns:a16="http://schemas.microsoft.com/office/drawing/2014/main" id="{31D3B58A-A51E-0DB5-CD45-321CE33F3A7C}"/>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0" name="Ellipse 99">
                <a:extLst>
                  <a:ext uri="{FF2B5EF4-FFF2-40B4-BE49-F238E27FC236}">
                    <a16:creationId xmlns:a16="http://schemas.microsoft.com/office/drawing/2014/main" id="{51714F0A-7BA6-8008-3213-D89CEF1015A4}"/>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98" name="Ellipse 97">
              <a:extLst>
                <a:ext uri="{FF2B5EF4-FFF2-40B4-BE49-F238E27FC236}">
                  <a16:creationId xmlns:a16="http://schemas.microsoft.com/office/drawing/2014/main" id="{AAB996E5-8B2A-C897-6434-BD55C330FA14}"/>
                </a:ext>
              </a:extLst>
            </p:cNvPr>
            <p:cNvSpPr/>
            <p:nvPr/>
          </p:nvSpPr>
          <p:spPr>
            <a:xfrm>
              <a:off x="9228205" y="267584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6" name="Ellipse 95">
              <a:extLst>
                <a:ext uri="{FF2B5EF4-FFF2-40B4-BE49-F238E27FC236}">
                  <a16:creationId xmlns:a16="http://schemas.microsoft.com/office/drawing/2014/main" id="{B05F10E9-BB90-5471-794F-C660C6B11124}"/>
                </a:ext>
              </a:extLst>
            </p:cNvPr>
            <p:cNvSpPr/>
            <p:nvPr/>
          </p:nvSpPr>
          <p:spPr>
            <a:xfrm>
              <a:off x="9523160" y="2712860"/>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4" name="Groupe 193">
            <a:extLst>
              <a:ext uri="{FF2B5EF4-FFF2-40B4-BE49-F238E27FC236}">
                <a16:creationId xmlns:a16="http://schemas.microsoft.com/office/drawing/2014/main" id="{A8866C6A-2303-00EA-E0E6-3AA3836CE4DF}"/>
              </a:ext>
            </a:extLst>
          </p:cNvPr>
          <p:cNvGrpSpPr/>
          <p:nvPr/>
        </p:nvGrpSpPr>
        <p:grpSpPr>
          <a:xfrm>
            <a:off x="1218478" y="1426557"/>
            <a:ext cx="891895" cy="820209"/>
            <a:chOff x="1281387" y="2495253"/>
            <a:chExt cx="1084118" cy="996982"/>
          </a:xfrm>
        </p:grpSpPr>
        <p:grpSp>
          <p:nvGrpSpPr>
            <p:cNvPr id="129" name="Groupe 128">
              <a:extLst>
                <a:ext uri="{FF2B5EF4-FFF2-40B4-BE49-F238E27FC236}">
                  <a16:creationId xmlns:a16="http://schemas.microsoft.com/office/drawing/2014/main" id="{CD87458D-C676-86AE-2A00-DF844A0832E1}"/>
                </a:ext>
              </a:extLst>
            </p:cNvPr>
            <p:cNvGrpSpPr/>
            <p:nvPr/>
          </p:nvGrpSpPr>
          <p:grpSpPr>
            <a:xfrm>
              <a:off x="1569563" y="3035035"/>
              <a:ext cx="457200" cy="457200"/>
              <a:chOff x="3982824" y="1896400"/>
              <a:chExt cx="914400" cy="914400"/>
            </a:xfrm>
          </p:grpSpPr>
          <p:pic>
            <p:nvPicPr>
              <p:cNvPr id="130" name="Graphique 129" descr="Homme conductrice avec un remplissage uni">
                <a:extLst>
                  <a:ext uri="{FF2B5EF4-FFF2-40B4-BE49-F238E27FC236}">
                    <a16:creationId xmlns:a16="http://schemas.microsoft.com/office/drawing/2014/main" id="{3F776B8E-6FD1-EFE1-1952-A1750793CC5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31" name="Rectangle 130">
                <a:extLst>
                  <a:ext uri="{FF2B5EF4-FFF2-40B4-BE49-F238E27FC236}">
                    <a16:creationId xmlns:a16="http://schemas.microsoft.com/office/drawing/2014/main" id="{1D975489-6CCA-ADEF-9E2D-C43AA294F64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32" name="Groupe 131">
              <a:extLst>
                <a:ext uri="{FF2B5EF4-FFF2-40B4-BE49-F238E27FC236}">
                  <a16:creationId xmlns:a16="http://schemas.microsoft.com/office/drawing/2014/main" id="{0CCEF290-5A4C-B916-5E8F-3D849BD12EBB}"/>
                </a:ext>
              </a:extLst>
            </p:cNvPr>
            <p:cNvGrpSpPr/>
            <p:nvPr/>
          </p:nvGrpSpPr>
          <p:grpSpPr>
            <a:xfrm>
              <a:off x="1281387" y="2806435"/>
              <a:ext cx="457200" cy="457200"/>
              <a:chOff x="3982824" y="1896400"/>
              <a:chExt cx="914400" cy="914400"/>
            </a:xfrm>
          </p:grpSpPr>
          <p:pic>
            <p:nvPicPr>
              <p:cNvPr id="133" name="Graphique 132" descr="Homme conductrice avec un remplissage uni">
                <a:extLst>
                  <a:ext uri="{FF2B5EF4-FFF2-40B4-BE49-F238E27FC236}">
                    <a16:creationId xmlns:a16="http://schemas.microsoft.com/office/drawing/2014/main" id="{80A8E353-86F7-7283-FB60-EAE641EC2EE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134" name="Rectangle 133">
                <a:extLst>
                  <a:ext uri="{FF2B5EF4-FFF2-40B4-BE49-F238E27FC236}">
                    <a16:creationId xmlns:a16="http://schemas.microsoft.com/office/drawing/2014/main" id="{DD4D86E7-D0BB-017F-2A11-2430DB55EEA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35" name="Groupe 134">
              <a:extLst>
                <a:ext uri="{FF2B5EF4-FFF2-40B4-BE49-F238E27FC236}">
                  <a16:creationId xmlns:a16="http://schemas.microsoft.com/office/drawing/2014/main" id="{3F334C6C-B520-DB00-259B-331995ADC85F}"/>
                </a:ext>
              </a:extLst>
            </p:cNvPr>
            <p:cNvGrpSpPr/>
            <p:nvPr/>
          </p:nvGrpSpPr>
          <p:grpSpPr>
            <a:xfrm>
              <a:off x="1613164" y="2495253"/>
              <a:ext cx="457200" cy="457200"/>
              <a:chOff x="3982824" y="1896400"/>
              <a:chExt cx="914400" cy="914400"/>
            </a:xfrm>
          </p:grpSpPr>
          <p:pic>
            <p:nvPicPr>
              <p:cNvPr id="136" name="Graphique 135" descr="Homme conductrice avec un remplissage uni">
                <a:extLst>
                  <a:ext uri="{FF2B5EF4-FFF2-40B4-BE49-F238E27FC236}">
                    <a16:creationId xmlns:a16="http://schemas.microsoft.com/office/drawing/2014/main" id="{8F8FE6E4-E32A-2FC3-D4C6-5E431DD3F9F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37" name="Rectangle 136">
                <a:extLst>
                  <a:ext uri="{FF2B5EF4-FFF2-40B4-BE49-F238E27FC236}">
                    <a16:creationId xmlns:a16="http://schemas.microsoft.com/office/drawing/2014/main" id="{9562F67F-8035-D678-B9FE-07425C11CFE0}"/>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38" name="Groupe 137">
              <a:extLst>
                <a:ext uri="{FF2B5EF4-FFF2-40B4-BE49-F238E27FC236}">
                  <a16:creationId xmlns:a16="http://schemas.microsoft.com/office/drawing/2014/main" id="{0A43A8B1-E5A0-8573-8BFB-BE4A31E2DDE7}"/>
                </a:ext>
              </a:extLst>
            </p:cNvPr>
            <p:cNvGrpSpPr/>
            <p:nvPr/>
          </p:nvGrpSpPr>
          <p:grpSpPr>
            <a:xfrm>
              <a:off x="1908305" y="2820432"/>
              <a:ext cx="457200" cy="457200"/>
              <a:chOff x="3982824" y="1896400"/>
              <a:chExt cx="914400" cy="914400"/>
            </a:xfrm>
          </p:grpSpPr>
          <p:pic>
            <p:nvPicPr>
              <p:cNvPr id="139" name="Graphique 138" descr="Homme conductrice avec un remplissage uni">
                <a:extLst>
                  <a:ext uri="{FF2B5EF4-FFF2-40B4-BE49-F238E27FC236}">
                    <a16:creationId xmlns:a16="http://schemas.microsoft.com/office/drawing/2014/main" id="{33876E09-C820-D54A-EA0E-B73FCAB8F6B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40" name="Rectangle 139">
                <a:extLst>
                  <a:ext uri="{FF2B5EF4-FFF2-40B4-BE49-F238E27FC236}">
                    <a16:creationId xmlns:a16="http://schemas.microsoft.com/office/drawing/2014/main" id="{6FD8AB23-E826-13A4-2B44-A74C20D7919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11" name="Groupe 210">
            <a:extLst>
              <a:ext uri="{FF2B5EF4-FFF2-40B4-BE49-F238E27FC236}">
                <a16:creationId xmlns:a16="http://schemas.microsoft.com/office/drawing/2014/main" id="{2E12CAFA-E626-23E9-D9A2-46EB772C6D13}"/>
              </a:ext>
            </a:extLst>
          </p:cNvPr>
          <p:cNvGrpSpPr/>
          <p:nvPr/>
        </p:nvGrpSpPr>
        <p:grpSpPr>
          <a:xfrm>
            <a:off x="7739953" y="1380011"/>
            <a:ext cx="916532" cy="842866"/>
            <a:chOff x="7829288" y="2349771"/>
            <a:chExt cx="1084118" cy="996982"/>
          </a:xfrm>
        </p:grpSpPr>
        <p:grpSp>
          <p:nvGrpSpPr>
            <p:cNvPr id="141" name="Groupe 140">
              <a:extLst>
                <a:ext uri="{FF2B5EF4-FFF2-40B4-BE49-F238E27FC236}">
                  <a16:creationId xmlns:a16="http://schemas.microsoft.com/office/drawing/2014/main" id="{A8C0DF37-F9F7-CBB2-287C-8746FAEF646C}"/>
                </a:ext>
              </a:extLst>
            </p:cNvPr>
            <p:cNvGrpSpPr/>
            <p:nvPr/>
          </p:nvGrpSpPr>
          <p:grpSpPr>
            <a:xfrm>
              <a:off x="8117464" y="2889553"/>
              <a:ext cx="457200" cy="457200"/>
              <a:chOff x="3982824" y="1896400"/>
              <a:chExt cx="914400" cy="914400"/>
            </a:xfrm>
          </p:grpSpPr>
          <p:pic>
            <p:nvPicPr>
              <p:cNvPr id="142" name="Graphique 141" descr="Homme conductrice avec un remplissage uni">
                <a:extLst>
                  <a:ext uri="{FF2B5EF4-FFF2-40B4-BE49-F238E27FC236}">
                    <a16:creationId xmlns:a16="http://schemas.microsoft.com/office/drawing/2014/main" id="{1BFF74C9-AA26-33BB-1DC7-3AC51A8CE5F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43" name="Rectangle 142">
                <a:extLst>
                  <a:ext uri="{FF2B5EF4-FFF2-40B4-BE49-F238E27FC236}">
                    <a16:creationId xmlns:a16="http://schemas.microsoft.com/office/drawing/2014/main" id="{36704B31-E518-D9AB-1ACE-762839E5D93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44" name="Groupe 143">
              <a:extLst>
                <a:ext uri="{FF2B5EF4-FFF2-40B4-BE49-F238E27FC236}">
                  <a16:creationId xmlns:a16="http://schemas.microsoft.com/office/drawing/2014/main" id="{CC450B84-F961-35B8-0C2D-11F02F848D22}"/>
                </a:ext>
              </a:extLst>
            </p:cNvPr>
            <p:cNvGrpSpPr/>
            <p:nvPr/>
          </p:nvGrpSpPr>
          <p:grpSpPr>
            <a:xfrm>
              <a:off x="7829288" y="2660953"/>
              <a:ext cx="457200" cy="457200"/>
              <a:chOff x="3982824" y="1896400"/>
              <a:chExt cx="914400" cy="914400"/>
            </a:xfrm>
          </p:grpSpPr>
          <p:pic>
            <p:nvPicPr>
              <p:cNvPr id="145" name="Graphique 144" descr="Homme conductrice avec un remplissage uni">
                <a:extLst>
                  <a:ext uri="{FF2B5EF4-FFF2-40B4-BE49-F238E27FC236}">
                    <a16:creationId xmlns:a16="http://schemas.microsoft.com/office/drawing/2014/main" id="{18571E9B-E4D9-649F-AD31-974CD715739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46" name="Rectangle 145">
                <a:extLst>
                  <a:ext uri="{FF2B5EF4-FFF2-40B4-BE49-F238E27FC236}">
                    <a16:creationId xmlns:a16="http://schemas.microsoft.com/office/drawing/2014/main" id="{8432368A-C51E-1803-219C-E737D2588DD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47" name="Groupe 146">
              <a:extLst>
                <a:ext uri="{FF2B5EF4-FFF2-40B4-BE49-F238E27FC236}">
                  <a16:creationId xmlns:a16="http://schemas.microsoft.com/office/drawing/2014/main" id="{5AC3603F-04B7-393A-ECD6-CA880E4B8F51}"/>
                </a:ext>
              </a:extLst>
            </p:cNvPr>
            <p:cNvGrpSpPr/>
            <p:nvPr/>
          </p:nvGrpSpPr>
          <p:grpSpPr>
            <a:xfrm>
              <a:off x="8161065" y="2349771"/>
              <a:ext cx="457200" cy="457200"/>
              <a:chOff x="3982824" y="1896400"/>
              <a:chExt cx="914400" cy="914400"/>
            </a:xfrm>
          </p:grpSpPr>
          <p:pic>
            <p:nvPicPr>
              <p:cNvPr id="148" name="Graphique 147" descr="Homme conductrice avec un remplissage uni">
                <a:extLst>
                  <a:ext uri="{FF2B5EF4-FFF2-40B4-BE49-F238E27FC236}">
                    <a16:creationId xmlns:a16="http://schemas.microsoft.com/office/drawing/2014/main" id="{DD4262EC-32CB-9779-E36E-32B1E8AE230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49" name="Rectangle 148">
                <a:extLst>
                  <a:ext uri="{FF2B5EF4-FFF2-40B4-BE49-F238E27FC236}">
                    <a16:creationId xmlns:a16="http://schemas.microsoft.com/office/drawing/2014/main" id="{C457C34A-F7EA-3FDD-E4CB-7B611378CCD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50" name="Groupe 149">
              <a:extLst>
                <a:ext uri="{FF2B5EF4-FFF2-40B4-BE49-F238E27FC236}">
                  <a16:creationId xmlns:a16="http://schemas.microsoft.com/office/drawing/2014/main" id="{3E05E990-B85A-3621-EEFA-32B06FA843BF}"/>
                </a:ext>
              </a:extLst>
            </p:cNvPr>
            <p:cNvGrpSpPr/>
            <p:nvPr/>
          </p:nvGrpSpPr>
          <p:grpSpPr>
            <a:xfrm>
              <a:off x="8456206" y="2674950"/>
              <a:ext cx="457200" cy="457200"/>
              <a:chOff x="3982824" y="1896400"/>
              <a:chExt cx="914400" cy="914400"/>
            </a:xfrm>
          </p:grpSpPr>
          <p:pic>
            <p:nvPicPr>
              <p:cNvPr id="151" name="Graphique 150" descr="Homme conductrice avec un remplissage uni">
                <a:extLst>
                  <a:ext uri="{FF2B5EF4-FFF2-40B4-BE49-F238E27FC236}">
                    <a16:creationId xmlns:a16="http://schemas.microsoft.com/office/drawing/2014/main" id="{F0787F06-40F9-37FC-25D8-AC36C94F4D8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52" name="Rectangle 151">
                <a:extLst>
                  <a:ext uri="{FF2B5EF4-FFF2-40B4-BE49-F238E27FC236}">
                    <a16:creationId xmlns:a16="http://schemas.microsoft.com/office/drawing/2014/main" id="{E90906A8-9462-110A-3FD3-010A9BAD16ED}"/>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197" name="Groupe 196">
            <a:extLst>
              <a:ext uri="{FF2B5EF4-FFF2-40B4-BE49-F238E27FC236}">
                <a16:creationId xmlns:a16="http://schemas.microsoft.com/office/drawing/2014/main" id="{39DFB8A2-87DF-3C40-3DF8-4EDD2FB9676C}"/>
              </a:ext>
            </a:extLst>
          </p:cNvPr>
          <p:cNvGrpSpPr/>
          <p:nvPr/>
        </p:nvGrpSpPr>
        <p:grpSpPr>
          <a:xfrm>
            <a:off x="6346128" y="1404925"/>
            <a:ext cx="905676" cy="832882"/>
            <a:chOff x="6564654" y="2339787"/>
            <a:chExt cx="1084118" cy="996982"/>
          </a:xfrm>
        </p:grpSpPr>
        <p:grpSp>
          <p:nvGrpSpPr>
            <p:cNvPr id="154" name="Groupe 153">
              <a:extLst>
                <a:ext uri="{FF2B5EF4-FFF2-40B4-BE49-F238E27FC236}">
                  <a16:creationId xmlns:a16="http://schemas.microsoft.com/office/drawing/2014/main" id="{5597CE29-801F-F4D4-7FF8-190089A11972}"/>
                </a:ext>
              </a:extLst>
            </p:cNvPr>
            <p:cNvGrpSpPr/>
            <p:nvPr/>
          </p:nvGrpSpPr>
          <p:grpSpPr>
            <a:xfrm>
              <a:off x="6852830" y="2879569"/>
              <a:ext cx="457200" cy="457200"/>
              <a:chOff x="3982824" y="1896400"/>
              <a:chExt cx="914400" cy="914400"/>
            </a:xfrm>
          </p:grpSpPr>
          <p:pic>
            <p:nvPicPr>
              <p:cNvPr id="155" name="Graphique 154" descr="Homme conductrice avec un remplissage uni">
                <a:extLst>
                  <a:ext uri="{FF2B5EF4-FFF2-40B4-BE49-F238E27FC236}">
                    <a16:creationId xmlns:a16="http://schemas.microsoft.com/office/drawing/2014/main" id="{9DF07192-34B5-E01D-088B-7A49BFB2CD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56" name="Rectangle 155">
                <a:extLst>
                  <a:ext uri="{FF2B5EF4-FFF2-40B4-BE49-F238E27FC236}">
                    <a16:creationId xmlns:a16="http://schemas.microsoft.com/office/drawing/2014/main" id="{3D8792FA-6197-892A-DE76-8AFBDD32E1E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57" name="Groupe 156">
              <a:extLst>
                <a:ext uri="{FF2B5EF4-FFF2-40B4-BE49-F238E27FC236}">
                  <a16:creationId xmlns:a16="http://schemas.microsoft.com/office/drawing/2014/main" id="{B0D2165E-A82B-2471-32AE-D12DFAF0E195}"/>
                </a:ext>
              </a:extLst>
            </p:cNvPr>
            <p:cNvGrpSpPr/>
            <p:nvPr/>
          </p:nvGrpSpPr>
          <p:grpSpPr>
            <a:xfrm>
              <a:off x="6564654" y="2650969"/>
              <a:ext cx="457200" cy="457200"/>
              <a:chOff x="3982824" y="1896400"/>
              <a:chExt cx="914400" cy="914400"/>
            </a:xfrm>
          </p:grpSpPr>
          <p:pic>
            <p:nvPicPr>
              <p:cNvPr id="158" name="Graphique 157" descr="Homme conductrice avec un remplissage uni">
                <a:extLst>
                  <a:ext uri="{FF2B5EF4-FFF2-40B4-BE49-F238E27FC236}">
                    <a16:creationId xmlns:a16="http://schemas.microsoft.com/office/drawing/2014/main" id="{208B9B36-1648-682F-D4C5-95440DCB658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59" name="Rectangle 158">
                <a:extLst>
                  <a:ext uri="{FF2B5EF4-FFF2-40B4-BE49-F238E27FC236}">
                    <a16:creationId xmlns:a16="http://schemas.microsoft.com/office/drawing/2014/main" id="{22037B60-D7C2-1BFF-A9FD-2E85908A859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60" name="Groupe 159">
              <a:extLst>
                <a:ext uri="{FF2B5EF4-FFF2-40B4-BE49-F238E27FC236}">
                  <a16:creationId xmlns:a16="http://schemas.microsoft.com/office/drawing/2014/main" id="{CD003871-49AA-79D7-7992-FC23F430C371}"/>
                </a:ext>
              </a:extLst>
            </p:cNvPr>
            <p:cNvGrpSpPr/>
            <p:nvPr/>
          </p:nvGrpSpPr>
          <p:grpSpPr>
            <a:xfrm>
              <a:off x="6896431" y="2339787"/>
              <a:ext cx="457200" cy="457200"/>
              <a:chOff x="3982824" y="1896400"/>
              <a:chExt cx="914400" cy="914400"/>
            </a:xfrm>
          </p:grpSpPr>
          <p:pic>
            <p:nvPicPr>
              <p:cNvPr id="161" name="Graphique 160" descr="Homme conductrice avec un remplissage uni">
                <a:extLst>
                  <a:ext uri="{FF2B5EF4-FFF2-40B4-BE49-F238E27FC236}">
                    <a16:creationId xmlns:a16="http://schemas.microsoft.com/office/drawing/2014/main" id="{4EA12A8F-1A0D-6EA3-5635-A45660EA72A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62" name="Rectangle 161">
                <a:extLst>
                  <a:ext uri="{FF2B5EF4-FFF2-40B4-BE49-F238E27FC236}">
                    <a16:creationId xmlns:a16="http://schemas.microsoft.com/office/drawing/2014/main" id="{241BE24A-6D99-048B-2A16-F10957E0963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63" name="Groupe 162">
              <a:extLst>
                <a:ext uri="{FF2B5EF4-FFF2-40B4-BE49-F238E27FC236}">
                  <a16:creationId xmlns:a16="http://schemas.microsoft.com/office/drawing/2014/main" id="{2C388B47-8845-0B16-18DA-A22691633036}"/>
                </a:ext>
              </a:extLst>
            </p:cNvPr>
            <p:cNvGrpSpPr/>
            <p:nvPr/>
          </p:nvGrpSpPr>
          <p:grpSpPr>
            <a:xfrm>
              <a:off x="7191572" y="2664966"/>
              <a:ext cx="457200" cy="457200"/>
              <a:chOff x="3982824" y="1896400"/>
              <a:chExt cx="914400" cy="914400"/>
            </a:xfrm>
          </p:grpSpPr>
          <p:pic>
            <p:nvPicPr>
              <p:cNvPr id="164" name="Graphique 163" descr="Homme conductrice avec un remplissage uni">
                <a:extLst>
                  <a:ext uri="{FF2B5EF4-FFF2-40B4-BE49-F238E27FC236}">
                    <a16:creationId xmlns:a16="http://schemas.microsoft.com/office/drawing/2014/main" id="{D761C0BA-B720-377F-A1A9-0A98C5F0C78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65" name="Rectangle 164">
                <a:extLst>
                  <a:ext uri="{FF2B5EF4-FFF2-40B4-BE49-F238E27FC236}">
                    <a16:creationId xmlns:a16="http://schemas.microsoft.com/office/drawing/2014/main" id="{C1D5C55C-5981-650A-255C-0D3555F1B79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sp>
        <p:nvSpPr>
          <p:cNvPr id="180" name="Rectangle 179">
            <a:extLst>
              <a:ext uri="{FF2B5EF4-FFF2-40B4-BE49-F238E27FC236}">
                <a16:creationId xmlns:a16="http://schemas.microsoft.com/office/drawing/2014/main" id="{C045CA31-EDEB-DD7E-9E48-8CF90D239BFC}"/>
              </a:ext>
            </a:extLst>
          </p:cNvPr>
          <p:cNvSpPr/>
          <p:nvPr/>
        </p:nvSpPr>
        <p:spPr>
          <a:xfrm>
            <a:off x="2534291" y="1395913"/>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nvGrpSpPr>
          <p:cNvPr id="195" name="Groupe 194">
            <a:extLst>
              <a:ext uri="{FF2B5EF4-FFF2-40B4-BE49-F238E27FC236}">
                <a16:creationId xmlns:a16="http://schemas.microsoft.com/office/drawing/2014/main" id="{75C1C294-1AC2-DCC2-79D9-0A05F6B91208}"/>
              </a:ext>
            </a:extLst>
          </p:cNvPr>
          <p:cNvGrpSpPr/>
          <p:nvPr/>
        </p:nvGrpSpPr>
        <p:grpSpPr>
          <a:xfrm>
            <a:off x="2521179" y="1464959"/>
            <a:ext cx="869466" cy="799583"/>
            <a:chOff x="2391091" y="2512442"/>
            <a:chExt cx="1084118" cy="996982"/>
          </a:xfrm>
        </p:grpSpPr>
        <p:grpSp>
          <p:nvGrpSpPr>
            <p:cNvPr id="182" name="Groupe 181">
              <a:extLst>
                <a:ext uri="{FF2B5EF4-FFF2-40B4-BE49-F238E27FC236}">
                  <a16:creationId xmlns:a16="http://schemas.microsoft.com/office/drawing/2014/main" id="{E383318F-9C53-BA93-EA53-7E8710859FAA}"/>
                </a:ext>
              </a:extLst>
            </p:cNvPr>
            <p:cNvGrpSpPr/>
            <p:nvPr/>
          </p:nvGrpSpPr>
          <p:grpSpPr>
            <a:xfrm>
              <a:off x="2679267" y="3052224"/>
              <a:ext cx="457200" cy="457200"/>
              <a:chOff x="3982824" y="1896400"/>
              <a:chExt cx="914400" cy="914400"/>
            </a:xfrm>
          </p:grpSpPr>
          <p:pic>
            <p:nvPicPr>
              <p:cNvPr id="183" name="Graphique 182" descr="Homme conductrice avec un remplissage uni">
                <a:extLst>
                  <a:ext uri="{FF2B5EF4-FFF2-40B4-BE49-F238E27FC236}">
                    <a16:creationId xmlns:a16="http://schemas.microsoft.com/office/drawing/2014/main" id="{4223A2AF-FD47-49D2-8E61-B93F0C30886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84" name="Rectangle 183">
                <a:extLst>
                  <a:ext uri="{FF2B5EF4-FFF2-40B4-BE49-F238E27FC236}">
                    <a16:creationId xmlns:a16="http://schemas.microsoft.com/office/drawing/2014/main" id="{2A5075E5-649E-87B8-5806-A58063BBF859}"/>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85" name="Groupe 184">
              <a:extLst>
                <a:ext uri="{FF2B5EF4-FFF2-40B4-BE49-F238E27FC236}">
                  <a16:creationId xmlns:a16="http://schemas.microsoft.com/office/drawing/2014/main" id="{87D1221E-B850-9B8A-86B2-2103ECE0B142}"/>
                </a:ext>
              </a:extLst>
            </p:cNvPr>
            <p:cNvGrpSpPr/>
            <p:nvPr/>
          </p:nvGrpSpPr>
          <p:grpSpPr>
            <a:xfrm>
              <a:off x="2391091" y="2823624"/>
              <a:ext cx="457200" cy="457200"/>
              <a:chOff x="3982824" y="1896400"/>
              <a:chExt cx="914400" cy="914400"/>
            </a:xfrm>
          </p:grpSpPr>
          <p:pic>
            <p:nvPicPr>
              <p:cNvPr id="186" name="Graphique 185" descr="Homme conductrice avec un remplissage uni">
                <a:extLst>
                  <a:ext uri="{FF2B5EF4-FFF2-40B4-BE49-F238E27FC236}">
                    <a16:creationId xmlns:a16="http://schemas.microsoft.com/office/drawing/2014/main" id="{5BBE8459-0B6D-CB6C-6F5D-87689D79B1F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187" name="Rectangle 186">
                <a:extLst>
                  <a:ext uri="{FF2B5EF4-FFF2-40B4-BE49-F238E27FC236}">
                    <a16:creationId xmlns:a16="http://schemas.microsoft.com/office/drawing/2014/main" id="{E275575F-430C-6D05-A8A2-542C2D45E54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88" name="Groupe 187">
              <a:extLst>
                <a:ext uri="{FF2B5EF4-FFF2-40B4-BE49-F238E27FC236}">
                  <a16:creationId xmlns:a16="http://schemas.microsoft.com/office/drawing/2014/main" id="{568F8578-E177-84CE-3D3D-A561F86B0FCF}"/>
                </a:ext>
              </a:extLst>
            </p:cNvPr>
            <p:cNvGrpSpPr/>
            <p:nvPr/>
          </p:nvGrpSpPr>
          <p:grpSpPr>
            <a:xfrm>
              <a:off x="2722868" y="2512442"/>
              <a:ext cx="457200" cy="457200"/>
              <a:chOff x="3982824" y="1896400"/>
              <a:chExt cx="914400" cy="914400"/>
            </a:xfrm>
          </p:grpSpPr>
          <p:pic>
            <p:nvPicPr>
              <p:cNvPr id="189" name="Graphique 188" descr="Homme conductrice avec un remplissage uni">
                <a:extLst>
                  <a:ext uri="{FF2B5EF4-FFF2-40B4-BE49-F238E27FC236}">
                    <a16:creationId xmlns:a16="http://schemas.microsoft.com/office/drawing/2014/main" id="{B8AF0BC3-7344-9EB0-7C8D-FADCB9341BE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90" name="Rectangle 189">
                <a:extLst>
                  <a:ext uri="{FF2B5EF4-FFF2-40B4-BE49-F238E27FC236}">
                    <a16:creationId xmlns:a16="http://schemas.microsoft.com/office/drawing/2014/main" id="{CB0B3FB9-52AA-7EA2-3BC5-1E568B9CB1B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91" name="Groupe 190">
              <a:extLst>
                <a:ext uri="{FF2B5EF4-FFF2-40B4-BE49-F238E27FC236}">
                  <a16:creationId xmlns:a16="http://schemas.microsoft.com/office/drawing/2014/main" id="{A8839DAC-9FB6-5B3E-B397-A02720490D64}"/>
                </a:ext>
              </a:extLst>
            </p:cNvPr>
            <p:cNvGrpSpPr/>
            <p:nvPr/>
          </p:nvGrpSpPr>
          <p:grpSpPr>
            <a:xfrm>
              <a:off x="3018009" y="2837621"/>
              <a:ext cx="457200" cy="457200"/>
              <a:chOff x="3982824" y="1896400"/>
              <a:chExt cx="914400" cy="914400"/>
            </a:xfrm>
          </p:grpSpPr>
          <p:pic>
            <p:nvPicPr>
              <p:cNvPr id="192" name="Graphique 191" descr="Homme conductrice avec un remplissage uni">
                <a:extLst>
                  <a:ext uri="{FF2B5EF4-FFF2-40B4-BE49-F238E27FC236}">
                    <a16:creationId xmlns:a16="http://schemas.microsoft.com/office/drawing/2014/main" id="{5FD91FB1-CFBD-6EF8-C89E-BA527286DED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93" name="Rectangle 192">
                <a:extLst>
                  <a:ext uri="{FF2B5EF4-FFF2-40B4-BE49-F238E27FC236}">
                    <a16:creationId xmlns:a16="http://schemas.microsoft.com/office/drawing/2014/main" id="{5E34B623-A67B-6EEE-9888-883D2D4AF9B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13" name="Groupe 212">
            <a:extLst>
              <a:ext uri="{FF2B5EF4-FFF2-40B4-BE49-F238E27FC236}">
                <a16:creationId xmlns:a16="http://schemas.microsoft.com/office/drawing/2014/main" id="{22F6BCEB-9278-101D-ACCF-D8F1DF40EDE8}"/>
              </a:ext>
            </a:extLst>
          </p:cNvPr>
          <p:cNvGrpSpPr/>
          <p:nvPr/>
        </p:nvGrpSpPr>
        <p:grpSpPr>
          <a:xfrm>
            <a:off x="3799631" y="1399672"/>
            <a:ext cx="905676" cy="832882"/>
            <a:chOff x="6564654" y="2339787"/>
            <a:chExt cx="1084118" cy="996982"/>
          </a:xfrm>
        </p:grpSpPr>
        <p:grpSp>
          <p:nvGrpSpPr>
            <p:cNvPr id="214" name="Groupe 213">
              <a:extLst>
                <a:ext uri="{FF2B5EF4-FFF2-40B4-BE49-F238E27FC236}">
                  <a16:creationId xmlns:a16="http://schemas.microsoft.com/office/drawing/2014/main" id="{13C44D94-838C-28F7-C2A9-06C42FABA100}"/>
                </a:ext>
              </a:extLst>
            </p:cNvPr>
            <p:cNvGrpSpPr/>
            <p:nvPr/>
          </p:nvGrpSpPr>
          <p:grpSpPr>
            <a:xfrm>
              <a:off x="6852830" y="2879569"/>
              <a:ext cx="457200" cy="457200"/>
              <a:chOff x="3982824" y="1896400"/>
              <a:chExt cx="914400" cy="914400"/>
            </a:xfrm>
          </p:grpSpPr>
          <p:pic>
            <p:nvPicPr>
              <p:cNvPr id="224" name="Graphique 223" descr="Homme conductrice avec un remplissage uni">
                <a:extLst>
                  <a:ext uri="{FF2B5EF4-FFF2-40B4-BE49-F238E27FC236}">
                    <a16:creationId xmlns:a16="http://schemas.microsoft.com/office/drawing/2014/main" id="{CE952B51-4AD1-D95D-A0C7-29B7D999D1C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25" name="Rectangle 224">
                <a:extLst>
                  <a:ext uri="{FF2B5EF4-FFF2-40B4-BE49-F238E27FC236}">
                    <a16:creationId xmlns:a16="http://schemas.microsoft.com/office/drawing/2014/main" id="{DC5D90A4-0155-C327-D600-38D222BFF3EB}"/>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15" name="Groupe 214">
              <a:extLst>
                <a:ext uri="{FF2B5EF4-FFF2-40B4-BE49-F238E27FC236}">
                  <a16:creationId xmlns:a16="http://schemas.microsoft.com/office/drawing/2014/main" id="{F678518B-D6BD-34B1-5F53-4E5BE38D70C8}"/>
                </a:ext>
              </a:extLst>
            </p:cNvPr>
            <p:cNvGrpSpPr/>
            <p:nvPr/>
          </p:nvGrpSpPr>
          <p:grpSpPr>
            <a:xfrm>
              <a:off x="6564654" y="2650969"/>
              <a:ext cx="457200" cy="457200"/>
              <a:chOff x="3982824" y="1896400"/>
              <a:chExt cx="914400" cy="914400"/>
            </a:xfrm>
          </p:grpSpPr>
          <p:pic>
            <p:nvPicPr>
              <p:cNvPr id="222" name="Graphique 221" descr="Homme conductrice avec un remplissage uni">
                <a:extLst>
                  <a:ext uri="{FF2B5EF4-FFF2-40B4-BE49-F238E27FC236}">
                    <a16:creationId xmlns:a16="http://schemas.microsoft.com/office/drawing/2014/main" id="{C8390C62-A09F-2680-2437-49752DDFF19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223" name="Rectangle 222">
                <a:extLst>
                  <a:ext uri="{FF2B5EF4-FFF2-40B4-BE49-F238E27FC236}">
                    <a16:creationId xmlns:a16="http://schemas.microsoft.com/office/drawing/2014/main" id="{B4230C87-3721-153A-4C38-1116B005116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16" name="Groupe 215">
              <a:extLst>
                <a:ext uri="{FF2B5EF4-FFF2-40B4-BE49-F238E27FC236}">
                  <a16:creationId xmlns:a16="http://schemas.microsoft.com/office/drawing/2014/main" id="{AF4D5054-8E24-C360-427E-C28108737FEF}"/>
                </a:ext>
              </a:extLst>
            </p:cNvPr>
            <p:cNvGrpSpPr/>
            <p:nvPr/>
          </p:nvGrpSpPr>
          <p:grpSpPr>
            <a:xfrm>
              <a:off x="6896431" y="2339787"/>
              <a:ext cx="457200" cy="457200"/>
              <a:chOff x="3982824" y="1896400"/>
              <a:chExt cx="914400" cy="914400"/>
            </a:xfrm>
          </p:grpSpPr>
          <p:pic>
            <p:nvPicPr>
              <p:cNvPr id="220" name="Graphique 219" descr="Homme conductrice avec un remplissage uni">
                <a:extLst>
                  <a:ext uri="{FF2B5EF4-FFF2-40B4-BE49-F238E27FC236}">
                    <a16:creationId xmlns:a16="http://schemas.microsoft.com/office/drawing/2014/main" id="{03ACF000-A459-293C-DCC8-31B096E0C96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21" name="Rectangle 220">
                <a:extLst>
                  <a:ext uri="{FF2B5EF4-FFF2-40B4-BE49-F238E27FC236}">
                    <a16:creationId xmlns:a16="http://schemas.microsoft.com/office/drawing/2014/main" id="{C082E61C-104D-D017-075D-F1805E08FFE1}"/>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17" name="Groupe 216">
              <a:extLst>
                <a:ext uri="{FF2B5EF4-FFF2-40B4-BE49-F238E27FC236}">
                  <a16:creationId xmlns:a16="http://schemas.microsoft.com/office/drawing/2014/main" id="{90E6B887-6389-E418-BB90-E5AAE9CDDD2A}"/>
                </a:ext>
              </a:extLst>
            </p:cNvPr>
            <p:cNvGrpSpPr/>
            <p:nvPr/>
          </p:nvGrpSpPr>
          <p:grpSpPr>
            <a:xfrm>
              <a:off x="7191572" y="2664966"/>
              <a:ext cx="457200" cy="457200"/>
              <a:chOff x="3982824" y="1896400"/>
              <a:chExt cx="914400" cy="914400"/>
            </a:xfrm>
          </p:grpSpPr>
          <p:pic>
            <p:nvPicPr>
              <p:cNvPr id="218" name="Graphique 217" descr="Homme conductrice avec un remplissage uni">
                <a:extLst>
                  <a:ext uri="{FF2B5EF4-FFF2-40B4-BE49-F238E27FC236}">
                    <a16:creationId xmlns:a16="http://schemas.microsoft.com/office/drawing/2014/main" id="{CFC41439-FAC5-3DEF-8D7B-B49A0E72AEE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19" name="Rectangle 218">
                <a:extLst>
                  <a:ext uri="{FF2B5EF4-FFF2-40B4-BE49-F238E27FC236}">
                    <a16:creationId xmlns:a16="http://schemas.microsoft.com/office/drawing/2014/main" id="{A15DC6CB-4EEC-5ADA-50F6-791B7685340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sp>
        <p:nvSpPr>
          <p:cNvPr id="179" name="Rectangle 178">
            <a:extLst>
              <a:ext uri="{FF2B5EF4-FFF2-40B4-BE49-F238E27FC236}">
                <a16:creationId xmlns:a16="http://schemas.microsoft.com/office/drawing/2014/main" id="{2A4AE98A-0548-FFFC-B4B2-D65E5427F17C}"/>
              </a:ext>
            </a:extLst>
          </p:cNvPr>
          <p:cNvSpPr/>
          <p:nvPr/>
        </p:nvSpPr>
        <p:spPr>
          <a:xfrm>
            <a:off x="117953" y="5148000"/>
            <a:ext cx="1746276" cy="1576650"/>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Besoin de centraliser l’information. Besoin qu’un(e) leader accepte de prendre la responsabilité de la décision. Besoin de la même acceptation chez les membres.</a:t>
            </a:r>
          </a:p>
          <a:p>
            <a:pPr algn="ctr"/>
            <a:r>
              <a:rPr lang="fr-FR" sz="1100" dirty="0">
                <a:solidFill>
                  <a:schemeClr val="tx1"/>
                </a:solidFill>
              </a:rPr>
              <a:t>Risque de dépendance et de </a:t>
            </a:r>
            <a:r>
              <a:rPr lang="fr-FR" sz="1100">
                <a:solidFill>
                  <a:schemeClr val="tx1"/>
                </a:solidFill>
              </a:rPr>
              <a:t>goulet d’étranglement</a:t>
            </a:r>
            <a:endParaRPr lang="fr-FR" sz="1100" dirty="0">
              <a:solidFill>
                <a:schemeClr val="tx1"/>
              </a:solidFill>
            </a:endParaRPr>
          </a:p>
        </p:txBody>
      </p:sp>
      <p:sp>
        <p:nvSpPr>
          <p:cNvPr id="198" name="Rectangle 197">
            <a:extLst>
              <a:ext uri="{FF2B5EF4-FFF2-40B4-BE49-F238E27FC236}">
                <a16:creationId xmlns:a16="http://schemas.microsoft.com/office/drawing/2014/main" id="{F139DD4D-980F-B4A3-036E-2CF8D4BCAC42}"/>
              </a:ext>
            </a:extLst>
          </p:cNvPr>
          <p:cNvSpPr/>
          <p:nvPr/>
        </p:nvSpPr>
        <p:spPr>
          <a:xfrm>
            <a:off x="117953" y="3486334"/>
            <a:ext cx="1746276" cy="1576650"/>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Permet souvent de décider plus vite, processus léger.</a:t>
            </a:r>
          </a:p>
          <a:p>
            <a:pPr algn="ctr"/>
            <a:r>
              <a:rPr lang="fr-FR" sz="1100" dirty="0">
                <a:solidFill>
                  <a:schemeClr val="tx1"/>
                </a:solidFill>
              </a:rPr>
              <a:t>Centralise la responsabilité en cas d’échec</a:t>
            </a:r>
          </a:p>
        </p:txBody>
      </p:sp>
      <p:sp>
        <p:nvSpPr>
          <p:cNvPr id="201" name="Rectangle 200">
            <a:extLst>
              <a:ext uri="{FF2B5EF4-FFF2-40B4-BE49-F238E27FC236}">
                <a16:creationId xmlns:a16="http://schemas.microsoft.com/office/drawing/2014/main" id="{1524223B-C5D1-33A3-3199-AC3FB9E614A8}"/>
              </a:ext>
            </a:extLst>
          </p:cNvPr>
          <p:cNvSpPr/>
          <p:nvPr/>
        </p:nvSpPr>
        <p:spPr>
          <a:xfrm>
            <a:off x="10349289" y="5193385"/>
            <a:ext cx="1746276" cy="1576650"/>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Processus de décision lourd si beaucoup de membres.</a:t>
            </a:r>
          </a:p>
          <a:p>
            <a:pPr algn="ctr"/>
            <a:r>
              <a:rPr lang="fr-FR" sz="1100" dirty="0">
                <a:solidFill>
                  <a:schemeClr val="tx1"/>
                </a:solidFill>
              </a:rPr>
              <a:t>Peut manquer de réalisme en cas de différence entre décisionnaires et exécutants de la décision.</a:t>
            </a:r>
          </a:p>
          <a:p>
            <a:pPr algn="ctr"/>
            <a:r>
              <a:rPr lang="fr-FR" sz="1100" dirty="0">
                <a:solidFill>
                  <a:schemeClr val="tx1"/>
                </a:solidFill>
              </a:rPr>
              <a:t>Risque de consensus mou.</a:t>
            </a:r>
          </a:p>
          <a:p>
            <a:pPr algn="ctr"/>
            <a:r>
              <a:rPr lang="fr-FR" sz="1100" dirty="0">
                <a:solidFill>
                  <a:schemeClr val="tx1"/>
                </a:solidFill>
              </a:rPr>
              <a:t>Risque de pensée de groupe</a:t>
            </a:r>
          </a:p>
        </p:txBody>
      </p:sp>
      <p:sp>
        <p:nvSpPr>
          <p:cNvPr id="202" name="Rectangle 201">
            <a:extLst>
              <a:ext uri="{FF2B5EF4-FFF2-40B4-BE49-F238E27FC236}">
                <a16:creationId xmlns:a16="http://schemas.microsoft.com/office/drawing/2014/main" id="{608397FF-A5D6-B1F3-1846-A05B13F8E9B9}"/>
              </a:ext>
            </a:extLst>
          </p:cNvPr>
          <p:cNvSpPr/>
          <p:nvPr/>
        </p:nvSpPr>
        <p:spPr>
          <a:xfrm>
            <a:off x="10349289" y="3531719"/>
            <a:ext cx="1746276" cy="1576650"/>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Permet d’impliquer, de responsabiliser</a:t>
            </a:r>
          </a:p>
          <a:p>
            <a:pPr algn="ctr"/>
            <a:r>
              <a:rPr lang="fr-FR" sz="1100" dirty="0">
                <a:solidFill>
                  <a:schemeClr val="tx1"/>
                </a:solidFill>
              </a:rPr>
              <a:t>Les membres s’approprient plus facilement la décision si elle vient d’eux</a:t>
            </a:r>
          </a:p>
        </p:txBody>
      </p:sp>
      <p:sp>
        <p:nvSpPr>
          <p:cNvPr id="172" name="Rectangle 171">
            <a:extLst>
              <a:ext uri="{FF2B5EF4-FFF2-40B4-BE49-F238E27FC236}">
                <a16:creationId xmlns:a16="http://schemas.microsoft.com/office/drawing/2014/main" id="{54E01A11-31DD-82E2-5E03-7EFA87B32E7C}"/>
              </a:ext>
            </a:extLst>
          </p:cNvPr>
          <p:cNvSpPr/>
          <p:nvPr/>
        </p:nvSpPr>
        <p:spPr>
          <a:xfrm>
            <a:off x="5258966" y="5148000"/>
            <a:ext cx="1746276" cy="1576650"/>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Besoin de confiance en les représentants ou en le comité </a:t>
            </a:r>
          </a:p>
        </p:txBody>
      </p:sp>
      <p:sp>
        <p:nvSpPr>
          <p:cNvPr id="173" name="Rectangle 172">
            <a:extLst>
              <a:ext uri="{FF2B5EF4-FFF2-40B4-BE49-F238E27FC236}">
                <a16:creationId xmlns:a16="http://schemas.microsoft.com/office/drawing/2014/main" id="{32BE16B1-890D-11AD-4C64-672340A2864E}"/>
              </a:ext>
            </a:extLst>
          </p:cNvPr>
          <p:cNvSpPr/>
          <p:nvPr/>
        </p:nvSpPr>
        <p:spPr>
          <a:xfrm>
            <a:off x="5258966" y="3486334"/>
            <a:ext cx="1746276" cy="1576650"/>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Simplifie le processus par rapport à un grand nombre de membres </a:t>
            </a:r>
          </a:p>
          <a:p>
            <a:pPr algn="ctr"/>
            <a:endParaRPr lang="fr-FR" sz="1100" dirty="0">
              <a:solidFill>
                <a:schemeClr val="tx1"/>
              </a:solidFill>
            </a:endParaRPr>
          </a:p>
          <a:p>
            <a:pPr algn="ctr"/>
            <a:r>
              <a:rPr lang="fr-FR" sz="1100" dirty="0">
                <a:solidFill>
                  <a:schemeClr val="tx1"/>
                </a:solidFill>
              </a:rPr>
              <a:t>Simplifie l’appropriation des décisions par rapport à un(e) seul(e) leader</a:t>
            </a:r>
          </a:p>
        </p:txBody>
      </p:sp>
    </p:spTree>
    <p:extLst>
      <p:ext uri="{BB962C8B-B14F-4D97-AF65-F5344CB8AC3E}">
        <p14:creationId xmlns:p14="http://schemas.microsoft.com/office/powerpoint/2010/main" val="352453652"/>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2EA3FF6-C16E-0387-513D-A082FB2A304E}"/>
              </a:ext>
            </a:extLst>
          </p:cNvPr>
          <p:cNvSpPr>
            <a:spLocks noGrp="1"/>
          </p:cNvSpPr>
          <p:nvPr>
            <p:ph type="title"/>
          </p:nvPr>
        </p:nvSpPr>
        <p:spPr>
          <a:xfrm>
            <a:off x="838200" y="365126"/>
            <a:ext cx="10515600" cy="733668"/>
          </a:xfrm>
        </p:spPr>
        <p:txBody>
          <a:bodyPr>
            <a:noAutofit/>
          </a:bodyPr>
          <a:lstStyle/>
          <a:p>
            <a:r>
              <a:rPr lang="fr-FR" sz="3600" dirty="0"/>
              <a:t>Niveau de centralisation des décisions </a:t>
            </a:r>
            <a:br>
              <a:rPr lang="fr-FR" sz="3600" dirty="0"/>
            </a:br>
            <a:r>
              <a:rPr lang="fr-FR" sz="3600" dirty="0"/>
              <a:t>Conditions favorables</a:t>
            </a:r>
          </a:p>
        </p:txBody>
      </p:sp>
      <p:sp>
        <p:nvSpPr>
          <p:cNvPr id="4" name="Flèche : double flèche horizontale 3">
            <a:extLst>
              <a:ext uri="{FF2B5EF4-FFF2-40B4-BE49-F238E27FC236}">
                <a16:creationId xmlns:a16="http://schemas.microsoft.com/office/drawing/2014/main" id="{1B8D61C3-81A0-31B4-E2FB-7AC7B41B03D8}"/>
              </a:ext>
            </a:extLst>
          </p:cNvPr>
          <p:cNvSpPr/>
          <p:nvPr/>
        </p:nvSpPr>
        <p:spPr>
          <a:xfrm>
            <a:off x="222191" y="2418426"/>
            <a:ext cx="11881059" cy="3602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sp>
        <p:nvSpPr>
          <p:cNvPr id="29" name="ZoneTexte 28">
            <a:extLst>
              <a:ext uri="{FF2B5EF4-FFF2-40B4-BE49-F238E27FC236}">
                <a16:creationId xmlns:a16="http://schemas.microsoft.com/office/drawing/2014/main" id="{6E484D5F-E755-5BB3-0483-3E324476BC6E}"/>
              </a:ext>
            </a:extLst>
          </p:cNvPr>
          <p:cNvSpPr txBox="1"/>
          <p:nvPr/>
        </p:nvSpPr>
        <p:spPr>
          <a:xfrm>
            <a:off x="10300676" y="2730275"/>
            <a:ext cx="1802574" cy="756059"/>
          </a:xfrm>
          <a:prstGeom prst="rect">
            <a:avLst/>
          </a:prstGeom>
          <a:noFill/>
        </p:spPr>
        <p:txBody>
          <a:bodyPr wrap="square">
            <a:spAutoFit/>
          </a:bodyPr>
          <a:lstStyle/>
          <a:p>
            <a:pPr algn="ctr"/>
            <a:r>
              <a:rPr lang="fr-FR" sz="1400" dirty="0"/>
              <a:t>Responsabilité est décentralisée chez les membres</a:t>
            </a:r>
          </a:p>
        </p:txBody>
      </p:sp>
      <p:sp>
        <p:nvSpPr>
          <p:cNvPr id="30" name="ZoneTexte 29">
            <a:extLst>
              <a:ext uri="{FF2B5EF4-FFF2-40B4-BE49-F238E27FC236}">
                <a16:creationId xmlns:a16="http://schemas.microsoft.com/office/drawing/2014/main" id="{B457523F-1815-3784-6F9E-D66819A71ACA}"/>
              </a:ext>
            </a:extLst>
          </p:cNvPr>
          <p:cNvSpPr txBox="1"/>
          <p:nvPr/>
        </p:nvSpPr>
        <p:spPr>
          <a:xfrm>
            <a:off x="-65955" y="2730275"/>
            <a:ext cx="1802574" cy="756059"/>
          </a:xfrm>
          <a:prstGeom prst="rect">
            <a:avLst/>
          </a:prstGeom>
          <a:noFill/>
        </p:spPr>
        <p:txBody>
          <a:bodyPr wrap="square">
            <a:spAutoFit/>
          </a:bodyPr>
          <a:lstStyle/>
          <a:p>
            <a:pPr algn="ctr"/>
            <a:r>
              <a:rPr lang="fr-FR" sz="1400" dirty="0"/>
              <a:t>Responsabilité est centralisée chez des leaders</a:t>
            </a:r>
          </a:p>
        </p:txBody>
      </p:sp>
      <p:grpSp>
        <p:nvGrpSpPr>
          <p:cNvPr id="5" name="Groupe 4">
            <a:extLst>
              <a:ext uri="{FF2B5EF4-FFF2-40B4-BE49-F238E27FC236}">
                <a16:creationId xmlns:a16="http://schemas.microsoft.com/office/drawing/2014/main" id="{1A9C8CFC-B03E-153E-D108-257487295336}"/>
              </a:ext>
            </a:extLst>
          </p:cNvPr>
          <p:cNvGrpSpPr/>
          <p:nvPr/>
        </p:nvGrpSpPr>
        <p:grpSpPr>
          <a:xfrm>
            <a:off x="168514" y="1378724"/>
            <a:ext cx="914400" cy="914400"/>
            <a:chOff x="168514" y="2615341"/>
            <a:chExt cx="914400" cy="914400"/>
          </a:xfrm>
        </p:grpSpPr>
        <p:pic>
          <p:nvPicPr>
            <p:cNvPr id="11" name="Graphique 10" descr="Homme conductrice avec un remplissage uni">
              <a:extLst>
                <a:ext uri="{FF2B5EF4-FFF2-40B4-BE49-F238E27FC236}">
                  <a16:creationId xmlns:a16="http://schemas.microsoft.com/office/drawing/2014/main" id="{3C86265E-30A5-B4E0-5DB1-FE2A5F0C531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514" y="2615341"/>
              <a:ext cx="914400" cy="914400"/>
            </a:xfrm>
            <a:prstGeom prst="rect">
              <a:avLst/>
            </a:prstGeom>
          </p:spPr>
        </p:pic>
        <p:sp>
          <p:nvSpPr>
            <p:cNvPr id="13" name="Rectangle 12">
              <a:extLst>
                <a:ext uri="{FF2B5EF4-FFF2-40B4-BE49-F238E27FC236}">
                  <a16:creationId xmlns:a16="http://schemas.microsoft.com/office/drawing/2014/main" id="{EAF4B9D8-5F88-E7F2-0782-C954AB384D8C}"/>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96" name="Groupe 195">
            <a:extLst>
              <a:ext uri="{FF2B5EF4-FFF2-40B4-BE49-F238E27FC236}">
                <a16:creationId xmlns:a16="http://schemas.microsoft.com/office/drawing/2014/main" id="{5FA889AE-2306-E385-5A49-082326D1013C}"/>
              </a:ext>
            </a:extLst>
          </p:cNvPr>
          <p:cNvGrpSpPr/>
          <p:nvPr/>
        </p:nvGrpSpPr>
        <p:grpSpPr>
          <a:xfrm>
            <a:off x="5036368" y="1445073"/>
            <a:ext cx="911213" cy="837974"/>
            <a:chOff x="3581321" y="2486328"/>
            <a:chExt cx="1084118" cy="996982"/>
          </a:xfrm>
        </p:grpSpPr>
        <p:grpSp>
          <p:nvGrpSpPr>
            <p:cNvPr id="3" name="Groupe 2">
              <a:extLst>
                <a:ext uri="{FF2B5EF4-FFF2-40B4-BE49-F238E27FC236}">
                  <a16:creationId xmlns:a16="http://schemas.microsoft.com/office/drawing/2014/main" id="{7F912EE1-FF45-10E2-133F-20A7AF858B98}"/>
                </a:ext>
              </a:extLst>
            </p:cNvPr>
            <p:cNvGrpSpPr/>
            <p:nvPr/>
          </p:nvGrpSpPr>
          <p:grpSpPr>
            <a:xfrm>
              <a:off x="3869497" y="3026110"/>
              <a:ext cx="457200" cy="457200"/>
              <a:chOff x="3982824" y="1896400"/>
              <a:chExt cx="914400" cy="914400"/>
            </a:xfrm>
          </p:grpSpPr>
          <p:pic>
            <p:nvPicPr>
              <p:cNvPr id="14" name="Graphique 13" descr="Homme conductrice avec un remplissage uni">
                <a:extLst>
                  <a:ext uri="{FF2B5EF4-FFF2-40B4-BE49-F238E27FC236}">
                    <a16:creationId xmlns:a16="http://schemas.microsoft.com/office/drawing/2014/main" id="{DD08FC1A-8D93-8C48-AB22-58667C2121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5" name="Rectangle 14">
                <a:extLst>
                  <a:ext uri="{FF2B5EF4-FFF2-40B4-BE49-F238E27FC236}">
                    <a16:creationId xmlns:a16="http://schemas.microsoft.com/office/drawing/2014/main" id="{5FF7C9F3-54C9-51C1-5099-0E1D84B26F5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6" name="Groupe 15">
              <a:extLst>
                <a:ext uri="{FF2B5EF4-FFF2-40B4-BE49-F238E27FC236}">
                  <a16:creationId xmlns:a16="http://schemas.microsoft.com/office/drawing/2014/main" id="{F52C4471-DAC8-4656-659D-64D4C9AA2B41}"/>
                </a:ext>
              </a:extLst>
            </p:cNvPr>
            <p:cNvGrpSpPr/>
            <p:nvPr/>
          </p:nvGrpSpPr>
          <p:grpSpPr>
            <a:xfrm>
              <a:off x="3581321" y="2797510"/>
              <a:ext cx="457200" cy="457200"/>
              <a:chOff x="3982824" y="1896400"/>
              <a:chExt cx="914400" cy="914400"/>
            </a:xfrm>
          </p:grpSpPr>
          <p:pic>
            <p:nvPicPr>
              <p:cNvPr id="17" name="Graphique 16" descr="Homme conductrice avec un remplissage uni">
                <a:extLst>
                  <a:ext uri="{FF2B5EF4-FFF2-40B4-BE49-F238E27FC236}">
                    <a16:creationId xmlns:a16="http://schemas.microsoft.com/office/drawing/2014/main" id="{BC52C520-6E3B-C4BD-0B26-5BA624FA239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8" name="Rectangle 17">
                <a:extLst>
                  <a:ext uri="{FF2B5EF4-FFF2-40B4-BE49-F238E27FC236}">
                    <a16:creationId xmlns:a16="http://schemas.microsoft.com/office/drawing/2014/main" id="{68924C14-4722-5C6E-4B09-15CFA01A816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9" name="Groupe 18">
              <a:extLst>
                <a:ext uri="{FF2B5EF4-FFF2-40B4-BE49-F238E27FC236}">
                  <a16:creationId xmlns:a16="http://schemas.microsoft.com/office/drawing/2014/main" id="{703BEBC2-C031-2598-DFF9-50E1B08DC814}"/>
                </a:ext>
              </a:extLst>
            </p:cNvPr>
            <p:cNvGrpSpPr/>
            <p:nvPr/>
          </p:nvGrpSpPr>
          <p:grpSpPr>
            <a:xfrm>
              <a:off x="3913098" y="2486328"/>
              <a:ext cx="457200" cy="457200"/>
              <a:chOff x="3982824" y="1896400"/>
              <a:chExt cx="914400" cy="914400"/>
            </a:xfrm>
          </p:grpSpPr>
          <p:pic>
            <p:nvPicPr>
              <p:cNvPr id="20" name="Graphique 19" descr="Homme conductrice avec un remplissage uni">
                <a:extLst>
                  <a:ext uri="{FF2B5EF4-FFF2-40B4-BE49-F238E27FC236}">
                    <a16:creationId xmlns:a16="http://schemas.microsoft.com/office/drawing/2014/main" id="{36AC1E7B-72E6-5EDF-C949-B1396676FFA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1" name="Rectangle 20">
                <a:extLst>
                  <a:ext uri="{FF2B5EF4-FFF2-40B4-BE49-F238E27FC236}">
                    <a16:creationId xmlns:a16="http://schemas.microsoft.com/office/drawing/2014/main" id="{BE048EAC-0E2B-EFDF-69A3-E10B9DA46454}"/>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2" name="Groupe 21">
              <a:extLst>
                <a:ext uri="{FF2B5EF4-FFF2-40B4-BE49-F238E27FC236}">
                  <a16:creationId xmlns:a16="http://schemas.microsoft.com/office/drawing/2014/main" id="{0FFFF44E-B82C-3D87-F64F-1B58829AF65B}"/>
                </a:ext>
              </a:extLst>
            </p:cNvPr>
            <p:cNvGrpSpPr/>
            <p:nvPr/>
          </p:nvGrpSpPr>
          <p:grpSpPr>
            <a:xfrm>
              <a:off x="4208239" y="2811507"/>
              <a:ext cx="457200" cy="457200"/>
              <a:chOff x="3982824" y="1896400"/>
              <a:chExt cx="914400" cy="914400"/>
            </a:xfrm>
          </p:grpSpPr>
          <p:pic>
            <p:nvPicPr>
              <p:cNvPr id="24" name="Graphique 23" descr="Homme conductrice avec un remplissage uni">
                <a:extLst>
                  <a:ext uri="{FF2B5EF4-FFF2-40B4-BE49-F238E27FC236}">
                    <a16:creationId xmlns:a16="http://schemas.microsoft.com/office/drawing/2014/main" id="{4A749839-CC6C-552F-6982-72C73D80FC1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6" name="Rectangle 25">
                <a:extLst>
                  <a:ext uri="{FF2B5EF4-FFF2-40B4-BE49-F238E27FC236}">
                    <a16:creationId xmlns:a16="http://schemas.microsoft.com/office/drawing/2014/main" id="{EDF07221-05F2-F80D-36B5-3E4C90098C2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80" name="Groupe 79">
            <a:extLst>
              <a:ext uri="{FF2B5EF4-FFF2-40B4-BE49-F238E27FC236}">
                <a16:creationId xmlns:a16="http://schemas.microsoft.com/office/drawing/2014/main" id="{76DF1703-0294-1B21-C7EB-B430AE5FF158}"/>
              </a:ext>
            </a:extLst>
          </p:cNvPr>
          <p:cNvGrpSpPr/>
          <p:nvPr/>
        </p:nvGrpSpPr>
        <p:grpSpPr>
          <a:xfrm>
            <a:off x="10832785" y="1323371"/>
            <a:ext cx="1220507" cy="1027736"/>
            <a:chOff x="8572649" y="1655556"/>
            <a:chExt cx="1409636" cy="1186993"/>
          </a:xfrm>
        </p:grpSpPr>
        <p:grpSp>
          <p:nvGrpSpPr>
            <p:cNvPr id="27" name="Groupe 26">
              <a:extLst>
                <a:ext uri="{FF2B5EF4-FFF2-40B4-BE49-F238E27FC236}">
                  <a16:creationId xmlns:a16="http://schemas.microsoft.com/office/drawing/2014/main" id="{0CDB3920-1489-9D70-C71F-FD85070368F1}"/>
                </a:ext>
              </a:extLst>
            </p:cNvPr>
            <p:cNvGrpSpPr/>
            <p:nvPr/>
          </p:nvGrpSpPr>
          <p:grpSpPr>
            <a:xfrm>
              <a:off x="8572649" y="1655556"/>
              <a:ext cx="1409636" cy="1186993"/>
              <a:chOff x="8982504" y="3274976"/>
              <a:chExt cx="1230670" cy="1036294"/>
            </a:xfrm>
            <a:solidFill>
              <a:srgbClr val="ED7D31"/>
            </a:solidFill>
          </p:grpSpPr>
          <p:pic>
            <p:nvPicPr>
              <p:cNvPr id="31" name="Graphique 30" descr="Utilisateur avec un remplissage uni">
                <a:extLst>
                  <a:ext uri="{FF2B5EF4-FFF2-40B4-BE49-F238E27FC236}">
                    <a16:creationId xmlns:a16="http://schemas.microsoft.com/office/drawing/2014/main" id="{A495576E-F8A8-EFD7-70F0-4B75ED7DD2D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01028" y="3274976"/>
                <a:ext cx="336064" cy="336064"/>
              </a:xfrm>
              <a:prstGeom prst="rect">
                <a:avLst/>
              </a:prstGeom>
            </p:spPr>
          </p:pic>
          <p:pic>
            <p:nvPicPr>
              <p:cNvPr id="32" name="Graphique 31" descr="Utilisateur avec un remplissage uni">
                <a:extLst>
                  <a:ext uri="{FF2B5EF4-FFF2-40B4-BE49-F238E27FC236}">
                    <a16:creationId xmlns:a16="http://schemas.microsoft.com/office/drawing/2014/main" id="{F1553783-5166-0548-73B5-ED0985240F0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54140" y="3512720"/>
                <a:ext cx="336064" cy="336064"/>
              </a:xfrm>
              <a:prstGeom prst="rect">
                <a:avLst/>
              </a:prstGeom>
            </p:spPr>
          </p:pic>
          <p:pic>
            <p:nvPicPr>
              <p:cNvPr id="33" name="Graphique 32" descr="Utilisateur avec un remplissage uni">
                <a:extLst>
                  <a:ext uri="{FF2B5EF4-FFF2-40B4-BE49-F238E27FC236}">
                    <a16:creationId xmlns:a16="http://schemas.microsoft.com/office/drawing/2014/main" id="{0E799515-D3DE-349A-7DD3-83F37B3E364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34" name="Graphique 33" descr="Utilisateur avec un remplissage uni">
                <a:extLst>
                  <a:ext uri="{FF2B5EF4-FFF2-40B4-BE49-F238E27FC236}">
                    <a16:creationId xmlns:a16="http://schemas.microsoft.com/office/drawing/2014/main" id="{DC362F65-C83C-72DA-BC29-9000AF69A2D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35" name="Graphique 34" descr="Utilisateur avec un remplissage uni">
                <a:extLst>
                  <a:ext uri="{FF2B5EF4-FFF2-40B4-BE49-F238E27FC236}">
                    <a16:creationId xmlns:a16="http://schemas.microsoft.com/office/drawing/2014/main" id="{254FCD80-1867-1504-4012-15788F327FC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36" name="Graphique 35" descr="Utilisateur avec un remplissage uni">
                <a:extLst>
                  <a:ext uri="{FF2B5EF4-FFF2-40B4-BE49-F238E27FC236}">
                    <a16:creationId xmlns:a16="http://schemas.microsoft.com/office/drawing/2014/main" id="{CD7CCBB5-5AF8-AA04-7FB1-E67871F293B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37" name="Graphique 36" descr="Utilisateur avec un remplissage uni">
                <a:extLst>
                  <a:ext uri="{FF2B5EF4-FFF2-40B4-BE49-F238E27FC236}">
                    <a16:creationId xmlns:a16="http://schemas.microsoft.com/office/drawing/2014/main" id="{BC57CE7F-5D1E-3C5D-162E-B49AB38F414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38" name="Graphique 37" descr="Utilisateur avec un remplissage uni">
                <a:extLst>
                  <a:ext uri="{FF2B5EF4-FFF2-40B4-BE49-F238E27FC236}">
                    <a16:creationId xmlns:a16="http://schemas.microsoft.com/office/drawing/2014/main" id="{937273B5-60E5-1CC5-BC35-ECA6725B0B5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39" name="Graphique 38" descr="Utilisateur avec un remplissage uni">
                <a:extLst>
                  <a:ext uri="{FF2B5EF4-FFF2-40B4-BE49-F238E27FC236}">
                    <a16:creationId xmlns:a16="http://schemas.microsoft.com/office/drawing/2014/main" id="{2F508100-D97E-AF81-709A-0D2FCFC776B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83417" y="3975206"/>
                <a:ext cx="336064" cy="336064"/>
              </a:xfrm>
              <a:prstGeom prst="rect">
                <a:avLst/>
              </a:prstGeom>
            </p:spPr>
          </p:pic>
          <p:pic>
            <p:nvPicPr>
              <p:cNvPr id="40" name="Graphique 39" descr="Utilisateur avec un remplissage uni">
                <a:extLst>
                  <a:ext uri="{FF2B5EF4-FFF2-40B4-BE49-F238E27FC236}">
                    <a16:creationId xmlns:a16="http://schemas.microsoft.com/office/drawing/2014/main" id="{6A8D51CC-8F77-136C-3462-B48118B77C7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41" name="Graphique 40" descr="Utilisateur avec un remplissage uni">
                <a:extLst>
                  <a:ext uri="{FF2B5EF4-FFF2-40B4-BE49-F238E27FC236}">
                    <a16:creationId xmlns:a16="http://schemas.microsoft.com/office/drawing/2014/main" id="{563F5F2A-DD2B-392F-5AD4-B4B0894CB20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47" name="Groupe 46">
              <a:extLst>
                <a:ext uri="{FF2B5EF4-FFF2-40B4-BE49-F238E27FC236}">
                  <a16:creationId xmlns:a16="http://schemas.microsoft.com/office/drawing/2014/main" id="{68F598FC-8E0B-B58F-646A-438971FE06B7}"/>
                </a:ext>
              </a:extLst>
            </p:cNvPr>
            <p:cNvGrpSpPr/>
            <p:nvPr/>
          </p:nvGrpSpPr>
          <p:grpSpPr>
            <a:xfrm>
              <a:off x="8937492" y="1776645"/>
              <a:ext cx="102144" cy="191413"/>
              <a:chOff x="10178180" y="1782664"/>
              <a:chExt cx="102144" cy="191413"/>
            </a:xfrm>
          </p:grpSpPr>
          <p:cxnSp>
            <p:nvCxnSpPr>
              <p:cNvPr id="48" name="Connecteur droit 47">
                <a:extLst>
                  <a:ext uri="{FF2B5EF4-FFF2-40B4-BE49-F238E27FC236}">
                    <a16:creationId xmlns:a16="http://schemas.microsoft.com/office/drawing/2014/main" id="{728B653A-A12F-3A93-E212-995B779883B6}"/>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49" name="Ellipse 48">
                <a:extLst>
                  <a:ext uri="{FF2B5EF4-FFF2-40B4-BE49-F238E27FC236}">
                    <a16:creationId xmlns:a16="http://schemas.microsoft.com/office/drawing/2014/main" id="{9F1336B0-1883-0BF7-F9EB-8038963340DC}"/>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0" name="Groupe 49">
              <a:extLst>
                <a:ext uri="{FF2B5EF4-FFF2-40B4-BE49-F238E27FC236}">
                  <a16:creationId xmlns:a16="http://schemas.microsoft.com/office/drawing/2014/main" id="{89579BE6-80E6-AF2B-2712-7D1CEBCF4376}"/>
                </a:ext>
              </a:extLst>
            </p:cNvPr>
            <p:cNvGrpSpPr/>
            <p:nvPr/>
          </p:nvGrpSpPr>
          <p:grpSpPr>
            <a:xfrm>
              <a:off x="9268284" y="1944784"/>
              <a:ext cx="102144" cy="191413"/>
              <a:chOff x="10178180" y="1782664"/>
              <a:chExt cx="102144" cy="191413"/>
            </a:xfrm>
          </p:grpSpPr>
          <p:cxnSp>
            <p:nvCxnSpPr>
              <p:cNvPr id="51" name="Connecteur droit 50">
                <a:extLst>
                  <a:ext uri="{FF2B5EF4-FFF2-40B4-BE49-F238E27FC236}">
                    <a16:creationId xmlns:a16="http://schemas.microsoft.com/office/drawing/2014/main" id="{3AEBCE0E-6F9F-F53C-2D04-CA2FE5742D97}"/>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2" name="Ellipse 51">
                <a:extLst>
                  <a:ext uri="{FF2B5EF4-FFF2-40B4-BE49-F238E27FC236}">
                    <a16:creationId xmlns:a16="http://schemas.microsoft.com/office/drawing/2014/main" id="{500F5E42-DD45-7593-8C86-158DA4BF4A86}"/>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 name="Groupe 52">
              <a:extLst>
                <a:ext uri="{FF2B5EF4-FFF2-40B4-BE49-F238E27FC236}">
                  <a16:creationId xmlns:a16="http://schemas.microsoft.com/office/drawing/2014/main" id="{23DA674B-DAA1-BD66-539C-1E29FF7AC0AD}"/>
                </a:ext>
              </a:extLst>
            </p:cNvPr>
            <p:cNvGrpSpPr/>
            <p:nvPr/>
          </p:nvGrpSpPr>
          <p:grpSpPr>
            <a:xfrm>
              <a:off x="9584871" y="1954555"/>
              <a:ext cx="102144" cy="191413"/>
              <a:chOff x="10178180" y="1782664"/>
              <a:chExt cx="102144" cy="191413"/>
            </a:xfrm>
          </p:grpSpPr>
          <p:cxnSp>
            <p:nvCxnSpPr>
              <p:cNvPr id="54" name="Connecteur droit 53">
                <a:extLst>
                  <a:ext uri="{FF2B5EF4-FFF2-40B4-BE49-F238E27FC236}">
                    <a16:creationId xmlns:a16="http://schemas.microsoft.com/office/drawing/2014/main" id="{E5F5C14B-8A3E-B4CE-5037-5FF9CF025C2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5" name="Ellipse 54">
                <a:extLst>
                  <a:ext uri="{FF2B5EF4-FFF2-40B4-BE49-F238E27FC236}">
                    <a16:creationId xmlns:a16="http://schemas.microsoft.com/office/drawing/2014/main" id="{01EA48E3-2A4A-20F8-BEAB-D402501293CA}"/>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 name="Groupe 55">
              <a:extLst>
                <a:ext uri="{FF2B5EF4-FFF2-40B4-BE49-F238E27FC236}">
                  <a16:creationId xmlns:a16="http://schemas.microsoft.com/office/drawing/2014/main" id="{4C726DA9-C6F6-94C3-788F-97DA961118FD}"/>
                </a:ext>
              </a:extLst>
            </p:cNvPr>
            <p:cNvGrpSpPr/>
            <p:nvPr/>
          </p:nvGrpSpPr>
          <p:grpSpPr>
            <a:xfrm>
              <a:off x="9610640" y="2276238"/>
              <a:ext cx="102144" cy="191413"/>
              <a:chOff x="10178180" y="1782664"/>
              <a:chExt cx="102144" cy="191413"/>
            </a:xfrm>
          </p:grpSpPr>
          <p:cxnSp>
            <p:nvCxnSpPr>
              <p:cNvPr id="57" name="Connecteur droit 56">
                <a:extLst>
                  <a:ext uri="{FF2B5EF4-FFF2-40B4-BE49-F238E27FC236}">
                    <a16:creationId xmlns:a16="http://schemas.microsoft.com/office/drawing/2014/main" id="{5F621760-1CD6-2BA8-8584-E302BEEB39C7}"/>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8" name="Ellipse 57">
                <a:extLst>
                  <a:ext uri="{FF2B5EF4-FFF2-40B4-BE49-F238E27FC236}">
                    <a16:creationId xmlns:a16="http://schemas.microsoft.com/office/drawing/2014/main" id="{3B0909A5-2FBF-75F2-0D7B-319C0FDF942F}"/>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a:extLst>
                <a:ext uri="{FF2B5EF4-FFF2-40B4-BE49-F238E27FC236}">
                  <a16:creationId xmlns:a16="http://schemas.microsoft.com/office/drawing/2014/main" id="{C7AA4686-D40E-6D1D-16F8-0CE4C1A43540}"/>
                </a:ext>
              </a:extLst>
            </p:cNvPr>
            <p:cNvGrpSpPr/>
            <p:nvPr/>
          </p:nvGrpSpPr>
          <p:grpSpPr>
            <a:xfrm>
              <a:off x="9334800" y="2253116"/>
              <a:ext cx="102144" cy="191413"/>
              <a:chOff x="10178180" y="1782664"/>
              <a:chExt cx="102144" cy="191413"/>
            </a:xfrm>
          </p:grpSpPr>
          <p:cxnSp>
            <p:nvCxnSpPr>
              <p:cNvPr id="60" name="Connecteur droit 59">
                <a:extLst>
                  <a:ext uri="{FF2B5EF4-FFF2-40B4-BE49-F238E27FC236}">
                    <a16:creationId xmlns:a16="http://schemas.microsoft.com/office/drawing/2014/main" id="{6C2B2761-371E-3435-BE6F-ED4500D787EB}"/>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61" name="Ellipse 60">
                <a:extLst>
                  <a:ext uri="{FF2B5EF4-FFF2-40B4-BE49-F238E27FC236}">
                    <a16:creationId xmlns:a16="http://schemas.microsoft.com/office/drawing/2014/main" id="{0CE5238E-5AD8-8B9A-AEFF-41B8C8FAFCDA}"/>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2" name="Groupe 61">
              <a:extLst>
                <a:ext uri="{FF2B5EF4-FFF2-40B4-BE49-F238E27FC236}">
                  <a16:creationId xmlns:a16="http://schemas.microsoft.com/office/drawing/2014/main" id="{153237C4-6B2D-B058-C768-41B152A3560F}"/>
                </a:ext>
              </a:extLst>
            </p:cNvPr>
            <p:cNvGrpSpPr/>
            <p:nvPr/>
          </p:nvGrpSpPr>
          <p:grpSpPr>
            <a:xfrm>
              <a:off x="8988065" y="2116634"/>
              <a:ext cx="102144" cy="191413"/>
              <a:chOff x="10178180" y="1782664"/>
              <a:chExt cx="102144" cy="191413"/>
            </a:xfrm>
          </p:grpSpPr>
          <p:cxnSp>
            <p:nvCxnSpPr>
              <p:cNvPr id="63" name="Connecteur droit 62">
                <a:extLst>
                  <a:ext uri="{FF2B5EF4-FFF2-40B4-BE49-F238E27FC236}">
                    <a16:creationId xmlns:a16="http://schemas.microsoft.com/office/drawing/2014/main" id="{87A807BF-4CE4-B965-994A-2361C7681F0F}"/>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64" name="Ellipse 63">
                <a:extLst>
                  <a:ext uri="{FF2B5EF4-FFF2-40B4-BE49-F238E27FC236}">
                    <a16:creationId xmlns:a16="http://schemas.microsoft.com/office/drawing/2014/main" id="{C821FC70-C081-A098-44C8-C43A0A27F84C}"/>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5" name="Groupe 64">
              <a:extLst>
                <a:ext uri="{FF2B5EF4-FFF2-40B4-BE49-F238E27FC236}">
                  <a16:creationId xmlns:a16="http://schemas.microsoft.com/office/drawing/2014/main" id="{096046CC-F81D-67CA-B237-49213223E4BD}"/>
                </a:ext>
              </a:extLst>
            </p:cNvPr>
            <p:cNvGrpSpPr/>
            <p:nvPr/>
          </p:nvGrpSpPr>
          <p:grpSpPr>
            <a:xfrm>
              <a:off x="8656873" y="2059330"/>
              <a:ext cx="102144" cy="191413"/>
              <a:chOff x="10178180" y="1782664"/>
              <a:chExt cx="102144" cy="191413"/>
            </a:xfrm>
          </p:grpSpPr>
          <p:cxnSp>
            <p:nvCxnSpPr>
              <p:cNvPr id="66" name="Connecteur droit 65">
                <a:extLst>
                  <a:ext uri="{FF2B5EF4-FFF2-40B4-BE49-F238E27FC236}">
                    <a16:creationId xmlns:a16="http://schemas.microsoft.com/office/drawing/2014/main" id="{D1821798-3C99-7F36-09F7-581C2E5904E3}"/>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67" name="Ellipse 66">
                <a:extLst>
                  <a:ext uri="{FF2B5EF4-FFF2-40B4-BE49-F238E27FC236}">
                    <a16:creationId xmlns:a16="http://schemas.microsoft.com/office/drawing/2014/main" id="{7FEE50A2-6244-3632-B911-F14C3B5C1D3A}"/>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8" name="Groupe 67">
              <a:extLst>
                <a:ext uri="{FF2B5EF4-FFF2-40B4-BE49-F238E27FC236}">
                  <a16:creationId xmlns:a16="http://schemas.microsoft.com/office/drawing/2014/main" id="{98C1BB5B-65BE-7525-93B4-185DCAD9FF2A}"/>
                </a:ext>
              </a:extLst>
            </p:cNvPr>
            <p:cNvGrpSpPr/>
            <p:nvPr/>
          </p:nvGrpSpPr>
          <p:grpSpPr>
            <a:xfrm>
              <a:off x="8574420" y="2433143"/>
              <a:ext cx="102144" cy="191413"/>
              <a:chOff x="10178180" y="1782664"/>
              <a:chExt cx="102144" cy="191413"/>
            </a:xfrm>
          </p:grpSpPr>
          <p:cxnSp>
            <p:nvCxnSpPr>
              <p:cNvPr id="69" name="Connecteur droit 68">
                <a:extLst>
                  <a:ext uri="{FF2B5EF4-FFF2-40B4-BE49-F238E27FC236}">
                    <a16:creationId xmlns:a16="http://schemas.microsoft.com/office/drawing/2014/main" id="{4CBA8EDE-769D-BE57-D362-BD7961914504}"/>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0" name="Ellipse 69">
                <a:extLst>
                  <a:ext uri="{FF2B5EF4-FFF2-40B4-BE49-F238E27FC236}">
                    <a16:creationId xmlns:a16="http://schemas.microsoft.com/office/drawing/2014/main" id="{DA425053-94E9-FA97-154B-789CDB6D714B}"/>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1" name="Groupe 70">
              <a:extLst>
                <a:ext uri="{FF2B5EF4-FFF2-40B4-BE49-F238E27FC236}">
                  <a16:creationId xmlns:a16="http://schemas.microsoft.com/office/drawing/2014/main" id="{1747764C-FED7-005A-DC65-E463A6BCBFB2}"/>
                </a:ext>
              </a:extLst>
            </p:cNvPr>
            <p:cNvGrpSpPr/>
            <p:nvPr/>
          </p:nvGrpSpPr>
          <p:grpSpPr>
            <a:xfrm>
              <a:off x="8888568" y="2441622"/>
              <a:ext cx="102144" cy="191413"/>
              <a:chOff x="10178180" y="1782664"/>
              <a:chExt cx="102144" cy="191413"/>
            </a:xfrm>
          </p:grpSpPr>
          <p:cxnSp>
            <p:nvCxnSpPr>
              <p:cNvPr id="72" name="Connecteur droit 71">
                <a:extLst>
                  <a:ext uri="{FF2B5EF4-FFF2-40B4-BE49-F238E27FC236}">
                    <a16:creationId xmlns:a16="http://schemas.microsoft.com/office/drawing/2014/main" id="{C0310995-BC66-4DD3-3B21-F81EE1CF5492}"/>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3" name="Ellipse 72">
                <a:extLst>
                  <a:ext uri="{FF2B5EF4-FFF2-40B4-BE49-F238E27FC236}">
                    <a16:creationId xmlns:a16="http://schemas.microsoft.com/office/drawing/2014/main" id="{82F5E7E7-BE45-4381-D9D9-B99FFED8DCE1}"/>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4" name="Groupe 73">
              <a:extLst>
                <a:ext uri="{FF2B5EF4-FFF2-40B4-BE49-F238E27FC236}">
                  <a16:creationId xmlns:a16="http://schemas.microsoft.com/office/drawing/2014/main" id="{640C4F54-82A3-4F5A-498D-05DBCA042FA9}"/>
                </a:ext>
              </a:extLst>
            </p:cNvPr>
            <p:cNvGrpSpPr/>
            <p:nvPr/>
          </p:nvGrpSpPr>
          <p:grpSpPr>
            <a:xfrm>
              <a:off x="9195077" y="2553446"/>
              <a:ext cx="102144" cy="191413"/>
              <a:chOff x="10178180" y="1782664"/>
              <a:chExt cx="102144" cy="191413"/>
            </a:xfrm>
          </p:grpSpPr>
          <p:cxnSp>
            <p:nvCxnSpPr>
              <p:cNvPr id="75" name="Connecteur droit 74">
                <a:extLst>
                  <a:ext uri="{FF2B5EF4-FFF2-40B4-BE49-F238E27FC236}">
                    <a16:creationId xmlns:a16="http://schemas.microsoft.com/office/drawing/2014/main" id="{4D27A2EB-C5A6-383B-EC0E-D015C6F0465C}"/>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6" name="Ellipse 75">
                <a:extLst>
                  <a:ext uri="{FF2B5EF4-FFF2-40B4-BE49-F238E27FC236}">
                    <a16:creationId xmlns:a16="http://schemas.microsoft.com/office/drawing/2014/main" id="{D10DF949-CD88-BAB3-C6AE-9E9318C35C86}"/>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7" name="Groupe 76">
              <a:extLst>
                <a:ext uri="{FF2B5EF4-FFF2-40B4-BE49-F238E27FC236}">
                  <a16:creationId xmlns:a16="http://schemas.microsoft.com/office/drawing/2014/main" id="{82E195D3-0297-55BC-AC7A-64A01850B45C}"/>
                </a:ext>
              </a:extLst>
            </p:cNvPr>
            <p:cNvGrpSpPr/>
            <p:nvPr/>
          </p:nvGrpSpPr>
          <p:grpSpPr>
            <a:xfrm>
              <a:off x="9490032" y="2590463"/>
              <a:ext cx="102144" cy="191413"/>
              <a:chOff x="10178180" y="1782664"/>
              <a:chExt cx="102144" cy="191413"/>
            </a:xfrm>
          </p:grpSpPr>
          <p:cxnSp>
            <p:nvCxnSpPr>
              <p:cNvPr id="78" name="Connecteur droit 77">
                <a:extLst>
                  <a:ext uri="{FF2B5EF4-FFF2-40B4-BE49-F238E27FC236}">
                    <a16:creationId xmlns:a16="http://schemas.microsoft.com/office/drawing/2014/main" id="{23858187-F0FB-7E90-56D6-90FECDFC1352}"/>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79" name="Ellipse 78">
                <a:extLst>
                  <a:ext uri="{FF2B5EF4-FFF2-40B4-BE49-F238E27FC236}">
                    <a16:creationId xmlns:a16="http://schemas.microsoft.com/office/drawing/2014/main" id="{C0B9B745-FE73-95D3-9222-44A4C266DC6E}"/>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82" name="Groupe 81">
            <a:extLst>
              <a:ext uri="{FF2B5EF4-FFF2-40B4-BE49-F238E27FC236}">
                <a16:creationId xmlns:a16="http://schemas.microsoft.com/office/drawing/2014/main" id="{FF91FE13-1DB5-78D3-C518-919E45F2398B}"/>
              </a:ext>
            </a:extLst>
          </p:cNvPr>
          <p:cNvGrpSpPr/>
          <p:nvPr/>
        </p:nvGrpSpPr>
        <p:grpSpPr>
          <a:xfrm>
            <a:off x="9237422" y="1285203"/>
            <a:ext cx="1230159" cy="1035863"/>
            <a:chOff x="8572649" y="1655556"/>
            <a:chExt cx="1409636" cy="1186993"/>
          </a:xfrm>
        </p:grpSpPr>
        <p:grpSp>
          <p:nvGrpSpPr>
            <p:cNvPr id="83" name="Groupe 82">
              <a:extLst>
                <a:ext uri="{FF2B5EF4-FFF2-40B4-BE49-F238E27FC236}">
                  <a16:creationId xmlns:a16="http://schemas.microsoft.com/office/drawing/2014/main" id="{47093F6D-B03C-BD8F-1761-52646778CEE9}"/>
                </a:ext>
              </a:extLst>
            </p:cNvPr>
            <p:cNvGrpSpPr/>
            <p:nvPr/>
          </p:nvGrpSpPr>
          <p:grpSpPr>
            <a:xfrm>
              <a:off x="8572649" y="1655556"/>
              <a:ext cx="1409636" cy="1186993"/>
              <a:chOff x="8982504" y="3274976"/>
              <a:chExt cx="1230670" cy="1036294"/>
            </a:xfrm>
            <a:solidFill>
              <a:srgbClr val="ED7D31"/>
            </a:solidFill>
          </p:grpSpPr>
          <p:pic>
            <p:nvPicPr>
              <p:cNvPr id="117" name="Graphique 116" descr="Utilisateur avec un remplissage uni">
                <a:extLst>
                  <a:ext uri="{FF2B5EF4-FFF2-40B4-BE49-F238E27FC236}">
                    <a16:creationId xmlns:a16="http://schemas.microsoft.com/office/drawing/2014/main" id="{D3DB387E-03A9-52E8-654F-C8791AA3290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01028" y="3274976"/>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E9D16F13-D0FF-B4F9-8F3E-C79D923733F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54140" y="3512720"/>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313A5814-8660-83F5-3F92-BB6BE477636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120" name="Graphique 119" descr="Utilisateur avec un remplissage uni">
                <a:extLst>
                  <a:ext uri="{FF2B5EF4-FFF2-40B4-BE49-F238E27FC236}">
                    <a16:creationId xmlns:a16="http://schemas.microsoft.com/office/drawing/2014/main" id="{67EDA0F9-67D3-3A12-7402-5D6ACFEB797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121" name="Graphique 120" descr="Utilisateur avec un remplissage uni">
                <a:extLst>
                  <a:ext uri="{FF2B5EF4-FFF2-40B4-BE49-F238E27FC236}">
                    <a16:creationId xmlns:a16="http://schemas.microsoft.com/office/drawing/2014/main" id="{ED6EA79E-96B8-B109-9BDE-5C2449EA8F7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F13145A4-4363-AEBA-3470-FAA4478F50D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71F47DB5-C616-E79F-05AB-16D0291B2EE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B3B126FE-D29B-A1FB-8BA9-FFB63979A0E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125" name="Graphique 124" descr="Utilisateur avec un remplissage uni">
                <a:extLst>
                  <a:ext uri="{FF2B5EF4-FFF2-40B4-BE49-F238E27FC236}">
                    <a16:creationId xmlns:a16="http://schemas.microsoft.com/office/drawing/2014/main" id="{7422B299-2C81-9F2B-829F-F766FA7A072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83417" y="3975206"/>
                <a:ext cx="336064" cy="336064"/>
              </a:xfrm>
              <a:prstGeom prst="rect">
                <a:avLst/>
              </a:prstGeom>
            </p:spPr>
          </p:pic>
          <p:pic>
            <p:nvPicPr>
              <p:cNvPr id="126" name="Graphique 125" descr="Utilisateur avec un remplissage uni">
                <a:extLst>
                  <a:ext uri="{FF2B5EF4-FFF2-40B4-BE49-F238E27FC236}">
                    <a16:creationId xmlns:a16="http://schemas.microsoft.com/office/drawing/2014/main" id="{4072608D-2563-1520-94BD-C3CA470C283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127" name="Graphique 126" descr="Utilisateur avec un remplissage uni">
                <a:extLst>
                  <a:ext uri="{FF2B5EF4-FFF2-40B4-BE49-F238E27FC236}">
                    <a16:creationId xmlns:a16="http://schemas.microsoft.com/office/drawing/2014/main" id="{15E5063B-32D6-A49B-9CD1-F583A09C32F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84" name="Groupe 83">
              <a:extLst>
                <a:ext uri="{FF2B5EF4-FFF2-40B4-BE49-F238E27FC236}">
                  <a16:creationId xmlns:a16="http://schemas.microsoft.com/office/drawing/2014/main" id="{EA314F17-BBA7-0FF5-61D3-AE49BEDDE0EB}"/>
                </a:ext>
              </a:extLst>
            </p:cNvPr>
            <p:cNvGrpSpPr/>
            <p:nvPr/>
          </p:nvGrpSpPr>
          <p:grpSpPr>
            <a:xfrm>
              <a:off x="8937492" y="1776645"/>
              <a:ext cx="102144" cy="191413"/>
              <a:chOff x="10178180" y="1782664"/>
              <a:chExt cx="102144" cy="191413"/>
            </a:xfrm>
          </p:grpSpPr>
          <p:cxnSp>
            <p:nvCxnSpPr>
              <p:cNvPr id="115" name="Connecteur droit 114">
                <a:extLst>
                  <a:ext uri="{FF2B5EF4-FFF2-40B4-BE49-F238E27FC236}">
                    <a16:creationId xmlns:a16="http://schemas.microsoft.com/office/drawing/2014/main" id="{19E93377-4AEA-E0F7-A230-F1060412B0F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16" name="Ellipse 115">
                <a:extLst>
                  <a:ext uri="{FF2B5EF4-FFF2-40B4-BE49-F238E27FC236}">
                    <a16:creationId xmlns:a16="http://schemas.microsoft.com/office/drawing/2014/main" id="{762A3EAA-9171-BDD0-4DD9-31D8F242B4CE}"/>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14" name="Ellipse 113">
              <a:extLst>
                <a:ext uri="{FF2B5EF4-FFF2-40B4-BE49-F238E27FC236}">
                  <a16:creationId xmlns:a16="http://schemas.microsoft.com/office/drawing/2014/main" id="{8D01CD88-8FBD-09AE-BD84-8A8D25636F6C}"/>
                </a:ext>
              </a:extLst>
            </p:cNvPr>
            <p:cNvSpPr/>
            <p:nvPr/>
          </p:nvSpPr>
          <p:spPr>
            <a:xfrm>
              <a:off x="9301412" y="206718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2" name="Ellipse 111">
              <a:extLst>
                <a:ext uri="{FF2B5EF4-FFF2-40B4-BE49-F238E27FC236}">
                  <a16:creationId xmlns:a16="http://schemas.microsoft.com/office/drawing/2014/main" id="{AEC09D5A-3790-BA8B-C4E7-57ACAA47F04F}"/>
                </a:ext>
              </a:extLst>
            </p:cNvPr>
            <p:cNvSpPr/>
            <p:nvPr/>
          </p:nvSpPr>
          <p:spPr>
            <a:xfrm>
              <a:off x="9617999" y="2076952"/>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Ellipse 109">
              <a:extLst>
                <a:ext uri="{FF2B5EF4-FFF2-40B4-BE49-F238E27FC236}">
                  <a16:creationId xmlns:a16="http://schemas.microsoft.com/office/drawing/2014/main" id="{25930AA4-013B-585A-1FE0-A473950F70C7}"/>
                </a:ext>
              </a:extLst>
            </p:cNvPr>
            <p:cNvSpPr/>
            <p:nvPr/>
          </p:nvSpPr>
          <p:spPr>
            <a:xfrm>
              <a:off x="9643768" y="2398635"/>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Ellipse 107">
              <a:extLst>
                <a:ext uri="{FF2B5EF4-FFF2-40B4-BE49-F238E27FC236}">
                  <a16:creationId xmlns:a16="http://schemas.microsoft.com/office/drawing/2014/main" id="{8E4DC1D0-41E3-BCBF-A0B4-AA271FB08EC2}"/>
                </a:ext>
              </a:extLst>
            </p:cNvPr>
            <p:cNvSpPr/>
            <p:nvPr/>
          </p:nvSpPr>
          <p:spPr>
            <a:xfrm>
              <a:off x="9367928" y="237551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 name="Groupe 88">
              <a:extLst>
                <a:ext uri="{FF2B5EF4-FFF2-40B4-BE49-F238E27FC236}">
                  <a16:creationId xmlns:a16="http://schemas.microsoft.com/office/drawing/2014/main" id="{7F50F667-D994-9B38-D440-DE8EDA4D2785}"/>
                </a:ext>
              </a:extLst>
            </p:cNvPr>
            <p:cNvGrpSpPr/>
            <p:nvPr/>
          </p:nvGrpSpPr>
          <p:grpSpPr>
            <a:xfrm>
              <a:off x="8988065" y="2116634"/>
              <a:ext cx="102144" cy="191413"/>
              <a:chOff x="10178180" y="1782664"/>
              <a:chExt cx="102144" cy="191413"/>
            </a:xfrm>
          </p:grpSpPr>
          <p:cxnSp>
            <p:nvCxnSpPr>
              <p:cNvPr id="105" name="Connecteur droit 104">
                <a:extLst>
                  <a:ext uri="{FF2B5EF4-FFF2-40B4-BE49-F238E27FC236}">
                    <a16:creationId xmlns:a16="http://schemas.microsoft.com/office/drawing/2014/main" id="{7AA45FE3-3269-1ACA-7D49-9C79B17CA6E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6" name="Ellipse 105">
                <a:extLst>
                  <a:ext uri="{FF2B5EF4-FFF2-40B4-BE49-F238E27FC236}">
                    <a16:creationId xmlns:a16="http://schemas.microsoft.com/office/drawing/2014/main" id="{E44ED6E9-19BA-EFBC-7C30-164514525631}"/>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0" name="Groupe 89">
              <a:extLst>
                <a:ext uri="{FF2B5EF4-FFF2-40B4-BE49-F238E27FC236}">
                  <a16:creationId xmlns:a16="http://schemas.microsoft.com/office/drawing/2014/main" id="{2D54A68B-2E12-DBC6-C62C-2CD6FD29C843}"/>
                </a:ext>
              </a:extLst>
            </p:cNvPr>
            <p:cNvGrpSpPr/>
            <p:nvPr/>
          </p:nvGrpSpPr>
          <p:grpSpPr>
            <a:xfrm>
              <a:off x="8656873" y="2059330"/>
              <a:ext cx="102144" cy="191413"/>
              <a:chOff x="10178180" y="1782664"/>
              <a:chExt cx="102144" cy="191413"/>
            </a:xfrm>
          </p:grpSpPr>
          <p:cxnSp>
            <p:nvCxnSpPr>
              <p:cNvPr id="103" name="Connecteur droit 102">
                <a:extLst>
                  <a:ext uri="{FF2B5EF4-FFF2-40B4-BE49-F238E27FC236}">
                    <a16:creationId xmlns:a16="http://schemas.microsoft.com/office/drawing/2014/main" id="{76586263-BAA7-B7A2-3B73-F81F6C2B0FD6}"/>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4" name="Ellipse 103">
                <a:extLst>
                  <a:ext uri="{FF2B5EF4-FFF2-40B4-BE49-F238E27FC236}">
                    <a16:creationId xmlns:a16="http://schemas.microsoft.com/office/drawing/2014/main" id="{99CC86FC-5A74-43A4-A44C-7721F5FB51B9}"/>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1" name="Groupe 90">
              <a:extLst>
                <a:ext uri="{FF2B5EF4-FFF2-40B4-BE49-F238E27FC236}">
                  <a16:creationId xmlns:a16="http://schemas.microsoft.com/office/drawing/2014/main" id="{E94AF230-0075-1C54-BA52-DF8C81DAD8DF}"/>
                </a:ext>
              </a:extLst>
            </p:cNvPr>
            <p:cNvGrpSpPr/>
            <p:nvPr/>
          </p:nvGrpSpPr>
          <p:grpSpPr>
            <a:xfrm>
              <a:off x="8574420" y="2433143"/>
              <a:ext cx="102144" cy="191413"/>
              <a:chOff x="10178180" y="1782664"/>
              <a:chExt cx="102144" cy="191413"/>
            </a:xfrm>
          </p:grpSpPr>
          <p:cxnSp>
            <p:nvCxnSpPr>
              <p:cNvPr id="101" name="Connecteur droit 100">
                <a:extLst>
                  <a:ext uri="{FF2B5EF4-FFF2-40B4-BE49-F238E27FC236}">
                    <a16:creationId xmlns:a16="http://schemas.microsoft.com/office/drawing/2014/main" id="{BCFD34C1-8C34-9CBD-D91C-5C23938D780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2" name="Ellipse 101">
                <a:extLst>
                  <a:ext uri="{FF2B5EF4-FFF2-40B4-BE49-F238E27FC236}">
                    <a16:creationId xmlns:a16="http://schemas.microsoft.com/office/drawing/2014/main" id="{DD0A2262-5003-73F7-726D-8C9AF827917F}"/>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2" name="Groupe 91">
              <a:extLst>
                <a:ext uri="{FF2B5EF4-FFF2-40B4-BE49-F238E27FC236}">
                  <a16:creationId xmlns:a16="http://schemas.microsoft.com/office/drawing/2014/main" id="{C3197A3F-BBA2-C485-1DBF-7A9B8CA4793C}"/>
                </a:ext>
              </a:extLst>
            </p:cNvPr>
            <p:cNvGrpSpPr/>
            <p:nvPr/>
          </p:nvGrpSpPr>
          <p:grpSpPr>
            <a:xfrm>
              <a:off x="8888568" y="2441622"/>
              <a:ext cx="102144" cy="191413"/>
              <a:chOff x="10178180" y="1782664"/>
              <a:chExt cx="102144" cy="191413"/>
            </a:xfrm>
          </p:grpSpPr>
          <p:cxnSp>
            <p:nvCxnSpPr>
              <p:cNvPr id="99" name="Connecteur droit 98">
                <a:extLst>
                  <a:ext uri="{FF2B5EF4-FFF2-40B4-BE49-F238E27FC236}">
                    <a16:creationId xmlns:a16="http://schemas.microsoft.com/office/drawing/2014/main" id="{31D3B58A-A51E-0DB5-CD45-321CE33F3A7C}"/>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00" name="Ellipse 99">
                <a:extLst>
                  <a:ext uri="{FF2B5EF4-FFF2-40B4-BE49-F238E27FC236}">
                    <a16:creationId xmlns:a16="http://schemas.microsoft.com/office/drawing/2014/main" id="{51714F0A-7BA6-8008-3213-D89CEF1015A4}"/>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98" name="Ellipse 97">
              <a:extLst>
                <a:ext uri="{FF2B5EF4-FFF2-40B4-BE49-F238E27FC236}">
                  <a16:creationId xmlns:a16="http://schemas.microsoft.com/office/drawing/2014/main" id="{AAB996E5-8B2A-C897-6434-BD55C330FA14}"/>
                </a:ext>
              </a:extLst>
            </p:cNvPr>
            <p:cNvSpPr/>
            <p:nvPr/>
          </p:nvSpPr>
          <p:spPr>
            <a:xfrm>
              <a:off x="9228205" y="267584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6" name="Ellipse 95">
              <a:extLst>
                <a:ext uri="{FF2B5EF4-FFF2-40B4-BE49-F238E27FC236}">
                  <a16:creationId xmlns:a16="http://schemas.microsoft.com/office/drawing/2014/main" id="{B05F10E9-BB90-5471-794F-C660C6B11124}"/>
                </a:ext>
              </a:extLst>
            </p:cNvPr>
            <p:cNvSpPr/>
            <p:nvPr/>
          </p:nvSpPr>
          <p:spPr>
            <a:xfrm>
              <a:off x="9523160" y="2712860"/>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4" name="Groupe 193">
            <a:extLst>
              <a:ext uri="{FF2B5EF4-FFF2-40B4-BE49-F238E27FC236}">
                <a16:creationId xmlns:a16="http://schemas.microsoft.com/office/drawing/2014/main" id="{A8866C6A-2303-00EA-E0E6-3AA3836CE4DF}"/>
              </a:ext>
            </a:extLst>
          </p:cNvPr>
          <p:cNvGrpSpPr/>
          <p:nvPr/>
        </p:nvGrpSpPr>
        <p:grpSpPr>
          <a:xfrm>
            <a:off x="1218478" y="1426557"/>
            <a:ext cx="891895" cy="820209"/>
            <a:chOff x="1281387" y="2495253"/>
            <a:chExt cx="1084118" cy="996982"/>
          </a:xfrm>
        </p:grpSpPr>
        <p:grpSp>
          <p:nvGrpSpPr>
            <p:cNvPr id="129" name="Groupe 128">
              <a:extLst>
                <a:ext uri="{FF2B5EF4-FFF2-40B4-BE49-F238E27FC236}">
                  <a16:creationId xmlns:a16="http://schemas.microsoft.com/office/drawing/2014/main" id="{CD87458D-C676-86AE-2A00-DF844A0832E1}"/>
                </a:ext>
              </a:extLst>
            </p:cNvPr>
            <p:cNvGrpSpPr/>
            <p:nvPr/>
          </p:nvGrpSpPr>
          <p:grpSpPr>
            <a:xfrm>
              <a:off x="1569563" y="3035035"/>
              <a:ext cx="457200" cy="457200"/>
              <a:chOff x="3982824" y="1896400"/>
              <a:chExt cx="914400" cy="914400"/>
            </a:xfrm>
          </p:grpSpPr>
          <p:pic>
            <p:nvPicPr>
              <p:cNvPr id="130" name="Graphique 129" descr="Homme conductrice avec un remplissage uni">
                <a:extLst>
                  <a:ext uri="{FF2B5EF4-FFF2-40B4-BE49-F238E27FC236}">
                    <a16:creationId xmlns:a16="http://schemas.microsoft.com/office/drawing/2014/main" id="{3F776B8E-6FD1-EFE1-1952-A1750793CC5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31" name="Rectangle 130">
                <a:extLst>
                  <a:ext uri="{FF2B5EF4-FFF2-40B4-BE49-F238E27FC236}">
                    <a16:creationId xmlns:a16="http://schemas.microsoft.com/office/drawing/2014/main" id="{1D975489-6CCA-ADEF-9E2D-C43AA294F64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32" name="Groupe 131">
              <a:extLst>
                <a:ext uri="{FF2B5EF4-FFF2-40B4-BE49-F238E27FC236}">
                  <a16:creationId xmlns:a16="http://schemas.microsoft.com/office/drawing/2014/main" id="{0CCEF290-5A4C-B916-5E8F-3D849BD12EBB}"/>
                </a:ext>
              </a:extLst>
            </p:cNvPr>
            <p:cNvGrpSpPr/>
            <p:nvPr/>
          </p:nvGrpSpPr>
          <p:grpSpPr>
            <a:xfrm>
              <a:off x="1281387" y="2806435"/>
              <a:ext cx="457200" cy="457200"/>
              <a:chOff x="3982824" y="1896400"/>
              <a:chExt cx="914400" cy="914400"/>
            </a:xfrm>
          </p:grpSpPr>
          <p:pic>
            <p:nvPicPr>
              <p:cNvPr id="133" name="Graphique 132" descr="Homme conductrice avec un remplissage uni">
                <a:extLst>
                  <a:ext uri="{FF2B5EF4-FFF2-40B4-BE49-F238E27FC236}">
                    <a16:creationId xmlns:a16="http://schemas.microsoft.com/office/drawing/2014/main" id="{80A8E353-86F7-7283-FB60-EAE641EC2EE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134" name="Rectangle 133">
                <a:extLst>
                  <a:ext uri="{FF2B5EF4-FFF2-40B4-BE49-F238E27FC236}">
                    <a16:creationId xmlns:a16="http://schemas.microsoft.com/office/drawing/2014/main" id="{DD4D86E7-D0BB-017F-2A11-2430DB55EEA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35" name="Groupe 134">
              <a:extLst>
                <a:ext uri="{FF2B5EF4-FFF2-40B4-BE49-F238E27FC236}">
                  <a16:creationId xmlns:a16="http://schemas.microsoft.com/office/drawing/2014/main" id="{3F334C6C-B520-DB00-259B-331995ADC85F}"/>
                </a:ext>
              </a:extLst>
            </p:cNvPr>
            <p:cNvGrpSpPr/>
            <p:nvPr/>
          </p:nvGrpSpPr>
          <p:grpSpPr>
            <a:xfrm>
              <a:off x="1613164" y="2495253"/>
              <a:ext cx="457200" cy="457200"/>
              <a:chOff x="3982824" y="1896400"/>
              <a:chExt cx="914400" cy="914400"/>
            </a:xfrm>
          </p:grpSpPr>
          <p:pic>
            <p:nvPicPr>
              <p:cNvPr id="136" name="Graphique 135" descr="Homme conductrice avec un remplissage uni">
                <a:extLst>
                  <a:ext uri="{FF2B5EF4-FFF2-40B4-BE49-F238E27FC236}">
                    <a16:creationId xmlns:a16="http://schemas.microsoft.com/office/drawing/2014/main" id="{8F8FE6E4-E32A-2FC3-D4C6-5E431DD3F9F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37" name="Rectangle 136">
                <a:extLst>
                  <a:ext uri="{FF2B5EF4-FFF2-40B4-BE49-F238E27FC236}">
                    <a16:creationId xmlns:a16="http://schemas.microsoft.com/office/drawing/2014/main" id="{9562F67F-8035-D678-B9FE-07425C11CFE0}"/>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38" name="Groupe 137">
              <a:extLst>
                <a:ext uri="{FF2B5EF4-FFF2-40B4-BE49-F238E27FC236}">
                  <a16:creationId xmlns:a16="http://schemas.microsoft.com/office/drawing/2014/main" id="{0A43A8B1-E5A0-8573-8BFB-BE4A31E2DDE7}"/>
                </a:ext>
              </a:extLst>
            </p:cNvPr>
            <p:cNvGrpSpPr/>
            <p:nvPr/>
          </p:nvGrpSpPr>
          <p:grpSpPr>
            <a:xfrm>
              <a:off x="1908305" y="2820432"/>
              <a:ext cx="457200" cy="457200"/>
              <a:chOff x="3982824" y="1896400"/>
              <a:chExt cx="914400" cy="914400"/>
            </a:xfrm>
          </p:grpSpPr>
          <p:pic>
            <p:nvPicPr>
              <p:cNvPr id="139" name="Graphique 138" descr="Homme conductrice avec un remplissage uni">
                <a:extLst>
                  <a:ext uri="{FF2B5EF4-FFF2-40B4-BE49-F238E27FC236}">
                    <a16:creationId xmlns:a16="http://schemas.microsoft.com/office/drawing/2014/main" id="{33876E09-C820-D54A-EA0E-B73FCAB8F6B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40" name="Rectangle 139">
                <a:extLst>
                  <a:ext uri="{FF2B5EF4-FFF2-40B4-BE49-F238E27FC236}">
                    <a16:creationId xmlns:a16="http://schemas.microsoft.com/office/drawing/2014/main" id="{6FD8AB23-E826-13A4-2B44-A74C20D7919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11" name="Groupe 210">
            <a:extLst>
              <a:ext uri="{FF2B5EF4-FFF2-40B4-BE49-F238E27FC236}">
                <a16:creationId xmlns:a16="http://schemas.microsoft.com/office/drawing/2014/main" id="{2E12CAFA-E626-23E9-D9A2-46EB772C6D13}"/>
              </a:ext>
            </a:extLst>
          </p:cNvPr>
          <p:cNvGrpSpPr/>
          <p:nvPr/>
        </p:nvGrpSpPr>
        <p:grpSpPr>
          <a:xfrm>
            <a:off x="7739953" y="1380011"/>
            <a:ext cx="916532" cy="842866"/>
            <a:chOff x="7829288" y="2349771"/>
            <a:chExt cx="1084118" cy="996982"/>
          </a:xfrm>
        </p:grpSpPr>
        <p:grpSp>
          <p:nvGrpSpPr>
            <p:cNvPr id="141" name="Groupe 140">
              <a:extLst>
                <a:ext uri="{FF2B5EF4-FFF2-40B4-BE49-F238E27FC236}">
                  <a16:creationId xmlns:a16="http://schemas.microsoft.com/office/drawing/2014/main" id="{A8C0DF37-F9F7-CBB2-287C-8746FAEF646C}"/>
                </a:ext>
              </a:extLst>
            </p:cNvPr>
            <p:cNvGrpSpPr/>
            <p:nvPr/>
          </p:nvGrpSpPr>
          <p:grpSpPr>
            <a:xfrm>
              <a:off x="8117464" y="2889553"/>
              <a:ext cx="457200" cy="457200"/>
              <a:chOff x="3982824" y="1896400"/>
              <a:chExt cx="914400" cy="914400"/>
            </a:xfrm>
          </p:grpSpPr>
          <p:pic>
            <p:nvPicPr>
              <p:cNvPr id="142" name="Graphique 141" descr="Homme conductrice avec un remplissage uni">
                <a:extLst>
                  <a:ext uri="{FF2B5EF4-FFF2-40B4-BE49-F238E27FC236}">
                    <a16:creationId xmlns:a16="http://schemas.microsoft.com/office/drawing/2014/main" id="{1BFF74C9-AA26-33BB-1DC7-3AC51A8CE5F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43" name="Rectangle 142">
                <a:extLst>
                  <a:ext uri="{FF2B5EF4-FFF2-40B4-BE49-F238E27FC236}">
                    <a16:creationId xmlns:a16="http://schemas.microsoft.com/office/drawing/2014/main" id="{36704B31-E518-D9AB-1ACE-762839E5D93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44" name="Groupe 143">
              <a:extLst>
                <a:ext uri="{FF2B5EF4-FFF2-40B4-BE49-F238E27FC236}">
                  <a16:creationId xmlns:a16="http://schemas.microsoft.com/office/drawing/2014/main" id="{CC450B84-F961-35B8-0C2D-11F02F848D22}"/>
                </a:ext>
              </a:extLst>
            </p:cNvPr>
            <p:cNvGrpSpPr/>
            <p:nvPr/>
          </p:nvGrpSpPr>
          <p:grpSpPr>
            <a:xfrm>
              <a:off x="7829288" y="2660953"/>
              <a:ext cx="457200" cy="457200"/>
              <a:chOff x="3982824" y="1896400"/>
              <a:chExt cx="914400" cy="914400"/>
            </a:xfrm>
          </p:grpSpPr>
          <p:pic>
            <p:nvPicPr>
              <p:cNvPr id="145" name="Graphique 144" descr="Homme conductrice avec un remplissage uni">
                <a:extLst>
                  <a:ext uri="{FF2B5EF4-FFF2-40B4-BE49-F238E27FC236}">
                    <a16:creationId xmlns:a16="http://schemas.microsoft.com/office/drawing/2014/main" id="{18571E9B-E4D9-649F-AD31-974CD715739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46" name="Rectangle 145">
                <a:extLst>
                  <a:ext uri="{FF2B5EF4-FFF2-40B4-BE49-F238E27FC236}">
                    <a16:creationId xmlns:a16="http://schemas.microsoft.com/office/drawing/2014/main" id="{8432368A-C51E-1803-219C-E737D2588DD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47" name="Groupe 146">
              <a:extLst>
                <a:ext uri="{FF2B5EF4-FFF2-40B4-BE49-F238E27FC236}">
                  <a16:creationId xmlns:a16="http://schemas.microsoft.com/office/drawing/2014/main" id="{5AC3603F-04B7-393A-ECD6-CA880E4B8F51}"/>
                </a:ext>
              </a:extLst>
            </p:cNvPr>
            <p:cNvGrpSpPr/>
            <p:nvPr/>
          </p:nvGrpSpPr>
          <p:grpSpPr>
            <a:xfrm>
              <a:off x="8161065" y="2349771"/>
              <a:ext cx="457200" cy="457200"/>
              <a:chOff x="3982824" y="1896400"/>
              <a:chExt cx="914400" cy="914400"/>
            </a:xfrm>
          </p:grpSpPr>
          <p:pic>
            <p:nvPicPr>
              <p:cNvPr id="148" name="Graphique 147" descr="Homme conductrice avec un remplissage uni">
                <a:extLst>
                  <a:ext uri="{FF2B5EF4-FFF2-40B4-BE49-F238E27FC236}">
                    <a16:creationId xmlns:a16="http://schemas.microsoft.com/office/drawing/2014/main" id="{DD4262EC-32CB-9779-E36E-32B1E8AE230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49" name="Rectangle 148">
                <a:extLst>
                  <a:ext uri="{FF2B5EF4-FFF2-40B4-BE49-F238E27FC236}">
                    <a16:creationId xmlns:a16="http://schemas.microsoft.com/office/drawing/2014/main" id="{C457C34A-F7EA-3FDD-E4CB-7B611378CCD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50" name="Groupe 149">
              <a:extLst>
                <a:ext uri="{FF2B5EF4-FFF2-40B4-BE49-F238E27FC236}">
                  <a16:creationId xmlns:a16="http://schemas.microsoft.com/office/drawing/2014/main" id="{3E05E990-B85A-3621-EEFA-32B06FA843BF}"/>
                </a:ext>
              </a:extLst>
            </p:cNvPr>
            <p:cNvGrpSpPr/>
            <p:nvPr/>
          </p:nvGrpSpPr>
          <p:grpSpPr>
            <a:xfrm>
              <a:off x="8456206" y="2674950"/>
              <a:ext cx="457200" cy="457200"/>
              <a:chOff x="3982824" y="1896400"/>
              <a:chExt cx="914400" cy="914400"/>
            </a:xfrm>
          </p:grpSpPr>
          <p:pic>
            <p:nvPicPr>
              <p:cNvPr id="151" name="Graphique 150" descr="Homme conductrice avec un remplissage uni">
                <a:extLst>
                  <a:ext uri="{FF2B5EF4-FFF2-40B4-BE49-F238E27FC236}">
                    <a16:creationId xmlns:a16="http://schemas.microsoft.com/office/drawing/2014/main" id="{F0787F06-40F9-37FC-25D8-AC36C94F4D8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52" name="Rectangle 151">
                <a:extLst>
                  <a:ext uri="{FF2B5EF4-FFF2-40B4-BE49-F238E27FC236}">
                    <a16:creationId xmlns:a16="http://schemas.microsoft.com/office/drawing/2014/main" id="{E90906A8-9462-110A-3FD3-010A9BAD16ED}"/>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197" name="Groupe 196">
            <a:extLst>
              <a:ext uri="{FF2B5EF4-FFF2-40B4-BE49-F238E27FC236}">
                <a16:creationId xmlns:a16="http://schemas.microsoft.com/office/drawing/2014/main" id="{39DFB8A2-87DF-3C40-3DF8-4EDD2FB9676C}"/>
              </a:ext>
            </a:extLst>
          </p:cNvPr>
          <p:cNvGrpSpPr/>
          <p:nvPr/>
        </p:nvGrpSpPr>
        <p:grpSpPr>
          <a:xfrm>
            <a:off x="6346128" y="1404925"/>
            <a:ext cx="905676" cy="832882"/>
            <a:chOff x="6564654" y="2339787"/>
            <a:chExt cx="1084118" cy="996982"/>
          </a:xfrm>
        </p:grpSpPr>
        <p:grpSp>
          <p:nvGrpSpPr>
            <p:cNvPr id="154" name="Groupe 153">
              <a:extLst>
                <a:ext uri="{FF2B5EF4-FFF2-40B4-BE49-F238E27FC236}">
                  <a16:creationId xmlns:a16="http://schemas.microsoft.com/office/drawing/2014/main" id="{5597CE29-801F-F4D4-7FF8-190089A11972}"/>
                </a:ext>
              </a:extLst>
            </p:cNvPr>
            <p:cNvGrpSpPr/>
            <p:nvPr/>
          </p:nvGrpSpPr>
          <p:grpSpPr>
            <a:xfrm>
              <a:off x="6852830" y="2879569"/>
              <a:ext cx="457200" cy="457200"/>
              <a:chOff x="3982824" y="1896400"/>
              <a:chExt cx="914400" cy="914400"/>
            </a:xfrm>
          </p:grpSpPr>
          <p:pic>
            <p:nvPicPr>
              <p:cNvPr id="155" name="Graphique 154" descr="Homme conductrice avec un remplissage uni">
                <a:extLst>
                  <a:ext uri="{FF2B5EF4-FFF2-40B4-BE49-F238E27FC236}">
                    <a16:creationId xmlns:a16="http://schemas.microsoft.com/office/drawing/2014/main" id="{9DF07192-34B5-E01D-088B-7A49BFB2CD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56" name="Rectangle 155">
                <a:extLst>
                  <a:ext uri="{FF2B5EF4-FFF2-40B4-BE49-F238E27FC236}">
                    <a16:creationId xmlns:a16="http://schemas.microsoft.com/office/drawing/2014/main" id="{3D8792FA-6197-892A-DE76-8AFBDD32E1E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57" name="Groupe 156">
              <a:extLst>
                <a:ext uri="{FF2B5EF4-FFF2-40B4-BE49-F238E27FC236}">
                  <a16:creationId xmlns:a16="http://schemas.microsoft.com/office/drawing/2014/main" id="{B0D2165E-A82B-2471-32AE-D12DFAF0E195}"/>
                </a:ext>
              </a:extLst>
            </p:cNvPr>
            <p:cNvGrpSpPr/>
            <p:nvPr/>
          </p:nvGrpSpPr>
          <p:grpSpPr>
            <a:xfrm>
              <a:off x="6564654" y="2650969"/>
              <a:ext cx="457200" cy="457200"/>
              <a:chOff x="3982824" y="1896400"/>
              <a:chExt cx="914400" cy="914400"/>
            </a:xfrm>
          </p:grpSpPr>
          <p:pic>
            <p:nvPicPr>
              <p:cNvPr id="158" name="Graphique 157" descr="Homme conductrice avec un remplissage uni">
                <a:extLst>
                  <a:ext uri="{FF2B5EF4-FFF2-40B4-BE49-F238E27FC236}">
                    <a16:creationId xmlns:a16="http://schemas.microsoft.com/office/drawing/2014/main" id="{208B9B36-1648-682F-D4C5-95440DCB658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59" name="Rectangle 158">
                <a:extLst>
                  <a:ext uri="{FF2B5EF4-FFF2-40B4-BE49-F238E27FC236}">
                    <a16:creationId xmlns:a16="http://schemas.microsoft.com/office/drawing/2014/main" id="{22037B60-D7C2-1BFF-A9FD-2E85908A859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60" name="Groupe 159">
              <a:extLst>
                <a:ext uri="{FF2B5EF4-FFF2-40B4-BE49-F238E27FC236}">
                  <a16:creationId xmlns:a16="http://schemas.microsoft.com/office/drawing/2014/main" id="{CD003871-49AA-79D7-7992-FC23F430C371}"/>
                </a:ext>
              </a:extLst>
            </p:cNvPr>
            <p:cNvGrpSpPr/>
            <p:nvPr/>
          </p:nvGrpSpPr>
          <p:grpSpPr>
            <a:xfrm>
              <a:off x="6896431" y="2339787"/>
              <a:ext cx="457200" cy="457200"/>
              <a:chOff x="3982824" y="1896400"/>
              <a:chExt cx="914400" cy="914400"/>
            </a:xfrm>
          </p:grpSpPr>
          <p:pic>
            <p:nvPicPr>
              <p:cNvPr id="161" name="Graphique 160" descr="Homme conductrice avec un remplissage uni">
                <a:extLst>
                  <a:ext uri="{FF2B5EF4-FFF2-40B4-BE49-F238E27FC236}">
                    <a16:creationId xmlns:a16="http://schemas.microsoft.com/office/drawing/2014/main" id="{4EA12A8F-1A0D-6EA3-5635-A45660EA72A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62" name="Rectangle 161">
                <a:extLst>
                  <a:ext uri="{FF2B5EF4-FFF2-40B4-BE49-F238E27FC236}">
                    <a16:creationId xmlns:a16="http://schemas.microsoft.com/office/drawing/2014/main" id="{241BE24A-6D99-048B-2A16-F10957E0963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63" name="Groupe 162">
              <a:extLst>
                <a:ext uri="{FF2B5EF4-FFF2-40B4-BE49-F238E27FC236}">
                  <a16:creationId xmlns:a16="http://schemas.microsoft.com/office/drawing/2014/main" id="{2C388B47-8845-0B16-18DA-A22691633036}"/>
                </a:ext>
              </a:extLst>
            </p:cNvPr>
            <p:cNvGrpSpPr/>
            <p:nvPr/>
          </p:nvGrpSpPr>
          <p:grpSpPr>
            <a:xfrm>
              <a:off x="7191572" y="2664966"/>
              <a:ext cx="457200" cy="457200"/>
              <a:chOff x="3982824" y="1896400"/>
              <a:chExt cx="914400" cy="914400"/>
            </a:xfrm>
          </p:grpSpPr>
          <p:pic>
            <p:nvPicPr>
              <p:cNvPr id="164" name="Graphique 163" descr="Homme conductrice avec un remplissage uni">
                <a:extLst>
                  <a:ext uri="{FF2B5EF4-FFF2-40B4-BE49-F238E27FC236}">
                    <a16:creationId xmlns:a16="http://schemas.microsoft.com/office/drawing/2014/main" id="{D761C0BA-B720-377F-A1A9-0A98C5F0C78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165" name="Rectangle 164">
                <a:extLst>
                  <a:ext uri="{FF2B5EF4-FFF2-40B4-BE49-F238E27FC236}">
                    <a16:creationId xmlns:a16="http://schemas.microsoft.com/office/drawing/2014/main" id="{C1D5C55C-5981-650A-255C-0D3555F1B79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sp>
        <p:nvSpPr>
          <p:cNvPr id="180" name="Rectangle 179">
            <a:extLst>
              <a:ext uri="{FF2B5EF4-FFF2-40B4-BE49-F238E27FC236}">
                <a16:creationId xmlns:a16="http://schemas.microsoft.com/office/drawing/2014/main" id="{C045CA31-EDEB-DD7E-9E48-8CF90D239BFC}"/>
              </a:ext>
            </a:extLst>
          </p:cNvPr>
          <p:cNvSpPr/>
          <p:nvPr/>
        </p:nvSpPr>
        <p:spPr>
          <a:xfrm>
            <a:off x="2534291" y="1395913"/>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nvGrpSpPr>
          <p:cNvPr id="195" name="Groupe 194">
            <a:extLst>
              <a:ext uri="{FF2B5EF4-FFF2-40B4-BE49-F238E27FC236}">
                <a16:creationId xmlns:a16="http://schemas.microsoft.com/office/drawing/2014/main" id="{75C1C294-1AC2-DCC2-79D9-0A05F6B91208}"/>
              </a:ext>
            </a:extLst>
          </p:cNvPr>
          <p:cNvGrpSpPr/>
          <p:nvPr/>
        </p:nvGrpSpPr>
        <p:grpSpPr>
          <a:xfrm>
            <a:off x="2521179" y="1464959"/>
            <a:ext cx="869466" cy="799583"/>
            <a:chOff x="2391091" y="2512442"/>
            <a:chExt cx="1084118" cy="996982"/>
          </a:xfrm>
        </p:grpSpPr>
        <p:grpSp>
          <p:nvGrpSpPr>
            <p:cNvPr id="182" name="Groupe 181">
              <a:extLst>
                <a:ext uri="{FF2B5EF4-FFF2-40B4-BE49-F238E27FC236}">
                  <a16:creationId xmlns:a16="http://schemas.microsoft.com/office/drawing/2014/main" id="{E383318F-9C53-BA93-EA53-7E8710859FAA}"/>
                </a:ext>
              </a:extLst>
            </p:cNvPr>
            <p:cNvGrpSpPr/>
            <p:nvPr/>
          </p:nvGrpSpPr>
          <p:grpSpPr>
            <a:xfrm>
              <a:off x="2679267" y="3052224"/>
              <a:ext cx="457200" cy="457200"/>
              <a:chOff x="3982824" y="1896400"/>
              <a:chExt cx="914400" cy="914400"/>
            </a:xfrm>
          </p:grpSpPr>
          <p:pic>
            <p:nvPicPr>
              <p:cNvPr id="183" name="Graphique 182" descr="Homme conductrice avec un remplissage uni">
                <a:extLst>
                  <a:ext uri="{FF2B5EF4-FFF2-40B4-BE49-F238E27FC236}">
                    <a16:creationId xmlns:a16="http://schemas.microsoft.com/office/drawing/2014/main" id="{4223A2AF-FD47-49D2-8E61-B93F0C30886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84" name="Rectangle 183">
                <a:extLst>
                  <a:ext uri="{FF2B5EF4-FFF2-40B4-BE49-F238E27FC236}">
                    <a16:creationId xmlns:a16="http://schemas.microsoft.com/office/drawing/2014/main" id="{2A5075E5-649E-87B8-5806-A58063BBF859}"/>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85" name="Groupe 184">
              <a:extLst>
                <a:ext uri="{FF2B5EF4-FFF2-40B4-BE49-F238E27FC236}">
                  <a16:creationId xmlns:a16="http://schemas.microsoft.com/office/drawing/2014/main" id="{87D1221E-B850-9B8A-86B2-2103ECE0B142}"/>
                </a:ext>
              </a:extLst>
            </p:cNvPr>
            <p:cNvGrpSpPr/>
            <p:nvPr/>
          </p:nvGrpSpPr>
          <p:grpSpPr>
            <a:xfrm>
              <a:off x="2391091" y="2823624"/>
              <a:ext cx="457200" cy="457200"/>
              <a:chOff x="3982824" y="1896400"/>
              <a:chExt cx="914400" cy="914400"/>
            </a:xfrm>
          </p:grpSpPr>
          <p:pic>
            <p:nvPicPr>
              <p:cNvPr id="186" name="Graphique 185" descr="Homme conductrice avec un remplissage uni">
                <a:extLst>
                  <a:ext uri="{FF2B5EF4-FFF2-40B4-BE49-F238E27FC236}">
                    <a16:creationId xmlns:a16="http://schemas.microsoft.com/office/drawing/2014/main" id="{5BBE8459-0B6D-CB6C-6F5D-87689D79B1F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187" name="Rectangle 186">
                <a:extLst>
                  <a:ext uri="{FF2B5EF4-FFF2-40B4-BE49-F238E27FC236}">
                    <a16:creationId xmlns:a16="http://schemas.microsoft.com/office/drawing/2014/main" id="{E275575F-430C-6D05-A8A2-542C2D45E54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88" name="Groupe 187">
              <a:extLst>
                <a:ext uri="{FF2B5EF4-FFF2-40B4-BE49-F238E27FC236}">
                  <a16:creationId xmlns:a16="http://schemas.microsoft.com/office/drawing/2014/main" id="{568F8578-E177-84CE-3D3D-A561F86B0FCF}"/>
                </a:ext>
              </a:extLst>
            </p:cNvPr>
            <p:cNvGrpSpPr/>
            <p:nvPr/>
          </p:nvGrpSpPr>
          <p:grpSpPr>
            <a:xfrm>
              <a:off x="2722868" y="2512442"/>
              <a:ext cx="457200" cy="457200"/>
              <a:chOff x="3982824" y="1896400"/>
              <a:chExt cx="914400" cy="914400"/>
            </a:xfrm>
          </p:grpSpPr>
          <p:pic>
            <p:nvPicPr>
              <p:cNvPr id="189" name="Graphique 188" descr="Homme conductrice avec un remplissage uni">
                <a:extLst>
                  <a:ext uri="{FF2B5EF4-FFF2-40B4-BE49-F238E27FC236}">
                    <a16:creationId xmlns:a16="http://schemas.microsoft.com/office/drawing/2014/main" id="{B8AF0BC3-7344-9EB0-7C8D-FADCB9341BE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90" name="Rectangle 189">
                <a:extLst>
                  <a:ext uri="{FF2B5EF4-FFF2-40B4-BE49-F238E27FC236}">
                    <a16:creationId xmlns:a16="http://schemas.microsoft.com/office/drawing/2014/main" id="{CB0B3FB9-52AA-7EA2-3BC5-1E568B9CB1B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91" name="Groupe 190">
              <a:extLst>
                <a:ext uri="{FF2B5EF4-FFF2-40B4-BE49-F238E27FC236}">
                  <a16:creationId xmlns:a16="http://schemas.microsoft.com/office/drawing/2014/main" id="{A8839DAC-9FB6-5B3E-B397-A02720490D64}"/>
                </a:ext>
              </a:extLst>
            </p:cNvPr>
            <p:cNvGrpSpPr/>
            <p:nvPr/>
          </p:nvGrpSpPr>
          <p:grpSpPr>
            <a:xfrm>
              <a:off x="3018009" y="2837621"/>
              <a:ext cx="457200" cy="457200"/>
              <a:chOff x="3982824" y="1896400"/>
              <a:chExt cx="914400" cy="914400"/>
            </a:xfrm>
          </p:grpSpPr>
          <p:pic>
            <p:nvPicPr>
              <p:cNvPr id="192" name="Graphique 191" descr="Homme conductrice avec un remplissage uni">
                <a:extLst>
                  <a:ext uri="{FF2B5EF4-FFF2-40B4-BE49-F238E27FC236}">
                    <a16:creationId xmlns:a16="http://schemas.microsoft.com/office/drawing/2014/main" id="{5FD91FB1-CFBD-6EF8-C89E-BA527286DED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193" name="Rectangle 192">
                <a:extLst>
                  <a:ext uri="{FF2B5EF4-FFF2-40B4-BE49-F238E27FC236}">
                    <a16:creationId xmlns:a16="http://schemas.microsoft.com/office/drawing/2014/main" id="{5E34B623-A67B-6EEE-9888-883D2D4AF9B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13" name="Groupe 212">
            <a:extLst>
              <a:ext uri="{FF2B5EF4-FFF2-40B4-BE49-F238E27FC236}">
                <a16:creationId xmlns:a16="http://schemas.microsoft.com/office/drawing/2014/main" id="{22F6BCEB-9278-101D-ACCF-D8F1DF40EDE8}"/>
              </a:ext>
            </a:extLst>
          </p:cNvPr>
          <p:cNvGrpSpPr/>
          <p:nvPr/>
        </p:nvGrpSpPr>
        <p:grpSpPr>
          <a:xfrm>
            <a:off x="3799631" y="1399672"/>
            <a:ext cx="905676" cy="832882"/>
            <a:chOff x="6564654" y="2339787"/>
            <a:chExt cx="1084118" cy="996982"/>
          </a:xfrm>
        </p:grpSpPr>
        <p:grpSp>
          <p:nvGrpSpPr>
            <p:cNvPr id="214" name="Groupe 213">
              <a:extLst>
                <a:ext uri="{FF2B5EF4-FFF2-40B4-BE49-F238E27FC236}">
                  <a16:creationId xmlns:a16="http://schemas.microsoft.com/office/drawing/2014/main" id="{13C44D94-838C-28F7-C2A9-06C42FABA100}"/>
                </a:ext>
              </a:extLst>
            </p:cNvPr>
            <p:cNvGrpSpPr/>
            <p:nvPr/>
          </p:nvGrpSpPr>
          <p:grpSpPr>
            <a:xfrm>
              <a:off x="6852830" y="2879569"/>
              <a:ext cx="457200" cy="457200"/>
              <a:chOff x="3982824" y="1896400"/>
              <a:chExt cx="914400" cy="914400"/>
            </a:xfrm>
          </p:grpSpPr>
          <p:pic>
            <p:nvPicPr>
              <p:cNvPr id="224" name="Graphique 223" descr="Homme conductrice avec un remplissage uni">
                <a:extLst>
                  <a:ext uri="{FF2B5EF4-FFF2-40B4-BE49-F238E27FC236}">
                    <a16:creationId xmlns:a16="http://schemas.microsoft.com/office/drawing/2014/main" id="{CE952B51-4AD1-D95D-A0C7-29B7D999D1C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25" name="Rectangle 224">
                <a:extLst>
                  <a:ext uri="{FF2B5EF4-FFF2-40B4-BE49-F238E27FC236}">
                    <a16:creationId xmlns:a16="http://schemas.microsoft.com/office/drawing/2014/main" id="{DC5D90A4-0155-C327-D600-38D222BFF3EB}"/>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15" name="Groupe 214">
              <a:extLst>
                <a:ext uri="{FF2B5EF4-FFF2-40B4-BE49-F238E27FC236}">
                  <a16:creationId xmlns:a16="http://schemas.microsoft.com/office/drawing/2014/main" id="{F678518B-D6BD-34B1-5F53-4E5BE38D70C8}"/>
                </a:ext>
              </a:extLst>
            </p:cNvPr>
            <p:cNvGrpSpPr/>
            <p:nvPr/>
          </p:nvGrpSpPr>
          <p:grpSpPr>
            <a:xfrm>
              <a:off x="6564654" y="2650969"/>
              <a:ext cx="457200" cy="457200"/>
              <a:chOff x="3982824" y="1896400"/>
              <a:chExt cx="914400" cy="914400"/>
            </a:xfrm>
          </p:grpSpPr>
          <p:pic>
            <p:nvPicPr>
              <p:cNvPr id="222" name="Graphique 221" descr="Homme conductrice avec un remplissage uni">
                <a:extLst>
                  <a:ext uri="{FF2B5EF4-FFF2-40B4-BE49-F238E27FC236}">
                    <a16:creationId xmlns:a16="http://schemas.microsoft.com/office/drawing/2014/main" id="{C8390C62-A09F-2680-2437-49752DDFF19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223" name="Rectangle 222">
                <a:extLst>
                  <a:ext uri="{FF2B5EF4-FFF2-40B4-BE49-F238E27FC236}">
                    <a16:creationId xmlns:a16="http://schemas.microsoft.com/office/drawing/2014/main" id="{B4230C87-3721-153A-4C38-1116B005116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16" name="Groupe 215">
              <a:extLst>
                <a:ext uri="{FF2B5EF4-FFF2-40B4-BE49-F238E27FC236}">
                  <a16:creationId xmlns:a16="http://schemas.microsoft.com/office/drawing/2014/main" id="{AF4D5054-8E24-C360-427E-C28108737FEF}"/>
                </a:ext>
              </a:extLst>
            </p:cNvPr>
            <p:cNvGrpSpPr/>
            <p:nvPr/>
          </p:nvGrpSpPr>
          <p:grpSpPr>
            <a:xfrm>
              <a:off x="6896431" y="2339787"/>
              <a:ext cx="457200" cy="457200"/>
              <a:chOff x="3982824" y="1896400"/>
              <a:chExt cx="914400" cy="914400"/>
            </a:xfrm>
          </p:grpSpPr>
          <p:pic>
            <p:nvPicPr>
              <p:cNvPr id="220" name="Graphique 219" descr="Homme conductrice avec un remplissage uni">
                <a:extLst>
                  <a:ext uri="{FF2B5EF4-FFF2-40B4-BE49-F238E27FC236}">
                    <a16:creationId xmlns:a16="http://schemas.microsoft.com/office/drawing/2014/main" id="{03ACF000-A459-293C-DCC8-31B096E0C96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21" name="Rectangle 220">
                <a:extLst>
                  <a:ext uri="{FF2B5EF4-FFF2-40B4-BE49-F238E27FC236}">
                    <a16:creationId xmlns:a16="http://schemas.microsoft.com/office/drawing/2014/main" id="{C082E61C-104D-D017-075D-F1805E08FFE1}"/>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17" name="Groupe 216">
              <a:extLst>
                <a:ext uri="{FF2B5EF4-FFF2-40B4-BE49-F238E27FC236}">
                  <a16:creationId xmlns:a16="http://schemas.microsoft.com/office/drawing/2014/main" id="{90E6B887-6389-E418-BB90-E5AAE9CDDD2A}"/>
                </a:ext>
              </a:extLst>
            </p:cNvPr>
            <p:cNvGrpSpPr/>
            <p:nvPr/>
          </p:nvGrpSpPr>
          <p:grpSpPr>
            <a:xfrm>
              <a:off x="7191572" y="2664966"/>
              <a:ext cx="457200" cy="457200"/>
              <a:chOff x="3982824" y="1896400"/>
              <a:chExt cx="914400" cy="914400"/>
            </a:xfrm>
          </p:grpSpPr>
          <p:pic>
            <p:nvPicPr>
              <p:cNvPr id="218" name="Graphique 217" descr="Homme conductrice avec un remplissage uni">
                <a:extLst>
                  <a:ext uri="{FF2B5EF4-FFF2-40B4-BE49-F238E27FC236}">
                    <a16:creationId xmlns:a16="http://schemas.microsoft.com/office/drawing/2014/main" id="{CFC41439-FAC5-3DEF-8D7B-B49A0E72AEE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19" name="Rectangle 218">
                <a:extLst>
                  <a:ext uri="{FF2B5EF4-FFF2-40B4-BE49-F238E27FC236}">
                    <a16:creationId xmlns:a16="http://schemas.microsoft.com/office/drawing/2014/main" id="{A15DC6CB-4EEC-5ADA-50F6-791B7685340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sp>
        <p:nvSpPr>
          <p:cNvPr id="179" name="Rectangle 178">
            <a:extLst>
              <a:ext uri="{FF2B5EF4-FFF2-40B4-BE49-F238E27FC236}">
                <a16:creationId xmlns:a16="http://schemas.microsoft.com/office/drawing/2014/main" id="{2A4AE98A-0548-FFFC-B4B2-D65E5427F17C}"/>
              </a:ext>
            </a:extLst>
          </p:cNvPr>
          <p:cNvSpPr/>
          <p:nvPr/>
        </p:nvSpPr>
        <p:spPr>
          <a:xfrm>
            <a:off x="112144" y="5151559"/>
            <a:ext cx="1746276" cy="1576650"/>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Légitimité du / de la leader auprès des membres pour décider</a:t>
            </a:r>
          </a:p>
        </p:txBody>
      </p:sp>
      <p:sp>
        <p:nvSpPr>
          <p:cNvPr id="198" name="Rectangle 197">
            <a:extLst>
              <a:ext uri="{FF2B5EF4-FFF2-40B4-BE49-F238E27FC236}">
                <a16:creationId xmlns:a16="http://schemas.microsoft.com/office/drawing/2014/main" id="{F139DD4D-980F-B4A3-036E-2CF8D4BCAC42}"/>
              </a:ext>
            </a:extLst>
          </p:cNvPr>
          <p:cNvSpPr/>
          <p:nvPr/>
        </p:nvSpPr>
        <p:spPr>
          <a:xfrm>
            <a:off x="117953" y="3486334"/>
            <a:ext cx="1746276" cy="1576650"/>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Capacité d’un(e) leader à centraliser l’information nécessaire pour prioriser</a:t>
            </a:r>
          </a:p>
        </p:txBody>
      </p:sp>
      <p:sp>
        <p:nvSpPr>
          <p:cNvPr id="201" name="Rectangle 200">
            <a:extLst>
              <a:ext uri="{FF2B5EF4-FFF2-40B4-BE49-F238E27FC236}">
                <a16:creationId xmlns:a16="http://schemas.microsoft.com/office/drawing/2014/main" id="{1524223B-C5D1-33A3-3199-AC3FB9E614A8}"/>
              </a:ext>
            </a:extLst>
          </p:cNvPr>
          <p:cNvSpPr/>
          <p:nvPr/>
        </p:nvSpPr>
        <p:spPr>
          <a:xfrm>
            <a:off x="10349289" y="5193385"/>
            <a:ext cx="1746276" cy="1576650"/>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Volonté d’appropriation des décisions par les membres</a:t>
            </a:r>
          </a:p>
        </p:txBody>
      </p:sp>
      <p:sp>
        <p:nvSpPr>
          <p:cNvPr id="202" name="Rectangle 201">
            <a:extLst>
              <a:ext uri="{FF2B5EF4-FFF2-40B4-BE49-F238E27FC236}">
                <a16:creationId xmlns:a16="http://schemas.microsoft.com/office/drawing/2014/main" id="{608397FF-A5D6-B1F3-1846-A05B13F8E9B9}"/>
              </a:ext>
            </a:extLst>
          </p:cNvPr>
          <p:cNvSpPr/>
          <p:nvPr/>
        </p:nvSpPr>
        <p:spPr>
          <a:xfrm>
            <a:off x="10349289" y="3531719"/>
            <a:ext cx="1746276" cy="1576650"/>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Information riche (chez beaucoup de membres) qui peut être clé dans les décisions</a:t>
            </a:r>
          </a:p>
          <a:p>
            <a:pPr algn="ctr"/>
            <a:endParaRPr lang="fr-FR" sz="1100" dirty="0">
              <a:solidFill>
                <a:schemeClr val="tx1"/>
              </a:solidFill>
            </a:endParaRPr>
          </a:p>
          <a:p>
            <a:pPr algn="ctr"/>
            <a:r>
              <a:rPr lang="fr-FR" sz="1100" dirty="0">
                <a:solidFill>
                  <a:schemeClr val="tx1"/>
                </a:solidFill>
              </a:rPr>
              <a:t>Membres prêts et considérés prêts à prendre des décisions</a:t>
            </a:r>
          </a:p>
        </p:txBody>
      </p:sp>
    </p:spTree>
    <p:extLst>
      <p:ext uri="{BB962C8B-B14F-4D97-AF65-F5344CB8AC3E}">
        <p14:creationId xmlns:p14="http://schemas.microsoft.com/office/powerpoint/2010/main" val="182814314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2A4332D-0809-B1ED-61F7-E8A9F02957AB}"/>
              </a:ext>
            </a:extLst>
          </p:cNvPr>
          <p:cNvSpPr>
            <a:spLocks noGrp="1"/>
          </p:cNvSpPr>
          <p:nvPr>
            <p:ph type="title"/>
          </p:nvPr>
        </p:nvSpPr>
        <p:spPr>
          <a:xfrm>
            <a:off x="838200" y="365126"/>
            <a:ext cx="10515600" cy="718965"/>
          </a:xfrm>
        </p:spPr>
        <p:txBody>
          <a:bodyPr>
            <a:noAutofit/>
          </a:bodyPr>
          <a:lstStyle/>
          <a:p>
            <a:r>
              <a:rPr lang="fr-FR" sz="4000" dirty="0"/>
              <a:t>Logique des priorisations</a:t>
            </a:r>
          </a:p>
        </p:txBody>
      </p:sp>
      <p:sp>
        <p:nvSpPr>
          <p:cNvPr id="83" name="ZoneTexte 82">
            <a:extLst>
              <a:ext uri="{FF2B5EF4-FFF2-40B4-BE49-F238E27FC236}">
                <a16:creationId xmlns:a16="http://schemas.microsoft.com/office/drawing/2014/main" id="{EE3BB056-4379-E3FE-9D69-42B632AE86D7}"/>
              </a:ext>
            </a:extLst>
          </p:cNvPr>
          <p:cNvSpPr txBox="1"/>
          <p:nvPr/>
        </p:nvSpPr>
        <p:spPr>
          <a:xfrm>
            <a:off x="8267076" y="1593274"/>
            <a:ext cx="3317711" cy="4524315"/>
          </a:xfrm>
          <a:prstGeom prst="rect">
            <a:avLst/>
          </a:prstGeom>
          <a:noFill/>
        </p:spPr>
        <p:txBody>
          <a:bodyPr wrap="square">
            <a:spAutoFit/>
          </a:bodyPr>
          <a:lstStyle/>
          <a:p>
            <a:r>
              <a:rPr lang="fr-FR" dirty="0"/>
              <a:t>La priorisation des actions peut prendre différentes orientations qui peuvent dépendre à un instant t d’un état opérationnel, motivationnel, tactique, des intentions et des personnalités de chacun. </a:t>
            </a:r>
          </a:p>
          <a:p>
            <a:endParaRPr lang="fr-FR" dirty="0"/>
          </a:p>
          <a:p>
            <a:r>
              <a:rPr lang="fr-FR" dirty="0"/>
              <a:t>Chaque Logique des priorisations présente des </a:t>
            </a:r>
            <a:r>
              <a:rPr lang="fr-FR" dirty="0">
                <a:solidFill>
                  <a:srgbClr val="00B050"/>
                </a:solidFill>
              </a:rPr>
              <a:t>avantages</a:t>
            </a:r>
            <a:r>
              <a:rPr lang="fr-FR" dirty="0"/>
              <a:t>, </a:t>
            </a:r>
            <a:r>
              <a:rPr lang="fr-FR" dirty="0">
                <a:solidFill>
                  <a:srgbClr val="FF0000"/>
                </a:solidFill>
              </a:rPr>
              <a:t>inconvénients</a:t>
            </a:r>
            <a:r>
              <a:rPr lang="fr-FR" dirty="0"/>
              <a:t>, </a:t>
            </a:r>
            <a:r>
              <a:rPr lang="fr-FR" dirty="0">
                <a:solidFill>
                  <a:srgbClr val="ED7D31"/>
                </a:solidFill>
              </a:rPr>
              <a:t>conditions favorables au consensus</a:t>
            </a:r>
            <a:r>
              <a:rPr lang="fr-FR" dirty="0"/>
              <a:t>. Il peut être intéressant de discuter d’une orientation avant de se plonger dans la priorisation d’actions.</a:t>
            </a:r>
          </a:p>
        </p:txBody>
      </p:sp>
      <p:grpSp>
        <p:nvGrpSpPr>
          <p:cNvPr id="91" name="Groupe 90">
            <a:extLst>
              <a:ext uri="{FF2B5EF4-FFF2-40B4-BE49-F238E27FC236}">
                <a16:creationId xmlns:a16="http://schemas.microsoft.com/office/drawing/2014/main" id="{7053729C-D152-69F6-E72E-D718EEF74707}"/>
              </a:ext>
            </a:extLst>
          </p:cNvPr>
          <p:cNvGrpSpPr/>
          <p:nvPr/>
        </p:nvGrpSpPr>
        <p:grpSpPr>
          <a:xfrm>
            <a:off x="2491436" y="3429002"/>
            <a:ext cx="4159283" cy="2228919"/>
            <a:chOff x="1059873" y="2860136"/>
            <a:chExt cx="2147371" cy="1150755"/>
          </a:xfrm>
          <a:solidFill>
            <a:schemeClr val="accent1"/>
          </a:solidFill>
        </p:grpSpPr>
        <p:pic>
          <p:nvPicPr>
            <p:cNvPr id="93" name="Graphique 92" descr="Homme conductrice avec un remplissage uni">
              <a:extLst>
                <a:ext uri="{FF2B5EF4-FFF2-40B4-BE49-F238E27FC236}">
                  <a16:creationId xmlns:a16="http://schemas.microsoft.com/office/drawing/2014/main" id="{26BAF961-0131-1AE5-5B45-87263879088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292844" y="2860136"/>
              <a:ext cx="914400" cy="914400"/>
            </a:xfrm>
            <a:prstGeom prst="rect">
              <a:avLst/>
            </a:prstGeom>
          </p:spPr>
        </p:pic>
        <p:sp>
          <p:nvSpPr>
            <p:cNvPr id="94" name="Rectangle 93">
              <a:extLst>
                <a:ext uri="{FF2B5EF4-FFF2-40B4-BE49-F238E27FC236}">
                  <a16:creationId xmlns:a16="http://schemas.microsoft.com/office/drawing/2014/main" id="{7403E8C4-29F7-375E-2941-20585BF042A4}"/>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sp>
        <p:nvSpPr>
          <p:cNvPr id="88" name="Bulle narrative : ronde 87">
            <a:extLst>
              <a:ext uri="{FF2B5EF4-FFF2-40B4-BE49-F238E27FC236}">
                <a16:creationId xmlns:a16="http://schemas.microsoft.com/office/drawing/2014/main" id="{751DFA9F-1636-5617-309B-E91664860F68}"/>
              </a:ext>
            </a:extLst>
          </p:cNvPr>
          <p:cNvSpPr/>
          <p:nvPr/>
        </p:nvSpPr>
        <p:spPr>
          <a:xfrm>
            <a:off x="427777" y="1237409"/>
            <a:ext cx="3232721" cy="2947173"/>
          </a:xfrm>
          <a:prstGeom prst="wedgeEllipseCallout">
            <a:avLst>
              <a:gd name="adj1" fmla="val 56259"/>
              <a:gd name="adj2" fmla="val 3989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Suivre une logique de priorisation pousse à privilégier certains critères plutôt que d’autres</a:t>
            </a:r>
          </a:p>
        </p:txBody>
      </p:sp>
      <p:pic>
        <p:nvPicPr>
          <p:cNvPr id="16" name="Graphique 15" descr="Signe pouce en haut avec un remplissage uni">
            <a:extLst>
              <a:ext uri="{FF2B5EF4-FFF2-40B4-BE49-F238E27FC236}">
                <a16:creationId xmlns:a16="http://schemas.microsoft.com/office/drawing/2014/main" id="{B39B4BAD-7C9B-8577-E979-6BDB34D7BB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5093000" y="5061586"/>
            <a:ext cx="1229999" cy="1365838"/>
          </a:xfrm>
          <a:prstGeom prst="rect">
            <a:avLst/>
          </a:prstGeom>
        </p:spPr>
      </p:pic>
      <p:pic>
        <p:nvPicPr>
          <p:cNvPr id="25" name="Graphique 24" descr="Plan avec un remplissage uni">
            <a:extLst>
              <a:ext uri="{FF2B5EF4-FFF2-40B4-BE49-F238E27FC236}">
                <a16:creationId xmlns:a16="http://schemas.microsoft.com/office/drawing/2014/main" id="{7A7EB91D-2204-CE27-FDD0-C2FC80532FA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flipH="1">
            <a:off x="6536398" y="4616856"/>
            <a:ext cx="1229999" cy="1421099"/>
          </a:xfrm>
          <a:prstGeom prst="rect">
            <a:avLst/>
          </a:prstGeom>
        </p:spPr>
      </p:pic>
      <p:pic>
        <p:nvPicPr>
          <p:cNvPr id="34" name="Graphique 33" descr="Cœur avec battements avec un remplissage uni">
            <a:extLst>
              <a:ext uri="{FF2B5EF4-FFF2-40B4-BE49-F238E27FC236}">
                <a16:creationId xmlns:a16="http://schemas.microsoft.com/office/drawing/2014/main" id="{BE9AADE4-8D25-6715-409B-920AEAA40C4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035719" y="2170962"/>
            <a:ext cx="1229999" cy="1229999"/>
          </a:xfrm>
          <a:prstGeom prst="rect">
            <a:avLst/>
          </a:prstGeom>
        </p:spPr>
      </p:pic>
      <p:pic>
        <p:nvPicPr>
          <p:cNvPr id="44" name="Graphique 43" descr="Flèches de chevron avec un remplissage uni">
            <a:extLst>
              <a:ext uri="{FF2B5EF4-FFF2-40B4-BE49-F238E27FC236}">
                <a16:creationId xmlns:a16="http://schemas.microsoft.com/office/drawing/2014/main" id="{F98FE6BF-8EAA-2B5B-91BC-F909F67E622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flipH="1">
            <a:off x="6627037" y="3324926"/>
            <a:ext cx="1064087" cy="1173539"/>
          </a:xfrm>
          <a:prstGeom prst="rect">
            <a:avLst/>
          </a:prstGeom>
        </p:spPr>
      </p:pic>
      <p:pic>
        <p:nvPicPr>
          <p:cNvPr id="53" name="Graphique 52" descr="Colombe avec un remplissage uni">
            <a:extLst>
              <a:ext uri="{FF2B5EF4-FFF2-40B4-BE49-F238E27FC236}">
                <a16:creationId xmlns:a16="http://schemas.microsoft.com/office/drawing/2014/main" id="{32D8945F-A686-1C1A-5364-5171EB45A33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flipH="1">
            <a:off x="4883716" y="2081578"/>
            <a:ext cx="1258833" cy="1258833"/>
          </a:xfrm>
          <a:prstGeom prst="rect">
            <a:avLst/>
          </a:prstGeom>
        </p:spPr>
      </p:pic>
      <p:sp>
        <p:nvSpPr>
          <p:cNvPr id="62" name="Signe de multiplication 61">
            <a:extLst>
              <a:ext uri="{FF2B5EF4-FFF2-40B4-BE49-F238E27FC236}">
                <a16:creationId xmlns:a16="http://schemas.microsoft.com/office/drawing/2014/main" id="{945B9B4B-08E5-21DC-34B4-C3A8AA392CA5}"/>
              </a:ext>
            </a:extLst>
          </p:cNvPr>
          <p:cNvSpPr/>
          <p:nvPr/>
        </p:nvSpPr>
        <p:spPr>
          <a:xfrm>
            <a:off x="4049322" y="2994637"/>
            <a:ext cx="1227533" cy="1277635"/>
          </a:xfrm>
          <a:prstGeom prst="mathMultiply">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pic>
        <p:nvPicPr>
          <p:cNvPr id="72" name="Graphique 71" descr="Engrenages contour">
            <a:extLst>
              <a:ext uri="{FF2B5EF4-FFF2-40B4-BE49-F238E27FC236}">
                <a16:creationId xmlns:a16="http://schemas.microsoft.com/office/drawing/2014/main" id="{8E72F3E0-9FF0-FE42-C5B4-FE555F2FB44F}"/>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flipH="1">
            <a:off x="3639885" y="4337898"/>
            <a:ext cx="1512771" cy="1427330"/>
          </a:xfrm>
          <a:prstGeom prst="rect">
            <a:avLst/>
          </a:prstGeom>
        </p:spPr>
      </p:pic>
    </p:spTree>
    <p:extLst>
      <p:ext uri="{BB962C8B-B14F-4D97-AF65-F5344CB8AC3E}">
        <p14:creationId xmlns:p14="http://schemas.microsoft.com/office/powerpoint/2010/main" val="118390779"/>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2A4332D-0809-B1ED-61F7-E8A9F02957AB}"/>
              </a:ext>
            </a:extLst>
          </p:cNvPr>
          <p:cNvSpPr>
            <a:spLocks noGrp="1"/>
          </p:cNvSpPr>
          <p:nvPr>
            <p:ph type="title"/>
          </p:nvPr>
        </p:nvSpPr>
        <p:spPr>
          <a:xfrm>
            <a:off x="838200" y="365126"/>
            <a:ext cx="10515600" cy="718965"/>
          </a:xfrm>
        </p:spPr>
        <p:txBody>
          <a:bodyPr>
            <a:noAutofit/>
          </a:bodyPr>
          <a:lstStyle/>
          <a:p>
            <a:r>
              <a:rPr lang="fr-FR" sz="2800" dirty="0"/>
              <a:t>Logiques des priorisation</a:t>
            </a:r>
            <a:br>
              <a:rPr lang="fr-FR" sz="2800" dirty="0"/>
            </a:br>
            <a:r>
              <a:rPr lang="fr-FR" sz="2800" dirty="0"/>
              <a:t>Exemples (liste non exhaustive)</a:t>
            </a:r>
          </a:p>
        </p:txBody>
      </p:sp>
      <p:grpSp>
        <p:nvGrpSpPr>
          <p:cNvPr id="10" name="Groupe 9">
            <a:extLst>
              <a:ext uri="{FF2B5EF4-FFF2-40B4-BE49-F238E27FC236}">
                <a16:creationId xmlns:a16="http://schemas.microsoft.com/office/drawing/2014/main" id="{7C8061F3-02AB-C421-F6D0-228B116D8A6C}"/>
              </a:ext>
            </a:extLst>
          </p:cNvPr>
          <p:cNvGrpSpPr/>
          <p:nvPr/>
        </p:nvGrpSpPr>
        <p:grpSpPr>
          <a:xfrm>
            <a:off x="8735021" y="1667716"/>
            <a:ext cx="1669002" cy="3764476"/>
            <a:chOff x="10332523" y="1240667"/>
            <a:chExt cx="1669002" cy="3764476"/>
          </a:xfrm>
        </p:grpSpPr>
        <p:grpSp>
          <p:nvGrpSpPr>
            <p:cNvPr id="66" name="Groupe 65">
              <a:extLst>
                <a:ext uri="{FF2B5EF4-FFF2-40B4-BE49-F238E27FC236}">
                  <a16:creationId xmlns:a16="http://schemas.microsoft.com/office/drawing/2014/main" id="{779F43D7-1196-7840-BD64-CC073FAD768C}"/>
                </a:ext>
              </a:extLst>
            </p:cNvPr>
            <p:cNvGrpSpPr/>
            <p:nvPr/>
          </p:nvGrpSpPr>
          <p:grpSpPr>
            <a:xfrm>
              <a:off x="10416416" y="3443618"/>
              <a:ext cx="1492148" cy="1561525"/>
              <a:chOff x="662743" y="3315179"/>
              <a:chExt cx="1492148" cy="1561525"/>
            </a:xfrm>
          </p:grpSpPr>
          <p:grpSp>
            <p:nvGrpSpPr>
              <p:cNvPr id="60" name="Groupe 59">
                <a:extLst>
                  <a:ext uri="{FF2B5EF4-FFF2-40B4-BE49-F238E27FC236}">
                    <a16:creationId xmlns:a16="http://schemas.microsoft.com/office/drawing/2014/main" id="{950E3ED5-0471-102E-3FB2-F643F4AE2C2C}"/>
                  </a:ext>
                </a:extLst>
              </p:cNvPr>
              <p:cNvGrpSpPr/>
              <p:nvPr/>
            </p:nvGrpSpPr>
            <p:grpSpPr>
              <a:xfrm>
                <a:off x="777314" y="3315179"/>
                <a:ext cx="1180829" cy="979248"/>
                <a:chOff x="114571" y="3462716"/>
                <a:chExt cx="1180829" cy="979248"/>
              </a:xfrm>
            </p:grpSpPr>
            <p:grpSp>
              <p:nvGrpSpPr>
                <p:cNvPr id="21" name="Groupe 20">
                  <a:extLst>
                    <a:ext uri="{FF2B5EF4-FFF2-40B4-BE49-F238E27FC236}">
                      <a16:creationId xmlns:a16="http://schemas.microsoft.com/office/drawing/2014/main" id="{44308218-8A10-0192-EDD4-A11A62D25DB9}"/>
                    </a:ext>
                  </a:extLst>
                </p:cNvPr>
                <p:cNvGrpSpPr/>
                <p:nvPr/>
              </p:nvGrpSpPr>
              <p:grpSpPr>
                <a:xfrm>
                  <a:off x="381000" y="3527564"/>
                  <a:ext cx="914400" cy="914400"/>
                  <a:chOff x="381000" y="3527564"/>
                  <a:chExt cx="914400" cy="914400"/>
                </a:xfrm>
                <a:solidFill>
                  <a:schemeClr val="accent1"/>
                </a:solidFill>
              </p:grpSpPr>
              <p:pic>
                <p:nvPicPr>
                  <p:cNvPr id="5" name="Graphique 4" descr="Homme conductrice avec un remplissage uni">
                    <a:extLst>
                      <a:ext uri="{FF2B5EF4-FFF2-40B4-BE49-F238E27FC236}">
                        <a16:creationId xmlns:a16="http://schemas.microsoft.com/office/drawing/2014/main" id="{A4FE26A4-157F-4224-D40D-ED1B6468714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20" name="Rectangle 19">
                    <a:extLst>
                      <a:ext uri="{FF2B5EF4-FFF2-40B4-BE49-F238E27FC236}">
                        <a16:creationId xmlns:a16="http://schemas.microsoft.com/office/drawing/2014/main" id="{660D2A98-06CA-A979-D150-8D818FA0E08E}"/>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pic>
              <p:nvPicPr>
                <p:cNvPr id="44" name="Graphique 43" descr="Signe pouce en haut avec un remplissage uni">
                  <a:extLst>
                    <a:ext uri="{FF2B5EF4-FFF2-40B4-BE49-F238E27FC236}">
                      <a16:creationId xmlns:a16="http://schemas.microsoft.com/office/drawing/2014/main" id="{188CB2E2-5199-7F9A-7593-959558FCDC3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114571" y="3462716"/>
                  <a:ext cx="435880" cy="484018"/>
                </a:xfrm>
                <a:prstGeom prst="rect">
                  <a:avLst/>
                </a:prstGeom>
              </p:spPr>
            </p:pic>
          </p:grpSp>
          <p:sp>
            <p:nvSpPr>
              <p:cNvPr id="53" name="Rectangle 52">
                <a:extLst>
                  <a:ext uri="{FF2B5EF4-FFF2-40B4-BE49-F238E27FC236}">
                    <a16:creationId xmlns:a16="http://schemas.microsoft.com/office/drawing/2014/main" id="{CD73C2DC-FA3B-9A08-F98F-70EE1812C543}"/>
                  </a:ext>
                </a:extLst>
              </p:cNvPr>
              <p:cNvSpPr/>
              <p:nvPr/>
            </p:nvSpPr>
            <p:spPr>
              <a:xfrm>
                <a:off x="662743" y="4393377"/>
                <a:ext cx="1492148" cy="483327"/>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200" b="1" dirty="0">
                    <a:solidFill>
                      <a:schemeClr val="tx1"/>
                    </a:solidFill>
                  </a:rPr>
                  <a:t>Priorisation </a:t>
                </a:r>
              </a:p>
              <a:p>
                <a:pPr algn="ctr"/>
                <a:r>
                  <a:rPr lang="fr-FR" sz="1200" b="1" dirty="0">
                    <a:solidFill>
                      <a:schemeClr val="tx1"/>
                    </a:solidFill>
                  </a:rPr>
                  <a:t>sur une logique de</a:t>
                </a:r>
              </a:p>
              <a:p>
                <a:pPr algn="ctr"/>
                <a:r>
                  <a:rPr lang="fr-FR" sz="1200" b="1" dirty="0">
                    <a:solidFill>
                      <a:schemeClr val="tx1"/>
                    </a:solidFill>
                  </a:rPr>
                  <a:t>VALEUR</a:t>
                </a:r>
              </a:p>
            </p:txBody>
          </p:sp>
        </p:grpSp>
        <p:sp>
          <p:nvSpPr>
            <p:cNvPr id="3" name="Bulle narrative : ronde 2">
              <a:extLst>
                <a:ext uri="{FF2B5EF4-FFF2-40B4-BE49-F238E27FC236}">
                  <a16:creationId xmlns:a16="http://schemas.microsoft.com/office/drawing/2014/main" id="{94BAFDAF-C878-76B2-6FBF-272506242088}"/>
                </a:ext>
              </a:extLst>
            </p:cNvPr>
            <p:cNvSpPr/>
            <p:nvPr/>
          </p:nvSpPr>
          <p:spPr>
            <a:xfrm>
              <a:off x="10332523" y="1240667"/>
              <a:ext cx="1669002" cy="1962288"/>
            </a:xfrm>
            <a:prstGeom prst="wedgeEllipseCallout">
              <a:avLst>
                <a:gd name="adj1" fmla="val 3616"/>
                <a:gd name="adj2" fmla="val 6187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La priorité est d’apporter de la valeur pour les membres et l’entreprise, même si cela est plus long</a:t>
              </a:r>
            </a:p>
          </p:txBody>
        </p:sp>
      </p:grpSp>
      <p:grpSp>
        <p:nvGrpSpPr>
          <p:cNvPr id="4" name="Groupe 3">
            <a:extLst>
              <a:ext uri="{FF2B5EF4-FFF2-40B4-BE49-F238E27FC236}">
                <a16:creationId xmlns:a16="http://schemas.microsoft.com/office/drawing/2014/main" id="{BDE9FFB5-E6DB-78DB-94D6-3CD900FBF22F}"/>
              </a:ext>
            </a:extLst>
          </p:cNvPr>
          <p:cNvGrpSpPr/>
          <p:nvPr/>
        </p:nvGrpSpPr>
        <p:grpSpPr>
          <a:xfrm>
            <a:off x="6990249" y="1667716"/>
            <a:ext cx="1669002" cy="3725941"/>
            <a:chOff x="1859477" y="1249383"/>
            <a:chExt cx="1669002" cy="3725941"/>
          </a:xfrm>
        </p:grpSpPr>
        <p:grpSp>
          <p:nvGrpSpPr>
            <p:cNvPr id="67" name="Groupe 66">
              <a:extLst>
                <a:ext uri="{FF2B5EF4-FFF2-40B4-BE49-F238E27FC236}">
                  <a16:creationId xmlns:a16="http://schemas.microsoft.com/office/drawing/2014/main" id="{2635385A-1A8B-819C-2D06-BCC9A92455BC}"/>
                </a:ext>
              </a:extLst>
            </p:cNvPr>
            <p:cNvGrpSpPr/>
            <p:nvPr/>
          </p:nvGrpSpPr>
          <p:grpSpPr>
            <a:xfrm>
              <a:off x="1947904" y="3359718"/>
              <a:ext cx="1492148" cy="1615606"/>
              <a:chOff x="2305501" y="3261098"/>
              <a:chExt cx="1492148" cy="1615606"/>
            </a:xfrm>
          </p:grpSpPr>
          <p:grpSp>
            <p:nvGrpSpPr>
              <p:cNvPr id="61" name="Groupe 60">
                <a:extLst>
                  <a:ext uri="{FF2B5EF4-FFF2-40B4-BE49-F238E27FC236}">
                    <a16:creationId xmlns:a16="http://schemas.microsoft.com/office/drawing/2014/main" id="{7648D975-241A-DE60-9F35-8CDE3367DB6F}"/>
                  </a:ext>
                </a:extLst>
              </p:cNvPr>
              <p:cNvGrpSpPr/>
              <p:nvPr/>
            </p:nvGrpSpPr>
            <p:grpSpPr>
              <a:xfrm>
                <a:off x="2436662" y="3261098"/>
                <a:ext cx="1072113" cy="1032019"/>
                <a:chOff x="1773919" y="3408635"/>
                <a:chExt cx="1072113" cy="1032019"/>
              </a:xfrm>
            </p:grpSpPr>
            <p:grpSp>
              <p:nvGrpSpPr>
                <p:cNvPr id="22" name="Groupe 21">
                  <a:extLst>
                    <a:ext uri="{FF2B5EF4-FFF2-40B4-BE49-F238E27FC236}">
                      <a16:creationId xmlns:a16="http://schemas.microsoft.com/office/drawing/2014/main" id="{423EE800-3F69-DE74-A4BD-15223198C380}"/>
                    </a:ext>
                  </a:extLst>
                </p:cNvPr>
                <p:cNvGrpSpPr/>
                <p:nvPr/>
              </p:nvGrpSpPr>
              <p:grpSpPr>
                <a:xfrm>
                  <a:off x="1931632" y="3526254"/>
                  <a:ext cx="914400" cy="914400"/>
                  <a:chOff x="381000" y="3527564"/>
                  <a:chExt cx="914400" cy="914400"/>
                </a:xfrm>
                <a:solidFill>
                  <a:schemeClr val="accent1"/>
                </a:solidFill>
              </p:grpSpPr>
              <p:pic>
                <p:nvPicPr>
                  <p:cNvPr id="23" name="Graphique 22" descr="Homme conductrice avec un remplissage uni">
                    <a:extLst>
                      <a:ext uri="{FF2B5EF4-FFF2-40B4-BE49-F238E27FC236}">
                        <a16:creationId xmlns:a16="http://schemas.microsoft.com/office/drawing/2014/main" id="{B62B6C2C-89A7-0E72-1C64-87BBE6D7115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24" name="Rectangle 23">
                    <a:extLst>
                      <a:ext uri="{FF2B5EF4-FFF2-40B4-BE49-F238E27FC236}">
                        <a16:creationId xmlns:a16="http://schemas.microsoft.com/office/drawing/2014/main" id="{7A2E561A-412C-BB9B-1552-787F2C8EF901}"/>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40" name="Graphique 39" descr="Plan avec un remplissage uni">
                  <a:extLst>
                    <a:ext uri="{FF2B5EF4-FFF2-40B4-BE49-F238E27FC236}">
                      <a16:creationId xmlns:a16="http://schemas.microsoft.com/office/drawing/2014/main" id="{9E6C8701-08E9-1465-063F-596FE438BD2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flipH="1">
                  <a:off x="1773919" y="3408635"/>
                  <a:ext cx="435880" cy="503601"/>
                </a:xfrm>
                <a:prstGeom prst="rect">
                  <a:avLst/>
                </a:prstGeom>
              </p:spPr>
            </p:pic>
          </p:grpSp>
          <p:sp>
            <p:nvSpPr>
              <p:cNvPr id="54" name="Rectangle 53">
                <a:extLst>
                  <a:ext uri="{FF2B5EF4-FFF2-40B4-BE49-F238E27FC236}">
                    <a16:creationId xmlns:a16="http://schemas.microsoft.com/office/drawing/2014/main" id="{CD4FBD58-737C-A657-AA87-C6560BF101D7}"/>
                  </a:ext>
                </a:extLst>
              </p:cNvPr>
              <p:cNvSpPr/>
              <p:nvPr/>
            </p:nvSpPr>
            <p:spPr>
              <a:xfrm>
                <a:off x="2305501" y="4393377"/>
                <a:ext cx="1492148" cy="483327"/>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200" b="1" dirty="0">
                    <a:solidFill>
                      <a:schemeClr val="tx1"/>
                    </a:solidFill>
                  </a:rPr>
                  <a:t>Priorisation </a:t>
                </a:r>
              </a:p>
              <a:p>
                <a:pPr algn="ctr"/>
                <a:r>
                  <a:rPr lang="fr-FR" sz="1200" b="1" dirty="0">
                    <a:solidFill>
                      <a:schemeClr val="tx1"/>
                    </a:solidFill>
                  </a:rPr>
                  <a:t>sur une logique de</a:t>
                </a:r>
              </a:p>
              <a:p>
                <a:pPr algn="ctr"/>
                <a:r>
                  <a:rPr lang="fr-FR" sz="1200" b="1" dirty="0">
                    <a:solidFill>
                      <a:schemeClr val="tx1"/>
                    </a:solidFill>
                  </a:rPr>
                  <a:t>SIMPLIFICATION</a:t>
                </a:r>
              </a:p>
            </p:txBody>
          </p:sp>
        </p:grpSp>
        <p:sp>
          <p:nvSpPr>
            <p:cNvPr id="73" name="Bulle narrative : ronde 72">
              <a:extLst>
                <a:ext uri="{FF2B5EF4-FFF2-40B4-BE49-F238E27FC236}">
                  <a16:creationId xmlns:a16="http://schemas.microsoft.com/office/drawing/2014/main" id="{0CCF3AB2-1315-2563-5B5C-C00CAB7C2AC3}"/>
                </a:ext>
              </a:extLst>
            </p:cNvPr>
            <p:cNvSpPr/>
            <p:nvPr/>
          </p:nvSpPr>
          <p:spPr>
            <a:xfrm>
              <a:off x="1859477" y="1249383"/>
              <a:ext cx="1669002" cy="1962288"/>
            </a:xfrm>
            <a:prstGeom prst="wedgeEllipseCallout">
              <a:avLst>
                <a:gd name="adj1" fmla="val 3616"/>
                <a:gd name="adj2" fmla="val 6187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La priorité est de rendre plus simple à terme notre situation actuellement compliquée</a:t>
              </a:r>
            </a:p>
          </p:txBody>
        </p:sp>
      </p:grpSp>
      <p:grpSp>
        <p:nvGrpSpPr>
          <p:cNvPr id="6" name="Groupe 5">
            <a:extLst>
              <a:ext uri="{FF2B5EF4-FFF2-40B4-BE49-F238E27FC236}">
                <a16:creationId xmlns:a16="http://schemas.microsoft.com/office/drawing/2014/main" id="{6D92FF7A-6363-9016-94D0-79F3FA7A5DAB}"/>
              </a:ext>
            </a:extLst>
          </p:cNvPr>
          <p:cNvGrpSpPr/>
          <p:nvPr/>
        </p:nvGrpSpPr>
        <p:grpSpPr>
          <a:xfrm>
            <a:off x="3519945" y="1667716"/>
            <a:ext cx="1669002" cy="3749275"/>
            <a:chOff x="3554717" y="1226049"/>
            <a:chExt cx="1669002" cy="3749275"/>
          </a:xfrm>
        </p:grpSpPr>
        <p:grpSp>
          <p:nvGrpSpPr>
            <p:cNvPr id="68" name="Groupe 67">
              <a:extLst>
                <a:ext uri="{FF2B5EF4-FFF2-40B4-BE49-F238E27FC236}">
                  <a16:creationId xmlns:a16="http://schemas.microsoft.com/office/drawing/2014/main" id="{DCDE5C81-2C8B-44B7-F627-2F8C403F1A23}"/>
                </a:ext>
              </a:extLst>
            </p:cNvPr>
            <p:cNvGrpSpPr/>
            <p:nvPr/>
          </p:nvGrpSpPr>
          <p:grpSpPr>
            <a:xfrm>
              <a:off x="3643239" y="3461937"/>
              <a:ext cx="1492148" cy="1513387"/>
              <a:chOff x="3851385" y="3363317"/>
              <a:chExt cx="1492148" cy="1513387"/>
            </a:xfrm>
          </p:grpSpPr>
          <p:grpSp>
            <p:nvGrpSpPr>
              <p:cNvPr id="62" name="Groupe 61">
                <a:extLst>
                  <a:ext uri="{FF2B5EF4-FFF2-40B4-BE49-F238E27FC236}">
                    <a16:creationId xmlns:a16="http://schemas.microsoft.com/office/drawing/2014/main" id="{57CD6857-6335-87D5-BF0A-581B2522720E}"/>
                  </a:ext>
                </a:extLst>
              </p:cNvPr>
              <p:cNvGrpSpPr/>
              <p:nvPr/>
            </p:nvGrpSpPr>
            <p:grpSpPr>
              <a:xfrm>
                <a:off x="3996341" y="3363317"/>
                <a:ext cx="1063066" cy="931110"/>
                <a:chOff x="3333598" y="3510854"/>
                <a:chExt cx="1063066" cy="931110"/>
              </a:xfrm>
            </p:grpSpPr>
            <p:grpSp>
              <p:nvGrpSpPr>
                <p:cNvPr id="25" name="Groupe 24">
                  <a:extLst>
                    <a:ext uri="{FF2B5EF4-FFF2-40B4-BE49-F238E27FC236}">
                      <a16:creationId xmlns:a16="http://schemas.microsoft.com/office/drawing/2014/main" id="{739166B9-BCF5-7752-1567-143E346957EF}"/>
                    </a:ext>
                  </a:extLst>
                </p:cNvPr>
                <p:cNvGrpSpPr/>
                <p:nvPr/>
              </p:nvGrpSpPr>
              <p:grpSpPr>
                <a:xfrm>
                  <a:off x="3482264" y="3527564"/>
                  <a:ext cx="914400" cy="914400"/>
                  <a:chOff x="381000" y="3527564"/>
                  <a:chExt cx="914400" cy="914400"/>
                </a:xfrm>
                <a:solidFill>
                  <a:schemeClr val="accent1"/>
                </a:solidFill>
              </p:grpSpPr>
              <p:pic>
                <p:nvPicPr>
                  <p:cNvPr id="26" name="Graphique 25" descr="Homme conductrice avec un remplissage uni">
                    <a:extLst>
                      <a:ext uri="{FF2B5EF4-FFF2-40B4-BE49-F238E27FC236}">
                        <a16:creationId xmlns:a16="http://schemas.microsoft.com/office/drawing/2014/main" id="{2B264C27-9E5A-D1F1-E018-467E2270416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27" name="Rectangle 26">
                    <a:extLst>
                      <a:ext uri="{FF2B5EF4-FFF2-40B4-BE49-F238E27FC236}">
                        <a16:creationId xmlns:a16="http://schemas.microsoft.com/office/drawing/2014/main" id="{F6998EE1-72CB-6831-49A8-97CD2080CF2F}"/>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pic>
              <p:nvPicPr>
                <p:cNvPr id="41" name="Graphique 40" descr="Cœur avec battements avec un remplissage uni">
                  <a:extLst>
                    <a:ext uri="{FF2B5EF4-FFF2-40B4-BE49-F238E27FC236}">
                      <a16:creationId xmlns:a16="http://schemas.microsoft.com/office/drawing/2014/main" id="{7321ACB9-0F82-2E2A-514F-D366E3EA9D3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333598" y="3510854"/>
                  <a:ext cx="435880" cy="435880"/>
                </a:xfrm>
                <a:prstGeom prst="rect">
                  <a:avLst/>
                </a:prstGeom>
              </p:spPr>
            </p:pic>
          </p:grpSp>
          <p:sp>
            <p:nvSpPr>
              <p:cNvPr id="55" name="Rectangle 54">
                <a:extLst>
                  <a:ext uri="{FF2B5EF4-FFF2-40B4-BE49-F238E27FC236}">
                    <a16:creationId xmlns:a16="http://schemas.microsoft.com/office/drawing/2014/main" id="{079AC7A2-177F-326C-1094-E7CC3C0E673B}"/>
                  </a:ext>
                </a:extLst>
              </p:cNvPr>
              <p:cNvSpPr/>
              <p:nvPr/>
            </p:nvSpPr>
            <p:spPr>
              <a:xfrm>
                <a:off x="3851385" y="4393377"/>
                <a:ext cx="1492148" cy="483327"/>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200" b="1" dirty="0">
                    <a:solidFill>
                      <a:schemeClr val="tx1"/>
                    </a:solidFill>
                  </a:rPr>
                  <a:t>Priorisation </a:t>
                </a:r>
              </a:p>
              <a:p>
                <a:pPr algn="ctr"/>
                <a:r>
                  <a:rPr lang="fr-FR" sz="1200" b="1" dirty="0">
                    <a:solidFill>
                      <a:schemeClr val="tx1"/>
                    </a:solidFill>
                  </a:rPr>
                  <a:t>sur une logique de</a:t>
                </a:r>
              </a:p>
              <a:p>
                <a:pPr algn="ctr"/>
                <a:r>
                  <a:rPr lang="fr-FR" sz="1200" b="1" dirty="0">
                    <a:solidFill>
                      <a:schemeClr val="tx1"/>
                    </a:solidFill>
                  </a:rPr>
                  <a:t>MOTIVATION</a:t>
                </a:r>
              </a:p>
            </p:txBody>
          </p:sp>
        </p:grpSp>
        <p:sp>
          <p:nvSpPr>
            <p:cNvPr id="74" name="Bulle narrative : ronde 73">
              <a:extLst>
                <a:ext uri="{FF2B5EF4-FFF2-40B4-BE49-F238E27FC236}">
                  <a16:creationId xmlns:a16="http://schemas.microsoft.com/office/drawing/2014/main" id="{83449278-C29D-1EB6-5C57-582F7AEF8AF9}"/>
                </a:ext>
              </a:extLst>
            </p:cNvPr>
            <p:cNvSpPr/>
            <p:nvPr/>
          </p:nvSpPr>
          <p:spPr>
            <a:xfrm>
              <a:off x="3554717" y="1226049"/>
              <a:ext cx="1669002" cy="1962288"/>
            </a:xfrm>
            <a:prstGeom prst="wedgeEllipseCallout">
              <a:avLst>
                <a:gd name="adj1" fmla="val 3616"/>
                <a:gd name="adj2" fmla="val 6187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La priorité est de vite développer la motivation et le moral chez les membres et les parties prenantes</a:t>
              </a:r>
            </a:p>
          </p:txBody>
        </p:sp>
      </p:grpSp>
      <p:grpSp>
        <p:nvGrpSpPr>
          <p:cNvPr id="8" name="Groupe 7">
            <a:extLst>
              <a:ext uri="{FF2B5EF4-FFF2-40B4-BE49-F238E27FC236}">
                <a16:creationId xmlns:a16="http://schemas.microsoft.com/office/drawing/2014/main" id="{D9FFB71A-6A86-74E5-16F6-F62E79709C7C}"/>
              </a:ext>
            </a:extLst>
          </p:cNvPr>
          <p:cNvGrpSpPr/>
          <p:nvPr/>
        </p:nvGrpSpPr>
        <p:grpSpPr>
          <a:xfrm>
            <a:off x="5255097" y="1667716"/>
            <a:ext cx="1669002" cy="3735014"/>
            <a:chOff x="6940758" y="1240310"/>
            <a:chExt cx="1669002" cy="3735014"/>
          </a:xfrm>
        </p:grpSpPr>
        <p:grpSp>
          <p:nvGrpSpPr>
            <p:cNvPr id="70" name="Groupe 69">
              <a:extLst>
                <a:ext uri="{FF2B5EF4-FFF2-40B4-BE49-F238E27FC236}">
                  <a16:creationId xmlns:a16="http://schemas.microsoft.com/office/drawing/2014/main" id="{0E246A9D-79AC-5622-E467-ABCE3261FD32}"/>
                </a:ext>
              </a:extLst>
            </p:cNvPr>
            <p:cNvGrpSpPr/>
            <p:nvPr/>
          </p:nvGrpSpPr>
          <p:grpSpPr>
            <a:xfrm>
              <a:off x="7033910" y="3477337"/>
              <a:ext cx="1492148" cy="1497987"/>
              <a:chOff x="6962145" y="3378717"/>
              <a:chExt cx="1492148" cy="1497987"/>
            </a:xfrm>
          </p:grpSpPr>
          <p:grpSp>
            <p:nvGrpSpPr>
              <p:cNvPr id="64" name="Groupe 63">
                <a:extLst>
                  <a:ext uri="{FF2B5EF4-FFF2-40B4-BE49-F238E27FC236}">
                    <a16:creationId xmlns:a16="http://schemas.microsoft.com/office/drawing/2014/main" id="{181733E8-C5BA-9C5A-8483-69CB4CC3F483}"/>
                  </a:ext>
                </a:extLst>
              </p:cNvPr>
              <p:cNvGrpSpPr/>
              <p:nvPr/>
            </p:nvGrpSpPr>
            <p:grpSpPr>
              <a:xfrm>
                <a:off x="7089601" y="3378717"/>
                <a:ext cx="1071070" cy="914400"/>
                <a:chOff x="6426858" y="3526254"/>
                <a:chExt cx="1071070" cy="914400"/>
              </a:xfrm>
            </p:grpSpPr>
            <p:grpSp>
              <p:nvGrpSpPr>
                <p:cNvPr id="31" name="Groupe 30">
                  <a:extLst>
                    <a:ext uri="{FF2B5EF4-FFF2-40B4-BE49-F238E27FC236}">
                      <a16:creationId xmlns:a16="http://schemas.microsoft.com/office/drawing/2014/main" id="{0F48741D-0B9E-BEC6-FF64-CFE09575204B}"/>
                    </a:ext>
                  </a:extLst>
                </p:cNvPr>
                <p:cNvGrpSpPr/>
                <p:nvPr/>
              </p:nvGrpSpPr>
              <p:grpSpPr>
                <a:xfrm>
                  <a:off x="6583528" y="3526254"/>
                  <a:ext cx="914400" cy="914400"/>
                  <a:chOff x="381000" y="3527564"/>
                  <a:chExt cx="914400" cy="914400"/>
                </a:xfrm>
                <a:solidFill>
                  <a:schemeClr val="accent1"/>
                </a:solidFill>
              </p:grpSpPr>
              <p:pic>
                <p:nvPicPr>
                  <p:cNvPr id="32" name="Graphique 31" descr="Homme conductrice avec un remplissage uni">
                    <a:extLst>
                      <a:ext uri="{FF2B5EF4-FFF2-40B4-BE49-F238E27FC236}">
                        <a16:creationId xmlns:a16="http://schemas.microsoft.com/office/drawing/2014/main" id="{C91B6507-264B-741D-1D22-DEF384D19E6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33" name="Rectangle 32">
                    <a:extLst>
                      <a:ext uri="{FF2B5EF4-FFF2-40B4-BE49-F238E27FC236}">
                        <a16:creationId xmlns:a16="http://schemas.microsoft.com/office/drawing/2014/main" id="{07CDB702-AACA-0153-739D-B072BF468BD2}"/>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51" name="Graphique 50" descr="Flèches de chevron avec un remplissage uni">
                  <a:extLst>
                    <a:ext uri="{FF2B5EF4-FFF2-40B4-BE49-F238E27FC236}">
                      <a16:creationId xmlns:a16="http://schemas.microsoft.com/office/drawing/2014/main" id="{3FF0D5D6-FB57-24D0-C22D-FA3F4C7B3CE4}"/>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flipH="1">
                  <a:off x="6426858" y="3530861"/>
                  <a:ext cx="377085" cy="415872"/>
                </a:xfrm>
                <a:prstGeom prst="rect">
                  <a:avLst/>
                </a:prstGeom>
              </p:spPr>
            </p:pic>
          </p:grpSp>
          <p:sp>
            <p:nvSpPr>
              <p:cNvPr id="57" name="Rectangle 56">
                <a:extLst>
                  <a:ext uri="{FF2B5EF4-FFF2-40B4-BE49-F238E27FC236}">
                    <a16:creationId xmlns:a16="http://schemas.microsoft.com/office/drawing/2014/main" id="{D43E03B1-045A-0A08-E7BF-0D18D99A8311}"/>
                  </a:ext>
                </a:extLst>
              </p:cNvPr>
              <p:cNvSpPr/>
              <p:nvPr/>
            </p:nvSpPr>
            <p:spPr>
              <a:xfrm>
                <a:off x="6962145" y="4393377"/>
                <a:ext cx="1492148" cy="483327"/>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200" b="1" dirty="0">
                    <a:solidFill>
                      <a:schemeClr val="tx1"/>
                    </a:solidFill>
                  </a:rPr>
                  <a:t>Priorisation </a:t>
                </a:r>
              </a:p>
              <a:p>
                <a:pPr algn="ctr"/>
                <a:r>
                  <a:rPr lang="fr-FR" sz="1200" b="1" dirty="0">
                    <a:solidFill>
                      <a:schemeClr val="tx1"/>
                    </a:solidFill>
                  </a:rPr>
                  <a:t>sur une logique de </a:t>
                </a:r>
              </a:p>
              <a:p>
                <a:pPr algn="ctr"/>
                <a:r>
                  <a:rPr lang="fr-FR" sz="1200" b="1" dirty="0">
                    <a:solidFill>
                      <a:schemeClr val="tx1"/>
                    </a:solidFill>
                  </a:rPr>
                  <a:t>PASSAGE A </a:t>
                </a:r>
              </a:p>
              <a:p>
                <a:pPr algn="ctr"/>
                <a:r>
                  <a:rPr lang="fr-FR" sz="1200" b="1" dirty="0">
                    <a:solidFill>
                      <a:schemeClr val="tx1"/>
                    </a:solidFill>
                  </a:rPr>
                  <a:t>L’ACTION</a:t>
                </a:r>
              </a:p>
            </p:txBody>
          </p:sp>
        </p:grpSp>
        <p:sp>
          <p:nvSpPr>
            <p:cNvPr id="76" name="Bulle narrative : ronde 75">
              <a:extLst>
                <a:ext uri="{FF2B5EF4-FFF2-40B4-BE49-F238E27FC236}">
                  <a16:creationId xmlns:a16="http://schemas.microsoft.com/office/drawing/2014/main" id="{A9298BFE-DFA0-F76C-0DBE-93B8D0BD9736}"/>
                </a:ext>
              </a:extLst>
            </p:cNvPr>
            <p:cNvSpPr/>
            <p:nvPr/>
          </p:nvSpPr>
          <p:spPr>
            <a:xfrm>
              <a:off x="6940758" y="1240310"/>
              <a:ext cx="1669002" cy="1962288"/>
            </a:xfrm>
            <a:prstGeom prst="wedgeEllipseCallout">
              <a:avLst>
                <a:gd name="adj1" fmla="val 3616"/>
                <a:gd name="adj2" fmla="val 6187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La priorité est d’avancer, de montrer qu’on avance, de passer à l’action visible et concrète</a:t>
              </a:r>
            </a:p>
          </p:txBody>
        </p:sp>
      </p:grpSp>
      <p:grpSp>
        <p:nvGrpSpPr>
          <p:cNvPr id="9" name="Groupe 8">
            <a:extLst>
              <a:ext uri="{FF2B5EF4-FFF2-40B4-BE49-F238E27FC236}">
                <a16:creationId xmlns:a16="http://schemas.microsoft.com/office/drawing/2014/main" id="{48E4B3D7-D873-B3C8-C980-6767D3978BEA}"/>
              </a:ext>
            </a:extLst>
          </p:cNvPr>
          <p:cNvGrpSpPr/>
          <p:nvPr/>
        </p:nvGrpSpPr>
        <p:grpSpPr>
          <a:xfrm>
            <a:off x="1786088" y="1667716"/>
            <a:ext cx="1669002" cy="3711680"/>
            <a:chOff x="8631559" y="1263644"/>
            <a:chExt cx="1669002" cy="3711680"/>
          </a:xfrm>
        </p:grpSpPr>
        <p:grpSp>
          <p:nvGrpSpPr>
            <p:cNvPr id="71" name="Groupe 70">
              <a:extLst>
                <a:ext uri="{FF2B5EF4-FFF2-40B4-BE49-F238E27FC236}">
                  <a16:creationId xmlns:a16="http://schemas.microsoft.com/office/drawing/2014/main" id="{25415CDC-75E8-0536-9BEA-7A290276DA92}"/>
                </a:ext>
              </a:extLst>
            </p:cNvPr>
            <p:cNvGrpSpPr/>
            <p:nvPr/>
          </p:nvGrpSpPr>
          <p:grpSpPr>
            <a:xfrm>
              <a:off x="8729246" y="3451719"/>
              <a:ext cx="1492148" cy="1523605"/>
              <a:chOff x="8508029" y="3353099"/>
              <a:chExt cx="1492148" cy="1523605"/>
            </a:xfrm>
          </p:grpSpPr>
          <p:grpSp>
            <p:nvGrpSpPr>
              <p:cNvPr id="65" name="Groupe 64">
                <a:extLst>
                  <a:ext uri="{FF2B5EF4-FFF2-40B4-BE49-F238E27FC236}">
                    <a16:creationId xmlns:a16="http://schemas.microsoft.com/office/drawing/2014/main" id="{BB9E26B1-E4EF-19FE-C29F-50A9F7F7348D}"/>
                  </a:ext>
                </a:extLst>
              </p:cNvPr>
              <p:cNvGrpSpPr/>
              <p:nvPr/>
            </p:nvGrpSpPr>
            <p:grpSpPr>
              <a:xfrm>
                <a:off x="8544666" y="3353099"/>
                <a:ext cx="1166637" cy="965946"/>
                <a:chOff x="7881923" y="3500636"/>
                <a:chExt cx="1166637" cy="965946"/>
              </a:xfrm>
            </p:grpSpPr>
            <p:grpSp>
              <p:nvGrpSpPr>
                <p:cNvPr id="34" name="Groupe 33">
                  <a:extLst>
                    <a:ext uri="{FF2B5EF4-FFF2-40B4-BE49-F238E27FC236}">
                      <a16:creationId xmlns:a16="http://schemas.microsoft.com/office/drawing/2014/main" id="{DB7AF875-8AE8-F34A-5AA1-25D697614CED}"/>
                    </a:ext>
                  </a:extLst>
                </p:cNvPr>
                <p:cNvGrpSpPr/>
                <p:nvPr/>
              </p:nvGrpSpPr>
              <p:grpSpPr>
                <a:xfrm>
                  <a:off x="8134160" y="3552182"/>
                  <a:ext cx="914400" cy="914400"/>
                  <a:chOff x="381000" y="3527564"/>
                  <a:chExt cx="914400" cy="914400"/>
                </a:xfrm>
                <a:solidFill>
                  <a:schemeClr val="accent1"/>
                </a:solidFill>
              </p:grpSpPr>
              <p:pic>
                <p:nvPicPr>
                  <p:cNvPr id="35" name="Graphique 34" descr="Homme conductrice avec un remplissage uni">
                    <a:extLst>
                      <a:ext uri="{FF2B5EF4-FFF2-40B4-BE49-F238E27FC236}">
                        <a16:creationId xmlns:a16="http://schemas.microsoft.com/office/drawing/2014/main" id="{0C1E4A00-2B3C-D4C5-AA00-DA16E5B432C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36" name="Rectangle 35">
                    <a:extLst>
                      <a:ext uri="{FF2B5EF4-FFF2-40B4-BE49-F238E27FC236}">
                        <a16:creationId xmlns:a16="http://schemas.microsoft.com/office/drawing/2014/main" id="{92D72F0A-5407-96FD-18A7-32D1CB25AB9E}"/>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45" name="Graphique 44" descr="Colombe avec un remplissage uni">
                  <a:extLst>
                    <a:ext uri="{FF2B5EF4-FFF2-40B4-BE49-F238E27FC236}">
                      <a16:creationId xmlns:a16="http://schemas.microsoft.com/office/drawing/2014/main" id="{7866DB6E-9995-9671-E3B9-23424B4C6191}"/>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flipH="1">
                  <a:off x="7881923" y="3500636"/>
                  <a:ext cx="446098" cy="446098"/>
                </a:xfrm>
                <a:prstGeom prst="rect">
                  <a:avLst/>
                </a:prstGeom>
              </p:spPr>
            </p:pic>
          </p:grpSp>
          <p:sp>
            <p:nvSpPr>
              <p:cNvPr id="58" name="Rectangle 57">
                <a:extLst>
                  <a:ext uri="{FF2B5EF4-FFF2-40B4-BE49-F238E27FC236}">
                    <a16:creationId xmlns:a16="http://schemas.microsoft.com/office/drawing/2014/main" id="{6445E54D-6644-1E45-A17C-BEAC9B580280}"/>
                  </a:ext>
                </a:extLst>
              </p:cNvPr>
              <p:cNvSpPr/>
              <p:nvPr/>
            </p:nvSpPr>
            <p:spPr>
              <a:xfrm>
                <a:off x="8508029" y="4393377"/>
                <a:ext cx="1492148" cy="483327"/>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200" b="1" dirty="0">
                    <a:solidFill>
                      <a:schemeClr val="tx1"/>
                    </a:solidFill>
                  </a:rPr>
                  <a:t>Priorisation </a:t>
                </a:r>
              </a:p>
              <a:p>
                <a:pPr algn="ctr"/>
                <a:r>
                  <a:rPr lang="fr-FR" sz="1200" b="1" dirty="0">
                    <a:solidFill>
                      <a:schemeClr val="tx1"/>
                    </a:solidFill>
                  </a:rPr>
                  <a:t>sur une logique de</a:t>
                </a:r>
              </a:p>
              <a:p>
                <a:pPr algn="ctr"/>
                <a:r>
                  <a:rPr lang="fr-FR" sz="1200" b="1" dirty="0">
                    <a:solidFill>
                      <a:schemeClr val="tx1"/>
                    </a:solidFill>
                  </a:rPr>
                  <a:t>CONSERVATION</a:t>
                </a:r>
              </a:p>
            </p:txBody>
          </p:sp>
        </p:grpSp>
        <p:sp>
          <p:nvSpPr>
            <p:cNvPr id="77" name="Bulle narrative : ronde 76">
              <a:extLst>
                <a:ext uri="{FF2B5EF4-FFF2-40B4-BE49-F238E27FC236}">
                  <a16:creationId xmlns:a16="http://schemas.microsoft.com/office/drawing/2014/main" id="{FFD3DFD6-DB04-969F-141A-0513746D357E}"/>
                </a:ext>
              </a:extLst>
            </p:cNvPr>
            <p:cNvSpPr/>
            <p:nvPr/>
          </p:nvSpPr>
          <p:spPr>
            <a:xfrm>
              <a:off x="8631559" y="1263644"/>
              <a:ext cx="1669002" cy="1962288"/>
            </a:xfrm>
            <a:prstGeom prst="wedgeEllipseCallout">
              <a:avLst>
                <a:gd name="adj1" fmla="val 3616"/>
                <a:gd name="adj2" fmla="val 6187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La priorité est de se préserver des tensions, conflits, fatigue, risques et efforts</a:t>
              </a:r>
            </a:p>
          </p:txBody>
        </p:sp>
      </p:grpSp>
      <p:grpSp>
        <p:nvGrpSpPr>
          <p:cNvPr id="11" name="Groupe 10">
            <a:extLst>
              <a:ext uri="{FF2B5EF4-FFF2-40B4-BE49-F238E27FC236}">
                <a16:creationId xmlns:a16="http://schemas.microsoft.com/office/drawing/2014/main" id="{FB77C624-E4CA-B7E9-0042-4A4F4D58997C}"/>
              </a:ext>
            </a:extLst>
          </p:cNvPr>
          <p:cNvGrpSpPr/>
          <p:nvPr/>
        </p:nvGrpSpPr>
        <p:grpSpPr>
          <a:xfrm>
            <a:off x="64526" y="1667716"/>
            <a:ext cx="1669002" cy="3706899"/>
            <a:chOff x="64357" y="1249383"/>
            <a:chExt cx="1669002" cy="3706899"/>
          </a:xfrm>
        </p:grpSpPr>
        <p:grpSp>
          <p:nvGrpSpPr>
            <p:cNvPr id="72" name="Groupe 71">
              <a:extLst>
                <a:ext uri="{FF2B5EF4-FFF2-40B4-BE49-F238E27FC236}">
                  <a16:creationId xmlns:a16="http://schemas.microsoft.com/office/drawing/2014/main" id="{BBD2F2EE-A8C2-800B-C7C0-AFC6F486E2F7}"/>
                </a:ext>
              </a:extLst>
            </p:cNvPr>
            <p:cNvGrpSpPr/>
            <p:nvPr/>
          </p:nvGrpSpPr>
          <p:grpSpPr>
            <a:xfrm>
              <a:off x="166579" y="3442895"/>
              <a:ext cx="1492148" cy="1513387"/>
              <a:chOff x="9861652" y="3363317"/>
              <a:chExt cx="1492148" cy="1513387"/>
            </a:xfrm>
          </p:grpSpPr>
          <p:grpSp>
            <p:nvGrpSpPr>
              <p:cNvPr id="52" name="Groupe 51">
                <a:extLst>
                  <a:ext uri="{FF2B5EF4-FFF2-40B4-BE49-F238E27FC236}">
                    <a16:creationId xmlns:a16="http://schemas.microsoft.com/office/drawing/2014/main" id="{6934E389-77EE-9D0C-CB79-6D3D6DF758BB}"/>
                  </a:ext>
                </a:extLst>
              </p:cNvPr>
              <p:cNvGrpSpPr/>
              <p:nvPr/>
            </p:nvGrpSpPr>
            <p:grpSpPr>
              <a:xfrm>
                <a:off x="10052906" y="3363317"/>
                <a:ext cx="1012020" cy="914400"/>
                <a:chOff x="9390163" y="3510854"/>
                <a:chExt cx="1012020" cy="914400"/>
              </a:xfrm>
            </p:grpSpPr>
            <p:grpSp>
              <p:nvGrpSpPr>
                <p:cNvPr id="37" name="Groupe 36">
                  <a:extLst>
                    <a:ext uri="{FF2B5EF4-FFF2-40B4-BE49-F238E27FC236}">
                      <a16:creationId xmlns:a16="http://schemas.microsoft.com/office/drawing/2014/main" id="{BA750871-667F-C72A-95C5-E4FE979A3584}"/>
                    </a:ext>
                  </a:extLst>
                </p:cNvPr>
                <p:cNvGrpSpPr/>
                <p:nvPr/>
              </p:nvGrpSpPr>
              <p:grpSpPr>
                <a:xfrm>
                  <a:off x="9487783" y="3510854"/>
                  <a:ext cx="914400" cy="914400"/>
                  <a:chOff x="381000" y="3527564"/>
                  <a:chExt cx="914400" cy="914400"/>
                </a:xfrm>
                <a:solidFill>
                  <a:schemeClr val="accent1"/>
                </a:solidFill>
              </p:grpSpPr>
              <p:pic>
                <p:nvPicPr>
                  <p:cNvPr id="38" name="Graphique 37" descr="Homme conductrice avec un remplissage uni">
                    <a:extLst>
                      <a:ext uri="{FF2B5EF4-FFF2-40B4-BE49-F238E27FC236}">
                        <a16:creationId xmlns:a16="http://schemas.microsoft.com/office/drawing/2014/main" id="{474C154B-4C93-1C6D-3341-87859F5909A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39" name="Rectangle 38">
                    <a:extLst>
                      <a:ext uri="{FF2B5EF4-FFF2-40B4-BE49-F238E27FC236}">
                        <a16:creationId xmlns:a16="http://schemas.microsoft.com/office/drawing/2014/main" id="{EA800F6E-3E96-4167-333A-94D0D058EA34}"/>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sp>
                <p:nvSpPr>
                  <p:cNvPr id="47" name="Rectangle 46">
                    <a:extLst>
                      <a:ext uri="{FF2B5EF4-FFF2-40B4-BE49-F238E27FC236}">
                        <a16:creationId xmlns:a16="http://schemas.microsoft.com/office/drawing/2014/main" id="{44E9B58D-BF81-1DB9-EEE9-B6D44A4C6251}"/>
                      </a:ext>
                    </a:extLst>
                  </p:cNvPr>
                  <p:cNvSpPr/>
                  <p:nvPr/>
                </p:nvSpPr>
                <p:spPr>
                  <a:xfrm rot="21067600">
                    <a:off x="396754" y="3903790"/>
                    <a:ext cx="138658" cy="4833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sp>
              <p:nvSpPr>
                <p:cNvPr id="46" name="Signe de multiplication 45">
                  <a:extLst>
                    <a:ext uri="{FF2B5EF4-FFF2-40B4-BE49-F238E27FC236}">
                      <a16:creationId xmlns:a16="http://schemas.microsoft.com/office/drawing/2014/main" id="{F799D602-C9B0-69FF-2813-9AA92B5C2807}"/>
                    </a:ext>
                  </a:extLst>
                </p:cNvPr>
                <p:cNvSpPr/>
                <p:nvPr/>
              </p:nvSpPr>
              <p:spPr>
                <a:xfrm>
                  <a:off x="9390163" y="3562840"/>
                  <a:ext cx="435006" cy="452761"/>
                </a:xfrm>
                <a:prstGeom prst="mathMultiply">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sp>
            <p:nvSpPr>
              <p:cNvPr id="59" name="Rectangle 58">
                <a:extLst>
                  <a:ext uri="{FF2B5EF4-FFF2-40B4-BE49-F238E27FC236}">
                    <a16:creationId xmlns:a16="http://schemas.microsoft.com/office/drawing/2014/main" id="{67C34A7D-6209-F3C1-0CFE-A5F702CD8723}"/>
                  </a:ext>
                </a:extLst>
              </p:cNvPr>
              <p:cNvSpPr/>
              <p:nvPr/>
            </p:nvSpPr>
            <p:spPr>
              <a:xfrm>
                <a:off x="9861652" y="4393377"/>
                <a:ext cx="1492148" cy="483327"/>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200" b="1" dirty="0">
                    <a:solidFill>
                      <a:schemeClr val="tx1"/>
                    </a:solidFill>
                  </a:rPr>
                  <a:t>Pas de logique particulière voire pas de priorisation </a:t>
                </a:r>
              </a:p>
            </p:txBody>
          </p:sp>
        </p:grpSp>
        <p:sp>
          <p:nvSpPr>
            <p:cNvPr id="79" name="Bulle narrative : ronde 78">
              <a:extLst>
                <a:ext uri="{FF2B5EF4-FFF2-40B4-BE49-F238E27FC236}">
                  <a16:creationId xmlns:a16="http://schemas.microsoft.com/office/drawing/2014/main" id="{5883D4A9-7D17-39B1-177E-32084617C3F5}"/>
                </a:ext>
              </a:extLst>
            </p:cNvPr>
            <p:cNvSpPr/>
            <p:nvPr/>
          </p:nvSpPr>
          <p:spPr>
            <a:xfrm>
              <a:off x="64357" y="1249383"/>
              <a:ext cx="1669002" cy="1962288"/>
            </a:xfrm>
            <a:prstGeom prst="wedgeEllipseCallout">
              <a:avLst>
                <a:gd name="adj1" fmla="val 3616"/>
                <a:gd name="adj2" fmla="val 6187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Pas les bonnes conditions (besoins, compétences, disponibilité, …) pour prioriser : on y va à l’instinct et au naturel</a:t>
              </a:r>
            </a:p>
          </p:txBody>
        </p:sp>
      </p:grpSp>
      <p:grpSp>
        <p:nvGrpSpPr>
          <p:cNvPr id="7" name="Groupe 6">
            <a:extLst>
              <a:ext uri="{FF2B5EF4-FFF2-40B4-BE49-F238E27FC236}">
                <a16:creationId xmlns:a16="http://schemas.microsoft.com/office/drawing/2014/main" id="{9A8A78C3-0F7E-8ACC-C835-35D6B66FA32F}"/>
              </a:ext>
            </a:extLst>
          </p:cNvPr>
          <p:cNvGrpSpPr/>
          <p:nvPr/>
        </p:nvGrpSpPr>
        <p:grpSpPr>
          <a:xfrm>
            <a:off x="10460852" y="1667716"/>
            <a:ext cx="1669002" cy="3725941"/>
            <a:chOff x="5245518" y="1249383"/>
            <a:chExt cx="1669002" cy="3725941"/>
          </a:xfrm>
        </p:grpSpPr>
        <p:grpSp>
          <p:nvGrpSpPr>
            <p:cNvPr id="69" name="Groupe 68">
              <a:extLst>
                <a:ext uri="{FF2B5EF4-FFF2-40B4-BE49-F238E27FC236}">
                  <a16:creationId xmlns:a16="http://schemas.microsoft.com/office/drawing/2014/main" id="{A4458DCA-93C2-41BE-3999-682AB95CE5D9}"/>
                </a:ext>
              </a:extLst>
            </p:cNvPr>
            <p:cNvGrpSpPr/>
            <p:nvPr/>
          </p:nvGrpSpPr>
          <p:grpSpPr>
            <a:xfrm>
              <a:off x="5338574" y="3359718"/>
              <a:ext cx="1492148" cy="1615606"/>
              <a:chOff x="5406765" y="3261098"/>
              <a:chExt cx="1492148" cy="1615606"/>
            </a:xfrm>
          </p:grpSpPr>
          <p:grpSp>
            <p:nvGrpSpPr>
              <p:cNvPr id="63" name="Groupe 62">
                <a:extLst>
                  <a:ext uri="{FF2B5EF4-FFF2-40B4-BE49-F238E27FC236}">
                    <a16:creationId xmlns:a16="http://schemas.microsoft.com/office/drawing/2014/main" id="{CED774D0-A114-8493-9D74-EDF9C5314765}"/>
                  </a:ext>
                </a:extLst>
              </p:cNvPr>
              <p:cNvGrpSpPr/>
              <p:nvPr/>
            </p:nvGrpSpPr>
            <p:grpSpPr>
              <a:xfrm>
                <a:off x="5422359" y="3261098"/>
                <a:ext cx="1187680" cy="1031820"/>
                <a:chOff x="4759616" y="3408635"/>
                <a:chExt cx="1187680" cy="1031820"/>
              </a:xfrm>
            </p:grpSpPr>
            <p:grpSp>
              <p:nvGrpSpPr>
                <p:cNvPr id="28" name="Groupe 27">
                  <a:extLst>
                    <a:ext uri="{FF2B5EF4-FFF2-40B4-BE49-F238E27FC236}">
                      <a16:creationId xmlns:a16="http://schemas.microsoft.com/office/drawing/2014/main" id="{FA646608-725B-EB35-ECB8-1EB6A13A71CD}"/>
                    </a:ext>
                  </a:extLst>
                </p:cNvPr>
                <p:cNvGrpSpPr/>
                <p:nvPr/>
              </p:nvGrpSpPr>
              <p:grpSpPr>
                <a:xfrm>
                  <a:off x="5032896" y="3526055"/>
                  <a:ext cx="914400" cy="914400"/>
                  <a:chOff x="381000" y="3527564"/>
                  <a:chExt cx="914400" cy="914400"/>
                </a:xfrm>
                <a:solidFill>
                  <a:schemeClr val="accent1"/>
                </a:solidFill>
              </p:grpSpPr>
              <p:pic>
                <p:nvPicPr>
                  <p:cNvPr id="29" name="Graphique 28" descr="Homme conductrice avec un remplissage uni">
                    <a:extLst>
                      <a:ext uri="{FF2B5EF4-FFF2-40B4-BE49-F238E27FC236}">
                        <a16:creationId xmlns:a16="http://schemas.microsoft.com/office/drawing/2014/main" id="{36439B07-889A-B41F-83E4-5D187981E15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30" name="Rectangle 29">
                    <a:extLst>
                      <a:ext uri="{FF2B5EF4-FFF2-40B4-BE49-F238E27FC236}">
                        <a16:creationId xmlns:a16="http://schemas.microsoft.com/office/drawing/2014/main" id="{EBADEA90-BDB8-1B24-4A9E-A28C0BA4C3E6}"/>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pic>
              <p:nvPicPr>
                <p:cNvPr id="43" name="Graphique 42" descr="Engrenages contour">
                  <a:extLst>
                    <a:ext uri="{FF2B5EF4-FFF2-40B4-BE49-F238E27FC236}">
                      <a16:creationId xmlns:a16="http://schemas.microsoft.com/office/drawing/2014/main" id="{0ED236C1-13F5-96B1-9CB2-B41279F867C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flipH="1">
                  <a:off x="4759616" y="3408635"/>
                  <a:ext cx="536087" cy="505809"/>
                </a:xfrm>
                <a:prstGeom prst="rect">
                  <a:avLst/>
                </a:prstGeom>
              </p:spPr>
            </p:pic>
          </p:grpSp>
          <p:sp>
            <p:nvSpPr>
              <p:cNvPr id="56" name="Rectangle 55">
                <a:extLst>
                  <a:ext uri="{FF2B5EF4-FFF2-40B4-BE49-F238E27FC236}">
                    <a16:creationId xmlns:a16="http://schemas.microsoft.com/office/drawing/2014/main" id="{9A40D314-72D8-42C1-586E-F31CD5647E82}"/>
                  </a:ext>
                </a:extLst>
              </p:cNvPr>
              <p:cNvSpPr/>
              <p:nvPr/>
            </p:nvSpPr>
            <p:spPr>
              <a:xfrm>
                <a:off x="5406765" y="4393377"/>
                <a:ext cx="1492148" cy="483327"/>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200" b="1" dirty="0">
                    <a:solidFill>
                      <a:schemeClr val="tx1"/>
                    </a:solidFill>
                  </a:rPr>
                  <a:t>Priorisation </a:t>
                </a:r>
              </a:p>
              <a:p>
                <a:pPr algn="ctr"/>
                <a:r>
                  <a:rPr lang="fr-FR" sz="1200" b="1" dirty="0">
                    <a:solidFill>
                      <a:schemeClr val="tx1"/>
                    </a:solidFill>
                  </a:rPr>
                  <a:t>sur une logique </a:t>
                </a:r>
              </a:p>
              <a:p>
                <a:pPr algn="ctr"/>
                <a:r>
                  <a:rPr lang="fr-FR" sz="1200" b="1" dirty="0">
                    <a:solidFill>
                      <a:schemeClr val="tx1"/>
                    </a:solidFill>
                  </a:rPr>
                  <a:t>d’OPTIMISATION</a:t>
                </a:r>
              </a:p>
            </p:txBody>
          </p:sp>
        </p:grpSp>
        <p:sp>
          <p:nvSpPr>
            <p:cNvPr id="75" name="Bulle narrative : ronde 74">
              <a:extLst>
                <a:ext uri="{FF2B5EF4-FFF2-40B4-BE49-F238E27FC236}">
                  <a16:creationId xmlns:a16="http://schemas.microsoft.com/office/drawing/2014/main" id="{1E97F78D-CA01-B585-A1F1-DFA608890448}"/>
                </a:ext>
              </a:extLst>
            </p:cNvPr>
            <p:cNvSpPr/>
            <p:nvPr/>
          </p:nvSpPr>
          <p:spPr>
            <a:xfrm>
              <a:off x="5245518" y="1249383"/>
              <a:ext cx="1669002" cy="1962288"/>
            </a:xfrm>
            <a:prstGeom prst="wedgeEllipseCallout">
              <a:avLst>
                <a:gd name="adj1" fmla="val 3616"/>
                <a:gd name="adj2" fmla="val 6187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La priorité est de pouvoir gérer nos efforts et nos dépenses sur le long terme et la grande échelle</a:t>
              </a:r>
            </a:p>
          </p:txBody>
        </p:sp>
      </p:grpSp>
      <p:sp>
        <p:nvSpPr>
          <p:cNvPr id="15" name="Flèche : double flèche horizontale 14">
            <a:extLst>
              <a:ext uri="{FF2B5EF4-FFF2-40B4-BE49-F238E27FC236}">
                <a16:creationId xmlns:a16="http://schemas.microsoft.com/office/drawing/2014/main" id="{576CC509-FE43-D8F2-EED1-744CBD963F79}"/>
              </a:ext>
            </a:extLst>
          </p:cNvPr>
          <p:cNvSpPr/>
          <p:nvPr/>
        </p:nvSpPr>
        <p:spPr>
          <a:xfrm>
            <a:off x="253987" y="5605459"/>
            <a:ext cx="11671176" cy="4833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fr-FR" sz="1400" dirty="0"/>
          </a:p>
        </p:txBody>
      </p:sp>
      <p:sp>
        <p:nvSpPr>
          <p:cNvPr id="81" name="ZoneTexte 80">
            <a:extLst>
              <a:ext uri="{FF2B5EF4-FFF2-40B4-BE49-F238E27FC236}">
                <a16:creationId xmlns:a16="http://schemas.microsoft.com/office/drawing/2014/main" id="{B61ED34F-2EF7-79C0-2EDC-6CF113D43EE3}"/>
              </a:ext>
            </a:extLst>
          </p:cNvPr>
          <p:cNvSpPr txBox="1"/>
          <p:nvPr/>
        </p:nvSpPr>
        <p:spPr>
          <a:xfrm>
            <a:off x="429048" y="5703020"/>
            <a:ext cx="6094520" cy="276999"/>
          </a:xfrm>
          <a:prstGeom prst="rect">
            <a:avLst/>
          </a:prstGeom>
          <a:noFill/>
        </p:spPr>
        <p:txBody>
          <a:bodyPr wrap="square">
            <a:spAutoFit/>
          </a:bodyPr>
          <a:lstStyle/>
          <a:p>
            <a:r>
              <a:rPr lang="fr-FR" sz="1200" b="1" dirty="0">
                <a:solidFill>
                  <a:schemeClr val="bg1"/>
                </a:solidFill>
              </a:rPr>
              <a:t>Importance du court terme (conditions actuelles, d’exécution, etc.) </a:t>
            </a:r>
          </a:p>
        </p:txBody>
      </p:sp>
      <p:sp>
        <p:nvSpPr>
          <p:cNvPr id="82" name="ZoneTexte 81">
            <a:extLst>
              <a:ext uri="{FF2B5EF4-FFF2-40B4-BE49-F238E27FC236}">
                <a16:creationId xmlns:a16="http://schemas.microsoft.com/office/drawing/2014/main" id="{D5F5FD8D-02E5-CBE2-7AFF-B7756E04A67F}"/>
              </a:ext>
            </a:extLst>
          </p:cNvPr>
          <p:cNvSpPr txBox="1"/>
          <p:nvPr/>
        </p:nvSpPr>
        <p:spPr>
          <a:xfrm>
            <a:off x="7546515" y="5710838"/>
            <a:ext cx="4221197" cy="276999"/>
          </a:xfrm>
          <a:prstGeom prst="rect">
            <a:avLst/>
          </a:prstGeom>
          <a:noFill/>
        </p:spPr>
        <p:txBody>
          <a:bodyPr wrap="square">
            <a:spAutoFit/>
          </a:bodyPr>
          <a:lstStyle/>
          <a:p>
            <a:pPr algn="r"/>
            <a:r>
              <a:rPr lang="fr-FR" sz="1200" b="1" dirty="0">
                <a:solidFill>
                  <a:schemeClr val="bg1"/>
                </a:solidFill>
              </a:rPr>
              <a:t>Importance du long terme (intentions, raison d’être, etc.)</a:t>
            </a:r>
          </a:p>
        </p:txBody>
      </p:sp>
    </p:spTree>
    <p:extLst>
      <p:ext uri="{BB962C8B-B14F-4D97-AF65-F5344CB8AC3E}">
        <p14:creationId xmlns:p14="http://schemas.microsoft.com/office/powerpoint/2010/main" val="1161734353"/>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C0B1026-782A-A43C-3D1F-884B9E092E52}"/>
              </a:ext>
            </a:extLst>
          </p:cNvPr>
          <p:cNvSpPr>
            <a:spLocks noGrp="1"/>
          </p:cNvSpPr>
          <p:nvPr>
            <p:ph type="title"/>
          </p:nvPr>
        </p:nvSpPr>
        <p:spPr>
          <a:xfrm>
            <a:off x="1590954" y="365126"/>
            <a:ext cx="9762846" cy="758178"/>
          </a:xfrm>
        </p:spPr>
        <p:txBody>
          <a:bodyPr>
            <a:normAutofit fontScale="90000"/>
          </a:bodyPr>
          <a:lstStyle/>
          <a:p>
            <a:r>
              <a:rPr lang="fr-FR" sz="3200" dirty="0"/>
              <a:t>Pas de logique particulière voire pas de priorisation </a:t>
            </a:r>
            <a:br>
              <a:rPr lang="fr-FR" sz="3200" dirty="0"/>
            </a:br>
            <a:r>
              <a:rPr lang="fr-FR" sz="3200" dirty="0"/>
              <a:t>« </a:t>
            </a:r>
            <a:r>
              <a:rPr lang="fr-FR" sz="3200" dirty="0">
                <a:solidFill>
                  <a:schemeClr val="tx1"/>
                </a:solidFill>
              </a:rPr>
              <a:t> On y va à l’instinct et au naturel</a:t>
            </a:r>
            <a:r>
              <a:rPr lang="fr-FR" sz="3200" dirty="0"/>
              <a:t>»</a:t>
            </a:r>
          </a:p>
        </p:txBody>
      </p:sp>
      <p:sp>
        <p:nvSpPr>
          <p:cNvPr id="4" name="Rectangle 3">
            <a:extLst>
              <a:ext uri="{FF2B5EF4-FFF2-40B4-BE49-F238E27FC236}">
                <a16:creationId xmlns:a16="http://schemas.microsoft.com/office/drawing/2014/main" id="{DF5A7FF5-BA24-50B9-AEE5-F61C35A55551}"/>
              </a:ext>
            </a:extLst>
          </p:cNvPr>
          <p:cNvSpPr/>
          <p:nvPr/>
        </p:nvSpPr>
        <p:spPr>
          <a:xfrm>
            <a:off x="4274545" y="2833377"/>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décisionnaires de la Communauté sont plus instinctifs que dirigés</a:t>
            </a:r>
          </a:p>
        </p:txBody>
      </p:sp>
      <p:sp>
        <p:nvSpPr>
          <p:cNvPr id="5" name="Rectangle 4">
            <a:extLst>
              <a:ext uri="{FF2B5EF4-FFF2-40B4-BE49-F238E27FC236}">
                <a16:creationId xmlns:a16="http://schemas.microsoft.com/office/drawing/2014/main" id="{25035309-2925-9078-B1D3-C1EE8C7493EA}"/>
              </a:ext>
            </a:extLst>
          </p:cNvPr>
          <p:cNvSpPr/>
          <p:nvPr/>
        </p:nvSpPr>
        <p:spPr>
          <a:xfrm>
            <a:off x="4274545" y="3614738"/>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très peu d’éléments à prioriser (d’actions possibles)</a:t>
            </a:r>
          </a:p>
        </p:txBody>
      </p:sp>
      <p:sp>
        <p:nvSpPr>
          <p:cNvPr id="6" name="Rectangle 5">
            <a:extLst>
              <a:ext uri="{FF2B5EF4-FFF2-40B4-BE49-F238E27FC236}">
                <a16:creationId xmlns:a16="http://schemas.microsoft.com/office/drawing/2014/main" id="{2EC9C2D6-0EB1-B843-EA69-4834617AF537}"/>
              </a:ext>
            </a:extLst>
          </p:cNvPr>
          <p:cNvSpPr/>
          <p:nvPr/>
        </p:nvSpPr>
        <p:spPr>
          <a:xfrm>
            <a:off x="4274545" y="2052016"/>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trop peu de cohésion pour s’aligner sur une logique</a:t>
            </a:r>
          </a:p>
        </p:txBody>
      </p:sp>
      <p:sp>
        <p:nvSpPr>
          <p:cNvPr id="7" name="Rectangle 6">
            <a:extLst>
              <a:ext uri="{FF2B5EF4-FFF2-40B4-BE49-F238E27FC236}">
                <a16:creationId xmlns:a16="http://schemas.microsoft.com/office/drawing/2014/main" id="{1A7B474C-C068-00E2-7F24-E7571C0F2BD4}"/>
              </a:ext>
            </a:extLst>
          </p:cNvPr>
          <p:cNvSpPr/>
          <p:nvPr/>
        </p:nvSpPr>
        <p:spPr>
          <a:xfrm>
            <a:off x="427454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Conditions favorables</a:t>
            </a:r>
          </a:p>
        </p:txBody>
      </p:sp>
      <p:sp>
        <p:nvSpPr>
          <p:cNvPr id="8" name="Rectangle 7">
            <a:extLst>
              <a:ext uri="{FF2B5EF4-FFF2-40B4-BE49-F238E27FC236}">
                <a16:creationId xmlns:a16="http://schemas.microsoft.com/office/drawing/2014/main" id="{7E2163C5-DA1B-A47C-003C-ED0BC2C70D99}"/>
              </a:ext>
            </a:extLst>
          </p:cNvPr>
          <p:cNvSpPr/>
          <p:nvPr/>
        </p:nvSpPr>
        <p:spPr>
          <a:xfrm>
            <a:off x="222587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Avantages</a:t>
            </a:r>
          </a:p>
        </p:txBody>
      </p:sp>
      <p:sp>
        <p:nvSpPr>
          <p:cNvPr id="9" name="Rectangle 8">
            <a:extLst>
              <a:ext uri="{FF2B5EF4-FFF2-40B4-BE49-F238E27FC236}">
                <a16:creationId xmlns:a16="http://schemas.microsoft.com/office/drawing/2014/main" id="{16820FFF-91F6-B6F7-9745-73D1334F4D8E}"/>
              </a:ext>
            </a:extLst>
          </p:cNvPr>
          <p:cNvSpPr/>
          <p:nvPr/>
        </p:nvSpPr>
        <p:spPr>
          <a:xfrm>
            <a:off x="2225875" y="4424969"/>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Inconvénients</a:t>
            </a:r>
          </a:p>
        </p:txBody>
      </p:sp>
      <p:sp>
        <p:nvSpPr>
          <p:cNvPr id="10" name="Rectangle 9">
            <a:extLst>
              <a:ext uri="{FF2B5EF4-FFF2-40B4-BE49-F238E27FC236}">
                <a16:creationId xmlns:a16="http://schemas.microsoft.com/office/drawing/2014/main" id="{516DEB93-B297-55E2-F8D8-55D5AC403724}"/>
              </a:ext>
            </a:extLst>
          </p:cNvPr>
          <p:cNvSpPr/>
          <p:nvPr/>
        </p:nvSpPr>
        <p:spPr>
          <a:xfrm>
            <a:off x="17720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Description</a:t>
            </a:r>
          </a:p>
        </p:txBody>
      </p:sp>
      <p:sp>
        <p:nvSpPr>
          <p:cNvPr id="11" name="Rectangle 10">
            <a:extLst>
              <a:ext uri="{FF2B5EF4-FFF2-40B4-BE49-F238E27FC236}">
                <a16:creationId xmlns:a16="http://schemas.microsoft.com/office/drawing/2014/main" id="{A6270EC3-04B4-3DC6-A6F2-D2F0D6467556}"/>
              </a:ext>
            </a:extLst>
          </p:cNvPr>
          <p:cNvSpPr/>
          <p:nvPr/>
        </p:nvSpPr>
        <p:spPr>
          <a:xfrm>
            <a:off x="837188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critères</a:t>
            </a:r>
          </a:p>
        </p:txBody>
      </p:sp>
      <p:sp>
        <p:nvSpPr>
          <p:cNvPr id="12" name="Rectangle 11">
            <a:extLst>
              <a:ext uri="{FF2B5EF4-FFF2-40B4-BE49-F238E27FC236}">
                <a16:creationId xmlns:a16="http://schemas.microsoft.com/office/drawing/2014/main" id="{23BE221F-7317-2CDA-EA43-359F5FA3DDAD}"/>
              </a:ext>
            </a:extLst>
          </p:cNvPr>
          <p:cNvSpPr/>
          <p:nvPr/>
        </p:nvSpPr>
        <p:spPr>
          <a:xfrm>
            <a:off x="10420556"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d’actions souvent priorisées suivant cette logique</a:t>
            </a:r>
          </a:p>
        </p:txBody>
      </p:sp>
      <p:sp>
        <p:nvSpPr>
          <p:cNvPr id="25" name="Rectangle 24">
            <a:extLst>
              <a:ext uri="{FF2B5EF4-FFF2-40B4-BE49-F238E27FC236}">
                <a16:creationId xmlns:a16="http://schemas.microsoft.com/office/drawing/2014/main" id="{7609406F-06DE-686E-186C-8D4ADDFEFAAA}"/>
              </a:ext>
            </a:extLst>
          </p:cNvPr>
          <p:cNvSpPr/>
          <p:nvPr/>
        </p:nvSpPr>
        <p:spPr>
          <a:xfrm>
            <a:off x="632321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situations</a:t>
            </a:r>
          </a:p>
        </p:txBody>
      </p:sp>
      <p:sp>
        <p:nvSpPr>
          <p:cNvPr id="26" name="Rectangle 25">
            <a:extLst>
              <a:ext uri="{FF2B5EF4-FFF2-40B4-BE49-F238E27FC236}">
                <a16:creationId xmlns:a16="http://schemas.microsoft.com/office/drawing/2014/main" id="{C417845A-10B5-FF2B-D2AD-3A3470EDC767}"/>
              </a:ext>
            </a:extLst>
          </p:cNvPr>
          <p:cNvSpPr/>
          <p:nvPr/>
        </p:nvSpPr>
        <p:spPr>
          <a:xfrm>
            <a:off x="177205" y="2106019"/>
            <a:ext cx="1492148" cy="4160199"/>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100" dirty="0">
                <a:solidFill>
                  <a:schemeClr val="tx1"/>
                </a:solidFill>
              </a:rPr>
              <a:t>Lorsqu’une priorisation n’a pas de logique particulière, cela signifie souvent que l’exercice de priorisation dépend de buts tellement variés (à la fois liés à l’état instantané de la Communauté et à des intentions) qu’on ne peut pas vraiment choisir une logique plutôt qu’une autre.</a:t>
            </a:r>
          </a:p>
          <a:p>
            <a:pPr algn="ctr"/>
            <a:endParaRPr lang="fr-FR" sz="1100" dirty="0">
              <a:solidFill>
                <a:schemeClr val="tx1"/>
              </a:solidFill>
            </a:endParaRPr>
          </a:p>
          <a:p>
            <a:pPr algn="ctr"/>
            <a:r>
              <a:rPr lang="fr-FR" sz="1100" dirty="0">
                <a:solidFill>
                  <a:schemeClr val="tx1"/>
                </a:solidFill>
              </a:rPr>
              <a:t>C’est aussi dans ce cadre que s’inscrit les moments où il n’y a pas vraiment de priorisation, qu’on prend la première action venue et qu’on fonctionne « au coup par coup ». </a:t>
            </a:r>
          </a:p>
        </p:txBody>
      </p:sp>
      <p:sp>
        <p:nvSpPr>
          <p:cNvPr id="27" name="Rectangle 26">
            <a:extLst>
              <a:ext uri="{FF2B5EF4-FFF2-40B4-BE49-F238E27FC236}">
                <a16:creationId xmlns:a16="http://schemas.microsoft.com/office/drawing/2014/main" id="{62A0CAFB-0B01-C8D6-6C64-82909E0F5B5F}"/>
              </a:ext>
            </a:extLst>
          </p:cNvPr>
          <p:cNvSpPr/>
          <p:nvPr/>
        </p:nvSpPr>
        <p:spPr>
          <a:xfrm>
            <a:off x="2225875" y="2833377"/>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Souvent la plus rapide, très peu d’efforts diplomatiques ou d’organisation</a:t>
            </a:r>
          </a:p>
        </p:txBody>
      </p:sp>
      <p:sp>
        <p:nvSpPr>
          <p:cNvPr id="29" name="Rectangle 28">
            <a:extLst>
              <a:ext uri="{FF2B5EF4-FFF2-40B4-BE49-F238E27FC236}">
                <a16:creationId xmlns:a16="http://schemas.microsoft.com/office/drawing/2014/main" id="{F3830828-EE71-3CC1-439A-17F4AE23A7C6}"/>
              </a:ext>
            </a:extLst>
          </p:cNvPr>
          <p:cNvSpPr/>
          <p:nvPr/>
        </p:nvSpPr>
        <p:spPr>
          <a:xfrm>
            <a:off x="2225875" y="2052016"/>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plus simple à imaginer et la plus naturelle sans efforts préalables.</a:t>
            </a:r>
          </a:p>
        </p:txBody>
      </p:sp>
      <p:sp>
        <p:nvSpPr>
          <p:cNvPr id="33" name="Rectangle 32">
            <a:extLst>
              <a:ext uri="{FF2B5EF4-FFF2-40B4-BE49-F238E27FC236}">
                <a16:creationId xmlns:a16="http://schemas.microsoft.com/office/drawing/2014/main" id="{D10E491F-6C56-45C2-207B-C902C632E709}"/>
              </a:ext>
            </a:extLst>
          </p:cNvPr>
          <p:cNvSpPr/>
          <p:nvPr/>
        </p:nvSpPr>
        <p:spPr>
          <a:xfrm>
            <a:off x="2225875" y="5691986"/>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Nécessite une confiance forte en le naturel des décisionnaires</a:t>
            </a:r>
          </a:p>
        </p:txBody>
      </p:sp>
      <p:sp>
        <p:nvSpPr>
          <p:cNvPr id="34" name="Rectangle 33">
            <a:extLst>
              <a:ext uri="{FF2B5EF4-FFF2-40B4-BE49-F238E27FC236}">
                <a16:creationId xmlns:a16="http://schemas.microsoft.com/office/drawing/2014/main" id="{57893EF9-1F95-917F-AC8A-C3AC02A81B87}"/>
              </a:ext>
            </a:extLst>
          </p:cNvPr>
          <p:cNvSpPr/>
          <p:nvPr/>
        </p:nvSpPr>
        <p:spPr>
          <a:xfrm>
            <a:off x="2225875" y="4910625"/>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Risques de désaccord une fois qu’une action est commencée. Coût d’opportunité.</a:t>
            </a:r>
          </a:p>
        </p:txBody>
      </p:sp>
      <p:sp>
        <p:nvSpPr>
          <p:cNvPr id="35" name="Rectangle 34">
            <a:extLst>
              <a:ext uri="{FF2B5EF4-FFF2-40B4-BE49-F238E27FC236}">
                <a16:creationId xmlns:a16="http://schemas.microsoft.com/office/drawing/2014/main" id="{0835A26A-AD5B-7443-4FC1-20E765B3A389}"/>
              </a:ext>
            </a:extLst>
          </p:cNvPr>
          <p:cNvSpPr/>
          <p:nvPr/>
        </p:nvSpPr>
        <p:spPr>
          <a:xfrm>
            <a:off x="6323215" y="3614738"/>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Une petite Communauté, dont les membres se connaissent bien entre eux, se retrouve pour vérifier le calendrier des événements à venir</a:t>
            </a:r>
          </a:p>
        </p:txBody>
      </p:sp>
      <p:sp>
        <p:nvSpPr>
          <p:cNvPr id="36" name="Rectangle 35">
            <a:extLst>
              <a:ext uri="{FF2B5EF4-FFF2-40B4-BE49-F238E27FC236}">
                <a16:creationId xmlns:a16="http://schemas.microsoft.com/office/drawing/2014/main" id="{BDD85CBB-A568-0CD3-54A5-2F74713E7528}"/>
              </a:ext>
            </a:extLst>
          </p:cNvPr>
          <p:cNvSpPr/>
          <p:nvPr/>
        </p:nvSpPr>
        <p:spPr>
          <a:xfrm>
            <a:off x="6323215" y="5177459"/>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Une Communauté qui a tellement l’habitude de faire les mêmes activités et s’en satisfait très bien jusqu’à présent</a:t>
            </a:r>
          </a:p>
        </p:txBody>
      </p:sp>
      <p:sp>
        <p:nvSpPr>
          <p:cNvPr id="37" name="Rectangle 36">
            <a:extLst>
              <a:ext uri="{FF2B5EF4-FFF2-40B4-BE49-F238E27FC236}">
                <a16:creationId xmlns:a16="http://schemas.microsoft.com/office/drawing/2014/main" id="{27BA63C2-C00C-A2D4-B0C5-27FFD6982DD4}"/>
              </a:ext>
            </a:extLst>
          </p:cNvPr>
          <p:cNvSpPr/>
          <p:nvPr/>
        </p:nvSpPr>
        <p:spPr>
          <a:xfrm>
            <a:off x="6323215" y="2052016"/>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fondateurs de la Communauté souhaitent ouvrir un événement qu’ils faisaient entre eux à un plus grand nombre de personnes pour « lancer la Communauté »</a:t>
            </a:r>
          </a:p>
        </p:txBody>
      </p:sp>
      <p:sp>
        <p:nvSpPr>
          <p:cNvPr id="38" name="Rectangle 37">
            <a:extLst>
              <a:ext uri="{FF2B5EF4-FFF2-40B4-BE49-F238E27FC236}">
                <a16:creationId xmlns:a16="http://schemas.microsoft.com/office/drawing/2014/main" id="{C3FB9EAE-CBEC-AEC9-D3C1-4EEC85EB1523}"/>
              </a:ext>
            </a:extLst>
          </p:cNvPr>
          <p:cNvSpPr/>
          <p:nvPr/>
        </p:nvSpPr>
        <p:spPr>
          <a:xfrm>
            <a:off x="837188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39" name="Rectangle 38">
            <a:extLst>
              <a:ext uri="{FF2B5EF4-FFF2-40B4-BE49-F238E27FC236}">
                <a16:creationId xmlns:a16="http://schemas.microsoft.com/office/drawing/2014/main" id="{8979C0D4-DD48-924D-6208-A08F5D29C96D}"/>
              </a:ext>
            </a:extLst>
          </p:cNvPr>
          <p:cNvSpPr/>
          <p:nvPr/>
        </p:nvSpPr>
        <p:spPr>
          <a:xfrm>
            <a:off x="837188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40" name="Rectangle 39">
            <a:extLst>
              <a:ext uri="{FF2B5EF4-FFF2-40B4-BE49-F238E27FC236}">
                <a16:creationId xmlns:a16="http://schemas.microsoft.com/office/drawing/2014/main" id="{7BE42B0D-6EB8-F0D1-49F9-549885011C75}"/>
              </a:ext>
            </a:extLst>
          </p:cNvPr>
          <p:cNvSpPr/>
          <p:nvPr/>
        </p:nvSpPr>
        <p:spPr>
          <a:xfrm>
            <a:off x="837188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41" name="Rectangle 40">
            <a:extLst>
              <a:ext uri="{FF2B5EF4-FFF2-40B4-BE49-F238E27FC236}">
                <a16:creationId xmlns:a16="http://schemas.microsoft.com/office/drawing/2014/main" id="{CD875045-CFD4-7CC6-A48C-D4DBD9053E07}"/>
              </a:ext>
            </a:extLst>
          </p:cNvPr>
          <p:cNvSpPr/>
          <p:nvPr/>
        </p:nvSpPr>
        <p:spPr>
          <a:xfrm>
            <a:off x="8371885" y="517746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42" name="Rectangle 41">
            <a:extLst>
              <a:ext uri="{FF2B5EF4-FFF2-40B4-BE49-F238E27FC236}">
                <a16:creationId xmlns:a16="http://schemas.microsoft.com/office/drawing/2014/main" id="{08EF47A7-2160-84F2-88A8-1F976893BE20}"/>
              </a:ext>
            </a:extLst>
          </p:cNvPr>
          <p:cNvSpPr/>
          <p:nvPr/>
        </p:nvSpPr>
        <p:spPr>
          <a:xfrm>
            <a:off x="8371885" y="5958821"/>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43" name="Rectangle 42">
            <a:extLst>
              <a:ext uri="{FF2B5EF4-FFF2-40B4-BE49-F238E27FC236}">
                <a16:creationId xmlns:a16="http://schemas.microsoft.com/office/drawing/2014/main" id="{A791B074-2C47-F231-61A0-23B1541E924A}"/>
              </a:ext>
            </a:extLst>
          </p:cNvPr>
          <p:cNvSpPr/>
          <p:nvPr/>
        </p:nvSpPr>
        <p:spPr>
          <a:xfrm>
            <a:off x="837188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44" name="Rectangle 43">
            <a:extLst>
              <a:ext uri="{FF2B5EF4-FFF2-40B4-BE49-F238E27FC236}">
                <a16:creationId xmlns:a16="http://schemas.microsoft.com/office/drawing/2014/main" id="{0E880A6D-4178-B0D8-D535-6B02EC697E43}"/>
              </a:ext>
            </a:extLst>
          </p:cNvPr>
          <p:cNvSpPr/>
          <p:nvPr/>
        </p:nvSpPr>
        <p:spPr>
          <a:xfrm>
            <a:off x="1042055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45" name="Rectangle 44">
            <a:extLst>
              <a:ext uri="{FF2B5EF4-FFF2-40B4-BE49-F238E27FC236}">
                <a16:creationId xmlns:a16="http://schemas.microsoft.com/office/drawing/2014/main" id="{DFACEF9E-80B4-E9C5-FC85-F3D35B779FE4}"/>
              </a:ext>
            </a:extLst>
          </p:cNvPr>
          <p:cNvSpPr/>
          <p:nvPr/>
        </p:nvSpPr>
        <p:spPr>
          <a:xfrm>
            <a:off x="1042055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46" name="Rectangle 45">
            <a:extLst>
              <a:ext uri="{FF2B5EF4-FFF2-40B4-BE49-F238E27FC236}">
                <a16:creationId xmlns:a16="http://schemas.microsoft.com/office/drawing/2014/main" id="{567CC2B0-AAF9-5756-2019-E3DDC59D7299}"/>
              </a:ext>
            </a:extLst>
          </p:cNvPr>
          <p:cNvSpPr/>
          <p:nvPr/>
        </p:nvSpPr>
        <p:spPr>
          <a:xfrm>
            <a:off x="1042055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47" name="Rectangle 46">
            <a:extLst>
              <a:ext uri="{FF2B5EF4-FFF2-40B4-BE49-F238E27FC236}">
                <a16:creationId xmlns:a16="http://schemas.microsoft.com/office/drawing/2014/main" id="{80407840-9E17-5B2F-0380-67C30F8E4093}"/>
              </a:ext>
            </a:extLst>
          </p:cNvPr>
          <p:cNvSpPr/>
          <p:nvPr/>
        </p:nvSpPr>
        <p:spPr>
          <a:xfrm>
            <a:off x="10420555" y="517746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48" name="Rectangle 47">
            <a:extLst>
              <a:ext uri="{FF2B5EF4-FFF2-40B4-BE49-F238E27FC236}">
                <a16:creationId xmlns:a16="http://schemas.microsoft.com/office/drawing/2014/main" id="{B8BA815D-FB3E-7C67-6709-144040F53332}"/>
              </a:ext>
            </a:extLst>
          </p:cNvPr>
          <p:cNvSpPr/>
          <p:nvPr/>
        </p:nvSpPr>
        <p:spPr>
          <a:xfrm>
            <a:off x="10420555" y="5958821"/>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49" name="Rectangle 48">
            <a:extLst>
              <a:ext uri="{FF2B5EF4-FFF2-40B4-BE49-F238E27FC236}">
                <a16:creationId xmlns:a16="http://schemas.microsoft.com/office/drawing/2014/main" id="{1392E2B7-69EE-5B77-A47C-101C4EE8E85B}"/>
              </a:ext>
            </a:extLst>
          </p:cNvPr>
          <p:cNvSpPr/>
          <p:nvPr/>
        </p:nvSpPr>
        <p:spPr>
          <a:xfrm>
            <a:off x="1042055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grpSp>
        <p:nvGrpSpPr>
          <p:cNvPr id="53" name="Groupe 52">
            <a:extLst>
              <a:ext uri="{FF2B5EF4-FFF2-40B4-BE49-F238E27FC236}">
                <a16:creationId xmlns:a16="http://schemas.microsoft.com/office/drawing/2014/main" id="{D43AA520-8CEC-FA4F-C056-910C0BA732D8}"/>
              </a:ext>
            </a:extLst>
          </p:cNvPr>
          <p:cNvGrpSpPr/>
          <p:nvPr/>
        </p:nvGrpSpPr>
        <p:grpSpPr>
          <a:xfrm>
            <a:off x="363582" y="220885"/>
            <a:ext cx="1119394" cy="1046660"/>
            <a:chOff x="9390163" y="3510854"/>
            <a:chExt cx="1012020" cy="914400"/>
          </a:xfrm>
        </p:grpSpPr>
        <p:grpSp>
          <p:nvGrpSpPr>
            <p:cNvPr id="55" name="Groupe 54">
              <a:extLst>
                <a:ext uri="{FF2B5EF4-FFF2-40B4-BE49-F238E27FC236}">
                  <a16:creationId xmlns:a16="http://schemas.microsoft.com/office/drawing/2014/main" id="{DDECADBF-4179-6D62-37F4-DBAAD7DB43D3}"/>
                </a:ext>
              </a:extLst>
            </p:cNvPr>
            <p:cNvGrpSpPr/>
            <p:nvPr/>
          </p:nvGrpSpPr>
          <p:grpSpPr>
            <a:xfrm>
              <a:off x="9487783" y="3510854"/>
              <a:ext cx="914400" cy="914400"/>
              <a:chOff x="381000" y="3527564"/>
              <a:chExt cx="914400" cy="914400"/>
            </a:xfrm>
            <a:solidFill>
              <a:schemeClr val="accent1"/>
            </a:solidFill>
          </p:grpSpPr>
          <p:pic>
            <p:nvPicPr>
              <p:cNvPr id="57" name="Graphique 56" descr="Homme conductrice avec un remplissage uni">
                <a:extLst>
                  <a:ext uri="{FF2B5EF4-FFF2-40B4-BE49-F238E27FC236}">
                    <a16:creationId xmlns:a16="http://schemas.microsoft.com/office/drawing/2014/main" id="{9B44CAEB-C3C5-5F36-6143-9DCEEA85684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58" name="Rectangle 57">
                <a:extLst>
                  <a:ext uri="{FF2B5EF4-FFF2-40B4-BE49-F238E27FC236}">
                    <a16:creationId xmlns:a16="http://schemas.microsoft.com/office/drawing/2014/main" id="{3ED5716A-A165-CB4F-63D1-53E4742A28E6}"/>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sp>
            <p:nvSpPr>
              <p:cNvPr id="59" name="Rectangle 58">
                <a:extLst>
                  <a:ext uri="{FF2B5EF4-FFF2-40B4-BE49-F238E27FC236}">
                    <a16:creationId xmlns:a16="http://schemas.microsoft.com/office/drawing/2014/main" id="{0D9D359F-8915-C90B-B995-F10E3E028C68}"/>
                  </a:ext>
                </a:extLst>
              </p:cNvPr>
              <p:cNvSpPr/>
              <p:nvPr/>
            </p:nvSpPr>
            <p:spPr>
              <a:xfrm rot="21067600">
                <a:off x="396754" y="3903790"/>
                <a:ext cx="138658" cy="4833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sp>
          <p:nvSpPr>
            <p:cNvPr id="56" name="Signe de multiplication 55">
              <a:extLst>
                <a:ext uri="{FF2B5EF4-FFF2-40B4-BE49-F238E27FC236}">
                  <a16:creationId xmlns:a16="http://schemas.microsoft.com/office/drawing/2014/main" id="{B90A81D8-64C3-5452-1A4B-DA32F98FD22A}"/>
                </a:ext>
              </a:extLst>
            </p:cNvPr>
            <p:cNvSpPr/>
            <p:nvPr/>
          </p:nvSpPr>
          <p:spPr>
            <a:xfrm>
              <a:off x="9390163" y="3562840"/>
              <a:ext cx="435006" cy="452761"/>
            </a:xfrm>
            <a:prstGeom prst="mathMultiply">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spTree>
    <p:extLst>
      <p:ext uri="{BB962C8B-B14F-4D97-AF65-F5344CB8AC3E}">
        <p14:creationId xmlns:p14="http://schemas.microsoft.com/office/powerpoint/2010/main" val="4137189686"/>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C0B1026-782A-A43C-3D1F-884B9E092E52}"/>
              </a:ext>
            </a:extLst>
          </p:cNvPr>
          <p:cNvSpPr>
            <a:spLocks noGrp="1"/>
          </p:cNvSpPr>
          <p:nvPr>
            <p:ph type="title"/>
          </p:nvPr>
        </p:nvSpPr>
        <p:spPr>
          <a:xfrm>
            <a:off x="1523999" y="365126"/>
            <a:ext cx="10388704" cy="758178"/>
          </a:xfrm>
        </p:spPr>
        <p:txBody>
          <a:bodyPr>
            <a:noAutofit/>
          </a:bodyPr>
          <a:lstStyle/>
          <a:p>
            <a:r>
              <a:rPr lang="fr-FR" sz="2400" dirty="0"/>
              <a:t>Priorisation sur une logique de CONSERVATION</a:t>
            </a:r>
            <a:br>
              <a:rPr lang="fr-FR" sz="2400" dirty="0"/>
            </a:br>
            <a:r>
              <a:rPr lang="fr-FR" sz="2400" dirty="0"/>
              <a:t>« </a:t>
            </a:r>
            <a:r>
              <a:rPr lang="fr-FR" sz="2400" dirty="0">
                <a:solidFill>
                  <a:schemeClr val="tx1"/>
                </a:solidFill>
              </a:rPr>
              <a:t>La priorité est de se préserver des tensions, conflits, de la fatigue et des risques  </a:t>
            </a:r>
            <a:r>
              <a:rPr lang="fr-FR" sz="2400" dirty="0"/>
              <a:t>»</a:t>
            </a:r>
          </a:p>
        </p:txBody>
      </p:sp>
      <p:sp>
        <p:nvSpPr>
          <p:cNvPr id="4" name="Rectangle 3">
            <a:extLst>
              <a:ext uri="{FF2B5EF4-FFF2-40B4-BE49-F238E27FC236}">
                <a16:creationId xmlns:a16="http://schemas.microsoft.com/office/drawing/2014/main" id="{DF5A7FF5-BA24-50B9-AEE5-F61C35A55551}"/>
              </a:ext>
            </a:extLst>
          </p:cNvPr>
          <p:cNvSpPr/>
          <p:nvPr/>
        </p:nvSpPr>
        <p:spPr>
          <a:xfrm>
            <a:off x="4274545" y="2833377"/>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Energie faible pour gérer la moindre controverse ou les rapports de force </a:t>
            </a:r>
          </a:p>
        </p:txBody>
      </p:sp>
      <p:sp>
        <p:nvSpPr>
          <p:cNvPr id="5" name="Rectangle 4">
            <a:extLst>
              <a:ext uri="{FF2B5EF4-FFF2-40B4-BE49-F238E27FC236}">
                <a16:creationId xmlns:a16="http://schemas.microsoft.com/office/drawing/2014/main" id="{25035309-2925-9078-B1D3-C1EE8C7493EA}"/>
              </a:ext>
            </a:extLst>
          </p:cNvPr>
          <p:cNvSpPr/>
          <p:nvPr/>
        </p:nvSpPr>
        <p:spPr>
          <a:xfrm>
            <a:off x="4274545" y="3614738"/>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Manque temporaire et marqué d’une ressource (soutien, disponibilité...)</a:t>
            </a:r>
          </a:p>
        </p:txBody>
      </p:sp>
      <p:sp>
        <p:nvSpPr>
          <p:cNvPr id="6" name="Rectangle 5">
            <a:extLst>
              <a:ext uri="{FF2B5EF4-FFF2-40B4-BE49-F238E27FC236}">
                <a16:creationId xmlns:a16="http://schemas.microsoft.com/office/drawing/2014/main" id="{2EC9C2D6-0EB1-B843-EA69-4834617AF537}"/>
              </a:ext>
            </a:extLst>
          </p:cNvPr>
          <p:cNvSpPr/>
          <p:nvPr/>
        </p:nvSpPr>
        <p:spPr>
          <a:xfrm>
            <a:off x="4274545" y="2052016"/>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Insécurité diplomatique, tensions ou crainte de tensions et de conflits…</a:t>
            </a:r>
          </a:p>
        </p:txBody>
      </p:sp>
      <p:sp>
        <p:nvSpPr>
          <p:cNvPr id="7" name="Rectangle 6">
            <a:extLst>
              <a:ext uri="{FF2B5EF4-FFF2-40B4-BE49-F238E27FC236}">
                <a16:creationId xmlns:a16="http://schemas.microsoft.com/office/drawing/2014/main" id="{1A7B474C-C068-00E2-7F24-E7571C0F2BD4}"/>
              </a:ext>
            </a:extLst>
          </p:cNvPr>
          <p:cNvSpPr/>
          <p:nvPr/>
        </p:nvSpPr>
        <p:spPr>
          <a:xfrm>
            <a:off x="427454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Conditions favorables</a:t>
            </a:r>
          </a:p>
        </p:txBody>
      </p:sp>
      <p:sp>
        <p:nvSpPr>
          <p:cNvPr id="8" name="Rectangle 7">
            <a:extLst>
              <a:ext uri="{FF2B5EF4-FFF2-40B4-BE49-F238E27FC236}">
                <a16:creationId xmlns:a16="http://schemas.microsoft.com/office/drawing/2014/main" id="{7E2163C5-DA1B-A47C-003C-ED0BC2C70D99}"/>
              </a:ext>
            </a:extLst>
          </p:cNvPr>
          <p:cNvSpPr/>
          <p:nvPr/>
        </p:nvSpPr>
        <p:spPr>
          <a:xfrm>
            <a:off x="222587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Avantages</a:t>
            </a:r>
          </a:p>
        </p:txBody>
      </p:sp>
      <p:sp>
        <p:nvSpPr>
          <p:cNvPr id="9" name="Rectangle 8">
            <a:extLst>
              <a:ext uri="{FF2B5EF4-FFF2-40B4-BE49-F238E27FC236}">
                <a16:creationId xmlns:a16="http://schemas.microsoft.com/office/drawing/2014/main" id="{16820FFF-91F6-B6F7-9745-73D1334F4D8E}"/>
              </a:ext>
            </a:extLst>
          </p:cNvPr>
          <p:cNvSpPr/>
          <p:nvPr/>
        </p:nvSpPr>
        <p:spPr>
          <a:xfrm>
            <a:off x="2225875" y="4424969"/>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Inconvénients</a:t>
            </a:r>
          </a:p>
        </p:txBody>
      </p:sp>
      <p:sp>
        <p:nvSpPr>
          <p:cNvPr id="10" name="Rectangle 9">
            <a:extLst>
              <a:ext uri="{FF2B5EF4-FFF2-40B4-BE49-F238E27FC236}">
                <a16:creationId xmlns:a16="http://schemas.microsoft.com/office/drawing/2014/main" id="{516DEB93-B297-55E2-F8D8-55D5AC403724}"/>
              </a:ext>
            </a:extLst>
          </p:cNvPr>
          <p:cNvSpPr/>
          <p:nvPr/>
        </p:nvSpPr>
        <p:spPr>
          <a:xfrm>
            <a:off x="17720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Description</a:t>
            </a:r>
          </a:p>
        </p:txBody>
      </p:sp>
      <p:sp>
        <p:nvSpPr>
          <p:cNvPr id="11" name="Rectangle 10">
            <a:extLst>
              <a:ext uri="{FF2B5EF4-FFF2-40B4-BE49-F238E27FC236}">
                <a16:creationId xmlns:a16="http://schemas.microsoft.com/office/drawing/2014/main" id="{A6270EC3-04B4-3DC6-A6F2-D2F0D6467556}"/>
              </a:ext>
            </a:extLst>
          </p:cNvPr>
          <p:cNvSpPr/>
          <p:nvPr/>
        </p:nvSpPr>
        <p:spPr>
          <a:xfrm>
            <a:off x="837188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critères</a:t>
            </a:r>
          </a:p>
        </p:txBody>
      </p:sp>
      <p:sp>
        <p:nvSpPr>
          <p:cNvPr id="12" name="Rectangle 11">
            <a:extLst>
              <a:ext uri="{FF2B5EF4-FFF2-40B4-BE49-F238E27FC236}">
                <a16:creationId xmlns:a16="http://schemas.microsoft.com/office/drawing/2014/main" id="{23BE221F-7317-2CDA-EA43-359F5FA3DDAD}"/>
              </a:ext>
            </a:extLst>
          </p:cNvPr>
          <p:cNvSpPr/>
          <p:nvPr/>
        </p:nvSpPr>
        <p:spPr>
          <a:xfrm>
            <a:off x="10420556"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d’actions souvent priorisées suivant cette logique</a:t>
            </a:r>
          </a:p>
        </p:txBody>
      </p:sp>
      <p:sp>
        <p:nvSpPr>
          <p:cNvPr id="25" name="Rectangle 24">
            <a:extLst>
              <a:ext uri="{FF2B5EF4-FFF2-40B4-BE49-F238E27FC236}">
                <a16:creationId xmlns:a16="http://schemas.microsoft.com/office/drawing/2014/main" id="{7609406F-06DE-686E-186C-8D4ADDFEFAAA}"/>
              </a:ext>
            </a:extLst>
          </p:cNvPr>
          <p:cNvSpPr/>
          <p:nvPr/>
        </p:nvSpPr>
        <p:spPr>
          <a:xfrm>
            <a:off x="632321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situations</a:t>
            </a:r>
          </a:p>
        </p:txBody>
      </p:sp>
      <p:sp>
        <p:nvSpPr>
          <p:cNvPr id="26" name="Rectangle 25">
            <a:extLst>
              <a:ext uri="{FF2B5EF4-FFF2-40B4-BE49-F238E27FC236}">
                <a16:creationId xmlns:a16="http://schemas.microsoft.com/office/drawing/2014/main" id="{C417845A-10B5-FF2B-D2AD-3A3470EDC767}"/>
              </a:ext>
            </a:extLst>
          </p:cNvPr>
          <p:cNvSpPr/>
          <p:nvPr/>
        </p:nvSpPr>
        <p:spPr>
          <a:xfrm>
            <a:off x="177205" y="2106019"/>
            <a:ext cx="1492148" cy="4160199"/>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100" dirty="0">
                <a:solidFill>
                  <a:schemeClr val="tx1"/>
                </a:solidFill>
              </a:rPr>
              <a:t>La priorisation sur la logique de conservation vise à éviter les efforts, les conflits, les tensions, et le risque de faute.</a:t>
            </a:r>
          </a:p>
          <a:p>
            <a:pPr algn="ctr"/>
            <a:endParaRPr lang="fr-FR" sz="1100" dirty="0">
              <a:solidFill>
                <a:schemeClr val="tx1"/>
              </a:solidFill>
            </a:endParaRPr>
          </a:p>
          <a:p>
            <a:pPr algn="ctr"/>
            <a:r>
              <a:rPr lang="fr-FR" sz="1100" dirty="0">
                <a:solidFill>
                  <a:schemeClr val="tx1"/>
                </a:solidFill>
              </a:rPr>
              <a:t>Cette logique est adoptée dans les cas d’insécurité diplomatique avec les parties prenantes, de fatigue, de tensions.</a:t>
            </a:r>
          </a:p>
          <a:p>
            <a:pPr algn="ctr"/>
            <a:endParaRPr lang="fr-FR" sz="1100" dirty="0">
              <a:solidFill>
                <a:schemeClr val="tx1"/>
              </a:solidFill>
            </a:endParaRPr>
          </a:p>
          <a:p>
            <a:pPr algn="ctr"/>
            <a:r>
              <a:rPr lang="fr-FR" sz="1100" dirty="0">
                <a:solidFill>
                  <a:schemeClr val="tx1"/>
                </a:solidFill>
              </a:rPr>
              <a:t>La logique de conservation vise à « maintenir la survie de la Communauté », en attendant un contexte meilleur.</a:t>
            </a:r>
          </a:p>
        </p:txBody>
      </p:sp>
      <p:sp>
        <p:nvSpPr>
          <p:cNvPr id="27" name="Rectangle 26">
            <a:extLst>
              <a:ext uri="{FF2B5EF4-FFF2-40B4-BE49-F238E27FC236}">
                <a16:creationId xmlns:a16="http://schemas.microsoft.com/office/drawing/2014/main" id="{62A0CAFB-0B01-C8D6-6C64-82909E0F5B5F}"/>
              </a:ext>
            </a:extLst>
          </p:cNvPr>
          <p:cNvSpPr/>
          <p:nvPr/>
        </p:nvSpPr>
        <p:spPr>
          <a:xfrm>
            <a:off x="2225875" y="2833377"/>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Permet de mieux gérer certaines phases difficiles</a:t>
            </a:r>
          </a:p>
        </p:txBody>
      </p:sp>
      <p:sp>
        <p:nvSpPr>
          <p:cNvPr id="29" name="Rectangle 28">
            <a:extLst>
              <a:ext uri="{FF2B5EF4-FFF2-40B4-BE49-F238E27FC236}">
                <a16:creationId xmlns:a16="http://schemas.microsoft.com/office/drawing/2014/main" id="{F3830828-EE71-3CC1-439A-17F4AE23A7C6}"/>
              </a:ext>
            </a:extLst>
          </p:cNvPr>
          <p:cNvSpPr/>
          <p:nvPr/>
        </p:nvSpPr>
        <p:spPr>
          <a:xfrm>
            <a:off x="2225875" y="2052016"/>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Maintient « en sécurité » la Communauté ou les décisionnaires </a:t>
            </a:r>
          </a:p>
        </p:txBody>
      </p:sp>
      <p:sp>
        <p:nvSpPr>
          <p:cNvPr id="33" name="Rectangle 32">
            <a:extLst>
              <a:ext uri="{FF2B5EF4-FFF2-40B4-BE49-F238E27FC236}">
                <a16:creationId xmlns:a16="http://schemas.microsoft.com/office/drawing/2014/main" id="{D10E491F-6C56-45C2-207B-C902C632E709}"/>
              </a:ext>
            </a:extLst>
          </p:cNvPr>
          <p:cNvSpPr/>
          <p:nvPr/>
        </p:nvSpPr>
        <p:spPr>
          <a:xfrm>
            <a:off x="2225875" y="5691986"/>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Risque de désengagement par critique du manque de courage</a:t>
            </a:r>
          </a:p>
        </p:txBody>
      </p:sp>
      <p:sp>
        <p:nvSpPr>
          <p:cNvPr id="34" name="Rectangle 33">
            <a:extLst>
              <a:ext uri="{FF2B5EF4-FFF2-40B4-BE49-F238E27FC236}">
                <a16:creationId xmlns:a16="http://schemas.microsoft.com/office/drawing/2014/main" id="{57893EF9-1F95-917F-AC8A-C3AC02A81B87}"/>
              </a:ext>
            </a:extLst>
          </p:cNvPr>
          <p:cNvSpPr/>
          <p:nvPr/>
        </p:nvSpPr>
        <p:spPr>
          <a:xfrm>
            <a:off x="2225875" y="4910625"/>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Risque d’immobilisme, de manque de motivation ou de valeur</a:t>
            </a:r>
          </a:p>
        </p:txBody>
      </p:sp>
      <p:sp>
        <p:nvSpPr>
          <p:cNvPr id="35" name="Rectangle 34">
            <a:extLst>
              <a:ext uri="{FF2B5EF4-FFF2-40B4-BE49-F238E27FC236}">
                <a16:creationId xmlns:a16="http://schemas.microsoft.com/office/drawing/2014/main" id="{0835A26A-AD5B-7443-4FC1-20E765B3A389}"/>
              </a:ext>
            </a:extLst>
          </p:cNvPr>
          <p:cNvSpPr/>
          <p:nvPr/>
        </p:nvSpPr>
        <p:spPr>
          <a:xfrm>
            <a:off x="6323215" y="3614738"/>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récemment eu quelques conflits dans la Communauté qui risquaient de la diviser, et la croyance en une vision commune s’est affaiblie</a:t>
            </a:r>
          </a:p>
        </p:txBody>
      </p:sp>
      <p:sp>
        <p:nvSpPr>
          <p:cNvPr id="36" name="Rectangle 35">
            <a:extLst>
              <a:ext uri="{FF2B5EF4-FFF2-40B4-BE49-F238E27FC236}">
                <a16:creationId xmlns:a16="http://schemas.microsoft.com/office/drawing/2014/main" id="{BDD85CBB-A568-0CD3-54A5-2F74713E7528}"/>
              </a:ext>
            </a:extLst>
          </p:cNvPr>
          <p:cNvSpPr/>
          <p:nvPr/>
        </p:nvSpPr>
        <p:spPr>
          <a:xfrm>
            <a:off x="6323215" y="5177459"/>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Communauté est extrêmement fatiguée après son gros événement de l’année, et a besoin de récupérer avant de se relancer dans un projet d’envergure</a:t>
            </a:r>
          </a:p>
        </p:txBody>
      </p:sp>
      <p:sp>
        <p:nvSpPr>
          <p:cNvPr id="37" name="Rectangle 36">
            <a:extLst>
              <a:ext uri="{FF2B5EF4-FFF2-40B4-BE49-F238E27FC236}">
                <a16:creationId xmlns:a16="http://schemas.microsoft.com/office/drawing/2014/main" id="{27BA63C2-C00C-A2D4-B0C5-27FFD6982DD4}"/>
              </a:ext>
            </a:extLst>
          </p:cNvPr>
          <p:cNvSpPr/>
          <p:nvPr/>
        </p:nvSpPr>
        <p:spPr>
          <a:xfrm>
            <a:off x="6323215" y="2052016"/>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Beaucoup de Communautés se sont dernièrement fait fermer suite à des conflits avec une même personne de la hiérarchie, qui part dans quelques semaines</a:t>
            </a:r>
          </a:p>
        </p:txBody>
      </p:sp>
      <p:sp>
        <p:nvSpPr>
          <p:cNvPr id="38" name="Rectangle 37">
            <a:extLst>
              <a:ext uri="{FF2B5EF4-FFF2-40B4-BE49-F238E27FC236}">
                <a16:creationId xmlns:a16="http://schemas.microsoft.com/office/drawing/2014/main" id="{C3FB9EAE-CBEC-AEC9-D3C1-4EEC85EB1523}"/>
              </a:ext>
            </a:extLst>
          </p:cNvPr>
          <p:cNvSpPr/>
          <p:nvPr/>
        </p:nvSpPr>
        <p:spPr>
          <a:xfrm>
            <a:off x="837188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risque le moins de faire controverse ? Le plus consensus ?</a:t>
            </a:r>
          </a:p>
        </p:txBody>
      </p:sp>
      <p:sp>
        <p:nvSpPr>
          <p:cNvPr id="39" name="Rectangle 38">
            <a:extLst>
              <a:ext uri="{FF2B5EF4-FFF2-40B4-BE49-F238E27FC236}">
                <a16:creationId xmlns:a16="http://schemas.microsoft.com/office/drawing/2014/main" id="{8979C0D4-DD48-924D-6208-A08F5D29C96D}"/>
              </a:ext>
            </a:extLst>
          </p:cNvPr>
          <p:cNvSpPr/>
          <p:nvPr/>
        </p:nvSpPr>
        <p:spPr>
          <a:xfrm>
            <a:off x="837188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réduirait la pression ou les tensions avec les parties prenantes ?</a:t>
            </a:r>
          </a:p>
        </p:txBody>
      </p:sp>
      <p:sp>
        <p:nvSpPr>
          <p:cNvPr id="40" name="Rectangle 39">
            <a:extLst>
              <a:ext uri="{FF2B5EF4-FFF2-40B4-BE49-F238E27FC236}">
                <a16:creationId xmlns:a16="http://schemas.microsoft.com/office/drawing/2014/main" id="{7BE42B0D-6EB8-F0D1-49F9-549885011C75}"/>
              </a:ext>
            </a:extLst>
          </p:cNvPr>
          <p:cNvSpPr/>
          <p:nvPr/>
        </p:nvSpPr>
        <p:spPr>
          <a:xfrm>
            <a:off x="837188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nous prend le moins d’effort ?</a:t>
            </a:r>
          </a:p>
        </p:txBody>
      </p:sp>
      <p:sp>
        <p:nvSpPr>
          <p:cNvPr id="41" name="Rectangle 40">
            <a:extLst>
              <a:ext uri="{FF2B5EF4-FFF2-40B4-BE49-F238E27FC236}">
                <a16:creationId xmlns:a16="http://schemas.microsoft.com/office/drawing/2014/main" id="{CD875045-CFD4-7CC6-A48C-D4DBD9053E07}"/>
              </a:ext>
            </a:extLst>
          </p:cNvPr>
          <p:cNvSpPr/>
          <p:nvPr/>
        </p:nvSpPr>
        <p:spPr>
          <a:xfrm>
            <a:off x="8371885" y="517746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correspond le mieux à notre timing ?</a:t>
            </a:r>
          </a:p>
        </p:txBody>
      </p:sp>
      <p:sp>
        <p:nvSpPr>
          <p:cNvPr id="42" name="Rectangle 41">
            <a:extLst>
              <a:ext uri="{FF2B5EF4-FFF2-40B4-BE49-F238E27FC236}">
                <a16:creationId xmlns:a16="http://schemas.microsoft.com/office/drawing/2014/main" id="{08EF47A7-2160-84F2-88A8-1F976893BE20}"/>
              </a:ext>
            </a:extLst>
          </p:cNvPr>
          <p:cNvSpPr/>
          <p:nvPr/>
        </p:nvSpPr>
        <p:spPr>
          <a:xfrm>
            <a:off x="8371885" y="5958821"/>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nécessite le moins de dérangement possible ?</a:t>
            </a:r>
          </a:p>
        </p:txBody>
      </p:sp>
      <p:sp>
        <p:nvSpPr>
          <p:cNvPr id="43" name="Rectangle 42">
            <a:extLst>
              <a:ext uri="{FF2B5EF4-FFF2-40B4-BE49-F238E27FC236}">
                <a16:creationId xmlns:a16="http://schemas.microsoft.com/office/drawing/2014/main" id="{A791B074-2C47-F231-61A0-23B1541E924A}"/>
              </a:ext>
            </a:extLst>
          </p:cNvPr>
          <p:cNvSpPr/>
          <p:nvPr/>
        </p:nvSpPr>
        <p:spPr>
          <a:xfrm>
            <a:off x="837188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est le moins risqué diplomatiquement ?</a:t>
            </a:r>
          </a:p>
        </p:txBody>
      </p:sp>
      <p:sp>
        <p:nvSpPr>
          <p:cNvPr id="44" name="Rectangle 43">
            <a:extLst>
              <a:ext uri="{FF2B5EF4-FFF2-40B4-BE49-F238E27FC236}">
                <a16:creationId xmlns:a16="http://schemas.microsoft.com/office/drawing/2014/main" id="{0E880A6D-4178-B0D8-D535-6B02EC697E43}"/>
              </a:ext>
            </a:extLst>
          </p:cNvPr>
          <p:cNvSpPr/>
          <p:nvPr/>
        </p:nvSpPr>
        <p:spPr>
          <a:xfrm>
            <a:off x="1042055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Rencontre avec les membres pour questions / réponses / cadrage</a:t>
            </a:r>
          </a:p>
        </p:txBody>
      </p:sp>
      <p:sp>
        <p:nvSpPr>
          <p:cNvPr id="45" name="Rectangle 44">
            <a:extLst>
              <a:ext uri="{FF2B5EF4-FFF2-40B4-BE49-F238E27FC236}">
                <a16:creationId xmlns:a16="http://schemas.microsoft.com/office/drawing/2014/main" id="{DFACEF9E-80B4-E9C5-FC85-F3D35B779FE4}"/>
              </a:ext>
            </a:extLst>
          </p:cNvPr>
          <p:cNvSpPr/>
          <p:nvPr/>
        </p:nvSpPr>
        <p:spPr>
          <a:xfrm>
            <a:off x="1042055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Contenus non controversés (retours d’expérience de membre, etc.)</a:t>
            </a:r>
          </a:p>
        </p:txBody>
      </p:sp>
      <p:sp>
        <p:nvSpPr>
          <p:cNvPr id="46" name="Rectangle 45">
            <a:extLst>
              <a:ext uri="{FF2B5EF4-FFF2-40B4-BE49-F238E27FC236}">
                <a16:creationId xmlns:a16="http://schemas.microsoft.com/office/drawing/2014/main" id="{567CC2B0-AAF9-5756-2019-E3DDC59D7299}"/>
              </a:ext>
            </a:extLst>
          </p:cNvPr>
          <p:cNvSpPr/>
          <p:nvPr/>
        </p:nvSpPr>
        <p:spPr>
          <a:xfrm>
            <a:off x="1042055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Rencontre avec les sponsors pour questions / réponses / cadrage</a:t>
            </a:r>
          </a:p>
        </p:txBody>
      </p:sp>
      <p:sp>
        <p:nvSpPr>
          <p:cNvPr id="47" name="Rectangle 46">
            <a:extLst>
              <a:ext uri="{FF2B5EF4-FFF2-40B4-BE49-F238E27FC236}">
                <a16:creationId xmlns:a16="http://schemas.microsoft.com/office/drawing/2014/main" id="{80407840-9E17-5B2F-0380-67C30F8E4093}"/>
              </a:ext>
            </a:extLst>
          </p:cNvPr>
          <p:cNvSpPr/>
          <p:nvPr/>
        </p:nvSpPr>
        <p:spPr>
          <a:xfrm>
            <a:off x="10420555" y="517746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Envoi de contenus courts (article, petite vidéo, etc.)</a:t>
            </a:r>
          </a:p>
        </p:txBody>
      </p:sp>
      <p:sp>
        <p:nvSpPr>
          <p:cNvPr id="48" name="Rectangle 47">
            <a:extLst>
              <a:ext uri="{FF2B5EF4-FFF2-40B4-BE49-F238E27FC236}">
                <a16:creationId xmlns:a16="http://schemas.microsoft.com/office/drawing/2014/main" id="{B8BA815D-FB3E-7C67-6709-144040F53332}"/>
              </a:ext>
            </a:extLst>
          </p:cNvPr>
          <p:cNvSpPr/>
          <p:nvPr/>
        </p:nvSpPr>
        <p:spPr>
          <a:xfrm>
            <a:off x="10420555" y="5958821"/>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Co-consommation de contenus prêts et courts (vidéo, etc.)</a:t>
            </a:r>
          </a:p>
        </p:txBody>
      </p:sp>
      <p:sp>
        <p:nvSpPr>
          <p:cNvPr id="49" name="Rectangle 48">
            <a:extLst>
              <a:ext uri="{FF2B5EF4-FFF2-40B4-BE49-F238E27FC236}">
                <a16:creationId xmlns:a16="http://schemas.microsoft.com/office/drawing/2014/main" id="{1392E2B7-69EE-5B77-A47C-101C4EE8E85B}"/>
              </a:ext>
            </a:extLst>
          </p:cNvPr>
          <p:cNvSpPr/>
          <p:nvPr/>
        </p:nvSpPr>
        <p:spPr>
          <a:xfrm>
            <a:off x="1042055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Session de co-développement ou d’entraide entre membres</a:t>
            </a:r>
          </a:p>
        </p:txBody>
      </p:sp>
      <p:grpSp>
        <p:nvGrpSpPr>
          <p:cNvPr id="53" name="Groupe 52">
            <a:extLst>
              <a:ext uri="{FF2B5EF4-FFF2-40B4-BE49-F238E27FC236}">
                <a16:creationId xmlns:a16="http://schemas.microsoft.com/office/drawing/2014/main" id="{D4E86EC2-00C5-6495-E02C-478A662B5290}"/>
              </a:ext>
            </a:extLst>
          </p:cNvPr>
          <p:cNvGrpSpPr/>
          <p:nvPr/>
        </p:nvGrpSpPr>
        <p:grpSpPr>
          <a:xfrm>
            <a:off x="357363" y="157358"/>
            <a:ext cx="1166637" cy="965946"/>
            <a:chOff x="7881923" y="3500636"/>
            <a:chExt cx="1166637" cy="965946"/>
          </a:xfrm>
        </p:grpSpPr>
        <p:grpSp>
          <p:nvGrpSpPr>
            <p:cNvPr id="55" name="Groupe 54">
              <a:extLst>
                <a:ext uri="{FF2B5EF4-FFF2-40B4-BE49-F238E27FC236}">
                  <a16:creationId xmlns:a16="http://schemas.microsoft.com/office/drawing/2014/main" id="{003F52BB-4F5F-5BE0-38E6-D46060FB1A4F}"/>
                </a:ext>
              </a:extLst>
            </p:cNvPr>
            <p:cNvGrpSpPr/>
            <p:nvPr/>
          </p:nvGrpSpPr>
          <p:grpSpPr>
            <a:xfrm>
              <a:off x="8134160" y="3552182"/>
              <a:ext cx="914400" cy="914400"/>
              <a:chOff x="381000" y="3527564"/>
              <a:chExt cx="914400" cy="914400"/>
            </a:xfrm>
            <a:solidFill>
              <a:schemeClr val="accent1"/>
            </a:solidFill>
          </p:grpSpPr>
          <p:pic>
            <p:nvPicPr>
              <p:cNvPr id="57" name="Graphique 56" descr="Homme conductrice avec un remplissage uni">
                <a:extLst>
                  <a:ext uri="{FF2B5EF4-FFF2-40B4-BE49-F238E27FC236}">
                    <a16:creationId xmlns:a16="http://schemas.microsoft.com/office/drawing/2014/main" id="{B8BBB4B5-C162-6E42-80AA-BE464CBB88D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58" name="Rectangle 57">
                <a:extLst>
                  <a:ext uri="{FF2B5EF4-FFF2-40B4-BE49-F238E27FC236}">
                    <a16:creationId xmlns:a16="http://schemas.microsoft.com/office/drawing/2014/main" id="{C4B347AA-E887-51C7-719D-E4B8841394CE}"/>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56" name="Graphique 55" descr="Colombe avec un remplissage uni">
              <a:extLst>
                <a:ext uri="{FF2B5EF4-FFF2-40B4-BE49-F238E27FC236}">
                  <a16:creationId xmlns:a16="http://schemas.microsoft.com/office/drawing/2014/main" id="{65CD86B3-134F-B1B0-00D8-2658B42D726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7881923" y="3500636"/>
              <a:ext cx="446098" cy="446098"/>
            </a:xfrm>
            <a:prstGeom prst="rect">
              <a:avLst/>
            </a:prstGeom>
          </p:spPr>
        </p:pic>
      </p:grpSp>
    </p:spTree>
    <p:extLst>
      <p:ext uri="{BB962C8B-B14F-4D97-AF65-F5344CB8AC3E}">
        <p14:creationId xmlns:p14="http://schemas.microsoft.com/office/powerpoint/2010/main" val="277211748"/>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C0B1026-782A-A43C-3D1F-884B9E092E52}"/>
              </a:ext>
            </a:extLst>
          </p:cNvPr>
          <p:cNvSpPr>
            <a:spLocks noGrp="1"/>
          </p:cNvSpPr>
          <p:nvPr>
            <p:ph type="title"/>
          </p:nvPr>
        </p:nvSpPr>
        <p:spPr>
          <a:xfrm>
            <a:off x="1381124" y="365126"/>
            <a:ext cx="9972675" cy="758178"/>
          </a:xfrm>
        </p:spPr>
        <p:txBody>
          <a:bodyPr>
            <a:noAutofit/>
          </a:bodyPr>
          <a:lstStyle/>
          <a:p>
            <a:r>
              <a:rPr lang="fr-FR" sz="2400" dirty="0"/>
              <a:t>Priorisation sur une logique de MOTIVATION</a:t>
            </a:r>
            <a:br>
              <a:rPr lang="fr-FR" sz="2400" dirty="0"/>
            </a:br>
            <a:r>
              <a:rPr lang="fr-FR" sz="2400" dirty="0"/>
              <a:t>« La priorité est de vite développer la motivation et le moral chez les membres et les parties prenantes»</a:t>
            </a:r>
          </a:p>
        </p:txBody>
      </p:sp>
      <p:sp>
        <p:nvSpPr>
          <p:cNvPr id="4" name="Rectangle 3">
            <a:extLst>
              <a:ext uri="{FF2B5EF4-FFF2-40B4-BE49-F238E27FC236}">
                <a16:creationId xmlns:a16="http://schemas.microsoft.com/office/drawing/2014/main" id="{DF5A7FF5-BA24-50B9-AEE5-F61C35A55551}"/>
              </a:ext>
            </a:extLst>
          </p:cNvPr>
          <p:cNvSpPr/>
          <p:nvPr/>
        </p:nvSpPr>
        <p:spPr>
          <a:xfrm>
            <a:off x="4274545" y="2833377"/>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 niveau de croyance en la Communauté et de satisfaction est faible</a:t>
            </a:r>
          </a:p>
        </p:txBody>
      </p:sp>
      <p:sp>
        <p:nvSpPr>
          <p:cNvPr id="5" name="Rectangle 4">
            <a:extLst>
              <a:ext uri="{FF2B5EF4-FFF2-40B4-BE49-F238E27FC236}">
                <a16:creationId xmlns:a16="http://schemas.microsoft.com/office/drawing/2014/main" id="{25035309-2925-9078-B1D3-C1EE8C7493EA}"/>
              </a:ext>
            </a:extLst>
          </p:cNvPr>
          <p:cNvSpPr/>
          <p:nvPr/>
        </p:nvSpPr>
        <p:spPr>
          <a:xfrm>
            <a:off x="4274545" y="3614738"/>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membres ne connaissent pas encore bien la Communauté</a:t>
            </a:r>
          </a:p>
        </p:txBody>
      </p:sp>
      <p:sp>
        <p:nvSpPr>
          <p:cNvPr id="6" name="Rectangle 5">
            <a:extLst>
              <a:ext uri="{FF2B5EF4-FFF2-40B4-BE49-F238E27FC236}">
                <a16:creationId xmlns:a16="http://schemas.microsoft.com/office/drawing/2014/main" id="{2EC9C2D6-0EB1-B843-EA69-4834617AF537}"/>
              </a:ext>
            </a:extLst>
          </p:cNvPr>
          <p:cNvSpPr/>
          <p:nvPr/>
        </p:nvSpPr>
        <p:spPr>
          <a:xfrm>
            <a:off x="4274545" y="2052016"/>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motivation est trop faible en ce moment pour pouvoir faire de grands choix</a:t>
            </a:r>
          </a:p>
        </p:txBody>
      </p:sp>
      <p:sp>
        <p:nvSpPr>
          <p:cNvPr id="7" name="Rectangle 6">
            <a:extLst>
              <a:ext uri="{FF2B5EF4-FFF2-40B4-BE49-F238E27FC236}">
                <a16:creationId xmlns:a16="http://schemas.microsoft.com/office/drawing/2014/main" id="{1A7B474C-C068-00E2-7F24-E7571C0F2BD4}"/>
              </a:ext>
            </a:extLst>
          </p:cNvPr>
          <p:cNvSpPr/>
          <p:nvPr/>
        </p:nvSpPr>
        <p:spPr>
          <a:xfrm>
            <a:off x="427454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Conditions favorables</a:t>
            </a:r>
          </a:p>
        </p:txBody>
      </p:sp>
      <p:sp>
        <p:nvSpPr>
          <p:cNvPr id="8" name="Rectangle 7">
            <a:extLst>
              <a:ext uri="{FF2B5EF4-FFF2-40B4-BE49-F238E27FC236}">
                <a16:creationId xmlns:a16="http://schemas.microsoft.com/office/drawing/2014/main" id="{7E2163C5-DA1B-A47C-003C-ED0BC2C70D99}"/>
              </a:ext>
            </a:extLst>
          </p:cNvPr>
          <p:cNvSpPr/>
          <p:nvPr/>
        </p:nvSpPr>
        <p:spPr>
          <a:xfrm>
            <a:off x="222587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Avantages</a:t>
            </a:r>
          </a:p>
        </p:txBody>
      </p:sp>
      <p:sp>
        <p:nvSpPr>
          <p:cNvPr id="9" name="Rectangle 8">
            <a:extLst>
              <a:ext uri="{FF2B5EF4-FFF2-40B4-BE49-F238E27FC236}">
                <a16:creationId xmlns:a16="http://schemas.microsoft.com/office/drawing/2014/main" id="{16820FFF-91F6-B6F7-9745-73D1334F4D8E}"/>
              </a:ext>
            </a:extLst>
          </p:cNvPr>
          <p:cNvSpPr/>
          <p:nvPr/>
        </p:nvSpPr>
        <p:spPr>
          <a:xfrm>
            <a:off x="2225875" y="4424969"/>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Inconvénients</a:t>
            </a:r>
          </a:p>
        </p:txBody>
      </p:sp>
      <p:sp>
        <p:nvSpPr>
          <p:cNvPr id="10" name="Rectangle 9">
            <a:extLst>
              <a:ext uri="{FF2B5EF4-FFF2-40B4-BE49-F238E27FC236}">
                <a16:creationId xmlns:a16="http://schemas.microsoft.com/office/drawing/2014/main" id="{516DEB93-B297-55E2-F8D8-55D5AC403724}"/>
              </a:ext>
            </a:extLst>
          </p:cNvPr>
          <p:cNvSpPr/>
          <p:nvPr/>
        </p:nvSpPr>
        <p:spPr>
          <a:xfrm>
            <a:off x="17720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Description</a:t>
            </a:r>
          </a:p>
        </p:txBody>
      </p:sp>
      <p:sp>
        <p:nvSpPr>
          <p:cNvPr id="11" name="Rectangle 10">
            <a:extLst>
              <a:ext uri="{FF2B5EF4-FFF2-40B4-BE49-F238E27FC236}">
                <a16:creationId xmlns:a16="http://schemas.microsoft.com/office/drawing/2014/main" id="{A6270EC3-04B4-3DC6-A6F2-D2F0D6467556}"/>
              </a:ext>
            </a:extLst>
          </p:cNvPr>
          <p:cNvSpPr/>
          <p:nvPr/>
        </p:nvSpPr>
        <p:spPr>
          <a:xfrm>
            <a:off x="837188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critères</a:t>
            </a:r>
          </a:p>
        </p:txBody>
      </p:sp>
      <p:sp>
        <p:nvSpPr>
          <p:cNvPr id="12" name="Rectangle 11">
            <a:extLst>
              <a:ext uri="{FF2B5EF4-FFF2-40B4-BE49-F238E27FC236}">
                <a16:creationId xmlns:a16="http://schemas.microsoft.com/office/drawing/2014/main" id="{23BE221F-7317-2CDA-EA43-359F5FA3DDAD}"/>
              </a:ext>
            </a:extLst>
          </p:cNvPr>
          <p:cNvSpPr/>
          <p:nvPr/>
        </p:nvSpPr>
        <p:spPr>
          <a:xfrm>
            <a:off x="10420556"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d’actions souvent priorisées suivant cette logique</a:t>
            </a:r>
          </a:p>
        </p:txBody>
      </p:sp>
      <p:sp>
        <p:nvSpPr>
          <p:cNvPr id="25" name="Rectangle 24">
            <a:extLst>
              <a:ext uri="{FF2B5EF4-FFF2-40B4-BE49-F238E27FC236}">
                <a16:creationId xmlns:a16="http://schemas.microsoft.com/office/drawing/2014/main" id="{7609406F-06DE-686E-186C-8D4ADDFEFAAA}"/>
              </a:ext>
            </a:extLst>
          </p:cNvPr>
          <p:cNvSpPr/>
          <p:nvPr/>
        </p:nvSpPr>
        <p:spPr>
          <a:xfrm>
            <a:off x="632321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situations</a:t>
            </a:r>
          </a:p>
        </p:txBody>
      </p:sp>
      <p:sp>
        <p:nvSpPr>
          <p:cNvPr id="26" name="Rectangle 25">
            <a:extLst>
              <a:ext uri="{FF2B5EF4-FFF2-40B4-BE49-F238E27FC236}">
                <a16:creationId xmlns:a16="http://schemas.microsoft.com/office/drawing/2014/main" id="{C417845A-10B5-FF2B-D2AD-3A3470EDC767}"/>
              </a:ext>
            </a:extLst>
          </p:cNvPr>
          <p:cNvSpPr/>
          <p:nvPr/>
        </p:nvSpPr>
        <p:spPr>
          <a:xfrm>
            <a:off x="177205" y="2106019"/>
            <a:ext cx="1492148" cy="4160199"/>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100" dirty="0">
                <a:solidFill>
                  <a:schemeClr val="tx1"/>
                </a:solidFill>
              </a:rPr>
              <a:t>La priorisation sur une logique de motivation favorise tout ce qui peut améliorer l’état des motivations des membres (ou des parties prenantes). </a:t>
            </a:r>
          </a:p>
          <a:p>
            <a:pPr algn="ctr"/>
            <a:endParaRPr lang="fr-FR" sz="1100" dirty="0">
              <a:solidFill>
                <a:schemeClr val="tx1"/>
              </a:solidFill>
            </a:endParaRPr>
          </a:p>
          <a:p>
            <a:pPr algn="ctr"/>
            <a:r>
              <a:rPr lang="fr-FR" sz="1100" dirty="0">
                <a:solidFill>
                  <a:schemeClr val="tx1"/>
                </a:solidFill>
              </a:rPr>
              <a:t>La logique de motivation repose sur l’idée que « sans motivation, pas d’engagement, sans engagement, aucune autre action possible ».  </a:t>
            </a:r>
          </a:p>
          <a:p>
            <a:pPr algn="ctr"/>
            <a:endParaRPr lang="fr-FR" sz="1100" dirty="0">
              <a:solidFill>
                <a:schemeClr val="tx1"/>
              </a:solidFill>
            </a:endParaRPr>
          </a:p>
          <a:p>
            <a:pPr algn="ctr"/>
            <a:r>
              <a:rPr lang="fr-FR" sz="1100" dirty="0">
                <a:solidFill>
                  <a:schemeClr val="tx1"/>
                </a:solidFill>
              </a:rPr>
              <a:t>C’est une logique assez couramment utilisée, surtout sur des communautés à faible niveau d’obligation. </a:t>
            </a:r>
          </a:p>
        </p:txBody>
      </p:sp>
      <p:sp>
        <p:nvSpPr>
          <p:cNvPr id="27" name="Rectangle 26">
            <a:extLst>
              <a:ext uri="{FF2B5EF4-FFF2-40B4-BE49-F238E27FC236}">
                <a16:creationId xmlns:a16="http://schemas.microsoft.com/office/drawing/2014/main" id="{62A0CAFB-0B01-C8D6-6C64-82909E0F5B5F}"/>
              </a:ext>
            </a:extLst>
          </p:cNvPr>
          <p:cNvSpPr/>
          <p:nvPr/>
        </p:nvSpPr>
        <p:spPr>
          <a:xfrm>
            <a:off x="2225875" y="2833377"/>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Permet de se préparer à des tâches plus difficiles plus tard.</a:t>
            </a:r>
          </a:p>
        </p:txBody>
      </p:sp>
      <p:sp>
        <p:nvSpPr>
          <p:cNvPr id="29" name="Rectangle 28">
            <a:extLst>
              <a:ext uri="{FF2B5EF4-FFF2-40B4-BE49-F238E27FC236}">
                <a16:creationId xmlns:a16="http://schemas.microsoft.com/office/drawing/2014/main" id="{F3830828-EE71-3CC1-439A-17F4AE23A7C6}"/>
              </a:ext>
            </a:extLst>
          </p:cNvPr>
          <p:cNvSpPr/>
          <p:nvPr/>
        </p:nvSpPr>
        <p:spPr>
          <a:xfrm>
            <a:off x="2225875" y="2052016"/>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Favorise le moral et  la motivation. Souvent perçu comme plus humain</a:t>
            </a:r>
          </a:p>
        </p:txBody>
      </p:sp>
      <p:sp>
        <p:nvSpPr>
          <p:cNvPr id="33" name="Rectangle 32">
            <a:extLst>
              <a:ext uri="{FF2B5EF4-FFF2-40B4-BE49-F238E27FC236}">
                <a16:creationId xmlns:a16="http://schemas.microsoft.com/office/drawing/2014/main" id="{D10E491F-6C56-45C2-207B-C902C632E709}"/>
              </a:ext>
            </a:extLst>
          </p:cNvPr>
          <p:cNvSpPr/>
          <p:nvPr/>
        </p:nvSpPr>
        <p:spPr>
          <a:xfrm>
            <a:off x="2225875" y="5691987"/>
            <a:ext cx="1492148" cy="800888"/>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Peut détourner de la valeur en se centrant sur le plaisir (si ce n’est pas la valeur attendue)</a:t>
            </a:r>
          </a:p>
        </p:txBody>
      </p:sp>
      <p:sp>
        <p:nvSpPr>
          <p:cNvPr id="34" name="Rectangle 33">
            <a:extLst>
              <a:ext uri="{FF2B5EF4-FFF2-40B4-BE49-F238E27FC236}">
                <a16:creationId xmlns:a16="http://schemas.microsoft.com/office/drawing/2014/main" id="{57893EF9-1F95-917F-AC8A-C3AC02A81B87}"/>
              </a:ext>
            </a:extLst>
          </p:cNvPr>
          <p:cNvSpPr/>
          <p:nvPr/>
        </p:nvSpPr>
        <p:spPr>
          <a:xfrm>
            <a:off x="2225875" y="4910625"/>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Peut faire éviter les sujets de fond désagréables mais importants</a:t>
            </a:r>
          </a:p>
        </p:txBody>
      </p:sp>
      <p:sp>
        <p:nvSpPr>
          <p:cNvPr id="35" name="Rectangle 34">
            <a:extLst>
              <a:ext uri="{FF2B5EF4-FFF2-40B4-BE49-F238E27FC236}">
                <a16:creationId xmlns:a16="http://schemas.microsoft.com/office/drawing/2014/main" id="{0835A26A-AD5B-7443-4FC1-20E765B3A389}"/>
              </a:ext>
            </a:extLst>
          </p:cNvPr>
          <p:cNvSpPr/>
          <p:nvPr/>
        </p:nvSpPr>
        <p:spPr>
          <a:xfrm>
            <a:off x="6323215" y="3614738"/>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membres viennent de passer des périodes difficiles (conflits, départs, baisse d’activité) dans la Communauté, et ont du mal à s’imaginer s’engager de nouveau</a:t>
            </a:r>
          </a:p>
        </p:txBody>
      </p:sp>
      <p:sp>
        <p:nvSpPr>
          <p:cNvPr id="36" name="Rectangle 35">
            <a:extLst>
              <a:ext uri="{FF2B5EF4-FFF2-40B4-BE49-F238E27FC236}">
                <a16:creationId xmlns:a16="http://schemas.microsoft.com/office/drawing/2014/main" id="{BDD85CBB-A568-0CD3-54A5-2F74713E7528}"/>
              </a:ext>
            </a:extLst>
          </p:cNvPr>
          <p:cNvSpPr/>
          <p:nvPr/>
        </p:nvSpPr>
        <p:spPr>
          <a:xfrm>
            <a:off x="6323215" y="5177459"/>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Malgré la valeur évidente (reconnue) des activités récentes de la Communauté, les membres ressentent un ennui progressif voire de la démotivation</a:t>
            </a:r>
          </a:p>
        </p:txBody>
      </p:sp>
      <p:sp>
        <p:nvSpPr>
          <p:cNvPr id="37" name="Rectangle 36">
            <a:extLst>
              <a:ext uri="{FF2B5EF4-FFF2-40B4-BE49-F238E27FC236}">
                <a16:creationId xmlns:a16="http://schemas.microsoft.com/office/drawing/2014/main" id="{27BA63C2-C00C-A2D4-B0C5-27FFD6982DD4}"/>
              </a:ext>
            </a:extLst>
          </p:cNvPr>
          <p:cNvSpPr/>
          <p:nvPr/>
        </p:nvSpPr>
        <p:spPr>
          <a:xfrm>
            <a:off x="6323215" y="2052016"/>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Dernièrement, les membres de la Communauté sont par ailleurs très fatigués par leur travail, la Communauté ne doit pas être une corvée de plus</a:t>
            </a:r>
          </a:p>
        </p:txBody>
      </p:sp>
      <p:sp>
        <p:nvSpPr>
          <p:cNvPr id="38" name="Rectangle 37">
            <a:extLst>
              <a:ext uri="{FF2B5EF4-FFF2-40B4-BE49-F238E27FC236}">
                <a16:creationId xmlns:a16="http://schemas.microsoft.com/office/drawing/2014/main" id="{C3FB9EAE-CBEC-AEC9-D3C1-4EEC85EB1523}"/>
              </a:ext>
            </a:extLst>
          </p:cNvPr>
          <p:cNvSpPr/>
          <p:nvPr/>
        </p:nvSpPr>
        <p:spPr>
          <a:xfrm>
            <a:off x="837188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 ce qui démotiverait le moins les membres ?</a:t>
            </a:r>
          </a:p>
        </p:txBody>
      </p:sp>
      <p:sp>
        <p:nvSpPr>
          <p:cNvPr id="39" name="Rectangle 38">
            <a:extLst>
              <a:ext uri="{FF2B5EF4-FFF2-40B4-BE49-F238E27FC236}">
                <a16:creationId xmlns:a16="http://schemas.microsoft.com/office/drawing/2014/main" id="{8979C0D4-DD48-924D-6208-A08F5D29C96D}"/>
              </a:ext>
            </a:extLst>
          </p:cNvPr>
          <p:cNvSpPr/>
          <p:nvPr/>
        </p:nvSpPr>
        <p:spPr>
          <a:xfrm>
            <a:off x="837188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ferait le plus respirer les membres ?</a:t>
            </a:r>
          </a:p>
        </p:txBody>
      </p:sp>
      <p:sp>
        <p:nvSpPr>
          <p:cNvPr id="40" name="Rectangle 39">
            <a:extLst>
              <a:ext uri="{FF2B5EF4-FFF2-40B4-BE49-F238E27FC236}">
                <a16:creationId xmlns:a16="http://schemas.microsoft.com/office/drawing/2014/main" id="{7BE42B0D-6EB8-F0D1-49F9-549885011C75}"/>
              </a:ext>
            </a:extLst>
          </p:cNvPr>
          <p:cNvSpPr/>
          <p:nvPr/>
        </p:nvSpPr>
        <p:spPr>
          <a:xfrm>
            <a:off x="837188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(re)motiverait le plus les membres ?</a:t>
            </a:r>
          </a:p>
        </p:txBody>
      </p:sp>
      <p:sp>
        <p:nvSpPr>
          <p:cNvPr id="41" name="Rectangle 40">
            <a:extLst>
              <a:ext uri="{FF2B5EF4-FFF2-40B4-BE49-F238E27FC236}">
                <a16:creationId xmlns:a16="http://schemas.microsoft.com/office/drawing/2014/main" id="{CD875045-CFD4-7CC6-A48C-D4DBD9053E07}"/>
              </a:ext>
            </a:extLst>
          </p:cNvPr>
          <p:cNvSpPr/>
          <p:nvPr/>
        </p:nvSpPr>
        <p:spPr>
          <a:xfrm>
            <a:off x="8371885" y="517746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semble le plus motivant à commencer ? À Terminer ?</a:t>
            </a:r>
          </a:p>
        </p:txBody>
      </p:sp>
      <p:sp>
        <p:nvSpPr>
          <p:cNvPr id="42" name="Rectangle 41">
            <a:extLst>
              <a:ext uri="{FF2B5EF4-FFF2-40B4-BE49-F238E27FC236}">
                <a16:creationId xmlns:a16="http://schemas.microsoft.com/office/drawing/2014/main" id="{08EF47A7-2160-84F2-88A8-1F976893BE20}"/>
              </a:ext>
            </a:extLst>
          </p:cNvPr>
          <p:cNvSpPr/>
          <p:nvPr/>
        </p:nvSpPr>
        <p:spPr>
          <a:xfrm>
            <a:off x="8371885" y="5958821"/>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serait symboliquement le plus important ?</a:t>
            </a:r>
          </a:p>
        </p:txBody>
      </p:sp>
      <p:sp>
        <p:nvSpPr>
          <p:cNvPr id="43" name="Rectangle 42">
            <a:extLst>
              <a:ext uri="{FF2B5EF4-FFF2-40B4-BE49-F238E27FC236}">
                <a16:creationId xmlns:a16="http://schemas.microsoft.com/office/drawing/2014/main" id="{A791B074-2C47-F231-61A0-23B1541E924A}"/>
              </a:ext>
            </a:extLst>
          </p:cNvPr>
          <p:cNvSpPr/>
          <p:nvPr/>
        </p:nvSpPr>
        <p:spPr>
          <a:xfrm>
            <a:off x="837188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serait le plus agréable à faire ?</a:t>
            </a:r>
          </a:p>
        </p:txBody>
      </p:sp>
      <p:sp>
        <p:nvSpPr>
          <p:cNvPr id="44" name="Rectangle 43">
            <a:extLst>
              <a:ext uri="{FF2B5EF4-FFF2-40B4-BE49-F238E27FC236}">
                <a16:creationId xmlns:a16="http://schemas.microsoft.com/office/drawing/2014/main" id="{0E880A6D-4178-B0D8-D535-6B02EC697E43}"/>
              </a:ext>
            </a:extLst>
          </p:cNvPr>
          <p:cNvSpPr/>
          <p:nvPr/>
        </p:nvSpPr>
        <p:spPr>
          <a:xfrm>
            <a:off x="1042055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Ateliers sur la raison d’être, le pourquoi</a:t>
            </a:r>
          </a:p>
        </p:txBody>
      </p:sp>
      <p:sp>
        <p:nvSpPr>
          <p:cNvPr id="45" name="Rectangle 44">
            <a:extLst>
              <a:ext uri="{FF2B5EF4-FFF2-40B4-BE49-F238E27FC236}">
                <a16:creationId xmlns:a16="http://schemas.microsoft.com/office/drawing/2014/main" id="{DFACEF9E-80B4-E9C5-FC85-F3D35B779FE4}"/>
              </a:ext>
            </a:extLst>
          </p:cNvPr>
          <p:cNvSpPr/>
          <p:nvPr/>
        </p:nvSpPr>
        <p:spPr>
          <a:xfrm>
            <a:off x="1042055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Evénements basés sur la stimulation, l’enjeu, la nouveauté (ex: conférences à thème)</a:t>
            </a:r>
          </a:p>
        </p:txBody>
      </p:sp>
      <p:sp>
        <p:nvSpPr>
          <p:cNvPr id="46" name="Rectangle 45">
            <a:extLst>
              <a:ext uri="{FF2B5EF4-FFF2-40B4-BE49-F238E27FC236}">
                <a16:creationId xmlns:a16="http://schemas.microsoft.com/office/drawing/2014/main" id="{567CC2B0-AAF9-5756-2019-E3DDC59D7299}"/>
              </a:ext>
            </a:extLst>
          </p:cNvPr>
          <p:cNvSpPr/>
          <p:nvPr/>
        </p:nvSpPr>
        <p:spPr>
          <a:xfrm>
            <a:off x="1042055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Activités festives et légères</a:t>
            </a:r>
          </a:p>
        </p:txBody>
      </p:sp>
      <p:sp>
        <p:nvSpPr>
          <p:cNvPr id="47" name="Rectangle 46">
            <a:extLst>
              <a:ext uri="{FF2B5EF4-FFF2-40B4-BE49-F238E27FC236}">
                <a16:creationId xmlns:a16="http://schemas.microsoft.com/office/drawing/2014/main" id="{80407840-9E17-5B2F-0380-67C30F8E4093}"/>
              </a:ext>
            </a:extLst>
          </p:cNvPr>
          <p:cNvSpPr/>
          <p:nvPr/>
        </p:nvSpPr>
        <p:spPr>
          <a:xfrm>
            <a:off x="10420555" y="517746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Kick-off, sessions de lancement</a:t>
            </a:r>
          </a:p>
        </p:txBody>
      </p:sp>
      <p:sp>
        <p:nvSpPr>
          <p:cNvPr id="48" name="Rectangle 47">
            <a:extLst>
              <a:ext uri="{FF2B5EF4-FFF2-40B4-BE49-F238E27FC236}">
                <a16:creationId xmlns:a16="http://schemas.microsoft.com/office/drawing/2014/main" id="{B8BA815D-FB3E-7C67-6709-144040F53332}"/>
              </a:ext>
            </a:extLst>
          </p:cNvPr>
          <p:cNvSpPr/>
          <p:nvPr/>
        </p:nvSpPr>
        <p:spPr>
          <a:xfrm>
            <a:off x="10420555" y="5958821"/>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Evénements ou contenus inspirants (</a:t>
            </a:r>
            <a:r>
              <a:rPr lang="fr-FR" sz="1100" dirty="0" err="1">
                <a:solidFill>
                  <a:schemeClr val="tx1"/>
                </a:solidFill>
              </a:rPr>
              <a:t>talks</a:t>
            </a:r>
            <a:r>
              <a:rPr lang="fr-FR" sz="1100" dirty="0">
                <a:solidFill>
                  <a:schemeClr val="tx1"/>
                </a:solidFill>
              </a:rPr>
              <a:t>, </a:t>
            </a:r>
            <a:r>
              <a:rPr lang="fr-FR" sz="1100" dirty="0" err="1">
                <a:solidFill>
                  <a:schemeClr val="tx1"/>
                </a:solidFill>
              </a:rPr>
              <a:t>retex</a:t>
            </a:r>
            <a:r>
              <a:rPr lang="fr-FR" sz="1100" dirty="0">
                <a:solidFill>
                  <a:schemeClr val="tx1"/>
                </a:solidFill>
              </a:rPr>
              <a:t> de succès, etc.</a:t>
            </a:r>
          </a:p>
        </p:txBody>
      </p:sp>
      <p:sp>
        <p:nvSpPr>
          <p:cNvPr id="49" name="Rectangle 48">
            <a:extLst>
              <a:ext uri="{FF2B5EF4-FFF2-40B4-BE49-F238E27FC236}">
                <a16:creationId xmlns:a16="http://schemas.microsoft.com/office/drawing/2014/main" id="{1392E2B7-69EE-5B77-A47C-101C4EE8E85B}"/>
              </a:ext>
            </a:extLst>
          </p:cNvPr>
          <p:cNvSpPr/>
          <p:nvPr/>
        </p:nvSpPr>
        <p:spPr>
          <a:xfrm>
            <a:off x="1042055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Serious Games</a:t>
            </a:r>
          </a:p>
        </p:txBody>
      </p:sp>
      <p:grpSp>
        <p:nvGrpSpPr>
          <p:cNvPr id="53" name="Groupe 52">
            <a:extLst>
              <a:ext uri="{FF2B5EF4-FFF2-40B4-BE49-F238E27FC236}">
                <a16:creationId xmlns:a16="http://schemas.microsoft.com/office/drawing/2014/main" id="{14120197-0216-DB50-D71D-A1213B4979AD}"/>
              </a:ext>
            </a:extLst>
          </p:cNvPr>
          <p:cNvGrpSpPr/>
          <p:nvPr/>
        </p:nvGrpSpPr>
        <p:grpSpPr>
          <a:xfrm>
            <a:off x="318058" y="278660"/>
            <a:ext cx="1063066" cy="931110"/>
            <a:chOff x="3333598" y="3510854"/>
            <a:chExt cx="1063066" cy="931110"/>
          </a:xfrm>
        </p:grpSpPr>
        <p:grpSp>
          <p:nvGrpSpPr>
            <p:cNvPr id="55" name="Groupe 54">
              <a:extLst>
                <a:ext uri="{FF2B5EF4-FFF2-40B4-BE49-F238E27FC236}">
                  <a16:creationId xmlns:a16="http://schemas.microsoft.com/office/drawing/2014/main" id="{A39A8C8A-5206-BE3A-5A20-15187F8565FC}"/>
                </a:ext>
              </a:extLst>
            </p:cNvPr>
            <p:cNvGrpSpPr/>
            <p:nvPr/>
          </p:nvGrpSpPr>
          <p:grpSpPr>
            <a:xfrm>
              <a:off x="3482264" y="3527564"/>
              <a:ext cx="914400" cy="914400"/>
              <a:chOff x="381000" y="3527564"/>
              <a:chExt cx="914400" cy="914400"/>
            </a:xfrm>
            <a:solidFill>
              <a:schemeClr val="accent1"/>
            </a:solidFill>
          </p:grpSpPr>
          <p:pic>
            <p:nvPicPr>
              <p:cNvPr id="57" name="Graphique 56" descr="Homme conductrice avec un remplissage uni">
                <a:extLst>
                  <a:ext uri="{FF2B5EF4-FFF2-40B4-BE49-F238E27FC236}">
                    <a16:creationId xmlns:a16="http://schemas.microsoft.com/office/drawing/2014/main" id="{E9108E62-26FF-E39D-5E30-9A2BFAB5C3E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58" name="Rectangle 57">
                <a:extLst>
                  <a:ext uri="{FF2B5EF4-FFF2-40B4-BE49-F238E27FC236}">
                    <a16:creationId xmlns:a16="http://schemas.microsoft.com/office/drawing/2014/main" id="{67EFA1F1-21F0-A651-ADF3-63080A4913FC}"/>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pic>
          <p:nvPicPr>
            <p:cNvPr id="56" name="Graphique 55" descr="Cœur avec battements avec un remplissage uni">
              <a:extLst>
                <a:ext uri="{FF2B5EF4-FFF2-40B4-BE49-F238E27FC236}">
                  <a16:creationId xmlns:a16="http://schemas.microsoft.com/office/drawing/2014/main" id="{9BAD86D1-443E-CFD7-3E06-D356EE31CCD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333598" y="3510854"/>
              <a:ext cx="435880" cy="435880"/>
            </a:xfrm>
            <a:prstGeom prst="rect">
              <a:avLst/>
            </a:prstGeom>
          </p:spPr>
        </p:pic>
      </p:grpSp>
    </p:spTree>
    <p:extLst>
      <p:ext uri="{BB962C8B-B14F-4D97-AF65-F5344CB8AC3E}">
        <p14:creationId xmlns:p14="http://schemas.microsoft.com/office/powerpoint/2010/main" val="2598784984"/>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C0B1026-782A-A43C-3D1F-884B9E092E52}"/>
              </a:ext>
            </a:extLst>
          </p:cNvPr>
          <p:cNvSpPr>
            <a:spLocks noGrp="1"/>
          </p:cNvSpPr>
          <p:nvPr>
            <p:ph type="title"/>
          </p:nvPr>
        </p:nvSpPr>
        <p:spPr>
          <a:xfrm>
            <a:off x="1549798" y="365126"/>
            <a:ext cx="9804002" cy="758178"/>
          </a:xfrm>
        </p:spPr>
        <p:txBody>
          <a:bodyPr>
            <a:noAutofit/>
          </a:bodyPr>
          <a:lstStyle/>
          <a:p>
            <a:r>
              <a:rPr lang="fr-FR" sz="2400" dirty="0"/>
              <a:t>Priorisation sur une logique de PASSAGE A L’ACTION</a:t>
            </a:r>
            <a:br>
              <a:rPr lang="fr-FR" sz="2400" dirty="0"/>
            </a:br>
            <a:r>
              <a:rPr lang="fr-FR" sz="2400" dirty="0"/>
              <a:t>« La priorité est d’avancer, de montrer qu’on avance, de passer à l’action visible et concrète»</a:t>
            </a:r>
          </a:p>
        </p:txBody>
      </p:sp>
      <p:sp>
        <p:nvSpPr>
          <p:cNvPr id="4" name="Rectangle 3">
            <a:extLst>
              <a:ext uri="{FF2B5EF4-FFF2-40B4-BE49-F238E27FC236}">
                <a16:creationId xmlns:a16="http://schemas.microsoft.com/office/drawing/2014/main" id="{DF5A7FF5-BA24-50B9-AEE5-F61C35A55551}"/>
              </a:ext>
            </a:extLst>
          </p:cNvPr>
          <p:cNvSpPr/>
          <p:nvPr/>
        </p:nvSpPr>
        <p:spPr>
          <a:xfrm>
            <a:off x="4274545" y="2833377"/>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membres ont besoin de se sentir « passer à l’action » sans forcément finir</a:t>
            </a:r>
          </a:p>
        </p:txBody>
      </p:sp>
      <p:sp>
        <p:nvSpPr>
          <p:cNvPr id="5" name="Rectangle 4">
            <a:extLst>
              <a:ext uri="{FF2B5EF4-FFF2-40B4-BE49-F238E27FC236}">
                <a16:creationId xmlns:a16="http://schemas.microsoft.com/office/drawing/2014/main" id="{25035309-2925-9078-B1D3-C1EE8C7493EA}"/>
              </a:ext>
            </a:extLst>
          </p:cNvPr>
          <p:cNvSpPr/>
          <p:nvPr/>
        </p:nvSpPr>
        <p:spPr>
          <a:xfrm>
            <a:off x="4274545" y="3614738"/>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buts de la Communauté paraissent lointain</a:t>
            </a:r>
          </a:p>
        </p:txBody>
      </p:sp>
      <p:sp>
        <p:nvSpPr>
          <p:cNvPr id="6" name="Rectangle 5">
            <a:extLst>
              <a:ext uri="{FF2B5EF4-FFF2-40B4-BE49-F238E27FC236}">
                <a16:creationId xmlns:a16="http://schemas.microsoft.com/office/drawing/2014/main" id="{2EC9C2D6-0EB1-B843-EA69-4834617AF537}"/>
              </a:ext>
            </a:extLst>
          </p:cNvPr>
          <p:cNvSpPr/>
          <p:nvPr/>
        </p:nvSpPr>
        <p:spPr>
          <a:xfrm>
            <a:off x="4274545" y="2052016"/>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une attente de concret, de réalisme dans les actions</a:t>
            </a:r>
          </a:p>
        </p:txBody>
      </p:sp>
      <p:sp>
        <p:nvSpPr>
          <p:cNvPr id="7" name="Rectangle 6">
            <a:extLst>
              <a:ext uri="{FF2B5EF4-FFF2-40B4-BE49-F238E27FC236}">
                <a16:creationId xmlns:a16="http://schemas.microsoft.com/office/drawing/2014/main" id="{1A7B474C-C068-00E2-7F24-E7571C0F2BD4}"/>
              </a:ext>
            </a:extLst>
          </p:cNvPr>
          <p:cNvSpPr/>
          <p:nvPr/>
        </p:nvSpPr>
        <p:spPr>
          <a:xfrm>
            <a:off x="427454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Conditions favorables</a:t>
            </a:r>
          </a:p>
        </p:txBody>
      </p:sp>
      <p:sp>
        <p:nvSpPr>
          <p:cNvPr id="8" name="Rectangle 7">
            <a:extLst>
              <a:ext uri="{FF2B5EF4-FFF2-40B4-BE49-F238E27FC236}">
                <a16:creationId xmlns:a16="http://schemas.microsoft.com/office/drawing/2014/main" id="{7E2163C5-DA1B-A47C-003C-ED0BC2C70D99}"/>
              </a:ext>
            </a:extLst>
          </p:cNvPr>
          <p:cNvSpPr/>
          <p:nvPr/>
        </p:nvSpPr>
        <p:spPr>
          <a:xfrm>
            <a:off x="222587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Avantages</a:t>
            </a:r>
          </a:p>
        </p:txBody>
      </p:sp>
      <p:sp>
        <p:nvSpPr>
          <p:cNvPr id="9" name="Rectangle 8">
            <a:extLst>
              <a:ext uri="{FF2B5EF4-FFF2-40B4-BE49-F238E27FC236}">
                <a16:creationId xmlns:a16="http://schemas.microsoft.com/office/drawing/2014/main" id="{16820FFF-91F6-B6F7-9745-73D1334F4D8E}"/>
              </a:ext>
            </a:extLst>
          </p:cNvPr>
          <p:cNvSpPr/>
          <p:nvPr/>
        </p:nvSpPr>
        <p:spPr>
          <a:xfrm>
            <a:off x="2225875" y="4424969"/>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Inconvénients</a:t>
            </a:r>
          </a:p>
        </p:txBody>
      </p:sp>
      <p:sp>
        <p:nvSpPr>
          <p:cNvPr id="10" name="Rectangle 9">
            <a:extLst>
              <a:ext uri="{FF2B5EF4-FFF2-40B4-BE49-F238E27FC236}">
                <a16:creationId xmlns:a16="http://schemas.microsoft.com/office/drawing/2014/main" id="{516DEB93-B297-55E2-F8D8-55D5AC403724}"/>
              </a:ext>
            </a:extLst>
          </p:cNvPr>
          <p:cNvSpPr/>
          <p:nvPr/>
        </p:nvSpPr>
        <p:spPr>
          <a:xfrm>
            <a:off x="17720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Description</a:t>
            </a:r>
          </a:p>
        </p:txBody>
      </p:sp>
      <p:sp>
        <p:nvSpPr>
          <p:cNvPr id="11" name="Rectangle 10">
            <a:extLst>
              <a:ext uri="{FF2B5EF4-FFF2-40B4-BE49-F238E27FC236}">
                <a16:creationId xmlns:a16="http://schemas.microsoft.com/office/drawing/2014/main" id="{A6270EC3-04B4-3DC6-A6F2-D2F0D6467556}"/>
              </a:ext>
            </a:extLst>
          </p:cNvPr>
          <p:cNvSpPr/>
          <p:nvPr/>
        </p:nvSpPr>
        <p:spPr>
          <a:xfrm>
            <a:off x="837188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critères</a:t>
            </a:r>
          </a:p>
        </p:txBody>
      </p:sp>
      <p:sp>
        <p:nvSpPr>
          <p:cNvPr id="12" name="Rectangle 11">
            <a:extLst>
              <a:ext uri="{FF2B5EF4-FFF2-40B4-BE49-F238E27FC236}">
                <a16:creationId xmlns:a16="http://schemas.microsoft.com/office/drawing/2014/main" id="{23BE221F-7317-2CDA-EA43-359F5FA3DDAD}"/>
              </a:ext>
            </a:extLst>
          </p:cNvPr>
          <p:cNvSpPr/>
          <p:nvPr/>
        </p:nvSpPr>
        <p:spPr>
          <a:xfrm>
            <a:off x="10420556"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d’actions souvent priorisées suivant cette logique</a:t>
            </a:r>
          </a:p>
        </p:txBody>
      </p:sp>
      <p:sp>
        <p:nvSpPr>
          <p:cNvPr id="25" name="Rectangle 24">
            <a:extLst>
              <a:ext uri="{FF2B5EF4-FFF2-40B4-BE49-F238E27FC236}">
                <a16:creationId xmlns:a16="http://schemas.microsoft.com/office/drawing/2014/main" id="{7609406F-06DE-686E-186C-8D4ADDFEFAAA}"/>
              </a:ext>
            </a:extLst>
          </p:cNvPr>
          <p:cNvSpPr/>
          <p:nvPr/>
        </p:nvSpPr>
        <p:spPr>
          <a:xfrm>
            <a:off x="632321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situations</a:t>
            </a:r>
          </a:p>
        </p:txBody>
      </p:sp>
      <p:sp>
        <p:nvSpPr>
          <p:cNvPr id="26" name="Rectangle 25">
            <a:extLst>
              <a:ext uri="{FF2B5EF4-FFF2-40B4-BE49-F238E27FC236}">
                <a16:creationId xmlns:a16="http://schemas.microsoft.com/office/drawing/2014/main" id="{C417845A-10B5-FF2B-D2AD-3A3470EDC767}"/>
              </a:ext>
            </a:extLst>
          </p:cNvPr>
          <p:cNvSpPr/>
          <p:nvPr/>
        </p:nvSpPr>
        <p:spPr>
          <a:xfrm>
            <a:off x="177205" y="2106019"/>
            <a:ext cx="1492148" cy="4160199"/>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100" dirty="0">
                <a:solidFill>
                  <a:schemeClr val="tx1"/>
                </a:solidFill>
              </a:rPr>
              <a:t>La priorisation sur la logique de passage à l’action vient du besoin d’avancer ou de se sentir avancer.</a:t>
            </a:r>
          </a:p>
          <a:p>
            <a:pPr algn="ctr"/>
            <a:endParaRPr lang="fr-FR" sz="1100" dirty="0">
              <a:solidFill>
                <a:schemeClr val="tx1"/>
              </a:solidFill>
            </a:endParaRPr>
          </a:p>
          <a:p>
            <a:pPr algn="ctr"/>
            <a:r>
              <a:rPr lang="fr-FR" sz="1100" dirty="0">
                <a:solidFill>
                  <a:schemeClr val="tx1"/>
                </a:solidFill>
              </a:rPr>
              <a:t>Cette logique apporte du concret et invite les membres à se mettre dans un état actif, avec la confiance en soi dans un résultat à venir s’ils le sont. </a:t>
            </a:r>
          </a:p>
          <a:p>
            <a:pPr algn="ctr"/>
            <a:endParaRPr lang="fr-FR" sz="1100" dirty="0">
              <a:solidFill>
                <a:schemeClr val="tx1"/>
              </a:solidFill>
            </a:endParaRPr>
          </a:p>
          <a:p>
            <a:pPr algn="ctr"/>
            <a:r>
              <a:rPr lang="fr-FR" sz="1100" dirty="0">
                <a:solidFill>
                  <a:schemeClr val="tx1"/>
                </a:solidFill>
              </a:rPr>
              <a:t>Cette logique apparaît souvent pertinente lorsque la Communauté ou les parties prenantes viennent de passer beaucoup de temps et d’efforts dans le cadrage et dans les actions à valeur indirecte. </a:t>
            </a:r>
          </a:p>
          <a:p>
            <a:pPr algn="ctr"/>
            <a:endParaRPr lang="fr-FR" sz="1100" dirty="0">
              <a:solidFill>
                <a:schemeClr val="tx1"/>
              </a:solidFill>
            </a:endParaRPr>
          </a:p>
          <a:p>
            <a:pPr algn="ctr"/>
            <a:r>
              <a:rPr lang="fr-FR" sz="1100" dirty="0">
                <a:solidFill>
                  <a:schemeClr val="tx1"/>
                </a:solidFill>
              </a:rPr>
              <a:t>  </a:t>
            </a:r>
          </a:p>
        </p:txBody>
      </p:sp>
      <p:sp>
        <p:nvSpPr>
          <p:cNvPr id="27" name="Rectangle 26">
            <a:extLst>
              <a:ext uri="{FF2B5EF4-FFF2-40B4-BE49-F238E27FC236}">
                <a16:creationId xmlns:a16="http://schemas.microsoft.com/office/drawing/2014/main" id="{62A0CAFB-0B01-C8D6-6C64-82909E0F5B5F}"/>
              </a:ext>
            </a:extLst>
          </p:cNvPr>
          <p:cNvSpPr/>
          <p:nvPr/>
        </p:nvSpPr>
        <p:spPr>
          <a:xfrm>
            <a:off x="2225875" y="2833377"/>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Pousse à « apprendre en faisant » </a:t>
            </a:r>
          </a:p>
        </p:txBody>
      </p:sp>
      <p:sp>
        <p:nvSpPr>
          <p:cNvPr id="29" name="Rectangle 28">
            <a:extLst>
              <a:ext uri="{FF2B5EF4-FFF2-40B4-BE49-F238E27FC236}">
                <a16:creationId xmlns:a16="http://schemas.microsoft.com/office/drawing/2014/main" id="{F3830828-EE71-3CC1-439A-17F4AE23A7C6}"/>
              </a:ext>
            </a:extLst>
          </p:cNvPr>
          <p:cNvSpPr/>
          <p:nvPr/>
        </p:nvSpPr>
        <p:spPr>
          <a:xfrm>
            <a:off x="2225875" y="2052016"/>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Passer à l’action vite réduit l’indécision et se concentre sur du concret</a:t>
            </a:r>
          </a:p>
        </p:txBody>
      </p:sp>
      <p:sp>
        <p:nvSpPr>
          <p:cNvPr id="33" name="Rectangle 32">
            <a:extLst>
              <a:ext uri="{FF2B5EF4-FFF2-40B4-BE49-F238E27FC236}">
                <a16:creationId xmlns:a16="http://schemas.microsoft.com/office/drawing/2014/main" id="{D10E491F-6C56-45C2-207B-C902C632E709}"/>
              </a:ext>
            </a:extLst>
          </p:cNvPr>
          <p:cNvSpPr/>
          <p:nvPr/>
        </p:nvSpPr>
        <p:spPr>
          <a:xfrm>
            <a:off x="2225875" y="5691986"/>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Besoin de trouver des actions à commencer très vite</a:t>
            </a:r>
          </a:p>
        </p:txBody>
      </p:sp>
      <p:sp>
        <p:nvSpPr>
          <p:cNvPr id="34" name="Rectangle 33">
            <a:extLst>
              <a:ext uri="{FF2B5EF4-FFF2-40B4-BE49-F238E27FC236}">
                <a16:creationId xmlns:a16="http://schemas.microsoft.com/office/drawing/2014/main" id="{57893EF9-1F95-917F-AC8A-C3AC02A81B87}"/>
              </a:ext>
            </a:extLst>
          </p:cNvPr>
          <p:cNvSpPr/>
          <p:nvPr/>
        </p:nvSpPr>
        <p:spPr>
          <a:xfrm>
            <a:off x="2225875" y="4910625"/>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Peut donner l’impression d’avancer sans réellement avancer vers le but</a:t>
            </a:r>
          </a:p>
        </p:txBody>
      </p:sp>
      <p:sp>
        <p:nvSpPr>
          <p:cNvPr id="35" name="Rectangle 34">
            <a:extLst>
              <a:ext uri="{FF2B5EF4-FFF2-40B4-BE49-F238E27FC236}">
                <a16:creationId xmlns:a16="http://schemas.microsoft.com/office/drawing/2014/main" id="{0835A26A-AD5B-7443-4FC1-20E765B3A389}"/>
              </a:ext>
            </a:extLst>
          </p:cNvPr>
          <p:cNvSpPr/>
          <p:nvPr/>
        </p:nvSpPr>
        <p:spPr>
          <a:xfrm>
            <a:off x="6323215" y="3614738"/>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membres aiment passer à l’action et atteindre des résultats. Ils ont goût à avancer et progresser, ensemble même au prix de l’intérêt de l’activité. </a:t>
            </a:r>
          </a:p>
        </p:txBody>
      </p:sp>
      <p:sp>
        <p:nvSpPr>
          <p:cNvPr id="36" name="Rectangle 35">
            <a:extLst>
              <a:ext uri="{FF2B5EF4-FFF2-40B4-BE49-F238E27FC236}">
                <a16:creationId xmlns:a16="http://schemas.microsoft.com/office/drawing/2014/main" id="{BDD85CBB-A568-0CD3-54A5-2F74713E7528}"/>
              </a:ext>
            </a:extLst>
          </p:cNvPr>
          <p:cNvSpPr/>
          <p:nvPr/>
        </p:nvSpPr>
        <p:spPr>
          <a:xfrm>
            <a:off x="6323215" y="5177459"/>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Beaucoup de gens à l’extérieur de la Communauté demandent à ses membres : « Mais qu’y faites vous concrètement? », et les réponses sont pauvres pour l’instant</a:t>
            </a:r>
          </a:p>
        </p:txBody>
      </p:sp>
      <p:sp>
        <p:nvSpPr>
          <p:cNvPr id="37" name="Rectangle 36">
            <a:extLst>
              <a:ext uri="{FF2B5EF4-FFF2-40B4-BE49-F238E27FC236}">
                <a16:creationId xmlns:a16="http://schemas.microsoft.com/office/drawing/2014/main" id="{27BA63C2-C00C-A2D4-B0C5-27FFD6982DD4}"/>
              </a:ext>
            </a:extLst>
          </p:cNvPr>
          <p:cNvSpPr/>
          <p:nvPr/>
        </p:nvSpPr>
        <p:spPr>
          <a:xfrm>
            <a:off x="6323215" y="2052016"/>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Cela fait déjà un moment que les membres font du cadrage, de la vision, de la priorisation, mais rien encore qui leur semble concret ou direct</a:t>
            </a:r>
          </a:p>
        </p:txBody>
      </p:sp>
      <p:sp>
        <p:nvSpPr>
          <p:cNvPr id="38" name="Rectangle 37">
            <a:extLst>
              <a:ext uri="{FF2B5EF4-FFF2-40B4-BE49-F238E27FC236}">
                <a16:creationId xmlns:a16="http://schemas.microsoft.com/office/drawing/2014/main" id="{C3FB9EAE-CBEC-AEC9-D3C1-4EEC85EB1523}"/>
              </a:ext>
            </a:extLst>
          </p:cNvPr>
          <p:cNvSpPr/>
          <p:nvPr/>
        </p:nvSpPr>
        <p:spPr>
          <a:xfrm>
            <a:off x="837188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qu’on a le plus de chances de vite terminer ?</a:t>
            </a:r>
          </a:p>
        </p:txBody>
      </p:sp>
      <p:sp>
        <p:nvSpPr>
          <p:cNvPr id="39" name="Rectangle 38">
            <a:extLst>
              <a:ext uri="{FF2B5EF4-FFF2-40B4-BE49-F238E27FC236}">
                <a16:creationId xmlns:a16="http://schemas.microsoft.com/office/drawing/2014/main" id="{8979C0D4-DD48-924D-6208-A08F5D29C96D}"/>
              </a:ext>
            </a:extLst>
          </p:cNvPr>
          <p:cNvSpPr/>
          <p:nvPr/>
        </p:nvSpPr>
        <p:spPr>
          <a:xfrm>
            <a:off x="837188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et le plus facile à commencer ?</a:t>
            </a:r>
          </a:p>
        </p:txBody>
      </p:sp>
      <p:sp>
        <p:nvSpPr>
          <p:cNvPr id="40" name="Rectangle 39">
            <a:extLst>
              <a:ext uri="{FF2B5EF4-FFF2-40B4-BE49-F238E27FC236}">
                <a16:creationId xmlns:a16="http://schemas.microsoft.com/office/drawing/2014/main" id="{7BE42B0D-6EB8-F0D1-49F9-549885011C75}"/>
              </a:ext>
            </a:extLst>
          </p:cNvPr>
          <p:cNvSpPr/>
          <p:nvPr/>
        </p:nvSpPr>
        <p:spPr>
          <a:xfrm>
            <a:off x="837188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Par quoi peut-on vite commencer ?</a:t>
            </a:r>
          </a:p>
        </p:txBody>
      </p:sp>
      <p:sp>
        <p:nvSpPr>
          <p:cNvPr id="41" name="Rectangle 40">
            <a:extLst>
              <a:ext uri="{FF2B5EF4-FFF2-40B4-BE49-F238E27FC236}">
                <a16:creationId xmlns:a16="http://schemas.microsoft.com/office/drawing/2014/main" id="{CD875045-CFD4-7CC6-A48C-D4DBD9053E07}"/>
              </a:ext>
            </a:extLst>
          </p:cNvPr>
          <p:cNvSpPr/>
          <p:nvPr/>
        </p:nvSpPr>
        <p:spPr>
          <a:xfrm>
            <a:off x="8371885" y="517746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donnera très vite un résultat visible (même minime) ?</a:t>
            </a:r>
          </a:p>
        </p:txBody>
      </p:sp>
      <p:sp>
        <p:nvSpPr>
          <p:cNvPr id="42" name="Rectangle 41">
            <a:extLst>
              <a:ext uri="{FF2B5EF4-FFF2-40B4-BE49-F238E27FC236}">
                <a16:creationId xmlns:a16="http://schemas.microsoft.com/office/drawing/2014/main" id="{08EF47A7-2160-84F2-88A8-1F976893BE20}"/>
              </a:ext>
            </a:extLst>
          </p:cNvPr>
          <p:cNvSpPr/>
          <p:nvPr/>
        </p:nvSpPr>
        <p:spPr>
          <a:xfrm>
            <a:off x="8371885" y="5958821"/>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donnera le plus vite des résultats concrets ?</a:t>
            </a:r>
          </a:p>
        </p:txBody>
      </p:sp>
      <p:sp>
        <p:nvSpPr>
          <p:cNvPr id="43" name="Rectangle 42">
            <a:extLst>
              <a:ext uri="{FF2B5EF4-FFF2-40B4-BE49-F238E27FC236}">
                <a16:creationId xmlns:a16="http://schemas.microsoft.com/office/drawing/2014/main" id="{A791B074-2C47-F231-61A0-23B1541E924A}"/>
              </a:ext>
            </a:extLst>
          </p:cNvPr>
          <p:cNvSpPr/>
          <p:nvPr/>
        </p:nvSpPr>
        <p:spPr>
          <a:xfrm>
            <a:off x="837188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nous donnera le plus vite possible des retours sur nos efforts ?</a:t>
            </a:r>
          </a:p>
        </p:txBody>
      </p:sp>
      <p:sp>
        <p:nvSpPr>
          <p:cNvPr id="44" name="Rectangle 43">
            <a:extLst>
              <a:ext uri="{FF2B5EF4-FFF2-40B4-BE49-F238E27FC236}">
                <a16:creationId xmlns:a16="http://schemas.microsoft.com/office/drawing/2014/main" id="{0E880A6D-4178-B0D8-D535-6B02EC697E43}"/>
              </a:ext>
            </a:extLst>
          </p:cNvPr>
          <p:cNvSpPr/>
          <p:nvPr/>
        </p:nvSpPr>
        <p:spPr>
          <a:xfrm>
            <a:off x="1042055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Contenu facile à produire et publier (ex: une FAQ)</a:t>
            </a:r>
          </a:p>
        </p:txBody>
      </p:sp>
      <p:sp>
        <p:nvSpPr>
          <p:cNvPr id="45" name="Rectangle 44">
            <a:extLst>
              <a:ext uri="{FF2B5EF4-FFF2-40B4-BE49-F238E27FC236}">
                <a16:creationId xmlns:a16="http://schemas.microsoft.com/office/drawing/2014/main" id="{DFACEF9E-80B4-E9C5-FC85-F3D35B779FE4}"/>
              </a:ext>
            </a:extLst>
          </p:cNvPr>
          <p:cNvSpPr/>
          <p:nvPr/>
        </p:nvSpPr>
        <p:spPr>
          <a:xfrm>
            <a:off x="1042055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Rencontre facile à établir (ex: Sortie pour rencontres simples entre membres)</a:t>
            </a:r>
          </a:p>
        </p:txBody>
      </p:sp>
      <p:sp>
        <p:nvSpPr>
          <p:cNvPr id="46" name="Rectangle 45">
            <a:extLst>
              <a:ext uri="{FF2B5EF4-FFF2-40B4-BE49-F238E27FC236}">
                <a16:creationId xmlns:a16="http://schemas.microsoft.com/office/drawing/2014/main" id="{567CC2B0-AAF9-5756-2019-E3DDC59D7299}"/>
              </a:ext>
            </a:extLst>
          </p:cNvPr>
          <p:cNvSpPr/>
          <p:nvPr/>
        </p:nvSpPr>
        <p:spPr>
          <a:xfrm>
            <a:off x="1042055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Evénement facile à organiser (ex: Meetup avec retour d’expérience)</a:t>
            </a:r>
          </a:p>
        </p:txBody>
      </p:sp>
      <p:sp>
        <p:nvSpPr>
          <p:cNvPr id="49" name="Rectangle 48">
            <a:extLst>
              <a:ext uri="{FF2B5EF4-FFF2-40B4-BE49-F238E27FC236}">
                <a16:creationId xmlns:a16="http://schemas.microsoft.com/office/drawing/2014/main" id="{1392E2B7-69EE-5B77-A47C-101C4EE8E85B}"/>
              </a:ext>
            </a:extLst>
          </p:cNvPr>
          <p:cNvSpPr/>
          <p:nvPr/>
        </p:nvSpPr>
        <p:spPr>
          <a:xfrm>
            <a:off x="1042055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Activité courte et bien cadrée dans laquelle il est facile de s’engager</a:t>
            </a:r>
          </a:p>
        </p:txBody>
      </p:sp>
      <p:grpSp>
        <p:nvGrpSpPr>
          <p:cNvPr id="53" name="Groupe 52">
            <a:extLst>
              <a:ext uri="{FF2B5EF4-FFF2-40B4-BE49-F238E27FC236}">
                <a16:creationId xmlns:a16="http://schemas.microsoft.com/office/drawing/2014/main" id="{AC2D291F-B991-92F3-19AD-57FDB9FBB65E}"/>
              </a:ext>
            </a:extLst>
          </p:cNvPr>
          <p:cNvGrpSpPr/>
          <p:nvPr/>
        </p:nvGrpSpPr>
        <p:grpSpPr>
          <a:xfrm>
            <a:off x="478728" y="287015"/>
            <a:ext cx="1071070" cy="914400"/>
            <a:chOff x="6426858" y="3526254"/>
            <a:chExt cx="1071070" cy="914400"/>
          </a:xfrm>
        </p:grpSpPr>
        <p:grpSp>
          <p:nvGrpSpPr>
            <p:cNvPr id="55" name="Groupe 54">
              <a:extLst>
                <a:ext uri="{FF2B5EF4-FFF2-40B4-BE49-F238E27FC236}">
                  <a16:creationId xmlns:a16="http://schemas.microsoft.com/office/drawing/2014/main" id="{DA4F0EBE-2B99-4776-6020-4B0D2B57A9BB}"/>
                </a:ext>
              </a:extLst>
            </p:cNvPr>
            <p:cNvGrpSpPr/>
            <p:nvPr/>
          </p:nvGrpSpPr>
          <p:grpSpPr>
            <a:xfrm>
              <a:off x="6583528" y="3526254"/>
              <a:ext cx="914400" cy="914400"/>
              <a:chOff x="381000" y="3527564"/>
              <a:chExt cx="914400" cy="914400"/>
            </a:xfrm>
            <a:solidFill>
              <a:schemeClr val="accent1"/>
            </a:solidFill>
          </p:grpSpPr>
          <p:pic>
            <p:nvPicPr>
              <p:cNvPr id="57" name="Graphique 56" descr="Homme conductrice avec un remplissage uni">
                <a:extLst>
                  <a:ext uri="{FF2B5EF4-FFF2-40B4-BE49-F238E27FC236}">
                    <a16:creationId xmlns:a16="http://schemas.microsoft.com/office/drawing/2014/main" id="{BEFACC47-B65B-5FA6-8E49-1D247FC13F0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58" name="Rectangle 57">
                <a:extLst>
                  <a:ext uri="{FF2B5EF4-FFF2-40B4-BE49-F238E27FC236}">
                    <a16:creationId xmlns:a16="http://schemas.microsoft.com/office/drawing/2014/main" id="{7FD18BCC-F98C-DA23-096B-580096FF6032}"/>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56" name="Graphique 55" descr="Flèches de chevron avec un remplissage uni">
              <a:extLst>
                <a:ext uri="{FF2B5EF4-FFF2-40B4-BE49-F238E27FC236}">
                  <a16:creationId xmlns:a16="http://schemas.microsoft.com/office/drawing/2014/main" id="{AC83E349-9DEC-F6EE-E476-84B75A8358A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6426858" y="3530861"/>
              <a:ext cx="377085" cy="415872"/>
            </a:xfrm>
            <a:prstGeom prst="rect">
              <a:avLst/>
            </a:prstGeom>
          </p:spPr>
        </p:pic>
      </p:grpSp>
    </p:spTree>
    <p:extLst>
      <p:ext uri="{BB962C8B-B14F-4D97-AF65-F5344CB8AC3E}">
        <p14:creationId xmlns:p14="http://schemas.microsoft.com/office/powerpoint/2010/main" val="3971116427"/>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C0B1026-782A-A43C-3D1F-884B9E092E52}"/>
              </a:ext>
            </a:extLst>
          </p:cNvPr>
          <p:cNvSpPr>
            <a:spLocks noGrp="1"/>
          </p:cNvSpPr>
          <p:nvPr>
            <p:ph type="title"/>
          </p:nvPr>
        </p:nvSpPr>
        <p:spPr>
          <a:xfrm>
            <a:off x="1617048" y="365126"/>
            <a:ext cx="9736752" cy="758178"/>
          </a:xfrm>
        </p:spPr>
        <p:txBody>
          <a:bodyPr>
            <a:normAutofit fontScale="90000"/>
          </a:bodyPr>
          <a:lstStyle/>
          <a:p>
            <a:r>
              <a:rPr lang="fr-FR" sz="3200" dirty="0"/>
              <a:t>Priorisation sur une logique de SIMPLIFICATION</a:t>
            </a:r>
            <a:br>
              <a:rPr lang="fr-FR" sz="3200" dirty="0"/>
            </a:br>
            <a:r>
              <a:rPr lang="fr-FR" sz="3200" dirty="0"/>
              <a:t>« </a:t>
            </a:r>
            <a:r>
              <a:rPr lang="fr-FR" sz="3200" dirty="0">
                <a:solidFill>
                  <a:schemeClr val="tx1"/>
                </a:solidFill>
              </a:rPr>
              <a:t>La priorité est de rendre plus simple à terme notre situation actuellement compliquée</a:t>
            </a:r>
            <a:r>
              <a:rPr lang="fr-FR" sz="3200" dirty="0"/>
              <a:t>»</a:t>
            </a:r>
          </a:p>
        </p:txBody>
      </p:sp>
      <p:sp>
        <p:nvSpPr>
          <p:cNvPr id="4" name="Rectangle 3">
            <a:extLst>
              <a:ext uri="{FF2B5EF4-FFF2-40B4-BE49-F238E27FC236}">
                <a16:creationId xmlns:a16="http://schemas.microsoft.com/office/drawing/2014/main" id="{DF5A7FF5-BA24-50B9-AEE5-F61C35A55551}"/>
              </a:ext>
            </a:extLst>
          </p:cNvPr>
          <p:cNvSpPr/>
          <p:nvPr/>
        </p:nvSpPr>
        <p:spPr>
          <a:xfrm>
            <a:off x="4274545" y="2833377"/>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y a un flou décisionnel, beaucoup trop de choix possibles</a:t>
            </a:r>
          </a:p>
        </p:txBody>
      </p:sp>
      <p:sp>
        <p:nvSpPr>
          <p:cNvPr id="5" name="Rectangle 4">
            <a:extLst>
              <a:ext uri="{FF2B5EF4-FFF2-40B4-BE49-F238E27FC236}">
                <a16:creationId xmlns:a16="http://schemas.microsoft.com/office/drawing/2014/main" id="{25035309-2925-9078-B1D3-C1EE8C7493EA}"/>
              </a:ext>
            </a:extLst>
          </p:cNvPr>
          <p:cNvSpPr/>
          <p:nvPr/>
        </p:nvSpPr>
        <p:spPr>
          <a:xfrm>
            <a:off x="4274545" y="3614738"/>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compréhension de la Communauté est difficile et difficilement mémorisable</a:t>
            </a:r>
          </a:p>
        </p:txBody>
      </p:sp>
      <p:sp>
        <p:nvSpPr>
          <p:cNvPr id="6" name="Rectangle 5">
            <a:extLst>
              <a:ext uri="{FF2B5EF4-FFF2-40B4-BE49-F238E27FC236}">
                <a16:creationId xmlns:a16="http://schemas.microsoft.com/office/drawing/2014/main" id="{2EC9C2D6-0EB1-B843-EA69-4834617AF537}"/>
              </a:ext>
            </a:extLst>
          </p:cNvPr>
          <p:cNvSpPr/>
          <p:nvPr/>
        </p:nvSpPr>
        <p:spPr>
          <a:xfrm>
            <a:off x="4274545" y="2052016"/>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situation actuelle semble très compliquée voire complexe</a:t>
            </a:r>
          </a:p>
        </p:txBody>
      </p:sp>
      <p:sp>
        <p:nvSpPr>
          <p:cNvPr id="7" name="Rectangle 6">
            <a:extLst>
              <a:ext uri="{FF2B5EF4-FFF2-40B4-BE49-F238E27FC236}">
                <a16:creationId xmlns:a16="http://schemas.microsoft.com/office/drawing/2014/main" id="{1A7B474C-C068-00E2-7F24-E7571C0F2BD4}"/>
              </a:ext>
            </a:extLst>
          </p:cNvPr>
          <p:cNvSpPr/>
          <p:nvPr/>
        </p:nvSpPr>
        <p:spPr>
          <a:xfrm>
            <a:off x="427454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Conditions favorables</a:t>
            </a:r>
          </a:p>
        </p:txBody>
      </p:sp>
      <p:sp>
        <p:nvSpPr>
          <p:cNvPr id="8" name="Rectangle 7">
            <a:extLst>
              <a:ext uri="{FF2B5EF4-FFF2-40B4-BE49-F238E27FC236}">
                <a16:creationId xmlns:a16="http://schemas.microsoft.com/office/drawing/2014/main" id="{7E2163C5-DA1B-A47C-003C-ED0BC2C70D99}"/>
              </a:ext>
            </a:extLst>
          </p:cNvPr>
          <p:cNvSpPr/>
          <p:nvPr/>
        </p:nvSpPr>
        <p:spPr>
          <a:xfrm>
            <a:off x="222587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Avantages</a:t>
            </a:r>
          </a:p>
        </p:txBody>
      </p:sp>
      <p:sp>
        <p:nvSpPr>
          <p:cNvPr id="9" name="Rectangle 8">
            <a:extLst>
              <a:ext uri="{FF2B5EF4-FFF2-40B4-BE49-F238E27FC236}">
                <a16:creationId xmlns:a16="http://schemas.microsoft.com/office/drawing/2014/main" id="{16820FFF-91F6-B6F7-9745-73D1334F4D8E}"/>
              </a:ext>
            </a:extLst>
          </p:cNvPr>
          <p:cNvSpPr/>
          <p:nvPr/>
        </p:nvSpPr>
        <p:spPr>
          <a:xfrm>
            <a:off x="2225875" y="4424969"/>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Inconvénients</a:t>
            </a:r>
          </a:p>
        </p:txBody>
      </p:sp>
      <p:sp>
        <p:nvSpPr>
          <p:cNvPr id="10" name="Rectangle 9">
            <a:extLst>
              <a:ext uri="{FF2B5EF4-FFF2-40B4-BE49-F238E27FC236}">
                <a16:creationId xmlns:a16="http://schemas.microsoft.com/office/drawing/2014/main" id="{516DEB93-B297-55E2-F8D8-55D5AC403724}"/>
              </a:ext>
            </a:extLst>
          </p:cNvPr>
          <p:cNvSpPr/>
          <p:nvPr/>
        </p:nvSpPr>
        <p:spPr>
          <a:xfrm>
            <a:off x="17720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Description</a:t>
            </a:r>
          </a:p>
        </p:txBody>
      </p:sp>
      <p:sp>
        <p:nvSpPr>
          <p:cNvPr id="11" name="Rectangle 10">
            <a:extLst>
              <a:ext uri="{FF2B5EF4-FFF2-40B4-BE49-F238E27FC236}">
                <a16:creationId xmlns:a16="http://schemas.microsoft.com/office/drawing/2014/main" id="{A6270EC3-04B4-3DC6-A6F2-D2F0D6467556}"/>
              </a:ext>
            </a:extLst>
          </p:cNvPr>
          <p:cNvSpPr/>
          <p:nvPr/>
        </p:nvSpPr>
        <p:spPr>
          <a:xfrm>
            <a:off x="837188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critères</a:t>
            </a:r>
          </a:p>
        </p:txBody>
      </p:sp>
      <p:sp>
        <p:nvSpPr>
          <p:cNvPr id="12" name="Rectangle 11">
            <a:extLst>
              <a:ext uri="{FF2B5EF4-FFF2-40B4-BE49-F238E27FC236}">
                <a16:creationId xmlns:a16="http://schemas.microsoft.com/office/drawing/2014/main" id="{23BE221F-7317-2CDA-EA43-359F5FA3DDAD}"/>
              </a:ext>
            </a:extLst>
          </p:cNvPr>
          <p:cNvSpPr/>
          <p:nvPr/>
        </p:nvSpPr>
        <p:spPr>
          <a:xfrm>
            <a:off x="10420556"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d’actions</a:t>
            </a:r>
          </a:p>
        </p:txBody>
      </p:sp>
      <p:sp>
        <p:nvSpPr>
          <p:cNvPr id="25" name="Rectangle 24">
            <a:extLst>
              <a:ext uri="{FF2B5EF4-FFF2-40B4-BE49-F238E27FC236}">
                <a16:creationId xmlns:a16="http://schemas.microsoft.com/office/drawing/2014/main" id="{7609406F-06DE-686E-186C-8D4ADDFEFAAA}"/>
              </a:ext>
            </a:extLst>
          </p:cNvPr>
          <p:cNvSpPr/>
          <p:nvPr/>
        </p:nvSpPr>
        <p:spPr>
          <a:xfrm>
            <a:off x="632321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situations</a:t>
            </a:r>
          </a:p>
        </p:txBody>
      </p:sp>
      <p:sp>
        <p:nvSpPr>
          <p:cNvPr id="26" name="Rectangle 25">
            <a:extLst>
              <a:ext uri="{FF2B5EF4-FFF2-40B4-BE49-F238E27FC236}">
                <a16:creationId xmlns:a16="http://schemas.microsoft.com/office/drawing/2014/main" id="{C417845A-10B5-FF2B-D2AD-3A3470EDC767}"/>
              </a:ext>
            </a:extLst>
          </p:cNvPr>
          <p:cNvSpPr/>
          <p:nvPr/>
        </p:nvSpPr>
        <p:spPr>
          <a:xfrm>
            <a:off x="177205" y="2106019"/>
            <a:ext cx="1492148" cy="4160199"/>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100" dirty="0">
                <a:solidFill>
                  <a:schemeClr val="tx1"/>
                </a:solidFill>
              </a:rPr>
              <a:t>La priorisation sur une logique de simplification favorise les actions et les décisions qui réduisent le nombre de questions à se poser et permettent dans un second temps de passer à l’action.</a:t>
            </a:r>
          </a:p>
          <a:p>
            <a:pPr algn="ctr"/>
            <a:endParaRPr lang="fr-FR" sz="1100" dirty="0">
              <a:solidFill>
                <a:schemeClr val="tx1"/>
              </a:solidFill>
            </a:endParaRPr>
          </a:p>
          <a:p>
            <a:pPr algn="ctr"/>
            <a:r>
              <a:rPr lang="fr-FR" sz="1100" dirty="0">
                <a:solidFill>
                  <a:schemeClr val="tx1"/>
                </a:solidFill>
              </a:rPr>
              <a:t>Cette logique de simplification est souvent choisie lorsqu’il y a de nombreux paramètres, de nombreuses opportunités, ou qu’un consensus généralisé est trop difficile à obtenir. </a:t>
            </a:r>
          </a:p>
          <a:p>
            <a:pPr algn="ctr"/>
            <a:endParaRPr lang="fr-FR" sz="1100" dirty="0">
              <a:solidFill>
                <a:schemeClr val="tx1"/>
              </a:solidFill>
            </a:endParaRPr>
          </a:p>
          <a:p>
            <a:pPr algn="ctr"/>
            <a:r>
              <a:rPr lang="fr-FR" sz="1100" dirty="0">
                <a:solidFill>
                  <a:schemeClr val="tx1"/>
                </a:solidFill>
              </a:rPr>
              <a:t> </a:t>
            </a:r>
          </a:p>
        </p:txBody>
      </p:sp>
      <p:sp>
        <p:nvSpPr>
          <p:cNvPr id="27" name="Rectangle 26">
            <a:extLst>
              <a:ext uri="{FF2B5EF4-FFF2-40B4-BE49-F238E27FC236}">
                <a16:creationId xmlns:a16="http://schemas.microsoft.com/office/drawing/2014/main" id="{62A0CAFB-0B01-C8D6-6C64-82909E0F5B5F}"/>
              </a:ext>
            </a:extLst>
          </p:cNvPr>
          <p:cNvSpPr/>
          <p:nvPr/>
        </p:nvSpPr>
        <p:spPr>
          <a:xfrm>
            <a:off x="2225875" y="2833377"/>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Permet de débloquer des situations où il y a trop de choix</a:t>
            </a:r>
          </a:p>
        </p:txBody>
      </p:sp>
      <p:sp>
        <p:nvSpPr>
          <p:cNvPr id="29" name="Rectangle 28">
            <a:extLst>
              <a:ext uri="{FF2B5EF4-FFF2-40B4-BE49-F238E27FC236}">
                <a16:creationId xmlns:a16="http://schemas.microsoft.com/office/drawing/2014/main" id="{F3830828-EE71-3CC1-439A-17F4AE23A7C6}"/>
              </a:ext>
            </a:extLst>
          </p:cNvPr>
          <p:cNvSpPr/>
          <p:nvPr/>
        </p:nvSpPr>
        <p:spPr>
          <a:xfrm>
            <a:off x="2225875" y="2052016"/>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Réduit la charge de réflexion, de comparaison, de décision</a:t>
            </a:r>
          </a:p>
        </p:txBody>
      </p:sp>
      <p:sp>
        <p:nvSpPr>
          <p:cNvPr id="33" name="Rectangle 32">
            <a:extLst>
              <a:ext uri="{FF2B5EF4-FFF2-40B4-BE49-F238E27FC236}">
                <a16:creationId xmlns:a16="http://schemas.microsoft.com/office/drawing/2014/main" id="{D10E491F-6C56-45C2-207B-C902C632E709}"/>
              </a:ext>
            </a:extLst>
          </p:cNvPr>
          <p:cNvSpPr/>
          <p:nvPr/>
        </p:nvSpPr>
        <p:spPr>
          <a:xfrm>
            <a:off x="2225875" y="5691986"/>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bénéfices pour les décisionnaires ne sont pas tout le temps visibles des membres</a:t>
            </a:r>
          </a:p>
        </p:txBody>
      </p:sp>
      <p:sp>
        <p:nvSpPr>
          <p:cNvPr id="34" name="Rectangle 33">
            <a:extLst>
              <a:ext uri="{FF2B5EF4-FFF2-40B4-BE49-F238E27FC236}">
                <a16:creationId xmlns:a16="http://schemas.microsoft.com/office/drawing/2014/main" id="{57893EF9-1F95-917F-AC8A-C3AC02A81B87}"/>
              </a:ext>
            </a:extLst>
          </p:cNvPr>
          <p:cNvSpPr/>
          <p:nvPr/>
        </p:nvSpPr>
        <p:spPr>
          <a:xfrm>
            <a:off x="2225875" y="4910625"/>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Pousse à des choix parfois « trop simplificateurs d’un seul coup »</a:t>
            </a:r>
          </a:p>
        </p:txBody>
      </p:sp>
      <p:sp>
        <p:nvSpPr>
          <p:cNvPr id="35" name="Rectangle 34">
            <a:extLst>
              <a:ext uri="{FF2B5EF4-FFF2-40B4-BE49-F238E27FC236}">
                <a16:creationId xmlns:a16="http://schemas.microsoft.com/office/drawing/2014/main" id="{0835A26A-AD5B-7443-4FC1-20E765B3A389}"/>
              </a:ext>
            </a:extLst>
          </p:cNvPr>
          <p:cNvSpPr/>
          <p:nvPr/>
        </p:nvSpPr>
        <p:spPr>
          <a:xfrm>
            <a:off x="6323215" y="3614738"/>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Il existe de nombreuses possibilités sur les créneaux horaires, les rôles, les formats, et la Communauté a du mal à choisir </a:t>
            </a:r>
          </a:p>
        </p:txBody>
      </p:sp>
      <p:sp>
        <p:nvSpPr>
          <p:cNvPr id="36" name="Rectangle 35">
            <a:extLst>
              <a:ext uri="{FF2B5EF4-FFF2-40B4-BE49-F238E27FC236}">
                <a16:creationId xmlns:a16="http://schemas.microsoft.com/office/drawing/2014/main" id="{BDD85CBB-A568-0CD3-54A5-2F74713E7528}"/>
              </a:ext>
            </a:extLst>
          </p:cNvPr>
          <p:cNvSpPr/>
          <p:nvPr/>
        </p:nvSpPr>
        <p:spPr>
          <a:xfrm>
            <a:off x="6323215" y="5177459"/>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Beaucoup de membres sont prêts à contribuer à la Communauté, mais les possibilités de contribution sont encore peu claires</a:t>
            </a:r>
          </a:p>
        </p:txBody>
      </p:sp>
      <p:sp>
        <p:nvSpPr>
          <p:cNvPr id="37" name="Rectangle 36">
            <a:extLst>
              <a:ext uri="{FF2B5EF4-FFF2-40B4-BE49-F238E27FC236}">
                <a16:creationId xmlns:a16="http://schemas.microsoft.com/office/drawing/2014/main" id="{27BA63C2-C00C-A2D4-B0C5-27FFD6982DD4}"/>
              </a:ext>
            </a:extLst>
          </p:cNvPr>
          <p:cNvSpPr/>
          <p:nvPr/>
        </p:nvSpPr>
        <p:spPr>
          <a:xfrm>
            <a:off x="6323215" y="2052016"/>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Communauté réunit de nombreux membres ouverts à beaucoup de sujets, mais n’a rien décidé encore car trop de possibilités</a:t>
            </a:r>
          </a:p>
        </p:txBody>
      </p:sp>
      <p:sp>
        <p:nvSpPr>
          <p:cNvPr id="38" name="Rectangle 37">
            <a:extLst>
              <a:ext uri="{FF2B5EF4-FFF2-40B4-BE49-F238E27FC236}">
                <a16:creationId xmlns:a16="http://schemas.microsoft.com/office/drawing/2014/main" id="{C3FB9EAE-CBEC-AEC9-D3C1-4EEC85EB1523}"/>
              </a:ext>
            </a:extLst>
          </p:cNvPr>
          <p:cNvSpPr/>
          <p:nvPr/>
        </p:nvSpPr>
        <p:spPr>
          <a:xfrm>
            <a:off x="837188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fixe les décisions et permet d’en prendre d’autres plus facilement ?</a:t>
            </a:r>
          </a:p>
        </p:txBody>
      </p:sp>
      <p:sp>
        <p:nvSpPr>
          <p:cNvPr id="39" name="Rectangle 38">
            <a:extLst>
              <a:ext uri="{FF2B5EF4-FFF2-40B4-BE49-F238E27FC236}">
                <a16:creationId xmlns:a16="http://schemas.microsoft.com/office/drawing/2014/main" id="{8979C0D4-DD48-924D-6208-A08F5D29C96D}"/>
              </a:ext>
            </a:extLst>
          </p:cNvPr>
          <p:cNvSpPr/>
          <p:nvPr/>
        </p:nvSpPr>
        <p:spPr>
          <a:xfrm>
            <a:off x="837188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simplifierait la situation ?</a:t>
            </a:r>
          </a:p>
        </p:txBody>
      </p:sp>
      <p:sp>
        <p:nvSpPr>
          <p:cNvPr id="40" name="Rectangle 39">
            <a:extLst>
              <a:ext uri="{FF2B5EF4-FFF2-40B4-BE49-F238E27FC236}">
                <a16:creationId xmlns:a16="http://schemas.microsoft.com/office/drawing/2014/main" id="{7BE42B0D-6EB8-F0D1-49F9-549885011C75}"/>
              </a:ext>
            </a:extLst>
          </p:cNvPr>
          <p:cNvSpPr/>
          <p:nvPr/>
        </p:nvSpPr>
        <p:spPr>
          <a:xfrm>
            <a:off x="837188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permettrait d’installer des habitudes ?</a:t>
            </a:r>
          </a:p>
        </p:txBody>
      </p:sp>
      <p:sp>
        <p:nvSpPr>
          <p:cNvPr id="41" name="Rectangle 40">
            <a:extLst>
              <a:ext uri="{FF2B5EF4-FFF2-40B4-BE49-F238E27FC236}">
                <a16:creationId xmlns:a16="http://schemas.microsoft.com/office/drawing/2014/main" id="{CD875045-CFD4-7CC6-A48C-D4DBD9053E07}"/>
              </a:ext>
            </a:extLst>
          </p:cNvPr>
          <p:cNvSpPr/>
          <p:nvPr/>
        </p:nvSpPr>
        <p:spPr>
          <a:xfrm>
            <a:off x="8371885" y="517746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nous permettrait de fixer un cadre ?</a:t>
            </a:r>
          </a:p>
        </p:txBody>
      </p:sp>
      <p:sp>
        <p:nvSpPr>
          <p:cNvPr id="42" name="Rectangle 41">
            <a:extLst>
              <a:ext uri="{FF2B5EF4-FFF2-40B4-BE49-F238E27FC236}">
                <a16:creationId xmlns:a16="http://schemas.microsoft.com/office/drawing/2014/main" id="{08EF47A7-2160-84F2-88A8-1F976893BE20}"/>
              </a:ext>
            </a:extLst>
          </p:cNvPr>
          <p:cNvSpPr/>
          <p:nvPr/>
        </p:nvSpPr>
        <p:spPr>
          <a:xfrm>
            <a:off x="8371885" y="5958821"/>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élimine le plus de possibilités et nous force à faire des choix ?</a:t>
            </a:r>
          </a:p>
        </p:txBody>
      </p:sp>
      <p:sp>
        <p:nvSpPr>
          <p:cNvPr id="43" name="Rectangle 42">
            <a:extLst>
              <a:ext uri="{FF2B5EF4-FFF2-40B4-BE49-F238E27FC236}">
                <a16:creationId xmlns:a16="http://schemas.microsoft.com/office/drawing/2014/main" id="{A791B074-2C47-F231-61A0-23B1541E924A}"/>
              </a:ext>
            </a:extLst>
          </p:cNvPr>
          <p:cNvSpPr/>
          <p:nvPr/>
        </p:nvSpPr>
        <p:spPr>
          <a:xfrm>
            <a:off x="837188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nous permet d’établir des bases et des contraintes ?</a:t>
            </a:r>
          </a:p>
        </p:txBody>
      </p:sp>
      <p:sp>
        <p:nvSpPr>
          <p:cNvPr id="44" name="Rectangle 43">
            <a:extLst>
              <a:ext uri="{FF2B5EF4-FFF2-40B4-BE49-F238E27FC236}">
                <a16:creationId xmlns:a16="http://schemas.microsoft.com/office/drawing/2014/main" id="{0E880A6D-4178-B0D8-D535-6B02EC697E43}"/>
              </a:ext>
            </a:extLst>
          </p:cNvPr>
          <p:cNvSpPr/>
          <p:nvPr/>
        </p:nvSpPr>
        <p:spPr>
          <a:xfrm>
            <a:off x="1042055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Atelier de définition des rôles et responsabilités, règles de Communauté</a:t>
            </a:r>
          </a:p>
        </p:txBody>
      </p:sp>
      <p:sp>
        <p:nvSpPr>
          <p:cNvPr id="45" name="Rectangle 44">
            <a:extLst>
              <a:ext uri="{FF2B5EF4-FFF2-40B4-BE49-F238E27FC236}">
                <a16:creationId xmlns:a16="http://schemas.microsoft.com/office/drawing/2014/main" id="{DFACEF9E-80B4-E9C5-FC85-F3D35B779FE4}"/>
              </a:ext>
            </a:extLst>
          </p:cNvPr>
          <p:cNvSpPr/>
          <p:nvPr/>
        </p:nvSpPr>
        <p:spPr>
          <a:xfrm>
            <a:off x="1042055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Atelier pour fixer les prochaines activités (ex: Topics mapping, CCC-</a:t>
            </a:r>
            <a:r>
              <a:rPr lang="fr-FR" sz="1100" dirty="0" err="1">
                <a:solidFill>
                  <a:schemeClr val="tx1"/>
                </a:solidFill>
              </a:rPr>
              <a:t>decision</a:t>
            </a:r>
            <a:r>
              <a:rPr lang="fr-FR" sz="1100" dirty="0">
                <a:solidFill>
                  <a:schemeClr val="tx1"/>
                </a:solidFill>
              </a:rPr>
              <a:t>)</a:t>
            </a:r>
          </a:p>
        </p:txBody>
      </p:sp>
      <p:sp>
        <p:nvSpPr>
          <p:cNvPr id="46" name="Rectangle 45">
            <a:extLst>
              <a:ext uri="{FF2B5EF4-FFF2-40B4-BE49-F238E27FC236}">
                <a16:creationId xmlns:a16="http://schemas.microsoft.com/office/drawing/2014/main" id="{567CC2B0-AAF9-5756-2019-E3DDC59D7299}"/>
              </a:ext>
            </a:extLst>
          </p:cNvPr>
          <p:cNvSpPr/>
          <p:nvPr/>
        </p:nvSpPr>
        <p:spPr>
          <a:xfrm>
            <a:off x="1042055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Atelier pour fixer les objectifs et la raison d’être, et contenus pour les communiquer</a:t>
            </a:r>
          </a:p>
        </p:txBody>
      </p:sp>
      <p:sp>
        <p:nvSpPr>
          <p:cNvPr id="47" name="Rectangle 46">
            <a:extLst>
              <a:ext uri="{FF2B5EF4-FFF2-40B4-BE49-F238E27FC236}">
                <a16:creationId xmlns:a16="http://schemas.microsoft.com/office/drawing/2014/main" id="{80407840-9E17-5B2F-0380-67C30F8E4093}"/>
              </a:ext>
            </a:extLst>
          </p:cNvPr>
          <p:cNvSpPr/>
          <p:nvPr/>
        </p:nvSpPr>
        <p:spPr>
          <a:xfrm>
            <a:off x="10420555" y="517746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Atelier de choix d’outils pour l’interaction</a:t>
            </a:r>
          </a:p>
        </p:txBody>
      </p:sp>
      <p:sp>
        <p:nvSpPr>
          <p:cNvPr id="48" name="Rectangle 47">
            <a:extLst>
              <a:ext uri="{FF2B5EF4-FFF2-40B4-BE49-F238E27FC236}">
                <a16:creationId xmlns:a16="http://schemas.microsoft.com/office/drawing/2014/main" id="{B8BA815D-FB3E-7C67-6709-144040F53332}"/>
              </a:ext>
            </a:extLst>
          </p:cNvPr>
          <p:cNvSpPr/>
          <p:nvPr/>
        </p:nvSpPr>
        <p:spPr>
          <a:xfrm>
            <a:off x="10420555" y="5958821"/>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Définition de lignes éditoriales pour le contenu</a:t>
            </a:r>
          </a:p>
        </p:txBody>
      </p:sp>
      <p:sp>
        <p:nvSpPr>
          <p:cNvPr id="49" name="Rectangle 48">
            <a:extLst>
              <a:ext uri="{FF2B5EF4-FFF2-40B4-BE49-F238E27FC236}">
                <a16:creationId xmlns:a16="http://schemas.microsoft.com/office/drawing/2014/main" id="{1392E2B7-69EE-5B77-A47C-101C4EE8E85B}"/>
              </a:ext>
            </a:extLst>
          </p:cNvPr>
          <p:cNvSpPr/>
          <p:nvPr/>
        </p:nvSpPr>
        <p:spPr>
          <a:xfrm>
            <a:off x="1042055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Adoption de formules toutes prêtes (</a:t>
            </a:r>
            <a:r>
              <a:rPr lang="fr-FR" sz="1100" dirty="0" err="1">
                <a:solidFill>
                  <a:schemeClr val="tx1"/>
                </a:solidFill>
              </a:rPr>
              <a:t>frameworks</a:t>
            </a:r>
            <a:r>
              <a:rPr lang="fr-FR" sz="1100" dirty="0">
                <a:solidFill>
                  <a:schemeClr val="tx1"/>
                </a:solidFill>
              </a:rPr>
              <a:t> fixes)</a:t>
            </a:r>
          </a:p>
        </p:txBody>
      </p:sp>
      <p:grpSp>
        <p:nvGrpSpPr>
          <p:cNvPr id="53" name="Groupe 52">
            <a:extLst>
              <a:ext uri="{FF2B5EF4-FFF2-40B4-BE49-F238E27FC236}">
                <a16:creationId xmlns:a16="http://schemas.microsoft.com/office/drawing/2014/main" id="{1A8167F8-51AC-5672-901C-A2D8781436E8}"/>
              </a:ext>
            </a:extLst>
          </p:cNvPr>
          <p:cNvGrpSpPr/>
          <p:nvPr/>
        </p:nvGrpSpPr>
        <p:grpSpPr>
          <a:xfrm>
            <a:off x="597240" y="228205"/>
            <a:ext cx="1072113" cy="1032019"/>
            <a:chOff x="1773919" y="3408635"/>
            <a:chExt cx="1072113" cy="1032019"/>
          </a:xfrm>
        </p:grpSpPr>
        <p:grpSp>
          <p:nvGrpSpPr>
            <p:cNvPr id="55" name="Groupe 54">
              <a:extLst>
                <a:ext uri="{FF2B5EF4-FFF2-40B4-BE49-F238E27FC236}">
                  <a16:creationId xmlns:a16="http://schemas.microsoft.com/office/drawing/2014/main" id="{30535C9F-C7A6-1530-8D6D-261F9C638780}"/>
                </a:ext>
              </a:extLst>
            </p:cNvPr>
            <p:cNvGrpSpPr/>
            <p:nvPr/>
          </p:nvGrpSpPr>
          <p:grpSpPr>
            <a:xfrm>
              <a:off x="1931632" y="3526254"/>
              <a:ext cx="914400" cy="914400"/>
              <a:chOff x="381000" y="3527564"/>
              <a:chExt cx="914400" cy="914400"/>
            </a:xfrm>
            <a:solidFill>
              <a:schemeClr val="accent1"/>
            </a:solidFill>
          </p:grpSpPr>
          <p:pic>
            <p:nvPicPr>
              <p:cNvPr id="57" name="Graphique 56" descr="Homme conductrice avec un remplissage uni">
                <a:extLst>
                  <a:ext uri="{FF2B5EF4-FFF2-40B4-BE49-F238E27FC236}">
                    <a16:creationId xmlns:a16="http://schemas.microsoft.com/office/drawing/2014/main" id="{8C8D9F78-D68A-99C2-1182-8B48A0741D5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58" name="Rectangle 57">
                <a:extLst>
                  <a:ext uri="{FF2B5EF4-FFF2-40B4-BE49-F238E27FC236}">
                    <a16:creationId xmlns:a16="http://schemas.microsoft.com/office/drawing/2014/main" id="{91CD9C6E-4F7D-DBAA-9C87-729436569BFA}"/>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56" name="Graphique 55" descr="Plan avec un remplissage uni">
              <a:extLst>
                <a:ext uri="{FF2B5EF4-FFF2-40B4-BE49-F238E27FC236}">
                  <a16:creationId xmlns:a16="http://schemas.microsoft.com/office/drawing/2014/main" id="{746996D8-3004-9B19-7F82-C673EB2BB44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1773919" y="3408635"/>
              <a:ext cx="435880" cy="503601"/>
            </a:xfrm>
            <a:prstGeom prst="rect">
              <a:avLst/>
            </a:prstGeom>
          </p:spPr>
        </p:pic>
      </p:grpSp>
    </p:spTree>
    <p:extLst>
      <p:ext uri="{BB962C8B-B14F-4D97-AF65-F5344CB8AC3E}">
        <p14:creationId xmlns:p14="http://schemas.microsoft.com/office/powerpoint/2010/main" val="268821575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C0B1026-782A-A43C-3D1F-884B9E092E52}"/>
              </a:ext>
            </a:extLst>
          </p:cNvPr>
          <p:cNvSpPr>
            <a:spLocks noGrp="1"/>
          </p:cNvSpPr>
          <p:nvPr>
            <p:ph type="title"/>
          </p:nvPr>
        </p:nvSpPr>
        <p:spPr>
          <a:xfrm>
            <a:off x="1617048" y="365126"/>
            <a:ext cx="9736752" cy="758178"/>
          </a:xfrm>
        </p:spPr>
        <p:txBody>
          <a:bodyPr>
            <a:normAutofit fontScale="90000"/>
          </a:bodyPr>
          <a:lstStyle/>
          <a:p>
            <a:r>
              <a:rPr lang="fr-FR" sz="3200" dirty="0"/>
              <a:t>Priorisation sur une logique de VALEUR</a:t>
            </a:r>
            <a:br>
              <a:rPr lang="fr-FR" sz="3200" dirty="0"/>
            </a:br>
            <a:r>
              <a:rPr lang="fr-FR" sz="3200" dirty="0"/>
              <a:t>« </a:t>
            </a:r>
            <a:r>
              <a:rPr lang="fr-FR" sz="3200" dirty="0">
                <a:solidFill>
                  <a:schemeClr val="tx1"/>
                </a:solidFill>
              </a:rPr>
              <a:t>La priorité est d’apporter de la valeur pour les membres et l’entreprise, même si cela est plus long</a:t>
            </a:r>
            <a:r>
              <a:rPr lang="fr-FR" sz="3200" dirty="0"/>
              <a:t>»</a:t>
            </a:r>
          </a:p>
        </p:txBody>
      </p:sp>
      <p:sp>
        <p:nvSpPr>
          <p:cNvPr id="4" name="Rectangle 3">
            <a:extLst>
              <a:ext uri="{FF2B5EF4-FFF2-40B4-BE49-F238E27FC236}">
                <a16:creationId xmlns:a16="http://schemas.microsoft.com/office/drawing/2014/main" id="{DF5A7FF5-BA24-50B9-AEE5-F61C35A55551}"/>
              </a:ext>
            </a:extLst>
          </p:cNvPr>
          <p:cNvSpPr/>
          <p:nvPr/>
        </p:nvSpPr>
        <p:spPr>
          <a:xfrm>
            <a:off x="4274545" y="2833377"/>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membres ne sont pas uniquement motivés par la stimulation </a:t>
            </a:r>
          </a:p>
        </p:txBody>
      </p:sp>
      <p:sp>
        <p:nvSpPr>
          <p:cNvPr id="5" name="Rectangle 4">
            <a:extLst>
              <a:ext uri="{FF2B5EF4-FFF2-40B4-BE49-F238E27FC236}">
                <a16:creationId xmlns:a16="http://schemas.microsoft.com/office/drawing/2014/main" id="{25035309-2925-9078-B1D3-C1EE8C7493EA}"/>
              </a:ext>
            </a:extLst>
          </p:cNvPr>
          <p:cNvSpPr/>
          <p:nvPr/>
        </p:nvSpPr>
        <p:spPr>
          <a:xfrm>
            <a:off x="4274545" y="3614738"/>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Une partie prenante remet en question la valeur de la Communauté</a:t>
            </a:r>
          </a:p>
        </p:txBody>
      </p:sp>
      <p:sp>
        <p:nvSpPr>
          <p:cNvPr id="6" name="Rectangle 5">
            <a:extLst>
              <a:ext uri="{FF2B5EF4-FFF2-40B4-BE49-F238E27FC236}">
                <a16:creationId xmlns:a16="http://schemas.microsoft.com/office/drawing/2014/main" id="{2EC9C2D6-0EB1-B843-EA69-4834617AF537}"/>
              </a:ext>
            </a:extLst>
          </p:cNvPr>
          <p:cNvSpPr/>
          <p:nvPr/>
        </p:nvSpPr>
        <p:spPr>
          <a:xfrm>
            <a:off x="4274545" y="2052016"/>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On attend de la Communauté un résultat factuel au bout d’un moment</a:t>
            </a:r>
          </a:p>
        </p:txBody>
      </p:sp>
      <p:sp>
        <p:nvSpPr>
          <p:cNvPr id="7" name="Rectangle 6">
            <a:extLst>
              <a:ext uri="{FF2B5EF4-FFF2-40B4-BE49-F238E27FC236}">
                <a16:creationId xmlns:a16="http://schemas.microsoft.com/office/drawing/2014/main" id="{1A7B474C-C068-00E2-7F24-E7571C0F2BD4}"/>
              </a:ext>
            </a:extLst>
          </p:cNvPr>
          <p:cNvSpPr/>
          <p:nvPr/>
        </p:nvSpPr>
        <p:spPr>
          <a:xfrm>
            <a:off x="427454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Conditions favorables</a:t>
            </a:r>
          </a:p>
        </p:txBody>
      </p:sp>
      <p:sp>
        <p:nvSpPr>
          <p:cNvPr id="8" name="Rectangle 7">
            <a:extLst>
              <a:ext uri="{FF2B5EF4-FFF2-40B4-BE49-F238E27FC236}">
                <a16:creationId xmlns:a16="http://schemas.microsoft.com/office/drawing/2014/main" id="{7E2163C5-DA1B-A47C-003C-ED0BC2C70D99}"/>
              </a:ext>
            </a:extLst>
          </p:cNvPr>
          <p:cNvSpPr/>
          <p:nvPr/>
        </p:nvSpPr>
        <p:spPr>
          <a:xfrm>
            <a:off x="222587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Avantages</a:t>
            </a:r>
          </a:p>
        </p:txBody>
      </p:sp>
      <p:sp>
        <p:nvSpPr>
          <p:cNvPr id="9" name="Rectangle 8">
            <a:extLst>
              <a:ext uri="{FF2B5EF4-FFF2-40B4-BE49-F238E27FC236}">
                <a16:creationId xmlns:a16="http://schemas.microsoft.com/office/drawing/2014/main" id="{16820FFF-91F6-B6F7-9745-73D1334F4D8E}"/>
              </a:ext>
            </a:extLst>
          </p:cNvPr>
          <p:cNvSpPr/>
          <p:nvPr/>
        </p:nvSpPr>
        <p:spPr>
          <a:xfrm>
            <a:off x="2225875" y="4424969"/>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Inconvénients</a:t>
            </a:r>
          </a:p>
        </p:txBody>
      </p:sp>
      <p:sp>
        <p:nvSpPr>
          <p:cNvPr id="10" name="Rectangle 9">
            <a:extLst>
              <a:ext uri="{FF2B5EF4-FFF2-40B4-BE49-F238E27FC236}">
                <a16:creationId xmlns:a16="http://schemas.microsoft.com/office/drawing/2014/main" id="{516DEB93-B297-55E2-F8D8-55D5AC403724}"/>
              </a:ext>
            </a:extLst>
          </p:cNvPr>
          <p:cNvSpPr/>
          <p:nvPr/>
        </p:nvSpPr>
        <p:spPr>
          <a:xfrm>
            <a:off x="17720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Description</a:t>
            </a:r>
          </a:p>
        </p:txBody>
      </p:sp>
      <p:sp>
        <p:nvSpPr>
          <p:cNvPr id="11" name="Rectangle 10">
            <a:extLst>
              <a:ext uri="{FF2B5EF4-FFF2-40B4-BE49-F238E27FC236}">
                <a16:creationId xmlns:a16="http://schemas.microsoft.com/office/drawing/2014/main" id="{A6270EC3-04B4-3DC6-A6F2-D2F0D6467556}"/>
              </a:ext>
            </a:extLst>
          </p:cNvPr>
          <p:cNvSpPr/>
          <p:nvPr/>
        </p:nvSpPr>
        <p:spPr>
          <a:xfrm>
            <a:off x="837188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critères</a:t>
            </a:r>
          </a:p>
        </p:txBody>
      </p:sp>
      <p:sp>
        <p:nvSpPr>
          <p:cNvPr id="12" name="Rectangle 11">
            <a:extLst>
              <a:ext uri="{FF2B5EF4-FFF2-40B4-BE49-F238E27FC236}">
                <a16:creationId xmlns:a16="http://schemas.microsoft.com/office/drawing/2014/main" id="{23BE221F-7317-2CDA-EA43-359F5FA3DDAD}"/>
              </a:ext>
            </a:extLst>
          </p:cNvPr>
          <p:cNvSpPr/>
          <p:nvPr/>
        </p:nvSpPr>
        <p:spPr>
          <a:xfrm>
            <a:off x="10420556"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d’actions souvent priorisées suivant cette logique</a:t>
            </a:r>
          </a:p>
        </p:txBody>
      </p:sp>
      <p:sp>
        <p:nvSpPr>
          <p:cNvPr id="25" name="Rectangle 24">
            <a:extLst>
              <a:ext uri="{FF2B5EF4-FFF2-40B4-BE49-F238E27FC236}">
                <a16:creationId xmlns:a16="http://schemas.microsoft.com/office/drawing/2014/main" id="{7609406F-06DE-686E-186C-8D4ADDFEFAAA}"/>
              </a:ext>
            </a:extLst>
          </p:cNvPr>
          <p:cNvSpPr/>
          <p:nvPr/>
        </p:nvSpPr>
        <p:spPr>
          <a:xfrm>
            <a:off x="632321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situations</a:t>
            </a:r>
          </a:p>
        </p:txBody>
      </p:sp>
      <p:sp>
        <p:nvSpPr>
          <p:cNvPr id="26" name="Rectangle 25">
            <a:extLst>
              <a:ext uri="{FF2B5EF4-FFF2-40B4-BE49-F238E27FC236}">
                <a16:creationId xmlns:a16="http://schemas.microsoft.com/office/drawing/2014/main" id="{C417845A-10B5-FF2B-D2AD-3A3470EDC767}"/>
              </a:ext>
            </a:extLst>
          </p:cNvPr>
          <p:cNvSpPr/>
          <p:nvPr/>
        </p:nvSpPr>
        <p:spPr>
          <a:xfrm>
            <a:off x="177205" y="2106019"/>
            <a:ext cx="1492148" cy="4515680"/>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100" dirty="0">
                <a:solidFill>
                  <a:schemeClr val="tx1"/>
                </a:solidFill>
              </a:rPr>
              <a:t>La priorisation sur une logique de valeur favorise les actions dont le résultat (ou parfois l’effectuation) apporte de la valeur aux membres ou aux parties prenantes. </a:t>
            </a:r>
          </a:p>
          <a:p>
            <a:pPr algn="ctr"/>
            <a:endParaRPr lang="fr-FR" sz="1100" dirty="0">
              <a:solidFill>
                <a:schemeClr val="tx1"/>
              </a:solidFill>
            </a:endParaRPr>
          </a:p>
          <a:p>
            <a:pPr algn="ctr"/>
            <a:r>
              <a:rPr lang="fr-FR" sz="1100" dirty="0">
                <a:solidFill>
                  <a:schemeClr val="tx1"/>
                </a:solidFill>
              </a:rPr>
              <a:t>Cette logique de valeur est souvent choisie lorsque la Communauté est un service payant pour ses membres, ou bien lorsque la Communauté est sous l’observation rapprochée des sponsors de l’entreprise. </a:t>
            </a:r>
          </a:p>
          <a:p>
            <a:pPr algn="ctr"/>
            <a:endParaRPr lang="fr-FR" sz="1100" dirty="0">
              <a:solidFill>
                <a:schemeClr val="tx1"/>
              </a:solidFill>
            </a:endParaRPr>
          </a:p>
          <a:p>
            <a:pPr algn="ctr"/>
            <a:r>
              <a:rPr lang="fr-FR" sz="1100" dirty="0">
                <a:solidFill>
                  <a:schemeClr val="tx1"/>
                </a:solidFill>
              </a:rPr>
              <a:t>C’est une logique répondant aux questions de coûts /  bénéfices de la Communauté.</a:t>
            </a:r>
          </a:p>
        </p:txBody>
      </p:sp>
      <p:sp>
        <p:nvSpPr>
          <p:cNvPr id="27" name="Rectangle 26">
            <a:extLst>
              <a:ext uri="{FF2B5EF4-FFF2-40B4-BE49-F238E27FC236}">
                <a16:creationId xmlns:a16="http://schemas.microsoft.com/office/drawing/2014/main" id="{62A0CAFB-0B01-C8D6-6C64-82909E0F5B5F}"/>
              </a:ext>
            </a:extLst>
          </p:cNvPr>
          <p:cNvSpPr/>
          <p:nvPr/>
        </p:nvSpPr>
        <p:spPr>
          <a:xfrm>
            <a:off x="2225875" y="2833377"/>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L’effet de promesse d’apporter de la valeur peut favoriser la motivation</a:t>
            </a:r>
          </a:p>
        </p:txBody>
      </p:sp>
      <p:sp>
        <p:nvSpPr>
          <p:cNvPr id="29" name="Rectangle 28">
            <a:extLst>
              <a:ext uri="{FF2B5EF4-FFF2-40B4-BE49-F238E27FC236}">
                <a16:creationId xmlns:a16="http://schemas.microsoft.com/office/drawing/2014/main" id="{F3830828-EE71-3CC1-439A-17F4AE23A7C6}"/>
              </a:ext>
            </a:extLst>
          </p:cNvPr>
          <p:cNvSpPr/>
          <p:nvPr/>
        </p:nvSpPr>
        <p:spPr>
          <a:xfrm>
            <a:off x="2225875" y="2052016"/>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Pousse à s’aligner avec la raison d’être de la Communauté</a:t>
            </a:r>
          </a:p>
        </p:txBody>
      </p:sp>
      <p:sp>
        <p:nvSpPr>
          <p:cNvPr id="33" name="Rectangle 32">
            <a:extLst>
              <a:ext uri="{FF2B5EF4-FFF2-40B4-BE49-F238E27FC236}">
                <a16:creationId xmlns:a16="http://schemas.microsoft.com/office/drawing/2014/main" id="{D10E491F-6C56-45C2-207B-C902C632E709}"/>
              </a:ext>
            </a:extLst>
          </p:cNvPr>
          <p:cNvSpPr/>
          <p:nvPr/>
        </p:nvSpPr>
        <p:spPr>
          <a:xfrm>
            <a:off x="2225875" y="5691986"/>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Prend moins en compte la motivation ou les besoins courants des membres </a:t>
            </a:r>
          </a:p>
        </p:txBody>
      </p:sp>
      <p:sp>
        <p:nvSpPr>
          <p:cNvPr id="34" name="Rectangle 33">
            <a:extLst>
              <a:ext uri="{FF2B5EF4-FFF2-40B4-BE49-F238E27FC236}">
                <a16:creationId xmlns:a16="http://schemas.microsoft.com/office/drawing/2014/main" id="{57893EF9-1F95-917F-AC8A-C3AC02A81B87}"/>
              </a:ext>
            </a:extLst>
          </p:cNvPr>
          <p:cNvSpPr/>
          <p:nvPr/>
        </p:nvSpPr>
        <p:spPr>
          <a:xfrm>
            <a:off x="2225875" y="4910625"/>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Peut mener à des actions fastidieuses et démotivantes, même si « centrées valeur »</a:t>
            </a:r>
          </a:p>
        </p:txBody>
      </p:sp>
      <p:sp>
        <p:nvSpPr>
          <p:cNvPr id="35" name="Rectangle 34">
            <a:extLst>
              <a:ext uri="{FF2B5EF4-FFF2-40B4-BE49-F238E27FC236}">
                <a16:creationId xmlns:a16="http://schemas.microsoft.com/office/drawing/2014/main" id="{0835A26A-AD5B-7443-4FC1-20E765B3A389}"/>
              </a:ext>
            </a:extLst>
          </p:cNvPr>
          <p:cNvSpPr/>
          <p:nvPr/>
        </p:nvSpPr>
        <p:spPr>
          <a:xfrm>
            <a:off x="6323215" y="3614738"/>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membres ont vécu plusieurs événements communautaires « stimulants », « qui donnent l’impression d’avancer ». Avec le recul, beaucoup trouvent que rien n’a changé pour eux.</a:t>
            </a:r>
          </a:p>
        </p:txBody>
      </p:sp>
      <p:sp>
        <p:nvSpPr>
          <p:cNvPr id="36" name="Rectangle 35">
            <a:extLst>
              <a:ext uri="{FF2B5EF4-FFF2-40B4-BE49-F238E27FC236}">
                <a16:creationId xmlns:a16="http://schemas.microsoft.com/office/drawing/2014/main" id="{BDD85CBB-A568-0CD3-54A5-2F74713E7528}"/>
              </a:ext>
            </a:extLst>
          </p:cNvPr>
          <p:cNvSpPr/>
          <p:nvPr/>
        </p:nvSpPr>
        <p:spPr>
          <a:xfrm>
            <a:off x="6323215" y="5177459"/>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membres sont dans une crise de sens, les sponsors aussi, et beaucoup se posent la question sur l’utilité de la Communauté au-delà d’occuper un créneau dans l’agenda.</a:t>
            </a:r>
          </a:p>
        </p:txBody>
      </p:sp>
      <p:sp>
        <p:nvSpPr>
          <p:cNvPr id="37" name="Rectangle 36">
            <a:extLst>
              <a:ext uri="{FF2B5EF4-FFF2-40B4-BE49-F238E27FC236}">
                <a16:creationId xmlns:a16="http://schemas.microsoft.com/office/drawing/2014/main" id="{27BA63C2-C00C-A2D4-B0C5-27FFD6982DD4}"/>
              </a:ext>
            </a:extLst>
          </p:cNvPr>
          <p:cNvSpPr/>
          <p:nvPr/>
        </p:nvSpPr>
        <p:spPr>
          <a:xfrm>
            <a:off x="6323215" y="2052016"/>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Beaucoup de communautés ont été fermées suite à des bilans sur leur valeur « faible pour l’entreprise « après un an d’activité, la Communauté veut prendre le contrepied</a:t>
            </a:r>
          </a:p>
        </p:txBody>
      </p:sp>
      <p:sp>
        <p:nvSpPr>
          <p:cNvPr id="38" name="Rectangle 37">
            <a:extLst>
              <a:ext uri="{FF2B5EF4-FFF2-40B4-BE49-F238E27FC236}">
                <a16:creationId xmlns:a16="http://schemas.microsoft.com/office/drawing/2014/main" id="{C3FB9EAE-CBEC-AEC9-D3C1-4EEC85EB1523}"/>
              </a:ext>
            </a:extLst>
          </p:cNvPr>
          <p:cNvSpPr/>
          <p:nvPr/>
        </p:nvSpPr>
        <p:spPr>
          <a:xfrm>
            <a:off x="837188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génère le plus de valeur pour l’entreprise ?</a:t>
            </a:r>
          </a:p>
        </p:txBody>
      </p:sp>
      <p:sp>
        <p:nvSpPr>
          <p:cNvPr id="39" name="Rectangle 38">
            <a:extLst>
              <a:ext uri="{FF2B5EF4-FFF2-40B4-BE49-F238E27FC236}">
                <a16:creationId xmlns:a16="http://schemas.microsoft.com/office/drawing/2014/main" id="{8979C0D4-DD48-924D-6208-A08F5D29C96D}"/>
              </a:ext>
            </a:extLst>
          </p:cNvPr>
          <p:cNvSpPr/>
          <p:nvPr/>
        </p:nvSpPr>
        <p:spPr>
          <a:xfrm>
            <a:off x="837188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génère le plus de valeur pour les sponsors ?</a:t>
            </a:r>
          </a:p>
        </p:txBody>
      </p:sp>
      <p:sp>
        <p:nvSpPr>
          <p:cNvPr id="40" name="Rectangle 39">
            <a:extLst>
              <a:ext uri="{FF2B5EF4-FFF2-40B4-BE49-F238E27FC236}">
                <a16:creationId xmlns:a16="http://schemas.microsoft.com/office/drawing/2014/main" id="{7BE42B0D-6EB8-F0D1-49F9-549885011C75}"/>
              </a:ext>
            </a:extLst>
          </p:cNvPr>
          <p:cNvSpPr/>
          <p:nvPr/>
        </p:nvSpPr>
        <p:spPr>
          <a:xfrm>
            <a:off x="837188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génère le plus de valeur pour les membres ?</a:t>
            </a:r>
          </a:p>
        </p:txBody>
      </p:sp>
      <p:sp>
        <p:nvSpPr>
          <p:cNvPr id="43" name="Rectangle 42">
            <a:extLst>
              <a:ext uri="{FF2B5EF4-FFF2-40B4-BE49-F238E27FC236}">
                <a16:creationId xmlns:a16="http://schemas.microsoft.com/office/drawing/2014/main" id="{A791B074-2C47-F231-61A0-23B1541E924A}"/>
              </a:ext>
            </a:extLst>
          </p:cNvPr>
          <p:cNvSpPr/>
          <p:nvPr/>
        </p:nvSpPr>
        <p:spPr>
          <a:xfrm>
            <a:off x="837188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est le plus aligné avec ce qu’on a formulé dans la raison d’être ?</a:t>
            </a:r>
          </a:p>
        </p:txBody>
      </p:sp>
      <p:sp>
        <p:nvSpPr>
          <p:cNvPr id="46" name="Rectangle 45">
            <a:extLst>
              <a:ext uri="{FF2B5EF4-FFF2-40B4-BE49-F238E27FC236}">
                <a16:creationId xmlns:a16="http://schemas.microsoft.com/office/drawing/2014/main" id="{567CC2B0-AAF9-5756-2019-E3DDC59D7299}"/>
              </a:ext>
            </a:extLst>
          </p:cNvPr>
          <p:cNvSpPr/>
          <p:nvPr/>
        </p:nvSpPr>
        <p:spPr>
          <a:xfrm>
            <a:off x="1042055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Dépend de la raison d’être </a:t>
            </a:r>
          </a:p>
        </p:txBody>
      </p:sp>
      <p:grpSp>
        <p:nvGrpSpPr>
          <p:cNvPr id="67" name="Groupe 66">
            <a:extLst>
              <a:ext uri="{FF2B5EF4-FFF2-40B4-BE49-F238E27FC236}">
                <a16:creationId xmlns:a16="http://schemas.microsoft.com/office/drawing/2014/main" id="{F3F65FA1-177F-3174-1DDC-5F75FDDD0DDF}"/>
              </a:ext>
            </a:extLst>
          </p:cNvPr>
          <p:cNvGrpSpPr/>
          <p:nvPr/>
        </p:nvGrpSpPr>
        <p:grpSpPr>
          <a:xfrm>
            <a:off x="332864" y="254591"/>
            <a:ext cx="1180829" cy="979248"/>
            <a:chOff x="114571" y="3462716"/>
            <a:chExt cx="1180829" cy="979248"/>
          </a:xfrm>
        </p:grpSpPr>
        <p:grpSp>
          <p:nvGrpSpPr>
            <p:cNvPr id="69" name="Groupe 68">
              <a:extLst>
                <a:ext uri="{FF2B5EF4-FFF2-40B4-BE49-F238E27FC236}">
                  <a16:creationId xmlns:a16="http://schemas.microsoft.com/office/drawing/2014/main" id="{AA58513C-793E-6BDB-AAE9-1FEA304900D0}"/>
                </a:ext>
              </a:extLst>
            </p:cNvPr>
            <p:cNvGrpSpPr/>
            <p:nvPr/>
          </p:nvGrpSpPr>
          <p:grpSpPr>
            <a:xfrm>
              <a:off x="381000" y="3527564"/>
              <a:ext cx="914400" cy="914400"/>
              <a:chOff x="381000" y="3527564"/>
              <a:chExt cx="914400" cy="914400"/>
            </a:xfrm>
            <a:solidFill>
              <a:schemeClr val="accent1"/>
            </a:solidFill>
          </p:grpSpPr>
          <p:pic>
            <p:nvPicPr>
              <p:cNvPr id="71" name="Graphique 70" descr="Homme conductrice avec un remplissage uni">
                <a:extLst>
                  <a:ext uri="{FF2B5EF4-FFF2-40B4-BE49-F238E27FC236}">
                    <a16:creationId xmlns:a16="http://schemas.microsoft.com/office/drawing/2014/main" id="{846EBFBB-042E-5EE6-455F-FE12B8CE421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72" name="Rectangle 71">
                <a:extLst>
                  <a:ext uri="{FF2B5EF4-FFF2-40B4-BE49-F238E27FC236}">
                    <a16:creationId xmlns:a16="http://schemas.microsoft.com/office/drawing/2014/main" id="{2F364B42-B522-9BE7-22AC-AA5A104619B3}"/>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pic>
          <p:nvPicPr>
            <p:cNvPr id="70" name="Graphique 69" descr="Signe pouce en haut avec un remplissage uni">
              <a:extLst>
                <a:ext uri="{FF2B5EF4-FFF2-40B4-BE49-F238E27FC236}">
                  <a16:creationId xmlns:a16="http://schemas.microsoft.com/office/drawing/2014/main" id="{4C357102-0FE9-BA1E-5E36-4C6E4CBAB16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114571" y="3462716"/>
              <a:ext cx="435880" cy="484018"/>
            </a:xfrm>
            <a:prstGeom prst="rect">
              <a:avLst/>
            </a:prstGeom>
          </p:spPr>
        </p:pic>
      </p:grpSp>
    </p:spTree>
    <p:extLst>
      <p:ext uri="{BB962C8B-B14F-4D97-AF65-F5344CB8AC3E}">
        <p14:creationId xmlns:p14="http://schemas.microsoft.com/office/powerpoint/2010/main" val="2805102320"/>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C0B1026-782A-A43C-3D1F-884B9E092E52}"/>
              </a:ext>
            </a:extLst>
          </p:cNvPr>
          <p:cNvSpPr>
            <a:spLocks noGrp="1"/>
          </p:cNvSpPr>
          <p:nvPr>
            <p:ph type="title"/>
          </p:nvPr>
        </p:nvSpPr>
        <p:spPr>
          <a:xfrm>
            <a:off x="1617048" y="365126"/>
            <a:ext cx="9736752" cy="758178"/>
          </a:xfrm>
        </p:spPr>
        <p:txBody>
          <a:bodyPr>
            <a:noAutofit/>
          </a:bodyPr>
          <a:lstStyle/>
          <a:p>
            <a:r>
              <a:rPr lang="fr-FR" sz="2400" dirty="0"/>
              <a:t>Priorisation sur une logique d’OPTIMISATION</a:t>
            </a:r>
            <a:br>
              <a:rPr lang="fr-FR" sz="2400" dirty="0"/>
            </a:br>
            <a:r>
              <a:rPr lang="fr-FR" sz="2400" dirty="0"/>
              <a:t>« </a:t>
            </a:r>
            <a:r>
              <a:rPr lang="fr-FR" sz="2400" dirty="0">
                <a:solidFill>
                  <a:schemeClr val="tx1"/>
                </a:solidFill>
              </a:rPr>
              <a:t>La priorité est de pouvoir gérer nos efforts et nos dépenses sur le long terme et la grande échelle</a:t>
            </a:r>
            <a:r>
              <a:rPr lang="fr-FR" sz="2400" dirty="0"/>
              <a:t>»</a:t>
            </a:r>
          </a:p>
        </p:txBody>
      </p:sp>
      <p:sp>
        <p:nvSpPr>
          <p:cNvPr id="4" name="Rectangle 3">
            <a:extLst>
              <a:ext uri="{FF2B5EF4-FFF2-40B4-BE49-F238E27FC236}">
                <a16:creationId xmlns:a16="http://schemas.microsoft.com/office/drawing/2014/main" id="{DF5A7FF5-BA24-50B9-AEE5-F61C35A55551}"/>
              </a:ext>
            </a:extLst>
          </p:cNvPr>
          <p:cNvSpPr/>
          <p:nvPr/>
        </p:nvSpPr>
        <p:spPr>
          <a:xfrm>
            <a:off x="4274545" y="2833377"/>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Communauté a des dépenses structurelles élevées</a:t>
            </a:r>
          </a:p>
        </p:txBody>
      </p:sp>
      <p:sp>
        <p:nvSpPr>
          <p:cNvPr id="5" name="Rectangle 4">
            <a:extLst>
              <a:ext uri="{FF2B5EF4-FFF2-40B4-BE49-F238E27FC236}">
                <a16:creationId xmlns:a16="http://schemas.microsoft.com/office/drawing/2014/main" id="{25035309-2925-9078-B1D3-C1EE8C7493EA}"/>
              </a:ext>
            </a:extLst>
          </p:cNvPr>
          <p:cNvSpPr/>
          <p:nvPr/>
        </p:nvSpPr>
        <p:spPr>
          <a:xfrm>
            <a:off x="4274545" y="3614738"/>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projections sur le futur de la Communauté sont fiables</a:t>
            </a:r>
          </a:p>
        </p:txBody>
      </p:sp>
      <p:sp>
        <p:nvSpPr>
          <p:cNvPr id="6" name="Rectangle 5">
            <a:extLst>
              <a:ext uri="{FF2B5EF4-FFF2-40B4-BE49-F238E27FC236}">
                <a16:creationId xmlns:a16="http://schemas.microsoft.com/office/drawing/2014/main" id="{2EC9C2D6-0EB1-B843-EA69-4834617AF537}"/>
              </a:ext>
            </a:extLst>
          </p:cNvPr>
          <p:cNvSpPr/>
          <p:nvPr/>
        </p:nvSpPr>
        <p:spPr>
          <a:xfrm>
            <a:off x="4274545" y="2052016"/>
            <a:ext cx="1492148" cy="662879"/>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Communauté grandit vite et les opérations sont énergivores</a:t>
            </a:r>
          </a:p>
        </p:txBody>
      </p:sp>
      <p:sp>
        <p:nvSpPr>
          <p:cNvPr id="7" name="Rectangle 6">
            <a:extLst>
              <a:ext uri="{FF2B5EF4-FFF2-40B4-BE49-F238E27FC236}">
                <a16:creationId xmlns:a16="http://schemas.microsoft.com/office/drawing/2014/main" id="{1A7B474C-C068-00E2-7F24-E7571C0F2BD4}"/>
              </a:ext>
            </a:extLst>
          </p:cNvPr>
          <p:cNvSpPr/>
          <p:nvPr/>
        </p:nvSpPr>
        <p:spPr>
          <a:xfrm>
            <a:off x="427454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Conditions favorables</a:t>
            </a:r>
          </a:p>
        </p:txBody>
      </p:sp>
      <p:sp>
        <p:nvSpPr>
          <p:cNvPr id="8" name="Rectangle 7">
            <a:extLst>
              <a:ext uri="{FF2B5EF4-FFF2-40B4-BE49-F238E27FC236}">
                <a16:creationId xmlns:a16="http://schemas.microsoft.com/office/drawing/2014/main" id="{7E2163C5-DA1B-A47C-003C-ED0BC2C70D99}"/>
              </a:ext>
            </a:extLst>
          </p:cNvPr>
          <p:cNvSpPr/>
          <p:nvPr/>
        </p:nvSpPr>
        <p:spPr>
          <a:xfrm>
            <a:off x="222587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Avantages</a:t>
            </a:r>
          </a:p>
        </p:txBody>
      </p:sp>
      <p:sp>
        <p:nvSpPr>
          <p:cNvPr id="9" name="Rectangle 8">
            <a:extLst>
              <a:ext uri="{FF2B5EF4-FFF2-40B4-BE49-F238E27FC236}">
                <a16:creationId xmlns:a16="http://schemas.microsoft.com/office/drawing/2014/main" id="{16820FFF-91F6-B6F7-9745-73D1334F4D8E}"/>
              </a:ext>
            </a:extLst>
          </p:cNvPr>
          <p:cNvSpPr/>
          <p:nvPr/>
        </p:nvSpPr>
        <p:spPr>
          <a:xfrm>
            <a:off x="2225875" y="4424969"/>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Inconvénients</a:t>
            </a:r>
          </a:p>
        </p:txBody>
      </p:sp>
      <p:sp>
        <p:nvSpPr>
          <p:cNvPr id="10" name="Rectangle 9">
            <a:extLst>
              <a:ext uri="{FF2B5EF4-FFF2-40B4-BE49-F238E27FC236}">
                <a16:creationId xmlns:a16="http://schemas.microsoft.com/office/drawing/2014/main" id="{516DEB93-B297-55E2-F8D8-55D5AC403724}"/>
              </a:ext>
            </a:extLst>
          </p:cNvPr>
          <p:cNvSpPr/>
          <p:nvPr/>
        </p:nvSpPr>
        <p:spPr>
          <a:xfrm>
            <a:off x="17720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Description</a:t>
            </a:r>
          </a:p>
        </p:txBody>
      </p:sp>
      <p:sp>
        <p:nvSpPr>
          <p:cNvPr id="11" name="Rectangle 10">
            <a:extLst>
              <a:ext uri="{FF2B5EF4-FFF2-40B4-BE49-F238E27FC236}">
                <a16:creationId xmlns:a16="http://schemas.microsoft.com/office/drawing/2014/main" id="{A6270EC3-04B4-3DC6-A6F2-D2F0D6467556}"/>
              </a:ext>
            </a:extLst>
          </p:cNvPr>
          <p:cNvSpPr/>
          <p:nvPr/>
        </p:nvSpPr>
        <p:spPr>
          <a:xfrm>
            <a:off x="837188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critères</a:t>
            </a:r>
          </a:p>
        </p:txBody>
      </p:sp>
      <p:sp>
        <p:nvSpPr>
          <p:cNvPr id="12" name="Rectangle 11">
            <a:extLst>
              <a:ext uri="{FF2B5EF4-FFF2-40B4-BE49-F238E27FC236}">
                <a16:creationId xmlns:a16="http://schemas.microsoft.com/office/drawing/2014/main" id="{23BE221F-7317-2CDA-EA43-359F5FA3DDAD}"/>
              </a:ext>
            </a:extLst>
          </p:cNvPr>
          <p:cNvSpPr/>
          <p:nvPr/>
        </p:nvSpPr>
        <p:spPr>
          <a:xfrm>
            <a:off x="10420556"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d’actions</a:t>
            </a:r>
          </a:p>
        </p:txBody>
      </p:sp>
      <p:sp>
        <p:nvSpPr>
          <p:cNvPr id="25" name="Rectangle 24">
            <a:extLst>
              <a:ext uri="{FF2B5EF4-FFF2-40B4-BE49-F238E27FC236}">
                <a16:creationId xmlns:a16="http://schemas.microsoft.com/office/drawing/2014/main" id="{7609406F-06DE-686E-186C-8D4ADDFEFAAA}"/>
              </a:ext>
            </a:extLst>
          </p:cNvPr>
          <p:cNvSpPr/>
          <p:nvPr/>
        </p:nvSpPr>
        <p:spPr>
          <a:xfrm>
            <a:off x="6323215" y="1546172"/>
            <a:ext cx="1492148" cy="289032"/>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b="1" dirty="0">
                <a:solidFill>
                  <a:schemeClr val="tx1"/>
                </a:solidFill>
              </a:rPr>
              <a:t>Exemples de situations</a:t>
            </a:r>
          </a:p>
        </p:txBody>
      </p:sp>
      <p:sp>
        <p:nvSpPr>
          <p:cNvPr id="26" name="Rectangle 25">
            <a:extLst>
              <a:ext uri="{FF2B5EF4-FFF2-40B4-BE49-F238E27FC236}">
                <a16:creationId xmlns:a16="http://schemas.microsoft.com/office/drawing/2014/main" id="{C417845A-10B5-FF2B-D2AD-3A3470EDC767}"/>
              </a:ext>
            </a:extLst>
          </p:cNvPr>
          <p:cNvSpPr/>
          <p:nvPr/>
        </p:nvSpPr>
        <p:spPr>
          <a:xfrm>
            <a:off x="177205" y="2106019"/>
            <a:ext cx="1492148" cy="4160199"/>
          </a:xfrm>
          <a:prstGeom prst="rect">
            <a:avLst/>
          </a:prstGeom>
          <a:noFill/>
          <a:ln>
            <a:noFill/>
          </a:ln>
        </p:spPr>
        <p:style>
          <a:lnRef idx="2">
            <a:schemeClr val="accent3">
              <a:shade val="50000"/>
            </a:schemeClr>
          </a:lnRef>
          <a:fillRef idx="1">
            <a:schemeClr val="accent3"/>
          </a:fillRef>
          <a:effectRef idx="0">
            <a:schemeClr val="accent3"/>
          </a:effectRef>
          <a:fontRef idx="minor">
            <a:schemeClr val="lt1"/>
          </a:fontRef>
        </p:style>
        <p:txBody>
          <a:bodyPr rtlCol="0" anchor="t"/>
          <a:lstStyle/>
          <a:p>
            <a:pPr algn="ctr"/>
            <a:r>
              <a:rPr lang="fr-FR" sz="1100" dirty="0">
                <a:solidFill>
                  <a:schemeClr val="tx1"/>
                </a:solidFill>
              </a:rPr>
              <a:t>La priorisation sur la logique d’optimisation a souvent lieu sur des grands ensembles de personnes qui ont vocation à durer.</a:t>
            </a:r>
          </a:p>
          <a:p>
            <a:pPr algn="ctr"/>
            <a:endParaRPr lang="fr-FR" sz="1100" dirty="0">
              <a:solidFill>
                <a:schemeClr val="tx1"/>
              </a:solidFill>
            </a:endParaRPr>
          </a:p>
          <a:p>
            <a:pPr algn="ctr"/>
            <a:r>
              <a:rPr lang="fr-FR" sz="1100" dirty="0">
                <a:solidFill>
                  <a:schemeClr val="tx1"/>
                </a:solidFill>
              </a:rPr>
              <a:t>Cette logique vise à « optimiser le système Communautés », entre autres sa gestion de ressources : nécessiter moins de temps, d’efforts, de ressources pour un grand nombre d’activités ou un grand nombre de membres. </a:t>
            </a:r>
          </a:p>
        </p:txBody>
      </p:sp>
      <p:sp>
        <p:nvSpPr>
          <p:cNvPr id="27" name="Rectangle 26">
            <a:extLst>
              <a:ext uri="{FF2B5EF4-FFF2-40B4-BE49-F238E27FC236}">
                <a16:creationId xmlns:a16="http://schemas.microsoft.com/office/drawing/2014/main" id="{62A0CAFB-0B01-C8D6-6C64-82909E0F5B5F}"/>
              </a:ext>
            </a:extLst>
          </p:cNvPr>
          <p:cNvSpPr/>
          <p:nvPr/>
        </p:nvSpPr>
        <p:spPr>
          <a:xfrm>
            <a:off x="2225875" y="2833377"/>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Peut réduire le coût des futures actions sur le long terme ou la grande échelle</a:t>
            </a:r>
          </a:p>
        </p:txBody>
      </p:sp>
      <p:sp>
        <p:nvSpPr>
          <p:cNvPr id="29" name="Rectangle 28">
            <a:extLst>
              <a:ext uri="{FF2B5EF4-FFF2-40B4-BE49-F238E27FC236}">
                <a16:creationId xmlns:a16="http://schemas.microsoft.com/office/drawing/2014/main" id="{F3830828-EE71-3CC1-439A-17F4AE23A7C6}"/>
              </a:ext>
            </a:extLst>
          </p:cNvPr>
          <p:cNvSpPr/>
          <p:nvPr/>
        </p:nvSpPr>
        <p:spPr>
          <a:xfrm>
            <a:off x="2225875" y="2052016"/>
            <a:ext cx="1492148" cy="662879"/>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Permet de mieux se projeter le futur de la Communauté</a:t>
            </a:r>
          </a:p>
        </p:txBody>
      </p:sp>
      <p:sp>
        <p:nvSpPr>
          <p:cNvPr id="33" name="Rectangle 32">
            <a:extLst>
              <a:ext uri="{FF2B5EF4-FFF2-40B4-BE49-F238E27FC236}">
                <a16:creationId xmlns:a16="http://schemas.microsoft.com/office/drawing/2014/main" id="{D10E491F-6C56-45C2-207B-C902C632E709}"/>
              </a:ext>
            </a:extLst>
          </p:cNvPr>
          <p:cNvSpPr/>
          <p:nvPr/>
        </p:nvSpPr>
        <p:spPr>
          <a:xfrm>
            <a:off x="2225875" y="5691986"/>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Peut souvent dégrader la valeur pour les membres ou juste ne pas leur servir</a:t>
            </a:r>
          </a:p>
        </p:txBody>
      </p:sp>
      <p:sp>
        <p:nvSpPr>
          <p:cNvPr id="34" name="Rectangle 33">
            <a:extLst>
              <a:ext uri="{FF2B5EF4-FFF2-40B4-BE49-F238E27FC236}">
                <a16:creationId xmlns:a16="http://schemas.microsoft.com/office/drawing/2014/main" id="{57893EF9-1F95-917F-AC8A-C3AC02A81B87}"/>
              </a:ext>
            </a:extLst>
          </p:cNvPr>
          <p:cNvSpPr/>
          <p:nvPr/>
        </p:nvSpPr>
        <p:spPr>
          <a:xfrm>
            <a:off x="2225875" y="4910625"/>
            <a:ext cx="1492148" cy="662879"/>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Les choix ne correspondent pas directement à la raison d’être</a:t>
            </a:r>
          </a:p>
        </p:txBody>
      </p:sp>
      <p:sp>
        <p:nvSpPr>
          <p:cNvPr id="35" name="Rectangle 34">
            <a:extLst>
              <a:ext uri="{FF2B5EF4-FFF2-40B4-BE49-F238E27FC236}">
                <a16:creationId xmlns:a16="http://schemas.microsoft.com/office/drawing/2014/main" id="{0835A26A-AD5B-7443-4FC1-20E765B3A389}"/>
              </a:ext>
            </a:extLst>
          </p:cNvPr>
          <p:cNvSpPr/>
          <p:nvPr/>
        </p:nvSpPr>
        <p:spPr>
          <a:xfrm>
            <a:off x="6323215" y="3614738"/>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Communauté envisage un grand nombre d’activités similaires qui pourraient gagner à être mutualisées</a:t>
            </a:r>
          </a:p>
        </p:txBody>
      </p:sp>
      <p:sp>
        <p:nvSpPr>
          <p:cNvPr id="36" name="Rectangle 35">
            <a:extLst>
              <a:ext uri="{FF2B5EF4-FFF2-40B4-BE49-F238E27FC236}">
                <a16:creationId xmlns:a16="http://schemas.microsoft.com/office/drawing/2014/main" id="{BDD85CBB-A568-0CD3-54A5-2F74713E7528}"/>
              </a:ext>
            </a:extLst>
          </p:cNvPr>
          <p:cNvSpPr/>
          <p:nvPr/>
        </p:nvSpPr>
        <p:spPr>
          <a:xfrm>
            <a:off x="6323215" y="5177459"/>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Communauté projette son activité sur le long terme, avec beaucoup plus de membres, et aimerait dépenser moins d’efforts globalement</a:t>
            </a:r>
          </a:p>
        </p:txBody>
      </p:sp>
      <p:sp>
        <p:nvSpPr>
          <p:cNvPr id="37" name="Rectangle 36">
            <a:extLst>
              <a:ext uri="{FF2B5EF4-FFF2-40B4-BE49-F238E27FC236}">
                <a16:creationId xmlns:a16="http://schemas.microsoft.com/office/drawing/2014/main" id="{27BA63C2-C00C-A2D4-B0C5-27FFD6982DD4}"/>
              </a:ext>
            </a:extLst>
          </p:cNvPr>
          <p:cNvSpPr/>
          <p:nvPr/>
        </p:nvSpPr>
        <p:spPr>
          <a:xfrm>
            <a:off x="6323215" y="2052016"/>
            <a:ext cx="1492148" cy="1444240"/>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L’entreprise choisit un outil ou une méthode standard pour l’ensemble du groupe et toutes les Communautés du groupe.</a:t>
            </a:r>
          </a:p>
        </p:txBody>
      </p:sp>
      <p:sp>
        <p:nvSpPr>
          <p:cNvPr id="38" name="Rectangle 37">
            <a:extLst>
              <a:ext uri="{FF2B5EF4-FFF2-40B4-BE49-F238E27FC236}">
                <a16:creationId xmlns:a16="http://schemas.microsoft.com/office/drawing/2014/main" id="{C3FB9EAE-CBEC-AEC9-D3C1-4EEC85EB1523}"/>
              </a:ext>
            </a:extLst>
          </p:cNvPr>
          <p:cNvSpPr/>
          <p:nvPr/>
        </p:nvSpPr>
        <p:spPr>
          <a:xfrm>
            <a:off x="837188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correspond le mieux aux conditions durables du contexte?</a:t>
            </a:r>
          </a:p>
        </p:txBody>
      </p:sp>
      <p:sp>
        <p:nvSpPr>
          <p:cNvPr id="39" name="Rectangle 38">
            <a:extLst>
              <a:ext uri="{FF2B5EF4-FFF2-40B4-BE49-F238E27FC236}">
                <a16:creationId xmlns:a16="http://schemas.microsoft.com/office/drawing/2014/main" id="{8979C0D4-DD48-924D-6208-A08F5D29C96D}"/>
              </a:ext>
            </a:extLst>
          </p:cNvPr>
          <p:cNvSpPr/>
          <p:nvPr/>
        </p:nvSpPr>
        <p:spPr>
          <a:xfrm>
            <a:off x="837188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fait épuiser le moins de ressources sur le long terme ?</a:t>
            </a:r>
          </a:p>
        </p:txBody>
      </p:sp>
      <p:sp>
        <p:nvSpPr>
          <p:cNvPr id="40" name="Rectangle 39">
            <a:extLst>
              <a:ext uri="{FF2B5EF4-FFF2-40B4-BE49-F238E27FC236}">
                <a16:creationId xmlns:a16="http://schemas.microsoft.com/office/drawing/2014/main" id="{7BE42B0D-6EB8-F0D1-49F9-549885011C75}"/>
              </a:ext>
            </a:extLst>
          </p:cNvPr>
          <p:cNvSpPr/>
          <p:nvPr/>
        </p:nvSpPr>
        <p:spPr>
          <a:xfrm>
            <a:off x="837188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mutualise le plus les ressources ?</a:t>
            </a:r>
          </a:p>
        </p:txBody>
      </p:sp>
      <p:sp>
        <p:nvSpPr>
          <p:cNvPr id="41" name="Rectangle 40">
            <a:extLst>
              <a:ext uri="{FF2B5EF4-FFF2-40B4-BE49-F238E27FC236}">
                <a16:creationId xmlns:a16="http://schemas.microsoft.com/office/drawing/2014/main" id="{CD875045-CFD4-7CC6-A48C-D4DBD9053E07}"/>
              </a:ext>
            </a:extLst>
          </p:cNvPr>
          <p:cNvSpPr/>
          <p:nvPr/>
        </p:nvSpPr>
        <p:spPr>
          <a:xfrm>
            <a:off x="8371885" y="517746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nous aiderait à perdurer ?</a:t>
            </a:r>
          </a:p>
        </p:txBody>
      </p:sp>
      <p:sp>
        <p:nvSpPr>
          <p:cNvPr id="43" name="Rectangle 42">
            <a:extLst>
              <a:ext uri="{FF2B5EF4-FFF2-40B4-BE49-F238E27FC236}">
                <a16:creationId xmlns:a16="http://schemas.microsoft.com/office/drawing/2014/main" id="{A791B074-2C47-F231-61A0-23B1541E924A}"/>
              </a:ext>
            </a:extLst>
          </p:cNvPr>
          <p:cNvSpPr/>
          <p:nvPr/>
        </p:nvSpPr>
        <p:spPr>
          <a:xfrm>
            <a:off x="837188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pourrait être utile pour le jour où nous serons plus nombreux ?</a:t>
            </a:r>
          </a:p>
        </p:txBody>
      </p:sp>
      <p:sp>
        <p:nvSpPr>
          <p:cNvPr id="44" name="Rectangle 43">
            <a:extLst>
              <a:ext uri="{FF2B5EF4-FFF2-40B4-BE49-F238E27FC236}">
                <a16:creationId xmlns:a16="http://schemas.microsoft.com/office/drawing/2014/main" id="{0E880A6D-4178-B0D8-D535-6B02EC697E43}"/>
              </a:ext>
            </a:extLst>
          </p:cNvPr>
          <p:cNvSpPr/>
          <p:nvPr/>
        </p:nvSpPr>
        <p:spPr>
          <a:xfrm>
            <a:off x="10420555" y="2833377"/>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Mutualisation / uniformisation des processus</a:t>
            </a:r>
          </a:p>
        </p:txBody>
      </p:sp>
      <p:sp>
        <p:nvSpPr>
          <p:cNvPr id="45" name="Rectangle 44">
            <a:extLst>
              <a:ext uri="{FF2B5EF4-FFF2-40B4-BE49-F238E27FC236}">
                <a16:creationId xmlns:a16="http://schemas.microsoft.com/office/drawing/2014/main" id="{DFACEF9E-80B4-E9C5-FC85-F3D35B779FE4}"/>
              </a:ext>
            </a:extLst>
          </p:cNvPr>
          <p:cNvSpPr/>
          <p:nvPr/>
        </p:nvSpPr>
        <p:spPr>
          <a:xfrm>
            <a:off x="10420555" y="3614738"/>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Adoption ou définition de standards à suivre sur une grande échelle ou un temps long</a:t>
            </a:r>
          </a:p>
        </p:txBody>
      </p:sp>
      <p:sp>
        <p:nvSpPr>
          <p:cNvPr id="46" name="Rectangle 45">
            <a:extLst>
              <a:ext uri="{FF2B5EF4-FFF2-40B4-BE49-F238E27FC236}">
                <a16:creationId xmlns:a16="http://schemas.microsoft.com/office/drawing/2014/main" id="{567CC2B0-AAF9-5756-2019-E3DDC59D7299}"/>
              </a:ext>
            </a:extLst>
          </p:cNvPr>
          <p:cNvSpPr/>
          <p:nvPr/>
        </p:nvSpPr>
        <p:spPr>
          <a:xfrm>
            <a:off x="10420555" y="2052016"/>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Mutualisation / uniformisation des outils</a:t>
            </a:r>
          </a:p>
        </p:txBody>
      </p:sp>
      <p:sp>
        <p:nvSpPr>
          <p:cNvPr id="47" name="Rectangle 46">
            <a:extLst>
              <a:ext uri="{FF2B5EF4-FFF2-40B4-BE49-F238E27FC236}">
                <a16:creationId xmlns:a16="http://schemas.microsoft.com/office/drawing/2014/main" id="{80407840-9E17-5B2F-0380-67C30F8E4093}"/>
              </a:ext>
            </a:extLst>
          </p:cNvPr>
          <p:cNvSpPr/>
          <p:nvPr/>
        </p:nvSpPr>
        <p:spPr>
          <a:xfrm>
            <a:off x="10420555" y="517746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Actions pour ajuster le format (équipe ou communauté)</a:t>
            </a:r>
          </a:p>
        </p:txBody>
      </p:sp>
      <p:sp>
        <p:nvSpPr>
          <p:cNvPr id="48" name="Rectangle 47">
            <a:extLst>
              <a:ext uri="{FF2B5EF4-FFF2-40B4-BE49-F238E27FC236}">
                <a16:creationId xmlns:a16="http://schemas.microsoft.com/office/drawing/2014/main" id="{B8BA815D-FB3E-7C67-6709-144040F53332}"/>
              </a:ext>
            </a:extLst>
          </p:cNvPr>
          <p:cNvSpPr/>
          <p:nvPr/>
        </p:nvSpPr>
        <p:spPr>
          <a:xfrm>
            <a:off x="10420555" y="5958821"/>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Actions qui mutualisent des ressources</a:t>
            </a:r>
          </a:p>
        </p:txBody>
      </p:sp>
      <p:sp>
        <p:nvSpPr>
          <p:cNvPr id="49" name="Rectangle 48">
            <a:extLst>
              <a:ext uri="{FF2B5EF4-FFF2-40B4-BE49-F238E27FC236}">
                <a16:creationId xmlns:a16="http://schemas.microsoft.com/office/drawing/2014/main" id="{1392E2B7-69EE-5B77-A47C-101C4EE8E85B}"/>
              </a:ext>
            </a:extLst>
          </p:cNvPr>
          <p:cNvSpPr/>
          <p:nvPr/>
        </p:nvSpPr>
        <p:spPr>
          <a:xfrm>
            <a:off x="10420555" y="4396099"/>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Ajustement de l’approche (Communauté vs réunion vs individus)</a:t>
            </a:r>
          </a:p>
        </p:txBody>
      </p:sp>
      <p:grpSp>
        <p:nvGrpSpPr>
          <p:cNvPr id="54" name="Groupe 53">
            <a:extLst>
              <a:ext uri="{FF2B5EF4-FFF2-40B4-BE49-F238E27FC236}">
                <a16:creationId xmlns:a16="http://schemas.microsoft.com/office/drawing/2014/main" id="{D59CB6BB-17A8-50E6-9437-1677A3071B17}"/>
              </a:ext>
            </a:extLst>
          </p:cNvPr>
          <p:cNvGrpSpPr/>
          <p:nvPr/>
        </p:nvGrpSpPr>
        <p:grpSpPr>
          <a:xfrm>
            <a:off x="429368" y="91484"/>
            <a:ext cx="1187680" cy="1031820"/>
            <a:chOff x="4759616" y="3408635"/>
            <a:chExt cx="1187680" cy="1031820"/>
          </a:xfrm>
        </p:grpSpPr>
        <p:grpSp>
          <p:nvGrpSpPr>
            <p:cNvPr id="60" name="Groupe 59">
              <a:extLst>
                <a:ext uri="{FF2B5EF4-FFF2-40B4-BE49-F238E27FC236}">
                  <a16:creationId xmlns:a16="http://schemas.microsoft.com/office/drawing/2014/main" id="{677202C5-7F0C-F80E-5985-351E5C656F60}"/>
                </a:ext>
              </a:extLst>
            </p:cNvPr>
            <p:cNvGrpSpPr/>
            <p:nvPr/>
          </p:nvGrpSpPr>
          <p:grpSpPr>
            <a:xfrm>
              <a:off x="5032896" y="3526055"/>
              <a:ext cx="914400" cy="914400"/>
              <a:chOff x="381000" y="3527564"/>
              <a:chExt cx="914400" cy="914400"/>
            </a:xfrm>
            <a:solidFill>
              <a:schemeClr val="accent1"/>
            </a:solidFill>
          </p:grpSpPr>
          <p:pic>
            <p:nvPicPr>
              <p:cNvPr id="62" name="Graphique 61" descr="Homme conductrice avec un remplissage uni">
                <a:extLst>
                  <a:ext uri="{FF2B5EF4-FFF2-40B4-BE49-F238E27FC236}">
                    <a16:creationId xmlns:a16="http://schemas.microsoft.com/office/drawing/2014/main" id="{4DE244F2-8C23-6502-4932-45FE21645FC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1000" y="3527564"/>
                <a:ext cx="914400" cy="914400"/>
              </a:xfrm>
              <a:prstGeom prst="rect">
                <a:avLst/>
              </a:prstGeom>
            </p:spPr>
          </p:pic>
          <p:sp>
            <p:nvSpPr>
              <p:cNvPr id="63" name="Rectangle 62">
                <a:extLst>
                  <a:ext uri="{FF2B5EF4-FFF2-40B4-BE49-F238E27FC236}">
                    <a16:creationId xmlns:a16="http://schemas.microsoft.com/office/drawing/2014/main" id="{40153E0C-4A09-ED0B-36D3-DF60EE46E1C9}"/>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pic>
          <p:nvPicPr>
            <p:cNvPr id="61" name="Graphique 60" descr="Engrenages contour">
              <a:extLst>
                <a:ext uri="{FF2B5EF4-FFF2-40B4-BE49-F238E27FC236}">
                  <a16:creationId xmlns:a16="http://schemas.microsoft.com/office/drawing/2014/main" id="{D8F0E242-A43E-FE81-EE23-7281D7715F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4759616" y="3408635"/>
              <a:ext cx="536087" cy="505809"/>
            </a:xfrm>
            <a:prstGeom prst="rect">
              <a:avLst/>
            </a:prstGeom>
          </p:spPr>
        </p:pic>
      </p:grpSp>
      <p:sp>
        <p:nvSpPr>
          <p:cNvPr id="50" name="Rectangle 49">
            <a:extLst>
              <a:ext uri="{FF2B5EF4-FFF2-40B4-BE49-F238E27FC236}">
                <a16:creationId xmlns:a16="http://schemas.microsoft.com/office/drawing/2014/main" id="{7A5BE3C0-B661-862B-21A3-B661C66A2421}"/>
              </a:ext>
            </a:extLst>
          </p:cNvPr>
          <p:cNvSpPr/>
          <p:nvPr/>
        </p:nvSpPr>
        <p:spPr>
          <a:xfrm>
            <a:off x="8371885" y="5958820"/>
            <a:ext cx="1492148" cy="662879"/>
          </a:xfrm>
          <a:prstGeom prst="rect">
            <a:avLst/>
          </a:prstGeom>
          <a:solidFill>
            <a:schemeClr val="bg1">
              <a:lumMod val="9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Qu’est-ce qui nous réduirait le nombre de </a:t>
            </a:r>
            <a:r>
              <a:rPr lang="fr-FR" sz="1100" dirty="0" err="1">
                <a:solidFill>
                  <a:schemeClr val="tx1"/>
                </a:solidFill>
              </a:rPr>
              <a:t>micro-décisions</a:t>
            </a:r>
            <a:r>
              <a:rPr lang="fr-FR" sz="1100" dirty="0">
                <a:solidFill>
                  <a:schemeClr val="tx1"/>
                </a:solidFill>
              </a:rPr>
              <a:t> ?</a:t>
            </a:r>
          </a:p>
        </p:txBody>
      </p:sp>
    </p:spTree>
    <p:extLst>
      <p:ext uri="{BB962C8B-B14F-4D97-AF65-F5344CB8AC3E}">
        <p14:creationId xmlns:p14="http://schemas.microsoft.com/office/powerpoint/2010/main" val="1911890981"/>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E39779A-C1ED-741B-9817-5667FC3C8308}"/>
              </a:ext>
            </a:extLst>
          </p:cNvPr>
          <p:cNvSpPr>
            <a:spLocks noGrp="1"/>
          </p:cNvSpPr>
          <p:nvPr>
            <p:ph type="title"/>
          </p:nvPr>
        </p:nvSpPr>
        <p:spPr>
          <a:xfrm>
            <a:off x="1468008" y="365125"/>
            <a:ext cx="9885792" cy="1325563"/>
          </a:xfrm>
        </p:spPr>
        <p:txBody>
          <a:bodyPr>
            <a:normAutofit/>
          </a:bodyPr>
          <a:lstStyle/>
          <a:p>
            <a:r>
              <a:rPr lang="fr-FR" sz="3200" dirty="0"/>
              <a:t>Le moment de priorisation</a:t>
            </a:r>
          </a:p>
        </p:txBody>
      </p:sp>
      <p:sp>
        <p:nvSpPr>
          <p:cNvPr id="3" name="Espace réservé du contenu 2">
            <a:extLst>
              <a:ext uri="{FF2B5EF4-FFF2-40B4-BE49-F238E27FC236}">
                <a16:creationId xmlns:a16="http://schemas.microsoft.com/office/drawing/2014/main" id="{6BADD7D1-6D18-5AEE-EC79-9A29006C15BC}"/>
              </a:ext>
            </a:extLst>
          </p:cNvPr>
          <p:cNvSpPr>
            <a:spLocks noGrp="1"/>
          </p:cNvSpPr>
          <p:nvPr>
            <p:ph idx="1"/>
          </p:nvPr>
        </p:nvSpPr>
        <p:spPr>
          <a:xfrm>
            <a:off x="2245794" y="1789854"/>
            <a:ext cx="5957680" cy="2851815"/>
          </a:xfrm>
        </p:spPr>
        <p:txBody>
          <a:bodyPr>
            <a:noAutofit/>
          </a:bodyPr>
          <a:lstStyle/>
          <a:p>
            <a:pPr marL="0" indent="0">
              <a:buNone/>
            </a:pPr>
            <a:r>
              <a:rPr lang="fr-FR" sz="1800" dirty="0"/>
              <a:t>A une date / fréquence fixe</a:t>
            </a:r>
          </a:p>
          <a:p>
            <a:pPr marL="0" indent="0">
              <a:buNone/>
            </a:pPr>
            <a:endParaRPr lang="fr-FR" sz="1800" dirty="0"/>
          </a:p>
          <a:p>
            <a:pPr marL="0" indent="0">
              <a:buNone/>
            </a:pPr>
            <a:endParaRPr lang="fr-FR" sz="1800" dirty="0"/>
          </a:p>
          <a:p>
            <a:pPr marL="0" indent="0">
              <a:buNone/>
            </a:pPr>
            <a:endParaRPr lang="fr-FR" sz="1800" dirty="0"/>
          </a:p>
          <a:p>
            <a:pPr marL="0" indent="0">
              <a:buNone/>
            </a:pPr>
            <a:endParaRPr lang="fr-FR" sz="1800" dirty="0"/>
          </a:p>
          <a:p>
            <a:pPr marL="0" indent="0">
              <a:buNone/>
            </a:pPr>
            <a:endParaRPr lang="fr-FR" sz="1800" dirty="0"/>
          </a:p>
          <a:p>
            <a:pPr marL="0" indent="0">
              <a:buNone/>
            </a:pPr>
            <a:r>
              <a:rPr lang="fr-FR" sz="1800" dirty="0"/>
              <a:t>Sur déclencheur : Lorsqu’un événement particulier arrive ou lorsque la Communauté est dans un état particulier</a:t>
            </a:r>
          </a:p>
        </p:txBody>
      </p:sp>
      <p:pic>
        <p:nvPicPr>
          <p:cNvPr id="4" name="Graphique 3" descr="Calendrier journalier avec un remplissage uni">
            <a:extLst>
              <a:ext uri="{FF2B5EF4-FFF2-40B4-BE49-F238E27FC236}">
                <a16:creationId xmlns:a16="http://schemas.microsoft.com/office/drawing/2014/main" id="{B8CFC3BE-98D6-5A0B-DC31-5E24840A3F3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79361" y="639483"/>
            <a:ext cx="612501" cy="612501"/>
          </a:xfrm>
          <a:prstGeom prst="rect">
            <a:avLst/>
          </a:prstGeom>
        </p:spPr>
      </p:pic>
      <p:pic>
        <p:nvPicPr>
          <p:cNvPr id="5" name="Graphique 4" descr="Priorités avec un remplissage uni">
            <a:extLst>
              <a:ext uri="{FF2B5EF4-FFF2-40B4-BE49-F238E27FC236}">
                <a16:creationId xmlns:a16="http://schemas.microsoft.com/office/drawing/2014/main" id="{0EDD2CF2-7EE3-73D2-C1EE-F84FDE66ECC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59224" y="571976"/>
            <a:ext cx="308784" cy="308784"/>
          </a:xfrm>
          <a:prstGeom prst="rect">
            <a:avLst/>
          </a:prstGeom>
        </p:spPr>
      </p:pic>
      <p:sp>
        <p:nvSpPr>
          <p:cNvPr id="6" name="Rectangle 5">
            <a:extLst>
              <a:ext uri="{FF2B5EF4-FFF2-40B4-BE49-F238E27FC236}">
                <a16:creationId xmlns:a16="http://schemas.microsoft.com/office/drawing/2014/main" id="{772B14B8-BE45-947F-D15E-B72739C8C1B0}"/>
              </a:ext>
            </a:extLst>
          </p:cNvPr>
          <p:cNvSpPr/>
          <p:nvPr/>
        </p:nvSpPr>
        <p:spPr>
          <a:xfrm>
            <a:off x="2746821" y="2282075"/>
            <a:ext cx="1619589"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Communauté qui fait son programme tous les trimestres</a:t>
            </a:r>
          </a:p>
        </p:txBody>
      </p:sp>
      <p:sp>
        <p:nvSpPr>
          <p:cNvPr id="7" name="Rectangle 6">
            <a:extLst>
              <a:ext uri="{FF2B5EF4-FFF2-40B4-BE49-F238E27FC236}">
                <a16:creationId xmlns:a16="http://schemas.microsoft.com/office/drawing/2014/main" id="{54294496-97C1-742F-3015-1206ADA7E783}"/>
              </a:ext>
            </a:extLst>
          </p:cNvPr>
          <p:cNvSpPr/>
          <p:nvPr/>
        </p:nvSpPr>
        <p:spPr>
          <a:xfrm>
            <a:off x="4624649" y="2282075"/>
            <a:ext cx="1619589"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Communauté qui décide de son outil d’interaction « une fois pour toute »</a:t>
            </a:r>
          </a:p>
        </p:txBody>
      </p:sp>
      <p:sp>
        <p:nvSpPr>
          <p:cNvPr id="8" name="Rectangle 7">
            <a:extLst>
              <a:ext uri="{FF2B5EF4-FFF2-40B4-BE49-F238E27FC236}">
                <a16:creationId xmlns:a16="http://schemas.microsoft.com/office/drawing/2014/main" id="{9633B6BF-420C-F3BB-498A-C710EC448C75}"/>
              </a:ext>
            </a:extLst>
          </p:cNvPr>
          <p:cNvSpPr/>
          <p:nvPr/>
        </p:nvSpPr>
        <p:spPr>
          <a:xfrm>
            <a:off x="2766309" y="4777530"/>
            <a:ext cx="1619589"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Communauté qui priorise à chaque fois qu’il y a plus de 30 idées à faire</a:t>
            </a:r>
          </a:p>
        </p:txBody>
      </p:sp>
      <p:sp>
        <p:nvSpPr>
          <p:cNvPr id="9" name="Rectangle 8">
            <a:extLst>
              <a:ext uri="{FF2B5EF4-FFF2-40B4-BE49-F238E27FC236}">
                <a16:creationId xmlns:a16="http://schemas.microsoft.com/office/drawing/2014/main" id="{9E1C17D5-1BEE-B221-E45E-9773BD75FF3C}"/>
              </a:ext>
            </a:extLst>
          </p:cNvPr>
          <p:cNvSpPr/>
          <p:nvPr/>
        </p:nvSpPr>
        <p:spPr>
          <a:xfrm>
            <a:off x="4624648" y="4777530"/>
            <a:ext cx="1619589"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Communauté qui priorise à chaque fois qu’il y a une forme de mécontentement sur la vision du futur</a:t>
            </a:r>
          </a:p>
        </p:txBody>
      </p:sp>
      <p:sp>
        <p:nvSpPr>
          <p:cNvPr id="10" name="Rectangle 9">
            <a:extLst>
              <a:ext uri="{FF2B5EF4-FFF2-40B4-BE49-F238E27FC236}">
                <a16:creationId xmlns:a16="http://schemas.microsoft.com/office/drawing/2014/main" id="{DBE98D78-0DE1-36D0-AA35-75CC82FE7EB8}"/>
              </a:ext>
            </a:extLst>
          </p:cNvPr>
          <p:cNvSpPr/>
          <p:nvPr/>
        </p:nvSpPr>
        <p:spPr>
          <a:xfrm>
            <a:off x="6482987" y="4777530"/>
            <a:ext cx="1619589" cy="1169892"/>
          </a:xfrm>
          <a:prstGeom prst="rect">
            <a:avLst/>
          </a:prstGeom>
          <a:solidFill>
            <a:schemeClr val="bg1"/>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Communauté qui repriorise à chaque fois qu’il y a plus de 20% de membres nouveaux (qui n’ont vécu aucun point de priorisation)</a:t>
            </a:r>
          </a:p>
        </p:txBody>
      </p:sp>
      <p:pic>
        <p:nvPicPr>
          <p:cNvPr id="12" name="Graphique 11" descr="Métronome avec un remplissage uni">
            <a:extLst>
              <a:ext uri="{FF2B5EF4-FFF2-40B4-BE49-F238E27FC236}">
                <a16:creationId xmlns:a16="http://schemas.microsoft.com/office/drawing/2014/main" id="{3E1FFFD9-B0CD-7D2E-9339-7B3EBE6972D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494250" y="1575411"/>
            <a:ext cx="776332" cy="776332"/>
          </a:xfrm>
          <a:prstGeom prst="rect">
            <a:avLst/>
          </a:prstGeom>
        </p:spPr>
      </p:pic>
      <p:pic>
        <p:nvPicPr>
          <p:cNvPr id="14" name="Graphique 13" descr="Début avec un remplissage uni">
            <a:extLst>
              <a:ext uri="{FF2B5EF4-FFF2-40B4-BE49-F238E27FC236}">
                <a16:creationId xmlns:a16="http://schemas.microsoft.com/office/drawing/2014/main" id="{FE514A02-621E-0B26-7D3F-DD1FF8CC5E4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1613544" y="4009419"/>
            <a:ext cx="632250" cy="632250"/>
          </a:xfrm>
          <a:prstGeom prst="rect">
            <a:avLst/>
          </a:prstGeom>
        </p:spPr>
      </p:pic>
    </p:spTree>
    <p:extLst>
      <p:ext uri="{BB962C8B-B14F-4D97-AF65-F5344CB8AC3E}">
        <p14:creationId xmlns:p14="http://schemas.microsoft.com/office/powerpoint/2010/main" val="289183264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E39779A-C1ED-741B-9817-5667FC3C8308}"/>
              </a:ext>
            </a:extLst>
          </p:cNvPr>
          <p:cNvSpPr>
            <a:spLocks noGrp="1"/>
          </p:cNvSpPr>
          <p:nvPr>
            <p:ph type="title"/>
          </p:nvPr>
        </p:nvSpPr>
        <p:spPr>
          <a:xfrm>
            <a:off x="1189424" y="365125"/>
            <a:ext cx="10164375" cy="1325563"/>
          </a:xfrm>
        </p:spPr>
        <p:txBody>
          <a:bodyPr>
            <a:normAutofit/>
          </a:bodyPr>
          <a:lstStyle/>
          <a:p>
            <a:r>
              <a:rPr lang="fr-FR" sz="3200" dirty="0"/>
              <a:t>Les méthodes de priorisation</a:t>
            </a:r>
            <a:br>
              <a:rPr lang="fr-FR" sz="3200" dirty="0"/>
            </a:br>
            <a:r>
              <a:rPr lang="fr-FR" sz="3200" dirty="0"/>
              <a:t>Par niveau d’explicitation</a:t>
            </a:r>
          </a:p>
        </p:txBody>
      </p:sp>
      <p:pic>
        <p:nvPicPr>
          <p:cNvPr id="5" name="Graphique 4" descr="Filtrer avec un remplissage uni">
            <a:extLst>
              <a:ext uri="{FF2B5EF4-FFF2-40B4-BE49-F238E27FC236}">
                <a16:creationId xmlns:a16="http://schemas.microsoft.com/office/drawing/2014/main" id="{016F724A-6EE7-1D4E-7564-EBE12A0173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86975" y="525507"/>
            <a:ext cx="702450" cy="702450"/>
          </a:xfrm>
          <a:prstGeom prst="rect">
            <a:avLst/>
          </a:prstGeom>
        </p:spPr>
      </p:pic>
      <p:pic>
        <p:nvPicPr>
          <p:cNvPr id="6" name="Graphique 5" descr="Priorités avec un remplissage uni">
            <a:extLst>
              <a:ext uri="{FF2B5EF4-FFF2-40B4-BE49-F238E27FC236}">
                <a16:creationId xmlns:a16="http://schemas.microsoft.com/office/drawing/2014/main" id="{385DBD80-8723-84CC-C405-0B4D63B42D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37722" y="1102480"/>
            <a:ext cx="308784" cy="308784"/>
          </a:xfrm>
          <a:prstGeom prst="rect">
            <a:avLst/>
          </a:prstGeom>
        </p:spPr>
      </p:pic>
      <p:sp>
        <p:nvSpPr>
          <p:cNvPr id="7" name="Rectangle 6">
            <a:extLst>
              <a:ext uri="{FF2B5EF4-FFF2-40B4-BE49-F238E27FC236}">
                <a16:creationId xmlns:a16="http://schemas.microsoft.com/office/drawing/2014/main" id="{CF75BE1A-10B6-F669-300C-49251B0CC43A}"/>
              </a:ext>
            </a:extLst>
          </p:cNvPr>
          <p:cNvSpPr/>
          <p:nvPr/>
        </p:nvSpPr>
        <p:spPr>
          <a:xfrm>
            <a:off x="4371788" y="3507269"/>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Priorisation </a:t>
            </a:r>
            <a:r>
              <a:rPr lang="fr-FR" sz="1100" dirty="0" err="1">
                <a:solidFill>
                  <a:schemeClr val="tx1"/>
                </a:solidFill>
              </a:rPr>
              <a:t>MoSCoW</a:t>
            </a:r>
            <a:r>
              <a:rPr lang="fr-FR" sz="1100" dirty="0">
                <a:solidFill>
                  <a:schemeClr val="tx1"/>
                </a:solidFill>
              </a:rPr>
              <a:t> ou par niveaux sur un axe</a:t>
            </a:r>
          </a:p>
        </p:txBody>
      </p:sp>
      <p:sp>
        <p:nvSpPr>
          <p:cNvPr id="8" name="Rectangle 7">
            <a:extLst>
              <a:ext uri="{FF2B5EF4-FFF2-40B4-BE49-F238E27FC236}">
                <a16:creationId xmlns:a16="http://schemas.microsoft.com/office/drawing/2014/main" id="{9B0FB5E3-BD5E-4049-2C6E-5117F8E2D7DC}"/>
              </a:ext>
            </a:extLst>
          </p:cNvPr>
          <p:cNvSpPr/>
          <p:nvPr/>
        </p:nvSpPr>
        <p:spPr>
          <a:xfrm>
            <a:off x="2594207" y="3507269"/>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Priorisation « Dot </a:t>
            </a:r>
            <a:r>
              <a:rPr lang="fr-FR" sz="1100" dirty="0" err="1">
                <a:solidFill>
                  <a:schemeClr val="tx1"/>
                </a:solidFill>
              </a:rPr>
              <a:t>Votting</a:t>
            </a:r>
            <a:r>
              <a:rPr lang="fr-FR" sz="1100" dirty="0">
                <a:solidFill>
                  <a:schemeClr val="tx1"/>
                </a:solidFill>
              </a:rPr>
              <a:t> », Consensus systémique</a:t>
            </a:r>
          </a:p>
        </p:txBody>
      </p:sp>
      <p:sp>
        <p:nvSpPr>
          <p:cNvPr id="9" name="Rectangle 8">
            <a:extLst>
              <a:ext uri="{FF2B5EF4-FFF2-40B4-BE49-F238E27FC236}">
                <a16:creationId xmlns:a16="http://schemas.microsoft.com/office/drawing/2014/main" id="{054539F6-2778-980C-7D91-466530950898}"/>
              </a:ext>
            </a:extLst>
          </p:cNvPr>
          <p:cNvSpPr/>
          <p:nvPr/>
        </p:nvSpPr>
        <p:spPr>
          <a:xfrm>
            <a:off x="6149370" y="3507271"/>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Priorisation cadran (2 critères) (Eisenhower,  Value </a:t>
            </a:r>
            <a:r>
              <a:rPr lang="fr-FR" sz="1100" dirty="0" err="1">
                <a:solidFill>
                  <a:schemeClr val="tx1"/>
                </a:solidFill>
              </a:rPr>
              <a:t>Cost</a:t>
            </a:r>
            <a:r>
              <a:rPr lang="fr-FR" sz="1100" dirty="0">
                <a:solidFill>
                  <a:schemeClr val="tx1"/>
                </a:solidFill>
              </a:rPr>
              <a:t>, etc.)</a:t>
            </a:r>
          </a:p>
        </p:txBody>
      </p:sp>
      <p:sp>
        <p:nvSpPr>
          <p:cNvPr id="10" name="Rectangle 9">
            <a:extLst>
              <a:ext uri="{FF2B5EF4-FFF2-40B4-BE49-F238E27FC236}">
                <a16:creationId xmlns:a16="http://schemas.microsoft.com/office/drawing/2014/main" id="{EC0B8D52-E751-10DF-D6C5-FCB33C16EE70}"/>
              </a:ext>
            </a:extLst>
          </p:cNvPr>
          <p:cNvSpPr/>
          <p:nvPr/>
        </p:nvSpPr>
        <p:spPr>
          <a:xfrm>
            <a:off x="7896971" y="3507270"/>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Priorisation </a:t>
            </a:r>
            <a:r>
              <a:rPr lang="fr-FR" sz="1100" dirty="0" err="1">
                <a:solidFill>
                  <a:schemeClr val="tx1"/>
                </a:solidFill>
              </a:rPr>
              <a:t>multi-critères</a:t>
            </a:r>
            <a:r>
              <a:rPr lang="fr-FR" sz="1100" dirty="0">
                <a:solidFill>
                  <a:schemeClr val="tx1"/>
                </a:solidFill>
              </a:rPr>
              <a:t> (RICE,…)</a:t>
            </a:r>
          </a:p>
        </p:txBody>
      </p:sp>
      <p:sp>
        <p:nvSpPr>
          <p:cNvPr id="11" name="Rectangle 10">
            <a:extLst>
              <a:ext uri="{FF2B5EF4-FFF2-40B4-BE49-F238E27FC236}">
                <a16:creationId xmlns:a16="http://schemas.microsoft.com/office/drawing/2014/main" id="{A1DC70D4-B44C-491F-4F6B-D7FD8D969B81}"/>
              </a:ext>
            </a:extLst>
          </p:cNvPr>
          <p:cNvSpPr/>
          <p:nvPr/>
        </p:nvSpPr>
        <p:spPr>
          <a:xfrm>
            <a:off x="797391" y="3507269"/>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Discussion libre</a:t>
            </a:r>
          </a:p>
        </p:txBody>
      </p:sp>
      <p:sp>
        <p:nvSpPr>
          <p:cNvPr id="12" name="Flèche : double flèche horizontale 11">
            <a:extLst>
              <a:ext uri="{FF2B5EF4-FFF2-40B4-BE49-F238E27FC236}">
                <a16:creationId xmlns:a16="http://schemas.microsoft.com/office/drawing/2014/main" id="{81F6F691-A91F-7640-FD7F-B4BB7F756C4D}"/>
              </a:ext>
            </a:extLst>
          </p:cNvPr>
          <p:cNvSpPr/>
          <p:nvPr/>
        </p:nvSpPr>
        <p:spPr>
          <a:xfrm>
            <a:off x="235077" y="4269867"/>
            <a:ext cx="11671176" cy="483327"/>
          </a:xfrm>
          <a:prstGeom prst="lef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fr-FR" sz="1400" dirty="0"/>
          </a:p>
        </p:txBody>
      </p:sp>
      <p:sp>
        <p:nvSpPr>
          <p:cNvPr id="13" name="ZoneTexte 12">
            <a:extLst>
              <a:ext uri="{FF2B5EF4-FFF2-40B4-BE49-F238E27FC236}">
                <a16:creationId xmlns:a16="http://schemas.microsoft.com/office/drawing/2014/main" id="{0A3F779C-BD5D-7489-116A-E8734AA5D9ED}"/>
              </a:ext>
            </a:extLst>
          </p:cNvPr>
          <p:cNvSpPr txBox="1"/>
          <p:nvPr/>
        </p:nvSpPr>
        <p:spPr>
          <a:xfrm>
            <a:off x="410138" y="4367428"/>
            <a:ext cx="6094520" cy="276999"/>
          </a:xfrm>
          <a:prstGeom prst="rect">
            <a:avLst/>
          </a:prstGeom>
          <a:noFill/>
          <a:ln>
            <a:noFill/>
          </a:ln>
        </p:spPr>
        <p:txBody>
          <a:bodyPr wrap="square">
            <a:spAutoFit/>
          </a:bodyPr>
          <a:lstStyle/>
          <a:p>
            <a:r>
              <a:rPr lang="fr-FR" sz="1200" b="1" dirty="0">
                <a:solidFill>
                  <a:schemeClr val="bg1"/>
                </a:solidFill>
              </a:rPr>
              <a:t>Critères implicites</a:t>
            </a:r>
          </a:p>
        </p:txBody>
      </p:sp>
      <p:sp>
        <p:nvSpPr>
          <p:cNvPr id="14" name="ZoneTexte 13">
            <a:extLst>
              <a:ext uri="{FF2B5EF4-FFF2-40B4-BE49-F238E27FC236}">
                <a16:creationId xmlns:a16="http://schemas.microsoft.com/office/drawing/2014/main" id="{3EF190A6-2CDF-997A-C271-964E1C806D66}"/>
              </a:ext>
            </a:extLst>
          </p:cNvPr>
          <p:cNvSpPr txBox="1"/>
          <p:nvPr/>
        </p:nvSpPr>
        <p:spPr>
          <a:xfrm>
            <a:off x="7527605" y="4375246"/>
            <a:ext cx="4221197" cy="276999"/>
          </a:xfrm>
          <a:prstGeom prst="rect">
            <a:avLst/>
          </a:prstGeom>
          <a:noFill/>
        </p:spPr>
        <p:txBody>
          <a:bodyPr wrap="square">
            <a:spAutoFit/>
          </a:bodyPr>
          <a:lstStyle/>
          <a:p>
            <a:pPr algn="r"/>
            <a:r>
              <a:rPr lang="fr-FR" sz="1200" b="1" dirty="0">
                <a:solidFill>
                  <a:schemeClr val="bg1"/>
                </a:solidFill>
              </a:rPr>
              <a:t>Critères explicites</a:t>
            </a:r>
          </a:p>
        </p:txBody>
      </p:sp>
      <p:sp>
        <p:nvSpPr>
          <p:cNvPr id="16" name="Rectangle 15">
            <a:extLst>
              <a:ext uri="{FF2B5EF4-FFF2-40B4-BE49-F238E27FC236}">
                <a16:creationId xmlns:a16="http://schemas.microsoft.com/office/drawing/2014/main" id="{B94A0711-55F8-927B-A362-07A50F907921}"/>
              </a:ext>
            </a:extLst>
          </p:cNvPr>
          <p:cNvSpPr/>
          <p:nvPr/>
        </p:nvSpPr>
        <p:spPr>
          <a:xfrm>
            <a:off x="9644572" y="3507269"/>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Priorisation </a:t>
            </a:r>
            <a:r>
              <a:rPr lang="fr-FR" sz="1100" dirty="0" err="1">
                <a:solidFill>
                  <a:schemeClr val="tx1"/>
                </a:solidFill>
              </a:rPr>
              <a:t>multi-critères</a:t>
            </a:r>
            <a:r>
              <a:rPr lang="fr-FR" sz="1100" dirty="0">
                <a:solidFill>
                  <a:schemeClr val="tx1"/>
                </a:solidFill>
              </a:rPr>
              <a:t> avec lots, dépendances, </a:t>
            </a:r>
            <a:r>
              <a:rPr lang="fr-FR" sz="1100" dirty="0" err="1">
                <a:solidFill>
                  <a:schemeClr val="tx1"/>
                </a:solidFill>
              </a:rPr>
              <a:t>etc</a:t>
            </a:r>
            <a:endParaRPr lang="fr-FR" sz="1100" dirty="0">
              <a:solidFill>
                <a:schemeClr val="tx1"/>
              </a:solidFill>
            </a:endParaRPr>
          </a:p>
        </p:txBody>
      </p:sp>
      <p:sp>
        <p:nvSpPr>
          <p:cNvPr id="19" name="Rectangle 18">
            <a:extLst>
              <a:ext uri="{FF2B5EF4-FFF2-40B4-BE49-F238E27FC236}">
                <a16:creationId xmlns:a16="http://schemas.microsoft.com/office/drawing/2014/main" id="{B623BA38-7045-54FF-A3AA-AE8ED38F5426}"/>
              </a:ext>
            </a:extLst>
          </p:cNvPr>
          <p:cNvSpPr/>
          <p:nvPr/>
        </p:nvSpPr>
        <p:spPr>
          <a:xfrm>
            <a:off x="2710377" y="2363132"/>
            <a:ext cx="609600" cy="609600"/>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a:extLst>
              <a:ext uri="{FF2B5EF4-FFF2-40B4-BE49-F238E27FC236}">
                <a16:creationId xmlns:a16="http://schemas.microsoft.com/office/drawing/2014/main" id="{6C713B4D-7710-5E68-6E82-724925D11D88}"/>
              </a:ext>
            </a:extLst>
          </p:cNvPr>
          <p:cNvSpPr/>
          <p:nvPr/>
        </p:nvSpPr>
        <p:spPr>
          <a:xfrm>
            <a:off x="3410860" y="2058332"/>
            <a:ext cx="609600" cy="609600"/>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Rectangle 20">
            <a:extLst>
              <a:ext uri="{FF2B5EF4-FFF2-40B4-BE49-F238E27FC236}">
                <a16:creationId xmlns:a16="http://schemas.microsoft.com/office/drawing/2014/main" id="{1C72CC3C-3A3F-BA6D-60E0-0D1E482243C3}"/>
              </a:ext>
            </a:extLst>
          </p:cNvPr>
          <p:cNvSpPr/>
          <p:nvPr/>
        </p:nvSpPr>
        <p:spPr>
          <a:xfrm>
            <a:off x="3410860" y="2746898"/>
            <a:ext cx="609600" cy="609600"/>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3" name="Graphique 22" descr="Sphères de Harvey 100% avec un remplissage uni">
            <a:extLst>
              <a:ext uri="{FF2B5EF4-FFF2-40B4-BE49-F238E27FC236}">
                <a16:creationId xmlns:a16="http://schemas.microsoft.com/office/drawing/2014/main" id="{B75064F9-8B2B-7D3F-D84A-812F25C3EA0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39485" y="2816138"/>
            <a:ext cx="180975" cy="180975"/>
          </a:xfrm>
          <a:prstGeom prst="rect">
            <a:avLst/>
          </a:prstGeom>
        </p:spPr>
      </p:pic>
      <p:pic>
        <p:nvPicPr>
          <p:cNvPr id="24" name="Graphique 23" descr="Sphères de Harvey 100% avec un remplissage uni">
            <a:extLst>
              <a:ext uri="{FF2B5EF4-FFF2-40B4-BE49-F238E27FC236}">
                <a16:creationId xmlns:a16="http://schemas.microsoft.com/office/drawing/2014/main" id="{187AFACD-9AD4-96FF-4710-68EF57D3A3B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748602" y="2948226"/>
            <a:ext cx="180975" cy="180975"/>
          </a:xfrm>
          <a:prstGeom prst="rect">
            <a:avLst/>
          </a:prstGeom>
        </p:spPr>
      </p:pic>
      <p:pic>
        <p:nvPicPr>
          <p:cNvPr id="25" name="Graphique 24" descr="Sphères de Harvey 100% avec un remplissage uni">
            <a:extLst>
              <a:ext uri="{FF2B5EF4-FFF2-40B4-BE49-F238E27FC236}">
                <a16:creationId xmlns:a16="http://schemas.microsoft.com/office/drawing/2014/main" id="{3258A9CB-1320-1CCA-A281-C4D47044735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21626" y="2072121"/>
            <a:ext cx="180975" cy="180975"/>
          </a:xfrm>
          <a:prstGeom prst="rect">
            <a:avLst/>
          </a:prstGeom>
        </p:spPr>
      </p:pic>
      <p:pic>
        <p:nvPicPr>
          <p:cNvPr id="26" name="Graphique 25" descr="Sphères de Harvey 100% avec un remplissage uni">
            <a:extLst>
              <a:ext uri="{FF2B5EF4-FFF2-40B4-BE49-F238E27FC236}">
                <a16:creationId xmlns:a16="http://schemas.microsoft.com/office/drawing/2014/main" id="{82F364EC-0B2F-66F6-D3A3-DFB511E534C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910524" y="2225924"/>
            <a:ext cx="180975" cy="180975"/>
          </a:xfrm>
          <a:prstGeom prst="rect">
            <a:avLst/>
          </a:prstGeom>
        </p:spPr>
      </p:pic>
      <p:pic>
        <p:nvPicPr>
          <p:cNvPr id="27" name="Graphique 26" descr="Sphères de Harvey 100% avec un remplissage uni">
            <a:extLst>
              <a:ext uri="{FF2B5EF4-FFF2-40B4-BE49-F238E27FC236}">
                <a16:creationId xmlns:a16="http://schemas.microsoft.com/office/drawing/2014/main" id="{040C2907-2F78-EE13-220B-44854CEE802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775588" y="2225924"/>
            <a:ext cx="180975" cy="180975"/>
          </a:xfrm>
          <a:prstGeom prst="rect">
            <a:avLst/>
          </a:prstGeom>
        </p:spPr>
      </p:pic>
      <p:pic>
        <p:nvPicPr>
          <p:cNvPr id="28" name="Graphique 27" descr="Sphères de Harvey 100% avec un remplissage uni">
            <a:extLst>
              <a:ext uri="{FF2B5EF4-FFF2-40B4-BE49-F238E27FC236}">
                <a16:creationId xmlns:a16="http://schemas.microsoft.com/office/drawing/2014/main" id="{0BB19743-245F-E135-47D6-EB8909F5854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98024" y="2405616"/>
            <a:ext cx="180975" cy="180975"/>
          </a:xfrm>
          <a:prstGeom prst="rect">
            <a:avLst/>
          </a:prstGeom>
        </p:spPr>
      </p:pic>
      <p:pic>
        <p:nvPicPr>
          <p:cNvPr id="29" name="Graphique 28" descr="Sphères de Harvey 100% avec un remplissage uni">
            <a:extLst>
              <a:ext uri="{FF2B5EF4-FFF2-40B4-BE49-F238E27FC236}">
                <a16:creationId xmlns:a16="http://schemas.microsoft.com/office/drawing/2014/main" id="{475DDC67-3576-7671-F838-EF76C7E2297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15177" y="2444129"/>
            <a:ext cx="180975" cy="180975"/>
          </a:xfrm>
          <a:prstGeom prst="rect">
            <a:avLst/>
          </a:prstGeom>
        </p:spPr>
      </p:pic>
      <p:cxnSp>
        <p:nvCxnSpPr>
          <p:cNvPr id="31" name="Connecteur droit avec flèche 30">
            <a:extLst>
              <a:ext uri="{FF2B5EF4-FFF2-40B4-BE49-F238E27FC236}">
                <a16:creationId xmlns:a16="http://schemas.microsoft.com/office/drawing/2014/main" id="{2A69460D-0E65-AC57-75A3-6BB522E52A7C}"/>
              </a:ext>
            </a:extLst>
          </p:cNvPr>
          <p:cNvCxnSpPr/>
          <p:nvPr/>
        </p:nvCxnSpPr>
        <p:spPr>
          <a:xfrm flipV="1">
            <a:off x="4739202" y="2058332"/>
            <a:ext cx="0" cy="12981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droit avec flèche 31">
            <a:extLst>
              <a:ext uri="{FF2B5EF4-FFF2-40B4-BE49-F238E27FC236}">
                <a16:creationId xmlns:a16="http://schemas.microsoft.com/office/drawing/2014/main" id="{ACC79495-F1F0-2B34-40C3-10C08A4A1585}"/>
              </a:ext>
            </a:extLst>
          </p:cNvPr>
          <p:cNvCxnSpPr/>
          <p:nvPr/>
        </p:nvCxnSpPr>
        <p:spPr>
          <a:xfrm flipV="1">
            <a:off x="6956498" y="2072121"/>
            <a:ext cx="0" cy="129816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3" name="Connecteur droit avec flèche 32">
            <a:extLst>
              <a:ext uri="{FF2B5EF4-FFF2-40B4-BE49-F238E27FC236}">
                <a16:creationId xmlns:a16="http://schemas.microsoft.com/office/drawing/2014/main" id="{FD84D04F-98C4-145E-F3C8-6A4EB77A2A71}"/>
              </a:ext>
            </a:extLst>
          </p:cNvPr>
          <p:cNvCxnSpPr>
            <a:cxnSpLocks/>
          </p:cNvCxnSpPr>
          <p:nvPr/>
        </p:nvCxnSpPr>
        <p:spPr>
          <a:xfrm flipH="1">
            <a:off x="6234627" y="2707415"/>
            <a:ext cx="1433119" cy="0"/>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aphicFrame>
        <p:nvGraphicFramePr>
          <p:cNvPr id="36" name="Tableau 36">
            <a:extLst>
              <a:ext uri="{FF2B5EF4-FFF2-40B4-BE49-F238E27FC236}">
                <a16:creationId xmlns:a16="http://schemas.microsoft.com/office/drawing/2014/main" id="{01C902EF-CB22-DF50-DF62-B3025E376351}"/>
              </a:ext>
            </a:extLst>
          </p:cNvPr>
          <p:cNvGraphicFramePr>
            <a:graphicFrameLocks noGrp="1"/>
          </p:cNvGraphicFramePr>
          <p:nvPr>
            <p:extLst>
              <p:ext uri="{D42A27DB-BD31-4B8C-83A1-F6EECF244321}">
                <p14:modId xmlns:p14="http://schemas.microsoft.com/office/powerpoint/2010/main" val="2080627584"/>
              </p:ext>
            </p:extLst>
          </p:nvPr>
        </p:nvGraphicFramePr>
        <p:xfrm>
          <a:off x="8048461" y="2363132"/>
          <a:ext cx="1311276" cy="670560"/>
        </p:xfrm>
        <a:graphic>
          <a:graphicData uri="http://schemas.openxmlformats.org/drawingml/2006/table">
            <a:tbl>
              <a:tblPr firstRow="1" firstCol="1" bandRow="1">
                <a:tableStyleId>{073A0DAA-6AF3-43AB-8588-CEC1D06C72B9}</a:tableStyleId>
              </a:tblPr>
              <a:tblGrid>
                <a:gridCol w="327819">
                  <a:extLst>
                    <a:ext uri="{9D8B030D-6E8A-4147-A177-3AD203B41FA5}">
                      <a16:colId xmlns:a16="http://schemas.microsoft.com/office/drawing/2014/main" val="3906225201"/>
                    </a:ext>
                  </a:extLst>
                </a:gridCol>
                <a:gridCol w="327819">
                  <a:extLst>
                    <a:ext uri="{9D8B030D-6E8A-4147-A177-3AD203B41FA5}">
                      <a16:colId xmlns:a16="http://schemas.microsoft.com/office/drawing/2014/main" val="3478846805"/>
                    </a:ext>
                  </a:extLst>
                </a:gridCol>
                <a:gridCol w="327819">
                  <a:extLst>
                    <a:ext uri="{9D8B030D-6E8A-4147-A177-3AD203B41FA5}">
                      <a16:colId xmlns:a16="http://schemas.microsoft.com/office/drawing/2014/main" val="2801750618"/>
                    </a:ext>
                  </a:extLst>
                </a:gridCol>
                <a:gridCol w="327819">
                  <a:extLst>
                    <a:ext uri="{9D8B030D-6E8A-4147-A177-3AD203B41FA5}">
                      <a16:colId xmlns:a16="http://schemas.microsoft.com/office/drawing/2014/main" val="1391058124"/>
                    </a:ext>
                  </a:extLst>
                </a:gridCol>
              </a:tblGrid>
              <a:tr h="0">
                <a:tc>
                  <a:txBody>
                    <a:bodyPr/>
                    <a:lstStyle/>
                    <a:p>
                      <a:endParaRPr lang="fr-FR" sz="500" dirty="0"/>
                    </a:p>
                  </a:txBody>
                  <a:tcPr/>
                </a:tc>
                <a:tc>
                  <a:txBody>
                    <a:bodyPr/>
                    <a:lstStyle/>
                    <a:p>
                      <a:endParaRPr lang="fr-FR" sz="500"/>
                    </a:p>
                  </a:txBody>
                  <a:tcPr/>
                </a:tc>
                <a:tc>
                  <a:txBody>
                    <a:bodyPr/>
                    <a:lstStyle/>
                    <a:p>
                      <a:endParaRPr lang="fr-FR" sz="500"/>
                    </a:p>
                  </a:txBody>
                  <a:tcPr/>
                </a:tc>
                <a:tc>
                  <a:txBody>
                    <a:bodyPr/>
                    <a:lstStyle/>
                    <a:p>
                      <a:endParaRPr lang="fr-FR" sz="500"/>
                    </a:p>
                  </a:txBody>
                  <a:tcPr/>
                </a:tc>
                <a:extLst>
                  <a:ext uri="{0D108BD9-81ED-4DB2-BD59-A6C34878D82A}">
                    <a16:rowId xmlns:a16="http://schemas.microsoft.com/office/drawing/2014/main" val="3024298102"/>
                  </a:ext>
                </a:extLst>
              </a:tr>
              <a:tr h="0">
                <a:tc>
                  <a:txBody>
                    <a:bodyPr/>
                    <a:lstStyle/>
                    <a:p>
                      <a:endParaRPr lang="fr-FR" sz="500" dirty="0"/>
                    </a:p>
                  </a:txBody>
                  <a:tcPr/>
                </a:tc>
                <a:tc>
                  <a:txBody>
                    <a:bodyPr/>
                    <a:lstStyle/>
                    <a:p>
                      <a:endParaRPr lang="fr-FR" sz="500" dirty="0"/>
                    </a:p>
                  </a:txBody>
                  <a:tcPr/>
                </a:tc>
                <a:tc>
                  <a:txBody>
                    <a:bodyPr/>
                    <a:lstStyle/>
                    <a:p>
                      <a:endParaRPr lang="fr-FR" sz="500"/>
                    </a:p>
                  </a:txBody>
                  <a:tcPr/>
                </a:tc>
                <a:tc>
                  <a:txBody>
                    <a:bodyPr/>
                    <a:lstStyle/>
                    <a:p>
                      <a:endParaRPr lang="fr-FR" sz="500"/>
                    </a:p>
                  </a:txBody>
                  <a:tcPr/>
                </a:tc>
                <a:extLst>
                  <a:ext uri="{0D108BD9-81ED-4DB2-BD59-A6C34878D82A}">
                    <a16:rowId xmlns:a16="http://schemas.microsoft.com/office/drawing/2014/main" val="1029895434"/>
                  </a:ext>
                </a:extLst>
              </a:tr>
              <a:tr h="0">
                <a:tc>
                  <a:txBody>
                    <a:bodyPr/>
                    <a:lstStyle/>
                    <a:p>
                      <a:endParaRPr lang="fr-FR" sz="500"/>
                    </a:p>
                  </a:txBody>
                  <a:tcPr/>
                </a:tc>
                <a:tc>
                  <a:txBody>
                    <a:bodyPr/>
                    <a:lstStyle/>
                    <a:p>
                      <a:endParaRPr lang="fr-FR" sz="500"/>
                    </a:p>
                  </a:txBody>
                  <a:tcPr/>
                </a:tc>
                <a:tc>
                  <a:txBody>
                    <a:bodyPr/>
                    <a:lstStyle/>
                    <a:p>
                      <a:endParaRPr lang="fr-FR" sz="500" dirty="0"/>
                    </a:p>
                  </a:txBody>
                  <a:tcPr/>
                </a:tc>
                <a:tc>
                  <a:txBody>
                    <a:bodyPr/>
                    <a:lstStyle/>
                    <a:p>
                      <a:endParaRPr lang="fr-FR" sz="500"/>
                    </a:p>
                  </a:txBody>
                  <a:tcPr/>
                </a:tc>
                <a:extLst>
                  <a:ext uri="{0D108BD9-81ED-4DB2-BD59-A6C34878D82A}">
                    <a16:rowId xmlns:a16="http://schemas.microsoft.com/office/drawing/2014/main" val="947297657"/>
                  </a:ext>
                </a:extLst>
              </a:tr>
              <a:tr h="0">
                <a:tc>
                  <a:txBody>
                    <a:bodyPr/>
                    <a:lstStyle/>
                    <a:p>
                      <a:endParaRPr lang="fr-FR" sz="500"/>
                    </a:p>
                  </a:txBody>
                  <a:tcPr/>
                </a:tc>
                <a:tc>
                  <a:txBody>
                    <a:bodyPr/>
                    <a:lstStyle/>
                    <a:p>
                      <a:endParaRPr lang="fr-FR" sz="500"/>
                    </a:p>
                  </a:txBody>
                  <a:tcPr/>
                </a:tc>
                <a:tc>
                  <a:txBody>
                    <a:bodyPr/>
                    <a:lstStyle/>
                    <a:p>
                      <a:endParaRPr lang="fr-FR" sz="500"/>
                    </a:p>
                  </a:txBody>
                  <a:tcPr/>
                </a:tc>
                <a:tc>
                  <a:txBody>
                    <a:bodyPr/>
                    <a:lstStyle/>
                    <a:p>
                      <a:endParaRPr lang="fr-FR" sz="500" dirty="0"/>
                    </a:p>
                  </a:txBody>
                  <a:tcPr/>
                </a:tc>
                <a:extLst>
                  <a:ext uri="{0D108BD9-81ED-4DB2-BD59-A6C34878D82A}">
                    <a16:rowId xmlns:a16="http://schemas.microsoft.com/office/drawing/2014/main" val="2617191859"/>
                  </a:ext>
                </a:extLst>
              </a:tr>
            </a:tbl>
          </a:graphicData>
        </a:graphic>
      </p:graphicFrame>
      <p:pic>
        <p:nvPicPr>
          <p:cNvPr id="38" name="Graphique 37" descr="Bulle de discussion avec un remplissage uni">
            <a:extLst>
              <a:ext uri="{FF2B5EF4-FFF2-40B4-BE49-F238E27FC236}">
                <a16:creationId xmlns:a16="http://schemas.microsoft.com/office/drawing/2014/main" id="{6E6245F6-99A7-3E9B-7A4B-F52F0ECFD41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55402" y="2264004"/>
            <a:ext cx="914400" cy="914400"/>
          </a:xfrm>
          <a:prstGeom prst="rect">
            <a:avLst/>
          </a:prstGeom>
        </p:spPr>
      </p:pic>
      <p:pic>
        <p:nvPicPr>
          <p:cNvPr id="40" name="Graphique 39" descr="Discours avec un remplissage uni">
            <a:extLst>
              <a:ext uri="{FF2B5EF4-FFF2-40B4-BE49-F238E27FC236}">
                <a16:creationId xmlns:a16="http://schemas.microsoft.com/office/drawing/2014/main" id="{DD3AED0A-EB44-C556-100C-161E8F459D4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515605" y="2576492"/>
            <a:ext cx="914400" cy="914400"/>
          </a:xfrm>
          <a:prstGeom prst="rect">
            <a:avLst/>
          </a:prstGeom>
        </p:spPr>
      </p:pic>
      <p:sp>
        <p:nvSpPr>
          <p:cNvPr id="41" name="Rectangle 40">
            <a:extLst>
              <a:ext uri="{FF2B5EF4-FFF2-40B4-BE49-F238E27FC236}">
                <a16:creationId xmlns:a16="http://schemas.microsoft.com/office/drawing/2014/main" id="{D0A9A0C1-BFD7-7C4B-C1EB-9973F8C1197C}"/>
              </a:ext>
            </a:extLst>
          </p:cNvPr>
          <p:cNvSpPr/>
          <p:nvPr/>
        </p:nvSpPr>
        <p:spPr>
          <a:xfrm>
            <a:off x="4428973" y="2274458"/>
            <a:ext cx="262316" cy="262316"/>
          </a:xfrm>
          <a:prstGeom prst="rect">
            <a:avLst/>
          </a:prstGeom>
          <a:solidFill>
            <a:srgbClr val="3494B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Rectangle 41">
            <a:extLst>
              <a:ext uri="{FF2B5EF4-FFF2-40B4-BE49-F238E27FC236}">
                <a16:creationId xmlns:a16="http://schemas.microsoft.com/office/drawing/2014/main" id="{5E87590C-BE1B-871F-172B-D445120FA68D}"/>
              </a:ext>
            </a:extLst>
          </p:cNvPr>
          <p:cNvSpPr/>
          <p:nvPr/>
        </p:nvSpPr>
        <p:spPr>
          <a:xfrm>
            <a:off x="4425048" y="2589850"/>
            <a:ext cx="262316" cy="262316"/>
          </a:xfrm>
          <a:prstGeom prst="rect">
            <a:avLst/>
          </a:prstGeom>
          <a:solidFill>
            <a:srgbClr val="3494B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Rectangle 42">
            <a:extLst>
              <a:ext uri="{FF2B5EF4-FFF2-40B4-BE49-F238E27FC236}">
                <a16:creationId xmlns:a16="http://schemas.microsoft.com/office/drawing/2014/main" id="{9C709A56-4585-B9E6-C7C0-3D9F9446958C}"/>
              </a:ext>
            </a:extLst>
          </p:cNvPr>
          <p:cNvSpPr/>
          <p:nvPr/>
        </p:nvSpPr>
        <p:spPr>
          <a:xfrm>
            <a:off x="4425048" y="2911749"/>
            <a:ext cx="262316" cy="262316"/>
          </a:xfrm>
          <a:prstGeom prst="rect">
            <a:avLst/>
          </a:prstGeom>
          <a:solidFill>
            <a:srgbClr val="3494B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Rectangle 44">
            <a:extLst>
              <a:ext uri="{FF2B5EF4-FFF2-40B4-BE49-F238E27FC236}">
                <a16:creationId xmlns:a16="http://schemas.microsoft.com/office/drawing/2014/main" id="{AE113559-8C0A-2AC2-C30D-3105075FA204}"/>
              </a:ext>
            </a:extLst>
          </p:cNvPr>
          <p:cNvSpPr/>
          <p:nvPr/>
        </p:nvSpPr>
        <p:spPr>
          <a:xfrm>
            <a:off x="4778947" y="227445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Rectangle 45">
            <a:extLst>
              <a:ext uri="{FF2B5EF4-FFF2-40B4-BE49-F238E27FC236}">
                <a16:creationId xmlns:a16="http://schemas.microsoft.com/office/drawing/2014/main" id="{44D2597C-FA32-58F1-A4D0-DBD9899BBB68}"/>
              </a:ext>
            </a:extLst>
          </p:cNvPr>
          <p:cNvSpPr/>
          <p:nvPr/>
        </p:nvSpPr>
        <p:spPr>
          <a:xfrm>
            <a:off x="4778947" y="2589850"/>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Rectangle 46">
            <a:extLst>
              <a:ext uri="{FF2B5EF4-FFF2-40B4-BE49-F238E27FC236}">
                <a16:creationId xmlns:a16="http://schemas.microsoft.com/office/drawing/2014/main" id="{C430A1EA-F7D5-2485-18F6-97CBA6506D48}"/>
              </a:ext>
            </a:extLst>
          </p:cNvPr>
          <p:cNvSpPr/>
          <p:nvPr/>
        </p:nvSpPr>
        <p:spPr>
          <a:xfrm>
            <a:off x="4778947" y="2902534"/>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 name="Rectangle 47">
            <a:extLst>
              <a:ext uri="{FF2B5EF4-FFF2-40B4-BE49-F238E27FC236}">
                <a16:creationId xmlns:a16="http://schemas.microsoft.com/office/drawing/2014/main" id="{2BBA2ECA-D78B-C7B6-56C9-AF763C2F865E}"/>
              </a:ext>
            </a:extLst>
          </p:cNvPr>
          <p:cNvSpPr/>
          <p:nvPr/>
        </p:nvSpPr>
        <p:spPr>
          <a:xfrm>
            <a:off x="5091952" y="227445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Rectangle 49">
            <a:extLst>
              <a:ext uri="{FF2B5EF4-FFF2-40B4-BE49-F238E27FC236}">
                <a16:creationId xmlns:a16="http://schemas.microsoft.com/office/drawing/2014/main" id="{BDEE0C07-0007-D0AA-649A-F96808608007}"/>
              </a:ext>
            </a:extLst>
          </p:cNvPr>
          <p:cNvSpPr/>
          <p:nvPr/>
        </p:nvSpPr>
        <p:spPr>
          <a:xfrm>
            <a:off x="5091952" y="2902534"/>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Rectangle 52">
            <a:extLst>
              <a:ext uri="{FF2B5EF4-FFF2-40B4-BE49-F238E27FC236}">
                <a16:creationId xmlns:a16="http://schemas.microsoft.com/office/drawing/2014/main" id="{C8955B6A-1D2C-0659-1E51-601EB3612CAD}"/>
              </a:ext>
            </a:extLst>
          </p:cNvPr>
          <p:cNvSpPr/>
          <p:nvPr/>
        </p:nvSpPr>
        <p:spPr>
          <a:xfrm>
            <a:off x="5395272" y="2902534"/>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Rectangle 53">
            <a:extLst>
              <a:ext uri="{FF2B5EF4-FFF2-40B4-BE49-F238E27FC236}">
                <a16:creationId xmlns:a16="http://schemas.microsoft.com/office/drawing/2014/main" id="{1F08E41F-1591-DE08-EDC8-ACDA76F40772}"/>
              </a:ext>
            </a:extLst>
          </p:cNvPr>
          <p:cNvSpPr/>
          <p:nvPr/>
        </p:nvSpPr>
        <p:spPr>
          <a:xfrm>
            <a:off x="6246506" y="235420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Rectangle 54">
            <a:extLst>
              <a:ext uri="{FF2B5EF4-FFF2-40B4-BE49-F238E27FC236}">
                <a16:creationId xmlns:a16="http://schemas.microsoft.com/office/drawing/2014/main" id="{202A1661-2B74-8BF6-BA1B-7DB4C3C3D313}"/>
              </a:ext>
            </a:extLst>
          </p:cNvPr>
          <p:cNvSpPr/>
          <p:nvPr/>
        </p:nvSpPr>
        <p:spPr>
          <a:xfrm>
            <a:off x="6559511" y="235420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Rectangle 55">
            <a:extLst>
              <a:ext uri="{FF2B5EF4-FFF2-40B4-BE49-F238E27FC236}">
                <a16:creationId xmlns:a16="http://schemas.microsoft.com/office/drawing/2014/main" id="{4DC6F51A-F3CF-EFB8-848B-ACFD205EE56D}"/>
              </a:ext>
            </a:extLst>
          </p:cNvPr>
          <p:cNvSpPr/>
          <p:nvPr/>
        </p:nvSpPr>
        <p:spPr>
          <a:xfrm>
            <a:off x="7047936" y="236278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Rectangle 56">
            <a:extLst>
              <a:ext uri="{FF2B5EF4-FFF2-40B4-BE49-F238E27FC236}">
                <a16:creationId xmlns:a16="http://schemas.microsoft.com/office/drawing/2014/main" id="{6779BB1F-53DC-D51A-E62E-162DCA4FC03E}"/>
              </a:ext>
            </a:extLst>
          </p:cNvPr>
          <p:cNvSpPr/>
          <p:nvPr/>
        </p:nvSpPr>
        <p:spPr>
          <a:xfrm>
            <a:off x="7360941" y="236278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Rectangle 57">
            <a:extLst>
              <a:ext uri="{FF2B5EF4-FFF2-40B4-BE49-F238E27FC236}">
                <a16:creationId xmlns:a16="http://schemas.microsoft.com/office/drawing/2014/main" id="{466D191A-589E-7117-B64C-AF5685269998}"/>
              </a:ext>
            </a:extLst>
          </p:cNvPr>
          <p:cNvSpPr/>
          <p:nvPr/>
        </p:nvSpPr>
        <p:spPr>
          <a:xfrm>
            <a:off x="7039185" y="2812795"/>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Rectangle 58">
            <a:extLst>
              <a:ext uri="{FF2B5EF4-FFF2-40B4-BE49-F238E27FC236}">
                <a16:creationId xmlns:a16="http://schemas.microsoft.com/office/drawing/2014/main" id="{5D4AFC98-67B2-3972-A562-40A7036B401B}"/>
              </a:ext>
            </a:extLst>
          </p:cNvPr>
          <p:cNvSpPr/>
          <p:nvPr/>
        </p:nvSpPr>
        <p:spPr>
          <a:xfrm>
            <a:off x="7352190" y="2812795"/>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Rectangle 59">
            <a:extLst>
              <a:ext uri="{FF2B5EF4-FFF2-40B4-BE49-F238E27FC236}">
                <a16:creationId xmlns:a16="http://schemas.microsoft.com/office/drawing/2014/main" id="{5D8B310B-2467-0EFD-1C5B-B1613B9D63BB}"/>
              </a:ext>
            </a:extLst>
          </p:cNvPr>
          <p:cNvSpPr/>
          <p:nvPr/>
        </p:nvSpPr>
        <p:spPr>
          <a:xfrm>
            <a:off x="6239051" y="2805351"/>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Rectangle 60">
            <a:extLst>
              <a:ext uri="{FF2B5EF4-FFF2-40B4-BE49-F238E27FC236}">
                <a16:creationId xmlns:a16="http://schemas.microsoft.com/office/drawing/2014/main" id="{C2CD291E-062B-05D3-4EF9-06A4E286A5BA}"/>
              </a:ext>
            </a:extLst>
          </p:cNvPr>
          <p:cNvSpPr/>
          <p:nvPr/>
        </p:nvSpPr>
        <p:spPr>
          <a:xfrm>
            <a:off x="6552056" y="2805351"/>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8" name="Groupe 67">
            <a:extLst>
              <a:ext uri="{FF2B5EF4-FFF2-40B4-BE49-F238E27FC236}">
                <a16:creationId xmlns:a16="http://schemas.microsoft.com/office/drawing/2014/main" id="{E1E5CC96-9297-051E-8C2A-CCE55643F5A0}"/>
              </a:ext>
            </a:extLst>
          </p:cNvPr>
          <p:cNvGrpSpPr/>
          <p:nvPr/>
        </p:nvGrpSpPr>
        <p:grpSpPr>
          <a:xfrm>
            <a:off x="10515705" y="2305169"/>
            <a:ext cx="512647" cy="342842"/>
            <a:chOff x="10347776" y="1928907"/>
            <a:chExt cx="878641" cy="587607"/>
          </a:xfrm>
        </p:grpSpPr>
        <p:sp>
          <p:nvSpPr>
            <p:cNvPr id="62" name="Rectangle 61">
              <a:extLst>
                <a:ext uri="{FF2B5EF4-FFF2-40B4-BE49-F238E27FC236}">
                  <a16:creationId xmlns:a16="http://schemas.microsoft.com/office/drawing/2014/main" id="{0F75C0B4-C23A-39F3-93E4-E66F2B8836AF}"/>
                </a:ext>
              </a:extLst>
            </p:cNvPr>
            <p:cNvSpPr/>
            <p:nvPr/>
          </p:nvSpPr>
          <p:spPr>
            <a:xfrm>
              <a:off x="10347776"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Rectangle 62">
              <a:extLst>
                <a:ext uri="{FF2B5EF4-FFF2-40B4-BE49-F238E27FC236}">
                  <a16:creationId xmlns:a16="http://schemas.microsoft.com/office/drawing/2014/main" id="{01371162-6C3E-18F8-5653-11441039ACC5}"/>
                </a:ext>
              </a:extLst>
            </p:cNvPr>
            <p:cNvSpPr/>
            <p:nvPr/>
          </p:nvSpPr>
          <p:spPr>
            <a:xfrm>
              <a:off x="10347776" y="224429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Rectangle 64">
              <a:extLst>
                <a:ext uri="{FF2B5EF4-FFF2-40B4-BE49-F238E27FC236}">
                  <a16:creationId xmlns:a16="http://schemas.microsoft.com/office/drawing/2014/main" id="{2646EE14-34CF-DC30-D831-A8BAB0B156D0}"/>
                </a:ext>
              </a:extLst>
            </p:cNvPr>
            <p:cNvSpPr/>
            <p:nvPr/>
          </p:nvSpPr>
          <p:spPr>
            <a:xfrm>
              <a:off x="10660781"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Rectangle 65">
              <a:extLst>
                <a:ext uri="{FF2B5EF4-FFF2-40B4-BE49-F238E27FC236}">
                  <a16:creationId xmlns:a16="http://schemas.microsoft.com/office/drawing/2014/main" id="{ECEC36F9-C7E3-E78E-D0E3-9050F9A3C741}"/>
                </a:ext>
              </a:extLst>
            </p:cNvPr>
            <p:cNvSpPr/>
            <p:nvPr/>
          </p:nvSpPr>
          <p:spPr>
            <a:xfrm>
              <a:off x="1066078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a:extLst>
                <a:ext uri="{FF2B5EF4-FFF2-40B4-BE49-F238E27FC236}">
                  <a16:creationId xmlns:a16="http://schemas.microsoft.com/office/drawing/2014/main" id="{57F23375-72DE-4AD2-C102-52DBC1306BF3}"/>
                </a:ext>
              </a:extLst>
            </p:cNvPr>
            <p:cNvSpPr/>
            <p:nvPr/>
          </p:nvSpPr>
          <p:spPr>
            <a:xfrm>
              <a:off x="1096410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9" name="Groupe 68">
            <a:extLst>
              <a:ext uri="{FF2B5EF4-FFF2-40B4-BE49-F238E27FC236}">
                <a16:creationId xmlns:a16="http://schemas.microsoft.com/office/drawing/2014/main" id="{ECF390E3-7A38-B909-BB5B-D4A3A7E4067E}"/>
              </a:ext>
            </a:extLst>
          </p:cNvPr>
          <p:cNvGrpSpPr/>
          <p:nvPr/>
        </p:nvGrpSpPr>
        <p:grpSpPr>
          <a:xfrm>
            <a:off x="10030125" y="2765087"/>
            <a:ext cx="521561" cy="342843"/>
            <a:chOff x="10347776" y="1928905"/>
            <a:chExt cx="893919" cy="587609"/>
          </a:xfrm>
        </p:grpSpPr>
        <p:sp>
          <p:nvSpPr>
            <p:cNvPr id="70" name="Rectangle 69">
              <a:extLst>
                <a:ext uri="{FF2B5EF4-FFF2-40B4-BE49-F238E27FC236}">
                  <a16:creationId xmlns:a16="http://schemas.microsoft.com/office/drawing/2014/main" id="{A38AA227-96A6-D2FF-FA6E-5D031D69FFC4}"/>
                </a:ext>
              </a:extLst>
            </p:cNvPr>
            <p:cNvSpPr/>
            <p:nvPr/>
          </p:nvSpPr>
          <p:spPr>
            <a:xfrm>
              <a:off x="10347776"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Rectangle 70">
              <a:extLst>
                <a:ext uri="{FF2B5EF4-FFF2-40B4-BE49-F238E27FC236}">
                  <a16:creationId xmlns:a16="http://schemas.microsoft.com/office/drawing/2014/main" id="{8E6A882F-996A-C28F-39FD-316EEB229855}"/>
                </a:ext>
              </a:extLst>
            </p:cNvPr>
            <p:cNvSpPr/>
            <p:nvPr/>
          </p:nvSpPr>
          <p:spPr>
            <a:xfrm>
              <a:off x="10347776" y="224429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Rectangle 71">
              <a:extLst>
                <a:ext uri="{FF2B5EF4-FFF2-40B4-BE49-F238E27FC236}">
                  <a16:creationId xmlns:a16="http://schemas.microsoft.com/office/drawing/2014/main" id="{1731B08F-1A66-67B3-3EB6-EC188DC3CC0B}"/>
                </a:ext>
              </a:extLst>
            </p:cNvPr>
            <p:cNvSpPr/>
            <p:nvPr/>
          </p:nvSpPr>
          <p:spPr>
            <a:xfrm>
              <a:off x="10660781"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Rectangle 72">
              <a:extLst>
                <a:ext uri="{FF2B5EF4-FFF2-40B4-BE49-F238E27FC236}">
                  <a16:creationId xmlns:a16="http://schemas.microsoft.com/office/drawing/2014/main" id="{446603FF-E629-4546-E45F-78812F07C0DD}"/>
                </a:ext>
              </a:extLst>
            </p:cNvPr>
            <p:cNvSpPr/>
            <p:nvPr/>
          </p:nvSpPr>
          <p:spPr>
            <a:xfrm>
              <a:off x="1066078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Rectangle 73">
              <a:extLst>
                <a:ext uri="{FF2B5EF4-FFF2-40B4-BE49-F238E27FC236}">
                  <a16:creationId xmlns:a16="http://schemas.microsoft.com/office/drawing/2014/main" id="{7657800C-D141-6998-A2EC-5957464CF573}"/>
                </a:ext>
              </a:extLst>
            </p:cNvPr>
            <p:cNvSpPr/>
            <p:nvPr/>
          </p:nvSpPr>
          <p:spPr>
            <a:xfrm>
              <a:off x="1096410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Rectangle 80">
              <a:extLst>
                <a:ext uri="{FF2B5EF4-FFF2-40B4-BE49-F238E27FC236}">
                  <a16:creationId xmlns:a16="http://schemas.microsoft.com/office/drawing/2014/main" id="{1BC027FC-3745-FF80-84E7-E4967758A6CB}"/>
                </a:ext>
              </a:extLst>
            </p:cNvPr>
            <p:cNvSpPr/>
            <p:nvPr/>
          </p:nvSpPr>
          <p:spPr>
            <a:xfrm>
              <a:off x="10979380" y="1928905"/>
              <a:ext cx="262315" cy="262315"/>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5" name="Groupe 74">
            <a:extLst>
              <a:ext uri="{FF2B5EF4-FFF2-40B4-BE49-F238E27FC236}">
                <a16:creationId xmlns:a16="http://schemas.microsoft.com/office/drawing/2014/main" id="{799BABF1-A05F-449D-E395-31AD785FCF61}"/>
              </a:ext>
            </a:extLst>
          </p:cNvPr>
          <p:cNvGrpSpPr/>
          <p:nvPr/>
        </p:nvGrpSpPr>
        <p:grpSpPr>
          <a:xfrm>
            <a:off x="10783990" y="3020447"/>
            <a:ext cx="335674" cy="337066"/>
            <a:chOff x="10347776" y="1928907"/>
            <a:chExt cx="575321" cy="577708"/>
          </a:xfrm>
        </p:grpSpPr>
        <p:sp>
          <p:nvSpPr>
            <p:cNvPr id="76" name="Rectangle 75">
              <a:extLst>
                <a:ext uri="{FF2B5EF4-FFF2-40B4-BE49-F238E27FC236}">
                  <a16:creationId xmlns:a16="http://schemas.microsoft.com/office/drawing/2014/main" id="{2C72ECFC-1C40-568A-AB25-D13538F0C016}"/>
                </a:ext>
              </a:extLst>
            </p:cNvPr>
            <p:cNvSpPr/>
            <p:nvPr/>
          </p:nvSpPr>
          <p:spPr>
            <a:xfrm>
              <a:off x="10347776"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Rectangle 76">
              <a:extLst>
                <a:ext uri="{FF2B5EF4-FFF2-40B4-BE49-F238E27FC236}">
                  <a16:creationId xmlns:a16="http://schemas.microsoft.com/office/drawing/2014/main" id="{FACE1C71-EA11-C345-CB8C-B9583DEB345E}"/>
                </a:ext>
              </a:extLst>
            </p:cNvPr>
            <p:cNvSpPr/>
            <p:nvPr/>
          </p:nvSpPr>
          <p:spPr>
            <a:xfrm>
              <a:off x="10347776" y="224429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Rectangle 77">
              <a:extLst>
                <a:ext uri="{FF2B5EF4-FFF2-40B4-BE49-F238E27FC236}">
                  <a16:creationId xmlns:a16="http://schemas.microsoft.com/office/drawing/2014/main" id="{D3F1F7AB-1C4C-D812-0671-1F3B109CADC6}"/>
                </a:ext>
              </a:extLst>
            </p:cNvPr>
            <p:cNvSpPr/>
            <p:nvPr/>
          </p:nvSpPr>
          <p:spPr>
            <a:xfrm>
              <a:off x="10660781"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83" name="Connecteur droit avec flèche 82">
            <a:extLst>
              <a:ext uri="{FF2B5EF4-FFF2-40B4-BE49-F238E27FC236}">
                <a16:creationId xmlns:a16="http://schemas.microsoft.com/office/drawing/2014/main" id="{B72696CC-21B7-D0D4-4781-62D9A30864D1}"/>
              </a:ext>
            </a:extLst>
          </p:cNvPr>
          <p:cNvCxnSpPr>
            <a:stCxn id="72" idx="0"/>
            <a:endCxn id="63" idx="1"/>
          </p:cNvCxnSpPr>
          <p:nvPr/>
        </p:nvCxnSpPr>
        <p:spPr>
          <a:xfrm flipV="1">
            <a:off x="10289274" y="2565711"/>
            <a:ext cx="226431" cy="19937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4" name="Connecteur droit avec flèche 83">
            <a:extLst>
              <a:ext uri="{FF2B5EF4-FFF2-40B4-BE49-F238E27FC236}">
                <a16:creationId xmlns:a16="http://schemas.microsoft.com/office/drawing/2014/main" id="{BD6616D3-DC91-4038-280D-2CF0D0A629A5}"/>
              </a:ext>
            </a:extLst>
          </p:cNvPr>
          <p:cNvCxnSpPr>
            <a:cxnSpLocks/>
            <a:stCxn id="74" idx="3"/>
            <a:endCxn id="76" idx="1"/>
          </p:cNvCxnSpPr>
          <p:nvPr/>
        </p:nvCxnSpPr>
        <p:spPr>
          <a:xfrm>
            <a:off x="10542772" y="3031406"/>
            <a:ext cx="241218" cy="6556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7" name="Connecteur droit avec flèche 86">
            <a:extLst>
              <a:ext uri="{FF2B5EF4-FFF2-40B4-BE49-F238E27FC236}">
                <a16:creationId xmlns:a16="http://schemas.microsoft.com/office/drawing/2014/main" id="{97324F36-437C-4F49-0541-ADAAC6566F0A}"/>
              </a:ext>
            </a:extLst>
          </p:cNvPr>
          <p:cNvCxnSpPr>
            <a:cxnSpLocks/>
            <a:stCxn id="73" idx="3"/>
            <a:endCxn id="67" idx="1"/>
          </p:cNvCxnSpPr>
          <p:nvPr/>
        </p:nvCxnSpPr>
        <p:spPr>
          <a:xfrm flipV="1">
            <a:off x="10365798" y="2571487"/>
            <a:ext cx="509505" cy="45991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3" name="Connecteur droit avec flèche 92">
            <a:extLst>
              <a:ext uri="{FF2B5EF4-FFF2-40B4-BE49-F238E27FC236}">
                <a16:creationId xmlns:a16="http://schemas.microsoft.com/office/drawing/2014/main" id="{613683E6-E43C-7E4A-736F-475B28AF937F}"/>
              </a:ext>
            </a:extLst>
          </p:cNvPr>
          <p:cNvCxnSpPr>
            <a:cxnSpLocks/>
            <a:stCxn id="65" idx="3"/>
            <a:endCxn id="73" idx="0"/>
          </p:cNvCxnSpPr>
          <p:nvPr/>
        </p:nvCxnSpPr>
        <p:spPr>
          <a:xfrm flipH="1">
            <a:off x="10289274" y="2381694"/>
            <a:ext cx="562104" cy="5731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6" name="Connecteur droit avec flèche 95">
            <a:extLst>
              <a:ext uri="{FF2B5EF4-FFF2-40B4-BE49-F238E27FC236}">
                <a16:creationId xmlns:a16="http://schemas.microsoft.com/office/drawing/2014/main" id="{A93F898A-4DDD-3672-FF56-0E49F34C829A}"/>
              </a:ext>
            </a:extLst>
          </p:cNvPr>
          <p:cNvCxnSpPr>
            <a:cxnSpLocks/>
            <a:stCxn id="78" idx="0"/>
            <a:endCxn id="62" idx="2"/>
          </p:cNvCxnSpPr>
          <p:nvPr/>
        </p:nvCxnSpPr>
        <p:spPr>
          <a:xfrm flipH="1" flipV="1">
            <a:off x="10592230" y="2458218"/>
            <a:ext cx="450909" cy="56222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3733634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E39779A-C1ED-741B-9817-5667FC3C8308}"/>
              </a:ext>
            </a:extLst>
          </p:cNvPr>
          <p:cNvSpPr>
            <a:spLocks noGrp="1"/>
          </p:cNvSpPr>
          <p:nvPr>
            <p:ph type="title"/>
          </p:nvPr>
        </p:nvSpPr>
        <p:spPr>
          <a:xfrm>
            <a:off x="1189424" y="365125"/>
            <a:ext cx="10164375" cy="1325563"/>
          </a:xfrm>
        </p:spPr>
        <p:txBody>
          <a:bodyPr>
            <a:normAutofit/>
          </a:bodyPr>
          <a:lstStyle/>
          <a:p>
            <a:r>
              <a:rPr lang="fr-FR" sz="2000" dirty="0"/>
              <a:t>Les méthodes de priorisation</a:t>
            </a:r>
            <a:br>
              <a:rPr lang="fr-FR" sz="2000" dirty="0"/>
            </a:br>
            <a:r>
              <a:rPr lang="fr-FR" sz="2000" dirty="0"/>
              <a:t>Exemples d’</a:t>
            </a:r>
            <a:r>
              <a:rPr lang="fr-FR" sz="2000" dirty="0">
                <a:solidFill>
                  <a:srgbClr val="00B050"/>
                </a:solidFill>
              </a:rPr>
              <a:t>avantages</a:t>
            </a:r>
            <a:r>
              <a:rPr lang="fr-FR" sz="2000" dirty="0"/>
              <a:t>, </a:t>
            </a:r>
            <a:r>
              <a:rPr lang="fr-FR" sz="2000" dirty="0">
                <a:solidFill>
                  <a:srgbClr val="FF0000"/>
                </a:solidFill>
              </a:rPr>
              <a:t>inconvénients</a:t>
            </a:r>
            <a:r>
              <a:rPr lang="fr-FR" sz="2000" dirty="0"/>
              <a:t>, </a:t>
            </a:r>
            <a:r>
              <a:rPr lang="fr-FR" sz="2000" dirty="0">
                <a:solidFill>
                  <a:srgbClr val="ED7D31"/>
                </a:solidFill>
              </a:rPr>
              <a:t>conditions favorables </a:t>
            </a:r>
            <a:r>
              <a:rPr lang="fr-FR" sz="2000" dirty="0"/>
              <a:t>par méthode de priorisation</a:t>
            </a:r>
          </a:p>
        </p:txBody>
      </p:sp>
      <p:pic>
        <p:nvPicPr>
          <p:cNvPr id="5" name="Graphique 4" descr="Filtrer avec un remplissage uni">
            <a:extLst>
              <a:ext uri="{FF2B5EF4-FFF2-40B4-BE49-F238E27FC236}">
                <a16:creationId xmlns:a16="http://schemas.microsoft.com/office/drawing/2014/main" id="{016F724A-6EE7-1D4E-7564-EBE12A0173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86975" y="525507"/>
            <a:ext cx="702450" cy="702450"/>
          </a:xfrm>
          <a:prstGeom prst="rect">
            <a:avLst/>
          </a:prstGeom>
        </p:spPr>
      </p:pic>
      <p:pic>
        <p:nvPicPr>
          <p:cNvPr id="6" name="Graphique 5" descr="Priorités avec un remplissage uni">
            <a:extLst>
              <a:ext uri="{FF2B5EF4-FFF2-40B4-BE49-F238E27FC236}">
                <a16:creationId xmlns:a16="http://schemas.microsoft.com/office/drawing/2014/main" id="{385DBD80-8723-84CC-C405-0B4D63B42D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37722" y="1102480"/>
            <a:ext cx="308784" cy="308784"/>
          </a:xfrm>
          <a:prstGeom prst="rect">
            <a:avLst/>
          </a:prstGeom>
        </p:spPr>
      </p:pic>
      <p:sp>
        <p:nvSpPr>
          <p:cNvPr id="7" name="Rectangle 6">
            <a:extLst>
              <a:ext uri="{FF2B5EF4-FFF2-40B4-BE49-F238E27FC236}">
                <a16:creationId xmlns:a16="http://schemas.microsoft.com/office/drawing/2014/main" id="{3EA6710E-8FE0-550E-4E53-2C5F830CBC3B}"/>
              </a:ext>
            </a:extLst>
          </p:cNvPr>
          <p:cNvSpPr/>
          <p:nvPr/>
        </p:nvSpPr>
        <p:spPr>
          <a:xfrm>
            <a:off x="4331471" y="2881760"/>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Priorisation </a:t>
            </a:r>
            <a:r>
              <a:rPr lang="fr-FR" sz="1100" dirty="0" err="1">
                <a:solidFill>
                  <a:schemeClr val="tx1"/>
                </a:solidFill>
              </a:rPr>
              <a:t>MoSCoW</a:t>
            </a:r>
            <a:r>
              <a:rPr lang="fr-FR" sz="1100" dirty="0">
                <a:solidFill>
                  <a:schemeClr val="tx1"/>
                </a:solidFill>
              </a:rPr>
              <a:t> ou par niveaux sur un seul axe</a:t>
            </a:r>
          </a:p>
        </p:txBody>
      </p:sp>
      <p:sp>
        <p:nvSpPr>
          <p:cNvPr id="8" name="Rectangle 7">
            <a:extLst>
              <a:ext uri="{FF2B5EF4-FFF2-40B4-BE49-F238E27FC236}">
                <a16:creationId xmlns:a16="http://schemas.microsoft.com/office/drawing/2014/main" id="{818954D2-975E-6816-4A10-1EBDE96A533A}"/>
              </a:ext>
            </a:extLst>
          </p:cNvPr>
          <p:cNvSpPr/>
          <p:nvPr/>
        </p:nvSpPr>
        <p:spPr>
          <a:xfrm>
            <a:off x="2562035" y="2881760"/>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Priorisation « Dot </a:t>
            </a:r>
            <a:r>
              <a:rPr lang="fr-FR" sz="1100" dirty="0" err="1">
                <a:solidFill>
                  <a:schemeClr val="tx1"/>
                </a:solidFill>
              </a:rPr>
              <a:t>Votting</a:t>
            </a:r>
            <a:r>
              <a:rPr lang="fr-FR" sz="1100" dirty="0">
                <a:solidFill>
                  <a:schemeClr val="tx1"/>
                </a:solidFill>
              </a:rPr>
              <a:t> », Consensus systémique</a:t>
            </a:r>
          </a:p>
        </p:txBody>
      </p:sp>
      <p:sp>
        <p:nvSpPr>
          <p:cNvPr id="9" name="Rectangle 8">
            <a:extLst>
              <a:ext uri="{FF2B5EF4-FFF2-40B4-BE49-F238E27FC236}">
                <a16:creationId xmlns:a16="http://schemas.microsoft.com/office/drawing/2014/main" id="{CA2B26AB-1CB2-016C-E425-4CAA64A75179}"/>
              </a:ext>
            </a:extLst>
          </p:cNvPr>
          <p:cNvSpPr/>
          <p:nvPr/>
        </p:nvSpPr>
        <p:spPr>
          <a:xfrm>
            <a:off x="6100907" y="2881762"/>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Priorisation cadran (2 critères) (Eisenhower,  Value </a:t>
            </a:r>
            <a:r>
              <a:rPr lang="fr-FR" sz="1100" dirty="0" err="1">
                <a:solidFill>
                  <a:schemeClr val="tx1"/>
                </a:solidFill>
              </a:rPr>
              <a:t>Cost</a:t>
            </a:r>
            <a:r>
              <a:rPr lang="fr-FR" sz="1100" dirty="0">
                <a:solidFill>
                  <a:schemeClr val="tx1"/>
                </a:solidFill>
              </a:rPr>
              <a:t>, etc.)</a:t>
            </a:r>
          </a:p>
        </p:txBody>
      </p:sp>
      <p:sp>
        <p:nvSpPr>
          <p:cNvPr id="10" name="Rectangle 9">
            <a:extLst>
              <a:ext uri="{FF2B5EF4-FFF2-40B4-BE49-F238E27FC236}">
                <a16:creationId xmlns:a16="http://schemas.microsoft.com/office/drawing/2014/main" id="{32EA25F1-21BC-2FEA-2FBF-BC5A292B6520}"/>
              </a:ext>
            </a:extLst>
          </p:cNvPr>
          <p:cNvSpPr/>
          <p:nvPr/>
        </p:nvSpPr>
        <p:spPr>
          <a:xfrm>
            <a:off x="7870343" y="2881761"/>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Priorisation </a:t>
            </a:r>
            <a:r>
              <a:rPr lang="fr-FR" sz="1100" dirty="0" err="1">
                <a:solidFill>
                  <a:schemeClr val="tx1"/>
                </a:solidFill>
              </a:rPr>
              <a:t>multi-critères</a:t>
            </a:r>
            <a:r>
              <a:rPr lang="fr-FR" sz="1100" dirty="0">
                <a:solidFill>
                  <a:schemeClr val="tx1"/>
                </a:solidFill>
              </a:rPr>
              <a:t> (RICE,…)</a:t>
            </a:r>
          </a:p>
        </p:txBody>
      </p:sp>
      <p:sp>
        <p:nvSpPr>
          <p:cNvPr id="11" name="Rectangle 10">
            <a:extLst>
              <a:ext uri="{FF2B5EF4-FFF2-40B4-BE49-F238E27FC236}">
                <a16:creationId xmlns:a16="http://schemas.microsoft.com/office/drawing/2014/main" id="{524BFB7A-6F0F-C032-880E-6B47F5979883}"/>
              </a:ext>
            </a:extLst>
          </p:cNvPr>
          <p:cNvSpPr/>
          <p:nvPr/>
        </p:nvSpPr>
        <p:spPr>
          <a:xfrm>
            <a:off x="792599" y="2881760"/>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Discussion libre</a:t>
            </a:r>
          </a:p>
        </p:txBody>
      </p:sp>
      <p:sp>
        <p:nvSpPr>
          <p:cNvPr id="15" name="Rectangle 14">
            <a:extLst>
              <a:ext uri="{FF2B5EF4-FFF2-40B4-BE49-F238E27FC236}">
                <a16:creationId xmlns:a16="http://schemas.microsoft.com/office/drawing/2014/main" id="{4BC8257D-3260-DA17-1472-B3B404BAACB1}"/>
              </a:ext>
            </a:extLst>
          </p:cNvPr>
          <p:cNvSpPr/>
          <p:nvPr/>
        </p:nvSpPr>
        <p:spPr>
          <a:xfrm>
            <a:off x="9639780" y="2881760"/>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Priorisation </a:t>
            </a:r>
            <a:r>
              <a:rPr lang="fr-FR" sz="1100" dirty="0" err="1">
                <a:solidFill>
                  <a:schemeClr val="tx1"/>
                </a:solidFill>
              </a:rPr>
              <a:t>multi-critères</a:t>
            </a:r>
            <a:r>
              <a:rPr lang="fr-FR" sz="1100" dirty="0">
                <a:solidFill>
                  <a:schemeClr val="tx1"/>
                </a:solidFill>
              </a:rPr>
              <a:t> avec lots, dépendances, </a:t>
            </a:r>
            <a:r>
              <a:rPr lang="fr-FR" sz="1100" dirty="0" err="1">
                <a:solidFill>
                  <a:schemeClr val="tx1"/>
                </a:solidFill>
              </a:rPr>
              <a:t>etc</a:t>
            </a:r>
            <a:endParaRPr lang="fr-FR" sz="1100" dirty="0">
              <a:solidFill>
                <a:schemeClr val="tx1"/>
              </a:solidFill>
            </a:endParaRPr>
          </a:p>
        </p:txBody>
      </p:sp>
      <p:sp>
        <p:nvSpPr>
          <p:cNvPr id="16" name="Rectangle 15">
            <a:extLst>
              <a:ext uri="{FF2B5EF4-FFF2-40B4-BE49-F238E27FC236}">
                <a16:creationId xmlns:a16="http://schemas.microsoft.com/office/drawing/2014/main" id="{548DA533-F119-B95B-673D-D1FF0F2CC4B3}"/>
              </a:ext>
            </a:extLst>
          </p:cNvPr>
          <p:cNvSpPr/>
          <p:nvPr/>
        </p:nvSpPr>
        <p:spPr>
          <a:xfrm>
            <a:off x="2705585" y="1737623"/>
            <a:ext cx="609600" cy="609600"/>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Rectangle 16">
            <a:extLst>
              <a:ext uri="{FF2B5EF4-FFF2-40B4-BE49-F238E27FC236}">
                <a16:creationId xmlns:a16="http://schemas.microsoft.com/office/drawing/2014/main" id="{B6910269-DD41-3195-9334-919C232F9EB1}"/>
              </a:ext>
            </a:extLst>
          </p:cNvPr>
          <p:cNvSpPr/>
          <p:nvPr/>
        </p:nvSpPr>
        <p:spPr>
          <a:xfrm>
            <a:off x="3406068" y="1432823"/>
            <a:ext cx="609600" cy="609600"/>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Rectangle 17">
            <a:extLst>
              <a:ext uri="{FF2B5EF4-FFF2-40B4-BE49-F238E27FC236}">
                <a16:creationId xmlns:a16="http://schemas.microsoft.com/office/drawing/2014/main" id="{9EF96751-EAB4-C404-C27B-BDB5E5A30104}"/>
              </a:ext>
            </a:extLst>
          </p:cNvPr>
          <p:cNvSpPr/>
          <p:nvPr/>
        </p:nvSpPr>
        <p:spPr>
          <a:xfrm>
            <a:off x="3406068" y="2121389"/>
            <a:ext cx="609600" cy="609600"/>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9" name="Graphique 18" descr="Sphères de Harvey 100% avec un remplissage uni">
            <a:extLst>
              <a:ext uri="{FF2B5EF4-FFF2-40B4-BE49-F238E27FC236}">
                <a16:creationId xmlns:a16="http://schemas.microsoft.com/office/drawing/2014/main" id="{78BF485E-DFB3-A3D3-2318-EDEA3AAA7DA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34693" y="2190629"/>
            <a:ext cx="180975" cy="180975"/>
          </a:xfrm>
          <a:prstGeom prst="rect">
            <a:avLst/>
          </a:prstGeom>
        </p:spPr>
      </p:pic>
      <p:pic>
        <p:nvPicPr>
          <p:cNvPr id="20" name="Graphique 19" descr="Sphères de Harvey 100% avec un remplissage uni">
            <a:extLst>
              <a:ext uri="{FF2B5EF4-FFF2-40B4-BE49-F238E27FC236}">
                <a16:creationId xmlns:a16="http://schemas.microsoft.com/office/drawing/2014/main" id="{DE8E66CB-4CE6-E3EC-E1DB-BD28DBB7DDD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743810" y="2322717"/>
            <a:ext cx="180975" cy="180975"/>
          </a:xfrm>
          <a:prstGeom prst="rect">
            <a:avLst/>
          </a:prstGeom>
        </p:spPr>
      </p:pic>
      <p:pic>
        <p:nvPicPr>
          <p:cNvPr id="21" name="Graphique 20" descr="Sphères de Harvey 100% avec un remplissage uni">
            <a:extLst>
              <a:ext uri="{FF2B5EF4-FFF2-40B4-BE49-F238E27FC236}">
                <a16:creationId xmlns:a16="http://schemas.microsoft.com/office/drawing/2014/main" id="{2C86F1E3-EFBB-AA8B-7C95-63DFD9B6F68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16834" y="1446612"/>
            <a:ext cx="180975" cy="180975"/>
          </a:xfrm>
          <a:prstGeom prst="rect">
            <a:avLst/>
          </a:prstGeom>
        </p:spPr>
      </p:pic>
      <p:pic>
        <p:nvPicPr>
          <p:cNvPr id="22" name="Graphique 21" descr="Sphères de Harvey 100% avec un remplissage uni">
            <a:extLst>
              <a:ext uri="{FF2B5EF4-FFF2-40B4-BE49-F238E27FC236}">
                <a16:creationId xmlns:a16="http://schemas.microsoft.com/office/drawing/2014/main" id="{0816BAE1-384B-BC43-00FB-02280BABA6D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905732" y="1600415"/>
            <a:ext cx="180975" cy="180975"/>
          </a:xfrm>
          <a:prstGeom prst="rect">
            <a:avLst/>
          </a:prstGeom>
        </p:spPr>
      </p:pic>
      <p:pic>
        <p:nvPicPr>
          <p:cNvPr id="23" name="Graphique 22" descr="Sphères de Harvey 100% avec un remplissage uni">
            <a:extLst>
              <a:ext uri="{FF2B5EF4-FFF2-40B4-BE49-F238E27FC236}">
                <a16:creationId xmlns:a16="http://schemas.microsoft.com/office/drawing/2014/main" id="{A078C231-A37E-484D-9535-573AC42706D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770796" y="1600415"/>
            <a:ext cx="180975" cy="180975"/>
          </a:xfrm>
          <a:prstGeom prst="rect">
            <a:avLst/>
          </a:prstGeom>
        </p:spPr>
      </p:pic>
      <p:pic>
        <p:nvPicPr>
          <p:cNvPr id="24" name="Graphique 23" descr="Sphères de Harvey 100% avec un remplissage uni">
            <a:extLst>
              <a:ext uri="{FF2B5EF4-FFF2-40B4-BE49-F238E27FC236}">
                <a16:creationId xmlns:a16="http://schemas.microsoft.com/office/drawing/2014/main" id="{25075768-11A8-1800-A12B-08DA21159D2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93232" y="1780107"/>
            <a:ext cx="180975" cy="180975"/>
          </a:xfrm>
          <a:prstGeom prst="rect">
            <a:avLst/>
          </a:prstGeom>
        </p:spPr>
      </p:pic>
      <p:pic>
        <p:nvPicPr>
          <p:cNvPr id="25" name="Graphique 24" descr="Sphères de Harvey 100% avec un remplissage uni">
            <a:extLst>
              <a:ext uri="{FF2B5EF4-FFF2-40B4-BE49-F238E27FC236}">
                <a16:creationId xmlns:a16="http://schemas.microsoft.com/office/drawing/2014/main" id="{4C6905FB-4781-0CA1-74EE-83CA6E6BF64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10385" y="1818620"/>
            <a:ext cx="180975" cy="180975"/>
          </a:xfrm>
          <a:prstGeom prst="rect">
            <a:avLst/>
          </a:prstGeom>
        </p:spPr>
      </p:pic>
      <p:cxnSp>
        <p:nvCxnSpPr>
          <p:cNvPr id="26" name="Connecteur droit avec flèche 25">
            <a:extLst>
              <a:ext uri="{FF2B5EF4-FFF2-40B4-BE49-F238E27FC236}">
                <a16:creationId xmlns:a16="http://schemas.microsoft.com/office/drawing/2014/main" id="{6E509C04-3D79-4039-DF02-109BF54901DF}"/>
              </a:ext>
            </a:extLst>
          </p:cNvPr>
          <p:cNvCxnSpPr/>
          <p:nvPr/>
        </p:nvCxnSpPr>
        <p:spPr>
          <a:xfrm flipV="1">
            <a:off x="4734410" y="1432823"/>
            <a:ext cx="0" cy="12981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Connecteur droit avec flèche 26">
            <a:extLst>
              <a:ext uri="{FF2B5EF4-FFF2-40B4-BE49-F238E27FC236}">
                <a16:creationId xmlns:a16="http://schemas.microsoft.com/office/drawing/2014/main" id="{4BAE4742-62D0-A30E-E9D0-6619600C17B4}"/>
              </a:ext>
            </a:extLst>
          </p:cNvPr>
          <p:cNvCxnSpPr/>
          <p:nvPr/>
        </p:nvCxnSpPr>
        <p:spPr>
          <a:xfrm flipV="1">
            <a:off x="6951706" y="1446612"/>
            <a:ext cx="0" cy="129816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Connecteur droit avec flèche 27">
            <a:extLst>
              <a:ext uri="{FF2B5EF4-FFF2-40B4-BE49-F238E27FC236}">
                <a16:creationId xmlns:a16="http://schemas.microsoft.com/office/drawing/2014/main" id="{32B09537-1960-C52F-7B2D-AC199213C4A8}"/>
              </a:ext>
            </a:extLst>
          </p:cNvPr>
          <p:cNvCxnSpPr>
            <a:cxnSpLocks/>
          </p:cNvCxnSpPr>
          <p:nvPr/>
        </p:nvCxnSpPr>
        <p:spPr>
          <a:xfrm flipH="1">
            <a:off x="6229835" y="2081906"/>
            <a:ext cx="1433119" cy="0"/>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aphicFrame>
        <p:nvGraphicFramePr>
          <p:cNvPr id="29" name="Tableau 36">
            <a:extLst>
              <a:ext uri="{FF2B5EF4-FFF2-40B4-BE49-F238E27FC236}">
                <a16:creationId xmlns:a16="http://schemas.microsoft.com/office/drawing/2014/main" id="{46F07DCB-4AA3-6DFB-22D8-43CCCF4A9CD2}"/>
              </a:ext>
            </a:extLst>
          </p:cNvPr>
          <p:cNvGraphicFramePr>
            <a:graphicFrameLocks noGrp="1"/>
          </p:cNvGraphicFramePr>
          <p:nvPr>
            <p:extLst>
              <p:ext uri="{D42A27DB-BD31-4B8C-83A1-F6EECF244321}">
                <p14:modId xmlns:p14="http://schemas.microsoft.com/office/powerpoint/2010/main" val="1034930225"/>
              </p:ext>
            </p:extLst>
          </p:nvPr>
        </p:nvGraphicFramePr>
        <p:xfrm>
          <a:off x="8043669" y="1737623"/>
          <a:ext cx="1311276" cy="670560"/>
        </p:xfrm>
        <a:graphic>
          <a:graphicData uri="http://schemas.openxmlformats.org/drawingml/2006/table">
            <a:tbl>
              <a:tblPr firstRow="1" firstCol="1" bandRow="1">
                <a:tableStyleId>{073A0DAA-6AF3-43AB-8588-CEC1D06C72B9}</a:tableStyleId>
              </a:tblPr>
              <a:tblGrid>
                <a:gridCol w="327819">
                  <a:extLst>
                    <a:ext uri="{9D8B030D-6E8A-4147-A177-3AD203B41FA5}">
                      <a16:colId xmlns:a16="http://schemas.microsoft.com/office/drawing/2014/main" val="3906225201"/>
                    </a:ext>
                  </a:extLst>
                </a:gridCol>
                <a:gridCol w="327819">
                  <a:extLst>
                    <a:ext uri="{9D8B030D-6E8A-4147-A177-3AD203B41FA5}">
                      <a16:colId xmlns:a16="http://schemas.microsoft.com/office/drawing/2014/main" val="3478846805"/>
                    </a:ext>
                  </a:extLst>
                </a:gridCol>
                <a:gridCol w="327819">
                  <a:extLst>
                    <a:ext uri="{9D8B030D-6E8A-4147-A177-3AD203B41FA5}">
                      <a16:colId xmlns:a16="http://schemas.microsoft.com/office/drawing/2014/main" val="2801750618"/>
                    </a:ext>
                  </a:extLst>
                </a:gridCol>
                <a:gridCol w="327819">
                  <a:extLst>
                    <a:ext uri="{9D8B030D-6E8A-4147-A177-3AD203B41FA5}">
                      <a16:colId xmlns:a16="http://schemas.microsoft.com/office/drawing/2014/main" val="1391058124"/>
                    </a:ext>
                  </a:extLst>
                </a:gridCol>
              </a:tblGrid>
              <a:tr h="0">
                <a:tc>
                  <a:txBody>
                    <a:bodyPr/>
                    <a:lstStyle/>
                    <a:p>
                      <a:endParaRPr lang="fr-FR" sz="500" dirty="0"/>
                    </a:p>
                  </a:txBody>
                  <a:tcPr/>
                </a:tc>
                <a:tc>
                  <a:txBody>
                    <a:bodyPr/>
                    <a:lstStyle/>
                    <a:p>
                      <a:endParaRPr lang="fr-FR" sz="500"/>
                    </a:p>
                  </a:txBody>
                  <a:tcPr/>
                </a:tc>
                <a:tc>
                  <a:txBody>
                    <a:bodyPr/>
                    <a:lstStyle/>
                    <a:p>
                      <a:endParaRPr lang="fr-FR" sz="500"/>
                    </a:p>
                  </a:txBody>
                  <a:tcPr/>
                </a:tc>
                <a:tc>
                  <a:txBody>
                    <a:bodyPr/>
                    <a:lstStyle/>
                    <a:p>
                      <a:endParaRPr lang="fr-FR" sz="500"/>
                    </a:p>
                  </a:txBody>
                  <a:tcPr/>
                </a:tc>
                <a:extLst>
                  <a:ext uri="{0D108BD9-81ED-4DB2-BD59-A6C34878D82A}">
                    <a16:rowId xmlns:a16="http://schemas.microsoft.com/office/drawing/2014/main" val="3024298102"/>
                  </a:ext>
                </a:extLst>
              </a:tr>
              <a:tr h="0">
                <a:tc>
                  <a:txBody>
                    <a:bodyPr/>
                    <a:lstStyle/>
                    <a:p>
                      <a:endParaRPr lang="fr-FR" sz="500" dirty="0"/>
                    </a:p>
                  </a:txBody>
                  <a:tcPr/>
                </a:tc>
                <a:tc>
                  <a:txBody>
                    <a:bodyPr/>
                    <a:lstStyle/>
                    <a:p>
                      <a:endParaRPr lang="fr-FR" sz="500" dirty="0"/>
                    </a:p>
                  </a:txBody>
                  <a:tcPr/>
                </a:tc>
                <a:tc>
                  <a:txBody>
                    <a:bodyPr/>
                    <a:lstStyle/>
                    <a:p>
                      <a:endParaRPr lang="fr-FR" sz="500"/>
                    </a:p>
                  </a:txBody>
                  <a:tcPr/>
                </a:tc>
                <a:tc>
                  <a:txBody>
                    <a:bodyPr/>
                    <a:lstStyle/>
                    <a:p>
                      <a:endParaRPr lang="fr-FR" sz="500"/>
                    </a:p>
                  </a:txBody>
                  <a:tcPr/>
                </a:tc>
                <a:extLst>
                  <a:ext uri="{0D108BD9-81ED-4DB2-BD59-A6C34878D82A}">
                    <a16:rowId xmlns:a16="http://schemas.microsoft.com/office/drawing/2014/main" val="1029895434"/>
                  </a:ext>
                </a:extLst>
              </a:tr>
              <a:tr h="0">
                <a:tc>
                  <a:txBody>
                    <a:bodyPr/>
                    <a:lstStyle/>
                    <a:p>
                      <a:endParaRPr lang="fr-FR" sz="500"/>
                    </a:p>
                  </a:txBody>
                  <a:tcPr/>
                </a:tc>
                <a:tc>
                  <a:txBody>
                    <a:bodyPr/>
                    <a:lstStyle/>
                    <a:p>
                      <a:endParaRPr lang="fr-FR" sz="500"/>
                    </a:p>
                  </a:txBody>
                  <a:tcPr/>
                </a:tc>
                <a:tc>
                  <a:txBody>
                    <a:bodyPr/>
                    <a:lstStyle/>
                    <a:p>
                      <a:endParaRPr lang="fr-FR" sz="500" dirty="0"/>
                    </a:p>
                  </a:txBody>
                  <a:tcPr/>
                </a:tc>
                <a:tc>
                  <a:txBody>
                    <a:bodyPr/>
                    <a:lstStyle/>
                    <a:p>
                      <a:endParaRPr lang="fr-FR" sz="500"/>
                    </a:p>
                  </a:txBody>
                  <a:tcPr/>
                </a:tc>
                <a:extLst>
                  <a:ext uri="{0D108BD9-81ED-4DB2-BD59-A6C34878D82A}">
                    <a16:rowId xmlns:a16="http://schemas.microsoft.com/office/drawing/2014/main" val="947297657"/>
                  </a:ext>
                </a:extLst>
              </a:tr>
              <a:tr h="0">
                <a:tc>
                  <a:txBody>
                    <a:bodyPr/>
                    <a:lstStyle/>
                    <a:p>
                      <a:endParaRPr lang="fr-FR" sz="500"/>
                    </a:p>
                  </a:txBody>
                  <a:tcPr/>
                </a:tc>
                <a:tc>
                  <a:txBody>
                    <a:bodyPr/>
                    <a:lstStyle/>
                    <a:p>
                      <a:endParaRPr lang="fr-FR" sz="500"/>
                    </a:p>
                  </a:txBody>
                  <a:tcPr/>
                </a:tc>
                <a:tc>
                  <a:txBody>
                    <a:bodyPr/>
                    <a:lstStyle/>
                    <a:p>
                      <a:endParaRPr lang="fr-FR" sz="500"/>
                    </a:p>
                  </a:txBody>
                  <a:tcPr/>
                </a:tc>
                <a:tc>
                  <a:txBody>
                    <a:bodyPr/>
                    <a:lstStyle/>
                    <a:p>
                      <a:endParaRPr lang="fr-FR" sz="500" dirty="0"/>
                    </a:p>
                  </a:txBody>
                  <a:tcPr/>
                </a:tc>
                <a:extLst>
                  <a:ext uri="{0D108BD9-81ED-4DB2-BD59-A6C34878D82A}">
                    <a16:rowId xmlns:a16="http://schemas.microsoft.com/office/drawing/2014/main" val="2617191859"/>
                  </a:ext>
                </a:extLst>
              </a:tr>
            </a:tbl>
          </a:graphicData>
        </a:graphic>
      </p:graphicFrame>
      <p:pic>
        <p:nvPicPr>
          <p:cNvPr id="30" name="Graphique 29" descr="Bulle de discussion avec un remplissage uni">
            <a:extLst>
              <a:ext uri="{FF2B5EF4-FFF2-40B4-BE49-F238E27FC236}">
                <a16:creationId xmlns:a16="http://schemas.microsoft.com/office/drawing/2014/main" id="{5B92EDB2-388C-61E5-DCAC-40E8F8FD2D7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50610" y="1638495"/>
            <a:ext cx="914400" cy="914400"/>
          </a:xfrm>
          <a:prstGeom prst="rect">
            <a:avLst/>
          </a:prstGeom>
        </p:spPr>
      </p:pic>
      <p:pic>
        <p:nvPicPr>
          <p:cNvPr id="31" name="Graphique 30" descr="Discours avec un remplissage uni">
            <a:extLst>
              <a:ext uri="{FF2B5EF4-FFF2-40B4-BE49-F238E27FC236}">
                <a16:creationId xmlns:a16="http://schemas.microsoft.com/office/drawing/2014/main" id="{B7010463-F6AA-C192-93AF-D2E678D365E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510813" y="1950983"/>
            <a:ext cx="914400" cy="914400"/>
          </a:xfrm>
          <a:prstGeom prst="rect">
            <a:avLst/>
          </a:prstGeom>
        </p:spPr>
      </p:pic>
      <p:sp>
        <p:nvSpPr>
          <p:cNvPr id="32" name="Rectangle 31">
            <a:extLst>
              <a:ext uri="{FF2B5EF4-FFF2-40B4-BE49-F238E27FC236}">
                <a16:creationId xmlns:a16="http://schemas.microsoft.com/office/drawing/2014/main" id="{65342E27-DF64-CD65-FC17-C54A54A2AF75}"/>
              </a:ext>
            </a:extLst>
          </p:cNvPr>
          <p:cNvSpPr/>
          <p:nvPr/>
        </p:nvSpPr>
        <p:spPr>
          <a:xfrm>
            <a:off x="4424181" y="1648949"/>
            <a:ext cx="262316" cy="262316"/>
          </a:xfrm>
          <a:prstGeom prst="rect">
            <a:avLst/>
          </a:prstGeom>
          <a:solidFill>
            <a:srgbClr val="3494B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a:extLst>
              <a:ext uri="{FF2B5EF4-FFF2-40B4-BE49-F238E27FC236}">
                <a16:creationId xmlns:a16="http://schemas.microsoft.com/office/drawing/2014/main" id="{A7DBEE62-95B1-0EDD-7377-7E7835427254}"/>
              </a:ext>
            </a:extLst>
          </p:cNvPr>
          <p:cNvSpPr/>
          <p:nvPr/>
        </p:nvSpPr>
        <p:spPr>
          <a:xfrm>
            <a:off x="4420256" y="1964341"/>
            <a:ext cx="262316" cy="262316"/>
          </a:xfrm>
          <a:prstGeom prst="rect">
            <a:avLst/>
          </a:prstGeom>
          <a:solidFill>
            <a:srgbClr val="3494B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Rectangle 33">
            <a:extLst>
              <a:ext uri="{FF2B5EF4-FFF2-40B4-BE49-F238E27FC236}">
                <a16:creationId xmlns:a16="http://schemas.microsoft.com/office/drawing/2014/main" id="{66323F90-89A1-BD49-F535-039D12E07911}"/>
              </a:ext>
            </a:extLst>
          </p:cNvPr>
          <p:cNvSpPr/>
          <p:nvPr/>
        </p:nvSpPr>
        <p:spPr>
          <a:xfrm>
            <a:off x="4420256" y="2286240"/>
            <a:ext cx="262316" cy="262316"/>
          </a:xfrm>
          <a:prstGeom prst="rect">
            <a:avLst/>
          </a:prstGeom>
          <a:solidFill>
            <a:srgbClr val="3494B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Rectangle 34">
            <a:extLst>
              <a:ext uri="{FF2B5EF4-FFF2-40B4-BE49-F238E27FC236}">
                <a16:creationId xmlns:a16="http://schemas.microsoft.com/office/drawing/2014/main" id="{286A7B84-F6FC-B484-80F7-BD2E20901833}"/>
              </a:ext>
            </a:extLst>
          </p:cNvPr>
          <p:cNvSpPr/>
          <p:nvPr/>
        </p:nvSpPr>
        <p:spPr>
          <a:xfrm>
            <a:off x="4774155" y="164894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Rectangle 35">
            <a:extLst>
              <a:ext uri="{FF2B5EF4-FFF2-40B4-BE49-F238E27FC236}">
                <a16:creationId xmlns:a16="http://schemas.microsoft.com/office/drawing/2014/main" id="{B1B034A2-3666-04AB-0603-DDE9B7715E87}"/>
              </a:ext>
            </a:extLst>
          </p:cNvPr>
          <p:cNvSpPr/>
          <p:nvPr/>
        </p:nvSpPr>
        <p:spPr>
          <a:xfrm>
            <a:off x="4774155" y="1964341"/>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Rectangle 36">
            <a:extLst>
              <a:ext uri="{FF2B5EF4-FFF2-40B4-BE49-F238E27FC236}">
                <a16:creationId xmlns:a16="http://schemas.microsoft.com/office/drawing/2014/main" id="{225E7DD7-65A1-42EA-F364-AFBFE3334D6C}"/>
              </a:ext>
            </a:extLst>
          </p:cNvPr>
          <p:cNvSpPr/>
          <p:nvPr/>
        </p:nvSpPr>
        <p:spPr>
          <a:xfrm>
            <a:off x="4774155" y="2277025"/>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Rectangle 37">
            <a:extLst>
              <a:ext uri="{FF2B5EF4-FFF2-40B4-BE49-F238E27FC236}">
                <a16:creationId xmlns:a16="http://schemas.microsoft.com/office/drawing/2014/main" id="{647FC8CC-5E6C-7E83-64BF-94D54031479C}"/>
              </a:ext>
            </a:extLst>
          </p:cNvPr>
          <p:cNvSpPr/>
          <p:nvPr/>
        </p:nvSpPr>
        <p:spPr>
          <a:xfrm>
            <a:off x="5087160" y="164894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Rectangle 38">
            <a:extLst>
              <a:ext uri="{FF2B5EF4-FFF2-40B4-BE49-F238E27FC236}">
                <a16:creationId xmlns:a16="http://schemas.microsoft.com/office/drawing/2014/main" id="{DE59265E-CA2E-774A-3229-97B203C4228E}"/>
              </a:ext>
            </a:extLst>
          </p:cNvPr>
          <p:cNvSpPr/>
          <p:nvPr/>
        </p:nvSpPr>
        <p:spPr>
          <a:xfrm>
            <a:off x="5087160" y="2277025"/>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Rectangle 39">
            <a:extLst>
              <a:ext uri="{FF2B5EF4-FFF2-40B4-BE49-F238E27FC236}">
                <a16:creationId xmlns:a16="http://schemas.microsoft.com/office/drawing/2014/main" id="{08D73A30-B657-A0CD-2153-F6D3FA872413}"/>
              </a:ext>
            </a:extLst>
          </p:cNvPr>
          <p:cNvSpPr/>
          <p:nvPr/>
        </p:nvSpPr>
        <p:spPr>
          <a:xfrm>
            <a:off x="5390480" y="2277025"/>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Rectangle 40">
            <a:extLst>
              <a:ext uri="{FF2B5EF4-FFF2-40B4-BE49-F238E27FC236}">
                <a16:creationId xmlns:a16="http://schemas.microsoft.com/office/drawing/2014/main" id="{CE204B78-0CEE-8C89-0CE4-E1DD6D5BDE29}"/>
              </a:ext>
            </a:extLst>
          </p:cNvPr>
          <p:cNvSpPr/>
          <p:nvPr/>
        </p:nvSpPr>
        <p:spPr>
          <a:xfrm>
            <a:off x="6241714" y="172869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Rectangle 41">
            <a:extLst>
              <a:ext uri="{FF2B5EF4-FFF2-40B4-BE49-F238E27FC236}">
                <a16:creationId xmlns:a16="http://schemas.microsoft.com/office/drawing/2014/main" id="{05EA614B-15AE-DFC8-F29F-EF4C23D819BE}"/>
              </a:ext>
            </a:extLst>
          </p:cNvPr>
          <p:cNvSpPr/>
          <p:nvPr/>
        </p:nvSpPr>
        <p:spPr>
          <a:xfrm>
            <a:off x="6554719" y="172869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Rectangle 42">
            <a:extLst>
              <a:ext uri="{FF2B5EF4-FFF2-40B4-BE49-F238E27FC236}">
                <a16:creationId xmlns:a16="http://schemas.microsoft.com/office/drawing/2014/main" id="{EDEFCEC8-BB82-BC07-A572-9DDDC2ABAD6B}"/>
              </a:ext>
            </a:extLst>
          </p:cNvPr>
          <p:cNvSpPr/>
          <p:nvPr/>
        </p:nvSpPr>
        <p:spPr>
          <a:xfrm>
            <a:off x="7043144" y="173727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Rectangle 43">
            <a:extLst>
              <a:ext uri="{FF2B5EF4-FFF2-40B4-BE49-F238E27FC236}">
                <a16:creationId xmlns:a16="http://schemas.microsoft.com/office/drawing/2014/main" id="{19235926-CC42-315E-21ED-40EB8AC31447}"/>
              </a:ext>
            </a:extLst>
          </p:cNvPr>
          <p:cNvSpPr/>
          <p:nvPr/>
        </p:nvSpPr>
        <p:spPr>
          <a:xfrm>
            <a:off x="7356149" y="173727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Rectangle 44">
            <a:extLst>
              <a:ext uri="{FF2B5EF4-FFF2-40B4-BE49-F238E27FC236}">
                <a16:creationId xmlns:a16="http://schemas.microsoft.com/office/drawing/2014/main" id="{56976C77-B164-B917-DF9C-2CF29F1B728C}"/>
              </a:ext>
            </a:extLst>
          </p:cNvPr>
          <p:cNvSpPr/>
          <p:nvPr/>
        </p:nvSpPr>
        <p:spPr>
          <a:xfrm>
            <a:off x="7034393" y="2187286"/>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Rectangle 45">
            <a:extLst>
              <a:ext uri="{FF2B5EF4-FFF2-40B4-BE49-F238E27FC236}">
                <a16:creationId xmlns:a16="http://schemas.microsoft.com/office/drawing/2014/main" id="{DBBB0BDB-ACAD-9B1F-520D-4D851D917CC2}"/>
              </a:ext>
            </a:extLst>
          </p:cNvPr>
          <p:cNvSpPr/>
          <p:nvPr/>
        </p:nvSpPr>
        <p:spPr>
          <a:xfrm>
            <a:off x="7347398" y="2187286"/>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Rectangle 46">
            <a:extLst>
              <a:ext uri="{FF2B5EF4-FFF2-40B4-BE49-F238E27FC236}">
                <a16:creationId xmlns:a16="http://schemas.microsoft.com/office/drawing/2014/main" id="{12A62F43-3350-E250-3B3D-F424B154890F}"/>
              </a:ext>
            </a:extLst>
          </p:cNvPr>
          <p:cNvSpPr/>
          <p:nvPr/>
        </p:nvSpPr>
        <p:spPr>
          <a:xfrm>
            <a:off x="6234259" y="2179842"/>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 name="Rectangle 47">
            <a:extLst>
              <a:ext uri="{FF2B5EF4-FFF2-40B4-BE49-F238E27FC236}">
                <a16:creationId xmlns:a16="http://schemas.microsoft.com/office/drawing/2014/main" id="{AD7B8C37-6682-F1D1-01A7-818370537EC6}"/>
              </a:ext>
            </a:extLst>
          </p:cNvPr>
          <p:cNvSpPr/>
          <p:nvPr/>
        </p:nvSpPr>
        <p:spPr>
          <a:xfrm>
            <a:off x="6547264" y="2179842"/>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 name="Groupe 48">
            <a:extLst>
              <a:ext uri="{FF2B5EF4-FFF2-40B4-BE49-F238E27FC236}">
                <a16:creationId xmlns:a16="http://schemas.microsoft.com/office/drawing/2014/main" id="{7FB08BD8-6688-FB2D-D269-F6512E4EAAA2}"/>
              </a:ext>
            </a:extLst>
          </p:cNvPr>
          <p:cNvGrpSpPr/>
          <p:nvPr/>
        </p:nvGrpSpPr>
        <p:grpSpPr>
          <a:xfrm>
            <a:off x="10384532" y="1669289"/>
            <a:ext cx="512647" cy="342842"/>
            <a:chOff x="10347776" y="1928907"/>
            <a:chExt cx="878641" cy="587607"/>
          </a:xfrm>
        </p:grpSpPr>
        <p:sp>
          <p:nvSpPr>
            <p:cNvPr id="50" name="Rectangle 49">
              <a:extLst>
                <a:ext uri="{FF2B5EF4-FFF2-40B4-BE49-F238E27FC236}">
                  <a16:creationId xmlns:a16="http://schemas.microsoft.com/office/drawing/2014/main" id="{9A8B8665-BDF4-BC8E-FDA1-DBEE31D84C8A}"/>
                </a:ext>
              </a:extLst>
            </p:cNvPr>
            <p:cNvSpPr/>
            <p:nvPr/>
          </p:nvSpPr>
          <p:spPr>
            <a:xfrm>
              <a:off x="10347776"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Rectangle 50">
              <a:extLst>
                <a:ext uri="{FF2B5EF4-FFF2-40B4-BE49-F238E27FC236}">
                  <a16:creationId xmlns:a16="http://schemas.microsoft.com/office/drawing/2014/main" id="{776D6489-AE35-F44A-9B98-A6296E58C58D}"/>
                </a:ext>
              </a:extLst>
            </p:cNvPr>
            <p:cNvSpPr/>
            <p:nvPr/>
          </p:nvSpPr>
          <p:spPr>
            <a:xfrm>
              <a:off x="10347776" y="224429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Rectangle 51">
              <a:extLst>
                <a:ext uri="{FF2B5EF4-FFF2-40B4-BE49-F238E27FC236}">
                  <a16:creationId xmlns:a16="http://schemas.microsoft.com/office/drawing/2014/main" id="{8F678D28-5E9C-7A5F-0334-BBA58E6FE252}"/>
                </a:ext>
              </a:extLst>
            </p:cNvPr>
            <p:cNvSpPr/>
            <p:nvPr/>
          </p:nvSpPr>
          <p:spPr>
            <a:xfrm>
              <a:off x="10660781"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Rectangle 52">
              <a:extLst>
                <a:ext uri="{FF2B5EF4-FFF2-40B4-BE49-F238E27FC236}">
                  <a16:creationId xmlns:a16="http://schemas.microsoft.com/office/drawing/2014/main" id="{3656FACE-781E-E181-B2DE-8A42ED0EEB62}"/>
                </a:ext>
              </a:extLst>
            </p:cNvPr>
            <p:cNvSpPr/>
            <p:nvPr/>
          </p:nvSpPr>
          <p:spPr>
            <a:xfrm>
              <a:off x="1066078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Rectangle 53">
              <a:extLst>
                <a:ext uri="{FF2B5EF4-FFF2-40B4-BE49-F238E27FC236}">
                  <a16:creationId xmlns:a16="http://schemas.microsoft.com/office/drawing/2014/main" id="{C477D665-EFD1-6927-7D74-A0EEC0CFCE9D}"/>
                </a:ext>
              </a:extLst>
            </p:cNvPr>
            <p:cNvSpPr/>
            <p:nvPr/>
          </p:nvSpPr>
          <p:spPr>
            <a:xfrm>
              <a:off x="1096410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 name="Groupe 54">
            <a:extLst>
              <a:ext uri="{FF2B5EF4-FFF2-40B4-BE49-F238E27FC236}">
                <a16:creationId xmlns:a16="http://schemas.microsoft.com/office/drawing/2014/main" id="{CE1559FB-9663-01CF-2B7F-07293B32AB8D}"/>
              </a:ext>
            </a:extLst>
          </p:cNvPr>
          <p:cNvGrpSpPr/>
          <p:nvPr/>
        </p:nvGrpSpPr>
        <p:grpSpPr>
          <a:xfrm>
            <a:off x="9898952" y="2129207"/>
            <a:ext cx="521561" cy="342843"/>
            <a:chOff x="10347776" y="1928905"/>
            <a:chExt cx="893919" cy="587609"/>
          </a:xfrm>
        </p:grpSpPr>
        <p:sp>
          <p:nvSpPr>
            <p:cNvPr id="56" name="Rectangle 55">
              <a:extLst>
                <a:ext uri="{FF2B5EF4-FFF2-40B4-BE49-F238E27FC236}">
                  <a16:creationId xmlns:a16="http://schemas.microsoft.com/office/drawing/2014/main" id="{F031B0F7-593F-691E-5B40-6CB36158C4EA}"/>
                </a:ext>
              </a:extLst>
            </p:cNvPr>
            <p:cNvSpPr/>
            <p:nvPr/>
          </p:nvSpPr>
          <p:spPr>
            <a:xfrm>
              <a:off x="10347776"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Rectangle 56">
              <a:extLst>
                <a:ext uri="{FF2B5EF4-FFF2-40B4-BE49-F238E27FC236}">
                  <a16:creationId xmlns:a16="http://schemas.microsoft.com/office/drawing/2014/main" id="{7B8127C7-9ABC-86AC-8892-22D7837ADB10}"/>
                </a:ext>
              </a:extLst>
            </p:cNvPr>
            <p:cNvSpPr/>
            <p:nvPr/>
          </p:nvSpPr>
          <p:spPr>
            <a:xfrm>
              <a:off x="10347776" y="224429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Rectangle 57">
              <a:extLst>
                <a:ext uri="{FF2B5EF4-FFF2-40B4-BE49-F238E27FC236}">
                  <a16:creationId xmlns:a16="http://schemas.microsoft.com/office/drawing/2014/main" id="{485F53F8-9229-C867-4698-51D6A351C42D}"/>
                </a:ext>
              </a:extLst>
            </p:cNvPr>
            <p:cNvSpPr/>
            <p:nvPr/>
          </p:nvSpPr>
          <p:spPr>
            <a:xfrm>
              <a:off x="10660781"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Rectangle 58">
              <a:extLst>
                <a:ext uri="{FF2B5EF4-FFF2-40B4-BE49-F238E27FC236}">
                  <a16:creationId xmlns:a16="http://schemas.microsoft.com/office/drawing/2014/main" id="{EDE4FA84-C125-F019-F7E4-3E7341AC9B97}"/>
                </a:ext>
              </a:extLst>
            </p:cNvPr>
            <p:cNvSpPr/>
            <p:nvPr/>
          </p:nvSpPr>
          <p:spPr>
            <a:xfrm>
              <a:off x="1066078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Rectangle 59">
              <a:extLst>
                <a:ext uri="{FF2B5EF4-FFF2-40B4-BE49-F238E27FC236}">
                  <a16:creationId xmlns:a16="http://schemas.microsoft.com/office/drawing/2014/main" id="{A1003EC4-2875-FD94-6CE7-B53F5260F553}"/>
                </a:ext>
              </a:extLst>
            </p:cNvPr>
            <p:cNvSpPr/>
            <p:nvPr/>
          </p:nvSpPr>
          <p:spPr>
            <a:xfrm>
              <a:off x="1096410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Rectangle 60">
              <a:extLst>
                <a:ext uri="{FF2B5EF4-FFF2-40B4-BE49-F238E27FC236}">
                  <a16:creationId xmlns:a16="http://schemas.microsoft.com/office/drawing/2014/main" id="{94C95B3B-B95C-4BB6-9E35-31146C1DAD69}"/>
                </a:ext>
              </a:extLst>
            </p:cNvPr>
            <p:cNvSpPr/>
            <p:nvPr/>
          </p:nvSpPr>
          <p:spPr>
            <a:xfrm>
              <a:off x="10979380" y="1928905"/>
              <a:ext cx="262315" cy="262315"/>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2" name="Groupe 61">
            <a:extLst>
              <a:ext uri="{FF2B5EF4-FFF2-40B4-BE49-F238E27FC236}">
                <a16:creationId xmlns:a16="http://schemas.microsoft.com/office/drawing/2014/main" id="{0C4E2D94-A27F-A362-E583-0B96C9F0B674}"/>
              </a:ext>
            </a:extLst>
          </p:cNvPr>
          <p:cNvGrpSpPr/>
          <p:nvPr/>
        </p:nvGrpSpPr>
        <p:grpSpPr>
          <a:xfrm>
            <a:off x="10652817" y="2384567"/>
            <a:ext cx="335674" cy="337066"/>
            <a:chOff x="10347776" y="1928907"/>
            <a:chExt cx="575321" cy="577708"/>
          </a:xfrm>
        </p:grpSpPr>
        <p:sp>
          <p:nvSpPr>
            <p:cNvPr id="63" name="Rectangle 62">
              <a:extLst>
                <a:ext uri="{FF2B5EF4-FFF2-40B4-BE49-F238E27FC236}">
                  <a16:creationId xmlns:a16="http://schemas.microsoft.com/office/drawing/2014/main" id="{657E493B-60A1-FA57-C9CC-678DFE13119A}"/>
                </a:ext>
              </a:extLst>
            </p:cNvPr>
            <p:cNvSpPr/>
            <p:nvPr/>
          </p:nvSpPr>
          <p:spPr>
            <a:xfrm>
              <a:off x="10347776"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Rectangle 63">
              <a:extLst>
                <a:ext uri="{FF2B5EF4-FFF2-40B4-BE49-F238E27FC236}">
                  <a16:creationId xmlns:a16="http://schemas.microsoft.com/office/drawing/2014/main" id="{6081605B-2342-2559-BD63-2C598463676A}"/>
                </a:ext>
              </a:extLst>
            </p:cNvPr>
            <p:cNvSpPr/>
            <p:nvPr/>
          </p:nvSpPr>
          <p:spPr>
            <a:xfrm>
              <a:off x="10347776" y="224429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Rectangle 64">
              <a:extLst>
                <a:ext uri="{FF2B5EF4-FFF2-40B4-BE49-F238E27FC236}">
                  <a16:creationId xmlns:a16="http://schemas.microsoft.com/office/drawing/2014/main" id="{09C7ABE3-8541-C150-6B56-06DD3F471473}"/>
                </a:ext>
              </a:extLst>
            </p:cNvPr>
            <p:cNvSpPr/>
            <p:nvPr/>
          </p:nvSpPr>
          <p:spPr>
            <a:xfrm>
              <a:off x="10660781"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6" name="Connecteur droit avec flèche 65">
            <a:extLst>
              <a:ext uri="{FF2B5EF4-FFF2-40B4-BE49-F238E27FC236}">
                <a16:creationId xmlns:a16="http://schemas.microsoft.com/office/drawing/2014/main" id="{199138CC-34A8-938D-FF5A-736CB493A53C}"/>
              </a:ext>
            </a:extLst>
          </p:cNvPr>
          <p:cNvCxnSpPr>
            <a:stCxn id="58" idx="0"/>
            <a:endCxn id="51" idx="1"/>
          </p:cNvCxnSpPr>
          <p:nvPr/>
        </p:nvCxnSpPr>
        <p:spPr>
          <a:xfrm flipV="1">
            <a:off x="10158101" y="1929831"/>
            <a:ext cx="226431" cy="19937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7" name="Connecteur droit avec flèche 66">
            <a:extLst>
              <a:ext uri="{FF2B5EF4-FFF2-40B4-BE49-F238E27FC236}">
                <a16:creationId xmlns:a16="http://schemas.microsoft.com/office/drawing/2014/main" id="{605F5738-BB3F-A07E-B012-1F0FA7207AC2}"/>
              </a:ext>
            </a:extLst>
          </p:cNvPr>
          <p:cNvCxnSpPr>
            <a:cxnSpLocks/>
            <a:stCxn id="60" idx="3"/>
            <a:endCxn id="63" idx="1"/>
          </p:cNvCxnSpPr>
          <p:nvPr/>
        </p:nvCxnSpPr>
        <p:spPr>
          <a:xfrm>
            <a:off x="10411599" y="2395526"/>
            <a:ext cx="241218" cy="6556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8" name="Connecteur droit avec flèche 67">
            <a:extLst>
              <a:ext uri="{FF2B5EF4-FFF2-40B4-BE49-F238E27FC236}">
                <a16:creationId xmlns:a16="http://schemas.microsoft.com/office/drawing/2014/main" id="{B4E372A1-BC58-3371-54FD-8946ECCD60CA}"/>
              </a:ext>
            </a:extLst>
          </p:cNvPr>
          <p:cNvCxnSpPr>
            <a:cxnSpLocks/>
            <a:stCxn id="59" idx="3"/>
            <a:endCxn id="54" idx="1"/>
          </p:cNvCxnSpPr>
          <p:nvPr/>
        </p:nvCxnSpPr>
        <p:spPr>
          <a:xfrm flipV="1">
            <a:off x="10234625" y="1935607"/>
            <a:ext cx="509505" cy="45991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9" name="Connecteur droit avec flèche 68">
            <a:extLst>
              <a:ext uri="{FF2B5EF4-FFF2-40B4-BE49-F238E27FC236}">
                <a16:creationId xmlns:a16="http://schemas.microsoft.com/office/drawing/2014/main" id="{A5DE0D97-2F41-913B-F126-6B8C7572B8F4}"/>
              </a:ext>
            </a:extLst>
          </p:cNvPr>
          <p:cNvCxnSpPr>
            <a:cxnSpLocks/>
            <a:stCxn id="52" idx="3"/>
            <a:endCxn id="59" idx="0"/>
          </p:cNvCxnSpPr>
          <p:nvPr/>
        </p:nvCxnSpPr>
        <p:spPr>
          <a:xfrm flipH="1">
            <a:off x="10158101" y="1745814"/>
            <a:ext cx="562104" cy="5731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0" name="Connecteur droit avec flèche 69">
            <a:extLst>
              <a:ext uri="{FF2B5EF4-FFF2-40B4-BE49-F238E27FC236}">
                <a16:creationId xmlns:a16="http://schemas.microsoft.com/office/drawing/2014/main" id="{1546A19C-C68D-1FE7-1396-29B7A0EE3632}"/>
              </a:ext>
            </a:extLst>
          </p:cNvPr>
          <p:cNvCxnSpPr>
            <a:cxnSpLocks/>
            <a:stCxn id="65" idx="0"/>
            <a:endCxn id="50" idx="2"/>
          </p:cNvCxnSpPr>
          <p:nvPr/>
        </p:nvCxnSpPr>
        <p:spPr>
          <a:xfrm flipH="1" flipV="1">
            <a:off x="10461057" y="1822338"/>
            <a:ext cx="450909" cy="56222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621AC9A9-E15C-D290-0E29-399177363D63}"/>
              </a:ext>
            </a:extLst>
          </p:cNvPr>
          <p:cNvSpPr/>
          <p:nvPr/>
        </p:nvSpPr>
        <p:spPr>
          <a:xfrm>
            <a:off x="4331471" y="3680581"/>
            <a:ext cx="1614256" cy="71712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Simplifie le choix (avec un repère)</a:t>
            </a:r>
          </a:p>
          <a:p>
            <a:pPr algn="ctr"/>
            <a:r>
              <a:rPr lang="fr-FR" sz="1100" dirty="0">
                <a:solidFill>
                  <a:schemeClr val="tx1"/>
                </a:solidFill>
              </a:rPr>
              <a:t>Représentation graphique facile</a:t>
            </a:r>
          </a:p>
        </p:txBody>
      </p:sp>
      <p:sp>
        <p:nvSpPr>
          <p:cNvPr id="72" name="Rectangle 71">
            <a:extLst>
              <a:ext uri="{FF2B5EF4-FFF2-40B4-BE49-F238E27FC236}">
                <a16:creationId xmlns:a16="http://schemas.microsoft.com/office/drawing/2014/main" id="{1B3BEC4A-7A80-BF4A-0A9F-F5F56FEC4CE1}"/>
              </a:ext>
            </a:extLst>
          </p:cNvPr>
          <p:cNvSpPr/>
          <p:nvPr/>
        </p:nvSpPr>
        <p:spPr>
          <a:xfrm>
            <a:off x="2562035" y="3680581"/>
            <a:ext cx="1614256" cy="71712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Pas de critères précis à expliciter</a:t>
            </a:r>
          </a:p>
          <a:p>
            <a:pPr algn="ctr"/>
            <a:r>
              <a:rPr lang="fr-FR" sz="1100" dirty="0">
                <a:solidFill>
                  <a:schemeClr val="tx1"/>
                </a:solidFill>
              </a:rPr>
              <a:t>Rapide à exécuter</a:t>
            </a:r>
          </a:p>
        </p:txBody>
      </p:sp>
      <p:sp>
        <p:nvSpPr>
          <p:cNvPr id="73" name="Rectangle 72">
            <a:extLst>
              <a:ext uri="{FF2B5EF4-FFF2-40B4-BE49-F238E27FC236}">
                <a16:creationId xmlns:a16="http://schemas.microsoft.com/office/drawing/2014/main" id="{D0EC8E6F-712F-F9D1-419E-63DC3372DBE8}"/>
              </a:ext>
            </a:extLst>
          </p:cNvPr>
          <p:cNvSpPr/>
          <p:nvPr/>
        </p:nvSpPr>
        <p:spPr>
          <a:xfrm>
            <a:off x="6100907" y="3680583"/>
            <a:ext cx="1614256" cy="71712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Représentation graphique facile, plus simple pour faire des lots ou des ensembles</a:t>
            </a:r>
          </a:p>
        </p:txBody>
      </p:sp>
      <p:sp>
        <p:nvSpPr>
          <p:cNvPr id="74" name="Rectangle 73">
            <a:extLst>
              <a:ext uri="{FF2B5EF4-FFF2-40B4-BE49-F238E27FC236}">
                <a16:creationId xmlns:a16="http://schemas.microsoft.com/office/drawing/2014/main" id="{1AC79ACD-CCC2-DBAD-CA7D-0BAD153D9D15}"/>
              </a:ext>
            </a:extLst>
          </p:cNvPr>
          <p:cNvSpPr/>
          <p:nvPr/>
        </p:nvSpPr>
        <p:spPr>
          <a:xfrm>
            <a:off x="7870343" y="3680582"/>
            <a:ext cx="1614256" cy="71712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Permet de prendre en compte beaucoup d’informations structurées</a:t>
            </a:r>
          </a:p>
        </p:txBody>
      </p:sp>
      <p:sp>
        <p:nvSpPr>
          <p:cNvPr id="75" name="Rectangle 74">
            <a:extLst>
              <a:ext uri="{FF2B5EF4-FFF2-40B4-BE49-F238E27FC236}">
                <a16:creationId xmlns:a16="http://schemas.microsoft.com/office/drawing/2014/main" id="{53B5FED9-5FF1-43FC-2D88-DC04F35FD2EA}"/>
              </a:ext>
            </a:extLst>
          </p:cNvPr>
          <p:cNvSpPr/>
          <p:nvPr/>
        </p:nvSpPr>
        <p:spPr>
          <a:xfrm>
            <a:off x="792599" y="3680581"/>
            <a:ext cx="1614256" cy="71712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Simple</a:t>
            </a:r>
          </a:p>
          <a:p>
            <a:pPr algn="ctr"/>
            <a:r>
              <a:rPr lang="fr-FR" sz="1100" dirty="0">
                <a:solidFill>
                  <a:schemeClr val="tx1"/>
                </a:solidFill>
              </a:rPr>
              <a:t>Facile</a:t>
            </a:r>
          </a:p>
          <a:p>
            <a:pPr algn="ctr"/>
            <a:r>
              <a:rPr lang="fr-FR" sz="1100" dirty="0">
                <a:solidFill>
                  <a:schemeClr val="tx1"/>
                </a:solidFill>
              </a:rPr>
              <a:t>Sans besoin de matériel</a:t>
            </a:r>
          </a:p>
        </p:txBody>
      </p:sp>
      <p:sp>
        <p:nvSpPr>
          <p:cNvPr id="76" name="Rectangle 75">
            <a:extLst>
              <a:ext uri="{FF2B5EF4-FFF2-40B4-BE49-F238E27FC236}">
                <a16:creationId xmlns:a16="http://schemas.microsoft.com/office/drawing/2014/main" id="{D6E74BB1-3122-596B-7835-E2C1CBCE879B}"/>
              </a:ext>
            </a:extLst>
          </p:cNvPr>
          <p:cNvSpPr/>
          <p:nvPr/>
        </p:nvSpPr>
        <p:spPr>
          <a:xfrm>
            <a:off x="9639780" y="3680581"/>
            <a:ext cx="1614256" cy="71712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Intègre également la notion de dépendance entre tickets, en plus de l’information riche</a:t>
            </a:r>
          </a:p>
        </p:txBody>
      </p:sp>
      <p:sp>
        <p:nvSpPr>
          <p:cNvPr id="77" name="Rectangle 76">
            <a:extLst>
              <a:ext uri="{FF2B5EF4-FFF2-40B4-BE49-F238E27FC236}">
                <a16:creationId xmlns:a16="http://schemas.microsoft.com/office/drawing/2014/main" id="{4667F6BA-62B8-1C55-7222-C4862F7339ED}"/>
              </a:ext>
            </a:extLst>
          </p:cNvPr>
          <p:cNvSpPr/>
          <p:nvPr/>
        </p:nvSpPr>
        <p:spPr>
          <a:xfrm>
            <a:off x="4331471" y="4479402"/>
            <a:ext cx="1614256" cy="717125"/>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Un seul critère peut ne pas suffire (à convaincre)</a:t>
            </a:r>
          </a:p>
        </p:txBody>
      </p:sp>
      <p:sp>
        <p:nvSpPr>
          <p:cNvPr id="78" name="Rectangle 77">
            <a:extLst>
              <a:ext uri="{FF2B5EF4-FFF2-40B4-BE49-F238E27FC236}">
                <a16:creationId xmlns:a16="http://schemas.microsoft.com/office/drawing/2014/main" id="{D6EC63FC-5514-D6C8-A3CC-89E51DE4C3AA}"/>
              </a:ext>
            </a:extLst>
          </p:cNvPr>
          <p:cNvSpPr/>
          <p:nvPr/>
        </p:nvSpPr>
        <p:spPr>
          <a:xfrm>
            <a:off x="2562035" y="4479402"/>
            <a:ext cx="1614256" cy="717125"/>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Moins de chances d’être discriminant sur un grand nombre de tickets ou de votants</a:t>
            </a:r>
          </a:p>
        </p:txBody>
      </p:sp>
      <p:sp>
        <p:nvSpPr>
          <p:cNvPr id="79" name="Rectangle 78">
            <a:extLst>
              <a:ext uri="{FF2B5EF4-FFF2-40B4-BE49-F238E27FC236}">
                <a16:creationId xmlns:a16="http://schemas.microsoft.com/office/drawing/2014/main" id="{D974852B-091E-2610-34F0-DF3BA62F7C3A}"/>
              </a:ext>
            </a:extLst>
          </p:cNvPr>
          <p:cNvSpPr/>
          <p:nvPr/>
        </p:nvSpPr>
        <p:spPr>
          <a:xfrm>
            <a:off x="6100907" y="4479404"/>
            <a:ext cx="1614256" cy="717125"/>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Plus difficile de distinguer / prioriser à l’intérieur de chaque cadran</a:t>
            </a:r>
          </a:p>
        </p:txBody>
      </p:sp>
      <p:sp>
        <p:nvSpPr>
          <p:cNvPr id="80" name="Rectangle 79">
            <a:extLst>
              <a:ext uri="{FF2B5EF4-FFF2-40B4-BE49-F238E27FC236}">
                <a16:creationId xmlns:a16="http://schemas.microsoft.com/office/drawing/2014/main" id="{8C4779D7-02B5-7738-2805-09BC7C03F3D1}"/>
              </a:ext>
            </a:extLst>
          </p:cNvPr>
          <p:cNvSpPr/>
          <p:nvPr/>
        </p:nvSpPr>
        <p:spPr>
          <a:xfrm>
            <a:off x="7870343" y="4479403"/>
            <a:ext cx="1614256" cy="717125"/>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Plus lourd, perte de la navigation ou de la représentation visuelle</a:t>
            </a:r>
          </a:p>
        </p:txBody>
      </p:sp>
      <p:sp>
        <p:nvSpPr>
          <p:cNvPr id="81" name="Rectangle 80">
            <a:extLst>
              <a:ext uri="{FF2B5EF4-FFF2-40B4-BE49-F238E27FC236}">
                <a16:creationId xmlns:a16="http://schemas.microsoft.com/office/drawing/2014/main" id="{D6D55650-83E4-EA53-BBDB-5EF2BEBAF05A}"/>
              </a:ext>
            </a:extLst>
          </p:cNvPr>
          <p:cNvSpPr/>
          <p:nvPr/>
        </p:nvSpPr>
        <p:spPr>
          <a:xfrm>
            <a:off x="792599" y="4479402"/>
            <a:ext cx="1614256" cy="717125"/>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Besoin d’une très bonne mémoire de travail et de capacité de décision qui va avec</a:t>
            </a:r>
          </a:p>
        </p:txBody>
      </p:sp>
      <p:sp>
        <p:nvSpPr>
          <p:cNvPr id="82" name="Rectangle 81">
            <a:extLst>
              <a:ext uri="{FF2B5EF4-FFF2-40B4-BE49-F238E27FC236}">
                <a16:creationId xmlns:a16="http://schemas.microsoft.com/office/drawing/2014/main" id="{FE192901-B461-3DD0-4A79-1AA4E165A5CC}"/>
              </a:ext>
            </a:extLst>
          </p:cNvPr>
          <p:cNvSpPr/>
          <p:nvPr/>
        </p:nvSpPr>
        <p:spPr>
          <a:xfrm>
            <a:off x="9639780" y="4479402"/>
            <a:ext cx="1614256" cy="717125"/>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Peut devenir très lourd ou difficile à gérer sur un grand nombre </a:t>
            </a:r>
          </a:p>
        </p:txBody>
      </p:sp>
      <p:sp>
        <p:nvSpPr>
          <p:cNvPr id="83" name="Rectangle 82">
            <a:extLst>
              <a:ext uri="{FF2B5EF4-FFF2-40B4-BE49-F238E27FC236}">
                <a16:creationId xmlns:a16="http://schemas.microsoft.com/office/drawing/2014/main" id="{3631EA0E-B3F3-7D04-3E70-04402D88053D}"/>
              </a:ext>
            </a:extLst>
          </p:cNvPr>
          <p:cNvSpPr/>
          <p:nvPr/>
        </p:nvSpPr>
        <p:spPr>
          <a:xfrm>
            <a:off x="4331471" y="5278223"/>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Besoin de faire des lots et des niveaux</a:t>
            </a:r>
          </a:p>
        </p:txBody>
      </p:sp>
      <p:sp>
        <p:nvSpPr>
          <p:cNvPr id="84" name="Rectangle 83">
            <a:extLst>
              <a:ext uri="{FF2B5EF4-FFF2-40B4-BE49-F238E27FC236}">
                <a16:creationId xmlns:a16="http://schemas.microsoft.com/office/drawing/2014/main" id="{BF10D71B-8316-104B-8B9F-383BEE2EA162}"/>
              </a:ext>
            </a:extLst>
          </p:cNvPr>
          <p:cNvSpPr/>
          <p:nvPr/>
        </p:nvSpPr>
        <p:spPr>
          <a:xfrm>
            <a:off x="2562035" y="5278223"/>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Décisionnaires prêts à choisir sur une base de majorité</a:t>
            </a:r>
          </a:p>
        </p:txBody>
      </p:sp>
      <p:sp>
        <p:nvSpPr>
          <p:cNvPr id="85" name="Rectangle 84">
            <a:extLst>
              <a:ext uri="{FF2B5EF4-FFF2-40B4-BE49-F238E27FC236}">
                <a16:creationId xmlns:a16="http://schemas.microsoft.com/office/drawing/2014/main" id="{E9DB073C-082E-BA34-ACFD-672C7B1D72A2}"/>
              </a:ext>
            </a:extLst>
          </p:cNvPr>
          <p:cNvSpPr/>
          <p:nvPr/>
        </p:nvSpPr>
        <p:spPr>
          <a:xfrm>
            <a:off x="6100907" y="5278225"/>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La Communauté peut se mettre d’accord sur 2 critères considérés clés pour choisir</a:t>
            </a:r>
          </a:p>
        </p:txBody>
      </p:sp>
      <p:sp>
        <p:nvSpPr>
          <p:cNvPr id="86" name="Rectangle 85">
            <a:extLst>
              <a:ext uri="{FF2B5EF4-FFF2-40B4-BE49-F238E27FC236}">
                <a16:creationId xmlns:a16="http://schemas.microsoft.com/office/drawing/2014/main" id="{77437D5E-82AF-6136-0E33-4BC106E88AC1}"/>
              </a:ext>
            </a:extLst>
          </p:cNvPr>
          <p:cNvSpPr/>
          <p:nvPr/>
        </p:nvSpPr>
        <p:spPr>
          <a:xfrm>
            <a:off x="7870343" y="5278224"/>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Beaucoup d’informations doivent être explicitées et considérées pour faire les choix</a:t>
            </a:r>
          </a:p>
        </p:txBody>
      </p:sp>
      <p:sp>
        <p:nvSpPr>
          <p:cNvPr id="87" name="Rectangle 86">
            <a:extLst>
              <a:ext uri="{FF2B5EF4-FFF2-40B4-BE49-F238E27FC236}">
                <a16:creationId xmlns:a16="http://schemas.microsoft.com/office/drawing/2014/main" id="{1091B93A-5046-A82A-B66A-539989436D51}"/>
              </a:ext>
            </a:extLst>
          </p:cNvPr>
          <p:cNvSpPr/>
          <p:nvPr/>
        </p:nvSpPr>
        <p:spPr>
          <a:xfrm>
            <a:off x="792599" y="5278223"/>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Très peu d’éléments à prioriser</a:t>
            </a:r>
          </a:p>
        </p:txBody>
      </p:sp>
      <p:sp>
        <p:nvSpPr>
          <p:cNvPr id="88" name="Rectangle 87">
            <a:extLst>
              <a:ext uri="{FF2B5EF4-FFF2-40B4-BE49-F238E27FC236}">
                <a16:creationId xmlns:a16="http://schemas.microsoft.com/office/drawing/2014/main" id="{C3D94AF3-22E8-9042-3287-C0CB8761BC4C}"/>
              </a:ext>
            </a:extLst>
          </p:cNvPr>
          <p:cNvSpPr/>
          <p:nvPr/>
        </p:nvSpPr>
        <p:spPr>
          <a:xfrm>
            <a:off x="9639780" y="5278223"/>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Fortes chances de dépendances entre éléments à choisir</a:t>
            </a:r>
          </a:p>
        </p:txBody>
      </p:sp>
      <p:sp>
        <p:nvSpPr>
          <p:cNvPr id="89" name="Rectangle 88">
            <a:extLst>
              <a:ext uri="{FF2B5EF4-FFF2-40B4-BE49-F238E27FC236}">
                <a16:creationId xmlns:a16="http://schemas.microsoft.com/office/drawing/2014/main" id="{221245C2-73F0-0A02-7FAA-C6FB3B6DE4F8}"/>
              </a:ext>
            </a:extLst>
          </p:cNvPr>
          <p:cNvSpPr/>
          <p:nvPr/>
        </p:nvSpPr>
        <p:spPr>
          <a:xfrm>
            <a:off x="4331471" y="6077045"/>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Grand nombre d’éléments à dégrossir rapidement</a:t>
            </a:r>
          </a:p>
        </p:txBody>
      </p:sp>
      <p:sp>
        <p:nvSpPr>
          <p:cNvPr id="90" name="Rectangle 89">
            <a:extLst>
              <a:ext uri="{FF2B5EF4-FFF2-40B4-BE49-F238E27FC236}">
                <a16:creationId xmlns:a16="http://schemas.microsoft.com/office/drawing/2014/main" id="{C71662EE-0B14-0D98-87A7-BB336BF65142}"/>
              </a:ext>
            </a:extLst>
          </p:cNvPr>
          <p:cNvSpPr/>
          <p:nvPr/>
        </p:nvSpPr>
        <p:spPr>
          <a:xfrm>
            <a:off x="2562035" y="6077045"/>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Suffisamment peu d’éléments et un outil simple qui permet de noter les votes dessus</a:t>
            </a:r>
          </a:p>
        </p:txBody>
      </p:sp>
      <p:sp>
        <p:nvSpPr>
          <p:cNvPr id="91" name="Rectangle 90">
            <a:extLst>
              <a:ext uri="{FF2B5EF4-FFF2-40B4-BE49-F238E27FC236}">
                <a16:creationId xmlns:a16="http://schemas.microsoft.com/office/drawing/2014/main" id="{10315AF4-1CE2-D506-E67E-A1AAC0E5FEEA}"/>
              </a:ext>
            </a:extLst>
          </p:cNvPr>
          <p:cNvSpPr/>
          <p:nvPr/>
        </p:nvSpPr>
        <p:spPr>
          <a:xfrm>
            <a:off x="6100907" y="6077047"/>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Volonté de faire des choix tactiques sur la base de critères (pas juste besoin d’1 action) </a:t>
            </a:r>
          </a:p>
        </p:txBody>
      </p:sp>
      <p:sp>
        <p:nvSpPr>
          <p:cNvPr id="92" name="Rectangle 91">
            <a:extLst>
              <a:ext uri="{FF2B5EF4-FFF2-40B4-BE49-F238E27FC236}">
                <a16:creationId xmlns:a16="http://schemas.microsoft.com/office/drawing/2014/main" id="{24C1BEAF-75C0-B4C8-1F30-338D8AE5CFBC}"/>
              </a:ext>
            </a:extLst>
          </p:cNvPr>
          <p:cNvSpPr/>
          <p:nvPr/>
        </p:nvSpPr>
        <p:spPr>
          <a:xfrm>
            <a:off x="7870343" y="6077046"/>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Outil de saisie et capacité de saisie suffisants pour traiter les questions</a:t>
            </a:r>
          </a:p>
        </p:txBody>
      </p:sp>
      <p:sp>
        <p:nvSpPr>
          <p:cNvPr id="93" name="Rectangle 92">
            <a:extLst>
              <a:ext uri="{FF2B5EF4-FFF2-40B4-BE49-F238E27FC236}">
                <a16:creationId xmlns:a16="http://schemas.microsoft.com/office/drawing/2014/main" id="{D14D3AEF-A694-7D79-0CDF-039E90B1444B}"/>
              </a:ext>
            </a:extLst>
          </p:cNvPr>
          <p:cNvSpPr/>
          <p:nvPr/>
        </p:nvSpPr>
        <p:spPr>
          <a:xfrm>
            <a:off x="792599" y="6077045"/>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Pas de matériel à disposition</a:t>
            </a:r>
          </a:p>
        </p:txBody>
      </p:sp>
      <p:sp>
        <p:nvSpPr>
          <p:cNvPr id="94" name="Rectangle 93">
            <a:extLst>
              <a:ext uri="{FF2B5EF4-FFF2-40B4-BE49-F238E27FC236}">
                <a16:creationId xmlns:a16="http://schemas.microsoft.com/office/drawing/2014/main" id="{DE893E84-F02F-3E02-138B-C54960631A90}"/>
              </a:ext>
            </a:extLst>
          </p:cNvPr>
          <p:cNvSpPr/>
          <p:nvPr/>
        </p:nvSpPr>
        <p:spPr>
          <a:xfrm>
            <a:off x="9639780" y="6077045"/>
            <a:ext cx="1614256" cy="71712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Beaucoup d’informations doivent être explicitées et considérées pour faire les choix</a:t>
            </a:r>
          </a:p>
        </p:txBody>
      </p:sp>
    </p:spTree>
    <p:extLst>
      <p:ext uri="{BB962C8B-B14F-4D97-AF65-F5344CB8AC3E}">
        <p14:creationId xmlns:p14="http://schemas.microsoft.com/office/powerpoint/2010/main" val="2740694294"/>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E39779A-C1ED-741B-9817-5667FC3C8308}"/>
              </a:ext>
            </a:extLst>
          </p:cNvPr>
          <p:cNvSpPr>
            <a:spLocks noGrp="1"/>
          </p:cNvSpPr>
          <p:nvPr>
            <p:ph type="title"/>
          </p:nvPr>
        </p:nvSpPr>
        <p:spPr>
          <a:xfrm>
            <a:off x="1282044" y="365125"/>
            <a:ext cx="10071755" cy="1325563"/>
          </a:xfrm>
        </p:spPr>
        <p:txBody>
          <a:bodyPr>
            <a:normAutofit/>
          </a:bodyPr>
          <a:lstStyle/>
          <a:p>
            <a:r>
              <a:rPr lang="fr-FR" sz="3200" dirty="0"/>
              <a:t>La Communication des décisions</a:t>
            </a:r>
          </a:p>
        </p:txBody>
      </p:sp>
      <p:sp>
        <p:nvSpPr>
          <p:cNvPr id="3" name="Espace réservé du contenu 2">
            <a:extLst>
              <a:ext uri="{FF2B5EF4-FFF2-40B4-BE49-F238E27FC236}">
                <a16:creationId xmlns:a16="http://schemas.microsoft.com/office/drawing/2014/main" id="{6BADD7D1-6D18-5AEE-EC79-9A29006C15BC}"/>
              </a:ext>
            </a:extLst>
          </p:cNvPr>
          <p:cNvSpPr>
            <a:spLocks noGrp="1"/>
          </p:cNvSpPr>
          <p:nvPr>
            <p:ph idx="1"/>
          </p:nvPr>
        </p:nvSpPr>
        <p:spPr>
          <a:xfrm>
            <a:off x="1188813" y="1619592"/>
            <a:ext cx="2431038" cy="1871118"/>
          </a:xfrm>
        </p:spPr>
        <p:txBody>
          <a:bodyPr>
            <a:noAutofit/>
          </a:bodyPr>
          <a:lstStyle/>
          <a:p>
            <a:pPr marL="0" indent="0">
              <a:buNone/>
            </a:pPr>
            <a:r>
              <a:rPr lang="fr-FR" sz="1400" dirty="0"/>
              <a:t>Différents buts derrière la Communication</a:t>
            </a:r>
          </a:p>
          <a:p>
            <a:pPr marL="342900" indent="-342900">
              <a:buFont typeface="+mj-lt"/>
              <a:buAutoNum type="arabicPeriod"/>
            </a:pPr>
            <a:r>
              <a:rPr lang="fr-FR" sz="1400" dirty="0"/>
              <a:t>Informer </a:t>
            </a:r>
          </a:p>
          <a:p>
            <a:pPr marL="342900" indent="-342900">
              <a:buFont typeface="+mj-lt"/>
              <a:buAutoNum type="arabicPeriod"/>
            </a:pPr>
            <a:r>
              <a:rPr lang="fr-FR" sz="1400" dirty="0"/>
              <a:t>Engager </a:t>
            </a:r>
          </a:p>
          <a:p>
            <a:pPr marL="342900" indent="-342900">
              <a:buFont typeface="+mj-lt"/>
              <a:buAutoNum type="arabicPeriod"/>
            </a:pPr>
            <a:r>
              <a:rPr lang="fr-FR" sz="1400" dirty="0"/>
              <a:t>Faire discuter / réagir</a:t>
            </a:r>
          </a:p>
          <a:p>
            <a:pPr marL="342900" indent="-342900">
              <a:buFont typeface="+mj-lt"/>
              <a:buAutoNum type="arabicPeriod"/>
            </a:pPr>
            <a:r>
              <a:rPr lang="fr-FR" sz="1400" dirty="0"/>
              <a:t>…</a:t>
            </a:r>
          </a:p>
          <a:p>
            <a:pPr marL="0" indent="0">
              <a:buNone/>
            </a:pPr>
            <a:endParaRPr lang="fr-FR" sz="1400" dirty="0"/>
          </a:p>
          <a:p>
            <a:pPr marL="0" indent="0">
              <a:buNone/>
            </a:pPr>
            <a:endParaRPr lang="fr-FR" sz="1400" dirty="0"/>
          </a:p>
        </p:txBody>
      </p:sp>
      <p:pic>
        <p:nvPicPr>
          <p:cNvPr id="4" name="Graphique 3" descr="Enveloppe avec un remplissage uni">
            <a:extLst>
              <a:ext uri="{FF2B5EF4-FFF2-40B4-BE49-F238E27FC236}">
                <a16:creationId xmlns:a16="http://schemas.microsoft.com/office/drawing/2014/main" id="{904C13FE-C770-333D-E0A4-2D1A154C6E6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92255" y="610910"/>
            <a:ext cx="691889" cy="691889"/>
          </a:xfrm>
          <a:prstGeom prst="rect">
            <a:avLst/>
          </a:prstGeom>
        </p:spPr>
      </p:pic>
      <p:pic>
        <p:nvPicPr>
          <p:cNvPr id="5" name="Graphique 4" descr="Priorités avec un remplissage uni">
            <a:extLst>
              <a:ext uri="{FF2B5EF4-FFF2-40B4-BE49-F238E27FC236}">
                <a16:creationId xmlns:a16="http://schemas.microsoft.com/office/drawing/2014/main" id="{9509ABAD-E206-8507-19D9-D97E999292E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10305" y="771676"/>
            <a:ext cx="214258" cy="214258"/>
          </a:xfrm>
          <a:prstGeom prst="rect">
            <a:avLst/>
          </a:prstGeom>
        </p:spPr>
      </p:pic>
      <p:pic>
        <p:nvPicPr>
          <p:cNvPr id="9" name="Graphique 8" descr="Mille avec un remplissage uni">
            <a:extLst>
              <a:ext uri="{FF2B5EF4-FFF2-40B4-BE49-F238E27FC236}">
                <a16:creationId xmlns:a16="http://schemas.microsoft.com/office/drawing/2014/main" id="{46D78419-C427-62F0-2B58-7DE50A36942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74413" y="1602514"/>
            <a:ext cx="914400" cy="914400"/>
          </a:xfrm>
          <a:prstGeom prst="rect">
            <a:avLst/>
          </a:prstGeom>
        </p:spPr>
      </p:pic>
      <p:grpSp>
        <p:nvGrpSpPr>
          <p:cNvPr id="14" name="Groupe 13">
            <a:extLst>
              <a:ext uri="{FF2B5EF4-FFF2-40B4-BE49-F238E27FC236}">
                <a16:creationId xmlns:a16="http://schemas.microsoft.com/office/drawing/2014/main" id="{6F27617C-B1D0-6436-76F2-7BCAB6342FF8}"/>
              </a:ext>
            </a:extLst>
          </p:cNvPr>
          <p:cNvGrpSpPr/>
          <p:nvPr/>
        </p:nvGrpSpPr>
        <p:grpSpPr>
          <a:xfrm>
            <a:off x="3970784" y="1619592"/>
            <a:ext cx="3738895" cy="1738312"/>
            <a:chOff x="3817014" y="1690688"/>
            <a:chExt cx="3738895" cy="1738312"/>
          </a:xfrm>
        </p:grpSpPr>
        <p:pic>
          <p:nvPicPr>
            <p:cNvPr id="7" name="Graphique 6" descr="Public cible avec un remplissage uni">
              <a:extLst>
                <a:ext uri="{FF2B5EF4-FFF2-40B4-BE49-F238E27FC236}">
                  <a16:creationId xmlns:a16="http://schemas.microsoft.com/office/drawing/2014/main" id="{0613236B-D869-9A33-E8F1-819438682A5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817014" y="1690688"/>
              <a:ext cx="914400" cy="914400"/>
            </a:xfrm>
            <a:prstGeom prst="rect">
              <a:avLst/>
            </a:prstGeom>
          </p:spPr>
        </p:pic>
        <p:sp>
          <p:nvSpPr>
            <p:cNvPr id="12" name="Espace réservé du contenu 2">
              <a:extLst>
                <a:ext uri="{FF2B5EF4-FFF2-40B4-BE49-F238E27FC236}">
                  <a16:creationId xmlns:a16="http://schemas.microsoft.com/office/drawing/2014/main" id="{F8FABAF2-30AE-5A79-9D90-99FA91C3D770}"/>
                </a:ext>
              </a:extLst>
            </p:cNvPr>
            <p:cNvSpPr txBox="1">
              <a:spLocks/>
            </p:cNvSpPr>
            <p:nvPr/>
          </p:nvSpPr>
          <p:spPr>
            <a:xfrm>
              <a:off x="4721086" y="1690688"/>
              <a:ext cx="2834823" cy="173831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400" dirty="0"/>
                <a:t>Différentes cibles de  communication</a:t>
              </a:r>
            </a:p>
            <a:p>
              <a:pPr marL="342900" indent="-342900">
                <a:buFont typeface="+mj-lt"/>
                <a:buAutoNum type="arabicPeriod"/>
              </a:pPr>
              <a:r>
                <a:rPr lang="fr-FR" sz="1400" dirty="0"/>
                <a:t>Sponsors</a:t>
              </a:r>
            </a:p>
            <a:p>
              <a:pPr marL="342900" indent="-342900">
                <a:buFont typeface="+mj-lt"/>
                <a:buAutoNum type="arabicPeriod"/>
              </a:pPr>
              <a:r>
                <a:rPr lang="fr-FR" sz="1400" dirty="0"/>
                <a:t>Membres</a:t>
              </a:r>
            </a:p>
            <a:p>
              <a:pPr marL="342900" indent="-342900">
                <a:buFont typeface="+mj-lt"/>
                <a:buAutoNum type="arabicPeriod"/>
              </a:pPr>
              <a:r>
                <a:rPr lang="fr-FR" sz="1400" dirty="0"/>
                <a:t>Non-membres</a:t>
              </a:r>
            </a:p>
            <a:p>
              <a:pPr marL="342900" indent="-342900">
                <a:buFont typeface="+mj-lt"/>
                <a:buAutoNum type="arabicPeriod"/>
              </a:pPr>
              <a:r>
                <a:rPr lang="fr-FR" sz="1400" dirty="0"/>
                <a:t>…</a:t>
              </a:r>
            </a:p>
            <a:p>
              <a:pPr marL="0" indent="0">
                <a:buFont typeface="Arial" panose="020B0604020202020204" pitchFamily="34" charset="0"/>
                <a:buNone/>
              </a:pPr>
              <a:endParaRPr lang="fr-FR" sz="1400" dirty="0"/>
            </a:p>
            <a:p>
              <a:pPr marL="0" indent="0">
                <a:buFont typeface="Arial" panose="020B0604020202020204" pitchFamily="34" charset="0"/>
                <a:buNone/>
              </a:pPr>
              <a:endParaRPr lang="fr-FR" sz="1400" dirty="0"/>
            </a:p>
          </p:txBody>
        </p:sp>
      </p:grpSp>
      <p:grpSp>
        <p:nvGrpSpPr>
          <p:cNvPr id="15" name="Groupe 14">
            <a:extLst>
              <a:ext uri="{FF2B5EF4-FFF2-40B4-BE49-F238E27FC236}">
                <a16:creationId xmlns:a16="http://schemas.microsoft.com/office/drawing/2014/main" id="{5A114253-11B4-EBB1-81F9-B5A1D226CA0D}"/>
              </a:ext>
            </a:extLst>
          </p:cNvPr>
          <p:cNvGrpSpPr/>
          <p:nvPr/>
        </p:nvGrpSpPr>
        <p:grpSpPr>
          <a:xfrm>
            <a:off x="3883547" y="4091819"/>
            <a:ext cx="3326674" cy="1871119"/>
            <a:chOff x="8133482" y="1690688"/>
            <a:chExt cx="3326674" cy="1871119"/>
          </a:xfrm>
        </p:grpSpPr>
        <p:pic>
          <p:nvPicPr>
            <p:cNvPr id="11" name="Graphique 10" descr="Presse-papiers vérifié avec un remplissage uni">
              <a:extLst>
                <a:ext uri="{FF2B5EF4-FFF2-40B4-BE49-F238E27FC236}">
                  <a16:creationId xmlns:a16="http://schemas.microsoft.com/office/drawing/2014/main" id="{226045E2-B978-442D-2E85-1977EF1B6FC6}"/>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133482" y="1690688"/>
              <a:ext cx="914400" cy="914400"/>
            </a:xfrm>
            <a:prstGeom prst="rect">
              <a:avLst/>
            </a:prstGeom>
          </p:spPr>
        </p:pic>
        <p:sp>
          <p:nvSpPr>
            <p:cNvPr id="13" name="Espace réservé du contenu 2">
              <a:extLst>
                <a:ext uri="{FF2B5EF4-FFF2-40B4-BE49-F238E27FC236}">
                  <a16:creationId xmlns:a16="http://schemas.microsoft.com/office/drawing/2014/main" id="{F6276015-B2A6-A5E1-AC2D-5CE0696CCDFA}"/>
                </a:ext>
              </a:extLst>
            </p:cNvPr>
            <p:cNvSpPr txBox="1">
              <a:spLocks/>
            </p:cNvSpPr>
            <p:nvPr/>
          </p:nvSpPr>
          <p:spPr>
            <a:xfrm>
              <a:off x="8904471" y="1690688"/>
              <a:ext cx="2555685" cy="187111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400" dirty="0"/>
                <a:t>Différents niveaux de résumé</a:t>
              </a:r>
            </a:p>
            <a:p>
              <a:pPr marL="342900" indent="-342900">
                <a:buFont typeface="+mj-lt"/>
                <a:buAutoNum type="arabicPeriod"/>
              </a:pPr>
              <a:r>
                <a:rPr lang="fr-FR" sz="1400" dirty="0"/>
                <a:t>Prochaine action prioritaire</a:t>
              </a:r>
            </a:p>
            <a:p>
              <a:pPr marL="342900" indent="-342900">
                <a:buFont typeface="+mj-lt"/>
                <a:buAutoNum type="arabicPeriod"/>
              </a:pPr>
              <a:r>
                <a:rPr lang="fr-FR" sz="1400" dirty="0"/>
                <a:t>Top 3 des prochaines actions</a:t>
              </a:r>
            </a:p>
            <a:p>
              <a:pPr marL="342900" indent="-342900">
                <a:buFont typeface="+mj-lt"/>
                <a:buAutoNum type="arabicPeriod"/>
              </a:pPr>
              <a:r>
                <a:rPr lang="fr-FR" sz="1400" dirty="0"/>
                <a:t>Programme complet</a:t>
              </a:r>
            </a:p>
            <a:p>
              <a:pPr marL="342900" indent="-342900">
                <a:buFont typeface="+mj-lt"/>
                <a:buAutoNum type="arabicPeriod"/>
              </a:pPr>
              <a:r>
                <a:rPr lang="fr-FR" sz="1400" dirty="0"/>
                <a:t>…</a:t>
              </a:r>
            </a:p>
            <a:p>
              <a:endParaRPr lang="fr-FR" sz="1400" dirty="0"/>
            </a:p>
            <a:p>
              <a:pPr marL="0" indent="0">
                <a:buFont typeface="Arial" panose="020B0604020202020204" pitchFamily="34" charset="0"/>
                <a:buNone/>
              </a:pPr>
              <a:endParaRPr lang="fr-FR" sz="1400" dirty="0"/>
            </a:p>
            <a:p>
              <a:pPr marL="0" indent="0">
                <a:buFont typeface="Arial" panose="020B0604020202020204" pitchFamily="34" charset="0"/>
                <a:buNone/>
              </a:pPr>
              <a:endParaRPr lang="fr-FR" sz="1400" dirty="0"/>
            </a:p>
          </p:txBody>
        </p:sp>
      </p:grpSp>
      <p:grpSp>
        <p:nvGrpSpPr>
          <p:cNvPr id="19" name="Groupe 18">
            <a:extLst>
              <a:ext uri="{FF2B5EF4-FFF2-40B4-BE49-F238E27FC236}">
                <a16:creationId xmlns:a16="http://schemas.microsoft.com/office/drawing/2014/main" id="{45559A5C-4941-388A-B811-1890F4BFDA82}"/>
              </a:ext>
            </a:extLst>
          </p:cNvPr>
          <p:cNvGrpSpPr/>
          <p:nvPr/>
        </p:nvGrpSpPr>
        <p:grpSpPr>
          <a:xfrm>
            <a:off x="126367" y="4112979"/>
            <a:ext cx="3493484" cy="2605087"/>
            <a:chOff x="8133482" y="1690688"/>
            <a:chExt cx="3493484" cy="2605087"/>
          </a:xfrm>
        </p:grpSpPr>
        <p:pic>
          <p:nvPicPr>
            <p:cNvPr id="20" name="Graphique 19" descr="Enveloppe ouverte avec un remplissage uni">
              <a:extLst>
                <a:ext uri="{FF2B5EF4-FFF2-40B4-BE49-F238E27FC236}">
                  <a16:creationId xmlns:a16="http://schemas.microsoft.com/office/drawing/2014/main" id="{DFC82765-49A0-E192-8C0E-B81DC4398FD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a:stretch/>
          </p:blipFill>
          <p:spPr>
            <a:xfrm>
              <a:off x="8133482" y="1690688"/>
              <a:ext cx="914400" cy="914400"/>
            </a:xfrm>
            <a:prstGeom prst="rect">
              <a:avLst/>
            </a:prstGeom>
          </p:spPr>
        </p:pic>
        <p:sp>
          <p:nvSpPr>
            <p:cNvPr id="21" name="Espace réservé du contenu 2">
              <a:extLst>
                <a:ext uri="{FF2B5EF4-FFF2-40B4-BE49-F238E27FC236}">
                  <a16:creationId xmlns:a16="http://schemas.microsoft.com/office/drawing/2014/main" id="{F1493AD9-C1D4-E7C0-8353-C5D9FDEE3671}"/>
                </a:ext>
              </a:extLst>
            </p:cNvPr>
            <p:cNvSpPr txBox="1">
              <a:spLocks/>
            </p:cNvSpPr>
            <p:nvPr/>
          </p:nvSpPr>
          <p:spPr>
            <a:xfrm>
              <a:off x="8969505" y="1690688"/>
              <a:ext cx="2657461" cy="2605087"/>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400" dirty="0"/>
                <a:t>Différents moyens de Communication</a:t>
              </a:r>
            </a:p>
            <a:p>
              <a:pPr marL="342900" indent="-342900">
                <a:buFont typeface="Arial" panose="020B0604020202020204" pitchFamily="34" charset="0"/>
                <a:buAutoNum type="arabicPeriod"/>
              </a:pPr>
              <a:r>
                <a:rPr lang="fr-FR" sz="1400" dirty="0"/>
                <a:t>Outil d’interaction principal</a:t>
              </a:r>
            </a:p>
            <a:p>
              <a:pPr marL="342900" indent="-342900">
                <a:buFont typeface="Arial" panose="020B0604020202020204" pitchFamily="34" charset="0"/>
                <a:buAutoNum type="arabicPeriod"/>
              </a:pPr>
              <a:r>
                <a:rPr lang="fr-FR" sz="1400" dirty="0"/>
                <a:t>Evènements (présentation de la roadmap, de la vue, café, etc.)</a:t>
              </a:r>
            </a:p>
            <a:p>
              <a:pPr marL="342900" indent="-342900">
                <a:buFont typeface="Arial" panose="020B0604020202020204" pitchFamily="34" charset="0"/>
                <a:buAutoNum type="arabicPeriod"/>
              </a:pPr>
              <a:r>
                <a:rPr lang="fr-FR" sz="1400" dirty="0"/>
                <a:t>Contenus dédiés (vidéo, présentation, etc.)</a:t>
              </a:r>
            </a:p>
            <a:p>
              <a:pPr marL="342900" indent="-342900">
                <a:buFont typeface="Arial" panose="020B0604020202020204" pitchFamily="34" charset="0"/>
                <a:buAutoNum type="arabicPeriod"/>
              </a:pPr>
              <a:r>
                <a:rPr lang="fr-FR" sz="1400" dirty="0"/>
                <a:t>…</a:t>
              </a:r>
            </a:p>
          </p:txBody>
        </p:sp>
      </p:grpSp>
      <p:sp>
        <p:nvSpPr>
          <p:cNvPr id="18" name="Espace réservé du contenu 2">
            <a:extLst>
              <a:ext uri="{FF2B5EF4-FFF2-40B4-BE49-F238E27FC236}">
                <a16:creationId xmlns:a16="http://schemas.microsoft.com/office/drawing/2014/main" id="{C10132B1-AC64-E485-4CAA-C4CD9E23328C}"/>
              </a:ext>
            </a:extLst>
          </p:cNvPr>
          <p:cNvSpPr txBox="1">
            <a:spLocks/>
          </p:cNvSpPr>
          <p:nvPr/>
        </p:nvSpPr>
        <p:spPr>
          <a:xfrm>
            <a:off x="8488300" y="1541214"/>
            <a:ext cx="2834823" cy="173831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400" dirty="0"/>
              <a:t>Différentes émetteurs de la Communication</a:t>
            </a:r>
          </a:p>
          <a:p>
            <a:pPr marL="342900" indent="-342900">
              <a:buFont typeface="+mj-lt"/>
              <a:buAutoNum type="arabicPeriod"/>
            </a:pPr>
            <a:r>
              <a:rPr lang="fr-FR" sz="1400" dirty="0"/>
              <a:t>Responsable de la décision</a:t>
            </a:r>
          </a:p>
          <a:p>
            <a:pPr marL="342900" indent="-342900">
              <a:buFont typeface="+mj-lt"/>
              <a:buAutoNum type="arabicPeriod"/>
            </a:pPr>
            <a:r>
              <a:rPr lang="fr-FR" sz="1400" dirty="0"/>
              <a:t>Responsable Communication</a:t>
            </a:r>
          </a:p>
          <a:p>
            <a:pPr marL="342900" indent="-342900">
              <a:buFont typeface="+mj-lt"/>
              <a:buAutoNum type="arabicPeriod"/>
            </a:pPr>
            <a:r>
              <a:rPr lang="fr-FR" sz="1400" dirty="0"/>
              <a:t>Personne symbolique</a:t>
            </a:r>
          </a:p>
          <a:p>
            <a:pPr marL="342900" indent="-342900">
              <a:buFont typeface="+mj-lt"/>
              <a:buAutoNum type="arabicPeriod"/>
            </a:pPr>
            <a:r>
              <a:rPr lang="fr-FR" sz="1400" dirty="0"/>
              <a:t>…</a:t>
            </a:r>
          </a:p>
          <a:p>
            <a:pPr marL="0" indent="0">
              <a:buFont typeface="Arial" panose="020B0604020202020204" pitchFamily="34" charset="0"/>
              <a:buNone/>
            </a:pPr>
            <a:endParaRPr lang="fr-FR" sz="1400" dirty="0"/>
          </a:p>
          <a:p>
            <a:pPr marL="0" indent="0">
              <a:buFont typeface="Arial" panose="020B0604020202020204" pitchFamily="34" charset="0"/>
              <a:buNone/>
            </a:pPr>
            <a:endParaRPr lang="fr-FR" sz="1400" dirty="0"/>
          </a:p>
        </p:txBody>
      </p:sp>
      <p:pic>
        <p:nvPicPr>
          <p:cNvPr id="8" name="Graphique 7" descr="Golf avec un remplissage uni">
            <a:extLst>
              <a:ext uri="{FF2B5EF4-FFF2-40B4-BE49-F238E27FC236}">
                <a16:creationId xmlns:a16="http://schemas.microsoft.com/office/drawing/2014/main" id="{94C4F7BC-7A10-FD0A-933C-A5E7B6CE98F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7709679" y="1519652"/>
            <a:ext cx="914401" cy="914401"/>
          </a:xfrm>
          <a:prstGeom prst="rect">
            <a:avLst/>
          </a:prstGeom>
        </p:spPr>
      </p:pic>
    </p:spTree>
    <p:extLst>
      <p:ext uri="{BB962C8B-B14F-4D97-AF65-F5344CB8AC3E}">
        <p14:creationId xmlns:p14="http://schemas.microsoft.com/office/powerpoint/2010/main" val="183782278"/>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573F8BF-E165-F711-9ECD-FA4E223D351E}"/>
              </a:ext>
            </a:extLst>
          </p:cNvPr>
          <p:cNvSpPr>
            <a:spLocks noGrp="1"/>
          </p:cNvSpPr>
          <p:nvPr>
            <p:ph type="title"/>
          </p:nvPr>
        </p:nvSpPr>
        <p:spPr/>
        <p:txBody>
          <a:bodyPr/>
          <a:lstStyle/>
          <a:p>
            <a:r>
              <a:rPr lang="fr-FR" dirty="0"/>
              <a:t>Résumé et synthèses</a:t>
            </a:r>
          </a:p>
        </p:txBody>
      </p:sp>
      <p:sp>
        <p:nvSpPr>
          <p:cNvPr id="3" name="Espace réservé du contenu 2">
            <a:extLst>
              <a:ext uri="{FF2B5EF4-FFF2-40B4-BE49-F238E27FC236}">
                <a16:creationId xmlns:a16="http://schemas.microsoft.com/office/drawing/2014/main" id="{367307BE-27C8-A863-43D6-BF46B9AB4978}"/>
              </a:ext>
            </a:extLst>
          </p:cNvPr>
          <p:cNvSpPr>
            <a:spLocks noGrp="1"/>
          </p:cNvSpPr>
          <p:nvPr>
            <p:ph idx="1"/>
          </p:nvPr>
        </p:nvSpPr>
        <p:spPr>
          <a:xfrm>
            <a:off x="838200" y="1825625"/>
            <a:ext cx="3629025" cy="4351338"/>
          </a:xfrm>
        </p:spPr>
        <p:txBody>
          <a:bodyPr>
            <a:normAutofit fontScale="85000" lnSpcReduction="20000"/>
          </a:bodyPr>
          <a:lstStyle/>
          <a:p>
            <a:r>
              <a:rPr lang="fr-FR" dirty="0"/>
              <a:t>Vous trouverez dans cette partie les résumés des différents concepts et idées abordés dans ce module.</a:t>
            </a:r>
          </a:p>
          <a:p>
            <a:endParaRPr lang="fr-FR" dirty="0"/>
          </a:p>
          <a:p>
            <a:r>
              <a:rPr lang="fr-FR" dirty="0"/>
              <a:t>Si vous ne lisez que cette partie, nous espérons que les résumés suivants ne seront pas pris au pied de la lettre, mais qu’ils ouvriront votre curiosité à chercher les nuances et subtilités.</a:t>
            </a:r>
          </a:p>
        </p:txBody>
      </p:sp>
      <p:grpSp>
        <p:nvGrpSpPr>
          <p:cNvPr id="11" name="Groupe 10">
            <a:extLst>
              <a:ext uri="{FF2B5EF4-FFF2-40B4-BE49-F238E27FC236}">
                <a16:creationId xmlns:a16="http://schemas.microsoft.com/office/drawing/2014/main" id="{C34E9119-5ED5-EF12-3E6E-3306B0CA0134}"/>
              </a:ext>
            </a:extLst>
          </p:cNvPr>
          <p:cNvGrpSpPr/>
          <p:nvPr/>
        </p:nvGrpSpPr>
        <p:grpSpPr>
          <a:xfrm>
            <a:off x="5826902" y="2152650"/>
            <a:ext cx="5620113" cy="2952750"/>
            <a:chOff x="5826902" y="2251462"/>
            <a:chExt cx="4126723" cy="2168138"/>
          </a:xfrm>
        </p:grpSpPr>
        <p:pic>
          <p:nvPicPr>
            <p:cNvPr id="5" name="Graphique 4" descr="Papier avec un remplissage uni">
              <a:extLst>
                <a:ext uri="{FF2B5EF4-FFF2-40B4-BE49-F238E27FC236}">
                  <a16:creationId xmlns:a16="http://schemas.microsoft.com/office/drawing/2014/main" id="{E8E161AE-DD9A-6CE9-C7CB-232F5D654FF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39225" y="2971800"/>
              <a:ext cx="914400" cy="914400"/>
            </a:xfrm>
            <a:prstGeom prst="rect">
              <a:avLst/>
            </a:prstGeom>
          </p:spPr>
        </p:pic>
        <p:pic>
          <p:nvPicPr>
            <p:cNvPr id="7" name="Graphique 6" descr="Livres avec un remplissage uni">
              <a:extLst>
                <a:ext uri="{FF2B5EF4-FFF2-40B4-BE49-F238E27FC236}">
                  <a16:creationId xmlns:a16="http://schemas.microsoft.com/office/drawing/2014/main" id="{0574CFA0-A765-5210-EF21-18E3C12121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26902" y="2251462"/>
              <a:ext cx="2168138" cy="2168138"/>
            </a:xfrm>
            <a:prstGeom prst="rect">
              <a:avLst/>
            </a:prstGeom>
          </p:spPr>
        </p:pic>
        <p:sp>
          <p:nvSpPr>
            <p:cNvPr id="8" name="Flèche : droite 7">
              <a:extLst>
                <a:ext uri="{FF2B5EF4-FFF2-40B4-BE49-F238E27FC236}">
                  <a16:creationId xmlns:a16="http://schemas.microsoft.com/office/drawing/2014/main" id="{20D2C754-DA0E-1C51-D0BE-39677A86E325}"/>
                </a:ext>
              </a:extLst>
            </p:cNvPr>
            <p:cNvSpPr/>
            <p:nvPr/>
          </p:nvSpPr>
          <p:spPr>
            <a:xfrm rot="1257256">
              <a:off x="8228686" y="2828924"/>
              <a:ext cx="576892" cy="28575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lèche : droite 8">
              <a:extLst>
                <a:ext uri="{FF2B5EF4-FFF2-40B4-BE49-F238E27FC236}">
                  <a16:creationId xmlns:a16="http://schemas.microsoft.com/office/drawing/2014/main" id="{6CA5131E-DA0D-5E51-D6EE-356A616BFC0E}"/>
                </a:ext>
              </a:extLst>
            </p:cNvPr>
            <p:cNvSpPr/>
            <p:nvPr/>
          </p:nvSpPr>
          <p:spPr>
            <a:xfrm>
              <a:off x="8196666" y="3228976"/>
              <a:ext cx="576892" cy="28575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Flèche : droite 9">
              <a:extLst>
                <a:ext uri="{FF2B5EF4-FFF2-40B4-BE49-F238E27FC236}">
                  <a16:creationId xmlns:a16="http://schemas.microsoft.com/office/drawing/2014/main" id="{3EC978BB-56D1-D8D5-8E88-147E972F6F58}"/>
                </a:ext>
              </a:extLst>
            </p:cNvPr>
            <p:cNvSpPr/>
            <p:nvPr/>
          </p:nvSpPr>
          <p:spPr>
            <a:xfrm rot="20278888">
              <a:off x="8229193" y="3671141"/>
              <a:ext cx="576892" cy="28575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5462132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61606E-7B1B-AF13-91F0-CEB4ECD55444}"/>
              </a:ext>
            </a:extLst>
          </p:cNvPr>
          <p:cNvSpPr>
            <a:spLocks noGrp="1"/>
          </p:cNvSpPr>
          <p:nvPr>
            <p:ph type="title"/>
          </p:nvPr>
        </p:nvSpPr>
        <p:spPr/>
        <p:txBody>
          <a:bodyPr/>
          <a:lstStyle/>
          <a:p>
            <a:r>
              <a:rPr lang="fr-FR" dirty="0"/>
              <a:t>Résumé, une phrase par image</a:t>
            </a:r>
          </a:p>
        </p:txBody>
      </p:sp>
      <p:grpSp>
        <p:nvGrpSpPr>
          <p:cNvPr id="17" name="Groupe 16">
            <a:extLst>
              <a:ext uri="{FF2B5EF4-FFF2-40B4-BE49-F238E27FC236}">
                <a16:creationId xmlns:a16="http://schemas.microsoft.com/office/drawing/2014/main" id="{1EB1976C-A83C-5CA8-F308-8E2AAF5C898E}"/>
              </a:ext>
            </a:extLst>
          </p:cNvPr>
          <p:cNvGrpSpPr/>
          <p:nvPr/>
        </p:nvGrpSpPr>
        <p:grpSpPr>
          <a:xfrm>
            <a:off x="1659469" y="1934356"/>
            <a:ext cx="1431319" cy="1615921"/>
            <a:chOff x="838200" y="1847075"/>
            <a:chExt cx="4366615" cy="4929793"/>
          </a:xfrm>
        </p:grpSpPr>
        <p:pic>
          <p:nvPicPr>
            <p:cNvPr id="12" name="Espace réservé du contenu 6" descr="Tribunal contour">
              <a:extLst>
                <a:ext uri="{FF2B5EF4-FFF2-40B4-BE49-F238E27FC236}">
                  <a16:creationId xmlns:a16="http://schemas.microsoft.com/office/drawing/2014/main" id="{424DB53D-06E1-123C-E160-25FC7E7EF88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75101" r="8805" b="9752"/>
            <a:stretch/>
          </p:blipFill>
          <p:spPr>
            <a:xfrm>
              <a:off x="838200" y="5988151"/>
              <a:ext cx="4325259" cy="788717"/>
            </a:xfrm>
            <a:prstGeom prst="rect">
              <a:avLst/>
            </a:prstGeom>
          </p:spPr>
        </p:pic>
        <p:grpSp>
          <p:nvGrpSpPr>
            <p:cNvPr id="16" name="Groupe 15">
              <a:extLst>
                <a:ext uri="{FF2B5EF4-FFF2-40B4-BE49-F238E27FC236}">
                  <a16:creationId xmlns:a16="http://schemas.microsoft.com/office/drawing/2014/main" id="{5836E8F7-5183-0F45-5690-89375EFC777B}"/>
                </a:ext>
              </a:extLst>
            </p:cNvPr>
            <p:cNvGrpSpPr/>
            <p:nvPr/>
          </p:nvGrpSpPr>
          <p:grpSpPr>
            <a:xfrm>
              <a:off x="838200" y="1847075"/>
              <a:ext cx="4366615" cy="3730765"/>
              <a:chOff x="838200" y="1847075"/>
              <a:chExt cx="4366615" cy="3730765"/>
            </a:xfrm>
          </p:grpSpPr>
          <p:pic>
            <p:nvPicPr>
              <p:cNvPr id="13" name="Espace réservé du contenu 6" descr="Tribunal contour">
                <a:extLst>
                  <a:ext uri="{FF2B5EF4-FFF2-40B4-BE49-F238E27FC236}">
                    <a16:creationId xmlns:a16="http://schemas.microsoft.com/office/drawing/2014/main" id="{F4FC9AE4-C498-7DF3-B1E5-D632B78F789C}"/>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37523" r="8805" b="24898"/>
              <a:stretch/>
            </p:blipFill>
            <p:spPr>
              <a:xfrm>
                <a:off x="838200" y="3621024"/>
                <a:ext cx="4325259" cy="1956816"/>
              </a:xfrm>
              <a:prstGeom prst="rect">
                <a:avLst/>
              </a:prstGeom>
            </p:spPr>
          </p:pic>
          <p:pic>
            <p:nvPicPr>
              <p:cNvPr id="14" name="Espace réservé du contenu 6" descr="Tribunal contour">
                <a:extLst>
                  <a:ext uri="{FF2B5EF4-FFF2-40B4-BE49-F238E27FC236}">
                    <a16:creationId xmlns:a16="http://schemas.microsoft.com/office/drawing/2014/main" id="{0CB9B374-345F-77D5-92E1-BC081517B02B}"/>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879556" y="1847075"/>
                <a:ext cx="4325259" cy="1324929"/>
              </a:xfrm>
              <a:prstGeom prst="rect">
                <a:avLst/>
              </a:prstGeom>
            </p:spPr>
          </p:pic>
          <p:pic>
            <p:nvPicPr>
              <p:cNvPr id="15" name="Graphique 14" descr="Réussite du groupe avec un remplissage uni">
                <a:extLst>
                  <a:ext uri="{FF2B5EF4-FFF2-40B4-BE49-F238E27FC236}">
                    <a16:creationId xmlns:a16="http://schemas.microsoft.com/office/drawing/2014/main" id="{7CFE882C-5125-DC8B-A0AD-337680497CDD}"/>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3979" b="19010"/>
              <a:stretch/>
            </p:blipFill>
            <p:spPr>
              <a:xfrm>
                <a:off x="2141153" y="4425696"/>
                <a:ext cx="1719352" cy="1152144"/>
              </a:xfrm>
              <a:prstGeom prst="rect">
                <a:avLst/>
              </a:prstGeom>
            </p:spPr>
          </p:pic>
        </p:grpSp>
      </p:grpSp>
      <p:grpSp>
        <p:nvGrpSpPr>
          <p:cNvPr id="65" name="Groupe 64">
            <a:extLst>
              <a:ext uri="{FF2B5EF4-FFF2-40B4-BE49-F238E27FC236}">
                <a16:creationId xmlns:a16="http://schemas.microsoft.com/office/drawing/2014/main" id="{12280BD4-97D9-F673-33C5-0AEBD6A3F0F6}"/>
              </a:ext>
            </a:extLst>
          </p:cNvPr>
          <p:cNvGrpSpPr/>
          <p:nvPr/>
        </p:nvGrpSpPr>
        <p:grpSpPr>
          <a:xfrm>
            <a:off x="4767264" y="2290673"/>
            <a:ext cx="2907684" cy="963910"/>
            <a:chOff x="226279" y="1515734"/>
            <a:chExt cx="11496341" cy="3811086"/>
          </a:xfrm>
        </p:grpSpPr>
        <p:grpSp>
          <p:nvGrpSpPr>
            <p:cNvPr id="18" name="Groupe 17">
              <a:extLst>
                <a:ext uri="{FF2B5EF4-FFF2-40B4-BE49-F238E27FC236}">
                  <a16:creationId xmlns:a16="http://schemas.microsoft.com/office/drawing/2014/main" id="{7FBCC789-7E87-9F82-6EA4-F3D853B8DE08}"/>
                </a:ext>
              </a:extLst>
            </p:cNvPr>
            <p:cNvGrpSpPr/>
            <p:nvPr/>
          </p:nvGrpSpPr>
          <p:grpSpPr>
            <a:xfrm>
              <a:off x="9731155" y="2884611"/>
              <a:ext cx="1991465" cy="2442209"/>
              <a:chOff x="8860995" y="282959"/>
              <a:chExt cx="3407094" cy="4178249"/>
            </a:xfrm>
            <a:solidFill>
              <a:schemeClr val="tx1"/>
            </a:solidFill>
          </p:grpSpPr>
          <p:pic>
            <p:nvPicPr>
              <p:cNvPr id="19" name="Graphique 18" descr="Diagramme de flux avec un remplissage uni">
                <a:extLst>
                  <a:ext uri="{FF2B5EF4-FFF2-40B4-BE49-F238E27FC236}">
                    <a16:creationId xmlns:a16="http://schemas.microsoft.com/office/drawing/2014/main" id="{FA259D2D-1639-D9BE-6B02-838E76F6B57A}"/>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1353689" y="3108467"/>
                <a:ext cx="914400" cy="603649"/>
              </a:xfrm>
              <a:prstGeom prst="rect">
                <a:avLst/>
              </a:prstGeom>
            </p:spPr>
          </p:pic>
          <p:grpSp>
            <p:nvGrpSpPr>
              <p:cNvPr id="20" name="Groupe 19">
                <a:extLst>
                  <a:ext uri="{FF2B5EF4-FFF2-40B4-BE49-F238E27FC236}">
                    <a16:creationId xmlns:a16="http://schemas.microsoft.com/office/drawing/2014/main" id="{120364D1-BF55-688F-66B9-52B75EA42A4F}"/>
                  </a:ext>
                </a:extLst>
              </p:cNvPr>
              <p:cNvGrpSpPr/>
              <p:nvPr/>
            </p:nvGrpSpPr>
            <p:grpSpPr>
              <a:xfrm>
                <a:off x="8860995" y="282959"/>
                <a:ext cx="3360434" cy="4178249"/>
                <a:chOff x="8860995" y="282959"/>
                <a:chExt cx="3360434" cy="4178249"/>
              </a:xfrm>
              <a:grpFill/>
            </p:grpSpPr>
            <p:pic>
              <p:nvPicPr>
                <p:cNvPr id="21" name="Graphique 20" descr="Diagramme de flux avec un remplissage uni">
                  <a:extLst>
                    <a:ext uri="{FF2B5EF4-FFF2-40B4-BE49-F238E27FC236}">
                      <a16:creationId xmlns:a16="http://schemas.microsoft.com/office/drawing/2014/main" id="{B7ED94F0-D19C-D69B-619D-B5A9010F5EA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085908" y="282959"/>
                  <a:ext cx="914400" cy="914400"/>
                </a:xfrm>
                <a:prstGeom prst="rect">
                  <a:avLst/>
                </a:prstGeom>
              </p:spPr>
            </p:pic>
            <p:pic>
              <p:nvPicPr>
                <p:cNvPr id="22" name="Graphique 21" descr="Diagramme de flux avec un remplissage uni">
                  <a:extLst>
                    <a:ext uri="{FF2B5EF4-FFF2-40B4-BE49-F238E27FC236}">
                      <a16:creationId xmlns:a16="http://schemas.microsoft.com/office/drawing/2014/main" id="{D4E2ECD8-5763-08E6-52BE-6613BC709F9D}"/>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9758979" y="1013706"/>
                  <a:ext cx="914400" cy="603649"/>
                </a:xfrm>
                <a:prstGeom prst="rect">
                  <a:avLst/>
                </a:prstGeom>
              </p:spPr>
            </p:pic>
            <p:pic>
              <p:nvPicPr>
                <p:cNvPr id="23" name="Graphique 22" descr="Diagramme de flux avec un remplissage uni">
                  <a:extLst>
                    <a:ext uri="{FF2B5EF4-FFF2-40B4-BE49-F238E27FC236}">
                      <a16:creationId xmlns:a16="http://schemas.microsoft.com/office/drawing/2014/main" id="{FBE451D6-55CE-908D-0069-9A91593AADA3}"/>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9460854" y="1453033"/>
                  <a:ext cx="914400" cy="603649"/>
                </a:xfrm>
                <a:prstGeom prst="rect">
                  <a:avLst/>
                </a:prstGeom>
              </p:spPr>
            </p:pic>
            <p:pic>
              <p:nvPicPr>
                <p:cNvPr id="24" name="Graphique 23" descr="Diagramme de flux avec un remplissage uni">
                  <a:extLst>
                    <a:ext uri="{FF2B5EF4-FFF2-40B4-BE49-F238E27FC236}">
                      <a16:creationId xmlns:a16="http://schemas.microsoft.com/office/drawing/2014/main" id="{F74228B9-08F5-8494-7E9E-41A2069BA063}"/>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9154819" y="1868228"/>
                  <a:ext cx="914400" cy="603649"/>
                </a:xfrm>
                <a:prstGeom prst="rect">
                  <a:avLst/>
                </a:prstGeom>
              </p:spPr>
            </p:pic>
            <p:pic>
              <p:nvPicPr>
                <p:cNvPr id="25" name="Graphique 24" descr="Diagramme de flux avec un remplissage uni">
                  <a:extLst>
                    <a:ext uri="{FF2B5EF4-FFF2-40B4-BE49-F238E27FC236}">
                      <a16:creationId xmlns:a16="http://schemas.microsoft.com/office/drawing/2014/main" id="{CB0F6556-BD99-BD3A-6C11-3887A35E558A}"/>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9758979" y="1841293"/>
                  <a:ext cx="914400" cy="603649"/>
                </a:xfrm>
                <a:prstGeom prst="rect">
                  <a:avLst/>
                </a:prstGeom>
              </p:spPr>
            </p:pic>
            <p:pic>
              <p:nvPicPr>
                <p:cNvPr id="26" name="Graphique 25" descr="Diagramme de flux avec un remplissage uni">
                  <a:extLst>
                    <a:ext uri="{FF2B5EF4-FFF2-40B4-BE49-F238E27FC236}">
                      <a16:creationId xmlns:a16="http://schemas.microsoft.com/office/drawing/2014/main" id="{583D950E-4058-5685-6EA5-25B43F8E1D0D}"/>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8860995" y="2287625"/>
                  <a:ext cx="914400" cy="603649"/>
                </a:xfrm>
                <a:prstGeom prst="rect">
                  <a:avLst/>
                </a:prstGeom>
              </p:spPr>
            </p:pic>
            <p:pic>
              <p:nvPicPr>
                <p:cNvPr id="27" name="Graphique 26" descr="Diagramme de flux avec un remplissage uni">
                  <a:extLst>
                    <a:ext uri="{FF2B5EF4-FFF2-40B4-BE49-F238E27FC236}">
                      <a16:creationId xmlns:a16="http://schemas.microsoft.com/office/drawing/2014/main" id="{361F6C85-BE74-6C59-24D9-E23CBEADDD4B}"/>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412836" y="1004605"/>
                  <a:ext cx="914400" cy="603649"/>
                </a:xfrm>
                <a:prstGeom prst="rect">
                  <a:avLst/>
                </a:prstGeom>
              </p:spPr>
            </p:pic>
            <p:pic>
              <p:nvPicPr>
                <p:cNvPr id="28" name="Graphique 27" descr="Diagramme de flux avec un remplissage uni">
                  <a:extLst>
                    <a:ext uri="{FF2B5EF4-FFF2-40B4-BE49-F238E27FC236}">
                      <a16:creationId xmlns:a16="http://schemas.microsoft.com/office/drawing/2014/main" id="{3236E849-9F7F-D981-A9B5-F0AC19F069D2}"/>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723076" y="1403998"/>
                  <a:ext cx="914400" cy="603649"/>
                </a:xfrm>
                <a:prstGeom prst="rect">
                  <a:avLst/>
                </a:prstGeom>
              </p:spPr>
            </p:pic>
            <p:pic>
              <p:nvPicPr>
                <p:cNvPr id="29" name="Graphique 28" descr="Diagramme de flux avec un remplissage uni">
                  <a:extLst>
                    <a:ext uri="{FF2B5EF4-FFF2-40B4-BE49-F238E27FC236}">
                      <a16:creationId xmlns:a16="http://schemas.microsoft.com/office/drawing/2014/main" id="{494D7B93-6538-8EC0-E082-BCBFBBFC870E}"/>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022751" y="2243336"/>
                  <a:ext cx="914400" cy="603649"/>
                </a:xfrm>
                <a:prstGeom prst="rect">
                  <a:avLst/>
                </a:prstGeom>
              </p:spPr>
            </p:pic>
            <p:pic>
              <p:nvPicPr>
                <p:cNvPr id="30" name="Graphique 29" descr="Diagramme de flux avec un remplissage uni">
                  <a:extLst>
                    <a:ext uri="{FF2B5EF4-FFF2-40B4-BE49-F238E27FC236}">
                      <a16:creationId xmlns:a16="http://schemas.microsoft.com/office/drawing/2014/main" id="{CD21C456-6858-D1A1-CBCA-9543E4CA4B07}"/>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034729" y="2661108"/>
                  <a:ext cx="914400" cy="603649"/>
                </a:xfrm>
                <a:prstGeom prst="rect">
                  <a:avLst/>
                </a:prstGeom>
              </p:spPr>
            </p:pic>
            <p:pic>
              <p:nvPicPr>
                <p:cNvPr id="31" name="Graphique 30" descr="Diagramme de flux avec un remplissage uni">
                  <a:extLst>
                    <a:ext uri="{FF2B5EF4-FFF2-40B4-BE49-F238E27FC236}">
                      <a16:creationId xmlns:a16="http://schemas.microsoft.com/office/drawing/2014/main" id="{095C78E4-6AFF-09D3-27D6-93C793E060A8}"/>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046261" y="3060336"/>
                  <a:ext cx="914400" cy="603649"/>
                </a:xfrm>
                <a:prstGeom prst="rect">
                  <a:avLst/>
                </a:prstGeom>
              </p:spPr>
            </p:pic>
            <p:pic>
              <p:nvPicPr>
                <p:cNvPr id="32" name="Graphique 31" descr="Diagramme de flux avec un remplissage uni">
                  <a:extLst>
                    <a:ext uri="{FF2B5EF4-FFF2-40B4-BE49-F238E27FC236}">
                      <a16:creationId xmlns:a16="http://schemas.microsoft.com/office/drawing/2014/main" id="{FD689E4D-95CE-EF4E-B2A7-6BFA7FCE1264}"/>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1021201" y="1809840"/>
                  <a:ext cx="914400" cy="603649"/>
                </a:xfrm>
                <a:prstGeom prst="rect">
                  <a:avLst/>
                </a:prstGeom>
              </p:spPr>
            </p:pic>
            <p:pic>
              <p:nvPicPr>
                <p:cNvPr id="33" name="Graphique 32" descr="Diagramme de flux avec un remplissage uni">
                  <a:extLst>
                    <a:ext uri="{FF2B5EF4-FFF2-40B4-BE49-F238E27FC236}">
                      <a16:creationId xmlns:a16="http://schemas.microsoft.com/office/drawing/2014/main" id="{077742D4-F19E-B4BA-7D8C-B474C4600A69}"/>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1307029" y="2255207"/>
                  <a:ext cx="914400" cy="603649"/>
                </a:xfrm>
                <a:prstGeom prst="rect">
                  <a:avLst/>
                </a:prstGeom>
              </p:spPr>
            </p:pic>
            <p:pic>
              <p:nvPicPr>
                <p:cNvPr id="34" name="Graphique 33" descr="Diagramme de flux avec un remplissage uni">
                  <a:extLst>
                    <a:ext uri="{FF2B5EF4-FFF2-40B4-BE49-F238E27FC236}">
                      <a16:creationId xmlns:a16="http://schemas.microsoft.com/office/drawing/2014/main" id="{F9422D08-F869-C8FF-1A3A-CA2486A0F2EC}"/>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1039740" y="2681006"/>
                  <a:ext cx="914400" cy="603649"/>
                </a:xfrm>
                <a:prstGeom prst="rect">
                  <a:avLst/>
                </a:prstGeom>
              </p:spPr>
            </p:pic>
            <p:pic>
              <p:nvPicPr>
                <p:cNvPr id="35" name="Graphique 34" descr="Diagramme de flux avec un remplissage uni">
                  <a:extLst>
                    <a:ext uri="{FF2B5EF4-FFF2-40B4-BE49-F238E27FC236}">
                      <a16:creationId xmlns:a16="http://schemas.microsoft.com/office/drawing/2014/main" id="{EF28AF00-41F7-F3FD-E208-D7691EFCFF9E}"/>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1057840" y="3490451"/>
                  <a:ext cx="914400" cy="603649"/>
                </a:xfrm>
                <a:prstGeom prst="rect">
                  <a:avLst/>
                </a:prstGeom>
              </p:spPr>
            </p:pic>
            <p:pic>
              <p:nvPicPr>
                <p:cNvPr id="36" name="Graphique 35" descr="Diagramme de flux avec un remplissage uni">
                  <a:extLst>
                    <a:ext uri="{FF2B5EF4-FFF2-40B4-BE49-F238E27FC236}">
                      <a16:creationId xmlns:a16="http://schemas.microsoft.com/office/drawing/2014/main" id="{67D057CF-567C-D192-9695-FEF2EAFE0401}"/>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741017" y="3857559"/>
                  <a:ext cx="914400" cy="603649"/>
                </a:xfrm>
                <a:prstGeom prst="rect">
                  <a:avLst/>
                </a:prstGeom>
              </p:spPr>
            </p:pic>
          </p:grpSp>
        </p:grpSp>
        <p:sp>
          <p:nvSpPr>
            <p:cNvPr id="37" name="Forme libre : forme 36">
              <a:extLst>
                <a:ext uri="{FF2B5EF4-FFF2-40B4-BE49-F238E27FC236}">
                  <a16:creationId xmlns:a16="http://schemas.microsoft.com/office/drawing/2014/main" id="{4F6BD0A9-1C61-EE2A-8025-DD61AB3AC5E2}"/>
                </a:ext>
              </a:extLst>
            </p:cNvPr>
            <p:cNvSpPr/>
            <p:nvPr/>
          </p:nvSpPr>
          <p:spPr>
            <a:xfrm>
              <a:off x="226279" y="3208314"/>
              <a:ext cx="1846868" cy="1215667"/>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1905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8" name="Forme libre : forme 37">
              <a:extLst>
                <a:ext uri="{FF2B5EF4-FFF2-40B4-BE49-F238E27FC236}">
                  <a16:creationId xmlns:a16="http://schemas.microsoft.com/office/drawing/2014/main" id="{F1F8ABD4-1C68-1350-BDF2-C2788864807B}"/>
                </a:ext>
              </a:extLst>
            </p:cNvPr>
            <p:cNvSpPr/>
            <p:nvPr/>
          </p:nvSpPr>
          <p:spPr>
            <a:xfrm>
              <a:off x="1593996" y="4105716"/>
              <a:ext cx="1102884" cy="1184321"/>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1905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Forme libre : forme 38">
              <a:extLst>
                <a:ext uri="{FF2B5EF4-FFF2-40B4-BE49-F238E27FC236}">
                  <a16:creationId xmlns:a16="http://schemas.microsoft.com/office/drawing/2014/main" id="{997BB4AD-AE11-1864-ED6F-02501D41273D}"/>
                </a:ext>
              </a:extLst>
            </p:cNvPr>
            <p:cNvSpPr/>
            <p:nvPr/>
          </p:nvSpPr>
          <p:spPr>
            <a:xfrm>
              <a:off x="304047" y="4064421"/>
              <a:ext cx="1482348" cy="598041"/>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1905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40" name="Groupe 39">
              <a:extLst>
                <a:ext uri="{FF2B5EF4-FFF2-40B4-BE49-F238E27FC236}">
                  <a16:creationId xmlns:a16="http://schemas.microsoft.com/office/drawing/2014/main" id="{C788495A-B796-FBC5-E087-91CE8163FE40}"/>
                </a:ext>
              </a:extLst>
            </p:cNvPr>
            <p:cNvGrpSpPr/>
            <p:nvPr/>
          </p:nvGrpSpPr>
          <p:grpSpPr>
            <a:xfrm>
              <a:off x="4672445" y="1515734"/>
              <a:ext cx="2470601" cy="2442209"/>
              <a:chOff x="7436625" y="1695833"/>
              <a:chExt cx="4404256" cy="4353642"/>
            </a:xfrm>
          </p:grpSpPr>
          <p:grpSp>
            <p:nvGrpSpPr>
              <p:cNvPr id="41" name="Groupe 40">
                <a:extLst>
                  <a:ext uri="{FF2B5EF4-FFF2-40B4-BE49-F238E27FC236}">
                    <a16:creationId xmlns:a16="http://schemas.microsoft.com/office/drawing/2014/main" id="{0093BA6D-FBC6-C09E-7B24-6D544CD3209B}"/>
                  </a:ext>
                </a:extLst>
              </p:cNvPr>
              <p:cNvGrpSpPr/>
              <p:nvPr/>
            </p:nvGrpSpPr>
            <p:grpSpPr>
              <a:xfrm>
                <a:off x="8001696" y="1695833"/>
                <a:ext cx="3550117" cy="4353642"/>
                <a:chOff x="8860995" y="282959"/>
                <a:chExt cx="3407094" cy="4178249"/>
              </a:xfrm>
              <a:solidFill>
                <a:schemeClr val="tx1"/>
              </a:solidFill>
            </p:grpSpPr>
            <p:pic>
              <p:nvPicPr>
                <p:cNvPr id="45" name="Graphique 44" descr="Diagramme de flux avec un remplissage uni">
                  <a:extLst>
                    <a:ext uri="{FF2B5EF4-FFF2-40B4-BE49-F238E27FC236}">
                      <a16:creationId xmlns:a16="http://schemas.microsoft.com/office/drawing/2014/main" id="{7AF1162A-01D5-4C46-C1AD-21DAF206ED8F}"/>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1353689" y="3108467"/>
                  <a:ext cx="914400" cy="603649"/>
                </a:xfrm>
                <a:prstGeom prst="rect">
                  <a:avLst/>
                </a:prstGeom>
              </p:spPr>
            </p:pic>
            <p:grpSp>
              <p:nvGrpSpPr>
                <p:cNvPr id="46" name="Groupe 45">
                  <a:extLst>
                    <a:ext uri="{FF2B5EF4-FFF2-40B4-BE49-F238E27FC236}">
                      <a16:creationId xmlns:a16="http://schemas.microsoft.com/office/drawing/2014/main" id="{0A12F260-CC88-1368-DE0F-1B7B04C2FBF4}"/>
                    </a:ext>
                  </a:extLst>
                </p:cNvPr>
                <p:cNvGrpSpPr/>
                <p:nvPr/>
              </p:nvGrpSpPr>
              <p:grpSpPr>
                <a:xfrm>
                  <a:off x="8860995" y="282959"/>
                  <a:ext cx="3360434" cy="4178249"/>
                  <a:chOff x="8860995" y="282959"/>
                  <a:chExt cx="3360434" cy="4178249"/>
                </a:xfrm>
                <a:grpFill/>
              </p:grpSpPr>
              <p:pic>
                <p:nvPicPr>
                  <p:cNvPr id="47" name="Graphique 46" descr="Diagramme de flux avec un remplissage uni">
                    <a:extLst>
                      <a:ext uri="{FF2B5EF4-FFF2-40B4-BE49-F238E27FC236}">
                        <a16:creationId xmlns:a16="http://schemas.microsoft.com/office/drawing/2014/main" id="{D6822E84-7F6A-42D8-CE55-50AECC76D73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085908" y="282959"/>
                    <a:ext cx="914400" cy="914400"/>
                  </a:xfrm>
                  <a:prstGeom prst="rect">
                    <a:avLst/>
                  </a:prstGeom>
                </p:spPr>
              </p:pic>
              <p:pic>
                <p:nvPicPr>
                  <p:cNvPr id="48" name="Graphique 47" descr="Diagramme de flux avec un remplissage uni">
                    <a:extLst>
                      <a:ext uri="{FF2B5EF4-FFF2-40B4-BE49-F238E27FC236}">
                        <a16:creationId xmlns:a16="http://schemas.microsoft.com/office/drawing/2014/main" id="{6FF910A8-5C09-19D1-E9C0-C4B58E4038DB}"/>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9758979" y="1013706"/>
                    <a:ext cx="914400" cy="603649"/>
                  </a:xfrm>
                  <a:prstGeom prst="rect">
                    <a:avLst/>
                  </a:prstGeom>
                </p:spPr>
              </p:pic>
              <p:pic>
                <p:nvPicPr>
                  <p:cNvPr id="49" name="Graphique 48" descr="Diagramme de flux avec un remplissage uni">
                    <a:extLst>
                      <a:ext uri="{FF2B5EF4-FFF2-40B4-BE49-F238E27FC236}">
                        <a16:creationId xmlns:a16="http://schemas.microsoft.com/office/drawing/2014/main" id="{29165F8E-7BDD-235E-AE99-47466D776D99}"/>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9460854" y="1453033"/>
                    <a:ext cx="914400" cy="603649"/>
                  </a:xfrm>
                  <a:prstGeom prst="rect">
                    <a:avLst/>
                  </a:prstGeom>
                </p:spPr>
              </p:pic>
              <p:pic>
                <p:nvPicPr>
                  <p:cNvPr id="50" name="Graphique 49" descr="Diagramme de flux avec un remplissage uni">
                    <a:extLst>
                      <a:ext uri="{FF2B5EF4-FFF2-40B4-BE49-F238E27FC236}">
                        <a16:creationId xmlns:a16="http://schemas.microsoft.com/office/drawing/2014/main" id="{1B6893D5-C521-D663-FE0E-62B6F25F0E0C}"/>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9154819" y="1868228"/>
                    <a:ext cx="914400" cy="603649"/>
                  </a:xfrm>
                  <a:prstGeom prst="rect">
                    <a:avLst/>
                  </a:prstGeom>
                </p:spPr>
              </p:pic>
              <p:pic>
                <p:nvPicPr>
                  <p:cNvPr id="51" name="Graphique 50" descr="Diagramme de flux avec un remplissage uni">
                    <a:extLst>
                      <a:ext uri="{FF2B5EF4-FFF2-40B4-BE49-F238E27FC236}">
                        <a16:creationId xmlns:a16="http://schemas.microsoft.com/office/drawing/2014/main" id="{47734EAB-F3CB-F42B-1186-6D5B90B865EE}"/>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9758979" y="1841293"/>
                    <a:ext cx="914400" cy="603649"/>
                  </a:xfrm>
                  <a:prstGeom prst="rect">
                    <a:avLst/>
                  </a:prstGeom>
                </p:spPr>
              </p:pic>
              <p:pic>
                <p:nvPicPr>
                  <p:cNvPr id="52" name="Graphique 51" descr="Diagramme de flux avec un remplissage uni">
                    <a:extLst>
                      <a:ext uri="{FF2B5EF4-FFF2-40B4-BE49-F238E27FC236}">
                        <a16:creationId xmlns:a16="http://schemas.microsoft.com/office/drawing/2014/main" id="{CDBF16E9-381A-54A8-3948-365EC1ED5E6D}"/>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8860995" y="2287625"/>
                    <a:ext cx="914400" cy="603649"/>
                  </a:xfrm>
                  <a:prstGeom prst="rect">
                    <a:avLst/>
                  </a:prstGeom>
                </p:spPr>
              </p:pic>
              <p:pic>
                <p:nvPicPr>
                  <p:cNvPr id="53" name="Graphique 52" descr="Diagramme de flux avec un remplissage uni">
                    <a:extLst>
                      <a:ext uri="{FF2B5EF4-FFF2-40B4-BE49-F238E27FC236}">
                        <a16:creationId xmlns:a16="http://schemas.microsoft.com/office/drawing/2014/main" id="{005EFE93-F3DB-2ABA-06B2-2D0F744CFB04}"/>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412836" y="1004605"/>
                    <a:ext cx="914400" cy="603649"/>
                  </a:xfrm>
                  <a:prstGeom prst="rect">
                    <a:avLst/>
                  </a:prstGeom>
                </p:spPr>
              </p:pic>
              <p:pic>
                <p:nvPicPr>
                  <p:cNvPr id="54" name="Graphique 53" descr="Diagramme de flux avec un remplissage uni">
                    <a:extLst>
                      <a:ext uri="{FF2B5EF4-FFF2-40B4-BE49-F238E27FC236}">
                        <a16:creationId xmlns:a16="http://schemas.microsoft.com/office/drawing/2014/main" id="{D9AB87D6-37E1-8867-9D0E-AF1BB1BB2F55}"/>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723076" y="1403998"/>
                    <a:ext cx="914400" cy="603649"/>
                  </a:xfrm>
                  <a:prstGeom prst="rect">
                    <a:avLst/>
                  </a:prstGeom>
                </p:spPr>
              </p:pic>
              <p:pic>
                <p:nvPicPr>
                  <p:cNvPr id="55" name="Graphique 54" descr="Diagramme de flux avec un remplissage uni">
                    <a:extLst>
                      <a:ext uri="{FF2B5EF4-FFF2-40B4-BE49-F238E27FC236}">
                        <a16:creationId xmlns:a16="http://schemas.microsoft.com/office/drawing/2014/main" id="{0E10CE8E-ECD0-010A-F803-DB9B3C2BCE82}"/>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022751" y="2243336"/>
                    <a:ext cx="914400" cy="603649"/>
                  </a:xfrm>
                  <a:prstGeom prst="rect">
                    <a:avLst/>
                  </a:prstGeom>
                </p:spPr>
              </p:pic>
              <p:pic>
                <p:nvPicPr>
                  <p:cNvPr id="56" name="Graphique 55" descr="Diagramme de flux avec un remplissage uni">
                    <a:extLst>
                      <a:ext uri="{FF2B5EF4-FFF2-40B4-BE49-F238E27FC236}">
                        <a16:creationId xmlns:a16="http://schemas.microsoft.com/office/drawing/2014/main" id="{4C29CDA0-D9D4-804F-B625-E8EC1AB03A1D}"/>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034729" y="2661108"/>
                    <a:ext cx="914400" cy="603649"/>
                  </a:xfrm>
                  <a:prstGeom prst="rect">
                    <a:avLst/>
                  </a:prstGeom>
                </p:spPr>
              </p:pic>
              <p:pic>
                <p:nvPicPr>
                  <p:cNvPr id="57" name="Graphique 56" descr="Diagramme de flux avec un remplissage uni">
                    <a:extLst>
                      <a:ext uri="{FF2B5EF4-FFF2-40B4-BE49-F238E27FC236}">
                        <a16:creationId xmlns:a16="http://schemas.microsoft.com/office/drawing/2014/main" id="{F80C2889-A399-EAAC-8FCA-6661C0401932}"/>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046261" y="3060336"/>
                    <a:ext cx="914400" cy="603649"/>
                  </a:xfrm>
                  <a:prstGeom prst="rect">
                    <a:avLst/>
                  </a:prstGeom>
                </p:spPr>
              </p:pic>
              <p:pic>
                <p:nvPicPr>
                  <p:cNvPr id="58" name="Graphique 57" descr="Diagramme de flux avec un remplissage uni">
                    <a:extLst>
                      <a:ext uri="{FF2B5EF4-FFF2-40B4-BE49-F238E27FC236}">
                        <a16:creationId xmlns:a16="http://schemas.microsoft.com/office/drawing/2014/main" id="{F30C7759-50D9-FE03-B9A0-294D2B281C4E}"/>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1021201" y="1809840"/>
                    <a:ext cx="914400" cy="603649"/>
                  </a:xfrm>
                  <a:prstGeom prst="rect">
                    <a:avLst/>
                  </a:prstGeom>
                </p:spPr>
              </p:pic>
              <p:pic>
                <p:nvPicPr>
                  <p:cNvPr id="59" name="Graphique 58" descr="Diagramme de flux avec un remplissage uni">
                    <a:extLst>
                      <a:ext uri="{FF2B5EF4-FFF2-40B4-BE49-F238E27FC236}">
                        <a16:creationId xmlns:a16="http://schemas.microsoft.com/office/drawing/2014/main" id="{641A6E12-E779-22EF-E027-308D28A7A220}"/>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1307029" y="2255207"/>
                    <a:ext cx="914400" cy="603649"/>
                  </a:xfrm>
                  <a:prstGeom prst="rect">
                    <a:avLst/>
                  </a:prstGeom>
                </p:spPr>
              </p:pic>
              <p:pic>
                <p:nvPicPr>
                  <p:cNvPr id="60" name="Graphique 59" descr="Diagramme de flux avec un remplissage uni">
                    <a:extLst>
                      <a:ext uri="{FF2B5EF4-FFF2-40B4-BE49-F238E27FC236}">
                        <a16:creationId xmlns:a16="http://schemas.microsoft.com/office/drawing/2014/main" id="{1F82ECC7-FE27-27C3-DACF-8E10BC928BF0}"/>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1039740" y="2681006"/>
                    <a:ext cx="914400" cy="603649"/>
                  </a:xfrm>
                  <a:prstGeom prst="rect">
                    <a:avLst/>
                  </a:prstGeom>
                </p:spPr>
              </p:pic>
              <p:pic>
                <p:nvPicPr>
                  <p:cNvPr id="61" name="Graphique 60" descr="Diagramme de flux avec un remplissage uni">
                    <a:extLst>
                      <a:ext uri="{FF2B5EF4-FFF2-40B4-BE49-F238E27FC236}">
                        <a16:creationId xmlns:a16="http://schemas.microsoft.com/office/drawing/2014/main" id="{DDB11550-E2AE-D0DC-0A04-C618EB418B4E}"/>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1057840" y="3490451"/>
                    <a:ext cx="914400" cy="603649"/>
                  </a:xfrm>
                  <a:prstGeom prst="rect">
                    <a:avLst/>
                  </a:prstGeom>
                </p:spPr>
              </p:pic>
              <p:pic>
                <p:nvPicPr>
                  <p:cNvPr id="62" name="Graphique 61" descr="Diagramme de flux avec un remplissage uni">
                    <a:extLst>
                      <a:ext uri="{FF2B5EF4-FFF2-40B4-BE49-F238E27FC236}">
                        <a16:creationId xmlns:a16="http://schemas.microsoft.com/office/drawing/2014/main" id="{54162F3C-3339-4627-62B1-B98E766BFA49}"/>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33984"/>
                  <a:stretch/>
                </p:blipFill>
                <p:spPr>
                  <a:xfrm>
                    <a:off x="10741017" y="3857559"/>
                    <a:ext cx="914400" cy="603649"/>
                  </a:xfrm>
                  <a:prstGeom prst="rect">
                    <a:avLst/>
                  </a:prstGeom>
                </p:spPr>
              </p:pic>
            </p:grpSp>
          </p:grpSp>
          <p:sp>
            <p:nvSpPr>
              <p:cNvPr id="42" name="Forme libre : forme 41">
                <a:extLst>
                  <a:ext uri="{FF2B5EF4-FFF2-40B4-BE49-F238E27FC236}">
                    <a16:creationId xmlns:a16="http://schemas.microsoft.com/office/drawing/2014/main" id="{E1D7172F-E20C-6034-1E0B-487C801ADC4D}"/>
                  </a:ext>
                </a:extLst>
              </p:cNvPr>
              <p:cNvSpPr/>
              <p:nvPr/>
            </p:nvSpPr>
            <p:spPr>
              <a:xfrm>
                <a:off x="7436625" y="2264965"/>
                <a:ext cx="3292349" cy="2167128"/>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19050">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3" name="Forme libre : forme 42">
                <a:extLst>
                  <a:ext uri="{FF2B5EF4-FFF2-40B4-BE49-F238E27FC236}">
                    <a16:creationId xmlns:a16="http://schemas.microsoft.com/office/drawing/2014/main" id="{CDC60EE4-4F74-2F36-67CA-8C5076BBC7EC}"/>
                  </a:ext>
                </a:extLst>
              </p:cNvPr>
              <p:cNvSpPr/>
              <p:nvPr/>
            </p:nvSpPr>
            <p:spPr>
              <a:xfrm>
                <a:off x="9874807" y="3864733"/>
                <a:ext cx="1966074" cy="2111248"/>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19050">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 name="Forme libre : forme 43">
                <a:extLst>
                  <a:ext uri="{FF2B5EF4-FFF2-40B4-BE49-F238E27FC236}">
                    <a16:creationId xmlns:a16="http://schemas.microsoft.com/office/drawing/2014/main" id="{EFEAAED8-8FC4-B7D0-95FD-36C86E142919}"/>
                  </a:ext>
                </a:extLst>
              </p:cNvPr>
              <p:cNvSpPr/>
              <p:nvPr/>
            </p:nvSpPr>
            <p:spPr>
              <a:xfrm>
                <a:off x="7575259" y="3791118"/>
                <a:ext cx="2642532" cy="1066108"/>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1905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63" name="Flèche : gauche 62">
              <a:extLst>
                <a:ext uri="{FF2B5EF4-FFF2-40B4-BE49-F238E27FC236}">
                  <a16:creationId xmlns:a16="http://schemas.microsoft.com/office/drawing/2014/main" id="{9F6E68D1-F572-1127-C2D7-4A4D5339ABC0}"/>
                </a:ext>
              </a:extLst>
            </p:cNvPr>
            <p:cNvSpPr/>
            <p:nvPr/>
          </p:nvSpPr>
          <p:spPr>
            <a:xfrm rot="19613656">
              <a:off x="3136113" y="3138449"/>
              <a:ext cx="1259499" cy="623864"/>
            </a:xfrm>
            <a:prstGeom prst="lef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4" name="Flèche : gauche 63">
              <a:extLst>
                <a:ext uri="{FF2B5EF4-FFF2-40B4-BE49-F238E27FC236}">
                  <a16:creationId xmlns:a16="http://schemas.microsoft.com/office/drawing/2014/main" id="{E17FAC66-2DBD-AD09-4258-70A6BE0B984C}"/>
                </a:ext>
              </a:extLst>
            </p:cNvPr>
            <p:cNvSpPr/>
            <p:nvPr/>
          </p:nvSpPr>
          <p:spPr>
            <a:xfrm rot="2173003" flipH="1">
              <a:off x="8116990" y="3136247"/>
              <a:ext cx="1189456" cy="623864"/>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66" name="Flèche : double flèche horizontale 65">
            <a:extLst>
              <a:ext uri="{FF2B5EF4-FFF2-40B4-BE49-F238E27FC236}">
                <a16:creationId xmlns:a16="http://schemas.microsoft.com/office/drawing/2014/main" id="{F3065B56-F8B8-594B-2467-C8DEC6C774A4}"/>
              </a:ext>
            </a:extLst>
          </p:cNvPr>
          <p:cNvSpPr/>
          <p:nvPr/>
        </p:nvSpPr>
        <p:spPr>
          <a:xfrm rot="5400000">
            <a:off x="8381913" y="2877344"/>
            <a:ext cx="2219892" cy="169841"/>
          </a:xfrm>
          <a:prstGeom prst="lef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7" name="Groupe 66">
            <a:extLst>
              <a:ext uri="{FF2B5EF4-FFF2-40B4-BE49-F238E27FC236}">
                <a16:creationId xmlns:a16="http://schemas.microsoft.com/office/drawing/2014/main" id="{17A8E4F9-949C-965F-0491-E6FC3BF5024F}"/>
              </a:ext>
            </a:extLst>
          </p:cNvPr>
          <p:cNvGrpSpPr/>
          <p:nvPr/>
        </p:nvGrpSpPr>
        <p:grpSpPr>
          <a:xfrm>
            <a:off x="9534219" y="1970088"/>
            <a:ext cx="661193" cy="557438"/>
            <a:chOff x="8982504" y="3274976"/>
            <a:chExt cx="1230670" cy="1037553"/>
          </a:xfrm>
          <a:solidFill>
            <a:srgbClr val="ED7D31"/>
          </a:solidFill>
        </p:grpSpPr>
        <p:pic>
          <p:nvPicPr>
            <p:cNvPr id="68" name="Graphique 67" descr="Utilisateur avec un remplissage uni">
              <a:extLst>
                <a:ext uri="{FF2B5EF4-FFF2-40B4-BE49-F238E27FC236}">
                  <a16:creationId xmlns:a16="http://schemas.microsoft.com/office/drawing/2014/main" id="{3802DE26-F0E2-0773-BA5D-88BC1431536C}"/>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301028" y="3274976"/>
              <a:ext cx="336064" cy="336064"/>
            </a:xfrm>
            <a:prstGeom prst="rect">
              <a:avLst/>
            </a:prstGeom>
          </p:spPr>
        </p:pic>
        <p:pic>
          <p:nvPicPr>
            <p:cNvPr id="69" name="Graphique 68" descr="Utilisateur avec un remplissage uni">
              <a:extLst>
                <a:ext uri="{FF2B5EF4-FFF2-40B4-BE49-F238E27FC236}">
                  <a16:creationId xmlns:a16="http://schemas.microsoft.com/office/drawing/2014/main" id="{57034927-7842-CC96-864E-A90CD7DCE01C}"/>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054140" y="3512720"/>
              <a:ext cx="336064" cy="336064"/>
            </a:xfrm>
            <a:prstGeom prst="rect">
              <a:avLst/>
            </a:prstGeom>
          </p:spPr>
        </p:pic>
        <p:pic>
          <p:nvPicPr>
            <p:cNvPr id="70" name="Graphique 69" descr="Utilisateur avec un remplissage uni">
              <a:extLst>
                <a:ext uri="{FF2B5EF4-FFF2-40B4-BE49-F238E27FC236}">
                  <a16:creationId xmlns:a16="http://schemas.microsoft.com/office/drawing/2014/main" id="{59D62C2D-38B3-4D0D-C314-7955F31877DB}"/>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345616" y="3561880"/>
              <a:ext cx="336064" cy="336064"/>
            </a:xfrm>
            <a:prstGeom prst="rect">
              <a:avLst/>
            </a:prstGeom>
          </p:spPr>
        </p:pic>
        <p:pic>
          <p:nvPicPr>
            <p:cNvPr id="71" name="Graphique 70" descr="Utilisateur avec un remplissage uni">
              <a:extLst>
                <a:ext uri="{FF2B5EF4-FFF2-40B4-BE49-F238E27FC236}">
                  <a16:creationId xmlns:a16="http://schemas.microsoft.com/office/drawing/2014/main" id="{16F4FC4F-56C7-B22C-51E9-1ABB6870F4F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592504" y="3418428"/>
              <a:ext cx="336064" cy="336064"/>
            </a:xfrm>
            <a:prstGeom prst="rect">
              <a:avLst/>
            </a:prstGeom>
          </p:spPr>
        </p:pic>
        <p:pic>
          <p:nvPicPr>
            <p:cNvPr id="72" name="Graphique 71" descr="Utilisateur avec un remplissage uni">
              <a:extLst>
                <a:ext uri="{FF2B5EF4-FFF2-40B4-BE49-F238E27FC236}">
                  <a16:creationId xmlns:a16="http://schemas.microsoft.com/office/drawing/2014/main" id="{D851B189-F144-0059-2986-5CD221FBFEC6}"/>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635196" y="3680752"/>
              <a:ext cx="336064" cy="336064"/>
            </a:xfrm>
            <a:prstGeom prst="rect">
              <a:avLst/>
            </a:prstGeom>
          </p:spPr>
        </p:pic>
        <p:pic>
          <p:nvPicPr>
            <p:cNvPr id="73" name="Graphique 72" descr="Utilisateur avec un remplissage uni">
              <a:extLst>
                <a:ext uri="{FF2B5EF4-FFF2-40B4-BE49-F238E27FC236}">
                  <a16:creationId xmlns:a16="http://schemas.microsoft.com/office/drawing/2014/main" id="{004740B7-F8C6-847E-8BF1-F617B76A0A0B}"/>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256440" y="3848784"/>
              <a:ext cx="336064" cy="336064"/>
            </a:xfrm>
            <a:prstGeom prst="rect">
              <a:avLst/>
            </a:prstGeom>
          </p:spPr>
        </p:pic>
        <p:pic>
          <p:nvPicPr>
            <p:cNvPr id="74" name="Graphique 73" descr="Utilisateur avec un remplissage uni">
              <a:extLst>
                <a:ext uri="{FF2B5EF4-FFF2-40B4-BE49-F238E27FC236}">
                  <a16:creationId xmlns:a16="http://schemas.microsoft.com/office/drawing/2014/main" id="{30992B6B-06D6-0CD7-1155-5E19CB17D5B3}"/>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982504" y="3835028"/>
              <a:ext cx="336064" cy="336064"/>
            </a:xfrm>
            <a:prstGeom prst="rect">
              <a:avLst/>
            </a:prstGeom>
          </p:spPr>
        </p:pic>
        <p:pic>
          <p:nvPicPr>
            <p:cNvPr id="75" name="Graphique 74" descr="Utilisateur avec un remplissage uni">
              <a:extLst>
                <a:ext uri="{FF2B5EF4-FFF2-40B4-BE49-F238E27FC236}">
                  <a16:creationId xmlns:a16="http://schemas.microsoft.com/office/drawing/2014/main" id="{F62DFC73-0A62-1C1A-7DB7-105FA4C70D31}"/>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520868" y="3943076"/>
              <a:ext cx="336064" cy="336064"/>
            </a:xfrm>
            <a:prstGeom prst="rect">
              <a:avLst/>
            </a:prstGeom>
          </p:spPr>
        </p:pic>
        <p:pic>
          <p:nvPicPr>
            <p:cNvPr id="76" name="Graphique 75" descr="Utilisateur avec un remplissage uni">
              <a:extLst>
                <a:ext uri="{FF2B5EF4-FFF2-40B4-BE49-F238E27FC236}">
                  <a16:creationId xmlns:a16="http://schemas.microsoft.com/office/drawing/2014/main" id="{A08DF6AB-BDE6-DBFB-70B6-6781C29FE3C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742772" y="3976465"/>
              <a:ext cx="336064" cy="336064"/>
            </a:xfrm>
            <a:prstGeom prst="rect">
              <a:avLst/>
            </a:prstGeom>
          </p:spPr>
        </p:pic>
        <p:pic>
          <p:nvPicPr>
            <p:cNvPr id="77" name="Graphique 76" descr="Utilisateur avec un remplissage uni">
              <a:extLst>
                <a:ext uri="{FF2B5EF4-FFF2-40B4-BE49-F238E27FC236}">
                  <a16:creationId xmlns:a16="http://schemas.microsoft.com/office/drawing/2014/main" id="{398D750E-5E37-B9E8-18A3-DFB084E09A42}"/>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877110" y="3705332"/>
              <a:ext cx="336064" cy="336064"/>
            </a:xfrm>
            <a:prstGeom prst="rect">
              <a:avLst/>
            </a:prstGeom>
          </p:spPr>
        </p:pic>
        <p:pic>
          <p:nvPicPr>
            <p:cNvPr id="78" name="Graphique 77" descr="Utilisateur avec un remplissage uni">
              <a:extLst>
                <a:ext uri="{FF2B5EF4-FFF2-40B4-BE49-F238E27FC236}">
                  <a16:creationId xmlns:a16="http://schemas.microsoft.com/office/drawing/2014/main" id="{85FFEA19-555B-D2DA-96BE-76C5E23E0598}"/>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856932" y="3429000"/>
              <a:ext cx="336064" cy="336064"/>
            </a:xfrm>
            <a:prstGeom prst="rect">
              <a:avLst/>
            </a:prstGeom>
          </p:spPr>
        </p:pic>
      </p:grpSp>
      <p:pic>
        <p:nvPicPr>
          <p:cNvPr id="79" name="Graphique 78" descr="Utilisateur avec un remplissage uni">
            <a:extLst>
              <a:ext uri="{FF2B5EF4-FFF2-40B4-BE49-F238E27FC236}">
                <a16:creationId xmlns:a16="http://schemas.microsoft.com/office/drawing/2014/main" id="{92B1E68B-9008-ACAC-A6C9-326AFD96D06B}"/>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548751" y="3602998"/>
            <a:ext cx="180554" cy="180554"/>
          </a:xfrm>
          <a:prstGeom prst="rect">
            <a:avLst/>
          </a:prstGeom>
        </p:spPr>
      </p:pic>
      <p:grpSp>
        <p:nvGrpSpPr>
          <p:cNvPr id="80" name="Groupe 79">
            <a:extLst>
              <a:ext uri="{FF2B5EF4-FFF2-40B4-BE49-F238E27FC236}">
                <a16:creationId xmlns:a16="http://schemas.microsoft.com/office/drawing/2014/main" id="{63E0A54A-5EA7-E660-2830-933AD5FC4F54}"/>
              </a:ext>
            </a:extLst>
          </p:cNvPr>
          <p:cNvGrpSpPr/>
          <p:nvPr/>
        </p:nvGrpSpPr>
        <p:grpSpPr>
          <a:xfrm>
            <a:off x="9551618" y="2758317"/>
            <a:ext cx="466106" cy="480367"/>
            <a:chOff x="9345616" y="3418428"/>
            <a:chExt cx="867558" cy="894101"/>
          </a:xfrm>
          <a:solidFill>
            <a:srgbClr val="ED7D31"/>
          </a:solidFill>
        </p:grpSpPr>
        <p:pic>
          <p:nvPicPr>
            <p:cNvPr id="81" name="Graphique 80" descr="Utilisateur avec un remplissage uni">
              <a:extLst>
                <a:ext uri="{FF2B5EF4-FFF2-40B4-BE49-F238E27FC236}">
                  <a16:creationId xmlns:a16="http://schemas.microsoft.com/office/drawing/2014/main" id="{455EBD60-FBE8-EB9E-9E0E-AE74C92B25A3}"/>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345616" y="3561880"/>
              <a:ext cx="336064" cy="336064"/>
            </a:xfrm>
            <a:prstGeom prst="rect">
              <a:avLst/>
            </a:prstGeom>
          </p:spPr>
        </p:pic>
        <p:pic>
          <p:nvPicPr>
            <p:cNvPr id="82" name="Graphique 81" descr="Utilisateur avec un remplissage uni">
              <a:extLst>
                <a:ext uri="{FF2B5EF4-FFF2-40B4-BE49-F238E27FC236}">
                  <a16:creationId xmlns:a16="http://schemas.microsoft.com/office/drawing/2014/main" id="{6338D2B7-EB2E-D579-DB9E-79DDF327F0C3}"/>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592504" y="3418428"/>
              <a:ext cx="336064" cy="336064"/>
            </a:xfrm>
            <a:prstGeom prst="rect">
              <a:avLst/>
            </a:prstGeom>
          </p:spPr>
        </p:pic>
        <p:pic>
          <p:nvPicPr>
            <p:cNvPr id="83" name="Graphique 82" descr="Utilisateur avec un remplissage uni">
              <a:extLst>
                <a:ext uri="{FF2B5EF4-FFF2-40B4-BE49-F238E27FC236}">
                  <a16:creationId xmlns:a16="http://schemas.microsoft.com/office/drawing/2014/main" id="{DBE67B50-11C5-5BEA-4173-79F387B69489}"/>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635196" y="3680752"/>
              <a:ext cx="336064" cy="336064"/>
            </a:xfrm>
            <a:prstGeom prst="rect">
              <a:avLst/>
            </a:prstGeom>
          </p:spPr>
        </p:pic>
        <p:pic>
          <p:nvPicPr>
            <p:cNvPr id="84" name="Graphique 83" descr="Utilisateur avec un remplissage uni">
              <a:extLst>
                <a:ext uri="{FF2B5EF4-FFF2-40B4-BE49-F238E27FC236}">
                  <a16:creationId xmlns:a16="http://schemas.microsoft.com/office/drawing/2014/main" id="{93B63424-A11F-663F-E827-3F4809D3D65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520868" y="3943076"/>
              <a:ext cx="336064" cy="336064"/>
            </a:xfrm>
            <a:prstGeom prst="rect">
              <a:avLst/>
            </a:prstGeom>
          </p:spPr>
        </p:pic>
        <p:pic>
          <p:nvPicPr>
            <p:cNvPr id="85" name="Graphique 84" descr="Utilisateur avec un remplissage uni">
              <a:extLst>
                <a:ext uri="{FF2B5EF4-FFF2-40B4-BE49-F238E27FC236}">
                  <a16:creationId xmlns:a16="http://schemas.microsoft.com/office/drawing/2014/main" id="{326D3BB3-8BCC-F808-3910-D4265C9A234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742772" y="3976465"/>
              <a:ext cx="336064" cy="336064"/>
            </a:xfrm>
            <a:prstGeom prst="rect">
              <a:avLst/>
            </a:prstGeom>
          </p:spPr>
        </p:pic>
        <p:pic>
          <p:nvPicPr>
            <p:cNvPr id="86" name="Graphique 85" descr="Utilisateur avec un remplissage uni">
              <a:extLst>
                <a:ext uri="{FF2B5EF4-FFF2-40B4-BE49-F238E27FC236}">
                  <a16:creationId xmlns:a16="http://schemas.microsoft.com/office/drawing/2014/main" id="{069117D8-C620-EF0B-B1DA-B11ECAD1E335}"/>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877110" y="3705332"/>
              <a:ext cx="336064" cy="336064"/>
            </a:xfrm>
            <a:prstGeom prst="rect">
              <a:avLst/>
            </a:prstGeom>
          </p:spPr>
        </p:pic>
      </p:grpSp>
      <p:pic>
        <p:nvPicPr>
          <p:cNvPr id="87" name="Graphique 86" descr="Calendrier journalier avec un remplissage uni">
            <a:extLst>
              <a:ext uri="{FF2B5EF4-FFF2-40B4-BE49-F238E27FC236}">
                <a16:creationId xmlns:a16="http://schemas.microsoft.com/office/drawing/2014/main" id="{09C95C7E-8827-0943-0588-57323816824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846382" y="2737987"/>
            <a:ext cx="211687" cy="211687"/>
          </a:xfrm>
          <a:prstGeom prst="rect">
            <a:avLst/>
          </a:prstGeom>
        </p:spPr>
      </p:pic>
      <p:pic>
        <p:nvPicPr>
          <p:cNvPr id="88" name="Graphique 87" descr="Utilisateur avec un remplissage uni">
            <a:extLst>
              <a:ext uri="{FF2B5EF4-FFF2-40B4-BE49-F238E27FC236}">
                <a16:creationId xmlns:a16="http://schemas.microsoft.com/office/drawing/2014/main" id="{FB64DAA4-7F29-0AE3-1728-4D6B7AE45F2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577771" y="3909778"/>
            <a:ext cx="180554" cy="180554"/>
          </a:xfrm>
          <a:prstGeom prst="rect">
            <a:avLst/>
          </a:prstGeom>
        </p:spPr>
      </p:pic>
      <p:pic>
        <p:nvPicPr>
          <p:cNvPr id="89" name="Graphique 88" descr="Utilisateur avec un remplissage uni">
            <a:extLst>
              <a:ext uri="{FF2B5EF4-FFF2-40B4-BE49-F238E27FC236}">
                <a16:creationId xmlns:a16="http://schemas.microsoft.com/office/drawing/2014/main" id="{27F9EDCA-B9BB-6A4D-700F-1EF74E573F0C}"/>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982915" y="3905541"/>
            <a:ext cx="180554" cy="180554"/>
          </a:xfrm>
          <a:prstGeom prst="rect">
            <a:avLst/>
          </a:prstGeom>
        </p:spPr>
      </p:pic>
      <p:pic>
        <p:nvPicPr>
          <p:cNvPr id="90" name="Graphique 89" descr="Utilisateur avec un remplissage uni">
            <a:extLst>
              <a:ext uri="{FF2B5EF4-FFF2-40B4-BE49-F238E27FC236}">
                <a16:creationId xmlns:a16="http://schemas.microsoft.com/office/drawing/2014/main" id="{9EF22E64-DC5A-C19B-B816-36FF85C2E9D2}"/>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877515" y="3580761"/>
            <a:ext cx="180554" cy="180554"/>
          </a:xfrm>
          <a:prstGeom prst="rect">
            <a:avLst/>
          </a:prstGeom>
        </p:spPr>
      </p:pic>
      <p:sp>
        <p:nvSpPr>
          <p:cNvPr id="92" name="ZoneTexte 91">
            <a:extLst>
              <a:ext uri="{FF2B5EF4-FFF2-40B4-BE49-F238E27FC236}">
                <a16:creationId xmlns:a16="http://schemas.microsoft.com/office/drawing/2014/main" id="{760841D8-2BAA-5F9C-7E36-E424404AEDBB}"/>
              </a:ext>
            </a:extLst>
          </p:cNvPr>
          <p:cNvSpPr txBox="1"/>
          <p:nvPr/>
        </p:nvSpPr>
        <p:spPr>
          <a:xfrm>
            <a:off x="1095695" y="4317689"/>
            <a:ext cx="2201423" cy="2031325"/>
          </a:xfrm>
          <a:prstGeom prst="rect">
            <a:avLst/>
          </a:prstGeom>
          <a:noFill/>
        </p:spPr>
        <p:txBody>
          <a:bodyPr wrap="square">
            <a:spAutoFit/>
          </a:bodyPr>
          <a:lstStyle/>
          <a:p>
            <a:pPr algn="ctr"/>
            <a:r>
              <a:rPr lang="fr-FR" dirty="0"/>
              <a:t>On peut décomposer le travail sur les Communautés en 3 niveaux : </a:t>
            </a:r>
            <a:r>
              <a:rPr lang="fr-FR" b="1" dirty="0">
                <a:solidFill>
                  <a:srgbClr val="3494BA"/>
                </a:solidFill>
              </a:rPr>
              <a:t>la valeur</a:t>
            </a:r>
            <a:r>
              <a:rPr lang="fr-FR" dirty="0"/>
              <a:t>, </a:t>
            </a:r>
            <a:r>
              <a:rPr lang="fr-FR" b="1" dirty="0">
                <a:solidFill>
                  <a:srgbClr val="ED7D31"/>
                </a:solidFill>
              </a:rPr>
              <a:t>le sentiment d’appartenance</a:t>
            </a:r>
            <a:r>
              <a:rPr lang="fr-FR" dirty="0"/>
              <a:t>, et le </a:t>
            </a:r>
            <a:r>
              <a:rPr lang="fr-FR" b="1" dirty="0">
                <a:solidFill>
                  <a:schemeClr val="bg1">
                    <a:lumMod val="50000"/>
                  </a:schemeClr>
                </a:solidFill>
              </a:rPr>
              <a:t>mode opératoire</a:t>
            </a:r>
          </a:p>
        </p:txBody>
      </p:sp>
      <p:sp>
        <p:nvSpPr>
          <p:cNvPr id="93" name="ZoneTexte 92">
            <a:extLst>
              <a:ext uri="{FF2B5EF4-FFF2-40B4-BE49-F238E27FC236}">
                <a16:creationId xmlns:a16="http://schemas.microsoft.com/office/drawing/2014/main" id="{6754DDF4-FAB0-768B-CA3A-E6E2216CB4EE}"/>
              </a:ext>
            </a:extLst>
          </p:cNvPr>
          <p:cNvSpPr txBox="1"/>
          <p:nvPr/>
        </p:nvSpPr>
        <p:spPr>
          <a:xfrm>
            <a:off x="5112697" y="4317689"/>
            <a:ext cx="2513098" cy="1754326"/>
          </a:xfrm>
          <a:prstGeom prst="rect">
            <a:avLst/>
          </a:prstGeom>
          <a:noFill/>
        </p:spPr>
        <p:txBody>
          <a:bodyPr wrap="square">
            <a:spAutoFit/>
          </a:bodyPr>
          <a:lstStyle/>
          <a:p>
            <a:pPr algn="ctr"/>
            <a:r>
              <a:rPr lang="fr-FR" dirty="0"/>
              <a:t>Un format </a:t>
            </a:r>
            <a:r>
              <a:rPr lang="fr-FR" b="1" dirty="0">
                <a:solidFill>
                  <a:srgbClr val="ED7D31"/>
                </a:solidFill>
              </a:rPr>
              <a:t>communauté</a:t>
            </a:r>
            <a:r>
              <a:rPr lang="fr-FR" b="1" dirty="0"/>
              <a:t> </a:t>
            </a:r>
            <a:r>
              <a:rPr lang="fr-FR" dirty="0"/>
              <a:t>se distingue d’un format équipe/service, les formats se complètent et ont leurs avantages et inconvénients</a:t>
            </a:r>
          </a:p>
        </p:txBody>
      </p:sp>
      <p:sp>
        <p:nvSpPr>
          <p:cNvPr id="94" name="ZoneTexte 93">
            <a:extLst>
              <a:ext uri="{FF2B5EF4-FFF2-40B4-BE49-F238E27FC236}">
                <a16:creationId xmlns:a16="http://schemas.microsoft.com/office/drawing/2014/main" id="{E6221779-93DA-AD2E-3056-8B796407C69B}"/>
              </a:ext>
            </a:extLst>
          </p:cNvPr>
          <p:cNvSpPr txBox="1"/>
          <p:nvPr/>
        </p:nvSpPr>
        <p:spPr>
          <a:xfrm>
            <a:off x="9129698" y="4317689"/>
            <a:ext cx="2968200" cy="2308324"/>
          </a:xfrm>
          <a:prstGeom prst="rect">
            <a:avLst/>
          </a:prstGeom>
          <a:noFill/>
        </p:spPr>
        <p:txBody>
          <a:bodyPr wrap="square">
            <a:spAutoFit/>
          </a:bodyPr>
          <a:lstStyle/>
          <a:p>
            <a:pPr algn="ctr"/>
            <a:r>
              <a:rPr lang="fr-FR" dirty="0"/>
              <a:t>L’approche par Communauté </a:t>
            </a:r>
            <a:r>
              <a:rPr lang="fr-FR" b="1" dirty="0">
                <a:solidFill>
                  <a:srgbClr val="ED7D31"/>
                </a:solidFill>
              </a:rPr>
              <a:t>mutualise l’activité sur le nombre de personnes </a:t>
            </a:r>
            <a:r>
              <a:rPr lang="fr-FR" dirty="0"/>
              <a:t>et</a:t>
            </a:r>
            <a:r>
              <a:rPr lang="fr-FR" b="1" dirty="0"/>
              <a:t> </a:t>
            </a:r>
            <a:r>
              <a:rPr lang="fr-FR" b="1" dirty="0">
                <a:solidFill>
                  <a:srgbClr val="3494BA"/>
                </a:solidFill>
              </a:rPr>
              <a:t>dans le temps</a:t>
            </a:r>
            <a:r>
              <a:rPr lang="fr-FR" dirty="0"/>
              <a:t>, ce qui distingue d’une approche réunion ou d’une approche par individus, qui ont chacune leur pertinence.</a:t>
            </a:r>
          </a:p>
        </p:txBody>
      </p:sp>
      <p:sp>
        <p:nvSpPr>
          <p:cNvPr id="4" name="Organigramme : Connecteur 3">
            <a:extLst>
              <a:ext uri="{FF2B5EF4-FFF2-40B4-BE49-F238E27FC236}">
                <a16:creationId xmlns:a16="http://schemas.microsoft.com/office/drawing/2014/main" id="{1EB285B1-DE75-29AC-7250-A5D9A3973D26}"/>
              </a:ext>
            </a:extLst>
          </p:cNvPr>
          <p:cNvSpPr/>
          <p:nvPr/>
        </p:nvSpPr>
        <p:spPr>
          <a:xfrm>
            <a:off x="94102" y="4227067"/>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1</a:t>
            </a:r>
          </a:p>
        </p:txBody>
      </p:sp>
      <p:sp>
        <p:nvSpPr>
          <p:cNvPr id="95" name="Organigramme : Connecteur 94">
            <a:extLst>
              <a:ext uri="{FF2B5EF4-FFF2-40B4-BE49-F238E27FC236}">
                <a16:creationId xmlns:a16="http://schemas.microsoft.com/office/drawing/2014/main" id="{57F8F002-FCF4-A9CB-2BDA-A25334127F2D}"/>
              </a:ext>
            </a:extLst>
          </p:cNvPr>
          <p:cNvSpPr/>
          <p:nvPr/>
        </p:nvSpPr>
        <p:spPr>
          <a:xfrm>
            <a:off x="4111104" y="4227067"/>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2</a:t>
            </a:r>
          </a:p>
        </p:txBody>
      </p:sp>
      <p:sp>
        <p:nvSpPr>
          <p:cNvPr id="96" name="Organigramme : Connecteur 95">
            <a:extLst>
              <a:ext uri="{FF2B5EF4-FFF2-40B4-BE49-F238E27FC236}">
                <a16:creationId xmlns:a16="http://schemas.microsoft.com/office/drawing/2014/main" id="{0DB08B09-215A-1BBF-5CD4-2F93AACC5583}"/>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3</a:t>
            </a:r>
          </a:p>
        </p:txBody>
      </p:sp>
    </p:spTree>
    <p:extLst>
      <p:ext uri="{BB962C8B-B14F-4D97-AF65-F5344CB8AC3E}">
        <p14:creationId xmlns:p14="http://schemas.microsoft.com/office/powerpoint/2010/main" val="2541509560"/>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61606E-7B1B-AF13-91F0-CEB4ECD55444}"/>
              </a:ext>
            </a:extLst>
          </p:cNvPr>
          <p:cNvSpPr>
            <a:spLocks noGrp="1"/>
          </p:cNvSpPr>
          <p:nvPr>
            <p:ph type="title"/>
          </p:nvPr>
        </p:nvSpPr>
        <p:spPr/>
        <p:txBody>
          <a:bodyPr/>
          <a:lstStyle/>
          <a:p>
            <a:r>
              <a:rPr lang="fr-FR" dirty="0"/>
              <a:t>Résumé, une phrase par image</a:t>
            </a:r>
          </a:p>
        </p:txBody>
      </p:sp>
      <p:grpSp>
        <p:nvGrpSpPr>
          <p:cNvPr id="92" name="Groupe 91">
            <a:extLst>
              <a:ext uri="{FF2B5EF4-FFF2-40B4-BE49-F238E27FC236}">
                <a16:creationId xmlns:a16="http://schemas.microsoft.com/office/drawing/2014/main" id="{27981BEE-A56F-95E6-44DA-87DCD8146BC8}"/>
              </a:ext>
            </a:extLst>
          </p:cNvPr>
          <p:cNvGrpSpPr/>
          <p:nvPr/>
        </p:nvGrpSpPr>
        <p:grpSpPr>
          <a:xfrm>
            <a:off x="761602" y="2453607"/>
            <a:ext cx="3543300" cy="294807"/>
            <a:chOff x="5867656" y="4651558"/>
            <a:chExt cx="2802841" cy="233200"/>
          </a:xfrm>
        </p:grpSpPr>
        <p:pic>
          <p:nvPicPr>
            <p:cNvPr id="93" name="Graphique 92" descr="Chat avec un remplissage uni">
              <a:extLst>
                <a:ext uri="{FF2B5EF4-FFF2-40B4-BE49-F238E27FC236}">
                  <a16:creationId xmlns:a16="http://schemas.microsoft.com/office/drawing/2014/main" id="{F6C25450-615A-17D9-A4D3-004E45A65B7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457637" y="4651558"/>
              <a:ext cx="191494" cy="191495"/>
            </a:xfrm>
            <a:prstGeom prst="rect">
              <a:avLst/>
            </a:prstGeom>
          </p:spPr>
        </p:pic>
        <p:pic>
          <p:nvPicPr>
            <p:cNvPr id="94" name="Graphique 93" descr="Sablier 60% avec un remplissage uni">
              <a:extLst>
                <a:ext uri="{FF2B5EF4-FFF2-40B4-BE49-F238E27FC236}">
                  <a16:creationId xmlns:a16="http://schemas.microsoft.com/office/drawing/2014/main" id="{B5834ABF-9171-6181-F130-A3F390B1BFE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040593" y="4651558"/>
              <a:ext cx="191494" cy="191495"/>
            </a:xfrm>
            <a:prstGeom prst="rect">
              <a:avLst/>
            </a:prstGeom>
          </p:spPr>
        </p:pic>
        <p:pic>
          <p:nvPicPr>
            <p:cNvPr id="95" name="Graphique 94" descr="Flèches de chevron avec un remplissage uni">
              <a:extLst>
                <a:ext uri="{FF2B5EF4-FFF2-40B4-BE49-F238E27FC236}">
                  <a16:creationId xmlns:a16="http://schemas.microsoft.com/office/drawing/2014/main" id="{AF565617-5AD4-A088-A969-CF3ADCE1E2D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72102" y="4651558"/>
              <a:ext cx="191494" cy="191495"/>
            </a:xfrm>
            <a:prstGeom prst="rect">
              <a:avLst/>
            </a:prstGeom>
          </p:spPr>
        </p:pic>
        <p:pic>
          <p:nvPicPr>
            <p:cNvPr id="96" name="Graphique 95" descr="Tête avec engrenages avec un remplissage uni">
              <a:extLst>
                <a:ext uri="{FF2B5EF4-FFF2-40B4-BE49-F238E27FC236}">
                  <a16:creationId xmlns:a16="http://schemas.microsoft.com/office/drawing/2014/main" id="{26880708-0CFA-EEA6-53EE-64028B18DEF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314731" y="4651558"/>
              <a:ext cx="191494" cy="191495"/>
            </a:xfrm>
            <a:prstGeom prst="rect">
              <a:avLst/>
            </a:prstGeom>
          </p:spPr>
        </p:pic>
        <p:pic>
          <p:nvPicPr>
            <p:cNvPr id="97" name="Graphique 96" descr="Diable avec un remplissage uni">
              <a:extLst>
                <a:ext uri="{FF2B5EF4-FFF2-40B4-BE49-F238E27FC236}">
                  <a16:creationId xmlns:a16="http://schemas.microsoft.com/office/drawing/2014/main" id="{B9B56ACE-0ACF-8D17-6583-307E2AFF7F5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183499" y="4651558"/>
              <a:ext cx="191494" cy="191495"/>
            </a:xfrm>
            <a:prstGeom prst="rect">
              <a:avLst/>
            </a:prstGeom>
          </p:spPr>
        </p:pic>
        <p:pic>
          <p:nvPicPr>
            <p:cNvPr id="98" name="Graphique 97" descr="Informations avec un remplissage uni">
              <a:extLst>
                <a:ext uri="{FF2B5EF4-FFF2-40B4-BE49-F238E27FC236}">
                  <a16:creationId xmlns:a16="http://schemas.microsoft.com/office/drawing/2014/main" id="{291250C1-0F27-AB41-2103-34E064FA4289}"/>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588869" y="4651558"/>
              <a:ext cx="200589" cy="200589"/>
            </a:xfrm>
            <a:prstGeom prst="rect">
              <a:avLst/>
            </a:prstGeom>
          </p:spPr>
        </p:pic>
        <p:pic>
          <p:nvPicPr>
            <p:cNvPr id="99" name="Graphique 98" descr="Conseil d’administration avec un remplissage uni">
              <a:extLst>
                <a:ext uri="{FF2B5EF4-FFF2-40B4-BE49-F238E27FC236}">
                  <a16:creationId xmlns:a16="http://schemas.microsoft.com/office/drawing/2014/main" id="{733AABC2-7611-3191-7CD6-D690241244F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867656" y="4651558"/>
              <a:ext cx="233199" cy="233200"/>
            </a:xfrm>
            <a:prstGeom prst="rect">
              <a:avLst/>
            </a:prstGeom>
          </p:spPr>
        </p:pic>
        <p:pic>
          <p:nvPicPr>
            <p:cNvPr id="100" name="Graphique 99" descr="Tirelire avec un remplissage uni">
              <a:extLst>
                <a:ext uri="{FF2B5EF4-FFF2-40B4-BE49-F238E27FC236}">
                  <a16:creationId xmlns:a16="http://schemas.microsoft.com/office/drawing/2014/main" id="{F1080659-528A-A666-CD7C-0B3E097124D0}"/>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6731775" y="4651558"/>
              <a:ext cx="226174" cy="226175"/>
            </a:xfrm>
            <a:prstGeom prst="rect">
              <a:avLst/>
            </a:prstGeom>
          </p:spPr>
        </p:pic>
        <p:pic>
          <p:nvPicPr>
            <p:cNvPr id="101" name="Graphique 100" descr="Badge point d’interrogation avec un remplissage uni">
              <a:extLst>
                <a:ext uri="{FF2B5EF4-FFF2-40B4-BE49-F238E27FC236}">
                  <a16:creationId xmlns:a16="http://schemas.microsoft.com/office/drawing/2014/main" id="{4C231351-BA54-50E7-57CE-EBE71499982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8444323" y="4651558"/>
              <a:ext cx="226174" cy="226175"/>
            </a:xfrm>
            <a:prstGeom prst="rect">
              <a:avLst/>
            </a:prstGeom>
          </p:spPr>
        </p:pic>
        <p:pic>
          <p:nvPicPr>
            <p:cNvPr id="102" name="Graphique 101" descr="Signe pouce en haut avec un remplissage uni">
              <a:extLst>
                <a:ext uri="{FF2B5EF4-FFF2-40B4-BE49-F238E27FC236}">
                  <a16:creationId xmlns:a16="http://schemas.microsoft.com/office/drawing/2014/main" id="{30EA522A-3110-F1AD-8EAA-5979705319D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8146240" y="4651558"/>
              <a:ext cx="215441" cy="215442"/>
            </a:xfrm>
            <a:prstGeom prst="rect">
              <a:avLst/>
            </a:prstGeom>
          </p:spPr>
        </p:pic>
      </p:grpSp>
      <p:grpSp>
        <p:nvGrpSpPr>
          <p:cNvPr id="3" name="Groupe 2">
            <a:extLst>
              <a:ext uri="{FF2B5EF4-FFF2-40B4-BE49-F238E27FC236}">
                <a16:creationId xmlns:a16="http://schemas.microsoft.com/office/drawing/2014/main" id="{5517CB32-06CC-7594-98F4-7E91F37ED162}"/>
              </a:ext>
            </a:extLst>
          </p:cNvPr>
          <p:cNvGrpSpPr/>
          <p:nvPr/>
        </p:nvGrpSpPr>
        <p:grpSpPr>
          <a:xfrm>
            <a:off x="5416716" y="1751553"/>
            <a:ext cx="621032" cy="1993721"/>
            <a:chOff x="3912955" y="1517169"/>
            <a:chExt cx="1489519" cy="4781852"/>
          </a:xfrm>
        </p:grpSpPr>
        <p:sp>
          <p:nvSpPr>
            <p:cNvPr id="103" name="Flèche : haut 102">
              <a:extLst>
                <a:ext uri="{FF2B5EF4-FFF2-40B4-BE49-F238E27FC236}">
                  <a16:creationId xmlns:a16="http://schemas.microsoft.com/office/drawing/2014/main" id="{E7C75CF5-E034-099F-870F-7187CE985127}"/>
                </a:ext>
              </a:extLst>
            </p:cNvPr>
            <p:cNvSpPr/>
            <p:nvPr/>
          </p:nvSpPr>
          <p:spPr>
            <a:xfrm>
              <a:off x="5097674" y="1517169"/>
              <a:ext cx="304800" cy="4781852"/>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4" name="Groupe 103">
              <a:extLst>
                <a:ext uri="{FF2B5EF4-FFF2-40B4-BE49-F238E27FC236}">
                  <a16:creationId xmlns:a16="http://schemas.microsoft.com/office/drawing/2014/main" id="{7D316C40-2CD1-0F41-275A-F95B7D2E78B8}"/>
                </a:ext>
              </a:extLst>
            </p:cNvPr>
            <p:cNvGrpSpPr/>
            <p:nvPr/>
          </p:nvGrpSpPr>
          <p:grpSpPr>
            <a:xfrm>
              <a:off x="4172644" y="1517169"/>
              <a:ext cx="642859" cy="541981"/>
              <a:chOff x="1797480" y="1339838"/>
              <a:chExt cx="1507135" cy="1270634"/>
            </a:xfrm>
          </p:grpSpPr>
          <p:grpSp>
            <p:nvGrpSpPr>
              <p:cNvPr id="105" name="Groupe 104">
                <a:extLst>
                  <a:ext uri="{FF2B5EF4-FFF2-40B4-BE49-F238E27FC236}">
                    <a16:creationId xmlns:a16="http://schemas.microsoft.com/office/drawing/2014/main" id="{B34C4318-96C3-2018-4E18-5625B550703F}"/>
                  </a:ext>
                </a:extLst>
              </p:cNvPr>
              <p:cNvGrpSpPr/>
              <p:nvPr/>
            </p:nvGrpSpPr>
            <p:grpSpPr>
              <a:xfrm>
                <a:off x="1797480" y="1339838"/>
                <a:ext cx="1507135" cy="1270634"/>
                <a:chOff x="8982504" y="3274976"/>
                <a:chExt cx="1230670" cy="1037553"/>
              </a:xfrm>
              <a:solidFill>
                <a:srgbClr val="ED7D31"/>
              </a:solidFill>
            </p:grpSpPr>
            <p:pic>
              <p:nvPicPr>
                <p:cNvPr id="107" name="Graphique 106" descr="Utilisateur avec un remplissage uni">
                  <a:extLst>
                    <a:ext uri="{FF2B5EF4-FFF2-40B4-BE49-F238E27FC236}">
                      <a16:creationId xmlns:a16="http://schemas.microsoft.com/office/drawing/2014/main" id="{CDA3225D-4205-5E03-393A-50AB522D6E92}"/>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01028" y="3274976"/>
                  <a:ext cx="336064" cy="336064"/>
                </a:xfrm>
                <a:prstGeom prst="rect">
                  <a:avLst/>
                </a:prstGeom>
              </p:spPr>
            </p:pic>
            <p:pic>
              <p:nvPicPr>
                <p:cNvPr id="108" name="Graphique 107" descr="Utilisateur avec un remplissage uni">
                  <a:extLst>
                    <a:ext uri="{FF2B5EF4-FFF2-40B4-BE49-F238E27FC236}">
                      <a16:creationId xmlns:a16="http://schemas.microsoft.com/office/drawing/2014/main" id="{B4A1A075-3DED-E12F-FE8C-EAA42C905F7A}"/>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054140" y="3512720"/>
                  <a:ext cx="336064" cy="336064"/>
                </a:xfrm>
                <a:prstGeom prst="rect">
                  <a:avLst/>
                </a:prstGeom>
              </p:spPr>
            </p:pic>
            <p:pic>
              <p:nvPicPr>
                <p:cNvPr id="109" name="Graphique 108" descr="Utilisateur avec un remplissage uni">
                  <a:extLst>
                    <a:ext uri="{FF2B5EF4-FFF2-40B4-BE49-F238E27FC236}">
                      <a16:creationId xmlns:a16="http://schemas.microsoft.com/office/drawing/2014/main" id="{EB28A2FE-D95E-7951-A68D-F88E1F1AC67E}"/>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45616" y="3561880"/>
                  <a:ext cx="336064" cy="336064"/>
                </a:xfrm>
                <a:prstGeom prst="rect">
                  <a:avLst/>
                </a:prstGeom>
              </p:spPr>
            </p:pic>
            <p:pic>
              <p:nvPicPr>
                <p:cNvPr id="110" name="Graphique 109" descr="Utilisateur avec un remplissage uni">
                  <a:extLst>
                    <a:ext uri="{FF2B5EF4-FFF2-40B4-BE49-F238E27FC236}">
                      <a16:creationId xmlns:a16="http://schemas.microsoft.com/office/drawing/2014/main" id="{69FE48B2-BB0E-9864-69DE-B94D88953D66}"/>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92504" y="3418428"/>
                  <a:ext cx="336064" cy="336064"/>
                </a:xfrm>
                <a:prstGeom prst="rect">
                  <a:avLst/>
                </a:prstGeom>
              </p:spPr>
            </p:pic>
            <p:pic>
              <p:nvPicPr>
                <p:cNvPr id="111" name="Graphique 110" descr="Utilisateur avec un remplissage uni">
                  <a:extLst>
                    <a:ext uri="{FF2B5EF4-FFF2-40B4-BE49-F238E27FC236}">
                      <a16:creationId xmlns:a16="http://schemas.microsoft.com/office/drawing/2014/main" id="{0433DCF9-B984-5893-DF56-105804D1F4CE}"/>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635196" y="3680752"/>
                  <a:ext cx="336064" cy="336064"/>
                </a:xfrm>
                <a:prstGeom prst="rect">
                  <a:avLst/>
                </a:prstGeom>
              </p:spPr>
            </p:pic>
            <p:pic>
              <p:nvPicPr>
                <p:cNvPr id="112" name="Graphique 111" descr="Utilisateur avec un remplissage uni">
                  <a:extLst>
                    <a:ext uri="{FF2B5EF4-FFF2-40B4-BE49-F238E27FC236}">
                      <a16:creationId xmlns:a16="http://schemas.microsoft.com/office/drawing/2014/main" id="{667A5664-03E5-AF9A-9BA8-037BE0129707}"/>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256440" y="3848784"/>
                  <a:ext cx="336064" cy="336064"/>
                </a:xfrm>
                <a:prstGeom prst="rect">
                  <a:avLst/>
                </a:prstGeom>
              </p:spPr>
            </p:pic>
            <p:pic>
              <p:nvPicPr>
                <p:cNvPr id="113" name="Graphique 112" descr="Utilisateur avec un remplissage uni">
                  <a:extLst>
                    <a:ext uri="{FF2B5EF4-FFF2-40B4-BE49-F238E27FC236}">
                      <a16:creationId xmlns:a16="http://schemas.microsoft.com/office/drawing/2014/main" id="{DCC74644-3E26-513C-80A1-D30300442079}"/>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982504" y="3835028"/>
                  <a:ext cx="336064" cy="336064"/>
                </a:xfrm>
                <a:prstGeom prst="rect">
                  <a:avLst/>
                </a:prstGeom>
              </p:spPr>
            </p:pic>
            <p:pic>
              <p:nvPicPr>
                <p:cNvPr id="114" name="Graphique 113" descr="Utilisateur avec un remplissage uni">
                  <a:extLst>
                    <a:ext uri="{FF2B5EF4-FFF2-40B4-BE49-F238E27FC236}">
                      <a16:creationId xmlns:a16="http://schemas.microsoft.com/office/drawing/2014/main" id="{91830DD1-9A88-D8C6-8F9D-B705EA0357A0}"/>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20868" y="3943076"/>
                  <a:ext cx="336064" cy="336064"/>
                </a:xfrm>
                <a:prstGeom prst="rect">
                  <a:avLst/>
                </a:prstGeom>
              </p:spPr>
            </p:pic>
            <p:pic>
              <p:nvPicPr>
                <p:cNvPr id="115" name="Graphique 114" descr="Utilisateur avec un remplissage uni">
                  <a:extLst>
                    <a:ext uri="{FF2B5EF4-FFF2-40B4-BE49-F238E27FC236}">
                      <a16:creationId xmlns:a16="http://schemas.microsoft.com/office/drawing/2014/main" id="{CBF7FEC7-8CDF-A06A-F749-C2E9BA210FA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742772" y="3976465"/>
                  <a:ext cx="336064" cy="336064"/>
                </a:xfrm>
                <a:prstGeom prst="rect">
                  <a:avLst/>
                </a:prstGeom>
              </p:spPr>
            </p:pic>
            <p:pic>
              <p:nvPicPr>
                <p:cNvPr id="116" name="Graphique 115" descr="Utilisateur avec un remplissage uni">
                  <a:extLst>
                    <a:ext uri="{FF2B5EF4-FFF2-40B4-BE49-F238E27FC236}">
                      <a16:creationId xmlns:a16="http://schemas.microsoft.com/office/drawing/2014/main" id="{D3F202F0-0AC6-A990-1C2A-261D0BCC8224}"/>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77110" y="3705332"/>
                  <a:ext cx="336064" cy="336064"/>
                </a:xfrm>
                <a:prstGeom prst="rect">
                  <a:avLst/>
                </a:prstGeom>
              </p:spPr>
            </p:pic>
            <p:pic>
              <p:nvPicPr>
                <p:cNvPr id="117" name="Graphique 116" descr="Utilisateur avec un remplissage uni">
                  <a:extLst>
                    <a:ext uri="{FF2B5EF4-FFF2-40B4-BE49-F238E27FC236}">
                      <a16:creationId xmlns:a16="http://schemas.microsoft.com/office/drawing/2014/main" id="{788C58CF-6BEF-7072-2938-893579B791E6}"/>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56932" y="3429000"/>
                  <a:ext cx="336064" cy="336064"/>
                </a:xfrm>
                <a:prstGeom prst="rect">
                  <a:avLst/>
                </a:prstGeom>
              </p:spPr>
            </p:pic>
          </p:grpSp>
          <p:pic>
            <p:nvPicPr>
              <p:cNvPr id="106" name="Graphique 105" descr="Boîte à archives avec un remplissage uni">
                <a:extLst>
                  <a:ext uri="{FF2B5EF4-FFF2-40B4-BE49-F238E27FC236}">
                    <a16:creationId xmlns:a16="http://schemas.microsoft.com/office/drawing/2014/main" id="{F31A4CAA-BBD3-6446-9DBA-B6D2DF153836}"/>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2164013" y="1631780"/>
                <a:ext cx="795090" cy="795090"/>
              </a:xfrm>
              <a:prstGeom prst="rect">
                <a:avLst/>
              </a:prstGeom>
            </p:spPr>
          </p:pic>
        </p:grpSp>
        <p:grpSp>
          <p:nvGrpSpPr>
            <p:cNvPr id="118" name="Groupe 117">
              <a:extLst>
                <a:ext uri="{FF2B5EF4-FFF2-40B4-BE49-F238E27FC236}">
                  <a16:creationId xmlns:a16="http://schemas.microsoft.com/office/drawing/2014/main" id="{EAE9B420-0810-8374-85D1-56C542964C8D}"/>
                </a:ext>
              </a:extLst>
            </p:cNvPr>
            <p:cNvGrpSpPr/>
            <p:nvPr/>
          </p:nvGrpSpPr>
          <p:grpSpPr>
            <a:xfrm>
              <a:off x="3942660" y="2147055"/>
              <a:ext cx="928257" cy="541981"/>
              <a:chOff x="1797480" y="1339838"/>
              <a:chExt cx="2176227" cy="1270634"/>
            </a:xfrm>
          </p:grpSpPr>
          <p:grpSp>
            <p:nvGrpSpPr>
              <p:cNvPr id="119" name="Groupe 118">
                <a:extLst>
                  <a:ext uri="{FF2B5EF4-FFF2-40B4-BE49-F238E27FC236}">
                    <a16:creationId xmlns:a16="http://schemas.microsoft.com/office/drawing/2014/main" id="{9B39F504-5FD2-96FF-C922-223FAB690E64}"/>
                  </a:ext>
                </a:extLst>
              </p:cNvPr>
              <p:cNvGrpSpPr/>
              <p:nvPr/>
            </p:nvGrpSpPr>
            <p:grpSpPr>
              <a:xfrm>
                <a:off x="1797480" y="1339838"/>
                <a:ext cx="1507135" cy="1270634"/>
                <a:chOff x="8982504" y="3274976"/>
                <a:chExt cx="1230670" cy="1037553"/>
              </a:xfrm>
              <a:solidFill>
                <a:srgbClr val="ED7D31"/>
              </a:solidFill>
            </p:grpSpPr>
            <p:pic>
              <p:nvPicPr>
                <p:cNvPr id="121" name="Graphique 120" descr="Utilisateur avec un remplissage uni">
                  <a:extLst>
                    <a:ext uri="{FF2B5EF4-FFF2-40B4-BE49-F238E27FC236}">
                      <a16:creationId xmlns:a16="http://schemas.microsoft.com/office/drawing/2014/main" id="{6AEA4C12-4404-F0FA-86D8-F6CCC1B165EC}"/>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01028" y="3274976"/>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790E7D6A-4398-CCA8-2F08-24CF34044178}"/>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054140" y="3512720"/>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6CEA2CBD-F8C6-C219-BA5F-4E007B22C448}"/>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45616" y="3561880"/>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6A296E48-B5D0-BE0A-E513-D276C66CF402}"/>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92504" y="3418428"/>
                  <a:ext cx="336064" cy="336064"/>
                </a:xfrm>
                <a:prstGeom prst="rect">
                  <a:avLst/>
                </a:prstGeom>
              </p:spPr>
            </p:pic>
            <p:pic>
              <p:nvPicPr>
                <p:cNvPr id="125" name="Graphique 124" descr="Utilisateur avec un remplissage uni">
                  <a:extLst>
                    <a:ext uri="{FF2B5EF4-FFF2-40B4-BE49-F238E27FC236}">
                      <a16:creationId xmlns:a16="http://schemas.microsoft.com/office/drawing/2014/main" id="{C90DA3A0-155C-6B44-005A-D527FAA2DA06}"/>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635196" y="3680752"/>
                  <a:ext cx="336064" cy="336064"/>
                </a:xfrm>
                <a:prstGeom prst="rect">
                  <a:avLst/>
                </a:prstGeom>
              </p:spPr>
            </p:pic>
            <p:pic>
              <p:nvPicPr>
                <p:cNvPr id="126" name="Graphique 125" descr="Utilisateur avec un remplissage uni">
                  <a:extLst>
                    <a:ext uri="{FF2B5EF4-FFF2-40B4-BE49-F238E27FC236}">
                      <a16:creationId xmlns:a16="http://schemas.microsoft.com/office/drawing/2014/main" id="{39E3D022-19F4-01BA-B2BF-E0EE62FBBBA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256440" y="3848784"/>
                  <a:ext cx="336064" cy="336064"/>
                </a:xfrm>
                <a:prstGeom prst="rect">
                  <a:avLst/>
                </a:prstGeom>
              </p:spPr>
            </p:pic>
            <p:pic>
              <p:nvPicPr>
                <p:cNvPr id="127" name="Graphique 126" descr="Utilisateur avec un remplissage uni">
                  <a:extLst>
                    <a:ext uri="{FF2B5EF4-FFF2-40B4-BE49-F238E27FC236}">
                      <a16:creationId xmlns:a16="http://schemas.microsoft.com/office/drawing/2014/main" id="{6966588F-FFD5-3F64-C8A0-79C59265046A}"/>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982504" y="3835028"/>
                  <a:ext cx="336064" cy="336064"/>
                </a:xfrm>
                <a:prstGeom prst="rect">
                  <a:avLst/>
                </a:prstGeom>
              </p:spPr>
            </p:pic>
            <p:pic>
              <p:nvPicPr>
                <p:cNvPr id="128" name="Graphique 127" descr="Utilisateur avec un remplissage uni">
                  <a:extLst>
                    <a:ext uri="{FF2B5EF4-FFF2-40B4-BE49-F238E27FC236}">
                      <a16:creationId xmlns:a16="http://schemas.microsoft.com/office/drawing/2014/main" id="{53DA06DE-1CD4-C94E-028D-362AC3DD36AE}"/>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20868" y="3943076"/>
                  <a:ext cx="336064" cy="336064"/>
                </a:xfrm>
                <a:prstGeom prst="rect">
                  <a:avLst/>
                </a:prstGeom>
              </p:spPr>
            </p:pic>
            <p:pic>
              <p:nvPicPr>
                <p:cNvPr id="129" name="Graphique 128" descr="Utilisateur avec un remplissage uni">
                  <a:extLst>
                    <a:ext uri="{FF2B5EF4-FFF2-40B4-BE49-F238E27FC236}">
                      <a16:creationId xmlns:a16="http://schemas.microsoft.com/office/drawing/2014/main" id="{D46D59A9-E8A5-7898-C50B-F121976E9036}"/>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742772" y="3976465"/>
                  <a:ext cx="336064" cy="336064"/>
                </a:xfrm>
                <a:prstGeom prst="rect">
                  <a:avLst/>
                </a:prstGeom>
              </p:spPr>
            </p:pic>
            <p:pic>
              <p:nvPicPr>
                <p:cNvPr id="130" name="Graphique 129" descr="Utilisateur avec un remplissage uni">
                  <a:extLst>
                    <a:ext uri="{FF2B5EF4-FFF2-40B4-BE49-F238E27FC236}">
                      <a16:creationId xmlns:a16="http://schemas.microsoft.com/office/drawing/2014/main" id="{87699C08-99C2-6772-3CFD-A4636F07E2CB}"/>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77110" y="3705332"/>
                  <a:ext cx="336064" cy="336064"/>
                </a:xfrm>
                <a:prstGeom prst="rect">
                  <a:avLst/>
                </a:prstGeom>
              </p:spPr>
            </p:pic>
            <p:pic>
              <p:nvPicPr>
                <p:cNvPr id="131" name="Graphique 130" descr="Utilisateur avec un remplissage uni">
                  <a:extLst>
                    <a:ext uri="{FF2B5EF4-FFF2-40B4-BE49-F238E27FC236}">
                      <a16:creationId xmlns:a16="http://schemas.microsoft.com/office/drawing/2014/main" id="{85471C1C-73F5-0AA0-1A5E-EF527397DE6A}"/>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56932" y="3429000"/>
                  <a:ext cx="336064" cy="336064"/>
                </a:xfrm>
                <a:prstGeom prst="rect">
                  <a:avLst/>
                </a:prstGeom>
              </p:spPr>
            </p:pic>
          </p:grpSp>
          <p:pic>
            <p:nvPicPr>
              <p:cNvPr id="120" name="Graphique 119" descr="Boîte à archives avec un remplissage uni">
                <a:extLst>
                  <a:ext uri="{FF2B5EF4-FFF2-40B4-BE49-F238E27FC236}">
                    <a16:creationId xmlns:a16="http://schemas.microsoft.com/office/drawing/2014/main" id="{184F8DCE-C20C-309E-E5E4-B2AAD1814EB4}"/>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178618" y="1572578"/>
                <a:ext cx="795089" cy="795090"/>
              </a:xfrm>
              <a:prstGeom prst="rect">
                <a:avLst/>
              </a:prstGeom>
            </p:spPr>
          </p:pic>
        </p:grpSp>
        <p:grpSp>
          <p:nvGrpSpPr>
            <p:cNvPr id="132" name="Groupe 131">
              <a:extLst>
                <a:ext uri="{FF2B5EF4-FFF2-40B4-BE49-F238E27FC236}">
                  <a16:creationId xmlns:a16="http://schemas.microsoft.com/office/drawing/2014/main" id="{4551553D-6C27-4EC2-F424-7DC8399F84C0}"/>
                </a:ext>
              </a:extLst>
            </p:cNvPr>
            <p:cNvGrpSpPr/>
            <p:nvPr/>
          </p:nvGrpSpPr>
          <p:grpSpPr>
            <a:xfrm>
              <a:off x="3942660" y="2925587"/>
              <a:ext cx="1104068" cy="541981"/>
              <a:chOff x="1797481" y="3401554"/>
              <a:chExt cx="1314902" cy="645478"/>
            </a:xfrm>
          </p:grpSpPr>
          <p:grpSp>
            <p:nvGrpSpPr>
              <p:cNvPr id="133" name="Groupe 132">
                <a:extLst>
                  <a:ext uri="{FF2B5EF4-FFF2-40B4-BE49-F238E27FC236}">
                    <a16:creationId xmlns:a16="http://schemas.microsoft.com/office/drawing/2014/main" id="{DF059963-8E1E-F047-8114-D8274B936C83}"/>
                  </a:ext>
                </a:extLst>
              </p:cNvPr>
              <p:cNvGrpSpPr/>
              <p:nvPr/>
            </p:nvGrpSpPr>
            <p:grpSpPr>
              <a:xfrm>
                <a:off x="1797481" y="3401554"/>
                <a:ext cx="1314902" cy="645478"/>
                <a:chOff x="1797480" y="1339838"/>
                <a:chExt cx="2588405" cy="1270634"/>
              </a:xfrm>
            </p:grpSpPr>
            <p:grpSp>
              <p:nvGrpSpPr>
                <p:cNvPr id="135" name="Groupe 134">
                  <a:extLst>
                    <a:ext uri="{FF2B5EF4-FFF2-40B4-BE49-F238E27FC236}">
                      <a16:creationId xmlns:a16="http://schemas.microsoft.com/office/drawing/2014/main" id="{F5E0700E-1661-8C22-5CDD-4C72224A9DAD}"/>
                    </a:ext>
                  </a:extLst>
                </p:cNvPr>
                <p:cNvGrpSpPr/>
                <p:nvPr/>
              </p:nvGrpSpPr>
              <p:grpSpPr>
                <a:xfrm>
                  <a:off x="1797480" y="1339838"/>
                  <a:ext cx="1507135" cy="1270634"/>
                  <a:chOff x="8982504" y="3274976"/>
                  <a:chExt cx="1230670" cy="1037553"/>
                </a:xfrm>
                <a:solidFill>
                  <a:srgbClr val="ED7D31"/>
                </a:solidFill>
              </p:grpSpPr>
              <p:pic>
                <p:nvPicPr>
                  <p:cNvPr id="137" name="Graphique 136" descr="Utilisateur avec un remplissage uni">
                    <a:extLst>
                      <a:ext uri="{FF2B5EF4-FFF2-40B4-BE49-F238E27FC236}">
                        <a16:creationId xmlns:a16="http://schemas.microsoft.com/office/drawing/2014/main" id="{9AE873C3-FC69-B45C-8C4A-A00D03CAD17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01028" y="3274976"/>
                    <a:ext cx="336064" cy="336064"/>
                  </a:xfrm>
                  <a:prstGeom prst="rect">
                    <a:avLst/>
                  </a:prstGeom>
                </p:spPr>
              </p:pic>
              <p:pic>
                <p:nvPicPr>
                  <p:cNvPr id="138" name="Graphique 137" descr="Utilisateur avec un remplissage uni">
                    <a:extLst>
                      <a:ext uri="{FF2B5EF4-FFF2-40B4-BE49-F238E27FC236}">
                        <a16:creationId xmlns:a16="http://schemas.microsoft.com/office/drawing/2014/main" id="{90DEE741-E39F-F1C3-F56D-B3A03B156E9E}"/>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054140" y="3512720"/>
                    <a:ext cx="336064" cy="336064"/>
                  </a:xfrm>
                  <a:prstGeom prst="rect">
                    <a:avLst/>
                  </a:prstGeom>
                </p:spPr>
              </p:pic>
              <p:pic>
                <p:nvPicPr>
                  <p:cNvPr id="139" name="Graphique 138" descr="Utilisateur avec un remplissage uni">
                    <a:extLst>
                      <a:ext uri="{FF2B5EF4-FFF2-40B4-BE49-F238E27FC236}">
                        <a16:creationId xmlns:a16="http://schemas.microsoft.com/office/drawing/2014/main" id="{27198047-DF02-8DAF-C74C-54736058C15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45616" y="3561880"/>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2998375A-71CE-B310-F59F-2A63050EC36F}"/>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92504" y="3418428"/>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DC0580E8-A359-8B0D-26FD-361D9CC31CB3}"/>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635196" y="3680752"/>
                    <a:ext cx="336064" cy="336064"/>
                  </a:xfrm>
                  <a:prstGeom prst="rect">
                    <a:avLst/>
                  </a:prstGeom>
                </p:spPr>
              </p:pic>
              <p:pic>
                <p:nvPicPr>
                  <p:cNvPr id="142" name="Graphique 141" descr="Utilisateur avec un remplissage uni">
                    <a:extLst>
                      <a:ext uri="{FF2B5EF4-FFF2-40B4-BE49-F238E27FC236}">
                        <a16:creationId xmlns:a16="http://schemas.microsoft.com/office/drawing/2014/main" id="{C1115E89-1415-EE0A-209A-E0E6F8437746}"/>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256440" y="3848784"/>
                    <a:ext cx="336064" cy="336064"/>
                  </a:xfrm>
                  <a:prstGeom prst="rect">
                    <a:avLst/>
                  </a:prstGeom>
                </p:spPr>
              </p:pic>
              <p:pic>
                <p:nvPicPr>
                  <p:cNvPr id="143" name="Graphique 142" descr="Utilisateur avec un remplissage uni">
                    <a:extLst>
                      <a:ext uri="{FF2B5EF4-FFF2-40B4-BE49-F238E27FC236}">
                        <a16:creationId xmlns:a16="http://schemas.microsoft.com/office/drawing/2014/main" id="{5E1F555D-F3FA-0622-D39D-9265E2BF1D07}"/>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982504" y="3835028"/>
                    <a:ext cx="336064" cy="336064"/>
                  </a:xfrm>
                  <a:prstGeom prst="rect">
                    <a:avLst/>
                  </a:prstGeom>
                </p:spPr>
              </p:pic>
              <p:pic>
                <p:nvPicPr>
                  <p:cNvPr id="144" name="Graphique 143" descr="Utilisateur avec un remplissage uni">
                    <a:extLst>
                      <a:ext uri="{FF2B5EF4-FFF2-40B4-BE49-F238E27FC236}">
                        <a16:creationId xmlns:a16="http://schemas.microsoft.com/office/drawing/2014/main" id="{26629FEE-0D56-3CF6-2996-9435652EDBF4}"/>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20868" y="3943076"/>
                    <a:ext cx="336064" cy="336064"/>
                  </a:xfrm>
                  <a:prstGeom prst="rect">
                    <a:avLst/>
                  </a:prstGeom>
                </p:spPr>
              </p:pic>
              <p:pic>
                <p:nvPicPr>
                  <p:cNvPr id="145" name="Graphique 144" descr="Utilisateur avec un remplissage uni">
                    <a:extLst>
                      <a:ext uri="{FF2B5EF4-FFF2-40B4-BE49-F238E27FC236}">
                        <a16:creationId xmlns:a16="http://schemas.microsoft.com/office/drawing/2014/main" id="{4B0A8CB4-805C-7E8F-B7B0-7477DEEC8F89}"/>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742772" y="3976465"/>
                    <a:ext cx="336064" cy="336064"/>
                  </a:xfrm>
                  <a:prstGeom prst="rect">
                    <a:avLst/>
                  </a:prstGeom>
                </p:spPr>
              </p:pic>
              <p:pic>
                <p:nvPicPr>
                  <p:cNvPr id="146" name="Graphique 145" descr="Utilisateur avec un remplissage uni">
                    <a:extLst>
                      <a:ext uri="{FF2B5EF4-FFF2-40B4-BE49-F238E27FC236}">
                        <a16:creationId xmlns:a16="http://schemas.microsoft.com/office/drawing/2014/main" id="{F5A55AC9-6EDE-8B98-F2ED-D17C9AF012CE}"/>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77110" y="3705332"/>
                    <a:ext cx="336064" cy="336064"/>
                  </a:xfrm>
                  <a:prstGeom prst="rect">
                    <a:avLst/>
                  </a:prstGeom>
                </p:spPr>
              </p:pic>
              <p:pic>
                <p:nvPicPr>
                  <p:cNvPr id="147" name="Graphique 146" descr="Utilisateur avec un remplissage uni">
                    <a:extLst>
                      <a:ext uri="{FF2B5EF4-FFF2-40B4-BE49-F238E27FC236}">
                        <a16:creationId xmlns:a16="http://schemas.microsoft.com/office/drawing/2014/main" id="{6E1F46C0-F612-0C1C-BA06-E1B3209F4B3E}"/>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56932" y="3429000"/>
                    <a:ext cx="336064" cy="336064"/>
                  </a:xfrm>
                  <a:prstGeom prst="rect">
                    <a:avLst/>
                  </a:prstGeom>
                </p:spPr>
              </p:pic>
            </p:grpSp>
            <p:pic>
              <p:nvPicPr>
                <p:cNvPr id="136" name="Graphique 135" descr="Boîte à archives avec un remplissage uni">
                  <a:extLst>
                    <a:ext uri="{FF2B5EF4-FFF2-40B4-BE49-F238E27FC236}">
                      <a16:creationId xmlns:a16="http://schemas.microsoft.com/office/drawing/2014/main" id="{58528B8A-5E1E-B88E-B622-E5A571DDA9B4}"/>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590796" y="1573442"/>
                  <a:ext cx="795089" cy="795090"/>
                </a:xfrm>
                <a:prstGeom prst="rect">
                  <a:avLst/>
                </a:prstGeom>
              </p:spPr>
            </p:pic>
          </p:grpSp>
          <p:pic>
            <p:nvPicPr>
              <p:cNvPr id="134" name="Graphique 133" descr="Déverrouiller avec un remplissage uni">
                <a:extLst>
                  <a:ext uri="{FF2B5EF4-FFF2-40B4-BE49-F238E27FC236}">
                    <a16:creationId xmlns:a16="http://schemas.microsoft.com/office/drawing/2014/main" id="{89309BD8-6F1B-CFD3-12D9-C54AB10571F2}"/>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flipH="1">
                <a:off x="2498111" y="3408841"/>
                <a:ext cx="432779" cy="462545"/>
              </a:xfrm>
              <a:prstGeom prst="rect">
                <a:avLst/>
              </a:prstGeom>
            </p:spPr>
          </p:pic>
        </p:grpSp>
        <p:grpSp>
          <p:nvGrpSpPr>
            <p:cNvPr id="148" name="Groupe 147">
              <a:extLst>
                <a:ext uri="{FF2B5EF4-FFF2-40B4-BE49-F238E27FC236}">
                  <a16:creationId xmlns:a16="http://schemas.microsoft.com/office/drawing/2014/main" id="{8838DF05-3059-F688-E9E1-00C8A4422D45}"/>
                </a:ext>
              </a:extLst>
            </p:cNvPr>
            <p:cNvGrpSpPr/>
            <p:nvPr/>
          </p:nvGrpSpPr>
          <p:grpSpPr>
            <a:xfrm>
              <a:off x="3945288" y="3643032"/>
              <a:ext cx="1104068" cy="541981"/>
              <a:chOff x="1800611" y="4256002"/>
              <a:chExt cx="1314902" cy="645478"/>
            </a:xfrm>
          </p:grpSpPr>
          <p:grpSp>
            <p:nvGrpSpPr>
              <p:cNvPr id="149" name="Groupe 148">
                <a:extLst>
                  <a:ext uri="{FF2B5EF4-FFF2-40B4-BE49-F238E27FC236}">
                    <a16:creationId xmlns:a16="http://schemas.microsoft.com/office/drawing/2014/main" id="{D3B902C3-0B7C-3275-C056-C35C110690FB}"/>
                  </a:ext>
                </a:extLst>
              </p:cNvPr>
              <p:cNvGrpSpPr/>
              <p:nvPr/>
            </p:nvGrpSpPr>
            <p:grpSpPr>
              <a:xfrm>
                <a:off x="1800611" y="4256002"/>
                <a:ext cx="1314902" cy="645478"/>
                <a:chOff x="1797480" y="1339838"/>
                <a:chExt cx="2588405" cy="1270634"/>
              </a:xfrm>
            </p:grpSpPr>
            <p:grpSp>
              <p:nvGrpSpPr>
                <p:cNvPr id="151" name="Groupe 150">
                  <a:extLst>
                    <a:ext uri="{FF2B5EF4-FFF2-40B4-BE49-F238E27FC236}">
                      <a16:creationId xmlns:a16="http://schemas.microsoft.com/office/drawing/2014/main" id="{C9159010-D6AA-F7E3-3C2F-651E83E4408D}"/>
                    </a:ext>
                  </a:extLst>
                </p:cNvPr>
                <p:cNvGrpSpPr/>
                <p:nvPr/>
              </p:nvGrpSpPr>
              <p:grpSpPr>
                <a:xfrm>
                  <a:off x="1797480" y="1339838"/>
                  <a:ext cx="1507135" cy="1270634"/>
                  <a:chOff x="8982504" y="3274976"/>
                  <a:chExt cx="1230670" cy="1037553"/>
                </a:xfrm>
                <a:solidFill>
                  <a:srgbClr val="ED7D31"/>
                </a:solidFill>
              </p:grpSpPr>
              <p:pic>
                <p:nvPicPr>
                  <p:cNvPr id="153" name="Graphique 152" descr="Utilisateur avec un remplissage uni">
                    <a:extLst>
                      <a:ext uri="{FF2B5EF4-FFF2-40B4-BE49-F238E27FC236}">
                        <a16:creationId xmlns:a16="http://schemas.microsoft.com/office/drawing/2014/main" id="{7133855C-94F9-A92C-68B1-646DB5417E57}"/>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01028" y="3274976"/>
                    <a:ext cx="336064" cy="336064"/>
                  </a:xfrm>
                  <a:prstGeom prst="rect">
                    <a:avLst/>
                  </a:prstGeom>
                </p:spPr>
              </p:pic>
              <p:pic>
                <p:nvPicPr>
                  <p:cNvPr id="154" name="Graphique 153" descr="Utilisateur avec un remplissage uni">
                    <a:extLst>
                      <a:ext uri="{FF2B5EF4-FFF2-40B4-BE49-F238E27FC236}">
                        <a16:creationId xmlns:a16="http://schemas.microsoft.com/office/drawing/2014/main" id="{6C655294-093C-5BB9-52B3-5ADB1F4B4EF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054140" y="3512720"/>
                    <a:ext cx="336064" cy="336064"/>
                  </a:xfrm>
                  <a:prstGeom prst="rect">
                    <a:avLst/>
                  </a:prstGeom>
                </p:spPr>
              </p:pic>
              <p:pic>
                <p:nvPicPr>
                  <p:cNvPr id="155" name="Graphique 154" descr="Utilisateur avec un remplissage uni">
                    <a:extLst>
                      <a:ext uri="{FF2B5EF4-FFF2-40B4-BE49-F238E27FC236}">
                        <a16:creationId xmlns:a16="http://schemas.microsoft.com/office/drawing/2014/main" id="{CFB446D1-8ABA-8C0C-EABD-1F2DC6D2DD07}"/>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45616" y="3561880"/>
                    <a:ext cx="336064" cy="336064"/>
                  </a:xfrm>
                  <a:prstGeom prst="rect">
                    <a:avLst/>
                  </a:prstGeom>
                </p:spPr>
              </p:pic>
              <p:pic>
                <p:nvPicPr>
                  <p:cNvPr id="156" name="Graphique 155" descr="Utilisateur avec un remplissage uni">
                    <a:extLst>
                      <a:ext uri="{FF2B5EF4-FFF2-40B4-BE49-F238E27FC236}">
                        <a16:creationId xmlns:a16="http://schemas.microsoft.com/office/drawing/2014/main" id="{6C846447-970C-263A-EA60-C1AE37EC11BA}"/>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92504" y="3418428"/>
                    <a:ext cx="336064" cy="336064"/>
                  </a:xfrm>
                  <a:prstGeom prst="rect">
                    <a:avLst/>
                  </a:prstGeom>
                </p:spPr>
              </p:pic>
              <p:pic>
                <p:nvPicPr>
                  <p:cNvPr id="157" name="Graphique 156" descr="Utilisateur avec un remplissage uni">
                    <a:extLst>
                      <a:ext uri="{FF2B5EF4-FFF2-40B4-BE49-F238E27FC236}">
                        <a16:creationId xmlns:a16="http://schemas.microsoft.com/office/drawing/2014/main" id="{14B70402-2B17-710E-E971-2E99C00965EC}"/>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635196" y="3680752"/>
                    <a:ext cx="336064" cy="336064"/>
                  </a:xfrm>
                  <a:prstGeom prst="rect">
                    <a:avLst/>
                  </a:prstGeom>
                </p:spPr>
              </p:pic>
              <p:pic>
                <p:nvPicPr>
                  <p:cNvPr id="158" name="Graphique 157" descr="Utilisateur avec un remplissage uni">
                    <a:extLst>
                      <a:ext uri="{FF2B5EF4-FFF2-40B4-BE49-F238E27FC236}">
                        <a16:creationId xmlns:a16="http://schemas.microsoft.com/office/drawing/2014/main" id="{0155ADF4-04D3-4562-E8FD-EBDA31ED66E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256440" y="3848784"/>
                    <a:ext cx="336064" cy="336064"/>
                  </a:xfrm>
                  <a:prstGeom prst="rect">
                    <a:avLst/>
                  </a:prstGeom>
                </p:spPr>
              </p:pic>
              <p:pic>
                <p:nvPicPr>
                  <p:cNvPr id="159" name="Graphique 158" descr="Utilisateur avec un remplissage uni">
                    <a:extLst>
                      <a:ext uri="{FF2B5EF4-FFF2-40B4-BE49-F238E27FC236}">
                        <a16:creationId xmlns:a16="http://schemas.microsoft.com/office/drawing/2014/main" id="{CCB921C2-87DD-AB34-6454-CF6B8828E7EA}"/>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982504" y="3835028"/>
                    <a:ext cx="336064" cy="336064"/>
                  </a:xfrm>
                  <a:prstGeom prst="rect">
                    <a:avLst/>
                  </a:prstGeom>
                </p:spPr>
              </p:pic>
              <p:pic>
                <p:nvPicPr>
                  <p:cNvPr id="160" name="Graphique 159" descr="Utilisateur avec un remplissage uni">
                    <a:extLst>
                      <a:ext uri="{FF2B5EF4-FFF2-40B4-BE49-F238E27FC236}">
                        <a16:creationId xmlns:a16="http://schemas.microsoft.com/office/drawing/2014/main" id="{3208F6CF-71CF-3CE3-3B9C-1FD148B0981C}"/>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20868" y="3943076"/>
                    <a:ext cx="336064" cy="336064"/>
                  </a:xfrm>
                  <a:prstGeom prst="rect">
                    <a:avLst/>
                  </a:prstGeom>
                </p:spPr>
              </p:pic>
              <p:pic>
                <p:nvPicPr>
                  <p:cNvPr id="161" name="Graphique 160" descr="Utilisateur avec un remplissage uni">
                    <a:extLst>
                      <a:ext uri="{FF2B5EF4-FFF2-40B4-BE49-F238E27FC236}">
                        <a16:creationId xmlns:a16="http://schemas.microsoft.com/office/drawing/2014/main" id="{D124BD25-FBAD-15A6-8F0A-24C00247B741}"/>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742772" y="3976465"/>
                    <a:ext cx="336064" cy="336064"/>
                  </a:xfrm>
                  <a:prstGeom prst="rect">
                    <a:avLst/>
                  </a:prstGeom>
                </p:spPr>
              </p:pic>
              <p:pic>
                <p:nvPicPr>
                  <p:cNvPr id="162" name="Graphique 161" descr="Utilisateur avec un remplissage uni">
                    <a:extLst>
                      <a:ext uri="{FF2B5EF4-FFF2-40B4-BE49-F238E27FC236}">
                        <a16:creationId xmlns:a16="http://schemas.microsoft.com/office/drawing/2014/main" id="{8452A7F5-861E-79F3-A52F-E4FFDD495BBE}"/>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77110" y="3705332"/>
                    <a:ext cx="336064" cy="336064"/>
                  </a:xfrm>
                  <a:prstGeom prst="rect">
                    <a:avLst/>
                  </a:prstGeom>
                </p:spPr>
              </p:pic>
              <p:pic>
                <p:nvPicPr>
                  <p:cNvPr id="163" name="Graphique 162" descr="Utilisateur avec un remplissage uni">
                    <a:extLst>
                      <a:ext uri="{FF2B5EF4-FFF2-40B4-BE49-F238E27FC236}">
                        <a16:creationId xmlns:a16="http://schemas.microsoft.com/office/drawing/2014/main" id="{AB220BD4-2FE7-3FB4-FEE6-E1D844647618}"/>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56932" y="3429000"/>
                    <a:ext cx="336064" cy="336064"/>
                  </a:xfrm>
                  <a:prstGeom prst="rect">
                    <a:avLst/>
                  </a:prstGeom>
                </p:spPr>
              </p:pic>
            </p:grpSp>
            <p:pic>
              <p:nvPicPr>
                <p:cNvPr id="152" name="Graphique 151" descr="Boîte à archives avec un remplissage uni">
                  <a:extLst>
                    <a:ext uri="{FF2B5EF4-FFF2-40B4-BE49-F238E27FC236}">
                      <a16:creationId xmlns:a16="http://schemas.microsoft.com/office/drawing/2014/main" id="{DF826E58-57F6-E840-F714-798CCFD90B86}"/>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590796" y="1573442"/>
                  <a:ext cx="795089" cy="795090"/>
                </a:xfrm>
                <a:prstGeom prst="rect">
                  <a:avLst/>
                </a:prstGeom>
              </p:spPr>
            </p:pic>
          </p:grpSp>
          <p:pic>
            <p:nvPicPr>
              <p:cNvPr id="150" name="Graphique 149" descr="Verrou avec un remplissage uni">
                <a:extLst>
                  <a:ext uri="{FF2B5EF4-FFF2-40B4-BE49-F238E27FC236}">
                    <a16:creationId xmlns:a16="http://schemas.microsoft.com/office/drawing/2014/main" id="{6334DA4D-03E4-9281-990A-A3ADFDDC7871}"/>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2493236" y="4290370"/>
                <a:ext cx="466725" cy="466725"/>
              </a:xfrm>
              <a:prstGeom prst="rect">
                <a:avLst/>
              </a:prstGeom>
            </p:spPr>
          </p:pic>
        </p:grpSp>
        <p:grpSp>
          <p:nvGrpSpPr>
            <p:cNvPr id="164" name="Groupe 163">
              <a:extLst>
                <a:ext uri="{FF2B5EF4-FFF2-40B4-BE49-F238E27FC236}">
                  <a16:creationId xmlns:a16="http://schemas.microsoft.com/office/drawing/2014/main" id="{1AF20793-643F-BF96-5B83-8395F9B1BA8F}"/>
                </a:ext>
              </a:extLst>
            </p:cNvPr>
            <p:cNvGrpSpPr/>
            <p:nvPr/>
          </p:nvGrpSpPr>
          <p:grpSpPr>
            <a:xfrm>
              <a:off x="3930074" y="4237752"/>
              <a:ext cx="1104068" cy="646669"/>
              <a:chOff x="1782492" y="4964291"/>
              <a:chExt cx="1314902" cy="770157"/>
            </a:xfrm>
          </p:grpSpPr>
          <p:grpSp>
            <p:nvGrpSpPr>
              <p:cNvPr id="165" name="Groupe 164">
                <a:extLst>
                  <a:ext uri="{FF2B5EF4-FFF2-40B4-BE49-F238E27FC236}">
                    <a16:creationId xmlns:a16="http://schemas.microsoft.com/office/drawing/2014/main" id="{F4868993-EE78-7452-B600-B57EFA08A9A9}"/>
                  </a:ext>
                </a:extLst>
              </p:cNvPr>
              <p:cNvGrpSpPr/>
              <p:nvPr/>
            </p:nvGrpSpPr>
            <p:grpSpPr>
              <a:xfrm>
                <a:off x="1782492" y="5088970"/>
                <a:ext cx="1314902" cy="645478"/>
                <a:chOff x="1797480" y="1339838"/>
                <a:chExt cx="2588405" cy="1270634"/>
              </a:xfrm>
            </p:grpSpPr>
            <p:grpSp>
              <p:nvGrpSpPr>
                <p:cNvPr id="167" name="Groupe 166">
                  <a:extLst>
                    <a:ext uri="{FF2B5EF4-FFF2-40B4-BE49-F238E27FC236}">
                      <a16:creationId xmlns:a16="http://schemas.microsoft.com/office/drawing/2014/main" id="{81CF338C-0689-DAD0-DED6-8D2DD6431686}"/>
                    </a:ext>
                  </a:extLst>
                </p:cNvPr>
                <p:cNvGrpSpPr/>
                <p:nvPr/>
              </p:nvGrpSpPr>
              <p:grpSpPr>
                <a:xfrm>
                  <a:off x="1797480" y="1339838"/>
                  <a:ext cx="1507135" cy="1270634"/>
                  <a:chOff x="8982504" y="3274976"/>
                  <a:chExt cx="1230670" cy="1037553"/>
                </a:xfrm>
                <a:solidFill>
                  <a:srgbClr val="ED7D31"/>
                </a:solidFill>
              </p:grpSpPr>
              <p:pic>
                <p:nvPicPr>
                  <p:cNvPr id="169" name="Graphique 168" descr="Utilisateur avec un remplissage uni">
                    <a:extLst>
                      <a:ext uri="{FF2B5EF4-FFF2-40B4-BE49-F238E27FC236}">
                        <a16:creationId xmlns:a16="http://schemas.microsoft.com/office/drawing/2014/main" id="{A2948D6B-F8C2-61AB-A6ED-B83B90C7FECE}"/>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01028" y="3274976"/>
                    <a:ext cx="336064" cy="336064"/>
                  </a:xfrm>
                  <a:prstGeom prst="rect">
                    <a:avLst/>
                  </a:prstGeom>
                </p:spPr>
              </p:pic>
              <p:pic>
                <p:nvPicPr>
                  <p:cNvPr id="170" name="Graphique 169" descr="Utilisateur avec un remplissage uni">
                    <a:extLst>
                      <a:ext uri="{FF2B5EF4-FFF2-40B4-BE49-F238E27FC236}">
                        <a16:creationId xmlns:a16="http://schemas.microsoft.com/office/drawing/2014/main" id="{33CB9D0D-5E71-7DB7-61D9-6653DD7C04CB}"/>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054140" y="3512720"/>
                    <a:ext cx="336064" cy="336064"/>
                  </a:xfrm>
                  <a:prstGeom prst="rect">
                    <a:avLst/>
                  </a:prstGeom>
                </p:spPr>
              </p:pic>
              <p:pic>
                <p:nvPicPr>
                  <p:cNvPr id="171" name="Graphique 170" descr="Utilisateur avec un remplissage uni">
                    <a:extLst>
                      <a:ext uri="{FF2B5EF4-FFF2-40B4-BE49-F238E27FC236}">
                        <a16:creationId xmlns:a16="http://schemas.microsoft.com/office/drawing/2014/main" id="{E1EED528-E5E5-3A19-850E-D51651F6BEFC}"/>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45616" y="3561880"/>
                    <a:ext cx="336064" cy="336064"/>
                  </a:xfrm>
                  <a:prstGeom prst="rect">
                    <a:avLst/>
                  </a:prstGeom>
                </p:spPr>
              </p:pic>
              <p:pic>
                <p:nvPicPr>
                  <p:cNvPr id="172" name="Graphique 171" descr="Utilisateur avec un remplissage uni">
                    <a:extLst>
                      <a:ext uri="{FF2B5EF4-FFF2-40B4-BE49-F238E27FC236}">
                        <a16:creationId xmlns:a16="http://schemas.microsoft.com/office/drawing/2014/main" id="{C393F7A3-71A9-0CEB-E642-2AD20326457F}"/>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92504" y="3418428"/>
                    <a:ext cx="336064" cy="336064"/>
                  </a:xfrm>
                  <a:prstGeom prst="rect">
                    <a:avLst/>
                  </a:prstGeom>
                </p:spPr>
              </p:pic>
              <p:pic>
                <p:nvPicPr>
                  <p:cNvPr id="173" name="Graphique 172" descr="Utilisateur avec un remplissage uni">
                    <a:extLst>
                      <a:ext uri="{FF2B5EF4-FFF2-40B4-BE49-F238E27FC236}">
                        <a16:creationId xmlns:a16="http://schemas.microsoft.com/office/drawing/2014/main" id="{3F55D5C1-C8F8-9EB3-9BA9-D15067F05370}"/>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635196" y="3680752"/>
                    <a:ext cx="336064" cy="336064"/>
                  </a:xfrm>
                  <a:prstGeom prst="rect">
                    <a:avLst/>
                  </a:prstGeom>
                </p:spPr>
              </p:pic>
              <p:pic>
                <p:nvPicPr>
                  <p:cNvPr id="174" name="Graphique 173" descr="Utilisateur avec un remplissage uni">
                    <a:extLst>
                      <a:ext uri="{FF2B5EF4-FFF2-40B4-BE49-F238E27FC236}">
                        <a16:creationId xmlns:a16="http://schemas.microsoft.com/office/drawing/2014/main" id="{0468BA52-1355-57AA-7120-52BE016E92BB}"/>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256440" y="3848784"/>
                    <a:ext cx="336064" cy="336064"/>
                  </a:xfrm>
                  <a:prstGeom prst="rect">
                    <a:avLst/>
                  </a:prstGeom>
                </p:spPr>
              </p:pic>
              <p:pic>
                <p:nvPicPr>
                  <p:cNvPr id="175" name="Graphique 174" descr="Utilisateur avec un remplissage uni">
                    <a:extLst>
                      <a:ext uri="{FF2B5EF4-FFF2-40B4-BE49-F238E27FC236}">
                        <a16:creationId xmlns:a16="http://schemas.microsoft.com/office/drawing/2014/main" id="{0527B445-326F-CB58-B1F1-3430FC57FA3B}"/>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982504" y="3835028"/>
                    <a:ext cx="336064" cy="336064"/>
                  </a:xfrm>
                  <a:prstGeom prst="rect">
                    <a:avLst/>
                  </a:prstGeom>
                </p:spPr>
              </p:pic>
              <p:pic>
                <p:nvPicPr>
                  <p:cNvPr id="176" name="Graphique 175" descr="Utilisateur avec un remplissage uni">
                    <a:extLst>
                      <a:ext uri="{FF2B5EF4-FFF2-40B4-BE49-F238E27FC236}">
                        <a16:creationId xmlns:a16="http://schemas.microsoft.com/office/drawing/2014/main" id="{F883EF51-8C15-DF11-7081-285249D2852F}"/>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20868" y="3943076"/>
                    <a:ext cx="336064" cy="336064"/>
                  </a:xfrm>
                  <a:prstGeom prst="rect">
                    <a:avLst/>
                  </a:prstGeom>
                </p:spPr>
              </p:pic>
              <p:pic>
                <p:nvPicPr>
                  <p:cNvPr id="177" name="Graphique 176" descr="Utilisateur avec un remplissage uni">
                    <a:extLst>
                      <a:ext uri="{FF2B5EF4-FFF2-40B4-BE49-F238E27FC236}">
                        <a16:creationId xmlns:a16="http://schemas.microsoft.com/office/drawing/2014/main" id="{0354332D-A505-5DBD-3186-FC13B5E262A1}"/>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742772" y="3976465"/>
                    <a:ext cx="336064" cy="336064"/>
                  </a:xfrm>
                  <a:prstGeom prst="rect">
                    <a:avLst/>
                  </a:prstGeom>
                </p:spPr>
              </p:pic>
              <p:pic>
                <p:nvPicPr>
                  <p:cNvPr id="178" name="Graphique 177" descr="Utilisateur avec un remplissage uni">
                    <a:extLst>
                      <a:ext uri="{FF2B5EF4-FFF2-40B4-BE49-F238E27FC236}">
                        <a16:creationId xmlns:a16="http://schemas.microsoft.com/office/drawing/2014/main" id="{87919D38-263B-D8D5-3C14-5B941B2F8914}"/>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77110" y="3705332"/>
                    <a:ext cx="336064" cy="336064"/>
                  </a:xfrm>
                  <a:prstGeom prst="rect">
                    <a:avLst/>
                  </a:prstGeom>
                </p:spPr>
              </p:pic>
              <p:pic>
                <p:nvPicPr>
                  <p:cNvPr id="179" name="Graphique 178" descr="Utilisateur avec un remplissage uni">
                    <a:extLst>
                      <a:ext uri="{FF2B5EF4-FFF2-40B4-BE49-F238E27FC236}">
                        <a16:creationId xmlns:a16="http://schemas.microsoft.com/office/drawing/2014/main" id="{C8AF8AC3-A80E-BFA3-27FF-E9CE7F96C159}"/>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56932" y="3429000"/>
                    <a:ext cx="336064" cy="336064"/>
                  </a:xfrm>
                  <a:prstGeom prst="rect">
                    <a:avLst/>
                  </a:prstGeom>
                </p:spPr>
              </p:pic>
            </p:grpSp>
            <p:pic>
              <p:nvPicPr>
                <p:cNvPr id="168" name="Graphique 167" descr="Boîte à archives avec un remplissage uni">
                  <a:extLst>
                    <a:ext uri="{FF2B5EF4-FFF2-40B4-BE49-F238E27FC236}">
                      <a16:creationId xmlns:a16="http://schemas.microsoft.com/office/drawing/2014/main" id="{77D2A28E-7389-67F8-6362-F14F4C4EEE95}"/>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590796" y="1573442"/>
                  <a:ext cx="795089" cy="795090"/>
                </a:xfrm>
                <a:prstGeom prst="rect">
                  <a:avLst/>
                </a:prstGeom>
              </p:spPr>
            </p:pic>
          </p:grpSp>
          <p:pic>
            <p:nvPicPr>
              <p:cNvPr id="166" name="Graphique 165" descr="Verrou avec un remplissage uni">
                <a:extLst>
                  <a:ext uri="{FF2B5EF4-FFF2-40B4-BE49-F238E27FC236}">
                    <a16:creationId xmlns:a16="http://schemas.microsoft.com/office/drawing/2014/main" id="{629F296B-EA09-D4CF-179C-D94EEC70E930}"/>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2293077" y="4964291"/>
                <a:ext cx="743725" cy="743725"/>
              </a:xfrm>
              <a:prstGeom prst="rect">
                <a:avLst/>
              </a:prstGeom>
            </p:spPr>
          </p:pic>
        </p:grpSp>
        <p:grpSp>
          <p:nvGrpSpPr>
            <p:cNvPr id="180" name="Groupe 179">
              <a:extLst>
                <a:ext uri="{FF2B5EF4-FFF2-40B4-BE49-F238E27FC236}">
                  <a16:creationId xmlns:a16="http://schemas.microsoft.com/office/drawing/2014/main" id="{71975FF5-A2F3-FC46-A7CF-7C2DE4DFCE82}"/>
                </a:ext>
              </a:extLst>
            </p:cNvPr>
            <p:cNvGrpSpPr/>
            <p:nvPr/>
          </p:nvGrpSpPr>
          <p:grpSpPr>
            <a:xfrm>
              <a:off x="3912955" y="5705324"/>
              <a:ext cx="1123328" cy="541981"/>
              <a:chOff x="1804205" y="5917781"/>
              <a:chExt cx="1337840" cy="645478"/>
            </a:xfrm>
          </p:grpSpPr>
          <p:grpSp>
            <p:nvGrpSpPr>
              <p:cNvPr id="181" name="Groupe 180">
                <a:extLst>
                  <a:ext uri="{FF2B5EF4-FFF2-40B4-BE49-F238E27FC236}">
                    <a16:creationId xmlns:a16="http://schemas.microsoft.com/office/drawing/2014/main" id="{D8B563ED-4888-C7F5-F165-BB6A6DD6711F}"/>
                  </a:ext>
                </a:extLst>
              </p:cNvPr>
              <p:cNvGrpSpPr/>
              <p:nvPr/>
            </p:nvGrpSpPr>
            <p:grpSpPr>
              <a:xfrm>
                <a:off x="1804205" y="5917781"/>
                <a:ext cx="1314902" cy="645478"/>
                <a:chOff x="1797480" y="1339838"/>
                <a:chExt cx="2588405" cy="1270634"/>
              </a:xfrm>
            </p:grpSpPr>
            <p:grpSp>
              <p:nvGrpSpPr>
                <p:cNvPr id="183" name="Groupe 182">
                  <a:extLst>
                    <a:ext uri="{FF2B5EF4-FFF2-40B4-BE49-F238E27FC236}">
                      <a16:creationId xmlns:a16="http://schemas.microsoft.com/office/drawing/2014/main" id="{CF32D7A1-99A5-029D-FB93-397DD41827D9}"/>
                    </a:ext>
                  </a:extLst>
                </p:cNvPr>
                <p:cNvGrpSpPr/>
                <p:nvPr/>
              </p:nvGrpSpPr>
              <p:grpSpPr>
                <a:xfrm>
                  <a:off x="1797480" y="1339838"/>
                  <a:ext cx="1507135" cy="1270634"/>
                  <a:chOff x="8982504" y="3274976"/>
                  <a:chExt cx="1230670" cy="1037553"/>
                </a:xfrm>
                <a:solidFill>
                  <a:srgbClr val="ED7D31"/>
                </a:solidFill>
              </p:grpSpPr>
              <p:pic>
                <p:nvPicPr>
                  <p:cNvPr id="185" name="Graphique 184" descr="Utilisateur avec un remplissage uni">
                    <a:extLst>
                      <a:ext uri="{FF2B5EF4-FFF2-40B4-BE49-F238E27FC236}">
                        <a16:creationId xmlns:a16="http://schemas.microsoft.com/office/drawing/2014/main" id="{73834072-862D-806C-9515-7F7B53D00FE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01028" y="3274976"/>
                    <a:ext cx="336064" cy="336064"/>
                  </a:xfrm>
                  <a:prstGeom prst="rect">
                    <a:avLst/>
                  </a:prstGeom>
                </p:spPr>
              </p:pic>
              <p:pic>
                <p:nvPicPr>
                  <p:cNvPr id="186" name="Graphique 185" descr="Utilisateur avec un remplissage uni">
                    <a:extLst>
                      <a:ext uri="{FF2B5EF4-FFF2-40B4-BE49-F238E27FC236}">
                        <a16:creationId xmlns:a16="http://schemas.microsoft.com/office/drawing/2014/main" id="{0B479AE2-7030-EA9C-7ADB-A751C262711F}"/>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054140" y="3512720"/>
                    <a:ext cx="336064" cy="336064"/>
                  </a:xfrm>
                  <a:prstGeom prst="rect">
                    <a:avLst/>
                  </a:prstGeom>
                </p:spPr>
              </p:pic>
              <p:pic>
                <p:nvPicPr>
                  <p:cNvPr id="187" name="Graphique 186" descr="Utilisateur avec un remplissage uni">
                    <a:extLst>
                      <a:ext uri="{FF2B5EF4-FFF2-40B4-BE49-F238E27FC236}">
                        <a16:creationId xmlns:a16="http://schemas.microsoft.com/office/drawing/2014/main" id="{04864B48-4731-B39D-2C5E-B8C7501D9B62}"/>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45616" y="3561880"/>
                    <a:ext cx="336064" cy="336064"/>
                  </a:xfrm>
                  <a:prstGeom prst="rect">
                    <a:avLst/>
                  </a:prstGeom>
                </p:spPr>
              </p:pic>
              <p:pic>
                <p:nvPicPr>
                  <p:cNvPr id="188" name="Graphique 187" descr="Utilisateur avec un remplissage uni">
                    <a:extLst>
                      <a:ext uri="{FF2B5EF4-FFF2-40B4-BE49-F238E27FC236}">
                        <a16:creationId xmlns:a16="http://schemas.microsoft.com/office/drawing/2014/main" id="{3E6A31C6-0FC1-53D8-1AF6-791AD4E47C77}"/>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92504" y="3418428"/>
                    <a:ext cx="336064" cy="336064"/>
                  </a:xfrm>
                  <a:prstGeom prst="rect">
                    <a:avLst/>
                  </a:prstGeom>
                </p:spPr>
              </p:pic>
              <p:pic>
                <p:nvPicPr>
                  <p:cNvPr id="189" name="Graphique 188" descr="Utilisateur avec un remplissage uni">
                    <a:extLst>
                      <a:ext uri="{FF2B5EF4-FFF2-40B4-BE49-F238E27FC236}">
                        <a16:creationId xmlns:a16="http://schemas.microsoft.com/office/drawing/2014/main" id="{9B3A6D9B-8520-2DA0-D99D-E7AFE69F3D49}"/>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635196" y="3680752"/>
                    <a:ext cx="336064" cy="336064"/>
                  </a:xfrm>
                  <a:prstGeom prst="rect">
                    <a:avLst/>
                  </a:prstGeom>
                </p:spPr>
              </p:pic>
              <p:pic>
                <p:nvPicPr>
                  <p:cNvPr id="190" name="Graphique 189" descr="Utilisateur avec un remplissage uni">
                    <a:extLst>
                      <a:ext uri="{FF2B5EF4-FFF2-40B4-BE49-F238E27FC236}">
                        <a16:creationId xmlns:a16="http://schemas.microsoft.com/office/drawing/2014/main" id="{FCDC00B0-C36E-7069-DFDC-4DFB01A3AB9F}"/>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256440" y="3848784"/>
                    <a:ext cx="336064" cy="336064"/>
                  </a:xfrm>
                  <a:prstGeom prst="rect">
                    <a:avLst/>
                  </a:prstGeom>
                </p:spPr>
              </p:pic>
              <p:pic>
                <p:nvPicPr>
                  <p:cNvPr id="191" name="Graphique 190" descr="Utilisateur avec un remplissage uni">
                    <a:extLst>
                      <a:ext uri="{FF2B5EF4-FFF2-40B4-BE49-F238E27FC236}">
                        <a16:creationId xmlns:a16="http://schemas.microsoft.com/office/drawing/2014/main" id="{AE62F795-2D8B-B025-9AC9-DDF82539DD96}"/>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982504" y="3835028"/>
                    <a:ext cx="336064" cy="336064"/>
                  </a:xfrm>
                  <a:prstGeom prst="rect">
                    <a:avLst/>
                  </a:prstGeom>
                </p:spPr>
              </p:pic>
              <p:pic>
                <p:nvPicPr>
                  <p:cNvPr id="192" name="Graphique 191" descr="Utilisateur avec un remplissage uni">
                    <a:extLst>
                      <a:ext uri="{FF2B5EF4-FFF2-40B4-BE49-F238E27FC236}">
                        <a16:creationId xmlns:a16="http://schemas.microsoft.com/office/drawing/2014/main" id="{E7202637-A1B1-8807-C0A2-5119EC750C40}"/>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20868" y="3943076"/>
                    <a:ext cx="336064" cy="336064"/>
                  </a:xfrm>
                  <a:prstGeom prst="rect">
                    <a:avLst/>
                  </a:prstGeom>
                </p:spPr>
              </p:pic>
              <p:pic>
                <p:nvPicPr>
                  <p:cNvPr id="193" name="Graphique 192" descr="Utilisateur avec un remplissage uni">
                    <a:extLst>
                      <a:ext uri="{FF2B5EF4-FFF2-40B4-BE49-F238E27FC236}">
                        <a16:creationId xmlns:a16="http://schemas.microsoft.com/office/drawing/2014/main" id="{E418CBEF-90A5-8C47-2BAE-51C53A09B21A}"/>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742772" y="3976465"/>
                    <a:ext cx="336064" cy="336064"/>
                  </a:xfrm>
                  <a:prstGeom prst="rect">
                    <a:avLst/>
                  </a:prstGeom>
                </p:spPr>
              </p:pic>
              <p:pic>
                <p:nvPicPr>
                  <p:cNvPr id="194" name="Graphique 193" descr="Utilisateur avec un remplissage uni">
                    <a:extLst>
                      <a:ext uri="{FF2B5EF4-FFF2-40B4-BE49-F238E27FC236}">
                        <a16:creationId xmlns:a16="http://schemas.microsoft.com/office/drawing/2014/main" id="{74472E12-C334-1A91-960F-27F5291C8066}"/>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77110" y="3705332"/>
                    <a:ext cx="336064" cy="336064"/>
                  </a:xfrm>
                  <a:prstGeom prst="rect">
                    <a:avLst/>
                  </a:prstGeom>
                </p:spPr>
              </p:pic>
              <p:pic>
                <p:nvPicPr>
                  <p:cNvPr id="195" name="Graphique 194" descr="Utilisateur avec un remplissage uni">
                    <a:extLst>
                      <a:ext uri="{FF2B5EF4-FFF2-40B4-BE49-F238E27FC236}">
                        <a16:creationId xmlns:a16="http://schemas.microsoft.com/office/drawing/2014/main" id="{BCBD9F3A-9C73-CF43-B67E-ACE2A8DAC3A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56932" y="3429000"/>
                    <a:ext cx="336064" cy="336064"/>
                  </a:xfrm>
                  <a:prstGeom prst="rect">
                    <a:avLst/>
                  </a:prstGeom>
                </p:spPr>
              </p:pic>
            </p:grpSp>
            <p:pic>
              <p:nvPicPr>
                <p:cNvPr id="184" name="Graphique 183" descr="Boîte à archives avec un remplissage uni">
                  <a:extLst>
                    <a:ext uri="{FF2B5EF4-FFF2-40B4-BE49-F238E27FC236}">
                      <a16:creationId xmlns:a16="http://schemas.microsoft.com/office/drawing/2014/main" id="{781E18C4-D170-C349-DC9A-B764FACEF700}"/>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590796" y="1573442"/>
                  <a:ext cx="795089" cy="795090"/>
                </a:xfrm>
                <a:prstGeom prst="rect">
                  <a:avLst/>
                </a:prstGeom>
              </p:spPr>
            </p:pic>
          </p:grpSp>
          <p:pic>
            <p:nvPicPr>
              <p:cNvPr id="182" name="Graphique 181" descr="Fermer avec un remplissage uni">
                <a:extLst>
                  <a:ext uri="{FF2B5EF4-FFF2-40B4-BE49-F238E27FC236}">
                    <a16:creationId xmlns:a16="http://schemas.microsoft.com/office/drawing/2014/main" id="{11FE89B6-96CE-BED8-5A9A-2B9B41D96667}"/>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2668633" y="5995180"/>
                <a:ext cx="473412" cy="473412"/>
              </a:xfrm>
              <a:prstGeom prst="rect">
                <a:avLst/>
              </a:prstGeom>
            </p:spPr>
          </p:pic>
        </p:grpSp>
        <p:grpSp>
          <p:nvGrpSpPr>
            <p:cNvPr id="196" name="Groupe 195">
              <a:extLst>
                <a:ext uri="{FF2B5EF4-FFF2-40B4-BE49-F238E27FC236}">
                  <a16:creationId xmlns:a16="http://schemas.microsoft.com/office/drawing/2014/main" id="{7EBD2D43-DD9D-657C-84AA-749B59324A49}"/>
                </a:ext>
              </a:extLst>
            </p:cNvPr>
            <p:cNvGrpSpPr/>
            <p:nvPr/>
          </p:nvGrpSpPr>
          <p:grpSpPr>
            <a:xfrm>
              <a:off x="3922585" y="5035084"/>
              <a:ext cx="1104068" cy="541981"/>
              <a:chOff x="1775004" y="5236420"/>
              <a:chExt cx="1104068" cy="541981"/>
            </a:xfrm>
          </p:grpSpPr>
          <p:grpSp>
            <p:nvGrpSpPr>
              <p:cNvPr id="197" name="Groupe 196">
                <a:extLst>
                  <a:ext uri="{FF2B5EF4-FFF2-40B4-BE49-F238E27FC236}">
                    <a16:creationId xmlns:a16="http://schemas.microsoft.com/office/drawing/2014/main" id="{8B9575BE-1693-1D94-AAB6-3AD23D2E7EF0}"/>
                  </a:ext>
                </a:extLst>
              </p:cNvPr>
              <p:cNvGrpSpPr/>
              <p:nvPr/>
            </p:nvGrpSpPr>
            <p:grpSpPr>
              <a:xfrm>
                <a:off x="1775004" y="5236420"/>
                <a:ext cx="1104068" cy="541981"/>
                <a:chOff x="1797480" y="1339838"/>
                <a:chExt cx="2588405" cy="1270634"/>
              </a:xfrm>
            </p:grpSpPr>
            <p:grpSp>
              <p:nvGrpSpPr>
                <p:cNvPr id="199" name="Groupe 198">
                  <a:extLst>
                    <a:ext uri="{FF2B5EF4-FFF2-40B4-BE49-F238E27FC236}">
                      <a16:creationId xmlns:a16="http://schemas.microsoft.com/office/drawing/2014/main" id="{E1D5B89D-F19D-4692-4A72-8B9CC6176C20}"/>
                    </a:ext>
                  </a:extLst>
                </p:cNvPr>
                <p:cNvGrpSpPr/>
                <p:nvPr/>
              </p:nvGrpSpPr>
              <p:grpSpPr>
                <a:xfrm>
                  <a:off x="1797480" y="1339838"/>
                  <a:ext cx="1507135" cy="1270634"/>
                  <a:chOff x="8982504" y="3274976"/>
                  <a:chExt cx="1230670" cy="1037553"/>
                </a:xfrm>
                <a:solidFill>
                  <a:srgbClr val="ED7D31"/>
                </a:solidFill>
              </p:grpSpPr>
              <p:pic>
                <p:nvPicPr>
                  <p:cNvPr id="201" name="Graphique 200" descr="Utilisateur avec un remplissage uni">
                    <a:extLst>
                      <a:ext uri="{FF2B5EF4-FFF2-40B4-BE49-F238E27FC236}">
                        <a16:creationId xmlns:a16="http://schemas.microsoft.com/office/drawing/2014/main" id="{A480D06C-924E-680D-6526-DF52DB9DCFC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01028" y="3274976"/>
                    <a:ext cx="336064" cy="336064"/>
                  </a:xfrm>
                  <a:prstGeom prst="rect">
                    <a:avLst/>
                  </a:prstGeom>
                </p:spPr>
              </p:pic>
              <p:pic>
                <p:nvPicPr>
                  <p:cNvPr id="202" name="Graphique 201" descr="Utilisateur avec un remplissage uni">
                    <a:extLst>
                      <a:ext uri="{FF2B5EF4-FFF2-40B4-BE49-F238E27FC236}">
                        <a16:creationId xmlns:a16="http://schemas.microsoft.com/office/drawing/2014/main" id="{7983FCE2-8437-9110-4D5C-D7A21ADA400B}"/>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054140" y="3512720"/>
                    <a:ext cx="336064" cy="336064"/>
                  </a:xfrm>
                  <a:prstGeom prst="rect">
                    <a:avLst/>
                  </a:prstGeom>
                </p:spPr>
              </p:pic>
              <p:pic>
                <p:nvPicPr>
                  <p:cNvPr id="203" name="Graphique 202" descr="Utilisateur avec un remplissage uni">
                    <a:extLst>
                      <a:ext uri="{FF2B5EF4-FFF2-40B4-BE49-F238E27FC236}">
                        <a16:creationId xmlns:a16="http://schemas.microsoft.com/office/drawing/2014/main" id="{D822DBFA-3FCB-8584-30B4-F2E770C3DCC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345616" y="3561880"/>
                    <a:ext cx="336064" cy="336064"/>
                  </a:xfrm>
                  <a:prstGeom prst="rect">
                    <a:avLst/>
                  </a:prstGeom>
                </p:spPr>
              </p:pic>
              <p:pic>
                <p:nvPicPr>
                  <p:cNvPr id="204" name="Graphique 203" descr="Utilisateur avec un remplissage uni">
                    <a:extLst>
                      <a:ext uri="{FF2B5EF4-FFF2-40B4-BE49-F238E27FC236}">
                        <a16:creationId xmlns:a16="http://schemas.microsoft.com/office/drawing/2014/main" id="{AA8EBE10-FB00-544C-F669-2912BFAE8BAE}"/>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92504" y="3418428"/>
                    <a:ext cx="336064" cy="336064"/>
                  </a:xfrm>
                  <a:prstGeom prst="rect">
                    <a:avLst/>
                  </a:prstGeom>
                </p:spPr>
              </p:pic>
              <p:pic>
                <p:nvPicPr>
                  <p:cNvPr id="205" name="Graphique 204" descr="Utilisateur avec un remplissage uni">
                    <a:extLst>
                      <a:ext uri="{FF2B5EF4-FFF2-40B4-BE49-F238E27FC236}">
                        <a16:creationId xmlns:a16="http://schemas.microsoft.com/office/drawing/2014/main" id="{495990B3-41AF-4D74-0BB8-38408616F82F}"/>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635196" y="3680752"/>
                    <a:ext cx="336064" cy="336064"/>
                  </a:xfrm>
                  <a:prstGeom prst="rect">
                    <a:avLst/>
                  </a:prstGeom>
                </p:spPr>
              </p:pic>
              <p:pic>
                <p:nvPicPr>
                  <p:cNvPr id="206" name="Graphique 205" descr="Utilisateur avec un remplissage uni">
                    <a:extLst>
                      <a:ext uri="{FF2B5EF4-FFF2-40B4-BE49-F238E27FC236}">
                        <a16:creationId xmlns:a16="http://schemas.microsoft.com/office/drawing/2014/main" id="{E5AA6C0C-1C9B-7E20-20B4-BE4D05529BD6}"/>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256440" y="3848784"/>
                    <a:ext cx="336064" cy="336064"/>
                  </a:xfrm>
                  <a:prstGeom prst="rect">
                    <a:avLst/>
                  </a:prstGeom>
                </p:spPr>
              </p:pic>
              <p:pic>
                <p:nvPicPr>
                  <p:cNvPr id="207" name="Graphique 206" descr="Utilisateur avec un remplissage uni">
                    <a:extLst>
                      <a:ext uri="{FF2B5EF4-FFF2-40B4-BE49-F238E27FC236}">
                        <a16:creationId xmlns:a16="http://schemas.microsoft.com/office/drawing/2014/main" id="{F7856046-9E40-1E1E-5A41-3C038EF1986F}"/>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982504" y="3835028"/>
                    <a:ext cx="336064" cy="336064"/>
                  </a:xfrm>
                  <a:prstGeom prst="rect">
                    <a:avLst/>
                  </a:prstGeom>
                </p:spPr>
              </p:pic>
              <p:pic>
                <p:nvPicPr>
                  <p:cNvPr id="208" name="Graphique 207" descr="Utilisateur avec un remplissage uni">
                    <a:extLst>
                      <a:ext uri="{FF2B5EF4-FFF2-40B4-BE49-F238E27FC236}">
                        <a16:creationId xmlns:a16="http://schemas.microsoft.com/office/drawing/2014/main" id="{05E26A87-996E-7577-A71E-DB05654712B2}"/>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520868" y="3943076"/>
                    <a:ext cx="336064" cy="336064"/>
                  </a:xfrm>
                  <a:prstGeom prst="rect">
                    <a:avLst/>
                  </a:prstGeom>
                </p:spPr>
              </p:pic>
              <p:pic>
                <p:nvPicPr>
                  <p:cNvPr id="209" name="Graphique 208" descr="Utilisateur avec un remplissage uni">
                    <a:extLst>
                      <a:ext uri="{FF2B5EF4-FFF2-40B4-BE49-F238E27FC236}">
                        <a16:creationId xmlns:a16="http://schemas.microsoft.com/office/drawing/2014/main" id="{5E5AA76F-0462-1B93-EC2A-9666C21FE42E}"/>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742772" y="3976465"/>
                    <a:ext cx="336064" cy="336064"/>
                  </a:xfrm>
                  <a:prstGeom prst="rect">
                    <a:avLst/>
                  </a:prstGeom>
                </p:spPr>
              </p:pic>
              <p:pic>
                <p:nvPicPr>
                  <p:cNvPr id="210" name="Graphique 209" descr="Utilisateur avec un remplissage uni">
                    <a:extLst>
                      <a:ext uri="{FF2B5EF4-FFF2-40B4-BE49-F238E27FC236}">
                        <a16:creationId xmlns:a16="http://schemas.microsoft.com/office/drawing/2014/main" id="{F0095BCB-82C6-C896-D3D2-92484438814C}"/>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77110" y="3705332"/>
                    <a:ext cx="336064" cy="336064"/>
                  </a:xfrm>
                  <a:prstGeom prst="rect">
                    <a:avLst/>
                  </a:prstGeom>
                </p:spPr>
              </p:pic>
              <p:pic>
                <p:nvPicPr>
                  <p:cNvPr id="211" name="Graphique 210" descr="Utilisateur avec un remplissage uni">
                    <a:extLst>
                      <a:ext uri="{FF2B5EF4-FFF2-40B4-BE49-F238E27FC236}">
                        <a16:creationId xmlns:a16="http://schemas.microsoft.com/office/drawing/2014/main" id="{F8EE1C17-8FD2-9C81-7D60-B841E5FA3D7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856932" y="3429000"/>
                    <a:ext cx="336064" cy="336064"/>
                  </a:xfrm>
                  <a:prstGeom prst="rect">
                    <a:avLst/>
                  </a:prstGeom>
                </p:spPr>
              </p:pic>
            </p:grpSp>
            <p:pic>
              <p:nvPicPr>
                <p:cNvPr id="200" name="Graphique 199" descr="Boîte à archives avec un remplissage uni">
                  <a:extLst>
                    <a:ext uri="{FF2B5EF4-FFF2-40B4-BE49-F238E27FC236}">
                      <a16:creationId xmlns:a16="http://schemas.microsoft.com/office/drawing/2014/main" id="{37D2B7B4-4DD7-2AAA-0CF9-39571AB76CF7}"/>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590796" y="1573442"/>
                  <a:ext cx="795089" cy="795090"/>
                </a:xfrm>
                <a:prstGeom prst="rect">
                  <a:avLst/>
                </a:prstGeom>
              </p:spPr>
            </p:pic>
          </p:grpSp>
          <p:pic>
            <p:nvPicPr>
              <p:cNvPr id="198" name="Graphique 197" descr="Point d’interrogation avec un remplissage uni">
                <a:extLst>
                  <a:ext uri="{FF2B5EF4-FFF2-40B4-BE49-F238E27FC236}">
                    <a16:creationId xmlns:a16="http://schemas.microsoft.com/office/drawing/2014/main" id="{6A83B813-21E0-2F85-06B3-B1EAFEA9486F}"/>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2537302" y="5319965"/>
                <a:ext cx="332767" cy="332767"/>
              </a:xfrm>
              <a:prstGeom prst="rect">
                <a:avLst/>
              </a:prstGeom>
            </p:spPr>
          </p:pic>
        </p:grpSp>
      </p:grpSp>
      <p:grpSp>
        <p:nvGrpSpPr>
          <p:cNvPr id="212" name="Groupe 211">
            <a:extLst>
              <a:ext uri="{FF2B5EF4-FFF2-40B4-BE49-F238E27FC236}">
                <a16:creationId xmlns:a16="http://schemas.microsoft.com/office/drawing/2014/main" id="{8355C459-031B-4D58-CA8D-0551780A8591}"/>
              </a:ext>
            </a:extLst>
          </p:cNvPr>
          <p:cNvGrpSpPr/>
          <p:nvPr/>
        </p:nvGrpSpPr>
        <p:grpSpPr>
          <a:xfrm>
            <a:off x="7771489" y="2267125"/>
            <a:ext cx="3673384" cy="618734"/>
            <a:chOff x="2201357" y="2994046"/>
            <a:chExt cx="9990643" cy="1682794"/>
          </a:xfrm>
        </p:grpSpPr>
        <p:sp>
          <p:nvSpPr>
            <p:cNvPr id="213" name="Flèche : double flèche horizontale 212">
              <a:extLst>
                <a:ext uri="{FF2B5EF4-FFF2-40B4-BE49-F238E27FC236}">
                  <a16:creationId xmlns:a16="http://schemas.microsoft.com/office/drawing/2014/main" id="{EAD9529F-5F72-FEE8-EF35-EBEC612E99A3}"/>
                </a:ext>
              </a:extLst>
            </p:cNvPr>
            <p:cNvSpPr/>
            <p:nvPr/>
          </p:nvSpPr>
          <p:spPr>
            <a:xfrm>
              <a:off x="3036888" y="3716994"/>
              <a:ext cx="8316913" cy="959846"/>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 name="Groupe 213">
              <a:extLst>
                <a:ext uri="{FF2B5EF4-FFF2-40B4-BE49-F238E27FC236}">
                  <a16:creationId xmlns:a16="http://schemas.microsoft.com/office/drawing/2014/main" id="{067CCA9E-145E-545F-534E-3FA8B77ADA7A}"/>
                </a:ext>
              </a:extLst>
            </p:cNvPr>
            <p:cNvGrpSpPr/>
            <p:nvPr/>
          </p:nvGrpSpPr>
          <p:grpSpPr>
            <a:xfrm>
              <a:off x="2201357" y="2994046"/>
              <a:ext cx="2781592" cy="835533"/>
              <a:chOff x="3314408" y="2957049"/>
              <a:chExt cx="2781592" cy="835533"/>
            </a:xfrm>
          </p:grpSpPr>
          <p:grpSp>
            <p:nvGrpSpPr>
              <p:cNvPr id="232" name="Groupe 231">
                <a:extLst>
                  <a:ext uri="{FF2B5EF4-FFF2-40B4-BE49-F238E27FC236}">
                    <a16:creationId xmlns:a16="http://schemas.microsoft.com/office/drawing/2014/main" id="{A903648E-1147-8F8B-AC94-F06F5D271717}"/>
                  </a:ext>
                </a:extLst>
              </p:cNvPr>
              <p:cNvGrpSpPr/>
              <p:nvPr/>
            </p:nvGrpSpPr>
            <p:grpSpPr>
              <a:xfrm>
                <a:off x="3314408" y="2957049"/>
                <a:ext cx="2781592" cy="835533"/>
                <a:chOff x="3749837" y="3012255"/>
                <a:chExt cx="2346163" cy="704739"/>
              </a:xfrm>
            </p:grpSpPr>
            <p:pic>
              <p:nvPicPr>
                <p:cNvPr id="235" name="Graphique 234" descr="Utilisateur avec un remplissage uni">
                  <a:extLst>
                    <a:ext uri="{FF2B5EF4-FFF2-40B4-BE49-F238E27FC236}">
                      <a16:creationId xmlns:a16="http://schemas.microsoft.com/office/drawing/2014/main" id="{8C667009-5280-1E00-BD80-804B21225F5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3749837" y="3012257"/>
                  <a:ext cx="704737" cy="704737"/>
                </a:xfrm>
                <a:prstGeom prst="rect">
                  <a:avLst/>
                </a:prstGeom>
              </p:spPr>
            </p:pic>
            <p:pic>
              <p:nvPicPr>
                <p:cNvPr id="236" name="Graphique 235" descr="Utilisateur avec un remplissage uni">
                  <a:extLst>
                    <a:ext uri="{FF2B5EF4-FFF2-40B4-BE49-F238E27FC236}">
                      <a16:creationId xmlns:a16="http://schemas.microsoft.com/office/drawing/2014/main" id="{424FF668-AC06-9DF8-69B4-26D0D5D80157}"/>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4570550" y="3012256"/>
                  <a:ext cx="704737" cy="704737"/>
                </a:xfrm>
                <a:prstGeom prst="rect">
                  <a:avLst/>
                </a:prstGeom>
              </p:spPr>
            </p:pic>
            <p:pic>
              <p:nvPicPr>
                <p:cNvPr id="237" name="Graphique 236" descr="Utilisateur avec un remplissage uni">
                  <a:extLst>
                    <a:ext uri="{FF2B5EF4-FFF2-40B4-BE49-F238E27FC236}">
                      <a16:creationId xmlns:a16="http://schemas.microsoft.com/office/drawing/2014/main" id="{CF03FE75-A314-4EAF-310B-A16E1C7C9EF3}"/>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5391263" y="3012255"/>
                  <a:ext cx="704737" cy="704737"/>
                </a:xfrm>
                <a:prstGeom prst="rect">
                  <a:avLst/>
                </a:prstGeom>
              </p:spPr>
            </p:pic>
          </p:grpSp>
          <p:sp>
            <p:nvSpPr>
              <p:cNvPr id="233" name="Est égal à 232">
                <a:extLst>
                  <a:ext uri="{FF2B5EF4-FFF2-40B4-BE49-F238E27FC236}">
                    <a16:creationId xmlns:a16="http://schemas.microsoft.com/office/drawing/2014/main" id="{FCF5A380-53FE-CA31-8AD4-379DA5E5B13C}"/>
                  </a:ext>
                </a:extLst>
              </p:cNvPr>
              <p:cNvSpPr/>
              <p:nvPr/>
            </p:nvSpPr>
            <p:spPr>
              <a:xfrm>
                <a:off x="3981020" y="3260276"/>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34" name="Est égal à 233">
                <a:extLst>
                  <a:ext uri="{FF2B5EF4-FFF2-40B4-BE49-F238E27FC236}">
                    <a16:creationId xmlns:a16="http://schemas.microsoft.com/office/drawing/2014/main" id="{B332DDE0-5AA7-81B9-E2F3-21115B1AD71C}"/>
                  </a:ext>
                </a:extLst>
              </p:cNvPr>
              <p:cNvSpPr/>
              <p:nvPr/>
            </p:nvSpPr>
            <p:spPr>
              <a:xfrm>
                <a:off x="4955907" y="3260275"/>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grpSp>
          <p:nvGrpSpPr>
            <p:cNvPr id="215" name="Groupe 214">
              <a:extLst>
                <a:ext uri="{FF2B5EF4-FFF2-40B4-BE49-F238E27FC236}">
                  <a16:creationId xmlns:a16="http://schemas.microsoft.com/office/drawing/2014/main" id="{7881A396-86A3-4EAA-3CCD-9554D93F3107}"/>
                </a:ext>
              </a:extLst>
            </p:cNvPr>
            <p:cNvGrpSpPr/>
            <p:nvPr/>
          </p:nvGrpSpPr>
          <p:grpSpPr>
            <a:xfrm>
              <a:off x="5929056" y="3011232"/>
              <a:ext cx="2781592" cy="835533"/>
              <a:chOff x="6515538" y="4457086"/>
              <a:chExt cx="2781592" cy="835533"/>
            </a:xfrm>
          </p:grpSpPr>
          <p:grpSp>
            <p:nvGrpSpPr>
              <p:cNvPr id="226" name="Groupe 225">
                <a:extLst>
                  <a:ext uri="{FF2B5EF4-FFF2-40B4-BE49-F238E27FC236}">
                    <a16:creationId xmlns:a16="http://schemas.microsoft.com/office/drawing/2014/main" id="{E58FA68B-B97F-B65A-7865-0FBE2AD1D1E6}"/>
                  </a:ext>
                </a:extLst>
              </p:cNvPr>
              <p:cNvGrpSpPr/>
              <p:nvPr/>
            </p:nvGrpSpPr>
            <p:grpSpPr>
              <a:xfrm>
                <a:off x="6515538" y="4457086"/>
                <a:ext cx="2781592" cy="835533"/>
                <a:chOff x="3749837" y="3012255"/>
                <a:chExt cx="2346163" cy="704739"/>
              </a:xfrm>
            </p:grpSpPr>
            <p:pic>
              <p:nvPicPr>
                <p:cNvPr id="229" name="Graphique 228" descr="Utilisateur avec un remplissage uni">
                  <a:extLst>
                    <a:ext uri="{FF2B5EF4-FFF2-40B4-BE49-F238E27FC236}">
                      <a16:creationId xmlns:a16="http://schemas.microsoft.com/office/drawing/2014/main" id="{32C01B3A-5497-2EE0-B7FD-70C849308312}"/>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3749837" y="3012257"/>
                  <a:ext cx="704737" cy="704737"/>
                </a:xfrm>
                <a:prstGeom prst="rect">
                  <a:avLst/>
                </a:prstGeom>
              </p:spPr>
            </p:pic>
            <p:pic>
              <p:nvPicPr>
                <p:cNvPr id="230" name="Graphique 229" descr="Utilisateur avec un remplissage uni">
                  <a:extLst>
                    <a:ext uri="{FF2B5EF4-FFF2-40B4-BE49-F238E27FC236}">
                      <a16:creationId xmlns:a16="http://schemas.microsoft.com/office/drawing/2014/main" id="{C7469D8E-96AF-D67E-D93E-D4DB29EA990A}"/>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4570550" y="3012256"/>
                  <a:ext cx="704737" cy="704737"/>
                </a:xfrm>
                <a:prstGeom prst="rect">
                  <a:avLst/>
                </a:prstGeom>
              </p:spPr>
            </p:pic>
            <p:pic>
              <p:nvPicPr>
                <p:cNvPr id="231" name="Graphique 230" descr="Utilisateur avec un remplissage uni">
                  <a:extLst>
                    <a:ext uri="{FF2B5EF4-FFF2-40B4-BE49-F238E27FC236}">
                      <a16:creationId xmlns:a16="http://schemas.microsoft.com/office/drawing/2014/main" id="{69992724-7723-5528-A2A9-3575BB6D3C0F}"/>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5391263" y="3012255"/>
                  <a:ext cx="704737" cy="704737"/>
                </a:xfrm>
                <a:prstGeom prst="rect">
                  <a:avLst/>
                </a:prstGeom>
              </p:spPr>
            </p:pic>
          </p:grpSp>
          <p:sp>
            <p:nvSpPr>
              <p:cNvPr id="227" name="Est égal à 226">
                <a:extLst>
                  <a:ext uri="{FF2B5EF4-FFF2-40B4-BE49-F238E27FC236}">
                    <a16:creationId xmlns:a16="http://schemas.microsoft.com/office/drawing/2014/main" id="{5CA7EC44-6F9D-E0B8-D423-A3853B7BC147}"/>
                  </a:ext>
                </a:extLst>
              </p:cNvPr>
              <p:cNvSpPr/>
              <p:nvPr/>
            </p:nvSpPr>
            <p:spPr>
              <a:xfrm>
                <a:off x="7163530" y="4793936"/>
                <a:ext cx="476874" cy="337449"/>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28" name="Non égal 227">
                <a:extLst>
                  <a:ext uri="{FF2B5EF4-FFF2-40B4-BE49-F238E27FC236}">
                    <a16:creationId xmlns:a16="http://schemas.microsoft.com/office/drawing/2014/main" id="{BF16DA2E-CD51-950B-9BC6-BEFDC8ADE542}"/>
                  </a:ext>
                </a:extLst>
              </p:cNvPr>
              <p:cNvSpPr/>
              <p:nvPr/>
            </p:nvSpPr>
            <p:spPr>
              <a:xfrm>
                <a:off x="8154413" y="4793935"/>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grpSp>
          <p:nvGrpSpPr>
            <p:cNvPr id="216" name="Groupe 215">
              <a:extLst>
                <a:ext uri="{FF2B5EF4-FFF2-40B4-BE49-F238E27FC236}">
                  <a16:creationId xmlns:a16="http://schemas.microsoft.com/office/drawing/2014/main" id="{070A29B1-4AFB-BDCA-C7A9-E33FE980C55F}"/>
                </a:ext>
              </a:extLst>
            </p:cNvPr>
            <p:cNvGrpSpPr/>
            <p:nvPr/>
          </p:nvGrpSpPr>
          <p:grpSpPr>
            <a:xfrm>
              <a:off x="9656756" y="2994046"/>
              <a:ext cx="2535244" cy="761535"/>
              <a:chOff x="9656756" y="2994046"/>
              <a:chExt cx="2535244" cy="761535"/>
            </a:xfrm>
          </p:grpSpPr>
          <p:grpSp>
            <p:nvGrpSpPr>
              <p:cNvPr id="220" name="Groupe 219">
                <a:extLst>
                  <a:ext uri="{FF2B5EF4-FFF2-40B4-BE49-F238E27FC236}">
                    <a16:creationId xmlns:a16="http://schemas.microsoft.com/office/drawing/2014/main" id="{03417873-9A67-C6E5-9529-578587C57F17}"/>
                  </a:ext>
                </a:extLst>
              </p:cNvPr>
              <p:cNvGrpSpPr/>
              <p:nvPr/>
            </p:nvGrpSpPr>
            <p:grpSpPr>
              <a:xfrm>
                <a:off x="9656756" y="2994046"/>
                <a:ext cx="2535244" cy="761535"/>
                <a:chOff x="3749837" y="3012255"/>
                <a:chExt cx="2346163" cy="704739"/>
              </a:xfrm>
            </p:grpSpPr>
            <p:pic>
              <p:nvPicPr>
                <p:cNvPr id="223" name="Graphique 222" descr="Utilisateur avec un remplissage uni">
                  <a:extLst>
                    <a:ext uri="{FF2B5EF4-FFF2-40B4-BE49-F238E27FC236}">
                      <a16:creationId xmlns:a16="http://schemas.microsoft.com/office/drawing/2014/main" id="{5DB42AF0-D123-0769-A70D-C26B80D9D0BE}"/>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3749837" y="3012257"/>
                  <a:ext cx="704737" cy="704737"/>
                </a:xfrm>
                <a:prstGeom prst="rect">
                  <a:avLst/>
                </a:prstGeom>
              </p:spPr>
            </p:pic>
            <p:pic>
              <p:nvPicPr>
                <p:cNvPr id="224" name="Graphique 223" descr="Utilisateur avec un remplissage uni">
                  <a:extLst>
                    <a:ext uri="{FF2B5EF4-FFF2-40B4-BE49-F238E27FC236}">
                      <a16:creationId xmlns:a16="http://schemas.microsoft.com/office/drawing/2014/main" id="{F916B4AF-59F9-F73B-A391-2ABB429314B5}"/>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4570550" y="3012256"/>
                  <a:ext cx="704737" cy="704737"/>
                </a:xfrm>
                <a:prstGeom prst="rect">
                  <a:avLst/>
                </a:prstGeom>
              </p:spPr>
            </p:pic>
            <p:pic>
              <p:nvPicPr>
                <p:cNvPr id="225" name="Graphique 224" descr="Utilisateur avec un remplissage uni">
                  <a:extLst>
                    <a:ext uri="{FF2B5EF4-FFF2-40B4-BE49-F238E27FC236}">
                      <a16:creationId xmlns:a16="http://schemas.microsoft.com/office/drawing/2014/main" id="{BCD2DFCA-A301-7EFA-E3F7-354268E61B57}"/>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5391263" y="3012255"/>
                  <a:ext cx="704737" cy="704737"/>
                </a:xfrm>
                <a:prstGeom prst="rect">
                  <a:avLst/>
                </a:prstGeom>
              </p:spPr>
            </p:pic>
          </p:grpSp>
          <p:sp>
            <p:nvSpPr>
              <p:cNvPr id="221" name="Non égal 220">
                <a:extLst>
                  <a:ext uri="{FF2B5EF4-FFF2-40B4-BE49-F238E27FC236}">
                    <a16:creationId xmlns:a16="http://schemas.microsoft.com/office/drawing/2014/main" id="{917BDED4-272A-A1FC-5711-2EDE1C433459}"/>
                  </a:ext>
                </a:extLst>
              </p:cNvPr>
              <p:cNvSpPr/>
              <p:nvPr/>
            </p:nvSpPr>
            <p:spPr>
              <a:xfrm>
                <a:off x="10242513" y="3271894"/>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22" name="Non égal 221">
                <a:extLst>
                  <a:ext uri="{FF2B5EF4-FFF2-40B4-BE49-F238E27FC236}">
                    <a16:creationId xmlns:a16="http://schemas.microsoft.com/office/drawing/2014/main" id="{4B18E0E8-7061-D6D8-C14B-7A3D8F4C4CBD}"/>
                  </a:ext>
                </a:extLst>
              </p:cNvPr>
              <p:cNvSpPr/>
              <p:nvPr/>
            </p:nvSpPr>
            <p:spPr>
              <a:xfrm>
                <a:off x="11129369" y="3260275"/>
                <a:ext cx="476874" cy="337449"/>
              </a:xfrm>
              <a:prstGeom prst="mathNot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grpSp>
      <p:sp>
        <p:nvSpPr>
          <p:cNvPr id="238" name="ZoneTexte 237">
            <a:extLst>
              <a:ext uri="{FF2B5EF4-FFF2-40B4-BE49-F238E27FC236}">
                <a16:creationId xmlns:a16="http://schemas.microsoft.com/office/drawing/2014/main" id="{CD2A2981-F619-4B7E-6731-5D1C41967713}"/>
              </a:ext>
            </a:extLst>
          </p:cNvPr>
          <p:cNvSpPr txBox="1"/>
          <p:nvPr/>
        </p:nvSpPr>
        <p:spPr>
          <a:xfrm>
            <a:off x="1078299" y="4213447"/>
            <a:ext cx="2563847" cy="2585323"/>
          </a:xfrm>
          <a:prstGeom prst="rect">
            <a:avLst/>
          </a:prstGeom>
          <a:noFill/>
        </p:spPr>
        <p:txBody>
          <a:bodyPr wrap="square">
            <a:spAutoFit/>
          </a:bodyPr>
          <a:lstStyle/>
          <a:p>
            <a:pPr algn="ctr"/>
            <a:r>
              <a:rPr lang="fr-FR" dirty="0"/>
              <a:t>Chaque Communauté dispose d’un certain nombre de </a:t>
            </a:r>
            <a:r>
              <a:rPr lang="fr-FR" b="1" dirty="0">
                <a:solidFill>
                  <a:srgbClr val="3494BA"/>
                </a:solidFill>
              </a:rPr>
              <a:t>ressources</a:t>
            </a:r>
            <a:r>
              <a:rPr lang="fr-FR" dirty="0"/>
              <a:t>, matérielles ou informationnelles, qui sont </a:t>
            </a:r>
            <a:r>
              <a:rPr lang="fr-FR" b="1" dirty="0">
                <a:solidFill>
                  <a:srgbClr val="ED7D31"/>
                </a:solidFill>
              </a:rPr>
              <a:t>mises en commun </a:t>
            </a:r>
            <a:r>
              <a:rPr lang="fr-FR" dirty="0"/>
              <a:t>et donnent de la valeur à s’organiser en Communauté</a:t>
            </a:r>
          </a:p>
        </p:txBody>
      </p:sp>
      <p:sp>
        <p:nvSpPr>
          <p:cNvPr id="239" name="ZoneTexte 238">
            <a:extLst>
              <a:ext uri="{FF2B5EF4-FFF2-40B4-BE49-F238E27FC236}">
                <a16:creationId xmlns:a16="http://schemas.microsoft.com/office/drawing/2014/main" id="{1AE3CCE1-ADE8-CF85-6DE1-50AEC619E980}"/>
              </a:ext>
            </a:extLst>
          </p:cNvPr>
          <p:cNvSpPr txBox="1"/>
          <p:nvPr/>
        </p:nvSpPr>
        <p:spPr>
          <a:xfrm>
            <a:off x="5095301" y="4213447"/>
            <a:ext cx="2676188" cy="2308324"/>
          </a:xfrm>
          <a:prstGeom prst="rect">
            <a:avLst/>
          </a:prstGeom>
          <a:noFill/>
        </p:spPr>
        <p:txBody>
          <a:bodyPr wrap="square">
            <a:spAutoFit/>
          </a:bodyPr>
          <a:lstStyle/>
          <a:p>
            <a:pPr algn="ctr"/>
            <a:r>
              <a:rPr lang="fr-FR" dirty="0"/>
              <a:t>Il y a </a:t>
            </a:r>
            <a:r>
              <a:rPr lang="fr-FR" b="1" dirty="0"/>
              <a:t>différents niveaux </a:t>
            </a:r>
            <a:r>
              <a:rPr lang="fr-FR" dirty="0"/>
              <a:t>d’accès et de mise en commun des ressources dans la Communauté, on peut en faire un </a:t>
            </a:r>
            <a:r>
              <a:rPr lang="fr-FR" b="1" dirty="0">
                <a:solidFill>
                  <a:srgbClr val="ED7D31"/>
                </a:solidFill>
              </a:rPr>
              <a:t>bilan pour trouver quoi mettre de plus en commun </a:t>
            </a:r>
            <a:r>
              <a:rPr lang="fr-FR" dirty="0"/>
              <a:t>ou </a:t>
            </a:r>
            <a:r>
              <a:rPr lang="fr-FR" b="1" dirty="0">
                <a:solidFill>
                  <a:srgbClr val="3494BA"/>
                </a:solidFill>
              </a:rPr>
              <a:t>mieux.</a:t>
            </a:r>
          </a:p>
        </p:txBody>
      </p:sp>
      <p:sp>
        <p:nvSpPr>
          <p:cNvPr id="240" name="ZoneTexte 239">
            <a:extLst>
              <a:ext uri="{FF2B5EF4-FFF2-40B4-BE49-F238E27FC236}">
                <a16:creationId xmlns:a16="http://schemas.microsoft.com/office/drawing/2014/main" id="{3BB06728-E090-67D5-DE0E-3668AE08C9E1}"/>
              </a:ext>
            </a:extLst>
          </p:cNvPr>
          <p:cNvSpPr txBox="1"/>
          <p:nvPr/>
        </p:nvSpPr>
        <p:spPr>
          <a:xfrm>
            <a:off x="9112303" y="4213447"/>
            <a:ext cx="2827148" cy="1477328"/>
          </a:xfrm>
          <a:prstGeom prst="rect">
            <a:avLst/>
          </a:prstGeom>
          <a:noFill/>
        </p:spPr>
        <p:txBody>
          <a:bodyPr wrap="square">
            <a:spAutoFit/>
          </a:bodyPr>
          <a:lstStyle/>
          <a:p>
            <a:pPr algn="ctr"/>
            <a:r>
              <a:rPr lang="fr-FR" dirty="0"/>
              <a:t>On peut mettre à profit les ressemblances ou les différences entre membres pour augmenter la valeur de la Communauté.</a:t>
            </a:r>
          </a:p>
        </p:txBody>
      </p:sp>
      <p:sp>
        <p:nvSpPr>
          <p:cNvPr id="241" name="Organigramme : Connecteur 240">
            <a:extLst>
              <a:ext uri="{FF2B5EF4-FFF2-40B4-BE49-F238E27FC236}">
                <a16:creationId xmlns:a16="http://schemas.microsoft.com/office/drawing/2014/main" id="{B9F8E198-88BA-9834-9CD1-AE2CE251BCA2}"/>
              </a:ext>
            </a:extLst>
          </p:cNvPr>
          <p:cNvSpPr/>
          <p:nvPr/>
        </p:nvSpPr>
        <p:spPr>
          <a:xfrm>
            <a:off x="94102" y="4227067"/>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4</a:t>
            </a:r>
          </a:p>
        </p:txBody>
      </p:sp>
      <p:sp>
        <p:nvSpPr>
          <p:cNvPr id="242" name="Organigramme : Connecteur 241">
            <a:extLst>
              <a:ext uri="{FF2B5EF4-FFF2-40B4-BE49-F238E27FC236}">
                <a16:creationId xmlns:a16="http://schemas.microsoft.com/office/drawing/2014/main" id="{7CE9151B-5842-0CCA-DA9C-ABAC71B03838}"/>
              </a:ext>
            </a:extLst>
          </p:cNvPr>
          <p:cNvSpPr/>
          <p:nvPr/>
        </p:nvSpPr>
        <p:spPr>
          <a:xfrm>
            <a:off x="4111104" y="4227067"/>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5</a:t>
            </a:r>
          </a:p>
        </p:txBody>
      </p:sp>
      <p:sp>
        <p:nvSpPr>
          <p:cNvPr id="243" name="Organigramme : Connecteur 242">
            <a:extLst>
              <a:ext uri="{FF2B5EF4-FFF2-40B4-BE49-F238E27FC236}">
                <a16:creationId xmlns:a16="http://schemas.microsoft.com/office/drawing/2014/main" id="{70300497-6EAC-257F-F838-3DB787A835B2}"/>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6</a:t>
            </a:r>
          </a:p>
        </p:txBody>
      </p:sp>
    </p:spTree>
    <p:extLst>
      <p:ext uri="{BB962C8B-B14F-4D97-AF65-F5344CB8AC3E}">
        <p14:creationId xmlns:p14="http://schemas.microsoft.com/office/powerpoint/2010/main" val="224035320"/>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61606E-7B1B-AF13-91F0-CEB4ECD55444}"/>
              </a:ext>
            </a:extLst>
          </p:cNvPr>
          <p:cNvSpPr>
            <a:spLocks noGrp="1"/>
          </p:cNvSpPr>
          <p:nvPr>
            <p:ph type="title"/>
          </p:nvPr>
        </p:nvSpPr>
        <p:spPr/>
        <p:txBody>
          <a:bodyPr/>
          <a:lstStyle/>
          <a:p>
            <a:r>
              <a:rPr lang="fr-FR" dirty="0"/>
              <a:t>Résumé, une phrase par image</a:t>
            </a:r>
          </a:p>
        </p:txBody>
      </p:sp>
      <p:grpSp>
        <p:nvGrpSpPr>
          <p:cNvPr id="4" name="Groupe 3">
            <a:extLst>
              <a:ext uri="{FF2B5EF4-FFF2-40B4-BE49-F238E27FC236}">
                <a16:creationId xmlns:a16="http://schemas.microsoft.com/office/drawing/2014/main" id="{5030F698-5A93-CFDD-45E9-804DE3BCF3F6}"/>
              </a:ext>
            </a:extLst>
          </p:cNvPr>
          <p:cNvGrpSpPr/>
          <p:nvPr/>
        </p:nvGrpSpPr>
        <p:grpSpPr>
          <a:xfrm>
            <a:off x="494038" y="1675917"/>
            <a:ext cx="3660661" cy="1595936"/>
            <a:chOff x="627174" y="1508115"/>
            <a:chExt cx="11169068" cy="4869371"/>
          </a:xfrm>
        </p:grpSpPr>
        <p:pic>
          <p:nvPicPr>
            <p:cNvPr id="217" name="Graphique 216" descr="Bâtiment avec un remplissage uni">
              <a:extLst>
                <a:ext uri="{FF2B5EF4-FFF2-40B4-BE49-F238E27FC236}">
                  <a16:creationId xmlns:a16="http://schemas.microsoft.com/office/drawing/2014/main" id="{920CD7FF-E6E8-7F4D-244C-9944A5F8EF4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29648" y="1508115"/>
              <a:ext cx="1722120" cy="1722120"/>
            </a:xfrm>
            <a:prstGeom prst="rect">
              <a:avLst/>
            </a:prstGeom>
          </p:spPr>
        </p:pic>
        <p:grpSp>
          <p:nvGrpSpPr>
            <p:cNvPr id="218" name="Groupe 217">
              <a:extLst>
                <a:ext uri="{FF2B5EF4-FFF2-40B4-BE49-F238E27FC236}">
                  <a16:creationId xmlns:a16="http://schemas.microsoft.com/office/drawing/2014/main" id="{93C794A2-ADF4-BA2D-EC94-DCBAB5A4AC68}"/>
                </a:ext>
              </a:extLst>
            </p:cNvPr>
            <p:cNvGrpSpPr/>
            <p:nvPr/>
          </p:nvGrpSpPr>
          <p:grpSpPr>
            <a:xfrm>
              <a:off x="1673791" y="1733858"/>
              <a:ext cx="1507135" cy="1270634"/>
              <a:chOff x="8982504" y="3274976"/>
              <a:chExt cx="1230670" cy="1037553"/>
            </a:xfrm>
            <a:solidFill>
              <a:srgbClr val="ED7D31"/>
            </a:solidFill>
          </p:grpSpPr>
          <p:pic>
            <p:nvPicPr>
              <p:cNvPr id="219" name="Graphique 218" descr="Utilisateur avec un remplissage uni">
                <a:extLst>
                  <a:ext uri="{FF2B5EF4-FFF2-40B4-BE49-F238E27FC236}">
                    <a16:creationId xmlns:a16="http://schemas.microsoft.com/office/drawing/2014/main" id="{4842799D-AD28-4C71-AD72-AFC99B55E3F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38" name="Graphique 237" descr="Utilisateur avec un remplissage uni">
                <a:extLst>
                  <a:ext uri="{FF2B5EF4-FFF2-40B4-BE49-F238E27FC236}">
                    <a16:creationId xmlns:a16="http://schemas.microsoft.com/office/drawing/2014/main" id="{65BFC3AA-6E52-97D5-9227-28D0E4EC224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39" name="Graphique 238" descr="Utilisateur avec un remplissage uni">
                <a:extLst>
                  <a:ext uri="{FF2B5EF4-FFF2-40B4-BE49-F238E27FC236}">
                    <a16:creationId xmlns:a16="http://schemas.microsoft.com/office/drawing/2014/main" id="{60796139-7393-2551-1B51-4E721A98A16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40" name="Graphique 239" descr="Utilisateur avec un remplissage uni">
                <a:extLst>
                  <a:ext uri="{FF2B5EF4-FFF2-40B4-BE49-F238E27FC236}">
                    <a16:creationId xmlns:a16="http://schemas.microsoft.com/office/drawing/2014/main" id="{57D507FF-1EF2-BD37-2E9F-F1D4DB6A6B9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41" name="Graphique 240" descr="Utilisateur avec un remplissage uni">
                <a:extLst>
                  <a:ext uri="{FF2B5EF4-FFF2-40B4-BE49-F238E27FC236}">
                    <a16:creationId xmlns:a16="http://schemas.microsoft.com/office/drawing/2014/main" id="{161854D5-867C-12EC-1548-C54763C5177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42" name="Graphique 241" descr="Utilisateur avec un remplissage uni">
                <a:extLst>
                  <a:ext uri="{FF2B5EF4-FFF2-40B4-BE49-F238E27FC236}">
                    <a16:creationId xmlns:a16="http://schemas.microsoft.com/office/drawing/2014/main" id="{1CF63E5C-091B-C433-A440-C67596145ED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43" name="Graphique 242" descr="Utilisateur avec un remplissage uni">
                <a:extLst>
                  <a:ext uri="{FF2B5EF4-FFF2-40B4-BE49-F238E27FC236}">
                    <a16:creationId xmlns:a16="http://schemas.microsoft.com/office/drawing/2014/main" id="{6840920C-2A09-3580-8613-CC7857FE2E5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44" name="Graphique 243" descr="Utilisateur avec un remplissage uni">
                <a:extLst>
                  <a:ext uri="{FF2B5EF4-FFF2-40B4-BE49-F238E27FC236}">
                    <a16:creationId xmlns:a16="http://schemas.microsoft.com/office/drawing/2014/main" id="{577CF7BF-D9DB-4EA0-2AA8-63C033B2970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45" name="Graphique 244" descr="Utilisateur avec un remplissage uni">
                <a:extLst>
                  <a:ext uri="{FF2B5EF4-FFF2-40B4-BE49-F238E27FC236}">
                    <a16:creationId xmlns:a16="http://schemas.microsoft.com/office/drawing/2014/main" id="{90691FAA-1318-F893-0437-8B68F51F8FC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46" name="Graphique 245" descr="Utilisateur avec un remplissage uni">
                <a:extLst>
                  <a:ext uri="{FF2B5EF4-FFF2-40B4-BE49-F238E27FC236}">
                    <a16:creationId xmlns:a16="http://schemas.microsoft.com/office/drawing/2014/main" id="{A02D69CA-5C1A-3867-3CC3-5943F1AAB5A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47" name="Graphique 246" descr="Utilisateur avec un remplissage uni">
                <a:extLst>
                  <a:ext uri="{FF2B5EF4-FFF2-40B4-BE49-F238E27FC236}">
                    <a16:creationId xmlns:a16="http://schemas.microsoft.com/office/drawing/2014/main" id="{80753D77-8AB8-6033-8466-7F79361A9A6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248" name="Flèche : droite 247">
              <a:extLst>
                <a:ext uri="{FF2B5EF4-FFF2-40B4-BE49-F238E27FC236}">
                  <a16:creationId xmlns:a16="http://schemas.microsoft.com/office/drawing/2014/main" id="{71D3B1B6-AD3D-A3BB-37C3-A6506988AC9E}"/>
                </a:ext>
              </a:extLst>
            </p:cNvPr>
            <p:cNvSpPr/>
            <p:nvPr/>
          </p:nvSpPr>
          <p:spPr>
            <a:xfrm rot="19508911" flipH="1">
              <a:off x="7368610" y="3025527"/>
              <a:ext cx="1189456" cy="623864"/>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 name="Flèche : gauche 248">
              <a:extLst>
                <a:ext uri="{FF2B5EF4-FFF2-40B4-BE49-F238E27FC236}">
                  <a16:creationId xmlns:a16="http://schemas.microsoft.com/office/drawing/2014/main" id="{C23E3AC5-2499-6A44-0515-9BA89E404266}"/>
                </a:ext>
              </a:extLst>
            </p:cNvPr>
            <p:cNvSpPr/>
            <p:nvPr/>
          </p:nvSpPr>
          <p:spPr>
            <a:xfrm rot="1525700" flipH="1">
              <a:off x="3685118" y="2956595"/>
              <a:ext cx="1189456" cy="623864"/>
            </a:xfrm>
            <a:prstGeom prst="lef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 name="Groupe 253">
              <a:extLst>
                <a:ext uri="{FF2B5EF4-FFF2-40B4-BE49-F238E27FC236}">
                  <a16:creationId xmlns:a16="http://schemas.microsoft.com/office/drawing/2014/main" id="{0E1D0E0E-8BAA-3AC9-B115-5C8D7D9EDF18}"/>
                </a:ext>
              </a:extLst>
            </p:cNvPr>
            <p:cNvGrpSpPr/>
            <p:nvPr/>
          </p:nvGrpSpPr>
          <p:grpSpPr>
            <a:xfrm>
              <a:off x="627174" y="3833473"/>
              <a:ext cx="2839424" cy="2544013"/>
              <a:chOff x="104105" y="3597102"/>
              <a:chExt cx="3342555" cy="2998320"/>
            </a:xfrm>
          </p:grpSpPr>
          <p:pic>
            <p:nvPicPr>
              <p:cNvPr id="281" name="Graphique 280" descr="Poignée de main avec un remplissage uni">
                <a:extLst>
                  <a:ext uri="{FF2B5EF4-FFF2-40B4-BE49-F238E27FC236}">
                    <a16:creationId xmlns:a16="http://schemas.microsoft.com/office/drawing/2014/main" id="{A7C1ACEF-B958-512E-A2A9-DCCB9D57271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55895" y="5754169"/>
                <a:ext cx="841253" cy="841253"/>
              </a:xfrm>
              <a:prstGeom prst="rect">
                <a:avLst/>
              </a:prstGeom>
            </p:spPr>
          </p:pic>
          <p:grpSp>
            <p:nvGrpSpPr>
              <p:cNvPr id="277" name="Groupe 276">
                <a:extLst>
                  <a:ext uri="{FF2B5EF4-FFF2-40B4-BE49-F238E27FC236}">
                    <a16:creationId xmlns:a16="http://schemas.microsoft.com/office/drawing/2014/main" id="{34B98E85-3E9B-2F9F-4A9C-7D23B489AD24}"/>
                  </a:ext>
                </a:extLst>
              </p:cNvPr>
              <p:cNvGrpSpPr/>
              <p:nvPr/>
            </p:nvGrpSpPr>
            <p:grpSpPr>
              <a:xfrm>
                <a:off x="104105" y="4861826"/>
                <a:ext cx="942566" cy="577828"/>
                <a:chOff x="8496164" y="663605"/>
                <a:chExt cx="2837988" cy="1739790"/>
              </a:xfrm>
            </p:grpSpPr>
            <p:pic>
              <p:nvPicPr>
                <p:cNvPr id="279" name="Graphique 278" descr="Évaluation 3 étoiles avec un remplissage uni">
                  <a:extLst>
                    <a:ext uri="{FF2B5EF4-FFF2-40B4-BE49-F238E27FC236}">
                      <a16:creationId xmlns:a16="http://schemas.microsoft.com/office/drawing/2014/main" id="{0EC67A1A-25A1-B93D-40BC-EC2903ACA4A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96164" y="663605"/>
                  <a:ext cx="1739790" cy="1739790"/>
                </a:xfrm>
                <a:prstGeom prst="rect">
                  <a:avLst/>
                </a:prstGeom>
              </p:spPr>
            </p:pic>
            <p:pic>
              <p:nvPicPr>
                <p:cNvPr id="280" name="Graphique 279" descr="Évaluation 3 étoiles avec un remplissage uni">
                  <a:extLst>
                    <a:ext uri="{FF2B5EF4-FFF2-40B4-BE49-F238E27FC236}">
                      <a16:creationId xmlns:a16="http://schemas.microsoft.com/office/drawing/2014/main" id="{0E8105DC-1FD8-4088-9987-B4A4C02CD59D}"/>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l="33972"/>
                <a:stretch/>
              </p:blipFill>
              <p:spPr>
                <a:xfrm>
                  <a:off x="10185399" y="663605"/>
                  <a:ext cx="1148753" cy="1739790"/>
                </a:xfrm>
                <a:prstGeom prst="rect">
                  <a:avLst/>
                </a:prstGeom>
              </p:spPr>
            </p:pic>
          </p:grpSp>
          <p:pic>
            <p:nvPicPr>
              <p:cNvPr id="276" name="Graphique 275" descr="Sablier plein avec un remplissage uni">
                <a:extLst>
                  <a:ext uri="{FF2B5EF4-FFF2-40B4-BE49-F238E27FC236}">
                    <a16:creationId xmlns:a16="http://schemas.microsoft.com/office/drawing/2014/main" id="{89EF6847-01AA-FF30-772A-2D35273A58B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735538" y="5975035"/>
                <a:ext cx="459430" cy="459430"/>
              </a:xfrm>
              <a:prstGeom prst="rect">
                <a:avLst/>
              </a:prstGeom>
            </p:spPr>
          </p:pic>
          <p:pic>
            <p:nvPicPr>
              <p:cNvPr id="274" name="Graphique 273" descr="Presse-papiers vérifié avec un remplissage uni">
                <a:extLst>
                  <a:ext uri="{FF2B5EF4-FFF2-40B4-BE49-F238E27FC236}">
                    <a16:creationId xmlns:a16="http://schemas.microsoft.com/office/drawing/2014/main" id="{14A1A16D-EF72-36C6-2BE2-D34106EFA2B0}"/>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748492" y="4763093"/>
                <a:ext cx="586777" cy="586777"/>
              </a:xfrm>
              <a:prstGeom prst="rect">
                <a:avLst/>
              </a:prstGeom>
            </p:spPr>
          </p:pic>
          <p:pic>
            <p:nvPicPr>
              <p:cNvPr id="271" name="Graphique 270" descr="Aspiration avec un remplissage uni">
                <a:extLst>
                  <a:ext uri="{FF2B5EF4-FFF2-40B4-BE49-F238E27FC236}">
                    <a16:creationId xmlns:a16="http://schemas.microsoft.com/office/drawing/2014/main" id="{B4D57B8E-1A19-6ED2-ABA5-49B38D268425}"/>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34097" y="3732690"/>
                <a:ext cx="614376" cy="565554"/>
              </a:xfrm>
              <a:prstGeom prst="rect">
                <a:avLst/>
              </a:prstGeom>
            </p:spPr>
          </p:pic>
          <p:pic>
            <p:nvPicPr>
              <p:cNvPr id="269" name="Graphique 268" descr="Globe terrestre : Europe et Afrique avec un remplissage uni">
                <a:extLst>
                  <a:ext uri="{FF2B5EF4-FFF2-40B4-BE49-F238E27FC236}">
                    <a16:creationId xmlns:a16="http://schemas.microsoft.com/office/drawing/2014/main" id="{B7CBDD37-756E-91EE-FE85-8EBC5E18392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2678027" y="3597102"/>
                <a:ext cx="768633" cy="768631"/>
              </a:xfrm>
              <a:prstGeom prst="rect">
                <a:avLst/>
              </a:prstGeom>
            </p:spPr>
          </p:pic>
          <p:pic>
            <p:nvPicPr>
              <p:cNvPr id="267" name="Graphique 266" descr="Coffre au trésor avec un remplissage uni">
                <a:extLst>
                  <a:ext uri="{FF2B5EF4-FFF2-40B4-BE49-F238E27FC236}">
                    <a16:creationId xmlns:a16="http://schemas.microsoft.com/office/drawing/2014/main" id="{28C77785-172B-2AC3-E8A3-5CA360B05BE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545500" y="4956928"/>
                <a:ext cx="459428" cy="459430"/>
              </a:xfrm>
              <a:prstGeom prst="rect">
                <a:avLst/>
              </a:prstGeom>
            </p:spPr>
          </p:pic>
          <p:pic>
            <p:nvPicPr>
              <p:cNvPr id="262" name="Graphique 261" descr="Pinceau avec un remplissage uni">
                <a:extLst>
                  <a:ext uri="{FF2B5EF4-FFF2-40B4-BE49-F238E27FC236}">
                    <a16:creationId xmlns:a16="http://schemas.microsoft.com/office/drawing/2014/main" id="{D81433A1-ED7B-7430-3C44-2159698150B8}"/>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445494" y="5804063"/>
                <a:ext cx="613032" cy="613032"/>
              </a:xfrm>
              <a:prstGeom prst="rect">
                <a:avLst/>
              </a:prstGeom>
            </p:spPr>
          </p:pic>
          <p:pic>
            <p:nvPicPr>
              <p:cNvPr id="265" name="Graphique 264" descr="Utilisateurs avec un remplissage uni">
                <a:extLst>
                  <a:ext uri="{FF2B5EF4-FFF2-40B4-BE49-F238E27FC236}">
                    <a16:creationId xmlns:a16="http://schemas.microsoft.com/office/drawing/2014/main" id="{2C9F13EB-DC71-CD02-486A-7C191AD8CEB4}"/>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1491160" y="3619701"/>
                <a:ext cx="705528" cy="705526"/>
              </a:xfrm>
              <a:prstGeom prst="rect">
                <a:avLst/>
              </a:prstGeom>
            </p:spPr>
          </p:pic>
        </p:grpSp>
        <p:pic>
          <p:nvPicPr>
            <p:cNvPr id="284" name="Graphique 283" descr="Tendance à la hausse avec un remplissage uni">
              <a:extLst>
                <a:ext uri="{FF2B5EF4-FFF2-40B4-BE49-F238E27FC236}">
                  <a16:creationId xmlns:a16="http://schemas.microsoft.com/office/drawing/2014/main" id="{4D27042B-BC85-2FAE-B7CD-884156C01F02}"/>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10905462" y="4613258"/>
              <a:ext cx="890780" cy="868055"/>
            </a:xfrm>
            <a:prstGeom prst="rect">
              <a:avLst/>
            </a:prstGeom>
          </p:spPr>
        </p:pic>
        <p:pic>
          <p:nvPicPr>
            <p:cNvPr id="285" name="Graphique 284" descr="Croissance de l'activité avec un remplissage uni">
              <a:extLst>
                <a:ext uri="{FF2B5EF4-FFF2-40B4-BE49-F238E27FC236}">
                  <a16:creationId xmlns:a16="http://schemas.microsoft.com/office/drawing/2014/main" id="{040C6AE6-7C6A-3ED0-4C5F-A6C161D598C8}"/>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8848655" y="4684493"/>
              <a:ext cx="785986" cy="785986"/>
            </a:xfrm>
            <a:prstGeom prst="rect">
              <a:avLst/>
            </a:prstGeom>
          </p:spPr>
        </p:pic>
        <p:pic>
          <p:nvPicPr>
            <p:cNvPr id="286" name="Graphique 285" descr="Tableau décisionnel avec un remplissage uni">
              <a:extLst>
                <a:ext uri="{FF2B5EF4-FFF2-40B4-BE49-F238E27FC236}">
                  <a16:creationId xmlns:a16="http://schemas.microsoft.com/office/drawing/2014/main" id="{14CC2554-B84B-36C5-04FF-B9FBA3A6C6BF}"/>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901673" y="4661317"/>
              <a:ext cx="762463" cy="762463"/>
            </a:xfrm>
            <a:prstGeom prst="rect">
              <a:avLst/>
            </a:prstGeom>
          </p:spPr>
        </p:pic>
        <p:sp>
          <p:nvSpPr>
            <p:cNvPr id="292" name="Flèche : droite 291">
              <a:extLst>
                <a:ext uri="{FF2B5EF4-FFF2-40B4-BE49-F238E27FC236}">
                  <a16:creationId xmlns:a16="http://schemas.microsoft.com/office/drawing/2014/main" id="{24AFC436-66CA-7637-C156-2F215A6218E6}"/>
                </a:ext>
              </a:extLst>
            </p:cNvPr>
            <p:cNvSpPr/>
            <p:nvPr/>
          </p:nvSpPr>
          <p:spPr>
            <a:xfrm rot="19508911" flipH="1">
              <a:off x="3647794" y="4945226"/>
              <a:ext cx="1189456" cy="623864"/>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93" name="Flèche : gauche 292">
              <a:extLst>
                <a:ext uri="{FF2B5EF4-FFF2-40B4-BE49-F238E27FC236}">
                  <a16:creationId xmlns:a16="http://schemas.microsoft.com/office/drawing/2014/main" id="{D0825572-F573-D80A-732B-CFC2DA9999D0}"/>
                </a:ext>
              </a:extLst>
            </p:cNvPr>
            <p:cNvSpPr/>
            <p:nvPr/>
          </p:nvSpPr>
          <p:spPr>
            <a:xfrm rot="1525700" flipH="1">
              <a:off x="7393126" y="4896634"/>
              <a:ext cx="1189456" cy="623864"/>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94" name="Groupe 293">
              <a:extLst>
                <a:ext uri="{FF2B5EF4-FFF2-40B4-BE49-F238E27FC236}">
                  <a16:creationId xmlns:a16="http://schemas.microsoft.com/office/drawing/2014/main" id="{4CC78C3C-BCFF-7E9B-5B56-E395509F7C29}"/>
                </a:ext>
              </a:extLst>
            </p:cNvPr>
            <p:cNvGrpSpPr/>
            <p:nvPr/>
          </p:nvGrpSpPr>
          <p:grpSpPr>
            <a:xfrm>
              <a:off x="5013383" y="3070009"/>
              <a:ext cx="2150970" cy="1947160"/>
              <a:chOff x="-4435634" y="3221970"/>
              <a:chExt cx="4325260" cy="3915430"/>
            </a:xfrm>
          </p:grpSpPr>
          <p:pic>
            <p:nvPicPr>
              <p:cNvPr id="295" name="Espace réservé du contenu 6" descr="Tribunal contour">
                <a:extLst>
                  <a:ext uri="{FF2B5EF4-FFF2-40B4-BE49-F238E27FC236}">
                    <a16:creationId xmlns:a16="http://schemas.microsoft.com/office/drawing/2014/main" id="{5FDA2F1D-7A14-1C81-46B5-AE816227D39E}"/>
                  </a:ext>
                </a:extLst>
              </p:cNvPr>
              <p:cNvPicPr>
                <a:picLocks noChangeAspect="1"/>
              </p:cNvPicPr>
              <p:nvPr/>
            </p:nvPicPr>
            <p:blipFill rotWithShape="1">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rcRect l="8133" t="12060" r="8805" b="62496"/>
              <a:stretch/>
            </p:blipFill>
            <p:spPr>
              <a:xfrm>
                <a:off x="-4435633" y="3221970"/>
                <a:ext cx="4325259" cy="1324928"/>
              </a:xfrm>
              <a:prstGeom prst="rect">
                <a:avLst/>
              </a:prstGeom>
            </p:spPr>
          </p:pic>
          <p:grpSp>
            <p:nvGrpSpPr>
              <p:cNvPr id="296" name="Groupe 295">
                <a:extLst>
                  <a:ext uri="{FF2B5EF4-FFF2-40B4-BE49-F238E27FC236}">
                    <a16:creationId xmlns:a16="http://schemas.microsoft.com/office/drawing/2014/main" id="{3FC185B6-F4C7-D6C8-2486-B7BE05AC56CF}"/>
                  </a:ext>
                </a:extLst>
              </p:cNvPr>
              <p:cNvGrpSpPr/>
              <p:nvPr/>
            </p:nvGrpSpPr>
            <p:grpSpPr>
              <a:xfrm>
                <a:off x="-4435634" y="4520418"/>
                <a:ext cx="4325260" cy="2616982"/>
                <a:chOff x="-4435634" y="4520418"/>
                <a:chExt cx="4325260" cy="2616982"/>
              </a:xfrm>
            </p:grpSpPr>
            <p:pic>
              <p:nvPicPr>
                <p:cNvPr id="297" name="Espace réservé du contenu 6" descr="Tribunal contour">
                  <a:extLst>
                    <a:ext uri="{FF2B5EF4-FFF2-40B4-BE49-F238E27FC236}">
                      <a16:creationId xmlns:a16="http://schemas.microsoft.com/office/drawing/2014/main" id="{612CAD71-CE24-BA90-04E3-A656912B9ED2}"/>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l="8133" t="37523" r="8805" b="24898"/>
                <a:stretch/>
              </p:blipFill>
              <p:spPr>
                <a:xfrm>
                  <a:off x="-4435633" y="4520418"/>
                  <a:ext cx="4325259" cy="1956816"/>
                </a:xfrm>
                <a:prstGeom prst="rect">
                  <a:avLst/>
                </a:prstGeom>
              </p:spPr>
            </p:pic>
            <p:pic>
              <p:nvPicPr>
                <p:cNvPr id="298" name="Graphique 297" descr="Réussite du groupe avec un remplissage uni">
                  <a:extLst>
                    <a:ext uri="{FF2B5EF4-FFF2-40B4-BE49-F238E27FC236}">
                      <a16:creationId xmlns:a16="http://schemas.microsoft.com/office/drawing/2014/main" id="{9BBDFCA5-F2A8-FDAF-C065-FF77A82334A7}"/>
                    </a:ext>
                  </a:extLst>
                </p:cNvPr>
                <p:cNvPicPr>
                  <a:picLocks noChangeAspect="1"/>
                </p:cNvPicPr>
                <p:nvPr/>
              </p:nvPicPr>
              <p:blipFill rotWithShape="1">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rcRect t="13979" b="19010"/>
                <a:stretch/>
              </p:blipFill>
              <p:spPr>
                <a:xfrm>
                  <a:off x="-3132680" y="5325090"/>
                  <a:ext cx="1719352" cy="1152144"/>
                </a:xfrm>
                <a:prstGeom prst="rect">
                  <a:avLst/>
                </a:prstGeom>
              </p:spPr>
            </p:pic>
            <p:pic>
              <p:nvPicPr>
                <p:cNvPr id="299" name="Espace réservé du contenu 6" descr="Tribunal contour">
                  <a:extLst>
                    <a:ext uri="{FF2B5EF4-FFF2-40B4-BE49-F238E27FC236}">
                      <a16:creationId xmlns:a16="http://schemas.microsoft.com/office/drawing/2014/main" id="{4F8600F3-DEE6-0FD6-1A59-5C74FF0295A1}"/>
                    </a:ext>
                  </a:extLst>
                </p:cNvPr>
                <p:cNvPicPr>
                  <a:picLocks noChangeAspect="1"/>
                </p:cNvPicPr>
                <p:nvPr/>
              </p:nvPicPr>
              <p:blipFill rotWithShape="1">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rcRect l="8133" t="75103" r="8805" b="12219"/>
                <a:stretch/>
              </p:blipFill>
              <p:spPr>
                <a:xfrm>
                  <a:off x="-4435634" y="6477233"/>
                  <a:ext cx="4325259" cy="660167"/>
                </a:xfrm>
                <a:prstGeom prst="rect">
                  <a:avLst/>
                </a:prstGeom>
              </p:spPr>
            </p:pic>
          </p:grpSp>
        </p:grpSp>
      </p:grpSp>
      <p:grpSp>
        <p:nvGrpSpPr>
          <p:cNvPr id="300" name="Groupe 299">
            <a:extLst>
              <a:ext uri="{FF2B5EF4-FFF2-40B4-BE49-F238E27FC236}">
                <a16:creationId xmlns:a16="http://schemas.microsoft.com/office/drawing/2014/main" id="{2A4F75A7-5213-1F85-6EAC-9499DD56444D}"/>
              </a:ext>
            </a:extLst>
          </p:cNvPr>
          <p:cNvGrpSpPr/>
          <p:nvPr/>
        </p:nvGrpSpPr>
        <p:grpSpPr>
          <a:xfrm>
            <a:off x="4854440" y="1704350"/>
            <a:ext cx="2755275" cy="1496948"/>
            <a:chOff x="1496992" y="776075"/>
            <a:chExt cx="9829695" cy="5340498"/>
          </a:xfrm>
        </p:grpSpPr>
        <p:sp>
          <p:nvSpPr>
            <p:cNvPr id="301" name="Rectangle 300">
              <a:extLst>
                <a:ext uri="{FF2B5EF4-FFF2-40B4-BE49-F238E27FC236}">
                  <a16:creationId xmlns:a16="http://schemas.microsoft.com/office/drawing/2014/main" id="{E66B394B-988F-2CFB-EDD1-A3D2AC1FE654}"/>
                </a:ext>
              </a:extLst>
            </p:cNvPr>
            <p:cNvSpPr/>
            <p:nvPr/>
          </p:nvSpPr>
          <p:spPr>
            <a:xfrm>
              <a:off x="3331128" y="1403919"/>
              <a:ext cx="1802162" cy="1802162"/>
            </a:xfrm>
            <a:prstGeom prst="rect">
              <a:avLst/>
            </a:prstGeom>
            <a:gradFill>
              <a:gsLst>
                <a:gs pos="50000">
                  <a:srgbClr val="ED7D31"/>
                </a:gs>
                <a:gs pos="49000">
                  <a:schemeClr val="bg1">
                    <a:lumMod val="75000"/>
                  </a:schemeClr>
                </a:gs>
                <a:gs pos="100000">
                  <a:srgbClr val="ED7D31"/>
                </a:gs>
                <a:gs pos="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endParaRPr lang="fr-FR" sz="1600" b="0" kern="1200" dirty="0"/>
            </a:p>
          </p:txBody>
        </p:sp>
        <p:sp>
          <p:nvSpPr>
            <p:cNvPr id="302" name="Rectangle 301">
              <a:extLst>
                <a:ext uri="{FF2B5EF4-FFF2-40B4-BE49-F238E27FC236}">
                  <a16:creationId xmlns:a16="http://schemas.microsoft.com/office/drawing/2014/main" id="{9E7037C3-6108-B31A-B91E-122F7392D03E}"/>
                </a:ext>
              </a:extLst>
            </p:cNvPr>
            <p:cNvSpPr/>
            <p:nvPr/>
          </p:nvSpPr>
          <p:spPr>
            <a:xfrm>
              <a:off x="5448669" y="1403919"/>
              <a:ext cx="1802162" cy="1802162"/>
            </a:xfrm>
            <a:prstGeom prst="rect">
              <a:avLst/>
            </a:prstGeom>
            <a:gradFill>
              <a:gsLst>
                <a:gs pos="50000">
                  <a:srgbClr val="3494BA"/>
                </a:gs>
                <a:gs pos="100000">
                  <a:schemeClr val="bg1">
                    <a:lumMod val="75000"/>
                  </a:schemeClr>
                </a:gs>
                <a:gs pos="0">
                  <a:srgbClr val="3494BA"/>
                </a:gs>
                <a:gs pos="5100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endParaRPr lang="fr-FR" sz="1600" dirty="0"/>
            </a:p>
          </p:txBody>
        </p:sp>
        <p:sp>
          <p:nvSpPr>
            <p:cNvPr id="303" name="Rectangle 302">
              <a:extLst>
                <a:ext uri="{FF2B5EF4-FFF2-40B4-BE49-F238E27FC236}">
                  <a16:creationId xmlns:a16="http://schemas.microsoft.com/office/drawing/2014/main" id="{DC4DD26D-2CDC-6409-37B0-DC3A098EDB78}"/>
                </a:ext>
              </a:extLst>
            </p:cNvPr>
            <p:cNvSpPr/>
            <p:nvPr/>
          </p:nvSpPr>
          <p:spPr>
            <a:xfrm>
              <a:off x="3331128" y="3521460"/>
              <a:ext cx="1802162" cy="1802162"/>
            </a:xfrm>
            <a:prstGeom prst="rect">
              <a:avLst/>
            </a:prstGeom>
            <a:solidFill>
              <a:srgbClr val="ED7D31"/>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endParaRPr lang="fr-FR" sz="1600" kern="1200" dirty="0"/>
            </a:p>
          </p:txBody>
        </p:sp>
        <p:sp>
          <p:nvSpPr>
            <p:cNvPr id="304" name="Rectangle 303">
              <a:extLst>
                <a:ext uri="{FF2B5EF4-FFF2-40B4-BE49-F238E27FC236}">
                  <a16:creationId xmlns:a16="http://schemas.microsoft.com/office/drawing/2014/main" id="{FB349A0A-E98B-AC42-542C-06EA0CEA0402}"/>
                </a:ext>
              </a:extLst>
            </p:cNvPr>
            <p:cNvSpPr/>
            <p:nvPr/>
          </p:nvSpPr>
          <p:spPr>
            <a:xfrm>
              <a:off x="5448669" y="3521460"/>
              <a:ext cx="1802162" cy="1802162"/>
            </a:xfrm>
            <a:prstGeom prst="rect">
              <a:avLst/>
            </a:prstGeom>
            <a:gradFill>
              <a:gsLst>
                <a:gs pos="50000">
                  <a:srgbClr val="ED7D31"/>
                </a:gs>
                <a:gs pos="49000">
                  <a:schemeClr val="bg1">
                    <a:lumMod val="75000"/>
                  </a:schemeClr>
                </a:gs>
                <a:gs pos="100000">
                  <a:srgbClr val="ED7D31"/>
                </a:gs>
                <a:gs pos="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endParaRPr lang="fr-FR" sz="1600" dirty="0"/>
            </a:p>
          </p:txBody>
        </p:sp>
        <p:pic>
          <p:nvPicPr>
            <p:cNvPr id="305" name="Image 304" descr="Une image contenant herbe, football, personne, boule&#10;&#10;Description générée automatiquement">
              <a:extLst>
                <a:ext uri="{FF2B5EF4-FFF2-40B4-BE49-F238E27FC236}">
                  <a16:creationId xmlns:a16="http://schemas.microsoft.com/office/drawing/2014/main" id="{9D2B7327-B495-53C7-1D48-98612EBAEF98}"/>
                </a:ext>
              </a:extLst>
            </p:cNvPr>
            <p:cNvPicPr>
              <a:picLocks noChangeAspect="1"/>
            </p:cNvPicPr>
            <p:nvPr/>
          </p:nvPicPr>
          <p:blipFill>
            <a:blip r:embed="rId38">
              <a:extLst>
                <a:ext uri="{28A0092B-C50C-407E-A947-70E740481C1C}">
                  <a14:useLocalDpi xmlns:a14="http://schemas.microsoft.com/office/drawing/2010/main" val="0"/>
                </a:ext>
                <a:ext uri="{837473B0-CC2E-450A-ABE3-18F120FF3D39}">
                  <a1611:picAttrSrcUrl xmlns:a1611="http://schemas.microsoft.com/office/drawing/2016/11/main" r:id="rId39"/>
                </a:ext>
              </a:extLst>
            </a:blip>
            <a:stretch>
              <a:fillRect/>
            </a:stretch>
          </p:blipFill>
          <p:spPr>
            <a:xfrm>
              <a:off x="3574918" y="5213191"/>
              <a:ext cx="1314581" cy="851620"/>
            </a:xfrm>
            <a:prstGeom prst="rect">
              <a:avLst/>
            </a:prstGeom>
          </p:spPr>
        </p:pic>
        <p:pic>
          <p:nvPicPr>
            <p:cNvPr id="306" name="Image 305" descr="Une image contenant texte&#10;&#10;Description générée automatiquement">
              <a:extLst>
                <a:ext uri="{FF2B5EF4-FFF2-40B4-BE49-F238E27FC236}">
                  <a16:creationId xmlns:a16="http://schemas.microsoft.com/office/drawing/2014/main" id="{19DCFF96-F617-DB93-EEE0-1AB963D5E221}"/>
                </a:ext>
              </a:extLst>
            </p:cNvPr>
            <p:cNvPicPr>
              <a:picLocks noChangeAspect="1"/>
            </p:cNvPicPr>
            <p:nvPr/>
          </p:nvPicPr>
          <p:blipFill>
            <a:blip r:embed="rId40">
              <a:extLst>
                <a:ext uri="{28A0092B-C50C-407E-A947-70E740481C1C}">
                  <a14:useLocalDpi xmlns:a14="http://schemas.microsoft.com/office/drawing/2010/main" val="0"/>
                </a:ext>
                <a:ext uri="{837473B0-CC2E-450A-ABE3-18F120FF3D39}">
                  <a1611:picAttrSrcUrl xmlns:a1611="http://schemas.microsoft.com/office/drawing/2016/11/main" r:id="rId41"/>
                </a:ext>
              </a:extLst>
            </a:blip>
            <a:stretch>
              <a:fillRect/>
            </a:stretch>
          </p:blipFill>
          <p:spPr>
            <a:xfrm>
              <a:off x="5640315" y="776075"/>
              <a:ext cx="1405807" cy="835037"/>
            </a:xfrm>
            <a:prstGeom prst="rect">
              <a:avLst/>
            </a:prstGeom>
          </p:spPr>
        </p:pic>
        <p:pic>
          <p:nvPicPr>
            <p:cNvPr id="307" name="Image 306" descr="Une image contenant personne, intérieur, ordinateur, table&#10;&#10;Description générée automatiquement">
              <a:extLst>
                <a:ext uri="{FF2B5EF4-FFF2-40B4-BE49-F238E27FC236}">
                  <a16:creationId xmlns:a16="http://schemas.microsoft.com/office/drawing/2014/main" id="{CD4961B1-7F46-81A5-E4A4-289252F60E3E}"/>
                </a:ext>
              </a:extLst>
            </p:cNvPr>
            <p:cNvPicPr>
              <a:picLocks noChangeAspect="1"/>
            </p:cNvPicPr>
            <p:nvPr/>
          </p:nvPicPr>
          <p:blipFill>
            <a:blip r:embed="rId42">
              <a:extLst>
                <a:ext uri="{28A0092B-C50C-407E-A947-70E740481C1C}">
                  <a14:useLocalDpi xmlns:a14="http://schemas.microsoft.com/office/drawing/2010/main" val="0"/>
                </a:ext>
                <a:ext uri="{837473B0-CC2E-450A-ABE3-18F120FF3D39}">
                  <a1611:picAttrSrcUrl xmlns:a1611="http://schemas.microsoft.com/office/drawing/2016/11/main" r:id="rId43"/>
                </a:ext>
              </a:extLst>
            </a:blip>
            <a:stretch>
              <a:fillRect/>
            </a:stretch>
          </p:blipFill>
          <p:spPr>
            <a:xfrm>
              <a:off x="5660259" y="5166411"/>
              <a:ext cx="1425243" cy="950162"/>
            </a:xfrm>
            <a:prstGeom prst="rect">
              <a:avLst/>
            </a:prstGeom>
          </p:spPr>
        </p:pic>
        <p:pic>
          <p:nvPicPr>
            <p:cNvPr id="308" name="Image 307" descr="Une image contenant personne, debout, intérieur, gens&#10;&#10;Description générée automatiquement">
              <a:extLst>
                <a:ext uri="{FF2B5EF4-FFF2-40B4-BE49-F238E27FC236}">
                  <a16:creationId xmlns:a16="http://schemas.microsoft.com/office/drawing/2014/main" id="{B8CF9ADD-5B65-6333-B7CF-F85E45FCECB8}"/>
                </a:ext>
              </a:extLst>
            </p:cNvPr>
            <p:cNvPicPr>
              <a:picLocks noChangeAspect="1"/>
            </p:cNvPicPr>
            <p:nvPr/>
          </p:nvPicPr>
          <p:blipFill rotWithShape="1">
            <a:blip r:embed="rId44">
              <a:extLst>
                <a:ext uri="{28A0092B-C50C-407E-A947-70E740481C1C}">
                  <a14:useLocalDpi xmlns:a14="http://schemas.microsoft.com/office/drawing/2010/main" val="0"/>
                </a:ext>
                <a:ext uri="{837473B0-CC2E-450A-ABE3-18F120FF3D39}">
                  <a1611:picAttrSrcUrl xmlns:a1611="http://schemas.microsoft.com/office/drawing/2016/11/main" r:id="rId45"/>
                </a:ext>
              </a:extLst>
            </a:blip>
            <a:srcRect t="3183"/>
            <a:stretch/>
          </p:blipFill>
          <p:spPr>
            <a:xfrm>
              <a:off x="3564515" y="790602"/>
              <a:ext cx="1360919" cy="808461"/>
            </a:xfrm>
            <a:prstGeom prst="rect">
              <a:avLst/>
            </a:prstGeom>
          </p:spPr>
        </p:pic>
        <p:sp>
          <p:nvSpPr>
            <p:cNvPr id="309" name="Flèche : double flèche horizontale 308">
              <a:extLst>
                <a:ext uri="{FF2B5EF4-FFF2-40B4-BE49-F238E27FC236}">
                  <a16:creationId xmlns:a16="http://schemas.microsoft.com/office/drawing/2014/main" id="{9600BC00-A9FA-072A-25A7-D225F836793A}"/>
                </a:ext>
              </a:extLst>
            </p:cNvPr>
            <p:cNvSpPr/>
            <p:nvPr/>
          </p:nvSpPr>
          <p:spPr>
            <a:xfrm>
              <a:off x="3119449" y="3179105"/>
              <a:ext cx="6506293" cy="369332"/>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10" name="Flèche : double flèche horizontale 309">
              <a:extLst>
                <a:ext uri="{FF2B5EF4-FFF2-40B4-BE49-F238E27FC236}">
                  <a16:creationId xmlns:a16="http://schemas.microsoft.com/office/drawing/2014/main" id="{400AC5A8-7489-1F0B-F973-971545198AB7}"/>
                </a:ext>
              </a:extLst>
            </p:cNvPr>
            <p:cNvSpPr/>
            <p:nvPr/>
          </p:nvSpPr>
          <p:spPr>
            <a:xfrm rot="5400000">
              <a:off x="3079646" y="3199890"/>
              <a:ext cx="4438583" cy="369332"/>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11" name="Flèche : double flèche horizontale 310">
              <a:extLst>
                <a:ext uri="{FF2B5EF4-FFF2-40B4-BE49-F238E27FC236}">
                  <a16:creationId xmlns:a16="http://schemas.microsoft.com/office/drawing/2014/main" id="{DB3A5C1E-9EDC-7ACE-46F5-6E069715C6C3}"/>
                </a:ext>
              </a:extLst>
            </p:cNvPr>
            <p:cNvSpPr/>
            <p:nvPr/>
          </p:nvSpPr>
          <p:spPr>
            <a:xfrm rot="5400000">
              <a:off x="5169187" y="3199890"/>
              <a:ext cx="4438583" cy="369332"/>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12" name="Rectangle 311">
              <a:extLst>
                <a:ext uri="{FF2B5EF4-FFF2-40B4-BE49-F238E27FC236}">
                  <a16:creationId xmlns:a16="http://schemas.microsoft.com/office/drawing/2014/main" id="{16C6B117-A586-5BF0-865D-25C0A7C95B69}"/>
                </a:ext>
              </a:extLst>
            </p:cNvPr>
            <p:cNvSpPr/>
            <p:nvPr/>
          </p:nvSpPr>
          <p:spPr>
            <a:xfrm>
              <a:off x="7543683" y="1403919"/>
              <a:ext cx="1802162" cy="1802162"/>
            </a:xfrm>
            <a:prstGeom prst="rect">
              <a:avLst/>
            </a:prstGeom>
            <a:solidFill>
              <a:srgbClr val="3494BA"/>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endParaRPr lang="fr-FR" sz="1600" kern="1200" dirty="0"/>
            </a:p>
          </p:txBody>
        </p:sp>
        <p:sp>
          <p:nvSpPr>
            <p:cNvPr id="313" name="Rectangle 312">
              <a:extLst>
                <a:ext uri="{FF2B5EF4-FFF2-40B4-BE49-F238E27FC236}">
                  <a16:creationId xmlns:a16="http://schemas.microsoft.com/office/drawing/2014/main" id="{21434CDD-5D7C-42A8-8E14-6D4753CD9E42}"/>
                </a:ext>
              </a:extLst>
            </p:cNvPr>
            <p:cNvSpPr/>
            <p:nvPr/>
          </p:nvSpPr>
          <p:spPr>
            <a:xfrm>
              <a:off x="7543683" y="3521460"/>
              <a:ext cx="1802162" cy="1802162"/>
            </a:xfrm>
            <a:prstGeom prst="rect">
              <a:avLst/>
            </a:prstGeom>
            <a:gradFill>
              <a:gsLst>
                <a:gs pos="50000">
                  <a:srgbClr val="3494BA"/>
                </a:gs>
                <a:gs pos="100000">
                  <a:schemeClr val="bg1">
                    <a:lumMod val="75000"/>
                  </a:schemeClr>
                </a:gs>
                <a:gs pos="0">
                  <a:srgbClr val="3494BA"/>
                </a:gs>
                <a:gs pos="5100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endParaRPr lang="fr-FR" sz="1600" dirty="0"/>
            </a:p>
          </p:txBody>
        </p:sp>
        <p:pic>
          <p:nvPicPr>
            <p:cNvPr id="314" name="Image 313" descr="Une image contenant fermer, outil, argent&#10;&#10;Description générée automatiquement">
              <a:extLst>
                <a:ext uri="{FF2B5EF4-FFF2-40B4-BE49-F238E27FC236}">
                  <a16:creationId xmlns:a16="http://schemas.microsoft.com/office/drawing/2014/main" id="{01D90571-4BCF-EF6F-35DA-805DF3A41C45}"/>
                </a:ext>
              </a:extLst>
            </p:cNvPr>
            <p:cNvPicPr>
              <a:picLocks noChangeAspect="1"/>
            </p:cNvPicPr>
            <p:nvPr/>
          </p:nvPicPr>
          <p:blipFill>
            <a:blip r:embed="rId46" cstate="email">
              <a:extLst>
                <a:ext uri="{28A0092B-C50C-407E-A947-70E740481C1C}">
                  <a14:useLocalDpi xmlns:a14="http://schemas.microsoft.com/office/drawing/2010/main"/>
                </a:ext>
                <a:ext uri="{837473B0-CC2E-450A-ABE3-18F120FF3D39}">
                  <a1611:picAttrSrcUrl xmlns:a1611="http://schemas.microsoft.com/office/drawing/2016/11/main" r:id="rId47"/>
                </a:ext>
              </a:extLst>
            </a:blip>
            <a:stretch>
              <a:fillRect/>
            </a:stretch>
          </p:blipFill>
          <p:spPr>
            <a:xfrm>
              <a:off x="7828757" y="851374"/>
              <a:ext cx="1232014" cy="655987"/>
            </a:xfrm>
            <a:prstGeom prst="rect">
              <a:avLst/>
            </a:prstGeom>
          </p:spPr>
        </p:pic>
        <p:pic>
          <p:nvPicPr>
            <p:cNvPr id="315" name="Image 314">
              <a:extLst>
                <a:ext uri="{FF2B5EF4-FFF2-40B4-BE49-F238E27FC236}">
                  <a16:creationId xmlns:a16="http://schemas.microsoft.com/office/drawing/2014/main" id="{298246F6-1DA1-96FA-1B72-DD6D3F0FDAB9}"/>
                </a:ext>
              </a:extLst>
            </p:cNvPr>
            <p:cNvPicPr>
              <a:picLocks noChangeAspect="1"/>
            </p:cNvPicPr>
            <p:nvPr/>
          </p:nvPicPr>
          <p:blipFill>
            <a:blip r:embed="rId48" cstate="email">
              <a:extLst>
                <a:ext uri="{28A0092B-C50C-407E-A947-70E740481C1C}">
                  <a14:useLocalDpi xmlns:a14="http://schemas.microsoft.com/office/drawing/2010/main"/>
                </a:ext>
                <a:ext uri="{837473B0-CC2E-450A-ABE3-18F120FF3D39}">
                  <a1611:picAttrSrcUrl xmlns:a1611="http://schemas.microsoft.com/office/drawing/2016/11/main" r:id="rId49"/>
                </a:ext>
              </a:extLst>
            </a:blip>
            <a:stretch>
              <a:fillRect/>
            </a:stretch>
          </p:blipFill>
          <p:spPr>
            <a:xfrm>
              <a:off x="7732142" y="5250707"/>
              <a:ext cx="1425243" cy="801700"/>
            </a:xfrm>
            <a:prstGeom prst="rect">
              <a:avLst/>
            </a:prstGeom>
          </p:spPr>
        </p:pic>
        <p:pic>
          <p:nvPicPr>
            <p:cNvPr id="316" name="Graphique 315" descr="Bâtiment avec un remplissage uni">
              <a:extLst>
                <a:ext uri="{FF2B5EF4-FFF2-40B4-BE49-F238E27FC236}">
                  <a16:creationId xmlns:a16="http://schemas.microsoft.com/office/drawing/2014/main" id="{D74EC438-A54E-AF7C-A177-F8BFAF113DE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04567" y="949287"/>
              <a:ext cx="1722120" cy="1722120"/>
            </a:xfrm>
            <a:prstGeom prst="rect">
              <a:avLst/>
            </a:prstGeom>
          </p:spPr>
        </p:pic>
        <p:grpSp>
          <p:nvGrpSpPr>
            <p:cNvPr id="317" name="Groupe 316">
              <a:extLst>
                <a:ext uri="{FF2B5EF4-FFF2-40B4-BE49-F238E27FC236}">
                  <a16:creationId xmlns:a16="http://schemas.microsoft.com/office/drawing/2014/main" id="{7909F5BE-63C0-A3BE-EE11-B9719F7F89FD}"/>
                </a:ext>
              </a:extLst>
            </p:cNvPr>
            <p:cNvGrpSpPr/>
            <p:nvPr/>
          </p:nvGrpSpPr>
          <p:grpSpPr>
            <a:xfrm>
              <a:off x="1496992" y="1405682"/>
              <a:ext cx="1507135" cy="1270634"/>
              <a:chOff x="8982504" y="3274976"/>
              <a:chExt cx="1230670" cy="1037553"/>
            </a:xfrm>
            <a:solidFill>
              <a:srgbClr val="ED7D31"/>
            </a:solidFill>
          </p:grpSpPr>
          <p:pic>
            <p:nvPicPr>
              <p:cNvPr id="318" name="Graphique 317" descr="Utilisateur avec un remplissage uni">
                <a:extLst>
                  <a:ext uri="{FF2B5EF4-FFF2-40B4-BE49-F238E27FC236}">
                    <a16:creationId xmlns:a16="http://schemas.microsoft.com/office/drawing/2014/main" id="{852954D0-8482-A82F-C3C7-333EC2AF751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319" name="Graphique 318" descr="Utilisateur avec un remplissage uni">
                <a:extLst>
                  <a:ext uri="{FF2B5EF4-FFF2-40B4-BE49-F238E27FC236}">
                    <a16:creationId xmlns:a16="http://schemas.microsoft.com/office/drawing/2014/main" id="{F7C37FF2-7C87-157F-8041-7243430144B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320" name="Graphique 319" descr="Utilisateur avec un remplissage uni">
                <a:extLst>
                  <a:ext uri="{FF2B5EF4-FFF2-40B4-BE49-F238E27FC236}">
                    <a16:creationId xmlns:a16="http://schemas.microsoft.com/office/drawing/2014/main" id="{30734EB6-E78A-B85F-4529-7F441B592AA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321" name="Graphique 320" descr="Utilisateur avec un remplissage uni">
                <a:extLst>
                  <a:ext uri="{FF2B5EF4-FFF2-40B4-BE49-F238E27FC236}">
                    <a16:creationId xmlns:a16="http://schemas.microsoft.com/office/drawing/2014/main" id="{1DE4EA97-2EF3-6813-F543-7AD60E15007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322" name="Graphique 321" descr="Utilisateur avec un remplissage uni">
                <a:extLst>
                  <a:ext uri="{FF2B5EF4-FFF2-40B4-BE49-F238E27FC236}">
                    <a16:creationId xmlns:a16="http://schemas.microsoft.com/office/drawing/2014/main" id="{7F91D501-9C2A-5610-A8E0-D6ED5A692A0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323" name="Graphique 322" descr="Utilisateur avec un remplissage uni">
                <a:extLst>
                  <a:ext uri="{FF2B5EF4-FFF2-40B4-BE49-F238E27FC236}">
                    <a16:creationId xmlns:a16="http://schemas.microsoft.com/office/drawing/2014/main" id="{A51153E4-A352-5925-8228-8B27E290C49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324" name="Graphique 323" descr="Utilisateur avec un remplissage uni">
                <a:extLst>
                  <a:ext uri="{FF2B5EF4-FFF2-40B4-BE49-F238E27FC236}">
                    <a16:creationId xmlns:a16="http://schemas.microsoft.com/office/drawing/2014/main" id="{D20B66B9-E3ED-48E9-16FD-75F83D66A3E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325" name="Graphique 324" descr="Utilisateur avec un remplissage uni">
                <a:extLst>
                  <a:ext uri="{FF2B5EF4-FFF2-40B4-BE49-F238E27FC236}">
                    <a16:creationId xmlns:a16="http://schemas.microsoft.com/office/drawing/2014/main" id="{7696AB28-F06C-16F2-1504-1ED9FFEE38A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326" name="Graphique 325" descr="Utilisateur avec un remplissage uni">
                <a:extLst>
                  <a:ext uri="{FF2B5EF4-FFF2-40B4-BE49-F238E27FC236}">
                    <a16:creationId xmlns:a16="http://schemas.microsoft.com/office/drawing/2014/main" id="{9B97D2E6-68BF-B09D-64EC-1358926792A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327" name="Graphique 326" descr="Utilisateur avec un remplissage uni">
                <a:extLst>
                  <a:ext uri="{FF2B5EF4-FFF2-40B4-BE49-F238E27FC236}">
                    <a16:creationId xmlns:a16="http://schemas.microsoft.com/office/drawing/2014/main" id="{69C979AD-1E72-B9BE-8E59-BB387CB0FAB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328" name="Graphique 327" descr="Utilisateur avec un remplissage uni">
                <a:extLst>
                  <a:ext uri="{FF2B5EF4-FFF2-40B4-BE49-F238E27FC236}">
                    <a16:creationId xmlns:a16="http://schemas.microsoft.com/office/drawing/2014/main" id="{1E9C413A-23B3-7721-65EA-85422A14EC7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grpSp>
      <p:sp>
        <p:nvSpPr>
          <p:cNvPr id="87" name="ZoneTexte 86">
            <a:extLst>
              <a:ext uri="{FF2B5EF4-FFF2-40B4-BE49-F238E27FC236}">
                <a16:creationId xmlns:a16="http://schemas.microsoft.com/office/drawing/2014/main" id="{18C6AA9A-D06E-B5BB-7C5C-E96DC27154AC}"/>
              </a:ext>
            </a:extLst>
          </p:cNvPr>
          <p:cNvSpPr txBox="1"/>
          <p:nvPr/>
        </p:nvSpPr>
        <p:spPr>
          <a:xfrm>
            <a:off x="1038180" y="4212480"/>
            <a:ext cx="3072924" cy="2585323"/>
          </a:xfrm>
          <a:prstGeom prst="rect">
            <a:avLst/>
          </a:prstGeom>
          <a:noFill/>
        </p:spPr>
        <p:txBody>
          <a:bodyPr wrap="square">
            <a:spAutoFit/>
          </a:bodyPr>
          <a:lstStyle/>
          <a:p>
            <a:pPr algn="ctr"/>
            <a:r>
              <a:rPr lang="fr-FR" dirty="0"/>
              <a:t>Dans une Communauté d’entreprise, la question n’est pas simplement celle « d’engager plus les membres », mais aussi de la </a:t>
            </a:r>
            <a:r>
              <a:rPr lang="fr-FR" b="1" dirty="0">
                <a:solidFill>
                  <a:srgbClr val="ED7D31"/>
                </a:solidFill>
              </a:rPr>
              <a:t>valeur qu’ils en tirent</a:t>
            </a:r>
            <a:r>
              <a:rPr lang="fr-FR" dirty="0"/>
              <a:t>, de </a:t>
            </a:r>
            <a:r>
              <a:rPr lang="fr-FR" b="1" dirty="0"/>
              <a:t>la valeur pour l’entreprise</a:t>
            </a:r>
            <a:r>
              <a:rPr lang="fr-FR" dirty="0"/>
              <a:t> et de </a:t>
            </a:r>
            <a:r>
              <a:rPr lang="fr-FR" b="1" dirty="0">
                <a:solidFill>
                  <a:srgbClr val="3494BA"/>
                </a:solidFill>
              </a:rPr>
              <a:t>l’investissement de l’entreprise.</a:t>
            </a:r>
          </a:p>
        </p:txBody>
      </p:sp>
      <p:sp>
        <p:nvSpPr>
          <p:cNvPr id="88" name="ZoneTexte 87">
            <a:extLst>
              <a:ext uri="{FF2B5EF4-FFF2-40B4-BE49-F238E27FC236}">
                <a16:creationId xmlns:a16="http://schemas.microsoft.com/office/drawing/2014/main" id="{6852CD46-776F-9D24-89DC-ABB40CE59A94}"/>
              </a:ext>
            </a:extLst>
          </p:cNvPr>
          <p:cNvSpPr txBox="1"/>
          <p:nvPr/>
        </p:nvSpPr>
        <p:spPr>
          <a:xfrm>
            <a:off x="5113190" y="4212480"/>
            <a:ext cx="2779767" cy="2031325"/>
          </a:xfrm>
          <a:prstGeom prst="rect">
            <a:avLst/>
          </a:prstGeom>
          <a:noFill/>
        </p:spPr>
        <p:txBody>
          <a:bodyPr wrap="square">
            <a:spAutoFit/>
          </a:bodyPr>
          <a:lstStyle/>
          <a:p>
            <a:pPr algn="ctr"/>
            <a:r>
              <a:rPr lang="fr-FR" dirty="0"/>
              <a:t>La valeur d’une Communauté </a:t>
            </a:r>
            <a:r>
              <a:rPr lang="fr-FR" b="1" dirty="0">
                <a:solidFill>
                  <a:srgbClr val="ED7D31"/>
                </a:solidFill>
              </a:rPr>
              <a:t>n’est pas toujours principalement pour les membres </a:t>
            </a:r>
            <a:r>
              <a:rPr lang="fr-FR" dirty="0"/>
              <a:t>: selon les bénéficiaires principaux, </a:t>
            </a:r>
            <a:r>
              <a:rPr lang="fr-FR" b="1" dirty="0">
                <a:solidFill>
                  <a:srgbClr val="3494BA"/>
                </a:solidFill>
              </a:rPr>
              <a:t>l’organisation</a:t>
            </a:r>
            <a:r>
              <a:rPr lang="fr-FR" dirty="0"/>
              <a:t> de la Communauté peut changer.</a:t>
            </a:r>
          </a:p>
        </p:txBody>
      </p:sp>
      <p:sp>
        <p:nvSpPr>
          <p:cNvPr id="89" name="ZoneTexte 88">
            <a:extLst>
              <a:ext uri="{FF2B5EF4-FFF2-40B4-BE49-F238E27FC236}">
                <a16:creationId xmlns:a16="http://schemas.microsoft.com/office/drawing/2014/main" id="{6F7F5C50-EF3E-76A6-87D8-944CE4A76F6B}"/>
              </a:ext>
            </a:extLst>
          </p:cNvPr>
          <p:cNvSpPr txBox="1"/>
          <p:nvPr/>
        </p:nvSpPr>
        <p:spPr>
          <a:xfrm>
            <a:off x="9130191" y="4212480"/>
            <a:ext cx="2967707" cy="1754326"/>
          </a:xfrm>
          <a:prstGeom prst="rect">
            <a:avLst/>
          </a:prstGeom>
          <a:noFill/>
        </p:spPr>
        <p:txBody>
          <a:bodyPr wrap="square">
            <a:spAutoFit/>
          </a:bodyPr>
          <a:lstStyle/>
          <a:p>
            <a:pPr algn="ctr"/>
            <a:r>
              <a:rPr lang="fr-FR" dirty="0"/>
              <a:t>Selon les </a:t>
            </a:r>
            <a:r>
              <a:rPr lang="fr-FR" b="1" dirty="0"/>
              <a:t>contraintes</a:t>
            </a:r>
            <a:r>
              <a:rPr lang="fr-FR" dirty="0"/>
              <a:t> qu’on a (membres fixes, valeur pour l’entreprise fixe, membres et valeur pour l’entreprise fixes), on choisira une </a:t>
            </a:r>
            <a:r>
              <a:rPr lang="fr-FR" b="1" dirty="0">
                <a:solidFill>
                  <a:srgbClr val="ED7D31"/>
                </a:solidFill>
              </a:rPr>
              <a:t>tactique différente</a:t>
            </a:r>
            <a:r>
              <a:rPr lang="fr-FR" dirty="0"/>
              <a:t>. </a:t>
            </a:r>
          </a:p>
        </p:txBody>
      </p:sp>
      <p:sp>
        <p:nvSpPr>
          <p:cNvPr id="90" name="Organigramme : Connecteur 89">
            <a:extLst>
              <a:ext uri="{FF2B5EF4-FFF2-40B4-BE49-F238E27FC236}">
                <a16:creationId xmlns:a16="http://schemas.microsoft.com/office/drawing/2014/main" id="{CBFC2DBC-23B6-BF09-C515-51F8C16D4398}"/>
              </a:ext>
            </a:extLst>
          </p:cNvPr>
          <p:cNvSpPr/>
          <p:nvPr/>
        </p:nvSpPr>
        <p:spPr>
          <a:xfrm>
            <a:off x="94102" y="4227067"/>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7</a:t>
            </a:r>
          </a:p>
        </p:txBody>
      </p:sp>
      <p:sp>
        <p:nvSpPr>
          <p:cNvPr id="91" name="Organigramme : Connecteur 90">
            <a:extLst>
              <a:ext uri="{FF2B5EF4-FFF2-40B4-BE49-F238E27FC236}">
                <a16:creationId xmlns:a16="http://schemas.microsoft.com/office/drawing/2014/main" id="{9A0755C1-89F7-5B3D-C993-746698B6B788}"/>
              </a:ext>
            </a:extLst>
          </p:cNvPr>
          <p:cNvSpPr/>
          <p:nvPr/>
        </p:nvSpPr>
        <p:spPr>
          <a:xfrm>
            <a:off x="4234368" y="4227067"/>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8</a:t>
            </a:r>
          </a:p>
        </p:txBody>
      </p:sp>
      <p:sp>
        <p:nvSpPr>
          <p:cNvPr id="92" name="Organigramme : Connecteur 91">
            <a:extLst>
              <a:ext uri="{FF2B5EF4-FFF2-40B4-BE49-F238E27FC236}">
                <a16:creationId xmlns:a16="http://schemas.microsoft.com/office/drawing/2014/main" id="{23E2FA3A-F7B1-BD2B-E332-B460139E9CE4}"/>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9</a:t>
            </a:r>
          </a:p>
        </p:txBody>
      </p:sp>
      <p:grpSp>
        <p:nvGrpSpPr>
          <p:cNvPr id="37" name="Groupe 36">
            <a:extLst>
              <a:ext uri="{FF2B5EF4-FFF2-40B4-BE49-F238E27FC236}">
                <a16:creationId xmlns:a16="http://schemas.microsoft.com/office/drawing/2014/main" id="{7D18225A-DDF7-4BC7-C7D3-348C95623852}"/>
              </a:ext>
            </a:extLst>
          </p:cNvPr>
          <p:cNvGrpSpPr/>
          <p:nvPr/>
        </p:nvGrpSpPr>
        <p:grpSpPr>
          <a:xfrm>
            <a:off x="9136703" y="2108190"/>
            <a:ext cx="2414429" cy="532347"/>
            <a:chOff x="7521382" y="-1072914"/>
            <a:chExt cx="2414429" cy="532347"/>
          </a:xfrm>
        </p:grpSpPr>
        <p:grpSp>
          <p:nvGrpSpPr>
            <p:cNvPr id="3" name="Groupe 2">
              <a:extLst>
                <a:ext uri="{FF2B5EF4-FFF2-40B4-BE49-F238E27FC236}">
                  <a16:creationId xmlns:a16="http://schemas.microsoft.com/office/drawing/2014/main" id="{108DDC68-2CC4-C055-E669-D0C39D2E7253}"/>
                </a:ext>
              </a:extLst>
            </p:cNvPr>
            <p:cNvGrpSpPr/>
            <p:nvPr/>
          </p:nvGrpSpPr>
          <p:grpSpPr>
            <a:xfrm>
              <a:off x="7521382" y="-1059631"/>
              <a:ext cx="694779" cy="512077"/>
              <a:chOff x="596645" y="1690688"/>
              <a:chExt cx="1723979" cy="1270634"/>
            </a:xfrm>
          </p:grpSpPr>
          <p:grpSp>
            <p:nvGrpSpPr>
              <p:cNvPr id="5" name="Groupe 4">
                <a:extLst>
                  <a:ext uri="{FF2B5EF4-FFF2-40B4-BE49-F238E27FC236}">
                    <a16:creationId xmlns:a16="http://schemas.microsoft.com/office/drawing/2014/main" id="{88395E4F-C882-E7AB-A255-7954C3394A56}"/>
                  </a:ext>
                </a:extLst>
              </p:cNvPr>
              <p:cNvGrpSpPr/>
              <p:nvPr/>
            </p:nvGrpSpPr>
            <p:grpSpPr>
              <a:xfrm>
                <a:off x="698431" y="1690688"/>
                <a:ext cx="1507135" cy="1270634"/>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74E1DA9C-4097-FF58-4019-15DCDFDE4C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17C1CEFD-77AD-4D8A-DF88-3D61C7B0FF0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6623742C-6209-C4E1-BAF7-AF644BFD4CD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6F7C1CA8-E35F-945A-7EC7-0BA5B329D46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E1641BE9-ACED-4A29-7C02-02C0E5B80C9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CEEED378-EB31-F6DF-F3CD-F1D11251307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D2F10F64-5BD3-191F-1B55-0B9867B86E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EA856168-2969-F9B5-8BFC-03898EE777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7E4D011F-B497-5551-5BB9-7CB21EFCD7E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0A5A3EC0-4DC2-B64A-16ED-068470B499A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C2105717-C5FD-8A03-D24F-96C711B853C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6" name="Rectangle 5">
                <a:extLst>
                  <a:ext uri="{FF2B5EF4-FFF2-40B4-BE49-F238E27FC236}">
                    <a16:creationId xmlns:a16="http://schemas.microsoft.com/office/drawing/2014/main" id="{EC91D125-C4C7-57AE-9B96-A3DBE9EE2452}"/>
                  </a:ext>
                </a:extLst>
              </p:cNvPr>
              <p:cNvSpPr/>
              <p:nvPr/>
            </p:nvSpPr>
            <p:spPr>
              <a:xfrm>
                <a:off x="596645" y="1690688"/>
                <a:ext cx="1723979" cy="1242000"/>
              </a:xfrm>
              <a:prstGeom prst="rect">
                <a:avLst/>
              </a:prstGeom>
              <a:noFill/>
              <a:ln w="28575">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 name="Groupe 17">
              <a:extLst>
                <a:ext uri="{FF2B5EF4-FFF2-40B4-BE49-F238E27FC236}">
                  <a16:creationId xmlns:a16="http://schemas.microsoft.com/office/drawing/2014/main" id="{7FFA0177-5A6B-53E1-16D0-B4D64372EC12}"/>
                </a:ext>
              </a:extLst>
            </p:cNvPr>
            <p:cNvGrpSpPr/>
            <p:nvPr/>
          </p:nvGrpSpPr>
          <p:grpSpPr>
            <a:xfrm>
              <a:off x="8375821" y="-1059631"/>
              <a:ext cx="694779" cy="500537"/>
              <a:chOff x="572068" y="3309027"/>
              <a:chExt cx="1723979" cy="1242000"/>
            </a:xfrm>
          </p:grpSpPr>
          <p:pic>
            <p:nvPicPr>
              <p:cNvPr id="19" name="Graphique 18" descr="Bâtiment avec un remplissage uni">
                <a:extLst>
                  <a:ext uri="{FF2B5EF4-FFF2-40B4-BE49-F238E27FC236}">
                    <a16:creationId xmlns:a16="http://schemas.microsoft.com/office/drawing/2014/main" id="{C0229659-73A4-2FF6-EACE-77444E543F4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07844" y="3327401"/>
                <a:ext cx="1220336" cy="1220336"/>
              </a:xfrm>
              <a:prstGeom prst="rect">
                <a:avLst/>
              </a:prstGeom>
            </p:spPr>
          </p:pic>
          <p:sp>
            <p:nvSpPr>
              <p:cNvPr id="20" name="Rectangle 19">
                <a:extLst>
                  <a:ext uri="{FF2B5EF4-FFF2-40B4-BE49-F238E27FC236}">
                    <a16:creationId xmlns:a16="http://schemas.microsoft.com/office/drawing/2014/main" id="{F0CD6C55-4769-74FC-9348-484A76F5D32B}"/>
                  </a:ext>
                </a:extLst>
              </p:cNvPr>
              <p:cNvSpPr/>
              <p:nvPr/>
            </p:nvSpPr>
            <p:spPr>
              <a:xfrm>
                <a:off x="572068" y="3309027"/>
                <a:ext cx="1723979" cy="1242000"/>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1" name="Groupe 20">
              <a:extLst>
                <a:ext uri="{FF2B5EF4-FFF2-40B4-BE49-F238E27FC236}">
                  <a16:creationId xmlns:a16="http://schemas.microsoft.com/office/drawing/2014/main" id="{43EAA09E-83E8-E418-E891-E03420389CF6}"/>
                </a:ext>
              </a:extLst>
            </p:cNvPr>
            <p:cNvGrpSpPr/>
            <p:nvPr/>
          </p:nvGrpSpPr>
          <p:grpSpPr>
            <a:xfrm>
              <a:off x="9174745" y="-1072914"/>
              <a:ext cx="761066" cy="532347"/>
              <a:chOff x="456876" y="4905703"/>
              <a:chExt cx="1888459" cy="1320931"/>
            </a:xfrm>
          </p:grpSpPr>
          <p:pic>
            <p:nvPicPr>
              <p:cNvPr id="22" name="Graphique 21" descr="Bâtiment avec un remplissage uni">
                <a:extLst>
                  <a:ext uri="{FF2B5EF4-FFF2-40B4-BE49-F238E27FC236}">
                    <a16:creationId xmlns:a16="http://schemas.microsoft.com/office/drawing/2014/main" id="{8BE5CD26-4317-EFC7-8829-F0873D72B8F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56876" y="4956001"/>
                <a:ext cx="1220336" cy="1220336"/>
              </a:xfrm>
              <a:prstGeom prst="rect">
                <a:avLst/>
              </a:prstGeom>
            </p:spPr>
          </p:pic>
          <p:grpSp>
            <p:nvGrpSpPr>
              <p:cNvPr id="23" name="Groupe 22">
                <a:extLst>
                  <a:ext uri="{FF2B5EF4-FFF2-40B4-BE49-F238E27FC236}">
                    <a16:creationId xmlns:a16="http://schemas.microsoft.com/office/drawing/2014/main" id="{1E4DDB1D-4EA7-163E-9535-6A2FD1381D94}"/>
                  </a:ext>
                </a:extLst>
              </p:cNvPr>
              <p:cNvGrpSpPr/>
              <p:nvPr/>
            </p:nvGrpSpPr>
            <p:grpSpPr>
              <a:xfrm>
                <a:off x="838200" y="4905703"/>
                <a:ext cx="1507135" cy="1270634"/>
                <a:chOff x="8982504" y="3274976"/>
                <a:chExt cx="1230670" cy="1037553"/>
              </a:xfrm>
              <a:solidFill>
                <a:srgbClr val="ED7D31"/>
              </a:solidFill>
            </p:grpSpPr>
            <p:pic>
              <p:nvPicPr>
                <p:cNvPr id="25" name="Graphique 24" descr="Utilisateur avec un remplissage uni">
                  <a:extLst>
                    <a:ext uri="{FF2B5EF4-FFF2-40B4-BE49-F238E27FC236}">
                      <a16:creationId xmlns:a16="http://schemas.microsoft.com/office/drawing/2014/main" id="{614AAC35-500A-D78E-C03B-FB03A64942A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6" name="Graphique 25" descr="Utilisateur avec un remplissage uni">
                  <a:extLst>
                    <a:ext uri="{FF2B5EF4-FFF2-40B4-BE49-F238E27FC236}">
                      <a16:creationId xmlns:a16="http://schemas.microsoft.com/office/drawing/2014/main" id="{14B7610A-18F0-0F59-B5DB-CA10197CD41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7" name="Graphique 26" descr="Utilisateur avec un remplissage uni">
                  <a:extLst>
                    <a:ext uri="{FF2B5EF4-FFF2-40B4-BE49-F238E27FC236}">
                      <a16:creationId xmlns:a16="http://schemas.microsoft.com/office/drawing/2014/main" id="{92D92168-F342-3D8A-2AE8-053DFFABF17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8" name="Graphique 27" descr="Utilisateur avec un remplissage uni">
                  <a:extLst>
                    <a:ext uri="{FF2B5EF4-FFF2-40B4-BE49-F238E27FC236}">
                      <a16:creationId xmlns:a16="http://schemas.microsoft.com/office/drawing/2014/main" id="{74A2D88C-14A1-6FC5-31BC-CD3389F5908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9" name="Graphique 28" descr="Utilisateur avec un remplissage uni">
                  <a:extLst>
                    <a:ext uri="{FF2B5EF4-FFF2-40B4-BE49-F238E27FC236}">
                      <a16:creationId xmlns:a16="http://schemas.microsoft.com/office/drawing/2014/main" id="{5864E216-A4E6-D514-4DB6-12237ED1EB2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30" name="Graphique 29" descr="Utilisateur avec un remplissage uni">
                  <a:extLst>
                    <a:ext uri="{FF2B5EF4-FFF2-40B4-BE49-F238E27FC236}">
                      <a16:creationId xmlns:a16="http://schemas.microsoft.com/office/drawing/2014/main" id="{D8B2F1A4-703B-08C2-E535-B89EDDF10FA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31" name="Graphique 30" descr="Utilisateur avec un remplissage uni">
                  <a:extLst>
                    <a:ext uri="{FF2B5EF4-FFF2-40B4-BE49-F238E27FC236}">
                      <a16:creationId xmlns:a16="http://schemas.microsoft.com/office/drawing/2014/main" id="{6F873D0F-B60F-028C-0FFD-92C33E179E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32" name="Graphique 31" descr="Utilisateur avec un remplissage uni">
                  <a:extLst>
                    <a:ext uri="{FF2B5EF4-FFF2-40B4-BE49-F238E27FC236}">
                      <a16:creationId xmlns:a16="http://schemas.microsoft.com/office/drawing/2014/main" id="{7D69CA20-1B7D-5F5D-2B48-EC70FF71B8F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33" name="Graphique 32" descr="Utilisateur avec un remplissage uni">
                  <a:extLst>
                    <a:ext uri="{FF2B5EF4-FFF2-40B4-BE49-F238E27FC236}">
                      <a16:creationId xmlns:a16="http://schemas.microsoft.com/office/drawing/2014/main" id="{C275571E-E30B-E595-5B9E-B9669EBE436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34" name="Graphique 33" descr="Utilisateur avec un remplissage uni">
                  <a:extLst>
                    <a:ext uri="{FF2B5EF4-FFF2-40B4-BE49-F238E27FC236}">
                      <a16:creationId xmlns:a16="http://schemas.microsoft.com/office/drawing/2014/main" id="{635C7C63-FD29-D344-93CC-ED391D7B280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35" name="Graphique 34" descr="Utilisateur avec un remplissage uni">
                  <a:extLst>
                    <a:ext uri="{FF2B5EF4-FFF2-40B4-BE49-F238E27FC236}">
                      <a16:creationId xmlns:a16="http://schemas.microsoft.com/office/drawing/2014/main" id="{79537F69-7AFF-7B19-D6F0-D051F7DFFF4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24" name="Rectangle 23">
                <a:extLst>
                  <a:ext uri="{FF2B5EF4-FFF2-40B4-BE49-F238E27FC236}">
                    <a16:creationId xmlns:a16="http://schemas.microsoft.com/office/drawing/2014/main" id="{7FA0BACF-60EE-AA65-A014-D9003F6B1B9A}"/>
                  </a:ext>
                </a:extLst>
              </p:cNvPr>
              <p:cNvSpPr/>
              <p:nvPr/>
            </p:nvSpPr>
            <p:spPr>
              <a:xfrm>
                <a:off x="583475" y="4917913"/>
                <a:ext cx="1723979" cy="1308721"/>
              </a:xfrm>
              <a:prstGeom prst="rect">
                <a:avLst/>
              </a:prstGeom>
              <a:noFill/>
              <a:ln w="28575">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Tree>
    <p:extLst>
      <p:ext uri="{BB962C8B-B14F-4D97-AF65-F5344CB8AC3E}">
        <p14:creationId xmlns:p14="http://schemas.microsoft.com/office/powerpoint/2010/main" val="2449698215"/>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61606E-7B1B-AF13-91F0-CEB4ECD55444}"/>
              </a:ext>
            </a:extLst>
          </p:cNvPr>
          <p:cNvSpPr>
            <a:spLocks noGrp="1"/>
          </p:cNvSpPr>
          <p:nvPr>
            <p:ph type="title"/>
          </p:nvPr>
        </p:nvSpPr>
        <p:spPr/>
        <p:txBody>
          <a:bodyPr/>
          <a:lstStyle/>
          <a:p>
            <a:r>
              <a:rPr lang="fr-FR" dirty="0"/>
              <a:t>Résumé, une phrase par image</a:t>
            </a:r>
          </a:p>
        </p:txBody>
      </p:sp>
      <p:grpSp>
        <p:nvGrpSpPr>
          <p:cNvPr id="329" name="Groupe 328">
            <a:extLst>
              <a:ext uri="{FF2B5EF4-FFF2-40B4-BE49-F238E27FC236}">
                <a16:creationId xmlns:a16="http://schemas.microsoft.com/office/drawing/2014/main" id="{E363D7F9-0C5B-3DED-E9F9-132A35236A06}"/>
              </a:ext>
            </a:extLst>
          </p:cNvPr>
          <p:cNvGrpSpPr/>
          <p:nvPr/>
        </p:nvGrpSpPr>
        <p:grpSpPr>
          <a:xfrm>
            <a:off x="829598" y="1683011"/>
            <a:ext cx="3527761" cy="1639524"/>
            <a:chOff x="1200708" y="1554134"/>
            <a:chExt cx="11005054" cy="5114590"/>
          </a:xfrm>
        </p:grpSpPr>
        <p:grpSp>
          <p:nvGrpSpPr>
            <p:cNvPr id="330" name="Groupe 329">
              <a:extLst>
                <a:ext uri="{FF2B5EF4-FFF2-40B4-BE49-F238E27FC236}">
                  <a16:creationId xmlns:a16="http://schemas.microsoft.com/office/drawing/2014/main" id="{80B5F63D-EEFA-A4EF-039A-714B3A6C318E}"/>
                </a:ext>
              </a:extLst>
            </p:cNvPr>
            <p:cNvGrpSpPr/>
            <p:nvPr/>
          </p:nvGrpSpPr>
          <p:grpSpPr>
            <a:xfrm>
              <a:off x="6504043" y="2073196"/>
              <a:ext cx="1188000" cy="1059664"/>
              <a:chOff x="6597866" y="3344326"/>
              <a:chExt cx="1188000" cy="1059664"/>
            </a:xfrm>
          </p:grpSpPr>
          <p:sp>
            <p:nvSpPr>
              <p:cNvPr id="441" name="Rectangle 440">
                <a:extLst>
                  <a:ext uri="{FF2B5EF4-FFF2-40B4-BE49-F238E27FC236}">
                    <a16:creationId xmlns:a16="http://schemas.microsoft.com/office/drawing/2014/main" id="{20D877AE-33CF-AC87-2A0C-9C3137BFBF13}"/>
                  </a:ext>
                </a:extLst>
              </p:cNvPr>
              <p:cNvSpPr/>
              <p:nvPr/>
            </p:nvSpPr>
            <p:spPr>
              <a:xfrm>
                <a:off x="6597866" y="3890367"/>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442" name="Groupe 441">
                <a:extLst>
                  <a:ext uri="{FF2B5EF4-FFF2-40B4-BE49-F238E27FC236}">
                    <a16:creationId xmlns:a16="http://schemas.microsoft.com/office/drawing/2014/main" id="{E7E843F0-85D5-D976-A3CA-A92574D94437}"/>
                  </a:ext>
                </a:extLst>
              </p:cNvPr>
              <p:cNvGrpSpPr/>
              <p:nvPr/>
            </p:nvGrpSpPr>
            <p:grpSpPr>
              <a:xfrm>
                <a:off x="6650513" y="3344326"/>
                <a:ext cx="1020563" cy="496065"/>
                <a:chOff x="6713702" y="745208"/>
                <a:chExt cx="4891967" cy="2377838"/>
              </a:xfrm>
            </p:grpSpPr>
            <p:pic>
              <p:nvPicPr>
                <p:cNvPr id="443" name="Graphique 442" descr="Ramper avec un remplissage uni">
                  <a:extLst>
                    <a:ext uri="{FF2B5EF4-FFF2-40B4-BE49-F238E27FC236}">
                      <a16:creationId xmlns:a16="http://schemas.microsoft.com/office/drawing/2014/main" id="{D3034FE0-F723-4EE1-9B6E-55CB31C72B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713702" y="2208646"/>
                  <a:ext cx="914400" cy="914400"/>
                </a:xfrm>
                <a:prstGeom prst="rect">
                  <a:avLst/>
                </a:prstGeom>
              </p:spPr>
            </p:pic>
            <p:pic>
              <p:nvPicPr>
                <p:cNvPr id="444" name="Graphique 443" descr="Marcher avec un remplissage uni">
                  <a:extLst>
                    <a:ext uri="{FF2B5EF4-FFF2-40B4-BE49-F238E27FC236}">
                      <a16:creationId xmlns:a16="http://schemas.microsoft.com/office/drawing/2014/main" id="{31F72493-1EA5-8F3E-5022-81A212F74DF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650711" y="1900170"/>
                  <a:ext cx="914400" cy="914400"/>
                </a:xfrm>
                <a:prstGeom prst="rect">
                  <a:avLst/>
                </a:prstGeom>
              </p:spPr>
            </p:pic>
            <p:pic>
              <p:nvPicPr>
                <p:cNvPr id="445" name="Graphique 444" descr="Courir avec un remplissage uni">
                  <a:extLst>
                    <a:ext uri="{FF2B5EF4-FFF2-40B4-BE49-F238E27FC236}">
                      <a16:creationId xmlns:a16="http://schemas.microsoft.com/office/drawing/2014/main" id="{28CAD37D-D235-E5A8-931A-1C647F150EE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587720" y="1591693"/>
                  <a:ext cx="914400" cy="914400"/>
                </a:xfrm>
                <a:prstGeom prst="rect">
                  <a:avLst/>
                </a:prstGeom>
              </p:spPr>
            </p:pic>
            <p:pic>
              <p:nvPicPr>
                <p:cNvPr id="446" name="Graphique 445" descr="Héros avec un remplissage uni">
                  <a:extLst>
                    <a:ext uri="{FF2B5EF4-FFF2-40B4-BE49-F238E27FC236}">
                      <a16:creationId xmlns:a16="http://schemas.microsoft.com/office/drawing/2014/main" id="{F5E73DFB-04CF-2B6C-D26B-A5ACF4EABB8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691269" y="745208"/>
                  <a:ext cx="914400" cy="914400"/>
                </a:xfrm>
                <a:prstGeom prst="rect">
                  <a:avLst/>
                </a:prstGeom>
              </p:spPr>
            </p:pic>
            <p:pic>
              <p:nvPicPr>
                <p:cNvPr id="447" name="Graphique 446" descr="Aspiration avec un remplissage uni">
                  <a:extLst>
                    <a:ext uri="{FF2B5EF4-FFF2-40B4-BE49-F238E27FC236}">
                      <a16:creationId xmlns:a16="http://schemas.microsoft.com/office/drawing/2014/main" id="{4F69B165-D315-8C80-B5D6-CEC7E06A346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524729" y="1053685"/>
                  <a:ext cx="1143931" cy="1143931"/>
                </a:xfrm>
                <a:prstGeom prst="rect">
                  <a:avLst/>
                </a:prstGeom>
              </p:spPr>
            </p:pic>
          </p:grpSp>
        </p:grpSp>
        <p:grpSp>
          <p:nvGrpSpPr>
            <p:cNvPr id="331" name="Groupe 330">
              <a:extLst>
                <a:ext uri="{FF2B5EF4-FFF2-40B4-BE49-F238E27FC236}">
                  <a16:creationId xmlns:a16="http://schemas.microsoft.com/office/drawing/2014/main" id="{4BB45AD1-AE1D-E90E-F0FD-21C1CF8AC209}"/>
                </a:ext>
              </a:extLst>
            </p:cNvPr>
            <p:cNvGrpSpPr/>
            <p:nvPr/>
          </p:nvGrpSpPr>
          <p:grpSpPr>
            <a:xfrm>
              <a:off x="2742113" y="2098539"/>
              <a:ext cx="1188000" cy="1034321"/>
              <a:chOff x="1241541" y="3369669"/>
              <a:chExt cx="1188000" cy="1034321"/>
            </a:xfrm>
          </p:grpSpPr>
          <p:sp>
            <p:nvSpPr>
              <p:cNvPr id="439" name="Rectangle 438">
                <a:extLst>
                  <a:ext uri="{FF2B5EF4-FFF2-40B4-BE49-F238E27FC236}">
                    <a16:creationId xmlns:a16="http://schemas.microsoft.com/office/drawing/2014/main" id="{9F6576C3-33B1-87A1-A9B2-8317417BDE21}"/>
                  </a:ext>
                </a:extLst>
              </p:cNvPr>
              <p:cNvSpPr/>
              <p:nvPr/>
            </p:nvSpPr>
            <p:spPr>
              <a:xfrm>
                <a:off x="1241541" y="3890367"/>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pic>
            <p:nvPicPr>
              <p:cNvPr id="440" name="Graphique 439" descr="Salle de conseil avec un remplissage uni">
                <a:extLst>
                  <a:ext uri="{FF2B5EF4-FFF2-40B4-BE49-F238E27FC236}">
                    <a16:creationId xmlns:a16="http://schemas.microsoft.com/office/drawing/2014/main" id="{12CD8BAE-E4DA-15E7-040C-5E5C98938447}"/>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b="16472"/>
              <a:stretch/>
            </p:blipFill>
            <p:spPr>
              <a:xfrm>
                <a:off x="1632360" y="3369669"/>
                <a:ext cx="551732" cy="460853"/>
              </a:xfrm>
              <a:prstGeom prst="rect">
                <a:avLst/>
              </a:prstGeom>
            </p:spPr>
          </p:pic>
        </p:grpSp>
        <p:grpSp>
          <p:nvGrpSpPr>
            <p:cNvPr id="332" name="Groupe 331">
              <a:extLst>
                <a:ext uri="{FF2B5EF4-FFF2-40B4-BE49-F238E27FC236}">
                  <a16:creationId xmlns:a16="http://schemas.microsoft.com/office/drawing/2014/main" id="{F8DE813E-E10C-7B3D-E5E0-42A7E736EBF9}"/>
                </a:ext>
              </a:extLst>
            </p:cNvPr>
            <p:cNvGrpSpPr/>
            <p:nvPr/>
          </p:nvGrpSpPr>
          <p:grpSpPr>
            <a:xfrm>
              <a:off x="3995935" y="1943285"/>
              <a:ext cx="1188000" cy="1189575"/>
              <a:chOff x="2998706" y="3222767"/>
              <a:chExt cx="1188000" cy="1189575"/>
            </a:xfrm>
          </p:grpSpPr>
          <p:sp>
            <p:nvSpPr>
              <p:cNvPr id="430" name="Rectangle 429">
                <a:extLst>
                  <a:ext uri="{FF2B5EF4-FFF2-40B4-BE49-F238E27FC236}">
                    <a16:creationId xmlns:a16="http://schemas.microsoft.com/office/drawing/2014/main" id="{C6C9BDF5-4D74-ACD8-9C3F-4D4FEDBED981}"/>
                  </a:ext>
                </a:extLst>
              </p:cNvPr>
              <p:cNvSpPr/>
              <p:nvPr/>
            </p:nvSpPr>
            <p:spPr>
              <a:xfrm>
                <a:off x="2998706" y="3898719"/>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431" name="Groupe 430">
                <a:extLst>
                  <a:ext uri="{FF2B5EF4-FFF2-40B4-BE49-F238E27FC236}">
                    <a16:creationId xmlns:a16="http://schemas.microsoft.com/office/drawing/2014/main" id="{88F800BF-A094-BC7D-0CAC-3D955182B4F5}"/>
                  </a:ext>
                </a:extLst>
              </p:cNvPr>
              <p:cNvGrpSpPr/>
              <p:nvPr/>
            </p:nvGrpSpPr>
            <p:grpSpPr>
              <a:xfrm>
                <a:off x="3130879" y="3222767"/>
                <a:ext cx="935471" cy="541840"/>
                <a:chOff x="626984" y="628802"/>
                <a:chExt cx="5131851" cy="2356880"/>
              </a:xfrm>
            </p:grpSpPr>
            <p:cxnSp>
              <p:nvCxnSpPr>
                <p:cNvPr id="432" name="Connecteur droit avec flèche 431">
                  <a:extLst>
                    <a:ext uri="{FF2B5EF4-FFF2-40B4-BE49-F238E27FC236}">
                      <a16:creationId xmlns:a16="http://schemas.microsoft.com/office/drawing/2014/main" id="{D0F9697B-98FD-AC1A-C7C0-C5F39293439E}"/>
                    </a:ext>
                  </a:extLst>
                </p:cNvPr>
                <p:cNvCxnSpPr>
                  <a:cxnSpLocks/>
                </p:cNvCxnSpPr>
                <p:nvPr/>
              </p:nvCxnSpPr>
              <p:spPr>
                <a:xfrm flipV="1">
                  <a:off x="626984" y="1565043"/>
                  <a:ext cx="5131851" cy="1210667"/>
                </a:xfrm>
                <a:prstGeom prst="straightConnector1">
                  <a:avLst/>
                </a:prstGeom>
                <a:ln w="57150">
                  <a:prstDash val="dash"/>
                  <a:tailEnd type="triangle"/>
                </a:ln>
              </p:spPr>
              <p:style>
                <a:lnRef idx="1">
                  <a:schemeClr val="accent1"/>
                </a:lnRef>
                <a:fillRef idx="0">
                  <a:schemeClr val="accent1"/>
                </a:fillRef>
                <a:effectRef idx="0">
                  <a:schemeClr val="accent1"/>
                </a:effectRef>
                <a:fontRef idx="minor">
                  <a:schemeClr val="tx1"/>
                </a:fontRef>
              </p:style>
            </p:cxnSp>
            <p:pic>
              <p:nvPicPr>
                <p:cNvPr id="433" name="Graphique 432" descr="Personne confuse avec un remplissage uni">
                  <a:extLst>
                    <a:ext uri="{FF2B5EF4-FFF2-40B4-BE49-F238E27FC236}">
                      <a16:creationId xmlns:a16="http://schemas.microsoft.com/office/drawing/2014/main" id="{72ACA437-B450-BE22-3694-5D2D839F378C}"/>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604967" y="1805997"/>
                  <a:ext cx="940978" cy="940978"/>
                </a:xfrm>
                <a:prstGeom prst="rect">
                  <a:avLst/>
                </a:prstGeom>
              </p:spPr>
            </p:pic>
            <p:pic>
              <p:nvPicPr>
                <p:cNvPr id="434" name="Graphique 433" descr="Réussite du groupe avec un remplissage uni">
                  <a:extLst>
                    <a:ext uri="{FF2B5EF4-FFF2-40B4-BE49-F238E27FC236}">
                      <a16:creationId xmlns:a16="http://schemas.microsoft.com/office/drawing/2014/main" id="{5DA73FBE-01DE-B8A6-2E67-571AAF6C6CD0}"/>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4228767" y="628802"/>
                  <a:ext cx="1492354" cy="1492354"/>
                </a:xfrm>
                <a:prstGeom prst="rect">
                  <a:avLst/>
                </a:prstGeom>
              </p:spPr>
            </p:pic>
            <p:pic>
              <p:nvPicPr>
                <p:cNvPr id="435" name="Graphique 434" descr="Personne confuse avec un remplissage uni">
                  <a:extLst>
                    <a:ext uri="{FF2B5EF4-FFF2-40B4-BE49-F238E27FC236}">
                      <a16:creationId xmlns:a16="http://schemas.microsoft.com/office/drawing/2014/main" id="{D435CF5D-EA0E-B5F5-AA3A-FF8EEB1A97D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479567" y="1609677"/>
                  <a:ext cx="940978" cy="940978"/>
                </a:xfrm>
                <a:prstGeom prst="rect">
                  <a:avLst/>
                </a:prstGeom>
              </p:spPr>
            </p:pic>
            <p:pic>
              <p:nvPicPr>
                <p:cNvPr id="436" name="Graphique 435" descr="Personne confuse avec un remplissage uni">
                  <a:extLst>
                    <a:ext uri="{FF2B5EF4-FFF2-40B4-BE49-F238E27FC236}">
                      <a16:creationId xmlns:a16="http://schemas.microsoft.com/office/drawing/2014/main" id="{2C0793A5-AE20-791B-C88E-83443A08D443}"/>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656694" y="2044704"/>
                  <a:ext cx="940978" cy="940978"/>
                </a:xfrm>
                <a:prstGeom prst="rect">
                  <a:avLst/>
                </a:prstGeom>
              </p:spPr>
            </p:pic>
            <p:pic>
              <p:nvPicPr>
                <p:cNvPr id="437" name="Graphique 436" descr="Personne confuse avec un remplissage uni">
                  <a:extLst>
                    <a:ext uri="{FF2B5EF4-FFF2-40B4-BE49-F238E27FC236}">
                      <a16:creationId xmlns:a16="http://schemas.microsoft.com/office/drawing/2014/main" id="{745A4756-831C-142B-7E63-AC819B92701F}"/>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3293254" y="1399398"/>
                  <a:ext cx="940978" cy="940978"/>
                </a:xfrm>
                <a:prstGeom prst="rect">
                  <a:avLst/>
                </a:prstGeom>
              </p:spPr>
            </p:pic>
            <p:pic>
              <p:nvPicPr>
                <p:cNvPr id="438" name="Graphique 437" descr="Personne confuse avec un remplissage uni">
                  <a:extLst>
                    <a:ext uri="{FF2B5EF4-FFF2-40B4-BE49-F238E27FC236}">
                      <a16:creationId xmlns:a16="http://schemas.microsoft.com/office/drawing/2014/main" id="{84CBAD7A-310A-E511-83F6-8A80F8F63452}"/>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4234476" y="1189119"/>
                  <a:ext cx="940978" cy="940978"/>
                </a:xfrm>
                <a:prstGeom prst="rect">
                  <a:avLst/>
                </a:prstGeom>
              </p:spPr>
            </p:pic>
          </p:grpSp>
        </p:grpSp>
        <p:grpSp>
          <p:nvGrpSpPr>
            <p:cNvPr id="333" name="Groupe 332">
              <a:extLst>
                <a:ext uri="{FF2B5EF4-FFF2-40B4-BE49-F238E27FC236}">
                  <a16:creationId xmlns:a16="http://schemas.microsoft.com/office/drawing/2014/main" id="{79F6DCD5-FA62-DD25-206D-239AD61D3120}"/>
                </a:ext>
              </a:extLst>
            </p:cNvPr>
            <p:cNvGrpSpPr/>
            <p:nvPr/>
          </p:nvGrpSpPr>
          <p:grpSpPr>
            <a:xfrm>
              <a:off x="5244199" y="1554134"/>
              <a:ext cx="1188000" cy="1569057"/>
              <a:chOff x="4859249" y="2834933"/>
              <a:chExt cx="1188000" cy="1569057"/>
            </a:xfrm>
          </p:grpSpPr>
          <p:sp>
            <p:nvSpPr>
              <p:cNvPr id="421" name="Rectangle 420">
                <a:extLst>
                  <a:ext uri="{FF2B5EF4-FFF2-40B4-BE49-F238E27FC236}">
                    <a16:creationId xmlns:a16="http://schemas.microsoft.com/office/drawing/2014/main" id="{F732BFE6-2F0E-F898-4B26-CDF65584C906}"/>
                  </a:ext>
                </a:extLst>
              </p:cNvPr>
              <p:cNvSpPr/>
              <p:nvPr/>
            </p:nvSpPr>
            <p:spPr>
              <a:xfrm>
                <a:off x="4859249" y="3890367"/>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422" name="Groupe 421">
                <a:extLst>
                  <a:ext uri="{FF2B5EF4-FFF2-40B4-BE49-F238E27FC236}">
                    <a16:creationId xmlns:a16="http://schemas.microsoft.com/office/drawing/2014/main" id="{32E29B68-B8EE-9A62-9861-C5966493B767}"/>
                  </a:ext>
                </a:extLst>
              </p:cNvPr>
              <p:cNvGrpSpPr/>
              <p:nvPr/>
            </p:nvGrpSpPr>
            <p:grpSpPr>
              <a:xfrm>
                <a:off x="4953396" y="2834933"/>
                <a:ext cx="1021038" cy="1060714"/>
                <a:chOff x="1793893" y="3948469"/>
                <a:chExt cx="2716107" cy="2749848"/>
              </a:xfrm>
            </p:grpSpPr>
            <p:pic>
              <p:nvPicPr>
                <p:cNvPr id="423" name="Graphique 422" descr="Diplôme roulé avec un remplissage uni">
                  <a:extLst>
                    <a:ext uri="{FF2B5EF4-FFF2-40B4-BE49-F238E27FC236}">
                      <a16:creationId xmlns:a16="http://schemas.microsoft.com/office/drawing/2014/main" id="{84931F61-6149-004D-727A-6ABE4F183977}"/>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2976734" y="5783917"/>
                  <a:ext cx="914400" cy="914400"/>
                </a:xfrm>
                <a:prstGeom prst="rect">
                  <a:avLst/>
                </a:prstGeom>
              </p:spPr>
            </p:pic>
            <p:grpSp>
              <p:nvGrpSpPr>
                <p:cNvPr id="424" name="Groupe 423">
                  <a:extLst>
                    <a:ext uri="{FF2B5EF4-FFF2-40B4-BE49-F238E27FC236}">
                      <a16:creationId xmlns:a16="http://schemas.microsoft.com/office/drawing/2014/main" id="{B076DA50-8BCB-7CA6-9997-3F423F2B2A8B}"/>
                    </a:ext>
                  </a:extLst>
                </p:cNvPr>
                <p:cNvGrpSpPr/>
                <p:nvPr/>
              </p:nvGrpSpPr>
              <p:grpSpPr>
                <a:xfrm>
                  <a:off x="1793893" y="3948469"/>
                  <a:ext cx="2716107" cy="2284168"/>
                  <a:chOff x="1793893" y="3948469"/>
                  <a:chExt cx="2716107" cy="2284168"/>
                </a:xfrm>
              </p:grpSpPr>
              <p:sp>
                <p:nvSpPr>
                  <p:cNvPr id="425" name="Ellipse 424">
                    <a:extLst>
                      <a:ext uri="{FF2B5EF4-FFF2-40B4-BE49-F238E27FC236}">
                        <a16:creationId xmlns:a16="http://schemas.microsoft.com/office/drawing/2014/main" id="{C1317A7D-04DD-3E53-7649-BA053BB3B623}"/>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26" name="Graphique 425" descr="Transférer avec un remplissage uni">
                    <a:extLst>
                      <a:ext uri="{FF2B5EF4-FFF2-40B4-BE49-F238E27FC236}">
                        <a16:creationId xmlns:a16="http://schemas.microsoft.com/office/drawing/2014/main" id="{E7D53B8F-81F6-14F8-699A-7B0B4C97124B}"/>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1979208" y="4142052"/>
                    <a:ext cx="914400" cy="914400"/>
                  </a:xfrm>
                  <a:prstGeom prst="rect">
                    <a:avLst/>
                  </a:prstGeom>
                </p:spPr>
              </p:pic>
              <p:pic>
                <p:nvPicPr>
                  <p:cNvPr id="427" name="Graphique 426" descr="Toque d'étudiant avec un remplissage uni">
                    <a:extLst>
                      <a:ext uri="{FF2B5EF4-FFF2-40B4-BE49-F238E27FC236}">
                        <a16:creationId xmlns:a16="http://schemas.microsoft.com/office/drawing/2014/main" id="{3C264E72-0EB1-AC55-75A4-4D94A0231E36}"/>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3260713" y="3948469"/>
                    <a:ext cx="914400" cy="914400"/>
                  </a:xfrm>
                  <a:prstGeom prst="rect">
                    <a:avLst/>
                  </a:prstGeom>
                </p:spPr>
              </p:pic>
              <p:pic>
                <p:nvPicPr>
                  <p:cNvPr id="428" name="Graphique 427" descr="Idée avec un remplissage uni">
                    <a:extLst>
                      <a:ext uri="{FF2B5EF4-FFF2-40B4-BE49-F238E27FC236}">
                        <a16:creationId xmlns:a16="http://schemas.microsoft.com/office/drawing/2014/main" id="{852151E4-13B8-380A-47F6-8EB51DFDFDBA}"/>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1793893" y="5264448"/>
                    <a:ext cx="914400" cy="914400"/>
                  </a:xfrm>
                  <a:prstGeom prst="rect">
                    <a:avLst/>
                  </a:prstGeom>
                </p:spPr>
              </p:pic>
              <p:pic>
                <p:nvPicPr>
                  <p:cNvPr id="429" name="Graphique 428" descr="Chat avec un remplissage uni">
                    <a:extLst>
                      <a:ext uri="{FF2B5EF4-FFF2-40B4-BE49-F238E27FC236}">
                        <a16:creationId xmlns:a16="http://schemas.microsoft.com/office/drawing/2014/main" id="{D7A0A8C1-5C4D-9CA4-4391-FCA002D54BA2}"/>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3595600" y="4881866"/>
                    <a:ext cx="914400" cy="914400"/>
                  </a:xfrm>
                  <a:prstGeom prst="rect">
                    <a:avLst/>
                  </a:prstGeom>
                </p:spPr>
              </p:pic>
            </p:grpSp>
          </p:grpSp>
        </p:grpSp>
        <p:grpSp>
          <p:nvGrpSpPr>
            <p:cNvPr id="334" name="Groupe 333">
              <a:extLst>
                <a:ext uri="{FF2B5EF4-FFF2-40B4-BE49-F238E27FC236}">
                  <a16:creationId xmlns:a16="http://schemas.microsoft.com/office/drawing/2014/main" id="{AC135BB2-BCC8-A225-33E1-A85152B95E00}"/>
                </a:ext>
              </a:extLst>
            </p:cNvPr>
            <p:cNvGrpSpPr/>
            <p:nvPr/>
          </p:nvGrpSpPr>
          <p:grpSpPr>
            <a:xfrm>
              <a:off x="2690642" y="3335142"/>
              <a:ext cx="1188000" cy="1570992"/>
              <a:chOff x="1263318" y="4795766"/>
              <a:chExt cx="1188000" cy="1570992"/>
            </a:xfrm>
          </p:grpSpPr>
          <p:sp>
            <p:nvSpPr>
              <p:cNvPr id="413" name="Rectangle 412">
                <a:extLst>
                  <a:ext uri="{FF2B5EF4-FFF2-40B4-BE49-F238E27FC236}">
                    <a16:creationId xmlns:a16="http://schemas.microsoft.com/office/drawing/2014/main" id="{F6503810-D3DD-9C40-A5E9-EE2D7522BAD7}"/>
                  </a:ext>
                </a:extLst>
              </p:cNvPr>
              <p:cNvSpPr/>
              <p:nvPr/>
            </p:nvSpPr>
            <p:spPr>
              <a:xfrm>
                <a:off x="1263318" y="5711008"/>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414" name="Groupe 413">
                <a:extLst>
                  <a:ext uri="{FF2B5EF4-FFF2-40B4-BE49-F238E27FC236}">
                    <a16:creationId xmlns:a16="http://schemas.microsoft.com/office/drawing/2014/main" id="{FD2EF867-C41E-DAF4-6669-EEFBE20F0F02}"/>
                  </a:ext>
                </a:extLst>
              </p:cNvPr>
              <p:cNvGrpSpPr/>
              <p:nvPr/>
            </p:nvGrpSpPr>
            <p:grpSpPr>
              <a:xfrm>
                <a:off x="1366615" y="4795766"/>
                <a:ext cx="1006494" cy="888801"/>
                <a:chOff x="7967905" y="574228"/>
                <a:chExt cx="2945866" cy="2601395"/>
              </a:xfrm>
            </p:grpSpPr>
            <p:sp>
              <p:nvSpPr>
                <p:cNvPr id="415" name="Ellipse 414">
                  <a:extLst>
                    <a:ext uri="{FF2B5EF4-FFF2-40B4-BE49-F238E27FC236}">
                      <a16:creationId xmlns:a16="http://schemas.microsoft.com/office/drawing/2014/main" id="{280A3B50-9CA5-ABE9-0C62-8BCB234DC9D4}"/>
                    </a:ext>
                  </a:extLst>
                </p:cNvPr>
                <p:cNvSpPr/>
                <p:nvPr/>
              </p:nvSpPr>
              <p:spPr>
                <a:xfrm>
                  <a:off x="8454825" y="965640"/>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16" name="Graphique 415" descr="Dossier ouvert avec un remplissage uni">
                  <a:extLst>
                    <a:ext uri="{FF2B5EF4-FFF2-40B4-BE49-F238E27FC236}">
                      <a16:creationId xmlns:a16="http://schemas.microsoft.com/office/drawing/2014/main" id="{83C91C26-CDE8-9D41-A689-29393033A162}"/>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7967905" y="1044764"/>
                  <a:ext cx="914400" cy="914400"/>
                </a:xfrm>
                <a:prstGeom prst="rect">
                  <a:avLst/>
                </a:prstGeom>
              </p:spPr>
            </p:pic>
            <p:pic>
              <p:nvPicPr>
                <p:cNvPr id="417" name="Graphique 416" descr="Diagramme de Gantt avec un remplissage uni">
                  <a:extLst>
                    <a:ext uri="{FF2B5EF4-FFF2-40B4-BE49-F238E27FC236}">
                      <a16:creationId xmlns:a16="http://schemas.microsoft.com/office/drawing/2014/main" id="{600B7033-1E8A-E040-7DC0-1662136A2108}"/>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8454079" y="2190978"/>
                  <a:ext cx="914400" cy="914400"/>
                </a:xfrm>
                <a:prstGeom prst="rect">
                  <a:avLst/>
                </a:prstGeom>
              </p:spPr>
            </p:pic>
            <p:pic>
              <p:nvPicPr>
                <p:cNvPr id="418" name="Graphique 417" descr="Calendrier mensuel avec un remplissage uni">
                  <a:extLst>
                    <a:ext uri="{FF2B5EF4-FFF2-40B4-BE49-F238E27FC236}">
                      <a16:creationId xmlns:a16="http://schemas.microsoft.com/office/drawing/2014/main" id="{3A6A9B05-E00F-8B56-24A9-A16B529EF6AF}"/>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9597330" y="2261223"/>
                  <a:ext cx="914400" cy="914400"/>
                </a:xfrm>
                <a:prstGeom prst="rect">
                  <a:avLst/>
                </a:prstGeom>
              </p:spPr>
            </p:pic>
            <p:pic>
              <p:nvPicPr>
                <p:cNvPr id="419" name="Graphique 418" descr="Priorités avec un remplissage uni">
                  <a:extLst>
                    <a:ext uri="{FF2B5EF4-FFF2-40B4-BE49-F238E27FC236}">
                      <a16:creationId xmlns:a16="http://schemas.microsoft.com/office/drawing/2014/main" id="{08C3E646-565D-2C8B-C3D6-F7B326BBCE6D}"/>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flipV="1">
                  <a:off x="8952575" y="574228"/>
                  <a:ext cx="914400" cy="1089697"/>
                </a:xfrm>
                <a:prstGeom prst="rect">
                  <a:avLst/>
                </a:prstGeom>
              </p:spPr>
            </p:pic>
            <p:pic>
              <p:nvPicPr>
                <p:cNvPr id="420" name="Graphique 419" descr="Graphique à barres avec tendance à la baisse avec un remplissage uni">
                  <a:extLst>
                    <a:ext uri="{FF2B5EF4-FFF2-40B4-BE49-F238E27FC236}">
                      <a16:creationId xmlns:a16="http://schemas.microsoft.com/office/drawing/2014/main" id="{B7911F48-0210-0011-EE61-DE0ED90A5296}"/>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9999371" y="992534"/>
                  <a:ext cx="914400" cy="914400"/>
                </a:xfrm>
                <a:prstGeom prst="rect">
                  <a:avLst/>
                </a:prstGeom>
              </p:spPr>
            </p:pic>
          </p:grpSp>
        </p:grpSp>
        <p:grpSp>
          <p:nvGrpSpPr>
            <p:cNvPr id="335" name="Groupe 334">
              <a:extLst>
                <a:ext uri="{FF2B5EF4-FFF2-40B4-BE49-F238E27FC236}">
                  <a16:creationId xmlns:a16="http://schemas.microsoft.com/office/drawing/2014/main" id="{DE2F5A46-8B7C-ADD0-BC6F-FCE204ABEE91}"/>
                </a:ext>
              </a:extLst>
            </p:cNvPr>
            <p:cNvGrpSpPr/>
            <p:nvPr/>
          </p:nvGrpSpPr>
          <p:grpSpPr>
            <a:xfrm>
              <a:off x="3960430" y="3412658"/>
              <a:ext cx="1188000" cy="1498161"/>
              <a:chOff x="2945394" y="4865339"/>
              <a:chExt cx="1188000" cy="1498161"/>
            </a:xfrm>
          </p:grpSpPr>
          <p:sp>
            <p:nvSpPr>
              <p:cNvPr id="407" name="Rectangle 406">
                <a:extLst>
                  <a:ext uri="{FF2B5EF4-FFF2-40B4-BE49-F238E27FC236}">
                    <a16:creationId xmlns:a16="http://schemas.microsoft.com/office/drawing/2014/main" id="{42D4B169-2883-A747-8D4F-08D9A88EDF34}"/>
                  </a:ext>
                </a:extLst>
              </p:cNvPr>
              <p:cNvSpPr/>
              <p:nvPr/>
            </p:nvSpPr>
            <p:spPr>
              <a:xfrm>
                <a:off x="2945394" y="5707750"/>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408" name="Groupe 407">
                <a:extLst>
                  <a:ext uri="{FF2B5EF4-FFF2-40B4-BE49-F238E27FC236}">
                    <a16:creationId xmlns:a16="http://schemas.microsoft.com/office/drawing/2014/main" id="{1C237CD4-E12E-6894-303B-316920DA295B}"/>
                  </a:ext>
                </a:extLst>
              </p:cNvPr>
              <p:cNvGrpSpPr/>
              <p:nvPr/>
            </p:nvGrpSpPr>
            <p:grpSpPr>
              <a:xfrm>
                <a:off x="3034186" y="4865339"/>
                <a:ext cx="962635" cy="814307"/>
                <a:chOff x="1619081" y="3908041"/>
                <a:chExt cx="3348357" cy="2476948"/>
              </a:xfrm>
            </p:grpSpPr>
            <p:pic>
              <p:nvPicPr>
                <p:cNvPr id="409" name="Graphique 408" descr="Graphique en radar avec un remplissage uni">
                  <a:extLst>
                    <a:ext uri="{FF2B5EF4-FFF2-40B4-BE49-F238E27FC236}">
                      <a16:creationId xmlns:a16="http://schemas.microsoft.com/office/drawing/2014/main" id="{08C3E4E1-FAE1-17F3-FBB0-3F01DFA548F5}"/>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a:off x="1619081" y="5084439"/>
                  <a:ext cx="1290292" cy="1290292"/>
                </a:xfrm>
                <a:prstGeom prst="rect">
                  <a:avLst/>
                </a:prstGeom>
              </p:spPr>
            </p:pic>
            <p:pic>
              <p:nvPicPr>
                <p:cNvPr id="410" name="Graphique 409" descr="Compteur bas avec un remplissage uni">
                  <a:extLst>
                    <a:ext uri="{FF2B5EF4-FFF2-40B4-BE49-F238E27FC236}">
                      <a16:creationId xmlns:a16="http://schemas.microsoft.com/office/drawing/2014/main" id="{B2C393CD-BF5E-5A5D-2BAA-8E969D1B8EFE}"/>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flipH="1">
                  <a:off x="2795861" y="3908041"/>
                  <a:ext cx="898916" cy="914400"/>
                </a:xfrm>
                <a:prstGeom prst="rect">
                  <a:avLst/>
                </a:prstGeom>
              </p:spPr>
            </p:pic>
            <p:pic>
              <p:nvPicPr>
                <p:cNvPr id="411" name="Graphique 410" descr="Cercles avec flèches avec un remplissage uni">
                  <a:extLst>
                    <a:ext uri="{FF2B5EF4-FFF2-40B4-BE49-F238E27FC236}">
                      <a16:creationId xmlns:a16="http://schemas.microsoft.com/office/drawing/2014/main" id="{A1767EB0-33FA-2631-FDC5-F597A79906C3}"/>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rot="18361995">
                  <a:off x="2644083" y="4661879"/>
                  <a:ext cx="1172888" cy="1172888"/>
                </a:xfrm>
                <a:prstGeom prst="rect">
                  <a:avLst/>
                </a:prstGeom>
              </p:spPr>
            </p:pic>
            <p:pic>
              <p:nvPicPr>
                <p:cNvPr id="412" name="Graphique 411" descr="Presse-papiers badge avec un remplissage uni">
                  <a:extLst>
                    <a:ext uri="{FF2B5EF4-FFF2-40B4-BE49-F238E27FC236}">
                      <a16:creationId xmlns:a16="http://schemas.microsoft.com/office/drawing/2014/main" id="{67DE0523-2815-C345-C139-BDFE0819098E}"/>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3755728" y="5173279"/>
                  <a:ext cx="1211710" cy="1211710"/>
                </a:xfrm>
                <a:prstGeom prst="rect">
                  <a:avLst/>
                </a:prstGeom>
              </p:spPr>
            </p:pic>
          </p:grpSp>
        </p:grpSp>
        <p:grpSp>
          <p:nvGrpSpPr>
            <p:cNvPr id="336" name="Groupe 335">
              <a:extLst>
                <a:ext uri="{FF2B5EF4-FFF2-40B4-BE49-F238E27FC236}">
                  <a16:creationId xmlns:a16="http://schemas.microsoft.com/office/drawing/2014/main" id="{04257323-9AFB-ACE9-3E37-C763B2D18A3C}"/>
                </a:ext>
              </a:extLst>
            </p:cNvPr>
            <p:cNvGrpSpPr/>
            <p:nvPr/>
          </p:nvGrpSpPr>
          <p:grpSpPr>
            <a:xfrm>
              <a:off x="5214616" y="3598192"/>
              <a:ext cx="1188000" cy="1306257"/>
              <a:chOff x="4704331" y="5050873"/>
              <a:chExt cx="1188000" cy="1306257"/>
            </a:xfrm>
          </p:grpSpPr>
          <p:sp>
            <p:nvSpPr>
              <p:cNvPr id="390" name="Rectangle 389">
                <a:extLst>
                  <a:ext uri="{FF2B5EF4-FFF2-40B4-BE49-F238E27FC236}">
                    <a16:creationId xmlns:a16="http://schemas.microsoft.com/office/drawing/2014/main" id="{FB7F7689-9749-6BB4-4B89-46AB13342CD3}"/>
                  </a:ext>
                </a:extLst>
              </p:cNvPr>
              <p:cNvSpPr/>
              <p:nvPr/>
            </p:nvSpPr>
            <p:spPr>
              <a:xfrm>
                <a:off x="4704331" y="5701380"/>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391" name="Groupe 390">
                <a:extLst>
                  <a:ext uri="{FF2B5EF4-FFF2-40B4-BE49-F238E27FC236}">
                    <a16:creationId xmlns:a16="http://schemas.microsoft.com/office/drawing/2014/main" id="{7C0E4C11-3446-72D3-004C-C0D31A4A916A}"/>
                  </a:ext>
                </a:extLst>
              </p:cNvPr>
              <p:cNvGrpSpPr/>
              <p:nvPr/>
            </p:nvGrpSpPr>
            <p:grpSpPr>
              <a:xfrm>
                <a:off x="4771800" y="5050873"/>
                <a:ext cx="1076472" cy="553441"/>
                <a:chOff x="6389474" y="3987996"/>
                <a:chExt cx="5385544" cy="2536749"/>
              </a:xfrm>
            </p:grpSpPr>
            <p:cxnSp>
              <p:nvCxnSpPr>
                <p:cNvPr id="392" name="Connecteur droit avec flèche 391">
                  <a:extLst>
                    <a:ext uri="{FF2B5EF4-FFF2-40B4-BE49-F238E27FC236}">
                      <a16:creationId xmlns:a16="http://schemas.microsoft.com/office/drawing/2014/main" id="{98EC8F6A-F642-04D0-DA02-29D842C1F8F6}"/>
                    </a:ext>
                  </a:extLst>
                </p:cNvPr>
                <p:cNvCxnSpPr>
                  <a:cxnSpLocks/>
                </p:cNvCxnSpPr>
                <p:nvPr/>
              </p:nvCxnSpPr>
              <p:spPr>
                <a:xfrm flipV="1">
                  <a:off x="6535271" y="6100758"/>
                  <a:ext cx="1486117" cy="22439"/>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393" name="Graphique 392" descr="Télécharger du cloud avec un remplissage uni">
                  <a:extLst>
                    <a:ext uri="{FF2B5EF4-FFF2-40B4-BE49-F238E27FC236}">
                      <a16:creationId xmlns:a16="http://schemas.microsoft.com/office/drawing/2014/main" id="{00D023A8-B016-A907-499C-413D76A6CC80}"/>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8320900" y="3987996"/>
                  <a:ext cx="675060" cy="675060"/>
                </a:xfrm>
                <a:prstGeom prst="rect">
                  <a:avLst/>
                </a:prstGeom>
              </p:spPr>
            </p:pic>
            <p:pic>
              <p:nvPicPr>
                <p:cNvPr id="394" name="Graphique 393" descr="Serveur avec un remplissage uni">
                  <a:extLst>
                    <a:ext uri="{FF2B5EF4-FFF2-40B4-BE49-F238E27FC236}">
                      <a16:creationId xmlns:a16="http://schemas.microsoft.com/office/drawing/2014/main" id="{B9B26049-627B-5C83-AC41-F6DED3E2C9D0}"/>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a:off x="8995960" y="3987996"/>
                  <a:ext cx="675060" cy="675060"/>
                </a:xfrm>
                <a:prstGeom prst="rect">
                  <a:avLst/>
                </a:prstGeom>
              </p:spPr>
            </p:pic>
            <p:pic>
              <p:nvPicPr>
                <p:cNvPr id="395" name="Graphique 394" descr="Tête avec engrenages avec un remplissage uni">
                  <a:extLst>
                    <a:ext uri="{FF2B5EF4-FFF2-40B4-BE49-F238E27FC236}">
                      <a16:creationId xmlns:a16="http://schemas.microsoft.com/office/drawing/2014/main" id="{F3604414-5E9C-226A-930D-47AFA8B21E3D}"/>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6389474" y="5495508"/>
                  <a:ext cx="914400" cy="914400"/>
                </a:xfrm>
                <a:prstGeom prst="rect">
                  <a:avLst/>
                </a:prstGeom>
              </p:spPr>
            </p:pic>
            <p:sp>
              <p:nvSpPr>
                <p:cNvPr id="396" name="Flèche : droite 395">
                  <a:extLst>
                    <a:ext uri="{FF2B5EF4-FFF2-40B4-BE49-F238E27FC236}">
                      <a16:creationId xmlns:a16="http://schemas.microsoft.com/office/drawing/2014/main" id="{D402A2B3-ECF2-B518-637B-0BF42465DDB9}"/>
                    </a:ext>
                  </a:extLst>
                </p:cNvPr>
                <p:cNvSpPr/>
                <p:nvPr/>
              </p:nvSpPr>
              <p:spPr>
                <a:xfrm rot="2221843">
                  <a:off x="9714954" y="4900835"/>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397" name="Graphique 396" descr="Enseignant avec un remplissage uni">
                  <a:extLst>
                    <a:ext uri="{FF2B5EF4-FFF2-40B4-BE49-F238E27FC236}">
                      <a16:creationId xmlns:a16="http://schemas.microsoft.com/office/drawing/2014/main" id="{7702A0DB-A806-F702-B5F2-74F8FD787F69}"/>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8353404" y="4668590"/>
                  <a:ext cx="639776" cy="639776"/>
                </a:xfrm>
                <a:prstGeom prst="rect">
                  <a:avLst/>
                </a:prstGeom>
              </p:spPr>
            </p:pic>
            <p:cxnSp>
              <p:nvCxnSpPr>
                <p:cNvPr id="398" name="Connecteur droit avec flèche 397">
                  <a:extLst>
                    <a:ext uri="{FF2B5EF4-FFF2-40B4-BE49-F238E27FC236}">
                      <a16:creationId xmlns:a16="http://schemas.microsoft.com/office/drawing/2014/main" id="{D71064A4-FCC5-F976-E5D2-19BDA3AED667}"/>
                    </a:ext>
                  </a:extLst>
                </p:cNvPr>
                <p:cNvCxnSpPr>
                  <a:cxnSpLocks/>
                </p:cNvCxnSpPr>
                <p:nvPr/>
              </p:nvCxnSpPr>
              <p:spPr>
                <a:xfrm flipV="1">
                  <a:off x="9709150" y="6092806"/>
                  <a:ext cx="2065868" cy="15905"/>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399" name="Graphique 398" descr="Tête avec engrenages avec un remplissage uni">
                  <a:extLst>
                    <a:ext uri="{FF2B5EF4-FFF2-40B4-BE49-F238E27FC236}">
                      <a16:creationId xmlns:a16="http://schemas.microsoft.com/office/drawing/2014/main" id="{C3619B4C-F512-4A69-9AF7-F2B1232586C0}"/>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10652219" y="5495508"/>
                  <a:ext cx="914400" cy="914400"/>
                </a:xfrm>
                <a:prstGeom prst="rect">
                  <a:avLst/>
                </a:prstGeom>
              </p:spPr>
            </p:pic>
            <p:sp>
              <p:nvSpPr>
                <p:cNvPr id="400" name="Flèche : droite 399">
                  <a:extLst>
                    <a:ext uri="{FF2B5EF4-FFF2-40B4-BE49-F238E27FC236}">
                      <a16:creationId xmlns:a16="http://schemas.microsoft.com/office/drawing/2014/main" id="{C2650335-E6A6-3EFF-DEBB-765E73E3B7C9}"/>
                    </a:ext>
                  </a:extLst>
                </p:cNvPr>
                <p:cNvSpPr/>
                <p:nvPr/>
              </p:nvSpPr>
              <p:spPr>
                <a:xfrm rot="18844370">
                  <a:off x="7386229" y="4956663"/>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01" name="Graphique 400" descr="Groupe de personnes avec un remplissage uni">
                  <a:extLst>
                    <a:ext uri="{FF2B5EF4-FFF2-40B4-BE49-F238E27FC236}">
                      <a16:creationId xmlns:a16="http://schemas.microsoft.com/office/drawing/2014/main" id="{365B175E-64CC-9718-8EB7-BFA7B13FDF58}"/>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a:off x="9025684" y="4682443"/>
                  <a:ext cx="565880" cy="565880"/>
                </a:xfrm>
                <a:prstGeom prst="rect">
                  <a:avLst/>
                </a:prstGeom>
              </p:spPr>
            </p:pic>
            <p:pic>
              <p:nvPicPr>
                <p:cNvPr id="402" name="Graphique 401" descr="Stop avec un remplissage uni">
                  <a:extLst>
                    <a:ext uri="{FF2B5EF4-FFF2-40B4-BE49-F238E27FC236}">
                      <a16:creationId xmlns:a16="http://schemas.microsoft.com/office/drawing/2014/main" id="{74516859-8F47-B84C-1989-3462DD5D4A6C}"/>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7905881" y="5610345"/>
                  <a:ext cx="914400" cy="914400"/>
                </a:xfrm>
                <a:prstGeom prst="rect">
                  <a:avLst/>
                </a:prstGeom>
              </p:spPr>
            </p:pic>
            <p:grpSp>
              <p:nvGrpSpPr>
                <p:cNvPr id="403" name="Groupe 402">
                  <a:extLst>
                    <a:ext uri="{FF2B5EF4-FFF2-40B4-BE49-F238E27FC236}">
                      <a16:creationId xmlns:a16="http://schemas.microsoft.com/office/drawing/2014/main" id="{C151813F-181E-D0AB-43F0-C41AB57FB814}"/>
                    </a:ext>
                  </a:extLst>
                </p:cNvPr>
                <p:cNvGrpSpPr/>
                <p:nvPr/>
              </p:nvGrpSpPr>
              <p:grpSpPr>
                <a:xfrm>
                  <a:off x="9279050" y="5495508"/>
                  <a:ext cx="914400" cy="914400"/>
                  <a:chOff x="9251950" y="5495508"/>
                  <a:chExt cx="914400" cy="914400"/>
                </a:xfrm>
              </p:grpSpPr>
              <p:pic>
                <p:nvPicPr>
                  <p:cNvPr id="404" name="Graphique 403" descr="Tête avec engrenages avec un remplissage uni">
                    <a:extLst>
                      <a:ext uri="{FF2B5EF4-FFF2-40B4-BE49-F238E27FC236}">
                        <a16:creationId xmlns:a16="http://schemas.microsoft.com/office/drawing/2014/main" id="{539230C4-7747-4DF0-C945-83D623AD2A54}"/>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9251950" y="5495508"/>
                    <a:ext cx="914400" cy="914400"/>
                  </a:xfrm>
                  <a:prstGeom prst="rect">
                    <a:avLst/>
                  </a:prstGeom>
                </p:spPr>
              </p:pic>
              <p:sp>
                <p:nvSpPr>
                  <p:cNvPr id="405" name="Rectangle 404">
                    <a:extLst>
                      <a:ext uri="{FF2B5EF4-FFF2-40B4-BE49-F238E27FC236}">
                        <a16:creationId xmlns:a16="http://schemas.microsoft.com/office/drawing/2014/main" id="{D0644F5A-10F1-75F6-2F52-D5C97E574FCD}"/>
                      </a:ext>
                    </a:extLst>
                  </p:cNvPr>
                  <p:cNvSpPr/>
                  <p:nvPr/>
                </p:nvSpPr>
                <p:spPr>
                  <a:xfrm>
                    <a:off x="9453160" y="5700257"/>
                    <a:ext cx="402041" cy="33468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6" name="Rectangle 405">
                    <a:extLst>
                      <a:ext uri="{FF2B5EF4-FFF2-40B4-BE49-F238E27FC236}">
                        <a16:creationId xmlns:a16="http://schemas.microsoft.com/office/drawing/2014/main" id="{D094E56C-B1EA-13ED-4BE9-4C2102AAA258}"/>
                      </a:ext>
                    </a:extLst>
                  </p:cNvPr>
                  <p:cNvSpPr/>
                  <p:nvPr/>
                </p:nvSpPr>
                <p:spPr>
                  <a:xfrm>
                    <a:off x="9566945" y="5606948"/>
                    <a:ext cx="262408" cy="34576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grpSp>
          <p:nvGrpSpPr>
            <p:cNvPr id="337" name="Groupe 336">
              <a:extLst>
                <a:ext uri="{FF2B5EF4-FFF2-40B4-BE49-F238E27FC236}">
                  <a16:creationId xmlns:a16="http://schemas.microsoft.com/office/drawing/2014/main" id="{C369D8FB-0772-6063-AE0E-5ECE350E7BFD}"/>
                </a:ext>
              </a:extLst>
            </p:cNvPr>
            <p:cNvGrpSpPr/>
            <p:nvPr/>
          </p:nvGrpSpPr>
          <p:grpSpPr>
            <a:xfrm>
              <a:off x="9007128" y="3734067"/>
              <a:ext cx="1188000" cy="1172315"/>
              <a:chOff x="9979734" y="5177643"/>
              <a:chExt cx="1188000" cy="1172315"/>
            </a:xfrm>
          </p:grpSpPr>
          <p:sp>
            <p:nvSpPr>
              <p:cNvPr id="379" name="Rectangle 378">
                <a:extLst>
                  <a:ext uri="{FF2B5EF4-FFF2-40B4-BE49-F238E27FC236}">
                    <a16:creationId xmlns:a16="http://schemas.microsoft.com/office/drawing/2014/main" id="{25A43D6C-5B1E-1BAE-60E8-09C4D6A0E79E}"/>
                  </a:ext>
                </a:extLst>
              </p:cNvPr>
              <p:cNvSpPr/>
              <p:nvPr/>
            </p:nvSpPr>
            <p:spPr>
              <a:xfrm>
                <a:off x="9979734" y="5694208"/>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380" name="Groupe 379">
                <a:extLst>
                  <a:ext uri="{FF2B5EF4-FFF2-40B4-BE49-F238E27FC236}">
                    <a16:creationId xmlns:a16="http://schemas.microsoft.com/office/drawing/2014/main" id="{13E7B6A2-30B3-B13D-4C7D-ED093ACEE1A2}"/>
                  </a:ext>
                </a:extLst>
              </p:cNvPr>
              <p:cNvGrpSpPr/>
              <p:nvPr/>
            </p:nvGrpSpPr>
            <p:grpSpPr>
              <a:xfrm>
                <a:off x="10053885" y="5177643"/>
                <a:ext cx="1025143" cy="399185"/>
                <a:chOff x="6479122" y="1406591"/>
                <a:chExt cx="5241664" cy="1686141"/>
              </a:xfrm>
            </p:grpSpPr>
            <p:pic>
              <p:nvPicPr>
                <p:cNvPr id="381" name="Graphique 380" descr="Soucoupe volante avec un remplissage uni">
                  <a:extLst>
                    <a:ext uri="{FF2B5EF4-FFF2-40B4-BE49-F238E27FC236}">
                      <a16:creationId xmlns:a16="http://schemas.microsoft.com/office/drawing/2014/main" id="{27C6EC79-7C1B-44DB-A0C1-A0F54E851DDC}"/>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10806386" y="1406591"/>
                  <a:ext cx="914400" cy="914400"/>
                </a:xfrm>
                <a:prstGeom prst="rect">
                  <a:avLst/>
                </a:prstGeom>
              </p:spPr>
            </p:pic>
            <p:pic>
              <p:nvPicPr>
                <p:cNvPr id="382" name="Graphique 381" descr="Usine avec un remplissage uni">
                  <a:extLst>
                    <a:ext uri="{FF2B5EF4-FFF2-40B4-BE49-F238E27FC236}">
                      <a16:creationId xmlns:a16="http://schemas.microsoft.com/office/drawing/2014/main" id="{A4ECC241-DCEA-4EA3-E1DF-FEC5BA35E10E}"/>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8642754" y="1406591"/>
                  <a:ext cx="914400" cy="914400"/>
                </a:xfrm>
                <a:prstGeom prst="rect">
                  <a:avLst/>
                </a:prstGeom>
              </p:spPr>
            </p:pic>
            <p:pic>
              <p:nvPicPr>
                <p:cNvPr id="383" name="Graphique 382" descr="Pyramide avec un remplissage uni">
                  <a:extLst>
                    <a:ext uri="{FF2B5EF4-FFF2-40B4-BE49-F238E27FC236}">
                      <a16:creationId xmlns:a16="http://schemas.microsoft.com/office/drawing/2014/main" id="{8FD6F1E1-9CB2-F2F8-F092-558E80620B7D}"/>
                    </a:ext>
                  </a:extLst>
                </p:cNvPr>
                <p:cNvPicPr>
                  <a:picLocks noChangeAspect="1"/>
                </p:cNvPicPr>
                <p:nvPr/>
              </p:nvPicPr>
              <p:blipFill>
                <a:blip r:embed="rId74">
                  <a:extLst>
                    <a:ext uri="{28A0092B-C50C-407E-A947-70E740481C1C}">
                      <a14:useLocalDpi xmlns:a14="http://schemas.microsoft.com/office/drawing/2010/main" val="0"/>
                    </a:ext>
                    <a:ext uri="{96DAC541-7B7A-43D3-8B79-37D633B846F1}">
                      <asvg:svgBlip xmlns:asvg="http://schemas.microsoft.com/office/drawing/2016/SVG/main" r:embed="rId75"/>
                    </a:ext>
                  </a:extLst>
                </a:blip>
                <a:stretch>
                  <a:fillRect/>
                </a:stretch>
              </p:blipFill>
              <p:spPr>
                <a:xfrm>
                  <a:off x="6479122" y="1406591"/>
                  <a:ext cx="914400" cy="914400"/>
                </a:xfrm>
                <a:prstGeom prst="rect">
                  <a:avLst/>
                </a:prstGeom>
              </p:spPr>
            </p:pic>
            <p:pic>
              <p:nvPicPr>
                <p:cNvPr id="384" name="Graphique 383" descr="Bâtiment avec un remplissage uni">
                  <a:extLst>
                    <a:ext uri="{FF2B5EF4-FFF2-40B4-BE49-F238E27FC236}">
                      <a16:creationId xmlns:a16="http://schemas.microsoft.com/office/drawing/2014/main" id="{007C32A5-A805-605A-8CE2-90234CC4AFCF}"/>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9724570" y="2178332"/>
                  <a:ext cx="914400" cy="914400"/>
                </a:xfrm>
                <a:prstGeom prst="rect">
                  <a:avLst/>
                </a:prstGeom>
              </p:spPr>
            </p:pic>
            <p:pic>
              <p:nvPicPr>
                <p:cNvPr id="385" name="Graphique 384" descr="Scène de château avec un remplissage uni">
                  <a:extLst>
                    <a:ext uri="{FF2B5EF4-FFF2-40B4-BE49-F238E27FC236}">
                      <a16:creationId xmlns:a16="http://schemas.microsoft.com/office/drawing/2014/main" id="{2769F420-3C21-EB6B-463F-F297E060F65F}"/>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7560938" y="2178332"/>
                  <a:ext cx="914400" cy="914400"/>
                </a:xfrm>
                <a:prstGeom prst="rect">
                  <a:avLst/>
                </a:prstGeom>
              </p:spPr>
            </p:pic>
            <p:sp>
              <p:nvSpPr>
                <p:cNvPr id="386" name="Flèche : droite 385">
                  <a:extLst>
                    <a:ext uri="{FF2B5EF4-FFF2-40B4-BE49-F238E27FC236}">
                      <a16:creationId xmlns:a16="http://schemas.microsoft.com/office/drawing/2014/main" id="{9BF8A5C6-BBEA-73F9-63D6-738C7FE651FE}"/>
                    </a:ext>
                  </a:extLst>
                </p:cNvPr>
                <p:cNvSpPr/>
                <p:nvPr/>
              </p:nvSpPr>
              <p:spPr>
                <a:xfrm rot="2412443">
                  <a:off x="7420834" y="196308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7" name="Flèche : droite 386">
                  <a:extLst>
                    <a:ext uri="{FF2B5EF4-FFF2-40B4-BE49-F238E27FC236}">
                      <a16:creationId xmlns:a16="http://schemas.microsoft.com/office/drawing/2014/main" id="{99FAA284-3236-A67C-A13B-06A00107FB10}"/>
                    </a:ext>
                  </a:extLst>
                </p:cNvPr>
                <p:cNvSpPr/>
                <p:nvPr/>
              </p:nvSpPr>
              <p:spPr>
                <a:xfrm rot="19318800">
                  <a:off x="8295844"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8" name="Flèche : droite 387">
                  <a:extLst>
                    <a:ext uri="{FF2B5EF4-FFF2-40B4-BE49-F238E27FC236}">
                      <a16:creationId xmlns:a16="http://schemas.microsoft.com/office/drawing/2014/main" id="{AB02927D-3090-AA8E-6743-47404AB440AB}"/>
                    </a:ext>
                  </a:extLst>
                </p:cNvPr>
                <p:cNvSpPr/>
                <p:nvPr/>
              </p:nvSpPr>
              <p:spPr>
                <a:xfrm rot="19318800">
                  <a:off x="10452959"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9" name="Flèche : droite 388">
                  <a:extLst>
                    <a:ext uri="{FF2B5EF4-FFF2-40B4-BE49-F238E27FC236}">
                      <a16:creationId xmlns:a16="http://schemas.microsoft.com/office/drawing/2014/main" id="{5D7E0AB5-A991-EE30-78DA-8B6CCA6B2321}"/>
                    </a:ext>
                  </a:extLst>
                </p:cNvPr>
                <p:cNvSpPr/>
                <p:nvPr/>
              </p:nvSpPr>
              <p:spPr>
                <a:xfrm rot="2412443">
                  <a:off x="9514335" y="192072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338" name="Groupe 337">
              <a:extLst>
                <a:ext uri="{FF2B5EF4-FFF2-40B4-BE49-F238E27FC236}">
                  <a16:creationId xmlns:a16="http://schemas.microsoft.com/office/drawing/2014/main" id="{6649F97A-245D-F72E-AAA5-9083C501D4FB}"/>
                </a:ext>
              </a:extLst>
            </p:cNvPr>
            <p:cNvGrpSpPr/>
            <p:nvPr/>
          </p:nvGrpSpPr>
          <p:grpSpPr>
            <a:xfrm>
              <a:off x="3990377" y="5317467"/>
              <a:ext cx="1188000" cy="1351257"/>
              <a:chOff x="9927646" y="3089935"/>
              <a:chExt cx="1188000" cy="1351257"/>
            </a:xfrm>
          </p:grpSpPr>
          <p:sp>
            <p:nvSpPr>
              <p:cNvPr id="367" name="Rectangle 366">
                <a:extLst>
                  <a:ext uri="{FF2B5EF4-FFF2-40B4-BE49-F238E27FC236}">
                    <a16:creationId xmlns:a16="http://schemas.microsoft.com/office/drawing/2014/main" id="{9A6ECF24-C541-FD35-6BE4-3FA1D1C06626}"/>
                  </a:ext>
                </a:extLst>
              </p:cNvPr>
              <p:cNvSpPr/>
              <p:nvPr/>
            </p:nvSpPr>
            <p:spPr>
              <a:xfrm>
                <a:off x="9927646" y="3927569"/>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368" name="Groupe 367">
                <a:extLst>
                  <a:ext uri="{FF2B5EF4-FFF2-40B4-BE49-F238E27FC236}">
                    <a16:creationId xmlns:a16="http://schemas.microsoft.com/office/drawing/2014/main" id="{BF49C383-6D9C-1CC3-A9D5-197B368B36FE}"/>
                  </a:ext>
                </a:extLst>
              </p:cNvPr>
              <p:cNvGrpSpPr/>
              <p:nvPr/>
            </p:nvGrpSpPr>
            <p:grpSpPr>
              <a:xfrm>
                <a:off x="10028058" y="3089935"/>
                <a:ext cx="999718" cy="764069"/>
                <a:chOff x="7993201" y="3990786"/>
                <a:chExt cx="3083654" cy="2356787"/>
              </a:xfrm>
            </p:grpSpPr>
            <p:pic>
              <p:nvPicPr>
                <p:cNvPr id="369" name="Graphique 368" descr="Podcasting avec un remplissage uni">
                  <a:extLst>
                    <a:ext uri="{FF2B5EF4-FFF2-40B4-BE49-F238E27FC236}">
                      <a16:creationId xmlns:a16="http://schemas.microsoft.com/office/drawing/2014/main" id="{6C376688-6E58-12EC-1972-A9F54F66910D}"/>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7993201" y="3990786"/>
                  <a:ext cx="914400" cy="914400"/>
                </a:xfrm>
                <a:prstGeom prst="rect">
                  <a:avLst/>
                </a:prstGeom>
              </p:spPr>
            </p:pic>
            <p:pic>
              <p:nvPicPr>
                <p:cNvPr id="370" name="Graphique 369" descr="Vlog avec un remplissage uni">
                  <a:extLst>
                    <a:ext uri="{FF2B5EF4-FFF2-40B4-BE49-F238E27FC236}">
                      <a16:creationId xmlns:a16="http://schemas.microsoft.com/office/drawing/2014/main" id="{426AA3EC-ED5A-38B4-9DAB-2EDF91D7B259}"/>
                    </a:ext>
                  </a:extLst>
                </p:cNvPr>
                <p:cNvPicPr>
                  <a:picLocks noChangeAspect="1"/>
                </p:cNvPicPr>
                <p:nvPr/>
              </p:nvPicPr>
              <p:blipFill>
                <a:blip r:embed="rId82">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8000671" y="5433173"/>
                  <a:ext cx="914400" cy="914400"/>
                </a:xfrm>
                <a:prstGeom prst="rect">
                  <a:avLst/>
                </a:prstGeom>
              </p:spPr>
            </p:pic>
            <p:pic>
              <p:nvPicPr>
                <p:cNvPr id="371" name="Graphique 370" descr="Journal avec un remplissage uni">
                  <a:extLst>
                    <a:ext uri="{FF2B5EF4-FFF2-40B4-BE49-F238E27FC236}">
                      <a16:creationId xmlns:a16="http://schemas.microsoft.com/office/drawing/2014/main" id="{5F4EBBB3-D2F9-B6D7-5AA5-2D5B9043B941}"/>
                    </a:ext>
                  </a:extLst>
                </p:cNvPr>
                <p:cNvPicPr>
                  <a:picLocks noChangeAspect="1"/>
                </p:cNvPicPr>
                <p:nvPr/>
              </p:nvPicPr>
              <p:blipFill>
                <a:blip r:embed="rId84">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10162455" y="4013608"/>
                  <a:ext cx="914400" cy="914400"/>
                </a:xfrm>
                <a:prstGeom prst="rect">
                  <a:avLst/>
                </a:prstGeom>
              </p:spPr>
            </p:pic>
            <p:pic>
              <p:nvPicPr>
                <p:cNvPr id="372" name="Graphique 371" descr="Réseau en ligne avec un remplissage uni">
                  <a:extLst>
                    <a:ext uri="{FF2B5EF4-FFF2-40B4-BE49-F238E27FC236}">
                      <a16:creationId xmlns:a16="http://schemas.microsoft.com/office/drawing/2014/main" id="{B5920FE8-6EF5-6060-1207-F5E86F3338AD}"/>
                    </a:ext>
                  </a:extLst>
                </p:cNvPr>
                <p:cNvPicPr>
                  <a:picLocks noChangeAspect="1"/>
                </p:cNvPicPr>
                <p:nvPr/>
              </p:nvPicPr>
              <p:blipFill>
                <a:blip r:embed="rId86">
                  <a:extLst>
                    <a:ext uri="{28A0092B-C50C-407E-A947-70E740481C1C}">
                      <a14:useLocalDpi xmlns:a14="http://schemas.microsoft.com/office/drawing/2010/main" val="0"/>
                    </a:ext>
                    <a:ext uri="{96DAC541-7B7A-43D3-8B79-37D633B846F1}">
                      <asvg:svgBlip xmlns:asvg="http://schemas.microsoft.com/office/drawing/2016/SVG/main" r:embed="rId87"/>
                    </a:ext>
                  </a:extLst>
                </a:blip>
                <a:stretch>
                  <a:fillRect/>
                </a:stretch>
              </p:blipFill>
              <p:spPr>
                <a:xfrm>
                  <a:off x="10066135" y="5341229"/>
                  <a:ext cx="914400" cy="914400"/>
                </a:xfrm>
                <a:prstGeom prst="rect">
                  <a:avLst/>
                </a:prstGeom>
              </p:spPr>
            </p:pic>
            <p:grpSp>
              <p:nvGrpSpPr>
                <p:cNvPr id="373" name="Groupe 372">
                  <a:extLst>
                    <a:ext uri="{FF2B5EF4-FFF2-40B4-BE49-F238E27FC236}">
                      <a16:creationId xmlns:a16="http://schemas.microsoft.com/office/drawing/2014/main" id="{D915C675-C536-7EE3-350F-1CD175588C5F}"/>
                    </a:ext>
                  </a:extLst>
                </p:cNvPr>
                <p:cNvGrpSpPr/>
                <p:nvPr/>
              </p:nvGrpSpPr>
              <p:grpSpPr>
                <a:xfrm>
                  <a:off x="8632968" y="4529072"/>
                  <a:ext cx="1791083" cy="1287429"/>
                  <a:chOff x="8274918" y="4478329"/>
                  <a:chExt cx="1791083" cy="1287429"/>
                </a:xfrm>
              </p:grpSpPr>
              <p:pic>
                <p:nvPicPr>
                  <p:cNvPr id="374" name="Graphique 373" descr="Bâtiment avec un remplissage uni">
                    <a:extLst>
                      <a:ext uri="{FF2B5EF4-FFF2-40B4-BE49-F238E27FC236}">
                        <a16:creationId xmlns:a16="http://schemas.microsoft.com/office/drawing/2014/main" id="{1F490675-8AF8-135D-9CEC-467F79D7082B}"/>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8725807" y="4753283"/>
                    <a:ext cx="914400" cy="914400"/>
                  </a:xfrm>
                  <a:prstGeom prst="rect">
                    <a:avLst/>
                  </a:prstGeom>
                </p:spPr>
              </p:pic>
              <p:sp>
                <p:nvSpPr>
                  <p:cNvPr id="375" name="Flèche : droite 374">
                    <a:extLst>
                      <a:ext uri="{FF2B5EF4-FFF2-40B4-BE49-F238E27FC236}">
                        <a16:creationId xmlns:a16="http://schemas.microsoft.com/office/drawing/2014/main" id="{75DF7851-3280-74CC-6B92-3E4F5F5DD3A5}"/>
                      </a:ext>
                    </a:extLst>
                  </p:cNvPr>
                  <p:cNvSpPr/>
                  <p:nvPr/>
                </p:nvSpPr>
                <p:spPr>
                  <a:xfrm rot="19318800">
                    <a:off x="9688254" y="447832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6" name="Flèche : droite 375">
                    <a:extLst>
                      <a:ext uri="{FF2B5EF4-FFF2-40B4-BE49-F238E27FC236}">
                        <a16:creationId xmlns:a16="http://schemas.microsoft.com/office/drawing/2014/main" id="{9F31B575-E204-4C18-A570-369B48F7CC81}"/>
                      </a:ext>
                    </a:extLst>
                  </p:cNvPr>
                  <p:cNvSpPr/>
                  <p:nvPr/>
                </p:nvSpPr>
                <p:spPr>
                  <a:xfrm rot="2412443">
                    <a:off x="9689689" y="536291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7" name="Flèche : droite 376">
                    <a:extLst>
                      <a:ext uri="{FF2B5EF4-FFF2-40B4-BE49-F238E27FC236}">
                        <a16:creationId xmlns:a16="http://schemas.microsoft.com/office/drawing/2014/main" id="{694FDD83-1C39-DC7D-82F2-AD905F70B407}"/>
                      </a:ext>
                    </a:extLst>
                  </p:cNvPr>
                  <p:cNvSpPr/>
                  <p:nvPr/>
                </p:nvSpPr>
                <p:spPr>
                  <a:xfrm rot="8279483">
                    <a:off x="8287182" y="5362622"/>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8" name="Flèche : droite 377">
                    <a:extLst>
                      <a:ext uri="{FF2B5EF4-FFF2-40B4-BE49-F238E27FC236}">
                        <a16:creationId xmlns:a16="http://schemas.microsoft.com/office/drawing/2014/main" id="{5BD74230-9876-EFBF-FB46-6D8895CEB6AC}"/>
                      </a:ext>
                    </a:extLst>
                  </p:cNvPr>
                  <p:cNvSpPr/>
                  <p:nvPr/>
                </p:nvSpPr>
                <p:spPr>
                  <a:xfrm rot="13573193">
                    <a:off x="8288184" y="447896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grpSp>
          <p:nvGrpSpPr>
            <p:cNvPr id="339" name="Groupe 338">
              <a:extLst>
                <a:ext uri="{FF2B5EF4-FFF2-40B4-BE49-F238E27FC236}">
                  <a16:creationId xmlns:a16="http://schemas.microsoft.com/office/drawing/2014/main" id="{74111F78-5000-C0AA-FB51-C325889B5FA2}"/>
                </a:ext>
              </a:extLst>
            </p:cNvPr>
            <p:cNvGrpSpPr/>
            <p:nvPr/>
          </p:nvGrpSpPr>
          <p:grpSpPr>
            <a:xfrm>
              <a:off x="6469867" y="3519776"/>
              <a:ext cx="1188000" cy="1391043"/>
              <a:chOff x="6450988" y="4963473"/>
              <a:chExt cx="1188000" cy="1391043"/>
            </a:xfrm>
          </p:grpSpPr>
          <p:sp>
            <p:nvSpPr>
              <p:cNvPr id="361" name="Rectangle 360">
                <a:extLst>
                  <a:ext uri="{FF2B5EF4-FFF2-40B4-BE49-F238E27FC236}">
                    <a16:creationId xmlns:a16="http://schemas.microsoft.com/office/drawing/2014/main" id="{165631D3-6BA0-B055-498A-D6BD34DC54CE}"/>
                  </a:ext>
                </a:extLst>
              </p:cNvPr>
              <p:cNvSpPr/>
              <p:nvPr/>
            </p:nvSpPr>
            <p:spPr>
              <a:xfrm>
                <a:off x="6450988" y="5698766"/>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362" name="Groupe 361">
                <a:extLst>
                  <a:ext uri="{FF2B5EF4-FFF2-40B4-BE49-F238E27FC236}">
                    <a16:creationId xmlns:a16="http://schemas.microsoft.com/office/drawing/2014/main" id="{88F6FEA3-4428-6A85-7FC3-058785195B80}"/>
                  </a:ext>
                </a:extLst>
              </p:cNvPr>
              <p:cNvGrpSpPr/>
              <p:nvPr/>
            </p:nvGrpSpPr>
            <p:grpSpPr>
              <a:xfrm>
                <a:off x="6677241" y="4963473"/>
                <a:ext cx="730189" cy="610409"/>
                <a:chOff x="1734369" y="510800"/>
                <a:chExt cx="2873060" cy="2423359"/>
              </a:xfrm>
            </p:grpSpPr>
            <p:pic>
              <p:nvPicPr>
                <p:cNvPr id="363" name="Graphique 362" descr="Avertissement avec un remplissage uni">
                  <a:extLst>
                    <a:ext uri="{FF2B5EF4-FFF2-40B4-BE49-F238E27FC236}">
                      <a16:creationId xmlns:a16="http://schemas.microsoft.com/office/drawing/2014/main" id="{9391AA9E-DF6A-8165-1277-C399BEA3B450}"/>
                    </a:ext>
                  </a:extLst>
                </p:cNvPr>
                <p:cNvPicPr>
                  <a:picLocks noChangeAspect="1"/>
                </p:cNvPicPr>
                <p:nvPr/>
              </p:nvPicPr>
              <p:blipFill>
                <a:blip r:embed="rId88">
                  <a:extLst>
                    <a:ext uri="{28A0092B-C50C-407E-A947-70E740481C1C}">
                      <a14:useLocalDpi xmlns:a14="http://schemas.microsoft.com/office/drawing/2010/main" val="0"/>
                    </a:ext>
                    <a:ext uri="{96DAC541-7B7A-43D3-8B79-37D633B846F1}">
                      <asvg:svgBlip xmlns:asvg="http://schemas.microsoft.com/office/drawing/2016/SVG/main" r:embed="rId89"/>
                    </a:ext>
                  </a:extLst>
                </a:blip>
                <a:stretch>
                  <a:fillRect/>
                </a:stretch>
              </p:blipFill>
              <p:spPr>
                <a:xfrm>
                  <a:off x="1734369" y="1978134"/>
                  <a:ext cx="914400" cy="914400"/>
                </a:xfrm>
                <a:prstGeom prst="rect">
                  <a:avLst/>
                </a:prstGeom>
              </p:spPr>
            </p:pic>
            <p:pic>
              <p:nvPicPr>
                <p:cNvPr id="364" name="Graphique 363" descr="Chat avec un remplissage uni">
                  <a:extLst>
                    <a:ext uri="{FF2B5EF4-FFF2-40B4-BE49-F238E27FC236}">
                      <a16:creationId xmlns:a16="http://schemas.microsoft.com/office/drawing/2014/main" id="{2D8D1B41-2959-03A1-0D0F-E8A764628DAD}"/>
                    </a:ext>
                  </a:extLst>
                </p:cNvPr>
                <p:cNvPicPr>
                  <a:picLocks noChangeAspect="1"/>
                </p:cNvPicPr>
                <p:nvPr/>
              </p:nvPicPr>
              <p:blipFill>
                <a:blip r:embed="rId90">
                  <a:extLst>
                    <a:ext uri="{28A0092B-C50C-407E-A947-70E740481C1C}">
                      <a14:useLocalDpi xmlns:a14="http://schemas.microsoft.com/office/drawing/2010/main" val="0"/>
                    </a:ext>
                    <a:ext uri="{96DAC541-7B7A-43D3-8B79-37D633B846F1}">
                      <asvg:svgBlip xmlns:asvg="http://schemas.microsoft.com/office/drawing/2016/SVG/main" r:embed="rId91"/>
                    </a:ext>
                  </a:extLst>
                </a:blip>
                <a:stretch>
                  <a:fillRect/>
                </a:stretch>
              </p:blipFill>
              <p:spPr>
                <a:xfrm>
                  <a:off x="2713699" y="1562559"/>
                  <a:ext cx="914400" cy="914400"/>
                </a:xfrm>
                <a:prstGeom prst="rect">
                  <a:avLst/>
                </a:prstGeom>
              </p:spPr>
            </p:pic>
            <p:pic>
              <p:nvPicPr>
                <p:cNvPr id="365" name="Graphique 364" descr="Liste de contrôle avec un remplissage uni">
                  <a:extLst>
                    <a:ext uri="{FF2B5EF4-FFF2-40B4-BE49-F238E27FC236}">
                      <a16:creationId xmlns:a16="http://schemas.microsoft.com/office/drawing/2014/main" id="{4A587D4D-414E-BD8D-BC19-21DB20F10885}"/>
                    </a:ext>
                  </a:extLst>
                </p:cNvPr>
                <p:cNvPicPr>
                  <a:picLocks noChangeAspect="1"/>
                </p:cNvPicPr>
                <p:nvPr/>
              </p:nvPicPr>
              <p:blipFill>
                <a:blip r:embed="rId92">
                  <a:extLst>
                    <a:ext uri="{28A0092B-C50C-407E-A947-70E740481C1C}">
                      <a14:useLocalDpi xmlns:a14="http://schemas.microsoft.com/office/drawing/2010/main" val="0"/>
                    </a:ext>
                    <a:ext uri="{96DAC541-7B7A-43D3-8B79-37D633B846F1}">
                      <asvg:svgBlip xmlns:asvg="http://schemas.microsoft.com/office/drawing/2016/SVG/main" r:embed="rId93"/>
                    </a:ext>
                  </a:extLst>
                </a:blip>
                <a:stretch>
                  <a:fillRect/>
                </a:stretch>
              </p:blipFill>
              <p:spPr>
                <a:xfrm>
                  <a:off x="3693029" y="2019759"/>
                  <a:ext cx="914400" cy="914400"/>
                </a:xfrm>
                <a:prstGeom prst="rect">
                  <a:avLst/>
                </a:prstGeom>
              </p:spPr>
            </p:pic>
            <p:pic>
              <p:nvPicPr>
                <p:cNvPr id="366" name="Graphique 365" descr="Synchronisation avec le cloud avec un remplissage uni">
                  <a:extLst>
                    <a:ext uri="{FF2B5EF4-FFF2-40B4-BE49-F238E27FC236}">
                      <a16:creationId xmlns:a16="http://schemas.microsoft.com/office/drawing/2014/main" id="{BFFD63AE-36F3-D5D0-17DD-3AA75E41B6F0}"/>
                    </a:ext>
                  </a:extLst>
                </p:cNvPr>
                <p:cNvPicPr>
                  <a:picLocks noChangeAspect="1"/>
                </p:cNvPicPr>
                <p:nvPr/>
              </p:nvPicPr>
              <p:blipFill>
                <a:blip r:embed="rId94">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2778630" y="510800"/>
                  <a:ext cx="914400" cy="914400"/>
                </a:xfrm>
                <a:prstGeom prst="rect">
                  <a:avLst/>
                </a:prstGeom>
              </p:spPr>
            </p:pic>
          </p:grpSp>
        </p:grpSp>
        <p:grpSp>
          <p:nvGrpSpPr>
            <p:cNvPr id="340" name="Groupe 339">
              <a:extLst>
                <a:ext uri="{FF2B5EF4-FFF2-40B4-BE49-F238E27FC236}">
                  <a16:creationId xmlns:a16="http://schemas.microsoft.com/office/drawing/2014/main" id="{6EFA9813-E250-C182-1B0A-87C569F16EF4}"/>
                </a:ext>
              </a:extLst>
            </p:cNvPr>
            <p:cNvGrpSpPr/>
            <p:nvPr/>
          </p:nvGrpSpPr>
          <p:grpSpPr>
            <a:xfrm>
              <a:off x="7751397" y="3302928"/>
              <a:ext cx="1188000" cy="1607891"/>
              <a:chOff x="8188500" y="4755609"/>
              <a:chExt cx="1188000" cy="1607891"/>
            </a:xfrm>
          </p:grpSpPr>
          <p:sp>
            <p:nvSpPr>
              <p:cNvPr id="353" name="Rectangle 352">
                <a:extLst>
                  <a:ext uri="{FF2B5EF4-FFF2-40B4-BE49-F238E27FC236}">
                    <a16:creationId xmlns:a16="http://schemas.microsoft.com/office/drawing/2014/main" id="{46DB0E05-A9E0-F7BE-C66F-31657A68E17B}"/>
                  </a:ext>
                </a:extLst>
              </p:cNvPr>
              <p:cNvSpPr/>
              <p:nvPr/>
            </p:nvSpPr>
            <p:spPr>
              <a:xfrm>
                <a:off x="8188500" y="5707750"/>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354" name="Groupe 353">
                <a:extLst>
                  <a:ext uri="{FF2B5EF4-FFF2-40B4-BE49-F238E27FC236}">
                    <a16:creationId xmlns:a16="http://schemas.microsoft.com/office/drawing/2014/main" id="{9F772215-2187-CD5C-3649-E3BC56AAA7DB}"/>
                  </a:ext>
                </a:extLst>
              </p:cNvPr>
              <p:cNvGrpSpPr/>
              <p:nvPr/>
            </p:nvGrpSpPr>
            <p:grpSpPr>
              <a:xfrm>
                <a:off x="8302488" y="4755609"/>
                <a:ext cx="985193" cy="908867"/>
                <a:chOff x="1770451" y="635328"/>
                <a:chExt cx="2847387" cy="2660604"/>
              </a:xfrm>
            </p:grpSpPr>
            <p:sp>
              <p:nvSpPr>
                <p:cNvPr id="355" name="Ellipse 354">
                  <a:extLst>
                    <a:ext uri="{FF2B5EF4-FFF2-40B4-BE49-F238E27FC236}">
                      <a16:creationId xmlns:a16="http://schemas.microsoft.com/office/drawing/2014/main" id="{6B51C61F-8F4D-4D57-B959-BEE82EEEA076}"/>
                    </a:ext>
                  </a:extLst>
                </p:cNvPr>
                <p:cNvSpPr/>
                <p:nvPr/>
              </p:nvSpPr>
              <p:spPr>
                <a:xfrm>
                  <a:off x="2285862" y="956143"/>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356" name="Graphique 355" descr="Lunettes 3D avec un remplissage uni">
                  <a:extLst>
                    <a:ext uri="{FF2B5EF4-FFF2-40B4-BE49-F238E27FC236}">
                      <a16:creationId xmlns:a16="http://schemas.microsoft.com/office/drawing/2014/main" id="{8824DB12-59A3-F5EB-DBD3-993791DCA916}"/>
                    </a:ext>
                  </a:extLst>
                </p:cNvPr>
                <p:cNvPicPr>
                  <a:picLocks noChangeAspect="1"/>
                </p:cNvPicPr>
                <p:nvPr/>
              </p:nvPicPr>
              <p:blipFill>
                <a:blip r:embed="rId96">
                  <a:extLst>
                    <a:ext uri="{28A0092B-C50C-407E-A947-70E740481C1C}">
                      <a14:useLocalDpi xmlns:a14="http://schemas.microsoft.com/office/drawing/2010/main" val="0"/>
                    </a:ext>
                    <a:ext uri="{96DAC541-7B7A-43D3-8B79-37D633B846F1}">
                      <asvg:svgBlip xmlns:asvg="http://schemas.microsoft.com/office/drawing/2016/SVG/main" r:embed="rId97"/>
                    </a:ext>
                  </a:extLst>
                </a:blip>
                <a:stretch>
                  <a:fillRect/>
                </a:stretch>
              </p:blipFill>
              <p:spPr>
                <a:xfrm>
                  <a:off x="2339651" y="643202"/>
                  <a:ext cx="914400" cy="914400"/>
                </a:xfrm>
                <a:prstGeom prst="rect">
                  <a:avLst/>
                </a:prstGeom>
              </p:spPr>
            </p:pic>
            <p:pic>
              <p:nvPicPr>
                <p:cNvPr id="357" name="Graphique 356" descr="Mannequin test avec un remplissage uni">
                  <a:extLst>
                    <a:ext uri="{FF2B5EF4-FFF2-40B4-BE49-F238E27FC236}">
                      <a16:creationId xmlns:a16="http://schemas.microsoft.com/office/drawing/2014/main" id="{12BF51F2-30E6-E90A-5FE5-B4F1179DB41F}"/>
                    </a:ext>
                  </a:extLst>
                </p:cNvPr>
                <p:cNvPicPr>
                  <a:picLocks noChangeAspect="1"/>
                </p:cNvPicPr>
                <p:nvPr/>
              </p:nvPicPr>
              <p:blipFill>
                <a:blip r:embed="rId98">
                  <a:extLst>
                    <a:ext uri="{28A0092B-C50C-407E-A947-70E740481C1C}">
                      <a14:useLocalDpi xmlns:a14="http://schemas.microsoft.com/office/drawing/2010/main" val="0"/>
                    </a:ext>
                    <a:ext uri="{96DAC541-7B7A-43D3-8B79-37D633B846F1}">
                      <asvg:svgBlip xmlns:asvg="http://schemas.microsoft.com/office/drawing/2016/SVG/main" r:embed="rId99"/>
                    </a:ext>
                  </a:extLst>
                </a:blip>
                <a:stretch>
                  <a:fillRect/>
                </a:stretch>
              </p:blipFill>
              <p:spPr>
                <a:xfrm>
                  <a:off x="2825957" y="2381532"/>
                  <a:ext cx="914400" cy="914400"/>
                </a:xfrm>
                <a:prstGeom prst="rect">
                  <a:avLst/>
                </a:prstGeom>
              </p:spPr>
            </p:pic>
            <p:pic>
              <p:nvPicPr>
                <p:cNvPr id="358" name="Graphique 357" descr="Homme scientifique avec un remplissage uni">
                  <a:extLst>
                    <a:ext uri="{FF2B5EF4-FFF2-40B4-BE49-F238E27FC236}">
                      <a16:creationId xmlns:a16="http://schemas.microsoft.com/office/drawing/2014/main" id="{CD87D77B-2ADA-6509-873D-DE818EF013CE}"/>
                    </a:ext>
                  </a:extLst>
                </p:cNvPr>
                <p:cNvPicPr>
                  <a:picLocks noChangeAspect="1"/>
                </p:cNvPicPr>
                <p:nvPr/>
              </p:nvPicPr>
              <p:blipFill>
                <a:blip r:embed="rId100">
                  <a:extLst>
                    <a:ext uri="{28A0092B-C50C-407E-A947-70E740481C1C}">
                      <a14:useLocalDpi xmlns:a14="http://schemas.microsoft.com/office/drawing/2010/main" val="0"/>
                    </a:ext>
                    <a:ext uri="{96DAC541-7B7A-43D3-8B79-37D633B846F1}">
                      <asvg:svgBlip xmlns:asvg="http://schemas.microsoft.com/office/drawing/2016/SVG/main" r:embed="rId101"/>
                    </a:ext>
                  </a:extLst>
                </a:blip>
                <a:stretch>
                  <a:fillRect/>
                </a:stretch>
              </p:blipFill>
              <p:spPr>
                <a:xfrm>
                  <a:off x="3612503" y="635328"/>
                  <a:ext cx="914400" cy="914400"/>
                </a:xfrm>
                <a:prstGeom prst="rect">
                  <a:avLst/>
                </a:prstGeom>
              </p:spPr>
            </p:pic>
            <p:pic>
              <p:nvPicPr>
                <p:cNvPr id="359" name="Graphique 358" descr="Presse-papiers mixte avec un remplissage uni">
                  <a:extLst>
                    <a:ext uri="{FF2B5EF4-FFF2-40B4-BE49-F238E27FC236}">
                      <a16:creationId xmlns:a16="http://schemas.microsoft.com/office/drawing/2014/main" id="{DD3114DD-48AB-B665-A343-E4E2AC481917}"/>
                    </a:ext>
                  </a:extLst>
                </p:cNvPr>
                <p:cNvPicPr>
                  <a:picLocks noChangeAspect="1"/>
                </p:cNvPicPr>
                <p:nvPr/>
              </p:nvPicPr>
              <p:blipFill>
                <a:blip r:embed="rId102">
                  <a:extLst>
                    <a:ext uri="{28A0092B-C50C-407E-A947-70E740481C1C}">
                      <a14:useLocalDpi xmlns:a14="http://schemas.microsoft.com/office/drawing/2010/main" val="0"/>
                    </a:ext>
                    <a:ext uri="{96DAC541-7B7A-43D3-8B79-37D633B846F1}">
                      <asvg:svgBlip xmlns:asvg="http://schemas.microsoft.com/office/drawing/2016/SVG/main" r:embed="rId103"/>
                    </a:ext>
                  </a:extLst>
                </a:blip>
                <a:stretch>
                  <a:fillRect/>
                </a:stretch>
              </p:blipFill>
              <p:spPr>
                <a:xfrm>
                  <a:off x="3703438" y="1819176"/>
                  <a:ext cx="914400" cy="914400"/>
                </a:xfrm>
                <a:prstGeom prst="rect">
                  <a:avLst/>
                </a:prstGeom>
              </p:spPr>
            </p:pic>
            <p:pic>
              <p:nvPicPr>
                <p:cNvPr id="360" name="Graphique 359" descr="Brainstorming de groupe avec un remplissage uni">
                  <a:extLst>
                    <a:ext uri="{FF2B5EF4-FFF2-40B4-BE49-F238E27FC236}">
                      <a16:creationId xmlns:a16="http://schemas.microsoft.com/office/drawing/2014/main" id="{2BABD3D1-6921-9C92-2EE9-AAC2E8333B8E}"/>
                    </a:ext>
                  </a:extLst>
                </p:cNvPr>
                <p:cNvPicPr>
                  <a:picLocks noChangeAspect="1"/>
                </p:cNvPicPr>
                <p:nvPr/>
              </p:nvPicPr>
              <p:blipFill>
                <a:blip r:embed="rId104">
                  <a:extLst>
                    <a:ext uri="{28A0092B-C50C-407E-A947-70E740481C1C}">
                      <a14:useLocalDpi xmlns:a14="http://schemas.microsoft.com/office/drawing/2010/main" val="0"/>
                    </a:ext>
                    <a:ext uri="{96DAC541-7B7A-43D3-8B79-37D633B846F1}">
                      <asvg:svgBlip xmlns:asvg="http://schemas.microsoft.com/office/drawing/2016/SVG/main" r:embed="rId105"/>
                    </a:ext>
                  </a:extLst>
                </a:blip>
                <a:stretch>
                  <a:fillRect/>
                </a:stretch>
              </p:blipFill>
              <p:spPr>
                <a:xfrm>
                  <a:off x="1770451" y="1557602"/>
                  <a:ext cx="914400" cy="914400"/>
                </a:xfrm>
                <a:prstGeom prst="rect">
                  <a:avLst/>
                </a:prstGeom>
              </p:spPr>
            </p:pic>
          </p:grpSp>
        </p:grpSp>
        <p:grpSp>
          <p:nvGrpSpPr>
            <p:cNvPr id="341" name="Groupe 340">
              <a:extLst>
                <a:ext uri="{FF2B5EF4-FFF2-40B4-BE49-F238E27FC236}">
                  <a16:creationId xmlns:a16="http://schemas.microsoft.com/office/drawing/2014/main" id="{4C21C35A-B1F0-5D40-72BB-3BEB61488535}"/>
                </a:ext>
              </a:extLst>
            </p:cNvPr>
            <p:cNvGrpSpPr/>
            <p:nvPr/>
          </p:nvGrpSpPr>
          <p:grpSpPr>
            <a:xfrm>
              <a:off x="2742113" y="5586548"/>
              <a:ext cx="1188000" cy="1082176"/>
              <a:chOff x="8224358" y="3342553"/>
              <a:chExt cx="1188000" cy="1082176"/>
            </a:xfrm>
          </p:grpSpPr>
          <p:sp>
            <p:nvSpPr>
              <p:cNvPr id="348" name="Rectangle 347">
                <a:extLst>
                  <a:ext uri="{FF2B5EF4-FFF2-40B4-BE49-F238E27FC236}">
                    <a16:creationId xmlns:a16="http://schemas.microsoft.com/office/drawing/2014/main" id="{8F14F21D-4CA5-58D7-C3FD-A0C7856F9C73}"/>
                  </a:ext>
                </a:extLst>
              </p:cNvPr>
              <p:cNvSpPr/>
              <p:nvPr/>
            </p:nvSpPr>
            <p:spPr>
              <a:xfrm>
                <a:off x="8224358" y="3911106"/>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349" name="Groupe 348">
                <a:extLst>
                  <a:ext uri="{FF2B5EF4-FFF2-40B4-BE49-F238E27FC236}">
                    <a16:creationId xmlns:a16="http://schemas.microsoft.com/office/drawing/2014/main" id="{849D66D6-7DA9-B20E-D223-98E2BF7A06A9}"/>
                  </a:ext>
                </a:extLst>
              </p:cNvPr>
              <p:cNvGrpSpPr/>
              <p:nvPr/>
            </p:nvGrpSpPr>
            <p:grpSpPr>
              <a:xfrm>
                <a:off x="8256771" y="3342553"/>
                <a:ext cx="1126180" cy="424682"/>
                <a:chOff x="1677224" y="4399902"/>
                <a:chExt cx="3984628" cy="1541940"/>
              </a:xfrm>
            </p:grpSpPr>
            <p:pic>
              <p:nvPicPr>
                <p:cNvPr id="350" name="Graphique 349" descr="Poignée de main avec un remplissage uni">
                  <a:extLst>
                    <a:ext uri="{FF2B5EF4-FFF2-40B4-BE49-F238E27FC236}">
                      <a16:creationId xmlns:a16="http://schemas.microsoft.com/office/drawing/2014/main" id="{901782DA-92F7-268A-8A1C-86478859B44D}"/>
                    </a:ext>
                  </a:extLst>
                </p:cNvPr>
                <p:cNvPicPr>
                  <a:picLocks noChangeAspect="1"/>
                </p:cNvPicPr>
                <p:nvPr/>
              </p:nvPicPr>
              <p:blipFill>
                <a:blip r:embed="rId106">
                  <a:extLst>
                    <a:ext uri="{28A0092B-C50C-407E-A947-70E740481C1C}">
                      <a14:useLocalDpi xmlns:a14="http://schemas.microsoft.com/office/drawing/2010/main" val="0"/>
                    </a:ext>
                    <a:ext uri="{96DAC541-7B7A-43D3-8B79-37D633B846F1}">
                      <asvg:svgBlip xmlns:asvg="http://schemas.microsoft.com/office/drawing/2016/SVG/main" r:embed="rId107"/>
                    </a:ext>
                  </a:extLst>
                </a:blip>
                <a:stretch>
                  <a:fillRect/>
                </a:stretch>
              </p:blipFill>
              <p:spPr>
                <a:xfrm>
                  <a:off x="1677224" y="4473520"/>
                  <a:ext cx="1394705" cy="1394705"/>
                </a:xfrm>
                <a:prstGeom prst="rect">
                  <a:avLst/>
                </a:prstGeom>
              </p:spPr>
            </p:pic>
            <p:pic>
              <p:nvPicPr>
                <p:cNvPr id="351" name="Graphique 350" descr="Contrat avec un remplissage uni">
                  <a:extLst>
                    <a:ext uri="{FF2B5EF4-FFF2-40B4-BE49-F238E27FC236}">
                      <a16:creationId xmlns:a16="http://schemas.microsoft.com/office/drawing/2014/main" id="{0C1C0666-2BED-4C01-15B4-10D74334ADA7}"/>
                    </a:ext>
                  </a:extLst>
                </p:cNvPr>
                <p:cNvPicPr>
                  <a:picLocks noChangeAspect="1"/>
                </p:cNvPicPr>
                <p:nvPr/>
              </p:nvPicPr>
              <p:blipFill>
                <a:blip r:embed="rId108">
                  <a:extLst>
                    <a:ext uri="{28A0092B-C50C-407E-A947-70E740481C1C}">
                      <a14:useLocalDpi xmlns:a14="http://schemas.microsoft.com/office/drawing/2010/main" val="0"/>
                    </a:ext>
                    <a:ext uri="{96DAC541-7B7A-43D3-8B79-37D633B846F1}">
                      <asvg:svgBlip xmlns:asvg="http://schemas.microsoft.com/office/drawing/2016/SVG/main" r:embed="rId109"/>
                    </a:ext>
                  </a:extLst>
                </a:blip>
                <a:stretch>
                  <a:fillRect/>
                </a:stretch>
              </p:blipFill>
              <p:spPr>
                <a:xfrm>
                  <a:off x="3003278" y="4578031"/>
                  <a:ext cx="1185682" cy="1185682"/>
                </a:xfrm>
                <a:prstGeom prst="rect">
                  <a:avLst/>
                </a:prstGeom>
              </p:spPr>
            </p:pic>
            <p:pic>
              <p:nvPicPr>
                <p:cNvPr id="352" name="Graphique 351" descr="Tendance à la hausse avec un remplissage uni">
                  <a:extLst>
                    <a:ext uri="{FF2B5EF4-FFF2-40B4-BE49-F238E27FC236}">
                      <a16:creationId xmlns:a16="http://schemas.microsoft.com/office/drawing/2014/main" id="{C2266C3F-CB64-35C9-E681-942B04E8E27E}"/>
                    </a:ext>
                  </a:extLst>
                </p:cNvPr>
                <p:cNvPicPr>
                  <a:picLocks noChangeAspect="1"/>
                </p:cNvPicPr>
                <p:nvPr/>
              </p:nvPicPr>
              <p:blipFill>
                <a:blip r:embed="rId110">
                  <a:extLst>
                    <a:ext uri="{28A0092B-C50C-407E-A947-70E740481C1C}">
                      <a14:useLocalDpi xmlns:a14="http://schemas.microsoft.com/office/drawing/2010/main" val="0"/>
                    </a:ext>
                    <a:ext uri="{96DAC541-7B7A-43D3-8B79-37D633B846F1}">
                      <asvg:svgBlip xmlns:asvg="http://schemas.microsoft.com/office/drawing/2016/SVG/main" r:embed="rId111"/>
                    </a:ext>
                  </a:extLst>
                </a:blip>
                <a:stretch>
                  <a:fillRect/>
                </a:stretch>
              </p:blipFill>
              <p:spPr>
                <a:xfrm>
                  <a:off x="4119912" y="4399902"/>
                  <a:ext cx="1541940" cy="1541940"/>
                </a:xfrm>
                <a:prstGeom prst="rect">
                  <a:avLst/>
                </a:prstGeom>
              </p:spPr>
            </p:pic>
          </p:grpSp>
        </p:grpSp>
        <p:sp>
          <p:nvSpPr>
            <p:cNvPr id="342" name="Rectangle 341">
              <a:extLst>
                <a:ext uri="{FF2B5EF4-FFF2-40B4-BE49-F238E27FC236}">
                  <a16:creationId xmlns:a16="http://schemas.microsoft.com/office/drawing/2014/main" id="{5665BCD0-44DE-33DD-9FAE-238E66D75174}"/>
                </a:ext>
              </a:extLst>
            </p:cNvPr>
            <p:cNvSpPr/>
            <p:nvPr/>
          </p:nvSpPr>
          <p:spPr>
            <a:xfrm>
              <a:off x="11017762" y="4274856"/>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pic>
          <p:nvPicPr>
            <p:cNvPr id="343" name="Graphique 342" descr="Bâtiment avec un remplissage uni">
              <a:extLst>
                <a:ext uri="{FF2B5EF4-FFF2-40B4-BE49-F238E27FC236}">
                  <a16:creationId xmlns:a16="http://schemas.microsoft.com/office/drawing/2014/main" id="{627D908B-A2E3-5D91-C7EC-C5C43B896E04}"/>
                </a:ext>
              </a:extLst>
            </p:cNvPr>
            <p:cNvPicPr>
              <a:picLocks noChangeAspect="1"/>
            </p:cNvPicPr>
            <p:nvPr/>
          </p:nvPicPr>
          <p:blipFill>
            <a:blip r:embed="rId112">
              <a:extLst>
                <a:ext uri="{28A0092B-C50C-407E-A947-70E740481C1C}">
                  <a14:useLocalDpi xmlns:a14="http://schemas.microsoft.com/office/drawing/2010/main" val="0"/>
                </a:ext>
                <a:ext uri="{96DAC541-7B7A-43D3-8B79-37D633B846F1}">
                  <asvg:svgBlip xmlns:asvg="http://schemas.microsoft.com/office/drawing/2016/SVG/main" r:embed="rId113"/>
                </a:ext>
              </a:extLst>
            </a:blip>
            <a:stretch>
              <a:fillRect/>
            </a:stretch>
          </p:blipFill>
          <p:spPr>
            <a:xfrm>
              <a:off x="11314907" y="3608955"/>
              <a:ext cx="593709" cy="593709"/>
            </a:xfrm>
            <a:prstGeom prst="rect">
              <a:avLst/>
            </a:prstGeom>
          </p:spPr>
        </p:pic>
        <p:pic>
          <p:nvPicPr>
            <p:cNvPr id="344" name="Graphique 343" descr="Croissance de l'activité avec un remplissage uni">
              <a:extLst>
                <a:ext uri="{FF2B5EF4-FFF2-40B4-BE49-F238E27FC236}">
                  <a16:creationId xmlns:a16="http://schemas.microsoft.com/office/drawing/2014/main" id="{E7808769-DC5F-9886-66DB-810FBC578EBB}"/>
                </a:ext>
              </a:extLst>
            </p:cNvPr>
            <p:cNvPicPr>
              <a:picLocks noChangeAspect="1"/>
            </p:cNvPicPr>
            <p:nvPr/>
          </p:nvPicPr>
          <p:blipFill>
            <a:blip r:embed="rId114">
              <a:extLst>
                <a:ext uri="{28A0092B-C50C-407E-A947-70E740481C1C}">
                  <a14:useLocalDpi xmlns:a14="http://schemas.microsoft.com/office/drawing/2010/main" val="0"/>
                </a:ext>
                <a:ext uri="{96DAC541-7B7A-43D3-8B79-37D633B846F1}">
                  <asvg:svgBlip xmlns:asvg="http://schemas.microsoft.com/office/drawing/2016/SVG/main" r:embed="rId115"/>
                </a:ext>
              </a:extLst>
            </a:blip>
            <a:stretch>
              <a:fillRect/>
            </a:stretch>
          </p:blipFill>
          <p:spPr>
            <a:xfrm>
              <a:off x="2964897" y="1601511"/>
              <a:ext cx="785986" cy="785986"/>
            </a:xfrm>
            <a:prstGeom prst="rect">
              <a:avLst/>
            </a:prstGeom>
          </p:spPr>
        </p:pic>
        <p:pic>
          <p:nvPicPr>
            <p:cNvPr id="345" name="Graphique 344" descr="Tendance à la hausse avec un remplissage uni">
              <a:extLst>
                <a:ext uri="{FF2B5EF4-FFF2-40B4-BE49-F238E27FC236}">
                  <a16:creationId xmlns:a16="http://schemas.microsoft.com/office/drawing/2014/main" id="{BC932095-A831-EC6D-9B6C-6DCC4A851E04}"/>
                </a:ext>
              </a:extLst>
            </p:cNvPr>
            <p:cNvPicPr>
              <a:picLocks noChangeAspect="1"/>
            </p:cNvPicPr>
            <p:nvPr/>
          </p:nvPicPr>
          <p:blipFill>
            <a:blip r:embed="rId116">
              <a:extLst>
                <a:ext uri="{28A0092B-C50C-407E-A947-70E740481C1C}">
                  <a14:useLocalDpi xmlns:a14="http://schemas.microsoft.com/office/drawing/2010/main" val="0"/>
                </a:ext>
                <a:ext uri="{96DAC541-7B7A-43D3-8B79-37D633B846F1}">
                  <asvg:svgBlip xmlns:asvg="http://schemas.microsoft.com/office/drawing/2016/SVG/main" r:embed="rId117"/>
                </a:ext>
              </a:extLst>
            </a:blip>
            <a:stretch>
              <a:fillRect/>
            </a:stretch>
          </p:blipFill>
          <p:spPr>
            <a:xfrm>
              <a:off x="1200708" y="5559693"/>
              <a:ext cx="890780" cy="868055"/>
            </a:xfrm>
            <a:prstGeom prst="rect">
              <a:avLst/>
            </a:prstGeom>
          </p:spPr>
        </p:pic>
        <p:pic>
          <p:nvPicPr>
            <p:cNvPr id="346" name="Graphique 345" descr="Tableau décisionnel avec un remplissage uni">
              <a:extLst>
                <a:ext uri="{FF2B5EF4-FFF2-40B4-BE49-F238E27FC236}">
                  <a16:creationId xmlns:a16="http://schemas.microsoft.com/office/drawing/2014/main" id="{D88A5868-976F-74D8-B9A2-344D8783A723}"/>
                </a:ext>
              </a:extLst>
            </p:cNvPr>
            <p:cNvPicPr>
              <a:picLocks noChangeAspect="1"/>
            </p:cNvPicPr>
            <p:nvPr/>
          </p:nvPicPr>
          <p:blipFill>
            <a:blip r:embed="rId118">
              <a:extLst>
                <a:ext uri="{28A0092B-C50C-407E-A947-70E740481C1C}">
                  <a14:useLocalDpi xmlns:a14="http://schemas.microsoft.com/office/drawing/2010/main" val="0"/>
                </a:ext>
                <a:ext uri="{96DAC541-7B7A-43D3-8B79-37D633B846F1}">
                  <asvg:svgBlip xmlns:asvg="http://schemas.microsoft.com/office/drawing/2016/SVG/main" r:embed="rId119"/>
                </a:ext>
              </a:extLst>
            </a:blip>
            <a:stretch>
              <a:fillRect/>
            </a:stretch>
          </p:blipFill>
          <p:spPr>
            <a:xfrm>
              <a:off x="1301139" y="3665496"/>
              <a:ext cx="762463" cy="762463"/>
            </a:xfrm>
            <a:prstGeom prst="rect">
              <a:avLst/>
            </a:prstGeom>
          </p:spPr>
        </p:pic>
        <p:pic>
          <p:nvPicPr>
            <p:cNvPr id="347" name="Graphique 346" descr="Croissance de l'activité avec un remplissage uni">
              <a:extLst>
                <a:ext uri="{FF2B5EF4-FFF2-40B4-BE49-F238E27FC236}">
                  <a16:creationId xmlns:a16="http://schemas.microsoft.com/office/drawing/2014/main" id="{5873E6E4-1631-8E3A-6230-DB0E5C952CD2}"/>
                </a:ext>
              </a:extLst>
            </p:cNvPr>
            <p:cNvPicPr>
              <a:picLocks noChangeAspect="1"/>
            </p:cNvPicPr>
            <p:nvPr/>
          </p:nvPicPr>
          <p:blipFill>
            <a:blip r:embed="rId120">
              <a:extLst>
                <a:ext uri="{28A0092B-C50C-407E-A947-70E740481C1C}">
                  <a14:useLocalDpi xmlns:a14="http://schemas.microsoft.com/office/drawing/2010/main" val="0"/>
                </a:ext>
                <a:ext uri="{96DAC541-7B7A-43D3-8B79-37D633B846F1}">
                  <asvg:svgBlip xmlns:asvg="http://schemas.microsoft.com/office/drawing/2016/SVG/main" r:embed="rId121"/>
                </a:ext>
              </a:extLst>
            </a:blip>
            <a:stretch>
              <a:fillRect/>
            </a:stretch>
          </p:blipFill>
          <p:spPr>
            <a:xfrm>
              <a:off x="1331697" y="1883025"/>
              <a:ext cx="785986" cy="785986"/>
            </a:xfrm>
            <a:prstGeom prst="rect">
              <a:avLst/>
            </a:prstGeom>
          </p:spPr>
        </p:pic>
      </p:grpSp>
      <p:grpSp>
        <p:nvGrpSpPr>
          <p:cNvPr id="190" name="Groupe 189">
            <a:extLst>
              <a:ext uri="{FF2B5EF4-FFF2-40B4-BE49-F238E27FC236}">
                <a16:creationId xmlns:a16="http://schemas.microsoft.com/office/drawing/2014/main" id="{61CA7547-57E0-3356-5479-E12FB03652D2}"/>
              </a:ext>
            </a:extLst>
          </p:cNvPr>
          <p:cNvGrpSpPr/>
          <p:nvPr/>
        </p:nvGrpSpPr>
        <p:grpSpPr>
          <a:xfrm>
            <a:off x="5206125" y="1739544"/>
            <a:ext cx="3018712" cy="1325563"/>
            <a:chOff x="546683" y="1690688"/>
            <a:chExt cx="11232858" cy="4932522"/>
          </a:xfrm>
        </p:grpSpPr>
        <p:sp>
          <p:nvSpPr>
            <p:cNvPr id="191" name="Ellipse 190">
              <a:extLst>
                <a:ext uri="{FF2B5EF4-FFF2-40B4-BE49-F238E27FC236}">
                  <a16:creationId xmlns:a16="http://schemas.microsoft.com/office/drawing/2014/main" id="{38B8C6D1-E90E-F91B-5132-1A745D54A6BC}"/>
                </a:ext>
              </a:extLst>
            </p:cNvPr>
            <p:cNvSpPr/>
            <p:nvPr/>
          </p:nvSpPr>
          <p:spPr>
            <a:xfrm>
              <a:off x="546683" y="1690688"/>
              <a:ext cx="11232858" cy="4932522"/>
            </a:xfrm>
            <a:prstGeom prst="ellipse">
              <a:avLst/>
            </a:prstGeom>
            <a:solidFill>
              <a:srgbClr val="54FFB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2" name="Ellipse 191">
              <a:extLst>
                <a:ext uri="{FF2B5EF4-FFF2-40B4-BE49-F238E27FC236}">
                  <a16:creationId xmlns:a16="http://schemas.microsoft.com/office/drawing/2014/main" id="{4D197ED6-4FA1-5F4A-394D-D848958188BD}"/>
                </a:ext>
              </a:extLst>
            </p:cNvPr>
            <p:cNvSpPr/>
            <p:nvPr/>
          </p:nvSpPr>
          <p:spPr>
            <a:xfrm>
              <a:off x="4149298" y="2449385"/>
              <a:ext cx="7630243" cy="3350558"/>
            </a:xfrm>
            <a:prstGeom prst="ellipse">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 name="Ellipse 192">
              <a:extLst>
                <a:ext uri="{FF2B5EF4-FFF2-40B4-BE49-F238E27FC236}">
                  <a16:creationId xmlns:a16="http://schemas.microsoft.com/office/drawing/2014/main" id="{D4A3773D-5181-4D45-FF04-2D1A22A6742C}"/>
                </a:ext>
              </a:extLst>
            </p:cNvPr>
            <p:cNvSpPr/>
            <p:nvPr/>
          </p:nvSpPr>
          <p:spPr>
            <a:xfrm>
              <a:off x="7292282" y="3233906"/>
              <a:ext cx="4017625" cy="186609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194" name="Graphique 193" descr="Bâtiment avec un remplissage uni">
            <a:extLst>
              <a:ext uri="{FF2B5EF4-FFF2-40B4-BE49-F238E27FC236}">
                <a16:creationId xmlns:a16="http://schemas.microsoft.com/office/drawing/2014/main" id="{C9C51B6E-6DBF-8E83-F36D-72DB74280A2D}"/>
              </a:ext>
            </a:extLst>
          </p:cNvPr>
          <p:cNvPicPr>
            <a:picLocks noChangeAspect="1"/>
          </p:cNvPicPr>
          <p:nvPr/>
        </p:nvPicPr>
        <p:blipFill>
          <a:blip r:embed="rId122">
            <a:extLst>
              <a:ext uri="{28A0092B-C50C-407E-A947-70E740481C1C}">
                <a14:useLocalDpi xmlns:a14="http://schemas.microsoft.com/office/drawing/2010/main" val="0"/>
              </a:ext>
              <a:ext uri="{96DAC541-7B7A-43D3-8B79-37D633B846F1}">
                <asvg:svgBlip xmlns:asvg="http://schemas.microsoft.com/office/drawing/2016/SVG/main" r:embed="rId123"/>
              </a:ext>
            </a:extLst>
          </a:blip>
          <a:stretch>
            <a:fillRect/>
          </a:stretch>
        </p:blipFill>
        <p:spPr>
          <a:xfrm>
            <a:off x="7620693" y="1268693"/>
            <a:ext cx="688521" cy="688521"/>
          </a:xfrm>
          <a:prstGeom prst="rect">
            <a:avLst/>
          </a:prstGeom>
        </p:spPr>
      </p:pic>
      <p:sp>
        <p:nvSpPr>
          <p:cNvPr id="130" name="ZoneTexte 129">
            <a:extLst>
              <a:ext uri="{FF2B5EF4-FFF2-40B4-BE49-F238E27FC236}">
                <a16:creationId xmlns:a16="http://schemas.microsoft.com/office/drawing/2014/main" id="{CCE1906C-EAD8-0902-1BD1-4CA7DA71348F}"/>
              </a:ext>
            </a:extLst>
          </p:cNvPr>
          <p:cNvSpPr txBox="1"/>
          <p:nvPr/>
        </p:nvSpPr>
        <p:spPr>
          <a:xfrm>
            <a:off x="1096188" y="4215479"/>
            <a:ext cx="2880348" cy="2308324"/>
          </a:xfrm>
          <a:prstGeom prst="rect">
            <a:avLst/>
          </a:prstGeom>
          <a:noFill/>
        </p:spPr>
        <p:txBody>
          <a:bodyPr wrap="square">
            <a:spAutoFit/>
          </a:bodyPr>
          <a:lstStyle/>
          <a:p>
            <a:pPr algn="ctr"/>
            <a:r>
              <a:rPr lang="fr-FR" dirty="0"/>
              <a:t>Une Communauté d’entreprise </a:t>
            </a:r>
            <a:r>
              <a:rPr lang="fr-FR" b="1" dirty="0">
                <a:solidFill>
                  <a:srgbClr val="ED7D31"/>
                </a:solidFill>
              </a:rPr>
              <a:t>peut avoir des effets positifs sur différentes fonctions d’entreprise </a:t>
            </a:r>
            <a:r>
              <a:rPr lang="fr-FR" dirty="0"/>
              <a:t>comme souvent sur des fonctions RH, Opérationnelles ou commerciales.</a:t>
            </a:r>
          </a:p>
        </p:txBody>
      </p:sp>
      <p:sp>
        <p:nvSpPr>
          <p:cNvPr id="131" name="ZoneTexte 130">
            <a:extLst>
              <a:ext uri="{FF2B5EF4-FFF2-40B4-BE49-F238E27FC236}">
                <a16:creationId xmlns:a16="http://schemas.microsoft.com/office/drawing/2014/main" id="{CEBE293F-5784-01A0-E677-112608849B29}"/>
              </a:ext>
            </a:extLst>
          </p:cNvPr>
          <p:cNvSpPr txBox="1"/>
          <p:nvPr/>
        </p:nvSpPr>
        <p:spPr>
          <a:xfrm>
            <a:off x="5113190" y="4215479"/>
            <a:ext cx="2880348" cy="2585323"/>
          </a:xfrm>
          <a:prstGeom prst="rect">
            <a:avLst/>
          </a:prstGeom>
          <a:noFill/>
        </p:spPr>
        <p:txBody>
          <a:bodyPr wrap="square">
            <a:spAutoFit/>
          </a:bodyPr>
          <a:lstStyle/>
          <a:p>
            <a:pPr algn="ctr"/>
            <a:r>
              <a:rPr lang="fr-FR" dirty="0"/>
              <a:t>Les effets positifs d’une Communauté d’entreprise pour l’entreprise ne sont </a:t>
            </a:r>
            <a:r>
              <a:rPr lang="fr-FR" b="1" dirty="0"/>
              <a:t>pas tous facilement observables :</a:t>
            </a:r>
            <a:r>
              <a:rPr lang="fr-FR" dirty="0"/>
              <a:t> parmi les facilement observables, </a:t>
            </a:r>
            <a:r>
              <a:rPr lang="fr-FR" b="1" dirty="0">
                <a:solidFill>
                  <a:srgbClr val="ED7D31"/>
                </a:solidFill>
              </a:rPr>
              <a:t>seuls certains peuvent faire l’objet de KPI</a:t>
            </a:r>
            <a:r>
              <a:rPr lang="fr-FR" dirty="0"/>
              <a:t> (cas d’un effort de mesure réaliste)</a:t>
            </a:r>
          </a:p>
        </p:txBody>
      </p:sp>
      <p:sp>
        <p:nvSpPr>
          <p:cNvPr id="133" name="Organigramme : Connecteur 132">
            <a:extLst>
              <a:ext uri="{FF2B5EF4-FFF2-40B4-BE49-F238E27FC236}">
                <a16:creationId xmlns:a16="http://schemas.microsoft.com/office/drawing/2014/main" id="{2986F252-60D9-AD15-C432-9EBD28E5A2F2}"/>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10</a:t>
            </a:r>
          </a:p>
        </p:txBody>
      </p:sp>
      <p:sp>
        <p:nvSpPr>
          <p:cNvPr id="134" name="Organigramme : Connecteur 133">
            <a:extLst>
              <a:ext uri="{FF2B5EF4-FFF2-40B4-BE49-F238E27FC236}">
                <a16:creationId xmlns:a16="http://schemas.microsoft.com/office/drawing/2014/main" id="{B2104D95-DF15-41C7-FF68-66DE6081E658}"/>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11</a:t>
            </a:r>
          </a:p>
        </p:txBody>
      </p:sp>
      <p:grpSp>
        <p:nvGrpSpPr>
          <p:cNvPr id="3" name="Groupe 2">
            <a:extLst>
              <a:ext uri="{FF2B5EF4-FFF2-40B4-BE49-F238E27FC236}">
                <a16:creationId xmlns:a16="http://schemas.microsoft.com/office/drawing/2014/main" id="{85EEDD4F-AD5B-92BB-5AA8-F8608996F157}"/>
              </a:ext>
            </a:extLst>
          </p:cNvPr>
          <p:cNvGrpSpPr/>
          <p:nvPr/>
        </p:nvGrpSpPr>
        <p:grpSpPr>
          <a:xfrm>
            <a:off x="9730660" y="1579136"/>
            <a:ext cx="579881" cy="2107793"/>
            <a:chOff x="607799" y="1275866"/>
            <a:chExt cx="1450172" cy="5506194"/>
          </a:xfrm>
        </p:grpSpPr>
        <p:cxnSp>
          <p:nvCxnSpPr>
            <p:cNvPr id="4" name="Connecteur droit avec flèche 3">
              <a:extLst>
                <a:ext uri="{FF2B5EF4-FFF2-40B4-BE49-F238E27FC236}">
                  <a16:creationId xmlns:a16="http://schemas.microsoft.com/office/drawing/2014/main" id="{DF6E0431-B7B6-F1C9-6091-8B3AC14F38B5}"/>
                </a:ext>
              </a:extLst>
            </p:cNvPr>
            <p:cNvCxnSpPr>
              <a:cxnSpLocks/>
            </p:cNvCxnSpPr>
            <p:nvPr/>
          </p:nvCxnSpPr>
          <p:spPr>
            <a:xfrm flipV="1">
              <a:off x="1326761" y="1275866"/>
              <a:ext cx="0" cy="5506194"/>
            </a:xfrm>
            <a:prstGeom prst="straightConnector1">
              <a:avLst/>
            </a:prstGeom>
            <a:ln w="12700">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E1CE5363-5DC6-5FAA-258C-63C753213B4A}"/>
                </a:ext>
              </a:extLst>
            </p:cNvPr>
            <p:cNvSpPr/>
            <p:nvPr/>
          </p:nvSpPr>
          <p:spPr>
            <a:xfrm>
              <a:off x="635724" y="1621687"/>
              <a:ext cx="1422247" cy="570508"/>
            </a:xfrm>
            <a:prstGeom prst="rect">
              <a:avLst/>
            </a:prstGeom>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sp>
          <p:nvSpPr>
            <p:cNvPr id="6" name="Rectangle 5">
              <a:extLst>
                <a:ext uri="{FF2B5EF4-FFF2-40B4-BE49-F238E27FC236}">
                  <a16:creationId xmlns:a16="http://schemas.microsoft.com/office/drawing/2014/main" id="{9F9EB407-A548-146B-AF6F-FBAC14BAC45C}"/>
                </a:ext>
              </a:extLst>
            </p:cNvPr>
            <p:cNvSpPr/>
            <p:nvPr/>
          </p:nvSpPr>
          <p:spPr>
            <a:xfrm>
              <a:off x="624994" y="2376945"/>
              <a:ext cx="1422247" cy="87585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sp>
          <p:nvSpPr>
            <p:cNvPr id="7" name="Rectangle 6">
              <a:extLst>
                <a:ext uri="{FF2B5EF4-FFF2-40B4-BE49-F238E27FC236}">
                  <a16:creationId xmlns:a16="http://schemas.microsoft.com/office/drawing/2014/main" id="{34D63D53-0108-E7AB-7D10-151DB1AD0A17}"/>
                </a:ext>
              </a:extLst>
            </p:cNvPr>
            <p:cNvSpPr/>
            <p:nvPr/>
          </p:nvSpPr>
          <p:spPr>
            <a:xfrm>
              <a:off x="607799" y="4146185"/>
              <a:ext cx="1422247" cy="52229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sp>
          <p:nvSpPr>
            <p:cNvPr id="8" name="Rectangle 7">
              <a:extLst>
                <a:ext uri="{FF2B5EF4-FFF2-40B4-BE49-F238E27FC236}">
                  <a16:creationId xmlns:a16="http://schemas.microsoft.com/office/drawing/2014/main" id="{BC1F71FD-21EA-E373-A8F9-1074A8F408F5}"/>
                </a:ext>
              </a:extLst>
            </p:cNvPr>
            <p:cNvSpPr/>
            <p:nvPr/>
          </p:nvSpPr>
          <p:spPr>
            <a:xfrm>
              <a:off x="635724" y="5247805"/>
              <a:ext cx="1422247" cy="52229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sp>
          <p:nvSpPr>
            <p:cNvPr id="9" name="Rectangle 8">
              <a:extLst>
                <a:ext uri="{FF2B5EF4-FFF2-40B4-BE49-F238E27FC236}">
                  <a16:creationId xmlns:a16="http://schemas.microsoft.com/office/drawing/2014/main" id="{972F11D5-C607-18B5-DC87-BEB3F45ED2E1}"/>
                </a:ext>
              </a:extLst>
            </p:cNvPr>
            <p:cNvSpPr/>
            <p:nvPr/>
          </p:nvSpPr>
          <p:spPr>
            <a:xfrm>
              <a:off x="635724" y="6222752"/>
              <a:ext cx="1422247" cy="52229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sp>
          <p:nvSpPr>
            <p:cNvPr id="10" name="Rectangle 9">
              <a:extLst>
                <a:ext uri="{FF2B5EF4-FFF2-40B4-BE49-F238E27FC236}">
                  <a16:creationId xmlns:a16="http://schemas.microsoft.com/office/drawing/2014/main" id="{75D6F734-3366-5C18-7709-BF7ED15777DA}"/>
                </a:ext>
              </a:extLst>
            </p:cNvPr>
            <p:cNvSpPr/>
            <p:nvPr/>
          </p:nvSpPr>
          <p:spPr>
            <a:xfrm>
              <a:off x="624994" y="3349702"/>
              <a:ext cx="1405052" cy="669279"/>
            </a:xfrm>
            <a:prstGeom prst="rect">
              <a:avLst/>
            </a:prstGeom>
            <a:gradFill>
              <a:gsLst>
                <a:gs pos="0">
                  <a:schemeClr val="accent2"/>
                </a:gs>
                <a:gs pos="49000">
                  <a:schemeClr val="accent2"/>
                </a:gs>
                <a:gs pos="51000">
                  <a:schemeClr val="tx1"/>
                </a:gs>
                <a:gs pos="100000">
                  <a:schemeClr val="tx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grpSp>
      <p:pic>
        <p:nvPicPr>
          <p:cNvPr id="11" name="Graphique 10" descr="Héroïne avec un remplissage uni">
            <a:extLst>
              <a:ext uri="{FF2B5EF4-FFF2-40B4-BE49-F238E27FC236}">
                <a16:creationId xmlns:a16="http://schemas.microsoft.com/office/drawing/2014/main" id="{81B7494F-DF29-7D30-2CAA-F187743AB8C1}"/>
              </a:ext>
            </a:extLst>
          </p:cNvPr>
          <p:cNvPicPr>
            <a:picLocks noChangeAspect="1"/>
          </p:cNvPicPr>
          <p:nvPr/>
        </p:nvPicPr>
        <p:blipFill>
          <a:blip r:embed="rId124">
            <a:extLst>
              <a:ext uri="{28A0092B-C50C-407E-A947-70E740481C1C}">
                <a14:useLocalDpi xmlns:a14="http://schemas.microsoft.com/office/drawing/2010/main" val="0"/>
              </a:ext>
              <a:ext uri="{96DAC541-7B7A-43D3-8B79-37D633B846F1}">
                <asvg:svgBlip xmlns:asvg="http://schemas.microsoft.com/office/drawing/2016/SVG/main" r:embed="rId125"/>
              </a:ext>
            </a:extLst>
          </a:blip>
          <a:stretch>
            <a:fillRect/>
          </a:stretch>
        </p:blipFill>
        <p:spPr>
          <a:xfrm>
            <a:off x="9332296" y="2079983"/>
            <a:ext cx="366085" cy="366085"/>
          </a:xfrm>
          <a:prstGeom prst="rect">
            <a:avLst/>
          </a:prstGeom>
        </p:spPr>
      </p:pic>
      <p:pic>
        <p:nvPicPr>
          <p:cNvPr id="12" name="Graphique 11" descr="Engrenage avec un remplissage uni">
            <a:extLst>
              <a:ext uri="{FF2B5EF4-FFF2-40B4-BE49-F238E27FC236}">
                <a16:creationId xmlns:a16="http://schemas.microsoft.com/office/drawing/2014/main" id="{4FEE217C-37E5-B776-17AB-8A3F2DB704DC}"/>
              </a:ext>
            </a:extLst>
          </p:cNvPr>
          <p:cNvPicPr>
            <a:picLocks noChangeAspect="1"/>
          </p:cNvPicPr>
          <p:nvPr/>
        </p:nvPicPr>
        <p:blipFill>
          <a:blip r:embed="rId126">
            <a:extLst>
              <a:ext uri="{28A0092B-C50C-407E-A947-70E740481C1C}">
                <a14:useLocalDpi xmlns:a14="http://schemas.microsoft.com/office/drawing/2010/main" val="0"/>
              </a:ext>
              <a:ext uri="{96DAC541-7B7A-43D3-8B79-37D633B846F1}">
                <asvg:svgBlip xmlns:asvg="http://schemas.microsoft.com/office/drawing/2016/SVG/main" r:embed="rId127"/>
              </a:ext>
            </a:extLst>
          </a:blip>
          <a:stretch>
            <a:fillRect/>
          </a:stretch>
        </p:blipFill>
        <p:spPr>
          <a:xfrm>
            <a:off x="9332298" y="1630463"/>
            <a:ext cx="366084" cy="366084"/>
          </a:xfrm>
          <a:prstGeom prst="rect">
            <a:avLst/>
          </a:prstGeom>
        </p:spPr>
      </p:pic>
      <p:pic>
        <p:nvPicPr>
          <p:cNvPr id="13" name="Graphique 12" descr="Explosion avec un remplissage uni">
            <a:extLst>
              <a:ext uri="{FF2B5EF4-FFF2-40B4-BE49-F238E27FC236}">
                <a16:creationId xmlns:a16="http://schemas.microsoft.com/office/drawing/2014/main" id="{0D248868-69D6-48F7-888E-7561BC2CA661}"/>
              </a:ext>
            </a:extLst>
          </p:cNvPr>
          <p:cNvPicPr>
            <a:picLocks noChangeAspect="1"/>
          </p:cNvPicPr>
          <p:nvPr/>
        </p:nvPicPr>
        <p:blipFill>
          <a:blip r:embed="rId128">
            <a:extLst>
              <a:ext uri="{28A0092B-C50C-407E-A947-70E740481C1C}">
                <a14:useLocalDpi xmlns:a14="http://schemas.microsoft.com/office/drawing/2010/main" val="0"/>
              </a:ext>
              <a:ext uri="{96DAC541-7B7A-43D3-8B79-37D633B846F1}">
                <asvg:svgBlip xmlns:asvg="http://schemas.microsoft.com/office/drawing/2016/SVG/main" r:embed="rId129"/>
              </a:ext>
            </a:extLst>
          </a:blip>
          <a:stretch>
            <a:fillRect/>
          </a:stretch>
        </p:blipFill>
        <p:spPr>
          <a:xfrm>
            <a:off x="9372236" y="3377207"/>
            <a:ext cx="366084" cy="366084"/>
          </a:xfrm>
          <a:prstGeom prst="rect">
            <a:avLst/>
          </a:prstGeom>
        </p:spPr>
      </p:pic>
      <p:pic>
        <p:nvPicPr>
          <p:cNvPr id="14" name="Graphique 13" descr="Ajouter avec un remplissage uni">
            <a:extLst>
              <a:ext uri="{FF2B5EF4-FFF2-40B4-BE49-F238E27FC236}">
                <a16:creationId xmlns:a16="http://schemas.microsoft.com/office/drawing/2014/main" id="{F7F12617-A593-029B-9137-E1828E4F0FF5}"/>
              </a:ext>
            </a:extLst>
          </p:cNvPr>
          <p:cNvPicPr>
            <a:picLocks noChangeAspect="1"/>
          </p:cNvPicPr>
          <p:nvPr/>
        </p:nvPicPr>
        <p:blipFill>
          <a:blip r:embed="rId130">
            <a:extLst>
              <a:ext uri="{28A0092B-C50C-407E-A947-70E740481C1C}">
                <a14:useLocalDpi xmlns:a14="http://schemas.microsoft.com/office/drawing/2010/main" val="0"/>
              </a:ext>
              <a:ext uri="{96DAC541-7B7A-43D3-8B79-37D633B846F1}">
                <asvg:svgBlip xmlns:asvg="http://schemas.microsoft.com/office/drawing/2016/SVG/main" r:embed="rId131"/>
              </a:ext>
            </a:extLst>
          </a:blip>
          <a:stretch>
            <a:fillRect/>
          </a:stretch>
        </p:blipFill>
        <p:spPr>
          <a:xfrm>
            <a:off x="9356847" y="2972138"/>
            <a:ext cx="366084" cy="366084"/>
          </a:xfrm>
          <a:prstGeom prst="rect">
            <a:avLst/>
          </a:prstGeom>
        </p:spPr>
      </p:pic>
      <p:pic>
        <p:nvPicPr>
          <p:cNvPr id="15" name="Graphique 14" descr="Menottes avec un remplissage uni">
            <a:extLst>
              <a:ext uri="{FF2B5EF4-FFF2-40B4-BE49-F238E27FC236}">
                <a16:creationId xmlns:a16="http://schemas.microsoft.com/office/drawing/2014/main" id="{0C1C23D4-36A0-565D-15B6-561CA149F5EE}"/>
              </a:ext>
            </a:extLst>
          </p:cNvPr>
          <p:cNvPicPr>
            <a:picLocks noChangeAspect="1"/>
          </p:cNvPicPr>
          <p:nvPr/>
        </p:nvPicPr>
        <p:blipFill>
          <a:blip r:embed="rId132">
            <a:extLst>
              <a:ext uri="{28A0092B-C50C-407E-A947-70E740481C1C}">
                <a14:useLocalDpi xmlns:a14="http://schemas.microsoft.com/office/drawing/2010/main" val="0"/>
              </a:ext>
              <a:ext uri="{96DAC541-7B7A-43D3-8B79-37D633B846F1}">
                <asvg:svgBlip xmlns:asvg="http://schemas.microsoft.com/office/drawing/2016/SVG/main" r:embed="rId133"/>
              </a:ext>
            </a:extLst>
          </a:blip>
          <a:stretch>
            <a:fillRect/>
          </a:stretch>
        </p:blipFill>
        <p:spPr>
          <a:xfrm>
            <a:off x="9368550" y="2603399"/>
            <a:ext cx="293575" cy="293575"/>
          </a:xfrm>
          <a:prstGeom prst="rect">
            <a:avLst/>
          </a:prstGeom>
        </p:spPr>
      </p:pic>
      <p:sp>
        <p:nvSpPr>
          <p:cNvPr id="16" name="ZoneTexte 15">
            <a:extLst>
              <a:ext uri="{FF2B5EF4-FFF2-40B4-BE49-F238E27FC236}">
                <a16:creationId xmlns:a16="http://schemas.microsoft.com/office/drawing/2014/main" id="{B5C9FB9E-4B9D-A1BC-F46D-9B282E4A1B9F}"/>
              </a:ext>
            </a:extLst>
          </p:cNvPr>
          <p:cNvSpPr txBox="1"/>
          <p:nvPr/>
        </p:nvSpPr>
        <p:spPr>
          <a:xfrm>
            <a:off x="9130191" y="4212480"/>
            <a:ext cx="2967707" cy="2031325"/>
          </a:xfrm>
          <a:prstGeom prst="rect">
            <a:avLst/>
          </a:prstGeom>
          <a:noFill/>
        </p:spPr>
        <p:txBody>
          <a:bodyPr wrap="square">
            <a:spAutoFit/>
          </a:bodyPr>
          <a:lstStyle/>
          <a:p>
            <a:pPr algn="ctr"/>
            <a:r>
              <a:rPr lang="fr-FR" dirty="0"/>
              <a:t>Les bénéfices d’une Communauté peuvent arriver </a:t>
            </a:r>
            <a:r>
              <a:rPr lang="fr-FR" b="1" dirty="0">
                <a:solidFill>
                  <a:srgbClr val="3494BA"/>
                </a:solidFill>
              </a:rPr>
              <a:t>par construction </a:t>
            </a:r>
            <a:r>
              <a:rPr lang="fr-FR" dirty="0"/>
              <a:t>(by design), par </a:t>
            </a:r>
            <a:r>
              <a:rPr lang="fr-FR" b="1" dirty="0">
                <a:solidFill>
                  <a:srgbClr val="ED7D31"/>
                </a:solidFill>
              </a:rPr>
              <a:t>l’engagement des membres </a:t>
            </a:r>
            <a:r>
              <a:rPr lang="fr-FR" dirty="0"/>
              <a:t>(sans obligation), par </a:t>
            </a:r>
            <a:r>
              <a:rPr lang="fr-FR" b="1" dirty="0"/>
              <a:t>obligation</a:t>
            </a:r>
            <a:r>
              <a:rPr lang="fr-FR" dirty="0"/>
              <a:t>, par effet de bord ou par accident. </a:t>
            </a:r>
          </a:p>
        </p:txBody>
      </p:sp>
      <p:sp>
        <p:nvSpPr>
          <p:cNvPr id="17" name="Organigramme : Connecteur 16">
            <a:extLst>
              <a:ext uri="{FF2B5EF4-FFF2-40B4-BE49-F238E27FC236}">
                <a16:creationId xmlns:a16="http://schemas.microsoft.com/office/drawing/2014/main" id="{EE2083E2-B902-DC0E-807D-870CE7EEFEE8}"/>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12</a:t>
            </a:r>
          </a:p>
        </p:txBody>
      </p:sp>
    </p:spTree>
    <p:extLst>
      <p:ext uri="{BB962C8B-B14F-4D97-AF65-F5344CB8AC3E}">
        <p14:creationId xmlns:p14="http://schemas.microsoft.com/office/powerpoint/2010/main" val="1163359937"/>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61606E-7B1B-AF13-91F0-CEB4ECD55444}"/>
              </a:ext>
            </a:extLst>
          </p:cNvPr>
          <p:cNvSpPr>
            <a:spLocks noGrp="1"/>
          </p:cNvSpPr>
          <p:nvPr>
            <p:ph type="title"/>
          </p:nvPr>
        </p:nvSpPr>
        <p:spPr/>
        <p:txBody>
          <a:bodyPr/>
          <a:lstStyle/>
          <a:p>
            <a:r>
              <a:rPr lang="fr-FR" dirty="0"/>
              <a:t>Résumé, une phrase par image</a:t>
            </a:r>
          </a:p>
        </p:txBody>
      </p:sp>
      <p:grpSp>
        <p:nvGrpSpPr>
          <p:cNvPr id="6" name="Groupe 5">
            <a:extLst>
              <a:ext uri="{FF2B5EF4-FFF2-40B4-BE49-F238E27FC236}">
                <a16:creationId xmlns:a16="http://schemas.microsoft.com/office/drawing/2014/main" id="{7D600800-53F7-64F0-3BED-100EB93C0C09}"/>
              </a:ext>
            </a:extLst>
          </p:cNvPr>
          <p:cNvGrpSpPr/>
          <p:nvPr/>
        </p:nvGrpSpPr>
        <p:grpSpPr>
          <a:xfrm>
            <a:off x="255544" y="2881121"/>
            <a:ext cx="4017203" cy="547879"/>
            <a:chOff x="546683" y="4204546"/>
            <a:chExt cx="11736589" cy="1600674"/>
          </a:xfrm>
        </p:grpSpPr>
        <p:pic>
          <p:nvPicPr>
            <p:cNvPr id="210" name="Image 209">
              <a:extLst>
                <a:ext uri="{FF2B5EF4-FFF2-40B4-BE49-F238E27FC236}">
                  <a16:creationId xmlns:a16="http://schemas.microsoft.com/office/drawing/2014/main" id="{EBC6D721-04C3-70DC-055E-3164955596F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46683" y="4216299"/>
              <a:ext cx="1120155" cy="1582246"/>
            </a:xfrm>
            <a:prstGeom prst="rect">
              <a:avLst/>
            </a:prstGeom>
          </p:spPr>
        </p:pic>
        <p:pic>
          <p:nvPicPr>
            <p:cNvPr id="211" name="Image 210">
              <a:extLst>
                <a:ext uri="{FF2B5EF4-FFF2-40B4-BE49-F238E27FC236}">
                  <a16:creationId xmlns:a16="http://schemas.microsoft.com/office/drawing/2014/main" id="{4D429DDD-214C-1D4A-7643-94D615E6E48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906519" y="4216299"/>
              <a:ext cx="1120155" cy="1582246"/>
            </a:xfrm>
            <a:prstGeom prst="rect">
              <a:avLst/>
            </a:prstGeom>
          </p:spPr>
        </p:pic>
        <p:pic>
          <p:nvPicPr>
            <p:cNvPr id="212" name="Image 211" descr="Une image contenant texte&#10;&#10;Description générée automatiquement">
              <a:extLst>
                <a:ext uri="{FF2B5EF4-FFF2-40B4-BE49-F238E27FC236}">
                  <a16:creationId xmlns:a16="http://schemas.microsoft.com/office/drawing/2014/main" id="{A33FDA60-746F-DBD1-7A7F-F51F4D95D26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492951" y="4209624"/>
              <a:ext cx="1120155" cy="1582246"/>
            </a:xfrm>
            <a:prstGeom prst="rect">
              <a:avLst/>
            </a:prstGeom>
          </p:spPr>
        </p:pic>
        <p:pic>
          <p:nvPicPr>
            <p:cNvPr id="213" name="Image 212">
              <a:extLst>
                <a:ext uri="{FF2B5EF4-FFF2-40B4-BE49-F238E27FC236}">
                  <a16:creationId xmlns:a16="http://schemas.microsoft.com/office/drawing/2014/main" id="{A20E7DA4-56E3-2B6C-2517-FD742793016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832361" y="4209624"/>
              <a:ext cx="1120155" cy="1582246"/>
            </a:xfrm>
            <a:prstGeom prst="rect">
              <a:avLst/>
            </a:prstGeom>
          </p:spPr>
        </p:pic>
        <p:pic>
          <p:nvPicPr>
            <p:cNvPr id="214" name="Image 213">
              <a:extLst>
                <a:ext uri="{FF2B5EF4-FFF2-40B4-BE49-F238E27FC236}">
                  <a16:creationId xmlns:a16="http://schemas.microsoft.com/office/drawing/2014/main" id="{4B391725-6F4F-D67C-8367-121F485F1E6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731587" y="4216299"/>
              <a:ext cx="1120155" cy="1582246"/>
            </a:xfrm>
            <a:prstGeom prst="rect">
              <a:avLst/>
            </a:prstGeom>
          </p:spPr>
        </p:pic>
        <p:pic>
          <p:nvPicPr>
            <p:cNvPr id="215" name="Image 214">
              <a:extLst>
                <a:ext uri="{FF2B5EF4-FFF2-40B4-BE49-F238E27FC236}">
                  <a16:creationId xmlns:a16="http://schemas.microsoft.com/office/drawing/2014/main" id="{BE40F3E3-EAC9-E0DD-A591-7952E0D7E140}"/>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100524" y="4216299"/>
              <a:ext cx="1120155" cy="1582246"/>
            </a:xfrm>
            <a:prstGeom prst="rect">
              <a:avLst/>
            </a:prstGeom>
          </p:spPr>
        </p:pic>
        <p:pic>
          <p:nvPicPr>
            <p:cNvPr id="216" name="Image 215" descr="Une image contenant texte&#10;&#10;Description générée automatiquement">
              <a:extLst>
                <a:ext uri="{FF2B5EF4-FFF2-40B4-BE49-F238E27FC236}">
                  <a16:creationId xmlns:a16="http://schemas.microsoft.com/office/drawing/2014/main" id="{83E120DA-1E59-0AF2-7D3F-59D4CF2D5C46}"/>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666980" y="4209624"/>
              <a:ext cx="1120155" cy="1582246"/>
            </a:xfrm>
            <a:prstGeom prst="rect">
              <a:avLst/>
            </a:prstGeom>
          </p:spPr>
        </p:pic>
        <p:pic>
          <p:nvPicPr>
            <p:cNvPr id="220" name="Image 219" descr="Une image contenant texte&#10;&#10;Description générée automatiquement">
              <a:extLst>
                <a:ext uri="{FF2B5EF4-FFF2-40B4-BE49-F238E27FC236}">
                  <a16:creationId xmlns:a16="http://schemas.microsoft.com/office/drawing/2014/main" id="{73A8E5E2-9546-E36C-A160-B2D14C013FA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997739" y="4209624"/>
              <a:ext cx="1120155" cy="1582246"/>
            </a:xfrm>
            <a:prstGeom prst="rect">
              <a:avLst/>
            </a:prstGeom>
          </p:spPr>
        </p:pic>
        <p:sp>
          <p:nvSpPr>
            <p:cNvPr id="221" name="Rectangle 220">
              <a:extLst>
                <a:ext uri="{FF2B5EF4-FFF2-40B4-BE49-F238E27FC236}">
                  <a16:creationId xmlns:a16="http://schemas.microsoft.com/office/drawing/2014/main" id="{E5FAA63E-16B2-5C26-6A97-D13463FFF154}"/>
                </a:ext>
              </a:extLst>
            </p:cNvPr>
            <p:cNvSpPr/>
            <p:nvPr/>
          </p:nvSpPr>
          <p:spPr>
            <a:xfrm>
              <a:off x="11163117" y="4204546"/>
              <a:ext cx="1120155"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dirty="0">
                <a:solidFill>
                  <a:schemeClr val="tx1"/>
                </a:solidFill>
              </a:endParaRPr>
            </a:p>
          </p:txBody>
        </p:sp>
        <p:pic>
          <p:nvPicPr>
            <p:cNvPr id="222" name="Image 221" descr="Une image contenant texte&#10;&#10;Description générée automatiquement">
              <a:extLst>
                <a:ext uri="{FF2B5EF4-FFF2-40B4-BE49-F238E27FC236}">
                  <a16:creationId xmlns:a16="http://schemas.microsoft.com/office/drawing/2014/main" id="{E59C8917-83DC-CC44-5C89-6AC61E66EBD8}"/>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5279374" y="4216299"/>
              <a:ext cx="1135830" cy="1588921"/>
            </a:xfrm>
            <a:prstGeom prst="rect">
              <a:avLst/>
            </a:prstGeom>
          </p:spPr>
        </p:pic>
      </p:grpSp>
      <p:grpSp>
        <p:nvGrpSpPr>
          <p:cNvPr id="223" name="Groupe 222">
            <a:extLst>
              <a:ext uri="{FF2B5EF4-FFF2-40B4-BE49-F238E27FC236}">
                <a16:creationId xmlns:a16="http://schemas.microsoft.com/office/drawing/2014/main" id="{69C41CE8-DE43-2D0A-9510-45881714FB6A}"/>
              </a:ext>
            </a:extLst>
          </p:cNvPr>
          <p:cNvGrpSpPr/>
          <p:nvPr/>
        </p:nvGrpSpPr>
        <p:grpSpPr>
          <a:xfrm>
            <a:off x="1546662" y="1891868"/>
            <a:ext cx="1127579" cy="950638"/>
            <a:chOff x="8982504" y="3274976"/>
            <a:chExt cx="1230670" cy="1037553"/>
          </a:xfrm>
          <a:solidFill>
            <a:srgbClr val="ED7D31"/>
          </a:solidFill>
        </p:grpSpPr>
        <p:pic>
          <p:nvPicPr>
            <p:cNvPr id="224" name="Graphique 223" descr="Utilisateur avec un remplissage uni">
              <a:extLst>
                <a:ext uri="{FF2B5EF4-FFF2-40B4-BE49-F238E27FC236}">
                  <a16:creationId xmlns:a16="http://schemas.microsoft.com/office/drawing/2014/main" id="{7C2ED5A0-7C28-D460-6FDF-A6F5D9E73BE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01028" y="3274976"/>
              <a:ext cx="336064" cy="336064"/>
            </a:xfrm>
            <a:prstGeom prst="rect">
              <a:avLst/>
            </a:prstGeom>
          </p:spPr>
        </p:pic>
        <p:pic>
          <p:nvPicPr>
            <p:cNvPr id="225" name="Graphique 224" descr="Utilisateur avec un remplissage uni">
              <a:extLst>
                <a:ext uri="{FF2B5EF4-FFF2-40B4-BE49-F238E27FC236}">
                  <a16:creationId xmlns:a16="http://schemas.microsoft.com/office/drawing/2014/main" id="{B4B9A140-E8CB-7946-1AA2-193D3B86D05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54140" y="3512720"/>
              <a:ext cx="336064" cy="336064"/>
            </a:xfrm>
            <a:prstGeom prst="rect">
              <a:avLst/>
            </a:prstGeom>
          </p:spPr>
        </p:pic>
        <p:pic>
          <p:nvPicPr>
            <p:cNvPr id="226" name="Graphique 225" descr="Utilisateur avec un remplissage uni">
              <a:extLst>
                <a:ext uri="{FF2B5EF4-FFF2-40B4-BE49-F238E27FC236}">
                  <a16:creationId xmlns:a16="http://schemas.microsoft.com/office/drawing/2014/main" id="{46936C48-905E-11FE-3579-3993E9AA9F4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45616" y="3561880"/>
              <a:ext cx="336064" cy="336064"/>
            </a:xfrm>
            <a:prstGeom prst="rect">
              <a:avLst/>
            </a:prstGeom>
          </p:spPr>
        </p:pic>
        <p:pic>
          <p:nvPicPr>
            <p:cNvPr id="227" name="Graphique 226" descr="Utilisateur avec un remplissage uni">
              <a:extLst>
                <a:ext uri="{FF2B5EF4-FFF2-40B4-BE49-F238E27FC236}">
                  <a16:creationId xmlns:a16="http://schemas.microsoft.com/office/drawing/2014/main" id="{0727551B-436C-340F-8802-6A01E6653D8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92504" y="3418428"/>
              <a:ext cx="336064" cy="336064"/>
            </a:xfrm>
            <a:prstGeom prst="rect">
              <a:avLst/>
            </a:prstGeom>
          </p:spPr>
        </p:pic>
        <p:pic>
          <p:nvPicPr>
            <p:cNvPr id="228" name="Graphique 227" descr="Utilisateur avec un remplissage uni">
              <a:extLst>
                <a:ext uri="{FF2B5EF4-FFF2-40B4-BE49-F238E27FC236}">
                  <a16:creationId xmlns:a16="http://schemas.microsoft.com/office/drawing/2014/main" id="{128B0F4B-E22C-17A0-B868-A06E081B6ED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635196" y="3680752"/>
              <a:ext cx="336064" cy="336064"/>
            </a:xfrm>
            <a:prstGeom prst="rect">
              <a:avLst/>
            </a:prstGeom>
          </p:spPr>
        </p:pic>
        <p:pic>
          <p:nvPicPr>
            <p:cNvPr id="229" name="Graphique 228" descr="Utilisateur avec un remplissage uni">
              <a:extLst>
                <a:ext uri="{FF2B5EF4-FFF2-40B4-BE49-F238E27FC236}">
                  <a16:creationId xmlns:a16="http://schemas.microsoft.com/office/drawing/2014/main" id="{9AAEC24B-D565-AB50-43DE-B4587308B95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256440" y="3848784"/>
              <a:ext cx="336064" cy="336064"/>
            </a:xfrm>
            <a:prstGeom prst="rect">
              <a:avLst/>
            </a:prstGeom>
          </p:spPr>
        </p:pic>
        <p:pic>
          <p:nvPicPr>
            <p:cNvPr id="230" name="Graphique 229" descr="Utilisateur avec un remplissage uni">
              <a:extLst>
                <a:ext uri="{FF2B5EF4-FFF2-40B4-BE49-F238E27FC236}">
                  <a16:creationId xmlns:a16="http://schemas.microsoft.com/office/drawing/2014/main" id="{5FAC7E98-1974-ABA4-C8DF-BE45E61FA37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82504" y="3835028"/>
              <a:ext cx="336064" cy="336064"/>
            </a:xfrm>
            <a:prstGeom prst="rect">
              <a:avLst/>
            </a:prstGeom>
          </p:spPr>
        </p:pic>
        <p:pic>
          <p:nvPicPr>
            <p:cNvPr id="231" name="Graphique 230" descr="Utilisateur avec un remplissage uni">
              <a:extLst>
                <a:ext uri="{FF2B5EF4-FFF2-40B4-BE49-F238E27FC236}">
                  <a16:creationId xmlns:a16="http://schemas.microsoft.com/office/drawing/2014/main" id="{53021CED-3A62-7FCE-D0DA-96200EF8EE60}"/>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0868" y="3943076"/>
              <a:ext cx="336064" cy="336064"/>
            </a:xfrm>
            <a:prstGeom prst="rect">
              <a:avLst/>
            </a:prstGeom>
          </p:spPr>
        </p:pic>
        <p:pic>
          <p:nvPicPr>
            <p:cNvPr id="232" name="Graphique 231" descr="Utilisateur avec un remplissage uni">
              <a:extLst>
                <a:ext uri="{FF2B5EF4-FFF2-40B4-BE49-F238E27FC236}">
                  <a16:creationId xmlns:a16="http://schemas.microsoft.com/office/drawing/2014/main" id="{2E1F184F-6359-804E-8772-BA1B2C5B06C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42772" y="3976465"/>
              <a:ext cx="336064" cy="336064"/>
            </a:xfrm>
            <a:prstGeom prst="rect">
              <a:avLst/>
            </a:prstGeom>
          </p:spPr>
        </p:pic>
        <p:pic>
          <p:nvPicPr>
            <p:cNvPr id="233" name="Graphique 232" descr="Utilisateur avec un remplissage uni">
              <a:extLst>
                <a:ext uri="{FF2B5EF4-FFF2-40B4-BE49-F238E27FC236}">
                  <a16:creationId xmlns:a16="http://schemas.microsoft.com/office/drawing/2014/main" id="{767B5497-4E9B-9FD6-84E5-E4A285BA8A7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77110" y="3705332"/>
              <a:ext cx="336064" cy="336064"/>
            </a:xfrm>
            <a:prstGeom prst="rect">
              <a:avLst/>
            </a:prstGeom>
          </p:spPr>
        </p:pic>
        <p:pic>
          <p:nvPicPr>
            <p:cNvPr id="234" name="Graphique 233" descr="Utilisateur avec un remplissage uni">
              <a:extLst>
                <a:ext uri="{FF2B5EF4-FFF2-40B4-BE49-F238E27FC236}">
                  <a16:creationId xmlns:a16="http://schemas.microsoft.com/office/drawing/2014/main" id="{CA7FF069-36EF-E42F-18F4-EC8BA1059DAE}"/>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56932" y="3429000"/>
              <a:ext cx="336064" cy="336064"/>
            </a:xfrm>
            <a:prstGeom prst="rect">
              <a:avLst/>
            </a:prstGeom>
          </p:spPr>
        </p:pic>
      </p:grpSp>
      <p:grpSp>
        <p:nvGrpSpPr>
          <p:cNvPr id="235" name="Groupe 234">
            <a:extLst>
              <a:ext uri="{FF2B5EF4-FFF2-40B4-BE49-F238E27FC236}">
                <a16:creationId xmlns:a16="http://schemas.microsoft.com/office/drawing/2014/main" id="{B7865667-45EF-7720-072C-D029F18B30A9}"/>
              </a:ext>
            </a:extLst>
          </p:cNvPr>
          <p:cNvGrpSpPr/>
          <p:nvPr/>
        </p:nvGrpSpPr>
        <p:grpSpPr>
          <a:xfrm>
            <a:off x="9869099" y="1785725"/>
            <a:ext cx="1502521" cy="2204595"/>
            <a:chOff x="6890595" y="-73982"/>
            <a:chExt cx="4519639" cy="6631502"/>
          </a:xfrm>
        </p:grpSpPr>
        <p:pic>
          <p:nvPicPr>
            <p:cNvPr id="236" name="Graphique 235" descr="Balance de la justice avec un remplissage uni">
              <a:extLst>
                <a:ext uri="{FF2B5EF4-FFF2-40B4-BE49-F238E27FC236}">
                  <a16:creationId xmlns:a16="http://schemas.microsoft.com/office/drawing/2014/main" id="{F7D22C58-45F2-AB79-5F8D-098AECA3B28A}"/>
                </a:ext>
              </a:extLst>
            </p:cNvPr>
            <p:cNvPicPr>
              <a:picLocks noChangeAspect="1"/>
            </p:cNvPicPr>
            <p:nvPr/>
          </p:nvPicPr>
          <p:blipFill rotWithShape="1">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rcRect l="6972" t="7530" r="8041" b="7105"/>
            <a:stretch/>
          </p:blipFill>
          <p:spPr>
            <a:xfrm>
              <a:off x="7255123" y="1386286"/>
              <a:ext cx="3714904" cy="3731378"/>
            </a:xfrm>
            <a:prstGeom prst="rect">
              <a:avLst/>
            </a:prstGeom>
          </p:spPr>
        </p:pic>
        <p:sp>
          <p:nvSpPr>
            <p:cNvPr id="237" name="Rectangle 236">
              <a:extLst>
                <a:ext uri="{FF2B5EF4-FFF2-40B4-BE49-F238E27FC236}">
                  <a16:creationId xmlns:a16="http://schemas.microsoft.com/office/drawing/2014/main" id="{288200DF-2CC5-0FB1-9665-67208DFE818C}"/>
                </a:ext>
              </a:extLst>
            </p:cNvPr>
            <p:cNvSpPr/>
            <p:nvPr/>
          </p:nvSpPr>
          <p:spPr>
            <a:xfrm>
              <a:off x="9573820" y="2953683"/>
              <a:ext cx="866233" cy="55041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250" name="Rectangle 249">
              <a:extLst>
                <a:ext uri="{FF2B5EF4-FFF2-40B4-BE49-F238E27FC236}">
                  <a16:creationId xmlns:a16="http://schemas.microsoft.com/office/drawing/2014/main" id="{615A8777-8A4B-63D9-08E5-97193E43CC68}"/>
                </a:ext>
              </a:extLst>
            </p:cNvPr>
            <p:cNvSpPr/>
            <p:nvPr/>
          </p:nvSpPr>
          <p:spPr>
            <a:xfrm>
              <a:off x="10544001" y="2969461"/>
              <a:ext cx="866233" cy="55041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251" name="Rectangle 250">
              <a:extLst>
                <a:ext uri="{FF2B5EF4-FFF2-40B4-BE49-F238E27FC236}">
                  <a16:creationId xmlns:a16="http://schemas.microsoft.com/office/drawing/2014/main" id="{7C32A32F-8186-3ACF-2B3C-330762266109}"/>
                </a:ext>
              </a:extLst>
            </p:cNvPr>
            <p:cNvSpPr/>
            <p:nvPr/>
          </p:nvSpPr>
          <p:spPr>
            <a:xfrm>
              <a:off x="7936231" y="3008541"/>
              <a:ext cx="985536" cy="55041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252" name="Rectangle 251">
              <a:extLst>
                <a:ext uri="{FF2B5EF4-FFF2-40B4-BE49-F238E27FC236}">
                  <a16:creationId xmlns:a16="http://schemas.microsoft.com/office/drawing/2014/main" id="{A074C4ED-68DD-EDB2-B19E-4E1460BAD28C}"/>
                </a:ext>
              </a:extLst>
            </p:cNvPr>
            <p:cNvSpPr/>
            <p:nvPr/>
          </p:nvSpPr>
          <p:spPr>
            <a:xfrm>
              <a:off x="10328681" y="2324595"/>
              <a:ext cx="866233" cy="55041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253" name="Rectangle 252">
              <a:extLst>
                <a:ext uri="{FF2B5EF4-FFF2-40B4-BE49-F238E27FC236}">
                  <a16:creationId xmlns:a16="http://schemas.microsoft.com/office/drawing/2014/main" id="{9EE2C16F-668D-E6BE-72A9-002019BAB465}"/>
                </a:ext>
              </a:extLst>
            </p:cNvPr>
            <p:cNvSpPr/>
            <p:nvPr/>
          </p:nvSpPr>
          <p:spPr>
            <a:xfrm>
              <a:off x="7267662" y="2379997"/>
              <a:ext cx="985536" cy="55041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255" name="Rectangle 254">
              <a:extLst>
                <a:ext uri="{FF2B5EF4-FFF2-40B4-BE49-F238E27FC236}">
                  <a16:creationId xmlns:a16="http://schemas.microsoft.com/office/drawing/2014/main" id="{DF4E156A-D592-B69A-4B70-042A36909E95}"/>
                </a:ext>
              </a:extLst>
            </p:cNvPr>
            <p:cNvSpPr/>
            <p:nvPr/>
          </p:nvSpPr>
          <p:spPr>
            <a:xfrm>
              <a:off x="6890595" y="3008541"/>
              <a:ext cx="985536" cy="55041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256" name="Rectangle 255">
              <a:extLst>
                <a:ext uri="{FF2B5EF4-FFF2-40B4-BE49-F238E27FC236}">
                  <a16:creationId xmlns:a16="http://schemas.microsoft.com/office/drawing/2014/main" id="{6CC626C7-47C0-CBBE-0ACF-25A6ACBF5BED}"/>
                </a:ext>
              </a:extLst>
            </p:cNvPr>
            <p:cNvSpPr/>
            <p:nvPr/>
          </p:nvSpPr>
          <p:spPr>
            <a:xfrm>
              <a:off x="9188555" y="5412248"/>
              <a:ext cx="985536" cy="550413"/>
            </a:xfrm>
            <a:prstGeom prst="rect">
              <a:avLst/>
            </a:prstGeom>
            <a:solidFill>
              <a:srgbClr val="0683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257" name="Rectangle 256">
              <a:extLst>
                <a:ext uri="{FF2B5EF4-FFF2-40B4-BE49-F238E27FC236}">
                  <a16:creationId xmlns:a16="http://schemas.microsoft.com/office/drawing/2014/main" id="{A09A7645-60EA-C4EC-31B2-8083152730FF}"/>
                </a:ext>
              </a:extLst>
            </p:cNvPr>
            <p:cNvSpPr/>
            <p:nvPr/>
          </p:nvSpPr>
          <p:spPr>
            <a:xfrm>
              <a:off x="8142915" y="5412248"/>
              <a:ext cx="985536" cy="550413"/>
            </a:xfrm>
            <a:prstGeom prst="rect">
              <a:avLst/>
            </a:prstGeom>
            <a:solidFill>
              <a:srgbClr val="0683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sp>
          <p:nvSpPr>
            <p:cNvPr id="258" name="Rectangle 257">
              <a:extLst>
                <a:ext uri="{FF2B5EF4-FFF2-40B4-BE49-F238E27FC236}">
                  <a16:creationId xmlns:a16="http://schemas.microsoft.com/office/drawing/2014/main" id="{F1CEB0BC-6A67-ECD5-109D-54DC31E05BA5}"/>
                </a:ext>
              </a:extLst>
            </p:cNvPr>
            <p:cNvSpPr/>
            <p:nvPr/>
          </p:nvSpPr>
          <p:spPr>
            <a:xfrm>
              <a:off x="8695787" y="6007107"/>
              <a:ext cx="985536" cy="550413"/>
            </a:xfrm>
            <a:prstGeom prst="rect">
              <a:avLst/>
            </a:prstGeom>
            <a:solidFill>
              <a:srgbClr val="0683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bg1"/>
                </a:solidFill>
              </a:endParaRPr>
            </a:p>
          </p:txBody>
        </p:sp>
        <p:pic>
          <p:nvPicPr>
            <p:cNvPr id="259" name="Graphique 258" descr="Poumons avec un remplissage uni">
              <a:extLst>
                <a:ext uri="{FF2B5EF4-FFF2-40B4-BE49-F238E27FC236}">
                  <a16:creationId xmlns:a16="http://schemas.microsoft.com/office/drawing/2014/main" id="{46E77362-2C8A-746F-3D06-FB22F2639A93}"/>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8056575" y="-73982"/>
              <a:ext cx="2117516" cy="2117516"/>
            </a:xfrm>
            <a:prstGeom prst="rect">
              <a:avLst/>
            </a:prstGeom>
          </p:spPr>
        </p:pic>
        <p:pic>
          <p:nvPicPr>
            <p:cNvPr id="260" name="Graphique 259" descr="Bâtiment avec un remplissage uni">
              <a:extLst>
                <a:ext uri="{FF2B5EF4-FFF2-40B4-BE49-F238E27FC236}">
                  <a16:creationId xmlns:a16="http://schemas.microsoft.com/office/drawing/2014/main" id="{9CCD560C-4DEA-C7F8-7BE2-EF2FDE09E3D8}"/>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0345641" y="948675"/>
              <a:ext cx="781742" cy="781742"/>
            </a:xfrm>
            <a:prstGeom prst="rect">
              <a:avLst/>
            </a:prstGeom>
          </p:spPr>
        </p:pic>
        <p:grpSp>
          <p:nvGrpSpPr>
            <p:cNvPr id="261" name="Groupe 260">
              <a:extLst>
                <a:ext uri="{FF2B5EF4-FFF2-40B4-BE49-F238E27FC236}">
                  <a16:creationId xmlns:a16="http://schemas.microsoft.com/office/drawing/2014/main" id="{70F0D9D0-EAF8-0AE9-22FB-6A55AD2CBF92}"/>
                </a:ext>
              </a:extLst>
            </p:cNvPr>
            <p:cNvGrpSpPr/>
            <p:nvPr/>
          </p:nvGrpSpPr>
          <p:grpSpPr>
            <a:xfrm>
              <a:off x="7149197" y="1043450"/>
              <a:ext cx="841925" cy="709809"/>
              <a:chOff x="8982504" y="3274976"/>
              <a:chExt cx="1230670" cy="1037553"/>
            </a:xfrm>
            <a:solidFill>
              <a:srgbClr val="ED7D31"/>
            </a:solidFill>
          </p:grpSpPr>
          <p:pic>
            <p:nvPicPr>
              <p:cNvPr id="263" name="Graphique 262" descr="Utilisateur avec un remplissage uni">
                <a:extLst>
                  <a:ext uri="{FF2B5EF4-FFF2-40B4-BE49-F238E27FC236}">
                    <a16:creationId xmlns:a16="http://schemas.microsoft.com/office/drawing/2014/main" id="{FDEDB5AF-E48C-6094-31FA-2F6D25E4238C}"/>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01028" y="3274976"/>
                <a:ext cx="336064" cy="336064"/>
              </a:xfrm>
              <a:prstGeom prst="rect">
                <a:avLst/>
              </a:prstGeom>
            </p:spPr>
          </p:pic>
          <p:pic>
            <p:nvPicPr>
              <p:cNvPr id="264" name="Graphique 263" descr="Utilisateur avec un remplissage uni">
                <a:extLst>
                  <a:ext uri="{FF2B5EF4-FFF2-40B4-BE49-F238E27FC236}">
                    <a16:creationId xmlns:a16="http://schemas.microsoft.com/office/drawing/2014/main" id="{94A60ECF-16E1-F83A-E337-EE3FF43EFEE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54140" y="3512720"/>
                <a:ext cx="336064" cy="336064"/>
              </a:xfrm>
              <a:prstGeom prst="rect">
                <a:avLst/>
              </a:prstGeom>
            </p:spPr>
          </p:pic>
          <p:pic>
            <p:nvPicPr>
              <p:cNvPr id="266" name="Graphique 265" descr="Utilisateur avec un remplissage uni">
                <a:extLst>
                  <a:ext uri="{FF2B5EF4-FFF2-40B4-BE49-F238E27FC236}">
                    <a16:creationId xmlns:a16="http://schemas.microsoft.com/office/drawing/2014/main" id="{ACC11B74-D265-8BFE-B851-4516939F880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45616" y="3561880"/>
                <a:ext cx="336064" cy="336064"/>
              </a:xfrm>
              <a:prstGeom prst="rect">
                <a:avLst/>
              </a:prstGeom>
            </p:spPr>
          </p:pic>
          <p:pic>
            <p:nvPicPr>
              <p:cNvPr id="268" name="Graphique 267" descr="Utilisateur avec un remplissage uni">
                <a:extLst>
                  <a:ext uri="{FF2B5EF4-FFF2-40B4-BE49-F238E27FC236}">
                    <a16:creationId xmlns:a16="http://schemas.microsoft.com/office/drawing/2014/main" id="{005C4A23-BF8B-F980-282E-F73E8F93391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92504" y="3418428"/>
                <a:ext cx="336064" cy="336064"/>
              </a:xfrm>
              <a:prstGeom prst="rect">
                <a:avLst/>
              </a:prstGeom>
            </p:spPr>
          </p:pic>
          <p:pic>
            <p:nvPicPr>
              <p:cNvPr id="270" name="Graphique 269" descr="Utilisateur avec un remplissage uni">
                <a:extLst>
                  <a:ext uri="{FF2B5EF4-FFF2-40B4-BE49-F238E27FC236}">
                    <a16:creationId xmlns:a16="http://schemas.microsoft.com/office/drawing/2014/main" id="{342AD550-4C28-F389-312D-111C67000380}"/>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635196" y="3680752"/>
                <a:ext cx="336064" cy="336064"/>
              </a:xfrm>
              <a:prstGeom prst="rect">
                <a:avLst/>
              </a:prstGeom>
            </p:spPr>
          </p:pic>
          <p:pic>
            <p:nvPicPr>
              <p:cNvPr id="272" name="Graphique 271" descr="Utilisateur avec un remplissage uni">
                <a:extLst>
                  <a:ext uri="{FF2B5EF4-FFF2-40B4-BE49-F238E27FC236}">
                    <a16:creationId xmlns:a16="http://schemas.microsoft.com/office/drawing/2014/main" id="{584E2959-46C9-6F9D-0864-7C6422DDDEE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256440" y="3848784"/>
                <a:ext cx="336064" cy="336064"/>
              </a:xfrm>
              <a:prstGeom prst="rect">
                <a:avLst/>
              </a:prstGeom>
            </p:spPr>
          </p:pic>
          <p:pic>
            <p:nvPicPr>
              <p:cNvPr id="273" name="Graphique 272" descr="Utilisateur avec un remplissage uni">
                <a:extLst>
                  <a:ext uri="{FF2B5EF4-FFF2-40B4-BE49-F238E27FC236}">
                    <a16:creationId xmlns:a16="http://schemas.microsoft.com/office/drawing/2014/main" id="{1EA1D686-E2E2-DCF2-4FB8-1F5DD97E8580}"/>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82504" y="3835028"/>
                <a:ext cx="336064" cy="336064"/>
              </a:xfrm>
              <a:prstGeom prst="rect">
                <a:avLst/>
              </a:prstGeom>
            </p:spPr>
          </p:pic>
          <p:pic>
            <p:nvPicPr>
              <p:cNvPr id="275" name="Graphique 274" descr="Utilisateur avec un remplissage uni">
                <a:extLst>
                  <a:ext uri="{FF2B5EF4-FFF2-40B4-BE49-F238E27FC236}">
                    <a16:creationId xmlns:a16="http://schemas.microsoft.com/office/drawing/2014/main" id="{5DA091AD-D906-89E2-3DFE-385DF5464AF0}"/>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0868" y="3943076"/>
                <a:ext cx="336064" cy="336064"/>
              </a:xfrm>
              <a:prstGeom prst="rect">
                <a:avLst/>
              </a:prstGeom>
            </p:spPr>
          </p:pic>
          <p:pic>
            <p:nvPicPr>
              <p:cNvPr id="278" name="Graphique 277" descr="Utilisateur avec un remplissage uni">
                <a:extLst>
                  <a:ext uri="{FF2B5EF4-FFF2-40B4-BE49-F238E27FC236}">
                    <a16:creationId xmlns:a16="http://schemas.microsoft.com/office/drawing/2014/main" id="{BDD581E7-0A3B-B391-9F99-9D3DA00C083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42772" y="3976465"/>
                <a:ext cx="336064" cy="336064"/>
              </a:xfrm>
              <a:prstGeom prst="rect">
                <a:avLst/>
              </a:prstGeom>
            </p:spPr>
          </p:pic>
          <p:pic>
            <p:nvPicPr>
              <p:cNvPr id="282" name="Graphique 281" descr="Utilisateur avec un remplissage uni">
                <a:extLst>
                  <a:ext uri="{FF2B5EF4-FFF2-40B4-BE49-F238E27FC236}">
                    <a16:creationId xmlns:a16="http://schemas.microsoft.com/office/drawing/2014/main" id="{4AEEB7FC-0C98-EF42-2B3E-5EBC582159D0}"/>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77110" y="3705332"/>
                <a:ext cx="336064" cy="336064"/>
              </a:xfrm>
              <a:prstGeom prst="rect">
                <a:avLst/>
              </a:prstGeom>
            </p:spPr>
          </p:pic>
          <p:pic>
            <p:nvPicPr>
              <p:cNvPr id="283" name="Graphique 282" descr="Utilisateur avec un remplissage uni">
                <a:extLst>
                  <a:ext uri="{FF2B5EF4-FFF2-40B4-BE49-F238E27FC236}">
                    <a16:creationId xmlns:a16="http://schemas.microsoft.com/office/drawing/2014/main" id="{5250F8FE-32F1-2DF9-94A9-D3DD5815202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56932" y="3429000"/>
                <a:ext cx="336064" cy="336064"/>
              </a:xfrm>
              <a:prstGeom prst="rect">
                <a:avLst/>
              </a:prstGeom>
            </p:spPr>
          </p:pic>
        </p:grpSp>
      </p:grpSp>
      <p:grpSp>
        <p:nvGrpSpPr>
          <p:cNvPr id="287" name="Groupe 286">
            <a:extLst>
              <a:ext uri="{FF2B5EF4-FFF2-40B4-BE49-F238E27FC236}">
                <a16:creationId xmlns:a16="http://schemas.microsoft.com/office/drawing/2014/main" id="{24090064-DB59-1142-D48D-F5C9BFA26E75}"/>
              </a:ext>
            </a:extLst>
          </p:cNvPr>
          <p:cNvGrpSpPr/>
          <p:nvPr/>
        </p:nvGrpSpPr>
        <p:grpSpPr>
          <a:xfrm>
            <a:off x="5173288" y="2111207"/>
            <a:ext cx="3523799" cy="1547355"/>
            <a:chOff x="546683" y="1690688"/>
            <a:chExt cx="11232858" cy="4932522"/>
          </a:xfrm>
        </p:grpSpPr>
        <p:sp>
          <p:nvSpPr>
            <p:cNvPr id="288" name="Ellipse 287">
              <a:extLst>
                <a:ext uri="{FF2B5EF4-FFF2-40B4-BE49-F238E27FC236}">
                  <a16:creationId xmlns:a16="http://schemas.microsoft.com/office/drawing/2014/main" id="{F51A2DFC-A183-8CBF-B6B8-9CA64822B7A7}"/>
                </a:ext>
              </a:extLst>
            </p:cNvPr>
            <p:cNvSpPr/>
            <p:nvPr/>
          </p:nvSpPr>
          <p:spPr>
            <a:xfrm>
              <a:off x="546683" y="1690688"/>
              <a:ext cx="11232858" cy="4932522"/>
            </a:xfrm>
            <a:prstGeom prst="ellipse">
              <a:avLst/>
            </a:prstGeom>
            <a:solidFill>
              <a:srgbClr val="54FFB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9" name="Ellipse 288">
              <a:extLst>
                <a:ext uri="{FF2B5EF4-FFF2-40B4-BE49-F238E27FC236}">
                  <a16:creationId xmlns:a16="http://schemas.microsoft.com/office/drawing/2014/main" id="{5A0C465C-495D-CFB9-9F89-56A3CA8130A5}"/>
                </a:ext>
              </a:extLst>
            </p:cNvPr>
            <p:cNvSpPr/>
            <p:nvPr/>
          </p:nvSpPr>
          <p:spPr>
            <a:xfrm>
              <a:off x="4149298" y="2449385"/>
              <a:ext cx="7630243" cy="3350558"/>
            </a:xfrm>
            <a:prstGeom prst="ellipse">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0" name="Ellipse 289">
              <a:extLst>
                <a:ext uri="{FF2B5EF4-FFF2-40B4-BE49-F238E27FC236}">
                  <a16:creationId xmlns:a16="http://schemas.microsoft.com/office/drawing/2014/main" id="{3C1CD0D8-506A-522C-E0B3-153DF36DB0C7}"/>
                </a:ext>
              </a:extLst>
            </p:cNvPr>
            <p:cNvSpPr/>
            <p:nvPr/>
          </p:nvSpPr>
          <p:spPr>
            <a:xfrm>
              <a:off x="7292282" y="3233906"/>
              <a:ext cx="4017625" cy="1866094"/>
            </a:xfrm>
            <a:prstGeom prst="ellipse">
              <a:avLst/>
            </a:prstGeom>
            <a:solidFill>
              <a:schemeClr val="accent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1" name="Groupe 290">
            <a:extLst>
              <a:ext uri="{FF2B5EF4-FFF2-40B4-BE49-F238E27FC236}">
                <a16:creationId xmlns:a16="http://schemas.microsoft.com/office/drawing/2014/main" id="{3ED9E21C-5792-D501-2AA3-B725CFE2BA8F}"/>
              </a:ext>
            </a:extLst>
          </p:cNvPr>
          <p:cNvGrpSpPr/>
          <p:nvPr/>
        </p:nvGrpSpPr>
        <p:grpSpPr>
          <a:xfrm>
            <a:off x="8051108" y="1683907"/>
            <a:ext cx="648273" cy="546545"/>
            <a:chOff x="8982504" y="3274976"/>
            <a:chExt cx="1230670" cy="1037553"/>
          </a:xfrm>
          <a:solidFill>
            <a:srgbClr val="ED7D31"/>
          </a:solidFill>
        </p:grpSpPr>
        <p:pic>
          <p:nvPicPr>
            <p:cNvPr id="448" name="Graphique 447" descr="Utilisateur avec un remplissage uni">
              <a:extLst>
                <a:ext uri="{FF2B5EF4-FFF2-40B4-BE49-F238E27FC236}">
                  <a16:creationId xmlns:a16="http://schemas.microsoft.com/office/drawing/2014/main" id="{8E0B8A7A-86B2-0514-3761-B7F8A10EBBA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01028" y="3274976"/>
              <a:ext cx="336064" cy="336064"/>
            </a:xfrm>
            <a:prstGeom prst="rect">
              <a:avLst/>
            </a:prstGeom>
          </p:spPr>
        </p:pic>
        <p:pic>
          <p:nvPicPr>
            <p:cNvPr id="449" name="Graphique 448" descr="Utilisateur avec un remplissage uni">
              <a:extLst>
                <a:ext uri="{FF2B5EF4-FFF2-40B4-BE49-F238E27FC236}">
                  <a16:creationId xmlns:a16="http://schemas.microsoft.com/office/drawing/2014/main" id="{A61579B2-FD50-CC62-8458-75FDB6437A0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54140" y="3512720"/>
              <a:ext cx="336064" cy="336064"/>
            </a:xfrm>
            <a:prstGeom prst="rect">
              <a:avLst/>
            </a:prstGeom>
          </p:spPr>
        </p:pic>
        <p:pic>
          <p:nvPicPr>
            <p:cNvPr id="450" name="Graphique 449" descr="Utilisateur avec un remplissage uni">
              <a:extLst>
                <a:ext uri="{FF2B5EF4-FFF2-40B4-BE49-F238E27FC236}">
                  <a16:creationId xmlns:a16="http://schemas.microsoft.com/office/drawing/2014/main" id="{34E1AB2A-D251-E6DF-DD1A-F8808E073B5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45616" y="3561880"/>
              <a:ext cx="336064" cy="336064"/>
            </a:xfrm>
            <a:prstGeom prst="rect">
              <a:avLst/>
            </a:prstGeom>
          </p:spPr>
        </p:pic>
        <p:pic>
          <p:nvPicPr>
            <p:cNvPr id="451" name="Graphique 450" descr="Utilisateur avec un remplissage uni">
              <a:extLst>
                <a:ext uri="{FF2B5EF4-FFF2-40B4-BE49-F238E27FC236}">
                  <a16:creationId xmlns:a16="http://schemas.microsoft.com/office/drawing/2014/main" id="{70C15188-17FF-CD4A-8160-D2FC17D7DCE2}"/>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92504" y="3418428"/>
              <a:ext cx="336064" cy="336064"/>
            </a:xfrm>
            <a:prstGeom prst="rect">
              <a:avLst/>
            </a:prstGeom>
          </p:spPr>
        </p:pic>
        <p:pic>
          <p:nvPicPr>
            <p:cNvPr id="452" name="Graphique 451" descr="Utilisateur avec un remplissage uni">
              <a:extLst>
                <a:ext uri="{FF2B5EF4-FFF2-40B4-BE49-F238E27FC236}">
                  <a16:creationId xmlns:a16="http://schemas.microsoft.com/office/drawing/2014/main" id="{4813A553-7169-4E45-677F-50509373DF2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635196" y="3680752"/>
              <a:ext cx="336064" cy="336064"/>
            </a:xfrm>
            <a:prstGeom prst="rect">
              <a:avLst/>
            </a:prstGeom>
          </p:spPr>
        </p:pic>
        <p:pic>
          <p:nvPicPr>
            <p:cNvPr id="453" name="Graphique 452" descr="Utilisateur avec un remplissage uni">
              <a:extLst>
                <a:ext uri="{FF2B5EF4-FFF2-40B4-BE49-F238E27FC236}">
                  <a16:creationId xmlns:a16="http://schemas.microsoft.com/office/drawing/2014/main" id="{399E44AB-549A-60C8-1EF0-B6898DD4C2A2}"/>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256440" y="3848784"/>
              <a:ext cx="336064" cy="336064"/>
            </a:xfrm>
            <a:prstGeom prst="rect">
              <a:avLst/>
            </a:prstGeom>
          </p:spPr>
        </p:pic>
        <p:pic>
          <p:nvPicPr>
            <p:cNvPr id="454" name="Graphique 453" descr="Utilisateur avec un remplissage uni">
              <a:extLst>
                <a:ext uri="{FF2B5EF4-FFF2-40B4-BE49-F238E27FC236}">
                  <a16:creationId xmlns:a16="http://schemas.microsoft.com/office/drawing/2014/main" id="{AA83A896-30C7-9B23-7AD0-DDF95C5FAF10}"/>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982504" y="3835028"/>
              <a:ext cx="336064" cy="336064"/>
            </a:xfrm>
            <a:prstGeom prst="rect">
              <a:avLst/>
            </a:prstGeom>
          </p:spPr>
        </p:pic>
        <p:pic>
          <p:nvPicPr>
            <p:cNvPr id="455" name="Graphique 454" descr="Utilisateur avec un remplissage uni">
              <a:extLst>
                <a:ext uri="{FF2B5EF4-FFF2-40B4-BE49-F238E27FC236}">
                  <a16:creationId xmlns:a16="http://schemas.microsoft.com/office/drawing/2014/main" id="{E70362AC-7DAD-3A1D-660F-10926104DC7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0868" y="3943076"/>
              <a:ext cx="336064" cy="336064"/>
            </a:xfrm>
            <a:prstGeom prst="rect">
              <a:avLst/>
            </a:prstGeom>
          </p:spPr>
        </p:pic>
        <p:pic>
          <p:nvPicPr>
            <p:cNvPr id="456" name="Graphique 455" descr="Utilisateur avec un remplissage uni">
              <a:extLst>
                <a:ext uri="{FF2B5EF4-FFF2-40B4-BE49-F238E27FC236}">
                  <a16:creationId xmlns:a16="http://schemas.microsoft.com/office/drawing/2014/main" id="{598D6F53-49C3-269A-22F6-192F897AA9A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42772" y="3976465"/>
              <a:ext cx="336064" cy="336064"/>
            </a:xfrm>
            <a:prstGeom prst="rect">
              <a:avLst/>
            </a:prstGeom>
          </p:spPr>
        </p:pic>
        <p:pic>
          <p:nvPicPr>
            <p:cNvPr id="457" name="Graphique 456" descr="Utilisateur avec un remplissage uni">
              <a:extLst>
                <a:ext uri="{FF2B5EF4-FFF2-40B4-BE49-F238E27FC236}">
                  <a16:creationId xmlns:a16="http://schemas.microsoft.com/office/drawing/2014/main" id="{6633F8B4-A166-68CF-4981-38CF35F9FF6C}"/>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77110" y="3705332"/>
              <a:ext cx="336064" cy="336064"/>
            </a:xfrm>
            <a:prstGeom prst="rect">
              <a:avLst/>
            </a:prstGeom>
          </p:spPr>
        </p:pic>
        <p:pic>
          <p:nvPicPr>
            <p:cNvPr id="458" name="Graphique 457" descr="Utilisateur avec un remplissage uni">
              <a:extLst>
                <a:ext uri="{FF2B5EF4-FFF2-40B4-BE49-F238E27FC236}">
                  <a16:creationId xmlns:a16="http://schemas.microsoft.com/office/drawing/2014/main" id="{E723FAA4-A84B-54B8-B667-207D73DF95F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856932" y="3429000"/>
              <a:ext cx="336064" cy="336064"/>
            </a:xfrm>
            <a:prstGeom prst="rect">
              <a:avLst/>
            </a:prstGeom>
          </p:spPr>
        </p:pic>
      </p:grpSp>
      <p:sp>
        <p:nvSpPr>
          <p:cNvPr id="70" name="ZoneTexte 69">
            <a:extLst>
              <a:ext uri="{FF2B5EF4-FFF2-40B4-BE49-F238E27FC236}">
                <a16:creationId xmlns:a16="http://schemas.microsoft.com/office/drawing/2014/main" id="{B8941518-5607-9888-1ED8-720851736E71}"/>
              </a:ext>
            </a:extLst>
          </p:cNvPr>
          <p:cNvSpPr txBox="1"/>
          <p:nvPr/>
        </p:nvSpPr>
        <p:spPr>
          <a:xfrm>
            <a:off x="1096188" y="4215479"/>
            <a:ext cx="2483035" cy="2585323"/>
          </a:xfrm>
          <a:prstGeom prst="rect">
            <a:avLst/>
          </a:prstGeom>
          <a:noFill/>
        </p:spPr>
        <p:txBody>
          <a:bodyPr wrap="square">
            <a:spAutoFit/>
          </a:bodyPr>
          <a:lstStyle/>
          <a:p>
            <a:pPr algn="ctr"/>
            <a:r>
              <a:rPr lang="fr-FR" dirty="0"/>
              <a:t>La valeur d’une Communauté pour ses membres n’est </a:t>
            </a:r>
            <a:r>
              <a:rPr lang="fr-FR" b="1" dirty="0"/>
              <a:t>pas la même pour toutes les communautés</a:t>
            </a:r>
            <a:r>
              <a:rPr lang="fr-FR" dirty="0"/>
              <a:t>, une </a:t>
            </a:r>
            <a:r>
              <a:rPr lang="fr-FR" b="1" dirty="0">
                <a:solidFill>
                  <a:srgbClr val="3494BA"/>
                </a:solidFill>
              </a:rPr>
              <a:t>meilleure compréhension </a:t>
            </a:r>
            <a:r>
              <a:rPr lang="fr-FR" dirty="0"/>
              <a:t>peut aider à </a:t>
            </a:r>
            <a:r>
              <a:rPr lang="fr-FR" b="1" dirty="0">
                <a:solidFill>
                  <a:srgbClr val="ED7D31"/>
                </a:solidFill>
              </a:rPr>
              <a:t>générer l’engagement</a:t>
            </a:r>
            <a:r>
              <a:rPr lang="fr-FR" dirty="0"/>
              <a:t>.</a:t>
            </a:r>
          </a:p>
        </p:txBody>
      </p:sp>
      <p:sp>
        <p:nvSpPr>
          <p:cNvPr id="71" name="ZoneTexte 70">
            <a:extLst>
              <a:ext uri="{FF2B5EF4-FFF2-40B4-BE49-F238E27FC236}">
                <a16:creationId xmlns:a16="http://schemas.microsoft.com/office/drawing/2014/main" id="{CA555526-ECB1-2650-0914-612CBC615457}"/>
              </a:ext>
            </a:extLst>
          </p:cNvPr>
          <p:cNvSpPr txBox="1"/>
          <p:nvPr/>
        </p:nvSpPr>
        <p:spPr>
          <a:xfrm>
            <a:off x="5113190" y="4215479"/>
            <a:ext cx="2829027" cy="2585323"/>
          </a:xfrm>
          <a:prstGeom prst="rect">
            <a:avLst/>
          </a:prstGeom>
          <a:noFill/>
        </p:spPr>
        <p:txBody>
          <a:bodyPr wrap="square">
            <a:spAutoFit/>
          </a:bodyPr>
          <a:lstStyle/>
          <a:p>
            <a:pPr algn="ctr"/>
            <a:r>
              <a:rPr lang="fr-FR" dirty="0"/>
              <a:t>Les effets positifs d’une Communauté d’entreprise pour les membres ne sont </a:t>
            </a:r>
            <a:r>
              <a:rPr lang="fr-FR" b="1" dirty="0"/>
              <a:t>pas tous facilement observables :</a:t>
            </a:r>
            <a:r>
              <a:rPr lang="fr-FR" dirty="0"/>
              <a:t> parmi les facilement observables, </a:t>
            </a:r>
            <a:r>
              <a:rPr lang="fr-FR" b="1" dirty="0">
                <a:solidFill>
                  <a:srgbClr val="ED7D31"/>
                </a:solidFill>
              </a:rPr>
              <a:t>seuls certains peuvent faire l’objet de KPI</a:t>
            </a:r>
            <a:r>
              <a:rPr lang="fr-FR" dirty="0"/>
              <a:t> (cas d’un effort de mesure réaliste)</a:t>
            </a:r>
          </a:p>
        </p:txBody>
      </p:sp>
      <p:sp>
        <p:nvSpPr>
          <p:cNvPr id="72" name="ZoneTexte 71">
            <a:extLst>
              <a:ext uri="{FF2B5EF4-FFF2-40B4-BE49-F238E27FC236}">
                <a16:creationId xmlns:a16="http://schemas.microsoft.com/office/drawing/2014/main" id="{D513DDE6-C69C-D372-A5DC-055C2333484D}"/>
              </a:ext>
            </a:extLst>
          </p:cNvPr>
          <p:cNvSpPr txBox="1"/>
          <p:nvPr/>
        </p:nvSpPr>
        <p:spPr>
          <a:xfrm>
            <a:off x="9130191" y="4215479"/>
            <a:ext cx="2829027" cy="2308324"/>
          </a:xfrm>
          <a:prstGeom prst="rect">
            <a:avLst/>
          </a:prstGeom>
          <a:noFill/>
        </p:spPr>
        <p:txBody>
          <a:bodyPr wrap="square">
            <a:spAutoFit/>
          </a:bodyPr>
          <a:lstStyle/>
          <a:p>
            <a:pPr algn="ctr"/>
            <a:r>
              <a:rPr lang="fr-FR" dirty="0"/>
              <a:t>Le vécu dans la Communauté peut </a:t>
            </a:r>
            <a:r>
              <a:rPr lang="fr-FR" b="1" dirty="0">
                <a:solidFill>
                  <a:srgbClr val="3494BA"/>
                </a:solidFill>
              </a:rPr>
              <a:t>être en équilibre avec le vécu des membres dans leur quotidien </a:t>
            </a:r>
            <a:r>
              <a:rPr lang="fr-FR" dirty="0"/>
              <a:t>« hors communauté », dans le sens où elle leur </a:t>
            </a:r>
            <a:r>
              <a:rPr lang="fr-FR" b="1" dirty="0">
                <a:solidFill>
                  <a:srgbClr val="ED7D31"/>
                </a:solidFill>
              </a:rPr>
              <a:t>permet de respirer </a:t>
            </a:r>
            <a:r>
              <a:rPr lang="fr-FR" dirty="0"/>
              <a:t>de ce quotidien. </a:t>
            </a:r>
          </a:p>
        </p:txBody>
      </p:sp>
      <p:sp>
        <p:nvSpPr>
          <p:cNvPr id="73" name="Organigramme : Connecteur 72">
            <a:extLst>
              <a:ext uri="{FF2B5EF4-FFF2-40B4-BE49-F238E27FC236}">
                <a16:creationId xmlns:a16="http://schemas.microsoft.com/office/drawing/2014/main" id="{31DEE0B0-2A6A-8C48-20D6-427B96DAD947}"/>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13</a:t>
            </a:r>
          </a:p>
        </p:txBody>
      </p:sp>
      <p:sp>
        <p:nvSpPr>
          <p:cNvPr id="74" name="Organigramme : Connecteur 73">
            <a:extLst>
              <a:ext uri="{FF2B5EF4-FFF2-40B4-BE49-F238E27FC236}">
                <a16:creationId xmlns:a16="http://schemas.microsoft.com/office/drawing/2014/main" id="{C4F9ADB4-4DB9-2177-5C48-195FEAEDCD2B}"/>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14</a:t>
            </a:r>
          </a:p>
        </p:txBody>
      </p:sp>
      <p:sp>
        <p:nvSpPr>
          <p:cNvPr id="75" name="Organigramme : Connecteur 74">
            <a:extLst>
              <a:ext uri="{FF2B5EF4-FFF2-40B4-BE49-F238E27FC236}">
                <a16:creationId xmlns:a16="http://schemas.microsoft.com/office/drawing/2014/main" id="{0954DD2C-75D3-3CB3-4D32-DDB05A8458C4}"/>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15</a:t>
            </a:r>
          </a:p>
        </p:txBody>
      </p:sp>
    </p:spTree>
    <p:extLst>
      <p:ext uri="{BB962C8B-B14F-4D97-AF65-F5344CB8AC3E}">
        <p14:creationId xmlns:p14="http://schemas.microsoft.com/office/powerpoint/2010/main" val="2424317745"/>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61606E-7B1B-AF13-91F0-CEB4ECD55444}"/>
              </a:ext>
            </a:extLst>
          </p:cNvPr>
          <p:cNvSpPr>
            <a:spLocks noGrp="1"/>
          </p:cNvSpPr>
          <p:nvPr>
            <p:ph type="title"/>
          </p:nvPr>
        </p:nvSpPr>
        <p:spPr/>
        <p:txBody>
          <a:bodyPr/>
          <a:lstStyle/>
          <a:p>
            <a:r>
              <a:rPr lang="fr-FR" dirty="0"/>
              <a:t>Résumé, une phrase par image</a:t>
            </a:r>
          </a:p>
        </p:txBody>
      </p:sp>
      <p:grpSp>
        <p:nvGrpSpPr>
          <p:cNvPr id="31" name="Groupe 30">
            <a:extLst>
              <a:ext uri="{FF2B5EF4-FFF2-40B4-BE49-F238E27FC236}">
                <a16:creationId xmlns:a16="http://schemas.microsoft.com/office/drawing/2014/main" id="{E0E2B4C9-71B8-70E3-AE4A-BC91B3BF4CBF}"/>
              </a:ext>
            </a:extLst>
          </p:cNvPr>
          <p:cNvGrpSpPr/>
          <p:nvPr/>
        </p:nvGrpSpPr>
        <p:grpSpPr>
          <a:xfrm>
            <a:off x="298779" y="2132715"/>
            <a:ext cx="3118572" cy="1718794"/>
            <a:chOff x="463550" y="1420160"/>
            <a:chExt cx="11264900" cy="5272740"/>
          </a:xfrm>
        </p:grpSpPr>
        <p:sp>
          <p:nvSpPr>
            <p:cNvPr id="32" name="Trapèze 31">
              <a:extLst>
                <a:ext uri="{FF2B5EF4-FFF2-40B4-BE49-F238E27FC236}">
                  <a16:creationId xmlns:a16="http://schemas.microsoft.com/office/drawing/2014/main" id="{9322456A-7E69-F1DB-4CBC-9A9A0D81B8D3}"/>
                </a:ext>
              </a:extLst>
            </p:cNvPr>
            <p:cNvSpPr/>
            <p:nvPr/>
          </p:nvSpPr>
          <p:spPr>
            <a:xfrm>
              <a:off x="463550" y="5080000"/>
              <a:ext cx="11264900" cy="1612900"/>
            </a:xfrm>
            <a:prstGeom prst="trapezoid">
              <a:avLst>
                <a:gd name="adj" fmla="val 6358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33" name="Triangle isocèle 32">
              <a:extLst>
                <a:ext uri="{FF2B5EF4-FFF2-40B4-BE49-F238E27FC236}">
                  <a16:creationId xmlns:a16="http://schemas.microsoft.com/office/drawing/2014/main" id="{23C4BF8A-1286-2FEC-FBAA-22A11AA2E7B3}"/>
                </a:ext>
              </a:extLst>
            </p:cNvPr>
            <p:cNvSpPr/>
            <p:nvPr/>
          </p:nvSpPr>
          <p:spPr>
            <a:xfrm>
              <a:off x="2800350" y="1420160"/>
              <a:ext cx="6553200" cy="1529080"/>
            </a:xfrm>
            <a:prstGeom prst="triangle">
              <a:avLst>
                <a:gd name="adj" fmla="val 5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a:p>
              <a:pPr algn="ctr"/>
              <a:endParaRPr lang="en-US" dirty="0"/>
            </a:p>
          </p:txBody>
        </p:sp>
        <p:grpSp>
          <p:nvGrpSpPr>
            <p:cNvPr id="34" name="Groupe 33">
              <a:extLst>
                <a:ext uri="{FF2B5EF4-FFF2-40B4-BE49-F238E27FC236}">
                  <a16:creationId xmlns:a16="http://schemas.microsoft.com/office/drawing/2014/main" id="{A391217F-EF9D-6B6A-566F-DF43500990DE}"/>
                </a:ext>
              </a:extLst>
            </p:cNvPr>
            <p:cNvGrpSpPr/>
            <p:nvPr/>
          </p:nvGrpSpPr>
          <p:grpSpPr>
            <a:xfrm>
              <a:off x="1527175" y="3040767"/>
              <a:ext cx="9137650" cy="1969383"/>
              <a:chOff x="1644650" y="3040767"/>
              <a:chExt cx="9137650" cy="1907219"/>
            </a:xfrm>
          </p:grpSpPr>
          <p:sp>
            <p:nvSpPr>
              <p:cNvPr id="37" name="Trapèze 36">
                <a:extLst>
                  <a:ext uri="{FF2B5EF4-FFF2-40B4-BE49-F238E27FC236}">
                    <a16:creationId xmlns:a16="http://schemas.microsoft.com/office/drawing/2014/main" id="{C8C4D37B-15C5-F006-A190-68596EEC2823}"/>
                  </a:ext>
                </a:extLst>
              </p:cNvPr>
              <p:cNvSpPr/>
              <p:nvPr/>
            </p:nvSpPr>
            <p:spPr>
              <a:xfrm>
                <a:off x="1644650"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200" dirty="0"/>
              </a:p>
            </p:txBody>
          </p:sp>
          <p:sp>
            <p:nvSpPr>
              <p:cNvPr id="38" name="Trapèze 37">
                <a:extLst>
                  <a:ext uri="{FF2B5EF4-FFF2-40B4-BE49-F238E27FC236}">
                    <a16:creationId xmlns:a16="http://schemas.microsoft.com/office/drawing/2014/main" id="{3C51DF46-4E01-FA13-0194-5567BAABFB37}"/>
                  </a:ext>
                </a:extLst>
              </p:cNvPr>
              <p:cNvSpPr/>
              <p:nvPr/>
            </p:nvSpPr>
            <p:spPr>
              <a:xfrm>
                <a:off x="2314030"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200" b="1" dirty="0"/>
              </a:p>
            </p:txBody>
          </p:sp>
          <p:sp>
            <p:nvSpPr>
              <p:cNvPr id="39" name="Trapèze 38">
                <a:extLst>
                  <a:ext uri="{FF2B5EF4-FFF2-40B4-BE49-F238E27FC236}">
                    <a16:creationId xmlns:a16="http://schemas.microsoft.com/office/drawing/2014/main" id="{5E600C5A-D018-C8A3-B5F2-171B45EFFA4F}"/>
                  </a:ext>
                </a:extLst>
              </p:cNvPr>
              <p:cNvSpPr/>
              <p:nvPr/>
            </p:nvSpPr>
            <p:spPr>
              <a:xfrm>
                <a:off x="6261747"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200" dirty="0"/>
              </a:p>
            </p:txBody>
          </p:sp>
          <p:sp>
            <p:nvSpPr>
              <p:cNvPr id="40" name="Trapèze 39">
                <a:extLst>
                  <a:ext uri="{FF2B5EF4-FFF2-40B4-BE49-F238E27FC236}">
                    <a16:creationId xmlns:a16="http://schemas.microsoft.com/office/drawing/2014/main" id="{F9E4C689-FF62-666D-ED8E-3B72D503E3A6}"/>
                  </a:ext>
                </a:extLst>
              </p:cNvPr>
              <p:cNvSpPr/>
              <p:nvPr/>
            </p:nvSpPr>
            <p:spPr>
              <a:xfrm>
                <a:off x="6927306"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200" b="1" dirty="0"/>
              </a:p>
            </p:txBody>
          </p:sp>
        </p:grpSp>
        <p:sp>
          <p:nvSpPr>
            <p:cNvPr id="35" name="Triangle isocèle 34">
              <a:extLst>
                <a:ext uri="{FF2B5EF4-FFF2-40B4-BE49-F238E27FC236}">
                  <a16:creationId xmlns:a16="http://schemas.microsoft.com/office/drawing/2014/main" id="{B0071DB5-5E1D-9FCA-2755-4E9B05B2150B}"/>
                </a:ext>
              </a:extLst>
            </p:cNvPr>
            <p:cNvSpPr/>
            <p:nvPr/>
          </p:nvSpPr>
          <p:spPr>
            <a:xfrm rot="10800000">
              <a:off x="4952497" y="3040768"/>
              <a:ext cx="2287008" cy="1795683"/>
            </a:xfrm>
            <a:prstGeom prst="triangl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ZoneTexte 35">
              <a:extLst>
                <a:ext uri="{FF2B5EF4-FFF2-40B4-BE49-F238E27FC236}">
                  <a16:creationId xmlns:a16="http://schemas.microsoft.com/office/drawing/2014/main" id="{16DDDC97-F193-197E-F6F5-B0E0204053DF}"/>
                </a:ext>
              </a:extLst>
            </p:cNvPr>
            <p:cNvSpPr txBox="1"/>
            <p:nvPr/>
          </p:nvSpPr>
          <p:spPr>
            <a:xfrm>
              <a:off x="4952497" y="3044170"/>
              <a:ext cx="2287008" cy="525310"/>
            </a:xfrm>
            <a:prstGeom prst="rect">
              <a:avLst/>
            </a:prstGeom>
            <a:noFill/>
          </p:spPr>
          <p:txBody>
            <a:bodyPr wrap="square">
              <a:spAutoFit/>
            </a:bodyPr>
            <a:lstStyle/>
            <a:p>
              <a:pPr algn="ctr"/>
              <a:endParaRPr lang="en-US" sz="1400" b="1" dirty="0"/>
            </a:p>
          </p:txBody>
        </p:sp>
      </p:grpSp>
      <p:grpSp>
        <p:nvGrpSpPr>
          <p:cNvPr id="48" name="Groupe 47">
            <a:extLst>
              <a:ext uri="{FF2B5EF4-FFF2-40B4-BE49-F238E27FC236}">
                <a16:creationId xmlns:a16="http://schemas.microsoft.com/office/drawing/2014/main" id="{7D737790-E0DE-A9D5-19CE-6B3287A2728A}"/>
              </a:ext>
            </a:extLst>
          </p:cNvPr>
          <p:cNvGrpSpPr/>
          <p:nvPr/>
        </p:nvGrpSpPr>
        <p:grpSpPr>
          <a:xfrm>
            <a:off x="4753393" y="2631161"/>
            <a:ext cx="2801673" cy="1183176"/>
            <a:chOff x="262080" y="1563591"/>
            <a:chExt cx="11723435" cy="5209797"/>
          </a:xfrm>
        </p:grpSpPr>
        <p:grpSp>
          <p:nvGrpSpPr>
            <p:cNvPr id="49" name="Groupe 48">
              <a:extLst>
                <a:ext uri="{FF2B5EF4-FFF2-40B4-BE49-F238E27FC236}">
                  <a16:creationId xmlns:a16="http://schemas.microsoft.com/office/drawing/2014/main" id="{F4A2DB47-B25F-6F9D-B4A7-689137F38D18}"/>
                </a:ext>
              </a:extLst>
            </p:cNvPr>
            <p:cNvGrpSpPr/>
            <p:nvPr/>
          </p:nvGrpSpPr>
          <p:grpSpPr>
            <a:xfrm>
              <a:off x="2609577" y="1563591"/>
              <a:ext cx="1467257" cy="1169474"/>
              <a:chOff x="2609577" y="1563591"/>
              <a:chExt cx="1467257" cy="1169474"/>
            </a:xfrm>
          </p:grpSpPr>
          <p:grpSp>
            <p:nvGrpSpPr>
              <p:cNvPr id="171" name="Groupe 170">
                <a:extLst>
                  <a:ext uri="{FF2B5EF4-FFF2-40B4-BE49-F238E27FC236}">
                    <a16:creationId xmlns:a16="http://schemas.microsoft.com/office/drawing/2014/main" id="{5BE09A9C-6C77-1460-F276-866FA8F0CB6E}"/>
                  </a:ext>
                </a:extLst>
              </p:cNvPr>
              <p:cNvGrpSpPr/>
              <p:nvPr/>
            </p:nvGrpSpPr>
            <p:grpSpPr>
              <a:xfrm>
                <a:off x="2609577" y="1563591"/>
                <a:ext cx="1412109" cy="1169474"/>
                <a:chOff x="2645545" y="3994190"/>
                <a:chExt cx="1412109" cy="1169474"/>
              </a:xfrm>
            </p:grpSpPr>
            <p:pic>
              <p:nvPicPr>
                <p:cNvPr id="173" name="Graphique 172" descr="Diable avec un remplissage uni">
                  <a:extLst>
                    <a:ext uri="{FF2B5EF4-FFF2-40B4-BE49-F238E27FC236}">
                      <a16:creationId xmlns:a16="http://schemas.microsoft.com/office/drawing/2014/main" id="{B9D81A57-B520-FD0B-708E-676EC82A075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174" name="Graphique 173" descr="Base-ball avec un remplissage uni">
                  <a:extLst>
                    <a:ext uri="{FF2B5EF4-FFF2-40B4-BE49-F238E27FC236}">
                      <a16:creationId xmlns:a16="http://schemas.microsoft.com/office/drawing/2014/main" id="{F266FB47-9AB0-7E51-F1A1-BB863A12180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175" name="Rectangle 174">
                  <a:extLst>
                    <a:ext uri="{FF2B5EF4-FFF2-40B4-BE49-F238E27FC236}">
                      <a16:creationId xmlns:a16="http://schemas.microsoft.com/office/drawing/2014/main" id="{5FF9EE34-1AC4-5E3A-7DFD-9FD8AEA1C732}"/>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172" name="Graphique 171" descr="Boîte à archives avec un remplissage uni">
                <a:extLst>
                  <a:ext uri="{FF2B5EF4-FFF2-40B4-BE49-F238E27FC236}">
                    <a16:creationId xmlns:a16="http://schemas.microsoft.com/office/drawing/2014/main" id="{62DCF72B-9113-94D7-634C-6DD3A8F163A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50" name="Groupe 49">
              <a:extLst>
                <a:ext uri="{FF2B5EF4-FFF2-40B4-BE49-F238E27FC236}">
                  <a16:creationId xmlns:a16="http://schemas.microsoft.com/office/drawing/2014/main" id="{C6C29107-2D53-694A-A091-67C9218FE61E}"/>
                </a:ext>
              </a:extLst>
            </p:cNvPr>
            <p:cNvGrpSpPr/>
            <p:nvPr/>
          </p:nvGrpSpPr>
          <p:grpSpPr>
            <a:xfrm>
              <a:off x="2907742" y="4287731"/>
              <a:ext cx="1467257" cy="1169474"/>
              <a:chOff x="2609577" y="1563591"/>
              <a:chExt cx="1467257" cy="1169474"/>
            </a:xfrm>
          </p:grpSpPr>
          <p:grpSp>
            <p:nvGrpSpPr>
              <p:cNvPr id="166" name="Groupe 165">
                <a:extLst>
                  <a:ext uri="{FF2B5EF4-FFF2-40B4-BE49-F238E27FC236}">
                    <a16:creationId xmlns:a16="http://schemas.microsoft.com/office/drawing/2014/main" id="{0CC77D71-D689-CB81-B379-5E1C833A90F1}"/>
                  </a:ext>
                </a:extLst>
              </p:cNvPr>
              <p:cNvGrpSpPr/>
              <p:nvPr/>
            </p:nvGrpSpPr>
            <p:grpSpPr>
              <a:xfrm>
                <a:off x="2609577" y="1563591"/>
                <a:ext cx="1412109" cy="1169474"/>
                <a:chOff x="2645545" y="3994190"/>
                <a:chExt cx="1412109" cy="1169474"/>
              </a:xfrm>
            </p:grpSpPr>
            <p:pic>
              <p:nvPicPr>
                <p:cNvPr id="168" name="Graphique 167" descr="Diable avec un remplissage uni">
                  <a:extLst>
                    <a:ext uri="{FF2B5EF4-FFF2-40B4-BE49-F238E27FC236}">
                      <a16:creationId xmlns:a16="http://schemas.microsoft.com/office/drawing/2014/main" id="{284CFE92-F472-F2AF-5121-F78171BBE5C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169" name="Graphique 168" descr="Base-ball avec un remplissage uni">
                  <a:extLst>
                    <a:ext uri="{FF2B5EF4-FFF2-40B4-BE49-F238E27FC236}">
                      <a16:creationId xmlns:a16="http://schemas.microsoft.com/office/drawing/2014/main" id="{F8F01C85-9638-5ACE-7152-35109C5924B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170" name="Rectangle 169">
                  <a:extLst>
                    <a:ext uri="{FF2B5EF4-FFF2-40B4-BE49-F238E27FC236}">
                      <a16:creationId xmlns:a16="http://schemas.microsoft.com/office/drawing/2014/main" id="{46AAC563-12BF-8DF5-1066-3456F55EBC48}"/>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167" name="Graphique 166" descr="Boîte à archives avec un remplissage uni">
                <a:extLst>
                  <a:ext uri="{FF2B5EF4-FFF2-40B4-BE49-F238E27FC236}">
                    <a16:creationId xmlns:a16="http://schemas.microsoft.com/office/drawing/2014/main" id="{85839899-702B-F9CF-E924-0A4A29A9C1A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51" name="Groupe 50">
              <a:extLst>
                <a:ext uri="{FF2B5EF4-FFF2-40B4-BE49-F238E27FC236}">
                  <a16:creationId xmlns:a16="http://schemas.microsoft.com/office/drawing/2014/main" id="{64A9B255-540C-6642-29F2-576D2D01AA20}"/>
                </a:ext>
              </a:extLst>
            </p:cNvPr>
            <p:cNvGrpSpPr/>
            <p:nvPr/>
          </p:nvGrpSpPr>
          <p:grpSpPr>
            <a:xfrm>
              <a:off x="2547542" y="5603914"/>
              <a:ext cx="1467257" cy="1169474"/>
              <a:chOff x="2609577" y="1563591"/>
              <a:chExt cx="1467257" cy="1169474"/>
            </a:xfrm>
          </p:grpSpPr>
          <p:grpSp>
            <p:nvGrpSpPr>
              <p:cNvPr id="161" name="Groupe 160">
                <a:extLst>
                  <a:ext uri="{FF2B5EF4-FFF2-40B4-BE49-F238E27FC236}">
                    <a16:creationId xmlns:a16="http://schemas.microsoft.com/office/drawing/2014/main" id="{DA4F2ABA-27F2-6A4E-4329-BC4844E257C4}"/>
                  </a:ext>
                </a:extLst>
              </p:cNvPr>
              <p:cNvGrpSpPr/>
              <p:nvPr/>
            </p:nvGrpSpPr>
            <p:grpSpPr>
              <a:xfrm>
                <a:off x="2609577" y="1563591"/>
                <a:ext cx="1412109" cy="1169474"/>
                <a:chOff x="2645545" y="3994190"/>
                <a:chExt cx="1412109" cy="1169474"/>
              </a:xfrm>
            </p:grpSpPr>
            <p:pic>
              <p:nvPicPr>
                <p:cNvPr id="163" name="Graphique 162" descr="Diable avec un remplissage uni">
                  <a:extLst>
                    <a:ext uri="{FF2B5EF4-FFF2-40B4-BE49-F238E27FC236}">
                      <a16:creationId xmlns:a16="http://schemas.microsoft.com/office/drawing/2014/main" id="{C8ABADC1-EB3C-6FBE-96D1-876AAD41748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164" name="Graphique 163" descr="Base-ball avec un remplissage uni">
                  <a:extLst>
                    <a:ext uri="{FF2B5EF4-FFF2-40B4-BE49-F238E27FC236}">
                      <a16:creationId xmlns:a16="http://schemas.microsoft.com/office/drawing/2014/main" id="{CCD8D818-9CF9-AF92-F7B0-B9D618669B8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165" name="Rectangle 164">
                  <a:extLst>
                    <a:ext uri="{FF2B5EF4-FFF2-40B4-BE49-F238E27FC236}">
                      <a16:creationId xmlns:a16="http://schemas.microsoft.com/office/drawing/2014/main" id="{53795A7A-7F04-63DD-DE6F-52407A72E8C3}"/>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162" name="Graphique 161" descr="Boîte à archives avec un remplissage uni">
                <a:extLst>
                  <a:ext uri="{FF2B5EF4-FFF2-40B4-BE49-F238E27FC236}">
                    <a16:creationId xmlns:a16="http://schemas.microsoft.com/office/drawing/2014/main" id="{14FE0610-69DB-E9F0-642B-1E13C1B0612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52" name="Groupe 51">
              <a:extLst>
                <a:ext uri="{FF2B5EF4-FFF2-40B4-BE49-F238E27FC236}">
                  <a16:creationId xmlns:a16="http://schemas.microsoft.com/office/drawing/2014/main" id="{2C37B7F9-6C29-0747-1185-3D8BADBA8FD6}"/>
                </a:ext>
              </a:extLst>
            </p:cNvPr>
            <p:cNvGrpSpPr/>
            <p:nvPr/>
          </p:nvGrpSpPr>
          <p:grpSpPr>
            <a:xfrm>
              <a:off x="1098866" y="4806407"/>
              <a:ext cx="1467257" cy="1169474"/>
              <a:chOff x="2609577" y="1563591"/>
              <a:chExt cx="1467257" cy="1169474"/>
            </a:xfrm>
          </p:grpSpPr>
          <p:grpSp>
            <p:nvGrpSpPr>
              <p:cNvPr id="156" name="Groupe 155">
                <a:extLst>
                  <a:ext uri="{FF2B5EF4-FFF2-40B4-BE49-F238E27FC236}">
                    <a16:creationId xmlns:a16="http://schemas.microsoft.com/office/drawing/2014/main" id="{5585506A-B841-2458-A560-0A0069BA1483}"/>
                  </a:ext>
                </a:extLst>
              </p:cNvPr>
              <p:cNvGrpSpPr/>
              <p:nvPr/>
            </p:nvGrpSpPr>
            <p:grpSpPr>
              <a:xfrm>
                <a:off x="2609577" y="1563591"/>
                <a:ext cx="1412109" cy="1169474"/>
                <a:chOff x="2645545" y="3994190"/>
                <a:chExt cx="1412109" cy="1169474"/>
              </a:xfrm>
            </p:grpSpPr>
            <p:pic>
              <p:nvPicPr>
                <p:cNvPr id="158" name="Graphique 157" descr="Diable avec un remplissage uni">
                  <a:extLst>
                    <a:ext uri="{FF2B5EF4-FFF2-40B4-BE49-F238E27FC236}">
                      <a16:creationId xmlns:a16="http://schemas.microsoft.com/office/drawing/2014/main" id="{6E29F292-A533-1EAF-85AB-AF42F5672D1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037365" y="4143375"/>
                  <a:ext cx="1020289" cy="1020289"/>
                </a:xfrm>
                <a:prstGeom prst="rect">
                  <a:avLst/>
                </a:prstGeom>
              </p:spPr>
            </p:pic>
            <p:pic>
              <p:nvPicPr>
                <p:cNvPr id="159" name="Graphique 158" descr="Base-ball avec un remplissage uni">
                  <a:extLst>
                    <a:ext uri="{FF2B5EF4-FFF2-40B4-BE49-F238E27FC236}">
                      <a16:creationId xmlns:a16="http://schemas.microsoft.com/office/drawing/2014/main" id="{B80CDCF1-63D0-1D4C-3F90-03AD83CD712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2645545" y="4030462"/>
                  <a:ext cx="993713" cy="1133202"/>
                </a:xfrm>
                <a:prstGeom prst="rect">
                  <a:avLst/>
                </a:prstGeom>
              </p:spPr>
            </p:pic>
            <p:sp>
              <p:nvSpPr>
                <p:cNvPr id="160" name="Rectangle 159">
                  <a:extLst>
                    <a:ext uri="{FF2B5EF4-FFF2-40B4-BE49-F238E27FC236}">
                      <a16:creationId xmlns:a16="http://schemas.microsoft.com/office/drawing/2014/main" id="{3ACC7CCC-F4E8-C93D-2FD3-6457CE313C4B}"/>
                    </a:ext>
                  </a:extLst>
                </p:cNvPr>
                <p:cNvSpPr/>
                <p:nvPr/>
              </p:nvSpPr>
              <p:spPr>
                <a:xfrm rot="3108432">
                  <a:off x="3005259" y="4126217"/>
                  <a:ext cx="388342" cy="124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157" name="Graphique 156" descr="Boîte à archives avec un remplissage uni">
                <a:extLst>
                  <a:ext uri="{FF2B5EF4-FFF2-40B4-BE49-F238E27FC236}">
                    <a16:creationId xmlns:a16="http://schemas.microsoft.com/office/drawing/2014/main" id="{A609E1C4-55E8-9CD9-2933-D6BDAD786C7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55485">
                <a:off x="3419733" y="1863768"/>
                <a:ext cx="657101" cy="657101"/>
              </a:xfrm>
              <a:prstGeom prst="rect">
                <a:avLst/>
              </a:prstGeom>
            </p:spPr>
          </p:pic>
        </p:grpSp>
        <p:grpSp>
          <p:nvGrpSpPr>
            <p:cNvPr id="53" name="Groupe 52">
              <a:extLst>
                <a:ext uri="{FF2B5EF4-FFF2-40B4-BE49-F238E27FC236}">
                  <a16:creationId xmlns:a16="http://schemas.microsoft.com/office/drawing/2014/main" id="{CAC8C8A1-3FEE-C24F-36D1-2B5FDA3C03AC}"/>
                </a:ext>
              </a:extLst>
            </p:cNvPr>
            <p:cNvGrpSpPr/>
            <p:nvPr/>
          </p:nvGrpSpPr>
          <p:grpSpPr>
            <a:xfrm flipH="1">
              <a:off x="5650743" y="2263842"/>
              <a:ext cx="1093937" cy="1165158"/>
              <a:chOff x="1680627" y="1783722"/>
              <a:chExt cx="1331514" cy="1331514"/>
            </a:xfrm>
          </p:grpSpPr>
          <p:pic>
            <p:nvPicPr>
              <p:cNvPr id="143" name="Graphique 142" descr="Mur de briques en construction avec un remplissage uni">
                <a:extLst>
                  <a:ext uri="{FF2B5EF4-FFF2-40B4-BE49-F238E27FC236}">
                    <a16:creationId xmlns:a16="http://schemas.microsoft.com/office/drawing/2014/main" id="{DBB9BA56-84BF-CEEF-A21B-04F326E55D1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680627" y="1783722"/>
                <a:ext cx="1331514" cy="1331514"/>
              </a:xfrm>
              <a:prstGeom prst="rect">
                <a:avLst/>
              </a:prstGeom>
            </p:spPr>
          </p:pic>
          <p:sp>
            <p:nvSpPr>
              <p:cNvPr id="144" name="Rectangle 143">
                <a:extLst>
                  <a:ext uri="{FF2B5EF4-FFF2-40B4-BE49-F238E27FC236}">
                    <a16:creationId xmlns:a16="http://schemas.microsoft.com/office/drawing/2014/main" id="{3A1EDD0A-504F-AD6C-2FAD-4C0E2D352B80}"/>
                  </a:ext>
                </a:extLst>
              </p:cNvPr>
              <p:cNvSpPr/>
              <p:nvPr/>
            </p:nvSpPr>
            <p:spPr>
              <a:xfrm>
                <a:off x="2206885" y="2187027"/>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 name="Rectangle 144">
                <a:extLst>
                  <a:ext uri="{FF2B5EF4-FFF2-40B4-BE49-F238E27FC236}">
                    <a16:creationId xmlns:a16="http://schemas.microsoft.com/office/drawing/2014/main" id="{B5692DE8-E1F5-40A7-134D-22F216B2EE77}"/>
                  </a:ext>
                </a:extLst>
              </p:cNvPr>
              <p:cNvSpPr/>
              <p:nvPr/>
            </p:nvSpPr>
            <p:spPr>
              <a:xfrm>
                <a:off x="2040953" y="2380609"/>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 name="Rectangle 145">
                <a:extLst>
                  <a:ext uri="{FF2B5EF4-FFF2-40B4-BE49-F238E27FC236}">
                    <a16:creationId xmlns:a16="http://schemas.microsoft.com/office/drawing/2014/main" id="{30C6F07E-3038-C637-3AC5-75E1D2E3A6C2}"/>
                  </a:ext>
                </a:extLst>
              </p:cNvPr>
              <p:cNvSpPr/>
              <p:nvPr/>
            </p:nvSpPr>
            <p:spPr>
              <a:xfrm>
                <a:off x="2370053" y="2380609"/>
                <a:ext cx="281521"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 name="Rectangle 146">
                <a:extLst>
                  <a:ext uri="{FF2B5EF4-FFF2-40B4-BE49-F238E27FC236}">
                    <a16:creationId xmlns:a16="http://schemas.microsoft.com/office/drawing/2014/main" id="{E00E697E-33D0-6346-7683-7F9DEEB7D970}"/>
                  </a:ext>
                </a:extLst>
              </p:cNvPr>
              <p:cNvSpPr/>
              <p:nvPr/>
            </p:nvSpPr>
            <p:spPr>
              <a:xfrm>
                <a:off x="2543616" y="2573362"/>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Rectangle 147">
                <a:extLst>
                  <a:ext uri="{FF2B5EF4-FFF2-40B4-BE49-F238E27FC236}">
                    <a16:creationId xmlns:a16="http://schemas.microsoft.com/office/drawing/2014/main" id="{DF0B3338-C961-9441-5169-524D4EFEFD5E}"/>
                  </a:ext>
                </a:extLst>
              </p:cNvPr>
              <p:cNvSpPr/>
              <p:nvPr/>
            </p:nvSpPr>
            <p:spPr>
              <a:xfrm>
                <a:off x="1872248" y="2573361"/>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 name="Rectangle 148">
                <a:extLst>
                  <a:ext uri="{FF2B5EF4-FFF2-40B4-BE49-F238E27FC236}">
                    <a16:creationId xmlns:a16="http://schemas.microsoft.com/office/drawing/2014/main" id="{61A7DF7B-ED85-3B58-0D3F-ABF428DF48E0}"/>
                  </a:ext>
                </a:extLst>
              </p:cNvPr>
              <p:cNvSpPr/>
              <p:nvPr/>
            </p:nvSpPr>
            <p:spPr>
              <a:xfrm>
                <a:off x="2040953" y="2768494"/>
                <a:ext cx="281521"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 name="Rectangle 149">
                <a:extLst>
                  <a:ext uri="{FF2B5EF4-FFF2-40B4-BE49-F238E27FC236}">
                    <a16:creationId xmlns:a16="http://schemas.microsoft.com/office/drawing/2014/main" id="{0C465049-9C1C-AC29-9842-8610DC7CF5D3}"/>
                  </a:ext>
                </a:extLst>
              </p:cNvPr>
              <p:cNvSpPr/>
              <p:nvPr/>
            </p:nvSpPr>
            <p:spPr>
              <a:xfrm>
                <a:off x="2376662" y="2767730"/>
                <a:ext cx="281521"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 name="Rectangle 150">
                <a:extLst>
                  <a:ext uri="{FF2B5EF4-FFF2-40B4-BE49-F238E27FC236}">
                    <a16:creationId xmlns:a16="http://schemas.microsoft.com/office/drawing/2014/main" id="{C5E0C3D9-BFD2-6E36-7682-0CD4AA881642}"/>
                  </a:ext>
                </a:extLst>
              </p:cNvPr>
              <p:cNvSpPr/>
              <p:nvPr/>
            </p:nvSpPr>
            <p:spPr>
              <a:xfrm>
                <a:off x="1872247" y="2185476"/>
                <a:ext cx="281521" cy="13773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 name="Rectangle 151">
                <a:extLst>
                  <a:ext uri="{FF2B5EF4-FFF2-40B4-BE49-F238E27FC236}">
                    <a16:creationId xmlns:a16="http://schemas.microsoft.com/office/drawing/2014/main" id="{1C901EC6-C4C6-3641-2558-78D497B83E64}"/>
                  </a:ext>
                </a:extLst>
              </p:cNvPr>
              <p:cNvSpPr/>
              <p:nvPr/>
            </p:nvSpPr>
            <p:spPr>
              <a:xfrm>
                <a:off x="2705487" y="2379659"/>
                <a:ext cx="117270" cy="1377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 name="Rectangle 152">
                <a:extLst>
                  <a:ext uri="{FF2B5EF4-FFF2-40B4-BE49-F238E27FC236}">
                    <a16:creationId xmlns:a16="http://schemas.microsoft.com/office/drawing/2014/main" id="{9AA7BAE1-026B-5D7D-4ED7-5BDF48EDDB5C}"/>
                  </a:ext>
                </a:extLst>
              </p:cNvPr>
              <p:cNvSpPr/>
              <p:nvPr/>
            </p:nvSpPr>
            <p:spPr>
              <a:xfrm>
                <a:off x="2705487" y="2768496"/>
                <a:ext cx="117270" cy="13773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Rectangle 153">
                <a:extLst>
                  <a:ext uri="{FF2B5EF4-FFF2-40B4-BE49-F238E27FC236}">
                    <a16:creationId xmlns:a16="http://schemas.microsoft.com/office/drawing/2014/main" id="{5D283C58-C397-C135-7A19-68B0EA938CE3}"/>
                  </a:ext>
                </a:extLst>
              </p:cNvPr>
              <p:cNvSpPr/>
              <p:nvPr/>
            </p:nvSpPr>
            <p:spPr>
              <a:xfrm>
                <a:off x="1872247" y="2768496"/>
                <a:ext cx="117270" cy="13773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5" name="Rectangle 154">
                <a:extLst>
                  <a:ext uri="{FF2B5EF4-FFF2-40B4-BE49-F238E27FC236}">
                    <a16:creationId xmlns:a16="http://schemas.microsoft.com/office/drawing/2014/main" id="{1FDE8CAB-2816-9848-6ACD-5394727EA366}"/>
                  </a:ext>
                </a:extLst>
              </p:cNvPr>
              <p:cNvSpPr/>
              <p:nvPr/>
            </p:nvSpPr>
            <p:spPr>
              <a:xfrm>
                <a:off x="1872247" y="2378228"/>
                <a:ext cx="117270" cy="13773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 name="Groupe 53">
              <a:extLst>
                <a:ext uri="{FF2B5EF4-FFF2-40B4-BE49-F238E27FC236}">
                  <a16:creationId xmlns:a16="http://schemas.microsoft.com/office/drawing/2014/main" id="{49A08D13-5EB9-E04E-8553-FF8273E238BE}"/>
                </a:ext>
              </a:extLst>
            </p:cNvPr>
            <p:cNvGrpSpPr/>
            <p:nvPr/>
          </p:nvGrpSpPr>
          <p:grpSpPr>
            <a:xfrm>
              <a:off x="875862" y="1893808"/>
              <a:ext cx="1383385" cy="1242096"/>
              <a:chOff x="5247267" y="8072371"/>
              <a:chExt cx="817082" cy="733631"/>
            </a:xfrm>
          </p:grpSpPr>
          <p:grpSp>
            <p:nvGrpSpPr>
              <p:cNvPr id="138" name="Groupe 137">
                <a:extLst>
                  <a:ext uri="{FF2B5EF4-FFF2-40B4-BE49-F238E27FC236}">
                    <a16:creationId xmlns:a16="http://schemas.microsoft.com/office/drawing/2014/main" id="{1C48395E-54B4-4CDD-9BBF-D335609F984A}"/>
                  </a:ext>
                </a:extLst>
              </p:cNvPr>
              <p:cNvGrpSpPr/>
              <p:nvPr/>
            </p:nvGrpSpPr>
            <p:grpSpPr>
              <a:xfrm>
                <a:off x="5247267" y="8117813"/>
                <a:ext cx="817082" cy="688189"/>
                <a:chOff x="3890963" y="2438774"/>
                <a:chExt cx="1085661" cy="914400"/>
              </a:xfrm>
            </p:grpSpPr>
            <p:pic>
              <p:nvPicPr>
                <p:cNvPr id="140" name="Graphique 139" descr="Culturiste avec un remplissage uni">
                  <a:extLst>
                    <a:ext uri="{FF2B5EF4-FFF2-40B4-BE49-F238E27FC236}">
                      <a16:creationId xmlns:a16="http://schemas.microsoft.com/office/drawing/2014/main" id="{D3271DF4-A974-DFA8-07BD-15A51372138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81356" y="2438774"/>
                  <a:ext cx="914400" cy="914400"/>
                </a:xfrm>
                <a:prstGeom prst="rect">
                  <a:avLst/>
                </a:prstGeom>
              </p:spPr>
            </p:pic>
            <p:sp>
              <p:nvSpPr>
                <p:cNvPr id="141" name="Rectangle 140">
                  <a:extLst>
                    <a:ext uri="{FF2B5EF4-FFF2-40B4-BE49-F238E27FC236}">
                      <a16:creationId xmlns:a16="http://schemas.microsoft.com/office/drawing/2014/main" id="{FB8BDD08-33FC-60A4-43E1-8050505FDBCB}"/>
                    </a:ext>
                  </a:extLst>
                </p:cNvPr>
                <p:cNvSpPr/>
                <p:nvPr/>
              </p:nvSpPr>
              <p:spPr>
                <a:xfrm>
                  <a:off x="3890963"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BCB830DD-7D83-86E9-9448-3C7FFC984F05}"/>
                    </a:ext>
                  </a:extLst>
                </p:cNvPr>
                <p:cNvSpPr/>
                <p:nvPr/>
              </p:nvSpPr>
              <p:spPr>
                <a:xfrm>
                  <a:off x="4700399"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39" name="Rectangle 138">
                <a:extLst>
                  <a:ext uri="{FF2B5EF4-FFF2-40B4-BE49-F238E27FC236}">
                    <a16:creationId xmlns:a16="http://schemas.microsoft.com/office/drawing/2014/main" id="{2178147A-F292-8D61-7EE7-998612C2A171}"/>
                  </a:ext>
                </a:extLst>
              </p:cNvPr>
              <p:cNvSpPr/>
              <p:nvPr/>
            </p:nvSpPr>
            <p:spPr>
              <a:xfrm>
                <a:off x="5519269" y="8072371"/>
                <a:ext cx="298624" cy="1461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 name="Groupe 54">
              <a:extLst>
                <a:ext uri="{FF2B5EF4-FFF2-40B4-BE49-F238E27FC236}">
                  <a16:creationId xmlns:a16="http://schemas.microsoft.com/office/drawing/2014/main" id="{BB20BBB4-622D-DD35-8B69-EB4AC594BD85}"/>
                </a:ext>
              </a:extLst>
            </p:cNvPr>
            <p:cNvGrpSpPr/>
            <p:nvPr/>
          </p:nvGrpSpPr>
          <p:grpSpPr>
            <a:xfrm flipH="1">
              <a:off x="648773" y="3490364"/>
              <a:ext cx="627050" cy="1144490"/>
              <a:chOff x="5134003" y="2196472"/>
              <a:chExt cx="563254" cy="1156702"/>
            </a:xfrm>
          </p:grpSpPr>
          <p:pic>
            <p:nvPicPr>
              <p:cNvPr id="136" name="Graphique 135" descr="Réussite du groupe avec un remplissage uni">
                <a:extLst>
                  <a:ext uri="{FF2B5EF4-FFF2-40B4-BE49-F238E27FC236}">
                    <a16:creationId xmlns:a16="http://schemas.microsoft.com/office/drawing/2014/main" id="{109416F3-70A3-EA4E-2291-9E17443B9EFF}"/>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69977" t="13713" r="6403" b="17430"/>
              <a:stretch/>
            </p:blipFill>
            <p:spPr>
              <a:xfrm>
                <a:off x="5300474" y="2196472"/>
                <a:ext cx="396783" cy="1156702"/>
              </a:xfrm>
              <a:prstGeom prst="rect">
                <a:avLst/>
              </a:prstGeom>
            </p:spPr>
          </p:pic>
          <p:sp>
            <p:nvSpPr>
              <p:cNvPr id="137" name="Rectangle 136">
                <a:extLst>
                  <a:ext uri="{FF2B5EF4-FFF2-40B4-BE49-F238E27FC236}">
                    <a16:creationId xmlns:a16="http://schemas.microsoft.com/office/drawing/2014/main" id="{E64D8916-7EAE-11DD-48EC-C4EB6D4CFDF5}"/>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 name="Groupe 55">
              <a:extLst>
                <a:ext uri="{FF2B5EF4-FFF2-40B4-BE49-F238E27FC236}">
                  <a16:creationId xmlns:a16="http://schemas.microsoft.com/office/drawing/2014/main" id="{340EF751-F4AF-EF4C-6B30-BCED1468F218}"/>
                </a:ext>
              </a:extLst>
            </p:cNvPr>
            <p:cNvGrpSpPr/>
            <p:nvPr/>
          </p:nvGrpSpPr>
          <p:grpSpPr>
            <a:xfrm>
              <a:off x="9653107" y="2807835"/>
              <a:ext cx="2332408" cy="2332408"/>
              <a:chOff x="9835911" y="2807662"/>
              <a:chExt cx="1796250" cy="1796250"/>
            </a:xfrm>
          </p:grpSpPr>
          <p:pic>
            <p:nvPicPr>
              <p:cNvPr id="73" name="Graphique 72" descr="Cathédrale avec un remplissage uni">
                <a:extLst>
                  <a:ext uri="{FF2B5EF4-FFF2-40B4-BE49-F238E27FC236}">
                    <a16:creationId xmlns:a16="http://schemas.microsoft.com/office/drawing/2014/main" id="{13958B60-66DE-9EED-95CA-1FD3D1822BE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835911" y="2807662"/>
                <a:ext cx="1796250" cy="1796250"/>
              </a:xfrm>
              <a:prstGeom prst="rect">
                <a:avLst/>
              </a:prstGeom>
            </p:spPr>
          </p:pic>
          <p:sp>
            <p:nvSpPr>
              <p:cNvPr id="74" name="Rectangle 73">
                <a:extLst>
                  <a:ext uri="{FF2B5EF4-FFF2-40B4-BE49-F238E27FC236}">
                    <a16:creationId xmlns:a16="http://schemas.microsoft.com/office/drawing/2014/main" id="{CD7DE09E-DB49-7E58-0D29-BD79A77C7FDA}"/>
                  </a:ext>
                </a:extLst>
              </p:cNvPr>
              <p:cNvSpPr/>
              <p:nvPr/>
            </p:nvSpPr>
            <p:spPr>
              <a:xfrm>
                <a:off x="10218483" y="4488333"/>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Rectangle 74">
                <a:extLst>
                  <a:ext uri="{FF2B5EF4-FFF2-40B4-BE49-F238E27FC236}">
                    <a16:creationId xmlns:a16="http://schemas.microsoft.com/office/drawing/2014/main" id="{D53C8E64-60A5-1301-090D-A58CE6D180F7}"/>
                  </a:ext>
                </a:extLst>
              </p:cNvPr>
              <p:cNvSpPr/>
              <p:nvPr/>
            </p:nvSpPr>
            <p:spPr>
              <a:xfrm>
                <a:off x="10039942" y="4487898"/>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 name="Rectangle 75">
                <a:extLst>
                  <a:ext uri="{FF2B5EF4-FFF2-40B4-BE49-F238E27FC236}">
                    <a16:creationId xmlns:a16="http://schemas.microsoft.com/office/drawing/2014/main" id="{0CA8AEA5-6D2D-2D30-0BE6-5A35AD5A31C1}"/>
                  </a:ext>
                </a:extLst>
              </p:cNvPr>
              <p:cNvSpPr/>
              <p:nvPr/>
            </p:nvSpPr>
            <p:spPr>
              <a:xfrm>
                <a:off x="10126610" y="4389730"/>
                <a:ext cx="164538"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Rectangle 76">
                <a:extLst>
                  <a:ext uri="{FF2B5EF4-FFF2-40B4-BE49-F238E27FC236}">
                    <a16:creationId xmlns:a16="http://schemas.microsoft.com/office/drawing/2014/main" id="{D77DEE4F-B66D-C970-9548-D9FC4FA707E8}"/>
                  </a:ext>
                </a:extLst>
              </p:cNvPr>
              <p:cNvSpPr/>
              <p:nvPr/>
            </p:nvSpPr>
            <p:spPr>
              <a:xfrm>
                <a:off x="10278475" y="4297650"/>
                <a:ext cx="104547"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Rectangle 77">
                <a:extLst>
                  <a:ext uri="{FF2B5EF4-FFF2-40B4-BE49-F238E27FC236}">
                    <a16:creationId xmlns:a16="http://schemas.microsoft.com/office/drawing/2014/main" id="{C1D102AB-C87F-19F6-A59D-839083B8BA08}"/>
                  </a:ext>
                </a:extLst>
              </p:cNvPr>
              <p:cNvSpPr/>
              <p:nvPr/>
            </p:nvSpPr>
            <p:spPr>
              <a:xfrm>
                <a:off x="10039941" y="4292459"/>
                <a:ext cx="11195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Rectangle 78">
                <a:extLst>
                  <a:ext uri="{FF2B5EF4-FFF2-40B4-BE49-F238E27FC236}">
                    <a16:creationId xmlns:a16="http://schemas.microsoft.com/office/drawing/2014/main" id="{32C25DF3-D5D0-C312-4F8E-0874C192AC57}"/>
                  </a:ext>
                </a:extLst>
              </p:cNvPr>
              <p:cNvSpPr/>
              <p:nvPr/>
            </p:nvSpPr>
            <p:spPr>
              <a:xfrm>
                <a:off x="10302363" y="4389731"/>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Rectangle 79">
                <a:extLst>
                  <a:ext uri="{FF2B5EF4-FFF2-40B4-BE49-F238E27FC236}">
                    <a16:creationId xmlns:a16="http://schemas.microsoft.com/office/drawing/2014/main" id="{FF0830C8-C6C5-3B21-B8BA-66EDD28D2E86}"/>
                  </a:ext>
                </a:extLst>
              </p:cNvPr>
              <p:cNvSpPr/>
              <p:nvPr/>
            </p:nvSpPr>
            <p:spPr>
              <a:xfrm>
                <a:off x="10037202" y="4389731"/>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Rectangle 80">
                <a:extLst>
                  <a:ext uri="{FF2B5EF4-FFF2-40B4-BE49-F238E27FC236}">
                    <a16:creationId xmlns:a16="http://schemas.microsoft.com/office/drawing/2014/main" id="{46FCA8DA-F346-75A6-7D48-AB84CDAC9FFE}"/>
                  </a:ext>
                </a:extLst>
              </p:cNvPr>
              <p:cNvSpPr/>
              <p:nvPr/>
            </p:nvSpPr>
            <p:spPr>
              <a:xfrm>
                <a:off x="10436079" y="4482522"/>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Rectangle 81">
                <a:extLst>
                  <a:ext uri="{FF2B5EF4-FFF2-40B4-BE49-F238E27FC236}">
                    <a16:creationId xmlns:a16="http://schemas.microsoft.com/office/drawing/2014/main" id="{5ADC4E59-00F1-4D5A-04EF-A901A2D9CF27}"/>
                  </a:ext>
                </a:extLst>
              </p:cNvPr>
              <p:cNvSpPr/>
              <p:nvPr/>
            </p:nvSpPr>
            <p:spPr>
              <a:xfrm>
                <a:off x="10436079" y="4389730"/>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Rectangle 82">
                <a:extLst>
                  <a:ext uri="{FF2B5EF4-FFF2-40B4-BE49-F238E27FC236}">
                    <a16:creationId xmlns:a16="http://schemas.microsoft.com/office/drawing/2014/main" id="{570E99A6-AE94-5D5D-93A0-77E26AFCF39A}"/>
                  </a:ext>
                </a:extLst>
              </p:cNvPr>
              <p:cNvSpPr/>
              <p:nvPr/>
            </p:nvSpPr>
            <p:spPr>
              <a:xfrm>
                <a:off x="10436299" y="4296319"/>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 name="Rectangle 83">
                <a:extLst>
                  <a:ext uri="{FF2B5EF4-FFF2-40B4-BE49-F238E27FC236}">
                    <a16:creationId xmlns:a16="http://schemas.microsoft.com/office/drawing/2014/main" id="{35F4BDD4-28C3-80CA-6E1E-59CCE76488EB}"/>
                  </a:ext>
                </a:extLst>
              </p:cNvPr>
              <p:cNvSpPr/>
              <p:nvPr/>
            </p:nvSpPr>
            <p:spPr>
              <a:xfrm>
                <a:off x="10436079" y="4201946"/>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 name="Rectangle 84">
                <a:extLst>
                  <a:ext uri="{FF2B5EF4-FFF2-40B4-BE49-F238E27FC236}">
                    <a16:creationId xmlns:a16="http://schemas.microsoft.com/office/drawing/2014/main" id="{402B4EB8-B2FA-6FDF-F471-1224723198C0}"/>
                  </a:ext>
                </a:extLst>
              </p:cNvPr>
              <p:cNvSpPr/>
              <p:nvPr/>
            </p:nvSpPr>
            <p:spPr>
              <a:xfrm>
                <a:off x="10933093" y="449077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 name="Rectangle 85">
                <a:extLst>
                  <a:ext uri="{FF2B5EF4-FFF2-40B4-BE49-F238E27FC236}">
                    <a16:creationId xmlns:a16="http://schemas.microsoft.com/office/drawing/2014/main" id="{B5299B93-6BA6-114C-239C-CE61EF135B49}"/>
                  </a:ext>
                </a:extLst>
              </p:cNvPr>
              <p:cNvSpPr/>
              <p:nvPr/>
            </p:nvSpPr>
            <p:spPr>
              <a:xfrm>
                <a:off x="10933093" y="4397984"/>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 name="Rectangle 86">
                <a:extLst>
                  <a:ext uri="{FF2B5EF4-FFF2-40B4-BE49-F238E27FC236}">
                    <a16:creationId xmlns:a16="http://schemas.microsoft.com/office/drawing/2014/main" id="{A5B8793C-F728-A952-AA88-52010341F491}"/>
                  </a:ext>
                </a:extLst>
              </p:cNvPr>
              <p:cNvSpPr/>
              <p:nvPr/>
            </p:nvSpPr>
            <p:spPr>
              <a:xfrm>
                <a:off x="10933314" y="4304573"/>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Rectangle 87">
                <a:extLst>
                  <a:ext uri="{FF2B5EF4-FFF2-40B4-BE49-F238E27FC236}">
                    <a16:creationId xmlns:a16="http://schemas.microsoft.com/office/drawing/2014/main" id="{FB5E17AF-F73B-81CF-A87B-EB98E6AA0F23}"/>
                  </a:ext>
                </a:extLst>
              </p:cNvPr>
              <p:cNvSpPr/>
              <p:nvPr/>
            </p:nvSpPr>
            <p:spPr>
              <a:xfrm>
                <a:off x="10933093" y="4210201"/>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 name="Rectangle 88">
                <a:extLst>
                  <a:ext uri="{FF2B5EF4-FFF2-40B4-BE49-F238E27FC236}">
                    <a16:creationId xmlns:a16="http://schemas.microsoft.com/office/drawing/2014/main" id="{7DFF3FF0-6E64-6A9D-823F-4A4DA9C55E69}"/>
                  </a:ext>
                </a:extLst>
              </p:cNvPr>
              <p:cNvSpPr/>
              <p:nvPr/>
            </p:nvSpPr>
            <p:spPr>
              <a:xfrm>
                <a:off x="10933093" y="4112478"/>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Rectangle 89">
                <a:extLst>
                  <a:ext uri="{FF2B5EF4-FFF2-40B4-BE49-F238E27FC236}">
                    <a16:creationId xmlns:a16="http://schemas.microsoft.com/office/drawing/2014/main" id="{BC285765-E62B-92DD-71E3-6F86E0358521}"/>
                  </a:ext>
                </a:extLst>
              </p:cNvPr>
              <p:cNvSpPr/>
              <p:nvPr/>
            </p:nvSpPr>
            <p:spPr>
              <a:xfrm>
                <a:off x="10933093" y="4019686"/>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 name="Rectangle 90">
                <a:extLst>
                  <a:ext uri="{FF2B5EF4-FFF2-40B4-BE49-F238E27FC236}">
                    <a16:creationId xmlns:a16="http://schemas.microsoft.com/office/drawing/2014/main" id="{72D89318-DCFE-E76D-22C5-023C3F00F269}"/>
                  </a:ext>
                </a:extLst>
              </p:cNvPr>
              <p:cNvSpPr/>
              <p:nvPr/>
            </p:nvSpPr>
            <p:spPr>
              <a:xfrm>
                <a:off x="10933314" y="3926275"/>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Rectangle 91">
                <a:extLst>
                  <a:ext uri="{FF2B5EF4-FFF2-40B4-BE49-F238E27FC236}">
                    <a16:creationId xmlns:a16="http://schemas.microsoft.com/office/drawing/2014/main" id="{5282ABBD-6A24-3AE7-7FC5-7F446FA73503}"/>
                  </a:ext>
                </a:extLst>
              </p:cNvPr>
              <p:cNvSpPr/>
              <p:nvPr/>
            </p:nvSpPr>
            <p:spPr>
              <a:xfrm>
                <a:off x="10933093" y="3831903"/>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Rectangle 92">
                <a:extLst>
                  <a:ext uri="{FF2B5EF4-FFF2-40B4-BE49-F238E27FC236}">
                    <a16:creationId xmlns:a16="http://schemas.microsoft.com/office/drawing/2014/main" id="{FFF8CFA6-4875-90EF-C35A-A3F8D72D4584}"/>
                  </a:ext>
                </a:extLst>
              </p:cNvPr>
              <p:cNvSpPr/>
              <p:nvPr/>
            </p:nvSpPr>
            <p:spPr>
              <a:xfrm>
                <a:off x="10436079" y="410286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4" name="Rectangle 93">
                <a:extLst>
                  <a:ext uri="{FF2B5EF4-FFF2-40B4-BE49-F238E27FC236}">
                    <a16:creationId xmlns:a16="http://schemas.microsoft.com/office/drawing/2014/main" id="{E552A92E-EF28-5B1D-8514-B78E504E105D}"/>
                  </a:ext>
                </a:extLst>
              </p:cNvPr>
              <p:cNvSpPr/>
              <p:nvPr/>
            </p:nvSpPr>
            <p:spPr>
              <a:xfrm>
                <a:off x="10436079" y="4010075"/>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Rectangle 94">
                <a:extLst>
                  <a:ext uri="{FF2B5EF4-FFF2-40B4-BE49-F238E27FC236}">
                    <a16:creationId xmlns:a16="http://schemas.microsoft.com/office/drawing/2014/main" id="{FC74746C-5BCD-DEE3-3A81-D2AE02C71AD7}"/>
                  </a:ext>
                </a:extLst>
              </p:cNvPr>
              <p:cNvSpPr/>
              <p:nvPr/>
            </p:nvSpPr>
            <p:spPr>
              <a:xfrm>
                <a:off x="10435444" y="3916716"/>
                <a:ext cx="147855"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6" name="Rectangle 95">
                <a:extLst>
                  <a:ext uri="{FF2B5EF4-FFF2-40B4-BE49-F238E27FC236}">
                    <a16:creationId xmlns:a16="http://schemas.microsoft.com/office/drawing/2014/main" id="{9C55D43C-2149-AD6F-208A-BBC0C0D94D9A}"/>
                  </a:ext>
                </a:extLst>
              </p:cNvPr>
              <p:cNvSpPr/>
              <p:nvPr/>
            </p:nvSpPr>
            <p:spPr>
              <a:xfrm>
                <a:off x="10435224" y="3831902"/>
                <a:ext cx="147855"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7" name="Rectangle 96">
                <a:extLst>
                  <a:ext uri="{FF2B5EF4-FFF2-40B4-BE49-F238E27FC236}">
                    <a16:creationId xmlns:a16="http://schemas.microsoft.com/office/drawing/2014/main" id="{8F567665-C091-874E-142F-7A4572BE27AA}"/>
                  </a:ext>
                </a:extLst>
              </p:cNvPr>
              <p:cNvSpPr/>
              <p:nvPr/>
            </p:nvSpPr>
            <p:spPr>
              <a:xfrm>
                <a:off x="10596194" y="3831902"/>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8" name="Rectangle 97">
                <a:extLst>
                  <a:ext uri="{FF2B5EF4-FFF2-40B4-BE49-F238E27FC236}">
                    <a16:creationId xmlns:a16="http://schemas.microsoft.com/office/drawing/2014/main" id="{33B8F70C-F8CC-0358-FAC6-5472343F60A4}"/>
                  </a:ext>
                </a:extLst>
              </p:cNvPr>
              <p:cNvSpPr/>
              <p:nvPr/>
            </p:nvSpPr>
            <p:spPr>
              <a:xfrm>
                <a:off x="10823783" y="3832506"/>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9" name="Rectangle 98">
                <a:extLst>
                  <a:ext uri="{FF2B5EF4-FFF2-40B4-BE49-F238E27FC236}">
                    <a16:creationId xmlns:a16="http://schemas.microsoft.com/office/drawing/2014/main" id="{6F0F67FB-119E-6E8F-710E-5E632438C44E}"/>
                  </a:ext>
                </a:extLst>
              </p:cNvPr>
              <p:cNvSpPr/>
              <p:nvPr/>
            </p:nvSpPr>
            <p:spPr>
              <a:xfrm>
                <a:off x="10534911" y="3743967"/>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0" name="Rectangle 99">
                <a:extLst>
                  <a:ext uri="{FF2B5EF4-FFF2-40B4-BE49-F238E27FC236}">
                    <a16:creationId xmlns:a16="http://schemas.microsoft.com/office/drawing/2014/main" id="{D2C14248-1B79-047B-CE61-5FDB74E8367F}"/>
                  </a:ext>
                </a:extLst>
              </p:cNvPr>
              <p:cNvSpPr/>
              <p:nvPr/>
            </p:nvSpPr>
            <p:spPr>
              <a:xfrm>
                <a:off x="10709481" y="3743966"/>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1" name="Rectangle 100">
                <a:extLst>
                  <a:ext uri="{FF2B5EF4-FFF2-40B4-BE49-F238E27FC236}">
                    <a16:creationId xmlns:a16="http://schemas.microsoft.com/office/drawing/2014/main" id="{EF0FC8F8-FE26-F772-D91D-5ECDA8D98F11}"/>
                  </a:ext>
                </a:extLst>
              </p:cNvPr>
              <p:cNvSpPr/>
              <p:nvPr/>
            </p:nvSpPr>
            <p:spPr>
              <a:xfrm>
                <a:off x="10892456" y="3742790"/>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2" name="Rectangle 101">
                <a:extLst>
                  <a:ext uri="{FF2B5EF4-FFF2-40B4-BE49-F238E27FC236}">
                    <a16:creationId xmlns:a16="http://schemas.microsoft.com/office/drawing/2014/main" id="{F908AA11-7665-6E26-5B80-6EB5F4BA7662}"/>
                  </a:ext>
                </a:extLst>
              </p:cNvPr>
              <p:cNvSpPr/>
              <p:nvPr/>
            </p:nvSpPr>
            <p:spPr>
              <a:xfrm>
                <a:off x="10277958" y="4202651"/>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3" name="Rectangle 102">
                <a:extLst>
                  <a:ext uri="{FF2B5EF4-FFF2-40B4-BE49-F238E27FC236}">
                    <a16:creationId xmlns:a16="http://schemas.microsoft.com/office/drawing/2014/main" id="{3B9845AC-2456-3E69-15C9-E0CF72B445D2}"/>
                  </a:ext>
                </a:extLst>
              </p:cNvPr>
              <p:cNvSpPr/>
              <p:nvPr/>
            </p:nvSpPr>
            <p:spPr>
              <a:xfrm>
                <a:off x="10277958" y="410985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4" name="Rectangle 103">
                <a:extLst>
                  <a:ext uri="{FF2B5EF4-FFF2-40B4-BE49-F238E27FC236}">
                    <a16:creationId xmlns:a16="http://schemas.microsoft.com/office/drawing/2014/main" id="{33A79C79-53CB-4E8B-B4E6-D36AC66C5DA9}"/>
                  </a:ext>
                </a:extLst>
              </p:cNvPr>
              <p:cNvSpPr/>
              <p:nvPr/>
            </p:nvSpPr>
            <p:spPr>
              <a:xfrm>
                <a:off x="10278178" y="401644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5" name="Rectangle 104">
                <a:extLst>
                  <a:ext uri="{FF2B5EF4-FFF2-40B4-BE49-F238E27FC236}">
                    <a16:creationId xmlns:a16="http://schemas.microsoft.com/office/drawing/2014/main" id="{9544A5DA-90F9-9FAC-06E4-32CDDBC55EC0}"/>
                  </a:ext>
                </a:extLst>
              </p:cNvPr>
              <p:cNvSpPr/>
              <p:nvPr/>
            </p:nvSpPr>
            <p:spPr>
              <a:xfrm>
                <a:off x="10277958" y="3922075"/>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6" name="Rectangle 105">
                <a:extLst>
                  <a:ext uri="{FF2B5EF4-FFF2-40B4-BE49-F238E27FC236}">
                    <a16:creationId xmlns:a16="http://schemas.microsoft.com/office/drawing/2014/main" id="{FD1B0BCE-1D88-5103-F00A-0852E6A017C7}"/>
                  </a:ext>
                </a:extLst>
              </p:cNvPr>
              <p:cNvSpPr/>
              <p:nvPr/>
            </p:nvSpPr>
            <p:spPr>
              <a:xfrm>
                <a:off x="10277958" y="3824352"/>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Rectangle 106">
                <a:extLst>
                  <a:ext uri="{FF2B5EF4-FFF2-40B4-BE49-F238E27FC236}">
                    <a16:creationId xmlns:a16="http://schemas.microsoft.com/office/drawing/2014/main" id="{397E5D42-C2F5-1282-5D6F-20A9EB243263}"/>
                  </a:ext>
                </a:extLst>
              </p:cNvPr>
              <p:cNvSpPr/>
              <p:nvPr/>
            </p:nvSpPr>
            <p:spPr>
              <a:xfrm>
                <a:off x="10047590" y="419651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Rectangle 107">
                <a:extLst>
                  <a:ext uri="{FF2B5EF4-FFF2-40B4-BE49-F238E27FC236}">
                    <a16:creationId xmlns:a16="http://schemas.microsoft.com/office/drawing/2014/main" id="{83F2169D-96CD-26EE-9558-4DE626E1DE08}"/>
                  </a:ext>
                </a:extLst>
              </p:cNvPr>
              <p:cNvSpPr/>
              <p:nvPr/>
            </p:nvSpPr>
            <p:spPr>
              <a:xfrm>
                <a:off x="10047590" y="4103721"/>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9" name="Rectangle 108">
                <a:extLst>
                  <a:ext uri="{FF2B5EF4-FFF2-40B4-BE49-F238E27FC236}">
                    <a16:creationId xmlns:a16="http://schemas.microsoft.com/office/drawing/2014/main" id="{301BD655-B087-E603-709C-09968DCD935A}"/>
                  </a:ext>
                </a:extLst>
              </p:cNvPr>
              <p:cNvSpPr/>
              <p:nvPr/>
            </p:nvSpPr>
            <p:spPr>
              <a:xfrm>
                <a:off x="10047811" y="4010310"/>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Rectangle 109">
                <a:extLst>
                  <a:ext uri="{FF2B5EF4-FFF2-40B4-BE49-F238E27FC236}">
                    <a16:creationId xmlns:a16="http://schemas.microsoft.com/office/drawing/2014/main" id="{F0992FFB-33C6-D016-A82F-D32C09D995EC}"/>
                  </a:ext>
                </a:extLst>
              </p:cNvPr>
              <p:cNvSpPr/>
              <p:nvPr/>
            </p:nvSpPr>
            <p:spPr>
              <a:xfrm>
                <a:off x="10047590" y="3915938"/>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1" name="Rectangle 110">
                <a:extLst>
                  <a:ext uri="{FF2B5EF4-FFF2-40B4-BE49-F238E27FC236}">
                    <a16:creationId xmlns:a16="http://schemas.microsoft.com/office/drawing/2014/main" id="{303A3E62-ECB3-C65D-64D5-14F1CFCB2E3C}"/>
                  </a:ext>
                </a:extLst>
              </p:cNvPr>
              <p:cNvSpPr/>
              <p:nvPr/>
            </p:nvSpPr>
            <p:spPr>
              <a:xfrm>
                <a:off x="10047590" y="3818215"/>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2" name="Rectangle 111">
                <a:extLst>
                  <a:ext uri="{FF2B5EF4-FFF2-40B4-BE49-F238E27FC236}">
                    <a16:creationId xmlns:a16="http://schemas.microsoft.com/office/drawing/2014/main" id="{A777004D-96C0-ECCC-0125-BD15568BF520}"/>
                  </a:ext>
                </a:extLst>
              </p:cNvPr>
              <p:cNvSpPr/>
              <p:nvPr/>
            </p:nvSpPr>
            <p:spPr>
              <a:xfrm>
                <a:off x="10162774" y="3963589"/>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3" name="Rectangle 112">
                <a:extLst>
                  <a:ext uri="{FF2B5EF4-FFF2-40B4-BE49-F238E27FC236}">
                    <a16:creationId xmlns:a16="http://schemas.microsoft.com/office/drawing/2014/main" id="{068801A1-0247-03BF-C59A-24C929BDE761}"/>
                  </a:ext>
                </a:extLst>
              </p:cNvPr>
              <p:cNvSpPr/>
              <p:nvPr/>
            </p:nvSpPr>
            <p:spPr>
              <a:xfrm>
                <a:off x="10162774" y="3870797"/>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4" name="Rectangle 113">
                <a:extLst>
                  <a:ext uri="{FF2B5EF4-FFF2-40B4-BE49-F238E27FC236}">
                    <a16:creationId xmlns:a16="http://schemas.microsoft.com/office/drawing/2014/main" id="{12003EB5-FAFF-2A44-637D-C9BF5119E794}"/>
                  </a:ext>
                </a:extLst>
              </p:cNvPr>
              <p:cNvSpPr/>
              <p:nvPr/>
            </p:nvSpPr>
            <p:spPr>
              <a:xfrm>
                <a:off x="10165167" y="3783041"/>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5" name="Rectangle 114">
                <a:extLst>
                  <a:ext uri="{FF2B5EF4-FFF2-40B4-BE49-F238E27FC236}">
                    <a16:creationId xmlns:a16="http://schemas.microsoft.com/office/drawing/2014/main" id="{E88557C2-C24C-7BEB-BF90-9A1D5A3A9EBD}"/>
                  </a:ext>
                </a:extLst>
              </p:cNvPr>
              <p:cNvSpPr/>
              <p:nvPr/>
            </p:nvSpPr>
            <p:spPr>
              <a:xfrm>
                <a:off x="10280910" y="372763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Rectangle 115">
                <a:extLst>
                  <a:ext uri="{FF2B5EF4-FFF2-40B4-BE49-F238E27FC236}">
                    <a16:creationId xmlns:a16="http://schemas.microsoft.com/office/drawing/2014/main" id="{4A7B792F-61B8-760E-EE79-512C91680796}"/>
                  </a:ext>
                </a:extLst>
              </p:cNvPr>
              <p:cNvSpPr/>
              <p:nvPr/>
            </p:nvSpPr>
            <p:spPr>
              <a:xfrm>
                <a:off x="10281131" y="363422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Rectangle 116">
                <a:extLst>
                  <a:ext uri="{FF2B5EF4-FFF2-40B4-BE49-F238E27FC236}">
                    <a16:creationId xmlns:a16="http://schemas.microsoft.com/office/drawing/2014/main" id="{552F2CAA-FEEC-64A0-7BF2-74D496AE2DFD}"/>
                  </a:ext>
                </a:extLst>
              </p:cNvPr>
              <p:cNvSpPr/>
              <p:nvPr/>
            </p:nvSpPr>
            <p:spPr>
              <a:xfrm>
                <a:off x="10280910" y="3539856"/>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8" name="Rectangle 117">
                <a:extLst>
                  <a:ext uri="{FF2B5EF4-FFF2-40B4-BE49-F238E27FC236}">
                    <a16:creationId xmlns:a16="http://schemas.microsoft.com/office/drawing/2014/main" id="{AE650E94-2F88-4998-F122-7C067BE0F1CC}"/>
                  </a:ext>
                </a:extLst>
              </p:cNvPr>
              <p:cNvSpPr/>
              <p:nvPr/>
            </p:nvSpPr>
            <p:spPr>
              <a:xfrm>
                <a:off x="10280910" y="344213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 name="Rectangle 118">
                <a:extLst>
                  <a:ext uri="{FF2B5EF4-FFF2-40B4-BE49-F238E27FC236}">
                    <a16:creationId xmlns:a16="http://schemas.microsoft.com/office/drawing/2014/main" id="{BA8477D5-D856-707D-F08B-96AF76F98B6A}"/>
                  </a:ext>
                </a:extLst>
              </p:cNvPr>
              <p:cNvSpPr/>
              <p:nvPr/>
            </p:nvSpPr>
            <p:spPr>
              <a:xfrm>
                <a:off x="10047590" y="3726789"/>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 name="Rectangle 119">
                <a:extLst>
                  <a:ext uri="{FF2B5EF4-FFF2-40B4-BE49-F238E27FC236}">
                    <a16:creationId xmlns:a16="http://schemas.microsoft.com/office/drawing/2014/main" id="{35136908-EFA6-50C2-2F9B-A0CA6E8FB3CD}"/>
                  </a:ext>
                </a:extLst>
              </p:cNvPr>
              <p:cNvSpPr/>
              <p:nvPr/>
            </p:nvSpPr>
            <p:spPr>
              <a:xfrm>
                <a:off x="10047811" y="3633378"/>
                <a:ext cx="9883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 name="Rectangle 120">
                <a:extLst>
                  <a:ext uri="{FF2B5EF4-FFF2-40B4-BE49-F238E27FC236}">
                    <a16:creationId xmlns:a16="http://schemas.microsoft.com/office/drawing/2014/main" id="{8DE78470-E356-CD7C-A229-33C5C0B1267D}"/>
                  </a:ext>
                </a:extLst>
              </p:cNvPr>
              <p:cNvSpPr/>
              <p:nvPr/>
            </p:nvSpPr>
            <p:spPr>
              <a:xfrm>
                <a:off x="10047590" y="3539005"/>
                <a:ext cx="103000"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Rectangle 121">
                <a:extLst>
                  <a:ext uri="{FF2B5EF4-FFF2-40B4-BE49-F238E27FC236}">
                    <a16:creationId xmlns:a16="http://schemas.microsoft.com/office/drawing/2014/main" id="{769DE04E-4CFF-6BB8-3E32-8D63D7055C54}"/>
                  </a:ext>
                </a:extLst>
              </p:cNvPr>
              <p:cNvSpPr/>
              <p:nvPr/>
            </p:nvSpPr>
            <p:spPr>
              <a:xfrm>
                <a:off x="10047590" y="3441283"/>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 name="Rectangle 122">
                <a:extLst>
                  <a:ext uri="{FF2B5EF4-FFF2-40B4-BE49-F238E27FC236}">
                    <a16:creationId xmlns:a16="http://schemas.microsoft.com/office/drawing/2014/main" id="{96D92164-5BE7-07D0-068A-2653565CE23A}"/>
                  </a:ext>
                </a:extLst>
              </p:cNvPr>
              <p:cNvSpPr/>
              <p:nvPr/>
            </p:nvSpPr>
            <p:spPr>
              <a:xfrm>
                <a:off x="10162774" y="3447131"/>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 name="Rectangle 123">
                <a:extLst>
                  <a:ext uri="{FF2B5EF4-FFF2-40B4-BE49-F238E27FC236}">
                    <a16:creationId xmlns:a16="http://schemas.microsoft.com/office/drawing/2014/main" id="{D358A54E-5B62-75AA-53A6-E05FFA5A02AA}"/>
                  </a:ext>
                </a:extLst>
              </p:cNvPr>
              <p:cNvSpPr/>
              <p:nvPr/>
            </p:nvSpPr>
            <p:spPr>
              <a:xfrm>
                <a:off x="10165167" y="3359375"/>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 name="Rectangle 124">
                <a:extLst>
                  <a:ext uri="{FF2B5EF4-FFF2-40B4-BE49-F238E27FC236}">
                    <a16:creationId xmlns:a16="http://schemas.microsoft.com/office/drawing/2014/main" id="{154CBBEC-131A-0448-DC8E-B6178CA14E39}"/>
                  </a:ext>
                </a:extLst>
              </p:cNvPr>
              <p:cNvSpPr/>
              <p:nvPr/>
            </p:nvSpPr>
            <p:spPr>
              <a:xfrm>
                <a:off x="11261438" y="4486079"/>
                <a:ext cx="16453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 name="Rectangle 125">
                <a:extLst>
                  <a:ext uri="{FF2B5EF4-FFF2-40B4-BE49-F238E27FC236}">
                    <a16:creationId xmlns:a16="http://schemas.microsoft.com/office/drawing/2014/main" id="{47663165-ACC4-419D-13F6-B9C58A6A78D2}"/>
                  </a:ext>
                </a:extLst>
              </p:cNvPr>
              <p:cNvSpPr/>
              <p:nvPr/>
            </p:nvSpPr>
            <p:spPr>
              <a:xfrm>
                <a:off x="11082898" y="4485643"/>
                <a:ext cx="164538" cy="8050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 name="Rectangle 126">
                <a:extLst>
                  <a:ext uri="{FF2B5EF4-FFF2-40B4-BE49-F238E27FC236}">
                    <a16:creationId xmlns:a16="http://schemas.microsoft.com/office/drawing/2014/main" id="{D7CA72BF-6970-706F-C9B3-2621C5A83AE4}"/>
                  </a:ext>
                </a:extLst>
              </p:cNvPr>
              <p:cNvSpPr/>
              <p:nvPr/>
            </p:nvSpPr>
            <p:spPr>
              <a:xfrm>
                <a:off x="11169566" y="4387475"/>
                <a:ext cx="164538"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 name="Rectangle 127">
                <a:extLst>
                  <a:ext uri="{FF2B5EF4-FFF2-40B4-BE49-F238E27FC236}">
                    <a16:creationId xmlns:a16="http://schemas.microsoft.com/office/drawing/2014/main" id="{D7BA17C2-B111-1F66-389E-C75DD7863675}"/>
                  </a:ext>
                </a:extLst>
              </p:cNvPr>
              <p:cNvSpPr/>
              <p:nvPr/>
            </p:nvSpPr>
            <p:spPr>
              <a:xfrm>
                <a:off x="11321431" y="4295395"/>
                <a:ext cx="104547"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 name="Rectangle 128">
                <a:extLst>
                  <a:ext uri="{FF2B5EF4-FFF2-40B4-BE49-F238E27FC236}">
                    <a16:creationId xmlns:a16="http://schemas.microsoft.com/office/drawing/2014/main" id="{D80D75FC-D2B9-8AF4-00A1-C2EA7108D37D}"/>
                  </a:ext>
                </a:extLst>
              </p:cNvPr>
              <p:cNvSpPr/>
              <p:nvPr/>
            </p:nvSpPr>
            <p:spPr>
              <a:xfrm>
                <a:off x="11082897" y="4290204"/>
                <a:ext cx="111952" cy="80503"/>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 name="Rectangle 129">
                <a:extLst>
                  <a:ext uri="{FF2B5EF4-FFF2-40B4-BE49-F238E27FC236}">
                    <a16:creationId xmlns:a16="http://schemas.microsoft.com/office/drawing/2014/main" id="{F96E0FF8-0CBA-0D38-324F-6A51961F04AC}"/>
                  </a:ext>
                </a:extLst>
              </p:cNvPr>
              <p:cNvSpPr/>
              <p:nvPr/>
            </p:nvSpPr>
            <p:spPr>
              <a:xfrm>
                <a:off x="11345319" y="4387476"/>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Rectangle 130">
                <a:extLst>
                  <a:ext uri="{FF2B5EF4-FFF2-40B4-BE49-F238E27FC236}">
                    <a16:creationId xmlns:a16="http://schemas.microsoft.com/office/drawing/2014/main" id="{EE1CD06E-BA28-ACB0-E74C-25B413129119}"/>
                  </a:ext>
                </a:extLst>
              </p:cNvPr>
              <p:cNvSpPr/>
              <p:nvPr/>
            </p:nvSpPr>
            <p:spPr>
              <a:xfrm>
                <a:off x="11080158" y="4387476"/>
                <a:ext cx="80658"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Rectangle 131">
                <a:extLst>
                  <a:ext uri="{FF2B5EF4-FFF2-40B4-BE49-F238E27FC236}">
                    <a16:creationId xmlns:a16="http://schemas.microsoft.com/office/drawing/2014/main" id="{442E086E-DD39-79B2-E8B4-533A2C769D6C}"/>
                  </a:ext>
                </a:extLst>
              </p:cNvPr>
              <p:cNvSpPr/>
              <p:nvPr/>
            </p:nvSpPr>
            <p:spPr>
              <a:xfrm>
                <a:off x="11320914" y="4200396"/>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 name="Rectangle 132">
                <a:extLst>
                  <a:ext uri="{FF2B5EF4-FFF2-40B4-BE49-F238E27FC236}">
                    <a16:creationId xmlns:a16="http://schemas.microsoft.com/office/drawing/2014/main" id="{DBA68A18-CF1F-ED60-4B8C-3FBA5424CE0A}"/>
                  </a:ext>
                </a:extLst>
              </p:cNvPr>
              <p:cNvSpPr/>
              <p:nvPr/>
            </p:nvSpPr>
            <p:spPr>
              <a:xfrm>
                <a:off x="11320914" y="4107604"/>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 name="Rectangle 133">
                <a:extLst>
                  <a:ext uri="{FF2B5EF4-FFF2-40B4-BE49-F238E27FC236}">
                    <a16:creationId xmlns:a16="http://schemas.microsoft.com/office/drawing/2014/main" id="{B2E99D76-D741-6E43-E3E2-A288544342DC}"/>
                  </a:ext>
                </a:extLst>
              </p:cNvPr>
              <p:cNvSpPr/>
              <p:nvPr/>
            </p:nvSpPr>
            <p:spPr>
              <a:xfrm>
                <a:off x="11090546" y="4194258"/>
                <a:ext cx="98832" cy="8050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Rectangle 134">
                <a:extLst>
                  <a:ext uri="{FF2B5EF4-FFF2-40B4-BE49-F238E27FC236}">
                    <a16:creationId xmlns:a16="http://schemas.microsoft.com/office/drawing/2014/main" id="{8577D3EC-2BF6-ABB9-020C-3F564C4F9040}"/>
                  </a:ext>
                </a:extLst>
              </p:cNvPr>
              <p:cNvSpPr/>
              <p:nvPr/>
            </p:nvSpPr>
            <p:spPr>
              <a:xfrm>
                <a:off x="11090546" y="4101467"/>
                <a:ext cx="98832" cy="80503"/>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 name="Groupe 56">
              <a:extLst>
                <a:ext uri="{FF2B5EF4-FFF2-40B4-BE49-F238E27FC236}">
                  <a16:creationId xmlns:a16="http://schemas.microsoft.com/office/drawing/2014/main" id="{C2800C6E-8199-7BAD-1798-920131CE549E}"/>
                </a:ext>
              </a:extLst>
            </p:cNvPr>
            <p:cNvGrpSpPr/>
            <p:nvPr/>
          </p:nvGrpSpPr>
          <p:grpSpPr>
            <a:xfrm>
              <a:off x="1586592" y="3400064"/>
              <a:ext cx="1383385" cy="1242096"/>
              <a:chOff x="5247267" y="8072371"/>
              <a:chExt cx="817082" cy="733631"/>
            </a:xfrm>
          </p:grpSpPr>
          <p:grpSp>
            <p:nvGrpSpPr>
              <p:cNvPr id="68" name="Groupe 67">
                <a:extLst>
                  <a:ext uri="{FF2B5EF4-FFF2-40B4-BE49-F238E27FC236}">
                    <a16:creationId xmlns:a16="http://schemas.microsoft.com/office/drawing/2014/main" id="{A932373D-2F9F-6242-0CA3-11AEDC35F1D1}"/>
                  </a:ext>
                </a:extLst>
              </p:cNvPr>
              <p:cNvGrpSpPr/>
              <p:nvPr/>
            </p:nvGrpSpPr>
            <p:grpSpPr>
              <a:xfrm>
                <a:off x="5247267" y="8117813"/>
                <a:ext cx="817082" cy="688189"/>
                <a:chOff x="3890963" y="2438774"/>
                <a:chExt cx="1085661" cy="914400"/>
              </a:xfrm>
            </p:grpSpPr>
            <p:pic>
              <p:nvPicPr>
                <p:cNvPr id="70" name="Graphique 69" descr="Culturiste avec un remplissage uni">
                  <a:extLst>
                    <a:ext uri="{FF2B5EF4-FFF2-40B4-BE49-F238E27FC236}">
                      <a16:creationId xmlns:a16="http://schemas.microsoft.com/office/drawing/2014/main" id="{5EB1021D-FDA7-ECD9-3DBF-475A708497C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81356" y="2438774"/>
                  <a:ext cx="914400" cy="914400"/>
                </a:xfrm>
                <a:prstGeom prst="rect">
                  <a:avLst/>
                </a:prstGeom>
              </p:spPr>
            </p:pic>
            <p:sp>
              <p:nvSpPr>
                <p:cNvPr id="71" name="Rectangle 70">
                  <a:extLst>
                    <a:ext uri="{FF2B5EF4-FFF2-40B4-BE49-F238E27FC236}">
                      <a16:creationId xmlns:a16="http://schemas.microsoft.com/office/drawing/2014/main" id="{01B36422-E222-C9DC-35FF-BDEFA318C6A7}"/>
                    </a:ext>
                  </a:extLst>
                </p:cNvPr>
                <p:cNvSpPr/>
                <p:nvPr/>
              </p:nvSpPr>
              <p:spPr>
                <a:xfrm>
                  <a:off x="3890963"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Rectangle 71">
                  <a:extLst>
                    <a:ext uri="{FF2B5EF4-FFF2-40B4-BE49-F238E27FC236}">
                      <a16:creationId xmlns:a16="http://schemas.microsoft.com/office/drawing/2014/main" id="{B8D4DE2A-C455-41AA-EE77-DDCA12FE390D}"/>
                    </a:ext>
                  </a:extLst>
                </p:cNvPr>
                <p:cNvSpPr/>
                <p:nvPr/>
              </p:nvSpPr>
              <p:spPr>
                <a:xfrm>
                  <a:off x="4700399" y="2449479"/>
                  <a:ext cx="276225" cy="2460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9" name="Rectangle 68">
                <a:extLst>
                  <a:ext uri="{FF2B5EF4-FFF2-40B4-BE49-F238E27FC236}">
                    <a16:creationId xmlns:a16="http://schemas.microsoft.com/office/drawing/2014/main" id="{E19A08AA-1464-1DB7-2BF2-37E186F08127}"/>
                  </a:ext>
                </a:extLst>
              </p:cNvPr>
              <p:cNvSpPr/>
              <p:nvPr/>
            </p:nvSpPr>
            <p:spPr>
              <a:xfrm>
                <a:off x="5519269" y="8072371"/>
                <a:ext cx="298624" cy="1461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8" name="Groupe 57">
              <a:extLst>
                <a:ext uri="{FF2B5EF4-FFF2-40B4-BE49-F238E27FC236}">
                  <a16:creationId xmlns:a16="http://schemas.microsoft.com/office/drawing/2014/main" id="{D29F3A5C-BF05-5830-5C7E-CFB2D3921E5C}"/>
                </a:ext>
              </a:extLst>
            </p:cNvPr>
            <p:cNvGrpSpPr/>
            <p:nvPr/>
          </p:nvGrpSpPr>
          <p:grpSpPr>
            <a:xfrm flipH="1">
              <a:off x="262080" y="5046378"/>
              <a:ext cx="635480" cy="1274252"/>
              <a:chOff x="5134003" y="2196472"/>
              <a:chExt cx="563254" cy="1156702"/>
            </a:xfrm>
          </p:grpSpPr>
          <p:pic>
            <p:nvPicPr>
              <p:cNvPr id="66" name="Graphique 65" descr="Réussite du groupe avec un remplissage uni">
                <a:extLst>
                  <a:ext uri="{FF2B5EF4-FFF2-40B4-BE49-F238E27FC236}">
                    <a16:creationId xmlns:a16="http://schemas.microsoft.com/office/drawing/2014/main" id="{FF37C57F-FACF-4B21-0C8A-2ED19C4AD895}"/>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69977" t="13713" r="6403" b="17430"/>
              <a:stretch/>
            </p:blipFill>
            <p:spPr>
              <a:xfrm>
                <a:off x="5300474" y="2196472"/>
                <a:ext cx="396783" cy="1156702"/>
              </a:xfrm>
              <a:prstGeom prst="rect">
                <a:avLst/>
              </a:prstGeom>
            </p:spPr>
          </p:pic>
          <p:sp>
            <p:nvSpPr>
              <p:cNvPr id="67" name="Rectangle 66">
                <a:extLst>
                  <a:ext uri="{FF2B5EF4-FFF2-40B4-BE49-F238E27FC236}">
                    <a16:creationId xmlns:a16="http://schemas.microsoft.com/office/drawing/2014/main" id="{D3684749-DF3E-652A-E8BF-7C3714BA1290}"/>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a:extLst>
                <a:ext uri="{FF2B5EF4-FFF2-40B4-BE49-F238E27FC236}">
                  <a16:creationId xmlns:a16="http://schemas.microsoft.com/office/drawing/2014/main" id="{69A08917-CC68-1AC7-A4E0-205D13AE0818}"/>
                </a:ext>
              </a:extLst>
            </p:cNvPr>
            <p:cNvGrpSpPr/>
            <p:nvPr/>
          </p:nvGrpSpPr>
          <p:grpSpPr>
            <a:xfrm flipH="1">
              <a:off x="3424466" y="3197940"/>
              <a:ext cx="544643" cy="1109212"/>
              <a:chOff x="5134003" y="2196472"/>
              <a:chExt cx="563254" cy="1156702"/>
            </a:xfrm>
          </p:grpSpPr>
          <p:pic>
            <p:nvPicPr>
              <p:cNvPr id="64" name="Graphique 63" descr="Réussite du groupe avec un remplissage uni">
                <a:extLst>
                  <a:ext uri="{FF2B5EF4-FFF2-40B4-BE49-F238E27FC236}">
                    <a16:creationId xmlns:a16="http://schemas.microsoft.com/office/drawing/2014/main" id="{122A4649-9239-C9AF-B432-3944C65876D8}"/>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l="69977" t="13713" r="6403" b="17430"/>
              <a:stretch/>
            </p:blipFill>
            <p:spPr>
              <a:xfrm>
                <a:off x="5300474" y="2196472"/>
                <a:ext cx="396783" cy="1156702"/>
              </a:xfrm>
              <a:prstGeom prst="rect">
                <a:avLst/>
              </a:prstGeom>
            </p:spPr>
          </p:pic>
          <p:sp>
            <p:nvSpPr>
              <p:cNvPr id="65" name="Rectangle 64">
                <a:extLst>
                  <a:ext uri="{FF2B5EF4-FFF2-40B4-BE49-F238E27FC236}">
                    <a16:creationId xmlns:a16="http://schemas.microsoft.com/office/drawing/2014/main" id="{6E1D4002-EE23-BE08-43F8-C22CC83C026F}"/>
                  </a:ext>
                </a:extLst>
              </p:cNvPr>
              <p:cNvSpPr/>
              <p:nvPr/>
            </p:nvSpPr>
            <p:spPr>
              <a:xfrm rot="2263658">
                <a:off x="5134003" y="2274845"/>
                <a:ext cx="218623" cy="1069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60" name="Graphique 59" descr="Mur de briques en construction avec un remplissage uni">
              <a:extLst>
                <a:ext uri="{FF2B5EF4-FFF2-40B4-BE49-F238E27FC236}">
                  <a16:creationId xmlns:a16="http://schemas.microsoft.com/office/drawing/2014/main" id="{7048649E-7E19-9D71-4611-48E61588A8A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flipH="1">
              <a:off x="7209724" y="2927004"/>
              <a:ext cx="993712" cy="1005521"/>
            </a:xfrm>
            <a:prstGeom prst="rect">
              <a:avLst/>
            </a:prstGeom>
          </p:spPr>
        </p:pic>
        <p:pic>
          <p:nvPicPr>
            <p:cNvPr id="61" name="Graphique 60" descr="Mur de briques en construction avec un remplissage uni">
              <a:extLst>
                <a:ext uri="{FF2B5EF4-FFF2-40B4-BE49-F238E27FC236}">
                  <a16:creationId xmlns:a16="http://schemas.microsoft.com/office/drawing/2014/main" id="{58DF8134-2571-BDBF-9780-9C195EC6D55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flipH="1">
              <a:off x="5736911" y="3981151"/>
              <a:ext cx="993712" cy="1005521"/>
            </a:xfrm>
            <a:prstGeom prst="rect">
              <a:avLst/>
            </a:prstGeom>
          </p:spPr>
        </p:pic>
        <p:pic>
          <p:nvPicPr>
            <p:cNvPr id="62" name="Graphique 61" descr="Mur de briques en construction avec un remplissage uni">
              <a:extLst>
                <a:ext uri="{FF2B5EF4-FFF2-40B4-BE49-F238E27FC236}">
                  <a16:creationId xmlns:a16="http://schemas.microsoft.com/office/drawing/2014/main" id="{A697CE46-D853-C159-E25D-BD66E31AE67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flipH="1">
              <a:off x="7150179" y="4248794"/>
              <a:ext cx="993712" cy="1005521"/>
            </a:xfrm>
            <a:prstGeom prst="rect">
              <a:avLst/>
            </a:prstGeom>
          </p:spPr>
        </p:pic>
        <p:pic>
          <p:nvPicPr>
            <p:cNvPr id="63" name="Graphique 62" descr="Mur de briques en construction avec un remplissage uni">
              <a:extLst>
                <a:ext uri="{FF2B5EF4-FFF2-40B4-BE49-F238E27FC236}">
                  <a16:creationId xmlns:a16="http://schemas.microsoft.com/office/drawing/2014/main" id="{78D042F9-9D7D-CBCB-459B-D275CD8FE94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6192810" y="5310114"/>
              <a:ext cx="993712" cy="1005521"/>
            </a:xfrm>
            <a:prstGeom prst="rect">
              <a:avLst/>
            </a:prstGeom>
          </p:spPr>
        </p:pic>
      </p:grpSp>
      <p:sp>
        <p:nvSpPr>
          <p:cNvPr id="179" name="ZoneTexte 178">
            <a:extLst>
              <a:ext uri="{FF2B5EF4-FFF2-40B4-BE49-F238E27FC236}">
                <a16:creationId xmlns:a16="http://schemas.microsoft.com/office/drawing/2014/main" id="{095B6141-29FF-1C72-33DE-D166A4FD01FE}"/>
              </a:ext>
            </a:extLst>
          </p:cNvPr>
          <p:cNvSpPr txBox="1"/>
          <p:nvPr/>
        </p:nvSpPr>
        <p:spPr>
          <a:xfrm>
            <a:off x="1096188" y="4215479"/>
            <a:ext cx="2622925" cy="2585323"/>
          </a:xfrm>
          <a:prstGeom prst="rect">
            <a:avLst/>
          </a:prstGeom>
          <a:noFill/>
        </p:spPr>
        <p:txBody>
          <a:bodyPr wrap="square">
            <a:spAutoFit/>
          </a:bodyPr>
          <a:lstStyle/>
          <a:p>
            <a:pPr algn="ctr"/>
            <a:r>
              <a:rPr lang="fr-FR" dirty="0"/>
              <a:t>La valeur de la Communauté peut être formulée narrativement, en identifiant ce qu’on souhaite </a:t>
            </a:r>
            <a:r>
              <a:rPr lang="fr-FR" b="1" dirty="0">
                <a:solidFill>
                  <a:srgbClr val="ED7D31"/>
                </a:solidFill>
              </a:rPr>
              <a:t>accomplir</a:t>
            </a:r>
            <a:r>
              <a:rPr lang="fr-FR" dirty="0"/>
              <a:t>, ce qu’on souhaite </a:t>
            </a:r>
            <a:r>
              <a:rPr lang="fr-FR" b="1" dirty="0">
                <a:solidFill>
                  <a:srgbClr val="ED7D31"/>
                </a:solidFill>
              </a:rPr>
              <a:t>éviter</a:t>
            </a:r>
            <a:r>
              <a:rPr lang="fr-FR" dirty="0"/>
              <a:t>, la </a:t>
            </a:r>
            <a:r>
              <a:rPr lang="fr-FR" b="1" dirty="0"/>
              <a:t>cause profonde</a:t>
            </a:r>
            <a:r>
              <a:rPr lang="fr-FR" dirty="0"/>
              <a:t>, les </a:t>
            </a:r>
            <a:r>
              <a:rPr lang="fr-FR" b="1" dirty="0">
                <a:solidFill>
                  <a:srgbClr val="3494BA"/>
                </a:solidFill>
              </a:rPr>
              <a:t>conditions pour y arriver </a:t>
            </a:r>
            <a:r>
              <a:rPr lang="fr-FR" dirty="0"/>
              <a:t>et le grand but.</a:t>
            </a:r>
          </a:p>
        </p:txBody>
      </p:sp>
      <p:sp>
        <p:nvSpPr>
          <p:cNvPr id="180" name="ZoneTexte 179">
            <a:extLst>
              <a:ext uri="{FF2B5EF4-FFF2-40B4-BE49-F238E27FC236}">
                <a16:creationId xmlns:a16="http://schemas.microsoft.com/office/drawing/2014/main" id="{A0F8078C-4AC8-0992-AB1F-122984061D5D}"/>
              </a:ext>
            </a:extLst>
          </p:cNvPr>
          <p:cNvSpPr txBox="1"/>
          <p:nvPr/>
        </p:nvSpPr>
        <p:spPr>
          <a:xfrm>
            <a:off x="5113191" y="4215479"/>
            <a:ext cx="2446478" cy="2308324"/>
          </a:xfrm>
          <a:prstGeom prst="rect">
            <a:avLst/>
          </a:prstGeom>
          <a:noFill/>
        </p:spPr>
        <p:txBody>
          <a:bodyPr wrap="square">
            <a:spAutoFit/>
          </a:bodyPr>
          <a:lstStyle/>
          <a:p>
            <a:pPr algn="ctr"/>
            <a:r>
              <a:rPr lang="fr-FR" dirty="0"/>
              <a:t>La </a:t>
            </a:r>
            <a:r>
              <a:rPr lang="fr-FR" b="1" dirty="0">
                <a:solidFill>
                  <a:srgbClr val="ED7D31"/>
                </a:solidFill>
              </a:rPr>
              <a:t>valeur </a:t>
            </a:r>
            <a:r>
              <a:rPr lang="fr-FR" dirty="0"/>
              <a:t>d’une Communauté réside beaucoup dans les objectifs et activités </a:t>
            </a:r>
            <a:r>
              <a:rPr lang="fr-FR" b="1" dirty="0"/>
              <a:t>inatteignables en tant qu’individus isolés</a:t>
            </a:r>
            <a:r>
              <a:rPr lang="fr-FR" dirty="0"/>
              <a:t>, mais </a:t>
            </a:r>
            <a:r>
              <a:rPr lang="fr-FR" b="1" dirty="0">
                <a:solidFill>
                  <a:srgbClr val="3494BA"/>
                </a:solidFill>
              </a:rPr>
              <a:t>atteignables en communauté</a:t>
            </a:r>
            <a:r>
              <a:rPr lang="fr-FR" dirty="0"/>
              <a:t>.</a:t>
            </a:r>
          </a:p>
        </p:txBody>
      </p:sp>
      <p:sp>
        <p:nvSpPr>
          <p:cNvPr id="181" name="ZoneTexte 180">
            <a:extLst>
              <a:ext uri="{FF2B5EF4-FFF2-40B4-BE49-F238E27FC236}">
                <a16:creationId xmlns:a16="http://schemas.microsoft.com/office/drawing/2014/main" id="{9A4062F7-DD65-A50A-2B8C-14C24B8C2F64}"/>
              </a:ext>
            </a:extLst>
          </p:cNvPr>
          <p:cNvSpPr txBox="1"/>
          <p:nvPr/>
        </p:nvSpPr>
        <p:spPr>
          <a:xfrm>
            <a:off x="9130192" y="4215479"/>
            <a:ext cx="2327454" cy="2308324"/>
          </a:xfrm>
          <a:prstGeom prst="rect">
            <a:avLst/>
          </a:prstGeom>
          <a:noFill/>
        </p:spPr>
        <p:txBody>
          <a:bodyPr wrap="square">
            <a:spAutoFit/>
          </a:bodyPr>
          <a:lstStyle/>
          <a:p>
            <a:pPr algn="ctr"/>
            <a:r>
              <a:rPr lang="fr-FR" dirty="0"/>
              <a:t>Il ne </a:t>
            </a:r>
            <a:r>
              <a:rPr lang="fr-FR" b="1" dirty="0"/>
              <a:t>suffit pas de formuler </a:t>
            </a:r>
            <a:r>
              <a:rPr lang="fr-FR" dirty="0"/>
              <a:t>la valeur d’une Communauté, il faut aussi la </a:t>
            </a:r>
            <a:r>
              <a:rPr lang="fr-FR" b="1" dirty="0">
                <a:solidFill>
                  <a:srgbClr val="ED7D31"/>
                </a:solidFill>
              </a:rPr>
              <a:t>communiquer aux membres et à l’entreprise </a:t>
            </a:r>
            <a:r>
              <a:rPr lang="fr-FR" dirty="0"/>
              <a:t>par les </a:t>
            </a:r>
            <a:r>
              <a:rPr lang="fr-FR" b="1" dirty="0">
                <a:solidFill>
                  <a:srgbClr val="3494BA"/>
                </a:solidFill>
              </a:rPr>
              <a:t>moyens adaptés</a:t>
            </a:r>
            <a:r>
              <a:rPr lang="fr-FR" dirty="0"/>
              <a:t>.</a:t>
            </a:r>
          </a:p>
        </p:txBody>
      </p:sp>
      <p:sp>
        <p:nvSpPr>
          <p:cNvPr id="182" name="Organigramme : Connecteur 181">
            <a:extLst>
              <a:ext uri="{FF2B5EF4-FFF2-40B4-BE49-F238E27FC236}">
                <a16:creationId xmlns:a16="http://schemas.microsoft.com/office/drawing/2014/main" id="{04D20A19-D999-1876-78EA-62B2C22BE7F0}"/>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16</a:t>
            </a:r>
          </a:p>
        </p:txBody>
      </p:sp>
      <p:sp>
        <p:nvSpPr>
          <p:cNvPr id="183" name="Organigramme : Connecteur 182">
            <a:extLst>
              <a:ext uri="{FF2B5EF4-FFF2-40B4-BE49-F238E27FC236}">
                <a16:creationId xmlns:a16="http://schemas.microsoft.com/office/drawing/2014/main" id="{91EAE3CF-C2B5-9DAC-3B2D-28929DA8ABE5}"/>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17</a:t>
            </a:r>
          </a:p>
        </p:txBody>
      </p:sp>
      <p:sp>
        <p:nvSpPr>
          <p:cNvPr id="184" name="Organigramme : Connecteur 183">
            <a:extLst>
              <a:ext uri="{FF2B5EF4-FFF2-40B4-BE49-F238E27FC236}">
                <a16:creationId xmlns:a16="http://schemas.microsoft.com/office/drawing/2014/main" id="{2A43764B-DAFC-2163-9120-396DF283AAB2}"/>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18</a:t>
            </a:r>
          </a:p>
        </p:txBody>
      </p:sp>
      <p:grpSp>
        <p:nvGrpSpPr>
          <p:cNvPr id="23" name="Groupe 22">
            <a:extLst>
              <a:ext uri="{FF2B5EF4-FFF2-40B4-BE49-F238E27FC236}">
                <a16:creationId xmlns:a16="http://schemas.microsoft.com/office/drawing/2014/main" id="{0E6270D4-A456-35D1-9EED-66F32B02CE29}"/>
              </a:ext>
            </a:extLst>
          </p:cNvPr>
          <p:cNvGrpSpPr/>
          <p:nvPr/>
        </p:nvGrpSpPr>
        <p:grpSpPr>
          <a:xfrm>
            <a:off x="8456325" y="2659031"/>
            <a:ext cx="3359986" cy="1221956"/>
            <a:chOff x="34770" y="2263979"/>
            <a:chExt cx="12148768" cy="4418251"/>
          </a:xfrm>
        </p:grpSpPr>
        <p:grpSp>
          <p:nvGrpSpPr>
            <p:cNvPr id="3" name="Groupe 2">
              <a:extLst>
                <a:ext uri="{FF2B5EF4-FFF2-40B4-BE49-F238E27FC236}">
                  <a16:creationId xmlns:a16="http://schemas.microsoft.com/office/drawing/2014/main" id="{B84C83C7-55A1-F8BC-B7C3-D4484A154925}"/>
                </a:ext>
              </a:extLst>
            </p:cNvPr>
            <p:cNvGrpSpPr/>
            <p:nvPr/>
          </p:nvGrpSpPr>
          <p:grpSpPr>
            <a:xfrm>
              <a:off x="545283" y="2263979"/>
              <a:ext cx="11132191" cy="3884802"/>
              <a:chOff x="1282817" y="2263979"/>
              <a:chExt cx="8808390" cy="3884802"/>
            </a:xfrm>
          </p:grpSpPr>
          <p:sp>
            <p:nvSpPr>
              <p:cNvPr id="4" name="Ellipse 3">
                <a:extLst>
                  <a:ext uri="{FF2B5EF4-FFF2-40B4-BE49-F238E27FC236}">
                    <a16:creationId xmlns:a16="http://schemas.microsoft.com/office/drawing/2014/main" id="{EF6A5260-60B3-2683-3814-88182E014849}"/>
                  </a:ext>
                </a:extLst>
              </p:cNvPr>
              <p:cNvSpPr/>
              <p:nvPr/>
            </p:nvSpPr>
            <p:spPr>
              <a:xfrm>
                <a:off x="1282817" y="2263979"/>
                <a:ext cx="6124662" cy="3884802"/>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Ellipse 4">
                <a:extLst>
                  <a:ext uri="{FF2B5EF4-FFF2-40B4-BE49-F238E27FC236}">
                    <a16:creationId xmlns:a16="http://schemas.microsoft.com/office/drawing/2014/main" id="{0027E030-6E20-EB19-AD36-5A4B3F944CAF}"/>
                  </a:ext>
                </a:extLst>
              </p:cNvPr>
              <p:cNvSpPr/>
              <p:nvPr/>
            </p:nvSpPr>
            <p:spPr>
              <a:xfrm>
                <a:off x="3966545" y="2263979"/>
                <a:ext cx="6124662" cy="388480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6" name="Graphique 5" descr="Bâtiment avec un remplissage uni">
              <a:extLst>
                <a:ext uri="{FF2B5EF4-FFF2-40B4-BE49-F238E27FC236}">
                  <a16:creationId xmlns:a16="http://schemas.microsoft.com/office/drawing/2014/main" id="{B1F94E36-F865-EAF6-89DF-2BFC4629C3A9}"/>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11287282" y="5031787"/>
              <a:ext cx="896256" cy="896256"/>
            </a:xfrm>
            <a:prstGeom prst="rect">
              <a:avLst/>
            </a:prstGeom>
          </p:spPr>
        </p:pic>
        <p:grpSp>
          <p:nvGrpSpPr>
            <p:cNvPr id="7" name="Groupe 6">
              <a:extLst>
                <a:ext uri="{FF2B5EF4-FFF2-40B4-BE49-F238E27FC236}">
                  <a16:creationId xmlns:a16="http://schemas.microsoft.com/office/drawing/2014/main" id="{8715C50A-8BD9-76FA-CBE1-7928D5719D84}"/>
                </a:ext>
              </a:extLst>
            </p:cNvPr>
            <p:cNvGrpSpPr/>
            <p:nvPr/>
          </p:nvGrpSpPr>
          <p:grpSpPr>
            <a:xfrm>
              <a:off x="167812" y="5243119"/>
              <a:ext cx="867150" cy="731076"/>
              <a:chOff x="8982504" y="3274976"/>
              <a:chExt cx="1230670" cy="1037553"/>
            </a:xfrm>
            <a:solidFill>
              <a:srgbClr val="ED7D31"/>
            </a:solidFill>
          </p:grpSpPr>
          <p:pic>
            <p:nvPicPr>
              <p:cNvPr id="8" name="Graphique 7" descr="Utilisateur avec un remplissage uni">
                <a:extLst>
                  <a:ext uri="{FF2B5EF4-FFF2-40B4-BE49-F238E27FC236}">
                    <a16:creationId xmlns:a16="http://schemas.microsoft.com/office/drawing/2014/main" id="{E7E637E3-CB76-96F7-4850-AA0541602201}"/>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301028" y="3274976"/>
                <a:ext cx="336064" cy="336064"/>
              </a:xfrm>
              <a:prstGeom prst="rect">
                <a:avLst/>
              </a:prstGeom>
            </p:spPr>
          </p:pic>
          <p:pic>
            <p:nvPicPr>
              <p:cNvPr id="9" name="Graphique 8" descr="Utilisateur avec un remplissage uni">
                <a:extLst>
                  <a:ext uri="{FF2B5EF4-FFF2-40B4-BE49-F238E27FC236}">
                    <a16:creationId xmlns:a16="http://schemas.microsoft.com/office/drawing/2014/main" id="{4F92652E-FFD9-604B-E08A-D3D98E6E49E2}"/>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054140" y="3512720"/>
                <a:ext cx="336064" cy="336064"/>
              </a:xfrm>
              <a:prstGeom prst="rect">
                <a:avLst/>
              </a:prstGeom>
            </p:spPr>
          </p:pic>
          <p:pic>
            <p:nvPicPr>
              <p:cNvPr id="10" name="Graphique 9" descr="Utilisateur avec un remplissage uni">
                <a:extLst>
                  <a:ext uri="{FF2B5EF4-FFF2-40B4-BE49-F238E27FC236}">
                    <a16:creationId xmlns:a16="http://schemas.microsoft.com/office/drawing/2014/main" id="{98AF6A43-196E-E0C3-6B33-40EC730A4535}"/>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345616" y="3561880"/>
                <a:ext cx="336064" cy="336064"/>
              </a:xfrm>
              <a:prstGeom prst="rect">
                <a:avLst/>
              </a:prstGeom>
            </p:spPr>
          </p:pic>
          <p:pic>
            <p:nvPicPr>
              <p:cNvPr id="11" name="Graphique 10" descr="Utilisateur avec un remplissage uni">
                <a:extLst>
                  <a:ext uri="{FF2B5EF4-FFF2-40B4-BE49-F238E27FC236}">
                    <a16:creationId xmlns:a16="http://schemas.microsoft.com/office/drawing/2014/main" id="{001E8EA5-FEC8-3340-71A6-19AA24D665BC}"/>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592504" y="3418428"/>
                <a:ext cx="336064" cy="336064"/>
              </a:xfrm>
              <a:prstGeom prst="rect">
                <a:avLst/>
              </a:prstGeom>
            </p:spPr>
          </p:pic>
          <p:pic>
            <p:nvPicPr>
              <p:cNvPr id="12" name="Graphique 11" descr="Utilisateur avec un remplissage uni">
                <a:extLst>
                  <a:ext uri="{FF2B5EF4-FFF2-40B4-BE49-F238E27FC236}">
                    <a16:creationId xmlns:a16="http://schemas.microsoft.com/office/drawing/2014/main" id="{EA663165-5743-963D-F144-FE141E1721B1}"/>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635196" y="3680752"/>
                <a:ext cx="336064" cy="336064"/>
              </a:xfrm>
              <a:prstGeom prst="rect">
                <a:avLst/>
              </a:prstGeom>
            </p:spPr>
          </p:pic>
          <p:pic>
            <p:nvPicPr>
              <p:cNvPr id="13" name="Graphique 12" descr="Utilisateur avec un remplissage uni">
                <a:extLst>
                  <a:ext uri="{FF2B5EF4-FFF2-40B4-BE49-F238E27FC236}">
                    <a16:creationId xmlns:a16="http://schemas.microsoft.com/office/drawing/2014/main" id="{BFB78A20-28E3-E924-5F0A-90B036F713D2}"/>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256440" y="3848784"/>
                <a:ext cx="336064" cy="336064"/>
              </a:xfrm>
              <a:prstGeom prst="rect">
                <a:avLst/>
              </a:prstGeom>
            </p:spPr>
          </p:pic>
          <p:pic>
            <p:nvPicPr>
              <p:cNvPr id="14" name="Graphique 13" descr="Utilisateur avec un remplissage uni">
                <a:extLst>
                  <a:ext uri="{FF2B5EF4-FFF2-40B4-BE49-F238E27FC236}">
                    <a16:creationId xmlns:a16="http://schemas.microsoft.com/office/drawing/2014/main" id="{1229C3F1-9803-FFC9-FC29-729F395AD990}"/>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8982504" y="3835028"/>
                <a:ext cx="336064" cy="336064"/>
              </a:xfrm>
              <a:prstGeom prst="rect">
                <a:avLst/>
              </a:prstGeom>
            </p:spPr>
          </p:pic>
          <p:pic>
            <p:nvPicPr>
              <p:cNvPr id="15" name="Graphique 14" descr="Utilisateur avec un remplissage uni">
                <a:extLst>
                  <a:ext uri="{FF2B5EF4-FFF2-40B4-BE49-F238E27FC236}">
                    <a16:creationId xmlns:a16="http://schemas.microsoft.com/office/drawing/2014/main" id="{11BA0291-C599-5421-9001-D941B1ACE0AB}"/>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520868" y="3943076"/>
                <a:ext cx="336064" cy="336064"/>
              </a:xfrm>
              <a:prstGeom prst="rect">
                <a:avLst/>
              </a:prstGeom>
            </p:spPr>
          </p:pic>
          <p:pic>
            <p:nvPicPr>
              <p:cNvPr id="16" name="Graphique 15" descr="Utilisateur avec un remplissage uni">
                <a:extLst>
                  <a:ext uri="{FF2B5EF4-FFF2-40B4-BE49-F238E27FC236}">
                    <a16:creationId xmlns:a16="http://schemas.microsoft.com/office/drawing/2014/main" id="{42CC1005-DBAA-FC6F-272F-8338DA446DFE}"/>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742772" y="3976465"/>
                <a:ext cx="336064" cy="336064"/>
              </a:xfrm>
              <a:prstGeom prst="rect">
                <a:avLst/>
              </a:prstGeom>
            </p:spPr>
          </p:pic>
          <p:pic>
            <p:nvPicPr>
              <p:cNvPr id="17" name="Graphique 16" descr="Utilisateur avec un remplissage uni">
                <a:extLst>
                  <a:ext uri="{FF2B5EF4-FFF2-40B4-BE49-F238E27FC236}">
                    <a16:creationId xmlns:a16="http://schemas.microsoft.com/office/drawing/2014/main" id="{CC633B60-6486-697E-B9BC-2234C4F073C7}"/>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877110" y="3705332"/>
                <a:ext cx="336064" cy="336064"/>
              </a:xfrm>
              <a:prstGeom prst="rect">
                <a:avLst/>
              </a:prstGeom>
            </p:spPr>
          </p:pic>
          <p:pic>
            <p:nvPicPr>
              <p:cNvPr id="18" name="Graphique 17" descr="Utilisateur avec un remplissage uni">
                <a:extLst>
                  <a:ext uri="{FF2B5EF4-FFF2-40B4-BE49-F238E27FC236}">
                    <a16:creationId xmlns:a16="http://schemas.microsoft.com/office/drawing/2014/main" id="{8EB4B935-B016-B380-7639-A9DF60007009}"/>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856932" y="3429000"/>
                <a:ext cx="336064" cy="336064"/>
              </a:xfrm>
              <a:prstGeom prst="rect">
                <a:avLst/>
              </a:prstGeom>
            </p:spPr>
          </p:pic>
        </p:grpSp>
        <p:pic>
          <p:nvPicPr>
            <p:cNvPr id="19" name="Graphique 18" descr="Mégaphone avec un remplissage uni">
              <a:extLst>
                <a:ext uri="{FF2B5EF4-FFF2-40B4-BE49-F238E27FC236}">
                  <a16:creationId xmlns:a16="http://schemas.microsoft.com/office/drawing/2014/main" id="{306168E2-4DAC-F094-8890-A697E7DB2B69}"/>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10886702" y="5415572"/>
              <a:ext cx="558623" cy="558623"/>
            </a:xfrm>
            <a:prstGeom prst="rect">
              <a:avLst/>
            </a:prstGeom>
          </p:spPr>
        </p:pic>
        <p:pic>
          <p:nvPicPr>
            <p:cNvPr id="20" name="Graphique 19" descr="Mégaphone avec un remplissage uni">
              <a:extLst>
                <a:ext uri="{FF2B5EF4-FFF2-40B4-BE49-F238E27FC236}">
                  <a16:creationId xmlns:a16="http://schemas.microsoft.com/office/drawing/2014/main" id="{AB4F7492-AC79-CF05-5679-BFD1C41180C0}"/>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34770" y="4834694"/>
              <a:ext cx="558623" cy="558623"/>
            </a:xfrm>
            <a:prstGeom prst="rect">
              <a:avLst/>
            </a:prstGeom>
          </p:spPr>
        </p:pic>
        <p:pic>
          <p:nvPicPr>
            <p:cNvPr id="21" name="Graphique 20" descr="Mégaphone avec un remplissage uni">
              <a:extLst>
                <a:ext uri="{FF2B5EF4-FFF2-40B4-BE49-F238E27FC236}">
                  <a16:creationId xmlns:a16="http://schemas.microsoft.com/office/drawing/2014/main" id="{724C47A5-8290-B3B3-4AC9-175EFBE3DA53}"/>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4958094" y="6123607"/>
              <a:ext cx="558623" cy="558623"/>
            </a:xfrm>
            <a:prstGeom prst="rect">
              <a:avLst/>
            </a:prstGeom>
          </p:spPr>
        </p:pic>
        <p:pic>
          <p:nvPicPr>
            <p:cNvPr id="22" name="Graphique 21" descr="Mégaphone avec un remplissage uni">
              <a:extLst>
                <a:ext uri="{FF2B5EF4-FFF2-40B4-BE49-F238E27FC236}">
                  <a16:creationId xmlns:a16="http://schemas.microsoft.com/office/drawing/2014/main" id="{9ED07F2E-1F6F-D123-6E4E-8DF8DF89A315}"/>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6659792" y="6118966"/>
              <a:ext cx="558623" cy="558623"/>
            </a:xfrm>
            <a:prstGeom prst="rect">
              <a:avLst/>
            </a:prstGeom>
          </p:spPr>
        </p:pic>
      </p:grpSp>
    </p:spTree>
    <p:extLst>
      <p:ext uri="{BB962C8B-B14F-4D97-AF65-F5344CB8AC3E}">
        <p14:creationId xmlns:p14="http://schemas.microsoft.com/office/powerpoint/2010/main" val="2013508239"/>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B61606E-7B1B-AF13-91F0-CEB4ECD55444}"/>
              </a:ext>
            </a:extLst>
          </p:cNvPr>
          <p:cNvSpPr>
            <a:spLocks noGrp="1"/>
          </p:cNvSpPr>
          <p:nvPr>
            <p:ph type="title"/>
          </p:nvPr>
        </p:nvSpPr>
        <p:spPr/>
        <p:txBody>
          <a:bodyPr/>
          <a:lstStyle/>
          <a:p>
            <a:r>
              <a:rPr lang="fr-FR" dirty="0"/>
              <a:t>Résumé, une phrase par image</a:t>
            </a:r>
          </a:p>
        </p:txBody>
      </p:sp>
      <p:grpSp>
        <p:nvGrpSpPr>
          <p:cNvPr id="165" name="Groupe 164">
            <a:extLst>
              <a:ext uri="{FF2B5EF4-FFF2-40B4-BE49-F238E27FC236}">
                <a16:creationId xmlns:a16="http://schemas.microsoft.com/office/drawing/2014/main" id="{03AC411A-42FB-2C1D-F11A-68DEB2174729}"/>
              </a:ext>
            </a:extLst>
          </p:cNvPr>
          <p:cNvGrpSpPr/>
          <p:nvPr/>
        </p:nvGrpSpPr>
        <p:grpSpPr>
          <a:xfrm>
            <a:off x="420053" y="2438700"/>
            <a:ext cx="2550793" cy="1303712"/>
            <a:chOff x="4255066" y="2116481"/>
            <a:chExt cx="8677977" cy="4435320"/>
          </a:xfrm>
        </p:grpSpPr>
        <p:pic>
          <p:nvPicPr>
            <p:cNvPr id="131" name="Graphique 130" descr="Bâtiment avec un remplissage uni">
              <a:extLst>
                <a:ext uri="{FF2B5EF4-FFF2-40B4-BE49-F238E27FC236}">
                  <a16:creationId xmlns:a16="http://schemas.microsoft.com/office/drawing/2014/main" id="{DE43417A-98AA-6F7E-F582-D836BBB175D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210923" y="2116481"/>
              <a:ext cx="1722120" cy="1722120"/>
            </a:xfrm>
            <a:prstGeom prst="rect">
              <a:avLst/>
            </a:prstGeom>
          </p:spPr>
        </p:pic>
        <p:grpSp>
          <p:nvGrpSpPr>
            <p:cNvPr id="132" name="Groupe 131">
              <a:extLst>
                <a:ext uri="{FF2B5EF4-FFF2-40B4-BE49-F238E27FC236}">
                  <a16:creationId xmlns:a16="http://schemas.microsoft.com/office/drawing/2014/main" id="{4FD41FF3-D7C6-CD79-FEC7-E2B8453B76B4}"/>
                </a:ext>
              </a:extLst>
            </p:cNvPr>
            <p:cNvGrpSpPr/>
            <p:nvPr/>
          </p:nvGrpSpPr>
          <p:grpSpPr>
            <a:xfrm>
              <a:off x="4255066" y="2342224"/>
              <a:ext cx="1507135" cy="1270634"/>
              <a:chOff x="8982504" y="3274976"/>
              <a:chExt cx="1230670" cy="1037553"/>
            </a:xfrm>
            <a:solidFill>
              <a:srgbClr val="ED7D31"/>
            </a:solidFill>
          </p:grpSpPr>
          <p:pic>
            <p:nvPicPr>
              <p:cNvPr id="133" name="Graphique 132" descr="Utilisateur avec un remplissage uni">
                <a:extLst>
                  <a:ext uri="{FF2B5EF4-FFF2-40B4-BE49-F238E27FC236}">
                    <a16:creationId xmlns:a16="http://schemas.microsoft.com/office/drawing/2014/main" id="{7FE9DB19-32DC-FCEC-4FCA-DA990BD496B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34" name="Graphique 133" descr="Utilisateur avec un remplissage uni">
                <a:extLst>
                  <a:ext uri="{FF2B5EF4-FFF2-40B4-BE49-F238E27FC236}">
                    <a16:creationId xmlns:a16="http://schemas.microsoft.com/office/drawing/2014/main" id="{A4C0CBBF-E866-1804-6E38-73A5EEBF6BE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35" name="Graphique 134" descr="Utilisateur avec un remplissage uni">
                <a:extLst>
                  <a:ext uri="{FF2B5EF4-FFF2-40B4-BE49-F238E27FC236}">
                    <a16:creationId xmlns:a16="http://schemas.microsoft.com/office/drawing/2014/main" id="{2AC240EF-4C17-8893-13DB-9A57181A7F7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36" name="Graphique 135" descr="Utilisateur avec un remplissage uni">
                <a:extLst>
                  <a:ext uri="{FF2B5EF4-FFF2-40B4-BE49-F238E27FC236}">
                    <a16:creationId xmlns:a16="http://schemas.microsoft.com/office/drawing/2014/main" id="{DC08748D-CC93-21E0-1AD9-5E30A724B17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37" name="Graphique 136" descr="Utilisateur avec un remplissage uni">
                <a:extLst>
                  <a:ext uri="{FF2B5EF4-FFF2-40B4-BE49-F238E27FC236}">
                    <a16:creationId xmlns:a16="http://schemas.microsoft.com/office/drawing/2014/main" id="{38597EF6-C19D-FBE9-CA97-3026A1FEE8D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38" name="Graphique 137" descr="Utilisateur avec un remplissage uni">
                <a:extLst>
                  <a:ext uri="{FF2B5EF4-FFF2-40B4-BE49-F238E27FC236}">
                    <a16:creationId xmlns:a16="http://schemas.microsoft.com/office/drawing/2014/main" id="{91CD412E-3A2A-B88E-9C09-6EE1EB361F2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9" name="Graphique 138" descr="Utilisateur avec un remplissage uni">
                <a:extLst>
                  <a:ext uri="{FF2B5EF4-FFF2-40B4-BE49-F238E27FC236}">
                    <a16:creationId xmlns:a16="http://schemas.microsoft.com/office/drawing/2014/main" id="{4992DD13-D507-6B6B-1736-319849C3F3B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23336A02-22A8-2924-06A0-2C84B9A778C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982B9058-72B2-22FE-1C48-B3D8449E679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42" name="Graphique 141" descr="Utilisateur avec un remplissage uni">
                <a:extLst>
                  <a:ext uri="{FF2B5EF4-FFF2-40B4-BE49-F238E27FC236}">
                    <a16:creationId xmlns:a16="http://schemas.microsoft.com/office/drawing/2014/main" id="{456ABBD1-C63E-F449-106E-C03E7E180BC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43" name="Graphique 142" descr="Utilisateur avec un remplissage uni">
                <a:extLst>
                  <a:ext uri="{FF2B5EF4-FFF2-40B4-BE49-F238E27FC236}">
                    <a16:creationId xmlns:a16="http://schemas.microsoft.com/office/drawing/2014/main" id="{55415B0B-A2B4-6198-FBC4-86E35EE0E7A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4" name="Flèche : droite 143">
              <a:extLst>
                <a:ext uri="{FF2B5EF4-FFF2-40B4-BE49-F238E27FC236}">
                  <a16:creationId xmlns:a16="http://schemas.microsoft.com/office/drawing/2014/main" id="{936D8AD0-B90E-9800-07CA-549CD50124F1}"/>
                </a:ext>
              </a:extLst>
            </p:cNvPr>
            <p:cNvSpPr/>
            <p:nvPr/>
          </p:nvSpPr>
          <p:spPr>
            <a:xfrm rot="19508911" flipH="1">
              <a:off x="9949885" y="3633893"/>
              <a:ext cx="1189456" cy="623864"/>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 name="Flèche : gauche 144">
              <a:extLst>
                <a:ext uri="{FF2B5EF4-FFF2-40B4-BE49-F238E27FC236}">
                  <a16:creationId xmlns:a16="http://schemas.microsoft.com/office/drawing/2014/main" id="{6ECBFB5D-8864-1D4E-BA2B-45987B78FE14}"/>
                </a:ext>
              </a:extLst>
            </p:cNvPr>
            <p:cNvSpPr/>
            <p:nvPr/>
          </p:nvSpPr>
          <p:spPr>
            <a:xfrm rot="1525700" flipH="1">
              <a:off x="6266393" y="3564961"/>
              <a:ext cx="1189456" cy="623864"/>
            </a:xfrm>
            <a:prstGeom prst="lef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Flèche : droite 147">
              <a:extLst>
                <a:ext uri="{FF2B5EF4-FFF2-40B4-BE49-F238E27FC236}">
                  <a16:creationId xmlns:a16="http://schemas.microsoft.com/office/drawing/2014/main" id="{8D9F51DB-D0F6-31F8-9466-B4A12F4124BA}"/>
                </a:ext>
              </a:extLst>
            </p:cNvPr>
            <p:cNvSpPr/>
            <p:nvPr/>
          </p:nvSpPr>
          <p:spPr>
            <a:xfrm rot="19508911" flipH="1">
              <a:off x="6229069" y="5553592"/>
              <a:ext cx="1189456" cy="623864"/>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 name="Flèche : gauche 148">
              <a:extLst>
                <a:ext uri="{FF2B5EF4-FFF2-40B4-BE49-F238E27FC236}">
                  <a16:creationId xmlns:a16="http://schemas.microsoft.com/office/drawing/2014/main" id="{D08766EB-F7A6-5B47-8AB7-A6F2C17360D3}"/>
                </a:ext>
              </a:extLst>
            </p:cNvPr>
            <p:cNvSpPr/>
            <p:nvPr/>
          </p:nvSpPr>
          <p:spPr>
            <a:xfrm rot="1525700" flipH="1">
              <a:off x="9974401" y="5505000"/>
              <a:ext cx="1189456" cy="623864"/>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0" name="Groupe 149">
              <a:extLst>
                <a:ext uri="{FF2B5EF4-FFF2-40B4-BE49-F238E27FC236}">
                  <a16:creationId xmlns:a16="http://schemas.microsoft.com/office/drawing/2014/main" id="{6176C364-252D-2F18-F9B2-393664DD4F2B}"/>
                </a:ext>
              </a:extLst>
            </p:cNvPr>
            <p:cNvGrpSpPr/>
            <p:nvPr/>
          </p:nvGrpSpPr>
          <p:grpSpPr>
            <a:xfrm>
              <a:off x="7552965" y="2762630"/>
              <a:ext cx="2316953" cy="1837550"/>
              <a:chOff x="5064446" y="1851546"/>
              <a:chExt cx="3517367" cy="2789586"/>
            </a:xfrm>
          </p:grpSpPr>
          <p:pic>
            <p:nvPicPr>
              <p:cNvPr id="151" name="Graphique 150" descr="Employée de bureau avec un remplissage uni">
                <a:extLst>
                  <a:ext uri="{FF2B5EF4-FFF2-40B4-BE49-F238E27FC236}">
                    <a16:creationId xmlns:a16="http://schemas.microsoft.com/office/drawing/2014/main" id="{2FF080EB-3E79-69AE-0256-3C6BD962CEB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445784" y="2079750"/>
                <a:ext cx="2521669" cy="2521669"/>
              </a:xfrm>
              <a:prstGeom prst="rect">
                <a:avLst/>
              </a:prstGeom>
            </p:spPr>
          </p:pic>
          <p:pic>
            <p:nvPicPr>
              <p:cNvPr id="152" name="Graphique 151" descr="Mégaphone avec un remplissage uni">
                <a:extLst>
                  <a:ext uri="{FF2B5EF4-FFF2-40B4-BE49-F238E27FC236}">
                    <a16:creationId xmlns:a16="http://schemas.microsoft.com/office/drawing/2014/main" id="{646C2D8C-2E20-6D4C-5834-EECFDD9F5AA8}"/>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4658"/>
              <a:stretch/>
            </p:blipFill>
            <p:spPr>
              <a:xfrm rot="256443">
                <a:off x="7821274" y="2636665"/>
                <a:ext cx="760539" cy="649056"/>
              </a:xfrm>
              <a:prstGeom prst="rect">
                <a:avLst/>
              </a:prstGeom>
            </p:spPr>
          </p:pic>
          <p:pic>
            <p:nvPicPr>
              <p:cNvPr id="153" name="Graphique 152" descr="Bouclier coche avec un remplissage uni">
                <a:extLst>
                  <a:ext uri="{FF2B5EF4-FFF2-40B4-BE49-F238E27FC236}">
                    <a16:creationId xmlns:a16="http://schemas.microsoft.com/office/drawing/2014/main" id="{6D2069B5-0935-1AA4-63EB-B5011115E99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802847" y="3316113"/>
                <a:ext cx="632787" cy="632787"/>
              </a:xfrm>
              <a:prstGeom prst="rect">
                <a:avLst/>
              </a:prstGeom>
            </p:spPr>
          </p:pic>
          <p:pic>
            <p:nvPicPr>
              <p:cNvPr id="154" name="Graphique 153" descr="Tirelire avec un remplissage uni">
                <a:extLst>
                  <a:ext uri="{FF2B5EF4-FFF2-40B4-BE49-F238E27FC236}">
                    <a16:creationId xmlns:a16="http://schemas.microsoft.com/office/drawing/2014/main" id="{94F03C44-E385-3DD4-0E66-90865FD5131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flipH="1">
                <a:off x="7507152" y="3954810"/>
                <a:ext cx="759628" cy="686322"/>
              </a:xfrm>
              <a:prstGeom prst="rect">
                <a:avLst/>
              </a:prstGeom>
            </p:spPr>
          </p:pic>
          <p:pic>
            <p:nvPicPr>
              <p:cNvPr id="155" name="Graphique 154" descr="Index pointant vers la droite vu du côté du dos de la main avec un remplissage uni">
                <a:extLst>
                  <a:ext uri="{FF2B5EF4-FFF2-40B4-BE49-F238E27FC236}">
                    <a16:creationId xmlns:a16="http://schemas.microsoft.com/office/drawing/2014/main" id="{330B3D4A-4B60-4A49-A900-C9B0CE1B440E}"/>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t="13336"/>
              <a:stretch/>
            </p:blipFill>
            <p:spPr>
              <a:xfrm rot="18229742">
                <a:off x="7462263" y="1907472"/>
                <a:ext cx="838736" cy="726884"/>
              </a:xfrm>
              <a:prstGeom prst="rect">
                <a:avLst/>
              </a:prstGeom>
            </p:spPr>
          </p:pic>
          <p:pic>
            <p:nvPicPr>
              <p:cNvPr id="156" name="Graphique 155" descr="Calendrier journalier avec un remplissage uni">
                <a:extLst>
                  <a:ext uri="{FF2B5EF4-FFF2-40B4-BE49-F238E27FC236}">
                    <a16:creationId xmlns:a16="http://schemas.microsoft.com/office/drawing/2014/main" id="{864D4531-0EA6-764A-7F5A-186FEEC1BB63}"/>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266526" y="2469352"/>
                <a:ext cx="491841" cy="491841"/>
              </a:xfrm>
              <a:prstGeom prst="rect">
                <a:avLst/>
              </a:prstGeom>
            </p:spPr>
          </p:pic>
          <p:pic>
            <p:nvPicPr>
              <p:cNvPr id="157" name="Graphique 156" descr="Menottes avec un remplissage uni">
                <a:extLst>
                  <a:ext uri="{FF2B5EF4-FFF2-40B4-BE49-F238E27FC236}">
                    <a16:creationId xmlns:a16="http://schemas.microsoft.com/office/drawing/2014/main" id="{2E7CE4BB-4A51-F676-6967-1896A362BC2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064446" y="3093895"/>
                <a:ext cx="538611" cy="538611"/>
              </a:xfrm>
              <a:prstGeom prst="rect">
                <a:avLst/>
              </a:prstGeom>
            </p:spPr>
          </p:pic>
          <p:pic>
            <p:nvPicPr>
              <p:cNvPr id="158" name="Graphique 157" descr="Marteau d'officiel avec un remplissage uni">
                <a:extLst>
                  <a:ext uri="{FF2B5EF4-FFF2-40B4-BE49-F238E27FC236}">
                    <a16:creationId xmlns:a16="http://schemas.microsoft.com/office/drawing/2014/main" id="{4F9BF4F4-DA34-9FD4-8D63-4A107592D3DD}"/>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5126450" y="3854695"/>
                <a:ext cx="538610" cy="499611"/>
              </a:xfrm>
              <a:prstGeom prst="rect">
                <a:avLst/>
              </a:prstGeom>
            </p:spPr>
          </p:pic>
        </p:grpSp>
        <p:grpSp>
          <p:nvGrpSpPr>
            <p:cNvPr id="159" name="Groupe 158">
              <a:extLst>
                <a:ext uri="{FF2B5EF4-FFF2-40B4-BE49-F238E27FC236}">
                  <a16:creationId xmlns:a16="http://schemas.microsoft.com/office/drawing/2014/main" id="{F07F9324-94AD-9DAD-8676-3FE24280FD6C}"/>
                </a:ext>
              </a:extLst>
            </p:cNvPr>
            <p:cNvGrpSpPr/>
            <p:nvPr/>
          </p:nvGrpSpPr>
          <p:grpSpPr>
            <a:xfrm>
              <a:off x="7593808" y="4604641"/>
              <a:ext cx="2150970" cy="1947160"/>
              <a:chOff x="-4435634" y="3221970"/>
              <a:chExt cx="4325260" cy="3915430"/>
            </a:xfrm>
          </p:grpSpPr>
          <p:pic>
            <p:nvPicPr>
              <p:cNvPr id="160" name="Espace réservé du contenu 6" descr="Tribunal contour">
                <a:extLst>
                  <a:ext uri="{FF2B5EF4-FFF2-40B4-BE49-F238E27FC236}">
                    <a16:creationId xmlns:a16="http://schemas.microsoft.com/office/drawing/2014/main" id="{564E3270-F3B8-4420-562B-BCBFF8E059A9}"/>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l="8133" t="12060" r="8805" b="62496"/>
              <a:stretch/>
            </p:blipFill>
            <p:spPr>
              <a:xfrm>
                <a:off x="-4435633" y="3221970"/>
                <a:ext cx="4325259" cy="1324928"/>
              </a:xfrm>
              <a:prstGeom prst="rect">
                <a:avLst/>
              </a:prstGeom>
            </p:spPr>
          </p:pic>
          <p:grpSp>
            <p:nvGrpSpPr>
              <p:cNvPr id="161" name="Groupe 160">
                <a:extLst>
                  <a:ext uri="{FF2B5EF4-FFF2-40B4-BE49-F238E27FC236}">
                    <a16:creationId xmlns:a16="http://schemas.microsoft.com/office/drawing/2014/main" id="{E4647475-83F0-2065-F921-B384D0DAABDF}"/>
                  </a:ext>
                </a:extLst>
              </p:cNvPr>
              <p:cNvGrpSpPr/>
              <p:nvPr/>
            </p:nvGrpSpPr>
            <p:grpSpPr>
              <a:xfrm>
                <a:off x="-4435634" y="4520418"/>
                <a:ext cx="4325260" cy="2616982"/>
                <a:chOff x="-4435634" y="4520418"/>
                <a:chExt cx="4325260" cy="2616982"/>
              </a:xfrm>
            </p:grpSpPr>
            <p:pic>
              <p:nvPicPr>
                <p:cNvPr id="162" name="Espace réservé du contenu 6" descr="Tribunal contour">
                  <a:extLst>
                    <a:ext uri="{FF2B5EF4-FFF2-40B4-BE49-F238E27FC236}">
                      <a16:creationId xmlns:a16="http://schemas.microsoft.com/office/drawing/2014/main" id="{D47B731A-4625-CAA8-77AE-DD8967F618EA}"/>
                    </a:ext>
                  </a:extLst>
                </p:cNvPr>
                <p:cNvPicPr>
                  <a:picLocks noChangeAspect="1"/>
                </p:cNvPicPr>
                <p:nvPr/>
              </p:nvPicPr>
              <p:blipFill rotWithShape="1">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rcRect l="8133" t="37523" r="8805" b="24898"/>
                <a:stretch/>
              </p:blipFill>
              <p:spPr>
                <a:xfrm>
                  <a:off x="-4435633" y="4520418"/>
                  <a:ext cx="4325259" cy="1956816"/>
                </a:xfrm>
                <a:prstGeom prst="rect">
                  <a:avLst/>
                </a:prstGeom>
              </p:spPr>
            </p:pic>
            <p:pic>
              <p:nvPicPr>
                <p:cNvPr id="163" name="Graphique 162" descr="Réussite du groupe avec un remplissage uni">
                  <a:extLst>
                    <a:ext uri="{FF2B5EF4-FFF2-40B4-BE49-F238E27FC236}">
                      <a16:creationId xmlns:a16="http://schemas.microsoft.com/office/drawing/2014/main" id="{33DF8550-FAE9-3F57-24DC-015BF4F69301}"/>
                    </a:ext>
                  </a:extLst>
                </p:cNvPr>
                <p:cNvPicPr>
                  <a:picLocks noChangeAspect="1"/>
                </p:cNvPicPr>
                <p:nvPr/>
              </p:nvPicPr>
              <p:blipFill rotWithShape="1">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rcRect t="13979" b="19010"/>
                <a:stretch/>
              </p:blipFill>
              <p:spPr>
                <a:xfrm>
                  <a:off x="-3132680" y="5325090"/>
                  <a:ext cx="1719352" cy="1152144"/>
                </a:xfrm>
                <a:prstGeom prst="rect">
                  <a:avLst/>
                </a:prstGeom>
              </p:spPr>
            </p:pic>
            <p:pic>
              <p:nvPicPr>
                <p:cNvPr id="164" name="Espace réservé du contenu 6" descr="Tribunal contour">
                  <a:extLst>
                    <a:ext uri="{FF2B5EF4-FFF2-40B4-BE49-F238E27FC236}">
                      <a16:creationId xmlns:a16="http://schemas.microsoft.com/office/drawing/2014/main" id="{92C90717-CC81-81EB-DA0C-7A151E426328}"/>
                    </a:ext>
                  </a:extLst>
                </p:cNvPr>
                <p:cNvPicPr>
                  <a:picLocks noChangeAspect="1"/>
                </p:cNvPicPr>
                <p:nvPr/>
              </p:nvPicPr>
              <p:blipFill rotWithShape="1">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rcRect l="8133" t="75103" r="8805" b="12219"/>
                <a:stretch/>
              </p:blipFill>
              <p:spPr>
                <a:xfrm>
                  <a:off x="-4435634" y="6477233"/>
                  <a:ext cx="4325259" cy="660167"/>
                </a:xfrm>
                <a:prstGeom prst="rect">
                  <a:avLst/>
                </a:prstGeom>
              </p:spPr>
            </p:pic>
          </p:grpSp>
        </p:grpSp>
      </p:grpSp>
      <p:grpSp>
        <p:nvGrpSpPr>
          <p:cNvPr id="166" name="Groupe 165">
            <a:extLst>
              <a:ext uri="{FF2B5EF4-FFF2-40B4-BE49-F238E27FC236}">
                <a16:creationId xmlns:a16="http://schemas.microsoft.com/office/drawing/2014/main" id="{D671F49C-5000-CE7D-F8EF-47ADAD952EE0}"/>
              </a:ext>
            </a:extLst>
          </p:cNvPr>
          <p:cNvGrpSpPr/>
          <p:nvPr/>
        </p:nvGrpSpPr>
        <p:grpSpPr>
          <a:xfrm>
            <a:off x="5101196" y="1870617"/>
            <a:ext cx="1255731" cy="995907"/>
            <a:chOff x="5064446" y="1851546"/>
            <a:chExt cx="3517367" cy="2789586"/>
          </a:xfrm>
        </p:grpSpPr>
        <p:pic>
          <p:nvPicPr>
            <p:cNvPr id="167" name="Graphique 166" descr="Employée de bureau avec un remplissage uni">
              <a:extLst>
                <a:ext uri="{FF2B5EF4-FFF2-40B4-BE49-F238E27FC236}">
                  <a16:creationId xmlns:a16="http://schemas.microsoft.com/office/drawing/2014/main" id="{9E065B71-D295-946A-641A-364C655982C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445784" y="2079750"/>
              <a:ext cx="2521669" cy="2521669"/>
            </a:xfrm>
            <a:prstGeom prst="rect">
              <a:avLst/>
            </a:prstGeom>
          </p:spPr>
        </p:pic>
        <p:pic>
          <p:nvPicPr>
            <p:cNvPr id="168" name="Graphique 167" descr="Mégaphone avec un remplissage uni">
              <a:extLst>
                <a:ext uri="{FF2B5EF4-FFF2-40B4-BE49-F238E27FC236}">
                  <a16:creationId xmlns:a16="http://schemas.microsoft.com/office/drawing/2014/main" id="{5520EFFA-2C47-B458-CAEF-413BDE92B438}"/>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4658"/>
            <a:stretch/>
          </p:blipFill>
          <p:spPr>
            <a:xfrm rot="256443">
              <a:off x="7821274" y="2636665"/>
              <a:ext cx="760539" cy="649056"/>
            </a:xfrm>
            <a:prstGeom prst="rect">
              <a:avLst/>
            </a:prstGeom>
          </p:spPr>
        </p:pic>
        <p:pic>
          <p:nvPicPr>
            <p:cNvPr id="169" name="Graphique 168" descr="Bouclier coche avec un remplissage uni">
              <a:extLst>
                <a:ext uri="{FF2B5EF4-FFF2-40B4-BE49-F238E27FC236}">
                  <a16:creationId xmlns:a16="http://schemas.microsoft.com/office/drawing/2014/main" id="{7E569EDA-DECB-1BF6-01F8-58EEC78F38E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802847" y="3316113"/>
              <a:ext cx="632787" cy="632787"/>
            </a:xfrm>
            <a:prstGeom prst="rect">
              <a:avLst/>
            </a:prstGeom>
          </p:spPr>
        </p:pic>
        <p:pic>
          <p:nvPicPr>
            <p:cNvPr id="170" name="Graphique 169" descr="Tirelire avec un remplissage uni">
              <a:extLst>
                <a:ext uri="{FF2B5EF4-FFF2-40B4-BE49-F238E27FC236}">
                  <a16:creationId xmlns:a16="http://schemas.microsoft.com/office/drawing/2014/main" id="{5035E210-1437-D39A-0155-68F2DBE33211}"/>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flipH="1">
              <a:off x="7507152" y="3954810"/>
              <a:ext cx="759628" cy="686322"/>
            </a:xfrm>
            <a:prstGeom prst="rect">
              <a:avLst/>
            </a:prstGeom>
          </p:spPr>
        </p:pic>
        <p:pic>
          <p:nvPicPr>
            <p:cNvPr id="171" name="Graphique 170" descr="Index pointant vers la droite vu du côté du dos de la main avec un remplissage uni">
              <a:extLst>
                <a:ext uri="{FF2B5EF4-FFF2-40B4-BE49-F238E27FC236}">
                  <a16:creationId xmlns:a16="http://schemas.microsoft.com/office/drawing/2014/main" id="{4D7C2EEE-6383-101B-AE1A-4D4DE3D49DE8}"/>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t="13336"/>
            <a:stretch/>
          </p:blipFill>
          <p:spPr>
            <a:xfrm rot="18229742">
              <a:off x="7462263" y="1907472"/>
              <a:ext cx="838736" cy="726884"/>
            </a:xfrm>
            <a:prstGeom prst="rect">
              <a:avLst/>
            </a:prstGeom>
          </p:spPr>
        </p:pic>
        <p:pic>
          <p:nvPicPr>
            <p:cNvPr id="172" name="Graphique 171" descr="Calendrier journalier avec un remplissage uni">
              <a:extLst>
                <a:ext uri="{FF2B5EF4-FFF2-40B4-BE49-F238E27FC236}">
                  <a16:creationId xmlns:a16="http://schemas.microsoft.com/office/drawing/2014/main" id="{427A0C08-6C8E-CA99-0776-1DEAF008D1CA}"/>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266526" y="2469352"/>
              <a:ext cx="491841" cy="491841"/>
            </a:xfrm>
            <a:prstGeom prst="rect">
              <a:avLst/>
            </a:prstGeom>
          </p:spPr>
        </p:pic>
        <p:pic>
          <p:nvPicPr>
            <p:cNvPr id="173" name="Graphique 172" descr="Menottes avec un remplissage uni">
              <a:extLst>
                <a:ext uri="{FF2B5EF4-FFF2-40B4-BE49-F238E27FC236}">
                  <a16:creationId xmlns:a16="http://schemas.microsoft.com/office/drawing/2014/main" id="{617F0C66-D349-85F7-4C16-398964B30A9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064446" y="3093895"/>
              <a:ext cx="538611" cy="538611"/>
            </a:xfrm>
            <a:prstGeom prst="rect">
              <a:avLst/>
            </a:prstGeom>
          </p:spPr>
        </p:pic>
        <p:pic>
          <p:nvPicPr>
            <p:cNvPr id="174" name="Graphique 173" descr="Marteau d'officiel avec un remplissage uni">
              <a:extLst>
                <a:ext uri="{FF2B5EF4-FFF2-40B4-BE49-F238E27FC236}">
                  <a16:creationId xmlns:a16="http://schemas.microsoft.com/office/drawing/2014/main" id="{9C3E1962-2206-0A4E-DBD2-6703D761CE5B}"/>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5126450" y="3854695"/>
              <a:ext cx="538610" cy="499611"/>
            </a:xfrm>
            <a:prstGeom prst="rect">
              <a:avLst/>
            </a:prstGeom>
          </p:spPr>
        </p:pic>
      </p:grpSp>
      <p:grpSp>
        <p:nvGrpSpPr>
          <p:cNvPr id="175" name="Groupe 174">
            <a:extLst>
              <a:ext uri="{FF2B5EF4-FFF2-40B4-BE49-F238E27FC236}">
                <a16:creationId xmlns:a16="http://schemas.microsoft.com/office/drawing/2014/main" id="{E1808E4B-FC1D-2CF9-D132-B2F643BD9781}"/>
              </a:ext>
            </a:extLst>
          </p:cNvPr>
          <p:cNvGrpSpPr/>
          <p:nvPr/>
        </p:nvGrpSpPr>
        <p:grpSpPr>
          <a:xfrm>
            <a:off x="3998216" y="2918799"/>
            <a:ext cx="3587315" cy="489249"/>
            <a:chOff x="546683" y="4204546"/>
            <a:chExt cx="11736589" cy="1600674"/>
          </a:xfrm>
        </p:grpSpPr>
        <p:pic>
          <p:nvPicPr>
            <p:cNvPr id="176" name="Image 175">
              <a:extLst>
                <a:ext uri="{FF2B5EF4-FFF2-40B4-BE49-F238E27FC236}">
                  <a16:creationId xmlns:a16="http://schemas.microsoft.com/office/drawing/2014/main" id="{95886DA2-2B3E-7ECF-D860-E53B3CC63C91}"/>
                </a:ext>
              </a:extLst>
            </p:cNvPr>
            <p:cNvPicPr>
              <a:picLocks noChangeAspect="1"/>
            </p:cNvPicPr>
            <p:nvPr/>
          </p:nvPicPr>
          <p:blipFill>
            <a:blip r:embed="rId30">
              <a:extLst>
                <a:ext uri="{28A0092B-C50C-407E-A947-70E740481C1C}">
                  <a14:useLocalDpi xmlns:a14="http://schemas.microsoft.com/office/drawing/2010/main" val="0"/>
                </a:ext>
              </a:extLst>
            </a:blip>
            <a:stretch>
              <a:fillRect/>
            </a:stretch>
          </p:blipFill>
          <p:spPr>
            <a:xfrm>
              <a:off x="546683" y="4216299"/>
              <a:ext cx="1120155" cy="1582246"/>
            </a:xfrm>
            <a:prstGeom prst="rect">
              <a:avLst/>
            </a:prstGeom>
          </p:spPr>
        </p:pic>
        <p:pic>
          <p:nvPicPr>
            <p:cNvPr id="177" name="Image 176">
              <a:extLst>
                <a:ext uri="{FF2B5EF4-FFF2-40B4-BE49-F238E27FC236}">
                  <a16:creationId xmlns:a16="http://schemas.microsoft.com/office/drawing/2014/main" id="{F9E75E1E-282A-D391-CFB0-BCB2BA6E4507}"/>
                </a:ext>
              </a:extLst>
            </p:cNvPr>
            <p:cNvPicPr>
              <a:picLocks noChangeAspect="1"/>
            </p:cNvPicPr>
            <p:nvPr/>
          </p:nvPicPr>
          <p:blipFill>
            <a:blip r:embed="rId31">
              <a:extLst>
                <a:ext uri="{28A0092B-C50C-407E-A947-70E740481C1C}">
                  <a14:useLocalDpi xmlns:a14="http://schemas.microsoft.com/office/drawing/2010/main" val="0"/>
                </a:ext>
              </a:extLst>
            </a:blip>
            <a:stretch>
              <a:fillRect/>
            </a:stretch>
          </p:blipFill>
          <p:spPr>
            <a:xfrm>
              <a:off x="2906519" y="4216299"/>
              <a:ext cx="1120155" cy="1582246"/>
            </a:xfrm>
            <a:prstGeom prst="rect">
              <a:avLst/>
            </a:prstGeom>
          </p:spPr>
        </p:pic>
        <p:pic>
          <p:nvPicPr>
            <p:cNvPr id="178" name="Image 177" descr="Une image contenant texte&#10;&#10;Description générée automatiquement">
              <a:extLst>
                <a:ext uri="{FF2B5EF4-FFF2-40B4-BE49-F238E27FC236}">
                  <a16:creationId xmlns:a16="http://schemas.microsoft.com/office/drawing/2014/main" id="{6348F890-B591-2073-D541-98A5E84188AA}"/>
                </a:ext>
              </a:extLst>
            </p:cNvPr>
            <p:cNvPicPr>
              <a:picLocks noChangeAspect="1"/>
            </p:cNvPicPr>
            <p:nvPr/>
          </p:nvPicPr>
          <p:blipFill>
            <a:blip r:embed="rId32">
              <a:extLst>
                <a:ext uri="{28A0092B-C50C-407E-A947-70E740481C1C}">
                  <a14:useLocalDpi xmlns:a14="http://schemas.microsoft.com/office/drawing/2010/main" val="0"/>
                </a:ext>
              </a:extLst>
            </a:blip>
            <a:stretch>
              <a:fillRect/>
            </a:stretch>
          </p:blipFill>
          <p:spPr>
            <a:xfrm>
              <a:off x="6492951" y="4209624"/>
              <a:ext cx="1120155" cy="1582246"/>
            </a:xfrm>
            <a:prstGeom prst="rect">
              <a:avLst/>
            </a:prstGeom>
          </p:spPr>
        </p:pic>
        <p:pic>
          <p:nvPicPr>
            <p:cNvPr id="179" name="Image 178">
              <a:extLst>
                <a:ext uri="{FF2B5EF4-FFF2-40B4-BE49-F238E27FC236}">
                  <a16:creationId xmlns:a16="http://schemas.microsoft.com/office/drawing/2014/main" id="{8663D196-BE06-75BA-8F27-B6C244C97F60}"/>
                </a:ext>
              </a:extLst>
            </p:cNvPr>
            <p:cNvPicPr>
              <a:picLocks noChangeAspect="1"/>
            </p:cNvPicPr>
            <p:nvPr/>
          </p:nvPicPr>
          <p:blipFill>
            <a:blip r:embed="rId33">
              <a:extLst>
                <a:ext uri="{28A0092B-C50C-407E-A947-70E740481C1C}">
                  <a14:useLocalDpi xmlns:a14="http://schemas.microsoft.com/office/drawing/2010/main" val="0"/>
                </a:ext>
              </a:extLst>
            </a:blip>
            <a:stretch>
              <a:fillRect/>
            </a:stretch>
          </p:blipFill>
          <p:spPr>
            <a:xfrm>
              <a:off x="8832361" y="4209624"/>
              <a:ext cx="1120155" cy="1582246"/>
            </a:xfrm>
            <a:prstGeom prst="rect">
              <a:avLst/>
            </a:prstGeom>
          </p:spPr>
        </p:pic>
        <p:pic>
          <p:nvPicPr>
            <p:cNvPr id="180" name="Image 179">
              <a:extLst>
                <a:ext uri="{FF2B5EF4-FFF2-40B4-BE49-F238E27FC236}">
                  <a16:creationId xmlns:a16="http://schemas.microsoft.com/office/drawing/2014/main" id="{A3A24762-59D0-8C61-BB37-72F67A87C373}"/>
                </a:ext>
              </a:extLst>
            </p:cNvPr>
            <p:cNvPicPr>
              <a:picLocks noChangeAspect="1"/>
            </p:cNvPicPr>
            <p:nvPr/>
          </p:nvPicPr>
          <p:blipFill>
            <a:blip r:embed="rId34">
              <a:extLst>
                <a:ext uri="{28A0092B-C50C-407E-A947-70E740481C1C}">
                  <a14:useLocalDpi xmlns:a14="http://schemas.microsoft.com/office/drawing/2010/main" val="0"/>
                </a:ext>
              </a:extLst>
            </a:blip>
            <a:stretch>
              <a:fillRect/>
            </a:stretch>
          </p:blipFill>
          <p:spPr>
            <a:xfrm>
              <a:off x="1731587" y="4216299"/>
              <a:ext cx="1120155" cy="1582246"/>
            </a:xfrm>
            <a:prstGeom prst="rect">
              <a:avLst/>
            </a:prstGeom>
          </p:spPr>
        </p:pic>
        <p:pic>
          <p:nvPicPr>
            <p:cNvPr id="181" name="Image 180">
              <a:extLst>
                <a:ext uri="{FF2B5EF4-FFF2-40B4-BE49-F238E27FC236}">
                  <a16:creationId xmlns:a16="http://schemas.microsoft.com/office/drawing/2014/main" id="{B76CEF07-A065-6EA2-2CDC-D6275D9092E3}"/>
                </a:ext>
              </a:extLst>
            </p:cNvPr>
            <p:cNvPicPr>
              <a:picLocks noChangeAspect="1"/>
            </p:cNvPicPr>
            <p:nvPr/>
          </p:nvPicPr>
          <p:blipFill>
            <a:blip r:embed="rId35">
              <a:extLst>
                <a:ext uri="{28A0092B-C50C-407E-A947-70E740481C1C}">
                  <a14:useLocalDpi xmlns:a14="http://schemas.microsoft.com/office/drawing/2010/main" val="0"/>
                </a:ext>
              </a:extLst>
            </a:blip>
            <a:stretch>
              <a:fillRect/>
            </a:stretch>
          </p:blipFill>
          <p:spPr>
            <a:xfrm>
              <a:off x="4100524" y="4216299"/>
              <a:ext cx="1120155" cy="1582246"/>
            </a:xfrm>
            <a:prstGeom prst="rect">
              <a:avLst/>
            </a:prstGeom>
          </p:spPr>
        </p:pic>
        <p:pic>
          <p:nvPicPr>
            <p:cNvPr id="182" name="Image 181" descr="Une image contenant texte&#10;&#10;Description générée automatiquement">
              <a:extLst>
                <a:ext uri="{FF2B5EF4-FFF2-40B4-BE49-F238E27FC236}">
                  <a16:creationId xmlns:a16="http://schemas.microsoft.com/office/drawing/2014/main" id="{E074E014-4CCF-E849-03F8-D52A29935DBA}"/>
                </a:ext>
              </a:extLst>
            </p:cNvPr>
            <p:cNvPicPr>
              <a:picLocks noChangeAspect="1"/>
            </p:cNvPicPr>
            <p:nvPr/>
          </p:nvPicPr>
          <p:blipFill>
            <a:blip r:embed="rId36">
              <a:extLst>
                <a:ext uri="{28A0092B-C50C-407E-A947-70E740481C1C}">
                  <a14:useLocalDpi xmlns:a14="http://schemas.microsoft.com/office/drawing/2010/main" val="0"/>
                </a:ext>
              </a:extLst>
            </a:blip>
            <a:stretch>
              <a:fillRect/>
            </a:stretch>
          </p:blipFill>
          <p:spPr>
            <a:xfrm>
              <a:off x="7666980" y="4209624"/>
              <a:ext cx="1120155" cy="1582246"/>
            </a:xfrm>
            <a:prstGeom prst="rect">
              <a:avLst/>
            </a:prstGeom>
          </p:spPr>
        </p:pic>
        <p:pic>
          <p:nvPicPr>
            <p:cNvPr id="183" name="Image 182" descr="Une image contenant texte&#10;&#10;Description générée automatiquement">
              <a:extLst>
                <a:ext uri="{FF2B5EF4-FFF2-40B4-BE49-F238E27FC236}">
                  <a16:creationId xmlns:a16="http://schemas.microsoft.com/office/drawing/2014/main" id="{9654B999-A8E1-4E7F-D88A-5255BEF8A587}"/>
                </a:ext>
              </a:extLst>
            </p:cNvPr>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a:off x="9997739" y="4209624"/>
              <a:ext cx="1120155" cy="1582246"/>
            </a:xfrm>
            <a:prstGeom prst="rect">
              <a:avLst/>
            </a:prstGeom>
          </p:spPr>
        </p:pic>
        <p:sp>
          <p:nvSpPr>
            <p:cNvPr id="184" name="Rectangle 183">
              <a:extLst>
                <a:ext uri="{FF2B5EF4-FFF2-40B4-BE49-F238E27FC236}">
                  <a16:creationId xmlns:a16="http://schemas.microsoft.com/office/drawing/2014/main" id="{C3238F3F-7247-B69D-3A9A-3E10729AB9E8}"/>
                </a:ext>
              </a:extLst>
            </p:cNvPr>
            <p:cNvSpPr/>
            <p:nvPr/>
          </p:nvSpPr>
          <p:spPr>
            <a:xfrm>
              <a:off x="11163117" y="4204546"/>
              <a:ext cx="1120155" cy="1587324"/>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dirty="0">
                <a:solidFill>
                  <a:schemeClr val="tx1"/>
                </a:solidFill>
              </a:endParaRPr>
            </a:p>
          </p:txBody>
        </p:sp>
        <p:pic>
          <p:nvPicPr>
            <p:cNvPr id="185" name="Image 184" descr="Une image contenant texte&#10;&#10;Description générée automatiquement">
              <a:extLst>
                <a:ext uri="{FF2B5EF4-FFF2-40B4-BE49-F238E27FC236}">
                  <a16:creationId xmlns:a16="http://schemas.microsoft.com/office/drawing/2014/main" id="{CF253297-23FE-00FC-D3AA-3B48E69E1DA6}"/>
                </a:ext>
              </a:extLst>
            </p:cNvPr>
            <p:cNvPicPr>
              <a:picLocks noChangeAspect="1"/>
            </p:cNvPicPr>
            <p:nvPr/>
          </p:nvPicPr>
          <p:blipFill>
            <a:blip r:embed="rId38">
              <a:extLst>
                <a:ext uri="{28A0092B-C50C-407E-A947-70E740481C1C}">
                  <a14:useLocalDpi xmlns:a14="http://schemas.microsoft.com/office/drawing/2010/main" val="0"/>
                </a:ext>
              </a:extLst>
            </a:blip>
            <a:stretch>
              <a:fillRect/>
            </a:stretch>
          </p:blipFill>
          <p:spPr>
            <a:xfrm>
              <a:off x="5279374" y="4216299"/>
              <a:ext cx="1135830" cy="1588921"/>
            </a:xfrm>
            <a:prstGeom prst="rect">
              <a:avLst/>
            </a:prstGeom>
          </p:spPr>
        </p:pic>
      </p:grpSp>
      <p:grpSp>
        <p:nvGrpSpPr>
          <p:cNvPr id="186" name="Groupe 185">
            <a:extLst>
              <a:ext uri="{FF2B5EF4-FFF2-40B4-BE49-F238E27FC236}">
                <a16:creationId xmlns:a16="http://schemas.microsoft.com/office/drawing/2014/main" id="{8BE3FBD2-98B0-65D9-25B9-C9DE3B8022D3}"/>
              </a:ext>
            </a:extLst>
          </p:cNvPr>
          <p:cNvGrpSpPr/>
          <p:nvPr/>
        </p:nvGrpSpPr>
        <p:grpSpPr>
          <a:xfrm>
            <a:off x="8428011" y="1605458"/>
            <a:ext cx="2699278" cy="2444343"/>
            <a:chOff x="4318275" y="139989"/>
            <a:chExt cx="7210322" cy="6529339"/>
          </a:xfrm>
        </p:grpSpPr>
        <p:grpSp>
          <p:nvGrpSpPr>
            <p:cNvPr id="187" name="Groupe 186">
              <a:extLst>
                <a:ext uri="{FF2B5EF4-FFF2-40B4-BE49-F238E27FC236}">
                  <a16:creationId xmlns:a16="http://schemas.microsoft.com/office/drawing/2014/main" id="{2FC583D4-99EC-A90E-626D-E031CD2CFDFF}"/>
                </a:ext>
              </a:extLst>
            </p:cNvPr>
            <p:cNvGrpSpPr/>
            <p:nvPr/>
          </p:nvGrpSpPr>
          <p:grpSpPr>
            <a:xfrm>
              <a:off x="6835953" y="263011"/>
              <a:ext cx="1972478" cy="1390231"/>
              <a:chOff x="7771323" y="789003"/>
              <a:chExt cx="3577777" cy="2521669"/>
            </a:xfrm>
          </p:grpSpPr>
          <p:pic>
            <p:nvPicPr>
              <p:cNvPr id="227" name="Graphique 226" descr="Employée de bureau avec un remplissage uni">
                <a:extLst>
                  <a:ext uri="{FF2B5EF4-FFF2-40B4-BE49-F238E27FC236}">
                    <a16:creationId xmlns:a16="http://schemas.microsoft.com/office/drawing/2014/main" id="{EBCDF569-9E06-73F8-4BC5-3058351FD23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771323" y="789003"/>
                <a:ext cx="2521669" cy="2521669"/>
              </a:xfrm>
              <a:prstGeom prst="rect">
                <a:avLst/>
              </a:prstGeom>
            </p:spPr>
          </p:pic>
          <p:sp>
            <p:nvSpPr>
              <p:cNvPr id="228" name="Rectangle 227">
                <a:extLst>
                  <a:ext uri="{FF2B5EF4-FFF2-40B4-BE49-F238E27FC236}">
                    <a16:creationId xmlns:a16="http://schemas.microsoft.com/office/drawing/2014/main" id="{3CC9F9D7-283A-A967-6312-1DBEED76AD1F}"/>
                  </a:ext>
                </a:extLst>
              </p:cNvPr>
              <p:cNvSpPr/>
              <p:nvPr/>
            </p:nvSpPr>
            <p:spPr>
              <a:xfrm rot="7542486">
                <a:off x="9308974" y="2157040"/>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29" name="Graphique 228" descr="Mégaphone avec un remplissage uni">
                <a:extLst>
                  <a:ext uri="{FF2B5EF4-FFF2-40B4-BE49-F238E27FC236}">
                    <a16:creationId xmlns:a16="http://schemas.microsoft.com/office/drawing/2014/main" id="{3E385A66-5A83-DCA0-143D-83970EC00DB8}"/>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4658"/>
              <a:stretch/>
            </p:blipFill>
            <p:spPr>
              <a:xfrm rot="2220631">
                <a:off x="9459956" y="878072"/>
                <a:ext cx="1889144" cy="1612225"/>
              </a:xfrm>
              <a:prstGeom prst="rect">
                <a:avLst/>
              </a:prstGeom>
            </p:spPr>
          </p:pic>
        </p:grpSp>
        <p:grpSp>
          <p:nvGrpSpPr>
            <p:cNvPr id="188" name="Groupe 187">
              <a:extLst>
                <a:ext uri="{FF2B5EF4-FFF2-40B4-BE49-F238E27FC236}">
                  <a16:creationId xmlns:a16="http://schemas.microsoft.com/office/drawing/2014/main" id="{B7E16D2D-D725-1CB0-85C0-46B9E09E5A8C}"/>
                </a:ext>
              </a:extLst>
            </p:cNvPr>
            <p:cNvGrpSpPr/>
            <p:nvPr/>
          </p:nvGrpSpPr>
          <p:grpSpPr>
            <a:xfrm>
              <a:off x="9071405" y="144345"/>
              <a:ext cx="2292421" cy="1646987"/>
              <a:chOff x="7814209" y="3711178"/>
              <a:chExt cx="3870761" cy="2780943"/>
            </a:xfrm>
          </p:grpSpPr>
          <p:pic>
            <p:nvPicPr>
              <p:cNvPr id="224" name="Graphique 223" descr="Employée de bureau avec un remplissage uni">
                <a:extLst>
                  <a:ext uri="{FF2B5EF4-FFF2-40B4-BE49-F238E27FC236}">
                    <a16:creationId xmlns:a16="http://schemas.microsoft.com/office/drawing/2014/main" id="{FFC57A4B-1796-CCAF-2DA7-0650C05094D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14209" y="3970452"/>
                <a:ext cx="2521669" cy="2521669"/>
              </a:xfrm>
              <a:prstGeom prst="rect">
                <a:avLst/>
              </a:prstGeom>
            </p:spPr>
          </p:pic>
          <p:sp>
            <p:nvSpPr>
              <p:cNvPr id="225" name="Rectangle 224">
                <a:extLst>
                  <a:ext uri="{FF2B5EF4-FFF2-40B4-BE49-F238E27FC236}">
                    <a16:creationId xmlns:a16="http://schemas.microsoft.com/office/drawing/2014/main" id="{DDD0DDF9-53AC-2086-6FF2-79E00753BEE7}"/>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26" name="Graphique 225" descr="Tirelire avec un remplissage uni">
                <a:extLst>
                  <a:ext uri="{FF2B5EF4-FFF2-40B4-BE49-F238E27FC236}">
                    <a16:creationId xmlns:a16="http://schemas.microsoft.com/office/drawing/2014/main" id="{FC46A112-6F94-66BA-6820-526F9E124F3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flipH="1">
                <a:off x="9504273" y="3711178"/>
                <a:ext cx="2180697" cy="1970254"/>
              </a:xfrm>
              <a:prstGeom prst="rect">
                <a:avLst/>
              </a:prstGeom>
            </p:spPr>
          </p:pic>
        </p:grpSp>
        <p:grpSp>
          <p:nvGrpSpPr>
            <p:cNvPr id="189" name="Groupe 188">
              <a:extLst>
                <a:ext uri="{FF2B5EF4-FFF2-40B4-BE49-F238E27FC236}">
                  <a16:creationId xmlns:a16="http://schemas.microsoft.com/office/drawing/2014/main" id="{A536DE56-A76C-C2A4-6C13-935E4E5BBC4D}"/>
                </a:ext>
              </a:extLst>
            </p:cNvPr>
            <p:cNvGrpSpPr/>
            <p:nvPr/>
          </p:nvGrpSpPr>
          <p:grpSpPr>
            <a:xfrm>
              <a:off x="4498848" y="139989"/>
              <a:ext cx="2091909" cy="1611654"/>
              <a:chOff x="1822045" y="3697163"/>
              <a:chExt cx="3786095" cy="2916894"/>
            </a:xfrm>
          </p:grpSpPr>
          <p:pic>
            <p:nvPicPr>
              <p:cNvPr id="220" name="Graphique 219" descr="Employée de bureau avec un remplissage uni">
                <a:extLst>
                  <a:ext uri="{FF2B5EF4-FFF2-40B4-BE49-F238E27FC236}">
                    <a16:creationId xmlns:a16="http://schemas.microsoft.com/office/drawing/2014/main" id="{21417D0B-208F-C213-5BCA-C73772D2657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822045" y="4092388"/>
                <a:ext cx="2521669" cy="2521669"/>
              </a:xfrm>
              <a:prstGeom prst="rect">
                <a:avLst/>
              </a:prstGeom>
            </p:spPr>
          </p:pic>
          <p:sp>
            <p:nvSpPr>
              <p:cNvPr id="221" name="Rectangle 220">
                <a:extLst>
                  <a:ext uri="{FF2B5EF4-FFF2-40B4-BE49-F238E27FC236}">
                    <a16:creationId xmlns:a16="http://schemas.microsoft.com/office/drawing/2014/main" id="{374885E7-F045-9D7D-A57C-B6907A965113}"/>
                  </a:ext>
                </a:extLst>
              </p:cNvPr>
              <p:cNvSpPr/>
              <p:nvPr/>
            </p:nvSpPr>
            <p:spPr>
              <a:xfrm rot="7249682">
                <a:off x="3286580" y="5342828"/>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22" name="Graphique 221" descr="Bouclier avec un remplissage uni">
                <a:extLst>
                  <a:ext uri="{FF2B5EF4-FFF2-40B4-BE49-F238E27FC236}">
                    <a16:creationId xmlns:a16="http://schemas.microsoft.com/office/drawing/2014/main" id="{397BB6F2-1139-2C55-9578-5A3CAC062937}"/>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3482921" y="3697163"/>
                <a:ext cx="2125219" cy="2125219"/>
              </a:xfrm>
              <a:prstGeom prst="rect">
                <a:avLst/>
              </a:prstGeom>
            </p:spPr>
          </p:pic>
          <p:pic>
            <p:nvPicPr>
              <p:cNvPr id="223" name="Graphique 222" descr="Calendrier journalier avec un remplissage uni">
                <a:extLst>
                  <a:ext uri="{FF2B5EF4-FFF2-40B4-BE49-F238E27FC236}">
                    <a16:creationId xmlns:a16="http://schemas.microsoft.com/office/drawing/2014/main" id="{12105C4E-5B2C-02D0-822A-308FE3021107}"/>
                  </a:ext>
                </a:extLst>
              </p:cNvPr>
              <p:cNvPicPr>
                <a:picLocks noChangeAspect="1"/>
              </p:cNvPicPr>
              <p:nvPr/>
            </p:nvPicPr>
            <p:blipFill>
              <a:blip r:embed="rId41">
                <a:extLst>
                  <a:ext uri="{28A0092B-C50C-407E-A947-70E740481C1C}">
                    <a14:useLocalDpi xmlns:a14="http://schemas.microsoft.com/office/drawing/2010/main" val="0"/>
                  </a:ext>
                  <a:ext uri="{96DAC541-7B7A-43D3-8B79-37D633B846F1}">
                    <asvg:svgBlip xmlns:asvg="http://schemas.microsoft.com/office/drawing/2016/SVG/main" r:embed="rId42"/>
                  </a:ext>
                </a:extLst>
              </a:blip>
              <a:stretch>
                <a:fillRect/>
              </a:stretch>
            </p:blipFill>
            <p:spPr>
              <a:xfrm>
                <a:off x="4016050" y="4171671"/>
                <a:ext cx="1058961" cy="1058961"/>
              </a:xfrm>
              <a:prstGeom prst="rect">
                <a:avLst/>
              </a:prstGeom>
            </p:spPr>
          </p:pic>
        </p:grpSp>
        <p:grpSp>
          <p:nvGrpSpPr>
            <p:cNvPr id="190" name="Groupe 189">
              <a:extLst>
                <a:ext uri="{FF2B5EF4-FFF2-40B4-BE49-F238E27FC236}">
                  <a16:creationId xmlns:a16="http://schemas.microsoft.com/office/drawing/2014/main" id="{E7CCBD75-F4EC-0D7A-A7DD-9EBBA3647244}"/>
                </a:ext>
              </a:extLst>
            </p:cNvPr>
            <p:cNvGrpSpPr/>
            <p:nvPr/>
          </p:nvGrpSpPr>
          <p:grpSpPr>
            <a:xfrm>
              <a:off x="6679831" y="2412700"/>
              <a:ext cx="2349935" cy="1785141"/>
              <a:chOff x="7771323" y="635824"/>
              <a:chExt cx="3521133" cy="2674848"/>
            </a:xfrm>
          </p:grpSpPr>
          <p:pic>
            <p:nvPicPr>
              <p:cNvPr id="215" name="Graphique 214" descr="Employée de bureau avec un remplissage uni">
                <a:extLst>
                  <a:ext uri="{FF2B5EF4-FFF2-40B4-BE49-F238E27FC236}">
                    <a16:creationId xmlns:a16="http://schemas.microsoft.com/office/drawing/2014/main" id="{7813606F-B04F-5482-AB7E-F845DB35D00E}"/>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15511"/>
              <a:stretch/>
            </p:blipFill>
            <p:spPr>
              <a:xfrm>
                <a:off x="7771323" y="1180130"/>
                <a:ext cx="2521669" cy="2130542"/>
              </a:xfrm>
              <a:prstGeom prst="rect">
                <a:avLst/>
              </a:prstGeom>
            </p:spPr>
          </p:pic>
          <p:sp>
            <p:nvSpPr>
              <p:cNvPr id="216" name="Rectangle 215">
                <a:extLst>
                  <a:ext uri="{FF2B5EF4-FFF2-40B4-BE49-F238E27FC236}">
                    <a16:creationId xmlns:a16="http://schemas.microsoft.com/office/drawing/2014/main" id="{19139CD5-350A-47D1-442B-8474111F4DA9}"/>
                  </a:ext>
                </a:extLst>
              </p:cNvPr>
              <p:cNvSpPr/>
              <p:nvPr/>
            </p:nvSpPr>
            <p:spPr>
              <a:xfrm rot="7542486">
                <a:off x="9308974" y="2157040"/>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17" name="Graphique 216" descr="Couronne avec un remplissage uni">
                <a:extLst>
                  <a:ext uri="{FF2B5EF4-FFF2-40B4-BE49-F238E27FC236}">
                    <a16:creationId xmlns:a16="http://schemas.microsoft.com/office/drawing/2014/main" id="{950AACBA-795F-9899-4768-043F574E1E4C}"/>
                  </a:ext>
                </a:extLst>
              </p:cNvPr>
              <p:cNvPicPr>
                <a:picLocks noChangeAspect="1"/>
              </p:cNvPicPr>
              <p:nvPr/>
            </p:nvPicPr>
            <p:blipFill>
              <a:blip r:embed="rId43">
                <a:extLst>
                  <a:ext uri="{28A0092B-C50C-407E-A947-70E740481C1C}">
                    <a14:useLocalDpi xmlns:a14="http://schemas.microsoft.com/office/drawing/2010/main" val="0"/>
                  </a:ext>
                  <a:ext uri="{96DAC541-7B7A-43D3-8B79-37D633B846F1}">
                    <asvg:svgBlip xmlns:asvg="http://schemas.microsoft.com/office/drawing/2016/SVG/main" r:embed="rId44"/>
                  </a:ext>
                </a:extLst>
              </a:blip>
              <a:stretch>
                <a:fillRect/>
              </a:stretch>
            </p:blipFill>
            <p:spPr>
              <a:xfrm flipV="1">
                <a:off x="8048907" y="961936"/>
                <a:ext cx="1921432" cy="594363"/>
              </a:xfrm>
              <a:prstGeom prst="rect">
                <a:avLst/>
              </a:prstGeom>
            </p:spPr>
          </p:pic>
          <p:pic>
            <p:nvPicPr>
              <p:cNvPr id="218" name="Graphique 217" descr="Employée de bureau avec un remplissage uni">
                <a:extLst>
                  <a:ext uri="{FF2B5EF4-FFF2-40B4-BE49-F238E27FC236}">
                    <a16:creationId xmlns:a16="http://schemas.microsoft.com/office/drawing/2014/main" id="{2266EA80-6E6F-D9C7-4B98-F455073651FE}"/>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3307" b="79737"/>
              <a:stretch/>
            </p:blipFill>
            <p:spPr>
              <a:xfrm>
                <a:off x="7771323" y="717379"/>
                <a:ext cx="2521669" cy="594363"/>
              </a:xfrm>
              <a:prstGeom prst="rect">
                <a:avLst/>
              </a:prstGeom>
            </p:spPr>
          </p:pic>
          <p:pic>
            <p:nvPicPr>
              <p:cNvPr id="219" name="Graphique 218" descr="Index pointant vers la droite vu du côté du dos de la main avec un remplissage uni">
                <a:extLst>
                  <a:ext uri="{FF2B5EF4-FFF2-40B4-BE49-F238E27FC236}">
                    <a16:creationId xmlns:a16="http://schemas.microsoft.com/office/drawing/2014/main" id="{2EB779D3-254F-3B1C-35C6-CA1D1927A20B}"/>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t="13336"/>
              <a:stretch/>
            </p:blipFill>
            <p:spPr>
              <a:xfrm rot="18229742">
                <a:off x="9994179" y="728577"/>
                <a:ext cx="1391029" cy="1205524"/>
              </a:xfrm>
              <a:prstGeom prst="rect">
                <a:avLst/>
              </a:prstGeom>
            </p:spPr>
          </p:pic>
        </p:grpSp>
        <p:grpSp>
          <p:nvGrpSpPr>
            <p:cNvPr id="191" name="Groupe 190">
              <a:extLst>
                <a:ext uri="{FF2B5EF4-FFF2-40B4-BE49-F238E27FC236}">
                  <a16:creationId xmlns:a16="http://schemas.microsoft.com/office/drawing/2014/main" id="{884EC5D4-AAC2-6E26-8E4F-0BB7C89EF247}"/>
                </a:ext>
              </a:extLst>
            </p:cNvPr>
            <p:cNvGrpSpPr/>
            <p:nvPr/>
          </p:nvGrpSpPr>
          <p:grpSpPr>
            <a:xfrm>
              <a:off x="4397837" y="2524542"/>
              <a:ext cx="1973039" cy="1623467"/>
              <a:chOff x="1872074" y="789004"/>
              <a:chExt cx="3064646" cy="2521669"/>
            </a:xfrm>
          </p:grpSpPr>
          <p:pic>
            <p:nvPicPr>
              <p:cNvPr id="212" name="Graphique 211" descr="Employée de bureau avec un remplissage uni">
                <a:extLst>
                  <a:ext uri="{FF2B5EF4-FFF2-40B4-BE49-F238E27FC236}">
                    <a16:creationId xmlns:a16="http://schemas.microsoft.com/office/drawing/2014/main" id="{9CA59D6B-31FE-F8CE-9ECC-ECCB46ED8BD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872074" y="789004"/>
                <a:ext cx="2521669" cy="2521669"/>
              </a:xfrm>
              <a:prstGeom prst="rect">
                <a:avLst/>
              </a:prstGeom>
            </p:spPr>
          </p:pic>
          <p:sp>
            <p:nvSpPr>
              <p:cNvPr id="213" name="Rectangle 212">
                <a:extLst>
                  <a:ext uri="{FF2B5EF4-FFF2-40B4-BE49-F238E27FC236}">
                    <a16:creationId xmlns:a16="http://schemas.microsoft.com/office/drawing/2014/main" id="{4161F0D9-9B0F-93D7-E380-63A271B5F843}"/>
                  </a:ext>
                </a:extLst>
              </p:cNvPr>
              <p:cNvSpPr/>
              <p:nvPr/>
            </p:nvSpPr>
            <p:spPr>
              <a:xfrm rot="7249682">
                <a:off x="3346632" y="2089907"/>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14" name="Graphique 213" descr="Signe pouce en haut avec un remplissage uni">
                <a:extLst>
                  <a:ext uri="{FF2B5EF4-FFF2-40B4-BE49-F238E27FC236}">
                    <a16:creationId xmlns:a16="http://schemas.microsoft.com/office/drawing/2014/main" id="{C414972B-654E-BA7B-6B9B-32A5F8C49DFF}"/>
                  </a:ext>
                </a:extLst>
              </p:cNvPr>
              <p:cNvPicPr>
                <a:picLocks noChangeAspect="1"/>
              </p:cNvPicPr>
              <p:nvPr/>
            </p:nvPicPr>
            <p:blipFill>
              <a:blip r:embed="rId45">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rot="18059647">
                <a:off x="3940973" y="810751"/>
                <a:ext cx="995747" cy="995747"/>
              </a:xfrm>
              <a:prstGeom prst="rect">
                <a:avLst/>
              </a:prstGeom>
            </p:spPr>
          </p:pic>
        </p:grpSp>
        <p:grpSp>
          <p:nvGrpSpPr>
            <p:cNvPr id="192" name="Groupe 191">
              <a:extLst>
                <a:ext uri="{FF2B5EF4-FFF2-40B4-BE49-F238E27FC236}">
                  <a16:creationId xmlns:a16="http://schemas.microsoft.com/office/drawing/2014/main" id="{71977F3F-B7BA-2FC4-E113-579A53D8644C}"/>
                </a:ext>
              </a:extLst>
            </p:cNvPr>
            <p:cNvGrpSpPr/>
            <p:nvPr/>
          </p:nvGrpSpPr>
          <p:grpSpPr>
            <a:xfrm>
              <a:off x="9038675" y="2437990"/>
              <a:ext cx="2489922" cy="1748559"/>
              <a:chOff x="1822045" y="3936873"/>
              <a:chExt cx="3812269" cy="2677184"/>
            </a:xfrm>
          </p:grpSpPr>
          <p:pic>
            <p:nvPicPr>
              <p:cNvPr id="209" name="Graphique 208" descr="Employée de bureau avec un remplissage uni">
                <a:extLst>
                  <a:ext uri="{FF2B5EF4-FFF2-40B4-BE49-F238E27FC236}">
                    <a16:creationId xmlns:a16="http://schemas.microsoft.com/office/drawing/2014/main" id="{C72AE16C-A9B6-B0C4-260D-820D08103BC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822045" y="4092388"/>
                <a:ext cx="2521669" cy="2521669"/>
              </a:xfrm>
              <a:prstGeom prst="rect">
                <a:avLst/>
              </a:prstGeom>
            </p:spPr>
          </p:pic>
          <p:sp>
            <p:nvSpPr>
              <p:cNvPr id="210" name="Rectangle 209">
                <a:extLst>
                  <a:ext uri="{FF2B5EF4-FFF2-40B4-BE49-F238E27FC236}">
                    <a16:creationId xmlns:a16="http://schemas.microsoft.com/office/drawing/2014/main" id="{ED103B5A-FFCE-76FA-B313-501D6BBEB526}"/>
                  </a:ext>
                </a:extLst>
              </p:cNvPr>
              <p:cNvSpPr/>
              <p:nvPr/>
            </p:nvSpPr>
            <p:spPr>
              <a:xfrm rot="7249682">
                <a:off x="3286580" y="5342828"/>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11" name="Graphique 210" descr="Marteau d'officiel avec un remplissage uni">
                <a:extLst>
                  <a:ext uri="{FF2B5EF4-FFF2-40B4-BE49-F238E27FC236}">
                    <a16:creationId xmlns:a16="http://schemas.microsoft.com/office/drawing/2014/main" id="{2802D272-C059-709F-1988-52CE6F4F847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flipH="1">
                <a:off x="3943871" y="3936873"/>
                <a:ext cx="1690443" cy="1556691"/>
              </a:xfrm>
              <a:prstGeom prst="rect">
                <a:avLst/>
              </a:prstGeom>
            </p:spPr>
          </p:pic>
        </p:grpSp>
        <p:grpSp>
          <p:nvGrpSpPr>
            <p:cNvPr id="193" name="Groupe 192">
              <a:extLst>
                <a:ext uri="{FF2B5EF4-FFF2-40B4-BE49-F238E27FC236}">
                  <a16:creationId xmlns:a16="http://schemas.microsoft.com/office/drawing/2014/main" id="{DFF57D20-B7C5-835C-C23C-43D99AC40903}"/>
                </a:ext>
              </a:extLst>
            </p:cNvPr>
            <p:cNvGrpSpPr/>
            <p:nvPr/>
          </p:nvGrpSpPr>
          <p:grpSpPr>
            <a:xfrm>
              <a:off x="4418605" y="4592486"/>
              <a:ext cx="2411953" cy="1668182"/>
              <a:chOff x="7814209" y="3970452"/>
              <a:chExt cx="3645974" cy="2521669"/>
            </a:xfrm>
          </p:grpSpPr>
          <p:pic>
            <p:nvPicPr>
              <p:cNvPr id="206" name="Graphique 205" descr="Employée de bureau avec un remplissage uni">
                <a:extLst>
                  <a:ext uri="{FF2B5EF4-FFF2-40B4-BE49-F238E27FC236}">
                    <a16:creationId xmlns:a16="http://schemas.microsoft.com/office/drawing/2014/main" id="{9317511D-3A33-EA91-B825-CF4F80BD3A5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14209" y="3970452"/>
                <a:ext cx="2521669" cy="2521669"/>
              </a:xfrm>
              <a:prstGeom prst="rect">
                <a:avLst/>
              </a:prstGeom>
            </p:spPr>
          </p:pic>
          <p:sp>
            <p:nvSpPr>
              <p:cNvPr id="207" name="Rectangle 206">
                <a:extLst>
                  <a:ext uri="{FF2B5EF4-FFF2-40B4-BE49-F238E27FC236}">
                    <a16:creationId xmlns:a16="http://schemas.microsoft.com/office/drawing/2014/main" id="{EA35D1BF-0B30-19D2-BFC3-358CAC80807A}"/>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08" name="Graphique 207" descr="Menottes avec un remplissage uni">
                <a:extLst>
                  <a:ext uri="{FF2B5EF4-FFF2-40B4-BE49-F238E27FC236}">
                    <a16:creationId xmlns:a16="http://schemas.microsoft.com/office/drawing/2014/main" id="{BC47D529-F16E-3D8C-34BB-3EC5F71B99CB}"/>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9781974" y="4544150"/>
                <a:ext cx="1678209" cy="1678209"/>
              </a:xfrm>
              <a:prstGeom prst="rect">
                <a:avLst/>
              </a:prstGeom>
            </p:spPr>
          </p:pic>
        </p:grpSp>
        <p:sp>
          <p:nvSpPr>
            <p:cNvPr id="194" name="Rectangle 193">
              <a:extLst>
                <a:ext uri="{FF2B5EF4-FFF2-40B4-BE49-F238E27FC236}">
                  <a16:creationId xmlns:a16="http://schemas.microsoft.com/office/drawing/2014/main" id="{87BF3D4A-62EF-FD8B-9BAE-FDF60BB8CD94}"/>
                </a:ext>
              </a:extLst>
            </p:cNvPr>
            <p:cNvSpPr/>
            <p:nvPr/>
          </p:nvSpPr>
          <p:spPr>
            <a:xfrm>
              <a:off x="4318275"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195" name="Rectangle 194">
              <a:extLst>
                <a:ext uri="{FF2B5EF4-FFF2-40B4-BE49-F238E27FC236}">
                  <a16:creationId xmlns:a16="http://schemas.microsoft.com/office/drawing/2014/main" id="{D1886988-EBEA-D13F-D9A1-2022364A8A84}"/>
                </a:ext>
              </a:extLst>
            </p:cNvPr>
            <p:cNvSpPr/>
            <p:nvPr/>
          </p:nvSpPr>
          <p:spPr>
            <a:xfrm>
              <a:off x="6620614"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196" name="Rectangle 195">
              <a:extLst>
                <a:ext uri="{FF2B5EF4-FFF2-40B4-BE49-F238E27FC236}">
                  <a16:creationId xmlns:a16="http://schemas.microsoft.com/office/drawing/2014/main" id="{B8898606-1711-0BFE-21CA-18F089BFDFA3}"/>
                </a:ext>
              </a:extLst>
            </p:cNvPr>
            <p:cNvSpPr/>
            <p:nvPr/>
          </p:nvSpPr>
          <p:spPr>
            <a:xfrm>
              <a:off x="9052742"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197" name="Rectangle 196">
              <a:extLst>
                <a:ext uri="{FF2B5EF4-FFF2-40B4-BE49-F238E27FC236}">
                  <a16:creationId xmlns:a16="http://schemas.microsoft.com/office/drawing/2014/main" id="{AECBF717-84B3-0CF0-73AC-18D1993A1CF0}"/>
                </a:ext>
              </a:extLst>
            </p:cNvPr>
            <p:cNvSpPr/>
            <p:nvPr/>
          </p:nvSpPr>
          <p:spPr>
            <a:xfrm>
              <a:off x="4318275"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198" name="Rectangle 197">
              <a:extLst>
                <a:ext uri="{FF2B5EF4-FFF2-40B4-BE49-F238E27FC236}">
                  <a16:creationId xmlns:a16="http://schemas.microsoft.com/office/drawing/2014/main" id="{89FA40CE-2F4E-4D5E-4FF7-A5BD30AB1F69}"/>
                </a:ext>
              </a:extLst>
            </p:cNvPr>
            <p:cNvSpPr/>
            <p:nvPr/>
          </p:nvSpPr>
          <p:spPr>
            <a:xfrm>
              <a:off x="6620614"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199" name="Rectangle 198">
              <a:extLst>
                <a:ext uri="{FF2B5EF4-FFF2-40B4-BE49-F238E27FC236}">
                  <a16:creationId xmlns:a16="http://schemas.microsoft.com/office/drawing/2014/main" id="{6BAC3D83-20DC-58F2-4771-2337BF3F8D9E}"/>
                </a:ext>
              </a:extLst>
            </p:cNvPr>
            <p:cNvSpPr/>
            <p:nvPr/>
          </p:nvSpPr>
          <p:spPr>
            <a:xfrm>
              <a:off x="9052742"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200" name="Rectangle 199">
              <a:extLst>
                <a:ext uri="{FF2B5EF4-FFF2-40B4-BE49-F238E27FC236}">
                  <a16:creationId xmlns:a16="http://schemas.microsoft.com/office/drawing/2014/main" id="{17AD5D82-93C0-4C03-5155-4923E0F64F11}"/>
                </a:ext>
              </a:extLst>
            </p:cNvPr>
            <p:cNvSpPr/>
            <p:nvPr/>
          </p:nvSpPr>
          <p:spPr>
            <a:xfrm>
              <a:off x="4318275" y="5828991"/>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grpSp>
          <p:nvGrpSpPr>
            <p:cNvPr id="201" name="Groupe 200">
              <a:extLst>
                <a:ext uri="{FF2B5EF4-FFF2-40B4-BE49-F238E27FC236}">
                  <a16:creationId xmlns:a16="http://schemas.microsoft.com/office/drawing/2014/main" id="{FD3C95C5-C71F-FD53-0F43-485F93583E62}"/>
                </a:ext>
              </a:extLst>
            </p:cNvPr>
            <p:cNvGrpSpPr/>
            <p:nvPr/>
          </p:nvGrpSpPr>
          <p:grpSpPr>
            <a:xfrm>
              <a:off x="6720945" y="4592486"/>
              <a:ext cx="1668182" cy="1668182"/>
              <a:chOff x="7814209" y="3970452"/>
              <a:chExt cx="2521669" cy="2521669"/>
            </a:xfrm>
          </p:grpSpPr>
          <p:pic>
            <p:nvPicPr>
              <p:cNvPr id="204" name="Graphique 203" descr="Employée de bureau avec un remplissage uni">
                <a:extLst>
                  <a:ext uri="{FF2B5EF4-FFF2-40B4-BE49-F238E27FC236}">
                    <a16:creationId xmlns:a16="http://schemas.microsoft.com/office/drawing/2014/main" id="{F135AE5D-9C69-4BD0-38F2-A0A3AB722BD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14209" y="3970452"/>
                <a:ext cx="2521669" cy="2521669"/>
              </a:xfrm>
              <a:prstGeom prst="rect">
                <a:avLst/>
              </a:prstGeom>
            </p:spPr>
          </p:pic>
          <p:sp>
            <p:nvSpPr>
              <p:cNvPr id="205" name="Rectangle 204">
                <a:extLst>
                  <a:ext uri="{FF2B5EF4-FFF2-40B4-BE49-F238E27FC236}">
                    <a16:creationId xmlns:a16="http://schemas.microsoft.com/office/drawing/2014/main" id="{CAC1E54D-0DCD-D89E-8B63-13893AC27FF3}"/>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02" name="Rectangle 201">
              <a:extLst>
                <a:ext uri="{FF2B5EF4-FFF2-40B4-BE49-F238E27FC236}">
                  <a16:creationId xmlns:a16="http://schemas.microsoft.com/office/drawing/2014/main" id="{CA834844-E4CB-4C49-0F4A-F17D2E5EBF93}"/>
                </a:ext>
              </a:extLst>
            </p:cNvPr>
            <p:cNvSpPr/>
            <p:nvPr/>
          </p:nvSpPr>
          <p:spPr>
            <a:xfrm>
              <a:off x="6620614" y="5828991"/>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pic>
          <p:nvPicPr>
            <p:cNvPr id="203" name="Graphique 202" descr="Balance de la justice avec un remplissage uni">
              <a:extLst>
                <a:ext uri="{FF2B5EF4-FFF2-40B4-BE49-F238E27FC236}">
                  <a16:creationId xmlns:a16="http://schemas.microsoft.com/office/drawing/2014/main" id="{444439B5-7446-F4FF-2938-4FE7CCB3D618}"/>
                </a:ext>
              </a:extLst>
            </p:cNvPr>
            <p:cNvPicPr>
              <a:picLocks noChangeAspect="1"/>
            </p:cNvPicPr>
            <p:nvPr/>
          </p:nvPicPr>
          <p:blipFill>
            <a:blip r:embed="rId47">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7931927" y="4669814"/>
              <a:ext cx="914400" cy="914400"/>
            </a:xfrm>
            <a:prstGeom prst="rect">
              <a:avLst/>
            </a:prstGeom>
          </p:spPr>
        </p:pic>
      </p:grpSp>
      <p:sp>
        <p:nvSpPr>
          <p:cNvPr id="100" name="ZoneTexte 99">
            <a:extLst>
              <a:ext uri="{FF2B5EF4-FFF2-40B4-BE49-F238E27FC236}">
                <a16:creationId xmlns:a16="http://schemas.microsoft.com/office/drawing/2014/main" id="{7A2B748F-2030-262D-4FB9-D15D64524836}"/>
              </a:ext>
            </a:extLst>
          </p:cNvPr>
          <p:cNvSpPr txBox="1"/>
          <p:nvPr/>
        </p:nvSpPr>
        <p:spPr>
          <a:xfrm>
            <a:off x="1096188" y="4215479"/>
            <a:ext cx="2201423" cy="2585323"/>
          </a:xfrm>
          <a:prstGeom prst="rect">
            <a:avLst/>
          </a:prstGeom>
          <a:noFill/>
        </p:spPr>
        <p:txBody>
          <a:bodyPr wrap="square">
            <a:spAutoFit/>
          </a:bodyPr>
          <a:lstStyle/>
          <a:p>
            <a:pPr algn="ctr"/>
            <a:r>
              <a:rPr lang="fr-FR" dirty="0"/>
              <a:t>Les sponsors de Communauté d’entreprise sont des personnes de pouvoir qui </a:t>
            </a:r>
            <a:r>
              <a:rPr lang="fr-FR" b="1" dirty="0">
                <a:solidFill>
                  <a:srgbClr val="3494BA"/>
                </a:solidFill>
              </a:rPr>
              <a:t>agissent comme intermédiaires </a:t>
            </a:r>
            <a:r>
              <a:rPr lang="fr-FR" dirty="0"/>
              <a:t>entre les membres et l’entreprise.</a:t>
            </a:r>
          </a:p>
        </p:txBody>
      </p:sp>
      <p:sp>
        <p:nvSpPr>
          <p:cNvPr id="101" name="ZoneTexte 100">
            <a:extLst>
              <a:ext uri="{FF2B5EF4-FFF2-40B4-BE49-F238E27FC236}">
                <a16:creationId xmlns:a16="http://schemas.microsoft.com/office/drawing/2014/main" id="{63DC5BBB-6D70-94F6-A48D-C0D8CE96B340}"/>
              </a:ext>
            </a:extLst>
          </p:cNvPr>
          <p:cNvSpPr txBox="1"/>
          <p:nvPr/>
        </p:nvSpPr>
        <p:spPr>
          <a:xfrm>
            <a:off x="5095120" y="4215479"/>
            <a:ext cx="2201423" cy="1754326"/>
          </a:xfrm>
          <a:prstGeom prst="rect">
            <a:avLst/>
          </a:prstGeom>
          <a:noFill/>
        </p:spPr>
        <p:txBody>
          <a:bodyPr wrap="square">
            <a:spAutoFit/>
          </a:bodyPr>
          <a:lstStyle/>
          <a:p>
            <a:pPr algn="ctr"/>
            <a:r>
              <a:rPr lang="fr-FR" dirty="0"/>
              <a:t>Les sponsors ont aussi </a:t>
            </a:r>
            <a:r>
              <a:rPr lang="fr-FR" b="1" dirty="0"/>
              <a:t>leurs propres motivations et blocages</a:t>
            </a:r>
            <a:r>
              <a:rPr lang="fr-FR" dirty="0"/>
              <a:t>, qu’il est </a:t>
            </a:r>
            <a:r>
              <a:rPr lang="fr-FR" dirty="0">
                <a:solidFill>
                  <a:srgbClr val="ED7D31"/>
                </a:solidFill>
              </a:rPr>
              <a:t>intéressant d’identifier</a:t>
            </a:r>
            <a:r>
              <a:rPr lang="fr-FR" dirty="0"/>
              <a:t>.</a:t>
            </a:r>
          </a:p>
        </p:txBody>
      </p:sp>
      <p:sp>
        <p:nvSpPr>
          <p:cNvPr id="102" name="ZoneTexte 101">
            <a:extLst>
              <a:ext uri="{FF2B5EF4-FFF2-40B4-BE49-F238E27FC236}">
                <a16:creationId xmlns:a16="http://schemas.microsoft.com/office/drawing/2014/main" id="{C6B6B3EE-C856-660E-A496-F635F7C8E6C6}"/>
              </a:ext>
            </a:extLst>
          </p:cNvPr>
          <p:cNvSpPr txBox="1"/>
          <p:nvPr/>
        </p:nvSpPr>
        <p:spPr>
          <a:xfrm>
            <a:off x="9171908" y="4215479"/>
            <a:ext cx="2201423" cy="2031325"/>
          </a:xfrm>
          <a:prstGeom prst="rect">
            <a:avLst/>
          </a:prstGeom>
          <a:noFill/>
        </p:spPr>
        <p:txBody>
          <a:bodyPr wrap="square">
            <a:spAutoFit/>
          </a:bodyPr>
          <a:lstStyle/>
          <a:p>
            <a:pPr algn="ctr"/>
            <a:r>
              <a:rPr lang="fr-FR" b="1" dirty="0">
                <a:solidFill>
                  <a:srgbClr val="3494BA"/>
                </a:solidFill>
              </a:rPr>
              <a:t>Divers rôles</a:t>
            </a:r>
            <a:r>
              <a:rPr lang="fr-FR" dirty="0"/>
              <a:t> peuvent être donnés aux sponsors de la communauté, avec </a:t>
            </a:r>
            <a:r>
              <a:rPr lang="fr-FR" b="1" dirty="0"/>
              <a:t>différents niveaux d’implication ou d’importance</a:t>
            </a:r>
            <a:r>
              <a:rPr lang="fr-FR" dirty="0"/>
              <a:t>.</a:t>
            </a:r>
          </a:p>
        </p:txBody>
      </p:sp>
      <p:sp>
        <p:nvSpPr>
          <p:cNvPr id="3" name="Organigramme : Connecteur 2">
            <a:extLst>
              <a:ext uri="{FF2B5EF4-FFF2-40B4-BE49-F238E27FC236}">
                <a16:creationId xmlns:a16="http://schemas.microsoft.com/office/drawing/2014/main" id="{7C5A21D0-FB8D-D42D-91D1-2D62536E4BC8}"/>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19</a:t>
            </a:r>
          </a:p>
        </p:txBody>
      </p:sp>
      <p:sp>
        <p:nvSpPr>
          <p:cNvPr id="4" name="Organigramme : Connecteur 3">
            <a:extLst>
              <a:ext uri="{FF2B5EF4-FFF2-40B4-BE49-F238E27FC236}">
                <a16:creationId xmlns:a16="http://schemas.microsoft.com/office/drawing/2014/main" id="{07DB5085-E386-3D09-D620-1CD0097C8DF9}"/>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20</a:t>
            </a:r>
          </a:p>
        </p:txBody>
      </p:sp>
      <p:sp>
        <p:nvSpPr>
          <p:cNvPr id="5" name="Organigramme : Connecteur 4">
            <a:extLst>
              <a:ext uri="{FF2B5EF4-FFF2-40B4-BE49-F238E27FC236}">
                <a16:creationId xmlns:a16="http://schemas.microsoft.com/office/drawing/2014/main" id="{F1C9F93E-0F52-6F9C-76E2-A5E1B772FAD5}"/>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21</a:t>
            </a:r>
          </a:p>
        </p:txBody>
      </p:sp>
    </p:spTree>
    <p:extLst>
      <p:ext uri="{BB962C8B-B14F-4D97-AF65-F5344CB8AC3E}">
        <p14:creationId xmlns:p14="http://schemas.microsoft.com/office/powerpoint/2010/main" val="409840017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Titre 1">
            <a:extLst>
              <a:ext uri="{FF2B5EF4-FFF2-40B4-BE49-F238E27FC236}">
                <a16:creationId xmlns:a16="http://schemas.microsoft.com/office/drawing/2014/main" id="{E1AF4623-852E-CEA8-8138-94B34C366FD1}"/>
              </a:ext>
            </a:extLst>
          </p:cNvPr>
          <p:cNvSpPr>
            <a:spLocks noGrp="1"/>
          </p:cNvSpPr>
          <p:nvPr>
            <p:ph type="title"/>
          </p:nvPr>
        </p:nvSpPr>
        <p:spPr>
          <a:xfrm>
            <a:off x="838200" y="365125"/>
            <a:ext cx="10515600" cy="1325563"/>
          </a:xfrm>
        </p:spPr>
        <p:txBody>
          <a:bodyPr/>
          <a:lstStyle/>
          <a:p>
            <a:r>
              <a:rPr lang="fr-FR" dirty="0"/>
              <a:t>Résumé, une phrase par image</a:t>
            </a:r>
          </a:p>
        </p:txBody>
      </p:sp>
      <p:grpSp>
        <p:nvGrpSpPr>
          <p:cNvPr id="12" name="Groupe 11">
            <a:extLst>
              <a:ext uri="{FF2B5EF4-FFF2-40B4-BE49-F238E27FC236}">
                <a16:creationId xmlns:a16="http://schemas.microsoft.com/office/drawing/2014/main" id="{0BBE34B7-67EC-E64C-03F6-B603C44E1BDD}"/>
              </a:ext>
            </a:extLst>
          </p:cNvPr>
          <p:cNvGrpSpPr/>
          <p:nvPr/>
        </p:nvGrpSpPr>
        <p:grpSpPr>
          <a:xfrm>
            <a:off x="806283" y="1515803"/>
            <a:ext cx="832698" cy="2428912"/>
            <a:chOff x="5726107" y="1711381"/>
            <a:chExt cx="1582556" cy="4616188"/>
          </a:xfrm>
        </p:grpSpPr>
        <p:sp>
          <p:nvSpPr>
            <p:cNvPr id="212" name="Organigramme : Décision 211">
              <a:extLst>
                <a:ext uri="{FF2B5EF4-FFF2-40B4-BE49-F238E27FC236}">
                  <a16:creationId xmlns:a16="http://schemas.microsoft.com/office/drawing/2014/main" id="{5C67D12E-C805-6222-ACBD-1CC3842614CA}"/>
                </a:ext>
              </a:extLst>
            </p:cNvPr>
            <p:cNvSpPr/>
            <p:nvPr/>
          </p:nvSpPr>
          <p:spPr>
            <a:xfrm>
              <a:off x="6096000" y="1930141"/>
              <a:ext cx="805343" cy="453443"/>
            </a:xfrm>
            <a:prstGeom prst="flowChartDecision">
              <a:avLst/>
            </a:prstGeom>
            <a:solidFill>
              <a:srgbClr val="3494BA"/>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3" name="Connecteur droit avec flèche 212">
              <a:extLst>
                <a:ext uri="{FF2B5EF4-FFF2-40B4-BE49-F238E27FC236}">
                  <a16:creationId xmlns:a16="http://schemas.microsoft.com/office/drawing/2014/main" id="{C5071896-1CEC-614A-94F9-1EEC27C45D22}"/>
                </a:ext>
              </a:extLst>
            </p:cNvPr>
            <p:cNvCxnSpPr>
              <a:cxnSpLocks/>
              <a:stCxn id="212" idx="3"/>
            </p:cNvCxnSpPr>
            <p:nvPr/>
          </p:nvCxnSpPr>
          <p:spPr>
            <a:xfrm>
              <a:off x="6901343" y="2156863"/>
              <a:ext cx="360723" cy="0"/>
            </a:xfrm>
            <a:prstGeom prst="straightConnector1">
              <a:avLst/>
            </a:prstGeom>
            <a:ln w="190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14" name="Organigramme : Décision 213">
              <a:extLst>
                <a:ext uri="{FF2B5EF4-FFF2-40B4-BE49-F238E27FC236}">
                  <a16:creationId xmlns:a16="http://schemas.microsoft.com/office/drawing/2014/main" id="{8B8BD20B-3EA7-4D73-5704-1C002EED485C}"/>
                </a:ext>
              </a:extLst>
            </p:cNvPr>
            <p:cNvSpPr/>
            <p:nvPr/>
          </p:nvSpPr>
          <p:spPr>
            <a:xfrm>
              <a:off x="6086830" y="3787070"/>
              <a:ext cx="805343" cy="453443"/>
            </a:xfrm>
            <a:prstGeom prst="flowChartDecision">
              <a:avLst/>
            </a:prstGeom>
            <a:solidFill>
              <a:srgbClr val="3494BA"/>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5" name="Connecteur droit avec flèche 214">
              <a:extLst>
                <a:ext uri="{FF2B5EF4-FFF2-40B4-BE49-F238E27FC236}">
                  <a16:creationId xmlns:a16="http://schemas.microsoft.com/office/drawing/2014/main" id="{C97B1D7C-21B3-A818-C4DC-42F172F98540}"/>
                </a:ext>
              </a:extLst>
            </p:cNvPr>
            <p:cNvCxnSpPr>
              <a:cxnSpLocks/>
              <a:endCxn id="214" idx="1"/>
            </p:cNvCxnSpPr>
            <p:nvPr/>
          </p:nvCxnSpPr>
          <p:spPr>
            <a:xfrm>
              <a:off x="5726107" y="4013792"/>
              <a:ext cx="360723" cy="0"/>
            </a:xfrm>
            <a:prstGeom prst="straightConnector1">
              <a:avLst/>
            </a:prstGeom>
            <a:ln w="190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216" name="Connecteur droit avec flèche 215">
              <a:extLst>
                <a:ext uri="{FF2B5EF4-FFF2-40B4-BE49-F238E27FC236}">
                  <a16:creationId xmlns:a16="http://schemas.microsoft.com/office/drawing/2014/main" id="{E21273B0-5EEE-75CA-F361-CEA5D5535CCC}"/>
                </a:ext>
              </a:extLst>
            </p:cNvPr>
            <p:cNvCxnSpPr>
              <a:cxnSpLocks/>
              <a:stCxn id="214" idx="3"/>
            </p:cNvCxnSpPr>
            <p:nvPr/>
          </p:nvCxnSpPr>
          <p:spPr>
            <a:xfrm>
              <a:off x="6892173" y="4013792"/>
              <a:ext cx="360723" cy="0"/>
            </a:xfrm>
            <a:prstGeom prst="straightConnector1">
              <a:avLst/>
            </a:prstGeom>
            <a:ln w="190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7" name="Connecteur : en angle 216">
              <a:extLst>
                <a:ext uri="{FF2B5EF4-FFF2-40B4-BE49-F238E27FC236}">
                  <a16:creationId xmlns:a16="http://schemas.microsoft.com/office/drawing/2014/main" id="{1EC9CB90-92FF-09BF-86D2-1BD2069F566B}"/>
                </a:ext>
              </a:extLst>
            </p:cNvPr>
            <p:cNvCxnSpPr>
              <a:cxnSpLocks/>
              <a:endCxn id="214" idx="0"/>
            </p:cNvCxnSpPr>
            <p:nvPr/>
          </p:nvCxnSpPr>
          <p:spPr>
            <a:xfrm>
              <a:off x="5735277" y="3556944"/>
              <a:ext cx="754225" cy="230126"/>
            </a:xfrm>
            <a:prstGeom prst="bentConnector2">
              <a:avLst/>
            </a:prstGeom>
            <a:ln w="190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
          <p:nvSpPr>
            <p:cNvPr id="218" name="Organigramme : Décision 217">
              <a:extLst>
                <a:ext uri="{FF2B5EF4-FFF2-40B4-BE49-F238E27FC236}">
                  <a16:creationId xmlns:a16="http://schemas.microsoft.com/office/drawing/2014/main" id="{5A2B231A-ADC8-F284-7C89-AA7C6646482C}"/>
                </a:ext>
              </a:extLst>
            </p:cNvPr>
            <p:cNvSpPr/>
            <p:nvPr/>
          </p:nvSpPr>
          <p:spPr>
            <a:xfrm>
              <a:off x="6142597" y="5644000"/>
              <a:ext cx="805343" cy="453443"/>
            </a:xfrm>
            <a:prstGeom prst="flowChartDecision">
              <a:avLst/>
            </a:prstGeom>
            <a:solidFill>
              <a:srgbClr val="3494BA"/>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9" name="Connecteur droit avec flèche 218">
              <a:extLst>
                <a:ext uri="{FF2B5EF4-FFF2-40B4-BE49-F238E27FC236}">
                  <a16:creationId xmlns:a16="http://schemas.microsoft.com/office/drawing/2014/main" id="{66F560F3-DC1D-645C-9A6F-99D435FA61A6}"/>
                </a:ext>
              </a:extLst>
            </p:cNvPr>
            <p:cNvCxnSpPr>
              <a:cxnSpLocks/>
              <a:endCxn id="218" idx="1"/>
            </p:cNvCxnSpPr>
            <p:nvPr/>
          </p:nvCxnSpPr>
          <p:spPr>
            <a:xfrm>
              <a:off x="5781874" y="5870722"/>
              <a:ext cx="360723" cy="0"/>
            </a:xfrm>
            <a:prstGeom prst="straightConnector1">
              <a:avLst/>
            </a:prstGeom>
            <a:ln w="19050">
              <a:solidFill>
                <a:srgbClr val="54FFB3"/>
              </a:solidFill>
              <a:tailEnd type="triangle"/>
            </a:ln>
          </p:spPr>
          <p:style>
            <a:lnRef idx="1">
              <a:schemeClr val="accent1"/>
            </a:lnRef>
            <a:fillRef idx="0">
              <a:schemeClr val="accent1"/>
            </a:fillRef>
            <a:effectRef idx="0">
              <a:schemeClr val="accent1"/>
            </a:effectRef>
            <a:fontRef idx="minor">
              <a:schemeClr val="tx1"/>
            </a:fontRef>
          </p:style>
        </p:cxnSp>
        <p:cxnSp>
          <p:nvCxnSpPr>
            <p:cNvPr id="220" name="Connecteur droit avec flèche 219">
              <a:extLst>
                <a:ext uri="{FF2B5EF4-FFF2-40B4-BE49-F238E27FC236}">
                  <a16:creationId xmlns:a16="http://schemas.microsoft.com/office/drawing/2014/main" id="{42214ED6-D734-DBD4-C12B-5F5FCE88F837}"/>
                </a:ext>
              </a:extLst>
            </p:cNvPr>
            <p:cNvCxnSpPr>
              <a:cxnSpLocks/>
              <a:stCxn id="218" idx="3"/>
            </p:cNvCxnSpPr>
            <p:nvPr/>
          </p:nvCxnSpPr>
          <p:spPr>
            <a:xfrm>
              <a:off x="6947940" y="5870722"/>
              <a:ext cx="360723" cy="0"/>
            </a:xfrm>
            <a:prstGeom prst="straightConnector1">
              <a:avLst/>
            </a:prstGeom>
            <a:ln w="19050">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1" name="Connecteur : en angle 220">
              <a:extLst>
                <a:ext uri="{FF2B5EF4-FFF2-40B4-BE49-F238E27FC236}">
                  <a16:creationId xmlns:a16="http://schemas.microsoft.com/office/drawing/2014/main" id="{527EDC69-01FF-400B-7CA0-8B8088D4B743}"/>
                </a:ext>
              </a:extLst>
            </p:cNvPr>
            <p:cNvCxnSpPr>
              <a:cxnSpLocks/>
              <a:endCxn id="218" idx="0"/>
            </p:cNvCxnSpPr>
            <p:nvPr/>
          </p:nvCxnSpPr>
          <p:spPr>
            <a:xfrm>
              <a:off x="5791044" y="5413874"/>
              <a:ext cx="754225" cy="230126"/>
            </a:xfrm>
            <a:prstGeom prst="bentConnector2">
              <a:avLst/>
            </a:prstGeom>
            <a:ln w="19050">
              <a:solidFill>
                <a:srgbClr val="3494BA"/>
              </a:solidFill>
              <a:tailEnd type="triangle"/>
            </a:ln>
          </p:spPr>
          <p:style>
            <a:lnRef idx="1">
              <a:schemeClr val="accent1"/>
            </a:lnRef>
            <a:fillRef idx="0">
              <a:schemeClr val="accent1"/>
            </a:fillRef>
            <a:effectRef idx="0">
              <a:schemeClr val="accent1"/>
            </a:effectRef>
            <a:fontRef idx="minor">
              <a:schemeClr val="tx1"/>
            </a:fontRef>
          </p:style>
        </p:cxnSp>
        <p:cxnSp>
          <p:nvCxnSpPr>
            <p:cNvPr id="222" name="Connecteur : en angle 221">
              <a:extLst>
                <a:ext uri="{FF2B5EF4-FFF2-40B4-BE49-F238E27FC236}">
                  <a16:creationId xmlns:a16="http://schemas.microsoft.com/office/drawing/2014/main" id="{193CCC45-77CF-34B1-CC52-AB7EC1C4958B}"/>
                </a:ext>
              </a:extLst>
            </p:cNvPr>
            <p:cNvCxnSpPr>
              <a:cxnSpLocks/>
              <a:endCxn id="218" idx="2"/>
            </p:cNvCxnSpPr>
            <p:nvPr/>
          </p:nvCxnSpPr>
          <p:spPr>
            <a:xfrm flipV="1">
              <a:off x="5791044" y="6097443"/>
              <a:ext cx="754225" cy="230126"/>
            </a:xfrm>
            <a:prstGeom prst="bentConnector2">
              <a:avLst/>
            </a:prstGeom>
            <a:ln w="190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223" name="Connecteur : en angle 222">
              <a:extLst>
                <a:ext uri="{FF2B5EF4-FFF2-40B4-BE49-F238E27FC236}">
                  <a16:creationId xmlns:a16="http://schemas.microsoft.com/office/drawing/2014/main" id="{DCF8D7C0-ECFA-A392-439C-DE5781B09A37}"/>
                </a:ext>
              </a:extLst>
            </p:cNvPr>
            <p:cNvCxnSpPr>
              <a:cxnSpLocks/>
              <a:endCxn id="212" idx="0"/>
            </p:cNvCxnSpPr>
            <p:nvPr/>
          </p:nvCxnSpPr>
          <p:spPr>
            <a:xfrm>
              <a:off x="5735277" y="1711381"/>
              <a:ext cx="763395" cy="218760"/>
            </a:xfrm>
            <a:prstGeom prst="bentConnector2">
              <a:avLst/>
            </a:prstGeom>
            <a:ln w="19050">
              <a:solidFill>
                <a:srgbClr val="3494BA"/>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29" name="Groupe 228">
            <a:extLst>
              <a:ext uri="{FF2B5EF4-FFF2-40B4-BE49-F238E27FC236}">
                <a16:creationId xmlns:a16="http://schemas.microsoft.com/office/drawing/2014/main" id="{2E78B2A3-8A42-78AE-1872-C56019F13607}"/>
              </a:ext>
            </a:extLst>
          </p:cNvPr>
          <p:cNvGrpSpPr/>
          <p:nvPr/>
        </p:nvGrpSpPr>
        <p:grpSpPr>
          <a:xfrm>
            <a:off x="4693241" y="1898926"/>
            <a:ext cx="1223031" cy="1325564"/>
            <a:chOff x="7320533" y="2675620"/>
            <a:chExt cx="2201188" cy="2385724"/>
          </a:xfrm>
        </p:grpSpPr>
        <p:grpSp>
          <p:nvGrpSpPr>
            <p:cNvPr id="230" name="Groupe 229">
              <a:extLst>
                <a:ext uri="{FF2B5EF4-FFF2-40B4-BE49-F238E27FC236}">
                  <a16:creationId xmlns:a16="http://schemas.microsoft.com/office/drawing/2014/main" id="{568F4D34-79B0-6E28-0841-BBBE68D8519A}"/>
                </a:ext>
              </a:extLst>
            </p:cNvPr>
            <p:cNvGrpSpPr/>
            <p:nvPr/>
          </p:nvGrpSpPr>
          <p:grpSpPr>
            <a:xfrm>
              <a:off x="7320533" y="2675620"/>
              <a:ext cx="2201188" cy="2385724"/>
              <a:chOff x="4948467" y="2361639"/>
              <a:chExt cx="2646976" cy="2868885"/>
            </a:xfrm>
          </p:grpSpPr>
          <p:pic>
            <p:nvPicPr>
              <p:cNvPr id="237" name="Graphique 236" descr="Flux de travail avec un remplissage uni">
                <a:extLst>
                  <a:ext uri="{FF2B5EF4-FFF2-40B4-BE49-F238E27FC236}">
                    <a16:creationId xmlns:a16="http://schemas.microsoft.com/office/drawing/2014/main" id="{7A028F27-813E-8837-67ED-00645FAF558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238" name="Graphique 237" descr="Flux de travail avec un remplissage uni">
                <a:extLst>
                  <a:ext uri="{FF2B5EF4-FFF2-40B4-BE49-F238E27FC236}">
                    <a16:creationId xmlns:a16="http://schemas.microsoft.com/office/drawing/2014/main" id="{00E3A60C-DCFF-1D70-2BF6-601BB73D072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231" name="Graphique 230" descr="Panneau de signalisation avec un remplissage uni">
              <a:extLst>
                <a:ext uri="{FF2B5EF4-FFF2-40B4-BE49-F238E27FC236}">
                  <a16:creationId xmlns:a16="http://schemas.microsoft.com/office/drawing/2014/main" id="{E69431FD-9F4D-FD28-AF86-8B5BAF33972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07234" y="2780309"/>
              <a:ext cx="581454" cy="581454"/>
            </a:xfrm>
            <a:prstGeom prst="rect">
              <a:avLst/>
            </a:prstGeom>
          </p:spPr>
        </p:pic>
        <p:pic>
          <p:nvPicPr>
            <p:cNvPr id="232" name="Graphique 231" descr="Signe pouce en haut avec un remplissage uni">
              <a:extLst>
                <a:ext uri="{FF2B5EF4-FFF2-40B4-BE49-F238E27FC236}">
                  <a16:creationId xmlns:a16="http://schemas.microsoft.com/office/drawing/2014/main" id="{34FE68C8-B73F-92FB-DAD4-4498EDABD91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402392" y="4312340"/>
              <a:ext cx="597064" cy="597064"/>
            </a:xfrm>
            <a:prstGeom prst="rect">
              <a:avLst/>
            </a:prstGeom>
          </p:spPr>
        </p:pic>
        <p:grpSp>
          <p:nvGrpSpPr>
            <p:cNvPr id="233" name="Groupe 232">
              <a:extLst>
                <a:ext uri="{FF2B5EF4-FFF2-40B4-BE49-F238E27FC236}">
                  <a16:creationId xmlns:a16="http://schemas.microsoft.com/office/drawing/2014/main" id="{B2018847-BA06-DB91-897E-F2CC5A94FAD5}"/>
                </a:ext>
              </a:extLst>
            </p:cNvPr>
            <p:cNvGrpSpPr/>
            <p:nvPr/>
          </p:nvGrpSpPr>
          <p:grpSpPr>
            <a:xfrm rot="16200000">
              <a:off x="7471398" y="2895583"/>
              <a:ext cx="461197" cy="350906"/>
              <a:chOff x="1499428" y="3098753"/>
              <a:chExt cx="474208" cy="322063"/>
            </a:xfrm>
          </p:grpSpPr>
          <p:sp>
            <p:nvSpPr>
              <p:cNvPr id="235" name="Flèche : bas 234">
                <a:extLst>
                  <a:ext uri="{FF2B5EF4-FFF2-40B4-BE49-F238E27FC236}">
                    <a16:creationId xmlns:a16="http://schemas.microsoft.com/office/drawing/2014/main" id="{901058CF-3DB1-AF7B-1020-B9DA1CFF3A40}"/>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100" b="1" dirty="0">
                  <a:solidFill>
                    <a:srgbClr val="00B050"/>
                  </a:solidFill>
                </a:endParaRPr>
              </a:p>
            </p:txBody>
          </p:sp>
          <p:sp>
            <p:nvSpPr>
              <p:cNvPr id="236" name="Flèche : bas 235">
                <a:extLst>
                  <a:ext uri="{FF2B5EF4-FFF2-40B4-BE49-F238E27FC236}">
                    <a16:creationId xmlns:a16="http://schemas.microsoft.com/office/drawing/2014/main" id="{8D4C659A-BB39-05E1-4AF4-691CD3472AB0}"/>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100" b="1" dirty="0"/>
              </a:p>
            </p:txBody>
          </p:sp>
        </p:grpSp>
        <p:pic>
          <p:nvPicPr>
            <p:cNvPr id="234" name="Graphique 233" descr="Cause à effet avec un remplissage uni">
              <a:extLst>
                <a:ext uri="{FF2B5EF4-FFF2-40B4-BE49-F238E27FC236}">
                  <a16:creationId xmlns:a16="http://schemas.microsoft.com/office/drawing/2014/main" id="{A02F5F50-2944-774D-4BCC-24B24E25887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891625" y="4312340"/>
              <a:ext cx="597063" cy="597063"/>
            </a:xfrm>
            <a:prstGeom prst="rect">
              <a:avLst/>
            </a:prstGeom>
          </p:spPr>
        </p:pic>
      </p:grpSp>
      <p:grpSp>
        <p:nvGrpSpPr>
          <p:cNvPr id="240" name="Groupe 239">
            <a:extLst>
              <a:ext uri="{FF2B5EF4-FFF2-40B4-BE49-F238E27FC236}">
                <a16:creationId xmlns:a16="http://schemas.microsoft.com/office/drawing/2014/main" id="{0E5508BD-92E5-091B-FAC4-4DFA6F3F6640}"/>
              </a:ext>
            </a:extLst>
          </p:cNvPr>
          <p:cNvGrpSpPr/>
          <p:nvPr/>
        </p:nvGrpSpPr>
        <p:grpSpPr>
          <a:xfrm>
            <a:off x="8463799" y="2199777"/>
            <a:ext cx="2504350" cy="167193"/>
            <a:chOff x="415915" y="6287781"/>
            <a:chExt cx="11387189" cy="526884"/>
          </a:xfrm>
        </p:grpSpPr>
        <p:grpSp>
          <p:nvGrpSpPr>
            <p:cNvPr id="241" name="Groupe 240">
              <a:extLst>
                <a:ext uri="{FF2B5EF4-FFF2-40B4-BE49-F238E27FC236}">
                  <a16:creationId xmlns:a16="http://schemas.microsoft.com/office/drawing/2014/main" id="{C9A3A060-C7A9-17BE-4C51-50CC6C301168}"/>
                </a:ext>
              </a:extLst>
            </p:cNvPr>
            <p:cNvGrpSpPr/>
            <p:nvPr/>
          </p:nvGrpSpPr>
          <p:grpSpPr>
            <a:xfrm>
              <a:off x="415915" y="6287781"/>
              <a:ext cx="3790950" cy="526884"/>
              <a:chOff x="342900" y="6048984"/>
              <a:chExt cx="5993586" cy="833016"/>
            </a:xfrm>
          </p:grpSpPr>
          <p:pic>
            <p:nvPicPr>
              <p:cNvPr id="268" name="Graphique 267" descr="Flux de travail avec un remplissage uni">
                <a:extLst>
                  <a:ext uri="{FF2B5EF4-FFF2-40B4-BE49-F238E27FC236}">
                    <a16:creationId xmlns:a16="http://schemas.microsoft.com/office/drawing/2014/main" id="{15A06673-6031-FD4F-22E9-1939B53B6B0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61454"/>
              <a:stretch/>
            </p:blipFill>
            <p:spPr>
              <a:xfrm>
                <a:off x="342900" y="6073051"/>
                <a:ext cx="2201188" cy="808949"/>
              </a:xfrm>
              <a:prstGeom prst="rect">
                <a:avLst/>
              </a:prstGeom>
            </p:spPr>
          </p:pic>
          <p:pic>
            <p:nvPicPr>
              <p:cNvPr id="269" name="Graphique 268" descr="Panneau de signalisation avec un remplissage uni">
                <a:extLst>
                  <a:ext uri="{FF2B5EF4-FFF2-40B4-BE49-F238E27FC236}">
                    <a16:creationId xmlns:a16="http://schemas.microsoft.com/office/drawing/2014/main" id="{C23D020E-B4CD-DEDB-5EF7-7B3DA376899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929601" y="6200331"/>
                <a:ext cx="581453" cy="581455"/>
              </a:xfrm>
              <a:prstGeom prst="rect">
                <a:avLst/>
              </a:prstGeom>
            </p:spPr>
          </p:pic>
          <p:grpSp>
            <p:nvGrpSpPr>
              <p:cNvPr id="270" name="Groupe 269">
                <a:extLst>
                  <a:ext uri="{FF2B5EF4-FFF2-40B4-BE49-F238E27FC236}">
                    <a16:creationId xmlns:a16="http://schemas.microsoft.com/office/drawing/2014/main" id="{E39E5793-2319-9A1F-7AFC-3A969FE16B9B}"/>
                  </a:ext>
                </a:extLst>
              </p:cNvPr>
              <p:cNvGrpSpPr/>
              <p:nvPr/>
            </p:nvGrpSpPr>
            <p:grpSpPr>
              <a:xfrm rot="16200000">
                <a:off x="493765" y="6293014"/>
                <a:ext cx="461197" cy="350906"/>
                <a:chOff x="1499428" y="3098753"/>
                <a:chExt cx="474208" cy="322063"/>
              </a:xfrm>
            </p:grpSpPr>
            <p:sp>
              <p:nvSpPr>
                <p:cNvPr id="278" name="Flèche : bas 277">
                  <a:extLst>
                    <a:ext uri="{FF2B5EF4-FFF2-40B4-BE49-F238E27FC236}">
                      <a16:creationId xmlns:a16="http://schemas.microsoft.com/office/drawing/2014/main" id="{5EECF09C-628C-506F-D0E3-6ED6E8FB9BB4}"/>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279" name="Flèche : bas 278">
                  <a:extLst>
                    <a:ext uri="{FF2B5EF4-FFF2-40B4-BE49-F238E27FC236}">
                      <a16:creationId xmlns:a16="http://schemas.microsoft.com/office/drawing/2014/main" id="{D28A1C76-68AC-718E-7933-969D82AE69EB}"/>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271" name="Graphique 270" descr="Flux de travail avec un remplissage uni">
                <a:extLst>
                  <a:ext uri="{FF2B5EF4-FFF2-40B4-BE49-F238E27FC236}">
                    <a16:creationId xmlns:a16="http://schemas.microsoft.com/office/drawing/2014/main" id="{B41BC103-5655-9861-D1EC-4ACCAF574C9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35945" t="11686" r="38094" b="61453"/>
              <a:stretch/>
            </p:blipFill>
            <p:spPr>
              <a:xfrm>
                <a:off x="2515102" y="6048984"/>
                <a:ext cx="781874" cy="808949"/>
              </a:xfrm>
              <a:prstGeom prst="rect">
                <a:avLst/>
              </a:prstGeom>
            </p:spPr>
          </p:pic>
          <p:pic>
            <p:nvPicPr>
              <p:cNvPr id="272" name="Graphique 271" descr="Flux de travail avec un remplissage uni">
                <a:extLst>
                  <a:ext uri="{FF2B5EF4-FFF2-40B4-BE49-F238E27FC236}">
                    <a16:creationId xmlns:a16="http://schemas.microsoft.com/office/drawing/2014/main" id="{40015298-71B8-FA7A-DC06-017C4A0EB29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37996" b="61454"/>
              <a:stretch/>
            </p:blipFill>
            <p:spPr>
              <a:xfrm>
                <a:off x="3296976" y="6055731"/>
                <a:ext cx="1498234" cy="808949"/>
              </a:xfrm>
              <a:prstGeom prst="rect">
                <a:avLst/>
              </a:prstGeom>
            </p:spPr>
          </p:pic>
          <p:grpSp>
            <p:nvGrpSpPr>
              <p:cNvPr id="273" name="Groupe 272">
                <a:extLst>
                  <a:ext uri="{FF2B5EF4-FFF2-40B4-BE49-F238E27FC236}">
                    <a16:creationId xmlns:a16="http://schemas.microsoft.com/office/drawing/2014/main" id="{5520DBD5-B9D5-1544-2CEB-E876E197C64F}"/>
                  </a:ext>
                </a:extLst>
              </p:cNvPr>
              <p:cNvGrpSpPr/>
              <p:nvPr/>
            </p:nvGrpSpPr>
            <p:grpSpPr>
              <a:xfrm rot="5400000">
                <a:off x="5196104" y="5678731"/>
                <a:ext cx="703988" cy="1576776"/>
                <a:chOff x="4964821" y="3334416"/>
                <a:chExt cx="846561" cy="1896107"/>
              </a:xfrm>
            </p:grpSpPr>
            <p:pic>
              <p:nvPicPr>
                <p:cNvPr id="276" name="Graphique 275" descr="Flux de travail avec un remplissage uni">
                  <a:extLst>
                    <a:ext uri="{FF2B5EF4-FFF2-40B4-BE49-F238E27FC236}">
                      <a16:creationId xmlns:a16="http://schemas.microsoft.com/office/drawing/2014/main" id="{016AB45D-F096-6C62-687A-504207D5E65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708" t="38545" r="63917" b="9100"/>
                <a:stretch/>
              </p:blipFill>
              <p:spPr>
                <a:xfrm>
                  <a:off x="4964821" y="3334416"/>
                  <a:ext cx="846561" cy="1896107"/>
                </a:xfrm>
                <a:prstGeom prst="rect">
                  <a:avLst/>
                </a:prstGeom>
              </p:spPr>
            </p:pic>
            <p:pic>
              <p:nvPicPr>
                <p:cNvPr id="277" name="Graphique 276" descr="Flux de travail avec un remplissage uni">
                  <a:extLst>
                    <a:ext uri="{FF2B5EF4-FFF2-40B4-BE49-F238E27FC236}">
                      <a16:creationId xmlns:a16="http://schemas.microsoft.com/office/drawing/2014/main" id="{AAA99FF0-598C-EF24-FB8B-18E1EF93733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274" name="Graphique 273" descr="Signe pouce en haut avec un remplissage uni">
                <a:extLst>
                  <a:ext uri="{FF2B5EF4-FFF2-40B4-BE49-F238E27FC236}">
                    <a16:creationId xmlns:a16="http://schemas.microsoft.com/office/drawing/2014/main" id="{9C76075D-4AAB-AA8D-93EA-8EDC1CBC095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19489" y="6179998"/>
                <a:ext cx="597064" cy="597064"/>
              </a:xfrm>
              <a:prstGeom prst="rect">
                <a:avLst/>
              </a:prstGeom>
            </p:spPr>
          </p:pic>
          <p:pic>
            <p:nvPicPr>
              <p:cNvPr id="275" name="Graphique 274" descr="Cause à effet avec un remplissage uni">
                <a:extLst>
                  <a:ext uri="{FF2B5EF4-FFF2-40B4-BE49-F238E27FC236}">
                    <a16:creationId xmlns:a16="http://schemas.microsoft.com/office/drawing/2014/main" id="{20DF72CD-6F6B-F87E-2890-D1B458040AE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421206" y="6201189"/>
                <a:ext cx="503900" cy="503900"/>
              </a:xfrm>
              <a:prstGeom prst="rect">
                <a:avLst/>
              </a:prstGeom>
            </p:spPr>
          </p:pic>
        </p:grpSp>
        <p:grpSp>
          <p:nvGrpSpPr>
            <p:cNvPr id="242" name="Groupe 241">
              <a:extLst>
                <a:ext uri="{FF2B5EF4-FFF2-40B4-BE49-F238E27FC236}">
                  <a16:creationId xmlns:a16="http://schemas.microsoft.com/office/drawing/2014/main" id="{F3BDA617-07F0-0544-B758-968085A8B8F6}"/>
                </a:ext>
              </a:extLst>
            </p:cNvPr>
            <p:cNvGrpSpPr/>
            <p:nvPr/>
          </p:nvGrpSpPr>
          <p:grpSpPr>
            <a:xfrm>
              <a:off x="4200525" y="6287781"/>
              <a:ext cx="3790950" cy="526884"/>
              <a:chOff x="342900" y="6048984"/>
              <a:chExt cx="5993586" cy="833016"/>
            </a:xfrm>
          </p:grpSpPr>
          <p:pic>
            <p:nvPicPr>
              <p:cNvPr id="256" name="Graphique 255" descr="Flux de travail avec un remplissage uni">
                <a:extLst>
                  <a:ext uri="{FF2B5EF4-FFF2-40B4-BE49-F238E27FC236}">
                    <a16:creationId xmlns:a16="http://schemas.microsoft.com/office/drawing/2014/main" id="{5E39100B-33ED-CDD6-3E1D-3426CCC62C8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61454"/>
              <a:stretch/>
            </p:blipFill>
            <p:spPr>
              <a:xfrm>
                <a:off x="342900" y="6073051"/>
                <a:ext cx="2201188" cy="808949"/>
              </a:xfrm>
              <a:prstGeom prst="rect">
                <a:avLst/>
              </a:prstGeom>
            </p:spPr>
          </p:pic>
          <p:pic>
            <p:nvPicPr>
              <p:cNvPr id="257" name="Graphique 256" descr="Panneau de signalisation avec un remplissage uni">
                <a:extLst>
                  <a:ext uri="{FF2B5EF4-FFF2-40B4-BE49-F238E27FC236}">
                    <a16:creationId xmlns:a16="http://schemas.microsoft.com/office/drawing/2014/main" id="{000F2CA7-0821-85BC-A9C8-8ECAE620126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929601" y="6200331"/>
                <a:ext cx="581453" cy="581455"/>
              </a:xfrm>
              <a:prstGeom prst="rect">
                <a:avLst/>
              </a:prstGeom>
            </p:spPr>
          </p:pic>
          <p:grpSp>
            <p:nvGrpSpPr>
              <p:cNvPr id="258" name="Groupe 257">
                <a:extLst>
                  <a:ext uri="{FF2B5EF4-FFF2-40B4-BE49-F238E27FC236}">
                    <a16:creationId xmlns:a16="http://schemas.microsoft.com/office/drawing/2014/main" id="{FED49182-FEB5-6F76-963A-6D7B32472B8F}"/>
                  </a:ext>
                </a:extLst>
              </p:cNvPr>
              <p:cNvGrpSpPr/>
              <p:nvPr/>
            </p:nvGrpSpPr>
            <p:grpSpPr>
              <a:xfrm rot="16200000">
                <a:off x="493765" y="6293014"/>
                <a:ext cx="461197" cy="350906"/>
                <a:chOff x="1499428" y="3098753"/>
                <a:chExt cx="474208" cy="322063"/>
              </a:xfrm>
            </p:grpSpPr>
            <p:sp>
              <p:nvSpPr>
                <p:cNvPr id="266" name="Flèche : bas 265">
                  <a:extLst>
                    <a:ext uri="{FF2B5EF4-FFF2-40B4-BE49-F238E27FC236}">
                      <a16:creationId xmlns:a16="http://schemas.microsoft.com/office/drawing/2014/main" id="{A9CF9E69-7DC9-71FC-9779-2646C9351802}"/>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267" name="Flèche : bas 266">
                  <a:extLst>
                    <a:ext uri="{FF2B5EF4-FFF2-40B4-BE49-F238E27FC236}">
                      <a16:creationId xmlns:a16="http://schemas.microsoft.com/office/drawing/2014/main" id="{C3CD879A-8ADC-435C-47E2-BCB230B3E278}"/>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259" name="Graphique 258" descr="Flux de travail avec un remplissage uni">
                <a:extLst>
                  <a:ext uri="{FF2B5EF4-FFF2-40B4-BE49-F238E27FC236}">
                    <a16:creationId xmlns:a16="http://schemas.microsoft.com/office/drawing/2014/main" id="{5938E8ED-C605-C5F3-75C5-6B2169E52D1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35945" t="11686" r="38094" b="61453"/>
              <a:stretch/>
            </p:blipFill>
            <p:spPr>
              <a:xfrm>
                <a:off x="2515102" y="6048984"/>
                <a:ext cx="781874" cy="808949"/>
              </a:xfrm>
              <a:prstGeom prst="rect">
                <a:avLst/>
              </a:prstGeom>
            </p:spPr>
          </p:pic>
          <p:pic>
            <p:nvPicPr>
              <p:cNvPr id="260" name="Graphique 259" descr="Flux de travail avec un remplissage uni">
                <a:extLst>
                  <a:ext uri="{FF2B5EF4-FFF2-40B4-BE49-F238E27FC236}">
                    <a16:creationId xmlns:a16="http://schemas.microsoft.com/office/drawing/2014/main" id="{76DFE2CA-71F8-D864-F248-670F21AEB0C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37996" b="61454"/>
              <a:stretch/>
            </p:blipFill>
            <p:spPr>
              <a:xfrm>
                <a:off x="3296976" y="6055731"/>
                <a:ext cx="1498234" cy="808949"/>
              </a:xfrm>
              <a:prstGeom prst="rect">
                <a:avLst/>
              </a:prstGeom>
            </p:spPr>
          </p:pic>
          <p:grpSp>
            <p:nvGrpSpPr>
              <p:cNvPr id="261" name="Groupe 260">
                <a:extLst>
                  <a:ext uri="{FF2B5EF4-FFF2-40B4-BE49-F238E27FC236}">
                    <a16:creationId xmlns:a16="http://schemas.microsoft.com/office/drawing/2014/main" id="{A94C42F5-783C-C64E-BC4D-CFDA16031A83}"/>
                  </a:ext>
                </a:extLst>
              </p:cNvPr>
              <p:cNvGrpSpPr/>
              <p:nvPr/>
            </p:nvGrpSpPr>
            <p:grpSpPr>
              <a:xfrm rot="5400000">
                <a:off x="5196104" y="5678731"/>
                <a:ext cx="703988" cy="1576776"/>
                <a:chOff x="4964821" y="3334416"/>
                <a:chExt cx="846561" cy="1896107"/>
              </a:xfrm>
            </p:grpSpPr>
            <p:pic>
              <p:nvPicPr>
                <p:cNvPr id="264" name="Graphique 263" descr="Flux de travail avec un remplissage uni">
                  <a:extLst>
                    <a:ext uri="{FF2B5EF4-FFF2-40B4-BE49-F238E27FC236}">
                      <a16:creationId xmlns:a16="http://schemas.microsoft.com/office/drawing/2014/main" id="{6A2C8BF3-1D83-D574-37F5-042596139D1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708" t="38545" r="63917" b="9100"/>
                <a:stretch/>
              </p:blipFill>
              <p:spPr>
                <a:xfrm>
                  <a:off x="4964821" y="3334416"/>
                  <a:ext cx="846561" cy="1896107"/>
                </a:xfrm>
                <a:prstGeom prst="rect">
                  <a:avLst/>
                </a:prstGeom>
              </p:spPr>
            </p:pic>
            <p:pic>
              <p:nvPicPr>
                <p:cNvPr id="265" name="Graphique 264" descr="Flux de travail avec un remplissage uni">
                  <a:extLst>
                    <a:ext uri="{FF2B5EF4-FFF2-40B4-BE49-F238E27FC236}">
                      <a16:creationId xmlns:a16="http://schemas.microsoft.com/office/drawing/2014/main" id="{4AEF564B-FEC2-BC30-933E-DFBAAC44398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262" name="Graphique 261" descr="Signe pouce en haut avec un remplissage uni">
                <a:extLst>
                  <a:ext uri="{FF2B5EF4-FFF2-40B4-BE49-F238E27FC236}">
                    <a16:creationId xmlns:a16="http://schemas.microsoft.com/office/drawing/2014/main" id="{7A0CE393-BF41-6FD4-87C4-7269FD6DEEF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19489" y="6179998"/>
                <a:ext cx="597064" cy="597064"/>
              </a:xfrm>
              <a:prstGeom prst="rect">
                <a:avLst/>
              </a:prstGeom>
            </p:spPr>
          </p:pic>
          <p:pic>
            <p:nvPicPr>
              <p:cNvPr id="263" name="Graphique 262" descr="Cause à effet avec un remplissage uni">
                <a:extLst>
                  <a:ext uri="{FF2B5EF4-FFF2-40B4-BE49-F238E27FC236}">
                    <a16:creationId xmlns:a16="http://schemas.microsoft.com/office/drawing/2014/main" id="{6D7CC771-68B3-471B-7546-101209E1633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421206" y="6201189"/>
                <a:ext cx="503900" cy="503900"/>
              </a:xfrm>
              <a:prstGeom prst="rect">
                <a:avLst/>
              </a:prstGeom>
            </p:spPr>
          </p:pic>
        </p:grpSp>
        <p:grpSp>
          <p:nvGrpSpPr>
            <p:cNvPr id="243" name="Groupe 242">
              <a:extLst>
                <a:ext uri="{FF2B5EF4-FFF2-40B4-BE49-F238E27FC236}">
                  <a16:creationId xmlns:a16="http://schemas.microsoft.com/office/drawing/2014/main" id="{E0BCE3DE-3E7C-F6FD-D50B-D9381A5D9D44}"/>
                </a:ext>
              </a:extLst>
            </p:cNvPr>
            <p:cNvGrpSpPr/>
            <p:nvPr/>
          </p:nvGrpSpPr>
          <p:grpSpPr>
            <a:xfrm>
              <a:off x="8012154" y="6287781"/>
              <a:ext cx="3790950" cy="526884"/>
              <a:chOff x="342900" y="6048984"/>
              <a:chExt cx="5993586" cy="833016"/>
            </a:xfrm>
          </p:grpSpPr>
          <p:pic>
            <p:nvPicPr>
              <p:cNvPr id="244" name="Graphique 243" descr="Flux de travail avec un remplissage uni">
                <a:extLst>
                  <a:ext uri="{FF2B5EF4-FFF2-40B4-BE49-F238E27FC236}">
                    <a16:creationId xmlns:a16="http://schemas.microsoft.com/office/drawing/2014/main" id="{6B7916CB-FF4E-A373-BC65-FE4FD0628A1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61454"/>
              <a:stretch/>
            </p:blipFill>
            <p:spPr>
              <a:xfrm>
                <a:off x="342900" y="6073051"/>
                <a:ext cx="2201188" cy="808949"/>
              </a:xfrm>
              <a:prstGeom prst="rect">
                <a:avLst/>
              </a:prstGeom>
            </p:spPr>
          </p:pic>
          <p:pic>
            <p:nvPicPr>
              <p:cNvPr id="245" name="Graphique 244" descr="Panneau de signalisation avec un remplissage uni">
                <a:extLst>
                  <a:ext uri="{FF2B5EF4-FFF2-40B4-BE49-F238E27FC236}">
                    <a16:creationId xmlns:a16="http://schemas.microsoft.com/office/drawing/2014/main" id="{D5181832-B550-F6B3-4A76-F0BCD77A363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929601" y="6200331"/>
                <a:ext cx="581453" cy="581455"/>
              </a:xfrm>
              <a:prstGeom prst="rect">
                <a:avLst/>
              </a:prstGeom>
            </p:spPr>
          </p:pic>
          <p:grpSp>
            <p:nvGrpSpPr>
              <p:cNvPr id="246" name="Groupe 245">
                <a:extLst>
                  <a:ext uri="{FF2B5EF4-FFF2-40B4-BE49-F238E27FC236}">
                    <a16:creationId xmlns:a16="http://schemas.microsoft.com/office/drawing/2014/main" id="{FD0E4799-E8B3-8A72-BC05-A2F39268D65A}"/>
                  </a:ext>
                </a:extLst>
              </p:cNvPr>
              <p:cNvGrpSpPr/>
              <p:nvPr/>
            </p:nvGrpSpPr>
            <p:grpSpPr>
              <a:xfrm rot="16200000">
                <a:off x="493765" y="6293014"/>
                <a:ext cx="461197" cy="350906"/>
                <a:chOff x="1499428" y="3098753"/>
                <a:chExt cx="474208" cy="322063"/>
              </a:xfrm>
            </p:grpSpPr>
            <p:sp>
              <p:nvSpPr>
                <p:cNvPr id="254" name="Flèche : bas 253">
                  <a:extLst>
                    <a:ext uri="{FF2B5EF4-FFF2-40B4-BE49-F238E27FC236}">
                      <a16:creationId xmlns:a16="http://schemas.microsoft.com/office/drawing/2014/main" id="{62A3C0CC-AABF-D118-E41A-8F54E81C5566}"/>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255" name="Flèche : bas 254">
                  <a:extLst>
                    <a:ext uri="{FF2B5EF4-FFF2-40B4-BE49-F238E27FC236}">
                      <a16:creationId xmlns:a16="http://schemas.microsoft.com/office/drawing/2014/main" id="{F39FBAE8-F4ED-C116-EA89-26D5DDC375E2}"/>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247" name="Graphique 246" descr="Flux de travail avec un remplissage uni">
                <a:extLst>
                  <a:ext uri="{FF2B5EF4-FFF2-40B4-BE49-F238E27FC236}">
                    <a16:creationId xmlns:a16="http://schemas.microsoft.com/office/drawing/2014/main" id="{FFAC118C-2A16-3B43-32CA-C096C43AE5D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35945" t="11686" r="38094" b="61453"/>
              <a:stretch/>
            </p:blipFill>
            <p:spPr>
              <a:xfrm>
                <a:off x="2515102" y="6048984"/>
                <a:ext cx="781874" cy="808949"/>
              </a:xfrm>
              <a:prstGeom prst="rect">
                <a:avLst/>
              </a:prstGeom>
            </p:spPr>
          </p:pic>
          <p:pic>
            <p:nvPicPr>
              <p:cNvPr id="248" name="Graphique 247" descr="Flux de travail avec un remplissage uni">
                <a:extLst>
                  <a:ext uri="{FF2B5EF4-FFF2-40B4-BE49-F238E27FC236}">
                    <a16:creationId xmlns:a16="http://schemas.microsoft.com/office/drawing/2014/main" id="{4E78DE23-93CD-8E96-4E8D-86ECBF3685CF}"/>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37996" b="61454"/>
              <a:stretch/>
            </p:blipFill>
            <p:spPr>
              <a:xfrm>
                <a:off x="3296976" y="6055731"/>
                <a:ext cx="1498234" cy="808949"/>
              </a:xfrm>
              <a:prstGeom prst="rect">
                <a:avLst/>
              </a:prstGeom>
            </p:spPr>
          </p:pic>
          <p:grpSp>
            <p:nvGrpSpPr>
              <p:cNvPr id="249" name="Groupe 248">
                <a:extLst>
                  <a:ext uri="{FF2B5EF4-FFF2-40B4-BE49-F238E27FC236}">
                    <a16:creationId xmlns:a16="http://schemas.microsoft.com/office/drawing/2014/main" id="{243983BD-F953-92AB-E543-1004BE24CB2B}"/>
                  </a:ext>
                </a:extLst>
              </p:cNvPr>
              <p:cNvGrpSpPr/>
              <p:nvPr/>
            </p:nvGrpSpPr>
            <p:grpSpPr>
              <a:xfrm rot="5400000">
                <a:off x="5196104" y="5678731"/>
                <a:ext cx="703988" cy="1576776"/>
                <a:chOff x="4964821" y="3334416"/>
                <a:chExt cx="846561" cy="1896107"/>
              </a:xfrm>
            </p:grpSpPr>
            <p:pic>
              <p:nvPicPr>
                <p:cNvPr id="252" name="Graphique 251" descr="Flux de travail avec un remplissage uni">
                  <a:extLst>
                    <a:ext uri="{FF2B5EF4-FFF2-40B4-BE49-F238E27FC236}">
                      <a16:creationId xmlns:a16="http://schemas.microsoft.com/office/drawing/2014/main" id="{CB80724B-6DFE-CB05-BE87-51DF5D17697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708" t="38545" r="63917" b="9100"/>
                <a:stretch/>
              </p:blipFill>
              <p:spPr>
                <a:xfrm>
                  <a:off x="4964821" y="3334416"/>
                  <a:ext cx="846561" cy="1896107"/>
                </a:xfrm>
                <a:prstGeom prst="rect">
                  <a:avLst/>
                </a:prstGeom>
              </p:spPr>
            </p:pic>
            <p:pic>
              <p:nvPicPr>
                <p:cNvPr id="253" name="Graphique 252" descr="Flux de travail avec un remplissage uni">
                  <a:extLst>
                    <a:ext uri="{FF2B5EF4-FFF2-40B4-BE49-F238E27FC236}">
                      <a16:creationId xmlns:a16="http://schemas.microsoft.com/office/drawing/2014/main" id="{578E28F5-98B4-A2FC-15C0-A133FE5D2E1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250" name="Graphique 249" descr="Signe pouce en haut avec un remplissage uni">
                <a:extLst>
                  <a:ext uri="{FF2B5EF4-FFF2-40B4-BE49-F238E27FC236}">
                    <a16:creationId xmlns:a16="http://schemas.microsoft.com/office/drawing/2014/main" id="{3CE00444-9307-D39D-A0B8-788A5626C5C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19489" y="6179998"/>
                <a:ext cx="597064" cy="597064"/>
              </a:xfrm>
              <a:prstGeom prst="rect">
                <a:avLst/>
              </a:prstGeom>
            </p:spPr>
          </p:pic>
          <p:pic>
            <p:nvPicPr>
              <p:cNvPr id="251" name="Graphique 250" descr="Cause à effet avec un remplissage uni">
                <a:extLst>
                  <a:ext uri="{FF2B5EF4-FFF2-40B4-BE49-F238E27FC236}">
                    <a16:creationId xmlns:a16="http://schemas.microsoft.com/office/drawing/2014/main" id="{5BBAB9E0-80C2-27BA-6FE8-1E7C44EC7EB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421206" y="6201189"/>
                <a:ext cx="503900" cy="503900"/>
              </a:xfrm>
              <a:prstGeom prst="rect">
                <a:avLst/>
              </a:prstGeom>
            </p:spPr>
          </p:pic>
        </p:grpSp>
      </p:grpSp>
      <p:grpSp>
        <p:nvGrpSpPr>
          <p:cNvPr id="280" name="Groupe 279">
            <a:extLst>
              <a:ext uri="{FF2B5EF4-FFF2-40B4-BE49-F238E27FC236}">
                <a16:creationId xmlns:a16="http://schemas.microsoft.com/office/drawing/2014/main" id="{A52B4768-90CC-756D-433C-548D0963BDF2}"/>
              </a:ext>
            </a:extLst>
          </p:cNvPr>
          <p:cNvGrpSpPr/>
          <p:nvPr/>
        </p:nvGrpSpPr>
        <p:grpSpPr>
          <a:xfrm>
            <a:off x="8379367" y="2717239"/>
            <a:ext cx="2783152" cy="166784"/>
            <a:chOff x="441468" y="6251796"/>
            <a:chExt cx="2783152" cy="166784"/>
          </a:xfrm>
        </p:grpSpPr>
        <p:grpSp>
          <p:nvGrpSpPr>
            <p:cNvPr id="281" name="Groupe 280">
              <a:extLst>
                <a:ext uri="{FF2B5EF4-FFF2-40B4-BE49-F238E27FC236}">
                  <a16:creationId xmlns:a16="http://schemas.microsoft.com/office/drawing/2014/main" id="{90B27B52-3A2E-06E4-1EC5-30647AA18C70}"/>
                </a:ext>
              </a:extLst>
            </p:cNvPr>
            <p:cNvGrpSpPr/>
            <p:nvPr/>
          </p:nvGrpSpPr>
          <p:grpSpPr>
            <a:xfrm>
              <a:off x="1274510" y="6251796"/>
              <a:ext cx="161789" cy="162363"/>
              <a:chOff x="5636418" y="5645544"/>
              <a:chExt cx="161789" cy="162363"/>
            </a:xfrm>
          </p:grpSpPr>
          <p:pic>
            <p:nvPicPr>
              <p:cNvPr id="295" name="Graphique 294" descr="Flux de travail avec un remplissage uni">
                <a:extLst>
                  <a:ext uri="{FF2B5EF4-FFF2-40B4-BE49-F238E27FC236}">
                    <a16:creationId xmlns:a16="http://schemas.microsoft.com/office/drawing/2014/main" id="{5EE825C2-4CB4-C6D1-8E4D-CABCBD0BC0E2}"/>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2170" t="11685" r="14656" b="61454"/>
              <a:stretch/>
            </p:blipFill>
            <p:spPr>
              <a:xfrm>
                <a:off x="5636418" y="5645544"/>
                <a:ext cx="161789" cy="162363"/>
              </a:xfrm>
              <a:prstGeom prst="rect">
                <a:avLst/>
              </a:prstGeom>
            </p:spPr>
          </p:pic>
          <p:pic>
            <p:nvPicPr>
              <p:cNvPr id="296" name="Graphique 295" descr="Panneau de signalisation avec un remplissage uni">
                <a:extLst>
                  <a:ext uri="{FF2B5EF4-FFF2-40B4-BE49-F238E27FC236}">
                    <a16:creationId xmlns:a16="http://schemas.microsoft.com/office/drawing/2014/main" id="{364E6A35-D00B-FF91-A1DE-B30E20C1458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655765" y="5671091"/>
                <a:ext cx="134786" cy="116703"/>
              </a:xfrm>
              <a:prstGeom prst="rect">
                <a:avLst/>
              </a:prstGeom>
            </p:spPr>
          </p:pic>
        </p:grpSp>
        <p:grpSp>
          <p:nvGrpSpPr>
            <p:cNvPr id="282" name="Groupe 281">
              <a:extLst>
                <a:ext uri="{FF2B5EF4-FFF2-40B4-BE49-F238E27FC236}">
                  <a16:creationId xmlns:a16="http://schemas.microsoft.com/office/drawing/2014/main" id="{353DC6CD-413C-527F-2803-CC0E335C829D}"/>
                </a:ext>
              </a:extLst>
            </p:cNvPr>
            <p:cNvGrpSpPr/>
            <p:nvPr/>
          </p:nvGrpSpPr>
          <p:grpSpPr>
            <a:xfrm>
              <a:off x="3023710" y="6251796"/>
              <a:ext cx="200910" cy="141296"/>
              <a:chOff x="6311809" y="5653990"/>
              <a:chExt cx="200910" cy="141296"/>
            </a:xfrm>
          </p:grpSpPr>
          <p:pic>
            <p:nvPicPr>
              <p:cNvPr id="293" name="Graphique 292" descr="Flux de travail avec un remplissage uni">
                <a:extLst>
                  <a:ext uri="{FF2B5EF4-FFF2-40B4-BE49-F238E27FC236}">
                    <a16:creationId xmlns:a16="http://schemas.microsoft.com/office/drawing/2014/main" id="{FB360BFE-6AD0-63B7-C74A-014C6B1B933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708" t="62122" r="63917" b="9100"/>
              <a:stretch/>
            </p:blipFill>
            <p:spPr>
              <a:xfrm rot="5400000">
                <a:off x="6341616" y="5624183"/>
                <a:ext cx="141296" cy="200910"/>
              </a:xfrm>
              <a:prstGeom prst="rect">
                <a:avLst/>
              </a:prstGeom>
            </p:spPr>
          </p:pic>
          <p:pic>
            <p:nvPicPr>
              <p:cNvPr id="294" name="Graphique 293" descr="Signe pouce en haut avec un remplissage uni">
                <a:extLst>
                  <a:ext uri="{FF2B5EF4-FFF2-40B4-BE49-F238E27FC236}">
                    <a16:creationId xmlns:a16="http://schemas.microsoft.com/office/drawing/2014/main" id="{E4EA8BD6-FA00-34FC-EC15-953A94D96A9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348847" y="5667010"/>
                <a:ext cx="138405" cy="119836"/>
              </a:xfrm>
              <a:prstGeom prst="rect">
                <a:avLst/>
              </a:prstGeom>
            </p:spPr>
          </p:pic>
        </p:grpSp>
        <p:grpSp>
          <p:nvGrpSpPr>
            <p:cNvPr id="283" name="Groupe 282">
              <a:extLst>
                <a:ext uri="{FF2B5EF4-FFF2-40B4-BE49-F238E27FC236}">
                  <a16:creationId xmlns:a16="http://schemas.microsoft.com/office/drawing/2014/main" id="{106C69CA-62AC-A9B2-AF35-698354FE9289}"/>
                </a:ext>
              </a:extLst>
            </p:cNvPr>
            <p:cNvGrpSpPr/>
            <p:nvPr/>
          </p:nvGrpSpPr>
          <p:grpSpPr>
            <a:xfrm>
              <a:off x="2140242" y="6251796"/>
              <a:ext cx="179526" cy="162363"/>
              <a:chOff x="5972734" y="5642068"/>
              <a:chExt cx="179526" cy="162363"/>
            </a:xfrm>
          </p:grpSpPr>
          <p:pic>
            <p:nvPicPr>
              <p:cNvPr id="291" name="Graphique 290" descr="Flux de travail avec un remplissage uni">
                <a:extLst>
                  <a:ext uri="{FF2B5EF4-FFF2-40B4-BE49-F238E27FC236}">
                    <a16:creationId xmlns:a16="http://schemas.microsoft.com/office/drawing/2014/main" id="{DC2FC319-F6EE-17A1-E475-7C2AE733A95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62028" b="61454"/>
              <a:stretch/>
            </p:blipFill>
            <p:spPr>
              <a:xfrm>
                <a:off x="5972734" y="5642068"/>
                <a:ext cx="179526" cy="162363"/>
              </a:xfrm>
              <a:prstGeom prst="rect">
                <a:avLst/>
              </a:prstGeom>
            </p:spPr>
          </p:pic>
          <p:pic>
            <p:nvPicPr>
              <p:cNvPr id="292" name="Graphique 291" descr="Cause à effet avec un remplissage uni">
                <a:extLst>
                  <a:ext uri="{FF2B5EF4-FFF2-40B4-BE49-F238E27FC236}">
                    <a16:creationId xmlns:a16="http://schemas.microsoft.com/office/drawing/2014/main" id="{39DEFF0A-4F34-CDF9-DFF9-74DAFA9C709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001532" y="5671263"/>
                <a:ext cx="116808" cy="101137"/>
              </a:xfrm>
              <a:prstGeom prst="rect">
                <a:avLst/>
              </a:prstGeom>
            </p:spPr>
          </p:pic>
        </p:grpSp>
        <p:pic>
          <p:nvPicPr>
            <p:cNvPr id="284" name="Graphique 283" descr="Flux de travail avec un remplissage uni">
              <a:extLst>
                <a:ext uri="{FF2B5EF4-FFF2-40B4-BE49-F238E27FC236}">
                  <a16:creationId xmlns:a16="http://schemas.microsoft.com/office/drawing/2014/main" id="{B9F26FB9-883B-612E-B006-1CFDCDF8900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62387" b="61454"/>
            <a:stretch/>
          </p:blipFill>
          <p:spPr>
            <a:xfrm>
              <a:off x="441468" y="6256217"/>
              <a:ext cx="177015" cy="162363"/>
            </a:xfrm>
            <a:prstGeom prst="rect">
              <a:avLst/>
            </a:prstGeom>
          </p:spPr>
        </p:pic>
        <p:grpSp>
          <p:nvGrpSpPr>
            <p:cNvPr id="285" name="Groupe 284">
              <a:extLst>
                <a:ext uri="{FF2B5EF4-FFF2-40B4-BE49-F238E27FC236}">
                  <a16:creationId xmlns:a16="http://schemas.microsoft.com/office/drawing/2014/main" id="{09F32948-117C-6376-708D-D923AAFAE6BD}"/>
                </a:ext>
              </a:extLst>
            </p:cNvPr>
            <p:cNvGrpSpPr/>
            <p:nvPr/>
          </p:nvGrpSpPr>
          <p:grpSpPr>
            <a:xfrm rot="16200000">
              <a:off x="485945" y="6301068"/>
              <a:ext cx="92566" cy="81343"/>
              <a:chOff x="1499428" y="3098753"/>
              <a:chExt cx="474208" cy="322063"/>
            </a:xfrm>
          </p:grpSpPr>
          <p:sp>
            <p:nvSpPr>
              <p:cNvPr id="289" name="Flèche : bas 288">
                <a:extLst>
                  <a:ext uri="{FF2B5EF4-FFF2-40B4-BE49-F238E27FC236}">
                    <a16:creationId xmlns:a16="http://schemas.microsoft.com/office/drawing/2014/main" id="{1831C3D5-EF4B-1136-71B6-B03F1F80B815}"/>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290" name="Flèche : bas 289">
                <a:extLst>
                  <a:ext uri="{FF2B5EF4-FFF2-40B4-BE49-F238E27FC236}">
                    <a16:creationId xmlns:a16="http://schemas.microsoft.com/office/drawing/2014/main" id="{08A35333-B130-07BA-F9A3-444782024439}"/>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cxnSp>
          <p:nvCxnSpPr>
            <p:cNvPr id="286" name="Connecteur droit avec flèche 285">
              <a:extLst>
                <a:ext uri="{FF2B5EF4-FFF2-40B4-BE49-F238E27FC236}">
                  <a16:creationId xmlns:a16="http://schemas.microsoft.com/office/drawing/2014/main" id="{C0E13B82-997D-EC69-1F63-5FA8003D3131}"/>
                </a:ext>
              </a:extLst>
            </p:cNvPr>
            <p:cNvCxnSpPr>
              <a:cxnSpLocks/>
              <a:endCxn id="295" idx="1"/>
            </p:cNvCxnSpPr>
            <p:nvPr/>
          </p:nvCxnSpPr>
          <p:spPr>
            <a:xfrm flipV="1">
              <a:off x="618483" y="6332978"/>
              <a:ext cx="656027" cy="7432"/>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7" name="Connecteur droit avec flèche 286">
              <a:extLst>
                <a:ext uri="{FF2B5EF4-FFF2-40B4-BE49-F238E27FC236}">
                  <a16:creationId xmlns:a16="http://schemas.microsoft.com/office/drawing/2014/main" id="{26D63A17-19F0-B9A4-A41B-724D7317A3C1}"/>
                </a:ext>
              </a:extLst>
            </p:cNvPr>
            <p:cNvCxnSpPr>
              <a:cxnSpLocks/>
              <a:endCxn id="291" idx="1"/>
            </p:cNvCxnSpPr>
            <p:nvPr/>
          </p:nvCxnSpPr>
          <p:spPr>
            <a:xfrm flipV="1">
              <a:off x="1442864" y="6332978"/>
              <a:ext cx="697378" cy="1593"/>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8" name="Connecteur droit avec flèche 287">
              <a:extLst>
                <a:ext uri="{FF2B5EF4-FFF2-40B4-BE49-F238E27FC236}">
                  <a16:creationId xmlns:a16="http://schemas.microsoft.com/office/drawing/2014/main" id="{29874150-4E6F-7444-58EA-3154E71F0B25}"/>
                </a:ext>
              </a:extLst>
            </p:cNvPr>
            <p:cNvCxnSpPr>
              <a:cxnSpLocks/>
              <a:endCxn id="293" idx="2"/>
            </p:cNvCxnSpPr>
            <p:nvPr/>
          </p:nvCxnSpPr>
          <p:spPr>
            <a:xfrm flipV="1">
              <a:off x="2329056" y="6322444"/>
              <a:ext cx="694654" cy="345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83" name="ZoneTexte 82">
            <a:extLst>
              <a:ext uri="{FF2B5EF4-FFF2-40B4-BE49-F238E27FC236}">
                <a16:creationId xmlns:a16="http://schemas.microsoft.com/office/drawing/2014/main" id="{7A811766-80B5-37BE-47DC-2A21943F7185}"/>
              </a:ext>
            </a:extLst>
          </p:cNvPr>
          <p:cNvSpPr txBox="1"/>
          <p:nvPr/>
        </p:nvSpPr>
        <p:spPr>
          <a:xfrm>
            <a:off x="1096188" y="4215479"/>
            <a:ext cx="2201423" cy="2585323"/>
          </a:xfrm>
          <a:prstGeom prst="rect">
            <a:avLst/>
          </a:prstGeom>
          <a:noFill/>
        </p:spPr>
        <p:txBody>
          <a:bodyPr wrap="square">
            <a:spAutoFit/>
          </a:bodyPr>
          <a:lstStyle/>
          <a:p>
            <a:pPr algn="ctr"/>
            <a:r>
              <a:rPr lang="fr-FR" dirty="0"/>
              <a:t>Selon son </a:t>
            </a:r>
            <a:r>
              <a:rPr lang="fr-FR" b="1" dirty="0">
                <a:solidFill>
                  <a:srgbClr val="3494BA"/>
                </a:solidFill>
              </a:rPr>
              <a:t>niveau de maturité</a:t>
            </a:r>
            <a:r>
              <a:rPr lang="fr-FR" dirty="0"/>
              <a:t>, ses </a:t>
            </a:r>
            <a:r>
              <a:rPr lang="fr-FR" b="1" dirty="0"/>
              <a:t>conditions actuelles</a:t>
            </a:r>
            <a:r>
              <a:rPr lang="fr-FR" dirty="0"/>
              <a:t>, une communauté peut chercher des </a:t>
            </a:r>
            <a:r>
              <a:rPr lang="fr-FR" b="1" dirty="0">
                <a:solidFill>
                  <a:srgbClr val="ED7D31"/>
                </a:solidFill>
              </a:rPr>
              <a:t>formules toutes prêtes </a:t>
            </a:r>
            <a:r>
              <a:rPr lang="fr-FR" dirty="0"/>
              <a:t>ou au contraire </a:t>
            </a:r>
            <a:r>
              <a:rPr lang="fr-FR" b="1" dirty="0">
                <a:solidFill>
                  <a:srgbClr val="ED7D31"/>
                </a:solidFill>
              </a:rPr>
              <a:t>des idées très libres à adapter</a:t>
            </a:r>
            <a:r>
              <a:rPr lang="fr-FR" dirty="0"/>
              <a:t>.</a:t>
            </a:r>
          </a:p>
        </p:txBody>
      </p:sp>
      <p:sp>
        <p:nvSpPr>
          <p:cNvPr id="84" name="ZoneTexte 83">
            <a:extLst>
              <a:ext uri="{FF2B5EF4-FFF2-40B4-BE49-F238E27FC236}">
                <a16:creationId xmlns:a16="http://schemas.microsoft.com/office/drawing/2014/main" id="{A6E6C963-ABE3-5836-43EC-76773F68A42A}"/>
              </a:ext>
            </a:extLst>
          </p:cNvPr>
          <p:cNvSpPr txBox="1"/>
          <p:nvPr/>
        </p:nvSpPr>
        <p:spPr>
          <a:xfrm>
            <a:off x="5095120" y="4215479"/>
            <a:ext cx="2838389" cy="2308324"/>
          </a:xfrm>
          <a:prstGeom prst="rect">
            <a:avLst/>
          </a:prstGeom>
          <a:noFill/>
        </p:spPr>
        <p:txBody>
          <a:bodyPr wrap="square">
            <a:spAutoFit/>
          </a:bodyPr>
          <a:lstStyle/>
          <a:p>
            <a:pPr algn="ctr"/>
            <a:r>
              <a:rPr lang="fr-FR" dirty="0"/>
              <a:t>Dans une communauté, Il est </a:t>
            </a:r>
            <a:r>
              <a:rPr lang="fr-FR" b="1" dirty="0"/>
              <a:t>très difficile de tout établir d’une seule traite</a:t>
            </a:r>
            <a:r>
              <a:rPr lang="fr-FR" dirty="0"/>
              <a:t>, on peut préférer alors effectuer des </a:t>
            </a:r>
            <a:r>
              <a:rPr lang="fr-FR" b="1" dirty="0">
                <a:solidFill>
                  <a:srgbClr val="3494BA"/>
                </a:solidFill>
              </a:rPr>
              <a:t>cycles d’ajustements</a:t>
            </a:r>
            <a:r>
              <a:rPr lang="fr-FR" dirty="0"/>
              <a:t> où on </a:t>
            </a:r>
            <a:r>
              <a:rPr lang="fr-FR" b="1" dirty="0">
                <a:solidFill>
                  <a:srgbClr val="ED7D31"/>
                </a:solidFill>
              </a:rPr>
              <a:t>se renseigne</a:t>
            </a:r>
            <a:r>
              <a:rPr lang="fr-FR" dirty="0"/>
              <a:t>, on </a:t>
            </a:r>
            <a:r>
              <a:rPr lang="fr-FR" b="1" dirty="0">
                <a:solidFill>
                  <a:srgbClr val="ED7D31"/>
                </a:solidFill>
              </a:rPr>
              <a:t>imagine</a:t>
            </a:r>
            <a:r>
              <a:rPr lang="fr-FR" dirty="0"/>
              <a:t>, on </a:t>
            </a:r>
            <a:r>
              <a:rPr lang="fr-FR" b="1" dirty="0">
                <a:solidFill>
                  <a:srgbClr val="ED7D31"/>
                </a:solidFill>
              </a:rPr>
              <a:t>priorise</a:t>
            </a:r>
            <a:r>
              <a:rPr lang="fr-FR" dirty="0"/>
              <a:t> et on </a:t>
            </a:r>
            <a:r>
              <a:rPr lang="fr-FR" b="1" dirty="0">
                <a:solidFill>
                  <a:srgbClr val="ED7D31"/>
                </a:solidFill>
              </a:rPr>
              <a:t>effectue</a:t>
            </a:r>
            <a:r>
              <a:rPr lang="fr-FR" dirty="0"/>
              <a:t>.</a:t>
            </a:r>
          </a:p>
        </p:txBody>
      </p:sp>
      <p:sp>
        <p:nvSpPr>
          <p:cNvPr id="85" name="ZoneTexte 84">
            <a:extLst>
              <a:ext uri="{FF2B5EF4-FFF2-40B4-BE49-F238E27FC236}">
                <a16:creationId xmlns:a16="http://schemas.microsoft.com/office/drawing/2014/main" id="{E239E3E2-DB12-73B0-D715-797D9247A3F3}"/>
              </a:ext>
            </a:extLst>
          </p:cNvPr>
          <p:cNvSpPr txBox="1"/>
          <p:nvPr/>
        </p:nvSpPr>
        <p:spPr>
          <a:xfrm>
            <a:off x="9190722" y="4215479"/>
            <a:ext cx="2201423" cy="2308324"/>
          </a:xfrm>
          <a:prstGeom prst="rect">
            <a:avLst/>
          </a:prstGeom>
          <a:noFill/>
        </p:spPr>
        <p:txBody>
          <a:bodyPr wrap="square">
            <a:spAutoFit/>
          </a:bodyPr>
          <a:lstStyle/>
          <a:p>
            <a:pPr algn="ctr"/>
            <a:r>
              <a:rPr lang="fr-FR" dirty="0"/>
              <a:t>Faire des cycles d’alignement trop courts peut être fatiguant, en faire des trop longs peut être trop lent pour maintenir l’engagement.</a:t>
            </a:r>
          </a:p>
        </p:txBody>
      </p:sp>
      <p:sp>
        <p:nvSpPr>
          <p:cNvPr id="2" name="Organigramme : Connecteur 1">
            <a:extLst>
              <a:ext uri="{FF2B5EF4-FFF2-40B4-BE49-F238E27FC236}">
                <a16:creationId xmlns:a16="http://schemas.microsoft.com/office/drawing/2014/main" id="{BC28E12F-6DD5-77D8-18BC-BB3FAD7E23D5}"/>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22</a:t>
            </a:r>
          </a:p>
        </p:txBody>
      </p:sp>
      <p:sp>
        <p:nvSpPr>
          <p:cNvPr id="3" name="Organigramme : Connecteur 2">
            <a:extLst>
              <a:ext uri="{FF2B5EF4-FFF2-40B4-BE49-F238E27FC236}">
                <a16:creationId xmlns:a16="http://schemas.microsoft.com/office/drawing/2014/main" id="{D8EDE3F0-758A-9E02-C195-EE2750B61612}"/>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23</a:t>
            </a:r>
          </a:p>
        </p:txBody>
      </p:sp>
      <p:sp>
        <p:nvSpPr>
          <p:cNvPr id="4" name="Organigramme : Connecteur 3">
            <a:extLst>
              <a:ext uri="{FF2B5EF4-FFF2-40B4-BE49-F238E27FC236}">
                <a16:creationId xmlns:a16="http://schemas.microsoft.com/office/drawing/2014/main" id="{5E98147B-EA06-2D3A-1B24-63577CEAF7EE}"/>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24</a:t>
            </a:r>
          </a:p>
        </p:txBody>
      </p:sp>
    </p:spTree>
    <p:extLst>
      <p:ext uri="{BB962C8B-B14F-4D97-AF65-F5344CB8AC3E}">
        <p14:creationId xmlns:p14="http://schemas.microsoft.com/office/powerpoint/2010/main" val="3681215135"/>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Titre 1">
            <a:extLst>
              <a:ext uri="{FF2B5EF4-FFF2-40B4-BE49-F238E27FC236}">
                <a16:creationId xmlns:a16="http://schemas.microsoft.com/office/drawing/2014/main" id="{E1AF4623-852E-CEA8-8138-94B34C366FD1}"/>
              </a:ext>
            </a:extLst>
          </p:cNvPr>
          <p:cNvSpPr>
            <a:spLocks noGrp="1"/>
          </p:cNvSpPr>
          <p:nvPr>
            <p:ph type="title"/>
          </p:nvPr>
        </p:nvSpPr>
        <p:spPr>
          <a:xfrm>
            <a:off x="838200" y="365125"/>
            <a:ext cx="10515600" cy="1325563"/>
          </a:xfrm>
        </p:spPr>
        <p:txBody>
          <a:bodyPr/>
          <a:lstStyle/>
          <a:p>
            <a:r>
              <a:rPr lang="fr-FR" dirty="0"/>
              <a:t>Résumé, une phrase par image</a:t>
            </a:r>
          </a:p>
        </p:txBody>
      </p:sp>
      <p:grpSp>
        <p:nvGrpSpPr>
          <p:cNvPr id="2" name="Groupe 1">
            <a:extLst>
              <a:ext uri="{FF2B5EF4-FFF2-40B4-BE49-F238E27FC236}">
                <a16:creationId xmlns:a16="http://schemas.microsoft.com/office/drawing/2014/main" id="{BF03A78C-89EC-3525-02B3-1D230313468C}"/>
              </a:ext>
            </a:extLst>
          </p:cNvPr>
          <p:cNvGrpSpPr/>
          <p:nvPr/>
        </p:nvGrpSpPr>
        <p:grpSpPr>
          <a:xfrm>
            <a:off x="4980766" y="2054521"/>
            <a:ext cx="1905809" cy="1374479"/>
            <a:chOff x="-210359" y="1857073"/>
            <a:chExt cx="7119594" cy="5134688"/>
          </a:xfrm>
        </p:grpSpPr>
        <p:sp>
          <p:nvSpPr>
            <p:cNvPr id="34" name="Flèche : droite 33">
              <a:extLst>
                <a:ext uri="{FF2B5EF4-FFF2-40B4-BE49-F238E27FC236}">
                  <a16:creationId xmlns:a16="http://schemas.microsoft.com/office/drawing/2014/main" id="{EA166037-3763-F00F-CB2B-B3A78A4D5970}"/>
                </a:ext>
              </a:extLst>
            </p:cNvPr>
            <p:cNvSpPr/>
            <p:nvPr/>
          </p:nvSpPr>
          <p:spPr>
            <a:xfrm>
              <a:off x="85157" y="5655095"/>
              <a:ext cx="1366272" cy="1191781"/>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7" name="Flèche : droite 16">
              <a:extLst>
                <a:ext uri="{FF2B5EF4-FFF2-40B4-BE49-F238E27FC236}">
                  <a16:creationId xmlns:a16="http://schemas.microsoft.com/office/drawing/2014/main" id="{2715EB83-BE0A-556A-43E6-420897F9F370}"/>
                </a:ext>
              </a:extLst>
            </p:cNvPr>
            <p:cNvSpPr/>
            <p:nvPr/>
          </p:nvSpPr>
          <p:spPr>
            <a:xfrm>
              <a:off x="77874" y="2105474"/>
              <a:ext cx="1366272" cy="1191782"/>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8" name="Flèche : droite 17">
              <a:extLst>
                <a:ext uri="{FF2B5EF4-FFF2-40B4-BE49-F238E27FC236}">
                  <a16:creationId xmlns:a16="http://schemas.microsoft.com/office/drawing/2014/main" id="{39653B9A-FB4B-3F4F-4331-E3EE9E44D6B9}"/>
                </a:ext>
              </a:extLst>
            </p:cNvPr>
            <p:cNvSpPr/>
            <p:nvPr/>
          </p:nvSpPr>
          <p:spPr>
            <a:xfrm>
              <a:off x="1444146" y="2105474"/>
              <a:ext cx="1366272" cy="1191782"/>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9" name="Flèche : droite 18">
              <a:extLst>
                <a:ext uri="{FF2B5EF4-FFF2-40B4-BE49-F238E27FC236}">
                  <a16:creationId xmlns:a16="http://schemas.microsoft.com/office/drawing/2014/main" id="{1D61CC95-DF16-09EC-A806-BE45B70328A2}"/>
                </a:ext>
              </a:extLst>
            </p:cNvPr>
            <p:cNvSpPr/>
            <p:nvPr/>
          </p:nvSpPr>
          <p:spPr>
            <a:xfrm>
              <a:off x="2810418" y="2105474"/>
              <a:ext cx="1366272" cy="1191782"/>
            </a:xfrm>
            <a:prstGeom prst="rightArrow">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20" name="Flèche : droite 19">
              <a:extLst>
                <a:ext uri="{FF2B5EF4-FFF2-40B4-BE49-F238E27FC236}">
                  <a16:creationId xmlns:a16="http://schemas.microsoft.com/office/drawing/2014/main" id="{DCFB8038-EF36-CA08-1918-D998592BA597}"/>
                </a:ext>
              </a:extLst>
            </p:cNvPr>
            <p:cNvSpPr/>
            <p:nvPr/>
          </p:nvSpPr>
          <p:spPr>
            <a:xfrm>
              <a:off x="5542963" y="2114678"/>
              <a:ext cx="1366272" cy="1191782"/>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21" name="Flèche : droite 20">
              <a:extLst>
                <a:ext uri="{FF2B5EF4-FFF2-40B4-BE49-F238E27FC236}">
                  <a16:creationId xmlns:a16="http://schemas.microsoft.com/office/drawing/2014/main" id="{45B0E432-662A-898B-FA26-1CD9CDA78169}"/>
                </a:ext>
              </a:extLst>
            </p:cNvPr>
            <p:cNvSpPr/>
            <p:nvPr/>
          </p:nvSpPr>
          <p:spPr>
            <a:xfrm>
              <a:off x="77874" y="3296193"/>
              <a:ext cx="1366272" cy="1191782"/>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22" name="Flèche : droite 21">
              <a:extLst>
                <a:ext uri="{FF2B5EF4-FFF2-40B4-BE49-F238E27FC236}">
                  <a16:creationId xmlns:a16="http://schemas.microsoft.com/office/drawing/2014/main" id="{92752950-6B9E-FAB7-296F-0FBBDAD08AA8}"/>
                </a:ext>
              </a:extLst>
            </p:cNvPr>
            <p:cNvSpPr/>
            <p:nvPr/>
          </p:nvSpPr>
          <p:spPr>
            <a:xfrm>
              <a:off x="1444146" y="3296193"/>
              <a:ext cx="1366272" cy="1191782"/>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23" name="Flèche : droite 22">
              <a:extLst>
                <a:ext uri="{FF2B5EF4-FFF2-40B4-BE49-F238E27FC236}">
                  <a16:creationId xmlns:a16="http://schemas.microsoft.com/office/drawing/2014/main" id="{9D185735-F1F1-7BB0-7E44-83CDFEE4924C}"/>
                </a:ext>
              </a:extLst>
            </p:cNvPr>
            <p:cNvSpPr/>
            <p:nvPr/>
          </p:nvSpPr>
          <p:spPr>
            <a:xfrm>
              <a:off x="4191256" y="3265712"/>
              <a:ext cx="1366272" cy="1191782"/>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24" name="Flèche : droite 23">
              <a:extLst>
                <a:ext uri="{FF2B5EF4-FFF2-40B4-BE49-F238E27FC236}">
                  <a16:creationId xmlns:a16="http://schemas.microsoft.com/office/drawing/2014/main" id="{0F4CF6E6-2471-047C-FEAF-829992BE5DE8}"/>
                </a:ext>
              </a:extLst>
            </p:cNvPr>
            <p:cNvSpPr/>
            <p:nvPr/>
          </p:nvSpPr>
          <p:spPr>
            <a:xfrm>
              <a:off x="77874" y="4488141"/>
              <a:ext cx="1366272" cy="1191781"/>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25" name="Flèche : droite 24">
              <a:extLst>
                <a:ext uri="{FF2B5EF4-FFF2-40B4-BE49-F238E27FC236}">
                  <a16:creationId xmlns:a16="http://schemas.microsoft.com/office/drawing/2014/main" id="{E1F86FF8-E0D5-9597-C164-64866D9E1D8D}"/>
                </a:ext>
              </a:extLst>
            </p:cNvPr>
            <p:cNvSpPr/>
            <p:nvPr/>
          </p:nvSpPr>
          <p:spPr>
            <a:xfrm>
              <a:off x="2824984" y="4513858"/>
              <a:ext cx="1366272" cy="1191781"/>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26" name="Flèche : droite 25">
              <a:extLst>
                <a:ext uri="{FF2B5EF4-FFF2-40B4-BE49-F238E27FC236}">
                  <a16:creationId xmlns:a16="http://schemas.microsoft.com/office/drawing/2014/main" id="{EB759E32-DADA-6CF0-148E-9AF5BD97B5AD}"/>
                </a:ext>
              </a:extLst>
            </p:cNvPr>
            <p:cNvSpPr/>
            <p:nvPr/>
          </p:nvSpPr>
          <p:spPr>
            <a:xfrm>
              <a:off x="1444146" y="5666218"/>
              <a:ext cx="1366272" cy="1191782"/>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27" name="Flèche : droite 26">
              <a:extLst>
                <a:ext uri="{FF2B5EF4-FFF2-40B4-BE49-F238E27FC236}">
                  <a16:creationId xmlns:a16="http://schemas.microsoft.com/office/drawing/2014/main" id="{FD8DBA5E-FAC0-1590-56E1-FDC26BE18805}"/>
                </a:ext>
              </a:extLst>
            </p:cNvPr>
            <p:cNvSpPr/>
            <p:nvPr/>
          </p:nvSpPr>
          <p:spPr>
            <a:xfrm>
              <a:off x="4183974" y="2044066"/>
              <a:ext cx="1366271" cy="1254215"/>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28" name="Flèche : droite 27">
              <a:extLst>
                <a:ext uri="{FF2B5EF4-FFF2-40B4-BE49-F238E27FC236}">
                  <a16:creationId xmlns:a16="http://schemas.microsoft.com/office/drawing/2014/main" id="{6C3B1A92-1635-290F-304C-287F2A9BFB4A}"/>
                </a:ext>
              </a:extLst>
            </p:cNvPr>
            <p:cNvSpPr/>
            <p:nvPr/>
          </p:nvSpPr>
          <p:spPr>
            <a:xfrm>
              <a:off x="2817700" y="3293912"/>
              <a:ext cx="1366272" cy="1191782"/>
            </a:xfrm>
            <a:prstGeom prst="rightArrow">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29" name="Flèche : droite 28">
              <a:extLst>
                <a:ext uri="{FF2B5EF4-FFF2-40B4-BE49-F238E27FC236}">
                  <a16:creationId xmlns:a16="http://schemas.microsoft.com/office/drawing/2014/main" id="{39BA12E8-F49F-A2EF-A6F4-E19C8C73E9AE}"/>
                </a:ext>
              </a:extLst>
            </p:cNvPr>
            <p:cNvSpPr/>
            <p:nvPr/>
          </p:nvSpPr>
          <p:spPr>
            <a:xfrm>
              <a:off x="1444146" y="4499264"/>
              <a:ext cx="1366272" cy="1191782"/>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30" name="Signe de multiplication 29">
              <a:extLst>
                <a:ext uri="{FF2B5EF4-FFF2-40B4-BE49-F238E27FC236}">
                  <a16:creationId xmlns:a16="http://schemas.microsoft.com/office/drawing/2014/main" id="{ADBEC7D9-08BF-4924-DD54-C752576C7E53}"/>
                </a:ext>
              </a:extLst>
            </p:cNvPr>
            <p:cNvSpPr/>
            <p:nvPr/>
          </p:nvSpPr>
          <p:spPr>
            <a:xfrm>
              <a:off x="2555762" y="3081512"/>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Signe de multiplication 30">
              <a:extLst>
                <a:ext uri="{FF2B5EF4-FFF2-40B4-BE49-F238E27FC236}">
                  <a16:creationId xmlns:a16="http://schemas.microsoft.com/office/drawing/2014/main" id="{29FAA8CD-D9E4-4D12-4FDF-655CE5DD9264}"/>
                </a:ext>
              </a:extLst>
            </p:cNvPr>
            <p:cNvSpPr/>
            <p:nvPr/>
          </p:nvSpPr>
          <p:spPr>
            <a:xfrm>
              <a:off x="1204055" y="4305951"/>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Signe de multiplication 31">
              <a:extLst>
                <a:ext uri="{FF2B5EF4-FFF2-40B4-BE49-F238E27FC236}">
                  <a16:creationId xmlns:a16="http://schemas.microsoft.com/office/drawing/2014/main" id="{FF9A9EA4-2E06-81EB-CC67-2F854DA0D715}"/>
                </a:ext>
              </a:extLst>
            </p:cNvPr>
            <p:cNvSpPr/>
            <p:nvPr/>
          </p:nvSpPr>
          <p:spPr>
            <a:xfrm>
              <a:off x="-210359" y="5434424"/>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Signe de multiplication 32">
              <a:extLst>
                <a:ext uri="{FF2B5EF4-FFF2-40B4-BE49-F238E27FC236}">
                  <a16:creationId xmlns:a16="http://schemas.microsoft.com/office/drawing/2014/main" id="{50215E6B-E3E9-82A4-C639-D07CBB074A6A}"/>
                </a:ext>
              </a:extLst>
            </p:cNvPr>
            <p:cNvSpPr/>
            <p:nvPr/>
          </p:nvSpPr>
          <p:spPr>
            <a:xfrm>
              <a:off x="3922034" y="1857073"/>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6" name="Groupe 35">
            <a:extLst>
              <a:ext uri="{FF2B5EF4-FFF2-40B4-BE49-F238E27FC236}">
                <a16:creationId xmlns:a16="http://schemas.microsoft.com/office/drawing/2014/main" id="{19736F28-680B-81FA-A136-719005749E7D}"/>
              </a:ext>
            </a:extLst>
          </p:cNvPr>
          <p:cNvGrpSpPr/>
          <p:nvPr/>
        </p:nvGrpSpPr>
        <p:grpSpPr>
          <a:xfrm>
            <a:off x="1295400" y="2302554"/>
            <a:ext cx="2667000" cy="993213"/>
            <a:chOff x="7229475" y="1898926"/>
            <a:chExt cx="4629150" cy="1723934"/>
          </a:xfrm>
        </p:grpSpPr>
        <p:grpSp>
          <p:nvGrpSpPr>
            <p:cNvPr id="37" name="Groupe 36">
              <a:extLst>
                <a:ext uri="{FF2B5EF4-FFF2-40B4-BE49-F238E27FC236}">
                  <a16:creationId xmlns:a16="http://schemas.microsoft.com/office/drawing/2014/main" id="{B342C16F-8FBD-D0FA-6799-AEDA861519E5}"/>
                </a:ext>
              </a:extLst>
            </p:cNvPr>
            <p:cNvGrpSpPr/>
            <p:nvPr/>
          </p:nvGrpSpPr>
          <p:grpSpPr>
            <a:xfrm>
              <a:off x="7229475" y="1898926"/>
              <a:ext cx="4629150" cy="1021519"/>
              <a:chOff x="3259794" y="2586985"/>
              <a:chExt cx="8932206" cy="1971078"/>
            </a:xfrm>
          </p:grpSpPr>
          <p:sp>
            <p:nvSpPr>
              <p:cNvPr id="39" name="Flèche : droite 38">
                <a:extLst>
                  <a:ext uri="{FF2B5EF4-FFF2-40B4-BE49-F238E27FC236}">
                    <a16:creationId xmlns:a16="http://schemas.microsoft.com/office/drawing/2014/main" id="{3490450A-654E-916D-D7DB-C00A85420E33}"/>
                  </a:ext>
                </a:extLst>
              </p:cNvPr>
              <p:cNvSpPr/>
              <p:nvPr/>
            </p:nvSpPr>
            <p:spPr>
              <a:xfrm>
                <a:off x="3259794" y="2586985"/>
                <a:ext cx="1786441" cy="1971078"/>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sp>
            <p:nvSpPr>
              <p:cNvPr id="40" name="Flèche : droite 39">
                <a:extLst>
                  <a:ext uri="{FF2B5EF4-FFF2-40B4-BE49-F238E27FC236}">
                    <a16:creationId xmlns:a16="http://schemas.microsoft.com/office/drawing/2014/main" id="{614F9FC3-EB0A-33AB-FF3A-A94DFF3C8101}"/>
                  </a:ext>
                </a:extLst>
              </p:cNvPr>
              <p:cNvSpPr/>
              <p:nvPr/>
            </p:nvSpPr>
            <p:spPr>
              <a:xfrm>
                <a:off x="5046235" y="2586985"/>
                <a:ext cx="1786441" cy="1971078"/>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sp>
            <p:nvSpPr>
              <p:cNvPr id="41" name="Flèche : droite 40">
                <a:extLst>
                  <a:ext uri="{FF2B5EF4-FFF2-40B4-BE49-F238E27FC236}">
                    <a16:creationId xmlns:a16="http://schemas.microsoft.com/office/drawing/2014/main" id="{E2C0220C-D11B-6616-D217-2EFDD2D68CF1}"/>
                  </a:ext>
                </a:extLst>
              </p:cNvPr>
              <p:cNvSpPr/>
              <p:nvPr/>
            </p:nvSpPr>
            <p:spPr>
              <a:xfrm>
                <a:off x="6832676" y="2586985"/>
                <a:ext cx="1786441" cy="1971078"/>
              </a:xfrm>
              <a:prstGeom prst="rightArrow">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sp>
            <p:nvSpPr>
              <p:cNvPr id="42" name="Flèche : droite 41">
                <a:extLst>
                  <a:ext uri="{FF2B5EF4-FFF2-40B4-BE49-F238E27FC236}">
                    <a16:creationId xmlns:a16="http://schemas.microsoft.com/office/drawing/2014/main" id="{881E3E32-3F35-B0EA-CADC-28DDC2B07C40}"/>
                  </a:ext>
                </a:extLst>
              </p:cNvPr>
              <p:cNvSpPr/>
              <p:nvPr/>
            </p:nvSpPr>
            <p:spPr>
              <a:xfrm>
                <a:off x="8619118" y="2586985"/>
                <a:ext cx="1786441" cy="1971078"/>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sp>
            <p:nvSpPr>
              <p:cNvPr id="43" name="Flèche : droite 42">
                <a:extLst>
                  <a:ext uri="{FF2B5EF4-FFF2-40B4-BE49-F238E27FC236}">
                    <a16:creationId xmlns:a16="http://schemas.microsoft.com/office/drawing/2014/main" id="{9C5FD26C-13CA-94C5-4454-AA1E84000C60}"/>
                  </a:ext>
                </a:extLst>
              </p:cNvPr>
              <p:cNvSpPr/>
              <p:nvPr/>
            </p:nvSpPr>
            <p:spPr>
              <a:xfrm>
                <a:off x="10405559" y="2586985"/>
                <a:ext cx="1786441" cy="1971078"/>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sp>
          <p:nvSpPr>
            <p:cNvPr id="38" name="Flèche : haut 37">
              <a:extLst>
                <a:ext uri="{FF2B5EF4-FFF2-40B4-BE49-F238E27FC236}">
                  <a16:creationId xmlns:a16="http://schemas.microsoft.com/office/drawing/2014/main" id="{C1E86CCF-F479-8ACE-C6F7-BF42C13E967A}"/>
                </a:ext>
              </a:extLst>
            </p:cNvPr>
            <p:cNvSpPr/>
            <p:nvPr/>
          </p:nvSpPr>
          <p:spPr>
            <a:xfrm>
              <a:off x="10753625" y="2869204"/>
              <a:ext cx="358340" cy="753656"/>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5" name="Groupe 34">
            <a:extLst>
              <a:ext uri="{FF2B5EF4-FFF2-40B4-BE49-F238E27FC236}">
                <a16:creationId xmlns:a16="http://schemas.microsoft.com/office/drawing/2014/main" id="{9CF85445-4504-7F29-461E-D7C00D9AA6F8}"/>
              </a:ext>
            </a:extLst>
          </p:cNvPr>
          <p:cNvGrpSpPr/>
          <p:nvPr/>
        </p:nvGrpSpPr>
        <p:grpSpPr>
          <a:xfrm>
            <a:off x="8684637" y="2018757"/>
            <a:ext cx="2557867" cy="1799143"/>
            <a:chOff x="4220293" y="1690688"/>
            <a:chExt cx="7292359" cy="5129271"/>
          </a:xfrm>
        </p:grpSpPr>
        <p:grpSp>
          <p:nvGrpSpPr>
            <p:cNvPr id="44" name="Groupe 43">
              <a:extLst>
                <a:ext uri="{FF2B5EF4-FFF2-40B4-BE49-F238E27FC236}">
                  <a16:creationId xmlns:a16="http://schemas.microsoft.com/office/drawing/2014/main" id="{5696F94A-C0A9-F87C-BE58-0BFF323D4E02}"/>
                </a:ext>
              </a:extLst>
            </p:cNvPr>
            <p:cNvGrpSpPr/>
            <p:nvPr/>
          </p:nvGrpSpPr>
          <p:grpSpPr>
            <a:xfrm>
              <a:off x="4254727" y="1690688"/>
              <a:ext cx="7234959" cy="1563666"/>
              <a:chOff x="1091953" y="2681056"/>
              <a:chExt cx="8611340" cy="915374"/>
            </a:xfrm>
          </p:grpSpPr>
          <p:sp>
            <p:nvSpPr>
              <p:cNvPr id="45" name="Flèche : droite 44">
                <a:extLst>
                  <a:ext uri="{FF2B5EF4-FFF2-40B4-BE49-F238E27FC236}">
                    <a16:creationId xmlns:a16="http://schemas.microsoft.com/office/drawing/2014/main" id="{D663E4B2-F5D0-2FE6-2F35-17CF7F6EFE9E}"/>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b="1" dirty="0">
                  <a:solidFill>
                    <a:schemeClr val="tx1"/>
                  </a:solidFill>
                </a:endParaRPr>
              </a:p>
            </p:txBody>
          </p:sp>
          <p:sp>
            <p:nvSpPr>
              <p:cNvPr id="46" name="Flèche : droite 45">
                <a:extLst>
                  <a:ext uri="{FF2B5EF4-FFF2-40B4-BE49-F238E27FC236}">
                    <a16:creationId xmlns:a16="http://schemas.microsoft.com/office/drawing/2014/main" id="{5E2F67C9-06E2-A40A-06B2-F95ED24E49AB}"/>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dirty="0">
                  <a:solidFill>
                    <a:schemeClr val="tx1"/>
                  </a:solidFill>
                </a:endParaRPr>
              </a:p>
            </p:txBody>
          </p:sp>
          <p:sp>
            <p:nvSpPr>
              <p:cNvPr id="47" name="Flèche : droite 46">
                <a:extLst>
                  <a:ext uri="{FF2B5EF4-FFF2-40B4-BE49-F238E27FC236}">
                    <a16:creationId xmlns:a16="http://schemas.microsoft.com/office/drawing/2014/main" id="{150B61BB-6738-E2A6-983F-EA2E88345210}"/>
                  </a:ext>
                </a:extLst>
              </p:cNvPr>
              <p:cNvSpPr/>
              <p:nvPr/>
            </p:nvSpPr>
            <p:spPr>
              <a:xfrm>
                <a:off x="4536489" y="2681056"/>
                <a:ext cx="1722268" cy="915374"/>
              </a:xfrm>
              <a:prstGeom prst="rightArrow">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dirty="0">
                  <a:solidFill>
                    <a:schemeClr val="tx1"/>
                  </a:solidFill>
                </a:endParaRPr>
              </a:p>
            </p:txBody>
          </p:sp>
          <p:sp>
            <p:nvSpPr>
              <p:cNvPr id="48" name="Flèche : droite 47">
                <a:extLst>
                  <a:ext uri="{FF2B5EF4-FFF2-40B4-BE49-F238E27FC236}">
                    <a16:creationId xmlns:a16="http://schemas.microsoft.com/office/drawing/2014/main" id="{2A2298A8-58B1-F140-639C-00AE7414DF5E}"/>
                  </a:ext>
                </a:extLst>
              </p:cNvPr>
              <p:cNvSpPr/>
              <p:nvPr/>
            </p:nvSpPr>
            <p:spPr>
              <a:xfrm>
                <a:off x="6258757"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dirty="0">
                  <a:solidFill>
                    <a:schemeClr val="tx1"/>
                  </a:solidFill>
                </a:endParaRPr>
              </a:p>
            </p:txBody>
          </p:sp>
          <p:sp>
            <p:nvSpPr>
              <p:cNvPr id="49" name="Flèche : droite 48">
                <a:extLst>
                  <a:ext uri="{FF2B5EF4-FFF2-40B4-BE49-F238E27FC236}">
                    <a16:creationId xmlns:a16="http://schemas.microsoft.com/office/drawing/2014/main" id="{7018BDD8-7C2B-4F97-C5BF-B54A95A9AE67}"/>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dirty="0">
                  <a:solidFill>
                    <a:schemeClr val="tx1"/>
                  </a:solidFill>
                </a:endParaRPr>
              </a:p>
            </p:txBody>
          </p:sp>
        </p:grpSp>
        <p:sp>
          <p:nvSpPr>
            <p:cNvPr id="50" name="Rectangle 49">
              <a:extLst>
                <a:ext uri="{FF2B5EF4-FFF2-40B4-BE49-F238E27FC236}">
                  <a16:creationId xmlns:a16="http://schemas.microsoft.com/office/drawing/2014/main" id="{97CF5685-BD9A-9D10-F122-7CCC1BDE6934}"/>
                </a:ext>
              </a:extLst>
            </p:cNvPr>
            <p:cNvSpPr/>
            <p:nvPr/>
          </p:nvSpPr>
          <p:spPr>
            <a:xfrm>
              <a:off x="4220293" y="3128470"/>
              <a:ext cx="1376738"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51" name="Rectangle 50">
              <a:extLst>
                <a:ext uri="{FF2B5EF4-FFF2-40B4-BE49-F238E27FC236}">
                  <a16:creationId xmlns:a16="http://schemas.microsoft.com/office/drawing/2014/main" id="{AD05C50D-A3F7-06C1-D9DC-61E961AB663C}"/>
                </a:ext>
              </a:extLst>
            </p:cNvPr>
            <p:cNvSpPr/>
            <p:nvPr/>
          </p:nvSpPr>
          <p:spPr>
            <a:xfrm>
              <a:off x="5610009" y="3889345"/>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52" name="Rectangle 51">
              <a:extLst>
                <a:ext uri="{FF2B5EF4-FFF2-40B4-BE49-F238E27FC236}">
                  <a16:creationId xmlns:a16="http://schemas.microsoft.com/office/drawing/2014/main" id="{F014E89B-32BB-A5E4-ADF4-30DCA4955F59}"/>
                </a:ext>
              </a:extLst>
            </p:cNvPr>
            <p:cNvSpPr/>
            <p:nvPr/>
          </p:nvSpPr>
          <p:spPr>
            <a:xfrm>
              <a:off x="7068484" y="6059084"/>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53" name="Rectangle 52">
              <a:extLst>
                <a:ext uri="{FF2B5EF4-FFF2-40B4-BE49-F238E27FC236}">
                  <a16:creationId xmlns:a16="http://schemas.microsoft.com/office/drawing/2014/main" id="{496EB439-7BF8-75F6-6377-A9063224B97D}"/>
                </a:ext>
              </a:extLst>
            </p:cNvPr>
            <p:cNvSpPr/>
            <p:nvPr/>
          </p:nvSpPr>
          <p:spPr>
            <a:xfrm>
              <a:off x="8595702" y="4617383"/>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54" name="Rectangle 53">
              <a:extLst>
                <a:ext uri="{FF2B5EF4-FFF2-40B4-BE49-F238E27FC236}">
                  <a16:creationId xmlns:a16="http://schemas.microsoft.com/office/drawing/2014/main" id="{0F8F1B1D-BE97-724F-E679-8C25FA46822C}"/>
                </a:ext>
              </a:extLst>
            </p:cNvPr>
            <p:cNvSpPr/>
            <p:nvPr/>
          </p:nvSpPr>
          <p:spPr>
            <a:xfrm>
              <a:off x="10054177" y="5378258"/>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sp>
        <p:nvSpPr>
          <p:cNvPr id="55" name="ZoneTexte 54">
            <a:extLst>
              <a:ext uri="{FF2B5EF4-FFF2-40B4-BE49-F238E27FC236}">
                <a16:creationId xmlns:a16="http://schemas.microsoft.com/office/drawing/2014/main" id="{F3CD4521-0E21-CF71-8CBE-D5EACCD773ED}"/>
              </a:ext>
            </a:extLst>
          </p:cNvPr>
          <p:cNvSpPr txBox="1"/>
          <p:nvPr/>
        </p:nvSpPr>
        <p:spPr>
          <a:xfrm>
            <a:off x="1096188" y="4215479"/>
            <a:ext cx="2866212" cy="2308324"/>
          </a:xfrm>
          <a:prstGeom prst="rect">
            <a:avLst/>
          </a:prstGeom>
          <a:noFill/>
        </p:spPr>
        <p:txBody>
          <a:bodyPr wrap="square">
            <a:spAutoFit/>
          </a:bodyPr>
          <a:lstStyle/>
          <a:p>
            <a:r>
              <a:rPr lang="fr-FR" dirty="0"/>
              <a:t>On peut définir </a:t>
            </a:r>
            <a:r>
              <a:rPr lang="fr-FR" b="1" dirty="0">
                <a:solidFill>
                  <a:srgbClr val="ED7D31"/>
                </a:solidFill>
              </a:rPr>
              <a:t>différents états d’appréciation </a:t>
            </a:r>
            <a:r>
              <a:rPr lang="fr-FR" dirty="0"/>
              <a:t>de la valeur des activités, de la motivation nouvelle à la démotivation par obsolescence, et on peut </a:t>
            </a:r>
            <a:r>
              <a:rPr lang="fr-FR" b="1" dirty="0">
                <a:solidFill>
                  <a:srgbClr val="3494BA"/>
                </a:solidFill>
              </a:rPr>
              <a:t>ajuster ses actions selon l’état en cours</a:t>
            </a:r>
            <a:r>
              <a:rPr lang="fr-FR" dirty="0"/>
              <a:t>.</a:t>
            </a:r>
          </a:p>
        </p:txBody>
      </p:sp>
      <p:sp>
        <p:nvSpPr>
          <p:cNvPr id="56" name="ZoneTexte 55">
            <a:extLst>
              <a:ext uri="{FF2B5EF4-FFF2-40B4-BE49-F238E27FC236}">
                <a16:creationId xmlns:a16="http://schemas.microsoft.com/office/drawing/2014/main" id="{7A0DF43E-7E4A-3BED-512B-28B3965FC4C3}"/>
              </a:ext>
            </a:extLst>
          </p:cNvPr>
          <p:cNvSpPr txBox="1"/>
          <p:nvPr/>
        </p:nvSpPr>
        <p:spPr>
          <a:xfrm>
            <a:off x="5095120" y="4215479"/>
            <a:ext cx="2753480" cy="2308324"/>
          </a:xfrm>
          <a:prstGeom prst="rect">
            <a:avLst/>
          </a:prstGeom>
          <a:noFill/>
        </p:spPr>
        <p:txBody>
          <a:bodyPr wrap="square">
            <a:spAutoFit/>
          </a:bodyPr>
          <a:lstStyle/>
          <a:p>
            <a:r>
              <a:rPr lang="fr-FR" dirty="0"/>
              <a:t>Une Communauté qui ne termine pas ses cycles d’appréciation de valeur peut vivre </a:t>
            </a:r>
            <a:r>
              <a:rPr lang="fr-FR" b="1" dirty="0"/>
              <a:t>divers désagréments </a:t>
            </a:r>
            <a:r>
              <a:rPr lang="fr-FR" dirty="0"/>
              <a:t>malgré de bonnes idées ou des activités qui sont appréciées. </a:t>
            </a:r>
          </a:p>
        </p:txBody>
      </p:sp>
      <p:sp>
        <p:nvSpPr>
          <p:cNvPr id="57" name="ZoneTexte 56">
            <a:extLst>
              <a:ext uri="{FF2B5EF4-FFF2-40B4-BE49-F238E27FC236}">
                <a16:creationId xmlns:a16="http://schemas.microsoft.com/office/drawing/2014/main" id="{D7DAF000-1DB6-497B-B6A0-C14D134040DD}"/>
              </a:ext>
            </a:extLst>
          </p:cNvPr>
          <p:cNvSpPr txBox="1"/>
          <p:nvPr/>
        </p:nvSpPr>
        <p:spPr>
          <a:xfrm>
            <a:off x="9120693" y="4215479"/>
            <a:ext cx="2623632" cy="2308324"/>
          </a:xfrm>
          <a:prstGeom prst="rect">
            <a:avLst/>
          </a:prstGeom>
          <a:noFill/>
        </p:spPr>
        <p:txBody>
          <a:bodyPr wrap="square">
            <a:spAutoFit/>
          </a:bodyPr>
          <a:lstStyle/>
          <a:p>
            <a:pPr algn="ctr"/>
            <a:r>
              <a:rPr lang="fr-FR" dirty="0"/>
              <a:t>Les sujets dans une Communauté ne sont pas toujours tous dans le même timing en appréciation, </a:t>
            </a:r>
            <a:r>
              <a:rPr lang="fr-FR" b="1" dirty="0">
                <a:solidFill>
                  <a:srgbClr val="3494BA"/>
                </a:solidFill>
              </a:rPr>
              <a:t>l’identification des états permet de mieux savoir quoi faire pour chacune</a:t>
            </a:r>
            <a:r>
              <a:rPr lang="fr-FR" dirty="0"/>
              <a:t>.</a:t>
            </a:r>
          </a:p>
        </p:txBody>
      </p:sp>
      <p:sp>
        <p:nvSpPr>
          <p:cNvPr id="3" name="Organigramme : Connecteur 2">
            <a:extLst>
              <a:ext uri="{FF2B5EF4-FFF2-40B4-BE49-F238E27FC236}">
                <a16:creationId xmlns:a16="http://schemas.microsoft.com/office/drawing/2014/main" id="{3197B3B7-20B4-6004-65F9-31E393C460EC}"/>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25</a:t>
            </a:r>
          </a:p>
        </p:txBody>
      </p:sp>
      <p:sp>
        <p:nvSpPr>
          <p:cNvPr id="4" name="Organigramme : Connecteur 3">
            <a:extLst>
              <a:ext uri="{FF2B5EF4-FFF2-40B4-BE49-F238E27FC236}">
                <a16:creationId xmlns:a16="http://schemas.microsoft.com/office/drawing/2014/main" id="{3480C617-BD2B-57BA-1AAB-A7AF30EFF294}"/>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26</a:t>
            </a:r>
          </a:p>
        </p:txBody>
      </p:sp>
      <p:sp>
        <p:nvSpPr>
          <p:cNvPr id="5" name="Organigramme : Connecteur 4">
            <a:extLst>
              <a:ext uri="{FF2B5EF4-FFF2-40B4-BE49-F238E27FC236}">
                <a16:creationId xmlns:a16="http://schemas.microsoft.com/office/drawing/2014/main" id="{E3871B81-BC21-A17A-928F-F983DC54C565}"/>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27</a:t>
            </a:r>
          </a:p>
        </p:txBody>
      </p:sp>
    </p:spTree>
    <p:extLst>
      <p:ext uri="{BB962C8B-B14F-4D97-AF65-F5344CB8AC3E}">
        <p14:creationId xmlns:p14="http://schemas.microsoft.com/office/powerpoint/2010/main" val="2021029920"/>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Titre 1">
            <a:extLst>
              <a:ext uri="{FF2B5EF4-FFF2-40B4-BE49-F238E27FC236}">
                <a16:creationId xmlns:a16="http://schemas.microsoft.com/office/drawing/2014/main" id="{E1AF4623-852E-CEA8-8138-94B34C366FD1}"/>
              </a:ext>
            </a:extLst>
          </p:cNvPr>
          <p:cNvSpPr>
            <a:spLocks noGrp="1"/>
          </p:cNvSpPr>
          <p:nvPr>
            <p:ph type="title"/>
          </p:nvPr>
        </p:nvSpPr>
        <p:spPr>
          <a:xfrm>
            <a:off x="838200" y="365125"/>
            <a:ext cx="10515600" cy="1325563"/>
          </a:xfrm>
        </p:spPr>
        <p:txBody>
          <a:bodyPr/>
          <a:lstStyle/>
          <a:p>
            <a:r>
              <a:rPr lang="fr-FR" dirty="0"/>
              <a:t>Résumé, une phrase par image</a:t>
            </a:r>
          </a:p>
        </p:txBody>
      </p:sp>
      <p:grpSp>
        <p:nvGrpSpPr>
          <p:cNvPr id="3" name="Groupe 2">
            <a:extLst>
              <a:ext uri="{FF2B5EF4-FFF2-40B4-BE49-F238E27FC236}">
                <a16:creationId xmlns:a16="http://schemas.microsoft.com/office/drawing/2014/main" id="{7DB0D455-DADE-D116-5E22-C30E215EBE5C}"/>
              </a:ext>
            </a:extLst>
          </p:cNvPr>
          <p:cNvGrpSpPr/>
          <p:nvPr/>
        </p:nvGrpSpPr>
        <p:grpSpPr>
          <a:xfrm>
            <a:off x="4111104" y="2216371"/>
            <a:ext cx="3603748" cy="1325563"/>
            <a:chOff x="450974" y="1787224"/>
            <a:chExt cx="11601238" cy="4267272"/>
          </a:xfrm>
        </p:grpSpPr>
        <p:pic>
          <p:nvPicPr>
            <p:cNvPr id="55" name="Graphique 54" descr="Utilisateur avec un remplissage uni">
              <a:extLst>
                <a:ext uri="{FF2B5EF4-FFF2-40B4-BE49-F238E27FC236}">
                  <a16:creationId xmlns:a16="http://schemas.microsoft.com/office/drawing/2014/main" id="{55DD1342-8B44-6B77-2405-762956FFD79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505270" y="5507554"/>
              <a:ext cx="546942" cy="546942"/>
            </a:xfrm>
            <a:prstGeom prst="rect">
              <a:avLst/>
            </a:prstGeom>
          </p:spPr>
        </p:pic>
        <p:pic>
          <p:nvPicPr>
            <p:cNvPr id="56" name="Graphique 55" descr="Utilisateur avec un remplissage uni">
              <a:extLst>
                <a:ext uri="{FF2B5EF4-FFF2-40B4-BE49-F238E27FC236}">
                  <a16:creationId xmlns:a16="http://schemas.microsoft.com/office/drawing/2014/main" id="{603B67DE-78ED-F872-D45F-969370F2F84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790202" y="5507554"/>
              <a:ext cx="546942" cy="546942"/>
            </a:xfrm>
            <a:prstGeom prst="rect">
              <a:avLst/>
            </a:prstGeom>
          </p:spPr>
        </p:pic>
        <p:pic>
          <p:nvPicPr>
            <p:cNvPr id="57" name="Graphique 56" descr="Utilisateur avec un remplissage uni">
              <a:extLst>
                <a:ext uri="{FF2B5EF4-FFF2-40B4-BE49-F238E27FC236}">
                  <a16:creationId xmlns:a16="http://schemas.microsoft.com/office/drawing/2014/main" id="{A9027263-49BC-0D25-EE4D-63E1F970567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069038" y="5507554"/>
              <a:ext cx="546942" cy="546942"/>
            </a:xfrm>
            <a:prstGeom prst="rect">
              <a:avLst/>
            </a:prstGeom>
          </p:spPr>
        </p:pic>
        <p:pic>
          <p:nvPicPr>
            <p:cNvPr id="58" name="Graphique 57" descr="Utilisateur avec un remplissage uni">
              <a:extLst>
                <a:ext uri="{FF2B5EF4-FFF2-40B4-BE49-F238E27FC236}">
                  <a16:creationId xmlns:a16="http://schemas.microsoft.com/office/drawing/2014/main" id="{8C6D50F4-3BEC-B57F-EC43-5332F4DFC72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39045" y="5507554"/>
              <a:ext cx="546942" cy="546942"/>
            </a:xfrm>
            <a:prstGeom prst="rect">
              <a:avLst/>
            </a:prstGeom>
          </p:spPr>
        </p:pic>
        <p:grpSp>
          <p:nvGrpSpPr>
            <p:cNvPr id="60" name="Groupe 59">
              <a:extLst>
                <a:ext uri="{FF2B5EF4-FFF2-40B4-BE49-F238E27FC236}">
                  <a16:creationId xmlns:a16="http://schemas.microsoft.com/office/drawing/2014/main" id="{1D322C54-58DE-0D6C-CCD3-1D7F4DF0AFD3}"/>
                </a:ext>
              </a:extLst>
            </p:cNvPr>
            <p:cNvGrpSpPr/>
            <p:nvPr/>
          </p:nvGrpSpPr>
          <p:grpSpPr>
            <a:xfrm>
              <a:off x="10954021" y="2433575"/>
              <a:ext cx="1004893" cy="847205"/>
              <a:chOff x="526728" y="3262391"/>
              <a:chExt cx="1230670" cy="1037553"/>
            </a:xfrm>
          </p:grpSpPr>
          <p:pic>
            <p:nvPicPr>
              <p:cNvPr id="62" name="Graphique 61" descr="Utilisateur avec un remplissage uni">
                <a:extLst>
                  <a:ext uri="{FF2B5EF4-FFF2-40B4-BE49-F238E27FC236}">
                    <a16:creationId xmlns:a16="http://schemas.microsoft.com/office/drawing/2014/main" id="{48E8D10E-2628-EC56-8F1B-90F62A25E3F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45252" y="3262391"/>
                <a:ext cx="336064" cy="336064"/>
              </a:xfrm>
              <a:prstGeom prst="rect">
                <a:avLst/>
              </a:prstGeom>
            </p:spPr>
          </p:pic>
          <p:pic>
            <p:nvPicPr>
              <p:cNvPr id="63" name="Graphique 62" descr="Utilisateur avec un remplissage uni">
                <a:extLst>
                  <a:ext uri="{FF2B5EF4-FFF2-40B4-BE49-F238E27FC236}">
                    <a16:creationId xmlns:a16="http://schemas.microsoft.com/office/drawing/2014/main" id="{ABAF78C5-0220-400F-A63F-E0179ED5173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98364" y="3500135"/>
                <a:ext cx="336064" cy="336064"/>
              </a:xfrm>
              <a:prstGeom prst="rect">
                <a:avLst/>
              </a:prstGeom>
            </p:spPr>
          </p:pic>
          <p:pic>
            <p:nvPicPr>
              <p:cNvPr id="64" name="Graphique 63" descr="Utilisateur avec un remplissage uni">
                <a:extLst>
                  <a:ext uri="{FF2B5EF4-FFF2-40B4-BE49-F238E27FC236}">
                    <a16:creationId xmlns:a16="http://schemas.microsoft.com/office/drawing/2014/main" id="{744339A9-1BD8-D05A-5A91-99249F8062D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89840" y="3549295"/>
                <a:ext cx="336064" cy="336064"/>
              </a:xfrm>
              <a:prstGeom prst="rect">
                <a:avLst/>
              </a:prstGeom>
            </p:spPr>
          </p:pic>
          <p:pic>
            <p:nvPicPr>
              <p:cNvPr id="65" name="Graphique 64" descr="Utilisateur avec un remplissage uni">
                <a:extLst>
                  <a:ext uri="{FF2B5EF4-FFF2-40B4-BE49-F238E27FC236}">
                    <a16:creationId xmlns:a16="http://schemas.microsoft.com/office/drawing/2014/main" id="{B51652C4-F6A7-5674-056E-517165E87E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36728" y="3405843"/>
                <a:ext cx="336064" cy="336064"/>
              </a:xfrm>
              <a:prstGeom prst="rect">
                <a:avLst/>
              </a:prstGeom>
            </p:spPr>
          </p:pic>
          <p:pic>
            <p:nvPicPr>
              <p:cNvPr id="66" name="Graphique 65" descr="Utilisateur avec un remplissage uni">
                <a:extLst>
                  <a:ext uri="{FF2B5EF4-FFF2-40B4-BE49-F238E27FC236}">
                    <a16:creationId xmlns:a16="http://schemas.microsoft.com/office/drawing/2014/main" id="{4746A18E-972D-A2D1-1276-78E8E91FA10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79420" y="3668167"/>
                <a:ext cx="336064" cy="336064"/>
              </a:xfrm>
              <a:prstGeom prst="rect">
                <a:avLst/>
              </a:prstGeom>
            </p:spPr>
          </p:pic>
          <p:pic>
            <p:nvPicPr>
              <p:cNvPr id="67" name="Graphique 66" descr="Utilisateur avec un remplissage uni">
                <a:extLst>
                  <a:ext uri="{FF2B5EF4-FFF2-40B4-BE49-F238E27FC236}">
                    <a16:creationId xmlns:a16="http://schemas.microsoft.com/office/drawing/2014/main" id="{ECF0B90A-7070-B289-595A-866A054F7AF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00664" y="3836199"/>
                <a:ext cx="336064" cy="336064"/>
              </a:xfrm>
              <a:prstGeom prst="rect">
                <a:avLst/>
              </a:prstGeom>
            </p:spPr>
          </p:pic>
          <p:pic>
            <p:nvPicPr>
              <p:cNvPr id="68" name="Graphique 67" descr="Utilisateur avec un remplissage uni">
                <a:extLst>
                  <a:ext uri="{FF2B5EF4-FFF2-40B4-BE49-F238E27FC236}">
                    <a16:creationId xmlns:a16="http://schemas.microsoft.com/office/drawing/2014/main" id="{DBDB8BBD-053C-1700-E283-66519157133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26728" y="3822443"/>
                <a:ext cx="336064" cy="336064"/>
              </a:xfrm>
              <a:prstGeom prst="rect">
                <a:avLst/>
              </a:prstGeom>
            </p:spPr>
          </p:pic>
          <p:pic>
            <p:nvPicPr>
              <p:cNvPr id="69" name="Graphique 68" descr="Utilisateur avec un remplissage uni">
                <a:extLst>
                  <a:ext uri="{FF2B5EF4-FFF2-40B4-BE49-F238E27FC236}">
                    <a16:creationId xmlns:a16="http://schemas.microsoft.com/office/drawing/2014/main" id="{0D80E721-CA90-4E95-1A01-7DEC790255A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65092" y="3930491"/>
                <a:ext cx="336064" cy="336064"/>
              </a:xfrm>
              <a:prstGeom prst="rect">
                <a:avLst/>
              </a:prstGeom>
            </p:spPr>
          </p:pic>
          <p:pic>
            <p:nvPicPr>
              <p:cNvPr id="70" name="Graphique 69" descr="Utilisateur avec un remplissage uni">
                <a:extLst>
                  <a:ext uri="{FF2B5EF4-FFF2-40B4-BE49-F238E27FC236}">
                    <a16:creationId xmlns:a16="http://schemas.microsoft.com/office/drawing/2014/main" id="{2B4718E7-0093-A2C8-0B17-59CDCFCD412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286996" y="3963880"/>
                <a:ext cx="336064" cy="336064"/>
              </a:xfrm>
              <a:prstGeom prst="rect">
                <a:avLst/>
              </a:prstGeom>
            </p:spPr>
          </p:pic>
          <p:pic>
            <p:nvPicPr>
              <p:cNvPr id="71" name="Graphique 70" descr="Utilisateur avec un remplissage uni">
                <a:extLst>
                  <a:ext uri="{FF2B5EF4-FFF2-40B4-BE49-F238E27FC236}">
                    <a16:creationId xmlns:a16="http://schemas.microsoft.com/office/drawing/2014/main" id="{CF45AD9D-53EF-D9FD-D80C-34FA5327477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421334" y="3692747"/>
                <a:ext cx="336064" cy="336064"/>
              </a:xfrm>
              <a:prstGeom prst="rect">
                <a:avLst/>
              </a:prstGeom>
            </p:spPr>
          </p:pic>
          <p:pic>
            <p:nvPicPr>
              <p:cNvPr id="72" name="Graphique 71" descr="Utilisateur avec un remplissage uni">
                <a:extLst>
                  <a:ext uri="{FF2B5EF4-FFF2-40B4-BE49-F238E27FC236}">
                    <a16:creationId xmlns:a16="http://schemas.microsoft.com/office/drawing/2014/main" id="{2AB8A104-33F2-DC4B-3BDA-FB108601A4B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401156" y="3416415"/>
                <a:ext cx="336064" cy="336064"/>
              </a:xfrm>
              <a:prstGeom prst="rect">
                <a:avLst/>
              </a:prstGeom>
            </p:spPr>
          </p:pic>
        </p:grpSp>
        <p:grpSp>
          <p:nvGrpSpPr>
            <p:cNvPr id="74" name="Groupe 73">
              <a:extLst>
                <a:ext uri="{FF2B5EF4-FFF2-40B4-BE49-F238E27FC236}">
                  <a16:creationId xmlns:a16="http://schemas.microsoft.com/office/drawing/2014/main" id="{C665BCBC-C0EB-2FEE-6F82-E7F510EBD619}"/>
                </a:ext>
              </a:extLst>
            </p:cNvPr>
            <p:cNvGrpSpPr/>
            <p:nvPr/>
          </p:nvGrpSpPr>
          <p:grpSpPr>
            <a:xfrm>
              <a:off x="9807136" y="2629065"/>
              <a:ext cx="1004893" cy="847205"/>
              <a:chOff x="2908831" y="3262391"/>
              <a:chExt cx="1230670" cy="1037553"/>
            </a:xfrm>
          </p:grpSpPr>
          <p:pic>
            <p:nvPicPr>
              <p:cNvPr id="76" name="Graphique 75" descr="Utilisateur avec un remplissage uni">
                <a:extLst>
                  <a:ext uri="{FF2B5EF4-FFF2-40B4-BE49-F238E27FC236}">
                    <a16:creationId xmlns:a16="http://schemas.microsoft.com/office/drawing/2014/main" id="{BF9FED70-B618-F189-57AD-8B49CD136D3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227355" y="3262391"/>
                <a:ext cx="336064" cy="336064"/>
              </a:xfrm>
              <a:prstGeom prst="rect">
                <a:avLst/>
              </a:prstGeom>
            </p:spPr>
          </p:pic>
          <p:pic>
            <p:nvPicPr>
              <p:cNvPr id="77" name="Graphique 76" descr="Utilisateur avec un remplissage uni">
                <a:extLst>
                  <a:ext uri="{FF2B5EF4-FFF2-40B4-BE49-F238E27FC236}">
                    <a16:creationId xmlns:a16="http://schemas.microsoft.com/office/drawing/2014/main" id="{C3CD1CAE-D0AE-63FA-1BE0-2FE93865E3B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980467" y="3500135"/>
                <a:ext cx="336064" cy="336064"/>
              </a:xfrm>
              <a:prstGeom prst="rect">
                <a:avLst/>
              </a:prstGeom>
            </p:spPr>
          </p:pic>
          <p:pic>
            <p:nvPicPr>
              <p:cNvPr id="78" name="Graphique 77" descr="Utilisateur avec un remplissage uni">
                <a:extLst>
                  <a:ext uri="{FF2B5EF4-FFF2-40B4-BE49-F238E27FC236}">
                    <a16:creationId xmlns:a16="http://schemas.microsoft.com/office/drawing/2014/main" id="{183F7D64-7A5C-0331-E527-415C0006333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271943" y="3549295"/>
                <a:ext cx="336064" cy="336064"/>
              </a:xfrm>
              <a:prstGeom prst="rect">
                <a:avLst/>
              </a:prstGeom>
            </p:spPr>
          </p:pic>
          <p:pic>
            <p:nvPicPr>
              <p:cNvPr id="79" name="Graphique 78" descr="Utilisateur avec un remplissage uni">
                <a:extLst>
                  <a:ext uri="{FF2B5EF4-FFF2-40B4-BE49-F238E27FC236}">
                    <a16:creationId xmlns:a16="http://schemas.microsoft.com/office/drawing/2014/main" id="{3AC7F5AE-D948-F387-D2CC-3FA7AA7FA20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518831" y="3405843"/>
                <a:ext cx="336064" cy="336064"/>
              </a:xfrm>
              <a:prstGeom prst="rect">
                <a:avLst/>
              </a:prstGeom>
            </p:spPr>
          </p:pic>
          <p:pic>
            <p:nvPicPr>
              <p:cNvPr id="80" name="Graphique 79" descr="Utilisateur avec un remplissage uni">
                <a:extLst>
                  <a:ext uri="{FF2B5EF4-FFF2-40B4-BE49-F238E27FC236}">
                    <a16:creationId xmlns:a16="http://schemas.microsoft.com/office/drawing/2014/main" id="{6AF15095-273B-36AB-D177-2A57CDF699B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61523" y="3668167"/>
                <a:ext cx="336064" cy="336064"/>
              </a:xfrm>
              <a:prstGeom prst="rect">
                <a:avLst/>
              </a:prstGeom>
            </p:spPr>
          </p:pic>
          <p:pic>
            <p:nvPicPr>
              <p:cNvPr id="81" name="Graphique 80" descr="Utilisateur avec un remplissage uni">
                <a:extLst>
                  <a:ext uri="{FF2B5EF4-FFF2-40B4-BE49-F238E27FC236}">
                    <a16:creationId xmlns:a16="http://schemas.microsoft.com/office/drawing/2014/main" id="{46C6BB1D-153F-1696-4805-F86F04576EB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182767" y="3836199"/>
                <a:ext cx="336064" cy="336064"/>
              </a:xfrm>
              <a:prstGeom prst="rect">
                <a:avLst/>
              </a:prstGeom>
            </p:spPr>
          </p:pic>
          <p:pic>
            <p:nvPicPr>
              <p:cNvPr id="82" name="Graphique 81" descr="Utilisateur avec un remplissage uni">
                <a:extLst>
                  <a:ext uri="{FF2B5EF4-FFF2-40B4-BE49-F238E27FC236}">
                    <a16:creationId xmlns:a16="http://schemas.microsoft.com/office/drawing/2014/main" id="{79A4DE70-7C44-7A2E-DF0F-0539572B643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908831" y="3822443"/>
                <a:ext cx="336064" cy="336064"/>
              </a:xfrm>
              <a:prstGeom prst="rect">
                <a:avLst/>
              </a:prstGeom>
            </p:spPr>
          </p:pic>
          <p:pic>
            <p:nvPicPr>
              <p:cNvPr id="83" name="Graphique 82" descr="Utilisateur avec un remplissage uni">
                <a:extLst>
                  <a:ext uri="{FF2B5EF4-FFF2-40B4-BE49-F238E27FC236}">
                    <a16:creationId xmlns:a16="http://schemas.microsoft.com/office/drawing/2014/main" id="{CB9E835A-F93C-0D3E-299D-34136FE7849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47195" y="3930491"/>
                <a:ext cx="336064" cy="336064"/>
              </a:xfrm>
              <a:prstGeom prst="rect">
                <a:avLst/>
              </a:prstGeom>
            </p:spPr>
          </p:pic>
          <p:pic>
            <p:nvPicPr>
              <p:cNvPr id="84" name="Graphique 83" descr="Utilisateur avec un remplissage uni">
                <a:extLst>
                  <a:ext uri="{FF2B5EF4-FFF2-40B4-BE49-F238E27FC236}">
                    <a16:creationId xmlns:a16="http://schemas.microsoft.com/office/drawing/2014/main" id="{03FD51C0-3B3D-528A-1399-1CA367A7F10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669099" y="396388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1E34F8E4-A205-3570-1790-F2344A67066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03437" y="3692747"/>
                <a:ext cx="336064" cy="336064"/>
              </a:xfrm>
              <a:prstGeom prst="rect">
                <a:avLst/>
              </a:prstGeom>
            </p:spPr>
          </p:pic>
          <p:pic>
            <p:nvPicPr>
              <p:cNvPr id="86" name="Graphique 85" descr="Utilisateur avec un remplissage uni">
                <a:extLst>
                  <a:ext uri="{FF2B5EF4-FFF2-40B4-BE49-F238E27FC236}">
                    <a16:creationId xmlns:a16="http://schemas.microsoft.com/office/drawing/2014/main" id="{ABA78A3E-F526-369F-2D09-00A188F4F6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783259" y="3416415"/>
                <a:ext cx="336064" cy="336064"/>
              </a:xfrm>
              <a:prstGeom prst="rect">
                <a:avLst/>
              </a:prstGeom>
            </p:spPr>
          </p:pic>
        </p:grpSp>
        <p:grpSp>
          <p:nvGrpSpPr>
            <p:cNvPr id="88" name="Groupe 87">
              <a:extLst>
                <a:ext uri="{FF2B5EF4-FFF2-40B4-BE49-F238E27FC236}">
                  <a16:creationId xmlns:a16="http://schemas.microsoft.com/office/drawing/2014/main" id="{409E0214-1B54-414F-9E48-87D9A829D909}"/>
                </a:ext>
              </a:extLst>
            </p:cNvPr>
            <p:cNvGrpSpPr/>
            <p:nvPr/>
          </p:nvGrpSpPr>
          <p:grpSpPr>
            <a:xfrm>
              <a:off x="8471399" y="2904060"/>
              <a:ext cx="1004893" cy="847205"/>
              <a:chOff x="5160208" y="3308115"/>
              <a:chExt cx="1230670" cy="1037553"/>
            </a:xfrm>
          </p:grpSpPr>
          <p:pic>
            <p:nvPicPr>
              <p:cNvPr id="90" name="Graphique 89" descr="Utilisateur avec un remplissage uni">
                <a:extLst>
                  <a:ext uri="{FF2B5EF4-FFF2-40B4-BE49-F238E27FC236}">
                    <a16:creationId xmlns:a16="http://schemas.microsoft.com/office/drawing/2014/main" id="{07846EDC-BFAC-D3F5-EAC5-1FB3F90A660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478732" y="3308115"/>
                <a:ext cx="336064" cy="336064"/>
              </a:xfrm>
              <a:prstGeom prst="rect">
                <a:avLst/>
              </a:prstGeom>
            </p:spPr>
          </p:pic>
          <p:pic>
            <p:nvPicPr>
              <p:cNvPr id="91" name="Graphique 90" descr="Utilisateur avec un remplissage uni">
                <a:extLst>
                  <a:ext uri="{FF2B5EF4-FFF2-40B4-BE49-F238E27FC236}">
                    <a16:creationId xmlns:a16="http://schemas.microsoft.com/office/drawing/2014/main" id="{F5831AA0-B4C7-5CD4-7603-4381F9F5B96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31844" y="3545859"/>
                <a:ext cx="336064" cy="336064"/>
              </a:xfrm>
              <a:prstGeom prst="rect">
                <a:avLst/>
              </a:prstGeom>
            </p:spPr>
          </p:pic>
          <p:pic>
            <p:nvPicPr>
              <p:cNvPr id="92" name="Graphique 91" descr="Utilisateur avec un remplissage uni">
                <a:extLst>
                  <a:ext uri="{FF2B5EF4-FFF2-40B4-BE49-F238E27FC236}">
                    <a16:creationId xmlns:a16="http://schemas.microsoft.com/office/drawing/2014/main" id="{D6B91F03-4742-96EF-50F2-2C60E61090E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523320" y="3595019"/>
                <a:ext cx="336064" cy="336064"/>
              </a:xfrm>
              <a:prstGeom prst="rect">
                <a:avLst/>
              </a:prstGeom>
            </p:spPr>
          </p:pic>
          <p:pic>
            <p:nvPicPr>
              <p:cNvPr id="93" name="Graphique 92" descr="Utilisateur avec un remplissage uni">
                <a:extLst>
                  <a:ext uri="{FF2B5EF4-FFF2-40B4-BE49-F238E27FC236}">
                    <a16:creationId xmlns:a16="http://schemas.microsoft.com/office/drawing/2014/main" id="{EB3CFE89-B81C-415C-BB9D-08FB6149D7F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770208" y="3451567"/>
                <a:ext cx="336064" cy="336064"/>
              </a:xfrm>
              <a:prstGeom prst="rect">
                <a:avLst/>
              </a:prstGeom>
            </p:spPr>
          </p:pic>
          <p:pic>
            <p:nvPicPr>
              <p:cNvPr id="94" name="Graphique 93" descr="Utilisateur avec un remplissage uni">
                <a:extLst>
                  <a:ext uri="{FF2B5EF4-FFF2-40B4-BE49-F238E27FC236}">
                    <a16:creationId xmlns:a16="http://schemas.microsoft.com/office/drawing/2014/main" id="{F9EAD827-5090-E5D2-08AD-0BCD697AF72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12900" y="3713891"/>
                <a:ext cx="336064" cy="336064"/>
              </a:xfrm>
              <a:prstGeom prst="rect">
                <a:avLst/>
              </a:prstGeom>
            </p:spPr>
          </p:pic>
          <p:pic>
            <p:nvPicPr>
              <p:cNvPr id="95" name="Graphique 94" descr="Utilisateur avec un remplissage uni">
                <a:extLst>
                  <a:ext uri="{FF2B5EF4-FFF2-40B4-BE49-F238E27FC236}">
                    <a16:creationId xmlns:a16="http://schemas.microsoft.com/office/drawing/2014/main" id="{621DFC75-34C7-5FCB-E7D6-5B0DD1E1718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434144" y="3881923"/>
                <a:ext cx="336064" cy="336064"/>
              </a:xfrm>
              <a:prstGeom prst="rect">
                <a:avLst/>
              </a:prstGeom>
            </p:spPr>
          </p:pic>
          <p:pic>
            <p:nvPicPr>
              <p:cNvPr id="96" name="Graphique 95" descr="Utilisateur avec un remplissage uni">
                <a:extLst>
                  <a:ext uri="{FF2B5EF4-FFF2-40B4-BE49-F238E27FC236}">
                    <a16:creationId xmlns:a16="http://schemas.microsoft.com/office/drawing/2014/main" id="{3086FC0C-6BFF-E4F3-FE26-87908B2CAC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160208" y="3868167"/>
                <a:ext cx="336064" cy="336064"/>
              </a:xfrm>
              <a:prstGeom prst="rect">
                <a:avLst/>
              </a:prstGeom>
            </p:spPr>
          </p:pic>
          <p:pic>
            <p:nvPicPr>
              <p:cNvPr id="97" name="Graphique 96" descr="Utilisateur avec un remplissage uni">
                <a:extLst>
                  <a:ext uri="{FF2B5EF4-FFF2-40B4-BE49-F238E27FC236}">
                    <a16:creationId xmlns:a16="http://schemas.microsoft.com/office/drawing/2014/main" id="{34BD9397-0A8D-E9B4-0B37-C991F1D1EF0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698572" y="3976215"/>
                <a:ext cx="336064" cy="336064"/>
              </a:xfrm>
              <a:prstGeom prst="rect">
                <a:avLst/>
              </a:prstGeom>
            </p:spPr>
          </p:pic>
          <p:pic>
            <p:nvPicPr>
              <p:cNvPr id="98" name="Graphique 97" descr="Utilisateur avec un remplissage uni">
                <a:extLst>
                  <a:ext uri="{FF2B5EF4-FFF2-40B4-BE49-F238E27FC236}">
                    <a16:creationId xmlns:a16="http://schemas.microsoft.com/office/drawing/2014/main" id="{B63A6F9C-9CC1-FEE8-4267-6AC71AC4837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920476" y="4009604"/>
                <a:ext cx="336064" cy="336064"/>
              </a:xfrm>
              <a:prstGeom prst="rect">
                <a:avLst/>
              </a:prstGeom>
            </p:spPr>
          </p:pic>
          <p:pic>
            <p:nvPicPr>
              <p:cNvPr id="99" name="Graphique 98" descr="Utilisateur avec un remplissage uni">
                <a:extLst>
                  <a:ext uri="{FF2B5EF4-FFF2-40B4-BE49-F238E27FC236}">
                    <a16:creationId xmlns:a16="http://schemas.microsoft.com/office/drawing/2014/main" id="{E1E22F17-C8CC-C0A9-D7A1-74F1D61F8E6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54814" y="3738471"/>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A56B4C69-153F-42F6-8F83-18A4C32D9AA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34636" y="3462139"/>
                <a:ext cx="336064" cy="336064"/>
              </a:xfrm>
              <a:prstGeom prst="rect">
                <a:avLst/>
              </a:prstGeom>
            </p:spPr>
          </p:pic>
        </p:grpSp>
        <p:grpSp>
          <p:nvGrpSpPr>
            <p:cNvPr id="102" name="Groupe 101">
              <a:extLst>
                <a:ext uri="{FF2B5EF4-FFF2-40B4-BE49-F238E27FC236}">
                  <a16:creationId xmlns:a16="http://schemas.microsoft.com/office/drawing/2014/main" id="{414D0173-0E81-9DBE-623A-47A7DE766256}"/>
                </a:ext>
              </a:extLst>
            </p:cNvPr>
            <p:cNvGrpSpPr/>
            <p:nvPr/>
          </p:nvGrpSpPr>
          <p:grpSpPr>
            <a:xfrm>
              <a:off x="5820214" y="3464993"/>
              <a:ext cx="1004893" cy="847205"/>
              <a:chOff x="7146490" y="3274976"/>
              <a:chExt cx="1230670" cy="1037553"/>
            </a:xfrm>
          </p:grpSpPr>
          <p:pic>
            <p:nvPicPr>
              <p:cNvPr id="104" name="Graphique 103" descr="Utilisateur avec un remplissage uni">
                <a:extLst>
                  <a:ext uri="{FF2B5EF4-FFF2-40B4-BE49-F238E27FC236}">
                    <a16:creationId xmlns:a16="http://schemas.microsoft.com/office/drawing/2014/main" id="{D8FFD5C8-7473-05D3-B760-8AB840E5A2D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465014" y="3274976"/>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7E1253AB-B278-C17F-AD8F-A16B8087498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218126" y="3512720"/>
                <a:ext cx="336064" cy="336064"/>
              </a:xfrm>
              <a:prstGeom prst="rect">
                <a:avLst/>
              </a:prstGeom>
            </p:spPr>
          </p:pic>
          <p:pic>
            <p:nvPicPr>
              <p:cNvPr id="106" name="Graphique 105" descr="Utilisateur avec un remplissage uni">
                <a:extLst>
                  <a:ext uri="{FF2B5EF4-FFF2-40B4-BE49-F238E27FC236}">
                    <a16:creationId xmlns:a16="http://schemas.microsoft.com/office/drawing/2014/main" id="{C3251320-8677-6186-DF69-67241DEB6B1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509602" y="3561880"/>
                <a:ext cx="336064" cy="336064"/>
              </a:xfrm>
              <a:prstGeom prst="rect">
                <a:avLst/>
              </a:prstGeom>
            </p:spPr>
          </p:pic>
          <p:pic>
            <p:nvPicPr>
              <p:cNvPr id="107" name="Graphique 106" descr="Utilisateur avec un remplissage uni">
                <a:extLst>
                  <a:ext uri="{FF2B5EF4-FFF2-40B4-BE49-F238E27FC236}">
                    <a16:creationId xmlns:a16="http://schemas.microsoft.com/office/drawing/2014/main" id="{DC32B7B7-ECE2-75B2-359A-BE5F97C948D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756490" y="3418428"/>
                <a:ext cx="336064" cy="336064"/>
              </a:xfrm>
              <a:prstGeom prst="rect">
                <a:avLst/>
              </a:prstGeom>
            </p:spPr>
          </p:pic>
          <p:pic>
            <p:nvPicPr>
              <p:cNvPr id="108" name="Graphique 107" descr="Utilisateur avec un remplissage uni">
                <a:extLst>
                  <a:ext uri="{FF2B5EF4-FFF2-40B4-BE49-F238E27FC236}">
                    <a16:creationId xmlns:a16="http://schemas.microsoft.com/office/drawing/2014/main" id="{ADC7342A-DB21-F391-2CB2-19516148502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799182" y="3680752"/>
                <a:ext cx="336064" cy="336064"/>
              </a:xfrm>
              <a:prstGeom prst="rect">
                <a:avLst/>
              </a:prstGeom>
            </p:spPr>
          </p:pic>
          <p:pic>
            <p:nvPicPr>
              <p:cNvPr id="109" name="Graphique 108" descr="Utilisateur avec un remplissage uni">
                <a:extLst>
                  <a:ext uri="{FF2B5EF4-FFF2-40B4-BE49-F238E27FC236}">
                    <a16:creationId xmlns:a16="http://schemas.microsoft.com/office/drawing/2014/main" id="{3EED6684-1721-B360-14A4-967741ADFD8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420426" y="3848784"/>
                <a:ext cx="336064" cy="336064"/>
              </a:xfrm>
              <a:prstGeom prst="rect">
                <a:avLst/>
              </a:prstGeom>
            </p:spPr>
          </p:pic>
          <p:pic>
            <p:nvPicPr>
              <p:cNvPr id="110" name="Graphique 109" descr="Utilisateur avec un remplissage uni">
                <a:extLst>
                  <a:ext uri="{FF2B5EF4-FFF2-40B4-BE49-F238E27FC236}">
                    <a16:creationId xmlns:a16="http://schemas.microsoft.com/office/drawing/2014/main" id="{FC6A1BB1-15F7-D72D-B0FA-892F551312B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146490" y="3835028"/>
                <a:ext cx="336064" cy="336064"/>
              </a:xfrm>
              <a:prstGeom prst="rect">
                <a:avLst/>
              </a:prstGeom>
            </p:spPr>
          </p:pic>
          <p:pic>
            <p:nvPicPr>
              <p:cNvPr id="111" name="Graphique 110" descr="Utilisateur avec un remplissage uni">
                <a:extLst>
                  <a:ext uri="{FF2B5EF4-FFF2-40B4-BE49-F238E27FC236}">
                    <a16:creationId xmlns:a16="http://schemas.microsoft.com/office/drawing/2014/main" id="{6C2B714A-08F3-677A-081E-34AACF0DEF2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84854" y="3943076"/>
                <a:ext cx="336064" cy="336064"/>
              </a:xfrm>
              <a:prstGeom prst="rect">
                <a:avLst/>
              </a:prstGeom>
            </p:spPr>
          </p:pic>
          <p:pic>
            <p:nvPicPr>
              <p:cNvPr id="112" name="Graphique 111" descr="Utilisateur avec un remplissage uni">
                <a:extLst>
                  <a:ext uri="{FF2B5EF4-FFF2-40B4-BE49-F238E27FC236}">
                    <a16:creationId xmlns:a16="http://schemas.microsoft.com/office/drawing/2014/main" id="{2C9EB249-3827-CA18-F261-1308C1918E8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906758" y="3976465"/>
                <a:ext cx="336064" cy="336064"/>
              </a:xfrm>
              <a:prstGeom prst="rect">
                <a:avLst/>
              </a:prstGeom>
            </p:spPr>
          </p:pic>
          <p:pic>
            <p:nvPicPr>
              <p:cNvPr id="113" name="Graphique 112" descr="Utilisateur avec un remplissage uni">
                <a:extLst>
                  <a:ext uri="{FF2B5EF4-FFF2-40B4-BE49-F238E27FC236}">
                    <a16:creationId xmlns:a16="http://schemas.microsoft.com/office/drawing/2014/main" id="{57EBFD18-9ADC-BE4E-3E4F-CD0A5D1A235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041096" y="3705332"/>
                <a:ext cx="336064" cy="336064"/>
              </a:xfrm>
              <a:prstGeom prst="rect">
                <a:avLst/>
              </a:prstGeom>
            </p:spPr>
          </p:pic>
          <p:pic>
            <p:nvPicPr>
              <p:cNvPr id="114" name="Graphique 113" descr="Utilisateur avec un remplissage uni">
                <a:extLst>
                  <a:ext uri="{FF2B5EF4-FFF2-40B4-BE49-F238E27FC236}">
                    <a16:creationId xmlns:a16="http://schemas.microsoft.com/office/drawing/2014/main" id="{023E7E57-7587-4300-8479-0A3228B1FC2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020918" y="3429000"/>
                <a:ext cx="336064" cy="336064"/>
              </a:xfrm>
              <a:prstGeom prst="rect">
                <a:avLst/>
              </a:prstGeom>
            </p:spPr>
          </p:pic>
        </p:grpSp>
        <p:grpSp>
          <p:nvGrpSpPr>
            <p:cNvPr id="116" name="Groupe 115">
              <a:extLst>
                <a:ext uri="{FF2B5EF4-FFF2-40B4-BE49-F238E27FC236}">
                  <a16:creationId xmlns:a16="http://schemas.microsoft.com/office/drawing/2014/main" id="{3911CCAB-8BDC-5953-231F-E6E364F216DF}"/>
                </a:ext>
              </a:extLst>
            </p:cNvPr>
            <p:cNvGrpSpPr/>
            <p:nvPr/>
          </p:nvGrpSpPr>
          <p:grpSpPr>
            <a:xfrm>
              <a:off x="7148558" y="3213052"/>
              <a:ext cx="1004893" cy="847205"/>
              <a:chOff x="8982504" y="3274976"/>
              <a:chExt cx="1230670" cy="1037553"/>
            </a:xfrm>
          </p:grpSpPr>
          <p:pic>
            <p:nvPicPr>
              <p:cNvPr id="118" name="Graphique 117" descr="Utilisateur avec un remplissage uni">
                <a:extLst>
                  <a:ext uri="{FF2B5EF4-FFF2-40B4-BE49-F238E27FC236}">
                    <a16:creationId xmlns:a16="http://schemas.microsoft.com/office/drawing/2014/main" id="{FF010293-A24D-EBED-A545-79A76F36782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C1870F00-7F16-4D7B-5FC4-4C86335755C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20" name="Graphique 119" descr="Utilisateur avec un remplissage uni">
                <a:extLst>
                  <a:ext uri="{FF2B5EF4-FFF2-40B4-BE49-F238E27FC236}">
                    <a16:creationId xmlns:a16="http://schemas.microsoft.com/office/drawing/2014/main" id="{6DB92FE2-1F2D-4FBB-898C-E68ABE1C206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121" name="Graphique 120" descr="Utilisateur avec un remplissage uni">
                <a:extLst>
                  <a:ext uri="{FF2B5EF4-FFF2-40B4-BE49-F238E27FC236}">
                    <a16:creationId xmlns:a16="http://schemas.microsoft.com/office/drawing/2014/main" id="{A1326752-FECE-A20F-25CE-B0981715C5F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4883EBDA-A82B-2E8C-ADF8-45D3705F402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C48A4BBE-F823-B569-2D15-E1E2EC15201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363A946D-DF24-8781-E121-B91F6651D38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125" name="Graphique 124" descr="Utilisateur avec un remplissage uni">
                <a:extLst>
                  <a:ext uri="{FF2B5EF4-FFF2-40B4-BE49-F238E27FC236}">
                    <a16:creationId xmlns:a16="http://schemas.microsoft.com/office/drawing/2014/main" id="{72D3EC0A-0F1D-2DC8-19C4-29B778148BD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126" name="Graphique 125" descr="Utilisateur avec un remplissage uni">
                <a:extLst>
                  <a:ext uri="{FF2B5EF4-FFF2-40B4-BE49-F238E27FC236}">
                    <a16:creationId xmlns:a16="http://schemas.microsoft.com/office/drawing/2014/main" id="{0C74082E-D233-BE04-C1BF-3A95C25CEFA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42772" y="3976465"/>
                <a:ext cx="336064" cy="336064"/>
              </a:xfrm>
              <a:prstGeom prst="rect">
                <a:avLst/>
              </a:prstGeom>
            </p:spPr>
          </p:pic>
          <p:pic>
            <p:nvPicPr>
              <p:cNvPr id="127" name="Graphique 126" descr="Utilisateur avec un remplissage uni">
                <a:extLst>
                  <a:ext uri="{FF2B5EF4-FFF2-40B4-BE49-F238E27FC236}">
                    <a16:creationId xmlns:a16="http://schemas.microsoft.com/office/drawing/2014/main" id="{335973BB-9EC7-1E94-B9D2-B2A3F5C3C52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128" name="Graphique 127" descr="Utilisateur avec un remplissage uni">
                <a:extLst>
                  <a:ext uri="{FF2B5EF4-FFF2-40B4-BE49-F238E27FC236}">
                    <a16:creationId xmlns:a16="http://schemas.microsoft.com/office/drawing/2014/main" id="{1CCE031D-9000-E017-260D-F69145CC58D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131" name="Groupe 130">
              <a:extLst>
                <a:ext uri="{FF2B5EF4-FFF2-40B4-BE49-F238E27FC236}">
                  <a16:creationId xmlns:a16="http://schemas.microsoft.com/office/drawing/2014/main" id="{7C0A484D-8CBA-5036-AD77-51B7A7991885}"/>
                </a:ext>
              </a:extLst>
            </p:cNvPr>
            <p:cNvGrpSpPr/>
            <p:nvPr/>
          </p:nvGrpSpPr>
          <p:grpSpPr>
            <a:xfrm>
              <a:off x="1835182" y="4151043"/>
              <a:ext cx="1004893" cy="847205"/>
              <a:chOff x="8982504" y="3274976"/>
              <a:chExt cx="1230670" cy="1037553"/>
            </a:xfrm>
            <a:solidFill>
              <a:srgbClr val="ED7D31"/>
            </a:solidFill>
          </p:grpSpPr>
          <p:pic>
            <p:nvPicPr>
              <p:cNvPr id="132" name="Graphique 131" descr="Utilisateur avec un remplissage uni">
                <a:extLst>
                  <a:ext uri="{FF2B5EF4-FFF2-40B4-BE49-F238E27FC236}">
                    <a16:creationId xmlns:a16="http://schemas.microsoft.com/office/drawing/2014/main" id="{98CCE7A0-6696-484C-A114-B1C7C544098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133" name="Graphique 132" descr="Utilisateur avec un remplissage uni">
                <a:extLst>
                  <a:ext uri="{FF2B5EF4-FFF2-40B4-BE49-F238E27FC236}">
                    <a16:creationId xmlns:a16="http://schemas.microsoft.com/office/drawing/2014/main" id="{74821BEF-1219-31C2-1580-353844EEB33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134" name="Graphique 133" descr="Utilisateur avec un remplissage uni">
                <a:extLst>
                  <a:ext uri="{FF2B5EF4-FFF2-40B4-BE49-F238E27FC236}">
                    <a16:creationId xmlns:a16="http://schemas.microsoft.com/office/drawing/2014/main" id="{5B6E26F7-85E3-E687-C38F-35E1A2392A2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135" name="Graphique 134" descr="Utilisateur avec un remplissage uni">
                <a:extLst>
                  <a:ext uri="{FF2B5EF4-FFF2-40B4-BE49-F238E27FC236}">
                    <a16:creationId xmlns:a16="http://schemas.microsoft.com/office/drawing/2014/main" id="{C4E13C8F-62C0-4063-155E-EE5071F5B05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136" name="Graphique 135" descr="Utilisateur avec un remplissage uni">
                <a:extLst>
                  <a:ext uri="{FF2B5EF4-FFF2-40B4-BE49-F238E27FC236}">
                    <a16:creationId xmlns:a16="http://schemas.microsoft.com/office/drawing/2014/main" id="{E258D2BC-7D42-4095-58BA-3C86A032BB1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137" name="Graphique 136" descr="Utilisateur avec un remplissage uni">
                <a:extLst>
                  <a:ext uri="{FF2B5EF4-FFF2-40B4-BE49-F238E27FC236}">
                    <a16:creationId xmlns:a16="http://schemas.microsoft.com/office/drawing/2014/main" id="{CAB0DB29-2EEF-5425-A0A5-3FFFC078371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138" name="Graphique 137" descr="Utilisateur avec un remplissage uni">
                <a:extLst>
                  <a:ext uri="{FF2B5EF4-FFF2-40B4-BE49-F238E27FC236}">
                    <a16:creationId xmlns:a16="http://schemas.microsoft.com/office/drawing/2014/main" id="{00C14014-556F-0F35-924C-9979E38525A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139" name="Graphique 138" descr="Utilisateur avec un remplissage uni">
                <a:extLst>
                  <a:ext uri="{FF2B5EF4-FFF2-40B4-BE49-F238E27FC236}">
                    <a16:creationId xmlns:a16="http://schemas.microsoft.com/office/drawing/2014/main" id="{798CE672-919C-161B-9ED2-294296BD8D8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3730AAF4-3DDC-24F9-BD39-0DFC49CE98A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41BAAA3A-C970-96B3-D55F-8797F8D8C2C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142" name="Graphique 141" descr="Utilisateur avec un remplissage uni">
                <a:extLst>
                  <a:ext uri="{FF2B5EF4-FFF2-40B4-BE49-F238E27FC236}">
                    <a16:creationId xmlns:a16="http://schemas.microsoft.com/office/drawing/2014/main" id="{7EF8EE7A-7678-9224-3E7F-EE15EF8BFE6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144" name="Groupe 143">
              <a:extLst>
                <a:ext uri="{FF2B5EF4-FFF2-40B4-BE49-F238E27FC236}">
                  <a16:creationId xmlns:a16="http://schemas.microsoft.com/office/drawing/2014/main" id="{CED4CB6B-99BC-8D06-3A55-E4CA77385C08}"/>
                </a:ext>
              </a:extLst>
            </p:cNvPr>
            <p:cNvGrpSpPr/>
            <p:nvPr/>
          </p:nvGrpSpPr>
          <p:grpSpPr>
            <a:xfrm>
              <a:off x="4491870" y="3739384"/>
              <a:ext cx="1004893" cy="847205"/>
              <a:chOff x="7146490" y="3274976"/>
              <a:chExt cx="1230670" cy="1037553"/>
            </a:xfrm>
          </p:grpSpPr>
          <p:pic>
            <p:nvPicPr>
              <p:cNvPr id="146" name="Graphique 145" descr="Utilisateur avec un remplissage uni">
                <a:extLst>
                  <a:ext uri="{FF2B5EF4-FFF2-40B4-BE49-F238E27FC236}">
                    <a16:creationId xmlns:a16="http://schemas.microsoft.com/office/drawing/2014/main" id="{24E1D657-E735-E731-366E-95266FA89BC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465014" y="3274976"/>
                <a:ext cx="336064" cy="336064"/>
              </a:xfrm>
              <a:prstGeom prst="rect">
                <a:avLst/>
              </a:prstGeom>
            </p:spPr>
          </p:pic>
          <p:pic>
            <p:nvPicPr>
              <p:cNvPr id="147" name="Graphique 146" descr="Utilisateur avec un remplissage uni">
                <a:extLst>
                  <a:ext uri="{FF2B5EF4-FFF2-40B4-BE49-F238E27FC236}">
                    <a16:creationId xmlns:a16="http://schemas.microsoft.com/office/drawing/2014/main" id="{22945BCA-BC96-0CEA-A6EF-BD8A546841F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218126" y="3512720"/>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C4B188DD-5EA8-EA7B-87DC-4A7AFDA9828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509602" y="3561880"/>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6342B434-C361-996E-C6F1-01273A0A52E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756490" y="3418428"/>
                <a:ext cx="336064" cy="336064"/>
              </a:xfrm>
              <a:prstGeom prst="rect">
                <a:avLst/>
              </a:prstGeom>
            </p:spPr>
          </p:pic>
          <p:pic>
            <p:nvPicPr>
              <p:cNvPr id="150" name="Graphique 149" descr="Utilisateur avec un remplissage uni">
                <a:extLst>
                  <a:ext uri="{FF2B5EF4-FFF2-40B4-BE49-F238E27FC236}">
                    <a16:creationId xmlns:a16="http://schemas.microsoft.com/office/drawing/2014/main" id="{01BDA45B-91C9-7775-00C1-7C3A50E431D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799182" y="3680752"/>
                <a:ext cx="336064" cy="336064"/>
              </a:xfrm>
              <a:prstGeom prst="rect">
                <a:avLst/>
              </a:prstGeom>
            </p:spPr>
          </p:pic>
          <p:pic>
            <p:nvPicPr>
              <p:cNvPr id="151" name="Graphique 150" descr="Utilisateur avec un remplissage uni">
                <a:extLst>
                  <a:ext uri="{FF2B5EF4-FFF2-40B4-BE49-F238E27FC236}">
                    <a16:creationId xmlns:a16="http://schemas.microsoft.com/office/drawing/2014/main" id="{A2C9714D-4B19-6184-E810-1676C9365B2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420426" y="3848784"/>
                <a:ext cx="336064" cy="336064"/>
              </a:xfrm>
              <a:prstGeom prst="rect">
                <a:avLst/>
              </a:prstGeom>
            </p:spPr>
          </p:pic>
          <p:pic>
            <p:nvPicPr>
              <p:cNvPr id="152" name="Graphique 151" descr="Utilisateur avec un remplissage uni">
                <a:extLst>
                  <a:ext uri="{FF2B5EF4-FFF2-40B4-BE49-F238E27FC236}">
                    <a16:creationId xmlns:a16="http://schemas.microsoft.com/office/drawing/2014/main" id="{9748288A-8612-F461-8715-0F759D97260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146490" y="3835028"/>
                <a:ext cx="336064" cy="336064"/>
              </a:xfrm>
              <a:prstGeom prst="rect">
                <a:avLst/>
              </a:prstGeom>
            </p:spPr>
          </p:pic>
          <p:pic>
            <p:nvPicPr>
              <p:cNvPr id="153" name="Graphique 152" descr="Utilisateur avec un remplissage uni">
                <a:extLst>
                  <a:ext uri="{FF2B5EF4-FFF2-40B4-BE49-F238E27FC236}">
                    <a16:creationId xmlns:a16="http://schemas.microsoft.com/office/drawing/2014/main" id="{34B1F6EB-7575-7FF3-235A-7293220F2E3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84854" y="3943076"/>
                <a:ext cx="336064" cy="336064"/>
              </a:xfrm>
              <a:prstGeom prst="rect">
                <a:avLst/>
              </a:prstGeom>
            </p:spPr>
          </p:pic>
          <p:pic>
            <p:nvPicPr>
              <p:cNvPr id="154" name="Graphique 153" descr="Utilisateur avec un remplissage uni">
                <a:extLst>
                  <a:ext uri="{FF2B5EF4-FFF2-40B4-BE49-F238E27FC236}">
                    <a16:creationId xmlns:a16="http://schemas.microsoft.com/office/drawing/2014/main" id="{DB478EA6-04E4-EB18-E527-6213CDAC0ED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906758" y="3976465"/>
                <a:ext cx="336064" cy="336064"/>
              </a:xfrm>
              <a:prstGeom prst="rect">
                <a:avLst/>
              </a:prstGeom>
            </p:spPr>
          </p:pic>
          <p:pic>
            <p:nvPicPr>
              <p:cNvPr id="155" name="Graphique 154" descr="Utilisateur avec un remplissage uni">
                <a:extLst>
                  <a:ext uri="{FF2B5EF4-FFF2-40B4-BE49-F238E27FC236}">
                    <a16:creationId xmlns:a16="http://schemas.microsoft.com/office/drawing/2014/main" id="{47450101-B8DE-AFD2-9579-631158D0638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041096" y="3705332"/>
                <a:ext cx="336064" cy="336064"/>
              </a:xfrm>
              <a:prstGeom prst="rect">
                <a:avLst/>
              </a:prstGeom>
            </p:spPr>
          </p:pic>
          <p:pic>
            <p:nvPicPr>
              <p:cNvPr id="156" name="Graphique 155" descr="Utilisateur avec un remplissage uni">
                <a:extLst>
                  <a:ext uri="{FF2B5EF4-FFF2-40B4-BE49-F238E27FC236}">
                    <a16:creationId xmlns:a16="http://schemas.microsoft.com/office/drawing/2014/main" id="{80AEB3C5-3E8B-899E-7B8E-2E29BCD1219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020918" y="3429000"/>
                <a:ext cx="336064" cy="336064"/>
              </a:xfrm>
              <a:prstGeom prst="rect">
                <a:avLst/>
              </a:prstGeom>
            </p:spPr>
          </p:pic>
        </p:grpSp>
        <p:grpSp>
          <p:nvGrpSpPr>
            <p:cNvPr id="158" name="Groupe 157">
              <a:extLst>
                <a:ext uri="{FF2B5EF4-FFF2-40B4-BE49-F238E27FC236}">
                  <a16:creationId xmlns:a16="http://schemas.microsoft.com/office/drawing/2014/main" id="{34FDFA0F-9620-95FC-E91A-FCDCCED16FB2}"/>
                </a:ext>
              </a:extLst>
            </p:cNvPr>
            <p:cNvGrpSpPr/>
            <p:nvPr/>
          </p:nvGrpSpPr>
          <p:grpSpPr>
            <a:xfrm>
              <a:off x="506838" y="5163961"/>
              <a:ext cx="1004893" cy="847205"/>
              <a:chOff x="8982504" y="3274976"/>
              <a:chExt cx="1230670" cy="1037553"/>
            </a:xfrm>
            <a:solidFill>
              <a:srgbClr val="ED7D31"/>
            </a:solidFill>
          </p:grpSpPr>
          <p:pic>
            <p:nvPicPr>
              <p:cNvPr id="160" name="Graphique 159" descr="Utilisateur avec un remplissage uni">
                <a:extLst>
                  <a:ext uri="{FF2B5EF4-FFF2-40B4-BE49-F238E27FC236}">
                    <a16:creationId xmlns:a16="http://schemas.microsoft.com/office/drawing/2014/main" id="{A76E58E7-FB31-CFF1-D43A-60F9CD49407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161" name="Graphique 160" descr="Utilisateur avec un remplissage uni">
                <a:extLst>
                  <a:ext uri="{FF2B5EF4-FFF2-40B4-BE49-F238E27FC236}">
                    <a16:creationId xmlns:a16="http://schemas.microsoft.com/office/drawing/2014/main" id="{52E710AE-4324-21E8-2488-5383A50A780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162" name="Graphique 161" descr="Utilisateur avec un remplissage uni">
                <a:extLst>
                  <a:ext uri="{FF2B5EF4-FFF2-40B4-BE49-F238E27FC236}">
                    <a16:creationId xmlns:a16="http://schemas.microsoft.com/office/drawing/2014/main" id="{A13B3C57-FB9F-1F90-012A-6B2EB9F7EDC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45616" y="3561880"/>
                <a:ext cx="336064" cy="336064"/>
              </a:xfrm>
              <a:prstGeom prst="rect">
                <a:avLst/>
              </a:prstGeom>
            </p:spPr>
          </p:pic>
          <p:pic>
            <p:nvPicPr>
              <p:cNvPr id="163" name="Graphique 162" descr="Utilisateur avec un remplissage uni">
                <a:extLst>
                  <a:ext uri="{FF2B5EF4-FFF2-40B4-BE49-F238E27FC236}">
                    <a16:creationId xmlns:a16="http://schemas.microsoft.com/office/drawing/2014/main" id="{8A43889F-B0C9-AB76-1BE3-FC5FAE8EBCD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164" name="Graphique 163" descr="Utilisateur avec un remplissage uni">
                <a:extLst>
                  <a:ext uri="{FF2B5EF4-FFF2-40B4-BE49-F238E27FC236}">
                    <a16:creationId xmlns:a16="http://schemas.microsoft.com/office/drawing/2014/main" id="{A30E31F4-C6A2-321A-CEC5-AFF7DDF131F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165" name="Graphique 164" descr="Utilisateur avec un remplissage uni">
                <a:extLst>
                  <a:ext uri="{FF2B5EF4-FFF2-40B4-BE49-F238E27FC236}">
                    <a16:creationId xmlns:a16="http://schemas.microsoft.com/office/drawing/2014/main" id="{E78F0437-A416-54EC-13D9-664FA4862C2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166" name="Graphique 165" descr="Utilisateur avec un remplissage uni">
                <a:extLst>
                  <a:ext uri="{FF2B5EF4-FFF2-40B4-BE49-F238E27FC236}">
                    <a16:creationId xmlns:a16="http://schemas.microsoft.com/office/drawing/2014/main" id="{C9C01BDE-095A-8182-1C88-3B5A79518E8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82504" y="3835028"/>
                <a:ext cx="336064" cy="336064"/>
              </a:xfrm>
              <a:prstGeom prst="rect">
                <a:avLst/>
              </a:prstGeom>
            </p:spPr>
          </p:pic>
          <p:pic>
            <p:nvPicPr>
              <p:cNvPr id="167" name="Graphique 166" descr="Utilisateur avec un remplissage uni">
                <a:extLst>
                  <a:ext uri="{FF2B5EF4-FFF2-40B4-BE49-F238E27FC236}">
                    <a16:creationId xmlns:a16="http://schemas.microsoft.com/office/drawing/2014/main" id="{373D7BD6-D650-5A3A-1899-B10386365B1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20868" y="3943076"/>
                <a:ext cx="336064" cy="336064"/>
              </a:xfrm>
              <a:prstGeom prst="rect">
                <a:avLst/>
              </a:prstGeom>
            </p:spPr>
          </p:pic>
          <p:pic>
            <p:nvPicPr>
              <p:cNvPr id="169" name="Graphique 168" descr="Utilisateur avec un remplissage uni">
                <a:extLst>
                  <a:ext uri="{FF2B5EF4-FFF2-40B4-BE49-F238E27FC236}">
                    <a16:creationId xmlns:a16="http://schemas.microsoft.com/office/drawing/2014/main" id="{F0B07404-2FF2-D08A-6021-C0D13363C27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170" name="Graphique 169" descr="Utilisateur avec un remplissage uni">
                <a:extLst>
                  <a:ext uri="{FF2B5EF4-FFF2-40B4-BE49-F238E27FC236}">
                    <a16:creationId xmlns:a16="http://schemas.microsoft.com/office/drawing/2014/main" id="{858C11DA-9679-08B5-98A6-15BA3AAA314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171" name="Graphique 170" descr="Utilisateur avec un remplissage uni">
                <a:extLst>
                  <a:ext uri="{FF2B5EF4-FFF2-40B4-BE49-F238E27FC236}">
                    <a16:creationId xmlns:a16="http://schemas.microsoft.com/office/drawing/2014/main" id="{1EAFDB52-4A3F-93F1-1426-6DD554C0726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56932" y="3429000"/>
                <a:ext cx="336064" cy="336064"/>
              </a:xfrm>
              <a:prstGeom prst="rect">
                <a:avLst/>
              </a:prstGeom>
            </p:spPr>
          </p:pic>
        </p:grpSp>
        <p:grpSp>
          <p:nvGrpSpPr>
            <p:cNvPr id="178" name="Groupe 177">
              <a:extLst>
                <a:ext uri="{FF2B5EF4-FFF2-40B4-BE49-F238E27FC236}">
                  <a16:creationId xmlns:a16="http://schemas.microsoft.com/office/drawing/2014/main" id="{5D1A6F87-70A1-36A3-96CD-3AC1298FD99C}"/>
                </a:ext>
              </a:extLst>
            </p:cNvPr>
            <p:cNvGrpSpPr/>
            <p:nvPr/>
          </p:nvGrpSpPr>
          <p:grpSpPr>
            <a:xfrm>
              <a:off x="3181288" y="3718203"/>
              <a:ext cx="1004893" cy="847205"/>
              <a:chOff x="8982504" y="3274976"/>
              <a:chExt cx="1230670" cy="1037553"/>
            </a:xfrm>
            <a:solidFill>
              <a:srgbClr val="ED7D31"/>
            </a:solidFill>
          </p:grpSpPr>
          <p:pic>
            <p:nvPicPr>
              <p:cNvPr id="179" name="Graphique 178" descr="Utilisateur avec un remplissage uni">
                <a:extLst>
                  <a:ext uri="{FF2B5EF4-FFF2-40B4-BE49-F238E27FC236}">
                    <a16:creationId xmlns:a16="http://schemas.microsoft.com/office/drawing/2014/main" id="{98A822FB-4599-33B7-769E-7A8EC41A34E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80" name="Graphique 179" descr="Utilisateur avec un remplissage uni">
                <a:extLst>
                  <a:ext uri="{FF2B5EF4-FFF2-40B4-BE49-F238E27FC236}">
                    <a16:creationId xmlns:a16="http://schemas.microsoft.com/office/drawing/2014/main" id="{4892E5B0-C5E6-516F-656A-2A37640A2E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81" name="Graphique 180" descr="Utilisateur avec un remplissage uni">
                <a:extLst>
                  <a:ext uri="{FF2B5EF4-FFF2-40B4-BE49-F238E27FC236}">
                    <a16:creationId xmlns:a16="http://schemas.microsoft.com/office/drawing/2014/main" id="{20A148E1-CE92-812A-9F15-27905D6EF94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182" name="Graphique 181" descr="Utilisateur avec un remplissage uni">
                <a:extLst>
                  <a:ext uri="{FF2B5EF4-FFF2-40B4-BE49-F238E27FC236}">
                    <a16:creationId xmlns:a16="http://schemas.microsoft.com/office/drawing/2014/main" id="{6A041F5D-BA4E-513F-B142-0BB4B351443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183" name="Graphique 182" descr="Utilisateur avec un remplissage uni">
                <a:extLst>
                  <a:ext uri="{FF2B5EF4-FFF2-40B4-BE49-F238E27FC236}">
                    <a16:creationId xmlns:a16="http://schemas.microsoft.com/office/drawing/2014/main" id="{A044F93E-296A-AE43-3D00-28F9FB80F7F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184" name="Graphique 183" descr="Utilisateur avec un remplissage uni">
                <a:extLst>
                  <a:ext uri="{FF2B5EF4-FFF2-40B4-BE49-F238E27FC236}">
                    <a16:creationId xmlns:a16="http://schemas.microsoft.com/office/drawing/2014/main" id="{673EADC7-069B-BDF1-7C1F-77FCAFD74DA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185" name="Graphique 184" descr="Utilisateur avec un remplissage uni">
                <a:extLst>
                  <a:ext uri="{FF2B5EF4-FFF2-40B4-BE49-F238E27FC236}">
                    <a16:creationId xmlns:a16="http://schemas.microsoft.com/office/drawing/2014/main" id="{4EB1E048-7F66-134F-68B2-367C394F5AF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186" name="Graphique 185" descr="Utilisateur avec un remplissage uni">
                <a:extLst>
                  <a:ext uri="{FF2B5EF4-FFF2-40B4-BE49-F238E27FC236}">
                    <a16:creationId xmlns:a16="http://schemas.microsoft.com/office/drawing/2014/main" id="{BE74CF20-70C3-CAB0-AF1C-EE02DB667E0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187" name="Graphique 186" descr="Utilisateur avec un remplissage uni">
                <a:extLst>
                  <a:ext uri="{FF2B5EF4-FFF2-40B4-BE49-F238E27FC236}">
                    <a16:creationId xmlns:a16="http://schemas.microsoft.com/office/drawing/2014/main" id="{EB9605CB-8D63-A541-7372-4B7BD4FCC4D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188" name="Graphique 187" descr="Utilisateur avec un remplissage uni">
                <a:extLst>
                  <a:ext uri="{FF2B5EF4-FFF2-40B4-BE49-F238E27FC236}">
                    <a16:creationId xmlns:a16="http://schemas.microsoft.com/office/drawing/2014/main" id="{C01C77C0-C518-E900-28CC-65E34C5613E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189" name="Graphique 188" descr="Utilisateur avec un remplissage uni">
                <a:extLst>
                  <a:ext uri="{FF2B5EF4-FFF2-40B4-BE49-F238E27FC236}">
                    <a16:creationId xmlns:a16="http://schemas.microsoft.com/office/drawing/2014/main" id="{F7533628-63B0-B55E-6509-CDD017C3775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sp>
          <p:nvSpPr>
            <p:cNvPr id="191" name="Flèche : double flèche horizontale 190">
              <a:extLst>
                <a:ext uri="{FF2B5EF4-FFF2-40B4-BE49-F238E27FC236}">
                  <a16:creationId xmlns:a16="http://schemas.microsoft.com/office/drawing/2014/main" id="{9B7412E0-142F-E871-4465-11B4E4AD09B1}"/>
                </a:ext>
              </a:extLst>
            </p:cNvPr>
            <p:cNvSpPr/>
            <p:nvPr/>
          </p:nvSpPr>
          <p:spPr>
            <a:xfrm>
              <a:off x="450974" y="1787224"/>
              <a:ext cx="11261042" cy="387138"/>
            </a:xfrm>
            <a:prstGeom prst="leftRightArrow">
              <a:avLst/>
            </a:prstGeom>
            <a:gradFill>
              <a:gsLst>
                <a:gs pos="0">
                  <a:srgbClr val="ED7D31"/>
                </a:gs>
                <a:gs pos="33000">
                  <a:schemeClr val="bg1">
                    <a:lumMod val="75000"/>
                  </a:schemeClr>
                </a:gs>
                <a:gs pos="75000">
                  <a:srgbClr val="3494BA"/>
                </a:gs>
                <a:gs pos="100000">
                  <a:schemeClr val="tx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 name="Groupe 3">
            <a:extLst>
              <a:ext uri="{FF2B5EF4-FFF2-40B4-BE49-F238E27FC236}">
                <a16:creationId xmlns:a16="http://schemas.microsoft.com/office/drawing/2014/main" id="{4CDFD410-3B97-6C52-33B1-E8D09CD6AA56}"/>
              </a:ext>
            </a:extLst>
          </p:cNvPr>
          <p:cNvGrpSpPr/>
          <p:nvPr/>
        </p:nvGrpSpPr>
        <p:grpSpPr>
          <a:xfrm>
            <a:off x="8993020" y="1887902"/>
            <a:ext cx="2859665" cy="1942528"/>
            <a:chOff x="680778" y="1522460"/>
            <a:chExt cx="7895865" cy="5363543"/>
          </a:xfrm>
        </p:grpSpPr>
        <p:pic>
          <p:nvPicPr>
            <p:cNvPr id="192" name="Graphique 191" descr="Bâtiment avec un remplissage uni">
              <a:extLst>
                <a:ext uri="{FF2B5EF4-FFF2-40B4-BE49-F238E27FC236}">
                  <a16:creationId xmlns:a16="http://schemas.microsoft.com/office/drawing/2014/main" id="{BCCBD4B5-B7D4-1DB9-B4CF-86D10D4DBAE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111941" y="1540432"/>
              <a:ext cx="1008000" cy="1008000"/>
            </a:xfrm>
            <a:prstGeom prst="rect">
              <a:avLst/>
            </a:prstGeom>
          </p:spPr>
        </p:pic>
        <p:pic>
          <p:nvPicPr>
            <p:cNvPr id="193" name="Graphique 192" descr="Bâtiment avec un remplissage uni">
              <a:extLst>
                <a:ext uri="{FF2B5EF4-FFF2-40B4-BE49-F238E27FC236}">
                  <a16:creationId xmlns:a16="http://schemas.microsoft.com/office/drawing/2014/main" id="{22CBF589-4ADC-5281-E29F-E0E57A4DA2CC}"/>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069321" y="1522460"/>
              <a:ext cx="1008000" cy="1008000"/>
            </a:xfrm>
            <a:prstGeom prst="rect">
              <a:avLst/>
            </a:prstGeom>
          </p:spPr>
        </p:pic>
        <p:grpSp>
          <p:nvGrpSpPr>
            <p:cNvPr id="194" name="Groupe 193">
              <a:extLst>
                <a:ext uri="{FF2B5EF4-FFF2-40B4-BE49-F238E27FC236}">
                  <a16:creationId xmlns:a16="http://schemas.microsoft.com/office/drawing/2014/main" id="{F762290C-DFD6-6A40-A29A-D24D1E6540B1}"/>
                </a:ext>
              </a:extLst>
            </p:cNvPr>
            <p:cNvGrpSpPr/>
            <p:nvPr/>
          </p:nvGrpSpPr>
          <p:grpSpPr>
            <a:xfrm>
              <a:off x="1952531" y="5896694"/>
              <a:ext cx="1004893" cy="847205"/>
              <a:chOff x="8982504" y="3274976"/>
              <a:chExt cx="1230670" cy="1037553"/>
            </a:xfrm>
            <a:solidFill>
              <a:srgbClr val="ED7D31"/>
            </a:solidFill>
          </p:grpSpPr>
          <p:pic>
            <p:nvPicPr>
              <p:cNvPr id="195" name="Graphique 194" descr="Utilisateur avec un remplissage uni">
                <a:extLst>
                  <a:ext uri="{FF2B5EF4-FFF2-40B4-BE49-F238E27FC236}">
                    <a16:creationId xmlns:a16="http://schemas.microsoft.com/office/drawing/2014/main" id="{82B661CE-2C4A-1CBA-7D2F-C3D3B5810FC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196" name="Graphique 195" descr="Utilisateur avec un remplissage uni">
                <a:extLst>
                  <a:ext uri="{FF2B5EF4-FFF2-40B4-BE49-F238E27FC236}">
                    <a16:creationId xmlns:a16="http://schemas.microsoft.com/office/drawing/2014/main" id="{3D67D054-5710-98D7-5EA3-6B58F993879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197" name="Graphique 196" descr="Utilisateur avec un remplissage uni">
                <a:extLst>
                  <a:ext uri="{FF2B5EF4-FFF2-40B4-BE49-F238E27FC236}">
                    <a16:creationId xmlns:a16="http://schemas.microsoft.com/office/drawing/2014/main" id="{6118A003-437C-2E70-8969-64913A911D4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45616" y="3561880"/>
                <a:ext cx="336064" cy="336064"/>
              </a:xfrm>
              <a:prstGeom prst="rect">
                <a:avLst/>
              </a:prstGeom>
            </p:spPr>
          </p:pic>
          <p:pic>
            <p:nvPicPr>
              <p:cNvPr id="198" name="Graphique 197" descr="Utilisateur avec un remplissage uni">
                <a:extLst>
                  <a:ext uri="{FF2B5EF4-FFF2-40B4-BE49-F238E27FC236}">
                    <a16:creationId xmlns:a16="http://schemas.microsoft.com/office/drawing/2014/main" id="{E767AA3B-1DDD-9023-3D72-2A2FEA9EFB1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199" name="Graphique 198" descr="Utilisateur avec un remplissage uni">
                <a:extLst>
                  <a:ext uri="{FF2B5EF4-FFF2-40B4-BE49-F238E27FC236}">
                    <a16:creationId xmlns:a16="http://schemas.microsoft.com/office/drawing/2014/main" id="{14D56C4F-9685-06EB-636A-1B751399235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200" name="Graphique 199" descr="Utilisateur avec un remplissage uni">
                <a:extLst>
                  <a:ext uri="{FF2B5EF4-FFF2-40B4-BE49-F238E27FC236}">
                    <a16:creationId xmlns:a16="http://schemas.microsoft.com/office/drawing/2014/main" id="{F91762E1-BABC-0A40-F946-61300513CDD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201" name="Graphique 200" descr="Utilisateur avec un remplissage uni">
                <a:extLst>
                  <a:ext uri="{FF2B5EF4-FFF2-40B4-BE49-F238E27FC236}">
                    <a16:creationId xmlns:a16="http://schemas.microsoft.com/office/drawing/2014/main" id="{5577DF7A-50DE-C14F-6072-575183D815E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82504" y="3835028"/>
                <a:ext cx="336064" cy="336064"/>
              </a:xfrm>
              <a:prstGeom prst="rect">
                <a:avLst/>
              </a:prstGeom>
            </p:spPr>
          </p:pic>
          <p:pic>
            <p:nvPicPr>
              <p:cNvPr id="202" name="Graphique 201" descr="Utilisateur avec un remplissage uni">
                <a:extLst>
                  <a:ext uri="{FF2B5EF4-FFF2-40B4-BE49-F238E27FC236}">
                    <a16:creationId xmlns:a16="http://schemas.microsoft.com/office/drawing/2014/main" id="{7F1E85C7-0875-8C20-E26D-88BF40772D2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20868" y="3943076"/>
                <a:ext cx="336064" cy="336064"/>
              </a:xfrm>
              <a:prstGeom prst="rect">
                <a:avLst/>
              </a:prstGeom>
            </p:spPr>
          </p:pic>
          <p:pic>
            <p:nvPicPr>
              <p:cNvPr id="203" name="Graphique 202" descr="Utilisateur avec un remplissage uni">
                <a:extLst>
                  <a:ext uri="{FF2B5EF4-FFF2-40B4-BE49-F238E27FC236}">
                    <a16:creationId xmlns:a16="http://schemas.microsoft.com/office/drawing/2014/main" id="{7AC6E8FA-DB94-CA9D-CAB5-64E28BD47E8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204" name="Graphique 203" descr="Utilisateur avec un remplissage uni">
                <a:extLst>
                  <a:ext uri="{FF2B5EF4-FFF2-40B4-BE49-F238E27FC236}">
                    <a16:creationId xmlns:a16="http://schemas.microsoft.com/office/drawing/2014/main" id="{90287C89-864A-9843-A5F6-08F787E9095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205" name="Graphique 204" descr="Utilisateur avec un remplissage uni">
                <a:extLst>
                  <a:ext uri="{FF2B5EF4-FFF2-40B4-BE49-F238E27FC236}">
                    <a16:creationId xmlns:a16="http://schemas.microsoft.com/office/drawing/2014/main" id="{5587F331-F0D8-3B7E-14A2-18134C115BE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56932" y="3429000"/>
                <a:ext cx="336064" cy="336064"/>
              </a:xfrm>
              <a:prstGeom prst="rect">
                <a:avLst/>
              </a:prstGeom>
            </p:spPr>
          </p:pic>
        </p:grpSp>
        <p:grpSp>
          <p:nvGrpSpPr>
            <p:cNvPr id="206" name="Groupe 205">
              <a:extLst>
                <a:ext uri="{FF2B5EF4-FFF2-40B4-BE49-F238E27FC236}">
                  <a16:creationId xmlns:a16="http://schemas.microsoft.com/office/drawing/2014/main" id="{46A5C89F-C318-77C4-38DB-3CB064598D24}"/>
                </a:ext>
              </a:extLst>
            </p:cNvPr>
            <p:cNvGrpSpPr/>
            <p:nvPr/>
          </p:nvGrpSpPr>
          <p:grpSpPr>
            <a:xfrm>
              <a:off x="6995151" y="5896694"/>
              <a:ext cx="1004893" cy="847205"/>
              <a:chOff x="8982504" y="3274976"/>
              <a:chExt cx="1230670" cy="1037553"/>
            </a:xfrm>
            <a:solidFill>
              <a:srgbClr val="ED7D31"/>
            </a:solidFill>
          </p:grpSpPr>
          <p:pic>
            <p:nvPicPr>
              <p:cNvPr id="207" name="Graphique 206" descr="Utilisateur avec un remplissage uni">
                <a:extLst>
                  <a:ext uri="{FF2B5EF4-FFF2-40B4-BE49-F238E27FC236}">
                    <a16:creationId xmlns:a16="http://schemas.microsoft.com/office/drawing/2014/main" id="{693355D1-AE4A-F515-6525-003C6170F54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208" name="Graphique 207" descr="Utilisateur avec un remplissage uni">
                <a:extLst>
                  <a:ext uri="{FF2B5EF4-FFF2-40B4-BE49-F238E27FC236}">
                    <a16:creationId xmlns:a16="http://schemas.microsoft.com/office/drawing/2014/main" id="{07779FB6-967E-19EE-6F8F-BAFE1B5B130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209" name="Graphique 208" descr="Utilisateur avec un remplissage uni">
                <a:extLst>
                  <a:ext uri="{FF2B5EF4-FFF2-40B4-BE49-F238E27FC236}">
                    <a16:creationId xmlns:a16="http://schemas.microsoft.com/office/drawing/2014/main" id="{36CE2CBE-B00C-4D45-480C-3F8FAEA6BED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45616" y="3561880"/>
                <a:ext cx="336064" cy="336064"/>
              </a:xfrm>
              <a:prstGeom prst="rect">
                <a:avLst/>
              </a:prstGeom>
            </p:spPr>
          </p:pic>
          <p:pic>
            <p:nvPicPr>
              <p:cNvPr id="210" name="Graphique 209" descr="Utilisateur avec un remplissage uni">
                <a:extLst>
                  <a:ext uri="{FF2B5EF4-FFF2-40B4-BE49-F238E27FC236}">
                    <a16:creationId xmlns:a16="http://schemas.microsoft.com/office/drawing/2014/main" id="{7C13B4D2-CC21-2401-E612-BDD82A4A691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211" name="Graphique 210" descr="Utilisateur avec un remplissage uni">
                <a:extLst>
                  <a:ext uri="{FF2B5EF4-FFF2-40B4-BE49-F238E27FC236}">
                    <a16:creationId xmlns:a16="http://schemas.microsoft.com/office/drawing/2014/main" id="{CB42BC68-D403-142D-205A-9E352EB7208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212" name="Graphique 211" descr="Utilisateur avec un remplissage uni">
                <a:extLst>
                  <a:ext uri="{FF2B5EF4-FFF2-40B4-BE49-F238E27FC236}">
                    <a16:creationId xmlns:a16="http://schemas.microsoft.com/office/drawing/2014/main" id="{4FFE0AEF-7FA1-1D33-371F-433921C8EE8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213" name="Graphique 212" descr="Utilisateur avec un remplissage uni">
                <a:extLst>
                  <a:ext uri="{FF2B5EF4-FFF2-40B4-BE49-F238E27FC236}">
                    <a16:creationId xmlns:a16="http://schemas.microsoft.com/office/drawing/2014/main" id="{2BDE342E-3995-E9F3-CCF6-786B70F1D6A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82504" y="3835028"/>
                <a:ext cx="336064" cy="336064"/>
              </a:xfrm>
              <a:prstGeom prst="rect">
                <a:avLst/>
              </a:prstGeom>
            </p:spPr>
          </p:pic>
          <p:pic>
            <p:nvPicPr>
              <p:cNvPr id="214" name="Graphique 213" descr="Utilisateur avec un remplissage uni">
                <a:extLst>
                  <a:ext uri="{FF2B5EF4-FFF2-40B4-BE49-F238E27FC236}">
                    <a16:creationId xmlns:a16="http://schemas.microsoft.com/office/drawing/2014/main" id="{25B58438-645B-13EB-CBE5-8C84564CAF4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20868" y="3943076"/>
                <a:ext cx="336064" cy="336064"/>
              </a:xfrm>
              <a:prstGeom prst="rect">
                <a:avLst/>
              </a:prstGeom>
            </p:spPr>
          </p:pic>
          <p:pic>
            <p:nvPicPr>
              <p:cNvPr id="215" name="Graphique 214" descr="Utilisateur avec un remplissage uni">
                <a:extLst>
                  <a:ext uri="{FF2B5EF4-FFF2-40B4-BE49-F238E27FC236}">
                    <a16:creationId xmlns:a16="http://schemas.microsoft.com/office/drawing/2014/main" id="{93F0C646-1377-AE1C-E06A-71E56688B0B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216" name="Graphique 215" descr="Utilisateur avec un remplissage uni">
                <a:extLst>
                  <a:ext uri="{FF2B5EF4-FFF2-40B4-BE49-F238E27FC236}">
                    <a16:creationId xmlns:a16="http://schemas.microsoft.com/office/drawing/2014/main" id="{3A6BBE73-80B6-71CE-D557-57194DEBA55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217" name="Graphique 216" descr="Utilisateur avec un remplissage uni">
                <a:extLst>
                  <a:ext uri="{FF2B5EF4-FFF2-40B4-BE49-F238E27FC236}">
                    <a16:creationId xmlns:a16="http://schemas.microsoft.com/office/drawing/2014/main" id="{63B9A379-DEAE-4094-FF3C-45BDFE86BFC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56932" y="3429000"/>
                <a:ext cx="336064" cy="336064"/>
              </a:xfrm>
              <a:prstGeom prst="rect">
                <a:avLst/>
              </a:prstGeom>
            </p:spPr>
          </p:pic>
        </p:grpSp>
        <p:sp>
          <p:nvSpPr>
            <p:cNvPr id="218" name="Flèche : droite 217">
              <a:extLst>
                <a:ext uri="{FF2B5EF4-FFF2-40B4-BE49-F238E27FC236}">
                  <a16:creationId xmlns:a16="http://schemas.microsoft.com/office/drawing/2014/main" id="{0F2CFC46-1998-CB7F-037B-41F179178433}"/>
                </a:ext>
              </a:extLst>
            </p:cNvPr>
            <p:cNvSpPr/>
            <p:nvPr/>
          </p:nvSpPr>
          <p:spPr>
            <a:xfrm>
              <a:off x="2776367" y="5850000"/>
              <a:ext cx="4350094" cy="642875"/>
            </a:xfrm>
            <a:prstGeom prst="right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 dirty="0">
                <a:solidFill>
                  <a:schemeClr val="tx1"/>
                </a:solidFill>
              </a:endParaRPr>
            </a:p>
          </p:txBody>
        </p:sp>
        <p:pic>
          <p:nvPicPr>
            <p:cNvPr id="219" name="Graphique 218" descr="Employée de bureau avec un remplissage uni">
              <a:extLst>
                <a:ext uri="{FF2B5EF4-FFF2-40B4-BE49-F238E27FC236}">
                  <a16:creationId xmlns:a16="http://schemas.microsoft.com/office/drawing/2014/main" id="{9D0D0502-DB4C-A5E0-2ECF-C12F6DC389E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157263" y="3598749"/>
              <a:ext cx="927445" cy="927445"/>
            </a:xfrm>
            <a:prstGeom prst="rect">
              <a:avLst/>
            </a:prstGeom>
          </p:spPr>
        </p:pic>
        <p:sp>
          <p:nvSpPr>
            <p:cNvPr id="220" name="Flèche : bas 219">
              <a:extLst>
                <a:ext uri="{FF2B5EF4-FFF2-40B4-BE49-F238E27FC236}">
                  <a16:creationId xmlns:a16="http://schemas.microsoft.com/office/drawing/2014/main" id="{72A57F6D-3418-284A-C576-C208ADD96C83}"/>
                </a:ext>
              </a:extLst>
            </p:cNvPr>
            <p:cNvSpPr/>
            <p:nvPr/>
          </p:nvSpPr>
          <p:spPr>
            <a:xfrm>
              <a:off x="2093049" y="4434025"/>
              <a:ext cx="1892394" cy="1605490"/>
            </a:xfrm>
            <a:prstGeom prst="downArrow">
              <a:avLst>
                <a:gd name="adj1" fmla="val 50000"/>
                <a:gd name="adj2" fmla="val 50523"/>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 dirty="0">
                <a:solidFill>
                  <a:schemeClr val="tx1"/>
                </a:solidFill>
              </a:endParaRPr>
            </a:p>
          </p:txBody>
        </p:sp>
        <p:sp>
          <p:nvSpPr>
            <p:cNvPr id="221" name="Flèche : bas 220">
              <a:extLst>
                <a:ext uri="{FF2B5EF4-FFF2-40B4-BE49-F238E27FC236}">
                  <a16:creationId xmlns:a16="http://schemas.microsoft.com/office/drawing/2014/main" id="{259F9833-16BD-BAFB-BCAE-E953D8DACAD4}"/>
                </a:ext>
              </a:extLst>
            </p:cNvPr>
            <p:cNvSpPr/>
            <p:nvPr/>
          </p:nvSpPr>
          <p:spPr>
            <a:xfrm>
              <a:off x="1702964" y="2384507"/>
              <a:ext cx="2555693" cy="1366714"/>
            </a:xfrm>
            <a:prstGeom prst="down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 dirty="0">
                <a:solidFill>
                  <a:schemeClr val="tx1"/>
                </a:solidFill>
              </a:endParaRPr>
            </a:p>
          </p:txBody>
        </p:sp>
        <p:sp>
          <p:nvSpPr>
            <p:cNvPr id="222" name="Flèche : bas 221">
              <a:extLst>
                <a:ext uri="{FF2B5EF4-FFF2-40B4-BE49-F238E27FC236}">
                  <a16:creationId xmlns:a16="http://schemas.microsoft.com/office/drawing/2014/main" id="{1B01E50A-DD92-1552-8561-D90649E2F934}"/>
                </a:ext>
              </a:extLst>
            </p:cNvPr>
            <p:cNvSpPr/>
            <p:nvPr/>
          </p:nvSpPr>
          <p:spPr>
            <a:xfrm>
              <a:off x="6684249" y="2373686"/>
              <a:ext cx="1892394" cy="3585547"/>
            </a:xfrm>
            <a:prstGeom prst="down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 dirty="0">
                <a:solidFill>
                  <a:schemeClr val="tx1"/>
                </a:solidFill>
              </a:endParaRPr>
            </a:p>
          </p:txBody>
        </p:sp>
        <p:sp>
          <p:nvSpPr>
            <p:cNvPr id="228" name="Flèche : gauche 227">
              <a:extLst>
                <a:ext uri="{FF2B5EF4-FFF2-40B4-BE49-F238E27FC236}">
                  <a16:creationId xmlns:a16="http://schemas.microsoft.com/office/drawing/2014/main" id="{80B06328-26D8-67FE-C0D4-500B5D615221}"/>
                </a:ext>
              </a:extLst>
            </p:cNvPr>
            <p:cNvSpPr/>
            <p:nvPr/>
          </p:nvSpPr>
          <p:spPr>
            <a:xfrm>
              <a:off x="2725152" y="6243128"/>
              <a:ext cx="4350094" cy="642875"/>
            </a:xfrm>
            <a:prstGeom prst="left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 dirty="0">
                <a:solidFill>
                  <a:schemeClr val="tx1"/>
                </a:solidFill>
              </a:endParaRPr>
            </a:p>
          </p:txBody>
        </p:sp>
        <p:sp>
          <p:nvSpPr>
            <p:cNvPr id="229" name="Flèche : haut 228">
              <a:extLst>
                <a:ext uri="{FF2B5EF4-FFF2-40B4-BE49-F238E27FC236}">
                  <a16:creationId xmlns:a16="http://schemas.microsoft.com/office/drawing/2014/main" id="{E2E734C8-43D2-AA39-7E75-1EE3C983E8B9}"/>
                </a:ext>
              </a:extLst>
            </p:cNvPr>
            <p:cNvSpPr/>
            <p:nvPr/>
          </p:nvSpPr>
          <p:spPr>
            <a:xfrm>
              <a:off x="1139298" y="4416971"/>
              <a:ext cx="1508291" cy="1605490"/>
            </a:xfrm>
            <a:prstGeom prst="up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 dirty="0">
                <a:solidFill>
                  <a:schemeClr val="tx1"/>
                </a:solidFill>
              </a:endParaRPr>
            </a:p>
          </p:txBody>
        </p:sp>
        <p:sp>
          <p:nvSpPr>
            <p:cNvPr id="230" name="Espace réservé du contenu 2">
              <a:extLst>
                <a:ext uri="{FF2B5EF4-FFF2-40B4-BE49-F238E27FC236}">
                  <a16:creationId xmlns:a16="http://schemas.microsoft.com/office/drawing/2014/main" id="{5D8FB3F5-2DAC-1F84-A4EF-ED494E2E7CB8}"/>
                </a:ext>
              </a:extLst>
            </p:cNvPr>
            <p:cNvSpPr txBox="1">
              <a:spLocks/>
            </p:cNvSpPr>
            <p:nvPr/>
          </p:nvSpPr>
          <p:spPr>
            <a:xfrm>
              <a:off x="3754670" y="2552035"/>
              <a:ext cx="461546" cy="375723"/>
            </a:xfrm>
            <a:prstGeom prst="rect">
              <a:avLst/>
            </a:prstGeom>
            <a:ln>
              <a:solidFill>
                <a:srgbClr val="FF0000"/>
              </a:solidFill>
            </a:ln>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700" b="1" dirty="0"/>
                <a:t>1</a:t>
              </a:r>
            </a:p>
          </p:txBody>
        </p:sp>
        <p:sp>
          <p:nvSpPr>
            <p:cNvPr id="231" name="Espace réservé du contenu 2">
              <a:extLst>
                <a:ext uri="{FF2B5EF4-FFF2-40B4-BE49-F238E27FC236}">
                  <a16:creationId xmlns:a16="http://schemas.microsoft.com/office/drawing/2014/main" id="{4C4F1714-61C0-CB29-9AE2-9FA75136C225}"/>
                </a:ext>
              </a:extLst>
            </p:cNvPr>
            <p:cNvSpPr txBox="1">
              <a:spLocks/>
            </p:cNvSpPr>
            <p:nvPr/>
          </p:nvSpPr>
          <p:spPr>
            <a:xfrm>
              <a:off x="3754670" y="4612748"/>
              <a:ext cx="461546" cy="375723"/>
            </a:xfrm>
            <a:prstGeom prst="rect">
              <a:avLst/>
            </a:prstGeom>
            <a:ln>
              <a:solidFill>
                <a:srgbClr val="FF0000"/>
              </a:solidFill>
            </a:ln>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700" b="1" dirty="0"/>
                <a:t>2</a:t>
              </a:r>
            </a:p>
          </p:txBody>
        </p:sp>
        <p:sp>
          <p:nvSpPr>
            <p:cNvPr id="232" name="Espace réservé du contenu 2">
              <a:extLst>
                <a:ext uri="{FF2B5EF4-FFF2-40B4-BE49-F238E27FC236}">
                  <a16:creationId xmlns:a16="http://schemas.microsoft.com/office/drawing/2014/main" id="{EC05BE92-8F39-486B-F209-7E19858460F6}"/>
                </a:ext>
              </a:extLst>
            </p:cNvPr>
            <p:cNvSpPr txBox="1">
              <a:spLocks/>
            </p:cNvSpPr>
            <p:nvPr/>
          </p:nvSpPr>
          <p:spPr>
            <a:xfrm>
              <a:off x="4608045" y="5537596"/>
              <a:ext cx="461546" cy="375723"/>
            </a:xfrm>
            <a:prstGeom prst="rect">
              <a:avLst/>
            </a:prstGeom>
            <a:ln>
              <a:solidFill>
                <a:srgbClr val="FF0000"/>
              </a:solidFill>
            </a:ln>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700" b="1" dirty="0"/>
                <a:t>3</a:t>
              </a:r>
            </a:p>
          </p:txBody>
        </p:sp>
        <p:sp>
          <p:nvSpPr>
            <p:cNvPr id="233" name="Espace réservé du contenu 2">
              <a:extLst>
                <a:ext uri="{FF2B5EF4-FFF2-40B4-BE49-F238E27FC236}">
                  <a16:creationId xmlns:a16="http://schemas.microsoft.com/office/drawing/2014/main" id="{DD1B4594-589C-07AA-122B-DB17B048810C}"/>
                </a:ext>
              </a:extLst>
            </p:cNvPr>
            <p:cNvSpPr txBox="1">
              <a:spLocks/>
            </p:cNvSpPr>
            <p:nvPr/>
          </p:nvSpPr>
          <p:spPr>
            <a:xfrm>
              <a:off x="6613625" y="4519409"/>
              <a:ext cx="461546" cy="375723"/>
            </a:xfrm>
            <a:prstGeom prst="rect">
              <a:avLst/>
            </a:prstGeom>
            <a:ln>
              <a:solidFill>
                <a:srgbClr val="FF0000"/>
              </a:solidFill>
            </a:ln>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700" b="1" dirty="0"/>
                <a:t>4</a:t>
              </a:r>
            </a:p>
          </p:txBody>
        </p:sp>
        <p:sp>
          <p:nvSpPr>
            <p:cNvPr id="234" name="Espace réservé du contenu 2">
              <a:extLst>
                <a:ext uri="{FF2B5EF4-FFF2-40B4-BE49-F238E27FC236}">
                  <a16:creationId xmlns:a16="http://schemas.microsoft.com/office/drawing/2014/main" id="{40BFC39F-DB5D-EE5B-C595-C06B3025D740}"/>
                </a:ext>
              </a:extLst>
            </p:cNvPr>
            <p:cNvSpPr txBox="1">
              <a:spLocks/>
            </p:cNvSpPr>
            <p:nvPr/>
          </p:nvSpPr>
          <p:spPr>
            <a:xfrm>
              <a:off x="6426489" y="6405373"/>
              <a:ext cx="461546" cy="375723"/>
            </a:xfrm>
            <a:prstGeom prst="rect">
              <a:avLst/>
            </a:prstGeom>
            <a:ln>
              <a:solidFill>
                <a:srgbClr val="FF0000"/>
              </a:solidFill>
            </a:ln>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700" b="1" dirty="0"/>
                <a:t>5</a:t>
              </a:r>
            </a:p>
          </p:txBody>
        </p:sp>
        <p:sp>
          <p:nvSpPr>
            <p:cNvPr id="235" name="Espace réservé du contenu 2">
              <a:extLst>
                <a:ext uri="{FF2B5EF4-FFF2-40B4-BE49-F238E27FC236}">
                  <a16:creationId xmlns:a16="http://schemas.microsoft.com/office/drawing/2014/main" id="{7A528C1E-DC42-7BC1-6417-6EB2ED17EE38}"/>
                </a:ext>
              </a:extLst>
            </p:cNvPr>
            <p:cNvSpPr txBox="1">
              <a:spLocks/>
            </p:cNvSpPr>
            <p:nvPr/>
          </p:nvSpPr>
          <p:spPr>
            <a:xfrm>
              <a:off x="960082" y="5237028"/>
              <a:ext cx="461546" cy="375723"/>
            </a:xfrm>
            <a:prstGeom prst="rect">
              <a:avLst/>
            </a:prstGeom>
            <a:ln>
              <a:solidFill>
                <a:srgbClr val="FF0000"/>
              </a:solidFill>
            </a:ln>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700" b="1" dirty="0"/>
                <a:t>6</a:t>
              </a:r>
            </a:p>
          </p:txBody>
        </p:sp>
        <p:sp>
          <p:nvSpPr>
            <p:cNvPr id="236" name="Flèche : haut 235">
              <a:extLst>
                <a:ext uri="{FF2B5EF4-FFF2-40B4-BE49-F238E27FC236}">
                  <a16:creationId xmlns:a16="http://schemas.microsoft.com/office/drawing/2014/main" id="{ADF84EEE-ECAD-131C-6175-04E180F3417E}"/>
                </a:ext>
              </a:extLst>
            </p:cNvPr>
            <p:cNvSpPr/>
            <p:nvPr/>
          </p:nvSpPr>
          <p:spPr>
            <a:xfrm>
              <a:off x="879182" y="2266880"/>
              <a:ext cx="1508291" cy="1605490"/>
            </a:xfrm>
            <a:prstGeom prst="up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 dirty="0">
                <a:solidFill>
                  <a:schemeClr val="tx1"/>
                </a:solidFill>
              </a:endParaRPr>
            </a:p>
          </p:txBody>
        </p:sp>
        <p:sp>
          <p:nvSpPr>
            <p:cNvPr id="237" name="Espace réservé du contenu 2">
              <a:extLst>
                <a:ext uri="{FF2B5EF4-FFF2-40B4-BE49-F238E27FC236}">
                  <a16:creationId xmlns:a16="http://schemas.microsoft.com/office/drawing/2014/main" id="{9D5C0FEB-F8B3-4C1D-9D79-197E2F02748B}"/>
                </a:ext>
              </a:extLst>
            </p:cNvPr>
            <p:cNvSpPr txBox="1">
              <a:spLocks/>
            </p:cNvSpPr>
            <p:nvPr/>
          </p:nvSpPr>
          <p:spPr>
            <a:xfrm>
              <a:off x="680778" y="3206759"/>
              <a:ext cx="461546" cy="375723"/>
            </a:xfrm>
            <a:prstGeom prst="rect">
              <a:avLst/>
            </a:prstGeom>
            <a:ln>
              <a:solidFill>
                <a:srgbClr val="FF0000"/>
              </a:solidFill>
            </a:ln>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700" b="1" dirty="0"/>
                <a:t>7</a:t>
              </a:r>
            </a:p>
          </p:txBody>
        </p:sp>
      </p:grpSp>
      <p:grpSp>
        <p:nvGrpSpPr>
          <p:cNvPr id="5" name="Groupe 4">
            <a:extLst>
              <a:ext uri="{FF2B5EF4-FFF2-40B4-BE49-F238E27FC236}">
                <a16:creationId xmlns:a16="http://schemas.microsoft.com/office/drawing/2014/main" id="{48263455-E921-4129-119E-B135A9BB7FAC}"/>
              </a:ext>
            </a:extLst>
          </p:cNvPr>
          <p:cNvGrpSpPr/>
          <p:nvPr/>
        </p:nvGrpSpPr>
        <p:grpSpPr>
          <a:xfrm>
            <a:off x="185276" y="2346869"/>
            <a:ext cx="2893674" cy="924989"/>
            <a:chOff x="281278" y="3415528"/>
            <a:chExt cx="11517462" cy="3681661"/>
          </a:xfrm>
        </p:grpSpPr>
        <p:pic>
          <p:nvPicPr>
            <p:cNvPr id="238" name="Graphique 237" descr="Utilisateur avec un remplissage uni">
              <a:extLst>
                <a:ext uri="{FF2B5EF4-FFF2-40B4-BE49-F238E27FC236}">
                  <a16:creationId xmlns:a16="http://schemas.microsoft.com/office/drawing/2014/main" id="{C3C007D2-4B04-E1D2-391D-7B6166F3F97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52452" y="5194067"/>
              <a:ext cx="1903122" cy="1903122"/>
            </a:xfrm>
            <a:prstGeom prst="rect">
              <a:avLst/>
            </a:prstGeom>
          </p:spPr>
        </p:pic>
        <p:pic>
          <p:nvPicPr>
            <p:cNvPr id="239" name="Graphique 238" descr="Bâtiment avec un remplissage uni">
              <a:extLst>
                <a:ext uri="{FF2B5EF4-FFF2-40B4-BE49-F238E27FC236}">
                  <a16:creationId xmlns:a16="http://schemas.microsoft.com/office/drawing/2014/main" id="{61828C47-7B5D-6376-07C2-3E14AA42705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77580" y="5194067"/>
              <a:ext cx="1722120" cy="1722120"/>
            </a:xfrm>
            <a:prstGeom prst="rect">
              <a:avLst/>
            </a:prstGeom>
          </p:spPr>
        </p:pic>
        <p:sp>
          <p:nvSpPr>
            <p:cNvPr id="240" name="Flèche : double flèche horizontale 239">
              <a:extLst>
                <a:ext uri="{FF2B5EF4-FFF2-40B4-BE49-F238E27FC236}">
                  <a16:creationId xmlns:a16="http://schemas.microsoft.com/office/drawing/2014/main" id="{ECCA56B7-8C67-6031-396C-7FD7531D23B7}"/>
                </a:ext>
              </a:extLst>
            </p:cNvPr>
            <p:cNvSpPr/>
            <p:nvPr/>
          </p:nvSpPr>
          <p:spPr>
            <a:xfrm>
              <a:off x="2362156" y="5518115"/>
              <a:ext cx="7308843" cy="1341599"/>
            </a:xfrm>
            <a:prstGeom prst="leftRightArrow">
              <a:avLst/>
            </a:prstGeom>
            <a:gradFill>
              <a:gsLst>
                <a:gs pos="0">
                  <a:srgbClr val="ED7D31"/>
                </a:gs>
                <a:gs pos="33000">
                  <a:schemeClr val="bg1">
                    <a:lumMod val="75000"/>
                  </a:schemeClr>
                </a:gs>
                <a:gs pos="75000">
                  <a:srgbClr val="3494BA"/>
                </a:gs>
                <a:gs pos="100000">
                  <a:schemeClr val="tx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3600" dirty="0">
                <a:solidFill>
                  <a:schemeClr val="tx1"/>
                </a:solidFill>
              </a:endParaRPr>
            </a:p>
          </p:txBody>
        </p:sp>
        <p:grpSp>
          <p:nvGrpSpPr>
            <p:cNvPr id="241" name="Groupe 240">
              <a:extLst>
                <a:ext uri="{FF2B5EF4-FFF2-40B4-BE49-F238E27FC236}">
                  <a16:creationId xmlns:a16="http://schemas.microsoft.com/office/drawing/2014/main" id="{0A69F53A-9381-9856-E2AF-DB06F323A582}"/>
                </a:ext>
              </a:extLst>
            </p:cNvPr>
            <p:cNvGrpSpPr/>
            <p:nvPr/>
          </p:nvGrpSpPr>
          <p:grpSpPr>
            <a:xfrm>
              <a:off x="9145763" y="3806121"/>
              <a:ext cx="1004893" cy="847205"/>
              <a:chOff x="8982504" y="3274976"/>
              <a:chExt cx="1230670" cy="1037553"/>
            </a:xfrm>
            <a:solidFill>
              <a:srgbClr val="ED7D31"/>
            </a:solidFill>
          </p:grpSpPr>
          <p:pic>
            <p:nvPicPr>
              <p:cNvPr id="242" name="Graphique 241" descr="Utilisateur avec un remplissage uni">
                <a:extLst>
                  <a:ext uri="{FF2B5EF4-FFF2-40B4-BE49-F238E27FC236}">
                    <a16:creationId xmlns:a16="http://schemas.microsoft.com/office/drawing/2014/main" id="{7CA88165-8BDA-B085-27A8-746B31DE51D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243" name="Graphique 242" descr="Utilisateur avec un remplissage uni">
                <a:extLst>
                  <a:ext uri="{FF2B5EF4-FFF2-40B4-BE49-F238E27FC236}">
                    <a16:creationId xmlns:a16="http://schemas.microsoft.com/office/drawing/2014/main" id="{AD6E7DCF-BB69-E04C-D6B7-03B4D31C6E3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244" name="Graphique 243" descr="Utilisateur avec un remplissage uni">
                <a:extLst>
                  <a:ext uri="{FF2B5EF4-FFF2-40B4-BE49-F238E27FC236}">
                    <a16:creationId xmlns:a16="http://schemas.microsoft.com/office/drawing/2014/main" id="{6651F153-C122-DCF6-70C2-9AC1235BF6A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45616" y="3561880"/>
                <a:ext cx="336064" cy="336064"/>
              </a:xfrm>
              <a:prstGeom prst="rect">
                <a:avLst/>
              </a:prstGeom>
            </p:spPr>
          </p:pic>
          <p:pic>
            <p:nvPicPr>
              <p:cNvPr id="245" name="Graphique 244" descr="Utilisateur avec un remplissage uni">
                <a:extLst>
                  <a:ext uri="{FF2B5EF4-FFF2-40B4-BE49-F238E27FC236}">
                    <a16:creationId xmlns:a16="http://schemas.microsoft.com/office/drawing/2014/main" id="{845E26D8-3377-F0A3-95E0-D4C7B3F3D85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246" name="Graphique 245" descr="Utilisateur avec un remplissage uni">
                <a:extLst>
                  <a:ext uri="{FF2B5EF4-FFF2-40B4-BE49-F238E27FC236}">
                    <a16:creationId xmlns:a16="http://schemas.microsoft.com/office/drawing/2014/main" id="{2AF3F04A-7042-52F2-767D-2B3C807A2AD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247" name="Graphique 246" descr="Utilisateur avec un remplissage uni">
                <a:extLst>
                  <a:ext uri="{FF2B5EF4-FFF2-40B4-BE49-F238E27FC236}">
                    <a16:creationId xmlns:a16="http://schemas.microsoft.com/office/drawing/2014/main" id="{12CC4AA7-7E65-4424-2A73-8CC6154B8A2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248" name="Graphique 247" descr="Utilisateur avec un remplissage uni">
                <a:extLst>
                  <a:ext uri="{FF2B5EF4-FFF2-40B4-BE49-F238E27FC236}">
                    <a16:creationId xmlns:a16="http://schemas.microsoft.com/office/drawing/2014/main" id="{13466956-B256-BB54-EB33-336BE98288C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82504" y="3835028"/>
                <a:ext cx="336064" cy="336064"/>
              </a:xfrm>
              <a:prstGeom prst="rect">
                <a:avLst/>
              </a:prstGeom>
            </p:spPr>
          </p:pic>
          <p:pic>
            <p:nvPicPr>
              <p:cNvPr id="249" name="Graphique 248" descr="Utilisateur avec un remplissage uni">
                <a:extLst>
                  <a:ext uri="{FF2B5EF4-FFF2-40B4-BE49-F238E27FC236}">
                    <a16:creationId xmlns:a16="http://schemas.microsoft.com/office/drawing/2014/main" id="{BE99AED5-A7C5-A282-51E4-9740E596E5F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20868" y="3943076"/>
                <a:ext cx="336064" cy="336064"/>
              </a:xfrm>
              <a:prstGeom prst="rect">
                <a:avLst/>
              </a:prstGeom>
            </p:spPr>
          </p:pic>
          <p:pic>
            <p:nvPicPr>
              <p:cNvPr id="250" name="Graphique 249" descr="Utilisateur avec un remplissage uni">
                <a:extLst>
                  <a:ext uri="{FF2B5EF4-FFF2-40B4-BE49-F238E27FC236}">
                    <a16:creationId xmlns:a16="http://schemas.microsoft.com/office/drawing/2014/main" id="{25F7211C-7555-3EBF-18F5-4D5AEB0D24A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251" name="Graphique 250" descr="Utilisateur avec un remplissage uni">
                <a:extLst>
                  <a:ext uri="{FF2B5EF4-FFF2-40B4-BE49-F238E27FC236}">
                    <a16:creationId xmlns:a16="http://schemas.microsoft.com/office/drawing/2014/main" id="{146F2EBF-F0E7-2A98-C8EA-144E1B7E74E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252" name="Graphique 251" descr="Utilisateur avec un remplissage uni">
                <a:extLst>
                  <a:ext uri="{FF2B5EF4-FFF2-40B4-BE49-F238E27FC236}">
                    <a16:creationId xmlns:a16="http://schemas.microsoft.com/office/drawing/2014/main" id="{1E223C36-E0E9-B451-3A03-D637AF85107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56932" y="3429000"/>
                <a:ext cx="336064" cy="336064"/>
              </a:xfrm>
              <a:prstGeom prst="rect">
                <a:avLst/>
              </a:prstGeom>
            </p:spPr>
          </p:pic>
        </p:grpSp>
        <p:sp>
          <p:nvSpPr>
            <p:cNvPr id="253" name="Flèche : droite 252">
              <a:extLst>
                <a:ext uri="{FF2B5EF4-FFF2-40B4-BE49-F238E27FC236}">
                  <a16:creationId xmlns:a16="http://schemas.microsoft.com/office/drawing/2014/main" id="{AD2C9F80-D779-F164-3926-E3D29C38F99F}"/>
                </a:ext>
              </a:extLst>
            </p:cNvPr>
            <p:cNvSpPr/>
            <p:nvPr/>
          </p:nvSpPr>
          <p:spPr>
            <a:xfrm>
              <a:off x="10150156" y="3979823"/>
              <a:ext cx="360727" cy="520117"/>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54" name="Graphique 253" descr="Bâtiment avec un remplissage uni">
              <a:extLst>
                <a:ext uri="{FF2B5EF4-FFF2-40B4-BE49-F238E27FC236}">
                  <a16:creationId xmlns:a16="http://schemas.microsoft.com/office/drawing/2014/main" id="{B4B50A69-6545-4EE7-9FF7-DE64321DB760}"/>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672359" y="3837529"/>
              <a:ext cx="360136" cy="360136"/>
            </a:xfrm>
            <a:prstGeom prst="rect">
              <a:avLst/>
            </a:prstGeom>
          </p:spPr>
        </p:pic>
        <p:pic>
          <p:nvPicPr>
            <p:cNvPr id="255" name="Graphique 254" descr="Graphique en courbe stick de hockey avec un remplissage uni">
              <a:extLst>
                <a:ext uri="{FF2B5EF4-FFF2-40B4-BE49-F238E27FC236}">
                  <a16:creationId xmlns:a16="http://schemas.microsoft.com/office/drawing/2014/main" id="{D47E4CC0-D994-BAFD-7015-A8BF54BC20E3}"/>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0490162" y="3806121"/>
              <a:ext cx="914400" cy="914400"/>
            </a:xfrm>
            <a:prstGeom prst="rect">
              <a:avLst/>
            </a:prstGeom>
          </p:spPr>
        </p:pic>
        <p:sp>
          <p:nvSpPr>
            <p:cNvPr id="256" name="Phylactère : pensées 255">
              <a:extLst>
                <a:ext uri="{FF2B5EF4-FFF2-40B4-BE49-F238E27FC236}">
                  <a16:creationId xmlns:a16="http://schemas.microsoft.com/office/drawing/2014/main" id="{D6D6708A-3E5E-EC15-6620-11442BF460BF}"/>
                </a:ext>
              </a:extLst>
            </p:cNvPr>
            <p:cNvSpPr/>
            <p:nvPr/>
          </p:nvSpPr>
          <p:spPr>
            <a:xfrm>
              <a:off x="8862298" y="3415528"/>
              <a:ext cx="2936442" cy="1616515"/>
            </a:xfrm>
            <a:prstGeom prst="cloudCallout">
              <a:avLst>
                <a:gd name="adj1" fmla="val 6878"/>
                <a:gd name="adj2" fmla="val 57310"/>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 name="Groupe 256">
              <a:extLst>
                <a:ext uri="{FF2B5EF4-FFF2-40B4-BE49-F238E27FC236}">
                  <a16:creationId xmlns:a16="http://schemas.microsoft.com/office/drawing/2014/main" id="{ABC6D016-E969-32DB-F394-E9FD0B25DFDA}"/>
                </a:ext>
              </a:extLst>
            </p:cNvPr>
            <p:cNvGrpSpPr/>
            <p:nvPr/>
          </p:nvGrpSpPr>
          <p:grpSpPr>
            <a:xfrm>
              <a:off x="564743" y="4024989"/>
              <a:ext cx="1004893" cy="847205"/>
              <a:chOff x="8982504" y="3274976"/>
              <a:chExt cx="1230670" cy="1037553"/>
            </a:xfrm>
            <a:solidFill>
              <a:schemeClr val="tx1"/>
            </a:solidFill>
          </p:grpSpPr>
          <p:pic>
            <p:nvPicPr>
              <p:cNvPr id="258" name="Graphique 257" descr="Utilisateur avec un remplissage uni">
                <a:extLst>
                  <a:ext uri="{FF2B5EF4-FFF2-40B4-BE49-F238E27FC236}">
                    <a16:creationId xmlns:a16="http://schemas.microsoft.com/office/drawing/2014/main" id="{9259756F-577F-4988-BB5F-23CB507BBBE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259" name="Graphique 258" descr="Utilisateur avec un remplissage uni">
                <a:extLst>
                  <a:ext uri="{FF2B5EF4-FFF2-40B4-BE49-F238E27FC236}">
                    <a16:creationId xmlns:a16="http://schemas.microsoft.com/office/drawing/2014/main" id="{D41A0C1C-26F7-6A7A-3D64-5E6714E7FC8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260" name="Graphique 259" descr="Utilisateur avec un remplissage uni">
                <a:extLst>
                  <a:ext uri="{FF2B5EF4-FFF2-40B4-BE49-F238E27FC236}">
                    <a16:creationId xmlns:a16="http://schemas.microsoft.com/office/drawing/2014/main" id="{A177C1BA-D79F-BA29-0A03-46DA915B946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261" name="Graphique 260" descr="Utilisateur avec un remplissage uni">
                <a:extLst>
                  <a:ext uri="{FF2B5EF4-FFF2-40B4-BE49-F238E27FC236}">
                    <a16:creationId xmlns:a16="http://schemas.microsoft.com/office/drawing/2014/main" id="{4550E39A-DB5F-99AC-81A9-7A364112B06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262" name="Graphique 261" descr="Utilisateur avec un remplissage uni">
                <a:extLst>
                  <a:ext uri="{FF2B5EF4-FFF2-40B4-BE49-F238E27FC236}">
                    <a16:creationId xmlns:a16="http://schemas.microsoft.com/office/drawing/2014/main" id="{D086CF5A-E680-A9A8-61DD-1CD3B245E8D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263" name="Graphique 262" descr="Utilisateur avec un remplissage uni">
                <a:extLst>
                  <a:ext uri="{FF2B5EF4-FFF2-40B4-BE49-F238E27FC236}">
                    <a16:creationId xmlns:a16="http://schemas.microsoft.com/office/drawing/2014/main" id="{13DAFAE1-5F69-20D6-4F96-FD20ED14D82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264" name="Graphique 263" descr="Utilisateur avec un remplissage uni">
                <a:extLst>
                  <a:ext uri="{FF2B5EF4-FFF2-40B4-BE49-F238E27FC236}">
                    <a16:creationId xmlns:a16="http://schemas.microsoft.com/office/drawing/2014/main" id="{389C32F5-8493-A95F-505D-A66A36A9967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265" name="Graphique 264" descr="Utilisateur avec un remplissage uni">
                <a:extLst>
                  <a:ext uri="{FF2B5EF4-FFF2-40B4-BE49-F238E27FC236}">
                    <a16:creationId xmlns:a16="http://schemas.microsoft.com/office/drawing/2014/main" id="{8BB0D6FD-BFA8-C784-20CC-54CE391C9CB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266" name="Graphique 265" descr="Utilisateur avec un remplissage uni">
                <a:extLst>
                  <a:ext uri="{FF2B5EF4-FFF2-40B4-BE49-F238E27FC236}">
                    <a16:creationId xmlns:a16="http://schemas.microsoft.com/office/drawing/2014/main" id="{A907F029-3560-A0F1-AE1D-4E4F5E84377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267" name="Graphique 266" descr="Utilisateur avec un remplissage uni">
                <a:extLst>
                  <a:ext uri="{FF2B5EF4-FFF2-40B4-BE49-F238E27FC236}">
                    <a16:creationId xmlns:a16="http://schemas.microsoft.com/office/drawing/2014/main" id="{00125EAC-6751-6A0F-B599-20A0C895EC0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268" name="Graphique 267" descr="Utilisateur avec un remplissage uni">
                <a:extLst>
                  <a:ext uri="{FF2B5EF4-FFF2-40B4-BE49-F238E27FC236}">
                    <a16:creationId xmlns:a16="http://schemas.microsoft.com/office/drawing/2014/main" id="{C5C6C404-F7DA-CCAE-48F0-DBF0AC70503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sp>
          <p:nvSpPr>
            <p:cNvPr id="269" name="Flèche : droite 268">
              <a:extLst>
                <a:ext uri="{FF2B5EF4-FFF2-40B4-BE49-F238E27FC236}">
                  <a16:creationId xmlns:a16="http://schemas.microsoft.com/office/drawing/2014/main" id="{8D085140-07FA-1D06-FE6C-62A019002B9A}"/>
                </a:ext>
              </a:extLst>
            </p:cNvPr>
            <p:cNvSpPr/>
            <p:nvPr/>
          </p:nvSpPr>
          <p:spPr>
            <a:xfrm>
              <a:off x="1569136" y="4198691"/>
              <a:ext cx="360727" cy="520117"/>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70" name="Graphique 269" descr="Graphique en courbe stick de hockey avec un remplissage uni">
              <a:extLst>
                <a:ext uri="{FF2B5EF4-FFF2-40B4-BE49-F238E27FC236}">
                  <a16:creationId xmlns:a16="http://schemas.microsoft.com/office/drawing/2014/main" id="{80099443-F14C-4C56-647B-F6581F2952DD}"/>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853101" y="4017597"/>
              <a:ext cx="914400" cy="914400"/>
            </a:xfrm>
            <a:prstGeom prst="rect">
              <a:avLst/>
            </a:prstGeom>
          </p:spPr>
        </p:pic>
        <p:sp>
          <p:nvSpPr>
            <p:cNvPr id="271" name="Phylactère : pensées 270">
              <a:extLst>
                <a:ext uri="{FF2B5EF4-FFF2-40B4-BE49-F238E27FC236}">
                  <a16:creationId xmlns:a16="http://schemas.microsoft.com/office/drawing/2014/main" id="{06E2C82C-2D7E-543A-A4C3-0B2D5A8B3229}"/>
                </a:ext>
              </a:extLst>
            </p:cNvPr>
            <p:cNvSpPr/>
            <p:nvPr/>
          </p:nvSpPr>
          <p:spPr>
            <a:xfrm>
              <a:off x="281278" y="3634396"/>
              <a:ext cx="2936442" cy="1616515"/>
            </a:xfrm>
            <a:prstGeom prst="cloudCallout">
              <a:avLst>
                <a:gd name="adj1" fmla="val -15406"/>
                <a:gd name="adj2" fmla="val 5367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72" name="Graphique 271" descr="Utilisateur avec un remplissage uni">
              <a:extLst>
                <a:ext uri="{FF2B5EF4-FFF2-40B4-BE49-F238E27FC236}">
                  <a16:creationId xmlns:a16="http://schemas.microsoft.com/office/drawing/2014/main" id="{19138896-8F79-DFE9-46A7-3FAA02C26B6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170354" y="4161487"/>
              <a:ext cx="305334" cy="305334"/>
            </a:xfrm>
            <a:prstGeom prst="rect">
              <a:avLst/>
            </a:prstGeom>
          </p:spPr>
        </p:pic>
      </p:grpSp>
      <p:sp>
        <p:nvSpPr>
          <p:cNvPr id="2" name="ZoneTexte 1">
            <a:extLst>
              <a:ext uri="{FF2B5EF4-FFF2-40B4-BE49-F238E27FC236}">
                <a16:creationId xmlns:a16="http://schemas.microsoft.com/office/drawing/2014/main" id="{0B9EF28B-0E28-35B4-40C9-B6EEC408AB15}"/>
              </a:ext>
            </a:extLst>
          </p:cNvPr>
          <p:cNvSpPr txBox="1"/>
          <p:nvPr/>
        </p:nvSpPr>
        <p:spPr>
          <a:xfrm>
            <a:off x="1096188" y="4215479"/>
            <a:ext cx="3014916" cy="2585323"/>
          </a:xfrm>
          <a:prstGeom prst="rect">
            <a:avLst/>
          </a:prstGeom>
          <a:noFill/>
        </p:spPr>
        <p:txBody>
          <a:bodyPr wrap="square">
            <a:spAutoFit/>
          </a:bodyPr>
          <a:lstStyle/>
          <a:p>
            <a:r>
              <a:rPr lang="fr-FR" dirty="0"/>
              <a:t>Une communauté idéale pour les membres fait surtout des activités à valeur pour eux et reçoit de l’investissement de l’entreprise, c’est l’inverse pour une communauté idéale pour l’entreprise : les </a:t>
            </a:r>
            <a:r>
              <a:rPr lang="fr-FR" b="1" dirty="0">
                <a:solidFill>
                  <a:srgbClr val="3494BA"/>
                </a:solidFill>
              </a:rPr>
              <a:t>cas réels sont entre ces deux extrêmes</a:t>
            </a:r>
            <a:r>
              <a:rPr lang="fr-FR" dirty="0"/>
              <a:t>.</a:t>
            </a:r>
          </a:p>
        </p:txBody>
      </p:sp>
      <p:sp>
        <p:nvSpPr>
          <p:cNvPr id="6" name="ZoneTexte 5">
            <a:extLst>
              <a:ext uri="{FF2B5EF4-FFF2-40B4-BE49-F238E27FC236}">
                <a16:creationId xmlns:a16="http://schemas.microsoft.com/office/drawing/2014/main" id="{767AD245-9542-4E23-D7A6-68403637EFD6}"/>
              </a:ext>
            </a:extLst>
          </p:cNvPr>
          <p:cNvSpPr txBox="1"/>
          <p:nvPr/>
        </p:nvSpPr>
        <p:spPr>
          <a:xfrm>
            <a:off x="5095120" y="4215479"/>
            <a:ext cx="2877305" cy="1754326"/>
          </a:xfrm>
          <a:prstGeom prst="rect">
            <a:avLst/>
          </a:prstGeom>
          <a:noFill/>
        </p:spPr>
        <p:txBody>
          <a:bodyPr wrap="square">
            <a:spAutoFit/>
          </a:bodyPr>
          <a:lstStyle/>
          <a:p>
            <a:r>
              <a:rPr lang="fr-FR" dirty="0"/>
              <a:t>Selon la forme de temps investie (personnel, professionnel), il y aura une pression sur la valeur pour les membres ou pour l’entreprise.</a:t>
            </a:r>
          </a:p>
        </p:txBody>
      </p:sp>
      <p:sp>
        <p:nvSpPr>
          <p:cNvPr id="7" name="ZoneTexte 6">
            <a:extLst>
              <a:ext uri="{FF2B5EF4-FFF2-40B4-BE49-F238E27FC236}">
                <a16:creationId xmlns:a16="http://schemas.microsoft.com/office/drawing/2014/main" id="{CFF20711-7CEC-FA54-772C-E51325E521BC}"/>
              </a:ext>
            </a:extLst>
          </p:cNvPr>
          <p:cNvSpPr txBox="1"/>
          <p:nvPr/>
        </p:nvSpPr>
        <p:spPr>
          <a:xfrm>
            <a:off x="9120692" y="4215479"/>
            <a:ext cx="2977205" cy="2031325"/>
          </a:xfrm>
          <a:prstGeom prst="rect">
            <a:avLst/>
          </a:prstGeom>
          <a:noFill/>
        </p:spPr>
        <p:txBody>
          <a:bodyPr wrap="square">
            <a:spAutoFit/>
          </a:bodyPr>
          <a:lstStyle/>
          <a:p>
            <a:r>
              <a:rPr lang="fr-FR" dirty="0"/>
              <a:t>La pression qu’une partie (membres, entreprise, sponsors, …) met sur une autre peut se transmettre, et chacune peut souhaiter que les autres s’ajustent à son idéal.</a:t>
            </a:r>
          </a:p>
        </p:txBody>
      </p:sp>
      <p:sp>
        <p:nvSpPr>
          <p:cNvPr id="8" name="Organigramme : Connecteur 7">
            <a:extLst>
              <a:ext uri="{FF2B5EF4-FFF2-40B4-BE49-F238E27FC236}">
                <a16:creationId xmlns:a16="http://schemas.microsoft.com/office/drawing/2014/main" id="{85405AED-E8E3-D0EB-AB6B-6198F0F0AF06}"/>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28</a:t>
            </a:r>
          </a:p>
        </p:txBody>
      </p:sp>
      <p:sp>
        <p:nvSpPr>
          <p:cNvPr id="9" name="Organigramme : Connecteur 8">
            <a:extLst>
              <a:ext uri="{FF2B5EF4-FFF2-40B4-BE49-F238E27FC236}">
                <a16:creationId xmlns:a16="http://schemas.microsoft.com/office/drawing/2014/main" id="{398DDC64-CB5D-2EE0-819D-C593ABAC7200}"/>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29</a:t>
            </a:r>
          </a:p>
        </p:txBody>
      </p:sp>
      <p:sp>
        <p:nvSpPr>
          <p:cNvPr id="10" name="Organigramme : Connecteur 9">
            <a:extLst>
              <a:ext uri="{FF2B5EF4-FFF2-40B4-BE49-F238E27FC236}">
                <a16:creationId xmlns:a16="http://schemas.microsoft.com/office/drawing/2014/main" id="{57757024-663A-032A-17BC-6B1C28100015}"/>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30</a:t>
            </a:r>
          </a:p>
        </p:txBody>
      </p:sp>
    </p:spTree>
    <p:extLst>
      <p:ext uri="{BB962C8B-B14F-4D97-AF65-F5344CB8AC3E}">
        <p14:creationId xmlns:p14="http://schemas.microsoft.com/office/powerpoint/2010/main" val="2669913811"/>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Titre 1">
            <a:extLst>
              <a:ext uri="{FF2B5EF4-FFF2-40B4-BE49-F238E27FC236}">
                <a16:creationId xmlns:a16="http://schemas.microsoft.com/office/drawing/2014/main" id="{E1AF4623-852E-CEA8-8138-94B34C366FD1}"/>
              </a:ext>
            </a:extLst>
          </p:cNvPr>
          <p:cNvSpPr>
            <a:spLocks noGrp="1"/>
          </p:cNvSpPr>
          <p:nvPr>
            <p:ph type="title"/>
          </p:nvPr>
        </p:nvSpPr>
        <p:spPr>
          <a:xfrm>
            <a:off x="838200" y="365125"/>
            <a:ext cx="10515600" cy="1325563"/>
          </a:xfrm>
        </p:spPr>
        <p:txBody>
          <a:bodyPr/>
          <a:lstStyle/>
          <a:p>
            <a:r>
              <a:rPr lang="fr-FR" dirty="0"/>
              <a:t>Résumé, une phrase par image</a:t>
            </a:r>
          </a:p>
        </p:txBody>
      </p:sp>
      <p:grpSp>
        <p:nvGrpSpPr>
          <p:cNvPr id="2" name="Groupe 1">
            <a:extLst>
              <a:ext uri="{FF2B5EF4-FFF2-40B4-BE49-F238E27FC236}">
                <a16:creationId xmlns:a16="http://schemas.microsoft.com/office/drawing/2014/main" id="{CF5981D7-1EEF-F419-3C9A-E36E92F4A96E}"/>
              </a:ext>
            </a:extLst>
          </p:cNvPr>
          <p:cNvGrpSpPr/>
          <p:nvPr/>
        </p:nvGrpSpPr>
        <p:grpSpPr>
          <a:xfrm>
            <a:off x="705820" y="1690688"/>
            <a:ext cx="2013586" cy="1500187"/>
            <a:chOff x="2772744" y="996316"/>
            <a:chExt cx="7042724" cy="5247057"/>
          </a:xfrm>
        </p:grpSpPr>
        <p:pic>
          <p:nvPicPr>
            <p:cNvPr id="223" name="Graphique 222" descr="Bâtiment avec un remplissage uni">
              <a:extLst>
                <a:ext uri="{FF2B5EF4-FFF2-40B4-BE49-F238E27FC236}">
                  <a16:creationId xmlns:a16="http://schemas.microsoft.com/office/drawing/2014/main" id="{A138745E-26D1-6B76-6470-93CC8322E0F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807468" y="1032969"/>
              <a:ext cx="1008000" cy="1008000"/>
            </a:xfrm>
            <a:prstGeom prst="rect">
              <a:avLst/>
            </a:prstGeom>
          </p:spPr>
        </p:pic>
        <p:pic>
          <p:nvPicPr>
            <p:cNvPr id="224" name="Graphique 223" descr="Bâtiment avec un remplissage uni">
              <a:extLst>
                <a:ext uri="{FF2B5EF4-FFF2-40B4-BE49-F238E27FC236}">
                  <a16:creationId xmlns:a16="http://schemas.microsoft.com/office/drawing/2014/main" id="{345D25C7-CD4D-2C27-0D4E-66D780ED0F2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932788" y="996316"/>
              <a:ext cx="1008000" cy="1008000"/>
            </a:xfrm>
            <a:prstGeom prst="rect">
              <a:avLst/>
            </a:prstGeom>
          </p:spPr>
        </p:pic>
        <p:grpSp>
          <p:nvGrpSpPr>
            <p:cNvPr id="225" name="Groupe 224">
              <a:extLst>
                <a:ext uri="{FF2B5EF4-FFF2-40B4-BE49-F238E27FC236}">
                  <a16:creationId xmlns:a16="http://schemas.microsoft.com/office/drawing/2014/main" id="{D5070851-2071-999E-4529-48420CA9F3A9}"/>
                </a:ext>
              </a:extLst>
            </p:cNvPr>
            <p:cNvGrpSpPr/>
            <p:nvPr/>
          </p:nvGrpSpPr>
          <p:grpSpPr>
            <a:xfrm>
              <a:off x="2772744" y="5396168"/>
              <a:ext cx="1004893" cy="847205"/>
              <a:chOff x="8982504" y="3274976"/>
              <a:chExt cx="1230670" cy="1037553"/>
            </a:xfrm>
            <a:solidFill>
              <a:srgbClr val="ED7D31"/>
            </a:solidFill>
          </p:grpSpPr>
          <p:pic>
            <p:nvPicPr>
              <p:cNvPr id="226" name="Graphique 225" descr="Utilisateur avec un remplissage uni">
                <a:extLst>
                  <a:ext uri="{FF2B5EF4-FFF2-40B4-BE49-F238E27FC236}">
                    <a16:creationId xmlns:a16="http://schemas.microsoft.com/office/drawing/2014/main" id="{04F1DEAF-A4AC-C81B-DD12-958625CA0DE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27" name="Graphique 226" descr="Utilisateur avec un remplissage uni">
                <a:extLst>
                  <a:ext uri="{FF2B5EF4-FFF2-40B4-BE49-F238E27FC236}">
                    <a16:creationId xmlns:a16="http://schemas.microsoft.com/office/drawing/2014/main" id="{5B34C735-EB86-CE6A-994A-9E3AA3001C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73" name="Graphique 272" descr="Utilisateur avec un remplissage uni">
                <a:extLst>
                  <a:ext uri="{FF2B5EF4-FFF2-40B4-BE49-F238E27FC236}">
                    <a16:creationId xmlns:a16="http://schemas.microsoft.com/office/drawing/2014/main" id="{8701458C-E1D0-266F-603B-856BD66EDF2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74" name="Graphique 273" descr="Utilisateur avec un remplissage uni">
                <a:extLst>
                  <a:ext uri="{FF2B5EF4-FFF2-40B4-BE49-F238E27FC236}">
                    <a16:creationId xmlns:a16="http://schemas.microsoft.com/office/drawing/2014/main" id="{090052A6-E649-2319-4104-CF42550144C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75" name="Graphique 274" descr="Utilisateur avec un remplissage uni">
                <a:extLst>
                  <a:ext uri="{FF2B5EF4-FFF2-40B4-BE49-F238E27FC236}">
                    <a16:creationId xmlns:a16="http://schemas.microsoft.com/office/drawing/2014/main" id="{1516DA75-FD30-783B-77EC-78BD035ADA2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76" name="Graphique 275" descr="Utilisateur avec un remplissage uni">
                <a:extLst>
                  <a:ext uri="{FF2B5EF4-FFF2-40B4-BE49-F238E27FC236}">
                    <a16:creationId xmlns:a16="http://schemas.microsoft.com/office/drawing/2014/main" id="{0D1A404D-B891-DD80-29E6-278FC2248DF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77" name="Graphique 276" descr="Utilisateur avec un remplissage uni">
                <a:extLst>
                  <a:ext uri="{FF2B5EF4-FFF2-40B4-BE49-F238E27FC236}">
                    <a16:creationId xmlns:a16="http://schemas.microsoft.com/office/drawing/2014/main" id="{62076B5D-A83E-A9A1-06C3-B66BD3EB0F7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78" name="Graphique 277" descr="Utilisateur avec un remplissage uni">
                <a:extLst>
                  <a:ext uri="{FF2B5EF4-FFF2-40B4-BE49-F238E27FC236}">
                    <a16:creationId xmlns:a16="http://schemas.microsoft.com/office/drawing/2014/main" id="{A72DB6B3-1EAE-2399-5579-2065E3AAF13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79" name="Graphique 278" descr="Utilisateur avec un remplissage uni">
                <a:extLst>
                  <a:ext uri="{FF2B5EF4-FFF2-40B4-BE49-F238E27FC236}">
                    <a16:creationId xmlns:a16="http://schemas.microsoft.com/office/drawing/2014/main" id="{537B94B3-E01E-A137-E060-C752DA9FF4E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80" name="Graphique 279" descr="Utilisateur avec un remplissage uni">
                <a:extLst>
                  <a:ext uri="{FF2B5EF4-FFF2-40B4-BE49-F238E27FC236}">
                    <a16:creationId xmlns:a16="http://schemas.microsoft.com/office/drawing/2014/main" id="{01C16C33-62BC-BD67-D2DE-41EB4A9713E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81" name="Graphique 280" descr="Utilisateur avec un remplissage uni">
                <a:extLst>
                  <a:ext uri="{FF2B5EF4-FFF2-40B4-BE49-F238E27FC236}">
                    <a16:creationId xmlns:a16="http://schemas.microsoft.com/office/drawing/2014/main" id="{9C2150D5-0794-0F57-4519-2BF1F85A952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grpSp>
          <p:nvGrpSpPr>
            <p:cNvPr id="282" name="Groupe 281">
              <a:extLst>
                <a:ext uri="{FF2B5EF4-FFF2-40B4-BE49-F238E27FC236}">
                  <a16:creationId xmlns:a16="http://schemas.microsoft.com/office/drawing/2014/main" id="{D36F0A34-4B6E-3BC0-D7A7-C3BE0DD574CD}"/>
                </a:ext>
              </a:extLst>
            </p:cNvPr>
            <p:cNvGrpSpPr/>
            <p:nvPr/>
          </p:nvGrpSpPr>
          <p:grpSpPr>
            <a:xfrm>
              <a:off x="8690678" y="5389231"/>
              <a:ext cx="1004893" cy="847205"/>
              <a:chOff x="8982504" y="3274976"/>
              <a:chExt cx="1230670" cy="1037553"/>
            </a:xfrm>
            <a:solidFill>
              <a:srgbClr val="ED7D31"/>
            </a:solidFill>
          </p:grpSpPr>
          <p:pic>
            <p:nvPicPr>
              <p:cNvPr id="283" name="Graphique 282" descr="Utilisateur avec un remplissage uni">
                <a:extLst>
                  <a:ext uri="{FF2B5EF4-FFF2-40B4-BE49-F238E27FC236}">
                    <a16:creationId xmlns:a16="http://schemas.microsoft.com/office/drawing/2014/main" id="{BA52FBE7-F44D-DA67-954D-3B528C5F16F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284" name="Graphique 283" descr="Utilisateur avec un remplissage uni">
                <a:extLst>
                  <a:ext uri="{FF2B5EF4-FFF2-40B4-BE49-F238E27FC236}">
                    <a16:creationId xmlns:a16="http://schemas.microsoft.com/office/drawing/2014/main" id="{A624384E-2BC0-1707-30E4-BA5B00A3A80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285" name="Graphique 284" descr="Utilisateur avec un remplissage uni">
                <a:extLst>
                  <a:ext uri="{FF2B5EF4-FFF2-40B4-BE49-F238E27FC236}">
                    <a16:creationId xmlns:a16="http://schemas.microsoft.com/office/drawing/2014/main" id="{11B3681A-E06C-73B2-81A9-20E1B0E3873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286" name="Graphique 285" descr="Utilisateur avec un remplissage uni">
                <a:extLst>
                  <a:ext uri="{FF2B5EF4-FFF2-40B4-BE49-F238E27FC236}">
                    <a16:creationId xmlns:a16="http://schemas.microsoft.com/office/drawing/2014/main" id="{28B42E1E-8FDB-6ABF-978B-EF340E2F720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287" name="Graphique 286" descr="Utilisateur avec un remplissage uni">
                <a:extLst>
                  <a:ext uri="{FF2B5EF4-FFF2-40B4-BE49-F238E27FC236}">
                    <a16:creationId xmlns:a16="http://schemas.microsoft.com/office/drawing/2014/main" id="{36F274B7-F072-508C-C931-4CBC21E7DD1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88" name="Graphique 287" descr="Utilisateur avec un remplissage uni">
                <a:extLst>
                  <a:ext uri="{FF2B5EF4-FFF2-40B4-BE49-F238E27FC236}">
                    <a16:creationId xmlns:a16="http://schemas.microsoft.com/office/drawing/2014/main" id="{305DBDD4-BCAC-8DB6-AAFD-E5C0D62489C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89" name="Graphique 288" descr="Utilisateur avec un remplissage uni">
                <a:extLst>
                  <a:ext uri="{FF2B5EF4-FFF2-40B4-BE49-F238E27FC236}">
                    <a16:creationId xmlns:a16="http://schemas.microsoft.com/office/drawing/2014/main" id="{A9CD40C6-E308-75C2-E0E6-46F239982C4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90" name="Graphique 289" descr="Utilisateur avec un remplissage uni">
                <a:extLst>
                  <a:ext uri="{FF2B5EF4-FFF2-40B4-BE49-F238E27FC236}">
                    <a16:creationId xmlns:a16="http://schemas.microsoft.com/office/drawing/2014/main" id="{8DF750A7-07D1-554E-F4FE-5E37D7A9798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91" name="Graphique 290" descr="Utilisateur avec un remplissage uni">
                <a:extLst>
                  <a:ext uri="{FF2B5EF4-FFF2-40B4-BE49-F238E27FC236}">
                    <a16:creationId xmlns:a16="http://schemas.microsoft.com/office/drawing/2014/main" id="{FB27E9B0-D534-3D1B-4420-F2A402C68EE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92" name="Graphique 291" descr="Utilisateur avec un remplissage uni">
                <a:extLst>
                  <a:ext uri="{FF2B5EF4-FFF2-40B4-BE49-F238E27FC236}">
                    <a16:creationId xmlns:a16="http://schemas.microsoft.com/office/drawing/2014/main" id="{69DC3D68-7AFF-49DC-E081-365C24F734A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93" name="Graphique 292" descr="Utilisateur avec un remplissage uni">
                <a:extLst>
                  <a:ext uri="{FF2B5EF4-FFF2-40B4-BE49-F238E27FC236}">
                    <a16:creationId xmlns:a16="http://schemas.microsoft.com/office/drawing/2014/main" id="{5B2E5FA4-F62A-574C-E1BE-BCF0A7D4649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294" name="Graphique 293" descr="Employée de bureau avec un remplissage uni">
              <a:extLst>
                <a:ext uri="{FF2B5EF4-FFF2-40B4-BE49-F238E27FC236}">
                  <a16:creationId xmlns:a16="http://schemas.microsoft.com/office/drawing/2014/main" id="{1F71D7A9-7847-0F2B-27F4-210B81D0331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977476" y="3098223"/>
              <a:ext cx="927445" cy="927445"/>
            </a:xfrm>
            <a:prstGeom prst="rect">
              <a:avLst/>
            </a:prstGeom>
          </p:spPr>
        </p:pic>
        <p:pic>
          <p:nvPicPr>
            <p:cNvPr id="295" name="Graphique 294" descr="Employée de bureau avec un remplissage uni">
              <a:extLst>
                <a:ext uri="{FF2B5EF4-FFF2-40B4-BE49-F238E27FC236}">
                  <a16:creationId xmlns:a16="http://schemas.microsoft.com/office/drawing/2014/main" id="{99E22FA7-54CB-1FA7-C6C4-D2CB8645676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452490" y="3170219"/>
              <a:ext cx="927445" cy="927445"/>
            </a:xfrm>
            <a:prstGeom prst="rect">
              <a:avLst/>
            </a:prstGeom>
          </p:spPr>
        </p:pic>
        <p:grpSp>
          <p:nvGrpSpPr>
            <p:cNvPr id="302" name="Groupe 301">
              <a:extLst>
                <a:ext uri="{FF2B5EF4-FFF2-40B4-BE49-F238E27FC236}">
                  <a16:creationId xmlns:a16="http://schemas.microsoft.com/office/drawing/2014/main" id="{49641B0C-28AA-E77C-3C8A-95FF89D6E982}"/>
                </a:ext>
              </a:extLst>
            </p:cNvPr>
            <p:cNvGrpSpPr/>
            <p:nvPr/>
          </p:nvGrpSpPr>
          <p:grpSpPr>
            <a:xfrm>
              <a:off x="3152817" y="1939952"/>
              <a:ext cx="582779" cy="1236552"/>
              <a:chOff x="4327736" y="1771722"/>
              <a:chExt cx="1754416" cy="1735486"/>
            </a:xfrm>
            <a:solidFill>
              <a:srgbClr val="FF9999"/>
            </a:solidFill>
          </p:grpSpPr>
          <p:sp>
            <p:nvSpPr>
              <p:cNvPr id="303" name="Flèche : haut 302">
                <a:extLst>
                  <a:ext uri="{FF2B5EF4-FFF2-40B4-BE49-F238E27FC236}">
                    <a16:creationId xmlns:a16="http://schemas.microsoft.com/office/drawing/2014/main" id="{0923DC0A-D44B-601B-4579-6C0C55B65113}"/>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304" name="Flèche : bas 303">
                <a:extLst>
                  <a:ext uri="{FF2B5EF4-FFF2-40B4-BE49-F238E27FC236}">
                    <a16:creationId xmlns:a16="http://schemas.microsoft.com/office/drawing/2014/main" id="{BC4ACE32-0892-6D46-B816-C3F0D4A74E47}"/>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305" name="Groupe 304">
              <a:extLst>
                <a:ext uri="{FF2B5EF4-FFF2-40B4-BE49-F238E27FC236}">
                  <a16:creationId xmlns:a16="http://schemas.microsoft.com/office/drawing/2014/main" id="{9512F9B6-4C44-3B6F-B0B1-C3F7BEEEEC97}"/>
                </a:ext>
              </a:extLst>
            </p:cNvPr>
            <p:cNvGrpSpPr/>
            <p:nvPr/>
          </p:nvGrpSpPr>
          <p:grpSpPr>
            <a:xfrm>
              <a:off x="3194699" y="3985305"/>
              <a:ext cx="582779" cy="1410862"/>
              <a:chOff x="4327736" y="1771722"/>
              <a:chExt cx="1754416" cy="1735486"/>
            </a:xfrm>
            <a:solidFill>
              <a:srgbClr val="FF9999"/>
            </a:solidFill>
          </p:grpSpPr>
          <p:sp>
            <p:nvSpPr>
              <p:cNvPr id="306" name="Flèche : haut 305">
                <a:extLst>
                  <a:ext uri="{FF2B5EF4-FFF2-40B4-BE49-F238E27FC236}">
                    <a16:creationId xmlns:a16="http://schemas.microsoft.com/office/drawing/2014/main" id="{993014B7-6AA6-B9D5-BFA1-7930198E798A}"/>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307" name="Flèche : bas 306">
                <a:extLst>
                  <a:ext uri="{FF2B5EF4-FFF2-40B4-BE49-F238E27FC236}">
                    <a16:creationId xmlns:a16="http://schemas.microsoft.com/office/drawing/2014/main" id="{C24873A7-47C4-6FF0-516B-03B6D719C926}"/>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308" name="Groupe 307">
              <a:extLst>
                <a:ext uri="{FF2B5EF4-FFF2-40B4-BE49-F238E27FC236}">
                  <a16:creationId xmlns:a16="http://schemas.microsoft.com/office/drawing/2014/main" id="{32DD438B-B000-EE26-CAC5-CAF985E37E99}"/>
                </a:ext>
              </a:extLst>
            </p:cNvPr>
            <p:cNvGrpSpPr/>
            <p:nvPr/>
          </p:nvGrpSpPr>
          <p:grpSpPr>
            <a:xfrm rot="16200000">
              <a:off x="4907077" y="2329927"/>
              <a:ext cx="582779" cy="2777464"/>
              <a:chOff x="4327736" y="1771722"/>
              <a:chExt cx="1754416" cy="1735486"/>
            </a:xfrm>
            <a:solidFill>
              <a:srgbClr val="FF9999"/>
            </a:solidFill>
          </p:grpSpPr>
          <p:sp>
            <p:nvSpPr>
              <p:cNvPr id="309" name="Flèche : haut 308">
                <a:extLst>
                  <a:ext uri="{FF2B5EF4-FFF2-40B4-BE49-F238E27FC236}">
                    <a16:creationId xmlns:a16="http://schemas.microsoft.com/office/drawing/2014/main" id="{F44C7042-F6E5-7834-0082-7A93E5CE4609}"/>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310" name="Flèche : bas 309">
                <a:extLst>
                  <a:ext uri="{FF2B5EF4-FFF2-40B4-BE49-F238E27FC236}">
                    <a16:creationId xmlns:a16="http://schemas.microsoft.com/office/drawing/2014/main" id="{CC98DD15-5B11-36B3-8F7B-E390740D8C01}"/>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311" name="Groupe 310">
              <a:extLst>
                <a:ext uri="{FF2B5EF4-FFF2-40B4-BE49-F238E27FC236}">
                  <a16:creationId xmlns:a16="http://schemas.microsoft.com/office/drawing/2014/main" id="{7D91CBB6-0431-A547-57EA-8B504537EC93}"/>
                </a:ext>
              </a:extLst>
            </p:cNvPr>
            <p:cNvGrpSpPr/>
            <p:nvPr/>
          </p:nvGrpSpPr>
          <p:grpSpPr>
            <a:xfrm rot="16200000">
              <a:off x="6024511" y="3063384"/>
              <a:ext cx="582779" cy="4983137"/>
              <a:chOff x="4327736" y="1771722"/>
              <a:chExt cx="1754416" cy="1735486"/>
            </a:xfrm>
            <a:solidFill>
              <a:srgbClr val="FF9999"/>
            </a:solidFill>
          </p:grpSpPr>
          <p:sp>
            <p:nvSpPr>
              <p:cNvPr id="312" name="Flèche : haut 311">
                <a:extLst>
                  <a:ext uri="{FF2B5EF4-FFF2-40B4-BE49-F238E27FC236}">
                    <a16:creationId xmlns:a16="http://schemas.microsoft.com/office/drawing/2014/main" id="{2E4ADC48-1BB4-999E-423C-80631537E93B}"/>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313" name="Flèche : bas 312">
                <a:extLst>
                  <a:ext uri="{FF2B5EF4-FFF2-40B4-BE49-F238E27FC236}">
                    <a16:creationId xmlns:a16="http://schemas.microsoft.com/office/drawing/2014/main" id="{A24D9B21-FF5F-E3F1-D8A9-777E9FB65FB7}"/>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314" name="Groupe 313">
              <a:extLst>
                <a:ext uri="{FF2B5EF4-FFF2-40B4-BE49-F238E27FC236}">
                  <a16:creationId xmlns:a16="http://schemas.microsoft.com/office/drawing/2014/main" id="{9045E7FA-789E-454C-5FFB-3821735A72EF}"/>
                </a:ext>
              </a:extLst>
            </p:cNvPr>
            <p:cNvGrpSpPr/>
            <p:nvPr/>
          </p:nvGrpSpPr>
          <p:grpSpPr>
            <a:xfrm>
              <a:off x="9006906" y="1997814"/>
              <a:ext cx="582779" cy="3371347"/>
              <a:chOff x="4327736" y="1771722"/>
              <a:chExt cx="1754416" cy="1735486"/>
            </a:xfrm>
            <a:solidFill>
              <a:srgbClr val="FF9999"/>
            </a:solidFill>
          </p:grpSpPr>
          <p:sp>
            <p:nvSpPr>
              <p:cNvPr id="315" name="Flèche : haut 314">
                <a:extLst>
                  <a:ext uri="{FF2B5EF4-FFF2-40B4-BE49-F238E27FC236}">
                    <a16:creationId xmlns:a16="http://schemas.microsoft.com/office/drawing/2014/main" id="{BEC209CD-0932-C3BB-513E-FC2C4533A26F}"/>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316" name="Flèche : bas 315">
                <a:extLst>
                  <a:ext uri="{FF2B5EF4-FFF2-40B4-BE49-F238E27FC236}">
                    <a16:creationId xmlns:a16="http://schemas.microsoft.com/office/drawing/2014/main" id="{409CB33E-8F21-25EF-EDD9-1E8E67600009}"/>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grpSp>
        <p:nvGrpSpPr>
          <p:cNvPr id="6" name="Groupe 5">
            <a:extLst>
              <a:ext uri="{FF2B5EF4-FFF2-40B4-BE49-F238E27FC236}">
                <a16:creationId xmlns:a16="http://schemas.microsoft.com/office/drawing/2014/main" id="{9F29A1D7-5084-24A2-2F3D-A64AC7A1A38E}"/>
              </a:ext>
            </a:extLst>
          </p:cNvPr>
          <p:cNvGrpSpPr/>
          <p:nvPr/>
        </p:nvGrpSpPr>
        <p:grpSpPr>
          <a:xfrm>
            <a:off x="4057302" y="1961910"/>
            <a:ext cx="3012706" cy="659469"/>
            <a:chOff x="473444" y="2522195"/>
            <a:chExt cx="11245112" cy="2461510"/>
          </a:xfrm>
        </p:grpSpPr>
        <p:sp>
          <p:nvSpPr>
            <p:cNvPr id="322" name="Phylactère : pensées 321">
              <a:extLst>
                <a:ext uri="{FF2B5EF4-FFF2-40B4-BE49-F238E27FC236}">
                  <a16:creationId xmlns:a16="http://schemas.microsoft.com/office/drawing/2014/main" id="{76AB5443-CE5F-8D8C-6941-7F88784805E8}"/>
                </a:ext>
              </a:extLst>
            </p:cNvPr>
            <p:cNvSpPr/>
            <p:nvPr/>
          </p:nvSpPr>
          <p:spPr>
            <a:xfrm>
              <a:off x="473444" y="3347852"/>
              <a:ext cx="2768367" cy="1635853"/>
            </a:xfrm>
            <a:prstGeom prst="cloudCallout">
              <a:avLst>
                <a:gd name="adj1" fmla="val -24772"/>
                <a:gd name="adj2" fmla="val 45064"/>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23" name="Parchemin : horizontal 322">
              <a:extLst>
                <a:ext uri="{FF2B5EF4-FFF2-40B4-BE49-F238E27FC236}">
                  <a16:creationId xmlns:a16="http://schemas.microsoft.com/office/drawing/2014/main" id="{E1EB5247-25BC-3A6C-3FC7-DCAC89ACE27F}"/>
                </a:ext>
              </a:extLst>
            </p:cNvPr>
            <p:cNvSpPr/>
            <p:nvPr/>
          </p:nvSpPr>
          <p:spPr>
            <a:xfrm>
              <a:off x="4749280" y="3280707"/>
              <a:ext cx="2684477" cy="1539904"/>
            </a:xfrm>
            <a:prstGeom prst="horizontalScroll">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24" name="Bulle narrative : ronde 323">
              <a:extLst>
                <a:ext uri="{FF2B5EF4-FFF2-40B4-BE49-F238E27FC236}">
                  <a16:creationId xmlns:a16="http://schemas.microsoft.com/office/drawing/2014/main" id="{D99E565A-2166-52B7-524F-6E70BD2C4029}"/>
                </a:ext>
              </a:extLst>
            </p:cNvPr>
            <p:cNvSpPr/>
            <p:nvPr/>
          </p:nvSpPr>
          <p:spPr>
            <a:xfrm>
              <a:off x="9377416" y="3280707"/>
              <a:ext cx="2341140" cy="1446227"/>
            </a:xfrm>
            <a:prstGeom prst="wedgeEllipseCallout">
              <a:avLst>
                <a:gd name="adj1" fmla="val -57504"/>
                <a:gd name="adj2" fmla="val 4861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25" name="Flèche : double flèche horizontale 324">
              <a:extLst>
                <a:ext uri="{FF2B5EF4-FFF2-40B4-BE49-F238E27FC236}">
                  <a16:creationId xmlns:a16="http://schemas.microsoft.com/office/drawing/2014/main" id="{E42F36E9-34BB-C325-EE53-9769B757340C}"/>
                </a:ext>
              </a:extLst>
            </p:cNvPr>
            <p:cNvSpPr/>
            <p:nvPr/>
          </p:nvSpPr>
          <p:spPr>
            <a:xfrm>
              <a:off x="2662079" y="3773987"/>
              <a:ext cx="2448000" cy="675508"/>
            </a:xfrm>
            <a:prstGeom prst="leftRight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solidFill>
                  <a:schemeClr val="tx1"/>
                </a:solidFill>
              </a:endParaRPr>
            </a:p>
          </p:txBody>
        </p:sp>
        <p:sp>
          <p:nvSpPr>
            <p:cNvPr id="326" name="Flèche : double flèche horizontale 325">
              <a:extLst>
                <a:ext uri="{FF2B5EF4-FFF2-40B4-BE49-F238E27FC236}">
                  <a16:creationId xmlns:a16="http://schemas.microsoft.com/office/drawing/2014/main" id="{50AB2BB3-C029-3806-EA4C-1102AEBE978C}"/>
                </a:ext>
              </a:extLst>
            </p:cNvPr>
            <p:cNvSpPr/>
            <p:nvPr/>
          </p:nvSpPr>
          <p:spPr>
            <a:xfrm>
              <a:off x="7208048" y="3546659"/>
              <a:ext cx="2684476" cy="1008000"/>
            </a:xfrm>
            <a:prstGeom prst="leftRightArrow">
              <a:avLst/>
            </a:prstGeom>
            <a:solidFill>
              <a:srgbClr val="FF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solidFill>
                  <a:schemeClr val="tx1"/>
                </a:solidFill>
              </a:endParaRPr>
            </a:p>
          </p:txBody>
        </p:sp>
        <p:pic>
          <p:nvPicPr>
            <p:cNvPr id="327" name="Graphique 326" descr="Actualiser avec un remplissage uni">
              <a:extLst>
                <a:ext uri="{FF2B5EF4-FFF2-40B4-BE49-F238E27FC236}">
                  <a16:creationId xmlns:a16="http://schemas.microsoft.com/office/drawing/2014/main" id="{4315283B-AF41-FC31-938A-F359F92D0E2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6200000">
              <a:off x="1160274" y="2664011"/>
              <a:ext cx="1233391" cy="1233391"/>
            </a:xfrm>
            <a:prstGeom prst="rect">
              <a:avLst/>
            </a:prstGeom>
          </p:spPr>
        </p:pic>
        <p:pic>
          <p:nvPicPr>
            <p:cNvPr id="328" name="Graphique 327" descr="Actualiser avec un remplissage uni">
              <a:extLst>
                <a:ext uri="{FF2B5EF4-FFF2-40B4-BE49-F238E27FC236}">
                  <a16:creationId xmlns:a16="http://schemas.microsoft.com/office/drawing/2014/main" id="{EA62AEEA-04A7-A1CA-72B9-116CD972DEE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6200000">
              <a:off x="5470877" y="2664011"/>
              <a:ext cx="1233391" cy="1233391"/>
            </a:xfrm>
            <a:prstGeom prst="rect">
              <a:avLst/>
            </a:prstGeom>
          </p:spPr>
        </p:pic>
        <p:pic>
          <p:nvPicPr>
            <p:cNvPr id="329" name="Graphique 328" descr="Actualiser avec un remplissage uni">
              <a:extLst>
                <a:ext uri="{FF2B5EF4-FFF2-40B4-BE49-F238E27FC236}">
                  <a16:creationId xmlns:a16="http://schemas.microsoft.com/office/drawing/2014/main" id="{AE26F698-89E7-16DC-D598-1AC899B4255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6200000">
              <a:off x="9697590" y="2522195"/>
              <a:ext cx="1233391" cy="1233391"/>
            </a:xfrm>
            <a:prstGeom prst="rect">
              <a:avLst/>
            </a:prstGeom>
          </p:spPr>
        </p:pic>
      </p:grpSp>
      <p:graphicFrame>
        <p:nvGraphicFramePr>
          <p:cNvPr id="330" name="Tableau 4">
            <a:extLst>
              <a:ext uri="{FF2B5EF4-FFF2-40B4-BE49-F238E27FC236}">
                <a16:creationId xmlns:a16="http://schemas.microsoft.com/office/drawing/2014/main" id="{0F851508-A73F-45FC-9EFF-9F823B555EE3}"/>
              </a:ext>
            </a:extLst>
          </p:cNvPr>
          <p:cNvGraphicFramePr>
            <a:graphicFrameLocks noGrp="1"/>
          </p:cNvGraphicFramePr>
          <p:nvPr>
            <p:extLst>
              <p:ext uri="{D42A27DB-BD31-4B8C-83A1-F6EECF244321}">
                <p14:modId xmlns:p14="http://schemas.microsoft.com/office/powerpoint/2010/main" val="2438099182"/>
              </p:ext>
            </p:extLst>
          </p:nvPr>
        </p:nvGraphicFramePr>
        <p:xfrm>
          <a:off x="8367384" y="2015187"/>
          <a:ext cx="2994150" cy="849097"/>
        </p:xfrm>
        <a:graphic>
          <a:graphicData uri="http://schemas.openxmlformats.org/drawingml/2006/table">
            <a:tbl>
              <a:tblPr>
                <a:tableStyleId>{5C22544A-7EE6-4342-B048-85BDC9FD1C3A}</a:tableStyleId>
              </a:tblPr>
              <a:tblGrid>
                <a:gridCol w="998050">
                  <a:extLst>
                    <a:ext uri="{9D8B030D-6E8A-4147-A177-3AD203B41FA5}">
                      <a16:colId xmlns:a16="http://schemas.microsoft.com/office/drawing/2014/main" val="1036471690"/>
                    </a:ext>
                  </a:extLst>
                </a:gridCol>
                <a:gridCol w="998050">
                  <a:extLst>
                    <a:ext uri="{9D8B030D-6E8A-4147-A177-3AD203B41FA5}">
                      <a16:colId xmlns:a16="http://schemas.microsoft.com/office/drawing/2014/main" val="335043735"/>
                    </a:ext>
                  </a:extLst>
                </a:gridCol>
                <a:gridCol w="998050">
                  <a:extLst>
                    <a:ext uri="{9D8B030D-6E8A-4147-A177-3AD203B41FA5}">
                      <a16:colId xmlns:a16="http://schemas.microsoft.com/office/drawing/2014/main" val="2316145449"/>
                    </a:ext>
                  </a:extLst>
                </a:gridCol>
              </a:tblGrid>
              <a:tr h="301899">
                <a:tc gridSpan="3">
                  <a:txBody>
                    <a:bodyPr/>
                    <a:lstStyle/>
                    <a:p>
                      <a:pPr algn="ctr"/>
                      <a:endParaRPr lang="fr-FR" sz="200" i="1" dirty="0"/>
                    </a:p>
                    <a:p>
                      <a:pPr algn="ctr"/>
                      <a:endParaRPr lang="fr-FR" sz="200" i="1" dirty="0"/>
                    </a:p>
                  </a:txBody>
                  <a:tcPr marL="39946" marR="39946" marT="19973" marB="19973">
                    <a:solidFill>
                      <a:schemeClr val="bg1"/>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275226672"/>
                  </a:ext>
                </a:extLst>
              </a:tr>
              <a:tr h="273599">
                <a:tc>
                  <a:txBody>
                    <a:bodyPr/>
                    <a:lstStyle/>
                    <a:p>
                      <a:pPr marL="0" indent="0">
                        <a:buNone/>
                      </a:pPr>
                      <a:endParaRPr lang="fr-FR" sz="200" b="1" i="1" dirty="0"/>
                    </a:p>
                  </a:txBody>
                  <a:tcPr marL="25603" marR="25603" marT="12802" marB="12802">
                    <a:solidFill>
                      <a:schemeClr val="bg1">
                        <a:lumMod val="85000"/>
                      </a:schemeClr>
                    </a:solidFill>
                  </a:tcPr>
                </a:tc>
                <a:tc>
                  <a:txBody>
                    <a:bodyPr/>
                    <a:lstStyle/>
                    <a:p>
                      <a:endParaRPr lang="fr-FR" sz="200" i="1" dirty="0"/>
                    </a:p>
                  </a:txBody>
                  <a:tcPr marL="25603" marR="25603" marT="12802" marB="12802">
                    <a:solidFill>
                      <a:schemeClr val="accent1">
                        <a:lumMod val="40000"/>
                        <a:lumOff val="60000"/>
                      </a:schemeClr>
                    </a:solidFill>
                  </a:tcPr>
                </a:tc>
                <a:tc>
                  <a:txBody>
                    <a:bodyPr/>
                    <a:lstStyle/>
                    <a:p>
                      <a:endParaRPr lang="fr-FR" sz="200" i="1" dirty="0"/>
                    </a:p>
                  </a:txBody>
                  <a:tcPr marL="25603" marR="25603" marT="12802" marB="12802">
                    <a:solidFill>
                      <a:schemeClr val="accent2">
                        <a:lumMod val="40000"/>
                        <a:lumOff val="60000"/>
                      </a:schemeClr>
                    </a:solidFill>
                  </a:tcPr>
                </a:tc>
                <a:extLst>
                  <a:ext uri="{0D108BD9-81ED-4DB2-BD59-A6C34878D82A}">
                    <a16:rowId xmlns:a16="http://schemas.microsoft.com/office/drawing/2014/main" val="1833810210"/>
                  </a:ext>
                </a:extLst>
              </a:tr>
              <a:tr h="273599">
                <a:tc>
                  <a:txBody>
                    <a:bodyPr/>
                    <a:lstStyle/>
                    <a:p>
                      <a:endParaRPr lang="fr-FR" sz="200" i="1" dirty="0"/>
                    </a:p>
                  </a:txBody>
                  <a:tcPr marL="25603" marR="25603" marT="12802" marB="12802">
                    <a:solidFill>
                      <a:schemeClr val="bg1">
                        <a:lumMod val="85000"/>
                      </a:schemeClr>
                    </a:solidFill>
                  </a:tcPr>
                </a:tc>
                <a:tc>
                  <a:txBody>
                    <a:bodyPr/>
                    <a:lstStyle/>
                    <a:p>
                      <a:endParaRPr lang="fr-FR" sz="200" i="1" dirty="0"/>
                    </a:p>
                  </a:txBody>
                  <a:tcPr marL="25603" marR="25603" marT="12802" marB="12802">
                    <a:solidFill>
                      <a:schemeClr val="accent1">
                        <a:lumMod val="40000"/>
                        <a:lumOff val="60000"/>
                      </a:schemeClr>
                    </a:solidFill>
                  </a:tcPr>
                </a:tc>
                <a:tc>
                  <a:txBody>
                    <a:bodyPr/>
                    <a:lstStyle/>
                    <a:p>
                      <a:endParaRPr lang="fr-FR" sz="200" i="1" dirty="0"/>
                    </a:p>
                  </a:txBody>
                  <a:tcPr marL="25603" marR="25603" marT="12802" marB="12802">
                    <a:solidFill>
                      <a:schemeClr val="accent2">
                        <a:lumMod val="40000"/>
                        <a:lumOff val="60000"/>
                      </a:schemeClr>
                    </a:solidFill>
                  </a:tcPr>
                </a:tc>
                <a:extLst>
                  <a:ext uri="{0D108BD9-81ED-4DB2-BD59-A6C34878D82A}">
                    <a16:rowId xmlns:a16="http://schemas.microsoft.com/office/drawing/2014/main" val="4266428415"/>
                  </a:ext>
                </a:extLst>
              </a:tr>
            </a:tbl>
          </a:graphicData>
        </a:graphic>
      </p:graphicFrame>
      <p:grpSp>
        <p:nvGrpSpPr>
          <p:cNvPr id="7" name="Groupe 6">
            <a:extLst>
              <a:ext uri="{FF2B5EF4-FFF2-40B4-BE49-F238E27FC236}">
                <a16:creationId xmlns:a16="http://schemas.microsoft.com/office/drawing/2014/main" id="{DF82A713-F6F4-78D8-1FE8-6FB495DB0E74}"/>
              </a:ext>
            </a:extLst>
          </p:cNvPr>
          <p:cNvGrpSpPr/>
          <p:nvPr/>
        </p:nvGrpSpPr>
        <p:grpSpPr>
          <a:xfrm>
            <a:off x="8168107" y="1673252"/>
            <a:ext cx="3393515" cy="1507845"/>
            <a:chOff x="417601" y="4116387"/>
            <a:chExt cx="12050372" cy="5354358"/>
          </a:xfrm>
        </p:grpSpPr>
        <p:sp>
          <p:nvSpPr>
            <p:cNvPr id="331" name="Parchemin : horizontal 330">
              <a:extLst>
                <a:ext uri="{FF2B5EF4-FFF2-40B4-BE49-F238E27FC236}">
                  <a16:creationId xmlns:a16="http://schemas.microsoft.com/office/drawing/2014/main" id="{0715F1C4-9930-8931-16A8-92EF57668821}"/>
                </a:ext>
              </a:extLst>
            </p:cNvPr>
            <p:cNvSpPr/>
            <p:nvPr/>
          </p:nvSpPr>
          <p:spPr>
            <a:xfrm rot="5400000">
              <a:off x="3765608" y="768380"/>
              <a:ext cx="5354358" cy="12050372"/>
            </a:xfrm>
            <a:prstGeom prst="horizontalScroll">
              <a:avLst/>
            </a:prstGeom>
            <a:noFill/>
            <a:ln w="28575">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t"/>
            <a:lstStyle/>
            <a:p>
              <a:pPr algn="ctr"/>
              <a:endParaRPr lang="fr-FR" sz="1200" dirty="0">
                <a:solidFill>
                  <a:schemeClr val="tx1"/>
                </a:solidFill>
              </a:endParaRPr>
            </a:p>
          </p:txBody>
        </p:sp>
        <p:pic>
          <p:nvPicPr>
            <p:cNvPr id="332" name="Graphique 331" descr="Bâtiment avec un remplissage uni">
              <a:extLst>
                <a:ext uri="{FF2B5EF4-FFF2-40B4-BE49-F238E27FC236}">
                  <a16:creationId xmlns:a16="http://schemas.microsoft.com/office/drawing/2014/main" id="{27BB43C8-E0A2-FEB1-53A1-A7DF8B11BB3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422075" y="8674586"/>
              <a:ext cx="556284" cy="556284"/>
            </a:xfrm>
            <a:prstGeom prst="rect">
              <a:avLst/>
            </a:prstGeom>
          </p:spPr>
        </p:pic>
        <p:grpSp>
          <p:nvGrpSpPr>
            <p:cNvPr id="333" name="Groupe 332">
              <a:extLst>
                <a:ext uri="{FF2B5EF4-FFF2-40B4-BE49-F238E27FC236}">
                  <a16:creationId xmlns:a16="http://schemas.microsoft.com/office/drawing/2014/main" id="{FDC0F13B-FC4F-10A3-D7A3-5C6071A4317F}"/>
                </a:ext>
              </a:extLst>
            </p:cNvPr>
            <p:cNvGrpSpPr/>
            <p:nvPr/>
          </p:nvGrpSpPr>
          <p:grpSpPr>
            <a:xfrm>
              <a:off x="8334381" y="8641546"/>
              <a:ext cx="701977" cy="570004"/>
              <a:chOff x="8982504" y="3274976"/>
              <a:chExt cx="1230670" cy="1037553"/>
            </a:xfrm>
            <a:solidFill>
              <a:srgbClr val="ED7D31"/>
            </a:solidFill>
          </p:grpSpPr>
          <p:pic>
            <p:nvPicPr>
              <p:cNvPr id="334" name="Graphique 333" descr="Utilisateur avec un remplissage uni">
                <a:extLst>
                  <a:ext uri="{FF2B5EF4-FFF2-40B4-BE49-F238E27FC236}">
                    <a16:creationId xmlns:a16="http://schemas.microsoft.com/office/drawing/2014/main" id="{367BA76E-109B-650C-7D8B-EE0776970E7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335" name="Graphique 334" descr="Utilisateur avec un remplissage uni">
                <a:extLst>
                  <a:ext uri="{FF2B5EF4-FFF2-40B4-BE49-F238E27FC236}">
                    <a16:creationId xmlns:a16="http://schemas.microsoft.com/office/drawing/2014/main" id="{68897903-2808-5C0B-BA5E-0CB7FAD9BA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336" name="Graphique 335" descr="Utilisateur avec un remplissage uni">
                <a:extLst>
                  <a:ext uri="{FF2B5EF4-FFF2-40B4-BE49-F238E27FC236}">
                    <a16:creationId xmlns:a16="http://schemas.microsoft.com/office/drawing/2014/main" id="{4EE53325-481B-705D-A522-A7EBC8736E7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337" name="Graphique 336" descr="Utilisateur avec un remplissage uni">
                <a:extLst>
                  <a:ext uri="{FF2B5EF4-FFF2-40B4-BE49-F238E27FC236}">
                    <a16:creationId xmlns:a16="http://schemas.microsoft.com/office/drawing/2014/main" id="{29CBA79A-F7E1-3F51-1BC3-08959457E6B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338" name="Graphique 337" descr="Utilisateur avec un remplissage uni">
                <a:extLst>
                  <a:ext uri="{FF2B5EF4-FFF2-40B4-BE49-F238E27FC236}">
                    <a16:creationId xmlns:a16="http://schemas.microsoft.com/office/drawing/2014/main" id="{2C81DEAD-7AC5-50C2-A703-B822F5B7EC8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339" name="Graphique 338" descr="Utilisateur avec un remplissage uni">
                <a:extLst>
                  <a:ext uri="{FF2B5EF4-FFF2-40B4-BE49-F238E27FC236}">
                    <a16:creationId xmlns:a16="http://schemas.microsoft.com/office/drawing/2014/main" id="{67DD5112-4ACA-7BA1-B783-614DB5A97D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340" name="Graphique 339" descr="Utilisateur avec un remplissage uni">
                <a:extLst>
                  <a:ext uri="{FF2B5EF4-FFF2-40B4-BE49-F238E27FC236}">
                    <a16:creationId xmlns:a16="http://schemas.microsoft.com/office/drawing/2014/main" id="{763853EE-7A4B-9648-34A4-89F0E2FEB7A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341" name="Graphique 340" descr="Utilisateur avec un remplissage uni">
                <a:extLst>
                  <a:ext uri="{FF2B5EF4-FFF2-40B4-BE49-F238E27FC236}">
                    <a16:creationId xmlns:a16="http://schemas.microsoft.com/office/drawing/2014/main" id="{0F3F5CC5-78CA-D97C-171E-B6DFDA3A623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342" name="Graphique 341" descr="Utilisateur avec un remplissage uni">
                <a:extLst>
                  <a:ext uri="{FF2B5EF4-FFF2-40B4-BE49-F238E27FC236}">
                    <a16:creationId xmlns:a16="http://schemas.microsoft.com/office/drawing/2014/main" id="{4DBBB104-DA5F-C8B6-78D4-48B33B2DF99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343" name="Graphique 342" descr="Utilisateur avec un remplissage uni">
                <a:extLst>
                  <a:ext uri="{FF2B5EF4-FFF2-40B4-BE49-F238E27FC236}">
                    <a16:creationId xmlns:a16="http://schemas.microsoft.com/office/drawing/2014/main" id="{B5F9B7A8-06F1-06BD-166C-38990D28A9D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344" name="Graphique 343" descr="Utilisateur avec un remplissage uni">
                <a:extLst>
                  <a:ext uri="{FF2B5EF4-FFF2-40B4-BE49-F238E27FC236}">
                    <a16:creationId xmlns:a16="http://schemas.microsoft.com/office/drawing/2014/main" id="{6460E1A2-75C1-74F6-E8D1-81AFB33C983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345" name="Graphique 344" descr="Employée de bureau avec un remplissage uni">
              <a:extLst>
                <a:ext uri="{FF2B5EF4-FFF2-40B4-BE49-F238E27FC236}">
                  <a16:creationId xmlns:a16="http://schemas.microsoft.com/office/drawing/2014/main" id="{DD1DF8EE-C209-BD14-4DA8-E7F8E04CD0F8}"/>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4735311" y="8619961"/>
              <a:ext cx="647875" cy="647875"/>
            </a:xfrm>
            <a:prstGeom prst="rect">
              <a:avLst/>
            </a:prstGeom>
          </p:spPr>
        </p:pic>
        <p:sp>
          <p:nvSpPr>
            <p:cNvPr id="349" name="Rectangle 348">
              <a:extLst>
                <a:ext uri="{FF2B5EF4-FFF2-40B4-BE49-F238E27FC236}">
                  <a16:creationId xmlns:a16="http://schemas.microsoft.com/office/drawing/2014/main" id="{D1B1649E-97C0-6439-F27F-8F77FE3BD612}"/>
                </a:ext>
              </a:extLst>
            </p:cNvPr>
            <p:cNvSpPr/>
            <p:nvPr/>
          </p:nvSpPr>
          <p:spPr>
            <a:xfrm>
              <a:off x="1206060" y="6793566"/>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sp>
          <p:nvSpPr>
            <p:cNvPr id="350" name="Rectangle 349">
              <a:extLst>
                <a:ext uri="{FF2B5EF4-FFF2-40B4-BE49-F238E27FC236}">
                  <a16:creationId xmlns:a16="http://schemas.microsoft.com/office/drawing/2014/main" id="{F71FB28D-D441-B35E-D5E7-6DDEA9A90628}"/>
                </a:ext>
              </a:extLst>
            </p:cNvPr>
            <p:cNvSpPr/>
            <p:nvPr/>
          </p:nvSpPr>
          <p:spPr>
            <a:xfrm>
              <a:off x="4795397" y="6793566"/>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sp>
          <p:nvSpPr>
            <p:cNvPr id="351" name="Rectangle 350">
              <a:extLst>
                <a:ext uri="{FF2B5EF4-FFF2-40B4-BE49-F238E27FC236}">
                  <a16:creationId xmlns:a16="http://schemas.microsoft.com/office/drawing/2014/main" id="{330AF849-3605-61B0-59C0-3D89560039E0}"/>
                </a:ext>
              </a:extLst>
            </p:cNvPr>
            <p:cNvSpPr/>
            <p:nvPr/>
          </p:nvSpPr>
          <p:spPr>
            <a:xfrm>
              <a:off x="4795397" y="7766980"/>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sp>
          <p:nvSpPr>
            <p:cNvPr id="352" name="Rectangle 351">
              <a:extLst>
                <a:ext uri="{FF2B5EF4-FFF2-40B4-BE49-F238E27FC236}">
                  <a16:creationId xmlns:a16="http://schemas.microsoft.com/office/drawing/2014/main" id="{E47DC8D5-1F06-9ECB-7040-38AB74BE1D0C}"/>
                </a:ext>
              </a:extLst>
            </p:cNvPr>
            <p:cNvSpPr/>
            <p:nvPr/>
          </p:nvSpPr>
          <p:spPr>
            <a:xfrm>
              <a:off x="1206060" y="7752840"/>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ctr">
                <a:buFontTx/>
                <a:buChar char="-"/>
              </a:pPr>
              <a:endParaRPr lang="fr-FR" sz="1200" dirty="0"/>
            </a:p>
          </p:txBody>
        </p:sp>
        <p:sp>
          <p:nvSpPr>
            <p:cNvPr id="353" name="Rectangle 352">
              <a:extLst>
                <a:ext uri="{FF2B5EF4-FFF2-40B4-BE49-F238E27FC236}">
                  <a16:creationId xmlns:a16="http://schemas.microsoft.com/office/drawing/2014/main" id="{DB0A8A03-40DE-DABD-C8C4-FA91FC7605D3}"/>
                </a:ext>
              </a:extLst>
            </p:cNvPr>
            <p:cNvSpPr/>
            <p:nvPr/>
          </p:nvSpPr>
          <p:spPr>
            <a:xfrm>
              <a:off x="8334381" y="7769772"/>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ctr">
                <a:buFontTx/>
                <a:buChar char="-"/>
              </a:pPr>
              <a:endParaRPr lang="fr-FR" sz="1200" dirty="0"/>
            </a:p>
          </p:txBody>
        </p:sp>
        <p:sp>
          <p:nvSpPr>
            <p:cNvPr id="354" name="Rectangle 353">
              <a:extLst>
                <a:ext uri="{FF2B5EF4-FFF2-40B4-BE49-F238E27FC236}">
                  <a16:creationId xmlns:a16="http://schemas.microsoft.com/office/drawing/2014/main" id="{E49FADA8-3EA8-A69C-190D-6EBBD8EA527D}"/>
                </a:ext>
              </a:extLst>
            </p:cNvPr>
            <p:cNvSpPr/>
            <p:nvPr/>
          </p:nvSpPr>
          <p:spPr>
            <a:xfrm>
              <a:off x="8334381" y="6795160"/>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ctr">
                <a:buFontTx/>
                <a:buChar char="-"/>
              </a:pPr>
              <a:endParaRPr lang="fr-FR" sz="1200" dirty="0"/>
            </a:p>
          </p:txBody>
        </p:sp>
        <p:pic>
          <p:nvPicPr>
            <p:cNvPr id="355" name="Graphique 354" descr="Badge coche avec un remplissage uni">
              <a:extLst>
                <a:ext uri="{FF2B5EF4-FFF2-40B4-BE49-F238E27FC236}">
                  <a16:creationId xmlns:a16="http://schemas.microsoft.com/office/drawing/2014/main" id="{15A4907E-9E0B-5E20-F9C8-D62E237C3210}"/>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446944" y="8526588"/>
              <a:ext cx="914400" cy="914400"/>
            </a:xfrm>
            <a:prstGeom prst="rect">
              <a:avLst/>
            </a:prstGeom>
          </p:spPr>
        </p:pic>
        <p:pic>
          <p:nvPicPr>
            <p:cNvPr id="356" name="Graphique 355" descr="Signature avec un remplissage uni">
              <a:extLst>
                <a:ext uri="{FF2B5EF4-FFF2-40B4-BE49-F238E27FC236}">
                  <a16:creationId xmlns:a16="http://schemas.microsoft.com/office/drawing/2014/main" id="{CEFE44A3-43D1-136E-9AF0-2945BF375498}"/>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923953" y="8551382"/>
              <a:ext cx="914400" cy="914400"/>
            </a:xfrm>
            <a:prstGeom prst="rect">
              <a:avLst/>
            </a:prstGeom>
          </p:spPr>
        </p:pic>
        <p:pic>
          <p:nvPicPr>
            <p:cNvPr id="357" name="Graphique 356" descr="Signature avec un remplissage uni">
              <a:extLst>
                <a:ext uri="{FF2B5EF4-FFF2-40B4-BE49-F238E27FC236}">
                  <a16:creationId xmlns:a16="http://schemas.microsoft.com/office/drawing/2014/main" id="{0534F2DC-5FCA-5D18-3176-AE9D59064A0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756595" y="8526588"/>
              <a:ext cx="914400" cy="914400"/>
            </a:xfrm>
            <a:prstGeom prst="rect">
              <a:avLst/>
            </a:prstGeom>
          </p:spPr>
        </p:pic>
        <p:sp>
          <p:nvSpPr>
            <p:cNvPr id="358" name="Rectangle 357">
              <a:extLst>
                <a:ext uri="{FF2B5EF4-FFF2-40B4-BE49-F238E27FC236}">
                  <a16:creationId xmlns:a16="http://schemas.microsoft.com/office/drawing/2014/main" id="{3C2C5B22-6373-6313-77AB-D661C119AF71}"/>
                </a:ext>
              </a:extLst>
            </p:cNvPr>
            <p:cNvSpPr/>
            <p:nvPr/>
          </p:nvSpPr>
          <p:spPr>
            <a:xfrm>
              <a:off x="3053909" y="5779593"/>
              <a:ext cx="6610350"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grpSp>
      <p:sp>
        <p:nvSpPr>
          <p:cNvPr id="3" name="ZoneTexte 2">
            <a:extLst>
              <a:ext uri="{FF2B5EF4-FFF2-40B4-BE49-F238E27FC236}">
                <a16:creationId xmlns:a16="http://schemas.microsoft.com/office/drawing/2014/main" id="{C3D8F609-C592-DE87-8574-880DB7110DBA}"/>
              </a:ext>
            </a:extLst>
          </p:cNvPr>
          <p:cNvSpPr txBox="1"/>
          <p:nvPr/>
        </p:nvSpPr>
        <p:spPr>
          <a:xfrm>
            <a:off x="1096188" y="4215479"/>
            <a:ext cx="2675712" cy="2308324"/>
          </a:xfrm>
          <a:prstGeom prst="rect">
            <a:avLst/>
          </a:prstGeom>
          <a:noFill/>
        </p:spPr>
        <p:txBody>
          <a:bodyPr wrap="square">
            <a:spAutoFit/>
          </a:bodyPr>
          <a:lstStyle/>
          <a:p>
            <a:r>
              <a:rPr lang="fr-FR" dirty="0"/>
              <a:t>Des </a:t>
            </a:r>
            <a:r>
              <a:rPr lang="fr-FR" b="1" dirty="0">
                <a:solidFill>
                  <a:srgbClr val="ED7D31"/>
                </a:solidFill>
              </a:rPr>
              <a:t>tensions</a:t>
            </a:r>
            <a:r>
              <a:rPr lang="fr-FR" dirty="0"/>
              <a:t> peuvent exister entre les sponsors, l’entreprise, les membres lorsque chacun fait pression sur l’autre (ou les autres) pour qu’ils s’ajustent vers une situation idéale pour soi.</a:t>
            </a:r>
          </a:p>
        </p:txBody>
      </p:sp>
      <p:sp>
        <p:nvSpPr>
          <p:cNvPr id="4" name="ZoneTexte 3">
            <a:extLst>
              <a:ext uri="{FF2B5EF4-FFF2-40B4-BE49-F238E27FC236}">
                <a16:creationId xmlns:a16="http://schemas.microsoft.com/office/drawing/2014/main" id="{3A3872A1-A65B-B2E6-50CA-8223E40C2EB3}"/>
              </a:ext>
            </a:extLst>
          </p:cNvPr>
          <p:cNvSpPr txBox="1"/>
          <p:nvPr/>
        </p:nvSpPr>
        <p:spPr>
          <a:xfrm>
            <a:off x="5095120" y="4215479"/>
            <a:ext cx="2675712" cy="2308324"/>
          </a:xfrm>
          <a:prstGeom prst="rect">
            <a:avLst/>
          </a:prstGeom>
          <a:noFill/>
        </p:spPr>
        <p:txBody>
          <a:bodyPr wrap="square">
            <a:spAutoFit/>
          </a:bodyPr>
          <a:lstStyle/>
          <a:p>
            <a:r>
              <a:rPr lang="fr-FR" dirty="0"/>
              <a:t>Les sources des tensions peuvent être des </a:t>
            </a:r>
            <a:r>
              <a:rPr lang="fr-FR" b="1" dirty="0"/>
              <a:t>désalignements</a:t>
            </a:r>
            <a:r>
              <a:rPr lang="fr-FR" dirty="0"/>
              <a:t> entre ce qui est attendu, ce qui est officiel, ce qui est effectif, ou entre personnes à l’intérieur de ces catégories.</a:t>
            </a:r>
          </a:p>
        </p:txBody>
      </p:sp>
      <p:sp>
        <p:nvSpPr>
          <p:cNvPr id="5" name="ZoneTexte 4">
            <a:extLst>
              <a:ext uri="{FF2B5EF4-FFF2-40B4-BE49-F238E27FC236}">
                <a16:creationId xmlns:a16="http://schemas.microsoft.com/office/drawing/2014/main" id="{568B90B2-5016-9B52-A791-28AA45F6EFEA}"/>
              </a:ext>
            </a:extLst>
          </p:cNvPr>
          <p:cNvSpPr txBox="1"/>
          <p:nvPr/>
        </p:nvSpPr>
        <p:spPr>
          <a:xfrm>
            <a:off x="9120693" y="4215479"/>
            <a:ext cx="2842707" cy="2308324"/>
          </a:xfrm>
          <a:prstGeom prst="rect">
            <a:avLst/>
          </a:prstGeom>
          <a:noFill/>
        </p:spPr>
        <p:txBody>
          <a:bodyPr wrap="square">
            <a:spAutoFit/>
          </a:bodyPr>
          <a:lstStyle/>
          <a:p>
            <a:r>
              <a:rPr lang="fr-FR" dirty="0"/>
              <a:t>Pour réduire certaines tensions et établir de bonnes relations entre parties, on peut établir un </a:t>
            </a:r>
            <a:r>
              <a:rPr lang="fr-FR" b="1" dirty="0">
                <a:solidFill>
                  <a:srgbClr val="3494BA"/>
                </a:solidFill>
              </a:rPr>
              <a:t>contrat moral de la Communauté</a:t>
            </a:r>
            <a:r>
              <a:rPr lang="fr-FR" dirty="0"/>
              <a:t>, faisant intervenir </a:t>
            </a:r>
            <a:r>
              <a:rPr lang="fr-FR" b="1" dirty="0">
                <a:solidFill>
                  <a:srgbClr val="ED7D31"/>
                </a:solidFill>
              </a:rPr>
              <a:t>membres, sponsor et entreprise</a:t>
            </a:r>
            <a:r>
              <a:rPr lang="fr-FR" dirty="0"/>
              <a:t>.</a:t>
            </a:r>
          </a:p>
        </p:txBody>
      </p:sp>
      <p:sp>
        <p:nvSpPr>
          <p:cNvPr id="8" name="Organigramme : Connecteur 7">
            <a:extLst>
              <a:ext uri="{FF2B5EF4-FFF2-40B4-BE49-F238E27FC236}">
                <a16:creationId xmlns:a16="http://schemas.microsoft.com/office/drawing/2014/main" id="{77D2B7BA-6E3C-D4CF-7E07-E7913DE9B74F}"/>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31</a:t>
            </a:r>
          </a:p>
        </p:txBody>
      </p:sp>
      <p:sp>
        <p:nvSpPr>
          <p:cNvPr id="9" name="Organigramme : Connecteur 8">
            <a:extLst>
              <a:ext uri="{FF2B5EF4-FFF2-40B4-BE49-F238E27FC236}">
                <a16:creationId xmlns:a16="http://schemas.microsoft.com/office/drawing/2014/main" id="{8B01EC93-73FD-EE62-FD2E-6EE859E13DB7}"/>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32</a:t>
            </a:r>
          </a:p>
        </p:txBody>
      </p:sp>
      <p:sp>
        <p:nvSpPr>
          <p:cNvPr id="10" name="Organigramme : Connecteur 9">
            <a:extLst>
              <a:ext uri="{FF2B5EF4-FFF2-40B4-BE49-F238E27FC236}">
                <a16:creationId xmlns:a16="http://schemas.microsoft.com/office/drawing/2014/main" id="{84AB6F97-9012-9495-2DBD-B3FB9DD3145B}"/>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33</a:t>
            </a:r>
          </a:p>
        </p:txBody>
      </p:sp>
    </p:spTree>
    <p:extLst>
      <p:ext uri="{BB962C8B-B14F-4D97-AF65-F5344CB8AC3E}">
        <p14:creationId xmlns:p14="http://schemas.microsoft.com/office/powerpoint/2010/main" val="1763972702"/>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Titre 1">
            <a:extLst>
              <a:ext uri="{FF2B5EF4-FFF2-40B4-BE49-F238E27FC236}">
                <a16:creationId xmlns:a16="http://schemas.microsoft.com/office/drawing/2014/main" id="{E1AF4623-852E-CEA8-8138-94B34C366FD1}"/>
              </a:ext>
            </a:extLst>
          </p:cNvPr>
          <p:cNvSpPr>
            <a:spLocks noGrp="1"/>
          </p:cNvSpPr>
          <p:nvPr>
            <p:ph type="title"/>
          </p:nvPr>
        </p:nvSpPr>
        <p:spPr>
          <a:xfrm>
            <a:off x="838200" y="365125"/>
            <a:ext cx="10515600" cy="1325563"/>
          </a:xfrm>
        </p:spPr>
        <p:txBody>
          <a:bodyPr/>
          <a:lstStyle/>
          <a:p>
            <a:r>
              <a:rPr lang="fr-FR" dirty="0"/>
              <a:t>Résumé, une phrase par image</a:t>
            </a:r>
          </a:p>
        </p:txBody>
      </p:sp>
      <p:grpSp>
        <p:nvGrpSpPr>
          <p:cNvPr id="3" name="Groupe 2">
            <a:extLst>
              <a:ext uri="{FF2B5EF4-FFF2-40B4-BE49-F238E27FC236}">
                <a16:creationId xmlns:a16="http://schemas.microsoft.com/office/drawing/2014/main" id="{C5950011-6565-3C5D-5B16-29D9AF491DBC}"/>
              </a:ext>
            </a:extLst>
          </p:cNvPr>
          <p:cNvGrpSpPr/>
          <p:nvPr/>
        </p:nvGrpSpPr>
        <p:grpSpPr>
          <a:xfrm>
            <a:off x="376374" y="2291780"/>
            <a:ext cx="2260361" cy="1100602"/>
            <a:chOff x="4730605" y="2035916"/>
            <a:chExt cx="7039597" cy="3427680"/>
          </a:xfrm>
        </p:grpSpPr>
        <p:pic>
          <p:nvPicPr>
            <p:cNvPr id="83" name="Image 82">
              <a:extLst>
                <a:ext uri="{FF2B5EF4-FFF2-40B4-BE49-F238E27FC236}">
                  <a16:creationId xmlns:a16="http://schemas.microsoft.com/office/drawing/2014/main" id="{085EE431-2234-BB9F-0177-607E33BAA4C4}"/>
                </a:ext>
              </a:extLst>
            </p:cNvPr>
            <p:cNvPicPr>
              <a:picLocks noChangeAspect="1"/>
            </p:cNvPicPr>
            <p:nvPr/>
          </p:nvPicPr>
          <p:blipFill>
            <a:blip r:embed="rId2">
              <a:extLst>
                <a:ext uri="{BEBA8EAE-BF5A-486C-A8C5-ECC9F3942E4B}">
                  <a14:imgProps xmlns:a14="http://schemas.microsoft.com/office/drawing/2010/main">
                    <a14:imgLayer r:embed="rId3">
                      <a14:imgEffect>
                        <a14:artisticBlur radius="50"/>
                      </a14:imgEffect>
                    </a14:imgLayer>
                  </a14:imgProps>
                </a:ext>
                <a:ext uri="{28A0092B-C50C-407E-A947-70E740481C1C}">
                  <a14:useLocalDpi xmlns:a14="http://schemas.microsoft.com/office/drawing/2010/main" val="0"/>
                </a:ext>
              </a:extLst>
            </a:blip>
            <a:stretch>
              <a:fillRect/>
            </a:stretch>
          </p:blipFill>
          <p:spPr>
            <a:xfrm>
              <a:off x="5038541" y="2035916"/>
              <a:ext cx="2153017" cy="1947968"/>
            </a:xfrm>
            <a:prstGeom prst="rect">
              <a:avLst/>
            </a:prstGeom>
          </p:spPr>
        </p:pic>
        <p:pic>
          <p:nvPicPr>
            <p:cNvPr id="84" name="Image 83">
              <a:extLst>
                <a:ext uri="{FF2B5EF4-FFF2-40B4-BE49-F238E27FC236}">
                  <a16:creationId xmlns:a16="http://schemas.microsoft.com/office/drawing/2014/main" id="{643EBF16-4217-EC0D-6D86-7FE52115EF0F}"/>
                </a:ext>
              </a:extLst>
            </p:cNvPr>
            <p:cNvPicPr>
              <a:picLocks noChangeAspect="1"/>
            </p:cNvPicPr>
            <p:nvPr/>
          </p:nvPicPr>
          <p:blipFill>
            <a:blip r:embed="rId4">
              <a:extLst>
                <a:ext uri="{BEBA8EAE-BF5A-486C-A8C5-ECC9F3942E4B}">
                  <a14:imgProps xmlns:a14="http://schemas.microsoft.com/office/drawing/2010/main">
                    <a14:imgLayer r:embed="rId3">
                      <a14:imgEffect>
                        <a14:artisticBlur radius="25"/>
                      </a14:imgEffect>
                    </a14:imgLayer>
                  </a14:imgProps>
                </a:ext>
                <a:ext uri="{28A0092B-C50C-407E-A947-70E740481C1C}">
                  <a14:useLocalDpi xmlns:a14="http://schemas.microsoft.com/office/drawing/2010/main" val="0"/>
                </a:ext>
              </a:extLst>
            </a:blip>
            <a:stretch>
              <a:fillRect/>
            </a:stretch>
          </p:blipFill>
          <p:spPr>
            <a:xfrm>
              <a:off x="7327863" y="2035916"/>
              <a:ext cx="2153017" cy="1947968"/>
            </a:xfrm>
            <a:prstGeom prst="rect">
              <a:avLst/>
            </a:prstGeom>
          </p:spPr>
        </p:pic>
        <p:pic>
          <p:nvPicPr>
            <p:cNvPr id="85" name="Image 84">
              <a:extLst>
                <a:ext uri="{FF2B5EF4-FFF2-40B4-BE49-F238E27FC236}">
                  <a16:creationId xmlns:a16="http://schemas.microsoft.com/office/drawing/2014/main" id="{D14C27E5-5404-C0C3-F5BB-EAC0D4A85146}"/>
                </a:ext>
              </a:extLst>
            </p:cNvPr>
            <p:cNvPicPr>
              <a:picLocks noChangeAspect="1"/>
            </p:cNvPicPr>
            <p:nvPr/>
          </p:nvPicPr>
          <p:blipFill>
            <a:blip r:embed="rId5">
              <a:extLst>
                <a:ext uri="{BEBA8EAE-BF5A-486C-A8C5-ECC9F3942E4B}">
                  <a14:imgProps xmlns:a14="http://schemas.microsoft.com/office/drawing/2010/main">
                    <a14:imgLayer r:embed="rId3">
                      <a14:imgEffect>
                        <a14:artisticBlur radius="5"/>
                      </a14:imgEffect>
                    </a14:imgLayer>
                  </a14:imgProps>
                </a:ext>
                <a:ext uri="{28A0092B-C50C-407E-A947-70E740481C1C}">
                  <a14:useLocalDpi xmlns:a14="http://schemas.microsoft.com/office/drawing/2010/main" val="0"/>
                </a:ext>
              </a:extLst>
            </a:blip>
            <a:stretch>
              <a:fillRect/>
            </a:stretch>
          </p:blipFill>
          <p:spPr>
            <a:xfrm>
              <a:off x="9617185" y="2035916"/>
              <a:ext cx="2153017" cy="1947968"/>
            </a:xfrm>
            <a:prstGeom prst="rect">
              <a:avLst/>
            </a:prstGeom>
          </p:spPr>
        </p:pic>
        <p:sp>
          <p:nvSpPr>
            <p:cNvPr id="86" name="Flèche : haut 85">
              <a:extLst>
                <a:ext uri="{FF2B5EF4-FFF2-40B4-BE49-F238E27FC236}">
                  <a16:creationId xmlns:a16="http://schemas.microsoft.com/office/drawing/2014/main" id="{A331BC2D-D9D6-6241-AC8D-230DE17AAB7A}"/>
                </a:ext>
              </a:extLst>
            </p:cNvPr>
            <p:cNvSpPr/>
            <p:nvPr/>
          </p:nvSpPr>
          <p:spPr>
            <a:xfrm rot="5400000">
              <a:off x="8109263" y="944818"/>
              <a:ext cx="621871" cy="6700003"/>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87" name="Espace réservé du contenu 4" descr="Informations avec un remplissage uni">
              <a:extLst>
                <a:ext uri="{FF2B5EF4-FFF2-40B4-BE49-F238E27FC236}">
                  <a16:creationId xmlns:a16="http://schemas.microsoft.com/office/drawing/2014/main" id="{78F9B43A-11F5-302B-553B-9CD9D0C3D821}"/>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9528" t="9241" r="9444" b="9731"/>
            <a:stretch/>
          </p:blipFill>
          <p:spPr>
            <a:xfrm>
              <a:off x="4730605" y="4605755"/>
              <a:ext cx="857839" cy="857839"/>
            </a:xfrm>
            <a:prstGeom prst="rect">
              <a:avLst/>
            </a:prstGeom>
          </p:spPr>
        </p:pic>
        <p:pic>
          <p:nvPicPr>
            <p:cNvPr id="88" name="Espace réservé du contenu 4" descr="Informations avec un remplissage uni">
              <a:extLst>
                <a:ext uri="{FF2B5EF4-FFF2-40B4-BE49-F238E27FC236}">
                  <a16:creationId xmlns:a16="http://schemas.microsoft.com/office/drawing/2014/main" id="{F7B60162-84F2-BBE0-E1B3-E71D8C8A602E}"/>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9528" t="9241" r="9444" b="9731"/>
            <a:stretch/>
          </p:blipFill>
          <p:spPr>
            <a:xfrm>
              <a:off x="6930600" y="4605757"/>
              <a:ext cx="857839" cy="857839"/>
            </a:xfrm>
            <a:prstGeom prst="rect">
              <a:avLst/>
            </a:prstGeom>
          </p:spPr>
        </p:pic>
        <p:pic>
          <p:nvPicPr>
            <p:cNvPr id="89" name="Espace réservé du contenu 4" descr="Informations avec un remplissage uni">
              <a:extLst>
                <a:ext uri="{FF2B5EF4-FFF2-40B4-BE49-F238E27FC236}">
                  <a16:creationId xmlns:a16="http://schemas.microsoft.com/office/drawing/2014/main" id="{04F20BB3-D04C-398C-1C79-75AC13D24D96}"/>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9528" t="9241" r="9444" b="9731"/>
            <a:stretch/>
          </p:blipFill>
          <p:spPr>
            <a:xfrm>
              <a:off x="9051960" y="4605756"/>
              <a:ext cx="857839" cy="857839"/>
            </a:xfrm>
            <a:prstGeom prst="rect">
              <a:avLst/>
            </a:prstGeom>
          </p:spPr>
        </p:pic>
        <p:pic>
          <p:nvPicPr>
            <p:cNvPr id="90" name="Image 89" descr="Une image contenant texte&#10;&#10;Description générée automatiquement">
              <a:extLst>
                <a:ext uri="{FF2B5EF4-FFF2-40B4-BE49-F238E27FC236}">
                  <a16:creationId xmlns:a16="http://schemas.microsoft.com/office/drawing/2014/main" id="{5D12D5D9-93F1-76DF-0804-371B8E7430B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1062515" y="2673156"/>
              <a:ext cx="370990" cy="475065"/>
            </a:xfrm>
            <a:prstGeom prst="rect">
              <a:avLst/>
            </a:prstGeom>
          </p:spPr>
        </p:pic>
        <p:pic>
          <p:nvPicPr>
            <p:cNvPr id="91" name="Image 90" descr="Une image contenant texte&#10;&#10;Description générée automatiquement">
              <a:extLst>
                <a:ext uri="{FF2B5EF4-FFF2-40B4-BE49-F238E27FC236}">
                  <a16:creationId xmlns:a16="http://schemas.microsoft.com/office/drawing/2014/main" id="{EDC949C1-1CDD-3A79-C1D3-A774AE06171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968860" y="2728998"/>
              <a:ext cx="370990" cy="470486"/>
            </a:xfrm>
            <a:prstGeom prst="rect">
              <a:avLst/>
            </a:prstGeom>
          </p:spPr>
        </p:pic>
        <p:pic>
          <p:nvPicPr>
            <p:cNvPr id="92" name="Graphique 91" descr="Poumons avec un remplissage uni">
              <a:extLst>
                <a:ext uri="{FF2B5EF4-FFF2-40B4-BE49-F238E27FC236}">
                  <a16:creationId xmlns:a16="http://schemas.microsoft.com/office/drawing/2014/main" id="{F1AD76E1-2BE9-2CBF-A825-52AB6AF8083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515102" y="2801460"/>
              <a:ext cx="352846" cy="352846"/>
            </a:xfrm>
            <a:prstGeom prst="rect">
              <a:avLst/>
            </a:prstGeom>
          </p:spPr>
        </p:pic>
      </p:grpSp>
      <p:grpSp>
        <p:nvGrpSpPr>
          <p:cNvPr id="4" name="Groupe 3">
            <a:extLst>
              <a:ext uri="{FF2B5EF4-FFF2-40B4-BE49-F238E27FC236}">
                <a16:creationId xmlns:a16="http://schemas.microsoft.com/office/drawing/2014/main" id="{4810D713-4DD6-2B00-A35D-EAF6C3D05F1F}"/>
              </a:ext>
            </a:extLst>
          </p:cNvPr>
          <p:cNvGrpSpPr/>
          <p:nvPr/>
        </p:nvGrpSpPr>
        <p:grpSpPr>
          <a:xfrm>
            <a:off x="3323695" y="2156656"/>
            <a:ext cx="4395276" cy="1313253"/>
            <a:chOff x="1365998" y="2493046"/>
            <a:chExt cx="13386874" cy="3999829"/>
          </a:xfrm>
        </p:grpSpPr>
        <p:grpSp>
          <p:nvGrpSpPr>
            <p:cNvPr id="94" name="Groupe 93">
              <a:extLst>
                <a:ext uri="{FF2B5EF4-FFF2-40B4-BE49-F238E27FC236}">
                  <a16:creationId xmlns:a16="http://schemas.microsoft.com/office/drawing/2014/main" id="{CBF75447-E671-D622-7273-1A54BAD2898B}"/>
                </a:ext>
              </a:extLst>
            </p:cNvPr>
            <p:cNvGrpSpPr/>
            <p:nvPr/>
          </p:nvGrpSpPr>
          <p:grpSpPr>
            <a:xfrm>
              <a:off x="3546055" y="2507002"/>
              <a:ext cx="1176599" cy="921643"/>
              <a:chOff x="7748306" y="490159"/>
              <a:chExt cx="3442453" cy="2696512"/>
            </a:xfrm>
          </p:grpSpPr>
          <p:pic>
            <p:nvPicPr>
              <p:cNvPr id="95" name="Graphique 94" descr="Enveloppe avec un remplissage uni">
                <a:extLst>
                  <a:ext uri="{FF2B5EF4-FFF2-40B4-BE49-F238E27FC236}">
                    <a16:creationId xmlns:a16="http://schemas.microsoft.com/office/drawing/2014/main" id="{A46F0680-4942-A4D0-2E32-4DDE75C614FE}"/>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0276359" y="490159"/>
                <a:ext cx="914400" cy="914400"/>
              </a:xfrm>
              <a:prstGeom prst="rect">
                <a:avLst/>
              </a:prstGeom>
            </p:spPr>
          </p:pic>
          <p:grpSp>
            <p:nvGrpSpPr>
              <p:cNvPr id="96" name="Groupe 95">
                <a:extLst>
                  <a:ext uri="{FF2B5EF4-FFF2-40B4-BE49-F238E27FC236}">
                    <a16:creationId xmlns:a16="http://schemas.microsoft.com/office/drawing/2014/main" id="{19EC62DF-D818-C3C9-FE90-3F75C8FE3641}"/>
                  </a:ext>
                </a:extLst>
              </p:cNvPr>
              <p:cNvGrpSpPr/>
              <p:nvPr/>
            </p:nvGrpSpPr>
            <p:grpSpPr>
              <a:xfrm>
                <a:off x="7748306" y="1139265"/>
                <a:ext cx="1452457" cy="1899771"/>
                <a:chOff x="7682578" y="1021976"/>
                <a:chExt cx="1658646" cy="2169460"/>
              </a:xfrm>
            </p:grpSpPr>
            <p:pic>
              <p:nvPicPr>
                <p:cNvPr id="102" name="Graphique 101" descr="Papier contour">
                  <a:extLst>
                    <a:ext uri="{FF2B5EF4-FFF2-40B4-BE49-F238E27FC236}">
                      <a16:creationId xmlns:a16="http://schemas.microsoft.com/office/drawing/2014/main" id="{84C3E794-F92E-CE92-9E1D-4171994E2EB4}"/>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l="17172" t="6805" r="16563" b="6523"/>
                <a:stretch/>
              </p:blipFill>
              <p:spPr>
                <a:xfrm>
                  <a:off x="7682578" y="1021976"/>
                  <a:ext cx="1658646" cy="2169460"/>
                </a:xfrm>
                <a:prstGeom prst="rect">
                  <a:avLst/>
                </a:prstGeom>
              </p:spPr>
            </p:pic>
            <p:pic>
              <p:nvPicPr>
                <p:cNvPr id="103" name="Graphique 102" descr="Aide avec un remplissage uni">
                  <a:extLst>
                    <a:ext uri="{FF2B5EF4-FFF2-40B4-BE49-F238E27FC236}">
                      <a16:creationId xmlns:a16="http://schemas.microsoft.com/office/drawing/2014/main" id="{3159F51E-8217-6B4E-8B0B-124640228AE7}"/>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829327" y="1628496"/>
                  <a:ext cx="537883" cy="537883"/>
                </a:xfrm>
                <a:prstGeom prst="rect">
                  <a:avLst/>
                </a:prstGeom>
              </p:spPr>
            </p:pic>
            <p:pic>
              <p:nvPicPr>
                <p:cNvPr id="104" name="Graphique 103" descr="Aide avec un remplissage uni">
                  <a:extLst>
                    <a:ext uri="{FF2B5EF4-FFF2-40B4-BE49-F238E27FC236}">
                      <a16:creationId xmlns:a16="http://schemas.microsoft.com/office/drawing/2014/main" id="{B9A20311-6CBE-1D85-E37A-6289F38327E9}"/>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836722" y="2103170"/>
                  <a:ext cx="537883" cy="537883"/>
                </a:xfrm>
                <a:prstGeom prst="rect">
                  <a:avLst/>
                </a:prstGeom>
              </p:spPr>
            </p:pic>
            <p:pic>
              <p:nvPicPr>
                <p:cNvPr id="105" name="Graphique 104" descr="Aide avec un remplissage uni">
                  <a:extLst>
                    <a:ext uri="{FF2B5EF4-FFF2-40B4-BE49-F238E27FC236}">
                      <a16:creationId xmlns:a16="http://schemas.microsoft.com/office/drawing/2014/main" id="{E78CC995-78A7-D6DF-392A-0B280ADBD5D9}"/>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7829326" y="2577844"/>
                  <a:ext cx="537883" cy="537883"/>
                </a:xfrm>
                <a:prstGeom prst="rect">
                  <a:avLst/>
                </a:prstGeom>
              </p:spPr>
            </p:pic>
          </p:grpSp>
          <p:cxnSp>
            <p:nvCxnSpPr>
              <p:cNvPr id="97" name="Connecteur : en angle 96">
                <a:extLst>
                  <a:ext uri="{FF2B5EF4-FFF2-40B4-BE49-F238E27FC236}">
                    <a16:creationId xmlns:a16="http://schemas.microsoft.com/office/drawing/2014/main" id="{552F5E9D-6EAC-3D57-6F11-D845BAA6E60A}"/>
                  </a:ext>
                </a:extLst>
              </p:cNvPr>
              <p:cNvCxnSpPr>
                <a:stCxn id="102" idx="3"/>
                <a:endCxn id="95" idx="1"/>
              </p:cNvCxnSpPr>
              <p:nvPr/>
            </p:nvCxnSpPr>
            <p:spPr>
              <a:xfrm flipV="1">
                <a:off x="9200763" y="947359"/>
                <a:ext cx="1075596" cy="1141792"/>
              </a:xfrm>
              <a:prstGeom prst="bentConnector3">
                <a:avLst/>
              </a:prstGeom>
              <a:ln w="31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8" name="Connecteur : en angle 97">
                <a:extLst>
                  <a:ext uri="{FF2B5EF4-FFF2-40B4-BE49-F238E27FC236}">
                    <a16:creationId xmlns:a16="http://schemas.microsoft.com/office/drawing/2014/main" id="{B51388E8-1A61-2D7E-3817-186C7EA05D0F}"/>
                  </a:ext>
                </a:extLst>
              </p:cNvPr>
              <p:cNvCxnSpPr>
                <a:cxnSpLocks/>
                <a:stCxn id="102" idx="3"/>
              </p:cNvCxnSpPr>
              <p:nvPr/>
            </p:nvCxnSpPr>
            <p:spPr>
              <a:xfrm flipV="1">
                <a:off x="9200763" y="1815071"/>
                <a:ext cx="1075596" cy="274080"/>
              </a:xfrm>
              <a:prstGeom prst="bentConnector3">
                <a:avLst/>
              </a:prstGeom>
              <a:ln w="3175">
                <a:tailEnd type="triangle"/>
              </a:ln>
            </p:spPr>
            <p:style>
              <a:lnRef idx="1">
                <a:schemeClr val="accent1"/>
              </a:lnRef>
              <a:fillRef idx="0">
                <a:schemeClr val="accent1"/>
              </a:fillRef>
              <a:effectRef idx="0">
                <a:schemeClr val="accent1"/>
              </a:effectRef>
              <a:fontRef idx="minor">
                <a:schemeClr val="tx1"/>
              </a:fontRef>
            </p:style>
          </p:cxnSp>
          <p:cxnSp>
            <p:nvCxnSpPr>
              <p:cNvPr id="99" name="Connecteur : en angle 98">
                <a:extLst>
                  <a:ext uri="{FF2B5EF4-FFF2-40B4-BE49-F238E27FC236}">
                    <a16:creationId xmlns:a16="http://schemas.microsoft.com/office/drawing/2014/main" id="{82E0E85D-A420-C518-E36F-2EB6BB1D9444}"/>
                  </a:ext>
                </a:extLst>
              </p:cNvPr>
              <p:cNvCxnSpPr>
                <a:cxnSpLocks/>
                <a:stCxn id="102" idx="3"/>
              </p:cNvCxnSpPr>
              <p:nvPr/>
            </p:nvCxnSpPr>
            <p:spPr>
              <a:xfrm>
                <a:off x="9200763" y="2089151"/>
                <a:ext cx="1075596" cy="593631"/>
              </a:xfrm>
              <a:prstGeom prst="bentConnector3">
                <a:avLst/>
              </a:prstGeom>
              <a:ln w="3175">
                <a:tailEnd type="triangle"/>
              </a:ln>
            </p:spPr>
            <p:style>
              <a:lnRef idx="1">
                <a:schemeClr val="accent1"/>
              </a:lnRef>
              <a:fillRef idx="0">
                <a:schemeClr val="accent1"/>
              </a:fillRef>
              <a:effectRef idx="0">
                <a:schemeClr val="accent1"/>
              </a:effectRef>
              <a:fontRef idx="minor">
                <a:schemeClr val="tx1"/>
              </a:fontRef>
            </p:style>
          </p:cxnSp>
          <p:pic>
            <p:nvPicPr>
              <p:cNvPr id="100" name="Graphique 99" descr="Réseau en ligne avec un remplissage uni">
                <a:extLst>
                  <a:ext uri="{FF2B5EF4-FFF2-40B4-BE49-F238E27FC236}">
                    <a16:creationId xmlns:a16="http://schemas.microsoft.com/office/drawing/2014/main" id="{4950FE33-D5F5-FF1B-B74E-82B40FFDB76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10214892" y="2272271"/>
                <a:ext cx="914400" cy="914400"/>
              </a:xfrm>
              <a:prstGeom prst="rect">
                <a:avLst/>
              </a:prstGeom>
            </p:spPr>
          </p:pic>
          <p:pic>
            <p:nvPicPr>
              <p:cNvPr id="101" name="Graphique 100" descr="Réunion en ligne avec un remplissage uni">
                <a:extLst>
                  <a:ext uri="{FF2B5EF4-FFF2-40B4-BE49-F238E27FC236}">
                    <a16:creationId xmlns:a16="http://schemas.microsoft.com/office/drawing/2014/main" id="{6E5CB160-2B49-A75A-F061-2B2DCFFE480D}"/>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10276359" y="1348236"/>
                <a:ext cx="914400" cy="914400"/>
              </a:xfrm>
              <a:prstGeom prst="rect">
                <a:avLst/>
              </a:prstGeom>
            </p:spPr>
          </p:pic>
        </p:grpSp>
        <p:sp>
          <p:nvSpPr>
            <p:cNvPr id="106" name="Rectangle 105">
              <a:extLst>
                <a:ext uri="{FF2B5EF4-FFF2-40B4-BE49-F238E27FC236}">
                  <a16:creationId xmlns:a16="http://schemas.microsoft.com/office/drawing/2014/main" id="{1203CFAD-3D4F-F2CC-57A3-9A983854A03C}"/>
                </a:ext>
              </a:extLst>
            </p:cNvPr>
            <p:cNvSpPr/>
            <p:nvPr/>
          </p:nvSpPr>
          <p:spPr>
            <a:xfrm>
              <a:off x="3374101" y="345214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grpSp>
          <p:nvGrpSpPr>
            <p:cNvPr id="107" name="Groupe 106">
              <a:extLst>
                <a:ext uri="{FF2B5EF4-FFF2-40B4-BE49-F238E27FC236}">
                  <a16:creationId xmlns:a16="http://schemas.microsoft.com/office/drawing/2014/main" id="{D38F87DB-7CDA-D9FE-D4D7-6E60E9793767}"/>
                </a:ext>
              </a:extLst>
            </p:cNvPr>
            <p:cNvGrpSpPr/>
            <p:nvPr/>
          </p:nvGrpSpPr>
          <p:grpSpPr>
            <a:xfrm>
              <a:off x="5326591" y="2493046"/>
              <a:ext cx="1121389" cy="935599"/>
              <a:chOff x="7829664" y="3812797"/>
              <a:chExt cx="3361095" cy="2804234"/>
            </a:xfrm>
          </p:grpSpPr>
          <p:pic>
            <p:nvPicPr>
              <p:cNvPr id="108" name="Graphique 107" descr="Homme avec un remplissage uni">
                <a:extLst>
                  <a:ext uri="{FF2B5EF4-FFF2-40B4-BE49-F238E27FC236}">
                    <a16:creationId xmlns:a16="http://schemas.microsoft.com/office/drawing/2014/main" id="{E8B498D2-6610-0283-CCD1-ECA006472E58}"/>
                  </a:ext>
                </a:extLst>
              </p:cNvPr>
              <p:cNvPicPr>
                <a:picLocks noChangeAspect="1"/>
              </p:cNvPicPr>
              <p:nvPr/>
            </p:nvPicPr>
            <p:blipFill rotWithShape="1">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rcRect t="1" b="40502"/>
              <a:stretch/>
            </p:blipFill>
            <p:spPr>
              <a:xfrm>
                <a:off x="8312323" y="4821183"/>
                <a:ext cx="2878436" cy="1712563"/>
              </a:xfrm>
              <a:prstGeom prst="rect">
                <a:avLst/>
              </a:prstGeom>
            </p:spPr>
          </p:pic>
          <p:grpSp>
            <p:nvGrpSpPr>
              <p:cNvPr id="109" name="Groupe 108">
                <a:extLst>
                  <a:ext uri="{FF2B5EF4-FFF2-40B4-BE49-F238E27FC236}">
                    <a16:creationId xmlns:a16="http://schemas.microsoft.com/office/drawing/2014/main" id="{7E2763C6-4835-FD09-0CD4-2E972D5B24D2}"/>
                  </a:ext>
                </a:extLst>
              </p:cNvPr>
              <p:cNvGrpSpPr/>
              <p:nvPr/>
            </p:nvGrpSpPr>
            <p:grpSpPr>
              <a:xfrm>
                <a:off x="7829664" y="4904469"/>
                <a:ext cx="1747769" cy="1712562"/>
                <a:chOff x="786592" y="4813146"/>
                <a:chExt cx="1747769" cy="1712562"/>
              </a:xfrm>
            </p:grpSpPr>
            <p:pic>
              <p:nvPicPr>
                <p:cNvPr id="115" name="Graphique 114" descr="Microphone avec un remplissage uni">
                  <a:extLst>
                    <a:ext uri="{FF2B5EF4-FFF2-40B4-BE49-F238E27FC236}">
                      <a16:creationId xmlns:a16="http://schemas.microsoft.com/office/drawing/2014/main" id="{5F50CC9F-78DE-04B3-B501-C4ABB70AEFF7}"/>
                    </a:ext>
                  </a:extLst>
                </p:cNvPr>
                <p:cNvPicPr>
                  <a:picLocks noChangeAspect="1"/>
                </p:cNvPicPr>
                <p:nvPr/>
              </p:nvPicPr>
              <p:blipFill rotWithShape="1">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rcRect l="26582" r="43264" b="738"/>
                <a:stretch/>
              </p:blipFill>
              <p:spPr>
                <a:xfrm rot="927067" flipH="1">
                  <a:off x="2184345" y="5290444"/>
                  <a:ext cx="350016" cy="1222715"/>
                </a:xfrm>
                <a:prstGeom prst="rect">
                  <a:avLst/>
                </a:prstGeom>
              </p:spPr>
            </p:pic>
            <p:pic>
              <p:nvPicPr>
                <p:cNvPr id="116" name="Graphique 115" descr="Personne confuse avec un remplissage uni">
                  <a:extLst>
                    <a:ext uri="{FF2B5EF4-FFF2-40B4-BE49-F238E27FC236}">
                      <a16:creationId xmlns:a16="http://schemas.microsoft.com/office/drawing/2014/main" id="{997FF9AE-68AA-7743-EFD4-98E5CAB6DBE9}"/>
                    </a:ext>
                  </a:extLst>
                </p:cNvPr>
                <p:cNvPicPr>
                  <a:picLocks noChangeAspect="1"/>
                </p:cNvPicPr>
                <p:nvPr/>
              </p:nvPicPr>
              <p:blipFill rotWithShape="1">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rcRect l="38856" r="14769" b="50034"/>
                <a:stretch/>
              </p:blipFill>
              <p:spPr>
                <a:xfrm>
                  <a:off x="786592" y="4813146"/>
                  <a:ext cx="1589482" cy="1712562"/>
                </a:xfrm>
                <a:prstGeom prst="rect">
                  <a:avLst/>
                </a:prstGeom>
              </p:spPr>
            </p:pic>
          </p:grpSp>
          <p:pic>
            <p:nvPicPr>
              <p:cNvPr id="110" name="Graphique 109" descr="Bulle de discussion contour">
                <a:extLst>
                  <a:ext uri="{FF2B5EF4-FFF2-40B4-BE49-F238E27FC236}">
                    <a16:creationId xmlns:a16="http://schemas.microsoft.com/office/drawing/2014/main" id="{AE2C598C-A682-D60C-A1BF-6C6C0FC82AD9}"/>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903" b="12311"/>
              <a:stretch/>
            </p:blipFill>
            <p:spPr>
              <a:xfrm flipH="1">
                <a:off x="9657562" y="3812797"/>
                <a:ext cx="1501399" cy="1188720"/>
              </a:xfrm>
              <a:prstGeom prst="rect">
                <a:avLst/>
              </a:prstGeom>
            </p:spPr>
          </p:pic>
          <p:grpSp>
            <p:nvGrpSpPr>
              <p:cNvPr id="111" name="Groupe 110">
                <a:extLst>
                  <a:ext uri="{FF2B5EF4-FFF2-40B4-BE49-F238E27FC236}">
                    <a16:creationId xmlns:a16="http://schemas.microsoft.com/office/drawing/2014/main" id="{CCA4536E-4E3D-BC57-539D-39D2E88E0DCE}"/>
                  </a:ext>
                </a:extLst>
              </p:cNvPr>
              <p:cNvGrpSpPr/>
              <p:nvPr/>
            </p:nvGrpSpPr>
            <p:grpSpPr>
              <a:xfrm>
                <a:off x="7954346" y="3871337"/>
                <a:ext cx="1501399" cy="1188720"/>
                <a:chOff x="1733248" y="3784720"/>
                <a:chExt cx="1501399" cy="1188720"/>
              </a:xfrm>
            </p:grpSpPr>
            <p:pic>
              <p:nvPicPr>
                <p:cNvPr id="113" name="Graphique 112" descr="Bulle de discussion contour">
                  <a:extLst>
                    <a:ext uri="{FF2B5EF4-FFF2-40B4-BE49-F238E27FC236}">
                      <a16:creationId xmlns:a16="http://schemas.microsoft.com/office/drawing/2014/main" id="{CC065620-55AF-75D4-E5B5-FFF099383228}"/>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801" b="12412"/>
                <a:stretch/>
              </p:blipFill>
              <p:spPr>
                <a:xfrm flipH="1">
                  <a:off x="1733248" y="3784720"/>
                  <a:ext cx="1501399" cy="1188720"/>
                </a:xfrm>
                <a:prstGeom prst="rect">
                  <a:avLst/>
                </a:prstGeom>
              </p:spPr>
            </p:pic>
            <p:sp>
              <p:nvSpPr>
                <p:cNvPr id="114" name="Rectangle 113">
                  <a:extLst>
                    <a:ext uri="{FF2B5EF4-FFF2-40B4-BE49-F238E27FC236}">
                      <a16:creationId xmlns:a16="http://schemas.microsoft.com/office/drawing/2014/main" id="{4B5D6AF0-CEC7-D658-15DF-98A0C7106B62}"/>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112" name="Graphique 111" descr="Aide avec un remplissage uni">
                <a:extLst>
                  <a:ext uri="{FF2B5EF4-FFF2-40B4-BE49-F238E27FC236}">
                    <a16:creationId xmlns:a16="http://schemas.microsoft.com/office/drawing/2014/main" id="{55E08C29-B4F8-8F50-AA34-36FBA97E47DD}"/>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8360689" y="3975365"/>
                <a:ext cx="679669" cy="679669"/>
              </a:xfrm>
              <a:prstGeom prst="rect">
                <a:avLst/>
              </a:prstGeom>
            </p:spPr>
          </p:pic>
        </p:grpSp>
        <p:sp>
          <p:nvSpPr>
            <p:cNvPr id="117" name="Rectangle 116">
              <a:extLst>
                <a:ext uri="{FF2B5EF4-FFF2-40B4-BE49-F238E27FC236}">
                  <a16:creationId xmlns:a16="http://schemas.microsoft.com/office/drawing/2014/main" id="{F87DF5E4-2745-C013-896D-A34AC4CFC6CF}"/>
                </a:ext>
              </a:extLst>
            </p:cNvPr>
            <p:cNvSpPr/>
            <p:nvPr/>
          </p:nvSpPr>
          <p:spPr>
            <a:xfrm>
              <a:off x="5016695" y="345214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grpSp>
          <p:nvGrpSpPr>
            <p:cNvPr id="118" name="Groupe 117">
              <a:extLst>
                <a:ext uri="{FF2B5EF4-FFF2-40B4-BE49-F238E27FC236}">
                  <a16:creationId xmlns:a16="http://schemas.microsoft.com/office/drawing/2014/main" id="{16BDC9E2-6FC5-2219-82CF-30AAC3307409}"/>
                </a:ext>
              </a:extLst>
            </p:cNvPr>
            <p:cNvGrpSpPr/>
            <p:nvPr/>
          </p:nvGrpSpPr>
          <p:grpSpPr>
            <a:xfrm>
              <a:off x="6968214" y="2493046"/>
              <a:ext cx="1113255" cy="937684"/>
              <a:chOff x="2361041" y="3812797"/>
              <a:chExt cx="3329297" cy="2804234"/>
            </a:xfrm>
          </p:grpSpPr>
          <p:pic>
            <p:nvPicPr>
              <p:cNvPr id="119" name="Graphique 118" descr="Employée de bureau avec un remplissage uni">
                <a:extLst>
                  <a:ext uri="{FF2B5EF4-FFF2-40B4-BE49-F238E27FC236}">
                    <a16:creationId xmlns:a16="http://schemas.microsoft.com/office/drawing/2014/main" id="{C47D5F44-DD41-A457-3C86-17864B0C0265}"/>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3875660" y="4634141"/>
                <a:ext cx="1537069" cy="1537069"/>
              </a:xfrm>
              <a:prstGeom prst="rect">
                <a:avLst/>
              </a:prstGeom>
            </p:spPr>
          </p:pic>
          <p:grpSp>
            <p:nvGrpSpPr>
              <p:cNvPr id="120" name="Groupe 119">
                <a:extLst>
                  <a:ext uri="{FF2B5EF4-FFF2-40B4-BE49-F238E27FC236}">
                    <a16:creationId xmlns:a16="http://schemas.microsoft.com/office/drawing/2014/main" id="{6EAF4F06-0878-A567-8A33-291B838CF45A}"/>
                  </a:ext>
                </a:extLst>
              </p:cNvPr>
              <p:cNvGrpSpPr/>
              <p:nvPr/>
            </p:nvGrpSpPr>
            <p:grpSpPr>
              <a:xfrm>
                <a:off x="2361041" y="4904469"/>
                <a:ext cx="1747769" cy="1712562"/>
                <a:chOff x="786592" y="4813146"/>
                <a:chExt cx="1747769" cy="1712562"/>
              </a:xfrm>
            </p:grpSpPr>
            <p:pic>
              <p:nvPicPr>
                <p:cNvPr id="126" name="Graphique 125" descr="Microphone avec un remplissage uni">
                  <a:extLst>
                    <a:ext uri="{FF2B5EF4-FFF2-40B4-BE49-F238E27FC236}">
                      <a16:creationId xmlns:a16="http://schemas.microsoft.com/office/drawing/2014/main" id="{9B14404A-19B0-3813-A0CA-5FDAB516A953}"/>
                    </a:ext>
                  </a:extLst>
                </p:cNvPr>
                <p:cNvPicPr>
                  <a:picLocks noChangeAspect="1"/>
                </p:cNvPicPr>
                <p:nvPr/>
              </p:nvPicPr>
              <p:blipFill rotWithShape="1">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rcRect l="26582" r="43264" b="738"/>
                <a:stretch/>
              </p:blipFill>
              <p:spPr>
                <a:xfrm rot="927067" flipH="1">
                  <a:off x="2184345" y="5290444"/>
                  <a:ext cx="350016" cy="1222715"/>
                </a:xfrm>
                <a:prstGeom prst="rect">
                  <a:avLst/>
                </a:prstGeom>
              </p:spPr>
            </p:pic>
            <p:pic>
              <p:nvPicPr>
                <p:cNvPr id="127" name="Graphique 126" descr="Personne confuse avec un remplissage uni">
                  <a:extLst>
                    <a:ext uri="{FF2B5EF4-FFF2-40B4-BE49-F238E27FC236}">
                      <a16:creationId xmlns:a16="http://schemas.microsoft.com/office/drawing/2014/main" id="{E3421672-077F-ABFA-40C5-10A491A85FB9}"/>
                    </a:ext>
                  </a:extLst>
                </p:cNvPr>
                <p:cNvPicPr>
                  <a:picLocks noChangeAspect="1"/>
                </p:cNvPicPr>
                <p:nvPr/>
              </p:nvPicPr>
              <p:blipFill rotWithShape="1">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rcRect l="38856" r="14769" b="50034"/>
                <a:stretch/>
              </p:blipFill>
              <p:spPr>
                <a:xfrm>
                  <a:off x="786592" y="4813146"/>
                  <a:ext cx="1589482" cy="1712562"/>
                </a:xfrm>
                <a:prstGeom prst="rect">
                  <a:avLst/>
                </a:prstGeom>
              </p:spPr>
            </p:pic>
          </p:grpSp>
          <p:pic>
            <p:nvPicPr>
              <p:cNvPr id="121" name="Graphique 120" descr="Bulle de discussion contour">
                <a:extLst>
                  <a:ext uri="{FF2B5EF4-FFF2-40B4-BE49-F238E27FC236}">
                    <a16:creationId xmlns:a16="http://schemas.microsoft.com/office/drawing/2014/main" id="{C041ED04-2C15-DFED-5BD9-E1EFE69E45D9}"/>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903" b="12311"/>
              <a:stretch/>
            </p:blipFill>
            <p:spPr>
              <a:xfrm flipH="1">
                <a:off x="4188939" y="3812797"/>
                <a:ext cx="1501399" cy="1188720"/>
              </a:xfrm>
              <a:prstGeom prst="rect">
                <a:avLst/>
              </a:prstGeom>
            </p:spPr>
          </p:pic>
          <p:grpSp>
            <p:nvGrpSpPr>
              <p:cNvPr id="122" name="Groupe 121">
                <a:extLst>
                  <a:ext uri="{FF2B5EF4-FFF2-40B4-BE49-F238E27FC236}">
                    <a16:creationId xmlns:a16="http://schemas.microsoft.com/office/drawing/2014/main" id="{4B650D46-BE2F-98F9-797F-ED3C41E82E87}"/>
                  </a:ext>
                </a:extLst>
              </p:cNvPr>
              <p:cNvGrpSpPr/>
              <p:nvPr/>
            </p:nvGrpSpPr>
            <p:grpSpPr>
              <a:xfrm>
                <a:off x="2485723" y="3871337"/>
                <a:ext cx="1501399" cy="1188720"/>
                <a:chOff x="1733248" y="3784720"/>
                <a:chExt cx="1501399" cy="1188720"/>
              </a:xfrm>
            </p:grpSpPr>
            <p:pic>
              <p:nvPicPr>
                <p:cNvPr id="124" name="Graphique 123" descr="Bulle de discussion contour">
                  <a:extLst>
                    <a:ext uri="{FF2B5EF4-FFF2-40B4-BE49-F238E27FC236}">
                      <a16:creationId xmlns:a16="http://schemas.microsoft.com/office/drawing/2014/main" id="{12EF16A6-4B71-DC1B-C8B1-53A4DF3B0EED}"/>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801" b="12412"/>
                <a:stretch/>
              </p:blipFill>
              <p:spPr>
                <a:xfrm flipH="1">
                  <a:off x="1733248" y="3784720"/>
                  <a:ext cx="1501399" cy="1188720"/>
                </a:xfrm>
                <a:prstGeom prst="rect">
                  <a:avLst/>
                </a:prstGeom>
              </p:spPr>
            </p:pic>
            <p:sp>
              <p:nvSpPr>
                <p:cNvPr id="125" name="Rectangle 124">
                  <a:extLst>
                    <a:ext uri="{FF2B5EF4-FFF2-40B4-BE49-F238E27FC236}">
                      <a16:creationId xmlns:a16="http://schemas.microsoft.com/office/drawing/2014/main" id="{FFA670C7-C747-546F-F6DA-3DFB1CBB8D07}"/>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123" name="Graphique 122" descr="Aide avec un remplissage uni">
                <a:extLst>
                  <a:ext uri="{FF2B5EF4-FFF2-40B4-BE49-F238E27FC236}">
                    <a16:creationId xmlns:a16="http://schemas.microsoft.com/office/drawing/2014/main" id="{5D81A029-602B-B2D1-E22B-FD3E78CC5DAF}"/>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2892066" y="3975365"/>
                <a:ext cx="679669" cy="679669"/>
              </a:xfrm>
              <a:prstGeom prst="rect">
                <a:avLst/>
              </a:prstGeom>
            </p:spPr>
          </p:pic>
        </p:grpSp>
        <p:sp>
          <p:nvSpPr>
            <p:cNvPr id="128" name="Rectangle 127">
              <a:extLst>
                <a:ext uri="{FF2B5EF4-FFF2-40B4-BE49-F238E27FC236}">
                  <a16:creationId xmlns:a16="http://schemas.microsoft.com/office/drawing/2014/main" id="{F079C731-EF8F-1156-D001-E2CEEFC1B07D}"/>
                </a:ext>
              </a:extLst>
            </p:cNvPr>
            <p:cNvSpPr/>
            <p:nvPr/>
          </p:nvSpPr>
          <p:spPr>
            <a:xfrm>
              <a:off x="6659289" y="345214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grpSp>
          <p:nvGrpSpPr>
            <p:cNvPr id="129" name="Groupe 128">
              <a:extLst>
                <a:ext uri="{FF2B5EF4-FFF2-40B4-BE49-F238E27FC236}">
                  <a16:creationId xmlns:a16="http://schemas.microsoft.com/office/drawing/2014/main" id="{7379310D-953D-2724-6120-544D50BA9E23}"/>
                </a:ext>
              </a:extLst>
            </p:cNvPr>
            <p:cNvGrpSpPr/>
            <p:nvPr/>
          </p:nvGrpSpPr>
          <p:grpSpPr>
            <a:xfrm>
              <a:off x="8319575" y="2637753"/>
              <a:ext cx="1348758" cy="773835"/>
              <a:chOff x="1774127" y="3261367"/>
              <a:chExt cx="4861346" cy="2789143"/>
            </a:xfrm>
          </p:grpSpPr>
          <p:pic>
            <p:nvPicPr>
              <p:cNvPr id="130" name="Graphique 129" descr="Signe pouce en haut avec un remplissage uni">
                <a:extLst>
                  <a:ext uri="{FF2B5EF4-FFF2-40B4-BE49-F238E27FC236}">
                    <a16:creationId xmlns:a16="http://schemas.microsoft.com/office/drawing/2014/main" id="{7D92E568-DBE9-C02E-74B3-497ED170972A}"/>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2839034" y="3261367"/>
                <a:ext cx="470653" cy="470653"/>
              </a:xfrm>
              <a:prstGeom prst="rect">
                <a:avLst/>
              </a:prstGeom>
            </p:spPr>
          </p:pic>
          <p:pic>
            <p:nvPicPr>
              <p:cNvPr id="131" name="Graphique 130" descr="Pouce en bas avec un remplissage uni">
                <a:extLst>
                  <a:ext uri="{FF2B5EF4-FFF2-40B4-BE49-F238E27FC236}">
                    <a16:creationId xmlns:a16="http://schemas.microsoft.com/office/drawing/2014/main" id="{8FF74307-B40E-E206-26AD-8971D4660563}"/>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3787316" y="3319278"/>
                <a:ext cx="508752" cy="508752"/>
              </a:xfrm>
              <a:prstGeom prst="rect">
                <a:avLst/>
              </a:prstGeom>
            </p:spPr>
          </p:pic>
          <p:sp>
            <p:nvSpPr>
              <p:cNvPr id="132" name="Rectangle 131">
                <a:extLst>
                  <a:ext uri="{FF2B5EF4-FFF2-40B4-BE49-F238E27FC236}">
                    <a16:creationId xmlns:a16="http://schemas.microsoft.com/office/drawing/2014/main" id="{E6D5B112-C1E4-406A-A0E8-9076CBC18F1B}"/>
                  </a:ext>
                </a:extLst>
              </p:cNvPr>
              <p:cNvSpPr/>
              <p:nvPr/>
            </p:nvSpPr>
            <p:spPr>
              <a:xfrm>
                <a:off x="262624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 name="Rectangle 132">
                <a:extLst>
                  <a:ext uri="{FF2B5EF4-FFF2-40B4-BE49-F238E27FC236}">
                    <a16:creationId xmlns:a16="http://schemas.microsoft.com/office/drawing/2014/main" id="{AF4E213E-5D0C-E40D-4836-33BD1373DE7C}"/>
                  </a:ext>
                </a:extLst>
              </p:cNvPr>
              <p:cNvSpPr/>
              <p:nvPr/>
            </p:nvSpPr>
            <p:spPr>
              <a:xfrm>
                <a:off x="3583068"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 name="Rectangle 133">
                <a:extLst>
                  <a:ext uri="{FF2B5EF4-FFF2-40B4-BE49-F238E27FC236}">
                    <a16:creationId xmlns:a16="http://schemas.microsoft.com/office/drawing/2014/main" id="{8E392210-9D0E-03C8-1AE1-02DBCBD394D4}"/>
                  </a:ext>
                </a:extLst>
              </p:cNvPr>
              <p:cNvSpPr/>
              <p:nvPr/>
            </p:nvSpPr>
            <p:spPr>
              <a:xfrm>
                <a:off x="4539889"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 name="Rectangle 134">
                <a:extLst>
                  <a:ext uri="{FF2B5EF4-FFF2-40B4-BE49-F238E27FC236}">
                    <a16:creationId xmlns:a16="http://schemas.microsoft.com/office/drawing/2014/main" id="{48D0EA00-E1D1-A4F2-8EC6-4701A8AB9A56}"/>
                  </a:ext>
                </a:extLst>
              </p:cNvPr>
              <p:cNvSpPr/>
              <p:nvPr/>
            </p:nvSpPr>
            <p:spPr>
              <a:xfrm>
                <a:off x="550755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136" name="Graphique 135" descr="Aide avec un remplissage uni">
                <a:extLst>
                  <a:ext uri="{FF2B5EF4-FFF2-40B4-BE49-F238E27FC236}">
                    <a16:creationId xmlns:a16="http://schemas.microsoft.com/office/drawing/2014/main" id="{2C195A6B-B8F2-19CF-E165-07AEC5FB01CE}"/>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4793476" y="3319278"/>
                <a:ext cx="471018" cy="471018"/>
              </a:xfrm>
              <a:prstGeom prst="rect">
                <a:avLst/>
              </a:prstGeom>
            </p:spPr>
          </p:pic>
          <p:grpSp>
            <p:nvGrpSpPr>
              <p:cNvPr id="137" name="Groupe 136">
                <a:extLst>
                  <a:ext uri="{FF2B5EF4-FFF2-40B4-BE49-F238E27FC236}">
                    <a16:creationId xmlns:a16="http://schemas.microsoft.com/office/drawing/2014/main" id="{8A71D3DD-8567-0C21-6630-76512806385D}"/>
                  </a:ext>
                </a:extLst>
              </p:cNvPr>
              <p:cNvGrpSpPr/>
              <p:nvPr/>
            </p:nvGrpSpPr>
            <p:grpSpPr>
              <a:xfrm>
                <a:off x="5689707" y="3294556"/>
                <a:ext cx="533474" cy="533474"/>
                <a:chOff x="5638800" y="2971800"/>
                <a:chExt cx="914400" cy="914400"/>
              </a:xfrm>
            </p:grpSpPr>
            <p:pic>
              <p:nvPicPr>
                <p:cNvPr id="155" name="Graphique 154" descr="Sphères de Harvey 100% avec un remplissage uni">
                  <a:extLst>
                    <a:ext uri="{FF2B5EF4-FFF2-40B4-BE49-F238E27FC236}">
                      <a16:creationId xmlns:a16="http://schemas.microsoft.com/office/drawing/2014/main" id="{B6A0313C-3763-6CE2-DCBE-FE01BEC98278}"/>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5638800" y="2971800"/>
                  <a:ext cx="914400" cy="914400"/>
                </a:xfrm>
                <a:prstGeom prst="rect">
                  <a:avLst/>
                </a:prstGeom>
              </p:spPr>
            </p:pic>
            <p:pic>
              <p:nvPicPr>
                <p:cNvPr id="156" name="Graphique 155" descr="Lumières allumées avec un remplissage uni">
                  <a:extLst>
                    <a:ext uri="{FF2B5EF4-FFF2-40B4-BE49-F238E27FC236}">
                      <a16:creationId xmlns:a16="http://schemas.microsoft.com/office/drawing/2014/main" id="{A7075976-C6EA-31B2-A6F3-C711F31518DE}"/>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5710913" y="3066427"/>
                  <a:ext cx="767522" cy="767522"/>
                </a:xfrm>
                <a:prstGeom prst="rect">
                  <a:avLst/>
                </a:prstGeom>
              </p:spPr>
            </p:pic>
          </p:grpSp>
          <p:sp>
            <p:nvSpPr>
              <p:cNvPr id="138" name="Rectangle 137">
                <a:extLst>
                  <a:ext uri="{FF2B5EF4-FFF2-40B4-BE49-F238E27FC236}">
                    <a16:creationId xmlns:a16="http://schemas.microsoft.com/office/drawing/2014/main" id="{BF9E189E-C701-E338-92B6-06F00F0F7FB9}"/>
                  </a:ext>
                </a:extLst>
              </p:cNvPr>
              <p:cNvSpPr/>
              <p:nvPr/>
            </p:nvSpPr>
            <p:spPr>
              <a:xfrm>
                <a:off x="2682556"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139" name="Rectangle 138">
                <a:extLst>
                  <a:ext uri="{FF2B5EF4-FFF2-40B4-BE49-F238E27FC236}">
                    <a16:creationId xmlns:a16="http://schemas.microsoft.com/office/drawing/2014/main" id="{B92A7B6C-6BC8-84B3-2379-42385961B4EA}"/>
                  </a:ext>
                </a:extLst>
              </p:cNvPr>
              <p:cNvSpPr/>
              <p:nvPr/>
            </p:nvSpPr>
            <p:spPr>
              <a:xfrm>
                <a:off x="2991651"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140" name="Rectangle 139">
                <a:extLst>
                  <a:ext uri="{FF2B5EF4-FFF2-40B4-BE49-F238E27FC236}">
                    <a16:creationId xmlns:a16="http://schemas.microsoft.com/office/drawing/2014/main" id="{6A6C161C-69CD-64D1-5CA3-6E114126957A}"/>
                  </a:ext>
                </a:extLst>
              </p:cNvPr>
              <p:cNvSpPr/>
              <p:nvPr/>
            </p:nvSpPr>
            <p:spPr>
              <a:xfrm>
                <a:off x="2912610" y="4148465"/>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141" name="Rectangle 140">
                <a:extLst>
                  <a:ext uri="{FF2B5EF4-FFF2-40B4-BE49-F238E27FC236}">
                    <a16:creationId xmlns:a16="http://schemas.microsoft.com/office/drawing/2014/main" id="{D54D763D-4402-2A5B-62AF-B067E888DE60}"/>
                  </a:ext>
                </a:extLst>
              </p:cNvPr>
              <p:cNvSpPr/>
              <p:nvPr/>
            </p:nvSpPr>
            <p:spPr>
              <a:xfrm>
                <a:off x="3680364" y="3871561"/>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142" name="Rectangle 141">
                <a:extLst>
                  <a:ext uri="{FF2B5EF4-FFF2-40B4-BE49-F238E27FC236}">
                    <a16:creationId xmlns:a16="http://schemas.microsoft.com/office/drawing/2014/main" id="{7A686401-4EA1-AFAC-FB64-F83247DD9729}"/>
                  </a:ext>
                </a:extLst>
              </p:cNvPr>
              <p:cNvSpPr/>
              <p:nvPr/>
            </p:nvSpPr>
            <p:spPr>
              <a:xfrm>
                <a:off x="4016069" y="398672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143" name="Rectangle 142">
                <a:extLst>
                  <a:ext uri="{FF2B5EF4-FFF2-40B4-BE49-F238E27FC236}">
                    <a16:creationId xmlns:a16="http://schemas.microsoft.com/office/drawing/2014/main" id="{64B1E69D-EA2D-A977-4C71-62C37F0DD4DD}"/>
                  </a:ext>
                </a:extLst>
              </p:cNvPr>
              <p:cNvSpPr/>
              <p:nvPr/>
            </p:nvSpPr>
            <p:spPr>
              <a:xfrm>
                <a:off x="3698403" y="4181149"/>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144" name="Rectangle 143">
                <a:extLst>
                  <a:ext uri="{FF2B5EF4-FFF2-40B4-BE49-F238E27FC236}">
                    <a16:creationId xmlns:a16="http://schemas.microsoft.com/office/drawing/2014/main" id="{04505B53-F785-7074-A435-AC803915D272}"/>
                  </a:ext>
                </a:extLst>
              </p:cNvPr>
              <p:cNvSpPr/>
              <p:nvPr/>
            </p:nvSpPr>
            <p:spPr>
              <a:xfrm>
                <a:off x="4604347" y="3858182"/>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145" name="Rectangle 144">
                <a:extLst>
                  <a:ext uri="{FF2B5EF4-FFF2-40B4-BE49-F238E27FC236}">
                    <a16:creationId xmlns:a16="http://schemas.microsoft.com/office/drawing/2014/main" id="{638A3BD9-07CC-FD14-3064-2866CE3D0F8D}"/>
                  </a:ext>
                </a:extLst>
              </p:cNvPr>
              <p:cNvSpPr/>
              <p:nvPr/>
            </p:nvSpPr>
            <p:spPr>
              <a:xfrm>
                <a:off x="4928163" y="384379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146" name="Rectangle 145">
                <a:extLst>
                  <a:ext uri="{FF2B5EF4-FFF2-40B4-BE49-F238E27FC236}">
                    <a16:creationId xmlns:a16="http://schemas.microsoft.com/office/drawing/2014/main" id="{2239C8E3-2056-5068-CBD2-A3AEAECF112F}"/>
                  </a:ext>
                </a:extLst>
              </p:cNvPr>
              <p:cNvSpPr/>
              <p:nvPr/>
            </p:nvSpPr>
            <p:spPr>
              <a:xfrm>
                <a:off x="4844841" y="4195507"/>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147" name="Rectangle 146">
                <a:extLst>
                  <a:ext uri="{FF2B5EF4-FFF2-40B4-BE49-F238E27FC236}">
                    <a16:creationId xmlns:a16="http://schemas.microsoft.com/office/drawing/2014/main" id="{B7F4941B-63C1-D69C-C4E6-E6DF25012171}"/>
                  </a:ext>
                </a:extLst>
              </p:cNvPr>
              <p:cNvSpPr/>
              <p:nvPr/>
            </p:nvSpPr>
            <p:spPr>
              <a:xfrm>
                <a:off x="5637937" y="386543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148" name="Rectangle 147">
                <a:extLst>
                  <a:ext uri="{FF2B5EF4-FFF2-40B4-BE49-F238E27FC236}">
                    <a16:creationId xmlns:a16="http://schemas.microsoft.com/office/drawing/2014/main" id="{1185DD2C-C056-85D9-B35A-EEF58A3B6DCA}"/>
                  </a:ext>
                </a:extLst>
              </p:cNvPr>
              <p:cNvSpPr/>
              <p:nvPr/>
            </p:nvSpPr>
            <p:spPr>
              <a:xfrm>
                <a:off x="5908449" y="4146553"/>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149" name="Rectangle 148">
                <a:extLst>
                  <a:ext uri="{FF2B5EF4-FFF2-40B4-BE49-F238E27FC236}">
                    <a16:creationId xmlns:a16="http://schemas.microsoft.com/office/drawing/2014/main" id="{5496411E-C07D-9770-D119-E69BDD159DEB}"/>
                  </a:ext>
                </a:extLst>
              </p:cNvPr>
              <p:cNvSpPr/>
              <p:nvPr/>
            </p:nvSpPr>
            <p:spPr>
              <a:xfrm>
                <a:off x="5973166" y="384301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pic>
            <p:nvPicPr>
              <p:cNvPr id="150" name="Graphique 149" descr="Personne confuse avec un remplissage uni">
                <a:extLst>
                  <a:ext uri="{FF2B5EF4-FFF2-40B4-BE49-F238E27FC236}">
                    <a16:creationId xmlns:a16="http://schemas.microsoft.com/office/drawing/2014/main" id="{FE5EC4C0-17D0-DAF3-CBC6-F2569E4038DB}"/>
                  </a:ext>
                </a:extLst>
              </p:cNvPr>
              <p:cNvPicPr>
                <a:picLocks noChangeAspect="1"/>
              </p:cNvPicPr>
              <p:nvPr/>
            </p:nvPicPr>
            <p:blipFill rotWithShape="1">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rcRect l="13721" r="14768" b="50034"/>
              <a:stretch/>
            </p:blipFill>
            <p:spPr>
              <a:xfrm>
                <a:off x="5070241" y="4696406"/>
                <a:ext cx="1565232" cy="1093672"/>
              </a:xfrm>
              <a:prstGeom prst="rect">
                <a:avLst/>
              </a:prstGeom>
            </p:spPr>
          </p:pic>
          <p:sp>
            <p:nvSpPr>
              <p:cNvPr id="151" name="Rectangle 150">
                <a:extLst>
                  <a:ext uri="{FF2B5EF4-FFF2-40B4-BE49-F238E27FC236}">
                    <a16:creationId xmlns:a16="http://schemas.microsoft.com/office/drawing/2014/main" id="{B7B2C075-497D-61C2-BDAE-667ABF732EDC}"/>
                  </a:ext>
                </a:extLst>
              </p:cNvPr>
              <p:cNvSpPr/>
              <p:nvPr/>
            </p:nvSpPr>
            <p:spPr>
              <a:xfrm>
                <a:off x="5070241" y="5355918"/>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pic>
            <p:nvPicPr>
              <p:cNvPr id="152" name="Graphique 151" descr="Homme avec un remplissage uni">
                <a:extLst>
                  <a:ext uri="{FF2B5EF4-FFF2-40B4-BE49-F238E27FC236}">
                    <a16:creationId xmlns:a16="http://schemas.microsoft.com/office/drawing/2014/main" id="{B24D4B47-0106-C7F5-8102-4C7D62178845}"/>
                  </a:ext>
                </a:extLst>
              </p:cNvPr>
              <p:cNvPicPr>
                <a:picLocks noChangeAspect="1"/>
              </p:cNvPicPr>
              <p:nvPr/>
            </p:nvPicPr>
            <p:blipFill rotWithShape="1">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rcRect t="1" b="40502"/>
              <a:stretch/>
            </p:blipFill>
            <p:spPr>
              <a:xfrm>
                <a:off x="3267315" y="4792695"/>
                <a:ext cx="2011658" cy="1226716"/>
              </a:xfrm>
              <a:prstGeom prst="rect">
                <a:avLst/>
              </a:prstGeom>
            </p:spPr>
          </p:pic>
          <p:pic>
            <p:nvPicPr>
              <p:cNvPr id="153" name="Graphique 152" descr="Homme avec un remplissage uni">
                <a:extLst>
                  <a:ext uri="{FF2B5EF4-FFF2-40B4-BE49-F238E27FC236}">
                    <a16:creationId xmlns:a16="http://schemas.microsoft.com/office/drawing/2014/main" id="{10EFBEC6-84AA-C04F-35DF-1FDE4FD0E1E6}"/>
                  </a:ext>
                </a:extLst>
              </p:cNvPr>
              <p:cNvPicPr>
                <a:picLocks noChangeAspect="1"/>
              </p:cNvPicPr>
              <p:nvPr/>
            </p:nvPicPr>
            <p:blipFill rotWithShape="1">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rcRect t="1" b="40502"/>
              <a:stretch/>
            </p:blipFill>
            <p:spPr>
              <a:xfrm>
                <a:off x="2276236" y="4718638"/>
                <a:ext cx="2061836" cy="1226716"/>
              </a:xfrm>
              <a:prstGeom prst="rect">
                <a:avLst/>
              </a:prstGeom>
            </p:spPr>
          </p:pic>
          <p:pic>
            <p:nvPicPr>
              <p:cNvPr id="154" name="Graphique 153" descr="Homme avec un remplissage uni">
                <a:extLst>
                  <a:ext uri="{FF2B5EF4-FFF2-40B4-BE49-F238E27FC236}">
                    <a16:creationId xmlns:a16="http://schemas.microsoft.com/office/drawing/2014/main" id="{8E3CE7B6-4972-4949-C587-06BF0AB912E9}"/>
                  </a:ext>
                </a:extLst>
              </p:cNvPr>
              <p:cNvPicPr>
                <a:picLocks noChangeAspect="1"/>
              </p:cNvPicPr>
              <p:nvPr/>
            </p:nvPicPr>
            <p:blipFill rotWithShape="1">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rcRect l="20753" t="1048" b="40502"/>
              <a:stretch/>
            </p:blipFill>
            <p:spPr>
              <a:xfrm>
                <a:off x="1774127" y="4845372"/>
                <a:ext cx="1633936" cy="1205138"/>
              </a:xfrm>
              <a:prstGeom prst="rect">
                <a:avLst/>
              </a:prstGeom>
            </p:spPr>
          </p:pic>
        </p:grpSp>
        <p:sp>
          <p:nvSpPr>
            <p:cNvPr id="157" name="Rectangle 156">
              <a:extLst>
                <a:ext uri="{FF2B5EF4-FFF2-40B4-BE49-F238E27FC236}">
                  <a16:creationId xmlns:a16="http://schemas.microsoft.com/office/drawing/2014/main" id="{4818FC37-D86C-5748-8747-BFA883F8DC58}"/>
                </a:ext>
              </a:extLst>
            </p:cNvPr>
            <p:cNvSpPr/>
            <p:nvPr/>
          </p:nvSpPr>
          <p:spPr>
            <a:xfrm>
              <a:off x="8301883" y="345214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grpSp>
          <p:nvGrpSpPr>
            <p:cNvPr id="158" name="Groupe 157">
              <a:extLst>
                <a:ext uri="{FF2B5EF4-FFF2-40B4-BE49-F238E27FC236}">
                  <a16:creationId xmlns:a16="http://schemas.microsoft.com/office/drawing/2014/main" id="{59AE55EA-F0E0-4180-B0FB-1B6F81F514D8}"/>
                </a:ext>
              </a:extLst>
            </p:cNvPr>
            <p:cNvGrpSpPr/>
            <p:nvPr/>
          </p:nvGrpSpPr>
          <p:grpSpPr>
            <a:xfrm>
              <a:off x="10008779" y="2591503"/>
              <a:ext cx="1458903" cy="810761"/>
              <a:chOff x="5262966" y="3441208"/>
              <a:chExt cx="5110014" cy="2839805"/>
            </a:xfrm>
          </p:grpSpPr>
          <p:pic>
            <p:nvPicPr>
              <p:cNvPr id="159" name="Graphique 158" descr="Personne confuse avec un remplissage uni">
                <a:extLst>
                  <a:ext uri="{FF2B5EF4-FFF2-40B4-BE49-F238E27FC236}">
                    <a16:creationId xmlns:a16="http://schemas.microsoft.com/office/drawing/2014/main" id="{30E1DEB8-954B-CAB1-DE35-6BA418D6B9D2}"/>
                  </a:ext>
                </a:extLst>
              </p:cNvPr>
              <p:cNvPicPr>
                <a:picLocks noChangeAspect="1"/>
              </p:cNvPicPr>
              <p:nvPr/>
            </p:nvPicPr>
            <p:blipFill rotWithShape="1">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rcRect l="13721" r="14768" b="50034"/>
              <a:stretch/>
            </p:blipFill>
            <p:spPr>
              <a:xfrm>
                <a:off x="6504238" y="4125117"/>
                <a:ext cx="1565232" cy="1093672"/>
              </a:xfrm>
              <a:prstGeom prst="rect">
                <a:avLst/>
              </a:prstGeom>
            </p:spPr>
          </p:pic>
          <p:pic>
            <p:nvPicPr>
              <p:cNvPr id="160" name="Graphique 159" descr="Homme avec un remplissage uni">
                <a:extLst>
                  <a:ext uri="{FF2B5EF4-FFF2-40B4-BE49-F238E27FC236}">
                    <a16:creationId xmlns:a16="http://schemas.microsoft.com/office/drawing/2014/main" id="{002FCD88-AF76-F0AE-9FBE-D13B0A92A53B}"/>
                  </a:ext>
                </a:extLst>
              </p:cNvPr>
              <p:cNvPicPr>
                <a:picLocks noChangeAspect="1"/>
              </p:cNvPicPr>
              <p:nvPr/>
            </p:nvPicPr>
            <p:blipFill rotWithShape="1">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rcRect l="22505" t="2891" b="40502"/>
              <a:stretch/>
            </p:blipFill>
            <p:spPr>
              <a:xfrm>
                <a:off x="5262966" y="4794268"/>
                <a:ext cx="1597831" cy="1167136"/>
              </a:xfrm>
              <a:prstGeom prst="rect">
                <a:avLst/>
              </a:prstGeom>
            </p:spPr>
          </p:pic>
          <p:pic>
            <p:nvPicPr>
              <p:cNvPr id="161" name="Graphique 160" descr="Homme avec un remplissage uni">
                <a:extLst>
                  <a:ext uri="{FF2B5EF4-FFF2-40B4-BE49-F238E27FC236}">
                    <a16:creationId xmlns:a16="http://schemas.microsoft.com/office/drawing/2014/main" id="{434B8612-C042-8782-AC16-81444D44D3E4}"/>
                  </a:ext>
                </a:extLst>
              </p:cNvPr>
              <p:cNvPicPr>
                <a:picLocks noChangeAspect="1"/>
              </p:cNvPicPr>
              <p:nvPr/>
            </p:nvPicPr>
            <p:blipFill rotWithShape="1">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rcRect t="1" b="40502"/>
              <a:stretch/>
            </p:blipFill>
            <p:spPr>
              <a:xfrm>
                <a:off x="5713008" y="4989115"/>
                <a:ext cx="2061836" cy="1226716"/>
              </a:xfrm>
              <a:prstGeom prst="rect">
                <a:avLst/>
              </a:prstGeom>
            </p:spPr>
          </p:pic>
          <p:pic>
            <p:nvPicPr>
              <p:cNvPr id="162" name="Graphique 161" descr="Homme avec un remplissage uni">
                <a:extLst>
                  <a:ext uri="{FF2B5EF4-FFF2-40B4-BE49-F238E27FC236}">
                    <a16:creationId xmlns:a16="http://schemas.microsoft.com/office/drawing/2014/main" id="{3B855B31-6A72-35D8-C5A0-45CC90D0B9C0}"/>
                  </a:ext>
                </a:extLst>
              </p:cNvPr>
              <p:cNvPicPr>
                <a:picLocks noChangeAspect="1"/>
              </p:cNvPicPr>
              <p:nvPr/>
            </p:nvPicPr>
            <p:blipFill rotWithShape="1">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rcRect t="1" b="40502"/>
              <a:stretch/>
            </p:blipFill>
            <p:spPr>
              <a:xfrm>
                <a:off x="7113689" y="5054297"/>
                <a:ext cx="2061836" cy="1226716"/>
              </a:xfrm>
              <a:prstGeom prst="rect">
                <a:avLst/>
              </a:prstGeom>
            </p:spPr>
          </p:pic>
          <p:pic>
            <p:nvPicPr>
              <p:cNvPr id="163" name="Graphique 162" descr="Homme avec un remplissage uni">
                <a:extLst>
                  <a:ext uri="{FF2B5EF4-FFF2-40B4-BE49-F238E27FC236}">
                    <a16:creationId xmlns:a16="http://schemas.microsoft.com/office/drawing/2014/main" id="{F089BACB-3F7A-2908-3EB8-60638E7C46BE}"/>
                  </a:ext>
                </a:extLst>
              </p:cNvPr>
              <p:cNvPicPr>
                <a:picLocks noChangeAspect="1"/>
              </p:cNvPicPr>
              <p:nvPr/>
            </p:nvPicPr>
            <p:blipFill rotWithShape="1">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rcRect t="1" b="40502"/>
              <a:stretch/>
            </p:blipFill>
            <p:spPr>
              <a:xfrm>
                <a:off x="8311144" y="4781138"/>
                <a:ext cx="2061836" cy="1226716"/>
              </a:xfrm>
              <a:prstGeom prst="rect">
                <a:avLst/>
              </a:prstGeom>
            </p:spPr>
          </p:pic>
          <p:grpSp>
            <p:nvGrpSpPr>
              <p:cNvPr id="164" name="Groupe 163">
                <a:extLst>
                  <a:ext uri="{FF2B5EF4-FFF2-40B4-BE49-F238E27FC236}">
                    <a16:creationId xmlns:a16="http://schemas.microsoft.com/office/drawing/2014/main" id="{B4932A64-1047-201A-BFA7-135616F4AADC}"/>
                  </a:ext>
                </a:extLst>
              </p:cNvPr>
              <p:cNvGrpSpPr/>
              <p:nvPr/>
            </p:nvGrpSpPr>
            <p:grpSpPr>
              <a:xfrm>
                <a:off x="5646534" y="3908602"/>
                <a:ext cx="1177654" cy="932398"/>
                <a:chOff x="7137810" y="856157"/>
                <a:chExt cx="1501399" cy="1188720"/>
              </a:xfrm>
            </p:grpSpPr>
            <p:grpSp>
              <p:nvGrpSpPr>
                <p:cNvPr id="181" name="Groupe 180">
                  <a:extLst>
                    <a:ext uri="{FF2B5EF4-FFF2-40B4-BE49-F238E27FC236}">
                      <a16:creationId xmlns:a16="http://schemas.microsoft.com/office/drawing/2014/main" id="{AE9F2B85-5E9D-317E-6762-A2616F864DA0}"/>
                    </a:ext>
                  </a:extLst>
                </p:cNvPr>
                <p:cNvGrpSpPr/>
                <p:nvPr/>
              </p:nvGrpSpPr>
              <p:grpSpPr>
                <a:xfrm>
                  <a:off x="7137810" y="856157"/>
                  <a:ext cx="1501399" cy="1188720"/>
                  <a:chOff x="1733248" y="3784720"/>
                  <a:chExt cx="1501399" cy="1188720"/>
                </a:xfrm>
              </p:grpSpPr>
              <p:pic>
                <p:nvPicPr>
                  <p:cNvPr id="183" name="Graphique 182" descr="Bulle de discussion contour">
                    <a:extLst>
                      <a:ext uri="{FF2B5EF4-FFF2-40B4-BE49-F238E27FC236}">
                        <a16:creationId xmlns:a16="http://schemas.microsoft.com/office/drawing/2014/main" id="{52B1D1C8-6DCA-3A5E-86A1-630346D4B4A2}"/>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801" b="12412"/>
                  <a:stretch/>
                </p:blipFill>
                <p:spPr>
                  <a:xfrm flipH="1">
                    <a:off x="1733248" y="3784720"/>
                    <a:ext cx="1501399" cy="1188720"/>
                  </a:xfrm>
                  <a:prstGeom prst="rect">
                    <a:avLst/>
                  </a:prstGeom>
                </p:spPr>
              </p:pic>
              <p:sp>
                <p:nvSpPr>
                  <p:cNvPr id="184" name="Rectangle 183">
                    <a:extLst>
                      <a:ext uri="{FF2B5EF4-FFF2-40B4-BE49-F238E27FC236}">
                        <a16:creationId xmlns:a16="http://schemas.microsoft.com/office/drawing/2014/main" id="{CE4C0ADB-1C62-FC00-979B-2B39917F03CC}"/>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182" name="Graphique 181" descr="Aide avec un remplissage uni">
                  <a:extLst>
                    <a:ext uri="{FF2B5EF4-FFF2-40B4-BE49-F238E27FC236}">
                      <a16:creationId xmlns:a16="http://schemas.microsoft.com/office/drawing/2014/main" id="{870CF5B1-FEA9-6D9E-EC4B-475B6B4A203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544153" y="960185"/>
                  <a:ext cx="679669" cy="679669"/>
                </a:xfrm>
                <a:prstGeom prst="rect">
                  <a:avLst/>
                </a:prstGeom>
              </p:spPr>
            </p:pic>
          </p:grpSp>
          <p:grpSp>
            <p:nvGrpSpPr>
              <p:cNvPr id="165" name="Groupe 164">
                <a:extLst>
                  <a:ext uri="{FF2B5EF4-FFF2-40B4-BE49-F238E27FC236}">
                    <a16:creationId xmlns:a16="http://schemas.microsoft.com/office/drawing/2014/main" id="{25E702C6-C29B-026F-434A-7E74F29C7B48}"/>
                  </a:ext>
                </a:extLst>
              </p:cNvPr>
              <p:cNvGrpSpPr/>
              <p:nvPr/>
            </p:nvGrpSpPr>
            <p:grpSpPr>
              <a:xfrm>
                <a:off x="9150985" y="3973784"/>
                <a:ext cx="1177654" cy="932398"/>
                <a:chOff x="7137810" y="856157"/>
                <a:chExt cx="1501399" cy="1188720"/>
              </a:xfrm>
            </p:grpSpPr>
            <p:grpSp>
              <p:nvGrpSpPr>
                <p:cNvPr id="177" name="Groupe 176">
                  <a:extLst>
                    <a:ext uri="{FF2B5EF4-FFF2-40B4-BE49-F238E27FC236}">
                      <a16:creationId xmlns:a16="http://schemas.microsoft.com/office/drawing/2014/main" id="{6B7FC8DE-ACDB-58A5-16CB-BA254B1FD9D4}"/>
                    </a:ext>
                  </a:extLst>
                </p:cNvPr>
                <p:cNvGrpSpPr/>
                <p:nvPr/>
              </p:nvGrpSpPr>
              <p:grpSpPr>
                <a:xfrm>
                  <a:off x="7137810" y="856157"/>
                  <a:ext cx="1501399" cy="1188720"/>
                  <a:chOff x="1733248" y="3784720"/>
                  <a:chExt cx="1501399" cy="1188720"/>
                </a:xfrm>
              </p:grpSpPr>
              <p:pic>
                <p:nvPicPr>
                  <p:cNvPr id="179" name="Graphique 178" descr="Bulle de discussion contour">
                    <a:extLst>
                      <a:ext uri="{FF2B5EF4-FFF2-40B4-BE49-F238E27FC236}">
                        <a16:creationId xmlns:a16="http://schemas.microsoft.com/office/drawing/2014/main" id="{7F020B15-6BBD-1D6B-ACBB-01F1E114718F}"/>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801" b="12412"/>
                  <a:stretch/>
                </p:blipFill>
                <p:spPr>
                  <a:xfrm flipH="1">
                    <a:off x="1733248" y="3784720"/>
                    <a:ext cx="1501399" cy="1188720"/>
                  </a:xfrm>
                  <a:prstGeom prst="rect">
                    <a:avLst/>
                  </a:prstGeom>
                </p:spPr>
              </p:pic>
              <p:sp>
                <p:nvSpPr>
                  <p:cNvPr id="180" name="Rectangle 179">
                    <a:extLst>
                      <a:ext uri="{FF2B5EF4-FFF2-40B4-BE49-F238E27FC236}">
                        <a16:creationId xmlns:a16="http://schemas.microsoft.com/office/drawing/2014/main" id="{10BBE57D-7441-5B59-5F37-FC60BDA28C1D}"/>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178" name="Graphique 177" descr="Aide avec un remplissage uni">
                  <a:extLst>
                    <a:ext uri="{FF2B5EF4-FFF2-40B4-BE49-F238E27FC236}">
                      <a16:creationId xmlns:a16="http://schemas.microsoft.com/office/drawing/2014/main" id="{D00126C4-5026-236C-9FBD-A9049300D4A2}"/>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7544153" y="960185"/>
                  <a:ext cx="679669" cy="679669"/>
                </a:xfrm>
                <a:prstGeom prst="rect">
                  <a:avLst/>
                </a:prstGeom>
              </p:spPr>
            </p:pic>
          </p:grpSp>
          <p:grpSp>
            <p:nvGrpSpPr>
              <p:cNvPr id="166" name="Groupe 165">
                <a:extLst>
                  <a:ext uri="{FF2B5EF4-FFF2-40B4-BE49-F238E27FC236}">
                    <a16:creationId xmlns:a16="http://schemas.microsoft.com/office/drawing/2014/main" id="{ED665B54-804A-BFBE-DF19-E5410467AEE7}"/>
                  </a:ext>
                </a:extLst>
              </p:cNvPr>
              <p:cNvGrpSpPr/>
              <p:nvPr/>
            </p:nvGrpSpPr>
            <p:grpSpPr>
              <a:xfrm>
                <a:off x="7995548" y="4371003"/>
                <a:ext cx="1177654" cy="932398"/>
                <a:chOff x="7137810" y="856157"/>
                <a:chExt cx="1501399" cy="1188720"/>
              </a:xfrm>
            </p:grpSpPr>
            <p:grpSp>
              <p:nvGrpSpPr>
                <p:cNvPr id="173" name="Groupe 172">
                  <a:extLst>
                    <a:ext uri="{FF2B5EF4-FFF2-40B4-BE49-F238E27FC236}">
                      <a16:creationId xmlns:a16="http://schemas.microsoft.com/office/drawing/2014/main" id="{4D406C51-2493-792D-686C-BB772E6E1871}"/>
                    </a:ext>
                  </a:extLst>
                </p:cNvPr>
                <p:cNvGrpSpPr/>
                <p:nvPr/>
              </p:nvGrpSpPr>
              <p:grpSpPr>
                <a:xfrm>
                  <a:off x="7137810" y="856157"/>
                  <a:ext cx="1501399" cy="1188720"/>
                  <a:chOff x="1733248" y="3784720"/>
                  <a:chExt cx="1501399" cy="1188720"/>
                </a:xfrm>
              </p:grpSpPr>
              <p:pic>
                <p:nvPicPr>
                  <p:cNvPr id="175" name="Graphique 174" descr="Bulle de discussion contour">
                    <a:extLst>
                      <a:ext uri="{FF2B5EF4-FFF2-40B4-BE49-F238E27FC236}">
                        <a16:creationId xmlns:a16="http://schemas.microsoft.com/office/drawing/2014/main" id="{1F9325E6-B6C3-C072-0D0B-ED1211595774}"/>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801" b="12412"/>
                  <a:stretch/>
                </p:blipFill>
                <p:spPr>
                  <a:xfrm flipH="1">
                    <a:off x="1733248" y="3784720"/>
                    <a:ext cx="1501399" cy="1188720"/>
                  </a:xfrm>
                  <a:prstGeom prst="rect">
                    <a:avLst/>
                  </a:prstGeom>
                </p:spPr>
              </p:pic>
              <p:sp>
                <p:nvSpPr>
                  <p:cNvPr id="176" name="Rectangle 175">
                    <a:extLst>
                      <a:ext uri="{FF2B5EF4-FFF2-40B4-BE49-F238E27FC236}">
                        <a16:creationId xmlns:a16="http://schemas.microsoft.com/office/drawing/2014/main" id="{A2BAB048-58BE-CA3D-3AC3-144A9A721DCA}"/>
                      </a:ext>
                    </a:extLst>
                  </p:cNvPr>
                  <p:cNvSpPr/>
                  <p:nvPr/>
                </p:nvSpPr>
                <p:spPr>
                  <a:xfrm>
                    <a:off x="1992203" y="3912698"/>
                    <a:ext cx="964659" cy="693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174" name="Graphique 173" descr="Aide avec un remplissage uni">
                  <a:extLst>
                    <a:ext uri="{FF2B5EF4-FFF2-40B4-BE49-F238E27FC236}">
                      <a16:creationId xmlns:a16="http://schemas.microsoft.com/office/drawing/2014/main" id="{3D3B5C94-8A7A-BF82-ED4E-3A4977289FAD}"/>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544153" y="960186"/>
                  <a:ext cx="679669" cy="679669"/>
                </a:xfrm>
                <a:prstGeom prst="rect">
                  <a:avLst/>
                </a:prstGeom>
              </p:spPr>
            </p:pic>
          </p:grpSp>
          <p:grpSp>
            <p:nvGrpSpPr>
              <p:cNvPr id="167" name="Groupe 166">
                <a:extLst>
                  <a:ext uri="{FF2B5EF4-FFF2-40B4-BE49-F238E27FC236}">
                    <a16:creationId xmlns:a16="http://schemas.microsoft.com/office/drawing/2014/main" id="{873A45A3-ADC1-08E2-8A0E-00EE632A52BB}"/>
                  </a:ext>
                </a:extLst>
              </p:cNvPr>
              <p:cNvGrpSpPr/>
              <p:nvPr/>
            </p:nvGrpSpPr>
            <p:grpSpPr>
              <a:xfrm flipH="1">
                <a:off x="5659211" y="5047355"/>
                <a:ext cx="1111063" cy="932398"/>
                <a:chOff x="1733248" y="3784720"/>
                <a:chExt cx="1501399" cy="1188720"/>
              </a:xfrm>
            </p:grpSpPr>
            <p:pic>
              <p:nvPicPr>
                <p:cNvPr id="171" name="Graphique 170" descr="Bulle de discussion contour">
                  <a:extLst>
                    <a:ext uri="{FF2B5EF4-FFF2-40B4-BE49-F238E27FC236}">
                      <a16:creationId xmlns:a16="http://schemas.microsoft.com/office/drawing/2014/main" id="{930E72BA-1BA5-69FB-BD14-160B481DE2B8}"/>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801" b="12412"/>
                <a:stretch/>
              </p:blipFill>
              <p:spPr>
                <a:xfrm flipH="1">
                  <a:off x="1733248" y="3784720"/>
                  <a:ext cx="1501399" cy="1188720"/>
                </a:xfrm>
                <a:prstGeom prst="rect">
                  <a:avLst/>
                </a:prstGeom>
              </p:spPr>
            </p:pic>
            <p:sp>
              <p:nvSpPr>
                <p:cNvPr id="172" name="Rectangle 171">
                  <a:extLst>
                    <a:ext uri="{FF2B5EF4-FFF2-40B4-BE49-F238E27FC236}">
                      <a16:creationId xmlns:a16="http://schemas.microsoft.com/office/drawing/2014/main" id="{A2DDBC06-8F21-0F59-BED0-B9D50F911ECB}"/>
                    </a:ext>
                  </a:extLst>
                </p:cNvPr>
                <p:cNvSpPr/>
                <p:nvPr/>
              </p:nvSpPr>
              <p:spPr>
                <a:xfrm>
                  <a:off x="2011149" y="3919483"/>
                  <a:ext cx="958375" cy="701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169" name="Graphique 168" descr="Aide avec un remplissage uni">
                <a:extLst>
                  <a:ext uri="{FF2B5EF4-FFF2-40B4-BE49-F238E27FC236}">
                    <a16:creationId xmlns:a16="http://schemas.microsoft.com/office/drawing/2014/main" id="{6A3DF7EE-6C6B-C517-97E7-AF3C6C8F2239}"/>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5962303" y="5137520"/>
                <a:ext cx="533113" cy="533113"/>
              </a:xfrm>
              <a:prstGeom prst="rect">
                <a:avLst/>
              </a:prstGeom>
            </p:spPr>
          </p:pic>
          <p:pic>
            <p:nvPicPr>
              <p:cNvPr id="170" name="Graphique 169" descr="Bulle de discussion contour">
                <a:extLst>
                  <a:ext uri="{FF2B5EF4-FFF2-40B4-BE49-F238E27FC236}">
                    <a16:creationId xmlns:a16="http://schemas.microsoft.com/office/drawing/2014/main" id="{E9160ADB-8962-D210-7C36-9A2CA2E71CE9}"/>
                  </a:ext>
                </a:extLst>
              </p:cNvPr>
              <p:cNvPicPr>
                <a:picLocks noChangeAspect="1"/>
              </p:cNvPicPr>
              <p:nvPr/>
            </p:nvPicPr>
            <p:blipFill rotWithShape="1">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rcRect t="16003" b="12311"/>
              <a:stretch/>
            </p:blipFill>
            <p:spPr>
              <a:xfrm flipH="1">
                <a:off x="6853990" y="3441208"/>
                <a:ext cx="1436183" cy="777844"/>
              </a:xfrm>
              <a:prstGeom prst="rect">
                <a:avLst/>
              </a:prstGeom>
            </p:spPr>
          </p:pic>
        </p:grpSp>
        <p:sp>
          <p:nvSpPr>
            <p:cNvPr id="185" name="Rectangle 184">
              <a:extLst>
                <a:ext uri="{FF2B5EF4-FFF2-40B4-BE49-F238E27FC236}">
                  <a16:creationId xmlns:a16="http://schemas.microsoft.com/office/drawing/2014/main" id="{10683CC2-63D0-8971-0362-EB5EEB238882}"/>
                </a:ext>
              </a:extLst>
            </p:cNvPr>
            <p:cNvSpPr/>
            <p:nvPr/>
          </p:nvSpPr>
          <p:spPr>
            <a:xfrm>
              <a:off x="9944477" y="3453547"/>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grpSp>
          <p:nvGrpSpPr>
            <p:cNvPr id="186" name="Groupe 185">
              <a:extLst>
                <a:ext uri="{FF2B5EF4-FFF2-40B4-BE49-F238E27FC236}">
                  <a16:creationId xmlns:a16="http://schemas.microsoft.com/office/drawing/2014/main" id="{02E7F899-605D-21F6-5BAB-7E7AB142D695}"/>
                </a:ext>
              </a:extLst>
            </p:cNvPr>
            <p:cNvGrpSpPr/>
            <p:nvPr/>
          </p:nvGrpSpPr>
          <p:grpSpPr>
            <a:xfrm>
              <a:off x="11765139" y="2637753"/>
              <a:ext cx="1110925" cy="841667"/>
              <a:chOff x="1506440" y="3824518"/>
              <a:chExt cx="3572592" cy="2706694"/>
            </a:xfrm>
          </p:grpSpPr>
          <p:pic>
            <p:nvPicPr>
              <p:cNvPr id="187" name="Graphique 186" descr="Écran avec un remplissage uni">
                <a:extLst>
                  <a:ext uri="{FF2B5EF4-FFF2-40B4-BE49-F238E27FC236}">
                    <a16:creationId xmlns:a16="http://schemas.microsoft.com/office/drawing/2014/main" id="{F8B0223D-5C22-CC12-821D-1173BDC9322A}"/>
                  </a:ext>
                </a:extLst>
              </p:cNvPr>
              <p:cNvPicPr>
                <a:picLocks noChangeAspect="1"/>
              </p:cNvPicPr>
              <p:nvPr/>
            </p:nvPicPr>
            <p:blipFill rotWithShape="1">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rcRect t="12489" b="11748"/>
              <a:stretch/>
            </p:blipFill>
            <p:spPr>
              <a:xfrm>
                <a:off x="1506440" y="3824518"/>
                <a:ext cx="3572592" cy="2706694"/>
              </a:xfrm>
              <a:prstGeom prst="rect">
                <a:avLst/>
              </a:prstGeom>
            </p:spPr>
          </p:pic>
          <p:pic>
            <p:nvPicPr>
              <p:cNvPr id="188" name="Graphique 187" descr="Aide avec un remplissage uni">
                <a:extLst>
                  <a:ext uri="{FF2B5EF4-FFF2-40B4-BE49-F238E27FC236}">
                    <a16:creationId xmlns:a16="http://schemas.microsoft.com/office/drawing/2014/main" id="{2A774B9B-441E-5B15-ADA4-0975367C20A1}"/>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2214410" y="4182812"/>
                <a:ext cx="533113" cy="533113"/>
              </a:xfrm>
              <a:prstGeom prst="rect">
                <a:avLst/>
              </a:prstGeom>
            </p:spPr>
          </p:pic>
          <p:pic>
            <p:nvPicPr>
              <p:cNvPr id="189" name="Graphique 188" descr="Aide avec un remplissage uni">
                <a:extLst>
                  <a:ext uri="{FF2B5EF4-FFF2-40B4-BE49-F238E27FC236}">
                    <a16:creationId xmlns:a16="http://schemas.microsoft.com/office/drawing/2014/main" id="{23056978-0FF1-20B0-FAA0-35605233C4D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2204900" y="4678870"/>
                <a:ext cx="533113" cy="533113"/>
              </a:xfrm>
              <a:prstGeom prst="rect">
                <a:avLst/>
              </a:prstGeom>
            </p:spPr>
          </p:pic>
          <p:pic>
            <p:nvPicPr>
              <p:cNvPr id="190" name="Graphique 189" descr="Aide avec un remplissage uni">
                <a:extLst>
                  <a:ext uri="{FF2B5EF4-FFF2-40B4-BE49-F238E27FC236}">
                    <a16:creationId xmlns:a16="http://schemas.microsoft.com/office/drawing/2014/main" id="{962E8012-1E48-D1FF-A0ED-E04FDF199BE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2204899" y="5183146"/>
                <a:ext cx="533113" cy="533113"/>
              </a:xfrm>
              <a:prstGeom prst="rect">
                <a:avLst/>
              </a:prstGeom>
            </p:spPr>
          </p:pic>
          <p:sp>
            <p:nvSpPr>
              <p:cNvPr id="191" name="Rectangle 190">
                <a:extLst>
                  <a:ext uri="{FF2B5EF4-FFF2-40B4-BE49-F238E27FC236}">
                    <a16:creationId xmlns:a16="http://schemas.microsoft.com/office/drawing/2014/main" id="{0F417CC9-3ED6-3334-27B1-5B2E89E39F91}"/>
                  </a:ext>
                </a:extLst>
              </p:cNvPr>
              <p:cNvSpPr/>
              <p:nvPr/>
            </p:nvSpPr>
            <p:spPr>
              <a:xfrm>
                <a:off x="2747956" y="4268422"/>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 name="Rectangle 191">
                <a:extLst>
                  <a:ext uri="{FF2B5EF4-FFF2-40B4-BE49-F238E27FC236}">
                    <a16:creationId xmlns:a16="http://schemas.microsoft.com/office/drawing/2014/main" id="{AAEA0263-950B-219A-655D-67422024396E}"/>
                  </a:ext>
                </a:extLst>
              </p:cNvPr>
              <p:cNvSpPr/>
              <p:nvPr/>
            </p:nvSpPr>
            <p:spPr>
              <a:xfrm>
                <a:off x="2747956" y="4401646"/>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3" name="Rectangle 192">
                <a:extLst>
                  <a:ext uri="{FF2B5EF4-FFF2-40B4-BE49-F238E27FC236}">
                    <a16:creationId xmlns:a16="http://schemas.microsoft.com/office/drawing/2014/main" id="{CD236662-AB15-5795-E819-DE674B6754AA}"/>
                  </a:ext>
                </a:extLst>
              </p:cNvPr>
              <p:cNvSpPr/>
              <p:nvPr/>
            </p:nvSpPr>
            <p:spPr>
              <a:xfrm>
                <a:off x="2747956" y="4541907"/>
                <a:ext cx="842969" cy="536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4" name="Rectangle 193">
                <a:extLst>
                  <a:ext uri="{FF2B5EF4-FFF2-40B4-BE49-F238E27FC236}">
                    <a16:creationId xmlns:a16="http://schemas.microsoft.com/office/drawing/2014/main" id="{A9552FEF-709C-F846-1EF1-3B77FCC52E6D}"/>
                  </a:ext>
                </a:extLst>
              </p:cNvPr>
              <p:cNvSpPr/>
              <p:nvPr/>
            </p:nvSpPr>
            <p:spPr>
              <a:xfrm>
                <a:off x="2738012" y="4837318"/>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5" name="Rectangle 194">
                <a:extLst>
                  <a:ext uri="{FF2B5EF4-FFF2-40B4-BE49-F238E27FC236}">
                    <a16:creationId xmlns:a16="http://schemas.microsoft.com/office/drawing/2014/main" id="{310A88CA-F15D-22D1-C650-E25386B1EE7B}"/>
                  </a:ext>
                </a:extLst>
              </p:cNvPr>
              <p:cNvSpPr/>
              <p:nvPr/>
            </p:nvSpPr>
            <p:spPr>
              <a:xfrm>
                <a:off x="2738012" y="4954061"/>
                <a:ext cx="1219919" cy="45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6" name="Rectangle 195">
                <a:extLst>
                  <a:ext uri="{FF2B5EF4-FFF2-40B4-BE49-F238E27FC236}">
                    <a16:creationId xmlns:a16="http://schemas.microsoft.com/office/drawing/2014/main" id="{0EBAD35D-5642-1119-6638-560627E206FF}"/>
                  </a:ext>
                </a:extLst>
              </p:cNvPr>
              <p:cNvSpPr/>
              <p:nvPr/>
            </p:nvSpPr>
            <p:spPr>
              <a:xfrm>
                <a:off x="2744425" y="5374984"/>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7" name="Rectangle 196">
                <a:extLst>
                  <a:ext uri="{FF2B5EF4-FFF2-40B4-BE49-F238E27FC236}">
                    <a16:creationId xmlns:a16="http://schemas.microsoft.com/office/drawing/2014/main" id="{7E9931AC-8AE8-277A-CB20-76136F69FD0F}"/>
                  </a:ext>
                </a:extLst>
              </p:cNvPr>
              <p:cNvSpPr/>
              <p:nvPr/>
            </p:nvSpPr>
            <p:spPr>
              <a:xfrm>
                <a:off x="2744425" y="5469715"/>
                <a:ext cx="141121" cy="45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198" name="Rectangle 197">
              <a:extLst>
                <a:ext uri="{FF2B5EF4-FFF2-40B4-BE49-F238E27FC236}">
                  <a16:creationId xmlns:a16="http://schemas.microsoft.com/office/drawing/2014/main" id="{A97F2ACF-45D0-1039-0B2B-C0B0DEB926AB}"/>
                </a:ext>
              </a:extLst>
            </p:cNvPr>
            <p:cNvSpPr/>
            <p:nvPr/>
          </p:nvSpPr>
          <p:spPr>
            <a:xfrm>
              <a:off x="11618128" y="345214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grpSp>
          <p:nvGrpSpPr>
            <p:cNvPr id="199" name="Groupe 198">
              <a:extLst>
                <a:ext uri="{FF2B5EF4-FFF2-40B4-BE49-F238E27FC236}">
                  <a16:creationId xmlns:a16="http://schemas.microsoft.com/office/drawing/2014/main" id="{1FB45F4A-2CB7-9336-1923-50C1E7B0F498}"/>
                </a:ext>
              </a:extLst>
            </p:cNvPr>
            <p:cNvGrpSpPr/>
            <p:nvPr/>
          </p:nvGrpSpPr>
          <p:grpSpPr>
            <a:xfrm>
              <a:off x="13510361" y="2680562"/>
              <a:ext cx="1048684" cy="794512"/>
              <a:chOff x="7707845" y="3809110"/>
              <a:chExt cx="3572592" cy="2706694"/>
            </a:xfrm>
          </p:grpSpPr>
          <p:pic>
            <p:nvPicPr>
              <p:cNvPr id="200" name="Graphique 199" descr="Écran avec un remplissage uni">
                <a:extLst>
                  <a:ext uri="{FF2B5EF4-FFF2-40B4-BE49-F238E27FC236}">
                    <a16:creationId xmlns:a16="http://schemas.microsoft.com/office/drawing/2014/main" id="{245609C4-DC3E-439B-1E20-4B42F7DBA0FA}"/>
                  </a:ext>
                </a:extLst>
              </p:cNvPr>
              <p:cNvPicPr>
                <a:picLocks noChangeAspect="1"/>
              </p:cNvPicPr>
              <p:nvPr/>
            </p:nvPicPr>
            <p:blipFill rotWithShape="1">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rcRect t="12489" b="11748"/>
              <a:stretch/>
            </p:blipFill>
            <p:spPr>
              <a:xfrm>
                <a:off x="7707845" y="3809110"/>
                <a:ext cx="3572592" cy="2706694"/>
              </a:xfrm>
              <a:prstGeom prst="rect">
                <a:avLst/>
              </a:prstGeom>
            </p:spPr>
          </p:pic>
          <p:pic>
            <p:nvPicPr>
              <p:cNvPr id="201" name="Graphique 200" descr="Nuage de points contour">
                <a:extLst>
                  <a:ext uri="{FF2B5EF4-FFF2-40B4-BE49-F238E27FC236}">
                    <a16:creationId xmlns:a16="http://schemas.microsoft.com/office/drawing/2014/main" id="{22CFF7C2-26E9-F3E6-B77D-3B27C9AF89A2}"/>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9781041" y="4872876"/>
                <a:ext cx="914400" cy="914400"/>
              </a:xfrm>
              <a:prstGeom prst="rect">
                <a:avLst/>
              </a:prstGeom>
            </p:spPr>
          </p:pic>
          <p:pic>
            <p:nvPicPr>
              <p:cNvPr id="202" name="Graphique 201" descr="Graphique en radar contour">
                <a:extLst>
                  <a:ext uri="{FF2B5EF4-FFF2-40B4-BE49-F238E27FC236}">
                    <a16:creationId xmlns:a16="http://schemas.microsoft.com/office/drawing/2014/main" id="{B169196E-F7A7-0EB0-10F1-0DDC77AEDBF8}"/>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a:off x="8445896" y="4103814"/>
                <a:ext cx="914400" cy="914400"/>
              </a:xfrm>
              <a:prstGeom prst="rect">
                <a:avLst/>
              </a:prstGeom>
            </p:spPr>
          </p:pic>
          <p:pic>
            <p:nvPicPr>
              <p:cNvPr id="203" name="Graphique 202" descr="Graphique en secteurs avec un remplissage uni">
                <a:extLst>
                  <a:ext uri="{FF2B5EF4-FFF2-40B4-BE49-F238E27FC236}">
                    <a16:creationId xmlns:a16="http://schemas.microsoft.com/office/drawing/2014/main" id="{F6378D62-11FC-0E5C-2933-79FEA21D73D9}"/>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a:off x="9781041" y="4102813"/>
                <a:ext cx="914400" cy="914400"/>
              </a:xfrm>
              <a:prstGeom prst="rect">
                <a:avLst/>
              </a:prstGeom>
            </p:spPr>
          </p:pic>
          <p:pic>
            <p:nvPicPr>
              <p:cNvPr id="204" name="Graphique 203" descr="Signe pouce en haut avec un remplissage uni">
                <a:extLst>
                  <a:ext uri="{FF2B5EF4-FFF2-40B4-BE49-F238E27FC236}">
                    <a16:creationId xmlns:a16="http://schemas.microsoft.com/office/drawing/2014/main" id="{AAEA524F-9B56-68B8-B00D-AEFE93D8F402}"/>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8872671" y="4942539"/>
                <a:ext cx="470653" cy="470653"/>
              </a:xfrm>
              <a:prstGeom prst="rect">
                <a:avLst/>
              </a:prstGeom>
            </p:spPr>
          </p:pic>
          <p:sp>
            <p:nvSpPr>
              <p:cNvPr id="205" name="ZoneTexte 204">
                <a:extLst>
                  <a:ext uri="{FF2B5EF4-FFF2-40B4-BE49-F238E27FC236}">
                    <a16:creationId xmlns:a16="http://schemas.microsoft.com/office/drawing/2014/main" id="{BF012A8A-8766-4946-4684-4E61DED2A881}"/>
                  </a:ext>
                </a:extLst>
              </p:cNvPr>
              <p:cNvSpPr txBox="1"/>
              <p:nvPr/>
            </p:nvSpPr>
            <p:spPr>
              <a:xfrm>
                <a:off x="8333956" y="5043862"/>
                <a:ext cx="825705" cy="471830"/>
              </a:xfrm>
              <a:prstGeom prst="rect">
                <a:avLst/>
              </a:prstGeom>
              <a:noFill/>
            </p:spPr>
            <p:txBody>
              <a:bodyPr wrap="none" rtlCol="0">
                <a:spAutoFit/>
              </a:bodyPr>
              <a:lstStyle/>
              <a:p>
                <a:r>
                  <a:rPr lang="fr-FR" sz="300" dirty="0"/>
                  <a:t>512</a:t>
                </a:r>
              </a:p>
            </p:txBody>
          </p:sp>
          <p:sp>
            <p:nvSpPr>
              <p:cNvPr id="206" name="ZoneTexte 205">
                <a:extLst>
                  <a:ext uri="{FF2B5EF4-FFF2-40B4-BE49-F238E27FC236}">
                    <a16:creationId xmlns:a16="http://schemas.microsoft.com/office/drawing/2014/main" id="{970AEAFA-AAB7-2647-AFC3-5947CD47540E}"/>
                  </a:ext>
                </a:extLst>
              </p:cNvPr>
              <p:cNvSpPr txBox="1"/>
              <p:nvPr/>
            </p:nvSpPr>
            <p:spPr>
              <a:xfrm>
                <a:off x="8468611" y="5332358"/>
                <a:ext cx="760173" cy="471830"/>
              </a:xfrm>
              <a:prstGeom prst="rect">
                <a:avLst/>
              </a:prstGeom>
              <a:noFill/>
            </p:spPr>
            <p:txBody>
              <a:bodyPr wrap="none" rtlCol="0">
                <a:spAutoFit/>
              </a:bodyPr>
              <a:lstStyle/>
              <a:p>
                <a:r>
                  <a:rPr lang="fr-FR" sz="300" dirty="0"/>
                  <a:t>32</a:t>
                </a:r>
              </a:p>
            </p:txBody>
          </p:sp>
          <p:pic>
            <p:nvPicPr>
              <p:cNvPr id="207" name="Graphique 206" descr="Signe pouce en haut avec un remplissage uni">
                <a:extLst>
                  <a:ext uri="{FF2B5EF4-FFF2-40B4-BE49-F238E27FC236}">
                    <a16:creationId xmlns:a16="http://schemas.microsoft.com/office/drawing/2014/main" id="{A73D27DD-5B20-3CD5-A920-AA26BB838CB4}"/>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flipV="1">
                <a:off x="8903096" y="5352168"/>
                <a:ext cx="403358" cy="403358"/>
              </a:xfrm>
              <a:prstGeom prst="rect">
                <a:avLst/>
              </a:prstGeom>
            </p:spPr>
          </p:pic>
        </p:grpSp>
        <p:sp>
          <p:nvSpPr>
            <p:cNvPr id="208" name="Rectangle 207">
              <a:extLst>
                <a:ext uri="{FF2B5EF4-FFF2-40B4-BE49-F238E27FC236}">
                  <a16:creationId xmlns:a16="http://schemas.microsoft.com/office/drawing/2014/main" id="{6DDF3386-E640-A9DA-4E4F-E245966F529E}"/>
                </a:ext>
              </a:extLst>
            </p:cNvPr>
            <p:cNvSpPr/>
            <p:nvPr/>
          </p:nvSpPr>
          <p:spPr>
            <a:xfrm>
              <a:off x="13260724" y="345827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grpSp>
          <p:nvGrpSpPr>
            <p:cNvPr id="209" name="Groupe 208">
              <a:extLst>
                <a:ext uri="{FF2B5EF4-FFF2-40B4-BE49-F238E27FC236}">
                  <a16:creationId xmlns:a16="http://schemas.microsoft.com/office/drawing/2014/main" id="{BBFC4794-2301-0461-A7B8-326F7A589640}"/>
                </a:ext>
              </a:extLst>
            </p:cNvPr>
            <p:cNvGrpSpPr/>
            <p:nvPr/>
          </p:nvGrpSpPr>
          <p:grpSpPr>
            <a:xfrm>
              <a:off x="5277201" y="4913784"/>
              <a:ext cx="987844" cy="884966"/>
              <a:chOff x="4425170" y="3632190"/>
              <a:chExt cx="3109158" cy="2785359"/>
            </a:xfrm>
          </p:grpSpPr>
          <p:grpSp>
            <p:nvGrpSpPr>
              <p:cNvPr id="210" name="Groupe 209">
                <a:extLst>
                  <a:ext uri="{FF2B5EF4-FFF2-40B4-BE49-F238E27FC236}">
                    <a16:creationId xmlns:a16="http://schemas.microsoft.com/office/drawing/2014/main" id="{E6D31424-33D8-83C5-D697-A5F007D410A8}"/>
                  </a:ext>
                </a:extLst>
              </p:cNvPr>
              <p:cNvGrpSpPr/>
              <p:nvPr/>
            </p:nvGrpSpPr>
            <p:grpSpPr>
              <a:xfrm>
                <a:off x="4425170" y="3632190"/>
                <a:ext cx="3109158" cy="2785359"/>
                <a:chOff x="7455204" y="423920"/>
                <a:chExt cx="3109158" cy="2785359"/>
              </a:xfrm>
            </p:grpSpPr>
            <p:grpSp>
              <p:nvGrpSpPr>
                <p:cNvPr id="219" name="Groupe 218">
                  <a:extLst>
                    <a:ext uri="{FF2B5EF4-FFF2-40B4-BE49-F238E27FC236}">
                      <a16:creationId xmlns:a16="http://schemas.microsoft.com/office/drawing/2014/main" id="{9AD5CAF2-50C1-709E-0C87-47A2E2E64A1B}"/>
                    </a:ext>
                  </a:extLst>
                </p:cNvPr>
                <p:cNvGrpSpPr/>
                <p:nvPr/>
              </p:nvGrpSpPr>
              <p:grpSpPr>
                <a:xfrm>
                  <a:off x="7645253" y="585600"/>
                  <a:ext cx="2773811" cy="2623679"/>
                  <a:chOff x="7693584" y="632578"/>
                  <a:chExt cx="2773811" cy="2623679"/>
                </a:xfrm>
              </p:grpSpPr>
              <p:sp>
                <p:nvSpPr>
                  <p:cNvPr id="228" name="Ellipse 227">
                    <a:extLst>
                      <a:ext uri="{FF2B5EF4-FFF2-40B4-BE49-F238E27FC236}">
                        <a16:creationId xmlns:a16="http://schemas.microsoft.com/office/drawing/2014/main" id="{BD903BBA-3B7B-92B0-5307-42F1002DDECA}"/>
                      </a:ext>
                    </a:extLst>
                  </p:cNvPr>
                  <p:cNvSpPr/>
                  <p:nvPr/>
                </p:nvSpPr>
                <p:spPr>
                  <a:xfrm>
                    <a:off x="8234943" y="63257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29" name="Ellipse 228">
                    <a:extLst>
                      <a:ext uri="{FF2B5EF4-FFF2-40B4-BE49-F238E27FC236}">
                        <a16:creationId xmlns:a16="http://schemas.microsoft.com/office/drawing/2014/main" id="{7C2F8C9F-B434-D8AE-2F41-8E4C12F67B2A}"/>
                      </a:ext>
                    </a:extLst>
                  </p:cNvPr>
                  <p:cNvSpPr/>
                  <p:nvPr/>
                </p:nvSpPr>
                <p:spPr>
                  <a:xfrm>
                    <a:off x="7693584" y="150713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30" name="Ellipse 229">
                    <a:extLst>
                      <a:ext uri="{FF2B5EF4-FFF2-40B4-BE49-F238E27FC236}">
                        <a16:creationId xmlns:a16="http://schemas.microsoft.com/office/drawing/2014/main" id="{05CE44DF-234B-3181-0237-83E8CAF43937}"/>
                      </a:ext>
                    </a:extLst>
                  </p:cNvPr>
                  <p:cNvSpPr/>
                  <p:nvPr/>
                </p:nvSpPr>
                <p:spPr>
                  <a:xfrm>
                    <a:off x="8718277" y="150713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pic>
              <p:nvPicPr>
                <p:cNvPr id="220" name="Graphique 219" descr="Logement avec un remplissage uni">
                  <a:extLst>
                    <a:ext uri="{FF2B5EF4-FFF2-40B4-BE49-F238E27FC236}">
                      <a16:creationId xmlns:a16="http://schemas.microsoft.com/office/drawing/2014/main" id="{2D214B57-7271-1C8B-EB19-27C51EE39416}"/>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9937244" y="2487557"/>
                  <a:ext cx="627118" cy="627118"/>
                </a:xfrm>
                <a:prstGeom prst="rect">
                  <a:avLst/>
                </a:prstGeom>
              </p:spPr>
            </p:pic>
            <p:pic>
              <p:nvPicPr>
                <p:cNvPr id="221" name="Graphique 220" descr="Outils d'exploitation minière avec un remplissage uni">
                  <a:extLst>
                    <a:ext uri="{FF2B5EF4-FFF2-40B4-BE49-F238E27FC236}">
                      <a16:creationId xmlns:a16="http://schemas.microsoft.com/office/drawing/2014/main" id="{8672DA1D-53D3-99AD-BACD-BBE7DA268331}"/>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7455204" y="2531261"/>
                  <a:ext cx="580613" cy="580613"/>
                </a:xfrm>
                <a:prstGeom prst="rect">
                  <a:avLst/>
                </a:prstGeom>
              </p:spPr>
            </p:pic>
            <p:pic>
              <p:nvPicPr>
                <p:cNvPr id="222" name="Graphique 221" descr="Cœur avec un remplissage uni">
                  <a:extLst>
                    <a:ext uri="{FF2B5EF4-FFF2-40B4-BE49-F238E27FC236}">
                      <a16:creationId xmlns:a16="http://schemas.microsoft.com/office/drawing/2014/main" id="{FA710212-BB9A-E00D-21D3-61A292B25D30}"/>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8735090" y="423920"/>
                  <a:ext cx="652161" cy="652161"/>
                </a:xfrm>
                <a:prstGeom prst="rect">
                  <a:avLst/>
                </a:prstGeom>
              </p:spPr>
            </p:pic>
          </p:grpSp>
          <p:sp>
            <p:nvSpPr>
              <p:cNvPr id="211" name="Rectangle 210">
                <a:extLst>
                  <a:ext uri="{FF2B5EF4-FFF2-40B4-BE49-F238E27FC236}">
                    <a16:creationId xmlns:a16="http://schemas.microsoft.com/office/drawing/2014/main" id="{6D49EA3F-BF00-5C0E-6C9A-3EEA4AB682BF}"/>
                  </a:ext>
                </a:extLst>
              </p:cNvPr>
              <p:cNvSpPr/>
              <p:nvPr/>
            </p:nvSpPr>
            <p:spPr>
              <a:xfrm>
                <a:off x="5281786" y="4714527"/>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12" name="Rectangle 211">
                <a:extLst>
                  <a:ext uri="{FF2B5EF4-FFF2-40B4-BE49-F238E27FC236}">
                    <a16:creationId xmlns:a16="http://schemas.microsoft.com/office/drawing/2014/main" id="{2131AD1B-19A7-8BD5-EF80-B30D07738972}"/>
                  </a:ext>
                </a:extLst>
              </p:cNvPr>
              <p:cNvSpPr/>
              <p:nvPr/>
            </p:nvSpPr>
            <p:spPr>
              <a:xfrm>
                <a:off x="5537898" y="4905178"/>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13" name="Rectangle 212">
                <a:extLst>
                  <a:ext uri="{FF2B5EF4-FFF2-40B4-BE49-F238E27FC236}">
                    <a16:creationId xmlns:a16="http://schemas.microsoft.com/office/drawing/2014/main" id="{7B2CADB0-A1C4-2094-8BC9-0F439F7A2197}"/>
                  </a:ext>
                </a:extLst>
              </p:cNvPr>
              <p:cNvSpPr/>
              <p:nvPr/>
            </p:nvSpPr>
            <p:spPr>
              <a:xfrm>
                <a:off x="5862145" y="5211431"/>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14" name="Rectangle 213">
                <a:extLst>
                  <a:ext uri="{FF2B5EF4-FFF2-40B4-BE49-F238E27FC236}">
                    <a16:creationId xmlns:a16="http://schemas.microsoft.com/office/drawing/2014/main" id="{DB54F76E-2677-BA39-40D4-36DE79DBF9EA}"/>
                  </a:ext>
                </a:extLst>
              </p:cNvPr>
              <p:cNvSpPr/>
              <p:nvPr/>
            </p:nvSpPr>
            <p:spPr>
              <a:xfrm>
                <a:off x="5237093" y="5620455"/>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15" name="Rectangle 214">
                <a:extLst>
                  <a:ext uri="{FF2B5EF4-FFF2-40B4-BE49-F238E27FC236}">
                    <a16:creationId xmlns:a16="http://schemas.microsoft.com/office/drawing/2014/main" id="{AB527E32-3257-F3DC-FD2B-8F7F17F6A993}"/>
                  </a:ext>
                </a:extLst>
              </p:cNvPr>
              <p:cNvSpPr/>
              <p:nvPr/>
            </p:nvSpPr>
            <p:spPr>
              <a:xfrm>
                <a:off x="6452646" y="4791042"/>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16" name="Rectangle 215">
                <a:extLst>
                  <a:ext uri="{FF2B5EF4-FFF2-40B4-BE49-F238E27FC236}">
                    <a16:creationId xmlns:a16="http://schemas.microsoft.com/office/drawing/2014/main" id="{BAB94F77-6CA3-37A8-D804-7E6527768B24}"/>
                  </a:ext>
                </a:extLst>
              </p:cNvPr>
              <p:cNvSpPr/>
              <p:nvPr/>
            </p:nvSpPr>
            <p:spPr>
              <a:xfrm>
                <a:off x="6769327" y="5276776"/>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17" name="Rectangle 216">
                <a:extLst>
                  <a:ext uri="{FF2B5EF4-FFF2-40B4-BE49-F238E27FC236}">
                    <a16:creationId xmlns:a16="http://schemas.microsoft.com/office/drawing/2014/main" id="{788129E7-BA2D-3C4B-C949-2062FF1E0F64}"/>
                  </a:ext>
                </a:extLst>
              </p:cNvPr>
              <p:cNvSpPr/>
              <p:nvPr/>
            </p:nvSpPr>
            <p:spPr>
              <a:xfrm>
                <a:off x="5857959" y="5954806"/>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18" name="Rectangle 217">
                <a:extLst>
                  <a:ext uri="{FF2B5EF4-FFF2-40B4-BE49-F238E27FC236}">
                    <a16:creationId xmlns:a16="http://schemas.microsoft.com/office/drawing/2014/main" id="{3A76D206-2634-068B-8955-603886634F90}"/>
                  </a:ext>
                </a:extLst>
              </p:cNvPr>
              <p:cNvSpPr/>
              <p:nvPr/>
            </p:nvSpPr>
            <p:spPr>
              <a:xfrm>
                <a:off x="6432029" y="4194085"/>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pic>
          <p:nvPicPr>
            <p:cNvPr id="231" name="Image 230">
              <a:extLst>
                <a:ext uri="{FF2B5EF4-FFF2-40B4-BE49-F238E27FC236}">
                  <a16:creationId xmlns:a16="http://schemas.microsoft.com/office/drawing/2014/main" id="{16391327-FF0F-FBD5-C6A3-838B251B13D0}"/>
                </a:ext>
              </a:extLst>
            </p:cNvPr>
            <p:cNvPicPr>
              <a:picLocks noChangeAspect="1"/>
            </p:cNvPicPr>
            <p:nvPr/>
          </p:nvPicPr>
          <p:blipFill>
            <a:blip r:embed="rId74">
              <a:extLst>
                <a:ext uri="{28A0092B-C50C-407E-A947-70E740481C1C}">
                  <a14:useLocalDpi xmlns:a14="http://schemas.microsoft.com/office/drawing/2010/main" val="0"/>
                </a:ext>
              </a:extLst>
            </a:blip>
            <a:stretch>
              <a:fillRect/>
            </a:stretch>
          </p:blipFill>
          <p:spPr>
            <a:xfrm>
              <a:off x="6929038" y="5039707"/>
              <a:ext cx="1103082" cy="608397"/>
            </a:xfrm>
            <a:prstGeom prst="rect">
              <a:avLst/>
            </a:prstGeom>
          </p:spPr>
        </p:pic>
        <p:sp>
          <p:nvSpPr>
            <p:cNvPr id="232" name="Rectangle 231">
              <a:extLst>
                <a:ext uri="{FF2B5EF4-FFF2-40B4-BE49-F238E27FC236}">
                  <a16:creationId xmlns:a16="http://schemas.microsoft.com/office/drawing/2014/main" id="{BBCC16B1-0FCA-8A6D-4509-CBED76405658}"/>
                </a:ext>
              </a:extLst>
            </p:cNvPr>
            <p:cNvSpPr/>
            <p:nvPr/>
          </p:nvSpPr>
          <p:spPr>
            <a:xfrm>
              <a:off x="13314666" y="5829996"/>
              <a:ext cx="1339649"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sp>
          <p:nvSpPr>
            <p:cNvPr id="233" name="Rectangle 232">
              <a:extLst>
                <a:ext uri="{FF2B5EF4-FFF2-40B4-BE49-F238E27FC236}">
                  <a16:creationId xmlns:a16="http://schemas.microsoft.com/office/drawing/2014/main" id="{57794E5B-02C6-90DB-1A8C-17AE2049FC3A}"/>
                </a:ext>
              </a:extLst>
            </p:cNvPr>
            <p:cNvSpPr/>
            <p:nvPr/>
          </p:nvSpPr>
          <p:spPr>
            <a:xfrm>
              <a:off x="5046857" y="582999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sp>
          <p:nvSpPr>
            <p:cNvPr id="234" name="Rectangle 233">
              <a:extLst>
                <a:ext uri="{FF2B5EF4-FFF2-40B4-BE49-F238E27FC236}">
                  <a16:creationId xmlns:a16="http://schemas.microsoft.com/office/drawing/2014/main" id="{5D63B3FD-6992-3329-76A1-A0DAA42101A4}"/>
                </a:ext>
              </a:extLst>
            </p:cNvPr>
            <p:cNvSpPr/>
            <p:nvPr/>
          </p:nvSpPr>
          <p:spPr>
            <a:xfrm>
              <a:off x="6695323" y="582999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grpSp>
          <p:nvGrpSpPr>
            <p:cNvPr id="235" name="Groupe 234">
              <a:extLst>
                <a:ext uri="{FF2B5EF4-FFF2-40B4-BE49-F238E27FC236}">
                  <a16:creationId xmlns:a16="http://schemas.microsoft.com/office/drawing/2014/main" id="{41267F9A-060C-AC17-FC0C-62A9FA5655BC}"/>
                </a:ext>
              </a:extLst>
            </p:cNvPr>
            <p:cNvGrpSpPr/>
            <p:nvPr/>
          </p:nvGrpSpPr>
          <p:grpSpPr>
            <a:xfrm>
              <a:off x="8298999" y="4971339"/>
              <a:ext cx="1583556" cy="741212"/>
              <a:chOff x="463550" y="1420160"/>
              <a:chExt cx="11264900" cy="5272740"/>
            </a:xfrm>
          </p:grpSpPr>
          <p:sp>
            <p:nvSpPr>
              <p:cNvPr id="236" name="Trapèze 235">
                <a:extLst>
                  <a:ext uri="{FF2B5EF4-FFF2-40B4-BE49-F238E27FC236}">
                    <a16:creationId xmlns:a16="http://schemas.microsoft.com/office/drawing/2014/main" id="{1A8A02F3-2EB1-86F0-93CB-B57D70BCAA2A}"/>
                  </a:ext>
                </a:extLst>
              </p:cNvPr>
              <p:cNvSpPr/>
              <p:nvPr/>
            </p:nvSpPr>
            <p:spPr>
              <a:xfrm>
                <a:off x="463550" y="5080000"/>
                <a:ext cx="11264900" cy="1612900"/>
              </a:xfrm>
              <a:prstGeom prst="trapezoid">
                <a:avLst>
                  <a:gd name="adj" fmla="val 6358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b="1" dirty="0">
                  <a:solidFill>
                    <a:schemeClr val="tx1"/>
                  </a:solidFill>
                </a:endParaRPr>
              </a:p>
            </p:txBody>
          </p:sp>
          <p:sp>
            <p:nvSpPr>
              <p:cNvPr id="237" name="Triangle isocèle 236">
                <a:extLst>
                  <a:ext uri="{FF2B5EF4-FFF2-40B4-BE49-F238E27FC236}">
                    <a16:creationId xmlns:a16="http://schemas.microsoft.com/office/drawing/2014/main" id="{A1B0F688-7501-966A-F893-4C67CF97CACF}"/>
                  </a:ext>
                </a:extLst>
              </p:cNvPr>
              <p:cNvSpPr/>
              <p:nvPr/>
            </p:nvSpPr>
            <p:spPr>
              <a:xfrm>
                <a:off x="2800350" y="1420160"/>
                <a:ext cx="6553200" cy="1529080"/>
              </a:xfrm>
              <a:prstGeom prst="triangle">
                <a:avLst>
                  <a:gd name="adj" fmla="val 5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grpSp>
            <p:nvGrpSpPr>
              <p:cNvPr id="238" name="Groupe 237">
                <a:extLst>
                  <a:ext uri="{FF2B5EF4-FFF2-40B4-BE49-F238E27FC236}">
                    <a16:creationId xmlns:a16="http://schemas.microsoft.com/office/drawing/2014/main" id="{594A36D3-7A45-13D1-D090-8463014E0730}"/>
                  </a:ext>
                </a:extLst>
              </p:cNvPr>
              <p:cNvGrpSpPr/>
              <p:nvPr/>
            </p:nvGrpSpPr>
            <p:grpSpPr>
              <a:xfrm>
                <a:off x="1527175" y="3040767"/>
                <a:ext cx="9137650" cy="1969383"/>
                <a:chOff x="1644650" y="3040767"/>
                <a:chExt cx="9137650" cy="1907219"/>
              </a:xfrm>
            </p:grpSpPr>
            <p:sp>
              <p:nvSpPr>
                <p:cNvPr id="241" name="Trapèze 240">
                  <a:extLst>
                    <a:ext uri="{FF2B5EF4-FFF2-40B4-BE49-F238E27FC236}">
                      <a16:creationId xmlns:a16="http://schemas.microsoft.com/office/drawing/2014/main" id="{9D48C85E-8463-F512-1A55-4390BB647739}"/>
                    </a:ext>
                  </a:extLst>
                </p:cNvPr>
                <p:cNvSpPr/>
                <p:nvPr/>
              </p:nvSpPr>
              <p:spPr>
                <a:xfrm>
                  <a:off x="1644650"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00" dirty="0">
                    <a:solidFill>
                      <a:schemeClr val="tx1"/>
                    </a:solidFill>
                  </a:endParaRPr>
                </a:p>
              </p:txBody>
            </p:sp>
            <p:sp>
              <p:nvSpPr>
                <p:cNvPr id="242" name="Trapèze 241">
                  <a:extLst>
                    <a:ext uri="{FF2B5EF4-FFF2-40B4-BE49-F238E27FC236}">
                      <a16:creationId xmlns:a16="http://schemas.microsoft.com/office/drawing/2014/main" id="{B32421AD-472A-0182-59DC-692BE87401B7}"/>
                    </a:ext>
                  </a:extLst>
                </p:cNvPr>
                <p:cNvSpPr/>
                <p:nvPr/>
              </p:nvSpPr>
              <p:spPr>
                <a:xfrm>
                  <a:off x="2314030"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00" b="1" dirty="0">
                    <a:solidFill>
                      <a:schemeClr val="tx1"/>
                    </a:solidFill>
                  </a:endParaRPr>
                </a:p>
              </p:txBody>
            </p:sp>
            <p:sp>
              <p:nvSpPr>
                <p:cNvPr id="243" name="Trapèze 242">
                  <a:extLst>
                    <a:ext uri="{FF2B5EF4-FFF2-40B4-BE49-F238E27FC236}">
                      <a16:creationId xmlns:a16="http://schemas.microsoft.com/office/drawing/2014/main" id="{DD5DF342-995A-4592-EDCC-C0436FAC3BA9}"/>
                    </a:ext>
                  </a:extLst>
                </p:cNvPr>
                <p:cNvSpPr/>
                <p:nvPr/>
              </p:nvSpPr>
              <p:spPr>
                <a:xfrm>
                  <a:off x="6261747"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00" dirty="0">
                    <a:solidFill>
                      <a:schemeClr val="tx1"/>
                    </a:solidFill>
                  </a:endParaRPr>
                </a:p>
              </p:txBody>
            </p:sp>
            <p:sp>
              <p:nvSpPr>
                <p:cNvPr id="244" name="Trapèze 243">
                  <a:extLst>
                    <a:ext uri="{FF2B5EF4-FFF2-40B4-BE49-F238E27FC236}">
                      <a16:creationId xmlns:a16="http://schemas.microsoft.com/office/drawing/2014/main" id="{A4D54DCB-7C9A-6DFA-1D09-032BD11B0570}"/>
                    </a:ext>
                  </a:extLst>
                </p:cNvPr>
                <p:cNvSpPr/>
                <p:nvPr/>
              </p:nvSpPr>
              <p:spPr>
                <a:xfrm>
                  <a:off x="6927306"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sz="100" b="1" dirty="0">
                    <a:solidFill>
                      <a:schemeClr val="tx1"/>
                    </a:solidFill>
                  </a:endParaRPr>
                </a:p>
              </p:txBody>
            </p:sp>
          </p:grpSp>
          <p:sp>
            <p:nvSpPr>
              <p:cNvPr id="239" name="Triangle isocèle 238">
                <a:extLst>
                  <a:ext uri="{FF2B5EF4-FFF2-40B4-BE49-F238E27FC236}">
                    <a16:creationId xmlns:a16="http://schemas.microsoft.com/office/drawing/2014/main" id="{F0250169-DE5E-93C0-35DF-992191342DB5}"/>
                  </a:ext>
                </a:extLst>
              </p:cNvPr>
              <p:cNvSpPr/>
              <p:nvPr/>
            </p:nvSpPr>
            <p:spPr>
              <a:xfrm rot="10800000">
                <a:off x="4952497" y="3040768"/>
                <a:ext cx="2287008" cy="1795683"/>
              </a:xfrm>
              <a:prstGeom prst="triangl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240" name="ZoneTexte 239">
                <a:extLst>
                  <a:ext uri="{FF2B5EF4-FFF2-40B4-BE49-F238E27FC236}">
                    <a16:creationId xmlns:a16="http://schemas.microsoft.com/office/drawing/2014/main" id="{0575E7B6-7062-817B-1079-681E5F59F5FA}"/>
                  </a:ext>
                </a:extLst>
              </p:cNvPr>
              <p:cNvSpPr txBox="1"/>
              <p:nvPr/>
            </p:nvSpPr>
            <p:spPr>
              <a:xfrm>
                <a:off x="4952502" y="3044167"/>
                <a:ext cx="2287018" cy="2667375"/>
              </a:xfrm>
              <a:prstGeom prst="rect">
                <a:avLst/>
              </a:prstGeom>
              <a:noFill/>
            </p:spPr>
            <p:txBody>
              <a:bodyPr wrap="square">
                <a:spAutoFit/>
              </a:bodyPr>
              <a:lstStyle/>
              <a:p>
                <a:pPr algn="ctr"/>
                <a:endParaRPr lang="en-US" sz="200" b="1" dirty="0"/>
              </a:p>
            </p:txBody>
          </p:sp>
        </p:grpSp>
        <p:sp>
          <p:nvSpPr>
            <p:cNvPr id="245" name="Rectangle 244">
              <a:extLst>
                <a:ext uri="{FF2B5EF4-FFF2-40B4-BE49-F238E27FC236}">
                  <a16:creationId xmlns:a16="http://schemas.microsoft.com/office/drawing/2014/main" id="{D67D7B45-8191-BDFE-C144-25AC688A2609}"/>
                </a:ext>
              </a:extLst>
            </p:cNvPr>
            <p:cNvSpPr/>
            <p:nvPr/>
          </p:nvSpPr>
          <p:spPr>
            <a:xfrm>
              <a:off x="8327735" y="582999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sp>
          <p:nvSpPr>
            <p:cNvPr id="246" name="Rectangle 245">
              <a:extLst>
                <a:ext uri="{FF2B5EF4-FFF2-40B4-BE49-F238E27FC236}">
                  <a16:creationId xmlns:a16="http://schemas.microsoft.com/office/drawing/2014/main" id="{AE42AC5C-6368-C619-CD3C-20355681C3D9}"/>
                </a:ext>
              </a:extLst>
            </p:cNvPr>
            <p:cNvSpPr/>
            <p:nvPr/>
          </p:nvSpPr>
          <p:spPr>
            <a:xfrm>
              <a:off x="11647994" y="582999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sp>
          <p:nvSpPr>
            <p:cNvPr id="247" name="Rectangle 246">
              <a:extLst>
                <a:ext uri="{FF2B5EF4-FFF2-40B4-BE49-F238E27FC236}">
                  <a16:creationId xmlns:a16="http://schemas.microsoft.com/office/drawing/2014/main" id="{F9A7BABC-23C5-E35C-8552-C5C50E1354F6}"/>
                </a:ext>
              </a:extLst>
            </p:cNvPr>
            <p:cNvSpPr/>
            <p:nvPr/>
          </p:nvSpPr>
          <p:spPr>
            <a:xfrm>
              <a:off x="3374101" y="582999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sp>
          <p:nvSpPr>
            <p:cNvPr id="248" name="Rectangle 247">
              <a:extLst>
                <a:ext uri="{FF2B5EF4-FFF2-40B4-BE49-F238E27FC236}">
                  <a16:creationId xmlns:a16="http://schemas.microsoft.com/office/drawing/2014/main" id="{0DF51146-E649-2F08-214A-029D85DD0584}"/>
                </a:ext>
              </a:extLst>
            </p:cNvPr>
            <p:cNvSpPr/>
            <p:nvPr/>
          </p:nvSpPr>
          <p:spPr>
            <a:xfrm>
              <a:off x="9977651" y="582999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pic>
          <p:nvPicPr>
            <p:cNvPr id="249" name="Graphique 248" descr="Évaluation 1 étoile avec un remplissage uni">
              <a:extLst>
                <a:ext uri="{FF2B5EF4-FFF2-40B4-BE49-F238E27FC236}">
                  <a16:creationId xmlns:a16="http://schemas.microsoft.com/office/drawing/2014/main" id="{D1D90D78-B6C9-0BD8-A35E-F9286F5BB2A2}"/>
                </a:ext>
              </a:extLst>
            </p:cNvPr>
            <p:cNvPicPr>
              <a:picLocks noChangeAspect="1"/>
            </p:cNvPicPr>
            <p:nvPr/>
          </p:nvPicPr>
          <p:blipFill>
            <a:blip r:embed="rId75">
              <a:extLst>
                <a:ext uri="{28A0092B-C50C-407E-A947-70E740481C1C}">
                  <a14:useLocalDpi xmlns:a14="http://schemas.microsoft.com/office/drawing/2010/main" val="0"/>
                </a:ext>
                <a:ext uri="{96DAC541-7B7A-43D3-8B79-37D633B846F1}">
                  <asvg:svgBlip xmlns:asvg="http://schemas.microsoft.com/office/drawing/2016/SVG/main" r:embed="rId76"/>
                </a:ext>
              </a:extLst>
            </a:blip>
            <a:stretch>
              <a:fillRect/>
            </a:stretch>
          </p:blipFill>
          <p:spPr>
            <a:xfrm>
              <a:off x="10287547" y="5011391"/>
              <a:ext cx="914400" cy="914400"/>
            </a:xfrm>
            <a:prstGeom prst="rect">
              <a:avLst/>
            </a:prstGeom>
          </p:spPr>
        </p:pic>
        <p:grpSp>
          <p:nvGrpSpPr>
            <p:cNvPr id="250" name="Groupe 249">
              <a:extLst>
                <a:ext uri="{FF2B5EF4-FFF2-40B4-BE49-F238E27FC236}">
                  <a16:creationId xmlns:a16="http://schemas.microsoft.com/office/drawing/2014/main" id="{5B068F14-61CC-6A0F-6482-219A8EA08EA9}"/>
                </a:ext>
              </a:extLst>
            </p:cNvPr>
            <p:cNvGrpSpPr/>
            <p:nvPr/>
          </p:nvGrpSpPr>
          <p:grpSpPr>
            <a:xfrm>
              <a:off x="3846339" y="5247873"/>
              <a:ext cx="779586" cy="458947"/>
              <a:chOff x="2626246" y="3261367"/>
              <a:chExt cx="2809874" cy="1654184"/>
            </a:xfrm>
          </p:grpSpPr>
          <p:pic>
            <p:nvPicPr>
              <p:cNvPr id="251" name="Graphique 250" descr="Signe pouce en haut avec un remplissage uni">
                <a:extLst>
                  <a:ext uri="{FF2B5EF4-FFF2-40B4-BE49-F238E27FC236}">
                    <a16:creationId xmlns:a16="http://schemas.microsoft.com/office/drawing/2014/main" id="{4E1B1F0B-061D-DFDD-A8E7-F576D6EDEB0F}"/>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2839034" y="3261367"/>
                <a:ext cx="470653" cy="470653"/>
              </a:xfrm>
              <a:prstGeom prst="rect">
                <a:avLst/>
              </a:prstGeom>
            </p:spPr>
          </p:pic>
          <p:pic>
            <p:nvPicPr>
              <p:cNvPr id="252" name="Graphique 251" descr="Pouce en bas avec un remplissage uni">
                <a:extLst>
                  <a:ext uri="{FF2B5EF4-FFF2-40B4-BE49-F238E27FC236}">
                    <a16:creationId xmlns:a16="http://schemas.microsoft.com/office/drawing/2014/main" id="{9D99C64B-797B-3A33-5FA4-3F42D318597F}"/>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3787316" y="3319278"/>
                <a:ext cx="508752" cy="508752"/>
              </a:xfrm>
              <a:prstGeom prst="rect">
                <a:avLst/>
              </a:prstGeom>
            </p:spPr>
          </p:pic>
          <p:sp>
            <p:nvSpPr>
              <p:cNvPr id="253" name="Rectangle 252">
                <a:extLst>
                  <a:ext uri="{FF2B5EF4-FFF2-40B4-BE49-F238E27FC236}">
                    <a16:creationId xmlns:a16="http://schemas.microsoft.com/office/drawing/2014/main" id="{77728DA0-4223-56AD-D3A0-54DA1A12C5B0}"/>
                  </a:ext>
                </a:extLst>
              </p:cNvPr>
              <p:cNvSpPr/>
              <p:nvPr/>
            </p:nvSpPr>
            <p:spPr>
              <a:xfrm>
                <a:off x="262624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 name="Rectangle 253">
                <a:extLst>
                  <a:ext uri="{FF2B5EF4-FFF2-40B4-BE49-F238E27FC236}">
                    <a16:creationId xmlns:a16="http://schemas.microsoft.com/office/drawing/2014/main" id="{24D87ED3-A9E7-B12B-3286-127B42D57D94}"/>
                  </a:ext>
                </a:extLst>
              </p:cNvPr>
              <p:cNvSpPr/>
              <p:nvPr/>
            </p:nvSpPr>
            <p:spPr>
              <a:xfrm>
                <a:off x="3583068"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 name="Rectangle 254">
                <a:extLst>
                  <a:ext uri="{FF2B5EF4-FFF2-40B4-BE49-F238E27FC236}">
                    <a16:creationId xmlns:a16="http://schemas.microsoft.com/office/drawing/2014/main" id="{F7FF434B-5B69-CE1F-6B3B-8F35D5B146BD}"/>
                  </a:ext>
                </a:extLst>
              </p:cNvPr>
              <p:cNvSpPr/>
              <p:nvPr/>
            </p:nvSpPr>
            <p:spPr>
              <a:xfrm>
                <a:off x="4539889"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56" name="Graphique 255" descr="Aide avec un remplissage uni">
                <a:extLst>
                  <a:ext uri="{FF2B5EF4-FFF2-40B4-BE49-F238E27FC236}">
                    <a16:creationId xmlns:a16="http://schemas.microsoft.com/office/drawing/2014/main" id="{BE826366-4E68-17A6-0F88-0CEA62BAC573}"/>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4793476" y="3319278"/>
                <a:ext cx="471018" cy="471018"/>
              </a:xfrm>
              <a:prstGeom prst="rect">
                <a:avLst/>
              </a:prstGeom>
            </p:spPr>
          </p:pic>
          <p:sp>
            <p:nvSpPr>
              <p:cNvPr id="257" name="Rectangle 256">
                <a:extLst>
                  <a:ext uri="{FF2B5EF4-FFF2-40B4-BE49-F238E27FC236}">
                    <a16:creationId xmlns:a16="http://schemas.microsoft.com/office/drawing/2014/main" id="{D17325BC-B17A-0E14-7646-20D772A6B586}"/>
                  </a:ext>
                </a:extLst>
              </p:cNvPr>
              <p:cNvSpPr/>
              <p:nvPr/>
            </p:nvSpPr>
            <p:spPr>
              <a:xfrm>
                <a:off x="2682556"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58" name="Rectangle 257">
                <a:extLst>
                  <a:ext uri="{FF2B5EF4-FFF2-40B4-BE49-F238E27FC236}">
                    <a16:creationId xmlns:a16="http://schemas.microsoft.com/office/drawing/2014/main" id="{DC9E9D9E-A0D1-DFAB-B149-D77C58579366}"/>
                  </a:ext>
                </a:extLst>
              </p:cNvPr>
              <p:cNvSpPr/>
              <p:nvPr/>
            </p:nvSpPr>
            <p:spPr>
              <a:xfrm>
                <a:off x="2991651"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59" name="Rectangle 258">
                <a:extLst>
                  <a:ext uri="{FF2B5EF4-FFF2-40B4-BE49-F238E27FC236}">
                    <a16:creationId xmlns:a16="http://schemas.microsoft.com/office/drawing/2014/main" id="{644E4E9E-07FE-93C4-F93D-F8CAD79421E0}"/>
                  </a:ext>
                </a:extLst>
              </p:cNvPr>
              <p:cNvSpPr/>
              <p:nvPr/>
            </p:nvSpPr>
            <p:spPr>
              <a:xfrm>
                <a:off x="2912610" y="4148465"/>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60" name="Rectangle 259">
                <a:extLst>
                  <a:ext uri="{FF2B5EF4-FFF2-40B4-BE49-F238E27FC236}">
                    <a16:creationId xmlns:a16="http://schemas.microsoft.com/office/drawing/2014/main" id="{6776251E-990D-E532-F3B7-30220D997075}"/>
                  </a:ext>
                </a:extLst>
              </p:cNvPr>
              <p:cNvSpPr/>
              <p:nvPr/>
            </p:nvSpPr>
            <p:spPr>
              <a:xfrm>
                <a:off x="3680364" y="3871561"/>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61" name="Rectangle 260">
                <a:extLst>
                  <a:ext uri="{FF2B5EF4-FFF2-40B4-BE49-F238E27FC236}">
                    <a16:creationId xmlns:a16="http://schemas.microsoft.com/office/drawing/2014/main" id="{32CCD54D-4DC1-7E26-F1C7-BDEB6062D2F8}"/>
                  </a:ext>
                </a:extLst>
              </p:cNvPr>
              <p:cNvSpPr/>
              <p:nvPr/>
            </p:nvSpPr>
            <p:spPr>
              <a:xfrm>
                <a:off x="4016069" y="398672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62" name="Rectangle 261">
                <a:extLst>
                  <a:ext uri="{FF2B5EF4-FFF2-40B4-BE49-F238E27FC236}">
                    <a16:creationId xmlns:a16="http://schemas.microsoft.com/office/drawing/2014/main" id="{D60FCA16-28E1-F4CF-A632-35B7AA1BCB03}"/>
                  </a:ext>
                </a:extLst>
              </p:cNvPr>
              <p:cNvSpPr/>
              <p:nvPr/>
            </p:nvSpPr>
            <p:spPr>
              <a:xfrm>
                <a:off x="3698403" y="4181149"/>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63" name="Rectangle 262">
                <a:extLst>
                  <a:ext uri="{FF2B5EF4-FFF2-40B4-BE49-F238E27FC236}">
                    <a16:creationId xmlns:a16="http://schemas.microsoft.com/office/drawing/2014/main" id="{90EA5CED-FE8E-889A-E014-D70255741A54}"/>
                  </a:ext>
                </a:extLst>
              </p:cNvPr>
              <p:cNvSpPr/>
              <p:nvPr/>
            </p:nvSpPr>
            <p:spPr>
              <a:xfrm>
                <a:off x="4604347" y="3858182"/>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64" name="Rectangle 263">
                <a:extLst>
                  <a:ext uri="{FF2B5EF4-FFF2-40B4-BE49-F238E27FC236}">
                    <a16:creationId xmlns:a16="http://schemas.microsoft.com/office/drawing/2014/main" id="{CB27AE43-02D3-0DE6-1DAE-4F52105D33AE}"/>
                  </a:ext>
                </a:extLst>
              </p:cNvPr>
              <p:cNvSpPr/>
              <p:nvPr/>
            </p:nvSpPr>
            <p:spPr>
              <a:xfrm>
                <a:off x="4928163" y="384379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265" name="Rectangle 264">
                <a:extLst>
                  <a:ext uri="{FF2B5EF4-FFF2-40B4-BE49-F238E27FC236}">
                    <a16:creationId xmlns:a16="http://schemas.microsoft.com/office/drawing/2014/main" id="{5E181654-C09E-FE53-476E-9C2493ECA118}"/>
                  </a:ext>
                </a:extLst>
              </p:cNvPr>
              <p:cNvSpPr/>
              <p:nvPr/>
            </p:nvSpPr>
            <p:spPr>
              <a:xfrm>
                <a:off x="4844841" y="4195507"/>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grpSp>
        <p:grpSp>
          <p:nvGrpSpPr>
            <p:cNvPr id="266" name="Groupe 265">
              <a:extLst>
                <a:ext uri="{FF2B5EF4-FFF2-40B4-BE49-F238E27FC236}">
                  <a16:creationId xmlns:a16="http://schemas.microsoft.com/office/drawing/2014/main" id="{58416BA7-6359-7BE5-2E78-F65FE4D2DBA0}"/>
                </a:ext>
              </a:extLst>
            </p:cNvPr>
            <p:cNvGrpSpPr/>
            <p:nvPr/>
          </p:nvGrpSpPr>
          <p:grpSpPr>
            <a:xfrm>
              <a:off x="13430026" y="5503447"/>
              <a:ext cx="1224290" cy="184791"/>
              <a:chOff x="261104" y="1695766"/>
              <a:chExt cx="10571211" cy="1595596"/>
            </a:xfrm>
          </p:grpSpPr>
          <p:pic>
            <p:nvPicPr>
              <p:cNvPr id="267" name="Image 266">
                <a:extLst>
                  <a:ext uri="{FF2B5EF4-FFF2-40B4-BE49-F238E27FC236}">
                    <a16:creationId xmlns:a16="http://schemas.microsoft.com/office/drawing/2014/main" id="{37D77B3F-753B-72A9-713B-3DAFB584875E}"/>
                  </a:ext>
                </a:extLst>
              </p:cNvPr>
              <p:cNvPicPr>
                <a:picLocks noChangeAspect="1"/>
              </p:cNvPicPr>
              <p:nvPr/>
            </p:nvPicPr>
            <p:blipFill>
              <a:blip r:embed="rId77">
                <a:extLst>
                  <a:ext uri="{28A0092B-C50C-407E-A947-70E740481C1C}">
                    <a14:useLocalDpi xmlns:a14="http://schemas.microsoft.com/office/drawing/2010/main" val="0"/>
                  </a:ext>
                </a:extLst>
              </a:blip>
              <a:stretch>
                <a:fillRect/>
              </a:stretch>
            </p:blipFill>
            <p:spPr>
              <a:xfrm>
                <a:off x="261104" y="1702441"/>
                <a:ext cx="1120155" cy="1582246"/>
              </a:xfrm>
              <a:prstGeom prst="rect">
                <a:avLst/>
              </a:prstGeom>
            </p:spPr>
          </p:pic>
          <p:pic>
            <p:nvPicPr>
              <p:cNvPr id="268" name="Image 267">
                <a:extLst>
                  <a:ext uri="{FF2B5EF4-FFF2-40B4-BE49-F238E27FC236}">
                    <a16:creationId xmlns:a16="http://schemas.microsoft.com/office/drawing/2014/main" id="{58047552-2085-1C03-2524-0D68D9987A31}"/>
                  </a:ext>
                </a:extLst>
              </p:cNvPr>
              <p:cNvPicPr>
                <a:picLocks noChangeAspect="1"/>
              </p:cNvPicPr>
              <p:nvPr/>
            </p:nvPicPr>
            <p:blipFill>
              <a:blip r:embed="rId78">
                <a:extLst>
                  <a:ext uri="{28A0092B-C50C-407E-A947-70E740481C1C}">
                    <a14:useLocalDpi xmlns:a14="http://schemas.microsoft.com/office/drawing/2010/main" val="0"/>
                  </a:ext>
                </a:extLst>
              </a:blip>
              <a:stretch>
                <a:fillRect/>
              </a:stretch>
            </p:blipFill>
            <p:spPr>
              <a:xfrm>
                <a:off x="2620940" y="1702441"/>
                <a:ext cx="1120155" cy="1582246"/>
              </a:xfrm>
              <a:prstGeom prst="rect">
                <a:avLst/>
              </a:prstGeom>
            </p:spPr>
          </p:pic>
          <p:pic>
            <p:nvPicPr>
              <p:cNvPr id="269" name="Image 268" descr="Une image contenant texte&#10;&#10;Description générée automatiquement">
                <a:extLst>
                  <a:ext uri="{FF2B5EF4-FFF2-40B4-BE49-F238E27FC236}">
                    <a16:creationId xmlns:a16="http://schemas.microsoft.com/office/drawing/2014/main" id="{057FA97B-2D40-B367-8D25-4BEF98D81D79}"/>
                  </a:ext>
                </a:extLst>
              </p:cNvPr>
              <p:cNvPicPr>
                <a:picLocks noChangeAspect="1"/>
              </p:cNvPicPr>
              <p:nvPr/>
            </p:nvPicPr>
            <p:blipFill>
              <a:blip r:embed="rId79">
                <a:extLst>
                  <a:ext uri="{28A0092B-C50C-407E-A947-70E740481C1C}">
                    <a14:useLocalDpi xmlns:a14="http://schemas.microsoft.com/office/drawing/2010/main" val="0"/>
                  </a:ext>
                </a:extLst>
              </a:blip>
              <a:stretch>
                <a:fillRect/>
              </a:stretch>
            </p:blipFill>
            <p:spPr>
              <a:xfrm>
                <a:off x="6207372" y="1695766"/>
                <a:ext cx="1120155" cy="1582246"/>
              </a:xfrm>
              <a:prstGeom prst="rect">
                <a:avLst/>
              </a:prstGeom>
            </p:spPr>
          </p:pic>
          <p:pic>
            <p:nvPicPr>
              <p:cNvPr id="270" name="Image 269">
                <a:extLst>
                  <a:ext uri="{FF2B5EF4-FFF2-40B4-BE49-F238E27FC236}">
                    <a16:creationId xmlns:a16="http://schemas.microsoft.com/office/drawing/2014/main" id="{B0F53603-9F0C-6942-07BD-D3C004934C6B}"/>
                  </a:ext>
                </a:extLst>
              </p:cNvPr>
              <p:cNvPicPr>
                <a:picLocks noChangeAspect="1"/>
              </p:cNvPicPr>
              <p:nvPr/>
            </p:nvPicPr>
            <p:blipFill>
              <a:blip r:embed="rId80">
                <a:extLst>
                  <a:ext uri="{28A0092B-C50C-407E-A947-70E740481C1C}">
                    <a14:useLocalDpi xmlns:a14="http://schemas.microsoft.com/office/drawing/2010/main" val="0"/>
                  </a:ext>
                </a:extLst>
              </a:blip>
              <a:stretch>
                <a:fillRect/>
              </a:stretch>
            </p:blipFill>
            <p:spPr>
              <a:xfrm>
                <a:off x="8546782" y="1695766"/>
                <a:ext cx="1120155" cy="1582246"/>
              </a:xfrm>
              <a:prstGeom prst="rect">
                <a:avLst/>
              </a:prstGeom>
            </p:spPr>
          </p:pic>
          <p:pic>
            <p:nvPicPr>
              <p:cNvPr id="271" name="Image 270">
                <a:extLst>
                  <a:ext uri="{FF2B5EF4-FFF2-40B4-BE49-F238E27FC236}">
                    <a16:creationId xmlns:a16="http://schemas.microsoft.com/office/drawing/2014/main" id="{3154277B-D79E-238A-FCFC-69829305A72D}"/>
                  </a:ext>
                </a:extLst>
              </p:cNvPr>
              <p:cNvPicPr>
                <a:picLocks noChangeAspect="1"/>
              </p:cNvPicPr>
              <p:nvPr/>
            </p:nvPicPr>
            <p:blipFill>
              <a:blip r:embed="rId81">
                <a:extLst>
                  <a:ext uri="{28A0092B-C50C-407E-A947-70E740481C1C}">
                    <a14:useLocalDpi xmlns:a14="http://schemas.microsoft.com/office/drawing/2010/main" val="0"/>
                  </a:ext>
                </a:extLst>
              </a:blip>
              <a:stretch>
                <a:fillRect/>
              </a:stretch>
            </p:blipFill>
            <p:spPr>
              <a:xfrm>
                <a:off x="1446008" y="1702441"/>
                <a:ext cx="1120155" cy="1582246"/>
              </a:xfrm>
              <a:prstGeom prst="rect">
                <a:avLst/>
              </a:prstGeom>
            </p:spPr>
          </p:pic>
          <p:pic>
            <p:nvPicPr>
              <p:cNvPr id="272" name="Image 271">
                <a:extLst>
                  <a:ext uri="{FF2B5EF4-FFF2-40B4-BE49-F238E27FC236}">
                    <a16:creationId xmlns:a16="http://schemas.microsoft.com/office/drawing/2014/main" id="{081AF9F5-AB75-F91D-1A28-791320342046}"/>
                  </a:ext>
                </a:extLst>
              </p:cNvPr>
              <p:cNvPicPr>
                <a:picLocks noChangeAspect="1"/>
              </p:cNvPicPr>
              <p:nvPr/>
            </p:nvPicPr>
            <p:blipFill>
              <a:blip r:embed="rId82">
                <a:extLst>
                  <a:ext uri="{28A0092B-C50C-407E-A947-70E740481C1C}">
                    <a14:useLocalDpi xmlns:a14="http://schemas.microsoft.com/office/drawing/2010/main" val="0"/>
                  </a:ext>
                </a:extLst>
              </a:blip>
              <a:stretch>
                <a:fillRect/>
              </a:stretch>
            </p:blipFill>
            <p:spPr>
              <a:xfrm>
                <a:off x="3814945" y="1702441"/>
                <a:ext cx="1120155" cy="1582246"/>
              </a:xfrm>
              <a:prstGeom prst="rect">
                <a:avLst/>
              </a:prstGeom>
            </p:spPr>
          </p:pic>
          <p:pic>
            <p:nvPicPr>
              <p:cNvPr id="296" name="Image 295" descr="Une image contenant texte&#10;&#10;Description générée automatiquement">
                <a:extLst>
                  <a:ext uri="{FF2B5EF4-FFF2-40B4-BE49-F238E27FC236}">
                    <a16:creationId xmlns:a16="http://schemas.microsoft.com/office/drawing/2014/main" id="{6729884A-B381-B0B3-9357-21BDD113C7D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381401" y="1695766"/>
                <a:ext cx="1120155" cy="1582246"/>
              </a:xfrm>
              <a:prstGeom prst="rect">
                <a:avLst/>
              </a:prstGeom>
            </p:spPr>
          </p:pic>
          <p:pic>
            <p:nvPicPr>
              <p:cNvPr id="297" name="Image 296" descr="Une image contenant texte&#10;&#10;Description générée automatiquement">
                <a:extLst>
                  <a:ext uri="{FF2B5EF4-FFF2-40B4-BE49-F238E27FC236}">
                    <a16:creationId xmlns:a16="http://schemas.microsoft.com/office/drawing/2014/main" id="{AA4CC81E-2466-E34C-4C45-D5C8557B453F}"/>
                  </a:ext>
                </a:extLst>
              </p:cNvPr>
              <p:cNvPicPr>
                <a:picLocks noChangeAspect="1"/>
              </p:cNvPicPr>
              <p:nvPr/>
            </p:nvPicPr>
            <p:blipFill>
              <a:blip r:embed="rId83">
                <a:extLst>
                  <a:ext uri="{28A0092B-C50C-407E-A947-70E740481C1C}">
                    <a14:useLocalDpi xmlns:a14="http://schemas.microsoft.com/office/drawing/2010/main" val="0"/>
                  </a:ext>
                </a:extLst>
              </a:blip>
              <a:stretch>
                <a:fillRect/>
              </a:stretch>
            </p:blipFill>
            <p:spPr>
              <a:xfrm>
                <a:off x="9712160" y="1695766"/>
                <a:ext cx="1120155" cy="1582246"/>
              </a:xfrm>
              <a:prstGeom prst="rect">
                <a:avLst/>
              </a:prstGeom>
            </p:spPr>
          </p:pic>
          <p:pic>
            <p:nvPicPr>
              <p:cNvPr id="298" name="Image 297" descr="Une image contenant texte&#10;&#10;Description générée automatiquement">
                <a:extLst>
                  <a:ext uri="{FF2B5EF4-FFF2-40B4-BE49-F238E27FC236}">
                    <a16:creationId xmlns:a16="http://schemas.microsoft.com/office/drawing/2014/main" id="{44FC32DC-2911-D9A0-BECB-DE219EF2C53B}"/>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993795" y="1702441"/>
                <a:ext cx="1135830" cy="1588921"/>
              </a:xfrm>
              <a:prstGeom prst="rect">
                <a:avLst/>
              </a:prstGeom>
            </p:spPr>
          </p:pic>
        </p:grpSp>
        <p:grpSp>
          <p:nvGrpSpPr>
            <p:cNvPr id="299" name="Groupe 298">
              <a:extLst>
                <a:ext uri="{FF2B5EF4-FFF2-40B4-BE49-F238E27FC236}">
                  <a16:creationId xmlns:a16="http://schemas.microsoft.com/office/drawing/2014/main" id="{6ECED2AF-EB8F-9503-2180-31325BF2E659}"/>
                </a:ext>
              </a:extLst>
            </p:cNvPr>
            <p:cNvGrpSpPr/>
            <p:nvPr/>
          </p:nvGrpSpPr>
          <p:grpSpPr>
            <a:xfrm>
              <a:off x="13288766" y="4989102"/>
              <a:ext cx="123305" cy="477372"/>
              <a:chOff x="1087583" y="694189"/>
              <a:chExt cx="1484849" cy="5748556"/>
            </a:xfrm>
          </p:grpSpPr>
          <p:cxnSp>
            <p:nvCxnSpPr>
              <p:cNvPr id="300" name="Connecteur droit avec flèche 299">
                <a:extLst>
                  <a:ext uri="{FF2B5EF4-FFF2-40B4-BE49-F238E27FC236}">
                    <a16:creationId xmlns:a16="http://schemas.microsoft.com/office/drawing/2014/main" id="{0F0A228D-820F-BDB1-046A-11516ECCEC1D}"/>
                  </a:ext>
                </a:extLst>
              </p:cNvPr>
              <p:cNvCxnSpPr>
                <a:cxnSpLocks/>
              </p:cNvCxnSpPr>
              <p:nvPr/>
            </p:nvCxnSpPr>
            <p:spPr>
              <a:xfrm flipV="1">
                <a:off x="1809036" y="694189"/>
                <a:ext cx="0" cy="5748556"/>
              </a:xfrm>
              <a:prstGeom prst="straightConnector1">
                <a:avLst/>
              </a:prstGeom>
              <a:ln w="3175">
                <a:tailEnd type="triangle"/>
              </a:ln>
            </p:spPr>
            <p:style>
              <a:lnRef idx="1">
                <a:schemeClr val="accent1"/>
              </a:lnRef>
              <a:fillRef idx="0">
                <a:schemeClr val="accent1"/>
              </a:fillRef>
              <a:effectRef idx="0">
                <a:schemeClr val="accent1"/>
              </a:effectRef>
              <a:fontRef idx="minor">
                <a:schemeClr val="tx1"/>
              </a:fontRef>
            </p:style>
          </p:cxnSp>
          <p:sp>
            <p:nvSpPr>
              <p:cNvPr id="301" name="Rectangle 300">
                <a:extLst>
                  <a:ext uri="{FF2B5EF4-FFF2-40B4-BE49-F238E27FC236}">
                    <a16:creationId xmlns:a16="http://schemas.microsoft.com/office/drawing/2014/main" id="{46A32893-F6BC-870D-32BD-FADFB7F45157}"/>
                  </a:ext>
                </a:extLst>
              </p:cNvPr>
              <p:cNvSpPr/>
              <p:nvPr/>
            </p:nvSpPr>
            <p:spPr>
              <a:xfrm>
                <a:off x="1087583" y="1055232"/>
                <a:ext cx="1484849" cy="595619"/>
              </a:xfrm>
              <a:prstGeom prst="rect">
                <a:avLst/>
              </a:prstGeom>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317" name="Rectangle 316">
                <a:extLst>
                  <a:ext uri="{FF2B5EF4-FFF2-40B4-BE49-F238E27FC236}">
                    <a16:creationId xmlns:a16="http://schemas.microsoft.com/office/drawing/2014/main" id="{86158D64-D185-9116-474B-30D014609EDC}"/>
                  </a:ext>
                </a:extLst>
              </p:cNvPr>
              <p:cNvSpPr/>
              <p:nvPr/>
            </p:nvSpPr>
            <p:spPr>
              <a:xfrm>
                <a:off x="1087583" y="2098260"/>
                <a:ext cx="1484849" cy="914401"/>
              </a:xfrm>
              <a:prstGeom prst="rect">
                <a:avLst/>
              </a:prstGeom>
              <a:solidFill>
                <a:srgbClr val="ED7D3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318" name="Rectangle 317">
                <a:extLst>
                  <a:ext uri="{FF2B5EF4-FFF2-40B4-BE49-F238E27FC236}">
                    <a16:creationId xmlns:a16="http://schemas.microsoft.com/office/drawing/2014/main" id="{35B1D88F-B548-EEB4-6575-DD07404CCD38}"/>
                  </a:ext>
                </a:extLst>
              </p:cNvPr>
              <p:cNvSpPr/>
              <p:nvPr/>
            </p:nvSpPr>
            <p:spPr>
              <a:xfrm>
                <a:off x="1087583" y="3550455"/>
                <a:ext cx="1484849" cy="54528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319" name="Rectangle 318">
                <a:extLst>
                  <a:ext uri="{FF2B5EF4-FFF2-40B4-BE49-F238E27FC236}">
                    <a16:creationId xmlns:a16="http://schemas.microsoft.com/office/drawing/2014/main" id="{6C6B4473-F3B4-28B8-2B2D-A9FF0ABDED26}"/>
                  </a:ext>
                </a:extLst>
              </p:cNvPr>
              <p:cNvSpPr/>
              <p:nvPr/>
            </p:nvSpPr>
            <p:spPr>
              <a:xfrm>
                <a:off x="1087583" y="4840958"/>
                <a:ext cx="1484849" cy="545285"/>
              </a:xfrm>
              <a:prstGeom prst="rect">
                <a:avLst/>
              </a:prstGeom>
              <a:solidFill>
                <a:schemeClr val="bg1">
                  <a:lumMod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320" name="Rectangle 319">
                <a:extLst>
                  <a:ext uri="{FF2B5EF4-FFF2-40B4-BE49-F238E27FC236}">
                    <a16:creationId xmlns:a16="http://schemas.microsoft.com/office/drawing/2014/main" id="{71933F96-A44A-CD27-C800-24B4053AF8DF}"/>
                  </a:ext>
                </a:extLst>
              </p:cNvPr>
              <p:cNvSpPr/>
              <p:nvPr/>
            </p:nvSpPr>
            <p:spPr>
              <a:xfrm>
                <a:off x="1087583" y="5858818"/>
                <a:ext cx="1484849" cy="54528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321" name="Rectangle 320">
              <a:extLst>
                <a:ext uri="{FF2B5EF4-FFF2-40B4-BE49-F238E27FC236}">
                  <a16:creationId xmlns:a16="http://schemas.microsoft.com/office/drawing/2014/main" id="{1232EF08-E21A-6B8F-479F-DA8E01C30DDB}"/>
                </a:ext>
              </a:extLst>
            </p:cNvPr>
            <p:cNvSpPr/>
            <p:nvPr/>
          </p:nvSpPr>
          <p:spPr>
            <a:xfrm>
              <a:off x="13437252" y="5390039"/>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6" name="Rectangle 345">
              <a:extLst>
                <a:ext uri="{FF2B5EF4-FFF2-40B4-BE49-F238E27FC236}">
                  <a16:creationId xmlns:a16="http://schemas.microsoft.com/office/drawing/2014/main" id="{1F90DE0A-A2C2-3084-A2D0-9A712030752A}"/>
                </a:ext>
              </a:extLst>
            </p:cNvPr>
            <p:cNvSpPr/>
            <p:nvPr/>
          </p:nvSpPr>
          <p:spPr>
            <a:xfrm>
              <a:off x="13544073" y="5108407"/>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7" name="Rectangle 346">
              <a:extLst>
                <a:ext uri="{FF2B5EF4-FFF2-40B4-BE49-F238E27FC236}">
                  <a16:creationId xmlns:a16="http://schemas.microsoft.com/office/drawing/2014/main" id="{773FD4CB-D6FD-0863-F007-269443C65596}"/>
                </a:ext>
              </a:extLst>
            </p:cNvPr>
            <p:cNvSpPr/>
            <p:nvPr/>
          </p:nvSpPr>
          <p:spPr>
            <a:xfrm>
              <a:off x="13820256" y="5010121"/>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8" name="Rectangle 347">
              <a:extLst>
                <a:ext uri="{FF2B5EF4-FFF2-40B4-BE49-F238E27FC236}">
                  <a16:creationId xmlns:a16="http://schemas.microsoft.com/office/drawing/2014/main" id="{7F856479-0E59-A676-6A80-8B5C01F86AED}"/>
                </a:ext>
              </a:extLst>
            </p:cNvPr>
            <p:cNvSpPr/>
            <p:nvPr/>
          </p:nvSpPr>
          <p:spPr>
            <a:xfrm>
              <a:off x="13606969" y="5582165"/>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59" name="Rectangle 358">
              <a:extLst>
                <a:ext uri="{FF2B5EF4-FFF2-40B4-BE49-F238E27FC236}">
                  <a16:creationId xmlns:a16="http://schemas.microsoft.com/office/drawing/2014/main" id="{66A4EBE6-C52D-CD12-25C5-DADC0AB2727F}"/>
                </a:ext>
              </a:extLst>
            </p:cNvPr>
            <p:cNvSpPr/>
            <p:nvPr/>
          </p:nvSpPr>
          <p:spPr>
            <a:xfrm>
              <a:off x="13989973" y="5202247"/>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60" name="Rectangle 359">
              <a:extLst>
                <a:ext uri="{FF2B5EF4-FFF2-40B4-BE49-F238E27FC236}">
                  <a16:creationId xmlns:a16="http://schemas.microsoft.com/office/drawing/2014/main" id="{BDAE54FC-E8F4-D9F5-7C9E-6E2F919BD2ED}"/>
                </a:ext>
              </a:extLst>
            </p:cNvPr>
            <p:cNvSpPr/>
            <p:nvPr/>
          </p:nvSpPr>
          <p:spPr>
            <a:xfrm>
              <a:off x="14271549" y="5010121"/>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61" name="Rectangle 360">
              <a:extLst>
                <a:ext uri="{FF2B5EF4-FFF2-40B4-BE49-F238E27FC236}">
                  <a16:creationId xmlns:a16="http://schemas.microsoft.com/office/drawing/2014/main" id="{633242B0-31D9-25E5-D266-4F6F75D9DEC3}"/>
                </a:ext>
              </a:extLst>
            </p:cNvPr>
            <p:cNvSpPr/>
            <p:nvPr/>
          </p:nvSpPr>
          <p:spPr>
            <a:xfrm>
              <a:off x="14118201" y="5337421"/>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362" name="Graphique 361" descr="Calendrier journalier avec un remplissage uni">
              <a:extLst>
                <a:ext uri="{FF2B5EF4-FFF2-40B4-BE49-F238E27FC236}">
                  <a16:creationId xmlns:a16="http://schemas.microsoft.com/office/drawing/2014/main" id="{40F262F2-1C63-6BCF-3CFA-2D42A58C392F}"/>
                </a:ext>
              </a:extLst>
            </p:cNvPr>
            <p:cNvPicPr>
              <a:picLocks noChangeAspect="1"/>
            </p:cNvPicPr>
            <p:nvPr/>
          </p:nvPicPr>
          <p:blipFill>
            <a:blip r:embed="rId84">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11819374" y="4619092"/>
              <a:ext cx="914400" cy="914400"/>
            </a:xfrm>
            <a:prstGeom prst="rect">
              <a:avLst/>
            </a:prstGeom>
          </p:spPr>
        </p:pic>
        <p:pic>
          <p:nvPicPr>
            <p:cNvPr id="363" name="Graphique 362" descr="Homme avec un remplissage uni">
              <a:extLst>
                <a:ext uri="{FF2B5EF4-FFF2-40B4-BE49-F238E27FC236}">
                  <a16:creationId xmlns:a16="http://schemas.microsoft.com/office/drawing/2014/main" id="{270F160D-00F2-552F-74B3-F89D7B05FCE6}"/>
                </a:ext>
              </a:extLst>
            </p:cNvPr>
            <p:cNvPicPr>
              <a:picLocks noChangeAspect="1"/>
            </p:cNvPicPr>
            <p:nvPr/>
          </p:nvPicPr>
          <p:blipFill rotWithShape="1">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rcRect l="20753" t="1048" b="40502"/>
            <a:stretch/>
          </p:blipFill>
          <p:spPr>
            <a:xfrm>
              <a:off x="11804247" y="5105699"/>
              <a:ext cx="453328" cy="334360"/>
            </a:xfrm>
            <a:prstGeom prst="rect">
              <a:avLst/>
            </a:prstGeom>
          </p:spPr>
        </p:pic>
        <p:pic>
          <p:nvPicPr>
            <p:cNvPr id="364" name="Graphique 363" descr="Homme avec un remplissage uni">
              <a:extLst>
                <a:ext uri="{FF2B5EF4-FFF2-40B4-BE49-F238E27FC236}">
                  <a16:creationId xmlns:a16="http://schemas.microsoft.com/office/drawing/2014/main" id="{B19AFF6B-CDCC-AC51-CA2F-D7EED73AAB01}"/>
                </a:ext>
              </a:extLst>
            </p:cNvPr>
            <p:cNvPicPr>
              <a:picLocks noChangeAspect="1"/>
            </p:cNvPicPr>
            <p:nvPr/>
          </p:nvPicPr>
          <p:blipFill rotWithShape="1">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rcRect l="20753" t="1048" b="40502"/>
            <a:stretch/>
          </p:blipFill>
          <p:spPr>
            <a:xfrm>
              <a:off x="12062224" y="5086771"/>
              <a:ext cx="453328" cy="334360"/>
            </a:xfrm>
            <a:prstGeom prst="rect">
              <a:avLst/>
            </a:prstGeom>
          </p:spPr>
        </p:pic>
        <p:pic>
          <p:nvPicPr>
            <p:cNvPr id="365" name="Graphique 364" descr="Homme avec un remplissage uni">
              <a:extLst>
                <a:ext uri="{FF2B5EF4-FFF2-40B4-BE49-F238E27FC236}">
                  <a16:creationId xmlns:a16="http://schemas.microsoft.com/office/drawing/2014/main" id="{4450D482-A99D-FEE3-4614-DC32BFD03129}"/>
                </a:ext>
              </a:extLst>
            </p:cNvPr>
            <p:cNvPicPr>
              <a:picLocks noChangeAspect="1"/>
            </p:cNvPicPr>
            <p:nvPr/>
          </p:nvPicPr>
          <p:blipFill rotWithShape="1">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rcRect l="20753" t="1048" b="40502"/>
            <a:stretch/>
          </p:blipFill>
          <p:spPr>
            <a:xfrm>
              <a:off x="12324733" y="5105003"/>
              <a:ext cx="453328" cy="334360"/>
            </a:xfrm>
            <a:prstGeom prst="rect">
              <a:avLst/>
            </a:prstGeom>
          </p:spPr>
        </p:pic>
        <p:pic>
          <p:nvPicPr>
            <p:cNvPr id="366" name="Graphique 365" descr="Loupe avec un remplissage uni">
              <a:extLst>
                <a:ext uri="{FF2B5EF4-FFF2-40B4-BE49-F238E27FC236}">
                  <a16:creationId xmlns:a16="http://schemas.microsoft.com/office/drawing/2014/main" id="{93722584-740F-261C-E84B-885D0ECD51BF}"/>
                </a:ext>
              </a:extLst>
            </p:cNvPr>
            <p:cNvPicPr>
              <a:picLocks noChangeAspect="1"/>
            </p:cNvPicPr>
            <p:nvPr/>
          </p:nvPicPr>
          <p:blipFill>
            <a:blip r:embed="rId86">
              <a:extLst>
                <a:ext uri="{28A0092B-C50C-407E-A947-70E740481C1C}">
                  <a14:useLocalDpi xmlns:a14="http://schemas.microsoft.com/office/drawing/2010/main" val="0"/>
                </a:ext>
                <a:ext uri="{96DAC541-7B7A-43D3-8B79-37D633B846F1}">
                  <asvg:svgBlip xmlns:asvg="http://schemas.microsoft.com/office/drawing/2016/SVG/main" r:embed="rId87"/>
                </a:ext>
              </a:extLst>
            </a:blip>
            <a:stretch>
              <a:fillRect/>
            </a:stretch>
          </p:blipFill>
          <p:spPr>
            <a:xfrm>
              <a:off x="11942063" y="4898899"/>
              <a:ext cx="914400" cy="914400"/>
            </a:xfrm>
            <a:prstGeom prst="rect">
              <a:avLst/>
            </a:prstGeom>
          </p:spPr>
        </p:pic>
        <p:pic>
          <p:nvPicPr>
            <p:cNvPr id="367" name="Graphique 366" descr="Femme scientifique avec un remplissage uni">
              <a:extLst>
                <a:ext uri="{FF2B5EF4-FFF2-40B4-BE49-F238E27FC236}">
                  <a16:creationId xmlns:a16="http://schemas.microsoft.com/office/drawing/2014/main" id="{3CC9C9D8-3562-28F3-3043-FA775D378954}"/>
                </a:ext>
              </a:extLst>
            </p:cNvPr>
            <p:cNvPicPr>
              <a:picLocks noChangeAspect="1"/>
            </p:cNvPicPr>
            <p:nvPr/>
          </p:nvPicPr>
          <p:blipFill>
            <a:blip r:embed="rId88">
              <a:extLst>
                <a:ext uri="{28A0092B-C50C-407E-A947-70E740481C1C}">
                  <a14:useLocalDpi xmlns:a14="http://schemas.microsoft.com/office/drawing/2010/main" val="0"/>
                </a:ext>
                <a:ext uri="{96DAC541-7B7A-43D3-8B79-37D633B846F1}">
                  <asvg:svgBlip xmlns:asvg="http://schemas.microsoft.com/office/drawing/2016/SVG/main" r:embed="rId89"/>
                </a:ext>
              </a:extLst>
            </a:blip>
            <a:srcRect/>
            <a:stretch/>
          </p:blipFill>
          <p:spPr>
            <a:xfrm>
              <a:off x="1365998" y="3581777"/>
              <a:ext cx="2284035" cy="2284035"/>
            </a:xfrm>
            <a:prstGeom prst="rect">
              <a:avLst/>
            </a:prstGeom>
          </p:spPr>
        </p:pic>
      </p:grpSp>
      <p:sp>
        <p:nvSpPr>
          <p:cNvPr id="2" name="ZoneTexte 1">
            <a:extLst>
              <a:ext uri="{FF2B5EF4-FFF2-40B4-BE49-F238E27FC236}">
                <a16:creationId xmlns:a16="http://schemas.microsoft.com/office/drawing/2014/main" id="{13ABE015-6DCE-7498-475B-2211FC83C6F6}"/>
              </a:ext>
            </a:extLst>
          </p:cNvPr>
          <p:cNvSpPr txBox="1"/>
          <p:nvPr/>
        </p:nvSpPr>
        <p:spPr>
          <a:xfrm>
            <a:off x="1096188" y="4215479"/>
            <a:ext cx="3010557" cy="2308324"/>
          </a:xfrm>
          <a:prstGeom prst="rect">
            <a:avLst/>
          </a:prstGeom>
          <a:noFill/>
        </p:spPr>
        <p:txBody>
          <a:bodyPr wrap="square">
            <a:spAutoFit/>
          </a:bodyPr>
          <a:lstStyle/>
          <a:p>
            <a:r>
              <a:rPr lang="fr-FR" dirty="0"/>
              <a:t>Les décisions sont très difficiles à prendre en </a:t>
            </a:r>
            <a:r>
              <a:rPr lang="fr-FR" b="1" dirty="0"/>
              <a:t>l’absence de renseignements </a:t>
            </a:r>
            <a:r>
              <a:rPr lang="fr-FR" dirty="0"/>
              <a:t>sur la Communauté, ces derniers fournissent des </a:t>
            </a:r>
            <a:r>
              <a:rPr lang="fr-FR" b="1" dirty="0">
                <a:solidFill>
                  <a:srgbClr val="3494BA"/>
                </a:solidFill>
              </a:rPr>
              <a:t>informations clés </a:t>
            </a:r>
            <a:r>
              <a:rPr lang="fr-FR" dirty="0"/>
              <a:t>pour </a:t>
            </a:r>
            <a:r>
              <a:rPr lang="fr-FR" b="1" dirty="0">
                <a:solidFill>
                  <a:srgbClr val="ED7D31"/>
                </a:solidFill>
              </a:rPr>
              <a:t>augmenter les chances de valeur</a:t>
            </a:r>
            <a:r>
              <a:rPr lang="fr-FR" dirty="0"/>
              <a:t>. </a:t>
            </a:r>
          </a:p>
        </p:txBody>
      </p:sp>
      <p:sp>
        <p:nvSpPr>
          <p:cNvPr id="5" name="ZoneTexte 4">
            <a:extLst>
              <a:ext uri="{FF2B5EF4-FFF2-40B4-BE49-F238E27FC236}">
                <a16:creationId xmlns:a16="http://schemas.microsoft.com/office/drawing/2014/main" id="{E463CC9D-A9DF-4D4D-BA2E-E579FA1CC775}"/>
              </a:ext>
            </a:extLst>
          </p:cNvPr>
          <p:cNvSpPr txBox="1"/>
          <p:nvPr/>
        </p:nvSpPr>
        <p:spPr>
          <a:xfrm>
            <a:off x="5095120" y="4215479"/>
            <a:ext cx="2880002" cy="1754326"/>
          </a:xfrm>
          <a:prstGeom prst="rect">
            <a:avLst/>
          </a:prstGeom>
          <a:noFill/>
        </p:spPr>
        <p:txBody>
          <a:bodyPr wrap="square">
            <a:spAutoFit/>
          </a:bodyPr>
          <a:lstStyle/>
          <a:p>
            <a:r>
              <a:rPr lang="fr-FR" dirty="0"/>
              <a:t>Il y a une </a:t>
            </a:r>
            <a:r>
              <a:rPr lang="fr-FR" b="1" dirty="0">
                <a:solidFill>
                  <a:srgbClr val="ED7D31"/>
                </a:solidFill>
              </a:rPr>
              <a:t>grande variété de moyens </a:t>
            </a:r>
            <a:r>
              <a:rPr lang="fr-FR" dirty="0"/>
              <a:t>de renseignements délibérés, on n’est </a:t>
            </a:r>
            <a:r>
              <a:rPr lang="fr-FR" b="1" dirty="0"/>
              <a:t>rarement obligé de se restreindre </a:t>
            </a:r>
            <a:r>
              <a:rPr lang="fr-FR" dirty="0"/>
              <a:t>à un seul moyen de renseignement.</a:t>
            </a:r>
          </a:p>
        </p:txBody>
      </p:sp>
      <p:sp>
        <p:nvSpPr>
          <p:cNvPr id="6" name="ZoneTexte 5">
            <a:extLst>
              <a:ext uri="{FF2B5EF4-FFF2-40B4-BE49-F238E27FC236}">
                <a16:creationId xmlns:a16="http://schemas.microsoft.com/office/drawing/2014/main" id="{4DFAA927-040C-25F1-72D1-CD2C51063C0A}"/>
              </a:ext>
            </a:extLst>
          </p:cNvPr>
          <p:cNvSpPr txBox="1"/>
          <p:nvPr/>
        </p:nvSpPr>
        <p:spPr>
          <a:xfrm>
            <a:off x="9120693" y="4215479"/>
            <a:ext cx="2880002" cy="1477328"/>
          </a:xfrm>
          <a:prstGeom prst="rect">
            <a:avLst/>
          </a:prstGeom>
          <a:noFill/>
        </p:spPr>
        <p:txBody>
          <a:bodyPr wrap="square">
            <a:spAutoFit/>
          </a:bodyPr>
          <a:lstStyle/>
          <a:p>
            <a:r>
              <a:rPr lang="fr-FR" dirty="0"/>
              <a:t>Chaque moyen de renseignement présente des </a:t>
            </a:r>
            <a:r>
              <a:rPr lang="fr-FR" b="1" dirty="0">
                <a:solidFill>
                  <a:srgbClr val="3494BA"/>
                </a:solidFill>
              </a:rPr>
              <a:t>avantages, inconvénients</a:t>
            </a:r>
            <a:r>
              <a:rPr lang="fr-FR" dirty="0"/>
              <a:t>, et des </a:t>
            </a:r>
            <a:r>
              <a:rPr lang="fr-FR" b="1" dirty="0">
                <a:solidFill>
                  <a:srgbClr val="ED7D31"/>
                </a:solidFill>
              </a:rPr>
              <a:t>conditions favorables </a:t>
            </a:r>
            <a:r>
              <a:rPr lang="fr-FR" dirty="0"/>
              <a:t>à leur exécution.</a:t>
            </a:r>
          </a:p>
        </p:txBody>
      </p:sp>
      <p:sp>
        <p:nvSpPr>
          <p:cNvPr id="7" name="Organigramme : Connecteur 6">
            <a:extLst>
              <a:ext uri="{FF2B5EF4-FFF2-40B4-BE49-F238E27FC236}">
                <a16:creationId xmlns:a16="http://schemas.microsoft.com/office/drawing/2014/main" id="{6FD38E64-BE2F-5CA6-F7AC-CDB3557DEB59}"/>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34</a:t>
            </a:r>
          </a:p>
        </p:txBody>
      </p:sp>
      <p:sp>
        <p:nvSpPr>
          <p:cNvPr id="8" name="Organigramme : Connecteur 7">
            <a:extLst>
              <a:ext uri="{FF2B5EF4-FFF2-40B4-BE49-F238E27FC236}">
                <a16:creationId xmlns:a16="http://schemas.microsoft.com/office/drawing/2014/main" id="{C9AA78C9-A7CE-94F5-AD0D-9F8D4EA18BEA}"/>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35</a:t>
            </a:r>
          </a:p>
        </p:txBody>
      </p:sp>
      <p:sp>
        <p:nvSpPr>
          <p:cNvPr id="9" name="Organigramme : Connecteur 8">
            <a:extLst>
              <a:ext uri="{FF2B5EF4-FFF2-40B4-BE49-F238E27FC236}">
                <a16:creationId xmlns:a16="http://schemas.microsoft.com/office/drawing/2014/main" id="{C9233043-CA5B-54A7-259D-9F7CAF297DFB}"/>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36</a:t>
            </a:r>
          </a:p>
        </p:txBody>
      </p:sp>
      <p:grpSp>
        <p:nvGrpSpPr>
          <p:cNvPr id="57" name="Groupe 56">
            <a:extLst>
              <a:ext uri="{FF2B5EF4-FFF2-40B4-BE49-F238E27FC236}">
                <a16:creationId xmlns:a16="http://schemas.microsoft.com/office/drawing/2014/main" id="{37DEC338-2AF4-1244-35C5-B1E3B4837E86}"/>
              </a:ext>
            </a:extLst>
          </p:cNvPr>
          <p:cNvGrpSpPr/>
          <p:nvPr/>
        </p:nvGrpSpPr>
        <p:grpSpPr>
          <a:xfrm>
            <a:off x="8650289" y="1852752"/>
            <a:ext cx="2011854" cy="2130405"/>
            <a:chOff x="7984463" y="567991"/>
            <a:chExt cx="4777336" cy="5058848"/>
          </a:xfrm>
        </p:grpSpPr>
        <p:grpSp>
          <p:nvGrpSpPr>
            <p:cNvPr id="10" name="Groupe 9">
              <a:extLst>
                <a:ext uri="{FF2B5EF4-FFF2-40B4-BE49-F238E27FC236}">
                  <a16:creationId xmlns:a16="http://schemas.microsoft.com/office/drawing/2014/main" id="{838A2E8D-6EDC-E22A-2524-C5CA554D0839}"/>
                </a:ext>
              </a:extLst>
            </p:cNvPr>
            <p:cNvGrpSpPr/>
            <p:nvPr/>
          </p:nvGrpSpPr>
          <p:grpSpPr>
            <a:xfrm>
              <a:off x="8156417" y="581947"/>
              <a:ext cx="1176599" cy="921643"/>
              <a:chOff x="7748306" y="490159"/>
              <a:chExt cx="3442453" cy="2696512"/>
            </a:xfrm>
          </p:grpSpPr>
          <p:pic>
            <p:nvPicPr>
              <p:cNvPr id="11" name="Graphique 10" descr="Enveloppe avec un remplissage uni">
                <a:extLst>
                  <a:ext uri="{FF2B5EF4-FFF2-40B4-BE49-F238E27FC236}">
                    <a16:creationId xmlns:a16="http://schemas.microsoft.com/office/drawing/2014/main" id="{DA3DA7BC-CE36-A81D-D810-AF683EC1E540}"/>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0276359" y="490159"/>
                <a:ext cx="914400" cy="914400"/>
              </a:xfrm>
              <a:prstGeom prst="rect">
                <a:avLst/>
              </a:prstGeom>
            </p:spPr>
          </p:pic>
          <p:grpSp>
            <p:nvGrpSpPr>
              <p:cNvPr id="12" name="Groupe 11">
                <a:extLst>
                  <a:ext uri="{FF2B5EF4-FFF2-40B4-BE49-F238E27FC236}">
                    <a16:creationId xmlns:a16="http://schemas.microsoft.com/office/drawing/2014/main" id="{F7F1D159-5FCA-C2DF-2EAC-20BBD0DFCEE2}"/>
                  </a:ext>
                </a:extLst>
              </p:cNvPr>
              <p:cNvGrpSpPr/>
              <p:nvPr/>
            </p:nvGrpSpPr>
            <p:grpSpPr>
              <a:xfrm>
                <a:off x="7748306" y="1139265"/>
                <a:ext cx="1452457" cy="1899771"/>
                <a:chOff x="7682578" y="1021976"/>
                <a:chExt cx="1658646" cy="2169460"/>
              </a:xfrm>
            </p:grpSpPr>
            <p:pic>
              <p:nvPicPr>
                <p:cNvPr id="18" name="Graphique 17" descr="Papier contour">
                  <a:extLst>
                    <a:ext uri="{FF2B5EF4-FFF2-40B4-BE49-F238E27FC236}">
                      <a16:creationId xmlns:a16="http://schemas.microsoft.com/office/drawing/2014/main" id="{F68E3C75-85A1-450C-F618-368965312386}"/>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rcRect l="17172" t="6805" r="16563" b="6523"/>
                <a:stretch/>
              </p:blipFill>
              <p:spPr>
                <a:xfrm>
                  <a:off x="7682578" y="1021976"/>
                  <a:ext cx="1658646" cy="2169460"/>
                </a:xfrm>
                <a:prstGeom prst="rect">
                  <a:avLst/>
                </a:prstGeom>
              </p:spPr>
            </p:pic>
            <p:pic>
              <p:nvPicPr>
                <p:cNvPr id="19" name="Graphique 18" descr="Aide avec un remplissage uni">
                  <a:extLst>
                    <a:ext uri="{FF2B5EF4-FFF2-40B4-BE49-F238E27FC236}">
                      <a16:creationId xmlns:a16="http://schemas.microsoft.com/office/drawing/2014/main" id="{ADC16A1C-0B4F-5E8A-BAE3-C794AA7F3835}"/>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829327" y="1628496"/>
                  <a:ext cx="537883" cy="537883"/>
                </a:xfrm>
                <a:prstGeom prst="rect">
                  <a:avLst/>
                </a:prstGeom>
              </p:spPr>
            </p:pic>
            <p:pic>
              <p:nvPicPr>
                <p:cNvPr id="20" name="Graphique 19" descr="Aide avec un remplissage uni">
                  <a:extLst>
                    <a:ext uri="{FF2B5EF4-FFF2-40B4-BE49-F238E27FC236}">
                      <a16:creationId xmlns:a16="http://schemas.microsoft.com/office/drawing/2014/main" id="{D0C3B583-6E7D-B493-994D-3812342E6BDD}"/>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836722" y="2103170"/>
                  <a:ext cx="537883" cy="537883"/>
                </a:xfrm>
                <a:prstGeom prst="rect">
                  <a:avLst/>
                </a:prstGeom>
              </p:spPr>
            </p:pic>
            <p:pic>
              <p:nvPicPr>
                <p:cNvPr id="21" name="Graphique 20" descr="Aide avec un remplissage uni">
                  <a:extLst>
                    <a:ext uri="{FF2B5EF4-FFF2-40B4-BE49-F238E27FC236}">
                      <a16:creationId xmlns:a16="http://schemas.microsoft.com/office/drawing/2014/main" id="{04C760EE-1E95-D4AC-9AD0-19B8DBD34818}"/>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7829326" y="2577844"/>
                  <a:ext cx="537883" cy="537883"/>
                </a:xfrm>
                <a:prstGeom prst="rect">
                  <a:avLst/>
                </a:prstGeom>
              </p:spPr>
            </p:pic>
          </p:grpSp>
          <p:cxnSp>
            <p:nvCxnSpPr>
              <p:cNvPr id="13" name="Connecteur : en angle 12">
                <a:extLst>
                  <a:ext uri="{FF2B5EF4-FFF2-40B4-BE49-F238E27FC236}">
                    <a16:creationId xmlns:a16="http://schemas.microsoft.com/office/drawing/2014/main" id="{57BD5D2D-4DBE-8BB3-EC40-41E6D5574D3C}"/>
                  </a:ext>
                </a:extLst>
              </p:cNvPr>
              <p:cNvCxnSpPr>
                <a:stCxn id="18" idx="3"/>
                <a:endCxn id="11" idx="1"/>
              </p:cNvCxnSpPr>
              <p:nvPr/>
            </p:nvCxnSpPr>
            <p:spPr>
              <a:xfrm flipV="1">
                <a:off x="9200763" y="947359"/>
                <a:ext cx="1075596" cy="1141792"/>
              </a:xfrm>
              <a:prstGeom prst="bentConnector3">
                <a:avLst/>
              </a:prstGeom>
              <a:ln w="3175">
                <a:tailEnd type="triangle"/>
              </a:ln>
            </p:spPr>
            <p:style>
              <a:lnRef idx="1">
                <a:schemeClr val="accent1"/>
              </a:lnRef>
              <a:fillRef idx="0">
                <a:schemeClr val="accent1"/>
              </a:fillRef>
              <a:effectRef idx="0">
                <a:schemeClr val="accent1"/>
              </a:effectRef>
              <a:fontRef idx="minor">
                <a:schemeClr val="tx1"/>
              </a:fontRef>
            </p:style>
          </p:cxnSp>
          <p:cxnSp>
            <p:nvCxnSpPr>
              <p:cNvPr id="14" name="Connecteur : en angle 13">
                <a:extLst>
                  <a:ext uri="{FF2B5EF4-FFF2-40B4-BE49-F238E27FC236}">
                    <a16:creationId xmlns:a16="http://schemas.microsoft.com/office/drawing/2014/main" id="{563C7411-B290-4B88-CF66-223CB7A19235}"/>
                  </a:ext>
                </a:extLst>
              </p:cNvPr>
              <p:cNvCxnSpPr>
                <a:cxnSpLocks/>
                <a:stCxn id="18" idx="3"/>
              </p:cNvCxnSpPr>
              <p:nvPr/>
            </p:nvCxnSpPr>
            <p:spPr>
              <a:xfrm flipV="1">
                <a:off x="9200763" y="1815071"/>
                <a:ext cx="1075596" cy="274080"/>
              </a:xfrm>
              <a:prstGeom prst="bentConnector3">
                <a:avLst/>
              </a:prstGeom>
              <a:ln w="6350">
                <a:tailEnd type="triangle"/>
              </a:ln>
            </p:spPr>
            <p:style>
              <a:lnRef idx="1">
                <a:schemeClr val="accent1"/>
              </a:lnRef>
              <a:fillRef idx="0">
                <a:schemeClr val="accent1"/>
              </a:fillRef>
              <a:effectRef idx="0">
                <a:schemeClr val="accent1"/>
              </a:effectRef>
              <a:fontRef idx="minor">
                <a:schemeClr val="tx1"/>
              </a:fontRef>
            </p:style>
          </p:cxnSp>
          <p:cxnSp>
            <p:nvCxnSpPr>
              <p:cNvPr id="15" name="Connecteur : en angle 14">
                <a:extLst>
                  <a:ext uri="{FF2B5EF4-FFF2-40B4-BE49-F238E27FC236}">
                    <a16:creationId xmlns:a16="http://schemas.microsoft.com/office/drawing/2014/main" id="{182DFCAC-B7B8-EF0D-F19B-15489BD30C9A}"/>
                  </a:ext>
                </a:extLst>
              </p:cNvPr>
              <p:cNvCxnSpPr>
                <a:cxnSpLocks/>
                <a:stCxn id="18" idx="3"/>
              </p:cNvCxnSpPr>
              <p:nvPr/>
            </p:nvCxnSpPr>
            <p:spPr>
              <a:xfrm>
                <a:off x="9200763" y="2089151"/>
                <a:ext cx="1075596" cy="593631"/>
              </a:xfrm>
              <a:prstGeom prst="bentConnector3">
                <a:avLst/>
              </a:prstGeom>
              <a:ln w="3175">
                <a:tailEnd type="triangle"/>
              </a:ln>
            </p:spPr>
            <p:style>
              <a:lnRef idx="1">
                <a:schemeClr val="accent1"/>
              </a:lnRef>
              <a:fillRef idx="0">
                <a:schemeClr val="accent1"/>
              </a:fillRef>
              <a:effectRef idx="0">
                <a:schemeClr val="accent1"/>
              </a:effectRef>
              <a:fontRef idx="minor">
                <a:schemeClr val="tx1"/>
              </a:fontRef>
            </p:style>
          </p:cxnSp>
          <p:pic>
            <p:nvPicPr>
              <p:cNvPr id="16" name="Graphique 15" descr="Réseau en ligne avec un remplissage uni">
                <a:extLst>
                  <a:ext uri="{FF2B5EF4-FFF2-40B4-BE49-F238E27FC236}">
                    <a16:creationId xmlns:a16="http://schemas.microsoft.com/office/drawing/2014/main" id="{E72DEB1A-87C9-B80A-D0DE-AA11C6C7416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10214892" y="2272271"/>
                <a:ext cx="914400" cy="914400"/>
              </a:xfrm>
              <a:prstGeom prst="rect">
                <a:avLst/>
              </a:prstGeom>
            </p:spPr>
          </p:pic>
          <p:pic>
            <p:nvPicPr>
              <p:cNvPr id="17" name="Graphique 16" descr="Réunion en ligne avec un remplissage uni">
                <a:extLst>
                  <a:ext uri="{FF2B5EF4-FFF2-40B4-BE49-F238E27FC236}">
                    <a16:creationId xmlns:a16="http://schemas.microsoft.com/office/drawing/2014/main" id="{1CE778EA-0A6A-24EF-CEE3-4D757707B416}"/>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10276359" y="1348236"/>
                <a:ext cx="914400" cy="914400"/>
              </a:xfrm>
              <a:prstGeom prst="rect">
                <a:avLst/>
              </a:prstGeom>
            </p:spPr>
          </p:pic>
        </p:grpSp>
        <p:sp>
          <p:nvSpPr>
            <p:cNvPr id="22" name="Rectangle 21">
              <a:extLst>
                <a:ext uri="{FF2B5EF4-FFF2-40B4-BE49-F238E27FC236}">
                  <a16:creationId xmlns:a16="http://schemas.microsoft.com/office/drawing/2014/main" id="{4250FA66-F547-8420-F5B3-7D7710332C68}"/>
                </a:ext>
              </a:extLst>
            </p:cNvPr>
            <p:cNvSpPr/>
            <p:nvPr/>
          </p:nvSpPr>
          <p:spPr>
            <a:xfrm>
              <a:off x="7984463" y="152708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grpSp>
          <p:nvGrpSpPr>
            <p:cNvPr id="23" name="Groupe 22">
              <a:extLst>
                <a:ext uri="{FF2B5EF4-FFF2-40B4-BE49-F238E27FC236}">
                  <a16:creationId xmlns:a16="http://schemas.microsoft.com/office/drawing/2014/main" id="{B3F42527-5052-22C3-0B12-545B53BF54BC}"/>
                </a:ext>
              </a:extLst>
            </p:cNvPr>
            <p:cNvGrpSpPr/>
            <p:nvPr/>
          </p:nvGrpSpPr>
          <p:grpSpPr>
            <a:xfrm>
              <a:off x="9936953" y="567991"/>
              <a:ext cx="1121389" cy="935599"/>
              <a:chOff x="7829664" y="3812797"/>
              <a:chExt cx="3361095" cy="2804234"/>
            </a:xfrm>
          </p:grpSpPr>
          <p:pic>
            <p:nvPicPr>
              <p:cNvPr id="24" name="Graphique 23" descr="Homme avec un remplissage uni">
                <a:extLst>
                  <a:ext uri="{FF2B5EF4-FFF2-40B4-BE49-F238E27FC236}">
                    <a16:creationId xmlns:a16="http://schemas.microsoft.com/office/drawing/2014/main" id="{EBF2B34A-BC1A-0373-D2E8-8F4CED26E271}"/>
                  </a:ext>
                </a:extLst>
              </p:cNvPr>
              <p:cNvPicPr>
                <a:picLocks noChangeAspect="1"/>
              </p:cNvPicPr>
              <p:nvPr/>
            </p:nvPicPr>
            <p:blipFill rotWithShape="1">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rcRect t="1" b="40502"/>
              <a:stretch/>
            </p:blipFill>
            <p:spPr>
              <a:xfrm>
                <a:off x="8312323" y="4821183"/>
                <a:ext cx="2878436" cy="1712563"/>
              </a:xfrm>
              <a:prstGeom prst="rect">
                <a:avLst/>
              </a:prstGeom>
            </p:spPr>
          </p:pic>
          <p:grpSp>
            <p:nvGrpSpPr>
              <p:cNvPr id="25" name="Groupe 24">
                <a:extLst>
                  <a:ext uri="{FF2B5EF4-FFF2-40B4-BE49-F238E27FC236}">
                    <a16:creationId xmlns:a16="http://schemas.microsoft.com/office/drawing/2014/main" id="{BF211A1B-3B0E-3514-B6E2-4B2705797853}"/>
                  </a:ext>
                </a:extLst>
              </p:cNvPr>
              <p:cNvGrpSpPr/>
              <p:nvPr/>
            </p:nvGrpSpPr>
            <p:grpSpPr>
              <a:xfrm>
                <a:off x="7829664" y="4904469"/>
                <a:ext cx="1747769" cy="1712562"/>
                <a:chOff x="786592" y="4813146"/>
                <a:chExt cx="1747769" cy="1712562"/>
              </a:xfrm>
            </p:grpSpPr>
            <p:pic>
              <p:nvPicPr>
                <p:cNvPr id="31" name="Graphique 30" descr="Microphone avec un remplissage uni">
                  <a:extLst>
                    <a:ext uri="{FF2B5EF4-FFF2-40B4-BE49-F238E27FC236}">
                      <a16:creationId xmlns:a16="http://schemas.microsoft.com/office/drawing/2014/main" id="{02EE4B72-8D87-C1EB-1931-0D8A8FB6F2DC}"/>
                    </a:ext>
                  </a:extLst>
                </p:cNvPr>
                <p:cNvPicPr>
                  <a:picLocks noChangeAspect="1"/>
                </p:cNvPicPr>
                <p:nvPr/>
              </p:nvPicPr>
              <p:blipFill rotWithShape="1">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rcRect l="26582" r="43264" b="738"/>
                <a:stretch/>
              </p:blipFill>
              <p:spPr>
                <a:xfrm rot="927067" flipH="1">
                  <a:off x="2184345" y="5290444"/>
                  <a:ext cx="350016" cy="1222715"/>
                </a:xfrm>
                <a:prstGeom prst="rect">
                  <a:avLst/>
                </a:prstGeom>
              </p:spPr>
            </p:pic>
            <p:pic>
              <p:nvPicPr>
                <p:cNvPr id="32" name="Graphique 31" descr="Personne confuse avec un remplissage uni">
                  <a:extLst>
                    <a:ext uri="{FF2B5EF4-FFF2-40B4-BE49-F238E27FC236}">
                      <a16:creationId xmlns:a16="http://schemas.microsoft.com/office/drawing/2014/main" id="{79E9E37E-52D5-5A47-CE2B-2ECFC9EAE53A}"/>
                    </a:ext>
                  </a:extLst>
                </p:cNvPr>
                <p:cNvPicPr>
                  <a:picLocks noChangeAspect="1"/>
                </p:cNvPicPr>
                <p:nvPr/>
              </p:nvPicPr>
              <p:blipFill rotWithShape="1">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rcRect l="38856" r="14769" b="50034"/>
                <a:stretch/>
              </p:blipFill>
              <p:spPr>
                <a:xfrm>
                  <a:off x="786592" y="4813146"/>
                  <a:ext cx="1589482" cy="1712562"/>
                </a:xfrm>
                <a:prstGeom prst="rect">
                  <a:avLst/>
                </a:prstGeom>
              </p:spPr>
            </p:pic>
          </p:grpSp>
          <p:pic>
            <p:nvPicPr>
              <p:cNvPr id="26" name="Graphique 25" descr="Bulle de discussion contour">
                <a:extLst>
                  <a:ext uri="{FF2B5EF4-FFF2-40B4-BE49-F238E27FC236}">
                    <a16:creationId xmlns:a16="http://schemas.microsoft.com/office/drawing/2014/main" id="{205F0940-ABB8-859C-CD50-072466DDABC5}"/>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903" b="12311"/>
              <a:stretch/>
            </p:blipFill>
            <p:spPr>
              <a:xfrm flipH="1">
                <a:off x="9657562" y="3812797"/>
                <a:ext cx="1501399" cy="1188720"/>
              </a:xfrm>
              <a:prstGeom prst="rect">
                <a:avLst/>
              </a:prstGeom>
            </p:spPr>
          </p:pic>
          <p:grpSp>
            <p:nvGrpSpPr>
              <p:cNvPr id="27" name="Groupe 26">
                <a:extLst>
                  <a:ext uri="{FF2B5EF4-FFF2-40B4-BE49-F238E27FC236}">
                    <a16:creationId xmlns:a16="http://schemas.microsoft.com/office/drawing/2014/main" id="{7E1389DC-FE40-36ED-F0B9-CDFE1DBB9B51}"/>
                  </a:ext>
                </a:extLst>
              </p:cNvPr>
              <p:cNvGrpSpPr/>
              <p:nvPr/>
            </p:nvGrpSpPr>
            <p:grpSpPr>
              <a:xfrm>
                <a:off x="7954346" y="3871337"/>
                <a:ext cx="1501399" cy="1188720"/>
                <a:chOff x="1733248" y="3784720"/>
                <a:chExt cx="1501399" cy="1188720"/>
              </a:xfrm>
            </p:grpSpPr>
            <p:pic>
              <p:nvPicPr>
                <p:cNvPr id="29" name="Graphique 28" descr="Bulle de discussion contour">
                  <a:extLst>
                    <a:ext uri="{FF2B5EF4-FFF2-40B4-BE49-F238E27FC236}">
                      <a16:creationId xmlns:a16="http://schemas.microsoft.com/office/drawing/2014/main" id="{9B2BBB66-0964-C835-3D16-65D880B89B2D}"/>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801" b="12412"/>
                <a:stretch/>
              </p:blipFill>
              <p:spPr>
                <a:xfrm flipH="1">
                  <a:off x="1733248" y="3784720"/>
                  <a:ext cx="1501399" cy="1188720"/>
                </a:xfrm>
                <a:prstGeom prst="rect">
                  <a:avLst/>
                </a:prstGeom>
              </p:spPr>
            </p:pic>
            <p:sp>
              <p:nvSpPr>
                <p:cNvPr id="30" name="Rectangle 29">
                  <a:extLst>
                    <a:ext uri="{FF2B5EF4-FFF2-40B4-BE49-F238E27FC236}">
                      <a16:creationId xmlns:a16="http://schemas.microsoft.com/office/drawing/2014/main" id="{71FC86C7-D97B-CA41-4D4A-5068E0894F64}"/>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28" name="Graphique 27" descr="Aide avec un remplissage uni">
                <a:extLst>
                  <a:ext uri="{FF2B5EF4-FFF2-40B4-BE49-F238E27FC236}">
                    <a16:creationId xmlns:a16="http://schemas.microsoft.com/office/drawing/2014/main" id="{7CF2172B-DA96-1322-6B2B-60C429B2004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8360689" y="3975365"/>
                <a:ext cx="679669" cy="679669"/>
              </a:xfrm>
              <a:prstGeom prst="rect">
                <a:avLst/>
              </a:prstGeom>
            </p:spPr>
          </p:pic>
        </p:grpSp>
        <p:sp>
          <p:nvSpPr>
            <p:cNvPr id="33" name="Rectangle 32">
              <a:extLst>
                <a:ext uri="{FF2B5EF4-FFF2-40B4-BE49-F238E27FC236}">
                  <a16:creationId xmlns:a16="http://schemas.microsoft.com/office/drawing/2014/main" id="{F9E604DE-16CD-A568-DAD2-FFB31E7E1053}"/>
                </a:ext>
              </a:extLst>
            </p:cNvPr>
            <p:cNvSpPr/>
            <p:nvPr/>
          </p:nvSpPr>
          <p:spPr>
            <a:xfrm>
              <a:off x="9627057" y="152708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grpSp>
          <p:nvGrpSpPr>
            <p:cNvPr id="34" name="Groupe 33">
              <a:extLst>
                <a:ext uri="{FF2B5EF4-FFF2-40B4-BE49-F238E27FC236}">
                  <a16:creationId xmlns:a16="http://schemas.microsoft.com/office/drawing/2014/main" id="{57FEF3B8-B40A-09E2-1AAF-715D865EEB0B}"/>
                </a:ext>
              </a:extLst>
            </p:cNvPr>
            <p:cNvGrpSpPr/>
            <p:nvPr/>
          </p:nvGrpSpPr>
          <p:grpSpPr>
            <a:xfrm>
              <a:off x="11578576" y="567991"/>
              <a:ext cx="1113255" cy="937684"/>
              <a:chOff x="2361041" y="3812797"/>
              <a:chExt cx="3329297" cy="2804234"/>
            </a:xfrm>
          </p:grpSpPr>
          <p:pic>
            <p:nvPicPr>
              <p:cNvPr id="35" name="Graphique 34" descr="Employée de bureau avec un remplissage uni">
                <a:extLst>
                  <a:ext uri="{FF2B5EF4-FFF2-40B4-BE49-F238E27FC236}">
                    <a16:creationId xmlns:a16="http://schemas.microsoft.com/office/drawing/2014/main" id="{7AEF9F90-31E7-201D-039A-F245A8BCA690}"/>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3875660" y="4634141"/>
                <a:ext cx="1537069" cy="1537069"/>
              </a:xfrm>
              <a:prstGeom prst="rect">
                <a:avLst/>
              </a:prstGeom>
            </p:spPr>
          </p:pic>
          <p:grpSp>
            <p:nvGrpSpPr>
              <p:cNvPr id="36" name="Groupe 35">
                <a:extLst>
                  <a:ext uri="{FF2B5EF4-FFF2-40B4-BE49-F238E27FC236}">
                    <a16:creationId xmlns:a16="http://schemas.microsoft.com/office/drawing/2014/main" id="{54A87CEC-EDB6-3EF4-1726-D801894C2641}"/>
                  </a:ext>
                </a:extLst>
              </p:cNvPr>
              <p:cNvGrpSpPr/>
              <p:nvPr/>
            </p:nvGrpSpPr>
            <p:grpSpPr>
              <a:xfrm>
                <a:off x="2361041" y="4904469"/>
                <a:ext cx="1747769" cy="1712562"/>
                <a:chOff x="786592" y="4813146"/>
                <a:chExt cx="1747769" cy="1712562"/>
              </a:xfrm>
            </p:grpSpPr>
            <p:pic>
              <p:nvPicPr>
                <p:cNvPr id="42" name="Graphique 41" descr="Microphone avec un remplissage uni">
                  <a:extLst>
                    <a:ext uri="{FF2B5EF4-FFF2-40B4-BE49-F238E27FC236}">
                      <a16:creationId xmlns:a16="http://schemas.microsoft.com/office/drawing/2014/main" id="{F44F6262-6A44-3827-17B5-D53C0273359A}"/>
                    </a:ext>
                  </a:extLst>
                </p:cNvPr>
                <p:cNvPicPr>
                  <a:picLocks noChangeAspect="1"/>
                </p:cNvPicPr>
                <p:nvPr/>
              </p:nvPicPr>
              <p:blipFill rotWithShape="1">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rcRect l="26582" r="43264" b="738"/>
                <a:stretch/>
              </p:blipFill>
              <p:spPr>
                <a:xfrm rot="927067" flipH="1">
                  <a:off x="2184345" y="5290444"/>
                  <a:ext cx="350016" cy="1222715"/>
                </a:xfrm>
                <a:prstGeom prst="rect">
                  <a:avLst/>
                </a:prstGeom>
              </p:spPr>
            </p:pic>
            <p:pic>
              <p:nvPicPr>
                <p:cNvPr id="43" name="Graphique 42" descr="Personne confuse avec un remplissage uni">
                  <a:extLst>
                    <a:ext uri="{FF2B5EF4-FFF2-40B4-BE49-F238E27FC236}">
                      <a16:creationId xmlns:a16="http://schemas.microsoft.com/office/drawing/2014/main" id="{285A5E4B-1854-6C40-0B4E-6149E4BBFC18}"/>
                    </a:ext>
                  </a:extLst>
                </p:cNvPr>
                <p:cNvPicPr>
                  <a:picLocks noChangeAspect="1"/>
                </p:cNvPicPr>
                <p:nvPr/>
              </p:nvPicPr>
              <p:blipFill rotWithShape="1">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rcRect l="38856" r="14769" b="50034"/>
                <a:stretch/>
              </p:blipFill>
              <p:spPr>
                <a:xfrm>
                  <a:off x="786592" y="4813146"/>
                  <a:ext cx="1589482" cy="1712562"/>
                </a:xfrm>
                <a:prstGeom prst="rect">
                  <a:avLst/>
                </a:prstGeom>
              </p:spPr>
            </p:pic>
          </p:grpSp>
          <p:pic>
            <p:nvPicPr>
              <p:cNvPr id="37" name="Graphique 36" descr="Bulle de discussion contour">
                <a:extLst>
                  <a:ext uri="{FF2B5EF4-FFF2-40B4-BE49-F238E27FC236}">
                    <a16:creationId xmlns:a16="http://schemas.microsoft.com/office/drawing/2014/main" id="{41E52490-6000-25A6-E19D-215771AD1DD0}"/>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903" b="12311"/>
              <a:stretch/>
            </p:blipFill>
            <p:spPr>
              <a:xfrm flipH="1">
                <a:off x="4188939" y="3812797"/>
                <a:ext cx="1501399" cy="1188720"/>
              </a:xfrm>
              <a:prstGeom prst="rect">
                <a:avLst/>
              </a:prstGeom>
            </p:spPr>
          </p:pic>
          <p:grpSp>
            <p:nvGrpSpPr>
              <p:cNvPr id="38" name="Groupe 37">
                <a:extLst>
                  <a:ext uri="{FF2B5EF4-FFF2-40B4-BE49-F238E27FC236}">
                    <a16:creationId xmlns:a16="http://schemas.microsoft.com/office/drawing/2014/main" id="{8FC0C0BA-FFA9-063A-F893-9121F63E3174}"/>
                  </a:ext>
                </a:extLst>
              </p:cNvPr>
              <p:cNvGrpSpPr/>
              <p:nvPr/>
            </p:nvGrpSpPr>
            <p:grpSpPr>
              <a:xfrm>
                <a:off x="2485723" y="3871337"/>
                <a:ext cx="1501399" cy="1188720"/>
                <a:chOff x="1733248" y="3784720"/>
                <a:chExt cx="1501399" cy="1188720"/>
              </a:xfrm>
            </p:grpSpPr>
            <p:pic>
              <p:nvPicPr>
                <p:cNvPr id="40" name="Graphique 39" descr="Bulle de discussion contour">
                  <a:extLst>
                    <a:ext uri="{FF2B5EF4-FFF2-40B4-BE49-F238E27FC236}">
                      <a16:creationId xmlns:a16="http://schemas.microsoft.com/office/drawing/2014/main" id="{4C7648E5-1563-D9DA-89D6-7DBB91C7235D}"/>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801" b="12412"/>
                <a:stretch/>
              </p:blipFill>
              <p:spPr>
                <a:xfrm flipH="1">
                  <a:off x="1733248" y="3784720"/>
                  <a:ext cx="1501399" cy="1188720"/>
                </a:xfrm>
                <a:prstGeom prst="rect">
                  <a:avLst/>
                </a:prstGeom>
              </p:spPr>
            </p:pic>
            <p:sp>
              <p:nvSpPr>
                <p:cNvPr id="41" name="Rectangle 40">
                  <a:extLst>
                    <a:ext uri="{FF2B5EF4-FFF2-40B4-BE49-F238E27FC236}">
                      <a16:creationId xmlns:a16="http://schemas.microsoft.com/office/drawing/2014/main" id="{4DCF93FE-C63B-C9EE-9CCA-BEBDC437883A}"/>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39" name="Graphique 38" descr="Aide avec un remplissage uni">
                <a:extLst>
                  <a:ext uri="{FF2B5EF4-FFF2-40B4-BE49-F238E27FC236}">
                    <a16:creationId xmlns:a16="http://schemas.microsoft.com/office/drawing/2014/main" id="{FAD7FC34-6940-9978-1FEC-B45E9F1B5343}"/>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2892066" y="3975365"/>
                <a:ext cx="679669" cy="679669"/>
              </a:xfrm>
              <a:prstGeom prst="rect">
                <a:avLst/>
              </a:prstGeom>
            </p:spPr>
          </p:pic>
        </p:grpSp>
        <p:sp>
          <p:nvSpPr>
            <p:cNvPr id="44" name="Rectangle 43">
              <a:extLst>
                <a:ext uri="{FF2B5EF4-FFF2-40B4-BE49-F238E27FC236}">
                  <a16:creationId xmlns:a16="http://schemas.microsoft.com/office/drawing/2014/main" id="{15DB7541-352B-D52B-445A-729837FA3B19}"/>
                </a:ext>
              </a:extLst>
            </p:cNvPr>
            <p:cNvSpPr/>
            <p:nvPr/>
          </p:nvSpPr>
          <p:spPr>
            <a:xfrm>
              <a:off x="11269651" y="152708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200" dirty="0">
                <a:solidFill>
                  <a:schemeClr val="tx1"/>
                </a:solidFill>
              </a:endParaRPr>
            </a:p>
          </p:txBody>
        </p:sp>
        <p:sp>
          <p:nvSpPr>
            <p:cNvPr id="45" name="Rectangle 44">
              <a:extLst>
                <a:ext uri="{FF2B5EF4-FFF2-40B4-BE49-F238E27FC236}">
                  <a16:creationId xmlns:a16="http://schemas.microsoft.com/office/drawing/2014/main" id="{01ADB60A-0663-F751-8E87-94CA8F2013F0}"/>
                </a:ext>
              </a:extLst>
            </p:cNvPr>
            <p:cNvSpPr/>
            <p:nvPr/>
          </p:nvSpPr>
          <p:spPr>
            <a:xfrm>
              <a:off x="7984463" y="2248719"/>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46" name="Rectangle 45">
              <a:extLst>
                <a:ext uri="{FF2B5EF4-FFF2-40B4-BE49-F238E27FC236}">
                  <a16:creationId xmlns:a16="http://schemas.microsoft.com/office/drawing/2014/main" id="{8474CB22-D1EC-A148-F9F0-B4D87FE551AD}"/>
                </a:ext>
              </a:extLst>
            </p:cNvPr>
            <p:cNvSpPr/>
            <p:nvPr/>
          </p:nvSpPr>
          <p:spPr>
            <a:xfrm>
              <a:off x="9627057" y="2248719"/>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47" name="Rectangle 46">
              <a:extLst>
                <a:ext uri="{FF2B5EF4-FFF2-40B4-BE49-F238E27FC236}">
                  <a16:creationId xmlns:a16="http://schemas.microsoft.com/office/drawing/2014/main" id="{75525D40-3545-C375-FF45-54FECD32EC30}"/>
                </a:ext>
              </a:extLst>
            </p:cNvPr>
            <p:cNvSpPr/>
            <p:nvPr/>
          </p:nvSpPr>
          <p:spPr>
            <a:xfrm>
              <a:off x="11269651" y="2248719"/>
              <a:ext cx="1492148" cy="821945"/>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48" name="Rectangle 47">
              <a:extLst>
                <a:ext uri="{FF2B5EF4-FFF2-40B4-BE49-F238E27FC236}">
                  <a16:creationId xmlns:a16="http://schemas.microsoft.com/office/drawing/2014/main" id="{F0822F99-E9A6-DF1A-4389-E68A348C2853}"/>
                </a:ext>
              </a:extLst>
            </p:cNvPr>
            <p:cNvSpPr/>
            <p:nvPr/>
          </p:nvSpPr>
          <p:spPr>
            <a:xfrm>
              <a:off x="7984463" y="3100777"/>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49" name="Rectangle 48">
              <a:extLst>
                <a:ext uri="{FF2B5EF4-FFF2-40B4-BE49-F238E27FC236}">
                  <a16:creationId xmlns:a16="http://schemas.microsoft.com/office/drawing/2014/main" id="{2AB90922-9399-420A-4594-B01D0ED8F3B7}"/>
                </a:ext>
              </a:extLst>
            </p:cNvPr>
            <p:cNvSpPr/>
            <p:nvPr/>
          </p:nvSpPr>
          <p:spPr>
            <a:xfrm>
              <a:off x="9627057" y="3100777"/>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50" name="Rectangle 49">
              <a:extLst>
                <a:ext uri="{FF2B5EF4-FFF2-40B4-BE49-F238E27FC236}">
                  <a16:creationId xmlns:a16="http://schemas.microsoft.com/office/drawing/2014/main" id="{CA684682-0287-F666-89E5-133BEBA7AB88}"/>
                </a:ext>
              </a:extLst>
            </p:cNvPr>
            <p:cNvSpPr/>
            <p:nvPr/>
          </p:nvSpPr>
          <p:spPr>
            <a:xfrm>
              <a:off x="11269651" y="3100777"/>
              <a:ext cx="1492148" cy="821945"/>
            </a:xfrm>
            <a:prstGeom prst="rect">
              <a:avLst/>
            </a:prstGeom>
            <a:solidFill>
              <a:srgbClr val="FF9999"/>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51" name="Rectangle 50">
              <a:extLst>
                <a:ext uri="{FF2B5EF4-FFF2-40B4-BE49-F238E27FC236}">
                  <a16:creationId xmlns:a16="http://schemas.microsoft.com/office/drawing/2014/main" id="{544473FB-107F-A825-C6BE-E4D971745948}"/>
                </a:ext>
              </a:extLst>
            </p:cNvPr>
            <p:cNvSpPr/>
            <p:nvPr/>
          </p:nvSpPr>
          <p:spPr>
            <a:xfrm>
              <a:off x="7984463" y="3952836"/>
              <a:ext cx="1492148" cy="821945"/>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52" name="Rectangle 51">
              <a:extLst>
                <a:ext uri="{FF2B5EF4-FFF2-40B4-BE49-F238E27FC236}">
                  <a16:creationId xmlns:a16="http://schemas.microsoft.com/office/drawing/2014/main" id="{4BE5E371-2171-D569-4939-62535B5F15FD}"/>
                </a:ext>
              </a:extLst>
            </p:cNvPr>
            <p:cNvSpPr/>
            <p:nvPr/>
          </p:nvSpPr>
          <p:spPr>
            <a:xfrm>
              <a:off x="9627057" y="3952836"/>
              <a:ext cx="1492148" cy="821945"/>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53" name="Rectangle 52">
              <a:extLst>
                <a:ext uri="{FF2B5EF4-FFF2-40B4-BE49-F238E27FC236}">
                  <a16:creationId xmlns:a16="http://schemas.microsoft.com/office/drawing/2014/main" id="{71F79488-5C62-F10E-F292-1F80A68B8CFE}"/>
                </a:ext>
              </a:extLst>
            </p:cNvPr>
            <p:cNvSpPr/>
            <p:nvPr/>
          </p:nvSpPr>
          <p:spPr>
            <a:xfrm>
              <a:off x="11269651" y="3952836"/>
              <a:ext cx="1492148" cy="821945"/>
            </a:xfrm>
            <a:prstGeom prst="rect">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54" name="Rectangle 53">
              <a:extLst>
                <a:ext uri="{FF2B5EF4-FFF2-40B4-BE49-F238E27FC236}">
                  <a16:creationId xmlns:a16="http://schemas.microsoft.com/office/drawing/2014/main" id="{338EA6BF-B6CC-8121-3218-12D05FEB715D}"/>
                </a:ext>
              </a:extLst>
            </p:cNvPr>
            <p:cNvSpPr/>
            <p:nvPr/>
          </p:nvSpPr>
          <p:spPr>
            <a:xfrm>
              <a:off x="7984463" y="4804894"/>
              <a:ext cx="1492148" cy="82194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55" name="Rectangle 54">
              <a:extLst>
                <a:ext uri="{FF2B5EF4-FFF2-40B4-BE49-F238E27FC236}">
                  <a16:creationId xmlns:a16="http://schemas.microsoft.com/office/drawing/2014/main" id="{62765963-63BB-913F-AB69-D9C3F549F7AC}"/>
                </a:ext>
              </a:extLst>
            </p:cNvPr>
            <p:cNvSpPr/>
            <p:nvPr/>
          </p:nvSpPr>
          <p:spPr>
            <a:xfrm>
              <a:off x="9627057" y="4804894"/>
              <a:ext cx="1492148" cy="82194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56" name="Rectangle 55">
              <a:extLst>
                <a:ext uri="{FF2B5EF4-FFF2-40B4-BE49-F238E27FC236}">
                  <a16:creationId xmlns:a16="http://schemas.microsoft.com/office/drawing/2014/main" id="{45F09151-C4CF-D2C7-D656-B9F63DC5403A}"/>
                </a:ext>
              </a:extLst>
            </p:cNvPr>
            <p:cNvSpPr/>
            <p:nvPr/>
          </p:nvSpPr>
          <p:spPr>
            <a:xfrm>
              <a:off x="11269651" y="4804894"/>
              <a:ext cx="1492148" cy="821945"/>
            </a:xfrm>
            <a:prstGeom prst="rect">
              <a:avLst/>
            </a:prstGeom>
            <a:solidFill>
              <a:srgbClr val="ED7D3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grpSp>
    </p:spTree>
    <p:extLst>
      <p:ext uri="{BB962C8B-B14F-4D97-AF65-F5344CB8AC3E}">
        <p14:creationId xmlns:p14="http://schemas.microsoft.com/office/powerpoint/2010/main" val="2502413327"/>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Titre 1">
            <a:extLst>
              <a:ext uri="{FF2B5EF4-FFF2-40B4-BE49-F238E27FC236}">
                <a16:creationId xmlns:a16="http://schemas.microsoft.com/office/drawing/2014/main" id="{E1AF4623-852E-CEA8-8138-94B34C366FD1}"/>
              </a:ext>
            </a:extLst>
          </p:cNvPr>
          <p:cNvSpPr>
            <a:spLocks noGrp="1"/>
          </p:cNvSpPr>
          <p:nvPr>
            <p:ph type="title"/>
          </p:nvPr>
        </p:nvSpPr>
        <p:spPr>
          <a:xfrm>
            <a:off x="838200" y="365125"/>
            <a:ext cx="10515600" cy="1325563"/>
          </a:xfrm>
        </p:spPr>
        <p:txBody>
          <a:bodyPr/>
          <a:lstStyle/>
          <a:p>
            <a:r>
              <a:rPr lang="fr-FR" dirty="0"/>
              <a:t>Résumé, une phrase par image</a:t>
            </a:r>
          </a:p>
        </p:txBody>
      </p:sp>
      <p:grpSp>
        <p:nvGrpSpPr>
          <p:cNvPr id="27" name="Groupe 26">
            <a:extLst>
              <a:ext uri="{FF2B5EF4-FFF2-40B4-BE49-F238E27FC236}">
                <a16:creationId xmlns:a16="http://schemas.microsoft.com/office/drawing/2014/main" id="{7C0E8116-5958-589A-2891-AA7F54295144}"/>
              </a:ext>
            </a:extLst>
          </p:cNvPr>
          <p:cNvGrpSpPr/>
          <p:nvPr/>
        </p:nvGrpSpPr>
        <p:grpSpPr>
          <a:xfrm>
            <a:off x="9035527" y="1950577"/>
            <a:ext cx="2519675" cy="2005012"/>
            <a:chOff x="6224617" y="2272350"/>
            <a:chExt cx="4357242" cy="3467242"/>
          </a:xfrm>
        </p:grpSpPr>
        <p:pic>
          <p:nvPicPr>
            <p:cNvPr id="28" name="Graphique 27" descr="Visage portant des lunettes de soleil à remplissage uni avec un remplissage uni">
              <a:extLst>
                <a:ext uri="{FF2B5EF4-FFF2-40B4-BE49-F238E27FC236}">
                  <a16:creationId xmlns:a16="http://schemas.microsoft.com/office/drawing/2014/main" id="{72FB16BE-32E5-C68D-4C3C-37F055B29CB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726670" y="3129133"/>
              <a:ext cx="397698" cy="397698"/>
            </a:xfrm>
            <a:prstGeom prst="rect">
              <a:avLst/>
            </a:prstGeom>
          </p:spPr>
        </p:pic>
        <p:pic>
          <p:nvPicPr>
            <p:cNvPr id="29" name="Graphique 28" descr="Visage portant des lunettes de soleil à remplissage uni avec un remplissage uni">
              <a:extLst>
                <a:ext uri="{FF2B5EF4-FFF2-40B4-BE49-F238E27FC236}">
                  <a16:creationId xmlns:a16="http://schemas.microsoft.com/office/drawing/2014/main" id="{7040B95C-8F74-3DF3-536B-1ABE3537AED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975068" y="4565465"/>
              <a:ext cx="397698" cy="397698"/>
            </a:xfrm>
            <a:prstGeom prst="rect">
              <a:avLst/>
            </a:prstGeom>
          </p:spPr>
        </p:pic>
        <p:pic>
          <p:nvPicPr>
            <p:cNvPr id="30" name="Graphique 29" descr="Visage souriant à remplissage solide avec un remplissage uni">
              <a:extLst>
                <a:ext uri="{FF2B5EF4-FFF2-40B4-BE49-F238E27FC236}">
                  <a16:creationId xmlns:a16="http://schemas.microsoft.com/office/drawing/2014/main" id="{030E4733-A83D-1001-FED3-34455E0036B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507588" y="3314841"/>
              <a:ext cx="504684" cy="504684"/>
            </a:xfrm>
            <a:prstGeom prst="rect">
              <a:avLst/>
            </a:prstGeom>
          </p:spPr>
        </p:pic>
        <p:pic>
          <p:nvPicPr>
            <p:cNvPr id="31" name="Graphique 30" descr="Visage souriant à remplissage solide avec un remplissage uni">
              <a:extLst>
                <a:ext uri="{FF2B5EF4-FFF2-40B4-BE49-F238E27FC236}">
                  <a16:creationId xmlns:a16="http://schemas.microsoft.com/office/drawing/2014/main" id="{63B94058-ADCB-AB23-8C82-65EA19207BD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995370" y="4293162"/>
              <a:ext cx="504684" cy="504684"/>
            </a:xfrm>
            <a:prstGeom prst="rect">
              <a:avLst/>
            </a:prstGeom>
          </p:spPr>
        </p:pic>
        <p:pic>
          <p:nvPicPr>
            <p:cNvPr id="32" name="Graphique 31" descr="Visage sans expression avec remplissage uni avec un remplissage uni">
              <a:extLst>
                <a:ext uri="{FF2B5EF4-FFF2-40B4-BE49-F238E27FC236}">
                  <a16:creationId xmlns:a16="http://schemas.microsoft.com/office/drawing/2014/main" id="{473FD20A-41F3-00AF-8059-E8322F158C3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268752" y="2510351"/>
              <a:ext cx="397698" cy="397698"/>
            </a:xfrm>
            <a:prstGeom prst="rect">
              <a:avLst/>
            </a:prstGeom>
          </p:spPr>
        </p:pic>
        <p:pic>
          <p:nvPicPr>
            <p:cNvPr id="33" name="Graphique 32" descr="Visage sans expression avec remplissage uni avec un remplissage uni">
              <a:extLst>
                <a:ext uri="{FF2B5EF4-FFF2-40B4-BE49-F238E27FC236}">
                  <a16:creationId xmlns:a16="http://schemas.microsoft.com/office/drawing/2014/main" id="{584A3EC4-3C08-F140-4833-393A2DAEAC2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86808" y="3862021"/>
              <a:ext cx="397698" cy="397698"/>
            </a:xfrm>
            <a:prstGeom prst="rect">
              <a:avLst/>
            </a:prstGeom>
          </p:spPr>
        </p:pic>
        <p:pic>
          <p:nvPicPr>
            <p:cNvPr id="34" name="Graphique 33" descr="Visage portant des lunettes de soleil à remplissage uni avec un remplissage uni">
              <a:extLst>
                <a:ext uri="{FF2B5EF4-FFF2-40B4-BE49-F238E27FC236}">
                  <a16:creationId xmlns:a16="http://schemas.microsoft.com/office/drawing/2014/main" id="{72E92D22-58F8-002A-E55B-71819B45443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542711" y="4849984"/>
              <a:ext cx="397698" cy="397698"/>
            </a:xfrm>
            <a:prstGeom prst="rect">
              <a:avLst/>
            </a:prstGeom>
          </p:spPr>
        </p:pic>
        <p:pic>
          <p:nvPicPr>
            <p:cNvPr id="35" name="Graphique 34" descr="Visage portant des lunettes de soleil à remplissage uni avec un remplissage uni">
              <a:extLst>
                <a:ext uri="{FF2B5EF4-FFF2-40B4-BE49-F238E27FC236}">
                  <a16:creationId xmlns:a16="http://schemas.microsoft.com/office/drawing/2014/main" id="{C76F3748-A2C9-4241-F361-A5FEF9F0F55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02606" y="3483086"/>
              <a:ext cx="397698" cy="397698"/>
            </a:xfrm>
            <a:prstGeom prst="rect">
              <a:avLst/>
            </a:prstGeom>
          </p:spPr>
        </p:pic>
        <p:pic>
          <p:nvPicPr>
            <p:cNvPr id="36" name="Graphique 35" descr="Visage portant des lunettes de soleil à remplissage uni avec un remplissage uni">
              <a:extLst>
                <a:ext uri="{FF2B5EF4-FFF2-40B4-BE49-F238E27FC236}">
                  <a16:creationId xmlns:a16="http://schemas.microsoft.com/office/drawing/2014/main" id="{E62057A5-A60E-D006-7FCF-165EF34F16B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773384" y="3085946"/>
              <a:ext cx="397698" cy="397698"/>
            </a:xfrm>
            <a:prstGeom prst="rect">
              <a:avLst/>
            </a:prstGeom>
          </p:spPr>
        </p:pic>
        <p:pic>
          <p:nvPicPr>
            <p:cNvPr id="37" name="Graphique 36" descr="Souriant avec un visage et des cœurs avec remplissage uni avec un remplissage uni">
              <a:extLst>
                <a:ext uri="{FF2B5EF4-FFF2-40B4-BE49-F238E27FC236}">
                  <a16:creationId xmlns:a16="http://schemas.microsoft.com/office/drawing/2014/main" id="{8F52D570-64E8-E0F6-150B-60B52B29D85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155657" y="4364049"/>
              <a:ext cx="504684" cy="504684"/>
            </a:xfrm>
            <a:prstGeom prst="rect">
              <a:avLst/>
            </a:prstGeom>
          </p:spPr>
        </p:pic>
        <p:pic>
          <p:nvPicPr>
            <p:cNvPr id="38" name="Graphique 37" descr="Visage nerveux à remplissage uni avec un remplissage uni">
              <a:extLst>
                <a:ext uri="{FF2B5EF4-FFF2-40B4-BE49-F238E27FC236}">
                  <a16:creationId xmlns:a16="http://schemas.microsoft.com/office/drawing/2014/main" id="{2443CA18-BA9A-DDE8-C515-0B8F3C1C660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224617" y="4118780"/>
              <a:ext cx="397698" cy="397698"/>
            </a:xfrm>
            <a:prstGeom prst="rect">
              <a:avLst/>
            </a:prstGeom>
          </p:spPr>
        </p:pic>
        <p:pic>
          <p:nvPicPr>
            <p:cNvPr id="39" name="Graphique 38" descr="Visage sans expression avec remplissage uni avec un remplissage uni">
              <a:extLst>
                <a:ext uri="{FF2B5EF4-FFF2-40B4-BE49-F238E27FC236}">
                  <a16:creationId xmlns:a16="http://schemas.microsoft.com/office/drawing/2014/main" id="{FB55525C-B5C5-0FDC-CCD5-B88C052A2D1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440069" y="4465399"/>
              <a:ext cx="397698" cy="397698"/>
            </a:xfrm>
            <a:prstGeom prst="rect">
              <a:avLst/>
            </a:prstGeom>
          </p:spPr>
        </p:pic>
        <p:pic>
          <p:nvPicPr>
            <p:cNvPr id="40" name="Graphique 39" descr="Visage sans expression avec remplissage uni avec un remplissage uni">
              <a:extLst>
                <a:ext uri="{FF2B5EF4-FFF2-40B4-BE49-F238E27FC236}">
                  <a16:creationId xmlns:a16="http://schemas.microsoft.com/office/drawing/2014/main" id="{9D623F33-91DD-752F-2291-BE71CC53A4C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256762" y="3008375"/>
              <a:ext cx="397698" cy="397698"/>
            </a:xfrm>
            <a:prstGeom prst="rect">
              <a:avLst/>
            </a:prstGeom>
          </p:spPr>
        </p:pic>
        <p:pic>
          <p:nvPicPr>
            <p:cNvPr id="41" name="Graphique 40" descr="Visage nerveux à remplissage uni avec un remplissage uni">
              <a:extLst>
                <a:ext uri="{FF2B5EF4-FFF2-40B4-BE49-F238E27FC236}">
                  <a16:creationId xmlns:a16="http://schemas.microsoft.com/office/drawing/2014/main" id="{D42E7CA8-8333-3CC3-15CC-49EF6848311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982345" y="5254525"/>
              <a:ext cx="397698" cy="397698"/>
            </a:xfrm>
            <a:prstGeom prst="rect">
              <a:avLst/>
            </a:prstGeom>
          </p:spPr>
        </p:pic>
        <p:pic>
          <p:nvPicPr>
            <p:cNvPr id="42" name="Graphique 41" descr="Visage sans expression avec remplissage uni avec un remplissage uni">
              <a:extLst>
                <a:ext uri="{FF2B5EF4-FFF2-40B4-BE49-F238E27FC236}">
                  <a16:creationId xmlns:a16="http://schemas.microsoft.com/office/drawing/2014/main" id="{E9AD9EF4-80AA-E113-C984-E35BB52BAE0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065290" y="2272350"/>
              <a:ext cx="397698" cy="397698"/>
            </a:xfrm>
            <a:prstGeom prst="rect">
              <a:avLst/>
            </a:prstGeom>
          </p:spPr>
        </p:pic>
        <p:pic>
          <p:nvPicPr>
            <p:cNvPr id="43" name="Graphique 42" descr="Visage sans expression avec remplissage uni avec un remplissage uni">
              <a:extLst>
                <a:ext uri="{FF2B5EF4-FFF2-40B4-BE49-F238E27FC236}">
                  <a16:creationId xmlns:a16="http://schemas.microsoft.com/office/drawing/2014/main" id="{0B7915E3-0C52-55B9-9050-7C48BFB2640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36342" y="4973063"/>
              <a:ext cx="397698" cy="397698"/>
            </a:xfrm>
            <a:prstGeom prst="rect">
              <a:avLst/>
            </a:prstGeom>
          </p:spPr>
        </p:pic>
        <p:pic>
          <p:nvPicPr>
            <p:cNvPr id="44" name="Graphique 43" descr="Visage sans expression avec remplissage uni avec un remplissage uni">
              <a:extLst>
                <a:ext uri="{FF2B5EF4-FFF2-40B4-BE49-F238E27FC236}">
                  <a16:creationId xmlns:a16="http://schemas.microsoft.com/office/drawing/2014/main" id="{AD1E5187-2422-F271-3334-EFA400F2DA8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184161" y="4128312"/>
              <a:ext cx="397698" cy="397698"/>
            </a:xfrm>
            <a:prstGeom prst="rect">
              <a:avLst/>
            </a:prstGeom>
          </p:spPr>
        </p:pic>
        <p:pic>
          <p:nvPicPr>
            <p:cNvPr id="45" name="Graphique 44" descr="Visage sans expression avec remplissage uni avec un remplissage uni">
              <a:extLst>
                <a:ext uri="{FF2B5EF4-FFF2-40B4-BE49-F238E27FC236}">
                  <a16:creationId xmlns:a16="http://schemas.microsoft.com/office/drawing/2014/main" id="{30C99E76-1E6B-EFBD-024A-3C4E37CE03D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059218" y="4543157"/>
              <a:ext cx="397698" cy="397698"/>
            </a:xfrm>
            <a:prstGeom prst="rect">
              <a:avLst/>
            </a:prstGeom>
          </p:spPr>
        </p:pic>
        <p:pic>
          <p:nvPicPr>
            <p:cNvPr id="46" name="Graphique 45" descr="Visage nerveux à remplissage uni avec un remplissage uni">
              <a:extLst>
                <a:ext uri="{FF2B5EF4-FFF2-40B4-BE49-F238E27FC236}">
                  <a16:creationId xmlns:a16="http://schemas.microsoft.com/office/drawing/2014/main" id="{4A81D6A8-DC66-6FF2-A509-7D444A16D0C4}"/>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359083" y="4818529"/>
              <a:ext cx="397698" cy="397698"/>
            </a:xfrm>
            <a:prstGeom prst="rect">
              <a:avLst/>
            </a:prstGeom>
          </p:spPr>
        </p:pic>
        <p:pic>
          <p:nvPicPr>
            <p:cNvPr id="47" name="Graphique 46" descr="Visage sans expression avec remplissage uni avec un remplissage uni">
              <a:extLst>
                <a:ext uri="{FF2B5EF4-FFF2-40B4-BE49-F238E27FC236}">
                  <a16:creationId xmlns:a16="http://schemas.microsoft.com/office/drawing/2014/main" id="{56457A83-9AD7-14DB-318D-E6E6BD00CFC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184018" y="2860459"/>
              <a:ext cx="397698" cy="397698"/>
            </a:xfrm>
            <a:prstGeom prst="rect">
              <a:avLst/>
            </a:prstGeom>
          </p:spPr>
        </p:pic>
        <p:pic>
          <p:nvPicPr>
            <p:cNvPr id="48" name="Graphique 47" descr="Visage sans expression avec remplissage uni avec un remplissage uni">
              <a:extLst>
                <a:ext uri="{FF2B5EF4-FFF2-40B4-BE49-F238E27FC236}">
                  <a16:creationId xmlns:a16="http://schemas.microsoft.com/office/drawing/2014/main" id="{ADA06AC8-D8F0-A9C2-C6D7-8A6280F7495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357962" y="3553616"/>
              <a:ext cx="397698" cy="397698"/>
            </a:xfrm>
            <a:prstGeom prst="rect">
              <a:avLst/>
            </a:prstGeom>
          </p:spPr>
        </p:pic>
        <p:cxnSp>
          <p:nvCxnSpPr>
            <p:cNvPr id="49" name="Connecteur droit 48">
              <a:extLst>
                <a:ext uri="{FF2B5EF4-FFF2-40B4-BE49-F238E27FC236}">
                  <a16:creationId xmlns:a16="http://schemas.microsoft.com/office/drawing/2014/main" id="{1D7FC13B-308B-1C30-8BFC-046ACBF16F7B}"/>
                </a:ext>
              </a:extLst>
            </p:cNvPr>
            <p:cNvCxnSpPr>
              <a:cxnSpLocks/>
              <a:endCxn id="38" idx="3"/>
            </p:cNvCxnSpPr>
            <p:nvPr/>
          </p:nvCxnSpPr>
          <p:spPr>
            <a:xfrm flipH="1">
              <a:off x="6622315" y="4209748"/>
              <a:ext cx="193649" cy="107881"/>
            </a:xfrm>
            <a:prstGeom prst="line">
              <a:avLst/>
            </a:prstGeom>
          </p:spPr>
          <p:style>
            <a:lnRef idx="1">
              <a:schemeClr val="accent1"/>
            </a:lnRef>
            <a:fillRef idx="0">
              <a:schemeClr val="accent1"/>
            </a:fillRef>
            <a:effectRef idx="0">
              <a:schemeClr val="accent1"/>
            </a:effectRef>
            <a:fontRef idx="minor">
              <a:schemeClr val="tx1"/>
            </a:fontRef>
          </p:style>
        </p:cxnSp>
        <p:pic>
          <p:nvPicPr>
            <p:cNvPr id="50" name="Graphique 49" descr="Souriant avec un visage et des cœurs avec remplissage uni avec un remplissage uni">
              <a:extLst>
                <a:ext uri="{FF2B5EF4-FFF2-40B4-BE49-F238E27FC236}">
                  <a16:creationId xmlns:a16="http://schemas.microsoft.com/office/drawing/2014/main" id="{E51A45CF-6796-AC35-7B48-594FDCD7CCA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55540" y="2560778"/>
              <a:ext cx="504684" cy="504684"/>
            </a:xfrm>
            <a:prstGeom prst="rect">
              <a:avLst/>
            </a:prstGeom>
          </p:spPr>
        </p:pic>
        <p:cxnSp>
          <p:nvCxnSpPr>
            <p:cNvPr id="51" name="Connecteur droit 50">
              <a:extLst>
                <a:ext uri="{FF2B5EF4-FFF2-40B4-BE49-F238E27FC236}">
                  <a16:creationId xmlns:a16="http://schemas.microsoft.com/office/drawing/2014/main" id="{81D3847C-DF5B-DBA0-50C2-2034BD1EDCB1}"/>
                </a:ext>
              </a:extLst>
            </p:cNvPr>
            <p:cNvCxnSpPr>
              <a:cxnSpLocks/>
            </p:cNvCxnSpPr>
            <p:nvPr/>
          </p:nvCxnSpPr>
          <p:spPr>
            <a:xfrm flipH="1">
              <a:off x="9622829" y="4076205"/>
              <a:ext cx="368513" cy="418431"/>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52" name="Connecteur droit 51">
              <a:extLst>
                <a:ext uri="{FF2B5EF4-FFF2-40B4-BE49-F238E27FC236}">
                  <a16:creationId xmlns:a16="http://schemas.microsoft.com/office/drawing/2014/main" id="{8A8504D6-F398-EB50-F78E-5CBA71D6EC79}"/>
                </a:ext>
              </a:extLst>
            </p:cNvPr>
            <p:cNvCxnSpPr>
              <a:cxnSpLocks/>
              <a:endCxn id="33" idx="3"/>
            </p:cNvCxnSpPr>
            <p:nvPr/>
          </p:nvCxnSpPr>
          <p:spPr>
            <a:xfrm flipH="1">
              <a:off x="9684506" y="3863059"/>
              <a:ext cx="93690" cy="197811"/>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Connecteur droit 52">
              <a:extLst>
                <a:ext uri="{FF2B5EF4-FFF2-40B4-BE49-F238E27FC236}">
                  <a16:creationId xmlns:a16="http://schemas.microsoft.com/office/drawing/2014/main" id="{4E520441-57AE-4E98-3AF1-E458EB29A616}"/>
                </a:ext>
              </a:extLst>
            </p:cNvPr>
            <p:cNvCxnSpPr>
              <a:cxnSpLocks/>
            </p:cNvCxnSpPr>
            <p:nvPr/>
          </p:nvCxnSpPr>
          <p:spPr>
            <a:xfrm>
              <a:off x="9431957" y="2884122"/>
              <a:ext cx="422932" cy="76579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4" name="Connecteur droit 53">
              <a:extLst>
                <a:ext uri="{FF2B5EF4-FFF2-40B4-BE49-F238E27FC236}">
                  <a16:creationId xmlns:a16="http://schemas.microsoft.com/office/drawing/2014/main" id="{AFCD5793-65F0-3606-EDC0-B45ED58E2C44}"/>
                </a:ext>
              </a:extLst>
            </p:cNvPr>
            <p:cNvCxnSpPr>
              <a:cxnSpLocks/>
              <a:stCxn id="36" idx="3"/>
              <a:endCxn id="35" idx="0"/>
            </p:cNvCxnSpPr>
            <p:nvPr/>
          </p:nvCxnSpPr>
          <p:spPr>
            <a:xfrm>
              <a:off x="9171082" y="3284795"/>
              <a:ext cx="30373" cy="198291"/>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Connecteur droit 54">
              <a:extLst>
                <a:ext uri="{FF2B5EF4-FFF2-40B4-BE49-F238E27FC236}">
                  <a16:creationId xmlns:a16="http://schemas.microsoft.com/office/drawing/2014/main" id="{AD5BA7B3-DEB9-8827-E61C-3DB6D835897C}"/>
                </a:ext>
              </a:extLst>
            </p:cNvPr>
            <p:cNvCxnSpPr>
              <a:cxnSpLocks/>
            </p:cNvCxnSpPr>
            <p:nvPr/>
          </p:nvCxnSpPr>
          <p:spPr>
            <a:xfrm flipH="1" flipV="1">
              <a:off x="10128623" y="3992545"/>
              <a:ext cx="141910" cy="2006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Connecteur droit 55">
              <a:extLst>
                <a:ext uri="{FF2B5EF4-FFF2-40B4-BE49-F238E27FC236}">
                  <a16:creationId xmlns:a16="http://schemas.microsoft.com/office/drawing/2014/main" id="{8F3F0D01-BA18-0C31-D269-C6DC5A5D28BC}"/>
                </a:ext>
              </a:extLst>
            </p:cNvPr>
            <p:cNvCxnSpPr>
              <a:cxnSpLocks/>
            </p:cNvCxnSpPr>
            <p:nvPr/>
          </p:nvCxnSpPr>
          <p:spPr>
            <a:xfrm>
              <a:off x="9185560" y="3846363"/>
              <a:ext cx="123846" cy="593520"/>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Connecteur droit 56">
              <a:extLst>
                <a:ext uri="{FF2B5EF4-FFF2-40B4-BE49-F238E27FC236}">
                  <a16:creationId xmlns:a16="http://schemas.microsoft.com/office/drawing/2014/main" id="{A0EF046E-4C7A-6B42-3184-F37DD7C521F7}"/>
                </a:ext>
              </a:extLst>
            </p:cNvPr>
            <p:cNvCxnSpPr>
              <a:cxnSpLocks/>
              <a:endCxn id="37" idx="3"/>
            </p:cNvCxnSpPr>
            <p:nvPr/>
          </p:nvCxnSpPr>
          <p:spPr>
            <a:xfrm flipH="1" flipV="1">
              <a:off x="9660341" y="4616391"/>
              <a:ext cx="443702" cy="75566"/>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necteur droit 57">
              <a:extLst>
                <a:ext uri="{FF2B5EF4-FFF2-40B4-BE49-F238E27FC236}">
                  <a16:creationId xmlns:a16="http://schemas.microsoft.com/office/drawing/2014/main" id="{DAF27D7E-CB00-DCED-8419-D7E93D21EAF6}"/>
                </a:ext>
              </a:extLst>
            </p:cNvPr>
            <p:cNvCxnSpPr>
              <a:cxnSpLocks/>
            </p:cNvCxnSpPr>
            <p:nvPr/>
          </p:nvCxnSpPr>
          <p:spPr>
            <a:xfrm>
              <a:off x="8684770" y="3970612"/>
              <a:ext cx="561431" cy="4591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Connecteur droit 58">
              <a:extLst>
                <a:ext uri="{FF2B5EF4-FFF2-40B4-BE49-F238E27FC236}">
                  <a16:creationId xmlns:a16="http://schemas.microsoft.com/office/drawing/2014/main" id="{91CCE929-90F7-19A1-E22E-84F38FA47898}"/>
                </a:ext>
              </a:extLst>
            </p:cNvPr>
            <p:cNvCxnSpPr>
              <a:cxnSpLocks/>
              <a:stCxn id="31" idx="3"/>
              <a:endCxn id="37" idx="1"/>
            </p:cNvCxnSpPr>
            <p:nvPr/>
          </p:nvCxnSpPr>
          <p:spPr>
            <a:xfrm>
              <a:off x="8500054" y="4545504"/>
              <a:ext cx="655603" cy="70887"/>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necteur droit 59">
              <a:extLst>
                <a:ext uri="{FF2B5EF4-FFF2-40B4-BE49-F238E27FC236}">
                  <a16:creationId xmlns:a16="http://schemas.microsoft.com/office/drawing/2014/main" id="{9E5EC4F1-E5AC-209F-82F9-6F97F9348DE8}"/>
                </a:ext>
              </a:extLst>
            </p:cNvPr>
            <p:cNvCxnSpPr>
              <a:cxnSpLocks/>
            </p:cNvCxnSpPr>
            <p:nvPr/>
          </p:nvCxnSpPr>
          <p:spPr>
            <a:xfrm flipV="1">
              <a:off x="8004189" y="3976756"/>
              <a:ext cx="229007" cy="216285"/>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Connecteur droit 60">
              <a:extLst>
                <a:ext uri="{FF2B5EF4-FFF2-40B4-BE49-F238E27FC236}">
                  <a16:creationId xmlns:a16="http://schemas.microsoft.com/office/drawing/2014/main" id="{768F2028-69BF-D962-D3AD-F7BC7521A844}"/>
                </a:ext>
              </a:extLst>
            </p:cNvPr>
            <p:cNvCxnSpPr>
              <a:cxnSpLocks/>
            </p:cNvCxnSpPr>
            <p:nvPr/>
          </p:nvCxnSpPr>
          <p:spPr>
            <a:xfrm flipV="1">
              <a:off x="7775182" y="3365034"/>
              <a:ext cx="493570" cy="69927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necteur droit 61">
              <a:extLst>
                <a:ext uri="{FF2B5EF4-FFF2-40B4-BE49-F238E27FC236}">
                  <a16:creationId xmlns:a16="http://schemas.microsoft.com/office/drawing/2014/main" id="{D27E7710-0845-1BA1-7796-02921310B15C}"/>
                </a:ext>
              </a:extLst>
            </p:cNvPr>
            <p:cNvCxnSpPr>
              <a:cxnSpLocks/>
            </p:cNvCxnSpPr>
            <p:nvPr/>
          </p:nvCxnSpPr>
          <p:spPr>
            <a:xfrm flipV="1">
              <a:off x="7217515" y="3734972"/>
              <a:ext cx="373716" cy="426713"/>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3" name="Connecteur droit 62">
              <a:extLst>
                <a:ext uri="{FF2B5EF4-FFF2-40B4-BE49-F238E27FC236}">
                  <a16:creationId xmlns:a16="http://schemas.microsoft.com/office/drawing/2014/main" id="{9482F50C-7EC2-A94F-4CDB-10019017FC69}"/>
                </a:ext>
              </a:extLst>
            </p:cNvPr>
            <p:cNvCxnSpPr>
              <a:cxnSpLocks/>
            </p:cNvCxnSpPr>
            <p:nvPr/>
          </p:nvCxnSpPr>
          <p:spPr>
            <a:xfrm flipV="1">
              <a:off x="6784026" y="4359453"/>
              <a:ext cx="139507" cy="269706"/>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Connecteur droit 63">
              <a:extLst>
                <a:ext uri="{FF2B5EF4-FFF2-40B4-BE49-F238E27FC236}">
                  <a16:creationId xmlns:a16="http://schemas.microsoft.com/office/drawing/2014/main" id="{3CC7EFF5-18D2-34ED-FD01-6547E970F821}"/>
                </a:ext>
              </a:extLst>
            </p:cNvPr>
            <p:cNvCxnSpPr>
              <a:cxnSpLocks/>
              <a:endCxn id="29" idx="2"/>
            </p:cNvCxnSpPr>
            <p:nvPr/>
          </p:nvCxnSpPr>
          <p:spPr>
            <a:xfrm flipV="1">
              <a:off x="7170105" y="4963163"/>
              <a:ext cx="3812" cy="330712"/>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Connecteur droit 64">
              <a:extLst>
                <a:ext uri="{FF2B5EF4-FFF2-40B4-BE49-F238E27FC236}">
                  <a16:creationId xmlns:a16="http://schemas.microsoft.com/office/drawing/2014/main" id="{3B02E9AE-FB7A-0D57-3171-D34EA713CA12}"/>
                </a:ext>
              </a:extLst>
            </p:cNvPr>
            <p:cNvCxnSpPr>
              <a:cxnSpLocks/>
            </p:cNvCxnSpPr>
            <p:nvPr/>
          </p:nvCxnSpPr>
          <p:spPr>
            <a:xfrm flipV="1">
              <a:off x="7322872" y="5180212"/>
              <a:ext cx="258844" cy="141783"/>
            </a:xfrm>
            <a:prstGeom prst="line">
              <a:avLst/>
            </a:prstGeom>
          </p:spPr>
          <p:style>
            <a:lnRef idx="1">
              <a:schemeClr val="accent1"/>
            </a:lnRef>
            <a:fillRef idx="0">
              <a:schemeClr val="accent1"/>
            </a:fillRef>
            <a:effectRef idx="0">
              <a:schemeClr val="accent1"/>
            </a:effectRef>
            <a:fontRef idx="minor">
              <a:schemeClr val="tx1"/>
            </a:fontRef>
          </p:style>
        </p:cxnSp>
        <p:cxnSp>
          <p:nvCxnSpPr>
            <p:cNvPr id="66" name="Connecteur droit 65">
              <a:extLst>
                <a:ext uri="{FF2B5EF4-FFF2-40B4-BE49-F238E27FC236}">
                  <a16:creationId xmlns:a16="http://schemas.microsoft.com/office/drawing/2014/main" id="{61660B32-53E6-2EC0-8E3B-4DBF6861E7FA}"/>
                </a:ext>
              </a:extLst>
            </p:cNvPr>
            <p:cNvCxnSpPr>
              <a:cxnSpLocks/>
            </p:cNvCxnSpPr>
            <p:nvPr/>
          </p:nvCxnSpPr>
          <p:spPr>
            <a:xfrm flipH="1" flipV="1">
              <a:off x="7843573" y="4544820"/>
              <a:ext cx="71132" cy="507252"/>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67" name="Connecteur droit 66">
              <a:extLst>
                <a:ext uri="{FF2B5EF4-FFF2-40B4-BE49-F238E27FC236}">
                  <a16:creationId xmlns:a16="http://schemas.microsoft.com/office/drawing/2014/main" id="{1DD3ACED-9B07-B4D1-381A-5EFDF62668C1}"/>
                </a:ext>
              </a:extLst>
            </p:cNvPr>
            <p:cNvCxnSpPr>
              <a:cxnSpLocks/>
            </p:cNvCxnSpPr>
            <p:nvPr/>
          </p:nvCxnSpPr>
          <p:spPr>
            <a:xfrm flipH="1" flipV="1">
              <a:off x="7067411" y="3469529"/>
              <a:ext cx="547291" cy="148403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8" name="Connecteur droit 67">
              <a:extLst>
                <a:ext uri="{FF2B5EF4-FFF2-40B4-BE49-F238E27FC236}">
                  <a16:creationId xmlns:a16="http://schemas.microsoft.com/office/drawing/2014/main" id="{8170FA7A-326D-DA4A-FA6C-8B4C484C4CF5}"/>
                </a:ext>
              </a:extLst>
            </p:cNvPr>
            <p:cNvCxnSpPr>
              <a:cxnSpLocks/>
              <a:endCxn id="30" idx="1"/>
            </p:cNvCxnSpPr>
            <p:nvPr/>
          </p:nvCxnSpPr>
          <p:spPr>
            <a:xfrm flipV="1">
              <a:off x="6775819" y="3567183"/>
              <a:ext cx="731769" cy="254708"/>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9" name="Connecteur droit 68">
              <a:extLst>
                <a:ext uri="{FF2B5EF4-FFF2-40B4-BE49-F238E27FC236}">
                  <a16:creationId xmlns:a16="http://schemas.microsoft.com/office/drawing/2014/main" id="{58AF907B-4292-5159-83BB-B6EA0F6E2C0C}"/>
                </a:ext>
              </a:extLst>
            </p:cNvPr>
            <p:cNvCxnSpPr>
              <a:cxnSpLocks/>
            </p:cNvCxnSpPr>
            <p:nvPr/>
          </p:nvCxnSpPr>
          <p:spPr>
            <a:xfrm flipH="1" flipV="1">
              <a:off x="7415738" y="2504647"/>
              <a:ext cx="397927" cy="275526"/>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Connecteur droit 69">
              <a:extLst>
                <a:ext uri="{FF2B5EF4-FFF2-40B4-BE49-F238E27FC236}">
                  <a16:creationId xmlns:a16="http://schemas.microsoft.com/office/drawing/2014/main" id="{971D3A7F-C8D4-1DE1-F298-DA7C41E3C79B}"/>
                </a:ext>
              </a:extLst>
            </p:cNvPr>
            <p:cNvCxnSpPr>
              <a:cxnSpLocks/>
            </p:cNvCxnSpPr>
            <p:nvPr/>
          </p:nvCxnSpPr>
          <p:spPr>
            <a:xfrm flipH="1">
              <a:off x="7051655" y="2970458"/>
              <a:ext cx="200052" cy="258177"/>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necteur droit 70">
              <a:extLst>
                <a:ext uri="{FF2B5EF4-FFF2-40B4-BE49-F238E27FC236}">
                  <a16:creationId xmlns:a16="http://schemas.microsoft.com/office/drawing/2014/main" id="{D07D2EBD-1424-7B68-7661-A8DFB43703F8}"/>
                </a:ext>
              </a:extLst>
            </p:cNvPr>
            <p:cNvCxnSpPr>
              <a:cxnSpLocks/>
              <a:endCxn id="40" idx="0"/>
            </p:cNvCxnSpPr>
            <p:nvPr/>
          </p:nvCxnSpPr>
          <p:spPr>
            <a:xfrm>
              <a:off x="8447764" y="2858603"/>
              <a:ext cx="7847" cy="149772"/>
            </a:xfrm>
            <a:prstGeom prst="line">
              <a:avLst/>
            </a:prstGeom>
          </p:spPr>
          <p:style>
            <a:lnRef idx="1">
              <a:schemeClr val="accent1"/>
            </a:lnRef>
            <a:fillRef idx="0">
              <a:schemeClr val="accent1"/>
            </a:fillRef>
            <a:effectRef idx="0">
              <a:schemeClr val="accent1"/>
            </a:effectRef>
            <a:fontRef idx="minor">
              <a:schemeClr val="tx1"/>
            </a:fontRef>
          </p:style>
        </p:cxnSp>
        <p:cxnSp>
          <p:nvCxnSpPr>
            <p:cNvPr id="72" name="Connecteur droit 71">
              <a:extLst>
                <a:ext uri="{FF2B5EF4-FFF2-40B4-BE49-F238E27FC236}">
                  <a16:creationId xmlns:a16="http://schemas.microsoft.com/office/drawing/2014/main" id="{D9AA5A09-F244-9AC7-1CF8-E9238C2AD8C8}"/>
                </a:ext>
              </a:extLst>
            </p:cNvPr>
            <p:cNvCxnSpPr>
              <a:cxnSpLocks/>
            </p:cNvCxnSpPr>
            <p:nvPr/>
          </p:nvCxnSpPr>
          <p:spPr>
            <a:xfrm>
              <a:off x="8351236" y="4733302"/>
              <a:ext cx="74409" cy="164665"/>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Connecteur droit 72">
              <a:extLst>
                <a:ext uri="{FF2B5EF4-FFF2-40B4-BE49-F238E27FC236}">
                  <a16:creationId xmlns:a16="http://schemas.microsoft.com/office/drawing/2014/main" id="{B16D289F-3F14-4D71-7E62-9730DD2F1A3D}"/>
                </a:ext>
              </a:extLst>
            </p:cNvPr>
            <p:cNvCxnSpPr>
              <a:cxnSpLocks/>
            </p:cNvCxnSpPr>
            <p:nvPr/>
          </p:nvCxnSpPr>
          <p:spPr>
            <a:xfrm>
              <a:off x="8654460" y="4047465"/>
              <a:ext cx="271287" cy="1177579"/>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74" name="Connecteur droit 73">
              <a:extLst>
                <a:ext uri="{FF2B5EF4-FFF2-40B4-BE49-F238E27FC236}">
                  <a16:creationId xmlns:a16="http://schemas.microsoft.com/office/drawing/2014/main" id="{32F99536-F35A-934A-73ED-3CD0FD75203B}"/>
                </a:ext>
              </a:extLst>
            </p:cNvPr>
            <p:cNvCxnSpPr>
              <a:cxnSpLocks/>
            </p:cNvCxnSpPr>
            <p:nvPr/>
          </p:nvCxnSpPr>
          <p:spPr>
            <a:xfrm>
              <a:off x="7896586" y="5180212"/>
              <a:ext cx="719287" cy="234042"/>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necteur droit 74">
              <a:extLst>
                <a:ext uri="{FF2B5EF4-FFF2-40B4-BE49-F238E27FC236}">
                  <a16:creationId xmlns:a16="http://schemas.microsoft.com/office/drawing/2014/main" id="{7A672C56-CDCB-75C7-5D5E-4C603DBAC046}"/>
                </a:ext>
              </a:extLst>
            </p:cNvPr>
            <p:cNvCxnSpPr>
              <a:cxnSpLocks/>
            </p:cNvCxnSpPr>
            <p:nvPr/>
          </p:nvCxnSpPr>
          <p:spPr>
            <a:xfrm>
              <a:off x="9350383" y="3661524"/>
              <a:ext cx="504506" cy="100942"/>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76" name="Connecteur droit 75">
              <a:extLst>
                <a:ext uri="{FF2B5EF4-FFF2-40B4-BE49-F238E27FC236}">
                  <a16:creationId xmlns:a16="http://schemas.microsoft.com/office/drawing/2014/main" id="{79E92AD6-3A78-8B45-2762-A225BF9E3E6E}"/>
                </a:ext>
              </a:extLst>
            </p:cNvPr>
            <p:cNvCxnSpPr>
              <a:cxnSpLocks/>
            </p:cNvCxnSpPr>
            <p:nvPr/>
          </p:nvCxnSpPr>
          <p:spPr>
            <a:xfrm>
              <a:off x="7033345" y="4427128"/>
              <a:ext cx="17224" cy="18031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77" name="Connecteur droit 76">
              <a:extLst>
                <a:ext uri="{FF2B5EF4-FFF2-40B4-BE49-F238E27FC236}">
                  <a16:creationId xmlns:a16="http://schemas.microsoft.com/office/drawing/2014/main" id="{60725F90-136B-0D62-3226-91549328B6B4}"/>
                </a:ext>
              </a:extLst>
            </p:cNvPr>
            <p:cNvCxnSpPr>
              <a:cxnSpLocks/>
            </p:cNvCxnSpPr>
            <p:nvPr/>
          </p:nvCxnSpPr>
          <p:spPr>
            <a:xfrm>
              <a:off x="7803606" y="3150674"/>
              <a:ext cx="17224" cy="180318"/>
            </a:xfrm>
            <a:prstGeom prst="line">
              <a:avLst/>
            </a:prstGeom>
          </p:spPr>
          <p:style>
            <a:lnRef idx="1">
              <a:schemeClr val="accent1"/>
            </a:lnRef>
            <a:fillRef idx="0">
              <a:schemeClr val="accent1"/>
            </a:fillRef>
            <a:effectRef idx="0">
              <a:schemeClr val="accent1"/>
            </a:effectRef>
            <a:fontRef idx="minor">
              <a:schemeClr val="tx1"/>
            </a:fontRef>
          </p:style>
        </p:cxnSp>
        <p:cxnSp>
          <p:nvCxnSpPr>
            <p:cNvPr id="78" name="Connecteur droit 77">
              <a:extLst>
                <a:ext uri="{FF2B5EF4-FFF2-40B4-BE49-F238E27FC236}">
                  <a16:creationId xmlns:a16="http://schemas.microsoft.com/office/drawing/2014/main" id="{C05875D8-7CE5-D6D9-027B-99BFFC5B8EA3}"/>
                </a:ext>
              </a:extLst>
            </p:cNvPr>
            <p:cNvCxnSpPr>
              <a:cxnSpLocks/>
            </p:cNvCxnSpPr>
            <p:nvPr/>
          </p:nvCxnSpPr>
          <p:spPr>
            <a:xfrm>
              <a:off x="7977933" y="3083560"/>
              <a:ext cx="312333" cy="417522"/>
            </a:xfrm>
            <a:prstGeom prst="line">
              <a:avLst/>
            </a:prstGeom>
            <a:ln w="38100"/>
          </p:spPr>
          <p:style>
            <a:lnRef idx="1">
              <a:schemeClr val="accent1"/>
            </a:lnRef>
            <a:fillRef idx="0">
              <a:schemeClr val="accent1"/>
            </a:fillRef>
            <a:effectRef idx="0">
              <a:schemeClr val="accent1"/>
            </a:effectRef>
            <a:fontRef idx="minor">
              <a:schemeClr val="tx1"/>
            </a:fontRef>
          </p:style>
        </p:cxnSp>
        <p:pic>
          <p:nvPicPr>
            <p:cNvPr id="79" name="Graphique 78" descr="Femme détective avec un remplissage uni">
              <a:extLst>
                <a:ext uri="{FF2B5EF4-FFF2-40B4-BE49-F238E27FC236}">
                  <a16:creationId xmlns:a16="http://schemas.microsoft.com/office/drawing/2014/main" id="{35455055-F55C-4700-DB5D-F6AA5E2F1663}"/>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6749590" y="3809205"/>
              <a:ext cx="524412" cy="524412"/>
            </a:xfrm>
            <a:prstGeom prst="rect">
              <a:avLst/>
            </a:prstGeom>
          </p:spPr>
        </p:pic>
        <p:pic>
          <p:nvPicPr>
            <p:cNvPr id="80" name="Graphique 79" descr="Femme détective avec un remplissage uni">
              <a:extLst>
                <a:ext uri="{FF2B5EF4-FFF2-40B4-BE49-F238E27FC236}">
                  <a16:creationId xmlns:a16="http://schemas.microsoft.com/office/drawing/2014/main" id="{F304B406-E8FD-EAE7-61C7-ADD184728879}"/>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664547" y="2574863"/>
              <a:ext cx="524412" cy="524412"/>
            </a:xfrm>
            <a:prstGeom prst="rect">
              <a:avLst/>
            </a:prstGeom>
          </p:spPr>
        </p:pic>
        <p:pic>
          <p:nvPicPr>
            <p:cNvPr id="81" name="Graphique 80" descr="Femme détective avec un remplissage uni">
              <a:extLst>
                <a:ext uri="{FF2B5EF4-FFF2-40B4-BE49-F238E27FC236}">
                  <a16:creationId xmlns:a16="http://schemas.microsoft.com/office/drawing/2014/main" id="{7ECC05A1-4D03-1F5F-4261-A39523AC22C2}"/>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701767" y="3516188"/>
              <a:ext cx="524412" cy="524412"/>
            </a:xfrm>
            <a:prstGeom prst="rect">
              <a:avLst/>
            </a:prstGeom>
          </p:spPr>
        </p:pic>
        <p:pic>
          <p:nvPicPr>
            <p:cNvPr id="82" name="Graphique 81" descr="Femme détective avec un remplissage uni">
              <a:extLst>
                <a:ext uri="{FF2B5EF4-FFF2-40B4-BE49-F238E27FC236}">
                  <a16:creationId xmlns:a16="http://schemas.microsoft.com/office/drawing/2014/main" id="{29EFA2BC-F8C3-5FED-8109-94BAE0525F01}"/>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563128" y="4035091"/>
              <a:ext cx="524412" cy="524412"/>
            </a:xfrm>
            <a:prstGeom prst="rect">
              <a:avLst/>
            </a:prstGeom>
          </p:spPr>
        </p:pic>
        <p:pic>
          <p:nvPicPr>
            <p:cNvPr id="83" name="Graphique 82" descr="Femme détective avec un remplissage uni">
              <a:extLst>
                <a:ext uri="{FF2B5EF4-FFF2-40B4-BE49-F238E27FC236}">
                  <a16:creationId xmlns:a16="http://schemas.microsoft.com/office/drawing/2014/main" id="{C8977840-328E-1B82-C0F8-F0BBBB7801A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147365" y="3355403"/>
              <a:ext cx="730288" cy="730288"/>
            </a:xfrm>
            <a:prstGeom prst="rect">
              <a:avLst/>
            </a:prstGeom>
          </p:spPr>
        </p:pic>
        <p:pic>
          <p:nvPicPr>
            <p:cNvPr id="84" name="Graphique 83" descr="Femme détective avec un remplissage uni">
              <a:extLst>
                <a:ext uri="{FF2B5EF4-FFF2-40B4-BE49-F238E27FC236}">
                  <a16:creationId xmlns:a16="http://schemas.microsoft.com/office/drawing/2014/main" id="{C0BB8DFE-B569-663D-1B76-3495101D8107}"/>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652467" y="5215180"/>
              <a:ext cx="524412" cy="524412"/>
            </a:xfrm>
            <a:prstGeom prst="rect">
              <a:avLst/>
            </a:prstGeom>
          </p:spPr>
        </p:pic>
      </p:grpSp>
      <p:grpSp>
        <p:nvGrpSpPr>
          <p:cNvPr id="3" name="Groupe 2">
            <a:extLst>
              <a:ext uri="{FF2B5EF4-FFF2-40B4-BE49-F238E27FC236}">
                <a16:creationId xmlns:a16="http://schemas.microsoft.com/office/drawing/2014/main" id="{C5356F0A-1731-5798-4EE0-7157BDC06A98}"/>
              </a:ext>
            </a:extLst>
          </p:cNvPr>
          <p:cNvGrpSpPr/>
          <p:nvPr/>
        </p:nvGrpSpPr>
        <p:grpSpPr>
          <a:xfrm>
            <a:off x="3512421" y="2489219"/>
            <a:ext cx="4208470" cy="1291017"/>
            <a:chOff x="-4323859" y="6184694"/>
            <a:chExt cx="13123342" cy="4025801"/>
          </a:xfrm>
        </p:grpSpPr>
        <p:sp>
          <p:nvSpPr>
            <p:cNvPr id="85" name="Rectangle 84">
              <a:extLst>
                <a:ext uri="{FF2B5EF4-FFF2-40B4-BE49-F238E27FC236}">
                  <a16:creationId xmlns:a16="http://schemas.microsoft.com/office/drawing/2014/main" id="{F57AEEFD-860E-B5BA-1369-6A30FE78882F}"/>
                </a:ext>
              </a:extLst>
            </p:cNvPr>
            <p:cNvSpPr/>
            <p:nvPr/>
          </p:nvSpPr>
          <p:spPr>
            <a:xfrm>
              <a:off x="-2579288" y="718402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86" name="Rectangle 85">
              <a:extLst>
                <a:ext uri="{FF2B5EF4-FFF2-40B4-BE49-F238E27FC236}">
                  <a16:creationId xmlns:a16="http://schemas.microsoft.com/office/drawing/2014/main" id="{C1A6398E-B2A6-8121-A47B-70DDBC7F6422}"/>
                </a:ext>
              </a:extLst>
            </p:cNvPr>
            <p:cNvSpPr/>
            <p:nvPr/>
          </p:nvSpPr>
          <p:spPr>
            <a:xfrm>
              <a:off x="-936694" y="718402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87" name="Rectangle 86">
              <a:extLst>
                <a:ext uri="{FF2B5EF4-FFF2-40B4-BE49-F238E27FC236}">
                  <a16:creationId xmlns:a16="http://schemas.microsoft.com/office/drawing/2014/main" id="{9819F78A-56F7-010C-7EC7-6D08C3CC345A}"/>
                </a:ext>
              </a:extLst>
            </p:cNvPr>
            <p:cNvSpPr/>
            <p:nvPr/>
          </p:nvSpPr>
          <p:spPr>
            <a:xfrm>
              <a:off x="705900" y="718402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88" name="Rectangle 87">
              <a:extLst>
                <a:ext uri="{FF2B5EF4-FFF2-40B4-BE49-F238E27FC236}">
                  <a16:creationId xmlns:a16="http://schemas.microsoft.com/office/drawing/2014/main" id="{CD79131E-4BB1-859A-7AD5-E31B562A7065}"/>
                </a:ext>
              </a:extLst>
            </p:cNvPr>
            <p:cNvSpPr/>
            <p:nvPr/>
          </p:nvSpPr>
          <p:spPr>
            <a:xfrm>
              <a:off x="2348494" y="718402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89" name="Rectangle 88">
              <a:extLst>
                <a:ext uri="{FF2B5EF4-FFF2-40B4-BE49-F238E27FC236}">
                  <a16:creationId xmlns:a16="http://schemas.microsoft.com/office/drawing/2014/main" id="{16422BB1-1FE4-9B16-3D41-4C3A3E05BC69}"/>
                </a:ext>
              </a:extLst>
            </p:cNvPr>
            <p:cNvSpPr/>
            <p:nvPr/>
          </p:nvSpPr>
          <p:spPr>
            <a:xfrm>
              <a:off x="3991088" y="718543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90" name="Rectangle 89">
              <a:extLst>
                <a:ext uri="{FF2B5EF4-FFF2-40B4-BE49-F238E27FC236}">
                  <a16:creationId xmlns:a16="http://schemas.microsoft.com/office/drawing/2014/main" id="{84643F08-AD0D-EAE7-C916-4E0D3DC54BF8}"/>
                </a:ext>
              </a:extLst>
            </p:cNvPr>
            <p:cNvSpPr/>
            <p:nvPr/>
          </p:nvSpPr>
          <p:spPr>
            <a:xfrm>
              <a:off x="5664739" y="718402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91" name="Rectangle 90">
              <a:extLst>
                <a:ext uri="{FF2B5EF4-FFF2-40B4-BE49-F238E27FC236}">
                  <a16:creationId xmlns:a16="http://schemas.microsoft.com/office/drawing/2014/main" id="{3328D2DC-DD8E-C2A6-0784-12FA1F68C441}"/>
                </a:ext>
              </a:extLst>
            </p:cNvPr>
            <p:cNvSpPr/>
            <p:nvPr/>
          </p:nvSpPr>
          <p:spPr>
            <a:xfrm>
              <a:off x="7307335" y="7190159"/>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92" name="Rectangle 91">
              <a:extLst>
                <a:ext uri="{FF2B5EF4-FFF2-40B4-BE49-F238E27FC236}">
                  <a16:creationId xmlns:a16="http://schemas.microsoft.com/office/drawing/2014/main" id="{D55C86A1-B14E-BBB8-5419-A5C89301FF19}"/>
                </a:ext>
              </a:extLst>
            </p:cNvPr>
            <p:cNvSpPr/>
            <p:nvPr/>
          </p:nvSpPr>
          <p:spPr>
            <a:xfrm>
              <a:off x="-2579288" y="954148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93" name="Rectangle 92">
              <a:extLst>
                <a:ext uri="{FF2B5EF4-FFF2-40B4-BE49-F238E27FC236}">
                  <a16:creationId xmlns:a16="http://schemas.microsoft.com/office/drawing/2014/main" id="{845ADD35-D7CB-9621-B5D3-82CDC598D875}"/>
                </a:ext>
              </a:extLst>
            </p:cNvPr>
            <p:cNvSpPr/>
            <p:nvPr/>
          </p:nvSpPr>
          <p:spPr>
            <a:xfrm>
              <a:off x="-936694" y="954148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94" name="Rectangle 93">
              <a:extLst>
                <a:ext uri="{FF2B5EF4-FFF2-40B4-BE49-F238E27FC236}">
                  <a16:creationId xmlns:a16="http://schemas.microsoft.com/office/drawing/2014/main" id="{E0E4A825-6A16-4100-8020-8556E8EB2A1B}"/>
                </a:ext>
              </a:extLst>
            </p:cNvPr>
            <p:cNvSpPr/>
            <p:nvPr/>
          </p:nvSpPr>
          <p:spPr>
            <a:xfrm>
              <a:off x="705900" y="954148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95" name="Rectangle 94">
              <a:extLst>
                <a:ext uri="{FF2B5EF4-FFF2-40B4-BE49-F238E27FC236}">
                  <a16:creationId xmlns:a16="http://schemas.microsoft.com/office/drawing/2014/main" id="{A6B8D112-6D4B-0748-470E-F5587A9E771D}"/>
                </a:ext>
              </a:extLst>
            </p:cNvPr>
            <p:cNvSpPr/>
            <p:nvPr/>
          </p:nvSpPr>
          <p:spPr>
            <a:xfrm>
              <a:off x="2348494" y="954148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96" name="Rectangle 95">
              <a:extLst>
                <a:ext uri="{FF2B5EF4-FFF2-40B4-BE49-F238E27FC236}">
                  <a16:creationId xmlns:a16="http://schemas.microsoft.com/office/drawing/2014/main" id="{4F8A8DD7-4497-030D-9DC1-6C1FA792340C}"/>
                </a:ext>
              </a:extLst>
            </p:cNvPr>
            <p:cNvSpPr/>
            <p:nvPr/>
          </p:nvSpPr>
          <p:spPr>
            <a:xfrm>
              <a:off x="3991088" y="9542888"/>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97" name="Rectangle 96">
              <a:extLst>
                <a:ext uri="{FF2B5EF4-FFF2-40B4-BE49-F238E27FC236}">
                  <a16:creationId xmlns:a16="http://schemas.microsoft.com/office/drawing/2014/main" id="{9CC1F81A-CC88-0F55-1E15-778FF4999A1B}"/>
                </a:ext>
              </a:extLst>
            </p:cNvPr>
            <p:cNvSpPr/>
            <p:nvPr/>
          </p:nvSpPr>
          <p:spPr>
            <a:xfrm>
              <a:off x="5664739" y="954148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98" name="Rectangle 97">
              <a:extLst>
                <a:ext uri="{FF2B5EF4-FFF2-40B4-BE49-F238E27FC236}">
                  <a16:creationId xmlns:a16="http://schemas.microsoft.com/office/drawing/2014/main" id="{B5145C6E-8281-C0A9-9C88-4B78F95316A2}"/>
                </a:ext>
              </a:extLst>
            </p:cNvPr>
            <p:cNvSpPr/>
            <p:nvPr/>
          </p:nvSpPr>
          <p:spPr>
            <a:xfrm>
              <a:off x="7307335" y="954761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grpSp>
          <p:nvGrpSpPr>
            <p:cNvPr id="99" name="Groupe 98">
              <a:extLst>
                <a:ext uri="{FF2B5EF4-FFF2-40B4-BE49-F238E27FC236}">
                  <a16:creationId xmlns:a16="http://schemas.microsoft.com/office/drawing/2014/main" id="{109B687D-FC2A-3BFB-294A-9D48512548E2}"/>
                </a:ext>
              </a:extLst>
            </p:cNvPr>
            <p:cNvGrpSpPr/>
            <p:nvPr/>
          </p:nvGrpSpPr>
          <p:grpSpPr>
            <a:xfrm>
              <a:off x="-641272" y="6410765"/>
              <a:ext cx="1082761" cy="668875"/>
              <a:chOff x="1853030" y="3305280"/>
              <a:chExt cx="4434487" cy="2739401"/>
            </a:xfrm>
          </p:grpSpPr>
          <p:pic>
            <p:nvPicPr>
              <p:cNvPr id="100" name="Graphique 99" descr="Personne confuse avec un remplissage uni">
                <a:extLst>
                  <a:ext uri="{FF2B5EF4-FFF2-40B4-BE49-F238E27FC236}">
                    <a16:creationId xmlns:a16="http://schemas.microsoft.com/office/drawing/2014/main" id="{F39E5694-D9FF-BE28-AF33-D8CCA80256E4}"/>
                  </a:ext>
                </a:extLst>
              </p:cNvPr>
              <p:cNvPicPr>
                <a:picLocks noChangeAspect="1"/>
              </p:cNvPicPr>
              <p:nvPr/>
            </p:nvPicPr>
            <p:blipFill rotWithShape="1">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rcRect l="60539" r="14769" b="50034"/>
              <a:stretch/>
            </p:blipFill>
            <p:spPr>
              <a:xfrm>
                <a:off x="1853030" y="4332121"/>
                <a:ext cx="846318" cy="1712560"/>
              </a:xfrm>
              <a:prstGeom prst="rect">
                <a:avLst/>
              </a:prstGeom>
            </p:spPr>
          </p:pic>
          <p:pic>
            <p:nvPicPr>
              <p:cNvPr id="101" name="Graphique 100" descr="Loupe avec un remplissage uni">
                <a:extLst>
                  <a:ext uri="{FF2B5EF4-FFF2-40B4-BE49-F238E27FC236}">
                    <a16:creationId xmlns:a16="http://schemas.microsoft.com/office/drawing/2014/main" id="{1936E9F5-8CC9-A45E-3C64-E51B945CD023}"/>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flipH="1">
                <a:off x="2235992" y="4467181"/>
                <a:ext cx="1589482" cy="1442437"/>
              </a:xfrm>
              <a:prstGeom prst="rect">
                <a:avLst/>
              </a:prstGeom>
            </p:spPr>
          </p:pic>
          <p:pic>
            <p:nvPicPr>
              <p:cNvPr id="102" name="Graphique 101" descr="Bureau avec un remplissage uni">
                <a:extLst>
                  <a:ext uri="{FF2B5EF4-FFF2-40B4-BE49-F238E27FC236}">
                    <a16:creationId xmlns:a16="http://schemas.microsoft.com/office/drawing/2014/main" id="{3F93DFBA-F1CB-1929-4AB1-4F03C119B312}"/>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608539" y="3305280"/>
                <a:ext cx="1211427" cy="1211427"/>
              </a:xfrm>
              <a:prstGeom prst="rect">
                <a:avLst/>
              </a:prstGeom>
            </p:spPr>
          </p:pic>
          <p:pic>
            <p:nvPicPr>
              <p:cNvPr id="103" name="Graphique 102" descr="Travail à domicile avec un remplissage uni">
                <a:extLst>
                  <a:ext uri="{FF2B5EF4-FFF2-40B4-BE49-F238E27FC236}">
                    <a16:creationId xmlns:a16="http://schemas.microsoft.com/office/drawing/2014/main" id="{D9E74528-F8E1-9B6F-4876-0514C1843FA0}"/>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5076090" y="3519632"/>
                <a:ext cx="1211427" cy="1211427"/>
              </a:xfrm>
              <a:prstGeom prst="rect">
                <a:avLst/>
              </a:prstGeom>
            </p:spPr>
          </p:pic>
          <p:pic>
            <p:nvPicPr>
              <p:cNvPr id="104" name="Graphique 103" descr="Employée de bureau avec un remplissage uni">
                <a:extLst>
                  <a:ext uri="{FF2B5EF4-FFF2-40B4-BE49-F238E27FC236}">
                    <a16:creationId xmlns:a16="http://schemas.microsoft.com/office/drawing/2014/main" id="{7A946C12-6E35-4076-EB06-E59D03B8CA38}"/>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993582" y="4059507"/>
                <a:ext cx="914400" cy="914400"/>
              </a:xfrm>
              <a:prstGeom prst="rect">
                <a:avLst/>
              </a:prstGeom>
            </p:spPr>
          </p:pic>
          <p:pic>
            <p:nvPicPr>
              <p:cNvPr id="105" name="Graphique 104" descr="Employé de bureau avec un remplissage uni">
                <a:extLst>
                  <a:ext uri="{FF2B5EF4-FFF2-40B4-BE49-F238E27FC236}">
                    <a16:creationId xmlns:a16="http://schemas.microsoft.com/office/drawing/2014/main" id="{D951EAE4-0E09-5E9E-8473-135042F1F81A}"/>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5063677" y="4707358"/>
                <a:ext cx="914400" cy="914400"/>
              </a:xfrm>
              <a:prstGeom prst="rect">
                <a:avLst/>
              </a:prstGeom>
            </p:spPr>
          </p:pic>
          <p:pic>
            <p:nvPicPr>
              <p:cNvPr id="106" name="Graphique 105" descr="Bulle de discussion contour">
                <a:extLst>
                  <a:ext uri="{FF2B5EF4-FFF2-40B4-BE49-F238E27FC236}">
                    <a16:creationId xmlns:a16="http://schemas.microsoft.com/office/drawing/2014/main" id="{6A2E80AC-453F-81E1-B6A9-19371B4C6FF8}"/>
                  </a:ext>
                </a:extLst>
              </p:cNvPr>
              <p:cNvPicPr>
                <a:picLocks noChangeAspect="1"/>
              </p:cNvPicPr>
              <p:nvPr/>
            </p:nvPicPr>
            <p:blipFill rotWithShape="1">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rcRect t="12903" b="12311"/>
              <a:stretch/>
            </p:blipFill>
            <p:spPr>
              <a:xfrm>
                <a:off x="4951600" y="4547142"/>
                <a:ext cx="451149" cy="365688"/>
              </a:xfrm>
              <a:prstGeom prst="rect">
                <a:avLst/>
              </a:prstGeom>
            </p:spPr>
          </p:pic>
        </p:grpSp>
        <p:pic>
          <p:nvPicPr>
            <p:cNvPr id="107" name="Graphique 106" descr="Femme détective avec un remplissage uni">
              <a:extLst>
                <a:ext uri="{FF2B5EF4-FFF2-40B4-BE49-F238E27FC236}">
                  <a16:creationId xmlns:a16="http://schemas.microsoft.com/office/drawing/2014/main" id="{9BB9D3A2-8C7B-EF8F-E9E6-1398C86E1528}"/>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2425083" y="6694464"/>
              <a:ext cx="424223" cy="424223"/>
            </a:xfrm>
            <a:prstGeom prst="rect">
              <a:avLst/>
            </a:prstGeom>
          </p:spPr>
        </p:pic>
        <p:pic>
          <p:nvPicPr>
            <p:cNvPr id="108" name="Graphique 107" descr="Réussite du groupe avec un remplissage uni">
              <a:extLst>
                <a:ext uri="{FF2B5EF4-FFF2-40B4-BE49-F238E27FC236}">
                  <a16:creationId xmlns:a16="http://schemas.microsoft.com/office/drawing/2014/main" id="{FC8ACDE8-C0AC-1088-FEA7-5D0D4B942695}"/>
                </a:ext>
              </a:extLst>
            </p:cNvPr>
            <p:cNvPicPr>
              <a:picLocks noChangeAspect="1"/>
            </p:cNvPicPr>
            <p:nvPr/>
          </p:nvPicPr>
          <p:blipFill rotWithShape="1">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rcRect t="13979" b="19010"/>
            <a:stretch/>
          </p:blipFill>
          <p:spPr>
            <a:xfrm>
              <a:off x="-2092604" y="6489053"/>
              <a:ext cx="854499" cy="572602"/>
            </a:xfrm>
            <a:prstGeom prst="rect">
              <a:avLst/>
            </a:prstGeom>
          </p:spPr>
        </p:pic>
        <p:grpSp>
          <p:nvGrpSpPr>
            <p:cNvPr id="109" name="Groupe 108">
              <a:extLst>
                <a:ext uri="{FF2B5EF4-FFF2-40B4-BE49-F238E27FC236}">
                  <a16:creationId xmlns:a16="http://schemas.microsoft.com/office/drawing/2014/main" id="{F8C6A9BB-FFD7-68A0-0E1F-B3AEF6861802}"/>
                </a:ext>
              </a:extLst>
            </p:cNvPr>
            <p:cNvGrpSpPr/>
            <p:nvPr/>
          </p:nvGrpSpPr>
          <p:grpSpPr>
            <a:xfrm>
              <a:off x="803720" y="6273734"/>
              <a:ext cx="1196717" cy="841459"/>
              <a:chOff x="3736815" y="1436205"/>
              <a:chExt cx="1565948" cy="1101080"/>
            </a:xfrm>
          </p:grpSpPr>
          <p:pic>
            <p:nvPicPr>
              <p:cNvPr id="110" name="Graphique 109" descr="Femme détective avec un remplissage uni">
                <a:extLst>
                  <a:ext uri="{FF2B5EF4-FFF2-40B4-BE49-F238E27FC236}">
                    <a16:creationId xmlns:a16="http://schemas.microsoft.com/office/drawing/2014/main" id="{6D3FB031-0078-5E15-B6AD-9901177B9DDE}"/>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736815" y="1982174"/>
                <a:ext cx="555113" cy="555111"/>
              </a:xfrm>
              <a:prstGeom prst="rect">
                <a:avLst/>
              </a:prstGeom>
            </p:spPr>
          </p:pic>
          <p:pic>
            <p:nvPicPr>
              <p:cNvPr id="111" name="Graphique 110" descr="Réunion contour">
                <a:extLst>
                  <a:ext uri="{FF2B5EF4-FFF2-40B4-BE49-F238E27FC236}">
                    <a16:creationId xmlns:a16="http://schemas.microsoft.com/office/drawing/2014/main" id="{D91AB440-83C7-7129-4948-FFA4767D76A3}"/>
                  </a:ext>
                </a:extLst>
              </p:cNvPr>
              <p:cNvPicPr>
                <a:picLocks noChangeAspect="1"/>
              </p:cNvPicPr>
              <p:nvPr/>
            </p:nvPicPr>
            <p:blipFill>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tretch>
                <a:fillRect/>
              </a:stretch>
            </p:blipFill>
            <p:spPr>
              <a:xfrm>
                <a:off x="4252823" y="1436205"/>
                <a:ext cx="1049940" cy="1049940"/>
              </a:xfrm>
              <a:prstGeom prst="rect">
                <a:avLst/>
              </a:prstGeom>
            </p:spPr>
          </p:pic>
          <p:pic>
            <p:nvPicPr>
              <p:cNvPr id="112" name="Graphique 111" descr="Noix de coco avec un remplissage uni">
                <a:extLst>
                  <a:ext uri="{FF2B5EF4-FFF2-40B4-BE49-F238E27FC236}">
                    <a16:creationId xmlns:a16="http://schemas.microsoft.com/office/drawing/2014/main" id="{976B752E-9521-1F05-EE9F-83D365A4863A}"/>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4344958" y="1841799"/>
                <a:ext cx="452386" cy="452386"/>
              </a:xfrm>
              <a:prstGeom prst="rect">
                <a:avLst/>
              </a:prstGeom>
            </p:spPr>
          </p:pic>
          <p:pic>
            <p:nvPicPr>
              <p:cNvPr id="113" name="Graphique 112" descr="Tasse de latte avec un remplissage uni">
                <a:extLst>
                  <a:ext uri="{FF2B5EF4-FFF2-40B4-BE49-F238E27FC236}">
                    <a16:creationId xmlns:a16="http://schemas.microsoft.com/office/drawing/2014/main" id="{1409E8E3-604B-8C21-595C-3210692D1CBE}"/>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4751701" y="1775060"/>
                <a:ext cx="519125" cy="519125"/>
              </a:xfrm>
              <a:prstGeom prst="rect">
                <a:avLst/>
              </a:prstGeom>
            </p:spPr>
          </p:pic>
        </p:grpSp>
        <p:pic>
          <p:nvPicPr>
            <p:cNvPr id="114" name="Graphique 113" descr="Femme détective avec un remplissage uni">
              <a:extLst>
                <a:ext uri="{FF2B5EF4-FFF2-40B4-BE49-F238E27FC236}">
                  <a16:creationId xmlns:a16="http://schemas.microsoft.com/office/drawing/2014/main" id="{24029C39-7796-473D-6F56-E8D1E530EC35}"/>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2416049" y="6731052"/>
              <a:ext cx="424223" cy="424223"/>
            </a:xfrm>
            <a:prstGeom prst="rect">
              <a:avLst/>
            </a:prstGeom>
          </p:spPr>
        </p:pic>
        <p:pic>
          <p:nvPicPr>
            <p:cNvPr id="115" name="Graphique 114" descr="Base de données avec un remplissage uni">
              <a:extLst>
                <a:ext uri="{FF2B5EF4-FFF2-40B4-BE49-F238E27FC236}">
                  <a16:creationId xmlns:a16="http://schemas.microsoft.com/office/drawing/2014/main" id="{363E9093-09BC-6EF0-2AB1-1B0F8D898B79}"/>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2971800" y="6184694"/>
              <a:ext cx="680131" cy="680131"/>
            </a:xfrm>
            <a:prstGeom prst="rect">
              <a:avLst/>
            </a:prstGeom>
          </p:spPr>
        </p:pic>
        <p:pic>
          <p:nvPicPr>
            <p:cNvPr id="116" name="Graphique 115" descr="Recherche de dossiers avec un remplissage uni">
              <a:extLst>
                <a:ext uri="{FF2B5EF4-FFF2-40B4-BE49-F238E27FC236}">
                  <a16:creationId xmlns:a16="http://schemas.microsoft.com/office/drawing/2014/main" id="{44219BAD-E372-4E2B-82A5-B3E44A61CA0D}"/>
                </a:ext>
              </a:extLst>
            </p:cNvPr>
            <p:cNvPicPr>
              <a:picLocks noChangeAspect="1"/>
            </p:cNvPicPr>
            <p:nvPr/>
          </p:nvPicPr>
          <p:blipFill>
            <a:blip r:embed="rId41">
              <a:extLst>
                <a:ext uri="{28A0092B-C50C-407E-A947-70E740481C1C}">
                  <a14:useLocalDpi xmlns:a14="http://schemas.microsoft.com/office/drawing/2010/main" val="0"/>
                </a:ext>
                <a:ext uri="{96DAC541-7B7A-43D3-8B79-37D633B846F1}">
                  <asvg:svgBlip xmlns:asvg="http://schemas.microsoft.com/office/drawing/2016/SVG/main" r:embed="rId42"/>
                </a:ext>
              </a:extLst>
            </a:blip>
            <a:stretch>
              <a:fillRect/>
            </a:stretch>
          </p:blipFill>
          <p:spPr>
            <a:xfrm>
              <a:off x="2737240" y="6542850"/>
              <a:ext cx="662880" cy="662880"/>
            </a:xfrm>
            <a:prstGeom prst="rect">
              <a:avLst/>
            </a:prstGeom>
          </p:spPr>
        </p:pic>
        <p:pic>
          <p:nvPicPr>
            <p:cNvPr id="117" name="Graphique 116" descr="Salle de conseil avec un remplissage uni">
              <a:extLst>
                <a:ext uri="{FF2B5EF4-FFF2-40B4-BE49-F238E27FC236}">
                  <a16:creationId xmlns:a16="http://schemas.microsoft.com/office/drawing/2014/main" id="{A3491A6F-0C17-E177-B889-33C453652F17}"/>
                </a:ext>
              </a:extLst>
            </p:cNvPr>
            <p:cNvPicPr>
              <a:picLocks noChangeAspect="1"/>
            </p:cNvPicPr>
            <p:nvPr/>
          </p:nvPicPr>
          <p:blipFill>
            <a:blip r:embed="rId43">
              <a:extLst>
                <a:ext uri="{28A0092B-C50C-407E-A947-70E740481C1C}">
                  <a14:useLocalDpi xmlns:a14="http://schemas.microsoft.com/office/drawing/2010/main" val="0"/>
                </a:ext>
                <a:ext uri="{96DAC541-7B7A-43D3-8B79-37D633B846F1}">
                  <asvg:svgBlip xmlns:asvg="http://schemas.microsoft.com/office/drawing/2016/SVG/main" r:embed="rId44"/>
                </a:ext>
              </a:extLst>
            </a:blip>
            <a:stretch>
              <a:fillRect/>
            </a:stretch>
          </p:blipFill>
          <p:spPr>
            <a:xfrm>
              <a:off x="-2215088" y="8756233"/>
              <a:ext cx="914400" cy="914400"/>
            </a:xfrm>
            <a:prstGeom prst="rect">
              <a:avLst/>
            </a:prstGeom>
          </p:spPr>
        </p:pic>
        <p:pic>
          <p:nvPicPr>
            <p:cNvPr id="118" name="Graphique 117" descr="Femme détective avec un remplissage uni">
              <a:extLst>
                <a:ext uri="{FF2B5EF4-FFF2-40B4-BE49-F238E27FC236}">
                  <a16:creationId xmlns:a16="http://schemas.microsoft.com/office/drawing/2014/main" id="{25B92FEC-09EE-1BF8-65DD-E16BA7CF4CEA}"/>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rcRect b="48385"/>
            <a:stretch/>
          </p:blipFill>
          <p:spPr>
            <a:xfrm>
              <a:off x="-2186078" y="8878658"/>
              <a:ext cx="370436" cy="191200"/>
            </a:xfrm>
            <a:prstGeom prst="rect">
              <a:avLst/>
            </a:prstGeom>
          </p:spPr>
        </p:pic>
        <p:pic>
          <p:nvPicPr>
            <p:cNvPr id="119" name="Graphique 118" descr="Homme professeur avec un remplissage uni">
              <a:extLst>
                <a:ext uri="{FF2B5EF4-FFF2-40B4-BE49-F238E27FC236}">
                  <a16:creationId xmlns:a16="http://schemas.microsoft.com/office/drawing/2014/main" id="{D96FD20D-A1DE-DD1C-53EA-7685A479039E}"/>
                </a:ext>
              </a:extLst>
            </p:cNvPr>
            <p:cNvPicPr>
              <a:picLocks noChangeAspect="1"/>
            </p:cNvPicPr>
            <p:nvPr/>
          </p:nvPicPr>
          <p:blipFill>
            <a:blip r:embed="rId45">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a:off x="5027815" y="9102316"/>
              <a:ext cx="391403" cy="391403"/>
            </a:xfrm>
            <a:prstGeom prst="rect">
              <a:avLst/>
            </a:prstGeom>
          </p:spPr>
        </p:pic>
        <p:pic>
          <p:nvPicPr>
            <p:cNvPr id="120" name="Graphique 119" descr="Homme pilote avec un remplissage uni">
              <a:extLst>
                <a:ext uri="{FF2B5EF4-FFF2-40B4-BE49-F238E27FC236}">
                  <a16:creationId xmlns:a16="http://schemas.microsoft.com/office/drawing/2014/main" id="{F94EA84E-8FF1-90D1-6E3E-F27E62664782}"/>
                </a:ext>
              </a:extLst>
            </p:cNvPr>
            <p:cNvPicPr>
              <a:picLocks noChangeAspect="1"/>
            </p:cNvPicPr>
            <p:nvPr/>
          </p:nvPicPr>
          <p:blipFill>
            <a:blip r:embed="rId47">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4860104" y="9014967"/>
              <a:ext cx="391403" cy="391403"/>
            </a:xfrm>
            <a:prstGeom prst="rect">
              <a:avLst/>
            </a:prstGeom>
          </p:spPr>
        </p:pic>
        <p:pic>
          <p:nvPicPr>
            <p:cNvPr id="121" name="Graphique 120" descr="Employé de bureau avec un remplissage uni">
              <a:extLst>
                <a:ext uri="{FF2B5EF4-FFF2-40B4-BE49-F238E27FC236}">
                  <a16:creationId xmlns:a16="http://schemas.microsoft.com/office/drawing/2014/main" id="{49A29A82-C9FB-0CEB-6942-AC095C69A3EF}"/>
                </a:ext>
              </a:extLst>
            </p:cNvPr>
            <p:cNvPicPr>
              <a:picLocks noChangeAspect="1"/>
            </p:cNvPicPr>
            <p:nvPr/>
          </p:nvPicPr>
          <p:blipFill>
            <a:blip r:embed="rId49">
              <a:extLst>
                <a:ext uri="{28A0092B-C50C-407E-A947-70E740481C1C}">
                  <a14:useLocalDpi xmlns:a14="http://schemas.microsoft.com/office/drawing/2010/main" val="0"/>
                </a:ext>
                <a:ext uri="{96DAC541-7B7A-43D3-8B79-37D633B846F1}">
                  <asvg:svgBlip xmlns:asvg="http://schemas.microsoft.com/office/drawing/2016/SVG/main" r:embed="rId50"/>
                </a:ext>
              </a:extLst>
            </a:blip>
            <a:stretch>
              <a:fillRect/>
            </a:stretch>
          </p:blipFill>
          <p:spPr>
            <a:xfrm>
              <a:off x="4658489" y="8925348"/>
              <a:ext cx="391403" cy="391403"/>
            </a:xfrm>
            <a:prstGeom prst="rect">
              <a:avLst/>
            </a:prstGeom>
          </p:spPr>
        </p:pic>
        <p:pic>
          <p:nvPicPr>
            <p:cNvPr id="122" name="Graphique 121" descr="Femme juge avec un remplissage uni">
              <a:extLst>
                <a:ext uri="{FF2B5EF4-FFF2-40B4-BE49-F238E27FC236}">
                  <a16:creationId xmlns:a16="http://schemas.microsoft.com/office/drawing/2014/main" id="{31A014D9-3D05-89C1-7DF9-1C8062777139}"/>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4433234" y="9075348"/>
              <a:ext cx="391403" cy="391403"/>
            </a:xfrm>
            <a:prstGeom prst="rect">
              <a:avLst/>
            </a:prstGeom>
          </p:spPr>
        </p:pic>
        <p:pic>
          <p:nvPicPr>
            <p:cNvPr id="123" name="Graphique 122" descr="Femme détective avec un remplissage uni">
              <a:extLst>
                <a:ext uri="{FF2B5EF4-FFF2-40B4-BE49-F238E27FC236}">
                  <a16:creationId xmlns:a16="http://schemas.microsoft.com/office/drawing/2014/main" id="{C41A77F8-4CB8-168D-D7E3-D97456C0119A}"/>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4006357" y="9088670"/>
              <a:ext cx="424223" cy="424223"/>
            </a:xfrm>
            <a:prstGeom prst="rect">
              <a:avLst/>
            </a:prstGeom>
          </p:spPr>
        </p:pic>
        <p:sp>
          <p:nvSpPr>
            <p:cNvPr id="124" name="Bulle narrative : ronde 123">
              <a:extLst>
                <a:ext uri="{FF2B5EF4-FFF2-40B4-BE49-F238E27FC236}">
                  <a16:creationId xmlns:a16="http://schemas.microsoft.com/office/drawing/2014/main" id="{2D08F513-6003-9CBF-1273-D828274E3059}"/>
                </a:ext>
              </a:extLst>
            </p:cNvPr>
            <p:cNvSpPr/>
            <p:nvPr/>
          </p:nvSpPr>
          <p:spPr>
            <a:xfrm>
              <a:off x="4006357" y="8551152"/>
              <a:ext cx="914400" cy="417673"/>
            </a:xfrm>
            <a:prstGeom prst="wedgeEllipseCallout">
              <a:avLst>
                <a:gd name="adj1" fmla="val 28646"/>
                <a:gd name="adj2" fmla="val 70110"/>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5" name="Graphique 124" descr="Employée de bureau avec un remplissage uni">
              <a:extLst>
                <a:ext uri="{FF2B5EF4-FFF2-40B4-BE49-F238E27FC236}">
                  <a16:creationId xmlns:a16="http://schemas.microsoft.com/office/drawing/2014/main" id="{B845CE80-57CB-FFF3-C8DD-E3F77D8A7BA7}"/>
                </a:ext>
              </a:extLst>
            </p:cNvPr>
            <p:cNvPicPr>
              <a:picLocks noChangeAspect="1"/>
            </p:cNvPicPr>
            <p:nvPr/>
          </p:nvPicPr>
          <p:blipFill>
            <a:blip r:embed="rId53">
              <a:extLst>
                <a:ext uri="{28A0092B-C50C-407E-A947-70E740481C1C}">
                  <a14:useLocalDpi xmlns:a14="http://schemas.microsoft.com/office/drawing/2010/main" val="0"/>
                </a:ext>
                <a:ext uri="{96DAC541-7B7A-43D3-8B79-37D633B846F1}">
                  <asvg:svgBlip xmlns:asvg="http://schemas.microsoft.com/office/drawing/2016/SVG/main" r:embed="rId54"/>
                </a:ext>
              </a:extLst>
            </a:blip>
            <a:stretch>
              <a:fillRect/>
            </a:stretch>
          </p:blipFill>
          <p:spPr>
            <a:xfrm>
              <a:off x="4255376" y="8577471"/>
              <a:ext cx="373559" cy="373559"/>
            </a:xfrm>
            <a:prstGeom prst="rect">
              <a:avLst/>
            </a:prstGeom>
          </p:spPr>
        </p:pic>
        <p:sp>
          <p:nvSpPr>
            <p:cNvPr id="126" name="Bulle narrative : ronde 125">
              <a:extLst>
                <a:ext uri="{FF2B5EF4-FFF2-40B4-BE49-F238E27FC236}">
                  <a16:creationId xmlns:a16="http://schemas.microsoft.com/office/drawing/2014/main" id="{76B757FF-DFC0-E99B-9F6B-06D38BC27EEE}"/>
                </a:ext>
              </a:extLst>
            </p:cNvPr>
            <p:cNvSpPr/>
            <p:nvPr/>
          </p:nvSpPr>
          <p:spPr>
            <a:xfrm>
              <a:off x="4035911" y="8557928"/>
              <a:ext cx="914400" cy="417673"/>
            </a:xfrm>
            <a:prstGeom prst="wedgeEllipseCallout">
              <a:avLst>
                <a:gd name="adj1" fmla="val 4688"/>
                <a:gd name="adj2" fmla="val 71250"/>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 name="Bulle narrative : ronde 126">
              <a:extLst>
                <a:ext uri="{FF2B5EF4-FFF2-40B4-BE49-F238E27FC236}">
                  <a16:creationId xmlns:a16="http://schemas.microsoft.com/office/drawing/2014/main" id="{4834B1C2-9045-62ED-2752-D1058A8BEF66}"/>
                </a:ext>
              </a:extLst>
            </p:cNvPr>
            <p:cNvSpPr/>
            <p:nvPr/>
          </p:nvSpPr>
          <p:spPr>
            <a:xfrm>
              <a:off x="4092039" y="8535550"/>
              <a:ext cx="914400" cy="417673"/>
            </a:xfrm>
            <a:prstGeom prst="wedgeEllipseCallout">
              <a:avLst>
                <a:gd name="adj1" fmla="val 48438"/>
                <a:gd name="adj2" fmla="val 67829"/>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8" name="Graphique 127" descr="Femme détective avec un remplissage uni">
              <a:extLst>
                <a:ext uri="{FF2B5EF4-FFF2-40B4-BE49-F238E27FC236}">
                  <a16:creationId xmlns:a16="http://schemas.microsoft.com/office/drawing/2014/main" id="{5EF7B4B5-4E07-929C-55DF-081E48C4A8BD}"/>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942429" y="6610999"/>
              <a:ext cx="424223" cy="424223"/>
            </a:xfrm>
            <a:prstGeom prst="rect">
              <a:avLst/>
            </a:prstGeom>
          </p:spPr>
        </p:pic>
        <p:pic>
          <p:nvPicPr>
            <p:cNvPr id="129" name="Graphique 128" descr="Golf avec un remplissage uni">
              <a:extLst>
                <a:ext uri="{FF2B5EF4-FFF2-40B4-BE49-F238E27FC236}">
                  <a16:creationId xmlns:a16="http://schemas.microsoft.com/office/drawing/2014/main" id="{D14C8A18-841E-D3E3-F662-7A4F573BE261}"/>
                </a:ext>
              </a:extLst>
            </p:cNvPr>
            <p:cNvPicPr>
              <a:picLocks noChangeAspect="1"/>
            </p:cNvPicPr>
            <p:nvPr/>
          </p:nvPicPr>
          <p:blipFill>
            <a:blip r:embed="rId55">
              <a:extLst>
                <a:ext uri="{28A0092B-C50C-407E-A947-70E740481C1C}">
                  <a14:useLocalDpi xmlns:a14="http://schemas.microsoft.com/office/drawing/2010/main" val="0"/>
                </a:ext>
                <a:ext uri="{96DAC541-7B7A-43D3-8B79-37D633B846F1}">
                  <asvg:svgBlip xmlns:asvg="http://schemas.microsoft.com/office/drawing/2016/SVG/main" r:embed="rId56"/>
                </a:ext>
              </a:extLst>
            </a:blip>
            <a:stretch>
              <a:fillRect/>
            </a:stretch>
          </p:blipFill>
          <p:spPr>
            <a:xfrm>
              <a:off x="3080846" y="8572602"/>
              <a:ext cx="914400" cy="914400"/>
            </a:xfrm>
            <a:prstGeom prst="rect">
              <a:avLst/>
            </a:prstGeom>
          </p:spPr>
        </p:pic>
        <p:pic>
          <p:nvPicPr>
            <p:cNvPr id="130" name="Graphique 129" descr="Femme détective avec un remplissage uni">
              <a:extLst>
                <a:ext uri="{FF2B5EF4-FFF2-40B4-BE49-F238E27FC236}">
                  <a16:creationId xmlns:a16="http://schemas.microsoft.com/office/drawing/2014/main" id="{389E6AF1-CB4C-35CA-6CA3-184D3593C620}"/>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2472880" y="8608170"/>
              <a:ext cx="662879" cy="662879"/>
            </a:xfrm>
            <a:prstGeom prst="rect">
              <a:avLst/>
            </a:prstGeom>
          </p:spPr>
        </p:pic>
        <p:pic>
          <p:nvPicPr>
            <p:cNvPr id="131" name="Graphique 130" descr="Clubs de golf avec un remplissage uni">
              <a:extLst>
                <a:ext uri="{FF2B5EF4-FFF2-40B4-BE49-F238E27FC236}">
                  <a16:creationId xmlns:a16="http://schemas.microsoft.com/office/drawing/2014/main" id="{C87865F9-A073-149D-9B95-8E8275A76BB9}"/>
                </a:ext>
              </a:extLst>
            </p:cNvPr>
            <p:cNvPicPr>
              <a:picLocks noChangeAspect="1"/>
            </p:cNvPicPr>
            <p:nvPr/>
          </p:nvPicPr>
          <p:blipFill>
            <a:blip r:embed="rId57">
              <a:extLst>
                <a:ext uri="{28A0092B-C50C-407E-A947-70E740481C1C}">
                  <a14:useLocalDpi xmlns:a14="http://schemas.microsoft.com/office/drawing/2010/main" val="0"/>
                </a:ext>
                <a:ext uri="{96DAC541-7B7A-43D3-8B79-37D633B846F1}">
                  <asvg:svgBlip xmlns:asvg="http://schemas.microsoft.com/office/drawing/2016/SVG/main" r:embed="rId58"/>
                </a:ext>
              </a:extLst>
            </a:blip>
            <a:stretch>
              <a:fillRect/>
            </a:stretch>
          </p:blipFill>
          <p:spPr>
            <a:xfrm rot="818932">
              <a:off x="2799787" y="8889420"/>
              <a:ext cx="536548" cy="536548"/>
            </a:xfrm>
            <a:prstGeom prst="rect">
              <a:avLst/>
            </a:prstGeom>
          </p:spPr>
        </p:pic>
        <p:pic>
          <p:nvPicPr>
            <p:cNvPr id="132" name="Graphique 131" descr="Femme détective avec un remplissage uni">
              <a:extLst>
                <a:ext uri="{FF2B5EF4-FFF2-40B4-BE49-F238E27FC236}">
                  <a16:creationId xmlns:a16="http://schemas.microsoft.com/office/drawing/2014/main" id="{F9E8A111-0E79-4BC7-5CD0-292A173F2D58}"/>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5738059" y="8910867"/>
              <a:ext cx="473349" cy="473349"/>
            </a:xfrm>
            <a:prstGeom prst="rect">
              <a:avLst/>
            </a:prstGeom>
          </p:spPr>
        </p:pic>
        <p:pic>
          <p:nvPicPr>
            <p:cNvPr id="133" name="Graphique 132" descr="Femme détective avec un remplissage uni">
              <a:extLst>
                <a:ext uri="{FF2B5EF4-FFF2-40B4-BE49-F238E27FC236}">
                  <a16:creationId xmlns:a16="http://schemas.microsoft.com/office/drawing/2014/main" id="{7FB7D345-2CF0-0047-15DA-C33C010ED31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7289626" y="8910548"/>
              <a:ext cx="473349" cy="473349"/>
            </a:xfrm>
            <a:prstGeom prst="rect">
              <a:avLst/>
            </a:prstGeom>
          </p:spPr>
        </p:pic>
        <p:sp>
          <p:nvSpPr>
            <p:cNvPr id="134" name="Bulle narrative : ronde 133">
              <a:extLst>
                <a:ext uri="{FF2B5EF4-FFF2-40B4-BE49-F238E27FC236}">
                  <a16:creationId xmlns:a16="http://schemas.microsoft.com/office/drawing/2014/main" id="{C09FBAE4-7FD6-A699-4FFD-76FADEB09730}"/>
                </a:ext>
              </a:extLst>
            </p:cNvPr>
            <p:cNvSpPr/>
            <p:nvPr/>
          </p:nvSpPr>
          <p:spPr>
            <a:xfrm>
              <a:off x="5981700" y="8608170"/>
              <a:ext cx="666750" cy="367431"/>
            </a:xfrm>
            <a:prstGeom prst="wedgeEllipseCallou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35" name="Graphique 134" descr="Employée de bureau avec un remplissage uni">
              <a:extLst>
                <a:ext uri="{FF2B5EF4-FFF2-40B4-BE49-F238E27FC236}">
                  <a16:creationId xmlns:a16="http://schemas.microsoft.com/office/drawing/2014/main" id="{63AC7635-B117-99F9-7C18-D994709D5CFC}"/>
                </a:ext>
              </a:extLst>
            </p:cNvPr>
            <p:cNvPicPr>
              <a:picLocks noChangeAspect="1"/>
            </p:cNvPicPr>
            <p:nvPr/>
          </p:nvPicPr>
          <p:blipFill>
            <a:blip r:embed="rId53">
              <a:extLst>
                <a:ext uri="{28A0092B-C50C-407E-A947-70E740481C1C}">
                  <a14:useLocalDpi xmlns:a14="http://schemas.microsoft.com/office/drawing/2010/main" val="0"/>
                </a:ext>
                <a:ext uri="{96DAC541-7B7A-43D3-8B79-37D633B846F1}">
                  <asvg:svgBlip xmlns:asvg="http://schemas.microsoft.com/office/drawing/2016/SVG/main" r:embed="rId54"/>
                </a:ext>
              </a:extLst>
            </a:blip>
            <a:stretch>
              <a:fillRect/>
            </a:stretch>
          </p:blipFill>
          <p:spPr>
            <a:xfrm>
              <a:off x="6571236" y="8898643"/>
              <a:ext cx="450517" cy="450517"/>
            </a:xfrm>
            <a:prstGeom prst="rect">
              <a:avLst/>
            </a:prstGeom>
          </p:spPr>
        </p:pic>
        <p:pic>
          <p:nvPicPr>
            <p:cNvPr id="136" name="Graphique 135" descr="Réussite du groupe avec un remplissage uni">
              <a:extLst>
                <a:ext uri="{FF2B5EF4-FFF2-40B4-BE49-F238E27FC236}">
                  <a16:creationId xmlns:a16="http://schemas.microsoft.com/office/drawing/2014/main" id="{09724481-BA13-33A7-57F2-F3B1424293C5}"/>
                </a:ext>
              </a:extLst>
            </p:cNvPr>
            <p:cNvPicPr>
              <a:picLocks noChangeAspect="1"/>
            </p:cNvPicPr>
            <p:nvPr/>
          </p:nvPicPr>
          <p:blipFill rotWithShape="1">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rcRect t="13979" b="19010"/>
            <a:stretch/>
          </p:blipFill>
          <p:spPr>
            <a:xfrm>
              <a:off x="7995208" y="8902002"/>
              <a:ext cx="763143" cy="511384"/>
            </a:xfrm>
            <a:prstGeom prst="rect">
              <a:avLst/>
            </a:prstGeom>
          </p:spPr>
        </p:pic>
        <p:sp>
          <p:nvSpPr>
            <p:cNvPr id="137" name="Bulle narrative : ronde 136">
              <a:extLst>
                <a:ext uri="{FF2B5EF4-FFF2-40B4-BE49-F238E27FC236}">
                  <a16:creationId xmlns:a16="http://schemas.microsoft.com/office/drawing/2014/main" id="{7AE8ACD0-4981-0F9A-652D-B4877E1A4AB1}"/>
                </a:ext>
              </a:extLst>
            </p:cNvPr>
            <p:cNvSpPr/>
            <p:nvPr/>
          </p:nvSpPr>
          <p:spPr>
            <a:xfrm>
              <a:off x="7517293" y="8608170"/>
              <a:ext cx="666750" cy="367431"/>
            </a:xfrm>
            <a:prstGeom prst="wedgeEllipseCallou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38" name="Graphique 137" descr="Femme détective avec un remplissage uni">
              <a:extLst>
                <a:ext uri="{FF2B5EF4-FFF2-40B4-BE49-F238E27FC236}">
                  <a16:creationId xmlns:a16="http://schemas.microsoft.com/office/drawing/2014/main" id="{029FA9EA-F683-DBE3-E0A9-B79E1B7E529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7377319" y="6649695"/>
              <a:ext cx="473349" cy="473349"/>
            </a:xfrm>
            <a:prstGeom prst="rect">
              <a:avLst/>
            </a:prstGeom>
          </p:spPr>
        </p:pic>
        <p:pic>
          <p:nvPicPr>
            <p:cNvPr id="139" name="Graphique 138" descr="Scanner oculaire avec un remplissage uni">
              <a:extLst>
                <a:ext uri="{FF2B5EF4-FFF2-40B4-BE49-F238E27FC236}">
                  <a16:creationId xmlns:a16="http://schemas.microsoft.com/office/drawing/2014/main" id="{D612428C-4DD3-D719-2092-EF617712F711}"/>
                </a:ext>
              </a:extLst>
            </p:cNvPr>
            <p:cNvPicPr>
              <a:picLocks noChangeAspect="1"/>
            </p:cNvPicPr>
            <p:nvPr/>
          </p:nvPicPr>
          <p:blipFill>
            <a:blip r:embed="rId59">
              <a:extLst>
                <a:ext uri="{28A0092B-C50C-407E-A947-70E740481C1C}">
                  <a14:useLocalDpi xmlns:a14="http://schemas.microsoft.com/office/drawing/2010/main" val="0"/>
                </a:ext>
                <a:ext uri="{96DAC541-7B7A-43D3-8B79-37D633B846F1}">
                  <asvg:svgBlip xmlns:asvg="http://schemas.microsoft.com/office/drawing/2016/SVG/main" r:embed="rId60"/>
                </a:ext>
              </a:extLst>
            </a:blip>
            <a:stretch>
              <a:fillRect/>
            </a:stretch>
          </p:blipFill>
          <p:spPr>
            <a:xfrm>
              <a:off x="7726843" y="6301695"/>
              <a:ext cx="914400" cy="914400"/>
            </a:xfrm>
            <a:prstGeom prst="rect">
              <a:avLst/>
            </a:prstGeom>
          </p:spPr>
        </p:pic>
        <p:pic>
          <p:nvPicPr>
            <p:cNvPr id="140" name="Graphique 139" descr="Informations avec un remplissage uni">
              <a:extLst>
                <a:ext uri="{FF2B5EF4-FFF2-40B4-BE49-F238E27FC236}">
                  <a16:creationId xmlns:a16="http://schemas.microsoft.com/office/drawing/2014/main" id="{63643D2C-08E0-8437-6BC3-845323E2949E}"/>
                </a:ext>
              </a:extLst>
            </p:cNvPr>
            <p:cNvPicPr>
              <a:picLocks noChangeAspect="1"/>
            </p:cNvPicPr>
            <p:nvPr/>
          </p:nvPicPr>
          <p:blipFill>
            <a:blip r:embed="rId61">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6142038" y="8612328"/>
              <a:ext cx="368027" cy="368027"/>
            </a:xfrm>
            <a:prstGeom prst="rect">
              <a:avLst/>
            </a:prstGeom>
          </p:spPr>
        </p:pic>
        <p:pic>
          <p:nvPicPr>
            <p:cNvPr id="141" name="Graphique 140" descr="Informations avec un remplissage uni">
              <a:extLst>
                <a:ext uri="{FF2B5EF4-FFF2-40B4-BE49-F238E27FC236}">
                  <a16:creationId xmlns:a16="http://schemas.microsoft.com/office/drawing/2014/main" id="{494DFB95-A996-4403-040A-5800A73BC6BE}"/>
                </a:ext>
              </a:extLst>
            </p:cNvPr>
            <p:cNvPicPr>
              <a:picLocks noChangeAspect="1"/>
            </p:cNvPicPr>
            <p:nvPr/>
          </p:nvPicPr>
          <p:blipFill>
            <a:blip r:embed="rId61">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7662821" y="8599897"/>
              <a:ext cx="368027" cy="368027"/>
            </a:xfrm>
            <a:prstGeom prst="rect">
              <a:avLst/>
            </a:prstGeom>
          </p:spPr>
        </p:pic>
        <p:pic>
          <p:nvPicPr>
            <p:cNvPr id="142" name="Graphique 141" descr="Femme détective avec un remplissage uni">
              <a:extLst>
                <a:ext uri="{FF2B5EF4-FFF2-40B4-BE49-F238E27FC236}">
                  <a16:creationId xmlns:a16="http://schemas.microsoft.com/office/drawing/2014/main" id="{AC45375C-D988-F5C9-2E8C-ADAFB6B578E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5697457" y="6747244"/>
              <a:ext cx="424223" cy="424223"/>
            </a:xfrm>
            <a:prstGeom prst="rect">
              <a:avLst/>
            </a:prstGeom>
          </p:spPr>
        </p:pic>
        <p:sp>
          <p:nvSpPr>
            <p:cNvPr id="143" name="Bulle narrative : ronde 142">
              <a:extLst>
                <a:ext uri="{FF2B5EF4-FFF2-40B4-BE49-F238E27FC236}">
                  <a16:creationId xmlns:a16="http://schemas.microsoft.com/office/drawing/2014/main" id="{5183F4E7-3DF5-BBAC-CBF5-DDB98A1A6FBE}"/>
                </a:ext>
              </a:extLst>
            </p:cNvPr>
            <p:cNvSpPr/>
            <p:nvPr/>
          </p:nvSpPr>
          <p:spPr>
            <a:xfrm>
              <a:off x="6010002" y="6221070"/>
              <a:ext cx="914400" cy="417673"/>
            </a:xfrm>
            <a:prstGeom prst="wedgeEllipseCallout">
              <a:avLst>
                <a:gd name="adj1" fmla="val 28646"/>
                <a:gd name="adj2" fmla="val 70110"/>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Bulle narrative : ronde 143">
              <a:extLst>
                <a:ext uri="{FF2B5EF4-FFF2-40B4-BE49-F238E27FC236}">
                  <a16:creationId xmlns:a16="http://schemas.microsoft.com/office/drawing/2014/main" id="{4B822E29-8FDC-5C1A-9738-3E23E0E90549}"/>
                </a:ext>
              </a:extLst>
            </p:cNvPr>
            <p:cNvSpPr/>
            <p:nvPr/>
          </p:nvSpPr>
          <p:spPr>
            <a:xfrm>
              <a:off x="6039556" y="6227846"/>
              <a:ext cx="914400" cy="417673"/>
            </a:xfrm>
            <a:prstGeom prst="wedgeEllipseCallout">
              <a:avLst>
                <a:gd name="adj1" fmla="val 4688"/>
                <a:gd name="adj2" fmla="val 71250"/>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 name="Bulle narrative : ronde 144">
              <a:extLst>
                <a:ext uri="{FF2B5EF4-FFF2-40B4-BE49-F238E27FC236}">
                  <a16:creationId xmlns:a16="http://schemas.microsoft.com/office/drawing/2014/main" id="{AC0B1C55-5C17-45F3-BF6C-528286DEA0FD}"/>
                </a:ext>
              </a:extLst>
            </p:cNvPr>
            <p:cNvSpPr/>
            <p:nvPr/>
          </p:nvSpPr>
          <p:spPr>
            <a:xfrm>
              <a:off x="6095684" y="6205468"/>
              <a:ext cx="914400" cy="417673"/>
            </a:xfrm>
            <a:prstGeom prst="wedgeEllipseCallout">
              <a:avLst>
                <a:gd name="adj1" fmla="val 48438"/>
                <a:gd name="adj2" fmla="val 67829"/>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46" name="Graphique 145" descr="Femme vétérinaire avec un remplissage uni">
              <a:extLst>
                <a:ext uri="{FF2B5EF4-FFF2-40B4-BE49-F238E27FC236}">
                  <a16:creationId xmlns:a16="http://schemas.microsoft.com/office/drawing/2014/main" id="{21F9AA98-FD2B-58E7-E3A6-A31E6CD6BE05}"/>
                </a:ext>
              </a:extLst>
            </p:cNvPr>
            <p:cNvPicPr>
              <a:picLocks noChangeAspect="1"/>
            </p:cNvPicPr>
            <p:nvPr/>
          </p:nvPicPr>
          <p:blipFill>
            <a:blip r:embed="rId63">
              <a:extLst>
                <a:ext uri="{28A0092B-C50C-407E-A947-70E740481C1C}">
                  <a14:useLocalDpi xmlns:a14="http://schemas.microsoft.com/office/drawing/2010/main" val="0"/>
                </a:ext>
                <a:ext uri="{96DAC541-7B7A-43D3-8B79-37D633B846F1}">
                  <asvg:svgBlip xmlns:asvg="http://schemas.microsoft.com/office/drawing/2016/SVG/main" r:embed="rId64"/>
                </a:ext>
              </a:extLst>
            </a:blip>
            <a:stretch>
              <a:fillRect/>
            </a:stretch>
          </p:blipFill>
          <p:spPr>
            <a:xfrm>
              <a:off x="6035568" y="6712779"/>
              <a:ext cx="389192" cy="389192"/>
            </a:xfrm>
            <a:prstGeom prst="rect">
              <a:avLst/>
            </a:prstGeom>
          </p:spPr>
        </p:pic>
        <p:pic>
          <p:nvPicPr>
            <p:cNvPr id="147" name="Graphique 146" descr="Une artiste avec un remplissage uni">
              <a:extLst>
                <a:ext uri="{FF2B5EF4-FFF2-40B4-BE49-F238E27FC236}">
                  <a16:creationId xmlns:a16="http://schemas.microsoft.com/office/drawing/2014/main" id="{9509BC11-53C6-7664-6989-A7E25D0A0D19}"/>
                </a:ext>
              </a:extLst>
            </p:cNvPr>
            <p:cNvPicPr>
              <a:picLocks noChangeAspect="1"/>
            </p:cNvPicPr>
            <p:nvPr/>
          </p:nvPicPr>
          <p:blipFill>
            <a:blip r:embed="rId65">
              <a:extLst>
                <a:ext uri="{28A0092B-C50C-407E-A947-70E740481C1C}">
                  <a14:useLocalDpi xmlns:a14="http://schemas.microsoft.com/office/drawing/2010/main" val="0"/>
                </a:ext>
                <a:ext uri="{96DAC541-7B7A-43D3-8B79-37D633B846F1}">
                  <asvg:svgBlip xmlns:asvg="http://schemas.microsoft.com/office/drawing/2016/SVG/main" r:embed="rId66"/>
                </a:ext>
              </a:extLst>
            </a:blip>
            <a:stretch>
              <a:fillRect/>
            </a:stretch>
          </p:blipFill>
          <p:spPr>
            <a:xfrm>
              <a:off x="6245430" y="6646053"/>
              <a:ext cx="389192" cy="389192"/>
            </a:xfrm>
            <a:prstGeom prst="rect">
              <a:avLst/>
            </a:prstGeom>
          </p:spPr>
        </p:pic>
        <p:pic>
          <p:nvPicPr>
            <p:cNvPr id="148" name="Graphique 147" descr="Une astronaute avec un remplissage uni">
              <a:extLst>
                <a:ext uri="{FF2B5EF4-FFF2-40B4-BE49-F238E27FC236}">
                  <a16:creationId xmlns:a16="http://schemas.microsoft.com/office/drawing/2014/main" id="{2722B920-F580-58DF-6B72-B0252A792DB6}"/>
                </a:ext>
              </a:extLst>
            </p:cNvPr>
            <p:cNvPicPr>
              <a:picLocks noChangeAspect="1"/>
            </p:cNvPicPr>
            <p:nvPr/>
          </p:nvPicPr>
          <p:blipFill>
            <a:blip r:embed="rId67">
              <a:extLst>
                <a:ext uri="{28A0092B-C50C-407E-A947-70E740481C1C}">
                  <a14:useLocalDpi xmlns:a14="http://schemas.microsoft.com/office/drawing/2010/main" val="0"/>
                </a:ext>
                <a:ext uri="{96DAC541-7B7A-43D3-8B79-37D633B846F1}">
                  <asvg:svgBlip xmlns:asvg="http://schemas.microsoft.com/office/drawing/2016/SVG/main" r:embed="rId68"/>
                </a:ext>
              </a:extLst>
            </a:blip>
            <a:stretch>
              <a:fillRect/>
            </a:stretch>
          </p:blipFill>
          <p:spPr>
            <a:xfrm>
              <a:off x="6508553" y="6718539"/>
              <a:ext cx="389192" cy="389192"/>
            </a:xfrm>
            <a:prstGeom prst="rect">
              <a:avLst/>
            </a:prstGeom>
          </p:spPr>
        </p:pic>
        <p:pic>
          <p:nvPicPr>
            <p:cNvPr id="149" name="Graphique 148" descr="Programmeur avec un remplissage uni">
              <a:extLst>
                <a:ext uri="{FF2B5EF4-FFF2-40B4-BE49-F238E27FC236}">
                  <a16:creationId xmlns:a16="http://schemas.microsoft.com/office/drawing/2014/main" id="{44957AF3-9A6A-3C06-82CA-1F8D1C6ED8C9}"/>
                </a:ext>
              </a:extLst>
            </p:cNvPr>
            <p:cNvPicPr>
              <a:picLocks noChangeAspect="1"/>
            </p:cNvPicPr>
            <p:nvPr/>
          </p:nvPicPr>
          <p:blipFill>
            <a:blip r:embed="rId69">
              <a:extLst>
                <a:ext uri="{28A0092B-C50C-407E-A947-70E740481C1C}">
                  <a14:useLocalDpi xmlns:a14="http://schemas.microsoft.com/office/drawing/2010/main" val="0"/>
                </a:ext>
                <a:ext uri="{96DAC541-7B7A-43D3-8B79-37D633B846F1}">
                  <asvg:svgBlip xmlns:asvg="http://schemas.microsoft.com/office/drawing/2016/SVG/main" r:embed="rId70"/>
                </a:ext>
              </a:extLst>
            </a:blip>
            <a:stretch>
              <a:fillRect/>
            </a:stretch>
          </p:blipFill>
          <p:spPr>
            <a:xfrm>
              <a:off x="6805278" y="6743608"/>
              <a:ext cx="389192" cy="389192"/>
            </a:xfrm>
            <a:prstGeom prst="rect">
              <a:avLst/>
            </a:prstGeom>
          </p:spPr>
        </p:pic>
        <p:pic>
          <p:nvPicPr>
            <p:cNvPr id="150" name="Graphique 149" descr="Réussite du groupe avec un remplissage uni">
              <a:extLst>
                <a:ext uri="{FF2B5EF4-FFF2-40B4-BE49-F238E27FC236}">
                  <a16:creationId xmlns:a16="http://schemas.microsoft.com/office/drawing/2014/main" id="{35C45D82-8028-5727-50B5-0ACE30CCCA2E}"/>
                </a:ext>
              </a:extLst>
            </p:cNvPr>
            <p:cNvPicPr>
              <a:picLocks noChangeAspect="1"/>
            </p:cNvPicPr>
            <p:nvPr/>
          </p:nvPicPr>
          <p:blipFill rotWithShape="1">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rcRect t="13979" b="19010"/>
            <a:stretch/>
          </p:blipFill>
          <p:spPr>
            <a:xfrm>
              <a:off x="6347623" y="6301695"/>
              <a:ext cx="351472" cy="235522"/>
            </a:xfrm>
            <a:prstGeom prst="rect">
              <a:avLst/>
            </a:prstGeom>
          </p:spPr>
        </p:pic>
        <p:pic>
          <p:nvPicPr>
            <p:cNvPr id="151" name="Graphique 150" descr="Femme détective avec un remplissage uni">
              <a:extLst>
                <a:ext uri="{FF2B5EF4-FFF2-40B4-BE49-F238E27FC236}">
                  <a16:creationId xmlns:a16="http://schemas.microsoft.com/office/drawing/2014/main" id="{C0A6C903-5EC1-B0EE-41BE-83E0F3A15AF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4102262" y="6495614"/>
              <a:ext cx="452419" cy="452419"/>
            </a:xfrm>
            <a:prstGeom prst="rect">
              <a:avLst/>
            </a:prstGeom>
          </p:spPr>
        </p:pic>
        <p:pic>
          <p:nvPicPr>
            <p:cNvPr id="152" name="Graphique 151" descr="Raquette et balle de tennis avec un remplissage uni">
              <a:extLst>
                <a:ext uri="{FF2B5EF4-FFF2-40B4-BE49-F238E27FC236}">
                  <a16:creationId xmlns:a16="http://schemas.microsoft.com/office/drawing/2014/main" id="{A98B4367-A013-6171-CFC0-817C6B0382F9}"/>
                </a:ext>
              </a:extLst>
            </p:cNvPr>
            <p:cNvPicPr>
              <a:picLocks noChangeAspect="1"/>
            </p:cNvPicPr>
            <p:nvPr/>
          </p:nvPicPr>
          <p:blipFill>
            <a:blip r:embed="rId71">
              <a:extLst>
                <a:ext uri="{28A0092B-C50C-407E-A947-70E740481C1C}">
                  <a14:useLocalDpi xmlns:a14="http://schemas.microsoft.com/office/drawing/2010/main" val="0"/>
                </a:ext>
                <a:ext uri="{96DAC541-7B7A-43D3-8B79-37D633B846F1}">
                  <asvg:svgBlip xmlns:asvg="http://schemas.microsoft.com/office/drawing/2016/SVG/main" r:embed="rId72"/>
                </a:ext>
              </a:extLst>
            </a:blip>
            <a:stretch>
              <a:fillRect/>
            </a:stretch>
          </p:blipFill>
          <p:spPr>
            <a:xfrm>
              <a:off x="4344133" y="6546013"/>
              <a:ext cx="423762" cy="423762"/>
            </a:xfrm>
            <a:prstGeom prst="rect">
              <a:avLst/>
            </a:prstGeom>
          </p:spPr>
        </p:pic>
        <p:pic>
          <p:nvPicPr>
            <p:cNvPr id="153" name="Graphique 152" descr="Tennis avec un remplissage uni">
              <a:extLst>
                <a:ext uri="{FF2B5EF4-FFF2-40B4-BE49-F238E27FC236}">
                  <a16:creationId xmlns:a16="http://schemas.microsoft.com/office/drawing/2014/main" id="{7A1FAAA7-3764-7E03-242E-3461AD12E1AF}"/>
                </a:ext>
              </a:extLst>
            </p:cNvPr>
            <p:cNvPicPr>
              <a:picLocks noChangeAspect="1"/>
            </p:cNvPicPr>
            <p:nvPr/>
          </p:nvPicPr>
          <p:blipFill>
            <a:blip r:embed="rId73">
              <a:extLst>
                <a:ext uri="{28A0092B-C50C-407E-A947-70E740481C1C}">
                  <a14:useLocalDpi xmlns:a14="http://schemas.microsoft.com/office/drawing/2010/main" val="0"/>
                </a:ext>
                <a:ext uri="{96DAC541-7B7A-43D3-8B79-37D633B846F1}">
                  <asvg:svgBlip xmlns:asvg="http://schemas.microsoft.com/office/drawing/2016/SVG/main" r:embed="rId74"/>
                </a:ext>
              </a:extLst>
            </a:blip>
            <a:stretch>
              <a:fillRect/>
            </a:stretch>
          </p:blipFill>
          <p:spPr>
            <a:xfrm flipH="1">
              <a:off x="4809865" y="6485002"/>
              <a:ext cx="619027" cy="604823"/>
            </a:xfrm>
            <a:prstGeom prst="rect">
              <a:avLst/>
            </a:prstGeom>
          </p:spPr>
        </p:pic>
        <p:pic>
          <p:nvPicPr>
            <p:cNvPr id="154" name="Graphique 153" descr="Réussite du groupe avec un remplissage uni">
              <a:extLst>
                <a:ext uri="{FF2B5EF4-FFF2-40B4-BE49-F238E27FC236}">
                  <a16:creationId xmlns:a16="http://schemas.microsoft.com/office/drawing/2014/main" id="{9D18E5BB-A304-3AF3-8FA0-95A36CB8F934}"/>
                </a:ext>
              </a:extLst>
            </p:cNvPr>
            <p:cNvPicPr>
              <a:picLocks noChangeAspect="1"/>
            </p:cNvPicPr>
            <p:nvPr/>
          </p:nvPicPr>
          <p:blipFill rotWithShape="1">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rcRect t="13979" b="19010"/>
            <a:stretch/>
          </p:blipFill>
          <p:spPr>
            <a:xfrm>
              <a:off x="-408055" y="8874300"/>
              <a:ext cx="854499" cy="572602"/>
            </a:xfrm>
            <a:prstGeom prst="rect">
              <a:avLst/>
            </a:prstGeom>
          </p:spPr>
        </p:pic>
        <p:grpSp>
          <p:nvGrpSpPr>
            <p:cNvPr id="155" name="Groupe 154">
              <a:extLst>
                <a:ext uri="{FF2B5EF4-FFF2-40B4-BE49-F238E27FC236}">
                  <a16:creationId xmlns:a16="http://schemas.microsoft.com/office/drawing/2014/main" id="{DC5211F5-DB01-5B11-6938-359DD556E567}"/>
                </a:ext>
              </a:extLst>
            </p:cNvPr>
            <p:cNvGrpSpPr/>
            <p:nvPr/>
          </p:nvGrpSpPr>
          <p:grpSpPr>
            <a:xfrm>
              <a:off x="-655277" y="8783910"/>
              <a:ext cx="329850" cy="642120"/>
              <a:chOff x="2323812" y="4019924"/>
              <a:chExt cx="329850" cy="642120"/>
            </a:xfrm>
          </p:grpSpPr>
          <p:pic>
            <p:nvPicPr>
              <p:cNvPr id="156" name="Graphique 155" descr="Réussite du groupe avec un remplissage uni">
                <a:extLst>
                  <a:ext uri="{FF2B5EF4-FFF2-40B4-BE49-F238E27FC236}">
                    <a16:creationId xmlns:a16="http://schemas.microsoft.com/office/drawing/2014/main" id="{357045DF-CC22-1CC5-6F88-ADB1E40C9286}"/>
                  </a:ext>
                </a:extLst>
              </p:cNvPr>
              <p:cNvPicPr>
                <a:picLocks noChangeAspect="1"/>
              </p:cNvPicPr>
              <p:nvPr/>
            </p:nvPicPr>
            <p:blipFill rotWithShape="1">
              <a:blip r:embed="rId75">
                <a:extLst>
                  <a:ext uri="{28A0092B-C50C-407E-A947-70E740481C1C}">
                    <a14:useLocalDpi xmlns:a14="http://schemas.microsoft.com/office/drawing/2010/main" val="0"/>
                  </a:ext>
                  <a:ext uri="{96DAC541-7B7A-43D3-8B79-37D633B846F1}">
                    <asvg:svgBlip xmlns:asvg="http://schemas.microsoft.com/office/drawing/2016/SVG/main" r:embed="rId76"/>
                  </a:ext>
                </a:extLst>
              </a:blip>
              <a:srcRect l="29244" t="13685" r="49590" b="31096"/>
              <a:stretch/>
            </p:blipFill>
            <p:spPr>
              <a:xfrm>
                <a:off x="2366359" y="4019924"/>
                <a:ext cx="246134" cy="642120"/>
              </a:xfrm>
              <a:prstGeom prst="rect">
                <a:avLst/>
              </a:prstGeom>
            </p:spPr>
          </p:pic>
          <p:sp>
            <p:nvSpPr>
              <p:cNvPr id="157" name="Rectangle 156">
                <a:extLst>
                  <a:ext uri="{FF2B5EF4-FFF2-40B4-BE49-F238E27FC236}">
                    <a16:creationId xmlns:a16="http://schemas.microsoft.com/office/drawing/2014/main" id="{BB73C2C7-44CE-6EE0-473E-F98E3A24F7EE}"/>
                  </a:ext>
                </a:extLst>
              </p:cNvPr>
              <p:cNvSpPr/>
              <p:nvPr/>
            </p:nvSpPr>
            <p:spPr>
              <a:xfrm>
                <a:off x="2424323" y="4096443"/>
                <a:ext cx="128377" cy="1280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8" name="Graphique 157" descr="Femme détective avec un remplissage uni">
                <a:extLst>
                  <a:ext uri="{FF2B5EF4-FFF2-40B4-BE49-F238E27FC236}">
                    <a16:creationId xmlns:a16="http://schemas.microsoft.com/office/drawing/2014/main" id="{B173D6CD-FB4E-B3C5-494C-74E8C745666C}"/>
                  </a:ext>
                </a:extLst>
              </p:cNvPr>
              <p:cNvPicPr>
                <a:picLocks noChangeAspect="1"/>
              </p:cNvPicPr>
              <p:nvPr/>
            </p:nvPicPr>
            <p:blipFill rotWithShape="1">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rcRect t="1" b="43949"/>
              <a:stretch/>
            </p:blipFill>
            <p:spPr>
              <a:xfrm>
                <a:off x="2323812" y="4046394"/>
                <a:ext cx="329850" cy="184880"/>
              </a:xfrm>
              <a:prstGeom prst="rect">
                <a:avLst/>
              </a:prstGeom>
            </p:spPr>
          </p:pic>
        </p:grpSp>
        <p:pic>
          <p:nvPicPr>
            <p:cNvPr id="159" name="Graphique 158" descr="Femme détective avec un remplissage uni">
              <a:extLst>
                <a:ext uri="{FF2B5EF4-FFF2-40B4-BE49-F238E27FC236}">
                  <a16:creationId xmlns:a16="http://schemas.microsoft.com/office/drawing/2014/main" id="{7552727B-01BA-3E3E-7DD3-487BBF2333EC}"/>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778831" y="8783910"/>
              <a:ext cx="545430" cy="545430"/>
            </a:xfrm>
            <a:prstGeom prst="rect">
              <a:avLst/>
            </a:prstGeom>
          </p:spPr>
        </p:pic>
        <p:pic>
          <p:nvPicPr>
            <p:cNvPr id="160" name="Graphique 159" descr="Réunion avec un remplissage uni">
              <a:extLst>
                <a:ext uri="{FF2B5EF4-FFF2-40B4-BE49-F238E27FC236}">
                  <a16:creationId xmlns:a16="http://schemas.microsoft.com/office/drawing/2014/main" id="{AC380D13-069A-3652-A6D1-2F4F5335FF42}"/>
                </a:ext>
              </a:extLst>
            </p:cNvPr>
            <p:cNvPicPr>
              <a:picLocks noChangeAspect="1"/>
            </p:cNvPicPr>
            <p:nvPr/>
          </p:nvPicPr>
          <p:blipFill>
            <a:blip r:embed="rId77">
              <a:extLst>
                <a:ext uri="{28A0092B-C50C-407E-A947-70E740481C1C}">
                  <a14:useLocalDpi xmlns:a14="http://schemas.microsoft.com/office/drawing/2010/main" val="0"/>
                </a:ext>
                <a:ext uri="{96DAC541-7B7A-43D3-8B79-37D633B846F1}">
                  <asvg:svgBlip xmlns:asvg="http://schemas.microsoft.com/office/drawing/2016/SVG/main" r:embed="rId78"/>
                </a:ext>
              </a:extLst>
            </a:blip>
            <a:stretch>
              <a:fillRect/>
            </a:stretch>
          </p:blipFill>
          <p:spPr>
            <a:xfrm>
              <a:off x="1143329" y="8518401"/>
              <a:ext cx="914400" cy="914400"/>
            </a:xfrm>
            <a:prstGeom prst="rect">
              <a:avLst/>
            </a:prstGeom>
          </p:spPr>
        </p:pic>
        <p:pic>
          <p:nvPicPr>
            <p:cNvPr id="161" name="Graphique 160" descr="Employée de bureau avec un remplissage uni">
              <a:extLst>
                <a:ext uri="{FF2B5EF4-FFF2-40B4-BE49-F238E27FC236}">
                  <a16:creationId xmlns:a16="http://schemas.microsoft.com/office/drawing/2014/main" id="{9DD16CFC-9FB6-5B27-6F19-33C23473E70D}"/>
                </a:ext>
              </a:extLst>
            </p:cNvPr>
            <p:cNvPicPr>
              <a:picLocks noChangeAspect="1"/>
            </p:cNvPicPr>
            <p:nvPr/>
          </p:nvPicPr>
          <p:blipFill>
            <a:blip r:embed="rId79">
              <a:extLst>
                <a:ext uri="{28A0092B-C50C-407E-A947-70E740481C1C}">
                  <a14:useLocalDpi xmlns:a14="http://schemas.microsoft.com/office/drawing/2010/main" val="0"/>
                </a:ext>
                <a:ext uri="{96DAC541-7B7A-43D3-8B79-37D633B846F1}">
                  <asvg:svgBlip xmlns:asvg="http://schemas.microsoft.com/office/drawing/2016/SVG/main" r:embed="rId80"/>
                </a:ext>
              </a:extLst>
            </a:blip>
            <a:stretch>
              <a:fillRect/>
            </a:stretch>
          </p:blipFill>
          <p:spPr>
            <a:xfrm>
              <a:off x="1682322" y="8687088"/>
              <a:ext cx="373559" cy="373559"/>
            </a:xfrm>
            <a:prstGeom prst="rect">
              <a:avLst/>
            </a:prstGeom>
          </p:spPr>
        </p:pic>
        <p:pic>
          <p:nvPicPr>
            <p:cNvPr id="162" name="Graphique 161" descr="Employée de bureau avec un remplissage uni">
              <a:extLst>
                <a:ext uri="{FF2B5EF4-FFF2-40B4-BE49-F238E27FC236}">
                  <a16:creationId xmlns:a16="http://schemas.microsoft.com/office/drawing/2014/main" id="{1C9E41CC-6EC5-A03F-CA2C-25234D940129}"/>
                </a:ext>
              </a:extLst>
            </p:cNvPr>
            <p:cNvPicPr>
              <a:picLocks noChangeAspect="1"/>
            </p:cNvPicPr>
            <p:nvPr/>
          </p:nvPicPr>
          <p:blipFill>
            <a:blip r:embed="rId79">
              <a:extLst>
                <a:ext uri="{28A0092B-C50C-407E-A947-70E740481C1C}">
                  <a14:useLocalDpi xmlns:a14="http://schemas.microsoft.com/office/drawing/2010/main" val="0"/>
                </a:ext>
                <a:ext uri="{96DAC541-7B7A-43D3-8B79-37D633B846F1}">
                  <asvg:svgBlip xmlns:asvg="http://schemas.microsoft.com/office/drawing/2016/SVG/main" r:embed="rId80"/>
                </a:ext>
              </a:extLst>
            </a:blip>
            <a:stretch>
              <a:fillRect/>
            </a:stretch>
          </p:blipFill>
          <p:spPr>
            <a:xfrm>
              <a:off x="1415641" y="8649174"/>
              <a:ext cx="373559" cy="373559"/>
            </a:xfrm>
            <a:prstGeom prst="rect">
              <a:avLst/>
            </a:prstGeom>
          </p:spPr>
        </p:pic>
        <p:pic>
          <p:nvPicPr>
            <p:cNvPr id="163" name="Graphique 162" descr="Employée de bureau avec un remplissage uni">
              <a:extLst>
                <a:ext uri="{FF2B5EF4-FFF2-40B4-BE49-F238E27FC236}">
                  <a16:creationId xmlns:a16="http://schemas.microsoft.com/office/drawing/2014/main" id="{49A46BDD-7896-A0AC-BDB2-A40C9749F90D}"/>
                </a:ext>
              </a:extLst>
            </p:cNvPr>
            <p:cNvPicPr>
              <a:picLocks noChangeAspect="1"/>
            </p:cNvPicPr>
            <p:nvPr/>
          </p:nvPicPr>
          <p:blipFill>
            <a:blip r:embed="rId79">
              <a:extLst>
                <a:ext uri="{28A0092B-C50C-407E-A947-70E740481C1C}">
                  <a14:useLocalDpi xmlns:a14="http://schemas.microsoft.com/office/drawing/2010/main" val="0"/>
                </a:ext>
                <a:ext uri="{96DAC541-7B7A-43D3-8B79-37D633B846F1}">
                  <asvg:svgBlip xmlns:asvg="http://schemas.microsoft.com/office/drawing/2016/SVG/main" r:embed="rId80"/>
                </a:ext>
              </a:extLst>
            </a:blip>
            <a:stretch>
              <a:fillRect/>
            </a:stretch>
          </p:blipFill>
          <p:spPr>
            <a:xfrm>
              <a:off x="1149342" y="8687088"/>
              <a:ext cx="373559" cy="373559"/>
            </a:xfrm>
            <a:prstGeom prst="rect">
              <a:avLst/>
            </a:prstGeom>
          </p:spPr>
        </p:pic>
        <p:pic>
          <p:nvPicPr>
            <p:cNvPr id="164" name="Graphique 163" descr="Femme détective avec un remplissage uni">
              <a:extLst>
                <a:ext uri="{FF2B5EF4-FFF2-40B4-BE49-F238E27FC236}">
                  <a16:creationId xmlns:a16="http://schemas.microsoft.com/office/drawing/2014/main" id="{DCE5D2BE-7B01-E84A-17DC-AC186DE7E000}"/>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4323859" y="7479563"/>
              <a:ext cx="1813768" cy="1813768"/>
            </a:xfrm>
            <a:prstGeom prst="rect">
              <a:avLst/>
            </a:prstGeom>
          </p:spPr>
        </p:pic>
      </p:grpSp>
      <p:grpSp>
        <p:nvGrpSpPr>
          <p:cNvPr id="4" name="Groupe 3">
            <a:extLst>
              <a:ext uri="{FF2B5EF4-FFF2-40B4-BE49-F238E27FC236}">
                <a16:creationId xmlns:a16="http://schemas.microsoft.com/office/drawing/2014/main" id="{72853C1D-9337-07B3-D4A9-B7351D1E6273}"/>
              </a:ext>
            </a:extLst>
          </p:cNvPr>
          <p:cNvGrpSpPr/>
          <p:nvPr/>
        </p:nvGrpSpPr>
        <p:grpSpPr>
          <a:xfrm>
            <a:off x="223901" y="2297965"/>
            <a:ext cx="2855905" cy="1383437"/>
            <a:chOff x="1119677" y="4687819"/>
            <a:chExt cx="3709750" cy="1797050"/>
          </a:xfrm>
        </p:grpSpPr>
        <p:grpSp>
          <p:nvGrpSpPr>
            <p:cNvPr id="166" name="Groupe 165">
              <a:extLst>
                <a:ext uri="{FF2B5EF4-FFF2-40B4-BE49-F238E27FC236}">
                  <a16:creationId xmlns:a16="http://schemas.microsoft.com/office/drawing/2014/main" id="{547C9A6A-3C03-97F5-3112-8674C8A170BD}"/>
                </a:ext>
              </a:extLst>
            </p:cNvPr>
            <p:cNvGrpSpPr/>
            <p:nvPr/>
          </p:nvGrpSpPr>
          <p:grpSpPr>
            <a:xfrm>
              <a:off x="1907320" y="4687819"/>
              <a:ext cx="2922107" cy="1797050"/>
              <a:chOff x="3614872" y="1286874"/>
              <a:chExt cx="8465259" cy="5206001"/>
            </a:xfrm>
          </p:grpSpPr>
          <p:sp>
            <p:nvSpPr>
              <p:cNvPr id="167" name="ZoneTexte 166">
                <a:extLst>
                  <a:ext uri="{FF2B5EF4-FFF2-40B4-BE49-F238E27FC236}">
                    <a16:creationId xmlns:a16="http://schemas.microsoft.com/office/drawing/2014/main" id="{5E35E18B-7B7F-2447-94D5-1C99A0C65EAD}"/>
                  </a:ext>
                </a:extLst>
              </p:cNvPr>
              <p:cNvSpPr txBox="1"/>
              <p:nvPr/>
            </p:nvSpPr>
            <p:spPr>
              <a:xfrm>
                <a:off x="3614872" y="2319318"/>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sp>
            <p:nvSpPr>
              <p:cNvPr id="169" name="ZoneTexte 168">
                <a:extLst>
                  <a:ext uri="{FF2B5EF4-FFF2-40B4-BE49-F238E27FC236}">
                    <a16:creationId xmlns:a16="http://schemas.microsoft.com/office/drawing/2014/main" id="{4CAB2458-4CFE-AC89-9CFC-B4D2507BEE27}"/>
                  </a:ext>
                </a:extLst>
              </p:cNvPr>
              <p:cNvSpPr txBox="1"/>
              <p:nvPr/>
            </p:nvSpPr>
            <p:spPr>
              <a:xfrm>
                <a:off x="7916425" y="2319318"/>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sp>
            <p:nvSpPr>
              <p:cNvPr id="170" name="ZoneTexte 169">
                <a:extLst>
                  <a:ext uri="{FF2B5EF4-FFF2-40B4-BE49-F238E27FC236}">
                    <a16:creationId xmlns:a16="http://schemas.microsoft.com/office/drawing/2014/main" id="{EBD2409E-49C3-9CFC-E060-7492209F9B1B}"/>
                  </a:ext>
                </a:extLst>
              </p:cNvPr>
              <p:cNvSpPr txBox="1"/>
              <p:nvPr/>
            </p:nvSpPr>
            <p:spPr>
              <a:xfrm>
                <a:off x="5048723" y="2319318"/>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sp>
            <p:nvSpPr>
              <p:cNvPr id="171" name="ZoneTexte 170">
                <a:extLst>
                  <a:ext uri="{FF2B5EF4-FFF2-40B4-BE49-F238E27FC236}">
                    <a16:creationId xmlns:a16="http://schemas.microsoft.com/office/drawing/2014/main" id="{A672A1A9-1E47-8F0A-7792-DCCAF2497101}"/>
                  </a:ext>
                </a:extLst>
              </p:cNvPr>
              <p:cNvSpPr txBox="1"/>
              <p:nvPr/>
            </p:nvSpPr>
            <p:spPr>
              <a:xfrm>
                <a:off x="6482574" y="2319318"/>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sp>
            <p:nvSpPr>
              <p:cNvPr id="172" name="ZoneTexte 171">
                <a:extLst>
                  <a:ext uri="{FF2B5EF4-FFF2-40B4-BE49-F238E27FC236}">
                    <a16:creationId xmlns:a16="http://schemas.microsoft.com/office/drawing/2014/main" id="{BD70652C-E24E-3976-E701-49884F6C0A67}"/>
                  </a:ext>
                </a:extLst>
              </p:cNvPr>
              <p:cNvSpPr txBox="1"/>
              <p:nvPr/>
            </p:nvSpPr>
            <p:spPr>
              <a:xfrm>
                <a:off x="9350278" y="2319318"/>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sp>
            <p:nvSpPr>
              <p:cNvPr id="173" name="ZoneTexte 172">
                <a:extLst>
                  <a:ext uri="{FF2B5EF4-FFF2-40B4-BE49-F238E27FC236}">
                    <a16:creationId xmlns:a16="http://schemas.microsoft.com/office/drawing/2014/main" id="{C0346724-CD4B-8C29-EA1E-FD59B9A6AC85}"/>
                  </a:ext>
                </a:extLst>
              </p:cNvPr>
              <p:cNvSpPr txBox="1"/>
              <p:nvPr/>
            </p:nvSpPr>
            <p:spPr>
              <a:xfrm>
                <a:off x="9350278" y="5088220"/>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sp>
            <p:nvSpPr>
              <p:cNvPr id="174" name="ZoneTexte 173">
                <a:extLst>
                  <a:ext uri="{FF2B5EF4-FFF2-40B4-BE49-F238E27FC236}">
                    <a16:creationId xmlns:a16="http://schemas.microsoft.com/office/drawing/2014/main" id="{F0A88AAF-F660-19BE-982F-C87FE7C25C25}"/>
                  </a:ext>
                </a:extLst>
              </p:cNvPr>
              <p:cNvSpPr txBox="1"/>
              <p:nvPr/>
            </p:nvSpPr>
            <p:spPr>
              <a:xfrm>
                <a:off x="7916425" y="5088220"/>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sp>
            <p:nvSpPr>
              <p:cNvPr id="175" name="ZoneTexte 174">
                <a:extLst>
                  <a:ext uri="{FF2B5EF4-FFF2-40B4-BE49-F238E27FC236}">
                    <a16:creationId xmlns:a16="http://schemas.microsoft.com/office/drawing/2014/main" id="{217128E4-BBD7-0BE2-B711-A8E203361452}"/>
                  </a:ext>
                </a:extLst>
              </p:cNvPr>
              <p:cNvSpPr txBox="1"/>
              <p:nvPr/>
            </p:nvSpPr>
            <p:spPr>
              <a:xfrm>
                <a:off x="6482574" y="5088220"/>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sp>
            <p:nvSpPr>
              <p:cNvPr id="176" name="ZoneTexte 175">
                <a:extLst>
                  <a:ext uri="{FF2B5EF4-FFF2-40B4-BE49-F238E27FC236}">
                    <a16:creationId xmlns:a16="http://schemas.microsoft.com/office/drawing/2014/main" id="{39664C2A-1FD6-0A95-634F-BD7C97C72572}"/>
                  </a:ext>
                </a:extLst>
              </p:cNvPr>
              <p:cNvSpPr txBox="1"/>
              <p:nvPr/>
            </p:nvSpPr>
            <p:spPr>
              <a:xfrm>
                <a:off x="5048723" y="5088220"/>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sp>
            <p:nvSpPr>
              <p:cNvPr id="177" name="ZoneTexte 176">
                <a:extLst>
                  <a:ext uri="{FF2B5EF4-FFF2-40B4-BE49-F238E27FC236}">
                    <a16:creationId xmlns:a16="http://schemas.microsoft.com/office/drawing/2014/main" id="{533A3F3F-790E-36CA-A4A3-82493B574F0C}"/>
                  </a:ext>
                </a:extLst>
              </p:cNvPr>
              <p:cNvSpPr txBox="1"/>
              <p:nvPr/>
            </p:nvSpPr>
            <p:spPr>
              <a:xfrm>
                <a:off x="3614872" y="5088220"/>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sp>
            <p:nvSpPr>
              <p:cNvPr id="178" name="ZoneTexte 177">
                <a:extLst>
                  <a:ext uri="{FF2B5EF4-FFF2-40B4-BE49-F238E27FC236}">
                    <a16:creationId xmlns:a16="http://schemas.microsoft.com/office/drawing/2014/main" id="{A490FB2D-37E0-2310-F998-8CADB306A53A}"/>
                  </a:ext>
                </a:extLst>
              </p:cNvPr>
              <p:cNvSpPr txBox="1"/>
              <p:nvPr/>
            </p:nvSpPr>
            <p:spPr>
              <a:xfrm>
                <a:off x="10784131" y="2319318"/>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sp>
            <p:nvSpPr>
              <p:cNvPr id="179" name="ZoneTexte 178">
                <a:extLst>
                  <a:ext uri="{FF2B5EF4-FFF2-40B4-BE49-F238E27FC236}">
                    <a16:creationId xmlns:a16="http://schemas.microsoft.com/office/drawing/2014/main" id="{132CAEA0-1409-C54C-DA8A-5510D01A9D91}"/>
                  </a:ext>
                </a:extLst>
              </p:cNvPr>
              <p:cNvSpPr txBox="1"/>
              <p:nvPr/>
            </p:nvSpPr>
            <p:spPr>
              <a:xfrm>
                <a:off x="10784131" y="5088220"/>
                <a:ext cx="1296000" cy="1404655"/>
              </a:xfrm>
              <a:prstGeom prst="rect">
                <a:avLst/>
              </a:prstGeom>
              <a:solidFill>
                <a:schemeClr val="accent1"/>
              </a:solidFill>
            </p:spPr>
            <p:txBody>
              <a:bodyPr wrap="square">
                <a:noAutofit/>
              </a:bodyPr>
              <a:lstStyle/>
              <a:p>
                <a:pPr algn="ctr"/>
                <a:endParaRPr lang="fr-FR" sz="1200" dirty="0">
                  <a:solidFill>
                    <a:schemeClr val="bg1"/>
                  </a:solidFill>
                </a:endParaRPr>
              </a:p>
            </p:txBody>
          </p:sp>
          <p:pic>
            <p:nvPicPr>
              <p:cNvPr id="180" name="Graphique 179" descr="Visage fou avec remplissage uni avec un remplissage uni">
                <a:extLst>
                  <a:ext uri="{FF2B5EF4-FFF2-40B4-BE49-F238E27FC236}">
                    <a16:creationId xmlns:a16="http://schemas.microsoft.com/office/drawing/2014/main" id="{BEB016A4-510F-0038-B758-1A271C731179}"/>
                  </a:ext>
                </a:extLst>
              </p:cNvPr>
              <p:cNvPicPr>
                <a:picLocks noChangeAspect="1"/>
              </p:cNvPicPr>
              <p:nvPr/>
            </p:nvPicPr>
            <p:blipFill>
              <a:blip r:embed="rId81">
                <a:extLst>
                  <a:ext uri="{28A0092B-C50C-407E-A947-70E740481C1C}">
                    <a14:useLocalDpi xmlns:a14="http://schemas.microsoft.com/office/drawing/2010/main" val="0"/>
                  </a:ext>
                  <a:ext uri="{96DAC541-7B7A-43D3-8B79-37D633B846F1}">
                    <asvg:svgBlip xmlns:asvg="http://schemas.microsoft.com/office/drawing/2016/SVG/main" r:embed="rId82"/>
                  </a:ext>
                </a:extLst>
              </a:blip>
              <a:stretch>
                <a:fillRect/>
              </a:stretch>
            </p:blipFill>
            <p:spPr>
              <a:xfrm>
                <a:off x="10974931" y="4183236"/>
                <a:ext cx="914400" cy="914400"/>
              </a:xfrm>
              <a:prstGeom prst="rect">
                <a:avLst/>
              </a:prstGeom>
            </p:spPr>
          </p:pic>
          <p:pic>
            <p:nvPicPr>
              <p:cNvPr id="181" name="Graphique 180" descr="Visage grimaçant et transpirant avec remplissage uni avec un remplissage uni">
                <a:extLst>
                  <a:ext uri="{FF2B5EF4-FFF2-40B4-BE49-F238E27FC236}">
                    <a16:creationId xmlns:a16="http://schemas.microsoft.com/office/drawing/2014/main" id="{4E835786-65C3-834B-6EC0-5A579A3A6C5C}"/>
                  </a:ext>
                </a:extLst>
              </p:cNvPr>
              <p:cNvPicPr>
                <a:picLocks noChangeAspect="1"/>
              </p:cNvPicPr>
              <p:nvPr/>
            </p:nvPicPr>
            <p:blipFill>
              <a:blip r:embed="rId83">
                <a:extLst>
                  <a:ext uri="{28A0092B-C50C-407E-A947-70E740481C1C}">
                    <a14:useLocalDpi xmlns:a14="http://schemas.microsoft.com/office/drawing/2010/main" val="0"/>
                  </a:ext>
                  <a:ext uri="{96DAC541-7B7A-43D3-8B79-37D633B846F1}">
                    <asvg:svgBlip xmlns:asvg="http://schemas.microsoft.com/office/drawing/2016/SVG/main" r:embed="rId84"/>
                  </a:ext>
                </a:extLst>
              </a:blip>
              <a:stretch>
                <a:fillRect/>
              </a:stretch>
            </p:blipFill>
            <p:spPr>
              <a:xfrm>
                <a:off x="9594683" y="4190751"/>
                <a:ext cx="914400" cy="914400"/>
              </a:xfrm>
              <a:prstGeom prst="rect">
                <a:avLst/>
              </a:prstGeom>
            </p:spPr>
          </p:pic>
          <p:pic>
            <p:nvPicPr>
              <p:cNvPr id="182" name="Graphique 181" descr="Formes simples avec un remplissage uni">
                <a:extLst>
                  <a:ext uri="{FF2B5EF4-FFF2-40B4-BE49-F238E27FC236}">
                    <a16:creationId xmlns:a16="http://schemas.microsoft.com/office/drawing/2014/main" id="{F4CFE0DB-4DCA-A8B8-65C6-6B55EF31B7FA}"/>
                  </a:ext>
                </a:extLst>
              </p:cNvPr>
              <p:cNvPicPr>
                <a:picLocks noChangeAspect="1"/>
              </p:cNvPicPr>
              <p:nvPr/>
            </p:nvPicPr>
            <p:blipFill>
              <a:blip r:embed="rId85">
                <a:extLst>
                  <a:ext uri="{28A0092B-C50C-407E-A947-70E740481C1C}">
                    <a14:useLocalDpi xmlns:a14="http://schemas.microsoft.com/office/drawing/2010/main" val="0"/>
                  </a:ext>
                  <a:ext uri="{96DAC541-7B7A-43D3-8B79-37D633B846F1}">
                    <asvg:svgBlip xmlns:asvg="http://schemas.microsoft.com/office/drawing/2016/SVG/main" r:embed="rId86"/>
                  </a:ext>
                </a:extLst>
              </a:blip>
              <a:stretch>
                <a:fillRect/>
              </a:stretch>
            </p:blipFill>
            <p:spPr>
              <a:xfrm>
                <a:off x="6673374" y="4198753"/>
                <a:ext cx="914400" cy="914400"/>
              </a:xfrm>
              <a:prstGeom prst="rect">
                <a:avLst/>
              </a:prstGeom>
            </p:spPr>
          </p:pic>
          <p:pic>
            <p:nvPicPr>
              <p:cNvPr id="183" name="Graphique 182" descr="Chaussée glissante avec un remplissage uni">
                <a:extLst>
                  <a:ext uri="{FF2B5EF4-FFF2-40B4-BE49-F238E27FC236}">
                    <a16:creationId xmlns:a16="http://schemas.microsoft.com/office/drawing/2014/main" id="{74900D51-117D-0C53-4983-97CA4A4DAC72}"/>
                  </a:ext>
                </a:extLst>
              </p:cNvPr>
              <p:cNvPicPr>
                <a:picLocks noChangeAspect="1"/>
              </p:cNvPicPr>
              <p:nvPr/>
            </p:nvPicPr>
            <p:blipFill>
              <a:blip r:embed="rId87">
                <a:extLst>
                  <a:ext uri="{28A0092B-C50C-407E-A947-70E740481C1C}">
                    <a14:useLocalDpi xmlns:a14="http://schemas.microsoft.com/office/drawing/2010/main" val="0"/>
                  </a:ext>
                  <a:ext uri="{96DAC541-7B7A-43D3-8B79-37D633B846F1}">
                    <asvg:svgBlip xmlns:asvg="http://schemas.microsoft.com/office/drawing/2016/SVG/main" r:embed="rId88"/>
                  </a:ext>
                </a:extLst>
              </a:blip>
              <a:stretch>
                <a:fillRect/>
              </a:stretch>
            </p:blipFill>
            <p:spPr>
              <a:xfrm>
                <a:off x="5177782" y="4157341"/>
                <a:ext cx="914400" cy="914400"/>
              </a:xfrm>
              <a:prstGeom prst="rect">
                <a:avLst/>
              </a:prstGeom>
            </p:spPr>
          </p:pic>
          <p:pic>
            <p:nvPicPr>
              <p:cNvPr id="184" name="Graphique 183" descr="Commande vocale avec un remplissage uni">
                <a:extLst>
                  <a:ext uri="{FF2B5EF4-FFF2-40B4-BE49-F238E27FC236}">
                    <a16:creationId xmlns:a16="http://schemas.microsoft.com/office/drawing/2014/main" id="{2E85D026-382E-0386-9CE6-77B2DFE1043C}"/>
                  </a:ext>
                </a:extLst>
              </p:cNvPr>
              <p:cNvPicPr>
                <a:picLocks noChangeAspect="1"/>
              </p:cNvPicPr>
              <p:nvPr/>
            </p:nvPicPr>
            <p:blipFill>
              <a:blip r:embed="rId89">
                <a:extLst>
                  <a:ext uri="{28A0092B-C50C-407E-A947-70E740481C1C}">
                    <a14:useLocalDpi xmlns:a14="http://schemas.microsoft.com/office/drawing/2010/main" val="0"/>
                  </a:ext>
                  <a:ext uri="{96DAC541-7B7A-43D3-8B79-37D633B846F1}">
                    <asvg:svgBlip xmlns:asvg="http://schemas.microsoft.com/office/drawing/2016/SVG/main" r:embed="rId90"/>
                  </a:ext>
                </a:extLst>
              </a:blip>
              <a:stretch>
                <a:fillRect/>
              </a:stretch>
            </p:blipFill>
            <p:spPr>
              <a:xfrm>
                <a:off x="3818376" y="4198753"/>
                <a:ext cx="914400" cy="914400"/>
              </a:xfrm>
              <a:prstGeom prst="rect">
                <a:avLst/>
              </a:prstGeom>
            </p:spPr>
          </p:pic>
          <p:pic>
            <p:nvPicPr>
              <p:cNvPr id="185" name="Graphique 184" descr="Danser avec un remplissage uni">
                <a:extLst>
                  <a:ext uri="{FF2B5EF4-FFF2-40B4-BE49-F238E27FC236}">
                    <a16:creationId xmlns:a16="http://schemas.microsoft.com/office/drawing/2014/main" id="{5646AA9D-BB7C-11FD-5CA1-8654AD901CC3}"/>
                  </a:ext>
                </a:extLst>
              </p:cNvPr>
              <p:cNvPicPr>
                <a:picLocks noChangeAspect="1"/>
              </p:cNvPicPr>
              <p:nvPr/>
            </p:nvPicPr>
            <p:blipFill>
              <a:blip r:embed="rId91">
                <a:extLst>
                  <a:ext uri="{28A0092B-C50C-407E-A947-70E740481C1C}">
                    <a14:useLocalDpi xmlns:a14="http://schemas.microsoft.com/office/drawing/2010/main" val="0"/>
                  </a:ext>
                  <a:ext uri="{96DAC541-7B7A-43D3-8B79-37D633B846F1}">
                    <asvg:svgBlip xmlns:asvg="http://schemas.microsoft.com/office/drawing/2016/SVG/main" r:embed="rId92"/>
                  </a:ext>
                </a:extLst>
              </a:blip>
              <a:stretch>
                <a:fillRect/>
              </a:stretch>
            </p:blipFill>
            <p:spPr>
              <a:xfrm>
                <a:off x="10974931" y="1358018"/>
                <a:ext cx="914400" cy="914400"/>
              </a:xfrm>
              <a:prstGeom prst="rect">
                <a:avLst/>
              </a:prstGeom>
            </p:spPr>
          </p:pic>
          <p:pic>
            <p:nvPicPr>
              <p:cNvPr id="186" name="Graphique 185" descr="Poing serré avec un remplissage uni">
                <a:extLst>
                  <a:ext uri="{FF2B5EF4-FFF2-40B4-BE49-F238E27FC236}">
                    <a16:creationId xmlns:a16="http://schemas.microsoft.com/office/drawing/2014/main" id="{4B1D5F11-6BE0-4B57-4A33-006CF93267E4}"/>
                  </a:ext>
                </a:extLst>
              </p:cNvPr>
              <p:cNvPicPr>
                <a:picLocks noChangeAspect="1"/>
              </p:cNvPicPr>
              <p:nvPr/>
            </p:nvPicPr>
            <p:blipFill>
              <a:blip r:embed="rId93">
                <a:extLst>
                  <a:ext uri="{28A0092B-C50C-407E-A947-70E740481C1C}">
                    <a14:useLocalDpi xmlns:a14="http://schemas.microsoft.com/office/drawing/2010/main" val="0"/>
                  </a:ext>
                  <a:ext uri="{96DAC541-7B7A-43D3-8B79-37D633B846F1}">
                    <asvg:svgBlip xmlns:asvg="http://schemas.microsoft.com/office/drawing/2016/SVG/main" r:embed="rId94"/>
                  </a:ext>
                </a:extLst>
              </a:blip>
              <a:stretch>
                <a:fillRect/>
              </a:stretch>
            </p:blipFill>
            <p:spPr>
              <a:xfrm>
                <a:off x="9488520" y="1286874"/>
                <a:ext cx="914400" cy="914400"/>
              </a:xfrm>
              <a:prstGeom prst="rect">
                <a:avLst/>
              </a:prstGeom>
            </p:spPr>
          </p:pic>
          <p:pic>
            <p:nvPicPr>
              <p:cNvPr id="187" name="Graphique 186" descr="Commentaire cœur brisé avec un remplissage uni">
                <a:extLst>
                  <a:ext uri="{FF2B5EF4-FFF2-40B4-BE49-F238E27FC236}">
                    <a16:creationId xmlns:a16="http://schemas.microsoft.com/office/drawing/2014/main" id="{3EAE052F-F427-9A85-F36E-3C47B1473DFF}"/>
                  </a:ext>
                </a:extLst>
              </p:cNvPr>
              <p:cNvPicPr>
                <a:picLocks noChangeAspect="1"/>
              </p:cNvPicPr>
              <p:nvPr/>
            </p:nvPicPr>
            <p:blipFill>
              <a:blip r:embed="rId95">
                <a:extLst>
                  <a:ext uri="{28A0092B-C50C-407E-A947-70E740481C1C}">
                    <a14:useLocalDpi xmlns:a14="http://schemas.microsoft.com/office/drawing/2010/main" val="0"/>
                  </a:ext>
                  <a:ext uri="{96DAC541-7B7A-43D3-8B79-37D633B846F1}">
                    <asvg:svgBlip xmlns:asvg="http://schemas.microsoft.com/office/drawing/2016/SVG/main" r:embed="rId96"/>
                  </a:ext>
                </a:extLst>
              </a:blip>
              <a:stretch>
                <a:fillRect/>
              </a:stretch>
            </p:blipFill>
            <p:spPr>
              <a:xfrm>
                <a:off x="6543380" y="1557804"/>
                <a:ext cx="606425" cy="606425"/>
              </a:xfrm>
              <a:prstGeom prst="rect">
                <a:avLst/>
              </a:prstGeom>
            </p:spPr>
          </p:pic>
          <p:pic>
            <p:nvPicPr>
              <p:cNvPr id="188" name="Graphique 187" descr="Commentaire, Je n’aime pas avec un remplissage uni">
                <a:extLst>
                  <a:ext uri="{FF2B5EF4-FFF2-40B4-BE49-F238E27FC236}">
                    <a16:creationId xmlns:a16="http://schemas.microsoft.com/office/drawing/2014/main" id="{A72B5573-5086-8ECA-3DB6-8D3C3C3463C6}"/>
                  </a:ext>
                </a:extLst>
              </p:cNvPr>
              <p:cNvPicPr>
                <a:picLocks noChangeAspect="1"/>
              </p:cNvPicPr>
              <p:nvPr/>
            </p:nvPicPr>
            <p:blipFill>
              <a:blip r:embed="rId97">
                <a:extLst>
                  <a:ext uri="{28A0092B-C50C-407E-A947-70E740481C1C}">
                    <a14:useLocalDpi xmlns:a14="http://schemas.microsoft.com/office/drawing/2010/main" val="0"/>
                  </a:ext>
                  <a:ext uri="{96DAC541-7B7A-43D3-8B79-37D633B846F1}">
                    <asvg:svgBlip xmlns:asvg="http://schemas.microsoft.com/office/drawing/2016/SVG/main" r:embed="rId98"/>
                  </a:ext>
                </a:extLst>
              </a:blip>
              <a:stretch>
                <a:fillRect/>
              </a:stretch>
            </p:blipFill>
            <p:spPr>
              <a:xfrm>
                <a:off x="7065157" y="1557803"/>
                <a:ext cx="606425" cy="606425"/>
              </a:xfrm>
              <a:prstGeom prst="rect">
                <a:avLst/>
              </a:prstGeom>
            </p:spPr>
          </p:pic>
          <p:pic>
            <p:nvPicPr>
              <p:cNvPr id="189" name="Graphique 188" descr="Batterie plate avec un remplissage uni">
                <a:extLst>
                  <a:ext uri="{FF2B5EF4-FFF2-40B4-BE49-F238E27FC236}">
                    <a16:creationId xmlns:a16="http://schemas.microsoft.com/office/drawing/2014/main" id="{A7E5193A-4F46-10E8-1958-C043BF121BB8}"/>
                  </a:ext>
                </a:extLst>
              </p:cNvPr>
              <p:cNvPicPr>
                <a:picLocks noChangeAspect="1"/>
              </p:cNvPicPr>
              <p:nvPr/>
            </p:nvPicPr>
            <p:blipFill>
              <a:blip r:embed="rId99">
                <a:extLst>
                  <a:ext uri="{28A0092B-C50C-407E-A947-70E740481C1C}">
                    <a14:useLocalDpi xmlns:a14="http://schemas.microsoft.com/office/drawing/2010/main" val="0"/>
                  </a:ext>
                  <a:ext uri="{96DAC541-7B7A-43D3-8B79-37D633B846F1}">
                    <asvg:svgBlip xmlns:asvg="http://schemas.microsoft.com/office/drawing/2016/SVG/main" r:embed="rId100"/>
                  </a:ext>
                </a:extLst>
              </a:blip>
              <a:stretch>
                <a:fillRect/>
              </a:stretch>
            </p:blipFill>
            <p:spPr>
              <a:xfrm>
                <a:off x="8147968" y="1357812"/>
                <a:ext cx="914400" cy="914400"/>
              </a:xfrm>
              <a:prstGeom prst="rect">
                <a:avLst/>
              </a:prstGeom>
            </p:spPr>
          </p:pic>
          <p:pic>
            <p:nvPicPr>
              <p:cNvPr id="190" name="Graphique 189" descr="Calendrier journalier avec un remplissage uni">
                <a:extLst>
                  <a:ext uri="{FF2B5EF4-FFF2-40B4-BE49-F238E27FC236}">
                    <a16:creationId xmlns:a16="http://schemas.microsoft.com/office/drawing/2014/main" id="{6E531367-7B52-2100-3EEF-8670E0F3B860}"/>
                  </a:ext>
                </a:extLst>
              </p:cNvPr>
              <p:cNvPicPr>
                <a:picLocks noChangeAspect="1"/>
              </p:cNvPicPr>
              <p:nvPr/>
            </p:nvPicPr>
            <p:blipFill>
              <a:blip r:embed="rId101">
                <a:extLst>
                  <a:ext uri="{28A0092B-C50C-407E-A947-70E740481C1C}">
                    <a14:useLocalDpi xmlns:a14="http://schemas.microsoft.com/office/drawing/2010/main" val="0"/>
                  </a:ext>
                  <a:ext uri="{96DAC541-7B7A-43D3-8B79-37D633B846F1}">
                    <asvg:svgBlip xmlns:asvg="http://schemas.microsoft.com/office/drawing/2016/SVG/main" r:embed="rId102"/>
                  </a:ext>
                </a:extLst>
              </a:blip>
              <a:stretch>
                <a:fillRect/>
              </a:stretch>
            </p:blipFill>
            <p:spPr>
              <a:xfrm>
                <a:off x="5192458" y="1331315"/>
                <a:ext cx="914400" cy="914400"/>
              </a:xfrm>
              <a:prstGeom prst="rect">
                <a:avLst/>
              </a:prstGeom>
            </p:spPr>
          </p:pic>
          <p:pic>
            <p:nvPicPr>
              <p:cNvPr id="191" name="Graphique 190" descr="Bulle de discussion avec un remplissage uni">
                <a:extLst>
                  <a:ext uri="{FF2B5EF4-FFF2-40B4-BE49-F238E27FC236}">
                    <a16:creationId xmlns:a16="http://schemas.microsoft.com/office/drawing/2014/main" id="{35FA362E-1E5F-B25A-6C61-FA6CCC9C1C44}"/>
                  </a:ext>
                </a:extLst>
              </p:cNvPr>
              <p:cNvPicPr>
                <a:picLocks noChangeAspect="1"/>
              </p:cNvPicPr>
              <p:nvPr/>
            </p:nvPicPr>
            <p:blipFill>
              <a:blip r:embed="rId103">
                <a:extLst>
                  <a:ext uri="{28A0092B-C50C-407E-A947-70E740481C1C}">
                    <a14:useLocalDpi xmlns:a14="http://schemas.microsoft.com/office/drawing/2010/main" val="0"/>
                  </a:ext>
                  <a:ext uri="{96DAC541-7B7A-43D3-8B79-37D633B846F1}">
                    <asvg:svgBlip xmlns:asvg="http://schemas.microsoft.com/office/drawing/2016/SVG/main" r:embed="rId104"/>
                  </a:ext>
                </a:extLst>
              </a:blip>
              <a:stretch>
                <a:fillRect/>
              </a:stretch>
            </p:blipFill>
            <p:spPr>
              <a:xfrm>
                <a:off x="3841536" y="1357812"/>
                <a:ext cx="914400" cy="914400"/>
              </a:xfrm>
              <a:prstGeom prst="rect">
                <a:avLst/>
              </a:prstGeom>
            </p:spPr>
          </p:pic>
          <p:pic>
            <p:nvPicPr>
              <p:cNvPr id="192" name="Graphique 191" descr="Hashtag avec un remplissage uni">
                <a:extLst>
                  <a:ext uri="{FF2B5EF4-FFF2-40B4-BE49-F238E27FC236}">
                    <a16:creationId xmlns:a16="http://schemas.microsoft.com/office/drawing/2014/main" id="{FB4E4B91-6A8A-40FD-00F7-C2DFA7750A01}"/>
                  </a:ext>
                </a:extLst>
              </p:cNvPr>
              <p:cNvPicPr>
                <a:picLocks noChangeAspect="1"/>
              </p:cNvPicPr>
              <p:nvPr/>
            </p:nvPicPr>
            <p:blipFill>
              <a:blip r:embed="rId105">
                <a:extLst>
                  <a:ext uri="{28A0092B-C50C-407E-A947-70E740481C1C}">
                    <a14:useLocalDpi xmlns:a14="http://schemas.microsoft.com/office/drawing/2010/main" val="0"/>
                  </a:ext>
                  <a:ext uri="{96DAC541-7B7A-43D3-8B79-37D633B846F1}">
                    <asvg:svgBlip xmlns:asvg="http://schemas.microsoft.com/office/drawing/2016/SVG/main" r:embed="rId106"/>
                  </a:ext>
                </a:extLst>
              </a:blip>
              <a:stretch>
                <a:fillRect/>
              </a:stretch>
            </p:blipFill>
            <p:spPr>
              <a:xfrm>
                <a:off x="8127683" y="4157341"/>
                <a:ext cx="914400" cy="914400"/>
              </a:xfrm>
              <a:prstGeom prst="rect">
                <a:avLst/>
              </a:prstGeom>
            </p:spPr>
          </p:pic>
          <p:pic>
            <p:nvPicPr>
              <p:cNvPr id="193" name="Graphique 192" descr="Fermer avec un remplissage uni">
                <a:extLst>
                  <a:ext uri="{FF2B5EF4-FFF2-40B4-BE49-F238E27FC236}">
                    <a16:creationId xmlns:a16="http://schemas.microsoft.com/office/drawing/2014/main" id="{EC404A71-1278-8531-7B6A-4DB60E10C2E5}"/>
                  </a:ext>
                </a:extLst>
              </p:cNvPr>
              <p:cNvPicPr>
                <a:picLocks noChangeAspect="1"/>
              </p:cNvPicPr>
              <p:nvPr/>
            </p:nvPicPr>
            <p:blipFill>
              <a:blip r:embed="rId107">
                <a:extLst>
                  <a:ext uri="{28A0092B-C50C-407E-A947-70E740481C1C}">
                    <a14:useLocalDpi xmlns:a14="http://schemas.microsoft.com/office/drawing/2010/main" val="0"/>
                  </a:ext>
                  <a:ext uri="{96DAC541-7B7A-43D3-8B79-37D633B846F1}">
                    <asvg:svgBlip xmlns:asvg="http://schemas.microsoft.com/office/drawing/2016/SVG/main" r:embed="rId108"/>
                  </a:ext>
                </a:extLst>
              </a:blip>
              <a:stretch>
                <a:fillRect/>
              </a:stretch>
            </p:blipFill>
            <p:spPr>
              <a:xfrm>
                <a:off x="5370426" y="1708616"/>
                <a:ext cx="177334" cy="177334"/>
              </a:xfrm>
              <a:prstGeom prst="rect">
                <a:avLst/>
              </a:prstGeom>
            </p:spPr>
          </p:pic>
          <p:pic>
            <p:nvPicPr>
              <p:cNvPr id="194" name="Graphique 193" descr="Fermer avec un remplissage uni">
                <a:extLst>
                  <a:ext uri="{FF2B5EF4-FFF2-40B4-BE49-F238E27FC236}">
                    <a16:creationId xmlns:a16="http://schemas.microsoft.com/office/drawing/2014/main" id="{7B18F87B-E349-3B75-ED9B-1C878BAA0F1D}"/>
                  </a:ext>
                </a:extLst>
              </p:cNvPr>
              <p:cNvPicPr>
                <a:picLocks noChangeAspect="1"/>
              </p:cNvPicPr>
              <p:nvPr/>
            </p:nvPicPr>
            <p:blipFill>
              <a:blip r:embed="rId107">
                <a:extLst>
                  <a:ext uri="{28A0092B-C50C-407E-A947-70E740481C1C}">
                    <a14:useLocalDpi xmlns:a14="http://schemas.microsoft.com/office/drawing/2010/main" val="0"/>
                  </a:ext>
                  <a:ext uri="{96DAC541-7B7A-43D3-8B79-37D633B846F1}">
                    <asvg:svgBlip xmlns:asvg="http://schemas.microsoft.com/office/drawing/2016/SVG/main" r:embed="rId108"/>
                  </a:ext>
                </a:extLst>
              </a:blip>
              <a:stretch>
                <a:fillRect/>
              </a:stretch>
            </p:blipFill>
            <p:spPr>
              <a:xfrm>
                <a:off x="5557706" y="1708616"/>
                <a:ext cx="177334" cy="177334"/>
              </a:xfrm>
              <a:prstGeom prst="rect">
                <a:avLst/>
              </a:prstGeom>
            </p:spPr>
          </p:pic>
          <p:pic>
            <p:nvPicPr>
              <p:cNvPr id="195" name="Graphique 194" descr="Fermer avec un remplissage uni">
                <a:extLst>
                  <a:ext uri="{FF2B5EF4-FFF2-40B4-BE49-F238E27FC236}">
                    <a16:creationId xmlns:a16="http://schemas.microsoft.com/office/drawing/2014/main" id="{0F597507-E30F-D887-9245-3EDB2D849CEF}"/>
                  </a:ext>
                </a:extLst>
              </p:cNvPr>
              <p:cNvPicPr>
                <a:picLocks noChangeAspect="1"/>
              </p:cNvPicPr>
              <p:nvPr/>
            </p:nvPicPr>
            <p:blipFill>
              <a:blip r:embed="rId107">
                <a:extLst>
                  <a:ext uri="{28A0092B-C50C-407E-A947-70E740481C1C}">
                    <a14:useLocalDpi xmlns:a14="http://schemas.microsoft.com/office/drawing/2010/main" val="0"/>
                  </a:ext>
                  <a:ext uri="{96DAC541-7B7A-43D3-8B79-37D633B846F1}">
                    <asvg:svgBlip xmlns:asvg="http://schemas.microsoft.com/office/drawing/2016/SVG/main" r:embed="rId108"/>
                  </a:ext>
                </a:extLst>
              </a:blip>
              <a:stretch>
                <a:fillRect/>
              </a:stretch>
            </p:blipFill>
            <p:spPr>
              <a:xfrm>
                <a:off x="5747065" y="1708616"/>
                <a:ext cx="177334" cy="177334"/>
              </a:xfrm>
              <a:prstGeom prst="rect">
                <a:avLst/>
              </a:prstGeom>
            </p:spPr>
          </p:pic>
          <p:pic>
            <p:nvPicPr>
              <p:cNvPr id="196" name="Graphique 195" descr="Fermer avec un remplissage uni">
                <a:extLst>
                  <a:ext uri="{FF2B5EF4-FFF2-40B4-BE49-F238E27FC236}">
                    <a16:creationId xmlns:a16="http://schemas.microsoft.com/office/drawing/2014/main" id="{85E917CD-4EC9-A22A-D46B-EF54E0640169}"/>
                  </a:ext>
                </a:extLst>
              </p:cNvPr>
              <p:cNvPicPr>
                <a:picLocks noChangeAspect="1"/>
              </p:cNvPicPr>
              <p:nvPr/>
            </p:nvPicPr>
            <p:blipFill>
              <a:blip r:embed="rId107">
                <a:extLst>
                  <a:ext uri="{28A0092B-C50C-407E-A947-70E740481C1C}">
                    <a14:useLocalDpi xmlns:a14="http://schemas.microsoft.com/office/drawing/2010/main" val="0"/>
                  </a:ext>
                  <a:ext uri="{96DAC541-7B7A-43D3-8B79-37D633B846F1}">
                    <asvg:svgBlip xmlns:asvg="http://schemas.microsoft.com/office/drawing/2016/SVG/main" r:embed="rId108"/>
                  </a:ext>
                </a:extLst>
              </a:blip>
              <a:stretch>
                <a:fillRect/>
              </a:stretch>
            </p:blipFill>
            <p:spPr>
              <a:xfrm>
                <a:off x="5387272" y="1829822"/>
                <a:ext cx="177334" cy="177334"/>
              </a:xfrm>
              <a:prstGeom prst="rect">
                <a:avLst/>
              </a:prstGeom>
            </p:spPr>
          </p:pic>
          <p:pic>
            <p:nvPicPr>
              <p:cNvPr id="197" name="Graphique 196" descr="Fermer avec un remplissage uni">
                <a:extLst>
                  <a:ext uri="{FF2B5EF4-FFF2-40B4-BE49-F238E27FC236}">
                    <a16:creationId xmlns:a16="http://schemas.microsoft.com/office/drawing/2014/main" id="{F76FD77E-82EE-7D32-B256-B7F10EC43B72}"/>
                  </a:ext>
                </a:extLst>
              </p:cNvPr>
              <p:cNvPicPr>
                <a:picLocks noChangeAspect="1"/>
              </p:cNvPicPr>
              <p:nvPr/>
            </p:nvPicPr>
            <p:blipFill>
              <a:blip r:embed="rId107">
                <a:extLst>
                  <a:ext uri="{28A0092B-C50C-407E-A947-70E740481C1C}">
                    <a14:useLocalDpi xmlns:a14="http://schemas.microsoft.com/office/drawing/2010/main" val="0"/>
                  </a:ext>
                  <a:ext uri="{96DAC541-7B7A-43D3-8B79-37D633B846F1}">
                    <asvg:svgBlip xmlns:asvg="http://schemas.microsoft.com/office/drawing/2016/SVG/main" r:embed="rId108"/>
                  </a:ext>
                </a:extLst>
              </a:blip>
              <a:stretch>
                <a:fillRect/>
              </a:stretch>
            </p:blipFill>
            <p:spPr>
              <a:xfrm>
                <a:off x="5550806" y="1829822"/>
                <a:ext cx="177334" cy="177334"/>
              </a:xfrm>
              <a:prstGeom prst="rect">
                <a:avLst/>
              </a:prstGeom>
            </p:spPr>
          </p:pic>
          <p:pic>
            <p:nvPicPr>
              <p:cNvPr id="198" name="Graphique 197" descr="Fermer avec un remplissage uni">
                <a:extLst>
                  <a:ext uri="{FF2B5EF4-FFF2-40B4-BE49-F238E27FC236}">
                    <a16:creationId xmlns:a16="http://schemas.microsoft.com/office/drawing/2014/main" id="{9041A272-97D7-9F45-4B08-CDF56E977B52}"/>
                  </a:ext>
                </a:extLst>
              </p:cNvPr>
              <p:cNvPicPr>
                <a:picLocks noChangeAspect="1"/>
              </p:cNvPicPr>
              <p:nvPr/>
            </p:nvPicPr>
            <p:blipFill>
              <a:blip r:embed="rId107">
                <a:extLst>
                  <a:ext uri="{28A0092B-C50C-407E-A947-70E740481C1C}">
                    <a14:useLocalDpi xmlns:a14="http://schemas.microsoft.com/office/drawing/2010/main" val="0"/>
                  </a:ext>
                  <a:ext uri="{96DAC541-7B7A-43D3-8B79-37D633B846F1}">
                    <asvg:svgBlip xmlns:asvg="http://schemas.microsoft.com/office/drawing/2016/SVG/main" r:embed="rId108"/>
                  </a:ext>
                </a:extLst>
              </a:blip>
              <a:stretch>
                <a:fillRect/>
              </a:stretch>
            </p:blipFill>
            <p:spPr>
              <a:xfrm>
                <a:off x="5748009" y="1925300"/>
                <a:ext cx="177334" cy="177334"/>
              </a:xfrm>
              <a:prstGeom prst="rect">
                <a:avLst/>
              </a:prstGeom>
            </p:spPr>
          </p:pic>
        </p:grpSp>
        <p:pic>
          <p:nvPicPr>
            <p:cNvPr id="199" name="Graphique 198" descr="Femme détective avec un remplissage uni">
              <a:extLst>
                <a:ext uri="{FF2B5EF4-FFF2-40B4-BE49-F238E27FC236}">
                  <a16:creationId xmlns:a16="http://schemas.microsoft.com/office/drawing/2014/main" id="{7DE58411-3E8D-B775-0998-A9564F7E57CC}"/>
                </a:ext>
              </a:extLst>
            </p:cNvPr>
            <p:cNvPicPr>
              <a:picLocks noChangeAspect="1"/>
            </p:cNvPicPr>
            <p:nvPr/>
          </p:nvPicPr>
          <p:blipFill rotWithShape="1">
            <a:blip r:embed="rId14">
              <a:extLst>
                <a:ext uri="{28A0092B-C50C-407E-A947-70E740481C1C}">
                  <a14:useLocalDpi xmlns:a14="http://schemas.microsoft.com/office/drawing/2010/main" val="0"/>
                </a:ext>
                <a:ext uri="{96DAC541-7B7A-43D3-8B79-37D633B846F1}">
                  <asvg:svgBlip xmlns:asvg="http://schemas.microsoft.com/office/drawing/2016/SVG/main" r:embed="rId30"/>
                </a:ext>
              </a:extLst>
            </a:blip>
            <a:srcRect l="10076"/>
            <a:stretch/>
          </p:blipFill>
          <p:spPr>
            <a:xfrm>
              <a:off x="1119677" y="5218592"/>
              <a:ext cx="694458" cy="772272"/>
            </a:xfrm>
            <a:prstGeom prst="rect">
              <a:avLst/>
            </a:prstGeom>
          </p:spPr>
        </p:pic>
      </p:grpSp>
      <p:sp>
        <p:nvSpPr>
          <p:cNvPr id="2" name="ZoneTexte 1">
            <a:extLst>
              <a:ext uri="{FF2B5EF4-FFF2-40B4-BE49-F238E27FC236}">
                <a16:creationId xmlns:a16="http://schemas.microsoft.com/office/drawing/2014/main" id="{511213E5-12E8-3FE6-0B32-C71E0E05EB8D}"/>
              </a:ext>
            </a:extLst>
          </p:cNvPr>
          <p:cNvSpPr txBox="1"/>
          <p:nvPr/>
        </p:nvSpPr>
        <p:spPr>
          <a:xfrm>
            <a:off x="1096188" y="4215479"/>
            <a:ext cx="2704287" cy="2031325"/>
          </a:xfrm>
          <a:prstGeom prst="rect">
            <a:avLst/>
          </a:prstGeom>
          <a:noFill/>
        </p:spPr>
        <p:txBody>
          <a:bodyPr wrap="square">
            <a:spAutoFit/>
          </a:bodyPr>
          <a:lstStyle/>
          <a:p>
            <a:r>
              <a:rPr lang="fr-FR" dirty="0"/>
              <a:t>Le renseignement par interception consiste à </a:t>
            </a:r>
            <a:r>
              <a:rPr lang="fr-FR" b="1" dirty="0">
                <a:solidFill>
                  <a:srgbClr val="ED7D31"/>
                </a:solidFill>
              </a:rPr>
              <a:t>capter</a:t>
            </a:r>
            <a:r>
              <a:rPr lang="fr-FR" dirty="0"/>
              <a:t> </a:t>
            </a:r>
            <a:r>
              <a:rPr lang="fr-FR" b="1" dirty="0">
                <a:solidFill>
                  <a:srgbClr val="ED7D31"/>
                </a:solidFill>
              </a:rPr>
              <a:t>différents signaux </a:t>
            </a:r>
            <a:r>
              <a:rPr lang="fr-FR" dirty="0"/>
              <a:t>(humeurs, réticences, non-dits, …) dont la </a:t>
            </a:r>
            <a:r>
              <a:rPr lang="fr-FR" b="1" dirty="0">
                <a:solidFill>
                  <a:srgbClr val="3494BA"/>
                </a:solidFill>
              </a:rPr>
              <a:t>mesure explicite est plus difficile à organiser</a:t>
            </a:r>
            <a:r>
              <a:rPr lang="fr-FR" dirty="0"/>
              <a:t>.</a:t>
            </a:r>
          </a:p>
        </p:txBody>
      </p:sp>
      <p:sp>
        <p:nvSpPr>
          <p:cNvPr id="5" name="ZoneTexte 4">
            <a:extLst>
              <a:ext uri="{FF2B5EF4-FFF2-40B4-BE49-F238E27FC236}">
                <a16:creationId xmlns:a16="http://schemas.microsoft.com/office/drawing/2014/main" id="{E7A036F5-8F03-E9E5-81D1-9B8BCFE210DB}"/>
              </a:ext>
            </a:extLst>
          </p:cNvPr>
          <p:cNvSpPr txBox="1"/>
          <p:nvPr/>
        </p:nvSpPr>
        <p:spPr>
          <a:xfrm>
            <a:off x="5095120" y="4215479"/>
            <a:ext cx="2810630" cy="1754326"/>
          </a:xfrm>
          <a:prstGeom prst="rect">
            <a:avLst/>
          </a:prstGeom>
          <a:noFill/>
        </p:spPr>
        <p:txBody>
          <a:bodyPr wrap="square">
            <a:spAutoFit/>
          </a:bodyPr>
          <a:lstStyle/>
          <a:p>
            <a:r>
              <a:rPr lang="fr-FR" dirty="0"/>
              <a:t>Il existe différents moyens pour développer le renseignement par interception, il peut être intéressant d’aller au-delà de ses moyens habituels.</a:t>
            </a:r>
          </a:p>
        </p:txBody>
      </p:sp>
      <p:sp>
        <p:nvSpPr>
          <p:cNvPr id="6" name="ZoneTexte 5">
            <a:extLst>
              <a:ext uri="{FF2B5EF4-FFF2-40B4-BE49-F238E27FC236}">
                <a16:creationId xmlns:a16="http://schemas.microsoft.com/office/drawing/2014/main" id="{24ED05B7-24B9-9EF8-2696-6F2F88C18459}"/>
              </a:ext>
            </a:extLst>
          </p:cNvPr>
          <p:cNvSpPr txBox="1"/>
          <p:nvPr/>
        </p:nvSpPr>
        <p:spPr>
          <a:xfrm>
            <a:off x="9120693" y="4215479"/>
            <a:ext cx="2604582" cy="2031325"/>
          </a:xfrm>
          <a:prstGeom prst="rect">
            <a:avLst/>
          </a:prstGeom>
          <a:noFill/>
        </p:spPr>
        <p:txBody>
          <a:bodyPr wrap="square">
            <a:spAutoFit/>
          </a:bodyPr>
          <a:lstStyle/>
          <a:p>
            <a:r>
              <a:rPr lang="fr-FR" dirty="0"/>
              <a:t>Le renseignement par interception peut être amélioré en développant un </a:t>
            </a:r>
            <a:r>
              <a:rPr lang="fr-FR" b="1" dirty="0">
                <a:solidFill>
                  <a:srgbClr val="3494BA"/>
                </a:solidFill>
              </a:rPr>
              <a:t>réseau de renseignement </a:t>
            </a:r>
            <a:r>
              <a:rPr lang="fr-FR" dirty="0"/>
              <a:t>à l’intérieur et autour de la Communauté.</a:t>
            </a:r>
          </a:p>
        </p:txBody>
      </p:sp>
      <p:sp>
        <p:nvSpPr>
          <p:cNvPr id="7" name="Organigramme : Connecteur 6">
            <a:extLst>
              <a:ext uri="{FF2B5EF4-FFF2-40B4-BE49-F238E27FC236}">
                <a16:creationId xmlns:a16="http://schemas.microsoft.com/office/drawing/2014/main" id="{AF2FFAE1-2FAB-E2C5-DAB4-7B60386CF6D0}"/>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37</a:t>
            </a:r>
          </a:p>
        </p:txBody>
      </p:sp>
      <p:sp>
        <p:nvSpPr>
          <p:cNvPr id="8" name="Organigramme : Connecteur 7">
            <a:extLst>
              <a:ext uri="{FF2B5EF4-FFF2-40B4-BE49-F238E27FC236}">
                <a16:creationId xmlns:a16="http://schemas.microsoft.com/office/drawing/2014/main" id="{2582DF4F-6368-78A9-9DFF-1091741B7A62}"/>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38</a:t>
            </a:r>
          </a:p>
        </p:txBody>
      </p:sp>
      <p:sp>
        <p:nvSpPr>
          <p:cNvPr id="9" name="Organigramme : Connecteur 8">
            <a:extLst>
              <a:ext uri="{FF2B5EF4-FFF2-40B4-BE49-F238E27FC236}">
                <a16:creationId xmlns:a16="http://schemas.microsoft.com/office/drawing/2014/main" id="{C2DAF96F-4517-AE21-A3C6-2974D76AB3FF}"/>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39</a:t>
            </a:r>
          </a:p>
        </p:txBody>
      </p:sp>
    </p:spTree>
    <p:extLst>
      <p:ext uri="{BB962C8B-B14F-4D97-AF65-F5344CB8AC3E}">
        <p14:creationId xmlns:p14="http://schemas.microsoft.com/office/powerpoint/2010/main" val="2481436165"/>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Titre 1">
            <a:extLst>
              <a:ext uri="{FF2B5EF4-FFF2-40B4-BE49-F238E27FC236}">
                <a16:creationId xmlns:a16="http://schemas.microsoft.com/office/drawing/2014/main" id="{E1AF4623-852E-CEA8-8138-94B34C366FD1}"/>
              </a:ext>
            </a:extLst>
          </p:cNvPr>
          <p:cNvSpPr>
            <a:spLocks noGrp="1"/>
          </p:cNvSpPr>
          <p:nvPr>
            <p:ph type="title"/>
          </p:nvPr>
        </p:nvSpPr>
        <p:spPr>
          <a:xfrm>
            <a:off x="838200" y="365125"/>
            <a:ext cx="10515600" cy="1325563"/>
          </a:xfrm>
        </p:spPr>
        <p:txBody>
          <a:bodyPr/>
          <a:lstStyle/>
          <a:p>
            <a:r>
              <a:rPr lang="fr-FR" dirty="0"/>
              <a:t>Résumé, une phrase par image</a:t>
            </a:r>
          </a:p>
        </p:txBody>
      </p:sp>
      <p:grpSp>
        <p:nvGrpSpPr>
          <p:cNvPr id="2" name="Groupe 1">
            <a:extLst>
              <a:ext uri="{FF2B5EF4-FFF2-40B4-BE49-F238E27FC236}">
                <a16:creationId xmlns:a16="http://schemas.microsoft.com/office/drawing/2014/main" id="{8DA58523-513D-59CF-3467-7F25EECFD42C}"/>
              </a:ext>
            </a:extLst>
          </p:cNvPr>
          <p:cNvGrpSpPr/>
          <p:nvPr/>
        </p:nvGrpSpPr>
        <p:grpSpPr>
          <a:xfrm>
            <a:off x="7863436" y="2063289"/>
            <a:ext cx="4255464" cy="1962150"/>
            <a:chOff x="581647" y="1016272"/>
            <a:chExt cx="11322210" cy="5220553"/>
          </a:xfrm>
        </p:grpSpPr>
        <p:cxnSp>
          <p:nvCxnSpPr>
            <p:cNvPr id="223" name="Connecteur droit avec flèche 222">
              <a:extLst>
                <a:ext uri="{FF2B5EF4-FFF2-40B4-BE49-F238E27FC236}">
                  <a16:creationId xmlns:a16="http://schemas.microsoft.com/office/drawing/2014/main" id="{D28C5B20-4483-277F-045A-5961610ED5B0}"/>
                </a:ext>
              </a:extLst>
            </p:cNvPr>
            <p:cNvCxnSpPr>
              <a:cxnSpLocks/>
            </p:cNvCxnSpPr>
            <p:nvPr/>
          </p:nvCxnSpPr>
          <p:spPr>
            <a:xfrm flipV="1">
              <a:off x="1054100" y="1981200"/>
              <a:ext cx="0" cy="4255625"/>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4" name="Connecteur droit avec flèche 223">
              <a:extLst>
                <a:ext uri="{FF2B5EF4-FFF2-40B4-BE49-F238E27FC236}">
                  <a16:creationId xmlns:a16="http://schemas.microsoft.com/office/drawing/2014/main" id="{72BA549A-F528-9C58-A851-27E26D2BE2CC}"/>
                </a:ext>
              </a:extLst>
            </p:cNvPr>
            <p:cNvCxnSpPr>
              <a:cxnSpLocks/>
            </p:cNvCxnSpPr>
            <p:nvPr/>
          </p:nvCxnSpPr>
          <p:spPr>
            <a:xfrm>
              <a:off x="723900" y="5816600"/>
              <a:ext cx="10191750" cy="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25" name="Graphique 224" descr="Femme scientifique avec un remplissage uni">
              <a:extLst>
                <a:ext uri="{FF2B5EF4-FFF2-40B4-BE49-F238E27FC236}">
                  <a16:creationId xmlns:a16="http://schemas.microsoft.com/office/drawing/2014/main" id="{C2144093-3961-17F8-836E-6E8FAC6B416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581647" y="1016272"/>
              <a:ext cx="944906" cy="944906"/>
            </a:xfrm>
            <a:prstGeom prst="rect">
              <a:avLst/>
            </a:prstGeom>
          </p:spPr>
        </p:pic>
        <p:pic>
          <p:nvPicPr>
            <p:cNvPr id="226" name="Graphique 225" descr="Femme détective avec un remplissage uni">
              <a:extLst>
                <a:ext uri="{FF2B5EF4-FFF2-40B4-BE49-F238E27FC236}">
                  <a16:creationId xmlns:a16="http://schemas.microsoft.com/office/drawing/2014/main" id="{EF770DA7-E71C-75B7-FEE6-143251111668}"/>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10076"/>
            <a:stretch/>
          </p:blipFill>
          <p:spPr>
            <a:xfrm>
              <a:off x="11032342" y="5267656"/>
              <a:ext cx="871515" cy="969169"/>
            </a:xfrm>
            <a:prstGeom prst="rect">
              <a:avLst/>
            </a:prstGeom>
          </p:spPr>
        </p:pic>
        <p:sp>
          <p:nvSpPr>
            <p:cNvPr id="280" name="Rectangle 279">
              <a:extLst>
                <a:ext uri="{FF2B5EF4-FFF2-40B4-BE49-F238E27FC236}">
                  <a16:creationId xmlns:a16="http://schemas.microsoft.com/office/drawing/2014/main" id="{06C013A9-346A-24A8-611F-3D31E7380D10}"/>
                </a:ext>
              </a:extLst>
            </p:cNvPr>
            <p:cNvSpPr/>
            <p:nvPr/>
          </p:nvSpPr>
          <p:spPr>
            <a:xfrm>
              <a:off x="1141502" y="4656347"/>
              <a:ext cx="1577083" cy="1091441"/>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281" name="Rectangle 280">
              <a:extLst>
                <a:ext uri="{FF2B5EF4-FFF2-40B4-BE49-F238E27FC236}">
                  <a16:creationId xmlns:a16="http://schemas.microsoft.com/office/drawing/2014/main" id="{E2CA8275-64C1-447C-004D-EA40FCCDBDA1}"/>
                </a:ext>
              </a:extLst>
            </p:cNvPr>
            <p:cNvSpPr/>
            <p:nvPr/>
          </p:nvSpPr>
          <p:spPr>
            <a:xfrm>
              <a:off x="2757972" y="4656347"/>
              <a:ext cx="1577083" cy="1091441"/>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282" name="Rectangle 281">
              <a:extLst>
                <a:ext uri="{FF2B5EF4-FFF2-40B4-BE49-F238E27FC236}">
                  <a16:creationId xmlns:a16="http://schemas.microsoft.com/office/drawing/2014/main" id="{92BFF08A-2A91-9ED2-01E3-4CFA29539F01}"/>
                </a:ext>
              </a:extLst>
            </p:cNvPr>
            <p:cNvSpPr/>
            <p:nvPr/>
          </p:nvSpPr>
          <p:spPr>
            <a:xfrm>
              <a:off x="1141502" y="2026823"/>
              <a:ext cx="1577083" cy="1091441"/>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283" name="Rectangle 282">
              <a:extLst>
                <a:ext uri="{FF2B5EF4-FFF2-40B4-BE49-F238E27FC236}">
                  <a16:creationId xmlns:a16="http://schemas.microsoft.com/office/drawing/2014/main" id="{E070FD16-7206-6906-66F2-5A238869F811}"/>
                </a:ext>
              </a:extLst>
            </p:cNvPr>
            <p:cNvSpPr/>
            <p:nvPr/>
          </p:nvSpPr>
          <p:spPr>
            <a:xfrm>
              <a:off x="2736411" y="2026823"/>
              <a:ext cx="1577083" cy="1091441"/>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fr-FR" sz="900" dirty="0">
                <a:solidFill>
                  <a:schemeClr val="tx1"/>
                </a:solidFill>
              </a:endParaRPr>
            </a:p>
          </p:txBody>
        </p:sp>
        <p:sp>
          <p:nvSpPr>
            <p:cNvPr id="284" name="Rectangle 283">
              <a:extLst>
                <a:ext uri="{FF2B5EF4-FFF2-40B4-BE49-F238E27FC236}">
                  <a16:creationId xmlns:a16="http://schemas.microsoft.com/office/drawing/2014/main" id="{C9D694C1-D521-D730-13AF-45B20E04D072}"/>
                </a:ext>
              </a:extLst>
            </p:cNvPr>
            <p:cNvSpPr/>
            <p:nvPr/>
          </p:nvSpPr>
          <p:spPr>
            <a:xfrm>
              <a:off x="7501438" y="1967360"/>
              <a:ext cx="1577083" cy="1091441"/>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900" dirty="0">
                <a:solidFill>
                  <a:schemeClr val="tx1"/>
                </a:solidFill>
              </a:endParaRPr>
            </a:p>
          </p:txBody>
        </p:sp>
        <p:sp>
          <p:nvSpPr>
            <p:cNvPr id="285" name="Rectangle 284">
              <a:extLst>
                <a:ext uri="{FF2B5EF4-FFF2-40B4-BE49-F238E27FC236}">
                  <a16:creationId xmlns:a16="http://schemas.microsoft.com/office/drawing/2014/main" id="{7B1C3504-7469-B34A-50F4-0E6727BB291F}"/>
                </a:ext>
              </a:extLst>
            </p:cNvPr>
            <p:cNvSpPr/>
            <p:nvPr/>
          </p:nvSpPr>
          <p:spPr>
            <a:xfrm>
              <a:off x="9096346" y="1967360"/>
              <a:ext cx="1577083" cy="1091441"/>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fr-FR" sz="900" dirty="0">
                <a:solidFill>
                  <a:schemeClr val="tx1"/>
                </a:solidFill>
              </a:endParaRPr>
            </a:p>
          </p:txBody>
        </p:sp>
        <p:sp>
          <p:nvSpPr>
            <p:cNvPr id="286" name="Rectangle 285">
              <a:extLst>
                <a:ext uri="{FF2B5EF4-FFF2-40B4-BE49-F238E27FC236}">
                  <a16:creationId xmlns:a16="http://schemas.microsoft.com/office/drawing/2014/main" id="{F0B0CC9F-A0FD-96F6-CAED-49DD7A70D48A}"/>
                </a:ext>
              </a:extLst>
            </p:cNvPr>
            <p:cNvSpPr/>
            <p:nvPr/>
          </p:nvSpPr>
          <p:spPr>
            <a:xfrm>
              <a:off x="7522207" y="4656347"/>
              <a:ext cx="1577083" cy="1091441"/>
            </a:xfrm>
            <a:prstGeom prst="rect">
              <a:avLst/>
            </a:prstGeom>
            <a:solidFill>
              <a:srgbClr val="54FFB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fr-FR" sz="900" dirty="0">
                <a:solidFill>
                  <a:schemeClr val="tx1"/>
                </a:solidFill>
              </a:endParaRPr>
            </a:p>
          </p:txBody>
        </p:sp>
        <p:sp>
          <p:nvSpPr>
            <p:cNvPr id="287" name="Rectangle 286">
              <a:extLst>
                <a:ext uri="{FF2B5EF4-FFF2-40B4-BE49-F238E27FC236}">
                  <a16:creationId xmlns:a16="http://schemas.microsoft.com/office/drawing/2014/main" id="{81B7ECAF-3CED-72DE-D45A-AF3C3CABA3C6}"/>
                </a:ext>
              </a:extLst>
            </p:cNvPr>
            <p:cNvSpPr/>
            <p:nvPr/>
          </p:nvSpPr>
          <p:spPr>
            <a:xfrm>
              <a:off x="9117116" y="4656347"/>
              <a:ext cx="1577083" cy="1091441"/>
            </a:xfrm>
            <a:prstGeom prst="rect">
              <a:avLst/>
            </a:prstGeom>
            <a:solidFill>
              <a:srgbClr val="FF7C8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fr-FR" sz="900" dirty="0">
                <a:solidFill>
                  <a:schemeClr val="tx1"/>
                </a:solidFill>
              </a:endParaRPr>
            </a:p>
          </p:txBody>
        </p:sp>
      </p:grpSp>
      <p:grpSp>
        <p:nvGrpSpPr>
          <p:cNvPr id="6" name="Groupe 5">
            <a:extLst>
              <a:ext uri="{FF2B5EF4-FFF2-40B4-BE49-F238E27FC236}">
                <a16:creationId xmlns:a16="http://schemas.microsoft.com/office/drawing/2014/main" id="{99849DDD-9125-5DE1-4D14-93A0B437EA46}"/>
              </a:ext>
            </a:extLst>
          </p:cNvPr>
          <p:cNvGrpSpPr/>
          <p:nvPr/>
        </p:nvGrpSpPr>
        <p:grpSpPr>
          <a:xfrm>
            <a:off x="3367296" y="2327458"/>
            <a:ext cx="3830579" cy="1433812"/>
            <a:chOff x="118417" y="3989573"/>
            <a:chExt cx="12058974" cy="4513756"/>
          </a:xfrm>
        </p:grpSpPr>
        <p:pic>
          <p:nvPicPr>
            <p:cNvPr id="331" name="Graphique 330" descr="Femme scientifique avec un remplissage uni">
              <a:extLst>
                <a:ext uri="{FF2B5EF4-FFF2-40B4-BE49-F238E27FC236}">
                  <a16:creationId xmlns:a16="http://schemas.microsoft.com/office/drawing/2014/main" id="{69E06CD2-3DFE-9A25-1088-E47631EDA18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2937959" y="4479320"/>
              <a:ext cx="944906" cy="944906"/>
            </a:xfrm>
            <a:prstGeom prst="rect">
              <a:avLst/>
            </a:prstGeom>
          </p:spPr>
        </p:pic>
        <p:pic>
          <p:nvPicPr>
            <p:cNvPr id="332" name="Graphique 331" descr="Femme détective avec un remplissage uni">
              <a:extLst>
                <a:ext uri="{FF2B5EF4-FFF2-40B4-BE49-F238E27FC236}">
                  <a16:creationId xmlns:a16="http://schemas.microsoft.com/office/drawing/2014/main" id="{F4593B1B-F571-62A8-FFC6-217D90A3D388}"/>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10076"/>
            <a:stretch/>
          </p:blipFill>
          <p:spPr>
            <a:xfrm>
              <a:off x="118417" y="6802974"/>
              <a:ext cx="871515" cy="969169"/>
            </a:xfrm>
            <a:prstGeom prst="rect">
              <a:avLst/>
            </a:prstGeom>
          </p:spPr>
        </p:pic>
        <p:sp>
          <p:nvSpPr>
            <p:cNvPr id="333" name="Bulle narrative : ronde 332">
              <a:extLst>
                <a:ext uri="{FF2B5EF4-FFF2-40B4-BE49-F238E27FC236}">
                  <a16:creationId xmlns:a16="http://schemas.microsoft.com/office/drawing/2014/main" id="{D72B5412-E046-13A6-DDA0-D6B0D6872360}"/>
                </a:ext>
              </a:extLst>
            </p:cNvPr>
            <p:cNvSpPr/>
            <p:nvPr/>
          </p:nvSpPr>
          <p:spPr>
            <a:xfrm>
              <a:off x="4175652" y="3989573"/>
              <a:ext cx="5120196" cy="1434653"/>
            </a:xfrm>
            <a:prstGeom prst="wedgeEllipseCallout">
              <a:avLst>
                <a:gd name="adj1" fmla="val -61511"/>
                <a:gd name="adj2" fmla="val 14377"/>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sp>
          <p:nvSpPr>
            <p:cNvPr id="334" name="Bulle narrative : ronde 333">
              <a:extLst>
                <a:ext uri="{FF2B5EF4-FFF2-40B4-BE49-F238E27FC236}">
                  <a16:creationId xmlns:a16="http://schemas.microsoft.com/office/drawing/2014/main" id="{E61293E2-63A5-D754-E3D9-3F6011B4A654}"/>
                </a:ext>
              </a:extLst>
            </p:cNvPr>
            <p:cNvSpPr/>
            <p:nvPr/>
          </p:nvSpPr>
          <p:spPr>
            <a:xfrm>
              <a:off x="1477218" y="6159221"/>
              <a:ext cx="4520045" cy="2344108"/>
            </a:xfrm>
            <a:prstGeom prst="wedgeEllipseCallout">
              <a:avLst>
                <a:gd name="adj1" fmla="val -64632"/>
                <a:gd name="adj2" fmla="val 1313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pic>
          <p:nvPicPr>
            <p:cNvPr id="335" name="Graphique 334" descr="Femme détective avec un remplissage uni">
              <a:extLst>
                <a:ext uri="{FF2B5EF4-FFF2-40B4-BE49-F238E27FC236}">
                  <a16:creationId xmlns:a16="http://schemas.microsoft.com/office/drawing/2014/main" id="{3710B35C-DD83-70A4-E179-62D5D543A44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200891" y="6802974"/>
              <a:ext cx="969169" cy="969169"/>
            </a:xfrm>
            <a:prstGeom prst="rect">
              <a:avLst/>
            </a:prstGeom>
          </p:spPr>
        </p:pic>
        <p:sp>
          <p:nvSpPr>
            <p:cNvPr id="336" name="Bulle narrative : ronde 335">
              <a:extLst>
                <a:ext uri="{FF2B5EF4-FFF2-40B4-BE49-F238E27FC236}">
                  <a16:creationId xmlns:a16="http://schemas.microsoft.com/office/drawing/2014/main" id="{63C6510A-71C6-C762-5FC9-176E0C04E5DB}"/>
                </a:ext>
              </a:extLst>
            </p:cNvPr>
            <p:cNvSpPr/>
            <p:nvPr/>
          </p:nvSpPr>
          <p:spPr>
            <a:xfrm>
              <a:off x="7657346" y="6159221"/>
              <a:ext cx="4520045" cy="2344108"/>
            </a:xfrm>
            <a:prstGeom prst="wedgeEllipseCallout">
              <a:avLst>
                <a:gd name="adj1" fmla="val -64632"/>
                <a:gd name="adj2" fmla="val 1313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buFontTx/>
                <a:buChar char="-"/>
              </a:pPr>
              <a:endParaRPr lang="fr-FR" sz="1200" dirty="0">
                <a:solidFill>
                  <a:schemeClr val="tx1"/>
                </a:solidFill>
              </a:endParaRPr>
            </a:p>
          </p:txBody>
        </p:sp>
        <p:sp>
          <p:nvSpPr>
            <p:cNvPr id="339" name="Flèche : bas 338">
              <a:extLst>
                <a:ext uri="{FF2B5EF4-FFF2-40B4-BE49-F238E27FC236}">
                  <a16:creationId xmlns:a16="http://schemas.microsoft.com/office/drawing/2014/main" id="{68B8463A-FBBF-0258-2A94-74DC8A888BB5}"/>
                </a:ext>
              </a:extLst>
            </p:cNvPr>
            <p:cNvSpPr/>
            <p:nvPr/>
          </p:nvSpPr>
          <p:spPr>
            <a:xfrm rot="2350913">
              <a:off x="4229662" y="5384900"/>
              <a:ext cx="816745" cy="58447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0" name="Flèche : bas 339">
              <a:extLst>
                <a:ext uri="{FF2B5EF4-FFF2-40B4-BE49-F238E27FC236}">
                  <a16:creationId xmlns:a16="http://schemas.microsoft.com/office/drawing/2014/main" id="{783ED903-9A22-6F0A-2417-1D45F516131C}"/>
                </a:ext>
              </a:extLst>
            </p:cNvPr>
            <p:cNvSpPr/>
            <p:nvPr/>
          </p:nvSpPr>
          <p:spPr>
            <a:xfrm rot="19280464">
              <a:off x="8294931" y="5383676"/>
              <a:ext cx="816745" cy="58447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341" name="Graphique 340" descr="Femme détective avec un remplissage uni">
            <a:extLst>
              <a:ext uri="{FF2B5EF4-FFF2-40B4-BE49-F238E27FC236}">
                <a16:creationId xmlns:a16="http://schemas.microsoft.com/office/drawing/2014/main" id="{3CB35655-CA90-F3AB-7E3D-8E33EC89966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279492" y="2547648"/>
            <a:ext cx="969169" cy="969169"/>
          </a:xfrm>
          <a:prstGeom prst="rect">
            <a:avLst/>
          </a:prstGeom>
        </p:spPr>
      </p:pic>
      <p:pic>
        <p:nvPicPr>
          <p:cNvPr id="342" name="Graphique 341" descr="Femme scientifique avec un remplissage uni">
            <a:extLst>
              <a:ext uri="{FF2B5EF4-FFF2-40B4-BE49-F238E27FC236}">
                <a16:creationId xmlns:a16="http://schemas.microsoft.com/office/drawing/2014/main" id="{493EE63A-D2ED-AA99-313B-131B12C8A74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635779" y="2571911"/>
            <a:ext cx="944906" cy="944906"/>
          </a:xfrm>
          <a:prstGeom prst="rect">
            <a:avLst/>
          </a:prstGeom>
        </p:spPr>
      </p:pic>
      <p:sp>
        <p:nvSpPr>
          <p:cNvPr id="3" name="ZoneTexte 2">
            <a:extLst>
              <a:ext uri="{FF2B5EF4-FFF2-40B4-BE49-F238E27FC236}">
                <a16:creationId xmlns:a16="http://schemas.microsoft.com/office/drawing/2014/main" id="{35469D8E-2A41-FEBC-2C73-7D8BF3F4844D}"/>
              </a:ext>
            </a:extLst>
          </p:cNvPr>
          <p:cNvSpPr txBox="1"/>
          <p:nvPr/>
        </p:nvSpPr>
        <p:spPr>
          <a:xfrm>
            <a:off x="1096188" y="4215479"/>
            <a:ext cx="3014916" cy="2585323"/>
          </a:xfrm>
          <a:prstGeom prst="rect">
            <a:avLst/>
          </a:prstGeom>
          <a:noFill/>
        </p:spPr>
        <p:txBody>
          <a:bodyPr wrap="square">
            <a:spAutoFit/>
          </a:bodyPr>
          <a:lstStyle/>
          <a:p>
            <a:r>
              <a:rPr lang="fr-FR" dirty="0"/>
              <a:t>Les moyens de renseignement délibérés (actions intentionnelles et explicites pour se renseigner) </a:t>
            </a:r>
            <a:r>
              <a:rPr lang="fr-FR" b="1" dirty="0">
                <a:solidFill>
                  <a:srgbClr val="ED7D31"/>
                </a:solidFill>
              </a:rPr>
              <a:t>sont complémentaires </a:t>
            </a:r>
            <a:r>
              <a:rPr lang="fr-FR" dirty="0"/>
              <a:t>avec des </a:t>
            </a:r>
            <a:r>
              <a:rPr lang="fr-FR" b="1" dirty="0">
                <a:solidFill>
                  <a:srgbClr val="3494BA"/>
                </a:solidFill>
              </a:rPr>
              <a:t>moyens de renseignement par interception</a:t>
            </a:r>
            <a:r>
              <a:rPr lang="fr-FR" dirty="0"/>
              <a:t>, chacun ont leurs avantages et inconvénients</a:t>
            </a:r>
          </a:p>
        </p:txBody>
      </p:sp>
      <p:sp>
        <p:nvSpPr>
          <p:cNvPr id="4" name="ZoneTexte 3">
            <a:extLst>
              <a:ext uri="{FF2B5EF4-FFF2-40B4-BE49-F238E27FC236}">
                <a16:creationId xmlns:a16="http://schemas.microsoft.com/office/drawing/2014/main" id="{81EC8D50-3C50-7436-232A-7D768E19337D}"/>
              </a:ext>
            </a:extLst>
          </p:cNvPr>
          <p:cNvSpPr txBox="1"/>
          <p:nvPr/>
        </p:nvSpPr>
        <p:spPr>
          <a:xfrm>
            <a:off x="5095120" y="4215479"/>
            <a:ext cx="2978738" cy="2308324"/>
          </a:xfrm>
          <a:prstGeom prst="rect">
            <a:avLst/>
          </a:prstGeom>
          <a:noFill/>
        </p:spPr>
        <p:txBody>
          <a:bodyPr wrap="square">
            <a:spAutoFit/>
          </a:bodyPr>
          <a:lstStyle/>
          <a:p>
            <a:r>
              <a:rPr lang="fr-FR" dirty="0"/>
              <a:t>Les informations obtenues par une forme de renseignement peuvent </a:t>
            </a:r>
            <a:r>
              <a:rPr lang="fr-FR" b="1" dirty="0">
                <a:solidFill>
                  <a:srgbClr val="ED7D31"/>
                </a:solidFill>
              </a:rPr>
              <a:t>changer l’interprétation des résultats obtenus </a:t>
            </a:r>
            <a:r>
              <a:rPr lang="fr-FR" dirty="0"/>
              <a:t>par une autre forme, par exemple un retour terrain peut changer l’interprétation des données.</a:t>
            </a:r>
          </a:p>
        </p:txBody>
      </p:sp>
      <p:sp>
        <p:nvSpPr>
          <p:cNvPr id="5" name="ZoneTexte 4">
            <a:extLst>
              <a:ext uri="{FF2B5EF4-FFF2-40B4-BE49-F238E27FC236}">
                <a16:creationId xmlns:a16="http://schemas.microsoft.com/office/drawing/2014/main" id="{49A86245-88B4-2B6E-2109-912710B69DF3}"/>
              </a:ext>
            </a:extLst>
          </p:cNvPr>
          <p:cNvSpPr txBox="1"/>
          <p:nvPr/>
        </p:nvSpPr>
        <p:spPr>
          <a:xfrm>
            <a:off x="9120693" y="4215479"/>
            <a:ext cx="2804607" cy="1477328"/>
          </a:xfrm>
          <a:prstGeom prst="rect">
            <a:avLst/>
          </a:prstGeom>
          <a:noFill/>
        </p:spPr>
        <p:txBody>
          <a:bodyPr wrap="square">
            <a:spAutoFit/>
          </a:bodyPr>
          <a:lstStyle/>
          <a:p>
            <a:r>
              <a:rPr lang="fr-FR" dirty="0"/>
              <a:t>Être peu ou très performant en renseignement délibéré, en renseignement par interception, apportera ses </a:t>
            </a:r>
            <a:r>
              <a:rPr lang="fr-FR" b="1" dirty="0"/>
              <a:t>avantages et inconvénients</a:t>
            </a:r>
            <a:r>
              <a:rPr lang="fr-FR" dirty="0"/>
              <a:t>.</a:t>
            </a:r>
          </a:p>
        </p:txBody>
      </p:sp>
      <p:sp>
        <p:nvSpPr>
          <p:cNvPr id="7" name="Organigramme : Connecteur 6">
            <a:extLst>
              <a:ext uri="{FF2B5EF4-FFF2-40B4-BE49-F238E27FC236}">
                <a16:creationId xmlns:a16="http://schemas.microsoft.com/office/drawing/2014/main" id="{10D2B472-F76E-2C42-0FD7-A1762B93BD1A}"/>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40</a:t>
            </a:r>
          </a:p>
        </p:txBody>
      </p:sp>
      <p:sp>
        <p:nvSpPr>
          <p:cNvPr id="8" name="Organigramme : Connecteur 7">
            <a:extLst>
              <a:ext uri="{FF2B5EF4-FFF2-40B4-BE49-F238E27FC236}">
                <a16:creationId xmlns:a16="http://schemas.microsoft.com/office/drawing/2014/main" id="{51C02002-9B7C-9360-746B-5BEE14174B32}"/>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41</a:t>
            </a:r>
          </a:p>
        </p:txBody>
      </p:sp>
      <p:sp>
        <p:nvSpPr>
          <p:cNvPr id="9" name="Organigramme : Connecteur 8">
            <a:extLst>
              <a:ext uri="{FF2B5EF4-FFF2-40B4-BE49-F238E27FC236}">
                <a16:creationId xmlns:a16="http://schemas.microsoft.com/office/drawing/2014/main" id="{AA4C2AEE-5BD0-C3E7-98C0-329C26672551}"/>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42</a:t>
            </a:r>
          </a:p>
        </p:txBody>
      </p:sp>
    </p:spTree>
    <p:extLst>
      <p:ext uri="{BB962C8B-B14F-4D97-AF65-F5344CB8AC3E}">
        <p14:creationId xmlns:p14="http://schemas.microsoft.com/office/powerpoint/2010/main" val="1117197022"/>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Titre 1">
            <a:extLst>
              <a:ext uri="{FF2B5EF4-FFF2-40B4-BE49-F238E27FC236}">
                <a16:creationId xmlns:a16="http://schemas.microsoft.com/office/drawing/2014/main" id="{E1AF4623-852E-CEA8-8138-94B34C366FD1}"/>
              </a:ext>
            </a:extLst>
          </p:cNvPr>
          <p:cNvSpPr>
            <a:spLocks noGrp="1"/>
          </p:cNvSpPr>
          <p:nvPr>
            <p:ph type="title"/>
          </p:nvPr>
        </p:nvSpPr>
        <p:spPr>
          <a:xfrm>
            <a:off x="838200" y="365125"/>
            <a:ext cx="10515600" cy="1325563"/>
          </a:xfrm>
        </p:spPr>
        <p:txBody>
          <a:bodyPr/>
          <a:lstStyle/>
          <a:p>
            <a:r>
              <a:rPr lang="fr-FR" dirty="0"/>
              <a:t>Résumé, une phrase par image</a:t>
            </a:r>
          </a:p>
        </p:txBody>
      </p:sp>
      <p:grpSp>
        <p:nvGrpSpPr>
          <p:cNvPr id="2" name="Groupe 1">
            <a:extLst>
              <a:ext uri="{FF2B5EF4-FFF2-40B4-BE49-F238E27FC236}">
                <a16:creationId xmlns:a16="http://schemas.microsoft.com/office/drawing/2014/main" id="{B7455C2D-61B0-5978-02AC-DD7E7594B1F3}"/>
              </a:ext>
            </a:extLst>
          </p:cNvPr>
          <p:cNvGrpSpPr/>
          <p:nvPr/>
        </p:nvGrpSpPr>
        <p:grpSpPr>
          <a:xfrm>
            <a:off x="143365" y="1961000"/>
            <a:ext cx="2813859" cy="1967768"/>
            <a:chOff x="3129741" y="2288316"/>
            <a:chExt cx="6534533" cy="4569684"/>
          </a:xfrm>
        </p:grpSpPr>
        <p:sp>
          <p:nvSpPr>
            <p:cNvPr id="85" name="Rectangle 84">
              <a:extLst>
                <a:ext uri="{FF2B5EF4-FFF2-40B4-BE49-F238E27FC236}">
                  <a16:creationId xmlns:a16="http://schemas.microsoft.com/office/drawing/2014/main" id="{E3740521-87D4-6819-33EE-E739E2191CAD}"/>
                </a:ext>
              </a:extLst>
            </p:cNvPr>
            <p:cNvSpPr/>
            <p:nvPr/>
          </p:nvSpPr>
          <p:spPr>
            <a:xfrm>
              <a:off x="8172126" y="228831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86" name="Rectangle 85">
              <a:extLst>
                <a:ext uri="{FF2B5EF4-FFF2-40B4-BE49-F238E27FC236}">
                  <a16:creationId xmlns:a16="http://schemas.microsoft.com/office/drawing/2014/main" id="{DE10B582-FF69-CC16-D0F9-7F86008E5BB6}"/>
                </a:ext>
              </a:extLst>
            </p:cNvPr>
            <p:cNvSpPr/>
            <p:nvPr/>
          </p:nvSpPr>
          <p:spPr>
            <a:xfrm>
              <a:off x="8172126" y="619512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87" name="Rectangle 86">
              <a:extLst>
                <a:ext uri="{FF2B5EF4-FFF2-40B4-BE49-F238E27FC236}">
                  <a16:creationId xmlns:a16="http://schemas.microsoft.com/office/drawing/2014/main" id="{5057EB88-990E-9A88-E11B-37DC04C2B878}"/>
                </a:ext>
              </a:extLst>
            </p:cNvPr>
            <p:cNvSpPr/>
            <p:nvPr/>
          </p:nvSpPr>
          <p:spPr>
            <a:xfrm>
              <a:off x="8172126" y="5413760"/>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88" name="Rectangle 87">
              <a:extLst>
                <a:ext uri="{FF2B5EF4-FFF2-40B4-BE49-F238E27FC236}">
                  <a16:creationId xmlns:a16="http://schemas.microsoft.com/office/drawing/2014/main" id="{1E9BDDD6-EA96-1F44-7A71-D14B32E752E0}"/>
                </a:ext>
              </a:extLst>
            </p:cNvPr>
            <p:cNvSpPr/>
            <p:nvPr/>
          </p:nvSpPr>
          <p:spPr>
            <a:xfrm>
              <a:off x="8172126" y="3851038"/>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89" name="Rectangle 88">
              <a:extLst>
                <a:ext uri="{FF2B5EF4-FFF2-40B4-BE49-F238E27FC236}">
                  <a16:creationId xmlns:a16="http://schemas.microsoft.com/office/drawing/2014/main" id="{BBF3DDE9-4716-BC5A-A17C-8F2363243A55}"/>
                </a:ext>
              </a:extLst>
            </p:cNvPr>
            <p:cNvSpPr/>
            <p:nvPr/>
          </p:nvSpPr>
          <p:spPr>
            <a:xfrm>
              <a:off x="8172126" y="4632399"/>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90" name="Rectangle 89">
              <a:extLst>
                <a:ext uri="{FF2B5EF4-FFF2-40B4-BE49-F238E27FC236}">
                  <a16:creationId xmlns:a16="http://schemas.microsoft.com/office/drawing/2014/main" id="{3B855EE3-4C5C-4936-6C14-303288B542FC}"/>
                </a:ext>
              </a:extLst>
            </p:cNvPr>
            <p:cNvSpPr/>
            <p:nvPr/>
          </p:nvSpPr>
          <p:spPr>
            <a:xfrm>
              <a:off x="8172126" y="3069677"/>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91" name="Rectangle 90">
              <a:extLst>
                <a:ext uri="{FF2B5EF4-FFF2-40B4-BE49-F238E27FC236}">
                  <a16:creationId xmlns:a16="http://schemas.microsoft.com/office/drawing/2014/main" id="{8CA9E9BA-7F11-B8EE-D66F-5AAFC58FE31B}"/>
                </a:ext>
              </a:extLst>
            </p:cNvPr>
            <p:cNvSpPr/>
            <p:nvPr/>
          </p:nvSpPr>
          <p:spPr>
            <a:xfrm>
              <a:off x="3129741" y="2288316"/>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92" name="Rectangle 91">
              <a:extLst>
                <a:ext uri="{FF2B5EF4-FFF2-40B4-BE49-F238E27FC236}">
                  <a16:creationId xmlns:a16="http://schemas.microsoft.com/office/drawing/2014/main" id="{A7C44813-864C-F518-2EF2-3609461A1F1E}"/>
                </a:ext>
              </a:extLst>
            </p:cNvPr>
            <p:cNvSpPr/>
            <p:nvPr/>
          </p:nvSpPr>
          <p:spPr>
            <a:xfrm>
              <a:off x="3129741" y="6195121"/>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93" name="Rectangle 92">
              <a:extLst>
                <a:ext uri="{FF2B5EF4-FFF2-40B4-BE49-F238E27FC236}">
                  <a16:creationId xmlns:a16="http://schemas.microsoft.com/office/drawing/2014/main" id="{2FE6943E-A7AA-DFE7-7149-5E44F695833A}"/>
                </a:ext>
              </a:extLst>
            </p:cNvPr>
            <p:cNvSpPr/>
            <p:nvPr/>
          </p:nvSpPr>
          <p:spPr>
            <a:xfrm>
              <a:off x="3129741" y="5413760"/>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94" name="Rectangle 93">
              <a:extLst>
                <a:ext uri="{FF2B5EF4-FFF2-40B4-BE49-F238E27FC236}">
                  <a16:creationId xmlns:a16="http://schemas.microsoft.com/office/drawing/2014/main" id="{9BEC67C8-C5AE-6659-9CB2-24FA8B6AB90E}"/>
                </a:ext>
              </a:extLst>
            </p:cNvPr>
            <p:cNvSpPr/>
            <p:nvPr/>
          </p:nvSpPr>
          <p:spPr>
            <a:xfrm>
              <a:off x="3129741" y="3851038"/>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95" name="Rectangle 94">
              <a:extLst>
                <a:ext uri="{FF2B5EF4-FFF2-40B4-BE49-F238E27FC236}">
                  <a16:creationId xmlns:a16="http://schemas.microsoft.com/office/drawing/2014/main" id="{F7E233B0-42D6-64A6-DAA8-2825570A9C45}"/>
                </a:ext>
              </a:extLst>
            </p:cNvPr>
            <p:cNvSpPr/>
            <p:nvPr/>
          </p:nvSpPr>
          <p:spPr>
            <a:xfrm>
              <a:off x="3129741" y="4632399"/>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96" name="Rectangle 95">
              <a:extLst>
                <a:ext uri="{FF2B5EF4-FFF2-40B4-BE49-F238E27FC236}">
                  <a16:creationId xmlns:a16="http://schemas.microsoft.com/office/drawing/2014/main" id="{61AAA5D8-9932-A46A-21F0-11265F097108}"/>
                </a:ext>
              </a:extLst>
            </p:cNvPr>
            <p:cNvSpPr/>
            <p:nvPr/>
          </p:nvSpPr>
          <p:spPr>
            <a:xfrm>
              <a:off x="3129741" y="3069677"/>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a:t>
              </a:r>
            </a:p>
          </p:txBody>
        </p:sp>
        <p:sp>
          <p:nvSpPr>
            <p:cNvPr id="97" name="Accolade ouvrante 96">
              <a:extLst>
                <a:ext uri="{FF2B5EF4-FFF2-40B4-BE49-F238E27FC236}">
                  <a16:creationId xmlns:a16="http://schemas.microsoft.com/office/drawing/2014/main" id="{2482E264-DE94-895D-13E1-580B0899B37C}"/>
                </a:ext>
              </a:extLst>
            </p:cNvPr>
            <p:cNvSpPr/>
            <p:nvPr/>
          </p:nvSpPr>
          <p:spPr>
            <a:xfrm>
              <a:off x="7472603" y="2288316"/>
              <a:ext cx="602190" cy="4569684"/>
            </a:xfrm>
            <a:prstGeom prst="leftBrace">
              <a:avLst>
                <a:gd name="adj1" fmla="val 8333"/>
                <a:gd name="adj2" fmla="val 49029"/>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8" name="Accolade fermante 97">
              <a:extLst>
                <a:ext uri="{FF2B5EF4-FFF2-40B4-BE49-F238E27FC236}">
                  <a16:creationId xmlns:a16="http://schemas.microsoft.com/office/drawing/2014/main" id="{3CF74146-8A2C-819D-3070-63DD3B322FA6}"/>
                </a:ext>
              </a:extLst>
            </p:cNvPr>
            <p:cNvSpPr/>
            <p:nvPr/>
          </p:nvSpPr>
          <p:spPr>
            <a:xfrm>
              <a:off x="4824688" y="2288316"/>
              <a:ext cx="602190" cy="4569684"/>
            </a:xfrm>
            <a:prstGeom prst="rightBrace">
              <a:avLst>
                <a:gd name="adj1" fmla="val 8333"/>
                <a:gd name="adj2" fmla="val 49223"/>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9" name="Flèche : droite 98">
              <a:extLst>
                <a:ext uri="{FF2B5EF4-FFF2-40B4-BE49-F238E27FC236}">
                  <a16:creationId xmlns:a16="http://schemas.microsoft.com/office/drawing/2014/main" id="{CB2CDE58-D1BF-A13B-3016-2039BF98B928}"/>
                </a:ext>
              </a:extLst>
            </p:cNvPr>
            <p:cNvSpPr/>
            <p:nvPr/>
          </p:nvSpPr>
          <p:spPr>
            <a:xfrm>
              <a:off x="5507844" y="3923552"/>
              <a:ext cx="1883793" cy="118073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100" name="Graphique 99" descr="Priorités avec un remplissage uni">
              <a:extLst>
                <a:ext uri="{FF2B5EF4-FFF2-40B4-BE49-F238E27FC236}">
                  <a16:creationId xmlns:a16="http://schemas.microsoft.com/office/drawing/2014/main" id="{AA865692-A7CF-7807-5B60-C25259ACDED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746841" y="3113203"/>
              <a:ext cx="920773" cy="920773"/>
            </a:xfrm>
            <a:prstGeom prst="rect">
              <a:avLst/>
            </a:prstGeom>
          </p:spPr>
        </p:pic>
      </p:grpSp>
      <p:grpSp>
        <p:nvGrpSpPr>
          <p:cNvPr id="6" name="Groupe 5">
            <a:extLst>
              <a:ext uri="{FF2B5EF4-FFF2-40B4-BE49-F238E27FC236}">
                <a16:creationId xmlns:a16="http://schemas.microsoft.com/office/drawing/2014/main" id="{E3DD4A0F-CF74-18E6-7EB7-0DBD6675FA7D}"/>
              </a:ext>
            </a:extLst>
          </p:cNvPr>
          <p:cNvGrpSpPr/>
          <p:nvPr/>
        </p:nvGrpSpPr>
        <p:grpSpPr>
          <a:xfrm>
            <a:off x="4277842" y="2691482"/>
            <a:ext cx="3189199" cy="455783"/>
            <a:chOff x="2375578" y="4993971"/>
            <a:chExt cx="6197803" cy="885757"/>
          </a:xfrm>
        </p:grpSpPr>
        <p:pic>
          <p:nvPicPr>
            <p:cNvPr id="20" name="Graphique 19" descr="Priorités avec un remplissage uni">
              <a:extLst>
                <a:ext uri="{FF2B5EF4-FFF2-40B4-BE49-F238E27FC236}">
                  <a16:creationId xmlns:a16="http://schemas.microsoft.com/office/drawing/2014/main" id="{E94C56B1-4F0A-6403-B93C-26AA48FA959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375578" y="5126559"/>
              <a:ext cx="713940" cy="713940"/>
            </a:xfrm>
            <a:prstGeom prst="rect">
              <a:avLst/>
            </a:prstGeom>
          </p:spPr>
        </p:pic>
        <p:pic>
          <p:nvPicPr>
            <p:cNvPr id="21" name="Graphique 20" descr="Liste contour">
              <a:extLst>
                <a:ext uri="{FF2B5EF4-FFF2-40B4-BE49-F238E27FC236}">
                  <a16:creationId xmlns:a16="http://schemas.microsoft.com/office/drawing/2014/main" id="{A51AAC39-F6C5-EA03-8669-E858DDD065D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259462" y="5126559"/>
              <a:ext cx="714046" cy="714046"/>
            </a:xfrm>
            <a:prstGeom prst="rect">
              <a:avLst/>
            </a:prstGeom>
          </p:spPr>
        </p:pic>
        <p:grpSp>
          <p:nvGrpSpPr>
            <p:cNvPr id="22" name="Groupe 21">
              <a:extLst>
                <a:ext uri="{FF2B5EF4-FFF2-40B4-BE49-F238E27FC236}">
                  <a16:creationId xmlns:a16="http://schemas.microsoft.com/office/drawing/2014/main" id="{25517CD3-93E2-C333-5586-CB36A7F9EA75}"/>
                </a:ext>
              </a:extLst>
            </p:cNvPr>
            <p:cNvGrpSpPr/>
            <p:nvPr/>
          </p:nvGrpSpPr>
          <p:grpSpPr>
            <a:xfrm>
              <a:off x="4143452" y="4993971"/>
              <a:ext cx="905676" cy="832882"/>
              <a:chOff x="6564654" y="2339787"/>
              <a:chExt cx="1084118" cy="996982"/>
            </a:xfrm>
          </p:grpSpPr>
          <p:grpSp>
            <p:nvGrpSpPr>
              <p:cNvPr id="23" name="Groupe 22">
                <a:extLst>
                  <a:ext uri="{FF2B5EF4-FFF2-40B4-BE49-F238E27FC236}">
                    <a16:creationId xmlns:a16="http://schemas.microsoft.com/office/drawing/2014/main" id="{F9EF799C-D2C0-1DD1-5C74-37671E6325FA}"/>
                  </a:ext>
                </a:extLst>
              </p:cNvPr>
              <p:cNvGrpSpPr/>
              <p:nvPr/>
            </p:nvGrpSpPr>
            <p:grpSpPr>
              <a:xfrm>
                <a:off x="6852830" y="2879569"/>
                <a:ext cx="457200" cy="457200"/>
                <a:chOff x="3982824" y="1896400"/>
                <a:chExt cx="914400" cy="914400"/>
              </a:xfrm>
            </p:grpSpPr>
            <p:pic>
              <p:nvPicPr>
                <p:cNvPr id="33" name="Graphique 32" descr="Homme conductrice avec un remplissage uni">
                  <a:extLst>
                    <a:ext uri="{FF2B5EF4-FFF2-40B4-BE49-F238E27FC236}">
                      <a16:creationId xmlns:a16="http://schemas.microsoft.com/office/drawing/2014/main" id="{01C9FAEA-3BE8-513B-F93D-4932D423676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34" name="Rectangle 33">
                  <a:extLst>
                    <a:ext uri="{FF2B5EF4-FFF2-40B4-BE49-F238E27FC236}">
                      <a16:creationId xmlns:a16="http://schemas.microsoft.com/office/drawing/2014/main" id="{6C71A01C-DB6D-A8D6-63C9-2A46F525707B}"/>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4" name="Groupe 23">
                <a:extLst>
                  <a:ext uri="{FF2B5EF4-FFF2-40B4-BE49-F238E27FC236}">
                    <a16:creationId xmlns:a16="http://schemas.microsoft.com/office/drawing/2014/main" id="{21B23A6C-0D6A-206E-3FF6-50FD80B5CB02}"/>
                  </a:ext>
                </a:extLst>
              </p:cNvPr>
              <p:cNvGrpSpPr/>
              <p:nvPr/>
            </p:nvGrpSpPr>
            <p:grpSpPr>
              <a:xfrm>
                <a:off x="6564654" y="2650969"/>
                <a:ext cx="457200" cy="457200"/>
                <a:chOff x="3982824" y="1896400"/>
                <a:chExt cx="914400" cy="914400"/>
              </a:xfrm>
            </p:grpSpPr>
            <p:pic>
              <p:nvPicPr>
                <p:cNvPr id="31" name="Graphique 30" descr="Homme conductrice avec un remplissage uni">
                  <a:extLst>
                    <a:ext uri="{FF2B5EF4-FFF2-40B4-BE49-F238E27FC236}">
                      <a16:creationId xmlns:a16="http://schemas.microsoft.com/office/drawing/2014/main" id="{8CFDC456-3632-E49E-9C0D-F1C03C841F0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82824" y="1896400"/>
                  <a:ext cx="914400" cy="914400"/>
                </a:xfrm>
                <a:prstGeom prst="rect">
                  <a:avLst/>
                </a:prstGeom>
              </p:spPr>
            </p:pic>
            <p:sp>
              <p:nvSpPr>
                <p:cNvPr id="32" name="Rectangle 31">
                  <a:extLst>
                    <a:ext uri="{FF2B5EF4-FFF2-40B4-BE49-F238E27FC236}">
                      <a16:creationId xmlns:a16="http://schemas.microsoft.com/office/drawing/2014/main" id="{3AC2648F-3306-500D-EDC9-D555AD37249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5" name="Groupe 24">
                <a:extLst>
                  <a:ext uri="{FF2B5EF4-FFF2-40B4-BE49-F238E27FC236}">
                    <a16:creationId xmlns:a16="http://schemas.microsoft.com/office/drawing/2014/main" id="{9F1BE814-D8A9-F08B-2699-C5355CBA3A79}"/>
                  </a:ext>
                </a:extLst>
              </p:cNvPr>
              <p:cNvGrpSpPr/>
              <p:nvPr/>
            </p:nvGrpSpPr>
            <p:grpSpPr>
              <a:xfrm>
                <a:off x="6896431" y="2339787"/>
                <a:ext cx="457200" cy="457200"/>
                <a:chOff x="3982824" y="1896400"/>
                <a:chExt cx="914400" cy="914400"/>
              </a:xfrm>
            </p:grpSpPr>
            <p:pic>
              <p:nvPicPr>
                <p:cNvPr id="29" name="Graphique 28" descr="Homme conductrice avec un remplissage uni">
                  <a:extLst>
                    <a:ext uri="{FF2B5EF4-FFF2-40B4-BE49-F238E27FC236}">
                      <a16:creationId xmlns:a16="http://schemas.microsoft.com/office/drawing/2014/main" id="{89F1EC62-C7C8-F73A-27FC-8D5E51E00012}"/>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982824" y="1896400"/>
                  <a:ext cx="914400" cy="914400"/>
                </a:xfrm>
                <a:prstGeom prst="rect">
                  <a:avLst/>
                </a:prstGeom>
              </p:spPr>
            </p:pic>
            <p:sp>
              <p:nvSpPr>
                <p:cNvPr id="30" name="Rectangle 29">
                  <a:extLst>
                    <a:ext uri="{FF2B5EF4-FFF2-40B4-BE49-F238E27FC236}">
                      <a16:creationId xmlns:a16="http://schemas.microsoft.com/office/drawing/2014/main" id="{F770ADF3-A733-9DE2-A956-C39E5FB0F8D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6" name="Groupe 25">
                <a:extLst>
                  <a:ext uri="{FF2B5EF4-FFF2-40B4-BE49-F238E27FC236}">
                    <a16:creationId xmlns:a16="http://schemas.microsoft.com/office/drawing/2014/main" id="{731D57FB-8E06-7D71-CE6E-F80226BC3D77}"/>
                  </a:ext>
                </a:extLst>
              </p:cNvPr>
              <p:cNvGrpSpPr/>
              <p:nvPr/>
            </p:nvGrpSpPr>
            <p:grpSpPr>
              <a:xfrm>
                <a:off x="7191572" y="2664966"/>
                <a:ext cx="457200" cy="457200"/>
                <a:chOff x="3982824" y="1896400"/>
                <a:chExt cx="914400" cy="914400"/>
              </a:xfrm>
            </p:grpSpPr>
            <p:pic>
              <p:nvPicPr>
                <p:cNvPr id="27" name="Graphique 26" descr="Homme conductrice avec un remplissage uni">
                  <a:extLst>
                    <a:ext uri="{FF2B5EF4-FFF2-40B4-BE49-F238E27FC236}">
                      <a16:creationId xmlns:a16="http://schemas.microsoft.com/office/drawing/2014/main" id="{C1730A00-4D6F-03E9-2261-BA6537FAEE9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8" name="Rectangle 27">
                  <a:extLst>
                    <a:ext uri="{FF2B5EF4-FFF2-40B4-BE49-F238E27FC236}">
                      <a16:creationId xmlns:a16="http://schemas.microsoft.com/office/drawing/2014/main" id="{A3BEAE14-2F82-69E7-1318-8A3BBFB1F07B}"/>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35" name="Groupe 34">
              <a:extLst>
                <a:ext uri="{FF2B5EF4-FFF2-40B4-BE49-F238E27FC236}">
                  <a16:creationId xmlns:a16="http://schemas.microsoft.com/office/drawing/2014/main" id="{5C5AB7D2-A577-9255-05F7-7658E97DBDF8}"/>
                </a:ext>
              </a:extLst>
            </p:cNvPr>
            <p:cNvGrpSpPr/>
            <p:nvPr/>
          </p:nvGrpSpPr>
          <p:grpSpPr>
            <a:xfrm>
              <a:off x="5219072" y="5194066"/>
              <a:ext cx="661493" cy="593446"/>
              <a:chOff x="-2303692" y="7227105"/>
              <a:chExt cx="1156064" cy="1037141"/>
            </a:xfrm>
          </p:grpSpPr>
          <p:grpSp>
            <p:nvGrpSpPr>
              <p:cNvPr id="36" name="Groupe 35">
                <a:extLst>
                  <a:ext uri="{FF2B5EF4-FFF2-40B4-BE49-F238E27FC236}">
                    <a16:creationId xmlns:a16="http://schemas.microsoft.com/office/drawing/2014/main" id="{6CFBCA65-F457-6D3E-29CC-EAB155E8E4E6}"/>
                  </a:ext>
                </a:extLst>
              </p:cNvPr>
              <p:cNvGrpSpPr/>
              <p:nvPr/>
            </p:nvGrpSpPr>
            <p:grpSpPr>
              <a:xfrm>
                <a:off x="-2062028" y="7349846"/>
                <a:ext cx="914400" cy="914400"/>
                <a:chOff x="381000" y="3527564"/>
                <a:chExt cx="914400" cy="914400"/>
              </a:xfrm>
              <a:solidFill>
                <a:schemeClr val="accent1"/>
              </a:solidFill>
            </p:grpSpPr>
            <p:pic>
              <p:nvPicPr>
                <p:cNvPr id="38" name="Graphique 37" descr="Homme conductrice avec un remplissage uni">
                  <a:extLst>
                    <a:ext uri="{FF2B5EF4-FFF2-40B4-BE49-F238E27FC236}">
                      <a16:creationId xmlns:a16="http://schemas.microsoft.com/office/drawing/2014/main" id="{13438E26-34CE-5CE0-AB50-4B2209F1DB7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81000" y="3527564"/>
                  <a:ext cx="914400" cy="914400"/>
                </a:xfrm>
                <a:prstGeom prst="rect">
                  <a:avLst/>
                </a:prstGeom>
              </p:spPr>
            </p:pic>
            <p:sp>
              <p:nvSpPr>
                <p:cNvPr id="39" name="Rectangle 38">
                  <a:extLst>
                    <a:ext uri="{FF2B5EF4-FFF2-40B4-BE49-F238E27FC236}">
                      <a16:creationId xmlns:a16="http://schemas.microsoft.com/office/drawing/2014/main" id="{0E953B6E-A97E-6198-834C-8C70E8D42856}"/>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37" name="Graphique 36" descr="Point d’interrogation avec un remplissage uni">
                <a:extLst>
                  <a:ext uri="{FF2B5EF4-FFF2-40B4-BE49-F238E27FC236}">
                    <a16:creationId xmlns:a16="http://schemas.microsoft.com/office/drawing/2014/main" id="{5BBE56EA-C19B-F523-A887-CA79F44055A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2303692" y="7227105"/>
                <a:ext cx="483327" cy="483327"/>
              </a:xfrm>
              <a:prstGeom prst="rect">
                <a:avLst/>
              </a:prstGeom>
            </p:spPr>
          </p:pic>
        </p:grpSp>
        <p:grpSp>
          <p:nvGrpSpPr>
            <p:cNvPr id="3" name="Groupe 2">
              <a:extLst>
                <a:ext uri="{FF2B5EF4-FFF2-40B4-BE49-F238E27FC236}">
                  <a16:creationId xmlns:a16="http://schemas.microsoft.com/office/drawing/2014/main" id="{89479E20-F454-7713-0264-DFD4B16BB40F}"/>
                </a:ext>
              </a:extLst>
            </p:cNvPr>
            <p:cNvGrpSpPr/>
            <p:nvPr/>
          </p:nvGrpSpPr>
          <p:grpSpPr>
            <a:xfrm>
              <a:off x="6050509" y="5160491"/>
              <a:ext cx="788647" cy="680008"/>
              <a:chOff x="6974684" y="5126559"/>
              <a:chExt cx="788647" cy="680008"/>
            </a:xfrm>
          </p:grpSpPr>
          <p:pic>
            <p:nvPicPr>
              <p:cNvPr id="40" name="Graphique 39" descr="Calendrier journalier avec un remplissage uni">
                <a:extLst>
                  <a:ext uri="{FF2B5EF4-FFF2-40B4-BE49-F238E27FC236}">
                    <a16:creationId xmlns:a16="http://schemas.microsoft.com/office/drawing/2014/main" id="{A9A87887-E927-1718-6500-CDA5BB0B4BB8}"/>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6974684" y="5194066"/>
                <a:ext cx="612501" cy="612501"/>
              </a:xfrm>
              <a:prstGeom prst="rect">
                <a:avLst/>
              </a:prstGeom>
            </p:spPr>
          </p:pic>
          <p:pic>
            <p:nvPicPr>
              <p:cNvPr id="42" name="Graphique 41" descr="Priorités avec un remplissage uni">
                <a:extLst>
                  <a:ext uri="{FF2B5EF4-FFF2-40B4-BE49-F238E27FC236}">
                    <a16:creationId xmlns:a16="http://schemas.microsoft.com/office/drawing/2014/main" id="{2928F25D-B80E-951A-28BE-30D5027FECE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454547" y="5126559"/>
                <a:ext cx="308784" cy="308784"/>
              </a:xfrm>
              <a:prstGeom prst="rect">
                <a:avLst/>
              </a:prstGeom>
            </p:spPr>
          </p:pic>
        </p:grpSp>
        <p:grpSp>
          <p:nvGrpSpPr>
            <p:cNvPr id="4" name="Groupe 3">
              <a:extLst>
                <a:ext uri="{FF2B5EF4-FFF2-40B4-BE49-F238E27FC236}">
                  <a16:creationId xmlns:a16="http://schemas.microsoft.com/office/drawing/2014/main" id="{33532C3D-A3F2-F75B-1E6E-40737ECABEC2}"/>
                </a:ext>
              </a:extLst>
            </p:cNvPr>
            <p:cNvGrpSpPr/>
            <p:nvPr/>
          </p:nvGrpSpPr>
          <p:grpSpPr>
            <a:xfrm>
              <a:off x="7009100" y="4993971"/>
              <a:ext cx="702450" cy="885757"/>
              <a:chOff x="8221354" y="5012573"/>
              <a:chExt cx="702450" cy="885757"/>
            </a:xfrm>
          </p:grpSpPr>
          <p:pic>
            <p:nvPicPr>
              <p:cNvPr id="41" name="Graphique 40" descr="Filtrer avec un remplissage uni">
                <a:extLst>
                  <a:ext uri="{FF2B5EF4-FFF2-40B4-BE49-F238E27FC236}">
                    <a16:creationId xmlns:a16="http://schemas.microsoft.com/office/drawing/2014/main" id="{7C55CFAC-79DD-FF37-89FC-67CEC44862F3}"/>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8221354" y="5012573"/>
                <a:ext cx="702450" cy="702450"/>
              </a:xfrm>
              <a:prstGeom prst="rect">
                <a:avLst/>
              </a:prstGeom>
            </p:spPr>
          </p:pic>
          <p:pic>
            <p:nvPicPr>
              <p:cNvPr id="43" name="Graphique 42" descr="Priorités avec un remplissage uni">
                <a:extLst>
                  <a:ext uri="{FF2B5EF4-FFF2-40B4-BE49-F238E27FC236}">
                    <a16:creationId xmlns:a16="http://schemas.microsoft.com/office/drawing/2014/main" id="{D4CA95F5-9534-9B57-4F6F-563451A8935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372101" y="5589546"/>
                <a:ext cx="308784" cy="308784"/>
              </a:xfrm>
              <a:prstGeom prst="rect">
                <a:avLst/>
              </a:prstGeom>
            </p:spPr>
          </p:pic>
        </p:grpSp>
        <p:grpSp>
          <p:nvGrpSpPr>
            <p:cNvPr id="5" name="Groupe 4">
              <a:extLst>
                <a:ext uri="{FF2B5EF4-FFF2-40B4-BE49-F238E27FC236}">
                  <a16:creationId xmlns:a16="http://schemas.microsoft.com/office/drawing/2014/main" id="{BD2BF211-A53C-1C97-3DAB-A4053F304B72}"/>
                </a:ext>
              </a:extLst>
            </p:cNvPr>
            <p:cNvGrpSpPr/>
            <p:nvPr/>
          </p:nvGrpSpPr>
          <p:grpSpPr>
            <a:xfrm>
              <a:off x="7881492" y="5138529"/>
              <a:ext cx="691889" cy="691889"/>
              <a:chOff x="9631785" y="5243601"/>
              <a:chExt cx="691889" cy="691889"/>
            </a:xfrm>
          </p:grpSpPr>
          <p:pic>
            <p:nvPicPr>
              <p:cNvPr id="44" name="Graphique 43" descr="Enveloppe avec un remplissage uni">
                <a:extLst>
                  <a:ext uri="{FF2B5EF4-FFF2-40B4-BE49-F238E27FC236}">
                    <a16:creationId xmlns:a16="http://schemas.microsoft.com/office/drawing/2014/main" id="{F65C5002-8BDA-25EB-DB69-650E936765A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9631785" y="5243601"/>
                <a:ext cx="691889" cy="691889"/>
              </a:xfrm>
              <a:prstGeom prst="rect">
                <a:avLst/>
              </a:prstGeom>
            </p:spPr>
          </p:pic>
          <p:pic>
            <p:nvPicPr>
              <p:cNvPr id="45" name="Graphique 44" descr="Priorités avec un remplissage uni">
                <a:extLst>
                  <a:ext uri="{FF2B5EF4-FFF2-40B4-BE49-F238E27FC236}">
                    <a16:creationId xmlns:a16="http://schemas.microsoft.com/office/drawing/2014/main" id="{B7D4BAD0-84E3-5F02-72FC-6F1D1CF2774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49835" y="5404367"/>
                <a:ext cx="214258" cy="214258"/>
              </a:xfrm>
              <a:prstGeom prst="rect">
                <a:avLst/>
              </a:prstGeom>
            </p:spPr>
          </p:pic>
        </p:grpSp>
      </p:grpSp>
      <p:grpSp>
        <p:nvGrpSpPr>
          <p:cNvPr id="7" name="Groupe 6">
            <a:extLst>
              <a:ext uri="{FF2B5EF4-FFF2-40B4-BE49-F238E27FC236}">
                <a16:creationId xmlns:a16="http://schemas.microsoft.com/office/drawing/2014/main" id="{287EC8D5-FB07-2E3B-E911-A0F8A233669C}"/>
              </a:ext>
            </a:extLst>
          </p:cNvPr>
          <p:cNvGrpSpPr/>
          <p:nvPr/>
        </p:nvGrpSpPr>
        <p:grpSpPr>
          <a:xfrm>
            <a:off x="9227458" y="1894228"/>
            <a:ext cx="1914855" cy="1911458"/>
            <a:chOff x="7165804" y="1534825"/>
            <a:chExt cx="3338587" cy="3332664"/>
          </a:xfrm>
        </p:grpSpPr>
        <p:pic>
          <p:nvPicPr>
            <p:cNvPr id="50" name="Graphique 49" descr="Priorités avec un remplissage uni">
              <a:extLst>
                <a:ext uri="{FF2B5EF4-FFF2-40B4-BE49-F238E27FC236}">
                  <a16:creationId xmlns:a16="http://schemas.microsoft.com/office/drawing/2014/main" id="{9D2F291C-4C6D-7AD2-ED21-2DFA5C8AF12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220647" y="1534825"/>
              <a:ext cx="1171537" cy="1171537"/>
            </a:xfrm>
            <a:prstGeom prst="rect">
              <a:avLst/>
            </a:prstGeom>
          </p:spPr>
        </p:pic>
        <p:pic>
          <p:nvPicPr>
            <p:cNvPr id="51" name="Graphique 50" descr="Priorités avec un remplissage uni">
              <a:extLst>
                <a:ext uri="{FF2B5EF4-FFF2-40B4-BE49-F238E27FC236}">
                  <a16:creationId xmlns:a16="http://schemas.microsoft.com/office/drawing/2014/main" id="{3284E0AF-08A4-8D67-DBCE-0BF97D32703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165804" y="4030475"/>
              <a:ext cx="837014" cy="837014"/>
            </a:xfrm>
            <a:prstGeom prst="rect">
              <a:avLst/>
            </a:prstGeom>
          </p:spPr>
        </p:pic>
        <p:pic>
          <p:nvPicPr>
            <p:cNvPr id="52" name="Graphique 51" descr="Priorités avec un remplissage uni">
              <a:extLst>
                <a:ext uri="{FF2B5EF4-FFF2-40B4-BE49-F238E27FC236}">
                  <a16:creationId xmlns:a16="http://schemas.microsoft.com/office/drawing/2014/main" id="{45C6260F-B38D-77A5-BD1A-8AAF4AFA02F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383258" y="4030475"/>
              <a:ext cx="837014" cy="837014"/>
            </a:xfrm>
            <a:prstGeom prst="rect">
              <a:avLst/>
            </a:prstGeom>
          </p:spPr>
        </p:pic>
        <p:pic>
          <p:nvPicPr>
            <p:cNvPr id="53" name="Graphique 52" descr="Priorités avec un remplissage uni">
              <a:extLst>
                <a:ext uri="{FF2B5EF4-FFF2-40B4-BE49-F238E27FC236}">
                  <a16:creationId xmlns:a16="http://schemas.microsoft.com/office/drawing/2014/main" id="{E9C99BFF-EDD4-C785-F1DF-2F20B9BE4FF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67377" y="4030475"/>
              <a:ext cx="837014" cy="837014"/>
            </a:xfrm>
            <a:prstGeom prst="rect">
              <a:avLst/>
            </a:prstGeom>
          </p:spPr>
        </p:pic>
        <p:sp>
          <p:nvSpPr>
            <p:cNvPr id="54" name="Flèche : bas 53">
              <a:extLst>
                <a:ext uri="{FF2B5EF4-FFF2-40B4-BE49-F238E27FC236}">
                  <a16:creationId xmlns:a16="http://schemas.microsoft.com/office/drawing/2014/main" id="{93294657-4886-1705-EEF6-EC614759D308}"/>
                </a:ext>
              </a:extLst>
            </p:cNvPr>
            <p:cNvSpPr/>
            <p:nvPr/>
          </p:nvSpPr>
          <p:spPr>
            <a:xfrm>
              <a:off x="8801765" y="3574538"/>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Flèche : bas 54">
              <a:extLst>
                <a:ext uri="{FF2B5EF4-FFF2-40B4-BE49-F238E27FC236}">
                  <a16:creationId xmlns:a16="http://schemas.microsoft.com/office/drawing/2014/main" id="{AF85A34F-1ADA-7D99-622B-4E43ADF0B4FF}"/>
                </a:ext>
              </a:extLst>
            </p:cNvPr>
            <p:cNvSpPr/>
            <p:nvPr/>
          </p:nvSpPr>
          <p:spPr>
            <a:xfrm rot="19457352">
              <a:off x="9622345" y="3426492"/>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Flèche : bas 55">
              <a:extLst>
                <a:ext uri="{FF2B5EF4-FFF2-40B4-BE49-F238E27FC236}">
                  <a16:creationId xmlns:a16="http://schemas.microsoft.com/office/drawing/2014/main" id="{A731CFE7-7AC3-5527-6EC6-FBD014C14AD0}"/>
                </a:ext>
              </a:extLst>
            </p:cNvPr>
            <p:cNvSpPr/>
            <p:nvPr/>
          </p:nvSpPr>
          <p:spPr>
            <a:xfrm rot="2847762">
              <a:off x="7975596" y="3388339"/>
              <a:ext cx="284842" cy="378666"/>
            </a:xfrm>
            <a:prstGeom prst="down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7" name="Graphique 56" descr="Ciseaux avec un remplissage uni">
              <a:extLst>
                <a:ext uri="{FF2B5EF4-FFF2-40B4-BE49-F238E27FC236}">
                  <a16:creationId xmlns:a16="http://schemas.microsoft.com/office/drawing/2014/main" id="{260FD86C-1FF1-BABD-5320-BCF82CD7949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374285" y="2594237"/>
              <a:ext cx="1171536" cy="1171536"/>
            </a:xfrm>
            <a:prstGeom prst="rect">
              <a:avLst/>
            </a:prstGeom>
          </p:spPr>
        </p:pic>
      </p:grpSp>
      <p:sp>
        <p:nvSpPr>
          <p:cNvPr id="8" name="ZoneTexte 7">
            <a:extLst>
              <a:ext uri="{FF2B5EF4-FFF2-40B4-BE49-F238E27FC236}">
                <a16:creationId xmlns:a16="http://schemas.microsoft.com/office/drawing/2014/main" id="{C8A917B5-72C2-1D13-CF14-24AD400BD01B}"/>
              </a:ext>
            </a:extLst>
          </p:cNvPr>
          <p:cNvSpPr txBox="1"/>
          <p:nvPr/>
        </p:nvSpPr>
        <p:spPr>
          <a:xfrm>
            <a:off x="1096188" y="4215479"/>
            <a:ext cx="2628087" cy="2031325"/>
          </a:xfrm>
          <a:prstGeom prst="rect">
            <a:avLst/>
          </a:prstGeom>
          <a:noFill/>
        </p:spPr>
        <p:txBody>
          <a:bodyPr wrap="square">
            <a:spAutoFit/>
          </a:bodyPr>
          <a:lstStyle/>
          <a:p>
            <a:r>
              <a:rPr lang="fr-FR" dirty="0"/>
              <a:t>La priorisation consiste aide à identifier </a:t>
            </a:r>
            <a:r>
              <a:rPr lang="fr-FR" b="1" dirty="0">
                <a:solidFill>
                  <a:srgbClr val="ED7D31"/>
                </a:solidFill>
              </a:rPr>
              <a:t>par quelle action commencer</a:t>
            </a:r>
            <a:r>
              <a:rPr lang="fr-FR" dirty="0"/>
              <a:t>, cet exercice survient naturellement lorsqu’une communauté se complexifie.</a:t>
            </a:r>
          </a:p>
        </p:txBody>
      </p:sp>
      <p:sp>
        <p:nvSpPr>
          <p:cNvPr id="9" name="ZoneTexte 8">
            <a:extLst>
              <a:ext uri="{FF2B5EF4-FFF2-40B4-BE49-F238E27FC236}">
                <a16:creationId xmlns:a16="http://schemas.microsoft.com/office/drawing/2014/main" id="{DC8637AD-1F76-962B-C370-076E035B8EBF}"/>
              </a:ext>
            </a:extLst>
          </p:cNvPr>
          <p:cNvSpPr txBox="1"/>
          <p:nvPr/>
        </p:nvSpPr>
        <p:spPr>
          <a:xfrm>
            <a:off x="5095120" y="4215479"/>
            <a:ext cx="2705855" cy="2031325"/>
          </a:xfrm>
          <a:prstGeom prst="rect">
            <a:avLst/>
          </a:prstGeom>
          <a:noFill/>
        </p:spPr>
        <p:txBody>
          <a:bodyPr wrap="square">
            <a:spAutoFit/>
          </a:bodyPr>
          <a:lstStyle/>
          <a:p>
            <a:r>
              <a:rPr lang="fr-FR" dirty="0"/>
              <a:t>On peut concrétiser la priorisation par des </a:t>
            </a:r>
            <a:r>
              <a:rPr lang="fr-FR" b="1" dirty="0">
                <a:solidFill>
                  <a:srgbClr val="ED7D31"/>
                </a:solidFill>
              </a:rPr>
              <a:t>points de priorisation</a:t>
            </a:r>
            <a:r>
              <a:rPr lang="fr-FR" dirty="0"/>
              <a:t>, définis par divers paramètres (périmètre, </a:t>
            </a:r>
            <a:r>
              <a:rPr lang="fr-FR" dirty="0" err="1"/>
              <a:t>backlog</a:t>
            </a:r>
            <a:r>
              <a:rPr lang="fr-FR" dirty="0"/>
              <a:t>, niveau de centralisation, etc.)</a:t>
            </a:r>
          </a:p>
        </p:txBody>
      </p:sp>
      <p:sp>
        <p:nvSpPr>
          <p:cNvPr id="10" name="ZoneTexte 9">
            <a:extLst>
              <a:ext uri="{FF2B5EF4-FFF2-40B4-BE49-F238E27FC236}">
                <a16:creationId xmlns:a16="http://schemas.microsoft.com/office/drawing/2014/main" id="{21060703-8012-78C3-99CB-10BED033EC25}"/>
              </a:ext>
            </a:extLst>
          </p:cNvPr>
          <p:cNvSpPr txBox="1"/>
          <p:nvPr/>
        </p:nvSpPr>
        <p:spPr>
          <a:xfrm>
            <a:off x="9120693" y="4215479"/>
            <a:ext cx="2728407" cy="2031325"/>
          </a:xfrm>
          <a:prstGeom prst="rect">
            <a:avLst/>
          </a:prstGeom>
          <a:noFill/>
        </p:spPr>
        <p:txBody>
          <a:bodyPr wrap="square">
            <a:spAutoFit/>
          </a:bodyPr>
          <a:lstStyle/>
          <a:p>
            <a:r>
              <a:rPr lang="fr-FR" dirty="0"/>
              <a:t>Il peut être intéressant de </a:t>
            </a:r>
            <a:r>
              <a:rPr lang="fr-FR" b="1" dirty="0"/>
              <a:t>découper le </a:t>
            </a:r>
            <a:r>
              <a:rPr lang="fr-FR" b="1" dirty="0" err="1"/>
              <a:t>backlog</a:t>
            </a:r>
            <a:r>
              <a:rPr lang="fr-FR" b="1" dirty="0"/>
              <a:t> </a:t>
            </a:r>
            <a:r>
              <a:rPr lang="fr-FR" dirty="0"/>
              <a:t>de la Communauté en </a:t>
            </a:r>
            <a:r>
              <a:rPr lang="fr-FR" b="1" dirty="0">
                <a:solidFill>
                  <a:srgbClr val="ED7D31"/>
                </a:solidFill>
              </a:rPr>
              <a:t>plusieurs sous-</a:t>
            </a:r>
            <a:r>
              <a:rPr lang="fr-FR" b="1" dirty="0" err="1">
                <a:solidFill>
                  <a:srgbClr val="ED7D31"/>
                </a:solidFill>
              </a:rPr>
              <a:t>backlogs</a:t>
            </a:r>
            <a:r>
              <a:rPr lang="fr-FR" b="1" dirty="0">
                <a:solidFill>
                  <a:srgbClr val="ED7D31"/>
                </a:solidFill>
              </a:rPr>
              <a:t> plus ou moins liés</a:t>
            </a:r>
            <a:r>
              <a:rPr lang="fr-FR" dirty="0"/>
              <a:t>, et qui font l’objet chacun de leurs points de priorisation.</a:t>
            </a:r>
          </a:p>
        </p:txBody>
      </p:sp>
      <p:sp>
        <p:nvSpPr>
          <p:cNvPr id="11" name="Organigramme : Connecteur 10">
            <a:extLst>
              <a:ext uri="{FF2B5EF4-FFF2-40B4-BE49-F238E27FC236}">
                <a16:creationId xmlns:a16="http://schemas.microsoft.com/office/drawing/2014/main" id="{B555D9E1-34F1-847F-626D-5651CF691238}"/>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43</a:t>
            </a:r>
          </a:p>
        </p:txBody>
      </p:sp>
      <p:sp>
        <p:nvSpPr>
          <p:cNvPr id="12" name="Organigramme : Connecteur 11">
            <a:extLst>
              <a:ext uri="{FF2B5EF4-FFF2-40B4-BE49-F238E27FC236}">
                <a16:creationId xmlns:a16="http://schemas.microsoft.com/office/drawing/2014/main" id="{AD09A0CE-B52A-2105-A92F-790ADF0333B5}"/>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44</a:t>
            </a:r>
          </a:p>
        </p:txBody>
      </p:sp>
      <p:sp>
        <p:nvSpPr>
          <p:cNvPr id="13" name="Organigramme : Connecteur 12">
            <a:extLst>
              <a:ext uri="{FF2B5EF4-FFF2-40B4-BE49-F238E27FC236}">
                <a16:creationId xmlns:a16="http://schemas.microsoft.com/office/drawing/2014/main" id="{DC7214AB-FE5C-7AC5-FBC8-99D6F30A8791}"/>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45</a:t>
            </a:r>
          </a:p>
        </p:txBody>
      </p:sp>
    </p:spTree>
    <p:extLst>
      <p:ext uri="{BB962C8B-B14F-4D97-AF65-F5344CB8AC3E}">
        <p14:creationId xmlns:p14="http://schemas.microsoft.com/office/powerpoint/2010/main" val="3494305960"/>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Titre 1">
            <a:extLst>
              <a:ext uri="{FF2B5EF4-FFF2-40B4-BE49-F238E27FC236}">
                <a16:creationId xmlns:a16="http://schemas.microsoft.com/office/drawing/2014/main" id="{E1AF4623-852E-CEA8-8138-94B34C366FD1}"/>
              </a:ext>
            </a:extLst>
          </p:cNvPr>
          <p:cNvSpPr>
            <a:spLocks noGrp="1"/>
          </p:cNvSpPr>
          <p:nvPr>
            <p:ph type="title"/>
          </p:nvPr>
        </p:nvSpPr>
        <p:spPr>
          <a:xfrm>
            <a:off x="838200" y="365125"/>
            <a:ext cx="10515600" cy="1325563"/>
          </a:xfrm>
        </p:spPr>
        <p:txBody>
          <a:bodyPr/>
          <a:lstStyle/>
          <a:p>
            <a:r>
              <a:rPr lang="fr-FR" dirty="0"/>
              <a:t>Résumé, une phrase par image</a:t>
            </a:r>
          </a:p>
        </p:txBody>
      </p:sp>
      <p:sp>
        <p:nvSpPr>
          <p:cNvPr id="2" name="ZoneTexte 1">
            <a:extLst>
              <a:ext uri="{FF2B5EF4-FFF2-40B4-BE49-F238E27FC236}">
                <a16:creationId xmlns:a16="http://schemas.microsoft.com/office/drawing/2014/main" id="{1F6A9775-2BD6-BCE9-4947-FD91C6723A76}"/>
              </a:ext>
            </a:extLst>
          </p:cNvPr>
          <p:cNvSpPr txBox="1"/>
          <p:nvPr/>
        </p:nvSpPr>
        <p:spPr>
          <a:xfrm>
            <a:off x="1096188" y="4215479"/>
            <a:ext cx="2914553" cy="2585323"/>
          </a:xfrm>
          <a:prstGeom prst="rect">
            <a:avLst/>
          </a:prstGeom>
          <a:noFill/>
        </p:spPr>
        <p:txBody>
          <a:bodyPr wrap="square">
            <a:spAutoFit/>
          </a:bodyPr>
          <a:lstStyle/>
          <a:p>
            <a:r>
              <a:rPr lang="fr-FR" dirty="0"/>
              <a:t>On peut chercher à centraliser les décisionnaires d’une priorisation (avec un leader par exemple) ou décentraliser (tous les membres priorisent) : le </a:t>
            </a:r>
            <a:r>
              <a:rPr lang="fr-FR" b="1" dirty="0">
                <a:solidFill>
                  <a:srgbClr val="ED7D31"/>
                </a:solidFill>
              </a:rPr>
              <a:t>niveau de centralisation </a:t>
            </a:r>
            <a:r>
              <a:rPr lang="fr-FR" dirty="0"/>
              <a:t>est à définir à chaque point de priorisation.</a:t>
            </a:r>
          </a:p>
        </p:txBody>
      </p:sp>
      <p:sp>
        <p:nvSpPr>
          <p:cNvPr id="5" name="ZoneTexte 4">
            <a:extLst>
              <a:ext uri="{FF2B5EF4-FFF2-40B4-BE49-F238E27FC236}">
                <a16:creationId xmlns:a16="http://schemas.microsoft.com/office/drawing/2014/main" id="{E256BBE6-D8D9-5109-3804-144942A002F8}"/>
              </a:ext>
            </a:extLst>
          </p:cNvPr>
          <p:cNvSpPr txBox="1"/>
          <p:nvPr/>
        </p:nvSpPr>
        <p:spPr>
          <a:xfrm>
            <a:off x="5095120" y="4215479"/>
            <a:ext cx="2768720" cy="1754326"/>
          </a:xfrm>
          <a:prstGeom prst="rect">
            <a:avLst/>
          </a:prstGeom>
          <a:noFill/>
        </p:spPr>
        <p:txBody>
          <a:bodyPr wrap="square">
            <a:spAutoFit/>
          </a:bodyPr>
          <a:lstStyle/>
          <a:p>
            <a:r>
              <a:rPr lang="fr-FR" dirty="0"/>
              <a:t>Le </a:t>
            </a:r>
            <a:r>
              <a:rPr lang="fr-FR" dirty="0" err="1"/>
              <a:t>backlog</a:t>
            </a:r>
            <a:r>
              <a:rPr lang="fr-FR" dirty="0"/>
              <a:t> d’une Communauté peut prendre </a:t>
            </a:r>
            <a:r>
              <a:rPr lang="fr-FR" b="1" dirty="0">
                <a:solidFill>
                  <a:srgbClr val="ED7D31"/>
                </a:solidFill>
              </a:rPr>
              <a:t>différentes formes</a:t>
            </a:r>
            <a:r>
              <a:rPr lang="fr-FR" dirty="0"/>
              <a:t>, de la plus simple à la plus riche, à </a:t>
            </a:r>
            <a:r>
              <a:rPr lang="fr-FR" b="1" dirty="0">
                <a:solidFill>
                  <a:srgbClr val="3494BA"/>
                </a:solidFill>
              </a:rPr>
              <a:t>choisir selon les circonstances.</a:t>
            </a:r>
          </a:p>
        </p:txBody>
      </p:sp>
      <p:sp>
        <p:nvSpPr>
          <p:cNvPr id="6" name="ZoneTexte 5">
            <a:extLst>
              <a:ext uri="{FF2B5EF4-FFF2-40B4-BE49-F238E27FC236}">
                <a16:creationId xmlns:a16="http://schemas.microsoft.com/office/drawing/2014/main" id="{583681A5-0D16-3C1E-B8BE-50F58AB984BC}"/>
              </a:ext>
            </a:extLst>
          </p:cNvPr>
          <p:cNvSpPr txBox="1"/>
          <p:nvPr/>
        </p:nvSpPr>
        <p:spPr>
          <a:xfrm>
            <a:off x="9120693" y="4215479"/>
            <a:ext cx="2914553" cy="2585323"/>
          </a:xfrm>
          <a:prstGeom prst="rect">
            <a:avLst/>
          </a:prstGeom>
          <a:noFill/>
        </p:spPr>
        <p:txBody>
          <a:bodyPr wrap="square">
            <a:spAutoFit/>
          </a:bodyPr>
          <a:lstStyle/>
          <a:p>
            <a:r>
              <a:rPr lang="fr-FR" dirty="0"/>
              <a:t>Lors d’une priorisation, on peut suivre différentes </a:t>
            </a:r>
            <a:r>
              <a:rPr lang="fr-FR" b="1" dirty="0">
                <a:solidFill>
                  <a:srgbClr val="ED7D31"/>
                </a:solidFill>
              </a:rPr>
              <a:t>logiques de priorisation</a:t>
            </a:r>
            <a:r>
              <a:rPr lang="fr-FR" dirty="0"/>
              <a:t>, qui vont privilégier certains types d’actions plutôt que d’autres : s</a:t>
            </a:r>
            <a:r>
              <a:rPr lang="fr-FR" b="1" dirty="0">
                <a:solidFill>
                  <a:srgbClr val="ED7D31"/>
                </a:solidFill>
              </a:rPr>
              <a:t>’aligner sur cette logique </a:t>
            </a:r>
            <a:r>
              <a:rPr lang="fr-FR" dirty="0"/>
              <a:t>peut grandement aider l’exercice de priorisation.</a:t>
            </a:r>
          </a:p>
        </p:txBody>
      </p:sp>
      <p:sp>
        <p:nvSpPr>
          <p:cNvPr id="7" name="Organigramme : Connecteur 6">
            <a:extLst>
              <a:ext uri="{FF2B5EF4-FFF2-40B4-BE49-F238E27FC236}">
                <a16:creationId xmlns:a16="http://schemas.microsoft.com/office/drawing/2014/main" id="{59116936-AE25-CF73-3487-D2F5F2D42F3B}"/>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46</a:t>
            </a:r>
          </a:p>
        </p:txBody>
      </p:sp>
      <p:sp>
        <p:nvSpPr>
          <p:cNvPr id="10" name="Organigramme : Connecteur 9">
            <a:extLst>
              <a:ext uri="{FF2B5EF4-FFF2-40B4-BE49-F238E27FC236}">
                <a16:creationId xmlns:a16="http://schemas.microsoft.com/office/drawing/2014/main" id="{89660487-CE61-67AD-4074-10342C529121}"/>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47</a:t>
            </a:r>
          </a:p>
        </p:txBody>
      </p:sp>
      <p:sp>
        <p:nvSpPr>
          <p:cNvPr id="11" name="Organigramme : Connecteur 10">
            <a:extLst>
              <a:ext uri="{FF2B5EF4-FFF2-40B4-BE49-F238E27FC236}">
                <a16:creationId xmlns:a16="http://schemas.microsoft.com/office/drawing/2014/main" id="{759FCF0D-5A49-CAA6-0597-0E3270EBA240}"/>
              </a:ext>
            </a:extLst>
          </p:cNvPr>
          <p:cNvSpPr/>
          <p:nvPr/>
        </p:nvSpPr>
        <p:spPr>
          <a:xfrm>
            <a:off x="8128106"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48</a:t>
            </a:r>
          </a:p>
        </p:txBody>
      </p:sp>
      <p:grpSp>
        <p:nvGrpSpPr>
          <p:cNvPr id="286" name="Groupe 285">
            <a:extLst>
              <a:ext uri="{FF2B5EF4-FFF2-40B4-BE49-F238E27FC236}">
                <a16:creationId xmlns:a16="http://schemas.microsoft.com/office/drawing/2014/main" id="{8D3B6CFB-40EE-4FEC-F5F6-6AC78F9DAB2A}"/>
              </a:ext>
            </a:extLst>
          </p:cNvPr>
          <p:cNvGrpSpPr/>
          <p:nvPr/>
        </p:nvGrpSpPr>
        <p:grpSpPr>
          <a:xfrm>
            <a:off x="252957" y="2642521"/>
            <a:ext cx="3611006" cy="451862"/>
            <a:chOff x="168514" y="1285203"/>
            <a:chExt cx="11934736" cy="1493450"/>
          </a:xfrm>
        </p:grpSpPr>
        <p:sp>
          <p:nvSpPr>
            <p:cNvPr id="12" name="Flèche : double flèche horizontale 11">
              <a:extLst>
                <a:ext uri="{FF2B5EF4-FFF2-40B4-BE49-F238E27FC236}">
                  <a16:creationId xmlns:a16="http://schemas.microsoft.com/office/drawing/2014/main" id="{1C1AA43F-1B34-0585-2307-3DE6825A96F1}"/>
                </a:ext>
              </a:extLst>
            </p:cNvPr>
            <p:cNvSpPr/>
            <p:nvPr/>
          </p:nvSpPr>
          <p:spPr>
            <a:xfrm>
              <a:off x="222191" y="2418426"/>
              <a:ext cx="11881059" cy="3602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grpSp>
          <p:nvGrpSpPr>
            <p:cNvPr id="13" name="Groupe 12">
              <a:extLst>
                <a:ext uri="{FF2B5EF4-FFF2-40B4-BE49-F238E27FC236}">
                  <a16:creationId xmlns:a16="http://schemas.microsoft.com/office/drawing/2014/main" id="{63DC9DFA-1CA5-ABCA-C62E-70F03A3ADAB0}"/>
                </a:ext>
              </a:extLst>
            </p:cNvPr>
            <p:cNvGrpSpPr/>
            <p:nvPr/>
          </p:nvGrpSpPr>
          <p:grpSpPr>
            <a:xfrm>
              <a:off x="168514" y="1378724"/>
              <a:ext cx="914400" cy="914400"/>
              <a:chOff x="168514" y="2615341"/>
              <a:chExt cx="914400" cy="914400"/>
            </a:xfrm>
          </p:grpSpPr>
          <p:pic>
            <p:nvPicPr>
              <p:cNvPr id="14" name="Graphique 13" descr="Homme conductrice avec un remplissage uni">
                <a:extLst>
                  <a:ext uri="{FF2B5EF4-FFF2-40B4-BE49-F238E27FC236}">
                    <a16:creationId xmlns:a16="http://schemas.microsoft.com/office/drawing/2014/main" id="{56200B13-C8F8-FB63-CA67-38CC19A53D5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514" y="2615341"/>
                <a:ext cx="914400" cy="914400"/>
              </a:xfrm>
              <a:prstGeom prst="rect">
                <a:avLst/>
              </a:prstGeom>
            </p:spPr>
          </p:pic>
          <p:sp>
            <p:nvSpPr>
              <p:cNvPr id="15" name="Rectangle 14">
                <a:extLst>
                  <a:ext uri="{FF2B5EF4-FFF2-40B4-BE49-F238E27FC236}">
                    <a16:creationId xmlns:a16="http://schemas.microsoft.com/office/drawing/2014/main" id="{468EF955-8A15-C2B8-3CB8-0DD9F9DE3B5A}"/>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6" name="Groupe 15">
              <a:extLst>
                <a:ext uri="{FF2B5EF4-FFF2-40B4-BE49-F238E27FC236}">
                  <a16:creationId xmlns:a16="http://schemas.microsoft.com/office/drawing/2014/main" id="{3D2518AE-121B-B809-6D0E-800268D24F3D}"/>
                </a:ext>
              </a:extLst>
            </p:cNvPr>
            <p:cNvGrpSpPr/>
            <p:nvPr/>
          </p:nvGrpSpPr>
          <p:grpSpPr>
            <a:xfrm>
              <a:off x="5036368" y="1445073"/>
              <a:ext cx="911213" cy="837974"/>
              <a:chOff x="3581321" y="2486328"/>
              <a:chExt cx="1084118" cy="996982"/>
            </a:xfrm>
          </p:grpSpPr>
          <p:grpSp>
            <p:nvGrpSpPr>
              <p:cNvPr id="17" name="Groupe 16">
                <a:extLst>
                  <a:ext uri="{FF2B5EF4-FFF2-40B4-BE49-F238E27FC236}">
                    <a16:creationId xmlns:a16="http://schemas.microsoft.com/office/drawing/2014/main" id="{64FAA288-30E4-CA2E-A471-D8F2AA8E08C3}"/>
                  </a:ext>
                </a:extLst>
              </p:cNvPr>
              <p:cNvGrpSpPr/>
              <p:nvPr/>
            </p:nvGrpSpPr>
            <p:grpSpPr>
              <a:xfrm>
                <a:off x="3869497" y="3026110"/>
                <a:ext cx="457200" cy="457200"/>
                <a:chOff x="3982824" y="1896400"/>
                <a:chExt cx="914400" cy="914400"/>
              </a:xfrm>
            </p:grpSpPr>
            <p:pic>
              <p:nvPicPr>
                <p:cNvPr id="27" name="Graphique 26" descr="Homme conductrice avec un remplissage uni">
                  <a:extLst>
                    <a:ext uri="{FF2B5EF4-FFF2-40B4-BE49-F238E27FC236}">
                      <a16:creationId xmlns:a16="http://schemas.microsoft.com/office/drawing/2014/main" id="{CCA32CF1-AE91-E1A8-5923-FBD01D9033D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8" name="Rectangle 27">
                  <a:extLst>
                    <a:ext uri="{FF2B5EF4-FFF2-40B4-BE49-F238E27FC236}">
                      <a16:creationId xmlns:a16="http://schemas.microsoft.com/office/drawing/2014/main" id="{D2C1854F-6138-99A9-F324-CAD896E3455D}"/>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8" name="Groupe 17">
                <a:extLst>
                  <a:ext uri="{FF2B5EF4-FFF2-40B4-BE49-F238E27FC236}">
                    <a16:creationId xmlns:a16="http://schemas.microsoft.com/office/drawing/2014/main" id="{B3AC34CD-EEEA-8BF8-A610-882CAACD8B7E}"/>
                  </a:ext>
                </a:extLst>
              </p:cNvPr>
              <p:cNvGrpSpPr/>
              <p:nvPr/>
            </p:nvGrpSpPr>
            <p:grpSpPr>
              <a:xfrm>
                <a:off x="3581321" y="2797510"/>
                <a:ext cx="457200" cy="457200"/>
                <a:chOff x="3982824" y="1896400"/>
                <a:chExt cx="914400" cy="914400"/>
              </a:xfrm>
            </p:grpSpPr>
            <p:pic>
              <p:nvPicPr>
                <p:cNvPr id="25" name="Graphique 24" descr="Homme conductrice avec un remplissage uni">
                  <a:extLst>
                    <a:ext uri="{FF2B5EF4-FFF2-40B4-BE49-F238E27FC236}">
                      <a16:creationId xmlns:a16="http://schemas.microsoft.com/office/drawing/2014/main" id="{EEC5AB0F-9340-A42A-2FF5-7AE4154B8CC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6" name="Rectangle 25">
                  <a:extLst>
                    <a:ext uri="{FF2B5EF4-FFF2-40B4-BE49-F238E27FC236}">
                      <a16:creationId xmlns:a16="http://schemas.microsoft.com/office/drawing/2014/main" id="{218AC7B5-0563-CDD9-FE59-EE530A6F25D4}"/>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19" name="Groupe 18">
                <a:extLst>
                  <a:ext uri="{FF2B5EF4-FFF2-40B4-BE49-F238E27FC236}">
                    <a16:creationId xmlns:a16="http://schemas.microsoft.com/office/drawing/2014/main" id="{08DB2856-A80D-4CA0-3745-3D20109CE86D}"/>
                  </a:ext>
                </a:extLst>
              </p:cNvPr>
              <p:cNvGrpSpPr/>
              <p:nvPr/>
            </p:nvGrpSpPr>
            <p:grpSpPr>
              <a:xfrm>
                <a:off x="3913098" y="2486328"/>
                <a:ext cx="457200" cy="457200"/>
                <a:chOff x="3982824" y="1896400"/>
                <a:chExt cx="914400" cy="914400"/>
              </a:xfrm>
            </p:grpSpPr>
            <p:pic>
              <p:nvPicPr>
                <p:cNvPr id="23" name="Graphique 22" descr="Homme conductrice avec un remplissage uni">
                  <a:extLst>
                    <a:ext uri="{FF2B5EF4-FFF2-40B4-BE49-F238E27FC236}">
                      <a16:creationId xmlns:a16="http://schemas.microsoft.com/office/drawing/2014/main" id="{5814F1C5-9ACF-8E7E-4B3D-BF9799177F8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4" name="Rectangle 23">
                  <a:extLst>
                    <a:ext uri="{FF2B5EF4-FFF2-40B4-BE49-F238E27FC236}">
                      <a16:creationId xmlns:a16="http://schemas.microsoft.com/office/drawing/2014/main" id="{35369AF6-8686-9D99-D9CD-3C2E1A3EC02A}"/>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0" name="Groupe 19">
                <a:extLst>
                  <a:ext uri="{FF2B5EF4-FFF2-40B4-BE49-F238E27FC236}">
                    <a16:creationId xmlns:a16="http://schemas.microsoft.com/office/drawing/2014/main" id="{8B91FC49-6EA4-AB62-B167-25F8CF863D9C}"/>
                  </a:ext>
                </a:extLst>
              </p:cNvPr>
              <p:cNvGrpSpPr/>
              <p:nvPr/>
            </p:nvGrpSpPr>
            <p:grpSpPr>
              <a:xfrm>
                <a:off x="4208239" y="2811507"/>
                <a:ext cx="457200" cy="457200"/>
                <a:chOff x="3982824" y="1896400"/>
                <a:chExt cx="914400" cy="914400"/>
              </a:xfrm>
            </p:grpSpPr>
            <p:pic>
              <p:nvPicPr>
                <p:cNvPr id="21" name="Graphique 20" descr="Homme conductrice avec un remplissage uni">
                  <a:extLst>
                    <a:ext uri="{FF2B5EF4-FFF2-40B4-BE49-F238E27FC236}">
                      <a16:creationId xmlns:a16="http://schemas.microsoft.com/office/drawing/2014/main" id="{5A228AEC-7187-ADF8-5A01-1E0B49854B8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2" name="Rectangle 21">
                  <a:extLst>
                    <a:ext uri="{FF2B5EF4-FFF2-40B4-BE49-F238E27FC236}">
                      <a16:creationId xmlns:a16="http://schemas.microsoft.com/office/drawing/2014/main" id="{F4E4D704-D950-B744-EE98-E72BA243C46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9" name="Groupe 28">
              <a:extLst>
                <a:ext uri="{FF2B5EF4-FFF2-40B4-BE49-F238E27FC236}">
                  <a16:creationId xmlns:a16="http://schemas.microsoft.com/office/drawing/2014/main" id="{08840984-5953-4E00-0008-CD125F8BC104}"/>
                </a:ext>
              </a:extLst>
            </p:cNvPr>
            <p:cNvGrpSpPr/>
            <p:nvPr/>
          </p:nvGrpSpPr>
          <p:grpSpPr>
            <a:xfrm>
              <a:off x="10832785" y="1323371"/>
              <a:ext cx="1220507" cy="1027736"/>
              <a:chOff x="8572649" y="1655556"/>
              <a:chExt cx="1409636" cy="1186993"/>
            </a:xfrm>
          </p:grpSpPr>
          <p:grpSp>
            <p:nvGrpSpPr>
              <p:cNvPr id="30" name="Groupe 29">
                <a:extLst>
                  <a:ext uri="{FF2B5EF4-FFF2-40B4-BE49-F238E27FC236}">
                    <a16:creationId xmlns:a16="http://schemas.microsoft.com/office/drawing/2014/main" id="{6F329458-8261-2F70-5C8F-937860FEA7F2}"/>
                  </a:ext>
                </a:extLst>
              </p:cNvPr>
              <p:cNvGrpSpPr/>
              <p:nvPr/>
            </p:nvGrpSpPr>
            <p:grpSpPr>
              <a:xfrm>
                <a:off x="8572649" y="1655556"/>
                <a:ext cx="1409636" cy="1186993"/>
                <a:chOff x="8982504" y="3274976"/>
                <a:chExt cx="1230670" cy="1036294"/>
              </a:xfrm>
              <a:solidFill>
                <a:srgbClr val="ED7D31"/>
              </a:solidFill>
            </p:grpSpPr>
            <p:pic>
              <p:nvPicPr>
                <p:cNvPr id="137" name="Graphique 136" descr="Utilisateur avec un remplissage uni">
                  <a:extLst>
                    <a:ext uri="{FF2B5EF4-FFF2-40B4-BE49-F238E27FC236}">
                      <a16:creationId xmlns:a16="http://schemas.microsoft.com/office/drawing/2014/main" id="{7F333DB5-247D-9723-07EA-E44283EE8F7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01028" y="3274976"/>
                  <a:ext cx="336064" cy="336064"/>
                </a:xfrm>
                <a:prstGeom prst="rect">
                  <a:avLst/>
                </a:prstGeom>
              </p:spPr>
            </p:pic>
            <p:pic>
              <p:nvPicPr>
                <p:cNvPr id="138" name="Graphique 137" descr="Utilisateur avec un remplissage uni">
                  <a:extLst>
                    <a:ext uri="{FF2B5EF4-FFF2-40B4-BE49-F238E27FC236}">
                      <a16:creationId xmlns:a16="http://schemas.microsoft.com/office/drawing/2014/main" id="{106A2A60-5D6C-43E8-FD21-039698EFEBE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54140" y="3512720"/>
                  <a:ext cx="336064" cy="336064"/>
                </a:xfrm>
                <a:prstGeom prst="rect">
                  <a:avLst/>
                </a:prstGeom>
              </p:spPr>
            </p:pic>
            <p:pic>
              <p:nvPicPr>
                <p:cNvPr id="139" name="Graphique 138" descr="Utilisateur avec un remplissage uni">
                  <a:extLst>
                    <a:ext uri="{FF2B5EF4-FFF2-40B4-BE49-F238E27FC236}">
                      <a16:creationId xmlns:a16="http://schemas.microsoft.com/office/drawing/2014/main" id="{C0502570-39E4-3F83-E29B-F7C6AD1E719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89804919-275D-30A2-8DD5-5490A92619D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9FDE6BF4-2EF1-1D66-E1F2-CBE97FE2C83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142" name="Graphique 141" descr="Utilisateur avec un remplissage uni">
                  <a:extLst>
                    <a:ext uri="{FF2B5EF4-FFF2-40B4-BE49-F238E27FC236}">
                      <a16:creationId xmlns:a16="http://schemas.microsoft.com/office/drawing/2014/main" id="{CF02570B-4E2D-1A87-F265-C923AD5AD7D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143" name="Graphique 142" descr="Utilisateur avec un remplissage uni">
                  <a:extLst>
                    <a:ext uri="{FF2B5EF4-FFF2-40B4-BE49-F238E27FC236}">
                      <a16:creationId xmlns:a16="http://schemas.microsoft.com/office/drawing/2014/main" id="{C7985E96-65A7-086A-15E3-1A3D0B9FA71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144" name="Graphique 143" descr="Utilisateur avec un remplissage uni">
                  <a:extLst>
                    <a:ext uri="{FF2B5EF4-FFF2-40B4-BE49-F238E27FC236}">
                      <a16:creationId xmlns:a16="http://schemas.microsoft.com/office/drawing/2014/main" id="{CCB3D1ED-A644-83DE-70FE-723B20B0975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145" name="Graphique 144" descr="Utilisateur avec un remplissage uni">
                  <a:extLst>
                    <a:ext uri="{FF2B5EF4-FFF2-40B4-BE49-F238E27FC236}">
                      <a16:creationId xmlns:a16="http://schemas.microsoft.com/office/drawing/2014/main" id="{047741EE-15FC-9485-ADBE-CB86707C27B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83417" y="3975206"/>
                  <a:ext cx="336064" cy="336064"/>
                </a:xfrm>
                <a:prstGeom prst="rect">
                  <a:avLst/>
                </a:prstGeom>
              </p:spPr>
            </p:pic>
            <p:pic>
              <p:nvPicPr>
                <p:cNvPr id="147" name="Graphique 146" descr="Utilisateur avec un remplissage uni">
                  <a:extLst>
                    <a:ext uri="{FF2B5EF4-FFF2-40B4-BE49-F238E27FC236}">
                      <a16:creationId xmlns:a16="http://schemas.microsoft.com/office/drawing/2014/main" id="{BC6573AF-E4C3-19FF-5ABC-75514C3D3CC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152" name="Graphique 151" descr="Utilisateur avec un remplissage uni">
                  <a:extLst>
                    <a:ext uri="{FF2B5EF4-FFF2-40B4-BE49-F238E27FC236}">
                      <a16:creationId xmlns:a16="http://schemas.microsoft.com/office/drawing/2014/main" id="{7ED4137C-D76A-E4FC-8317-17A81C320BD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31" name="Groupe 30">
                <a:extLst>
                  <a:ext uri="{FF2B5EF4-FFF2-40B4-BE49-F238E27FC236}">
                    <a16:creationId xmlns:a16="http://schemas.microsoft.com/office/drawing/2014/main" id="{43235980-A51F-A9D2-A098-451B5761D79E}"/>
                  </a:ext>
                </a:extLst>
              </p:cNvPr>
              <p:cNvGrpSpPr/>
              <p:nvPr/>
            </p:nvGrpSpPr>
            <p:grpSpPr>
              <a:xfrm>
                <a:off x="8937492" y="1776645"/>
                <a:ext cx="102144" cy="191413"/>
                <a:chOff x="10178180" y="1782664"/>
                <a:chExt cx="102144" cy="191413"/>
              </a:xfrm>
            </p:grpSpPr>
            <p:cxnSp>
              <p:nvCxnSpPr>
                <p:cNvPr id="135" name="Connecteur droit 134">
                  <a:extLst>
                    <a:ext uri="{FF2B5EF4-FFF2-40B4-BE49-F238E27FC236}">
                      <a16:creationId xmlns:a16="http://schemas.microsoft.com/office/drawing/2014/main" id="{F335B18C-3BF7-C8CC-60A5-C64B665134F5}"/>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36" name="Ellipse 135">
                  <a:extLst>
                    <a:ext uri="{FF2B5EF4-FFF2-40B4-BE49-F238E27FC236}">
                      <a16:creationId xmlns:a16="http://schemas.microsoft.com/office/drawing/2014/main" id="{666B04C1-B1DE-6FDB-64EF-898D9387EE3D}"/>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 name="Groupe 31">
                <a:extLst>
                  <a:ext uri="{FF2B5EF4-FFF2-40B4-BE49-F238E27FC236}">
                    <a16:creationId xmlns:a16="http://schemas.microsoft.com/office/drawing/2014/main" id="{2E8B9993-6BB7-6C96-E422-5510D429F536}"/>
                  </a:ext>
                </a:extLst>
              </p:cNvPr>
              <p:cNvGrpSpPr/>
              <p:nvPr/>
            </p:nvGrpSpPr>
            <p:grpSpPr>
              <a:xfrm>
                <a:off x="9268284" y="1944784"/>
                <a:ext cx="102144" cy="191413"/>
                <a:chOff x="10178180" y="1782664"/>
                <a:chExt cx="102144" cy="191413"/>
              </a:xfrm>
            </p:grpSpPr>
            <p:cxnSp>
              <p:nvCxnSpPr>
                <p:cNvPr id="133" name="Connecteur droit 132">
                  <a:extLst>
                    <a:ext uri="{FF2B5EF4-FFF2-40B4-BE49-F238E27FC236}">
                      <a16:creationId xmlns:a16="http://schemas.microsoft.com/office/drawing/2014/main" id="{30513EDF-BF38-4B0E-E487-BA5EF08B3C9B}"/>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34" name="Ellipse 133">
                  <a:extLst>
                    <a:ext uri="{FF2B5EF4-FFF2-40B4-BE49-F238E27FC236}">
                      <a16:creationId xmlns:a16="http://schemas.microsoft.com/office/drawing/2014/main" id="{AE4007C7-C146-3642-65D9-9B601F45EF21}"/>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 name="Groupe 32">
                <a:extLst>
                  <a:ext uri="{FF2B5EF4-FFF2-40B4-BE49-F238E27FC236}">
                    <a16:creationId xmlns:a16="http://schemas.microsoft.com/office/drawing/2014/main" id="{93C4F049-7E9C-117C-8E4E-920670165156}"/>
                  </a:ext>
                </a:extLst>
              </p:cNvPr>
              <p:cNvGrpSpPr/>
              <p:nvPr/>
            </p:nvGrpSpPr>
            <p:grpSpPr>
              <a:xfrm>
                <a:off x="9584871" y="1954555"/>
                <a:ext cx="102144" cy="191413"/>
                <a:chOff x="10178180" y="1782664"/>
                <a:chExt cx="102144" cy="191413"/>
              </a:xfrm>
            </p:grpSpPr>
            <p:cxnSp>
              <p:nvCxnSpPr>
                <p:cNvPr id="131" name="Connecteur droit 130">
                  <a:extLst>
                    <a:ext uri="{FF2B5EF4-FFF2-40B4-BE49-F238E27FC236}">
                      <a16:creationId xmlns:a16="http://schemas.microsoft.com/office/drawing/2014/main" id="{BC0CF9DC-56C4-D2DC-0498-AA2771E3DF0B}"/>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32" name="Ellipse 131">
                  <a:extLst>
                    <a:ext uri="{FF2B5EF4-FFF2-40B4-BE49-F238E27FC236}">
                      <a16:creationId xmlns:a16="http://schemas.microsoft.com/office/drawing/2014/main" id="{55417A69-F47C-8846-ACCA-3B01765E5DC4}"/>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4" name="Groupe 33">
                <a:extLst>
                  <a:ext uri="{FF2B5EF4-FFF2-40B4-BE49-F238E27FC236}">
                    <a16:creationId xmlns:a16="http://schemas.microsoft.com/office/drawing/2014/main" id="{C5D2E474-EC28-ACB3-AD19-9B3F3C203554}"/>
                  </a:ext>
                </a:extLst>
              </p:cNvPr>
              <p:cNvGrpSpPr/>
              <p:nvPr/>
            </p:nvGrpSpPr>
            <p:grpSpPr>
              <a:xfrm>
                <a:off x="9610640" y="2276238"/>
                <a:ext cx="102144" cy="191413"/>
                <a:chOff x="10178180" y="1782664"/>
                <a:chExt cx="102144" cy="191413"/>
              </a:xfrm>
            </p:grpSpPr>
            <p:cxnSp>
              <p:nvCxnSpPr>
                <p:cNvPr id="129" name="Connecteur droit 128">
                  <a:extLst>
                    <a:ext uri="{FF2B5EF4-FFF2-40B4-BE49-F238E27FC236}">
                      <a16:creationId xmlns:a16="http://schemas.microsoft.com/office/drawing/2014/main" id="{61108A4A-413C-7AF7-C7CE-A2CF8D2BC98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30" name="Ellipse 129">
                  <a:extLst>
                    <a:ext uri="{FF2B5EF4-FFF2-40B4-BE49-F238E27FC236}">
                      <a16:creationId xmlns:a16="http://schemas.microsoft.com/office/drawing/2014/main" id="{7B72E3CF-66D3-C06C-42E8-C9113E809537}"/>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5" name="Groupe 34">
                <a:extLst>
                  <a:ext uri="{FF2B5EF4-FFF2-40B4-BE49-F238E27FC236}">
                    <a16:creationId xmlns:a16="http://schemas.microsoft.com/office/drawing/2014/main" id="{C95FCEF5-AADC-44C9-EBF8-518387C0A3BE}"/>
                  </a:ext>
                </a:extLst>
              </p:cNvPr>
              <p:cNvGrpSpPr/>
              <p:nvPr/>
            </p:nvGrpSpPr>
            <p:grpSpPr>
              <a:xfrm>
                <a:off x="9334800" y="2253116"/>
                <a:ext cx="102144" cy="191413"/>
                <a:chOff x="10178180" y="1782664"/>
                <a:chExt cx="102144" cy="191413"/>
              </a:xfrm>
            </p:grpSpPr>
            <p:cxnSp>
              <p:nvCxnSpPr>
                <p:cNvPr id="127" name="Connecteur droit 126">
                  <a:extLst>
                    <a:ext uri="{FF2B5EF4-FFF2-40B4-BE49-F238E27FC236}">
                      <a16:creationId xmlns:a16="http://schemas.microsoft.com/office/drawing/2014/main" id="{195341A8-E4A3-2002-5A1E-D08953943E93}"/>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28" name="Ellipse 127">
                  <a:extLst>
                    <a:ext uri="{FF2B5EF4-FFF2-40B4-BE49-F238E27FC236}">
                      <a16:creationId xmlns:a16="http://schemas.microsoft.com/office/drawing/2014/main" id="{20482792-20C9-3369-9750-D8CB1357399D}"/>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6" name="Groupe 35">
                <a:extLst>
                  <a:ext uri="{FF2B5EF4-FFF2-40B4-BE49-F238E27FC236}">
                    <a16:creationId xmlns:a16="http://schemas.microsoft.com/office/drawing/2014/main" id="{350B40EC-7600-2E77-F41D-4A821BA7DB2B}"/>
                  </a:ext>
                </a:extLst>
              </p:cNvPr>
              <p:cNvGrpSpPr/>
              <p:nvPr/>
            </p:nvGrpSpPr>
            <p:grpSpPr>
              <a:xfrm>
                <a:off x="8988065" y="2116634"/>
                <a:ext cx="102144" cy="191413"/>
                <a:chOff x="10178180" y="1782664"/>
                <a:chExt cx="102144" cy="191413"/>
              </a:xfrm>
            </p:grpSpPr>
            <p:cxnSp>
              <p:nvCxnSpPr>
                <p:cNvPr id="81" name="Connecteur droit 80">
                  <a:extLst>
                    <a:ext uri="{FF2B5EF4-FFF2-40B4-BE49-F238E27FC236}">
                      <a16:creationId xmlns:a16="http://schemas.microsoft.com/office/drawing/2014/main" id="{D5FBBFDA-02C5-C6B8-3BB5-62A053D8981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26" name="Ellipse 125">
                  <a:extLst>
                    <a:ext uri="{FF2B5EF4-FFF2-40B4-BE49-F238E27FC236}">
                      <a16:creationId xmlns:a16="http://schemas.microsoft.com/office/drawing/2014/main" id="{C86E31DE-7E5F-C705-8587-913078F4351A}"/>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7" name="Groupe 36">
                <a:extLst>
                  <a:ext uri="{FF2B5EF4-FFF2-40B4-BE49-F238E27FC236}">
                    <a16:creationId xmlns:a16="http://schemas.microsoft.com/office/drawing/2014/main" id="{811F8A5E-F9CD-86B2-844E-F7922A079171}"/>
                  </a:ext>
                </a:extLst>
              </p:cNvPr>
              <p:cNvGrpSpPr/>
              <p:nvPr/>
            </p:nvGrpSpPr>
            <p:grpSpPr>
              <a:xfrm>
                <a:off x="8656873" y="2059330"/>
                <a:ext cx="102144" cy="191413"/>
                <a:chOff x="10178180" y="1782664"/>
                <a:chExt cx="102144" cy="191413"/>
              </a:xfrm>
            </p:grpSpPr>
            <p:cxnSp>
              <p:nvCxnSpPr>
                <p:cNvPr id="50" name="Connecteur droit 49">
                  <a:extLst>
                    <a:ext uri="{FF2B5EF4-FFF2-40B4-BE49-F238E27FC236}">
                      <a16:creationId xmlns:a16="http://schemas.microsoft.com/office/drawing/2014/main" id="{09CE37B6-7715-417F-01FB-189A28453DCF}"/>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1" name="Ellipse 50">
                  <a:extLst>
                    <a:ext uri="{FF2B5EF4-FFF2-40B4-BE49-F238E27FC236}">
                      <a16:creationId xmlns:a16="http://schemas.microsoft.com/office/drawing/2014/main" id="{5A1A58AF-1BE1-A597-4FF8-02181422E67C}"/>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8" name="Groupe 37">
                <a:extLst>
                  <a:ext uri="{FF2B5EF4-FFF2-40B4-BE49-F238E27FC236}">
                    <a16:creationId xmlns:a16="http://schemas.microsoft.com/office/drawing/2014/main" id="{047DF16C-01EA-BAB5-FE98-602DA9052373}"/>
                  </a:ext>
                </a:extLst>
              </p:cNvPr>
              <p:cNvGrpSpPr/>
              <p:nvPr/>
            </p:nvGrpSpPr>
            <p:grpSpPr>
              <a:xfrm>
                <a:off x="8574420" y="2433143"/>
                <a:ext cx="102144" cy="191413"/>
                <a:chOff x="10178180" y="1782664"/>
                <a:chExt cx="102144" cy="191413"/>
              </a:xfrm>
            </p:grpSpPr>
            <p:cxnSp>
              <p:nvCxnSpPr>
                <p:cNvPr id="48" name="Connecteur droit 47">
                  <a:extLst>
                    <a:ext uri="{FF2B5EF4-FFF2-40B4-BE49-F238E27FC236}">
                      <a16:creationId xmlns:a16="http://schemas.microsoft.com/office/drawing/2014/main" id="{6BFD6BDE-566A-55A1-4BED-EA4E09C619F9}"/>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49" name="Ellipse 48">
                  <a:extLst>
                    <a:ext uri="{FF2B5EF4-FFF2-40B4-BE49-F238E27FC236}">
                      <a16:creationId xmlns:a16="http://schemas.microsoft.com/office/drawing/2014/main" id="{9C4F4F9A-C808-3CB1-7F6A-C967365BC043}"/>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9" name="Groupe 38">
                <a:extLst>
                  <a:ext uri="{FF2B5EF4-FFF2-40B4-BE49-F238E27FC236}">
                    <a16:creationId xmlns:a16="http://schemas.microsoft.com/office/drawing/2014/main" id="{487314B0-BE1C-284C-7C35-CF47956210AC}"/>
                  </a:ext>
                </a:extLst>
              </p:cNvPr>
              <p:cNvGrpSpPr/>
              <p:nvPr/>
            </p:nvGrpSpPr>
            <p:grpSpPr>
              <a:xfrm>
                <a:off x="8888568" y="2441622"/>
                <a:ext cx="102144" cy="191413"/>
                <a:chOff x="10178180" y="1782664"/>
                <a:chExt cx="102144" cy="191413"/>
              </a:xfrm>
            </p:grpSpPr>
            <p:cxnSp>
              <p:nvCxnSpPr>
                <p:cNvPr id="46" name="Connecteur droit 45">
                  <a:extLst>
                    <a:ext uri="{FF2B5EF4-FFF2-40B4-BE49-F238E27FC236}">
                      <a16:creationId xmlns:a16="http://schemas.microsoft.com/office/drawing/2014/main" id="{F345FA63-CB05-BB46-139B-2F7E0632FCBA}"/>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47" name="Ellipse 46">
                  <a:extLst>
                    <a:ext uri="{FF2B5EF4-FFF2-40B4-BE49-F238E27FC236}">
                      <a16:creationId xmlns:a16="http://schemas.microsoft.com/office/drawing/2014/main" id="{79D563F6-887E-DE3B-2808-7E013ED2C7C2}"/>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0" name="Groupe 39">
                <a:extLst>
                  <a:ext uri="{FF2B5EF4-FFF2-40B4-BE49-F238E27FC236}">
                    <a16:creationId xmlns:a16="http://schemas.microsoft.com/office/drawing/2014/main" id="{30AC0FEE-A6C9-360A-E9AD-377511AB2F44}"/>
                  </a:ext>
                </a:extLst>
              </p:cNvPr>
              <p:cNvGrpSpPr/>
              <p:nvPr/>
            </p:nvGrpSpPr>
            <p:grpSpPr>
              <a:xfrm>
                <a:off x="9195077" y="2553446"/>
                <a:ext cx="102144" cy="191413"/>
                <a:chOff x="10178180" y="1782664"/>
                <a:chExt cx="102144" cy="191413"/>
              </a:xfrm>
            </p:grpSpPr>
            <p:cxnSp>
              <p:nvCxnSpPr>
                <p:cNvPr id="44" name="Connecteur droit 43">
                  <a:extLst>
                    <a:ext uri="{FF2B5EF4-FFF2-40B4-BE49-F238E27FC236}">
                      <a16:creationId xmlns:a16="http://schemas.microsoft.com/office/drawing/2014/main" id="{279362D8-A19A-8B46-63D9-4858D97E707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45" name="Ellipse 44">
                  <a:extLst>
                    <a:ext uri="{FF2B5EF4-FFF2-40B4-BE49-F238E27FC236}">
                      <a16:creationId xmlns:a16="http://schemas.microsoft.com/office/drawing/2014/main" id="{AEBD2667-E2A1-C46B-9161-BC526941EF24}"/>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1" name="Groupe 40">
                <a:extLst>
                  <a:ext uri="{FF2B5EF4-FFF2-40B4-BE49-F238E27FC236}">
                    <a16:creationId xmlns:a16="http://schemas.microsoft.com/office/drawing/2014/main" id="{3A46CBB4-A18E-B191-544B-3DD583C39EE8}"/>
                  </a:ext>
                </a:extLst>
              </p:cNvPr>
              <p:cNvGrpSpPr/>
              <p:nvPr/>
            </p:nvGrpSpPr>
            <p:grpSpPr>
              <a:xfrm>
                <a:off x="9490032" y="2590463"/>
                <a:ext cx="102144" cy="191413"/>
                <a:chOff x="10178180" y="1782664"/>
                <a:chExt cx="102144" cy="191413"/>
              </a:xfrm>
            </p:grpSpPr>
            <p:cxnSp>
              <p:nvCxnSpPr>
                <p:cNvPr id="42" name="Connecteur droit 41">
                  <a:extLst>
                    <a:ext uri="{FF2B5EF4-FFF2-40B4-BE49-F238E27FC236}">
                      <a16:creationId xmlns:a16="http://schemas.microsoft.com/office/drawing/2014/main" id="{1A0EF579-A7DA-3933-AF4D-8A2A375A6534}"/>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43" name="Ellipse 42">
                  <a:extLst>
                    <a:ext uri="{FF2B5EF4-FFF2-40B4-BE49-F238E27FC236}">
                      <a16:creationId xmlns:a16="http://schemas.microsoft.com/office/drawing/2014/main" id="{80C76A44-7F37-9DA7-9E93-A17C2A88FA99}"/>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53" name="Groupe 152">
              <a:extLst>
                <a:ext uri="{FF2B5EF4-FFF2-40B4-BE49-F238E27FC236}">
                  <a16:creationId xmlns:a16="http://schemas.microsoft.com/office/drawing/2014/main" id="{A8C5AF49-3B3F-5E99-F5F8-664063A97968}"/>
                </a:ext>
              </a:extLst>
            </p:cNvPr>
            <p:cNvGrpSpPr/>
            <p:nvPr/>
          </p:nvGrpSpPr>
          <p:grpSpPr>
            <a:xfrm>
              <a:off x="9237422" y="1285203"/>
              <a:ext cx="1230159" cy="1035863"/>
              <a:chOff x="8572649" y="1655556"/>
              <a:chExt cx="1409636" cy="1186993"/>
            </a:xfrm>
          </p:grpSpPr>
          <p:grpSp>
            <p:nvGrpSpPr>
              <p:cNvPr id="154" name="Groupe 153">
                <a:extLst>
                  <a:ext uri="{FF2B5EF4-FFF2-40B4-BE49-F238E27FC236}">
                    <a16:creationId xmlns:a16="http://schemas.microsoft.com/office/drawing/2014/main" id="{3FE0D7F0-BABD-60B3-5400-F68D09573B0B}"/>
                  </a:ext>
                </a:extLst>
              </p:cNvPr>
              <p:cNvGrpSpPr/>
              <p:nvPr/>
            </p:nvGrpSpPr>
            <p:grpSpPr>
              <a:xfrm>
                <a:off x="8572649" y="1655556"/>
                <a:ext cx="1409636" cy="1186993"/>
                <a:chOff x="8982504" y="3274976"/>
                <a:chExt cx="1230670" cy="1036294"/>
              </a:xfrm>
              <a:solidFill>
                <a:srgbClr val="ED7D31"/>
              </a:solidFill>
            </p:grpSpPr>
            <p:pic>
              <p:nvPicPr>
                <p:cNvPr id="209" name="Graphique 208" descr="Utilisateur avec un remplissage uni">
                  <a:extLst>
                    <a:ext uri="{FF2B5EF4-FFF2-40B4-BE49-F238E27FC236}">
                      <a16:creationId xmlns:a16="http://schemas.microsoft.com/office/drawing/2014/main" id="{24808F3A-1464-5E9F-7D46-F4199D090D7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01028" y="3274976"/>
                  <a:ext cx="336064" cy="336064"/>
                </a:xfrm>
                <a:prstGeom prst="rect">
                  <a:avLst/>
                </a:prstGeom>
              </p:spPr>
            </p:pic>
            <p:pic>
              <p:nvPicPr>
                <p:cNvPr id="210" name="Graphique 209" descr="Utilisateur avec un remplissage uni">
                  <a:extLst>
                    <a:ext uri="{FF2B5EF4-FFF2-40B4-BE49-F238E27FC236}">
                      <a16:creationId xmlns:a16="http://schemas.microsoft.com/office/drawing/2014/main" id="{70F9A7F1-6E31-FDF1-6539-FC8C89785D6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54140" y="3512720"/>
                  <a:ext cx="336064" cy="336064"/>
                </a:xfrm>
                <a:prstGeom prst="rect">
                  <a:avLst/>
                </a:prstGeom>
              </p:spPr>
            </p:pic>
            <p:pic>
              <p:nvPicPr>
                <p:cNvPr id="211" name="Graphique 210" descr="Utilisateur avec un remplissage uni">
                  <a:extLst>
                    <a:ext uri="{FF2B5EF4-FFF2-40B4-BE49-F238E27FC236}">
                      <a16:creationId xmlns:a16="http://schemas.microsoft.com/office/drawing/2014/main" id="{187E70FC-D09F-E34F-6F7A-61F65A0D56E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345616" y="3561880"/>
                  <a:ext cx="336064" cy="336064"/>
                </a:xfrm>
                <a:prstGeom prst="rect">
                  <a:avLst/>
                </a:prstGeom>
              </p:spPr>
            </p:pic>
            <p:pic>
              <p:nvPicPr>
                <p:cNvPr id="212" name="Graphique 211" descr="Utilisateur avec un remplissage uni">
                  <a:extLst>
                    <a:ext uri="{FF2B5EF4-FFF2-40B4-BE49-F238E27FC236}">
                      <a16:creationId xmlns:a16="http://schemas.microsoft.com/office/drawing/2014/main" id="{53D932F1-C20F-A420-0189-92C87B278F2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92504" y="3418428"/>
                  <a:ext cx="336064" cy="336064"/>
                </a:xfrm>
                <a:prstGeom prst="rect">
                  <a:avLst/>
                </a:prstGeom>
              </p:spPr>
            </p:pic>
            <p:pic>
              <p:nvPicPr>
                <p:cNvPr id="213" name="Graphique 212" descr="Utilisateur avec un remplissage uni">
                  <a:extLst>
                    <a:ext uri="{FF2B5EF4-FFF2-40B4-BE49-F238E27FC236}">
                      <a16:creationId xmlns:a16="http://schemas.microsoft.com/office/drawing/2014/main" id="{B208E7A5-33D0-7676-C319-DC1F7D1D03A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35196" y="3680752"/>
                  <a:ext cx="336064" cy="336064"/>
                </a:xfrm>
                <a:prstGeom prst="rect">
                  <a:avLst/>
                </a:prstGeom>
              </p:spPr>
            </p:pic>
            <p:pic>
              <p:nvPicPr>
                <p:cNvPr id="214" name="Graphique 213" descr="Utilisateur avec un remplissage uni">
                  <a:extLst>
                    <a:ext uri="{FF2B5EF4-FFF2-40B4-BE49-F238E27FC236}">
                      <a16:creationId xmlns:a16="http://schemas.microsoft.com/office/drawing/2014/main" id="{DD60BE58-043C-19CA-F26B-B17347AEDC2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256440" y="3848784"/>
                  <a:ext cx="336064" cy="336064"/>
                </a:xfrm>
                <a:prstGeom prst="rect">
                  <a:avLst/>
                </a:prstGeom>
              </p:spPr>
            </p:pic>
            <p:pic>
              <p:nvPicPr>
                <p:cNvPr id="215" name="Graphique 214" descr="Utilisateur avec un remplissage uni">
                  <a:extLst>
                    <a:ext uri="{FF2B5EF4-FFF2-40B4-BE49-F238E27FC236}">
                      <a16:creationId xmlns:a16="http://schemas.microsoft.com/office/drawing/2014/main" id="{8560BEFC-6853-D972-0CE9-0C5A133498D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982504" y="3835028"/>
                  <a:ext cx="336064" cy="336064"/>
                </a:xfrm>
                <a:prstGeom prst="rect">
                  <a:avLst/>
                </a:prstGeom>
              </p:spPr>
            </p:pic>
            <p:pic>
              <p:nvPicPr>
                <p:cNvPr id="216" name="Graphique 215" descr="Utilisateur avec un remplissage uni">
                  <a:extLst>
                    <a:ext uri="{FF2B5EF4-FFF2-40B4-BE49-F238E27FC236}">
                      <a16:creationId xmlns:a16="http://schemas.microsoft.com/office/drawing/2014/main" id="{21720759-90DD-D50D-EC02-7F8CB805073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520868" y="3943076"/>
                  <a:ext cx="336064" cy="336064"/>
                </a:xfrm>
                <a:prstGeom prst="rect">
                  <a:avLst/>
                </a:prstGeom>
              </p:spPr>
            </p:pic>
            <p:pic>
              <p:nvPicPr>
                <p:cNvPr id="217" name="Graphique 216" descr="Utilisateur avec un remplissage uni">
                  <a:extLst>
                    <a:ext uri="{FF2B5EF4-FFF2-40B4-BE49-F238E27FC236}">
                      <a16:creationId xmlns:a16="http://schemas.microsoft.com/office/drawing/2014/main" id="{25467630-5E31-3FEA-1744-BA7E659F255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83417" y="3975206"/>
                  <a:ext cx="336064" cy="336064"/>
                </a:xfrm>
                <a:prstGeom prst="rect">
                  <a:avLst/>
                </a:prstGeom>
              </p:spPr>
            </p:pic>
            <p:pic>
              <p:nvPicPr>
                <p:cNvPr id="218" name="Graphique 217" descr="Utilisateur avec un remplissage uni">
                  <a:extLst>
                    <a:ext uri="{FF2B5EF4-FFF2-40B4-BE49-F238E27FC236}">
                      <a16:creationId xmlns:a16="http://schemas.microsoft.com/office/drawing/2014/main" id="{FB0208F3-E6BE-984D-099B-A0180886254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77110" y="3705332"/>
                  <a:ext cx="336064" cy="336064"/>
                </a:xfrm>
                <a:prstGeom prst="rect">
                  <a:avLst/>
                </a:prstGeom>
              </p:spPr>
            </p:pic>
            <p:pic>
              <p:nvPicPr>
                <p:cNvPr id="219" name="Graphique 218" descr="Utilisateur avec un remplissage uni">
                  <a:extLst>
                    <a:ext uri="{FF2B5EF4-FFF2-40B4-BE49-F238E27FC236}">
                      <a16:creationId xmlns:a16="http://schemas.microsoft.com/office/drawing/2014/main" id="{4FD47F66-8E2A-B04C-F464-6570C864828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6932" y="3429000"/>
                  <a:ext cx="336064" cy="336064"/>
                </a:xfrm>
                <a:prstGeom prst="rect">
                  <a:avLst/>
                </a:prstGeom>
              </p:spPr>
            </p:pic>
          </p:grpSp>
          <p:grpSp>
            <p:nvGrpSpPr>
              <p:cNvPr id="156" name="Groupe 155">
                <a:extLst>
                  <a:ext uri="{FF2B5EF4-FFF2-40B4-BE49-F238E27FC236}">
                    <a16:creationId xmlns:a16="http://schemas.microsoft.com/office/drawing/2014/main" id="{26CC78BC-407C-1757-296F-4E0C04091499}"/>
                  </a:ext>
                </a:extLst>
              </p:cNvPr>
              <p:cNvGrpSpPr/>
              <p:nvPr/>
            </p:nvGrpSpPr>
            <p:grpSpPr>
              <a:xfrm>
                <a:off x="8937492" y="1776645"/>
                <a:ext cx="102144" cy="191413"/>
                <a:chOff x="10178180" y="1782664"/>
                <a:chExt cx="102144" cy="191413"/>
              </a:xfrm>
            </p:grpSpPr>
            <p:cxnSp>
              <p:nvCxnSpPr>
                <p:cNvPr id="201" name="Connecteur droit 200">
                  <a:extLst>
                    <a:ext uri="{FF2B5EF4-FFF2-40B4-BE49-F238E27FC236}">
                      <a16:creationId xmlns:a16="http://schemas.microsoft.com/office/drawing/2014/main" id="{EE6BD92C-AB2D-74A4-B984-CBF2E2B06DA1}"/>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03" name="Ellipse 202">
                  <a:extLst>
                    <a:ext uri="{FF2B5EF4-FFF2-40B4-BE49-F238E27FC236}">
                      <a16:creationId xmlns:a16="http://schemas.microsoft.com/office/drawing/2014/main" id="{3F6C5E0F-5C52-4EA8-CEDE-54E7D2549D25}"/>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1" name="Ellipse 160">
                <a:extLst>
                  <a:ext uri="{FF2B5EF4-FFF2-40B4-BE49-F238E27FC236}">
                    <a16:creationId xmlns:a16="http://schemas.microsoft.com/office/drawing/2014/main" id="{CE68A6E4-6EFC-D49D-57CF-C4BAEE7A200C}"/>
                  </a:ext>
                </a:extLst>
              </p:cNvPr>
              <p:cNvSpPr/>
              <p:nvPr/>
            </p:nvSpPr>
            <p:spPr>
              <a:xfrm>
                <a:off x="9301412" y="206718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Ellipse 161">
                <a:extLst>
                  <a:ext uri="{FF2B5EF4-FFF2-40B4-BE49-F238E27FC236}">
                    <a16:creationId xmlns:a16="http://schemas.microsoft.com/office/drawing/2014/main" id="{31061E32-42A0-B0F8-0C56-BBEDD6B80DBA}"/>
                  </a:ext>
                </a:extLst>
              </p:cNvPr>
              <p:cNvSpPr/>
              <p:nvPr/>
            </p:nvSpPr>
            <p:spPr>
              <a:xfrm>
                <a:off x="9617999" y="2076952"/>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Ellipse 162">
                <a:extLst>
                  <a:ext uri="{FF2B5EF4-FFF2-40B4-BE49-F238E27FC236}">
                    <a16:creationId xmlns:a16="http://schemas.microsoft.com/office/drawing/2014/main" id="{EF51D3BB-CF71-55B4-4CF6-4758F725B34D}"/>
                  </a:ext>
                </a:extLst>
              </p:cNvPr>
              <p:cNvSpPr/>
              <p:nvPr/>
            </p:nvSpPr>
            <p:spPr>
              <a:xfrm>
                <a:off x="9643768" y="2398635"/>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Ellipse 164">
                <a:extLst>
                  <a:ext uri="{FF2B5EF4-FFF2-40B4-BE49-F238E27FC236}">
                    <a16:creationId xmlns:a16="http://schemas.microsoft.com/office/drawing/2014/main" id="{F8C54AA3-C34B-56B0-A505-AB63E992648B}"/>
                  </a:ext>
                </a:extLst>
              </p:cNvPr>
              <p:cNvSpPr/>
              <p:nvPr/>
            </p:nvSpPr>
            <p:spPr>
              <a:xfrm>
                <a:off x="9367928" y="237551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1" name="Groupe 170">
                <a:extLst>
                  <a:ext uri="{FF2B5EF4-FFF2-40B4-BE49-F238E27FC236}">
                    <a16:creationId xmlns:a16="http://schemas.microsoft.com/office/drawing/2014/main" id="{A255BE14-563F-AC69-17AC-5BA5A0BD11F1}"/>
                  </a:ext>
                </a:extLst>
              </p:cNvPr>
              <p:cNvGrpSpPr/>
              <p:nvPr/>
            </p:nvGrpSpPr>
            <p:grpSpPr>
              <a:xfrm>
                <a:off x="8988065" y="2116634"/>
                <a:ext cx="102144" cy="191413"/>
                <a:chOff x="10178180" y="1782664"/>
                <a:chExt cx="102144" cy="191413"/>
              </a:xfrm>
            </p:grpSpPr>
            <p:cxnSp>
              <p:nvCxnSpPr>
                <p:cNvPr id="199" name="Connecteur droit 198">
                  <a:extLst>
                    <a:ext uri="{FF2B5EF4-FFF2-40B4-BE49-F238E27FC236}">
                      <a16:creationId xmlns:a16="http://schemas.microsoft.com/office/drawing/2014/main" id="{847ECB63-3CF6-BFAF-A77C-9ECF6D80D41F}"/>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200" name="Ellipse 199">
                  <a:extLst>
                    <a:ext uri="{FF2B5EF4-FFF2-40B4-BE49-F238E27FC236}">
                      <a16:creationId xmlns:a16="http://schemas.microsoft.com/office/drawing/2014/main" id="{25990FF7-AE7B-1766-1477-1948F788161E}"/>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2" name="Groupe 171">
                <a:extLst>
                  <a:ext uri="{FF2B5EF4-FFF2-40B4-BE49-F238E27FC236}">
                    <a16:creationId xmlns:a16="http://schemas.microsoft.com/office/drawing/2014/main" id="{903BA41F-7AC5-3029-5E8F-ABBA730662E9}"/>
                  </a:ext>
                </a:extLst>
              </p:cNvPr>
              <p:cNvGrpSpPr/>
              <p:nvPr/>
            </p:nvGrpSpPr>
            <p:grpSpPr>
              <a:xfrm>
                <a:off x="8656873" y="2059330"/>
                <a:ext cx="102144" cy="191413"/>
                <a:chOff x="10178180" y="1782664"/>
                <a:chExt cx="102144" cy="191413"/>
              </a:xfrm>
            </p:grpSpPr>
            <p:cxnSp>
              <p:nvCxnSpPr>
                <p:cNvPr id="191" name="Connecteur droit 190">
                  <a:extLst>
                    <a:ext uri="{FF2B5EF4-FFF2-40B4-BE49-F238E27FC236}">
                      <a16:creationId xmlns:a16="http://schemas.microsoft.com/office/drawing/2014/main" id="{98EFA709-CFD2-DCF2-B3DB-B521FB86B206}"/>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93" name="Ellipse 192">
                  <a:extLst>
                    <a:ext uri="{FF2B5EF4-FFF2-40B4-BE49-F238E27FC236}">
                      <a16:creationId xmlns:a16="http://schemas.microsoft.com/office/drawing/2014/main" id="{F2116298-C9ED-2A97-272D-4B94E146EAFF}"/>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3" name="Groupe 172">
                <a:extLst>
                  <a:ext uri="{FF2B5EF4-FFF2-40B4-BE49-F238E27FC236}">
                    <a16:creationId xmlns:a16="http://schemas.microsoft.com/office/drawing/2014/main" id="{42634CD0-5545-5F69-ED13-3D0FF3E76026}"/>
                  </a:ext>
                </a:extLst>
              </p:cNvPr>
              <p:cNvGrpSpPr/>
              <p:nvPr/>
            </p:nvGrpSpPr>
            <p:grpSpPr>
              <a:xfrm>
                <a:off x="8574420" y="2433143"/>
                <a:ext cx="102144" cy="191413"/>
                <a:chOff x="10178180" y="1782664"/>
                <a:chExt cx="102144" cy="191413"/>
              </a:xfrm>
            </p:grpSpPr>
            <p:cxnSp>
              <p:nvCxnSpPr>
                <p:cNvPr id="189" name="Connecteur droit 188">
                  <a:extLst>
                    <a:ext uri="{FF2B5EF4-FFF2-40B4-BE49-F238E27FC236}">
                      <a16:creationId xmlns:a16="http://schemas.microsoft.com/office/drawing/2014/main" id="{F3DA2684-EBB9-331B-C9D5-0C95C9EF161D}"/>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90" name="Ellipse 189">
                  <a:extLst>
                    <a:ext uri="{FF2B5EF4-FFF2-40B4-BE49-F238E27FC236}">
                      <a16:creationId xmlns:a16="http://schemas.microsoft.com/office/drawing/2014/main" id="{D2F75977-F303-E46E-F288-6F40C6E42E6D}"/>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5" name="Groupe 174">
                <a:extLst>
                  <a:ext uri="{FF2B5EF4-FFF2-40B4-BE49-F238E27FC236}">
                    <a16:creationId xmlns:a16="http://schemas.microsoft.com/office/drawing/2014/main" id="{2DAADA03-8E2D-99D7-6A21-CD803A6A9553}"/>
                  </a:ext>
                </a:extLst>
              </p:cNvPr>
              <p:cNvGrpSpPr/>
              <p:nvPr/>
            </p:nvGrpSpPr>
            <p:grpSpPr>
              <a:xfrm>
                <a:off x="8888568" y="2441622"/>
                <a:ext cx="102144" cy="191413"/>
                <a:chOff x="10178180" y="1782664"/>
                <a:chExt cx="102144" cy="191413"/>
              </a:xfrm>
            </p:grpSpPr>
            <p:cxnSp>
              <p:nvCxnSpPr>
                <p:cNvPr id="182" name="Connecteur droit 181">
                  <a:extLst>
                    <a:ext uri="{FF2B5EF4-FFF2-40B4-BE49-F238E27FC236}">
                      <a16:creationId xmlns:a16="http://schemas.microsoft.com/office/drawing/2014/main" id="{030A72FE-66CA-1D96-33EC-2B9FCEEF60E7}"/>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184" name="Ellipse 183">
                  <a:extLst>
                    <a:ext uri="{FF2B5EF4-FFF2-40B4-BE49-F238E27FC236}">
                      <a16:creationId xmlns:a16="http://schemas.microsoft.com/office/drawing/2014/main" id="{2586E093-E16E-60E0-04F1-FBEF96B8B573}"/>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80" name="Ellipse 179">
                <a:extLst>
                  <a:ext uri="{FF2B5EF4-FFF2-40B4-BE49-F238E27FC236}">
                    <a16:creationId xmlns:a16="http://schemas.microsoft.com/office/drawing/2014/main" id="{C1CE5243-FB60-0C25-91EC-3E6B2C04E71B}"/>
                  </a:ext>
                </a:extLst>
              </p:cNvPr>
              <p:cNvSpPr/>
              <p:nvPr/>
            </p:nvSpPr>
            <p:spPr>
              <a:xfrm>
                <a:off x="9228205" y="267584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 name="Ellipse 180">
                <a:extLst>
                  <a:ext uri="{FF2B5EF4-FFF2-40B4-BE49-F238E27FC236}">
                    <a16:creationId xmlns:a16="http://schemas.microsoft.com/office/drawing/2014/main" id="{2FD8DF0E-148D-DE76-AA96-A59CF4C9B7D6}"/>
                  </a:ext>
                </a:extLst>
              </p:cNvPr>
              <p:cNvSpPr/>
              <p:nvPr/>
            </p:nvSpPr>
            <p:spPr>
              <a:xfrm>
                <a:off x="9523160" y="2712860"/>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20" name="Groupe 219">
              <a:extLst>
                <a:ext uri="{FF2B5EF4-FFF2-40B4-BE49-F238E27FC236}">
                  <a16:creationId xmlns:a16="http://schemas.microsoft.com/office/drawing/2014/main" id="{EECFDB54-B886-499D-BF46-FB636F8E986B}"/>
                </a:ext>
              </a:extLst>
            </p:cNvPr>
            <p:cNvGrpSpPr/>
            <p:nvPr/>
          </p:nvGrpSpPr>
          <p:grpSpPr>
            <a:xfrm>
              <a:off x="1218478" y="1426557"/>
              <a:ext cx="891895" cy="820209"/>
              <a:chOff x="1281387" y="2495253"/>
              <a:chExt cx="1084118" cy="996982"/>
            </a:xfrm>
          </p:grpSpPr>
          <p:grpSp>
            <p:nvGrpSpPr>
              <p:cNvPr id="221" name="Groupe 220">
                <a:extLst>
                  <a:ext uri="{FF2B5EF4-FFF2-40B4-BE49-F238E27FC236}">
                    <a16:creationId xmlns:a16="http://schemas.microsoft.com/office/drawing/2014/main" id="{4F123C6B-4D17-A889-0684-7FE9F5EA11C0}"/>
                  </a:ext>
                </a:extLst>
              </p:cNvPr>
              <p:cNvGrpSpPr/>
              <p:nvPr/>
            </p:nvGrpSpPr>
            <p:grpSpPr>
              <a:xfrm>
                <a:off x="1569563" y="3035035"/>
                <a:ext cx="457200" cy="457200"/>
                <a:chOff x="3982824" y="1896400"/>
                <a:chExt cx="914400" cy="914400"/>
              </a:xfrm>
            </p:grpSpPr>
            <p:pic>
              <p:nvPicPr>
                <p:cNvPr id="231" name="Graphique 230" descr="Homme conductrice avec un remplissage uni">
                  <a:extLst>
                    <a:ext uri="{FF2B5EF4-FFF2-40B4-BE49-F238E27FC236}">
                      <a16:creationId xmlns:a16="http://schemas.microsoft.com/office/drawing/2014/main" id="{F7045437-5E1F-2C5F-CAE5-4F754A63DBE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32" name="Rectangle 231">
                  <a:extLst>
                    <a:ext uri="{FF2B5EF4-FFF2-40B4-BE49-F238E27FC236}">
                      <a16:creationId xmlns:a16="http://schemas.microsoft.com/office/drawing/2014/main" id="{4D1F49F5-1433-55F7-1144-38CBDD6F3F9D}"/>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22" name="Groupe 221">
                <a:extLst>
                  <a:ext uri="{FF2B5EF4-FFF2-40B4-BE49-F238E27FC236}">
                    <a16:creationId xmlns:a16="http://schemas.microsoft.com/office/drawing/2014/main" id="{8EA15F06-0830-F2E6-2A18-D547657B6AC9}"/>
                  </a:ext>
                </a:extLst>
              </p:cNvPr>
              <p:cNvGrpSpPr/>
              <p:nvPr/>
            </p:nvGrpSpPr>
            <p:grpSpPr>
              <a:xfrm>
                <a:off x="1281387" y="2806435"/>
                <a:ext cx="457200" cy="457200"/>
                <a:chOff x="3982824" y="1896400"/>
                <a:chExt cx="914400" cy="914400"/>
              </a:xfrm>
            </p:grpSpPr>
            <p:pic>
              <p:nvPicPr>
                <p:cNvPr id="229" name="Graphique 228" descr="Homme conductrice avec un remplissage uni">
                  <a:extLst>
                    <a:ext uri="{FF2B5EF4-FFF2-40B4-BE49-F238E27FC236}">
                      <a16:creationId xmlns:a16="http://schemas.microsoft.com/office/drawing/2014/main" id="{BCCF7812-5588-2CC3-ADFA-42DB05055F3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230" name="Rectangle 229">
                  <a:extLst>
                    <a:ext uri="{FF2B5EF4-FFF2-40B4-BE49-F238E27FC236}">
                      <a16:creationId xmlns:a16="http://schemas.microsoft.com/office/drawing/2014/main" id="{0D0EF697-6876-ED99-382C-3EA6ADBD4947}"/>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23" name="Groupe 222">
                <a:extLst>
                  <a:ext uri="{FF2B5EF4-FFF2-40B4-BE49-F238E27FC236}">
                    <a16:creationId xmlns:a16="http://schemas.microsoft.com/office/drawing/2014/main" id="{14A719A5-CDD3-BD97-6CF7-AC92E51D3E49}"/>
                  </a:ext>
                </a:extLst>
              </p:cNvPr>
              <p:cNvGrpSpPr/>
              <p:nvPr/>
            </p:nvGrpSpPr>
            <p:grpSpPr>
              <a:xfrm>
                <a:off x="1613164" y="2495253"/>
                <a:ext cx="457200" cy="457200"/>
                <a:chOff x="3982824" y="1896400"/>
                <a:chExt cx="914400" cy="914400"/>
              </a:xfrm>
            </p:grpSpPr>
            <p:pic>
              <p:nvPicPr>
                <p:cNvPr id="227" name="Graphique 226" descr="Homme conductrice avec un remplissage uni">
                  <a:extLst>
                    <a:ext uri="{FF2B5EF4-FFF2-40B4-BE49-F238E27FC236}">
                      <a16:creationId xmlns:a16="http://schemas.microsoft.com/office/drawing/2014/main" id="{86825472-93C9-D651-E55B-15BFFE44C46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28" name="Rectangle 227">
                  <a:extLst>
                    <a:ext uri="{FF2B5EF4-FFF2-40B4-BE49-F238E27FC236}">
                      <a16:creationId xmlns:a16="http://schemas.microsoft.com/office/drawing/2014/main" id="{8DA25C3E-4C8F-2C28-8D1A-C8953425113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24" name="Groupe 223">
                <a:extLst>
                  <a:ext uri="{FF2B5EF4-FFF2-40B4-BE49-F238E27FC236}">
                    <a16:creationId xmlns:a16="http://schemas.microsoft.com/office/drawing/2014/main" id="{B11CDB37-A1C9-E20E-DB3F-9FB2FBD0E0E0}"/>
                  </a:ext>
                </a:extLst>
              </p:cNvPr>
              <p:cNvGrpSpPr/>
              <p:nvPr/>
            </p:nvGrpSpPr>
            <p:grpSpPr>
              <a:xfrm>
                <a:off x="1908305" y="2820432"/>
                <a:ext cx="457200" cy="457200"/>
                <a:chOff x="3982824" y="1896400"/>
                <a:chExt cx="914400" cy="914400"/>
              </a:xfrm>
            </p:grpSpPr>
            <p:pic>
              <p:nvPicPr>
                <p:cNvPr id="225" name="Graphique 224" descr="Homme conductrice avec un remplissage uni">
                  <a:extLst>
                    <a:ext uri="{FF2B5EF4-FFF2-40B4-BE49-F238E27FC236}">
                      <a16:creationId xmlns:a16="http://schemas.microsoft.com/office/drawing/2014/main" id="{CE4986A4-6E99-98C7-FACC-ACF9C6A7BD1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26" name="Rectangle 225">
                  <a:extLst>
                    <a:ext uri="{FF2B5EF4-FFF2-40B4-BE49-F238E27FC236}">
                      <a16:creationId xmlns:a16="http://schemas.microsoft.com/office/drawing/2014/main" id="{3B44BAAF-ECA2-6CB8-E764-5293246AE3C0}"/>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33" name="Groupe 232">
              <a:extLst>
                <a:ext uri="{FF2B5EF4-FFF2-40B4-BE49-F238E27FC236}">
                  <a16:creationId xmlns:a16="http://schemas.microsoft.com/office/drawing/2014/main" id="{6536241F-FC22-59F0-1F0E-14871096BBE8}"/>
                </a:ext>
              </a:extLst>
            </p:cNvPr>
            <p:cNvGrpSpPr/>
            <p:nvPr/>
          </p:nvGrpSpPr>
          <p:grpSpPr>
            <a:xfrm>
              <a:off x="7739953" y="1380011"/>
              <a:ext cx="916532" cy="842866"/>
              <a:chOff x="7829288" y="2349771"/>
              <a:chExt cx="1084118" cy="996982"/>
            </a:xfrm>
          </p:grpSpPr>
          <p:grpSp>
            <p:nvGrpSpPr>
              <p:cNvPr id="234" name="Groupe 233">
                <a:extLst>
                  <a:ext uri="{FF2B5EF4-FFF2-40B4-BE49-F238E27FC236}">
                    <a16:creationId xmlns:a16="http://schemas.microsoft.com/office/drawing/2014/main" id="{1274EA66-3999-3528-EC9E-619E56F7DD6E}"/>
                  </a:ext>
                </a:extLst>
              </p:cNvPr>
              <p:cNvGrpSpPr/>
              <p:nvPr/>
            </p:nvGrpSpPr>
            <p:grpSpPr>
              <a:xfrm>
                <a:off x="8117464" y="2889553"/>
                <a:ext cx="457200" cy="457200"/>
                <a:chOff x="3982824" y="1896400"/>
                <a:chExt cx="914400" cy="914400"/>
              </a:xfrm>
            </p:grpSpPr>
            <p:pic>
              <p:nvPicPr>
                <p:cNvPr id="244" name="Graphique 243" descr="Homme conductrice avec un remplissage uni">
                  <a:extLst>
                    <a:ext uri="{FF2B5EF4-FFF2-40B4-BE49-F238E27FC236}">
                      <a16:creationId xmlns:a16="http://schemas.microsoft.com/office/drawing/2014/main" id="{EA837016-301A-C72B-7042-5F117CE14FF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45" name="Rectangle 244">
                  <a:extLst>
                    <a:ext uri="{FF2B5EF4-FFF2-40B4-BE49-F238E27FC236}">
                      <a16:creationId xmlns:a16="http://schemas.microsoft.com/office/drawing/2014/main" id="{74C28B2C-044B-32D8-DF32-8A289C21FE6D}"/>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35" name="Groupe 234">
                <a:extLst>
                  <a:ext uri="{FF2B5EF4-FFF2-40B4-BE49-F238E27FC236}">
                    <a16:creationId xmlns:a16="http://schemas.microsoft.com/office/drawing/2014/main" id="{307D2175-21D5-3016-77D4-B2B783EA1A62}"/>
                  </a:ext>
                </a:extLst>
              </p:cNvPr>
              <p:cNvGrpSpPr/>
              <p:nvPr/>
            </p:nvGrpSpPr>
            <p:grpSpPr>
              <a:xfrm>
                <a:off x="7829288" y="2660953"/>
                <a:ext cx="457200" cy="457200"/>
                <a:chOff x="3982824" y="1896400"/>
                <a:chExt cx="914400" cy="914400"/>
              </a:xfrm>
            </p:grpSpPr>
            <p:pic>
              <p:nvPicPr>
                <p:cNvPr id="242" name="Graphique 241" descr="Homme conductrice avec un remplissage uni">
                  <a:extLst>
                    <a:ext uri="{FF2B5EF4-FFF2-40B4-BE49-F238E27FC236}">
                      <a16:creationId xmlns:a16="http://schemas.microsoft.com/office/drawing/2014/main" id="{E56BE48F-B56B-D235-6F11-5D444A0AEEC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43" name="Rectangle 242">
                  <a:extLst>
                    <a:ext uri="{FF2B5EF4-FFF2-40B4-BE49-F238E27FC236}">
                      <a16:creationId xmlns:a16="http://schemas.microsoft.com/office/drawing/2014/main" id="{B11D0BBC-A829-0D0E-7DD9-E43D867D6F4A}"/>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36" name="Groupe 235">
                <a:extLst>
                  <a:ext uri="{FF2B5EF4-FFF2-40B4-BE49-F238E27FC236}">
                    <a16:creationId xmlns:a16="http://schemas.microsoft.com/office/drawing/2014/main" id="{22650A04-1696-C802-0BB5-83AB8540676C}"/>
                  </a:ext>
                </a:extLst>
              </p:cNvPr>
              <p:cNvGrpSpPr/>
              <p:nvPr/>
            </p:nvGrpSpPr>
            <p:grpSpPr>
              <a:xfrm>
                <a:off x="8161065" y="2349771"/>
                <a:ext cx="457200" cy="457200"/>
                <a:chOff x="3982824" y="1896400"/>
                <a:chExt cx="914400" cy="914400"/>
              </a:xfrm>
            </p:grpSpPr>
            <p:pic>
              <p:nvPicPr>
                <p:cNvPr id="240" name="Graphique 239" descr="Homme conductrice avec un remplissage uni">
                  <a:extLst>
                    <a:ext uri="{FF2B5EF4-FFF2-40B4-BE49-F238E27FC236}">
                      <a16:creationId xmlns:a16="http://schemas.microsoft.com/office/drawing/2014/main" id="{FF3107A2-A194-DAC2-4B8B-6174EF3B9EA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41" name="Rectangle 240">
                  <a:extLst>
                    <a:ext uri="{FF2B5EF4-FFF2-40B4-BE49-F238E27FC236}">
                      <a16:creationId xmlns:a16="http://schemas.microsoft.com/office/drawing/2014/main" id="{0F51BB63-CBF2-72E2-92B4-C92FEA86AF61}"/>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37" name="Groupe 236">
                <a:extLst>
                  <a:ext uri="{FF2B5EF4-FFF2-40B4-BE49-F238E27FC236}">
                    <a16:creationId xmlns:a16="http://schemas.microsoft.com/office/drawing/2014/main" id="{E8B3D801-62FB-315B-8B70-DB5FC7947626}"/>
                  </a:ext>
                </a:extLst>
              </p:cNvPr>
              <p:cNvGrpSpPr/>
              <p:nvPr/>
            </p:nvGrpSpPr>
            <p:grpSpPr>
              <a:xfrm>
                <a:off x="8456206" y="2674950"/>
                <a:ext cx="457200" cy="457200"/>
                <a:chOff x="3982824" y="1896400"/>
                <a:chExt cx="914400" cy="914400"/>
              </a:xfrm>
            </p:grpSpPr>
            <p:pic>
              <p:nvPicPr>
                <p:cNvPr id="238" name="Graphique 237" descr="Homme conductrice avec un remplissage uni">
                  <a:extLst>
                    <a:ext uri="{FF2B5EF4-FFF2-40B4-BE49-F238E27FC236}">
                      <a16:creationId xmlns:a16="http://schemas.microsoft.com/office/drawing/2014/main" id="{B6182404-919C-FC1E-1115-C21CE6CB40A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39" name="Rectangle 238">
                  <a:extLst>
                    <a:ext uri="{FF2B5EF4-FFF2-40B4-BE49-F238E27FC236}">
                      <a16:creationId xmlns:a16="http://schemas.microsoft.com/office/drawing/2014/main" id="{405352BA-0C77-768A-08BB-8841D47DC6E3}"/>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46" name="Groupe 245">
              <a:extLst>
                <a:ext uri="{FF2B5EF4-FFF2-40B4-BE49-F238E27FC236}">
                  <a16:creationId xmlns:a16="http://schemas.microsoft.com/office/drawing/2014/main" id="{6F01F75C-B2F5-180F-61D5-36EB2F5B529E}"/>
                </a:ext>
              </a:extLst>
            </p:cNvPr>
            <p:cNvGrpSpPr/>
            <p:nvPr/>
          </p:nvGrpSpPr>
          <p:grpSpPr>
            <a:xfrm>
              <a:off x="6346128" y="1404925"/>
              <a:ext cx="905676" cy="832882"/>
              <a:chOff x="6564654" y="2339787"/>
              <a:chExt cx="1084118" cy="996982"/>
            </a:xfrm>
          </p:grpSpPr>
          <p:grpSp>
            <p:nvGrpSpPr>
              <p:cNvPr id="247" name="Groupe 246">
                <a:extLst>
                  <a:ext uri="{FF2B5EF4-FFF2-40B4-BE49-F238E27FC236}">
                    <a16:creationId xmlns:a16="http://schemas.microsoft.com/office/drawing/2014/main" id="{C60AC1E5-1483-BB35-5B19-CF387D9AF5E3}"/>
                  </a:ext>
                </a:extLst>
              </p:cNvPr>
              <p:cNvGrpSpPr/>
              <p:nvPr/>
            </p:nvGrpSpPr>
            <p:grpSpPr>
              <a:xfrm>
                <a:off x="6852830" y="2879569"/>
                <a:ext cx="457200" cy="457200"/>
                <a:chOff x="3982824" y="1896400"/>
                <a:chExt cx="914400" cy="914400"/>
              </a:xfrm>
            </p:grpSpPr>
            <p:pic>
              <p:nvPicPr>
                <p:cNvPr id="257" name="Graphique 256" descr="Homme conductrice avec un remplissage uni">
                  <a:extLst>
                    <a:ext uri="{FF2B5EF4-FFF2-40B4-BE49-F238E27FC236}">
                      <a16:creationId xmlns:a16="http://schemas.microsoft.com/office/drawing/2014/main" id="{260A0FAD-461D-9949-56C5-8DB3562AC9F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58" name="Rectangle 257">
                  <a:extLst>
                    <a:ext uri="{FF2B5EF4-FFF2-40B4-BE49-F238E27FC236}">
                      <a16:creationId xmlns:a16="http://schemas.microsoft.com/office/drawing/2014/main" id="{9B5908F3-3A3E-09D3-CF47-7756D126988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48" name="Groupe 247">
                <a:extLst>
                  <a:ext uri="{FF2B5EF4-FFF2-40B4-BE49-F238E27FC236}">
                    <a16:creationId xmlns:a16="http://schemas.microsoft.com/office/drawing/2014/main" id="{33A44A2C-5211-D7E7-F8A9-DD7696E1F2A6}"/>
                  </a:ext>
                </a:extLst>
              </p:cNvPr>
              <p:cNvGrpSpPr/>
              <p:nvPr/>
            </p:nvGrpSpPr>
            <p:grpSpPr>
              <a:xfrm>
                <a:off x="6564654" y="2650969"/>
                <a:ext cx="457200" cy="457200"/>
                <a:chOff x="3982824" y="1896400"/>
                <a:chExt cx="914400" cy="914400"/>
              </a:xfrm>
            </p:grpSpPr>
            <p:pic>
              <p:nvPicPr>
                <p:cNvPr id="255" name="Graphique 254" descr="Homme conductrice avec un remplissage uni">
                  <a:extLst>
                    <a:ext uri="{FF2B5EF4-FFF2-40B4-BE49-F238E27FC236}">
                      <a16:creationId xmlns:a16="http://schemas.microsoft.com/office/drawing/2014/main" id="{8EAB87EE-3762-FEF3-F36D-407B778E6E0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56" name="Rectangle 255">
                  <a:extLst>
                    <a:ext uri="{FF2B5EF4-FFF2-40B4-BE49-F238E27FC236}">
                      <a16:creationId xmlns:a16="http://schemas.microsoft.com/office/drawing/2014/main" id="{CF62A10E-0499-23C9-6ED2-0B2D493D2D3D}"/>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49" name="Groupe 248">
                <a:extLst>
                  <a:ext uri="{FF2B5EF4-FFF2-40B4-BE49-F238E27FC236}">
                    <a16:creationId xmlns:a16="http://schemas.microsoft.com/office/drawing/2014/main" id="{8C712A6E-809A-59C4-A6B1-6B1F67CE53B7}"/>
                  </a:ext>
                </a:extLst>
              </p:cNvPr>
              <p:cNvGrpSpPr/>
              <p:nvPr/>
            </p:nvGrpSpPr>
            <p:grpSpPr>
              <a:xfrm>
                <a:off x="6896431" y="2339787"/>
                <a:ext cx="457200" cy="457200"/>
                <a:chOff x="3982824" y="1896400"/>
                <a:chExt cx="914400" cy="914400"/>
              </a:xfrm>
            </p:grpSpPr>
            <p:pic>
              <p:nvPicPr>
                <p:cNvPr id="253" name="Graphique 252" descr="Homme conductrice avec un remplissage uni">
                  <a:extLst>
                    <a:ext uri="{FF2B5EF4-FFF2-40B4-BE49-F238E27FC236}">
                      <a16:creationId xmlns:a16="http://schemas.microsoft.com/office/drawing/2014/main" id="{1523E067-5E79-3FEC-9233-E0D96C572B6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54" name="Rectangle 253">
                  <a:extLst>
                    <a:ext uri="{FF2B5EF4-FFF2-40B4-BE49-F238E27FC236}">
                      <a16:creationId xmlns:a16="http://schemas.microsoft.com/office/drawing/2014/main" id="{AE077A31-A661-C9BE-DA91-FD328396B43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50" name="Groupe 249">
                <a:extLst>
                  <a:ext uri="{FF2B5EF4-FFF2-40B4-BE49-F238E27FC236}">
                    <a16:creationId xmlns:a16="http://schemas.microsoft.com/office/drawing/2014/main" id="{003C3705-C6BF-87B9-9688-0B4578809D25}"/>
                  </a:ext>
                </a:extLst>
              </p:cNvPr>
              <p:cNvGrpSpPr/>
              <p:nvPr/>
            </p:nvGrpSpPr>
            <p:grpSpPr>
              <a:xfrm>
                <a:off x="7191572" y="2664966"/>
                <a:ext cx="457200" cy="457200"/>
                <a:chOff x="3982824" y="1896400"/>
                <a:chExt cx="914400" cy="914400"/>
              </a:xfrm>
            </p:grpSpPr>
            <p:pic>
              <p:nvPicPr>
                <p:cNvPr id="251" name="Graphique 250" descr="Homme conductrice avec un remplissage uni">
                  <a:extLst>
                    <a:ext uri="{FF2B5EF4-FFF2-40B4-BE49-F238E27FC236}">
                      <a16:creationId xmlns:a16="http://schemas.microsoft.com/office/drawing/2014/main" id="{F67D4253-A8DD-C6C0-2578-A6528D9983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52" name="Rectangle 251">
                  <a:extLst>
                    <a:ext uri="{FF2B5EF4-FFF2-40B4-BE49-F238E27FC236}">
                      <a16:creationId xmlns:a16="http://schemas.microsoft.com/office/drawing/2014/main" id="{FB08CD69-8D02-F664-F525-EDCEA5CF320F}"/>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sp>
          <p:nvSpPr>
            <p:cNvPr id="259" name="Rectangle 258">
              <a:extLst>
                <a:ext uri="{FF2B5EF4-FFF2-40B4-BE49-F238E27FC236}">
                  <a16:creationId xmlns:a16="http://schemas.microsoft.com/office/drawing/2014/main" id="{87357754-CE01-1088-5870-F0BD9DA6FC1B}"/>
                </a:ext>
              </a:extLst>
            </p:cNvPr>
            <p:cNvSpPr/>
            <p:nvPr/>
          </p:nvSpPr>
          <p:spPr>
            <a:xfrm>
              <a:off x="2534291" y="1395913"/>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nvGrpSpPr>
            <p:cNvPr id="260" name="Groupe 259">
              <a:extLst>
                <a:ext uri="{FF2B5EF4-FFF2-40B4-BE49-F238E27FC236}">
                  <a16:creationId xmlns:a16="http://schemas.microsoft.com/office/drawing/2014/main" id="{16D91B3A-DEBF-7D3D-F532-FFA02FCED815}"/>
                </a:ext>
              </a:extLst>
            </p:cNvPr>
            <p:cNvGrpSpPr/>
            <p:nvPr/>
          </p:nvGrpSpPr>
          <p:grpSpPr>
            <a:xfrm>
              <a:off x="2521179" y="1464959"/>
              <a:ext cx="869466" cy="799583"/>
              <a:chOff x="2391091" y="2512442"/>
              <a:chExt cx="1084118" cy="996982"/>
            </a:xfrm>
          </p:grpSpPr>
          <p:grpSp>
            <p:nvGrpSpPr>
              <p:cNvPr id="261" name="Groupe 260">
                <a:extLst>
                  <a:ext uri="{FF2B5EF4-FFF2-40B4-BE49-F238E27FC236}">
                    <a16:creationId xmlns:a16="http://schemas.microsoft.com/office/drawing/2014/main" id="{6778F676-88D7-6C76-0B81-F788B1B57F5D}"/>
                  </a:ext>
                </a:extLst>
              </p:cNvPr>
              <p:cNvGrpSpPr/>
              <p:nvPr/>
            </p:nvGrpSpPr>
            <p:grpSpPr>
              <a:xfrm>
                <a:off x="2679267" y="3052224"/>
                <a:ext cx="457200" cy="457200"/>
                <a:chOff x="3982824" y="1896400"/>
                <a:chExt cx="914400" cy="914400"/>
              </a:xfrm>
            </p:grpSpPr>
            <p:pic>
              <p:nvPicPr>
                <p:cNvPr id="271" name="Graphique 270" descr="Homme conductrice avec un remplissage uni">
                  <a:extLst>
                    <a:ext uri="{FF2B5EF4-FFF2-40B4-BE49-F238E27FC236}">
                      <a16:creationId xmlns:a16="http://schemas.microsoft.com/office/drawing/2014/main" id="{522B2564-D456-E15E-40CF-DFB98BFBA82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72" name="Rectangle 271">
                  <a:extLst>
                    <a:ext uri="{FF2B5EF4-FFF2-40B4-BE49-F238E27FC236}">
                      <a16:creationId xmlns:a16="http://schemas.microsoft.com/office/drawing/2014/main" id="{36C9A106-CFE5-040E-819A-49837165BD8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62" name="Groupe 261">
                <a:extLst>
                  <a:ext uri="{FF2B5EF4-FFF2-40B4-BE49-F238E27FC236}">
                    <a16:creationId xmlns:a16="http://schemas.microsoft.com/office/drawing/2014/main" id="{73D80E28-93D6-1F28-C374-C205569311C2}"/>
                  </a:ext>
                </a:extLst>
              </p:cNvPr>
              <p:cNvGrpSpPr/>
              <p:nvPr/>
            </p:nvGrpSpPr>
            <p:grpSpPr>
              <a:xfrm>
                <a:off x="2391091" y="2823624"/>
                <a:ext cx="457200" cy="457200"/>
                <a:chOff x="3982824" y="1896400"/>
                <a:chExt cx="914400" cy="914400"/>
              </a:xfrm>
            </p:grpSpPr>
            <p:pic>
              <p:nvPicPr>
                <p:cNvPr id="269" name="Graphique 268" descr="Homme conductrice avec un remplissage uni">
                  <a:extLst>
                    <a:ext uri="{FF2B5EF4-FFF2-40B4-BE49-F238E27FC236}">
                      <a16:creationId xmlns:a16="http://schemas.microsoft.com/office/drawing/2014/main" id="{36E4823D-5D5C-C844-EC10-EAD8A5D8F04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270" name="Rectangle 269">
                  <a:extLst>
                    <a:ext uri="{FF2B5EF4-FFF2-40B4-BE49-F238E27FC236}">
                      <a16:creationId xmlns:a16="http://schemas.microsoft.com/office/drawing/2014/main" id="{FA0E6DEC-1C84-51BA-A428-8B8475AE89F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63" name="Groupe 262">
                <a:extLst>
                  <a:ext uri="{FF2B5EF4-FFF2-40B4-BE49-F238E27FC236}">
                    <a16:creationId xmlns:a16="http://schemas.microsoft.com/office/drawing/2014/main" id="{D6D697DF-97F5-5E48-9BB6-4035D23E59D0}"/>
                  </a:ext>
                </a:extLst>
              </p:cNvPr>
              <p:cNvGrpSpPr/>
              <p:nvPr/>
            </p:nvGrpSpPr>
            <p:grpSpPr>
              <a:xfrm>
                <a:off x="2722868" y="2512442"/>
                <a:ext cx="457200" cy="457200"/>
                <a:chOff x="3982824" y="1896400"/>
                <a:chExt cx="914400" cy="914400"/>
              </a:xfrm>
            </p:grpSpPr>
            <p:pic>
              <p:nvPicPr>
                <p:cNvPr id="267" name="Graphique 266" descr="Homme conductrice avec un remplissage uni">
                  <a:extLst>
                    <a:ext uri="{FF2B5EF4-FFF2-40B4-BE49-F238E27FC236}">
                      <a16:creationId xmlns:a16="http://schemas.microsoft.com/office/drawing/2014/main" id="{08C4F388-4DE5-0173-7E92-EB2DD70FDED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68" name="Rectangle 267">
                  <a:extLst>
                    <a:ext uri="{FF2B5EF4-FFF2-40B4-BE49-F238E27FC236}">
                      <a16:creationId xmlns:a16="http://schemas.microsoft.com/office/drawing/2014/main" id="{F73844F5-06C6-2A2B-B165-FE6F1CA3424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64" name="Groupe 263">
                <a:extLst>
                  <a:ext uri="{FF2B5EF4-FFF2-40B4-BE49-F238E27FC236}">
                    <a16:creationId xmlns:a16="http://schemas.microsoft.com/office/drawing/2014/main" id="{C2F49320-5AD8-AACB-55FB-31D5D58A59C1}"/>
                  </a:ext>
                </a:extLst>
              </p:cNvPr>
              <p:cNvGrpSpPr/>
              <p:nvPr/>
            </p:nvGrpSpPr>
            <p:grpSpPr>
              <a:xfrm>
                <a:off x="3018009" y="2837621"/>
                <a:ext cx="457200" cy="457200"/>
                <a:chOff x="3982824" y="1896400"/>
                <a:chExt cx="914400" cy="914400"/>
              </a:xfrm>
            </p:grpSpPr>
            <p:pic>
              <p:nvPicPr>
                <p:cNvPr id="265" name="Graphique 264" descr="Homme conductrice avec un remplissage uni">
                  <a:extLst>
                    <a:ext uri="{FF2B5EF4-FFF2-40B4-BE49-F238E27FC236}">
                      <a16:creationId xmlns:a16="http://schemas.microsoft.com/office/drawing/2014/main" id="{6B0A8596-8662-6118-27B3-E5607738E9B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66" name="Rectangle 265">
                  <a:extLst>
                    <a:ext uri="{FF2B5EF4-FFF2-40B4-BE49-F238E27FC236}">
                      <a16:creationId xmlns:a16="http://schemas.microsoft.com/office/drawing/2014/main" id="{3E10874F-F857-425B-B03F-4DDAF1082314}"/>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73" name="Groupe 272">
              <a:extLst>
                <a:ext uri="{FF2B5EF4-FFF2-40B4-BE49-F238E27FC236}">
                  <a16:creationId xmlns:a16="http://schemas.microsoft.com/office/drawing/2014/main" id="{E015F54C-E8F5-7A48-6407-0E7968E6FAAF}"/>
                </a:ext>
              </a:extLst>
            </p:cNvPr>
            <p:cNvGrpSpPr/>
            <p:nvPr/>
          </p:nvGrpSpPr>
          <p:grpSpPr>
            <a:xfrm>
              <a:off x="3799631" y="1399672"/>
              <a:ext cx="905676" cy="832882"/>
              <a:chOff x="6564654" y="2339787"/>
              <a:chExt cx="1084118" cy="996982"/>
            </a:xfrm>
          </p:grpSpPr>
          <p:grpSp>
            <p:nvGrpSpPr>
              <p:cNvPr id="274" name="Groupe 273">
                <a:extLst>
                  <a:ext uri="{FF2B5EF4-FFF2-40B4-BE49-F238E27FC236}">
                    <a16:creationId xmlns:a16="http://schemas.microsoft.com/office/drawing/2014/main" id="{6FDDF188-B2F7-3DBD-116E-5E61D3E75497}"/>
                  </a:ext>
                </a:extLst>
              </p:cNvPr>
              <p:cNvGrpSpPr/>
              <p:nvPr/>
            </p:nvGrpSpPr>
            <p:grpSpPr>
              <a:xfrm>
                <a:off x="6852830" y="2879569"/>
                <a:ext cx="457200" cy="457200"/>
                <a:chOff x="3982824" y="1896400"/>
                <a:chExt cx="914400" cy="914400"/>
              </a:xfrm>
            </p:grpSpPr>
            <p:pic>
              <p:nvPicPr>
                <p:cNvPr id="284" name="Graphique 283" descr="Homme conductrice avec un remplissage uni">
                  <a:extLst>
                    <a:ext uri="{FF2B5EF4-FFF2-40B4-BE49-F238E27FC236}">
                      <a16:creationId xmlns:a16="http://schemas.microsoft.com/office/drawing/2014/main" id="{64672CA2-D8D8-F7DE-F794-B4683C76BB3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85" name="Rectangle 284">
                  <a:extLst>
                    <a:ext uri="{FF2B5EF4-FFF2-40B4-BE49-F238E27FC236}">
                      <a16:creationId xmlns:a16="http://schemas.microsoft.com/office/drawing/2014/main" id="{5404977B-6ED6-0197-47A0-A2AAB8FAE8D3}"/>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75" name="Groupe 274">
                <a:extLst>
                  <a:ext uri="{FF2B5EF4-FFF2-40B4-BE49-F238E27FC236}">
                    <a16:creationId xmlns:a16="http://schemas.microsoft.com/office/drawing/2014/main" id="{8F4B4FFF-FA42-BEC6-0074-CD008B3458E6}"/>
                  </a:ext>
                </a:extLst>
              </p:cNvPr>
              <p:cNvGrpSpPr/>
              <p:nvPr/>
            </p:nvGrpSpPr>
            <p:grpSpPr>
              <a:xfrm>
                <a:off x="6564654" y="2650969"/>
                <a:ext cx="457200" cy="457200"/>
                <a:chOff x="3982824" y="1896400"/>
                <a:chExt cx="914400" cy="914400"/>
              </a:xfrm>
            </p:grpSpPr>
            <p:pic>
              <p:nvPicPr>
                <p:cNvPr id="282" name="Graphique 281" descr="Homme conductrice avec un remplissage uni">
                  <a:extLst>
                    <a:ext uri="{FF2B5EF4-FFF2-40B4-BE49-F238E27FC236}">
                      <a16:creationId xmlns:a16="http://schemas.microsoft.com/office/drawing/2014/main" id="{2E7CD85A-598C-B28E-4416-71F5CBB4E8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982824" y="1896400"/>
                  <a:ext cx="914400" cy="914400"/>
                </a:xfrm>
                <a:prstGeom prst="rect">
                  <a:avLst/>
                </a:prstGeom>
              </p:spPr>
            </p:pic>
            <p:sp>
              <p:nvSpPr>
                <p:cNvPr id="283" name="Rectangle 282">
                  <a:extLst>
                    <a:ext uri="{FF2B5EF4-FFF2-40B4-BE49-F238E27FC236}">
                      <a16:creationId xmlns:a16="http://schemas.microsoft.com/office/drawing/2014/main" id="{87CA6DAB-26DA-3A47-2D6D-136A052338D8}"/>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76" name="Groupe 275">
                <a:extLst>
                  <a:ext uri="{FF2B5EF4-FFF2-40B4-BE49-F238E27FC236}">
                    <a16:creationId xmlns:a16="http://schemas.microsoft.com/office/drawing/2014/main" id="{6FE96D44-DC3D-5DE0-2345-70DFB32AD81A}"/>
                  </a:ext>
                </a:extLst>
              </p:cNvPr>
              <p:cNvGrpSpPr/>
              <p:nvPr/>
            </p:nvGrpSpPr>
            <p:grpSpPr>
              <a:xfrm>
                <a:off x="6896431" y="2339787"/>
                <a:ext cx="457200" cy="457200"/>
                <a:chOff x="3982824" y="1896400"/>
                <a:chExt cx="914400" cy="914400"/>
              </a:xfrm>
            </p:grpSpPr>
            <p:pic>
              <p:nvPicPr>
                <p:cNvPr id="280" name="Graphique 279" descr="Homme conductrice avec un remplissage uni">
                  <a:extLst>
                    <a:ext uri="{FF2B5EF4-FFF2-40B4-BE49-F238E27FC236}">
                      <a16:creationId xmlns:a16="http://schemas.microsoft.com/office/drawing/2014/main" id="{7EC0685D-A85B-4731-2F30-6584890DDCB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982824" y="1896400"/>
                  <a:ext cx="914400" cy="914400"/>
                </a:xfrm>
                <a:prstGeom prst="rect">
                  <a:avLst/>
                </a:prstGeom>
              </p:spPr>
            </p:pic>
            <p:sp>
              <p:nvSpPr>
                <p:cNvPr id="281" name="Rectangle 280">
                  <a:extLst>
                    <a:ext uri="{FF2B5EF4-FFF2-40B4-BE49-F238E27FC236}">
                      <a16:creationId xmlns:a16="http://schemas.microsoft.com/office/drawing/2014/main" id="{CE687951-B4F2-4373-AB87-C2C188AC17DB}"/>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77" name="Groupe 276">
                <a:extLst>
                  <a:ext uri="{FF2B5EF4-FFF2-40B4-BE49-F238E27FC236}">
                    <a16:creationId xmlns:a16="http://schemas.microsoft.com/office/drawing/2014/main" id="{6FB20BC6-B1CD-41B3-0184-7879AA5F43DF}"/>
                  </a:ext>
                </a:extLst>
              </p:cNvPr>
              <p:cNvGrpSpPr/>
              <p:nvPr/>
            </p:nvGrpSpPr>
            <p:grpSpPr>
              <a:xfrm>
                <a:off x="7191572" y="2664966"/>
                <a:ext cx="457200" cy="457200"/>
                <a:chOff x="3982824" y="1896400"/>
                <a:chExt cx="914400" cy="914400"/>
              </a:xfrm>
            </p:grpSpPr>
            <p:pic>
              <p:nvPicPr>
                <p:cNvPr id="278" name="Graphique 277" descr="Homme conductrice avec un remplissage uni">
                  <a:extLst>
                    <a:ext uri="{FF2B5EF4-FFF2-40B4-BE49-F238E27FC236}">
                      <a16:creationId xmlns:a16="http://schemas.microsoft.com/office/drawing/2014/main" id="{F87C6A27-9271-D1FE-A579-3ADE57203CB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982824" y="1896400"/>
                  <a:ext cx="914400" cy="914400"/>
                </a:xfrm>
                <a:prstGeom prst="rect">
                  <a:avLst/>
                </a:prstGeom>
              </p:spPr>
            </p:pic>
            <p:sp>
              <p:nvSpPr>
                <p:cNvPr id="279" name="Rectangle 278">
                  <a:extLst>
                    <a:ext uri="{FF2B5EF4-FFF2-40B4-BE49-F238E27FC236}">
                      <a16:creationId xmlns:a16="http://schemas.microsoft.com/office/drawing/2014/main" id="{251B035B-E585-73AA-19E4-8EB5D2EFE0B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grpSp>
        <p:nvGrpSpPr>
          <p:cNvPr id="287" name="Groupe 286">
            <a:extLst>
              <a:ext uri="{FF2B5EF4-FFF2-40B4-BE49-F238E27FC236}">
                <a16:creationId xmlns:a16="http://schemas.microsoft.com/office/drawing/2014/main" id="{C00FAA7D-B01A-D3A7-6013-2BACFED479A7}"/>
              </a:ext>
            </a:extLst>
          </p:cNvPr>
          <p:cNvGrpSpPr/>
          <p:nvPr/>
        </p:nvGrpSpPr>
        <p:grpSpPr>
          <a:xfrm>
            <a:off x="4883332" y="2907916"/>
            <a:ext cx="2938021" cy="599262"/>
            <a:chOff x="236738" y="1803319"/>
            <a:chExt cx="11718524" cy="2390203"/>
          </a:xfrm>
        </p:grpSpPr>
        <p:sp>
          <p:nvSpPr>
            <p:cNvPr id="288" name="Flèche : double flèche horizontale 287">
              <a:extLst>
                <a:ext uri="{FF2B5EF4-FFF2-40B4-BE49-F238E27FC236}">
                  <a16:creationId xmlns:a16="http://schemas.microsoft.com/office/drawing/2014/main" id="{28201218-C2F1-A4EA-21A1-1283A8FB7D6D}"/>
                </a:ext>
              </a:extLst>
            </p:cNvPr>
            <p:cNvSpPr/>
            <p:nvPr/>
          </p:nvSpPr>
          <p:spPr>
            <a:xfrm>
              <a:off x="236738" y="1803319"/>
              <a:ext cx="11718524" cy="483327"/>
            </a:xfrm>
            <a:prstGeom prst="lef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fr-FR" sz="1400" dirty="0"/>
            </a:p>
          </p:txBody>
        </p:sp>
        <p:pic>
          <p:nvPicPr>
            <p:cNvPr id="289" name="Graphique 288" descr="Bulle de pensée contour">
              <a:extLst>
                <a:ext uri="{FF2B5EF4-FFF2-40B4-BE49-F238E27FC236}">
                  <a16:creationId xmlns:a16="http://schemas.microsoft.com/office/drawing/2014/main" id="{5CB0FFE2-8E1E-D1DB-921C-99B039053F30}"/>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flipH="1">
              <a:off x="586636" y="2179007"/>
              <a:ext cx="1265128" cy="1282443"/>
            </a:xfrm>
            <a:prstGeom prst="rect">
              <a:avLst/>
            </a:prstGeom>
          </p:spPr>
        </p:pic>
        <p:grpSp>
          <p:nvGrpSpPr>
            <p:cNvPr id="290" name="Groupe 289">
              <a:extLst>
                <a:ext uri="{FF2B5EF4-FFF2-40B4-BE49-F238E27FC236}">
                  <a16:creationId xmlns:a16="http://schemas.microsoft.com/office/drawing/2014/main" id="{66A8559E-ECFC-F2FD-F320-58E7A8C05D9D}"/>
                </a:ext>
              </a:extLst>
            </p:cNvPr>
            <p:cNvGrpSpPr/>
            <p:nvPr/>
          </p:nvGrpSpPr>
          <p:grpSpPr>
            <a:xfrm>
              <a:off x="1168386" y="3277428"/>
              <a:ext cx="916093" cy="916094"/>
              <a:chOff x="1195526" y="3102720"/>
              <a:chExt cx="1771118" cy="1771119"/>
            </a:xfrm>
          </p:grpSpPr>
          <p:pic>
            <p:nvPicPr>
              <p:cNvPr id="296" name="Graphique 295" descr="Homme conductrice avec un remplissage uni">
                <a:extLst>
                  <a:ext uri="{FF2B5EF4-FFF2-40B4-BE49-F238E27FC236}">
                    <a16:creationId xmlns:a16="http://schemas.microsoft.com/office/drawing/2014/main" id="{52536C30-8B36-24FD-0328-902232E562E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95526" y="3102720"/>
                <a:ext cx="1771118" cy="1771119"/>
              </a:xfrm>
              <a:prstGeom prst="rect">
                <a:avLst/>
              </a:prstGeom>
            </p:spPr>
          </p:pic>
          <p:sp>
            <p:nvSpPr>
              <p:cNvPr id="297" name="Rectangle 296">
                <a:extLst>
                  <a:ext uri="{FF2B5EF4-FFF2-40B4-BE49-F238E27FC236}">
                    <a16:creationId xmlns:a16="http://schemas.microsoft.com/office/drawing/2014/main" id="{78CA6B63-613F-3A86-A226-B14EAB8673FD}"/>
                  </a:ext>
                </a:extLst>
              </p:cNvPr>
              <p:cNvSpPr/>
              <p:nvPr/>
            </p:nvSpPr>
            <p:spPr>
              <a:xfrm>
                <a:off x="2510447" y="3102720"/>
                <a:ext cx="456197" cy="9361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291" name="Graphique 290" descr="Priorités avec un remplissage uni">
              <a:extLst>
                <a:ext uri="{FF2B5EF4-FFF2-40B4-BE49-F238E27FC236}">
                  <a16:creationId xmlns:a16="http://schemas.microsoft.com/office/drawing/2014/main" id="{FEC50BB4-A9E2-B4C3-B713-A8963806641A}"/>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13165" y="2397863"/>
              <a:ext cx="528942" cy="528942"/>
            </a:xfrm>
            <a:prstGeom prst="rect">
              <a:avLst/>
            </a:prstGeom>
          </p:spPr>
        </p:pic>
        <p:pic>
          <p:nvPicPr>
            <p:cNvPr id="292" name="Graphique 291" descr="Notes Post-it avec un remplissage uni">
              <a:extLst>
                <a:ext uri="{FF2B5EF4-FFF2-40B4-BE49-F238E27FC236}">
                  <a16:creationId xmlns:a16="http://schemas.microsoft.com/office/drawing/2014/main" id="{3209C176-29A3-084E-1B8E-3A3B34954DCB}"/>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727789" y="2697286"/>
              <a:ext cx="914400" cy="914400"/>
            </a:xfrm>
            <a:prstGeom prst="rect">
              <a:avLst/>
            </a:prstGeom>
          </p:spPr>
        </p:pic>
        <p:pic>
          <p:nvPicPr>
            <p:cNvPr id="293" name="Graphique 292" descr="Liste contour">
              <a:extLst>
                <a:ext uri="{FF2B5EF4-FFF2-40B4-BE49-F238E27FC236}">
                  <a16:creationId xmlns:a16="http://schemas.microsoft.com/office/drawing/2014/main" id="{71BAD040-8606-0F67-64B2-996BDEB8E1AB}"/>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3461668" y="2659058"/>
              <a:ext cx="914400" cy="914400"/>
            </a:xfrm>
            <a:prstGeom prst="rect">
              <a:avLst/>
            </a:prstGeom>
          </p:spPr>
        </p:pic>
        <p:pic>
          <p:nvPicPr>
            <p:cNvPr id="294" name="Image 293">
              <a:extLst>
                <a:ext uri="{FF2B5EF4-FFF2-40B4-BE49-F238E27FC236}">
                  <a16:creationId xmlns:a16="http://schemas.microsoft.com/office/drawing/2014/main" id="{C0FF80B2-7150-F87A-56A5-EFFE9ADDE551}"/>
                </a:ext>
              </a:extLst>
            </p:cNvPr>
            <p:cNvPicPr>
              <a:picLocks noChangeAspect="1"/>
            </p:cNvPicPr>
            <p:nvPr/>
          </p:nvPicPr>
          <p:blipFill rotWithShape="1">
            <a:blip r:embed="rId18"/>
            <a:srcRect r="15531"/>
            <a:stretch/>
          </p:blipFill>
          <p:spPr>
            <a:xfrm>
              <a:off x="7475230" y="2827553"/>
              <a:ext cx="2124371" cy="607770"/>
            </a:xfrm>
            <a:prstGeom prst="rect">
              <a:avLst/>
            </a:prstGeom>
          </p:spPr>
        </p:pic>
        <p:pic>
          <p:nvPicPr>
            <p:cNvPr id="295" name="Image 294" descr="Une image contenant texte&#10;&#10;Description générée automatiquement">
              <a:extLst>
                <a:ext uri="{FF2B5EF4-FFF2-40B4-BE49-F238E27FC236}">
                  <a16:creationId xmlns:a16="http://schemas.microsoft.com/office/drawing/2014/main" id="{7089B96E-EF27-5048-6EE5-C41CE086F297}"/>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9944599" y="2649661"/>
              <a:ext cx="1873188" cy="1085814"/>
            </a:xfrm>
            <a:prstGeom prst="rect">
              <a:avLst/>
            </a:prstGeom>
          </p:spPr>
        </p:pic>
      </p:grpSp>
      <p:grpSp>
        <p:nvGrpSpPr>
          <p:cNvPr id="298" name="Groupe 297">
            <a:extLst>
              <a:ext uri="{FF2B5EF4-FFF2-40B4-BE49-F238E27FC236}">
                <a16:creationId xmlns:a16="http://schemas.microsoft.com/office/drawing/2014/main" id="{B049576C-CAF3-894E-6203-0AF47A985242}"/>
              </a:ext>
            </a:extLst>
          </p:cNvPr>
          <p:cNvGrpSpPr/>
          <p:nvPr/>
        </p:nvGrpSpPr>
        <p:grpSpPr>
          <a:xfrm>
            <a:off x="8247881" y="2636626"/>
            <a:ext cx="3945159" cy="784936"/>
            <a:chOff x="293476" y="4724124"/>
            <a:chExt cx="7875340" cy="1566892"/>
          </a:xfrm>
        </p:grpSpPr>
        <p:grpSp>
          <p:nvGrpSpPr>
            <p:cNvPr id="299" name="Groupe 298">
              <a:extLst>
                <a:ext uri="{FF2B5EF4-FFF2-40B4-BE49-F238E27FC236}">
                  <a16:creationId xmlns:a16="http://schemas.microsoft.com/office/drawing/2014/main" id="{60749F8C-5C3D-9B04-D3CC-D910ECA6F6FC}"/>
                </a:ext>
              </a:extLst>
            </p:cNvPr>
            <p:cNvGrpSpPr/>
            <p:nvPr/>
          </p:nvGrpSpPr>
          <p:grpSpPr>
            <a:xfrm>
              <a:off x="5779987" y="4776895"/>
              <a:ext cx="1180829" cy="979248"/>
              <a:chOff x="114571" y="3462716"/>
              <a:chExt cx="1180829" cy="979248"/>
            </a:xfrm>
          </p:grpSpPr>
          <p:grpSp>
            <p:nvGrpSpPr>
              <p:cNvPr id="332" name="Groupe 331">
                <a:extLst>
                  <a:ext uri="{FF2B5EF4-FFF2-40B4-BE49-F238E27FC236}">
                    <a16:creationId xmlns:a16="http://schemas.microsoft.com/office/drawing/2014/main" id="{96286A54-84BA-9AD0-FBB1-320324B69305}"/>
                  </a:ext>
                </a:extLst>
              </p:cNvPr>
              <p:cNvGrpSpPr/>
              <p:nvPr/>
            </p:nvGrpSpPr>
            <p:grpSpPr>
              <a:xfrm>
                <a:off x="381000" y="3527564"/>
                <a:ext cx="914400" cy="914400"/>
                <a:chOff x="381000" y="3527564"/>
                <a:chExt cx="914400" cy="914400"/>
              </a:xfrm>
              <a:solidFill>
                <a:schemeClr val="accent1"/>
              </a:solidFill>
            </p:grpSpPr>
            <p:pic>
              <p:nvPicPr>
                <p:cNvPr id="334" name="Graphique 333" descr="Homme conductrice avec un remplissage uni">
                  <a:extLst>
                    <a:ext uri="{FF2B5EF4-FFF2-40B4-BE49-F238E27FC236}">
                      <a16:creationId xmlns:a16="http://schemas.microsoft.com/office/drawing/2014/main" id="{6601570F-4EE8-E021-76BD-33CA7713FA1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1000" y="3527564"/>
                  <a:ext cx="914400" cy="914400"/>
                </a:xfrm>
                <a:prstGeom prst="rect">
                  <a:avLst/>
                </a:prstGeom>
              </p:spPr>
            </p:pic>
            <p:sp>
              <p:nvSpPr>
                <p:cNvPr id="335" name="Rectangle 334">
                  <a:extLst>
                    <a:ext uri="{FF2B5EF4-FFF2-40B4-BE49-F238E27FC236}">
                      <a16:creationId xmlns:a16="http://schemas.microsoft.com/office/drawing/2014/main" id="{0B34114C-21A1-8026-52EE-36338E1C21BA}"/>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pic>
            <p:nvPicPr>
              <p:cNvPr id="333" name="Graphique 332" descr="Signe pouce en haut avec un remplissage uni">
                <a:extLst>
                  <a:ext uri="{FF2B5EF4-FFF2-40B4-BE49-F238E27FC236}">
                    <a16:creationId xmlns:a16="http://schemas.microsoft.com/office/drawing/2014/main" id="{93C9F1CA-2ED3-33A6-E74A-430F8752F067}"/>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flipH="1">
                <a:off x="114571" y="3462716"/>
                <a:ext cx="435880" cy="484018"/>
              </a:xfrm>
              <a:prstGeom prst="rect">
                <a:avLst/>
              </a:prstGeom>
            </p:spPr>
          </p:pic>
        </p:grpSp>
        <p:grpSp>
          <p:nvGrpSpPr>
            <p:cNvPr id="300" name="Groupe 299">
              <a:extLst>
                <a:ext uri="{FF2B5EF4-FFF2-40B4-BE49-F238E27FC236}">
                  <a16:creationId xmlns:a16="http://schemas.microsoft.com/office/drawing/2014/main" id="{AC02782F-7A2F-EA79-102F-01C5C68CAEC7}"/>
                </a:ext>
              </a:extLst>
            </p:cNvPr>
            <p:cNvGrpSpPr/>
            <p:nvPr/>
          </p:nvGrpSpPr>
          <p:grpSpPr>
            <a:xfrm>
              <a:off x="4687553" y="4724124"/>
              <a:ext cx="1072113" cy="1032019"/>
              <a:chOff x="1773919" y="3408635"/>
              <a:chExt cx="1072113" cy="1032019"/>
            </a:xfrm>
          </p:grpSpPr>
          <p:grpSp>
            <p:nvGrpSpPr>
              <p:cNvPr id="328" name="Groupe 327">
                <a:extLst>
                  <a:ext uri="{FF2B5EF4-FFF2-40B4-BE49-F238E27FC236}">
                    <a16:creationId xmlns:a16="http://schemas.microsoft.com/office/drawing/2014/main" id="{992F6D67-2AFD-CD42-010A-B6A73A91CFD6}"/>
                  </a:ext>
                </a:extLst>
              </p:cNvPr>
              <p:cNvGrpSpPr/>
              <p:nvPr/>
            </p:nvGrpSpPr>
            <p:grpSpPr>
              <a:xfrm>
                <a:off x="1931632" y="3526254"/>
                <a:ext cx="914400" cy="914400"/>
                <a:chOff x="381000" y="3527564"/>
                <a:chExt cx="914400" cy="914400"/>
              </a:xfrm>
              <a:solidFill>
                <a:schemeClr val="accent1"/>
              </a:solidFill>
            </p:grpSpPr>
            <p:pic>
              <p:nvPicPr>
                <p:cNvPr id="330" name="Graphique 329" descr="Homme conductrice avec un remplissage uni">
                  <a:extLst>
                    <a:ext uri="{FF2B5EF4-FFF2-40B4-BE49-F238E27FC236}">
                      <a16:creationId xmlns:a16="http://schemas.microsoft.com/office/drawing/2014/main" id="{005F273F-4D76-B2F7-4C48-34A323945CC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1000" y="3527564"/>
                  <a:ext cx="914400" cy="914400"/>
                </a:xfrm>
                <a:prstGeom prst="rect">
                  <a:avLst/>
                </a:prstGeom>
              </p:spPr>
            </p:pic>
            <p:sp>
              <p:nvSpPr>
                <p:cNvPr id="331" name="Rectangle 330">
                  <a:extLst>
                    <a:ext uri="{FF2B5EF4-FFF2-40B4-BE49-F238E27FC236}">
                      <a16:creationId xmlns:a16="http://schemas.microsoft.com/office/drawing/2014/main" id="{614DE45C-7DD7-547D-6C99-1DF8F868508B}"/>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329" name="Graphique 328" descr="Plan avec un remplissage uni">
                <a:extLst>
                  <a:ext uri="{FF2B5EF4-FFF2-40B4-BE49-F238E27FC236}">
                    <a16:creationId xmlns:a16="http://schemas.microsoft.com/office/drawing/2014/main" id="{780E5D01-27D8-BBCF-ABAF-3A54B61A79F2}"/>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flipH="1">
                <a:off x="1773919" y="3408635"/>
                <a:ext cx="435880" cy="503601"/>
              </a:xfrm>
              <a:prstGeom prst="rect">
                <a:avLst/>
              </a:prstGeom>
            </p:spPr>
          </p:pic>
        </p:grpSp>
        <p:grpSp>
          <p:nvGrpSpPr>
            <p:cNvPr id="301" name="Groupe 300">
              <a:extLst>
                <a:ext uri="{FF2B5EF4-FFF2-40B4-BE49-F238E27FC236}">
                  <a16:creationId xmlns:a16="http://schemas.microsoft.com/office/drawing/2014/main" id="{95B11F0C-F788-06DE-6451-B0B9F58455BD}"/>
                </a:ext>
              </a:extLst>
            </p:cNvPr>
            <p:cNvGrpSpPr/>
            <p:nvPr/>
          </p:nvGrpSpPr>
          <p:grpSpPr>
            <a:xfrm>
              <a:off x="2512775" y="4825033"/>
              <a:ext cx="1063066" cy="931110"/>
              <a:chOff x="3333598" y="3510854"/>
              <a:chExt cx="1063066" cy="931110"/>
            </a:xfrm>
          </p:grpSpPr>
          <p:grpSp>
            <p:nvGrpSpPr>
              <p:cNvPr id="324" name="Groupe 323">
                <a:extLst>
                  <a:ext uri="{FF2B5EF4-FFF2-40B4-BE49-F238E27FC236}">
                    <a16:creationId xmlns:a16="http://schemas.microsoft.com/office/drawing/2014/main" id="{13350DAB-7543-CA41-F7A2-348126341A1D}"/>
                  </a:ext>
                </a:extLst>
              </p:cNvPr>
              <p:cNvGrpSpPr/>
              <p:nvPr/>
            </p:nvGrpSpPr>
            <p:grpSpPr>
              <a:xfrm>
                <a:off x="3482264" y="3527564"/>
                <a:ext cx="914400" cy="914400"/>
                <a:chOff x="381000" y="3527564"/>
                <a:chExt cx="914400" cy="914400"/>
              </a:xfrm>
              <a:solidFill>
                <a:schemeClr val="accent1"/>
              </a:solidFill>
            </p:grpSpPr>
            <p:pic>
              <p:nvPicPr>
                <p:cNvPr id="326" name="Graphique 325" descr="Homme conductrice avec un remplissage uni">
                  <a:extLst>
                    <a:ext uri="{FF2B5EF4-FFF2-40B4-BE49-F238E27FC236}">
                      <a16:creationId xmlns:a16="http://schemas.microsoft.com/office/drawing/2014/main" id="{E0FA508E-BAE8-EB6B-4F27-0B54B63639B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1000" y="3527564"/>
                  <a:ext cx="914400" cy="914400"/>
                </a:xfrm>
                <a:prstGeom prst="rect">
                  <a:avLst/>
                </a:prstGeom>
              </p:spPr>
            </p:pic>
            <p:sp>
              <p:nvSpPr>
                <p:cNvPr id="327" name="Rectangle 326">
                  <a:extLst>
                    <a:ext uri="{FF2B5EF4-FFF2-40B4-BE49-F238E27FC236}">
                      <a16:creationId xmlns:a16="http://schemas.microsoft.com/office/drawing/2014/main" id="{B1AF629C-AD26-0EE4-C8C8-57997D55B327}"/>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pic>
            <p:nvPicPr>
              <p:cNvPr id="325" name="Graphique 324" descr="Cœur avec battements avec un remplissage uni">
                <a:extLst>
                  <a:ext uri="{FF2B5EF4-FFF2-40B4-BE49-F238E27FC236}">
                    <a16:creationId xmlns:a16="http://schemas.microsoft.com/office/drawing/2014/main" id="{E2EEE7AF-6B2E-BB23-4B52-0A3DAC9925CB}"/>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333598" y="3510854"/>
                <a:ext cx="435880" cy="435880"/>
              </a:xfrm>
              <a:prstGeom prst="rect">
                <a:avLst/>
              </a:prstGeom>
            </p:spPr>
          </p:pic>
        </p:grpSp>
        <p:grpSp>
          <p:nvGrpSpPr>
            <p:cNvPr id="302" name="Groupe 301">
              <a:extLst>
                <a:ext uri="{FF2B5EF4-FFF2-40B4-BE49-F238E27FC236}">
                  <a16:creationId xmlns:a16="http://schemas.microsoft.com/office/drawing/2014/main" id="{B11BF029-2DFF-F111-294E-140E721AFED6}"/>
                </a:ext>
              </a:extLst>
            </p:cNvPr>
            <p:cNvGrpSpPr/>
            <p:nvPr/>
          </p:nvGrpSpPr>
          <p:grpSpPr>
            <a:xfrm>
              <a:off x="3596162" y="4841743"/>
              <a:ext cx="1071070" cy="914400"/>
              <a:chOff x="6426858" y="3526254"/>
              <a:chExt cx="1071070" cy="914400"/>
            </a:xfrm>
          </p:grpSpPr>
          <p:grpSp>
            <p:nvGrpSpPr>
              <p:cNvPr id="320" name="Groupe 319">
                <a:extLst>
                  <a:ext uri="{FF2B5EF4-FFF2-40B4-BE49-F238E27FC236}">
                    <a16:creationId xmlns:a16="http://schemas.microsoft.com/office/drawing/2014/main" id="{0283B6C1-BB18-596C-F94F-5464365EEE4A}"/>
                  </a:ext>
                </a:extLst>
              </p:cNvPr>
              <p:cNvGrpSpPr/>
              <p:nvPr/>
            </p:nvGrpSpPr>
            <p:grpSpPr>
              <a:xfrm>
                <a:off x="6583528" y="3526254"/>
                <a:ext cx="914400" cy="914400"/>
                <a:chOff x="381000" y="3527564"/>
                <a:chExt cx="914400" cy="914400"/>
              </a:xfrm>
              <a:solidFill>
                <a:schemeClr val="accent1"/>
              </a:solidFill>
            </p:grpSpPr>
            <p:pic>
              <p:nvPicPr>
                <p:cNvPr id="322" name="Graphique 321" descr="Homme conductrice avec un remplissage uni">
                  <a:extLst>
                    <a:ext uri="{FF2B5EF4-FFF2-40B4-BE49-F238E27FC236}">
                      <a16:creationId xmlns:a16="http://schemas.microsoft.com/office/drawing/2014/main" id="{9AE6D921-A7FA-8B84-09AF-6C8DD79CDEF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1000" y="3527564"/>
                  <a:ext cx="914400" cy="914400"/>
                </a:xfrm>
                <a:prstGeom prst="rect">
                  <a:avLst/>
                </a:prstGeom>
              </p:spPr>
            </p:pic>
            <p:sp>
              <p:nvSpPr>
                <p:cNvPr id="323" name="Rectangle 322">
                  <a:extLst>
                    <a:ext uri="{FF2B5EF4-FFF2-40B4-BE49-F238E27FC236}">
                      <a16:creationId xmlns:a16="http://schemas.microsoft.com/office/drawing/2014/main" id="{E492781C-906E-C521-5E95-795D71AD41EC}"/>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321" name="Graphique 320" descr="Flèches de chevron avec un remplissage uni">
                <a:extLst>
                  <a:ext uri="{FF2B5EF4-FFF2-40B4-BE49-F238E27FC236}">
                    <a16:creationId xmlns:a16="http://schemas.microsoft.com/office/drawing/2014/main" id="{C3D24935-2079-52C3-EB76-77500FC9DD12}"/>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flipH="1">
                <a:off x="6426858" y="3530861"/>
                <a:ext cx="377085" cy="415872"/>
              </a:xfrm>
              <a:prstGeom prst="rect">
                <a:avLst/>
              </a:prstGeom>
            </p:spPr>
          </p:pic>
        </p:grpSp>
        <p:grpSp>
          <p:nvGrpSpPr>
            <p:cNvPr id="303" name="Groupe 302">
              <a:extLst>
                <a:ext uri="{FF2B5EF4-FFF2-40B4-BE49-F238E27FC236}">
                  <a16:creationId xmlns:a16="http://schemas.microsoft.com/office/drawing/2014/main" id="{B4370D7D-D20E-2C90-F94B-F9D475D98A76}"/>
                </a:ext>
              </a:extLst>
            </p:cNvPr>
            <p:cNvGrpSpPr/>
            <p:nvPr/>
          </p:nvGrpSpPr>
          <p:grpSpPr>
            <a:xfrm>
              <a:off x="1325817" y="4790197"/>
              <a:ext cx="1166637" cy="965946"/>
              <a:chOff x="7881923" y="3500636"/>
              <a:chExt cx="1166637" cy="965946"/>
            </a:xfrm>
          </p:grpSpPr>
          <p:grpSp>
            <p:nvGrpSpPr>
              <p:cNvPr id="316" name="Groupe 315">
                <a:extLst>
                  <a:ext uri="{FF2B5EF4-FFF2-40B4-BE49-F238E27FC236}">
                    <a16:creationId xmlns:a16="http://schemas.microsoft.com/office/drawing/2014/main" id="{7D07B48B-C5A7-9B6A-C3F9-41E52B834EF5}"/>
                  </a:ext>
                </a:extLst>
              </p:cNvPr>
              <p:cNvGrpSpPr/>
              <p:nvPr/>
            </p:nvGrpSpPr>
            <p:grpSpPr>
              <a:xfrm>
                <a:off x="8134160" y="3552182"/>
                <a:ext cx="914400" cy="914400"/>
                <a:chOff x="381000" y="3527564"/>
                <a:chExt cx="914400" cy="914400"/>
              </a:xfrm>
              <a:solidFill>
                <a:schemeClr val="accent1"/>
              </a:solidFill>
            </p:grpSpPr>
            <p:pic>
              <p:nvPicPr>
                <p:cNvPr id="318" name="Graphique 317" descr="Homme conductrice avec un remplissage uni">
                  <a:extLst>
                    <a:ext uri="{FF2B5EF4-FFF2-40B4-BE49-F238E27FC236}">
                      <a16:creationId xmlns:a16="http://schemas.microsoft.com/office/drawing/2014/main" id="{5F498466-9325-9A4F-104C-782CE3D0A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1000" y="3527564"/>
                  <a:ext cx="914400" cy="914400"/>
                </a:xfrm>
                <a:prstGeom prst="rect">
                  <a:avLst/>
                </a:prstGeom>
              </p:spPr>
            </p:pic>
            <p:sp>
              <p:nvSpPr>
                <p:cNvPr id="319" name="Rectangle 318">
                  <a:extLst>
                    <a:ext uri="{FF2B5EF4-FFF2-40B4-BE49-F238E27FC236}">
                      <a16:creationId xmlns:a16="http://schemas.microsoft.com/office/drawing/2014/main" id="{28D46C59-E99D-F3E5-3E36-105AA422E6E1}"/>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317" name="Graphique 316" descr="Colombe avec un remplissage uni">
                <a:extLst>
                  <a:ext uri="{FF2B5EF4-FFF2-40B4-BE49-F238E27FC236}">
                    <a16:creationId xmlns:a16="http://schemas.microsoft.com/office/drawing/2014/main" id="{E566FFC0-814A-7EBA-CB17-D4A51F3E0C3D}"/>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flipH="1">
                <a:off x="7881923" y="3500636"/>
                <a:ext cx="446098" cy="446098"/>
              </a:xfrm>
              <a:prstGeom prst="rect">
                <a:avLst/>
              </a:prstGeom>
            </p:spPr>
          </p:pic>
        </p:grpSp>
        <p:grpSp>
          <p:nvGrpSpPr>
            <p:cNvPr id="304" name="Groupe 303">
              <a:extLst>
                <a:ext uri="{FF2B5EF4-FFF2-40B4-BE49-F238E27FC236}">
                  <a16:creationId xmlns:a16="http://schemas.microsoft.com/office/drawing/2014/main" id="{A30D8C96-AC7C-A38F-9B40-C8FFD9FF4568}"/>
                </a:ext>
              </a:extLst>
            </p:cNvPr>
            <p:cNvGrpSpPr/>
            <p:nvPr/>
          </p:nvGrpSpPr>
          <p:grpSpPr>
            <a:xfrm>
              <a:off x="293476" y="4841743"/>
              <a:ext cx="1012020" cy="914400"/>
              <a:chOff x="9390163" y="3510854"/>
              <a:chExt cx="1012020" cy="914400"/>
            </a:xfrm>
          </p:grpSpPr>
          <p:grpSp>
            <p:nvGrpSpPr>
              <p:cNvPr id="311" name="Groupe 310">
                <a:extLst>
                  <a:ext uri="{FF2B5EF4-FFF2-40B4-BE49-F238E27FC236}">
                    <a16:creationId xmlns:a16="http://schemas.microsoft.com/office/drawing/2014/main" id="{D3BF73BF-60BD-6F38-8C41-EE78E0053819}"/>
                  </a:ext>
                </a:extLst>
              </p:cNvPr>
              <p:cNvGrpSpPr/>
              <p:nvPr/>
            </p:nvGrpSpPr>
            <p:grpSpPr>
              <a:xfrm>
                <a:off x="9487783" y="3510854"/>
                <a:ext cx="914400" cy="914400"/>
                <a:chOff x="381000" y="3527564"/>
                <a:chExt cx="914400" cy="914400"/>
              </a:xfrm>
              <a:solidFill>
                <a:schemeClr val="accent1"/>
              </a:solidFill>
            </p:grpSpPr>
            <p:pic>
              <p:nvPicPr>
                <p:cNvPr id="313" name="Graphique 312" descr="Homme conductrice avec un remplissage uni">
                  <a:extLst>
                    <a:ext uri="{FF2B5EF4-FFF2-40B4-BE49-F238E27FC236}">
                      <a16:creationId xmlns:a16="http://schemas.microsoft.com/office/drawing/2014/main" id="{1D0A5492-6B87-E131-CF08-E96DC3E15B9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1000" y="3527564"/>
                  <a:ext cx="914400" cy="914400"/>
                </a:xfrm>
                <a:prstGeom prst="rect">
                  <a:avLst/>
                </a:prstGeom>
              </p:spPr>
            </p:pic>
            <p:sp>
              <p:nvSpPr>
                <p:cNvPr id="314" name="Rectangle 313">
                  <a:extLst>
                    <a:ext uri="{FF2B5EF4-FFF2-40B4-BE49-F238E27FC236}">
                      <a16:creationId xmlns:a16="http://schemas.microsoft.com/office/drawing/2014/main" id="{FFDA3A57-747F-B908-19EC-12DE7339634D}"/>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sp>
              <p:nvSpPr>
                <p:cNvPr id="315" name="Rectangle 314">
                  <a:extLst>
                    <a:ext uri="{FF2B5EF4-FFF2-40B4-BE49-F238E27FC236}">
                      <a16:creationId xmlns:a16="http://schemas.microsoft.com/office/drawing/2014/main" id="{A3B825BF-EE8A-DE69-6AC5-95199027E02F}"/>
                    </a:ext>
                  </a:extLst>
                </p:cNvPr>
                <p:cNvSpPr/>
                <p:nvPr/>
              </p:nvSpPr>
              <p:spPr>
                <a:xfrm rot="21067600">
                  <a:off x="396754" y="3903790"/>
                  <a:ext cx="138658" cy="4833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sp>
            <p:nvSpPr>
              <p:cNvPr id="312" name="Signe de multiplication 311">
                <a:extLst>
                  <a:ext uri="{FF2B5EF4-FFF2-40B4-BE49-F238E27FC236}">
                    <a16:creationId xmlns:a16="http://schemas.microsoft.com/office/drawing/2014/main" id="{F2DBC1A0-0CA3-EECB-33C7-5BB88C24164C}"/>
                  </a:ext>
                </a:extLst>
              </p:cNvPr>
              <p:cNvSpPr/>
              <p:nvPr/>
            </p:nvSpPr>
            <p:spPr>
              <a:xfrm>
                <a:off x="9390163" y="3562840"/>
                <a:ext cx="435006" cy="452761"/>
              </a:xfrm>
              <a:prstGeom prst="mathMultiply">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grpSp>
          <p:nvGrpSpPr>
            <p:cNvPr id="305" name="Groupe 304">
              <a:extLst>
                <a:ext uri="{FF2B5EF4-FFF2-40B4-BE49-F238E27FC236}">
                  <a16:creationId xmlns:a16="http://schemas.microsoft.com/office/drawing/2014/main" id="{C7BB27B5-04C7-2CB5-0BF2-E0CF67E5ED9C}"/>
                </a:ext>
              </a:extLst>
            </p:cNvPr>
            <p:cNvGrpSpPr/>
            <p:nvPr/>
          </p:nvGrpSpPr>
          <p:grpSpPr>
            <a:xfrm>
              <a:off x="6981136" y="4724323"/>
              <a:ext cx="1187680" cy="1031820"/>
              <a:chOff x="4759616" y="3408635"/>
              <a:chExt cx="1187680" cy="1031820"/>
            </a:xfrm>
          </p:grpSpPr>
          <p:grpSp>
            <p:nvGrpSpPr>
              <p:cNvPr id="307" name="Groupe 306">
                <a:extLst>
                  <a:ext uri="{FF2B5EF4-FFF2-40B4-BE49-F238E27FC236}">
                    <a16:creationId xmlns:a16="http://schemas.microsoft.com/office/drawing/2014/main" id="{5963108A-38C7-A83E-FCE2-6922C176F67A}"/>
                  </a:ext>
                </a:extLst>
              </p:cNvPr>
              <p:cNvGrpSpPr/>
              <p:nvPr/>
            </p:nvGrpSpPr>
            <p:grpSpPr>
              <a:xfrm>
                <a:off x="5032896" y="3526055"/>
                <a:ext cx="914400" cy="914400"/>
                <a:chOff x="381000" y="3527564"/>
                <a:chExt cx="914400" cy="914400"/>
              </a:xfrm>
              <a:solidFill>
                <a:schemeClr val="accent1"/>
              </a:solidFill>
            </p:grpSpPr>
            <p:pic>
              <p:nvPicPr>
                <p:cNvPr id="309" name="Graphique 308" descr="Homme conductrice avec un remplissage uni">
                  <a:extLst>
                    <a:ext uri="{FF2B5EF4-FFF2-40B4-BE49-F238E27FC236}">
                      <a16:creationId xmlns:a16="http://schemas.microsoft.com/office/drawing/2014/main" id="{025F99BF-A1A3-93CA-8DF6-9A32FBACBAA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1000" y="3527564"/>
                  <a:ext cx="914400" cy="914400"/>
                </a:xfrm>
                <a:prstGeom prst="rect">
                  <a:avLst/>
                </a:prstGeom>
              </p:spPr>
            </p:pic>
            <p:sp>
              <p:nvSpPr>
                <p:cNvPr id="310" name="Rectangle 309">
                  <a:extLst>
                    <a:ext uri="{FF2B5EF4-FFF2-40B4-BE49-F238E27FC236}">
                      <a16:creationId xmlns:a16="http://schemas.microsoft.com/office/drawing/2014/main" id="{964E3F5B-350B-C736-3E8A-7351633EB80F}"/>
                    </a:ext>
                  </a:extLst>
                </p:cNvPr>
                <p:cNvSpPr/>
                <p:nvPr/>
              </p:nvSpPr>
              <p:spPr>
                <a:xfrm>
                  <a:off x="1059873" y="3527564"/>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a:solidFill>
                      <a:schemeClr val="tx1"/>
                    </a:solidFill>
                  </a:endParaRPr>
                </a:p>
              </p:txBody>
            </p:sp>
          </p:grpSp>
          <p:pic>
            <p:nvPicPr>
              <p:cNvPr id="308" name="Graphique 307" descr="Engrenages contour">
                <a:extLst>
                  <a:ext uri="{FF2B5EF4-FFF2-40B4-BE49-F238E27FC236}">
                    <a16:creationId xmlns:a16="http://schemas.microsoft.com/office/drawing/2014/main" id="{940FCF10-C5F0-8A2C-8ECA-F1B25F6B24CB}"/>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flipH="1">
                <a:off x="4759616" y="3408635"/>
                <a:ext cx="536087" cy="505809"/>
              </a:xfrm>
              <a:prstGeom prst="rect">
                <a:avLst/>
              </a:prstGeom>
            </p:spPr>
          </p:pic>
        </p:grpSp>
        <p:sp>
          <p:nvSpPr>
            <p:cNvPr id="306" name="Flèche : double flèche horizontale 305">
              <a:extLst>
                <a:ext uri="{FF2B5EF4-FFF2-40B4-BE49-F238E27FC236}">
                  <a16:creationId xmlns:a16="http://schemas.microsoft.com/office/drawing/2014/main" id="{A68AF8F3-25F4-6596-B233-C2C83ED82C72}"/>
                </a:ext>
              </a:extLst>
            </p:cNvPr>
            <p:cNvSpPr/>
            <p:nvPr/>
          </p:nvSpPr>
          <p:spPr>
            <a:xfrm>
              <a:off x="352653" y="5807689"/>
              <a:ext cx="7694067" cy="4833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fr-FR" sz="1400" dirty="0"/>
            </a:p>
          </p:txBody>
        </p:sp>
      </p:grpSp>
    </p:spTree>
    <p:extLst>
      <p:ext uri="{BB962C8B-B14F-4D97-AF65-F5344CB8AC3E}">
        <p14:creationId xmlns:p14="http://schemas.microsoft.com/office/powerpoint/2010/main" val="1791970132"/>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Titre 1">
            <a:extLst>
              <a:ext uri="{FF2B5EF4-FFF2-40B4-BE49-F238E27FC236}">
                <a16:creationId xmlns:a16="http://schemas.microsoft.com/office/drawing/2014/main" id="{E1AF4623-852E-CEA8-8138-94B34C366FD1}"/>
              </a:ext>
            </a:extLst>
          </p:cNvPr>
          <p:cNvSpPr>
            <a:spLocks noGrp="1"/>
          </p:cNvSpPr>
          <p:nvPr>
            <p:ph type="title"/>
          </p:nvPr>
        </p:nvSpPr>
        <p:spPr>
          <a:xfrm>
            <a:off x="838200" y="365125"/>
            <a:ext cx="10515600" cy="1325563"/>
          </a:xfrm>
        </p:spPr>
        <p:txBody>
          <a:bodyPr/>
          <a:lstStyle/>
          <a:p>
            <a:r>
              <a:rPr lang="fr-FR" dirty="0"/>
              <a:t>Résumé, une phrase par image</a:t>
            </a:r>
          </a:p>
        </p:txBody>
      </p:sp>
      <p:grpSp>
        <p:nvGrpSpPr>
          <p:cNvPr id="4" name="Groupe 3">
            <a:extLst>
              <a:ext uri="{FF2B5EF4-FFF2-40B4-BE49-F238E27FC236}">
                <a16:creationId xmlns:a16="http://schemas.microsoft.com/office/drawing/2014/main" id="{DE86345A-67CD-D500-A623-FE26D10DB927}"/>
              </a:ext>
            </a:extLst>
          </p:cNvPr>
          <p:cNvGrpSpPr/>
          <p:nvPr/>
        </p:nvGrpSpPr>
        <p:grpSpPr>
          <a:xfrm>
            <a:off x="886112" y="2761258"/>
            <a:ext cx="3224992" cy="667742"/>
            <a:chOff x="586658" y="3557714"/>
            <a:chExt cx="10461437" cy="2166064"/>
          </a:xfrm>
        </p:grpSpPr>
        <p:sp>
          <p:nvSpPr>
            <p:cNvPr id="52" name="Rectangle 51">
              <a:extLst>
                <a:ext uri="{FF2B5EF4-FFF2-40B4-BE49-F238E27FC236}">
                  <a16:creationId xmlns:a16="http://schemas.microsoft.com/office/drawing/2014/main" id="{820D84E9-C44D-C3C4-C43C-8DF0DD203341}"/>
                </a:ext>
              </a:extLst>
            </p:cNvPr>
            <p:cNvSpPr/>
            <p:nvPr/>
          </p:nvSpPr>
          <p:spPr>
            <a:xfrm>
              <a:off x="4125530" y="5006651"/>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53" name="Rectangle 52">
              <a:extLst>
                <a:ext uri="{FF2B5EF4-FFF2-40B4-BE49-F238E27FC236}">
                  <a16:creationId xmlns:a16="http://schemas.microsoft.com/office/drawing/2014/main" id="{1D6B32A3-AAE7-0AD4-B763-1BB6E7F59102}"/>
                </a:ext>
              </a:extLst>
            </p:cNvPr>
            <p:cNvSpPr/>
            <p:nvPr/>
          </p:nvSpPr>
          <p:spPr>
            <a:xfrm>
              <a:off x="2356094" y="5006651"/>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54" name="Rectangle 53">
              <a:extLst>
                <a:ext uri="{FF2B5EF4-FFF2-40B4-BE49-F238E27FC236}">
                  <a16:creationId xmlns:a16="http://schemas.microsoft.com/office/drawing/2014/main" id="{4702DDCE-FB4A-D27D-1DC7-AECF2FC14ED6}"/>
                </a:ext>
              </a:extLst>
            </p:cNvPr>
            <p:cNvSpPr/>
            <p:nvPr/>
          </p:nvSpPr>
          <p:spPr>
            <a:xfrm>
              <a:off x="5894966" y="5006653"/>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55" name="Rectangle 54">
              <a:extLst>
                <a:ext uri="{FF2B5EF4-FFF2-40B4-BE49-F238E27FC236}">
                  <a16:creationId xmlns:a16="http://schemas.microsoft.com/office/drawing/2014/main" id="{4E4F97E6-F5A8-C2C9-0D99-BC1371973057}"/>
                </a:ext>
              </a:extLst>
            </p:cNvPr>
            <p:cNvSpPr/>
            <p:nvPr/>
          </p:nvSpPr>
          <p:spPr>
            <a:xfrm>
              <a:off x="7664402" y="5006652"/>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56" name="Rectangle 55">
              <a:extLst>
                <a:ext uri="{FF2B5EF4-FFF2-40B4-BE49-F238E27FC236}">
                  <a16:creationId xmlns:a16="http://schemas.microsoft.com/office/drawing/2014/main" id="{129F721E-BAC7-76D1-5D25-1F498B67F099}"/>
                </a:ext>
              </a:extLst>
            </p:cNvPr>
            <p:cNvSpPr/>
            <p:nvPr/>
          </p:nvSpPr>
          <p:spPr>
            <a:xfrm>
              <a:off x="586658" y="5006651"/>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57" name="Rectangle 56">
              <a:extLst>
                <a:ext uri="{FF2B5EF4-FFF2-40B4-BE49-F238E27FC236}">
                  <a16:creationId xmlns:a16="http://schemas.microsoft.com/office/drawing/2014/main" id="{E5443432-2695-2A5E-6559-390B674CB70E}"/>
                </a:ext>
              </a:extLst>
            </p:cNvPr>
            <p:cNvSpPr/>
            <p:nvPr/>
          </p:nvSpPr>
          <p:spPr>
            <a:xfrm>
              <a:off x="9433839" y="5006651"/>
              <a:ext cx="1614256" cy="71712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sz="1100" dirty="0">
                <a:solidFill>
                  <a:schemeClr val="tx1"/>
                </a:solidFill>
              </a:endParaRPr>
            </a:p>
          </p:txBody>
        </p:sp>
        <p:sp>
          <p:nvSpPr>
            <p:cNvPr id="58" name="Rectangle 57">
              <a:extLst>
                <a:ext uri="{FF2B5EF4-FFF2-40B4-BE49-F238E27FC236}">
                  <a16:creationId xmlns:a16="http://schemas.microsoft.com/office/drawing/2014/main" id="{08702FC1-7855-E705-54F7-AA523DFB1A12}"/>
                </a:ext>
              </a:extLst>
            </p:cNvPr>
            <p:cNvSpPr/>
            <p:nvPr/>
          </p:nvSpPr>
          <p:spPr>
            <a:xfrm>
              <a:off x="2499644" y="3862514"/>
              <a:ext cx="609600" cy="609600"/>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a:extLst>
                <a:ext uri="{FF2B5EF4-FFF2-40B4-BE49-F238E27FC236}">
                  <a16:creationId xmlns:a16="http://schemas.microsoft.com/office/drawing/2014/main" id="{233D0916-6EDE-0587-3870-897BA3D0CDF0}"/>
                </a:ext>
              </a:extLst>
            </p:cNvPr>
            <p:cNvSpPr/>
            <p:nvPr/>
          </p:nvSpPr>
          <p:spPr>
            <a:xfrm>
              <a:off x="3200127" y="3557714"/>
              <a:ext cx="609600" cy="609600"/>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Rectangle 69">
              <a:extLst>
                <a:ext uri="{FF2B5EF4-FFF2-40B4-BE49-F238E27FC236}">
                  <a16:creationId xmlns:a16="http://schemas.microsoft.com/office/drawing/2014/main" id="{67DA21B8-AF20-0450-FFE0-51389EA2FE99}"/>
                </a:ext>
              </a:extLst>
            </p:cNvPr>
            <p:cNvSpPr/>
            <p:nvPr/>
          </p:nvSpPr>
          <p:spPr>
            <a:xfrm>
              <a:off x="3200127" y="4246280"/>
              <a:ext cx="609600" cy="609600"/>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1" name="Graphique 70" descr="Sphères de Harvey 100% avec un remplissage uni">
              <a:extLst>
                <a:ext uri="{FF2B5EF4-FFF2-40B4-BE49-F238E27FC236}">
                  <a16:creationId xmlns:a16="http://schemas.microsoft.com/office/drawing/2014/main" id="{BB285CC7-F5B4-2B47-340C-D6B8A94C749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628752" y="4315520"/>
              <a:ext cx="180975" cy="180975"/>
            </a:xfrm>
            <a:prstGeom prst="rect">
              <a:avLst/>
            </a:prstGeom>
          </p:spPr>
        </p:pic>
        <p:pic>
          <p:nvPicPr>
            <p:cNvPr id="72" name="Graphique 71" descr="Sphères de Harvey 100% avec un remplissage uni">
              <a:extLst>
                <a:ext uri="{FF2B5EF4-FFF2-40B4-BE49-F238E27FC236}">
                  <a16:creationId xmlns:a16="http://schemas.microsoft.com/office/drawing/2014/main" id="{F06AE976-CDB3-5B88-E5B1-542EB8ECD50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537869" y="4447608"/>
              <a:ext cx="180975" cy="180975"/>
            </a:xfrm>
            <a:prstGeom prst="rect">
              <a:avLst/>
            </a:prstGeom>
          </p:spPr>
        </p:pic>
        <p:pic>
          <p:nvPicPr>
            <p:cNvPr id="73" name="Graphique 72" descr="Sphères de Harvey 100% avec un remplissage uni">
              <a:extLst>
                <a:ext uri="{FF2B5EF4-FFF2-40B4-BE49-F238E27FC236}">
                  <a16:creationId xmlns:a16="http://schemas.microsoft.com/office/drawing/2014/main" id="{51750CBB-3674-001A-2061-38880F20B4A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610893" y="3571503"/>
              <a:ext cx="180975" cy="180975"/>
            </a:xfrm>
            <a:prstGeom prst="rect">
              <a:avLst/>
            </a:prstGeom>
          </p:spPr>
        </p:pic>
        <p:pic>
          <p:nvPicPr>
            <p:cNvPr id="74" name="Graphique 73" descr="Sphères de Harvey 100% avec un remplissage uni">
              <a:extLst>
                <a:ext uri="{FF2B5EF4-FFF2-40B4-BE49-F238E27FC236}">
                  <a16:creationId xmlns:a16="http://schemas.microsoft.com/office/drawing/2014/main" id="{F8A576B7-7D2E-B64C-7912-11E34DA482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699791" y="3725306"/>
              <a:ext cx="180975" cy="180975"/>
            </a:xfrm>
            <a:prstGeom prst="rect">
              <a:avLst/>
            </a:prstGeom>
          </p:spPr>
        </p:pic>
        <p:pic>
          <p:nvPicPr>
            <p:cNvPr id="75" name="Graphique 74" descr="Sphères de Harvey 100% avec un remplissage uni">
              <a:extLst>
                <a:ext uri="{FF2B5EF4-FFF2-40B4-BE49-F238E27FC236}">
                  <a16:creationId xmlns:a16="http://schemas.microsoft.com/office/drawing/2014/main" id="{4CF36727-3BE3-C547-EC8D-6E434B072FE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564855" y="3725306"/>
              <a:ext cx="180975" cy="180975"/>
            </a:xfrm>
            <a:prstGeom prst="rect">
              <a:avLst/>
            </a:prstGeom>
          </p:spPr>
        </p:pic>
        <p:pic>
          <p:nvPicPr>
            <p:cNvPr id="76" name="Graphique 75" descr="Sphères de Harvey 100% avec un remplissage uni">
              <a:extLst>
                <a:ext uri="{FF2B5EF4-FFF2-40B4-BE49-F238E27FC236}">
                  <a16:creationId xmlns:a16="http://schemas.microsoft.com/office/drawing/2014/main" id="{0F6548C6-C74C-0216-E771-1B1DC61AE8E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687291" y="3904998"/>
              <a:ext cx="180975" cy="180975"/>
            </a:xfrm>
            <a:prstGeom prst="rect">
              <a:avLst/>
            </a:prstGeom>
          </p:spPr>
        </p:pic>
        <p:pic>
          <p:nvPicPr>
            <p:cNvPr id="77" name="Graphique 76" descr="Sphères de Harvey 100% avec un remplissage uni">
              <a:extLst>
                <a:ext uri="{FF2B5EF4-FFF2-40B4-BE49-F238E27FC236}">
                  <a16:creationId xmlns:a16="http://schemas.microsoft.com/office/drawing/2014/main" id="{F9E8F35C-A5B8-679C-1DAB-698F76AF63A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04444" y="3943511"/>
              <a:ext cx="180975" cy="180975"/>
            </a:xfrm>
            <a:prstGeom prst="rect">
              <a:avLst/>
            </a:prstGeom>
          </p:spPr>
        </p:pic>
        <p:cxnSp>
          <p:nvCxnSpPr>
            <p:cNvPr id="78" name="Connecteur droit avec flèche 77">
              <a:extLst>
                <a:ext uri="{FF2B5EF4-FFF2-40B4-BE49-F238E27FC236}">
                  <a16:creationId xmlns:a16="http://schemas.microsoft.com/office/drawing/2014/main" id="{F4225F37-67C6-7667-DA86-18E12DCE47B2}"/>
                </a:ext>
              </a:extLst>
            </p:cNvPr>
            <p:cNvCxnSpPr/>
            <p:nvPr/>
          </p:nvCxnSpPr>
          <p:spPr>
            <a:xfrm flipV="1">
              <a:off x="4528469" y="3557714"/>
              <a:ext cx="0" cy="12981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9" name="Connecteur droit avec flèche 78">
              <a:extLst>
                <a:ext uri="{FF2B5EF4-FFF2-40B4-BE49-F238E27FC236}">
                  <a16:creationId xmlns:a16="http://schemas.microsoft.com/office/drawing/2014/main" id="{6A1D1F79-CA89-CE39-0B6E-32B808618202}"/>
                </a:ext>
              </a:extLst>
            </p:cNvPr>
            <p:cNvCxnSpPr/>
            <p:nvPr/>
          </p:nvCxnSpPr>
          <p:spPr>
            <a:xfrm flipV="1">
              <a:off x="6745765" y="3571503"/>
              <a:ext cx="0" cy="129816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0" name="Connecteur droit avec flèche 79">
              <a:extLst>
                <a:ext uri="{FF2B5EF4-FFF2-40B4-BE49-F238E27FC236}">
                  <a16:creationId xmlns:a16="http://schemas.microsoft.com/office/drawing/2014/main" id="{267BC21F-0900-A4BC-6704-1CEC95C8E787}"/>
                </a:ext>
              </a:extLst>
            </p:cNvPr>
            <p:cNvCxnSpPr>
              <a:cxnSpLocks/>
            </p:cNvCxnSpPr>
            <p:nvPr/>
          </p:nvCxnSpPr>
          <p:spPr>
            <a:xfrm flipH="1">
              <a:off x="6023894" y="4206797"/>
              <a:ext cx="1433119" cy="0"/>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pic>
          <p:nvPicPr>
            <p:cNvPr id="82" name="Graphique 81" descr="Bulle de discussion avec un remplissage uni">
              <a:extLst>
                <a:ext uri="{FF2B5EF4-FFF2-40B4-BE49-F238E27FC236}">
                  <a16:creationId xmlns:a16="http://schemas.microsoft.com/office/drawing/2014/main" id="{9FA4DAE1-DD07-6F46-91CF-B813C6ED171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44669" y="3763386"/>
              <a:ext cx="914400" cy="914400"/>
            </a:xfrm>
            <a:prstGeom prst="rect">
              <a:avLst/>
            </a:prstGeom>
          </p:spPr>
        </p:pic>
        <p:pic>
          <p:nvPicPr>
            <p:cNvPr id="83" name="Graphique 82" descr="Discours avec un remplissage uni">
              <a:extLst>
                <a:ext uri="{FF2B5EF4-FFF2-40B4-BE49-F238E27FC236}">
                  <a16:creationId xmlns:a16="http://schemas.microsoft.com/office/drawing/2014/main" id="{0CF6C36E-671A-B3BD-6F45-C9712E7E609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304872" y="4075874"/>
              <a:ext cx="914400" cy="914400"/>
            </a:xfrm>
            <a:prstGeom prst="rect">
              <a:avLst/>
            </a:prstGeom>
          </p:spPr>
        </p:pic>
        <p:sp>
          <p:nvSpPr>
            <p:cNvPr id="84" name="Rectangle 83">
              <a:extLst>
                <a:ext uri="{FF2B5EF4-FFF2-40B4-BE49-F238E27FC236}">
                  <a16:creationId xmlns:a16="http://schemas.microsoft.com/office/drawing/2014/main" id="{84F80ABF-49EF-3219-630A-4CF92D0FEC40}"/>
                </a:ext>
              </a:extLst>
            </p:cNvPr>
            <p:cNvSpPr/>
            <p:nvPr/>
          </p:nvSpPr>
          <p:spPr>
            <a:xfrm>
              <a:off x="4218240" y="3773840"/>
              <a:ext cx="262316" cy="262316"/>
            </a:xfrm>
            <a:prstGeom prst="rect">
              <a:avLst/>
            </a:prstGeom>
            <a:solidFill>
              <a:srgbClr val="3494B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 name="Rectangle 84">
              <a:extLst>
                <a:ext uri="{FF2B5EF4-FFF2-40B4-BE49-F238E27FC236}">
                  <a16:creationId xmlns:a16="http://schemas.microsoft.com/office/drawing/2014/main" id="{E4ADB1C1-74A6-1189-C11B-07526461CFDB}"/>
                </a:ext>
              </a:extLst>
            </p:cNvPr>
            <p:cNvSpPr/>
            <p:nvPr/>
          </p:nvSpPr>
          <p:spPr>
            <a:xfrm>
              <a:off x="4214315" y="4089232"/>
              <a:ext cx="262316" cy="262316"/>
            </a:xfrm>
            <a:prstGeom prst="rect">
              <a:avLst/>
            </a:prstGeom>
            <a:solidFill>
              <a:srgbClr val="3494B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 name="Rectangle 85">
              <a:extLst>
                <a:ext uri="{FF2B5EF4-FFF2-40B4-BE49-F238E27FC236}">
                  <a16:creationId xmlns:a16="http://schemas.microsoft.com/office/drawing/2014/main" id="{A48D67FB-B489-F8C5-4655-E4327F02FCD4}"/>
                </a:ext>
              </a:extLst>
            </p:cNvPr>
            <p:cNvSpPr/>
            <p:nvPr/>
          </p:nvSpPr>
          <p:spPr>
            <a:xfrm>
              <a:off x="4214315" y="4411131"/>
              <a:ext cx="262316" cy="262316"/>
            </a:xfrm>
            <a:prstGeom prst="rect">
              <a:avLst/>
            </a:prstGeom>
            <a:solidFill>
              <a:srgbClr val="3494B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 name="Rectangle 86">
              <a:extLst>
                <a:ext uri="{FF2B5EF4-FFF2-40B4-BE49-F238E27FC236}">
                  <a16:creationId xmlns:a16="http://schemas.microsoft.com/office/drawing/2014/main" id="{E6B0CFDF-F0CC-63CD-74DB-417C011EFCC4}"/>
                </a:ext>
              </a:extLst>
            </p:cNvPr>
            <p:cNvSpPr/>
            <p:nvPr/>
          </p:nvSpPr>
          <p:spPr>
            <a:xfrm>
              <a:off x="4568214" y="3773840"/>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Rectangle 87">
              <a:extLst>
                <a:ext uri="{FF2B5EF4-FFF2-40B4-BE49-F238E27FC236}">
                  <a16:creationId xmlns:a16="http://schemas.microsoft.com/office/drawing/2014/main" id="{480BCE42-B910-ACF1-D3CF-7ADCA0F626FF}"/>
                </a:ext>
              </a:extLst>
            </p:cNvPr>
            <p:cNvSpPr/>
            <p:nvPr/>
          </p:nvSpPr>
          <p:spPr>
            <a:xfrm>
              <a:off x="4568214" y="4089232"/>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 name="Rectangle 88">
              <a:extLst>
                <a:ext uri="{FF2B5EF4-FFF2-40B4-BE49-F238E27FC236}">
                  <a16:creationId xmlns:a16="http://schemas.microsoft.com/office/drawing/2014/main" id="{440AE33D-2401-C0F5-7830-D59B8DBE1157}"/>
                </a:ext>
              </a:extLst>
            </p:cNvPr>
            <p:cNvSpPr/>
            <p:nvPr/>
          </p:nvSpPr>
          <p:spPr>
            <a:xfrm>
              <a:off x="4568214" y="4401916"/>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Rectangle 89">
              <a:extLst>
                <a:ext uri="{FF2B5EF4-FFF2-40B4-BE49-F238E27FC236}">
                  <a16:creationId xmlns:a16="http://schemas.microsoft.com/office/drawing/2014/main" id="{12DC86CE-5828-3820-52B2-CDC773C22A8B}"/>
                </a:ext>
              </a:extLst>
            </p:cNvPr>
            <p:cNvSpPr/>
            <p:nvPr/>
          </p:nvSpPr>
          <p:spPr>
            <a:xfrm>
              <a:off x="4881219" y="3773840"/>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 name="Rectangle 90">
              <a:extLst>
                <a:ext uri="{FF2B5EF4-FFF2-40B4-BE49-F238E27FC236}">
                  <a16:creationId xmlns:a16="http://schemas.microsoft.com/office/drawing/2014/main" id="{44F179AF-227A-BB4C-A1FE-3A2DF61DF769}"/>
                </a:ext>
              </a:extLst>
            </p:cNvPr>
            <p:cNvSpPr/>
            <p:nvPr/>
          </p:nvSpPr>
          <p:spPr>
            <a:xfrm>
              <a:off x="4881219" y="4401916"/>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Rectangle 91">
              <a:extLst>
                <a:ext uri="{FF2B5EF4-FFF2-40B4-BE49-F238E27FC236}">
                  <a16:creationId xmlns:a16="http://schemas.microsoft.com/office/drawing/2014/main" id="{DD53B37D-F4F8-0243-C894-BF8D486FE9BD}"/>
                </a:ext>
              </a:extLst>
            </p:cNvPr>
            <p:cNvSpPr/>
            <p:nvPr/>
          </p:nvSpPr>
          <p:spPr>
            <a:xfrm>
              <a:off x="5184539" y="4401916"/>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Rectangle 92">
              <a:extLst>
                <a:ext uri="{FF2B5EF4-FFF2-40B4-BE49-F238E27FC236}">
                  <a16:creationId xmlns:a16="http://schemas.microsoft.com/office/drawing/2014/main" id="{C7AE53F6-72EA-215E-7D5A-B3F2F13DA9A4}"/>
                </a:ext>
              </a:extLst>
            </p:cNvPr>
            <p:cNvSpPr/>
            <p:nvPr/>
          </p:nvSpPr>
          <p:spPr>
            <a:xfrm>
              <a:off x="6035773" y="3853590"/>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4" name="Rectangle 93">
              <a:extLst>
                <a:ext uri="{FF2B5EF4-FFF2-40B4-BE49-F238E27FC236}">
                  <a16:creationId xmlns:a16="http://schemas.microsoft.com/office/drawing/2014/main" id="{414A9C3E-E3F4-A8EC-CB04-521C51CAAAAF}"/>
                </a:ext>
              </a:extLst>
            </p:cNvPr>
            <p:cNvSpPr/>
            <p:nvPr/>
          </p:nvSpPr>
          <p:spPr>
            <a:xfrm>
              <a:off x="6348778" y="3853590"/>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Rectangle 94">
              <a:extLst>
                <a:ext uri="{FF2B5EF4-FFF2-40B4-BE49-F238E27FC236}">
                  <a16:creationId xmlns:a16="http://schemas.microsoft.com/office/drawing/2014/main" id="{A6EF1B2E-AB12-E124-F3C9-0F7D0D6CBA50}"/>
                </a:ext>
              </a:extLst>
            </p:cNvPr>
            <p:cNvSpPr/>
            <p:nvPr/>
          </p:nvSpPr>
          <p:spPr>
            <a:xfrm>
              <a:off x="6837203" y="3862170"/>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6" name="Rectangle 95">
              <a:extLst>
                <a:ext uri="{FF2B5EF4-FFF2-40B4-BE49-F238E27FC236}">
                  <a16:creationId xmlns:a16="http://schemas.microsoft.com/office/drawing/2014/main" id="{4CD4F456-443A-6343-9535-5A979DE630A1}"/>
                </a:ext>
              </a:extLst>
            </p:cNvPr>
            <p:cNvSpPr/>
            <p:nvPr/>
          </p:nvSpPr>
          <p:spPr>
            <a:xfrm>
              <a:off x="7150208" y="3862170"/>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7" name="Rectangle 96">
              <a:extLst>
                <a:ext uri="{FF2B5EF4-FFF2-40B4-BE49-F238E27FC236}">
                  <a16:creationId xmlns:a16="http://schemas.microsoft.com/office/drawing/2014/main" id="{6D9FF3DC-5A52-22A5-9815-A795707A866E}"/>
                </a:ext>
              </a:extLst>
            </p:cNvPr>
            <p:cNvSpPr/>
            <p:nvPr/>
          </p:nvSpPr>
          <p:spPr>
            <a:xfrm>
              <a:off x="6828452" y="431217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8" name="Rectangle 97">
              <a:extLst>
                <a:ext uri="{FF2B5EF4-FFF2-40B4-BE49-F238E27FC236}">
                  <a16:creationId xmlns:a16="http://schemas.microsoft.com/office/drawing/2014/main" id="{5CB2A1EB-BBBC-0415-12B7-021C19C47CF2}"/>
                </a:ext>
              </a:extLst>
            </p:cNvPr>
            <p:cNvSpPr/>
            <p:nvPr/>
          </p:nvSpPr>
          <p:spPr>
            <a:xfrm>
              <a:off x="7141457" y="431217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9" name="Rectangle 98">
              <a:extLst>
                <a:ext uri="{FF2B5EF4-FFF2-40B4-BE49-F238E27FC236}">
                  <a16:creationId xmlns:a16="http://schemas.microsoft.com/office/drawing/2014/main" id="{DFD07BB8-6F54-5F08-C28A-A57473D32B4F}"/>
                </a:ext>
              </a:extLst>
            </p:cNvPr>
            <p:cNvSpPr/>
            <p:nvPr/>
          </p:nvSpPr>
          <p:spPr>
            <a:xfrm>
              <a:off x="6028318" y="4304733"/>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0" name="Rectangle 99">
              <a:extLst>
                <a:ext uri="{FF2B5EF4-FFF2-40B4-BE49-F238E27FC236}">
                  <a16:creationId xmlns:a16="http://schemas.microsoft.com/office/drawing/2014/main" id="{F55BB21E-A845-C576-7B6E-2AAF3A22F0AC}"/>
                </a:ext>
              </a:extLst>
            </p:cNvPr>
            <p:cNvSpPr/>
            <p:nvPr/>
          </p:nvSpPr>
          <p:spPr>
            <a:xfrm>
              <a:off x="6341323" y="4304733"/>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1" name="Groupe 100">
              <a:extLst>
                <a:ext uri="{FF2B5EF4-FFF2-40B4-BE49-F238E27FC236}">
                  <a16:creationId xmlns:a16="http://schemas.microsoft.com/office/drawing/2014/main" id="{AA47DAC9-5861-B3A5-68D3-7E91E9147D63}"/>
                </a:ext>
              </a:extLst>
            </p:cNvPr>
            <p:cNvGrpSpPr/>
            <p:nvPr/>
          </p:nvGrpSpPr>
          <p:grpSpPr>
            <a:xfrm>
              <a:off x="10178591" y="3794180"/>
              <a:ext cx="512647" cy="342842"/>
              <a:chOff x="10347776" y="1928907"/>
              <a:chExt cx="878641" cy="587607"/>
            </a:xfrm>
          </p:grpSpPr>
          <p:sp>
            <p:nvSpPr>
              <p:cNvPr id="102" name="Rectangle 101">
                <a:extLst>
                  <a:ext uri="{FF2B5EF4-FFF2-40B4-BE49-F238E27FC236}">
                    <a16:creationId xmlns:a16="http://schemas.microsoft.com/office/drawing/2014/main" id="{35309FB3-FBA6-DE98-03CC-1E682415E117}"/>
                  </a:ext>
                </a:extLst>
              </p:cNvPr>
              <p:cNvSpPr/>
              <p:nvPr/>
            </p:nvSpPr>
            <p:spPr>
              <a:xfrm>
                <a:off x="10347776"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3" name="Rectangle 102">
                <a:extLst>
                  <a:ext uri="{FF2B5EF4-FFF2-40B4-BE49-F238E27FC236}">
                    <a16:creationId xmlns:a16="http://schemas.microsoft.com/office/drawing/2014/main" id="{91B70A03-722F-D451-1069-08B1DA64792B}"/>
                  </a:ext>
                </a:extLst>
              </p:cNvPr>
              <p:cNvSpPr/>
              <p:nvPr/>
            </p:nvSpPr>
            <p:spPr>
              <a:xfrm>
                <a:off x="10347776" y="224429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4" name="Rectangle 103">
                <a:extLst>
                  <a:ext uri="{FF2B5EF4-FFF2-40B4-BE49-F238E27FC236}">
                    <a16:creationId xmlns:a16="http://schemas.microsoft.com/office/drawing/2014/main" id="{D6B18D40-D704-44A4-A0F0-59420CB19817}"/>
                  </a:ext>
                </a:extLst>
              </p:cNvPr>
              <p:cNvSpPr/>
              <p:nvPr/>
            </p:nvSpPr>
            <p:spPr>
              <a:xfrm>
                <a:off x="10660781"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5" name="Rectangle 104">
                <a:extLst>
                  <a:ext uri="{FF2B5EF4-FFF2-40B4-BE49-F238E27FC236}">
                    <a16:creationId xmlns:a16="http://schemas.microsoft.com/office/drawing/2014/main" id="{01D56396-F09E-924F-A3C5-45F809285520}"/>
                  </a:ext>
                </a:extLst>
              </p:cNvPr>
              <p:cNvSpPr/>
              <p:nvPr/>
            </p:nvSpPr>
            <p:spPr>
              <a:xfrm>
                <a:off x="1066078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6" name="Rectangle 105">
                <a:extLst>
                  <a:ext uri="{FF2B5EF4-FFF2-40B4-BE49-F238E27FC236}">
                    <a16:creationId xmlns:a16="http://schemas.microsoft.com/office/drawing/2014/main" id="{8BF257BE-A03B-AC97-6270-6183E4D05068}"/>
                  </a:ext>
                </a:extLst>
              </p:cNvPr>
              <p:cNvSpPr/>
              <p:nvPr/>
            </p:nvSpPr>
            <p:spPr>
              <a:xfrm>
                <a:off x="1096410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07" name="Groupe 106">
              <a:extLst>
                <a:ext uri="{FF2B5EF4-FFF2-40B4-BE49-F238E27FC236}">
                  <a16:creationId xmlns:a16="http://schemas.microsoft.com/office/drawing/2014/main" id="{F3160A17-39E2-0CE1-AE39-033E86E4F805}"/>
                </a:ext>
              </a:extLst>
            </p:cNvPr>
            <p:cNvGrpSpPr/>
            <p:nvPr/>
          </p:nvGrpSpPr>
          <p:grpSpPr>
            <a:xfrm>
              <a:off x="9693011" y="4254098"/>
              <a:ext cx="521561" cy="342843"/>
              <a:chOff x="10347776" y="1928905"/>
              <a:chExt cx="893919" cy="587609"/>
            </a:xfrm>
          </p:grpSpPr>
          <p:sp>
            <p:nvSpPr>
              <p:cNvPr id="108" name="Rectangle 107">
                <a:extLst>
                  <a:ext uri="{FF2B5EF4-FFF2-40B4-BE49-F238E27FC236}">
                    <a16:creationId xmlns:a16="http://schemas.microsoft.com/office/drawing/2014/main" id="{E1674A9C-252A-9315-D37B-DC5139BEBF29}"/>
                  </a:ext>
                </a:extLst>
              </p:cNvPr>
              <p:cNvSpPr/>
              <p:nvPr/>
            </p:nvSpPr>
            <p:spPr>
              <a:xfrm>
                <a:off x="10347776"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9" name="Rectangle 108">
                <a:extLst>
                  <a:ext uri="{FF2B5EF4-FFF2-40B4-BE49-F238E27FC236}">
                    <a16:creationId xmlns:a16="http://schemas.microsoft.com/office/drawing/2014/main" id="{019549D4-CE18-6939-044C-33043902BD42}"/>
                  </a:ext>
                </a:extLst>
              </p:cNvPr>
              <p:cNvSpPr/>
              <p:nvPr/>
            </p:nvSpPr>
            <p:spPr>
              <a:xfrm>
                <a:off x="10347776" y="224429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Rectangle 109">
                <a:extLst>
                  <a:ext uri="{FF2B5EF4-FFF2-40B4-BE49-F238E27FC236}">
                    <a16:creationId xmlns:a16="http://schemas.microsoft.com/office/drawing/2014/main" id="{4C7E7C64-5171-331E-93B9-6D6DA67F20C2}"/>
                  </a:ext>
                </a:extLst>
              </p:cNvPr>
              <p:cNvSpPr/>
              <p:nvPr/>
            </p:nvSpPr>
            <p:spPr>
              <a:xfrm>
                <a:off x="10660781"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1" name="Rectangle 110">
                <a:extLst>
                  <a:ext uri="{FF2B5EF4-FFF2-40B4-BE49-F238E27FC236}">
                    <a16:creationId xmlns:a16="http://schemas.microsoft.com/office/drawing/2014/main" id="{83411983-D592-1ECE-3C05-A650CFB96B7E}"/>
                  </a:ext>
                </a:extLst>
              </p:cNvPr>
              <p:cNvSpPr/>
              <p:nvPr/>
            </p:nvSpPr>
            <p:spPr>
              <a:xfrm>
                <a:off x="1066078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2" name="Rectangle 111">
                <a:extLst>
                  <a:ext uri="{FF2B5EF4-FFF2-40B4-BE49-F238E27FC236}">
                    <a16:creationId xmlns:a16="http://schemas.microsoft.com/office/drawing/2014/main" id="{C7AD2BD5-3552-EDE4-1C54-5997293BFA82}"/>
                  </a:ext>
                </a:extLst>
              </p:cNvPr>
              <p:cNvSpPr/>
              <p:nvPr/>
            </p:nvSpPr>
            <p:spPr>
              <a:xfrm>
                <a:off x="10964101" y="2254198"/>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3" name="Rectangle 112">
                <a:extLst>
                  <a:ext uri="{FF2B5EF4-FFF2-40B4-BE49-F238E27FC236}">
                    <a16:creationId xmlns:a16="http://schemas.microsoft.com/office/drawing/2014/main" id="{CB44EC4A-0A72-5E7E-4F1E-EA2A4E77BF98}"/>
                  </a:ext>
                </a:extLst>
              </p:cNvPr>
              <p:cNvSpPr/>
              <p:nvPr/>
            </p:nvSpPr>
            <p:spPr>
              <a:xfrm>
                <a:off x="10979380" y="1928905"/>
                <a:ext cx="262315" cy="262315"/>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14" name="Groupe 113">
              <a:extLst>
                <a:ext uri="{FF2B5EF4-FFF2-40B4-BE49-F238E27FC236}">
                  <a16:creationId xmlns:a16="http://schemas.microsoft.com/office/drawing/2014/main" id="{5D5BBA9A-211A-AD3A-1513-691C7B4A93E0}"/>
                </a:ext>
              </a:extLst>
            </p:cNvPr>
            <p:cNvGrpSpPr/>
            <p:nvPr/>
          </p:nvGrpSpPr>
          <p:grpSpPr>
            <a:xfrm>
              <a:off x="10446876" y="4509458"/>
              <a:ext cx="335674" cy="337066"/>
              <a:chOff x="10347776" y="1928907"/>
              <a:chExt cx="575321" cy="577708"/>
            </a:xfrm>
          </p:grpSpPr>
          <p:sp>
            <p:nvSpPr>
              <p:cNvPr id="115" name="Rectangle 114">
                <a:extLst>
                  <a:ext uri="{FF2B5EF4-FFF2-40B4-BE49-F238E27FC236}">
                    <a16:creationId xmlns:a16="http://schemas.microsoft.com/office/drawing/2014/main" id="{3195692C-2BC1-0244-4563-DFE7A70CED84}"/>
                  </a:ext>
                </a:extLst>
              </p:cNvPr>
              <p:cNvSpPr/>
              <p:nvPr/>
            </p:nvSpPr>
            <p:spPr>
              <a:xfrm>
                <a:off x="10347776"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Rectangle 115">
                <a:extLst>
                  <a:ext uri="{FF2B5EF4-FFF2-40B4-BE49-F238E27FC236}">
                    <a16:creationId xmlns:a16="http://schemas.microsoft.com/office/drawing/2014/main" id="{4C21AFF3-E47E-26F2-AC46-BFA0BD0A37E7}"/>
                  </a:ext>
                </a:extLst>
              </p:cNvPr>
              <p:cNvSpPr/>
              <p:nvPr/>
            </p:nvSpPr>
            <p:spPr>
              <a:xfrm>
                <a:off x="10347776" y="2244299"/>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Rectangle 116">
                <a:extLst>
                  <a:ext uri="{FF2B5EF4-FFF2-40B4-BE49-F238E27FC236}">
                    <a16:creationId xmlns:a16="http://schemas.microsoft.com/office/drawing/2014/main" id="{AD016B10-0268-9246-46D6-D4BDAD4E4196}"/>
                  </a:ext>
                </a:extLst>
              </p:cNvPr>
              <p:cNvSpPr/>
              <p:nvPr/>
            </p:nvSpPr>
            <p:spPr>
              <a:xfrm>
                <a:off x="10660781" y="1928907"/>
                <a:ext cx="262316" cy="262316"/>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18" name="Connecteur droit avec flèche 117">
              <a:extLst>
                <a:ext uri="{FF2B5EF4-FFF2-40B4-BE49-F238E27FC236}">
                  <a16:creationId xmlns:a16="http://schemas.microsoft.com/office/drawing/2014/main" id="{7DED8639-5A71-3ABA-406D-49EAA8ED1D37}"/>
                </a:ext>
              </a:extLst>
            </p:cNvPr>
            <p:cNvCxnSpPr>
              <a:stCxn id="110" idx="0"/>
              <a:endCxn id="103" idx="1"/>
            </p:cNvCxnSpPr>
            <p:nvPr/>
          </p:nvCxnSpPr>
          <p:spPr>
            <a:xfrm flipV="1">
              <a:off x="9952160" y="4054722"/>
              <a:ext cx="226431" cy="19937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9" name="Connecteur droit avec flèche 118">
              <a:extLst>
                <a:ext uri="{FF2B5EF4-FFF2-40B4-BE49-F238E27FC236}">
                  <a16:creationId xmlns:a16="http://schemas.microsoft.com/office/drawing/2014/main" id="{3833C963-1D17-D95A-0237-B04DA740F4BD}"/>
                </a:ext>
              </a:extLst>
            </p:cNvPr>
            <p:cNvCxnSpPr>
              <a:cxnSpLocks/>
              <a:stCxn id="112" idx="3"/>
              <a:endCxn id="115" idx="1"/>
            </p:cNvCxnSpPr>
            <p:nvPr/>
          </p:nvCxnSpPr>
          <p:spPr>
            <a:xfrm>
              <a:off x="10205658" y="4520417"/>
              <a:ext cx="241218" cy="6556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20" name="Connecteur droit avec flèche 119">
              <a:extLst>
                <a:ext uri="{FF2B5EF4-FFF2-40B4-BE49-F238E27FC236}">
                  <a16:creationId xmlns:a16="http://schemas.microsoft.com/office/drawing/2014/main" id="{ADECE64E-3DC3-FAF5-F8A2-8F16597684BC}"/>
                </a:ext>
              </a:extLst>
            </p:cNvPr>
            <p:cNvCxnSpPr>
              <a:cxnSpLocks/>
              <a:stCxn id="111" idx="3"/>
              <a:endCxn id="106" idx="1"/>
            </p:cNvCxnSpPr>
            <p:nvPr/>
          </p:nvCxnSpPr>
          <p:spPr>
            <a:xfrm flipV="1">
              <a:off x="10028684" y="4060498"/>
              <a:ext cx="509505" cy="45991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21" name="Connecteur droit avec flèche 120">
              <a:extLst>
                <a:ext uri="{FF2B5EF4-FFF2-40B4-BE49-F238E27FC236}">
                  <a16:creationId xmlns:a16="http://schemas.microsoft.com/office/drawing/2014/main" id="{0174A5A9-C8F9-D098-593D-5E0CAAECC373}"/>
                </a:ext>
              </a:extLst>
            </p:cNvPr>
            <p:cNvCxnSpPr>
              <a:cxnSpLocks/>
              <a:stCxn id="104" idx="3"/>
              <a:endCxn id="111" idx="0"/>
            </p:cNvCxnSpPr>
            <p:nvPr/>
          </p:nvCxnSpPr>
          <p:spPr>
            <a:xfrm flipH="1">
              <a:off x="9952160" y="3870705"/>
              <a:ext cx="562104" cy="5731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22" name="Connecteur droit avec flèche 121">
              <a:extLst>
                <a:ext uri="{FF2B5EF4-FFF2-40B4-BE49-F238E27FC236}">
                  <a16:creationId xmlns:a16="http://schemas.microsoft.com/office/drawing/2014/main" id="{4FFB5BAA-5CB3-9150-2858-CB692A8B8B0E}"/>
                </a:ext>
              </a:extLst>
            </p:cNvPr>
            <p:cNvCxnSpPr>
              <a:cxnSpLocks/>
              <a:stCxn id="117" idx="0"/>
              <a:endCxn id="102" idx="2"/>
            </p:cNvCxnSpPr>
            <p:nvPr/>
          </p:nvCxnSpPr>
          <p:spPr>
            <a:xfrm flipH="1" flipV="1">
              <a:off x="10255116" y="3947229"/>
              <a:ext cx="450909" cy="56222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3" name="Image 2" descr="Une image contenant table&#10;&#10;Description générée automatiquement">
              <a:extLst>
                <a:ext uri="{FF2B5EF4-FFF2-40B4-BE49-F238E27FC236}">
                  <a16:creationId xmlns:a16="http://schemas.microsoft.com/office/drawing/2014/main" id="{37276E1A-BA69-04E8-A000-A280A61CA5BD}"/>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836533" y="3865810"/>
              <a:ext cx="1343904" cy="692734"/>
            </a:xfrm>
            <a:prstGeom prst="rect">
              <a:avLst/>
            </a:prstGeom>
          </p:spPr>
        </p:pic>
      </p:grpSp>
      <p:sp>
        <p:nvSpPr>
          <p:cNvPr id="7" name="Organigramme : Connecteur 6">
            <a:extLst>
              <a:ext uri="{FF2B5EF4-FFF2-40B4-BE49-F238E27FC236}">
                <a16:creationId xmlns:a16="http://schemas.microsoft.com/office/drawing/2014/main" id="{59116936-AE25-CF73-3487-D2F5F2D42F3B}"/>
              </a:ext>
            </a:extLst>
          </p:cNvPr>
          <p:cNvSpPr/>
          <p:nvPr/>
        </p:nvSpPr>
        <p:spPr>
          <a:xfrm>
            <a:off x="94102"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49</a:t>
            </a:r>
          </a:p>
        </p:txBody>
      </p:sp>
      <p:sp>
        <p:nvSpPr>
          <p:cNvPr id="10" name="Organigramme : Connecteur 9">
            <a:extLst>
              <a:ext uri="{FF2B5EF4-FFF2-40B4-BE49-F238E27FC236}">
                <a16:creationId xmlns:a16="http://schemas.microsoft.com/office/drawing/2014/main" id="{89660487-CE61-67AD-4074-10342C529121}"/>
              </a:ext>
            </a:extLst>
          </p:cNvPr>
          <p:cNvSpPr/>
          <p:nvPr/>
        </p:nvSpPr>
        <p:spPr>
          <a:xfrm>
            <a:off x="4111104" y="4215479"/>
            <a:ext cx="1002086" cy="1002086"/>
          </a:xfrm>
          <a:prstGeom prst="flowChartConnector">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400" dirty="0">
                <a:solidFill>
                  <a:schemeClr val="tx1"/>
                </a:solidFill>
              </a:rPr>
              <a:t>VA</a:t>
            </a:r>
          </a:p>
          <a:p>
            <a:pPr algn="ctr"/>
            <a:r>
              <a:rPr lang="fr-FR" sz="2400" dirty="0">
                <a:solidFill>
                  <a:schemeClr val="tx1"/>
                </a:solidFill>
              </a:rPr>
              <a:t>50</a:t>
            </a:r>
          </a:p>
        </p:txBody>
      </p:sp>
      <p:sp>
        <p:nvSpPr>
          <p:cNvPr id="13" name="ZoneTexte 12">
            <a:extLst>
              <a:ext uri="{FF2B5EF4-FFF2-40B4-BE49-F238E27FC236}">
                <a16:creationId xmlns:a16="http://schemas.microsoft.com/office/drawing/2014/main" id="{C7A767E5-21A1-9462-FEB1-AF720D421D89}"/>
              </a:ext>
            </a:extLst>
          </p:cNvPr>
          <p:cNvSpPr txBox="1"/>
          <p:nvPr/>
        </p:nvSpPr>
        <p:spPr>
          <a:xfrm>
            <a:off x="1134929" y="4098882"/>
            <a:ext cx="2815433" cy="2031325"/>
          </a:xfrm>
          <a:prstGeom prst="rect">
            <a:avLst/>
          </a:prstGeom>
          <a:noFill/>
        </p:spPr>
        <p:txBody>
          <a:bodyPr wrap="square">
            <a:spAutoFit/>
          </a:bodyPr>
          <a:lstStyle/>
          <a:p>
            <a:r>
              <a:rPr lang="fr-FR" dirty="0"/>
              <a:t>L’exercice de priorisation peut se faire selon </a:t>
            </a:r>
            <a:r>
              <a:rPr lang="fr-FR" b="1" dirty="0">
                <a:solidFill>
                  <a:srgbClr val="ED7D31"/>
                </a:solidFill>
              </a:rPr>
              <a:t>différentes méthodes</a:t>
            </a:r>
            <a:r>
              <a:rPr lang="fr-FR" dirty="0"/>
              <a:t>, à différents niveaux de complexité : </a:t>
            </a:r>
            <a:r>
              <a:rPr lang="fr-FR" b="1" dirty="0">
                <a:solidFill>
                  <a:srgbClr val="3494BA"/>
                </a:solidFill>
              </a:rPr>
              <a:t>chaque méthode a ses avantages et inconvénients</a:t>
            </a:r>
            <a:r>
              <a:rPr lang="fr-FR" dirty="0"/>
              <a:t>.</a:t>
            </a:r>
          </a:p>
        </p:txBody>
      </p:sp>
      <p:pic>
        <p:nvPicPr>
          <p:cNvPr id="14" name="Graphique 13" descr="Enveloppe avec un remplissage uni">
            <a:extLst>
              <a:ext uri="{FF2B5EF4-FFF2-40B4-BE49-F238E27FC236}">
                <a16:creationId xmlns:a16="http://schemas.microsoft.com/office/drawing/2014/main" id="{C5F04A6A-47FD-D1E5-199B-D6B458B4CFA1}"/>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182305" y="2490727"/>
            <a:ext cx="691889" cy="691889"/>
          </a:xfrm>
          <a:prstGeom prst="rect">
            <a:avLst/>
          </a:prstGeom>
        </p:spPr>
      </p:pic>
      <p:pic>
        <p:nvPicPr>
          <p:cNvPr id="15" name="Graphique 14" descr="Mille avec un remplissage uni">
            <a:extLst>
              <a:ext uri="{FF2B5EF4-FFF2-40B4-BE49-F238E27FC236}">
                <a16:creationId xmlns:a16="http://schemas.microsoft.com/office/drawing/2014/main" id="{EC52C137-B3BA-CF7B-FC58-7DD032019687}"/>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344995" y="2160580"/>
            <a:ext cx="691889" cy="691889"/>
          </a:xfrm>
          <a:prstGeom prst="rect">
            <a:avLst/>
          </a:prstGeom>
        </p:spPr>
      </p:pic>
      <p:pic>
        <p:nvPicPr>
          <p:cNvPr id="16" name="Graphique 15" descr="Public cible avec un remplissage uni">
            <a:extLst>
              <a:ext uri="{FF2B5EF4-FFF2-40B4-BE49-F238E27FC236}">
                <a16:creationId xmlns:a16="http://schemas.microsoft.com/office/drawing/2014/main" id="{A1CE6D91-7D1B-20A3-949D-B5AA69DFA30F}"/>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6199948" y="1840735"/>
            <a:ext cx="691889" cy="691889"/>
          </a:xfrm>
          <a:prstGeom prst="rect">
            <a:avLst/>
          </a:prstGeom>
        </p:spPr>
      </p:pic>
      <p:pic>
        <p:nvPicPr>
          <p:cNvPr id="17" name="Graphique 16" descr="Presse-papiers vérifié avec un remplissage uni">
            <a:extLst>
              <a:ext uri="{FF2B5EF4-FFF2-40B4-BE49-F238E27FC236}">
                <a16:creationId xmlns:a16="http://schemas.microsoft.com/office/drawing/2014/main" id="{9C8B468A-0604-5E7F-53E6-EA10F4CCFC59}"/>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835339" y="3058130"/>
            <a:ext cx="691889" cy="691889"/>
          </a:xfrm>
          <a:prstGeom prst="rect">
            <a:avLst/>
          </a:prstGeom>
        </p:spPr>
      </p:pic>
      <p:pic>
        <p:nvPicPr>
          <p:cNvPr id="18" name="Graphique 17" descr="Enveloppe ouverte avec un remplissage uni">
            <a:extLst>
              <a:ext uri="{FF2B5EF4-FFF2-40B4-BE49-F238E27FC236}">
                <a16:creationId xmlns:a16="http://schemas.microsoft.com/office/drawing/2014/main" id="{62844676-6A92-733E-A951-D5168F4DC7F7}"/>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a:stretch/>
        </p:blipFill>
        <p:spPr>
          <a:xfrm>
            <a:off x="5535447" y="3123081"/>
            <a:ext cx="573043" cy="573043"/>
          </a:xfrm>
          <a:prstGeom prst="rect">
            <a:avLst/>
          </a:prstGeom>
        </p:spPr>
      </p:pic>
      <p:pic>
        <p:nvPicPr>
          <p:cNvPr id="19" name="Graphique 18" descr="Golf avec un remplissage uni">
            <a:extLst>
              <a:ext uri="{FF2B5EF4-FFF2-40B4-BE49-F238E27FC236}">
                <a16:creationId xmlns:a16="http://schemas.microsoft.com/office/drawing/2014/main" id="{0ECF6DB7-1CB4-0A9E-63D4-F2B1CE9952E9}"/>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6921773" y="2245568"/>
            <a:ext cx="691890" cy="691890"/>
          </a:xfrm>
          <a:prstGeom prst="rect">
            <a:avLst/>
          </a:prstGeom>
        </p:spPr>
      </p:pic>
      <p:sp>
        <p:nvSpPr>
          <p:cNvPr id="20" name="ZoneTexte 19">
            <a:extLst>
              <a:ext uri="{FF2B5EF4-FFF2-40B4-BE49-F238E27FC236}">
                <a16:creationId xmlns:a16="http://schemas.microsoft.com/office/drawing/2014/main" id="{70BF7EC6-BAB2-0494-AD13-9DC83678A020}"/>
              </a:ext>
            </a:extLst>
          </p:cNvPr>
          <p:cNvSpPr txBox="1"/>
          <p:nvPr/>
        </p:nvSpPr>
        <p:spPr>
          <a:xfrm>
            <a:off x="5139841" y="4106340"/>
            <a:ext cx="2815433" cy="2308324"/>
          </a:xfrm>
          <a:prstGeom prst="rect">
            <a:avLst/>
          </a:prstGeom>
          <a:noFill/>
        </p:spPr>
        <p:txBody>
          <a:bodyPr wrap="square">
            <a:spAutoFit/>
          </a:bodyPr>
          <a:lstStyle/>
          <a:p>
            <a:r>
              <a:rPr lang="fr-FR" dirty="0"/>
              <a:t>Un point de priorisation se termine souvent par une </a:t>
            </a:r>
            <a:r>
              <a:rPr lang="fr-FR" b="1" dirty="0">
                <a:solidFill>
                  <a:srgbClr val="ED7D31"/>
                </a:solidFill>
              </a:rPr>
              <a:t>communication des résultats</a:t>
            </a:r>
            <a:r>
              <a:rPr lang="fr-FR" dirty="0"/>
              <a:t>, pour laquelle on doit choisir les </a:t>
            </a:r>
            <a:r>
              <a:rPr lang="fr-FR" b="1" dirty="0">
                <a:solidFill>
                  <a:srgbClr val="3494BA"/>
                </a:solidFill>
              </a:rPr>
              <a:t>buts</a:t>
            </a:r>
            <a:r>
              <a:rPr lang="fr-FR" dirty="0"/>
              <a:t>, les </a:t>
            </a:r>
            <a:r>
              <a:rPr lang="fr-FR" b="1" dirty="0">
                <a:solidFill>
                  <a:srgbClr val="3494BA"/>
                </a:solidFill>
              </a:rPr>
              <a:t>cibles</a:t>
            </a:r>
            <a:r>
              <a:rPr lang="fr-FR" dirty="0"/>
              <a:t>, les </a:t>
            </a:r>
            <a:r>
              <a:rPr lang="fr-FR" b="1" dirty="0">
                <a:solidFill>
                  <a:srgbClr val="3494BA"/>
                </a:solidFill>
              </a:rPr>
              <a:t>émetteurs</a:t>
            </a:r>
            <a:r>
              <a:rPr lang="fr-FR" dirty="0"/>
              <a:t>, les </a:t>
            </a:r>
            <a:r>
              <a:rPr lang="fr-FR" b="1" dirty="0">
                <a:solidFill>
                  <a:srgbClr val="3494BA"/>
                </a:solidFill>
              </a:rPr>
              <a:t>moyens</a:t>
            </a:r>
            <a:r>
              <a:rPr lang="fr-FR" dirty="0"/>
              <a:t> et le </a:t>
            </a:r>
            <a:r>
              <a:rPr lang="fr-FR" b="1" dirty="0">
                <a:solidFill>
                  <a:srgbClr val="3494BA"/>
                </a:solidFill>
              </a:rPr>
              <a:t>niveau de résumé</a:t>
            </a:r>
            <a:r>
              <a:rPr lang="fr-FR" dirty="0"/>
              <a:t>. </a:t>
            </a:r>
          </a:p>
        </p:txBody>
      </p:sp>
    </p:spTree>
    <p:extLst>
      <p:ext uri="{BB962C8B-B14F-4D97-AF65-F5344CB8AC3E}">
        <p14:creationId xmlns:p14="http://schemas.microsoft.com/office/powerpoint/2010/main" val="1101540301"/>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D0D435C-0CBE-1D31-477B-BF20C96BC750}"/>
              </a:ext>
            </a:extLst>
          </p:cNvPr>
          <p:cNvSpPr>
            <a:spLocks noGrp="1"/>
          </p:cNvSpPr>
          <p:nvPr>
            <p:ph type="title"/>
          </p:nvPr>
        </p:nvSpPr>
        <p:spPr/>
        <p:txBody>
          <a:bodyPr/>
          <a:lstStyle/>
          <a:p>
            <a:r>
              <a:rPr lang="fr-FR" dirty="0"/>
              <a:t>Formules toutes prêtes pour Communautés</a:t>
            </a:r>
          </a:p>
        </p:txBody>
      </p:sp>
      <p:sp>
        <p:nvSpPr>
          <p:cNvPr id="3" name="Espace réservé du contenu 2">
            <a:extLst>
              <a:ext uri="{FF2B5EF4-FFF2-40B4-BE49-F238E27FC236}">
                <a16:creationId xmlns:a16="http://schemas.microsoft.com/office/drawing/2014/main" id="{E3C30077-DB9F-A554-A2B0-408ED3802275}"/>
              </a:ext>
            </a:extLst>
          </p:cNvPr>
          <p:cNvSpPr>
            <a:spLocks noGrp="1"/>
          </p:cNvSpPr>
          <p:nvPr>
            <p:ph idx="1"/>
          </p:nvPr>
        </p:nvSpPr>
        <p:spPr>
          <a:xfrm>
            <a:off x="4476206" y="1825625"/>
            <a:ext cx="6877594" cy="4351338"/>
          </a:xfrm>
        </p:spPr>
        <p:txBody>
          <a:bodyPr>
            <a:normAutofit fontScale="70000" lnSpcReduction="20000"/>
          </a:bodyPr>
          <a:lstStyle/>
          <a:p>
            <a:r>
              <a:rPr lang="fr-FR" dirty="0"/>
              <a:t>Les formules toutes prêtes suivantes sont des propositions cohérentes de Communautés ou de phases de Communauté à vivre.</a:t>
            </a:r>
          </a:p>
          <a:p>
            <a:endParaRPr lang="fr-FR" dirty="0"/>
          </a:p>
          <a:p>
            <a:r>
              <a:rPr lang="fr-FR" dirty="0"/>
              <a:t>Elles sont ici pour faire gagner du temps et pour pratiquer directement (pour les personnes n’ayant pas l’opportunité de creuser les paramètres)</a:t>
            </a:r>
          </a:p>
          <a:p>
            <a:endParaRPr lang="fr-FR" dirty="0"/>
          </a:p>
          <a:p>
            <a:r>
              <a:rPr lang="fr-FR" dirty="0"/>
              <a:t>Ces formules toutes prêtes proposent des actions, un état à atteindre à différents moments de votre Communauté.</a:t>
            </a:r>
          </a:p>
          <a:p>
            <a:pPr marL="0" indent="0">
              <a:buNone/>
            </a:pPr>
            <a:endParaRPr lang="fr-FR" dirty="0"/>
          </a:p>
          <a:p>
            <a:r>
              <a:rPr lang="fr-FR" dirty="0"/>
              <a:t>Ces formules toutes prêtes sont bien sûr à adapter, particulièrement concernant les différents critères étudiés dans ce document.</a:t>
            </a:r>
          </a:p>
        </p:txBody>
      </p:sp>
      <p:pic>
        <p:nvPicPr>
          <p:cNvPr id="5" name="Graphique 4" descr="Tubes à essai avec un remplissage uni">
            <a:extLst>
              <a:ext uri="{FF2B5EF4-FFF2-40B4-BE49-F238E27FC236}">
                <a16:creationId xmlns:a16="http://schemas.microsoft.com/office/drawing/2014/main" id="{45F425C6-2CF7-9E45-5A53-DEA1FA47B10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38200" y="1981985"/>
            <a:ext cx="3517769" cy="3517769"/>
          </a:xfrm>
          <a:prstGeom prst="rect">
            <a:avLst/>
          </a:prstGeom>
        </p:spPr>
      </p:pic>
      <p:grpSp>
        <p:nvGrpSpPr>
          <p:cNvPr id="10" name="Groupe 9">
            <a:extLst>
              <a:ext uri="{FF2B5EF4-FFF2-40B4-BE49-F238E27FC236}">
                <a16:creationId xmlns:a16="http://schemas.microsoft.com/office/drawing/2014/main" id="{61AF1973-B3C6-A7DA-F1E2-AF380559017C}"/>
              </a:ext>
            </a:extLst>
          </p:cNvPr>
          <p:cNvGrpSpPr/>
          <p:nvPr/>
        </p:nvGrpSpPr>
        <p:grpSpPr>
          <a:xfrm>
            <a:off x="1515293" y="3927566"/>
            <a:ext cx="525774" cy="491582"/>
            <a:chOff x="838200" y="2322576"/>
            <a:chExt cx="4325259" cy="4043980"/>
          </a:xfrm>
          <a:solidFill>
            <a:schemeClr val="bg1"/>
          </a:solidFill>
        </p:grpSpPr>
        <p:pic>
          <p:nvPicPr>
            <p:cNvPr id="6" name="Espace réservé du contenu 6" descr="Tribunal contour">
              <a:extLst>
                <a:ext uri="{FF2B5EF4-FFF2-40B4-BE49-F238E27FC236}">
                  <a16:creationId xmlns:a16="http://schemas.microsoft.com/office/drawing/2014/main" id="{7B19EF86-BD17-1C4F-510E-BB8B442DC1A6}"/>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75101" r="8805" b="9752"/>
            <a:stretch/>
          </p:blipFill>
          <p:spPr>
            <a:xfrm>
              <a:off x="838200" y="5577840"/>
              <a:ext cx="4325259" cy="788716"/>
            </a:xfrm>
            <a:prstGeom prst="rect">
              <a:avLst/>
            </a:prstGeom>
          </p:spPr>
        </p:pic>
        <p:pic>
          <p:nvPicPr>
            <p:cNvPr id="7" name="Espace réservé du contenu 6" descr="Tribunal contour">
              <a:extLst>
                <a:ext uri="{FF2B5EF4-FFF2-40B4-BE49-F238E27FC236}">
                  <a16:creationId xmlns:a16="http://schemas.microsoft.com/office/drawing/2014/main" id="{634B41B0-630D-B2F0-AB9B-ADB579C30C0C}"/>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37523" r="8805" b="24898"/>
            <a:stretch/>
          </p:blipFill>
          <p:spPr>
            <a:xfrm>
              <a:off x="838200" y="3621024"/>
              <a:ext cx="4325259" cy="1956816"/>
            </a:xfrm>
            <a:prstGeom prst="rect">
              <a:avLst/>
            </a:prstGeom>
          </p:spPr>
        </p:pic>
        <p:pic>
          <p:nvPicPr>
            <p:cNvPr id="8" name="Espace réservé du contenu 6" descr="Tribunal contour">
              <a:extLst>
                <a:ext uri="{FF2B5EF4-FFF2-40B4-BE49-F238E27FC236}">
                  <a16:creationId xmlns:a16="http://schemas.microsoft.com/office/drawing/2014/main" id="{9CF33B9E-FCBA-D273-FCD9-7D6C04182049}"/>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12060" r="8805" b="62496"/>
            <a:stretch/>
          </p:blipFill>
          <p:spPr>
            <a:xfrm>
              <a:off x="838200" y="2322576"/>
              <a:ext cx="4325259" cy="1324928"/>
            </a:xfrm>
            <a:prstGeom prst="rect">
              <a:avLst/>
            </a:prstGeom>
          </p:spPr>
        </p:pic>
        <p:pic>
          <p:nvPicPr>
            <p:cNvPr id="9" name="Graphique 8" descr="Réussite du groupe avec un remplissage uni">
              <a:extLst>
                <a:ext uri="{FF2B5EF4-FFF2-40B4-BE49-F238E27FC236}">
                  <a16:creationId xmlns:a16="http://schemas.microsoft.com/office/drawing/2014/main" id="{CCD5303F-25AC-8ADA-69D5-7730780A1B32}"/>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13979" b="19010"/>
            <a:stretch/>
          </p:blipFill>
          <p:spPr>
            <a:xfrm>
              <a:off x="2141153" y="4425696"/>
              <a:ext cx="1719352" cy="1152144"/>
            </a:xfrm>
            <a:prstGeom prst="rect">
              <a:avLst/>
            </a:prstGeom>
          </p:spPr>
        </p:pic>
      </p:grpSp>
      <p:grpSp>
        <p:nvGrpSpPr>
          <p:cNvPr id="11" name="Groupe 10">
            <a:extLst>
              <a:ext uri="{FF2B5EF4-FFF2-40B4-BE49-F238E27FC236}">
                <a16:creationId xmlns:a16="http://schemas.microsoft.com/office/drawing/2014/main" id="{1DDCE213-5EC3-26A8-147A-888D75173855}"/>
              </a:ext>
            </a:extLst>
          </p:cNvPr>
          <p:cNvGrpSpPr/>
          <p:nvPr/>
        </p:nvGrpSpPr>
        <p:grpSpPr>
          <a:xfrm>
            <a:off x="2334197" y="3936275"/>
            <a:ext cx="525774" cy="491582"/>
            <a:chOff x="838200" y="2322576"/>
            <a:chExt cx="4325259" cy="4043980"/>
          </a:xfrm>
          <a:solidFill>
            <a:schemeClr val="bg1"/>
          </a:solidFill>
        </p:grpSpPr>
        <p:pic>
          <p:nvPicPr>
            <p:cNvPr id="12" name="Espace réservé du contenu 6" descr="Tribunal contour">
              <a:extLst>
                <a:ext uri="{FF2B5EF4-FFF2-40B4-BE49-F238E27FC236}">
                  <a16:creationId xmlns:a16="http://schemas.microsoft.com/office/drawing/2014/main" id="{B0F66FE8-A5DB-9D7F-AEC7-2BE074191C1E}"/>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75101" r="8805" b="9752"/>
            <a:stretch/>
          </p:blipFill>
          <p:spPr>
            <a:xfrm>
              <a:off x="838200" y="5577840"/>
              <a:ext cx="4325259" cy="788716"/>
            </a:xfrm>
            <a:prstGeom prst="rect">
              <a:avLst/>
            </a:prstGeom>
          </p:spPr>
        </p:pic>
        <p:pic>
          <p:nvPicPr>
            <p:cNvPr id="13" name="Espace réservé du contenu 6" descr="Tribunal contour">
              <a:extLst>
                <a:ext uri="{FF2B5EF4-FFF2-40B4-BE49-F238E27FC236}">
                  <a16:creationId xmlns:a16="http://schemas.microsoft.com/office/drawing/2014/main" id="{915649EF-63AE-9500-4677-D6720200FDCF}"/>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37523" r="8805" b="24898"/>
            <a:stretch/>
          </p:blipFill>
          <p:spPr>
            <a:xfrm>
              <a:off x="838200" y="3621024"/>
              <a:ext cx="4325259" cy="1956816"/>
            </a:xfrm>
            <a:prstGeom prst="rect">
              <a:avLst/>
            </a:prstGeom>
          </p:spPr>
        </p:pic>
        <p:pic>
          <p:nvPicPr>
            <p:cNvPr id="14" name="Espace réservé du contenu 6" descr="Tribunal contour">
              <a:extLst>
                <a:ext uri="{FF2B5EF4-FFF2-40B4-BE49-F238E27FC236}">
                  <a16:creationId xmlns:a16="http://schemas.microsoft.com/office/drawing/2014/main" id="{2AE7F683-486B-391A-4E86-03B1A11E4A76}"/>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12060" r="8805" b="62496"/>
            <a:stretch/>
          </p:blipFill>
          <p:spPr>
            <a:xfrm>
              <a:off x="838200" y="2322576"/>
              <a:ext cx="4325259" cy="1324928"/>
            </a:xfrm>
            <a:prstGeom prst="rect">
              <a:avLst/>
            </a:prstGeom>
          </p:spPr>
        </p:pic>
        <p:pic>
          <p:nvPicPr>
            <p:cNvPr id="15" name="Graphique 14" descr="Réussite du groupe avec un remplissage uni">
              <a:extLst>
                <a:ext uri="{FF2B5EF4-FFF2-40B4-BE49-F238E27FC236}">
                  <a16:creationId xmlns:a16="http://schemas.microsoft.com/office/drawing/2014/main" id="{4F5405DD-A59D-A600-C809-F5C894A7ECF8}"/>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13979" b="19010"/>
            <a:stretch/>
          </p:blipFill>
          <p:spPr>
            <a:xfrm>
              <a:off x="2141153" y="4425696"/>
              <a:ext cx="1719352" cy="1152144"/>
            </a:xfrm>
            <a:prstGeom prst="rect">
              <a:avLst/>
            </a:prstGeom>
          </p:spPr>
        </p:pic>
      </p:grpSp>
      <p:grpSp>
        <p:nvGrpSpPr>
          <p:cNvPr id="16" name="Groupe 15">
            <a:extLst>
              <a:ext uri="{FF2B5EF4-FFF2-40B4-BE49-F238E27FC236}">
                <a16:creationId xmlns:a16="http://schemas.microsoft.com/office/drawing/2014/main" id="{1FB5D501-40DA-DE5B-47CB-8E7C3DD36B21}"/>
              </a:ext>
            </a:extLst>
          </p:cNvPr>
          <p:cNvGrpSpPr/>
          <p:nvPr/>
        </p:nvGrpSpPr>
        <p:grpSpPr>
          <a:xfrm>
            <a:off x="3135386" y="3927566"/>
            <a:ext cx="525774" cy="491582"/>
            <a:chOff x="838200" y="2322576"/>
            <a:chExt cx="4325259" cy="4043980"/>
          </a:xfrm>
          <a:solidFill>
            <a:schemeClr val="bg1"/>
          </a:solidFill>
        </p:grpSpPr>
        <p:pic>
          <p:nvPicPr>
            <p:cNvPr id="17" name="Espace réservé du contenu 6" descr="Tribunal contour">
              <a:extLst>
                <a:ext uri="{FF2B5EF4-FFF2-40B4-BE49-F238E27FC236}">
                  <a16:creationId xmlns:a16="http://schemas.microsoft.com/office/drawing/2014/main" id="{6B1CD946-2507-9B9D-4D9A-6D09E08DEFE3}"/>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75101" r="8805" b="9752"/>
            <a:stretch/>
          </p:blipFill>
          <p:spPr>
            <a:xfrm>
              <a:off x="838200" y="5577840"/>
              <a:ext cx="4325259" cy="788716"/>
            </a:xfrm>
            <a:prstGeom prst="rect">
              <a:avLst/>
            </a:prstGeom>
          </p:spPr>
        </p:pic>
        <p:pic>
          <p:nvPicPr>
            <p:cNvPr id="18" name="Espace réservé du contenu 6" descr="Tribunal contour">
              <a:extLst>
                <a:ext uri="{FF2B5EF4-FFF2-40B4-BE49-F238E27FC236}">
                  <a16:creationId xmlns:a16="http://schemas.microsoft.com/office/drawing/2014/main" id="{4131A4B2-78FA-1B72-308C-6163003A7180}"/>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37523" r="8805" b="24898"/>
            <a:stretch/>
          </p:blipFill>
          <p:spPr>
            <a:xfrm>
              <a:off x="838200" y="3621024"/>
              <a:ext cx="4325259" cy="1956816"/>
            </a:xfrm>
            <a:prstGeom prst="rect">
              <a:avLst/>
            </a:prstGeom>
          </p:spPr>
        </p:pic>
        <p:pic>
          <p:nvPicPr>
            <p:cNvPr id="19" name="Espace réservé du contenu 6" descr="Tribunal contour">
              <a:extLst>
                <a:ext uri="{FF2B5EF4-FFF2-40B4-BE49-F238E27FC236}">
                  <a16:creationId xmlns:a16="http://schemas.microsoft.com/office/drawing/2014/main" id="{B90CDE37-D1C2-E58E-4E07-8A3C7E019D2B}"/>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12060" r="8805" b="62496"/>
            <a:stretch/>
          </p:blipFill>
          <p:spPr>
            <a:xfrm>
              <a:off x="838200" y="2322576"/>
              <a:ext cx="4325259" cy="1324928"/>
            </a:xfrm>
            <a:prstGeom prst="rect">
              <a:avLst/>
            </a:prstGeom>
          </p:spPr>
        </p:pic>
        <p:pic>
          <p:nvPicPr>
            <p:cNvPr id="20" name="Graphique 19" descr="Réussite du groupe avec un remplissage uni">
              <a:extLst>
                <a:ext uri="{FF2B5EF4-FFF2-40B4-BE49-F238E27FC236}">
                  <a16:creationId xmlns:a16="http://schemas.microsoft.com/office/drawing/2014/main" id="{648DAF6D-136D-E982-95B2-FFEFA781AD8E}"/>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t="13979" b="19010"/>
            <a:stretch/>
          </p:blipFill>
          <p:spPr>
            <a:xfrm>
              <a:off x="2141153" y="4425696"/>
              <a:ext cx="1719352" cy="1152144"/>
            </a:xfrm>
            <a:prstGeom prst="rect">
              <a:avLst/>
            </a:prstGeom>
          </p:spPr>
        </p:pic>
      </p:grpSp>
    </p:spTree>
    <p:extLst>
      <p:ext uri="{BB962C8B-B14F-4D97-AF65-F5344CB8AC3E}">
        <p14:creationId xmlns:p14="http://schemas.microsoft.com/office/powerpoint/2010/main" val="3485695618"/>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C03530E-16F6-081A-DD57-E81DA19E76C2}"/>
              </a:ext>
            </a:extLst>
          </p:cNvPr>
          <p:cNvSpPr>
            <a:spLocks noGrp="1"/>
          </p:cNvSpPr>
          <p:nvPr>
            <p:ph type="title"/>
          </p:nvPr>
        </p:nvSpPr>
        <p:spPr/>
        <p:txBody>
          <a:bodyPr>
            <a:normAutofit/>
          </a:bodyPr>
          <a:lstStyle/>
          <a:p>
            <a:r>
              <a:rPr lang="fr-FR" dirty="0"/>
              <a:t>Cœur d’activités : Par type de Communauté</a:t>
            </a:r>
          </a:p>
        </p:txBody>
      </p:sp>
      <p:sp>
        <p:nvSpPr>
          <p:cNvPr id="3" name="Espace réservé du contenu 2">
            <a:extLst>
              <a:ext uri="{FF2B5EF4-FFF2-40B4-BE49-F238E27FC236}">
                <a16:creationId xmlns:a16="http://schemas.microsoft.com/office/drawing/2014/main" id="{D9E19DCB-B5F2-4641-3010-5F33745408BD}"/>
              </a:ext>
            </a:extLst>
          </p:cNvPr>
          <p:cNvSpPr>
            <a:spLocks noGrp="1"/>
          </p:cNvSpPr>
          <p:nvPr>
            <p:ph idx="1"/>
          </p:nvPr>
        </p:nvSpPr>
        <p:spPr>
          <a:xfrm>
            <a:off x="5469404" y="1825625"/>
            <a:ext cx="6214595" cy="4351338"/>
          </a:xfrm>
        </p:spPr>
        <p:txBody>
          <a:bodyPr>
            <a:normAutofit/>
          </a:bodyPr>
          <a:lstStyle/>
          <a:p>
            <a:pPr marL="0" indent="0">
              <a:buNone/>
            </a:pPr>
            <a:r>
              <a:rPr lang="fr-FR" sz="2000" dirty="0"/>
              <a:t>Le </a:t>
            </a:r>
            <a:r>
              <a:rPr lang="fr-FR" sz="2000" b="1" dirty="0">
                <a:solidFill>
                  <a:srgbClr val="ED7D31"/>
                </a:solidFill>
              </a:rPr>
              <a:t>cœur d’activités </a:t>
            </a:r>
            <a:r>
              <a:rPr lang="fr-FR" sz="2000" dirty="0"/>
              <a:t>d’une communauté est </a:t>
            </a:r>
            <a:r>
              <a:rPr lang="fr-FR" sz="2000" b="1" dirty="0"/>
              <a:t>l’ensemble des activités centrales qui répond à la raison d’être </a:t>
            </a:r>
            <a:r>
              <a:rPr lang="fr-FR" sz="2000" dirty="0"/>
              <a:t>de la Communauté. </a:t>
            </a:r>
          </a:p>
          <a:p>
            <a:pPr marL="0" indent="0">
              <a:buNone/>
            </a:pPr>
            <a:r>
              <a:rPr lang="fr-FR" sz="2000" dirty="0"/>
              <a:t>Il s’agit des activités très spécifiques à chaque objet de la communauté, elles sont donc moins communes et génériques.</a:t>
            </a:r>
          </a:p>
          <a:p>
            <a:pPr marL="0" indent="0">
              <a:buNone/>
            </a:pPr>
            <a:r>
              <a:rPr lang="fr-FR" sz="2000" dirty="0"/>
              <a:t>Sans ce cœur d’activités, les péri-activités (cadrage, etc.) ont très peu de sens par elles même. Elles sont toutes en effet des préparations et des optimisations pour rendre meilleures le cœur d’activités.</a:t>
            </a:r>
          </a:p>
          <a:p>
            <a:pPr marL="0" indent="0">
              <a:buNone/>
            </a:pPr>
            <a:r>
              <a:rPr lang="fr-FR" sz="2000" dirty="0"/>
              <a:t>Le cœur d’activité d’une communauté va dépendre du </a:t>
            </a:r>
            <a:r>
              <a:rPr lang="fr-FR" sz="2000" b="1" dirty="0">
                <a:solidFill>
                  <a:srgbClr val="3494BA"/>
                </a:solidFill>
              </a:rPr>
              <a:t>type de Communauté </a:t>
            </a:r>
            <a:r>
              <a:rPr lang="fr-FR" sz="2000" dirty="0"/>
              <a:t>que vous souhaitez lancer. </a:t>
            </a:r>
          </a:p>
        </p:txBody>
      </p:sp>
      <p:sp>
        <p:nvSpPr>
          <p:cNvPr id="5" name="Ellipse 4">
            <a:extLst>
              <a:ext uri="{FF2B5EF4-FFF2-40B4-BE49-F238E27FC236}">
                <a16:creationId xmlns:a16="http://schemas.microsoft.com/office/drawing/2014/main" id="{812E5242-4EAA-DCC5-9F0C-793E8E2C3279}"/>
              </a:ext>
            </a:extLst>
          </p:cNvPr>
          <p:cNvSpPr/>
          <p:nvPr/>
        </p:nvSpPr>
        <p:spPr>
          <a:xfrm>
            <a:off x="1452157" y="3434476"/>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7" name="Ellipse 6">
            <a:extLst>
              <a:ext uri="{FF2B5EF4-FFF2-40B4-BE49-F238E27FC236}">
                <a16:creationId xmlns:a16="http://schemas.microsoft.com/office/drawing/2014/main" id="{E38AEFFA-FF1E-15C8-43BB-9D2E0F832E5C}"/>
              </a:ext>
            </a:extLst>
          </p:cNvPr>
          <p:cNvSpPr/>
          <p:nvPr/>
        </p:nvSpPr>
        <p:spPr>
          <a:xfrm>
            <a:off x="1465215" y="4932170"/>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8" name="Ellipse 7">
            <a:extLst>
              <a:ext uri="{FF2B5EF4-FFF2-40B4-BE49-F238E27FC236}">
                <a16:creationId xmlns:a16="http://schemas.microsoft.com/office/drawing/2014/main" id="{36B548ED-4CF0-FD47-8FEE-2061EB5E029F}"/>
              </a:ext>
            </a:extLst>
          </p:cNvPr>
          <p:cNvSpPr/>
          <p:nvPr/>
        </p:nvSpPr>
        <p:spPr>
          <a:xfrm>
            <a:off x="3310687" y="4932170"/>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0" name="Ellipse 9">
            <a:extLst>
              <a:ext uri="{FF2B5EF4-FFF2-40B4-BE49-F238E27FC236}">
                <a16:creationId xmlns:a16="http://schemas.microsoft.com/office/drawing/2014/main" id="{66E0029D-2DD6-BE70-F0AE-3DE005EE0C5E}"/>
              </a:ext>
            </a:extLst>
          </p:cNvPr>
          <p:cNvSpPr/>
          <p:nvPr/>
        </p:nvSpPr>
        <p:spPr>
          <a:xfrm>
            <a:off x="3319606" y="3434476"/>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2" name="Ellipse 11">
            <a:extLst>
              <a:ext uri="{FF2B5EF4-FFF2-40B4-BE49-F238E27FC236}">
                <a16:creationId xmlns:a16="http://schemas.microsoft.com/office/drawing/2014/main" id="{6F00C69D-2BE3-5E70-82FC-111176DE49F2}"/>
              </a:ext>
            </a:extLst>
          </p:cNvPr>
          <p:cNvSpPr/>
          <p:nvPr/>
        </p:nvSpPr>
        <p:spPr>
          <a:xfrm>
            <a:off x="2385881" y="2153383"/>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13" name="Connecteur droit avec flèche 12">
            <a:extLst>
              <a:ext uri="{FF2B5EF4-FFF2-40B4-BE49-F238E27FC236}">
                <a16:creationId xmlns:a16="http://schemas.microsoft.com/office/drawing/2014/main" id="{3ACD1315-DE15-ACD7-38DC-C74E0BB7D2A7}"/>
              </a:ext>
            </a:extLst>
          </p:cNvPr>
          <p:cNvCxnSpPr>
            <a:cxnSpLocks/>
            <a:stCxn id="10" idx="4"/>
            <a:endCxn id="8" idx="0"/>
          </p:cNvCxnSpPr>
          <p:nvPr/>
        </p:nvCxnSpPr>
        <p:spPr>
          <a:xfrm flipH="1">
            <a:off x="3445670" y="3704442"/>
            <a:ext cx="8919" cy="122772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Connecteur droit avec flèche 13">
            <a:extLst>
              <a:ext uri="{FF2B5EF4-FFF2-40B4-BE49-F238E27FC236}">
                <a16:creationId xmlns:a16="http://schemas.microsoft.com/office/drawing/2014/main" id="{617AD39C-E4C3-BF78-7645-E29B8EA364CA}"/>
              </a:ext>
            </a:extLst>
          </p:cNvPr>
          <p:cNvCxnSpPr>
            <a:cxnSpLocks/>
            <a:stCxn id="5" idx="6"/>
            <a:endCxn id="10" idx="2"/>
          </p:cNvCxnSpPr>
          <p:nvPr/>
        </p:nvCxnSpPr>
        <p:spPr>
          <a:xfrm>
            <a:off x="1722123" y="3569459"/>
            <a:ext cx="1597483" cy="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Connecteur droit avec flèche 14">
            <a:extLst>
              <a:ext uri="{FF2B5EF4-FFF2-40B4-BE49-F238E27FC236}">
                <a16:creationId xmlns:a16="http://schemas.microsoft.com/office/drawing/2014/main" id="{3B4B2842-3887-9A28-360D-20747E94EB97}"/>
              </a:ext>
            </a:extLst>
          </p:cNvPr>
          <p:cNvCxnSpPr>
            <a:cxnSpLocks/>
            <a:stCxn id="5" idx="4"/>
            <a:endCxn id="7" idx="0"/>
          </p:cNvCxnSpPr>
          <p:nvPr/>
        </p:nvCxnSpPr>
        <p:spPr>
          <a:xfrm>
            <a:off x="1587140" y="3704442"/>
            <a:ext cx="13058" cy="122772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Connecteur droit avec flèche 15">
            <a:extLst>
              <a:ext uri="{FF2B5EF4-FFF2-40B4-BE49-F238E27FC236}">
                <a16:creationId xmlns:a16="http://schemas.microsoft.com/office/drawing/2014/main" id="{741D267B-72DA-8C40-4592-B00A3D218960}"/>
              </a:ext>
            </a:extLst>
          </p:cNvPr>
          <p:cNvCxnSpPr>
            <a:cxnSpLocks/>
            <a:stCxn id="5" idx="7"/>
            <a:endCxn id="12" idx="2"/>
          </p:cNvCxnSpPr>
          <p:nvPr/>
        </p:nvCxnSpPr>
        <p:spPr>
          <a:xfrm flipV="1">
            <a:off x="1682587" y="2288366"/>
            <a:ext cx="703294" cy="1185646"/>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 name="Ellipse 17">
            <a:extLst>
              <a:ext uri="{FF2B5EF4-FFF2-40B4-BE49-F238E27FC236}">
                <a16:creationId xmlns:a16="http://schemas.microsoft.com/office/drawing/2014/main" id="{DE31A2C6-B59D-F9FD-5885-0E92680C1318}"/>
              </a:ext>
            </a:extLst>
          </p:cNvPr>
          <p:cNvSpPr/>
          <p:nvPr/>
        </p:nvSpPr>
        <p:spPr>
          <a:xfrm>
            <a:off x="2385881" y="5906997"/>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19" name="Connecteur droit avec flèche 18">
            <a:extLst>
              <a:ext uri="{FF2B5EF4-FFF2-40B4-BE49-F238E27FC236}">
                <a16:creationId xmlns:a16="http://schemas.microsoft.com/office/drawing/2014/main" id="{E181986C-1518-4B62-52D8-FC6400DFFCA5}"/>
              </a:ext>
            </a:extLst>
          </p:cNvPr>
          <p:cNvCxnSpPr>
            <a:cxnSpLocks/>
            <a:stCxn id="18" idx="6"/>
            <a:endCxn id="8" idx="3"/>
          </p:cNvCxnSpPr>
          <p:nvPr/>
        </p:nvCxnSpPr>
        <p:spPr>
          <a:xfrm flipV="1">
            <a:off x="2655847" y="5162600"/>
            <a:ext cx="694376" cy="87938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Connecteur droit avec flèche 19">
            <a:extLst>
              <a:ext uri="{FF2B5EF4-FFF2-40B4-BE49-F238E27FC236}">
                <a16:creationId xmlns:a16="http://schemas.microsoft.com/office/drawing/2014/main" id="{9D909B4B-A48D-98A5-4136-87E604D7D069}"/>
              </a:ext>
            </a:extLst>
          </p:cNvPr>
          <p:cNvCxnSpPr>
            <a:cxnSpLocks/>
            <a:stCxn id="18" idx="2"/>
            <a:endCxn id="7" idx="5"/>
          </p:cNvCxnSpPr>
          <p:nvPr/>
        </p:nvCxnSpPr>
        <p:spPr>
          <a:xfrm flipH="1" flipV="1">
            <a:off x="1695645" y="5162600"/>
            <a:ext cx="690236" cy="87938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1" name="Connecteur droit avec flèche 20">
            <a:extLst>
              <a:ext uri="{FF2B5EF4-FFF2-40B4-BE49-F238E27FC236}">
                <a16:creationId xmlns:a16="http://schemas.microsoft.com/office/drawing/2014/main" id="{DF7DE1D7-D782-6629-3E83-3B7D20852F69}"/>
              </a:ext>
            </a:extLst>
          </p:cNvPr>
          <p:cNvCxnSpPr>
            <a:cxnSpLocks/>
            <a:stCxn id="10" idx="0"/>
            <a:endCxn id="12" idx="6"/>
          </p:cNvCxnSpPr>
          <p:nvPr/>
        </p:nvCxnSpPr>
        <p:spPr>
          <a:xfrm flipH="1" flipV="1">
            <a:off x="2655847" y="2288366"/>
            <a:ext cx="798742" cy="114611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2" name="Connecteur droit avec flèche 21">
            <a:extLst>
              <a:ext uri="{FF2B5EF4-FFF2-40B4-BE49-F238E27FC236}">
                <a16:creationId xmlns:a16="http://schemas.microsoft.com/office/drawing/2014/main" id="{10368640-66C6-5689-33AB-D3595F4C0532}"/>
              </a:ext>
            </a:extLst>
          </p:cNvPr>
          <p:cNvCxnSpPr>
            <a:cxnSpLocks/>
            <a:stCxn id="7" idx="6"/>
            <a:endCxn id="8" idx="2"/>
          </p:cNvCxnSpPr>
          <p:nvPr/>
        </p:nvCxnSpPr>
        <p:spPr>
          <a:xfrm>
            <a:off x="1735181" y="5067153"/>
            <a:ext cx="1575506" cy="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4" name="Connecteur droit avec flèche 23">
            <a:extLst>
              <a:ext uri="{FF2B5EF4-FFF2-40B4-BE49-F238E27FC236}">
                <a16:creationId xmlns:a16="http://schemas.microsoft.com/office/drawing/2014/main" id="{9BC7E2B9-0DD6-BDD6-75D8-F1C088EEAB9A}"/>
              </a:ext>
            </a:extLst>
          </p:cNvPr>
          <p:cNvCxnSpPr>
            <a:cxnSpLocks/>
            <a:stCxn id="5" idx="5"/>
            <a:endCxn id="26" idx="2"/>
          </p:cNvCxnSpPr>
          <p:nvPr/>
        </p:nvCxnSpPr>
        <p:spPr>
          <a:xfrm>
            <a:off x="1682587" y="3664906"/>
            <a:ext cx="488526" cy="557953"/>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 name="Connecteur droit avec flèche 24">
            <a:extLst>
              <a:ext uri="{FF2B5EF4-FFF2-40B4-BE49-F238E27FC236}">
                <a16:creationId xmlns:a16="http://schemas.microsoft.com/office/drawing/2014/main" id="{BCA7C6ED-0A8A-C87B-B281-AC8ECCD154C5}"/>
              </a:ext>
            </a:extLst>
          </p:cNvPr>
          <p:cNvCxnSpPr>
            <a:cxnSpLocks/>
            <a:stCxn id="7" idx="7"/>
            <a:endCxn id="26" idx="3"/>
          </p:cNvCxnSpPr>
          <p:nvPr/>
        </p:nvCxnSpPr>
        <p:spPr>
          <a:xfrm flipV="1">
            <a:off x="1695645" y="4470169"/>
            <a:ext cx="577908" cy="501537"/>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 name="Ellipse 25">
            <a:extLst>
              <a:ext uri="{FF2B5EF4-FFF2-40B4-BE49-F238E27FC236}">
                <a16:creationId xmlns:a16="http://schemas.microsoft.com/office/drawing/2014/main" id="{4340A8D9-F846-D163-95F7-D411087087ED}"/>
              </a:ext>
            </a:extLst>
          </p:cNvPr>
          <p:cNvSpPr/>
          <p:nvPr/>
        </p:nvSpPr>
        <p:spPr>
          <a:xfrm>
            <a:off x="2171113" y="3873108"/>
            <a:ext cx="699501" cy="699501"/>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27" name="Connecteur droit avec flèche 26">
            <a:extLst>
              <a:ext uri="{FF2B5EF4-FFF2-40B4-BE49-F238E27FC236}">
                <a16:creationId xmlns:a16="http://schemas.microsoft.com/office/drawing/2014/main" id="{3BBF8F8F-15EA-D8B0-078D-B92B1C70C027}"/>
              </a:ext>
            </a:extLst>
          </p:cNvPr>
          <p:cNvCxnSpPr>
            <a:cxnSpLocks/>
            <a:stCxn id="10" idx="3"/>
            <a:endCxn id="26" idx="7"/>
          </p:cNvCxnSpPr>
          <p:nvPr/>
        </p:nvCxnSpPr>
        <p:spPr>
          <a:xfrm flipH="1">
            <a:off x="2768174" y="3664906"/>
            <a:ext cx="590968" cy="310642"/>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Connecteur droit avec flèche 27">
            <a:extLst>
              <a:ext uri="{FF2B5EF4-FFF2-40B4-BE49-F238E27FC236}">
                <a16:creationId xmlns:a16="http://schemas.microsoft.com/office/drawing/2014/main" id="{CCCB318E-907A-F3BA-4532-5BD00C631703}"/>
              </a:ext>
            </a:extLst>
          </p:cNvPr>
          <p:cNvCxnSpPr>
            <a:cxnSpLocks/>
            <a:stCxn id="8" idx="1"/>
            <a:endCxn id="26" idx="5"/>
          </p:cNvCxnSpPr>
          <p:nvPr/>
        </p:nvCxnSpPr>
        <p:spPr>
          <a:xfrm flipH="1" flipV="1">
            <a:off x="2768174" y="4470169"/>
            <a:ext cx="582049" cy="501537"/>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Connecteur droit avec flèche 28">
            <a:extLst>
              <a:ext uri="{FF2B5EF4-FFF2-40B4-BE49-F238E27FC236}">
                <a16:creationId xmlns:a16="http://schemas.microsoft.com/office/drawing/2014/main" id="{16DBC6F6-5EC4-BC07-4024-F3AC72D5C372}"/>
              </a:ext>
            </a:extLst>
          </p:cNvPr>
          <p:cNvCxnSpPr>
            <a:cxnSpLocks/>
            <a:stCxn id="18" idx="0"/>
            <a:endCxn id="26" idx="4"/>
          </p:cNvCxnSpPr>
          <p:nvPr/>
        </p:nvCxnSpPr>
        <p:spPr>
          <a:xfrm flipV="1">
            <a:off x="2520864" y="4572609"/>
            <a:ext cx="0" cy="133438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 name="Connecteur droit avec flèche 29">
            <a:extLst>
              <a:ext uri="{FF2B5EF4-FFF2-40B4-BE49-F238E27FC236}">
                <a16:creationId xmlns:a16="http://schemas.microsoft.com/office/drawing/2014/main" id="{A983E222-43D7-A905-0DFB-AB092A8A46A1}"/>
              </a:ext>
            </a:extLst>
          </p:cNvPr>
          <p:cNvCxnSpPr>
            <a:cxnSpLocks/>
            <a:stCxn id="12" idx="4"/>
            <a:endCxn id="26" idx="0"/>
          </p:cNvCxnSpPr>
          <p:nvPr/>
        </p:nvCxnSpPr>
        <p:spPr>
          <a:xfrm>
            <a:off x="2520864" y="2423349"/>
            <a:ext cx="0" cy="1449759"/>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ZoneTexte 30">
            <a:extLst>
              <a:ext uri="{FF2B5EF4-FFF2-40B4-BE49-F238E27FC236}">
                <a16:creationId xmlns:a16="http://schemas.microsoft.com/office/drawing/2014/main" id="{36294613-8670-101E-C8B4-3396E200B5CD}"/>
              </a:ext>
            </a:extLst>
          </p:cNvPr>
          <p:cNvSpPr txBox="1"/>
          <p:nvPr/>
        </p:nvSpPr>
        <p:spPr>
          <a:xfrm>
            <a:off x="1872697" y="4610502"/>
            <a:ext cx="1285445" cy="646331"/>
          </a:xfrm>
          <a:prstGeom prst="rect">
            <a:avLst/>
          </a:prstGeom>
          <a:solidFill>
            <a:schemeClr val="bg1"/>
          </a:solidFill>
          <a:ln>
            <a:solidFill>
              <a:srgbClr val="ED7D31"/>
            </a:solidFill>
          </a:ln>
        </p:spPr>
        <p:txBody>
          <a:bodyPr wrap="square">
            <a:spAutoFit/>
          </a:bodyPr>
          <a:lstStyle/>
          <a:p>
            <a:pPr algn="ctr"/>
            <a:r>
              <a:rPr lang="fr-FR" b="1" dirty="0">
                <a:solidFill>
                  <a:srgbClr val="ED7D31"/>
                </a:solidFill>
              </a:rPr>
              <a:t>Cœur d’activités</a:t>
            </a:r>
          </a:p>
        </p:txBody>
      </p:sp>
      <p:pic>
        <p:nvPicPr>
          <p:cNvPr id="4" name="Graphique 3" descr="Cœur avec un remplissage uni">
            <a:extLst>
              <a:ext uri="{FF2B5EF4-FFF2-40B4-BE49-F238E27FC236}">
                <a16:creationId xmlns:a16="http://schemas.microsoft.com/office/drawing/2014/main" id="{558A3564-C165-398F-9356-B9CDD12EC0E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294334" y="4029647"/>
            <a:ext cx="457200" cy="457200"/>
          </a:xfrm>
          <a:prstGeom prst="rect">
            <a:avLst/>
          </a:prstGeom>
        </p:spPr>
      </p:pic>
    </p:spTree>
    <p:extLst>
      <p:ext uri="{BB962C8B-B14F-4D97-AF65-F5344CB8AC3E}">
        <p14:creationId xmlns:p14="http://schemas.microsoft.com/office/powerpoint/2010/main" val="3187538551"/>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Organigramme : Décision 12">
            <a:extLst>
              <a:ext uri="{FF2B5EF4-FFF2-40B4-BE49-F238E27FC236}">
                <a16:creationId xmlns:a16="http://schemas.microsoft.com/office/drawing/2014/main" id="{6B02FAD6-EF21-F3B1-14DD-FDB478F5FF5D}"/>
              </a:ext>
            </a:extLst>
          </p:cNvPr>
          <p:cNvSpPr/>
          <p:nvPr/>
        </p:nvSpPr>
        <p:spPr>
          <a:xfrm>
            <a:off x="3222477" y="3047582"/>
            <a:ext cx="2873523" cy="2344913"/>
          </a:xfrm>
          <a:prstGeom prst="flowChartDecision">
            <a:avLst/>
          </a:prstGeom>
          <a:solidFill>
            <a:srgbClr val="3494B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b="1" dirty="0">
                <a:solidFill>
                  <a:schemeClr val="bg1"/>
                </a:solidFill>
              </a:rPr>
              <a:t>Quel est l’objet de la Communauté (interne) d’entreprise ?</a:t>
            </a:r>
          </a:p>
        </p:txBody>
      </p:sp>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p:txBody>
          <a:bodyPr/>
          <a:lstStyle/>
          <a:p>
            <a:r>
              <a:rPr lang="fr-FR" dirty="0"/>
              <a:t>Choisir un « type de communauté d’entreprise »</a:t>
            </a:r>
          </a:p>
        </p:txBody>
      </p:sp>
      <p:sp>
        <p:nvSpPr>
          <p:cNvPr id="3" name="Espace réservé du contenu 2">
            <a:extLst>
              <a:ext uri="{FF2B5EF4-FFF2-40B4-BE49-F238E27FC236}">
                <a16:creationId xmlns:a16="http://schemas.microsoft.com/office/drawing/2014/main" id="{67CCAB02-89B3-18AB-CC99-2332B0C70972}"/>
              </a:ext>
            </a:extLst>
          </p:cNvPr>
          <p:cNvSpPr>
            <a:spLocks noGrp="1"/>
          </p:cNvSpPr>
          <p:nvPr>
            <p:ph idx="1"/>
          </p:nvPr>
        </p:nvSpPr>
        <p:spPr>
          <a:xfrm>
            <a:off x="470262" y="1816916"/>
            <a:ext cx="3301637" cy="4351338"/>
          </a:xfrm>
          <a:solidFill>
            <a:schemeClr val="bg1">
              <a:lumMod val="95000"/>
            </a:schemeClr>
          </a:solidFill>
        </p:spPr>
        <p:txBody>
          <a:bodyPr>
            <a:normAutofit/>
          </a:bodyPr>
          <a:lstStyle/>
          <a:p>
            <a:pPr marL="0" indent="0">
              <a:buNone/>
            </a:pPr>
            <a:r>
              <a:rPr lang="fr-FR" sz="1200" dirty="0"/>
              <a:t>Parmi les nombreuses typologies qui pourraient exister pour les communautés d’entreprise, la typologie suivante cherche à :</a:t>
            </a:r>
          </a:p>
          <a:p>
            <a:pPr lvl="1"/>
            <a:endParaRPr lang="fr-FR" sz="1200" dirty="0"/>
          </a:p>
          <a:p>
            <a:pPr lvl="1"/>
            <a:r>
              <a:rPr lang="fr-FR" sz="1200" dirty="0"/>
              <a:t>Avoir des définitions compréhensibles (Permet de facilement choisir)</a:t>
            </a:r>
          </a:p>
          <a:p>
            <a:pPr lvl="1"/>
            <a:endParaRPr lang="fr-FR" sz="1200" dirty="0"/>
          </a:p>
          <a:p>
            <a:pPr lvl="1"/>
            <a:r>
              <a:rPr lang="fr-FR" sz="1200" dirty="0"/>
              <a:t>Bien distinguer un type de communauté d’une autre dans ses applications (pas 2 types qui se ressemblent trop)</a:t>
            </a:r>
          </a:p>
          <a:p>
            <a:pPr lvl="1"/>
            <a:endParaRPr lang="fr-FR" sz="1200" dirty="0"/>
          </a:p>
          <a:p>
            <a:pPr lvl="1"/>
            <a:r>
              <a:rPr lang="fr-FR" sz="1200" dirty="0"/>
              <a:t>Rester neutre dans les propositions (ne pas pousser à choisir un type en particulier)</a:t>
            </a:r>
          </a:p>
          <a:p>
            <a:pPr lvl="1"/>
            <a:endParaRPr lang="fr-FR" sz="1200" dirty="0"/>
          </a:p>
          <a:p>
            <a:pPr marL="0" indent="0">
              <a:buNone/>
            </a:pPr>
            <a:r>
              <a:rPr lang="fr-FR" sz="1200" dirty="0"/>
              <a:t>Pour rester ouverts à différentes possibilités, la catégorie « Autres Communautés » a été ajoutée, mais ne seront pas abordées par la suite.</a:t>
            </a:r>
          </a:p>
        </p:txBody>
      </p:sp>
      <p:cxnSp>
        <p:nvCxnSpPr>
          <p:cNvPr id="16" name="Connecteur droit avec flèche 15">
            <a:extLst>
              <a:ext uri="{FF2B5EF4-FFF2-40B4-BE49-F238E27FC236}">
                <a16:creationId xmlns:a16="http://schemas.microsoft.com/office/drawing/2014/main" id="{3834DEAF-8233-7216-A1B1-0C38B5D6E3A2}"/>
              </a:ext>
            </a:extLst>
          </p:cNvPr>
          <p:cNvCxnSpPr>
            <a:cxnSpLocks/>
            <a:stCxn id="13" idx="3"/>
            <a:endCxn id="67" idx="1"/>
          </p:cNvCxnSpPr>
          <p:nvPr/>
        </p:nvCxnSpPr>
        <p:spPr>
          <a:xfrm flipV="1">
            <a:off x="6096000" y="2949028"/>
            <a:ext cx="3192274" cy="1271011"/>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cxnSp>
        <p:nvCxnSpPr>
          <p:cNvPr id="17" name="Connecteur droit avec flèche 16">
            <a:extLst>
              <a:ext uri="{FF2B5EF4-FFF2-40B4-BE49-F238E27FC236}">
                <a16:creationId xmlns:a16="http://schemas.microsoft.com/office/drawing/2014/main" id="{12F3B812-95D4-6DDF-1C24-4486C7EAD5AA}"/>
              </a:ext>
            </a:extLst>
          </p:cNvPr>
          <p:cNvCxnSpPr>
            <a:cxnSpLocks/>
            <a:stCxn id="13" idx="3"/>
            <a:endCxn id="70" idx="1"/>
          </p:cNvCxnSpPr>
          <p:nvPr/>
        </p:nvCxnSpPr>
        <p:spPr>
          <a:xfrm flipV="1">
            <a:off x="6096000" y="4113013"/>
            <a:ext cx="3200427" cy="107026"/>
          </a:xfrm>
          <a:prstGeom prst="straightConnector1">
            <a:avLst/>
          </a:prstGeom>
          <a:ln w="2857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8" name="Connecteur droit avec flèche 17">
            <a:extLst>
              <a:ext uri="{FF2B5EF4-FFF2-40B4-BE49-F238E27FC236}">
                <a16:creationId xmlns:a16="http://schemas.microsoft.com/office/drawing/2014/main" id="{F48E78DF-8782-90AB-A566-EEA84FB25A8C}"/>
              </a:ext>
            </a:extLst>
          </p:cNvPr>
          <p:cNvCxnSpPr>
            <a:cxnSpLocks/>
            <a:stCxn id="13" idx="3"/>
            <a:endCxn id="74" idx="1"/>
          </p:cNvCxnSpPr>
          <p:nvPr/>
        </p:nvCxnSpPr>
        <p:spPr>
          <a:xfrm>
            <a:off x="6096000" y="4220039"/>
            <a:ext cx="3200427" cy="1056959"/>
          </a:xfrm>
          <a:prstGeom prst="straightConnector1">
            <a:avLst/>
          </a:prstGeom>
          <a:ln w="28575">
            <a:solidFill>
              <a:srgbClr val="ED7D31"/>
            </a:solidFill>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5DE921BE-874D-A33B-F1FC-80DBACD848C4}"/>
              </a:ext>
            </a:extLst>
          </p:cNvPr>
          <p:cNvSpPr/>
          <p:nvPr/>
        </p:nvSpPr>
        <p:spPr>
          <a:xfrm rot="20331238">
            <a:off x="6059384" y="3429807"/>
            <a:ext cx="3331656" cy="165131"/>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fr-FR" sz="1000" dirty="0">
                <a:solidFill>
                  <a:schemeClr val="tx1"/>
                </a:solidFill>
              </a:rPr>
              <a:t>Un projet, programme ou un sujet opérationnel transverse </a:t>
            </a:r>
          </a:p>
        </p:txBody>
      </p:sp>
      <p:sp>
        <p:nvSpPr>
          <p:cNvPr id="26" name="Rectangle 25">
            <a:extLst>
              <a:ext uri="{FF2B5EF4-FFF2-40B4-BE49-F238E27FC236}">
                <a16:creationId xmlns:a16="http://schemas.microsoft.com/office/drawing/2014/main" id="{FAF45CCF-5BC0-4B56-E733-E72D1A6DB69B}"/>
              </a:ext>
            </a:extLst>
          </p:cNvPr>
          <p:cNvSpPr/>
          <p:nvPr/>
        </p:nvSpPr>
        <p:spPr>
          <a:xfrm rot="19338389">
            <a:off x="6177124" y="2820715"/>
            <a:ext cx="3021872" cy="145435"/>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fr-FR" sz="1000" dirty="0">
                <a:solidFill>
                  <a:schemeClr val="tx1"/>
                </a:solidFill>
              </a:rPr>
              <a:t>Un département / un service de l’entreprise </a:t>
            </a:r>
          </a:p>
        </p:txBody>
      </p:sp>
      <p:cxnSp>
        <p:nvCxnSpPr>
          <p:cNvPr id="27" name="Connecteur droit avec flèche 26">
            <a:extLst>
              <a:ext uri="{FF2B5EF4-FFF2-40B4-BE49-F238E27FC236}">
                <a16:creationId xmlns:a16="http://schemas.microsoft.com/office/drawing/2014/main" id="{91B13003-AA5C-460D-6490-DAC14802844F}"/>
              </a:ext>
            </a:extLst>
          </p:cNvPr>
          <p:cNvCxnSpPr>
            <a:cxnSpLocks/>
            <a:stCxn id="13" idx="3"/>
            <a:endCxn id="64" idx="1"/>
          </p:cNvCxnSpPr>
          <p:nvPr/>
        </p:nvCxnSpPr>
        <p:spPr>
          <a:xfrm flipV="1">
            <a:off x="6096000" y="1785043"/>
            <a:ext cx="3184121" cy="2434996"/>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542B28E2-3083-5CDE-F058-319A007A11B7}"/>
              </a:ext>
            </a:extLst>
          </p:cNvPr>
          <p:cNvSpPr/>
          <p:nvPr/>
        </p:nvSpPr>
        <p:spPr>
          <a:xfrm rot="21421016">
            <a:off x="7063454" y="3990737"/>
            <a:ext cx="1566969" cy="185175"/>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r>
              <a:rPr lang="fr-FR" sz="1000" dirty="0">
                <a:solidFill>
                  <a:schemeClr val="tx1"/>
                </a:solidFill>
              </a:rPr>
              <a:t>Un métier ou un rôle</a:t>
            </a:r>
          </a:p>
        </p:txBody>
      </p:sp>
      <p:sp>
        <p:nvSpPr>
          <p:cNvPr id="41" name="Rectangle 40">
            <a:extLst>
              <a:ext uri="{FF2B5EF4-FFF2-40B4-BE49-F238E27FC236}">
                <a16:creationId xmlns:a16="http://schemas.microsoft.com/office/drawing/2014/main" id="{6B8E5BFD-1D0A-2F75-9AE7-CFDE0D09B285}"/>
              </a:ext>
            </a:extLst>
          </p:cNvPr>
          <p:cNvSpPr/>
          <p:nvPr/>
        </p:nvSpPr>
        <p:spPr>
          <a:xfrm rot="1112519">
            <a:off x="6210514" y="4633582"/>
            <a:ext cx="3110360" cy="277055"/>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fr-FR" sz="1000" dirty="0">
                <a:solidFill>
                  <a:schemeClr val="tx1"/>
                </a:solidFill>
              </a:rPr>
              <a:t>Un thème ouvert qu'on souhaite aborder ou développer, sans obligation forte</a:t>
            </a:r>
          </a:p>
        </p:txBody>
      </p:sp>
      <p:sp>
        <p:nvSpPr>
          <p:cNvPr id="64" name="Rectangle 63">
            <a:extLst>
              <a:ext uri="{FF2B5EF4-FFF2-40B4-BE49-F238E27FC236}">
                <a16:creationId xmlns:a16="http://schemas.microsoft.com/office/drawing/2014/main" id="{2F16D75F-5507-5511-D9F3-70C308853B8F}"/>
              </a:ext>
            </a:extLst>
          </p:cNvPr>
          <p:cNvSpPr/>
          <p:nvPr/>
        </p:nvSpPr>
        <p:spPr>
          <a:xfrm>
            <a:off x="9280121" y="1368027"/>
            <a:ext cx="1585848" cy="834031"/>
          </a:xfrm>
          <a:prstGeom prst="rect">
            <a:avLst/>
          </a:prstGeom>
          <a:solidFill>
            <a:srgbClr val="000000"/>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fr-FR" sz="1000" dirty="0">
                <a:solidFill>
                  <a:schemeClr val="bg1"/>
                </a:solidFill>
              </a:rPr>
              <a:t>Communauté D’ANIMATION OU DE RENFORCEMENT D’UN SERVICE / D’UN DEPARTEMENT</a:t>
            </a:r>
          </a:p>
        </p:txBody>
      </p:sp>
      <p:sp>
        <p:nvSpPr>
          <p:cNvPr id="67" name="Rectangle 66">
            <a:extLst>
              <a:ext uri="{FF2B5EF4-FFF2-40B4-BE49-F238E27FC236}">
                <a16:creationId xmlns:a16="http://schemas.microsoft.com/office/drawing/2014/main" id="{03A0E557-694C-5CFA-04FD-F966F03D4EAA}"/>
              </a:ext>
            </a:extLst>
          </p:cNvPr>
          <p:cNvSpPr/>
          <p:nvPr/>
        </p:nvSpPr>
        <p:spPr>
          <a:xfrm>
            <a:off x="9288274" y="2532012"/>
            <a:ext cx="1585848" cy="834031"/>
          </a:xfrm>
          <a:prstGeom prst="rect">
            <a:avLst/>
          </a:prstGeom>
          <a:solidFill>
            <a:srgbClr val="3494BA"/>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fr-FR" sz="1000" dirty="0">
                <a:solidFill>
                  <a:schemeClr val="bg1"/>
                </a:solidFill>
              </a:rPr>
              <a:t>Communauté PROJET, PROGRAMME ou OPERATIONNELLE</a:t>
            </a:r>
          </a:p>
        </p:txBody>
      </p:sp>
      <p:sp>
        <p:nvSpPr>
          <p:cNvPr id="70" name="Rectangle 69">
            <a:extLst>
              <a:ext uri="{FF2B5EF4-FFF2-40B4-BE49-F238E27FC236}">
                <a16:creationId xmlns:a16="http://schemas.microsoft.com/office/drawing/2014/main" id="{617C3226-02CB-D4D1-571A-8079CA787168}"/>
              </a:ext>
            </a:extLst>
          </p:cNvPr>
          <p:cNvSpPr/>
          <p:nvPr/>
        </p:nvSpPr>
        <p:spPr>
          <a:xfrm>
            <a:off x="9296427" y="3695997"/>
            <a:ext cx="1585848" cy="834031"/>
          </a:xfrm>
          <a:prstGeom prst="rect">
            <a:avLst/>
          </a:prstGeom>
          <a:solidFill>
            <a:schemeClr val="bg1">
              <a:lumMod val="50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fr-FR" sz="1000" dirty="0">
                <a:solidFill>
                  <a:schemeClr val="bg1"/>
                </a:solidFill>
              </a:rPr>
              <a:t>Communauté METIER, DE RÔLE ou DE PRATIQUE </a:t>
            </a:r>
          </a:p>
        </p:txBody>
      </p:sp>
      <p:sp>
        <p:nvSpPr>
          <p:cNvPr id="74" name="Rectangle 73">
            <a:extLst>
              <a:ext uri="{FF2B5EF4-FFF2-40B4-BE49-F238E27FC236}">
                <a16:creationId xmlns:a16="http://schemas.microsoft.com/office/drawing/2014/main" id="{C0B00055-BEF7-6CF8-3017-5F25D479D405}"/>
              </a:ext>
            </a:extLst>
          </p:cNvPr>
          <p:cNvSpPr/>
          <p:nvPr/>
        </p:nvSpPr>
        <p:spPr>
          <a:xfrm>
            <a:off x="9296427" y="4859982"/>
            <a:ext cx="1585848" cy="834031"/>
          </a:xfrm>
          <a:prstGeom prst="rect">
            <a:avLst/>
          </a:prstGeom>
          <a:solidFill>
            <a:schemeClr val="accent2"/>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fr-FR" sz="1000" dirty="0">
                <a:solidFill>
                  <a:schemeClr val="bg1"/>
                </a:solidFill>
              </a:rPr>
              <a:t>Communauté THEMATIQUE, D’APPRENTISSAGE ou d’INTERET</a:t>
            </a:r>
          </a:p>
        </p:txBody>
      </p:sp>
      <p:pic>
        <p:nvPicPr>
          <p:cNvPr id="96" name="Graphique 95" descr="Bâtiment avec un remplissage uni">
            <a:extLst>
              <a:ext uri="{FF2B5EF4-FFF2-40B4-BE49-F238E27FC236}">
                <a16:creationId xmlns:a16="http://schemas.microsoft.com/office/drawing/2014/main" id="{852CB710-1A4A-7A15-34E3-FCD635DF4A3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929190" y="1345760"/>
            <a:ext cx="856297" cy="856297"/>
          </a:xfrm>
          <a:prstGeom prst="rect">
            <a:avLst/>
          </a:prstGeom>
        </p:spPr>
      </p:pic>
      <p:pic>
        <p:nvPicPr>
          <p:cNvPr id="102" name="Graphique 101" descr="Programmatrice avec un remplissage uni">
            <a:extLst>
              <a:ext uri="{FF2B5EF4-FFF2-40B4-BE49-F238E27FC236}">
                <a16:creationId xmlns:a16="http://schemas.microsoft.com/office/drawing/2014/main" id="{CB505D36-1F62-8C06-D80A-F94B019E6AC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865969" y="3549667"/>
            <a:ext cx="914400" cy="914400"/>
          </a:xfrm>
          <a:prstGeom prst="rect">
            <a:avLst/>
          </a:prstGeom>
        </p:spPr>
      </p:pic>
      <p:pic>
        <p:nvPicPr>
          <p:cNvPr id="104" name="Graphique 103" descr="Liste avec un remplissage uni">
            <a:extLst>
              <a:ext uri="{FF2B5EF4-FFF2-40B4-BE49-F238E27FC236}">
                <a16:creationId xmlns:a16="http://schemas.microsoft.com/office/drawing/2014/main" id="{1A6AB4CC-1B5E-BA0A-DCD7-41B52E3059D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865969" y="2524809"/>
            <a:ext cx="914400" cy="914400"/>
          </a:xfrm>
          <a:prstGeom prst="rect">
            <a:avLst/>
          </a:prstGeom>
        </p:spPr>
      </p:pic>
      <p:pic>
        <p:nvPicPr>
          <p:cNvPr id="32" name="Graphique 31" descr="Création de récits avec un remplissage uni">
            <a:extLst>
              <a:ext uri="{FF2B5EF4-FFF2-40B4-BE49-F238E27FC236}">
                <a16:creationId xmlns:a16="http://schemas.microsoft.com/office/drawing/2014/main" id="{37DDEA1B-BD2A-A023-E05E-D73EA607518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967318" y="4842837"/>
            <a:ext cx="669403" cy="669403"/>
          </a:xfrm>
          <a:prstGeom prst="rect">
            <a:avLst/>
          </a:prstGeom>
        </p:spPr>
      </p:pic>
      <p:sp>
        <p:nvSpPr>
          <p:cNvPr id="36" name="Rectangle 35">
            <a:extLst>
              <a:ext uri="{FF2B5EF4-FFF2-40B4-BE49-F238E27FC236}">
                <a16:creationId xmlns:a16="http://schemas.microsoft.com/office/drawing/2014/main" id="{3B4EADA6-42C2-EB6F-C17A-C56A8ACC124C}"/>
              </a:ext>
            </a:extLst>
          </p:cNvPr>
          <p:cNvSpPr/>
          <p:nvPr/>
        </p:nvSpPr>
        <p:spPr>
          <a:xfrm>
            <a:off x="9296427" y="6023969"/>
            <a:ext cx="1585848" cy="834031"/>
          </a:xfrm>
          <a:prstGeom prst="rect">
            <a:avLst/>
          </a:prstGeom>
          <a:solidFill>
            <a:schemeClr val="bg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fr-FR" sz="1000" dirty="0">
                <a:solidFill>
                  <a:schemeClr val="tx1"/>
                </a:solidFill>
              </a:rPr>
              <a:t>Autres communautés (Hybrides, d’autres objets plus rares, …)</a:t>
            </a:r>
          </a:p>
        </p:txBody>
      </p:sp>
      <p:cxnSp>
        <p:nvCxnSpPr>
          <p:cNvPr id="37" name="Connecteur droit avec flèche 36">
            <a:extLst>
              <a:ext uri="{FF2B5EF4-FFF2-40B4-BE49-F238E27FC236}">
                <a16:creationId xmlns:a16="http://schemas.microsoft.com/office/drawing/2014/main" id="{9F5C3A80-2408-CE17-AD95-689992EDC2F5}"/>
              </a:ext>
            </a:extLst>
          </p:cNvPr>
          <p:cNvCxnSpPr>
            <a:cxnSpLocks/>
            <a:stCxn id="13" idx="3"/>
            <a:endCxn id="36" idx="1"/>
          </p:cNvCxnSpPr>
          <p:nvPr/>
        </p:nvCxnSpPr>
        <p:spPr>
          <a:xfrm>
            <a:off x="6096000" y="4220039"/>
            <a:ext cx="3200427" cy="2220946"/>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21009073-7A63-532D-539D-2C3491BAAD37}"/>
              </a:ext>
            </a:extLst>
          </p:cNvPr>
          <p:cNvSpPr/>
          <p:nvPr/>
        </p:nvSpPr>
        <p:spPr>
          <a:xfrm rot="2068956">
            <a:off x="7190227" y="5215776"/>
            <a:ext cx="847200" cy="277055"/>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fr-FR" sz="1000" dirty="0">
                <a:solidFill>
                  <a:schemeClr val="tx1"/>
                </a:solidFill>
              </a:rPr>
              <a:t>Autres</a:t>
            </a:r>
          </a:p>
        </p:txBody>
      </p:sp>
    </p:spTree>
    <p:extLst>
      <p:ext uri="{BB962C8B-B14F-4D97-AF65-F5344CB8AC3E}">
        <p14:creationId xmlns:p14="http://schemas.microsoft.com/office/powerpoint/2010/main" val="3042534130"/>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6EA3404-381E-C168-0175-18867F1C45CB}"/>
              </a:ext>
            </a:extLst>
          </p:cNvPr>
          <p:cNvSpPr>
            <a:spLocks noGrp="1"/>
          </p:cNvSpPr>
          <p:nvPr>
            <p:ph type="title"/>
          </p:nvPr>
        </p:nvSpPr>
        <p:spPr/>
        <p:txBody>
          <a:bodyPr/>
          <a:lstStyle/>
          <a:p>
            <a:r>
              <a:rPr lang="fr-FR" dirty="0"/>
              <a:t>Ce que vous trouverez dans les descriptions de chaque type de communauté (1/2)</a:t>
            </a:r>
          </a:p>
        </p:txBody>
      </p:sp>
      <p:sp>
        <p:nvSpPr>
          <p:cNvPr id="3" name="Espace réservé du contenu 2">
            <a:extLst>
              <a:ext uri="{FF2B5EF4-FFF2-40B4-BE49-F238E27FC236}">
                <a16:creationId xmlns:a16="http://schemas.microsoft.com/office/drawing/2014/main" id="{3440592A-6E46-5BBF-5041-FDAAA599762B}"/>
              </a:ext>
            </a:extLst>
          </p:cNvPr>
          <p:cNvSpPr>
            <a:spLocks noGrp="1"/>
          </p:cNvSpPr>
          <p:nvPr>
            <p:ph idx="1"/>
          </p:nvPr>
        </p:nvSpPr>
        <p:spPr>
          <a:xfrm>
            <a:off x="1898468" y="2220685"/>
            <a:ext cx="9455331" cy="3956277"/>
          </a:xfrm>
        </p:spPr>
        <p:txBody>
          <a:bodyPr/>
          <a:lstStyle/>
          <a:p>
            <a:r>
              <a:rPr lang="fr-FR" dirty="0"/>
              <a:t>Définition</a:t>
            </a:r>
          </a:p>
          <a:p>
            <a:r>
              <a:rPr lang="fr-FR" dirty="0"/>
              <a:t>Exemples</a:t>
            </a:r>
          </a:p>
          <a:p>
            <a:r>
              <a:rPr lang="fr-FR" dirty="0"/>
              <a:t>Forces</a:t>
            </a:r>
          </a:p>
          <a:p>
            <a:r>
              <a:rPr lang="fr-FR" dirty="0"/>
              <a:t>Faiblesses</a:t>
            </a:r>
          </a:p>
          <a:p>
            <a:pPr marL="0" indent="0">
              <a:buNone/>
            </a:pPr>
            <a:endParaRPr lang="fr-FR" dirty="0"/>
          </a:p>
          <a:p>
            <a:r>
              <a:rPr lang="fr-FR" dirty="0"/>
              <a:t>Conditions favorables de lancement</a:t>
            </a:r>
          </a:p>
          <a:p>
            <a:r>
              <a:rPr lang="fr-FR" dirty="0"/>
              <a:t>Conditions défavorables de lancement</a:t>
            </a:r>
          </a:p>
          <a:p>
            <a:endParaRPr lang="fr-FR" dirty="0"/>
          </a:p>
          <a:p>
            <a:endParaRPr lang="fr-FR" dirty="0"/>
          </a:p>
        </p:txBody>
      </p:sp>
    </p:spTree>
    <p:extLst>
      <p:ext uri="{BB962C8B-B14F-4D97-AF65-F5344CB8AC3E}">
        <p14:creationId xmlns:p14="http://schemas.microsoft.com/office/powerpoint/2010/main" val="1211153614"/>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6EA3404-381E-C168-0175-18867F1C45CB}"/>
              </a:ext>
            </a:extLst>
          </p:cNvPr>
          <p:cNvSpPr>
            <a:spLocks noGrp="1"/>
          </p:cNvSpPr>
          <p:nvPr>
            <p:ph type="title"/>
          </p:nvPr>
        </p:nvSpPr>
        <p:spPr/>
        <p:txBody>
          <a:bodyPr/>
          <a:lstStyle/>
          <a:p>
            <a:r>
              <a:rPr lang="fr-FR" dirty="0"/>
              <a:t>Ce que vous trouverez dans les descriptions de chaque type de communauté (2/2)</a:t>
            </a:r>
          </a:p>
        </p:txBody>
      </p:sp>
      <p:sp>
        <p:nvSpPr>
          <p:cNvPr id="3" name="Espace réservé du contenu 2">
            <a:extLst>
              <a:ext uri="{FF2B5EF4-FFF2-40B4-BE49-F238E27FC236}">
                <a16:creationId xmlns:a16="http://schemas.microsoft.com/office/drawing/2014/main" id="{3440592A-6E46-5BBF-5041-FDAAA599762B}"/>
              </a:ext>
            </a:extLst>
          </p:cNvPr>
          <p:cNvSpPr>
            <a:spLocks noGrp="1"/>
          </p:cNvSpPr>
          <p:nvPr>
            <p:ph idx="1"/>
          </p:nvPr>
        </p:nvSpPr>
        <p:spPr>
          <a:xfrm>
            <a:off x="905346" y="1825625"/>
            <a:ext cx="10448453" cy="4351338"/>
          </a:xfrm>
        </p:spPr>
        <p:txBody>
          <a:bodyPr>
            <a:normAutofit fontScale="85000" lnSpcReduction="10000"/>
          </a:bodyPr>
          <a:lstStyle/>
          <a:p>
            <a:pPr marL="0" indent="0">
              <a:buNone/>
            </a:pPr>
            <a:r>
              <a:rPr lang="fr-FR" sz="2800" b="1" dirty="0"/>
              <a:t>Cœur d’activité</a:t>
            </a:r>
          </a:p>
          <a:p>
            <a:pPr marL="457200" lvl="1" indent="0">
              <a:buNone/>
            </a:pPr>
            <a:endParaRPr lang="fr-FR" dirty="0"/>
          </a:p>
          <a:p>
            <a:pPr lvl="1"/>
            <a:r>
              <a:rPr lang="fr-FR" dirty="0"/>
              <a:t>Activités types (📅moments, ✍️contenus,⚙️points de structuration clés)</a:t>
            </a:r>
          </a:p>
          <a:p>
            <a:pPr lvl="1"/>
            <a:r>
              <a:rPr lang="fr-FR" dirty="0"/>
              <a:t>Valeur pour l’entreprise (effets positifs attendus et indicateurs type)</a:t>
            </a:r>
          </a:p>
          <a:p>
            <a:pPr lvl="1"/>
            <a:r>
              <a:rPr lang="fr-FR" dirty="0"/>
              <a:t>Valeur pour les membres (effets positifs attendus, indicateurs type,  respirations clés)</a:t>
            </a:r>
          </a:p>
          <a:p>
            <a:pPr lvl="1"/>
            <a:r>
              <a:rPr lang="fr-FR" dirty="0"/>
              <a:t>Ressources nécessaires au lancement et besoin probable en sponsors</a:t>
            </a:r>
          </a:p>
          <a:p>
            <a:pPr marL="457200" lvl="1" indent="0">
              <a:buNone/>
            </a:pPr>
            <a:endParaRPr lang="fr-FR" b="1" dirty="0"/>
          </a:p>
          <a:p>
            <a:pPr marL="457200" lvl="1" indent="0">
              <a:buNone/>
            </a:pPr>
            <a:endParaRPr lang="fr-FR" b="1" dirty="0"/>
          </a:p>
          <a:p>
            <a:pPr marL="457200" lvl="1" indent="0">
              <a:buNone/>
            </a:pPr>
            <a:endParaRPr lang="fr-FR" b="1" dirty="0"/>
          </a:p>
          <a:p>
            <a:pPr marL="0" indent="0">
              <a:buNone/>
            </a:pPr>
            <a:r>
              <a:rPr lang="fr-FR" sz="2800" dirty="0"/>
              <a:t>Ce qui est décrit ne constitue pas une restriction (il se peut qu’une Communauté donnée soit différente de ce qu’un modèle présente), mais représente plutôt des occurrences fréquentes parmi les Communautés d’entreprise</a:t>
            </a:r>
          </a:p>
          <a:p>
            <a:pPr marL="0" indent="0">
              <a:buNone/>
            </a:pPr>
            <a:r>
              <a:rPr lang="fr-FR" sz="2800" dirty="0"/>
              <a:t> </a:t>
            </a:r>
          </a:p>
          <a:p>
            <a:endParaRPr lang="fr-FR" dirty="0"/>
          </a:p>
        </p:txBody>
      </p:sp>
    </p:spTree>
    <p:extLst>
      <p:ext uri="{BB962C8B-B14F-4D97-AF65-F5344CB8AC3E}">
        <p14:creationId xmlns:p14="http://schemas.microsoft.com/office/powerpoint/2010/main" val="3307471629"/>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326030" y="365125"/>
            <a:ext cx="10027769" cy="1325563"/>
          </a:xfrm>
        </p:spPr>
        <p:txBody>
          <a:bodyPr>
            <a:noAutofit/>
          </a:bodyPr>
          <a:lstStyle/>
          <a:p>
            <a:r>
              <a:rPr lang="fr-FR" sz="3200" dirty="0"/>
              <a:t>Les Communautés d’ANIMATION ou de RENFORCEMENT D’UN SERVICE / D’UN DEPARTEMENT</a:t>
            </a:r>
          </a:p>
        </p:txBody>
      </p:sp>
      <p:pic>
        <p:nvPicPr>
          <p:cNvPr id="6" name="Graphique 5" descr="Bâtiment avec un remplissage uni">
            <a:extLst>
              <a:ext uri="{FF2B5EF4-FFF2-40B4-BE49-F238E27FC236}">
                <a16:creationId xmlns:a16="http://schemas.microsoft.com/office/drawing/2014/main" id="{D513E21D-B97D-C899-EB1E-1F26335E6AA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14408" y="549800"/>
            <a:ext cx="1011622" cy="1011622"/>
          </a:xfrm>
          <a:prstGeom prst="rect">
            <a:avLst/>
          </a:prstGeom>
        </p:spPr>
      </p:pic>
      <p:graphicFrame>
        <p:nvGraphicFramePr>
          <p:cNvPr id="4" name="Tabella 4">
            <a:extLst>
              <a:ext uri="{FF2B5EF4-FFF2-40B4-BE49-F238E27FC236}">
                <a16:creationId xmlns:a16="http://schemas.microsoft.com/office/drawing/2014/main" id="{2898BEAE-5FD6-57EE-C284-FFA3D9F11C22}"/>
              </a:ext>
            </a:extLst>
          </p:cNvPr>
          <p:cNvGraphicFramePr>
            <a:graphicFrameLocks noGrp="1"/>
          </p:cNvGraphicFramePr>
          <p:nvPr>
            <p:extLst>
              <p:ext uri="{D42A27DB-BD31-4B8C-83A1-F6EECF244321}">
                <p14:modId xmlns:p14="http://schemas.microsoft.com/office/powerpoint/2010/main" val="3231199682"/>
              </p:ext>
            </p:extLst>
          </p:nvPr>
        </p:nvGraphicFramePr>
        <p:xfrm>
          <a:off x="493389" y="1950721"/>
          <a:ext cx="3354335" cy="3756085"/>
        </p:xfrm>
        <a:graphic>
          <a:graphicData uri="http://schemas.openxmlformats.org/drawingml/2006/table">
            <a:tbl>
              <a:tblPr firstRow="1" bandRow="1">
                <a:tableStyleId>{5C22544A-7EE6-4342-B048-85BDC9FD1C3A}</a:tableStyleId>
              </a:tblPr>
              <a:tblGrid>
                <a:gridCol w="3354335">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dirty="0"/>
                        <a:t>Après la crise COVID et de multiples changements dans la composition du service, le département commercial a besoin de faire vivre le lien entre ses membres et met en place une mini équipe d'animation</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On cherche donc à créer des moments de retrouvailles ou de convivialité, des présentations mutuelles ou de personnes importantes du service, de la mise en relation pour (re)créer un effet « village »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graphicFrame>
        <p:nvGraphicFramePr>
          <p:cNvPr id="3" name="Tabella 4">
            <a:extLst>
              <a:ext uri="{FF2B5EF4-FFF2-40B4-BE49-F238E27FC236}">
                <a16:creationId xmlns:a16="http://schemas.microsoft.com/office/drawing/2014/main" id="{3EE41F46-44E5-EC6E-C1C2-30DE42FF4A90}"/>
              </a:ext>
            </a:extLst>
          </p:cNvPr>
          <p:cNvGraphicFramePr>
            <a:graphicFrameLocks noGrp="1"/>
          </p:cNvGraphicFramePr>
          <p:nvPr>
            <p:extLst>
              <p:ext uri="{D42A27DB-BD31-4B8C-83A1-F6EECF244321}">
                <p14:modId xmlns:p14="http://schemas.microsoft.com/office/powerpoint/2010/main" val="65232609"/>
              </p:ext>
            </p:extLst>
          </p:nvPr>
        </p:nvGraphicFramePr>
        <p:xfrm>
          <a:off x="4567448" y="1950720"/>
          <a:ext cx="3354335" cy="3756085"/>
        </p:xfrm>
        <a:graphic>
          <a:graphicData uri="http://schemas.openxmlformats.org/drawingml/2006/table">
            <a:tbl>
              <a:tblPr firstRow="1" bandRow="1">
                <a:tableStyleId>{5C22544A-7EE6-4342-B048-85BDC9FD1C3A}</a:tableStyleId>
              </a:tblPr>
              <a:tblGrid>
                <a:gridCol w="3354335">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dirty="0"/>
                        <a:t>Il y a eu beaucoup de conflits et tensions dernièrement, liées aux processus entre les quelques équipes du services XYZ, une communauté de coachs et de managers est mise en place pour assainir les relations de travail et le fonctionnement entre ces équipes. </a:t>
                      </a:r>
                    </a:p>
                    <a:p>
                      <a:pPr marL="0" indent="0">
                        <a:buFont typeface="Arial" panose="020B0604020202020204" pitchFamily="34" charset="0"/>
                        <a:buNone/>
                      </a:pPr>
                      <a:endParaRPr lang="fr-FR" sz="1200" noProof="0" dirty="0"/>
                    </a:p>
                    <a:p>
                      <a:pPr marL="0" indent="0">
                        <a:buFont typeface="Arial" panose="020B0604020202020204" pitchFamily="34" charset="0"/>
                        <a:buNone/>
                      </a:pPr>
                      <a:r>
                        <a:rPr lang="fr-FR" sz="1200" noProof="0" dirty="0"/>
                        <a:t>On cherche donc à travailler les règles transverses, à établir des moments pour apaiser les relations, à faire de l’amélioration continue.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graphicFrame>
        <p:nvGraphicFramePr>
          <p:cNvPr id="5" name="Tabella 4">
            <a:extLst>
              <a:ext uri="{FF2B5EF4-FFF2-40B4-BE49-F238E27FC236}">
                <a16:creationId xmlns:a16="http://schemas.microsoft.com/office/drawing/2014/main" id="{ECF9D685-876E-C78A-94DF-AEF942135CE3}"/>
              </a:ext>
            </a:extLst>
          </p:cNvPr>
          <p:cNvGraphicFramePr>
            <a:graphicFrameLocks noGrp="1"/>
          </p:cNvGraphicFramePr>
          <p:nvPr>
            <p:extLst>
              <p:ext uri="{D42A27DB-BD31-4B8C-83A1-F6EECF244321}">
                <p14:modId xmlns:p14="http://schemas.microsoft.com/office/powerpoint/2010/main" val="3247993521"/>
              </p:ext>
            </p:extLst>
          </p:nvPr>
        </p:nvGraphicFramePr>
        <p:xfrm>
          <a:off x="8641507" y="1950719"/>
          <a:ext cx="3354335" cy="3756085"/>
        </p:xfrm>
        <a:graphic>
          <a:graphicData uri="http://schemas.openxmlformats.org/drawingml/2006/table">
            <a:tbl>
              <a:tblPr firstRow="1" bandRow="1">
                <a:tableStyleId>{5C22544A-7EE6-4342-B048-85BDC9FD1C3A}</a:tableStyleId>
              </a:tblPr>
              <a:tblGrid>
                <a:gridCol w="3354335">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3</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dirty="0"/>
                        <a:t>L’entreprise a 10 ans : pour organiser l’événement de célébration, on dépêche un petit comité. </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Ce comité devra déterminer le programme, organiser la journée, préparer les intervenants à leur intervention, s’assurer de la logistique, mettre en œuvre tous les moyens de communication nécessaire, et assurer l’animation le jour même.</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Ce comité est bien sûr temporaire car événementiel, et peut intégrer des membres à différents niveaux d’implication (officiellement assignés, volontaires par eux-mêmes, contributeurs ponctuels, etc.)</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spTree>
    <p:extLst>
      <p:ext uri="{BB962C8B-B14F-4D97-AF65-F5344CB8AC3E}">
        <p14:creationId xmlns:p14="http://schemas.microsoft.com/office/powerpoint/2010/main" val="3469636618"/>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326030" y="365125"/>
            <a:ext cx="10027769" cy="1325563"/>
          </a:xfrm>
        </p:spPr>
        <p:txBody>
          <a:bodyPr>
            <a:noAutofit/>
          </a:bodyPr>
          <a:lstStyle/>
          <a:p>
            <a:r>
              <a:rPr lang="fr-FR" sz="3200" dirty="0"/>
              <a:t>Les Communautés d’ANIMATION ou de RENFORCEMENT D’UN SERVICE / D’UN DEPARTEMENT</a:t>
            </a:r>
          </a:p>
        </p:txBody>
      </p:sp>
      <p:pic>
        <p:nvPicPr>
          <p:cNvPr id="6" name="Graphique 5" descr="Bâtiment avec un remplissage uni">
            <a:extLst>
              <a:ext uri="{FF2B5EF4-FFF2-40B4-BE49-F238E27FC236}">
                <a16:creationId xmlns:a16="http://schemas.microsoft.com/office/drawing/2014/main" id="{D513E21D-B97D-C899-EB1E-1F26335E6AA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14408" y="549800"/>
            <a:ext cx="1011622" cy="1011622"/>
          </a:xfrm>
          <a:prstGeom prst="rect">
            <a:avLst/>
          </a:prstGeom>
        </p:spPr>
      </p:pic>
      <p:graphicFrame>
        <p:nvGraphicFramePr>
          <p:cNvPr id="4" name="Tabella 4">
            <a:extLst>
              <a:ext uri="{FF2B5EF4-FFF2-40B4-BE49-F238E27FC236}">
                <a16:creationId xmlns:a16="http://schemas.microsoft.com/office/drawing/2014/main" id="{2898BEAE-5FD6-57EE-C284-FFA3D9F11C22}"/>
              </a:ext>
            </a:extLst>
          </p:cNvPr>
          <p:cNvGraphicFramePr>
            <a:graphicFrameLocks noGrp="1"/>
          </p:cNvGraphicFramePr>
          <p:nvPr>
            <p:extLst>
              <p:ext uri="{D42A27DB-BD31-4B8C-83A1-F6EECF244321}">
                <p14:modId xmlns:p14="http://schemas.microsoft.com/office/powerpoint/2010/main" val="1675460256"/>
              </p:ext>
            </p:extLst>
          </p:nvPr>
        </p:nvGraphicFramePr>
        <p:xfrm>
          <a:off x="411908" y="1561422"/>
          <a:ext cx="11548194" cy="5212080"/>
        </p:xfrm>
        <a:graphic>
          <a:graphicData uri="http://schemas.openxmlformats.org/drawingml/2006/table">
            <a:tbl>
              <a:tblPr firstRow="1" bandRow="1">
                <a:tableStyleId>{5C22544A-7EE6-4342-B048-85BDC9FD1C3A}</a:tableStyleId>
              </a:tblPr>
              <a:tblGrid>
                <a:gridCol w="3849398">
                  <a:extLst>
                    <a:ext uri="{9D8B030D-6E8A-4147-A177-3AD203B41FA5}">
                      <a16:colId xmlns:a16="http://schemas.microsoft.com/office/drawing/2014/main" val="368858149"/>
                    </a:ext>
                  </a:extLst>
                </a:gridCol>
                <a:gridCol w="1924699">
                  <a:extLst>
                    <a:ext uri="{9D8B030D-6E8A-4147-A177-3AD203B41FA5}">
                      <a16:colId xmlns:a16="http://schemas.microsoft.com/office/drawing/2014/main" val="644195243"/>
                    </a:ext>
                  </a:extLst>
                </a:gridCol>
                <a:gridCol w="1924699">
                  <a:extLst>
                    <a:ext uri="{9D8B030D-6E8A-4147-A177-3AD203B41FA5}">
                      <a16:colId xmlns:a16="http://schemas.microsoft.com/office/drawing/2014/main" val="3557351726"/>
                    </a:ext>
                  </a:extLst>
                </a:gridCol>
                <a:gridCol w="1924699">
                  <a:extLst>
                    <a:ext uri="{9D8B030D-6E8A-4147-A177-3AD203B41FA5}">
                      <a16:colId xmlns:a16="http://schemas.microsoft.com/office/drawing/2014/main" val="198992012"/>
                    </a:ext>
                  </a:extLst>
                </a:gridCol>
                <a:gridCol w="1924699">
                  <a:extLst>
                    <a:ext uri="{9D8B030D-6E8A-4147-A177-3AD203B41FA5}">
                      <a16:colId xmlns:a16="http://schemas.microsoft.com/office/drawing/2014/main" val="2559057885"/>
                    </a:ext>
                  </a:extLst>
                </a:gridCol>
              </a:tblGrid>
              <a:tr h="0">
                <a:tc>
                  <a:txBody>
                    <a:bodyPr/>
                    <a:lstStyle/>
                    <a:p>
                      <a:r>
                        <a:rPr lang="fr-FR" noProof="0" dirty="0">
                          <a:solidFill>
                            <a:schemeClr val="tx1"/>
                          </a:solidFill>
                        </a:rPr>
                        <a:t>Définition et Exemples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r>
                        <a:rPr lang="fr-FR" noProof="0" dirty="0"/>
                        <a:t>Forces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r>
                        <a:rPr lang="fr-FR" noProof="0" dirty="0">
                          <a:solidFill>
                            <a:schemeClr val="tx1"/>
                          </a:solidFill>
                        </a:rPr>
                        <a:t>Faiblesses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r>
                        <a:rPr lang="fr-FR" noProof="0" dirty="0">
                          <a:solidFill>
                            <a:schemeClr val="tx1"/>
                          </a:solidFill>
                        </a:rPr>
                        <a:t>Conditions favorables au lancement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D7D31"/>
                    </a:solidFill>
                  </a:tcPr>
                </a:tc>
                <a:tc>
                  <a:txBody>
                    <a:bodyPr/>
                    <a:lstStyle/>
                    <a:p>
                      <a:r>
                        <a:rPr lang="fr-FR" noProof="0" dirty="0"/>
                        <a:t>Conditions défavorables au lancement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3439061"/>
                  </a:ext>
                </a:extLst>
              </a:tr>
              <a:tr h="3390325">
                <a:tc>
                  <a:txBody>
                    <a:bodyPr/>
                    <a:lstStyle/>
                    <a:p>
                      <a:pPr marL="171450" indent="-171450">
                        <a:buFont typeface="Arial" panose="020B0604020202020204" pitchFamily="34" charset="0"/>
                        <a:buChar char="•"/>
                      </a:pPr>
                      <a:r>
                        <a:rPr lang="fr-FR" sz="1200" dirty="0"/>
                        <a:t>Une communauté d’ANIMATION ou de RENFORCEMENT d’un service ou d’un département, est une Communauté dont le but est d'assurer du lien à l'intérieur d'un service donné, de faire de l'animation managériale (célébratoire ou par l’amélioration continue structurée). </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Elle est composée « par défaut » de tous les membres du département, et est animée dans la pratique par des membres motivés ou bien attitrés. Ces membres sont chargés d’organiser des événements, mettre en relation (en entrant rarement sur des questions opérationnelles), créer du lien humain pour que les relations de travail ne se réduisent pas à du travail, ou bien s’améliorent en continu dans leurs interactions.</a:t>
                      </a:r>
                    </a:p>
                    <a:p>
                      <a:pPr marL="0" indent="0">
                        <a:buFont typeface="Arial" panose="020B0604020202020204" pitchFamily="34" charset="0"/>
                        <a:buNone/>
                      </a:pPr>
                      <a:r>
                        <a:rPr lang="fr-FR" sz="1200" noProof="0" dirty="0"/>
                        <a:t> </a:t>
                      </a:r>
                    </a:p>
                    <a:p>
                      <a:pPr marL="171450" indent="-171450">
                        <a:buFont typeface="Arial" panose="020B0604020202020204" pitchFamily="34" charset="0"/>
                        <a:buChar char="•"/>
                      </a:pPr>
                      <a:r>
                        <a:rPr lang="fr-FR" sz="1200" b="1" noProof="0" dirty="0"/>
                        <a:t>Exemples : </a:t>
                      </a:r>
                      <a:r>
                        <a:rPr lang="fr-FR" sz="1200" noProof="0" dirty="0"/>
                        <a:t>Comité des fêtes du département XYZ dans une grande entreprise, Chief </a:t>
                      </a:r>
                      <a:r>
                        <a:rPr lang="fr-FR" sz="1200" noProof="0" dirty="0" err="1"/>
                        <a:t>Happiness</a:t>
                      </a:r>
                      <a:r>
                        <a:rPr lang="fr-FR" sz="1200" noProof="0" dirty="0"/>
                        <a:t> Officers orientés célébrations collectives dans une PME, responsables événementiels dans une entreprise de conseil, Collectifs de coachs agiles et managers pour améliorer les relations de travail entre équipes et services, ambassadeurs internes de l’entreprise ou d’un service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buFont typeface="Arial" panose="020B0604020202020204" pitchFamily="34" charset="0"/>
                        <a:buChar char="•"/>
                      </a:pPr>
                      <a:r>
                        <a:rPr lang="fr-FR" sz="1200" noProof="0" dirty="0"/>
                        <a:t>Déjà beaucoup de ressources à disposition (liste des membres, locaux utilisés par le département / service, accès aux agendas, connaissance des processus budgétaires du département …)</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Déjà des conditions de départ « qui ne partent pas de zéro » : connaissance mutuelle des membres</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Maîtrise du périmètre d’intervention (pas de risque « d’avoir dépensé l’énergie du service en dehors du service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171450" indent="-171450">
                        <a:buFont typeface="Arial" panose="020B0604020202020204" pitchFamily="34" charset="0"/>
                        <a:buChar char="•"/>
                      </a:pPr>
                      <a:r>
                        <a:rPr lang="fr-FR" sz="1200" noProof="0" dirty="0"/>
                        <a:t>Risque de redondance voire de compétition avec certaines fonctions du département  / service (RH / communication interne / …)</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Pas de garantie d’impact positif sur la performance opérationnelle collective (car travail indirect sur le lien, le capital relationnel, mais pas sur les sujets de travail)</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Risque d’être vu comme une dépense ou un effort inutile ou peu prioritaire (surtout en cas de pression opérationnelle)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alpha val="50196"/>
                      </a:srgbClr>
                    </a:solidFill>
                  </a:tcPr>
                </a:tc>
                <a:tc>
                  <a:txBody>
                    <a:bodyPr/>
                    <a:lstStyle/>
                    <a:p>
                      <a:pPr marL="171450" indent="-171450">
                        <a:buFont typeface="Arial" panose="020B0604020202020204" pitchFamily="34" charset="0"/>
                        <a:buChar char="•"/>
                      </a:pPr>
                      <a:r>
                        <a:rPr lang="fr-FR" sz="1200" dirty="0"/>
                        <a:t>L'importance du sentiment d'appartenance et des liens est reconnue par les membres du service</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dirty="0"/>
                        <a:t>Conviction du / de la responsable de service, de l'importance d'une animation complémentaire aux points individuels</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dirty="0"/>
                        <a:t>Capacité des membres à travailler leur collaboration au delà de leur équipe directe</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dirty="0"/>
                        <a:t>La mission et les activités du service sont bien identifiées et reconnues tant en interne que vis à vis d'autres services</a:t>
                      </a:r>
                      <a:endParaRPr lang="fr-FR" sz="1200" noProof="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171450" indent="-171450">
                        <a:buFont typeface="Arial" panose="020B0604020202020204" pitchFamily="34" charset="0"/>
                        <a:buChar char="•"/>
                      </a:pPr>
                      <a:r>
                        <a:rPr lang="fr-FR" sz="1200" dirty="0"/>
                        <a:t>Les membres du services n'aiment pas leurs collègues</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dirty="0"/>
                        <a:t>Les membres du services n’ont l’habitude de prendre du recul sur les relations de travail uniquement individuellement avec leurs managers</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Une culture des silos fortes entre les sous-services ou département réduit l’adhésion à des activités de lien transverse</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Le périmètre / la vision commune du département ou du service sont flous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08797849"/>
                  </a:ext>
                </a:extLst>
              </a:tr>
            </a:tbl>
          </a:graphicData>
        </a:graphic>
      </p:graphicFrame>
    </p:spTree>
    <p:extLst>
      <p:ext uri="{BB962C8B-B14F-4D97-AF65-F5344CB8AC3E}">
        <p14:creationId xmlns:p14="http://schemas.microsoft.com/office/powerpoint/2010/main" val="229758050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326030" y="365125"/>
            <a:ext cx="10027769" cy="1325563"/>
          </a:xfrm>
        </p:spPr>
        <p:txBody>
          <a:bodyPr>
            <a:noAutofit/>
          </a:bodyPr>
          <a:lstStyle/>
          <a:p>
            <a:r>
              <a:rPr lang="fr-FR" sz="3200" dirty="0"/>
              <a:t>Le cœur d’activités de Communautés d’ANIMATION ou de RENFORCEMENT D’UN SERVICE / D’UN DEPARTEMENT</a:t>
            </a:r>
          </a:p>
        </p:txBody>
      </p:sp>
      <p:pic>
        <p:nvPicPr>
          <p:cNvPr id="6" name="Graphique 5" descr="Bâtiment avec un remplissage uni">
            <a:extLst>
              <a:ext uri="{FF2B5EF4-FFF2-40B4-BE49-F238E27FC236}">
                <a16:creationId xmlns:a16="http://schemas.microsoft.com/office/drawing/2014/main" id="{D513E21D-B97D-C899-EB1E-1F26335E6AA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14408" y="549800"/>
            <a:ext cx="1011622" cy="1011622"/>
          </a:xfrm>
          <a:prstGeom prst="rect">
            <a:avLst/>
          </a:prstGeom>
        </p:spPr>
      </p:pic>
      <p:graphicFrame>
        <p:nvGraphicFramePr>
          <p:cNvPr id="4" name="Tabella 4">
            <a:extLst>
              <a:ext uri="{FF2B5EF4-FFF2-40B4-BE49-F238E27FC236}">
                <a16:creationId xmlns:a16="http://schemas.microsoft.com/office/drawing/2014/main" id="{7B0D07CE-FCD9-078E-0349-153581D837EF}"/>
              </a:ext>
            </a:extLst>
          </p:cNvPr>
          <p:cNvGraphicFramePr>
            <a:graphicFrameLocks noGrp="1"/>
          </p:cNvGraphicFramePr>
          <p:nvPr>
            <p:extLst>
              <p:ext uri="{D42A27DB-BD31-4B8C-83A1-F6EECF244321}">
                <p14:modId xmlns:p14="http://schemas.microsoft.com/office/powerpoint/2010/main" val="3098318754"/>
              </p:ext>
            </p:extLst>
          </p:nvPr>
        </p:nvGraphicFramePr>
        <p:xfrm>
          <a:off x="478971" y="1690688"/>
          <a:ext cx="11234060" cy="4632960"/>
        </p:xfrm>
        <a:graphic>
          <a:graphicData uri="http://schemas.openxmlformats.org/drawingml/2006/table">
            <a:tbl>
              <a:tblPr firstRow="1" bandRow="1">
                <a:tableStyleId>{5C22544A-7EE6-4342-B048-85BDC9FD1C3A}</a:tableStyleId>
              </a:tblPr>
              <a:tblGrid>
                <a:gridCol w="2808515">
                  <a:extLst>
                    <a:ext uri="{9D8B030D-6E8A-4147-A177-3AD203B41FA5}">
                      <a16:colId xmlns:a16="http://schemas.microsoft.com/office/drawing/2014/main" val="2457567452"/>
                    </a:ext>
                  </a:extLst>
                </a:gridCol>
                <a:gridCol w="2808515">
                  <a:extLst>
                    <a:ext uri="{9D8B030D-6E8A-4147-A177-3AD203B41FA5}">
                      <a16:colId xmlns:a16="http://schemas.microsoft.com/office/drawing/2014/main" val="890836644"/>
                    </a:ext>
                  </a:extLst>
                </a:gridCol>
                <a:gridCol w="2808515">
                  <a:extLst>
                    <a:ext uri="{9D8B030D-6E8A-4147-A177-3AD203B41FA5}">
                      <a16:colId xmlns:a16="http://schemas.microsoft.com/office/drawing/2014/main" val="4023974718"/>
                    </a:ext>
                  </a:extLst>
                </a:gridCol>
                <a:gridCol w="2808515">
                  <a:extLst>
                    <a:ext uri="{9D8B030D-6E8A-4147-A177-3AD203B41FA5}">
                      <a16:colId xmlns:a16="http://schemas.microsoft.com/office/drawing/2014/main" val="3080461437"/>
                    </a:ext>
                  </a:extLst>
                </a:gridCol>
              </a:tblGrid>
              <a:tr h="1052512">
                <a:tc>
                  <a:txBody>
                    <a:bodyPr/>
                    <a:lstStyle/>
                    <a:p>
                      <a:r>
                        <a:rPr lang="fr-FR" sz="1800" b="1" noProof="0" dirty="0">
                          <a:solidFill>
                            <a:schemeClr val="tx1"/>
                          </a:solidFill>
                        </a:rPr>
                        <a:t>Exemples de 📅Moments,</a:t>
                      </a:r>
                    </a:p>
                    <a:p>
                      <a:r>
                        <a:rPr lang="fr-FR" sz="1800" b="1" noProof="0" dirty="0">
                          <a:solidFill>
                            <a:schemeClr val="tx1"/>
                          </a:solidFill>
                        </a:rPr>
                        <a:t>✍️Contenus </a:t>
                      </a:r>
                    </a:p>
                    <a:p>
                      <a:r>
                        <a:rPr lang="fr-FR" sz="1800" b="1" noProof="0" dirty="0">
                          <a:solidFill>
                            <a:schemeClr val="tx1"/>
                          </a:solidFill>
                        </a:rPr>
                        <a:t>et⚙️points de structuration clés</a:t>
                      </a:r>
                    </a:p>
                  </a:txBody>
                  <a:tcPr>
                    <a:solidFill>
                      <a:schemeClr val="bg1">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noProof="0" dirty="0"/>
                        <a:t>🏢Valeur pour l’entreprise </a:t>
                      </a:r>
                      <a:r>
                        <a:rPr lang="fr-FR" sz="1800" b="1" noProof="0" dirty="0"/>
                        <a:t>(effets positifs attendus, indicateurs type)</a:t>
                      </a:r>
                    </a:p>
                  </a:txBody>
                  <a:tcPr>
                    <a:solidFill>
                      <a:schemeClr val="tx1"/>
                    </a:solidFill>
                  </a:tcPr>
                </a:tc>
                <a:tc>
                  <a:txBody>
                    <a:bodyPr/>
                    <a:lstStyle/>
                    <a:p>
                      <a:r>
                        <a:rPr lang="fr-FR" b="1" noProof="0" dirty="0"/>
                        <a:t>👍Valeur pour les membres </a:t>
                      </a:r>
                      <a:r>
                        <a:rPr lang="fr-FR" sz="1800" b="1" noProof="0" dirty="0"/>
                        <a:t>(effets positifs attendus, indicateurs type,  respirations clés)</a:t>
                      </a:r>
                    </a:p>
                  </a:txBody>
                  <a:tcPr>
                    <a:solidFill>
                      <a:srgbClr val="00B050"/>
                    </a:solidFill>
                  </a:tcPr>
                </a:tc>
                <a:tc>
                  <a:txBody>
                    <a:bodyPr/>
                    <a:lstStyle/>
                    <a:p>
                      <a:r>
                        <a:rPr lang="fr-FR" b="1" noProof="0" dirty="0"/>
                        <a:t>💰⌛🔧Ressources nécessaires au lancement</a:t>
                      </a:r>
                    </a:p>
                    <a:p>
                      <a:r>
                        <a:rPr lang="fr-FR" b="1" noProof="0" dirty="0"/>
                        <a:t>Besoins probables en sponsoring</a:t>
                      </a:r>
                    </a:p>
                  </a:txBody>
                  <a:tcPr>
                    <a:solidFill>
                      <a:schemeClr val="accent1"/>
                    </a:solidFill>
                  </a:tcPr>
                </a:tc>
                <a:extLst>
                  <a:ext uri="{0D108BD9-81ED-4DB2-BD59-A6C34878D82A}">
                    <a16:rowId xmlns:a16="http://schemas.microsoft.com/office/drawing/2014/main" val="532904326"/>
                  </a:ext>
                </a:extLst>
              </a:tr>
              <a:tr h="319929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 Organisation de moments sociaux (sorties, team building, …)</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 Organisation d’événements de bienvenue</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 Organisation de rencontres des nouveaux</a:t>
                      </a:r>
                    </a:p>
                    <a:p>
                      <a:pPr algn="l"/>
                      <a:r>
                        <a:rPr lang="fr-FR" sz="1100" dirty="0">
                          <a:solidFill>
                            <a:schemeClr val="tx1"/>
                          </a:solidFill>
                        </a:rPr>
                        <a:t>⚙️📅Aide à la coordination transverse</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✍️Co-écriture d’un guide de bienvenue</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⚙️Bibliothèque d’objets partagés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⚙️Aide à la mise en relation dans le service / département</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1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t>Rétrospectives, travail sur les valeurs, co-construction des règles de vie, établissement des processus communs, organisation d'entraide, mise à plat des conflits...)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t>Travail sur l'identité commune (logos, couleurs, charte graphique, manifeste, goodies, ...)</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t>Activités de Team </a:t>
                      </a:r>
                      <a:r>
                        <a:rPr lang="fr-FR" sz="1100" dirty="0" err="1"/>
                        <a:t>entertainment</a:t>
                      </a:r>
                      <a:r>
                        <a:rPr lang="fr-FR" sz="1100" dirty="0"/>
                        <a:t> (sorties exceptionnelles, jeux sans objectifs autres que le plaisir, célébrations, </a:t>
                      </a:r>
                      <a:r>
                        <a:rPr lang="fr-FR" sz="1100" dirty="0" err="1"/>
                        <a:t>icebreakers</a:t>
                      </a:r>
                      <a:r>
                        <a:rPr lang="fr-FR" sz="1100" dirty="0"/>
                        <a:t> ...)</a:t>
                      </a:r>
                      <a:endParaRPr lang="fr-FR" sz="1100" dirty="0">
                        <a:solidFill>
                          <a:schemeClr val="tx1"/>
                        </a:solidFill>
                      </a:endParaRPr>
                    </a:p>
                  </a:txBody>
                  <a:tcPr>
                    <a:solidFill>
                      <a:schemeClr val="bg1">
                        <a:lumMod val="85000"/>
                      </a:schemeClr>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100" noProof="0" dirty="0">
                          <a:solidFill>
                            <a:schemeClr val="tx1"/>
                          </a:solidFill>
                        </a:rPr>
                        <a:t>Augmentation du sentiment d’appartenance à l’entreprise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100" noProof="0" dirty="0">
                          <a:solidFill>
                            <a:schemeClr val="tx1"/>
                          </a:solidFill>
                        </a:rPr>
                        <a:t>Meilleure intégration des nouveaux arrivants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100" noProof="0" dirty="0">
                          <a:solidFill>
                            <a:schemeClr val="tx1"/>
                          </a:solidFill>
                        </a:rPr>
                        <a:t>Meilleure expérience collaborateur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100" noProof="0" dirty="0">
                          <a:solidFill>
                            <a:schemeClr val="tx1"/>
                          </a:solidFill>
                        </a:rPr>
                        <a:t>Meilleure rétention des collaborateurs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100" noProof="0" dirty="0">
                          <a:solidFill>
                            <a:schemeClr val="tx1"/>
                          </a:solidFill>
                        </a:rPr>
                        <a:t>Meilleure communication et coordination transverse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100" noProof="0" dirty="0">
                          <a:solidFill>
                            <a:schemeClr val="tx1"/>
                          </a:solidFill>
                        </a:rPr>
                        <a:t>Opportunités de renseignement par interception accrues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fr-FR" sz="1100" noProof="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sz="1100" b="1" noProof="0" dirty="0">
                          <a:solidFill>
                            <a:schemeClr val="tx1"/>
                          </a:solidFill>
                        </a:rPr>
                        <a:t>Indicateurs directs : </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noProof="0" dirty="0">
                          <a:solidFill>
                            <a:schemeClr val="tx1"/>
                          </a:solidFill>
                        </a:rPr>
                        <a:t>- Taux de rétention</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noProof="0" dirty="0">
                          <a:solidFill>
                            <a:schemeClr val="tx1"/>
                          </a:solidFill>
                        </a:rPr>
                        <a:t>- Score de satisfaction des membres du département</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100" noProof="0" dirty="0">
                        <a:solidFill>
                          <a:schemeClr val="tx1"/>
                        </a:solidFill>
                      </a:endParaRPr>
                    </a:p>
                    <a:p>
                      <a:endParaRPr lang="fr-FR" sz="1100" noProof="0" dirty="0"/>
                    </a:p>
                  </a:txBody>
                  <a:tcPr>
                    <a:solidFill>
                      <a:schemeClr val="bg1">
                        <a:lumMod val="7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👋Nouvelles rencontres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🏠Sentiment d’appartenance</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🧑‍🤝‍🧑Accès à d’autres formes de relations (ex: collaboration différente, etc.)</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🎆Activités stimulantes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🎭Accès à des opportunités d’exprimer son avis ou sa position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1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1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1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 Opportunités de mobilité professionnelle</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🤍Sentiment de contribution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1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b="1" dirty="0">
                          <a:solidFill>
                            <a:schemeClr val="tx1"/>
                          </a:solidFill>
                        </a:rPr>
                        <a:t>Respirations : </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 Rencontres de personnes aux profils différents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100" dirty="0">
                          <a:solidFill>
                            <a:schemeClr val="tx1"/>
                          </a:solidFill>
                        </a:rPr>
                        <a:t>- Activités non liées au travail opérationnel </a:t>
                      </a:r>
                      <a:r>
                        <a:rPr lang="fr-FR" sz="1100">
                          <a:solidFill>
                            <a:schemeClr val="tx1"/>
                          </a:solidFill>
                        </a:rPr>
                        <a:t>du quotidien</a:t>
                      </a:r>
                      <a:endParaRPr lang="fr-FR" sz="1100" dirty="0">
                        <a:solidFill>
                          <a:schemeClr val="tx1"/>
                        </a:solidFill>
                      </a:endParaRPr>
                    </a:p>
                  </a:txBody>
                  <a:tcPr>
                    <a:solidFill>
                      <a:srgbClr val="00B050">
                        <a:alpha val="20000"/>
                      </a:srgbClr>
                    </a:solidFill>
                  </a:tcPr>
                </a:tc>
                <a:tc>
                  <a:txBody>
                    <a:bodyPr/>
                    <a:lstStyle/>
                    <a:p>
                      <a:r>
                        <a:rPr lang="fr-FR" sz="1100" noProof="0" dirty="0"/>
                        <a:t>Accès aux agendas</a:t>
                      </a:r>
                    </a:p>
                    <a:p>
                      <a:r>
                        <a:rPr lang="fr-FR" sz="1100" noProof="0" dirty="0"/>
                        <a:t>Salle commune (pour des moments présentiels collectifs)</a:t>
                      </a:r>
                    </a:p>
                    <a:p>
                      <a:r>
                        <a:rPr lang="fr-FR" sz="1100" noProof="0" dirty="0"/>
                        <a:t>Budget pour les moments de célébration</a:t>
                      </a:r>
                    </a:p>
                    <a:p>
                      <a:r>
                        <a:rPr lang="fr-FR" sz="1100" noProof="0" dirty="0"/>
                        <a:t>Disponibilité officielle pour certains membres motivés</a:t>
                      </a:r>
                    </a:p>
                    <a:p>
                      <a:endParaRPr lang="fr-FR" sz="1100" noProof="0" dirty="0"/>
                    </a:p>
                    <a:p>
                      <a:r>
                        <a:rPr lang="fr-FR" sz="1100" noProof="0" dirty="0"/>
                        <a:t>Sponsor participant</a:t>
                      </a:r>
                    </a:p>
                    <a:p>
                      <a:r>
                        <a:rPr lang="fr-FR" sz="1100" noProof="0" dirty="0"/>
                        <a:t>Sponsor investisseur</a:t>
                      </a:r>
                    </a:p>
                    <a:p>
                      <a:endParaRPr lang="fr-FR" sz="1100" noProof="0" dirty="0"/>
                    </a:p>
                    <a:p>
                      <a:r>
                        <a:rPr lang="fr-FR" sz="1100" b="1" noProof="0" dirty="0"/>
                        <a:t>Idéalement : </a:t>
                      </a:r>
                    </a:p>
                    <a:p>
                      <a:r>
                        <a:rPr lang="fr-FR" sz="1100" noProof="0" dirty="0"/>
                        <a:t>Soutien de la direction du service ou du département (surtout en cas de communication officielle au nom du service / du département)</a:t>
                      </a:r>
                    </a:p>
                    <a:p>
                      <a:r>
                        <a:rPr lang="fr-FR" sz="1100" noProof="0" dirty="0"/>
                        <a:t>Sponsor garant des valeurs</a:t>
                      </a:r>
                    </a:p>
                    <a:p>
                      <a:r>
                        <a:rPr lang="fr-FR" sz="1100" noProof="0" dirty="0"/>
                        <a:t>Sponsor décisionnaire ponctuel</a:t>
                      </a:r>
                    </a:p>
                  </a:txBody>
                  <a:tcPr>
                    <a:solidFill>
                      <a:schemeClr val="accent1">
                        <a:lumMod val="40000"/>
                        <a:lumOff val="60000"/>
                        <a:alpha val="20000"/>
                      </a:schemeClr>
                    </a:solidFill>
                  </a:tcPr>
                </a:tc>
                <a:extLst>
                  <a:ext uri="{0D108BD9-81ED-4DB2-BD59-A6C34878D82A}">
                    <a16:rowId xmlns:a16="http://schemas.microsoft.com/office/drawing/2014/main" val="528860404"/>
                  </a:ext>
                </a:extLst>
              </a:tr>
            </a:tbl>
          </a:graphicData>
        </a:graphic>
      </p:graphicFrame>
    </p:spTree>
    <p:extLst>
      <p:ext uri="{BB962C8B-B14F-4D97-AF65-F5344CB8AC3E}">
        <p14:creationId xmlns:p14="http://schemas.microsoft.com/office/powerpoint/2010/main" val="529565129"/>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326030" y="365125"/>
            <a:ext cx="10027769" cy="1325563"/>
          </a:xfrm>
        </p:spPr>
        <p:txBody>
          <a:bodyPr>
            <a:noAutofit/>
          </a:bodyPr>
          <a:lstStyle/>
          <a:p>
            <a:r>
              <a:rPr lang="fr-FR" sz="3200" dirty="0"/>
              <a:t>Les Communautés PROJET, PROGRAMME ou OPERATIONNELLES</a:t>
            </a:r>
          </a:p>
        </p:txBody>
      </p:sp>
      <p:pic>
        <p:nvPicPr>
          <p:cNvPr id="104" name="Graphique 103" descr="Liste avec un remplissage uni">
            <a:extLst>
              <a:ext uri="{FF2B5EF4-FFF2-40B4-BE49-F238E27FC236}">
                <a16:creationId xmlns:a16="http://schemas.microsoft.com/office/drawing/2014/main" id="{1A6AB4CC-1B5E-BA0A-DCD7-41B52E3059D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47148" y="466864"/>
            <a:ext cx="1078882" cy="1078882"/>
          </a:xfrm>
          <a:prstGeom prst="rect">
            <a:avLst/>
          </a:prstGeom>
        </p:spPr>
      </p:pic>
      <p:graphicFrame>
        <p:nvGraphicFramePr>
          <p:cNvPr id="4" name="Tabella 4">
            <a:extLst>
              <a:ext uri="{FF2B5EF4-FFF2-40B4-BE49-F238E27FC236}">
                <a16:creationId xmlns:a16="http://schemas.microsoft.com/office/drawing/2014/main" id="{7C3E0800-F123-5BB4-9333-1756AAFB4A83}"/>
              </a:ext>
            </a:extLst>
          </p:cNvPr>
          <p:cNvGraphicFramePr>
            <a:graphicFrameLocks noGrp="1"/>
          </p:cNvGraphicFramePr>
          <p:nvPr>
            <p:extLst>
              <p:ext uri="{D42A27DB-BD31-4B8C-83A1-F6EECF244321}">
                <p14:modId xmlns:p14="http://schemas.microsoft.com/office/powerpoint/2010/main" val="4110502288"/>
              </p:ext>
            </p:extLst>
          </p:nvPr>
        </p:nvGraphicFramePr>
        <p:xfrm>
          <a:off x="493389" y="1950721"/>
          <a:ext cx="2476147" cy="3756085"/>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r>
                        <a:rPr lang="fr-FR" sz="1200" dirty="0"/>
                        <a:t>Dans une PME, l'entreprise a besoin de développer sa communication externe, elle identifie les personnes qui ont le plus cette appétence et leur attribue</a:t>
                      </a:r>
                    </a:p>
                    <a:p>
                      <a:endParaRPr lang="fr-FR" sz="1200" dirty="0"/>
                    </a:p>
                    <a:p>
                      <a:r>
                        <a:rPr lang="fr-FR" sz="1200" dirty="0"/>
                        <a:t>1. Du temps officiel pour travailler dessus</a:t>
                      </a:r>
                    </a:p>
                    <a:p>
                      <a:r>
                        <a:rPr lang="fr-FR" sz="1200" dirty="0"/>
                        <a:t>2. Des objectifs à atteindre</a:t>
                      </a:r>
                    </a:p>
                    <a:p>
                      <a:endParaRPr lang="fr-FR" sz="1200" dirty="0"/>
                    </a:p>
                    <a:p>
                      <a:r>
                        <a:rPr lang="fr-FR" sz="1200" dirty="0"/>
                        <a:t>Tout cela sans changer le métier de base ou la fiche de poste de chacun</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graphicFrame>
        <p:nvGraphicFramePr>
          <p:cNvPr id="5" name="Tabella 4">
            <a:extLst>
              <a:ext uri="{FF2B5EF4-FFF2-40B4-BE49-F238E27FC236}">
                <a16:creationId xmlns:a16="http://schemas.microsoft.com/office/drawing/2014/main" id="{A6CF73F5-B7EF-F460-BBA4-95C84F54A5DC}"/>
              </a:ext>
            </a:extLst>
          </p:cNvPr>
          <p:cNvGraphicFramePr>
            <a:graphicFrameLocks noGrp="1"/>
          </p:cNvGraphicFramePr>
          <p:nvPr>
            <p:extLst>
              <p:ext uri="{D42A27DB-BD31-4B8C-83A1-F6EECF244321}">
                <p14:modId xmlns:p14="http://schemas.microsoft.com/office/powerpoint/2010/main" val="1184339568"/>
              </p:ext>
            </p:extLst>
          </p:nvPr>
        </p:nvGraphicFramePr>
        <p:xfrm>
          <a:off x="3336177" y="1950721"/>
          <a:ext cx="2476147" cy="4297680"/>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dirty="0"/>
                        <a:t>Dans un cabinet de conseil, on demande à certains des consultants d'assurer une fonction commerciale (réponses à appel d'offres, rendez-vous prospects, etc.) en parallèle de leur mission chez leurs clients.</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Une communauté commerciale de consultants est établie afin d’échanger les contacts, se tenir au courant des opportunités, partager sur les disponibilités.</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Cette communauté de consultants a des objectifs en tant que communauté (en nombre d’affaires, de rendez-vous de prospection) et dispose d’un budget de prospection ainsi que d’un support des équipes commerciales (non consultants) du cabinet.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graphicFrame>
        <p:nvGraphicFramePr>
          <p:cNvPr id="6" name="Tabella 5">
            <a:extLst>
              <a:ext uri="{FF2B5EF4-FFF2-40B4-BE49-F238E27FC236}">
                <a16:creationId xmlns:a16="http://schemas.microsoft.com/office/drawing/2014/main" id="{5880F4B9-B6E2-247F-C2FF-3DCA0E9616C0}"/>
              </a:ext>
            </a:extLst>
          </p:cNvPr>
          <p:cNvGraphicFramePr>
            <a:graphicFrameLocks noGrp="1"/>
          </p:cNvGraphicFramePr>
          <p:nvPr>
            <p:extLst>
              <p:ext uri="{D42A27DB-BD31-4B8C-83A1-F6EECF244321}">
                <p14:modId xmlns:p14="http://schemas.microsoft.com/office/powerpoint/2010/main" val="3939653537"/>
              </p:ext>
            </p:extLst>
          </p:nvPr>
        </p:nvGraphicFramePr>
        <p:xfrm>
          <a:off x="6178965" y="1950721"/>
          <a:ext cx="2476147" cy="3756085"/>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3</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dirty="0"/>
                        <a:t>Dans une grande entreprise industrielle, la DSI a besoin de développer sa communication interne vis-à-vis des « métiers » (départements opérationnels et non transverses).</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Elle identifie les personnes qui seront le plus à même de proposer des sujets et des formats de communication, dans le cadre d’un programme de sensibilisation qui comprendra événements, contenus (articles, vidéos), et documentation officielle (guide de fonctionnement, offre de service, etc.)</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graphicFrame>
        <p:nvGraphicFramePr>
          <p:cNvPr id="7" name="Tabella 6">
            <a:extLst>
              <a:ext uri="{FF2B5EF4-FFF2-40B4-BE49-F238E27FC236}">
                <a16:creationId xmlns:a16="http://schemas.microsoft.com/office/drawing/2014/main" id="{7D89D959-D399-6B12-3BD6-8AE808864990}"/>
              </a:ext>
            </a:extLst>
          </p:cNvPr>
          <p:cNvGraphicFramePr>
            <a:graphicFrameLocks noGrp="1"/>
          </p:cNvGraphicFramePr>
          <p:nvPr>
            <p:extLst>
              <p:ext uri="{D42A27DB-BD31-4B8C-83A1-F6EECF244321}">
                <p14:modId xmlns:p14="http://schemas.microsoft.com/office/powerpoint/2010/main" val="1403766431"/>
              </p:ext>
            </p:extLst>
          </p:nvPr>
        </p:nvGraphicFramePr>
        <p:xfrm>
          <a:off x="9021753" y="1950721"/>
          <a:ext cx="2476147" cy="3756085"/>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4</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dirty="0"/>
                        <a:t>Dans une grande entreprise industrielle, et dans le cadre d’un programme de transformation culturelle massive, visant à promouvoir l’apprentissage continu comme une habitude chez tous, une communauté « Culture de l’apprentissage » est mise en place.</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Cette communauté a pour objectif de rassembler toutes les personnes portant des initiatives sur le sujet, de  mesurer l’avancement global de la transformation, et de mettre en commun des investissements en outils, matériels et compétences.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spTree>
    <p:extLst>
      <p:ext uri="{BB962C8B-B14F-4D97-AF65-F5344CB8AC3E}">
        <p14:creationId xmlns:p14="http://schemas.microsoft.com/office/powerpoint/2010/main" val="976566434"/>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326030" y="365125"/>
            <a:ext cx="10027769" cy="1325563"/>
          </a:xfrm>
        </p:spPr>
        <p:txBody>
          <a:bodyPr>
            <a:noAutofit/>
          </a:bodyPr>
          <a:lstStyle/>
          <a:p>
            <a:r>
              <a:rPr lang="fr-FR" sz="3200" dirty="0"/>
              <a:t>Les Communautés PROJET, PROGRAMME ou OPERATIONNELLES</a:t>
            </a:r>
          </a:p>
        </p:txBody>
      </p:sp>
      <p:pic>
        <p:nvPicPr>
          <p:cNvPr id="104" name="Graphique 103" descr="Liste avec un remplissage uni">
            <a:extLst>
              <a:ext uri="{FF2B5EF4-FFF2-40B4-BE49-F238E27FC236}">
                <a16:creationId xmlns:a16="http://schemas.microsoft.com/office/drawing/2014/main" id="{1A6AB4CC-1B5E-BA0A-DCD7-41B52E3059D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47148" y="466864"/>
            <a:ext cx="1078882" cy="1078882"/>
          </a:xfrm>
          <a:prstGeom prst="rect">
            <a:avLst/>
          </a:prstGeom>
        </p:spPr>
      </p:pic>
      <p:graphicFrame>
        <p:nvGraphicFramePr>
          <p:cNvPr id="3" name="Tabella 4">
            <a:extLst>
              <a:ext uri="{FF2B5EF4-FFF2-40B4-BE49-F238E27FC236}">
                <a16:creationId xmlns:a16="http://schemas.microsoft.com/office/drawing/2014/main" id="{C7A69647-85AA-E25F-E253-7933A7C39444}"/>
              </a:ext>
            </a:extLst>
          </p:cNvPr>
          <p:cNvGraphicFramePr>
            <a:graphicFrameLocks noGrp="1"/>
          </p:cNvGraphicFramePr>
          <p:nvPr>
            <p:extLst>
              <p:ext uri="{D42A27DB-BD31-4B8C-83A1-F6EECF244321}">
                <p14:modId xmlns:p14="http://schemas.microsoft.com/office/powerpoint/2010/main" val="4258761430"/>
              </p:ext>
            </p:extLst>
          </p:nvPr>
        </p:nvGraphicFramePr>
        <p:xfrm>
          <a:off x="448122" y="1746097"/>
          <a:ext cx="11548194" cy="5029200"/>
        </p:xfrm>
        <a:graphic>
          <a:graphicData uri="http://schemas.openxmlformats.org/drawingml/2006/table">
            <a:tbl>
              <a:tblPr firstRow="1" bandRow="1">
                <a:tableStyleId>{5C22544A-7EE6-4342-B048-85BDC9FD1C3A}</a:tableStyleId>
              </a:tblPr>
              <a:tblGrid>
                <a:gridCol w="3849398">
                  <a:extLst>
                    <a:ext uri="{9D8B030D-6E8A-4147-A177-3AD203B41FA5}">
                      <a16:colId xmlns:a16="http://schemas.microsoft.com/office/drawing/2014/main" val="368858149"/>
                    </a:ext>
                  </a:extLst>
                </a:gridCol>
                <a:gridCol w="1924699">
                  <a:extLst>
                    <a:ext uri="{9D8B030D-6E8A-4147-A177-3AD203B41FA5}">
                      <a16:colId xmlns:a16="http://schemas.microsoft.com/office/drawing/2014/main" val="644195243"/>
                    </a:ext>
                  </a:extLst>
                </a:gridCol>
                <a:gridCol w="1924699">
                  <a:extLst>
                    <a:ext uri="{9D8B030D-6E8A-4147-A177-3AD203B41FA5}">
                      <a16:colId xmlns:a16="http://schemas.microsoft.com/office/drawing/2014/main" val="3557351726"/>
                    </a:ext>
                  </a:extLst>
                </a:gridCol>
                <a:gridCol w="1924699">
                  <a:extLst>
                    <a:ext uri="{9D8B030D-6E8A-4147-A177-3AD203B41FA5}">
                      <a16:colId xmlns:a16="http://schemas.microsoft.com/office/drawing/2014/main" val="198992012"/>
                    </a:ext>
                  </a:extLst>
                </a:gridCol>
                <a:gridCol w="1924699">
                  <a:extLst>
                    <a:ext uri="{9D8B030D-6E8A-4147-A177-3AD203B41FA5}">
                      <a16:colId xmlns:a16="http://schemas.microsoft.com/office/drawing/2014/main" val="2559057885"/>
                    </a:ext>
                  </a:extLst>
                </a:gridCol>
              </a:tblGrid>
              <a:tr h="0">
                <a:tc>
                  <a:txBody>
                    <a:bodyPr/>
                    <a:lstStyle/>
                    <a:p>
                      <a:r>
                        <a:rPr lang="fr-FR" noProof="0" dirty="0">
                          <a:solidFill>
                            <a:schemeClr val="tx1"/>
                          </a:solidFill>
                        </a:rPr>
                        <a:t>Définition et Exemples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r>
                        <a:rPr lang="fr-FR" noProof="0" dirty="0"/>
                        <a:t>Forces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r>
                        <a:rPr lang="fr-FR" noProof="0" dirty="0">
                          <a:solidFill>
                            <a:schemeClr val="tx1"/>
                          </a:solidFill>
                        </a:rPr>
                        <a:t>Faiblesses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r>
                        <a:rPr lang="fr-FR" noProof="0" dirty="0">
                          <a:solidFill>
                            <a:schemeClr val="tx1"/>
                          </a:solidFill>
                        </a:rPr>
                        <a:t>Conditions favorables au lancement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D7D31"/>
                    </a:solidFill>
                  </a:tcPr>
                </a:tc>
                <a:tc>
                  <a:txBody>
                    <a:bodyPr/>
                    <a:lstStyle/>
                    <a:p>
                      <a:r>
                        <a:rPr lang="fr-FR" noProof="0"/>
                        <a:t>Conditions défavorables au lancement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3439061"/>
                  </a:ext>
                </a:extLst>
              </a:tr>
              <a:tr h="3390325">
                <a:tc>
                  <a:txBody>
                    <a:bodyPr/>
                    <a:lstStyle/>
                    <a:p>
                      <a:pPr marL="171450" indent="-171450">
                        <a:buFont typeface="Arial" panose="020B0604020202020204" pitchFamily="34" charset="0"/>
                        <a:buChar char="•"/>
                      </a:pPr>
                      <a:r>
                        <a:rPr lang="fr-FR" sz="1200" dirty="0"/>
                        <a:t>Une Communauté Projet / Programme ou Opérationnelle est une communauté qui réunit les acteurs assignés à un même but opérationnel (par exemple un projet transverse à l’échelle de l’entreprise, un programme de transformation). Une telle communauté a souvent des livrables, des résultats cibles imposés extérieurement, et des délais à respecter.</a:t>
                      </a:r>
                    </a:p>
                    <a:p>
                      <a:pPr marL="171450" indent="-171450">
                        <a:buFont typeface="Arial" panose="020B0604020202020204" pitchFamily="34" charset="0"/>
                        <a:buChar char="•"/>
                      </a:pPr>
                      <a:endParaRPr lang="fr-FR" sz="1200" dirty="0"/>
                    </a:p>
                    <a:p>
                      <a:pPr marL="171450" indent="-171450">
                        <a:buFont typeface="Arial" panose="020B0604020202020204" pitchFamily="34" charset="0"/>
                        <a:buChar char="•"/>
                      </a:pPr>
                      <a:r>
                        <a:rPr lang="fr-FR" sz="1200" dirty="0"/>
                        <a:t>Une Communauté de ce type est souvent créée lorsqu’un sujet / projet / programme n’est pas en conditions de créer une équipe dédiée à 100%, mais qui est assez importante pour mériter du temps régulier de collaborateurs (qui ont d’autres fonctions par ailleurs). Cette communauté est dissoute quand le projet / programme termine.</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Les membres d’une telle communauté sont le plus souvent attitrés (par exemple, on désigne par « Communauté projet » toutes les personnes liées à un projet particulier, ils sont membres sans l’avoir choisi explicitement). Surtout, ils peuvent provenir de différents départements.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buFont typeface="Arial" panose="020B0604020202020204" pitchFamily="34" charset="0"/>
                        <a:buChar char="•"/>
                      </a:pPr>
                      <a:r>
                        <a:rPr lang="fr-FR" sz="1200" dirty="0"/>
                        <a:t>Rattachement à un but (du projet / programme) qui est plus clair ou plus facile à définir que dans une communauté thématique. Ce but fédère plus facilement, </a:t>
                      </a:r>
                    </a:p>
                    <a:p>
                      <a:pPr marL="171450" indent="-171450">
                        <a:buFont typeface="Arial" panose="020B0604020202020204" pitchFamily="34" charset="0"/>
                        <a:buChar char="•"/>
                      </a:pPr>
                      <a:endParaRPr lang="fr-FR" sz="1200" dirty="0"/>
                    </a:p>
                    <a:p>
                      <a:pPr marL="171450" indent="-171450">
                        <a:buFont typeface="Arial" panose="020B0604020202020204" pitchFamily="34" charset="0"/>
                        <a:buChar char="•"/>
                      </a:pPr>
                      <a:r>
                        <a:rPr lang="fr-FR" sz="1200" dirty="0"/>
                        <a:t>Engagement plus facile (moins de conflits entre missions opérationnelles et communautaires).</a:t>
                      </a:r>
                    </a:p>
                    <a:p>
                      <a:pPr marL="171450" indent="-171450">
                        <a:buFont typeface="Arial" panose="020B0604020202020204" pitchFamily="34" charset="0"/>
                        <a:buChar char="•"/>
                      </a:pPr>
                      <a:endParaRPr lang="fr-FR" sz="1200" dirty="0"/>
                    </a:p>
                    <a:p>
                      <a:pPr marL="171450" indent="-171450">
                        <a:buFont typeface="Arial" panose="020B0604020202020204" pitchFamily="34" charset="0"/>
                        <a:buChar char="•"/>
                      </a:pPr>
                      <a:endParaRPr lang="fr-FR" sz="1200" dirty="0"/>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endParaRPr lang="fr-FR" sz="1200" noProof="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171450" indent="-171450">
                        <a:buFont typeface="Arial" panose="020B0604020202020204" pitchFamily="34" charset="0"/>
                        <a:buChar char="•"/>
                      </a:pPr>
                      <a:r>
                        <a:rPr lang="fr-FR" sz="1200" dirty="0"/>
                        <a:t>Risque de sous-estimation des tâches communautaires, et risque d’oubli de les prendre en compte dans les plans de charge des membres</a:t>
                      </a:r>
                    </a:p>
                    <a:p>
                      <a:pPr marL="171450" indent="-171450">
                        <a:buFont typeface="Arial" panose="020B0604020202020204" pitchFamily="34" charset="0"/>
                        <a:buChar char="•"/>
                      </a:pPr>
                      <a:endParaRPr lang="fr-FR" sz="1200" dirty="0"/>
                    </a:p>
                    <a:p>
                      <a:pPr marL="171450" indent="-171450">
                        <a:buFont typeface="Arial" panose="020B0604020202020204" pitchFamily="34" charset="0"/>
                        <a:buChar char="•"/>
                      </a:pPr>
                      <a:r>
                        <a:rPr lang="fr-FR" sz="1200" dirty="0"/>
                        <a:t>Si le projet ou programme existe par ailleurs (en dehors de la communauté), avec sa propre gouvernance, risque de créer un contre pouvoir non officiel dans le projet / programme.</a:t>
                      </a:r>
                      <a:endParaRPr lang="fr-FR" sz="1200" noProof="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alpha val="50196"/>
                      </a:srgbClr>
                    </a:solidFill>
                  </a:tcPr>
                </a:tc>
                <a:tc>
                  <a:txBody>
                    <a:bodyPr/>
                    <a:lstStyle/>
                    <a:p>
                      <a:pPr marL="171450" indent="-171450">
                        <a:buFont typeface="Arial" panose="020B0604020202020204" pitchFamily="34" charset="0"/>
                        <a:buChar char="•"/>
                      </a:pPr>
                      <a:r>
                        <a:rPr lang="fr-FR" sz="1200" noProof="0" dirty="0"/>
                        <a:t>Les potentiels membres ont des facilités ou des appétences à assurer un rôle autre que celui de leur poste («Je suis manager et également responsable événementiel de la communauté ..»)</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Les potentiels membres ont une capacité d’auto-organisation qui permet le lancement d’une communauté</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Le besoin de l’entreprise est suffisamment important pour autoriser de la participation à la Communauté pendant le temps de travail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171450" indent="-171450">
                        <a:buFont typeface="Arial" panose="020B0604020202020204" pitchFamily="34" charset="0"/>
                        <a:buChar char="•"/>
                      </a:pPr>
                      <a:r>
                        <a:rPr lang="fr-FR" sz="1200" noProof="0" dirty="0"/>
                        <a:t>Les potentiels membres ne présentent pas de flexibilité personnelle en termes d'affectations ("Je ne veux pas avoir à faire autre chose que mon poste") </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L’entreprise ne présente aucune flexibilité administrative ou opérationnelle pour que les membres potentiels puissent faire autre chose que leur poste (« pas de ligne de budget, pas le droit »)</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Le besoin lié à la Communauté est trop faible pour officialiser du temps de travail dessus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08797849"/>
                  </a:ext>
                </a:extLst>
              </a:tr>
            </a:tbl>
          </a:graphicData>
        </a:graphic>
      </p:graphicFrame>
    </p:spTree>
    <p:extLst>
      <p:ext uri="{BB962C8B-B14F-4D97-AF65-F5344CB8AC3E}">
        <p14:creationId xmlns:p14="http://schemas.microsoft.com/office/powerpoint/2010/main" val="3830229401"/>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326030" y="365125"/>
            <a:ext cx="10027769" cy="1325563"/>
          </a:xfrm>
        </p:spPr>
        <p:txBody>
          <a:bodyPr>
            <a:noAutofit/>
          </a:bodyPr>
          <a:lstStyle/>
          <a:p>
            <a:r>
              <a:rPr lang="fr-FR" sz="3200" dirty="0"/>
              <a:t>Les Communautés PROJET, PROGRAMME ou OPERATIONNELLES</a:t>
            </a:r>
          </a:p>
        </p:txBody>
      </p:sp>
      <p:pic>
        <p:nvPicPr>
          <p:cNvPr id="104" name="Graphique 103" descr="Liste avec un remplissage uni">
            <a:extLst>
              <a:ext uri="{FF2B5EF4-FFF2-40B4-BE49-F238E27FC236}">
                <a16:creationId xmlns:a16="http://schemas.microsoft.com/office/drawing/2014/main" id="{1A6AB4CC-1B5E-BA0A-DCD7-41B52E3059D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47148" y="466864"/>
            <a:ext cx="1078882" cy="1078882"/>
          </a:xfrm>
          <a:prstGeom prst="rect">
            <a:avLst/>
          </a:prstGeom>
        </p:spPr>
      </p:pic>
      <p:graphicFrame>
        <p:nvGraphicFramePr>
          <p:cNvPr id="4" name="Tabella 4">
            <a:extLst>
              <a:ext uri="{FF2B5EF4-FFF2-40B4-BE49-F238E27FC236}">
                <a16:creationId xmlns:a16="http://schemas.microsoft.com/office/drawing/2014/main" id="{6EA8074B-F932-E9FC-FBD8-690452C400A8}"/>
              </a:ext>
            </a:extLst>
          </p:cNvPr>
          <p:cNvGraphicFramePr>
            <a:graphicFrameLocks noGrp="1"/>
          </p:cNvGraphicFramePr>
          <p:nvPr>
            <p:extLst>
              <p:ext uri="{D42A27DB-BD31-4B8C-83A1-F6EECF244321}">
                <p14:modId xmlns:p14="http://schemas.microsoft.com/office/powerpoint/2010/main" val="2233395494"/>
              </p:ext>
            </p:extLst>
          </p:nvPr>
        </p:nvGraphicFramePr>
        <p:xfrm>
          <a:off x="478971" y="1690688"/>
          <a:ext cx="11234060" cy="4937760"/>
        </p:xfrm>
        <a:graphic>
          <a:graphicData uri="http://schemas.openxmlformats.org/drawingml/2006/table">
            <a:tbl>
              <a:tblPr firstRow="1" bandRow="1">
                <a:tableStyleId>{5C22544A-7EE6-4342-B048-85BDC9FD1C3A}</a:tableStyleId>
              </a:tblPr>
              <a:tblGrid>
                <a:gridCol w="2808515">
                  <a:extLst>
                    <a:ext uri="{9D8B030D-6E8A-4147-A177-3AD203B41FA5}">
                      <a16:colId xmlns:a16="http://schemas.microsoft.com/office/drawing/2014/main" val="2457567452"/>
                    </a:ext>
                  </a:extLst>
                </a:gridCol>
                <a:gridCol w="2456089">
                  <a:extLst>
                    <a:ext uri="{9D8B030D-6E8A-4147-A177-3AD203B41FA5}">
                      <a16:colId xmlns:a16="http://schemas.microsoft.com/office/drawing/2014/main" val="890836644"/>
                    </a:ext>
                  </a:extLst>
                </a:gridCol>
                <a:gridCol w="3160941">
                  <a:extLst>
                    <a:ext uri="{9D8B030D-6E8A-4147-A177-3AD203B41FA5}">
                      <a16:colId xmlns:a16="http://schemas.microsoft.com/office/drawing/2014/main" val="4023974718"/>
                    </a:ext>
                  </a:extLst>
                </a:gridCol>
                <a:gridCol w="2808515">
                  <a:extLst>
                    <a:ext uri="{9D8B030D-6E8A-4147-A177-3AD203B41FA5}">
                      <a16:colId xmlns:a16="http://schemas.microsoft.com/office/drawing/2014/main" val="3080461437"/>
                    </a:ext>
                  </a:extLst>
                </a:gridCol>
              </a:tblGrid>
              <a:tr h="1052512">
                <a:tc>
                  <a:txBody>
                    <a:bodyPr/>
                    <a:lstStyle/>
                    <a:p>
                      <a:r>
                        <a:rPr lang="fr-FR" sz="1800" b="1" noProof="0" dirty="0">
                          <a:solidFill>
                            <a:schemeClr val="tx1"/>
                          </a:solidFill>
                        </a:rPr>
                        <a:t>Exemples de 📅Moments,</a:t>
                      </a:r>
                    </a:p>
                    <a:p>
                      <a:r>
                        <a:rPr lang="fr-FR" sz="1800" b="1" noProof="0" dirty="0">
                          <a:solidFill>
                            <a:schemeClr val="tx1"/>
                          </a:solidFill>
                        </a:rPr>
                        <a:t>✍️Contenus </a:t>
                      </a:r>
                    </a:p>
                    <a:p>
                      <a:r>
                        <a:rPr lang="fr-FR" sz="1800" b="1" noProof="0" dirty="0">
                          <a:solidFill>
                            <a:schemeClr val="tx1"/>
                          </a:solidFill>
                        </a:rPr>
                        <a:t>et⚙️points de structuration clés</a:t>
                      </a:r>
                    </a:p>
                  </a:txBody>
                  <a:tcPr>
                    <a:solidFill>
                      <a:schemeClr val="bg1">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noProof="0" dirty="0"/>
                        <a:t>🏢Valeur pour l’entreprise </a:t>
                      </a:r>
                      <a:r>
                        <a:rPr lang="fr-FR" sz="1800" b="1" noProof="0" dirty="0"/>
                        <a:t>(effets positifs attendus, indicateurs type)</a:t>
                      </a:r>
                    </a:p>
                  </a:txBody>
                  <a:tcPr>
                    <a:solidFill>
                      <a:schemeClr val="tx1"/>
                    </a:solidFill>
                  </a:tcPr>
                </a:tc>
                <a:tc>
                  <a:txBody>
                    <a:bodyPr/>
                    <a:lstStyle/>
                    <a:p>
                      <a:r>
                        <a:rPr lang="fr-FR" b="1" noProof="0" dirty="0"/>
                        <a:t>👍Valeur pour les membres </a:t>
                      </a:r>
                      <a:r>
                        <a:rPr lang="fr-FR" sz="1800" b="1" noProof="0" dirty="0"/>
                        <a:t>(effets positifs attendus, indicateurs type,  respirations clés)</a:t>
                      </a:r>
                    </a:p>
                  </a:txBody>
                  <a:tcPr>
                    <a:solidFill>
                      <a:srgbClr val="00B050"/>
                    </a:solidFill>
                  </a:tcPr>
                </a:tc>
                <a:tc>
                  <a:txBody>
                    <a:bodyPr/>
                    <a:lstStyle/>
                    <a:p>
                      <a:r>
                        <a:rPr lang="fr-FR" b="1" noProof="0" dirty="0"/>
                        <a:t>💰⌛🔧Ressources nécessaires au lancement</a:t>
                      </a:r>
                    </a:p>
                    <a:p>
                      <a:r>
                        <a:rPr lang="fr-FR" b="1" noProof="0" dirty="0"/>
                        <a:t>Besoins probables en sponsoring</a:t>
                      </a:r>
                    </a:p>
                  </a:txBody>
                  <a:tcPr>
                    <a:solidFill>
                      <a:schemeClr val="accent1"/>
                    </a:solidFill>
                  </a:tcPr>
                </a:tc>
                <a:extLst>
                  <a:ext uri="{0D108BD9-81ED-4DB2-BD59-A6C34878D82A}">
                    <a16:rowId xmlns:a16="http://schemas.microsoft.com/office/drawing/2014/main" val="532904326"/>
                  </a:ext>
                </a:extLst>
              </a:tr>
              <a:tr h="3199292">
                <a:tc>
                  <a:txBody>
                    <a:bodyPr/>
                    <a:lstStyle/>
                    <a:p>
                      <a:r>
                        <a:rPr lang="fr-FR" sz="1200" b="1" noProof="0" dirty="0">
                          <a:solidFill>
                            <a:schemeClr val="tx1"/>
                          </a:solidFill>
                        </a:rPr>
                        <a:t>📅</a:t>
                      </a:r>
                      <a:r>
                        <a:rPr lang="fr-FR" sz="1200" noProof="0" dirty="0"/>
                        <a:t>Réunions de suivi projet / programme</a:t>
                      </a:r>
                    </a:p>
                    <a:p>
                      <a:endParaRPr lang="fr-FR" sz="1200" noProof="0" dirty="0"/>
                    </a:p>
                    <a:p>
                      <a:r>
                        <a:rPr lang="fr-FR" sz="1200" b="1" noProof="0" dirty="0">
                          <a:solidFill>
                            <a:schemeClr val="tx1"/>
                          </a:solidFill>
                        </a:rPr>
                        <a:t>📅</a:t>
                      </a:r>
                      <a:r>
                        <a:rPr lang="fr-FR" sz="1200" noProof="0" dirty="0"/>
                        <a:t>Rétrospectives pour amélioration continue du projet / programme</a:t>
                      </a:r>
                    </a:p>
                    <a:p>
                      <a:endParaRPr lang="fr-FR" sz="1200" noProof="0" dirty="0"/>
                    </a:p>
                    <a:p>
                      <a:r>
                        <a:rPr lang="fr-FR" sz="1200" b="1" noProof="0" dirty="0">
                          <a:solidFill>
                            <a:schemeClr val="tx1"/>
                          </a:solidFill>
                        </a:rPr>
                        <a:t>⚙️</a:t>
                      </a:r>
                      <a:r>
                        <a:rPr lang="fr-FR" sz="1200" noProof="0" dirty="0"/>
                        <a:t>Partage de coordonnées, annuaire et trombinoscope de projet / programme</a:t>
                      </a:r>
                    </a:p>
                    <a:p>
                      <a:endParaRPr lang="fr-FR" sz="1200" noProof="0" dirty="0"/>
                    </a:p>
                    <a:p>
                      <a:r>
                        <a:rPr lang="fr-FR" sz="1200" b="1" noProof="0" dirty="0">
                          <a:solidFill>
                            <a:schemeClr val="tx1"/>
                          </a:solidFill>
                        </a:rPr>
                        <a:t>⚙️</a:t>
                      </a:r>
                      <a:r>
                        <a:rPr lang="fr-FR" sz="1200" noProof="0" dirty="0"/>
                        <a:t>Mise en place d’espaces de travail partagés (messagerie, partage de fichiers, questions réponses, …) pour le projet / programme</a:t>
                      </a:r>
                    </a:p>
                    <a:p>
                      <a:endParaRPr lang="fr-FR" sz="1200" noProof="0" dirty="0"/>
                    </a:p>
                    <a:p>
                      <a:r>
                        <a:rPr lang="fr-FR" sz="1200" b="0" noProof="0" dirty="0">
                          <a:solidFill>
                            <a:schemeClr val="tx1"/>
                          </a:solidFill>
                        </a:rPr>
                        <a:t>📅Organisation de moments clés (Kick-off, convivialité, mise en relation, célébrations…) du projet / programme</a:t>
                      </a:r>
                      <a:endParaRPr lang="fr-FR" sz="1200" b="0" noProof="0" dirty="0"/>
                    </a:p>
                  </a:txBody>
                  <a:tcPr>
                    <a:solidFill>
                      <a:schemeClr val="bg1">
                        <a:lumMod val="8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Réduction de la charge managériale pour l’animation transverse </a:t>
                      </a:r>
                    </a:p>
                    <a:p>
                      <a:endParaRPr lang="fr-FR" sz="1200" noProof="0" dirty="0"/>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Permet de tester progressivement une réorganisation (officialisation d’un service à part entière basé totalement ou partiellement sur la Communauté projet par exemple), sans avoir à changer les lignes hiérarchiques au préalable.</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noProof="0" dirty="0"/>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Meilleure qualité des produits et services lié au projet / programme</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Atteintes de certains objectifs d’entreprise sans avoir à mettre en place un cadre lourd de travail (équipe et poste officiel, etc.)</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noProof="0" dirty="0"/>
                    </a:p>
                    <a:p>
                      <a:endParaRPr lang="fr-FR" sz="1200" noProof="0" dirty="0"/>
                    </a:p>
                  </a:txBody>
                  <a:tcPr>
                    <a:solidFill>
                      <a:schemeClr val="bg1">
                        <a:lumMod val="75000"/>
                      </a:schemeClr>
                    </a:solidFill>
                  </a:tcPr>
                </a:tc>
                <a:tc>
                  <a:txBody>
                    <a:bodyPr/>
                    <a:lstStyle/>
                    <a:p>
                      <a:pPr marL="171450" indent="-171450">
                        <a:buFont typeface="Arial" panose="020B0604020202020204" pitchFamily="34" charset="0"/>
                        <a:buChar char="•"/>
                      </a:pPr>
                      <a:r>
                        <a:rPr lang="fr-FR" sz="1200" noProof="0" dirty="0"/>
                        <a:t>Développement de nouvelles compétences professionnelles ou personnelles</a:t>
                      </a:r>
                    </a:p>
                    <a:p>
                      <a:pPr marL="171450" indent="-171450">
                        <a:buFont typeface="Arial" panose="020B0604020202020204" pitchFamily="34" charset="0"/>
                        <a:buChar char="•"/>
                      </a:pPr>
                      <a:r>
                        <a:rPr lang="fr-FR" sz="1200" noProof="0" dirty="0"/>
                        <a:t>Opportunité de contribution à des sujets stimulants </a:t>
                      </a:r>
                    </a:p>
                    <a:p>
                      <a:pPr marL="171450" indent="-171450">
                        <a:buFont typeface="Arial" panose="020B0604020202020204" pitchFamily="34" charset="0"/>
                        <a:buChar char="•"/>
                      </a:pPr>
                      <a:r>
                        <a:rPr lang="fr-FR" sz="1200" noProof="0" dirty="0"/>
                        <a:t>Possibilités de reconnaissance liées à des sujets autres que le poste en titre principal</a:t>
                      </a:r>
                    </a:p>
                    <a:p>
                      <a:pPr marL="171450" indent="-171450">
                        <a:buFont typeface="Arial" panose="020B0604020202020204" pitchFamily="34" charset="0"/>
                        <a:buChar char="•"/>
                      </a:pPr>
                      <a:r>
                        <a:rPr lang="fr-FR" sz="1200" noProof="0" dirty="0"/>
                        <a:t>Nouvelles rencontres ou approfondissement de relations existantes</a:t>
                      </a:r>
                    </a:p>
                    <a:p>
                      <a:pPr marL="171450" indent="-171450">
                        <a:buFont typeface="Arial" panose="020B0604020202020204" pitchFamily="34" charset="0"/>
                        <a:buChar char="•"/>
                      </a:pPr>
                      <a:r>
                        <a:rPr lang="fr-FR" sz="1200" noProof="0" dirty="0"/>
                        <a:t>Ouverture à d’autres formes de collaboration avec des collègues</a:t>
                      </a:r>
                    </a:p>
                    <a:p>
                      <a:pPr marL="171450" indent="-171450">
                        <a:buFont typeface="Arial" panose="020B0604020202020204" pitchFamily="34" charset="0"/>
                        <a:buChar char="•"/>
                      </a:pPr>
                      <a:r>
                        <a:rPr lang="fr-FR" sz="1200" noProof="0" dirty="0"/>
                        <a:t>Opportunités de mobilité professionnelle</a:t>
                      </a:r>
                    </a:p>
                    <a:p>
                      <a:endParaRPr lang="fr-FR" sz="1200" noProof="0" dirty="0"/>
                    </a:p>
                    <a:p>
                      <a:r>
                        <a:rPr lang="fr-FR" sz="1200" b="1" noProof="0" dirty="0"/>
                        <a:t>Respirations : </a:t>
                      </a:r>
                    </a:p>
                    <a:p>
                      <a:r>
                        <a:rPr lang="fr-FR" sz="1200" noProof="0" dirty="0"/>
                        <a:t>Ouverture à d’autres sujets que le quotidien professionnel</a:t>
                      </a:r>
                    </a:p>
                    <a:p>
                      <a:r>
                        <a:rPr lang="fr-FR" sz="1200" noProof="0" dirty="0"/>
                        <a:t>Opportunité de sens en cas d’insatisfaction de sens sur le poste principal des membres</a:t>
                      </a:r>
                    </a:p>
                  </a:txBody>
                  <a:tcPr>
                    <a:solidFill>
                      <a:srgbClr val="00B050">
                        <a:alpha val="20000"/>
                      </a:srgbClr>
                    </a:solidFill>
                  </a:tcPr>
                </a:tc>
                <a:tc>
                  <a:txBody>
                    <a:bodyPr/>
                    <a:lstStyle/>
                    <a:p>
                      <a:r>
                        <a:rPr lang="fr-FR" sz="1200" noProof="0" dirty="0"/>
                        <a:t>Compétences projet / programme / opérationnelles</a:t>
                      </a:r>
                    </a:p>
                    <a:p>
                      <a:endParaRPr lang="fr-FR" sz="1200" noProof="0" dirty="0"/>
                    </a:p>
                    <a:p>
                      <a:r>
                        <a:rPr lang="fr-FR" sz="1200" noProof="0" dirty="0"/>
                        <a:t>Compétences liées au sujet de la Communauté</a:t>
                      </a:r>
                    </a:p>
                    <a:p>
                      <a:endParaRPr lang="fr-FR" sz="1200" noProof="0" dirty="0"/>
                    </a:p>
                    <a:p>
                      <a:r>
                        <a:rPr lang="fr-FR" sz="1200" noProof="0" dirty="0"/>
                        <a:t>Outils de coordination (messagerie, espace documentaire, etc.) et de travail opérationnel liés au projet / programme</a:t>
                      </a:r>
                    </a:p>
                    <a:p>
                      <a:endParaRPr lang="fr-FR" sz="1200" noProof="0" dirty="0"/>
                    </a:p>
                    <a:p>
                      <a:r>
                        <a:rPr lang="fr-FR" sz="1200" noProof="0" dirty="0"/>
                        <a:t>Sponsor défenseur du temps passé sur la Communauté</a:t>
                      </a:r>
                    </a:p>
                    <a:p>
                      <a:r>
                        <a:rPr lang="fr-FR" sz="1200" noProof="0" dirty="0"/>
                        <a:t>Sponsor obligateur (pour toutes les personnes devant coopérer avec la Communauté)</a:t>
                      </a:r>
                    </a:p>
                    <a:p>
                      <a:endParaRPr lang="fr-FR" sz="1200" noProof="0" dirty="0"/>
                    </a:p>
                  </a:txBody>
                  <a:tcPr>
                    <a:solidFill>
                      <a:schemeClr val="accent1">
                        <a:lumMod val="40000"/>
                        <a:lumOff val="60000"/>
                        <a:alpha val="20000"/>
                      </a:schemeClr>
                    </a:solidFill>
                  </a:tcPr>
                </a:tc>
                <a:extLst>
                  <a:ext uri="{0D108BD9-81ED-4DB2-BD59-A6C34878D82A}">
                    <a16:rowId xmlns:a16="http://schemas.microsoft.com/office/drawing/2014/main" val="528860404"/>
                  </a:ext>
                </a:extLst>
              </a:tr>
            </a:tbl>
          </a:graphicData>
        </a:graphic>
      </p:graphicFrame>
    </p:spTree>
    <p:extLst>
      <p:ext uri="{BB962C8B-B14F-4D97-AF65-F5344CB8AC3E}">
        <p14:creationId xmlns:p14="http://schemas.microsoft.com/office/powerpoint/2010/main" val="1380781960"/>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219200" y="365125"/>
            <a:ext cx="10134600" cy="1325563"/>
          </a:xfrm>
        </p:spPr>
        <p:txBody>
          <a:bodyPr>
            <a:noAutofit/>
          </a:bodyPr>
          <a:lstStyle/>
          <a:p>
            <a:r>
              <a:rPr lang="fr-FR" sz="3200" dirty="0"/>
              <a:t>Les Communautés METIER, DE RÔLE ou de PRATIQUE</a:t>
            </a:r>
          </a:p>
        </p:txBody>
      </p:sp>
      <p:pic>
        <p:nvPicPr>
          <p:cNvPr id="102" name="Graphique 101" descr="Programmatrice avec un remplissage uni">
            <a:extLst>
              <a:ext uri="{FF2B5EF4-FFF2-40B4-BE49-F238E27FC236}">
                <a16:creationId xmlns:a16="http://schemas.microsoft.com/office/drawing/2014/main" id="{CB505D36-1F62-8C06-D80A-F94B019E6AC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58531" y="317236"/>
            <a:ext cx="1167500" cy="1167500"/>
          </a:xfrm>
          <a:prstGeom prst="rect">
            <a:avLst/>
          </a:prstGeom>
        </p:spPr>
      </p:pic>
      <p:graphicFrame>
        <p:nvGraphicFramePr>
          <p:cNvPr id="4" name="Tabella 4">
            <a:extLst>
              <a:ext uri="{FF2B5EF4-FFF2-40B4-BE49-F238E27FC236}">
                <a16:creationId xmlns:a16="http://schemas.microsoft.com/office/drawing/2014/main" id="{6D064430-6E2C-5997-0ECE-A3AEFB40A065}"/>
              </a:ext>
            </a:extLst>
          </p:cNvPr>
          <p:cNvGraphicFramePr>
            <a:graphicFrameLocks noGrp="1"/>
          </p:cNvGraphicFramePr>
          <p:nvPr>
            <p:extLst>
              <p:ext uri="{D42A27DB-BD31-4B8C-83A1-F6EECF244321}">
                <p14:modId xmlns:p14="http://schemas.microsoft.com/office/powerpoint/2010/main" val="3167129780"/>
              </p:ext>
            </p:extLst>
          </p:nvPr>
        </p:nvGraphicFramePr>
        <p:xfrm>
          <a:off x="493389" y="1950721"/>
          <a:ext cx="2476147" cy="3756085"/>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r>
                        <a:rPr lang="fr-FR" sz="1200" dirty="0"/>
                        <a:t>Dans une entreprise de conseil, les consultants sont en mission la majorité du temps. Pour continuer à être compétitive, l’entreprise a besoin de les former. Par ailleurs, chacun(e) souhaiterait aussi approfondir sa discipline pour améliorer ses compétences, augmenter son employabilité.</a:t>
                      </a:r>
                    </a:p>
                    <a:p>
                      <a:endParaRPr lang="fr-FR" sz="1200" dirty="0"/>
                    </a:p>
                    <a:p>
                      <a:r>
                        <a:rPr lang="fr-FR" sz="1200" dirty="0"/>
                        <a:t>Les consultants s’organisent donc en Communauté de métier / rôle / pratique, (par exemple : communauté des conducteurs de changement, communauté produit) en étant soutenus par l’entreprise.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graphicFrame>
        <p:nvGraphicFramePr>
          <p:cNvPr id="5" name="Tabella 4">
            <a:extLst>
              <a:ext uri="{FF2B5EF4-FFF2-40B4-BE49-F238E27FC236}">
                <a16:creationId xmlns:a16="http://schemas.microsoft.com/office/drawing/2014/main" id="{391CAFFF-F5AC-3FBF-70B8-1AF5B5F5F281}"/>
              </a:ext>
            </a:extLst>
          </p:cNvPr>
          <p:cNvGraphicFramePr>
            <a:graphicFrameLocks noGrp="1"/>
          </p:cNvGraphicFramePr>
          <p:nvPr>
            <p:extLst>
              <p:ext uri="{D42A27DB-BD31-4B8C-83A1-F6EECF244321}">
                <p14:modId xmlns:p14="http://schemas.microsoft.com/office/powerpoint/2010/main" val="3818630949"/>
              </p:ext>
            </p:extLst>
          </p:nvPr>
        </p:nvGraphicFramePr>
        <p:xfrm>
          <a:off x="3336177" y="1950721"/>
          <a:ext cx="2476147" cy="3931920"/>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dirty="0"/>
                        <a:t>A l’intérieur d’un grand groupe industriel, le métier d’UX Designer ne fait pas nécessairement l’objet d’une direction ou d’une équipe particulière. Etant répartis un peu partout dans l’entreprise, et ayant pourtant intérêt à apprendre les uns des autres, ils décident de se réunir en Communauté. La communauté est également soutenue par l’entreprise qui y voit un moyen d’aligner et standardiser les pratiques, et de créer de l’entraide.</a:t>
                      </a:r>
                    </a:p>
                    <a:p>
                      <a:pPr marL="0" indent="0">
                        <a:buFont typeface="Arial" panose="020B0604020202020204" pitchFamily="34" charset="0"/>
                        <a:buNone/>
                      </a:pPr>
                      <a:endParaRPr lang="fr-FR" sz="1200" dirty="0"/>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(Le raisonnement est applicable à tout métier qui est « dispersé » dans l’entreprise, pas uniquement UX Designer)</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graphicFrame>
        <p:nvGraphicFramePr>
          <p:cNvPr id="6" name="Tabella 5">
            <a:extLst>
              <a:ext uri="{FF2B5EF4-FFF2-40B4-BE49-F238E27FC236}">
                <a16:creationId xmlns:a16="http://schemas.microsoft.com/office/drawing/2014/main" id="{E115D6E6-6C8D-0DF1-ED9E-2A1B15B07E00}"/>
              </a:ext>
            </a:extLst>
          </p:cNvPr>
          <p:cNvGraphicFramePr>
            <a:graphicFrameLocks noGrp="1"/>
          </p:cNvGraphicFramePr>
          <p:nvPr>
            <p:extLst>
              <p:ext uri="{D42A27DB-BD31-4B8C-83A1-F6EECF244321}">
                <p14:modId xmlns:p14="http://schemas.microsoft.com/office/powerpoint/2010/main" val="4077734978"/>
              </p:ext>
            </p:extLst>
          </p:nvPr>
        </p:nvGraphicFramePr>
        <p:xfrm>
          <a:off x="6178965" y="1950721"/>
          <a:ext cx="2476147" cy="3931920"/>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3</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dirty="0"/>
                        <a:t>Dans le cas d’un programme de transformation d’entreprise, un grand nombre de personnes peut changer de métier ou au moins de rôle et de pratique.</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Pour faciliter cette mobilité, et soutenir la conduite du changement, des communautés sur les nouveaux métiers (1 communauté par métier) sont mises en place, animées par des personnes expérimentées (internes ou externes).</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Ces communautés font office de chambre d’</a:t>
                      </a:r>
                      <a:r>
                        <a:rPr lang="fr-FR" sz="1200" dirty="0" err="1"/>
                        <a:t>echo</a:t>
                      </a:r>
                      <a:r>
                        <a:rPr lang="fr-FR" sz="1200" dirty="0"/>
                        <a:t> des recommandations de la direction, et aussi des retours terrain vers la direction</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graphicFrame>
        <p:nvGraphicFramePr>
          <p:cNvPr id="7" name="Tabella 6">
            <a:extLst>
              <a:ext uri="{FF2B5EF4-FFF2-40B4-BE49-F238E27FC236}">
                <a16:creationId xmlns:a16="http://schemas.microsoft.com/office/drawing/2014/main" id="{689E7C68-0C83-3F40-A959-8BC6CAE8D002}"/>
              </a:ext>
            </a:extLst>
          </p:cNvPr>
          <p:cNvGraphicFramePr>
            <a:graphicFrameLocks noGrp="1"/>
          </p:cNvGraphicFramePr>
          <p:nvPr>
            <p:extLst>
              <p:ext uri="{D42A27DB-BD31-4B8C-83A1-F6EECF244321}">
                <p14:modId xmlns:p14="http://schemas.microsoft.com/office/powerpoint/2010/main" val="2466965027"/>
              </p:ext>
            </p:extLst>
          </p:nvPr>
        </p:nvGraphicFramePr>
        <p:xfrm>
          <a:off x="9021753" y="1950721"/>
          <a:ext cx="2476147" cy="3756085"/>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4</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dirty="0"/>
                        <a:t>Le métier XYZ est très en vogue et semble être un besoin stratégique de l’entreprise ABCD.</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Pour développer ce métier, l’entreprise met en place une communauté métier dédiée, dont la vocation est d’inspirer, de collecter les ambitions ou les blocages, de former (en s’appuyant sur la présence de pairs), et de formaliser les pratiques et le rôle.</a:t>
                      </a:r>
                    </a:p>
                    <a:p>
                      <a:pPr marL="0" indent="0">
                        <a:buFont typeface="Arial" panose="020B0604020202020204" pitchFamily="34" charset="0"/>
                        <a:buNone/>
                      </a:pPr>
                      <a:endParaRPr lang="fr-FR" sz="1200" dirty="0"/>
                    </a:p>
                    <a:p>
                      <a:pPr marL="0" indent="0">
                        <a:buFont typeface="Arial" panose="020B0604020202020204" pitchFamily="34" charset="0"/>
                        <a:buNone/>
                      </a:pP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spTree>
    <p:extLst>
      <p:ext uri="{BB962C8B-B14F-4D97-AF65-F5344CB8AC3E}">
        <p14:creationId xmlns:p14="http://schemas.microsoft.com/office/powerpoint/2010/main" val="2867876211"/>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219200" y="365125"/>
            <a:ext cx="10134600" cy="1325563"/>
          </a:xfrm>
        </p:spPr>
        <p:txBody>
          <a:bodyPr>
            <a:noAutofit/>
          </a:bodyPr>
          <a:lstStyle/>
          <a:p>
            <a:r>
              <a:rPr lang="fr-FR" sz="3200" dirty="0"/>
              <a:t>Les Communautés METIER, DE RÔLE ou de PRATIQUE</a:t>
            </a:r>
          </a:p>
        </p:txBody>
      </p:sp>
      <p:pic>
        <p:nvPicPr>
          <p:cNvPr id="102" name="Graphique 101" descr="Programmatrice avec un remplissage uni">
            <a:extLst>
              <a:ext uri="{FF2B5EF4-FFF2-40B4-BE49-F238E27FC236}">
                <a16:creationId xmlns:a16="http://schemas.microsoft.com/office/drawing/2014/main" id="{CB505D36-1F62-8C06-D80A-F94B019E6AC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58531" y="317236"/>
            <a:ext cx="1167500" cy="1167500"/>
          </a:xfrm>
          <a:prstGeom prst="rect">
            <a:avLst/>
          </a:prstGeom>
        </p:spPr>
      </p:pic>
      <p:graphicFrame>
        <p:nvGraphicFramePr>
          <p:cNvPr id="3" name="Tabella 4">
            <a:extLst>
              <a:ext uri="{FF2B5EF4-FFF2-40B4-BE49-F238E27FC236}">
                <a16:creationId xmlns:a16="http://schemas.microsoft.com/office/drawing/2014/main" id="{8A89D119-5358-FEE8-26E4-335929F3EB4D}"/>
              </a:ext>
            </a:extLst>
          </p:cNvPr>
          <p:cNvGraphicFramePr>
            <a:graphicFrameLocks noGrp="1"/>
          </p:cNvGraphicFramePr>
          <p:nvPr>
            <p:extLst>
              <p:ext uri="{D42A27DB-BD31-4B8C-83A1-F6EECF244321}">
                <p14:modId xmlns:p14="http://schemas.microsoft.com/office/powerpoint/2010/main" val="2309476947"/>
              </p:ext>
            </p:extLst>
          </p:nvPr>
        </p:nvGraphicFramePr>
        <p:xfrm>
          <a:off x="448122" y="1746097"/>
          <a:ext cx="11548194" cy="4663440"/>
        </p:xfrm>
        <a:graphic>
          <a:graphicData uri="http://schemas.openxmlformats.org/drawingml/2006/table">
            <a:tbl>
              <a:tblPr firstRow="1" bandRow="1">
                <a:tableStyleId>{5C22544A-7EE6-4342-B048-85BDC9FD1C3A}</a:tableStyleId>
              </a:tblPr>
              <a:tblGrid>
                <a:gridCol w="3849398">
                  <a:extLst>
                    <a:ext uri="{9D8B030D-6E8A-4147-A177-3AD203B41FA5}">
                      <a16:colId xmlns:a16="http://schemas.microsoft.com/office/drawing/2014/main" val="368858149"/>
                    </a:ext>
                  </a:extLst>
                </a:gridCol>
                <a:gridCol w="1924699">
                  <a:extLst>
                    <a:ext uri="{9D8B030D-6E8A-4147-A177-3AD203B41FA5}">
                      <a16:colId xmlns:a16="http://schemas.microsoft.com/office/drawing/2014/main" val="644195243"/>
                    </a:ext>
                  </a:extLst>
                </a:gridCol>
                <a:gridCol w="1924699">
                  <a:extLst>
                    <a:ext uri="{9D8B030D-6E8A-4147-A177-3AD203B41FA5}">
                      <a16:colId xmlns:a16="http://schemas.microsoft.com/office/drawing/2014/main" val="3557351726"/>
                    </a:ext>
                  </a:extLst>
                </a:gridCol>
                <a:gridCol w="1924699">
                  <a:extLst>
                    <a:ext uri="{9D8B030D-6E8A-4147-A177-3AD203B41FA5}">
                      <a16:colId xmlns:a16="http://schemas.microsoft.com/office/drawing/2014/main" val="198992012"/>
                    </a:ext>
                  </a:extLst>
                </a:gridCol>
                <a:gridCol w="1924699">
                  <a:extLst>
                    <a:ext uri="{9D8B030D-6E8A-4147-A177-3AD203B41FA5}">
                      <a16:colId xmlns:a16="http://schemas.microsoft.com/office/drawing/2014/main" val="2559057885"/>
                    </a:ext>
                  </a:extLst>
                </a:gridCol>
              </a:tblGrid>
              <a:tr h="0">
                <a:tc>
                  <a:txBody>
                    <a:bodyPr/>
                    <a:lstStyle/>
                    <a:p>
                      <a:r>
                        <a:rPr lang="fr-FR" noProof="0" dirty="0">
                          <a:solidFill>
                            <a:schemeClr val="tx1"/>
                          </a:solidFill>
                        </a:rPr>
                        <a:t>Définition et Exemples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r>
                        <a:rPr lang="fr-FR" noProof="0" dirty="0"/>
                        <a:t>Forces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r>
                        <a:rPr lang="fr-FR" noProof="0" dirty="0">
                          <a:solidFill>
                            <a:schemeClr val="tx1"/>
                          </a:solidFill>
                        </a:rPr>
                        <a:t>Faiblesses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r>
                        <a:rPr lang="fr-FR" noProof="0" dirty="0">
                          <a:solidFill>
                            <a:schemeClr val="tx1"/>
                          </a:solidFill>
                        </a:rPr>
                        <a:t>Conditions favorables au lancement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D7D31"/>
                    </a:solidFill>
                  </a:tcPr>
                </a:tc>
                <a:tc>
                  <a:txBody>
                    <a:bodyPr/>
                    <a:lstStyle/>
                    <a:p>
                      <a:r>
                        <a:rPr lang="fr-FR" noProof="0" dirty="0"/>
                        <a:t>Conditions défavorables au lancement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3439061"/>
                  </a:ext>
                </a:extLst>
              </a:tr>
              <a:tr h="3390325">
                <a:tc>
                  <a:txBody>
                    <a:bodyPr/>
                    <a:lstStyle/>
                    <a:p>
                      <a:pPr marL="171450" indent="-171450">
                        <a:buFont typeface="Arial" panose="020B0604020202020204" pitchFamily="34" charset="0"/>
                        <a:buChar char="•"/>
                      </a:pPr>
                      <a:r>
                        <a:rPr lang="fr-FR" sz="1200" noProof="0" dirty="0"/>
                        <a:t>Une Communauté METIER / RÔLE / DE PRATIQUE a pour but de développer un même rôle / d’un même métier / un même ensemble de pratiques (améliorer son impact, le faire reconnaître, mieux l’organiser à une échelle entreprise…).</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Les membres sont souvent des volontaires, exerçant ce métier / rôle / pratique de manière attitrée ou non, ou étant très proches. Il arrive que l’entreprise dédie officiellement quelqu’un (à temps plein ou plus souvent à temps partiel) à l’animation d’une telle Communauté.</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Exemples : Communauté des Chefs de projet, Communauté des acheteurs de l’entreprise, Communauté de la pratique du Lean dans la Logistique, Communauté des Coachs Agiles, Communauté DEVOPS, Communauté de développeurs d’une technologie particulière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t>Opportunités pour approfondir l’apprentissage du rôle / du métier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fr-FR" sz="1200"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fr-FR" sz="1200"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t>Opportunités d’aborder des difficultés rarement comprises en dehors du métier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fr-FR" sz="1200"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t>Point d’entrée centralisé pour s’adresser à toutes les personnes pratiquant un même métier ou rôle dans l’entreprise</a:t>
                      </a:r>
                    </a:p>
                    <a:p>
                      <a:pPr marL="171450" indent="-171450">
                        <a:buFont typeface="Arial" panose="020B0604020202020204" pitchFamily="34" charset="0"/>
                        <a:buChar char="•"/>
                      </a:pPr>
                      <a:endParaRPr lang="fr-FR" sz="1200" noProof="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t>Difficulté à s’ouvrir à des logiques ou des problèmes en dehors du métier commun</a:t>
                      </a:r>
                    </a:p>
                    <a:p>
                      <a:pPr marL="171450" indent="-171450">
                        <a:buFont typeface="Arial" panose="020B0604020202020204" pitchFamily="34" charset="0"/>
                        <a:buChar char="•"/>
                      </a:pPr>
                      <a:endParaRPr lang="fr-FR" sz="1200" noProof="0"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t>Approfondissement ou généralisations qui risque de faire perdre le lien avec les réalités locales et courantes</a:t>
                      </a:r>
                    </a:p>
                    <a:p>
                      <a:pPr marL="171450" indent="-171450">
                        <a:buFont typeface="Arial" panose="020B0604020202020204" pitchFamily="34" charset="0"/>
                        <a:buChar char="•"/>
                      </a:pPr>
                      <a:endParaRPr lang="fr-FR" sz="1200" noProof="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alpha val="50196"/>
                      </a:srgbClr>
                    </a:solidFill>
                  </a:tcPr>
                </a:tc>
                <a:tc>
                  <a:txBody>
                    <a:bodyPr/>
                    <a:lstStyle/>
                    <a:p>
                      <a:pPr marL="171450" indent="-171450">
                        <a:buFont typeface="Arial" panose="020B0604020202020204" pitchFamily="34" charset="0"/>
                        <a:buChar char="•"/>
                      </a:pPr>
                      <a:r>
                        <a:rPr lang="fr-FR" sz="1200" noProof="0" dirty="0"/>
                        <a:t>Le rôle / métier est déjà formalisé (au moins de manière basique dans l’entreprise), ce qui permet de s’y reconnaître ou non, ou de questionner cette formalisation</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dirty="0"/>
                        <a:t>Les membres potentiels se reconnaissent elles mêmes sur ce rôle /  métier</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Les non-membres reconnaissent les membres comme étant du rôle / métier et reconnaissent l’importance de ce rôle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171450" indent="-171450">
                        <a:buFont typeface="Arial" panose="020B0604020202020204" pitchFamily="34" charset="0"/>
                        <a:buChar char="•"/>
                      </a:pPr>
                      <a:r>
                        <a:rPr lang="fr-FR" sz="1200" noProof="0" dirty="0"/>
                        <a:t>Pas de volonté d’amélioration continue du rôle / métier par les membres ou par l’entreprise </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endParaRPr lang="fr-FR" sz="1200" noProof="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08797849"/>
                  </a:ext>
                </a:extLst>
              </a:tr>
            </a:tbl>
          </a:graphicData>
        </a:graphic>
      </p:graphicFrame>
    </p:spTree>
    <p:extLst>
      <p:ext uri="{BB962C8B-B14F-4D97-AF65-F5344CB8AC3E}">
        <p14:creationId xmlns:p14="http://schemas.microsoft.com/office/powerpoint/2010/main" val="1471007993"/>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219200" y="365125"/>
            <a:ext cx="10134600" cy="1325563"/>
          </a:xfrm>
        </p:spPr>
        <p:txBody>
          <a:bodyPr>
            <a:noAutofit/>
          </a:bodyPr>
          <a:lstStyle/>
          <a:p>
            <a:r>
              <a:rPr lang="fr-FR" sz="3200" dirty="0"/>
              <a:t>Les Communautés METIER, DE RÔLE ou de PRATIQUE</a:t>
            </a:r>
          </a:p>
        </p:txBody>
      </p:sp>
      <p:pic>
        <p:nvPicPr>
          <p:cNvPr id="102" name="Graphique 101" descr="Programmatrice avec un remplissage uni">
            <a:extLst>
              <a:ext uri="{FF2B5EF4-FFF2-40B4-BE49-F238E27FC236}">
                <a16:creationId xmlns:a16="http://schemas.microsoft.com/office/drawing/2014/main" id="{CB505D36-1F62-8C06-D80A-F94B019E6AC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58531" y="317236"/>
            <a:ext cx="1167500" cy="1167500"/>
          </a:xfrm>
          <a:prstGeom prst="rect">
            <a:avLst/>
          </a:prstGeom>
        </p:spPr>
      </p:pic>
      <p:graphicFrame>
        <p:nvGraphicFramePr>
          <p:cNvPr id="4" name="Tabella 4">
            <a:extLst>
              <a:ext uri="{FF2B5EF4-FFF2-40B4-BE49-F238E27FC236}">
                <a16:creationId xmlns:a16="http://schemas.microsoft.com/office/drawing/2014/main" id="{F99E6E66-1C1E-245D-7498-37678D6F09F0}"/>
              </a:ext>
            </a:extLst>
          </p:cNvPr>
          <p:cNvGraphicFramePr>
            <a:graphicFrameLocks noGrp="1"/>
          </p:cNvGraphicFramePr>
          <p:nvPr>
            <p:extLst>
              <p:ext uri="{D42A27DB-BD31-4B8C-83A1-F6EECF244321}">
                <p14:modId xmlns:p14="http://schemas.microsoft.com/office/powerpoint/2010/main" val="3143437777"/>
              </p:ext>
            </p:extLst>
          </p:nvPr>
        </p:nvGraphicFramePr>
        <p:xfrm>
          <a:off x="478971" y="1690688"/>
          <a:ext cx="11234060" cy="4937760"/>
        </p:xfrm>
        <a:graphic>
          <a:graphicData uri="http://schemas.openxmlformats.org/drawingml/2006/table">
            <a:tbl>
              <a:tblPr firstRow="1" bandRow="1">
                <a:tableStyleId>{5C22544A-7EE6-4342-B048-85BDC9FD1C3A}</a:tableStyleId>
              </a:tblPr>
              <a:tblGrid>
                <a:gridCol w="2808515">
                  <a:extLst>
                    <a:ext uri="{9D8B030D-6E8A-4147-A177-3AD203B41FA5}">
                      <a16:colId xmlns:a16="http://schemas.microsoft.com/office/drawing/2014/main" val="2457567452"/>
                    </a:ext>
                  </a:extLst>
                </a:gridCol>
                <a:gridCol w="2808515">
                  <a:extLst>
                    <a:ext uri="{9D8B030D-6E8A-4147-A177-3AD203B41FA5}">
                      <a16:colId xmlns:a16="http://schemas.microsoft.com/office/drawing/2014/main" val="890836644"/>
                    </a:ext>
                  </a:extLst>
                </a:gridCol>
                <a:gridCol w="2808515">
                  <a:extLst>
                    <a:ext uri="{9D8B030D-6E8A-4147-A177-3AD203B41FA5}">
                      <a16:colId xmlns:a16="http://schemas.microsoft.com/office/drawing/2014/main" val="4023974718"/>
                    </a:ext>
                  </a:extLst>
                </a:gridCol>
                <a:gridCol w="2808515">
                  <a:extLst>
                    <a:ext uri="{9D8B030D-6E8A-4147-A177-3AD203B41FA5}">
                      <a16:colId xmlns:a16="http://schemas.microsoft.com/office/drawing/2014/main" val="3080461437"/>
                    </a:ext>
                  </a:extLst>
                </a:gridCol>
              </a:tblGrid>
              <a:tr h="1052512">
                <a:tc>
                  <a:txBody>
                    <a:bodyPr/>
                    <a:lstStyle/>
                    <a:p>
                      <a:r>
                        <a:rPr lang="fr-FR" sz="1800" b="1" noProof="0" dirty="0">
                          <a:solidFill>
                            <a:schemeClr val="tx1"/>
                          </a:solidFill>
                        </a:rPr>
                        <a:t>Exemples de 📅Moments,</a:t>
                      </a:r>
                    </a:p>
                    <a:p>
                      <a:r>
                        <a:rPr lang="fr-FR" sz="1800" b="1" noProof="0" dirty="0">
                          <a:solidFill>
                            <a:schemeClr val="tx1"/>
                          </a:solidFill>
                        </a:rPr>
                        <a:t>✍️Contenus </a:t>
                      </a:r>
                    </a:p>
                    <a:p>
                      <a:r>
                        <a:rPr lang="fr-FR" sz="1800" b="1" noProof="0" dirty="0">
                          <a:solidFill>
                            <a:schemeClr val="tx1"/>
                          </a:solidFill>
                        </a:rPr>
                        <a:t>et⚙️points de structuration clés</a:t>
                      </a:r>
                    </a:p>
                  </a:txBody>
                  <a:tcPr>
                    <a:solidFill>
                      <a:schemeClr val="bg1">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noProof="0" dirty="0"/>
                        <a:t>🏢Valeur pour l’entreprise </a:t>
                      </a:r>
                      <a:r>
                        <a:rPr lang="fr-FR" sz="1800" b="1" noProof="0" dirty="0"/>
                        <a:t>(effets positifs attendus, indicateurs type)</a:t>
                      </a:r>
                    </a:p>
                  </a:txBody>
                  <a:tcPr>
                    <a:solidFill>
                      <a:schemeClr val="tx1"/>
                    </a:solidFill>
                  </a:tcPr>
                </a:tc>
                <a:tc>
                  <a:txBody>
                    <a:bodyPr/>
                    <a:lstStyle/>
                    <a:p>
                      <a:r>
                        <a:rPr lang="fr-FR" b="1" noProof="0" dirty="0"/>
                        <a:t>👍Valeur pour les membres </a:t>
                      </a:r>
                      <a:r>
                        <a:rPr lang="fr-FR" sz="1800" b="1" noProof="0" dirty="0"/>
                        <a:t>(effets positifs attendus, indicateurs type,  respirations clés)</a:t>
                      </a:r>
                    </a:p>
                  </a:txBody>
                  <a:tcPr>
                    <a:solidFill>
                      <a:srgbClr val="00B050"/>
                    </a:solidFill>
                  </a:tcPr>
                </a:tc>
                <a:tc>
                  <a:txBody>
                    <a:bodyPr/>
                    <a:lstStyle/>
                    <a:p>
                      <a:r>
                        <a:rPr lang="fr-FR" b="1" noProof="0" dirty="0"/>
                        <a:t>💰⌛🔧Ressources nécessaires au lancement</a:t>
                      </a:r>
                    </a:p>
                    <a:p>
                      <a:r>
                        <a:rPr lang="fr-FR" b="1" noProof="0" dirty="0"/>
                        <a:t>Besoins probables en sponsoring</a:t>
                      </a:r>
                    </a:p>
                  </a:txBody>
                  <a:tcPr>
                    <a:solidFill>
                      <a:schemeClr val="accent1"/>
                    </a:solidFill>
                  </a:tcPr>
                </a:tc>
                <a:extLst>
                  <a:ext uri="{0D108BD9-81ED-4DB2-BD59-A6C34878D82A}">
                    <a16:rowId xmlns:a16="http://schemas.microsoft.com/office/drawing/2014/main" val="532904326"/>
                  </a:ext>
                </a:extLst>
              </a:tr>
              <a:tr h="319929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📅✍️Base de connaissances liées aux compétences ou au métier commun</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📅Ateliers de revue entre pairs de productions ou de travaux, entraide, intervision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📅✍️⚙️Co-définition des bonnes pratiques locales (de l’entreprise) liées au métier</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📅Ateliers d’amélioration continue sur les règles qui régissent le métier</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⚙️Groupement des demandes liées au métier (processus, gouvernance, budget, communication..)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 Evénements ou contenus liés à un thème particulier du métier</a:t>
                      </a:r>
                    </a:p>
                  </a:txBody>
                  <a:tcPr>
                    <a:solidFill>
                      <a:schemeClr val="bg1">
                        <a:lumMod val="85000"/>
                      </a:schemeClr>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solidFill>
                            <a:schemeClr val="tx1"/>
                          </a:solidFill>
                        </a:rPr>
                        <a:t>Développement de compétences des collaborateurs : Moins de formations externes sur des sujets déjà maitrisés en interne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solidFill>
                            <a:schemeClr val="tx1"/>
                          </a:solidFill>
                        </a:rPr>
                        <a:t>Plus de capitalisation et valorisation des savoirs et savoirs faire déjà existants en interne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solidFill>
                            <a:schemeClr val="tx1"/>
                          </a:solidFill>
                        </a:rPr>
                        <a:t>Davantage de formalisation des bonnes pratiques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solidFill>
                            <a:schemeClr val="tx1"/>
                          </a:solidFill>
                        </a:rPr>
                        <a:t>Moins de coût porté en central pour la Qualité et les méthodes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solidFill>
                            <a:schemeClr val="tx1"/>
                          </a:solidFill>
                        </a:rPr>
                        <a:t>Davantage de responsabilisation de chacun sur la capitalisation des connaissances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err="1">
                          <a:solidFill>
                            <a:schemeClr val="tx1"/>
                          </a:solidFill>
                        </a:rPr>
                        <a:t>Onboarding</a:t>
                      </a:r>
                      <a:r>
                        <a:rPr lang="fr-FR" sz="1200" dirty="0">
                          <a:solidFill>
                            <a:schemeClr val="tx1"/>
                          </a:solidFill>
                        </a:rPr>
                        <a:t> opérationnel plus efficace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fr-FR" sz="12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sz="1200" b="1" dirty="0">
                          <a:solidFill>
                            <a:schemeClr val="tx1"/>
                          </a:solidFill>
                        </a:rPr>
                        <a:t>Indicateurs : </a:t>
                      </a: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fr-FR" sz="1200" dirty="0">
                          <a:solidFill>
                            <a:schemeClr val="tx1"/>
                          </a:solidFill>
                        </a:rPr>
                        <a:t>Nombre de pratiques partagées, capitalisées, apprises, appliquées</a:t>
                      </a: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fr-FR" sz="1200" dirty="0">
                          <a:solidFill>
                            <a:schemeClr val="tx1"/>
                          </a:solidFill>
                        </a:rPr>
                        <a:t>Niveau de satisfaction des participants</a:t>
                      </a:r>
                    </a:p>
                  </a:txBody>
                  <a:tcPr>
                    <a:solidFill>
                      <a:schemeClr val="bg1">
                        <a:lumMod val="7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👍Reconnaissance par les pairs (même métier)</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📛Reconnaissance par l’entreprise</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 Opportunités de mobilité professionnelle</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🆘Soutien sur des problématiques du quotidien professionnel</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💡Trucs et astuces pouvant débloquer ou accélérer le travail</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⚖️Accès à des décisions collectives pouvant débloquer ou accélérer le travail</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💻Développement de compétences professionnelles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📢Mise en valeur d’un vécu ou d’expériences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b="1" dirty="0">
                          <a:solidFill>
                            <a:schemeClr val="tx1"/>
                          </a:solidFill>
                        </a:rPr>
                        <a:t>Indicateurs : </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Nombre (déclaratif) de problèmes résolus grâce à la Communauté</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Niveau de satisfaction sur l’apprentissage</a:t>
                      </a:r>
                    </a:p>
                  </a:txBody>
                  <a:tcPr>
                    <a:solidFill>
                      <a:srgbClr val="00B050">
                        <a:alpha val="20000"/>
                      </a:srgbClr>
                    </a:solidFill>
                  </a:tcPr>
                </a:tc>
                <a:tc>
                  <a:txBody>
                    <a:bodyPr/>
                    <a:lstStyle/>
                    <a:p>
                      <a:r>
                        <a:rPr lang="fr-FR" sz="1200" noProof="0" dirty="0"/>
                        <a:t>Liste des membres potentiels dans l’entreprise (personnes pouvant être liées au même rôle ou métier)</a:t>
                      </a:r>
                    </a:p>
                    <a:p>
                      <a:endParaRPr lang="fr-FR" sz="1200" noProof="0" dirty="0"/>
                    </a:p>
                    <a:p>
                      <a:r>
                        <a:rPr lang="fr-FR" sz="1200" noProof="0" dirty="0"/>
                        <a:t>Contenus ou intervenants au sujet du métier / rôle, pouvant éveiller l’intérêt pour les premières sessions</a:t>
                      </a:r>
                    </a:p>
                    <a:p>
                      <a:endParaRPr lang="fr-FR" sz="1200" noProof="0" dirty="0"/>
                    </a:p>
                    <a:p>
                      <a:r>
                        <a:rPr lang="fr-FR" sz="1200" noProof="0" dirty="0"/>
                        <a:t>Sponsor défenseur du temps (auprès des directions auxquelles appartiennent les membres)</a:t>
                      </a:r>
                    </a:p>
                    <a:p>
                      <a:endParaRPr lang="fr-FR" sz="1200" b="1" noProof="0" dirty="0"/>
                    </a:p>
                    <a:p>
                      <a:r>
                        <a:rPr lang="fr-FR" sz="1200" b="1" noProof="0" dirty="0"/>
                        <a:t>Idéalement : </a:t>
                      </a:r>
                    </a:p>
                    <a:p>
                      <a:r>
                        <a:rPr lang="fr-FR" sz="1200" noProof="0" dirty="0"/>
                        <a:t>Sponsor décisionnaire ponctuel, ayant des objectifs forts sur le métier / rôle</a:t>
                      </a:r>
                    </a:p>
                  </a:txBody>
                  <a:tcPr>
                    <a:solidFill>
                      <a:schemeClr val="accent1">
                        <a:lumMod val="40000"/>
                        <a:lumOff val="60000"/>
                        <a:alpha val="20000"/>
                      </a:schemeClr>
                    </a:solidFill>
                  </a:tcPr>
                </a:tc>
                <a:extLst>
                  <a:ext uri="{0D108BD9-81ED-4DB2-BD59-A6C34878D82A}">
                    <a16:rowId xmlns:a16="http://schemas.microsoft.com/office/drawing/2014/main" val="528860404"/>
                  </a:ext>
                </a:extLst>
              </a:tr>
            </a:tbl>
          </a:graphicData>
        </a:graphic>
      </p:graphicFrame>
    </p:spTree>
    <p:extLst>
      <p:ext uri="{BB962C8B-B14F-4D97-AF65-F5344CB8AC3E}">
        <p14:creationId xmlns:p14="http://schemas.microsoft.com/office/powerpoint/2010/main" val="3453890574"/>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295400" y="365125"/>
            <a:ext cx="10058400" cy="1325563"/>
          </a:xfrm>
        </p:spPr>
        <p:txBody>
          <a:bodyPr>
            <a:noAutofit/>
          </a:bodyPr>
          <a:lstStyle/>
          <a:p>
            <a:r>
              <a:rPr lang="fr-FR" sz="3200"/>
              <a:t>Les Communautés THEMATIQUES, d’APPRENTISSAGE ou d’INTERET </a:t>
            </a:r>
          </a:p>
        </p:txBody>
      </p:sp>
      <p:pic>
        <p:nvPicPr>
          <p:cNvPr id="32" name="Graphique 31" descr="Création de récits avec un remplissage uni">
            <a:extLst>
              <a:ext uri="{FF2B5EF4-FFF2-40B4-BE49-F238E27FC236}">
                <a16:creationId xmlns:a16="http://schemas.microsoft.com/office/drawing/2014/main" id="{37DDEA1B-BD2A-A023-E05E-D73EA607518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797" y="365126"/>
            <a:ext cx="997482" cy="997482"/>
          </a:xfrm>
          <a:prstGeom prst="rect">
            <a:avLst/>
          </a:prstGeom>
        </p:spPr>
      </p:pic>
      <p:graphicFrame>
        <p:nvGraphicFramePr>
          <p:cNvPr id="4" name="Tabella 4">
            <a:extLst>
              <a:ext uri="{FF2B5EF4-FFF2-40B4-BE49-F238E27FC236}">
                <a16:creationId xmlns:a16="http://schemas.microsoft.com/office/drawing/2014/main" id="{95BD555D-C6C1-B9C9-F7FA-920EDC7BCB0A}"/>
              </a:ext>
            </a:extLst>
          </p:cNvPr>
          <p:cNvGraphicFramePr>
            <a:graphicFrameLocks noGrp="1"/>
          </p:cNvGraphicFramePr>
          <p:nvPr>
            <p:extLst>
              <p:ext uri="{D42A27DB-BD31-4B8C-83A1-F6EECF244321}">
                <p14:modId xmlns:p14="http://schemas.microsoft.com/office/powerpoint/2010/main" val="272385899"/>
              </p:ext>
            </p:extLst>
          </p:nvPr>
        </p:nvGraphicFramePr>
        <p:xfrm>
          <a:off x="493389" y="1950721"/>
          <a:ext cx="2476147" cy="3756085"/>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r>
                        <a:rPr lang="fr-FR" sz="1200" dirty="0"/>
                        <a:t>Une nouvelle technologie XYZ vient d’émerger, et un certain nombre de collaborateurs s’y intéressent chacun d’abord personnellement. Prenant connaissance de l’existence des uns des autres et du partage d’intérêt, ils décident d’établir une Communauté d’apprentissage autour du thème XYZ.</a:t>
                      </a:r>
                    </a:p>
                    <a:p>
                      <a:endParaRPr lang="fr-FR" sz="1200" dirty="0"/>
                    </a:p>
                    <a:p>
                      <a:r>
                        <a:rPr lang="fr-FR" sz="1200" dirty="0"/>
                        <a:t>Cette technologie n’est pas utilisée dans le quotidien de l’entreprise, et ne le sera pas de si tôt a priori. Cependant, l’entreprise n’empêche pas l’exploration du sujet si cela n’impacte pas les opérations, et que des opportunités peuvent émerger pour elle indirectement.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graphicFrame>
        <p:nvGraphicFramePr>
          <p:cNvPr id="5" name="Tabella 4">
            <a:extLst>
              <a:ext uri="{FF2B5EF4-FFF2-40B4-BE49-F238E27FC236}">
                <a16:creationId xmlns:a16="http://schemas.microsoft.com/office/drawing/2014/main" id="{3B042482-95E7-07F6-EF9D-3D91CA375746}"/>
              </a:ext>
            </a:extLst>
          </p:cNvPr>
          <p:cNvGraphicFramePr>
            <a:graphicFrameLocks noGrp="1"/>
          </p:cNvGraphicFramePr>
          <p:nvPr>
            <p:extLst>
              <p:ext uri="{D42A27DB-BD31-4B8C-83A1-F6EECF244321}">
                <p14:modId xmlns:p14="http://schemas.microsoft.com/office/powerpoint/2010/main" val="1567344521"/>
              </p:ext>
            </p:extLst>
          </p:nvPr>
        </p:nvGraphicFramePr>
        <p:xfrm>
          <a:off x="3336177" y="1950721"/>
          <a:ext cx="2476147" cy="3756085"/>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a:solidFill>
                            <a:schemeClr val="tx1"/>
                          </a:solidFill>
                        </a:rPr>
                        <a:t>Cas exemple 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noProof="0" dirty="0"/>
                        <a:t>Dans un grand groupe industriel, une communauté innovation est montée par des passionnés qui souhaitent partager leurs résultats de veille et discuter de prospectives. </a:t>
                      </a:r>
                    </a:p>
                    <a:p>
                      <a:pPr marL="0" indent="0">
                        <a:buFont typeface="Arial" panose="020B0604020202020204" pitchFamily="34" charset="0"/>
                        <a:buNone/>
                      </a:pPr>
                      <a:endParaRPr lang="fr-FR" sz="1200" noProof="0" dirty="0"/>
                    </a:p>
                    <a:p>
                      <a:pPr marL="0" indent="0">
                        <a:buFont typeface="Arial" panose="020B0604020202020204" pitchFamily="34" charset="0"/>
                        <a:buNone/>
                      </a:pPr>
                      <a:r>
                        <a:rPr lang="fr-FR" sz="1200" noProof="0" dirty="0"/>
                        <a:t>Cette prise d’initiative est accueillie par l’entreprise qui y voit un facteur de motivation (donc de rétention), mais également une source de compétitivité (voire d’attractivité) à terme. L’entreprise accorde un budget de soutien sans non plus permettre un temps officiel dédié à la Communauté innovation, sauf chez certains membres.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graphicFrame>
        <p:nvGraphicFramePr>
          <p:cNvPr id="6" name="Tabella 5">
            <a:extLst>
              <a:ext uri="{FF2B5EF4-FFF2-40B4-BE49-F238E27FC236}">
                <a16:creationId xmlns:a16="http://schemas.microsoft.com/office/drawing/2014/main" id="{3EC32CB9-E969-75F6-0212-C0641800F78F}"/>
              </a:ext>
            </a:extLst>
          </p:cNvPr>
          <p:cNvGraphicFramePr>
            <a:graphicFrameLocks noGrp="1"/>
          </p:cNvGraphicFramePr>
          <p:nvPr>
            <p:extLst>
              <p:ext uri="{D42A27DB-BD31-4B8C-83A1-F6EECF244321}">
                <p14:modId xmlns:p14="http://schemas.microsoft.com/office/powerpoint/2010/main" val="3921922037"/>
              </p:ext>
            </p:extLst>
          </p:nvPr>
        </p:nvGraphicFramePr>
        <p:xfrm>
          <a:off x="6178965" y="1950721"/>
          <a:ext cx="2476147" cy="3756085"/>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3</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dirty="0"/>
                        <a:t>Dans une très grande entreprise, plusieurs personnes sensibles aux questions environnementales ont décidé de se réunir pour constituer une Communauté de sensibilisation, partage et activités autour de ce thème. </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Cette communauté cherche à attirer les personnes les plus motivées et à sensibiliser les autres, sans aucune obligation. L’entreprise y voit un soutien à sa démarche RSE et met à disposition de la communauté des locaux.</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graphicFrame>
        <p:nvGraphicFramePr>
          <p:cNvPr id="7" name="Tabella 6">
            <a:extLst>
              <a:ext uri="{FF2B5EF4-FFF2-40B4-BE49-F238E27FC236}">
                <a16:creationId xmlns:a16="http://schemas.microsoft.com/office/drawing/2014/main" id="{18E2C6A0-7BF6-219F-9E10-3FFFE7A4FD9E}"/>
              </a:ext>
            </a:extLst>
          </p:cNvPr>
          <p:cNvGraphicFramePr>
            <a:graphicFrameLocks noGrp="1"/>
          </p:cNvGraphicFramePr>
          <p:nvPr>
            <p:extLst>
              <p:ext uri="{D42A27DB-BD31-4B8C-83A1-F6EECF244321}">
                <p14:modId xmlns:p14="http://schemas.microsoft.com/office/powerpoint/2010/main" val="808550672"/>
              </p:ext>
            </p:extLst>
          </p:nvPr>
        </p:nvGraphicFramePr>
        <p:xfrm>
          <a:off x="9021753" y="1950721"/>
          <a:ext cx="2476147" cy="3756085"/>
        </p:xfrm>
        <a:graphic>
          <a:graphicData uri="http://schemas.openxmlformats.org/drawingml/2006/table">
            <a:tbl>
              <a:tblPr firstRow="1" bandRow="1">
                <a:tableStyleId>{5C22544A-7EE6-4342-B048-85BDC9FD1C3A}</a:tableStyleId>
              </a:tblPr>
              <a:tblGrid>
                <a:gridCol w="2476147">
                  <a:extLst>
                    <a:ext uri="{9D8B030D-6E8A-4147-A177-3AD203B41FA5}">
                      <a16:colId xmlns:a16="http://schemas.microsoft.com/office/drawing/2014/main" val="368858149"/>
                    </a:ext>
                  </a:extLst>
                </a:gridCol>
              </a:tblGrid>
              <a:tr h="0">
                <a:tc>
                  <a:txBody>
                    <a:bodyPr/>
                    <a:lstStyle/>
                    <a:p>
                      <a:r>
                        <a:rPr lang="fr-FR" noProof="0" dirty="0">
                          <a:solidFill>
                            <a:schemeClr val="tx1"/>
                          </a:solidFill>
                        </a:rPr>
                        <a:t>Cas exemple 4</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3439061"/>
                  </a:ext>
                </a:extLst>
              </a:tr>
              <a:tr h="3390325">
                <a:tc>
                  <a:txBody>
                    <a:bodyPr/>
                    <a:lstStyle/>
                    <a:p>
                      <a:pPr marL="0" indent="0">
                        <a:buFont typeface="Arial" panose="020B0604020202020204" pitchFamily="34" charset="0"/>
                        <a:buNone/>
                      </a:pPr>
                      <a:r>
                        <a:rPr lang="fr-FR" sz="1200" dirty="0"/>
                        <a:t>Les passionnés de golf d’un grand groupe industriel (dont l’activité est sans rapport avec le golf) ont décidé de monter une association interne de golf, avec les passionnés, pratiquants réguliers ou non.</a:t>
                      </a:r>
                    </a:p>
                    <a:p>
                      <a:pPr marL="0" indent="0">
                        <a:buFont typeface="Arial" panose="020B0604020202020204" pitchFamily="34" charset="0"/>
                        <a:buNone/>
                      </a:pPr>
                      <a:endParaRPr lang="fr-FR" sz="1200" dirty="0"/>
                    </a:p>
                    <a:p>
                      <a:pPr marL="0" indent="0">
                        <a:buFont typeface="Arial" panose="020B0604020202020204" pitchFamily="34" charset="0"/>
                        <a:buNone/>
                      </a:pPr>
                      <a:r>
                        <a:rPr lang="fr-FR" sz="1200" dirty="0"/>
                        <a:t>Cette communauté n’a d’activité que sur le temps personnel des collaborateurs membres, et aide les membres à trouver des partenaires de jeu. L’association de golf créé du lien, même si c’est ponctuel et localisé.</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8797849"/>
                  </a:ext>
                </a:extLst>
              </a:tr>
            </a:tbl>
          </a:graphicData>
        </a:graphic>
      </p:graphicFrame>
    </p:spTree>
    <p:extLst>
      <p:ext uri="{BB962C8B-B14F-4D97-AF65-F5344CB8AC3E}">
        <p14:creationId xmlns:p14="http://schemas.microsoft.com/office/powerpoint/2010/main" val="1742805219"/>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295400" y="365125"/>
            <a:ext cx="10058400" cy="1325563"/>
          </a:xfrm>
        </p:spPr>
        <p:txBody>
          <a:bodyPr>
            <a:noAutofit/>
          </a:bodyPr>
          <a:lstStyle/>
          <a:p>
            <a:r>
              <a:rPr lang="fr-FR" sz="3200" dirty="0"/>
              <a:t>Les Communautés THEMATIQUES, d’APPRENTISSAGE ou d’INTERET </a:t>
            </a:r>
          </a:p>
        </p:txBody>
      </p:sp>
      <p:pic>
        <p:nvPicPr>
          <p:cNvPr id="32" name="Graphique 31" descr="Création de récits avec un remplissage uni">
            <a:extLst>
              <a:ext uri="{FF2B5EF4-FFF2-40B4-BE49-F238E27FC236}">
                <a16:creationId xmlns:a16="http://schemas.microsoft.com/office/drawing/2014/main" id="{37DDEA1B-BD2A-A023-E05E-D73EA607518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797" y="365126"/>
            <a:ext cx="997482" cy="997482"/>
          </a:xfrm>
          <a:prstGeom prst="rect">
            <a:avLst/>
          </a:prstGeom>
        </p:spPr>
      </p:pic>
      <p:graphicFrame>
        <p:nvGraphicFramePr>
          <p:cNvPr id="3" name="Tabella 4">
            <a:extLst>
              <a:ext uri="{FF2B5EF4-FFF2-40B4-BE49-F238E27FC236}">
                <a16:creationId xmlns:a16="http://schemas.microsoft.com/office/drawing/2014/main" id="{94A7F069-2904-EE06-6DF9-4188C0D75C7E}"/>
              </a:ext>
            </a:extLst>
          </p:cNvPr>
          <p:cNvGraphicFramePr>
            <a:graphicFrameLocks noGrp="1"/>
          </p:cNvGraphicFramePr>
          <p:nvPr>
            <p:extLst>
              <p:ext uri="{D42A27DB-BD31-4B8C-83A1-F6EECF244321}">
                <p14:modId xmlns:p14="http://schemas.microsoft.com/office/powerpoint/2010/main" val="2628736621"/>
              </p:ext>
            </p:extLst>
          </p:nvPr>
        </p:nvGraphicFramePr>
        <p:xfrm>
          <a:off x="448122" y="1746097"/>
          <a:ext cx="11548194" cy="4663440"/>
        </p:xfrm>
        <a:graphic>
          <a:graphicData uri="http://schemas.openxmlformats.org/drawingml/2006/table">
            <a:tbl>
              <a:tblPr firstRow="1" bandRow="1">
                <a:tableStyleId>{5C22544A-7EE6-4342-B048-85BDC9FD1C3A}</a:tableStyleId>
              </a:tblPr>
              <a:tblGrid>
                <a:gridCol w="3849398">
                  <a:extLst>
                    <a:ext uri="{9D8B030D-6E8A-4147-A177-3AD203B41FA5}">
                      <a16:colId xmlns:a16="http://schemas.microsoft.com/office/drawing/2014/main" val="368858149"/>
                    </a:ext>
                  </a:extLst>
                </a:gridCol>
                <a:gridCol w="1924699">
                  <a:extLst>
                    <a:ext uri="{9D8B030D-6E8A-4147-A177-3AD203B41FA5}">
                      <a16:colId xmlns:a16="http://schemas.microsoft.com/office/drawing/2014/main" val="644195243"/>
                    </a:ext>
                  </a:extLst>
                </a:gridCol>
                <a:gridCol w="1924699">
                  <a:extLst>
                    <a:ext uri="{9D8B030D-6E8A-4147-A177-3AD203B41FA5}">
                      <a16:colId xmlns:a16="http://schemas.microsoft.com/office/drawing/2014/main" val="3557351726"/>
                    </a:ext>
                  </a:extLst>
                </a:gridCol>
                <a:gridCol w="1924699">
                  <a:extLst>
                    <a:ext uri="{9D8B030D-6E8A-4147-A177-3AD203B41FA5}">
                      <a16:colId xmlns:a16="http://schemas.microsoft.com/office/drawing/2014/main" val="198992012"/>
                    </a:ext>
                  </a:extLst>
                </a:gridCol>
                <a:gridCol w="1924699">
                  <a:extLst>
                    <a:ext uri="{9D8B030D-6E8A-4147-A177-3AD203B41FA5}">
                      <a16:colId xmlns:a16="http://schemas.microsoft.com/office/drawing/2014/main" val="2559057885"/>
                    </a:ext>
                  </a:extLst>
                </a:gridCol>
              </a:tblGrid>
              <a:tr h="0">
                <a:tc>
                  <a:txBody>
                    <a:bodyPr/>
                    <a:lstStyle/>
                    <a:p>
                      <a:r>
                        <a:rPr lang="fr-FR" noProof="0" dirty="0">
                          <a:solidFill>
                            <a:schemeClr val="tx1"/>
                          </a:solidFill>
                        </a:rPr>
                        <a:t>Définition et Exemples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r>
                        <a:rPr lang="fr-FR" noProof="0" dirty="0"/>
                        <a:t>Forces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r>
                        <a:rPr lang="fr-FR" noProof="0" dirty="0">
                          <a:solidFill>
                            <a:schemeClr val="tx1"/>
                          </a:solidFill>
                        </a:rPr>
                        <a:t>Faiblesses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r>
                        <a:rPr lang="fr-FR" noProof="0" dirty="0">
                          <a:solidFill>
                            <a:schemeClr val="tx1"/>
                          </a:solidFill>
                        </a:rPr>
                        <a:t>Conditions favorables au lancement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D7D31"/>
                    </a:solidFill>
                  </a:tcPr>
                </a:tc>
                <a:tc>
                  <a:txBody>
                    <a:bodyPr/>
                    <a:lstStyle/>
                    <a:p>
                      <a:r>
                        <a:rPr lang="fr-FR" noProof="0"/>
                        <a:t>Conditions défavorables au lancement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3439061"/>
                  </a:ext>
                </a:extLst>
              </a:tr>
              <a:tr h="3390325">
                <a:tc>
                  <a:txBody>
                    <a:bodyPr/>
                    <a:lstStyle/>
                    <a:p>
                      <a:pPr marL="171450" indent="-171450">
                        <a:buFont typeface="Arial" panose="020B0604020202020204" pitchFamily="34" charset="0"/>
                        <a:buChar char="•"/>
                      </a:pPr>
                      <a:r>
                        <a:rPr lang="fr-FR" sz="1200" dirty="0"/>
                        <a:t>Une communauté thématique, d’apprentissage ou d’intérêt est une communauté établie autour d'un thème considéré comme long terme voire perpétuel, et sans date de fin (contrairement à une communauté PROJET / PROGRAMME / OPERATIONNELLE). Elle est souvent plus large qu’un seul programme ou qu’un seul rôle / métier / pratique.</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Les membres de cette communauté sont souvent des volontaires, intéressés par approfondir leur apprentissage de ce thème ou le développer à l’intérieur (voire à l’extérieur de l’entreprise). La vocation de ces volontaires est souvent d’engager un maximum de collaborateurs dans ce thème.</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Exemple : Communauté Green IT, Communauté sur l’égalité homme femme, Communauté sur la Cybersécurité, Groupe de travail sur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buFont typeface="Arial" panose="020B0604020202020204" pitchFamily="34" charset="0"/>
                        <a:buChar char="•"/>
                      </a:pPr>
                      <a:r>
                        <a:rPr lang="fr-FR" sz="1200" noProof="0" dirty="0"/>
                        <a:t>Un thème est souvent plus large qu’un rôle, et une communauté thématique peut s’ouvrir à plus de personnes</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Une communauté thématique a une structure et une gouvernance plus souvent plus légère, et donne plus de liberté</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171450" indent="-171450">
                        <a:buFont typeface="Arial" panose="020B0604020202020204" pitchFamily="34" charset="0"/>
                        <a:buChar char="•"/>
                      </a:pPr>
                      <a:r>
                        <a:rPr lang="fr-FR" sz="1200" noProof="0" dirty="0"/>
                        <a:t>Sans objectif particulier que l’exploration du thème elle-même, risque de fatigue d’animation sur le long terme (en cas de désintérêt), ou une sensation de stagnation pour les membres</a:t>
                      </a:r>
                    </a:p>
                    <a:p>
                      <a:pPr marL="0" indent="0">
                        <a:buFont typeface="Arial" panose="020B0604020202020204" pitchFamily="34" charset="0"/>
                        <a:buNone/>
                      </a:pPr>
                      <a:endParaRPr lang="fr-FR" sz="1200" noProof="0" dirty="0"/>
                    </a:p>
                    <a:p>
                      <a:pPr marL="171450" indent="-171450">
                        <a:buFont typeface="Arial" panose="020B0604020202020204" pitchFamily="34" charset="0"/>
                        <a:buChar char="•"/>
                      </a:pPr>
                      <a:r>
                        <a:rPr lang="fr-FR" sz="1200" dirty="0"/>
                        <a:t>Difficile de délimiter les frontières du thème, ce qui peut également générer de la dispersion</a:t>
                      </a:r>
                      <a:endParaRPr lang="fr-FR" sz="1200" noProof="0" dirty="0"/>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Une communauté thématique a plus difficilement accès à du budget qu’une communauté rôle ou projet.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alpha val="50196"/>
                      </a:srgbClr>
                    </a:solidFill>
                  </a:tcPr>
                </a:tc>
                <a:tc>
                  <a:txBody>
                    <a:bodyPr/>
                    <a:lstStyle/>
                    <a:p>
                      <a:pPr marL="171450" indent="-171450">
                        <a:buFont typeface="Arial" panose="020B0604020202020204" pitchFamily="34" charset="0"/>
                        <a:buChar char="•"/>
                      </a:pPr>
                      <a:r>
                        <a:rPr lang="fr-FR" sz="1200" dirty="0"/>
                        <a:t>Le thème est suffisamment bien vu de la direction ou du reste de l’entreprise pour ne pas susciter de polémiques ou de craintes</a:t>
                      </a:r>
                    </a:p>
                    <a:p>
                      <a:pPr marL="171450" indent="-171450">
                        <a:buFont typeface="Arial" panose="020B0604020202020204" pitchFamily="34" charset="0"/>
                        <a:buChar char="•"/>
                      </a:pPr>
                      <a:endParaRPr lang="fr-FR" sz="1200" dirty="0"/>
                    </a:p>
                    <a:p>
                      <a:pPr marL="171450" indent="-171450">
                        <a:buFont typeface="Arial" panose="020B0604020202020204" pitchFamily="34" charset="0"/>
                        <a:buChar char="•"/>
                      </a:pPr>
                      <a:r>
                        <a:rPr lang="fr-FR" sz="1200" dirty="0"/>
                        <a:t>Le thème est suffisamment large pour qu’il fasse l’objet d’apprentissages en continue et long terme</a:t>
                      </a:r>
                    </a:p>
                    <a:p>
                      <a:pPr marL="171450" indent="-171450">
                        <a:buFont typeface="Arial" panose="020B0604020202020204" pitchFamily="34" charset="0"/>
                        <a:buChar char="•"/>
                      </a:pPr>
                      <a:endParaRPr lang="fr-FR" sz="1200" dirty="0"/>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endParaRPr lang="fr-FR" sz="1200" noProof="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171450" indent="-171450">
                        <a:buFont typeface="Arial" panose="020B0604020202020204" pitchFamily="34" charset="0"/>
                        <a:buChar char="•"/>
                      </a:pPr>
                      <a:r>
                        <a:rPr lang="fr-FR" sz="1200" dirty="0"/>
                        <a:t>Incompréhension ou différences fortes d'interprétation sur ce qu'est la problématique ou le thème</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dirty="0"/>
                        <a:t>Les non membres s'imaginent que le thème de la Communauté n'a pas vocation à vivre dans le temps et font pression pour « terminer vite le sujet ». </a:t>
                      </a:r>
                    </a:p>
                    <a:p>
                      <a:pPr marL="171450" indent="-171450">
                        <a:buFont typeface="Arial" panose="020B0604020202020204" pitchFamily="34" charset="0"/>
                        <a:buChar char="•"/>
                      </a:pPr>
                      <a:endParaRPr lang="fr-FR" sz="1200" noProof="0" dirty="0"/>
                    </a:p>
                    <a:p>
                      <a:pPr marL="171450" indent="-171450">
                        <a:buFont typeface="Arial" panose="020B0604020202020204" pitchFamily="34" charset="0"/>
                        <a:buChar char="•"/>
                      </a:pPr>
                      <a:r>
                        <a:rPr lang="fr-FR" sz="1200" noProof="0" dirty="0"/>
                        <a:t>Le thème génère des craintes de polémiques dans l’entreprise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08797849"/>
                  </a:ext>
                </a:extLst>
              </a:tr>
            </a:tbl>
          </a:graphicData>
        </a:graphic>
      </p:graphicFrame>
    </p:spTree>
    <p:extLst>
      <p:ext uri="{BB962C8B-B14F-4D97-AF65-F5344CB8AC3E}">
        <p14:creationId xmlns:p14="http://schemas.microsoft.com/office/powerpoint/2010/main" val="4178388691"/>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0876F71-E02C-634A-051C-93553A9D8E26}"/>
              </a:ext>
            </a:extLst>
          </p:cNvPr>
          <p:cNvSpPr>
            <a:spLocks noGrp="1"/>
          </p:cNvSpPr>
          <p:nvPr>
            <p:ph type="title"/>
          </p:nvPr>
        </p:nvSpPr>
        <p:spPr>
          <a:xfrm>
            <a:off x="1295400" y="365125"/>
            <a:ext cx="10058400" cy="1325563"/>
          </a:xfrm>
        </p:spPr>
        <p:txBody>
          <a:bodyPr>
            <a:noAutofit/>
          </a:bodyPr>
          <a:lstStyle/>
          <a:p>
            <a:r>
              <a:rPr lang="fr-FR" sz="3200" dirty="0"/>
              <a:t>Les Communautés THEMATIQUES, d’APPRENTISSAGE ou d’INTERET </a:t>
            </a:r>
          </a:p>
        </p:txBody>
      </p:sp>
      <p:pic>
        <p:nvPicPr>
          <p:cNvPr id="32" name="Graphique 31" descr="Création de récits avec un remplissage uni">
            <a:extLst>
              <a:ext uri="{FF2B5EF4-FFF2-40B4-BE49-F238E27FC236}">
                <a16:creationId xmlns:a16="http://schemas.microsoft.com/office/drawing/2014/main" id="{37DDEA1B-BD2A-A023-E05E-D73EA607518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8797" y="365126"/>
            <a:ext cx="997482" cy="997482"/>
          </a:xfrm>
          <a:prstGeom prst="rect">
            <a:avLst/>
          </a:prstGeom>
        </p:spPr>
      </p:pic>
      <p:graphicFrame>
        <p:nvGraphicFramePr>
          <p:cNvPr id="4" name="Tabella 4">
            <a:extLst>
              <a:ext uri="{FF2B5EF4-FFF2-40B4-BE49-F238E27FC236}">
                <a16:creationId xmlns:a16="http://schemas.microsoft.com/office/drawing/2014/main" id="{4EC8415B-0C11-1618-7170-472A9883D12F}"/>
              </a:ext>
            </a:extLst>
          </p:cNvPr>
          <p:cNvGraphicFramePr>
            <a:graphicFrameLocks noGrp="1"/>
          </p:cNvGraphicFramePr>
          <p:nvPr>
            <p:extLst>
              <p:ext uri="{D42A27DB-BD31-4B8C-83A1-F6EECF244321}">
                <p14:modId xmlns:p14="http://schemas.microsoft.com/office/powerpoint/2010/main" val="3168493098"/>
              </p:ext>
            </p:extLst>
          </p:nvPr>
        </p:nvGraphicFramePr>
        <p:xfrm>
          <a:off x="478970" y="1484797"/>
          <a:ext cx="11234060" cy="5303520"/>
        </p:xfrm>
        <a:graphic>
          <a:graphicData uri="http://schemas.openxmlformats.org/drawingml/2006/table">
            <a:tbl>
              <a:tblPr firstRow="1" bandRow="1">
                <a:tableStyleId>{5C22544A-7EE6-4342-B048-85BDC9FD1C3A}</a:tableStyleId>
              </a:tblPr>
              <a:tblGrid>
                <a:gridCol w="2808515">
                  <a:extLst>
                    <a:ext uri="{9D8B030D-6E8A-4147-A177-3AD203B41FA5}">
                      <a16:colId xmlns:a16="http://schemas.microsoft.com/office/drawing/2014/main" val="2457567452"/>
                    </a:ext>
                  </a:extLst>
                </a:gridCol>
                <a:gridCol w="2598587">
                  <a:extLst>
                    <a:ext uri="{9D8B030D-6E8A-4147-A177-3AD203B41FA5}">
                      <a16:colId xmlns:a16="http://schemas.microsoft.com/office/drawing/2014/main" val="890836644"/>
                    </a:ext>
                  </a:extLst>
                </a:gridCol>
                <a:gridCol w="3018443">
                  <a:extLst>
                    <a:ext uri="{9D8B030D-6E8A-4147-A177-3AD203B41FA5}">
                      <a16:colId xmlns:a16="http://schemas.microsoft.com/office/drawing/2014/main" val="4023974718"/>
                    </a:ext>
                  </a:extLst>
                </a:gridCol>
                <a:gridCol w="2808515">
                  <a:extLst>
                    <a:ext uri="{9D8B030D-6E8A-4147-A177-3AD203B41FA5}">
                      <a16:colId xmlns:a16="http://schemas.microsoft.com/office/drawing/2014/main" val="3080461437"/>
                    </a:ext>
                  </a:extLst>
                </a:gridCol>
              </a:tblGrid>
              <a:tr h="1052512">
                <a:tc>
                  <a:txBody>
                    <a:bodyPr/>
                    <a:lstStyle/>
                    <a:p>
                      <a:r>
                        <a:rPr lang="fr-FR" sz="1800" b="1" noProof="0" dirty="0">
                          <a:solidFill>
                            <a:schemeClr val="tx1"/>
                          </a:solidFill>
                        </a:rPr>
                        <a:t>Exemples de 📅Moments,</a:t>
                      </a:r>
                    </a:p>
                    <a:p>
                      <a:r>
                        <a:rPr lang="fr-FR" sz="1800" b="1" noProof="0" dirty="0">
                          <a:solidFill>
                            <a:schemeClr val="tx1"/>
                          </a:solidFill>
                        </a:rPr>
                        <a:t>✍️Contenus </a:t>
                      </a:r>
                    </a:p>
                    <a:p>
                      <a:r>
                        <a:rPr lang="fr-FR" sz="1800" b="1" noProof="0" dirty="0">
                          <a:solidFill>
                            <a:schemeClr val="tx1"/>
                          </a:solidFill>
                        </a:rPr>
                        <a:t>et⚙️points de structuration clés</a:t>
                      </a:r>
                    </a:p>
                  </a:txBody>
                  <a:tcPr>
                    <a:solidFill>
                      <a:schemeClr val="bg1">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noProof="0" dirty="0"/>
                        <a:t>🏢Valeur pour l’entreprise </a:t>
                      </a:r>
                      <a:r>
                        <a:rPr lang="fr-FR" sz="1800" b="1" noProof="0" dirty="0"/>
                        <a:t>(effets positifs attendus, indicateurs type)</a:t>
                      </a:r>
                    </a:p>
                  </a:txBody>
                  <a:tcPr>
                    <a:solidFill>
                      <a:schemeClr val="tx1"/>
                    </a:solidFill>
                  </a:tcPr>
                </a:tc>
                <a:tc>
                  <a:txBody>
                    <a:bodyPr/>
                    <a:lstStyle/>
                    <a:p>
                      <a:r>
                        <a:rPr lang="fr-FR" b="1" noProof="0" dirty="0"/>
                        <a:t>👍Valeur pour les membres </a:t>
                      </a:r>
                      <a:r>
                        <a:rPr lang="fr-FR" sz="1800" b="1" noProof="0" dirty="0"/>
                        <a:t>(effets positifs attendus, indicateurs type,  respirations clés)</a:t>
                      </a:r>
                    </a:p>
                  </a:txBody>
                  <a:tcPr>
                    <a:solidFill>
                      <a:srgbClr val="00B050"/>
                    </a:solidFill>
                  </a:tcPr>
                </a:tc>
                <a:tc>
                  <a:txBody>
                    <a:bodyPr/>
                    <a:lstStyle/>
                    <a:p>
                      <a:r>
                        <a:rPr lang="fr-FR" b="1" noProof="0" dirty="0"/>
                        <a:t>💰⌛🔧Ressources nécessaires au lancement</a:t>
                      </a:r>
                    </a:p>
                    <a:p>
                      <a:r>
                        <a:rPr lang="fr-FR" b="1" noProof="0" dirty="0"/>
                        <a:t>Besoins probables en sponsoring</a:t>
                      </a:r>
                    </a:p>
                  </a:txBody>
                  <a:tcPr>
                    <a:solidFill>
                      <a:schemeClr val="accent1"/>
                    </a:solidFill>
                  </a:tcPr>
                </a:tc>
                <a:extLst>
                  <a:ext uri="{0D108BD9-81ED-4DB2-BD59-A6C34878D82A}">
                    <a16:rowId xmlns:a16="http://schemas.microsoft.com/office/drawing/2014/main" val="532904326"/>
                  </a:ext>
                </a:extLst>
              </a:tr>
              <a:tr h="3199292">
                <a:tc>
                  <a:txBody>
                    <a:bodyPr/>
                    <a:lstStyle/>
                    <a:p>
                      <a:r>
                        <a:rPr lang="fr-FR" sz="1200" b="1" noProof="0" dirty="0">
                          <a:solidFill>
                            <a:schemeClr val="tx1"/>
                          </a:solidFill>
                        </a:rPr>
                        <a:t>📅</a:t>
                      </a:r>
                      <a:r>
                        <a:rPr lang="fr-FR" sz="1200" b="0" noProof="0" dirty="0">
                          <a:solidFill>
                            <a:schemeClr val="tx1"/>
                          </a:solidFill>
                        </a:rPr>
                        <a:t>M</a:t>
                      </a:r>
                      <a:r>
                        <a:rPr lang="fr-FR" sz="1200" dirty="0" err="1"/>
                        <a:t>eetups</a:t>
                      </a:r>
                      <a:r>
                        <a:rPr lang="fr-FR" sz="1200" dirty="0"/>
                        <a:t>, débats, tables rondes</a:t>
                      </a:r>
                    </a:p>
                    <a:p>
                      <a:r>
                        <a:rPr lang="fr-FR" sz="1200" b="1" noProof="0" dirty="0">
                          <a:solidFill>
                            <a:schemeClr val="tx1"/>
                          </a:solidFill>
                        </a:rPr>
                        <a:t>📅 </a:t>
                      </a:r>
                      <a:r>
                        <a:rPr lang="fr-FR" sz="1200" b="0" noProof="0" dirty="0">
                          <a:solidFill>
                            <a:schemeClr val="tx1"/>
                          </a:solidFill>
                        </a:rPr>
                        <a:t>Interventions extérieures et présentations</a:t>
                      </a:r>
                      <a:r>
                        <a:rPr lang="fr-FR" sz="1200" dirty="0"/>
                        <a:t>, </a:t>
                      </a:r>
                    </a:p>
                    <a:p>
                      <a:r>
                        <a:rPr lang="fr-FR" sz="1200" b="1" noProof="0" dirty="0">
                          <a:solidFill>
                            <a:schemeClr val="tx1"/>
                          </a:solidFill>
                        </a:rPr>
                        <a:t>✍️</a:t>
                      </a:r>
                      <a:r>
                        <a:rPr lang="fr-FR" sz="1200" b="0" noProof="0" dirty="0">
                          <a:solidFill>
                            <a:schemeClr val="tx1"/>
                          </a:solidFill>
                        </a:rPr>
                        <a:t>Partage de </a:t>
                      </a:r>
                      <a:r>
                        <a:rPr lang="fr-FR" sz="1200" dirty="0"/>
                        <a:t>contenus à propos du thème</a:t>
                      </a:r>
                    </a:p>
                    <a:p>
                      <a:r>
                        <a:rPr lang="fr-FR" sz="1200" b="1" noProof="0" dirty="0">
                          <a:solidFill>
                            <a:schemeClr val="tx1"/>
                          </a:solidFill>
                        </a:rPr>
                        <a:t>⚙️</a:t>
                      </a:r>
                      <a:r>
                        <a:rPr lang="fr-FR" sz="1200" noProof="0" dirty="0"/>
                        <a:t>Décisions collectives, mise en place de  pratiques et de normes (dans l’entreprise) à propos du thème</a:t>
                      </a:r>
                      <a:endParaRPr lang="fr-FR" sz="1200" b="0" noProof="0" dirty="0"/>
                    </a:p>
                    <a:p>
                      <a:r>
                        <a:rPr lang="fr-FR" sz="1200" b="0" noProof="0" dirty="0">
                          <a:solidFill>
                            <a:schemeClr val="tx1"/>
                          </a:solidFill>
                        </a:rPr>
                        <a:t>⚙️Projets liés au thème</a:t>
                      </a:r>
                      <a:endParaRPr lang="fr-FR" sz="1200" b="0" noProof="0" dirty="0"/>
                    </a:p>
                  </a:txBody>
                  <a:tcPr>
                    <a:solidFill>
                      <a:schemeClr val="bg1">
                        <a:lumMod val="85000"/>
                      </a:schemeClr>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solidFill>
                            <a:schemeClr val="tx1"/>
                          </a:solidFill>
                        </a:rPr>
                        <a:t>Meilleure expérience collaborateur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solidFill>
                            <a:schemeClr val="tx1"/>
                          </a:solidFill>
                        </a:rPr>
                        <a:t>Meilleure rétention des collaborateurs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solidFill>
                            <a:schemeClr val="tx1"/>
                          </a:solidFill>
                        </a:rPr>
                        <a:t>Davantage d’idées concrétisées via une maturation par les communautés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fr-FR" sz="1200" dirty="0">
                        <a:solidFill>
                          <a:schemeClr val="tx1"/>
                        </a:solidFill>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solidFill>
                            <a:schemeClr val="tx1"/>
                          </a:solidFill>
                        </a:rPr>
                        <a:t>Plus grande variété de parcours de carrières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fr-FR" sz="1200" dirty="0">
                        <a:solidFill>
                          <a:schemeClr val="tx1"/>
                        </a:solidFill>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fr-FR" sz="12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sz="1200" b="1" dirty="0">
                          <a:solidFill>
                            <a:schemeClr val="tx1"/>
                          </a:solidFill>
                        </a:rPr>
                        <a:t>Indicateurs :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solidFill>
                            <a:schemeClr val="tx1"/>
                          </a:solidFill>
                        </a:rPr>
                        <a:t>Nombre de participants à ces communautés et niveau de satisfaction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200" dirty="0">
                          <a:solidFill>
                            <a:schemeClr val="tx1"/>
                          </a:solidFill>
                        </a:rPr>
                        <a:t>Variété des participants (profils, départements de provenance)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fr-FR" sz="12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solidFill>
                          <a:schemeClr val="tx1"/>
                        </a:solidFill>
                      </a:endParaRPr>
                    </a:p>
                    <a:p>
                      <a:endParaRPr lang="fr-FR" sz="1200" noProof="0" dirty="0"/>
                    </a:p>
                  </a:txBody>
                  <a:tcPr>
                    <a:solidFill>
                      <a:schemeClr val="bg1">
                        <a:lumMod val="7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🎆Activités stimulantes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💡Sujets stimulants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👋Nouvelles rencontres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🗩Interactions riches humainement</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🧑‍🤝‍🧑Accès à d’autres formes de relations (ex: collaboration différente, etc.)</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🧠Développement de compétences personnelles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🌍Possibilité de contribuer à certaines causes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🤍Sentiment de contribution</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🎨Accès à des outils et moyens d’expression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b="1" dirty="0">
                          <a:solidFill>
                            <a:schemeClr val="tx1"/>
                          </a:solidFill>
                        </a:rPr>
                        <a:t>Indicateurs </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Impact (déclaratif) de la communauté de motivation générale et sur le niveau de satisfaction vis-à-vis de l’entreprise</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sz="12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b="1" dirty="0">
                          <a:solidFill>
                            <a:schemeClr val="tx1"/>
                          </a:solidFill>
                        </a:rPr>
                        <a:t>Respirations </a:t>
                      </a:r>
                      <a:r>
                        <a:rPr lang="fr-FR" sz="1200" dirty="0">
                          <a:solidFill>
                            <a:schemeClr val="tx1"/>
                          </a:solidFill>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chemeClr val="tx1"/>
                          </a:solidFill>
                        </a:rPr>
                        <a:t>Thèmes différents du quotidien, fréquentations et rapports différents, plus de liberté et de possibilité d’initiatives</a:t>
                      </a:r>
                    </a:p>
                  </a:txBody>
                  <a:tcPr>
                    <a:solidFill>
                      <a:srgbClr val="00B050">
                        <a:alpha val="20000"/>
                      </a:srgbClr>
                    </a:solidFill>
                  </a:tcPr>
                </a:tc>
                <a:tc>
                  <a:txBody>
                    <a:bodyPr/>
                    <a:lstStyle/>
                    <a:p>
                      <a:r>
                        <a:rPr lang="fr-FR" sz="1200" noProof="0" dirty="0"/>
                        <a:t>Outils de communication pour attirer des membres potentiels (outils de production de contenu, listes de diffusion…)</a:t>
                      </a:r>
                    </a:p>
                    <a:p>
                      <a:endParaRPr lang="fr-FR" sz="1200" noProof="0" dirty="0"/>
                    </a:p>
                    <a:p>
                      <a:r>
                        <a:rPr lang="fr-FR" sz="1200" noProof="0" dirty="0"/>
                        <a:t>Liste de relais dans l’entreprise pour faire connaître la communauté</a:t>
                      </a:r>
                    </a:p>
                    <a:p>
                      <a:endParaRPr lang="fr-FR" sz="1200" noProof="0" dirty="0"/>
                    </a:p>
                    <a:p>
                      <a:r>
                        <a:rPr lang="fr-FR" sz="1200" noProof="0" dirty="0"/>
                        <a:t>Petit nombre de membres et idées d’activités de départ</a:t>
                      </a:r>
                    </a:p>
                    <a:p>
                      <a:endParaRPr lang="fr-FR" sz="1200" noProof="0" dirty="0"/>
                    </a:p>
                    <a:p>
                      <a:r>
                        <a:rPr lang="fr-FR" sz="1200" noProof="0" dirty="0"/>
                        <a:t>Disponibilité commune des membres de départ</a:t>
                      </a:r>
                    </a:p>
                    <a:p>
                      <a:endParaRPr lang="fr-FR" sz="1200" noProof="0" dirty="0"/>
                    </a:p>
                    <a:p>
                      <a:r>
                        <a:rPr lang="fr-FR" sz="1200" noProof="0" dirty="0"/>
                        <a:t>Sponsoring :</a:t>
                      </a:r>
                    </a:p>
                    <a:p>
                      <a:r>
                        <a:rPr lang="fr-FR" sz="1200" noProof="0" dirty="0"/>
                        <a:t>Sponsors participant (non nécessaire, mais peut être utile pour légitimer la Communauté)</a:t>
                      </a:r>
                    </a:p>
                  </a:txBody>
                  <a:tcPr>
                    <a:solidFill>
                      <a:schemeClr val="accent1">
                        <a:lumMod val="40000"/>
                        <a:lumOff val="60000"/>
                        <a:alpha val="20000"/>
                      </a:schemeClr>
                    </a:solidFill>
                  </a:tcPr>
                </a:tc>
                <a:extLst>
                  <a:ext uri="{0D108BD9-81ED-4DB2-BD59-A6C34878D82A}">
                    <a16:rowId xmlns:a16="http://schemas.microsoft.com/office/drawing/2014/main" val="528860404"/>
                  </a:ext>
                </a:extLst>
              </a:tr>
            </a:tbl>
          </a:graphicData>
        </a:graphic>
      </p:graphicFrame>
    </p:spTree>
    <p:extLst>
      <p:ext uri="{BB962C8B-B14F-4D97-AF65-F5344CB8AC3E}">
        <p14:creationId xmlns:p14="http://schemas.microsoft.com/office/powerpoint/2010/main" val="2613771637"/>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786AE10-063A-2FFB-64EB-0AE91CE8A887}"/>
              </a:ext>
            </a:extLst>
          </p:cNvPr>
          <p:cNvSpPr>
            <a:spLocks noGrp="1"/>
          </p:cNvSpPr>
          <p:nvPr>
            <p:ph type="title"/>
          </p:nvPr>
        </p:nvSpPr>
        <p:spPr>
          <a:xfrm>
            <a:off x="802004" y="375856"/>
            <a:ext cx="9044866" cy="915779"/>
          </a:xfrm>
          <a:noFill/>
        </p:spPr>
        <p:txBody>
          <a:bodyPr>
            <a:noAutofit/>
          </a:bodyPr>
          <a:lstStyle/>
          <a:p>
            <a:r>
              <a:rPr lang="fr-FR" sz="3600" dirty="0"/>
              <a:t>Les parcours pour arriver au cœur d’Activité</a:t>
            </a:r>
          </a:p>
        </p:txBody>
      </p:sp>
      <p:cxnSp>
        <p:nvCxnSpPr>
          <p:cNvPr id="199" name="Connecteur droit avec flèche 198">
            <a:extLst>
              <a:ext uri="{FF2B5EF4-FFF2-40B4-BE49-F238E27FC236}">
                <a16:creationId xmlns:a16="http://schemas.microsoft.com/office/drawing/2014/main" id="{CB4ED47D-8381-EA5A-39D9-6C2770D26511}"/>
              </a:ext>
            </a:extLst>
          </p:cNvPr>
          <p:cNvCxnSpPr>
            <a:cxnSpLocks/>
          </p:cNvCxnSpPr>
          <p:nvPr/>
        </p:nvCxnSpPr>
        <p:spPr>
          <a:xfrm flipV="1">
            <a:off x="8693143" y="2488902"/>
            <a:ext cx="1344606" cy="10731"/>
          </a:xfrm>
          <a:prstGeom prst="straightConnector1">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202" name="Connecteur droit avec flèche 201">
            <a:extLst>
              <a:ext uri="{FF2B5EF4-FFF2-40B4-BE49-F238E27FC236}">
                <a16:creationId xmlns:a16="http://schemas.microsoft.com/office/drawing/2014/main" id="{F22607BE-6407-94D0-79D9-92144EF9E0AC}"/>
              </a:ext>
            </a:extLst>
          </p:cNvPr>
          <p:cNvCxnSpPr>
            <a:cxnSpLocks/>
          </p:cNvCxnSpPr>
          <p:nvPr/>
        </p:nvCxnSpPr>
        <p:spPr>
          <a:xfrm flipV="1">
            <a:off x="8693143" y="2161853"/>
            <a:ext cx="1344606" cy="1073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4" name="Connecteur droit avec flèche 203">
            <a:extLst>
              <a:ext uri="{FF2B5EF4-FFF2-40B4-BE49-F238E27FC236}">
                <a16:creationId xmlns:a16="http://schemas.microsoft.com/office/drawing/2014/main" id="{EC89855A-CD2F-8096-277C-0A1BB1DEE69B}"/>
              </a:ext>
            </a:extLst>
          </p:cNvPr>
          <p:cNvCxnSpPr>
            <a:cxnSpLocks/>
          </p:cNvCxnSpPr>
          <p:nvPr/>
        </p:nvCxnSpPr>
        <p:spPr>
          <a:xfrm flipV="1">
            <a:off x="8678400" y="2821315"/>
            <a:ext cx="1344606" cy="10731"/>
          </a:xfrm>
          <a:prstGeom prst="straightConnector1">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07" name="Connecteur droit avec flèche 206">
            <a:extLst>
              <a:ext uri="{FF2B5EF4-FFF2-40B4-BE49-F238E27FC236}">
                <a16:creationId xmlns:a16="http://schemas.microsoft.com/office/drawing/2014/main" id="{0CB93498-1A5A-325D-3103-720C668CEED0}"/>
              </a:ext>
            </a:extLst>
          </p:cNvPr>
          <p:cNvCxnSpPr>
            <a:cxnSpLocks/>
          </p:cNvCxnSpPr>
          <p:nvPr/>
        </p:nvCxnSpPr>
        <p:spPr>
          <a:xfrm flipV="1">
            <a:off x="8678400" y="3131359"/>
            <a:ext cx="1344606" cy="10731"/>
          </a:xfrm>
          <a:prstGeom prst="straightConnector1">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pic>
        <p:nvPicPr>
          <p:cNvPr id="235" name="Graphique 234" descr="Bâtiment avec un remplissage uni">
            <a:extLst>
              <a:ext uri="{FF2B5EF4-FFF2-40B4-BE49-F238E27FC236}">
                <a16:creationId xmlns:a16="http://schemas.microsoft.com/office/drawing/2014/main" id="{0368413A-FF39-DFEF-67A4-4EAB9E39A94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362082" y="1930793"/>
            <a:ext cx="316318" cy="316318"/>
          </a:xfrm>
          <a:prstGeom prst="rect">
            <a:avLst/>
          </a:prstGeom>
        </p:spPr>
      </p:pic>
      <p:pic>
        <p:nvPicPr>
          <p:cNvPr id="37" name="Graphique 36" descr="Bécher avec un remplissage uni">
            <a:extLst>
              <a:ext uri="{FF2B5EF4-FFF2-40B4-BE49-F238E27FC236}">
                <a16:creationId xmlns:a16="http://schemas.microsoft.com/office/drawing/2014/main" id="{A7CBEB96-07B4-6F1F-AE85-E7D4D652BA2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336149" y="2613136"/>
            <a:ext cx="342251" cy="342251"/>
          </a:xfrm>
          <a:prstGeom prst="rect">
            <a:avLst/>
          </a:prstGeom>
        </p:spPr>
      </p:pic>
      <p:pic>
        <p:nvPicPr>
          <p:cNvPr id="33" name="Graphique 32" descr="Éclair avec un remplissage uni">
            <a:extLst>
              <a:ext uri="{FF2B5EF4-FFF2-40B4-BE49-F238E27FC236}">
                <a16:creationId xmlns:a16="http://schemas.microsoft.com/office/drawing/2014/main" id="{5B93F02F-35C4-6E5A-3CD0-C0D41723274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342711" y="2286109"/>
            <a:ext cx="382863" cy="382863"/>
          </a:xfrm>
          <a:prstGeom prst="rect">
            <a:avLst/>
          </a:prstGeom>
        </p:spPr>
      </p:pic>
      <p:pic>
        <p:nvPicPr>
          <p:cNvPr id="40" name="Graphique 39" descr="Amélioration continue avec un remplissage uni">
            <a:extLst>
              <a:ext uri="{FF2B5EF4-FFF2-40B4-BE49-F238E27FC236}">
                <a16:creationId xmlns:a16="http://schemas.microsoft.com/office/drawing/2014/main" id="{00703472-97C3-07A4-F4AF-275F7D475B4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226193" y="2916605"/>
            <a:ext cx="419186" cy="419186"/>
          </a:xfrm>
          <a:prstGeom prst="rect">
            <a:avLst/>
          </a:prstGeom>
        </p:spPr>
      </p:pic>
      <p:sp>
        <p:nvSpPr>
          <p:cNvPr id="3" name="ZoneTexte 2">
            <a:extLst>
              <a:ext uri="{FF2B5EF4-FFF2-40B4-BE49-F238E27FC236}">
                <a16:creationId xmlns:a16="http://schemas.microsoft.com/office/drawing/2014/main" id="{D425B75B-3964-A52E-5B4E-5B42ECAF54F8}"/>
              </a:ext>
            </a:extLst>
          </p:cNvPr>
          <p:cNvSpPr txBox="1"/>
          <p:nvPr/>
        </p:nvSpPr>
        <p:spPr>
          <a:xfrm>
            <a:off x="10052492" y="2327786"/>
            <a:ext cx="1646066" cy="246221"/>
          </a:xfrm>
          <a:prstGeom prst="rect">
            <a:avLst/>
          </a:prstGeom>
          <a:noFill/>
        </p:spPr>
        <p:txBody>
          <a:bodyPr wrap="square">
            <a:spAutoFit/>
          </a:bodyPr>
          <a:lstStyle/>
          <a:p>
            <a:r>
              <a:rPr lang="fr-FR" sz="1000" b="1" dirty="0">
                <a:solidFill>
                  <a:srgbClr val="ED7D31"/>
                </a:solidFill>
              </a:rPr>
              <a:t>Parcours express</a:t>
            </a:r>
          </a:p>
        </p:txBody>
      </p:sp>
      <p:sp>
        <p:nvSpPr>
          <p:cNvPr id="34" name="ZoneTexte 33">
            <a:extLst>
              <a:ext uri="{FF2B5EF4-FFF2-40B4-BE49-F238E27FC236}">
                <a16:creationId xmlns:a16="http://schemas.microsoft.com/office/drawing/2014/main" id="{075B46D7-EDC3-019C-2706-7F8E1320FF9C}"/>
              </a:ext>
            </a:extLst>
          </p:cNvPr>
          <p:cNvSpPr txBox="1"/>
          <p:nvPr/>
        </p:nvSpPr>
        <p:spPr>
          <a:xfrm>
            <a:off x="10052492" y="1990006"/>
            <a:ext cx="1869384" cy="246221"/>
          </a:xfrm>
          <a:prstGeom prst="rect">
            <a:avLst/>
          </a:prstGeom>
          <a:noFill/>
        </p:spPr>
        <p:txBody>
          <a:bodyPr wrap="square">
            <a:spAutoFit/>
          </a:bodyPr>
          <a:lstStyle/>
          <a:p>
            <a:r>
              <a:rPr lang="fr-FR" sz="1000" b="1" dirty="0"/>
              <a:t>Parcours de la marche officielle</a:t>
            </a:r>
          </a:p>
        </p:txBody>
      </p:sp>
      <p:sp>
        <p:nvSpPr>
          <p:cNvPr id="36" name="ZoneTexte 35">
            <a:extLst>
              <a:ext uri="{FF2B5EF4-FFF2-40B4-BE49-F238E27FC236}">
                <a16:creationId xmlns:a16="http://schemas.microsoft.com/office/drawing/2014/main" id="{40E4ECA5-0242-421C-722B-97A576175140}"/>
              </a:ext>
            </a:extLst>
          </p:cNvPr>
          <p:cNvSpPr txBox="1"/>
          <p:nvPr/>
        </p:nvSpPr>
        <p:spPr>
          <a:xfrm>
            <a:off x="10052492" y="2706091"/>
            <a:ext cx="1646066" cy="246221"/>
          </a:xfrm>
          <a:prstGeom prst="rect">
            <a:avLst/>
          </a:prstGeom>
          <a:noFill/>
        </p:spPr>
        <p:txBody>
          <a:bodyPr wrap="square">
            <a:spAutoFit/>
          </a:bodyPr>
          <a:lstStyle/>
          <a:p>
            <a:r>
              <a:rPr lang="fr-FR" sz="1000" b="1" dirty="0">
                <a:solidFill>
                  <a:schemeClr val="bg1">
                    <a:lumMod val="65000"/>
                  </a:schemeClr>
                </a:solidFill>
              </a:rPr>
              <a:t>Parcours du test terrain</a:t>
            </a:r>
          </a:p>
        </p:txBody>
      </p:sp>
      <p:sp>
        <p:nvSpPr>
          <p:cNvPr id="38" name="ZoneTexte 37">
            <a:extLst>
              <a:ext uri="{FF2B5EF4-FFF2-40B4-BE49-F238E27FC236}">
                <a16:creationId xmlns:a16="http://schemas.microsoft.com/office/drawing/2014/main" id="{140E578D-CB16-57A9-ED26-A223539BF53E}"/>
              </a:ext>
            </a:extLst>
          </p:cNvPr>
          <p:cNvSpPr txBox="1"/>
          <p:nvPr/>
        </p:nvSpPr>
        <p:spPr>
          <a:xfrm>
            <a:off x="10052492" y="2973631"/>
            <a:ext cx="1404597" cy="246221"/>
          </a:xfrm>
          <a:prstGeom prst="rect">
            <a:avLst/>
          </a:prstGeom>
          <a:noFill/>
        </p:spPr>
        <p:txBody>
          <a:bodyPr wrap="square">
            <a:spAutoFit/>
          </a:bodyPr>
          <a:lstStyle/>
          <a:p>
            <a:r>
              <a:rPr lang="fr-FR" sz="1000" b="1" dirty="0">
                <a:solidFill>
                  <a:srgbClr val="3494BA"/>
                </a:solidFill>
              </a:rPr>
              <a:t>Cycle de vie « Run »</a:t>
            </a:r>
          </a:p>
        </p:txBody>
      </p:sp>
      <p:grpSp>
        <p:nvGrpSpPr>
          <p:cNvPr id="30" name="Groupe 29">
            <a:extLst>
              <a:ext uri="{FF2B5EF4-FFF2-40B4-BE49-F238E27FC236}">
                <a16:creationId xmlns:a16="http://schemas.microsoft.com/office/drawing/2014/main" id="{E921B0F0-D7E0-C251-35C0-DB29F78E9A82}"/>
              </a:ext>
            </a:extLst>
          </p:cNvPr>
          <p:cNvGrpSpPr/>
          <p:nvPr/>
        </p:nvGrpSpPr>
        <p:grpSpPr>
          <a:xfrm>
            <a:off x="4621999" y="3649855"/>
            <a:ext cx="7299877" cy="2832289"/>
            <a:chOff x="75647" y="1765111"/>
            <a:chExt cx="12077382" cy="4685919"/>
          </a:xfrm>
        </p:grpSpPr>
        <p:sp>
          <p:nvSpPr>
            <p:cNvPr id="5" name="ZoneTexte 4">
              <a:extLst>
                <a:ext uri="{FF2B5EF4-FFF2-40B4-BE49-F238E27FC236}">
                  <a16:creationId xmlns:a16="http://schemas.microsoft.com/office/drawing/2014/main" id="{70243741-FE0E-63E1-D84C-A7C7ABA02711}"/>
                </a:ext>
              </a:extLst>
            </p:cNvPr>
            <p:cNvSpPr txBox="1"/>
            <p:nvPr/>
          </p:nvSpPr>
          <p:spPr>
            <a:xfrm>
              <a:off x="75647" y="2767943"/>
              <a:ext cx="1181101" cy="459850"/>
            </a:xfrm>
            <a:prstGeom prst="rect">
              <a:avLst/>
            </a:prstGeom>
            <a:noFill/>
          </p:spPr>
          <p:txBody>
            <a:bodyPr wrap="square">
              <a:spAutoFit/>
            </a:bodyPr>
            <a:lstStyle/>
            <a:p>
              <a:pPr algn="ctr"/>
              <a:r>
                <a:rPr lang="fr-FR" sz="600" dirty="0">
                  <a:solidFill>
                    <a:srgbClr val="ED7D31"/>
                  </a:solidFill>
                </a:rPr>
                <a:t>Renseignement basique</a:t>
              </a:r>
            </a:p>
          </p:txBody>
        </p:sp>
        <p:grpSp>
          <p:nvGrpSpPr>
            <p:cNvPr id="24" name="Groupe 23">
              <a:extLst>
                <a:ext uri="{FF2B5EF4-FFF2-40B4-BE49-F238E27FC236}">
                  <a16:creationId xmlns:a16="http://schemas.microsoft.com/office/drawing/2014/main" id="{CE1EBA9F-3B5D-01A1-B25A-452C35D12269}"/>
                </a:ext>
              </a:extLst>
            </p:cNvPr>
            <p:cNvGrpSpPr/>
            <p:nvPr/>
          </p:nvGrpSpPr>
          <p:grpSpPr>
            <a:xfrm>
              <a:off x="802004" y="1765111"/>
              <a:ext cx="11351025" cy="4685919"/>
              <a:chOff x="802004" y="1765111"/>
              <a:chExt cx="11351025" cy="4685919"/>
            </a:xfrm>
          </p:grpSpPr>
          <p:sp>
            <p:nvSpPr>
              <p:cNvPr id="4" name="Ellipse 3">
                <a:extLst>
                  <a:ext uri="{FF2B5EF4-FFF2-40B4-BE49-F238E27FC236}">
                    <a16:creationId xmlns:a16="http://schemas.microsoft.com/office/drawing/2014/main" id="{992AC0C9-CAAE-DB39-A9F6-4A4AE6F6DA7D}"/>
                  </a:ext>
                </a:extLst>
              </p:cNvPr>
              <p:cNvSpPr/>
              <p:nvPr/>
            </p:nvSpPr>
            <p:spPr>
              <a:xfrm>
                <a:off x="802004" y="3247524"/>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sp>
            <p:nvSpPr>
              <p:cNvPr id="6" name="ZoneTexte 5">
                <a:extLst>
                  <a:ext uri="{FF2B5EF4-FFF2-40B4-BE49-F238E27FC236}">
                    <a16:creationId xmlns:a16="http://schemas.microsoft.com/office/drawing/2014/main" id="{B1AD12BD-B4AB-A317-CE60-DFDC47C6DFFE}"/>
                  </a:ext>
                </a:extLst>
              </p:cNvPr>
              <p:cNvSpPr txBox="1"/>
              <p:nvPr/>
            </p:nvSpPr>
            <p:spPr>
              <a:xfrm>
                <a:off x="1160840" y="2023906"/>
                <a:ext cx="1672045" cy="306567"/>
              </a:xfrm>
              <a:prstGeom prst="rect">
                <a:avLst/>
              </a:prstGeom>
              <a:noFill/>
            </p:spPr>
            <p:txBody>
              <a:bodyPr wrap="square">
                <a:spAutoFit/>
              </a:bodyPr>
              <a:lstStyle/>
              <a:p>
                <a:pPr algn="ctr"/>
                <a:r>
                  <a:rPr lang="fr-FR" sz="600" dirty="0"/>
                  <a:t>Pré-cadrage Communauté</a:t>
                </a:r>
              </a:p>
            </p:txBody>
          </p:sp>
          <p:sp>
            <p:nvSpPr>
              <p:cNvPr id="7" name="Ellipse 6">
                <a:extLst>
                  <a:ext uri="{FF2B5EF4-FFF2-40B4-BE49-F238E27FC236}">
                    <a16:creationId xmlns:a16="http://schemas.microsoft.com/office/drawing/2014/main" id="{C6C4D9BF-709E-3C85-65C0-D259F0458368}"/>
                  </a:ext>
                </a:extLst>
              </p:cNvPr>
              <p:cNvSpPr/>
              <p:nvPr/>
            </p:nvSpPr>
            <p:spPr>
              <a:xfrm>
                <a:off x="1864782" y="2491440"/>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sp>
            <p:nvSpPr>
              <p:cNvPr id="8" name="ZoneTexte 7">
                <a:extLst>
                  <a:ext uri="{FF2B5EF4-FFF2-40B4-BE49-F238E27FC236}">
                    <a16:creationId xmlns:a16="http://schemas.microsoft.com/office/drawing/2014/main" id="{9DA75CFE-8CBA-E6BD-3241-5AFC82B00982}"/>
                  </a:ext>
                </a:extLst>
              </p:cNvPr>
              <p:cNvSpPr txBox="1"/>
              <p:nvPr/>
            </p:nvSpPr>
            <p:spPr>
              <a:xfrm>
                <a:off x="1903700" y="4548777"/>
                <a:ext cx="924606" cy="613134"/>
              </a:xfrm>
              <a:prstGeom prst="rect">
                <a:avLst/>
              </a:prstGeom>
              <a:noFill/>
            </p:spPr>
            <p:txBody>
              <a:bodyPr wrap="square">
                <a:spAutoFit/>
              </a:bodyPr>
              <a:lstStyle/>
              <a:p>
                <a:pPr algn="ctr"/>
                <a:r>
                  <a:rPr lang="fr-FR" sz="600" dirty="0"/>
                  <a:t>Test en approche  individuelle</a:t>
                </a:r>
              </a:p>
            </p:txBody>
          </p:sp>
          <p:sp>
            <p:nvSpPr>
              <p:cNvPr id="9" name="Ellipse 8">
                <a:extLst>
                  <a:ext uri="{FF2B5EF4-FFF2-40B4-BE49-F238E27FC236}">
                    <a16:creationId xmlns:a16="http://schemas.microsoft.com/office/drawing/2014/main" id="{A52D5C3B-1DDB-0554-B80D-EB4D7EF46696}"/>
                  </a:ext>
                </a:extLst>
              </p:cNvPr>
              <p:cNvSpPr/>
              <p:nvPr/>
            </p:nvSpPr>
            <p:spPr>
              <a:xfrm>
                <a:off x="2245992" y="4242982"/>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sp>
            <p:nvSpPr>
              <p:cNvPr id="10" name="ZoneTexte 9">
                <a:extLst>
                  <a:ext uri="{FF2B5EF4-FFF2-40B4-BE49-F238E27FC236}">
                    <a16:creationId xmlns:a16="http://schemas.microsoft.com/office/drawing/2014/main" id="{48A5CBB2-1AB8-0274-9976-E297DDCF2855}"/>
                  </a:ext>
                </a:extLst>
              </p:cNvPr>
              <p:cNvSpPr txBox="1"/>
              <p:nvPr/>
            </p:nvSpPr>
            <p:spPr>
              <a:xfrm>
                <a:off x="3159935" y="4588313"/>
                <a:ext cx="934119" cy="766417"/>
              </a:xfrm>
              <a:prstGeom prst="rect">
                <a:avLst/>
              </a:prstGeom>
              <a:noFill/>
            </p:spPr>
            <p:txBody>
              <a:bodyPr wrap="square">
                <a:spAutoFit/>
              </a:bodyPr>
              <a:lstStyle/>
              <a:p>
                <a:pPr algn="ctr"/>
                <a:r>
                  <a:rPr lang="fr-FR" sz="600" dirty="0"/>
                  <a:t>Test en approche réunion ponctuelle</a:t>
                </a:r>
              </a:p>
            </p:txBody>
          </p:sp>
          <p:sp>
            <p:nvSpPr>
              <p:cNvPr id="11" name="Ellipse 10">
                <a:extLst>
                  <a:ext uri="{FF2B5EF4-FFF2-40B4-BE49-F238E27FC236}">
                    <a16:creationId xmlns:a16="http://schemas.microsoft.com/office/drawing/2014/main" id="{EF8D2AF5-4937-867B-33A7-1DA9750EE909}"/>
                  </a:ext>
                </a:extLst>
              </p:cNvPr>
              <p:cNvSpPr/>
              <p:nvPr/>
            </p:nvSpPr>
            <p:spPr>
              <a:xfrm>
                <a:off x="3454568" y="4242982"/>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sp>
            <p:nvSpPr>
              <p:cNvPr id="12" name="ZoneTexte 11">
                <a:extLst>
                  <a:ext uri="{FF2B5EF4-FFF2-40B4-BE49-F238E27FC236}">
                    <a16:creationId xmlns:a16="http://schemas.microsoft.com/office/drawing/2014/main" id="{CCB8CD5C-AB91-19DC-30DC-0A0B16D384FD}"/>
                  </a:ext>
                </a:extLst>
              </p:cNvPr>
              <p:cNvSpPr txBox="1"/>
              <p:nvPr/>
            </p:nvSpPr>
            <p:spPr>
              <a:xfrm>
                <a:off x="5266326" y="3548297"/>
                <a:ext cx="1275805" cy="459850"/>
              </a:xfrm>
              <a:prstGeom prst="rect">
                <a:avLst/>
              </a:prstGeom>
              <a:noFill/>
            </p:spPr>
            <p:txBody>
              <a:bodyPr wrap="square">
                <a:spAutoFit/>
              </a:bodyPr>
              <a:lstStyle/>
              <a:p>
                <a:pPr algn="ctr"/>
                <a:r>
                  <a:rPr lang="fr-FR" sz="600" dirty="0">
                    <a:solidFill>
                      <a:srgbClr val="ED7D31"/>
                    </a:solidFill>
                  </a:rPr>
                  <a:t>Kick off de communauté</a:t>
                </a:r>
              </a:p>
            </p:txBody>
          </p:sp>
          <p:sp>
            <p:nvSpPr>
              <p:cNvPr id="13" name="Ellipse 12">
                <a:extLst>
                  <a:ext uri="{FF2B5EF4-FFF2-40B4-BE49-F238E27FC236}">
                    <a16:creationId xmlns:a16="http://schemas.microsoft.com/office/drawing/2014/main" id="{1FA919D8-8AFC-8481-80A4-0536BB10817F}"/>
                  </a:ext>
                </a:extLst>
              </p:cNvPr>
              <p:cNvSpPr/>
              <p:nvPr/>
            </p:nvSpPr>
            <p:spPr>
              <a:xfrm>
                <a:off x="5561513"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sp>
            <p:nvSpPr>
              <p:cNvPr id="14" name="ZoneTexte 13">
                <a:extLst>
                  <a:ext uri="{FF2B5EF4-FFF2-40B4-BE49-F238E27FC236}">
                    <a16:creationId xmlns:a16="http://schemas.microsoft.com/office/drawing/2014/main" id="{A925F4F9-A2A2-59A8-BCA8-B99980CDA5B3}"/>
                  </a:ext>
                </a:extLst>
              </p:cNvPr>
              <p:cNvSpPr txBox="1"/>
              <p:nvPr/>
            </p:nvSpPr>
            <p:spPr>
              <a:xfrm>
                <a:off x="8159431" y="2632334"/>
                <a:ext cx="1239693" cy="459850"/>
              </a:xfrm>
              <a:prstGeom prst="rect">
                <a:avLst/>
              </a:prstGeom>
              <a:noFill/>
            </p:spPr>
            <p:txBody>
              <a:bodyPr wrap="square">
                <a:spAutoFit/>
              </a:bodyPr>
              <a:lstStyle/>
              <a:p>
                <a:pPr algn="ctr"/>
                <a:r>
                  <a:rPr lang="fr-FR" sz="600" dirty="0">
                    <a:solidFill>
                      <a:srgbClr val="3494BA"/>
                    </a:solidFill>
                  </a:rPr>
                  <a:t>Mise en commun des ressources</a:t>
                </a:r>
              </a:p>
            </p:txBody>
          </p:sp>
          <p:sp>
            <p:nvSpPr>
              <p:cNvPr id="15" name="Ellipse 14">
                <a:extLst>
                  <a:ext uri="{FF2B5EF4-FFF2-40B4-BE49-F238E27FC236}">
                    <a16:creationId xmlns:a16="http://schemas.microsoft.com/office/drawing/2014/main" id="{A670DDD4-AC0C-7152-9BDA-CAA68F7075BE}"/>
                  </a:ext>
                </a:extLst>
              </p:cNvPr>
              <p:cNvSpPr/>
              <p:nvPr/>
            </p:nvSpPr>
            <p:spPr>
              <a:xfrm>
                <a:off x="8932820" y="3284141"/>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sp>
            <p:nvSpPr>
              <p:cNvPr id="16" name="ZoneTexte 15">
                <a:extLst>
                  <a:ext uri="{FF2B5EF4-FFF2-40B4-BE49-F238E27FC236}">
                    <a16:creationId xmlns:a16="http://schemas.microsoft.com/office/drawing/2014/main" id="{71BE4590-27CA-710C-2088-DC36CA04AFB5}"/>
                  </a:ext>
                </a:extLst>
              </p:cNvPr>
              <p:cNvSpPr txBox="1"/>
              <p:nvPr/>
            </p:nvSpPr>
            <p:spPr>
              <a:xfrm>
                <a:off x="4963838" y="4222496"/>
                <a:ext cx="1275805" cy="459850"/>
              </a:xfrm>
              <a:prstGeom prst="rect">
                <a:avLst/>
              </a:prstGeom>
              <a:noFill/>
            </p:spPr>
            <p:txBody>
              <a:bodyPr wrap="square">
                <a:spAutoFit/>
              </a:bodyPr>
              <a:lstStyle/>
              <a:p>
                <a:pPr algn="ctr"/>
                <a:r>
                  <a:rPr lang="fr-FR" sz="600" dirty="0"/>
                  <a:t>Premiers liens intérieurs</a:t>
                </a:r>
              </a:p>
            </p:txBody>
          </p:sp>
          <p:sp>
            <p:nvSpPr>
              <p:cNvPr id="18" name="ZoneTexte 17">
                <a:extLst>
                  <a:ext uri="{FF2B5EF4-FFF2-40B4-BE49-F238E27FC236}">
                    <a16:creationId xmlns:a16="http://schemas.microsoft.com/office/drawing/2014/main" id="{68468E5F-9EDA-72D4-998D-5D393E59B07D}"/>
                  </a:ext>
                </a:extLst>
              </p:cNvPr>
              <p:cNvSpPr txBox="1"/>
              <p:nvPr/>
            </p:nvSpPr>
            <p:spPr>
              <a:xfrm>
                <a:off x="11061316" y="4961759"/>
                <a:ext cx="1029511" cy="459850"/>
              </a:xfrm>
              <a:prstGeom prst="rect">
                <a:avLst/>
              </a:prstGeom>
              <a:noFill/>
            </p:spPr>
            <p:txBody>
              <a:bodyPr wrap="square">
                <a:spAutoFit/>
              </a:bodyPr>
              <a:lstStyle/>
              <a:p>
                <a:pPr algn="ctr"/>
                <a:r>
                  <a:rPr lang="fr-FR" sz="600" dirty="0">
                    <a:solidFill>
                      <a:srgbClr val="3494BA"/>
                    </a:solidFill>
                  </a:rPr>
                  <a:t>Amélioration continue</a:t>
                </a:r>
              </a:p>
            </p:txBody>
          </p:sp>
          <p:sp>
            <p:nvSpPr>
              <p:cNvPr id="19" name="Ellipse 18">
                <a:extLst>
                  <a:ext uri="{FF2B5EF4-FFF2-40B4-BE49-F238E27FC236}">
                    <a16:creationId xmlns:a16="http://schemas.microsoft.com/office/drawing/2014/main" id="{312FC992-388A-1C52-5705-8198BD7DB27A}"/>
                  </a:ext>
                </a:extLst>
              </p:cNvPr>
              <p:cNvSpPr/>
              <p:nvPr/>
            </p:nvSpPr>
            <p:spPr>
              <a:xfrm>
                <a:off x="8945878" y="5057610"/>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sp>
            <p:nvSpPr>
              <p:cNvPr id="20" name="ZoneTexte 19">
                <a:extLst>
                  <a:ext uri="{FF2B5EF4-FFF2-40B4-BE49-F238E27FC236}">
                    <a16:creationId xmlns:a16="http://schemas.microsoft.com/office/drawing/2014/main" id="{59990270-D6C9-B609-2E0A-04FD1FE788EC}"/>
                  </a:ext>
                </a:extLst>
              </p:cNvPr>
              <p:cNvSpPr txBox="1"/>
              <p:nvPr/>
            </p:nvSpPr>
            <p:spPr>
              <a:xfrm>
                <a:off x="2886588" y="2023906"/>
                <a:ext cx="1360717" cy="459850"/>
              </a:xfrm>
              <a:prstGeom prst="rect">
                <a:avLst/>
              </a:prstGeom>
              <a:noFill/>
            </p:spPr>
            <p:txBody>
              <a:bodyPr wrap="square">
                <a:spAutoFit/>
              </a:bodyPr>
              <a:lstStyle/>
              <a:p>
                <a:pPr algn="ctr"/>
                <a:r>
                  <a:rPr lang="fr-FR" sz="600" dirty="0"/>
                  <a:t>Cadrage tactique de valeur</a:t>
                </a:r>
              </a:p>
            </p:txBody>
          </p:sp>
          <p:sp>
            <p:nvSpPr>
              <p:cNvPr id="21" name="Ellipse 20">
                <a:extLst>
                  <a:ext uri="{FF2B5EF4-FFF2-40B4-BE49-F238E27FC236}">
                    <a16:creationId xmlns:a16="http://schemas.microsoft.com/office/drawing/2014/main" id="{75E8B2B6-E4A6-1DD6-A13E-316EDA1A9A08}"/>
                  </a:ext>
                </a:extLst>
              </p:cNvPr>
              <p:cNvSpPr/>
              <p:nvPr/>
            </p:nvSpPr>
            <p:spPr>
              <a:xfrm>
                <a:off x="3395669" y="2491440"/>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sp>
            <p:nvSpPr>
              <p:cNvPr id="22" name="ZoneTexte 21">
                <a:extLst>
                  <a:ext uri="{FF2B5EF4-FFF2-40B4-BE49-F238E27FC236}">
                    <a16:creationId xmlns:a16="http://schemas.microsoft.com/office/drawing/2014/main" id="{C8FC8314-33E3-31E2-1BBE-05F7EE34E539}"/>
                  </a:ext>
                </a:extLst>
              </p:cNvPr>
              <p:cNvSpPr txBox="1"/>
              <p:nvPr/>
            </p:nvSpPr>
            <p:spPr>
              <a:xfrm>
                <a:off x="4274011" y="1981203"/>
                <a:ext cx="1360717" cy="459850"/>
              </a:xfrm>
              <a:prstGeom prst="rect">
                <a:avLst/>
              </a:prstGeom>
              <a:noFill/>
            </p:spPr>
            <p:txBody>
              <a:bodyPr wrap="square">
                <a:spAutoFit/>
              </a:bodyPr>
              <a:lstStyle/>
              <a:p>
                <a:pPr algn="ctr"/>
                <a:r>
                  <a:rPr lang="fr-FR" sz="600" dirty="0"/>
                  <a:t>Déblocages basiques</a:t>
                </a:r>
              </a:p>
            </p:txBody>
          </p:sp>
          <p:sp>
            <p:nvSpPr>
              <p:cNvPr id="23" name="Ellipse 22">
                <a:extLst>
                  <a:ext uri="{FF2B5EF4-FFF2-40B4-BE49-F238E27FC236}">
                    <a16:creationId xmlns:a16="http://schemas.microsoft.com/office/drawing/2014/main" id="{75DAEB64-62A4-1F54-12CF-0242783E48A8}"/>
                  </a:ext>
                </a:extLst>
              </p:cNvPr>
              <p:cNvSpPr/>
              <p:nvPr/>
            </p:nvSpPr>
            <p:spPr>
              <a:xfrm>
                <a:off x="4698986" y="2491440"/>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sp>
            <p:nvSpPr>
              <p:cNvPr id="25" name="Ellipse 24">
                <a:extLst>
                  <a:ext uri="{FF2B5EF4-FFF2-40B4-BE49-F238E27FC236}">
                    <a16:creationId xmlns:a16="http://schemas.microsoft.com/office/drawing/2014/main" id="{CA35DF88-EAC4-4583-9496-15913E6D8075}"/>
                  </a:ext>
                </a:extLst>
              </p:cNvPr>
              <p:cNvSpPr/>
              <p:nvPr/>
            </p:nvSpPr>
            <p:spPr>
              <a:xfrm>
                <a:off x="10791350" y="5057610"/>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sp>
            <p:nvSpPr>
              <p:cNvPr id="26" name="ZoneTexte 25">
                <a:extLst>
                  <a:ext uri="{FF2B5EF4-FFF2-40B4-BE49-F238E27FC236}">
                    <a16:creationId xmlns:a16="http://schemas.microsoft.com/office/drawing/2014/main" id="{1D7A8479-F4FE-02B0-B3A7-A392BC1FBE91}"/>
                  </a:ext>
                </a:extLst>
              </p:cNvPr>
              <p:cNvSpPr txBox="1"/>
              <p:nvPr/>
            </p:nvSpPr>
            <p:spPr>
              <a:xfrm>
                <a:off x="7702248" y="4958646"/>
                <a:ext cx="1309169" cy="306567"/>
              </a:xfrm>
              <a:prstGeom prst="rect">
                <a:avLst/>
              </a:prstGeom>
              <a:noFill/>
            </p:spPr>
            <p:txBody>
              <a:bodyPr wrap="square">
                <a:spAutoFit/>
              </a:bodyPr>
              <a:lstStyle/>
              <a:p>
                <a:pPr algn="ctr"/>
                <a:r>
                  <a:rPr lang="fr-FR" sz="600" b="1" dirty="0">
                    <a:solidFill>
                      <a:srgbClr val="3494BA"/>
                    </a:solidFill>
                  </a:rPr>
                  <a:t>Autonomisation</a:t>
                </a:r>
              </a:p>
            </p:txBody>
          </p:sp>
          <p:sp>
            <p:nvSpPr>
              <p:cNvPr id="27" name="Ellipse 26">
                <a:extLst>
                  <a:ext uri="{FF2B5EF4-FFF2-40B4-BE49-F238E27FC236}">
                    <a16:creationId xmlns:a16="http://schemas.microsoft.com/office/drawing/2014/main" id="{97FE9FCD-72F7-225C-2DD6-4C81A62159F7}"/>
                  </a:ext>
                </a:extLst>
              </p:cNvPr>
              <p:cNvSpPr/>
              <p:nvPr/>
            </p:nvSpPr>
            <p:spPr>
              <a:xfrm>
                <a:off x="10800269" y="3284141"/>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sp>
            <p:nvSpPr>
              <p:cNvPr id="28" name="ZoneTexte 27">
                <a:extLst>
                  <a:ext uri="{FF2B5EF4-FFF2-40B4-BE49-F238E27FC236}">
                    <a16:creationId xmlns:a16="http://schemas.microsoft.com/office/drawing/2014/main" id="{6C9A10ED-B7E8-81C3-A514-257D3EC70968}"/>
                  </a:ext>
                </a:extLst>
              </p:cNvPr>
              <p:cNvSpPr txBox="1"/>
              <p:nvPr/>
            </p:nvSpPr>
            <p:spPr>
              <a:xfrm>
                <a:off x="11028198" y="3201932"/>
                <a:ext cx="1124831" cy="613134"/>
              </a:xfrm>
              <a:prstGeom prst="rect">
                <a:avLst/>
              </a:prstGeom>
              <a:noFill/>
            </p:spPr>
            <p:txBody>
              <a:bodyPr wrap="square">
                <a:spAutoFit/>
              </a:bodyPr>
              <a:lstStyle/>
              <a:p>
                <a:pPr algn="ctr"/>
                <a:r>
                  <a:rPr lang="fr-FR" sz="600" dirty="0">
                    <a:solidFill>
                      <a:srgbClr val="3494BA"/>
                    </a:solidFill>
                  </a:rPr>
                  <a:t>Renforcement des liens intérieurs</a:t>
                </a:r>
              </a:p>
            </p:txBody>
          </p:sp>
          <p:sp>
            <p:nvSpPr>
              <p:cNvPr id="29" name="Ellipse 28">
                <a:extLst>
                  <a:ext uri="{FF2B5EF4-FFF2-40B4-BE49-F238E27FC236}">
                    <a16:creationId xmlns:a16="http://schemas.microsoft.com/office/drawing/2014/main" id="{D03657F9-E94C-69A8-52E4-E48D5518EF71}"/>
                  </a:ext>
                </a:extLst>
              </p:cNvPr>
              <p:cNvSpPr/>
              <p:nvPr/>
            </p:nvSpPr>
            <p:spPr>
              <a:xfrm>
                <a:off x="9866544" y="2278823"/>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cxnSp>
            <p:nvCxnSpPr>
              <p:cNvPr id="31" name="Connecteur droit avec flèche 30">
                <a:extLst>
                  <a:ext uri="{FF2B5EF4-FFF2-40B4-BE49-F238E27FC236}">
                    <a16:creationId xmlns:a16="http://schemas.microsoft.com/office/drawing/2014/main" id="{7F64240B-201D-9BC0-DC60-C021368924D0}"/>
                  </a:ext>
                </a:extLst>
              </p:cNvPr>
              <p:cNvCxnSpPr>
                <a:stCxn id="4" idx="7"/>
                <a:endCxn id="7" idx="2"/>
              </p:cNvCxnSpPr>
              <p:nvPr/>
            </p:nvCxnSpPr>
            <p:spPr>
              <a:xfrm flipV="1">
                <a:off x="1032434" y="2626423"/>
                <a:ext cx="832348" cy="66063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droit avec flèche 31">
                <a:extLst>
                  <a:ext uri="{FF2B5EF4-FFF2-40B4-BE49-F238E27FC236}">
                    <a16:creationId xmlns:a16="http://schemas.microsoft.com/office/drawing/2014/main" id="{711D992C-4CB8-B96C-B7B2-98D3F2F0E133}"/>
                  </a:ext>
                </a:extLst>
              </p:cNvPr>
              <p:cNvCxnSpPr>
                <a:cxnSpLocks/>
                <a:stCxn id="4" idx="5"/>
                <a:endCxn id="9" idx="2"/>
              </p:cNvCxnSpPr>
              <p:nvPr/>
            </p:nvCxnSpPr>
            <p:spPr>
              <a:xfrm>
                <a:off x="1032434" y="3477954"/>
                <a:ext cx="1213558" cy="900011"/>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droit avec flèche 34">
                <a:extLst>
                  <a:ext uri="{FF2B5EF4-FFF2-40B4-BE49-F238E27FC236}">
                    <a16:creationId xmlns:a16="http://schemas.microsoft.com/office/drawing/2014/main" id="{24172E6B-5E10-7974-CC9A-1792DB15BC8E}"/>
                  </a:ext>
                </a:extLst>
              </p:cNvPr>
              <p:cNvCxnSpPr>
                <a:cxnSpLocks/>
                <a:stCxn id="7" idx="6"/>
                <a:endCxn id="21" idx="2"/>
              </p:cNvCxnSpPr>
              <p:nvPr/>
            </p:nvCxnSpPr>
            <p:spPr>
              <a:xfrm>
                <a:off x="2134748" y="2626423"/>
                <a:ext cx="1260921" cy="0"/>
              </a:xfrm>
              <a:prstGeom prst="straightConnector1">
                <a:avLst/>
              </a:prstGeom>
              <a:ln w="381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Connecteur droit avec flèche 41">
                <a:extLst>
                  <a:ext uri="{FF2B5EF4-FFF2-40B4-BE49-F238E27FC236}">
                    <a16:creationId xmlns:a16="http://schemas.microsoft.com/office/drawing/2014/main" id="{42110F4E-B434-43FB-9E2F-BEA5D59B1CF0}"/>
                  </a:ext>
                </a:extLst>
              </p:cNvPr>
              <p:cNvCxnSpPr>
                <a:cxnSpLocks/>
                <a:stCxn id="9" idx="6"/>
                <a:endCxn id="11" idx="2"/>
              </p:cNvCxnSpPr>
              <p:nvPr/>
            </p:nvCxnSpPr>
            <p:spPr>
              <a:xfrm>
                <a:off x="2515958" y="4377965"/>
                <a:ext cx="938610" cy="0"/>
              </a:xfrm>
              <a:prstGeom prst="straightConnector1">
                <a:avLst/>
              </a:prstGeom>
              <a:ln w="381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8" name="Connecteur droit avec flèche 47">
                <a:extLst>
                  <a:ext uri="{FF2B5EF4-FFF2-40B4-BE49-F238E27FC236}">
                    <a16:creationId xmlns:a16="http://schemas.microsoft.com/office/drawing/2014/main" id="{01B44626-9B9D-E925-F76F-9BC6443A3C4E}"/>
                  </a:ext>
                </a:extLst>
              </p:cNvPr>
              <p:cNvCxnSpPr>
                <a:cxnSpLocks/>
                <a:stCxn id="11" idx="6"/>
                <a:endCxn id="56" idx="2"/>
              </p:cNvCxnSpPr>
              <p:nvPr/>
            </p:nvCxnSpPr>
            <p:spPr>
              <a:xfrm>
                <a:off x="3724534" y="4377965"/>
                <a:ext cx="1052792" cy="0"/>
              </a:xfrm>
              <a:prstGeom prst="straightConnector1">
                <a:avLst/>
              </a:prstGeom>
              <a:ln w="381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5" name="Connecteur droit avec flèche 54">
                <a:extLst>
                  <a:ext uri="{FF2B5EF4-FFF2-40B4-BE49-F238E27FC236}">
                    <a16:creationId xmlns:a16="http://schemas.microsoft.com/office/drawing/2014/main" id="{6E8C5F3E-D856-DD7A-560B-6A4067D42CE4}"/>
                  </a:ext>
                </a:extLst>
              </p:cNvPr>
              <p:cNvCxnSpPr>
                <a:cxnSpLocks/>
                <a:stCxn id="13" idx="0"/>
                <a:endCxn id="23" idx="5"/>
              </p:cNvCxnSpPr>
              <p:nvPr/>
            </p:nvCxnSpPr>
            <p:spPr>
              <a:xfrm flipH="1" flipV="1">
                <a:off x="4929416" y="2721870"/>
                <a:ext cx="767080" cy="489825"/>
              </a:xfrm>
              <a:prstGeom prst="straightConnector1">
                <a:avLst/>
              </a:prstGeom>
              <a:ln w="38100">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Connecteur droit avec flèche 57">
                <a:extLst>
                  <a:ext uri="{FF2B5EF4-FFF2-40B4-BE49-F238E27FC236}">
                    <a16:creationId xmlns:a16="http://schemas.microsoft.com/office/drawing/2014/main" id="{B3049303-0C53-64ED-92CA-A805CB4B517E}"/>
                  </a:ext>
                </a:extLst>
              </p:cNvPr>
              <p:cNvCxnSpPr>
                <a:cxnSpLocks/>
                <a:stCxn id="56" idx="7"/>
                <a:endCxn id="13" idx="3"/>
              </p:cNvCxnSpPr>
              <p:nvPr/>
            </p:nvCxnSpPr>
            <p:spPr>
              <a:xfrm flipV="1">
                <a:off x="5007756" y="3442125"/>
                <a:ext cx="593293" cy="840393"/>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5" name="Connecteur droit avec flèche 64">
                <a:extLst>
                  <a:ext uri="{FF2B5EF4-FFF2-40B4-BE49-F238E27FC236}">
                    <a16:creationId xmlns:a16="http://schemas.microsoft.com/office/drawing/2014/main" id="{CD9CB2E7-51A8-F62C-064B-F4C9D417D7B7}"/>
                  </a:ext>
                </a:extLst>
              </p:cNvPr>
              <p:cNvCxnSpPr>
                <a:cxnSpLocks/>
                <a:stCxn id="21" idx="6"/>
                <a:endCxn id="23" idx="2"/>
              </p:cNvCxnSpPr>
              <p:nvPr/>
            </p:nvCxnSpPr>
            <p:spPr>
              <a:xfrm>
                <a:off x="3665635" y="2626423"/>
                <a:ext cx="1033351" cy="0"/>
              </a:xfrm>
              <a:prstGeom prst="straightConnector1">
                <a:avLst/>
              </a:prstGeom>
              <a:ln w="381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Connecteur droit avec flèche 95">
                <a:extLst>
                  <a:ext uri="{FF2B5EF4-FFF2-40B4-BE49-F238E27FC236}">
                    <a16:creationId xmlns:a16="http://schemas.microsoft.com/office/drawing/2014/main" id="{B2D91C2C-F9DC-E93B-A559-C58B46311A77}"/>
                  </a:ext>
                </a:extLst>
              </p:cNvPr>
              <p:cNvCxnSpPr>
                <a:cxnSpLocks/>
                <a:stCxn id="27" idx="4"/>
                <a:endCxn id="25" idx="0"/>
              </p:cNvCxnSpPr>
              <p:nvPr/>
            </p:nvCxnSpPr>
            <p:spPr>
              <a:xfrm flipH="1">
                <a:off x="10926333" y="3554107"/>
                <a:ext cx="8919" cy="1503503"/>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1" name="Connecteur droit avec flèche 100">
                <a:extLst>
                  <a:ext uri="{FF2B5EF4-FFF2-40B4-BE49-F238E27FC236}">
                    <a16:creationId xmlns:a16="http://schemas.microsoft.com/office/drawing/2014/main" id="{EA1AE84C-BC34-20B3-B4D6-FC74DD4BB674}"/>
                  </a:ext>
                </a:extLst>
              </p:cNvPr>
              <p:cNvCxnSpPr>
                <a:cxnSpLocks/>
                <a:stCxn id="15" idx="6"/>
                <a:endCxn id="27" idx="2"/>
              </p:cNvCxnSpPr>
              <p:nvPr/>
            </p:nvCxnSpPr>
            <p:spPr>
              <a:xfrm>
                <a:off x="9202786" y="3419124"/>
                <a:ext cx="1597483" cy="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4" name="Connecteur droit avec flèche 103">
                <a:extLst>
                  <a:ext uri="{FF2B5EF4-FFF2-40B4-BE49-F238E27FC236}">
                    <a16:creationId xmlns:a16="http://schemas.microsoft.com/office/drawing/2014/main" id="{2189F1EA-BFA6-162D-BDEC-4AA01FCBC463}"/>
                  </a:ext>
                </a:extLst>
              </p:cNvPr>
              <p:cNvCxnSpPr>
                <a:cxnSpLocks/>
                <a:stCxn id="15" idx="4"/>
                <a:endCxn id="19" idx="0"/>
              </p:cNvCxnSpPr>
              <p:nvPr/>
            </p:nvCxnSpPr>
            <p:spPr>
              <a:xfrm>
                <a:off x="9067803" y="3554107"/>
                <a:ext cx="13058" cy="1503503"/>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Connecteur droit avec flèche 110">
                <a:extLst>
                  <a:ext uri="{FF2B5EF4-FFF2-40B4-BE49-F238E27FC236}">
                    <a16:creationId xmlns:a16="http://schemas.microsoft.com/office/drawing/2014/main" id="{6BC056D4-2F3D-32C1-FC45-4CBF4676A639}"/>
                  </a:ext>
                </a:extLst>
              </p:cNvPr>
              <p:cNvCxnSpPr>
                <a:cxnSpLocks/>
                <a:stCxn id="15" idx="7"/>
                <a:endCxn id="29" idx="2"/>
              </p:cNvCxnSpPr>
              <p:nvPr/>
            </p:nvCxnSpPr>
            <p:spPr>
              <a:xfrm flipV="1">
                <a:off x="9163250" y="2413806"/>
                <a:ext cx="703294" cy="909871"/>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ZoneTexte 113">
                <a:extLst>
                  <a:ext uri="{FF2B5EF4-FFF2-40B4-BE49-F238E27FC236}">
                    <a16:creationId xmlns:a16="http://schemas.microsoft.com/office/drawing/2014/main" id="{2BCE24EA-E006-55B4-45A1-70D19FBCC6D0}"/>
                  </a:ext>
                </a:extLst>
              </p:cNvPr>
              <p:cNvSpPr txBox="1"/>
              <p:nvPr/>
            </p:nvSpPr>
            <p:spPr>
              <a:xfrm>
                <a:off x="9327730" y="1765111"/>
                <a:ext cx="1419364" cy="459850"/>
              </a:xfrm>
              <a:prstGeom prst="rect">
                <a:avLst/>
              </a:prstGeom>
              <a:noFill/>
            </p:spPr>
            <p:txBody>
              <a:bodyPr wrap="square">
                <a:spAutoFit/>
              </a:bodyPr>
              <a:lstStyle/>
              <a:p>
                <a:pPr algn="ctr"/>
                <a:r>
                  <a:rPr lang="fr-FR" sz="600" dirty="0">
                    <a:solidFill>
                      <a:srgbClr val="3494BA"/>
                    </a:solidFill>
                  </a:rPr>
                  <a:t>Communication extérieure</a:t>
                </a:r>
              </a:p>
            </p:txBody>
          </p:sp>
          <p:sp>
            <p:nvSpPr>
              <p:cNvPr id="123" name="Ellipse 122">
                <a:extLst>
                  <a:ext uri="{FF2B5EF4-FFF2-40B4-BE49-F238E27FC236}">
                    <a16:creationId xmlns:a16="http://schemas.microsoft.com/office/drawing/2014/main" id="{ED7064E9-95B8-8C4A-B3AD-4323BBBA5335}"/>
                  </a:ext>
                </a:extLst>
              </p:cNvPr>
              <p:cNvSpPr/>
              <p:nvPr/>
            </p:nvSpPr>
            <p:spPr>
              <a:xfrm>
                <a:off x="9897292" y="5976579"/>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cxnSp>
            <p:nvCxnSpPr>
              <p:cNvPr id="127" name="Connecteur droit avec flèche 126">
                <a:extLst>
                  <a:ext uri="{FF2B5EF4-FFF2-40B4-BE49-F238E27FC236}">
                    <a16:creationId xmlns:a16="http://schemas.microsoft.com/office/drawing/2014/main" id="{287F8D90-0C5F-D47F-01C3-8FC0D85C7631}"/>
                  </a:ext>
                </a:extLst>
              </p:cNvPr>
              <p:cNvCxnSpPr>
                <a:cxnSpLocks/>
                <a:stCxn id="123" idx="6"/>
                <a:endCxn id="25" idx="3"/>
              </p:cNvCxnSpPr>
              <p:nvPr/>
            </p:nvCxnSpPr>
            <p:spPr>
              <a:xfrm flipV="1">
                <a:off x="10167258" y="5288040"/>
                <a:ext cx="663628" cy="823522"/>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0" name="Connecteur droit avec flèche 129">
                <a:extLst>
                  <a:ext uri="{FF2B5EF4-FFF2-40B4-BE49-F238E27FC236}">
                    <a16:creationId xmlns:a16="http://schemas.microsoft.com/office/drawing/2014/main" id="{61EEC0D5-717E-9AE5-1AD5-C23628190E87}"/>
                  </a:ext>
                </a:extLst>
              </p:cNvPr>
              <p:cNvCxnSpPr>
                <a:cxnSpLocks/>
                <a:stCxn id="123" idx="2"/>
                <a:endCxn id="19" idx="5"/>
              </p:cNvCxnSpPr>
              <p:nvPr/>
            </p:nvCxnSpPr>
            <p:spPr>
              <a:xfrm flipH="1" flipV="1">
                <a:off x="9176308" y="5288040"/>
                <a:ext cx="720984" cy="823522"/>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6" name="Connecteur droit avec flèche 135">
                <a:extLst>
                  <a:ext uri="{FF2B5EF4-FFF2-40B4-BE49-F238E27FC236}">
                    <a16:creationId xmlns:a16="http://schemas.microsoft.com/office/drawing/2014/main" id="{4744B4D4-49DB-5D97-5A74-D223B0AD3B23}"/>
                  </a:ext>
                </a:extLst>
              </p:cNvPr>
              <p:cNvCxnSpPr>
                <a:cxnSpLocks/>
                <a:stCxn id="27" idx="0"/>
                <a:endCxn id="29" idx="6"/>
              </p:cNvCxnSpPr>
              <p:nvPr/>
            </p:nvCxnSpPr>
            <p:spPr>
              <a:xfrm flipH="1" flipV="1">
                <a:off x="10136510" y="2413806"/>
                <a:ext cx="798742" cy="870335"/>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9" name="Connecteur droit avec flèche 138">
                <a:extLst>
                  <a:ext uri="{FF2B5EF4-FFF2-40B4-BE49-F238E27FC236}">
                    <a16:creationId xmlns:a16="http://schemas.microsoft.com/office/drawing/2014/main" id="{E590C561-A8C0-E851-51A4-7FE646F5EC0F}"/>
                  </a:ext>
                </a:extLst>
              </p:cNvPr>
              <p:cNvCxnSpPr>
                <a:cxnSpLocks/>
                <a:stCxn id="19" idx="6"/>
                <a:endCxn id="25" idx="2"/>
              </p:cNvCxnSpPr>
              <p:nvPr/>
            </p:nvCxnSpPr>
            <p:spPr>
              <a:xfrm>
                <a:off x="9215844" y="5192593"/>
                <a:ext cx="1575506" cy="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2" name="ZoneTexte 141">
                <a:extLst>
                  <a:ext uri="{FF2B5EF4-FFF2-40B4-BE49-F238E27FC236}">
                    <a16:creationId xmlns:a16="http://schemas.microsoft.com/office/drawing/2014/main" id="{E852FE0B-708E-80F2-89D1-3B158050CDD0}"/>
                  </a:ext>
                </a:extLst>
              </p:cNvPr>
              <p:cNvSpPr txBox="1"/>
              <p:nvPr/>
            </p:nvSpPr>
            <p:spPr>
              <a:xfrm>
                <a:off x="10177233" y="5991180"/>
                <a:ext cx="1206822" cy="459850"/>
              </a:xfrm>
              <a:prstGeom prst="rect">
                <a:avLst/>
              </a:prstGeom>
              <a:noFill/>
            </p:spPr>
            <p:txBody>
              <a:bodyPr wrap="square">
                <a:spAutoFit/>
              </a:bodyPr>
              <a:lstStyle/>
              <a:p>
                <a:pPr algn="ctr"/>
                <a:r>
                  <a:rPr lang="fr-FR" sz="600" dirty="0">
                    <a:solidFill>
                      <a:srgbClr val="3494BA"/>
                    </a:solidFill>
                  </a:rPr>
                  <a:t>Restructuration de fond</a:t>
                </a:r>
              </a:p>
            </p:txBody>
          </p:sp>
          <p:cxnSp>
            <p:nvCxnSpPr>
              <p:cNvPr id="143" name="Connecteur droit avec flèche 142">
                <a:extLst>
                  <a:ext uri="{FF2B5EF4-FFF2-40B4-BE49-F238E27FC236}">
                    <a16:creationId xmlns:a16="http://schemas.microsoft.com/office/drawing/2014/main" id="{01079B29-F67C-DB1E-0AD6-B2AE52EAEB1F}"/>
                  </a:ext>
                </a:extLst>
              </p:cNvPr>
              <p:cNvCxnSpPr>
                <a:cxnSpLocks/>
                <a:stCxn id="15" idx="5"/>
                <a:endCxn id="158" idx="2"/>
              </p:cNvCxnSpPr>
              <p:nvPr/>
            </p:nvCxnSpPr>
            <p:spPr>
              <a:xfrm>
                <a:off x="9163250" y="3514571"/>
                <a:ext cx="723062" cy="74257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6" name="Connecteur droit avec flèche 145">
                <a:extLst>
                  <a:ext uri="{FF2B5EF4-FFF2-40B4-BE49-F238E27FC236}">
                    <a16:creationId xmlns:a16="http://schemas.microsoft.com/office/drawing/2014/main" id="{FAD56696-0E58-EB61-C743-347F76493510}"/>
                  </a:ext>
                </a:extLst>
              </p:cNvPr>
              <p:cNvCxnSpPr>
                <a:cxnSpLocks/>
                <a:stCxn id="19" idx="7"/>
                <a:endCxn id="158" idx="3"/>
              </p:cNvCxnSpPr>
              <p:nvPr/>
            </p:nvCxnSpPr>
            <p:spPr>
              <a:xfrm flipV="1">
                <a:off x="9176308" y="4352588"/>
                <a:ext cx="749540" cy="74455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8" name="Ellipse 157">
                <a:extLst>
                  <a:ext uri="{FF2B5EF4-FFF2-40B4-BE49-F238E27FC236}">
                    <a16:creationId xmlns:a16="http://schemas.microsoft.com/office/drawing/2014/main" id="{F606CDF9-4C40-0C4D-6275-168D0960EFCC}"/>
                  </a:ext>
                </a:extLst>
              </p:cNvPr>
              <p:cNvSpPr/>
              <p:nvPr/>
            </p:nvSpPr>
            <p:spPr>
              <a:xfrm>
                <a:off x="9886312" y="4122158"/>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cxnSp>
            <p:nvCxnSpPr>
              <p:cNvPr id="163" name="Connecteur droit avec flèche 162">
                <a:extLst>
                  <a:ext uri="{FF2B5EF4-FFF2-40B4-BE49-F238E27FC236}">
                    <a16:creationId xmlns:a16="http://schemas.microsoft.com/office/drawing/2014/main" id="{763A89F4-78F4-51F8-8F18-E620DF8B80F3}"/>
                  </a:ext>
                </a:extLst>
              </p:cNvPr>
              <p:cNvCxnSpPr>
                <a:cxnSpLocks/>
                <a:stCxn id="27" idx="3"/>
                <a:endCxn id="158" idx="7"/>
              </p:cNvCxnSpPr>
              <p:nvPr/>
            </p:nvCxnSpPr>
            <p:spPr>
              <a:xfrm flipH="1">
                <a:off x="10116742" y="3514571"/>
                <a:ext cx="723063" cy="647123"/>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6" name="Connecteur droit avec flèche 165">
                <a:extLst>
                  <a:ext uri="{FF2B5EF4-FFF2-40B4-BE49-F238E27FC236}">
                    <a16:creationId xmlns:a16="http://schemas.microsoft.com/office/drawing/2014/main" id="{747A3102-45B8-2080-FAF2-7521808A01ED}"/>
                  </a:ext>
                </a:extLst>
              </p:cNvPr>
              <p:cNvCxnSpPr>
                <a:cxnSpLocks/>
                <a:stCxn id="25" idx="1"/>
                <a:endCxn id="158" idx="5"/>
              </p:cNvCxnSpPr>
              <p:nvPr/>
            </p:nvCxnSpPr>
            <p:spPr>
              <a:xfrm flipH="1" flipV="1">
                <a:off x="10116742" y="4352588"/>
                <a:ext cx="714144" cy="74455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1" name="Connecteur droit avec flèche 170">
                <a:extLst>
                  <a:ext uri="{FF2B5EF4-FFF2-40B4-BE49-F238E27FC236}">
                    <a16:creationId xmlns:a16="http://schemas.microsoft.com/office/drawing/2014/main" id="{A2AA62B3-FC83-475E-FFB5-B885944B5E28}"/>
                  </a:ext>
                </a:extLst>
              </p:cNvPr>
              <p:cNvCxnSpPr>
                <a:cxnSpLocks/>
                <a:stCxn id="123" idx="0"/>
                <a:endCxn id="158" idx="4"/>
              </p:cNvCxnSpPr>
              <p:nvPr/>
            </p:nvCxnSpPr>
            <p:spPr>
              <a:xfrm flipH="1" flipV="1">
                <a:off x="10021295" y="4392124"/>
                <a:ext cx="10980" cy="1584455"/>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1" name="Connecteur droit avec flèche 180">
                <a:extLst>
                  <a:ext uri="{FF2B5EF4-FFF2-40B4-BE49-F238E27FC236}">
                    <a16:creationId xmlns:a16="http://schemas.microsoft.com/office/drawing/2014/main" id="{CAD4B615-CA52-F9E4-ACBC-EAA4D766387A}"/>
                  </a:ext>
                </a:extLst>
              </p:cNvPr>
              <p:cNvCxnSpPr>
                <a:cxnSpLocks/>
                <a:stCxn id="29" idx="4"/>
                <a:endCxn id="158" idx="0"/>
              </p:cNvCxnSpPr>
              <p:nvPr/>
            </p:nvCxnSpPr>
            <p:spPr>
              <a:xfrm>
                <a:off x="10001527" y="2548789"/>
                <a:ext cx="19768" cy="1573369"/>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7" name="ZoneTexte 186">
                <a:extLst>
                  <a:ext uri="{FF2B5EF4-FFF2-40B4-BE49-F238E27FC236}">
                    <a16:creationId xmlns:a16="http://schemas.microsoft.com/office/drawing/2014/main" id="{7B7E05E1-3EDD-A6AC-6699-FB72CF33D4ED}"/>
                  </a:ext>
                </a:extLst>
              </p:cNvPr>
              <p:cNvSpPr txBox="1"/>
              <p:nvPr/>
            </p:nvSpPr>
            <p:spPr>
              <a:xfrm>
                <a:off x="9593895" y="4635651"/>
                <a:ext cx="854800" cy="459850"/>
              </a:xfrm>
              <a:prstGeom prst="rect">
                <a:avLst/>
              </a:prstGeom>
              <a:solidFill>
                <a:schemeClr val="bg1"/>
              </a:solidFill>
              <a:ln>
                <a:solidFill>
                  <a:srgbClr val="ED7D31"/>
                </a:solidFill>
              </a:ln>
            </p:spPr>
            <p:txBody>
              <a:bodyPr wrap="square">
                <a:spAutoFit/>
              </a:bodyPr>
              <a:lstStyle/>
              <a:p>
                <a:pPr algn="ctr"/>
                <a:r>
                  <a:rPr lang="fr-FR" sz="600" dirty="0">
                    <a:solidFill>
                      <a:srgbClr val="ED7D31"/>
                    </a:solidFill>
                  </a:rPr>
                  <a:t>Cœur d’activités</a:t>
                </a:r>
              </a:p>
            </p:txBody>
          </p:sp>
          <p:cxnSp>
            <p:nvCxnSpPr>
              <p:cNvPr id="193" name="Connecteur droit avec flèche 192">
                <a:extLst>
                  <a:ext uri="{FF2B5EF4-FFF2-40B4-BE49-F238E27FC236}">
                    <a16:creationId xmlns:a16="http://schemas.microsoft.com/office/drawing/2014/main" id="{4D164131-BFB5-D8C7-0707-D181C6688262}"/>
                  </a:ext>
                </a:extLst>
              </p:cNvPr>
              <p:cNvCxnSpPr>
                <a:cxnSpLocks/>
                <a:stCxn id="4" idx="6"/>
                <a:endCxn id="13" idx="2"/>
              </p:cNvCxnSpPr>
              <p:nvPr/>
            </p:nvCxnSpPr>
            <p:spPr>
              <a:xfrm flipV="1">
                <a:off x="1071970" y="3346678"/>
                <a:ext cx="4489543" cy="35829"/>
              </a:xfrm>
              <a:prstGeom prst="straightConnector1">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196" name="Connecteur droit avec flèche 195">
                <a:extLst>
                  <a:ext uri="{FF2B5EF4-FFF2-40B4-BE49-F238E27FC236}">
                    <a16:creationId xmlns:a16="http://schemas.microsoft.com/office/drawing/2014/main" id="{47AAA74D-0C35-CBFA-42F9-9A71A183A133}"/>
                  </a:ext>
                </a:extLst>
              </p:cNvPr>
              <p:cNvCxnSpPr>
                <a:cxnSpLocks/>
                <a:stCxn id="13" idx="6"/>
                <a:endCxn id="158" idx="2"/>
              </p:cNvCxnSpPr>
              <p:nvPr/>
            </p:nvCxnSpPr>
            <p:spPr>
              <a:xfrm>
                <a:off x="5831479" y="3346678"/>
                <a:ext cx="4054833" cy="910463"/>
              </a:xfrm>
              <a:prstGeom prst="straightConnector1">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220" name="Connecteur droit avec flèche 219">
                <a:extLst>
                  <a:ext uri="{FF2B5EF4-FFF2-40B4-BE49-F238E27FC236}">
                    <a16:creationId xmlns:a16="http://schemas.microsoft.com/office/drawing/2014/main" id="{5C142B00-AB97-CC57-E80D-A46072A5FA1C}"/>
                  </a:ext>
                </a:extLst>
              </p:cNvPr>
              <p:cNvCxnSpPr>
                <a:cxnSpLocks/>
                <a:stCxn id="123" idx="2"/>
                <a:endCxn id="11" idx="6"/>
              </p:cNvCxnSpPr>
              <p:nvPr/>
            </p:nvCxnSpPr>
            <p:spPr>
              <a:xfrm flipH="1" flipV="1">
                <a:off x="3724534" y="4377965"/>
                <a:ext cx="6172758" cy="1733597"/>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30" name="Connecteur : en angle 229">
                <a:extLst>
                  <a:ext uri="{FF2B5EF4-FFF2-40B4-BE49-F238E27FC236}">
                    <a16:creationId xmlns:a16="http://schemas.microsoft.com/office/drawing/2014/main" id="{95BCF8D1-DA59-4BA9-593D-481C2C804C6B}"/>
                  </a:ext>
                </a:extLst>
              </p:cNvPr>
              <p:cNvCxnSpPr>
                <a:stCxn id="123" idx="2"/>
                <a:endCxn id="4" idx="4"/>
              </p:cNvCxnSpPr>
              <p:nvPr/>
            </p:nvCxnSpPr>
            <p:spPr>
              <a:xfrm rot="10800000">
                <a:off x="936988" y="3517490"/>
                <a:ext cx="8960305" cy="2594072"/>
              </a:xfrm>
              <a:prstGeom prst="bentConnector2">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31" name="ZoneTexte 230">
                <a:extLst>
                  <a:ext uri="{FF2B5EF4-FFF2-40B4-BE49-F238E27FC236}">
                    <a16:creationId xmlns:a16="http://schemas.microsoft.com/office/drawing/2014/main" id="{AC28B933-6FE3-D85B-9897-BAF738F0BE4A}"/>
                  </a:ext>
                </a:extLst>
              </p:cNvPr>
              <p:cNvSpPr txBox="1"/>
              <p:nvPr/>
            </p:nvSpPr>
            <p:spPr>
              <a:xfrm>
                <a:off x="3919943" y="6105759"/>
                <a:ext cx="1584960" cy="281019"/>
              </a:xfrm>
              <a:prstGeom prst="rect">
                <a:avLst/>
              </a:prstGeom>
              <a:noFill/>
            </p:spPr>
            <p:txBody>
              <a:bodyPr wrap="square">
                <a:spAutoFit/>
              </a:bodyPr>
              <a:lstStyle/>
              <a:p>
                <a:pPr algn="ctr"/>
                <a:r>
                  <a:rPr lang="fr-FR" sz="500" i="1" dirty="0">
                    <a:solidFill>
                      <a:schemeClr val="bg1">
                        <a:lumMod val="50000"/>
                      </a:schemeClr>
                    </a:solidFill>
                  </a:rPr>
                  <a:t>Retour à la base</a:t>
                </a:r>
              </a:p>
            </p:txBody>
          </p:sp>
          <p:sp>
            <p:nvSpPr>
              <p:cNvPr id="232" name="ZoneTexte 231">
                <a:extLst>
                  <a:ext uri="{FF2B5EF4-FFF2-40B4-BE49-F238E27FC236}">
                    <a16:creationId xmlns:a16="http://schemas.microsoft.com/office/drawing/2014/main" id="{E4487F08-FFB4-A2C0-D3AE-3B5535C4F086}"/>
                  </a:ext>
                </a:extLst>
              </p:cNvPr>
              <p:cNvSpPr txBox="1"/>
              <p:nvPr/>
            </p:nvSpPr>
            <p:spPr>
              <a:xfrm rot="984149">
                <a:off x="5998980" y="5229285"/>
                <a:ext cx="1584960" cy="281019"/>
              </a:xfrm>
              <a:prstGeom prst="rect">
                <a:avLst/>
              </a:prstGeom>
              <a:noFill/>
            </p:spPr>
            <p:txBody>
              <a:bodyPr wrap="square">
                <a:spAutoFit/>
              </a:bodyPr>
              <a:lstStyle/>
              <a:p>
                <a:pPr algn="ctr"/>
                <a:r>
                  <a:rPr lang="fr-FR" sz="500" i="1" dirty="0">
                    <a:solidFill>
                      <a:schemeClr val="bg1">
                        <a:lumMod val="50000"/>
                      </a:schemeClr>
                    </a:solidFill>
                  </a:rPr>
                  <a:t>Allègement</a:t>
                </a:r>
              </a:p>
            </p:txBody>
          </p:sp>
          <p:sp>
            <p:nvSpPr>
              <p:cNvPr id="56" name="Ellipse 55">
                <a:extLst>
                  <a:ext uri="{FF2B5EF4-FFF2-40B4-BE49-F238E27FC236}">
                    <a16:creationId xmlns:a16="http://schemas.microsoft.com/office/drawing/2014/main" id="{2519B0F8-84C7-167B-C285-27373C346370}"/>
                  </a:ext>
                </a:extLst>
              </p:cNvPr>
              <p:cNvSpPr/>
              <p:nvPr/>
            </p:nvSpPr>
            <p:spPr>
              <a:xfrm>
                <a:off x="4777326" y="4242982"/>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600"/>
              </a:p>
            </p:txBody>
          </p:sp>
          <p:pic>
            <p:nvPicPr>
              <p:cNvPr id="17" name="Graphique 16" descr="Cœur avec un remplissage uni">
                <a:extLst>
                  <a:ext uri="{FF2B5EF4-FFF2-40B4-BE49-F238E27FC236}">
                    <a16:creationId xmlns:a16="http://schemas.microsoft.com/office/drawing/2014/main" id="{2BFD1986-C7FF-BFF0-F053-752BF17D810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941211" y="4175730"/>
                <a:ext cx="162821" cy="162821"/>
              </a:xfrm>
              <a:prstGeom prst="rect">
                <a:avLst/>
              </a:prstGeom>
            </p:spPr>
          </p:pic>
        </p:grpSp>
      </p:grpSp>
      <p:sp>
        <p:nvSpPr>
          <p:cNvPr id="39" name="Espace réservé du contenu 2">
            <a:extLst>
              <a:ext uri="{FF2B5EF4-FFF2-40B4-BE49-F238E27FC236}">
                <a16:creationId xmlns:a16="http://schemas.microsoft.com/office/drawing/2014/main" id="{F452FA3B-2E0B-1C78-34D9-6DC875624D5E}"/>
              </a:ext>
            </a:extLst>
          </p:cNvPr>
          <p:cNvSpPr>
            <a:spLocks noGrp="1"/>
          </p:cNvSpPr>
          <p:nvPr>
            <p:ph idx="1"/>
          </p:nvPr>
        </p:nvSpPr>
        <p:spPr>
          <a:xfrm>
            <a:off x="1027901" y="1743605"/>
            <a:ext cx="3408543" cy="4460594"/>
          </a:xfrm>
          <a:solidFill>
            <a:schemeClr val="bg1">
              <a:lumMod val="95000"/>
            </a:schemeClr>
          </a:solidFill>
        </p:spPr>
        <p:txBody>
          <a:bodyPr>
            <a:normAutofit/>
          </a:bodyPr>
          <a:lstStyle/>
          <a:p>
            <a:pPr marL="0" indent="0" algn="just">
              <a:buNone/>
            </a:pPr>
            <a:r>
              <a:rPr lang="fr-FR" sz="1400" dirty="0"/>
              <a:t>Si les communautés se distinguent par leur type et leurs cœurs d’activités, leur lancement dans un contexte d’entreprise présentent toutefois des points communs.</a:t>
            </a:r>
          </a:p>
          <a:p>
            <a:pPr marL="0" indent="0" algn="just">
              <a:buNone/>
            </a:pPr>
            <a:r>
              <a:rPr lang="fr-FR" sz="1400" dirty="0"/>
              <a:t>Selon si la Communauté visée veut se lancer très directement, ou bien prendre le temps de bien s’intégrer  à l’écosystème de l’entreprise, ou bien effectuer différents tests, les chemins opérationnels seront différents.</a:t>
            </a:r>
          </a:p>
          <a:p>
            <a:pPr marL="0" indent="0" algn="just">
              <a:buNone/>
            </a:pPr>
            <a:r>
              <a:rPr lang="fr-FR" sz="1400" dirty="0"/>
              <a:t>On peut alors parler de « parcours de lancement », qui précèdent un cycle « Run » d’activités régulières de communauté.</a:t>
            </a:r>
          </a:p>
          <a:p>
            <a:pPr marL="0" indent="0" algn="just">
              <a:buNone/>
            </a:pPr>
            <a:r>
              <a:rPr lang="fr-FR" sz="1400" dirty="0"/>
              <a:t>Cette section se dédie à poser plus en détail différentes étapes de parcours de lancement, afin d’aider à trouver des idées, et effectuer les actions dans un ordre qui facilitera l’animation de la Communauté.</a:t>
            </a:r>
          </a:p>
        </p:txBody>
      </p:sp>
    </p:spTree>
    <p:extLst>
      <p:ext uri="{BB962C8B-B14F-4D97-AF65-F5344CB8AC3E}">
        <p14:creationId xmlns:p14="http://schemas.microsoft.com/office/powerpoint/2010/main" val="2688509949"/>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68AF32E-DDF0-43B8-236A-27B2288EBC7D}"/>
              </a:ext>
            </a:extLst>
          </p:cNvPr>
          <p:cNvSpPr>
            <a:spLocks noGrp="1"/>
          </p:cNvSpPr>
          <p:nvPr>
            <p:ph type="title"/>
          </p:nvPr>
        </p:nvSpPr>
        <p:spPr/>
        <p:txBody>
          <a:bodyPr/>
          <a:lstStyle/>
          <a:p>
            <a:r>
              <a:rPr lang="fr-FR" dirty="0"/>
              <a:t>Qu’est-ce que les parcours? </a:t>
            </a:r>
          </a:p>
        </p:txBody>
      </p:sp>
      <p:sp>
        <p:nvSpPr>
          <p:cNvPr id="3" name="Espace réservé du contenu 2">
            <a:extLst>
              <a:ext uri="{FF2B5EF4-FFF2-40B4-BE49-F238E27FC236}">
                <a16:creationId xmlns:a16="http://schemas.microsoft.com/office/drawing/2014/main" id="{77EADB88-C64B-A2B8-3F8E-878148A5A7AA}"/>
              </a:ext>
            </a:extLst>
          </p:cNvPr>
          <p:cNvSpPr>
            <a:spLocks noGrp="1"/>
          </p:cNvSpPr>
          <p:nvPr>
            <p:ph idx="1"/>
          </p:nvPr>
        </p:nvSpPr>
        <p:spPr>
          <a:xfrm>
            <a:off x="618310" y="3571808"/>
            <a:ext cx="2447107" cy="2045222"/>
          </a:xfrm>
          <a:solidFill>
            <a:schemeClr val="bg1">
              <a:lumMod val="95000"/>
            </a:schemeClr>
          </a:solidFill>
        </p:spPr>
        <p:txBody>
          <a:bodyPr>
            <a:normAutofit fontScale="92500" lnSpcReduction="10000"/>
          </a:bodyPr>
          <a:lstStyle/>
          <a:p>
            <a:pPr marL="0" indent="0" algn="just">
              <a:buNone/>
            </a:pPr>
            <a:r>
              <a:rPr lang="fr-FR" sz="1800" dirty="0"/>
              <a:t>Les parcours proposés correspondent à une </a:t>
            </a:r>
            <a:r>
              <a:rPr lang="fr-FR" sz="1800" b="1" dirty="0"/>
              <a:t>suite de grandes étapes </a:t>
            </a:r>
            <a:r>
              <a:rPr lang="fr-FR" sz="1800" dirty="0"/>
              <a:t>à travers lesquelles les communautés passent pour se lancer et traverser les différentes étapes de leur cycle de vie.</a:t>
            </a:r>
          </a:p>
        </p:txBody>
      </p:sp>
      <p:cxnSp>
        <p:nvCxnSpPr>
          <p:cNvPr id="6" name="Connecteur droit avec flèche 5">
            <a:extLst>
              <a:ext uri="{FF2B5EF4-FFF2-40B4-BE49-F238E27FC236}">
                <a16:creationId xmlns:a16="http://schemas.microsoft.com/office/drawing/2014/main" id="{9B743577-51B5-E60F-A413-603FAC54914F}"/>
              </a:ext>
            </a:extLst>
          </p:cNvPr>
          <p:cNvCxnSpPr>
            <a:cxnSpLocks/>
            <a:stCxn id="16" idx="6"/>
            <a:endCxn id="17" idx="2"/>
          </p:cNvCxnSpPr>
          <p:nvPr/>
        </p:nvCxnSpPr>
        <p:spPr>
          <a:xfrm>
            <a:off x="1079956" y="2332793"/>
            <a:ext cx="1435236" cy="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 name="ZoneTexte 6">
            <a:extLst>
              <a:ext uri="{FF2B5EF4-FFF2-40B4-BE49-F238E27FC236}">
                <a16:creationId xmlns:a16="http://schemas.microsoft.com/office/drawing/2014/main" id="{219D363C-12D6-3D45-7B4B-5E24113D21BD}"/>
              </a:ext>
            </a:extLst>
          </p:cNvPr>
          <p:cNvSpPr txBox="1"/>
          <p:nvPr/>
        </p:nvSpPr>
        <p:spPr>
          <a:xfrm>
            <a:off x="332109" y="2617845"/>
            <a:ext cx="1225728" cy="307777"/>
          </a:xfrm>
          <a:prstGeom prst="rect">
            <a:avLst/>
          </a:prstGeom>
          <a:noFill/>
        </p:spPr>
        <p:txBody>
          <a:bodyPr wrap="square">
            <a:spAutoFit/>
          </a:bodyPr>
          <a:lstStyle/>
          <a:p>
            <a:pPr algn="ctr"/>
            <a:r>
              <a:rPr lang="fr-FR" sz="1400" b="1" dirty="0"/>
              <a:t>Etape A </a:t>
            </a:r>
          </a:p>
        </p:txBody>
      </p:sp>
      <p:sp>
        <p:nvSpPr>
          <p:cNvPr id="16" name="Ellipse 15">
            <a:extLst>
              <a:ext uri="{FF2B5EF4-FFF2-40B4-BE49-F238E27FC236}">
                <a16:creationId xmlns:a16="http://schemas.microsoft.com/office/drawing/2014/main" id="{4CC5B509-20AA-A2CA-50D8-47364FA434B4}"/>
              </a:ext>
            </a:extLst>
          </p:cNvPr>
          <p:cNvSpPr/>
          <p:nvPr/>
        </p:nvSpPr>
        <p:spPr>
          <a:xfrm>
            <a:off x="809990" y="2197810"/>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7" name="Ellipse 16">
            <a:extLst>
              <a:ext uri="{FF2B5EF4-FFF2-40B4-BE49-F238E27FC236}">
                <a16:creationId xmlns:a16="http://schemas.microsoft.com/office/drawing/2014/main" id="{43984299-1A19-245D-6E5E-9BBAD6CEB14A}"/>
              </a:ext>
            </a:extLst>
          </p:cNvPr>
          <p:cNvSpPr/>
          <p:nvPr/>
        </p:nvSpPr>
        <p:spPr>
          <a:xfrm>
            <a:off x="2515192" y="2197810"/>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7" name="ZoneTexte 26">
            <a:extLst>
              <a:ext uri="{FF2B5EF4-FFF2-40B4-BE49-F238E27FC236}">
                <a16:creationId xmlns:a16="http://schemas.microsoft.com/office/drawing/2014/main" id="{98A7CE4C-288C-ACB9-0BD0-D69C27D1C62A}"/>
              </a:ext>
            </a:extLst>
          </p:cNvPr>
          <p:cNvSpPr txBox="1"/>
          <p:nvPr/>
        </p:nvSpPr>
        <p:spPr>
          <a:xfrm>
            <a:off x="2037311" y="2605511"/>
            <a:ext cx="1225728" cy="307777"/>
          </a:xfrm>
          <a:prstGeom prst="rect">
            <a:avLst/>
          </a:prstGeom>
          <a:noFill/>
        </p:spPr>
        <p:txBody>
          <a:bodyPr wrap="square">
            <a:spAutoFit/>
          </a:bodyPr>
          <a:lstStyle/>
          <a:p>
            <a:pPr algn="ctr"/>
            <a:r>
              <a:rPr lang="fr-FR" sz="1400" b="1" dirty="0"/>
              <a:t>Etape B</a:t>
            </a:r>
          </a:p>
        </p:txBody>
      </p:sp>
      <p:sp>
        <p:nvSpPr>
          <p:cNvPr id="41" name="Ellipse 40">
            <a:extLst>
              <a:ext uri="{FF2B5EF4-FFF2-40B4-BE49-F238E27FC236}">
                <a16:creationId xmlns:a16="http://schemas.microsoft.com/office/drawing/2014/main" id="{13D8F5F2-1D2E-5C96-7359-1E24508AAAA5}"/>
              </a:ext>
            </a:extLst>
          </p:cNvPr>
          <p:cNvSpPr/>
          <p:nvPr/>
        </p:nvSpPr>
        <p:spPr>
          <a:xfrm>
            <a:off x="4490168" y="2197810"/>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42" name="Ellipse 41">
            <a:extLst>
              <a:ext uri="{FF2B5EF4-FFF2-40B4-BE49-F238E27FC236}">
                <a16:creationId xmlns:a16="http://schemas.microsoft.com/office/drawing/2014/main" id="{47C0F804-4EC6-1387-4A59-418476466414}"/>
              </a:ext>
            </a:extLst>
          </p:cNvPr>
          <p:cNvSpPr/>
          <p:nvPr/>
        </p:nvSpPr>
        <p:spPr>
          <a:xfrm>
            <a:off x="6374486" y="1761369"/>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43" name="Connecteur droit avec flèche 42">
            <a:extLst>
              <a:ext uri="{FF2B5EF4-FFF2-40B4-BE49-F238E27FC236}">
                <a16:creationId xmlns:a16="http://schemas.microsoft.com/office/drawing/2014/main" id="{B8AB2E8C-6AC7-5C9B-FBD1-0349EE27A813}"/>
              </a:ext>
            </a:extLst>
          </p:cNvPr>
          <p:cNvCxnSpPr>
            <a:cxnSpLocks/>
            <a:stCxn id="41" idx="6"/>
            <a:endCxn id="42" idx="2"/>
          </p:cNvCxnSpPr>
          <p:nvPr/>
        </p:nvCxnSpPr>
        <p:spPr>
          <a:xfrm flipV="1">
            <a:off x="4760134" y="1896352"/>
            <a:ext cx="1614352" cy="43644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4" name="ZoneTexte 43">
            <a:extLst>
              <a:ext uri="{FF2B5EF4-FFF2-40B4-BE49-F238E27FC236}">
                <a16:creationId xmlns:a16="http://schemas.microsoft.com/office/drawing/2014/main" id="{C718EDCE-AB3D-6F9F-471A-E737A355086B}"/>
              </a:ext>
            </a:extLst>
          </p:cNvPr>
          <p:cNvSpPr txBox="1"/>
          <p:nvPr/>
        </p:nvSpPr>
        <p:spPr>
          <a:xfrm>
            <a:off x="4012287" y="2643742"/>
            <a:ext cx="1225728" cy="307777"/>
          </a:xfrm>
          <a:prstGeom prst="rect">
            <a:avLst/>
          </a:prstGeom>
          <a:noFill/>
        </p:spPr>
        <p:txBody>
          <a:bodyPr wrap="square">
            <a:spAutoFit/>
          </a:bodyPr>
          <a:lstStyle/>
          <a:p>
            <a:pPr algn="ctr"/>
            <a:r>
              <a:rPr lang="fr-FR" sz="1400" b="1" dirty="0"/>
              <a:t>Etape B</a:t>
            </a:r>
          </a:p>
        </p:txBody>
      </p:sp>
      <p:sp>
        <p:nvSpPr>
          <p:cNvPr id="45" name="ZoneTexte 44">
            <a:extLst>
              <a:ext uri="{FF2B5EF4-FFF2-40B4-BE49-F238E27FC236}">
                <a16:creationId xmlns:a16="http://schemas.microsoft.com/office/drawing/2014/main" id="{37A89406-EEA0-0972-9E9B-61C2A1767919}"/>
              </a:ext>
            </a:extLst>
          </p:cNvPr>
          <p:cNvSpPr txBox="1"/>
          <p:nvPr/>
        </p:nvSpPr>
        <p:spPr>
          <a:xfrm>
            <a:off x="5925404" y="2043921"/>
            <a:ext cx="1225728" cy="307777"/>
          </a:xfrm>
          <a:prstGeom prst="rect">
            <a:avLst/>
          </a:prstGeom>
          <a:noFill/>
        </p:spPr>
        <p:txBody>
          <a:bodyPr wrap="square">
            <a:spAutoFit/>
          </a:bodyPr>
          <a:lstStyle/>
          <a:p>
            <a:pPr algn="ctr"/>
            <a:r>
              <a:rPr lang="fr-FR" sz="1400" b="1" dirty="0"/>
              <a:t>Etape C</a:t>
            </a:r>
          </a:p>
        </p:txBody>
      </p:sp>
      <p:sp>
        <p:nvSpPr>
          <p:cNvPr id="46" name="ZoneTexte 45">
            <a:extLst>
              <a:ext uri="{FF2B5EF4-FFF2-40B4-BE49-F238E27FC236}">
                <a16:creationId xmlns:a16="http://schemas.microsoft.com/office/drawing/2014/main" id="{D1F0D4A8-3E63-ECF3-570E-EFBDCD904703}"/>
              </a:ext>
            </a:extLst>
          </p:cNvPr>
          <p:cNvSpPr txBox="1"/>
          <p:nvPr/>
        </p:nvSpPr>
        <p:spPr>
          <a:xfrm>
            <a:off x="5925404" y="2829552"/>
            <a:ext cx="1225728" cy="307777"/>
          </a:xfrm>
          <a:prstGeom prst="rect">
            <a:avLst/>
          </a:prstGeom>
          <a:noFill/>
        </p:spPr>
        <p:txBody>
          <a:bodyPr wrap="square">
            <a:spAutoFit/>
          </a:bodyPr>
          <a:lstStyle/>
          <a:p>
            <a:pPr algn="ctr"/>
            <a:r>
              <a:rPr lang="fr-FR" sz="1400" b="1" dirty="0"/>
              <a:t>Etape D</a:t>
            </a:r>
          </a:p>
        </p:txBody>
      </p:sp>
      <p:sp>
        <p:nvSpPr>
          <p:cNvPr id="47" name="Ellipse 46">
            <a:extLst>
              <a:ext uri="{FF2B5EF4-FFF2-40B4-BE49-F238E27FC236}">
                <a16:creationId xmlns:a16="http://schemas.microsoft.com/office/drawing/2014/main" id="{0AC680E3-4EE1-5116-114E-8BC630F6973A}"/>
              </a:ext>
            </a:extLst>
          </p:cNvPr>
          <p:cNvSpPr/>
          <p:nvPr/>
        </p:nvSpPr>
        <p:spPr>
          <a:xfrm>
            <a:off x="6311350" y="2612680"/>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48" name="Connecteur droit avec flèche 47">
            <a:extLst>
              <a:ext uri="{FF2B5EF4-FFF2-40B4-BE49-F238E27FC236}">
                <a16:creationId xmlns:a16="http://schemas.microsoft.com/office/drawing/2014/main" id="{E1F547C1-65AA-05C3-2B43-81158C77E4C7}"/>
              </a:ext>
            </a:extLst>
          </p:cNvPr>
          <p:cNvCxnSpPr>
            <a:cxnSpLocks/>
            <a:stCxn id="41" idx="6"/>
            <a:endCxn id="47" idx="2"/>
          </p:cNvCxnSpPr>
          <p:nvPr/>
        </p:nvCxnSpPr>
        <p:spPr>
          <a:xfrm>
            <a:off x="4760134" y="2332793"/>
            <a:ext cx="1551216" cy="41487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Espace réservé du contenu 2">
            <a:extLst>
              <a:ext uri="{FF2B5EF4-FFF2-40B4-BE49-F238E27FC236}">
                <a16:creationId xmlns:a16="http://schemas.microsoft.com/office/drawing/2014/main" id="{559F8871-40C9-49C8-2823-B2FD49D63ECB}"/>
              </a:ext>
            </a:extLst>
          </p:cNvPr>
          <p:cNvSpPr txBox="1">
            <a:spLocks/>
          </p:cNvSpPr>
          <p:nvPr/>
        </p:nvSpPr>
        <p:spPr>
          <a:xfrm>
            <a:off x="4312188" y="3571808"/>
            <a:ext cx="2447107" cy="2045222"/>
          </a:xfrm>
          <a:prstGeom prst="rect">
            <a:avLst/>
          </a:prstGeom>
          <a:solidFill>
            <a:schemeClr val="bg1">
              <a:lumMod val="95000"/>
            </a:schemeClr>
          </a:solidFill>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a:buFont typeface="Arial" panose="020B0604020202020204" pitchFamily="34" charset="0"/>
              <a:buNone/>
            </a:pPr>
            <a:r>
              <a:rPr lang="fr-FR" sz="1800" dirty="0"/>
              <a:t>Les parcours proposés ne sont pas linéaires, à la suite d’une étape il peut y avoir plusieurs choix. A chacun alors de choisir ce qui convient le mieux.</a:t>
            </a:r>
          </a:p>
        </p:txBody>
      </p:sp>
      <p:sp>
        <p:nvSpPr>
          <p:cNvPr id="50" name="Espace réservé du contenu 2">
            <a:extLst>
              <a:ext uri="{FF2B5EF4-FFF2-40B4-BE49-F238E27FC236}">
                <a16:creationId xmlns:a16="http://schemas.microsoft.com/office/drawing/2014/main" id="{03F8957F-D7B2-93E3-EFD6-E5EF1A91A241}"/>
              </a:ext>
            </a:extLst>
          </p:cNvPr>
          <p:cNvSpPr txBox="1">
            <a:spLocks/>
          </p:cNvSpPr>
          <p:nvPr/>
        </p:nvSpPr>
        <p:spPr>
          <a:xfrm>
            <a:off x="8741326" y="3571808"/>
            <a:ext cx="2447107" cy="2045222"/>
          </a:xfrm>
          <a:prstGeom prst="rect">
            <a:avLst/>
          </a:prstGeom>
          <a:solidFill>
            <a:schemeClr val="bg1">
              <a:lumMod val="95000"/>
            </a:schemeClr>
          </a:solidFill>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a:buFont typeface="Arial" panose="020B0604020202020204" pitchFamily="34" charset="0"/>
              <a:buNone/>
            </a:pPr>
            <a:r>
              <a:rPr lang="fr-FR" sz="1800" dirty="0"/>
              <a:t>Les parcours ont des couleurs, ce qui correspond à certaines façons d’établir la communauté. </a:t>
            </a:r>
          </a:p>
          <a:p>
            <a:pPr marL="0" indent="0" algn="just">
              <a:buFont typeface="Arial" panose="020B0604020202020204" pitchFamily="34" charset="0"/>
              <a:buNone/>
            </a:pPr>
            <a:r>
              <a:rPr lang="fr-FR" sz="1800" dirty="0"/>
              <a:t>On peut parcourir des étapes venant de différents parcours.</a:t>
            </a:r>
          </a:p>
        </p:txBody>
      </p:sp>
      <p:cxnSp>
        <p:nvCxnSpPr>
          <p:cNvPr id="51" name="Connecteur droit avec flèche 50">
            <a:extLst>
              <a:ext uri="{FF2B5EF4-FFF2-40B4-BE49-F238E27FC236}">
                <a16:creationId xmlns:a16="http://schemas.microsoft.com/office/drawing/2014/main" id="{DBFB4585-2211-04BC-E4FF-2A9C2B1DC5A1}"/>
              </a:ext>
            </a:extLst>
          </p:cNvPr>
          <p:cNvCxnSpPr>
            <a:cxnSpLocks/>
          </p:cNvCxnSpPr>
          <p:nvPr/>
        </p:nvCxnSpPr>
        <p:spPr>
          <a:xfrm flipV="1">
            <a:off x="8546497" y="2515138"/>
            <a:ext cx="1344606" cy="10731"/>
          </a:xfrm>
          <a:prstGeom prst="straightConnector1">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sp>
        <p:nvSpPr>
          <p:cNvPr id="52" name="ZoneTexte 51">
            <a:extLst>
              <a:ext uri="{FF2B5EF4-FFF2-40B4-BE49-F238E27FC236}">
                <a16:creationId xmlns:a16="http://schemas.microsoft.com/office/drawing/2014/main" id="{A48AB5B8-BEDD-CE8B-BFA0-0BCB664A925B}"/>
              </a:ext>
            </a:extLst>
          </p:cNvPr>
          <p:cNvSpPr txBox="1"/>
          <p:nvPr/>
        </p:nvSpPr>
        <p:spPr>
          <a:xfrm>
            <a:off x="9917903" y="2362796"/>
            <a:ext cx="1646066" cy="307777"/>
          </a:xfrm>
          <a:prstGeom prst="rect">
            <a:avLst/>
          </a:prstGeom>
          <a:noFill/>
        </p:spPr>
        <p:txBody>
          <a:bodyPr wrap="square">
            <a:spAutoFit/>
          </a:bodyPr>
          <a:lstStyle/>
          <a:p>
            <a:r>
              <a:rPr lang="fr-FR" sz="1400" b="1" dirty="0">
                <a:solidFill>
                  <a:srgbClr val="ED7D31"/>
                </a:solidFill>
              </a:rPr>
              <a:t>Parcours express</a:t>
            </a:r>
          </a:p>
        </p:txBody>
      </p:sp>
      <p:cxnSp>
        <p:nvCxnSpPr>
          <p:cNvPr id="53" name="Connecteur droit avec flèche 52">
            <a:extLst>
              <a:ext uri="{FF2B5EF4-FFF2-40B4-BE49-F238E27FC236}">
                <a16:creationId xmlns:a16="http://schemas.microsoft.com/office/drawing/2014/main" id="{4CAC2BA9-80ED-C709-5E1E-A69B242C620E}"/>
              </a:ext>
            </a:extLst>
          </p:cNvPr>
          <p:cNvCxnSpPr>
            <a:cxnSpLocks/>
          </p:cNvCxnSpPr>
          <p:nvPr/>
        </p:nvCxnSpPr>
        <p:spPr>
          <a:xfrm flipV="1">
            <a:off x="8546497" y="2188089"/>
            <a:ext cx="1344606" cy="1073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4" name="ZoneTexte 53">
            <a:extLst>
              <a:ext uri="{FF2B5EF4-FFF2-40B4-BE49-F238E27FC236}">
                <a16:creationId xmlns:a16="http://schemas.microsoft.com/office/drawing/2014/main" id="{0ADB2A26-A389-E24C-CE8C-BEAD0B016DD4}"/>
              </a:ext>
            </a:extLst>
          </p:cNvPr>
          <p:cNvSpPr txBox="1"/>
          <p:nvPr/>
        </p:nvSpPr>
        <p:spPr>
          <a:xfrm>
            <a:off x="9923803" y="1832560"/>
            <a:ext cx="1734166" cy="523220"/>
          </a:xfrm>
          <a:prstGeom prst="rect">
            <a:avLst/>
          </a:prstGeom>
          <a:noFill/>
        </p:spPr>
        <p:txBody>
          <a:bodyPr wrap="square">
            <a:spAutoFit/>
          </a:bodyPr>
          <a:lstStyle/>
          <a:p>
            <a:r>
              <a:rPr lang="fr-FR" sz="1400" b="1" dirty="0"/>
              <a:t>Parcours de la marche officielle</a:t>
            </a:r>
          </a:p>
        </p:txBody>
      </p:sp>
      <p:cxnSp>
        <p:nvCxnSpPr>
          <p:cNvPr id="55" name="Connecteur droit avec flèche 54">
            <a:extLst>
              <a:ext uri="{FF2B5EF4-FFF2-40B4-BE49-F238E27FC236}">
                <a16:creationId xmlns:a16="http://schemas.microsoft.com/office/drawing/2014/main" id="{D56E034E-13AD-D957-5E6A-ABA011968730}"/>
              </a:ext>
            </a:extLst>
          </p:cNvPr>
          <p:cNvCxnSpPr>
            <a:cxnSpLocks/>
          </p:cNvCxnSpPr>
          <p:nvPr/>
        </p:nvCxnSpPr>
        <p:spPr>
          <a:xfrm flipV="1">
            <a:off x="8531754" y="2847551"/>
            <a:ext cx="1344606" cy="10731"/>
          </a:xfrm>
          <a:prstGeom prst="straightConnector1">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6" name="ZoneTexte 55">
            <a:extLst>
              <a:ext uri="{FF2B5EF4-FFF2-40B4-BE49-F238E27FC236}">
                <a16:creationId xmlns:a16="http://schemas.microsoft.com/office/drawing/2014/main" id="{AF4157A9-7791-FF7F-7CDC-3D3F0DB642E0}"/>
              </a:ext>
            </a:extLst>
          </p:cNvPr>
          <p:cNvSpPr txBox="1"/>
          <p:nvPr/>
        </p:nvSpPr>
        <p:spPr>
          <a:xfrm>
            <a:off x="9917903" y="2700576"/>
            <a:ext cx="2047674" cy="307777"/>
          </a:xfrm>
          <a:prstGeom prst="rect">
            <a:avLst/>
          </a:prstGeom>
          <a:noFill/>
        </p:spPr>
        <p:txBody>
          <a:bodyPr wrap="square">
            <a:spAutoFit/>
          </a:bodyPr>
          <a:lstStyle/>
          <a:p>
            <a:r>
              <a:rPr lang="fr-FR" sz="1400" b="1" dirty="0">
                <a:solidFill>
                  <a:schemeClr val="bg1">
                    <a:lumMod val="65000"/>
                  </a:schemeClr>
                </a:solidFill>
              </a:rPr>
              <a:t>Parcours du test terrain</a:t>
            </a:r>
          </a:p>
        </p:txBody>
      </p:sp>
      <p:cxnSp>
        <p:nvCxnSpPr>
          <p:cNvPr id="57" name="Connecteur droit avec flèche 56">
            <a:extLst>
              <a:ext uri="{FF2B5EF4-FFF2-40B4-BE49-F238E27FC236}">
                <a16:creationId xmlns:a16="http://schemas.microsoft.com/office/drawing/2014/main" id="{74D17BD3-DC1B-05D0-B177-D9D72CA0F4AC}"/>
              </a:ext>
            </a:extLst>
          </p:cNvPr>
          <p:cNvCxnSpPr>
            <a:cxnSpLocks/>
          </p:cNvCxnSpPr>
          <p:nvPr/>
        </p:nvCxnSpPr>
        <p:spPr>
          <a:xfrm flipV="1">
            <a:off x="8531754" y="3157595"/>
            <a:ext cx="1344606" cy="10731"/>
          </a:xfrm>
          <a:prstGeom prst="straightConnector1">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
        <p:nvSpPr>
          <p:cNvPr id="58" name="ZoneTexte 57">
            <a:extLst>
              <a:ext uri="{FF2B5EF4-FFF2-40B4-BE49-F238E27FC236}">
                <a16:creationId xmlns:a16="http://schemas.microsoft.com/office/drawing/2014/main" id="{7DDDBE29-E025-E2B3-71F0-178123F1AA66}"/>
              </a:ext>
            </a:extLst>
          </p:cNvPr>
          <p:cNvSpPr txBox="1"/>
          <p:nvPr/>
        </p:nvSpPr>
        <p:spPr>
          <a:xfrm>
            <a:off x="9917903" y="3008641"/>
            <a:ext cx="1890920" cy="307777"/>
          </a:xfrm>
          <a:prstGeom prst="rect">
            <a:avLst/>
          </a:prstGeom>
          <a:noFill/>
        </p:spPr>
        <p:txBody>
          <a:bodyPr wrap="square">
            <a:spAutoFit/>
          </a:bodyPr>
          <a:lstStyle/>
          <a:p>
            <a:r>
              <a:rPr lang="fr-FR" sz="1400" b="1" dirty="0">
                <a:solidFill>
                  <a:srgbClr val="3494BA"/>
                </a:solidFill>
              </a:rPr>
              <a:t>Cycle de vie « Run »</a:t>
            </a:r>
          </a:p>
        </p:txBody>
      </p:sp>
      <p:pic>
        <p:nvPicPr>
          <p:cNvPr id="59" name="Graphique 58" descr="Bâtiment avec un remplissage uni">
            <a:extLst>
              <a:ext uri="{FF2B5EF4-FFF2-40B4-BE49-F238E27FC236}">
                <a16:creationId xmlns:a16="http://schemas.microsoft.com/office/drawing/2014/main" id="{9E04667D-8898-0FF0-7906-AC634EF847A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215436" y="1957029"/>
            <a:ext cx="316318" cy="316318"/>
          </a:xfrm>
          <a:prstGeom prst="rect">
            <a:avLst/>
          </a:prstGeom>
        </p:spPr>
      </p:pic>
      <p:pic>
        <p:nvPicPr>
          <p:cNvPr id="60" name="Graphique 59" descr="Bécher avec un remplissage uni">
            <a:extLst>
              <a:ext uri="{FF2B5EF4-FFF2-40B4-BE49-F238E27FC236}">
                <a16:creationId xmlns:a16="http://schemas.microsoft.com/office/drawing/2014/main" id="{0F17E872-F986-D846-869E-1715507194D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189503" y="2639372"/>
            <a:ext cx="342251" cy="342251"/>
          </a:xfrm>
          <a:prstGeom prst="rect">
            <a:avLst/>
          </a:prstGeom>
        </p:spPr>
      </p:pic>
      <p:pic>
        <p:nvPicPr>
          <p:cNvPr id="61" name="Graphique 60" descr="Éclair avec un remplissage uni">
            <a:extLst>
              <a:ext uri="{FF2B5EF4-FFF2-40B4-BE49-F238E27FC236}">
                <a16:creationId xmlns:a16="http://schemas.microsoft.com/office/drawing/2014/main" id="{48A247EB-5A3C-6F91-0233-F291EAF8191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196065" y="2312345"/>
            <a:ext cx="382863" cy="382863"/>
          </a:xfrm>
          <a:prstGeom prst="rect">
            <a:avLst/>
          </a:prstGeom>
        </p:spPr>
      </p:pic>
      <p:pic>
        <p:nvPicPr>
          <p:cNvPr id="62" name="Graphique 61" descr="Amélioration continue avec un remplissage uni">
            <a:extLst>
              <a:ext uri="{FF2B5EF4-FFF2-40B4-BE49-F238E27FC236}">
                <a16:creationId xmlns:a16="http://schemas.microsoft.com/office/drawing/2014/main" id="{FFF78B0D-42C1-2F2D-E9E1-2B89A85D046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079547" y="2942841"/>
            <a:ext cx="419186" cy="419186"/>
          </a:xfrm>
          <a:prstGeom prst="rect">
            <a:avLst/>
          </a:prstGeom>
        </p:spPr>
      </p:pic>
    </p:spTree>
    <p:extLst>
      <p:ext uri="{BB962C8B-B14F-4D97-AF65-F5344CB8AC3E}">
        <p14:creationId xmlns:p14="http://schemas.microsoft.com/office/powerpoint/2010/main" val="2000527866"/>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68AF32E-DDF0-43B8-236A-27B2288EBC7D}"/>
              </a:ext>
            </a:extLst>
          </p:cNvPr>
          <p:cNvSpPr>
            <a:spLocks noGrp="1"/>
          </p:cNvSpPr>
          <p:nvPr>
            <p:ph type="title"/>
          </p:nvPr>
        </p:nvSpPr>
        <p:spPr/>
        <p:txBody>
          <a:bodyPr/>
          <a:lstStyle/>
          <a:p>
            <a:r>
              <a:rPr lang="fr-FR" dirty="0"/>
              <a:t>Sur quels types de communautés d’entreprises s’appliquent ces parcours ?</a:t>
            </a:r>
          </a:p>
        </p:txBody>
      </p:sp>
      <p:sp>
        <p:nvSpPr>
          <p:cNvPr id="3" name="Espace réservé du contenu 2">
            <a:extLst>
              <a:ext uri="{FF2B5EF4-FFF2-40B4-BE49-F238E27FC236}">
                <a16:creationId xmlns:a16="http://schemas.microsoft.com/office/drawing/2014/main" id="{77EADB88-C64B-A2B8-3F8E-878148A5A7AA}"/>
              </a:ext>
            </a:extLst>
          </p:cNvPr>
          <p:cNvSpPr>
            <a:spLocks noGrp="1"/>
          </p:cNvSpPr>
          <p:nvPr>
            <p:ph idx="1"/>
          </p:nvPr>
        </p:nvSpPr>
        <p:spPr>
          <a:xfrm>
            <a:off x="699195" y="1907069"/>
            <a:ext cx="7698375" cy="857755"/>
          </a:xfrm>
          <a:noFill/>
        </p:spPr>
        <p:txBody>
          <a:bodyPr>
            <a:normAutofit/>
          </a:bodyPr>
          <a:lstStyle/>
          <a:p>
            <a:pPr marL="0" indent="0">
              <a:buNone/>
            </a:pPr>
            <a:r>
              <a:rPr lang="fr-FR" sz="1800" dirty="0"/>
              <a:t>Les parcours proposés sont applicables à beaucoup de communautés en entreprise, </a:t>
            </a:r>
            <a:r>
              <a:rPr lang="fr-FR" sz="1800" b="1" dirty="0">
                <a:solidFill>
                  <a:srgbClr val="ED7D31"/>
                </a:solidFill>
              </a:rPr>
              <a:t>et sont plus applicables à des communautés répondant à certaines caractéristiques.</a:t>
            </a:r>
            <a:r>
              <a:rPr lang="fr-FR" sz="1800" dirty="0"/>
              <a:t> </a:t>
            </a:r>
          </a:p>
        </p:txBody>
      </p:sp>
      <p:grpSp>
        <p:nvGrpSpPr>
          <p:cNvPr id="88" name="Groupe 87">
            <a:extLst>
              <a:ext uri="{FF2B5EF4-FFF2-40B4-BE49-F238E27FC236}">
                <a16:creationId xmlns:a16="http://schemas.microsoft.com/office/drawing/2014/main" id="{EAF22B3D-6F60-B03F-2279-B44B3FB087F3}"/>
              </a:ext>
            </a:extLst>
          </p:cNvPr>
          <p:cNvGrpSpPr/>
          <p:nvPr/>
        </p:nvGrpSpPr>
        <p:grpSpPr>
          <a:xfrm>
            <a:off x="612979" y="3191611"/>
            <a:ext cx="1889188" cy="1479592"/>
            <a:chOff x="7281892" y="1881825"/>
            <a:chExt cx="4357242" cy="3412546"/>
          </a:xfrm>
        </p:grpSpPr>
        <p:pic>
          <p:nvPicPr>
            <p:cNvPr id="4" name="Graphique 3" descr="Souriant avec un visage et des cœurs avec remplissage uni avec un remplissage uni">
              <a:extLst>
                <a:ext uri="{FF2B5EF4-FFF2-40B4-BE49-F238E27FC236}">
                  <a16:creationId xmlns:a16="http://schemas.microsoft.com/office/drawing/2014/main" id="{9F4AC64F-FE0D-8BC1-13AB-ED4D9DC827C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73239" y="3601842"/>
              <a:ext cx="434761" cy="434761"/>
            </a:xfrm>
            <a:prstGeom prst="rect">
              <a:avLst/>
            </a:prstGeom>
          </p:spPr>
        </p:pic>
        <p:pic>
          <p:nvPicPr>
            <p:cNvPr id="5" name="Graphique 4" descr="Visage portant des lunettes de soleil à remplissage uni avec un remplissage uni">
              <a:extLst>
                <a:ext uri="{FF2B5EF4-FFF2-40B4-BE49-F238E27FC236}">
                  <a16:creationId xmlns:a16="http://schemas.microsoft.com/office/drawing/2014/main" id="{500DD92D-9DEA-7976-DF7E-5A418FFA814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83945" y="2738608"/>
              <a:ext cx="397698" cy="397698"/>
            </a:xfrm>
            <a:prstGeom prst="rect">
              <a:avLst/>
            </a:prstGeom>
          </p:spPr>
        </p:pic>
        <p:pic>
          <p:nvPicPr>
            <p:cNvPr id="8" name="Graphique 7" descr="Visage portant des lunettes de soleil à remplissage uni avec un remplissage uni">
              <a:extLst>
                <a:ext uri="{FF2B5EF4-FFF2-40B4-BE49-F238E27FC236}">
                  <a16:creationId xmlns:a16="http://schemas.microsoft.com/office/drawing/2014/main" id="{91629B35-E8D4-B122-E60F-7313766ADC7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032343" y="4174940"/>
              <a:ext cx="397698" cy="397698"/>
            </a:xfrm>
            <a:prstGeom prst="rect">
              <a:avLst/>
            </a:prstGeom>
          </p:spPr>
        </p:pic>
        <p:pic>
          <p:nvPicPr>
            <p:cNvPr id="9" name="Graphique 8" descr="Visage souriant à remplissage solide avec un remplissage uni">
              <a:extLst>
                <a:ext uri="{FF2B5EF4-FFF2-40B4-BE49-F238E27FC236}">
                  <a16:creationId xmlns:a16="http://schemas.microsoft.com/office/drawing/2014/main" id="{8DBC2ED2-0633-5970-EFFB-5792D768626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648506" y="3649611"/>
              <a:ext cx="504684" cy="504684"/>
            </a:xfrm>
            <a:prstGeom prst="rect">
              <a:avLst/>
            </a:prstGeom>
          </p:spPr>
        </p:pic>
        <p:pic>
          <p:nvPicPr>
            <p:cNvPr id="10" name="Graphique 9" descr="Visage souriant à remplissage solide avec un remplissage uni">
              <a:extLst>
                <a:ext uri="{FF2B5EF4-FFF2-40B4-BE49-F238E27FC236}">
                  <a16:creationId xmlns:a16="http://schemas.microsoft.com/office/drawing/2014/main" id="{E78AB443-395A-9662-0C88-7873F93FB04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564863" y="2924316"/>
              <a:ext cx="504684" cy="504684"/>
            </a:xfrm>
            <a:prstGeom prst="rect">
              <a:avLst/>
            </a:prstGeom>
          </p:spPr>
        </p:pic>
        <p:pic>
          <p:nvPicPr>
            <p:cNvPr id="11" name="Graphique 10" descr="Visage souriant à remplissage solide avec un remplissage uni">
              <a:extLst>
                <a:ext uri="{FF2B5EF4-FFF2-40B4-BE49-F238E27FC236}">
                  <a16:creationId xmlns:a16="http://schemas.microsoft.com/office/drawing/2014/main" id="{FA0C5C69-8CD9-F1F3-24C5-6728973D305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52645" y="3902637"/>
              <a:ext cx="504684" cy="504684"/>
            </a:xfrm>
            <a:prstGeom prst="rect">
              <a:avLst/>
            </a:prstGeom>
          </p:spPr>
        </p:pic>
        <p:pic>
          <p:nvPicPr>
            <p:cNvPr id="12" name="Graphique 11" descr="Visage d’ange avec remplissage uni avec un remplissage uni">
              <a:extLst>
                <a:ext uri="{FF2B5EF4-FFF2-40B4-BE49-F238E27FC236}">
                  <a16:creationId xmlns:a16="http://schemas.microsoft.com/office/drawing/2014/main" id="{1A0099EC-C6A6-0881-056D-661F68FDDC5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199513" y="3117664"/>
              <a:ext cx="645624" cy="645624"/>
            </a:xfrm>
            <a:prstGeom prst="rect">
              <a:avLst/>
            </a:prstGeom>
          </p:spPr>
        </p:pic>
        <p:pic>
          <p:nvPicPr>
            <p:cNvPr id="13" name="Graphique 12" descr="Visage sans expression avec remplissage uni avec un remplissage uni">
              <a:extLst>
                <a:ext uri="{FF2B5EF4-FFF2-40B4-BE49-F238E27FC236}">
                  <a16:creationId xmlns:a16="http://schemas.microsoft.com/office/drawing/2014/main" id="{D2BFDF32-4291-4F8F-8D86-19B77F6BC96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326027" y="2119826"/>
              <a:ext cx="397698" cy="397698"/>
            </a:xfrm>
            <a:prstGeom prst="rect">
              <a:avLst/>
            </a:prstGeom>
          </p:spPr>
        </p:pic>
        <p:pic>
          <p:nvPicPr>
            <p:cNvPr id="14" name="Graphique 13" descr="Visage sans expression avec remplissage uni avec un remplissage uni">
              <a:extLst>
                <a:ext uri="{FF2B5EF4-FFF2-40B4-BE49-F238E27FC236}">
                  <a16:creationId xmlns:a16="http://schemas.microsoft.com/office/drawing/2014/main" id="{67F60A99-06A4-AE15-F236-CC373BDDB8A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344083" y="3471496"/>
              <a:ext cx="397698" cy="397698"/>
            </a:xfrm>
            <a:prstGeom prst="rect">
              <a:avLst/>
            </a:prstGeom>
          </p:spPr>
        </p:pic>
        <p:pic>
          <p:nvPicPr>
            <p:cNvPr id="15" name="Graphique 14" descr="Visage portant des lunettes de soleil à remplissage uni avec un remplissage uni">
              <a:extLst>
                <a:ext uri="{FF2B5EF4-FFF2-40B4-BE49-F238E27FC236}">
                  <a16:creationId xmlns:a16="http://schemas.microsoft.com/office/drawing/2014/main" id="{36193497-4AAE-F854-3785-5C398202BC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599986" y="4459459"/>
              <a:ext cx="397698" cy="397698"/>
            </a:xfrm>
            <a:prstGeom prst="rect">
              <a:avLst/>
            </a:prstGeom>
          </p:spPr>
        </p:pic>
        <p:pic>
          <p:nvPicPr>
            <p:cNvPr id="18" name="Graphique 17" descr="Visage portant des lunettes de soleil à remplissage uni avec un remplissage uni">
              <a:extLst>
                <a:ext uri="{FF2B5EF4-FFF2-40B4-BE49-F238E27FC236}">
                  <a16:creationId xmlns:a16="http://schemas.microsoft.com/office/drawing/2014/main" id="{306590C9-6F76-F78F-D267-7AECA39DC89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059881" y="3092561"/>
              <a:ext cx="397698" cy="397698"/>
            </a:xfrm>
            <a:prstGeom prst="rect">
              <a:avLst/>
            </a:prstGeom>
          </p:spPr>
        </p:pic>
        <p:pic>
          <p:nvPicPr>
            <p:cNvPr id="19" name="Graphique 18" descr="Visage portant des lunettes de soleil à remplissage uni avec un remplissage uni">
              <a:extLst>
                <a:ext uri="{FF2B5EF4-FFF2-40B4-BE49-F238E27FC236}">
                  <a16:creationId xmlns:a16="http://schemas.microsoft.com/office/drawing/2014/main" id="{8530263F-65C9-2411-F178-5C528D1DEEA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719341" y="2356200"/>
              <a:ext cx="397698" cy="397698"/>
            </a:xfrm>
            <a:prstGeom prst="rect">
              <a:avLst/>
            </a:prstGeom>
          </p:spPr>
        </p:pic>
        <p:pic>
          <p:nvPicPr>
            <p:cNvPr id="20" name="Graphique 19" descr="Visage portant des lunettes de soleil à remplissage uni avec un remplissage uni">
              <a:extLst>
                <a:ext uri="{FF2B5EF4-FFF2-40B4-BE49-F238E27FC236}">
                  <a16:creationId xmlns:a16="http://schemas.microsoft.com/office/drawing/2014/main" id="{32534403-F44E-1210-92B7-BDDFB930F0F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30659" y="2695421"/>
              <a:ext cx="397698" cy="397698"/>
            </a:xfrm>
            <a:prstGeom prst="rect">
              <a:avLst/>
            </a:prstGeom>
          </p:spPr>
        </p:pic>
        <p:pic>
          <p:nvPicPr>
            <p:cNvPr id="21" name="Graphique 20" descr="Souriant avec un visage et des cœurs avec remplissage uni avec un remplissage uni">
              <a:extLst>
                <a:ext uri="{FF2B5EF4-FFF2-40B4-BE49-F238E27FC236}">
                  <a16:creationId xmlns:a16="http://schemas.microsoft.com/office/drawing/2014/main" id="{B5AF52F2-71E7-FB25-A56C-4FE6572595A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212932" y="3973524"/>
              <a:ext cx="504684" cy="504684"/>
            </a:xfrm>
            <a:prstGeom prst="rect">
              <a:avLst/>
            </a:prstGeom>
          </p:spPr>
        </p:pic>
        <p:pic>
          <p:nvPicPr>
            <p:cNvPr id="22" name="Graphique 21" descr="Visage nerveux à remplissage uni avec un remplissage uni">
              <a:extLst>
                <a:ext uri="{FF2B5EF4-FFF2-40B4-BE49-F238E27FC236}">
                  <a16:creationId xmlns:a16="http://schemas.microsoft.com/office/drawing/2014/main" id="{05BE207E-C073-46BA-7985-7CC9D3D169A9}"/>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281892" y="3728255"/>
              <a:ext cx="397698" cy="397698"/>
            </a:xfrm>
            <a:prstGeom prst="rect">
              <a:avLst/>
            </a:prstGeom>
          </p:spPr>
        </p:pic>
        <p:pic>
          <p:nvPicPr>
            <p:cNvPr id="23" name="Graphique 22" descr="Visage sans expression avec remplissage uni avec un remplissage uni">
              <a:extLst>
                <a:ext uri="{FF2B5EF4-FFF2-40B4-BE49-F238E27FC236}">
                  <a16:creationId xmlns:a16="http://schemas.microsoft.com/office/drawing/2014/main" id="{3B0E2C96-A039-E4B8-52FC-2A65277DF68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497344" y="4074874"/>
              <a:ext cx="397698" cy="397698"/>
            </a:xfrm>
            <a:prstGeom prst="rect">
              <a:avLst/>
            </a:prstGeom>
          </p:spPr>
        </p:pic>
        <p:pic>
          <p:nvPicPr>
            <p:cNvPr id="24" name="Graphique 23" descr="Visage sans expression avec remplissage uni avec un remplissage uni">
              <a:extLst>
                <a:ext uri="{FF2B5EF4-FFF2-40B4-BE49-F238E27FC236}">
                  <a16:creationId xmlns:a16="http://schemas.microsoft.com/office/drawing/2014/main" id="{C416DF18-96BA-AF15-2F64-23F015120FE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314037" y="2617850"/>
              <a:ext cx="397698" cy="397698"/>
            </a:xfrm>
            <a:prstGeom prst="rect">
              <a:avLst/>
            </a:prstGeom>
          </p:spPr>
        </p:pic>
        <p:pic>
          <p:nvPicPr>
            <p:cNvPr id="25" name="Graphique 24" descr="Visage nerveux à remplissage uni avec un remplissage uni">
              <a:extLst>
                <a:ext uri="{FF2B5EF4-FFF2-40B4-BE49-F238E27FC236}">
                  <a16:creationId xmlns:a16="http://schemas.microsoft.com/office/drawing/2014/main" id="{E6AAD6D3-68FB-D12D-DB08-A834F7FAE47B}"/>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039620" y="4864000"/>
              <a:ext cx="397698" cy="397698"/>
            </a:xfrm>
            <a:prstGeom prst="rect">
              <a:avLst/>
            </a:prstGeom>
          </p:spPr>
        </p:pic>
        <p:pic>
          <p:nvPicPr>
            <p:cNvPr id="26" name="Graphique 25" descr="Visage sans expression avec remplissage uni avec un remplissage uni">
              <a:extLst>
                <a:ext uri="{FF2B5EF4-FFF2-40B4-BE49-F238E27FC236}">
                  <a16:creationId xmlns:a16="http://schemas.microsoft.com/office/drawing/2014/main" id="{E1F3F7AD-D659-5159-D79D-59D10B8FED56}"/>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122565" y="1881825"/>
              <a:ext cx="397698" cy="397698"/>
            </a:xfrm>
            <a:prstGeom prst="rect">
              <a:avLst/>
            </a:prstGeom>
          </p:spPr>
        </p:pic>
        <p:pic>
          <p:nvPicPr>
            <p:cNvPr id="28" name="Graphique 27" descr="Visage sans expression avec remplissage uni avec un remplissage uni">
              <a:extLst>
                <a:ext uri="{FF2B5EF4-FFF2-40B4-BE49-F238E27FC236}">
                  <a16:creationId xmlns:a16="http://schemas.microsoft.com/office/drawing/2014/main" id="{E4AA43C9-7B99-BAC9-81DF-058030D6429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393617" y="4582538"/>
              <a:ext cx="397698" cy="397698"/>
            </a:xfrm>
            <a:prstGeom prst="rect">
              <a:avLst/>
            </a:prstGeom>
          </p:spPr>
        </p:pic>
        <p:pic>
          <p:nvPicPr>
            <p:cNvPr id="29" name="Graphique 28" descr="Visage sans expression avec remplissage uni avec un remplissage uni">
              <a:extLst>
                <a:ext uri="{FF2B5EF4-FFF2-40B4-BE49-F238E27FC236}">
                  <a16:creationId xmlns:a16="http://schemas.microsoft.com/office/drawing/2014/main" id="{349D2D02-A035-6308-1555-AC12DF8DFC1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1241436" y="3737787"/>
              <a:ext cx="397698" cy="397698"/>
            </a:xfrm>
            <a:prstGeom prst="rect">
              <a:avLst/>
            </a:prstGeom>
          </p:spPr>
        </p:pic>
        <p:pic>
          <p:nvPicPr>
            <p:cNvPr id="30" name="Graphique 29" descr="Visage sans expression avec remplissage uni avec un remplissage uni">
              <a:extLst>
                <a:ext uri="{FF2B5EF4-FFF2-40B4-BE49-F238E27FC236}">
                  <a16:creationId xmlns:a16="http://schemas.microsoft.com/office/drawing/2014/main" id="{6127BC57-A846-FE68-CAC5-47D9DC5C5F5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1116493" y="4152632"/>
              <a:ext cx="397698" cy="397698"/>
            </a:xfrm>
            <a:prstGeom prst="rect">
              <a:avLst/>
            </a:prstGeom>
          </p:spPr>
        </p:pic>
        <p:pic>
          <p:nvPicPr>
            <p:cNvPr id="31" name="Graphique 30" descr="Visage nerveux à remplissage uni avec un remplissage uni">
              <a:extLst>
                <a:ext uri="{FF2B5EF4-FFF2-40B4-BE49-F238E27FC236}">
                  <a16:creationId xmlns:a16="http://schemas.microsoft.com/office/drawing/2014/main" id="{5468F2A4-5BF1-65D4-1ED3-71FFA6259607}"/>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416358" y="4428004"/>
              <a:ext cx="397698" cy="397698"/>
            </a:xfrm>
            <a:prstGeom prst="rect">
              <a:avLst/>
            </a:prstGeom>
          </p:spPr>
        </p:pic>
        <p:pic>
          <p:nvPicPr>
            <p:cNvPr id="32" name="Graphique 31" descr="Visage sans expression avec remplissage uni avec un remplissage uni">
              <a:extLst>
                <a:ext uri="{FF2B5EF4-FFF2-40B4-BE49-F238E27FC236}">
                  <a16:creationId xmlns:a16="http://schemas.microsoft.com/office/drawing/2014/main" id="{880505BA-A128-982A-FA02-15CDF15F0D0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241293" y="2469934"/>
              <a:ext cx="397698" cy="397698"/>
            </a:xfrm>
            <a:prstGeom prst="rect">
              <a:avLst/>
            </a:prstGeom>
          </p:spPr>
        </p:pic>
        <p:pic>
          <p:nvPicPr>
            <p:cNvPr id="33" name="Graphique 32" descr="Visage sans expression avec remplissage uni avec un remplissage uni">
              <a:extLst>
                <a:ext uri="{FF2B5EF4-FFF2-40B4-BE49-F238E27FC236}">
                  <a16:creationId xmlns:a16="http://schemas.microsoft.com/office/drawing/2014/main" id="{A40F356E-192F-DC71-8275-93E687EDAA9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415237" y="3163091"/>
              <a:ext cx="397698" cy="397698"/>
            </a:xfrm>
            <a:prstGeom prst="rect">
              <a:avLst/>
            </a:prstGeom>
          </p:spPr>
        </p:pic>
        <p:cxnSp>
          <p:nvCxnSpPr>
            <p:cNvPr id="34" name="Connecteur droit 33">
              <a:extLst>
                <a:ext uri="{FF2B5EF4-FFF2-40B4-BE49-F238E27FC236}">
                  <a16:creationId xmlns:a16="http://schemas.microsoft.com/office/drawing/2014/main" id="{2650D722-B0E4-7BAA-1452-AF626FA0E644}"/>
                </a:ext>
              </a:extLst>
            </p:cNvPr>
            <p:cNvCxnSpPr>
              <a:cxnSpLocks/>
              <a:stCxn id="4" idx="1"/>
              <a:endCxn id="22" idx="3"/>
            </p:cNvCxnSpPr>
            <p:nvPr/>
          </p:nvCxnSpPr>
          <p:spPr>
            <a:xfrm flipH="1">
              <a:off x="7679590" y="3819223"/>
              <a:ext cx="193649" cy="107881"/>
            </a:xfrm>
            <a:prstGeom prst="line">
              <a:avLst/>
            </a:prstGeom>
          </p:spPr>
          <p:style>
            <a:lnRef idx="1">
              <a:schemeClr val="accent1"/>
            </a:lnRef>
            <a:fillRef idx="0">
              <a:schemeClr val="accent1"/>
            </a:fillRef>
            <a:effectRef idx="0">
              <a:schemeClr val="accent1"/>
            </a:effectRef>
            <a:fontRef idx="minor">
              <a:schemeClr val="tx1"/>
            </a:fontRef>
          </p:style>
        </p:cxnSp>
        <p:pic>
          <p:nvPicPr>
            <p:cNvPr id="35" name="Graphique 34" descr="Souriant avec un visage et des cœurs avec remplissage uni avec un remplissage uni">
              <a:extLst>
                <a:ext uri="{FF2B5EF4-FFF2-40B4-BE49-F238E27FC236}">
                  <a16:creationId xmlns:a16="http://schemas.microsoft.com/office/drawing/2014/main" id="{C2F42A16-B028-2881-169C-44BEFE3573E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012815" y="2170253"/>
              <a:ext cx="504684" cy="504684"/>
            </a:xfrm>
            <a:prstGeom prst="rect">
              <a:avLst/>
            </a:prstGeom>
          </p:spPr>
        </p:pic>
        <p:pic>
          <p:nvPicPr>
            <p:cNvPr id="36" name="Graphique 35" descr="Visage souriant à remplissage solide avec un remplissage uni">
              <a:extLst>
                <a:ext uri="{FF2B5EF4-FFF2-40B4-BE49-F238E27FC236}">
                  <a16:creationId xmlns:a16="http://schemas.microsoft.com/office/drawing/2014/main" id="{2C273D65-7AE6-739F-C969-4A7C1596B25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24329" y="4789687"/>
              <a:ext cx="504684" cy="504684"/>
            </a:xfrm>
            <a:prstGeom prst="rect">
              <a:avLst/>
            </a:prstGeom>
          </p:spPr>
        </p:pic>
        <p:pic>
          <p:nvPicPr>
            <p:cNvPr id="37" name="Graphique 36" descr="Visage d’ange avec remplissage uni avec un remplissage uni">
              <a:extLst>
                <a:ext uri="{FF2B5EF4-FFF2-40B4-BE49-F238E27FC236}">
                  <a16:creationId xmlns:a16="http://schemas.microsoft.com/office/drawing/2014/main" id="{54A8DBC0-FC21-C656-3D7C-9DFA08A25BF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835471" y="3259388"/>
              <a:ext cx="426292" cy="426292"/>
            </a:xfrm>
            <a:prstGeom prst="rect">
              <a:avLst/>
            </a:prstGeom>
          </p:spPr>
        </p:pic>
        <p:cxnSp>
          <p:nvCxnSpPr>
            <p:cNvPr id="38" name="Connecteur droit 37">
              <a:extLst>
                <a:ext uri="{FF2B5EF4-FFF2-40B4-BE49-F238E27FC236}">
                  <a16:creationId xmlns:a16="http://schemas.microsoft.com/office/drawing/2014/main" id="{AA87AFCB-36B4-0490-5F4B-11293530298C}"/>
                </a:ext>
              </a:extLst>
            </p:cNvPr>
            <p:cNvCxnSpPr>
              <a:cxnSpLocks/>
              <a:stCxn id="37" idx="2"/>
            </p:cNvCxnSpPr>
            <p:nvPr/>
          </p:nvCxnSpPr>
          <p:spPr>
            <a:xfrm flipH="1">
              <a:off x="10680104" y="3685680"/>
              <a:ext cx="368513" cy="418431"/>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39" name="Connecteur droit 38">
              <a:extLst>
                <a:ext uri="{FF2B5EF4-FFF2-40B4-BE49-F238E27FC236}">
                  <a16:creationId xmlns:a16="http://schemas.microsoft.com/office/drawing/2014/main" id="{750B9D81-1AB4-FAC3-E151-1F5E54E7364D}"/>
                </a:ext>
              </a:extLst>
            </p:cNvPr>
            <p:cNvCxnSpPr>
              <a:cxnSpLocks/>
              <a:stCxn id="37" idx="1"/>
              <a:endCxn id="14" idx="3"/>
            </p:cNvCxnSpPr>
            <p:nvPr/>
          </p:nvCxnSpPr>
          <p:spPr>
            <a:xfrm flipH="1">
              <a:off x="10741781" y="3472534"/>
              <a:ext cx="93690" cy="197811"/>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necteur droit 39">
              <a:extLst>
                <a:ext uri="{FF2B5EF4-FFF2-40B4-BE49-F238E27FC236}">
                  <a16:creationId xmlns:a16="http://schemas.microsoft.com/office/drawing/2014/main" id="{CFE61154-D19C-F3C3-C0F6-DCAB7E9BC014}"/>
                </a:ext>
              </a:extLst>
            </p:cNvPr>
            <p:cNvCxnSpPr>
              <a:cxnSpLocks/>
            </p:cNvCxnSpPr>
            <p:nvPr/>
          </p:nvCxnSpPr>
          <p:spPr>
            <a:xfrm>
              <a:off x="10489232" y="2493597"/>
              <a:ext cx="422932" cy="76579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3" name="Connecteur droit 62">
              <a:extLst>
                <a:ext uri="{FF2B5EF4-FFF2-40B4-BE49-F238E27FC236}">
                  <a16:creationId xmlns:a16="http://schemas.microsoft.com/office/drawing/2014/main" id="{18D3257F-1B87-3C7F-08A4-A61FAF3AF4F5}"/>
                </a:ext>
              </a:extLst>
            </p:cNvPr>
            <p:cNvCxnSpPr>
              <a:cxnSpLocks/>
              <a:stCxn id="20" idx="3"/>
              <a:endCxn id="18" idx="0"/>
            </p:cNvCxnSpPr>
            <p:nvPr/>
          </p:nvCxnSpPr>
          <p:spPr>
            <a:xfrm>
              <a:off x="10228357" y="2894270"/>
              <a:ext cx="30373" cy="198291"/>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Connecteur droit 63">
              <a:extLst>
                <a:ext uri="{FF2B5EF4-FFF2-40B4-BE49-F238E27FC236}">
                  <a16:creationId xmlns:a16="http://schemas.microsoft.com/office/drawing/2014/main" id="{67644C34-0069-8B26-F9DE-72537B636208}"/>
                </a:ext>
              </a:extLst>
            </p:cNvPr>
            <p:cNvCxnSpPr>
              <a:cxnSpLocks/>
            </p:cNvCxnSpPr>
            <p:nvPr/>
          </p:nvCxnSpPr>
          <p:spPr>
            <a:xfrm flipH="1" flipV="1">
              <a:off x="11185898" y="3602020"/>
              <a:ext cx="141910" cy="200694"/>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Connecteur droit 64">
              <a:extLst>
                <a:ext uri="{FF2B5EF4-FFF2-40B4-BE49-F238E27FC236}">
                  <a16:creationId xmlns:a16="http://schemas.microsoft.com/office/drawing/2014/main" id="{25B4177F-3E46-DB94-940E-173D2BFCE68A}"/>
                </a:ext>
              </a:extLst>
            </p:cNvPr>
            <p:cNvCxnSpPr>
              <a:cxnSpLocks/>
            </p:cNvCxnSpPr>
            <p:nvPr/>
          </p:nvCxnSpPr>
          <p:spPr>
            <a:xfrm>
              <a:off x="10242835" y="3455838"/>
              <a:ext cx="123846" cy="593520"/>
            </a:xfrm>
            <a:prstGeom prst="line">
              <a:avLst/>
            </a:prstGeom>
          </p:spPr>
          <p:style>
            <a:lnRef idx="1">
              <a:schemeClr val="accent1"/>
            </a:lnRef>
            <a:fillRef idx="0">
              <a:schemeClr val="accent1"/>
            </a:fillRef>
            <a:effectRef idx="0">
              <a:schemeClr val="accent1"/>
            </a:effectRef>
            <a:fontRef idx="minor">
              <a:schemeClr val="tx1"/>
            </a:fontRef>
          </p:style>
        </p:cxnSp>
        <p:cxnSp>
          <p:nvCxnSpPr>
            <p:cNvPr id="66" name="Connecteur droit 65">
              <a:extLst>
                <a:ext uri="{FF2B5EF4-FFF2-40B4-BE49-F238E27FC236}">
                  <a16:creationId xmlns:a16="http://schemas.microsoft.com/office/drawing/2014/main" id="{EC81179A-87FC-DEE0-21A9-3663BFEFD81E}"/>
                </a:ext>
              </a:extLst>
            </p:cNvPr>
            <p:cNvCxnSpPr>
              <a:cxnSpLocks/>
              <a:endCxn id="21" idx="3"/>
            </p:cNvCxnSpPr>
            <p:nvPr/>
          </p:nvCxnSpPr>
          <p:spPr>
            <a:xfrm flipH="1" flipV="1">
              <a:off x="10717616" y="4225866"/>
              <a:ext cx="443702" cy="75566"/>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necteur droit 66">
              <a:extLst>
                <a:ext uri="{FF2B5EF4-FFF2-40B4-BE49-F238E27FC236}">
                  <a16:creationId xmlns:a16="http://schemas.microsoft.com/office/drawing/2014/main" id="{AE615F4F-B3E0-2578-A0E1-D3B7E57A9CDE}"/>
                </a:ext>
              </a:extLst>
            </p:cNvPr>
            <p:cNvCxnSpPr>
              <a:cxnSpLocks/>
            </p:cNvCxnSpPr>
            <p:nvPr/>
          </p:nvCxnSpPr>
          <p:spPr>
            <a:xfrm>
              <a:off x="9742045" y="3580087"/>
              <a:ext cx="561431" cy="459192"/>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necteur droit 67">
              <a:extLst>
                <a:ext uri="{FF2B5EF4-FFF2-40B4-BE49-F238E27FC236}">
                  <a16:creationId xmlns:a16="http://schemas.microsoft.com/office/drawing/2014/main" id="{2C5DCCAA-4B50-C34B-167A-F555CAF7F735}"/>
                </a:ext>
              </a:extLst>
            </p:cNvPr>
            <p:cNvCxnSpPr>
              <a:cxnSpLocks/>
              <a:stCxn id="11" idx="3"/>
              <a:endCxn id="21" idx="1"/>
            </p:cNvCxnSpPr>
            <p:nvPr/>
          </p:nvCxnSpPr>
          <p:spPr>
            <a:xfrm>
              <a:off x="9557329" y="4154979"/>
              <a:ext cx="655603" cy="70887"/>
            </a:xfrm>
            <a:prstGeom prst="line">
              <a:avLst/>
            </a:prstGeom>
          </p:spPr>
          <p:style>
            <a:lnRef idx="1">
              <a:schemeClr val="accent1"/>
            </a:lnRef>
            <a:fillRef idx="0">
              <a:schemeClr val="accent1"/>
            </a:fillRef>
            <a:effectRef idx="0">
              <a:schemeClr val="accent1"/>
            </a:effectRef>
            <a:fontRef idx="minor">
              <a:schemeClr val="tx1"/>
            </a:fontRef>
          </p:style>
        </p:cxnSp>
        <p:cxnSp>
          <p:nvCxnSpPr>
            <p:cNvPr id="69" name="Connecteur droit 68">
              <a:extLst>
                <a:ext uri="{FF2B5EF4-FFF2-40B4-BE49-F238E27FC236}">
                  <a16:creationId xmlns:a16="http://schemas.microsoft.com/office/drawing/2014/main" id="{E7BC0D08-2550-00AD-ED53-1FDF5E1975D6}"/>
                </a:ext>
              </a:extLst>
            </p:cNvPr>
            <p:cNvCxnSpPr>
              <a:cxnSpLocks/>
            </p:cNvCxnSpPr>
            <p:nvPr/>
          </p:nvCxnSpPr>
          <p:spPr>
            <a:xfrm flipV="1">
              <a:off x="9061464" y="3586231"/>
              <a:ext cx="229007" cy="216285"/>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Connecteur droit 69">
              <a:extLst>
                <a:ext uri="{FF2B5EF4-FFF2-40B4-BE49-F238E27FC236}">
                  <a16:creationId xmlns:a16="http://schemas.microsoft.com/office/drawing/2014/main" id="{35557FC9-4E1A-F9A2-8584-1A6F7A5ACA93}"/>
                </a:ext>
              </a:extLst>
            </p:cNvPr>
            <p:cNvCxnSpPr>
              <a:cxnSpLocks/>
            </p:cNvCxnSpPr>
            <p:nvPr/>
          </p:nvCxnSpPr>
          <p:spPr>
            <a:xfrm flipV="1">
              <a:off x="8832457" y="2974509"/>
              <a:ext cx="493570" cy="699272"/>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necteur droit 70">
              <a:extLst>
                <a:ext uri="{FF2B5EF4-FFF2-40B4-BE49-F238E27FC236}">
                  <a16:creationId xmlns:a16="http://schemas.microsoft.com/office/drawing/2014/main" id="{A507BC1B-EB1E-BE77-F29E-298F204B5A34}"/>
                </a:ext>
              </a:extLst>
            </p:cNvPr>
            <p:cNvCxnSpPr>
              <a:cxnSpLocks/>
            </p:cNvCxnSpPr>
            <p:nvPr/>
          </p:nvCxnSpPr>
          <p:spPr>
            <a:xfrm flipV="1">
              <a:off x="8274790" y="3344447"/>
              <a:ext cx="373716" cy="426713"/>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2" name="Connecteur droit 71">
              <a:extLst>
                <a:ext uri="{FF2B5EF4-FFF2-40B4-BE49-F238E27FC236}">
                  <a16:creationId xmlns:a16="http://schemas.microsoft.com/office/drawing/2014/main" id="{082ACEFD-2D50-C542-0998-678BE4A9BF3F}"/>
                </a:ext>
              </a:extLst>
            </p:cNvPr>
            <p:cNvCxnSpPr>
              <a:cxnSpLocks/>
            </p:cNvCxnSpPr>
            <p:nvPr/>
          </p:nvCxnSpPr>
          <p:spPr>
            <a:xfrm flipV="1">
              <a:off x="7841301" y="3968928"/>
              <a:ext cx="139507" cy="269706"/>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Connecteur droit 72">
              <a:extLst>
                <a:ext uri="{FF2B5EF4-FFF2-40B4-BE49-F238E27FC236}">
                  <a16:creationId xmlns:a16="http://schemas.microsoft.com/office/drawing/2014/main" id="{E6CEC159-C0EB-3F06-8407-2F8B29CF682D}"/>
                </a:ext>
              </a:extLst>
            </p:cNvPr>
            <p:cNvCxnSpPr>
              <a:cxnSpLocks/>
              <a:endCxn id="8" idx="2"/>
            </p:cNvCxnSpPr>
            <p:nvPr/>
          </p:nvCxnSpPr>
          <p:spPr>
            <a:xfrm flipV="1">
              <a:off x="8227380" y="4572638"/>
              <a:ext cx="3812" cy="330712"/>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necteur droit 73">
              <a:extLst>
                <a:ext uri="{FF2B5EF4-FFF2-40B4-BE49-F238E27FC236}">
                  <a16:creationId xmlns:a16="http://schemas.microsoft.com/office/drawing/2014/main" id="{CCFAEDEE-2C44-E9DC-35D2-5D0B9E7C741B}"/>
                </a:ext>
              </a:extLst>
            </p:cNvPr>
            <p:cNvCxnSpPr>
              <a:cxnSpLocks/>
            </p:cNvCxnSpPr>
            <p:nvPr/>
          </p:nvCxnSpPr>
          <p:spPr>
            <a:xfrm flipV="1">
              <a:off x="8380147" y="4789687"/>
              <a:ext cx="258844" cy="141783"/>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necteur droit 74">
              <a:extLst>
                <a:ext uri="{FF2B5EF4-FFF2-40B4-BE49-F238E27FC236}">
                  <a16:creationId xmlns:a16="http://schemas.microsoft.com/office/drawing/2014/main" id="{C23484BD-48AE-B1FF-3446-A74CA941BCA5}"/>
                </a:ext>
              </a:extLst>
            </p:cNvPr>
            <p:cNvCxnSpPr>
              <a:cxnSpLocks/>
              <a:endCxn id="9" idx="2"/>
            </p:cNvCxnSpPr>
            <p:nvPr/>
          </p:nvCxnSpPr>
          <p:spPr>
            <a:xfrm flipH="1" flipV="1">
              <a:off x="8900848" y="4154295"/>
              <a:ext cx="71132" cy="507252"/>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76" name="Connecteur droit 75">
              <a:extLst>
                <a:ext uri="{FF2B5EF4-FFF2-40B4-BE49-F238E27FC236}">
                  <a16:creationId xmlns:a16="http://schemas.microsoft.com/office/drawing/2014/main" id="{350D9700-1097-B86C-BF19-8642A5C0F643}"/>
                </a:ext>
              </a:extLst>
            </p:cNvPr>
            <p:cNvCxnSpPr>
              <a:cxnSpLocks/>
            </p:cNvCxnSpPr>
            <p:nvPr/>
          </p:nvCxnSpPr>
          <p:spPr>
            <a:xfrm flipH="1" flipV="1">
              <a:off x="8124686" y="3079004"/>
              <a:ext cx="547291" cy="148403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77" name="Connecteur droit 76">
              <a:extLst>
                <a:ext uri="{FF2B5EF4-FFF2-40B4-BE49-F238E27FC236}">
                  <a16:creationId xmlns:a16="http://schemas.microsoft.com/office/drawing/2014/main" id="{527E6039-7FF2-817A-A3DF-4BC55EC62E8B}"/>
                </a:ext>
              </a:extLst>
            </p:cNvPr>
            <p:cNvCxnSpPr>
              <a:cxnSpLocks/>
              <a:endCxn id="10" idx="1"/>
            </p:cNvCxnSpPr>
            <p:nvPr/>
          </p:nvCxnSpPr>
          <p:spPr>
            <a:xfrm flipV="1">
              <a:off x="7833094" y="3176658"/>
              <a:ext cx="731769" cy="254708"/>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8" name="Connecteur droit 77">
              <a:extLst>
                <a:ext uri="{FF2B5EF4-FFF2-40B4-BE49-F238E27FC236}">
                  <a16:creationId xmlns:a16="http://schemas.microsoft.com/office/drawing/2014/main" id="{C01B9C58-39A7-7534-5F5A-953CD3297352}"/>
                </a:ext>
              </a:extLst>
            </p:cNvPr>
            <p:cNvCxnSpPr>
              <a:cxnSpLocks/>
            </p:cNvCxnSpPr>
            <p:nvPr/>
          </p:nvCxnSpPr>
          <p:spPr>
            <a:xfrm flipH="1" flipV="1">
              <a:off x="8473013" y="2114122"/>
              <a:ext cx="397927" cy="275526"/>
            </a:xfrm>
            <a:prstGeom prst="line">
              <a:avLst/>
            </a:prstGeom>
          </p:spPr>
          <p:style>
            <a:lnRef idx="1">
              <a:schemeClr val="accent1"/>
            </a:lnRef>
            <a:fillRef idx="0">
              <a:schemeClr val="accent1"/>
            </a:fillRef>
            <a:effectRef idx="0">
              <a:schemeClr val="accent1"/>
            </a:effectRef>
            <a:fontRef idx="minor">
              <a:schemeClr val="tx1"/>
            </a:fontRef>
          </p:style>
        </p:cxnSp>
        <p:cxnSp>
          <p:nvCxnSpPr>
            <p:cNvPr id="79" name="Connecteur droit 78">
              <a:extLst>
                <a:ext uri="{FF2B5EF4-FFF2-40B4-BE49-F238E27FC236}">
                  <a16:creationId xmlns:a16="http://schemas.microsoft.com/office/drawing/2014/main" id="{3E421674-80B0-0FC0-5806-CC09D81D0355}"/>
                </a:ext>
              </a:extLst>
            </p:cNvPr>
            <p:cNvCxnSpPr>
              <a:cxnSpLocks/>
            </p:cNvCxnSpPr>
            <p:nvPr/>
          </p:nvCxnSpPr>
          <p:spPr>
            <a:xfrm flipH="1">
              <a:off x="8108930" y="2579933"/>
              <a:ext cx="200052" cy="258177"/>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Connecteur droit 79">
              <a:extLst>
                <a:ext uri="{FF2B5EF4-FFF2-40B4-BE49-F238E27FC236}">
                  <a16:creationId xmlns:a16="http://schemas.microsoft.com/office/drawing/2014/main" id="{81F63157-BE61-B402-BC32-DDA01E6296F7}"/>
                </a:ext>
              </a:extLst>
            </p:cNvPr>
            <p:cNvCxnSpPr>
              <a:cxnSpLocks/>
              <a:endCxn id="24" idx="0"/>
            </p:cNvCxnSpPr>
            <p:nvPr/>
          </p:nvCxnSpPr>
          <p:spPr>
            <a:xfrm>
              <a:off x="9505039" y="2468078"/>
              <a:ext cx="7847" cy="149772"/>
            </a:xfrm>
            <a:prstGeom prst="line">
              <a:avLst/>
            </a:prstGeom>
          </p:spPr>
          <p:style>
            <a:lnRef idx="1">
              <a:schemeClr val="accent1"/>
            </a:lnRef>
            <a:fillRef idx="0">
              <a:schemeClr val="accent1"/>
            </a:fillRef>
            <a:effectRef idx="0">
              <a:schemeClr val="accent1"/>
            </a:effectRef>
            <a:fontRef idx="minor">
              <a:schemeClr val="tx1"/>
            </a:fontRef>
          </p:style>
        </p:cxnSp>
        <p:cxnSp>
          <p:nvCxnSpPr>
            <p:cNvPr id="81" name="Connecteur droit 80">
              <a:extLst>
                <a:ext uri="{FF2B5EF4-FFF2-40B4-BE49-F238E27FC236}">
                  <a16:creationId xmlns:a16="http://schemas.microsoft.com/office/drawing/2014/main" id="{989E0F71-2DAB-E333-566B-26F9DBD42EB3}"/>
                </a:ext>
              </a:extLst>
            </p:cNvPr>
            <p:cNvCxnSpPr>
              <a:cxnSpLocks/>
            </p:cNvCxnSpPr>
            <p:nvPr/>
          </p:nvCxnSpPr>
          <p:spPr>
            <a:xfrm>
              <a:off x="9408511" y="4342777"/>
              <a:ext cx="74409" cy="164665"/>
            </a:xfrm>
            <a:prstGeom prst="line">
              <a:avLst/>
            </a:prstGeom>
          </p:spPr>
          <p:style>
            <a:lnRef idx="1">
              <a:schemeClr val="accent1"/>
            </a:lnRef>
            <a:fillRef idx="0">
              <a:schemeClr val="accent1"/>
            </a:fillRef>
            <a:effectRef idx="0">
              <a:schemeClr val="accent1"/>
            </a:effectRef>
            <a:fontRef idx="minor">
              <a:schemeClr val="tx1"/>
            </a:fontRef>
          </p:style>
        </p:cxnSp>
        <p:cxnSp>
          <p:nvCxnSpPr>
            <p:cNvPr id="82" name="Connecteur droit 81">
              <a:extLst>
                <a:ext uri="{FF2B5EF4-FFF2-40B4-BE49-F238E27FC236}">
                  <a16:creationId xmlns:a16="http://schemas.microsoft.com/office/drawing/2014/main" id="{1E8C7B29-4415-AE05-3151-2F4B642277E7}"/>
                </a:ext>
              </a:extLst>
            </p:cNvPr>
            <p:cNvCxnSpPr>
              <a:cxnSpLocks/>
            </p:cNvCxnSpPr>
            <p:nvPr/>
          </p:nvCxnSpPr>
          <p:spPr>
            <a:xfrm>
              <a:off x="9711735" y="3656940"/>
              <a:ext cx="271287" cy="1177579"/>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83" name="Connecteur droit 82">
              <a:extLst>
                <a:ext uri="{FF2B5EF4-FFF2-40B4-BE49-F238E27FC236}">
                  <a16:creationId xmlns:a16="http://schemas.microsoft.com/office/drawing/2014/main" id="{05EE5FD1-AEFA-A1BE-46F5-DB70B12547E8}"/>
                </a:ext>
              </a:extLst>
            </p:cNvPr>
            <p:cNvCxnSpPr>
              <a:cxnSpLocks/>
            </p:cNvCxnSpPr>
            <p:nvPr/>
          </p:nvCxnSpPr>
          <p:spPr>
            <a:xfrm>
              <a:off x="8953861" y="4789687"/>
              <a:ext cx="719287" cy="234042"/>
            </a:xfrm>
            <a:prstGeom prst="line">
              <a:avLst/>
            </a:prstGeom>
          </p:spPr>
          <p:style>
            <a:lnRef idx="1">
              <a:schemeClr val="accent1"/>
            </a:lnRef>
            <a:fillRef idx="0">
              <a:schemeClr val="accent1"/>
            </a:fillRef>
            <a:effectRef idx="0">
              <a:schemeClr val="accent1"/>
            </a:effectRef>
            <a:fontRef idx="minor">
              <a:schemeClr val="tx1"/>
            </a:fontRef>
          </p:style>
        </p:cxnSp>
        <p:cxnSp>
          <p:nvCxnSpPr>
            <p:cNvPr id="84" name="Connecteur droit 83">
              <a:extLst>
                <a:ext uri="{FF2B5EF4-FFF2-40B4-BE49-F238E27FC236}">
                  <a16:creationId xmlns:a16="http://schemas.microsoft.com/office/drawing/2014/main" id="{BBD27002-E8B9-632A-BACF-2121E4333738}"/>
                </a:ext>
              </a:extLst>
            </p:cNvPr>
            <p:cNvCxnSpPr>
              <a:cxnSpLocks/>
            </p:cNvCxnSpPr>
            <p:nvPr/>
          </p:nvCxnSpPr>
          <p:spPr>
            <a:xfrm>
              <a:off x="10407658" y="3270999"/>
              <a:ext cx="504506" cy="100942"/>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85" name="Connecteur droit 84">
              <a:extLst>
                <a:ext uri="{FF2B5EF4-FFF2-40B4-BE49-F238E27FC236}">
                  <a16:creationId xmlns:a16="http://schemas.microsoft.com/office/drawing/2014/main" id="{0FAB10BE-F37C-F3F2-0458-6AC8813FFCD7}"/>
                </a:ext>
              </a:extLst>
            </p:cNvPr>
            <p:cNvCxnSpPr>
              <a:cxnSpLocks/>
              <a:stCxn id="4" idx="2"/>
            </p:cNvCxnSpPr>
            <p:nvPr/>
          </p:nvCxnSpPr>
          <p:spPr>
            <a:xfrm>
              <a:off x="8090620" y="4036603"/>
              <a:ext cx="17224" cy="18031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86" name="Connecteur droit 85">
              <a:extLst>
                <a:ext uri="{FF2B5EF4-FFF2-40B4-BE49-F238E27FC236}">
                  <a16:creationId xmlns:a16="http://schemas.microsoft.com/office/drawing/2014/main" id="{E68CC433-8C43-AAF4-3D81-9B92272C3733}"/>
                </a:ext>
              </a:extLst>
            </p:cNvPr>
            <p:cNvCxnSpPr>
              <a:cxnSpLocks/>
            </p:cNvCxnSpPr>
            <p:nvPr/>
          </p:nvCxnSpPr>
          <p:spPr>
            <a:xfrm>
              <a:off x="8860881" y="2760149"/>
              <a:ext cx="17224" cy="180318"/>
            </a:xfrm>
            <a:prstGeom prst="line">
              <a:avLst/>
            </a:prstGeom>
          </p:spPr>
          <p:style>
            <a:lnRef idx="1">
              <a:schemeClr val="accent1"/>
            </a:lnRef>
            <a:fillRef idx="0">
              <a:schemeClr val="accent1"/>
            </a:fillRef>
            <a:effectRef idx="0">
              <a:schemeClr val="accent1"/>
            </a:effectRef>
            <a:fontRef idx="minor">
              <a:schemeClr val="tx1"/>
            </a:fontRef>
          </p:style>
        </p:cxnSp>
        <p:cxnSp>
          <p:nvCxnSpPr>
            <p:cNvPr id="87" name="Connecteur droit 86">
              <a:extLst>
                <a:ext uri="{FF2B5EF4-FFF2-40B4-BE49-F238E27FC236}">
                  <a16:creationId xmlns:a16="http://schemas.microsoft.com/office/drawing/2014/main" id="{6C91ABB4-EF31-5E80-B239-B246FCCFAC03}"/>
                </a:ext>
              </a:extLst>
            </p:cNvPr>
            <p:cNvCxnSpPr>
              <a:cxnSpLocks/>
            </p:cNvCxnSpPr>
            <p:nvPr/>
          </p:nvCxnSpPr>
          <p:spPr>
            <a:xfrm>
              <a:off x="9035208" y="2693035"/>
              <a:ext cx="312333" cy="417522"/>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89" name="Espace réservé du contenu 2">
            <a:extLst>
              <a:ext uri="{FF2B5EF4-FFF2-40B4-BE49-F238E27FC236}">
                <a16:creationId xmlns:a16="http://schemas.microsoft.com/office/drawing/2014/main" id="{29E7476B-46D7-0073-13CE-7606765F71DB}"/>
              </a:ext>
            </a:extLst>
          </p:cNvPr>
          <p:cNvSpPr txBox="1">
            <a:spLocks/>
          </p:cNvSpPr>
          <p:nvPr/>
        </p:nvSpPr>
        <p:spPr>
          <a:xfrm>
            <a:off x="354646" y="4911326"/>
            <a:ext cx="2068742" cy="1472057"/>
          </a:xfrm>
          <a:prstGeom prst="rect">
            <a:avLst/>
          </a:prstGeom>
          <a:noFill/>
        </p:spPr>
        <p:txBody>
          <a:bodyPr vert="horz" lIns="91440" tIns="45720" rIns="91440" bIns="45720" rtlCol="0">
            <a:normAutofit fontScale="925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400" b="1" dirty="0"/>
              <a:t>Adapté pour </a:t>
            </a:r>
          </a:p>
          <a:p>
            <a:pPr marL="0" indent="0" algn="ctr">
              <a:buFont typeface="Arial" panose="020B0604020202020204" pitchFamily="34" charset="0"/>
              <a:buNone/>
            </a:pPr>
            <a:r>
              <a:rPr lang="fr-FR" sz="1400" dirty="0"/>
              <a:t>Communautés qui visent à tisser des </a:t>
            </a:r>
            <a:r>
              <a:rPr lang="fr-FR" sz="1400" dirty="0" err="1"/>
              <a:t>des</a:t>
            </a:r>
            <a:r>
              <a:rPr lang="fr-FR" sz="1400" dirty="0"/>
              <a:t> relations professionnelles entre les membres</a:t>
            </a:r>
          </a:p>
          <a:p>
            <a:pPr marL="0" indent="0" algn="ctr">
              <a:buFont typeface="Arial" panose="020B0604020202020204" pitchFamily="34" charset="0"/>
              <a:buNone/>
            </a:pPr>
            <a:r>
              <a:rPr lang="fr-FR" sz="1400" dirty="0"/>
              <a:t>Ex : Communauté de pratiques avec entraide</a:t>
            </a:r>
          </a:p>
        </p:txBody>
      </p:sp>
      <p:pic>
        <p:nvPicPr>
          <p:cNvPr id="90" name="Image 89">
            <a:extLst>
              <a:ext uri="{FF2B5EF4-FFF2-40B4-BE49-F238E27FC236}">
                <a16:creationId xmlns:a16="http://schemas.microsoft.com/office/drawing/2014/main" id="{8B434E0C-CACA-FCA3-27C3-AF9A3DA405C3}"/>
              </a:ext>
            </a:extLst>
          </p:cNvPr>
          <p:cNvPicPr>
            <a:picLocks noChangeAspect="1"/>
          </p:cNvPicPr>
          <p:nvPr/>
        </p:nvPicPr>
        <p:blipFill rotWithShape="1">
          <a:blip r:embed="rId14" cstate="print">
            <a:extLst>
              <a:ext uri="{28A0092B-C50C-407E-A947-70E740481C1C}">
                <a14:useLocalDpi xmlns:a14="http://schemas.microsoft.com/office/drawing/2010/main" val="0"/>
              </a:ext>
            </a:extLst>
          </a:blip>
          <a:srcRect l="23089" r="29493"/>
          <a:stretch/>
        </p:blipFill>
        <p:spPr>
          <a:xfrm>
            <a:off x="3217550" y="3138003"/>
            <a:ext cx="1298823" cy="1472117"/>
          </a:xfrm>
          <a:prstGeom prst="rect">
            <a:avLst/>
          </a:prstGeom>
        </p:spPr>
      </p:pic>
      <p:sp>
        <p:nvSpPr>
          <p:cNvPr id="91" name="Espace réservé du contenu 2">
            <a:extLst>
              <a:ext uri="{FF2B5EF4-FFF2-40B4-BE49-F238E27FC236}">
                <a16:creationId xmlns:a16="http://schemas.microsoft.com/office/drawing/2014/main" id="{3C693770-2B5F-4C59-A330-32AB7313FC6C}"/>
              </a:ext>
            </a:extLst>
          </p:cNvPr>
          <p:cNvSpPr txBox="1">
            <a:spLocks/>
          </p:cNvSpPr>
          <p:nvPr/>
        </p:nvSpPr>
        <p:spPr>
          <a:xfrm>
            <a:off x="2727773" y="4911326"/>
            <a:ext cx="2068742" cy="1411097"/>
          </a:xfrm>
          <a:prstGeom prst="rect">
            <a:avLst/>
          </a:prstGeom>
          <a:noFill/>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400" b="1" dirty="0"/>
              <a:t>Mais PAS adapté pour </a:t>
            </a:r>
          </a:p>
          <a:p>
            <a:pPr marL="0" indent="0" algn="ctr">
              <a:buFont typeface="Arial" panose="020B0604020202020204" pitchFamily="34" charset="0"/>
              <a:buNone/>
            </a:pPr>
            <a:r>
              <a:rPr lang="fr-FR" sz="1400" dirty="0"/>
              <a:t>communautés de style « diffusion réseaux sociaux » sans relation entre membres</a:t>
            </a:r>
          </a:p>
          <a:p>
            <a:pPr marL="0" indent="0" algn="ctr">
              <a:buFont typeface="Arial" panose="020B0604020202020204" pitchFamily="34" charset="0"/>
              <a:buNone/>
            </a:pPr>
            <a:r>
              <a:rPr lang="fr-FR" sz="1400" dirty="0"/>
              <a:t>Ex: Liste de diffusion d’actualités</a:t>
            </a:r>
          </a:p>
        </p:txBody>
      </p:sp>
      <p:sp>
        <p:nvSpPr>
          <p:cNvPr id="92" name="Signe de multiplication 91">
            <a:extLst>
              <a:ext uri="{FF2B5EF4-FFF2-40B4-BE49-F238E27FC236}">
                <a16:creationId xmlns:a16="http://schemas.microsoft.com/office/drawing/2014/main" id="{0DB9B60F-EFD2-7AE0-F84A-74946E354D1E}"/>
              </a:ext>
            </a:extLst>
          </p:cNvPr>
          <p:cNvSpPr/>
          <p:nvPr/>
        </p:nvSpPr>
        <p:spPr>
          <a:xfrm>
            <a:off x="2902928" y="2891627"/>
            <a:ext cx="2014788" cy="1994720"/>
          </a:xfrm>
          <a:prstGeom prst="mathMultiply">
            <a:avLst>
              <a:gd name="adj1" fmla="val 11865"/>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Espace réservé du contenu 2">
            <a:extLst>
              <a:ext uri="{FF2B5EF4-FFF2-40B4-BE49-F238E27FC236}">
                <a16:creationId xmlns:a16="http://schemas.microsoft.com/office/drawing/2014/main" id="{29A1A7DF-B457-59C3-809D-AD5E0D9F961D}"/>
              </a:ext>
            </a:extLst>
          </p:cNvPr>
          <p:cNvSpPr txBox="1">
            <a:spLocks/>
          </p:cNvSpPr>
          <p:nvPr/>
        </p:nvSpPr>
        <p:spPr>
          <a:xfrm>
            <a:off x="6757851" y="4916317"/>
            <a:ext cx="2336303" cy="1406106"/>
          </a:xfrm>
          <a:prstGeom prst="rect">
            <a:avLst/>
          </a:prstGeom>
          <a:noFill/>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400" b="1" dirty="0"/>
              <a:t>Adapté pour : </a:t>
            </a:r>
          </a:p>
          <a:p>
            <a:pPr marL="0" indent="0" algn="ctr">
              <a:buFont typeface="Arial" panose="020B0604020202020204" pitchFamily="34" charset="0"/>
              <a:buNone/>
            </a:pPr>
            <a:r>
              <a:rPr lang="fr-FR" sz="1400" dirty="0"/>
              <a:t>Communautés sur des sujets professionnels qui peuvent potentiellement demander  du temps professionnel</a:t>
            </a:r>
          </a:p>
          <a:p>
            <a:pPr marL="0" indent="0" algn="ctr">
              <a:buNone/>
            </a:pPr>
            <a:r>
              <a:rPr lang="fr-FR" sz="1400" dirty="0"/>
              <a:t>Ex : Communauté sur le futur du travail</a:t>
            </a:r>
          </a:p>
          <a:p>
            <a:pPr marL="0" indent="0" algn="ctr">
              <a:buFont typeface="Arial" panose="020B0604020202020204" pitchFamily="34" charset="0"/>
              <a:buNone/>
            </a:pPr>
            <a:endParaRPr lang="fr-FR" sz="1400" dirty="0"/>
          </a:p>
        </p:txBody>
      </p:sp>
      <p:sp>
        <p:nvSpPr>
          <p:cNvPr id="94" name="Espace réservé du contenu 2">
            <a:extLst>
              <a:ext uri="{FF2B5EF4-FFF2-40B4-BE49-F238E27FC236}">
                <a16:creationId xmlns:a16="http://schemas.microsoft.com/office/drawing/2014/main" id="{9A44479B-9BD4-99D7-ED8E-B865B31BF514}"/>
              </a:ext>
            </a:extLst>
          </p:cNvPr>
          <p:cNvSpPr txBox="1">
            <a:spLocks/>
          </p:cNvSpPr>
          <p:nvPr/>
        </p:nvSpPr>
        <p:spPr>
          <a:xfrm>
            <a:off x="9501051" y="4916317"/>
            <a:ext cx="2336303" cy="1702197"/>
          </a:xfrm>
          <a:prstGeom prst="rect">
            <a:avLst/>
          </a:prstGeom>
          <a:no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400" b="1" dirty="0"/>
              <a:t>Mais moins adapté pour :</a:t>
            </a:r>
          </a:p>
          <a:p>
            <a:pPr marL="0" indent="0" algn="ctr">
              <a:buFont typeface="Arial" panose="020B0604020202020204" pitchFamily="34" charset="0"/>
              <a:buNone/>
            </a:pPr>
            <a:r>
              <a:rPr lang="fr-FR" sz="1400" dirty="0"/>
              <a:t>Communautés sur du temps uniquement personnel et des sujets uniquement non professionnels</a:t>
            </a:r>
          </a:p>
          <a:p>
            <a:pPr marL="0" indent="0" algn="ctr">
              <a:buFont typeface="Arial" panose="020B0604020202020204" pitchFamily="34" charset="0"/>
              <a:buNone/>
            </a:pPr>
            <a:r>
              <a:rPr lang="fr-FR" sz="1400" dirty="0"/>
              <a:t>Ex: club de football de l’entreprise</a:t>
            </a:r>
          </a:p>
        </p:txBody>
      </p:sp>
      <p:pic>
        <p:nvPicPr>
          <p:cNvPr id="95" name="Image 94" descr="Une image contenant herbe, football, personne, boule&#10;&#10;Description générée automatiquement">
            <a:extLst>
              <a:ext uri="{FF2B5EF4-FFF2-40B4-BE49-F238E27FC236}">
                <a16:creationId xmlns:a16="http://schemas.microsoft.com/office/drawing/2014/main" id="{6C57A45A-3C09-7E7C-3140-61470EDBDD83}"/>
              </a:ext>
            </a:extLst>
          </p:cNvPr>
          <p:cNvPicPr>
            <a:picLocks noChangeAspect="1"/>
          </p:cNvPicPr>
          <p:nvPr/>
        </p:nvPicPr>
        <p:blipFill>
          <a:blip r:embed="rId15">
            <a:extLst>
              <a:ext uri="{28A0092B-C50C-407E-A947-70E740481C1C}">
                <a14:useLocalDpi xmlns:a14="http://schemas.microsoft.com/office/drawing/2010/main" val="0"/>
              </a:ext>
              <a:ext uri="{837473B0-CC2E-450A-ABE3-18F120FF3D39}">
                <a1611:picAttrSrcUrl xmlns:a1611="http://schemas.microsoft.com/office/drawing/2016/11/main" r:id="rId16"/>
              </a:ext>
            </a:extLst>
          </a:blip>
          <a:stretch>
            <a:fillRect/>
          </a:stretch>
        </p:blipFill>
        <p:spPr>
          <a:xfrm>
            <a:off x="9663771" y="3463177"/>
            <a:ext cx="1864738" cy="1208026"/>
          </a:xfrm>
          <a:prstGeom prst="rect">
            <a:avLst/>
          </a:prstGeom>
        </p:spPr>
      </p:pic>
      <p:pic>
        <p:nvPicPr>
          <p:cNvPr id="96" name="Image 95" descr="Une image contenant personne, debout, intérieur, gens&#10;&#10;Description générée automatiquement">
            <a:extLst>
              <a:ext uri="{FF2B5EF4-FFF2-40B4-BE49-F238E27FC236}">
                <a16:creationId xmlns:a16="http://schemas.microsoft.com/office/drawing/2014/main" id="{1272BA21-98A3-97DD-5B44-D337A0964AD2}"/>
              </a:ext>
            </a:extLst>
          </p:cNvPr>
          <p:cNvPicPr>
            <a:picLocks noChangeAspect="1"/>
          </p:cNvPicPr>
          <p:nvPr/>
        </p:nvPicPr>
        <p:blipFill rotWithShape="1">
          <a:blip r:embed="rId17">
            <a:extLst>
              <a:ext uri="{28A0092B-C50C-407E-A947-70E740481C1C}">
                <a14:useLocalDpi xmlns:a14="http://schemas.microsoft.com/office/drawing/2010/main" val="0"/>
              </a:ext>
              <a:ext uri="{837473B0-CC2E-450A-ABE3-18F120FF3D39}">
                <a1611:picAttrSrcUrl xmlns:a1611="http://schemas.microsoft.com/office/drawing/2016/11/main" r:id="rId18"/>
              </a:ext>
            </a:extLst>
          </a:blip>
          <a:srcRect t="3183"/>
          <a:stretch/>
        </p:blipFill>
        <p:spPr>
          <a:xfrm>
            <a:off x="6859153" y="3472035"/>
            <a:ext cx="1930469" cy="1146805"/>
          </a:xfrm>
          <a:prstGeom prst="rect">
            <a:avLst/>
          </a:prstGeom>
        </p:spPr>
      </p:pic>
      <p:sp>
        <p:nvSpPr>
          <p:cNvPr id="98" name="Signe de multiplication 97">
            <a:extLst>
              <a:ext uri="{FF2B5EF4-FFF2-40B4-BE49-F238E27FC236}">
                <a16:creationId xmlns:a16="http://schemas.microsoft.com/office/drawing/2014/main" id="{4FA1E108-37F9-A3FA-E46D-903CE93A043B}"/>
              </a:ext>
            </a:extLst>
          </p:cNvPr>
          <p:cNvSpPr/>
          <p:nvPr/>
        </p:nvSpPr>
        <p:spPr>
          <a:xfrm>
            <a:off x="9472374" y="3013418"/>
            <a:ext cx="2014788" cy="1994720"/>
          </a:xfrm>
          <a:prstGeom prst="mathMultiply">
            <a:avLst>
              <a:gd name="adj1" fmla="val 11865"/>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766766494"/>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68AF32E-DDF0-43B8-236A-27B2288EBC7D}"/>
              </a:ext>
            </a:extLst>
          </p:cNvPr>
          <p:cNvSpPr>
            <a:spLocks noGrp="1"/>
          </p:cNvSpPr>
          <p:nvPr>
            <p:ph type="title"/>
          </p:nvPr>
        </p:nvSpPr>
        <p:spPr>
          <a:xfrm>
            <a:off x="838200" y="365125"/>
            <a:ext cx="10515600" cy="513667"/>
          </a:xfrm>
        </p:spPr>
        <p:txBody>
          <a:bodyPr>
            <a:normAutofit fontScale="90000"/>
          </a:bodyPr>
          <a:lstStyle/>
          <a:p>
            <a:r>
              <a:rPr lang="fr-FR" dirty="0"/>
              <a:t>Ce qu’on trouve à chaque étape</a:t>
            </a:r>
          </a:p>
        </p:txBody>
      </p:sp>
      <p:graphicFrame>
        <p:nvGraphicFramePr>
          <p:cNvPr id="8" name="Tableau 4">
            <a:extLst>
              <a:ext uri="{FF2B5EF4-FFF2-40B4-BE49-F238E27FC236}">
                <a16:creationId xmlns:a16="http://schemas.microsoft.com/office/drawing/2014/main" id="{DEEDCF76-89D7-8047-1C0C-131F948835D3}"/>
              </a:ext>
            </a:extLst>
          </p:cNvPr>
          <p:cNvGraphicFramePr>
            <a:graphicFrameLocks noGrp="1"/>
          </p:cNvGraphicFramePr>
          <p:nvPr>
            <p:ph idx="1"/>
            <p:extLst>
              <p:ext uri="{D42A27DB-BD31-4B8C-83A1-F6EECF244321}">
                <p14:modId xmlns:p14="http://schemas.microsoft.com/office/powerpoint/2010/main" val="126774426"/>
              </p:ext>
            </p:extLst>
          </p:nvPr>
        </p:nvGraphicFramePr>
        <p:xfrm>
          <a:off x="2473233" y="2551607"/>
          <a:ext cx="7022048" cy="3595088"/>
        </p:xfrm>
        <a:graphic>
          <a:graphicData uri="http://schemas.openxmlformats.org/drawingml/2006/table">
            <a:tbl>
              <a:tblPr firstRow="1">
                <a:tableStyleId>{5C22544A-7EE6-4342-B048-85BDC9FD1C3A}</a:tableStyleId>
              </a:tblPr>
              <a:tblGrid>
                <a:gridCol w="1404409">
                  <a:extLst>
                    <a:ext uri="{9D8B030D-6E8A-4147-A177-3AD203B41FA5}">
                      <a16:colId xmlns:a16="http://schemas.microsoft.com/office/drawing/2014/main" val="1718918336"/>
                    </a:ext>
                  </a:extLst>
                </a:gridCol>
                <a:gridCol w="1404409">
                  <a:extLst>
                    <a:ext uri="{9D8B030D-6E8A-4147-A177-3AD203B41FA5}">
                      <a16:colId xmlns:a16="http://schemas.microsoft.com/office/drawing/2014/main" val="1622701972"/>
                    </a:ext>
                  </a:extLst>
                </a:gridCol>
                <a:gridCol w="702205">
                  <a:extLst>
                    <a:ext uri="{9D8B030D-6E8A-4147-A177-3AD203B41FA5}">
                      <a16:colId xmlns:a16="http://schemas.microsoft.com/office/drawing/2014/main" val="4159813692"/>
                    </a:ext>
                  </a:extLst>
                </a:gridCol>
                <a:gridCol w="702205">
                  <a:extLst>
                    <a:ext uri="{9D8B030D-6E8A-4147-A177-3AD203B41FA5}">
                      <a16:colId xmlns:a16="http://schemas.microsoft.com/office/drawing/2014/main" val="1209033599"/>
                    </a:ext>
                  </a:extLst>
                </a:gridCol>
                <a:gridCol w="702205">
                  <a:extLst>
                    <a:ext uri="{9D8B030D-6E8A-4147-A177-3AD203B41FA5}">
                      <a16:colId xmlns:a16="http://schemas.microsoft.com/office/drawing/2014/main" val="585059365"/>
                    </a:ext>
                  </a:extLst>
                </a:gridCol>
                <a:gridCol w="702205">
                  <a:extLst>
                    <a:ext uri="{9D8B030D-6E8A-4147-A177-3AD203B41FA5}">
                      <a16:colId xmlns:a16="http://schemas.microsoft.com/office/drawing/2014/main" val="3793717718"/>
                    </a:ext>
                  </a:extLst>
                </a:gridCol>
                <a:gridCol w="702205">
                  <a:extLst>
                    <a:ext uri="{9D8B030D-6E8A-4147-A177-3AD203B41FA5}">
                      <a16:colId xmlns:a16="http://schemas.microsoft.com/office/drawing/2014/main" val="2007218290"/>
                    </a:ext>
                  </a:extLst>
                </a:gridCol>
                <a:gridCol w="702205">
                  <a:extLst>
                    <a:ext uri="{9D8B030D-6E8A-4147-A177-3AD203B41FA5}">
                      <a16:colId xmlns:a16="http://schemas.microsoft.com/office/drawing/2014/main" val="2003068962"/>
                    </a:ext>
                  </a:extLst>
                </a:gridCol>
              </a:tblGrid>
              <a:tr h="520529">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t>Etape de RENSEIGNEMENT BASIQUE</a:t>
                      </a:r>
                    </a:p>
                    <a:p>
                      <a:r>
                        <a:rPr lang="fr-FR" sz="1200" i="1" dirty="0"/>
                        <a:t>« Tâter le terrain pour se faire une idée »</a:t>
                      </a:r>
                    </a:p>
                  </a:txBody>
                  <a:tcPr marL="92240" marR="92240" marT="46120" marB="46120">
                    <a:solidFill>
                      <a:srgbClr val="ED7D31"/>
                    </a:solidFill>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459696">
                <a:tc>
                  <a:txBody>
                    <a:bodyPr/>
                    <a:lstStyle/>
                    <a:p>
                      <a:r>
                        <a:rPr lang="fr-FR" sz="1200" b="1" dirty="0"/>
                        <a:t>Timing </a:t>
                      </a:r>
                    </a:p>
                  </a:txBody>
                  <a:tcPr marL="62297" marR="62297" marT="31147" marB="31147">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200" b="1" dirty="0"/>
                        <a:t>Approches</a:t>
                      </a:r>
                    </a:p>
                  </a:txBody>
                  <a:tcPr marL="62297" marR="62297" marT="31147" marB="31147">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200" b="1" dirty="0"/>
                        <a:t>7 ressources clés à trouver, établir ou mettre en commun à cette étape</a:t>
                      </a:r>
                      <a:endParaRPr lang="fr-FR" sz="1200" dirty="0"/>
                    </a:p>
                  </a:txBody>
                  <a:tcPr marL="92240" marR="92240" marT="46120" marB="46120">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863567">
                <a:tc>
                  <a:txBody>
                    <a:bodyPr/>
                    <a:lstStyle/>
                    <a:p>
                      <a:endParaRPr lang="fr-FR" sz="900" dirty="0"/>
                    </a:p>
                  </a:txBody>
                  <a:tcPr marL="62297" marR="62297" marT="31147" marB="3114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900" dirty="0"/>
                    </a:p>
                  </a:txBody>
                  <a:tcPr marL="62297" marR="62297" marT="31147" marB="3114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900" dirty="0"/>
                    </a:p>
                  </a:txBody>
                  <a:tcPr marL="62297" marR="62297" marT="31147" marB="3114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900" dirty="0"/>
                    </a:p>
                  </a:txBody>
                  <a:tcPr marL="62297" marR="62297" marT="31147" marB="3114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900" dirty="0"/>
                    </a:p>
                  </a:txBody>
                  <a:tcPr marL="62297" marR="62297" marT="31147" marB="3114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900" dirty="0"/>
                    </a:p>
                  </a:txBody>
                  <a:tcPr marL="62297" marR="62297" marT="31147" marB="3114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900" dirty="0"/>
                    </a:p>
                  </a:txBody>
                  <a:tcPr marL="62297" marR="62297" marT="31147" marB="3114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900" dirty="0"/>
                    </a:p>
                  </a:txBody>
                  <a:tcPr marL="62297" marR="62297" marT="31147" marB="3114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275136">
                <a:tc gridSpan="8">
                  <a:txBody>
                    <a:bodyPr/>
                    <a:lstStyle/>
                    <a:p>
                      <a:r>
                        <a:rPr lang="fr-FR" sz="1200" b="1" dirty="0"/>
                        <a:t>5 actions et contenus clés pour cette étape</a:t>
                      </a:r>
                    </a:p>
                  </a:txBody>
                  <a:tcPr marL="92240" marR="92240" marT="46120" marB="46120">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1476160">
                <a:tc>
                  <a:txBody>
                    <a:bodyPr/>
                    <a:lstStyle/>
                    <a:p>
                      <a:endParaRPr lang="fr-FR" sz="900" dirty="0"/>
                    </a:p>
                  </a:txBody>
                  <a:tcPr marL="62297" marR="62297" marT="31147" marB="3114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900" dirty="0"/>
                    </a:p>
                  </a:txBody>
                  <a:tcPr marL="62297" marR="62297" marT="31147" marB="3114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900" dirty="0"/>
                    </a:p>
                  </a:txBody>
                  <a:tcPr marL="92240" marR="92240" marT="46120" marB="4612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900" dirty="0"/>
                    </a:p>
                  </a:txBody>
                  <a:tcPr marL="92240" marR="92240" marT="46120" marB="4612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900" dirty="0"/>
                    </a:p>
                  </a:txBody>
                  <a:tcPr marL="92240" marR="92240" marT="46120" marB="4612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grpSp>
        <p:nvGrpSpPr>
          <p:cNvPr id="80" name="Groupe 79">
            <a:extLst>
              <a:ext uri="{FF2B5EF4-FFF2-40B4-BE49-F238E27FC236}">
                <a16:creationId xmlns:a16="http://schemas.microsoft.com/office/drawing/2014/main" id="{04CA0FEE-DBB7-E3A3-AD7A-B64003109FDA}"/>
              </a:ext>
            </a:extLst>
          </p:cNvPr>
          <p:cNvGrpSpPr/>
          <p:nvPr/>
        </p:nvGrpSpPr>
        <p:grpSpPr>
          <a:xfrm>
            <a:off x="2534194" y="3544815"/>
            <a:ext cx="6907148" cy="2487594"/>
            <a:chOff x="819790" y="2327262"/>
            <a:chExt cx="10432935" cy="3757399"/>
          </a:xfrm>
        </p:grpSpPr>
        <p:sp>
          <p:nvSpPr>
            <p:cNvPr id="9" name="Flèche : droite 8">
              <a:extLst>
                <a:ext uri="{FF2B5EF4-FFF2-40B4-BE49-F238E27FC236}">
                  <a16:creationId xmlns:a16="http://schemas.microsoft.com/office/drawing/2014/main" id="{389ED5DD-0909-A132-E676-5C6781845ACF}"/>
                </a:ext>
              </a:extLst>
            </p:cNvPr>
            <p:cNvSpPr/>
            <p:nvPr/>
          </p:nvSpPr>
          <p:spPr>
            <a:xfrm>
              <a:off x="819790" y="2453659"/>
              <a:ext cx="2021186" cy="1079382"/>
            </a:xfrm>
            <a:prstGeom prst="rightArrow">
              <a:avLst>
                <a:gd name="adj1" fmla="val 69414"/>
                <a:gd name="adj2" fmla="val 50000"/>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b="1" dirty="0">
                  <a:solidFill>
                    <a:schemeClr val="tx1"/>
                  </a:solidFill>
                </a:rPr>
                <a:t>MOTIVATIONS : </a:t>
              </a:r>
            </a:p>
            <a:p>
              <a:pPr algn="ctr"/>
              <a:r>
                <a:rPr lang="fr-FR" sz="700" dirty="0">
                  <a:solidFill>
                    <a:schemeClr val="tx1"/>
                  </a:solidFill>
                </a:rPr>
                <a:t>Se projeter et se poser des questions sur la valeur possible</a:t>
              </a:r>
            </a:p>
          </p:txBody>
        </p:sp>
        <p:sp>
          <p:nvSpPr>
            <p:cNvPr id="10" name="Rectangle 9">
              <a:extLst>
                <a:ext uri="{FF2B5EF4-FFF2-40B4-BE49-F238E27FC236}">
                  <a16:creationId xmlns:a16="http://schemas.microsoft.com/office/drawing/2014/main" id="{4AF8D0DB-3CC5-C5C0-5D09-F5978E8ADC6D}"/>
                </a:ext>
              </a:extLst>
            </p:cNvPr>
            <p:cNvSpPr/>
            <p:nvPr/>
          </p:nvSpPr>
          <p:spPr>
            <a:xfrm>
              <a:off x="5294445" y="5165869"/>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600" dirty="0">
                  <a:solidFill>
                    <a:schemeClr val="tx1"/>
                  </a:solidFill>
                </a:rPr>
                <a:t>⚙️Fréquentation des sponsors en dehors de leurs interactions avec la Communauté</a:t>
              </a:r>
            </a:p>
          </p:txBody>
        </p:sp>
        <p:grpSp>
          <p:nvGrpSpPr>
            <p:cNvPr id="11" name="Groupe 10">
              <a:extLst>
                <a:ext uri="{FF2B5EF4-FFF2-40B4-BE49-F238E27FC236}">
                  <a16:creationId xmlns:a16="http://schemas.microsoft.com/office/drawing/2014/main" id="{3721265A-E3D7-6204-A714-561B2E1C3AAA}"/>
                </a:ext>
              </a:extLst>
            </p:cNvPr>
            <p:cNvGrpSpPr/>
            <p:nvPr/>
          </p:nvGrpSpPr>
          <p:grpSpPr>
            <a:xfrm>
              <a:off x="3182725" y="4390337"/>
              <a:ext cx="1492148" cy="1448128"/>
              <a:chOff x="12851173" y="6144094"/>
              <a:chExt cx="1492148" cy="1448128"/>
            </a:xfrm>
          </p:grpSpPr>
          <p:sp>
            <p:nvSpPr>
              <p:cNvPr id="12" name="Rectangle 11">
                <a:extLst>
                  <a:ext uri="{FF2B5EF4-FFF2-40B4-BE49-F238E27FC236}">
                    <a16:creationId xmlns:a16="http://schemas.microsoft.com/office/drawing/2014/main" id="{F40BBF87-161E-6D6D-2DB6-47C699A7B567}"/>
                  </a:ext>
                </a:extLst>
              </p:cNvPr>
              <p:cNvSpPr/>
              <p:nvPr/>
            </p:nvSpPr>
            <p:spPr>
              <a:xfrm>
                <a:off x="12851173" y="6929343"/>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600" dirty="0">
                    <a:solidFill>
                      <a:schemeClr val="tx1"/>
                    </a:solidFill>
                  </a:rPr>
                  <a:t>📅Discussions libres (sans contraintes) avec les membres potentiels</a:t>
                </a:r>
              </a:p>
            </p:txBody>
          </p:sp>
          <p:pic>
            <p:nvPicPr>
              <p:cNvPr id="13" name="Graphique 12" descr="Salle de conseil avec un remplissage uni">
                <a:extLst>
                  <a:ext uri="{FF2B5EF4-FFF2-40B4-BE49-F238E27FC236}">
                    <a16:creationId xmlns:a16="http://schemas.microsoft.com/office/drawing/2014/main" id="{C6EA2790-D595-A48E-AEB3-26CFF6A35E2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215373" y="6144094"/>
                <a:ext cx="914400" cy="914400"/>
              </a:xfrm>
              <a:prstGeom prst="rect">
                <a:avLst/>
              </a:prstGeom>
            </p:spPr>
          </p:pic>
          <p:pic>
            <p:nvPicPr>
              <p:cNvPr id="14" name="Graphique 13" descr="Femme détective avec un remplissage uni">
                <a:extLst>
                  <a:ext uri="{FF2B5EF4-FFF2-40B4-BE49-F238E27FC236}">
                    <a16:creationId xmlns:a16="http://schemas.microsoft.com/office/drawing/2014/main" id="{433B3D09-A5F5-CCFA-70CB-10D14FDDD8C9}"/>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b="48385"/>
              <a:stretch/>
            </p:blipFill>
            <p:spPr>
              <a:xfrm>
                <a:off x="13244383" y="6266519"/>
                <a:ext cx="370436" cy="191200"/>
              </a:xfrm>
              <a:prstGeom prst="rect">
                <a:avLst/>
              </a:prstGeom>
            </p:spPr>
          </p:pic>
        </p:grpSp>
        <p:pic>
          <p:nvPicPr>
            <p:cNvPr id="15" name="Graphique 14" descr="Golf avec un remplissage uni">
              <a:extLst>
                <a:ext uri="{FF2B5EF4-FFF2-40B4-BE49-F238E27FC236}">
                  <a16:creationId xmlns:a16="http://schemas.microsoft.com/office/drawing/2014/main" id="{D2C64A91-09CF-ACF2-74C3-A431B024E7C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026797" y="4196989"/>
              <a:ext cx="914400" cy="914400"/>
            </a:xfrm>
            <a:prstGeom prst="rect">
              <a:avLst/>
            </a:prstGeom>
          </p:spPr>
        </p:pic>
        <p:pic>
          <p:nvPicPr>
            <p:cNvPr id="18" name="Graphique 17" descr="Femme détective avec un remplissage uni">
              <a:extLst>
                <a:ext uri="{FF2B5EF4-FFF2-40B4-BE49-F238E27FC236}">
                  <a16:creationId xmlns:a16="http://schemas.microsoft.com/office/drawing/2014/main" id="{A04B0C34-378A-1478-15E1-CEF7156FEE3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418831" y="4232557"/>
              <a:ext cx="662879" cy="662879"/>
            </a:xfrm>
            <a:prstGeom prst="rect">
              <a:avLst/>
            </a:prstGeom>
          </p:spPr>
        </p:pic>
        <p:pic>
          <p:nvPicPr>
            <p:cNvPr id="19" name="Graphique 18" descr="Clubs de golf avec un remplissage uni">
              <a:extLst>
                <a:ext uri="{FF2B5EF4-FFF2-40B4-BE49-F238E27FC236}">
                  <a16:creationId xmlns:a16="http://schemas.microsoft.com/office/drawing/2014/main" id="{F34C1530-C2AF-5003-CC84-299D81612FE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818932">
              <a:off x="5745738" y="4513807"/>
              <a:ext cx="536548" cy="536548"/>
            </a:xfrm>
            <a:prstGeom prst="rect">
              <a:avLst/>
            </a:prstGeom>
          </p:spPr>
        </p:pic>
        <p:grpSp>
          <p:nvGrpSpPr>
            <p:cNvPr id="20" name="Groupe 19">
              <a:extLst>
                <a:ext uri="{FF2B5EF4-FFF2-40B4-BE49-F238E27FC236}">
                  <a16:creationId xmlns:a16="http://schemas.microsoft.com/office/drawing/2014/main" id="{A24B0F26-790F-8359-33C5-89A6594833E5}"/>
                </a:ext>
              </a:extLst>
            </p:cNvPr>
            <p:cNvGrpSpPr/>
            <p:nvPr/>
          </p:nvGrpSpPr>
          <p:grpSpPr>
            <a:xfrm>
              <a:off x="8004038" y="4233200"/>
              <a:ext cx="916093" cy="916094"/>
              <a:chOff x="1195526" y="3102720"/>
              <a:chExt cx="1771118" cy="1771119"/>
            </a:xfrm>
          </p:grpSpPr>
          <p:pic>
            <p:nvPicPr>
              <p:cNvPr id="21" name="Graphique 20" descr="Homme conductrice avec un remplissage uni">
                <a:extLst>
                  <a:ext uri="{FF2B5EF4-FFF2-40B4-BE49-F238E27FC236}">
                    <a16:creationId xmlns:a16="http://schemas.microsoft.com/office/drawing/2014/main" id="{CCD4C5E6-5A79-CC89-E9D6-8ED708AB0170}"/>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195526" y="3102720"/>
                <a:ext cx="1771118" cy="1771119"/>
              </a:xfrm>
              <a:prstGeom prst="rect">
                <a:avLst/>
              </a:prstGeom>
            </p:spPr>
          </p:pic>
          <p:sp>
            <p:nvSpPr>
              <p:cNvPr id="22" name="Rectangle 21">
                <a:extLst>
                  <a:ext uri="{FF2B5EF4-FFF2-40B4-BE49-F238E27FC236}">
                    <a16:creationId xmlns:a16="http://schemas.microsoft.com/office/drawing/2014/main" id="{5871F780-200C-A47B-EFC6-5508F411735C}"/>
                  </a:ext>
                </a:extLst>
              </p:cNvPr>
              <p:cNvSpPr/>
              <p:nvPr/>
            </p:nvSpPr>
            <p:spPr>
              <a:xfrm>
                <a:off x="2510447" y="3102720"/>
                <a:ext cx="456197" cy="9361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700" dirty="0">
                  <a:solidFill>
                    <a:schemeClr val="tx1"/>
                  </a:solidFill>
                </a:endParaRPr>
              </a:p>
            </p:txBody>
          </p:sp>
        </p:grpSp>
        <p:pic>
          <p:nvPicPr>
            <p:cNvPr id="23" name="Graphique 22" descr="Priorités avec un remplissage uni">
              <a:extLst>
                <a:ext uri="{FF2B5EF4-FFF2-40B4-BE49-F238E27FC236}">
                  <a16:creationId xmlns:a16="http://schemas.microsoft.com/office/drawing/2014/main" id="{FFB3F5BC-F578-5B8D-E0C6-95EF061BE309}"/>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368911" y="4129379"/>
              <a:ext cx="528942" cy="528942"/>
            </a:xfrm>
            <a:prstGeom prst="rect">
              <a:avLst/>
            </a:prstGeom>
          </p:spPr>
        </p:pic>
        <p:sp>
          <p:nvSpPr>
            <p:cNvPr id="24" name="Rectangle 23">
              <a:extLst>
                <a:ext uri="{FF2B5EF4-FFF2-40B4-BE49-F238E27FC236}">
                  <a16:creationId xmlns:a16="http://schemas.microsoft.com/office/drawing/2014/main" id="{D540FB2B-373F-2BCD-6E54-68631532EC54}"/>
                </a:ext>
              </a:extLst>
            </p:cNvPr>
            <p:cNvSpPr/>
            <p:nvPr/>
          </p:nvSpPr>
          <p:spPr>
            <a:xfrm>
              <a:off x="7439060" y="5170404"/>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600" dirty="0">
                  <a:solidFill>
                    <a:schemeClr val="tx1"/>
                  </a:solidFill>
                </a:rPr>
                <a:t>Se créer un </a:t>
              </a:r>
              <a:r>
                <a:rPr lang="fr-FR" sz="600" dirty="0" err="1">
                  <a:solidFill>
                    <a:schemeClr val="tx1"/>
                  </a:solidFill>
                </a:rPr>
                <a:t>backlog</a:t>
              </a:r>
              <a:r>
                <a:rPr lang="fr-FR" sz="600" dirty="0">
                  <a:solidFill>
                    <a:schemeClr val="tx1"/>
                  </a:solidFill>
                </a:rPr>
                <a:t> mental pour une éventuelle communauté</a:t>
              </a:r>
            </a:p>
          </p:txBody>
        </p:sp>
        <p:grpSp>
          <p:nvGrpSpPr>
            <p:cNvPr id="25" name="Groupe 24">
              <a:extLst>
                <a:ext uri="{FF2B5EF4-FFF2-40B4-BE49-F238E27FC236}">
                  <a16:creationId xmlns:a16="http://schemas.microsoft.com/office/drawing/2014/main" id="{17BD6E32-D10C-DA86-244B-4D130D9EFD6B}"/>
                </a:ext>
              </a:extLst>
            </p:cNvPr>
            <p:cNvGrpSpPr/>
            <p:nvPr/>
          </p:nvGrpSpPr>
          <p:grpSpPr>
            <a:xfrm>
              <a:off x="3202968" y="2327262"/>
              <a:ext cx="1517227" cy="1221531"/>
              <a:chOff x="3385848" y="2048588"/>
              <a:chExt cx="1517227" cy="1221531"/>
            </a:xfrm>
          </p:grpSpPr>
          <p:grpSp>
            <p:nvGrpSpPr>
              <p:cNvPr id="26" name="Groupe 25">
                <a:extLst>
                  <a:ext uri="{FF2B5EF4-FFF2-40B4-BE49-F238E27FC236}">
                    <a16:creationId xmlns:a16="http://schemas.microsoft.com/office/drawing/2014/main" id="{467920AF-3B18-AA49-F89F-85A402937318}"/>
                  </a:ext>
                </a:extLst>
              </p:cNvPr>
              <p:cNvGrpSpPr/>
              <p:nvPr/>
            </p:nvGrpSpPr>
            <p:grpSpPr>
              <a:xfrm>
                <a:off x="3700978" y="2048588"/>
                <a:ext cx="971223" cy="805096"/>
                <a:chOff x="-1799507" y="-602354"/>
                <a:chExt cx="1401199" cy="1161525"/>
              </a:xfrm>
            </p:grpSpPr>
            <p:pic>
              <p:nvPicPr>
                <p:cNvPr id="29" name="Graphique 28" descr="Utilisateur avec un remplissage uni">
                  <a:extLst>
                    <a:ext uri="{FF2B5EF4-FFF2-40B4-BE49-F238E27FC236}">
                      <a16:creationId xmlns:a16="http://schemas.microsoft.com/office/drawing/2014/main" id="{FE16BED2-73CE-0E40-9309-E5205DCDB50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799507" y="-551666"/>
                  <a:ext cx="411559" cy="411559"/>
                </a:xfrm>
                <a:prstGeom prst="rect">
                  <a:avLst/>
                </a:prstGeom>
              </p:spPr>
            </p:pic>
            <p:pic>
              <p:nvPicPr>
                <p:cNvPr id="30" name="Graphique 29" descr="Utilisateur avec un remplissage uni">
                  <a:extLst>
                    <a:ext uri="{FF2B5EF4-FFF2-40B4-BE49-F238E27FC236}">
                      <a16:creationId xmlns:a16="http://schemas.microsoft.com/office/drawing/2014/main" id="{BEFC4F5C-B3FC-5297-F1E9-97644FC9C150}"/>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733358" y="147612"/>
                  <a:ext cx="411559" cy="411559"/>
                </a:xfrm>
                <a:prstGeom prst="rect">
                  <a:avLst/>
                </a:prstGeom>
              </p:spPr>
            </p:pic>
            <p:pic>
              <p:nvPicPr>
                <p:cNvPr id="31" name="Graphique 30" descr="Utilisateur avec un remplissage uni">
                  <a:extLst>
                    <a:ext uri="{FF2B5EF4-FFF2-40B4-BE49-F238E27FC236}">
                      <a16:creationId xmlns:a16="http://schemas.microsoft.com/office/drawing/2014/main" id="{53254761-CDC3-3E03-7EE5-D264E92CEC5F}"/>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09867" y="137956"/>
                  <a:ext cx="411559" cy="411559"/>
                </a:xfrm>
                <a:prstGeom prst="rect">
                  <a:avLst/>
                </a:prstGeom>
              </p:spPr>
            </p:pic>
            <p:pic>
              <p:nvPicPr>
                <p:cNvPr id="32" name="Graphique 31" descr="Utilisateur avec un remplissage uni">
                  <a:extLst>
                    <a:ext uri="{FF2B5EF4-FFF2-40B4-BE49-F238E27FC236}">
                      <a16:creationId xmlns:a16="http://schemas.microsoft.com/office/drawing/2014/main" id="{38BDD042-E1B9-B959-6FDD-81783E89465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050117" y="-602354"/>
                  <a:ext cx="411559" cy="411559"/>
                </a:xfrm>
                <a:prstGeom prst="rect">
                  <a:avLst/>
                </a:prstGeom>
              </p:spPr>
            </p:pic>
          </p:grpSp>
          <p:sp>
            <p:nvSpPr>
              <p:cNvPr id="28" name="Titre 1">
                <a:extLst>
                  <a:ext uri="{FF2B5EF4-FFF2-40B4-BE49-F238E27FC236}">
                    <a16:creationId xmlns:a16="http://schemas.microsoft.com/office/drawing/2014/main" id="{E6EDD301-C038-8209-48C4-7B19E2108CEB}"/>
                  </a:ext>
                </a:extLst>
              </p:cNvPr>
              <p:cNvSpPr txBox="1">
                <a:spLocks/>
              </p:cNvSpPr>
              <p:nvPr/>
            </p:nvSpPr>
            <p:spPr>
              <a:xfrm>
                <a:off x="3385848" y="2853684"/>
                <a:ext cx="1517227" cy="41643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800" dirty="0"/>
                  <a:t>Approche </a:t>
                </a:r>
              </a:p>
              <a:p>
                <a:pPr algn="ctr"/>
                <a:r>
                  <a:rPr lang="fr-FR" sz="800" dirty="0"/>
                  <a:t>par </a:t>
                </a:r>
                <a:r>
                  <a:rPr lang="fr-FR" sz="800" b="1" dirty="0"/>
                  <a:t>individus</a:t>
                </a:r>
              </a:p>
            </p:txBody>
          </p:sp>
        </p:grpSp>
        <p:sp>
          <p:nvSpPr>
            <p:cNvPr id="33" name="Rectangle 32">
              <a:extLst>
                <a:ext uri="{FF2B5EF4-FFF2-40B4-BE49-F238E27FC236}">
                  <a16:creationId xmlns:a16="http://schemas.microsoft.com/office/drawing/2014/main" id="{177E49F2-090C-40ED-CC72-98F5922A52C7}"/>
                </a:ext>
              </a:extLst>
            </p:cNvPr>
            <p:cNvSpPr/>
            <p:nvPr/>
          </p:nvSpPr>
          <p:spPr>
            <a:xfrm>
              <a:off x="1020923" y="5170261"/>
              <a:ext cx="1668981" cy="914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400" dirty="0">
                  <a:solidFill>
                    <a:schemeClr val="tx1"/>
                  </a:solidFill>
                </a:rPr>
                <a:t>📅 Participation à des événements divers d’autres communautés et découvertes de types de contenus pour trouver des idées et des formats</a:t>
              </a:r>
            </a:p>
          </p:txBody>
        </p:sp>
        <p:sp>
          <p:nvSpPr>
            <p:cNvPr id="34" name="Flèche : droite 33">
              <a:extLst>
                <a:ext uri="{FF2B5EF4-FFF2-40B4-BE49-F238E27FC236}">
                  <a16:creationId xmlns:a16="http://schemas.microsoft.com/office/drawing/2014/main" id="{05B0C1C3-4CEC-29C4-4D9C-784DE4B4344A}"/>
                </a:ext>
              </a:extLst>
            </p:cNvPr>
            <p:cNvSpPr/>
            <p:nvPr/>
          </p:nvSpPr>
          <p:spPr>
            <a:xfrm>
              <a:off x="1121074" y="4216051"/>
              <a:ext cx="1608748" cy="859126"/>
            </a:xfrm>
            <a:prstGeom prst="rightArrow">
              <a:avLst>
                <a:gd name="adj1" fmla="val 69414"/>
                <a:gd name="adj2" fmla="val 50000"/>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35" name="Rectangle 34">
              <a:extLst>
                <a:ext uri="{FF2B5EF4-FFF2-40B4-BE49-F238E27FC236}">
                  <a16:creationId xmlns:a16="http://schemas.microsoft.com/office/drawing/2014/main" id="{CE83C09C-3468-4407-21C9-2B8A3F554348}"/>
                </a:ext>
              </a:extLst>
            </p:cNvPr>
            <p:cNvSpPr/>
            <p:nvPr/>
          </p:nvSpPr>
          <p:spPr>
            <a:xfrm>
              <a:off x="5029534" y="2846237"/>
              <a:ext cx="963951" cy="7459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00" dirty="0"/>
                <a:t>Contraintes ou problèmes similaires</a:t>
              </a:r>
            </a:p>
          </p:txBody>
        </p:sp>
        <p:sp>
          <p:nvSpPr>
            <p:cNvPr id="36" name="Rectangle 35">
              <a:extLst>
                <a:ext uri="{FF2B5EF4-FFF2-40B4-BE49-F238E27FC236}">
                  <a16:creationId xmlns:a16="http://schemas.microsoft.com/office/drawing/2014/main" id="{E8ADC056-00F3-7726-3A38-5D47027780CD}"/>
                </a:ext>
              </a:extLst>
            </p:cNvPr>
            <p:cNvSpPr/>
            <p:nvPr/>
          </p:nvSpPr>
          <p:spPr>
            <a:xfrm>
              <a:off x="6081485" y="2846237"/>
              <a:ext cx="963847" cy="7408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00" dirty="0"/>
                <a:t>Objectifs ou intérêts</a:t>
              </a:r>
            </a:p>
            <a:p>
              <a:pPr algn="ctr"/>
              <a:r>
                <a:rPr lang="fr-FR" sz="300" dirty="0"/>
                <a:t> similaires</a:t>
              </a:r>
            </a:p>
          </p:txBody>
        </p:sp>
        <p:sp>
          <p:nvSpPr>
            <p:cNvPr id="37" name="Rectangle 36">
              <a:extLst>
                <a:ext uri="{FF2B5EF4-FFF2-40B4-BE49-F238E27FC236}">
                  <a16:creationId xmlns:a16="http://schemas.microsoft.com/office/drawing/2014/main" id="{9E4F2F25-2B83-69CF-34D2-A8E6C4E4AA6D}"/>
                </a:ext>
              </a:extLst>
            </p:cNvPr>
            <p:cNvSpPr/>
            <p:nvPr/>
          </p:nvSpPr>
          <p:spPr>
            <a:xfrm>
              <a:off x="9237029" y="2846237"/>
              <a:ext cx="963847" cy="7408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00" dirty="0"/>
                <a:t>Expériences et histoires clés potentiellement utiles</a:t>
              </a:r>
            </a:p>
          </p:txBody>
        </p:sp>
        <p:sp>
          <p:nvSpPr>
            <p:cNvPr id="38" name="Rectangle 37">
              <a:extLst>
                <a:ext uri="{FF2B5EF4-FFF2-40B4-BE49-F238E27FC236}">
                  <a16:creationId xmlns:a16="http://schemas.microsoft.com/office/drawing/2014/main" id="{051975AE-7785-9E58-CFB3-94B8F96728BF}"/>
                </a:ext>
              </a:extLst>
            </p:cNvPr>
            <p:cNvSpPr/>
            <p:nvPr/>
          </p:nvSpPr>
          <p:spPr>
            <a:xfrm>
              <a:off x="7133333" y="2846237"/>
              <a:ext cx="963847" cy="7408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00" dirty="0"/>
                <a:t>Attention commune à un sujet en particulier</a:t>
              </a:r>
            </a:p>
          </p:txBody>
        </p:sp>
        <p:sp>
          <p:nvSpPr>
            <p:cNvPr id="39" name="Rectangle 38">
              <a:extLst>
                <a:ext uri="{FF2B5EF4-FFF2-40B4-BE49-F238E27FC236}">
                  <a16:creationId xmlns:a16="http://schemas.microsoft.com/office/drawing/2014/main" id="{61639C44-0E53-B65E-1F7A-7A7FC88AD04B}"/>
                </a:ext>
              </a:extLst>
            </p:cNvPr>
            <p:cNvSpPr/>
            <p:nvPr/>
          </p:nvSpPr>
          <p:spPr>
            <a:xfrm>
              <a:off x="8185181" y="2846237"/>
              <a:ext cx="963847" cy="7408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00" dirty="0"/>
                <a:t>Habitudes individuelles communes déjà en place </a:t>
              </a:r>
            </a:p>
          </p:txBody>
        </p:sp>
        <p:pic>
          <p:nvPicPr>
            <p:cNvPr id="40" name="Graphique 39" descr="Flèches de chevron avec un remplissage uni">
              <a:extLst>
                <a:ext uri="{FF2B5EF4-FFF2-40B4-BE49-F238E27FC236}">
                  <a16:creationId xmlns:a16="http://schemas.microsoft.com/office/drawing/2014/main" id="{2FE9216C-F0E4-1ECC-4CDE-2FFC00300286}"/>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289485" y="2330947"/>
              <a:ext cx="462773" cy="462772"/>
            </a:xfrm>
            <a:prstGeom prst="rect">
              <a:avLst/>
            </a:prstGeom>
          </p:spPr>
        </p:pic>
        <p:pic>
          <p:nvPicPr>
            <p:cNvPr id="63" name="Graphique 62" descr="Flèches de chevron avec un remplissage uni">
              <a:extLst>
                <a:ext uri="{FF2B5EF4-FFF2-40B4-BE49-F238E27FC236}">
                  <a16:creationId xmlns:a16="http://schemas.microsoft.com/office/drawing/2014/main" id="{47994071-FEA8-ACD6-E83C-BA9F7B10F5A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6315413" y="2349642"/>
              <a:ext cx="462773" cy="462772"/>
            </a:xfrm>
            <a:prstGeom prst="rect">
              <a:avLst/>
            </a:prstGeom>
          </p:spPr>
        </p:pic>
        <p:pic>
          <p:nvPicPr>
            <p:cNvPr id="64" name="Graphique 63" descr="Flèches de chevron avec un remplissage uni">
              <a:extLst>
                <a:ext uri="{FF2B5EF4-FFF2-40B4-BE49-F238E27FC236}">
                  <a16:creationId xmlns:a16="http://schemas.microsoft.com/office/drawing/2014/main" id="{E3040137-4B39-63D2-C4F9-BD80122F988D}"/>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385289" y="2349642"/>
              <a:ext cx="462773" cy="462772"/>
            </a:xfrm>
            <a:prstGeom prst="rect">
              <a:avLst/>
            </a:prstGeom>
          </p:spPr>
        </p:pic>
        <p:pic>
          <p:nvPicPr>
            <p:cNvPr id="65" name="Graphique 64" descr="Flèches de chevron avec un remplissage uni">
              <a:extLst>
                <a:ext uri="{FF2B5EF4-FFF2-40B4-BE49-F238E27FC236}">
                  <a16:creationId xmlns:a16="http://schemas.microsoft.com/office/drawing/2014/main" id="{04EF9F40-B45F-47D8-F840-1CF3857956A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395340" y="2359511"/>
              <a:ext cx="462773" cy="462772"/>
            </a:xfrm>
            <a:prstGeom prst="rect">
              <a:avLst/>
            </a:prstGeom>
          </p:spPr>
        </p:pic>
        <p:pic>
          <p:nvPicPr>
            <p:cNvPr id="66" name="Graphique 65" descr="Informations avec un remplissage uni">
              <a:extLst>
                <a:ext uri="{FF2B5EF4-FFF2-40B4-BE49-F238E27FC236}">
                  <a16:creationId xmlns:a16="http://schemas.microsoft.com/office/drawing/2014/main" id="{A0266020-B40D-5E02-6880-CBC1D0B5EFB0}"/>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9465216" y="2337794"/>
              <a:ext cx="484752" cy="484750"/>
            </a:xfrm>
            <a:prstGeom prst="rect">
              <a:avLst/>
            </a:prstGeom>
          </p:spPr>
        </p:pic>
        <p:sp>
          <p:nvSpPr>
            <p:cNvPr id="67" name="Rectangle 66">
              <a:extLst>
                <a:ext uri="{FF2B5EF4-FFF2-40B4-BE49-F238E27FC236}">
                  <a16:creationId xmlns:a16="http://schemas.microsoft.com/office/drawing/2014/main" id="{2CEF026D-14B5-C002-E192-05AA1A87999B}"/>
                </a:ext>
              </a:extLst>
            </p:cNvPr>
            <p:cNvSpPr/>
            <p:nvPr/>
          </p:nvSpPr>
          <p:spPr>
            <a:xfrm>
              <a:off x="10248356" y="2846237"/>
              <a:ext cx="1004369" cy="7408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00" dirty="0"/>
                <a:t>Accès à des réseaux et contacts clé pour un potentiel lancement</a:t>
              </a:r>
            </a:p>
          </p:txBody>
        </p:sp>
        <p:pic>
          <p:nvPicPr>
            <p:cNvPr id="68" name="Graphique 67" descr="Informations avec un remplissage uni">
              <a:extLst>
                <a:ext uri="{FF2B5EF4-FFF2-40B4-BE49-F238E27FC236}">
                  <a16:creationId xmlns:a16="http://schemas.microsoft.com/office/drawing/2014/main" id="{189CC28E-61AA-B711-2847-86804198F06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0484281" y="2337794"/>
              <a:ext cx="484752" cy="484750"/>
            </a:xfrm>
            <a:prstGeom prst="rect">
              <a:avLst/>
            </a:prstGeom>
          </p:spPr>
        </p:pic>
        <p:sp>
          <p:nvSpPr>
            <p:cNvPr id="69" name="Phylactère : pensées 68">
              <a:extLst>
                <a:ext uri="{FF2B5EF4-FFF2-40B4-BE49-F238E27FC236}">
                  <a16:creationId xmlns:a16="http://schemas.microsoft.com/office/drawing/2014/main" id="{ADEBD600-9C2F-FBA1-9A6E-43F2514E7BEC}"/>
                </a:ext>
              </a:extLst>
            </p:cNvPr>
            <p:cNvSpPr/>
            <p:nvPr/>
          </p:nvSpPr>
          <p:spPr>
            <a:xfrm>
              <a:off x="7211452" y="4040080"/>
              <a:ext cx="1082276" cy="725858"/>
            </a:xfrm>
            <a:prstGeom prst="cloudCallout">
              <a:avLst>
                <a:gd name="adj1" fmla="val 42533"/>
                <a:gd name="adj2" fmla="val 2182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a:p>
          </p:txBody>
        </p:sp>
        <p:sp>
          <p:nvSpPr>
            <p:cNvPr id="70" name="Rectangle 69">
              <a:extLst>
                <a:ext uri="{FF2B5EF4-FFF2-40B4-BE49-F238E27FC236}">
                  <a16:creationId xmlns:a16="http://schemas.microsoft.com/office/drawing/2014/main" id="{BE25CD36-627D-2860-24EA-6EC20C4E9568}"/>
                </a:ext>
              </a:extLst>
            </p:cNvPr>
            <p:cNvSpPr/>
            <p:nvPr/>
          </p:nvSpPr>
          <p:spPr>
            <a:xfrm>
              <a:off x="9475602" y="5149294"/>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600" dirty="0">
                  <a:solidFill>
                    <a:schemeClr val="tx1"/>
                  </a:solidFill>
                </a:rPr>
                <a:t>📅 Immersion dans le quotidien des membres (en dehors de la Communauté)</a:t>
              </a:r>
            </a:p>
          </p:txBody>
        </p:sp>
        <p:grpSp>
          <p:nvGrpSpPr>
            <p:cNvPr id="71" name="Groupe 70">
              <a:extLst>
                <a:ext uri="{FF2B5EF4-FFF2-40B4-BE49-F238E27FC236}">
                  <a16:creationId xmlns:a16="http://schemas.microsoft.com/office/drawing/2014/main" id="{25FBDF86-25F8-FCB9-75FA-572CBDDCD1E3}"/>
                </a:ext>
              </a:extLst>
            </p:cNvPr>
            <p:cNvGrpSpPr/>
            <p:nvPr/>
          </p:nvGrpSpPr>
          <p:grpSpPr>
            <a:xfrm>
              <a:off x="9771024" y="4376034"/>
              <a:ext cx="1082761" cy="668875"/>
              <a:chOff x="1853030" y="3305280"/>
              <a:chExt cx="4434487" cy="2739401"/>
            </a:xfrm>
          </p:grpSpPr>
          <p:pic>
            <p:nvPicPr>
              <p:cNvPr id="72" name="Graphique 71" descr="Personne confuse avec un remplissage uni">
                <a:extLst>
                  <a:ext uri="{FF2B5EF4-FFF2-40B4-BE49-F238E27FC236}">
                    <a16:creationId xmlns:a16="http://schemas.microsoft.com/office/drawing/2014/main" id="{D91910F1-1684-4EC8-52A4-6C0E2CA908DD}"/>
                  </a:ext>
                </a:extLst>
              </p:cNvPr>
              <p:cNvPicPr>
                <a:picLocks noChangeAspect="1"/>
              </p:cNvPicPr>
              <p:nvPr/>
            </p:nvPicPr>
            <p:blipFill rotWithShape="1">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l="60539" r="14769" b="50034"/>
              <a:stretch/>
            </p:blipFill>
            <p:spPr>
              <a:xfrm>
                <a:off x="1853030" y="4332121"/>
                <a:ext cx="846318" cy="1712560"/>
              </a:xfrm>
              <a:prstGeom prst="rect">
                <a:avLst/>
              </a:prstGeom>
            </p:spPr>
          </p:pic>
          <p:pic>
            <p:nvPicPr>
              <p:cNvPr id="73" name="Graphique 72" descr="Loupe avec un remplissage uni">
                <a:extLst>
                  <a:ext uri="{FF2B5EF4-FFF2-40B4-BE49-F238E27FC236}">
                    <a16:creationId xmlns:a16="http://schemas.microsoft.com/office/drawing/2014/main" id="{C1FCC772-607C-99D9-53E3-8548698EB434}"/>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flipH="1">
                <a:off x="2235992" y="4467181"/>
                <a:ext cx="1589482" cy="1442437"/>
              </a:xfrm>
              <a:prstGeom prst="rect">
                <a:avLst/>
              </a:prstGeom>
            </p:spPr>
          </p:pic>
          <p:pic>
            <p:nvPicPr>
              <p:cNvPr id="74" name="Graphique 73" descr="Bureau avec un remplissage uni">
                <a:extLst>
                  <a:ext uri="{FF2B5EF4-FFF2-40B4-BE49-F238E27FC236}">
                    <a16:creationId xmlns:a16="http://schemas.microsoft.com/office/drawing/2014/main" id="{0F0A19AF-3FD2-52FF-DB99-6C33C4FD63BA}"/>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608539" y="3305280"/>
                <a:ext cx="1211427" cy="1211427"/>
              </a:xfrm>
              <a:prstGeom prst="rect">
                <a:avLst/>
              </a:prstGeom>
            </p:spPr>
          </p:pic>
          <p:pic>
            <p:nvPicPr>
              <p:cNvPr id="75" name="Graphique 74" descr="Travail à domicile avec un remplissage uni">
                <a:extLst>
                  <a:ext uri="{FF2B5EF4-FFF2-40B4-BE49-F238E27FC236}">
                    <a16:creationId xmlns:a16="http://schemas.microsoft.com/office/drawing/2014/main" id="{B085D307-7E84-3894-3CBD-E5388385238B}"/>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5076090" y="3519632"/>
                <a:ext cx="1211427" cy="1211427"/>
              </a:xfrm>
              <a:prstGeom prst="rect">
                <a:avLst/>
              </a:prstGeom>
            </p:spPr>
          </p:pic>
          <p:pic>
            <p:nvPicPr>
              <p:cNvPr id="76" name="Graphique 75" descr="Employée de bureau avec un remplissage uni">
                <a:extLst>
                  <a:ext uri="{FF2B5EF4-FFF2-40B4-BE49-F238E27FC236}">
                    <a16:creationId xmlns:a16="http://schemas.microsoft.com/office/drawing/2014/main" id="{0576F4F1-8C3D-EBD8-59E9-B0B9E68DB86B}"/>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3993582" y="4059507"/>
                <a:ext cx="914400" cy="914400"/>
              </a:xfrm>
              <a:prstGeom prst="rect">
                <a:avLst/>
              </a:prstGeom>
            </p:spPr>
          </p:pic>
          <p:pic>
            <p:nvPicPr>
              <p:cNvPr id="77" name="Graphique 76" descr="Employé de bureau avec un remplissage uni">
                <a:extLst>
                  <a:ext uri="{FF2B5EF4-FFF2-40B4-BE49-F238E27FC236}">
                    <a16:creationId xmlns:a16="http://schemas.microsoft.com/office/drawing/2014/main" id="{1EDF8CBE-264C-FDAA-4A54-02C5C01C5E23}"/>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5063677" y="4707358"/>
                <a:ext cx="914400" cy="914400"/>
              </a:xfrm>
              <a:prstGeom prst="rect">
                <a:avLst/>
              </a:prstGeom>
            </p:spPr>
          </p:pic>
          <p:pic>
            <p:nvPicPr>
              <p:cNvPr id="78" name="Graphique 77" descr="Bulle de discussion contour">
                <a:extLst>
                  <a:ext uri="{FF2B5EF4-FFF2-40B4-BE49-F238E27FC236}">
                    <a16:creationId xmlns:a16="http://schemas.microsoft.com/office/drawing/2014/main" id="{3E8A2E9C-14EF-B110-9583-52F1A98BFA99}"/>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903" b="12311"/>
              <a:stretch/>
            </p:blipFill>
            <p:spPr>
              <a:xfrm>
                <a:off x="4951600" y="4547142"/>
                <a:ext cx="451149" cy="365688"/>
              </a:xfrm>
              <a:prstGeom prst="rect">
                <a:avLst/>
              </a:prstGeom>
            </p:spPr>
          </p:pic>
        </p:grpSp>
        <p:pic>
          <p:nvPicPr>
            <p:cNvPr id="79" name="Graphique 78" descr="Femme détective avec un remplissage uni">
              <a:extLst>
                <a:ext uri="{FF2B5EF4-FFF2-40B4-BE49-F238E27FC236}">
                  <a16:creationId xmlns:a16="http://schemas.microsoft.com/office/drawing/2014/main" id="{EDFF3C89-06C0-4FB1-16F3-7DE131FDAC3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69867" y="4576268"/>
              <a:ext cx="424223" cy="424223"/>
            </a:xfrm>
            <a:prstGeom prst="rect">
              <a:avLst/>
            </a:prstGeom>
          </p:spPr>
        </p:pic>
      </p:grpSp>
      <p:cxnSp>
        <p:nvCxnSpPr>
          <p:cNvPr id="81" name="Connecteur droit avec flèche 80">
            <a:extLst>
              <a:ext uri="{FF2B5EF4-FFF2-40B4-BE49-F238E27FC236}">
                <a16:creationId xmlns:a16="http://schemas.microsoft.com/office/drawing/2014/main" id="{577396BA-1D60-DA99-83C2-AC109D93F71E}"/>
              </a:ext>
            </a:extLst>
          </p:cNvPr>
          <p:cNvCxnSpPr>
            <a:cxnSpLocks/>
          </p:cNvCxnSpPr>
          <p:nvPr/>
        </p:nvCxnSpPr>
        <p:spPr>
          <a:xfrm flipV="1">
            <a:off x="1691251" y="3352800"/>
            <a:ext cx="842943" cy="86288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Connecteur droit avec flèche 82">
            <a:extLst>
              <a:ext uri="{FF2B5EF4-FFF2-40B4-BE49-F238E27FC236}">
                <a16:creationId xmlns:a16="http://schemas.microsoft.com/office/drawing/2014/main" id="{642E0963-9504-B192-2AEF-964817EDB761}"/>
              </a:ext>
            </a:extLst>
          </p:cNvPr>
          <p:cNvCxnSpPr>
            <a:cxnSpLocks/>
          </p:cNvCxnSpPr>
          <p:nvPr/>
        </p:nvCxnSpPr>
        <p:spPr>
          <a:xfrm>
            <a:off x="1903811" y="2570183"/>
            <a:ext cx="1432732" cy="5621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4" name="Connecteur droit avec flèche 83">
            <a:extLst>
              <a:ext uri="{FF2B5EF4-FFF2-40B4-BE49-F238E27FC236}">
                <a16:creationId xmlns:a16="http://schemas.microsoft.com/office/drawing/2014/main" id="{819DE22E-3005-91B6-B9BA-F1EF0FF6F667}"/>
              </a:ext>
            </a:extLst>
          </p:cNvPr>
          <p:cNvCxnSpPr>
            <a:cxnSpLocks/>
          </p:cNvCxnSpPr>
          <p:nvPr/>
        </p:nvCxnSpPr>
        <p:spPr>
          <a:xfrm flipH="1">
            <a:off x="4963616" y="2284667"/>
            <a:ext cx="794917" cy="100264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7" name="Connecteur droit avec flèche 86">
            <a:extLst>
              <a:ext uri="{FF2B5EF4-FFF2-40B4-BE49-F238E27FC236}">
                <a16:creationId xmlns:a16="http://schemas.microsoft.com/office/drawing/2014/main" id="{30782BA3-34FF-FD8E-0A57-A8DA3BED5FD1}"/>
              </a:ext>
            </a:extLst>
          </p:cNvPr>
          <p:cNvCxnSpPr>
            <a:cxnSpLocks/>
          </p:cNvCxnSpPr>
          <p:nvPr/>
        </p:nvCxnSpPr>
        <p:spPr>
          <a:xfrm flipH="1">
            <a:off x="9252674" y="2503556"/>
            <a:ext cx="1387413" cy="890178"/>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9" name="Connecteur droit avec flèche 88">
            <a:extLst>
              <a:ext uri="{FF2B5EF4-FFF2-40B4-BE49-F238E27FC236}">
                <a16:creationId xmlns:a16="http://schemas.microsoft.com/office/drawing/2014/main" id="{349F87C3-8728-8F62-1F2A-F02FFA987B00}"/>
              </a:ext>
            </a:extLst>
          </p:cNvPr>
          <p:cNvCxnSpPr>
            <a:cxnSpLocks/>
            <a:stCxn id="96" idx="1"/>
          </p:cNvCxnSpPr>
          <p:nvPr/>
        </p:nvCxnSpPr>
        <p:spPr>
          <a:xfrm flipH="1" flipV="1">
            <a:off x="8510998" y="4473286"/>
            <a:ext cx="2146786" cy="1420977"/>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4" name="ZoneTexte 93">
            <a:extLst>
              <a:ext uri="{FF2B5EF4-FFF2-40B4-BE49-F238E27FC236}">
                <a16:creationId xmlns:a16="http://schemas.microsoft.com/office/drawing/2014/main" id="{E9853197-1B10-74A6-9A69-F507FCA27E0A}"/>
              </a:ext>
            </a:extLst>
          </p:cNvPr>
          <p:cNvSpPr txBox="1"/>
          <p:nvPr/>
        </p:nvSpPr>
        <p:spPr>
          <a:xfrm>
            <a:off x="355819" y="3916680"/>
            <a:ext cx="1419706" cy="2308324"/>
          </a:xfrm>
          <a:prstGeom prst="rect">
            <a:avLst/>
          </a:prstGeom>
          <a:noFill/>
        </p:spPr>
        <p:txBody>
          <a:bodyPr wrap="square" rtlCol="0">
            <a:spAutoFit/>
          </a:bodyPr>
          <a:lstStyle/>
          <a:p>
            <a:r>
              <a:rPr lang="fr-FR" sz="1200" dirty="0"/>
              <a:t>Le </a:t>
            </a:r>
            <a:r>
              <a:rPr lang="fr-FR" sz="1200" b="1" dirty="0"/>
              <a:t>timing</a:t>
            </a:r>
            <a:r>
              <a:rPr lang="fr-FR" sz="1200" dirty="0"/>
              <a:t> d’appréciation de valeur qui correspond</a:t>
            </a:r>
          </a:p>
          <a:p>
            <a:r>
              <a:rPr lang="fr-FR" sz="1200" dirty="0"/>
              <a:t>à la plupart des activités à cette étape. </a:t>
            </a:r>
          </a:p>
          <a:p>
            <a:endParaRPr lang="fr-FR" sz="1200" dirty="0"/>
          </a:p>
          <a:p>
            <a:r>
              <a:rPr lang="fr-FR" sz="1200" dirty="0"/>
              <a:t>Pour en savoir plus, voir la section </a:t>
            </a:r>
            <a:r>
              <a:rPr lang="fr-FR" sz="1200" i="1" dirty="0"/>
              <a:t>« Ajustements de la valeur et timing »</a:t>
            </a:r>
          </a:p>
        </p:txBody>
      </p:sp>
      <p:sp>
        <p:nvSpPr>
          <p:cNvPr id="95" name="ZoneTexte 94">
            <a:extLst>
              <a:ext uri="{FF2B5EF4-FFF2-40B4-BE49-F238E27FC236}">
                <a16:creationId xmlns:a16="http://schemas.microsoft.com/office/drawing/2014/main" id="{9604725A-24FF-D403-D985-2618A5621220}"/>
              </a:ext>
            </a:extLst>
          </p:cNvPr>
          <p:cNvSpPr txBox="1"/>
          <p:nvPr/>
        </p:nvSpPr>
        <p:spPr>
          <a:xfrm>
            <a:off x="406281" y="1842945"/>
            <a:ext cx="1419706" cy="1200329"/>
          </a:xfrm>
          <a:prstGeom prst="rect">
            <a:avLst/>
          </a:prstGeom>
          <a:noFill/>
        </p:spPr>
        <p:txBody>
          <a:bodyPr wrap="square" rtlCol="0">
            <a:spAutoFit/>
          </a:bodyPr>
          <a:lstStyle/>
          <a:p>
            <a:r>
              <a:rPr lang="fr-FR" sz="1200" dirty="0"/>
              <a:t>Le </a:t>
            </a:r>
            <a:r>
              <a:rPr lang="fr-FR" sz="1200" b="1" dirty="0"/>
              <a:t>titre de l’étape </a:t>
            </a:r>
            <a:r>
              <a:rPr lang="fr-FR" sz="1200" dirty="0"/>
              <a:t>et </a:t>
            </a:r>
            <a:r>
              <a:rPr lang="fr-FR" sz="1200" b="1" dirty="0"/>
              <a:t>une phrase descriptive </a:t>
            </a:r>
            <a:r>
              <a:rPr lang="fr-FR" sz="1200" dirty="0"/>
              <a:t>pour avoir un résumé de la signification de cette étape</a:t>
            </a:r>
          </a:p>
        </p:txBody>
      </p:sp>
      <p:sp>
        <p:nvSpPr>
          <p:cNvPr id="96" name="ZoneTexte 95">
            <a:extLst>
              <a:ext uri="{FF2B5EF4-FFF2-40B4-BE49-F238E27FC236}">
                <a16:creationId xmlns:a16="http://schemas.microsoft.com/office/drawing/2014/main" id="{FABDABC2-A9F7-0AB1-97BD-BD350CF600BF}"/>
              </a:ext>
            </a:extLst>
          </p:cNvPr>
          <p:cNvSpPr txBox="1"/>
          <p:nvPr/>
        </p:nvSpPr>
        <p:spPr>
          <a:xfrm>
            <a:off x="10657784" y="5201765"/>
            <a:ext cx="1419706" cy="1384995"/>
          </a:xfrm>
          <a:prstGeom prst="rect">
            <a:avLst/>
          </a:prstGeom>
          <a:noFill/>
        </p:spPr>
        <p:txBody>
          <a:bodyPr wrap="square" rtlCol="0">
            <a:spAutoFit/>
          </a:bodyPr>
          <a:lstStyle/>
          <a:p>
            <a:r>
              <a:rPr lang="fr-FR" sz="1200" dirty="0"/>
              <a:t>Les </a:t>
            </a:r>
            <a:r>
              <a:rPr lang="fr-FR" sz="1200" b="1" dirty="0"/>
              <a:t>actions et contenus clés</a:t>
            </a:r>
            <a:r>
              <a:rPr lang="fr-FR" sz="1200" dirty="0"/>
              <a:t> sont des activités suggérées pour cette étape, il n’est pas nécessaire de toutes les faire</a:t>
            </a:r>
          </a:p>
        </p:txBody>
      </p:sp>
      <p:sp>
        <p:nvSpPr>
          <p:cNvPr id="97" name="ZoneTexte 96">
            <a:extLst>
              <a:ext uri="{FF2B5EF4-FFF2-40B4-BE49-F238E27FC236}">
                <a16:creationId xmlns:a16="http://schemas.microsoft.com/office/drawing/2014/main" id="{6EF8B926-A224-35CC-4F28-709AC70D2B94}"/>
              </a:ext>
            </a:extLst>
          </p:cNvPr>
          <p:cNvSpPr txBox="1"/>
          <p:nvPr/>
        </p:nvSpPr>
        <p:spPr>
          <a:xfrm>
            <a:off x="10657784" y="1861142"/>
            <a:ext cx="1419706" cy="3231654"/>
          </a:xfrm>
          <a:prstGeom prst="rect">
            <a:avLst/>
          </a:prstGeom>
          <a:noFill/>
        </p:spPr>
        <p:txBody>
          <a:bodyPr wrap="square" rtlCol="0">
            <a:spAutoFit/>
          </a:bodyPr>
          <a:lstStyle/>
          <a:p>
            <a:r>
              <a:rPr lang="fr-FR" sz="1200" dirty="0"/>
              <a:t>Les </a:t>
            </a:r>
            <a:r>
              <a:rPr lang="fr-FR" sz="1200" b="1" dirty="0"/>
              <a:t>ressources </a:t>
            </a:r>
            <a:r>
              <a:rPr lang="fr-FR" sz="1200" dirty="0"/>
              <a:t>sont les ressources qu’il est intéressant de collecter, d’établir ou de mettre en commun à cette étape. Il n’est pas nécessaire de toutes les avoir.</a:t>
            </a:r>
          </a:p>
          <a:p>
            <a:endParaRPr lang="fr-FR" sz="1200" dirty="0"/>
          </a:p>
          <a:p>
            <a:r>
              <a:rPr lang="fr-FR" sz="1200" dirty="0"/>
              <a:t>Pour en savoir plus, voir la section  « </a:t>
            </a:r>
            <a:r>
              <a:rPr lang="fr-FR" sz="1200" i="1" dirty="0"/>
              <a:t>Valeur d’être en communauté vs en individus </a:t>
            </a:r>
            <a:r>
              <a:rPr lang="fr-FR" sz="1200" dirty="0"/>
              <a:t>», sous section « </a:t>
            </a:r>
            <a:r>
              <a:rPr lang="fr-FR" sz="1200" i="1" dirty="0"/>
              <a:t>Ressources</a:t>
            </a:r>
            <a:r>
              <a:rPr lang="fr-FR" sz="1200" dirty="0"/>
              <a:t> »</a:t>
            </a:r>
          </a:p>
        </p:txBody>
      </p:sp>
      <p:sp>
        <p:nvSpPr>
          <p:cNvPr id="98" name="ZoneTexte 97">
            <a:extLst>
              <a:ext uri="{FF2B5EF4-FFF2-40B4-BE49-F238E27FC236}">
                <a16:creationId xmlns:a16="http://schemas.microsoft.com/office/drawing/2014/main" id="{56D4C2B9-15B3-DBEF-4EB4-6BA90EF87634}"/>
              </a:ext>
            </a:extLst>
          </p:cNvPr>
          <p:cNvSpPr txBox="1"/>
          <p:nvPr/>
        </p:nvSpPr>
        <p:spPr>
          <a:xfrm>
            <a:off x="4631976" y="1171554"/>
            <a:ext cx="4238346" cy="1200329"/>
          </a:xfrm>
          <a:prstGeom prst="rect">
            <a:avLst/>
          </a:prstGeom>
          <a:noFill/>
        </p:spPr>
        <p:txBody>
          <a:bodyPr wrap="square" rtlCol="0">
            <a:spAutoFit/>
          </a:bodyPr>
          <a:lstStyle/>
          <a:p>
            <a:r>
              <a:rPr lang="fr-FR" sz="1200" b="1" dirty="0"/>
              <a:t>Les approches </a:t>
            </a:r>
            <a:r>
              <a:rPr lang="fr-FR" sz="1200" dirty="0"/>
              <a:t>sont les façons de mutualiser qui sont suggérées : ou bien par une approche individuelle donc quasi sans mutualisation, ou bien une réunion qui mutualise ponctuellement, ou bien en communauté. </a:t>
            </a:r>
          </a:p>
          <a:p>
            <a:r>
              <a:rPr lang="fr-FR" sz="1200" dirty="0"/>
              <a:t>Pour en savoir plus, voir la section « Valeur d’être en communauté vs en individus »</a:t>
            </a:r>
          </a:p>
        </p:txBody>
      </p:sp>
    </p:spTree>
    <p:extLst>
      <p:ext uri="{BB962C8B-B14F-4D97-AF65-F5344CB8AC3E}">
        <p14:creationId xmlns:p14="http://schemas.microsoft.com/office/powerpoint/2010/main" val="153286949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68AF32E-DDF0-43B8-236A-27B2288EBC7D}"/>
              </a:ext>
            </a:extLst>
          </p:cNvPr>
          <p:cNvSpPr>
            <a:spLocks noGrp="1"/>
          </p:cNvSpPr>
          <p:nvPr>
            <p:ph type="title"/>
          </p:nvPr>
        </p:nvSpPr>
        <p:spPr/>
        <p:txBody>
          <a:bodyPr/>
          <a:lstStyle/>
          <a:p>
            <a:r>
              <a:rPr lang="fr-FR" dirty="0"/>
              <a:t>Quand choisir quel parcours ? </a:t>
            </a:r>
          </a:p>
        </p:txBody>
      </p:sp>
      <p:sp>
        <p:nvSpPr>
          <p:cNvPr id="3" name="Espace réservé du contenu 2">
            <a:extLst>
              <a:ext uri="{FF2B5EF4-FFF2-40B4-BE49-F238E27FC236}">
                <a16:creationId xmlns:a16="http://schemas.microsoft.com/office/drawing/2014/main" id="{77EADB88-C64B-A2B8-3F8E-878148A5A7AA}"/>
              </a:ext>
            </a:extLst>
          </p:cNvPr>
          <p:cNvSpPr>
            <a:spLocks noGrp="1"/>
          </p:cNvSpPr>
          <p:nvPr>
            <p:ph idx="1"/>
          </p:nvPr>
        </p:nvSpPr>
        <p:spPr>
          <a:xfrm>
            <a:off x="994638" y="1753209"/>
            <a:ext cx="9916886" cy="1735207"/>
          </a:xfrm>
        </p:spPr>
        <p:txBody>
          <a:bodyPr>
            <a:noAutofit/>
          </a:bodyPr>
          <a:lstStyle/>
          <a:p>
            <a:pPr marL="0" indent="0">
              <a:buNone/>
            </a:pPr>
            <a:r>
              <a:rPr lang="fr-FR" sz="1400" dirty="0"/>
              <a:t>Les parcours proposés correspondent à une suite d’actions à travers lesquelles les communautés peuvent passer lorsqu’elles s’établissent.</a:t>
            </a:r>
          </a:p>
          <a:p>
            <a:pPr marL="0" indent="0">
              <a:buNone/>
            </a:pPr>
            <a:r>
              <a:rPr lang="fr-FR" sz="1400" dirty="0"/>
              <a:t>Selon les contraintes du contexte, on peut préférer de choisir pour commencer un </a:t>
            </a:r>
            <a:r>
              <a:rPr lang="fr-FR" sz="1400" b="1" dirty="0"/>
              <a:t>parcours « marche officielle » </a:t>
            </a:r>
            <a:r>
              <a:rPr lang="fr-FR" sz="1400" dirty="0"/>
              <a:t>(qui cadre beaucoup, discute avec les parties prenantes, etc.), un </a:t>
            </a:r>
            <a:r>
              <a:rPr lang="fr-FR" sz="1400" b="1" dirty="0">
                <a:solidFill>
                  <a:srgbClr val="ED7D31"/>
                </a:solidFill>
              </a:rPr>
              <a:t>parcours express </a:t>
            </a:r>
            <a:r>
              <a:rPr lang="fr-FR" sz="1400" dirty="0"/>
              <a:t>(le plus vite possible droit au but), </a:t>
            </a:r>
            <a:r>
              <a:rPr lang="fr-FR" sz="1400" b="1" dirty="0">
                <a:solidFill>
                  <a:schemeClr val="bg1">
                    <a:lumMod val="50000"/>
                  </a:schemeClr>
                </a:solidFill>
              </a:rPr>
              <a:t>un parcours « test terrain » </a:t>
            </a:r>
            <a:r>
              <a:rPr lang="fr-FR" sz="1400" dirty="0"/>
              <a:t>(des approches à investissement très progressif).</a:t>
            </a:r>
          </a:p>
          <a:p>
            <a:pPr marL="0" indent="0">
              <a:buNone/>
            </a:pPr>
            <a:r>
              <a:rPr lang="fr-FR" sz="1400" dirty="0"/>
              <a:t>Une communauté qui vit tourne dans le </a:t>
            </a:r>
            <a:r>
              <a:rPr lang="fr-FR" sz="1400" b="1" dirty="0">
                <a:solidFill>
                  <a:srgbClr val="3494BA"/>
                </a:solidFill>
              </a:rPr>
              <a:t>cycle de vie « Run », </a:t>
            </a:r>
            <a:r>
              <a:rPr lang="fr-FR" sz="1400" dirty="0"/>
              <a:t>qui est un ensemble de 7 étapes qui se répètent régulièrement pour faire vivre une communauté.</a:t>
            </a:r>
          </a:p>
        </p:txBody>
      </p:sp>
      <p:cxnSp>
        <p:nvCxnSpPr>
          <p:cNvPr id="4" name="Connecteur droit avec flèche 3">
            <a:extLst>
              <a:ext uri="{FF2B5EF4-FFF2-40B4-BE49-F238E27FC236}">
                <a16:creationId xmlns:a16="http://schemas.microsoft.com/office/drawing/2014/main" id="{F333F848-EB5C-D0EE-F369-0B1DE46385C4}"/>
              </a:ext>
            </a:extLst>
          </p:cNvPr>
          <p:cNvCxnSpPr>
            <a:cxnSpLocks/>
          </p:cNvCxnSpPr>
          <p:nvPr/>
        </p:nvCxnSpPr>
        <p:spPr>
          <a:xfrm flipV="1">
            <a:off x="1348844" y="4687957"/>
            <a:ext cx="1344606" cy="10731"/>
          </a:xfrm>
          <a:prstGeom prst="straightConnector1">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sp>
        <p:nvSpPr>
          <p:cNvPr id="5" name="ZoneTexte 4">
            <a:extLst>
              <a:ext uri="{FF2B5EF4-FFF2-40B4-BE49-F238E27FC236}">
                <a16:creationId xmlns:a16="http://schemas.microsoft.com/office/drawing/2014/main" id="{587D3519-DB46-281E-8936-6CAE6FACBDE6}"/>
              </a:ext>
            </a:extLst>
          </p:cNvPr>
          <p:cNvSpPr txBox="1"/>
          <p:nvPr/>
        </p:nvSpPr>
        <p:spPr>
          <a:xfrm>
            <a:off x="2720250" y="4535615"/>
            <a:ext cx="2424922" cy="738664"/>
          </a:xfrm>
          <a:prstGeom prst="rect">
            <a:avLst/>
          </a:prstGeom>
          <a:noFill/>
        </p:spPr>
        <p:txBody>
          <a:bodyPr wrap="square">
            <a:spAutoFit/>
          </a:bodyPr>
          <a:lstStyle/>
          <a:p>
            <a:r>
              <a:rPr lang="fr-FR" sz="1400" b="1" dirty="0">
                <a:solidFill>
                  <a:srgbClr val="ED7D31"/>
                </a:solidFill>
              </a:rPr>
              <a:t>Parcours express</a:t>
            </a:r>
          </a:p>
          <a:p>
            <a:r>
              <a:rPr lang="fr-FR" sz="1400" dirty="0">
                <a:solidFill>
                  <a:srgbClr val="ED7D31"/>
                </a:solidFill>
              </a:rPr>
              <a:t>Arriver le plus vite possible au cœur d’activité</a:t>
            </a:r>
          </a:p>
        </p:txBody>
      </p:sp>
      <p:cxnSp>
        <p:nvCxnSpPr>
          <p:cNvPr id="6" name="Connecteur droit avec flèche 5">
            <a:extLst>
              <a:ext uri="{FF2B5EF4-FFF2-40B4-BE49-F238E27FC236}">
                <a16:creationId xmlns:a16="http://schemas.microsoft.com/office/drawing/2014/main" id="{9B743577-51B5-E60F-A413-603FAC54914F}"/>
              </a:ext>
            </a:extLst>
          </p:cNvPr>
          <p:cNvCxnSpPr>
            <a:cxnSpLocks/>
          </p:cNvCxnSpPr>
          <p:nvPr/>
        </p:nvCxnSpPr>
        <p:spPr>
          <a:xfrm flipV="1">
            <a:off x="1375644" y="3773226"/>
            <a:ext cx="1344606" cy="1073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 name="ZoneTexte 6">
            <a:extLst>
              <a:ext uri="{FF2B5EF4-FFF2-40B4-BE49-F238E27FC236}">
                <a16:creationId xmlns:a16="http://schemas.microsoft.com/office/drawing/2014/main" id="{219D363C-12D6-3D45-7B4B-5E24113D21BD}"/>
              </a:ext>
            </a:extLst>
          </p:cNvPr>
          <p:cNvSpPr txBox="1"/>
          <p:nvPr/>
        </p:nvSpPr>
        <p:spPr>
          <a:xfrm>
            <a:off x="2747050" y="3610153"/>
            <a:ext cx="2568179" cy="738664"/>
          </a:xfrm>
          <a:prstGeom prst="rect">
            <a:avLst/>
          </a:prstGeom>
          <a:noFill/>
        </p:spPr>
        <p:txBody>
          <a:bodyPr wrap="square">
            <a:spAutoFit/>
          </a:bodyPr>
          <a:lstStyle/>
          <a:p>
            <a:r>
              <a:rPr lang="fr-FR" sz="1400" b="1" dirty="0"/>
              <a:t>Parcours de la marche officielle</a:t>
            </a:r>
          </a:p>
          <a:p>
            <a:r>
              <a:rPr lang="fr-FR" sz="1400" dirty="0"/>
              <a:t>Pré-cadrer, cadrer, débloquer pour mieux avancer</a:t>
            </a:r>
          </a:p>
        </p:txBody>
      </p:sp>
      <p:cxnSp>
        <p:nvCxnSpPr>
          <p:cNvPr id="8" name="Connecteur droit avec flèche 7">
            <a:extLst>
              <a:ext uri="{FF2B5EF4-FFF2-40B4-BE49-F238E27FC236}">
                <a16:creationId xmlns:a16="http://schemas.microsoft.com/office/drawing/2014/main" id="{00F116FC-D3E9-0C3C-6BDF-4634F9E278A9}"/>
              </a:ext>
            </a:extLst>
          </p:cNvPr>
          <p:cNvCxnSpPr>
            <a:cxnSpLocks/>
          </p:cNvCxnSpPr>
          <p:nvPr/>
        </p:nvCxnSpPr>
        <p:spPr>
          <a:xfrm flipV="1">
            <a:off x="1340663" y="5569695"/>
            <a:ext cx="1344606" cy="10731"/>
          </a:xfrm>
          <a:prstGeom prst="straightConnector1">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 name="ZoneTexte 8">
            <a:extLst>
              <a:ext uri="{FF2B5EF4-FFF2-40B4-BE49-F238E27FC236}">
                <a16:creationId xmlns:a16="http://schemas.microsoft.com/office/drawing/2014/main" id="{E99A19BB-932D-4503-DC73-D96C56B0A371}"/>
              </a:ext>
            </a:extLst>
          </p:cNvPr>
          <p:cNvSpPr txBox="1"/>
          <p:nvPr/>
        </p:nvSpPr>
        <p:spPr>
          <a:xfrm>
            <a:off x="2726811" y="5422720"/>
            <a:ext cx="2517363" cy="738664"/>
          </a:xfrm>
          <a:prstGeom prst="rect">
            <a:avLst/>
          </a:prstGeom>
          <a:noFill/>
        </p:spPr>
        <p:txBody>
          <a:bodyPr wrap="square">
            <a:spAutoFit/>
          </a:bodyPr>
          <a:lstStyle/>
          <a:p>
            <a:r>
              <a:rPr lang="fr-FR" sz="1400" b="1" dirty="0">
                <a:solidFill>
                  <a:schemeClr val="bg1">
                    <a:lumMod val="65000"/>
                  </a:schemeClr>
                </a:solidFill>
              </a:rPr>
              <a:t>Parcours du test terrain</a:t>
            </a:r>
          </a:p>
          <a:p>
            <a:r>
              <a:rPr lang="fr-FR" sz="1400" dirty="0">
                <a:solidFill>
                  <a:schemeClr val="bg1">
                    <a:lumMod val="65000"/>
                  </a:schemeClr>
                </a:solidFill>
              </a:rPr>
              <a:t>Tester en individus, puis en  réunion, puis en communauté</a:t>
            </a:r>
          </a:p>
        </p:txBody>
      </p:sp>
      <p:cxnSp>
        <p:nvCxnSpPr>
          <p:cNvPr id="10" name="Connecteur droit avec flèche 9">
            <a:extLst>
              <a:ext uri="{FF2B5EF4-FFF2-40B4-BE49-F238E27FC236}">
                <a16:creationId xmlns:a16="http://schemas.microsoft.com/office/drawing/2014/main" id="{AD3B9A3F-961D-E7DF-C9F7-A4C8217E0B61}"/>
              </a:ext>
            </a:extLst>
          </p:cNvPr>
          <p:cNvCxnSpPr>
            <a:cxnSpLocks/>
          </p:cNvCxnSpPr>
          <p:nvPr/>
        </p:nvCxnSpPr>
        <p:spPr>
          <a:xfrm flipV="1">
            <a:off x="1334101" y="6458779"/>
            <a:ext cx="1344606" cy="10731"/>
          </a:xfrm>
          <a:prstGeom prst="straightConnector1">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sp>
        <p:nvSpPr>
          <p:cNvPr id="11" name="ZoneTexte 10">
            <a:extLst>
              <a:ext uri="{FF2B5EF4-FFF2-40B4-BE49-F238E27FC236}">
                <a16:creationId xmlns:a16="http://schemas.microsoft.com/office/drawing/2014/main" id="{67F7EBFC-5BC4-60E6-DF65-0DF84ADDAC41}"/>
              </a:ext>
            </a:extLst>
          </p:cNvPr>
          <p:cNvSpPr txBox="1"/>
          <p:nvPr/>
        </p:nvSpPr>
        <p:spPr>
          <a:xfrm>
            <a:off x="2720250" y="6309825"/>
            <a:ext cx="2424922" cy="307777"/>
          </a:xfrm>
          <a:prstGeom prst="rect">
            <a:avLst/>
          </a:prstGeom>
          <a:noFill/>
        </p:spPr>
        <p:txBody>
          <a:bodyPr wrap="square">
            <a:spAutoFit/>
          </a:bodyPr>
          <a:lstStyle/>
          <a:p>
            <a:r>
              <a:rPr lang="fr-FR" sz="1400" b="1" dirty="0">
                <a:solidFill>
                  <a:srgbClr val="3494BA"/>
                </a:solidFill>
              </a:rPr>
              <a:t>Cycle de vie « Run »</a:t>
            </a:r>
          </a:p>
        </p:txBody>
      </p:sp>
      <p:pic>
        <p:nvPicPr>
          <p:cNvPr id="12" name="Graphique 11" descr="Bâtiment avec un remplissage uni">
            <a:extLst>
              <a:ext uri="{FF2B5EF4-FFF2-40B4-BE49-F238E27FC236}">
                <a16:creationId xmlns:a16="http://schemas.microsoft.com/office/drawing/2014/main" id="{5DFC0661-F5EF-BFFB-C6BF-7F65A9CB092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44583" y="3542166"/>
            <a:ext cx="316318" cy="316318"/>
          </a:xfrm>
          <a:prstGeom prst="rect">
            <a:avLst/>
          </a:prstGeom>
        </p:spPr>
      </p:pic>
      <p:pic>
        <p:nvPicPr>
          <p:cNvPr id="13" name="Graphique 12" descr="Bécher avec un remplissage uni">
            <a:extLst>
              <a:ext uri="{FF2B5EF4-FFF2-40B4-BE49-F238E27FC236}">
                <a16:creationId xmlns:a16="http://schemas.microsoft.com/office/drawing/2014/main" id="{E9AFF769-F490-77AC-097C-4C0AB7E051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98412" y="5361516"/>
            <a:ext cx="342251" cy="342251"/>
          </a:xfrm>
          <a:prstGeom prst="rect">
            <a:avLst/>
          </a:prstGeom>
        </p:spPr>
      </p:pic>
      <p:pic>
        <p:nvPicPr>
          <p:cNvPr id="14" name="Graphique 13" descr="Éclair avec un remplissage uni">
            <a:extLst>
              <a:ext uri="{FF2B5EF4-FFF2-40B4-BE49-F238E27FC236}">
                <a16:creationId xmlns:a16="http://schemas.microsoft.com/office/drawing/2014/main" id="{889FAAEB-BCCF-FDA8-631A-B3628735192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98412" y="4485164"/>
            <a:ext cx="382863" cy="382863"/>
          </a:xfrm>
          <a:prstGeom prst="rect">
            <a:avLst/>
          </a:prstGeom>
        </p:spPr>
      </p:pic>
      <p:pic>
        <p:nvPicPr>
          <p:cNvPr id="15" name="Graphique 14" descr="Amélioration continue avec un remplissage uni">
            <a:extLst>
              <a:ext uri="{FF2B5EF4-FFF2-40B4-BE49-F238E27FC236}">
                <a16:creationId xmlns:a16="http://schemas.microsoft.com/office/drawing/2014/main" id="{8100F665-EEE5-1EFC-14BE-27D1C8F0201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81894" y="6244025"/>
            <a:ext cx="419186" cy="419186"/>
          </a:xfrm>
          <a:prstGeom prst="rect">
            <a:avLst/>
          </a:prstGeom>
        </p:spPr>
      </p:pic>
      <p:sp>
        <p:nvSpPr>
          <p:cNvPr id="20" name="ZoneTexte 19">
            <a:extLst>
              <a:ext uri="{FF2B5EF4-FFF2-40B4-BE49-F238E27FC236}">
                <a16:creationId xmlns:a16="http://schemas.microsoft.com/office/drawing/2014/main" id="{766A01E4-7A55-1C84-D29B-4BE1E7089C63}"/>
              </a:ext>
            </a:extLst>
          </p:cNvPr>
          <p:cNvSpPr txBox="1"/>
          <p:nvPr/>
        </p:nvSpPr>
        <p:spPr>
          <a:xfrm>
            <a:off x="6199212" y="3438880"/>
            <a:ext cx="1400370" cy="168341"/>
          </a:xfrm>
          <a:prstGeom prst="rect">
            <a:avLst/>
          </a:prstGeom>
          <a:solidFill>
            <a:srgbClr val="54FFB3"/>
          </a:solidFill>
        </p:spPr>
        <p:txBody>
          <a:bodyPr wrap="square" anchor="ctr">
            <a:noAutofit/>
          </a:bodyPr>
          <a:lstStyle/>
          <a:p>
            <a:pPr algn="ctr"/>
            <a:r>
              <a:rPr lang="fr-FR" sz="1000" dirty="0"/>
              <a:t>Avantages</a:t>
            </a:r>
          </a:p>
        </p:txBody>
      </p:sp>
      <p:sp>
        <p:nvSpPr>
          <p:cNvPr id="21" name="ZoneTexte 20">
            <a:extLst>
              <a:ext uri="{FF2B5EF4-FFF2-40B4-BE49-F238E27FC236}">
                <a16:creationId xmlns:a16="http://schemas.microsoft.com/office/drawing/2014/main" id="{278FAF27-089C-4726-7E45-FFECA221FC53}"/>
              </a:ext>
            </a:extLst>
          </p:cNvPr>
          <p:cNvSpPr txBox="1"/>
          <p:nvPr/>
        </p:nvSpPr>
        <p:spPr>
          <a:xfrm>
            <a:off x="9161401" y="3438880"/>
            <a:ext cx="1400370" cy="168341"/>
          </a:xfrm>
          <a:prstGeom prst="rect">
            <a:avLst/>
          </a:prstGeom>
          <a:solidFill>
            <a:srgbClr val="FF7C80"/>
          </a:solidFill>
        </p:spPr>
        <p:txBody>
          <a:bodyPr wrap="square" anchor="ctr">
            <a:noAutofit/>
          </a:bodyPr>
          <a:lstStyle/>
          <a:p>
            <a:pPr algn="ctr"/>
            <a:r>
              <a:rPr lang="fr-FR" sz="1000" dirty="0"/>
              <a:t>Inconvénients</a:t>
            </a:r>
          </a:p>
        </p:txBody>
      </p:sp>
      <p:sp>
        <p:nvSpPr>
          <p:cNvPr id="22" name="ZoneTexte 21">
            <a:extLst>
              <a:ext uri="{FF2B5EF4-FFF2-40B4-BE49-F238E27FC236}">
                <a16:creationId xmlns:a16="http://schemas.microsoft.com/office/drawing/2014/main" id="{27385B65-5D42-7178-7715-258A84D709B1}"/>
              </a:ext>
            </a:extLst>
          </p:cNvPr>
          <p:cNvSpPr txBox="1"/>
          <p:nvPr/>
        </p:nvSpPr>
        <p:spPr>
          <a:xfrm>
            <a:off x="5315229" y="3661492"/>
            <a:ext cx="1400370" cy="543693"/>
          </a:xfrm>
          <a:prstGeom prst="rect">
            <a:avLst/>
          </a:prstGeom>
          <a:solidFill>
            <a:srgbClr val="54FFB3"/>
          </a:solidFill>
          <a:ln w="57150">
            <a:solidFill>
              <a:schemeClr val="tx1"/>
            </a:solidFill>
          </a:ln>
        </p:spPr>
        <p:txBody>
          <a:bodyPr wrap="square" anchor="ctr">
            <a:noAutofit/>
          </a:bodyPr>
          <a:lstStyle/>
          <a:p>
            <a:pPr algn="ctr"/>
            <a:r>
              <a:rPr lang="fr-FR" sz="1000" dirty="0"/>
              <a:t>Donne une structure qui peut servir tout le long du Cycle de vie</a:t>
            </a:r>
          </a:p>
        </p:txBody>
      </p:sp>
      <p:sp>
        <p:nvSpPr>
          <p:cNvPr id="23" name="ZoneTexte 22">
            <a:extLst>
              <a:ext uri="{FF2B5EF4-FFF2-40B4-BE49-F238E27FC236}">
                <a16:creationId xmlns:a16="http://schemas.microsoft.com/office/drawing/2014/main" id="{C4A74319-2F45-18D0-684C-6D03083222A7}"/>
              </a:ext>
            </a:extLst>
          </p:cNvPr>
          <p:cNvSpPr txBox="1"/>
          <p:nvPr/>
        </p:nvSpPr>
        <p:spPr>
          <a:xfrm>
            <a:off x="6786653" y="3661492"/>
            <a:ext cx="1400370" cy="543693"/>
          </a:xfrm>
          <a:prstGeom prst="rect">
            <a:avLst/>
          </a:prstGeom>
          <a:solidFill>
            <a:srgbClr val="54FFB3"/>
          </a:solidFill>
          <a:ln w="57150">
            <a:solidFill>
              <a:schemeClr val="tx1"/>
            </a:solidFill>
          </a:ln>
        </p:spPr>
        <p:txBody>
          <a:bodyPr wrap="square" anchor="ctr">
            <a:noAutofit/>
          </a:bodyPr>
          <a:lstStyle/>
          <a:p>
            <a:pPr algn="ctr"/>
            <a:r>
              <a:rPr lang="fr-FR" sz="1000" dirty="0"/>
              <a:t>Permet de mettre les parties prenantes d’accord</a:t>
            </a:r>
          </a:p>
        </p:txBody>
      </p:sp>
      <p:sp>
        <p:nvSpPr>
          <p:cNvPr id="24" name="ZoneTexte 23">
            <a:extLst>
              <a:ext uri="{FF2B5EF4-FFF2-40B4-BE49-F238E27FC236}">
                <a16:creationId xmlns:a16="http://schemas.microsoft.com/office/drawing/2014/main" id="{0EF45D6D-A2F1-D4D4-81EB-E19AD5B71AA2}"/>
              </a:ext>
            </a:extLst>
          </p:cNvPr>
          <p:cNvSpPr txBox="1"/>
          <p:nvPr/>
        </p:nvSpPr>
        <p:spPr>
          <a:xfrm>
            <a:off x="8277418" y="3661492"/>
            <a:ext cx="1400370" cy="543693"/>
          </a:xfrm>
          <a:prstGeom prst="rect">
            <a:avLst/>
          </a:prstGeom>
          <a:solidFill>
            <a:srgbClr val="FF7C80"/>
          </a:solidFill>
          <a:ln w="57150">
            <a:solidFill>
              <a:schemeClr val="tx1"/>
            </a:solidFill>
          </a:ln>
        </p:spPr>
        <p:txBody>
          <a:bodyPr wrap="square" anchor="ctr">
            <a:noAutofit/>
          </a:bodyPr>
          <a:lstStyle/>
          <a:p>
            <a:pPr algn="ctr"/>
            <a:r>
              <a:rPr lang="fr-FR" sz="1000" dirty="0"/>
              <a:t>Lent. Peut faire perdre des opportunités de bon timing</a:t>
            </a:r>
          </a:p>
        </p:txBody>
      </p:sp>
      <p:sp>
        <p:nvSpPr>
          <p:cNvPr id="25" name="ZoneTexte 24">
            <a:extLst>
              <a:ext uri="{FF2B5EF4-FFF2-40B4-BE49-F238E27FC236}">
                <a16:creationId xmlns:a16="http://schemas.microsoft.com/office/drawing/2014/main" id="{6469323B-8E85-F5F6-0471-B7D728E5E7C2}"/>
              </a:ext>
            </a:extLst>
          </p:cNvPr>
          <p:cNvSpPr txBox="1"/>
          <p:nvPr/>
        </p:nvSpPr>
        <p:spPr>
          <a:xfrm>
            <a:off x="9748842" y="3661492"/>
            <a:ext cx="1400370" cy="543693"/>
          </a:xfrm>
          <a:prstGeom prst="rect">
            <a:avLst/>
          </a:prstGeom>
          <a:solidFill>
            <a:srgbClr val="FF7C80"/>
          </a:solidFill>
          <a:ln w="57150">
            <a:solidFill>
              <a:schemeClr val="tx1"/>
            </a:solidFill>
          </a:ln>
        </p:spPr>
        <p:txBody>
          <a:bodyPr wrap="square" anchor="ctr">
            <a:noAutofit/>
          </a:bodyPr>
          <a:lstStyle/>
          <a:p>
            <a:pPr algn="ctr"/>
            <a:r>
              <a:rPr lang="fr-FR" sz="1000" dirty="0"/>
              <a:t>Demande de la disponibilité et un niveau d’expérience</a:t>
            </a:r>
          </a:p>
        </p:txBody>
      </p:sp>
      <p:sp>
        <p:nvSpPr>
          <p:cNvPr id="26" name="ZoneTexte 25">
            <a:extLst>
              <a:ext uri="{FF2B5EF4-FFF2-40B4-BE49-F238E27FC236}">
                <a16:creationId xmlns:a16="http://schemas.microsoft.com/office/drawing/2014/main" id="{BD55FBDA-72A9-C841-9659-E91D81222677}"/>
              </a:ext>
            </a:extLst>
          </p:cNvPr>
          <p:cNvSpPr txBox="1"/>
          <p:nvPr/>
        </p:nvSpPr>
        <p:spPr>
          <a:xfrm>
            <a:off x="5315229" y="4630394"/>
            <a:ext cx="1400370" cy="543693"/>
          </a:xfrm>
          <a:prstGeom prst="rect">
            <a:avLst/>
          </a:prstGeom>
          <a:solidFill>
            <a:srgbClr val="54FFB3"/>
          </a:solidFill>
          <a:ln w="57150">
            <a:solidFill>
              <a:srgbClr val="ED7D31"/>
            </a:solidFill>
          </a:ln>
        </p:spPr>
        <p:txBody>
          <a:bodyPr wrap="square" anchor="ctr">
            <a:noAutofit/>
          </a:bodyPr>
          <a:lstStyle/>
          <a:p>
            <a:pPr algn="ctr"/>
            <a:r>
              <a:rPr lang="fr-FR" sz="1000" dirty="0"/>
              <a:t>Rapide dans l’exécution et l’apprentissage</a:t>
            </a:r>
          </a:p>
        </p:txBody>
      </p:sp>
      <p:sp>
        <p:nvSpPr>
          <p:cNvPr id="27" name="ZoneTexte 26">
            <a:extLst>
              <a:ext uri="{FF2B5EF4-FFF2-40B4-BE49-F238E27FC236}">
                <a16:creationId xmlns:a16="http://schemas.microsoft.com/office/drawing/2014/main" id="{F8A5455F-40B2-EFF1-14D8-14BDD03899C5}"/>
              </a:ext>
            </a:extLst>
          </p:cNvPr>
          <p:cNvSpPr txBox="1"/>
          <p:nvPr/>
        </p:nvSpPr>
        <p:spPr>
          <a:xfrm>
            <a:off x="6786653" y="4630394"/>
            <a:ext cx="1400370" cy="543693"/>
          </a:xfrm>
          <a:prstGeom prst="rect">
            <a:avLst/>
          </a:prstGeom>
          <a:solidFill>
            <a:srgbClr val="54FFB3"/>
          </a:solidFill>
          <a:ln w="57150">
            <a:solidFill>
              <a:srgbClr val="ED7D31"/>
            </a:solidFill>
          </a:ln>
        </p:spPr>
        <p:txBody>
          <a:bodyPr wrap="square" anchor="ctr">
            <a:noAutofit/>
          </a:bodyPr>
          <a:lstStyle/>
          <a:p>
            <a:pPr algn="ctr"/>
            <a:r>
              <a:rPr lang="fr-FR" sz="1000" dirty="0"/>
              <a:t>Direct, moins de risque d’ennui, frustration ou impatience</a:t>
            </a:r>
          </a:p>
        </p:txBody>
      </p:sp>
      <p:sp>
        <p:nvSpPr>
          <p:cNvPr id="28" name="ZoneTexte 27">
            <a:extLst>
              <a:ext uri="{FF2B5EF4-FFF2-40B4-BE49-F238E27FC236}">
                <a16:creationId xmlns:a16="http://schemas.microsoft.com/office/drawing/2014/main" id="{6BE0B036-6563-6BA1-A7A5-9A3F71B1D653}"/>
              </a:ext>
            </a:extLst>
          </p:cNvPr>
          <p:cNvSpPr txBox="1"/>
          <p:nvPr/>
        </p:nvSpPr>
        <p:spPr>
          <a:xfrm>
            <a:off x="8277418" y="4630394"/>
            <a:ext cx="1400370" cy="543693"/>
          </a:xfrm>
          <a:prstGeom prst="rect">
            <a:avLst/>
          </a:prstGeom>
          <a:solidFill>
            <a:srgbClr val="FF7C80"/>
          </a:solidFill>
          <a:ln w="57150">
            <a:solidFill>
              <a:srgbClr val="ED7D31"/>
            </a:solidFill>
          </a:ln>
        </p:spPr>
        <p:txBody>
          <a:bodyPr wrap="square" anchor="ctr">
            <a:noAutofit/>
          </a:bodyPr>
          <a:lstStyle/>
          <a:p>
            <a:pPr algn="ctr"/>
            <a:r>
              <a:rPr lang="fr-FR" sz="1000" dirty="0"/>
              <a:t>Peut manquer de structure pour avancer sur le moyen-long terme</a:t>
            </a:r>
          </a:p>
        </p:txBody>
      </p:sp>
      <p:sp>
        <p:nvSpPr>
          <p:cNvPr id="29" name="ZoneTexte 28">
            <a:extLst>
              <a:ext uri="{FF2B5EF4-FFF2-40B4-BE49-F238E27FC236}">
                <a16:creationId xmlns:a16="http://schemas.microsoft.com/office/drawing/2014/main" id="{2A972721-250E-778D-5E3A-9DDDE5E1A09C}"/>
              </a:ext>
            </a:extLst>
          </p:cNvPr>
          <p:cNvSpPr txBox="1"/>
          <p:nvPr/>
        </p:nvSpPr>
        <p:spPr>
          <a:xfrm>
            <a:off x="9748842" y="4630394"/>
            <a:ext cx="1400370" cy="543693"/>
          </a:xfrm>
          <a:prstGeom prst="rect">
            <a:avLst/>
          </a:prstGeom>
          <a:solidFill>
            <a:srgbClr val="FF7C80"/>
          </a:solidFill>
          <a:ln w="57150">
            <a:solidFill>
              <a:srgbClr val="ED7D31"/>
            </a:solidFill>
          </a:ln>
        </p:spPr>
        <p:txBody>
          <a:bodyPr wrap="square" anchor="ctr">
            <a:noAutofit/>
          </a:bodyPr>
          <a:lstStyle/>
          <a:p>
            <a:pPr algn="ctr"/>
            <a:r>
              <a:rPr lang="fr-FR" sz="1000" dirty="0"/>
              <a:t>Peut créer l’impression d’avoir exclu certaines parties prenantes ou évité des questions</a:t>
            </a:r>
          </a:p>
        </p:txBody>
      </p:sp>
      <p:sp>
        <p:nvSpPr>
          <p:cNvPr id="30" name="ZoneTexte 29">
            <a:extLst>
              <a:ext uri="{FF2B5EF4-FFF2-40B4-BE49-F238E27FC236}">
                <a16:creationId xmlns:a16="http://schemas.microsoft.com/office/drawing/2014/main" id="{88E44B84-A149-5AC2-C918-5E1C311F4DD4}"/>
              </a:ext>
            </a:extLst>
          </p:cNvPr>
          <p:cNvSpPr txBox="1"/>
          <p:nvPr/>
        </p:nvSpPr>
        <p:spPr>
          <a:xfrm>
            <a:off x="5315229" y="5525205"/>
            <a:ext cx="1400370" cy="543693"/>
          </a:xfrm>
          <a:prstGeom prst="rect">
            <a:avLst/>
          </a:prstGeom>
          <a:solidFill>
            <a:srgbClr val="54FFB3"/>
          </a:solidFill>
          <a:ln w="57150">
            <a:solidFill>
              <a:schemeClr val="bg1">
                <a:lumMod val="50000"/>
              </a:schemeClr>
            </a:solidFill>
          </a:ln>
        </p:spPr>
        <p:txBody>
          <a:bodyPr wrap="square" anchor="ctr">
            <a:noAutofit/>
          </a:bodyPr>
          <a:lstStyle/>
          <a:p>
            <a:pPr algn="ctr"/>
            <a:r>
              <a:rPr lang="fr-FR" sz="1000" dirty="0"/>
              <a:t>Peut atteindre des résultats satisfaisant en investissant peu</a:t>
            </a:r>
          </a:p>
        </p:txBody>
      </p:sp>
      <p:sp>
        <p:nvSpPr>
          <p:cNvPr id="31" name="ZoneTexte 30">
            <a:extLst>
              <a:ext uri="{FF2B5EF4-FFF2-40B4-BE49-F238E27FC236}">
                <a16:creationId xmlns:a16="http://schemas.microsoft.com/office/drawing/2014/main" id="{00E0E292-981D-746A-EC6D-4E959DFBB769}"/>
              </a:ext>
            </a:extLst>
          </p:cNvPr>
          <p:cNvSpPr txBox="1"/>
          <p:nvPr/>
        </p:nvSpPr>
        <p:spPr>
          <a:xfrm>
            <a:off x="6786653" y="5525205"/>
            <a:ext cx="1400370" cy="543693"/>
          </a:xfrm>
          <a:prstGeom prst="rect">
            <a:avLst/>
          </a:prstGeom>
          <a:solidFill>
            <a:srgbClr val="54FFB3"/>
          </a:solidFill>
          <a:ln w="57150">
            <a:solidFill>
              <a:schemeClr val="bg1">
                <a:lumMod val="50000"/>
              </a:schemeClr>
            </a:solidFill>
          </a:ln>
        </p:spPr>
        <p:txBody>
          <a:bodyPr wrap="square" anchor="ctr">
            <a:noAutofit/>
          </a:bodyPr>
          <a:lstStyle/>
          <a:p>
            <a:pPr algn="ctr"/>
            <a:r>
              <a:rPr lang="fr-FR" sz="1000" dirty="0"/>
              <a:t>Commence par l’embryon de la communauté si besoin</a:t>
            </a:r>
          </a:p>
        </p:txBody>
      </p:sp>
      <p:sp>
        <p:nvSpPr>
          <p:cNvPr id="32" name="ZoneTexte 31">
            <a:extLst>
              <a:ext uri="{FF2B5EF4-FFF2-40B4-BE49-F238E27FC236}">
                <a16:creationId xmlns:a16="http://schemas.microsoft.com/office/drawing/2014/main" id="{8CCCBEBC-4369-1FCF-3895-5D5140597D9A}"/>
              </a:ext>
            </a:extLst>
          </p:cNvPr>
          <p:cNvSpPr txBox="1"/>
          <p:nvPr/>
        </p:nvSpPr>
        <p:spPr>
          <a:xfrm>
            <a:off x="8277418" y="5525205"/>
            <a:ext cx="1400370" cy="543693"/>
          </a:xfrm>
          <a:prstGeom prst="rect">
            <a:avLst/>
          </a:prstGeom>
          <a:solidFill>
            <a:srgbClr val="FF7C80"/>
          </a:solidFill>
          <a:ln w="57150">
            <a:solidFill>
              <a:schemeClr val="bg1">
                <a:lumMod val="50000"/>
              </a:schemeClr>
            </a:solidFill>
          </a:ln>
        </p:spPr>
        <p:txBody>
          <a:bodyPr wrap="square" anchor="ctr">
            <a:noAutofit/>
          </a:bodyPr>
          <a:lstStyle/>
          <a:p>
            <a:pPr algn="ctr"/>
            <a:r>
              <a:rPr lang="fr-FR" sz="1000" dirty="0"/>
              <a:t>Ne convient pas à toutes les activités (surtout si besoin de masse critique)</a:t>
            </a:r>
          </a:p>
        </p:txBody>
      </p:sp>
      <p:sp>
        <p:nvSpPr>
          <p:cNvPr id="33" name="ZoneTexte 32">
            <a:extLst>
              <a:ext uri="{FF2B5EF4-FFF2-40B4-BE49-F238E27FC236}">
                <a16:creationId xmlns:a16="http://schemas.microsoft.com/office/drawing/2014/main" id="{70185061-9FC1-11FC-7171-E5E82256CF1E}"/>
              </a:ext>
            </a:extLst>
          </p:cNvPr>
          <p:cNvSpPr txBox="1"/>
          <p:nvPr/>
        </p:nvSpPr>
        <p:spPr>
          <a:xfrm>
            <a:off x="9748842" y="5525205"/>
            <a:ext cx="1400370" cy="543693"/>
          </a:xfrm>
          <a:prstGeom prst="rect">
            <a:avLst/>
          </a:prstGeom>
          <a:solidFill>
            <a:srgbClr val="FF7C80"/>
          </a:solidFill>
          <a:ln w="57150">
            <a:solidFill>
              <a:schemeClr val="bg1">
                <a:lumMod val="50000"/>
              </a:schemeClr>
            </a:solidFill>
          </a:ln>
        </p:spPr>
        <p:txBody>
          <a:bodyPr wrap="square" anchor="ctr">
            <a:noAutofit/>
          </a:bodyPr>
          <a:lstStyle/>
          <a:p>
            <a:pPr algn="ctr"/>
            <a:r>
              <a:rPr lang="fr-FR" sz="1000" dirty="0"/>
              <a:t>Lent</a:t>
            </a:r>
          </a:p>
        </p:txBody>
      </p:sp>
    </p:spTree>
    <p:extLst>
      <p:ext uri="{BB962C8B-B14F-4D97-AF65-F5344CB8AC3E}">
        <p14:creationId xmlns:p14="http://schemas.microsoft.com/office/powerpoint/2010/main" val="3887545000"/>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786AE10-063A-2FFB-64EB-0AE91CE8A887}"/>
              </a:ext>
            </a:extLst>
          </p:cNvPr>
          <p:cNvSpPr>
            <a:spLocks noGrp="1"/>
          </p:cNvSpPr>
          <p:nvPr>
            <p:ph type="title"/>
          </p:nvPr>
        </p:nvSpPr>
        <p:spPr>
          <a:xfrm>
            <a:off x="802004" y="375856"/>
            <a:ext cx="4551159" cy="915779"/>
          </a:xfrm>
          <a:noFill/>
        </p:spPr>
        <p:txBody>
          <a:bodyPr>
            <a:noAutofit/>
          </a:bodyPr>
          <a:lstStyle/>
          <a:p>
            <a:r>
              <a:rPr lang="fr-FR" sz="2400" dirty="0"/>
              <a:t>Quelques parcours pour établir une Communauté d’entreprise</a:t>
            </a:r>
          </a:p>
        </p:txBody>
      </p:sp>
      <p:sp>
        <p:nvSpPr>
          <p:cNvPr id="4" name="Ellipse 3">
            <a:extLst>
              <a:ext uri="{FF2B5EF4-FFF2-40B4-BE49-F238E27FC236}">
                <a16:creationId xmlns:a16="http://schemas.microsoft.com/office/drawing/2014/main" id="{992AC0C9-CAAE-DB39-A9F6-4A4AE6F6DA7D}"/>
              </a:ext>
            </a:extLst>
          </p:cNvPr>
          <p:cNvSpPr/>
          <p:nvPr/>
        </p:nvSpPr>
        <p:spPr>
          <a:xfrm>
            <a:off x="802004" y="3247524"/>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5" name="ZoneTexte 4">
            <a:extLst>
              <a:ext uri="{FF2B5EF4-FFF2-40B4-BE49-F238E27FC236}">
                <a16:creationId xmlns:a16="http://schemas.microsoft.com/office/drawing/2014/main" id="{70243741-FE0E-63E1-D84C-A7C7ABA02711}"/>
              </a:ext>
            </a:extLst>
          </p:cNvPr>
          <p:cNvSpPr txBox="1"/>
          <p:nvPr/>
        </p:nvSpPr>
        <p:spPr>
          <a:xfrm>
            <a:off x="346436" y="3548478"/>
            <a:ext cx="1181101" cy="461665"/>
          </a:xfrm>
          <a:prstGeom prst="rect">
            <a:avLst/>
          </a:prstGeom>
          <a:noFill/>
        </p:spPr>
        <p:txBody>
          <a:bodyPr wrap="square">
            <a:spAutoFit/>
          </a:bodyPr>
          <a:lstStyle/>
          <a:p>
            <a:pPr algn="ctr"/>
            <a:r>
              <a:rPr lang="fr-FR" sz="1200" b="1" dirty="0">
                <a:solidFill>
                  <a:srgbClr val="ED7D31"/>
                </a:solidFill>
              </a:rPr>
              <a:t>Renseignement basique</a:t>
            </a:r>
          </a:p>
        </p:txBody>
      </p:sp>
      <p:sp>
        <p:nvSpPr>
          <p:cNvPr id="12" name="ZoneTexte 11">
            <a:extLst>
              <a:ext uri="{FF2B5EF4-FFF2-40B4-BE49-F238E27FC236}">
                <a16:creationId xmlns:a16="http://schemas.microsoft.com/office/drawing/2014/main" id="{CCB8CD5C-AB91-19DC-30DC-0A0B16D384FD}"/>
              </a:ext>
            </a:extLst>
          </p:cNvPr>
          <p:cNvSpPr txBox="1"/>
          <p:nvPr/>
        </p:nvSpPr>
        <p:spPr>
          <a:xfrm>
            <a:off x="5067162" y="3548479"/>
            <a:ext cx="1275805" cy="461665"/>
          </a:xfrm>
          <a:prstGeom prst="rect">
            <a:avLst/>
          </a:prstGeom>
          <a:noFill/>
        </p:spPr>
        <p:txBody>
          <a:bodyPr wrap="square">
            <a:spAutoFit/>
          </a:bodyPr>
          <a:lstStyle/>
          <a:p>
            <a:pPr algn="ctr"/>
            <a:r>
              <a:rPr lang="fr-FR" sz="1200" b="1" dirty="0">
                <a:solidFill>
                  <a:srgbClr val="ED7D31"/>
                </a:solidFill>
              </a:rPr>
              <a:t>Kick off de communauté</a:t>
            </a:r>
          </a:p>
        </p:txBody>
      </p:sp>
      <p:sp>
        <p:nvSpPr>
          <p:cNvPr id="13" name="Ellipse 12">
            <a:extLst>
              <a:ext uri="{FF2B5EF4-FFF2-40B4-BE49-F238E27FC236}">
                <a16:creationId xmlns:a16="http://schemas.microsoft.com/office/drawing/2014/main" id="{1FA919D8-8AFC-8481-80A4-0536BB10817F}"/>
              </a:ext>
            </a:extLst>
          </p:cNvPr>
          <p:cNvSpPr/>
          <p:nvPr/>
        </p:nvSpPr>
        <p:spPr>
          <a:xfrm>
            <a:off x="5561513"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58" name="Ellipse 157">
            <a:extLst>
              <a:ext uri="{FF2B5EF4-FFF2-40B4-BE49-F238E27FC236}">
                <a16:creationId xmlns:a16="http://schemas.microsoft.com/office/drawing/2014/main" id="{F606CDF9-4C40-0C4D-6275-168D0960EFCC}"/>
              </a:ext>
            </a:extLst>
          </p:cNvPr>
          <p:cNvSpPr/>
          <p:nvPr/>
        </p:nvSpPr>
        <p:spPr>
          <a:xfrm>
            <a:off x="9916073"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87" name="ZoneTexte 186">
            <a:extLst>
              <a:ext uri="{FF2B5EF4-FFF2-40B4-BE49-F238E27FC236}">
                <a16:creationId xmlns:a16="http://schemas.microsoft.com/office/drawing/2014/main" id="{7B7E05E1-3EDD-A6AC-6699-FB72CF33D4ED}"/>
              </a:ext>
            </a:extLst>
          </p:cNvPr>
          <p:cNvSpPr txBox="1"/>
          <p:nvPr/>
        </p:nvSpPr>
        <p:spPr>
          <a:xfrm>
            <a:off x="9623656" y="3616644"/>
            <a:ext cx="854800" cy="461665"/>
          </a:xfrm>
          <a:prstGeom prst="rect">
            <a:avLst/>
          </a:prstGeom>
          <a:solidFill>
            <a:schemeClr val="bg1"/>
          </a:solidFill>
          <a:ln>
            <a:solidFill>
              <a:srgbClr val="ED7D31"/>
            </a:solidFill>
          </a:ln>
        </p:spPr>
        <p:txBody>
          <a:bodyPr wrap="square">
            <a:spAutoFit/>
          </a:bodyPr>
          <a:lstStyle/>
          <a:p>
            <a:pPr algn="ctr"/>
            <a:r>
              <a:rPr lang="fr-FR" sz="1200" b="1" dirty="0">
                <a:solidFill>
                  <a:srgbClr val="ED7D31"/>
                </a:solidFill>
              </a:rPr>
              <a:t>Cœur d’activités</a:t>
            </a:r>
          </a:p>
        </p:txBody>
      </p:sp>
      <p:cxnSp>
        <p:nvCxnSpPr>
          <p:cNvPr id="193" name="Connecteur droit avec flèche 192">
            <a:extLst>
              <a:ext uri="{FF2B5EF4-FFF2-40B4-BE49-F238E27FC236}">
                <a16:creationId xmlns:a16="http://schemas.microsoft.com/office/drawing/2014/main" id="{4D164131-BFB5-D8C7-0707-D181C6688262}"/>
              </a:ext>
            </a:extLst>
          </p:cNvPr>
          <p:cNvCxnSpPr>
            <a:cxnSpLocks/>
            <a:stCxn id="4" idx="6"/>
            <a:endCxn id="13" idx="2"/>
          </p:cNvCxnSpPr>
          <p:nvPr/>
        </p:nvCxnSpPr>
        <p:spPr>
          <a:xfrm flipV="1">
            <a:off x="1071970" y="3346678"/>
            <a:ext cx="4489543" cy="35829"/>
          </a:xfrm>
          <a:prstGeom prst="straightConnector1">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196" name="Connecteur droit avec flèche 195">
            <a:extLst>
              <a:ext uri="{FF2B5EF4-FFF2-40B4-BE49-F238E27FC236}">
                <a16:creationId xmlns:a16="http://schemas.microsoft.com/office/drawing/2014/main" id="{47AAA74D-0C35-CBFA-42F9-9A71A183A133}"/>
              </a:ext>
            </a:extLst>
          </p:cNvPr>
          <p:cNvCxnSpPr>
            <a:cxnSpLocks/>
            <a:stCxn id="13" idx="6"/>
            <a:endCxn id="158" idx="2"/>
          </p:cNvCxnSpPr>
          <p:nvPr/>
        </p:nvCxnSpPr>
        <p:spPr>
          <a:xfrm>
            <a:off x="5831479" y="3346678"/>
            <a:ext cx="4084594" cy="0"/>
          </a:xfrm>
          <a:prstGeom prst="straightConnector1">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199" name="Connecteur droit avec flèche 198">
            <a:extLst>
              <a:ext uri="{FF2B5EF4-FFF2-40B4-BE49-F238E27FC236}">
                <a16:creationId xmlns:a16="http://schemas.microsoft.com/office/drawing/2014/main" id="{CB4ED47D-8381-EA5A-39D9-6C2770D26511}"/>
              </a:ext>
            </a:extLst>
          </p:cNvPr>
          <p:cNvCxnSpPr>
            <a:cxnSpLocks/>
          </p:cNvCxnSpPr>
          <p:nvPr/>
        </p:nvCxnSpPr>
        <p:spPr>
          <a:xfrm flipV="1">
            <a:off x="6077131" y="649860"/>
            <a:ext cx="1344606" cy="10731"/>
          </a:xfrm>
          <a:prstGeom prst="straightConnector1">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pic>
        <p:nvPicPr>
          <p:cNvPr id="33" name="Graphique 32" descr="Éclair avec un remplissage uni">
            <a:extLst>
              <a:ext uri="{FF2B5EF4-FFF2-40B4-BE49-F238E27FC236}">
                <a16:creationId xmlns:a16="http://schemas.microsoft.com/office/drawing/2014/main" id="{5B93F02F-35C4-6E5A-3CD0-C0D41723274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726699" y="447067"/>
            <a:ext cx="382863" cy="382863"/>
          </a:xfrm>
          <a:prstGeom prst="rect">
            <a:avLst/>
          </a:prstGeom>
        </p:spPr>
      </p:pic>
      <p:sp>
        <p:nvSpPr>
          <p:cNvPr id="3" name="ZoneTexte 2">
            <a:extLst>
              <a:ext uri="{FF2B5EF4-FFF2-40B4-BE49-F238E27FC236}">
                <a16:creationId xmlns:a16="http://schemas.microsoft.com/office/drawing/2014/main" id="{D425B75B-3964-A52E-5B4E-5B42ECAF54F8}"/>
              </a:ext>
            </a:extLst>
          </p:cNvPr>
          <p:cNvSpPr txBox="1"/>
          <p:nvPr/>
        </p:nvSpPr>
        <p:spPr>
          <a:xfrm>
            <a:off x="7436480" y="488744"/>
            <a:ext cx="1646066" cy="307777"/>
          </a:xfrm>
          <a:prstGeom prst="rect">
            <a:avLst/>
          </a:prstGeom>
          <a:noFill/>
        </p:spPr>
        <p:txBody>
          <a:bodyPr wrap="square">
            <a:spAutoFit/>
          </a:bodyPr>
          <a:lstStyle/>
          <a:p>
            <a:r>
              <a:rPr lang="fr-FR" sz="1400" b="1" dirty="0">
                <a:solidFill>
                  <a:srgbClr val="ED7D31"/>
                </a:solidFill>
              </a:rPr>
              <a:t>Parcours express</a:t>
            </a:r>
          </a:p>
        </p:txBody>
      </p:sp>
      <p:pic>
        <p:nvPicPr>
          <p:cNvPr id="6" name="Graphique 5" descr="Cœur avec un remplissage uni">
            <a:extLst>
              <a:ext uri="{FF2B5EF4-FFF2-40B4-BE49-F238E27FC236}">
                <a16:creationId xmlns:a16="http://schemas.microsoft.com/office/drawing/2014/main" id="{792B869D-E9C3-52DA-2A6B-8CD2FE81A75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967338" y="3278748"/>
            <a:ext cx="162821" cy="162821"/>
          </a:xfrm>
          <a:prstGeom prst="rect">
            <a:avLst/>
          </a:prstGeom>
        </p:spPr>
      </p:pic>
    </p:spTree>
    <p:extLst>
      <p:ext uri="{BB962C8B-B14F-4D97-AF65-F5344CB8AC3E}">
        <p14:creationId xmlns:p14="http://schemas.microsoft.com/office/powerpoint/2010/main" val="514953524"/>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4">
            <a:extLst>
              <a:ext uri="{FF2B5EF4-FFF2-40B4-BE49-F238E27FC236}">
                <a16:creationId xmlns:a16="http://schemas.microsoft.com/office/drawing/2014/main" id="{2CB5113D-DAAD-629D-DB20-836EE439352A}"/>
              </a:ext>
            </a:extLst>
          </p:cNvPr>
          <p:cNvGraphicFramePr>
            <a:graphicFrameLocks noGrp="1"/>
          </p:cNvGraphicFramePr>
          <p:nvPr>
            <p:ph idx="1"/>
            <p:extLst>
              <p:ext uri="{D42A27DB-BD31-4B8C-83A1-F6EECF244321}">
                <p14:modId xmlns:p14="http://schemas.microsoft.com/office/powerpoint/2010/main" val="4109922188"/>
              </p:ext>
            </p:extLst>
          </p:nvPr>
        </p:nvGraphicFramePr>
        <p:xfrm>
          <a:off x="774663" y="892713"/>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Etape de </a:t>
                      </a:r>
                      <a:r>
                        <a:rPr lang="fr-FR" sz="1800" dirty="0"/>
                        <a:t>RENSEIGNEMENT BASIQUE</a:t>
                      </a:r>
                      <a:endParaRPr lang="fr-FR" dirty="0"/>
                    </a:p>
                    <a:p>
                      <a:r>
                        <a:rPr lang="fr-FR" i="1" dirty="0"/>
                        <a:t>« Tâter le terrain pour se faire une idée »</a:t>
                      </a:r>
                    </a:p>
                  </a:txBody>
                  <a:tcPr>
                    <a:solidFill>
                      <a:srgbClr val="ED7D31"/>
                    </a:solidFill>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Approches</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sp>
        <p:nvSpPr>
          <p:cNvPr id="25" name="Flèche : droite 24">
            <a:extLst>
              <a:ext uri="{FF2B5EF4-FFF2-40B4-BE49-F238E27FC236}">
                <a16:creationId xmlns:a16="http://schemas.microsoft.com/office/drawing/2014/main" id="{01825824-9AB6-939D-F1B7-519AB8547E56}"/>
              </a:ext>
            </a:extLst>
          </p:cNvPr>
          <p:cNvSpPr/>
          <p:nvPr/>
        </p:nvSpPr>
        <p:spPr>
          <a:xfrm>
            <a:off x="819790" y="2453659"/>
            <a:ext cx="2021186" cy="1079382"/>
          </a:xfrm>
          <a:prstGeom prst="rightArrow">
            <a:avLst>
              <a:gd name="adj1" fmla="val 69414"/>
              <a:gd name="adj2" fmla="val 50000"/>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MOTIVATIONS : </a:t>
            </a:r>
          </a:p>
          <a:p>
            <a:pPr algn="ctr"/>
            <a:r>
              <a:rPr lang="fr-FR" sz="1200" dirty="0">
                <a:solidFill>
                  <a:schemeClr val="tx1"/>
                </a:solidFill>
              </a:rPr>
              <a:t>Se projeter et se poser des questions sur la valeur possible</a:t>
            </a:r>
          </a:p>
        </p:txBody>
      </p:sp>
      <p:sp>
        <p:nvSpPr>
          <p:cNvPr id="310" name="Rectangle 309">
            <a:extLst>
              <a:ext uri="{FF2B5EF4-FFF2-40B4-BE49-F238E27FC236}">
                <a16:creationId xmlns:a16="http://schemas.microsoft.com/office/drawing/2014/main" id="{3E6833F7-904B-E558-D233-1241461F359C}"/>
              </a:ext>
            </a:extLst>
          </p:cNvPr>
          <p:cNvSpPr/>
          <p:nvPr/>
        </p:nvSpPr>
        <p:spPr>
          <a:xfrm>
            <a:off x="5294445" y="5165869"/>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⚙️Fréquentation des sponsors en dehors de leurs interactions avec la Communauté</a:t>
            </a:r>
          </a:p>
        </p:txBody>
      </p:sp>
      <p:grpSp>
        <p:nvGrpSpPr>
          <p:cNvPr id="379" name="Groupe 378">
            <a:extLst>
              <a:ext uri="{FF2B5EF4-FFF2-40B4-BE49-F238E27FC236}">
                <a16:creationId xmlns:a16="http://schemas.microsoft.com/office/drawing/2014/main" id="{A559059F-6EC7-DCB0-2A61-51733F05F987}"/>
              </a:ext>
            </a:extLst>
          </p:cNvPr>
          <p:cNvGrpSpPr/>
          <p:nvPr/>
        </p:nvGrpSpPr>
        <p:grpSpPr>
          <a:xfrm>
            <a:off x="3182725" y="4390337"/>
            <a:ext cx="1492148" cy="1448128"/>
            <a:chOff x="12851173" y="6144094"/>
            <a:chExt cx="1492148" cy="1448128"/>
          </a:xfrm>
        </p:grpSpPr>
        <p:sp>
          <p:nvSpPr>
            <p:cNvPr id="307" name="Rectangle 306">
              <a:extLst>
                <a:ext uri="{FF2B5EF4-FFF2-40B4-BE49-F238E27FC236}">
                  <a16:creationId xmlns:a16="http://schemas.microsoft.com/office/drawing/2014/main" id="{378A7D33-5D97-CCBF-5D25-418411D45B7F}"/>
                </a:ext>
              </a:extLst>
            </p:cNvPr>
            <p:cNvSpPr/>
            <p:nvPr/>
          </p:nvSpPr>
          <p:spPr>
            <a:xfrm>
              <a:off x="12851173" y="6929343"/>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📅Discussions libres (sans contraintes) avec les membres potentiels</a:t>
              </a:r>
            </a:p>
          </p:txBody>
        </p:sp>
        <p:pic>
          <p:nvPicPr>
            <p:cNvPr id="332" name="Graphique 331" descr="Salle de conseil avec un remplissage uni">
              <a:extLst>
                <a:ext uri="{FF2B5EF4-FFF2-40B4-BE49-F238E27FC236}">
                  <a16:creationId xmlns:a16="http://schemas.microsoft.com/office/drawing/2014/main" id="{F5E3F6C8-ADD4-5559-7371-4AB8A3AF8E9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215373" y="6144094"/>
              <a:ext cx="914400" cy="914400"/>
            </a:xfrm>
            <a:prstGeom prst="rect">
              <a:avLst/>
            </a:prstGeom>
          </p:spPr>
        </p:pic>
        <p:pic>
          <p:nvPicPr>
            <p:cNvPr id="333" name="Graphique 332" descr="Femme détective avec un remplissage uni">
              <a:extLst>
                <a:ext uri="{FF2B5EF4-FFF2-40B4-BE49-F238E27FC236}">
                  <a16:creationId xmlns:a16="http://schemas.microsoft.com/office/drawing/2014/main" id="{3FC5C9B4-08ED-DF17-AAEF-BCAE4986BA93}"/>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b="48385"/>
            <a:stretch/>
          </p:blipFill>
          <p:spPr>
            <a:xfrm>
              <a:off x="13244383" y="6266519"/>
              <a:ext cx="370436" cy="191200"/>
            </a:xfrm>
            <a:prstGeom prst="rect">
              <a:avLst/>
            </a:prstGeom>
          </p:spPr>
        </p:pic>
      </p:grpSp>
      <p:pic>
        <p:nvPicPr>
          <p:cNvPr id="344" name="Graphique 343" descr="Golf avec un remplissage uni">
            <a:extLst>
              <a:ext uri="{FF2B5EF4-FFF2-40B4-BE49-F238E27FC236}">
                <a16:creationId xmlns:a16="http://schemas.microsoft.com/office/drawing/2014/main" id="{E3771723-A895-3A47-548D-86B63564F49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026797" y="4196989"/>
            <a:ext cx="914400" cy="914400"/>
          </a:xfrm>
          <a:prstGeom prst="rect">
            <a:avLst/>
          </a:prstGeom>
        </p:spPr>
      </p:pic>
      <p:pic>
        <p:nvPicPr>
          <p:cNvPr id="345" name="Graphique 344" descr="Femme détective avec un remplissage uni">
            <a:extLst>
              <a:ext uri="{FF2B5EF4-FFF2-40B4-BE49-F238E27FC236}">
                <a16:creationId xmlns:a16="http://schemas.microsoft.com/office/drawing/2014/main" id="{5DC1F400-A2B7-537B-E329-397BF8FE51E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418831" y="4232557"/>
            <a:ext cx="662879" cy="662879"/>
          </a:xfrm>
          <a:prstGeom prst="rect">
            <a:avLst/>
          </a:prstGeom>
        </p:spPr>
      </p:pic>
      <p:pic>
        <p:nvPicPr>
          <p:cNvPr id="346" name="Graphique 345" descr="Clubs de golf avec un remplissage uni">
            <a:extLst>
              <a:ext uri="{FF2B5EF4-FFF2-40B4-BE49-F238E27FC236}">
                <a16:creationId xmlns:a16="http://schemas.microsoft.com/office/drawing/2014/main" id="{F32F2EB4-9FB6-4E0F-E48C-967ED0C8E99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818932">
            <a:off x="5745738" y="4513807"/>
            <a:ext cx="536548" cy="536548"/>
          </a:xfrm>
          <a:prstGeom prst="rect">
            <a:avLst/>
          </a:prstGeom>
        </p:spPr>
      </p:pic>
      <p:grpSp>
        <p:nvGrpSpPr>
          <p:cNvPr id="385" name="Groupe 384">
            <a:extLst>
              <a:ext uri="{FF2B5EF4-FFF2-40B4-BE49-F238E27FC236}">
                <a16:creationId xmlns:a16="http://schemas.microsoft.com/office/drawing/2014/main" id="{B98AB0AA-175E-312B-55AD-E81B562466AC}"/>
              </a:ext>
            </a:extLst>
          </p:cNvPr>
          <p:cNvGrpSpPr/>
          <p:nvPr/>
        </p:nvGrpSpPr>
        <p:grpSpPr>
          <a:xfrm>
            <a:off x="8004038" y="4233200"/>
            <a:ext cx="916093" cy="916094"/>
            <a:chOff x="1195526" y="3102720"/>
            <a:chExt cx="1771118" cy="1771119"/>
          </a:xfrm>
        </p:grpSpPr>
        <p:pic>
          <p:nvPicPr>
            <p:cNvPr id="386" name="Graphique 385" descr="Homme conductrice avec un remplissage uni">
              <a:extLst>
                <a:ext uri="{FF2B5EF4-FFF2-40B4-BE49-F238E27FC236}">
                  <a16:creationId xmlns:a16="http://schemas.microsoft.com/office/drawing/2014/main" id="{5F520732-FEE9-8916-16D9-D5FBF9BC17B6}"/>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195526" y="3102720"/>
              <a:ext cx="1771118" cy="1771119"/>
            </a:xfrm>
            <a:prstGeom prst="rect">
              <a:avLst/>
            </a:prstGeom>
          </p:spPr>
        </p:pic>
        <p:sp>
          <p:nvSpPr>
            <p:cNvPr id="387" name="Rectangle 386">
              <a:extLst>
                <a:ext uri="{FF2B5EF4-FFF2-40B4-BE49-F238E27FC236}">
                  <a16:creationId xmlns:a16="http://schemas.microsoft.com/office/drawing/2014/main" id="{40A95BCB-C67D-389E-D9CF-4FD2DF1DD8CF}"/>
                </a:ext>
              </a:extLst>
            </p:cNvPr>
            <p:cNvSpPr/>
            <p:nvPr/>
          </p:nvSpPr>
          <p:spPr>
            <a:xfrm>
              <a:off x="2510447" y="3102720"/>
              <a:ext cx="456197" cy="9361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sz="1200" dirty="0">
                <a:solidFill>
                  <a:schemeClr val="tx1"/>
                </a:solidFill>
              </a:endParaRPr>
            </a:p>
          </p:txBody>
        </p:sp>
      </p:grpSp>
      <p:pic>
        <p:nvPicPr>
          <p:cNvPr id="388" name="Graphique 387" descr="Priorités avec un remplissage uni">
            <a:extLst>
              <a:ext uri="{FF2B5EF4-FFF2-40B4-BE49-F238E27FC236}">
                <a16:creationId xmlns:a16="http://schemas.microsoft.com/office/drawing/2014/main" id="{90F00B6F-DC3B-2789-B32B-F45DE8A1B0BA}"/>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368911" y="4129379"/>
            <a:ext cx="528942" cy="528942"/>
          </a:xfrm>
          <a:prstGeom prst="rect">
            <a:avLst/>
          </a:prstGeom>
        </p:spPr>
      </p:pic>
      <p:sp>
        <p:nvSpPr>
          <p:cNvPr id="468" name="Rectangle 467">
            <a:extLst>
              <a:ext uri="{FF2B5EF4-FFF2-40B4-BE49-F238E27FC236}">
                <a16:creationId xmlns:a16="http://schemas.microsoft.com/office/drawing/2014/main" id="{B3E53D2A-A1A1-964D-0A1B-184D6923CCD5}"/>
              </a:ext>
            </a:extLst>
          </p:cNvPr>
          <p:cNvSpPr/>
          <p:nvPr/>
        </p:nvSpPr>
        <p:spPr>
          <a:xfrm>
            <a:off x="7439060" y="5170404"/>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Se créer un </a:t>
            </a:r>
            <a:r>
              <a:rPr lang="fr-FR" sz="1100" dirty="0" err="1">
                <a:solidFill>
                  <a:schemeClr val="tx1"/>
                </a:solidFill>
              </a:rPr>
              <a:t>backlog</a:t>
            </a:r>
            <a:r>
              <a:rPr lang="fr-FR" sz="1100" dirty="0">
                <a:solidFill>
                  <a:schemeClr val="tx1"/>
                </a:solidFill>
              </a:rPr>
              <a:t> mental pour une éventuelle communauté</a:t>
            </a:r>
          </a:p>
        </p:txBody>
      </p:sp>
      <p:grpSp>
        <p:nvGrpSpPr>
          <p:cNvPr id="508" name="Groupe 507">
            <a:extLst>
              <a:ext uri="{FF2B5EF4-FFF2-40B4-BE49-F238E27FC236}">
                <a16:creationId xmlns:a16="http://schemas.microsoft.com/office/drawing/2014/main" id="{BB844C9B-140A-E9BD-515C-829A26A65D1D}"/>
              </a:ext>
            </a:extLst>
          </p:cNvPr>
          <p:cNvGrpSpPr/>
          <p:nvPr/>
        </p:nvGrpSpPr>
        <p:grpSpPr>
          <a:xfrm>
            <a:off x="3202968" y="2327262"/>
            <a:ext cx="1517227" cy="1221531"/>
            <a:chOff x="3385848" y="2048588"/>
            <a:chExt cx="1517227" cy="1221531"/>
          </a:xfrm>
        </p:grpSpPr>
        <p:grpSp>
          <p:nvGrpSpPr>
            <p:cNvPr id="507" name="Groupe 506">
              <a:extLst>
                <a:ext uri="{FF2B5EF4-FFF2-40B4-BE49-F238E27FC236}">
                  <a16:creationId xmlns:a16="http://schemas.microsoft.com/office/drawing/2014/main" id="{F5AEA1C5-0EC9-06B8-2152-43318C1466ED}"/>
                </a:ext>
              </a:extLst>
            </p:cNvPr>
            <p:cNvGrpSpPr/>
            <p:nvPr/>
          </p:nvGrpSpPr>
          <p:grpSpPr>
            <a:xfrm>
              <a:off x="3700978" y="2048588"/>
              <a:ext cx="971223" cy="805096"/>
              <a:chOff x="-1799507" y="-602354"/>
              <a:chExt cx="1401199" cy="1161525"/>
            </a:xfrm>
          </p:grpSpPr>
          <p:pic>
            <p:nvPicPr>
              <p:cNvPr id="492" name="Graphique 491" descr="Utilisateur avec un remplissage uni">
                <a:extLst>
                  <a:ext uri="{FF2B5EF4-FFF2-40B4-BE49-F238E27FC236}">
                    <a16:creationId xmlns:a16="http://schemas.microsoft.com/office/drawing/2014/main" id="{C11808C9-2973-135D-EB11-DFB0A63A1B3F}"/>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799507" y="-551666"/>
                <a:ext cx="411559" cy="411559"/>
              </a:xfrm>
              <a:prstGeom prst="rect">
                <a:avLst/>
              </a:prstGeom>
            </p:spPr>
          </p:pic>
          <p:pic>
            <p:nvPicPr>
              <p:cNvPr id="501" name="Graphique 500" descr="Utilisateur avec un remplissage uni">
                <a:extLst>
                  <a:ext uri="{FF2B5EF4-FFF2-40B4-BE49-F238E27FC236}">
                    <a16:creationId xmlns:a16="http://schemas.microsoft.com/office/drawing/2014/main" id="{FCD572AE-15DD-0F3B-EC83-557F99BA15AA}"/>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733358" y="147612"/>
                <a:ext cx="411559" cy="411559"/>
              </a:xfrm>
              <a:prstGeom prst="rect">
                <a:avLst/>
              </a:prstGeom>
            </p:spPr>
          </p:pic>
          <p:pic>
            <p:nvPicPr>
              <p:cNvPr id="502" name="Graphique 501" descr="Utilisateur avec un remplissage uni">
                <a:extLst>
                  <a:ext uri="{FF2B5EF4-FFF2-40B4-BE49-F238E27FC236}">
                    <a16:creationId xmlns:a16="http://schemas.microsoft.com/office/drawing/2014/main" id="{3E772DD5-EB6E-4EE5-9B33-C38866B8A995}"/>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09867" y="137956"/>
                <a:ext cx="411559" cy="411559"/>
              </a:xfrm>
              <a:prstGeom prst="rect">
                <a:avLst/>
              </a:prstGeom>
            </p:spPr>
          </p:pic>
          <p:pic>
            <p:nvPicPr>
              <p:cNvPr id="503" name="Graphique 502" descr="Utilisateur avec un remplissage uni">
                <a:extLst>
                  <a:ext uri="{FF2B5EF4-FFF2-40B4-BE49-F238E27FC236}">
                    <a16:creationId xmlns:a16="http://schemas.microsoft.com/office/drawing/2014/main" id="{718C85AA-4541-5121-BA4B-D945E01AC47B}"/>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050117" y="-602354"/>
                <a:ext cx="411559" cy="411559"/>
              </a:xfrm>
              <a:prstGeom prst="rect">
                <a:avLst/>
              </a:prstGeom>
            </p:spPr>
          </p:pic>
        </p:grpSp>
        <p:sp>
          <p:nvSpPr>
            <p:cNvPr id="506" name="Titre 1">
              <a:extLst>
                <a:ext uri="{FF2B5EF4-FFF2-40B4-BE49-F238E27FC236}">
                  <a16:creationId xmlns:a16="http://schemas.microsoft.com/office/drawing/2014/main" id="{6608D344-1379-3EC3-5C07-4E717C459288}"/>
                </a:ext>
              </a:extLst>
            </p:cNvPr>
            <p:cNvSpPr txBox="1">
              <a:spLocks/>
            </p:cNvSpPr>
            <p:nvPr/>
          </p:nvSpPr>
          <p:spPr>
            <a:xfrm>
              <a:off x="3385848" y="2853684"/>
              <a:ext cx="1517227" cy="41643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individus</a:t>
              </a:r>
            </a:p>
          </p:txBody>
        </p:sp>
      </p:grpSp>
      <p:sp>
        <p:nvSpPr>
          <p:cNvPr id="511" name="Rectangle 510">
            <a:extLst>
              <a:ext uri="{FF2B5EF4-FFF2-40B4-BE49-F238E27FC236}">
                <a16:creationId xmlns:a16="http://schemas.microsoft.com/office/drawing/2014/main" id="{CC571A28-0FD3-D548-D398-0EFC00546CBE}"/>
              </a:ext>
            </a:extLst>
          </p:cNvPr>
          <p:cNvSpPr/>
          <p:nvPr/>
        </p:nvSpPr>
        <p:spPr>
          <a:xfrm>
            <a:off x="1020923" y="5170261"/>
            <a:ext cx="1668981" cy="914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 Participation à des événements divers d’autres communautés et découvertes de types de contenus pour trouver des idées et des formats</a:t>
            </a:r>
          </a:p>
        </p:txBody>
      </p:sp>
      <p:sp>
        <p:nvSpPr>
          <p:cNvPr id="221" name="Flèche : droite 220">
            <a:extLst>
              <a:ext uri="{FF2B5EF4-FFF2-40B4-BE49-F238E27FC236}">
                <a16:creationId xmlns:a16="http://schemas.microsoft.com/office/drawing/2014/main" id="{03409A7A-02C9-80BA-7C45-0616E3F8C281}"/>
              </a:ext>
            </a:extLst>
          </p:cNvPr>
          <p:cNvSpPr/>
          <p:nvPr/>
        </p:nvSpPr>
        <p:spPr>
          <a:xfrm>
            <a:off x="1121074" y="4216051"/>
            <a:ext cx="1608748" cy="859126"/>
          </a:xfrm>
          <a:prstGeom prst="rightArrow">
            <a:avLst>
              <a:gd name="adj1" fmla="val 69414"/>
              <a:gd name="adj2" fmla="val 50000"/>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sp>
        <p:nvSpPr>
          <p:cNvPr id="227" name="Rectangle 226">
            <a:extLst>
              <a:ext uri="{FF2B5EF4-FFF2-40B4-BE49-F238E27FC236}">
                <a16:creationId xmlns:a16="http://schemas.microsoft.com/office/drawing/2014/main" id="{3A975A9D-84D6-ECF2-25C1-AF1A38FFAB98}"/>
              </a:ext>
            </a:extLst>
          </p:cNvPr>
          <p:cNvSpPr/>
          <p:nvPr/>
        </p:nvSpPr>
        <p:spPr>
          <a:xfrm>
            <a:off x="5029534" y="2846237"/>
            <a:ext cx="963951" cy="7459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Contraintes ou problèmes similaires</a:t>
            </a:r>
          </a:p>
        </p:txBody>
      </p:sp>
      <p:sp>
        <p:nvSpPr>
          <p:cNvPr id="228" name="Rectangle 227">
            <a:extLst>
              <a:ext uri="{FF2B5EF4-FFF2-40B4-BE49-F238E27FC236}">
                <a16:creationId xmlns:a16="http://schemas.microsoft.com/office/drawing/2014/main" id="{76C975F7-B455-6929-7828-A212DB943E1F}"/>
              </a:ext>
            </a:extLst>
          </p:cNvPr>
          <p:cNvSpPr/>
          <p:nvPr/>
        </p:nvSpPr>
        <p:spPr>
          <a:xfrm>
            <a:off x="6081485" y="2846237"/>
            <a:ext cx="963847" cy="7408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Objectifs ou intérêts</a:t>
            </a:r>
          </a:p>
          <a:p>
            <a:pPr algn="ctr"/>
            <a:r>
              <a:rPr lang="fr-FR" sz="900" dirty="0"/>
              <a:t> similaires</a:t>
            </a:r>
          </a:p>
        </p:txBody>
      </p:sp>
      <p:sp>
        <p:nvSpPr>
          <p:cNvPr id="267" name="Rectangle 266">
            <a:extLst>
              <a:ext uri="{FF2B5EF4-FFF2-40B4-BE49-F238E27FC236}">
                <a16:creationId xmlns:a16="http://schemas.microsoft.com/office/drawing/2014/main" id="{A7C9B4C8-B97D-DA11-E597-D6CA6309EE1A}"/>
              </a:ext>
            </a:extLst>
          </p:cNvPr>
          <p:cNvSpPr/>
          <p:nvPr/>
        </p:nvSpPr>
        <p:spPr>
          <a:xfrm>
            <a:off x="9237029" y="2846237"/>
            <a:ext cx="963847" cy="7408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Expériences et histoires clés potentiellement utiles</a:t>
            </a:r>
          </a:p>
        </p:txBody>
      </p:sp>
      <p:sp>
        <p:nvSpPr>
          <p:cNvPr id="269" name="Rectangle 268">
            <a:extLst>
              <a:ext uri="{FF2B5EF4-FFF2-40B4-BE49-F238E27FC236}">
                <a16:creationId xmlns:a16="http://schemas.microsoft.com/office/drawing/2014/main" id="{7FF42DF7-E042-B50D-3428-750E3B527DB8}"/>
              </a:ext>
            </a:extLst>
          </p:cNvPr>
          <p:cNvSpPr/>
          <p:nvPr/>
        </p:nvSpPr>
        <p:spPr>
          <a:xfrm>
            <a:off x="7133333" y="2846237"/>
            <a:ext cx="963847" cy="7408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Attention commune à un sujet en particulier</a:t>
            </a:r>
          </a:p>
        </p:txBody>
      </p:sp>
      <p:sp>
        <p:nvSpPr>
          <p:cNvPr id="271" name="Rectangle 270">
            <a:extLst>
              <a:ext uri="{FF2B5EF4-FFF2-40B4-BE49-F238E27FC236}">
                <a16:creationId xmlns:a16="http://schemas.microsoft.com/office/drawing/2014/main" id="{5D6AAFD5-40B0-02EB-0978-6443A62F92C4}"/>
              </a:ext>
            </a:extLst>
          </p:cNvPr>
          <p:cNvSpPr/>
          <p:nvPr/>
        </p:nvSpPr>
        <p:spPr>
          <a:xfrm>
            <a:off x="8185181" y="2846237"/>
            <a:ext cx="963847" cy="7408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Habitudes individuelles communes déjà en place </a:t>
            </a:r>
          </a:p>
        </p:txBody>
      </p:sp>
      <p:pic>
        <p:nvPicPr>
          <p:cNvPr id="395" name="Graphique 394" descr="Flèches de chevron avec un remplissage uni">
            <a:extLst>
              <a:ext uri="{FF2B5EF4-FFF2-40B4-BE49-F238E27FC236}">
                <a16:creationId xmlns:a16="http://schemas.microsoft.com/office/drawing/2014/main" id="{E0F36CFD-7B53-79D6-2592-60B139E7CB8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289485" y="2330947"/>
            <a:ext cx="462773" cy="462772"/>
          </a:xfrm>
          <a:prstGeom prst="rect">
            <a:avLst/>
          </a:prstGeom>
        </p:spPr>
      </p:pic>
      <p:pic>
        <p:nvPicPr>
          <p:cNvPr id="422" name="Graphique 421" descr="Flèches de chevron avec un remplissage uni">
            <a:extLst>
              <a:ext uri="{FF2B5EF4-FFF2-40B4-BE49-F238E27FC236}">
                <a16:creationId xmlns:a16="http://schemas.microsoft.com/office/drawing/2014/main" id="{8EC9AD50-ED9D-1195-648C-8C0494277AFF}"/>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6315413" y="2349642"/>
            <a:ext cx="462773" cy="462772"/>
          </a:xfrm>
          <a:prstGeom prst="rect">
            <a:avLst/>
          </a:prstGeom>
        </p:spPr>
      </p:pic>
      <p:pic>
        <p:nvPicPr>
          <p:cNvPr id="429" name="Graphique 428" descr="Flèches de chevron avec un remplissage uni">
            <a:extLst>
              <a:ext uri="{FF2B5EF4-FFF2-40B4-BE49-F238E27FC236}">
                <a16:creationId xmlns:a16="http://schemas.microsoft.com/office/drawing/2014/main" id="{E3A1DC9A-BD4A-4EC5-A07B-B07EBF30DF2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385289" y="2349642"/>
            <a:ext cx="462773" cy="462772"/>
          </a:xfrm>
          <a:prstGeom prst="rect">
            <a:avLst/>
          </a:prstGeom>
        </p:spPr>
      </p:pic>
      <p:pic>
        <p:nvPicPr>
          <p:cNvPr id="431" name="Graphique 430" descr="Flèches de chevron avec un remplissage uni">
            <a:extLst>
              <a:ext uri="{FF2B5EF4-FFF2-40B4-BE49-F238E27FC236}">
                <a16:creationId xmlns:a16="http://schemas.microsoft.com/office/drawing/2014/main" id="{186A7E3F-BC6D-C3DA-38AC-19391FF79D55}"/>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395340" y="2359511"/>
            <a:ext cx="462773" cy="462772"/>
          </a:xfrm>
          <a:prstGeom prst="rect">
            <a:avLst/>
          </a:prstGeom>
        </p:spPr>
      </p:pic>
      <p:pic>
        <p:nvPicPr>
          <p:cNvPr id="438" name="Graphique 437" descr="Informations avec un remplissage uni">
            <a:extLst>
              <a:ext uri="{FF2B5EF4-FFF2-40B4-BE49-F238E27FC236}">
                <a16:creationId xmlns:a16="http://schemas.microsoft.com/office/drawing/2014/main" id="{AC8575CE-334F-FE57-C745-F19107C7E9FD}"/>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9465216" y="2337794"/>
            <a:ext cx="484752" cy="484750"/>
          </a:xfrm>
          <a:prstGeom prst="rect">
            <a:avLst/>
          </a:prstGeom>
        </p:spPr>
      </p:pic>
      <p:sp>
        <p:nvSpPr>
          <p:cNvPr id="440" name="Rectangle 439">
            <a:extLst>
              <a:ext uri="{FF2B5EF4-FFF2-40B4-BE49-F238E27FC236}">
                <a16:creationId xmlns:a16="http://schemas.microsoft.com/office/drawing/2014/main" id="{94FA7616-7D47-F6F7-D2D6-2CF0BBD5523E}"/>
              </a:ext>
            </a:extLst>
          </p:cNvPr>
          <p:cNvSpPr/>
          <p:nvPr/>
        </p:nvSpPr>
        <p:spPr>
          <a:xfrm>
            <a:off x="10248356" y="2846237"/>
            <a:ext cx="1004369" cy="7408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Accès à des réseaux et contacts clé pour un potentiel lancement</a:t>
            </a:r>
          </a:p>
        </p:txBody>
      </p:sp>
      <p:pic>
        <p:nvPicPr>
          <p:cNvPr id="512" name="Graphique 511" descr="Informations avec un remplissage uni">
            <a:extLst>
              <a:ext uri="{FF2B5EF4-FFF2-40B4-BE49-F238E27FC236}">
                <a16:creationId xmlns:a16="http://schemas.microsoft.com/office/drawing/2014/main" id="{3A639A6C-7B08-A664-34B5-8F2A08E1FD7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0484281" y="2337794"/>
            <a:ext cx="484752" cy="484750"/>
          </a:xfrm>
          <a:prstGeom prst="rect">
            <a:avLst/>
          </a:prstGeom>
        </p:spPr>
      </p:pic>
      <p:sp>
        <p:nvSpPr>
          <p:cNvPr id="513" name="Phylactère : pensées 512">
            <a:extLst>
              <a:ext uri="{FF2B5EF4-FFF2-40B4-BE49-F238E27FC236}">
                <a16:creationId xmlns:a16="http://schemas.microsoft.com/office/drawing/2014/main" id="{1BCD7670-8352-8D1A-8318-55D076E089CF}"/>
              </a:ext>
            </a:extLst>
          </p:cNvPr>
          <p:cNvSpPr/>
          <p:nvPr/>
        </p:nvSpPr>
        <p:spPr>
          <a:xfrm>
            <a:off x="7211452" y="4040080"/>
            <a:ext cx="1082276" cy="725858"/>
          </a:xfrm>
          <a:prstGeom prst="cloudCallout">
            <a:avLst>
              <a:gd name="adj1" fmla="val 42533"/>
              <a:gd name="adj2" fmla="val 21821"/>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Rectangle 1">
            <a:extLst>
              <a:ext uri="{FF2B5EF4-FFF2-40B4-BE49-F238E27FC236}">
                <a16:creationId xmlns:a16="http://schemas.microsoft.com/office/drawing/2014/main" id="{93057842-6F02-B799-E369-75884DB41F80}"/>
              </a:ext>
            </a:extLst>
          </p:cNvPr>
          <p:cNvSpPr/>
          <p:nvPr/>
        </p:nvSpPr>
        <p:spPr>
          <a:xfrm>
            <a:off x="9475602" y="5149294"/>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 Immersion dans le quotidien des membres (en dehors de la Communauté)</a:t>
            </a:r>
          </a:p>
        </p:txBody>
      </p:sp>
      <p:grpSp>
        <p:nvGrpSpPr>
          <p:cNvPr id="3" name="Groupe 2">
            <a:extLst>
              <a:ext uri="{FF2B5EF4-FFF2-40B4-BE49-F238E27FC236}">
                <a16:creationId xmlns:a16="http://schemas.microsoft.com/office/drawing/2014/main" id="{B50D22D6-D6B5-7FD0-EE25-B20EE5989E75}"/>
              </a:ext>
            </a:extLst>
          </p:cNvPr>
          <p:cNvGrpSpPr/>
          <p:nvPr/>
        </p:nvGrpSpPr>
        <p:grpSpPr>
          <a:xfrm>
            <a:off x="9771024" y="4376034"/>
            <a:ext cx="1082761" cy="668875"/>
            <a:chOff x="1853030" y="3305280"/>
            <a:chExt cx="4434487" cy="2739401"/>
          </a:xfrm>
        </p:grpSpPr>
        <p:pic>
          <p:nvPicPr>
            <p:cNvPr id="5" name="Graphique 4" descr="Personne confuse avec un remplissage uni">
              <a:extLst>
                <a:ext uri="{FF2B5EF4-FFF2-40B4-BE49-F238E27FC236}">
                  <a16:creationId xmlns:a16="http://schemas.microsoft.com/office/drawing/2014/main" id="{573A0A52-A757-194F-FC08-4655866917D0}"/>
                </a:ext>
              </a:extLst>
            </p:cNvPr>
            <p:cNvPicPr>
              <a:picLocks noChangeAspect="1"/>
            </p:cNvPicPr>
            <p:nvPr/>
          </p:nvPicPr>
          <p:blipFill rotWithShape="1">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l="60539" r="14769" b="50034"/>
            <a:stretch/>
          </p:blipFill>
          <p:spPr>
            <a:xfrm>
              <a:off x="1853030" y="4332121"/>
              <a:ext cx="846318" cy="1712560"/>
            </a:xfrm>
            <a:prstGeom prst="rect">
              <a:avLst/>
            </a:prstGeom>
          </p:spPr>
        </p:pic>
        <p:pic>
          <p:nvPicPr>
            <p:cNvPr id="6" name="Graphique 5" descr="Loupe avec un remplissage uni">
              <a:extLst>
                <a:ext uri="{FF2B5EF4-FFF2-40B4-BE49-F238E27FC236}">
                  <a16:creationId xmlns:a16="http://schemas.microsoft.com/office/drawing/2014/main" id="{61A91614-F790-B8BE-4978-AF635FAD8280}"/>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flipH="1">
              <a:off x="2235992" y="4467181"/>
              <a:ext cx="1589482" cy="1442437"/>
            </a:xfrm>
            <a:prstGeom prst="rect">
              <a:avLst/>
            </a:prstGeom>
          </p:spPr>
        </p:pic>
        <p:pic>
          <p:nvPicPr>
            <p:cNvPr id="7" name="Graphique 6" descr="Bureau avec un remplissage uni">
              <a:extLst>
                <a:ext uri="{FF2B5EF4-FFF2-40B4-BE49-F238E27FC236}">
                  <a16:creationId xmlns:a16="http://schemas.microsoft.com/office/drawing/2014/main" id="{877AD397-8C19-5570-BFAB-C4994C82EAA2}"/>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608539" y="3305280"/>
              <a:ext cx="1211427" cy="1211427"/>
            </a:xfrm>
            <a:prstGeom prst="rect">
              <a:avLst/>
            </a:prstGeom>
          </p:spPr>
        </p:pic>
        <p:pic>
          <p:nvPicPr>
            <p:cNvPr id="8" name="Graphique 7" descr="Travail à domicile avec un remplissage uni">
              <a:extLst>
                <a:ext uri="{FF2B5EF4-FFF2-40B4-BE49-F238E27FC236}">
                  <a16:creationId xmlns:a16="http://schemas.microsoft.com/office/drawing/2014/main" id="{9D81705D-0BC4-F60A-BD89-33818D9A994C}"/>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5076090" y="3519632"/>
              <a:ext cx="1211427" cy="1211427"/>
            </a:xfrm>
            <a:prstGeom prst="rect">
              <a:avLst/>
            </a:prstGeom>
          </p:spPr>
        </p:pic>
        <p:pic>
          <p:nvPicPr>
            <p:cNvPr id="9" name="Graphique 8" descr="Employée de bureau avec un remplissage uni">
              <a:extLst>
                <a:ext uri="{FF2B5EF4-FFF2-40B4-BE49-F238E27FC236}">
                  <a16:creationId xmlns:a16="http://schemas.microsoft.com/office/drawing/2014/main" id="{F1D0922A-DFD1-27D0-1302-BDFA1E484B80}"/>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3993582" y="4059507"/>
              <a:ext cx="914400" cy="914400"/>
            </a:xfrm>
            <a:prstGeom prst="rect">
              <a:avLst/>
            </a:prstGeom>
          </p:spPr>
        </p:pic>
        <p:pic>
          <p:nvPicPr>
            <p:cNvPr id="10" name="Graphique 9" descr="Employé de bureau avec un remplissage uni">
              <a:extLst>
                <a:ext uri="{FF2B5EF4-FFF2-40B4-BE49-F238E27FC236}">
                  <a16:creationId xmlns:a16="http://schemas.microsoft.com/office/drawing/2014/main" id="{BCD71ACF-2B0D-1D8A-2977-79A7B0DD8C50}"/>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5063677" y="4707358"/>
              <a:ext cx="914400" cy="914400"/>
            </a:xfrm>
            <a:prstGeom prst="rect">
              <a:avLst/>
            </a:prstGeom>
          </p:spPr>
        </p:pic>
        <p:pic>
          <p:nvPicPr>
            <p:cNvPr id="11" name="Graphique 10" descr="Bulle de discussion contour">
              <a:extLst>
                <a:ext uri="{FF2B5EF4-FFF2-40B4-BE49-F238E27FC236}">
                  <a16:creationId xmlns:a16="http://schemas.microsoft.com/office/drawing/2014/main" id="{9BBD8D8E-C0C0-CFA7-5360-88A4C79ABAFB}"/>
                </a:ext>
              </a:extLst>
            </p:cNvPr>
            <p:cNvPicPr>
              <a:picLocks noChangeAspect="1"/>
            </p:cNvPicPr>
            <p:nvPr/>
          </p:nvPicPr>
          <p:blipFill rotWithShape="1">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rcRect t="12903" b="12311"/>
            <a:stretch/>
          </p:blipFill>
          <p:spPr>
            <a:xfrm>
              <a:off x="4951600" y="4547142"/>
              <a:ext cx="451149" cy="365688"/>
            </a:xfrm>
            <a:prstGeom prst="rect">
              <a:avLst/>
            </a:prstGeom>
          </p:spPr>
        </p:pic>
      </p:grpSp>
      <p:pic>
        <p:nvPicPr>
          <p:cNvPr id="12" name="Graphique 11" descr="Femme détective avec un remplissage uni">
            <a:extLst>
              <a:ext uri="{FF2B5EF4-FFF2-40B4-BE49-F238E27FC236}">
                <a16:creationId xmlns:a16="http://schemas.microsoft.com/office/drawing/2014/main" id="{B8554A18-32A0-EBD0-9991-42E19CE0511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69867" y="4576268"/>
            <a:ext cx="424223" cy="424223"/>
          </a:xfrm>
          <a:prstGeom prst="rect">
            <a:avLst/>
          </a:prstGeom>
        </p:spPr>
      </p:pic>
    </p:spTree>
    <p:extLst>
      <p:ext uri="{BB962C8B-B14F-4D97-AF65-F5344CB8AC3E}">
        <p14:creationId xmlns:p14="http://schemas.microsoft.com/office/powerpoint/2010/main" val="479180873"/>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310053118"/>
              </p:ext>
            </p:extLst>
          </p:nvPr>
        </p:nvGraphicFramePr>
        <p:xfrm>
          <a:off x="838200" y="780298"/>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Etape de </a:t>
                      </a:r>
                      <a:r>
                        <a:rPr lang="fr-FR" sz="1800" dirty="0"/>
                        <a:t>Kick off</a:t>
                      </a:r>
                      <a:endParaRPr lang="fr-FR" dirty="0"/>
                    </a:p>
                    <a:p>
                      <a:r>
                        <a:rPr lang="fr-FR" i="1" dirty="0"/>
                        <a:t>« Lancer officiellement une communauté »</a:t>
                      </a:r>
                    </a:p>
                  </a:txBody>
                  <a:tcPr>
                    <a:solidFill>
                      <a:srgbClr val="ED7D31"/>
                    </a:solidFill>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grpSp>
        <p:nvGrpSpPr>
          <p:cNvPr id="140" name="Groupe 139">
            <a:extLst>
              <a:ext uri="{FF2B5EF4-FFF2-40B4-BE49-F238E27FC236}">
                <a16:creationId xmlns:a16="http://schemas.microsoft.com/office/drawing/2014/main" id="{37945FA3-19F6-ECC9-C32E-6905BB664B7E}"/>
              </a:ext>
            </a:extLst>
          </p:cNvPr>
          <p:cNvGrpSpPr/>
          <p:nvPr/>
        </p:nvGrpSpPr>
        <p:grpSpPr>
          <a:xfrm>
            <a:off x="3398060" y="4013372"/>
            <a:ext cx="987844" cy="884966"/>
            <a:chOff x="4425170" y="3632190"/>
            <a:chExt cx="3109158" cy="2785359"/>
          </a:xfrm>
        </p:grpSpPr>
        <p:grpSp>
          <p:nvGrpSpPr>
            <p:cNvPr id="141" name="Groupe 140">
              <a:extLst>
                <a:ext uri="{FF2B5EF4-FFF2-40B4-BE49-F238E27FC236}">
                  <a16:creationId xmlns:a16="http://schemas.microsoft.com/office/drawing/2014/main" id="{D623C9A9-FD22-5860-3061-FACAC1E59A2E}"/>
                </a:ext>
              </a:extLst>
            </p:cNvPr>
            <p:cNvGrpSpPr/>
            <p:nvPr/>
          </p:nvGrpSpPr>
          <p:grpSpPr>
            <a:xfrm>
              <a:off x="4425170" y="3632190"/>
              <a:ext cx="3109158" cy="2785359"/>
              <a:chOff x="7455204" y="423920"/>
              <a:chExt cx="3109158" cy="2785359"/>
            </a:xfrm>
          </p:grpSpPr>
          <p:grpSp>
            <p:nvGrpSpPr>
              <p:cNvPr id="150" name="Groupe 149">
                <a:extLst>
                  <a:ext uri="{FF2B5EF4-FFF2-40B4-BE49-F238E27FC236}">
                    <a16:creationId xmlns:a16="http://schemas.microsoft.com/office/drawing/2014/main" id="{A26EE01B-791E-EF41-7C89-699FDA09853B}"/>
                  </a:ext>
                </a:extLst>
              </p:cNvPr>
              <p:cNvGrpSpPr/>
              <p:nvPr/>
            </p:nvGrpSpPr>
            <p:grpSpPr>
              <a:xfrm>
                <a:off x="7645253" y="585600"/>
                <a:ext cx="2773811" cy="2623679"/>
                <a:chOff x="7693584" y="632578"/>
                <a:chExt cx="2773811" cy="2623679"/>
              </a:xfrm>
            </p:grpSpPr>
            <p:sp>
              <p:nvSpPr>
                <p:cNvPr id="154" name="Ellipse 153">
                  <a:extLst>
                    <a:ext uri="{FF2B5EF4-FFF2-40B4-BE49-F238E27FC236}">
                      <a16:creationId xmlns:a16="http://schemas.microsoft.com/office/drawing/2014/main" id="{D5386995-F84C-8F30-863D-FDC1D5920A47}"/>
                    </a:ext>
                  </a:extLst>
                </p:cNvPr>
                <p:cNvSpPr/>
                <p:nvPr/>
              </p:nvSpPr>
              <p:spPr>
                <a:xfrm>
                  <a:off x="8234943" y="63257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5" name="Ellipse 154">
                  <a:extLst>
                    <a:ext uri="{FF2B5EF4-FFF2-40B4-BE49-F238E27FC236}">
                      <a16:creationId xmlns:a16="http://schemas.microsoft.com/office/drawing/2014/main" id="{84B69839-60B3-12E4-821F-8E4CE6277AA8}"/>
                    </a:ext>
                  </a:extLst>
                </p:cNvPr>
                <p:cNvSpPr/>
                <p:nvPr/>
              </p:nvSpPr>
              <p:spPr>
                <a:xfrm>
                  <a:off x="7693584" y="150713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6" name="Ellipse 155">
                  <a:extLst>
                    <a:ext uri="{FF2B5EF4-FFF2-40B4-BE49-F238E27FC236}">
                      <a16:creationId xmlns:a16="http://schemas.microsoft.com/office/drawing/2014/main" id="{A3146C27-01C8-EBA4-BAE2-78493969ED4E}"/>
                    </a:ext>
                  </a:extLst>
                </p:cNvPr>
                <p:cNvSpPr/>
                <p:nvPr/>
              </p:nvSpPr>
              <p:spPr>
                <a:xfrm>
                  <a:off x="8718277" y="1507138"/>
                  <a:ext cx="1749118" cy="174911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pic>
            <p:nvPicPr>
              <p:cNvPr id="151" name="Graphique 150" descr="Logement avec un remplissage uni">
                <a:extLst>
                  <a:ext uri="{FF2B5EF4-FFF2-40B4-BE49-F238E27FC236}">
                    <a16:creationId xmlns:a16="http://schemas.microsoft.com/office/drawing/2014/main" id="{AE7E4212-EA10-4DAA-6844-5634D5C04B2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937244" y="2487557"/>
                <a:ext cx="627118" cy="627118"/>
              </a:xfrm>
              <a:prstGeom prst="rect">
                <a:avLst/>
              </a:prstGeom>
            </p:spPr>
          </p:pic>
          <p:pic>
            <p:nvPicPr>
              <p:cNvPr id="152" name="Graphique 151" descr="Outils d'exploitation minière avec un remplissage uni">
                <a:extLst>
                  <a:ext uri="{FF2B5EF4-FFF2-40B4-BE49-F238E27FC236}">
                    <a16:creationId xmlns:a16="http://schemas.microsoft.com/office/drawing/2014/main" id="{C22CFA5D-20E3-4F1F-45B7-039284D3C22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55204" y="2531261"/>
                <a:ext cx="580613" cy="580613"/>
              </a:xfrm>
              <a:prstGeom prst="rect">
                <a:avLst/>
              </a:prstGeom>
            </p:spPr>
          </p:pic>
          <p:pic>
            <p:nvPicPr>
              <p:cNvPr id="153" name="Graphique 152" descr="Cœur avec un remplissage uni">
                <a:extLst>
                  <a:ext uri="{FF2B5EF4-FFF2-40B4-BE49-F238E27FC236}">
                    <a16:creationId xmlns:a16="http://schemas.microsoft.com/office/drawing/2014/main" id="{5D67EE93-56A4-3B50-83E4-3A5C0127E03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735090" y="423920"/>
                <a:ext cx="652161" cy="652161"/>
              </a:xfrm>
              <a:prstGeom prst="rect">
                <a:avLst/>
              </a:prstGeom>
            </p:spPr>
          </p:pic>
        </p:grpSp>
        <p:sp>
          <p:nvSpPr>
            <p:cNvPr id="142" name="Rectangle 141">
              <a:extLst>
                <a:ext uri="{FF2B5EF4-FFF2-40B4-BE49-F238E27FC236}">
                  <a16:creationId xmlns:a16="http://schemas.microsoft.com/office/drawing/2014/main" id="{A04FA0A3-5B0D-6CA0-4C9B-C9E68E3DC50E}"/>
                </a:ext>
              </a:extLst>
            </p:cNvPr>
            <p:cNvSpPr/>
            <p:nvPr/>
          </p:nvSpPr>
          <p:spPr>
            <a:xfrm>
              <a:off x="5281786" y="4714527"/>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3" name="Rectangle 142">
              <a:extLst>
                <a:ext uri="{FF2B5EF4-FFF2-40B4-BE49-F238E27FC236}">
                  <a16:creationId xmlns:a16="http://schemas.microsoft.com/office/drawing/2014/main" id="{7AE6EBC0-3958-2633-1EA0-6F65D63E6DFE}"/>
                </a:ext>
              </a:extLst>
            </p:cNvPr>
            <p:cNvSpPr/>
            <p:nvPr/>
          </p:nvSpPr>
          <p:spPr>
            <a:xfrm>
              <a:off x="5537898" y="4905178"/>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4" name="Rectangle 143">
              <a:extLst>
                <a:ext uri="{FF2B5EF4-FFF2-40B4-BE49-F238E27FC236}">
                  <a16:creationId xmlns:a16="http://schemas.microsoft.com/office/drawing/2014/main" id="{FA668AD9-F6F5-821D-3CA6-0A3B70F26994}"/>
                </a:ext>
              </a:extLst>
            </p:cNvPr>
            <p:cNvSpPr/>
            <p:nvPr/>
          </p:nvSpPr>
          <p:spPr>
            <a:xfrm>
              <a:off x="5862145" y="5211431"/>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5" name="Rectangle 144">
              <a:extLst>
                <a:ext uri="{FF2B5EF4-FFF2-40B4-BE49-F238E27FC236}">
                  <a16:creationId xmlns:a16="http://schemas.microsoft.com/office/drawing/2014/main" id="{C27BBFFA-0A07-6569-36BA-EAB49A1ED147}"/>
                </a:ext>
              </a:extLst>
            </p:cNvPr>
            <p:cNvSpPr/>
            <p:nvPr/>
          </p:nvSpPr>
          <p:spPr>
            <a:xfrm>
              <a:off x="5237093" y="5620455"/>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6" name="Rectangle 145">
              <a:extLst>
                <a:ext uri="{FF2B5EF4-FFF2-40B4-BE49-F238E27FC236}">
                  <a16:creationId xmlns:a16="http://schemas.microsoft.com/office/drawing/2014/main" id="{8CE9F2C5-534A-E20E-AA77-12F963BC8127}"/>
                </a:ext>
              </a:extLst>
            </p:cNvPr>
            <p:cNvSpPr/>
            <p:nvPr/>
          </p:nvSpPr>
          <p:spPr>
            <a:xfrm>
              <a:off x="6452646" y="4791042"/>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7" name="Rectangle 146">
              <a:extLst>
                <a:ext uri="{FF2B5EF4-FFF2-40B4-BE49-F238E27FC236}">
                  <a16:creationId xmlns:a16="http://schemas.microsoft.com/office/drawing/2014/main" id="{B506F34F-0D26-579E-7D55-F7532041F006}"/>
                </a:ext>
              </a:extLst>
            </p:cNvPr>
            <p:cNvSpPr/>
            <p:nvPr/>
          </p:nvSpPr>
          <p:spPr>
            <a:xfrm>
              <a:off x="6769327" y="5276776"/>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8" name="Rectangle 147">
              <a:extLst>
                <a:ext uri="{FF2B5EF4-FFF2-40B4-BE49-F238E27FC236}">
                  <a16:creationId xmlns:a16="http://schemas.microsoft.com/office/drawing/2014/main" id="{A2BF662F-0F9A-D79F-6EA0-AF95C8C08472}"/>
                </a:ext>
              </a:extLst>
            </p:cNvPr>
            <p:cNvSpPr/>
            <p:nvPr/>
          </p:nvSpPr>
          <p:spPr>
            <a:xfrm>
              <a:off x="5857959" y="5954806"/>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9" name="Rectangle 148">
              <a:extLst>
                <a:ext uri="{FF2B5EF4-FFF2-40B4-BE49-F238E27FC236}">
                  <a16:creationId xmlns:a16="http://schemas.microsoft.com/office/drawing/2014/main" id="{DAB70689-59BD-1744-AF6B-B6E52586FAFD}"/>
                </a:ext>
              </a:extLst>
            </p:cNvPr>
            <p:cNvSpPr/>
            <p:nvPr/>
          </p:nvSpPr>
          <p:spPr>
            <a:xfrm>
              <a:off x="6432029" y="4194085"/>
              <a:ext cx="252024" cy="252082"/>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pic>
        <p:nvPicPr>
          <p:cNvPr id="157" name="Image 156">
            <a:extLst>
              <a:ext uri="{FF2B5EF4-FFF2-40B4-BE49-F238E27FC236}">
                <a16:creationId xmlns:a16="http://schemas.microsoft.com/office/drawing/2014/main" id="{9D3BF404-66F9-05CF-53DA-A8FF1B5A9A0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263607" y="4138448"/>
            <a:ext cx="1103082" cy="608397"/>
          </a:xfrm>
          <a:prstGeom prst="rect">
            <a:avLst/>
          </a:prstGeom>
        </p:spPr>
      </p:pic>
      <p:sp>
        <p:nvSpPr>
          <p:cNvPr id="159" name="Rectangle 158">
            <a:extLst>
              <a:ext uri="{FF2B5EF4-FFF2-40B4-BE49-F238E27FC236}">
                <a16:creationId xmlns:a16="http://schemas.microsoft.com/office/drawing/2014/main" id="{88135C88-8779-0F64-151D-18A9AB4DA7F7}"/>
              </a:ext>
            </a:extLst>
          </p:cNvPr>
          <p:cNvSpPr/>
          <p:nvPr/>
        </p:nvSpPr>
        <p:spPr>
          <a:xfrm>
            <a:off x="3167716" y="4929584"/>
            <a:ext cx="1492148" cy="103397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W2 Topics Mapping</a:t>
            </a:r>
          </a:p>
          <a:p>
            <a:pPr algn="ctr"/>
            <a:r>
              <a:rPr lang="fr-FR" sz="1200" dirty="0">
                <a:solidFill>
                  <a:schemeClr val="tx1"/>
                </a:solidFill>
              </a:rPr>
              <a:t>+ Clarifier les premiers sujets à aborder</a:t>
            </a:r>
          </a:p>
        </p:txBody>
      </p:sp>
      <p:sp>
        <p:nvSpPr>
          <p:cNvPr id="160" name="Rectangle 159">
            <a:extLst>
              <a:ext uri="{FF2B5EF4-FFF2-40B4-BE49-F238E27FC236}">
                <a16:creationId xmlns:a16="http://schemas.microsoft.com/office/drawing/2014/main" id="{F95B813F-335B-7A93-B44B-0A0B6FA48F73}"/>
              </a:ext>
            </a:extLst>
          </p:cNvPr>
          <p:cNvSpPr/>
          <p:nvPr/>
        </p:nvSpPr>
        <p:spPr>
          <a:xfrm>
            <a:off x="1029892" y="4928737"/>
            <a:ext cx="1492148" cy="105033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W1 sur l’investissement en temps </a:t>
            </a:r>
          </a:p>
          <a:p>
            <a:pPr algn="ctr"/>
            <a:r>
              <a:rPr lang="fr-FR" sz="1200" dirty="0">
                <a:solidFill>
                  <a:schemeClr val="tx1"/>
                </a:solidFill>
              </a:rPr>
              <a:t>+ Poser un </a:t>
            </a:r>
            <a:r>
              <a:rPr lang="fr-FR" sz="1200" b="1" dirty="0">
                <a:solidFill>
                  <a:schemeClr val="tx1"/>
                </a:solidFill>
              </a:rPr>
              <a:t>rythme</a:t>
            </a:r>
            <a:r>
              <a:rPr lang="fr-FR" sz="1200" dirty="0">
                <a:solidFill>
                  <a:schemeClr val="tx1"/>
                </a:solidFill>
              </a:rPr>
              <a:t> en réponse</a:t>
            </a:r>
          </a:p>
        </p:txBody>
      </p:sp>
      <p:pic>
        <p:nvPicPr>
          <p:cNvPr id="389" name="Graphique 388" descr="Notes Post-it avec un remplissage uni">
            <a:extLst>
              <a:ext uri="{FF2B5EF4-FFF2-40B4-BE49-F238E27FC236}">
                <a16:creationId xmlns:a16="http://schemas.microsoft.com/office/drawing/2014/main" id="{53320BF3-1E08-4C02-A038-178F3D5F60F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809635" y="4070558"/>
            <a:ext cx="914400" cy="914400"/>
          </a:xfrm>
          <a:prstGeom prst="rect">
            <a:avLst/>
          </a:prstGeom>
        </p:spPr>
      </p:pic>
      <p:sp>
        <p:nvSpPr>
          <p:cNvPr id="2" name="Flèche : droite 1">
            <a:extLst>
              <a:ext uri="{FF2B5EF4-FFF2-40B4-BE49-F238E27FC236}">
                <a16:creationId xmlns:a16="http://schemas.microsoft.com/office/drawing/2014/main" id="{AF1CA53C-650D-19B9-1692-324EF9A4D837}"/>
              </a:ext>
            </a:extLst>
          </p:cNvPr>
          <p:cNvSpPr/>
          <p:nvPr/>
        </p:nvSpPr>
        <p:spPr>
          <a:xfrm>
            <a:off x="838200" y="2205208"/>
            <a:ext cx="2033697" cy="1185711"/>
          </a:xfrm>
          <a:prstGeom prst="rightArrow">
            <a:avLst>
              <a:gd name="adj1" fmla="val 67575"/>
              <a:gd name="adj2"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IDEATION D’ACTIONS :</a:t>
            </a:r>
          </a:p>
          <a:p>
            <a:pPr algn="ctr"/>
            <a:r>
              <a:rPr lang="fr-FR" sz="1200" dirty="0">
                <a:solidFill>
                  <a:schemeClr val="tx1"/>
                </a:solidFill>
              </a:rPr>
              <a:t>Clarifier la valeur et imaginer des actions</a:t>
            </a:r>
          </a:p>
        </p:txBody>
      </p:sp>
      <p:pic>
        <p:nvPicPr>
          <p:cNvPr id="6" name="Graphique 5" descr="Bâtiment avec un remplissage uni">
            <a:extLst>
              <a:ext uri="{FF2B5EF4-FFF2-40B4-BE49-F238E27FC236}">
                <a16:creationId xmlns:a16="http://schemas.microsoft.com/office/drawing/2014/main" id="{924085BB-84F7-F74D-09CF-90702EF744F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304789" y="4296539"/>
            <a:ext cx="711314" cy="711314"/>
          </a:xfrm>
          <a:prstGeom prst="rect">
            <a:avLst/>
          </a:prstGeom>
        </p:spPr>
      </p:pic>
      <p:grpSp>
        <p:nvGrpSpPr>
          <p:cNvPr id="7" name="Groupe 6">
            <a:extLst>
              <a:ext uri="{FF2B5EF4-FFF2-40B4-BE49-F238E27FC236}">
                <a16:creationId xmlns:a16="http://schemas.microsoft.com/office/drawing/2014/main" id="{51ABB9A9-0C60-C9CA-A3D5-444F41063399}"/>
              </a:ext>
            </a:extLst>
          </p:cNvPr>
          <p:cNvGrpSpPr/>
          <p:nvPr/>
        </p:nvGrpSpPr>
        <p:grpSpPr>
          <a:xfrm>
            <a:off x="7778795" y="4317567"/>
            <a:ext cx="688214" cy="580219"/>
            <a:chOff x="8982504" y="3274976"/>
            <a:chExt cx="1230670" cy="1037553"/>
          </a:xfrm>
          <a:solidFill>
            <a:srgbClr val="ED7D31"/>
          </a:solidFill>
        </p:grpSpPr>
        <p:pic>
          <p:nvPicPr>
            <p:cNvPr id="8" name="Graphique 7" descr="Utilisateur avec un remplissage uni">
              <a:extLst>
                <a:ext uri="{FF2B5EF4-FFF2-40B4-BE49-F238E27FC236}">
                  <a16:creationId xmlns:a16="http://schemas.microsoft.com/office/drawing/2014/main" id="{FC5D4234-18C3-4BEE-42F7-6BC5653C5FB6}"/>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301028" y="3274976"/>
              <a:ext cx="336064" cy="336064"/>
            </a:xfrm>
            <a:prstGeom prst="rect">
              <a:avLst/>
            </a:prstGeom>
          </p:spPr>
        </p:pic>
        <p:pic>
          <p:nvPicPr>
            <p:cNvPr id="9" name="Graphique 8" descr="Utilisateur avec un remplissage uni">
              <a:extLst>
                <a:ext uri="{FF2B5EF4-FFF2-40B4-BE49-F238E27FC236}">
                  <a16:creationId xmlns:a16="http://schemas.microsoft.com/office/drawing/2014/main" id="{750FCC5F-64DD-8900-57FE-683618052F7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054140" y="3512720"/>
              <a:ext cx="336064" cy="336064"/>
            </a:xfrm>
            <a:prstGeom prst="rect">
              <a:avLst/>
            </a:prstGeom>
          </p:spPr>
        </p:pic>
        <p:pic>
          <p:nvPicPr>
            <p:cNvPr id="10" name="Graphique 9" descr="Utilisateur avec un remplissage uni">
              <a:extLst>
                <a:ext uri="{FF2B5EF4-FFF2-40B4-BE49-F238E27FC236}">
                  <a16:creationId xmlns:a16="http://schemas.microsoft.com/office/drawing/2014/main" id="{74BD90F4-7D3C-5F34-2A90-88BB0B6255D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345616" y="3561880"/>
              <a:ext cx="336064" cy="336064"/>
            </a:xfrm>
            <a:prstGeom prst="rect">
              <a:avLst/>
            </a:prstGeom>
          </p:spPr>
        </p:pic>
        <p:pic>
          <p:nvPicPr>
            <p:cNvPr id="20" name="Graphique 19" descr="Utilisateur avec un remplissage uni">
              <a:extLst>
                <a:ext uri="{FF2B5EF4-FFF2-40B4-BE49-F238E27FC236}">
                  <a16:creationId xmlns:a16="http://schemas.microsoft.com/office/drawing/2014/main" id="{1F72F811-9E67-7E2B-DB7A-D014CF90673B}"/>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592504" y="3418428"/>
              <a:ext cx="336064" cy="336064"/>
            </a:xfrm>
            <a:prstGeom prst="rect">
              <a:avLst/>
            </a:prstGeom>
          </p:spPr>
        </p:pic>
        <p:pic>
          <p:nvPicPr>
            <p:cNvPr id="448" name="Graphique 447" descr="Utilisateur avec un remplissage uni">
              <a:extLst>
                <a:ext uri="{FF2B5EF4-FFF2-40B4-BE49-F238E27FC236}">
                  <a16:creationId xmlns:a16="http://schemas.microsoft.com/office/drawing/2014/main" id="{A84BB153-446F-054A-6563-90716B5360E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635196" y="3680752"/>
              <a:ext cx="336064" cy="336064"/>
            </a:xfrm>
            <a:prstGeom prst="rect">
              <a:avLst/>
            </a:prstGeom>
          </p:spPr>
        </p:pic>
        <p:pic>
          <p:nvPicPr>
            <p:cNvPr id="450" name="Graphique 449" descr="Utilisateur avec un remplissage uni">
              <a:extLst>
                <a:ext uri="{FF2B5EF4-FFF2-40B4-BE49-F238E27FC236}">
                  <a16:creationId xmlns:a16="http://schemas.microsoft.com/office/drawing/2014/main" id="{4D1D1028-A7AF-A8D1-08B1-29668402291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256440" y="3848784"/>
              <a:ext cx="336064" cy="336064"/>
            </a:xfrm>
            <a:prstGeom prst="rect">
              <a:avLst/>
            </a:prstGeom>
          </p:spPr>
        </p:pic>
        <p:pic>
          <p:nvPicPr>
            <p:cNvPr id="458" name="Graphique 457" descr="Utilisateur avec un remplissage uni">
              <a:extLst>
                <a:ext uri="{FF2B5EF4-FFF2-40B4-BE49-F238E27FC236}">
                  <a16:creationId xmlns:a16="http://schemas.microsoft.com/office/drawing/2014/main" id="{74B1E231-7B46-0D0E-C5A3-60F58D17E74D}"/>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982504" y="3835028"/>
              <a:ext cx="336064" cy="336064"/>
            </a:xfrm>
            <a:prstGeom prst="rect">
              <a:avLst/>
            </a:prstGeom>
          </p:spPr>
        </p:pic>
        <p:pic>
          <p:nvPicPr>
            <p:cNvPr id="459" name="Graphique 458" descr="Utilisateur avec un remplissage uni">
              <a:extLst>
                <a:ext uri="{FF2B5EF4-FFF2-40B4-BE49-F238E27FC236}">
                  <a16:creationId xmlns:a16="http://schemas.microsoft.com/office/drawing/2014/main" id="{25196C8D-20C9-840A-0829-34362D7BE116}"/>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520868" y="3943076"/>
              <a:ext cx="336064" cy="336064"/>
            </a:xfrm>
            <a:prstGeom prst="rect">
              <a:avLst/>
            </a:prstGeom>
          </p:spPr>
        </p:pic>
        <p:pic>
          <p:nvPicPr>
            <p:cNvPr id="462" name="Graphique 461" descr="Utilisateur avec un remplissage uni">
              <a:extLst>
                <a:ext uri="{FF2B5EF4-FFF2-40B4-BE49-F238E27FC236}">
                  <a16:creationId xmlns:a16="http://schemas.microsoft.com/office/drawing/2014/main" id="{C3AD8F47-E476-A205-067C-820CE4D5828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742772" y="3976465"/>
              <a:ext cx="336064" cy="336064"/>
            </a:xfrm>
            <a:prstGeom prst="rect">
              <a:avLst/>
            </a:prstGeom>
          </p:spPr>
        </p:pic>
        <p:pic>
          <p:nvPicPr>
            <p:cNvPr id="463" name="Graphique 462" descr="Utilisateur avec un remplissage uni">
              <a:extLst>
                <a:ext uri="{FF2B5EF4-FFF2-40B4-BE49-F238E27FC236}">
                  <a16:creationId xmlns:a16="http://schemas.microsoft.com/office/drawing/2014/main" id="{95BFE492-5ABC-D9BC-BBCF-F7F913B7759E}"/>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877110" y="3705332"/>
              <a:ext cx="336064" cy="336064"/>
            </a:xfrm>
            <a:prstGeom prst="rect">
              <a:avLst/>
            </a:prstGeom>
          </p:spPr>
        </p:pic>
        <p:pic>
          <p:nvPicPr>
            <p:cNvPr id="464" name="Graphique 463" descr="Utilisateur avec un remplissage uni">
              <a:extLst>
                <a:ext uri="{FF2B5EF4-FFF2-40B4-BE49-F238E27FC236}">
                  <a16:creationId xmlns:a16="http://schemas.microsoft.com/office/drawing/2014/main" id="{2A755F56-2B75-5523-20A3-7B46CCF1915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856932" y="3429000"/>
              <a:ext cx="336064" cy="336064"/>
            </a:xfrm>
            <a:prstGeom prst="rect">
              <a:avLst/>
            </a:prstGeom>
          </p:spPr>
        </p:pic>
      </p:grpSp>
      <p:sp>
        <p:nvSpPr>
          <p:cNvPr id="469" name="Rectangle 468">
            <a:extLst>
              <a:ext uri="{FF2B5EF4-FFF2-40B4-BE49-F238E27FC236}">
                <a16:creationId xmlns:a16="http://schemas.microsoft.com/office/drawing/2014/main" id="{073CD21C-0AA3-949E-A72B-EE5B66A5262F}"/>
              </a:ext>
            </a:extLst>
          </p:cNvPr>
          <p:cNvSpPr/>
          <p:nvPr/>
        </p:nvSpPr>
        <p:spPr>
          <a:xfrm>
            <a:off x="7476502" y="4967773"/>
            <a:ext cx="1317611" cy="9486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a:t>
            </a:r>
          </a:p>
          <a:p>
            <a:pPr algn="ctr"/>
            <a:r>
              <a:rPr lang="fr-FR" sz="1200" dirty="0">
                <a:solidFill>
                  <a:schemeClr val="tx1"/>
                </a:solidFill>
              </a:rPr>
              <a:t>Présentation globale de la Communauté</a:t>
            </a:r>
          </a:p>
        </p:txBody>
      </p:sp>
      <p:pic>
        <p:nvPicPr>
          <p:cNvPr id="482" name="Graphique 481" descr="Mégaphone avec un remplissage uni">
            <a:extLst>
              <a:ext uri="{FF2B5EF4-FFF2-40B4-BE49-F238E27FC236}">
                <a16:creationId xmlns:a16="http://schemas.microsoft.com/office/drawing/2014/main" id="{01F041C0-1956-6290-5811-CB017CCE5E5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228858" y="4419559"/>
            <a:ext cx="558623" cy="558623"/>
          </a:xfrm>
          <a:prstGeom prst="rect">
            <a:avLst/>
          </a:prstGeom>
        </p:spPr>
      </p:pic>
      <p:sp>
        <p:nvSpPr>
          <p:cNvPr id="483" name="Rectangle 482">
            <a:extLst>
              <a:ext uri="{FF2B5EF4-FFF2-40B4-BE49-F238E27FC236}">
                <a16:creationId xmlns:a16="http://schemas.microsoft.com/office/drawing/2014/main" id="{80D3F605-4DB4-48F6-5ADC-6FCB3F48138E}"/>
              </a:ext>
            </a:extLst>
          </p:cNvPr>
          <p:cNvSpPr/>
          <p:nvPr/>
        </p:nvSpPr>
        <p:spPr>
          <a:xfrm>
            <a:off x="9531141" y="495964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Se créer un </a:t>
            </a:r>
            <a:r>
              <a:rPr lang="fr-FR" sz="1200" dirty="0" err="1">
                <a:solidFill>
                  <a:schemeClr val="tx1"/>
                </a:solidFill>
              </a:rPr>
              <a:t>backlog</a:t>
            </a:r>
            <a:r>
              <a:rPr lang="fr-FR" sz="1200" dirty="0">
                <a:solidFill>
                  <a:schemeClr val="tx1"/>
                </a:solidFill>
              </a:rPr>
              <a:t> sous forme d’une liste simple </a:t>
            </a:r>
          </a:p>
        </p:txBody>
      </p:sp>
      <p:grpSp>
        <p:nvGrpSpPr>
          <p:cNvPr id="484" name="Groupe 483">
            <a:extLst>
              <a:ext uri="{FF2B5EF4-FFF2-40B4-BE49-F238E27FC236}">
                <a16:creationId xmlns:a16="http://schemas.microsoft.com/office/drawing/2014/main" id="{AD7329BB-44B1-930D-ACED-30DC29DBC2C0}"/>
              </a:ext>
            </a:extLst>
          </p:cNvPr>
          <p:cNvGrpSpPr/>
          <p:nvPr/>
        </p:nvGrpSpPr>
        <p:grpSpPr>
          <a:xfrm>
            <a:off x="3492133" y="2282810"/>
            <a:ext cx="865570" cy="855736"/>
            <a:chOff x="3751272" y="2768258"/>
            <a:chExt cx="506451" cy="500697"/>
          </a:xfrm>
        </p:grpSpPr>
        <p:grpSp>
          <p:nvGrpSpPr>
            <p:cNvPr id="485" name="Groupe 484">
              <a:extLst>
                <a:ext uri="{FF2B5EF4-FFF2-40B4-BE49-F238E27FC236}">
                  <a16:creationId xmlns:a16="http://schemas.microsoft.com/office/drawing/2014/main" id="{E34DC23E-8D2D-F474-70C6-8B124B1A4B31}"/>
                </a:ext>
              </a:extLst>
            </p:cNvPr>
            <p:cNvGrpSpPr/>
            <p:nvPr/>
          </p:nvGrpSpPr>
          <p:grpSpPr>
            <a:xfrm>
              <a:off x="3751272" y="2788588"/>
              <a:ext cx="466106" cy="480367"/>
              <a:chOff x="9345616" y="3418428"/>
              <a:chExt cx="867558" cy="894101"/>
            </a:xfrm>
            <a:solidFill>
              <a:srgbClr val="ED7D31"/>
            </a:solidFill>
          </p:grpSpPr>
          <p:pic>
            <p:nvPicPr>
              <p:cNvPr id="487" name="Graphique 486" descr="Utilisateur avec un remplissage uni">
                <a:extLst>
                  <a:ext uri="{FF2B5EF4-FFF2-40B4-BE49-F238E27FC236}">
                    <a16:creationId xmlns:a16="http://schemas.microsoft.com/office/drawing/2014/main" id="{FF00A92E-3A5B-6AC6-8372-C1F15F74716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345616" y="3561880"/>
                <a:ext cx="336064" cy="336064"/>
              </a:xfrm>
              <a:prstGeom prst="rect">
                <a:avLst/>
              </a:prstGeom>
            </p:spPr>
          </p:pic>
          <p:pic>
            <p:nvPicPr>
              <p:cNvPr id="488" name="Graphique 487" descr="Utilisateur avec un remplissage uni">
                <a:extLst>
                  <a:ext uri="{FF2B5EF4-FFF2-40B4-BE49-F238E27FC236}">
                    <a16:creationId xmlns:a16="http://schemas.microsoft.com/office/drawing/2014/main" id="{CAE7BC2F-6B61-1F80-1F42-ADEFCA10EFF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592504" y="3418428"/>
                <a:ext cx="336064" cy="336064"/>
              </a:xfrm>
              <a:prstGeom prst="rect">
                <a:avLst/>
              </a:prstGeom>
            </p:spPr>
          </p:pic>
          <p:pic>
            <p:nvPicPr>
              <p:cNvPr id="489" name="Graphique 488" descr="Utilisateur avec un remplissage uni">
                <a:extLst>
                  <a:ext uri="{FF2B5EF4-FFF2-40B4-BE49-F238E27FC236}">
                    <a16:creationId xmlns:a16="http://schemas.microsoft.com/office/drawing/2014/main" id="{3EFA65CF-25BF-7D3E-86E2-9DF0A914D5F6}"/>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635196" y="3680752"/>
                <a:ext cx="336064" cy="336064"/>
              </a:xfrm>
              <a:prstGeom prst="rect">
                <a:avLst/>
              </a:prstGeom>
            </p:spPr>
          </p:pic>
          <p:pic>
            <p:nvPicPr>
              <p:cNvPr id="490" name="Graphique 489" descr="Utilisateur avec un remplissage uni">
                <a:extLst>
                  <a:ext uri="{FF2B5EF4-FFF2-40B4-BE49-F238E27FC236}">
                    <a16:creationId xmlns:a16="http://schemas.microsoft.com/office/drawing/2014/main" id="{C421DAFE-3304-87A1-9049-319A4A119C4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520868" y="3943076"/>
                <a:ext cx="336064" cy="336064"/>
              </a:xfrm>
              <a:prstGeom prst="rect">
                <a:avLst/>
              </a:prstGeom>
            </p:spPr>
          </p:pic>
          <p:pic>
            <p:nvPicPr>
              <p:cNvPr id="491" name="Graphique 490" descr="Utilisateur avec un remplissage uni">
                <a:extLst>
                  <a:ext uri="{FF2B5EF4-FFF2-40B4-BE49-F238E27FC236}">
                    <a16:creationId xmlns:a16="http://schemas.microsoft.com/office/drawing/2014/main" id="{C5B159E2-BC49-B0E8-E748-2EC44D68E3BA}"/>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742772" y="3976465"/>
                <a:ext cx="336064" cy="336064"/>
              </a:xfrm>
              <a:prstGeom prst="rect">
                <a:avLst/>
              </a:prstGeom>
            </p:spPr>
          </p:pic>
          <p:pic>
            <p:nvPicPr>
              <p:cNvPr id="492" name="Graphique 491" descr="Utilisateur avec un remplissage uni">
                <a:extLst>
                  <a:ext uri="{FF2B5EF4-FFF2-40B4-BE49-F238E27FC236}">
                    <a16:creationId xmlns:a16="http://schemas.microsoft.com/office/drawing/2014/main" id="{44047644-EC7C-8B4A-9F33-4A0E303D31F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877110" y="3705332"/>
                <a:ext cx="336064" cy="336064"/>
              </a:xfrm>
              <a:prstGeom prst="rect">
                <a:avLst/>
              </a:prstGeom>
            </p:spPr>
          </p:pic>
        </p:grpSp>
        <p:pic>
          <p:nvPicPr>
            <p:cNvPr id="486" name="Graphique 485" descr="Calendrier journalier avec un remplissage uni">
              <a:extLst>
                <a:ext uri="{FF2B5EF4-FFF2-40B4-BE49-F238E27FC236}">
                  <a16:creationId xmlns:a16="http://schemas.microsoft.com/office/drawing/2014/main" id="{7F433D9D-174A-89F6-6864-C85B577E9EF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4046036" y="2768258"/>
              <a:ext cx="211687" cy="211687"/>
            </a:xfrm>
            <a:prstGeom prst="rect">
              <a:avLst/>
            </a:prstGeom>
          </p:spPr>
        </p:pic>
      </p:grpSp>
      <p:sp>
        <p:nvSpPr>
          <p:cNvPr id="493" name="Titre 1">
            <a:extLst>
              <a:ext uri="{FF2B5EF4-FFF2-40B4-BE49-F238E27FC236}">
                <a16:creationId xmlns:a16="http://schemas.microsoft.com/office/drawing/2014/main" id="{F4300241-BC08-5213-5ADA-B98CB9B88CBF}"/>
              </a:ext>
            </a:extLst>
          </p:cNvPr>
          <p:cNvSpPr txBox="1">
            <a:spLocks/>
          </p:cNvSpPr>
          <p:nvPr/>
        </p:nvSpPr>
        <p:spPr>
          <a:xfrm>
            <a:off x="2984173" y="3074347"/>
            <a:ext cx="1991986" cy="41643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réunion ponctuelle</a:t>
            </a:r>
          </a:p>
        </p:txBody>
      </p:sp>
      <p:sp>
        <p:nvSpPr>
          <p:cNvPr id="500" name="Rectangle 499">
            <a:extLst>
              <a:ext uri="{FF2B5EF4-FFF2-40B4-BE49-F238E27FC236}">
                <a16:creationId xmlns:a16="http://schemas.microsoft.com/office/drawing/2014/main" id="{0FF0AECD-E479-5F84-7535-777C66B262EB}"/>
              </a:ext>
            </a:extLst>
          </p:cNvPr>
          <p:cNvSpPr/>
          <p:nvPr/>
        </p:nvSpPr>
        <p:spPr>
          <a:xfrm>
            <a:off x="9320613" y="2823887"/>
            <a:ext cx="888446"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Objectifs ou intérêts</a:t>
            </a:r>
          </a:p>
          <a:p>
            <a:pPr algn="ctr"/>
            <a:r>
              <a:rPr lang="fr-FR" sz="900" dirty="0"/>
              <a:t>individuels similaires</a:t>
            </a:r>
          </a:p>
        </p:txBody>
      </p:sp>
      <p:sp>
        <p:nvSpPr>
          <p:cNvPr id="501" name="Rectangle 500">
            <a:extLst>
              <a:ext uri="{FF2B5EF4-FFF2-40B4-BE49-F238E27FC236}">
                <a16:creationId xmlns:a16="http://schemas.microsoft.com/office/drawing/2014/main" id="{29125C38-EAA8-5269-E42D-AC2AAC522165}"/>
              </a:ext>
            </a:extLst>
          </p:cNvPr>
          <p:cNvSpPr/>
          <p:nvPr/>
        </p:nvSpPr>
        <p:spPr>
          <a:xfrm>
            <a:off x="5125878" y="2809528"/>
            <a:ext cx="888446"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commune  ponctuelle des membres</a:t>
            </a:r>
          </a:p>
        </p:txBody>
      </p:sp>
      <p:sp>
        <p:nvSpPr>
          <p:cNvPr id="224" name="Rectangle 223">
            <a:extLst>
              <a:ext uri="{FF2B5EF4-FFF2-40B4-BE49-F238E27FC236}">
                <a16:creationId xmlns:a16="http://schemas.microsoft.com/office/drawing/2014/main" id="{C5EF69ED-FAFE-C068-7B8D-AF0B7D25456E}"/>
              </a:ext>
            </a:extLst>
          </p:cNvPr>
          <p:cNvSpPr/>
          <p:nvPr/>
        </p:nvSpPr>
        <p:spPr>
          <a:xfrm>
            <a:off x="6138623" y="2816603"/>
            <a:ext cx="888446"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de facilitation de moments collectifs</a:t>
            </a:r>
          </a:p>
        </p:txBody>
      </p:sp>
      <p:pic>
        <p:nvPicPr>
          <p:cNvPr id="3" name="Graphique 2" descr="Sablier 60% avec un remplissage uni">
            <a:extLst>
              <a:ext uri="{FF2B5EF4-FFF2-40B4-BE49-F238E27FC236}">
                <a16:creationId xmlns:a16="http://schemas.microsoft.com/office/drawing/2014/main" id="{5ECC00AD-4CB7-A95D-176C-1F2069817DC8}"/>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5331587" y="2295090"/>
            <a:ext cx="462773" cy="462772"/>
          </a:xfrm>
          <a:prstGeom prst="rect">
            <a:avLst/>
          </a:prstGeom>
        </p:spPr>
      </p:pic>
      <p:pic>
        <p:nvPicPr>
          <p:cNvPr id="4" name="Graphique 3" descr="Tête avec engrenages avec un remplissage uni">
            <a:extLst>
              <a:ext uri="{FF2B5EF4-FFF2-40B4-BE49-F238E27FC236}">
                <a16:creationId xmlns:a16="http://schemas.microsoft.com/office/drawing/2014/main" id="{207348FE-0784-589E-2816-2B5448839089}"/>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6344187" y="2313565"/>
            <a:ext cx="462773" cy="462772"/>
          </a:xfrm>
          <a:prstGeom prst="rect">
            <a:avLst/>
          </a:prstGeom>
        </p:spPr>
      </p:pic>
      <p:pic>
        <p:nvPicPr>
          <p:cNvPr id="12" name="Graphique 11" descr="Informations avec un remplissage uni">
            <a:extLst>
              <a:ext uri="{FF2B5EF4-FFF2-40B4-BE49-F238E27FC236}">
                <a16:creationId xmlns:a16="http://schemas.microsoft.com/office/drawing/2014/main" id="{7B0CA97B-CDD8-6FFB-D9FA-F6B96591A3A7}"/>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7402334" y="2316054"/>
            <a:ext cx="484752" cy="484751"/>
          </a:xfrm>
          <a:prstGeom prst="rect">
            <a:avLst/>
          </a:prstGeom>
        </p:spPr>
      </p:pic>
      <p:sp>
        <p:nvSpPr>
          <p:cNvPr id="13" name="Rectangle 12">
            <a:extLst>
              <a:ext uri="{FF2B5EF4-FFF2-40B4-BE49-F238E27FC236}">
                <a16:creationId xmlns:a16="http://schemas.microsoft.com/office/drawing/2014/main" id="{281178FA-231B-09CC-FB6F-80AD145AF7F2}"/>
              </a:ext>
            </a:extLst>
          </p:cNvPr>
          <p:cNvSpPr/>
          <p:nvPr/>
        </p:nvSpPr>
        <p:spPr>
          <a:xfrm>
            <a:off x="7204937" y="2816603"/>
            <a:ext cx="888446"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Liste des premiers membres avec coordonnées</a:t>
            </a:r>
          </a:p>
        </p:txBody>
      </p:sp>
      <p:pic>
        <p:nvPicPr>
          <p:cNvPr id="14" name="Graphique 13" descr="Chat avec un remplissage uni">
            <a:extLst>
              <a:ext uri="{FF2B5EF4-FFF2-40B4-BE49-F238E27FC236}">
                <a16:creationId xmlns:a16="http://schemas.microsoft.com/office/drawing/2014/main" id="{61AB9CF1-DCB2-79FE-6859-A014CEFD8237}"/>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8584429" y="2473892"/>
            <a:ext cx="344858" cy="344857"/>
          </a:xfrm>
          <a:prstGeom prst="rect">
            <a:avLst/>
          </a:prstGeom>
        </p:spPr>
      </p:pic>
      <p:sp>
        <p:nvSpPr>
          <p:cNvPr id="15" name="Rectangle 14">
            <a:extLst>
              <a:ext uri="{FF2B5EF4-FFF2-40B4-BE49-F238E27FC236}">
                <a16:creationId xmlns:a16="http://schemas.microsoft.com/office/drawing/2014/main" id="{F6A1D263-6746-A471-69B6-588070B02B00}"/>
              </a:ext>
            </a:extLst>
          </p:cNvPr>
          <p:cNvSpPr/>
          <p:nvPr/>
        </p:nvSpPr>
        <p:spPr>
          <a:xfrm>
            <a:off x="8262775" y="2820463"/>
            <a:ext cx="888446"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Outil, ou matériel et espace pour ateliers collectifs </a:t>
            </a:r>
          </a:p>
        </p:txBody>
      </p:sp>
      <p:pic>
        <p:nvPicPr>
          <p:cNvPr id="16" name="Graphique 15" descr="Diable avec un remplissage uni">
            <a:extLst>
              <a:ext uri="{FF2B5EF4-FFF2-40B4-BE49-F238E27FC236}">
                <a16:creationId xmlns:a16="http://schemas.microsoft.com/office/drawing/2014/main" id="{3805E11D-CEEB-2387-CAAB-1E3F398D54DE}"/>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8843673" y="2343012"/>
            <a:ext cx="344859" cy="344858"/>
          </a:xfrm>
          <a:prstGeom prst="rect">
            <a:avLst/>
          </a:prstGeom>
        </p:spPr>
      </p:pic>
      <p:pic>
        <p:nvPicPr>
          <p:cNvPr id="17" name="Graphique 16" descr="Conseil d’administration avec un remplissage uni">
            <a:extLst>
              <a:ext uri="{FF2B5EF4-FFF2-40B4-BE49-F238E27FC236}">
                <a16:creationId xmlns:a16="http://schemas.microsoft.com/office/drawing/2014/main" id="{613ED734-6DC0-F5A9-3CB7-85330DE154ED}"/>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8223428" y="2350874"/>
            <a:ext cx="372658" cy="372658"/>
          </a:xfrm>
          <a:prstGeom prst="rect">
            <a:avLst/>
          </a:prstGeom>
        </p:spPr>
      </p:pic>
      <p:pic>
        <p:nvPicPr>
          <p:cNvPr id="18" name="Graphique 17" descr="Flèches de chevron avec un remplissage uni">
            <a:extLst>
              <a:ext uri="{FF2B5EF4-FFF2-40B4-BE49-F238E27FC236}">
                <a16:creationId xmlns:a16="http://schemas.microsoft.com/office/drawing/2014/main" id="{EF8F637D-F175-5086-1700-381F125C9C88}"/>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9557185" y="2349614"/>
            <a:ext cx="462773" cy="462772"/>
          </a:xfrm>
          <a:prstGeom prst="rect">
            <a:avLst/>
          </a:prstGeom>
        </p:spPr>
      </p:pic>
      <p:pic>
        <p:nvPicPr>
          <p:cNvPr id="19" name="Graphique 18" descr="Signe pouce en haut avec un remplissage uni">
            <a:extLst>
              <a:ext uri="{FF2B5EF4-FFF2-40B4-BE49-F238E27FC236}">
                <a16:creationId xmlns:a16="http://schemas.microsoft.com/office/drawing/2014/main" id="{AC95E235-BC57-652F-89BB-90101306B900}"/>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10662198" y="2335841"/>
            <a:ext cx="520644" cy="520643"/>
          </a:xfrm>
          <a:prstGeom prst="rect">
            <a:avLst/>
          </a:prstGeom>
        </p:spPr>
      </p:pic>
      <p:sp>
        <p:nvSpPr>
          <p:cNvPr id="21" name="Rectangle 20">
            <a:extLst>
              <a:ext uri="{FF2B5EF4-FFF2-40B4-BE49-F238E27FC236}">
                <a16:creationId xmlns:a16="http://schemas.microsoft.com/office/drawing/2014/main" id="{069693B5-CF6E-A1D4-D185-F67383E920D6}"/>
              </a:ext>
            </a:extLst>
          </p:cNvPr>
          <p:cNvSpPr/>
          <p:nvPr/>
        </p:nvSpPr>
        <p:spPr>
          <a:xfrm>
            <a:off x="10386900" y="2823887"/>
            <a:ext cx="888446"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Soutien d’un ou plusieurs sponsors</a:t>
            </a:r>
          </a:p>
        </p:txBody>
      </p:sp>
      <p:sp>
        <p:nvSpPr>
          <p:cNvPr id="5" name="Rectangle 4">
            <a:extLst>
              <a:ext uri="{FF2B5EF4-FFF2-40B4-BE49-F238E27FC236}">
                <a16:creationId xmlns:a16="http://schemas.microsoft.com/office/drawing/2014/main" id="{AA1C3AED-38ED-D8A7-03C3-D867F723136A}"/>
              </a:ext>
            </a:extLst>
          </p:cNvPr>
          <p:cNvSpPr/>
          <p:nvPr/>
        </p:nvSpPr>
        <p:spPr>
          <a:xfrm>
            <a:off x="5338678" y="4928737"/>
            <a:ext cx="1492148" cy="1034822"/>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Ateliers CCC-Goals</a:t>
            </a:r>
          </a:p>
          <a:p>
            <a:pPr algn="ctr"/>
            <a:r>
              <a:rPr lang="fr-FR" sz="1200" dirty="0">
                <a:solidFill>
                  <a:schemeClr val="tx1"/>
                </a:solidFill>
              </a:rPr>
              <a:t>+ Clarifier le </a:t>
            </a:r>
            <a:r>
              <a:rPr lang="fr-FR" sz="1200" b="1" dirty="0">
                <a:solidFill>
                  <a:schemeClr val="tx1"/>
                </a:solidFill>
              </a:rPr>
              <a:t>premier objectif</a:t>
            </a:r>
            <a:r>
              <a:rPr lang="fr-FR" sz="1200" dirty="0">
                <a:solidFill>
                  <a:schemeClr val="tx1"/>
                </a:solidFill>
              </a:rPr>
              <a:t> à atteindre</a:t>
            </a:r>
          </a:p>
        </p:txBody>
      </p:sp>
      <p:grpSp>
        <p:nvGrpSpPr>
          <p:cNvPr id="11" name="Groupe 10">
            <a:extLst>
              <a:ext uri="{FF2B5EF4-FFF2-40B4-BE49-F238E27FC236}">
                <a16:creationId xmlns:a16="http://schemas.microsoft.com/office/drawing/2014/main" id="{B4B74CC3-7FB8-7408-3BB9-9B3F3227FC8C}"/>
              </a:ext>
            </a:extLst>
          </p:cNvPr>
          <p:cNvGrpSpPr/>
          <p:nvPr/>
        </p:nvGrpSpPr>
        <p:grpSpPr>
          <a:xfrm>
            <a:off x="5146192" y="3944004"/>
            <a:ext cx="1840775" cy="947645"/>
            <a:chOff x="789930" y="2075168"/>
            <a:chExt cx="4228114" cy="2176665"/>
          </a:xfrm>
        </p:grpSpPr>
        <p:grpSp>
          <p:nvGrpSpPr>
            <p:cNvPr id="22" name="Groupe 21">
              <a:extLst>
                <a:ext uri="{FF2B5EF4-FFF2-40B4-BE49-F238E27FC236}">
                  <a16:creationId xmlns:a16="http://schemas.microsoft.com/office/drawing/2014/main" id="{AE12CF27-E06A-BE25-553D-A5FD99CA93AE}"/>
                </a:ext>
              </a:extLst>
            </p:cNvPr>
            <p:cNvGrpSpPr/>
            <p:nvPr/>
          </p:nvGrpSpPr>
          <p:grpSpPr>
            <a:xfrm>
              <a:off x="1004899" y="2075168"/>
              <a:ext cx="4013145" cy="458111"/>
              <a:chOff x="11600" y="1496380"/>
              <a:chExt cx="12038120" cy="1498765"/>
            </a:xfrm>
          </p:grpSpPr>
          <p:grpSp>
            <p:nvGrpSpPr>
              <p:cNvPr id="60" name="Groupe 59">
                <a:extLst>
                  <a:ext uri="{FF2B5EF4-FFF2-40B4-BE49-F238E27FC236}">
                    <a16:creationId xmlns:a16="http://schemas.microsoft.com/office/drawing/2014/main" id="{DC42354C-B483-CDEA-71AC-2833A29E5570}"/>
                  </a:ext>
                </a:extLst>
              </p:cNvPr>
              <p:cNvGrpSpPr/>
              <p:nvPr/>
            </p:nvGrpSpPr>
            <p:grpSpPr>
              <a:xfrm>
                <a:off x="11600" y="2499558"/>
                <a:ext cx="12038120" cy="495587"/>
                <a:chOff x="0" y="2140394"/>
                <a:chExt cx="12854128" cy="4544491"/>
              </a:xfrm>
            </p:grpSpPr>
            <p:sp>
              <p:nvSpPr>
                <p:cNvPr id="454" name="Espace réservé du texte 15">
                  <a:extLst>
                    <a:ext uri="{FF2B5EF4-FFF2-40B4-BE49-F238E27FC236}">
                      <a16:creationId xmlns:a16="http://schemas.microsoft.com/office/drawing/2014/main" id="{66971787-DB64-36C8-1C67-8517C93B0551}"/>
                    </a:ext>
                  </a:extLst>
                </p:cNvPr>
                <p:cNvSpPr txBox="1">
                  <a:spLocks/>
                </p:cNvSpPr>
                <p:nvPr/>
              </p:nvSpPr>
              <p:spPr>
                <a:xfrm>
                  <a:off x="0" y="2140396"/>
                  <a:ext cx="1722269" cy="4544489"/>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00" b="1" i="1">
                      <a:solidFill>
                        <a:srgbClr val="0683AA"/>
                      </a:solidFill>
                    </a:rPr>
                    <a:t>INSPIRATION</a:t>
                  </a:r>
                </a:p>
                <a:p>
                  <a:pPr marL="0" indent="0" algn="ctr">
                    <a:buFont typeface="Arial" panose="020B0604020202020204" pitchFamily="34" charset="0"/>
                    <a:buNone/>
                  </a:pPr>
                  <a:endParaRPr lang="fr-FR" sz="100" b="1" i="1">
                    <a:solidFill>
                      <a:srgbClr val="ED7D31"/>
                    </a:solidFill>
                  </a:endParaRPr>
                </a:p>
              </p:txBody>
            </p:sp>
            <p:sp>
              <p:nvSpPr>
                <p:cNvPr id="455" name="Espace réservé du texte 15">
                  <a:extLst>
                    <a:ext uri="{FF2B5EF4-FFF2-40B4-BE49-F238E27FC236}">
                      <a16:creationId xmlns:a16="http://schemas.microsoft.com/office/drawing/2014/main" id="{4BEE1B26-3221-C18B-1300-6BC2148DAC4F}"/>
                    </a:ext>
                  </a:extLst>
                </p:cNvPr>
                <p:cNvSpPr txBox="1">
                  <a:spLocks/>
                </p:cNvSpPr>
                <p:nvPr/>
              </p:nvSpPr>
              <p:spPr>
                <a:xfrm>
                  <a:off x="1855434" y="2140396"/>
                  <a:ext cx="1722269" cy="4544489"/>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00" b="1" i="1">
                      <a:solidFill>
                        <a:srgbClr val="0683AA"/>
                      </a:solidFill>
                    </a:rPr>
                    <a:t>COLLECTE</a:t>
                  </a:r>
                </a:p>
                <a:p>
                  <a:pPr marL="0" indent="0" algn="ctr">
                    <a:buFont typeface="Arial" panose="020B0604020202020204" pitchFamily="34" charset="0"/>
                    <a:buNone/>
                  </a:pPr>
                  <a:endParaRPr lang="fr-FR" sz="100" b="1" i="1">
                    <a:solidFill>
                      <a:srgbClr val="ED7D31"/>
                    </a:solidFill>
                  </a:endParaRPr>
                </a:p>
              </p:txBody>
            </p:sp>
            <p:sp>
              <p:nvSpPr>
                <p:cNvPr id="456" name="Espace réservé du texte 15">
                  <a:extLst>
                    <a:ext uri="{FF2B5EF4-FFF2-40B4-BE49-F238E27FC236}">
                      <a16:creationId xmlns:a16="http://schemas.microsoft.com/office/drawing/2014/main" id="{5D33B250-8D4A-3B55-8E91-DF310A9AC6EE}"/>
                    </a:ext>
                  </a:extLst>
                </p:cNvPr>
                <p:cNvSpPr txBox="1">
                  <a:spLocks/>
                </p:cNvSpPr>
                <p:nvPr/>
              </p:nvSpPr>
              <p:spPr>
                <a:xfrm>
                  <a:off x="3710868" y="2140396"/>
                  <a:ext cx="1722269" cy="4544489"/>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00" b="1" i="1">
                      <a:solidFill>
                        <a:srgbClr val="0683AA"/>
                      </a:solidFill>
                    </a:rPr>
                    <a:t>INITIATION</a:t>
                  </a:r>
                </a:p>
                <a:p>
                  <a:pPr marL="0" indent="0" algn="ctr">
                    <a:buFont typeface="Arial" panose="020B0604020202020204" pitchFamily="34" charset="0"/>
                    <a:buNone/>
                  </a:pPr>
                  <a:endParaRPr lang="fr-FR" sz="100" b="1" i="1">
                    <a:solidFill>
                      <a:srgbClr val="ED7D31"/>
                    </a:solidFill>
                  </a:endParaRPr>
                </a:p>
              </p:txBody>
            </p:sp>
            <p:sp>
              <p:nvSpPr>
                <p:cNvPr id="457" name="Espace réservé du texte 15">
                  <a:extLst>
                    <a:ext uri="{FF2B5EF4-FFF2-40B4-BE49-F238E27FC236}">
                      <a16:creationId xmlns:a16="http://schemas.microsoft.com/office/drawing/2014/main" id="{EB076069-2499-A0CD-FF71-409BBF5B8044}"/>
                    </a:ext>
                  </a:extLst>
                </p:cNvPr>
                <p:cNvSpPr txBox="1">
                  <a:spLocks/>
                </p:cNvSpPr>
                <p:nvPr/>
              </p:nvSpPr>
              <p:spPr>
                <a:xfrm>
                  <a:off x="5566302" y="2140395"/>
                  <a:ext cx="1722269" cy="4544489"/>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00" b="1" i="1">
                      <a:solidFill>
                        <a:srgbClr val="0683AA"/>
                      </a:solidFill>
                    </a:rPr>
                    <a:t>CHOC DE LA RÉALITÉ</a:t>
                  </a:r>
                </a:p>
                <a:p>
                  <a:pPr marL="0" indent="0" algn="ctr">
                    <a:buFont typeface="Arial" panose="020B0604020202020204" pitchFamily="34" charset="0"/>
                    <a:buNone/>
                  </a:pPr>
                  <a:endParaRPr lang="fr-FR" sz="100" b="1" i="1">
                    <a:solidFill>
                      <a:srgbClr val="ED7D31"/>
                    </a:solidFill>
                  </a:endParaRPr>
                </a:p>
              </p:txBody>
            </p:sp>
            <p:sp>
              <p:nvSpPr>
                <p:cNvPr id="461" name="Espace réservé du texte 15">
                  <a:extLst>
                    <a:ext uri="{FF2B5EF4-FFF2-40B4-BE49-F238E27FC236}">
                      <a16:creationId xmlns:a16="http://schemas.microsoft.com/office/drawing/2014/main" id="{084E4EC8-2EBA-B2DD-367C-328C3B34A099}"/>
                    </a:ext>
                  </a:extLst>
                </p:cNvPr>
                <p:cNvSpPr txBox="1">
                  <a:spLocks/>
                </p:cNvSpPr>
                <p:nvPr/>
              </p:nvSpPr>
              <p:spPr>
                <a:xfrm>
                  <a:off x="7421736" y="2140394"/>
                  <a:ext cx="1722269" cy="4544489"/>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00" b="1" i="1">
                      <a:solidFill>
                        <a:srgbClr val="0683AA"/>
                      </a:solidFill>
                    </a:rPr>
                    <a:t>CONFIRMATION DE RÉUSSITES</a:t>
                  </a:r>
                </a:p>
              </p:txBody>
            </p:sp>
            <p:sp>
              <p:nvSpPr>
                <p:cNvPr id="465" name="Espace réservé du texte 15">
                  <a:extLst>
                    <a:ext uri="{FF2B5EF4-FFF2-40B4-BE49-F238E27FC236}">
                      <a16:creationId xmlns:a16="http://schemas.microsoft.com/office/drawing/2014/main" id="{576B64F1-8DDC-0DBB-02F8-6F857DB2BF51}"/>
                    </a:ext>
                  </a:extLst>
                </p:cNvPr>
                <p:cNvSpPr txBox="1">
                  <a:spLocks/>
                </p:cNvSpPr>
                <p:nvPr/>
              </p:nvSpPr>
              <p:spPr>
                <a:xfrm>
                  <a:off x="9277170" y="2140394"/>
                  <a:ext cx="1722269" cy="4544489"/>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00" b="1" i="1">
                      <a:solidFill>
                        <a:srgbClr val="0683AA"/>
                      </a:solidFill>
                    </a:rPr>
                    <a:t>EXPOSITION</a:t>
                  </a:r>
                </a:p>
              </p:txBody>
            </p:sp>
            <p:sp>
              <p:nvSpPr>
                <p:cNvPr id="466" name="Espace réservé du texte 15">
                  <a:extLst>
                    <a:ext uri="{FF2B5EF4-FFF2-40B4-BE49-F238E27FC236}">
                      <a16:creationId xmlns:a16="http://schemas.microsoft.com/office/drawing/2014/main" id="{2461A47C-1EB2-4D83-8339-06F6A623258D}"/>
                    </a:ext>
                  </a:extLst>
                </p:cNvPr>
                <p:cNvSpPr txBox="1">
                  <a:spLocks/>
                </p:cNvSpPr>
                <p:nvPr/>
              </p:nvSpPr>
              <p:spPr>
                <a:xfrm>
                  <a:off x="11131859" y="2140394"/>
                  <a:ext cx="1722269" cy="4544489"/>
                </a:xfrm>
                <a:prstGeom prst="rect">
                  <a:avLst/>
                </a:prstGeom>
                <a:solidFill>
                  <a:schemeClr val="bg1">
                    <a:lumMod val="95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00" b="1" i="1">
                      <a:solidFill>
                        <a:srgbClr val="0683AA"/>
                      </a:solidFill>
                    </a:rPr>
                    <a:t>FORTIFICATION</a:t>
                  </a:r>
                </a:p>
                <a:p>
                  <a:pPr marL="0" indent="0" algn="ctr">
                    <a:buFont typeface="Arial" panose="020B0604020202020204" pitchFamily="34" charset="0"/>
                    <a:buNone/>
                  </a:pPr>
                  <a:endParaRPr lang="fr-FR" sz="100" b="1" i="1">
                    <a:solidFill>
                      <a:srgbClr val="ED7D31"/>
                    </a:solidFill>
                  </a:endParaRPr>
                </a:p>
              </p:txBody>
            </p:sp>
          </p:grpSp>
          <p:pic>
            <p:nvPicPr>
              <p:cNvPr id="61" name="Graphique 60" descr="Ampoule avec un remplissage uni">
                <a:extLst>
                  <a:ext uri="{FF2B5EF4-FFF2-40B4-BE49-F238E27FC236}">
                    <a16:creationId xmlns:a16="http://schemas.microsoft.com/office/drawing/2014/main" id="{6B021B7F-0BCE-6D85-8B44-B2AD8C19F255}"/>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360868" y="1496380"/>
                <a:ext cx="914400" cy="914400"/>
              </a:xfrm>
              <a:prstGeom prst="rect">
                <a:avLst/>
              </a:prstGeom>
            </p:spPr>
          </p:pic>
          <p:pic>
            <p:nvPicPr>
              <p:cNvPr id="62" name="Graphique 61" descr="Seau et pelle avec un remplissage uni">
                <a:extLst>
                  <a:ext uri="{FF2B5EF4-FFF2-40B4-BE49-F238E27FC236}">
                    <a16:creationId xmlns:a16="http://schemas.microsoft.com/office/drawing/2014/main" id="{1E0E5BA7-48FA-223F-B458-FD6B0CC7D452}"/>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2098515" y="1496380"/>
                <a:ext cx="914400" cy="914400"/>
              </a:xfrm>
              <a:prstGeom prst="rect">
                <a:avLst/>
              </a:prstGeom>
            </p:spPr>
          </p:pic>
          <p:pic>
            <p:nvPicPr>
              <p:cNvPr id="63" name="Graphique 62" descr="Tubes à essai avec un remplissage uni">
                <a:extLst>
                  <a:ext uri="{FF2B5EF4-FFF2-40B4-BE49-F238E27FC236}">
                    <a16:creationId xmlns:a16="http://schemas.microsoft.com/office/drawing/2014/main" id="{A71D54F1-EE01-5BE6-D84D-F32A04FF30E3}"/>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3833203" y="1496380"/>
                <a:ext cx="914400" cy="914400"/>
              </a:xfrm>
              <a:prstGeom prst="rect">
                <a:avLst/>
              </a:prstGeom>
            </p:spPr>
          </p:pic>
          <p:pic>
            <p:nvPicPr>
              <p:cNvPr id="449" name="Graphique 448" descr="Explosion avec un remplissage uni">
                <a:extLst>
                  <a:ext uri="{FF2B5EF4-FFF2-40B4-BE49-F238E27FC236}">
                    <a16:creationId xmlns:a16="http://schemas.microsoft.com/office/drawing/2014/main" id="{858646FE-B60E-729F-60F7-6D832D7384C5}"/>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5573460" y="1496380"/>
                <a:ext cx="914400" cy="914400"/>
              </a:xfrm>
              <a:prstGeom prst="rect">
                <a:avLst/>
              </a:prstGeom>
            </p:spPr>
          </p:pic>
          <p:pic>
            <p:nvPicPr>
              <p:cNvPr id="451" name="Graphique 450" descr="Trophée avec un remplissage uni">
                <a:extLst>
                  <a:ext uri="{FF2B5EF4-FFF2-40B4-BE49-F238E27FC236}">
                    <a16:creationId xmlns:a16="http://schemas.microsoft.com/office/drawing/2014/main" id="{6F0D4747-350A-C55C-87A6-51B5241C7CDF}"/>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7313717" y="1496380"/>
                <a:ext cx="914400" cy="914400"/>
              </a:xfrm>
              <a:prstGeom prst="rect">
                <a:avLst/>
              </a:prstGeom>
            </p:spPr>
          </p:pic>
          <p:pic>
            <p:nvPicPr>
              <p:cNvPr id="452" name="Graphique 451" descr="Assiette couverte avec un remplissage uni">
                <a:extLst>
                  <a:ext uri="{FF2B5EF4-FFF2-40B4-BE49-F238E27FC236}">
                    <a16:creationId xmlns:a16="http://schemas.microsoft.com/office/drawing/2014/main" id="{1FBD2C6C-1CEF-6FE3-8CF9-B5393A20A3C5}"/>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a:off x="9048405" y="1496380"/>
                <a:ext cx="914400" cy="914400"/>
              </a:xfrm>
              <a:prstGeom prst="rect">
                <a:avLst/>
              </a:prstGeom>
            </p:spPr>
          </p:pic>
          <p:pic>
            <p:nvPicPr>
              <p:cNvPr id="453" name="Graphique 452" descr="Scène de château avec un remplissage uni">
                <a:extLst>
                  <a:ext uri="{FF2B5EF4-FFF2-40B4-BE49-F238E27FC236}">
                    <a16:creationId xmlns:a16="http://schemas.microsoft.com/office/drawing/2014/main" id="{99EF2374-E52A-C74D-2DFD-808326532CB0}"/>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10783093" y="1496380"/>
                <a:ext cx="914400" cy="914400"/>
              </a:xfrm>
              <a:prstGeom prst="rect">
                <a:avLst/>
              </a:prstGeom>
            </p:spPr>
          </p:pic>
        </p:grpSp>
        <p:grpSp>
          <p:nvGrpSpPr>
            <p:cNvPr id="23" name="Groupe 22">
              <a:extLst>
                <a:ext uri="{FF2B5EF4-FFF2-40B4-BE49-F238E27FC236}">
                  <a16:creationId xmlns:a16="http://schemas.microsoft.com/office/drawing/2014/main" id="{14D3F8CD-9048-EB8A-3845-71BF9B9D07AA}"/>
                </a:ext>
              </a:extLst>
            </p:cNvPr>
            <p:cNvGrpSpPr/>
            <p:nvPr/>
          </p:nvGrpSpPr>
          <p:grpSpPr>
            <a:xfrm>
              <a:off x="791077" y="2799355"/>
              <a:ext cx="1894821" cy="181741"/>
              <a:chOff x="3099062" y="3394846"/>
              <a:chExt cx="4016859" cy="385275"/>
            </a:xfrm>
          </p:grpSpPr>
          <p:sp>
            <p:nvSpPr>
              <p:cNvPr id="56" name="Rectangle 55">
                <a:extLst>
                  <a:ext uri="{FF2B5EF4-FFF2-40B4-BE49-F238E27FC236}">
                    <a16:creationId xmlns:a16="http://schemas.microsoft.com/office/drawing/2014/main" id="{812EE5AD-1C1F-76B7-CF9A-2376B821F068}"/>
                  </a:ext>
                </a:extLst>
              </p:cNvPr>
              <p:cNvSpPr/>
              <p:nvPr/>
            </p:nvSpPr>
            <p:spPr>
              <a:xfrm>
                <a:off x="3099062" y="3438926"/>
                <a:ext cx="292963"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cxnSp>
            <p:nvCxnSpPr>
              <p:cNvPr id="57" name="Connecteur droit avec flèche 56">
                <a:extLst>
                  <a:ext uri="{FF2B5EF4-FFF2-40B4-BE49-F238E27FC236}">
                    <a16:creationId xmlns:a16="http://schemas.microsoft.com/office/drawing/2014/main" id="{8CEB7B27-4DF1-FE45-D208-8E4DF2FC431F}"/>
                  </a:ext>
                </a:extLst>
              </p:cNvPr>
              <p:cNvCxnSpPr>
                <a:cxnSpLocks/>
                <a:stCxn id="56" idx="3"/>
                <a:endCxn id="58" idx="1"/>
              </p:cNvCxnSpPr>
              <p:nvPr/>
            </p:nvCxnSpPr>
            <p:spPr>
              <a:xfrm flipV="1">
                <a:off x="3392026" y="3587485"/>
                <a:ext cx="3338620" cy="680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58" name="Graphique 57" descr="Mille avec un remplissage uni">
                <a:extLst>
                  <a:ext uri="{FF2B5EF4-FFF2-40B4-BE49-F238E27FC236}">
                    <a16:creationId xmlns:a16="http://schemas.microsoft.com/office/drawing/2014/main" id="{19F0C35A-4109-9583-0D1D-F3E925B4B5B2}"/>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6730646" y="3394846"/>
                <a:ext cx="385275" cy="385275"/>
              </a:xfrm>
              <a:prstGeom prst="rect">
                <a:avLst/>
              </a:prstGeom>
            </p:spPr>
          </p:pic>
          <p:sp>
            <p:nvSpPr>
              <p:cNvPr id="59" name="Rectangle 58">
                <a:extLst>
                  <a:ext uri="{FF2B5EF4-FFF2-40B4-BE49-F238E27FC236}">
                    <a16:creationId xmlns:a16="http://schemas.microsoft.com/office/drawing/2014/main" id="{E7F9ABF7-E98D-700B-CAE9-92F2CC9B33C2}"/>
                  </a:ext>
                </a:extLst>
              </p:cNvPr>
              <p:cNvSpPr/>
              <p:nvPr/>
            </p:nvSpPr>
            <p:spPr>
              <a:xfrm>
                <a:off x="6183629" y="3408452"/>
                <a:ext cx="292964"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grpSp>
        <p:grpSp>
          <p:nvGrpSpPr>
            <p:cNvPr id="24" name="Groupe 23">
              <a:extLst>
                <a:ext uri="{FF2B5EF4-FFF2-40B4-BE49-F238E27FC236}">
                  <a16:creationId xmlns:a16="http://schemas.microsoft.com/office/drawing/2014/main" id="{D556AD18-37F2-AE19-9475-5B68171BD391}"/>
                </a:ext>
              </a:extLst>
            </p:cNvPr>
            <p:cNvGrpSpPr/>
            <p:nvPr/>
          </p:nvGrpSpPr>
          <p:grpSpPr>
            <a:xfrm>
              <a:off x="791076" y="3011948"/>
              <a:ext cx="3469706" cy="181741"/>
              <a:chOff x="3099061" y="3796432"/>
              <a:chExt cx="7355485" cy="385275"/>
            </a:xfrm>
          </p:grpSpPr>
          <p:sp>
            <p:nvSpPr>
              <p:cNvPr id="52" name="Rectangle 51">
                <a:extLst>
                  <a:ext uri="{FF2B5EF4-FFF2-40B4-BE49-F238E27FC236}">
                    <a16:creationId xmlns:a16="http://schemas.microsoft.com/office/drawing/2014/main" id="{09A4FE36-DDEC-7234-A78E-C6D88DC4CBF5}"/>
                  </a:ext>
                </a:extLst>
              </p:cNvPr>
              <p:cNvSpPr/>
              <p:nvPr/>
            </p:nvSpPr>
            <p:spPr>
              <a:xfrm>
                <a:off x="3099061" y="3833709"/>
                <a:ext cx="292963"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cxnSp>
            <p:nvCxnSpPr>
              <p:cNvPr id="53" name="Connecteur droit avec flèche 52">
                <a:extLst>
                  <a:ext uri="{FF2B5EF4-FFF2-40B4-BE49-F238E27FC236}">
                    <a16:creationId xmlns:a16="http://schemas.microsoft.com/office/drawing/2014/main" id="{FC2EEA33-9EC4-D1A6-4934-FBD8FFE42CC3}"/>
                  </a:ext>
                </a:extLst>
              </p:cNvPr>
              <p:cNvCxnSpPr>
                <a:cxnSpLocks/>
                <a:stCxn id="52" idx="3"/>
                <a:endCxn id="54" idx="1"/>
              </p:cNvCxnSpPr>
              <p:nvPr/>
            </p:nvCxnSpPr>
            <p:spPr>
              <a:xfrm>
                <a:off x="3392024" y="3989069"/>
                <a:ext cx="6677247" cy="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54" name="Graphique 53" descr="Mille avec un remplissage uni">
                <a:extLst>
                  <a:ext uri="{FF2B5EF4-FFF2-40B4-BE49-F238E27FC236}">
                    <a16:creationId xmlns:a16="http://schemas.microsoft.com/office/drawing/2014/main" id="{DF64DC51-947E-3CB8-9D27-C5B85BF788F1}"/>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10069271" y="3796432"/>
                <a:ext cx="385275" cy="385275"/>
              </a:xfrm>
              <a:prstGeom prst="rect">
                <a:avLst/>
              </a:prstGeom>
            </p:spPr>
          </p:pic>
          <p:sp>
            <p:nvSpPr>
              <p:cNvPr id="55" name="Rectangle 54">
                <a:extLst>
                  <a:ext uri="{FF2B5EF4-FFF2-40B4-BE49-F238E27FC236}">
                    <a16:creationId xmlns:a16="http://schemas.microsoft.com/office/drawing/2014/main" id="{BB342A90-EC31-F4B4-543E-D00B6DDD6C59}"/>
                  </a:ext>
                </a:extLst>
              </p:cNvPr>
              <p:cNvSpPr/>
              <p:nvPr/>
            </p:nvSpPr>
            <p:spPr>
              <a:xfrm>
                <a:off x="6183632" y="3839301"/>
                <a:ext cx="292964"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grpSp>
        <p:grpSp>
          <p:nvGrpSpPr>
            <p:cNvPr id="25" name="Groupe 24">
              <a:extLst>
                <a:ext uri="{FF2B5EF4-FFF2-40B4-BE49-F238E27FC236}">
                  <a16:creationId xmlns:a16="http://schemas.microsoft.com/office/drawing/2014/main" id="{293D611C-B272-8EE1-E266-A81AC08E176F}"/>
                </a:ext>
              </a:extLst>
            </p:cNvPr>
            <p:cNvGrpSpPr/>
            <p:nvPr/>
          </p:nvGrpSpPr>
          <p:grpSpPr>
            <a:xfrm>
              <a:off x="789930" y="3640101"/>
              <a:ext cx="1180962" cy="181741"/>
              <a:chOff x="3096631" y="5085827"/>
              <a:chExt cx="2503539" cy="385275"/>
            </a:xfrm>
          </p:grpSpPr>
          <p:sp>
            <p:nvSpPr>
              <p:cNvPr id="49" name="Rectangle 48">
                <a:extLst>
                  <a:ext uri="{FF2B5EF4-FFF2-40B4-BE49-F238E27FC236}">
                    <a16:creationId xmlns:a16="http://schemas.microsoft.com/office/drawing/2014/main" id="{1E8A58F1-ACD5-313E-4472-C912ACB5C523}"/>
                  </a:ext>
                </a:extLst>
              </p:cNvPr>
              <p:cNvSpPr/>
              <p:nvPr/>
            </p:nvSpPr>
            <p:spPr>
              <a:xfrm>
                <a:off x="3096631" y="5123104"/>
                <a:ext cx="292963"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cxnSp>
            <p:nvCxnSpPr>
              <p:cNvPr id="50" name="Connecteur droit avec flèche 49">
                <a:extLst>
                  <a:ext uri="{FF2B5EF4-FFF2-40B4-BE49-F238E27FC236}">
                    <a16:creationId xmlns:a16="http://schemas.microsoft.com/office/drawing/2014/main" id="{9AD82023-0702-5289-A52E-39D92826B48B}"/>
                  </a:ext>
                </a:extLst>
              </p:cNvPr>
              <p:cNvCxnSpPr>
                <a:cxnSpLocks/>
                <a:stCxn id="49" idx="3"/>
                <a:endCxn id="51" idx="1"/>
              </p:cNvCxnSpPr>
              <p:nvPr/>
            </p:nvCxnSpPr>
            <p:spPr>
              <a:xfrm>
                <a:off x="3389594" y="5278464"/>
                <a:ext cx="1825301" cy="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51" name="Graphique 50" descr="Mille avec un remplissage uni">
                <a:extLst>
                  <a:ext uri="{FF2B5EF4-FFF2-40B4-BE49-F238E27FC236}">
                    <a16:creationId xmlns:a16="http://schemas.microsoft.com/office/drawing/2014/main" id="{C3CD7037-E489-8093-B351-1341C112CFC9}"/>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4"/>
                  </a:ext>
                </a:extLst>
              </a:blip>
              <a:stretch>
                <a:fillRect/>
              </a:stretch>
            </p:blipFill>
            <p:spPr>
              <a:xfrm>
                <a:off x="5214895" y="5085827"/>
                <a:ext cx="385275" cy="385275"/>
              </a:xfrm>
              <a:prstGeom prst="rect">
                <a:avLst/>
              </a:prstGeom>
            </p:spPr>
          </p:pic>
        </p:grpSp>
        <p:grpSp>
          <p:nvGrpSpPr>
            <p:cNvPr id="26" name="Groupe 25">
              <a:extLst>
                <a:ext uri="{FF2B5EF4-FFF2-40B4-BE49-F238E27FC236}">
                  <a16:creationId xmlns:a16="http://schemas.microsoft.com/office/drawing/2014/main" id="{36858DBD-D5CF-8618-B87D-B56DB224E901}"/>
                </a:ext>
              </a:extLst>
            </p:cNvPr>
            <p:cNvGrpSpPr/>
            <p:nvPr/>
          </p:nvGrpSpPr>
          <p:grpSpPr>
            <a:xfrm>
              <a:off x="789930" y="3432549"/>
              <a:ext cx="3007308" cy="181741"/>
              <a:chOff x="3096631" y="4622114"/>
              <a:chExt cx="6375239" cy="385275"/>
            </a:xfrm>
          </p:grpSpPr>
          <p:sp>
            <p:nvSpPr>
              <p:cNvPr id="45" name="Rectangle 44">
                <a:extLst>
                  <a:ext uri="{FF2B5EF4-FFF2-40B4-BE49-F238E27FC236}">
                    <a16:creationId xmlns:a16="http://schemas.microsoft.com/office/drawing/2014/main" id="{1D7F5DEA-CF29-EDB7-9E2E-72C73CBBA9BD}"/>
                  </a:ext>
                </a:extLst>
              </p:cNvPr>
              <p:cNvSpPr/>
              <p:nvPr/>
            </p:nvSpPr>
            <p:spPr>
              <a:xfrm>
                <a:off x="3096631" y="4655507"/>
                <a:ext cx="292963"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cxnSp>
            <p:nvCxnSpPr>
              <p:cNvPr id="46" name="Connecteur droit avec flèche 45">
                <a:extLst>
                  <a:ext uri="{FF2B5EF4-FFF2-40B4-BE49-F238E27FC236}">
                    <a16:creationId xmlns:a16="http://schemas.microsoft.com/office/drawing/2014/main" id="{0960F392-D167-68B3-4B7F-F665FEECE753}"/>
                  </a:ext>
                </a:extLst>
              </p:cNvPr>
              <p:cNvCxnSpPr>
                <a:cxnSpLocks/>
                <a:stCxn id="45" idx="3"/>
                <a:endCxn id="47" idx="1"/>
              </p:cNvCxnSpPr>
              <p:nvPr/>
            </p:nvCxnSpPr>
            <p:spPr>
              <a:xfrm>
                <a:off x="3389595" y="4810867"/>
                <a:ext cx="5697000" cy="388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47" name="Graphique 46" descr="Mille avec un remplissage uni">
                <a:extLst>
                  <a:ext uri="{FF2B5EF4-FFF2-40B4-BE49-F238E27FC236}">
                    <a16:creationId xmlns:a16="http://schemas.microsoft.com/office/drawing/2014/main" id="{186932A0-828F-5E68-C5B8-A5267643958B}"/>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9086594" y="4622114"/>
                <a:ext cx="385276" cy="385275"/>
              </a:xfrm>
              <a:prstGeom prst="rect">
                <a:avLst/>
              </a:prstGeom>
            </p:spPr>
          </p:pic>
          <p:sp>
            <p:nvSpPr>
              <p:cNvPr id="48" name="Rectangle 47">
                <a:extLst>
                  <a:ext uri="{FF2B5EF4-FFF2-40B4-BE49-F238E27FC236}">
                    <a16:creationId xmlns:a16="http://schemas.microsoft.com/office/drawing/2014/main" id="{041D1857-B588-64D3-26FA-15B313D13FF1}"/>
                  </a:ext>
                </a:extLst>
              </p:cNvPr>
              <p:cNvSpPr/>
              <p:nvPr/>
            </p:nvSpPr>
            <p:spPr>
              <a:xfrm>
                <a:off x="8579850" y="4659706"/>
                <a:ext cx="292964"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grpSp>
        <p:grpSp>
          <p:nvGrpSpPr>
            <p:cNvPr id="27" name="Groupe 26">
              <a:extLst>
                <a:ext uri="{FF2B5EF4-FFF2-40B4-BE49-F238E27FC236}">
                  <a16:creationId xmlns:a16="http://schemas.microsoft.com/office/drawing/2014/main" id="{D82EFC34-BC35-AC05-D868-9AD595829FE0}"/>
                </a:ext>
              </a:extLst>
            </p:cNvPr>
            <p:cNvGrpSpPr/>
            <p:nvPr/>
          </p:nvGrpSpPr>
          <p:grpSpPr>
            <a:xfrm>
              <a:off x="789930" y="3221332"/>
              <a:ext cx="4041245" cy="181741"/>
              <a:chOff x="3096632" y="4195205"/>
              <a:chExt cx="8567098" cy="385275"/>
            </a:xfrm>
          </p:grpSpPr>
          <p:sp>
            <p:nvSpPr>
              <p:cNvPr id="41" name="Rectangle 40">
                <a:extLst>
                  <a:ext uri="{FF2B5EF4-FFF2-40B4-BE49-F238E27FC236}">
                    <a16:creationId xmlns:a16="http://schemas.microsoft.com/office/drawing/2014/main" id="{4AC14CA9-88BC-295D-5145-A73E7D927C4C}"/>
                  </a:ext>
                </a:extLst>
              </p:cNvPr>
              <p:cNvSpPr/>
              <p:nvPr/>
            </p:nvSpPr>
            <p:spPr>
              <a:xfrm>
                <a:off x="3096632" y="4232482"/>
                <a:ext cx="292963"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cxnSp>
            <p:nvCxnSpPr>
              <p:cNvPr id="42" name="Connecteur droit avec flèche 41">
                <a:extLst>
                  <a:ext uri="{FF2B5EF4-FFF2-40B4-BE49-F238E27FC236}">
                    <a16:creationId xmlns:a16="http://schemas.microsoft.com/office/drawing/2014/main" id="{C50AE557-2FDE-AD9B-F769-1E49DFF547A8}"/>
                  </a:ext>
                </a:extLst>
              </p:cNvPr>
              <p:cNvCxnSpPr>
                <a:cxnSpLocks/>
                <a:stCxn id="41" idx="3"/>
                <a:endCxn id="43" idx="1"/>
              </p:cNvCxnSpPr>
              <p:nvPr/>
            </p:nvCxnSpPr>
            <p:spPr>
              <a:xfrm>
                <a:off x="3389595" y="4387842"/>
                <a:ext cx="7888860" cy="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43" name="Graphique 42" descr="Mille avec un remplissage uni">
                <a:extLst>
                  <a:ext uri="{FF2B5EF4-FFF2-40B4-BE49-F238E27FC236}">
                    <a16:creationId xmlns:a16="http://schemas.microsoft.com/office/drawing/2014/main" id="{BFBDE3C2-C3DF-0C3B-7430-2DB2DF66AD76}"/>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4"/>
                  </a:ext>
                </a:extLst>
              </a:blip>
              <a:stretch>
                <a:fillRect/>
              </a:stretch>
            </p:blipFill>
            <p:spPr>
              <a:xfrm>
                <a:off x="11278455" y="4195205"/>
                <a:ext cx="385275" cy="385275"/>
              </a:xfrm>
              <a:prstGeom prst="rect">
                <a:avLst/>
              </a:prstGeom>
            </p:spPr>
          </p:pic>
          <p:sp>
            <p:nvSpPr>
              <p:cNvPr id="44" name="Rectangle 43">
                <a:extLst>
                  <a:ext uri="{FF2B5EF4-FFF2-40B4-BE49-F238E27FC236}">
                    <a16:creationId xmlns:a16="http://schemas.microsoft.com/office/drawing/2014/main" id="{37CD13F9-A5FE-3663-2ED1-9A7EE9310000}"/>
                  </a:ext>
                </a:extLst>
              </p:cNvPr>
              <p:cNvSpPr/>
              <p:nvPr/>
            </p:nvSpPr>
            <p:spPr>
              <a:xfrm>
                <a:off x="10100966" y="4232482"/>
                <a:ext cx="292964"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grpSp>
        <p:grpSp>
          <p:nvGrpSpPr>
            <p:cNvPr id="28" name="Groupe 27">
              <a:extLst>
                <a:ext uri="{FF2B5EF4-FFF2-40B4-BE49-F238E27FC236}">
                  <a16:creationId xmlns:a16="http://schemas.microsoft.com/office/drawing/2014/main" id="{C8B73DD5-FFD1-2473-72ED-79E7B6828E0F}"/>
                </a:ext>
              </a:extLst>
            </p:cNvPr>
            <p:cNvGrpSpPr/>
            <p:nvPr/>
          </p:nvGrpSpPr>
          <p:grpSpPr>
            <a:xfrm>
              <a:off x="791077" y="2593179"/>
              <a:ext cx="3006161" cy="181741"/>
              <a:chOff x="3099063" y="2916714"/>
              <a:chExt cx="6372808" cy="385275"/>
            </a:xfrm>
          </p:grpSpPr>
          <p:pic>
            <p:nvPicPr>
              <p:cNvPr id="37" name="Graphique 36" descr="Mille avec un remplissage uni">
                <a:extLst>
                  <a:ext uri="{FF2B5EF4-FFF2-40B4-BE49-F238E27FC236}">
                    <a16:creationId xmlns:a16="http://schemas.microsoft.com/office/drawing/2014/main" id="{8D3F2B51-C66F-F2E6-81D7-32AA77E2CB0D}"/>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9086595" y="2916714"/>
                <a:ext cx="385276" cy="385275"/>
              </a:xfrm>
              <a:prstGeom prst="rect">
                <a:avLst/>
              </a:prstGeom>
            </p:spPr>
          </p:pic>
          <p:sp>
            <p:nvSpPr>
              <p:cNvPr id="38" name="Rectangle 37">
                <a:extLst>
                  <a:ext uri="{FF2B5EF4-FFF2-40B4-BE49-F238E27FC236}">
                    <a16:creationId xmlns:a16="http://schemas.microsoft.com/office/drawing/2014/main" id="{C6785AE3-94C5-0999-36F0-5C69B5875789}"/>
                  </a:ext>
                </a:extLst>
              </p:cNvPr>
              <p:cNvSpPr/>
              <p:nvPr/>
            </p:nvSpPr>
            <p:spPr>
              <a:xfrm>
                <a:off x="3099063" y="2953992"/>
                <a:ext cx="292963"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cxnSp>
            <p:nvCxnSpPr>
              <p:cNvPr id="39" name="Connecteur droit avec flèche 38">
                <a:extLst>
                  <a:ext uri="{FF2B5EF4-FFF2-40B4-BE49-F238E27FC236}">
                    <a16:creationId xmlns:a16="http://schemas.microsoft.com/office/drawing/2014/main" id="{45802CBE-C70B-6765-D7F9-197040630848}"/>
                  </a:ext>
                </a:extLst>
              </p:cNvPr>
              <p:cNvCxnSpPr>
                <a:cxnSpLocks/>
                <a:stCxn id="38" idx="3"/>
                <a:endCxn id="37" idx="1"/>
              </p:cNvCxnSpPr>
              <p:nvPr/>
            </p:nvCxnSpPr>
            <p:spPr>
              <a:xfrm>
                <a:off x="3392027" y="3109353"/>
                <a:ext cx="569456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0" name="Rectangle 39">
                <a:extLst>
                  <a:ext uri="{FF2B5EF4-FFF2-40B4-BE49-F238E27FC236}">
                    <a16:creationId xmlns:a16="http://schemas.microsoft.com/office/drawing/2014/main" id="{30A473A8-2879-2B59-E4F2-473471E131CB}"/>
                  </a:ext>
                </a:extLst>
              </p:cNvPr>
              <p:cNvSpPr/>
              <p:nvPr/>
            </p:nvSpPr>
            <p:spPr>
              <a:xfrm>
                <a:off x="8569448" y="2958086"/>
                <a:ext cx="292964"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grpSp>
        <p:grpSp>
          <p:nvGrpSpPr>
            <p:cNvPr id="29" name="Groupe 28">
              <a:extLst>
                <a:ext uri="{FF2B5EF4-FFF2-40B4-BE49-F238E27FC236}">
                  <a16:creationId xmlns:a16="http://schemas.microsoft.com/office/drawing/2014/main" id="{D83BCACB-8095-4073-298A-2AEC6D04DFAA}"/>
                </a:ext>
              </a:extLst>
            </p:cNvPr>
            <p:cNvGrpSpPr/>
            <p:nvPr/>
          </p:nvGrpSpPr>
          <p:grpSpPr>
            <a:xfrm>
              <a:off x="789930" y="4072324"/>
              <a:ext cx="3859964" cy="152537"/>
              <a:chOff x="3096635" y="5604607"/>
              <a:chExt cx="8182799" cy="323365"/>
            </a:xfrm>
          </p:grpSpPr>
          <p:sp>
            <p:nvSpPr>
              <p:cNvPr id="34" name="Rectangle 33">
                <a:extLst>
                  <a:ext uri="{FF2B5EF4-FFF2-40B4-BE49-F238E27FC236}">
                    <a16:creationId xmlns:a16="http://schemas.microsoft.com/office/drawing/2014/main" id="{1ECC77BF-3F44-2CD7-C49F-BCBCDCABFB37}"/>
                  </a:ext>
                </a:extLst>
              </p:cNvPr>
              <p:cNvSpPr/>
              <p:nvPr/>
            </p:nvSpPr>
            <p:spPr>
              <a:xfrm>
                <a:off x="3096635" y="5617252"/>
                <a:ext cx="292963"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cxnSp>
            <p:nvCxnSpPr>
              <p:cNvPr id="35" name="Connecteur droit avec flèche 34">
                <a:extLst>
                  <a:ext uri="{FF2B5EF4-FFF2-40B4-BE49-F238E27FC236}">
                    <a16:creationId xmlns:a16="http://schemas.microsoft.com/office/drawing/2014/main" id="{AE9AF661-8594-9ED1-25C3-187FF97BD137}"/>
                  </a:ext>
                </a:extLst>
              </p:cNvPr>
              <p:cNvCxnSpPr>
                <a:cxnSpLocks/>
                <a:stCxn id="34" idx="3"/>
                <a:endCxn id="30" idx="1"/>
              </p:cNvCxnSpPr>
              <p:nvPr/>
            </p:nvCxnSpPr>
            <p:spPr>
              <a:xfrm flipV="1">
                <a:off x="3389599" y="5772608"/>
                <a:ext cx="7889835" cy="4"/>
              </a:xfrm>
              <a:prstGeom prst="straightConnector1">
                <a:avLst/>
              </a:prstGeom>
              <a:ln w="28575">
                <a:prstDash val="dash"/>
                <a:tailEnd type="triangle"/>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AE24BBBC-B068-6B87-44C0-78A38EC8972B}"/>
                  </a:ext>
                </a:extLst>
              </p:cNvPr>
              <p:cNvSpPr/>
              <p:nvPr/>
            </p:nvSpPr>
            <p:spPr>
              <a:xfrm>
                <a:off x="6197544" y="5604607"/>
                <a:ext cx="292964" cy="310720"/>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
                    <a:solidFill>
                      <a:schemeClr val="tx1"/>
                    </a:solidFill>
                  </a:rPr>
                  <a:t>Sujet</a:t>
                </a:r>
              </a:p>
            </p:txBody>
          </p:sp>
        </p:grpSp>
        <p:pic>
          <p:nvPicPr>
            <p:cNvPr id="30" name="Graphique 29" descr="Point d’interrogation avec un remplissage uni">
              <a:extLst>
                <a:ext uri="{FF2B5EF4-FFF2-40B4-BE49-F238E27FC236}">
                  <a16:creationId xmlns:a16="http://schemas.microsoft.com/office/drawing/2014/main" id="{00447D7C-89DE-E4A8-E629-014423B15D6F}"/>
                </a:ext>
              </a:extLst>
            </p:cNvPr>
            <p:cNvPicPr>
              <a:picLocks noChangeAspect="1"/>
            </p:cNvPicPr>
            <p:nvPr/>
          </p:nvPicPr>
          <p:blipFill>
            <a:blip r:embed="rId55">
              <a:extLst>
                <a:ext uri="{28A0092B-C50C-407E-A947-70E740481C1C}">
                  <a14:useLocalDpi xmlns:a14="http://schemas.microsoft.com/office/drawing/2010/main" val="0"/>
                </a:ext>
                <a:ext uri="{96DAC541-7B7A-43D3-8B79-37D633B846F1}">
                  <asvg:svgBlip xmlns:asvg="http://schemas.microsoft.com/office/drawing/2016/SVG/main" r:embed="rId56"/>
                </a:ext>
              </a:extLst>
            </a:blip>
            <a:stretch>
              <a:fillRect/>
            </a:stretch>
          </p:blipFill>
          <p:spPr>
            <a:xfrm>
              <a:off x="4649894" y="4053262"/>
              <a:ext cx="196622" cy="196622"/>
            </a:xfrm>
            <a:prstGeom prst="rect">
              <a:avLst/>
            </a:prstGeom>
          </p:spPr>
        </p:pic>
        <p:pic>
          <p:nvPicPr>
            <p:cNvPr id="31" name="Graphique 30" descr="Point d’interrogation avec un remplissage uni">
              <a:extLst>
                <a:ext uri="{FF2B5EF4-FFF2-40B4-BE49-F238E27FC236}">
                  <a16:creationId xmlns:a16="http://schemas.microsoft.com/office/drawing/2014/main" id="{5C122E09-4A40-4890-EA29-CD83CED177D0}"/>
                </a:ext>
              </a:extLst>
            </p:cNvPr>
            <p:cNvPicPr>
              <a:picLocks noChangeAspect="1"/>
            </p:cNvPicPr>
            <p:nvPr/>
          </p:nvPicPr>
          <p:blipFill>
            <a:blip r:embed="rId55">
              <a:extLst>
                <a:ext uri="{28A0092B-C50C-407E-A947-70E740481C1C}">
                  <a14:useLocalDpi xmlns:a14="http://schemas.microsoft.com/office/drawing/2010/main" val="0"/>
                </a:ext>
                <a:ext uri="{96DAC541-7B7A-43D3-8B79-37D633B846F1}">
                  <asvg:svgBlip xmlns:asvg="http://schemas.microsoft.com/office/drawing/2016/SVG/main" r:embed="rId56"/>
                </a:ext>
              </a:extLst>
            </a:blip>
            <a:stretch>
              <a:fillRect/>
            </a:stretch>
          </p:blipFill>
          <p:spPr>
            <a:xfrm>
              <a:off x="4079042" y="4053262"/>
              <a:ext cx="196622" cy="196622"/>
            </a:xfrm>
            <a:prstGeom prst="rect">
              <a:avLst/>
            </a:prstGeom>
          </p:spPr>
        </p:pic>
        <p:pic>
          <p:nvPicPr>
            <p:cNvPr id="32" name="Graphique 31" descr="Point d’interrogation avec un remplissage uni">
              <a:extLst>
                <a:ext uri="{FF2B5EF4-FFF2-40B4-BE49-F238E27FC236}">
                  <a16:creationId xmlns:a16="http://schemas.microsoft.com/office/drawing/2014/main" id="{16FC6BE0-781B-9912-3ECC-4DED9CF5529C}"/>
                </a:ext>
              </a:extLst>
            </p:cNvPr>
            <p:cNvPicPr>
              <a:picLocks noChangeAspect="1"/>
            </p:cNvPicPr>
            <p:nvPr/>
          </p:nvPicPr>
          <p:blipFill>
            <a:blip r:embed="rId55">
              <a:extLst>
                <a:ext uri="{28A0092B-C50C-407E-A947-70E740481C1C}">
                  <a14:useLocalDpi xmlns:a14="http://schemas.microsoft.com/office/drawing/2010/main" val="0"/>
                </a:ext>
                <a:ext uri="{96DAC541-7B7A-43D3-8B79-37D633B846F1}">
                  <asvg:svgBlip xmlns:asvg="http://schemas.microsoft.com/office/drawing/2016/SVG/main" r:embed="rId56"/>
                </a:ext>
              </a:extLst>
            </a:blip>
            <a:stretch>
              <a:fillRect/>
            </a:stretch>
          </p:blipFill>
          <p:spPr>
            <a:xfrm>
              <a:off x="3509746" y="4055211"/>
              <a:ext cx="196622" cy="196622"/>
            </a:xfrm>
            <a:prstGeom prst="rect">
              <a:avLst/>
            </a:prstGeom>
          </p:spPr>
        </p:pic>
        <p:pic>
          <p:nvPicPr>
            <p:cNvPr id="33" name="Graphique 32" descr="Point d’interrogation avec un remplissage uni">
              <a:extLst>
                <a:ext uri="{FF2B5EF4-FFF2-40B4-BE49-F238E27FC236}">
                  <a16:creationId xmlns:a16="http://schemas.microsoft.com/office/drawing/2014/main" id="{9806AE8A-9D84-3CDB-CBFF-B668861C10FD}"/>
                </a:ext>
              </a:extLst>
            </p:cNvPr>
            <p:cNvPicPr>
              <a:picLocks noChangeAspect="1"/>
            </p:cNvPicPr>
            <p:nvPr/>
          </p:nvPicPr>
          <p:blipFill>
            <a:blip r:embed="rId55">
              <a:extLst>
                <a:ext uri="{28A0092B-C50C-407E-A947-70E740481C1C}">
                  <a14:useLocalDpi xmlns:a14="http://schemas.microsoft.com/office/drawing/2010/main" val="0"/>
                </a:ext>
                <a:ext uri="{96DAC541-7B7A-43D3-8B79-37D633B846F1}">
                  <asvg:svgBlip xmlns:asvg="http://schemas.microsoft.com/office/drawing/2016/SVG/main" r:embed="rId56"/>
                </a:ext>
              </a:extLst>
            </a:blip>
            <a:stretch>
              <a:fillRect/>
            </a:stretch>
          </p:blipFill>
          <p:spPr>
            <a:xfrm>
              <a:off x="2913160" y="4047297"/>
              <a:ext cx="196622" cy="196622"/>
            </a:xfrm>
            <a:prstGeom prst="rect">
              <a:avLst/>
            </a:prstGeom>
          </p:spPr>
        </p:pic>
      </p:grpSp>
    </p:spTree>
    <p:extLst>
      <p:ext uri="{BB962C8B-B14F-4D97-AF65-F5344CB8AC3E}">
        <p14:creationId xmlns:p14="http://schemas.microsoft.com/office/powerpoint/2010/main" val="3753093732"/>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786AE10-063A-2FFB-64EB-0AE91CE8A887}"/>
              </a:ext>
            </a:extLst>
          </p:cNvPr>
          <p:cNvSpPr>
            <a:spLocks noGrp="1"/>
          </p:cNvSpPr>
          <p:nvPr>
            <p:ph type="title"/>
          </p:nvPr>
        </p:nvSpPr>
        <p:spPr>
          <a:xfrm>
            <a:off x="802004" y="375856"/>
            <a:ext cx="4551159" cy="915779"/>
          </a:xfrm>
          <a:noFill/>
        </p:spPr>
        <p:txBody>
          <a:bodyPr>
            <a:noAutofit/>
          </a:bodyPr>
          <a:lstStyle/>
          <a:p>
            <a:r>
              <a:rPr lang="fr-FR" sz="3200" dirty="0"/>
              <a:t>Le parcours de la marche officielle</a:t>
            </a:r>
          </a:p>
        </p:txBody>
      </p:sp>
      <p:sp>
        <p:nvSpPr>
          <p:cNvPr id="4" name="Ellipse 3">
            <a:extLst>
              <a:ext uri="{FF2B5EF4-FFF2-40B4-BE49-F238E27FC236}">
                <a16:creationId xmlns:a16="http://schemas.microsoft.com/office/drawing/2014/main" id="{992AC0C9-CAAE-DB39-A9F6-4A4AE6F6DA7D}"/>
              </a:ext>
            </a:extLst>
          </p:cNvPr>
          <p:cNvSpPr/>
          <p:nvPr/>
        </p:nvSpPr>
        <p:spPr>
          <a:xfrm>
            <a:off x="802004"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5" name="ZoneTexte 4">
            <a:extLst>
              <a:ext uri="{FF2B5EF4-FFF2-40B4-BE49-F238E27FC236}">
                <a16:creationId xmlns:a16="http://schemas.microsoft.com/office/drawing/2014/main" id="{70243741-FE0E-63E1-D84C-A7C7ABA02711}"/>
              </a:ext>
            </a:extLst>
          </p:cNvPr>
          <p:cNvSpPr txBox="1"/>
          <p:nvPr/>
        </p:nvSpPr>
        <p:spPr>
          <a:xfrm>
            <a:off x="383464" y="3527677"/>
            <a:ext cx="1181101" cy="461665"/>
          </a:xfrm>
          <a:prstGeom prst="rect">
            <a:avLst/>
          </a:prstGeom>
          <a:noFill/>
        </p:spPr>
        <p:txBody>
          <a:bodyPr wrap="square">
            <a:spAutoFit/>
          </a:bodyPr>
          <a:lstStyle/>
          <a:p>
            <a:pPr algn="ctr"/>
            <a:r>
              <a:rPr lang="fr-FR" sz="1200" b="1" dirty="0">
                <a:solidFill>
                  <a:srgbClr val="ED7D31"/>
                </a:solidFill>
              </a:rPr>
              <a:t>Renseignement basique</a:t>
            </a:r>
          </a:p>
        </p:txBody>
      </p:sp>
      <p:sp>
        <p:nvSpPr>
          <p:cNvPr id="6" name="ZoneTexte 5">
            <a:extLst>
              <a:ext uri="{FF2B5EF4-FFF2-40B4-BE49-F238E27FC236}">
                <a16:creationId xmlns:a16="http://schemas.microsoft.com/office/drawing/2014/main" id="{B1AD12BD-B4AB-A317-CE60-DFDC47C6DFFE}"/>
              </a:ext>
            </a:extLst>
          </p:cNvPr>
          <p:cNvSpPr txBox="1"/>
          <p:nvPr/>
        </p:nvSpPr>
        <p:spPr>
          <a:xfrm>
            <a:off x="1531211" y="2750030"/>
            <a:ext cx="1672045" cy="461665"/>
          </a:xfrm>
          <a:prstGeom prst="rect">
            <a:avLst/>
          </a:prstGeom>
          <a:noFill/>
        </p:spPr>
        <p:txBody>
          <a:bodyPr wrap="square">
            <a:spAutoFit/>
          </a:bodyPr>
          <a:lstStyle/>
          <a:p>
            <a:pPr algn="ctr"/>
            <a:r>
              <a:rPr lang="fr-FR" sz="1200" dirty="0"/>
              <a:t>Pré-cadrage Communauté</a:t>
            </a:r>
          </a:p>
        </p:txBody>
      </p:sp>
      <p:sp>
        <p:nvSpPr>
          <p:cNvPr id="7" name="Ellipse 6">
            <a:extLst>
              <a:ext uri="{FF2B5EF4-FFF2-40B4-BE49-F238E27FC236}">
                <a16:creationId xmlns:a16="http://schemas.microsoft.com/office/drawing/2014/main" id="{C6C4D9BF-709E-3C85-65C0-D259F0458368}"/>
              </a:ext>
            </a:extLst>
          </p:cNvPr>
          <p:cNvSpPr/>
          <p:nvPr/>
        </p:nvSpPr>
        <p:spPr>
          <a:xfrm>
            <a:off x="2294570" y="3211695"/>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2" name="ZoneTexte 11">
            <a:extLst>
              <a:ext uri="{FF2B5EF4-FFF2-40B4-BE49-F238E27FC236}">
                <a16:creationId xmlns:a16="http://schemas.microsoft.com/office/drawing/2014/main" id="{CCB8CD5C-AB91-19DC-30DC-0A0B16D384FD}"/>
              </a:ext>
            </a:extLst>
          </p:cNvPr>
          <p:cNvSpPr txBox="1"/>
          <p:nvPr/>
        </p:nvSpPr>
        <p:spPr>
          <a:xfrm>
            <a:off x="6777586" y="3602835"/>
            <a:ext cx="1275805" cy="461665"/>
          </a:xfrm>
          <a:prstGeom prst="rect">
            <a:avLst/>
          </a:prstGeom>
          <a:noFill/>
        </p:spPr>
        <p:txBody>
          <a:bodyPr wrap="square">
            <a:spAutoFit/>
          </a:bodyPr>
          <a:lstStyle/>
          <a:p>
            <a:pPr algn="ctr"/>
            <a:r>
              <a:rPr lang="fr-FR" sz="1200" b="1" dirty="0">
                <a:solidFill>
                  <a:srgbClr val="ED7D31"/>
                </a:solidFill>
              </a:rPr>
              <a:t>Kick off de communauté</a:t>
            </a:r>
          </a:p>
        </p:txBody>
      </p:sp>
      <p:sp>
        <p:nvSpPr>
          <p:cNvPr id="13" name="Ellipse 12">
            <a:extLst>
              <a:ext uri="{FF2B5EF4-FFF2-40B4-BE49-F238E27FC236}">
                <a16:creationId xmlns:a16="http://schemas.microsoft.com/office/drawing/2014/main" id="{1FA919D8-8AFC-8481-80A4-0536BB10817F}"/>
              </a:ext>
            </a:extLst>
          </p:cNvPr>
          <p:cNvSpPr/>
          <p:nvPr/>
        </p:nvSpPr>
        <p:spPr>
          <a:xfrm>
            <a:off x="5561513" y="3211695"/>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0" name="ZoneTexte 19">
            <a:extLst>
              <a:ext uri="{FF2B5EF4-FFF2-40B4-BE49-F238E27FC236}">
                <a16:creationId xmlns:a16="http://schemas.microsoft.com/office/drawing/2014/main" id="{59990270-D6C9-B609-2E0A-04FD1FE788EC}"/>
              </a:ext>
            </a:extLst>
          </p:cNvPr>
          <p:cNvSpPr txBox="1"/>
          <p:nvPr/>
        </p:nvSpPr>
        <p:spPr>
          <a:xfrm>
            <a:off x="3431274" y="2750030"/>
            <a:ext cx="1360717" cy="461665"/>
          </a:xfrm>
          <a:prstGeom prst="rect">
            <a:avLst/>
          </a:prstGeom>
          <a:noFill/>
        </p:spPr>
        <p:txBody>
          <a:bodyPr wrap="square">
            <a:spAutoFit/>
          </a:bodyPr>
          <a:lstStyle/>
          <a:p>
            <a:pPr algn="ctr"/>
            <a:r>
              <a:rPr lang="fr-FR" sz="1200" dirty="0"/>
              <a:t>Cadrage tactique de valeur</a:t>
            </a:r>
          </a:p>
        </p:txBody>
      </p:sp>
      <p:sp>
        <p:nvSpPr>
          <p:cNvPr id="21" name="Ellipse 20">
            <a:extLst>
              <a:ext uri="{FF2B5EF4-FFF2-40B4-BE49-F238E27FC236}">
                <a16:creationId xmlns:a16="http://schemas.microsoft.com/office/drawing/2014/main" id="{75E8B2B6-E4A6-1DD6-A13E-316EDA1A9A08}"/>
              </a:ext>
            </a:extLst>
          </p:cNvPr>
          <p:cNvSpPr/>
          <p:nvPr/>
        </p:nvSpPr>
        <p:spPr>
          <a:xfrm>
            <a:off x="3940355" y="3211695"/>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2" name="ZoneTexte 21">
            <a:extLst>
              <a:ext uri="{FF2B5EF4-FFF2-40B4-BE49-F238E27FC236}">
                <a16:creationId xmlns:a16="http://schemas.microsoft.com/office/drawing/2014/main" id="{C8FC8314-33E3-31E2-1BBE-05F7EE34E539}"/>
              </a:ext>
            </a:extLst>
          </p:cNvPr>
          <p:cNvSpPr txBox="1"/>
          <p:nvPr/>
        </p:nvSpPr>
        <p:spPr>
          <a:xfrm>
            <a:off x="4982250" y="2721673"/>
            <a:ext cx="1360717" cy="461665"/>
          </a:xfrm>
          <a:prstGeom prst="rect">
            <a:avLst/>
          </a:prstGeom>
          <a:noFill/>
        </p:spPr>
        <p:txBody>
          <a:bodyPr wrap="square">
            <a:spAutoFit/>
          </a:bodyPr>
          <a:lstStyle/>
          <a:p>
            <a:pPr algn="ctr"/>
            <a:r>
              <a:rPr lang="fr-FR" sz="1200" dirty="0"/>
              <a:t>Déblocages basiques</a:t>
            </a:r>
          </a:p>
        </p:txBody>
      </p:sp>
      <p:sp>
        <p:nvSpPr>
          <p:cNvPr id="23" name="Ellipse 22">
            <a:extLst>
              <a:ext uri="{FF2B5EF4-FFF2-40B4-BE49-F238E27FC236}">
                <a16:creationId xmlns:a16="http://schemas.microsoft.com/office/drawing/2014/main" id="{75DAEB64-62A4-1F54-12CF-0242783E48A8}"/>
              </a:ext>
            </a:extLst>
          </p:cNvPr>
          <p:cNvSpPr/>
          <p:nvPr/>
        </p:nvSpPr>
        <p:spPr>
          <a:xfrm>
            <a:off x="7101568"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9" name="Ellipse 28">
            <a:extLst>
              <a:ext uri="{FF2B5EF4-FFF2-40B4-BE49-F238E27FC236}">
                <a16:creationId xmlns:a16="http://schemas.microsoft.com/office/drawing/2014/main" id="{D03657F9-E94C-69A8-52E4-E48D5518EF71}"/>
              </a:ext>
            </a:extLst>
          </p:cNvPr>
          <p:cNvSpPr/>
          <p:nvPr/>
        </p:nvSpPr>
        <p:spPr>
          <a:xfrm>
            <a:off x="9876069"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31" name="Connecteur droit avec flèche 30">
            <a:extLst>
              <a:ext uri="{FF2B5EF4-FFF2-40B4-BE49-F238E27FC236}">
                <a16:creationId xmlns:a16="http://schemas.microsoft.com/office/drawing/2014/main" id="{7F64240B-201D-9BC0-DC60-C021368924D0}"/>
              </a:ext>
            </a:extLst>
          </p:cNvPr>
          <p:cNvCxnSpPr>
            <a:cxnSpLocks/>
            <a:stCxn id="4" idx="6"/>
            <a:endCxn id="7" idx="2"/>
          </p:cNvCxnSpPr>
          <p:nvPr/>
        </p:nvCxnSpPr>
        <p:spPr>
          <a:xfrm>
            <a:off x="1071970" y="3346678"/>
            <a:ext cx="12226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droit avec flèche 34">
            <a:extLst>
              <a:ext uri="{FF2B5EF4-FFF2-40B4-BE49-F238E27FC236}">
                <a16:creationId xmlns:a16="http://schemas.microsoft.com/office/drawing/2014/main" id="{24172E6B-5E10-7974-CC9A-1792DB15BC8E}"/>
              </a:ext>
            </a:extLst>
          </p:cNvPr>
          <p:cNvCxnSpPr>
            <a:cxnSpLocks/>
            <a:stCxn id="7" idx="6"/>
            <a:endCxn id="21" idx="2"/>
          </p:cNvCxnSpPr>
          <p:nvPr/>
        </p:nvCxnSpPr>
        <p:spPr>
          <a:xfrm>
            <a:off x="2564536" y="3346678"/>
            <a:ext cx="1375819"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Connecteur droit avec flèche 38">
            <a:extLst>
              <a:ext uri="{FF2B5EF4-FFF2-40B4-BE49-F238E27FC236}">
                <a16:creationId xmlns:a16="http://schemas.microsoft.com/office/drawing/2014/main" id="{BF6DD22B-825A-C3BD-CBCB-207E7B9A774E}"/>
              </a:ext>
            </a:extLst>
          </p:cNvPr>
          <p:cNvCxnSpPr>
            <a:cxnSpLocks/>
            <a:stCxn id="21" idx="6"/>
            <a:endCxn id="13" idx="2"/>
          </p:cNvCxnSpPr>
          <p:nvPr/>
        </p:nvCxnSpPr>
        <p:spPr>
          <a:xfrm>
            <a:off x="4210321" y="3346678"/>
            <a:ext cx="1351192"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5" name="Connecteur droit avec flèche 54">
            <a:extLst>
              <a:ext uri="{FF2B5EF4-FFF2-40B4-BE49-F238E27FC236}">
                <a16:creationId xmlns:a16="http://schemas.microsoft.com/office/drawing/2014/main" id="{6E8C5F3E-D856-DD7A-560B-6A4067D42CE4}"/>
              </a:ext>
            </a:extLst>
          </p:cNvPr>
          <p:cNvCxnSpPr>
            <a:cxnSpLocks/>
            <a:stCxn id="13" idx="6"/>
            <a:endCxn id="23" idx="2"/>
          </p:cNvCxnSpPr>
          <p:nvPr/>
        </p:nvCxnSpPr>
        <p:spPr>
          <a:xfrm>
            <a:off x="5831479" y="3346678"/>
            <a:ext cx="1270089" cy="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Connecteur droit avec flèche 60">
            <a:extLst>
              <a:ext uri="{FF2B5EF4-FFF2-40B4-BE49-F238E27FC236}">
                <a16:creationId xmlns:a16="http://schemas.microsoft.com/office/drawing/2014/main" id="{0CF106E3-848D-1DBB-2A10-DB07B290E407}"/>
              </a:ext>
            </a:extLst>
          </p:cNvPr>
          <p:cNvCxnSpPr>
            <a:cxnSpLocks/>
            <a:stCxn id="23" idx="6"/>
            <a:endCxn id="29" idx="2"/>
          </p:cNvCxnSpPr>
          <p:nvPr/>
        </p:nvCxnSpPr>
        <p:spPr>
          <a:xfrm>
            <a:off x="7371534" y="3346678"/>
            <a:ext cx="2504535" cy="0"/>
          </a:xfrm>
          <a:prstGeom prst="straightConnector1">
            <a:avLst/>
          </a:prstGeom>
          <a:ln w="38100">
            <a:solidFill>
              <a:srgbClr val="000000"/>
            </a:solidFill>
            <a:tailEnd type="triangle"/>
          </a:ln>
        </p:spPr>
        <p:style>
          <a:lnRef idx="1">
            <a:schemeClr val="accent1"/>
          </a:lnRef>
          <a:fillRef idx="0">
            <a:schemeClr val="accent1"/>
          </a:fillRef>
          <a:effectRef idx="0">
            <a:schemeClr val="accent1"/>
          </a:effectRef>
          <a:fontRef idx="minor">
            <a:schemeClr val="tx1"/>
          </a:fontRef>
        </p:style>
      </p:cxnSp>
      <p:sp>
        <p:nvSpPr>
          <p:cNvPr id="187" name="ZoneTexte 186">
            <a:extLst>
              <a:ext uri="{FF2B5EF4-FFF2-40B4-BE49-F238E27FC236}">
                <a16:creationId xmlns:a16="http://schemas.microsoft.com/office/drawing/2014/main" id="{7B7E05E1-3EDD-A6AC-6699-FB72CF33D4ED}"/>
              </a:ext>
            </a:extLst>
          </p:cNvPr>
          <p:cNvSpPr txBox="1"/>
          <p:nvPr/>
        </p:nvSpPr>
        <p:spPr>
          <a:xfrm>
            <a:off x="9583652" y="3616644"/>
            <a:ext cx="854800" cy="461665"/>
          </a:xfrm>
          <a:prstGeom prst="rect">
            <a:avLst/>
          </a:prstGeom>
          <a:solidFill>
            <a:schemeClr val="bg1"/>
          </a:solidFill>
          <a:ln>
            <a:solidFill>
              <a:srgbClr val="ED7D31"/>
            </a:solidFill>
          </a:ln>
        </p:spPr>
        <p:txBody>
          <a:bodyPr wrap="square">
            <a:spAutoFit/>
          </a:bodyPr>
          <a:lstStyle/>
          <a:p>
            <a:pPr algn="ctr"/>
            <a:r>
              <a:rPr lang="fr-FR" sz="1200" b="1" dirty="0">
                <a:solidFill>
                  <a:srgbClr val="ED7D31"/>
                </a:solidFill>
              </a:rPr>
              <a:t>Cœur d’activités</a:t>
            </a:r>
          </a:p>
        </p:txBody>
      </p:sp>
      <p:cxnSp>
        <p:nvCxnSpPr>
          <p:cNvPr id="202" name="Connecteur droit avec flèche 201">
            <a:extLst>
              <a:ext uri="{FF2B5EF4-FFF2-40B4-BE49-F238E27FC236}">
                <a16:creationId xmlns:a16="http://schemas.microsoft.com/office/drawing/2014/main" id="{F22607BE-6407-94D0-79D9-92144EF9E0AC}"/>
              </a:ext>
            </a:extLst>
          </p:cNvPr>
          <p:cNvCxnSpPr>
            <a:cxnSpLocks/>
          </p:cNvCxnSpPr>
          <p:nvPr/>
        </p:nvCxnSpPr>
        <p:spPr>
          <a:xfrm flipV="1">
            <a:off x="6342967" y="901575"/>
            <a:ext cx="1344606" cy="1073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35" name="Graphique 234" descr="Bâtiment avec un remplissage uni">
            <a:extLst>
              <a:ext uri="{FF2B5EF4-FFF2-40B4-BE49-F238E27FC236}">
                <a16:creationId xmlns:a16="http://schemas.microsoft.com/office/drawing/2014/main" id="{0368413A-FF39-DFEF-67A4-4EAB9E39A94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011906" y="670515"/>
            <a:ext cx="316318" cy="316318"/>
          </a:xfrm>
          <a:prstGeom prst="rect">
            <a:avLst/>
          </a:prstGeom>
        </p:spPr>
      </p:pic>
      <p:sp>
        <p:nvSpPr>
          <p:cNvPr id="34" name="ZoneTexte 33">
            <a:extLst>
              <a:ext uri="{FF2B5EF4-FFF2-40B4-BE49-F238E27FC236}">
                <a16:creationId xmlns:a16="http://schemas.microsoft.com/office/drawing/2014/main" id="{075B46D7-EDC3-019C-2706-7F8E1320FF9C}"/>
              </a:ext>
            </a:extLst>
          </p:cNvPr>
          <p:cNvSpPr txBox="1"/>
          <p:nvPr/>
        </p:nvSpPr>
        <p:spPr>
          <a:xfrm>
            <a:off x="7702316" y="729728"/>
            <a:ext cx="2871794" cy="307777"/>
          </a:xfrm>
          <a:prstGeom prst="rect">
            <a:avLst/>
          </a:prstGeom>
          <a:noFill/>
        </p:spPr>
        <p:txBody>
          <a:bodyPr wrap="square">
            <a:spAutoFit/>
          </a:bodyPr>
          <a:lstStyle/>
          <a:p>
            <a:r>
              <a:rPr lang="fr-FR" sz="1400" b="1" dirty="0"/>
              <a:t>Parcours de la marche officielle</a:t>
            </a:r>
          </a:p>
        </p:txBody>
      </p:sp>
      <p:pic>
        <p:nvPicPr>
          <p:cNvPr id="3" name="Graphique 2" descr="Cœur avec un remplissage uni">
            <a:extLst>
              <a:ext uri="{FF2B5EF4-FFF2-40B4-BE49-F238E27FC236}">
                <a16:creationId xmlns:a16="http://schemas.microsoft.com/office/drawing/2014/main" id="{D7857802-EB5D-6575-4B9C-DA4574662EC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932502" y="3278748"/>
            <a:ext cx="162821" cy="162821"/>
          </a:xfrm>
          <a:prstGeom prst="rect">
            <a:avLst/>
          </a:prstGeom>
        </p:spPr>
      </p:pic>
    </p:spTree>
    <p:extLst>
      <p:ext uri="{BB962C8B-B14F-4D97-AF65-F5344CB8AC3E}">
        <p14:creationId xmlns:p14="http://schemas.microsoft.com/office/powerpoint/2010/main" val="1529563671"/>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 name="Tableau 4">
            <a:extLst>
              <a:ext uri="{FF2B5EF4-FFF2-40B4-BE49-F238E27FC236}">
                <a16:creationId xmlns:a16="http://schemas.microsoft.com/office/drawing/2014/main" id="{1EEF06FD-3D4D-B64E-72F8-E698CEAD39C8}"/>
              </a:ext>
            </a:extLst>
          </p:cNvPr>
          <p:cNvGraphicFramePr>
            <a:graphicFrameLocks noGrp="1"/>
          </p:cNvGraphicFramePr>
          <p:nvPr>
            <p:ph idx="1"/>
            <p:extLst>
              <p:ext uri="{D42A27DB-BD31-4B8C-83A1-F6EECF244321}">
                <p14:modId xmlns:p14="http://schemas.microsoft.com/office/powerpoint/2010/main" val="73940631"/>
              </p:ext>
            </p:extLst>
          </p:nvPr>
        </p:nvGraphicFramePr>
        <p:xfrm>
          <a:off x="838200" y="710474"/>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Etape de </a:t>
                      </a:r>
                      <a:r>
                        <a:rPr lang="fr-FR" sz="1800" dirty="0"/>
                        <a:t>Pré-cadrage de la Communauté</a:t>
                      </a:r>
                      <a:endParaRPr lang="fr-FR" dirty="0"/>
                    </a:p>
                    <a:p>
                      <a:r>
                        <a:rPr lang="fr-FR" i="1" dirty="0"/>
                        <a:t>« Se projeter dans une activité collective potentielle »</a:t>
                      </a:r>
                    </a:p>
                  </a:txBody>
                  <a:tcPr>
                    <a:solidFill>
                      <a:schemeClr val="tx1"/>
                    </a:solidFill>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Approches</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pic>
        <p:nvPicPr>
          <p:cNvPr id="390" name="Graphique 389" descr="Liste contour">
            <a:extLst>
              <a:ext uri="{FF2B5EF4-FFF2-40B4-BE49-F238E27FC236}">
                <a16:creationId xmlns:a16="http://schemas.microsoft.com/office/drawing/2014/main" id="{AD4FFCCE-1680-01F9-815D-B8253C39A3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07795" y="4134734"/>
            <a:ext cx="914400" cy="914400"/>
          </a:xfrm>
          <a:prstGeom prst="rect">
            <a:avLst/>
          </a:prstGeom>
        </p:spPr>
      </p:pic>
      <p:grpSp>
        <p:nvGrpSpPr>
          <p:cNvPr id="229" name="Groupe 228">
            <a:extLst>
              <a:ext uri="{FF2B5EF4-FFF2-40B4-BE49-F238E27FC236}">
                <a16:creationId xmlns:a16="http://schemas.microsoft.com/office/drawing/2014/main" id="{8651D6BC-B304-527C-F47D-3AAF08DDB91E}"/>
              </a:ext>
            </a:extLst>
          </p:cNvPr>
          <p:cNvGrpSpPr/>
          <p:nvPr/>
        </p:nvGrpSpPr>
        <p:grpSpPr>
          <a:xfrm>
            <a:off x="7698481" y="4148711"/>
            <a:ext cx="1121389" cy="935599"/>
            <a:chOff x="7829664" y="3812797"/>
            <a:chExt cx="3361095" cy="2804234"/>
          </a:xfrm>
        </p:grpSpPr>
        <p:pic>
          <p:nvPicPr>
            <p:cNvPr id="230" name="Graphique 229" descr="Homme avec un remplissage uni">
              <a:extLst>
                <a:ext uri="{FF2B5EF4-FFF2-40B4-BE49-F238E27FC236}">
                  <a16:creationId xmlns:a16="http://schemas.microsoft.com/office/drawing/2014/main" id="{D67392EA-764D-D791-AF7D-F18910605DE7}"/>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t="1" b="40502"/>
            <a:stretch/>
          </p:blipFill>
          <p:spPr>
            <a:xfrm>
              <a:off x="8312323" y="4821183"/>
              <a:ext cx="2878436" cy="1712563"/>
            </a:xfrm>
            <a:prstGeom prst="rect">
              <a:avLst/>
            </a:prstGeom>
          </p:spPr>
        </p:pic>
        <p:grpSp>
          <p:nvGrpSpPr>
            <p:cNvPr id="231" name="Groupe 230">
              <a:extLst>
                <a:ext uri="{FF2B5EF4-FFF2-40B4-BE49-F238E27FC236}">
                  <a16:creationId xmlns:a16="http://schemas.microsoft.com/office/drawing/2014/main" id="{FBEBF36E-632B-3A57-192C-B807A10C706F}"/>
                </a:ext>
              </a:extLst>
            </p:cNvPr>
            <p:cNvGrpSpPr/>
            <p:nvPr/>
          </p:nvGrpSpPr>
          <p:grpSpPr>
            <a:xfrm>
              <a:off x="7829664" y="4904469"/>
              <a:ext cx="1747769" cy="1712562"/>
              <a:chOff x="786592" y="4813146"/>
              <a:chExt cx="1747769" cy="1712562"/>
            </a:xfrm>
          </p:grpSpPr>
          <p:pic>
            <p:nvPicPr>
              <p:cNvPr id="237" name="Graphique 236" descr="Microphone avec un remplissage uni">
                <a:extLst>
                  <a:ext uri="{FF2B5EF4-FFF2-40B4-BE49-F238E27FC236}">
                    <a16:creationId xmlns:a16="http://schemas.microsoft.com/office/drawing/2014/main" id="{760929E8-D15E-643B-5343-8D4E31A07FE8}"/>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26582" r="43264" b="738"/>
              <a:stretch/>
            </p:blipFill>
            <p:spPr>
              <a:xfrm rot="927067" flipH="1">
                <a:off x="2184345" y="5290444"/>
                <a:ext cx="350016" cy="1222715"/>
              </a:xfrm>
              <a:prstGeom prst="rect">
                <a:avLst/>
              </a:prstGeom>
            </p:spPr>
          </p:pic>
          <p:pic>
            <p:nvPicPr>
              <p:cNvPr id="238" name="Graphique 237" descr="Personne confuse avec un remplissage uni">
                <a:extLst>
                  <a:ext uri="{FF2B5EF4-FFF2-40B4-BE49-F238E27FC236}">
                    <a16:creationId xmlns:a16="http://schemas.microsoft.com/office/drawing/2014/main" id="{534275E5-B451-7750-7FF5-838E7C60643C}"/>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l="38856" r="14769" b="50034"/>
              <a:stretch/>
            </p:blipFill>
            <p:spPr>
              <a:xfrm>
                <a:off x="786592" y="4813146"/>
                <a:ext cx="1589482" cy="1712562"/>
              </a:xfrm>
              <a:prstGeom prst="rect">
                <a:avLst/>
              </a:prstGeom>
            </p:spPr>
          </p:pic>
        </p:grpSp>
        <p:pic>
          <p:nvPicPr>
            <p:cNvPr id="232" name="Graphique 231" descr="Bulle de discussion contour">
              <a:extLst>
                <a:ext uri="{FF2B5EF4-FFF2-40B4-BE49-F238E27FC236}">
                  <a16:creationId xmlns:a16="http://schemas.microsoft.com/office/drawing/2014/main" id="{33E1E35E-E8F1-DAE8-5D6F-BF25EB1B8723}"/>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12903" b="12311"/>
            <a:stretch/>
          </p:blipFill>
          <p:spPr>
            <a:xfrm flipH="1">
              <a:off x="9657562" y="3812797"/>
              <a:ext cx="1501399" cy="1188720"/>
            </a:xfrm>
            <a:prstGeom prst="rect">
              <a:avLst/>
            </a:prstGeom>
          </p:spPr>
        </p:pic>
        <p:grpSp>
          <p:nvGrpSpPr>
            <p:cNvPr id="233" name="Groupe 232">
              <a:extLst>
                <a:ext uri="{FF2B5EF4-FFF2-40B4-BE49-F238E27FC236}">
                  <a16:creationId xmlns:a16="http://schemas.microsoft.com/office/drawing/2014/main" id="{8C49A212-FF53-D26A-9D49-DC4B9480891B}"/>
                </a:ext>
              </a:extLst>
            </p:cNvPr>
            <p:cNvGrpSpPr/>
            <p:nvPr/>
          </p:nvGrpSpPr>
          <p:grpSpPr>
            <a:xfrm>
              <a:off x="7954346" y="3871337"/>
              <a:ext cx="1501399" cy="1188720"/>
              <a:chOff x="1733248" y="3784720"/>
              <a:chExt cx="1501399" cy="1188720"/>
            </a:xfrm>
          </p:grpSpPr>
          <p:pic>
            <p:nvPicPr>
              <p:cNvPr id="235" name="Graphique 234" descr="Bulle de discussion contour">
                <a:extLst>
                  <a:ext uri="{FF2B5EF4-FFF2-40B4-BE49-F238E27FC236}">
                    <a16:creationId xmlns:a16="http://schemas.microsoft.com/office/drawing/2014/main" id="{2BBF6146-DD73-DAB3-17B6-FB47AB63E51A}"/>
                  </a:ext>
                </a:extLst>
              </p:cNvPr>
              <p:cNvPicPr>
                <a:picLocks noChangeAspect="1"/>
              </p:cNvPicPr>
              <p:nvPr/>
            </p:nvPicPr>
            <p:blipFill rotWithShape="1">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rcRect t="12801" b="12412"/>
              <a:stretch/>
            </p:blipFill>
            <p:spPr>
              <a:xfrm flipH="1">
                <a:off x="1733248" y="3784720"/>
                <a:ext cx="1501399" cy="1188720"/>
              </a:xfrm>
              <a:prstGeom prst="rect">
                <a:avLst/>
              </a:prstGeom>
            </p:spPr>
          </p:pic>
          <p:sp>
            <p:nvSpPr>
              <p:cNvPr id="236" name="Rectangle 235">
                <a:extLst>
                  <a:ext uri="{FF2B5EF4-FFF2-40B4-BE49-F238E27FC236}">
                    <a16:creationId xmlns:a16="http://schemas.microsoft.com/office/drawing/2014/main" id="{045CAED3-479C-9673-7C42-FA3300763C92}"/>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234" name="Graphique 233" descr="Aide avec un remplissage uni">
              <a:extLst>
                <a:ext uri="{FF2B5EF4-FFF2-40B4-BE49-F238E27FC236}">
                  <a16:creationId xmlns:a16="http://schemas.microsoft.com/office/drawing/2014/main" id="{4B933CBA-2DEC-3275-228C-0D2C12605C0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360689" y="3975365"/>
              <a:ext cx="679669" cy="679669"/>
            </a:xfrm>
            <a:prstGeom prst="rect">
              <a:avLst/>
            </a:prstGeom>
          </p:spPr>
        </p:pic>
      </p:grpSp>
      <p:sp>
        <p:nvSpPr>
          <p:cNvPr id="239" name="Rectangle 238">
            <a:extLst>
              <a:ext uri="{FF2B5EF4-FFF2-40B4-BE49-F238E27FC236}">
                <a16:creationId xmlns:a16="http://schemas.microsoft.com/office/drawing/2014/main" id="{C714EE52-580D-D13D-AA5E-86EDD6021DFB}"/>
              </a:ext>
            </a:extLst>
          </p:cNvPr>
          <p:cNvSpPr/>
          <p:nvPr/>
        </p:nvSpPr>
        <p:spPr>
          <a:xfrm>
            <a:off x="7388585" y="5087028"/>
            <a:ext cx="1492148" cy="84182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50" dirty="0">
                <a:solidFill>
                  <a:schemeClr val="tx1"/>
                </a:solidFill>
              </a:rPr>
              <a:t>📅 Interview de membre / membre potentiel</a:t>
            </a:r>
          </a:p>
        </p:txBody>
      </p:sp>
      <p:grpSp>
        <p:nvGrpSpPr>
          <p:cNvPr id="285" name="Groupe 284">
            <a:extLst>
              <a:ext uri="{FF2B5EF4-FFF2-40B4-BE49-F238E27FC236}">
                <a16:creationId xmlns:a16="http://schemas.microsoft.com/office/drawing/2014/main" id="{60E0D58E-5452-A76C-82A6-306C61ADCD3F}"/>
              </a:ext>
            </a:extLst>
          </p:cNvPr>
          <p:cNvGrpSpPr/>
          <p:nvPr/>
        </p:nvGrpSpPr>
        <p:grpSpPr>
          <a:xfrm>
            <a:off x="905914" y="3965011"/>
            <a:ext cx="1789656" cy="1025741"/>
            <a:chOff x="1335304" y="7985109"/>
            <a:chExt cx="2496424" cy="1430825"/>
          </a:xfrm>
        </p:grpSpPr>
        <p:sp>
          <p:nvSpPr>
            <p:cNvPr id="251" name="Rectangle 250">
              <a:extLst>
                <a:ext uri="{FF2B5EF4-FFF2-40B4-BE49-F238E27FC236}">
                  <a16:creationId xmlns:a16="http://schemas.microsoft.com/office/drawing/2014/main" id="{35919F86-62A5-720C-44E3-CC5EF14A9269}"/>
                </a:ext>
              </a:extLst>
            </p:cNvPr>
            <p:cNvSpPr/>
            <p:nvPr/>
          </p:nvSpPr>
          <p:spPr>
            <a:xfrm>
              <a:off x="1795808" y="8153321"/>
              <a:ext cx="482835" cy="482835"/>
            </a:xfrm>
            <a:prstGeom prst="rect">
              <a:avLst/>
            </a:prstGeom>
            <a:gradFill>
              <a:gsLst>
                <a:gs pos="50000">
                  <a:srgbClr val="ED7D31"/>
                </a:gs>
                <a:gs pos="49000">
                  <a:schemeClr val="bg1">
                    <a:lumMod val="75000"/>
                  </a:schemeClr>
                </a:gs>
                <a:gs pos="100000">
                  <a:srgbClr val="ED7D31"/>
                </a:gs>
                <a:gs pos="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endParaRPr lang="fr-FR" sz="300" b="0" kern="1200" dirty="0"/>
            </a:p>
          </p:txBody>
        </p:sp>
        <p:sp>
          <p:nvSpPr>
            <p:cNvPr id="252" name="Rectangle 251">
              <a:extLst>
                <a:ext uri="{FF2B5EF4-FFF2-40B4-BE49-F238E27FC236}">
                  <a16:creationId xmlns:a16="http://schemas.microsoft.com/office/drawing/2014/main" id="{7959567E-B724-059C-6A2F-8730711F30A0}"/>
                </a:ext>
              </a:extLst>
            </p:cNvPr>
            <p:cNvSpPr/>
            <p:nvPr/>
          </p:nvSpPr>
          <p:spPr>
            <a:xfrm>
              <a:off x="2363139" y="8153321"/>
              <a:ext cx="482835" cy="482835"/>
            </a:xfrm>
            <a:prstGeom prst="rect">
              <a:avLst/>
            </a:prstGeom>
            <a:gradFill>
              <a:gsLst>
                <a:gs pos="50000">
                  <a:srgbClr val="3494BA"/>
                </a:gs>
                <a:gs pos="100000">
                  <a:schemeClr val="bg1">
                    <a:lumMod val="75000"/>
                  </a:schemeClr>
                </a:gs>
                <a:gs pos="0">
                  <a:srgbClr val="3494BA"/>
                </a:gs>
                <a:gs pos="5100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endParaRPr lang="fr-FR" sz="300" dirty="0"/>
            </a:p>
          </p:txBody>
        </p:sp>
        <p:sp>
          <p:nvSpPr>
            <p:cNvPr id="253" name="Rectangle 252">
              <a:extLst>
                <a:ext uri="{FF2B5EF4-FFF2-40B4-BE49-F238E27FC236}">
                  <a16:creationId xmlns:a16="http://schemas.microsoft.com/office/drawing/2014/main" id="{F89D2BA1-CB0A-15BD-C54C-9BC82937D466}"/>
                </a:ext>
              </a:extLst>
            </p:cNvPr>
            <p:cNvSpPr/>
            <p:nvPr/>
          </p:nvSpPr>
          <p:spPr>
            <a:xfrm>
              <a:off x="1795808" y="8720652"/>
              <a:ext cx="482835" cy="482835"/>
            </a:xfrm>
            <a:prstGeom prst="rect">
              <a:avLst/>
            </a:prstGeom>
            <a:solidFill>
              <a:srgbClr val="ED7D31"/>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endParaRPr lang="fr-FR" sz="300" kern="1200" dirty="0"/>
            </a:p>
          </p:txBody>
        </p:sp>
        <p:sp>
          <p:nvSpPr>
            <p:cNvPr id="254" name="Rectangle 253">
              <a:extLst>
                <a:ext uri="{FF2B5EF4-FFF2-40B4-BE49-F238E27FC236}">
                  <a16:creationId xmlns:a16="http://schemas.microsoft.com/office/drawing/2014/main" id="{23655164-5FAE-2880-6567-95865A2518DD}"/>
                </a:ext>
              </a:extLst>
            </p:cNvPr>
            <p:cNvSpPr/>
            <p:nvPr/>
          </p:nvSpPr>
          <p:spPr>
            <a:xfrm>
              <a:off x="2363139" y="8720652"/>
              <a:ext cx="482835" cy="482835"/>
            </a:xfrm>
            <a:prstGeom prst="rect">
              <a:avLst/>
            </a:prstGeom>
            <a:gradFill>
              <a:gsLst>
                <a:gs pos="50000">
                  <a:srgbClr val="ED7D31"/>
                </a:gs>
                <a:gs pos="49000">
                  <a:schemeClr val="bg1">
                    <a:lumMod val="75000"/>
                  </a:schemeClr>
                </a:gs>
                <a:gs pos="100000">
                  <a:srgbClr val="ED7D31"/>
                </a:gs>
                <a:gs pos="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endParaRPr lang="fr-FR" sz="300" dirty="0"/>
            </a:p>
          </p:txBody>
        </p:sp>
        <p:pic>
          <p:nvPicPr>
            <p:cNvPr id="255" name="Image 254" descr="Une image contenant herbe, football, personne, boule&#10;&#10;Description générée automatiquement">
              <a:extLst>
                <a:ext uri="{FF2B5EF4-FFF2-40B4-BE49-F238E27FC236}">
                  <a16:creationId xmlns:a16="http://schemas.microsoft.com/office/drawing/2014/main" id="{D5BEF3AF-175F-40E7-AD5D-FE3CCC3AFF6D}"/>
                </a:ext>
              </a:extLst>
            </p:cNvPr>
            <p:cNvPicPr>
              <a:picLocks noChangeAspect="1"/>
            </p:cNvPicPr>
            <p:nvPr/>
          </p:nvPicPr>
          <p:blipFill>
            <a:blip r:embed="rId14">
              <a:extLst>
                <a:ext uri="{28A0092B-C50C-407E-A947-70E740481C1C}">
                  <a14:useLocalDpi xmlns:a14="http://schemas.microsoft.com/office/drawing/2010/main" val="0"/>
                </a:ext>
                <a:ext uri="{837473B0-CC2E-450A-ABE3-18F120FF3D39}">
                  <a1611:picAttrSrcUrl xmlns:a1611="http://schemas.microsoft.com/office/drawing/2016/11/main" r:id="rId15"/>
                </a:ext>
              </a:extLst>
            </a:blip>
            <a:stretch>
              <a:fillRect/>
            </a:stretch>
          </p:blipFill>
          <p:spPr>
            <a:xfrm>
              <a:off x="1861124" y="9173900"/>
              <a:ext cx="352202" cy="228166"/>
            </a:xfrm>
            <a:prstGeom prst="rect">
              <a:avLst/>
            </a:prstGeom>
          </p:spPr>
        </p:pic>
        <p:pic>
          <p:nvPicPr>
            <p:cNvPr id="256" name="Image 255" descr="Une image contenant texte&#10;&#10;Description générée automatiquement">
              <a:extLst>
                <a:ext uri="{FF2B5EF4-FFF2-40B4-BE49-F238E27FC236}">
                  <a16:creationId xmlns:a16="http://schemas.microsoft.com/office/drawing/2014/main" id="{BF920BA6-DC0B-87C2-2F87-46FE94D2861E}"/>
                </a:ext>
              </a:extLst>
            </p:cNvPr>
            <p:cNvPicPr>
              <a:picLocks noChangeAspect="1"/>
            </p:cNvPicPr>
            <p:nvPr/>
          </p:nvPicPr>
          <p:blipFill>
            <a:blip r:embed="rId16">
              <a:extLst>
                <a:ext uri="{28A0092B-C50C-407E-A947-70E740481C1C}">
                  <a14:useLocalDpi xmlns:a14="http://schemas.microsoft.com/office/drawing/2010/main" val="0"/>
                </a:ext>
                <a:ext uri="{837473B0-CC2E-450A-ABE3-18F120FF3D39}">
                  <a1611:picAttrSrcUrl xmlns:a1611="http://schemas.microsoft.com/office/drawing/2016/11/main" r:id="rId17"/>
                </a:ext>
              </a:extLst>
            </a:blip>
            <a:stretch>
              <a:fillRect/>
            </a:stretch>
          </p:blipFill>
          <p:spPr>
            <a:xfrm>
              <a:off x="2414485" y="7985109"/>
              <a:ext cx="376644" cy="223723"/>
            </a:xfrm>
            <a:prstGeom prst="rect">
              <a:avLst/>
            </a:prstGeom>
          </p:spPr>
        </p:pic>
        <p:pic>
          <p:nvPicPr>
            <p:cNvPr id="257" name="Image 256" descr="Une image contenant personne, intérieur, ordinateur, table&#10;&#10;Description générée automatiquement">
              <a:extLst>
                <a:ext uri="{FF2B5EF4-FFF2-40B4-BE49-F238E27FC236}">
                  <a16:creationId xmlns:a16="http://schemas.microsoft.com/office/drawing/2014/main" id="{B25285DA-B1E4-3100-839E-BBA71F567097}"/>
                </a:ext>
              </a:extLst>
            </p:cNvPr>
            <p:cNvPicPr>
              <a:picLocks noChangeAspect="1"/>
            </p:cNvPicPr>
            <p:nvPr/>
          </p:nvPicPr>
          <p:blipFill>
            <a:blip r:embed="rId18">
              <a:extLst>
                <a:ext uri="{28A0092B-C50C-407E-A947-70E740481C1C}">
                  <a14:useLocalDpi xmlns:a14="http://schemas.microsoft.com/office/drawing/2010/main" val="0"/>
                </a:ext>
                <a:ext uri="{837473B0-CC2E-450A-ABE3-18F120FF3D39}">
                  <a1611:picAttrSrcUrl xmlns:a1611="http://schemas.microsoft.com/office/drawing/2016/11/main" r:id="rId19"/>
                </a:ext>
              </a:extLst>
            </a:blip>
            <a:stretch>
              <a:fillRect/>
            </a:stretch>
          </p:blipFill>
          <p:spPr>
            <a:xfrm>
              <a:off x="2419828" y="9161367"/>
              <a:ext cx="381851" cy="254567"/>
            </a:xfrm>
            <a:prstGeom prst="rect">
              <a:avLst/>
            </a:prstGeom>
          </p:spPr>
        </p:pic>
        <p:pic>
          <p:nvPicPr>
            <p:cNvPr id="262" name="Image 261" descr="Une image contenant personne, debout, intérieur, gens&#10;&#10;Description générée automatiquement">
              <a:extLst>
                <a:ext uri="{FF2B5EF4-FFF2-40B4-BE49-F238E27FC236}">
                  <a16:creationId xmlns:a16="http://schemas.microsoft.com/office/drawing/2014/main" id="{0E9902F9-D7BB-4784-E40E-8B547F89340F}"/>
                </a:ext>
              </a:extLst>
            </p:cNvPr>
            <p:cNvPicPr>
              <a:picLocks noChangeAspect="1"/>
            </p:cNvPicPr>
            <p:nvPr/>
          </p:nvPicPr>
          <p:blipFill rotWithShape="1">
            <a:blip r:embed="rId20">
              <a:extLst>
                <a:ext uri="{28A0092B-C50C-407E-A947-70E740481C1C}">
                  <a14:useLocalDpi xmlns:a14="http://schemas.microsoft.com/office/drawing/2010/main" val="0"/>
                </a:ext>
                <a:ext uri="{837473B0-CC2E-450A-ABE3-18F120FF3D39}">
                  <a1611:picAttrSrcUrl xmlns:a1611="http://schemas.microsoft.com/office/drawing/2016/11/main" r:id="rId21"/>
                </a:ext>
              </a:extLst>
            </a:blip>
            <a:srcRect t="3183"/>
            <a:stretch/>
          </p:blipFill>
          <p:spPr>
            <a:xfrm>
              <a:off x="1858337" y="7989001"/>
              <a:ext cx="364617" cy="216603"/>
            </a:xfrm>
            <a:prstGeom prst="rect">
              <a:avLst/>
            </a:prstGeom>
          </p:spPr>
        </p:pic>
        <p:sp>
          <p:nvSpPr>
            <p:cNvPr id="263" name="Flèche : double flèche horizontale 262">
              <a:extLst>
                <a:ext uri="{FF2B5EF4-FFF2-40B4-BE49-F238E27FC236}">
                  <a16:creationId xmlns:a16="http://schemas.microsoft.com/office/drawing/2014/main" id="{DCF31111-A0D5-02C9-4590-C03F916B9B84}"/>
                </a:ext>
              </a:extLst>
            </p:cNvPr>
            <p:cNvSpPr/>
            <p:nvPr/>
          </p:nvSpPr>
          <p:spPr>
            <a:xfrm>
              <a:off x="1739095" y="8628928"/>
              <a:ext cx="1743165" cy="98951"/>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400" dirty="0"/>
            </a:p>
          </p:txBody>
        </p:sp>
        <p:sp>
          <p:nvSpPr>
            <p:cNvPr id="264" name="Flèche : double flèche horizontale 263">
              <a:extLst>
                <a:ext uri="{FF2B5EF4-FFF2-40B4-BE49-F238E27FC236}">
                  <a16:creationId xmlns:a16="http://schemas.microsoft.com/office/drawing/2014/main" id="{E5127A78-C6CC-B4D4-D71B-B7D14B45C485}"/>
                </a:ext>
              </a:extLst>
            </p:cNvPr>
            <p:cNvSpPr/>
            <p:nvPr/>
          </p:nvSpPr>
          <p:spPr>
            <a:xfrm rot="5400000">
              <a:off x="1728431" y="8634497"/>
              <a:ext cx="1189184" cy="98951"/>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400" dirty="0"/>
            </a:p>
          </p:txBody>
        </p:sp>
        <p:sp>
          <p:nvSpPr>
            <p:cNvPr id="265" name="Flèche : double flèche horizontale 264">
              <a:extLst>
                <a:ext uri="{FF2B5EF4-FFF2-40B4-BE49-F238E27FC236}">
                  <a16:creationId xmlns:a16="http://schemas.microsoft.com/office/drawing/2014/main" id="{F77E5A80-27A9-5402-9EFF-21A07C2FF206}"/>
                </a:ext>
              </a:extLst>
            </p:cNvPr>
            <p:cNvSpPr/>
            <p:nvPr/>
          </p:nvSpPr>
          <p:spPr>
            <a:xfrm rot="5400000">
              <a:off x="2288260" y="8634497"/>
              <a:ext cx="1189184" cy="98951"/>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400" dirty="0"/>
            </a:p>
          </p:txBody>
        </p:sp>
        <p:sp>
          <p:nvSpPr>
            <p:cNvPr id="266" name="Rectangle 265">
              <a:extLst>
                <a:ext uri="{FF2B5EF4-FFF2-40B4-BE49-F238E27FC236}">
                  <a16:creationId xmlns:a16="http://schemas.microsoft.com/office/drawing/2014/main" id="{D0003343-A095-6F18-9BD6-3BB69982F8B0}"/>
                </a:ext>
              </a:extLst>
            </p:cNvPr>
            <p:cNvSpPr/>
            <p:nvPr/>
          </p:nvSpPr>
          <p:spPr>
            <a:xfrm>
              <a:off x="2924435" y="8153321"/>
              <a:ext cx="482835" cy="482835"/>
            </a:xfrm>
            <a:prstGeom prst="rect">
              <a:avLst/>
            </a:prstGeom>
            <a:solidFill>
              <a:srgbClr val="3494BA"/>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endParaRPr lang="fr-FR" sz="300" kern="1200" dirty="0"/>
            </a:p>
          </p:txBody>
        </p:sp>
        <p:sp>
          <p:nvSpPr>
            <p:cNvPr id="267" name="Rectangle 266">
              <a:extLst>
                <a:ext uri="{FF2B5EF4-FFF2-40B4-BE49-F238E27FC236}">
                  <a16:creationId xmlns:a16="http://schemas.microsoft.com/office/drawing/2014/main" id="{BEEE3F0B-5DF0-EA9D-F75D-A0CCEBEAE71D}"/>
                </a:ext>
              </a:extLst>
            </p:cNvPr>
            <p:cNvSpPr/>
            <p:nvPr/>
          </p:nvSpPr>
          <p:spPr>
            <a:xfrm>
              <a:off x="2924435" y="8720652"/>
              <a:ext cx="482835" cy="482835"/>
            </a:xfrm>
            <a:prstGeom prst="rect">
              <a:avLst/>
            </a:prstGeom>
            <a:gradFill>
              <a:gsLst>
                <a:gs pos="50000">
                  <a:srgbClr val="3494BA"/>
                </a:gs>
                <a:gs pos="100000">
                  <a:schemeClr val="bg1">
                    <a:lumMod val="75000"/>
                  </a:schemeClr>
                </a:gs>
                <a:gs pos="0">
                  <a:srgbClr val="3494BA"/>
                </a:gs>
                <a:gs pos="5100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endParaRPr lang="fr-FR" sz="300" dirty="0"/>
            </a:p>
          </p:txBody>
        </p:sp>
        <p:pic>
          <p:nvPicPr>
            <p:cNvPr id="269" name="Image 268" descr="Une image contenant fermer, outil, argent&#10;&#10;Description générée automatiquement">
              <a:extLst>
                <a:ext uri="{FF2B5EF4-FFF2-40B4-BE49-F238E27FC236}">
                  <a16:creationId xmlns:a16="http://schemas.microsoft.com/office/drawing/2014/main" id="{CAE253C9-EA9E-82B4-B96A-8C8119F4A404}"/>
                </a:ext>
              </a:extLst>
            </p:cNvPr>
            <p:cNvPicPr>
              <a:picLocks noChangeAspect="1"/>
            </p:cNvPicPr>
            <p:nvPr/>
          </p:nvPicPr>
          <p:blipFill>
            <a:blip r:embed="rId22" cstate="email">
              <a:extLst>
                <a:ext uri="{28A0092B-C50C-407E-A947-70E740481C1C}">
                  <a14:useLocalDpi xmlns:a14="http://schemas.microsoft.com/office/drawing/2010/main"/>
                </a:ext>
                <a:ext uri="{837473B0-CC2E-450A-ABE3-18F120FF3D39}">
                  <a1611:picAttrSrcUrl xmlns:a1611="http://schemas.microsoft.com/office/drawing/2016/11/main" r:id="rId23"/>
                </a:ext>
              </a:extLst>
            </a:blip>
            <a:stretch>
              <a:fillRect/>
            </a:stretch>
          </p:blipFill>
          <p:spPr>
            <a:xfrm>
              <a:off x="3000812" y="8005283"/>
              <a:ext cx="330081" cy="175752"/>
            </a:xfrm>
            <a:prstGeom prst="rect">
              <a:avLst/>
            </a:prstGeom>
          </p:spPr>
        </p:pic>
        <p:pic>
          <p:nvPicPr>
            <p:cNvPr id="270" name="Image 269">
              <a:extLst>
                <a:ext uri="{FF2B5EF4-FFF2-40B4-BE49-F238E27FC236}">
                  <a16:creationId xmlns:a16="http://schemas.microsoft.com/office/drawing/2014/main" id="{3D6F3802-FCA8-3EB5-A7A0-8029A6BD3E8C}"/>
                </a:ext>
              </a:extLst>
            </p:cNvPr>
            <p:cNvPicPr>
              <a:picLocks noChangeAspect="1"/>
            </p:cNvPicPr>
            <p:nvPr/>
          </p:nvPicPr>
          <p:blipFill>
            <a:blip r:embed="rId24" cstate="email">
              <a:extLst>
                <a:ext uri="{28A0092B-C50C-407E-A947-70E740481C1C}">
                  <a14:useLocalDpi xmlns:a14="http://schemas.microsoft.com/office/drawing/2010/main"/>
                </a:ext>
                <a:ext uri="{837473B0-CC2E-450A-ABE3-18F120FF3D39}">
                  <a1611:picAttrSrcUrl xmlns:a1611="http://schemas.microsoft.com/office/drawing/2016/11/main" r:id="rId25"/>
                </a:ext>
              </a:extLst>
            </a:blip>
            <a:stretch>
              <a:fillRect/>
            </a:stretch>
          </p:blipFill>
          <p:spPr>
            <a:xfrm>
              <a:off x="2974927" y="9183951"/>
              <a:ext cx="381851" cy="214791"/>
            </a:xfrm>
            <a:prstGeom prst="rect">
              <a:avLst/>
            </a:prstGeom>
          </p:spPr>
        </p:pic>
        <p:pic>
          <p:nvPicPr>
            <p:cNvPr id="271" name="Graphique 270" descr="Bâtiment avec un remplissage uni">
              <a:extLst>
                <a:ext uri="{FF2B5EF4-FFF2-40B4-BE49-F238E27FC236}">
                  <a16:creationId xmlns:a16="http://schemas.microsoft.com/office/drawing/2014/main" id="{A67CBD95-9C50-361B-2F53-3293A6D485E4}"/>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3370338" y="8462939"/>
              <a:ext cx="461390" cy="461390"/>
            </a:xfrm>
            <a:prstGeom prst="rect">
              <a:avLst/>
            </a:prstGeom>
          </p:spPr>
        </p:pic>
        <p:grpSp>
          <p:nvGrpSpPr>
            <p:cNvPr id="272" name="Groupe 271">
              <a:extLst>
                <a:ext uri="{FF2B5EF4-FFF2-40B4-BE49-F238E27FC236}">
                  <a16:creationId xmlns:a16="http://schemas.microsoft.com/office/drawing/2014/main" id="{49051548-CB23-2D87-5654-7B3F4073E345}"/>
                </a:ext>
              </a:extLst>
            </p:cNvPr>
            <p:cNvGrpSpPr/>
            <p:nvPr/>
          </p:nvGrpSpPr>
          <p:grpSpPr>
            <a:xfrm>
              <a:off x="1335304" y="8487766"/>
              <a:ext cx="403791" cy="340428"/>
              <a:chOff x="8982504" y="3274976"/>
              <a:chExt cx="1230670" cy="1037553"/>
            </a:xfrm>
            <a:solidFill>
              <a:srgbClr val="ED7D31"/>
            </a:solidFill>
          </p:grpSpPr>
          <p:pic>
            <p:nvPicPr>
              <p:cNvPr id="273" name="Graphique 272" descr="Utilisateur avec un remplissage uni">
                <a:extLst>
                  <a:ext uri="{FF2B5EF4-FFF2-40B4-BE49-F238E27FC236}">
                    <a16:creationId xmlns:a16="http://schemas.microsoft.com/office/drawing/2014/main" id="{5A462C9F-F3F1-353E-9D86-388105DEE2B3}"/>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301028" y="3274976"/>
                <a:ext cx="336064" cy="336064"/>
              </a:xfrm>
              <a:prstGeom prst="rect">
                <a:avLst/>
              </a:prstGeom>
            </p:spPr>
          </p:pic>
          <p:pic>
            <p:nvPicPr>
              <p:cNvPr id="274" name="Graphique 273" descr="Utilisateur avec un remplissage uni">
                <a:extLst>
                  <a:ext uri="{FF2B5EF4-FFF2-40B4-BE49-F238E27FC236}">
                    <a16:creationId xmlns:a16="http://schemas.microsoft.com/office/drawing/2014/main" id="{A1DB283C-28FA-7880-D77A-F536E5F070C0}"/>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054140" y="3512720"/>
                <a:ext cx="336064" cy="336064"/>
              </a:xfrm>
              <a:prstGeom prst="rect">
                <a:avLst/>
              </a:prstGeom>
            </p:spPr>
          </p:pic>
          <p:pic>
            <p:nvPicPr>
              <p:cNvPr id="275" name="Graphique 274" descr="Utilisateur avec un remplissage uni">
                <a:extLst>
                  <a:ext uri="{FF2B5EF4-FFF2-40B4-BE49-F238E27FC236}">
                    <a16:creationId xmlns:a16="http://schemas.microsoft.com/office/drawing/2014/main" id="{870BE9AA-A2AB-8BD2-C413-50AB95B18F96}"/>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345616" y="3561880"/>
                <a:ext cx="336064" cy="336064"/>
              </a:xfrm>
              <a:prstGeom prst="rect">
                <a:avLst/>
              </a:prstGeom>
            </p:spPr>
          </p:pic>
          <p:pic>
            <p:nvPicPr>
              <p:cNvPr id="276" name="Graphique 275" descr="Utilisateur avec un remplissage uni">
                <a:extLst>
                  <a:ext uri="{FF2B5EF4-FFF2-40B4-BE49-F238E27FC236}">
                    <a16:creationId xmlns:a16="http://schemas.microsoft.com/office/drawing/2014/main" id="{3B299AC9-B64D-9707-8ED4-9525AEC6EB5E}"/>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592504" y="3418428"/>
                <a:ext cx="336064" cy="336064"/>
              </a:xfrm>
              <a:prstGeom prst="rect">
                <a:avLst/>
              </a:prstGeom>
            </p:spPr>
          </p:pic>
          <p:pic>
            <p:nvPicPr>
              <p:cNvPr id="277" name="Graphique 276" descr="Utilisateur avec un remplissage uni">
                <a:extLst>
                  <a:ext uri="{FF2B5EF4-FFF2-40B4-BE49-F238E27FC236}">
                    <a16:creationId xmlns:a16="http://schemas.microsoft.com/office/drawing/2014/main" id="{F559712D-1B27-6C66-2AE3-3A27A3F0D506}"/>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635196" y="3680752"/>
                <a:ext cx="336064" cy="336064"/>
              </a:xfrm>
              <a:prstGeom prst="rect">
                <a:avLst/>
              </a:prstGeom>
            </p:spPr>
          </p:pic>
          <p:pic>
            <p:nvPicPr>
              <p:cNvPr id="278" name="Graphique 277" descr="Utilisateur avec un remplissage uni">
                <a:extLst>
                  <a:ext uri="{FF2B5EF4-FFF2-40B4-BE49-F238E27FC236}">
                    <a16:creationId xmlns:a16="http://schemas.microsoft.com/office/drawing/2014/main" id="{FBCC5479-823C-EEF7-20CF-0433F5D59933}"/>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256440" y="3848784"/>
                <a:ext cx="336064" cy="336064"/>
              </a:xfrm>
              <a:prstGeom prst="rect">
                <a:avLst/>
              </a:prstGeom>
            </p:spPr>
          </p:pic>
          <p:pic>
            <p:nvPicPr>
              <p:cNvPr id="279" name="Graphique 278" descr="Utilisateur avec un remplissage uni">
                <a:extLst>
                  <a:ext uri="{FF2B5EF4-FFF2-40B4-BE49-F238E27FC236}">
                    <a16:creationId xmlns:a16="http://schemas.microsoft.com/office/drawing/2014/main" id="{E12564B9-50D5-5207-640F-114D88F9BAA7}"/>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8982504" y="3835028"/>
                <a:ext cx="336064" cy="336064"/>
              </a:xfrm>
              <a:prstGeom prst="rect">
                <a:avLst/>
              </a:prstGeom>
            </p:spPr>
          </p:pic>
          <p:pic>
            <p:nvPicPr>
              <p:cNvPr id="280" name="Graphique 279" descr="Utilisateur avec un remplissage uni">
                <a:extLst>
                  <a:ext uri="{FF2B5EF4-FFF2-40B4-BE49-F238E27FC236}">
                    <a16:creationId xmlns:a16="http://schemas.microsoft.com/office/drawing/2014/main" id="{A1824F27-4356-75BB-69F8-0F9F18730110}"/>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520868" y="3943076"/>
                <a:ext cx="336064" cy="336064"/>
              </a:xfrm>
              <a:prstGeom prst="rect">
                <a:avLst/>
              </a:prstGeom>
            </p:spPr>
          </p:pic>
          <p:pic>
            <p:nvPicPr>
              <p:cNvPr id="281" name="Graphique 280" descr="Utilisateur avec un remplissage uni">
                <a:extLst>
                  <a:ext uri="{FF2B5EF4-FFF2-40B4-BE49-F238E27FC236}">
                    <a16:creationId xmlns:a16="http://schemas.microsoft.com/office/drawing/2014/main" id="{AA8DFAA8-9D66-D3C7-9BD8-AC2CD45EE638}"/>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742772" y="3976465"/>
                <a:ext cx="336064" cy="336064"/>
              </a:xfrm>
              <a:prstGeom prst="rect">
                <a:avLst/>
              </a:prstGeom>
            </p:spPr>
          </p:pic>
          <p:pic>
            <p:nvPicPr>
              <p:cNvPr id="282" name="Graphique 281" descr="Utilisateur avec un remplissage uni">
                <a:extLst>
                  <a:ext uri="{FF2B5EF4-FFF2-40B4-BE49-F238E27FC236}">
                    <a16:creationId xmlns:a16="http://schemas.microsoft.com/office/drawing/2014/main" id="{2CC6B809-8722-B016-5B1D-2ED0EF6606CF}"/>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877110" y="3705332"/>
                <a:ext cx="336064" cy="336064"/>
              </a:xfrm>
              <a:prstGeom prst="rect">
                <a:avLst/>
              </a:prstGeom>
            </p:spPr>
          </p:pic>
          <p:pic>
            <p:nvPicPr>
              <p:cNvPr id="283" name="Graphique 282" descr="Utilisateur avec un remplissage uni">
                <a:extLst>
                  <a:ext uri="{FF2B5EF4-FFF2-40B4-BE49-F238E27FC236}">
                    <a16:creationId xmlns:a16="http://schemas.microsoft.com/office/drawing/2014/main" id="{1AF9E4E9-446B-FA68-D99C-EDE575C0E9F9}"/>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856932" y="3429000"/>
                <a:ext cx="336064" cy="336064"/>
              </a:xfrm>
              <a:prstGeom prst="rect">
                <a:avLst/>
              </a:prstGeom>
            </p:spPr>
          </p:pic>
        </p:grpSp>
      </p:grpSp>
      <p:sp>
        <p:nvSpPr>
          <p:cNvPr id="286" name="Rectangle 285">
            <a:extLst>
              <a:ext uri="{FF2B5EF4-FFF2-40B4-BE49-F238E27FC236}">
                <a16:creationId xmlns:a16="http://schemas.microsoft.com/office/drawing/2014/main" id="{81A9DDBD-0E39-C828-455D-BE273FB6E188}"/>
              </a:ext>
            </a:extLst>
          </p:cNvPr>
          <p:cNvSpPr/>
          <p:nvPr/>
        </p:nvSpPr>
        <p:spPr>
          <a:xfrm>
            <a:off x="1111593" y="5087028"/>
            <a:ext cx="1492148" cy="84182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50" dirty="0">
                <a:solidFill>
                  <a:schemeClr val="tx1"/>
                </a:solidFill>
              </a:rPr>
              <a:t>📅 Identifier « Pour qui serait la valeur » d’une éventuelle communauté</a:t>
            </a:r>
          </a:p>
        </p:txBody>
      </p:sp>
      <p:sp>
        <p:nvSpPr>
          <p:cNvPr id="288" name="Rectangle 287">
            <a:extLst>
              <a:ext uri="{FF2B5EF4-FFF2-40B4-BE49-F238E27FC236}">
                <a16:creationId xmlns:a16="http://schemas.microsoft.com/office/drawing/2014/main" id="{AF3C90AC-6B35-6C47-8BFD-748F1E58C3D1}"/>
              </a:ext>
            </a:extLst>
          </p:cNvPr>
          <p:cNvSpPr/>
          <p:nvPr/>
        </p:nvSpPr>
        <p:spPr>
          <a:xfrm>
            <a:off x="5302340" y="5087028"/>
            <a:ext cx="1492148" cy="84182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50" dirty="0">
                <a:solidFill>
                  <a:schemeClr val="tx1"/>
                </a:solidFill>
              </a:rPr>
              <a:t>Evaluer l’intérêt de l’approche Communauté vs réunion vs individus</a:t>
            </a:r>
          </a:p>
        </p:txBody>
      </p:sp>
      <p:grpSp>
        <p:nvGrpSpPr>
          <p:cNvPr id="514" name="Groupe 513">
            <a:extLst>
              <a:ext uri="{FF2B5EF4-FFF2-40B4-BE49-F238E27FC236}">
                <a16:creationId xmlns:a16="http://schemas.microsoft.com/office/drawing/2014/main" id="{8E640B1D-57FE-81BF-B716-295B7BEF7A2A}"/>
              </a:ext>
            </a:extLst>
          </p:cNvPr>
          <p:cNvGrpSpPr/>
          <p:nvPr/>
        </p:nvGrpSpPr>
        <p:grpSpPr>
          <a:xfrm>
            <a:off x="5812370" y="3942842"/>
            <a:ext cx="383193" cy="1087661"/>
            <a:chOff x="1500930" y="1591637"/>
            <a:chExt cx="1797259" cy="5101368"/>
          </a:xfrm>
        </p:grpSpPr>
        <p:sp>
          <p:nvSpPr>
            <p:cNvPr id="289" name="Flèche : double flèche horizontale 288">
              <a:extLst>
                <a:ext uri="{FF2B5EF4-FFF2-40B4-BE49-F238E27FC236}">
                  <a16:creationId xmlns:a16="http://schemas.microsoft.com/office/drawing/2014/main" id="{7E0A462D-098D-A569-86C0-9A69CECF5F95}"/>
                </a:ext>
              </a:extLst>
            </p:cNvPr>
            <p:cNvSpPr/>
            <p:nvPr/>
          </p:nvSpPr>
          <p:spPr>
            <a:xfrm rot="5400000">
              <a:off x="-835531" y="3928098"/>
              <a:ext cx="5060060" cy="387138"/>
            </a:xfrm>
            <a:prstGeom prst="lef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90" name="Groupe 289">
              <a:extLst>
                <a:ext uri="{FF2B5EF4-FFF2-40B4-BE49-F238E27FC236}">
                  <a16:creationId xmlns:a16="http://schemas.microsoft.com/office/drawing/2014/main" id="{D6F675C1-3FED-2333-2DEA-97A4E985052C}"/>
                </a:ext>
              </a:extLst>
            </p:cNvPr>
            <p:cNvGrpSpPr/>
            <p:nvPr/>
          </p:nvGrpSpPr>
          <p:grpSpPr>
            <a:xfrm>
              <a:off x="1791054" y="1860085"/>
              <a:ext cx="1507135" cy="1270634"/>
              <a:chOff x="8982504" y="3274976"/>
              <a:chExt cx="1230670" cy="1037553"/>
            </a:xfrm>
            <a:solidFill>
              <a:srgbClr val="ED7D31"/>
            </a:solidFill>
          </p:grpSpPr>
          <p:pic>
            <p:nvPicPr>
              <p:cNvPr id="291" name="Graphique 290" descr="Utilisateur avec un remplissage uni">
                <a:extLst>
                  <a:ext uri="{FF2B5EF4-FFF2-40B4-BE49-F238E27FC236}">
                    <a16:creationId xmlns:a16="http://schemas.microsoft.com/office/drawing/2014/main" id="{70E6240D-0A87-A875-334E-2416FC233706}"/>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301028" y="3274976"/>
                <a:ext cx="336064" cy="336064"/>
              </a:xfrm>
              <a:prstGeom prst="rect">
                <a:avLst/>
              </a:prstGeom>
            </p:spPr>
          </p:pic>
          <p:pic>
            <p:nvPicPr>
              <p:cNvPr id="292" name="Graphique 291" descr="Utilisateur avec un remplissage uni">
                <a:extLst>
                  <a:ext uri="{FF2B5EF4-FFF2-40B4-BE49-F238E27FC236}">
                    <a16:creationId xmlns:a16="http://schemas.microsoft.com/office/drawing/2014/main" id="{B3A39FDE-DAEC-9EB9-58CF-CB5B5D3CB35A}"/>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054140" y="3512720"/>
                <a:ext cx="336064" cy="336064"/>
              </a:xfrm>
              <a:prstGeom prst="rect">
                <a:avLst/>
              </a:prstGeom>
            </p:spPr>
          </p:pic>
          <p:pic>
            <p:nvPicPr>
              <p:cNvPr id="293" name="Graphique 292" descr="Utilisateur avec un remplissage uni">
                <a:extLst>
                  <a:ext uri="{FF2B5EF4-FFF2-40B4-BE49-F238E27FC236}">
                    <a16:creationId xmlns:a16="http://schemas.microsoft.com/office/drawing/2014/main" id="{1678343E-161E-FED5-90D3-26BFA8C6F8D2}"/>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345616" y="3561880"/>
                <a:ext cx="336064" cy="336064"/>
              </a:xfrm>
              <a:prstGeom prst="rect">
                <a:avLst/>
              </a:prstGeom>
            </p:spPr>
          </p:pic>
          <p:pic>
            <p:nvPicPr>
              <p:cNvPr id="294" name="Graphique 293" descr="Utilisateur avec un remplissage uni">
                <a:extLst>
                  <a:ext uri="{FF2B5EF4-FFF2-40B4-BE49-F238E27FC236}">
                    <a16:creationId xmlns:a16="http://schemas.microsoft.com/office/drawing/2014/main" id="{E166617E-131B-19AC-19CA-FC17214EBA89}"/>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592504" y="3418428"/>
                <a:ext cx="336064" cy="336064"/>
              </a:xfrm>
              <a:prstGeom prst="rect">
                <a:avLst/>
              </a:prstGeom>
            </p:spPr>
          </p:pic>
          <p:pic>
            <p:nvPicPr>
              <p:cNvPr id="295" name="Graphique 294" descr="Utilisateur avec un remplissage uni">
                <a:extLst>
                  <a:ext uri="{FF2B5EF4-FFF2-40B4-BE49-F238E27FC236}">
                    <a16:creationId xmlns:a16="http://schemas.microsoft.com/office/drawing/2014/main" id="{264756E2-1B5E-D818-689D-81DC3BC68745}"/>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635196" y="3680752"/>
                <a:ext cx="336064" cy="336064"/>
              </a:xfrm>
              <a:prstGeom prst="rect">
                <a:avLst/>
              </a:prstGeom>
            </p:spPr>
          </p:pic>
          <p:pic>
            <p:nvPicPr>
              <p:cNvPr id="296" name="Graphique 295" descr="Utilisateur avec un remplissage uni">
                <a:extLst>
                  <a:ext uri="{FF2B5EF4-FFF2-40B4-BE49-F238E27FC236}">
                    <a16:creationId xmlns:a16="http://schemas.microsoft.com/office/drawing/2014/main" id="{52F79D76-F558-4BBD-1B6C-FC7F7E3B262F}"/>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256440" y="3848784"/>
                <a:ext cx="336064" cy="336064"/>
              </a:xfrm>
              <a:prstGeom prst="rect">
                <a:avLst/>
              </a:prstGeom>
            </p:spPr>
          </p:pic>
          <p:pic>
            <p:nvPicPr>
              <p:cNvPr id="297" name="Graphique 296" descr="Utilisateur avec un remplissage uni">
                <a:extLst>
                  <a:ext uri="{FF2B5EF4-FFF2-40B4-BE49-F238E27FC236}">
                    <a16:creationId xmlns:a16="http://schemas.microsoft.com/office/drawing/2014/main" id="{57092256-BFD1-C987-844F-EBEA05D89A97}"/>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8982504" y="3835028"/>
                <a:ext cx="336064" cy="336064"/>
              </a:xfrm>
              <a:prstGeom prst="rect">
                <a:avLst/>
              </a:prstGeom>
            </p:spPr>
          </p:pic>
          <p:pic>
            <p:nvPicPr>
              <p:cNvPr id="298" name="Graphique 297" descr="Utilisateur avec un remplissage uni">
                <a:extLst>
                  <a:ext uri="{FF2B5EF4-FFF2-40B4-BE49-F238E27FC236}">
                    <a16:creationId xmlns:a16="http://schemas.microsoft.com/office/drawing/2014/main" id="{1CD7340D-5128-B763-5A03-5D382982E405}"/>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520868" y="3943076"/>
                <a:ext cx="336064" cy="336064"/>
              </a:xfrm>
              <a:prstGeom prst="rect">
                <a:avLst/>
              </a:prstGeom>
            </p:spPr>
          </p:pic>
          <p:pic>
            <p:nvPicPr>
              <p:cNvPr id="299" name="Graphique 298" descr="Utilisateur avec un remplissage uni">
                <a:extLst>
                  <a:ext uri="{FF2B5EF4-FFF2-40B4-BE49-F238E27FC236}">
                    <a16:creationId xmlns:a16="http://schemas.microsoft.com/office/drawing/2014/main" id="{CEC12934-7B79-E51C-E333-84C38924EEB6}"/>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742772" y="3976465"/>
                <a:ext cx="336064" cy="336064"/>
              </a:xfrm>
              <a:prstGeom prst="rect">
                <a:avLst/>
              </a:prstGeom>
            </p:spPr>
          </p:pic>
          <p:pic>
            <p:nvPicPr>
              <p:cNvPr id="393" name="Graphique 392" descr="Utilisateur avec un remplissage uni">
                <a:extLst>
                  <a:ext uri="{FF2B5EF4-FFF2-40B4-BE49-F238E27FC236}">
                    <a16:creationId xmlns:a16="http://schemas.microsoft.com/office/drawing/2014/main" id="{C06ED296-8EB7-6142-6162-294A423CFCFE}"/>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877110" y="3705332"/>
                <a:ext cx="336064" cy="336064"/>
              </a:xfrm>
              <a:prstGeom prst="rect">
                <a:avLst/>
              </a:prstGeom>
            </p:spPr>
          </p:pic>
          <p:pic>
            <p:nvPicPr>
              <p:cNvPr id="395" name="Graphique 394" descr="Utilisateur avec un remplissage uni">
                <a:extLst>
                  <a:ext uri="{FF2B5EF4-FFF2-40B4-BE49-F238E27FC236}">
                    <a16:creationId xmlns:a16="http://schemas.microsoft.com/office/drawing/2014/main" id="{C67C18BA-CE3E-D90F-480F-0C290728B8CB}"/>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856932" y="3429000"/>
                <a:ext cx="336064" cy="336064"/>
              </a:xfrm>
              <a:prstGeom prst="rect">
                <a:avLst/>
              </a:prstGeom>
            </p:spPr>
          </p:pic>
        </p:grpSp>
        <p:pic>
          <p:nvPicPr>
            <p:cNvPr id="402" name="Graphique 401" descr="Utilisateur avec un remplissage uni">
              <a:extLst>
                <a:ext uri="{FF2B5EF4-FFF2-40B4-BE49-F238E27FC236}">
                  <a16:creationId xmlns:a16="http://schemas.microsoft.com/office/drawing/2014/main" id="{EB4CF6C0-5EE8-65D1-FF30-78A82594AE5D}"/>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1824179" y="5582168"/>
              <a:ext cx="411559" cy="411559"/>
            </a:xfrm>
            <a:prstGeom prst="rect">
              <a:avLst/>
            </a:prstGeom>
          </p:spPr>
        </p:pic>
        <p:grpSp>
          <p:nvGrpSpPr>
            <p:cNvPr id="404" name="Groupe 403">
              <a:extLst>
                <a:ext uri="{FF2B5EF4-FFF2-40B4-BE49-F238E27FC236}">
                  <a16:creationId xmlns:a16="http://schemas.microsoft.com/office/drawing/2014/main" id="{6505609B-B822-AC77-90A0-A425336617BD}"/>
                </a:ext>
              </a:extLst>
            </p:cNvPr>
            <p:cNvGrpSpPr/>
            <p:nvPr/>
          </p:nvGrpSpPr>
          <p:grpSpPr>
            <a:xfrm>
              <a:off x="1830713" y="3656787"/>
              <a:ext cx="1062451" cy="1094956"/>
              <a:chOff x="9345616" y="3418428"/>
              <a:chExt cx="867558" cy="894101"/>
            </a:xfrm>
            <a:solidFill>
              <a:srgbClr val="ED7D31"/>
            </a:solidFill>
          </p:grpSpPr>
          <p:pic>
            <p:nvPicPr>
              <p:cNvPr id="411" name="Graphique 410" descr="Utilisateur avec un remplissage uni">
                <a:extLst>
                  <a:ext uri="{FF2B5EF4-FFF2-40B4-BE49-F238E27FC236}">
                    <a16:creationId xmlns:a16="http://schemas.microsoft.com/office/drawing/2014/main" id="{DB21F0AD-24CB-3984-596B-5FB696D33F15}"/>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345616" y="3561880"/>
                <a:ext cx="336064" cy="336064"/>
              </a:xfrm>
              <a:prstGeom prst="rect">
                <a:avLst/>
              </a:prstGeom>
            </p:spPr>
          </p:pic>
          <p:pic>
            <p:nvPicPr>
              <p:cNvPr id="413" name="Graphique 412" descr="Utilisateur avec un remplissage uni">
                <a:extLst>
                  <a:ext uri="{FF2B5EF4-FFF2-40B4-BE49-F238E27FC236}">
                    <a16:creationId xmlns:a16="http://schemas.microsoft.com/office/drawing/2014/main" id="{A01FBD2D-D059-4FA9-DF87-841DF08F62BD}"/>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592504" y="3418428"/>
                <a:ext cx="336064" cy="336064"/>
              </a:xfrm>
              <a:prstGeom prst="rect">
                <a:avLst/>
              </a:prstGeom>
            </p:spPr>
          </p:pic>
          <p:pic>
            <p:nvPicPr>
              <p:cNvPr id="420" name="Graphique 419" descr="Utilisateur avec un remplissage uni">
                <a:extLst>
                  <a:ext uri="{FF2B5EF4-FFF2-40B4-BE49-F238E27FC236}">
                    <a16:creationId xmlns:a16="http://schemas.microsoft.com/office/drawing/2014/main" id="{C52AFD1A-6D9F-9702-1A55-AB310901A57C}"/>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635196" y="3680752"/>
                <a:ext cx="336064" cy="336064"/>
              </a:xfrm>
              <a:prstGeom prst="rect">
                <a:avLst/>
              </a:prstGeom>
            </p:spPr>
          </p:pic>
          <p:pic>
            <p:nvPicPr>
              <p:cNvPr id="422" name="Graphique 421" descr="Utilisateur avec un remplissage uni">
                <a:extLst>
                  <a:ext uri="{FF2B5EF4-FFF2-40B4-BE49-F238E27FC236}">
                    <a16:creationId xmlns:a16="http://schemas.microsoft.com/office/drawing/2014/main" id="{B05F441D-D8C5-978B-5FF6-CE21E6034CE8}"/>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520868" y="3943076"/>
                <a:ext cx="336064" cy="336064"/>
              </a:xfrm>
              <a:prstGeom prst="rect">
                <a:avLst/>
              </a:prstGeom>
            </p:spPr>
          </p:pic>
          <p:pic>
            <p:nvPicPr>
              <p:cNvPr id="429" name="Graphique 428" descr="Utilisateur avec un remplissage uni">
                <a:extLst>
                  <a:ext uri="{FF2B5EF4-FFF2-40B4-BE49-F238E27FC236}">
                    <a16:creationId xmlns:a16="http://schemas.microsoft.com/office/drawing/2014/main" id="{98787A06-677C-F04F-76D6-AD9254050B75}"/>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742772" y="3976465"/>
                <a:ext cx="336064" cy="336064"/>
              </a:xfrm>
              <a:prstGeom prst="rect">
                <a:avLst/>
              </a:prstGeom>
            </p:spPr>
          </p:pic>
          <p:pic>
            <p:nvPicPr>
              <p:cNvPr id="431" name="Graphique 430" descr="Utilisateur avec un remplissage uni">
                <a:extLst>
                  <a:ext uri="{FF2B5EF4-FFF2-40B4-BE49-F238E27FC236}">
                    <a16:creationId xmlns:a16="http://schemas.microsoft.com/office/drawing/2014/main" id="{78C67BD1-D905-E132-CD88-C49C52DB1AFC}"/>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877110" y="3705332"/>
                <a:ext cx="336064" cy="336064"/>
              </a:xfrm>
              <a:prstGeom prst="rect">
                <a:avLst/>
              </a:prstGeom>
            </p:spPr>
          </p:pic>
        </p:grpSp>
        <p:pic>
          <p:nvPicPr>
            <p:cNvPr id="438" name="Graphique 437" descr="Calendrier journalier avec un remplissage uni">
              <a:extLst>
                <a:ext uri="{FF2B5EF4-FFF2-40B4-BE49-F238E27FC236}">
                  <a16:creationId xmlns:a16="http://schemas.microsoft.com/office/drawing/2014/main" id="{9F320713-EE97-9730-51EB-25FE6469FEE5}"/>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2502605" y="3610447"/>
              <a:ext cx="482523" cy="482523"/>
            </a:xfrm>
            <a:prstGeom prst="rect">
              <a:avLst/>
            </a:prstGeom>
          </p:spPr>
        </p:pic>
        <p:pic>
          <p:nvPicPr>
            <p:cNvPr id="440" name="Graphique 439" descr="Utilisateur avec un remplissage uni">
              <a:extLst>
                <a:ext uri="{FF2B5EF4-FFF2-40B4-BE49-F238E27FC236}">
                  <a16:creationId xmlns:a16="http://schemas.microsoft.com/office/drawing/2014/main" id="{E4E266F6-1EA8-A6C9-C0B2-736D390A8C9D}"/>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1890328" y="6281446"/>
              <a:ext cx="411559" cy="411559"/>
            </a:xfrm>
            <a:prstGeom prst="rect">
              <a:avLst/>
            </a:prstGeom>
          </p:spPr>
        </p:pic>
        <p:pic>
          <p:nvPicPr>
            <p:cNvPr id="512" name="Graphique 511" descr="Utilisateur avec un remplissage uni">
              <a:extLst>
                <a:ext uri="{FF2B5EF4-FFF2-40B4-BE49-F238E27FC236}">
                  <a16:creationId xmlns:a16="http://schemas.microsoft.com/office/drawing/2014/main" id="{306839F8-73C3-48F0-948E-A181BF5F0D17}"/>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2813819" y="6271790"/>
              <a:ext cx="411559" cy="411559"/>
            </a:xfrm>
            <a:prstGeom prst="rect">
              <a:avLst/>
            </a:prstGeom>
          </p:spPr>
        </p:pic>
        <p:pic>
          <p:nvPicPr>
            <p:cNvPr id="513" name="Graphique 512" descr="Utilisateur avec un remplissage uni">
              <a:extLst>
                <a:ext uri="{FF2B5EF4-FFF2-40B4-BE49-F238E27FC236}">
                  <a16:creationId xmlns:a16="http://schemas.microsoft.com/office/drawing/2014/main" id="{E7B8B3DA-B05C-EFAF-A2AE-0D8F08973098}"/>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2573569" y="5531480"/>
              <a:ext cx="411559" cy="411559"/>
            </a:xfrm>
            <a:prstGeom prst="rect">
              <a:avLst/>
            </a:prstGeom>
          </p:spPr>
        </p:pic>
      </p:grpSp>
      <p:sp>
        <p:nvSpPr>
          <p:cNvPr id="515" name="Rectangle 514">
            <a:extLst>
              <a:ext uri="{FF2B5EF4-FFF2-40B4-BE49-F238E27FC236}">
                <a16:creationId xmlns:a16="http://schemas.microsoft.com/office/drawing/2014/main" id="{E01289DB-D6DA-60ED-D187-F2EABC751C78}"/>
              </a:ext>
            </a:extLst>
          </p:cNvPr>
          <p:cNvSpPr/>
          <p:nvPr/>
        </p:nvSpPr>
        <p:spPr>
          <a:xfrm>
            <a:off x="9528964" y="5087028"/>
            <a:ext cx="1492148" cy="84182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50" dirty="0">
                <a:solidFill>
                  <a:schemeClr val="tx1"/>
                </a:solidFill>
              </a:rPr>
              <a:t>Se créer un </a:t>
            </a:r>
            <a:r>
              <a:rPr lang="fr-FR" sz="1050" dirty="0" err="1">
                <a:solidFill>
                  <a:schemeClr val="tx1"/>
                </a:solidFill>
              </a:rPr>
              <a:t>backlog</a:t>
            </a:r>
            <a:r>
              <a:rPr lang="fr-FR" sz="1050" dirty="0">
                <a:solidFill>
                  <a:schemeClr val="tx1"/>
                </a:solidFill>
              </a:rPr>
              <a:t> sous forme d’une liste simple</a:t>
            </a:r>
          </a:p>
        </p:txBody>
      </p:sp>
      <p:grpSp>
        <p:nvGrpSpPr>
          <p:cNvPr id="516" name="Groupe 515">
            <a:extLst>
              <a:ext uri="{FF2B5EF4-FFF2-40B4-BE49-F238E27FC236}">
                <a16:creationId xmlns:a16="http://schemas.microsoft.com/office/drawing/2014/main" id="{C02EC67D-4343-B6F5-7642-74A7255BC7C2}"/>
              </a:ext>
            </a:extLst>
          </p:cNvPr>
          <p:cNvGrpSpPr/>
          <p:nvPr/>
        </p:nvGrpSpPr>
        <p:grpSpPr>
          <a:xfrm>
            <a:off x="3021299" y="4307562"/>
            <a:ext cx="1857889" cy="409638"/>
            <a:chOff x="7521382" y="-1072914"/>
            <a:chExt cx="2414429" cy="532347"/>
          </a:xfrm>
        </p:grpSpPr>
        <p:grpSp>
          <p:nvGrpSpPr>
            <p:cNvPr id="517" name="Groupe 516">
              <a:extLst>
                <a:ext uri="{FF2B5EF4-FFF2-40B4-BE49-F238E27FC236}">
                  <a16:creationId xmlns:a16="http://schemas.microsoft.com/office/drawing/2014/main" id="{40C913D7-E0EE-F94F-A42F-01243610C0C0}"/>
                </a:ext>
              </a:extLst>
            </p:cNvPr>
            <p:cNvGrpSpPr/>
            <p:nvPr/>
          </p:nvGrpSpPr>
          <p:grpSpPr>
            <a:xfrm>
              <a:off x="7521382" y="-1059631"/>
              <a:ext cx="694779" cy="512077"/>
              <a:chOff x="596645" y="1690688"/>
              <a:chExt cx="1723979" cy="1270634"/>
            </a:xfrm>
          </p:grpSpPr>
          <p:grpSp>
            <p:nvGrpSpPr>
              <p:cNvPr id="536" name="Groupe 535">
                <a:extLst>
                  <a:ext uri="{FF2B5EF4-FFF2-40B4-BE49-F238E27FC236}">
                    <a16:creationId xmlns:a16="http://schemas.microsoft.com/office/drawing/2014/main" id="{88A99336-8E7E-58D3-3C35-BF1C1A912FB1}"/>
                  </a:ext>
                </a:extLst>
              </p:cNvPr>
              <p:cNvGrpSpPr/>
              <p:nvPr/>
            </p:nvGrpSpPr>
            <p:grpSpPr>
              <a:xfrm>
                <a:off x="698431" y="1690688"/>
                <a:ext cx="1507135" cy="1270634"/>
                <a:chOff x="8982504" y="3274976"/>
                <a:chExt cx="1230670" cy="1037553"/>
              </a:xfrm>
              <a:solidFill>
                <a:srgbClr val="ED7D31"/>
              </a:solidFill>
            </p:grpSpPr>
            <p:pic>
              <p:nvPicPr>
                <p:cNvPr id="538" name="Graphique 537" descr="Utilisateur avec un remplissage uni">
                  <a:extLst>
                    <a:ext uri="{FF2B5EF4-FFF2-40B4-BE49-F238E27FC236}">
                      <a16:creationId xmlns:a16="http://schemas.microsoft.com/office/drawing/2014/main" id="{DD67B050-25C4-0E80-8931-AABC5CD26274}"/>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301028" y="3274976"/>
                  <a:ext cx="336064" cy="336064"/>
                </a:xfrm>
                <a:prstGeom prst="rect">
                  <a:avLst/>
                </a:prstGeom>
              </p:spPr>
            </p:pic>
            <p:pic>
              <p:nvPicPr>
                <p:cNvPr id="539" name="Graphique 538" descr="Utilisateur avec un remplissage uni">
                  <a:extLst>
                    <a:ext uri="{FF2B5EF4-FFF2-40B4-BE49-F238E27FC236}">
                      <a16:creationId xmlns:a16="http://schemas.microsoft.com/office/drawing/2014/main" id="{BF91B997-98B6-C922-C6CA-6AFE10C1687F}"/>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054140" y="3512720"/>
                  <a:ext cx="336064" cy="336064"/>
                </a:xfrm>
                <a:prstGeom prst="rect">
                  <a:avLst/>
                </a:prstGeom>
              </p:spPr>
            </p:pic>
            <p:pic>
              <p:nvPicPr>
                <p:cNvPr id="540" name="Graphique 539" descr="Utilisateur avec un remplissage uni">
                  <a:extLst>
                    <a:ext uri="{FF2B5EF4-FFF2-40B4-BE49-F238E27FC236}">
                      <a16:creationId xmlns:a16="http://schemas.microsoft.com/office/drawing/2014/main" id="{D5F85973-A144-90BC-5583-AA7C017E7198}"/>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345616" y="3561880"/>
                  <a:ext cx="336064" cy="336064"/>
                </a:xfrm>
                <a:prstGeom prst="rect">
                  <a:avLst/>
                </a:prstGeom>
              </p:spPr>
            </p:pic>
            <p:pic>
              <p:nvPicPr>
                <p:cNvPr id="541" name="Graphique 540" descr="Utilisateur avec un remplissage uni">
                  <a:extLst>
                    <a:ext uri="{FF2B5EF4-FFF2-40B4-BE49-F238E27FC236}">
                      <a16:creationId xmlns:a16="http://schemas.microsoft.com/office/drawing/2014/main" id="{774ABE08-82D4-6B19-F22A-55AFF4B211A2}"/>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592504" y="3418428"/>
                  <a:ext cx="336064" cy="336064"/>
                </a:xfrm>
                <a:prstGeom prst="rect">
                  <a:avLst/>
                </a:prstGeom>
              </p:spPr>
            </p:pic>
            <p:pic>
              <p:nvPicPr>
                <p:cNvPr id="542" name="Graphique 541" descr="Utilisateur avec un remplissage uni">
                  <a:extLst>
                    <a:ext uri="{FF2B5EF4-FFF2-40B4-BE49-F238E27FC236}">
                      <a16:creationId xmlns:a16="http://schemas.microsoft.com/office/drawing/2014/main" id="{33F6DE72-AB7A-EDDF-F271-A88350C86D2C}"/>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635196" y="3680752"/>
                  <a:ext cx="336064" cy="336064"/>
                </a:xfrm>
                <a:prstGeom prst="rect">
                  <a:avLst/>
                </a:prstGeom>
              </p:spPr>
            </p:pic>
            <p:pic>
              <p:nvPicPr>
                <p:cNvPr id="543" name="Graphique 542" descr="Utilisateur avec un remplissage uni">
                  <a:extLst>
                    <a:ext uri="{FF2B5EF4-FFF2-40B4-BE49-F238E27FC236}">
                      <a16:creationId xmlns:a16="http://schemas.microsoft.com/office/drawing/2014/main" id="{BEC4DD56-9174-ADE1-8287-E9CD123F8181}"/>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256440" y="3848784"/>
                  <a:ext cx="336064" cy="336064"/>
                </a:xfrm>
                <a:prstGeom prst="rect">
                  <a:avLst/>
                </a:prstGeom>
              </p:spPr>
            </p:pic>
            <p:pic>
              <p:nvPicPr>
                <p:cNvPr id="544" name="Graphique 543" descr="Utilisateur avec un remplissage uni">
                  <a:extLst>
                    <a:ext uri="{FF2B5EF4-FFF2-40B4-BE49-F238E27FC236}">
                      <a16:creationId xmlns:a16="http://schemas.microsoft.com/office/drawing/2014/main" id="{400AF19F-B32D-6FD2-2419-60A22C35C32D}"/>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8982504" y="3835028"/>
                  <a:ext cx="336064" cy="336064"/>
                </a:xfrm>
                <a:prstGeom prst="rect">
                  <a:avLst/>
                </a:prstGeom>
              </p:spPr>
            </p:pic>
            <p:pic>
              <p:nvPicPr>
                <p:cNvPr id="545" name="Graphique 544" descr="Utilisateur avec un remplissage uni">
                  <a:extLst>
                    <a:ext uri="{FF2B5EF4-FFF2-40B4-BE49-F238E27FC236}">
                      <a16:creationId xmlns:a16="http://schemas.microsoft.com/office/drawing/2014/main" id="{1D0B6ED2-CF53-B898-5A8B-95A4ECC7F62E}"/>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520868" y="3943076"/>
                  <a:ext cx="336064" cy="336064"/>
                </a:xfrm>
                <a:prstGeom prst="rect">
                  <a:avLst/>
                </a:prstGeom>
              </p:spPr>
            </p:pic>
            <p:pic>
              <p:nvPicPr>
                <p:cNvPr id="546" name="Graphique 545" descr="Utilisateur avec un remplissage uni">
                  <a:extLst>
                    <a:ext uri="{FF2B5EF4-FFF2-40B4-BE49-F238E27FC236}">
                      <a16:creationId xmlns:a16="http://schemas.microsoft.com/office/drawing/2014/main" id="{ADDAD339-8D0D-A727-F655-3C9FFB91DC4E}"/>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742772" y="3976465"/>
                  <a:ext cx="336064" cy="336064"/>
                </a:xfrm>
                <a:prstGeom prst="rect">
                  <a:avLst/>
                </a:prstGeom>
              </p:spPr>
            </p:pic>
            <p:pic>
              <p:nvPicPr>
                <p:cNvPr id="547" name="Graphique 546" descr="Utilisateur avec un remplissage uni">
                  <a:extLst>
                    <a:ext uri="{FF2B5EF4-FFF2-40B4-BE49-F238E27FC236}">
                      <a16:creationId xmlns:a16="http://schemas.microsoft.com/office/drawing/2014/main" id="{6C03F607-7815-F411-21C1-454E10852ADF}"/>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877110" y="3705332"/>
                  <a:ext cx="336064" cy="336064"/>
                </a:xfrm>
                <a:prstGeom prst="rect">
                  <a:avLst/>
                </a:prstGeom>
              </p:spPr>
            </p:pic>
            <p:pic>
              <p:nvPicPr>
                <p:cNvPr id="548" name="Graphique 547" descr="Utilisateur avec un remplissage uni">
                  <a:extLst>
                    <a:ext uri="{FF2B5EF4-FFF2-40B4-BE49-F238E27FC236}">
                      <a16:creationId xmlns:a16="http://schemas.microsoft.com/office/drawing/2014/main" id="{1AC6744F-B358-9071-A64F-5697E2687961}"/>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856932" y="3429000"/>
                  <a:ext cx="336064" cy="336064"/>
                </a:xfrm>
                <a:prstGeom prst="rect">
                  <a:avLst/>
                </a:prstGeom>
              </p:spPr>
            </p:pic>
          </p:grpSp>
          <p:sp>
            <p:nvSpPr>
              <p:cNvPr id="537" name="Rectangle 536">
                <a:extLst>
                  <a:ext uri="{FF2B5EF4-FFF2-40B4-BE49-F238E27FC236}">
                    <a16:creationId xmlns:a16="http://schemas.microsoft.com/office/drawing/2014/main" id="{B91FD104-61E4-20D5-6915-DF59E9E1FFD8}"/>
                  </a:ext>
                </a:extLst>
              </p:cNvPr>
              <p:cNvSpPr/>
              <p:nvPr/>
            </p:nvSpPr>
            <p:spPr>
              <a:xfrm>
                <a:off x="596645" y="1690688"/>
                <a:ext cx="1723979" cy="1242000"/>
              </a:xfrm>
              <a:prstGeom prst="rect">
                <a:avLst/>
              </a:prstGeom>
              <a:noFill/>
              <a:ln w="28575">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8" name="Groupe 517">
              <a:extLst>
                <a:ext uri="{FF2B5EF4-FFF2-40B4-BE49-F238E27FC236}">
                  <a16:creationId xmlns:a16="http://schemas.microsoft.com/office/drawing/2014/main" id="{EAAE593F-DEC2-0134-8496-CF15C640E43C}"/>
                </a:ext>
              </a:extLst>
            </p:cNvPr>
            <p:cNvGrpSpPr/>
            <p:nvPr/>
          </p:nvGrpSpPr>
          <p:grpSpPr>
            <a:xfrm>
              <a:off x="8375821" y="-1059631"/>
              <a:ext cx="694779" cy="500537"/>
              <a:chOff x="572068" y="3309027"/>
              <a:chExt cx="1723979" cy="1242000"/>
            </a:xfrm>
          </p:grpSpPr>
          <p:pic>
            <p:nvPicPr>
              <p:cNvPr id="534" name="Graphique 533" descr="Bâtiment avec un remplissage uni">
                <a:extLst>
                  <a:ext uri="{FF2B5EF4-FFF2-40B4-BE49-F238E27FC236}">
                    <a16:creationId xmlns:a16="http://schemas.microsoft.com/office/drawing/2014/main" id="{204ADBE9-6602-0F14-BF05-0BD482E45634}"/>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807844" y="3327401"/>
                <a:ext cx="1220336" cy="1220336"/>
              </a:xfrm>
              <a:prstGeom prst="rect">
                <a:avLst/>
              </a:prstGeom>
            </p:spPr>
          </p:pic>
          <p:sp>
            <p:nvSpPr>
              <p:cNvPr id="535" name="Rectangle 534">
                <a:extLst>
                  <a:ext uri="{FF2B5EF4-FFF2-40B4-BE49-F238E27FC236}">
                    <a16:creationId xmlns:a16="http://schemas.microsoft.com/office/drawing/2014/main" id="{16D9A9C2-CD50-6016-0DD5-4820D4C588E2}"/>
                  </a:ext>
                </a:extLst>
              </p:cNvPr>
              <p:cNvSpPr/>
              <p:nvPr/>
            </p:nvSpPr>
            <p:spPr>
              <a:xfrm>
                <a:off x="572068" y="3309027"/>
                <a:ext cx="1723979" cy="1242000"/>
              </a:xfrm>
              <a:prstGeom prst="rect">
                <a:avLst/>
              </a:prstGeom>
              <a:noFill/>
              <a:ln w="285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9" name="Groupe 518">
              <a:extLst>
                <a:ext uri="{FF2B5EF4-FFF2-40B4-BE49-F238E27FC236}">
                  <a16:creationId xmlns:a16="http://schemas.microsoft.com/office/drawing/2014/main" id="{0C8C1C75-A63E-6966-F3D7-D1BF6BB17D3A}"/>
                </a:ext>
              </a:extLst>
            </p:cNvPr>
            <p:cNvGrpSpPr/>
            <p:nvPr/>
          </p:nvGrpSpPr>
          <p:grpSpPr>
            <a:xfrm>
              <a:off x="9174745" y="-1072914"/>
              <a:ext cx="761066" cy="532347"/>
              <a:chOff x="456876" y="4905703"/>
              <a:chExt cx="1888459" cy="1320931"/>
            </a:xfrm>
          </p:grpSpPr>
          <p:pic>
            <p:nvPicPr>
              <p:cNvPr id="520" name="Graphique 519" descr="Bâtiment avec un remplissage uni">
                <a:extLst>
                  <a:ext uri="{FF2B5EF4-FFF2-40B4-BE49-F238E27FC236}">
                    <a16:creationId xmlns:a16="http://schemas.microsoft.com/office/drawing/2014/main" id="{61854E3A-5C8C-E118-FA16-1EFB2C2B83DF}"/>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456876" y="4956001"/>
                <a:ext cx="1220336" cy="1220336"/>
              </a:xfrm>
              <a:prstGeom prst="rect">
                <a:avLst/>
              </a:prstGeom>
            </p:spPr>
          </p:pic>
          <p:grpSp>
            <p:nvGrpSpPr>
              <p:cNvPr id="521" name="Groupe 520">
                <a:extLst>
                  <a:ext uri="{FF2B5EF4-FFF2-40B4-BE49-F238E27FC236}">
                    <a16:creationId xmlns:a16="http://schemas.microsoft.com/office/drawing/2014/main" id="{687B4C42-049A-9ED1-8455-15CF0FEE10F1}"/>
                  </a:ext>
                </a:extLst>
              </p:cNvPr>
              <p:cNvGrpSpPr/>
              <p:nvPr/>
            </p:nvGrpSpPr>
            <p:grpSpPr>
              <a:xfrm>
                <a:off x="838200" y="4905703"/>
                <a:ext cx="1507135" cy="1270634"/>
                <a:chOff x="8982504" y="3274976"/>
                <a:chExt cx="1230670" cy="1037553"/>
              </a:xfrm>
              <a:solidFill>
                <a:srgbClr val="ED7D31"/>
              </a:solidFill>
            </p:grpSpPr>
            <p:pic>
              <p:nvPicPr>
                <p:cNvPr id="523" name="Graphique 522" descr="Utilisateur avec un remplissage uni">
                  <a:extLst>
                    <a:ext uri="{FF2B5EF4-FFF2-40B4-BE49-F238E27FC236}">
                      <a16:creationId xmlns:a16="http://schemas.microsoft.com/office/drawing/2014/main" id="{8124E661-2CE3-27BE-C702-498574CDD80A}"/>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301028" y="3274976"/>
                  <a:ext cx="336064" cy="336064"/>
                </a:xfrm>
                <a:prstGeom prst="rect">
                  <a:avLst/>
                </a:prstGeom>
              </p:spPr>
            </p:pic>
            <p:pic>
              <p:nvPicPr>
                <p:cNvPr id="524" name="Graphique 523" descr="Utilisateur avec un remplissage uni">
                  <a:extLst>
                    <a:ext uri="{FF2B5EF4-FFF2-40B4-BE49-F238E27FC236}">
                      <a16:creationId xmlns:a16="http://schemas.microsoft.com/office/drawing/2014/main" id="{AF5A8DA9-1494-1D8A-D243-3867B2EC6F3D}"/>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054140" y="3512720"/>
                  <a:ext cx="336064" cy="336064"/>
                </a:xfrm>
                <a:prstGeom prst="rect">
                  <a:avLst/>
                </a:prstGeom>
              </p:spPr>
            </p:pic>
            <p:pic>
              <p:nvPicPr>
                <p:cNvPr id="525" name="Graphique 524" descr="Utilisateur avec un remplissage uni">
                  <a:extLst>
                    <a:ext uri="{FF2B5EF4-FFF2-40B4-BE49-F238E27FC236}">
                      <a16:creationId xmlns:a16="http://schemas.microsoft.com/office/drawing/2014/main" id="{C5D2E184-CEF5-4F6C-3B25-36F369FA89C9}"/>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345616" y="3561880"/>
                  <a:ext cx="336064" cy="336064"/>
                </a:xfrm>
                <a:prstGeom prst="rect">
                  <a:avLst/>
                </a:prstGeom>
              </p:spPr>
            </p:pic>
            <p:pic>
              <p:nvPicPr>
                <p:cNvPr id="526" name="Graphique 525" descr="Utilisateur avec un remplissage uni">
                  <a:extLst>
                    <a:ext uri="{FF2B5EF4-FFF2-40B4-BE49-F238E27FC236}">
                      <a16:creationId xmlns:a16="http://schemas.microsoft.com/office/drawing/2014/main" id="{C6977F03-52D8-B36F-B737-B6B23DFD9F55}"/>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592504" y="3418428"/>
                  <a:ext cx="336064" cy="336064"/>
                </a:xfrm>
                <a:prstGeom prst="rect">
                  <a:avLst/>
                </a:prstGeom>
              </p:spPr>
            </p:pic>
            <p:pic>
              <p:nvPicPr>
                <p:cNvPr id="527" name="Graphique 526" descr="Utilisateur avec un remplissage uni">
                  <a:extLst>
                    <a:ext uri="{FF2B5EF4-FFF2-40B4-BE49-F238E27FC236}">
                      <a16:creationId xmlns:a16="http://schemas.microsoft.com/office/drawing/2014/main" id="{CC62B640-9929-E5CD-2D01-40CA64558A84}"/>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635196" y="3680752"/>
                  <a:ext cx="336064" cy="336064"/>
                </a:xfrm>
                <a:prstGeom prst="rect">
                  <a:avLst/>
                </a:prstGeom>
              </p:spPr>
            </p:pic>
            <p:pic>
              <p:nvPicPr>
                <p:cNvPr id="528" name="Graphique 527" descr="Utilisateur avec un remplissage uni">
                  <a:extLst>
                    <a:ext uri="{FF2B5EF4-FFF2-40B4-BE49-F238E27FC236}">
                      <a16:creationId xmlns:a16="http://schemas.microsoft.com/office/drawing/2014/main" id="{A0BC07AA-0F6C-4A87-1D6A-BC469CC7BF88}"/>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256440" y="3848784"/>
                  <a:ext cx="336064" cy="336064"/>
                </a:xfrm>
                <a:prstGeom prst="rect">
                  <a:avLst/>
                </a:prstGeom>
              </p:spPr>
            </p:pic>
            <p:pic>
              <p:nvPicPr>
                <p:cNvPr id="529" name="Graphique 528" descr="Utilisateur avec un remplissage uni">
                  <a:extLst>
                    <a:ext uri="{FF2B5EF4-FFF2-40B4-BE49-F238E27FC236}">
                      <a16:creationId xmlns:a16="http://schemas.microsoft.com/office/drawing/2014/main" id="{275795CE-5651-7A01-1D83-449BBDB892CE}"/>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8982504" y="3835028"/>
                  <a:ext cx="336064" cy="336064"/>
                </a:xfrm>
                <a:prstGeom prst="rect">
                  <a:avLst/>
                </a:prstGeom>
              </p:spPr>
            </p:pic>
            <p:pic>
              <p:nvPicPr>
                <p:cNvPr id="530" name="Graphique 529" descr="Utilisateur avec un remplissage uni">
                  <a:extLst>
                    <a:ext uri="{FF2B5EF4-FFF2-40B4-BE49-F238E27FC236}">
                      <a16:creationId xmlns:a16="http://schemas.microsoft.com/office/drawing/2014/main" id="{320F5316-32CB-9224-45B1-928CD65A1B94}"/>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520868" y="3943076"/>
                  <a:ext cx="336064" cy="336064"/>
                </a:xfrm>
                <a:prstGeom prst="rect">
                  <a:avLst/>
                </a:prstGeom>
              </p:spPr>
            </p:pic>
            <p:pic>
              <p:nvPicPr>
                <p:cNvPr id="531" name="Graphique 530" descr="Utilisateur avec un remplissage uni">
                  <a:extLst>
                    <a:ext uri="{FF2B5EF4-FFF2-40B4-BE49-F238E27FC236}">
                      <a16:creationId xmlns:a16="http://schemas.microsoft.com/office/drawing/2014/main" id="{7B371E41-8042-B3B1-67D4-3E9F13B87DDF}"/>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742772" y="3976465"/>
                  <a:ext cx="336064" cy="336064"/>
                </a:xfrm>
                <a:prstGeom prst="rect">
                  <a:avLst/>
                </a:prstGeom>
              </p:spPr>
            </p:pic>
            <p:pic>
              <p:nvPicPr>
                <p:cNvPr id="532" name="Graphique 531" descr="Utilisateur avec un remplissage uni">
                  <a:extLst>
                    <a:ext uri="{FF2B5EF4-FFF2-40B4-BE49-F238E27FC236}">
                      <a16:creationId xmlns:a16="http://schemas.microsoft.com/office/drawing/2014/main" id="{DDBAF261-41BE-01BA-2DED-E6C31F1E3805}"/>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877110" y="3705332"/>
                  <a:ext cx="336064" cy="336064"/>
                </a:xfrm>
                <a:prstGeom prst="rect">
                  <a:avLst/>
                </a:prstGeom>
              </p:spPr>
            </p:pic>
            <p:pic>
              <p:nvPicPr>
                <p:cNvPr id="533" name="Graphique 532" descr="Utilisateur avec un remplissage uni">
                  <a:extLst>
                    <a:ext uri="{FF2B5EF4-FFF2-40B4-BE49-F238E27FC236}">
                      <a16:creationId xmlns:a16="http://schemas.microsoft.com/office/drawing/2014/main" id="{2565F884-CA32-871C-CE90-F0DF7EDB51D2}"/>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9856932" y="3429000"/>
                  <a:ext cx="336064" cy="336064"/>
                </a:xfrm>
                <a:prstGeom prst="rect">
                  <a:avLst/>
                </a:prstGeom>
              </p:spPr>
            </p:pic>
          </p:grpSp>
          <p:sp>
            <p:nvSpPr>
              <p:cNvPr id="522" name="Rectangle 521">
                <a:extLst>
                  <a:ext uri="{FF2B5EF4-FFF2-40B4-BE49-F238E27FC236}">
                    <a16:creationId xmlns:a16="http://schemas.microsoft.com/office/drawing/2014/main" id="{B398969A-9931-C41B-BA56-F3DA5C8493D3}"/>
                  </a:ext>
                </a:extLst>
              </p:cNvPr>
              <p:cNvSpPr/>
              <p:nvPr/>
            </p:nvSpPr>
            <p:spPr>
              <a:xfrm>
                <a:off x="583475" y="4917913"/>
                <a:ext cx="1723979" cy="1308721"/>
              </a:xfrm>
              <a:prstGeom prst="rect">
                <a:avLst/>
              </a:prstGeom>
              <a:noFill/>
              <a:ln w="28575">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
        <p:nvSpPr>
          <p:cNvPr id="549" name="Rectangle 548">
            <a:extLst>
              <a:ext uri="{FF2B5EF4-FFF2-40B4-BE49-F238E27FC236}">
                <a16:creationId xmlns:a16="http://schemas.microsoft.com/office/drawing/2014/main" id="{BBC4E7DC-5C0A-9068-B931-3D3C86326770}"/>
              </a:ext>
            </a:extLst>
          </p:cNvPr>
          <p:cNvSpPr/>
          <p:nvPr/>
        </p:nvSpPr>
        <p:spPr>
          <a:xfrm>
            <a:off x="3017853" y="5087028"/>
            <a:ext cx="1849588" cy="841828"/>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50" dirty="0">
                <a:solidFill>
                  <a:schemeClr val="tx1"/>
                </a:solidFill>
              </a:rPr>
              <a:t>Clarifier si le but est d’avoir un thème fixe, des membres fixes, ou les deux</a:t>
            </a:r>
          </a:p>
          <a:p>
            <a:pPr algn="ctr"/>
            <a:r>
              <a:rPr lang="fr-FR" sz="1050" dirty="0">
                <a:solidFill>
                  <a:schemeClr val="tx1"/>
                </a:solidFill>
              </a:rPr>
              <a:t>Choix du type de Communauté</a:t>
            </a:r>
          </a:p>
        </p:txBody>
      </p:sp>
      <p:sp>
        <p:nvSpPr>
          <p:cNvPr id="550" name="Flèche : droite 549">
            <a:extLst>
              <a:ext uri="{FF2B5EF4-FFF2-40B4-BE49-F238E27FC236}">
                <a16:creationId xmlns:a16="http://schemas.microsoft.com/office/drawing/2014/main" id="{48D40E94-3417-9A88-4E75-2B52DFBEFA6C}"/>
              </a:ext>
            </a:extLst>
          </p:cNvPr>
          <p:cNvSpPr/>
          <p:nvPr/>
        </p:nvSpPr>
        <p:spPr>
          <a:xfrm>
            <a:off x="838200" y="2215101"/>
            <a:ext cx="2021186" cy="1079382"/>
          </a:xfrm>
          <a:prstGeom prst="rightArrow">
            <a:avLst>
              <a:gd name="adj1" fmla="val 69414"/>
              <a:gd name="adj2" fmla="val 50000"/>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MOTIVATIONS : </a:t>
            </a:r>
          </a:p>
          <a:p>
            <a:pPr algn="ctr"/>
            <a:r>
              <a:rPr lang="fr-FR" sz="1200" dirty="0">
                <a:solidFill>
                  <a:schemeClr val="tx1"/>
                </a:solidFill>
              </a:rPr>
              <a:t>Se projeter et se poser des questions sur la valeur possible</a:t>
            </a:r>
          </a:p>
        </p:txBody>
      </p:sp>
      <p:grpSp>
        <p:nvGrpSpPr>
          <p:cNvPr id="2" name="Groupe 1">
            <a:extLst>
              <a:ext uri="{FF2B5EF4-FFF2-40B4-BE49-F238E27FC236}">
                <a16:creationId xmlns:a16="http://schemas.microsoft.com/office/drawing/2014/main" id="{DF96EB5E-086B-D870-8EEC-8D73317FE4D4}"/>
              </a:ext>
            </a:extLst>
          </p:cNvPr>
          <p:cNvGrpSpPr/>
          <p:nvPr/>
        </p:nvGrpSpPr>
        <p:grpSpPr>
          <a:xfrm>
            <a:off x="3355800" y="2139983"/>
            <a:ext cx="1119827" cy="1229618"/>
            <a:chOff x="3572678" y="2048588"/>
            <a:chExt cx="1119827" cy="1229618"/>
          </a:xfrm>
        </p:grpSpPr>
        <p:grpSp>
          <p:nvGrpSpPr>
            <p:cNvPr id="3" name="Groupe 2">
              <a:extLst>
                <a:ext uri="{FF2B5EF4-FFF2-40B4-BE49-F238E27FC236}">
                  <a16:creationId xmlns:a16="http://schemas.microsoft.com/office/drawing/2014/main" id="{B0EB6C24-5FB8-2B6A-76F7-EE0F8872720F}"/>
                </a:ext>
              </a:extLst>
            </p:cNvPr>
            <p:cNvGrpSpPr/>
            <p:nvPr/>
          </p:nvGrpSpPr>
          <p:grpSpPr>
            <a:xfrm>
              <a:off x="3700978" y="2048588"/>
              <a:ext cx="971223" cy="805096"/>
              <a:chOff x="-1799507" y="-602354"/>
              <a:chExt cx="1401199" cy="1161525"/>
            </a:xfrm>
          </p:grpSpPr>
          <p:pic>
            <p:nvPicPr>
              <p:cNvPr id="5" name="Graphique 4" descr="Utilisateur avec un remplissage uni">
                <a:extLst>
                  <a:ext uri="{FF2B5EF4-FFF2-40B4-BE49-F238E27FC236}">
                    <a16:creationId xmlns:a16="http://schemas.microsoft.com/office/drawing/2014/main" id="{19B91D2A-981C-9A29-E913-5FA03269BC91}"/>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1799507" y="-551666"/>
                <a:ext cx="411559" cy="411559"/>
              </a:xfrm>
              <a:prstGeom prst="rect">
                <a:avLst/>
              </a:prstGeom>
            </p:spPr>
          </p:pic>
          <p:pic>
            <p:nvPicPr>
              <p:cNvPr id="6" name="Graphique 5" descr="Utilisateur avec un remplissage uni">
                <a:extLst>
                  <a:ext uri="{FF2B5EF4-FFF2-40B4-BE49-F238E27FC236}">
                    <a16:creationId xmlns:a16="http://schemas.microsoft.com/office/drawing/2014/main" id="{F08D1622-C283-0CBB-9255-7164CF0B94C7}"/>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1733358" y="147612"/>
                <a:ext cx="411559" cy="411559"/>
              </a:xfrm>
              <a:prstGeom prst="rect">
                <a:avLst/>
              </a:prstGeom>
            </p:spPr>
          </p:pic>
          <p:pic>
            <p:nvPicPr>
              <p:cNvPr id="7" name="Graphique 6" descr="Utilisateur avec un remplissage uni">
                <a:extLst>
                  <a:ext uri="{FF2B5EF4-FFF2-40B4-BE49-F238E27FC236}">
                    <a16:creationId xmlns:a16="http://schemas.microsoft.com/office/drawing/2014/main" id="{040BD2A7-F2CC-E57B-AF41-19BD38295418}"/>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809867" y="137956"/>
                <a:ext cx="411559" cy="411559"/>
              </a:xfrm>
              <a:prstGeom prst="rect">
                <a:avLst/>
              </a:prstGeom>
            </p:spPr>
          </p:pic>
          <p:pic>
            <p:nvPicPr>
              <p:cNvPr id="8" name="Graphique 7" descr="Utilisateur avec un remplissage uni">
                <a:extLst>
                  <a:ext uri="{FF2B5EF4-FFF2-40B4-BE49-F238E27FC236}">
                    <a16:creationId xmlns:a16="http://schemas.microsoft.com/office/drawing/2014/main" id="{1785E14B-CDA7-4FC2-0AA1-D1EC19D66E59}"/>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1050117" y="-602354"/>
                <a:ext cx="411559" cy="411559"/>
              </a:xfrm>
              <a:prstGeom prst="rect">
                <a:avLst/>
              </a:prstGeom>
            </p:spPr>
          </p:pic>
        </p:grpSp>
        <p:sp>
          <p:nvSpPr>
            <p:cNvPr id="4" name="Titre 1">
              <a:extLst>
                <a:ext uri="{FF2B5EF4-FFF2-40B4-BE49-F238E27FC236}">
                  <a16:creationId xmlns:a16="http://schemas.microsoft.com/office/drawing/2014/main" id="{CF87A8FE-BBD0-5D38-CF14-8BF251913094}"/>
                </a:ext>
              </a:extLst>
            </p:cNvPr>
            <p:cNvSpPr txBox="1">
              <a:spLocks/>
            </p:cNvSpPr>
            <p:nvPr/>
          </p:nvSpPr>
          <p:spPr>
            <a:xfrm>
              <a:off x="3572678" y="2861771"/>
              <a:ext cx="1119827" cy="41643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individus</a:t>
              </a:r>
            </a:p>
          </p:txBody>
        </p:sp>
      </p:grpSp>
      <p:sp>
        <p:nvSpPr>
          <p:cNvPr id="21" name="Rectangle 20">
            <a:extLst>
              <a:ext uri="{FF2B5EF4-FFF2-40B4-BE49-F238E27FC236}">
                <a16:creationId xmlns:a16="http://schemas.microsoft.com/office/drawing/2014/main" id="{0E7F3826-21CE-426D-5931-2013D908470E}"/>
              </a:ext>
            </a:extLst>
          </p:cNvPr>
          <p:cNvSpPr/>
          <p:nvPr/>
        </p:nvSpPr>
        <p:spPr>
          <a:xfrm>
            <a:off x="6182091" y="2703414"/>
            <a:ext cx="834554" cy="675712"/>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Liste de membres potentiels </a:t>
            </a:r>
          </a:p>
        </p:txBody>
      </p:sp>
      <p:sp>
        <p:nvSpPr>
          <p:cNvPr id="490" name="Rectangle 489">
            <a:extLst>
              <a:ext uri="{FF2B5EF4-FFF2-40B4-BE49-F238E27FC236}">
                <a16:creationId xmlns:a16="http://schemas.microsoft.com/office/drawing/2014/main" id="{7E23027F-C5AE-C327-82EC-F4CD14989BF9}"/>
              </a:ext>
            </a:extLst>
          </p:cNvPr>
          <p:cNvSpPr/>
          <p:nvPr/>
        </p:nvSpPr>
        <p:spPr>
          <a:xfrm>
            <a:off x="9284982" y="2702960"/>
            <a:ext cx="979898" cy="67571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Premières motivation de lancement mises à plat dans un format simple</a:t>
            </a:r>
          </a:p>
        </p:txBody>
      </p:sp>
      <p:pic>
        <p:nvPicPr>
          <p:cNvPr id="9" name="Graphique 8" descr="Informations avec un remplissage uni">
            <a:extLst>
              <a:ext uri="{FF2B5EF4-FFF2-40B4-BE49-F238E27FC236}">
                <a16:creationId xmlns:a16="http://schemas.microsoft.com/office/drawing/2014/main" id="{4693E9F6-1C18-B7A9-3DA6-04790D102E6C}"/>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6387179" y="2243741"/>
            <a:ext cx="484752" cy="484751"/>
          </a:xfrm>
          <a:prstGeom prst="rect">
            <a:avLst/>
          </a:prstGeom>
        </p:spPr>
      </p:pic>
      <p:sp>
        <p:nvSpPr>
          <p:cNvPr id="10" name="Rectangle 9">
            <a:extLst>
              <a:ext uri="{FF2B5EF4-FFF2-40B4-BE49-F238E27FC236}">
                <a16:creationId xmlns:a16="http://schemas.microsoft.com/office/drawing/2014/main" id="{FDFF09F1-DB66-F6A4-96AA-A216F7CB6709}"/>
              </a:ext>
            </a:extLst>
          </p:cNvPr>
          <p:cNvSpPr/>
          <p:nvPr/>
        </p:nvSpPr>
        <p:spPr>
          <a:xfrm>
            <a:off x="7281925" y="2703414"/>
            <a:ext cx="834554" cy="675712"/>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Liste d’activités potentielles</a:t>
            </a:r>
          </a:p>
        </p:txBody>
      </p:sp>
      <p:pic>
        <p:nvPicPr>
          <p:cNvPr id="11" name="Graphique 10" descr="Informations avec un remplissage uni">
            <a:extLst>
              <a:ext uri="{FF2B5EF4-FFF2-40B4-BE49-F238E27FC236}">
                <a16:creationId xmlns:a16="http://schemas.microsoft.com/office/drawing/2014/main" id="{2AEA9614-FED6-08A2-DDD8-1DE7672C9CC7}"/>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7457105" y="2243287"/>
            <a:ext cx="484752" cy="484751"/>
          </a:xfrm>
          <a:prstGeom prst="rect">
            <a:avLst/>
          </a:prstGeom>
        </p:spPr>
      </p:pic>
      <p:sp>
        <p:nvSpPr>
          <p:cNvPr id="12" name="Rectangle 11">
            <a:extLst>
              <a:ext uri="{FF2B5EF4-FFF2-40B4-BE49-F238E27FC236}">
                <a16:creationId xmlns:a16="http://schemas.microsoft.com/office/drawing/2014/main" id="{31626B34-ED5B-18BE-E481-03C96D03D296}"/>
              </a:ext>
            </a:extLst>
          </p:cNvPr>
          <p:cNvSpPr/>
          <p:nvPr/>
        </p:nvSpPr>
        <p:spPr>
          <a:xfrm>
            <a:off x="8316007" y="2702960"/>
            <a:ext cx="834554" cy="675712"/>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Infos sur les disponibilités des premiers membres potentiels</a:t>
            </a:r>
          </a:p>
        </p:txBody>
      </p:sp>
      <p:pic>
        <p:nvPicPr>
          <p:cNvPr id="13" name="Graphique 12" descr="Informations avec un remplissage uni">
            <a:extLst>
              <a:ext uri="{FF2B5EF4-FFF2-40B4-BE49-F238E27FC236}">
                <a16:creationId xmlns:a16="http://schemas.microsoft.com/office/drawing/2014/main" id="{6F21D2A6-B36A-A431-08B9-6512CFE09BEC}"/>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8522415" y="2218209"/>
            <a:ext cx="484752" cy="484751"/>
          </a:xfrm>
          <a:prstGeom prst="rect">
            <a:avLst/>
          </a:prstGeom>
        </p:spPr>
      </p:pic>
      <p:pic>
        <p:nvPicPr>
          <p:cNvPr id="14" name="Graphique 13" descr="Flèches de chevron avec un remplissage uni">
            <a:extLst>
              <a:ext uri="{FF2B5EF4-FFF2-40B4-BE49-F238E27FC236}">
                <a16:creationId xmlns:a16="http://schemas.microsoft.com/office/drawing/2014/main" id="{A7AD07FD-CE3A-755F-77C0-303623DC2B7E}"/>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9517645" y="2267014"/>
            <a:ext cx="462773" cy="462772"/>
          </a:xfrm>
          <a:prstGeom prst="rect">
            <a:avLst/>
          </a:prstGeom>
        </p:spPr>
      </p:pic>
      <p:sp>
        <p:nvSpPr>
          <p:cNvPr id="15" name="Rectangle 14">
            <a:extLst>
              <a:ext uri="{FF2B5EF4-FFF2-40B4-BE49-F238E27FC236}">
                <a16:creationId xmlns:a16="http://schemas.microsoft.com/office/drawing/2014/main" id="{7E35FE63-F62A-ECDA-D9B2-AD5DEB9E6063}"/>
              </a:ext>
            </a:extLst>
          </p:cNvPr>
          <p:cNvSpPr/>
          <p:nvPr/>
        </p:nvSpPr>
        <p:spPr>
          <a:xfrm>
            <a:off x="5124571" y="2706556"/>
            <a:ext cx="932735"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Connaissances sur les enjeux  actuels de l’entreprise</a:t>
            </a:r>
          </a:p>
        </p:txBody>
      </p:sp>
      <p:pic>
        <p:nvPicPr>
          <p:cNvPr id="16" name="Graphique 15" descr="Informations avec un remplissage uni">
            <a:extLst>
              <a:ext uri="{FF2B5EF4-FFF2-40B4-BE49-F238E27FC236}">
                <a16:creationId xmlns:a16="http://schemas.microsoft.com/office/drawing/2014/main" id="{AE562C61-C77F-9BD6-A3ED-5ECD6EA74F5D}"/>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5364872" y="2221805"/>
            <a:ext cx="484752" cy="484751"/>
          </a:xfrm>
          <a:prstGeom prst="rect">
            <a:avLst/>
          </a:prstGeom>
        </p:spPr>
      </p:pic>
      <p:sp>
        <p:nvSpPr>
          <p:cNvPr id="26" name="Rectangle 25">
            <a:extLst>
              <a:ext uri="{FF2B5EF4-FFF2-40B4-BE49-F238E27FC236}">
                <a16:creationId xmlns:a16="http://schemas.microsoft.com/office/drawing/2014/main" id="{2D5EA74C-7B6F-0000-645C-2CBE5954B05C}"/>
              </a:ext>
            </a:extLst>
          </p:cNvPr>
          <p:cNvSpPr/>
          <p:nvPr/>
        </p:nvSpPr>
        <p:spPr>
          <a:xfrm>
            <a:off x="10347502" y="2710889"/>
            <a:ext cx="954679"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des fondateurs pour le renseignement</a:t>
            </a:r>
          </a:p>
        </p:txBody>
      </p:sp>
      <p:pic>
        <p:nvPicPr>
          <p:cNvPr id="27" name="Graphique 26" descr="Sablier 60% avec un remplissage uni">
            <a:extLst>
              <a:ext uri="{FF2B5EF4-FFF2-40B4-BE49-F238E27FC236}">
                <a16:creationId xmlns:a16="http://schemas.microsoft.com/office/drawing/2014/main" id="{3D8A8317-EBF7-A543-6A4A-E48EBF2C9B26}"/>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10585011" y="2199260"/>
            <a:ext cx="462773" cy="462772"/>
          </a:xfrm>
          <a:prstGeom prst="rect">
            <a:avLst/>
          </a:prstGeom>
        </p:spPr>
      </p:pic>
    </p:spTree>
    <p:extLst>
      <p:ext uri="{BB962C8B-B14F-4D97-AF65-F5344CB8AC3E}">
        <p14:creationId xmlns:p14="http://schemas.microsoft.com/office/powerpoint/2010/main" val="2726736762"/>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4243879546"/>
              </p:ext>
            </p:extLst>
          </p:nvPr>
        </p:nvGraphicFramePr>
        <p:xfrm>
          <a:off x="838200" y="705977"/>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Etape de </a:t>
                      </a:r>
                      <a:r>
                        <a:rPr lang="fr-FR" sz="1800" dirty="0"/>
                        <a:t>Cadrage tactique de la valeur</a:t>
                      </a:r>
                      <a:endParaRPr lang="fr-FR" dirty="0"/>
                    </a:p>
                    <a:p>
                      <a:r>
                        <a:rPr lang="fr-FR" i="1" dirty="0"/>
                        <a:t>« Identifier ce qui a plus de chances d’engager et de survivre après le lancement »</a:t>
                      </a:r>
                    </a:p>
                  </a:txBody>
                  <a:tcPr>
                    <a:solidFill>
                      <a:schemeClr val="tx1"/>
                    </a:solidFill>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Approches</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grpSp>
        <p:nvGrpSpPr>
          <p:cNvPr id="461" name="Groupe 460">
            <a:extLst>
              <a:ext uri="{FF2B5EF4-FFF2-40B4-BE49-F238E27FC236}">
                <a16:creationId xmlns:a16="http://schemas.microsoft.com/office/drawing/2014/main" id="{8F2BA8B4-CA3F-5737-600C-2C158773BAE5}"/>
              </a:ext>
            </a:extLst>
          </p:cNvPr>
          <p:cNvGrpSpPr/>
          <p:nvPr/>
        </p:nvGrpSpPr>
        <p:grpSpPr>
          <a:xfrm>
            <a:off x="3492133" y="2208489"/>
            <a:ext cx="865570" cy="855736"/>
            <a:chOff x="3751272" y="2768258"/>
            <a:chExt cx="506451" cy="500697"/>
          </a:xfrm>
        </p:grpSpPr>
        <p:grpSp>
          <p:nvGrpSpPr>
            <p:cNvPr id="11" name="Groupe 10">
              <a:extLst>
                <a:ext uri="{FF2B5EF4-FFF2-40B4-BE49-F238E27FC236}">
                  <a16:creationId xmlns:a16="http://schemas.microsoft.com/office/drawing/2014/main" id="{AFD84436-4204-8815-C5C1-E7337DE81C15}"/>
                </a:ext>
              </a:extLst>
            </p:cNvPr>
            <p:cNvGrpSpPr/>
            <p:nvPr/>
          </p:nvGrpSpPr>
          <p:grpSpPr>
            <a:xfrm>
              <a:off x="3751272" y="2788588"/>
              <a:ext cx="466106" cy="480367"/>
              <a:chOff x="9345616" y="3418428"/>
              <a:chExt cx="867558" cy="894101"/>
            </a:xfrm>
            <a:solidFill>
              <a:srgbClr val="ED7D31"/>
            </a:solidFill>
          </p:grpSpPr>
          <p:pic>
            <p:nvPicPr>
              <p:cNvPr id="12" name="Graphique 11" descr="Utilisateur avec un remplissage uni">
                <a:extLst>
                  <a:ext uri="{FF2B5EF4-FFF2-40B4-BE49-F238E27FC236}">
                    <a16:creationId xmlns:a16="http://schemas.microsoft.com/office/drawing/2014/main" id="{B834A4F6-5019-CF2B-4C17-A93A68AB274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13" name="Graphique 12" descr="Utilisateur avec un remplissage uni">
                <a:extLst>
                  <a:ext uri="{FF2B5EF4-FFF2-40B4-BE49-F238E27FC236}">
                    <a16:creationId xmlns:a16="http://schemas.microsoft.com/office/drawing/2014/main" id="{F118796B-9449-C431-CDB2-7878432BE86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20C2AF02-8586-1D7B-282A-BE966FD141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15" name="Graphique 14" descr="Utilisateur avec un remplissage uni">
                <a:extLst>
                  <a:ext uri="{FF2B5EF4-FFF2-40B4-BE49-F238E27FC236}">
                    <a16:creationId xmlns:a16="http://schemas.microsoft.com/office/drawing/2014/main" id="{5A81BCE2-B706-16BA-3DB9-9AD893FE103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16" name="Graphique 15" descr="Utilisateur avec un remplissage uni">
                <a:extLst>
                  <a:ext uri="{FF2B5EF4-FFF2-40B4-BE49-F238E27FC236}">
                    <a16:creationId xmlns:a16="http://schemas.microsoft.com/office/drawing/2014/main" id="{C7681AB2-F3CF-32B3-CC76-26E0872CD90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17" name="Graphique 16" descr="Utilisateur avec un remplissage uni">
                <a:extLst>
                  <a:ext uri="{FF2B5EF4-FFF2-40B4-BE49-F238E27FC236}">
                    <a16:creationId xmlns:a16="http://schemas.microsoft.com/office/drawing/2014/main" id="{77EC86D2-E749-9230-020C-9D612F24083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grpSp>
        <p:pic>
          <p:nvPicPr>
            <p:cNvPr id="18" name="Graphique 17" descr="Calendrier journalier avec un remplissage uni">
              <a:extLst>
                <a:ext uri="{FF2B5EF4-FFF2-40B4-BE49-F238E27FC236}">
                  <a16:creationId xmlns:a16="http://schemas.microsoft.com/office/drawing/2014/main" id="{1DB5EF1D-9D99-AE2B-8259-0FFB3794F22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046036" y="2768258"/>
              <a:ext cx="211687" cy="211687"/>
            </a:xfrm>
            <a:prstGeom prst="rect">
              <a:avLst/>
            </a:prstGeom>
          </p:spPr>
        </p:pic>
      </p:grpSp>
      <p:sp>
        <p:nvSpPr>
          <p:cNvPr id="25" name="Flèche : droite 24">
            <a:extLst>
              <a:ext uri="{FF2B5EF4-FFF2-40B4-BE49-F238E27FC236}">
                <a16:creationId xmlns:a16="http://schemas.microsoft.com/office/drawing/2014/main" id="{01825824-9AB6-939D-F1B7-519AB8547E56}"/>
              </a:ext>
            </a:extLst>
          </p:cNvPr>
          <p:cNvSpPr/>
          <p:nvPr/>
        </p:nvSpPr>
        <p:spPr>
          <a:xfrm>
            <a:off x="838200" y="2160692"/>
            <a:ext cx="1271359" cy="1330847"/>
          </a:xfrm>
          <a:prstGeom prst="rightArrow">
            <a:avLst>
              <a:gd name="adj1" fmla="val 69414"/>
              <a:gd name="adj2" fmla="val 50000"/>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b="1" dirty="0">
                <a:solidFill>
                  <a:schemeClr val="tx1"/>
                </a:solidFill>
              </a:rPr>
              <a:t>MOTIVATIONS : </a:t>
            </a:r>
          </a:p>
          <a:p>
            <a:pPr algn="ctr"/>
            <a:r>
              <a:rPr lang="fr-FR" sz="800" dirty="0">
                <a:solidFill>
                  <a:schemeClr val="tx1"/>
                </a:solidFill>
              </a:rPr>
              <a:t>Se projeter et se poser des questions sur la valeur possible</a:t>
            </a:r>
          </a:p>
        </p:txBody>
      </p:sp>
      <p:grpSp>
        <p:nvGrpSpPr>
          <p:cNvPr id="457" name="Groupe 456">
            <a:extLst>
              <a:ext uri="{FF2B5EF4-FFF2-40B4-BE49-F238E27FC236}">
                <a16:creationId xmlns:a16="http://schemas.microsoft.com/office/drawing/2014/main" id="{9E68A4F3-776A-A0F6-A223-FA0ACA833ECA}"/>
              </a:ext>
            </a:extLst>
          </p:cNvPr>
          <p:cNvGrpSpPr/>
          <p:nvPr/>
        </p:nvGrpSpPr>
        <p:grpSpPr>
          <a:xfrm>
            <a:off x="1178230" y="4170537"/>
            <a:ext cx="1365550" cy="1669167"/>
            <a:chOff x="22706043" y="1925227"/>
            <a:chExt cx="1365550" cy="1669167"/>
          </a:xfrm>
        </p:grpSpPr>
        <p:sp>
          <p:nvSpPr>
            <p:cNvPr id="158" name="Rectangle 157">
              <a:extLst>
                <a:ext uri="{FF2B5EF4-FFF2-40B4-BE49-F238E27FC236}">
                  <a16:creationId xmlns:a16="http://schemas.microsoft.com/office/drawing/2014/main" id="{3DFB0AB7-15C9-0C76-9651-51252FA1D14B}"/>
                </a:ext>
              </a:extLst>
            </p:cNvPr>
            <p:cNvSpPr/>
            <p:nvPr/>
          </p:nvSpPr>
          <p:spPr>
            <a:xfrm>
              <a:off x="22731943" y="2766121"/>
              <a:ext cx="1339649" cy="82827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📅Atelier d’identification de la valeur attendue pour les membres</a:t>
              </a:r>
            </a:p>
          </p:txBody>
        </p:sp>
        <p:grpSp>
          <p:nvGrpSpPr>
            <p:cNvPr id="192" name="Groupe 191">
              <a:extLst>
                <a:ext uri="{FF2B5EF4-FFF2-40B4-BE49-F238E27FC236}">
                  <a16:creationId xmlns:a16="http://schemas.microsoft.com/office/drawing/2014/main" id="{74F51D08-C3D9-913C-0FB2-DD39A180E04D}"/>
                </a:ext>
              </a:extLst>
            </p:cNvPr>
            <p:cNvGrpSpPr/>
            <p:nvPr/>
          </p:nvGrpSpPr>
          <p:grpSpPr>
            <a:xfrm>
              <a:off x="22847303" y="2439572"/>
              <a:ext cx="1224290" cy="184791"/>
              <a:chOff x="261104" y="1695766"/>
              <a:chExt cx="10571211" cy="1595596"/>
            </a:xfrm>
          </p:grpSpPr>
          <p:pic>
            <p:nvPicPr>
              <p:cNvPr id="193" name="Image 192">
                <a:extLst>
                  <a:ext uri="{FF2B5EF4-FFF2-40B4-BE49-F238E27FC236}">
                    <a16:creationId xmlns:a16="http://schemas.microsoft.com/office/drawing/2014/main" id="{89A127BB-E234-02C2-E9F0-17D19F7243A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61104" y="1702441"/>
                <a:ext cx="1120155" cy="1582246"/>
              </a:xfrm>
              <a:prstGeom prst="rect">
                <a:avLst/>
              </a:prstGeom>
            </p:spPr>
          </p:pic>
          <p:pic>
            <p:nvPicPr>
              <p:cNvPr id="194" name="Image 193">
                <a:extLst>
                  <a:ext uri="{FF2B5EF4-FFF2-40B4-BE49-F238E27FC236}">
                    <a16:creationId xmlns:a16="http://schemas.microsoft.com/office/drawing/2014/main" id="{7191DC07-6E87-A92D-1D4A-3ACCCEACBEE8}"/>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620940" y="1702441"/>
                <a:ext cx="1120155" cy="1582246"/>
              </a:xfrm>
              <a:prstGeom prst="rect">
                <a:avLst/>
              </a:prstGeom>
            </p:spPr>
          </p:pic>
          <p:pic>
            <p:nvPicPr>
              <p:cNvPr id="195" name="Image 194" descr="Une image contenant texte&#10;&#10;Description générée automatiquement">
                <a:extLst>
                  <a:ext uri="{FF2B5EF4-FFF2-40B4-BE49-F238E27FC236}">
                    <a16:creationId xmlns:a16="http://schemas.microsoft.com/office/drawing/2014/main" id="{9269FABF-2854-CA21-E988-9A9F2F4B217C}"/>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207372" y="1695766"/>
                <a:ext cx="1120155" cy="1582246"/>
              </a:xfrm>
              <a:prstGeom prst="rect">
                <a:avLst/>
              </a:prstGeom>
            </p:spPr>
          </p:pic>
          <p:pic>
            <p:nvPicPr>
              <p:cNvPr id="196" name="Image 195">
                <a:extLst>
                  <a:ext uri="{FF2B5EF4-FFF2-40B4-BE49-F238E27FC236}">
                    <a16:creationId xmlns:a16="http://schemas.microsoft.com/office/drawing/2014/main" id="{B19A9BDF-9F9B-0139-4F99-DB712E33D74D}"/>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8546782" y="1695766"/>
                <a:ext cx="1120155" cy="1582246"/>
              </a:xfrm>
              <a:prstGeom prst="rect">
                <a:avLst/>
              </a:prstGeom>
            </p:spPr>
          </p:pic>
          <p:pic>
            <p:nvPicPr>
              <p:cNvPr id="197" name="Image 196">
                <a:extLst>
                  <a:ext uri="{FF2B5EF4-FFF2-40B4-BE49-F238E27FC236}">
                    <a16:creationId xmlns:a16="http://schemas.microsoft.com/office/drawing/2014/main" id="{2E15D4C2-70A4-D93F-D728-1845327AE1E1}"/>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446008" y="1702441"/>
                <a:ext cx="1120155" cy="1582246"/>
              </a:xfrm>
              <a:prstGeom prst="rect">
                <a:avLst/>
              </a:prstGeom>
            </p:spPr>
          </p:pic>
          <p:pic>
            <p:nvPicPr>
              <p:cNvPr id="198" name="Image 197">
                <a:extLst>
                  <a:ext uri="{FF2B5EF4-FFF2-40B4-BE49-F238E27FC236}">
                    <a16:creationId xmlns:a16="http://schemas.microsoft.com/office/drawing/2014/main" id="{9C95CCC4-55E2-9C8E-5132-AE57596C6122}"/>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3814945" y="1702441"/>
                <a:ext cx="1120155" cy="1582246"/>
              </a:xfrm>
              <a:prstGeom prst="rect">
                <a:avLst/>
              </a:prstGeom>
            </p:spPr>
          </p:pic>
          <p:pic>
            <p:nvPicPr>
              <p:cNvPr id="199" name="Image 198" descr="Une image contenant texte&#10;&#10;Description générée automatiquement">
                <a:extLst>
                  <a:ext uri="{FF2B5EF4-FFF2-40B4-BE49-F238E27FC236}">
                    <a16:creationId xmlns:a16="http://schemas.microsoft.com/office/drawing/2014/main" id="{18A70703-1D71-3088-0BEA-CAEA9A99FB4E}"/>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7381401" y="1695766"/>
                <a:ext cx="1120155" cy="1582246"/>
              </a:xfrm>
              <a:prstGeom prst="rect">
                <a:avLst/>
              </a:prstGeom>
            </p:spPr>
          </p:pic>
          <p:pic>
            <p:nvPicPr>
              <p:cNvPr id="200" name="Image 199" descr="Une image contenant texte&#10;&#10;Description générée automatiquement">
                <a:extLst>
                  <a:ext uri="{FF2B5EF4-FFF2-40B4-BE49-F238E27FC236}">
                    <a16:creationId xmlns:a16="http://schemas.microsoft.com/office/drawing/2014/main" id="{6BB30482-1825-A778-8597-B7801531EAB2}"/>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9712160" y="1695766"/>
                <a:ext cx="1120155" cy="1582246"/>
              </a:xfrm>
              <a:prstGeom prst="rect">
                <a:avLst/>
              </a:prstGeom>
            </p:spPr>
          </p:pic>
          <p:pic>
            <p:nvPicPr>
              <p:cNvPr id="201" name="Image 200" descr="Une image contenant texte&#10;&#10;Description générée automatiquement">
                <a:extLst>
                  <a:ext uri="{FF2B5EF4-FFF2-40B4-BE49-F238E27FC236}">
                    <a16:creationId xmlns:a16="http://schemas.microsoft.com/office/drawing/2014/main" id="{C8B13D1D-713D-8DA1-FF73-A956B0429601}"/>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4993795" y="1702441"/>
                <a:ext cx="1135830" cy="1588921"/>
              </a:xfrm>
              <a:prstGeom prst="rect">
                <a:avLst/>
              </a:prstGeom>
            </p:spPr>
          </p:pic>
        </p:grpSp>
        <p:grpSp>
          <p:nvGrpSpPr>
            <p:cNvPr id="202" name="Groupe 201">
              <a:extLst>
                <a:ext uri="{FF2B5EF4-FFF2-40B4-BE49-F238E27FC236}">
                  <a16:creationId xmlns:a16="http://schemas.microsoft.com/office/drawing/2014/main" id="{C4A6A89A-7587-6DE6-F1A6-1D0FF5093767}"/>
                </a:ext>
              </a:extLst>
            </p:cNvPr>
            <p:cNvGrpSpPr/>
            <p:nvPr/>
          </p:nvGrpSpPr>
          <p:grpSpPr>
            <a:xfrm>
              <a:off x="22706043" y="1925227"/>
              <a:ext cx="123305" cy="477372"/>
              <a:chOff x="1087583" y="694189"/>
              <a:chExt cx="1484849" cy="5748556"/>
            </a:xfrm>
          </p:grpSpPr>
          <p:cxnSp>
            <p:nvCxnSpPr>
              <p:cNvPr id="203" name="Connecteur droit avec flèche 202">
                <a:extLst>
                  <a:ext uri="{FF2B5EF4-FFF2-40B4-BE49-F238E27FC236}">
                    <a16:creationId xmlns:a16="http://schemas.microsoft.com/office/drawing/2014/main" id="{F5CD510D-9502-6606-609A-DDF25204F605}"/>
                  </a:ext>
                </a:extLst>
              </p:cNvPr>
              <p:cNvCxnSpPr>
                <a:cxnSpLocks/>
              </p:cNvCxnSpPr>
              <p:nvPr/>
            </p:nvCxnSpPr>
            <p:spPr>
              <a:xfrm flipV="1">
                <a:off x="1809036" y="694189"/>
                <a:ext cx="0" cy="5748556"/>
              </a:xfrm>
              <a:prstGeom prst="straightConnector1">
                <a:avLst/>
              </a:prstGeom>
              <a:ln w="3175">
                <a:tailEnd type="triangle"/>
              </a:ln>
            </p:spPr>
            <p:style>
              <a:lnRef idx="1">
                <a:schemeClr val="accent1"/>
              </a:lnRef>
              <a:fillRef idx="0">
                <a:schemeClr val="accent1"/>
              </a:fillRef>
              <a:effectRef idx="0">
                <a:schemeClr val="accent1"/>
              </a:effectRef>
              <a:fontRef idx="minor">
                <a:schemeClr val="tx1"/>
              </a:fontRef>
            </p:style>
          </p:cxnSp>
          <p:sp>
            <p:nvSpPr>
              <p:cNvPr id="204" name="Rectangle 203">
                <a:extLst>
                  <a:ext uri="{FF2B5EF4-FFF2-40B4-BE49-F238E27FC236}">
                    <a16:creationId xmlns:a16="http://schemas.microsoft.com/office/drawing/2014/main" id="{D9136031-D989-20A2-A1EB-4F91C80CD31B}"/>
                  </a:ext>
                </a:extLst>
              </p:cNvPr>
              <p:cNvSpPr/>
              <p:nvPr/>
            </p:nvSpPr>
            <p:spPr>
              <a:xfrm>
                <a:off x="1087583" y="1055232"/>
                <a:ext cx="1484849" cy="595619"/>
              </a:xfrm>
              <a:prstGeom prst="rect">
                <a:avLst/>
              </a:prstGeom>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205" name="Rectangle 204">
                <a:extLst>
                  <a:ext uri="{FF2B5EF4-FFF2-40B4-BE49-F238E27FC236}">
                    <a16:creationId xmlns:a16="http://schemas.microsoft.com/office/drawing/2014/main" id="{61BC203B-DB21-A3C3-0634-BDE0E3C1A96F}"/>
                  </a:ext>
                </a:extLst>
              </p:cNvPr>
              <p:cNvSpPr/>
              <p:nvPr/>
            </p:nvSpPr>
            <p:spPr>
              <a:xfrm>
                <a:off x="1087583" y="2098260"/>
                <a:ext cx="1484849" cy="914401"/>
              </a:xfrm>
              <a:prstGeom prst="rect">
                <a:avLst/>
              </a:prstGeom>
              <a:solidFill>
                <a:srgbClr val="ED7D3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206" name="Rectangle 205">
                <a:extLst>
                  <a:ext uri="{FF2B5EF4-FFF2-40B4-BE49-F238E27FC236}">
                    <a16:creationId xmlns:a16="http://schemas.microsoft.com/office/drawing/2014/main" id="{F5C1B9B0-4B71-3068-8A5C-055ED33C8635}"/>
                  </a:ext>
                </a:extLst>
              </p:cNvPr>
              <p:cNvSpPr/>
              <p:nvPr/>
            </p:nvSpPr>
            <p:spPr>
              <a:xfrm>
                <a:off x="1087583" y="3550455"/>
                <a:ext cx="1484849" cy="545285"/>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207" name="Rectangle 206">
                <a:extLst>
                  <a:ext uri="{FF2B5EF4-FFF2-40B4-BE49-F238E27FC236}">
                    <a16:creationId xmlns:a16="http://schemas.microsoft.com/office/drawing/2014/main" id="{9A47A26F-FAF6-DB4F-3E6A-6313999A3B6F}"/>
                  </a:ext>
                </a:extLst>
              </p:cNvPr>
              <p:cNvSpPr/>
              <p:nvPr/>
            </p:nvSpPr>
            <p:spPr>
              <a:xfrm>
                <a:off x="1087583" y="4840958"/>
                <a:ext cx="1484849" cy="545285"/>
              </a:xfrm>
              <a:prstGeom prst="rect">
                <a:avLst/>
              </a:prstGeom>
              <a:solidFill>
                <a:schemeClr val="bg1">
                  <a:lumMod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p>
            </p:txBody>
          </p:sp>
          <p:sp>
            <p:nvSpPr>
              <p:cNvPr id="208" name="Rectangle 207">
                <a:extLst>
                  <a:ext uri="{FF2B5EF4-FFF2-40B4-BE49-F238E27FC236}">
                    <a16:creationId xmlns:a16="http://schemas.microsoft.com/office/drawing/2014/main" id="{410D9946-BCB5-8BAC-F5FB-D6257630C255}"/>
                  </a:ext>
                </a:extLst>
              </p:cNvPr>
              <p:cNvSpPr/>
              <p:nvPr/>
            </p:nvSpPr>
            <p:spPr>
              <a:xfrm>
                <a:off x="1087583" y="5858818"/>
                <a:ext cx="1484849" cy="54528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209" name="Rectangle 208">
              <a:extLst>
                <a:ext uri="{FF2B5EF4-FFF2-40B4-BE49-F238E27FC236}">
                  <a16:creationId xmlns:a16="http://schemas.microsoft.com/office/drawing/2014/main" id="{584E6DC0-B9D5-27E6-365B-C0741EF77257}"/>
                </a:ext>
              </a:extLst>
            </p:cNvPr>
            <p:cNvSpPr/>
            <p:nvPr/>
          </p:nvSpPr>
          <p:spPr>
            <a:xfrm>
              <a:off x="22854529" y="2326164"/>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 name="Rectangle 209">
              <a:extLst>
                <a:ext uri="{FF2B5EF4-FFF2-40B4-BE49-F238E27FC236}">
                  <a16:creationId xmlns:a16="http://schemas.microsoft.com/office/drawing/2014/main" id="{2CE93DE9-1B31-13AC-1F8C-6B35B11A27D8}"/>
                </a:ext>
              </a:extLst>
            </p:cNvPr>
            <p:cNvSpPr/>
            <p:nvPr/>
          </p:nvSpPr>
          <p:spPr>
            <a:xfrm>
              <a:off x="22961350" y="2044532"/>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 name="Rectangle 210">
              <a:extLst>
                <a:ext uri="{FF2B5EF4-FFF2-40B4-BE49-F238E27FC236}">
                  <a16:creationId xmlns:a16="http://schemas.microsoft.com/office/drawing/2014/main" id="{D4368685-A767-F50C-5128-B1A7AC115E72}"/>
                </a:ext>
              </a:extLst>
            </p:cNvPr>
            <p:cNvSpPr/>
            <p:nvPr/>
          </p:nvSpPr>
          <p:spPr>
            <a:xfrm>
              <a:off x="23237533" y="1946246"/>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 name="Rectangle 211">
              <a:extLst>
                <a:ext uri="{FF2B5EF4-FFF2-40B4-BE49-F238E27FC236}">
                  <a16:creationId xmlns:a16="http://schemas.microsoft.com/office/drawing/2014/main" id="{4D020E25-C212-CC64-2924-115DB3A2C664}"/>
                </a:ext>
              </a:extLst>
            </p:cNvPr>
            <p:cNvSpPr/>
            <p:nvPr/>
          </p:nvSpPr>
          <p:spPr>
            <a:xfrm>
              <a:off x="23024246" y="2518290"/>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 name="Rectangle 212">
              <a:extLst>
                <a:ext uri="{FF2B5EF4-FFF2-40B4-BE49-F238E27FC236}">
                  <a16:creationId xmlns:a16="http://schemas.microsoft.com/office/drawing/2014/main" id="{7DB00684-CCD4-77E3-37E4-53153DB4511E}"/>
                </a:ext>
              </a:extLst>
            </p:cNvPr>
            <p:cNvSpPr/>
            <p:nvPr/>
          </p:nvSpPr>
          <p:spPr>
            <a:xfrm>
              <a:off x="23407250" y="2138372"/>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 name="Rectangle 213">
              <a:extLst>
                <a:ext uri="{FF2B5EF4-FFF2-40B4-BE49-F238E27FC236}">
                  <a16:creationId xmlns:a16="http://schemas.microsoft.com/office/drawing/2014/main" id="{795F2808-341E-DAC5-55FD-73A089F37747}"/>
                </a:ext>
              </a:extLst>
            </p:cNvPr>
            <p:cNvSpPr/>
            <p:nvPr/>
          </p:nvSpPr>
          <p:spPr>
            <a:xfrm>
              <a:off x="23688826" y="1946246"/>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 name="Rectangle 214">
              <a:extLst>
                <a:ext uri="{FF2B5EF4-FFF2-40B4-BE49-F238E27FC236}">
                  <a16:creationId xmlns:a16="http://schemas.microsoft.com/office/drawing/2014/main" id="{3E663AD1-9988-4934-3F86-6C1F1400183C}"/>
                </a:ext>
              </a:extLst>
            </p:cNvPr>
            <p:cNvSpPr/>
            <p:nvPr/>
          </p:nvSpPr>
          <p:spPr>
            <a:xfrm>
              <a:off x="23535478" y="2273546"/>
              <a:ext cx="86217" cy="73226"/>
            </a:xfrm>
            <a:prstGeom prst="rect">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510" name="Rectangle 509">
            <a:extLst>
              <a:ext uri="{FF2B5EF4-FFF2-40B4-BE49-F238E27FC236}">
                <a16:creationId xmlns:a16="http://schemas.microsoft.com/office/drawing/2014/main" id="{E3B13F0C-EA45-FBE3-C8BF-DA5D7D558801}"/>
              </a:ext>
            </a:extLst>
          </p:cNvPr>
          <p:cNvSpPr/>
          <p:nvPr/>
        </p:nvSpPr>
        <p:spPr>
          <a:xfrm>
            <a:off x="3147516" y="5147371"/>
            <a:ext cx="1749270"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Qualifier le niveau d’obligation/ de soutien nécessaire pour tenir dans le temps</a:t>
            </a:r>
          </a:p>
        </p:txBody>
      </p:sp>
      <p:grpSp>
        <p:nvGrpSpPr>
          <p:cNvPr id="635" name="Groupe 634">
            <a:extLst>
              <a:ext uri="{FF2B5EF4-FFF2-40B4-BE49-F238E27FC236}">
                <a16:creationId xmlns:a16="http://schemas.microsoft.com/office/drawing/2014/main" id="{717126A6-F0F2-A1D9-C4D6-9AAD0F50FDCA}"/>
              </a:ext>
            </a:extLst>
          </p:cNvPr>
          <p:cNvGrpSpPr/>
          <p:nvPr/>
        </p:nvGrpSpPr>
        <p:grpSpPr>
          <a:xfrm>
            <a:off x="5236478" y="4340850"/>
            <a:ext cx="1677339" cy="779542"/>
            <a:chOff x="1200708" y="1554134"/>
            <a:chExt cx="11005054" cy="5114590"/>
          </a:xfrm>
        </p:grpSpPr>
        <p:grpSp>
          <p:nvGrpSpPr>
            <p:cNvPr id="636" name="Groupe 635">
              <a:extLst>
                <a:ext uri="{FF2B5EF4-FFF2-40B4-BE49-F238E27FC236}">
                  <a16:creationId xmlns:a16="http://schemas.microsoft.com/office/drawing/2014/main" id="{22CCE84C-F2D2-73B7-E9F6-2FCE355B5F2C}"/>
                </a:ext>
              </a:extLst>
            </p:cNvPr>
            <p:cNvGrpSpPr/>
            <p:nvPr/>
          </p:nvGrpSpPr>
          <p:grpSpPr>
            <a:xfrm>
              <a:off x="6504043" y="2073196"/>
              <a:ext cx="1188000" cy="1059664"/>
              <a:chOff x="6597866" y="3344326"/>
              <a:chExt cx="1188000" cy="1059664"/>
            </a:xfrm>
          </p:grpSpPr>
          <p:sp>
            <p:nvSpPr>
              <p:cNvPr id="747" name="Rectangle 746">
                <a:extLst>
                  <a:ext uri="{FF2B5EF4-FFF2-40B4-BE49-F238E27FC236}">
                    <a16:creationId xmlns:a16="http://schemas.microsoft.com/office/drawing/2014/main" id="{1DB2C475-3D38-7CE6-2CC1-7F1E09FFA587}"/>
                  </a:ext>
                </a:extLst>
              </p:cNvPr>
              <p:cNvSpPr/>
              <p:nvPr/>
            </p:nvSpPr>
            <p:spPr>
              <a:xfrm>
                <a:off x="6597866" y="3890367"/>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748" name="Groupe 747">
                <a:extLst>
                  <a:ext uri="{FF2B5EF4-FFF2-40B4-BE49-F238E27FC236}">
                    <a16:creationId xmlns:a16="http://schemas.microsoft.com/office/drawing/2014/main" id="{FA9C911F-B286-F1DF-F7DA-0B2BA80ED9FA}"/>
                  </a:ext>
                </a:extLst>
              </p:cNvPr>
              <p:cNvGrpSpPr/>
              <p:nvPr/>
            </p:nvGrpSpPr>
            <p:grpSpPr>
              <a:xfrm>
                <a:off x="6650513" y="3344326"/>
                <a:ext cx="1020563" cy="496065"/>
                <a:chOff x="6713702" y="745208"/>
                <a:chExt cx="4891967" cy="2377838"/>
              </a:xfrm>
            </p:grpSpPr>
            <p:pic>
              <p:nvPicPr>
                <p:cNvPr id="749" name="Graphique 748" descr="Ramper avec un remplissage uni">
                  <a:extLst>
                    <a:ext uri="{FF2B5EF4-FFF2-40B4-BE49-F238E27FC236}">
                      <a16:creationId xmlns:a16="http://schemas.microsoft.com/office/drawing/2014/main" id="{B83F064D-F815-B4FF-93FA-623D80E6948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6713702" y="2208646"/>
                  <a:ext cx="914400" cy="914400"/>
                </a:xfrm>
                <a:prstGeom prst="rect">
                  <a:avLst/>
                </a:prstGeom>
              </p:spPr>
            </p:pic>
            <p:pic>
              <p:nvPicPr>
                <p:cNvPr id="750" name="Graphique 749" descr="Marcher avec un remplissage uni">
                  <a:extLst>
                    <a:ext uri="{FF2B5EF4-FFF2-40B4-BE49-F238E27FC236}">
                      <a16:creationId xmlns:a16="http://schemas.microsoft.com/office/drawing/2014/main" id="{7D5297E8-8ED9-A8FC-A711-DD5CBB00A5B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650711" y="1900170"/>
                  <a:ext cx="914400" cy="914400"/>
                </a:xfrm>
                <a:prstGeom prst="rect">
                  <a:avLst/>
                </a:prstGeom>
              </p:spPr>
            </p:pic>
            <p:pic>
              <p:nvPicPr>
                <p:cNvPr id="751" name="Graphique 750" descr="Courir avec un remplissage uni">
                  <a:extLst>
                    <a:ext uri="{FF2B5EF4-FFF2-40B4-BE49-F238E27FC236}">
                      <a16:creationId xmlns:a16="http://schemas.microsoft.com/office/drawing/2014/main" id="{F870A626-0828-A17A-0A88-3D710CB72749}"/>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8587720" y="1591693"/>
                  <a:ext cx="914400" cy="914400"/>
                </a:xfrm>
                <a:prstGeom prst="rect">
                  <a:avLst/>
                </a:prstGeom>
              </p:spPr>
            </p:pic>
            <p:pic>
              <p:nvPicPr>
                <p:cNvPr id="752" name="Graphique 751" descr="Héros avec un remplissage uni">
                  <a:extLst>
                    <a:ext uri="{FF2B5EF4-FFF2-40B4-BE49-F238E27FC236}">
                      <a16:creationId xmlns:a16="http://schemas.microsoft.com/office/drawing/2014/main" id="{B721E14A-CD63-38ED-C38A-3BEF5153E86D}"/>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10691269" y="745208"/>
                  <a:ext cx="914400" cy="914400"/>
                </a:xfrm>
                <a:prstGeom prst="rect">
                  <a:avLst/>
                </a:prstGeom>
              </p:spPr>
            </p:pic>
            <p:pic>
              <p:nvPicPr>
                <p:cNvPr id="753" name="Graphique 752" descr="Aspiration avec un remplissage uni">
                  <a:extLst>
                    <a:ext uri="{FF2B5EF4-FFF2-40B4-BE49-F238E27FC236}">
                      <a16:creationId xmlns:a16="http://schemas.microsoft.com/office/drawing/2014/main" id="{AAD0A52B-0241-E242-26D3-76479BD65F3E}"/>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524729" y="1053685"/>
                  <a:ext cx="1143931" cy="1143931"/>
                </a:xfrm>
                <a:prstGeom prst="rect">
                  <a:avLst/>
                </a:prstGeom>
              </p:spPr>
            </p:pic>
          </p:grpSp>
        </p:grpSp>
        <p:grpSp>
          <p:nvGrpSpPr>
            <p:cNvPr id="637" name="Groupe 636">
              <a:extLst>
                <a:ext uri="{FF2B5EF4-FFF2-40B4-BE49-F238E27FC236}">
                  <a16:creationId xmlns:a16="http://schemas.microsoft.com/office/drawing/2014/main" id="{91276A3A-7934-A0B9-AB9F-803FA3A2AA07}"/>
                </a:ext>
              </a:extLst>
            </p:cNvPr>
            <p:cNvGrpSpPr/>
            <p:nvPr/>
          </p:nvGrpSpPr>
          <p:grpSpPr>
            <a:xfrm>
              <a:off x="2742113" y="2098539"/>
              <a:ext cx="1188000" cy="1034321"/>
              <a:chOff x="1241541" y="3369669"/>
              <a:chExt cx="1188000" cy="1034321"/>
            </a:xfrm>
          </p:grpSpPr>
          <p:sp>
            <p:nvSpPr>
              <p:cNvPr id="745" name="Rectangle 744">
                <a:extLst>
                  <a:ext uri="{FF2B5EF4-FFF2-40B4-BE49-F238E27FC236}">
                    <a16:creationId xmlns:a16="http://schemas.microsoft.com/office/drawing/2014/main" id="{DB2C8BBF-A139-B019-1D3B-1FCC432FA178}"/>
                  </a:ext>
                </a:extLst>
              </p:cNvPr>
              <p:cNvSpPr/>
              <p:nvPr/>
            </p:nvSpPr>
            <p:spPr>
              <a:xfrm>
                <a:off x="1241541" y="3890367"/>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pic>
            <p:nvPicPr>
              <p:cNvPr id="746" name="Graphique 745" descr="Salle de conseil avec un remplissage uni">
                <a:extLst>
                  <a:ext uri="{FF2B5EF4-FFF2-40B4-BE49-F238E27FC236}">
                    <a16:creationId xmlns:a16="http://schemas.microsoft.com/office/drawing/2014/main" id="{04C7E6E1-EAD5-A828-B651-D40D6F9CE240}"/>
                  </a:ext>
                </a:extLst>
              </p:cNvPr>
              <p:cNvPicPr>
                <a:picLocks noChangeAspect="1"/>
              </p:cNvPicPr>
              <p:nvPr/>
            </p:nvPicPr>
            <p:blipFill rotWithShape="1">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rcRect b="16472"/>
              <a:stretch/>
            </p:blipFill>
            <p:spPr>
              <a:xfrm>
                <a:off x="1632360" y="3369669"/>
                <a:ext cx="551732" cy="460853"/>
              </a:xfrm>
              <a:prstGeom prst="rect">
                <a:avLst/>
              </a:prstGeom>
            </p:spPr>
          </p:pic>
        </p:grpSp>
        <p:grpSp>
          <p:nvGrpSpPr>
            <p:cNvPr id="638" name="Groupe 637">
              <a:extLst>
                <a:ext uri="{FF2B5EF4-FFF2-40B4-BE49-F238E27FC236}">
                  <a16:creationId xmlns:a16="http://schemas.microsoft.com/office/drawing/2014/main" id="{55E54138-9724-96CA-0C0B-AB17A24DF04B}"/>
                </a:ext>
              </a:extLst>
            </p:cNvPr>
            <p:cNvGrpSpPr/>
            <p:nvPr/>
          </p:nvGrpSpPr>
          <p:grpSpPr>
            <a:xfrm>
              <a:off x="3995935" y="1943285"/>
              <a:ext cx="1188000" cy="1189575"/>
              <a:chOff x="2998706" y="3222767"/>
              <a:chExt cx="1188000" cy="1189575"/>
            </a:xfrm>
          </p:grpSpPr>
          <p:sp>
            <p:nvSpPr>
              <p:cNvPr id="736" name="Rectangle 735">
                <a:extLst>
                  <a:ext uri="{FF2B5EF4-FFF2-40B4-BE49-F238E27FC236}">
                    <a16:creationId xmlns:a16="http://schemas.microsoft.com/office/drawing/2014/main" id="{650C1755-113C-10BF-EE31-48396B2CE0B7}"/>
                  </a:ext>
                </a:extLst>
              </p:cNvPr>
              <p:cNvSpPr/>
              <p:nvPr/>
            </p:nvSpPr>
            <p:spPr>
              <a:xfrm>
                <a:off x="2998706" y="3898719"/>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737" name="Groupe 736">
                <a:extLst>
                  <a:ext uri="{FF2B5EF4-FFF2-40B4-BE49-F238E27FC236}">
                    <a16:creationId xmlns:a16="http://schemas.microsoft.com/office/drawing/2014/main" id="{996959D4-1E75-934D-6E01-D35E21D946BB}"/>
                  </a:ext>
                </a:extLst>
              </p:cNvPr>
              <p:cNvGrpSpPr/>
              <p:nvPr/>
            </p:nvGrpSpPr>
            <p:grpSpPr>
              <a:xfrm>
                <a:off x="3136295" y="3222767"/>
                <a:ext cx="923180" cy="541840"/>
                <a:chOff x="656694" y="628802"/>
                <a:chExt cx="5064427" cy="2356880"/>
              </a:xfrm>
            </p:grpSpPr>
            <p:pic>
              <p:nvPicPr>
                <p:cNvPr id="739" name="Graphique 738" descr="Personne confuse avec un remplissage uni">
                  <a:extLst>
                    <a:ext uri="{FF2B5EF4-FFF2-40B4-BE49-F238E27FC236}">
                      <a16:creationId xmlns:a16="http://schemas.microsoft.com/office/drawing/2014/main" id="{F7A7EEA0-082C-E849-D012-6A862089D1DD}"/>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1604967" y="1805997"/>
                  <a:ext cx="940978" cy="940978"/>
                </a:xfrm>
                <a:prstGeom prst="rect">
                  <a:avLst/>
                </a:prstGeom>
              </p:spPr>
            </p:pic>
            <p:pic>
              <p:nvPicPr>
                <p:cNvPr id="740" name="Graphique 739" descr="Réussite du groupe avec un remplissage uni">
                  <a:extLst>
                    <a:ext uri="{FF2B5EF4-FFF2-40B4-BE49-F238E27FC236}">
                      <a16:creationId xmlns:a16="http://schemas.microsoft.com/office/drawing/2014/main" id="{6E980C8F-0CC5-2D2B-C599-58D19AD058EB}"/>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4228767" y="628802"/>
                  <a:ext cx="1492354" cy="1492354"/>
                </a:xfrm>
                <a:prstGeom prst="rect">
                  <a:avLst/>
                </a:prstGeom>
              </p:spPr>
            </p:pic>
            <p:pic>
              <p:nvPicPr>
                <p:cNvPr id="741" name="Graphique 740" descr="Personne confuse avec un remplissage uni">
                  <a:extLst>
                    <a:ext uri="{FF2B5EF4-FFF2-40B4-BE49-F238E27FC236}">
                      <a16:creationId xmlns:a16="http://schemas.microsoft.com/office/drawing/2014/main" id="{8E09066D-256D-D101-1B36-DF5A686EF0E5}"/>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2479567" y="1609677"/>
                  <a:ext cx="940978" cy="940978"/>
                </a:xfrm>
                <a:prstGeom prst="rect">
                  <a:avLst/>
                </a:prstGeom>
              </p:spPr>
            </p:pic>
            <p:pic>
              <p:nvPicPr>
                <p:cNvPr id="742" name="Graphique 741" descr="Personne confuse avec un remplissage uni">
                  <a:extLst>
                    <a:ext uri="{FF2B5EF4-FFF2-40B4-BE49-F238E27FC236}">
                      <a16:creationId xmlns:a16="http://schemas.microsoft.com/office/drawing/2014/main" id="{EF6D87F6-4204-D175-4F2E-FF8401DEAC02}"/>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656694" y="2044704"/>
                  <a:ext cx="940978" cy="940978"/>
                </a:xfrm>
                <a:prstGeom prst="rect">
                  <a:avLst/>
                </a:prstGeom>
              </p:spPr>
            </p:pic>
            <p:pic>
              <p:nvPicPr>
                <p:cNvPr id="743" name="Graphique 742" descr="Personne confuse avec un remplissage uni">
                  <a:extLst>
                    <a:ext uri="{FF2B5EF4-FFF2-40B4-BE49-F238E27FC236}">
                      <a16:creationId xmlns:a16="http://schemas.microsoft.com/office/drawing/2014/main" id="{861B58D0-08FF-A23F-6FD0-8A720FB0763B}"/>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3335309" y="1410992"/>
                  <a:ext cx="940984" cy="940981"/>
                </a:xfrm>
                <a:prstGeom prst="rect">
                  <a:avLst/>
                </a:prstGeom>
              </p:spPr>
            </p:pic>
            <p:pic>
              <p:nvPicPr>
                <p:cNvPr id="744" name="Graphique 743" descr="Personne confuse avec un remplissage uni">
                  <a:extLst>
                    <a:ext uri="{FF2B5EF4-FFF2-40B4-BE49-F238E27FC236}">
                      <a16:creationId xmlns:a16="http://schemas.microsoft.com/office/drawing/2014/main" id="{042ED57E-26A5-61EB-B66C-D481A9A2F5C6}"/>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4234476" y="1189119"/>
                  <a:ext cx="940978" cy="940978"/>
                </a:xfrm>
                <a:prstGeom prst="rect">
                  <a:avLst/>
                </a:prstGeom>
              </p:spPr>
            </p:pic>
          </p:grpSp>
        </p:grpSp>
        <p:grpSp>
          <p:nvGrpSpPr>
            <p:cNvPr id="639" name="Groupe 638">
              <a:extLst>
                <a:ext uri="{FF2B5EF4-FFF2-40B4-BE49-F238E27FC236}">
                  <a16:creationId xmlns:a16="http://schemas.microsoft.com/office/drawing/2014/main" id="{8AB135F0-8E9A-8DF7-7D45-7E827014E43C}"/>
                </a:ext>
              </a:extLst>
            </p:cNvPr>
            <p:cNvGrpSpPr/>
            <p:nvPr/>
          </p:nvGrpSpPr>
          <p:grpSpPr>
            <a:xfrm>
              <a:off x="5244199" y="1554134"/>
              <a:ext cx="1188000" cy="1569057"/>
              <a:chOff x="4859249" y="2834933"/>
              <a:chExt cx="1188000" cy="1569057"/>
            </a:xfrm>
          </p:grpSpPr>
          <p:sp>
            <p:nvSpPr>
              <p:cNvPr id="727" name="Rectangle 726">
                <a:extLst>
                  <a:ext uri="{FF2B5EF4-FFF2-40B4-BE49-F238E27FC236}">
                    <a16:creationId xmlns:a16="http://schemas.microsoft.com/office/drawing/2014/main" id="{2000C3A0-91F8-3E78-20D7-2271D76867EB}"/>
                  </a:ext>
                </a:extLst>
              </p:cNvPr>
              <p:cNvSpPr/>
              <p:nvPr/>
            </p:nvSpPr>
            <p:spPr>
              <a:xfrm>
                <a:off x="4859249" y="3890367"/>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728" name="Groupe 727">
                <a:extLst>
                  <a:ext uri="{FF2B5EF4-FFF2-40B4-BE49-F238E27FC236}">
                    <a16:creationId xmlns:a16="http://schemas.microsoft.com/office/drawing/2014/main" id="{7D558E12-DA97-F987-2EFF-51D07302722A}"/>
                  </a:ext>
                </a:extLst>
              </p:cNvPr>
              <p:cNvGrpSpPr/>
              <p:nvPr/>
            </p:nvGrpSpPr>
            <p:grpSpPr>
              <a:xfrm>
                <a:off x="4953396" y="2834933"/>
                <a:ext cx="1021038" cy="1060714"/>
                <a:chOff x="1793893" y="3948469"/>
                <a:chExt cx="2716107" cy="2749848"/>
              </a:xfrm>
            </p:grpSpPr>
            <p:pic>
              <p:nvPicPr>
                <p:cNvPr id="729" name="Graphique 728" descr="Diplôme roulé avec un remplissage uni">
                  <a:extLst>
                    <a:ext uri="{FF2B5EF4-FFF2-40B4-BE49-F238E27FC236}">
                      <a16:creationId xmlns:a16="http://schemas.microsoft.com/office/drawing/2014/main" id="{D897DFDD-EB5E-A530-E6F4-39464652AE19}"/>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2976734" y="5783917"/>
                  <a:ext cx="914400" cy="914400"/>
                </a:xfrm>
                <a:prstGeom prst="rect">
                  <a:avLst/>
                </a:prstGeom>
              </p:spPr>
            </p:pic>
            <p:grpSp>
              <p:nvGrpSpPr>
                <p:cNvPr id="730" name="Groupe 729">
                  <a:extLst>
                    <a:ext uri="{FF2B5EF4-FFF2-40B4-BE49-F238E27FC236}">
                      <a16:creationId xmlns:a16="http://schemas.microsoft.com/office/drawing/2014/main" id="{77640625-42BD-59BE-99AE-27B9C8756C2F}"/>
                    </a:ext>
                  </a:extLst>
                </p:cNvPr>
                <p:cNvGrpSpPr/>
                <p:nvPr/>
              </p:nvGrpSpPr>
              <p:grpSpPr>
                <a:xfrm>
                  <a:off x="1793893" y="3948469"/>
                  <a:ext cx="2716107" cy="2284168"/>
                  <a:chOff x="1793893" y="3948469"/>
                  <a:chExt cx="2716107" cy="2284168"/>
                </a:xfrm>
              </p:grpSpPr>
              <p:sp>
                <p:nvSpPr>
                  <p:cNvPr id="731" name="Ellipse 730">
                    <a:extLst>
                      <a:ext uri="{FF2B5EF4-FFF2-40B4-BE49-F238E27FC236}">
                        <a16:creationId xmlns:a16="http://schemas.microsoft.com/office/drawing/2014/main" id="{22425E7E-991B-E533-99F6-D1A5109D792D}"/>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32" name="Graphique 731" descr="Transférer avec un remplissage uni">
                    <a:extLst>
                      <a:ext uri="{FF2B5EF4-FFF2-40B4-BE49-F238E27FC236}">
                        <a16:creationId xmlns:a16="http://schemas.microsoft.com/office/drawing/2014/main" id="{1C7A12A5-00C7-4FDB-01C0-85F90034D850}"/>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1979208" y="4142052"/>
                    <a:ext cx="914400" cy="914400"/>
                  </a:xfrm>
                  <a:prstGeom prst="rect">
                    <a:avLst/>
                  </a:prstGeom>
                </p:spPr>
              </p:pic>
              <p:pic>
                <p:nvPicPr>
                  <p:cNvPr id="733" name="Graphique 732" descr="Toque d'étudiant avec un remplissage uni">
                    <a:extLst>
                      <a:ext uri="{FF2B5EF4-FFF2-40B4-BE49-F238E27FC236}">
                        <a16:creationId xmlns:a16="http://schemas.microsoft.com/office/drawing/2014/main" id="{F86098CE-B118-4A46-6A4D-1B69F832822A}"/>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3260713" y="3948469"/>
                    <a:ext cx="914400" cy="914400"/>
                  </a:xfrm>
                  <a:prstGeom prst="rect">
                    <a:avLst/>
                  </a:prstGeom>
                </p:spPr>
              </p:pic>
              <p:pic>
                <p:nvPicPr>
                  <p:cNvPr id="734" name="Graphique 733" descr="Idée avec un remplissage uni">
                    <a:extLst>
                      <a:ext uri="{FF2B5EF4-FFF2-40B4-BE49-F238E27FC236}">
                        <a16:creationId xmlns:a16="http://schemas.microsoft.com/office/drawing/2014/main" id="{D3856AD4-DB92-FDEE-8831-85A9D5EFE10F}"/>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a:off x="1793893" y="5264448"/>
                    <a:ext cx="914400" cy="914400"/>
                  </a:xfrm>
                  <a:prstGeom prst="rect">
                    <a:avLst/>
                  </a:prstGeom>
                </p:spPr>
              </p:pic>
              <p:pic>
                <p:nvPicPr>
                  <p:cNvPr id="735" name="Graphique 734" descr="Chat avec un remplissage uni">
                    <a:extLst>
                      <a:ext uri="{FF2B5EF4-FFF2-40B4-BE49-F238E27FC236}">
                        <a16:creationId xmlns:a16="http://schemas.microsoft.com/office/drawing/2014/main" id="{DF8212EF-E740-42E0-DA85-CA00A41D0021}"/>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3595600" y="4881866"/>
                    <a:ext cx="914400" cy="914400"/>
                  </a:xfrm>
                  <a:prstGeom prst="rect">
                    <a:avLst/>
                  </a:prstGeom>
                </p:spPr>
              </p:pic>
            </p:grpSp>
          </p:grpSp>
        </p:grpSp>
        <p:grpSp>
          <p:nvGrpSpPr>
            <p:cNvPr id="640" name="Groupe 639">
              <a:extLst>
                <a:ext uri="{FF2B5EF4-FFF2-40B4-BE49-F238E27FC236}">
                  <a16:creationId xmlns:a16="http://schemas.microsoft.com/office/drawing/2014/main" id="{5CFD8EA3-A770-A707-136F-07A74DAF4378}"/>
                </a:ext>
              </a:extLst>
            </p:cNvPr>
            <p:cNvGrpSpPr/>
            <p:nvPr/>
          </p:nvGrpSpPr>
          <p:grpSpPr>
            <a:xfrm>
              <a:off x="2690642" y="3335142"/>
              <a:ext cx="1188000" cy="1570992"/>
              <a:chOff x="1263318" y="4795766"/>
              <a:chExt cx="1188000" cy="1570992"/>
            </a:xfrm>
          </p:grpSpPr>
          <p:sp>
            <p:nvSpPr>
              <p:cNvPr id="719" name="Rectangle 718">
                <a:extLst>
                  <a:ext uri="{FF2B5EF4-FFF2-40B4-BE49-F238E27FC236}">
                    <a16:creationId xmlns:a16="http://schemas.microsoft.com/office/drawing/2014/main" id="{E41CB7D6-EFBB-6C85-AC32-53183ED53236}"/>
                  </a:ext>
                </a:extLst>
              </p:cNvPr>
              <p:cNvSpPr/>
              <p:nvPr/>
            </p:nvSpPr>
            <p:spPr>
              <a:xfrm>
                <a:off x="1263318" y="5711008"/>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720" name="Groupe 719">
                <a:extLst>
                  <a:ext uri="{FF2B5EF4-FFF2-40B4-BE49-F238E27FC236}">
                    <a16:creationId xmlns:a16="http://schemas.microsoft.com/office/drawing/2014/main" id="{B4D4393B-2835-C729-53F9-EB500BAF1D2B}"/>
                  </a:ext>
                </a:extLst>
              </p:cNvPr>
              <p:cNvGrpSpPr/>
              <p:nvPr/>
            </p:nvGrpSpPr>
            <p:grpSpPr>
              <a:xfrm>
                <a:off x="1366615" y="4795766"/>
                <a:ext cx="1006494" cy="888801"/>
                <a:chOff x="7967905" y="574228"/>
                <a:chExt cx="2945866" cy="2601395"/>
              </a:xfrm>
            </p:grpSpPr>
            <p:sp>
              <p:nvSpPr>
                <p:cNvPr id="721" name="Ellipse 720">
                  <a:extLst>
                    <a:ext uri="{FF2B5EF4-FFF2-40B4-BE49-F238E27FC236}">
                      <a16:creationId xmlns:a16="http://schemas.microsoft.com/office/drawing/2014/main" id="{EBF9765D-9A02-3A83-5D3D-5D3769105779}"/>
                    </a:ext>
                  </a:extLst>
                </p:cNvPr>
                <p:cNvSpPr/>
                <p:nvPr/>
              </p:nvSpPr>
              <p:spPr>
                <a:xfrm>
                  <a:off x="8454825" y="965640"/>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22" name="Graphique 721" descr="Dossier ouvert avec un remplissage uni">
                  <a:extLst>
                    <a:ext uri="{FF2B5EF4-FFF2-40B4-BE49-F238E27FC236}">
                      <a16:creationId xmlns:a16="http://schemas.microsoft.com/office/drawing/2014/main" id="{6D5B5648-50E2-56A3-CA02-197C17793664}"/>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7967905" y="1044764"/>
                  <a:ext cx="914400" cy="914400"/>
                </a:xfrm>
                <a:prstGeom prst="rect">
                  <a:avLst/>
                </a:prstGeom>
              </p:spPr>
            </p:pic>
            <p:pic>
              <p:nvPicPr>
                <p:cNvPr id="723" name="Graphique 722" descr="Diagramme de Gantt avec un remplissage uni">
                  <a:extLst>
                    <a:ext uri="{FF2B5EF4-FFF2-40B4-BE49-F238E27FC236}">
                      <a16:creationId xmlns:a16="http://schemas.microsoft.com/office/drawing/2014/main" id="{EE0B71A8-3822-905A-CAC5-5C1D98E65157}"/>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8454079" y="2190978"/>
                  <a:ext cx="914400" cy="914400"/>
                </a:xfrm>
                <a:prstGeom prst="rect">
                  <a:avLst/>
                </a:prstGeom>
              </p:spPr>
            </p:pic>
            <p:pic>
              <p:nvPicPr>
                <p:cNvPr id="724" name="Graphique 723" descr="Calendrier mensuel avec un remplissage uni">
                  <a:extLst>
                    <a:ext uri="{FF2B5EF4-FFF2-40B4-BE49-F238E27FC236}">
                      <a16:creationId xmlns:a16="http://schemas.microsoft.com/office/drawing/2014/main" id="{51B44D93-3BDC-9EDE-B83C-97DD4CB6E1C0}"/>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9597330" y="2261223"/>
                  <a:ext cx="914400" cy="914400"/>
                </a:xfrm>
                <a:prstGeom prst="rect">
                  <a:avLst/>
                </a:prstGeom>
              </p:spPr>
            </p:pic>
            <p:pic>
              <p:nvPicPr>
                <p:cNvPr id="725" name="Graphique 724" descr="Priorités avec un remplissage uni">
                  <a:extLst>
                    <a:ext uri="{FF2B5EF4-FFF2-40B4-BE49-F238E27FC236}">
                      <a16:creationId xmlns:a16="http://schemas.microsoft.com/office/drawing/2014/main" id="{34BF1D27-B403-BDD8-B029-934BD6150C75}"/>
                    </a:ext>
                  </a:extLst>
                </p:cNvPr>
                <p:cNvPicPr>
                  <a:picLocks noChangeAspect="1"/>
                </p:cNvPicPr>
                <p:nvPr/>
              </p:nvPicPr>
              <p:blipFill>
                <a:blip r:embed="rId56">
                  <a:extLst>
                    <a:ext uri="{28A0092B-C50C-407E-A947-70E740481C1C}">
                      <a14:useLocalDpi xmlns:a14="http://schemas.microsoft.com/office/drawing/2010/main" val="0"/>
                    </a:ext>
                    <a:ext uri="{96DAC541-7B7A-43D3-8B79-37D633B846F1}">
                      <asvg:svgBlip xmlns:asvg="http://schemas.microsoft.com/office/drawing/2016/SVG/main" r:embed="rId57"/>
                    </a:ext>
                  </a:extLst>
                </a:blip>
                <a:stretch>
                  <a:fillRect/>
                </a:stretch>
              </p:blipFill>
              <p:spPr>
                <a:xfrm flipV="1">
                  <a:off x="8952575" y="574228"/>
                  <a:ext cx="914400" cy="1089697"/>
                </a:xfrm>
                <a:prstGeom prst="rect">
                  <a:avLst/>
                </a:prstGeom>
              </p:spPr>
            </p:pic>
            <p:pic>
              <p:nvPicPr>
                <p:cNvPr id="726" name="Graphique 725" descr="Graphique à barres avec tendance à la baisse avec un remplissage uni">
                  <a:extLst>
                    <a:ext uri="{FF2B5EF4-FFF2-40B4-BE49-F238E27FC236}">
                      <a16:creationId xmlns:a16="http://schemas.microsoft.com/office/drawing/2014/main" id="{6862E009-D7EF-5F09-A563-C9CEE48B309B}"/>
                    </a:ext>
                  </a:extLst>
                </p:cNvPr>
                <p:cNvPicPr>
                  <a:picLocks noChangeAspect="1"/>
                </p:cNvPicPr>
                <p:nvPr/>
              </p:nvPicPr>
              <p:blipFill>
                <a:blip r:embed="rId58">
                  <a:extLst>
                    <a:ext uri="{28A0092B-C50C-407E-A947-70E740481C1C}">
                      <a14:useLocalDpi xmlns:a14="http://schemas.microsoft.com/office/drawing/2010/main" val="0"/>
                    </a:ext>
                    <a:ext uri="{96DAC541-7B7A-43D3-8B79-37D633B846F1}">
                      <asvg:svgBlip xmlns:asvg="http://schemas.microsoft.com/office/drawing/2016/SVG/main" r:embed="rId59"/>
                    </a:ext>
                  </a:extLst>
                </a:blip>
                <a:stretch>
                  <a:fillRect/>
                </a:stretch>
              </p:blipFill>
              <p:spPr>
                <a:xfrm>
                  <a:off x="9999371" y="992534"/>
                  <a:ext cx="914400" cy="914400"/>
                </a:xfrm>
                <a:prstGeom prst="rect">
                  <a:avLst/>
                </a:prstGeom>
              </p:spPr>
            </p:pic>
          </p:grpSp>
        </p:grpSp>
        <p:grpSp>
          <p:nvGrpSpPr>
            <p:cNvPr id="641" name="Groupe 640">
              <a:extLst>
                <a:ext uri="{FF2B5EF4-FFF2-40B4-BE49-F238E27FC236}">
                  <a16:creationId xmlns:a16="http://schemas.microsoft.com/office/drawing/2014/main" id="{7318F1AF-8879-8AC7-FF4F-AA98A15D7F38}"/>
                </a:ext>
              </a:extLst>
            </p:cNvPr>
            <p:cNvGrpSpPr/>
            <p:nvPr/>
          </p:nvGrpSpPr>
          <p:grpSpPr>
            <a:xfrm>
              <a:off x="3960430" y="3412658"/>
              <a:ext cx="1188000" cy="1498161"/>
              <a:chOff x="2945394" y="4865339"/>
              <a:chExt cx="1188000" cy="1498161"/>
            </a:xfrm>
          </p:grpSpPr>
          <p:sp>
            <p:nvSpPr>
              <p:cNvPr id="713" name="Rectangle 712">
                <a:extLst>
                  <a:ext uri="{FF2B5EF4-FFF2-40B4-BE49-F238E27FC236}">
                    <a16:creationId xmlns:a16="http://schemas.microsoft.com/office/drawing/2014/main" id="{AC8EE869-86DB-75F1-FA10-FEA408CC6ED3}"/>
                  </a:ext>
                </a:extLst>
              </p:cNvPr>
              <p:cNvSpPr/>
              <p:nvPr/>
            </p:nvSpPr>
            <p:spPr>
              <a:xfrm>
                <a:off x="2945394" y="5707750"/>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714" name="Groupe 713">
                <a:extLst>
                  <a:ext uri="{FF2B5EF4-FFF2-40B4-BE49-F238E27FC236}">
                    <a16:creationId xmlns:a16="http://schemas.microsoft.com/office/drawing/2014/main" id="{9AC68ECE-2BCF-61C6-32CB-7C2D9553379D}"/>
                  </a:ext>
                </a:extLst>
              </p:cNvPr>
              <p:cNvGrpSpPr/>
              <p:nvPr/>
            </p:nvGrpSpPr>
            <p:grpSpPr>
              <a:xfrm>
                <a:off x="3034186" y="4865339"/>
                <a:ext cx="962635" cy="814307"/>
                <a:chOff x="1619081" y="3908041"/>
                <a:chExt cx="3348357" cy="2476948"/>
              </a:xfrm>
            </p:grpSpPr>
            <p:pic>
              <p:nvPicPr>
                <p:cNvPr id="715" name="Graphique 714" descr="Graphique en radar avec un remplissage uni">
                  <a:extLst>
                    <a:ext uri="{FF2B5EF4-FFF2-40B4-BE49-F238E27FC236}">
                      <a16:creationId xmlns:a16="http://schemas.microsoft.com/office/drawing/2014/main" id="{3C05C194-1E3B-99EA-7070-F06A2AFB9AD5}"/>
                    </a:ext>
                  </a:extLst>
                </p:cNvPr>
                <p:cNvPicPr>
                  <a:picLocks noChangeAspect="1"/>
                </p:cNvPicPr>
                <p:nvPr/>
              </p:nvPicPr>
              <p:blipFill>
                <a:blip r:embed="rId60">
                  <a:extLst>
                    <a:ext uri="{28A0092B-C50C-407E-A947-70E740481C1C}">
                      <a14:useLocalDpi xmlns:a14="http://schemas.microsoft.com/office/drawing/2010/main" val="0"/>
                    </a:ext>
                    <a:ext uri="{96DAC541-7B7A-43D3-8B79-37D633B846F1}">
                      <asvg:svgBlip xmlns:asvg="http://schemas.microsoft.com/office/drawing/2016/SVG/main" r:embed="rId61"/>
                    </a:ext>
                  </a:extLst>
                </a:blip>
                <a:stretch>
                  <a:fillRect/>
                </a:stretch>
              </p:blipFill>
              <p:spPr>
                <a:xfrm>
                  <a:off x="1619081" y="5084439"/>
                  <a:ext cx="1290292" cy="1290292"/>
                </a:xfrm>
                <a:prstGeom prst="rect">
                  <a:avLst/>
                </a:prstGeom>
              </p:spPr>
            </p:pic>
            <p:pic>
              <p:nvPicPr>
                <p:cNvPr id="716" name="Graphique 715" descr="Compteur bas avec un remplissage uni">
                  <a:extLst>
                    <a:ext uri="{FF2B5EF4-FFF2-40B4-BE49-F238E27FC236}">
                      <a16:creationId xmlns:a16="http://schemas.microsoft.com/office/drawing/2014/main" id="{831497EF-7B14-6443-64DD-C9CEF9B4FF9E}"/>
                    </a:ext>
                  </a:extLst>
                </p:cNvPr>
                <p:cNvPicPr>
                  <a:picLocks noChangeAspect="1"/>
                </p:cNvPicPr>
                <p:nvPr/>
              </p:nvPicPr>
              <p:blipFill>
                <a:blip r:embed="rId62">
                  <a:extLst>
                    <a:ext uri="{28A0092B-C50C-407E-A947-70E740481C1C}">
                      <a14:useLocalDpi xmlns:a14="http://schemas.microsoft.com/office/drawing/2010/main" val="0"/>
                    </a:ext>
                    <a:ext uri="{96DAC541-7B7A-43D3-8B79-37D633B846F1}">
                      <asvg:svgBlip xmlns:asvg="http://schemas.microsoft.com/office/drawing/2016/SVG/main" r:embed="rId63"/>
                    </a:ext>
                  </a:extLst>
                </a:blip>
                <a:stretch>
                  <a:fillRect/>
                </a:stretch>
              </p:blipFill>
              <p:spPr>
                <a:xfrm flipH="1">
                  <a:off x="2795861" y="3908041"/>
                  <a:ext cx="898916" cy="914400"/>
                </a:xfrm>
                <a:prstGeom prst="rect">
                  <a:avLst/>
                </a:prstGeom>
              </p:spPr>
            </p:pic>
            <p:pic>
              <p:nvPicPr>
                <p:cNvPr id="717" name="Graphique 716" descr="Cercles avec flèches avec un remplissage uni">
                  <a:extLst>
                    <a:ext uri="{FF2B5EF4-FFF2-40B4-BE49-F238E27FC236}">
                      <a16:creationId xmlns:a16="http://schemas.microsoft.com/office/drawing/2014/main" id="{CF77D4DB-EB86-9940-4B68-C5E34E3B77EE}"/>
                    </a:ext>
                  </a:extLst>
                </p:cNvPr>
                <p:cNvPicPr>
                  <a:picLocks noChangeAspect="1"/>
                </p:cNvPicPr>
                <p:nvPr/>
              </p:nvPicPr>
              <p:blipFill>
                <a:blip r:embed="rId64">
                  <a:extLst>
                    <a:ext uri="{28A0092B-C50C-407E-A947-70E740481C1C}">
                      <a14:useLocalDpi xmlns:a14="http://schemas.microsoft.com/office/drawing/2010/main" val="0"/>
                    </a:ext>
                    <a:ext uri="{96DAC541-7B7A-43D3-8B79-37D633B846F1}">
                      <asvg:svgBlip xmlns:asvg="http://schemas.microsoft.com/office/drawing/2016/SVG/main" r:embed="rId65"/>
                    </a:ext>
                  </a:extLst>
                </a:blip>
                <a:stretch>
                  <a:fillRect/>
                </a:stretch>
              </p:blipFill>
              <p:spPr>
                <a:xfrm rot="18361995">
                  <a:off x="2644083" y="4661879"/>
                  <a:ext cx="1172888" cy="1172888"/>
                </a:xfrm>
                <a:prstGeom prst="rect">
                  <a:avLst/>
                </a:prstGeom>
              </p:spPr>
            </p:pic>
            <p:pic>
              <p:nvPicPr>
                <p:cNvPr id="718" name="Graphique 717" descr="Presse-papiers badge avec un remplissage uni">
                  <a:extLst>
                    <a:ext uri="{FF2B5EF4-FFF2-40B4-BE49-F238E27FC236}">
                      <a16:creationId xmlns:a16="http://schemas.microsoft.com/office/drawing/2014/main" id="{791A218A-85BB-C616-A941-38FB897EE29A}"/>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3755728" y="5173279"/>
                  <a:ext cx="1211710" cy="1211710"/>
                </a:xfrm>
                <a:prstGeom prst="rect">
                  <a:avLst/>
                </a:prstGeom>
              </p:spPr>
            </p:pic>
          </p:grpSp>
        </p:grpSp>
        <p:grpSp>
          <p:nvGrpSpPr>
            <p:cNvPr id="642" name="Groupe 641">
              <a:extLst>
                <a:ext uri="{FF2B5EF4-FFF2-40B4-BE49-F238E27FC236}">
                  <a16:creationId xmlns:a16="http://schemas.microsoft.com/office/drawing/2014/main" id="{B5BB6936-7E60-4868-E5BA-ED163A248CED}"/>
                </a:ext>
              </a:extLst>
            </p:cNvPr>
            <p:cNvGrpSpPr/>
            <p:nvPr/>
          </p:nvGrpSpPr>
          <p:grpSpPr>
            <a:xfrm>
              <a:off x="5214616" y="3598192"/>
              <a:ext cx="1188000" cy="1306257"/>
              <a:chOff x="4704331" y="5050873"/>
              <a:chExt cx="1188000" cy="1306257"/>
            </a:xfrm>
          </p:grpSpPr>
          <p:sp>
            <p:nvSpPr>
              <p:cNvPr id="696" name="Rectangle 695">
                <a:extLst>
                  <a:ext uri="{FF2B5EF4-FFF2-40B4-BE49-F238E27FC236}">
                    <a16:creationId xmlns:a16="http://schemas.microsoft.com/office/drawing/2014/main" id="{CD30F279-DF98-6178-3A66-55874E671553}"/>
                  </a:ext>
                </a:extLst>
              </p:cNvPr>
              <p:cNvSpPr/>
              <p:nvPr/>
            </p:nvSpPr>
            <p:spPr>
              <a:xfrm>
                <a:off x="4704331" y="5701380"/>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697" name="Groupe 696">
                <a:extLst>
                  <a:ext uri="{FF2B5EF4-FFF2-40B4-BE49-F238E27FC236}">
                    <a16:creationId xmlns:a16="http://schemas.microsoft.com/office/drawing/2014/main" id="{1B7A51FF-5760-24BD-715A-38DD45A63BAE}"/>
                  </a:ext>
                </a:extLst>
              </p:cNvPr>
              <p:cNvGrpSpPr/>
              <p:nvPr/>
            </p:nvGrpSpPr>
            <p:grpSpPr>
              <a:xfrm>
                <a:off x="4771800" y="5050873"/>
                <a:ext cx="1076472" cy="553441"/>
                <a:chOff x="6389474" y="3987996"/>
                <a:chExt cx="5385544" cy="2536749"/>
              </a:xfrm>
            </p:grpSpPr>
            <p:cxnSp>
              <p:nvCxnSpPr>
                <p:cNvPr id="698" name="Connecteur droit avec flèche 697">
                  <a:extLst>
                    <a:ext uri="{FF2B5EF4-FFF2-40B4-BE49-F238E27FC236}">
                      <a16:creationId xmlns:a16="http://schemas.microsoft.com/office/drawing/2014/main" id="{9E9F216C-640C-F140-27B6-BED1DEF24C4D}"/>
                    </a:ext>
                  </a:extLst>
                </p:cNvPr>
                <p:cNvCxnSpPr>
                  <a:cxnSpLocks/>
                </p:cNvCxnSpPr>
                <p:nvPr/>
              </p:nvCxnSpPr>
              <p:spPr>
                <a:xfrm flipV="1">
                  <a:off x="6535271" y="6100758"/>
                  <a:ext cx="1486117" cy="22439"/>
                </a:xfrm>
                <a:prstGeom prst="straightConnector1">
                  <a:avLst/>
                </a:prstGeom>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699" name="Graphique 698" descr="Télécharger du cloud avec un remplissage uni">
                  <a:extLst>
                    <a:ext uri="{FF2B5EF4-FFF2-40B4-BE49-F238E27FC236}">
                      <a16:creationId xmlns:a16="http://schemas.microsoft.com/office/drawing/2014/main" id="{9B615F78-EA99-ED7F-E119-9BC0E4E6B283}"/>
                    </a:ext>
                  </a:extLst>
                </p:cNvPr>
                <p:cNvPicPr>
                  <a:picLocks noChangeAspect="1"/>
                </p:cNvPicPr>
                <p:nvPr/>
              </p:nvPicPr>
              <p:blipFill>
                <a:blip r:embed="rId68">
                  <a:extLst>
                    <a:ext uri="{28A0092B-C50C-407E-A947-70E740481C1C}">
                      <a14:useLocalDpi xmlns:a14="http://schemas.microsoft.com/office/drawing/2010/main" val="0"/>
                    </a:ext>
                    <a:ext uri="{96DAC541-7B7A-43D3-8B79-37D633B846F1}">
                      <asvg:svgBlip xmlns:asvg="http://schemas.microsoft.com/office/drawing/2016/SVG/main" r:embed="rId69"/>
                    </a:ext>
                  </a:extLst>
                </a:blip>
                <a:stretch>
                  <a:fillRect/>
                </a:stretch>
              </p:blipFill>
              <p:spPr>
                <a:xfrm>
                  <a:off x="8320900" y="3987996"/>
                  <a:ext cx="675060" cy="675060"/>
                </a:xfrm>
                <a:prstGeom prst="rect">
                  <a:avLst/>
                </a:prstGeom>
              </p:spPr>
            </p:pic>
            <p:pic>
              <p:nvPicPr>
                <p:cNvPr id="700" name="Graphique 699" descr="Serveur avec un remplissage uni">
                  <a:extLst>
                    <a:ext uri="{FF2B5EF4-FFF2-40B4-BE49-F238E27FC236}">
                      <a16:creationId xmlns:a16="http://schemas.microsoft.com/office/drawing/2014/main" id="{8C50EEE4-3D93-CAB9-B0D6-03196F4656D6}"/>
                    </a:ext>
                  </a:extLst>
                </p:cNvPr>
                <p:cNvPicPr>
                  <a:picLocks noChangeAspect="1"/>
                </p:cNvPicPr>
                <p:nvPr/>
              </p:nvPicPr>
              <p:blipFill>
                <a:blip r:embed="rId70">
                  <a:extLst>
                    <a:ext uri="{28A0092B-C50C-407E-A947-70E740481C1C}">
                      <a14:useLocalDpi xmlns:a14="http://schemas.microsoft.com/office/drawing/2010/main" val="0"/>
                    </a:ext>
                    <a:ext uri="{96DAC541-7B7A-43D3-8B79-37D633B846F1}">
                      <asvg:svgBlip xmlns:asvg="http://schemas.microsoft.com/office/drawing/2016/SVG/main" r:embed="rId71"/>
                    </a:ext>
                  </a:extLst>
                </a:blip>
                <a:stretch>
                  <a:fillRect/>
                </a:stretch>
              </p:blipFill>
              <p:spPr>
                <a:xfrm>
                  <a:off x="8995960" y="3987996"/>
                  <a:ext cx="675060" cy="675060"/>
                </a:xfrm>
                <a:prstGeom prst="rect">
                  <a:avLst/>
                </a:prstGeom>
              </p:spPr>
            </p:pic>
            <p:pic>
              <p:nvPicPr>
                <p:cNvPr id="701" name="Graphique 700" descr="Tête avec engrenages avec un remplissage uni">
                  <a:extLst>
                    <a:ext uri="{FF2B5EF4-FFF2-40B4-BE49-F238E27FC236}">
                      <a16:creationId xmlns:a16="http://schemas.microsoft.com/office/drawing/2014/main" id="{9B7292E7-8072-D5E0-FDB5-AE0551B762C3}"/>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73"/>
                    </a:ext>
                  </a:extLst>
                </a:blip>
                <a:stretch>
                  <a:fillRect/>
                </a:stretch>
              </p:blipFill>
              <p:spPr>
                <a:xfrm>
                  <a:off x="6389474" y="5495508"/>
                  <a:ext cx="914400" cy="914400"/>
                </a:xfrm>
                <a:prstGeom prst="rect">
                  <a:avLst/>
                </a:prstGeom>
              </p:spPr>
            </p:pic>
            <p:sp>
              <p:nvSpPr>
                <p:cNvPr id="702" name="Flèche : droite 701">
                  <a:extLst>
                    <a:ext uri="{FF2B5EF4-FFF2-40B4-BE49-F238E27FC236}">
                      <a16:creationId xmlns:a16="http://schemas.microsoft.com/office/drawing/2014/main" id="{15D462DB-05C2-E4CE-4EB2-840588A5DEE0}"/>
                    </a:ext>
                  </a:extLst>
                </p:cNvPr>
                <p:cNvSpPr/>
                <p:nvPr/>
              </p:nvSpPr>
              <p:spPr>
                <a:xfrm rot="2221843">
                  <a:off x="9714954" y="4900835"/>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03" name="Graphique 702" descr="Enseignant avec un remplissage uni">
                  <a:extLst>
                    <a:ext uri="{FF2B5EF4-FFF2-40B4-BE49-F238E27FC236}">
                      <a16:creationId xmlns:a16="http://schemas.microsoft.com/office/drawing/2014/main" id="{97D40792-9650-4D81-0D06-0B47717B06A7}"/>
                    </a:ext>
                  </a:extLst>
                </p:cNvPr>
                <p:cNvPicPr>
                  <a:picLocks noChangeAspect="1"/>
                </p:cNvPicPr>
                <p:nvPr/>
              </p:nvPicPr>
              <p:blipFill>
                <a:blip r:embed="rId74">
                  <a:extLst>
                    <a:ext uri="{28A0092B-C50C-407E-A947-70E740481C1C}">
                      <a14:useLocalDpi xmlns:a14="http://schemas.microsoft.com/office/drawing/2010/main" val="0"/>
                    </a:ext>
                    <a:ext uri="{96DAC541-7B7A-43D3-8B79-37D633B846F1}">
                      <asvg:svgBlip xmlns:asvg="http://schemas.microsoft.com/office/drawing/2016/SVG/main" r:embed="rId75"/>
                    </a:ext>
                  </a:extLst>
                </a:blip>
                <a:stretch>
                  <a:fillRect/>
                </a:stretch>
              </p:blipFill>
              <p:spPr>
                <a:xfrm>
                  <a:off x="8353404" y="4668590"/>
                  <a:ext cx="639776" cy="639776"/>
                </a:xfrm>
                <a:prstGeom prst="rect">
                  <a:avLst/>
                </a:prstGeom>
              </p:spPr>
            </p:pic>
            <p:cxnSp>
              <p:nvCxnSpPr>
                <p:cNvPr id="704" name="Connecteur droit avec flèche 703">
                  <a:extLst>
                    <a:ext uri="{FF2B5EF4-FFF2-40B4-BE49-F238E27FC236}">
                      <a16:creationId xmlns:a16="http://schemas.microsoft.com/office/drawing/2014/main" id="{F63EDAD2-51C5-C66F-A026-0A449BC78C12}"/>
                    </a:ext>
                  </a:extLst>
                </p:cNvPr>
                <p:cNvCxnSpPr>
                  <a:cxnSpLocks/>
                </p:cNvCxnSpPr>
                <p:nvPr/>
              </p:nvCxnSpPr>
              <p:spPr>
                <a:xfrm flipV="1">
                  <a:off x="9709150" y="6092806"/>
                  <a:ext cx="2065868" cy="15905"/>
                </a:xfrm>
                <a:prstGeom prst="straightConnector1">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705" name="Graphique 704" descr="Tête avec engrenages avec un remplissage uni">
                  <a:extLst>
                    <a:ext uri="{FF2B5EF4-FFF2-40B4-BE49-F238E27FC236}">
                      <a16:creationId xmlns:a16="http://schemas.microsoft.com/office/drawing/2014/main" id="{D16BBBBE-4D9C-ED2A-E3E6-34B340E4E68E}"/>
                    </a:ext>
                  </a:extLst>
                </p:cNvPr>
                <p:cNvPicPr>
                  <a:picLocks noChangeAspect="1"/>
                </p:cNvPicPr>
                <p:nvPr/>
              </p:nvPicPr>
              <p:blipFill>
                <a:blip r:embed="rId76">
                  <a:extLst>
                    <a:ext uri="{28A0092B-C50C-407E-A947-70E740481C1C}">
                      <a14:useLocalDpi xmlns:a14="http://schemas.microsoft.com/office/drawing/2010/main" val="0"/>
                    </a:ext>
                    <a:ext uri="{96DAC541-7B7A-43D3-8B79-37D633B846F1}">
                      <asvg:svgBlip xmlns:asvg="http://schemas.microsoft.com/office/drawing/2016/SVG/main" r:embed="rId77"/>
                    </a:ext>
                  </a:extLst>
                </a:blip>
                <a:stretch>
                  <a:fillRect/>
                </a:stretch>
              </p:blipFill>
              <p:spPr>
                <a:xfrm>
                  <a:off x="10652219" y="5495508"/>
                  <a:ext cx="914400" cy="914400"/>
                </a:xfrm>
                <a:prstGeom prst="rect">
                  <a:avLst/>
                </a:prstGeom>
              </p:spPr>
            </p:pic>
            <p:sp>
              <p:nvSpPr>
                <p:cNvPr id="706" name="Flèche : droite 705">
                  <a:extLst>
                    <a:ext uri="{FF2B5EF4-FFF2-40B4-BE49-F238E27FC236}">
                      <a16:creationId xmlns:a16="http://schemas.microsoft.com/office/drawing/2014/main" id="{B6B24D78-BD31-760D-123A-BA04C9B9EBDD}"/>
                    </a:ext>
                  </a:extLst>
                </p:cNvPr>
                <p:cNvSpPr/>
                <p:nvPr/>
              </p:nvSpPr>
              <p:spPr>
                <a:xfrm rot="18844370">
                  <a:off x="7386229" y="4956663"/>
                  <a:ext cx="868966"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07" name="Graphique 706" descr="Groupe de personnes avec un remplissage uni">
                  <a:extLst>
                    <a:ext uri="{FF2B5EF4-FFF2-40B4-BE49-F238E27FC236}">
                      <a16:creationId xmlns:a16="http://schemas.microsoft.com/office/drawing/2014/main" id="{C315BA0A-7FCB-A8D6-92B0-643C1E670108}"/>
                    </a:ext>
                  </a:extLst>
                </p:cNvPr>
                <p:cNvPicPr>
                  <a:picLocks noChangeAspect="1"/>
                </p:cNvPicPr>
                <p:nvPr/>
              </p:nvPicPr>
              <p:blipFill>
                <a:blip r:embed="rId78">
                  <a:extLst>
                    <a:ext uri="{28A0092B-C50C-407E-A947-70E740481C1C}">
                      <a14:useLocalDpi xmlns:a14="http://schemas.microsoft.com/office/drawing/2010/main" val="0"/>
                    </a:ext>
                    <a:ext uri="{96DAC541-7B7A-43D3-8B79-37D633B846F1}">
                      <asvg:svgBlip xmlns:asvg="http://schemas.microsoft.com/office/drawing/2016/SVG/main" r:embed="rId79"/>
                    </a:ext>
                  </a:extLst>
                </a:blip>
                <a:stretch>
                  <a:fillRect/>
                </a:stretch>
              </p:blipFill>
              <p:spPr>
                <a:xfrm>
                  <a:off x="9025684" y="4682443"/>
                  <a:ext cx="565880" cy="565880"/>
                </a:xfrm>
                <a:prstGeom prst="rect">
                  <a:avLst/>
                </a:prstGeom>
              </p:spPr>
            </p:pic>
            <p:pic>
              <p:nvPicPr>
                <p:cNvPr id="708" name="Graphique 707" descr="Stop avec un remplissage uni">
                  <a:extLst>
                    <a:ext uri="{FF2B5EF4-FFF2-40B4-BE49-F238E27FC236}">
                      <a16:creationId xmlns:a16="http://schemas.microsoft.com/office/drawing/2014/main" id="{C52CA232-88D1-B698-29C1-E9B3ED5C4669}"/>
                    </a:ext>
                  </a:extLst>
                </p:cNvPr>
                <p:cNvPicPr>
                  <a:picLocks noChangeAspect="1"/>
                </p:cNvPicPr>
                <p:nvPr/>
              </p:nvPicPr>
              <p:blipFill>
                <a:blip r:embed="rId80">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7905881" y="5610345"/>
                  <a:ext cx="914400" cy="914400"/>
                </a:xfrm>
                <a:prstGeom prst="rect">
                  <a:avLst/>
                </a:prstGeom>
              </p:spPr>
            </p:pic>
            <p:grpSp>
              <p:nvGrpSpPr>
                <p:cNvPr id="709" name="Groupe 708">
                  <a:extLst>
                    <a:ext uri="{FF2B5EF4-FFF2-40B4-BE49-F238E27FC236}">
                      <a16:creationId xmlns:a16="http://schemas.microsoft.com/office/drawing/2014/main" id="{B2D90B7C-BCF8-A6CF-886F-4949D16B7255}"/>
                    </a:ext>
                  </a:extLst>
                </p:cNvPr>
                <p:cNvGrpSpPr/>
                <p:nvPr/>
              </p:nvGrpSpPr>
              <p:grpSpPr>
                <a:xfrm>
                  <a:off x="9279050" y="5495508"/>
                  <a:ext cx="914400" cy="914400"/>
                  <a:chOff x="9251950" y="5495508"/>
                  <a:chExt cx="914400" cy="914400"/>
                </a:xfrm>
              </p:grpSpPr>
              <p:pic>
                <p:nvPicPr>
                  <p:cNvPr id="710" name="Graphique 709" descr="Tête avec engrenages avec un remplissage uni">
                    <a:extLst>
                      <a:ext uri="{FF2B5EF4-FFF2-40B4-BE49-F238E27FC236}">
                        <a16:creationId xmlns:a16="http://schemas.microsoft.com/office/drawing/2014/main" id="{02DB5661-3DBF-F469-D4DF-64176C504E79}"/>
                      </a:ext>
                    </a:extLst>
                  </p:cNvPr>
                  <p:cNvPicPr>
                    <a:picLocks noChangeAspect="1"/>
                  </p:cNvPicPr>
                  <p:nvPr/>
                </p:nvPicPr>
                <p:blipFill>
                  <a:blip r:embed="rId82">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9251950" y="5495508"/>
                    <a:ext cx="914400" cy="914400"/>
                  </a:xfrm>
                  <a:prstGeom prst="rect">
                    <a:avLst/>
                  </a:prstGeom>
                </p:spPr>
              </p:pic>
              <p:sp>
                <p:nvSpPr>
                  <p:cNvPr id="711" name="Rectangle 710">
                    <a:extLst>
                      <a:ext uri="{FF2B5EF4-FFF2-40B4-BE49-F238E27FC236}">
                        <a16:creationId xmlns:a16="http://schemas.microsoft.com/office/drawing/2014/main" id="{7A738A2F-57C8-F82B-9A4D-F71E48CB0522}"/>
                      </a:ext>
                    </a:extLst>
                  </p:cNvPr>
                  <p:cNvSpPr/>
                  <p:nvPr/>
                </p:nvSpPr>
                <p:spPr>
                  <a:xfrm>
                    <a:off x="9453160" y="5700257"/>
                    <a:ext cx="402041" cy="33468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2" name="Rectangle 711">
                    <a:extLst>
                      <a:ext uri="{FF2B5EF4-FFF2-40B4-BE49-F238E27FC236}">
                        <a16:creationId xmlns:a16="http://schemas.microsoft.com/office/drawing/2014/main" id="{907881F4-87A0-F40B-FB69-CBBD92066822}"/>
                      </a:ext>
                    </a:extLst>
                  </p:cNvPr>
                  <p:cNvSpPr/>
                  <p:nvPr/>
                </p:nvSpPr>
                <p:spPr>
                  <a:xfrm>
                    <a:off x="9566945" y="5606948"/>
                    <a:ext cx="262408" cy="345760"/>
                  </a:xfrm>
                  <a:prstGeom prst="rect">
                    <a:avLst/>
                  </a:prstGeom>
                  <a:solidFill>
                    <a:schemeClr val="bg1">
                      <a:lumMod val="75000"/>
                    </a:schemeClr>
                  </a:solid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grpSp>
          <p:nvGrpSpPr>
            <p:cNvPr id="643" name="Groupe 642">
              <a:extLst>
                <a:ext uri="{FF2B5EF4-FFF2-40B4-BE49-F238E27FC236}">
                  <a16:creationId xmlns:a16="http://schemas.microsoft.com/office/drawing/2014/main" id="{90669936-93BF-D7DF-E288-A017BCCD885B}"/>
                </a:ext>
              </a:extLst>
            </p:cNvPr>
            <p:cNvGrpSpPr/>
            <p:nvPr/>
          </p:nvGrpSpPr>
          <p:grpSpPr>
            <a:xfrm>
              <a:off x="9007128" y="3734067"/>
              <a:ext cx="1188000" cy="1172315"/>
              <a:chOff x="9979734" y="5177643"/>
              <a:chExt cx="1188000" cy="1172315"/>
            </a:xfrm>
          </p:grpSpPr>
          <p:sp>
            <p:nvSpPr>
              <p:cNvPr id="685" name="Rectangle 684">
                <a:extLst>
                  <a:ext uri="{FF2B5EF4-FFF2-40B4-BE49-F238E27FC236}">
                    <a16:creationId xmlns:a16="http://schemas.microsoft.com/office/drawing/2014/main" id="{8D616869-B20D-707D-8684-E28E4D7E8F85}"/>
                  </a:ext>
                </a:extLst>
              </p:cNvPr>
              <p:cNvSpPr/>
              <p:nvPr/>
            </p:nvSpPr>
            <p:spPr>
              <a:xfrm>
                <a:off x="9979734" y="5694208"/>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686" name="Groupe 685">
                <a:extLst>
                  <a:ext uri="{FF2B5EF4-FFF2-40B4-BE49-F238E27FC236}">
                    <a16:creationId xmlns:a16="http://schemas.microsoft.com/office/drawing/2014/main" id="{92C34CC8-6384-CEA3-45D2-92138B78C348}"/>
                  </a:ext>
                </a:extLst>
              </p:cNvPr>
              <p:cNvGrpSpPr/>
              <p:nvPr/>
            </p:nvGrpSpPr>
            <p:grpSpPr>
              <a:xfrm>
                <a:off x="10053885" y="5177643"/>
                <a:ext cx="1025143" cy="399185"/>
                <a:chOff x="6479122" y="1406591"/>
                <a:chExt cx="5241664" cy="1686141"/>
              </a:xfrm>
            </p:grpSpPr>
            <p:pic>
              <p:nvPicPr>
                <p:cNvPr id="687" name="Graphique 686" descr="Soucoupe volante avec un remplissage uni">
                  <a:extLst>
                    <a:ext uri="{FF2B5EF4-FFF2-40B4-BE49-F238E27FC236}">
                      <a16:creationId xmlns:a16="http://schemas.microsoft.com/office/drawing/2014/main" id="{1B637889-1880-2B31-0BA2-D0F57314DECB}"/>
                    </a:ext>
                  </a:extLst>
                </p:cNvPr>
                <p:cNvPicPr>
                  <a:picLocks noChangeAspect="1"/>
                </p:cNvPicPr>
                <p:nvPr/>
              </p:nvPicPr>
              <p:blipFill>
                <a:blip r:embed="rId84">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10806386" y="1406591"/>
                  <a:ext cx="914400" cy="914400"/>
                </a:xfrm>
                <a:prstGeom prst="rect">
                  <a:avLst/>
                </a:prstGeom>
              </p:spPr>
            </p:pic>
            <p:pic>
              <p:nvPicPr>
                <p:cNvPr id="688" name="Graphique 687" descr="Usine avec un remplissage uni">
                  <a:extLst>
                    <a:ext uri="{FF2B5EF4-FFF2-40B4-BE49-F238E27FC236}">
                      <a16:creationId xmlns:a16="http://schemas.microsoft.com/office/drawing/2014/main" id="{276D25D8-C70D-A1F6-A77C-9DC0930F3A0C}"/>
                    </a:ext>
                  </a:extLst>
                </p:cNvPr>
                <p:cNvPicPr>
                  <a:picLocks noChangeAspect="1"/>
                </p:cNvPicPr>
                <p:nvPr/>
              </p:nvPicPr>
              <p:blipFill>
                <a:blip r:embed="rId86">
                  <a:extLst>
                    <a:ext uri="{28A0092B-C50C-407E-A947-70E740481C1C}">
                      <a14:useLocalDpi xmlns:a14="http://schemas.microsoft.com/office/drawing/2010/main" val="0"/>
                    </a:ext>
                    <a:ext uri="{96DAC541-7B7A-43D3-8B79-37D633B846F1}">
                      <asvg:svgBlip xmlns:asvg="http://schemas.microsoft.com/office/drawing/2016/SVG/main" r:embed="rId87"/>
                    </a:ext>
                  </a:extLst>
                </a:blip>
                <a:stretch>
                  <a:fillRect/>
                </a:stretch>
              </p:blipFill>
              <p:spPr>
                <a:xfrm>
                  <a:off x="8642754" y="1406591"/>
                  <a:ext cx="914400" cy="914400"/>
                </a:xfrm>
                <a:prstGeom prst="rect">
                  <a:avLst/>
                </a:prstGeom>
              </p:spPr>
            </p:pic>
            <p:pic>
              <p:nvPicPr>
                <p:cNvPr id="689" name="Graphique 688" descr="Pyramide avec un remplissage uni">
                  <a:extLst>
                    <a:ext uri="{FF2B5EF4-FFF2-40B4-BE49-F238E27FC236}">
                      <a16:creationId xmlns:a16="http://schemas.microsoft.com/office/drawing/2014/main" id="{91B8783D-6C5F-5393-6F56-C44FEA26E147}"/>
                    </a:ext>
                  </a:extLst>
                </p:cNvPr>
                <p:cNvPicPr>
                  <a:picLocks noChangeAspect="1"/>
                </p:cNvPicPr>
                <p:nvPr/>
              </p:nvPicPr>
              <p:blipFill>
                <a:blip r:embed="rId88">
                  <a:extLst>
                    <a:ext uri="{28A0092B-C50C-407E-A947-70E740481C1C}">
                      <a14:useLocalDpi xmlns:a14="http://schemas.microsoft.com/office/drawing/2010/main" val="0"/>
                    </a:ext>
                    <a:ext uri="{96DAC541-7B7A-43D3-8B79-37D633B846F1}">
                      <asvg:svgBlip xmlns:asvg="http://schemas.microsoft.com/office/drawing/2016/SVG/main" r:embed="rId89"/>
                    </a:ext>
                  </a:extLst>
                </a:blip>
                <a:stretch>
                  <a:fillRect/>
                </a:stretch>
              </p:blipFill>
              <p:spPr>
                <a:xfrm>
                  <a:off x="6479122" y="1406591"/>
                  <a:ext cx="914400" cy="914400"/>
                </a:xfrm>
                <a:prstGeom prst="rect">
                  <a:avLst/>
                </a:prstGeom>
              </p:spPr>
            </p:pic>
            <p:pic>
              <p:nvPicPr>
                <p:cNvPr id="690" name="Graphique 689" descr="Bâtiment avec un remplissage uni">
                  <a:extLst>
                    <a:ext uri="{FF2B5EF4-FFF2-40B4-BE49-F238E27FC236}">
                      <a16:creationId xmlns:a16="http://schemas.microsoft.com/office/drawing/2014/main" id="{459C8A31-675C-7E6E-C306-FCD3C3D6856F}"/>
                    </a:ext>
                  </a:extLst>
                </p:cNvPr>
                <p:cNvPicPr>
                  <a:picLocks noChangeAspect="1"/>
                </p:cNvPicPr>
                <p:nvPr/>
              </p:nvPicPr>
              <p:blipFill>
                <a:blip r:embed="rId90">
                  <a:extLst>
                    <a:ext uri="{28A0092B-C50C-407E-A947-70E740481C1C}">
                      <a14:useLocalDpi xmlns:a14="http://schemas.microsoft.com/office/drawing/2010/main" val="0"/>
                    </a:ext>
                    <a:ext uri="{96DAC541-7B7A-43D3-8B79-37D633B846F1}">
                      <asvg:svgBlip xmlns:asvg="http://schemas.microsoft.com/office/drawing/2016/SVG/main" r:embed="rId91"/>
                    </a:ext>
                  </a:extLst>
                </a:blip>
                <a:stretch>
                  <a:fillRect/>
                </a:stretch>
              </p:blipFill>
              <p:spPr>
                <a:xfrm>
                  <a:off x="9724570" y="2178332"/>
                  <a:ext cx="914400" cy="914400"/>
                </a:xfrm>
                <a:prstGeom prst="rect">
                  <a:avLst/>
                </a:prstGeom>
              </p:spPr>
            </p:pic>
            <p:pic>
              <p:nvPicPr>
                <p:cNvPr id="691" name="Graphique 690" descr="Scène de château avec un remplissage uni">
                  <a:extLst>
                    <a:ext uri="{FF2B5EF4-FFF2-40B4-BE49-F238E27FC236}">
                      <a16:creationId xmlns:a16="http://schemas.microsoft.com/office/drawing/2014/main" id="{39D56F0A-15C3-4F02-A1E9-7293C850D7FA}"/>
                    </a:ext>
                  </a:extLst>
                </p:cNvPr>
                <p:cNvPicPr>
                  <a:picLocks noChangeAspect="1"/>
                </p:cNvPicPr>
                <p:nvPr/>
              </p:nvPicPr>
              <p:blipFill>
                <a:blip r:embed="rId92">
                  <a:extLst>
                    <a:ext uri="{28A0092B-C50C-407E-A947-70E740481C1C}">
                      <a14:useLocalDpi xmlns:a14="http://schemas.microsoft.com/office/drawing/2010/main" val="0"/>
                    </a:ext>
                    <a:ext uri="{96DAC541-7B7A-43D3-8B79-37D633B846F1}">
                      <asvg:svgBlip xmlns:asvg="http://schemas.microsoft.com/office/drawing/2016/SVG/main" r:embed="rId93"/>
                    </a:ext>
                  </a:extLst>
                </a:blip>
                <a:stretch>
                  <a:fillRect/>
                </a:stretch>
              </p:blipFill>
              <p:spPr>
                <a:xfrm>
                  <a:off x="7560938" y="2178332"/>
                  <a:ext cx="914400" cy="914400"/>
                </a:xfrm>
                <a:prstGeom prst="rect">
                  <a:avLst/>
                </a:prstGeom>
              </p:spPr>
            </p:pic>
            <p:sp>
              <p:nvSpPr>
                <p:cNvPr id="692" name="Flèche : droite 691">
                  <a:extLst>
                    <a:ext uri="{FF2B5EF4-FFF2-40B4-BE49-F238E27FC236}">
                      <a16:creationId xmlns:a16="http://schemas.microsoft.com/office/drawing/2014/main" id="{9277A352-F9AD-D7E2-BF71-8FF7BBCF60F5}"/>
                    </a:ext>
                  </a:extLst>
                </p:cNvPr>
                <p:cNvSpPr/>
                <p:nvPr/>
              </p:nvSpPr>
              <p:spPr>
                <a:xfrm rot="2412443">
                  <a:off x="7420834" y="196308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3" name="Flèche : droite 692">
                  <a:extLst>
                    <a:ext uri="{FF2B5EF4-FFF2-40B4-BE49-F238E27FC236}">
                      <a16:creationId xmlns:a16="http://schemas.microsoft.com/office/drawing/2014/main" id="{8FAEC5B3-3749-F684-0A4D-B3434B00F7BD}"/>
                    </a:ext>
                  </a:extLst>
                </p:cNvPr>
                <p:cNvSpPr/>
                <p:nvPr/>
              </p:nvSpPr>
              <p:spPr>
                <a:xfrm rot="19318800">
                  <a:off x="8295844"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4" name="Flèche : droite 693">
                  <a:extLst>
                    <a:ext uri="{FF2B5EF4-FFF2-40B4-BE49-F238E27FC236}">
                      <a16:creationId xmlns:a16="http://schemas.microsoft.com/office/drawing/2014/main" id="{72CAB5AD-2289-27EB-6675-15BA4D2884A6}"/>
                    </a:ext>
                  </a:extLst>
                </p:cNvPr>
                <p:cNvSpPr/>
                <p:nvPr/>
              </p:nvSpPr>
              <p:spPr>
                <a:xfrm rot="19318800">
                  <a:off x="10452959" y="1962367"/>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5" name="Flèche : droite 694">
                  <a:extLst>
                    <a:ext uri="{FF2B5EF4-FFF2-40B4-BE49-F238E27FC236}">
                      <a16:creationId xmlns:a16="http://schemas.microsoft.com/office/drawing/2014/main" id="{2247C084-0729-4485-1F4E-897A14FFE5B8}"/>
                    </a:ext>
                  </a:extLst>
                </p:cNvPr>
                <p:cNvSpPr/>
                <p:nvPr/>
              </p:nvSpPr>
              <p:spPr>
                <a:xfrm rot="2412443">
                  <a:off x="9514335" y="192072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644" name="Groupe 643">
              <a:extLst>
                <a:ext uri="{FF2B5EF4-FFF2-40B4-BE49-F238E27FC236}">
                  <a16:creationId xmlns:a16="http://schemas.microsoft.com/office/drawing/2014/main" id="{072B2356-D611-C3ED-FDDC-F9477306E632}"/>
                </a:ext>
              </a:extLst>
            </p:cNvPr>
            <p:cNvGrpSpPr/>
            <p:nvPr/>
          </p:nvGrpSpPr>
          <p:grpSpPr>
            <a:xfrm>
              <a:off x="3990377" y="5317467"/>
              <a:ext cx="1188000" cy="1351257"/>
              <a:chOff x="9927646" y="3089935"/>
              <a:chExt cx="1188000" cy="1351257"/>
            </a:xfrm>
          </p:grpSpPr>
          <p:sp>
            <p:nvSpPr>
              <p:cNvPr id="673" name="Rectangle 672">
                <a:extLst>
                  <a:ext uri="{FF2B5EF4-FFF2-40B4-BE49-F238E27FC236}">
                    <a16:creationId xmlns:a16="http://schemas.microsoft.com/office/drawing/2014/main" id="{84E7AB74-B93C-A53D-0212-317BB3A2E550}"/>
                  </a:ext>
                </a:extLst>
              </p:cNvPr>
              <p:cNvSpPr/>
              <p:nvPr/>
            </p:nvSpPr>
            <p:spPr>
              <a:xfrm>
                <a:off x="9927646" y="3927569"/>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674" name="Groupe 673">
                <a:extLst>
                  <a:ext uri="{FF2B5EF4-FFF2-40B4-BE49-F238E27FC236}">
                    <a16:creationId xmlns:a16="http://schemas.microsoft.com/office/drawing/2014/main" id="{C8B349DC-AAD8-9D50-806F-F58E151FC6CE}"/>
                  </a:ext>
                </a:extLst>
              </p:cNvPr>
              <p:cNvGrpSpPr/>
              <p:nvPr/>
            </p:nvGrpSpPr>
            <p:grpSpPr>
              <a:xfrm>
                <a:off x="10028058" y="3089935"/>
                <a:ext cx="999718" cy="764069"/>
                <a:chOff x="7993201" y="3990786"/>
                <a:chExt cx="3083654" cy="2356787"/>
              </a:xfrm>
            </p:grpSpPr>
            <p:pic>
              <p:nvPicPr>
                <p:cNvPr id="675" name="Graphique 674" descr="Podcasting avec un remplissage uni">
                  <a:extLst>
                    <a:ext uri="{FF2B5EF4-FFF2-40B4-BE49-F238E27FC236}">
                      <a16:creationId xmlns:a16="http://schemas.microsoft.com/office/drawing/2014/main" id="{BFA22C39-C175-2BAB-6058-3C1C0C502CE8}"/>
                    </a:ext>
                  </a:extLst>
                </p:cNvPr>
                <p:cNvPicPr>
                  <a:picLocks noChangeAspect="1"/>
                </p:cNvPicPr>
                <p:nvPr/>
              </p:nvPicPr>
              <p:blipFill>
                <a:blip r:embed="rId94">
                  <a:extLst>
                    <a:ext uri="{28A0092B-C50C-407E-A947-70E740481C1C}">
                      <a14:useLocalDpi xmlns:a14="http://schemas.microsoft.com/office/drawing/2010/main" val="0"/>
                    </a:ext>
                    <a:ext uri="{96DAC541-7B7A-43D3-8B79-37D633B846F1}">
                      <asvg:svgBlip xmlns:asvg="http://schemas.microsoft.com/office/drawing/2016/SVG/main" r:embed="rId95"/>
                    </a:ext>
                  </a:extLst>
                </a:blip>
                <a:stretch>
                  <a:fillRect/>
                </a:stretch>
              </p:blipFill>
              <p:spPr>
                <a:xfrm>
                  <a:off x="7993201" y="3990786"/>
                  <a:ext cx="914400" cy="914400"/>
                </a:xfrm>
                <a:prstGeom prst="rect">
                  <a:avLst/>
                </a:prstGeom>
              </p:spPr>
            </p:pic>
            <p:pic>
              <p:nvPicPr>
                <p:cNvPr id="676" name="Graphique 675" descr="Vlog avec un remplissage uni">
                  <a:extLst>
                    <a:ext uri="{FF2B5EF4-FFF2-40B4-BE49-F238E27FC236}">
                      <a16:creationId xmlns:a16="http://schemas.microsoft.com/office/drawing/2014/main" id="{824A7456-0A65-8C6D-66C4-E8C93BA492CC}"/>
                    </a:ext>
                  </a:extLst>
                </p:cNvPr>
                <p:cNvPicPr>
                  <a:picLocks noChangeAspect="1"/>
                </p:cNvPicPr>
                <p:nvPr/>
              </p:nvPicPr>
              <p:blipFill>
                <a:blip r:embed="rId96">
                  <a:extLst>
                    <a:ext uri="{28A0092B-C50C-407E-A947-70E740481C1C}">
                      <a14:useLocalDpi xmlns:a14="http://schemas.microsoft.com/office/drawing/2010/main" val="0"/>
                    </a:ext>
                    <a:ext uri="{96DAC541-7B7A-43D3-8B79-37D633B846F1}">
                      <asvg:svgBlip xmlns:asvg="http://schemas.microsoft.com/office/drawing/2016/SVG/main" r:embed="rId97"/>
                    </a:ext>
                  </a:extLst>
                </a:blip>
                <a:stretch>
                  <a:fillRect/>
                </a:stretch>
              </p:blipFill>
              <p:spPr>
                <a:xfrm>
                  <a:off x="8000671" y="5433173"/>
                  <a:ext cx="914400" cy="914400"/>
                </a:xfrm>
                <a:prstGeom prst="rect">
                  <a:avLst/>
                </a:prstGeom>
              </p:spPr>
            </p:pic>
            <p:pic>
              <p:nvPicPr>
                <p:cNvPr id="677" name="Graphique 676" descr="Journal avec un remplissage uni">
                  <a:extLst>
                    <a:ext uri="{FF2B5EF4-FFF2-40B4-BE49-F238E27FC236}">
                      <a16:creationId xmlns:a16="http://schemas.microsoft.com/office/drawing/2014/main" id="{C93A9CCA-EFA3-06C1-FF21-D3ABF3B7EF5D}"/>
                    </a:ext>
                  </a:extLst>
                </p:cNvPr>
                <p:cNvPicPr>
                  <a:picLocks noChangeAspect="1"/>
                </p:cNvPicPr>
                <p:nvPr/>
              </p:nvPicPr>
              <p:blipFill>
                <a:blip r:embed="rId98">
                  <a:extLst>
                    <a:ext uri="{28A0092B-C50C-407E-A947-70E740481C1C}">
                      <a14:useLocalDpi xmlns:a14="http://schemas.microsoft.com/office/drawing/2010/main" val="0"/>
                    </a:ext>
                    <a:ext uri="{96DAC541-7B7A-43D3-8B79-37D633B846F1}">
                      <asvg:svgBlip xmlns:asvg="http://schemas.microsoft.com/office/drawing/2016/SVG/main" r:embed="rId99"/>
                    </a:ext>
                  </a:extLst>
                </a:blip>
                <a:stretch>
                  <a:fillRect/>
                </a:stretch>
              </p:blipFill>
              <p:spPr>
                <a:xfrm>
                  <a:off x="10162455" y="4013608"/>
                  <a:ext cx="914400" cy="914400"/>
                </a:xfrm>
                <a:prstGeom prst="rect">
                  <a:avLst/>
                </a:prstGeom>
              </p:spPr>
            </p:pic>
            <p:pic>
              <p:nvPicPr>
                <p:cNvPr id="678" name="Graphique 677" descr="Réseau en ligne avec un remplissage uni">
                  <a:extLst>
                    <a:ext uri="{FF2B5EF4-FFF2-40B4-BE49-F238E27FC236}">
                      <a16:creationId xmlns:a16="http://schemas.microsoft.com/office/drawing/2014/main" id="{E86AB774-B8AF-7C91-634C-30DB4945CF45}"/>
                    </a:ext>
                  </a:extLst>
                </p:cNvPr>
                <p:cNvPicPr>
                  <a:picLocks noChangeAspect="1"/>
                </p:cNvPicPr>
                <p:nvPr/>
              </p:nvPicPr>
              <p:blipFill>
                <a:blip r:embed="rId100">
                  <a:extLst>
                    <a:ext uri="{28A0092B-C50C-407E-A947-70E740481C1C}">
                      <a14:useLocalDpi xmlns:a14="http://schemas.microsoft.com/office/drawing/2010/main" val="0"/>
                    </a:ext>
                    <a:ext uri="{96DAC541-7B7A-43D3-8B79-37D633B846F1}">
                      <asvg:svgBlip xmlns:asvg="http://schemas.microsoft.com/office/drawing/2016/SVG/main" r:embed="rId101"/>
                    </a:ext>
                  </a:extLst>
                </a:blip>
                <a:stretch>
                  <a:fillRect/>
                </a:stretch>
              </p:blipFill>
              <p:spPr>
                <a:xfrm>
                  <a:off x="10066135" y="5341229"/>
                  <a:ext cx="914400" cy="914400"/>
                </a:xfrm>
                <a:prstGeom prst="rect">
                  <a:avLst/>
                </a:prstGeom>
              </p:spPr>
            </p:pic>
            <p:grpSp>
              <p:nvGrpSpPr>
                <p:cNvPr id="679" name="Groupe 678">
                  <a:extLst>
                    <a:ext uri="{FF2B5EF4-FFF2-40B4-BE49-F238E27FC236}">
                      <a16:creationId xmlns:a16="http://schemas.microsoft.com/office/drawing/2014/main" id="{308B9005-1F58-CE68-8DFC-6E53D53625DE}"/>
                    </a:ext>
                  </a:extLst>
                </p:cNvPr>
                <p:cNvGrpSpPr/>
                <p:nvPr/>
              </p:nvGrpSpPr>
              <p:grpSpPr>
                <a:xfrm>
                  <a:off x="8632968" y="4529072"/>
                  <a:ext cx="1791083" cy="1287429"/>
                  <a:chOff x="8274918" y="4478329"/>
                  <a:chExt cx="1791083" cy="1287429"/>
                </a:xfrm>
              </p:grpSpPr>
              <p:pic>
                <p:nvPicPr>
                  <p:cNvPr id="680" name="Graphique 679" descr="Bâtiment avec un remplissage uni">
                    <a:extLst>
                      <a:ext uri="{FF2B5EF4-FFF2-40B4-BE49-F238E27FC236}">
                        <a16:creationId xmlns:a16="http://schemas.microsoft.com/office/drawing/2014/main" id="{A6654BC6-61BE-79CF-1519-9CCBF3606742}"/>
                      </a:ext>
                    </a:extLst>
                  </p:cNvPr>
                  <p:cNvPicPr>
                    <a:picLocks noChangeAspect="1"/>
                  </p:cNvPicPr>
                  <p:nvPr/>
                </p:nvPicPr>
                <p:blipFill>
                  <a:blip r:embed="rId90">
                    <a:extLst>
                      <a:ext uri="{28A0092B-C50C-407E-A947-70E740481C1C}">
                        <a14:useLocalDpi xmlns:a14="http://schemas.microsoft.com/office/drawing/2010/main" val="0"/>
                      </a:ext>
                      <a:ext uri="{96DAC541-7B7A-43D3-8B79-37D633B846F1}">
                        <asvg:svgBlip xmlns:asvg="http://schemas.microsoft.com/office/drawing/2016/SVG/main" r:embed="rId91"/>
                      </a:ext>
                    </a:extLst>
                  </a:blip>
                  <a:stretch>
                    <a:fillRect/>
                  </a:stretch>
                </p:blipFill>
                <p:spPr>
                  <a:xfrm>
                    <a:off x="8725807" y="4753283"/>
                    <a:ext cx="914400" cy="914400"/>
                  </a:xfrm>
                  <a:prstGeom prst="rect">
                    <a:avLst/>
                  </a:prstGeom>
                </p:spPr>
              </p:pic>
              <p:sp>
                <p:nvSpPr>
                  <p:cNvPr id="681" name="Flèche : droite 680">
                    <a:extLst>
                      <a:ext uri="{FF2B5EF4-FFF2-40B4-BE49-F238E27FC236}">
                        <a16:creationId xmlns:a16="http://schemas.microsoft.com/office/drawing/2014/main" id="{3829EAEB-ACF6-F7DD-1C0C-A86D7C2DE5D5}"/>
                      </a:ext>
                    </a:extLst>
                  </p:cNvPr>
                  <p:cNvSpPr/>
                  <p:nvPr/>
                </p:nvSpPr>
                <p:spPr>
                  <a:xfrm rot="19318800">
                    <a:off x="9688254" y="447832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2" name="Flèche : droite 681">
                    <a:extLst>
                      <a:ext uri="{FF2B5EF4-FFF2-40B4-BE49-F238E27FC236}">
                        <a16:creationId xmlns:a16="http://schemas.microsoft.com/office/drawing/2014/main" id="{FF1FB679-50C3-7B04-27AC-927A408C574A}"/>
                      </a:ext>
                    </a:extLst>
                  </p:cNvPr>
                  <p:cNvSpPr/>
                  <p:nvPr/>
                </p:nvSpPr>
                <p:spPr>
                  <a:xfrm rot="2412443">
                    <a:off x="9689689" y="5362915"/>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3" name="Flèche : droite 682">
                    <a:extLst>
                      <a:ext uri="{FF2B5EF4-FFF2-40B4-BE49-F238E27FC236}">
                        <a16:creationId xmlns:a16="http://schemas.microsoft.com/office/drawing/2014/main" id="{06DD3503-1E47-F3E5-A067-F37DAEE47E12}"/>
                      </a:ext>
                    </a:extLst>
                  </p:cNvPr>
                  <p:cNvSpPr/>
                  <p:nvPr/>
                </p:nvSpPr>
                <p:spPr>
                  <a:xfrm rot="8279483">
                    <a:off x="8287182" y="5362622"/>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4" name="Flèche : droite 683">
                    <a:extLst>
                      <a:ext uri="{FF2B5EF4-FFF2-40B4-BE49-F238E27FC236}">
                        <a16:creationId xmlns:a16="http://schemas.microsoft.com/office/drawing/2014/main" id="{9CDFB460-6C21-FB14-1925-AE4E3377386A}"/>
                      </a:ext>
                    </a:extLst>
                  </p:cNvPr>
                  <p:cNvSpPr/>
                  <p:nvPr/>
                </p:nvSpPr>
                <p:spPr>
                  <a:xfrm rot="13573193">
                    <a:off x="8288184" y="4478969"/>
                    <a:ext cx="376312" cy="402843"/>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grpSp>
          <p:nvGrpSpPr>
            <p:cNvPr id="645" name="Groupe 644">
              <a:extLst>
                <a:ext uri="{FF2B5EF4-FFF2-40B4-BE49-F238E27FC236}">
                  <a16:creationId xmlns:a16="http://schemas.microsoft.com/office/drawing/2014/main" id="{E0790EEF-200C-E55E-0B22-4BC78D2C61EE}"/>
                </a:ext>
              </a:extLst>
            </p:cNvPr>
            <p:cNvGrpSpPr/>
            <p:nvPr/>
          </p:nvGrpSpPr>
          <p:grpSpPr>
            <a:xfrm>
              <a:off x="6469867" y="3519776"/>
              <a:ext cx="1188000" cy="1391043"/>
              <a:chOff x="6450988" y="4963473"/>
              <a:chExt cx="1188000" cy="1391043"/>
            </a:xfrm>
          </p:grpSpPr>
          <p:sp>
            <p:nvSpPr>
              <p:cNvPr id="667" name="Rectangle 666">
                <a:extLst>
                  <a:ext uri="{FF2B5EF4-FFF2-40B4-BE49-F238E27FC236}">
                    <a16:creationId xmlns:a16="http://schemas.microsoft.com/office/drawing/2014/main" id="{4F26EA9C-3D45-52BB-70BC-C296C7394F37}"/>
                  </a:ext>
                </a:extLst>
              </p:cNvPr>
              <p:cNvSpPr/>
              <p:nvPr/>
            </p:nvSpPr>
            <p:spPr>
              <a:xfrm>
                <a:off x="6450988" y="5698766"/>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668" name="Groupe 667">
                <a:extLst>
                  <a:ext uri="{FF2B5EF4-FFF2-40B4-BE49-F238E27FC236}">
                    <a16:creationId xmlns:a16="http://schemas.microsoft.com/office/drawing/2014/main" id="{CB8BFC66-895F-7EAB-8DE6-7AE8F138D826}"/>
                  </a:ext>
                </a:extLst>
              </p:cNvPr>
              <p:cNvGrpSpPr/>
              <p:nvPr/>
            </p:nvGrpSpPr>
            <p:grpSpPr>
              <a:xfrm>
                <a:off x="6677241" y="4963473"/>
                <a:ext cx="730189" cy="610409"/>
                <a:chOff x="1734369" y="510800"/>
                <a:chExt cx="2873060" cy="2423359"/>
              </a:xfrm>
            </p:grpSpPr>
            <p:pic>
              <p:nvPicPr>
                <p:cNvPr id="669" name="Graphique 668" descr="Avertissement avec un remplissage uni">
                  <a:extLst>
                    <a:ext uri="{FF2B5EF4-FFF2-40B4-BE49-F238E27FC236}">
                      <a16:creationId xmlns:a16="http://schemas.microsoft.com/office/drawing/2014/main" id="{FAE0CF2B-25D7-36D5-2C11-3C44F3D2F41E}"/>
                    </a:ext>
                  </a:extLst>
                </p:cNvPr>
                <p:cNvPicPr>
                  <a:picLocks noChangeAspect="1"/>
                </p:cNvPicPr>
                <p:nvPr/>
              </p:nvPicPr>
              <p:blipFill>
                <a:blip r:embed="rId102">
                  <a:extLst>
                    <a:ext uri="{28A0092B-C50C-407E-A947-70E740481C1C}">
                      <a14:useLocalDpi xmlns:a14="http://schemas.microsoft.com/office/drawing/2010/main" val="0"/>
                    </a:ext>
                    <a:ext uri="{96DAC541-7B7A-43D3-8B79-37D633B846F1}">
                      <asvg:svgBlip xmlns:asvg="http://schemas.microsoft.com/office/drawing/2016/SVG/main" r:embed="rId103"/>
                    </a:ext>
                  </a:extLst>
                </a:blip>
                <a:stretch>
                  <a:fillRect/>
                </a:stretch>
              </p:blipFill>
              <p:spPr>
                <a:xfrm>
                  <a:off x="1734369" y="1978134"/>
                  <a:ext cx="914400" cy="914400"/>
                </a:xfrm>
                <a:prstGeom prst="rect">
                  <a:avLst/>
                </a:prstGeom>
              </p:spPr>
            </p:pic>
            <p:pic>
              <p:nvPicPr>
                <p:cNvPr id="670" name="Graphique 669" descr="Chat avec un remplissage uni">
                  <a:extLst>
                    <a:ext uri="{FF2B5EF4-FFF2-40B4-BE49-F238E27FC236}">
                      <a16:creationId xmlns:a16="http://schemas.microsoft.com/office/drawing/2014/main" id="{F1C8BFAE-1A7D-6FC9-3387-A28BBCE9A25D}"/>
                    </a:ext>
                  </a:extLst>
                </p:cNvPr>
                <p:cNvPicPr>
                  <a:picLocks noChangeAspect="1"/>
                </p:cNvPicPr>
                <p:nvPr/>
              </p:nvPicPr>
              <p:blipFill>
                <a:blip r:embed="rId104">
                  <a:extLst>
                    <a:ext uri="{28A0092B-C50C-407E-A947-70E740481C1C}">
                      <a14:useLocalDpi xmlns:a14="http://schemas.microsoft.com/office/drawing/2010/main" val="0"/>
                    </a:ext>
                    <a:ext uri="{96DAC541-7B7A-43D3-8B79-37D633B846F1}">
                      <asvg:svgBlip xmlns:asvg="http://schemas.microsoft.com/office/drawing/2016/SVG/main" r:embed="rId105"/>
                    </a:ext>
                  </a:extLst>
                </a:blip>
                <a:stretch>
                  <a:fillRect/>
                </a:stretch>
              </p:blipFill>
              <p:spPr>
                <a:xfrm>
                  <a:off x="2713699" y="1562559"/>
                  <a:ext cx="914400" cy="914400"/>
                </a:xfrm>
                <a:prstGeom prst="rect">
                  <a:avLst/>
                </a:prstGeom>
              </p:spPr>
            </p:pic>
            <p:pic>
              <p:nvPicPr>
                <p:cNvPr id="671" name="Graphique 670" descr="Liste de contrôle avec un remplissage uni">
                  <a:extLst>
                    <a:ext uri="{FF2B5EF4-FFF2-40B4-BE49-F238E27FC236}">
                      <a16:creationId xmlns:a16="http://schemas.microsoft.com/office/drawing/2014/main" id="{7B17FDD0-1ED3-2388-F659-E8AB6A9420FB}"/>
                    </a:ext>
                  </a:extLst>
                </p:cNvPr>
                <p:cNvPicPr>
                  <a:picLocks noChangeAspect="1"/>
                </p:cNvPicPr>
                <p:nvPr/>
              </p:nvPicPr>
              <p:blipFill>
                <a:blip r:embed="rId106">
                  <a:extLst>
                    <a:ext uri="{28A0092B-C50C-407E-A947-70E740481C1C}">
                      <a14:useLocalDpi xmlns:a14="http://schemas.microsoft.com/office/drawing/2010/main" val="0"/>
                    </a:ext>
                    <a:ext uri="{96DAC541-7B7A-43D3-8B79-37D633B846F1}">
                      <asvg:svgBlip xmlns:asvg="http://schemas.microsoft.com/office/drawing/2016/SVG/main" r:embed="rId107"/>
                    </a:ext>
                  </a:extLst>
                </a:blip>
                <a:stretch>
                  <a:fillRect/>
                </a:stretch>
              </p:blipFill>
              <p:spPr>
                <a:xfrm>
                  <a:off x="3693029" y="2019759"/>
                  <a:ext cx="914400" cy="914400"/>
                </a:xfrm>
                <a:prstGeom prst="rect">
                  <a:avLst/>
                </a:prstGeom>
              </p:spPr>
            </p:pic>
            <p:pic>
              <p:nvPicPr>
                <p:cNvPr id="672" name="Graphique 671" descr="Synchronisation avec le cloud avec un remplissage uni">
                  <a:extLst>
                    <a:ext uri="{FF2B5EF4-FFF2-40B4-BE49-F238E27FC236}">
                      <a16:creationId xmlns:a16="http://schemas.microsoft.com/office/drawing/2014/main" id="{19342E10-9E39-A9A3-0165-445415845F74}"/>
                    </a:ext>
                  </a:extLst>
                </p:cNvPr>
                <p:cNvPicPr>
                  <a:picLocks noChangeAspect="1"/>
                </p:cNvPicPr>
                <p:nvPr/>
              </p:nvPicPr>
              <p:blipFill>
                <a:blip r:embed="rId108">
                  <a:extLst>
                    <a:ext uri="{28A0092B-C50C-407E-A947-70E740481C1C}">
                      <a14:useLocalDpi xmlns:a14="http://schemas.microsoft.com/office/drawing/2010/main" val="0"/>
                    </a:ext>
                    <a:ext uri="{96DAC541-7B7A-43D3-8B79-37D633B846F1}">
                      <asvg:svgBlip xmlns:asvg="http://schemas.microsoft.com/office/drawing/2016/SVG/main" r:embed="rId109"/>
                    </a:ext>
                  </a:extLst>
                </a:blip>
                <a:stretch>
                  <a:fillRect/>
                </a:stretch>
              </p:blipFill>
              <p:spPr>
                <a:xfrm>
                  <a:off x="2778630" y="510800"/>
                  <a:ext cx="914400" cy="914400"/>
                </a:xfrm>
                <a:prstGeom prst="rect">
                  <a:avLst/>
                </a:prstGeom>
              </p:spPr>
            </p:pic>
          </p:grpSp>
        </p:grpSp>
        <p:grpSp>
          <p:nvGrpSpPr>
            <p:cNvPr id="646" name="Groupe 645">
              <a:extLst>
                <a:ext uri="{FF2B5EF4-FFF2-40B4-BE49-F238E27FC236}">
                  <a16:creationId xmlns:a16="http://schemas.microsoft.com/office/drawing/2014/main" id="{5AB91D52-8FFA-33C0-7144-84CED05DB156}"/>
                </a:ext>
              </a:extLst>
            </p:cNvPr>
            <p:cNvGrpSpPr/>
            <p:nvPr/>
          </p:nvGrpSpPr>
          <p:grpSpPr>
            <a:xfrm>
              <a:off x="7751397" y="3302928"/>
              <a:ext cx="1188000" cy="1607891"/>
              <a:chOff x="8188500" y="4755609"/>
              <a:chExt cx="1188000" cy="1607891"/>
            </a:xfrm>
          </p:grpSpPr>
          <p:sp>
            <p:nvSpPr>
              <p:cNvPr id="659" name="Rectangle 658">
                <a:extLst>
                  <a:ext uri="{FF2B5EF4-FFF2-40B4-BE49-F238E27FC236}">
                    <a16:creationId xmlns:a16="http://schemas.microsoft.com/office/drawing/2014/main" id="{DD72CE08-270A-DD80-FC8C-A0AAA1E655C6}"/>
                  </a:ext>
                </a:extLst>
              </p:cNvPr>
              <p:cNvSpPr/>
              <p:nvPr/>
            </p:nvSpPr>
            <p:spPr>
              <a:xfrm>
                <a:off x="8188500" y="5707750"/>
                <a:ext cx="1188000" cy="6557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660" name="Groupe 659">
                <a:extLst>
                  <a:ext uri="{FF2B5EF4-FFF2-40B4-BE49-F238E27FC236}">
                    <a16:creationId xmlns:a16="http://schemas.microsoft.com/office/drawing/2014/main" id="{EC310D8E-E089-DCD7-C6C0-C8C972C165CF}"/>
                  </a:ext>
                </a:extLst>
              </p:cNvPr>
              <p:cNvGrpSpPr/>
              <p:nvPr/>
            </p:nvGrpSpPr>
            <p:grpSpPr>
              <a:xfrm>
                <a:off x="8302488" y="4755609"/>
                <a:ext cx="985193" cy="908867"/>
                <a:chOff x="1770451" y="635328"/>
                <a:chExt cx="2847387" cy="2660604"/>
              </a:xfrm>
            </p:grpSpPr>
            <p:sp>
              <p:nvSpPr>
                <p:cNvPr id="661" name="Ellipse 660">
                  <a:extLst>
                    <a:ext uri="{FF2B5EF4-FFF2-40B4-BE49-F238E27FC236}">
                      <a16:creationId xmlns:a16="http://schemas.microsoft.com/office/drawing/2014/main" id="{EE13A1D1-DDA6-F245-424F-9516CE58D93B}"/>
                    </a:ext>
                  </a:extLst>
                </p:cNvPr>
                <p:cNvSpPr/>
                <p:nvPr/>
              </p:nvSpPr>
              <p:spPr>
                <a:xfrm>
                  <a:off x="2285862" y="956143"/>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662" name="Graphique 661" descr="Lunettes 3D avec un remplissage uni">
                  <a:extLst>
                    <a:ext uri="{FF2B5EF4-FFF2-40B4-BE49-F238E27FC236}">
                      <a16:creationId xmlns:a16="http://schemas.microsoft.com/office/drawing/2014/main" id="{A10D8EF1-AF7C-BCDD-58FA-1302EC493EB3}"/>
                    </a:ext>
                  </a:extLst>
                </p:cNvPr>
                <p:cNvPicPr>
                  <a:picLocks noChangeAspect="1"/>
                </p:cNvPicPr>
                <p:nvPr/>
              </p:nvPicPr>
              <p:blipFill>
                <a:blip r:embed="rId110">
                  <a:extLst>
                    <a:ext uri="{28A0092B-C50C-407E-A947-70E740481C1C}">
                      <a14:useLocalDpi xmlns:a14="http://schemas.microsoft.com/office/drawing/2010/main" val="0"/>
                    </a:ext>
                    <a:ext uri="{96DAC541-7B7A-43D3-8B79-37D633B846F1}">
                      <asvg:svgBlip xmlns:asvg="http://schemas.microsoft.com/office/drawing/2016/SVG/main" r:embed="rId111"/>
                    </a:ext>
                  </a:extLst>
                </a:blip>
                <a:stretch>
                  <a:fillRect/>
                </a:stretch>
              </p:blipFill>
              <p:spPr>
                <a:xfrm>
                  <a:off x="2339651" y="643202"/>
                  <a:ext cx="914400" cy="914400"/>
                </a:xfrm>
                <a:prstGeom prst="rect">
                  <a:avLst/>
                </a:prstGeom>
              </p:spPr>
            </p:pic>
            <p:pic>
              <p:nvPicPr>
                <p:cNvPr id="663" name="Graphique 662" descr="Mannequin test avec un remplissage uni">
                  <a:extLst>
                    <a:ext uri="{FF2B5EF4-FFF2-40B4-BE49-F238E27FC236}">
                      <a16:creationId xmlns:a16="http://schemas.microsoft.com/office/drawing/2014/main" id="{2D708A6A-DBD4-E09C-D327-5D806E2AB2A7}"/>
                    </a:ext>
                  </a:extLst>
                </p:cNvPr>
                <p:cNvPicPr>
                  <a:picLocks noChangeAspect="1"/>
                </p:cNvPicPr>
                <p:nvPr/>
              </p:nvPicPr>
              <p:blipFill>
                <a:blip r:embed="rId112">
                  <a:extLst>
                    <a:ext uri="{28A0092B-C50C-407E-A947-70E740481C1C}">
                      <a14:useLocalDpi xmlns:a14="http://schemas.microsoft.com/office/drawing/2010/main" val="0"/>
                    </a:ext>
                    <a:ext uri="{96DAC541-7B7A-43D3-8B79-37D633B846F1}">
                      <asvg:svgBlip xmlns:asvg="http://schemas.microsoft.com/office/drawing/2016/SVG/main" r:embed="rId113"/>
                    </a:ext>
                  </a:extLst>
                </a:blip>
                <a:stretch>
                  <a:fillRect/>
                </a:stretch>
              </p:blipFill>
              <p:spPr>
                <a:xfrm>
                  <a:off x="2825957" y="2381532"/>
                  <a:ext cx="914400" cy="914400"/>
                </a:xfrm>
                <a:prstGeom prst="rect">
                  <a:avLst/>
                </a:prstGeom>
              </p:spPr>
            </p:pic>
            <p:pic>
              <p:nvPicPr>
                <p:cNvPr id="664" name="Graphique 663" descr="Homme scientifique avec un remplissage uni">
                  <a:extLst>
                    <a:ext uri="{FF2B5EF4-FFF2-40B4-BE49-F238E27FC236}">
                      <a16:creationId xmlns:a16="http://schemas.microsoft.com/office/drawing/2014/main" id="{2F31B1B2-1D9C-5DE4-2262-C7A126627F2A}"/>
                    </a:ext>
                  </a:extLst>
                </p:cNvPr>
                <p:cNvPicPr>
                  <a:picLocks noChangeAspect="1"/>
                </p:cNvPicPr>
                <p:nvPr/>
              </p:nvPicPr>
              <p:blipFill>
                <a:blip r:embed="rId114">
                  <a:extLst>
                    <a:ext uri="{28A0092B-C50C-407E-A947-70E740481C1C}">
                      <a14:useLocalDpi xmlns:a14="http://schemas.microsoft.com/office/drawing/2010/main" val="0"/>
                    </a:ext>
                    <a:ext uri="{96DAC541-7B7A-43D3-8B79-37D633B846F1}">
                      <asvg:svgBlip xmlns:asvg="http://schemas.microsoft.com/office/drawing/2016/SVG/main" r:embed="rId115"/>
                    </a:ext>
                  </a:extLst>
                </a:blip>
                <a:stretch>
                  <a:fillRect/>
                </a:stretch>
              </p:blipFill>
              <p:spPr>
                <a:xfrm>
                  <a:off x="3612503" y="635328"/>
                  <a:ext cx="914400" cy="914400"/>
                </a:xfrm>
                <a:prstGeom prst="rect">
                  <a:avLst/>
                </a:prstGeom>
              </p:spPr>
            </p:pic>
            <p:pic>
              <p:nvPicPr>
                <p:cNvPr id="665" name="Graphique 664" descr="Presse-papiers mixte avec un remplissage uni">
                  <a:extLst>
                    <a:ext uri="{FF2B5EF4-FFF2-40B4-BE49-F238E27FC236}">
                      <a16:creationId xmlns:a16="http://schemas.microsoft.com/office/drawing/2014/main" id="{91C79F1A-0146-0E29-C443-10BDC9FD3B04}"/>
                    </a:ext>
                  </a:extLst>
                </p:cNvPr>
                <p:cNvPicPr>
                  <a:picLocks noChangeAspect="1"/>
                </p:cNvPicPr>
                <p:nvPr/>
              </p:nvPicPr>
              <p:blipFill>
                <a:blip r:embed="rId116">
                  <a:extLst>
                    <a:ext uri="{28A0092B-C50C-407E-A947-70E740481C1C}">
                      <a14:useLocalDpi xmlns:a14="http://schemas.microsoft.com/office/drawing/2010/main" val="0"/>
                    </a:ext>
                    <a:ext uri="{96DAC541-7B7A-43D3-8B79-37D633B846F1}">
                      <asvg:svgBlip xmlns:asvg="http://schemas.microsoft.com/office/drawing/2016/SVG/main" r:embed="rId117"/>
                    </a:ext>
                  </a:extLst>
                </a:blip>
                <a:stretch>
                  <a:fillRect/>
                </a:stretch>
              </p:blipFill>
              <p:spPr>
                <a:xfrm>
                  <a:off x="3703438" y="1819176"/>
                  <a:ext cx="914400" cy="914400"/>
                </a:xfrm>
                <a:prstGeom prst="rect">
                  <a:avLst/>
                </a:prstGeom>
              </p:spPr>
            </p:pic>
            <p:pic>
              <p:nvPicPr>
                <p:cNvPr id="666" name="Graphique 665" descr="Brainstorming de groupe avec un remplissage uni">
                  <a:extLst>
                    <a:ext uri="{FF2B5EF4-FFF2-40B4-BE49-F238E27FC236}">
                      <a16:creationId xmlns:a16="http://schemas.microsoft.com/office/drawing/2014/main" id="{AA74989F-FD70-3D67-E0D2-F6E88BC6C6B6}"/>
                    </a:ext>
                  </a:extLst>
                </p:cNvPr>
                <p:cNvPicPr>
                  <a:picLocks noChangeAspect="1"/>
                </p:cNvPicPr>
                <p:nvPr/>
              </p:nvPicPr>
              <p:blipFill>
                <a:blip r:embed="rId118">
                  <a:extLst>
                    <a:ext uri="{28A0092B-C50C-407E-A947-70E740481C1C}">
                      <a14:useLocalDpi xmlns:a14="http://schemas.microsoft.com/office/drawing/2010/main" val="0"/>
                    </a:ext>
                    <a:ext uri="{96DAC541-7B7A-43D3-8B79-37D633B846F1}">
                      <asvg:svgBlip xmlns:asvg="http://schemas.microsoft.com/office/drawing/2016/SVG/main" r:embed="rId119"/>
                    </a:ext>
                  </a:extLst>
                </a:blip>
                <a:stretch>
                  <a:fillRect/>
                </a:stretch>
              </p:blipFill>
              <p:spPr>
                <a:xfrm>
                  <a:off x="1770451" y="1557602"/>
                  <a:ext cx="914400" cy="914400"/>
                </a:xfrm>
                <a:prstGeom prst="rect">
                  <a:avLst/>
                </a:prstGeom>
              </p:spPr>
            </p:pic>
          </p:grpSp>
        </p:grpSp>
        <p:grpSp>
          <p:nvGrpSpPr>
            <p:cNvPr id="647" name="Groupe 646">
              <a:extLst>
                <a:ext uri="{FF2B5EF4-FFF2-40B4-BE49-F238E27FC236}">
                  <a16:creationId xmlns:a16="http://schemas.microsoft.com/office/drawing/2014/main" id="{5657CFA0-7BED-F68D-D249-FB5878C39DF3}"/>
                </a:ext>
              </a:extLst>
            </p:cNvPr>
            <p:cNvGrpSpPr/>
            <p:nvPr/>
          </p:nvGrpSpPr>
          <p:grpSpPr>
            <a:xfrm>
              <a:off x="2742113" y="5586548"/>
              <a:ext cx="1188000" cy="1082176"/>
              <a:chOff x="8224358" y="3342553"/>
              <a:chExt cx="1188000" cy="1082176"/>
            </a:xfrm>
          </p:grpSpPr>
          <p:sp>
            <p:nvSpPr>
              <p:cNvPr id="654" name="Rectangle 653">
                <a:extLst>
                  <a:ext uri="{FF2B5EF4-FFF2-40B4-BE49-F238E27FC236}">
                    <a16:creationId xmlns:a16="http://schemas.microsoft.com/office/drawing/2014/main" id="{8E7F4991-471D-2917-E6D5-0A4F5C0651F4}"/>
                  </a:ext>
                </a:extLst>
              </p:cNvPr>
              <p:cNvSpPr/>
              <p:nvPr/>
            </p:nvSpPr>
            <p:spPr>
              <a:xfrm>
                <a:off x="8224358" y="3911106"/>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grpSp>
            <p:nvGrpSpPr>
              <p:cNvPr id="655" name="Groupe 654">
                <a:extLst>
                  <a:ext uri="{FF2B5EF4-FFF2-40B4-BE49-F238E27FC236}">
                    <a16:creationId xmlns:a16="http://schemas.microsoft.com/office/drawing/2014/main" id="{4D104FDB-1AEC-6C07-8DD5-DBD0BB214AB1}"/>
                  </a:ext>
                </a:extLst>
              </p:cNvPr>
              <p:cNvGrpSpPr/>
              <p:nvPr/>
            </p:nvGrpSpPr>
            <p:grpSpPr>
              <a:xfrm>
                <a:off x="8256771" y="3342553"/>
                <a:ext cx="1126180" cy="424682"/>
                <a:chOff x="1677224" y="4399902"/>
                <a:chExt cx="3984628" cy="1541940"/>
              </a:xfrm>
            </p:grpSpPr>
            <p:pic>
              <p:nvPicPr>
                <p:cNvPr id="656" name="Graphique 655" descr="Poignée de main avec un remplissage uni">
                  <a:extLst>
                    <a:ext uri="{FF2B5EF4-FFF2-40B4-BE49-F238E27FC236}">
                      <a16:creationId xmlns:a16="http://schemas.microsoft.com/office/drawing/2014/main" id="{2784481A-4589-EAC8-A737-97F6D7B1CE06}"/>
                    </a:ext>
                  </a:extLst>
                </p:cNvPr>
                <p:cNvPicPr>
                  <a:picLocks noChangeAspect="1"/>
                </p:cNvPicPr>
                <p:nvPr/>
              </p:nvPicPr>
              <p:blipFill>
                <a:blip r:embed="rId120">
                  <a:extLst>
                    <a:ext uri="{28A0092B-C50C-407E-A947-70E740481C1C}">
                      <a14:useLocalDpi xmlns:a14="http://schemas.microsoft.com/office/drawing/2010/main" val="0"/>
                    </a:ext>
                    <a:ext uri="{96DAC541-7B7A-43D3-8B79-37D633B846F1}">
                      <asvg:svgBlip xmlns:asvg="http://schemas.microsoft.com/office/drawing/2016/SVG/main" r:embed="rId121"/>
                    </a:ext>
                  </a:extLst>
                </a:blip>
                <a:stretch>
                  <a:fillRect/>
                </a:stretch>
              </p:blipFill>
              <p:spPr>
                <a:xfrm>
                  <a:off x="1677224" y="4473520"/>
                  <a:ext cx="1394705" cy="1394705"/>
                </a:xfrm>
                <a:prstGeom prst="rect">
                  <a:avLst/>
                </a:prstGeom>
              </p:spPr>
            </p:pic>
            <p:pic>
              <p:nvPicPr>
                <p:cNvPr id="657" name="Graphique 656" descr="Contrat avec un remplissage uni">
                  <a:extLst>
                    <a:ext uri="{FF2B5EF4-FFF2-40B4-BE49-F238E27FC236}">
                      <a16:creationId xmlns:a16="http://schemas.microsoft.com/office/drawing/2014/main" id="{D50A0A1A-45E7-88A7-8885-0B7CF693B306}"/>
                    </a:ext>
                  </a:extLst>
                </p:cNvPr>
                <p:cNvPicPr>
                  <a:picLocks noChangeAspect="1"/>
                </p:cNvPicPr>
                <p:nvPr/>
              </p:nvPicPr>
              <p:blipFill>
                <a:blip r:embed="rId122">
                  <a:extLst>
                    <a:ext uri="{28A0092B-C50C-407E-A947-70E740481C1C}">
                      <a14:useLocalDpi xmlns:a14="http://schemas.microsoft.com/office/drawing/2010/main" val="0"/>
                    </a:ext>
                    <a:ext uri="{96DAC541-7B7A-43D3-8B79-37D633B846F1}">
                      <asvg:svgBlip xmlns:asvg="http://schemas.microsoft.com/office/drawing/2016/SVG/main" r:embed="rId123"/>
                    </a:ext>
                  </a:extLst>
                </a:blip>
                <a:stretch>
                  <a:fillRect/>
                </a:stretch>
              </p:blipFill>
              <p:spPr>
                <a:xfrm>
                  <a:off x="3003278" y="4578031"/>
                  <a:ext cx="1185682" cy="1185682"/>
                </a:xfrm>
                <a:prstGeom prst="rect">
                  <a:avLst/>
                </a:prstGeom>
              </p:spPr>
            </p:pic>
            <p:pic>
              <p:nvPicPr>
                <p:cNvPr id="658" name="Graphique 657" descr="Tendance à la hausse avec un remplissage uni">
                  <a:extLst>
                    <a:ext uri="{FF2B5EF4-FFF2-40B4-BE49-F238E27FC236}">
                      <a16:creationId xmlns:a16="http://schemas.microsoft.com/office/drawing/2014/main" id="{4D7AA403-3D13-D6C7-116D-4E457E05A4BE}"/>
                    </a:ext>
                  </a:extLst>
                </p:cNvPr>
                <p:cNvPicPr>
                  <a:picLocks noChangeAspect="1"/>
                </p:cNvPicPr>
                <p:nvPr/>
              </p:nvPicPr>
              <p:blipFill>
                <a:blip r:embed="rId124">
                  <a:extLst>
                    <a:ext uri="{28A0092B-C50C-407E-A947-70E740481C1C}">
                      <a14:useLocalDpi xmlns:a14="http://schemas.microsoft.com/office/drawing/2010/main" val="0"/>
                    </a:ext>
                    <a:ext uri="{96DAC541-7B7A-43D3-8B79-37D633B846F1}">
                      <asvg:svgBlip xmlns:asvg="http://schemas.microsoft.com/office/drawing/2016/SVG/main" r:embed="rId125"/>
                    </a:ext>
                  </a:extLst>
                </a:blip>
                <a:stretch>
                  <a:fillRect/>
                </a:stretch>
              </p:blipFill>
              <p:spPr>
                <a:xfrm>
                  <a:off x="4119912" y="4399902"/>
                  <a:ext cx="1541940" cy="1541940"/>
                </a:xfrm>
                <a:prstGeom prst="rect">
                  <a:avLst/>
                </a:prstGeom>
              </p:spPr>
            </p:pic>
          </p:grpSp>
        </p:grpSp>
        <p:sp>
          <p:nvSpPr>
            <p:cNvPr id="648" name="Rectangle 647">
              <a:extLst>
                <a:ext uri="{FF2B5EF4-FFF2-40B4-BE49-F238E27FC236}">
                  <a16:creationId xmlns:a16="http://schemas.microsoft.com/office/drawing/2014/main" id="{F1339DF0-1E62-C0A5-6C66-A7CA15431E45}"/>
                </a:ext>
              </a:extLst>
            </p:cNvPr>
            <p:cNvSpPr/>
            <p:nvPr/>
          </p:nvSpPr>
          <p:spPr>
            <a:xfrm>
              <a:off x="11017762" y="4274856"/>
              <a:ext cx="1188000" cy="51362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pic>
          <p:nvPicPr>
            <p:cNvPr id="649" name="Graphique 648" descr="Bâtiment avec un remplissage uni">
              <a:extLst>
                <a:ext uri="{FF2B5EF4-FFF2-40B4-BE49-F238E27FC236}">
                  <a16:creationId xmlns:a16="http://schemas.microsoft.com/office/drawing/2014/main" id="{2E05B1AA-DAC9-4185-974D-84F27E57BFA7}"/>
                </a:ext>
              </a:extLst>
            </p:cNvPr>
            <p:cNvPicPr>
              <a:picLocks noChangeAspect="1"/>
            </p:cNvPicPr>
            <p:nvPr/>
          </p:nvPicPr>
          <p:blipFill>
            <a:blip r:embed="rId126">
              <a:extLst>
                <a:ext uri="{28A0092B-C50C-407E-A947-70E740481C1C}">
                  <a14:useLocalDpi xmlns:a14="http://schemas.microsoft.com/office/drawing/2010/main" val="0"/>
                </a:ext>
                <a:ext uri="{96DAC541-7B7A-43D3-8B79-37D633B846F1}">
                  <asvg:svgBlip xmlns:asvg="http://schemas.microsoft.com/office/drawing/2016/SVG/main" r:embed="rId127"/>
                </a:ext>
              </a:extLst>
            </a:blip>
            <a:stretch>
              <a:fillRect/>
            </a:stretch>
          </p:blipFill>
          <p:spPr>
            <a:xfrm>
              <a:off x="11314907" y="3608955"/>
              <a:ext cx="593709" cy="593709"/>
            </a:xfrm>
            <a:prstGeom prst="rect">
              <a:avLst/>
            </a:prstGeom>
          </p:spPr>
        </p:pic>
        <p:pic>
          <p:nvPicPr>
            <p:cNvPr id="650" name="Graphique 649" descr="Croissance de l'activité avec un remplissage uni">
              <a:extLst>
                <a:ext uri="{FF2B5EF4-FFF2-40B4-BE49-F238E27FC236}">
                  <a16:creationId xmlns:a16="http://schemas.microsoft.com/office/drawing/2014/main" id="{3D147FE7-1386-A022-FEFD-4B2CA04FCD51}"/>
                </a:ext>
              </a:extLst>
            </p:cNvPr>
            <p:cNvPicPr>
              <a:picLocks noChangeAspect="1"/>
            </p:cNvPicPr>
            <p:nvPr/>
          </p:nvPicPr>
          <p:blipFill>
            <a:blip r:embed="rId128">
              <a:extLst>
                <a:ext uri="{28A0092B-C50C-407E-A947-70E740481C1C}">
                  <a14:useLocalDpi xmlns:a14="http://schemas.microsoft.com/office/drawing/2010/main" val="0"/>
                </a:ext>
                <a:ext uri="{96DAC541-7B7A-43D3-8B79-37D633B846F1}">
                  <asvg:svgBlip xmlns:asvg="http://schemas.microsoft.com/office/drawing/2016/SVG/main" r:embed="rId129"/>
                </a:ext>
              </a:extLst>
            </a:blip>
            <a:stretch>
              <a:fillRect/>
            </a:stretch>
          </p:blipFill>
          <p:spPr>
            <a:xfrm>
              <a:off x="2964897" y="1601511"/>
              <a:ext cx="785986" cy="785986"/>
            </a:xfrm>
            <a:prstGeom prst="rect">
              <a:avLst/>
            </a:prstGeom>
          </p:spPr>
        </p:pic>
        <p:pic>
          <p:nvPicPr>
            <p:cNvPr id="651" name="Graphique 650" descr="Tendance à la hausse avec un remplissage uni">
              <a:extLst>
                <a:ext uri="{FF2B5EF4-FFF2-40B4-BE49-F238E27FC236}">
                  <a16:creationId xmlns:a16="http://schemas.microsoft.com/office/drawing/2014/main" id="{0B831FCE-E9CF-3F0A-3E0D-27D6638F81A5}"/>
                </a:ext>
              </a:extLst>
            </p:cNvPr>
            <p:cNvPicPr>
              <a:picLocks noChangeAspect="1"/>
            </p:cNvPicPr>
            <p:nvPr/>
          </p:nvPicPr>
          <p:blipFill>
            <a:blip r:embed="rId130">
              <a:extLst>
                <a:ext uri="{28A0092B-C50C-407E-A947-70E740481C1C}">
                  <a14:useLocalDpi xmlns:a14="http://schemas.microsoft.com/office/drawing/2010/main" val="0"/>
                </a:ext>
                <a:ext uri="{96DAC541-7B7A-43D3-8B79-37D633B846F1}">
                  <asvg:svgBlip xmlns:asvg="http://schemas.microsoft.com/office/drawing/2016/SVG/main" r:embed="rId131"/>
                </a:ext>
              </a:extLst>
            </a:blip>
            <a:stretch>
              <a:fillRect/>
            </a:stretch>
          </p:blipFill>
          <p:spPr>
            <a:xfrm>
              <a:off x="1200708" y="5559693"/>
              <a:ext cx="890780" cy="868055"/>
            </a:xfrm>
            <a:prstGeom prst="rect">
              <a:avLst/>
            </a:prstGeom>
          </p:spPr>
        </p:pic>
        <p:pic>
          <p:nvPicPr>
            <p:cNvPr id="652" name="Graphique 651" descr="Tableau décisionnel avec un remplissage uni">
              <a:extLst>
                <a:ext uri="{FF2B5EF4-FFF2-40B4-BE49-F238E27FC236}">
                  <a16:creationId xmlns:a16="http://schemas.microsoft.com/office/drawing/2014/main" id="{04170894-9478-04B5-4186-F33392222068}"/>
                </a:ext>
              </a:extLst>
            </p:cNvPr>
            <p:cNvPicPr>
              <a:picLocks noChangeAspect="1"/>
            </p:cNvPicPr>
            <p:nvPr/>
          </p:nvPicPr>
          <p:blipFill>
            <a:blip r:embed="rId132">
              <a:extLst>
                <a:ext uri="{28A0092B-C50C-407E-A947-70E740481C1C}">
                  <a14:useLocalDpi xmlns:a14="http://schemas.microsoft.com/office/drawing/2010/main" val="0"/>
                </a:ext>
                <a:ext uri="{96DAC541-7B7A-43D3-8B79-37D633B846F1}">
                  <asvg:svgBlip xmlns:asvg="http://schemas.microsoft.com/office/drawing/2016/SVG/main" r:embed="rId133"/>
                </a:ext>
              </a:extLst>
            </a:blip>
            <a:stretch>
              <a:fillRect/>
            </a:stretch>
          </p:blipFill>
          <p:spPr>
            <a:xfrm>
              <a:off x="1301139" y="3665496"/>
              <a:ext cx="762463" cy="762463"/>
            </a:xfrm>
            <a:prstGeom prst="rect">
              <a:avLst/>
            </a:prstGeom>
          </p:spPr>
        </p:pic>
        <p:pic>
          <p:nvPicPr>
            <p:cNvPr id="653" name="Graphique 652" descr="Croissance de l'activité avec un remplissage uni">
              <a:extLst>
                <a:ext uri="{FF2B5EF4-FFF2-40B4-BE49-F238E27FC236}">
                  <a16:creationId xmlns:a16="http://schemas.microsoft.com/office/drawing/2014/main" id="{6EEC4932-45D3-0FD5-A708-A641B6471628}"/>
                </a:ext>
              </a:extLst>
            </p:cNvPr>
            <p:cNvPicPr>
              <a:picLocks noChangeAspect="1"/>
            </p:cNvPicPr>
            <p:nvPr/>
          </p:nvPicPr>
          <p:blipFill>
            <a:blip r:embed="rId134">
              <a:extLst>
                <a:ext uri="{28A0092B-C50C-407E-A947-70E740481C1C}">
                  <a14:useLocalDpi xmlns:a14="http://schemas.microsoft.com/office/drawing/2010/main" val="0"/>
                </a:ext>
                <a:ext uri="{96DAC541-7B7A-43D3-8B79-37D633B846F1}">
                  <asvg:svgBlip xmlns:asvg="http://schemas.microsoft.com/office/drawing/2016/SVG/main" r:embed="rId135"/>
                </a:ext>
              </a:extLst>
            </a:blip>
            <a:stretch>
              <a:fillRect/>
            </a:stretch>
          </p:blipFill>
          <p:spPr>
            <a:xfrm>
              <a:off x="1331697" y="1883025"/>
              <a:ext cx="785986" cy="785986"/>
            </a:xfrm>
            <a:prstGeom prst="rect">
              <a:avLst/>
            </a:prstGeom>
          </p:spPr>
        </p:pic>
      </p:grpSp>
      <p:grpSp>
        <p:nvGrpSpPr>
          <p:cNvPr id="759" name="Groupe 758">
            <a:extLst>
              <a:ext uri="{FF2B5EF4-FFF2-40B4-BE49-F238E27FC236}">
                <a16:creationId xmlns:a16="http://schemas.microsoft.com/office/drawing/2014/main" id="{00DFB0B7-1F49-1F1F-C316-2FB859D99A8B}"/>
              </a:ext>
            </a:extLst>
          </p:cNvPr>
          <p:cNvGrpSpPr/>
          <p:nvPr/>
        </p:nvGrpSpPr>
        <p:grpSpPr>
          <a:xfrm>
            <a:off x="7338338" y="4004970"/>
            <a:ext cx="1702112" cy="985372"/>
            <a:chOff x="5615249" y="7351346"/>
            <a:chExt cx="3103089" cy="1796414"/>
          </a:xfrm>
        </p:grpSpPr>
        <p:grpSp>
          <p:nvGrpSpPr>
            <p:cNvPr id="754" name="Groupe 753">
              <a:extLst>
                <a:ext uri="{FF2B5EF4-FFF2-40B4-BE49-F238E27FC236}">
                  <a16:creationId xmlns:a16="http://schemas.microsoft.com/office/drawing/2014/main" id="{8320F201-FF0E-C33C-F2D2-BE9053F2BDF8}"/>
                </a:ext>
              </a:extLst>
            </p:cNvPr>
            <p:cNvGrpSpPr/>
            <p:nvPr/>
          </p:nvGrpSpPr>
          <p:grpSpPr>
            <a:xfrm>
              <a:off x="5615249" y="7822197"/>
              <a:ext cx="3018712" cy="1325563"/>
              <a:chOff x="546683" y="1690688"/>
              <a:chExt cx="11232858" cy="4932522"/>
            </a:xfrm>
          </p:grpSpPr>
          <p:sp>
            <p:nvSpPr>
              <p:cNvPr id="755" name="Ellipse 754">
                <a:extLst>
                  <a:ext uri="{FF2B5EF4-FFF2-40B4-BE49-F238E27FC236}">
                    <a16:creationId xmlns:a16="http://schemas.microsoft.com/office/drawing/2014/main" id="{0F47BBC4-7049-EA95-3FF2-3E097CCF8D99}"/>
                  </a:ext>
                </a:extLst>
              </p:cNvPr>
              <p:cNvSpPr/>
              <p:nvPr/>
            </p:nvSpPr>
            <p:spPr>
              <a:xfrm>
                <a:off x="546683" y="1690688"/>
                <a:ext cx="11232858" cy="4932522"/>
              </a:xfrm>
              <a:prstGeom prst="ellipse">
                <a:avLst/>
              </a:prstGeom>
              <a:solidFill>
                <a:srgbClr val="54FFB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6" name="Ellipse 755">
                <a:extLst>
                  <a:ext uri="{FF2B5EF4-FFF2-40B4-BE49-F238E27FC236}">
                    <a16:creationId xmlns:a16="http://schemas.microsoft.com/office/drawing/2014/main" id="{62EA9E0D-B7C1-456A-ADEA-CCC35B4BC7FD}"/>
                  </a:ext>
                </a:extLst>
              </p:cNvPr>
              <p:cNvSpPr/>
              <p:nvPr/>
            </p:nvSpPr>
            <p:spPr>
              <a:xfrm>
                <a:off x="4149298" y="2449385"/>
                <a:ext cx="7630243" cy="3350558"/>
              </a:xfrm>
              <a:prstGeom prst="ellipse">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7" name="Ellipse 756">
                <a:extLst>
                  <a:ext uri="{FF2B5EF4-FFF2-40B4-BE49-F238E27FC236}">
                    <a16:creationId xmlns:a16="http://schemas.microsoft.com/office/drawing/2014/main" id="{FC8E22FF-CBCF-FA51-87A6-6BF11A93ED14}"/>
                  </a:ext>
                </a:extLst>
              </p:cNvPr>
              <p:cNvSpPr/>
              <p:nvPr/>
            </p:nvSpPr>
            <p:spPr>
              <a:xfrm>
                <a:off x="7292282" y="3233906"/>
                <a:ext cx="4017625" cy="186609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758" name="Graphique 757" descr="Bâtiment avec un remplissage uni">
              <a:extLst>
                <a:ext uri="{FF2B5EF4-FFF2-40B4-BE49-F238E27FC236}">
                  <a16:creationId xmlns:a16="http://schemas.microsoft.com/office/drawing/2014/main" id="{D7AADBBC-0849-73DC-C460-60CBEF602262}"/>
                </a:ext>
              </a:extLst>
            </p:cNvPr>
            <p:cNvPicPr>
              <a:picLocks noChangeAspect="1"/>
            </p:cNvPicPr>
            <p:nvPr/>
          </p:nvPicPr>
          <p:blipFill>
            <a:blip r:embed="rId136">
              <a:extLst>
                <a:ext uri="{28A0092B-C50C-407E-A947-70E740481C1C}">
                  <a14:useLocalDpi xmlns:a14="http://schemas.microsoft.com/office/drawing/2010/main" val="0"/>
                </a:ext>
                <a:ext uri="{96DAC541-7B7A-43D3-8B79-37D633B846F1}">
                  <asvg:svgBlip xmlns:asvg="http://schemas.microsoft.com/office/drawing/2016/SVG/main" r:embed="rId137"/>
                </a:ext>
              </a:extLst>
            </a:blip>
            <a:stretch>
              <a:fillRect/>
            </a:stretch>
          </p:blipFill>
          <p:spPr>
            <a:xfrm>
              <a:off x="8029817" y="7351346"/>
              <a:ext cx="688521" cy="688521"/>
            </a:xfrm>
            <a:prstGeom prst="rect">
              <a:avLst/>
            </a:prstGeom>
          </p:spPr>
        </p:pic>
      </p:grpSp>
      <p:sp>
        <p:nvSpPr>
          <p:cNvPr id="760" name="Rectangle 759">
            <a:extLst>
              <a:ext uri="{FF2B5EF4-FFF2-40B4-BE49-F238E27FC236}">
                <a16:creationId xmlns:a16="http://schemas.microsoft.com/office/drawing/2014/main" id="{5089D6EB-E022-F9CA-3F09-1B06FF5491DB}"/>
              </a:ext>
            </a:extLst>
          </p:cNvPr>
          <p:cNvSpPr/>
          <p:nvPr/>
        </p:nvSpPr>
        <p:spPr>
          <a:xfrm>
            <a:off x="5380465" y="5140464"/>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📅Atelier d’identification de la valeur attendue pour l’entreprise</a:t>
            </a:r>
          </a:p>
        </p:txBody>
      </p:sp>
      <p:sp>
        <p:nvSpPr>
          <p:cNvPr id="761" name="Flèche : droite 760">
            <a:extLst>
              <a:ext uri="{FF2B5EF4-FFF2-40B4-BE49-F238E27FC236}">
                <a16:creationId xmlns:a16="http://schemas.microsoft.com/office/drawing/2014/main" id="{B6926BD1-AEEC-FEB6-4DEE-0696832CB2A7}"/>
              </a:ext>
            </a:extLst>
          </p:cNvPr>
          <p:cNvSpPr/>
          <p:nvPr/>
        </p:nvSpPr>
        <p:spPr>
          <a:xfrm>
            <a:off x="1665240" y="2120160"/>
            <a:ext cx="1332148" cy="1337213"/>
          </a:xfrm>
          <a:prstGeom prst="rightArrow">
            <a:avLst>
              <a:gd name="adj1" fmla="val 67984"/>
              <a:gd name="adj2"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tx1"/>
                </a:solidFill>
              </a:rPr>
              <a:t>IDEATION D’ACTIONS :</a:t>
            </a:r>
          </a:p>
          <a:p>
            <a:pPr algn="ctr"/>
            <a:r>
              <a:rPr lang="fr-FR" sz="900" dirty="0">
                <a:solidFill>
                  <a:schemeClr val="tx1"/>
                </a:solidFill>
              </a:rPr>
              <a:t>Clarifier la valeur et imaginer des actions</a:t>
            </a:r>
          </a:p>
        </p:txBody>
      </p:sp>
      <p:sp>
        <p:nvSpPr>
          <p:cNvPr id="762" name="Rectangle 761">
            <a:extLst>
              <a:ext uri="{FF2B5EF4-FFF2-40B4-BE49-F238E27FC236}">
                <a16:creationId xmlns:a16="http://schemas.microsoft.com/office/drawing/2014/main" id="{F9F9E4CD-4586-E6FF-A515-BEF53D16EE52}"/>
              </a:ext>
            </a:extLst>
          </p:cNvPr>
          <p:cNvSpPr/>
          <p:nvPr/>
        </p:nvSpPr>
        <p:spPr>
          <a:xfrm>
            <a:off x="7405757" y="5140464"/>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Clarification de la partie d’information qui sera utilisée comme KPIs </a:t>
            </a:r>
          </a:p>
        </p:txBody>
      </p:sp>
      <p:sp>
        <p:nvSpPr>
          <p:cNvPr id="2" name="Titre 1">
            <a:extLst>
              <a:ext uri="{FF2B5EF4-FFF2-40B4-BE49-F238E27FC236}">
                <a16:creationId xmlns:a16="http://schemas.microsoft.com/office/drawing/2014/main" id="{C58339C4-E433-4052-EED5-B97189C6B3B3}"/>
              </a:ext>
            </a:extLst>
          </p:cNvPr>
          <p:cNvSpPr txBox="1">
            <a:spLocks/>
          </p:cNvSpPr>
          <p:nvPr/>
        </p:nvSpPr>
        <p:spPr>
          <a:xfrm>
            <a:off x="2984173" y="3000026"/>
            <a:ext cx="1991986" cy="41643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réunion ponctuelle</a:t>
            </a:r>
          </a:p>
        </p:txBody>
      </p:sp>
      <p:sp>
        <p:nvSpPr>
          <p:cNvPr id="84" name="Rectangle 83">
            <a:extLst>
              <a:ext uri="{FF2B5EF4-FFF2-40B4-BE49-F238E27FC236}">
                <a16:creationId xmlns:a16="http://schemas.microsoft.com/office/drawing/2014/main" id="{EBAE53B0-9F2D-99D2-DB8B-799CB12DA833}"/>
              </a:ext>
            </a:extLst>
          </p:cNvPr>
          <p:cNvSpPr/>
          <p:nvPr/>
        </p:nvSpPr>
        <p:spPr>
          <a:xfrm>
            <a:off x="8303794" y="2714830"/>
            <a:ext cx="83455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commune des fondateurs</a:t>
            </a:r>
          </a:p>
        </p:txBody>
      </p:sp>
      <p:pic>
        <p:nvPicPr>
          <p:cNvPr id="85" name="Graphique 84" descr="Sablier 60% avec un remplissage uni">
            <a:extLst>
              <a:ext uri="{FF2B5EF4-FFF2-40B4-BE49-F238E27FC236}">
                <a16:creationId xmlns:a16="http://schemas.microsoft.com/office/drawing/2014/main" id="{9871FB1D-5F0C-4192-4112-3A185E06E041}"/>
              </a:ext>
            </a:extLst>
          </p:cNvPr>
          <p:cNvPicPr>
            <a:picLocks noChangeAspect="1"/>
          </p:cNvPicPr>
          <p:nvPr/>
        </p:nvPicPr>
        <p:blipFill>
          <a:blip r:embed="rId138">
            <a:extLst>
              <a:ext uri="{28A0092B-C50C-407E-A947-70E740481C1C}">
                <a14:useLocalDpi xmlns:a14="http://schemas.microsoft.com/office/drawing/2010/main" val="0"/>
              </a:ext>
              <a:ext uri="{96DAC541-7B7A-43D3-8B79-37D633B846F1}">
                <asvg:svgBlip xmlns:asvg="http://schemas.microsoft.com/office/drawing/2016/SVG/main" r:embed="rId139"/>
              </a:ext>
            </a:extLst>
          </a:blip>
          <a:stretch>
            <a:fillRect/>
          </a:stretch>
        </p:blipFill>
        <p:spPr>
          <a:xfrm>
            <a:off x="8489684" y="2220769"/>
            <a:ext cx="462773" cy="462772"/>
          </a:xfrm>
          <a:prstGeom prst="rect">
            <a:avLst/>
          </a:prstGeom>
        </p:spPr>
      </p:pic>
      <p:pic>
        <p:nvPicPr>
          <p:cNvPr id="86" name="Graphique 85" descr="Tête avec engrenages avec un remplissage uni">
            <a:extLst>
              <a:ext uri="{FF2B5EF4-FFF2-40B4-BE49-F238E27FC236}">
                <a16:creationId xmlns:a16="http://schemas.microsoft.com/office/drawing/2014/main" id="{ABD10EDB-A593-1F4C-2A1F-AA79144EF90F}"/>
              </a:ext>
            </a:extLst>
          </p:cNvPr>
          <p:cNvPicPr>
            <a:picLocks noChangeAspect="1"/>
          </p:cNvPicPr>
          <p:nvPr/>
        </p:nvPicPr>
        <p:blipFill>
          <a:blip r:embed="rId72">
            <a:extLst>
              <a:ext uri="{28A0092B-C50C-407E-A947-70E740481C1C}">
                <a14:useLocalDpi xmlns:a14="http://schemas.microsoft.com/office/drawing/2010/main" val="0"/>
              </a:ext>
              <a:ext uri="{96DAC541-7B7A-43D3-8B79-37D633B846F1}">
                <asvg:svgBlip xmlns:asvg="http://schemas.microsoft.com/office/drawing/2016/SVG/main" r:embed="rId140"/>
              </a:ext>
            </a:extLst>
          </a:blip>
          <a:stretch>
            <a:fillRect/>
          </a:stretch>
        </p:blipFill>
        <p:spPr>
          <a:xfrm>
            <a:off x="9609735" y="2239244"/>
            <a:ext cx="462773" cy="462772"/>
          </a:xfrm>
          <a:prstGeom prst="rect">
            <a:avLst/>
          </a:prstGeom>
        </p:spPr>
      </p:pic>
      <p:sp>
        <p:nvSpPr>
          <p:cNvPr id="87" name="Rectangle 86">
            <a:extLst>
              <a:ext uri="{FF2B5EF4-FFF2-40B4-BE49-F238E27FC236}">
                <a16:creationId xmlns:a16="http://schemas.microsoft.com/office/drawing/2014/main" id="{ED2F9217-07AB-25E0-0023-6189F14F59DA}"/>
              </a:ext>
            </a:extLst>
          </p:cNvPr>
          <p:cNvSpPr/>
          <p:nvPr/>
        </p:nvSpPr>
        <p:spPr>
          <a:xfrm>
            <a:off x="9386929" y="2714830"/>
            <a:ext cx="834554"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de cadrage</a:t>
            </a:r>
          </a:p>
        </p:txBody>
      </p:sp>
      <p:sp>
        <p:nvSpPr>
          <p:cNvPr id="119" name="Rectangle 118">
            <a:extLst>
              <a:ext uri="{FF2B5EF4-FFF2-40B4-BE49-F238E27FC236}">
                <a16:creationId xmlns:a16="http://schemas.microsoft.com/office/drawing/2014/main" id="{8B5E7C8E-50CD-FD1E-3BDD-7F2B9E43498E}"/>
              </a:ext>
            </a:extLst>
          </p:cNvPr>
          <p:cNvSpPr/>
          <p:nvPr/>
        </p:nvSpPr>
        <p:spPr>
          <a:xfrm>
            <a:off x="10356183" y="2714830"/>
            <a:ext cx="932735"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Connaissances fine sur les enjeux  actuels de l’entreprise</a:t>
            </a:r>
          </a:p>
        </p:txBody>
      </p:sp>
      <p:pic>
        <p:nvPicPr>
          <p:cNvPr id="120" name="Graphique 119" descr="Informations avec un remplissage uni">
            <a:extLst>
              <a:ext uri="{FF2B5EF4-FFF2-40B4-BE49-F238E27FC236}">
                <a16:creationId xmlns:a16="http://schemas.microsoft.com/office/drawing/2014/main" id="{F217CC7C-1F79-B256-8401-9D26D8A508B1}"/>
              </a:ext>
            </a:extLst>
          </p:cNvPr>
          <p:cNvPicPr>
            <a:picLocks noChangeAspect="1"/>
          </p:cNvPicPr>
          <p:nvPr/>
        </p:nvPicPr>
        <p:blipFill>
          <a:blip r:embed="rId141">
            <a:extLst>
              <a:ext uri="{28A0092B-C50C-407E-A947-70E740481C1C}">
                <a14:useLocalDpi xmlns:a14="http://schemas.microsoft.com/office/drawing/2010/main" val="0"/>
              </a:ext>
              <a:ext uri="{96DAC541-7B7A-43D3-8B79-37D633B846F1}">
                <asvg:svgBlip xmlns:asvg="http://schemas.microsoft.com/office/drawing/2016/SVG/main" r:embed="rId142"/>
              </a:ext>
            </a:extLst>
          </a:blip>
          <a:stretch>
            <a:fillRect/>
          </a:stretch>
        </p:blipFill>
        <p:spPr>
          <a:xfrm>
            <a:off x="10596484" y="2230079"/>
            <a:ext cx="484752" cy="484751"/>
          </a:xfrm>
          <a:prstGeom prst="rect">
            <a:avLst/>
          </a:prstGeom>
        </p:spPr>
      </p:pic>
      <p:sp>
        <p:nvSpPr>
          <p:cNvPr id="121" name="Rectangle 120">
            <a:extLst>
              <a:ext uri="{FF2B5EF4-FFF2-40B4-BE49-F238E27FC236}">
                <a16:creationId xmlns:a16="http://schemas.microsoft.com/office/drawing/2014/main" id="{3EF73998-888A-46ED-BE55-C08A6EB69F99}"/>
              </a:ext>
            </a:extLst>
          </p:cNvPr>
          <p:cNvSpPr/>
          <p:nvPr/>
        </p:nvSpPr>
        <p:spPr>
          <a:xfrm>
            <a:off x="7178781" y="2714830"/>
            <a:ext cx="990313"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ponctuelle commune de quelques futurs membres </a:t>
            </a:r>
          </a:p>
        </p:txBody>
      </p:sp>
      <p:pic>
        <p:nvPicPr>
          <p:cNvPr id="122" name="Graphique 121" descr="Sablier 60% avec un remplissage uni">
            <a:extLst>
              <a:ext uri="{FF2B5EF4-FFF2-40B4-BE49-F238E27FC236}">
                <a16:creationId xmlns:a16="http://schemas.microsoft.com/office/drawing/2014/main" id="{F91EC17B-F6A3-8B54-5FD4-C4EF60A18711}"/>
              </a:ext>
            </a:extLst>
          </p:cNvPr>
          <p:cNvPicPr>
            <a:picLocks noChangeAspect="1"/>
          </p:cNvPicPr>
          <p:nvPr/>
        </p:nvPicPr>
        <p:blipFill>
          <a:blip r:embed="rId138">
            <a:extLst>
              <a:ext uri="{28A0092B-C50C-407E-A947-70E740481C1C}">
                <a14:useLocalDpi xmlns:a14="http://schemas.microsoft.com/office/drawing/2010/main" val="0"/>
              </a:ext>
              <a:ext uri="{96DAC541-7B7A-43D3-8B79-37D633B846F1}">
                <asvg:svgBlip xmlns:asvg="http://schemas.microsoft.com/office/drawing/2016/SVG/main" r:embed="rId139"/>
              </a:ext>
            </a:extLst>
          </a:blip>
          <a:stretch>
            <a:fillRect/>
          </a:stretch>
        </p:blipFill>
        <p:spPr>
          <a:xfrm>
            <a:off x="7485625" y="2220769"/>
            <a:ext cx="462773" cy="462772"/>
          </a:xfrm>
          <a:prstGeom prst="rect">
            <a:avLst/>
          </a:prstGeom>
        </p:spPr>
      </p:pic>
      <p:sp>
        <p:nvSpPr>
          <p:cNvPr id="123" name="Rectangle 122">
            <a:extLst>
              <a:ext uri="{FF2B5EF4-FFF2-40B4-BE49-F238E27FC236}">
                <a16:creationId xmlns:a16="http://schemas.microsoft.com/office/drawing/2014/main" id="{662D5B7E-5534-BACB-C0C0-450AB28358EF}"/>
              </a:ext>
            </a:extLst>
          </p:cNvPr>
          <p:cNvSpPr/>
          <p:nvPr/>
        </p:nvSpPr>
        <p:spPr>
          <a:xfrm>
            <a:off x="6121118" y="2714830"/>
            <a:ext cx="990313"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ponctuelle de sponsors</a:t>
            </a:r>
          </a:p>
        </p:txBody>
      </p:sp>
      <p:pic>
        <p:nvPicPr>
          <p:cNvPr id="124" name="Graphique 123" descr="Sablier 60% avec un remplissage uni">
            <a:extLst>
              <a:ext uri="{FF2B5EF4-FFF2-40B4-BE49-F238E27FC236}">
                <a16:creationId xmlns:a16="http://schemas.microsoft.com/office/drawing/2014/main" id="{A6DEB9F2-7057-B2E5-459F-577A5CF5DD8B}"/>
              </a:ext>
            </a:extLst>
          </p:cNvPr>
          <p:cNvPicPr>
            <a:picLocks noChangeAspect="1"/>
          </p:cNvPicPr>
          <p:nvPr/>
        </p:nvPicPr>
        <p:blipFill>
          <a:blip r:embed="rId138">
            <a:extLst>
              <a:ext uri="{28A0092B-C50C-407E-A947-70E740481C1C}">
                <a14:useLocalDpi xmlns:a14="http://schemas.microsoft.com/office/drawing/2010/main" val="0"/>
              </a:ext>
              <a:ext uri="{96DAC541-7B7A-43D3-8B79-37D633B846F1}">
                <asvg:svgBlip xmlns:asvg="http://schemas.microsoft.com/office/drawing/2016/SVG/main" r:embed="rId139"/>
              </a:ext>
            </a:extLst>
          </a:blip>
          <a:stretch>
            <a:fillRect/>
          </a:stretch>
        </p:blipFill>
        <p:spPr>
          <a:xfrm>
            <a:off x="6373527" y="2230079"/>
            <a:ext cx="462773" cy="462772"/>
          </a:xfrm>
          <a:prstGeom prst="rect">
            <a:avLst/>
          </a:prstGeom>
        </p:spPr>
      </p:pic>
      <p:sp>
        <p:nvSpPr>
          <p:cNvPr id="125" name="Rectangle 124">
            <a:extLst>
              <a:ext uri="{FF2B5EF4-FFF2-40B4-BE49-F238E27FC236}">
                <a16:creationId xmlns:a16="http://schemas.microsoft.com/office/drawing/2014/main" id="{35515F83-F24A-FECB-06C2-850C652E9F69}"/>
              </a:ext>
            </a:extLst>
          </p:cNvPr>
          <p:cNvSpPr/>
          <p:nvPr/>
        </p:nvSpPr>
        <p:spPr>
          <a:xfrm>
            <a:off x="5079434" y="2716459"/>
            <a:ext cx="957357"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Soutien de sponsors potentiels ou futurs sponsors potentiels</a:t>
            </a:r>
          </a:p>
        </p:txBody>
      </p:sp>
      <p:pic>
        <p:nvPicPr>
          <p:cNvPr id="126" name="Graphique 125" descr="Signe pouce en haut avec un remplissage uni">
            <a:extLst>
              <a:ext uri="{FF2B5EF4-FFF2-40B4-BE49-F238E27FC236}">
                <a16:creationId xmlns:a16="http://schemas.microsoft.com/office/drawing/2014/main" id="{80914745-637F-563C-DDD0-0096B2536DC1}"/>
              </a:ext>
            </a:extLst>
          </p:cNvPr>
          <p:cNvPicPr>
            <a:picLocks noChangeAspect="1"/>
          </p:cNvPicPr>
          <p:nvPr/>
        </p:nvPicPr>
        <p:blipFill>
          <a:blip r:embed="rId143">
            <a:extLst>
              <a:ext uri="{28A0092B-C50C-407E-A947-70E740481C1C}">
                <a14:useLocalDpi xmlns:a14="http://schemas.microsoft.com/office/drawing/2010/main" val="0"/>
              </a:ext>
              <a:ext uri="{96DAC541-7B7A-43D3-8B79-37D633B846F1}">
                <asvg:svgBlip xmlns:asvg="http://schemas.microsoft.com/office/drawing/2016/SVG/main" r:embed="rId144"/>
              </a:ext>
            </a:extLst>
          </a:blip>
          <a:stretch>
            <a:fillRect/>
          </a:stretch>
        </p:blipFill>
        <p:spPr>
          <a:xfrm>
            <a:off x="5342338" y="2175462"/>
            <a:ext cx="520644" cy="520643"/>
          </a:xfrm>
          <a:prstGeom prst="rect">
            <a:avLst/>
          </a:prstGeom>
        </p:spPr>
      </p:pic>
      <p:grpSp>
        <p:nvGrpSpPr>
          <p:cNvPr id="3" name="Groupe 2">
            <a:extLst>
              <a:ext uri="{FF2B5EF4-FFF2-40B4-BE49-F238E27FC236}">
                <a16:creationId xmlns:a16="http://schemas.microsoft.com/office/drawing/2014/main" id="{3E0E7879-8A7F-662F-3C73-F11675977A58}"/>
              </a:ext>
            </a:extLst>
          </p:cNvPr>
          <p:cNvGrpSpPr/>
          <p:nvPr/>
        </p:nvGrpSpPr>
        <p:grpSpPr>
          <a:xfrm>
            <a:off x="9491794" y="4260847"/>
            <a:ext cx="1583556" cy="741212"/>
            <a:chOff x="463550" y="1420160"/>
            <a:chExt cx="11264900" cy="5272740"/>
          </a:xfrm>
        </p:grpSpPr>
        <p:sp>
          <p:nvSpPr>
            <p:cNvPr id="4" name="Trapèze 3">
              <a:extLst>
                <a:ext uri="{FF2B5EF4-FFF2-40B4-BE49-F238E27FC236}">
                  <a16:creationId xmlns:a16="http://schemas.microsoft.com/office/drawing/2014/main" id="{AB9B1301-1566-0E62-F1B3-9E562814CF8E}"/>
                </a:ext>
              </a:extLst>
            </p:cNvPr>
            <p:cNvSpPr/>
            <p:nvPr/>
          </p:nvSpPr>
          <p:spPr>
            <a:xfrm>
              <a:off x="463550" y="5080000"/>
              <a:ext cx="11264900" cy="1612900"/>
            </a:xfrm>
            <a:prstGeom prst="trapezoid">
              <a:avLst>
                <a:gd name="adj" fmla="val 6358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 b="1" dirty="0">
                  <a:solidFill>
                    <a:schemeClr val="tx1"/>
                  </a:solidFill>
                </a:rPr>
                <a:t>CAUSE</a:t>
              </a:r>
            </a:p>
          </p:txBody>
        </p:sp>
        <p:sp>
          <p:nvSpPr>
            <p:cNvPr id="5" name="Triangle isocèle 4">
              <a:extLst>
                <a:ext uri="{FF2B5EF4-FFF2-40B4-BE49-F238E27FC236}">
                  <a16:creationId xmlns:a16="http://schemas.microsoft.com/office/drawing/2014/main" id="{A4EBE05B-A310-27B1-6CA7-C9C81FBF5EA7}"/>
                </a:ext>
              </a:extLst>
            </p:cNvPr>
            <p:cNvSpPr/>
            <p:nvPr/>
          </p:nvSpPr>
          <p:spPr>
            <a:xfrm>
              <a:off x="2800350" y="1420160"/>
              <a:ext cx="6553200" cy="1529080"/>
            </a:xfrm>
            <a:prstGeom prst="triangle">
              <a:avLst>
                <a:gd name="adj" fmla="val 5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 dirty="0">
                  <a:solidFill>
                    <a:schemeClr val="tx1"/>
                  </a:solidFill>
                </a:rPr>
                <a:t>GREAT GOAL</a:t>
              </a:r>
            </a:p>
            <a:p>
              <a:pPr algn="ctr"/>
              <a:endParaRPr lang="en-US" sz="400" dirty="0">
                <a:solidFill>
                  <a:schemeClr val="tx1"/>
                </a:solidFill>
              </a:endParaRPr>
            </a:p>
          </p:txBody>
        </p:sp>
        <p:grpSp>
          <p:nvGrpSpPr>
            <p:cNvPr id="6" name="Groupe 5">
              <a:extLst>
                <a:ext uri="{FF2B5EF4-FFF2-40B4-BE49-F238E27FC236}">
                  <a16:creationId xmlns:a16="http://schemas.microsoft.com/office/drawing/2014/main" id="{7E5FC8AD-28A5-716A-B76F-B4F1A8A5F146}"/>
                </a:ext>
              </a:extLst>
            </p:cNvPr>
            <p:cNvGrpSpPr/>
            <p:nvPr/>
          </p:nvGrpSpPr>
          <p:grpSpPr>
            <a:xfrm>
              <a:off x="1527175" y="3040767"/>
              <a:ext cx="9137650" cy="1969383"/>
              <a:chOff x="1644650" y="3040767"/>
              <a:chExt cx="9137650" cy="1907219"/>
            </a:xfrm>
          </p:grpSpPr>
          <p:sp>
            <p:nvSpPr>
              <p:cNvPr id="9" name="Trapèze 8">
                <a:extLst>
                  <a:ext uri="{FF2B5EF4-FFF2-40B4-BE49-F238E27FC236}">
                    <a16:creationId xmlns:a16="http://schemas.microsoft.com/office/drawing/2014/main" id="{47A9481C-355F-9EF3-9A87-2F16231F6C85}"/>
                  </a:ext>
                </a:extLst>
              </p:cNvPr>
              <p:cNvSpPr/>
              <p:nvPr/>
            </p:nvSpPr>
            <p:spPr>
              <a:xfrm>
                <a:off x="1644650"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BAD MEMORIES</a:t>
                </a:r>
                <a:endParaRPr lang="en-US" sz="100" dirty="0">
                  <a:solidFill>
                    <a:schemeClr val="tx1"/>
                  </a:solidFill>
                </a:endParaRPr>
              </a:p>
            </p:txBody>
          </p:sp>
          <p:sp>
            <p:nvSpPr>
              <p:cNvPr id="10" name="Trapèze 9">
                <a:extLst>
                  <a:ext uri="{FF2B5EF4-FFF2-40B4-BE49-F238E27FC236}">
                    <a16:creationId xmlns:a16="http://schemas.microsoft.com/office/drawing/2014/main" id="{EA8F59CF-32F0-E960-01E7-EB44039BB663}"/>
                  </a:ext>
                </a:extLst>
              </p:cNvPr>
              <p:cNvSpPr/>
              <p:nvPr/>
            </p:nvSpPr>
            <p:spPr>
              <a:xfrm>
                <a:off x="2314030"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WRONG STORIES</a:t>
                </a:r>
              </a:p>
            </p:txBody>
          </p:sp>
          <p:sp>
            <p:nvSpPr>
              <p:cNvPr id="19" name="Trapèze 18">
                <a:extLst>
                  <a:ext uri="{FF2B5EF4-FFF2-40B4-BE49-F238E27FC236}">
                    <a16:creationId xmlns:a16="http://schemas.microsoft.com/office/drawing/2014/main" id="{D63B550B-BDE7-B928-639F-8B66C29BFB1C}"/>
                  </a:ext>
                </a:extLst>
              </p:cNvPr>
              <p:cNvSpPr/>
              <p:nvPr/>
            </p:nvSpPr>
            <p:spPr>
              <a:xfrm>
                <a:off x="6261747"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GOOD MEMORIES</a:t>
                </a:r>
                <a:endParaRPr lang="en-US" sz="100" dirty="0">
                  <a:solidFill>
                    <a:schemeClr val="tx1"/>
                  </a:solidFill>
                </a:endParaRPr>
              </a:p>
            </p:txBody>
          </p:sp>
          <p:sp>
            <p:nvSpPr>
              <p:cNvPr id="20" name="Trapèze 19">
                <a:extLst>
                  <a:ext uri="{FF2B5EF4-FFF2-40B4-BE49-F238E27FC236}">
                    <a16:creationId xmlns:a16="http://schemas.microsoft.com/office/drawing/2014/main" id="{B9257808-E37C-9235-8FCA-826E880E3EC7}"/>
                  </a:ext>
                </a:extLst>
              </p:cNvPr>
              <p:cNvSpPr/>
              <p:nvPr/>
            </p:nvSpPr>
            <p:spPr>
              <a:xfrm>
                <a:off x="6927306"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IDEAL STORIES</a:t>
                </a:r>
              </a:p>
            </p:txBody>
          </p:sp>
        </p:grpSp>
        <p:sp>
          <p:nvSpPr>
            <p:cNvPr id="7" name="Triangle isocèle 6">
              <a:extLst>
                <a:ext uri="{FF2B5EF4-FFF2-40B4-BE49-F238E27FC236}">
                  <a16:creationId xmlns:a16="http://schemas.microsoft.com/office/drawing/2014/main" id="{ACAF7F8B-C37E-6472-DAE9-3D23F7588065}"/>
                </a:ext>
              </a:extLst>
            </p:cNvPr>
            <p:cNvSpPr/>
            <p:nvPr/>
          </p:nvSpPr>
          <p:spPr>
            <a:xfrm rot="10800000">
              <a:off x="4952497" y="3040768"/>
              <a:ext cx="2287008" cy="1795683"/>
            </a:xfrm>
            <a:prstGeom prst="triangl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8" name="ZoneTexte 7">
              <a:extLst>
                <a:ext uri="{FF2B5EF4-FFF2-40B4-BE49-F238E27FC236}">
                  <a16:creationId xmlns:a16="http://schemas.microsoft.com/office/drawing/2014/main" id="{F114AF0D-6BE6-F16C-FB60-FAA1A7FD5878}"/>
                </a:ext>
              </a:extLst>
            </p:cNvPr>
            <p:cNvSpPr txBox="1"/>
            <p:nvPr/>
          </p:nvSpPr>
          <p:spPr>
            <a:xfrm>
              <a:off x="4952498" y="3044169"/>
              <a:ext cx="2287010" cy="875771"/>
            </a:xfrm>
            <a:prstGeom prst="rect">
              <a:avLst/>
            </a:prstGeom>
            <a:noFill/>
          </p:spPr>
          <p:txBody>
            <a:bodyPr wrap="square">
              <a:spAutoFit/>
            </a:bodyPr>
            <a:lstStyle/>
            <a:p>
              <a:pPr algn="ctr"/>
              <a:r>
                <a:rPr lang="en-US" sz="200" b="1" dirty="0"/>
                <a:t>CONDITIONS</a:t>
              </a:r>
            </a:p>
          </p:txBody>
        </p:sp>
      </p:grpSp>
      <p:sp>
        <p:nvSpPr>
          <p:cNvPr id="21" name="Rectangle 20">
            <a:extLst>
              <a:ext uri="{FF2B5EF4-FFF2-40B4-BE49-F238E27FC236}">
                <a16:creationId xmlns:a16="http://schemas.microsoft.com/office/drawing/2014/main" id="{F6BBF9FC-93AF-E046-556C-C28E5F670267}"/>
              </a:ext>
            </a:extLst>
          </p:cNvPr>
          <p:cNvSpPr/>
          <p:nvPr/>
        </p:nvSpPr>
        <p:spPr>
          <a:xfrm>
            <a:off x="9520530" y="5119504"/>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sur la raison d’être</a:t>
            </a:r>
          </a:p>
          <a:p>
            <a:pPr algn="ctr"/>
            <a:r>
              <a:rPr lang="fr-FR" sz="1200" dirty="0">
                <a:solidFill>
                  <a:schemeClr val="tx1"/>
                </a:solidFill>
              </a:rPr>
              <a:t>Pyramide la raison d’être</a:t>
            </a:r>
          </a:p>
        </p:txBody>
      </p:sp>
      <p:grpSp>
        <p:nvGrpSpPr>
          <p:cNvPr id="22" name="Groupe 21">
            <a:extLst>
              <a:ext uri="{FF2B5EF4-FFF2-40B4-BE49-F238E27FC236}">
                <a16:creationId xmlns:a16="http://schemas.microsoft.com/office/drawing/2014/main" id="{223AD9F5-222C-74C6-651E-93BAD08F5BC0}"/>
              </a:ext>
            </a:extLst>
          </p:cNvPr>
          <p:cNvGrpSpPr/>
          <p:nvPr/>
        </p:nvGrpSpPr>
        <p:grpSpPr>
          <a:xfrm>
            <a:off x="3091789" y="4220416"/>
            <a:ext cx="1811692" cy="666393"/>
            <a:chOff x="450974" y="1787224"/>
            <a:chExt cx="11601238" cy="4267272"/>
          </a:xfrm>
        </p:grpSpPr>
        <p:pic>
          <p:nvPicPr>
            <p:cNvPr id="23" name="Graphique 22" descr="Utilisateur avec un remplissage uni">
              <a:extLst>
                <a:ext uri="{FF2B5EF4-FFF2-40B4-BE49-F238E27FC236}">
                  <a16:creationId xmlns:a16="http://schemas.microsoft.com/office/drawing/2014/main" id="{D767539C-BF4D-2944-4941-18181A9E3F48}"/>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11505270" y="5507554"/>
              <a:ext cx="546942" cy="546942"/>
            </a:xfrm>
            <a:prstGeom prst="rect">
              <a:avLst/>
            </a:prstGeom>
          </p:spPr>
        </p:pic>
        <p:pic>
          <p:nvPicPr>
            <p:cNvPr id="24" name="Graphique 23" descr="Utilisateur avec un remplissage uni">
              <a:extLst>
                <a:ext uri="{FF2B5EF4-FFF2-40B4-BE49-F238E27FC236}">
                  <a16:creationId xmlns:a16="http://schemas.microsoft.com/office/drawing/2014/main" id="{EAAC132F-0F82-D1A0-876A-86488F3AE378}"/>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10790202" y="5507554"/>
              <a:ext cx="546942" cy="546942"/>
            </a:xfrm>
            <a:prstGeom prst="rect">
              <a:avLst/>
            </a:prstGeom>
          </p:spPr>
        </p:pic>
        <p:pic>
          <p:nvPicPr>
            <p:cNvPr id="26" name="Graphique 25" descr="Utilisateur avec un remplissage uni">
              <a:extLst>
                <a:ext uri="{FF2B5EF4-FFF2-40B4-BE49-F238E27FC236}">
                  <a16:creationId xmlns:a16="http://schemas.microsoft.com/office/drawing/2014/main" id="{BCC2655A-082B-D07F-FBDE-D6B21F7B9EF5}"/>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10069038" y="5507554"/>
              <a:ext cx="546942" cy="546942"/>
            </a:xfrm>
            <a:prstGeom prst="rect">
              <a:avLst/>
            </a:prstGeom>
          </p:spPr>
        </p:pic>
        <p:pic>
          <p:nvPicPr>
            <p:cNvPr id="27" name="Graphique 26" descr="Utilisateur avec un remplissage uni">
              <a:extLst>
                <a:ext uri="{FF2B5EF4-FFF2-40B4-BE49-F238E27FC236}">
                  <a16:creationId xmlns:a16="http://schemas.microsoft.com/office/drawing/2014/main" id="{B2C4873A-623A-CFB5-97A7-062E41A708A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39045" y="5507554"/>
              <a:ext cx="546942" cy="546942"/>
            </a:xfrm>
            <a:prstGeom prst="rect">
              <a:avLst/>
            </a:prstGeom>
          </p:spPr>
        </p:pic>
        <p:grpSp>
          <p:nvGrpSpPr>
            <p:cNvPr id="28" name="Groupe 27">
              <a:extLst>
                <a:ext uri="{FF2B5EF4-FFF2-40B4-BE49-F238E27FC236}">
                  <a16:creationId xmlns:a16="http://schemas.microsoft.com/office/drawing/2014/main" id="{7C99EA48-6977-D057-B9A3-B0A72568A084}"/>
                </a:ext>
              </a:extLst>
            </p:cNvPr>
            <p:cNvGrpSpPr/>
            <p:nvPr/>
          </p:nvGrpSpPr>
          <p:grpSpPr>
            <a:xfrm>
              <a:off x="10954021" y="2433575"/>
              <a:ext cx="1004893" cy="847205"/>
              <a:chOff x="526728" y="3262391"/>
              <a:chExt cx="1230670" cy="1037553"/>
            </a:xfrm>
          </p:grpSpPr>
          <p:pic>
            <p:nvPicPr>
              <p:cNvPr id="118" name="Graphique 117" descr="Utilisateur avec un remplissage uni">
                <a:extLst>
                  <a:ext uri="{FF2B5EF4-FFF2-40B4-BE49-F238E27FC236}">
                    <a16:creationId xmlns:a16="http://schemas.microsoft.com/office/drawing/2014/main" id="{A2394BCB-69C2-EFEF-3E0A-760D6969BA00}"/>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845252" y="3262391"/>
                <a:ext cx="336064" cy="336064"/>
              </a:xfrm>
              <a:prstGeom prst="rect">
                <a:avLst/>
              </a:prstGeom>
            </p:spPr>
          </p:pic>
          <p:pic>
            <p:nvPicPr>
              <p:cNvPr id="127" name="Graphique 126" descr="Utilisateur avec un remplissage uni">
                <a:extLst>
                  <a:ext uri="{FF2B5EF4-FFF2-40B4-BE49-F238E27FC236}">
                    <a16:creationId xmlns:a16="http://schemas.microsoft.com/office/drawing/2014/main" id="{327D3B4D-0F2F-94DD-5CB6-8D27609A4C28}"/>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598364" y="3500135"/>
                <a:ext cx="336064" cy="336064"/>
              </a:xfrm>
              <a:prstGeom prst="rect">
                <a:avLst/>
              </a:prstGeom>
            </p:spPr>
          </p:pic>
          <p:pic>
            <p:nvPicPr>
              <p:cNvPr id="576" name="Graphique 575" descr="Utilisateur avec un remplissage uni">
                <a:extLst>
                  <a:ext uri="{FF2B5EF4-FFF2-40B4-BE49-F238E27FC236}">
                    <a16:creationId xmlns:a16="http://schemas.microsoft.com/office/drawing/2014/main" id="{BD7F811A-73C0-D4C0-47D9-90161B7C828A}"/>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889840" y="3549295"/>
                <a:ext cx="336064" cy="336064"/>
              </a:xfrm>
              <a:prstGeom prst="rect">
                <a:avLst/>
              </a:prstGeom>
            </p:spPr>
          </p:pic>
          <p:pic>
            <p:nvPicPr>
              <p:cNvPr id="577" name="Graphique 576" descr="Utilisateur avec un remplissage uni">
                <a:extLst>
                  <a:ext uri="{FF2B5EF4-FFF2-40B4-BE49-F238E27FC236}">
                    <a16:creationId xmlns:a16="http://schemas.microsoft.com/office/drawing/2014/main" id="{1A8CD612-AC14-901B-C5FB-F86129257F56}"/>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1136728" y="3405843"/>
                <a:ext cx="336064" cy="336064"/>
              </a:xfrm>
              <a:prstGeom prst="rect">
                <a:avLst/>
              </a:prstGeom>
            </p:spPr>
          </p:pic>
          <p:pic>
            <p:nvPicPr>
              <p:cNvPr id="578" name="Graphique 577" descr="Utilisateur avec un remplissage uni">
                <a:extLst>
                  <a:ext uri="{FF2B5EF4-FFF2-40B4-BE49-F238E27FC236}">
                    <a16:creationId xmlns:a16="http://schemas.microsoft.com/office/drawing/2014/main" id="{DB7C4C5C-8C33-A2F2-3F41-73B31EF043EF}"/>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1179420" y="3668167"/>
                <a:ext cx="336064" cy="336064"/>
              </a:xfrm>
              <a:prstGeom prst="rect">
                <a:avLst/>
              </a:prstGeom>
            </p:spPr>
          </p:pic>
          <p:pic>
            <p:nvPicPr>
              <p:cNvPr id="579" name="Graphique 578" descr="Utilisateur avec un remplissage uni">
                <a:extLst>
                  <a:ext uri="{FF2B5EF4-FFF2-40B4-BE49-F238E27FC236}">
                    <a16:creationId xmlns:a16="http://schemas.microsoft.com/office/drawing/2014/main" id="{B393DBA9-E252-3978-002E-3A6BBBE9FFEF}"/>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800664" y="3836199"/>
                <a:ext cx="336064" cy="336064"/>
              </a:xfrm>
              <a:prstGeom prst="rect">
                <a:avLst/>
              </a:prstGeom>
            </p:spPr>
          </p:pic>
          <p:pic>
            <p:nvPicPr>
              <p:cNvPr id="580" name="Graphique 579" descr="Utilisateur avec un remplissage uni">
                <a:extLst>
                  <a:ext uri="{FF2B5EF4-FFF2-40B4-BE49-F238E27FC236}">
                    <a16:creationId xmlns:a16="http://schemas.microsoft.com/office/drawing/2014/main" id="{6EDA462C-9582-99F6-A8F9-513EAF4E319D}"/>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526728" y="3822443"/>
                <a:ext cx="336064" cy="336064"/>
              </a:xfrm>
              <a:prstGeom prst="rect">
                <a:avLst/>
              </a:prstGeom>
            </p:spPr>
          </p:pic>
          <p:pic>
            <p:nvPicPr>
              <p:cNvPr id="581" name="Graphique 580" descr="Utilisateur avec un remplissage uni">
                <a:extLst>
                  <a:ext uri="{FF2B5EF4-FFF2-40B4-BE49-F238E27FC236}">
                    <a16:creationId xmlns:a16="http://schemas.microsoft.com/office/drawing/2014/main" id="{5600DEA8-9547-E5AE-C24B-F66EA27ACC22}"/>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1065092" y="3930491"/>
                <a:ext cx="336064" cy="336064"/>
              </a:xfrm>
              <a:prstGeom prst="rect">
                <a:avLst/>
              </a:prstGeom>
            </p:spPr>
          </p:pic>
          <p:pic>
            <p:nvPicPr>
              <p:cNvPr id="582" name="Graphique 581" descr="Utilisateur avec un remplissage uni">
                <a:extLst>
                  <a:ext uri="{FF2B5EF4-FFF2-40B4-BE49-F238E27FC236}">
                    <a16:creationId xmlns:a16="http://schemas.microsoft.com/office/drawing/2014/main" id="{B08CA967-0C6D-BBD9-C956-393A9BB9E7A7}"/>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1286996" y="3963880"/>
                <a:ext cx="336064" cy="336064"/>
              </a:xfrm>
              <a:prstGeom prst="rect">
                <a:avLst/>
              </a:prstGeom>
            </p:spPr>
          </p:pic>
          <p:pic>
            <p:nvPicPr>
              <p:cNvPr id="583" name="Graphique 582" descr="Utilisateur avec un remplissage uni">
                <a:extLst>
                  <a:ext uri="{FF2B5EF4-FFF2-40B4-BE49-F238E27FC236}">
                    <a16:creationId xmlns:a16="http://schemas.microsoft.com/office/drawing/2014/main" id="{5771D299-DB79-E2EC-0B1D-DB4764242F15}"/>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1421334" y="3692747"/>
                <a:ext cx="336064" cy="336064"/>
              </a:xfrm>
              <a:prstGeom prst="rect">
                <a:avLst/>
              </a:prstGeom>
            </p:spPr>
          </p:pic>
          <p:pic>
            <p:nvPicPr>
              <p:cNvPr id="584" name="Graphique 583" descr="Utilisateur avec un remplissage uni">
                <a:extLst>
                  <a:ext uri="{FF2B5EF4-FFF2-40B4-BE49-F238E27FC236}">
                    <a16:creationId xmlns:a16="http://schemas.microsoft.com/office/drawing/2014/main" id="{2ADDA1A2-FADE-1DFE-499D-5A29AC2B1457}"/>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1401156" y="3416415"/>
                <a:ext cx="336064" cy="336064"/>
              </a:xfrm>
              <a:prstGeom prst="rect">
                <a:avLst/>
              </a:prstGeom>
            </p:spPr>
          </p:pic>
        </p:grpSp>
        <p:grpSp>
          <p:nvGrpSpPr>
            <p:cNvPr id="29" name="Groupe 28">
              <a:extLst>
                <a:ext uri="{FF2B5EF4-FFF2-40B4-BE49-F238E27FC236}">
                  <a16:creationId xmlns:a16="http://schemas.microsoft.com/office/drawing/2014/main" id="{CCF443D5-9B93-1DED-E9C6-755F39C06FCA}"/>
                </a:ext>
              </a:extLst>
            </p:cNvPr>
            <p:cNvGrpSpPr/>
            <p:nvPr/>
          </p:nvGrpSpPr>
          <p:grpSpPr>
            <a:xfrm>
              <a:off x="9807136" y="2629065"/>
              <a:ext cx="1004893" cy="847205"/>
              <a:chOff x="2908831" y="3262391"/>
              <a:chExt cx="1230670" cy="1037553"/>
            </a:xfrm>
          </p:grpSpPr>
          <p:pic>
            <p:nvPicPr>
              <p:cNvPr id="107" name="Graphique 106" descr="Utilisateur avec un remplissage uni">
                <a:extLst>
                  <a:ext uri="{FF2B5EF4-FFF2-40B4-BE49-F238E27FC236}">
                    <a16:creationId xmlns:a16="http://schemas.microsoft.com/office/drawing/2014/main" id="{4EE68D9D-D6D7-75D7-220E-C9CD3ACE0DCF}"/>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51"/>
                  </a:ext>
                </a:extLst>
              </a:blip>
              <a:stretch>
                <a:fillRect/>
              </a:stretch>
            </p:blipFill>
            <p:spPr>
              <a:xfrm>
                <a:off x="3227355" y="3262391"/>
                <a:ext cx="336064" cy="336064"/>
              </a:xfrm>
              <a:prstGeom prst="rect">
                <a:avLst/>
              </a:prstGeom>
            </p:spPr>
          </p:pic>
          <p:pic>
            <p:nvPicPr>
              <p:cNvPr id="108" name="Graphique 107" descr="Utilisateur avec un remplissage uni">
                <a:extLst>
                  <a:ext uri="{FF2B5EF4-FFF2-40B4-BE49-F238E27FC236}">
                    <a16:creationId xmlns:a16="http://schemas.microsoft.com/office/drawing/2014/main" id="{028CCB05-503A-2E75-E3D1-50B4CE7BD251}"/>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2980467" y="3500135"/>
                <a:ext cx="336064" cy="336064"/>
              </a:xfrm>
              <a:prstGeom prst="rect">
                <a:avLst/>
              </a:prstGeom>
            </p:spPr>
          </p:pic>
          <p:pic>
            <p:nvPicPr>
              <p:cNvPr id="109" name="Graphique 108" descr="Utilisateur avec un remplissage uni">
                <a:extLst>
                  <a:ext uri="{FF2B5EF4-FFF2-40B4-BE49-F238E27FC236}">
                    <a16:creationId xmlns:a16="http://schemas.microsoft.com/office/drawing/2014/main" id="{BCAFB828-37A7-5740-AE25-EB5843771F08}"/>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3271943" y="3549295"/>
                <a:ext cx="336064" cy="336064"/>
              </a:xfrm>
              <a:prstGeom prst="rect">
                <a:avLst/>
              </a:prstGeom>
            </p:spPr>
          </p:pic>
          <p:pic>
            <p:nvPicPr>
              <p:cNvPr id="110" name="Graphique 109" descr="Utilisateur avec un remplissage uni">
                <a:extLst>
                  <a:ext uri="{FF2B5EF4-FFF2-40B4-BE49-F238E27FC236}">
                    <a16:creationId xmlns:a16="http://schemas.microsoft.com/office/drawing/2014/main" id="{1EDDD8A5-B441-AD61-7262-88909E8AFA03}"/>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51"/>
                  </a:ext>
                </a:extLst>
              </a:blip>
              <a:stretch>
                <a:fillRect/>
              </a:stretch>
            </p:blipFill>
            <p:spPr>
              <a:xfrm>
                <a:off x="3518831" y="3405843"/>
                <a:ext cx="336064" cy="336064"/>
              </a:xfrm>
              <a:prstGeom prst="rect">
                <a:avLst/>
              </a:prstGeom>
            </p:spPr>
          </p:pic>
          <p:pic>
            <p:nvPicPr>
              <p:cNvPr id="111" name="Graphique 110" descr="Utilisateur avec un remplissage uni">
                <a:extLst>
                  <a:ext uri="{FF2B5EF4-FFF2-40B4-BE49-F238E27FC236}">
                    <a16:creationId xmlns:a16="http://schemas.microsoft.com/office/drawing/2014/main" id="{3FE27908-BA1D-A17B-635B-0D126F658A1F}"/>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3561523" y="3668167"/>
                <a:ext cx="336064" cy="336064"/>
              </a:xfrm>
              <a:prstGeom prst="rect">
                <a:avLst/>
              </a:prstGeom>
            </p:spPr>
          </p:pic>
          <p:pic>
            <p:nvPicPr>
              <p:cNvPr id="112" name="Graphique 111" descr="Utilisateur avec un remplissage uni">
                <a:extLst>
                  <a:ext uri="{FF2B5EF4-FFF2-40B4-BE49-F238E27FC236}">
                    <a16:creationId xmlns:a16="http://schemas.microsoft.com/office/drawing/2014/main" id="{354DCC4F-B39E-7F34-41BB-1EB6AD42D85C}"/>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3182767" y="3836199"/>
                <a:ext cx="336064" cy="336064"/>
              </a:xfrm>
              <a:prstGeom prst="rect">
                <a:avLst/>
              </a:prstGeom>
            </p:spPr>
          </p:pic>
          <p:pic>
            <p:nvPicPr>
              <p:cNvPr id="113" name="Graphique 112" descr="Utilisateur avec un remplissage uni">
                <a:extLst>
                  <a:ext uri="{FF2B5EF4-FFF2-40B4-BE49-F238E27FC236}">
                    <a16:creationId xmlns:a16="http://schemas.microsoft.com/office/drawing/2014/main" id="{E39C1AEA-E547-BB14-E886-EA92E7A289CF}"/>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2908831" y="3822443"/>
                <a:ext cx="336064" cy="336064"/>
              </a:xfrm>
              <a:prstGeom prst="rect">
                <a:avLst/>
              </a:prstGeom>
            </p:spPr>
          </p:pic>
          <p:pic>
            <p:nvPicPr>
              <p:cNvPr id="114" name="Graphique 113" descr="Utilisateur avec un remplissage uni">
                <a:extLst>
                  <a:ext uri="{FF2B5EF4-FFF2-40B4-BE49-F238E27FC236}">
                    <a16:creationId xmlns:a16="http://schemas.microsoft.com/office/drawing/2014/main" id="{A9D58CDA-ADF9-64EA-DDB9-AF8D78CA93F7}"/>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3447195" y="3930491"/>
                <a:ext cx="336064" cy="336064"/>
              </a:xfrm>
              <a:prstGeom prst="rect">
                <a:avLst/>
              </a:prstGeom>
            </p:spPr>
          </p:pic>
          <p:pic>
            <p:nvPicPr>
              <p:cNvPr id="115" name="Graphique 114" descr="Utilisateur avec un remplissage uni">
                <a:extLst>
                  <a:ext uri="{FF2B5EF4-FFF2-40B4-BE49-F238E27FC236}">
                    <a16:creationId xmlns:a16="http://schemas.microsoft.com/office/drawing/2014/main" id="{2D307331-0B1B-D1EE-EE9C-46915F53F1B5}"/>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3669099" y="3963880"/>
                <a:ext cx="336064" cy="336064"/>
              </a:xfrm>
              <a:prstGeom prst="rect">
                <a:avLst/>
              </a:prstGeom>
            </p:spPr>
          </p:pic>
          <p:pic>
            <p:nvPicPr>
              <p:cNvPr id="116" name="Graphique 115" descr="Utilisateur avec un remplissage uni">
                <a:extLst>
                  <a:ext uri="{FF2B5EF4-FFF2-40B4-BE49-F238E27FC236}">
                    <a16:creationId xmlns:a16="http://schemas.microsoft.com/office/drawing/2014/main" id="{F9A696FB-6088-4E14-E38A-B198B1D25AEA}"/>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3803437" y="3692747"/>
                <a:ext cx="336064" cy="336064"/>
              </a:xfrm>
              <a:prstGeom prst="rect">
                <a:avLst/>
              </a:prstGeom>
            </p:spPr>
          </p:pic>
          <p:pic>
            <p:nvPicPr>
              <p:cNvPr id="117" name="Graphique 116" descr="Utilisateur avec un remplissage uni">
                <a:extLst>
                  <a:ext uri="{FF2B5EF4-FFF2-40B4-BE49-F238E27FC236}">
                    <a16:creationId xmlns:a16="http://schemas.microsoft.com/office/drawing/2014/main" id="{7C374551-65BC-DAED-CA35-330697078E7B}"/>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3783259" y="3416415"/>
                <a:ext cx="336064" cy="336064"/>
              </a:xfrm>
              <a:prstGeom prst="rect">
                <a:avLst/>
              </a:prstGeom>
            </p:spPr>
          </p:pic>
        </p:grpSp>
        <p:grpSp>
          <p:nvGrpSpPr>
            <p:cNvPr id="30" name="Groupe 29">
              <a:extLst>
                <a:ext uri="{FF2B5EF4-FFF2-40B4-BE49-F238E27FC236}">
                  <a16:creationId xmlns:a16="http://schemas.microsoft.com/office/drawing/2014/main" id="{A540D006-C436-6AD2-1B8E-A3AA79FBC791}"/>
                </a:ext>
              </a:extLst>
            </p:cNvPr>
            <p:cNvGrpSpPr/>
            <p:nvPr/>
          </p:nvGrpSpPr>
          <p:grpSpPr>
            <a:xfrm>
              <a:off x="8471399" y="2904060"/>
              <a:ext cx="1004893" cy="847205"/>
              <a:chOff x="5160208" y="3308115"/>
              <a:chExt cx="1230670" cy="1037553"/>
            </a:xfrm>
          </p:grpSpPr>
          <p:pic>
            <p:nvPicPr>
              <p:cNvPr id="96" name="Graphique 95" descr="Utilisateur avec un remplissage uni">
                <a:extLst>
                  <a:ext uri="{FF2B5EF4-FFF2-40B4-BE49-F238E27FC236}">
                    <a16:creationId xmlns:a16="http://schemas.microsoft.com/office/drawing/2014/main" id="{D9657739-0A34-3459-14F2-B2AEF010BBCC}"/>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5478732" y="3308115"/>
                <a:ext cx="336064" cy="336064"/>
              </a:xfrm>
              <a:prstGeom prst="rect">
                <a:avLst/>
              </a:prstGeom>
            </p:spPr>
          </p:pic>
          <p:pic>
            <p:nvPicPr>
              <p:cNvPr id="97" name="Graphique 96" descr="Utilisateur avec un remplissage uni">
                <a:extLst>
                  <a:ext uri="{FF2B5EF4-FFF2-40B4-BE49-F238E27FC236}">
                    <a16:creationId xmlns:a16="http://schemas.microsoft.com/office/drawing/2014/main" id="{FBC8F494-C94D-C79B-FDFE-3058E43DDD10}"/>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5231844" y="3545859"/>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669B298-B586-64FD-88F7-4F4E51C9A950}"/>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5523320" y="3595019"/>
                <a:ext cx="336064" cy="336064"/>
              </a:xfrm>
              <a:prstGeom prst="rect">
                <a:avLst/>
              </a:prstGeom>
            </p:spPr>
          </p:pic>
          <p:pic>
            <p:nvPicPr>
              <p:cNvPr id="99" name="Graphique 98" descr="Utilisateur avec un remplissage uni">
                <a:extLst>
                  <a:ext uri="{FF2B5EF4-FFF2-40B4-BE49-F238E27FC236}">
                    <a16:creationId xmlns:a16="http://schemas.microsoft.com/office/drawing/2014/main" id="{67F62E40-D865-B713-78A6-8287E858E035}"/>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5770208" y="3451567"/>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CF72288E-760C-C9EE-191F-23714FF44B24}"/>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5812900" y="3713891"/>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5A76CA2F-9125-A4FD-AC2D-42ABE9D9CB24}"/>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5434144" y="3881923"/>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D7A00A08-E631-F9FF-BA1B-08F755DEF004}"/>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5160208" y="3868167"/>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A6CD03D0-32AC-AE0C-633A-514B56187596}"/>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5698572" y="397621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521E9FB7-E5A6-63A3-0972-5A74C8F29F31}"/>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5920476" y="4009604"/>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2BA75AE-15C9-7424-6138-92CC1A74181E}"/>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6054814" y="3738471"/>
                <a:ext cx="336064" cy="336064"/>
              </a:xfrm>
              <a:prstGeom prst="rect">
                <a:avLst/>
              </a:prstGeom>
            </p:spPr>
          </p:pic>
          <p:pic>
            <p:nvPicPr>
              <p:cNvPr id="106" name="Graphique 105" descr="Utilisateur avec un remplissage uni">
                <a:extLst>
                  <a:ext uri="{FF2B5EF4-FFF2-40B4-BE49-F238E27FC236}">
                    <a16:creationId xmlns:a16="http://schemas.microsoft.com/office/drawing/2014/main" id="{0ADCDC89-D756-76A5-11FF-062BD0C191F7}"/>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6034636" y="3462139"/>
                <a:ext cx="336064" cy="336064"/>
              </a:xfrm>
              <a:prstGeom prst="rect">
                <a:avLst/>
              </a:prstGeom>
            </p:spPr>
          </p:pic>
        </p:grpSp>
        <p:grpSp>
          <p:nvGrpSpPr>
            <p:cNvPr id="31" name="Groupe 30">
              <a:extLst>
                <a:ext uri="{FF2B5EF4-FFF2-40B4-BE49-F238E27FC236}">
                  <a16:creationId xmlns:a16="http://schemas.microsoft.com/office/drawing/2014/main" id="{B0500676-8FEA-A6A5-AF37-50615F042348}"/>
                </a:ext>
              </a:extLst>
            </p:cNvPr>
            <p:cNvGrpSpPr/>
            <p:nvPr/>
          </p:nvGrpSpPr>
          <p:grpSpPr>
            <a:xfrm>
              <a:off x="5820214" y="3464993"/>
              <a:ext cx="1004893" cy="847205"/>
              <a:chOff x="7146490" y="3274976"/>
              <a:chExt cx="1230670" cy="1037553"/>
            </a:xfrm>
          </p:grpSpPr>
          <p:pic>
            <p:nvPicPr>
              <p:cNvPr id="81" name="Graphique 80" descr="Utilisateur avec un remplissage uni">
                <a:extLst>
                  <a:ext uri="{FF2B5EF4-FFF2-40B4-BE49-F238E27FC236}">
                    <a16:creationId xmlns:a16="http://schemas.microsoft.com/office/drawing/2014/main" id="{9CB62296-F67C-A3C7-DED3-8802A2B7C4B7}"/>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7465014" y="3274976"/>
                <a:ext cx="336064" cy="336064"/>
              </a:xfrm>
              <a:prstGeom prst="rect">
                <a:avLst/>
              </a:prstGeom>
            </p:spPr>
          </p:pic>
          <p:pic>
            <p:nvPicPr>
              <p:cNvPr id="82" name="Graphique 81" descr="Utilisateur avec un remplissage uni">
                <a:extLst>
                  <a:ext uri="{FF2B5EF4-FFF2-40B4-BE49-F238E27FC236}">
                    <a16:creationId xmlns:a16="http://schemas.microsoft.com/office/drawing/2014/main" id="{C48444A5-1B89-15D4-9181-00493EBC8F60}"/>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7218126" y="3512720"/>
                <a:ext cx="336064" cy="336064"/>
              </a:xfrm>
              <a:prstGeom prst="rect">
                <a:avLst/>
              </a:prstGeom>
            </p:spPr>
          </p:pic>
          <p:pic>
            <p:nvPicPr>
              <p:cNvPr id="83" name="Graphique 82" descr="Utilisateur avec un remplissage uni">
                <a:extLst>
                  <a:ext uri="{FF2B5EF4-FFF2-40B4-BE49-F238E27FC236}">
                    <a16:creationId xmlns:a16="http://schemas.microsoft.com/office/drawing/2014/main" id="{1E74450D-4EB9-C628-903B-A77E99BA0905}"/>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509602" y="3561880"/>
                <a:ext cx="336064" cy="336064"/>
              </a:xfrm>
              <a:prstGeom prst="rect">
                <a:avLst/>
              </a:prstGeom>
            </p:spPr>
          </p:pic>
          <p:pic>
            <p:nvPicPr>
              <p:cNvPr id="88" name="Graphique 87" descr="Utilisateur avec un remplissage uni">
                <a:extLst>
                  <a:ext uri="{FF2B5EF4-FFF2-40B4-BE49-F238E27FC236}">
                    <a16:creationId xmlns:a16="http://schemas.microsoft.com/office/drawing/2014/main" id="{21259B4E-09E5-9DE0-8472-8FBB86E8EB8A}"/>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756490" y="3418428"/>
                <a:ext cx="336064" cy="336064"/>
              </a:xfrm>
              <a:prstGeom prst="rect">
                <a:avLst/>
              </a:prstGeom>
            </p:spPr>
          </p:pic>
          <p:pic>
            <p:nvPicPr>
              <p:cNvPr id="89" name="Graphique 88" descr="Utilisateur avec un remplissage uni">
                <a:extLst>
                  <a:ext uri="{FF2B5EF4-FFF2-40B4-BE49-F238E27FC236}">
                    <a16:creationId xmlns:a16="http://schemas.microsoft.com/office/drawing/2014/main" id="{22226225-5DC7-F63C-06B0-DF961DF53B60}"/>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799182" y="3680752"/>
                <a:ext cx="336064" cy="336064"/>
              </a:xfrm>
              <a:prstGeom prst="rect">
                <a:avLst/>
              </a:prstGeom>
            </p:spPr>
          </p:pic>
          <p:pic>
            <p:nvPicPr>
              <p:cNvPr id="90" name="Graphique 89" descr="Utilisateur avec un remplissage uni">
                <a:extLst>
                  <a:ext uri="{FF2B5EF4-FFF2-40B4-BE49-F238E27FC236}">
                    <a16:creationId xmlns:a16="http://schemas.microsoft.com/office/drawing/2014/main" id="{933A7205-587E-B064-5DD5-D9A0E269CC55}"/>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420426" y="3848784"/>
                <a:ext cx="336064" cy="336064"/>
              </a:xfrm>
              <a:prstGeom prst="rect">
                <a:avLst/>
              </a:prstGeom>
            </p:spPr>
          </p:pic>
          <p:pic>
            <p:nvPicPr>
              <p:cNvPr id="91" name="Graphique 90" descr="Utilisateur avec un remplissage uni">
                <a:extLst>
                  <a:ext uri="{FF2B5EF4-FFF2-40B4-BE49-F238E27FC236}">
                    <a16:creationId xmlns:a16="http://schemas.microsoft.com/office/drawing/2014/main" id="{713B9156-CF71-8292-74A7-F15BA2480461}"/>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146490" y="3835028"/>
                <a:ext cx="336064" cy="336064"/>
              </a:xfrm>
              <a:prstGeom prst="rect">
                <a:avLst/>
              </a:prstGeom>
            </p:spPr>
          </p:pic>
          <p:pic>
            <p:nvPicPr>
              <p:cNvPr id="92" name="Graphique 91" descr="Utilisateur avec un remplissage uni">
                <a:extLst>
                  <a:ext uri="{FF2B5EF4-FFF2-40B4-BE49-F238E27FC236}">
                    <a16:creationId xmlns:a16="http://schemas.microsoft.com/office/drawing/2014/main" id="{5D4C6F1F-D3B3-C5E1-09D8-2CB19C5180D8}"/>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684854" y="3943076"/>
                <a:ext cx="336064" cy="336064"/>
              </a:xfrm>
              <a:prstGeom prst="rect">
                <a:avLst/>
              </a:prstGeom>
            </p:spPr>
          </p:pic>
          <p:pic>
            <p:nvPicPr>
              <p:cNvPr id="93" name="Graphique 92" descr="Utilisateur avec un remplissage uni">
                <a:extLst>
                  <a:ext uri="{FF2B5EF4-FFF2-40B4-BE49-F238E27FC236}">
                    <a16:creationId xmlns:a16="http://schemas.microsoft.com/office/drawing/2014/main" id="{FA0994C2-DDDD-2A87-FF6F-AAC8AD577403}"/>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906758" y="3976465"/>
                <a:ext cx="336064" cy="336064"/>
              </a:xfrm>
              <a:prstGeom prst="rect">
                <a:avLst/>
              </a:prstGeom>
            </p:spPr>
          </p:pic>
          <p:pic>
            <p:nvPicPr>
              <p:cNvPr id="94" name="Graphique 93" descr="Utilisateur avec un remplissage uni">
                <a:extLst>
                  <a:ext uri="{FF2B5EF4-FFF2-40B4-BE49-F238E27FC236}">
                    <a16:creationId xmlns:a16="http://schemas.microsoft.com/office/drawing/2014/main" id="{48170A9B-08D3-59A8-03AF-68646AB787C4}"/>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8041096" y="3705332"/>
                <a:ext cx="336064" cy="336064"/>
              </a:xfrm>
              <a:prstGeom prst="rect">
                <a:avLst/>
              </a:prstGeom>
            </p:spPr>
          </p:pic>
          <p:pic>
            <p:nvPicPr>
              <p:cNvPr id="95" name="Graphique 94" descr="Utilisateur avec un remplissage uni">
                <a:extLst>
                  <a:ext uri="{FF2B5EF4-FFF2-40B4-BE49-F238E27FC236}">
                    <a16:creationId xmlns:a16="http://schemas.microsoft.com/office/drawing/2014/main" id="{F5E85789-987C-45E8-7E1C-9CDF5F7121A7}"/>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8020918" y="3429000"/>
                <a:ext cx="336064" cy="336064"/>
              </a:xfrm>
              <a:prstGeom prst="rect">
                <a:avLst/>
              </a:prstGeom>
            </p:spPr>
          </p:pic>
        </p:grpSp>
        <p:grpSp>
          <p:nvGrpSpPr>
            <p:cNvPr id="32" name="Groupe 31">
              <a:extLst>
                <a:ext uri="{FF2B5EF4-FFF2-40B4-BE49-F238E27FC236}">
                  <a16:creationId xmlns:a16="http://schemas.microsoft.com/office/drawing/2014/main" id="{F6F2BD6D-8BF5-F2C7-9B46-0955B385A23C}"/>
                </a:ext>
              </a:extLst>
            </p:cNvPr>
            <p:cNvGrpSpPr/>
            <p:nvPr/>
          </p:nvGrpSpPr>
          <p:grpSpPr>
            <a:xfrm>
              <a:off x="7148558" y="3213052"/>
              <a:ext cx="1004893" cy="847205"/>
              <a:chOff x="8982504" y="3274976"/>
              <a:chExt cx="1230670" cy="1037553"/>
            </a:xfrm>
          </p:grpSpPr>
          <p:pic>
            <p:nvPicPr>
              <p:cNvPr id="70" name="Graphique 69" descr="Utilisateur avec un remplissage uni">
                <a:extLst>
                  <a:ext uri="{FF2B5EF4-FFF2-40B4-BE49-F238E27FC236}">
                    <a16:creationId xmlns:a16="http://schemas.microsoft.com/office/drawing/2014/main" id="{AB1F895D-0DE1-8FC1-AA86-1F094CD5B974}"/>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9301028" y="3274976"/>
                <a:ext cx="336064" cy="336064"/>
              </a:xfrm>
              <a:prstGeom prst="rect">
                <a:avLst/>
              </a:prstGeom>
            </p:spPr>
          </p:pic>
          <p:pic>
            <p:nvPicPr>
              <p:cNvPr id="71" name="Graphique 70" descr="Utilisateur avec un remplissage uni">
                <a:extLst>
                  <a:ext uri="{FF2B5EF4-FFF2-40B4-BE49-F238E27FC236}">
                    <a16:creationId xmlns:a16="http://schemas.microsoft.com/office/drawing/2014/main" id="{DC58CA35-ACCB-97D4-BB6D-59AB2F607818}"/>
                  </a:ext>
                </a:extLst>
              </p:cNvPr>
              <p:cNvPicPr>
                <a:picLocks noChangeAspect="1"/>
              </p:cNvPicPr>
              <p:nvPr/>
            </p:nvPicPr>
            <p:blipFill>
              <a:blip r:embed="rId145">
                <a:extLst>
                  <a:ext uri="{28A0092B-C50C-407E-A947-70E740481C1C}">
                    <a14:useLocalDpi xmlns:a14="http://schemas.microsoft.com/office/drawing/2010/main" val="0"/>
                  </a:ext>
                  <a:ext uri="{96DAC541-7B7A-43D3-8B79-37D633B846F1}">
                    <asvg:svgBlip xmlns:asvg="http://schemas.microsoft.com/office/drawing/2016/SVG/main" r:embed="rId146"/>
                  </a:ext>
                </a:extLst>
              </a:blip>
              <a:stretch>
                <a:fillRect/>
              </a:stretch>
            </p:blipFill>
            <p:spPr>
              <a:xfrm>
                <a:off x="9054140" y="3512720"/>
                <a:ext cx="336064" cy="336064"/>
              </a:xfrm>
              <a:prstGeom prst="rect">
                <a:avLst/>
              </a:prstGeom>
            </p:spPr>
          </p:pic>
          <p:pic>
            <p:nvPicPr>
              <p:cNvPr id="72" name="Graphique 71" descr="Utilisateur avec un remplissage uni">
                <a:extLst>
                  <a:ext uri="{FF2B5EF4-FFF2-40B4-BE49-F238E27FC236}">
                    <a16:creationId xmlns:a16="http://schemas.microsoft.com/office/drawing/2014/main" id="{110EA7BB-8F18-CE89-B64D-BF97A1D3619A}"/>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345616" y="3561880"/>
                <a:ext cx="336064" cy="336064"/>
              </a:xfrm>
              <a:prstGeom prst="rect">
                <a:avLst/>
              </a:prstGeom>
            </p:spPr>
          </p:pic>
          <p:pic>
            <p:nvPicPr>
              <p:cNvPr id="73" name="Graphique 72" descr="Utilisateur avec un remplissage uni">
                <a:extLst>
                  <a:ext uri="{FF2B5EF4-FFF2-40B4-BE49-F238E27FC236}">
                    <a16:creationId xmlns:a16="http://schemas.microsoft.com/office/drawing/2014/main" id="{A24F81C7-BF95-07F2-5690-3F0614B54694}"/>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592504" y="3418428"/>
                <a:ext cx="336064" cy="336064"/>
              </a:xfrm>
              <a:prstGeom prst="rect">
                <a:avLst/>
              </a:prstGeom>
            </p:spPr>
          </p:pic>
          <p:pic>
            <p:nvPicPr>
              <p:cNvPr id="74" name="Graphique 73" descr="Utilisateur avec un remplissage uni">
                <a:extLst>
                  <a:ext uri="{FF2B5EF4-FFF2-40B4-BE49-F238E27FC236}">
                    <a16:creationId xmlns:a16="http://schemas.microsoft.com/office/drawing/2014/main" id="{261E8AC2-455E-2A21-6A01-6BDCF855943A}"/>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635196" y="3680752"/>
                <a:ext cx="336064" cy="336064"/>
              </a:xfrm>
              <a:prstGeom prst="rect">
                <a:avLst/>
              </a:prstGeom>
            </p:spPr>
          </p:pic>
          <p:pic>
            <p:nvPicPr>
              <p:cNvPr id="75" name="Graphique 74" descr="Utilisateur avec un remplissage uni">
                <a:extLst>
                  <a:ext uri="{FF2B5EF4-FFF2-40B4-BE49-F238E27FC236}">
                    <a16:creationId xmlns:a16="http://schemas.microsoft.com/office/drawing/2014/main" id="{472BCBA5-35C4-8EC2-D6C6-8F0BF8C6EC4B}"/>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256440" y="3848784"/>
                <a:ext cx="336064" cy="336064"/>
              </a:xfrm>
              <a:prstGeom prst="rect">
                <a:avLst/>
              </a:prstGeom>
            </p:spPr>
          </p:pic>
          <p:pic>
            <p:nvPicPr>
              <p:cNvPr id="76" name="Graphique 75" descr="Utilisateur avec un remplissage uni">
                <a:extLst>
                  <a:ext uri="{FF2B5EF4-FFF2-40B4-BE49-F238E27FC236}">
                    <a16:creationId xmlns:a16="http://schemas.microsoft.com/office/drawing/2014/main" id="{F2D1AF26-E88C-BB51-0F3A-CCC37A821A7B}"/>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8982504" y="3835028"/>
                <a:ext cx="336064" cy="336064"/>
              </a:xfrm>
              <a:prstGeom prst="rect">
                <a:avLst/>
              </a:prstGeom>
            </p:spPr>
          </p:pic>
          <p:pic>
            <p:nvPicPr>
              <p:cNvPr id="77" name="Graphique 76" descr="Utilisateur avec un remplissage uni">
                <a:extLst>
                  <a:ext uri="{FF2B5EF4-FFF2-40B4-BE49-F238E27FC236}">
                    <a16:creationId xmlns:a16="http://schemas.microsoft.com/office/drawing/2014/main" id="{E3449589-79EC-BF5B-E457-A8753510B38E}"/>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520868" y="3943076"/>
                <a:ext cx="336064" cy="336064"/>
              </a:xfrm>
              <a:prstGeom prst="rect">
                <a:avLst/>
              </a:prstGeom>
            </p:spPr>
          </p:pic>
          <p:pic>
            <p:nvPicPr>
              <p:cNvPr id="78" name="Graphique 77" descr="Utilisateur avec un remplissage uni">
                <a:extLst>
                  <a:ext uri="{FF2B5EF4-FFF2-40B4-BE49-F238E27FC236}">
                    <a16:creationId xmlns:a16="http://schemas.microsoft.com/office/drawing/2014/main" id="{799DAC9E-E004-5A07-6394-5F799467E971}"/>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742772" y="3976465"/>
                <a:ext cx="336064" cy="336064"/>
              </a:xfrm>
              <a:prstGeom prst="rect">
                <a:avLst/>
              </a:prstGeom>
            </p:spPr>
          </p:pic>
          <p:pic>
            <p:nvPicPr>
              <p:cNvPr id="79" name="Graphique 78" descr="Utilisateur avec un remplissage uni">
                <a:extLst>
                  <a:ext uri="{FF2B5EF4-FFF2-40B4-BE49-F238E27FC236}">
                    <a16:creationId xmlns:a16="http://schemas.microsoft.com/office/drawing/2014/main" id="{F733E439-B4EA-2F9D-DD2A-7783E18F784F}"/>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877110" y="3705332"/>
                <a:ext cx="336064" cy="336064"/>
              </a:xfrm>
              <a:prstGeom prst="rect">
                <a:avLst/>
              </a:prstGeom>
            </p:spPr>
          </p:pic>
          <p:pic>
            <p:nvPicPr>
              <p:cNvPr id="80" name="Graphique 79" descr="Utilisateur avec un remplissage uni">
                <a:extLst>
                  <a:ext uri="{FF2B5EF4-FFF2-40B4-BE49-F238E27FC236}">
                    <a16:creationId xmlns:a16="http://schemas.microsoft.com/office/drawing/2014/main" id="{4B1BDB19-FEBC-6A0D-A03D-74B280E061F9}"/>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856932" y="3429000"/>
                <a:ext cx="336064" cy="336064"/>
              </a:xfrm>
              <a:prstGeom prst="rect">
                <a:avLst/>
              </a:prstGeom>
            </p:spPr>
          </p:pic>
        </p:grpSp>
        <p:grpSp>
          <p:nvGrpSpPr>
            <p:cNvPr id="33" name="Groupe 32">
              <a:extLst>
                <a:ext uri="{FF2B5EF4-FFF2-40B4-BE49-F238E27FC236}">
                  <a16:creationId xmlns:a16="http://schemas.microsoft.com/office/drawing/2014/main" id="{CAA3125C-EE59-460E-4B2A-8AD8BDD2F897}"/>
                </a:ext>
              </a:extLst>
            </p:cNvPr>
            <p:cNvGrpSpPr/>
            <p:nvPr/>
          </p:nvGrpSpPr>
          <p:grpSpPr>
            <a:xfrm>
              <a:off x="1835182" y="4151043"/>
              <a:ext cx="1004893" cy="847205"/>
              <a:chOff x="8982504" y="3274976"/>
              <a:chExt cx="1230670" cy="1037553"/>
            </a:xfrm>
            <a:solidFill>
              <a:srgbClr val="ED7D31"/>
            </a:solidFill>
          </p:grpSpPr>
          <p:pic>
            <p:nvPicPr>
              <p:cNvPr id="455" name="Graphique 454" descr="Utilisateur avec un remplissage uni">
                <a:extLst>
                  <a:ext uri="{FF2B5EF4-FFF2-40B4-BE49-F238E27FC236}">
                    <a16:creationId xmlns:a16="http://schemas.microsoft.com/office/drawing/2014/main" id="{949E7266-E540-84ED-1F1B-E5F0A9A4ED3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456" name="Graphique 455" descr="Utilisateur avec un remplissage uni">
                <a:extLst>
                  <a:ext uri="{FF2B5EF4-FFF2-40B4-BE49-F238E27FC236}">
                    <a16:creationId xmlns:a16="http://schemas.microsoft.com/office/drawing/2014/main" id="{044D4C23-2D8C-332E-AA32-0951758B6B9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458" name="Graphique 457" descr="Utilisateur avec un remplissage uni">
                <a:extLst>
                  <a:ext uri="{FF2B5EF4-FFF2-40B4-BE49-F238E27FC236}">
                    <a16:creationId xmlns:a16="http://schemas.microsoft.com/office/drawing/2014/main" id="{7E918BD9-F8C6-A5B0-467B-0EEC93F37520}"/>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345616" y="3561880"/>
                <a:ext cx="336064" cy="336064"/>
              </a:xfrm>
              <a:prstGeom prst="rect">
                <a:avLst/>
              </a:prstGeom>
            </p:spPr>
          </p:pic>
          <p:pic>
            <p:nvPicPr>
              <p:cNvPr id="459" name="Graphique 458" descr="Utilisateur avec un remplissage uni">
                <a:extLst>
                  <a:ext uri="{FF2B5EF4-FFF2-40B4-BE49-F238E27FC236}">
                    <a16:creationId xmlns:a16="http://schemas.microsoft.com/office/drawing/2014/main" id="{789BE680-E66D-B7BA-4685-8D927B64277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511" name="Graphique 510" descr="Utilisateur avec un remplissage uni">
                <a:extLst>
                  <a:ext uri="{FF2B5EF4-FFF2-40B4-BE49-F238E27FC236}">
                    <a16:creationId xmlns:a16="http://schemas.microsoft.com/office/drawing/2014/main" id="{8AD84521-99C9-B184-16C8-7F9104EB9FC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64" name="Graphique 63" descr="Utilisateur avec un remplissage uni">
                <a:extLst>
                  <a:ext uri="{FF2B5EF4-FFF2-40B4-BE49-F238E27FC236}">
                    <a16:creationId xmlns:a16="http://schemas.microsoft.com/office/drawing/2014/main" id="{A7CB04A4-BCB7-4DBB-F08C-EE6C176C694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65" name="Graphique 64" descr="Utilisateur avec un remplissage uni">
                <a:extLst>
                  <a:ext uri="{FF2B5EF4-FFF2-40B4-BE49-F238E27FC236}">
                    <a16:creationId xmlns:a16="http://schemas.microsoft.com/office/drawing/2014/main" id="{7CD45893-6084-6635-6662-9715BD8D3192}"/>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8982504" y="3835028"/>
                <a:ext cx="336064" cy="336064"/>
              </a:xfrm>
              <a:prstGeom prst="rect">
                <a:avLst/>
              </a:prstGeom>
            </p:spPr>
          </p:pic>
          <p:pic>
            <p:nvPicPr>
              <p:cNvPr id="66" name="Graphique 65" descr="Utilisateur avec un remplissage uni">
                <a:extLst>
                  <a:ext uri="{FF2B5EF4-FFF2-40B4-BE49-F238E27FC236}">
                    <a16:creationId xmlns:a16="http://schemas.microsoft.com/office/drawing/2014/main" id="{8720A2F4-9692-CE77-FDD7-3A7114DA8F95}"/>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520868" y="3943076"/>
                <a:ext cx="336064" cy="336064"/>
              </a:xfrm>
              <a:prstGeom prst="rect">
                <a:avLst/>
              </a:prstGeom>
            </p:spPr>
          </p:pic>
          <p:pic>
            <p:nvPicPr>
              <p:cNvPr id="67" name="Graphique 66" descr="Utilisateur avec un remplissage uni">
                <a:extLst>
                  <a:ext uri="{FF2B5EF4-FFF2-40B4-BE49-F238E27FC236}">
                    <a16:creationId xmlns:a16="http://schemas.microsoft.com/office/drawing/2014/main" id="{81BAF468-7440-396F-1227-6017699B75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68" name="Graphique 67" descr="Utilisateur avec un remplissage uni">
                <a:extLst>
                  <a:ext uri="{FF2B5EF4-FFF2-40B4-BE49-F238E27FC236}">
                    <a16:creationId xmlns:a16="http://schemas.microsoft.com/office/drawing/2014/main" id="{F2E68AFE-97AA-5F44-E1D3-2347725A2FA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69" name="Graphique 68" descr="Utilisateur avec un remplissage uni">
                <a:extLst>
                  <a:ext uri="{FF2B5EF4-FFF2-40B4-BE49-F238E27FC236}">
                    <a16:creationId xmlns:a16="http://schemas.microsoft.com/office/drawing/2014/main" id="{C180675B-BC65-CBED-2842-151BDD1D1198}"/>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856932" y="3429000"/>
                <a:ext cx="336064" cy="336064"/>
              </a:xfrm>
              <a:prstGeom prst="rect">
                <a:avLst/>
              </a:prstGeom>
            </p:spPr>
          </p:pic>
        </p:grpSp>
        <p:grpSp>
          <p:nvGrpSpPr>
            <p:cNvPr id="34" name="Groupe 33">
              <a:extLst>
                <a:ext uri="{FF2B5EF4-FFF2-40B4-BE49-F238E27FC236}">
                  <a16:creationId xmlns:a16="http://schemas.microsoft.com/office/drawing/2014/main" id="{806DF2E3-4D13-9B60-ADF4-779A0CF1849F}"/>
                </a:ext>
              </a:extLst>
            </p:cNvPr>
            <p:cNvGrpSpPr/>
            <p:nvPr/>
          </p:nvGrpSpPr>
          <p:grpSpPr>
            <a:xfrm>
              <a:off x="4491870" y="3739384"/>
              <a:ext cx="1004893" cy="847205"/>
              <a:chOff x="7146490" y="3274976"/>
              <a:chExt cx="1230670" cy="1037553"/>
            </a:xfrm>
          </p:grpSpPr>
          <p:pic>
            <p:nvPicPr>
              <p:cNvPr id="60" name="Graphique 59" descr="Utilisateur avec un remplissage uni">
                <a:extLst>
                  <a:ext uri="{FF2B5EF4-FFF2-40B4-BE49-F238E27FC236}">
                    <a16:creationId xmlns:a16="http://schemas.microsoft.com/office/drawing/2014/main" id="{9998F940-563E-51A8-84E2-A3DE02FD3AF3}"/>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465014" y="3274976"/>
                <a:ext cx="336064" cy="336064"/>
              </a:xfrm>
              <a:prstGeom prst="rect">
                <a:avLst/>
              </a:prstGeom>
            </p:spPr>
          </p:pic>
          <p:pic>
            <p:nvPicPr>
              <p:cNvPr id="61" name="Graphique 60" descr="Utilisateur avec un remplissage uni">
                <a:extLst>
                  <a:ext uri="{FF2B5EF4-FFF2-40B4-BE49-F238E27FC236}">
                    <a16:creationId xmlns:a16="http://schemas.microsoft.com/office/drawing/2014/main" id="{B263E8D2-E244-6CF8-4204-5F1ECCC29099}"/>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218126" y="3512720"/>
                <a:ext cx="336064" cy="336064"/>
              </a:xfrm>
              <a:prstGeom prst="rect">
                <a:avLst/>
              </a:prstGeom>
            </p:spPr>
          </p:pic>
          <p:pic>
            <p:nvPicPr>
              <p:cNvPr id="62" name="Graphique 61" descr="Utilisateur avec un remplissage uni">
                <a:extLst>
                  <a:ext uri="{FF2B5EF4-FFF2-40B4-BE49-F238E27FC236}">
                    <a16:creationId xmlns:a16="http://schemas.microsoft.com/office/drawing/2014/main" id="{A8E4FADD-E32B-2EA3-3362-AD14480F2CCE}"/>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509602" y="3561880"/>
                <a:ext cx="336064" cy="336064"/>
              </a:xfrm>
              <a:prstGeom prst="rect">
                <a:avLst/>
              </a:prstGeom>
            </p:spPr>
          </p:pic>
          <p:pic>
            <p:nvPicPr>
              <p:cNvPr id="63" name="Graphique 62" descr="Utilisateur avec un remplissage uni">
                <a:extLst>
                  <a:ext uri="{FF2B5EF4-FFF2-40B4-BE49-F238E27FC236}">
                    <a16:creationId xmlns:a16="http://schemas.microsoft.com/office/drawing/2014/main" id="{C0EE0C9C-0ADD-5F56-2746-F7D27D08EFDF}"/>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756490" y="3418428"/>
                <a:ext cx="336064" cy="336064"/>
              </a:xfrm>
              <a:prstGeom prst="rect">
                <a:avLst/>
              </a:prstGeom>
            </p:spPr>
          </p:pic>
          <p:pic>
            <p:nvPicPr>
              <p:cNvPr id="448" name="Graphique 447" descr="Utilisateur avec un remplissage uni">
                <a:extLst>
                  <a:ext uri="{FF2B5EF4-FFF2-40B4-BE49-F238E27FC236}">
                    <a16:creationId xmlns:a16="http://schemas.microsoft.com/office/drawing/2014/main" id="{1B360C93-B7B2-9FDB-53A8-472355132662}"/>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799182" y="3680752"/>
                <a:ext cx="336064" cy="336064"/>
              </a:xfrm>
              <a:prstGeom prst="rect">
                <a:avLst/>
              </a:prstGeom>
            </p:spPr>
          </p:pic>
          <p:pic>
            <p:nvPicPr>
              <p:cNvPr id="449" name="Graphique 448" descr="Utilisateur avec un remplissage uni">
                <a:extLst>
                  <a:ext uri="{FF2B5EF4-FFF2-40B4-BE49-F238E27FC236}">
                    <a16:creationId xmlns:a16="http://schemas.microsoft.com/office/drawing/2014/main" id="{89F7BFB3-D30D-95BC-5A9A-FF69D297BB3B}"/>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420426" y="3848784"/>
                <a:ext cx="336064" cy="336064"/>
              </a:xfrm>
              <a:prstGeom prst="rect">
                <a:avLst/>
              </a:prstGeom>
            </p:spPr>
          </p:pic>
          <p:pic>
            <p:nvPicPr>
              <p:cNvPr id="450" name="Graphique 449" descr="Utilisateur avec un remplissage uni">
                <a:extLst>
                  <a:ext uri="{FF2B5EF4-FFF2-40B4-BE49-F238E27FC236}">
                    <a16:creationId xmlns:a16="http://schemas.microsoft.com/office/drawing/2014/main" id="{1F7F0AA3-D65C-A158-B419-B3EC851AE89B}"/>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146490" y="3835028"/>
                <a:ext cx="336064" cy="336064"/>
              </a:xfrm>
              <a:prstGeom prst="rect">
                <a:avLst/>
              </a:prstGeom>
            </p:spPr>
          </p:pic>
          <p:pic>
            <p:nvPicPr>
              <p:cNvPr id="451" name="Graphique 450" descr="Utilisateur avec un remplissage uni">
                <a:extLst>
                  <a:ext uri="{FF2B5EF4-FFF2-40B4-BE49-F238E27FC236}">
                    <a16:creationId xmlns:a16="http://schemas.microsoft.com/office/drawing/2014/main" id="{FB01BDF7-ADAD-A8EF-FC73-50B2C5C5A971}"/>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684854" y="3943076"/>
                <a:ext cx="336064" cy="336064"/>
              </a:xfrm>
              <a:prstGeom prst="rect">
                <a:avLst/>
              </a:prstGeom>
            </p:spPr>
          </p:pic>
          <p:pic>
            <p:nvPicPr>
              <p:cNvPr id="452" name="Graphique 451" descr="Utilisateur avec un remplissage uni">
                <a:extLst>
                  <a:ext uri="{FF2B5EF4-FFF2-40B4-BE49-F238E27FC236}">
                    <a16:creationId xmlns:a16="http://schemas.microsoft.com/office/drawing/2014/main" id="{C020BE06-214B-D2D0-A4F5-DC0CEF3E9CCB}"/>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7906758" y="3976465"/>
                <a:ext cx="336064" cy="336064"/>
              </a:xfrm>
              <a:prstGeom prst="rect">
                <a:avLst/>
              </a:prstGeom>
            </p:spPr>
          </p:pic>
          <p:pic>
            <p:nvPicPr>
              <p:cNvPr id="453" name="Graphique 452" descr="Utilisateur avec un remplissage uni">
                <a:extLst>
                  <a:ext uri="{FF2B5EF4-FFF2-40B4-BE49-F238E27FC236}">
                    <a16:creationId xmlns:a16="http://schemas.microsoft.com/office/drawing/2014/main" id="{D2477D12-179D-0082-E16E-61DCD6C4C556}"/>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8041096" y="3705332"/>
                <a:ext cx="336064" cy="336064"/>
              </a:xfrm>
              <a:prstGeom prst="rect">
                <a:avLst/>
              </a:prstGeom>
            </p:spPr>
          </p:pic>
          <p:pic>
            <p:nvPicPr>
              <p:cNvPr id="454" name="Graphique 453" descr="Utilisateur avec un remplissage uni">
                <a:extLst>
                  <a:ext uri="{FF2B5EF4-FFF2-40B4-BE49-F238E27FC236}">
                    <a16:creationId xmlns:a16="http://schemas.microsoft.com/office/drawing/2014/main" id="{67987620-983F-0349-9814-A58BDD873F1F}"/>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8020918" y="3429000"/>
                <a:ext cx="336064" cy="336064"/>
              </a:xfrm>
              <a:prstGeom prst="rect">
                <a:avLst/>
              </a:prstGeom>
            </p:spPr>
          </p:pic>
        </p:grpSp>
        <p:grpSp>
          <p:nvGrpSpPr>
            <p:cNvPr id="35" name="Groupe 34">
              <a:extLst>
                <a:ext uri="{FF2B5EF4-FFF2-40B4-BE49-F238E27FC236}">
                  <a16:creationId xmlns:a16="http://schemas.microsoft.com/office/drawing/2014/main" id="{E8BF231E-7227-B229-2F8E-6C5915045118}"/>
                </a:ext>
              </a:extLst>
            </p:cNvPr>
            <p:cNvGrpSpPr/>
            <p:nvPr/>
          </p:nvGrpSpPr>
          <p:grpSpPr>
            <a:xfrm>
              <a:off x="506838" y="5163961"/>
              <a:ext cx="1004893" cy="847205"/>
              <a:chOff x="8982504" y="3274976"/>
              <a:chExt cx="1230670" cy="1037553"/>
            </a:xfrm>
            <a:solidFill>
              <a:srgbClr val="ED7D31"/>
            </a:solidFill>
          </p:grpSpPr>
          <p:pic>
            <p:nvPicPr>
              <p:cNvPr id="49" name="Graphique 48" descr="Utilisateur avec un remplissage uni">
                <a:extLst>
                  <a:ext uri="{FF2B5EF4-FFF2-40B4-BE49-F238E27FC236}">
                    <a16:creationId xmlns:a16="http://schemas.microsoft.com/office/drawing/2014/main" id="{E393201A-E7B1-C693-E56F-61F1AEB2CB0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50" name="Graphique 49" descr="Utilisateur avec un remplissage uni">
                <a:extLst>
                  <a:ext uri="{FF2B5EF4-FFF2-40B4-BE49-F238E27FC236}">
                    <a16:creationId xmlns:a16="http://schemas.microsoft.com/office/drawing/2014/main" id="{6ADCB203-EEF3-529E-509E-9B6564B4A5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51" name="Graphique 50" descr="Utilisateur avec un remplissage uni">
                <a:extLst>
                  <a:ext uri="{FF2B5EF4-FFF2-40B4-BE49-F238E27FC236}">
                    <a16:creationId xmlns:a16="http://schemas.microsoft.com/office/drawing/2014/main" id="{5728FE96-6FE5-CC84-7FE6-806963C3F0C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52" name="Graphique 51" descr="Utilisateur avec un remplissage uni">
                <a:extLst>
                  <a:ext uri="{FF2B5EF4-FFF2-40B4-BE49-F238E27FC236}">
                    <a16:creationId xmlns:a16="http://schemas.microsoft.com/office/drawing/2014/main" id="{CFCFAA94-6721-89A9-C3CB-3586CC5BC16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53" name="Graphique 52" descr="Utilisateur avec un remplissage uni">
                <a:extLst>
                  <a:ext uri="{FF2B5EF4-FFF2-40B4-BE49-F238E27FC236}">
                    <a16:creationId xmlns:a16="http://schemas.microsoft.com/office/drawing/2014/main" id="{C9E197F7-F175-6791-F653-F49F321FBB6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54" name="Graphique 53" descr="Utilisateur avec un remplissage uni">
                <a:extLst>
                  <a:ext uri="{FF2B5EF4-FFF2-40B4-BE49-F238E27FC236}">
                    <a16:creationId xmlns:a16="http://schemas.microsoft.com/office/drawing/2014/main" id="{DAE478FC-58DE-EEC9-D7E1-785B90C3186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55" name="Graphique 54" descr="Utilisateur avec un remplissage uni">
                <a:extLst>
                  <a:ext uri="{FF2B5EF4-FFF2-40B4-BE49-F238E27FC236}">
                    <a16:creationId xmlns:a16="http://schemas.microsoft.com/office/drawing/2014/main" id="{628B5967-DD05-6A15-6344-88A4DD6D533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56" name="Graphique 55" descr="Utilisateur avec un remplissage uni">
                <a:extLst>
                  <a:ext uri="{FF2B5EF4-FFF2-40B4-BE49-F238E27FC236}">
                    <a16:creationId xmlns:a16="http://schemas.microsoft.com/office/drawing/2014/main" id="{BBC3FDB0-15FD-4BA2-18BA-5A35A367E12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57" name="Graphique 56" descr="Utilisateur avec un remplissage uni">
                <a:extLst>
                  <a:ext uri="{FF2B5EF4-FFF2-40B4-BE49-F238E27FC236}">
                    <a16:creationId xmlns:a16="http://schemas.microsoft.com/office/drawing/2014/main" id="{4BAF7F2D-0688-74C7-BE72-A6884265C90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58" name="Graphique 57" descr="Utilisateur avec un remplissage uni">
                <a:extLst>
                  <a:ext uri="{FF2B5EF4-FFF2-40B4-BE49-F238E27FC236}">
                    <a16:creationId xmlns:a16="http://schemas.microsoft.com/office/drawing/2014/main" id="{300A6558-0758-B03A-8438-FC7C4081A8C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59" name="Graphique 58" descr="Utilisateur avec un remplissage uni">
                <a:extLst>
                  <a:ext uri="{FF2B5EF4-FFF2-40B4-BE49-F238E27FC236}">
                    <a16:creationId xmlns:a16="http://schemas.microsoft.com/office/drawing/2014/main" id="{4E618EDF-C6EF-FB3A-F82A-88AEC64CD1E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grpSp>
          <p:nvGrpSpPr>
            <p:cNvPr id="36" name="Groupe 35">
              <a:extLst>
                <a:ext uri="{FF2B5EF4-FFF2-40B4-BE49-F238E27FC236}">
                  <a16:creationId xmlns:a16="http://schemas.microsoft.com/office/drawing/2014/main" id="{1ED61490-2471-A1DC-61B8-3147781A5596}"/>
                </a:ext>
              </a:extLst>
            </p:cNvPr>
            <p:cNvGrpSpPr/>
            <p:nvPr/>
          </p:nvGrpSpPr>
          <p:grpSpPr>
            <a:xfrm>
              <a:off x="3181288" y="3718203"/>
              <a:ext cx="1004893" cy="847205"/>
              <a:chOff x="8982504" y="3274976"/>
              <a:chExt cx="1230670" cy="1037553"/>
            </a:xfrm>
            <a:solidFill>
              <a:srgbClr val="ED7D31"/>
            </a:solidFill>
          </p:grpSpPr>
          <p:pic>
            <p:nvPicPr>
              <p:cNvPr id="38" name="Graphique 37" descr="Utilisateur avec un remplissage uni">
                <a:extLst>
                  <a:ext uri="{FF2B5EF4-FFF2-40B4-BE49-F238E27FC236}">
                    <a16:creationId xmlns:a16="http://schemas.microsoft.com/office/drawing/2014/main" id="{183026AA-8C1C-5F0B-8AF9-C3778D67FFFA}"/>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9301028" y="3274976"/>
                <a:ext cx="336064" cy="336064"/>
              </a:xfrm>
              <a:prstGeom prst="rect">
                <a:avLst/>
              </a:prstGeom>
            </p:spPr>
          </p:pic>
          <p:pic>
            <p:nvPicPr>
              <p:cNvPr id="39" name="Graphique 38" descr="Utilisateur avec un remplissage uni">
                <a:extLst>
                  <a:ext uri="{FF2B5EF4-FFF2-40B4-BE49-F238E27FC236}">
                    <a16:creationId xmlns:a16="http://schemas.microsoft.com/office/drawing/2014/main" id="{1F6214A3-79AD-88F1-8CFB-5C91836E87E8}"/>
                  </a:ext>
                </a:extLst>
              </p:cNvPr>
              <p:cNvPicPr>
                <a:picLocks noChangeAspect="1"/>
              </p:cNvPicPr>
              <p:nvPr/>
            </p:nvPicPr>
            <p:blipFill>
              <a:blip r:embed="rId147">
                <a:extLst>
                  <a:ext uri="{28A0092B-C50C-407E-A947-70E740481C1C}">
                    <a14:useLocalDpi xmlns:a14="http://schemas.microsoft.com/office/drawing/2010/main" val="0"/>
                  </a:ext>
                  <a:ext uri="{96DAC541-7B7A-43D3-8B79-37D633B846F1}">
                    <asvg:svgBlip xmlns:asvg="http://schemas.microsoft.com/office/drawing/2016/SVG/main" r:embed="rId148"/>
                  </a:ext>
                </a:extLst>
              </a:blip>
              <a:stretch>
                <a:fillRect/>
              </a:stretch>
            </p:blipFill>
            <p:spPr>
              <a:xfrm>
                <a:off x="9054140" y="3512720"/>
                <a:ext cx="336064" cy="336064"/>
              </a:xfrm>
              <a:prstGeom prst="rect">
                <a:avLst/>
              </a:prstGeom>
            </p:spPr>
          </p:pic>
          <p:pic>
            <p:nvPicPr>
              <p:cNvPr id="40" name="Graphique 39" descr="Utilisateur avec un remplissage uni">
                <a:extLst>
                  <a:ext uri="{FF2B5EF4-FFF2-40B4-BE49-F238E27FC236}">
                    <a16:creationId xmlns:a16="http://schemas.microsoft.com/office/drawing/2014/main" id="{DC62DEAF-46D3-5010-7780-E5840D0D5038}"/>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345616" y="3561880"/>
                <a:ext cx="336064" cy="336064"/>
              </a:xfrm>
              <a:prstGeom prst="rect">
                <a:avLst/>
              </a:prstGeom>
            </p:spPr>
          </p:pic>
          <p:pic>
            <p:nvPicPr>
              <p:cNvPr id="41" name="Graphique 40" descr="Utilisateur avec un remplissage uni">
                <a:extLst>
                  <a:ext uri="{FF2B5EF4-FFF2-40B4-BE49-F238E27FC236}">
                    <a16:creationId xmlns:a16="http://schemas.microsoft.com/office/drawing/2014/main" id="{5240F04C-28A2-5E6C-4901-914128A564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42" name="Graphique 41" descr="Utilisateur avec un remplissage uni">
                <a:extLst>
                  <a:ext uri="{FF2B5EF4-FFF2-40B4-BE49-F238E27FC236}">
                    <a16:creationId xmlns:a16="http://schemas.microsoft.com/office/drawing/2014/main" id="{67BBDC62-62B5-D9DF-AA4F-AE1FC0ED363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43" name="Graphique 42" descr="Utilisateur avec un remplissage uni">
                <a:extLst>
                  <a:ext uri="{FF2B5EF4-FFF2-40B4-BE49-F238E27FC236}">
                    <a16:creationId xmlns:a16="http://schemas.microsoft.com/office/drawing/2014/main" id="{C3D83B30-315B-928B-67D8-8E930B6457F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44" name="Graphique 43" descr="Utilisateur avec un remplissage uni">
                <a:extLst>
                  <a:ext uri="{FF2B5EF4-FFF2-40B4-BE49-F238E27FC236}">
                    <a16:creationId xmlns:a16="http://schemas.microsoft.com/office/drawing/2014/main" id="{539E5BF1-61EC-FCC4-C20C-B6A0278FDF31}"/>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8982504" y="3835028"/>
                <a:ext cx="336064" cy="336064"/>
              </a:xfrm>
              <a:prstGeom prst="rect">
                <a:avLst/>
              </a:prstGeom>
            </p:spPr>
          </p:pic>
          <p:pic>
            <p:nvPicPr>
              <p:cNvPr id="45" name="Graphique 44" descr="Utilisateur avec un remplissage uni">
                <a:extLst>
                  <a:ext uri="{FF2B5EF4-FFF2-40B4-BE49-F238E27FC236}">
                    <a16:creationId xmlns:a16="http://schemas.microsoft.com/office/drawing/2014/main" id="{5C19CA97-F409-7B66-4264-AED7DF89B827}"/>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520868" y="3943076"/>
                <a:ext cx="336064" cy="336064"/>
              </a:xfrm>
              <a:prstGeom prst="rect">
                <a:avLst/>
              </a:prstGeom>
            </p:spPr>
          </p:pic>
          <p:pic>
            <p:nvPicPr>
              <p:cNvPr id="46" name="Graphique 45" descr="Utilisateur avec un remplissage uni">
                <a:extLst>
                  <a:ext uri="{FF2B5EF4-FFF2-40B4-BE49-F238E27FC236}">
                    <a16:creationId xmlns:a16="http://schemas.microsoft.com/office/drawing/2014/main" id="{FFEFE484-A9F2-3630-563B-56491D8C6F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47" name="Graphique 46" descr="Utilisateur avec un remplissage uni">
                <a:extLst>
                  <a:ext uri="{FF2B5EF4-FFF2-40B4-BE49-F238E27FC236}">
                    <a16:creationId xmlns:a16="http://schemas.microsoft.com/office/drawing/2014/main" id="{C50D33FD-4B31-F7D2-AA02-599A66EB47A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48" name="Graphique 47" descr="Utilisateur avec un remplissage uni">
                <a:extLst>
                  <a:ext uri="{FF2B5EF4-FFF2-40B4-BE49-F238E27FC236}">
                    <a16:creationId xmlns:a16="http://schemas.microsoft.com/office/drawing/2014/main" id="{5E2ACB34-DB35-C86F-D44C-9BBDB7E77900}"/>
                  </a:ext>
                </a:extLst>
              </p:cNvPr>
              <p:cNvPicPr>
                <a:picLocks noChangeAspect="1"/>
              </p:cNvPicPr>
              <p:nvPr/>
            </p:nvPicPr>
            <p:blipFill>
              <a:blip r:embed="rId149">
                <a:extLst>
                  <a:ext uri="{28A0092B-C50C-407E-A947-70E740481C1C}">
                    <a14:useLocalDpi xmlns:a14="http://schemas.microsoft.com/office/drawing/2010/main" val="0"/>
                  </a:ext>
                  <a:ext uri="{96DAC541-7B7A-43D3-8B79-37D633B846F1}">
                    <asvg:svgBlip xmlns:asvg="http://schemas.microsoft.com/office/drawing/2016/SVG/main" r:embed="rId150"/>
                  </a:ext>
                </a:extLst>
              </a:blip>
              <a:stretch>
                <a:fillRect/>
              </a:stretch>
            </p:blipFill>
            <p:spPr>
              <a:xfrm>
                <a:off x="9856932" y="3429000"/>
                <a:ext cx="336064" cy="336064"/>
              </a:xfrm>
              <a:prstGeom prst="rect">
                <a:avLst/>
              </a:prstGeom>
            </p:spPr>
          </p:pic>
        </p:grpSp>
        <p:sp>
          <p:nvSpPr>
            <p:cNvPr id="37" name="Flèche : double flèche horizontale 36">
              <a:extLst>
                <a:ext uri="{FF2B5EF4-FFF2-40B4-BE49-F238E27FC236}">
                  <a16:creationId xmlns:a16="http://schemas.microsoft.com/office/drawing/2014/main" id="{4DB906EC-11D0-20E7-A8E3-D1388B58CA2A}"/>
                </a:ext>
              </a:extLst>
            </p:cNvPr>
            <p:cNvSpPr/>
            <p:nvPr/>
          </p:nvSpPr>
          <p:spPr>
            <a:xfrm>
              <a:off x="450974" y="1787224"/>
              <a:ext cx="11261042" cy="387138"/>
            </a:xfrm>
            <a:prstGeom prst="leftRightArrow">
              <a:avLst/>
            </a:prstGeom>
            <a:gradFill>
              <a:gsLst>
                <a:gs pos="0">
                  <a:srgbClr val="ED7D31"/>
                </a:gs>
                <a:gs pos="33000">
                  <a:schemeClr val="bg1">
                    <a:lumMod val="75000"/>
                  </a:schemeClr>
                </a:gs>
                <a:gs pos="75000">
                  <a:srgbClr val="3494BA"/>
                </a:gs>
                <a:gs pos="100000">
                  <a:schemeClr val="tx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Tree>
    <p:extLst>
      <p:ext uri="{BB962C8B-B14F-4D97-AF65-F5344CB8AC3E}">
        <p14:creationId xmlns:p14="http://schemas.microsoft.com/office/powerpoint/2010/main" val="3364543871"/>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830637187"/>
              </p:ext>
            </p:extLst>
          </p:nvPr>
        </p:nvGraphicFramePr>
        <p:xfrm>
          <a:off x="838200" y="894079"/>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Etape de Déblocages basiques</a:t>
                      </a:r>
                    </a:p>
                    <a:p>
                      <a:r>
                        <a:rPr lang="fr-FR" i="1" dirty="0"/>
                        <a:t>« Clarifier certains points qui bloquent le lancement d’une Communauté »</a:t>
                      </a:r>
                    </a:p>
                  </a:txBody>
                  <a:tcPr>
                    <a:solidFill>
                      <a:schemeClr val="tx1"/>
                    </a:solidFill>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grpSp>
        <p:nvGrpSpPr>
          <p:cNvPr id="461" name="Groupe 460">
            <a:extLst>
              <a:ext uri="{FF2B5EF4-FFF2-40B4-BE49-F238E27FC236}">
                <a16:creationId xmlns:a16="http://schemas.microsoft.com/office/drawing/2014/main" id="{8F2BA8B4-CA3F-5737-600C-2C158773BAE5}"/>
              </a:ext>
            </a:extLst>
          </p:cNvPr>
          <p:cNvGrpSpPr/>
          <p:nvPr/>
        </p:nvGrpSpPr>
        <p:grpSpPr>
          <a:xfrm>
            <a:off x="3514620" y="2362972"/>
            <a:ext cx="865570" cy="855736"/>
            <a:chOff x="3751272" y="2768258"/>
            <a:chExt cx="506451" cy="500697"/>
          </a:xfrm>
        </p:grpSpPr>
        <p:grpSp>
          <p:nvGrpSpPr>
            <p:cNvPr id="11" name="Groupe 10">
              <a:extLst>
                <a:ext uri="{FF2B5EF4-FFF2-40B4-BE49-F238E27FC236}">
                  <a16:creationId xmlns:a16="http://schemas.microsoft.com/office/drawing/2014/main" id="{AFD84436-4204-8815-C5C1-E7337DE81C15}"/>
                </a:ext>
              </a:extLst>
            </p:cNvPr>
            <p:cNvGrpSpPr/>
            <p:nvPr/>
          </p:nvGrpSpPr>
          <p:grpSpPr>
            <a:xfrm>
              <a:off x="3751272" y="2788588"/>
              <a:ext cx="466106" cy="480367"/>
              <a:chOff x="9345616" y="3418428"/>
              <a:chExt cx="867558" cy="894101"/>
            </a:xfrm>
            <a:solidFill>
              <a:srgbClr val="ED7D31"/>
            </a:solidFill>
          </p:grpSpPr>
          <p:pic>
            <p:nvPicPr>
              <p:cNvPr id="12" name="Graphique 11" descr="Utilisateur avec un remplissage uni">
                <a:extLst>
                  <a:ext uri="{FF2B5EF4-FFF2-40B4-BE49-F238E27FC236}">
                    <a16:creationId xmlns:a16="http://schemas.microsoft.com/office/drawing/2014/main" id="{B834A4F6-5019-CF2B-4C17-A93A68AB274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13" name="Graphique 12" descr="Utilisateur avec un remplissage uni">
                <a:extLst>
                  <a:ext uri="{FF2B5EF4-FFF2-40B4-BE49-F238E27FC236}">
                    <a16:creationId xmlns:a16="http://schemas.microsoft.com/office/drawing/2014/main" id="{F118796B-9449-C431-CDB2-7878432BE86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20C2AF02-8586-1D7B-282A-BE966FD141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15" name="Graphique 14" descr="Utilisateur avec un remplissage uni">
                <a:extLst>
                  <a:ext uri="{FF2B5EF4-FFF2-40B4-BE49-F238E27FC236}">
                    <a16:creationId xmlns:a16="http://schemas.microsoft.com/office/drawing/2014/main" id="{5A81BCE2-B706-16BA-3DB9-9AD893FE103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16" name="Graphique 15" descr="Utilisateur avec un remplissage uni">
                <a:extLst>
                  <a:ext uri="{FF2B5EF4-FFF2-40B4-BE49-F238E27FC236}">
                    <a16:creationId xmlns:a16="http://schemas.microsoft.com/office/drawing/2014/main" id="{C7681AB2-F3CF-32B3-CC76-26E0872CD90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17" name="Graphique 16" descr="Utilisateur avec un remplissage uni">
                <a:extLst>
                  <a:ext uri="{FF2B5EF4-FFF2-40B4-BE49-F238E27FC236}">
                    <a16:creationId xmlns:a16="http://schemas.microsoft.com/office/drawing/2014/main" id="{77EC86D2-E749-9230-020C-9D612F24083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grpSp>
        <p:pic>
          <p:nvPicPr>
            <p:cNvPr id="18" name="Graphique 17" descr="Calendrier journalier avec un remplissage uni">
              <a:extLst>
                <a:ext uri="{FF2B5EF4-FFF2-40B4-BE49-F238E27FC236}">
                  <a16:creationId xmlns:a16="http://schemas.microsoft.com/office/drawing/2014/main" id="{1DB5EF1D-9D99-AE2B-8259-0FFB3794F22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046036" y="2768258"/>
              <a:ext cx="211687" cy="211687"/>
            </a:xfrm>
            <a:prstGeom prst="rect">
              <a:avLst/>
            </a:prstGeom>
          </p:spPr>
        </p:pic>
      </p:grpSp>
      <p:grpSp>
        <p:nvGrpSpPr>
          <p:cNvPr id="117" name="Groupe 116">
            <a:extLst>
              <a:ext uri="{FF2B5EF4-FFF2-40B4-BE49-F238E27FC236}">
                <a16:creationId xmlns:a16="http://schemas.microsoft.com/office/drawing/2014/main" id="{4D049372-6D9B-41C0-BD77-E650522393E7}"/>
              </a:ext>
            </a:extLst>
          </p:cNvPr>
          <p:cNvGrpSpPr/>
          <p:nvPr/>
        </p:nvGrpSpPr>
        <p:grpSpPr>
          <a:xfrm>
            <a:off x="3421883" y="4489972"/>
            <a:ext cx="1110925" cy="841667"/>
            <a:chOff x="1506440" y="3824518"/>
            <a:chExt cx="3572592" cy="2706694"/>
          </a:xfrm>
        </p:grpSpPr>
        <p:pic>
          <p:nvPicPr>
            <p:cNvPr id="118" name="Graphique 117" descr="Écran avec un remplissage uni">
              <a:extLst>
                <a:ext uri="{FF2B5EF4-FFF2-40B4-BE49-F238E27FC236}">
                  <a16:creationId xmlns:a16="http://schemas.microsoft.com/office/drawing/2014/main" id="{E4232281-D632-FE0E-B830-92E1DA17C65D}"/>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12489" b="11748"/>
            <a:stretch/>
          </p:blipFill>
          <p:spPr>
            <a:xfrm>
              <a:off x="1506440" y="3824518"/>
              <a:ext cx="3572592" cy="2706694"/>
            </a:xfrm>
            <a:prstGeom prst="rect">
              <a:avLst/>
            </a:prstGeom>
          </p:spPr>
        </p:pic>
        <p:pic>
          <p:nvPicPr>
            <p:cNvPr id="119" name="Graphique 118" descr="Aide avec un remplissage uni">
              <a:extLst>
                <a:ext uri="{FF2B5EF4-FFF2-40B4-BE49-F238E27FC236}">
                  <a16:creationId xmlns:a16="http://schemas.microsoft.com/office/drawing/2014/main" id="{D1E6D8C5-60D4-2EF4-486D-4FE15A5E695E}"/>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214410" y="4182812"/>
              <a:ext cx="533113" cy="533113"/>
            </a:xfrm>
            <a:prstGeom prst="rect">
              <a:avLst/>
            </a:prstGeom>
          </p:spPr>
        </p:pic>
        <p:pic>
          <p:nvPicPr>
            <p:cNvPr id="120" name="Graphique 119" descr="Aide avec un remplissage uni">
              <a:extLst>
                <a:ext uri="{FF2B5EF4-FFF2-40B4-BE49-F238E27FC236}">
                  <a16:creationId xmlns:a16="http://schemas.microsoft.com/office/drawing/2014/main" id="{92F191E1-0053-6827-075C-93216D9DCD3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204900" y="4678870"/>
              <a:ext cx="533113" cy="533113"/>
            </a:xfrm>
            <a:prstGeom prst="rect">
              <a:avLst/>
            </a:prstGeom>
          </p:spPr>
        </p:pic>
        <p:pic>
          <p:nvPicPr>
            <p:cNvPr id="121" name="Graphique 120" descr="Aide avec un remplissage uni">
              <a:extLst>
                <a:ext uri="{FF2B5EF4-FFF2-40B4-BE49-F238E27FC236}">
                  <a16:creationId xmlns:a16="http://schemas.microsoft.com/office/drawing/2014/main" id="{B3B04295-0FD0-60D9-C3FC-6340DE15E0AA}"/>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204899" y="5183146"/>
              <a:ext cx="533113" cy="533113"/>
            </a:xfrm>
            <a:prstGeom prst="rect">
              <a:avLst/>
            </a:prstGeom>
          </p:spPr>
        </p:pic>
        <p:sp>
          <p:nvSpPr>
            <p:cNvPr id="122" name="Rectangle 121">
              <a:extLst>
                <a:ext uri="{FF2B5EF4-FFF2-40B4-BE49-F238E27FC236}">
                  <a16:creationId xmlns:a16="http://schemas.microsoft.com/office/drawing/2014/main" id="{A288F5B5-6E4D-2C2A-6A0B-09DCE918B560}"/>
                </a:ext>
              </a:extLst>
            </p:cNvPr>
            <p:cNvSpPr/>
            <p:nvPr/>
          </p:nvSpPr>
          <p:spPr>
            <a:xfrm>
              <a:off x="2747956" y="4268422"/>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 name="Rectangle 122">
              <a:extLst>
                <a:ext uri="{FF2B5EF4-FFF2-40B4-BE49-F238E27FC236}">
                  <a16:creationId xmlns:a16="http://schemas.microsoft.com/office/drawing/2014/main" id="{20FB8DE0-844E-01AD-789D-B48DBC9404BA}"/>
                </a:ext>
              </a:extLst>
            </p:cNvPr>
            <p:cNvSpPr/>
            <p:nvPr/>
          </p:nvSpPr>
          <p:spPr>
            <a:xfrm>
              <a:off x="2747956" y="4401646"/>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 name="Rectangle 123">
              <a:extLst>
                <a:ext uri="{FF2B5EF4-FFF2-40B4-BE49-F238E27FC236}">
                  <a16:creationId xmlns:a16="http://schemas.microsoft.com/office/drawing/2014/main" id="{CB5D71BE-DD2B-350C-611B-23B6A9EB3B61}"/>
                </a:ext>
              </a:extLst>
            </p:cNvPr>
            <p:cNvSpPr/>
            <p:nvPr/>
          </p:nvSpPr>
          <p:spPr>
            <a:xfrm>
              <a:off x="2747956" y="4541907"/>
              <a:ext cx="842969" cy="536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 name="Rectangle 124">
              <a:extLst>
                <a:ext uri="{FF2B5EF4-FFF2-40B4-BE49-F238E27FC236}">
                  <a16:creationId xmlns:a16="http://schemas.microsoft.com/office/drawing/2014/main" id="{5B9DBBC0-428D-C875-EE01-03BBFD89ED7B}"/>
                </a:ext>
              </a:extLst>
            </p:cNvPr>
            <p:cNvSpPr/>
            <p:nvPr/>
          </p:nvSpPr>
          <p:spPr>
            <a:xfrm>
              <a:off x="2738012" y="4837318"/>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 name="Rectangle 125">
              <a:extLst>
                <a:ext uri="{FF2B5EF4-FFF2-40B4-BE49-F238E27FC236}">
                  <a16:creationId xmlns:a16="http://schemas.microsoft.com/office/drawing/2014/main" id="{5621A8CA-16E9-5E95-3629-92328BCDC65B}"/>
                </a:ext>
              </a:extLst>
            </p:cNvPr>
            <p:cNvSpPr/>
            <p:nvPr/>
          </p:nvSpPr>
          <p:spPr>
            <a:xfrm>
              <a:off x="2738012" y="4954061"/>
              <a:ext cx="1219919" cy="45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 name="Rectangle 126">
              <a:extLst>
                <a:ext uri="{FF2B5EF4-FFF2-40B4-BE49-F238E27FC236}">
                  <a16:creationId xmlns:a16="http://schemas.microsoft.com/office/drawing/2014/main" id="{F002ECBE-9921-1CF2-02AC-7E7C208E1FAB}"/>
                </a:ext>
              </a:extLst>
            </p:cNvPr>
            <p:cNvSpPr/>
            <p:nvPr/>
          </p:nvSpPr>
          <p:spPr>
            <a:xfrm>
              <a:off x="2744425" y="5374984"/>
              <a:ext cx="1389877" cy="6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 name="Rectangle 127">
              <a:extLst>
                <a:ext uri="{FF2B5EF4-FFF2-40B4-BE49-F238E27FC236}">
                  <a16:creationId xmlns:a16="http://schemas.microsoft.com/office/drawing/2014/main" id="{43225C31-B5EC-4272-0D40-3584A4EE499E}"/>
                </a:ext>
              </a:extLst>
            </p:cNvPr>
            <p:cNvSpPr/>
            <p:nvPr/>
          </p:nvSpPr>
          <p:spPr>
            <a:xfrm>
              <a:off x="2744425" y="5469715"/>
              <a:ext cx="141121" cy="45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129" name="Rectangle 128">
            <a:extLst>
              <a:ext uri="{FF2B5EF4-FFF2-40B4-BE49-F238E27FC236}">
                <a16:creationId xmlns:a16="http://schemas.microsoft.com/office/drawing/2014/main" id="{26BB456A-BEF2-1390-158F-EFAE087785A9}"/>
              </a:ext>
            </a:extLst>
          </p:cNvPr>
          <p:cNvSpPr/>
          <p:nvPr/>
        </p:nvSpPr>
        <p:spPr>
          <a:xfrm>
            <a:off x="3236910" y="541751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✍️⚙️Système de FAQ</a:t>
            </a:r>
          </a:p>
        </p:txBody>
      </p:sp>
      <p:sp>
        <p:nvSpPr>
          <p:cNvPr id="2" name="Flèche : droite 1">
            <a:extLst>
              <a:ext uri="{FF2B5EF4-FFF2-40B4-BE49-F238E27FC236}">
                <a16:creationId xmlns:a16="http://schemas.microsoft.com/office/drawing/2014/main" id="{AF1CA53C-650D-19B9-1692-324EF9A4D837}"/>
              </a:ext>
            </a:extLst>
          </p:cNvPr>
          <p:cNvSpPr/>
          <p:nvPr/>
        </p:nvSpPr>
        <p:spPr>
          <a:xfrm>
            <a:off x="863496" y="2371262"/>
            <a:ext cx="1536961" cy="1185711"/>
          </a:xfrm>
          <a:prstGeom prst="rightArrow">
            <a:avLst>
              <a:gd name="adj1" fmla="val 84712"/>
              <a:gd name="adj2"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sz="1000" b="1" dirty="0">
                <a:solidFill>
                  <a:schemeClr val="tx1"/>
                </a:solidFill>
              </a:rPr>
              <a:t>IDEATION D’ACTIONS :</a:t>
            </a:r>
          </a:p>
          <a:p>
            <a:r>
              <a:rPr lang="fr-FR" sz="1000" dirty="0">
                <a:solidFill>
                  <a:schemeClr val="tx1"/>
                </a:solidFill>
              </a:rPr>
              <a:t>Clarifier la valeur et imaginer des actions</a:t>
            </a:r>
          </a:p>
        </p:txBody>
      </p:sp>
      <p:graphicFrame>
        <p:nvGraphicFramePr>
          <p:cNvPr id="6" name="Tableau 4">
            <a:extLst>
              <a:ext uri="{FF2B5EF4-FFF2-40B4-BE49-F238E27FC236}">
                <a16:creationId xmlns:a16="http://schemas.microsoft.com/office/drawing/2014/main" id="{FADB1FDB-B20C-EF79-537A-018DE715961B}"/>
              </a:ext>
            </a:extLst>
          </p:cNvPr>
          <p:cNvGraphicFramePr>
            <a:graphicFrameLocks noGrp="1"/>
          </p:cNvGraphicFramePr>
          <p:nvPr>
            <p:extLst>
              <p:ext uri="{D42A27DB-BD31-4B8C-83A1-F6EECF244321}">
                <p14:modId xmlns:p14="http://schemas.microsoft.com/office/powerpoint/2010/main" val="1815719311"/>
              </p:ext>
            </p:extLst>
          </p:nvPr>
        </p:nvGraphicFramePr>
        <p:xfrm>
          <a:off x="5252002" y="4418650"/>
          <a:ext cx="1684485" cy="507672"/>
        </p:xfrm>
        <a:graphic>
          <a:graphicData uri="http://schemas.openxmlformats.org/drawingml/2006/table">
            <a:tbl>
              <a:tblPr>
                <a:tableStyleId>{5C22544A-7EE6-4342-B048-85BDC9FD1C3A}</a:tableStyleId>
              </a:tblPr>
              <a:tblGrid>
                <a:gridCol w="561495">
                  <a:extLst>
                    <a:ext uri="{9D8B030D-6E8A-4147-A177-3AD203B41FA5}">
                      <a16:colId xmlns:a16="http://schemas.microsoft.com/office/drawing/2014/main" val="1036471690"/>
                    </a:ext>
                  </a:extLst>
                </a:gridCol>
                <a:gridCol w="561495">
                  <a:extLst>
                    <a:ext uri="{9D8B030D-6E8A-4147-A177-3AD203B41FA5}">
                      <a16:colId xmlns:a16="http://schemas.microsoft.com/office/drawing/2014/main" val="335043735"/>
                    </a:ext>
                  </a:extLst>
                </a:gridCol>
                <a:gridCol w="561495">
                  <a:extLst>
                    <a:ext uri="{9D8B030D-6E8A-4147-A177-3AD203B41FA5}">
                      <a16:colId xmlns:a16="http://schemas.microsoft.com/office/drawing/2014/main" val="2316145449"/>
                    </a:ext>
                  </a:extLst>
                </a:gridCol>
              </a:tblGrid>
              <a:tr h="169846">
                <a:tc gridSpan="3">
                  <a:txBody>
                    <a:bodyPr/>
                    <a:lstStyle/>
                    <a:p>
                      <a:pPr algn="ctr"/>
                      <a:endParaRPr lang="fr-FR" sz="200" i="1" dirty="0"/>
                    </a:p>
                    <a:p>
                      <a:pPr algn="ctr"/>
                      <a:endParaRPr lang="fr-FR" sz="200" i="1" dirty="0"/>
                    </a:p>
                  </a:txBody>
                  <a:tcPr marL="138862" marR="138862" marT="69431" marB="69431">
                    <a:solidFill>
                      <a:schemeClr val="bg1"/>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275226672"/>
                  </a:ext>
                </a:extLst>
              </a:tr>
              <a:tr h="153925">
                <a:tc>
                  <a:txBody>
                    <a:bodyPr/>
                    <a:lstStyle/>
                    <a:p>
                      <a:pPr marL="0" indent="0">
                        <a:buNone/>
                      </a:pPr>
                      <a:endParaRPr lang="fr-FR" sz="200" b="1" i="1" dirty="0"/>
                    </a:p>
                  </a:txBody>
                  <a:tcPr marL="14404" marR="14404" marT="7203" marB="7203">
                    <a:solidFill>
                      <a:schemeClr val="bg1">
                        <a:lumMod val="85000"/>
                      </a:schemeClr>
                    </a:solidFill>
                  </a:tcPr>
                </a:tc>
                <a:tc>
                  <a:txBody>
                    <a:bodyPr/>
                    <a:lstStyle/>
                    <a:p>
                      <a:endParaRPr lang="fr-FR" sz="200" i="1" dirty="0"/>
                    </a:p>
                  </a:txBody>
                  <a:tcPr marL="14404" marR="14404" marT="7203" marB="7203">
                    <a:solidFill>
                      <a:schemeClr val="accent1">
                        <a:lumMod val="40000"/>
                        <a:lumOff val="60000"/>
                      </a:schemeClr>
                    </a:solidFill>
                  </a:tcPr>
                </a:tc>
                <a:tc>
                  <a:txBody>
                    <a:bodyPr/>
                    <a:lstStyle/>
                    <a:p>
                      <a:endParaRPr lang="fr-FR" sz="200" i="1" dirty="0"/>
                    </a:p>
                  </a:txBody>
                  <a:tcPr marL="14404" marR="14404" marT="7203" marB="7203">
                    <a:solidFill>
                      <a:schemeClr val="accent2">
                        <a:lumMod val="40000"/>
                        <a:lumOff val="60000"/>
                      </a:schemeClr>
                    </a:solidFill>
                  </a:tcPr>
                </a:tc>
                <a:extLst>
                  <a:ext uri="{0D108BD9-81ED-4DB2-BD59-A6C34878D82A}">
                    <a16:rowId xmlns:a16="http://schemas.microsoft.com/office/drawing/2014/main" val="1833810210"/>
                  </a:ext>
                </a:extLst>
              </a:tr>
              <a:tr h="153925">
                <a:tc>
                  <a:txBody>
                    <a:bodyPr/>
                    <a:lstStyle/>
                    <a:p>
                      <a:endParaRPr lang="fr-FR" sz="200" i="1" dirty="0"/>
                    </a:p>
                  </a:txBody>
                  <a:tcPr marL="14404" marR="14404" marT="7203" marB="7203">
                    <a:solidFill>
                      <a:schemeClr val="bg1">
                        <a:lumMod val="85000"/>
                      </a:schemeClr>
                    </a:solidFill>
                  </a:tcPr>
                </a:tc>
                <a:tc>
                  <a:txBody>
                    <a:bodyPr/>
                    <a:lstStyle/>
                    <a:p>
                      <a:endParaRPr lang="fr-FR" sz="200" i="1" dirty="0"/>
                    </a:p>
                  </a:txBody>
                  <a:tcPr marL="14404" marR="14404" marT="7203" marB="7203">
                    <a:solidFill>
                      <a:schemeClr val="accent1">
                        <a:lumMod val="40000"/>
                        <a:lumOff val="60000"/>
                      </a:schemeClr>
                    </a:solidFill>
                  </a:tcPr>
                </a:tc>
                <a:tc>
                  <a:txBody>
                    <a:bodyPr/>
                    <a:lstStyle/>
                    <a:p>
                      <a:endParaRPr lang="fr-FR" sz="200" i="1" dirty="0"/>
                    </a:p>
                  </a:txBody>
                  <a:tcPr marL="14404" marR="14404" marT="7203" marB="7203">
                    <a:solidFill>
                      <a:schemeClr val="accent2">
                        <a:lumMod val="40000"/>
                        <a:lumOff val="60000"/>
                      </a:schemeClr>
                    </a:solidFill>
                  </a:tcPr>
                </a:tc>
                <a:extLst>
                  <a:ext uri="{0D108BD9-81ED-4DB2-BD59-A6C34878D82A}">
                    <a16:rowId xmlns:a16="http://schemas.microsoft.com/office/drawing/2014/main" val="4266428415"/>
                  </a:ext>
                </a:extLst>
              </a:tr>
            </a:tbl>
          </a:graphicData>
        </a:graphic>
      </p:graphicFrame>
      <p:grpSp>
        <p:nvGrpSpPr>
          <p:cNvPr id="7" name="Groupe 6">
            <a:extLst>
              <a:ext uri="{FF2B5EF4-FFF2-40B4-BE49-F238E27FC236}">
                <a16:creationId xmlns:a16="http://schemas.microsoft.com/office/drawing/2014/main" id="{598E819C-1610-4BF6-08BA-F137AFF58D0E}"/>
              </a:ext>
            </a:extLst>
          </p:cNvPr>
          <p:cNvGrpSpPr/>
          <p:nvPr/>
        </p:nvGrpSpPr>
        <p:grpSpPr>
          <a:xfrm>
            <a:off x="5096147" y="4267979"/>
            <a:ext cx="1984703" cy="881866"/>
            <a:chOff x="417601" y="4116387"/>
            <a:chExt cx="12050372" cy="5354358"/>
          </a:xfrm>
        </p:grpSpPr>
        <p:sp>
          <p:nvSpPr>
            <p:cNvPr id="8" name="Parchemin : horizontal 7">
              <a:extLst>
                <a:ext uri="{FF2B5EF4-FFF2-40B4-BE49-F238E27FC236}">
                  <a16:creationId xmlns:a16="http://schemas.microsoft.com/office/drawing/2014/main" id="{5B342118-16F2-CF34-FD8F-0A5C2F63E858}"/>
                </a:ext>
              </a:extLst>
            </p:cNvPr>
            <p:cNvSpPr/>
            <p:nvPr/>
          </p:nvSpPr>
          <p:spPr>
            <a:xfrm rot="5400000">
              <a:off x="3765608" y="768380"/>
              <a:ext cx="5354358" cy="12050372"/>
            </a:xfrm>
            <a:prstGeom prst="horizontalScroll">
              <a:avLst/>
            </a:prstGeom>
            <a:noFill/>
            <a:ln w="127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t"/>
            <a:lstStyle/>
            <a:p>
              <a:pPr algn="ctr"/>
              <a:endParaRPr lang="fr-FR" sz="1200" dirty="0">
                <a:solidFill>
                  <a:schemeClr val="tx1"/>
                </a:solidFill>
              </a:endParaRPr>
            </a:p>
          </p:txBody>
        </p:sp>
        <p:pic>
          <p:nvPicPr>
            <p:cNvPr id="9" name="Graphique 8" descr="Bâtiment avec un remplissage uni">
              <a:extLst>
                <a:ext uri="{FF2B5EF4-FFF2-40B4-BE49-F238E27FC236}">
                  <a16:creationId xmlns:a16="http://schemas.microsoft.com/office/drawing/2014/main" id="{E69470D6-E848-72EA-5989-493EDB42ECC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422075" y="8674586"/>
              <a:ext cx="556284" cy="556284"/>
            </a:xfrm>
            <a:prstGeom prst="rect">
              <a:avLst/>
            </a:prstGeom>
          </p:spPr>
        </p:pic>
        <p:grpSp>
          <p:nvGrpSpPr>
            <p:cNvPr id="10" name="Groupe 9">
              <a:extLst>
                <a:ext uri="{FF2B5EF4-FFF2-40B4-BE49-F238E27FC236}">
                  <a16:creationId xmlns:a16="http://schemas.microsoft.com/office/drawing/2014/main" id="{4A9B64E1-D92F-B15B-6875-BD7F6C1A07B6}"/>
                </a:ext>
              </a:extLst>
            </p:cNvPr>
            <p:cNvGrpSpPr/>
            <p:nvPr/>
          </p:nvGrpSpPr>
          <p:grpSpPr>
            <a:xfrm>
              <a:off x="8334381" y="8641546"/>
              <a:ext cx="701977" cy="570004"/>
              <a:chOff x="8982504" y="3274976"/>
              <a:chExt cx="1230670" cy="1037553"/>
            </a:xfrm>
            <a:solidFill>
              <a:srgbClr val="ED7D31"/>
            </a:solidFill>
          </p:grpSpPr>
          <p:pic>
            <p:nvPicPr>
              <p:cNvPr id="484" name="Graphique 483" descr="Utilisateur avec un remplissage uni">
                <a:extLst>
                  <a:ext uri="{FF2B5EF4-FFF2-40B4-BE49-F238E27FC236}">
                    <a16:creationId xmlns:a16="http://schemas.microsoft.com/office/drawing/2014/main" id="{DD627D64-585B-2020-6DBD-9151FF12E3C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485" name="Graphique 484" descr="Utilisateur avec un remplissage uni">
                <a:extLst>
                  <a:ext uri="{FF2B5EF4-FFF2-40B4-BE49-F238E27FC236}">
                    <a16:creationId xmlns:a16="http://schemas.microsoft.com/office/drawing/2014/main" id="{B103BEB4-EDAD-5072-F7A5-208D1FC5587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486" name="Graphique 485" descr="Utilisateur avec un remplissage uni">
                <a:extLst>
                  <a:ext uri="{FF2B5EF4-FFF2-40B4-BE49-F238E27FC236}">
                    <a16:creationId xmlns:a16="http://schemas.microsoft.com/office/drawing/2014/main" id="{C4880ADE-A9C9-91D3-75E6-44DDD8FFCE7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487" name="Graphique 486" descr="Utilisateur avec un remplissage uni">
                <a:extLst>
                  <a:ext uri="{FF2B5EF4-FFF2-40B4-BE49-F238E27FC236}">
                    <a16:creationId xmlns:a16="http://schemas.microsoft.com/office/drawing/2014/main" id="{78835276-97D6-25B6-DF84-297A931BEE8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488" name="Graphique 487" descr="Utilisateur avec un remplissage uni">
                <a:extLst>
                  <a:ext uri="{FF2B5EF4-FFF2-40B4-BE49-F238E27FC236}">
                    <a16:creationId xmlns:a16="http://schemas.microsoft.com/office/drawing/2014/main" id="{45DC9BDA-8A57-7A15-2B64-548B274914A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489" name="Graphique 488" descr="Utilisateur avec un remplissage uni">
                <a:extLst>
                  <a:ext uri="{FF2B5EF4-FFF2-40B4-BE49-F238E27FC236}">
                    <a16:creationId xmlns:a16="http://schemas.microsoft.com/office/drawing/2014/main" id="{3B62AD39-02AF-2853-3CF2-145725CF1F4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490" name="Graphique 489" descr="Utilisateur avec un remplissage uni">
                <a:extLst>
                  <a:ext uri="{FF2B5EF4-FFF2-40B4-BE49-F238E27FC236}">
                    <a16:creationId xmlns:a16="http://schemas.microsoft.com/office/drawing/2014/main" id="{DD4F5C95-5D71-432E-69AB-AD3C63C0301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491" name="Graphique 490" descr="Utilisateur avec un remplissage uni">
                <a:extLst>
                  <a:ext uri="{FF2B5EF4-FFF2-40B4-BE49-F238E27FC236}">
                    <a16:creationId xmlns:a16="http://schemas.microsoft.com/office/drawing/2014/main" id="{CB7AA205-91BF-9231-E12F-468EE6A82FD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492" name="Graphique 491" descr="Utilisateur avec un remplissage uni">
                <a:extLst>
                  <a:ext uri="{FF2B5EF4-FFF2-40B4-BE49-F238E27FC236}">
                    <a16:creationId xmlns:a16="http://schemas.microsoft.com/office/drawing/2014/main" id="{5BDD6F4E-6A56-EA50-95A8-905B4E7D5F3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493" name="Graphique 492" descr="Utilisateur avec un remplissage uni">
                <a:extLst>
                  <a:ext uri="{FF2B5EF4-FFF2-40B4-BE49-F238E27FC236}">
                    <a16:creationId xmlns:a16="http://schemas.microsoft.com/office/drawing/2014/main" id="{B76AD8E3-582A-88A1-DF2C-A6E5924A45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494" name="Graphique 493" descr="Utilisateur avec un remplissage uni">
                <a:extLst>
                  <a:ext uri="{FF2B5EF4-FFF2-40B4-BE49-F238E27FC236}">
                    <a16:creationId xmlns:a16="http://schemas.microsoft.com/office/drawing/2014/main" id="{71D9DB74-52D1-561C-3546-76D6E2FFDA1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pic>
          <p:nvPicPr>
            <p:cNvPr id="20" name="Graphique 19" descr="Employée de bureau avec un remplissage uni">
              <a:extLst>
                <a:ext uri="{FF2B5EF4-FFF2-40B4-BE49-F238E27FC236}">
                  <a16:creationId xmlns:a16="http://schemas.microsoft.com/office/drawing/2014/main" id="{7C081B57-3F23-5AE0-7BFA-14FAC2ACFB86}"/>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4735311" y="8619961"/>
              <a:ext cx="647875" cy="647875"/>
            </a:xfrm>
            <a:prstGeom prst="rect">
              <a:avLst/>
            </a:prstGeom>
          </p:spPr>
        </p:pic>
        <p:sp>
          <p:nvSpPr>
            <p:cNvPr id="448" name="Rectangle 447">
              <a:extLst>
                <a:ext uri="{FF2B5EF4-FFF2-40B4-BE49-F238E27FC236}">
                  <a16:creationId xmlns:a16="http://schemas.microsoft.com/office/drawing/2014/main" id="{2169ABEB-C55A-E765-DD58-0AC4DBDDCEF9}"/>
                </a:ext>
              </a:extLst>
            </p:cNvPr>
            <p:cNvSpPr/>
            <p:nvPr/>
          </p:nvSpPr>
          <p:spPr>
            <a:xfrm>
              <a:off x="1206060" y="6793566"/>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sp>
          <p:nvSpPr>
            <p:cNvPr id="450" name="Rectangle 449">
              <a:extLst>
                <a:ext uri="{FF2B5EF4-FFF2-40B4-BE49-F238E27FC236}">
                  <a16:creationId xmlns:a16="http://schemas.microsoft.com/office/drawing/2014/main" id="{49D486AF-9BF7-DFF7-A2A3-030D20781546}"/>
                </a:ext>
              </a:extLst>
            </p:cNvPr>
            <p:cNvSpPr/>
            <p:nvPr/>
          </p:nvSpPr>
          <p:spPr>
            <a:xfrm>
              <a:off x="4795397" y="6793566"/>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sp>
          <p:nvSpPr>
            <p:cNvPr id="458" name="Rectangle 457">
              <a:extLst>
                <a:ext uri="{FF2B5EF4-FFF2-40B4-BE49-F238E27FC236}">
                  <a16:creationId xmlns:a16="http://schemas.microsoft.com/office/drawing/2014/main" id="{08FB4DD4-640C-92A4-0CB4-5025CA352431}"/>
                </a:ext>
              </a:extLst>
            </p:cNvPr>
            <p:cNvSpPr/>
            <p:nvPr/>
          </p:nvSpPr>
          <p:spPr>
            <a:xfrm>
              <a:off x="4795397" y="7766980"/>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sp>
          <p:nvSpPr>
            <p:cNvPr id="459" name="Rectangle 458">
              <a:extLst>
                <a:ext uri="{FF2B5EF4-FFF2-40B4-BE49-F238E27FC236}">
                  <a16:creationId xmlns:a16="http://schemas.microsoft.com/office/drawing/2014/main" id="{8EEE615D-972F-E279-5F24-07606C760E3E}"/>
                </a:ext>
              </a:extLst>
            </p:cNvPr>
            <p:cNvSpPr/>
            <p:nvPr/>
          </p:nvSpPr>
          <p:spPr>
            <a:xfrm>
              <a:off x="1206060" y="7752840"/>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ctr">
                <a:buFontTx/>
                <a:buChar char="-"/>
              </a:pPr>
              <a:endParaRPr lang="fr-FR" sz="1200" dirty="0"/>
            </a:p>
          </p:txBody>
        </p:sp>
        <p:sp>
          <p:nvSpPr>
            <p:cNvPr id="462" name="Rectangle 461">
              <a:extLst>
                <a:ext uri="{FF2B5EF4-FFF2-40B4-BE49-F238E27FC236}">
                  <a16:creationId xmlns:a16="http://schemas.microsoft.com/office/drawing/2014/main" id="{E51D8653-D489-3A88-C1D1-5248A4A32EC0}"/>
                </a:ext>
              </a:extLst>
            </p:cNvPr>
            <p:cNvSpPr/>
            <p:nvPr/>
          </p:nvSpPr>
          <p:spPr>
            <a:xfrm>
              <a:off x="8334381" y="7769772"/>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ctr">
                <a:buFontTx/>
                <a:buChar char="-"/>
              </a:pPr>
              <a:endParaRPr lang="fr-FR" sz="1200" dirty="0"/>
            </a:p>
          </p:txBody>
        </p:sp>
        <p:sp>
          <p:nvSpPr>
            <p:cNvPr id="463" name="Rectangle 462">
              <a:extLst>
                <a:ext uri="{FF2B5EF4-FFF2-40B4-BE49-F238E27FC236}">
                  <a16:creationId xmlns:a16="http://schemas.microsoft.com/office/drawing/2014/main" id="{FE93488C-CC63-9A02-E28B-B5E7FB52F295}"/>
                </a:ext>
              </a:extLst>
            </p:cNvPr>
            <p:cNvSpPr/>
            <p:nvPr/>
          </p:nvSpPr>
          <p:spPr>
            <a:xfrm>
              <a:off x="8334381" y="6795160"/>
              <a:ext cx="3362324"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lgn="ctr">
                <a:buFontTx/>
                <a:buChar char="-"/>
              </a:pPr>
              <a:endParaRPr lang="fr-FR" sz="1200" dirty="0"/>
            </a:p>
          </p:txBody>
        </p:sp>
        <p:pic>
          <p:nvPicPr>
            <p:cNvPr id="464" name="Graphique 463" descr="Badge coche avec un remplissage uni">
              <a:extLst>
                <a:ext uri="{FF2B5EF4-FFF2-40B4-BE49-F238E27FC236}">
                  <a16:creationId xmlns:a16="http://schemas.microsoft.com/office/drawing/2014/main" id="{D1BDAF48-293E-8087-38F2-6C503A32509B}"/>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2446944" y="8526588"/>
              <a:ext cx="914400" cy="914400"/>
            </a:xfrm>
            <a:prstGeom prst="rect">
              <a:avLst/>
            </a:prstGeom>
          </p:spPr>
        </p:pic>
        <p:pic>
          <p:nvPicPr>
            <p:cNvPr id="469" name="Graphique 468" descr="Signature avec un remplissage uni">
              <a:extLst>
                <a:ext uri="{FF2B5EF4-FFF2-40B4-BE49-F238E27FC236}">
                  <a16:creationId xmlns:a16="http://schemas.microsoft.com/office/drawing/2014/main" id="{97E458FB-648C-944E-902F-EC976FDF5D52}"/>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5923953" y="8551382"/>
              <a:ext cx="914400" cy="914400"/>
            </a:xfrm>
            <a:prstGeom prst="rect">
              <a:avLst/>
            </a:prstGeom>
          </p:spPr>
        </p:pic>
        <p:pic>
          <p:nvPicPr>
            <p:cNvPr id="482" name="Graphique 481" descr="Signature avec un remplissage uni">
              <a:extLst>
                <a:ext uri="{FF2B5EF4-FFF2-40B4-BE49-F238E27FC236}">
                  <a16:creationId xmlns:a16="http://schemas.microsoft.com/office/drawing/2014/main" id="{2110B94B-3547-C7B1-F87A-AB2026EF8921}"/>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9756595" y="8526588"/>
              <a:ext cx="914400" cy="914400"/>
            </a:xfrm>
            <a:prstGeom prst="rect">
              <a:avLst/>
            </a:prstGeom>
          </p:spPr>
        </p:pic>
        <p:sp>
          <p:nvSpPr>
            <p:cNvPr id="483" name="Rectangle 482">
              <a:extLst>
                <a:ext uri="{FF2B5EF4-FFF2-40B4-BE49-F238E27FC236}">
                  <a16:creationId xmlns:a16="http://schemas.microsoft.com/office/drawing/2014/main" id="{0C74A99A-20B4-645F-885D-26E6D70F659A}"/>
                </a:ext>
              </a:extLst>
            </p:cNvPr>
            <p:cNvSpPr/>
            <p:nvPr/>
          </p:nvSpPr>
          <p:spPr>
            <a:xfrm>
              <a:off x="3053909" y="5779593"/>
              <a:ext cx="6610350" cy="504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p>
          </p:txBody>
        </p:sp>
      </p:grpSp>
      <p:sp>
        <p:nvSpPr>
          <p:cNvPr id="495" name="Rectangle 494">
            <a:extLst>
              <a:ext uri="{FF2B5EF4-FFF2-40B4-BE49-F238E27FC236}">
                <a16:creationId xmlns:a16="http://schemas.microsoft.com/office/drawing/2014/main" id="{D4B0DC74-B806-A35F-34E7-F3BD1AACB083}"/>
              </a:ext>
            </a:extLst>
          </p:cNvPr>
          <p:cNvSpPr/>
          <p:nvPr/>
        </p:nvSpPr>
        <p:spPr>
          <a:xfrm>
            <a:off x="5344336" y="539240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Etablir un contrat moral entre membres, sponsors et entreprises</a:t>
            </a:r>
          </a:p>
        </p:txBody>
      </p:sp>
      <p:grpSp>
        <p:nvGrpSpPr>
          <p:cNvPr id="508" name="Groupe 507">
            <a:extLst>
              <a:ext uri="{FF2B5EF4-FFF2-40B4-BE49-F238E27FC236}">
                <a16:creationId xmlns:a16="http://schemas.microsoft.com/office/drawing/2014/main" id="{4BCBF8C8-3362-26CD-F0E0-DDEFBBB90F4F}"/>
              </a:ext>
            </a:extLst>
          </p:cNvPr>
          <p:cNvGrpSpPr/>
          <p:nvPr/>
        </p:nvGrpSpPr>
        <p:grpSpPr>
          <a:xfrm>
            <a:off x="1017451" y="4109595"/>
            <a:ext cx="1633791" cy="1217227"/>
            <a:chOff x="2772744" y="996316"/>
            <a:chExt cx="7042724" cy="5247057"/>
          </a:xfrm>
        </p:grpSpPr>
        <p:pic>
          <p:nvPicPr>
            <p:cNvPr id="509" name="Graphique 508" descr="Bâtiment avec un remplissage uni">
              <a:extLst>
                <a:ext uri="{FF2B5EF4-FFF2-40B4-BE49-F238E27FC236}">
                  <a16:creationId xmlns:a16="http://schemas.microsoft.com/office/drawing/2014/main" id="{D54AE8C1-1528-3D7A-751F-6A9E852C0F4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807468" y="1032969"/>
              <a:ext cx="1008000" cy="1008000"/>
            </a:xfrm>
            <a:prstGeom prst="rect">
              <a:avLst/>
            </a:prstGeom>
          </p:spPr>
        </p:pic>
        <p:pic>
          <p:nvPicPr>
            <p:cNvPr id="510" name="Graphique 509" descr="Bâtiment avec un remplissage uni">
              <a:extLst>
                <a:ext uri="{FF2B5EF4-FFF2-40B4-BE49-F238E27FC236}">
                  <a16:creationId xmlns:a16="http://schemas.microsoft.com/office/drawing/2014/main" id="{EA70C17D-E327-A926-8786-D11B934D2A8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932788" y="996316"/>
              <a:ext cx="1008000" cy="1008000"/>
            </a:xfrm>
            <a:prstGeom prst="rect">
              <a:avLst/>
            </a:prstGeom>
          </p:spPr>
        </p:pic>
        <p:grpSp>
          <p:nvGrpSpPr>
            <p:cNvPr id="511" name="Groupe 510">
              <a:extLst>
                <a:ext uri="{FF2B5EF4-FFF2-40B4-BE49-F238E27FC236}">
                  <a16:creationId xmlns:a16="http://schemas.microsoft.com/office/drawing/2014/main" id="{E1C2442D-D80C-59CE-DAE8-8600F3B7BFA7}"/>
                </a:ext>
              </a:extLst>
            </p:cNvPr>
            <p:cNvGrpSpPr/>
            <p:nvPr/>
          </p:nvGrpSpPr>
          <p:grpSpPr>
            <a:xfrm>
              <a:off x="2772744" y="5396168"/>
              <a:ext cx="1004893" cy="847205"/>
              <a:chOff x="8982504" y="3274976"/>
              <a:chExt cx="1230670" cy="1037553"/>
            </a:xfrm>
            <a:solidFill>
              <a:srgbClr val="ED7D31"/>
            </a:solidFill>
          </p:grpSpPr>
          <p:pic>
            <p:nvPicPr>
              <p:cNvPr id="170" name="Graphique 169" descr="Utilisateur avec un remplissage uni">
                <a:extLst>
                  <a:ext uri="{FF2B5EF4-FFF2-40B4-BE49-F238E27FC236}">
                    <a16:creationId xmlns:a16="http://schemas.microsoft.com/office/drawing/2014/main" id="{B2F33EEC-8AB4-3F13-CE6C-8E4985B50E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171" name="Graphique 170" descr="Utilisateur avec un remplissage uni">
                <a:extLst>
                  <a:ext uri="{FF2B5EF4-FFF2-40B4-BE49-F238E27FC236}">
                    <a16:creationId xmlns:a16="http://schemas.microsoft.com/office/drawing/2014/main" id="{B038B18D-C35D-0363-F084-421A07A54F2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221" name="Graphique 220" descr="Utilisateur avec un remplissage uni">
                <a:extLst>
                  <a:ext uri="{FF2B5EF4-FFF2-40B4-BE49-F238E27FC236}">
                    <a16:creationId xmlns:a16="http://schemas.microsoft.com/office/drawing/2014/main" id="{E2DE2E6A-CFFC-D191-C47C-F72A840051C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222" name="Graphique 221" descr="Utilisateur avec un remplissage uni">
                <a:extLst>
                  <a:ext uri="{FF2B5EF4-FFF2-40B4-BE49-F238E27FC236}">
                    <a16:creationId xmlns:a16="http://schemas.microsoft.com/office/drawing/2014/main" id="{D9CD560E-EACE-615A-6DCB-9EF0919D5B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223" name="Graphique 222" descr="Utilisateur avec un remplissage uni">
                <a:extLst>
                  <a:ext uri="{FF2B5EF4-FFF2-40B4-BE49-F238E27FC236}">
                    <a16:creationId xmlns:a16="http://schemas.microsoft.com/office/drawing/2014/main" id="{DA9BDDE7-43E3-CC24-994C-7296B71FC8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224" name="Graphique 223" descr="Utilisateur avec un remplissage uni">
                <a:extLst>
                  <a:ext uri="{FF2B5EF4-FFF2-40B4-BE49-F238E27FC236}">
                    <a16:creationId xmlns:a16="http://schemas.microsoft.com/office/drawing/2014/main" id="{CBFA34F1-9421-5E84-61AC-F9176C8133C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225" name="Graphique 224" descr="Utilisateur avec un remplissage uni">
                <a:extLst>
                  <a:ext uri="{FF2B5EF4-FFF2-40B4-BE49-F238E27FC236}">
                    <a16:creationId xmlns:a16="http://schemas.microsoft.com/office/drawing/2014/main" id="{9DB368E3-1468-4246-C012-7B6205AB08C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226" name="Graphique 225" descr="Utilisateur avec un remplissage uni">
                <a:extLst>
                  <a:ext uri="{FF2B5EF4-FFF2-40B4-BE49-F238E27FC236}">
                    <a16:creationId xmlns:a16="http://schemas.microsoft.com/office/drawing/2014/main" id="{753FF5A9-1C7C-CFB5-48F6-BB344F0D12B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227" name="Graphique 226" descr="Utilisateur avec un remplissage uni">
                <a:extLst>
                  <a:ext uri="{FF2B5EF4-FFF2-40B4-BE49-F238E27FC236}">
                    <a16:creationId xmlns:a16="http://schemas.microsoft.com/office/drawing/2014/main" id="{51DE8FC1-EE59-6396-5D18-F1B3587024A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228" name="Graphique 227" descr="Utilisateur avec un remplissage uni">
                <a:extLst>
                  <a:ext uri="{FF2B5EF4-FFF2-40B4-BE49-F238E27FC236}">
                    <a16:creationId xmlns:a16="http://schemas.microsoft.com/office/drawing/2014/main" id="{E732E386-3F70-259A-10ED-62FB712DED8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229" name="Graphique 228" descr="Utilisateur avec un remplissage uni">
                <a:extLst>
                  <a:ext uri="{FF2B5EF4-FFF2-40B4-BE49-F238E27FC236}">
                    <a16:creationId xmlns:a16="http://schemas.microsoft.com/office/drawing/2014/main" id="{0780DF5D-0AD5-8B2A-9213-751CFF5346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grpSp>
          <p:nvGrpSpPr>
            <p:cNvPr id="140" name="Groupe 139">
              <a:extLst>
                <a:ext uri="{FF2B5EF4-FFF2-40B4-BE49-F238E27FC236}">
                  <a16:creationId xmlns:a16="http://schemas.microsoft.com/office/drawing/2014/main" id="{FD6A98E8-506C-8C27-34E5-2720C8B1AB57}"/>
                </a:ext>
              </a:extLst>
            </p:cNvPr>
            <p:cNvGrpSpPr/>
            <p:nvPr/>
          </p:nvGrpSpPr>
          <p:grpSpPr>
            <a:xfrm>
              <a:off x="8690678" y="5389231"/>
              <a:ext cx="1004893" cy="847205"/>
              <a:chOff x="8982504" y="3274976"/>
              <a:chExt cx="1230670" cy="1037553"/>
            </a:xfrm>
            <a:solidFill>
              <a:srgbClr val="ED7D31"/>
            </a:solidFill>
          </p:grpSpPr>
          <p:pic>
            <p:nvPicPr>
              <p:cNvPr id="159" name="Graphique 158" descr="Utilisateur avec un remplissage uni">
                <a:extLst>
                  <a:ext uri="{FF2B5EF4-FFF2-40B4-BE49-F238E27FC236}">
                    <a16:creationId xmlns:a16="http://schemas.microsoft.com/office/drawing/2014/main" id="{15140D17-BB11-9CC0-EAB9-368E540BC51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160" name="Graphique 159" descr="Utilisateur avec un remplissage uni">
                <a:extLst>
                  <a:ext uri="{FF2B5EF4-FFF2-40B4-BE49-F238E27FC236}">
                    <a16:creationId xmlns:a16="http://schemas.microsoft.com/office/drawing/2014/main" id="{EC84E8C1-5F72-3FA8-6581-1FA622F1F07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161" name="Graphique 160" descr="Utilisateur avec un remplissage uni">
                <a:extLst>
                  <a:ext uri="{FF2B5EF4-FFF2-40B4-BE49-F238E27FC236}">
                    <a16:creationId xmlns:a16="http://schemas.microsoft.com/office/drawing/2014/main" id="{215AD962-356B-8FC9-2505-A7F82FD4053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162" name="Graphique 161" descr="Utilisateur avec un remplissage uni">
                <a:extLst>
                  <a:ext uri="{FF2B5EF4-FFF2-40B4-BE49-F238E27FC236}">
                    <a16:creationId xmlns:a16="http://schemas.microsoft.com/office/drawing/2014/main" id="{A78D74B3-346A-750F-1F64-372E368AD6C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163" name="Graphique 162" descr="Utilisateur avec un remplissage uni">
                <a:extLst>
                  <a:ext uri="{FF2B5EF4-FFF2-40B4-BE49-F238E27FC236}">
                    <a16:creationId xmlns:a16="http://schemas.microsoft.com/office/drawing/2014/main" id="{954FC782-7CCC-E29F-FD55-5EB50CE10F0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164" name="Graphique 163" descr="Utilisateur avec un remplissage uni">
                <a:extLst>
                  <a:ext uri="{FF2B5EF4-FFF2-40B4-BE49-F238E27FC236}">
                    <a16:creationId xmlns:a16="http://schemas.microsoft.com/office/drawing/2014/main" id="{AFA711E4-DB31-4875-BA14-A5C2B099C83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165" name="Graphique 164" descr="Utilisateur avec un remplissage uni">
                <a:extLst>
                  <a:ext uri="{FF2B5EF4-FFF2-40B4-BE49-F238E27FC236}">
                    <a16:creationId xmlns:a16="http://schemas.microsoft.com/office/drawing/2014/main" id="{8048750A-8110-3747-6301-F8977D5C327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166" name="Graphique 165" descr="Utilisateur avec un remplissage uni">
                <a:extLst>
                  <a:ext uri="{FF2B5EF4-FFF2-40B4-BE49-F238E27FC236}">
                    <a16:creationId xmlns:a16="http://schemas.microsoft.com/office/drawing/2014/main" id="{54A6DC00-2F85-ABF9-9F13-ECE58090AD2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167" name="Graphique 166" descr="Utilisateur avec un remplissage uni">
                <a:extLst>
                  <a:ext uri="{FF2B5EF4-FFF2-40B4-BE49-F238E27FC236}">
                    <a16:creationId xmlns:a16="http://schemas.microsoft.com/office/drawing/2014/main" id="{8959F5CB-A55C-51B6-A09C-D184294879F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168" name="Graphique 167" descr="Utilisateur avec un remplissage uni">
                <a:extLst>
                  <a:ext uri="{FF2B5EF4-FFF2-40B4-BE49-F238E27FC236}">
                    <a16:creationId xmlns:a16="http://schemas.microsoft.com/office/drawing/2014/main" id="{255892F8-B902-3BB1-DF8C-E58CF528EED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169" name="Graphique 168" descr="Utilisateur avec un remplissage uni">
                <a:extLst>
                  <a:ext uri="{FF2B5EF4-FFF2-40B4-BE49-F238E27FC236}">
                    <a16:creationId xmlns:a16="http://schemas.microsoft.com/office/drawing/2014/main" id="{F97F72AC-53FF-53B4-15C2-7D19CE3A417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pic>
          <p:nvPicPr>
            <p:cNvPr id="141" name="Graphique 140" descr="Employée de bureau avec un remplissage uni">
              <a:extLst>
                <a:ext uri="{FF2B5EF4-FFF2-40B4-BE49-F238E27FC236}">
                  <a16:creationId xmlns:a16="http://schemas.microsoft.com/office/drawing/2014/main" id="{6C6E9988-6B52-3689-6F90-C404A1EB43A2}"/>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2977476" y="3098223"/>
              <a:ext cx="927445" cy="927445"/>
            </a:xfrm>
            <a:prstGeom prst="rect">
              <a:avLst/>
            </a:prstGeom>
          </p:spPr>
        </p:pic>
        <p:pic>
          <p:nvPicPr>
            <p:cNvPr id="142" name="Graphique 141" descr="Employée de bureau avec un remplissage uni">
              <a:extLst>
                <a:ext uri="{FF2B5EF4-FFF2-40B4-BE49-F238E27FC236}">
                  <a16:creationId xmlns:a16="http://schemas.microsoft.com/office/drawing/2014/main" id="{F47E5C3C-B403-BFBE-575D-4C5C227477C7}"/>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6452490" y="3170219"/>
              <a:ext cx="927445" cy="927445"/>
            </a:xfrm>
            <a:prstGeom prst="rect">
              <a:avLst/>
            </a:prstGeom>
          </p:spPr>
        </p:pic>
        <p:grpSp>
          <p:nvGrpSpPr>
            <p:cNvPr id="143" name="Groupe 142">
              <a:extLst>
                <a:ext uri="{FF2B5EF4-FFF2-40B4-BE49-F238E27FC236}">
                  <a16:creationId xmlns:a16="http://schemas.microsoft.com/office/drawing/2014/main" id="{B0797C84-7B9E-1D04-F27D-A0E15431D3A2}"/>
                </a:ext>
              </a:extLst>
            </p:cNvPr>
            <p:cNvGrpSpPr/>
            <p:nvPr/>
          </p:nvGrpSpPr>
          <p:grpSpPr>
            <a:xfrm>
              <a:off x="3152817" y="1939952"/>
              <a:ext cx="582779" cy="1236552"/>
              <a:chOff x="4327736" y="1771722"/>
              <a:chExt cx="1754416" cy="1735486"/>
            </a:xfrm>
            <a:solidFill>
              <a:srgbClr val="FF9999"/>
            </a:solidFill>
          </p:grpSpPr>
          <p:sp>
            <p:nvSpPr>
              <p:cNvPr id="156" name="Flèche : haut 155">
                <a:extLst>
                  <a:ext uri="{FF2B5EF4-FFF2-40B4-BE49-F238E27FC236}">
                    <a16:creationId xmlns:a16="http://schemas.microsoft.com/office/drawing/2014/main" id="{F0AB78AA-2410-EE75-01F0-6F76E33196D6}"/>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57" name="Flèche : bas 156">
                <a:extLst>
                  <a:ext uri="{FF2B5EF4-FFF2-40B4-BE49-F238E27FC236}">
                    <a16:creationId xmlns:a16="http://schemas.microsoft.com/office/drawing/2014/main" id="{CCA4FC8D-FAA2-F73C-DC68-B64ED3A81FD2}"/>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44" name="Groupe 143">
              <a:extLst>
                <a:ext uri="{FF2B5EF4-FFF2-40B4-BE49-F238E27FC236}">
                  <a16:creationId xmlns:a16="http://schemas.microsoft.com/office/drawing/2014/main" id="{18E17230-D8F6-30E0-A22E-FD6A388CFD5C}"/>
                </a:ext>
              </a:extLst>
            </p:cNvPr>
            <p:cNvGrpSpPr/>
            <p:nvPr/>
          </p:nvGrpSpPr>
          <p:grpSpPr>
            <a:xfrm>
              <a:off x="3194699" y="3985305"/>
              <a:ext cx="582779" cy="1410862"/>
              <a:chOff x="4327736" y="1771722"/>
              <a:chExt cx="1754416" cy="1735486"/>
            </a:xfrm>
            <a:solidFill>
              <a:srgbClr val="FF9999"/>
            </a:solidFill>
          </p:grpSpPr>
          <p:sp>
            <p:nvSpPr>
              <p:cNvPr id="154" name="Flèche : haut 153">
                <a:extLst>
                  <a:ext uri="{FF2B5EF4-FFF2-40B4-BE49-F238E27FC236}">
                    <a16:creationId xmlns:a16="http://schemas.microsoft.com/office/drawing/2014/main" id="{92FA4BD8-4B68-1C80-616F-E088B53CACEB}"/>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55" name="Flèche : bas 154">
                <a:extLst>
                  <a:ext uri="{FF2B5EF4-FFF2-40B4-BE49-F238E27FC236}">
                    <a16:creationId xmlns:a16="http://schemas.microsoft.com/office/drawing/2014/main" id="{487746DE-607B-CDF1-080B-17CD4B31D131}"/>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45" name="Groupe 144">
              <a:extLst>
                <a:ext uri="{FF2B5EF4-FFF2-40B4-BE49-F238E27FC236}">
                  <a16:creationId xmlns:a16="http://schemas.microsoft.com/office/drawing/2014/main" id="{380A43E0-66ED-B823-7E01-F2A3FB5E5EDA}"/>
                </a:ext>
              </a:extLst>
            </p:cNvPr>
            <p:cNvGrpSpPr/>
            <p:nvPr/>
          </p:nvGrpSpPr>
          <p:grpSpPr>
            <a:xfrm rot="16200000">
              <a:off x="4907077" y="2329927"/>
              <a:ext cx="582779" cy="2777464"/>
              <a:chOff x="4327736" y="1771722"/>
              <a:chExt cx="1754416" cy="1735486"/>
            </a:xfrm>
            <a:solidFill>
              <a:srgbClr val="FF9999"/>
            </a:solidFill>
          </p:grpSpPr>
          <p:sp>
            <p:nvSpPr>
              <p:cNvPr id="152" name="Flèche : haut 151">
                <a:extLst>
                  <a:ext uri="{FF2B5EF4-FFF2-40B4-BE49-F238E27FC236}">
                    <a16:creationId xmlns:a16="http://schemas.microsoft.com/office/drawing/2014/main" id="{1013B0B1-6900-B7D4-C4C3-FF3AF1368A10}"/>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53" name="Flèche : bas 152">
                <a:extLst>
                  <a:ext uri="{FF2B5EF4-FFF2-40B4-BE49-F238E27FC236}">
                    <a16:creationId xmlns:a16="http://schemas.microsoft.com/office/drawing/2014/main" id="{71E44267-BE56-8109-78AB-60D6F8A70182}"/>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46" name="Groupe 145">
              <a:extLst>
                <a:ext uri="{FF2B5EF4-FFF2-40B4-BE49-F238E27FC236}">
                  <a16:creationId xmlns:a16="http://schemas.microsoft.com/office/drawing/2014/main" id="{F3D3EE65-25BE-6C89-5172-82643AB7A631}"/>
                </a:ext>
              </a:extLst>
            </p:cNvPr>
            <p:cNvGrpSpPr/>
            <p:nvPr/>
          </p:nvGrpSpPr>
          <p:grpSpPr>
            <a:xfrm rot="16200000">
              <a:off x="6024511" y="3063384"/>
              <a:ext cx="582779" cy="4983137"/>
              <a:chOff x="4327736" y="1771722"/>
              <a:chExt cx="1754416" cy="1735486"/>
            </a:xfrm>
            <a:solidFill>
              <a:srgbClr val="FF9999"/>
            </a:solidFill>
          </p:grpSpPr>
          <p:sp>
            <p:nvSpPr>
              <p:cNvPr id="150" name="Flèche : haut 149">
                <a:extLst>
                  <a:ext uri="{FF2B5EF4-FFF2-40B4-BE49-F238E27FC236}">
                    <a16:creationId xmlns:a16="http://schemas.microsoft.com/office/drawing/2014/main" id="{51362EAE-3C63-A721-827F-AB7EB50E3E96}"/>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51" name="Flèche : bas 150">
                <a:extLst>
                  <a:ext uri="{FF2B5EF4-FFF2-40B4-BE49-F238E27FC236}">
                    <a16:creationId xmlns:a16="http://schemas.microsoft.com/office/drawing/2014/main" id="{68D97AAA-8692-9BA6-F73F-A1A460625B83}"/>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nvGrpSpPr>
            <p:cNvPr id="147" name="Groupe 146">
              <a:extLst>
                <a:ext uri="{FF2B5EF4-FFF2-40B4-BE49-F238E27FC236}">
                  <a16:creationId xmlns:a16="http://schemas.microsoft.com/office/drawing/2014/main" id="{D42835AC-3372-1113-A95F-D3E388B4FF69}"/>
                </a:ext>
              </a:extLst>
            </p:cNvPr>
            <p:cNvGrpSpPr/>
            <p:nvPr/>
          </p:nvGrpSpPr>
          <p:grpSpPr>
            <a:xfrm>
              <a:off x="9006906" y="1997814"/>
              <a:ext cx="582779" cy="3371347"/>
              <a:chOff x="4327736" y="1771722"/>
              <a:chExt cx="1754416" cy="1735486"/>
            </a:xfrm>
            <a:solidFill>
              <a:srgbClr val="FF9999"/>
            </a:solidFill>
          </p:grpSpPr>
          <p:sp>
            <p:nvSpPr>
              <p:cNvPr id="148" name="Flèche : haut 147">
                <a:extLst>
                  <a:ext uri="{FF2B5EF4-FFF2-40B4-BE49-F238E27FC236}">
                    <a16:creationId xmlns:a16="http://schemas.microsoft.com/office/drawing/2014/main" id="{9606CF77-C3DC-6EC2-947F-6A6B49D99D36}"/>
                  </a:ext>
                </a:extLst>
              </p:cNvPr>
              <p:cNvSpPr/>
              <p:nvPr/>
            </p:nvSpPr>
            <p:spPr>
              <a:xfrm>
                <a:off x="4327736" y="1771722"/>
                <a:ext cx="1162043" cy="1353045"/>
              </a:xfrm>
              <a:prstGeom prst="upArrow">
                <a:avLst>
                  <a:gd name="adj1" fmla="val 50000"/>
                  <a:gd name="adj2" fmla="val 2582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sp>
            <p:nvSpPr>
              <p:cNvPr id="149" name="Flèche : bas 148">
                <a:extLst>
                  <a:ext uri="{FF2B5EF4-FFF2-40B4-BE49-F238E27FC236}">
                    <a16:creationId xmlns:a16="http://schemas.microsoft.com/office/drawing/2014/main" id="{2BE7E03C-710B-C043-B553-5EC69176E175}"/>
                  </a:ext>
                </a:extLst>
              </p:cNvPr>
              <p:cNvSpPr/>
              <p:nvPr/>
            </p:nvSpPr>
            <p:spPr>
              <a:xfrm>
                <a:off x="4920109" y="2154163"/>
                <a:ext cx="1162043" cy="1353045"/>
              </a:xfrm>
              <a:prstGeom prst="downArrow">
                <a:avLst>
                  <a:gd name="adj1" fmla="val 50000"/>
                  <a:gd name="adj2" fmla="val 2617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dirty="0"/>
              </a:p>
            </p:txBody>
          </p:sp>
        </p:grpSp>
      </p:grpSp>
      <p:sp>
        <p:nvSpPr>
          <p:cNvPr id="230" name="Rectangle 229">
            <a:extLst>
              <a:ext uri="{FF2B5EF4-FFF2-40B4-BE49-F238E27FC236}">
                <a16:creationId xmlns:a16="http://schemas.microsoft.com/office/drawing/2014/main" id="{A1B7DA5C-A747-A297-2FE8-70C389D0304A}"/>
              </a:ext>
            </a:extLst>
          </p:cNvPr>
          <p:cNvSpPr/>
          <p:nvPr/>
        </p:nvSpPr>
        <p:spPr>
          <a:xfrm>
            <a:off x="1027223" y="5382027"/>
            <a:ext cx="1706810" cy="70588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Analyse des potentiels de  tensions, blocages et pressions entre parties</a:t>
            </a:r>
          </a:p>
        </p:txBody>
      </p:sp>
      <p:sp>
        <p:nvSpPr>
          <p:cNvPr id="231" name="Flèche : droite 230">
            <a:extLst>
              <a:ext uri="{FF2B5EF4-FFF2-40B4-BE49-F238E27FC236}">
                <a16:creationId xmlns:a16="http://schemas.microsoft.com/office/drawing/2014/main" id="{6881C5A4-1612-DFE5-4D6C-7442E744F808}"/>
              </a:ext>
            </a:extLst>
          </p:cNvPr>
          <p:cNvSpPr/>
          <p:nvPr/>
        </p:nvSpPr>
        <p:spPr>
          <a:xfrm>
            <a:off x="1725219" y="2199416"/>
            <a:ext cx="1398674" cy="1521543"/>
          </a:xfrm>
          <a:prstGeom prst="rightArrow">
            <a:avLst>
              <a:gd name="adj1" fmla="val 63355"/>
              <a:gd name="adj2" fmla="val 50000"/>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36000" rtlCol="0" anchor="ctr"/>
          <a:lstStyle/>
          <a:p>
            <a:pPr algn="ctr"/>
            <a:r>
              <a:rPr lang="fr-FR" sz="1000" b="1" dirty="0">
                <a:solidFill>
                  <a:schemeClr val="tx1"/>
                </a:solidFill>
              </a:rPr>
              <a:t>PRIORISATION ET TESTS:</a:t>
            </a:r>
          </a:p>
          <a:p>
            <a:pPr algn="ctr"/>
            <a:r>
              <a:rPr lang="fr-FR" sz="1000" dirty="0">
                <a:solidFill>
                  <a:schemeClr val="tx1"/>
                </a:solidFill>
              </a:rPr>
              <a:t>Tester la valeur avec les actions priorisées</a:t>
            </a:r>
          </a:p>
        </p:txBody>
      </p:sp>
      <p:sp>
        <p:nvSpPr>
          <p:cNvPr id="232" name="Rectangle 231">
            <a:extLst>
              <a:ext uri="{FF2B5EF4-FFF2-40B4-BE49-F238E27FC236}">
                <a16:creationId xmlns:a16="http://schemas.microsoft.com/office/drawing/2014/main" id="{8BB6ED93-FDBA-48BD-977A-BBEE43DC6234}"/>
              </a:ext>
            </a:extLst>
          </p:cNvPr>
          <p:cNvSpPr/>
          <p:nvPr/>
        </p:nvSpPr>
        <p:spPr>
          <a:xfrm>
            <a:off x="10336682" y="2909389"/>
            <a:ext cx="957357"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Soutien d’au moins 1 sponsor fort</a:t>
            </a:r>
          </a:p>
        </p:txBody>
      </p:sp>
      <p:pic>
        <p:nvPicPr>
          <p:cNvPr id="233" name="Graphique 232" descr="Signe pouce en haut avec un remplissage uni">
            <a:extLst>
              <a:ext uri="{FF2B5EF4-FFF2-40B4-BE49-F238E27FC236}">
                <a16:creationId xmlns:a16="http://schemas.microsoft.com/office/drawing/2014/main" id="{B1C27CF3-9DD3-AB0C-200C-0E3D7F4797B3}"/>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10599586" y="2368392"/>
            <a:ext cx="520644" cy="520643"/>
          </a:xfrm>
          <a:prstGeom prst="rect">
            <a:avLst/>
          </a:prstGeom>
        </p:spPr>
      </p:pic>
      <p:grpSp>
        <p:nvGrpSpPr>
          <p:cNvPr id="234" name="Groupe 233">
            <a:extLst>
              <a:ext uri="{FF2B5EF4-FFF2-40B4-BE49-F238E27FC236}">
                <a16:creationId xmlns:a16="http://schemas.microsoft.com/office/drawing/2014/main" id="{ABDFE2CD-C47F-EB6D-5F2F-8B5DB2A9E42C}"/>
              </a:ext>
            </a:extLst>
          </p:cNvPr>
          <p:cNvGrpSpPr/>
          <p:nvPr/>
        </p:nvGrpSpPr>
        <p:grpSpPr>
          <a:xfrm>
            <a:off x="7622594" y="4075108"/>
            <a:ext cx="1319363" cy="1194755"/>
            <a:chOff x="4318275" y="139989"/>
            <a:chExt cx="7210322" cy="6529339"/>
          </a:xfrm>
        </p:grpSpPr>
        <p:grpSp>
          <p:nvGrpSpPr>
            <p:cNvPr id="235" name="Groupe 234">
              <a:extLst>
                <a:ext uri="{FF2B5EF4-FFF2-40B4-BE49-F238E27FC236}">
                  <a16:creationId xmlns:a16="http://schemas.microsoft.com/office/drawing/2014/main" id="{870B8878-C7CE-6065-E906-0513AF0BECA7}"/>
                </a:ext>
              </a:extLst>
            </p:cNvPr>
            <p:cNvGrpSpPr/>
            <p:nvPr/>
          </p:nvGrpSpPr>
          <p:grpSpPr>
            <a:xfrm>
              <a:off x="6835953" y="263011"/>
              <a:ext cx="1972478" cy="1390231"/>
              <a:chOff x="7771323" y="789003"/>
              <a:chExt cx="3577777" cy="2521669"/>
            </a:xfrm>
          </p:grpSpPr>
          <p:pic>
            <p:nvPicPr>
              <p:cNvPr id="275" name="Graphique 274" descr="Employée de bureau avec un remplissage uni">
                <a:extLst>
                  <a:ext uri="{FF2B5EF4-FFF2-40B4-BE49-F238E27FC236}">
                    <a16:creationId xmlns:a16="http://schemas.microsoft.com/office/drawing/2014/main" id="{7A3D4D89-4415-A2ED-D2E9-FCFC061D8486}"/>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7771323" y="789003"/>
                <a:ext cx="2521669" cy="2521669"/>
              </a:xfrm>
              <a:prstGeom prst="rect">
                <a:avLst/>
              </a:prstGeom>
            </p:spPr>
          </p:pic>
          <p:sp>
            <p:nvSpPr>
              <p:cNvPr id="276" name="Rectangle 275">
                <a:extLst>
                  <a:ext uri="{FF2B5EF4-FFF2-40B4-BE49-F238E27FC236}">
                    <a16:creationId xmlns:a16="http://schemas.microsoft.com/office/drawing/2014/main" id="{24D49DF0-FD7B-8AC5-2057-1E801194E495}"/>
                  </a:ext>
                </a:extLst>
              </p:cNvPr>
              <p:cNvSpPr/>
              <p:nvPr/>
            </p:nvSpPr>
            <p:spPr>
              <a:xfrm rot="7542486">
                <a:off x="9308974" y="2157040"/>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77" name="Graphique 276" descr="Mégaphone avec un remplissage uni">
                <a:extLst>
                  <a:ext uri="{FF2B5EF4-FFF2-40B4-BE49-F238E27FC236}">
                    <a16:creationId xmlns:a16="http://schemas.microsoft.com/office/drawing/2014/main" id="{B6218F1A-770A-C93B-7AC6-D94CBDDC9846}"/>
                  </a:ext>
                </a:extLst>
              </p:cNvPr>
              <p:cNvPicPr>
                <a:picLocks noChangeAspect="1"/>
              </p:cNvPicPr>
              <p:nvPr/>
            </p:nvPicPr>
            <p:blipFill rotWithShape="1">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rcRect t="14658"/>
              <a:stretch/>
            </p:blipFill>
            <p:spPr>
              <a:xfrm rot="2220631">
                <a:off x="9459956" y="878072"/>
                <a:ext cx="1889144" cy="1612225"/>
              </a:xfrm>
              <a:prstGeom prst="rect">
                <a:avLst/>
              </a:prstGeom>
            </p:spPr>
          </p:pic>
        </p:grpSp>
        <p:grpSp>
          <p:nvGrpSpPr>
            <p:cNvPr id="236" name="Groupe 235">
              <a:extLst>
                <a:ext uri="{FF2B5EF4-FFF2-40B4-BE49-F238E27FC236}">
                  <a16:creationId xmlns:a16="http://schemas.microsoft.com/office/drawing/2014/main" id="{000FB9E1-1D69-3706-E998-C035D7A4701B}"/>
                </a:ext>
              </a:extLst>
            </p:cNvPr>
            <p:cNvGrpSpPr/>
            <p:nvPr/>
          </p:nvGrpSpPr>
          <p:grpSpPr>
            <a:xfrm>
              <a:off x="9071405" y="144345"/>
              <a:ext cx="2292421" cy="1646987"/>
              <a:chOff x="7814209" y="3711178"/>
              <a:chExt cx="3870761" cy="2780943"/>
            </a:xfrm>
          </p:grpSpPr>
          <p:pic>
            <p:nvPicPr>
              <p:cNvPr id="272" name="Graphique 271" descr="Employée de bureau avec un remplissage uni">
                <a:extLst>
                  <a:ext uri="{FF2B5EF4-FFF2-40B4-BE49-F238E27FC236}">
                    <a16:creationId xmlns:a16="http://schemas.microsoft.com/office/drawing/2014/main" id="{19F63843-CBFA-2C93-B27D-AB9DCF4E1DCE}"/>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7814209" y="3970452"/>
                <a:ext cx="2521669" cy="2521669"/>
              </a:xfrm>
              <a:prstGeom prst="rect">
                <a:avLst/>
              </a:prstGeom>
            </p:spPr>
          </p:pic>
          <p:sp>
            <p:nvSpPr>
              <p:cNvPr id="273" name="Rectangle 272">
                <a:extLst>
                  <a:ext uri="{FF2B5EF4-FFF2-40B4-BE49-F238E27FC236}">
                    <a16:creationId xmlns:a16="http://schemas.microsoft.com/office/drawing/2014/main" id="{EBAA3198-32BE-04D1-DB10-4F45B172DE7E}"/>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74" name="Graphique 273" descr="Tirelire avec un remplissage uni">
                <a:extLst>
                  <a:ext uri="{FF2B5EF4-FFF2-40B4-BE49-F238E27FC236}">
                    <a16:creationId xmlns:a16="http://schemas.microsoft.com/office/drawing/2014/main" id="{A77CF886-75E6-C7FD-0AAE-76DE1A538220}"/>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flipH="1">
                <a:off x="9504273" y="3711178"/>
                <a:ext cx="2180697" cy="1970254"/>
              </a:xfrm>
              <a:prstGeom prst="rect">
                <a:avLst/>
              </a:prstGeom>
            </p:spPr>
          </p:pic>
        </p:grpSp>
        <p:grpSp>
          <p:nvGrpSpPr>
            <p:cNvPr id="237" name="Groupe 236">
              <a:extLst>
                <a:ext uri="{FF2B5EF4-FFF2-40B4-BE49-F238E27FC236}">
                  <a16:creationId xmlns:a16="http://schemas.microsoft.com/office/drawing/2014/main" id="{3D2030E0-8437-ACD2-8737-9FF773324E5D}"/>
                </a:ext>
              </a:extLst>
            </p:cNvPr>
            <p:cNvGrpSpPr/>
            <p:nvPr/>
          </p:nvGrpSpPr>
          <p:grpSpPr>
            <a:xfrm>
              <a:off x="4498848" y="139989"/>
              <a:ext cx="2091909" cy="1611654"/>
              <a:chOff x="1822045" y="3697163"/>
              <a:chExt cx="3786095" cy="2916894"/>
            </a:xfrm>
          </p:grpSpPr>
          <p:pic>
            <p:nvPicPr>
              <p:cNvPr id="268" name="Graphique 267" descr="Employée de bureau avec un remplissage uni">
                <a:extLst>
                  <a:ext uri="{FF2B5EF4-FFF2-40B4-BE49-F238E27FC236}">
                    <a16:creationId xmlns:a16="http://schemas.microsoft.com/office/drawing/2014/main" id="{6DD86564-BAF6-0584-526B-1A4CE1F0A71E}"/>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822045" y="4092388"/>
                <a:ext cx="2521669" cy="2521669"/>
              </a:xfrm>
              <a:prstGeom prst="rect">
                <a:avLst/>
              </a:prstGeom>
            </p:spPr>
          </p:pic>
          <p:sp>
            <p:nvSpPr>
              <p:cNvPr id="269" name="Rectangle 268">
                <a:extLst>
                  <a:ext uri="{FF2B5EF4-FFF2-40B4-BE49-F238E27FC236}">
                    <a16:creationId xmlns:a16="http://schemas.microsoft.com/office/drawing/2014/main" id="{17E867D5-A6F0-C24C-A628-26C66896C11D}"/>
                  </a:ext>
                </a:extLst>
              </p:cNvPr>
              <p:cNvSpPr/>
              <p:nvPr/>
            </p:nvSpPr>
            <p:spPr>
              <a:xfrm rot="7249682">
                <a:off x="3286580" y="5342828"/>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70" name="Graphique 269" descr="Bouclier avec un remplissage uni">
                <a:extLst>
                  <a:ext uri="{FF2B5EF4-FFF2-40B4-BE49-F238E27FC236}">
                    <a16:creationId xmlns:a16="http://schemas.microsoft.com/office/drawing/2014/main" id="{51B0CA63-2861-4A78-5299-88533B06DE80}"/>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482921" y="3697163"/>
                <a:ext cx="2125219" cy="2125219"/>
              </a:xfrm>
              <a:prstGeom prst="rect">
                <a:avLst/>
              </a:prstGeom>
            </p:spPr>
          </p:pic>
          <p:pic>
            <p:nvPicPr>
              <p:cNvPr id="271" name="Graphique 270" descr="Calendrier journalier avec un remplissage uni">
                <a:extLst>
                  <a:ext uri="{FF2B5EF4-FFF2-40B4-BE49-F238E27FC236}">
                    <a16:creationId xmlns:a16="http://schemas.microsoft.com/office/drawing/2014/main" id="{13914C87-603C-B6C0-6274-046CD8F79A60}"/>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4016050" y="4171671"/>
                <a:ext cx="1058961" cy="1058961"/>
              </a:xfrm>
              <a:prstGeom prst="rect">
                <a:avLst/>
              </a:prstGeom>
            </p:spPr>
          </p:pic>
        </p:grpSp>
        <p:grpSp>
          <p:nvGrpSpPr>
            <p:cNvPr id="238" name="Groupe 237">
              <a:extLst>
                <a:ext uri="{FF2B5EF4-FFF2-40B4-BE49-F238E27FC236}">
                  <a16:creationId xmlns:a16="http://schemas.microsoft.com/office/drawing/2014/main" id="{86525A42-0D59-974D-F816-6D760A208F1A}"/>
                </a:ext>
              </a:extLst>
            </p:cNvPr>
            <p:cNvGrpSpPr/>
            <p:nvPr/>
          </p:nvGrpSpPr>
          <p:grpSpPr>
            <a:xfrm>
              <a:off x="6679831" y="2412700"/>
              <a:ext cx="2349935" cy="1785141"/>
              <a:chOff x="7771323" y="635824"/>
              <a:chExt cx="3521133" cy="2674848"/>
            </a:xfrm>
          </p:grpSpPr>
          <p:pic>
            <p:nvPicPr>
              <p:cNvPr id="263" name="Graphique 262" descr="Employée de bureau avec un remplissage uni">
                <a:extLst>
                  <a:ext uri="{FF2B5EF4-FFF2-40B4-BE49-F238E27FC236}">
                    <a16:creationId xmlns:a16="http://schemas.microsoft.com/office/drawing/2014/main" id="{934F0176-D4BA-97F4-9971-FA337032D56B}"/>
                  </a:ext>
                </a:extLst>
              </p:cNvPr>
              <p:cNvPicPr>
                <a:picLocks noChangeAspect="1"/>
              </p:cNvPicPr>
              <p:nvPr/>
            </p:nvPicPr>
            <p:blipFill rotWithShape="1">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rcRect t="15511"/>
              <a:stretch/>
            </p:blipFill>
            <p:spPr>
              <a:xfrm>
                <a:off x="7771323" y="1180130"/>
                <a:ext cx="2521669" cy="2130542"/>
              </a:xfrm>
              <a:prstGeom prst="rect">
                <a:avLst/>
              </a:prstGeom>
            </p:spPr>
          </p:pic>
          <p:sp>
            <p:nvSpPr>
              <p:cNvPr id="264" name="Rectangle 263">
                <a:extLst>
                  <a:ext uri="{FF2B5EF4-FFF2-40B4-BE49-F238E27FC236}">
                    <a16:creationId xmlns:a16="http://schemas.microsoft.com/office/drawing/2014/main" id="{88A77204-4D1F-E206-EF11-A2175D8E241D}"/>
                  </a:ext>
                </a:extLst>
              </p:cNvPr>
              <p:cNvSpPr/>
              <p:nvPr/>
            </p:nvSpPr>
            <p:spPr>
              <a:xfrm rot="7542486">
                <a:off x="9308974" y="2157040"/>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65" name="Graphique 264" descr="Couronne avec un remplissage uni">
                <a:extLst>
                  <a:ext uri="{FF2B5EF4-FFF2-40B4-BE49-F238E27FC236}">
                    <a16:creationId xmlns:a16="http://schemas.microsoft.com/office/drawing/2014/main" id="{D7338DFC-0501-33E2-AF03-91105918C095}"/>
                  </a:ext>
                </a:extLst>
              </p:cNvPr>
              <p:cNvPicPr>
                <a:picLocks noChangeAspect="1"/>
              </p:cNvPicPr>
              <p:nvPr/>
            </p:nvPicPr>
            <p:blipFill>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tretch>
                <a:fillRect/>
              </a:stretch>
            </p:blipFill>
            <p:spPr>
              <a:xfrm flipV="1">
                <a:off x="8048907" y="961936"/>
                <a:ext cx="1921432" cy="594363"/>
              </a:xfrm>
              <a:prstGeom prst="rect">
                <a:avLst/>
              </a:prstGeom>
            </p:spPr>
          </p:pic>
          <p:pic>
            <p:nvPicPr>
              <p:cNvPr id="266" name="Graphique 265" descr="Employée de bureau avec un remplissage uni">
                <a:extLst>
                  <a:ext uri="{FF2B5EF4-FFF2-40B4-BE49-F238E27FC236}">
                    <a16:creationId xmlns:a16="http://schemas.microsoft.com/office/drawing/2014/main" id="{D8496C1B-9B51-7824-CA26-82D7194C619E}"/>
                  </a:ext>
                </a:extLst>
              </p:cNvPr>
              <p:cNvPicPr>
                <a:picLocks noChangeAspect="1"/>
              </p:cNvPicPr>
              <p:nvPr/>
            </p:nvPicPr>
            <p:blipFill rotWithShape="1">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rcRect t="-3307" b="79737"/>
              <a:stretch/>
            </p:blipFill>
            <p:spPr>
              <a:xfrm>
                <a:off x="7771323" y="717379"/>
                <a:ext cx="2521669" cy="594363"/>
              </a:xfrm>
              <a:prstGeom prst="rect">
                <a:avLst/>
              </a:prstGeom>
            </p:spPr>
          </p:pic>
          <p:pic>
            <p:nvPicPr>
              <p:cNvPr id="267" name="Graphique 266" descr="Index pointant vers la droite vu du côté du dos de la main avec un remplissage uni">
                <a:extLst>
                  <a:ext uri="{FF2B5EF4-FFF2-40B4-BE49-F238E27FC236}">
                    <a16:creationId xmlns:a16="http://schemas.microsoft.com/office/drawing/2014/main" id="{4DA06316-277C-2398-33B4-A510E6FEEA1D}"/>
                  </a:ext>
                </a:extLst>
              </p:cNvPr>
              <p:cNvPicPr>
                <a:picLocks noChangeAspect="1"/>
              </p:cNvPicPr>
              <p:nvPr/>
            </p:nvPicPr>
            <p:blipFill rotWithShape="1">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rcRect t="13336"/>
              <a:stretch/>
            </p:blipFill>
            <p:spPr>
              <a:xfrm rot="18229742">
                <a:off x="9994179" y="728577"/>
                <a:ext cx="1391029" cy="1205524"/>
              </a:xfrm>
              <a:prstGeom prst="rect">
                <a:avLst/>
              </a:prstGeom>
            </p:spPr>
          </p:pic>
        </p:grpSp>
        <p:grpSp>
          <p:nvGrpSpPr>
            <p:cNvPr id="239" name="Groupe 238">
              <a:extLst>
                <a:ext uri="{FF2B5EF4-FFF2-40B4-BE49-F238E27FC236}">
                  <a16:creationId xmlns:a16="http://schemas.microsoft.com/office/drawing/2014/main" id="{066F5BDE-594C-1711-2AE1-1AB741A1275C}"/>
                </a:ext>
              </a:extLst>
            </p:cNvPr>
            <p:cNvGrpSpPr/>
            <p:nvPr/>
          </p:nvGrpSpPr>
          <p:grpSpPr>
            <a:xfrm>
              <a:off x="4397837" y="2524542"/>
              <a:ext cx="1973039" cy="1623467"/>
              <a:chOff x="1872074" y="789004"/>
              <a:chExt cx="3064646" cy="2521669"/>
            </a:xfrm>
          </p:grpSpPr>
          <p:pic>
            <p:nvPicPr>
              <p:cNvPr id="260" name="Graphique 259" descr="Employée de bureau avec un remplissage uni">
                <a:extLst>
                  <a:ext uri="{FF2B5EF4-FFF2-40B4-BE49-F238E27FC236}">
                    <a16:creationId xmlns:a16="http://schemas.microsoft.com/office/drawing/2014/main" id="{4EAAFA13-DF63-D89C-E80C-68414E8B4F80}"/>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872074" y="789004"/>
                <a:ext cx="2521669" cy="2521669"/>
              </a:xfrm>
              <a:prstGeom prst="rect">
                <a:avLst/>
              </a:prstGeom>
            </p:spPr>
          </p:pic>
          <p:sp>
            <p:nvSpPr>
              <p:cNvPr id="261" name="Rectangle 260">
                <a:extLst>
                  <a:ext uri="{FF2B5EF4-FFF2-40B4-BE49-F238E27FC236}">
                    <a16:creationId xmlns:a16="http://schemas.microsoft.com/office/drawing/2014/main" id="{5A9D2D58-6C08-04F0-98F5-5B7CDFBB6E07}"/>
                  </a:ext>
                </a:extLst>
              </p:cNvPr>
              <p:cNvSpPr/>
              <p:nvPr/>
            </p:nvSpPr>
            <p:spPr>
              <a:xfrm rot="7249682">
                <a:off x="3346632" y="2089907"/>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62" name="Graphique 261" descr="Signe pouce en haut avec un remplissage uni">
                <a:extLst>
                  <a:ext uri="{FF2B5EF4-FFF2-40B4-BE49-F238E27FC236}">
                    <a16:creationId xmlns:a16="http://schemas.microsoft.com/office/drawing/2014/main" id="{DCE063EB-4D48-DA86-9A6B-25EB7A9DD6AE}"/>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rot="18059647">
                <a:off x="3940973" y="810751"/>
                <a:ext cx="995747" cy="995747"/>
              </a:xfrm>
              <a:prstGeom prst="rect">
                <a:avLst/>
              </a:prstGeom>
            </p:spPr>
          </p:pic>
        </p:grpSp>
        <p:grpSp>
          <p:nvGrpSpPr>
            <p:cNvPr id="240" name="Groupe 239">
              <a:extLst>
                <a:ext uri="{FF2B5EF4-FFF2-40B4-BE49-F238E27FC236}">
                  <a16:creationId xmlns:a16="http://schemas.microsoft.com/office/drawing/2014/main" id="{87C19552-C2F3-5146-D11C-A2EAC5092A9A}"/>
                </a:ext>
              </a:extLst>
            </p:cNvPr>
            <p:cNvGrpSpPr/>
            <p:nvPr/>
          </p:nvGrpSpPr>
          <p:grpSpPr>
            <a:xfrm>
              <a:off x="9038675" y="2437990"/>
              <a:ext cx="2489922" cy="1748559"/>
              <a:chOff x="1822045" y="3936873"/>
              <a:chExt cx="3812269" cy="2677184"/>
            </a:xfrm>
          </p:grpSpPr>
          <p:pic>
            <p:nvPicPr>
              <p:cNvPr id="257" name="Graphique 256" descr="Employée de bureau avec un remplissage uni">
                <a:extLst>
                  <a:ext uri="{FF2B5EF4-FFF2-40B4-BE49-F238E27FC236}">
                    <a16:creationId xmlns:a16="http://schemas.microsoft.com/office/drawing/2014/main" id="{7A344AA6-F518-6B76-195B-EE1E37FC5CEE}"/>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822045" y="4092388"/>
                <a:ext cx="2521669" cy="2521669"/>
              </a:xfrm>
              <a:prstGeom prst="rect">
                <a:avLst/>
              </a:prstGeom>
            </p:spPr>
          </p:pic>
          <p:sp>
            <p:nvSpPr>
              <p:cNvPr id="258" name="Rectangle 257">
                <a:extLst>
                  <a:ext uri="{FF2B5EF4-FFF2-40B4-BE49-F238E27FC236}">
                    <a16:creationId xmlns:a16="http://schemas.microsoft.com/office/drawing/2014/main" id="{4F04594B-3D4C-6850-B572-8059C9985CE8}"/>
                  </a:ext>
                </a:extLst>
              </p:cNvPr>
              <p:cNvSpPr/>
              <p:nvPr/>
            </p:nvSpPr>
            <p:spPr>
              <a:xfrm rot="7249682">
                <a:off x="3286580" y="5342828"/>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59" name="Graphique 258" descr="Marteau d'officiel avec un remplissage uni">
                <a:extLst>
                  <a:ext uri="{FF2B5EF4-FFF2-40B4-BE49-F238E27FC236}">
                    <a16:creationId xmlns:a16="http://schemas.microsoft.com/office/drawing/2014/main" id="{17E07B8A-9C7A-172B-E32F-B630EF27AC84}"/>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flipH="1">
                <a:off x="3943871" y="3936873"/>
                <a:ext cx="1690443" cy="1556691"/>
              </a:xfrm>
              <a:prstGeom prst="rect">
                <a:avLst/>
              </a:prstGeom>
            </p:spPr>
          </p:pic>
        </p:grpSp>
        <p:grpSp>
          <p:nvGrpSpPr>
            <p:cNvPr id="241" name="Groupe 240">
              <a:extLst>
                <a:ext uri="{FF2B5EF4-FFF2-40B4-BE49-F238E27FC236}">
                  <a16:creationId xmlns:a16="http://schemas.microsoft.com/office/drawing/2014/main" id="{5447F1C4-5A10-E411-D1D8-20BE86D05689}"/>
                </a:ext>
              </a:extLst>
            </p:cNvPr>
            <p:cNvGrpSpPr/>
            <p:nvPr/>
          </p:nvGrpSpPr>
          <p:grpSpPr>
            <a:xfrm>
              <a:off x="4418605" y="4592486"/>
              <a:ext cx="2411953" cy="1668182"/>
              <a:chOff x="7814209" y="3970452"/>
              <a:chExt cx="3645974" cy="2521669"/>
            </a:xfrm>
          </p:grpSpPr>
          <p:pic>
            <p:nvPicPr>
              <p:cNvPr id="254" name="Graphique 253" descr="Employée de bureau avec un remplissage uni">
                <a:extLst>
                  <a:ext uri="{FF2B5EF4-FFF2-40B4-BE49-F238E27FC236}">
                    <a16:creationId xmlns:a16="http://schemas.microsoft.com/office/drawing/2014/main" id="{DEA6869A-40DE-F528-16B3-5D4E8B3B1B00}"/>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7814209" y="3970452"/>
                <a:ext cx="2521669" cy="2521669"/>
              </a:xfrm>
              <a:prstGeom prst="rect">
                <a:avLst/>
              </a:prstGeom>
            </p:spPr>
          </p:pic>
          <p:sp>
            <p:nvSpPr>
              <p:cNvPr id="255" name="Rectangle 254">
                <a:extLst>
                  <a:ext uri="{FF2B5EF4-FFF2-40B4-BE49-F238E27FC236}">
                    <a16:creationId xmlns:a16="http://schemas.microsoft.com/office/drawing/2014/main" id="{94167F00-6460-AF97-9DEC-D84A5F3CD3C4}"/>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56" name="Graphique 255" descr="Menottes avec un remplissage uni">
                <a:extLst>
                  <a:ext uri="{FF2B5EF4-FFF2-40B4-BE49-F238E27FC236}">
                    <a16:creationId xmlns:a16="http://schemas.microsoft.com/office/drawing/2014/main" id="{A54B9D03-0CA6-B722-5498-59D4864D652B}"/>
                  </a:ext>
                </a:extLst>
              </p:cNvPr>
              <p:cNvPicPr>
                <a:picLocks noChangeAspect="1"/>
              </p:cNvPicPr>
              <p:nvPr/>
            </p:nvPicPr>
            <p:blipFill>
              <a:blip r:embed="rId41">
                <a:extLst>
                  <a:ext uri="{28A0092B-C50C-407E-A947-70E740481C1C}">
                    <a14:useLocalDpi xmlns:a14="http://schemas.microsoft.com/office/drawing/2010/main" val="0"/>
                  </a:ext>
                  <a:ext uri="{96DAC541-7B7A-43D3-8B79-37D633B846F1}">
                    <asvg:svgBlip xmlns:asvg="http://schemas.microsoft.com/office/drawing/2016/SVG/main" r:embed="rId42"/>
                  </a:ext>
                </a:extLst>
              </a:blip>
              <a:stretch>
                <a:fillRect/>
              </a:stretch>
            </p:blipFill>
            <p:spPr>
              <a:xfrm>
                <a:off x="9781974" y="4544150"/>
                <a:ext cx="1678209" cy="1678209"/>
              </a:xfrm>
              <a:prstGeom prst="rect">
                <a:avLst/>
              </a:prstGeom>
            </p:spPr>
          </p:pic>
        </p:grpSp>
        <p:sp>
          <p:nvSpPr>
            <p:cNvPr id="242" name="Rectangle 241">
              <a:extLst>
                <a:ext uri="{FF2B5EF4-FFF2-40B4-BE49-F238E27FC236}">
                  <a16:creationId xmlns:a16="http://schemas.microsoft.com/office/drawing/2014/main" id="{F865454A-06DB-8ABC-CF9E-FB12165AF768}"/>
                </a:ext>
              </a:extLst>
            </p:cNvPr>
            <p:cNvSpPr/>
            <p:nvPr/>
          </p:nvSpPr>
          <p:spPr>
            <a:xfrm>
              <a:off x="4318275"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243" name="Rectangle 242">
              <a:extLst>
                <a:ext uri="{FF2B5EF4-FFF2-40B4-BE49-F238E27FC236}">
                  <a16:creationId xmlns:a16="http://schemas.microsoft.com/office/drawing/2014/main" id="{0BFC72FB-C7DD-1865-881F-A5C0E307D5F7}"/>
                </a:ext>
              </a:extLst>
            </p:cNvPr>
            <p:cNvSpPr/>
            <p:nvPr/>
          </p:nvSpPr>
          <p:spPr>
            <a:xfrm>
              <a:off x="6620614"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244" name="Rectangle 243">
              <a:extLst>
                <a:ext uri="{FF2B5EF4-FFF2-40B4-BE49-F238E27FC236}">
                  <a16:creationId xmlns:a16="http://schemas.microsoft.com/office/drawing/2014/main" id="{D5AD706D-8190-E62D-579A-1EB3628C4EE9}"/>
                </a:ext>
              </a:extLst>
            </p:cNvPr>
            <p:cNvSpPr/>
            <p:nvPr/>
          </p:nvSpPr>
          <p:spPr>
            <a:xfrm>
              <a:off x="9052742" y="1398443"/>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245" name="Rectangle 244">
              <a:extLst>
                <a:ext uri="{FF2B5EF4-FFF2-40B4-BE49-F238E27FC236}">
                  <a16:creationId xmlns:a16="http://schemas.microsoft.com/office/drawing/2014/main" id="{3B7FB43D-D69D-8AA7-ED56-1B2C66A31EBB}"/>
                </a:ext>
              </a:extLst>
            </p:cNvPr>
            <p:cNvSpPr/>
            <p:nvPr/>
          </p:nvSpPr>
          <p:spPr>
            <a:xfrm>
              <a:off x="4318275"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246" name="Rectangle 245">
              <a:extLst>
                <a:ext uri="{FF2B5EF4-FFF2-40B4-BE49-F238E27FC236}">
                  <a16:creationId xmlns:a16="http://schemas.microsoft.com/office/drawing/2014/main" id="{55FC5212-C764-4E9B-0189-49E2E7EA1F00}"/>
                </a:ext>
              </a:extLst>
            </p:cNvPr>
            <p:cNvSpPr/>
            <p:nvPr/>
          </p:nvSpPr>
          <p:spPr>
            <a:xfrm>
              <a:off x="6620614"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247" name="Rectangle 246">
              <a:extLst>
                <a:ext uri="{FF2B5EF4-FFF2-40B4-BE49-F238E27FC236}">
                  <a16:creationId xmlns:a16="http://schemas.microsoft.com/office/drawing/2014/main" id="{A7BAE190-B2EA-3386-049A-D48E5AF7FD28}"/>
                </a:ext>
              </a:extLst>
            </p:cNvPr>
            <p:cNvSpPr/>
            <p:nvPr/>
          </p:nvSpPr>
          <p:spPr>
            <a:xfrm>
              <a:off x="9052742" y="3759918"/>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sp>
          <p:nvSpPr>
            <p:cNvPr id="248" name="Rectangle 247">
              <a:extLst>
                <a:ext uri="{FF2B5EF4-FFF2-40B4-BE49-F238E27FC236}">
                  <a16:creationId xmlns:a16="http://schemas.microsoft.com/office/drawing/2014/main" id="{D728BB5E-A306-995B-A194-DDF4ED95B270}"/>
                </a:ext>
              </a:extLst>
            </p:cNvPr>
            <p:cNvSpPr/>
            <p:nvPr/>
          </p:nvSpPr>
          <p:spPr>
            <a:xfrm>
              <a:off x="4318275" y="5828991"/>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grpSp>
          <p:nvGrpSpPr>
            <p:cNvPr id="249" name="Groupe 248">
              <a:extLst>
                <a:ext uri="{FF2B5EF4-FFF2-40B4-BE49-F238E27FC236}">
                  <a16:creationId xmlns:a16="http://schemas.microsoft.com/office/drawing/2014/main" id="{7B305B95-8F01-B817-D59B-793824731E82}"/>
                </a:ext>
              </a:extLst>
            </p:cNvPr>
            <p:cNvGrpSpPr/>
            <p:nvPr/>
          </p:nvGrpSpPr>
          <p:grpSpPr>
            <a:xfrm>
              <a:off x="6720945" y="4592486"/>
              <a:ext cx="1668182" cy="1668182"/>
              <a:chOff x="7814209" y="3970452"/>
              <a:chExt cx="2521669" cy="2521669"/>
            </a:xfrm>
          </p:grpSpPr>
          <p:pic>
            <p:nvPicPr>
              <p:cNvPr id="252" name="Graphique 251" descr="Employée de bureau avec un remplissage uni">
                <a:extLst>
                  <a:ext uri="{FF2B5EF4-FFF2-40B4-BE49-F238E27FC236}">
                    <a16:creationId xmlns:a16="http://schemas.microsoft.com/office/drawing/2014/main" id="{FE8B485D-1DCD-E9A4-3234-2CC4BCD51A23}"/>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7814209" y="3970452"/>
                <a:ext cx="2521669" cy="2521669"/>
              </a:xfrm>
              <a:prstGeom prst="rect">
                <a:avLst/>
              </a:prstGeom>
            </p:spPr>
          </p:pic>
          <p:sp>
            <p:nvSpPr>
              <p:cNvPr id="253" name="Rectangle 252">
                <a:extLst>
                  <a:ext uri="{FF2B5EF4-FFF2-40B4-BE49-F238E27FC236}">
                    <a16:creationId xmlns:a16="http://schemas.microsoft.com/office/drawing/2014/main" id="{7A72616D-4B1E-F617-39CF-53EACE006FCD}"/>
                  </a:ext>
                </a:extLst>
              </p:cNvPr>
              <p:cNvSpPr/>
              <p:nvPr/>
            </p:nvSpPr>
            <p:spPr>
              <a:xfrm rot="7542486">
                <a:off x="9340836" y="5264821"/>
                <a:ext cx="1259007" cy="448236"/>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50" name="Rectangle 249">
              <a:extLst>
                <a:ext uri="{FF2B5EF4-FFF2-40B4-BE49-F238E27FC236}">
                  <a16:creationId xmlns:a16="http://schemas.microsoft.com/office/drawing/2014/main" id="{8A35C9BE-7BFF-46D3-DE83-2A94FB84EB94}"/>
                </a:ext>
              </a:extLst>
            </p:cNvPr>
            <p:cNvSpPr/>
            <p:nvPr/>
          </p:nvSpPr>
          <p:spPr>
            <a:xfrm>
              <a:off x="6620614" y="5828991"/>
              <a:ext cx="1872191" cy="840337"/>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fr-FR" dirty="0">
                <a:solidFill>
                  <a:schemeClr val="tx1"/>
                </a:solidFill>
              </a:endParaRPr>
            </a:p>
          </p:txBody>
        </p:sp>
        <p:pic>
          <p:nvPicPr>
            <p:cNvPr id="251" name="Graphique 250" descr="Balance de la justice avec un remplissage uni">
              <a:extLst>
                <a:ext uri="{FF2B5EF4-FFF2-40B4-BE49-F238E27FC236}">
                  <a16:creationId xmlns:a16="http://schemas.microsoft.com/office/drawing/2014/main" id="{FEC6BE13-56CE-76E0-EED4-33DBB39B658A}"/>
                </a:ext>
              </a:extLst>
            </p:cNvPr>
            <p:cNvPicPr>
              <a:picLocks noChangeAspect="1"/>
            </p:cNvPicPr>
            <p:nvPr/>
          </p:nvPicPr>
          <p:blipFill>
            <a:blip r:embed="rId43">
              <a:extLst>
                <a:ext uri="{28A0092B-C50C-407E-A947-70E740481C1C}">
                  <a14:useLocalDpi xmlns:a14="http://schemas.microsoft.com/office/drawing/2010/main" val="0"/>
                </a:ext>
                <a:ext uri="{96DAC541-7B7A-43D3-8B79-37D633B846F1}">
                  <asvg:svgBlip xmlns:asvg="http://schemas.microsoft.com/office/drawing/2016/SVG/main" r:embed="rId44"/>
                </a:ext>
              </a:extLst>
            </a:blip>
            <a:stretch>
              <a:fillRect/>
            </a:stretch>
          </p:blipFill>
          <p:spPr>
            <a:xfrm>
              <a:off x="7931927" y="4669814"/>
              <a:ext cx="914400" cy="914400"/>
            </a:xfrm>
            <a:prstGeom prst="rect">
              <a:avLst/>
            </a:prstGeom>
          </p:spPr>
        </p:pic>
      </p:grpSp>
      <p:sp>
        <p:nvSpPr>
          <p:cNvPr id="278" name="Rectangle 277">
            <a:extLst>
              <a:ext uri="{FF2B5EF4-FFF2-40B4-BE49-F238E27FC236}">
                <a16:creationId xmlns:a16="http://schemas.microsoft.com/office/drawing/2014/main" id="{AB0326C9-F876-9335-BA7E-A8FF2725BCC9}"/>
              </a:ext>
            </a:extLst>
          </p:cNvPr>
          <p:cNvSpPr/>
          <p:nvPr/>
        </p:nvSpPr>
        <p:spPr>
          <a:xfrm>
            <a:off x="7465979" y="5367343"/>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Clarifier la gouvernance et le rôle des sponsors</a:t>
            </a:r>
          </a:p>
        </p:txBody>
      </p:sp>
      <p:sp>
        <p:nvSpPr>
          <p:cNvPr id="279" name="Rectangle 278">
            <a:extLst>
              <a:ext uri="{FF2B5EF4-FFF2-40B4-BE49-F238E27FC236}">
                <a16:creationId xmlns:a16="http://schemas.microsoft.com/office/drawing/2014/main" id="{F81A0C96-560E-2218-CD8E-5DA6A8F2D9AC}"/>
              </a:ext>
            </a:extLst>
          </p:cNvPr>
          <p:cNvSpPr/>
          <p:nvPr/>
        </p:nvSpPr>
        <p:spPr>
          <a:xfrm>
            <a:off x="9317955" y="5349403"/>
            <a:ext cx="1896596" cy="70588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schemeClr val="tx1"/>
                </a:solidFill>
              </a:rPr>
              <a:t>📅+⚙️Clarifier un cadre d’expérimentation des activités (limites, mesures, engagement, go/no go post pilote…)</a:t>
            </a:r>
          </a:p>
        </p:txBody>
      </p:sp>
      <p:sp>
        <p:nvSpPr>
          <p:cNvPr id="280" name="Flèche : droite 279">
            <a:extLst>
              <a:ext uri="{FF2B5EF4-FFF2-40B4-BE49-F238E27FC236}">
                <a16:creationId xmlns:a16="http://schemas.microsoft.com/office/drawing/2014/main" id="{8C408460-688A-E4C4-FFEB-73D6F30C7194}"/>
              </a:ext>
            </a:extLst>
          </p:cNvPr>
          <p:cNvSpPr/>
          <p:nvPr/>
        </p:nvSpPr>
        <p:spPr>
          <a:xfrm>
            <a:off x="9317493" y="4146610"/>
            <a:ext cx="1969926" cy="1118500"/>
          </a:xfrm>
          <a:prstGeom prst="rightArrow">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dirty="0">
              <a:solidFill>
                <a:schemeClr val="tx1"/>
              </a:solidFill>
            </a:endParaRPr>
          </a:p>
        </p:txBody>
      </p:sp>
      <p:sp>
        <p:nvSpPr>
          <p:cNvPr id="283" name="Rectangle 282">
            <a:extLst>
              <a:ext uri="{FF2B5EF4-FFF2-40B4-BE49-F238E27FC236}">
                <a16:creationId xmlns:a16="http://schemas.microsoft.com/office/drawing/2014/main" id="{CB51C2EB-E990-7CD5-5002-875AD86B890A}"/>
              </a:ext>
            </a:extLst>
          </p:cNvPr>
          <p:cNvSpPr/>
          <p:nvPr/>
        </p:nvSpPr>
        <p:spPr>
          <a:xfrm>
            <a:off x="5104996" y="2923599"/>
            <a:ext cx="938779"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Information sur les blocages au lancement</a:t>
            </a:r>
          </a:p>
        </p:txBody>
      </p:sp>
      <p:sp>
        <p:nvSpPr>
          <p:cNvPr id="284" name="Rectangle 283">
            <a:extLst>
              <a:ext uri="{FF2B5EF4-FFF2-40B4-BE49-F238E27FC236}">
                <a16:creationId xmlns:a16="http://schemas.microsoft.com/office/drawing/2014/main" id="{A5C1BC0E-3C76-3E25-E616-F65270CA06F3}"/>
              </a:ext>
            </a:extLst>
          </p:cNvPr>
          <p:cNvSpPr/>
          <p:nvPr/>
        </p:nvSpPr>
        <p:spPr>
          <a:xfrm>
            <a:off x="8256510" y="2922734"/>
            <a:ext cx="938779"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diplomatiques</a:t>
            </a:r>
          </a:p>
        </p:txBody>
      </p:sp>
      <p:sp>
        <p:nvSpPr>
          <p:cNvPr id="286" name="Rectangle 285">
            <a:extLst>
              <a:ext uri="{FF2B5EF4-FFF2-40B4-BE49-F238E27FC236}">
                <a16:creationId xmlns:a16="http://schemas.microsoft.com/office/drawing/2014/main" id="{89173EE2-DDE4-475A-6A9F-ACEBD80AEBED}"/>
              </a:ext>
            </a:extLst>
          </p:cNvPr>
          <p:cNvSpPr/>
          <p:nvPr/>
        </p:nvSpPr>
        <p:spPr>
          <a:xfrm>
            <a:off x="6159295" y="2923599"/>
            <a:ext cx="938779"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Motivation à surmonter les blocages au lancement</a:t>
            </a:r>
          </a:p>
        </p:txBody>
      </p:sp>
      <p:sp>
        <p:nvSpPr>
          <p:cNvPr id="512" name="Rectangle 511">
            <a:extLst>
              <a:ext uri="{FF2B5EF4-FFF2-40B4-BE49-F238E27FC236}">
                <a16:creationId xmlns:a16="http://schemas.microsoft.com/office/drawing/2014/main" id="{415B1ED6-DADA-4C43-1C8C-677095804177}"/>
              </a:ext>
            </a:extLst>
          </p:cNvPr>
          <p:cNvSpPr/>
          <p:nvPr/>
        </p:nvSpPr>
        <p:spPr>
          <a:xfrm>
            <a:off x="7202211" y="2927949"/>
            <a:ext cx="938779"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Confiance d’une première base de futurs membres</a:t>
            </a:r>
          </a:p>
        </p:txBody>
      </p:sp>
      <p:pic>
        <p:nvPicPr>
          <p:cNvPr id="565" name="Graphique 564" descr="Informations avec un remplissage uni">
            <a:extLst>
              <a:ext uri="{FF2B5EF4-FFF2-40B4-BE49-F238E27FC236}">
                <a16:creationId xmlns:a16="http://schemas.microsoft.com/office/drawing/2014/main" id="{736BEE98-F8DD-6D75-0978-0359D2F39D54}"/>
              </a:ext>
            </a:extLst>
          </p:cNvPr>
          <p:cNvPicPr>
            <a:picLocks noChangeAspect="1"/>
          </p:cNvPicPr>
          <p:nvPr/>
        </p:nvPicPr>
        <p:blipFill>
          <a:blip r:embed="rId45">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a:off x="5347792" y="2409649"/>
            <a:ext cx="484752" cy="484751"/>
          </a:xfrm>
          <a:prstGeom prst="rect">
            <a:avLst/>
          </a:prstGeom>
        </p:spPr>
      </p:pic>
      <p:pic>
        <p:nvPicPr>
          <p:cNvPr id="566" name="Graphique 565" descr="Flèches de chevron avec un remplissage uni">
            <a:extLst>
              <a:ext uri="{FF2B5EF4-FFF2-40B4-BE49-F238E27FC236}">
                <a16:creationId xmlns:a16="http://schemas.microsoft.com/office/drawing/2014/main" id="{B8F86D38-B1B0-4371-80B7-30F911801056}"/>
              </a:ext>
            </a:extLst>
          </p:cNvPr>
          <p:cNvPicPr>
            <a:picLocks noChangeAspect="1"/>
          </p:cNvPicPr>
          <p:nvPr/>
        </p:nvPicPr>
        <p:blipFill>
          <a:blip r:embed="rId47">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6380253" y="2431664"/>
            <a:ext cx="462773" cy="462772"/>
          </a:xfrm>
          <a:prstGeom prst="rect">
            <a:avLst/>
          </a:prstGeom>
        </p:spPr>
      </p:pic>
      <p:pic>
        <p:nvPicPr>
          <p:cNvPr id="567" name="Graphique 566" descr="Signe pouce en haut avec un remplissage uni">
            <a:extLst>
              <a:ext uri="{FF2B5EF4-FFF2-40B4-BE49-F238E27FC236}">
                <a16:creationId xmlns:a16="http://schemas.microsoft.com/office/drawing/2014/main" id="{CEE6B9A8-4E98-6524-C107-B8A694BD85C0}"/>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7444528" y="2368391"/>
            <a:ext cx="520644" cy="520643"/>
          </a:xfrm>
          <a:prstGeom prst="rect">
            <a:avLst/>
          </a:prstGeom>
        </p:spPr>
      </p:pic>
      <p:pic>
        <p:nvPicPr>
          <p:cNvPr id="568" name="Graphique 567" descr="Tête avec engrenages avec un remplissage uni">
            <a:extLst>
              <a:ext uri="{FF2B5EF4-FFF2-40B4-BE49-F238E27FC236}">
                <a16:creationId xmlns:a16="http://schemas.microsoft.com/office/drawing/2014/main" id="{35DFEC88-EB13-C1B6-5C83-B569E0E42031}"/>
              </a:ext>
            </a:extLst>
          </p:cNvPr>
          <p:cNvPicPr>
            <a:picLocks noChangeAspect="1"/>
          </p:cNvPicPr>
          <p:nvPr/>
        </p:nvPicPr>
        <p:blipFill>
          <a:blip r:embed="rId49">
            <a:extLst>
              <a:ext uri="{28A0092B-C50C-407E-A947-70E740481C1C}">
                <a14:useLocalDpi xmlns:a14="http://schemas.microsoft.com/office/drawing/2010/main" val="0"/>
              </a:ext>
              <a:ext uri="{96DAC541-7B7A-43D3-8B79-37D633B846F1}">
                <asvg:svgBlip xmlns:asvg="http://schemas.microsoft.com/office/drawing/2016/SVG/main" r:embed="rId50"/>
              </a:ext>
            </a:extLst>
          </a:blip>
          <a:stretch>
            <a:fillRect/>
          </a:stretch>
        </p:blipFill>
        <p:spPr>
          <a:xfrm>
            <a:off x="8490967" y="2416413"/>
            <a:ext cx="462773" cy="462772"/>
          </a:xfrm>
          <a:prstGeom prst="rect">
            <a:avLst/>
          </a:prstGeom>
        </p:spPr>
      </p:pic>
      <p:pic>
        <p:nvPicPr>
          <p:cNvPr id="569" name="Graphique 568" descr="Tirelire avec un remplissage uni">
            <a:extLst>
              <a:ext uri="{FF2B5EF4-FFF2-40B4-BE49-F238E27FC236}">
                <a16:creationId xmlns:a16="http://schemas.microsoft.com/office/drawing/2014/main" id="{CF02F731-0FF6-95DD-F677-A6CE2F2A6919}"/>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368487" y="2386297"/>
            <a:ext cx="546582" cy="546581"/>
          </a:xfrm>
          <a:prstGeom prst="rect">
            <a:avLst/>
          </a:prstGeom>
        </p:spPr>
      </p:pic>
      <p:pic>
        <p:nvPicPr>
          <p:cNvPr id="570" name="Graphique 569" descr="Sablier 60% avec un remplissage uni">
            <a:extLst>
              <a:ext uri="{FF2B5EF4-FFF2-40B4-BE49-F238E27FC236}">
                <a16:creationId xmlns:a16="http://schemas.microsoft.com/office/drawing/2014/main" id="{1195F0C9-E1E2-A3A3-6C3D-E3899859F1D5}"/>
              </a:ext>
            </a:extLst>
          </p:cNvPr>
          <p:cNvPicPr>
            <a:picLocks noChangeAspect="1"/>
          </p:cNvPicPr>
          <p:nvPr/>
        </p:nvPicPr>
        <p:blipFill>
          <a:blip r:embed="rId53">
            <a:extLst>
              <a:ext uri="{28A0092B-C50C-407E-A947-70E740481C1C}">
                <a14:useLocalDpi xmlns:a14="http://schemas.microsoft.com/office/drawing/2010/main" val="0"/>
              </a:ext>
              <a:ext uri="{96DAC541-7B7A-43D3-8B79-37D633B846F1}">
                <asvg:svgBlip xmlns:asvg="http://schemas.microsoft.com/office/drawing/2016/SVG/main" r:embed="rId54"/>
              </a:ext>
            </a:extLst>
          </a:blip>
          <a:stretch>
            <a:fillRect/>
          </a:stretch>
        </p:blipFill>
        <p:spPr>
          <a:xfrm>
            <a:off x="9815735" y="2428201"/>
            <a:ext cx="462773" cy="462772"/>
          </a:xfrm>
          <a:prstGeom prst="rect">
            <a:avLst/>
          </a:prstGeom>
        </p:spPr>
      </p:pic>
      <p:sp>
        <p:nvSpPr>
          <p:cNvPr id="571" name="Rectangle 570">
            <a:extLst>
              <a:ext uri="{FF2B5EF4-FFF2-40B4-BE49-F238E27FC236}">
                <a16:creationId xmlns:a16="http://schemas.microsoft.com/office/drawing/2014/main" id="{CBFD08FE-9601-DAFD-A69F-BDD6068E1B15}"/>
              </a:ext>
            </a:extLst>
          </p:cNvPr>
          <p:cNvSpPr/>
          <p:nvPr/>
        </p:nvSpPr>
        <p:spPr>
          <a:xfrm>
            <a:off x="9288792" y="2916810"/>
            <a:ext cx="938779" cy="643886"/>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Queues de budget ou disponibilités pour expérimenter</a:t>
            </a:r>
          </a:p>
        </p:txBody>
      </p:sp>
    </p:spTree>
    <p:extLst>
      <p:ext uri="{BB962C8B-B14F-4D97-AF65-F5344CB8AC3E}">
        <p14:creationId xmlns:p14="http://schemas.microsoft.com/office/powerpoint/2010/main" val="2580049605"/>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786AE10-063A-2FFB-64EB-0AE91CE8A887}"/>
              </a:ext>
            </a:extLst>
          </p:cNvPr>
          <p:cNvSpPr>
            <a:spLocks noGrp="1"/>
          </p:cNvSpPr>
          <p:nvPr>
            <p:ph type="title"/>
          </p:nvPr>
        </p:nvSpPr>
        <p:spPr>
          <a:xfrm>
            <a:off x="802004" y="375856"/>
            <a:ext cx="5029475" cy="915779"/>
          </a:xfrm>
          <a:noFill/>
        </p:spPr>
        <p:txBody>
          <a:bodyPr>
            <a:noAutofit/>
          </a:bodyPr>
          <a:lstStyle/>
          <a:p>
            <a:r>
              <a:rPr lang="fr-FR" sz="3200" dirty="0"/>
              <a:t>Les sorties dans le parcours de la marche officielle</a:t>
            </a:r>
          </a:p>
        </p:txBody>
      </p:sp>
      <p:sp>
        <p:nvSpPr>
          <p:cNvPr id="4" name="Ellipse 3">
            <a:extLst>
              <a:ext uri="{FF2B5EF4-FFF2-40B4-BE49-F238E27FC236}">
                <a16:creationId xmlns:a16="http://schemas.microsoft.com/office/drawing/2014/main" id="{992AC0C9-CAAE-DB39-A9F6-4A4AE6F6DA7D}"/>
              </a:ext>
            </a:extLst>
          </p:cNvPr>
          <p:cNvSpPr/>
          <p:nvPr/>
        </p:nvSpPr>
        <p:spPr>
          <a:xfrm>
            <a:off x="802004"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5" name="ZoneTexte 4">
            <a:extLst>
              <a:ext uri="{FF2B5EF4-FFF2-40B4-BE49-F238E27FC236}">
                <a16:creationId xmlns:a16="http://schemas.microsoft.com/office/drawing/2014/main" id="{70243741-FE0E-63E1-D84C-A7C7ABA02711}"/>
              </a:ext>
            </a:extLst>
          </p:cNvPr>
          <p:cNvSpPr txBox="1"/>
          <p:nvPr/>
        </p:nvSpPr>
        <p:spPr>
          <a:xfrm>
            <a:off x="383464" y="3527677"/>
            <a:ext cx="1181101" cy="461665"/>
          </a:xfrm>
          <a:prstGeom prst="rect">
            <a:avLst/>
          </a:prstGeom>
          <a:noFill/>
        </p:spPr>
        <p:txBody>
          <a:bodyPr wrap="square">
            <a:spAutoFit/>
          </a:bodyPr>
          <a:lstStyle/>
          <a:p>
            <a:pPr algn="ctr"/>
            <a:r>
              <a:rPr lang="fr-FR" sz="1200" b="1" dirty="0">
                <a:solidFill>
                  <a:srgbClr val="ED7D31"/>
                </a:solidFill>
              </a:rPr>
              <a:t>Renseignement basique</a:t>
            </a:r>
          </a:p>
        </p:txBody>
      </p:sp>
      <p:sp>
        <p:nvSpPr>
          <p:cNvPr id="6" name="ZoneTexte 5">
            <a:extLst>
              <a:ext uri="{FF2B5EF4-FFF2-40B4-BE49-F238E27FC236}">
                <a16:creationId xmlns:a16="http://schemas.microsoft.com/office/drawing/2014/main" id="{B1AD12BD-B4AB-A317-CE60-DFDC47C6DFFE}"/>
              </a:ext>
            </a:extLst>
          </p:cNvPr>
          <p:cNvSpPr txBox="1"/>
          <p:nvPr/>
        </p:nvSpPr>
        <p:spPr>
          <a:xfrm>
            <a:off x="1531211" y="2750030"/>
            <a:ext cx="1672045" cy="461665"/>
          </a:xfrm>
          <a:prstGeom prst="rect">
            <a:avLst/>
          </a:prstGeom>
          <a:noFill/>
        </p:spPr>
        <p:txBody>
          <a:bodyPr wrap="square">
            <a:spAutoFit/>
          </a:bodyPr>
          <a:lstStyle/>
          <a:p>
            <a:pPr algn="ctr"/>
            <a:r>
              <a:rPr lang="fr-FR" sz="1200" dirty="0"/>
              <a:t>Pré-cadrage Communauté</a:t>
            </a:r>
          </a:p>
        </p:txBody>
      </p:sp>
      <p:sp>
        <p:nvSpPr>
          <p:cNvPr id="7" name="Ellipse 6">
            <a:extLst>
              <a:ext uri="{FF2B5EF4-FFF2-40B4-BE49-F238E27FC236}">
                <a16:creationId xmlns:a16="http://schemas.microsoft.com/office/drawing/2014/main" id="{C6C4D9BF-709E-3C85-65C0-D259F0458368}"/>
              </a:ext>
            </a:extLst>
          </p:cNvPr>
          <p:cNvSpPr/>
          <p:nvPr/>
        </p:nvSpPr>
        <p:spPr>
          <a:xfrm>
            <a:off x="2294570" y="3211695"/>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2" name="ZoneTexte 11">
            <a:extLst>
              <a:ext uri="{FF2B5EF4-FFF2-40B4-BE49-F238E27FC236}">
                <a16:creationId xmlns:a16="http://schemas.microsoft.com/office/drawing/2014/main" id="{CCB8CD5C-AB91-19DC-30DC-0A0B16D384FD}"/>
              </a:ext>
            </a:extLst>
          </p:cNvPr>
          <p:cNvSpPr txBox="1"/>
          <p:nvPr/>
        </p:nvSpPr>
        <p:spPr>
          <a:xfrm>
            <a:off x="6777586" y="3602835"/>
            <a:ext cx="1275805" cy="461665"/>
          </a:xfrm>
          <a:prstGeom prst="rect">
            <a:avLst/>
          </a:prstGeom>
          <a:noFill/>
        </p:spPr>
        <p:txBody>
          <a:bodyPr wrap="square">
            <a:spAutoFit/>
          </a:bodyPr>
          <a:lstStyle/>
          <a:p>
            <a:pPr algn="ctr"/>
            <a:r>
              <a:rPr lang="fr-FR" sz="1200" b="1" dirty="0">
                <a:solidFill>
                  <a:srgbClr val="ED7D31"/>
                </a:solidFill>
              </a:rPr>
              <a:t>Kick off de communauté</a:t>
            </a:r>
          </a:p>
        </p:txBody>
      </p:sp>
      <p:sp>
        <p:nvSpPr>
          <p:cNvPr id="13" name="Ellipse 12">
            <a:extLst>
              <a:ext uri="{FF2B5EF4-FFF2-40B4-BE49-F238E27FC236}">
                <a16:creationId xmlns:a16="http://schemas.microsoft.com/office/drawing/2014/main" id="{1FA919D8-8AFC-8481-80A4-0536BB10817F}"/>
              </a:ext>
            </a:extLst>
          </p:cNvPr>
          <p:cNvSpPr/>
          <p:nvPr/>
        </p:nvSpPr>
        <p:spPr>
          <a:xfrm>
            <a:off x="5561513" y="3211695"/>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0" name="ZoneTexte 19">
            <a:extLst>
              <a:ext uri="{FF2B5EF4-FFF2-40B4-BE49-F238E27FC236}">
                <a16:creationId xmlns:a16="http://schemas.microsoft.com/office/drawing/2014/main" id="{59990270-D6C9-B609-2E0A-04FD1FE788EC}"/>
              </a:ext>
            </a:extLst>
          </p:cNvPr>
          <p:cNvSpPr txBox="1"/>
          <p:nvPr/>
        </p:nvSpPr>
        <p:spPr>
          <a:xfrm>
            <a:off x="3431274" y="2750030"/>
            <a:ext cx="1360717" cy="461665"/>
          </a:xfrm>
          <a:prstGeom prst="rect">
            <a:avLst/>
          </a:prstGeom>
          <a:noFill/>
        </p:spPr>
        <p:txBody>
          <a:bodyPr wrap="square">
            <a:spAutoFit/>
          </a:bodyPr>
          <a:lstStyle/>
          <a:p>
            <a:pPr algn="ctr"/>
            <a:r>
              <a:rPr lang="fr-FR" sz="1200" dirty="0"/>
              <a:t>Cadrage tactique de valeur</a:t>
            </a:r>
          </a:p>
        </p:txBody>
      </p:sp>
      <p:sp>
        <p:nvSpPr>
          <p:cNvPr id="21" name="Ellipse 20">
            <a:extLst>
              <a:ext uri="{FF2B5EF4-FFF2-40B4-BE49-F238E27FC236}">
                <a16:creationId xmlns:a16="http://schemas.microsoft.com/office/drawing/2014/main" id="{75E8B2B6-E4A6-1DD6-A13E-316EDA1A9A08}"/>
              </a:ext>
            </a:extLst>
          </p:cNvPr>
          <p:cNvSpPr/>
          <p:nvPr/>
        </p:nvSpPr>
        <p:spPr>
          <a:xfrm>
            <a:off x="3940355" y="3211695"/>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2" name="ZoneTexte 21">
            <a:extLst>
              <a:ext uri="{FF2B5EF4-FFF2-40B4-BE49-F238E27FC236}">
                <a16:creationId xmlns:a16="http://schemas.microsoft.com/office/drawing/2014/main" id="{C8FC8314-33E3-31E2-1BBE-05F7EE34E539}"/>
              </a:ext>
            </a:extLst>
          </p:cNvPr>
          <p:cNvSpPr txBox="1"/>
          <p:nvPr/>
        </p:nvSpPr>
        <p:spPr>
          <a:xfrm>
            <a:off x="4982250" y="2721673"/>
            <a:ext cx="1360717" cy="461665"/>
          </a:xfrm>
          <a:prstGeom prst="rect">
            <a:avLst/>
          </a:prstGeom>
          <a:noFill/>
        </p:spPr>
        <p:txBody>
          <a:bodyPr wrap="square">
            <a:spAutoFit/>
          </a:bodyPr>
          <a:lstStyle/>
          <a:p>
            <a:pPr algn="ctr"/>
            <a:r>
              <a:rPr lang="fr-FR" sz="1200" dirty="0"/>
              <a:t>Déblocages basiques</a:t>
            </a:r>
          </a:p>
        </p:txBody>
      </p:sp>
      <p:sp>
        <p:nvSpPr>
          <p:cNvPr id="23" name="Ellipse 22">
            <a:extLst>
              <a:ext uri="{FF2B5EF4-FFF2-40B4-BE49-F238E27FC236}">
                <a16:creationId xmlns:a16="http://schemas.microsoft.com/office/drawing/2014/main" id="{75DAEB64-62A4-1F54-12CF-0242783E48A8}"/>
              </a:ext>
            </a:extLst>
          </p:cNvPr>
          <p:cNvSpPr/>
          <p:nvPr/>
        </p:nvSpPr>
        <p:spPr>
          <a:xfrm>
            <a:off x="7101568"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9" name="Ellipse 28">
            <a:extLst>
              <a:ext uri="{FF2B5EF4-FFF2-40B4-BE49-F238E27FC236}">
                <a16:creationId xmlns:a16="http://schemas.microsoft.com/office/drawing/2014/main" id="{D03657F9-E94C-69A8-52E4-E48D5518EF71}"/>
              </a:ext>
            </a:extLst>
          </p:cNvPr>
          <p:cNvSpPr/>
          <p:nvPr/>
        </p:nvSpPr>
        <p:spPr>
          <a:xfrm>
            <a:off x="9876069"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31" name="Connecteur droit avec flèche 30">
            <a:extLst>
              <a:ext uri="{FF2B5EF4-FFF2-40B4-BE49-F238E27FC236}">
                <a16:creationId xmlns:a16="http://schemas.microsoft.com/office/drawing/2014/main" id="{7F64240B-201D-9BC0-DC60-C021368924D0}"/>
              </a:ext>
            </a:extLst>
          </p:cNvPr>
          <p:cNvCxnSpPr>
            <a:cxnSpLocks/>
            <a:stCxn id="4" idx="6"/>
            <a:endCxn id="7" idx="2"/>
          </p:cNvCxnSpPr>
          <p:nvPr/>
        </p:nvCxnSpPr>
        <p:spPr>
          <a:xfrm>
            <a:off x="1071970" y="3346678"/>
            <a:ext cx="12226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droit avec flèche 34">
            <a:extLst>
              <a:ext uri="{FF2B5EF4-FFF2-40B4-BE49-F238E27FC236}">
                <a16:creationId xmlns:a16="http://schemas.microsoft.com/office/drawing/2014/main" id="{24172E6B-5E10-7974-CC9A-1792DB15BC8E}"/>
              </a:ext>
            </a:extLst>
          </p:cNvPr>
          <p:cNvCxnSpPr>
            <a:cxnSpLocks/>
            <a:stCxn id="7" idx="6"/>
            <a:endCxn id="21" idx="2"/>
          </p:cNvCxnSpPr>
          <p:nvPr/>
        </p:nvCxnSpPr>
        <p:spPr>
          <a:xfrm>
            <a:off x="2564536" y="3346678"/>
            <a:ext cx="1375819" cy="0"/>
          </a:xfrm>
          <a:prstGeom prst="straightConnector1">
            <a:avLst/>
          </a:prstGeom>
          <a:ln w="381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Connecteur droit avec flèche 38">
            <a:extLst>
              <a:ext uri="{FF2B5EF4-FFF2-40B4-BE49-F238E27FC236}">
                <a16:creationId xmlns:a16="http://schemas.microsoft.com/office/drawing/2014/main" id="{BF6DD22B-825A-C3BD-CBCB-207E7B9A774E}"/>
              </a:ext>
            </a:extLst>
          </p:cNvPr>
          <p:cNvCxnSpPr>
            <a:cxnSpLocks/>
            <a:stCxn id="21" idx="6"/>
            <a:endCxn id="13" idx="2"/>
          </p:cNvCxnSpPr>
          <p:nvPr/>
        </p:nvCxnSpPr>
        <p:spPr>
          <a:xfrm>
            <a:off x="4210321" y="3346678"/>
            <a:ext cx="1351192" cy="0"/>
          </a:xfrm>
          <a:prstGeom prst="straightConnector1">
            <a:avLst/>
          </a:prstGeom>
          <a:ln w="381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5" name="Connecteur droit avec flèche 54">
            <a:extLst>
              <a:ext uri="{FF2B5EF4-FFF2-40B4-BE49-F238E27FC236}">
                <a16:creationId xmlns:a16="http://schemas.microsoft.com/office/drawing/2014/main" id="{6E8C5F3E-D856-DD7A-560B-6A4067D42CE4}"/>
              </a:ext>
            </a:extLst>
          </p:cNvPr>
          <p:cNvCxnSpPr>
            <a:cxnSpLocks/>
            <a:stCxn id="13" idx="6"/>
            <a:endCxn id="23" idx="2"/>
          </p:cNvCxnSpPr>
          <p:nvPr/>
        </p:nvCxnSpPr>
        <p:spPr>
          <a:xfrm>
            <a:off x="5831479" y="3346678"/>
            <a:ext cx="1270089" cy="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Connecteur droit avec flèche 60">
            <a:extLst>
              <a:ext uri="{FF2B5EF4-FFF2-40B4-BE49-F238E27FC236}">
                <a16:creationId xmlns:a16="http://schemas.microsoft.com/office/drawing/2014/main" id="{0CF106E3-848D-1DBB-2A10-DB07B290E407}"/>
              </a:ext>
            </a:extLst>
          </p:cNvPr>
          <p:cNvCxnSpPr>
            <a:cxnSpLocks/>
            <a:stCxn id="23" idx="6"/>
            <a:endCxn id="29" idx="2"/>
          </p:cNvCxnSpPr>
          <p:nvPr/>
        </p:nvCxnSpPr>
        <p:spPr>
          <a:xfrm>
            <a:off x="7371534" y="3346678"/>
            <a:ext cx="2504535" cy="0"/>
          </a:xfrm>
          <a:prstGeom prst="straightConnector1">
            <a:avLst/>
          </a:prstGeom>
          <a:ln w="38100">
            <a:solidFill>
              <a:srgbClr val="000000"/>
            </a:solidFill>
            <a:tailEnd type="triangle"/>
          </a:ln>
        </p:spPr>
        <p:style>
          <a:lnRef idx="1">
            <a:schemeClr val="accent1"/>
          </a:lnRef>
          <a:fillRef idx="0">
            <a:schemeClr val="accent1"/>
          </a:fillRef>
          <a:effectRef idx="0">
            <a:schemeClr val="accent1"/>
          </a:effectRef>
          <a:fontRef idx="minor">
            <a:schemeClr val="tx1"/>
          </a:fontRef>
        </p:style>
      </p:cxnSp>
      <p:sp>
        <p:nvSpPr>
          <p:cNvPr id="187" name="ZoneTexte 186">
            <a:extLst>
              <a:ext uri="{FF2B5EF4-FFF2-40B4-BE49-F238E27FC236}">
                <a16:creationId xmlns:a16="http://schemas.microsoft.com/office/drawing/2014/main" id="{7B7E05E1-3EDD-A6AC-6699-FB72CF33D4ED}"/>
              </a:ext>
            </a:extLst>
          </p:cNvPr>
          <p:cNvSpPr txBox="1"/>
          <p:nvPr/>
        </p:nvSpPr>
        <p:spPr>
          <a:xfrm>
            <a:off x="9583652" y="3616644"/>
            <a:ext cx="854800" cy="461665"/>
          </a:xfrm>
          <a:prstGeom prst="rect">
            <a:avLst/>
          </a:prstGeom>
          <a:solidFill>
            <a:schemeClr val="bg1"/>
          </a:solidFill>
          <a:ln>
            <a:solidFill>
              <a:srgbClr val="ED7D31"/>
            </a:solidFill>
          </a:ln>
        </p:spPr>
        <p:txBody>
          <a:bodyPr wrap="square">
            <a:spAutoFit/>
          </a:bodyPr>
          <a:lstStyle/>
          <a:p>
            <a:pPr algn="ctr"/>
            <a:r>
              <a:rPr lang="fr-FR" sz="1200" b="1" dirty="0">
                <a:solidFill>
                  <a:srgbClr val="ED7D31"/>
                </a:solidFill>
              </a:rPr>
              <a:t>Cœur d’activités</a:t>
            </a:r>
          </a:p>
        </p:txBody>
      </p:sp>
      <p:cxnSp>
        <p:nvCxnSpPr>
          <p:cNvPr id="202" name="Connecteur droit avec flèche 201">
            <a:extLst>
              <a:ext uri="{FF2B5EF4-FFF2-40B4-BE49-F238E27FC236}">
                <a16:creationId xmlns:a16="http://schemas.microsoft.com/office/drawing/2014/main" id="{F22607BE-6407-94D0-79D9-92144EF9E0AC}"/>
              </a:ext>
            </a:extLst>
          </p:cNvPr>
          <p:cNvCxnSpPr>
            <a:cxnSpLocks/>
          </p:cNvCxnSpPr>
          <p:nvPr/>
        </p:nvCxnSpPr>
        <p:spPr>
          <a:xfrm flipV="1">
            <a:off x="6342967" y="901575"/>
            <a:ext cx="1344606" cy="1073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35" name="Graphique 234" descr="Bâtiment avec un remplissage uni">
            <a:extLst>
              <a:ext uri="{FF2B5EF4-FFF2-40B4-BE49-F238E27FC236}">
                <a16:creationId xmlns:a16="http://schemas.microsoft.com/office/drawing/2014/main" id="{0368413A-FF39-DFEF-67A4-4EAB9E39A94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011906" y="670515"/>
            <a:ext cx="316318" cy="316318"/>
          </a:xfrm>
          <a:prstGeom prst="rect">
            <a:avLst/>
          </a:prstGeom>
        </p:spPr>
      </p:pic>
      <p:sp>
        <p:nvSpPr>
          <p:cNvPr id="34" name="ZoneTexte 33">
            <a:extLst>
              <a:ext uri="{FF2B5EF4-FFF2-40B4-BE49-F238E27FC236}">
                <a16:creationId xmlns:a16="http://schemas.microsoft.com/office/drawing/2014/main" id="{075B46D7-EDC3-019C-2706-7F8E1320FF9C}"/>
              </a:ext>
            </a:extLst>
          </p:cNvPr>
          <p:cNvSpPr txBox="1"/>
          <p:nvPr/>
        </p:nvSpPr>
        <p:spPr>
          <a:xfrm>
            <a:off x="7702316" y="729728"/>
            <a:ext cx="2871794" cy="307777"/>
          </a:xfrm>
          <a:prstGeom prst="rect">
            <a:avLst/>
          </a:prstGeom>
          <a:noFill/>
        </p:spPr>
        <p:txBody>
          <a:bodyPr wrap="square">
            <a:spAutoFit/>
          </a:bodyPr>
          <a:lstStyle/>
          <a:p>
            <a:r>
              <a:rPr lang="fr-FR" sz="1400" b="1" dirty="0"/>
              <a:t>Parcours de la marche officielle</a:t>
            </a:r>
          </a:p>
        </p:txBody>
      </p:sp>
      <p:cxnSp>
        <p:nvCxnSpPr>
          <p:cNvPr id="3" name="Connecteur droit avec flèche 2">
            <a:extLst>
              <a:ext uri="{FF2B5EF4-FFF2-40B4-BE49-F238E27FC236}">
                <a16:creationId xmlns:a16="http://schemas.microsoft.com/office/drawing/2014/main" id="{6B0CDF91-0306-D90D-9DC6-A997119E4B6B}"/>
              </a:ext>
            </a:extLst>
          </p:cNvPr>
          <p:cNvCxnSpPr>
            <a:cxnSpLocks/>
            <a:stCxn id="7" idx="4"/>
          </p:cNvCxnSpPr>
          <p:nvPr/>
        </p:nvCxnSpPr>
        <p:spPr>
          <a:xfrm>
            <a:off x="2429553" y="3481661"/>
            <a:ext cx="0" cy="933585"/>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8" name="Connecteur droit avec flèche 7">
            <a:extLst>
              <a:ext uri="{FF2B5EF4-FFF2-40B4-BE49-F238E27FC236}">
                <a16:creationId xmlns:a16="http://schemas.microsoft.com/office/drawing/2014/main" id="{1400214B-CFB0-7197-311F-6E53DF3AC2D2}"/>
              </a:ext>
            </a:extLst>
          </p:cNvPr>
          <p:cNvCxnSpPr>
            <a:cxnSpLocks/>
            <a:stCxn id="21" idx="4"/>
          </p:cNvCxnSpPr>
          <p:nvPr/>
        </p:nvCxnSpPr>
        <p:spPr>
          <a:xfrm>
            <a:off x="4075338" y="3481661"/>
            <a:ext cx="0" cy="933585"/>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9" name="ZoneTexte 8">
            <a:extLst>
              <a:ext uri="{FF2B5EF4-FFF2-40B4-BE49-F238E27FC236}">
                <a16:creationId xmlns:a16="http://schemas.microsoft.com/office/drawing/2014/main" id="{97E6F3E0-188B-D12D-9AE0-084A1C640B3A}"/>
              </a:ext>
            </a:extLst>
          </p:cNvPr>
          <p:cNvSpPr txBox="1"/>
          <p:nvPr/>
        </p:nvSpPr>
        <p:spPr>
          <a:xfrm>
            <a:off x="4044495" y="3621462"/>
            <a:ext cx="1019308" cy="1107996"/>
          </a:xfrm>
          <a:prstGeom prst="rect">
            <a:avLst/>
          </a:prstGeom>
          <a:noFill/>
        </p:spPr>
        <p:txBody>
          <a:bodyPr wrap="square">
            <a:spAutoFit/>
          </a:bodyPr>
          <a:lstStyle/>
          <a:p>
            <a:pPr algn="ctr"/>
            <a:r>
              <a:rPr lang="fr-FR" sz="1100" i="1" dirty="0"/>
              <a:t>Pas de valeur suffisante identifiée par rapport aux moyens nécessaires</a:t>
            </a:r>
          </a:p>
        </p:txBody>
      </p:sp>
      <p:sp>
        <p:nvSpPr>
          <p:cNvPr id="10" name="ZoneTexte 9">
            <a:extLst>
              <a:ext uri="{FF2B5EF4-FFF2-40B4-BE49-F238E27FC236}">
                <a16:creationId xmlns:a16="http://schemas.microsoft.com/office/drawing/2014/main" id="{6053C544-D22B-5162-3ACB-21FE60F5688C}"/>
              </a:ext>
            </a:extLst>
          </p:cNvPr>
          <p:cNvSpPr txBox="1"/>
          <p:nvPr/>
        </p:nvSpPr>
        <p:spPr>
          <a:xfrm>
            <a:off x="2403646" y="3667533"/>
            <a:ext cx="861689" cy="938719"/>
          </a:xfrm>
          <a:prstGeom prst="rect">
            <a:avLst/>
          </a:prstGeom>
          <a:noFill/>
        </p:spPr>
        <p:txBody>
          <a:bodyPr wrap="square">
            <a:spAutoFit/>
          </a:bodyPr>
          <a:lstStyle/>
          <a:p>
            <a:pPr algn="ctr"/>
            <a:r>
              <a:rPr lang="fr-FR" sz="1100" i="1" dirty="0"/>
              <a:t>Pas d’intérêt suffisant pour aller plus loin</a:t>
            </a:r>
          </a:p>
        </p:txBody>
      </p:sp>
      <p:cxnSp>
        <p:nvCxnSpPr>
          <p:cNvPr id="17" name="Connecteur droit avec flèche 16">
            <a:extLst>
              <a:ext uri="{FF2B5EF4-FFF2-40B4-BE49-F238E27FC236}">
                <a16:creationId xmlns:a16="http://schemas.microsoft.com/office/drawing/2014/main" id="{362D9D45-EC67-E4C1-7AA9-9AAB05D3AE01}"/>
              </a:ext>
            </a:extLst>
          </p:cNvPr>
          <p:cNvCxnSpPr>
            <a:cxnSpLocks/>
            <a:stCxn id="13" idx="4"/>
          </p:cNvCxnSpPr>
          <p:nvPr/>
        </p:nvCxnSpPr>
        <p:spPr>
          <a:xfrm>
            <a:off x="5696496" y="3481661"/>
            <a:ext cx="24627" cy="853779"/>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4" name="ZoneTexte 23">
            <a:extLst>
              <a:ext uri="{FF2B5EF4-FFF2-40B4-BE49-F238E27FC236}">
                <a16:creationId xmlns:a16="http://schemas.microsoft.com/office/drawing/2014/main" id="{43368CB1-B348-51C3-B821-325E04BBC706}"/>
              </a:ext>
            </a:extLst>
          </p:cNvPr>
          <p:cNvSpPr txBox="1"/>
          <p:nvPr/>
        </p:nvSpPr>
        <p:spPr>
          <a:xfrm>
            <a:off x="5662608" y="3648371"/>
            <a:ext cx="887266" cy="600164"/>
          </a:xfrm>
          <a:prstGeom prst="rect">
            <a:avLst/>
          </a:prstGeom>
          <a:noFill/>
        </p:spPr>
        <p:txBody>
          <a:bodyPr wrap="square">
            <a:spAutoFit/>
          </a:bodyPr>
          <a:lstStyle/>
          <a:p>
            <a:pPr algn="ctr"/>
            <a:r>
              <a:rPr lang="fr-FR" sz="1100" i="1" dirty="0"/>
              <a:t>Blocages trop importants </a:t>
            </a:r>
          </a:p>
        </p:txBody>
      </p:sp>
      <p:pic>
        <p:nvPicPr>
          <p:cNvPr id="11" name="Graphique 10" descr="Cœur avec un remplissage uni">
            <a:extLst>
              <a:ext uri="{FF2B5EF4-FFF2-40B4-BE49-F238E27FC236}">
                <a16:creationId xmlns:a16="http://schemas.microsoft.com/office/drawing/2014/main" id="{9CB86C4B-2D9F-14A0-DBA7-61987040A69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932502" y="3278748"/>
            <a:ext cx="162821" cy="162821"/>
          </a:xfrm>
          <a:prstGeom prst="rect">
            <a:avLst/>
          </a:prstGeom>
        </p:spPr>
      </p:pic>
    </p:spTree>
    <p:extLst>
      <p:ext uri="{BB962C8B-B14F-4D97-AF65-F5344CB8AC3E}">
        <p14:creationId xmlns:p14="http://schemas.microsoft.com/office/powerpoint/2010/main" val="3335468177"/>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786AE10-063A-2FFB-64EB-0AE91CE8A887}"/>
              </a:ext>
            </a:extLst>
          </p:cNvPr>
          <p:cNvSpPr>
            <a:spLocks noGrp="1"/>
          </p:cNvSpPr>
          <p:nvPr>
            <p:ph type="title"/>
          </p:nvPr>
        </p:nvSpPr>
        <p:spPr>
          <a:xfrm>
            <a:off x="802004" y="375856"/>
            <a:ext cx="4551159" cy="915779"/>
          </a:xfrm>
          <a:noFill/>
        </p:spPr>
        <p:txBody>
          <a:bodyPr>
            <a:noAutofit/>
          </a:bodyPr>
          <a:lstStyle/>
          <a:p>
            <a:r>
              <a:rPr lang="fr-FR" sz="3600" dirty="0"/>
              <a:t>Le parcours du test terrain</a:t>
            </a:r>
          </a:p>
        </p:txBody>
      </p:sp>
      <p:sp>
        <p:nvSpPr>
          <p:cNvPr id="4" name="Ellipse 3">
            <a:extLst>
              <a:ext uri="{FF2B5EF4-FFF2-40B4-BE49-F238E27FC236}">
                <a16:creationId xmlns:a16="http://schemas.microsoft.com/office/drawing/2014/main" id="{992AC0C9-CAAE-DB39-A9F6-4A4AE6F6DA7D}"/>
              </a:ext>
            </a:extLst>
          </p:cNvPr>
          <p:cNvSpPr/>
          <p:nvPr/>
        </p:nvSpPr>
        <p:spPr>
          <a:xfrm>
            <a:off x="802004"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5" name="ZoneTexte 4">
            <a:extLst>
              <a:ext uri="{FF2B5EF4-FFF2-40B4-BE49-F238E27FC236}">
                <a16:creationId xmlns:a16="http://schemas.microsoft.com/office/drawing/2014/main" id="{70243741-FE0E-63E1-D84C-A7C7ABA02711}"/>
              </a:ext>
            </a:extLst>
          </p:cNvPr>
          <p:cNvSpPr txBox="1"/>
          <p:nvPr/>
        </p:nvSpPr>
        <p:spPr>
          <a:xfrm>
            <a:off x="75647" y="2767944"/>
            <a:ext cx="1181101" cy="461665"/>
          </a:xfrm>
          <a:prstGeom prst="rect">
            <a:avLst/>
          </a:prstGeom>
          <a:noFill/>
        </p:spPr>
        <p:txBody>
          <a:bodyPr wrap="square">
            <a:spAutoFit/>
          </a:bodyPr>
          <a:lstStyle/>
          <a:p>
            <a:pPr algn="ctr"/>
            <a:r>
              <a:rPr lang="fr-FR" sz="1200" b="1" dirty="0">
                <a:solidFill>
                  <a:srgbClr val="ED7D31"/>
                </a:solidFill>
              </a:rPr>
              <a:t>Renseignement basique</a:t>
            </a:r>
          </a:p>
        </p:txBody>
      </p:sp>
      <p:sp>
        <p:nvSpPr>
          <p:cNvPr id="8" name="ZoneTexte 7">
            <a:extLst>
              <a:ext uri="{FF2B5EF4-FFF2-40B4-BE49-F238E27FC236}">
                <a16:creationId xmlns:a16="http://schemas.microsoft.com/office/drawing/2014/main" id="{9DA75CFE-8CBA-E6BD-3241-5AFC82B00982}"/>
              </a:ext>
            </a:extLst>
          </p:cNvPr>
          <p:cNvSpPr txBox="1"/>
          <p:nvPr/>
        </p:nvSpPr>
        <p:spPr>
          <a:xfrm>
            <a:off x="1989156" y="2536341"/>
            <a:ext cx="924606" cy="646331"/>
          </a:xfrm>
          <a:prstGeom prst="rect">
            <a:avLst/>
          </a:prstGeom>
          <a:noFill/>
        </p:spPr>
        <p:txBody>
          <a:bodyPr wrap="square">
            <a:spAutoFit/>
          </a:bodyPr>
          <a:lstStyle/>
          <a:p>
            <a:pPr algn="ctr"/>
            <a:r>
              <a:rPr lang="fr-FR" sz="1200" dirty="0"/>
              <a:t>Test en approche  individuelle</a:t>
            </a:r>
          </a:p>
        </p:txBody>
      </p:sp>
      <p:sp>
        <p:nvSpPr>
          <p:cNvPr id="9" name="Ellipse 8">
            <a:extLst>
              <a:ext uri="{FF2B5EF4-FFF2-40B4-BE49-F238E27FC236}">
                <a16:creationId xmlns:a16="http://schemas.microsoft.com/office/drawing/2014/main" id="{A52D5C3B-1DDB-0554-B80D-EB4D7EF46696}"/>
              </a:ext>
            </a:extLst>
          </p:cNvPr>
          <p:cNvSpPr/>
          <p:nvPr/>
        </p:nvSpPr>
        <p:spPr>
          <a:xfrm>
            <a:off x="2316476" y="3211695"/>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0" name="ZoneTexte 9">
            <a:extLst>
              <a:ext uri="{FF2B5EF4-FFF2-40B4-BE49-F238E27FC236}">
                <a16:creationId xmlns:a16="http://schemas.microsoft.com/office/drawing/2014/main" id="{48A5CBB2-1AB8-0274-9976-E297DDCF2855}"/>
              </a:ext>
            </a:extLst>
          </p:cNvPr>
          <p:cNvSpPr txBox="1"/>
          <p:nvPr/>
        </p:nvSpPr>
        <p:spPr>
          <a:xfrm>
            <a:off x="3436618" y="2536341"/>
            <a:ext cx="1275805" cy="646331"/>
          </a:xfrm>
          <a:prstGeom prst="rect">
            <a:avLst/>
          </a:prstGeom>
          <a:noFill/>
        </p:spPr>
        <p:txBody>
          <a:bodyPr wrap="square">
            <a:spAutoFit/>
          </a:bodyPr>
          <a:lstStyle/>
          <a:p>
            <a:pPr algn="ctr"/>
            <a:r>
              <a:rPr lang="fr-FR" sz="1200" dirty="0"/>
              <a:t>Test en approche réunion ponctuelle</a:t>
            </a:r>
          </a:p>
        </p:txBody>
      </p:sp>
      <p:sp>
        <p:nvSpPr>
          <p:cNvPr id="11" name="Ellipse 10">
            <a:extLst>
              <a:ext uri="{FF2B5EF4-FFF2-40B4-BE49-F238E27FC236}">
                <a16:creationId xmlns:a16="http://schemas.microsoft.com/office/drawing/2014/main" id="{EF8D2AF5-4937-867B-33A7-1DA9750EE909}"/>
              </a:ext>
            </a:extLst>
          </p:cNvPr>
          <p:cNvSpPr/>
          <p:nvPr/>
        </p:nvSpPr>
        <p:spPr>
          <a:xfrm>
            <a:off x="4001314" y="3211695"/>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2" name="ZoneTexte 11">
            <a:extLst>
              <a:ext uri="{FF2B5EF4-FFF2-40B4-BE49-F238E27FC236}">
                <a16:creationId xmlns:a16="http://schemas.microsoft.com/office/drawing/2014/main" id="{CCB8CD5C-AB91-19DC-30DC-0A0B16D384FD}"/>
              </a:ext>
            </a:extLst>
          </p:cNvPr>
          <p:cNvSpPr txBox="1"/>
          <p:nvPr/>
        </p:nvSpPr>
        <p:spPr>
          <a:xfrm>
            <a:off x="6721934" y="3481660"/>
            <a:ext cx="1275805" cy="461665"/>
          </a:xfrm>
          <a:prstGeom prst="rect">
            <a:avLst/>
          </a:prstGeom>
          <a:noFill/>
        </p:spPr>
        <p:txBody>
          <a:bodyPr wrap="square">
            <a:spAutoFit/>
          </a:bodyPr>
          <a:lstStyle/>
          <a:p>
            <a:pPr algn="ctr"/>
            <a:r>
              <a:rPr lang="fr-FR" sz="1200" b="1" dirty="0">
                <a:solidFill>
                  <a:srgbClr val="ED7D31"/>
                </a:solidFill>
              </a:rPr>
              <a:t>Kick off de communauté</a:t>
            </a:r>
          </a:p>
        </p:txBody>
      </p:sp>
      <p:sp>
        <p:nvSpPr>
          <p:cNvPr id="13" name="Ellipse 12">
            <a:extLst>
              <a:ext uri="{FF2B5EF4-FFF2-40B4-BE49-F238E27FC236}">
                <a16:creationId xmlns:a16="http://schemas.microsoft.com/office/drawing/2014/main" id="{1FA919D8-8AFC-8481-80A4-0536BB10817F}"/>
              </a:ext>
            </a:extLst>
          </p:cNvPr>
          <p:cNvSpPr/>
          <p:nvPr/>
        </p:nvSpPr>
        <p:spPr>
          <a:xfrm>
            <a:off x="5561513" y="3211695"/>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6" name="ZoneTexte 15">
            <a:extLst>
              <a:ext uri="{FF2B5EF4-FFF2-40B4-BE49-F238E27FC236}">
                <a16:creationId xmlns:a16="http://schemas.microsoft.com/office/drawing/2014/main" id="{71BE4590-27CA-710C-2088-DC36CA04AFB5}"/>
              </a:ext>
            </a:extLst>
          </p:cNvPr>
          <p:cNvSpPr txBox="1"/>
          <p:nvPr/>
        </p:nvSpPr>
        <p:spPr>
          <a:xfrm>
            <a:off x="5058593" y="2648789"/>
            <a:ext cx="1275805" cy="461665"/>
          </a:xfrm>
          <a:prstGeom prst="rect">
            <a:avLst/>
          </a:prstGeom>
          <a:noFill/>
        </p:spPr>
        <p:txBody>
          <a:bodyPr wrap="square">
            <a:spAutoFit/>
          </a:bodyPr>
          <a:lstStyle/>
          <a:p>
            <a:pPr algn="ctr"/>
            <a:r>
              <a:rPr lang="fr-FR" sz="1200" dirty="0"/>
              <a:t>Premiers liens intérieurs</a:t>
            </a:r>
          </a:p>
        </p:txBody>
      </p:sp>
      <p:sp>
        <p:nvSpPr>
          <p:cNvPr id="17" name="Ellipse 16">
            <a:extLst>
              <a:ext uri="{FF2B5EF4-FFF2-40B4-BE49-F238E27FC236}">
                <a16:creationId xmlns:a16="http://schemas.microsoft.com/office/drawing/2014/main" id="{627543D9-3FE7-1C4E-1540-07812A80E218}"/>
              </a:ext>
            </a:extLst>
          </p:cNvPr>
          <p:cNvSpPr/>
          <p:nvPr/>
        </p:nvSpPr>
        <p:spPr>
          <a:xfrm>
            <a:off x="7125793"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8" name="ZoneTexte 17">
            <a:extLst>
              <a:ext uri="{FF2B5EF4-FFF2-40B4-BE49-F238E27FC236}">
                <a16:creationId xmlns:a16="http://schemas.microsoft.com/office/drawing/2014/main" id="{68468E5F-9EDA-72D4-998D-5D393E59B07D}"/>
              </a:ext>
            </a:extLst>
          </p:cNvPr>
          <p:cNvSpPr txBox="1"/>
          <p:nvPr/>
        </p:nvSpPr>
        <p:spPr>
          <a:xfrm>
            <a:off x="11086424" y="4349892"/>
            <a:ext cx="1029511" cy="461665"/>
          </a:xfrm>
          <a:prstGeom prst="rect">
            <a:avLst/>
          </a:prstGeom>
          <a:noFill/>
        </p:spPr>
        <p:txBody>
          <a:bodyPr wrap="square">
            <a:spAutoFit/>
          </a:bodyPr>
          <a:lstStyle/>
          <a:p>
            <a:pPr algn="ctr"/>
            <a:r>
              <a:rPr lang="fr-FR" sz="1200" b="1" dirty="0">
                <a:solidFill>
                  <a:srgbClr val="3494BA"/>
                </a:solidFill>
              </a:rPr>
              <a:t>Amélioration continue</a:t>
            </a:r>
          </a:p>
        </p:txBody>
      </p:sp>
      <p:sp>
        <p:nvSpPr>
          <p:cNvPr id="25" name="Ellipse 24">
            <a:extLst>
              <a:ext uri="{FF2B5EF4-FFF2-40B4-BE49-F238E27FC236}">
                <a16:creationId xmlns:a16="http://schemas.microsoft.com/office/drawing/2014/main" id="{CA35DF88-EAC4-4583-9496-15913E6D8075}"/>
              </a:ext>
            </a:extLst>
          </p:cNvPr>
          <p:cNvSpPr/>
          <p:nvPr/>
        </p:nvSpPr>
        <p:spPr>
          <a:xfrm>
            <a:off x="10791350" y="4511218"/>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32" name="Connecteur droit avec flèche 31">
            <a:extLst>
              <a:ext uri="{FF2B5EF4-FFF2-40B4-BE49-F238E27FC236}">
                <a16:creationId xmlns:a16="http://schemas.microsoft.com/office/drawing/2014/main" id="{711D992C-4CB8-B96C-B7B2-98D3F2F0E133}"/>
              </a:ext>
            </a:extLst>
          </p:cNvPr>
          <p:cNvCxnSpPr>
            <a:cxnSpLocks/>
            <a:stCxn id="4" idx="6"/>
            <a:endCxn id="9" idx="2"/>
          </p:cNvCxnSpPr>
          <p:nvPr/>
        </p:nvCxnSpPr>
        <p:spPr>
          <a:xfrm>
            <a:off x="1071970" y="3346678"/>
            <a:ext cx="1244506" cy="0"/>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Connecteur droit avec flèche 41">
            <a:extLst>
              <a:ext uri="{FF2B5EF4-FFF2-40B4-BE49-F238E27FC236}">
                <a16:creationId xmlns:a16="http://schemas.microsoft.com/office/drawing/2014/main" id="{42110F4E-B434-43FB-9E2F-BEA5D59B1CF0}"/>
              </a:ext>
            </a:extLst>
          </p:cNvPr>
          <p:cNvCxnSpPr>
            <a:cxnSpLocks/>
            <a:stCxn id="9" idx="6"/>
            <a:endCxn id="11" idx="2"/>
          </p:cNvCxnSpPr>
          <p:nvPr/>
        </p:nvCxnSpPr>
        <p:spPr>
          <a:xfrm>
            <a:off x="2586442" y="3346678"/>
            <a:ext cx="1414872" cy="0"/>
          </a:xfrm>
          <a:prstGeom prst="straightConnector1">
            <a:avLst/>
          </a:prstGeom>
          <a:ln w="381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8" name="Connecteur droit avec flèche 47">
            <a:extLst>
              <a:ext uri="{FF2B5EF4-FFF2-40B4-BE49-F238E27FC236}">
                <a16:creationId xmlns:a16="http://schemas.microsoft.com/office/drawing/2014/main" id="{01B44626-9B9D-E925-F76F-9BC6443A3C4E}"/>
              </a:ext>
            </a:extLst>
          </p:cNvPr>
          <p:cNvCxnSpPr>
            <a:cxnSpLocks/>
            <a:stCxn id="11" idx="6"/>
            <a:endCxn id="13" idx="2"/>
          </p:cNvCxnSpPr>
          <p:nvPr/>
        </p:nvCxnSpPr>
        <p:spPr>
          <a:xfrm>
            <a:off x="4271280" y="3346678"/>
            <a:ext cx="1290233" cy="0"/>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8" name="Connecteur droit avec flèche 57">
            <a:extLst>
              <a:ext uri="{FF2B5EF4-FFF2-40B4-BE49-F238E27FC236}">
                <a16:creationId xmlns:a16="http://schemas.microsoft.com/office/drawing/2014/main" id="{B3049303-0C53-64ED-92CA-A805CB4B517E}"/>
              </a:ext>
            </a:extLst>
          </p:cNvPr>
          <p:cNvCxnSpPr>
            <a:cxnSpLocks/>
            <a:stCxn id="13" idx="6"/>
            <a:endCxn id="17" idx="2"/>
          </p:cNvCxnSpPr>
          <p:nvPr/>
        </p:nvCxnSpPr>
        <p:spPr>
          <a:xfrm>
            <a:off x="5831479" y="3346678"/>
            <a:ext cx="1294314" cy="0"/>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0" name="Connecteur droit avec flèche 89">
            <a:extLst>
              <a:ext uri="{FF2B5EF4-FFF2-40B4-BE49-F238E27FC236}">
                <a16:creationId xmlns:a16="http://schemas.microsoft.com/office/drawing/2014/main" id="{EB6B729B-31AB-C286-CD5F-CA58A5136869}"/>
              </a:ext>
            </a:extLst>
          </p:cNvPr>
          <p:cNvCxnSpPr>
            <a:cxnSpLocks/>
            <a:stCxn id="17" idx="6"/>
            <a:endCxn id="158" idx="2"/>
          </p:cNvCxnSpPr>
          <p:nvPr/>
        </p:nvCxnSpPr>
        <p:spPr>
          <a:xfrm>
            <a:off x="7395759" y="3346678"/>
            <a:ext cx="2479765" cy="0"/>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3" name="Ellipse 122">
            <a:extLst>
              <a:ext uri="{FF2B5EF4-FFF2-40B4-BE49-F238E27FC236}">
                <a16:creationId xmlns:a16="http://schemas.microsoft.com/office/drawing/2014/main" id="{ED7064E9-95B8-8C4A-B3AD-4323BBBA5335}"/>
              </a:ext>
            </a:extLst>
          </p:cNvPr>
          <p:cNvSpPr/>
          <p:nvPr/>
        </p:nvSpPr>
        <p:spPr>
          <a:xfrm>
            <a:off x="9897292" y="5308923"/>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127" name="Connecteur droit avec flèche 126">
            <a:extLst>
              <a:ext uri="{FF2B5EF4-FFF2-40B4-BE49-F238E27FC236}">
                <a16:creationId xmlns:a16="http://schemas.microsoft.com/office/drawing/2014/main" id="{287F8D90-0C5F-D47F-01C3-8FC0D85C7631}"/>
              </a:ext>
            </a:extLst>
          </p:cNvPr>
          <p:cNvCxnSpPr>
            <a:cxnSpLocks/>
            <a:stCxn id="123" idx="6"/>
            <a:endCxn id="25" idx="3"/>
          </p:cNvCxnSpPr>
          <p:nvPr/>
        </p:nvCxnSpPr>
        <p:spPr>
          <a:xfrm flipV="1">
            <a:off x="10167258" y="4741648"/>
            <a:ext cx="663628" cy="70225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2" name="ZoneTexte 141">
            <a:extLst>
              <a:ext uri="{FF2B5EF4-FFF2-40B4-BE49-F238E27FC236}">
                <a16:creationId xmlns:a16="http://schemas.microsoft.com/office/drawing/2014/main" id="{E852FE0B-708E-80F2-89D1-3B158050CDD0}"/>
              </a:ext>
            </a:extLst>
          </p:cNvPr>
          <p:cNvSpPr txBox="1"/>
          <p:nvPr/>
        </p:nvSpPr>
        <p:spPr>
          <a:xfrm>
            <a:off x="10177233" y="5323525"/>
            <a:ext cx="1206823" cy="461665"/>
          </a:xfrm>
          <a:prstGeom prst="rect">
            <a:avLst/>
          </a:prstGeom>
          <a:noFill/>
        </p:spPr>
        <p:txBody>
          <a:bodyPr wrap="square">
            <a:spAutoFit/>
          </a:bodyPr>
          <a:lstStyle/>
          <a:p>
            <a:pPr algn="ctr"/>
            <a:r>
              <a:rPr lang="fr-FR" sz="1200" b="1" dirty="0">
                <a:solidFill>
                  <a:srgbClr val="3494BA"/>
                </a:solidFill>
              </a:rPr>
              <a:t>Restructuration de fond</a:t>
            </a:r>
          </a:p>
        </p:txBody>
      </p:sp>
      <p:sp>
        <p:nvSpPr>
          <p:cNvPr id="158" name="Ellipse 157">
            <a:extLst>
              <a:ext uri="{FF2B5EF4-FFF2-40B4-BE49-F238E27FC236}">
                <a16:creationId xmlns:a16="http://schemas.microsoft.com/office/drawing/2014/main" id="{F606CDF9-4C40-0C4D-6275-168D0960EFCC}"/>
              </a:ext>
            </a:extLst>
          </p:cNvPr>
          <p:cNvSpPr/>
          <p:nvPr/>
        </p:nvSpPr>
        <p:spPr>
          <a:xfrm>
            <a:off x="9875524"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166" name="Connecteur droit avec flèche 165">
            <a:extLst>
              <a:ext uri="{FF2B5EF4-FFF2-40B4-BE49-F238E27FC236}">
                <a16:creationId xmlns:a16="http://schemas.microsoft.com/office/drawing/2014/main" id="{747A3102-45B8-2080-FAF2-7521808A01ED}"/>
              </a:ext>
            </a:extLst>
          </p:cNvPr>
          <p:cNvCxnSpPr>
            <a:cxnSpLocks/>
            <a:stCxn id="25" idx="1"/>
            <a:endCxn id="158" idx="5"/>
          </p:cNvCxnSpPr>
          <p:nvPr/>
        </p:nvCxnSpPr>
        <p:spPr>
          <a:xfrm flipH="1" flipV="1">
            <a:off x="10105954" y="3442125"/>
            <a:ext cx="724932" cy="1108629"/>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1" name="Connecteur droit avec flèche 170">
            <a:extLst>
              <a:ext uri="{FF2B5EF4-FFF2-40B4-BE49-F238E27FC236}">
                <a16:creationId xmlns:a16="http://schemas.microsoft.com/office/drawing/2014/main" id="{A2AA62B3-FC83-475E-FFB5-B885944B5E28}"/>
              </a:ext>
            </a:extLst>
          </p:cNvPr>
          <p:cNvCxnSpPr>
            <a:cxnSpLocks/>
            <a:stCxn id="123" idx="0"/>
            <a:endCxn id="158" idx="4"/>
          </p:cNvCxnSpPr>
          <p:nvPr/>
        </p:nvCxnSpPr>
        <p:spPr>
          <a:xfrm flipH="1" flipV="1">
            <a:off x="10010507" y="3481661"/>
            <a:ext cx="21768" cy="1827262"/>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7" name="ZoneTexte 186">
            <a:extLst>
              <a:ext uri="{FF2B5EF4-FFF2-40B4-BE49-F238E27FC236}">
                <a16:creationId xmlns:a16="http://schemas.microsoft.com/office/drawing/2014/main" id="{7B7E05E1-3EDD-A6AC-6699-FB72CF33D4ED}"/>
              </a:ext>
            </a:extLst>
          </p:cNvPr>
          <p:cNvSpPr txBox="1"/>
          <p:nvPr/>
        </p:nvSpPr>
        <p:spPr>
          <a:xfrm>
            <a:off x="9060006" y="3492300"/>
            <a:ext cx="854800" cy="461665"/>
          </a:xfrm>
          <a:prstGeom prst="rect">
            <a:avLst/>
          </a:prstGeom>
          <a:solidFill>
            <a:schemeClr val="bg1"/>
          </a:solidFill>
          <a:ln>
            <a:solidFill>
              <a:srgbClr val="ED7D31"/>
            </a:solidFill>
          </a:ln>
        </p:spPr>
        <p:txBody>
          <a:bodyPr wrap="square">
            <a:spAutoFit/>
          </a:bodyPr>
          <a:lstStyle/>
          <a:p>
            <a:pPr algn="ctr"/>
            <a:r>
              <a:rPr lang="fr-FR" sz="1200" b="1" dirty="0">
                <a:solidFill>
                  <a:srgbClr val="ED7D31"/>
                </a:solidFill>
              </a:rPr>
              <a:t>Cœur d’activités</a:t>
            </a:r>
          </a:p>
        </p:txBody>
      </p:sp>
      <p:cxnSp>
        <p:nvCxnSpPr>
          <p:cNvPr id="204" name="Connecteur droit avec flèche 203">
            <a:extLst>
              <a:ext uri="{FF2B5EF4-FFF2-40B4-BE49-F238E27FC236}">
                <a16:creationId xmlns:a16="http://schemas.microsoft.com/office/drawing/2014/main" id="{EC89855A-CD2F-8096-277C-0A1BB1DEE69B}"/>
              </a:ext>
            </a:extLst>
          </p:cNvPr>
          <p:cNvCxnSpPr>
            <a:cxnSpLocks/>
          </p:cNvCxnSpPr>
          <p:nvPr/>
        </p:nvCxnSpPr>
        <p:spPr>
          <a:xfrm flipV="1">
            <a:off x="6062388" y="982273"/>
            <a:ext cx="1344606" cy="10731"/>
          </a:xfrm>
          <a:prstGeom prst="straightConnector1">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0" name="Connecteur droit avec flèche 219">
            <a:extLst>
              <a:ext uri="{FF2B5EF4-FFF2-40B4-BE49-F238E27FC236}">
                <a16:creationId xmlns:a16="http://schemas.microsoft.com/office/drawing/2014/main" id="{5C142B00-AB97-CC57-E80D-A46072A5FA1C}"/>
              </a:ext>
            </a:extLst>
          </p:cNvPr>
          <p:cNvCxnSpPr>
            <a:cxnSpLocks/>
            <a:stCxn id="123" idx="2"/>
            <a:endCxn id="11" idx="6"/>
          </p:cNvCxnSpPr>
          <p:nvPr/>
        </p:nvCxnSpPr>
        <p:spPr>
          <a:xfrm flipH="1" flipV="1">
            <a:off x="4271280" y="3346678"/>
            <a:ext cx="5626012" cy="2097228"/>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30" name="Connecteur : en angle 229">
            <a:extLst>
              <a:ext uri="{FF2B5EF4-FFF2-40B4-BE49-F238E27FC236}">
                <a16:creationId xmlns:a16="http://schemas.microsoft.com/office/drawing/2014/main" id="{95BCF8D1-DA59-4BA9-593D-481C2C804C6B}"/>
              </a:ext>
            </a:extLst>
          </p:cNvPr>
          <p:cNvCxnSpPr>
            <a:cxnSpLocks/>
            <a:stCxn id="123" idx="2"/>
            <a:endCxn id="4" idx="4"/>
          </p:cNvCxnSpPr>
          <p:nvPr/>
        </p:nvCxnSpPr>
        <p:spPr>
          <a:xfrm rot="10800000">
            <a:off x="936988" y="3481662"/>
            <a:ext cx="8960305" cy="1962245"/>
          </a:xfrm>
          <a:prstGeom prst="bentConnector2">
            <a:avLst/>
          </a:prstGeom>
          <a:ln w="38100">
            <a:solidFill>
              <a:schemeClr val="bg1">
                <a:lumMod val="50000"/>
              </a:schemeClr>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231" name="ZoneTexte 230">
            <a:extLst>
              <a:ext uri="{FF2B5EF4-FFF2-40B4-BE49-F238E27FC236}">
                <a16:creationId xmlns:a16="http://schemas.microsoft.com/office/drawing/2014/main" id="{AC28B933-6FE3-D85B-9897-BAF738F0BE4A}"/>
              </a:ext>
            </a:extLst>
          </p:cNvPr>
          <p:cNvSpPr txBox="1"/>
          <p:nvPr/>
        </p:nvSpPr>
        <p:spPr>
          <a:xfrm>
            <a:off x="3919943" y="5438104"/>
            <a:ext cx="1584960" cy="261610"/>
          </a:xfrm>
          <a:prstGeom prst="rect">
            <a:avLst/>
          </a:prstGeom>
          <a:noFill/>
        </p:spPr>
        <p:txBody>
          <a:bodyPr wrap="square">
            <a:spAutoFit/>
          </a:bodyPr>
          <a:lstStyle/>
          <a:p>
            <a:pPr algn="ctr"/>
            <a:r>
              <a:rPr lang="fr-FR" sz="1100" i="1" dirty="0">
                <a:solidFill>
                  <a:schemeClr val="bg1">
                    <a:lumMod val="50000"/>
                  </a:schemeClr>
                </a:solidFill>
              </a:rPr>
              <a:t>Retour à la base</a:t>
            </a:r>
          </a:p>
        </p:txBody>
      </p:sp>
      <p:sp>
        <p:nvSpPr>
          <p:cNvPr id="232" name="ZoneTexte 231">
            <a:extLst>
              <a:ext uri="{FF2B5EF4-FFF2-40B4-BE49-F238E27FC236}">
                <a16:creationId xmlns:a16="http://schemas.microsoft.com/office/drawing/2014/main" id="{E4487F08-FFB4-A2C0-D3AE-3B5535C4F086}"/>
              </a:ext>
            </a:extLst>
          </p:cNvPr>
          <p:cNvSpPr txBox="1"/>
          <p:nvPr/>
        </p:nvSpPr>
        <p:spPr>
          <a:xfrm rot="1215659">
            <a:off x="6119210" y="4371120"/>
            <a:ext cx="1584960" cy="261610"/>
          </a:xfrm>
          <a:prstGeom prst="rect">
            <a:avLst/>
          </a:prstGeom>
          <a:noFill/>
        </p:spPr>
        <p:txBody>
          <a:bodyPr wrap="square">
            <a:spAutoFit/>
          </a:bodyPr>
          <a:lstStyle/>
          <a:p>
            <a:pPr algn="ctr"/>
            <a:r>
              <a:rPr lang="fr-FR" sz="1100" i="1" dirty="0">
                <a:solidFill>
                  <a:schemeClr val="bg1">
                    <a:lumMod val="50000"/>
                  </a:schemeClr>
                </a:solidFill>
              </a:rPr>
              <a:t>Allègement</a:t>
            </a:r>
          </a:p>
        </p:txBody>
      </p:sp>
      <p:cxnSp>
        <p:nvCxnSpPr>
          <p:cNvPr id="24" name="Connecteur droit avec flèche 23">
            <a:extLst>
              <a:ext uri="{FF2B5EF4-FFF2-40B4-BE49-F238E27FC236}">
                <a16:creationId xmlns:a16="http://schemas.microsoft.com/office/drawing/2014/main" id="{B32A11F1-B515-D0C0-298F-C4B0B9A44F87}"/>
              </a:ext>
            </a:extLst>
          </p:cNvPr>
          <p:cNvCxnSpPr>
            <a:cxnSpLocks/>
            <a:stCxn id="123" idx="4"/>
          </p:cNvCxnSpPr>
          <p:nvPr/>
        </p:nvCxnSpPr>
        <p:spPr>
          <a:xfrm>
            <a:off x="10032275" y="5578889"/>
            <a:ext cx="10293" cy="493889"/>
          </a:xfrm>
          <a:prstGeom prst="straightConnector1">
            <a:avLst/>
          </a:prstGeom>
          <a:ln w="38100">
            <a:solidFill>
              <a:schemeClr val="bg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0" name="ZoneTexte 29">
            <a:extLst>
              <a:ext uri="{FF2B5EF4-FFF2-40B4-BE49-F238E27FC236}">
                <a16:creationId xmlns:a16="http://schemas.microsoft.com/office/drawing/2014/main" id="{CE8B7A96-5D59-F9A5-CCEB-4C2DFAFEF485}"/>
              </a:ext>
            </a:extLst>
          </p:cNvPr>
          <p:cNvSpPr txBox="1"/>
          <p:nvPr/>
        </p:nvSpPr>
        <p:spPr>
          <a:xfrm>
            <a:off x="9251271" y="5615107"/>
            <a:ext cx="861689" cy="261610"/>
          </a:xfrm>
          <a:prstGeom prst="rect">
            <a:avLst/>
          </a:prstGeom>
          <a:noFill/>
        </p:spPr>
        <p:txBody>
          <a:bodyPr wrap="square">
            <a:spAutoFit/>
          </a:bodyPr>
          <a:lstStyle/>
          <a:p>
            <a:pPr algn="ctr"/>
            <a:r>
              <a:rPr lang="fr-FR" sz="1100" i="1" dirty="0">
                <a:solidFill>
                  <a:schemeClr val="bg1">
                    <a:lumMod val="50000"/>
                  </a:schemeClr>
                </a:solidFill>
              </a:rPr>
              <a:t>Fermeture</a:t>
            </a:r>
          </a:p>
        </p:txBody>
      </p:sp>
      <p:pic>
        <p:nvPicPr>
          <p:cNvPr id="37" name="Graphique 36" descr="Bécher avec un remplissage uni">
            <a:extLst>
              <a:ext uri="{FF2B5EF4-FFF2-40B4-BE49-F238E27FC236}">
                <a16:creationId xmlns:a16="http://schemas.microsoft.com/office/drawing/2014/main" id="{A7CBEB96-07B4-6F1F-AE85-E7D4D652BA2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720137" y="774094"/>
            <a:ext cx="342251" cy="342251"/>
          </a:xfrm>
          <a:prstGeom prst="rect">
            <a:avLst/>
          </a:prstGeom>
        </p:spPr>
      </p:pic>
      <p:sp>
        <p:nvSpPr>
          <p:cNvPr id="36" name="ZoneTexte 35">
            <a:extLst>
              <a:ext uri="{FF2B5EF4-FFF2-40B4-BE49-F238E27FC236}">
                <a16:creationId xmlns:a16="http://schemas.microsoft.com/office/drawing/2014/main" id="{40E4ECA5-0242-421C-722B-97A576175140}"/>
              </a:ext>
            </a:extLst>
          </p:cNvPr>
          <p:cNvSpPr txBox="1"/>
          <p:nvPr/>
        </p:nvSpPr>
        <p:spPr>
          <a:xfrm>
            <a:off x="7436480" y="826524"/>
            <a:ext cx="2319194" cy="307777"/>
          </a:xfrm>
          <a:prstGeom prst="rect">
            <a:avLst/>
          </a:prstGeom>
          <a:noFill/>
        </p:spPr>
        <p:txBody>
          <a:bodyPr wrap="square">
            <a:spAutoFit/>
          </a:bodyPr>
          <a:lstStyle/>
          <a:p>
            <a:r>
              <a:rPr lang="fr-FR" sz="1400" b="1" dirty="0">
                <a:solidFill>
                  <a:schemeClr val="bg1">
                    <a:lumMod val="65000"/>
                  </a:schemeClr>
                </a:solidFill>
              </a:rPr>
              <a:t>Parcours du test terrain</a:t>
            </a:r>
          </a:p>
        </p:txBody>
      </p:sp>
      <p:pic>
        <p:nvPicPr>
          <p:cNvPr id="3" name="Graphique 2" descr="Cœur avec un remplissage uni">
            <a:extLst>
              <a:ext uri="{FF2B5EF4-FFF2-40B4-BE49-F238E27FC236}">
                <a16:creationId xmlns:a16="http://schemas.microsoft.com/office/drawing/2014/main" id="{C49ACE33-0342-61B9-C661-02E5C3E752B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932502" y="3278748"/>
            <a:ext cx="162821" cy="162821"/>
          </a:xfrm>
          <a:prstGeom prst="rect">
            <a:avLst/>
          </a:prstGeom>
        </p:spPr>
      </p:pic>
    </p:spTree>
    <p:extLst>
      <p:ext uri="{BB962C8B-B14F-4D97-AF65-F5344CB8AC3E}">
        <p14:creationId xmlns:p14="http://schemas.microsoft.com/office/powerpoint/2010/main" val="909098573"/>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4083007490"/>
              </p:ext>
            </p:extLst>
          </p:nvPr>
        </p:nvGraphicFramePr>
        <p:xfrm>
          <a:off x="811698" y="817891"/>
          <a:ext cx="10515600" cy="5430796"/>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solidFill>
                            <a:schemeClr val="tx1"/>
                          </a:solidFill>
                        </a:rPr>
                        <a:t>Etape de test en approche individuelle</a:t>
                      </a:r>
                    </a:p>
                    <a:p>
                      <a:r>
                        <a:rPr lang="fr-FR" i="1" dirty="0">
                          <a:solidFill>
                            <a:schemeClr val="tx1"/>
                          </a:solidFill>
                        </a:rPr>
                        <a:t>« Avant de réunir des personnes, tester si on peut se suffire d’une approche individuelle pour répondre à la motivation de départ »</a:t>
                      </a:r>
                    </a:p>
                  </a:txBody>
                  <a:tcPr>
                    <a:solidFill>
                      <a:schemeClr val="bg1">
                        <a:lumMod val="85000"/>
                      </a:schemeClr>
                    </a:solidFill>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grpSp>
        <p:nvGrpSpPr>
          <p:cNvPr id="2" name="Groupe 1">
            <a:extLst>
              <a:ext uri="{FF2B5EF4-FFF2-40B4-BE49-F238E27FC236}">
                <a16:creationId xmlns:a16="http://schemas.microsoft.com/office/drawing/2014/main" id="{76530BEB-50F5-3CFA-3BB1-699B7B242E23}"/>
              </a:ext>
            </a:extLst>
          </p:cNvPr>
          <p:cNvGrpSpPr/>
          <p:nvPr/>
        </p:nvGrpSpPr>
        <p:grpSpPr>
          <a:xfrm>
            <a:off x="3360176" y="2377854"/>
            <a:ext cx="1119827" cy="1229618"/>
            <a:chOff x="3572678" y="2048588"/>
            <a:chExt cx="1119827" cy="1229618"/>
          </a:xfrm>
        </p:grpSpPr>
        <p:grpSp>
          <p:nvGrpSpPr>
            <p:cNvPr id="6" name="Groupe 5">
              <a:extLst>
                <a:ext uri="{FF2B5EF4-FFF2-40B4-BE49-F238E27FC236}">
                  <a16:creationId xmlns:a16="http://schemas.microsoft.com/office/drawing/2014/main" id="{E9013DA7-82A7-688A-A216-2913852557D6}"/>
                </a:ext>
              </a:extLst>
            </p:cNvPr>
            <p:cNvGrpSpPr/>
            <p:nvPr/>
          </p:nvGrpSpPr>
          <p:grpSpPr>
            <a:xfrm>
              <a:off x="3700978" y="2048588"/>
              <a:ext cx="971223" cy="805096"/>
              <a:chOff x="-1799507" y="-602354"/>
              <a:chExt cx="1401199" cy="1161525"/>
            </a:xfrm>
          </p:grpSpPr>
          <p:pic>
            <p:nvPicPr>
              <p:cNvPr id="8" name="Graphique 7" descr="Utilisateur avec un remplissage uni">
                <a:extLst>
                  <a:ext uri="{FF2B5EF4-FFF2-40B4-BE49-F238E27FC236}">
                    <a16:creationId xmlns:a16="http://schemas.microsoft.com/office/drawing/2014/main" id="{5F1E8660-D6F3-F853-2484-D91AF83BDEA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9507" y="-551666"/>
                <a:ext cx="411559" cy="411559"/>
              </a:xfrm>
              <a:prstGeom prst="rect">
                <a:avLst/>
              </a:prstGeom>
            </p:spPr>
          </p:pic>
          <p:pic>
            <p:nvPicPr>
              <p:cNvPr id="9" name="Graphique 8" descr="Utilisateur avec un remplissage uni">
                <a:extLst>
                  <a:ext uri="{FF2B5EF4-FFF2-40B4-BE49-F238E27FC236}">
                    <a16:creationId xmlns:a16="http://schemas.microsoft.com/office/drawing/2014/main" id="{E416A96F-8A96-3C04-6861-ABF5B7AA85E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33358" y="147612"/>
                <a:ext cx="411559" cy="411559"/>
              </a:xfrm>
              <a:prstGeom prst="rect">
                <a:avLst/>
              </a:prstGeom>
            </p:spPr>
          </p:pic>
          <p:pic>
            <p:nvPicPr>
              <p:cNvPr id="10" name="Graphique 9" descr="Utilisateur avec un remplissage uni">
                <a:extLst>
                  <a:ext uri="{FF2B5EF4-FFF2-40B4-BE49-F238E27FC236}">
                    <a16:creationId xmlns:a16="http://schemas.microsoft.com/office/drawing/2014/main" id="{48A1955E-137D-B3DC-AD79-9B183FF0B8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09867" y="137956"/>
                <a:ext cx="411559" cy="411559"/>
              </a:xfrm>
              <a:prstGeom prst="rect">
                <a:avLst/>
              </a:prstGeom>
            </p:spPr>
          </p:pic>
          <p:pic>
            <p:nvPicPr>
              <p:cNvPr id="11" name="Graphique 10" descr="Utilisateur avec un remplissage uni">
                <a:extLst>
                  <a:ext uri="{FF2B5EF4-FFF2-40B4-BE49-F238E27FC236}">
                    <a16:creationId xmlns:a16="http://schemas.microsoft.com/office/drawing/2014/main" id="{3E3D2723-D86F-2624-F8CB-2FC63EC1555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50117" y="-602354"/>
                <a:ext cx="411559" cy="411559"/>
              </a:xfrm>
              <a:prstGeom prst="rect">
                <a:avLst/>
              </a:prstGeom>
            </p:spPr>
          </p:pic>
        </p:grpSp>
        <p:sp>
          <p:nvSpPr>
            <p:cNvPr id="7" name="Titre 1">
              <a:extLst>
                <a:ext uri="{FF2B5EF4-FFF2-40B4-BE49-F238E27FC236}">
                  <a16:creationId xmlns:a16="http://schemas.microsoft.com/office/drawing/2014/main" id="{8F0E437B-4DDC-7DF5-5C91-C9206BEE237D}"/>
                </a:ext>
              </a:extLst>
            </p:cNvPr>
            <p:cNvSpPr txBox="1">
              <a:spLocks/>
            </p:cNvSpPr>
            <p:nvPr/>
          </p:nvSpPr>
          <p:spPr>
            <a:xfrm>
              <a:off x="3572678" y="2861771"/>
              <a:ext cx="1119827" cy="41643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individus</a:t>
              </a:r>
            </a:p>
          </p:txBody>
        </p:sp>
      </p:grpSp>
      <p:sp>
        <p:nvSpPr>
          <p:cNvPr id="12" name="Flèche : droite 11">
            <a:extLst>
              <a:ext uri="{FF2B5EF4-FFF2-40B4-BE49-F238E27FC236}">
                <a16:creationId xmlns:a16="http://schemas.microsoft.com/office/drawing/2014/main" id="{3C8858E8-8CFF-6585-8402-E971BBADA941}"/>
              </a:ext>
            </a:extLst>
          </p:cNvPr>
          <p:cNvSpPr/>
          <p:nvPr/>
        </p:nvSpPr>
        <p:spPr>
          <a:xfrm>
            <a:off x="858250" y="2323641"/>
            <a:ext cx="1979387" cy="1311044"/>
          </a:xfrm>
          <a:prstGeom prst="rightArrow">
            <a:avLst>
              <a:gd name="adj1" fmla="val 63355"/>
              <a:gd name="adj2" fmla="val 50000"/>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36000" rtlCol="0" anchor="ctr"/>
          <a:lstStyle/>
          <a:p>
            <a:pPr algn="ctr"/>
            <a:r>
              <a:rPr lang="fr-FR" sz="1000" b="1" dirty="0">
                <a:solidFill>
                  <a:schemeClr val="tx1"/>
                </a:solidFill>
              </a:rPr>
              <a:t>PRIORISATION ET TESTS:</a:t>
            </a:r>
          </a:p>
          <a:p>
            <a:pPr algn="ctr"/>
            <a:r>
              <a:rPr lang="fr-FR" sz="1000" dirty="0">
                <a:solidFill>
                  <a:schemeClr val="tx1"/>
                </a:solidFill>
              </a:rPr>
              <a:t>Tester la valeur avec les actions priorisées</a:t>
            </a:r>
          </a:p>
        </p:txBody>
      </p:sp>
      <p:sp>
        <p:nvSpPr>
          <p:cNvPr id="13" name="Rectangle 12">
            <a:extLst>
              <a:ext uri="{FF2B5EF4-FFF2-40B4-BE49-F238E27FC236}">
                <a16:creationId xmlns:a16="http://schemas.microsoft.com/office/drawing/2014/main" id="{BD20D76B-223A-DE45-737F-E648BE187F99}"/>
              </a:ext>
            </a:extLst>
          </p:cNvPr>
          <p:cNvSpPr/>
          <p:nvPr/>
        </p:nvSpPr>
        <p:spPr>
          <a:xfrm>
            <a:off x="1167369" y="5270068"/>
            <a:ext cx="1339649" cy="82827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📅Rendez-vous individuels avec les membres</a:t>
            </a:r>
          </a:p>
        </p:txBody>
      </p:sp>
      <p:sp>
        <p:nvSpPr>
          <p:cNvPr id="14" name="Rectangle 13">
            <a:extLst>
              <a:ext uri="{FF2B5EF4-FFF2-40B4-BE49-F238E27FC236}">
                <a16:creationId xmlns:a16="http://schemas.microsoft.com/office/drawing/2014/main" id="{20BD1E5D-9C54-C055-09FE-482C8EF4DB83}"/>
              </a:ext>
            </a:extLst>
          </p:cNvPr>
          <p:cNvSpPr/>
          <p:nvPr/>
        </p:nvSpPr>
        <p:spPr>
          <a:xfrm>
            <a:off x="9540622" y="5270068"/>
            <a:ext cx="1339649" cy="82827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Evaluation des ressources intéressantes à mutualiser</a:t>
            </a:r>
          </a:p>
        </p:txBody>
      </p:sp>
      <p:grpSp>
        <p:nvGrpSpPr>
          <p:cNvPr id="15" name="Groupe 14">
            <a:extLst>
              <a:ext uri="{FF2B5EF4-FFF2-40B4-BE49-F238E27FC236}">
                <a16:creationId xmlns:a16="http://schemas.microsoft.com/office/drawing/2014/main" id="{2445C2B9-A57E-5C8D-2D12-DFE8067DD050}"/>
              </a:ext>
            </a:extLst>
          </p:cNvPr>
          <p:cNvGrpSpPr/>
          <p:nvPr/>
        </p:nvGrpSpPr>
        <p:grpSpPr>
          <a:xfrm>
            <a:off x="9990557" y="4100831"/>
            <a:ext cx="364210" cy="1169237"/>
            <a:chOff x="3912955" y="1517169"/>
            <a:chExt cx="1489519" cy="4781852"/>
          </a:xfrm>
        </p:grpSpPr>
        <p:sp>
          <p:nvSpPr>
            <p:cNvPr id="16" name="Flèche : haut 15">
              <a:extLst>
                <a:ext uri="{FF2B5EF4-FFF2-40B4-BE49-F238E27FC236}">
                  <a16:creationId xmlns:a16="http://schemas.microsoft.com/office/drawing/2014/main" id="{3906CF15-7E2B-FFDB-2D8F-1EE12E09EBF3}"/>
                </a:ext>
              </a:extLst>
            </p:cNvPr>
            <p:cNvSpPr/>
            <p:nvPr/>
          </p:nvSpPr>
          <p:spPr>
            <a:xfrm>
              <a:off x="5097674" y="1517169"/>
              <a:ext cx="304800" cy="4781852"/>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 name="Groupe 16">
              <a:extLst>
                <a:ext uri="{FF2B5EF4-FFF2-40B4-BE49-F238E27FC236}">
                  <a16:creationId xmlns:a16="http://schemas.microsoft.com/office/drawing/2014/main" id="{3031DF57-329C-113C-1871-0062437CBFBF}"/>
                </a:ext>
              </a:extLst>
            </p:cNvPr>
            <p:cNvGrpSpPr/>
            <p:nvPr/>
          </p:nvGrpSpPr>
          <p:grpSpPr>
            <a:xfrm>
              <a:off x="4172644" y="1517169"/>
              <a:ext cx="642859" cy="541981"/>
              <a:chOff x="1797480" y="1339838"/>
              <a:chExt cx="1507135" cy="1270634"/>
            </a:xfrm>
          </p:grpSpPr>
          <p:grpSp>
            <p:nvGrpSpPr>
              <p:cNvPr id="242" name="Groupe 241">
                <a:extLst>
                  <a:ext uri="{FF2B5EF4-FFF2-40B4-BE49-F238E27FC236}">
                    <a16:creationId xmlns:a16="http://schemas.microsoft.com/office/drawing/2014/main" id="{9023A240-9F7C-40CA-1436-1CD2AFD010EC}"/>
                  </a:ext>
                </a:extLst>
              </p:cNvPr>
              <p:cNvGrpSpPr/>
              <p:nvPr/>
            </p:nvGrpSpPr>
            <p:grpSpPr>
              <a:xfrm>
                <a:off x="1797480" y="1339838"/>
                <a:ext cx="1507135" cy="1270634"/>
                <a:chOff x="8982504" y="3274976"/>
                <a:chExt cx="1230670" cy="1037553"/>
              </a:xfrm>
              <a:solidFill>
                <a:srgbClr val="ED7D31"/>
              </a:solidFill>
            </p:grpSpPr>
            <p:pic>
              <p:nvPicPr>
                <p:cNvPr id="244" name="Graphique 243" descr="Utilisateur avec un remplissage uni">
                  <a:extLst>
                    <a:ext uri="{FF2B5EF4-FFF2-40B4-BE49-F238E27FC236}">
                      <a16:creationId xmlns:a16="http://schemas.microsoft.com/office/drawing/2014/main" id="{78438556-CDB7-BC20-BD72-27E54DA0AD7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245" name="Graphique 244" descr="Utilisateur avec un remplissage uni">
                  <a:extLst>
                    <a:ext uri="{FF2B5EF4-FFF2-40B4-BE49-F238E27FC236}">
                      <a16:creationId xmlns:a16="http://schemas.microsoft.com/office/drawing/2014/main" id="{51EE19D0-BAB2-F943-5AB7-76F6496630A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246" name="Graphique 245" descr="Utilisateur avec un remplissage uni">
                  <a:extLst>
                    <a:ext uri="{FF2B5EF4-FFF2-40B4-BE49-F238E27FC236}">
                      <a16:creationId xmlns:a16="http://schemas.microsoft.com/office/drawing/2014/main" id="{A901BAD0-958E-AE14-AFFA-3F1F87D53FD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247" name="Graphique 246" descr="Utilisateur avec un remplissage uni">
                  <a:extLst>
                    <a:ext uri="{FF2B5EF4-FFF2-40B4-BE49-F238E27FC236}">
                      <a16:creationId xmlns:a16="http://schemas.microsoft.com/office/drawing/2014/main" id="{384A5A64-0B1B-4AAD-2452-96823E60A47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248" name="Graphique 247" descr="Utilisateur avec un remplissage uni">
                  <a:extLst>
                    <a:ext uri="{FF2B5EF4-FFF2-40B4-BE49-F238E27FC236}">
                      <a16:creationId xmlns:a16="http://schemas.microsoft.com/office/drawing/2014/main" id="{3E7414F1-A300-64F6-C8BF-BF581DCC918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249" name="Graphique 248" descr="Utilisateur avec un remplissage uni">
                  <a:extLst>
                    <a:ext uri="{FF2B5EF4-FFF2-40B4-BE49-F238E27FC236}">
                      <a16:creationId xmlns:a16="http://schemas.microsoft.com/office/drawing/2014/main" id="{48F1D4A6-06D2-51B5-041D-8CB1AD575B2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250" name="Graphique 249" descr="Utilisateur avec un remplissage uni">
                  <a:extLst>
                    <a:ext uri="{FF2B5EF4-FFF2-40B4-BE49-F238E27FC236}">
                      <a16:creationId xmlns:a16="http://schemas.microsoft.com/office/drawing/2014/main" id="{5D61E91C-4130-8632-AC30-7ACE4715206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251" name="Graphique 250" descr="Utilisateur avec un remplissage uni">
                  <a:extLst>
                    <a:ext uri="{FF2B5EF4-FFF2-40B4-BE49-F238E27FC236}">
                      <a16:creationId xmlns:a16="http://schemas.microsoft.com/office/drawing/2014/main" id="{E47BB646-2685-E710-69F0-FE6F2444320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252" name="Graphique 251" descr="Utilisateur avec un remplissage uni">
                  <a:extLst>
                    <a:ext uri="{FF2B5EF4-FFF2-40B4-BE49-F238E27FC236}">
                      <a16:creationId xmlns:a16="http://schemas.microsoft.com/office/drawing/2014/main" id="{B368CD0B-7A5F-61E1-A97C-1DD0D1D7CE3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253" name="Graphique 252" descr="Utilisateur avec un remplissage uni">
                  <a:extLst>
                    <a:ext uri="{FF2B5EF4-FFF2-40B4-BE49-F238E27FC236}">
                      <a16:creationId xmlns:a16="http://schemas.microsoft.com/office/drawing/2014/main" id="{8D8D5B26-45AF-6099-1DF8-BD01F57DECF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254" name="Graphique 253" descr="Utilisateur avec un remplissage uni">
                  <a:extLst>
                    <a:ext uri="{FF2B5EF4-FFF2-40B4-BE49-F238E27FC236}">
                      <a16:creationId xmlns:a16="http://schemas.microsoft.com/office/drawing/2014/main" id="{F2DDCEC6-2278-FB2A-88AB-F533E7FD8AC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pic>
            <p:nvPicPr>
              <p:cNvPr id="243" name="Graphique 242" descr="Boîte à archives avec un remplissage uni">
                <a:extLst>
                  <a:ext uri="{FF2B5EF4-FFF2-40B4-BE49-F238E27FC236}">
                    <a16:creationId xmlns:a16="http://schemas.microsoft.com/office/drawing/2014/main" id="{99B7EF4E-5F1B-0D94-6143-B68D2344C81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164013" y="1631780"/>
                <a:ext cx="795090" cy="795090"/>
              </a:xfrm>
              <a:prstGeom prst="rect">
                <a:avLst/>
              </a:prstGeom>
            </p:spPr>
          </p:pic>
        </p:grpSp>
        <p:grpSp>
          <p:nvGrpSpPr>
            <p:cNvPr id="18" name="Groupe 17">
              <a:extLst>
                <a:ext uri="{FF2B5EF4-FFF2-40B4-BE49-F238E27FC236}">
                  <a16:creationId xmlns:a16="http://schemas.microsoft.com/office/drawing/2014/main" id="{CAEC63EF-0616-FA44-AE3F-39D4A3A95AC7}"/>
                </a:ext>
              </a:extLst>
            </p:cNvPr>
            <p:cNvGrpSpPr/>
            <p:nvPr/>
          </p:nvGrpSpPr>
          <p:grpSpPr>
            <a:xfrm>
              <a:off x="3942660" y="2147055"/>
              <a:ext cx="928257" cy="541981"/>
              <a:chOff x="1797480" y="1339838"/>
              <a:chExt cx="2176227" cy="1270634"/>
            </a:xfrm>
          </p:grpSpPr>
          <p:grpSp>
            <p:nvGrpSpPr>
              <p:cNvPr id="229" name="Groupe 228">
                <a:extLst>
                  <a:ext uri="{FF2B5EF4-FFF2-40B4-BE49-F238E27FC236}">
                    <a16:creationId xmlns:a16="http://schemas.microsoft.com/office/drawing/2014/main" id="{80153C32-7FED-D4CF-7FAB-418BDB8A1FB0}"/>
                  </a:ext>
                </a:extLst>
              </p:cNvPr>
              <p:cNvGrpSpPr/>
              <p:nvPr/>
            </p:nvGrpSpPr>
            <p:grpSpPr>
              <a:xfrm>
                <a:off x="1797480" y="1339838"/>
                <a:ext cx="1507135" cy="1270634"/>
                <a:chOff x="8982504" y="3274976"/>
                <a:chExt cx="1230670" cy="1037553"/>
              </a:xfrm>
              <a:solidFill>
                <a:srgbClr val="ED7D31"/>
              </a:solidFill>
            </p:grpSpPr>
            <p:pic>
              <p:nvPicPr>
                <p:cNvPr id="231" name="Graphique 230" descr="Utilisateur avec un remplissage uni">
                  <a:extLst>
                    <a:ext uri="{FF2B5EF4-FFF2-40B4-BE49-F238E27FC236}">
                      <a16:creationId xmlns:a16="http://schemas.microsoft.com/office/drawing/2014/main" id="{614F48CC-8E2F-D076-4B55-AD8CB659E86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232" name="Graphique 231" descr="Utilisateur avec un remplissage uni">
                  <a:extLst>
                    <a:ext uri="{FF2B5EF4-FFF2-40B4-BE49-F238E27FC236}">
                      <a16:creationId xmlns:a16="http://schemas.microsoft.com/office/drawing/2014/main" id="{9C35E79B-88E4-35BA-28E5-365E6158399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233" name="Graphique 232" descr="Utilisateur avec un remplissage uni">
                  <a:extLst>
                    <a:ext uri="{FF2B5EF4-FFF2-40B4-BE49-F238E27FC236}">
                      <a16:creationId xmlns:a16="http://schemas.microsoft.com/office/drawing/2014/main" id="{251AEA42-EB64-9449-403E-1C9D22572AE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234" name="Graphique 233" descr="Utilisateur avec un remplissage uni">
                  <a:extLst>
                    <a:ext uri="{FF2B5EF4-FFF2-40B4-BE49-F238E27FC236}">
                      <a16:creationId xmlns:a16="http://schemas.microsoft.com/office/drawing/2014/main" id="{89674A7B-3630-5339-488B-2296C745C06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235" name="Graphique 234" descr="Utilisateur avec un remplissage uni">
                  <a:extLst>
                    <a:ext uri="{FF2B5EF4-FFF2-40B4-BE49-F238E27FC236}">
                      <a16:creationId xmlns:a16="http://schemas.microsoft.com/office/drawing/2014/main" id="{88BA03C5-7B00-4991-0EB3-5842E4936F8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236" name="Graphique 235" descr="Utilisateur avec un remplissage uni">
                  <a:extLst>
                    <a:ext uri="{FF2B5EF4-FFF2-40B4-BE49-F238E27FC236}">
                      <a16:creationId xmlns:a16="http://schemas.microsoft.com/office/drawing/2014/main" id="{CF2074C0-C605-D205-1BB9-A5CEA176220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237" name="Graphique 236" descr="Utilisateur avec un remplissage uni">
                  <a:extLst>
                    <a:ext uri="{FF2B5EF4-FFF2-40B4-BE49-F238E27FC236}">
                      <a16:creationId xmlns:a16="http://schemas.microsoft.com/office/drawing/2014/main" id="{1FC40105-2FDA-6D69-1D08-CDCC96AFFE8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238" name="Graphique 237" descr="Utilisateur avec un remplissage uni">
                  <a:extLst>
                    <a:ext uri="{FF2B5EF4-FFF2-40B4-BE49-F238E27FC236}">
                      <a16:creationId xmlns:a16="http://schemas.microsoft.com/office/drawing/2014/main" id="{30FF8897-2011-93CC-4FAB-0C461A44FFD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239" name="Graphique 238" descr="Utilisateur avec un remplissage uni">
                  <a:extLst>
                    <a:ext uri="{FF2B5EF4-FFF2-40B4-BE49-F238E27FC236}">
                      <a16:creationId xmlns:a16="http://schemas.microsoft.com/office/drawing/2014/main" id="{558144F1-EAA9-FED4-6204-FFF68AFDEAE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240" name="Graphique 239" descr="Utilisateur avec un remplissage uni">
                  <a:extLst>
                    <a:ext uri="{FF2B5EF4-FFF2-40B4-BE49-F238E27FC236}">
                      <a16:creationId xmlns:a16="http://schemas.microsoft.com/office/drawing/2014/main" id="{877EAFDA-A828-A1C2-3006-CEDBCE7C87B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241" name="Graphique 240" descr="Utilisateur avec un remplissage uni">
                  <a:extLst>
                    <a:ext uri="{FF2B5EF4-FFF2-40B4-BE49-F238E27FC236}">
                      <a16:creationId xmlns:a16="http://schemas.microsoft.com/office/drawing/2014/main" id="{8FEE212E-CD7B-3CC6-4687-C0A64AB563C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pic>
            <p:nvPicPr>
              <p:cNvPr id="230" name="Graphique 229" descr="Boîte à archives avec un remplissage uni">
                <a:extLst>
                  <a:ext uri="{FF2B5EF4-FFF2-40B4-BE49-F238E27FC236}">
                    <a16:creationId xmlns:a16="http://schemas.microsoft.com/office/drawing/2014/main" id="{3758FAC8-434D-782F-A86B-D3AD6D828F8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178618" y="1572578"/>
                <a:ext cx="795089" cy="795090"/>
              </a:xfrm>
              <a:prstGeom prst="rect">
                <a:avLst/>
              </a:prstGeom>
            </p:spPr>
          </p:pic>
        </p:grpSp>
        <p:grpSp>
          <p:nvGrpSpPr>
            <p:cNvPr id="20" name="Groupe 19">
              <a:extLst>
                <a:ext uri="{FF2B5EF4-FFF2-40B4-BE49-F238E27FC236}">
                  <a16:creationId xmlns:a16="http://schemas.microsoft.com/office/drawing/2014/main" id="{3E5B5FB9-7BDB-A31D-9391-F05F90625A97}"/>
                </a:ext>
              </a:extLst>
            </p:cNvPr>
            <p:cNvGrpSpPr/>
            <p:nvPr/>
          </p:nvGrpSpPr>
          <p:grpSpPr>
            <a:xfrm>
              <a:off x="3942660" y="2925587"/>
              <a:ext cx="1104068" cy="541981"/>
              <a:chOff x="1797481" y="3401554"/>
              <a:chExt cx="1314902" cy="645478"/>
            </a:xfrm>
          </p:grpSpPr>
          <p:grpSp>
            <p:nvGrpSpPr>
              <p:cNvPr id="165" name="Groupe 164">
                <a:extLst>
                  <a:ext uri="{FF2B5EF4-FFF2-40B4-BE49-F238E27FC236}">
                    <a16:creationId xmlns:a16="http://schemas.microsoft.com/office/drawing/2014/main" id="{E91B300C-4CBD-F692-0A18-CE3B77A5A2D1}"/>
                  </a:ext>
                </a:extLst>
              </p:cNvPr>
              <p:cNvGrpSpPr/>
              <p:nvPr/>
            </p:nvGrpSpPr>
            <p:grpSpPr>
              <a:xfrm>
                <a:off x="1797481" y="3401554"/>
                <a:ext cx="1314902" cy="645478"/>
                <a:chOff x="1797480" y="1339838"/>
                <a:chExt cx="2588405" cy="1270634"/>
              </a:xfrm>
            </p:grpSpPr>
            <p:grpSp>
              <p:nvGrpSpPr>
                <p:cNvPr id="167" name="Groupe 166">
                  <a:extLst>
                    <a:ext uri="{FF2B5EF4-FFF2-40B4-BE49-F238E27FC236}">
                      <a16:creationId xmlns:a16="http://schemas.microsoft.com/office/drawing/2014/main" id="{215DF5EE-A983-E392-6402-21A5F3EDE28D}"/>
                    </a:ext>
                  </a:extLst>
                </p:cNvPr>
                <p:cNvGrpSpPr/>
                <p:nvPr/>
              </p:nvGrpSpPr>
              <p:grpSpPr>
                <a:xfrm>
                  <a:off x="1797480" y="1339838"/>
                  <a:ext cx="1507135" cy="1270634"/>
                  <a:chOff x="8982504" y="3274976"/>
                  <a:chExt cx="1230670" cy="1037553"/>
                </a:xfrm>
                <a:solidFill>
                  <a:srgbClr val="ED7D31"/>
                </a:solidFill>
              </p:grpSpPr>
              <p:pic>
                <p:nvPicPr>
                  <p:cNvPr id="169" name="Graphique 168" descr="Utilisateur avec un remplissage uni">
                    <a:extLst>
                      <a:ext uri="{FF2B5EF4-FFF2-40B4-BE49-F238E27FC236}">
                        <a16:creationId xmlns:a16="http://schemas.microsoft.com/office/drawing/2014/main" id="{10BD6498-C9D0-DCDA-C9D1-65BAC6D07E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170" name="Graphique 169" descr="Utilisateur avec un remplissage uni">
                    <a:extLst>
                      <a:ext uri="{FF2B5EF4-FFF2-40B4-BE49-F238E27FC236}">
                        <a16:creationId xmlns:a16="http://schemas.microsoft.com/office/drawing/2014/main" id="{BCFC80AD-0B2C-1DA7-003E-6EBA61903BA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171" name="Graphique 170" descr="Utilisateur avec un remplissage uni">
                    <a:extLst>
                      <a:ext uri="{FF2B5EF4-FFF2-40B4-BE49-F238E27FC236}">
                        <a16:creationId xmlns:a16="http://schemas.microsoft.com/office/drawing/2014/main" id="{D64D0657-96F7-F655-A402-03BE96AF471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221" name="Graphique 220" descr="Utilisateur avec un remplissage uni">
                    <a:extLst>
                      <a:ext uri="{FF2B5EF4-FFF2-40B4-BE49-F238E27FC236}">
                        <a16:creationId xmlns:a16="http://schemas.microsoft.com/office/drawing/2014/main" id="{4BA0D595-3A2B-B71B-C8D3-6880159C21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222" name="Graphique 221" descr="Utilisateur avec un remplissage uni">
                    <a:extLst>
                      <a:ext uri="{FF2B5EF4-FFF2-40B4-BE49-F238E27FC236}">
                        <a16:creationId xmlns:a16="http://schemas.microsoft.com/office/drawing/2014/main" id="{C1289104-3F80-8EFE-5C51-6AB19C3E2A9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223" name="Graphique 222" descr="Utilisateur avec un remplissage uni">
                    <a:extLst>
                      <a:ext uri="{FF2B5EF4-FFF2-40B4-BE49-F238E27FC236}">
                        <a16:creationId xmlns:a16="http://schemas.microsoft.com/office/drawing/2014/main" id="{C490C773-D7EE-B6AB-71FB-E7FD4393D21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224" name="Graphique 223" descr="Utilisateur avec un remplissage uni">
                    <a:extLst>
                      <a:ext uri="{FF2B5EF4-FFF2-40B4-BE49-F238E27FC236}">
                        <a16:creationId xmlns:a16="http://schemas.microsoft.com/office/drawing/2014/main" id="{0586033F-F300-33D2-0881-03CCCC0B015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225" name="Graphique 224" descr="Utilisateur avec un remplissage uni">
                    <a:extLst>
                      <a:ext uri="{FF2B5EF4-FFF2-40B4-BE49-F238E27FC236}">
                        <a16:creationId xmlns:a16="http://schemas.microsoft.com/office/drawing/2014/main" id="{5293979E-A493-7FA7-3DE7-5B8FD33571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226" name="Graphique 225" descr="Utilisateur avec un remplissage uni">
                    <a:extLst>
                      <a:ext uri="{FF2B5EF4-FFF2-40B4-BE49-F238E27FC236}">
                        <a16:creationId xmlns:a16="http://schemas.microsoft.com/office/drawing/2014/main" id="{1C79B34D-8D47-9DAC-D48A-2C98AA986D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227" name="Graphique 226" descr="Utilisateur avec un remplissage uni">
                    <a:extLst>
                      <a:ext uri="{FF2B5EF4-FFF2-40B4-BE49-F238E27FC236}">
                        <a16:creationId xmlns:a16="http://schemas.microsoft.com/office/drawing/2014/main" id="{B37C9519-3C9C-1B24-EBA8-172737E4747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228" name="Graphique 227" descr="Utilisateur avec un remplissage uni">
                    <a:extLst>
                      <a:ext uri="{FF2B5EF4-FFF2-40B4-BE49-F238E27FC236}">
                        <a16:creationId xmlns:a16="http://schemas.microsoft.com/office/drawing/2014/main" id="{FD6AB988-1866-E39C-F28A-D1515D14A93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pic>
              <p:nvPicPr>
                <p:cNvPr id="168" name="Graphique 167" descr="Boîte à archives avec un remplissage uni">
                  <a:extLst>
                    <a:ext uri="{FF2B5EF4-FFF2-40B4-BE49-F238E27FC236}">
                      <a16:creationId xmlns:a16="http://schemas.microsoft.com/office/drawing/2014/main" id="{D5892D8D-9E84-B85D-0885-9BF84720574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590796" y="1573442"/>
                  <a:ext cx="795089" cy="795090"/>
                </a:xfrm>
                <a:prstGeom prst="rect">
                  <a:avLst/>
                </a:prstGeom>
              </p:spPr>
            </p:pic>
          </p:grpSp>
          <p:pic>
            <p:nvPicPr>
              <p:cNvPr id="166" name="Graphique 165" descr="Déverrouiller avec un remplissage uni">
                <a:extLst>
                  <a:ext uri="{FF2B5EF4-FFF2-40B4-BE49-F238E27FC236}">
                    <a16:creationId xmlns:a16="http://schemas.microsoft.com/office/drawing/2014/main" id="{3D2320D9-CD8B-A3E7-5160-ACAF2732379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flipH="1">
                <a:off x="2498111" y="3408841"/>
                <a:ext cx="432779" cy="462545"/>
              </a:xfrm>
              <a:prstGeom prst="rect">
                <a:avLst/>
              </a:prstGeom>
            </p:spPr>
          </p:pic>
        </p:grpSp>
        <p:grpSp>
          <p:nvGrpSpPr>
            <p:cNvPr id="448" name="Groupe 447">
              <a:extLst>
                <a:ext uri="{FF2B5EF4-FFF2-40B4-BE49-F238E27FC236}">
                  <a16:creationId xmlns:a16="http://schemas.microsoft.com/office/drawing/2014/main" id="{09A2EB56-2766-0A73-A9D9-5D81F73E34E4}"/>
                </a:ext>
              </a:extLst>
            </p:cNvPr>
            <p:cNvGrpSpPr/>
            <p:nvPr/>
          </p:nvGrpSpPr>
          <p:grpSpPr>
            <a:xfrm>
              <a:off x="3945288" y="3643032"/>
              <a:ext cx="1104068" cy="541981"/>
              <a:chOff x="1800611" y="4256002"/>
              <a:chExt cx="1314902" cy="645478"/>
            </a:xfrm>
          </p:grpSpPr>
          <p:grpSp>
            <p:nvGrpSpPr>
              <p:cNvPr id="150" name="Groupe 149">
                <a:extLst>
                  <a:ext uri="{FF2B5EF4-FFF2-40B4-BE49-F238E27FC236}">
                    <a16:creationId xmlns:a16="http://schemas.microsoft.com/office/drawing/2014/main" id="{57B121C0-2B08-CFE6-CA61-A70F7380CED3}"/>
                  </a:ext>
                </a:extLst>
              </p:cNvPr>
              <p:cNvGrpSpPr/>
              <p:nvPr/>
            </p:nvGrpSpPr>
            <p:grpSpPr>
              <a:xfrm>
                <a:off x="1800611" y="4256002"/>
                <a:ext cx="1314902" cy="645478"/>
                <a:chOff x="1797480" y="1339838"/>
                <a:chExt cx="2588405" cy="1270634"/>
              </a:xfrm>
            </p:grpSpPr>
            <p:grpSp>
              <p:nvGrpSpPr>
                <p:cNvPr id="152" name="Groupe 151">
                  <a:extLst>
                    <a:ext uri="{FF2B5EF4-FFF2-40B4-BE49-F238E27FC236}">
                      <a16:creationId xmlns:a16="http://schemas.microsoft.com/office/drawing/2014/main" id="{1B2DF6B8-F08F-2156-5C8E-4058904B0E9F}"/>
                    </a:ext>
                  </a:extLst>
                </p:cNvPr>
                <p:cNvGrpSpPr/>
                <p:nvPr/>
              </p:nvGrpSpPr>
              <p:grpSpPr>
                <a:xfrm>
                  <a:off x="1797480" y="1339838"/>
                  <a:ext cx="1507135" cy="1270634"/>
                  <a:chOff x="8982504" y="3274976"/>
                  <a:chExt cx="1230670" cy="1037553"/>
                </a:xfrm>
                <a:solidFill>
                  <a:srgbClr val="ED7D31"/>
                </a:solidFill>
              </p:grpSpPr>
              <p:pic>
                <p:nvPicPr>
                  <p:cNvPr id="154" name="Graphique 153" descr="Utilisateur avec un remplissage uni">
                    <a:extLst>
                      <a:ext uri="{FF2B5EF4-FFF2-40B4-BE49-F238E27FC236}">
                        <a16:creationId xmlns:a16="http://schemas.microsoft.com/office/drawing/2014/main" id="{F31C9258-99EE-FAC7-7B29-4E65F61DDA9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155" name="Graphique 154" descr="Utilisateur avec un remplissage uni">
                    <a:extLst>
                      <a:ext uri="{FF2B5EF4-FFF2-40B4-BE49-F238E27FC236}">
                        <a16:creationId xmlns:a16="http://schemas.microsoft.com/office/drawing/2014/main" id="{35B8339E-044F-7FB8-5C22-EA2F1BB8C04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156" name="Graphique 155" descr="Utilisateur avec un remplissage uni">
                    <a:extLst>
                      <a:ext uri="{FF2B5EF4-FFF2-40B4-BE49-F238E27FC236}">
                        <a16:creationId xmlns:a16="http://schemas.microsoft.com/office/drawing/2014/main" id="{0564ED29-8492-D5F4-0F29-4739B12B1B0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157" name="Graphique 156" descr="Utilisateur avec un remplissage uni">
                    <a:extLst>
                      <a:ext uri="{FF2B5EF4-FFF2-40B4-BE49-F238E27FC236}">
                        <a16:creationId xmlns:a16="http://schemas.microsoft.com/office/drawing/2014/main" id="{BFE5D7E3-5DB2-AB05-7ECA-6982EEF9B6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158" name="Graphique 157" descr="Utilisateur avec un remplissage uni">
                    <a:extLst>
                      <a:ext uri="{FF2B5EF4-FFF2-40B4-BE49-F238E27FC236}">
                        <a16:creationId xmlns:a16="http://schemas.microsoft.com/office/drawing/2014/main" id="{693C0B95-8B76-6CB8-4D41-220BBBB47F0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159" name="Graphique 158" descr="Utilisateur avec un remplissage uni">
                    <a:extLst>
                      <a:ext uri="{FF2B5EF4-FFF2-40B4-BE49-F238E27FC236}">
                        <a16:creationId xmlns:a16="http://schemas.microsoft.com/office/drawing/2014/main" id="{702A3919-382F-B988-518E-B27B633A733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160" name="Graphique 159" descr="Utilisateur avec un remplissage uni">
                    <a:extLst>
                      <a:ext uri="{FF2B5EF4-FFF2-40B4-BE49-F238E27FC236}">
                        <a16:creationId xmlns:a16="http://schemas.microsoft.com/office/drawing/2014/main" id="{EA181E10-1EE9-784E-2753-11A2127404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161" name="Graphique 160" descr="Utilisateur avec un remplissage uni">
                    <a:extLst>
                      <a:ext uri="{FF2B5EF4-FFF2-40B4-BE49-F238E27FC236}">
                        <a16:creationId xmlns:a16="http://schemas.microsoft.com/office/drawing/2014/main" id="{E2E93819-601F-1E96-7E56-8665E592EF2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162" name="Graphique 161" descr="Utilisateur avec un remplissage uni">
                    <a:extLst>
                      <a:ext uri="{FF2B5EF4-FFF2-40B4-BE49-F238E27FC236}">
                        <a16:creationId xmlns:a16="http://schemas.microsoft.com/office/drawing/2014/main" id="{F4B8E0E5-2312-0283-E5FF-0C997CF00A4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163" name="Graphique 162" descr="Utilisateur avec un remplissage uni">
                    <a:extLst>
                      <a:ext uri="{FF2B5EF4-FFF2-40B4-BE49-F238E27FC236}">
                        <a16:creationId xmlns:a16="http://schemas.microsoft.com/office/drawing/2014/main" id="{E6CFD64C-ACE2-CD4A-FE37-01A3163FEBC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164" name="Graphique 163" descr="Utilisateur avec un remplissage uni">
                    <a:extLst>
                      <a:ext uri="{FF2B5EF4-FFF2-40B4-BE49-F238E27FC236}">
                        <a16:creationId xmlns:a16="http://schemas.microsoft.com/office/drawing/2014/main" id="{C0027101-BFD4-E696-AFB6-CA0E64CA6C2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pic>
              <p:nvPicPr>
                <p:cNvPr id="153" name="Graphique 152" descr="Boîte à archives avec un remplissage uni">
                  <a:extLst>
                    <a:ext uri="{FF2B5EF4-FFF2-40B4-BE49-F238E27FC236}">
                      <a16:creationId xmlns:a16="http://schemas.microsoft.com/office/drawing/2014/main" id="{E980CA7B-CB03-C31F-19C4-E46A715D807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590796" y="1573442"/>
                  <a:ext cx="795089" cy="795090"/>
                </a:xfrm>
                <a:prstGeom prst="rect">
                  <a:avLst/>
                </a:prstGeom>
              </p:spPr>
            </p:pic>
          </p:grpSp>
          <p:pic>
            <p:nvPicPr>
              <p:cNvPr id="151" name="Graphique 150" descr="Verrou avec un remplissage uni">
                <a:extLst>
                  <a:ext uri="{FF2B5EF4-FFF2-40B4-BE49-F238E27FC236}">
                    <a16:creationId xmlns:a16="http://schemas.microsoft.com/office/drawing/2014/main" id="{70D2DE25-D41C-BB4B-8ED3-D8DEEAC1134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493236" y="4290370"/>
                <a:ext cx="466725" cy="466725"/>
              </a:xfrm>
              <a:prstGeom prst="rect">
                <a:avLst/>
              </a:prstGeom>
            </p:spPr>
          </p:pic>
        </p:grpSp>
        <p:grpSp>
          <p:nvGrpSpPr>
            <p:cNvPr id="450" name="Groupe 449">
              <a:extLst>
                <a:ext uri="{FF2B5EF4-FFF2-40B4-BE49-F238E27FC236}">
                  <a16:creationId xmlns:a16="http://schemas.microsoft.com/office/drawing/2014/main" id="{7B3A594F-DDBE-8FF1-DE38-B840977B9BA4}"/>
                </a:ext>
              </a:extLst>
            </p:cNvPr>
            <p:cNvGrpSpPr/>
            <p:nvPr/>
          </p:nvGrpSpPr>
          <p:grpSpPr>
            <a:xfrm>
              <a:off x="3930074" y="4237752"/>
              <a:ext cx="1104068" cy="646669"/>
              <a:chOff x="1782492" y="4964291"/>
              <a:chExt cx="1314902" cy="770157"/>
            </a:xfrm>
          </p:grpSpPr>
          <p:grpSp>
            <p:nvGrpSpPr>
              <p:cNvPr id="507" name="Groupe 506">
                <a:extLst>
                  <a:ext uri="{FF2B5EF4-FFF2-40B4-BE49-F238E27FC236}">
                    <a16:creationId xmlns:a16="http://schemas.microsoft.com/office/drawing/2014/main" id="{2E5155A5-FC74-E7A0-4CD3-A806131A23D4}"/>
                  </a:ext>
                </a:extLst>
              </p:cNvPr>
              <p:cNvGrpSpPr/>
              <p:nvPr/>
            </p:nvGrpSpPr>
            <p:grpSpPr>
              <a:xfrm>
                <a:off x="1782492" y="5088970"/>
                <a:ext cx="1314902" cy="645478"/>
                <a:chOff x="1797480" y="1339838"/>
                <a:chExt cx="2588405" cy="1270634"/>
              </a:xfrm>
            </p:grpSpPr>
            <p:grpSp>
              <p:nvGrpSpPr>
                <p:cNvPr id="509" name="Groupe 508">
                  <a:extLst>
                    <a:ext uri="{FF2B5EF4-FFF2-40B4-BE49-F238E27FC236}">
                      <a16:creationId xmlns:a16="http://schemas.microsoft.com/office/drawing/2014/main" id="{B4BB1F71-9C56-0CE8-7A4B-9ABF60EC7B83}"/>
                    </a:ext>
                  </a:extLst>
                </p:cNvPr>
                <p:cNvGrpSpPr/>
                <p:nvPr/>
              </p:nvGrpSpPr>
              <p:grpSpPr>
                <a:xfrm>
                  <a:off x="1797480" y="1339838"/>
                  <a:ext cx="1507135" cy="1270634"/>
                  <a:chOff x="8982504" y="3274976"/>
                  <a:chExt cx="1230670" cy="1037553"/>
                </a:xfrm>
                <a:solidFill>
                  <a:srgbClr val="ED7D31"/>
                </a:solidFill>
              </p:grpSpPr>
              <p:pic>
                <p:nvPicPr>
                  <p:cNvPr id="511" name="Graphique 510" descr="Utilisateur avec un remplissage uni">
                    <a:extLst>
                      <a:ext uri="{FF2B5EF4-FFF2-40B4-BE49-F238E27FC236}">
                        <a16:creationId xmlns:a16="http://schemas.microsoft.com/office/drawing/2014/main" id="{CB3B3151-86F6-5F00-7810-2A9382D26AF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6F4BCEEA-937D-7E8F-86E1-7D6E13D32F5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DAA154D5-EC95-5540-F791-94941239FD3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142" name="Graphique 141" descr="Utilisateur avec un remplissage uni">
                    <a:extLst>
                      <a:ext uri="{FF2B5EF4-FFF2-40B4-BE49-F238E27FC236}">
                        <a16:creationId xmlns:a16="http://schemas.microsoft.com/office/drawing/2014/main" id="{67C42818-0110-5C3E-7655-7149D034365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143" name="Graphique 142" descr="Utilisateur avec un remplissage uni">
                    <a:extLst>
                      <a:ext uri="{FF2B5EF4-FFF2-40B4-BE49-F238E27FC236}">
                        <a16:creationId xmlns:a16="http://schemas.microsoft.com/office/drawing/2014/main" id="{CB51317D-8FBB-8106-5341-A7D1B00B028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144" name="Graphique 143" descr="Utilisateur avec un remplissage uni">
                    <a:extLst>
                      <a:ext uri="{FF2B5EF4-FFF2-40B4-BE49-F238E27FC236}">
                        <a16:creationId xmlns:a16="http://schemas.microsoft.com/office/drawing/2014/main" id="{C5345174-2B7C-C6F0-653F-1DE3676878F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145" name="Graphique 144" descr="Utilisateur avec un remplissage uni">
                    <a:extLst>
                      <a:ext uri="{FF2B5EF4-FFF2-40B4-BE49-F238E27FC236}">
                        <a16:creationId xmlns:a16="http://schemas.microsoft.com/office/drawing/2014/main" id="{70DFA471-E34C-FF34-B03E-ACA67284849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146" name="Graphique 145" descr="Utilisateur avec un remplissage uni">
                    <a:extLst>
                      <a:ext uri="{FF2B5EF4-FFF2-40B4-BE49-F238E27FC236}">
                        <a16:creationId xmlns:a16="http://schemas.microsoft.com/office/drawing/2014/main" id="{2F2BF0C3-881A-DBA3-5A0D-37C5D15793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147" name="Graphique 146" descr="Utilisateur avec un remplissage uni">
                    <a:extLst>
                      <a:ext uri="{FF2B5EF4-FFF2-40B4-BE49-F238E27FC236}">
                        <a16:creationId xmlns:a16="http://schemas.microsoft.com/office/drawing/2014/main" id="{311A2B67-8709-4002-33B2-A0195F34168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D9A66145-9357-D606-CE42-C32EE88F6EA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17D2CCA6-A662-E09E-2095-8671B42FCD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pic>
              <p:nvPicPr>
                <p:cNvPr id="510" name="Graphique 509" descr="Boîte à archives avec un remplissage uni">
                  <a:extLst>
                    <a:ext uri="{FF2B5EF4-FFF2-40B4-BE49-F238E27FC236}">
                      <a16:creationId xmlns:a16="http://schemas.microsoft.com/office/drawing/2014/main" id="{19F55414-2585-AFBC-935F-01B933F9D45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590796" y="1573442"/>
                  <a:ext cx="795089" cy="795090"/>
                </a:xfrm>
                <a:prstGeom prst="rect">
                  <a:avLst/>
                </a:prstGeom>
              </p:spPr>
            </p:pic>
          </p:grpSp>
          <p:pic>
            <p:nvPicPr>
              <p:cNvPr id="508" name="Graphique 507" descr="Verrou avec un remplissage uni">
                <a:extLst>
                  <a:ext uri="{FF2B5EF4-FFF2-40B4-BE49-F238E27FC236}">
                    <a16:creationId xmlns:a16="http://schemas.microsoft.com/office/drawing/2014/main" id="{24F9134B-7BA2-5231-262B-EFB08846F340}"/>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293077" y="4964291"/>
                <a:ext cx="743725" cy="743725"/>
              </a:xfrm>
              <a:prstGeom prst="rect">
                <a:avLst/>
              </a:prstGeom>
            </p:spPr>
          </p:pic>
        </p:grpSp>
        <p:grpSp>
          <p:nvGrpSpPr>
            <p:cNvPr id="458" name="Groupe 457">
              <a:extLst>
                <a:ext uri="{FF2B5EF4-FFF2-40B4-BE49-F238E27FC236}">
                  <a16:creationId xmlns:a16="http://schemas.microsoft.com/office/drawing/2014/main" id="{42AF1270-4F06-1F1E-586B-E261C5079029}"/>
                </a:ext>
              </a:extLst>
            </p:cNvPr>
            <p:cNvGrpSpPr/>
            <p:nvPr/>
          </p:nvGrpSpPr>
          <p:grpSpPr>
            <a:xfrm>
              <a:off x="3912955" y="5705324"/>
              <a:ext cx="1123328" cy="541981"/>
              <a:chOff x="1804205" y="5917781"/>
              <a:chExt cx="1337840" cy="645478"/>
            </a:xfrm>
          </p:grpSpPr>
          <p:grpSp>
            <p:nvGrpSpPr>
              <p:cNvPr id="492" name="Groupe 491">
                <a:extLst>
                  <a:ext uri="{FF2B5EF4-FFF2-40B4-BE49-F238E27FC236}">
                    <a16:creationId xmlns:a16="http://schemas.microsoft.com/office/drawing/2014/main" id="{FB3FB245-94C9-6F65-4116-5962F9705EFF}"/>
                  </a:ext>
                </a:extLst>
              </p:cNvPr>
              <p:cNvGrpSpPr/>
              <p:nvPr/>
            </p:nvGrpSpPr>
            <p:grpSpPr>
              <a:xfrm>
                <a:off x="1804205" y="5917781"/>
                <a:ext cx="1314902" cy="645478"/>
                <a:chOff x="1797480" y="1339838"/>
                <a:chExt cx="2588405" cy="1270634"/>
              </a:xfrm>
            </p:grpSpPr>
            <p:grpSp>
              <p:nvGrpSpPr>
                <p:cNvPr id="494" name="Groupe 493">
                  <a:extLst>
                    <a:ext uri="{FF2B5EF4-FFF2-40B4-BE49-F238E27FC236}">
                      <a16:creationId xmlns:a16="http://schemas.microsoft.com/office/drawing/2014/main" id="{FDFB4508-7CCE-E44F-227F-1D56A0C62193}"/>
                    </a:ext>
                  </a:extLst>
                </p:cNvPr>
                <p:cNvGrpSpPr/>
                <p:nvPr/>
              </p:nvGrpSpPr>
              <p:grpSpPr>
                <a:xfrm>
                  <a:off x="1797480" y="1339838"/>
                  <a:ext cx="1507135" cy="1270634"/>
                  <a:chOff x="8982504" y="3274976"/>
                  <a:chExt cx="1230670" cy="1037553"/>
                </a:xfrm>
                <a:solidFill>
                  <a:srgbClr val="ED7D31"/>
                </a:solidFill>
              </p:grpSpPr>
              <p:pic>
                <p:nvPicPr>
                  <p:cNvPr id="496" name="Graphique 495" descr="Utilisateur avec un remplissage uni">
                    <a:extLst>
                      <a:ext uri="{FF2B5EF4-FFF2-40B4-BE49-F238E27FC236}">
                        <a16:creationId xmlns:a16="http://schemas.microsoft.com/office/drawing/2014/main" id="{60765497-74A5-1D99-F7BA-0B8497FD9CE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497" name="Graphique 496" descr="Utilisateur avec un remplissage uni">
                    <a:extLst>
                      <a:ext uri="{FF2B5EF4-FFF2-40B4-BE49-F238E27FC236}">
                        <a16:creationId xmlns:a16="http://schemas.microsoft.com/office/drawing/2014/main" id="{EF63F783-F34E-F18A-04C2-D5F55092E91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498" name="Graphique 497" descr="Utilisateur avec un remplissage uni">
                    <a:extLst>
                      <a:ext uri="{FF2B5EF4-FFF2-40B4-BE49-F238E27FC236}">
                        <a16:creationId xmlns:a16="http://schemas.microsoft.com/office/drawing/2014/main" id="{576EFFA0-D7CB-C997-6C53-28B029D1834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499" name="Graphique 498" descr="Utilisateur avec un remplissage uni">
                    <a:extLst>
                      <a:ext uri="{FF2B5EF4-FFF2-40B4-BE49-F238E27FC236}">
                        <a16:creationId xmlns:a16="http://schemas.microsoft.com/office/drawing/2014/main" id="{C7A2288D-46CE-EC64-8DE0-5E12C347B52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500" name="Graphique 499" descr="Utilisateur avec un remplissage uni">
                    <a:extLst>
                      <a:ext uri="{FF2B5EF4-FFF2-40B4-BE49-F238E27FC236}">
                        <a16:creationId xmlns:a16="http://schemas.microsoft.com/office/drawing/2014/main" id="{9662A76B-32D5-6580-FCD6-7715FABE5ED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501" name="Graphique 500" descr="Utilisateur avec un remplissage uni">
                    <a:extLst>
                      <a:ext uri="{FF2B5EF4-FFF2-40B4-BE49-F238E27FC236}">
                        <a16:creationId xmlns:a16="http://schemas.microsoft.com/office/drawing/2014/main" id="{46CC1C0D-07C5-5049-A34B-1944257AEA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502" name="Graphique 501" descr="Utilisateur avec un remplissage uni">
                    <a:extLst>
                      <a:ext uri="{FF2B5EF4-FFF2-40B4-BE49-F238E27FC236}">
                        <a16:creationId xmlns:a16="http://schemas.microsoft.com/office/drawing/2014/main" id="{E762D661-CC8E-927D-1D80-2529B6A3534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503" name="Graphique 502" descr="Utilisateur avec un remplissage uni">
                    <a:extLst>
                      <a:ext uri="{FF2B5EF4-FFF2-40B4-BE49-F238E27FC236}">
                        <a16:creationId xmlns:a16="http://schemas.microsoft.com/office/drawing/2014/main" id="{74C7F1CF-ED9A-F0CC-06B8-4D5A7F76A69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504" name="Graphique 503" descr="Utilisateur avec un remplissage uni">
                    <a:extLst>
                      <a:ext uri="{FF2B5EF4-FFF2-40B4-BE49-F238E27FC236}">
                        <a16:creationId xmlns:a16="http://schemas.microsoft.com/office/drawing/2014/main" id="{B170550B-540C-7373-4372-6FCB89EEBB5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505" name="Graphique 504" descr="Utilisateur avec un remplissage uni">
                    <a:extLst>
                      <a:ext uri="{FF2B5EF4-FFF2-40B4-BE49-F238E27FC236}">
                        <a16:creationId xmlns:a16="http://schemas.microsoft.com/office/drawing/2014/main" id="{3F771AAB-08D9-371A-C6DF-F29BDA436BD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506" name="Graphique 505" descr="Utilisateur avec un remplissage uni">
                    <a:extLst>
                      <a:ext uri="{FF2B5EF4-FFF2-40B4-BE49-F238E27FC236}">
                        <a16:creationId xmlns:a16="http://schemas.microsoft.com/office/drawing/2014/main" id="{3F78B7CB-D9B2-DA41-5566-BC08637F941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pic>
              <p:nvPicPr>
                <p:cNvPr id="495" name="Graphique 494" descr="Boîte à archives avec un remplissage uni">
                  <a:extLst>
                    <a:ext uri="{FF2B5EF4-FFF2-40B4-BE49-F238E27FC236}">
                      <a16:creationId xmlns:a16="http://schemas.microsoft.com/office/drawing/2014/main" id="{FC254ACE-EE13-CE40-3876-25BFE03F878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590796" y="1573442"/>
                  <a:ext cx="795089" cy="795090"/>
                </a:xfrm>
                <a:prstGeom prst="rect">
                  <a:avLst/>
                </a:prstGeom>
              </p:spPr>
            </p:pic>
          </p:grpSp>
          <p:pic>
            <p:nvPicPr>
              <p:cNvPr id="493" name="Graphique 492" descr="Fermer avec un remplissage uni">
                <a:extLst>
                  <a:ext uri="{FF2B5EF4-FFF2-40B4-BE49-F238E27FC236}">
                    <a16:creationId xmlns:a16="http://schemas.microsoft.com/office/drawing/2014/main" id="{28216E6B-8FD9-976F-0DFE-077F6EB4D9A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668633" y="5995180"/>
                <a:ext cx="473412" cy="473412"/>
              </a:xfrm>
              <a:prstGeom prst="rect">
                <a:avLst/>
              </a:prstGeom>
            </p:spPr>
          </p:pic>
        </p:grpSp>
        <p:grpSp>
          <p:nvGrpSpPr>
            <p:cNvPr id="459" name="Groupe 458">
              <a:extLst>
                <a:ext uri="{FF2B5EF4-FFF2-40B4-BE49-F238E27FC236}">
                  <a16:creationId xmlns:a16="http://schemas.microsoft.com/office/drawing/2014/main" id="{BFCDD113-A3E8-931F-CA98-7DA0FB77E658}"/>
                </a:ext>
              </a:extLst>
            </p:cNvPr>
            <p:cNvGrpSpPr/>
            <p:nvPr/>
          </p:nvGrpSpPr>
          <p:grpSpPr>
            <a:xfrm>
              <a:off x="3922585" y="5035084"/>
              <a:ext cx="1104068" cy="541981"/>
              <a:chOff x="1775004" y="5236420"/>
              <a:chExt cx="1104068" cy="541981"/>
            </a:xfrm>
          </p:grpSpPr>
          <p:grpSp>
            <p:nvGrpSpPr>
              <p:cNvPr id="461" name="Groupe 460">
                <a:extLst>
                  <a:ext uri="{FF2B5EF4-FFF2-40B4-BE49-F238E27FC236}">
                    <a16:creationId xmlns:a16="http://schemas.microsoft.com/office/drawing/2014/main" id="{0F3FB3E5-00E1-F357-5F44-632B3FB83457}"/>
                  </a:ext>
                </a:extLst>
              </p:cNvPr>
              <p:cNvGrpSpPr/>
              <p:nvPr/>
            </p:nvGrpSpPr>
            <p:grpSpPr>
              <a:xfrm>
                <a:off x="1775004" y="5236420"/>
                <a:ext cx="1104068" cy="541981"/>
                <a:chOff x="1797480" y="1339838"/>
                <a:chExt cx="2588405" cy="1270634"/>
              </a:xfrm>
            </p:grpSpPr>
            <p:grpSp>
              <p:nvGrpSpPr>
                <p:cNvPr id="463" name="Groupe 462">
                  <a:extLst>
                    <a:ext uri="{FF2B5EF4-FFF2-40B4-BE49-F238E27FC236}">
                      <a16:creationId xmlns:a16="http://schemas.microsoft.com/office/drawing/2014/main" id="{A9A2F904-6E9A-C4F2-5D98-178BFE69C776}"/>
                    </a:ext>
                  </a:extLst>
                </p:cNvPr>
                <p:cNvGrpSpPr/>
                <p:nvPr/>
              </p:nvGrpSpPr>
              <p:grpSpPr>
                <a:xfrm>
                  <a:off x="1797480" y="1339838"/>
                  <a:ext cx="1507135" cy="1270634"/>
                  <a:chOff x="8982504" y="3274976"/>
                  <a:chExt cx="1230670" cy="1037553"/>
                </a:xfrm>
                <a:solidFill>
                  <a:srgbClr val="ED7D31"/>
                </a:solidFill>
              </p:grpSpPr>
              <p:pic>
                <p:nvPicPr>
                  <p:cNvPr id="469" name="Graphique 468" descr="Utilisateur avec un remplissage uni">
                    <a:extLst>
                      <a:ext uri="{FF2B5EF4-FFF2-40B4-BE49-F238E27FC236}">
                        <a16:creationId xmlns:a16="http://schemas.microsoft.com/office/drawing/2014/main" id="{317B4C63-761F-0387-0710-5E23B4AA536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482" name="Graphique 481" descr="Utilisateur avec un remplissage uni">
                    <a:extLst>
                      <a:ext uri="{FF2B5EF4-FFF2-40B4-BE49-F238E27FC236}">
                        <a16:creationId xmlns:a16="http://schemas.microsoft.com/office/drawing/2014/main" id="{CACFB33F-68EA-F2BA-F7E7-01CAD5C1980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483" name="Graphique 482" descr="Utilisateur avec un remplissage uni">
                    <a:extLst>
                      <a:ext uri="{FF2B5EF4-FFF2-40B4-BE49-F238E27FC236}">
                        <a16:creationId xmlns:a16="http://schemas.microsoft.com/office/drawing/2014/main" id="{25667196-6526-7605-68F6-F668D4CD6F2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484" name="Graphique 483" descr="Utilisateur avec un remplissage uni">
                    <a:extLst>
                      <a:ext uri="{FF2B5EF4-FFF2-40B4-BE49-F238E27FC236}">
                        <a16:creationId xmlns:a16="http://schemas.microsoft.com/office/drawing/2014/main" id="{ADDD906D-54C6-4946-BBE1-40C5C9BAB36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485" name="Graphique 484" descr="Utilisateur avec un remplissage uni">
                    <a:extLst>
                      <a:ext uri="{FF2B5EF4-FFF2-40B4-BE49-F238E27FC236}">
                        <a16:creationId xmlns:a16="http://schemas.microsoft.com/office/drawing/2014/main" id="{FDF2AB82-D9E8-FE3F-BEE4-A2E4121F14B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486" name="Graphique 485" descr="Utilisateur avec un remplissage uni">
                    <a:extLst>
                      <a:ext uri="{FF2B5EF4-FFF2-40B4-BE49-F238E27FC236}">
                        <a16:creationId xmlns:a16="http://schemas.microsoft.com/office/drawing/2014/main" id="{BE1288DB-2F88-0CC6-2207-AF59343E4D5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487" name="Graphique 486" descr="Utilisateur avec un remplissage uni">
                    <a:extLst>
                      <a:ext uri="{FF2B5EF4-FFF2-40B4-BE49-F238E27FC236}">
                        <a16:creationId xmlns:a16="http://schemas.microsoft.com/office/drawing/2014/main" id="{C0FE3F6D-34DF-3874-529F-A29CFC1CA58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488" name="Graphique 487" descr="Utilisateur avec un remplissage uni">
                    <a:extLst>
                      <a:ext uri="{FF2B5EF4-FFF2-40B4-BE49-F238E27FC236}">
                        <a16:creationId xmlns:a16="http://schemas.microsoft.com/office/drawing/2014/main" id="{A8E4C72C-1F7F-0B72-061A-D0B365D085E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489" name="Graphique 488" descr="Utilisateur avec un remplissage uni">
                    <a:extLst>
                      <a:ext uri="{FF2B5EF4-FFF2-40B4-BE49-F238E27FC236}">
                        <a16:creationId xmlns:a16="http://schemas.microsoft.com/office/drawing/2014/main" id="{E89DF4D4-1A34-186B-DA94-D5E53BA8097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490" name="Graphique 489" descr="Utilisateur avec un remplissage uni">
                    <a:extLst>
                      <a:ext uri="{FF2B5EF4-FFF2-40B4-BE49-F238E27FC236}">
                        <a16:creationId xmlns:a16="http://schemas.microsoft.com/office/drawing/2014/main" id="{361FB8F2-1666-8DDB-5967-D00DA439BB7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491" name="Graphique 490" descr="Utilisateur avec un remplissage uni">
                    <a:extLst>
                      <a:ext uri="{FF2B5EF4-FFF2-40B4-BE49-F238E27FC236}">
                        <a16:creationId xmlns:a16="http://schemas.microsoft.com/office/drawing/2014/main" id="{19E2DE79-3D17-8518-5145-2A48BD92BC4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pic>
              <p:nvPicPr>
                <p:cNvPr id="464" name="Graphique 463" descr="Boîte à archives avec un remplissage uni">
                  <a:extLst>
                    <a:ext uri="{FF2B5EF4-FFF2-40B4-BE49-F238E27FC236}">
                      <a16:creationId xmlns:a16="http://schemas.microsoft.com/office/drawing/2014/main" id="{2185C285-AA08-9F4C-9492-010DF9574AE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590796" y="1573442"/>
                  <a:ext cx="795089" cy="795090"/>
                </a:xfrm>
                <a:prstGeom prst="rect">
                  <a:avLst/>
                </a:prstGeom>
              </p:spPr>
            </p:pic>
          </p:grpSp>
          <p:pic>
            <p:nvPicPr>
              <p:cNvPr id="462" name="Graphique 461" descr="Point d’interrogation avec un remplissage uni">
                <a:extLst>
                  <a:ext uri="{FF2B5EF4-FFF2-40B4-BE49-F238E27FC236}">
                    <a16:creationId xmlns:a16="http://schemas.microsoft.com/office/drawing/2014/main" id="{BAEE80CE-7EDC-FBC5-08F1-B8CA9060722E}"/>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537302" y="5319965"/>
                <a:ext cx="332767" cy="332767"/>
              </a:xfrm>
              <a:prstGeom prst="rect">
                <a:avLst/>
              </a:prstGeom>
            </p:spPr>
          </p:pic>
        </p:grpSp>
      </p:grpSp>
      <p:sp>
        <p:nvSpPr>
          <p:cNvPr id="256" name="Rectangle 255">
            <a:extLst>
              <a:ext uri="{FF2B5EF4-FFF2-40B4-BE49-F238E27FC236}">
                <a16:creationId xmlns:a16="http://schemas.microsoft.com/office/drawing/2014/main" id="{DBBE2DC7-EC89-5C43-29F7-C38DC3E808F0}"/>
              </a:ext>
            </a:extLst>
          </p:cNvPr>
          <p:cNvSpPr/>
          <p:nvPr/>
        </p:nvSpPr>
        <p:spPr>
          <a:xfrm>
            <a:off x="5484080" y="5251509"/>
            <a:ext cx="1339649" cy="8108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rPr>
              <a:t>✍️Rapports ou bilans d’information personnalisés</a:t>
            </a:r>
          </a:p>
        </p:txBody>
      </p:sp>
      <p:sp>
        <p:nvSpPr>
          <p:cNvPr id="257" name="Rectangle 256">
            <a:extLst>
              <a:ext uri="{FF2B5EF4-FFF2-40B4-BE49-F238E27FC236}">
                <a16:creationId xmlns:a16="http://schemas.microsoft.com/office/drawing/2014/main" id="{FF7676F3-669D-B770-B107-1F9A890F8602}"/>
              </a:ext>
            </a:extLst>
          </p:cNvPr>
          <p:cNvSpPr/>
          <p:nvPr/>
        </p:nvSpPr>
        <p:spPr>
          <a:xfrm>
            <a:off x="7452015" y="5251407"/>
            <a:ext cx="1293867" cy="84131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a:t>
            </a:r>
            <a:r>
              <a:rPr lang="fr-FR" sz="1200" dirty="0">
                <a:solidFill>
                  <a:schemeClr val="tx1"/>
                </a:solidFill>
              </a:rPr>
              <a:t>Mises en relation individuelles</a:t>
            </a:r>
          </a:p>
        </p:txBody>
      </p:sp>
      <p:grpSp>
        <p:nvGrpSpPr>
          <p:cNvPr id="258" name="Groupe 257">
            <a:extLst>
              <a:ext uri="{FF2B5EF4-FFF2-40B4-BE49-F238E27FC236}">
                <a16:creationId xmlns:a16="http://schemas.microsoft.com/office/drawing/2014/main" id="{8977DA26-A945-4CFE-4159-DBF23C05C186}"/>
              </a:ext>
            </a:extLst>
          </p:cNvPr>
          <p:cNvGrpSpPr/>
          <p:nvPr/>
        </p:nvGrpSpPr>
        <p:grpSpPr>
          <a:xfrm>
            <a:off x="7412464" y="4409081"/>
            <a:ext cx="1383931" cy="622717"/>
            <a:chOff x="8047422" y="4023112"/>
            <a:chExt cx="3835816" cy="1725972"/>
          </a:xfrm>
        </p:grpSpPr>
        <p:pic>
          <p:nvPicPr>
            <p:cNvPr id="259" name="Graphique 258" descr="Employée de bureau avec un remplissage uni">
              <a:extLst>
                <a:ext uri="{FF2B5EF4-FFF2-40B4-BE49-F238E27FC236}">
                  <a16:creationId xmlns:a16="http://schemas.microsoft.com/office/drawing/2014/main" id="{C5CF2508-EF0A-DB91-7093-030177AD7837}"/>
                </a:ext>
              </a:extLst>
            </p:cNvPr>
            <p:cNvPicPr>
              <a:picLocks noChangeAspect="1"/>
            </p:cNvPicPr>
            <p:nvPr/>
          </p:nvPicPr>
          <p:blipFill rotWithShape="1">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rcRect l="16614" t="5228" r="16437" b="9344"/>
            <a:stretch/>
          </p:blipFill>
          <p:spPr>
            <a:xfrm>
              <a:off x="8047422" y="4284976"/>
              <a:ext cx="941882" cy="1201844"/>
            </a:xfrm>
            <a:prstGeom prst="rect">
              <a:avLst/>
            </a:prstGeom>
          </p:spPr>
        </p:pic>
        <p:pic>
          <p:nvPicPr>
            <p:cNvPr id="260" name="Graphique 259" descr="Écolier avec un remplissage uni">
              <a:extLst>
                <a:ext uri="{FF2B5EF4-FFF2-40B4-BE49-F238E27FC236}">
                  <a16:creationId xmlns:a16="http://schemas.microsoft.com/office/drawing/2014/main" id="{1B11938E-BB15-F969-0191-6C62DE873813}"/>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l="23541" t="12103" r="23440" b="13876"/>
            <a:stretch/>
          </p:blipFill>
          <p:spPr>
            <a:xfrm>
              <a:off x="11026328" y="4290506"/>
              <a:ext cx="856910" cy="1196314"/>
            </a:xfrm>
            <a:prstGeom prst="rect">
              <a:avLst/>
            </a:prstGeom>
          </p:spPr>
        </p:pic>
        <p:pic>
          <p:nvPicPr>
            <p:cNvPr id="261" name="Graphique 260" descr="Personne confuse avec un remplissage uni">
              <a:extLst>
                <a:ext uri="{FF2B5EF4-FFF2-40B4-BE49-F238E27FC236}">
                  <a16:creationId xmlns:a16="http://schemas.microsoft.com/office/drawing/2014/main" id="{A184FB19-1356-8586-AD0A-54D2D2DD1495}"/>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rcRect b="50576"/>
            <a:stretch/>
          </p:blipFill>
          <p:spPr>
            <a:xfrm>
              <a:off x="8877636" y="4627484"/>
              <a:ext cx="2269358" cy="1121600"/>
            </a:xfrm>
            <a:prstGeom prst="rect">
              <a:avLst/>
            </a:prstGeom>
          </p:spPr>
        </p:pic>
        <p:sp>
          <p:nvSpPr>
            <p:cNvPr id="262" name="Bulle narrative : rectangle 261">
              <a:extLst>
                <a:ext uri="{FF2B5EF4-FFF2-40B4-BE49-F238E27FC236}">
                  <a16:creationId xmlns:a16="http://schemas.microsoft.com/office/drawing/2014/main" id="{703CB953-9ACF-20CC-B1B4-BEB6F508E680}"/>
                </a:ext>
              </a:extLst>
            </p:cNvPr>
            <p:cNvSpPr/>
            <p:nvPr/>
          </p:nvSpPr>
          <p:spPr>
            <a:xfrm>
              <a:off x="8929452" y="4027829"/>
              <a:ext cx="863718" cy="625031"/>
            </a:xfrm>
            <a:prstGeom prst="wedgeRectCallout">
              <a:avLst>
                <a:gd name="adj1" fmla="val 47773"/>
                <a:gd name="adj2" fmla="val 7545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 name="Bulle narrative : rectangle 262">
              <a:extLst>
                <a:ext uri="{FF2B5EF4-FFF2-40B4-BE49-F238E27FC236}">
                  <a16:creationId xmlns:a16="http://schemas.microsoft.com/office/drawing/2014/main" id="{871AE23F-0C56-F82A-4184-6167323D8CA5}"/>
                </a:ext>
              </a:extLst>
            </p:cNvPr>
            <p:cNvSpPr/>
            <p:nvPr/>
          </p:nvSpPr>
          <p:spPr>
            <a:xfrm flipH="1">
              <a:off x="10227688" y="4023112"/>
              <a:ext cx="863718" cy="625031"/>
            </a:xfrm>
            <a:prstGeom prst="wedgeRectCallout">
              <a:avLst>
                <a:gd name="adj1" fmla="val 47773"/>
                <a:gd name="adj2" fmla="val 7545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64" name="Graphique 263" descr="Employée de bureau avec un remplissage uni">
              <a:extLst>
                <a:ext uri="{FF2B5EF4-FFF2-40B4-BE49-F238E27FC236}">
                  <a16:creationId xmlns:a16="http://schemas.microsoft.com/office/drawing/2014/main" id="{47004089-B242-E744-37F7-8D2680C1919D}"/>
                </a:ext>
              </a:extLst>
            </p:cNvPr>
            <p:cNvPicPr>
              <a:picLocks noChangeAspect="1"/>
            </p:cNvPicPr>
            <p:nvPr/>
          </p:nvPicPr>
          <p:blipFill rotWithShape="1">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rcRect l="16614" t="5228" r="16437" b="9344"/>
            <a:stretch/>
          </p:blipFill>
          <p:spPr>
            <a:xfrm>
              <a:off x="10520171" y="4107088"/>
              <a:ext cx="345718" cy="441137"/>
            </a:xfrm>
            <a:prstGeom prst="rect">
              <a:avLst/>
            </a:prstGeom>
          </p:spPr>
        </p:pic>
        <p:pic>
          <p:nvPicPr>
            <p:cNvPr id="265" name="Graphique 264" descr="Écolier avec un remplissage uni">
              <a:extLst>
                <a:ext uri="{FF2B5EF4-FFF2-40B4-BE49-F238E27FC236}">
                  <a16:creationId xmlns:a16="http://schemas.microsoft.com/office/drawing/2014/main" id="{4B5CA6CF-F963-B42A-58A1-9B16254DD5E5}"/>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l="23541" t="12103" r="23440" b="13876"/>
            <a:stretch/>
          </p:blipFill>
          <p:spPr>
            <a:xfrm>
              <a:off x="9209802" y="4134441"/>
              <a:ext cx="325742" cy="454762"/>
            </a:xfrm>
            <a:prstGeom prst="rect">
              <a:avLst/>
            </a:prstGeom>
          </p:spPr>
        </p:pic>
      </p:grpSp>
      <p:grpSp>
        <p:nvGrpSpPr>
          <p:cNvPr id="266" name="Groupe 265">
            <a:extLst>
              <a:ext uri="{FF2B5EF4-FFF2-40B4-BE49-F238E27FC236}">
                <a16:creationId xmlns:a16="http://schemas.microsoft.com/office/drawing/2014/main" id="{C33E432D-A874-2126-42DD-5238B1A6668D}"/>
              </a:ext>
            </a:extLst>
          </p:cNvPr>
          <p:cNvGrpSpPr/>
          <p:nvPr/>
        </p:nvGrpSpPr>
        <p:grpSpPr>
          <a:xfrm>
            <a:off x="1247666" y="4375467"/>
            <a:ext cx="1234914" cy="742603"/>
            <a:chOff x="7136456" y="4540841"/>
            <a:chExt cx="3457757" cy="2079286"/>
          </a:xfrm>
        </p:grpSpPr>
        <p:grpSp>
          <p:nvGrpSpPr>
            <p:cNvPr id="268" name="Groupe 267">
              <a:extLst>
                <a:ext uri="{FF2B5EF4-FFF2-40B4-BE49-F238E27FC236}">
                  <a16:creationId xmlns:a16="http://schemas.microsoft.com/office/drawing/2014/main" id="{76410F56-63C5-2730-7E41-DED68DE9E17A}"/>
                </a:ext>
              </a:extLst>
            </p:cNvPr>
            <p:cNvGrpSpPr/>
            <p:nvPr/>
          </p:nvGrpSpPr>
          <p:grpSpPr>
            <a:xfrm>
              <a:off x="7136456" y="4545203"/>
              <a:ext cx="3457757" cy="2074924"/>
              <a:chOff x="4756107" y="5644440"/>
              <a:chExt cx="1097316" cy="658475"/>
            </a:xfrm>
          </p:grpSpPr>
          <p:pic>
            <p:nvPicPr>
              <p:cNvPr id="271" name="Graphique 270" descr="Homme avec un remplissage uni">
                <a:extLst>
                  <a:ext uri="{FF2B5EF4-FFF2-40B4-BE49-F238E27FC236}">
                    <a16:creationId xmlns:a16="http://schemas.microsoft.com/office/drawing/2014/main" id="{82AE8A0D-FE5D-8EEB-3E62-253F3FD9DE1A}"/>
                  </a:ext>
                </a:extLst>
              </p:cNvPr>
              <p:cNvPicPr>
                <a:picLocks noChangeAspect="1"/>
              </p:cNvPicPr>
              <p:nvPr/>
            </p:nvPicPr>
            <p:blipFill rotWithShape="1">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rcRect l="19736"/>
              <a:stretch/>
            </p:blipFill>
            <p:spPr>
              <a:xfrm>
                <a:off x="4756107" y="5648406"/>
                <a:ext cx="525334" cy="654509"/>
              </a:xfrm>
              <a:prstGeom prst="rect">
                <a:avLst/>
              </a:prstGeom>
            </p:spPr>
          </p:pic>
          <p:pic>
            <p:nvPicPr>
              <p:cNvPr id="272" name="Graphique 271" descr="Homme avec un remplissage uni">
                <a:extLst>
                  <a:ext uri="{FF2B5EF4-FFF2-40B4-BE49-F238E27FC236}">
                    <a16:creationId xmlns:a16="http://schemas.microsoft.com/office/drawing/2014/main" id="{82C28A69-8442-861F-10BC-707A3D27A461}"/>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r="17166"/>
              <a:stretch/>
            </p:blipFill>
            <p:spPr>
              <a:xfrm>
                <a:off x="5311270" y="5644440"/>
                <a:ext cx="542153" cy="654509"/>
              </a:xfrm>
              <a:prstGeom prst="rect">
                <a:avLst/>
              </a:prstGeom>
            </p:spPr>
          </p:pic>
          <p:sp>
            <p:nvSpPr>
              <p:cNvPr id="273" name="Rectangle : coins arrondis 272">
                <a:extLst>
                  <a:ext uri="{FF2B5EF4-FFF2-40B4-BE49-F238E27FC236}">
                    <a16:creationId xmlns:a16="http://schemas.microsoft.com/office/drawing/2014/main" id="{B3482631-866D-B586-6928-12B8D8EC0D56}"/>
                  </a:ext>
                </a:extLst>
              </p:cNvPr>
              <p:cNvSpPr/>
              <p:nvPr/>
            </p:nvSpPr>
            <p:spPr>
              <a:xfrm>
                <a:off x="5110959" y="5886400"/>
                <a:ext cx="370794" cy="59154"/>
              </a:xfrm>
              <a:prstGeom prst="roundRect">
                <a:avLst>
                  <a:gd name="adj" fmla="val 50000"/>
                </a:avLst>
              </a:prstGeom>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fr-FR"/>
              </a:p>
            </p:txBody>
          </p:sp>
          <p:sp>
            <p:nvSpPr>
              <p:cNvPr id="274" name="Rectangle : coins arrondis 273">
                <a:extLst>
                  <a:ext uri="{FF2B5EF4-FFF2-40B4-BE49-F238E27FC236}">
                    <a16:creationId xmlns:a16="http://schemas.microsoft.com/office/drawing/2014/main" id="{23DB4E9A-52E8-5135-32A9-EA750CD02497}"/>
                  </a:ext>
                </a:extLst>
              </p:cNvPr>
              <p:cNvSpPr/>
              <p:nvPr/>
            </p:nvSpPr>
            <p:spPr>
              <a:xfrm rot="5400000">
                <a:off x="5110959" y="6066728"/>
                <a:ext cx="370794" cy="59154"/>
              </a:xfrm>
              <a:prstGeom prst="roundRect">
                <a:avLst>
                  <a:gd name="adj" fmla="val 50000"/>
                </a:avLst>
              </a:prstGeom>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fr-FR"/>
              </a:p>
            </p:txBody>
          </p:sp>
          <p:sp>
            <p:nvSpPr>
              <p:cNvPr id="275" name="Rectangle : coins arrondis 274">
                <a:extLst>
                  <a:ext uri="{FF2B5EF4-FFF2-40B4-BE49-F238E27FC236}">
                    <a16:creationId xmlns:a16="http://schemas.microsoft.com/office/drawing/2014/main" id="{3C9308BD-654C-5C4F-8B12-1A8FCA635496}"/>
                  </a:ext>
                </a:extLst>
              </p:cNvPr>
              <p:cNvSpPr/>
              <p:nvPr/>
            </p:nvSpPr>
            <p:spPr>
              <a:xfrm>
                <a:off x="5216256" y="6232046"/>
                <a:ext cx="163345" cy="59153"/>
              </a:xfrm>
              <a:prstGeom prst="roundRect">
                <a:avLst>
                  <a:gd name="adj" fmla="val 50000"/>
                </a:avLst>
              </a:prstGeom>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fr-FR"/>
              </a:p>
            </p:txBody>
          </p:sp>
          <p:pic>
            <p:nvPicPr>
              <p:cNvPr id="276" name="Image 275">
                <a:extLst>
                  <a:ext uri="{FF2B5EF4-FFF2-40B4-BE49-F238E27FC236}">
                    <a16:creationId xmlns:a16="http://schemas.microsoft.com/office/drawing/2014/main" id="{6AAF20FB-6C12-080A-B4AE-89A4B7858CA3}"/>
                  </a:ext>
                </a:extLst>
              </p:cNvPr>
              <p:cNvPicPr>
                <a:picLocks noChangeAspect="1"/>
              </p:cNvPicPr>
              <p:nvPr/>
            </p:nvPicPr>
            <p:blipFill rotWithShape="1">
              <a:blip r:embed="rId25">
                <a:extLst>
                  <a:ext uri="{28A0092B-C50C-407E-A947-70E740481C1C}">
                    <a14:useLocalDpi xmlns:a14="http://schemas.microsoft.com/office/drawing/2010/main" val="0"/>
                  </a:ext>
                  <a:ext uri="{837473B0-CC2E-450A-ABE3-18F120FF3D39}">
                    <a1611:picAttrSrcUrl xmlns:a1611="http://schemas.microsoft.com/office/drawing/2016/11/main" r:id="rId26"/>
                  </a:ext>
                </a:extLst>
              </a:blip>
              <a:srcRect l="20605" t="14466" r="20964" b="14211"/>
              <a:stretch/>
            </p:blipFill>
            <p:spPr>
              <a:xfrm>
                <a:off x="5356447" y="5796894"/>
                <a:ext cx="71478" cy="87755"/>
              </a:xfrm>
              <a:prstGeom prst="rect">
                <a:avLst/>
              </a:prstGeom>
            </p:spPr>
          </p:pic>
          <p:pic>
            <p:nvPicPr>
              <p:cNvPr id="277" name="Image 276">
                <a:extLst>
                  <a:ext uri="{FF2B5EF4-FFF2-40B4-BE49-F238E27FC236}">
                    <a16:creationId xmlns:a16="http://schemas.microsoft.com/office/drawing/2014/main" id="{6598C191-F8A8-D828-85F8-FBDAE87F5A74}"/>
                  </a:ext>
                </a:extLst>
              </p:cNvPr>
              <p:cNvPicPr>
                <a:picLocks noChangeAspect="1"/>
              </p:cNvPicPr>
              <p:nvPr/>
            </p:nvPicPr>
            <p:blipFill rotWithShape="1">
              <a:blip r:embed="rId25">
                <a:extLst>
                  <a:ext uri="{28A0092B-C50C-407E-A947-70E740481C1C}">
                    <a14:useLocalDpi xmlns:a14="http://schemas.microsoft.com/office/drawing/2010/main" val="0"/>
                  </a:ext>
                  <a:ext uri="{837473B0-CC2E-450A-ABE3-18F120FF3D39}">
                    <a1611:picAttrSrcUrl xmlns:a1611="http://schemas.microsoft.com/office/drawing/2016/11/main" r:id="rId26"/>
                  </a:ext>
                </a:extLst>
              </a:blip>
              <a:srcRect l="20605" t="14466" r="20964" b="14211"/>
              <a:stretch/>
            </p:blipFill>
            <p:spPr>
              <a:xfrm flipH="1">
                <a:off x="5144424" y="5796230"/>
                <a:ext cx="61422" cy="87755"/>
              </a:xfrm>
              <a:prstGeom prst="rect">
                <a:avLst/>
              </a:prstGeom>
            </p:spPr>
          </p:pic>
        </p:grpSp>
        <p:sp>
          <p:nvSpPr>
            <p:cNvPr id="269" name="Bulle narrative : ronde 268">
              <a:extLst>
                <a:ext uri="{FF2B5EF4-FFF2-40B4-BE49-F238E27FC236}">
                  <a16:creationId xmlns:a16="http://schemas.microsoft.com/office/drawing/2014/main" id="{EE4EF468-9F1A-4D49-405F-A05EB0B3979E}"/>
                </a:ext>
              </a:extLst>
            </p:cNvPr>
            <p:cNvSpPr/>
            <p:nvPr/>
          </p:nvSpPr>
          <p:spPr>
            <a:xfrm>
              <a:off x="7955711" y="4540841"/>
              <a:ext cx="925763" cy="328447"/>
            </a:xfrm>
            <a:prstGeom prst="wedgeEllipseCallout">
              <a:avLst>
                <a:gd name="adj1" fmla="val -45526"/>
                <a:gd name="adj2" fmla="val 59600"/>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70" name="Bulle narrative : ronde 269">
              <a:extLst>
                <a:ext uri="{FF2B5EF4-FFF2-40B4-BE49-F238E27FC236}">
                  <a16:creationId xmlns:a16="http://schemas.microsoft.com/office/drawing/2014/main" id="{26851A05-CA3E-0900-8AFC-5598F0E28576}"/>
                </a:ext>
              </a:extLst>
            </p:cNvPr>
            <p:cNvSpPr/>
            <p:nvPr/>
          </p:nvSpPr>
          <p:spPr>
            <a:xfrm>
              <a:off x="8708497" y="4569412"/>
              <a:ext cx="925763" cy="328447"/>
            </a:xfrm>
            <a:prstGeom prst="wedgeEllipseCallout">
              <a:avLst>
                <a:gd name="adj1" fmla="val 58391"/>
                <a:gd name="adj2" fmla="val 30600"/>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grpSp>
      <p:grpSp>
        <p:nvGrpSpPr>
          <p:cNvPr id="278" name="Groupe 277">
            <a:extLst>
              <a:ext uri="{FF2B5EF4-FFF2-40B4-BE49-F238E27FC236}">
                <a16:creationId xmlns:a16="http://schemas.microsoft.com/office/drawing/2014/main" id="{1F8799E0-D043-58A1-0EC3-A2F5A5449809}"/>
              </a:ext>
            </a:extLst>
          </p:cNvPr>
          <p:cNvGrpSpPr/>
          <p:nvPr/>
        </p:nvGrpSpPr>
        <p:grpSpPr>
          <a:xfrm>
            <a:off x="5424758" y="4257022"/>
            <a:ext cx="1390655" cy="736037"/>
            <a:chOff x="12356663" y="2711925"/>
            <a:chExt cx="937147" cy="496007"/>
          </a:xfrm>
        </p:grpSpPr>
        <p:pic>
          <p:nvPicPr>
            <p:cNvPr id="280" name="Graphique 279" descr="Signet avec un remplissage uni">
              <a:extLst>
                <a:ext uri="{FF2B5EF4-FFF2-40B4-BE49-F238E27FC236}">
                  <a16:creationId xmlns:a16="http://schemas.microsoft.com/office/drawing/2014/main" id="{A10C9F66-126D-E4B7-643F-3FDAC1AA9B10}"/>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12787076" y="2750028"/>
              <a:ext cx="96064" cy="96063"/>
            </a:xfrm>
            <a:prstGeom prst="rect">
              <a:avLst/>
            </a:prstGeom>
          </p:spPr>
        </p:pic>
        <p:pic>
          <p:nvPicPr>
            <p:cNvPr id="281" name="Graphique 280" descr="Personne confuse avec un remplissage uni">
              <a:extLst>
                <a:ext uri="{FF2B5EF4-FFF2-40B4-BE49-F238E27FC236}">
                  <a16:creationId xmlns:a16="http://schemas.microsoft.com/office/drawing/2014/main" id="{09BC42E5-B72D-54E1-B45E-ED485C61FCBC}"/>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rcRect b="50576"/>
            <a:stretch/>
          </p:blipFill>
          <p:spPr>
            <a:xfrm>
              <a:off x="12517851" y="2941582"/>
              <a:ext cx="538913" cy="266350"/>
            </a:xfrm>
            <a:prstGeom prst="rect">
              <a:avLst/>
            </a:prstGeom>
          </p:spPr>
        </p:pic>
        <p:sp>
          <p:nvSpPr>
            <p:cNvPr id="282" name="Bulle narrative : rectangle 281">
              <a:extLst>
                <a:ext uri="{FF2B5EF4-FFF2-40B4-BE49-F238E27FC236}">
                  <a16:creationId xmlns:a16="http://schemas.microsoft.com/office/drawing/2014/main" id="{ACE8DA9A-828E-0EFE-BA6E-8C8B40D87C4A}"/>
                </a:ext>
              </a:extLst>
            </p:cNvPr>
            <p:cNvSpPr/>
            <p:nvPr/>
          </p:nvSpPr>
          <p:spPr>
            <a:xfrm>
              <a:off x="12622779" y="2724625"/>
              <a:ext cx="275949" cy="179596"/>
            </a:xfrm>
            <a:prstGeom prst="wedgeRectCallout">
              <a:avLst>
                <a:gd name="adj1" fmla="val 15051"/>
                <a:gd name="adj2" fmla="val 76154"/>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v</a:t>
              </a:r>
            </a:p>
          </p:txBody>
        </p:sp>
        <p:pic>
          <p:nvPicPr>
            <p:cNvPr id="283" name="Graphique 282" descr="Base de données avec un remplissage uni">
              <a:extLst>
                <a:ext uri="{FF2B5EF4-FFF2-40B4-BE49-F238E27FC236}">
                  <a16:creationId xmlns:a16="http://schemas.microsoft.com/office/drawing/2014/main" id="{2791FCA5-BDC4-E297-1816-839A7741044D}"/>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12955309" y="2839844"/>
              <a:ext cx="255630" cy="255630"/>
            </a:xfrm>
            <a:prstGeom prst="rect">
              <a:avLst/>
            </a:prstGeom>
          </p:spPr>
        </p:pic>
        <p:sp>
          <p:nvSpPr>
            <p:cNvPr id="284" name="Bulle narrative : rectangle 283">
              <a:extLst>
                <a:ext uri="{FF2B5EF4-FFF2-40B4-BE49-F238E27FC236}">
                  <a16:creationId xmlns:a16="http://schemas.microsoft.com/office/drawing/2014/main" id="{D16842C0-6D13-3FA3-7B6B-1C4576ED3876}"/>
                </a:ext>
              </a:extLst>
            </p:cNvPr>
            <p:cNvSpPr/>
            <p:nvPr/>
          </p:nvSpPr>
          <p:spPr>
            <a:xfrm>
              <a:off x="12379261" y="2711925"/>
              <a:ext cx="205110" cy="148428"/>
            </a:xfrm>
            <a:prstGeom prst="wedgeRectCallout">
              <a:avLst>
                <a:gd name="adj1" fmla="val 7552"/>
                <a:gd name="adj2" fmla="val 72274"/>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fr-FR" sz="600" dirty="0">
                  <a:solidFill>
                    <a:srgbClr val="ED7D31"/>
                  </a:solidFill>
                </a:rPr>
                <a:t>?  </a:t>
              </a:r>
            </a:p>
          </p:txBody>
        </p:sp>
        <p:pic>
          <p:nvPicPr>
            <p:cNvPr id="285" name="Graphique 284" descr="Cœur avec un remplissage uni">
              <a:extLst>
                <a:ext uri="{FF2B5EF4-FFF2-40B4-BE49-F238E27FC236}">
                  <a16:creationId xmlns:a16="http://schemas.microsoft.com/office/drawing/2014/main" id="{51CF4491-3CA2-069F-A06D-27A1E462D3AC}"/>
                </a:ext>
              </a:extLst>
            </p:cNvPr>
            <p:cNvPicPr>
              <a:picLocks noChangeAspect="1"/>
            </p:cNvPicPr>
            <p:nvPr/>
          </p:nvPicPr>
          <p:blipFill rotWithShape="1">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rcRect l="12421" t="13223" r="14288" b="13671"/>
            <a:stretch/>
          </p:blipFill>
          <p:spPr>
            <a:xfrm>
              <a:off x="12390840" y="2746659"/>
              <a:ext cx="77708" cy="77513"/>
            </a:xfrm>
            <a:prstGeom prst="rect">
              <a:avLst/>
            </a:prstGeom>
          </p:spPr>
        </p:pic>
        <p:sp>
          <p:nvSpPr>
            <p:cNvPr id="286" name="Phylactère : pensées 285">
              <a:extLst>
                <a:ext uri="{FF2B5EF4-FFF2-40B4-BE49-F238E27FC236}">
                  <a16:creationId xmlns:a16="http://schemas.microsoft.com/office/drawing/2014/main" id="{CD110DCA-5E60-5A7A-05B6-0D977C6BD6DE}"/>
                </a:ext>
              </a:extLst>
            </p:cNvPr>
            <p:cNvSpPr/>
            <p:nvPr/>
          </p:nvSpPr>
          <p:spPr>
            <a:xfrm>
              <a:off x="12912475" y="2808498"/>
              <a:ext cx="381335" cy="323371"/>
            </a:xfrm>
            <a:prstGeom prst="cloudCallout">
              <a:avLst>
                <a:gd name="adj1" fmla="val -64077"/>
                <a:gd name="adj2" fmla="val 640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87" name="Graphique 286" descr="Volume avec un remplissage uni">
              <a:extLst>
                <a:ext uri="{FF2B5EF4-FFF2-40B4-BE49-F238E27FC236}">
                  <a16:creationId xmlns:a16="http://schemas.microsoft.com/office/drawing/2014/main" id="{641A8D49-A4F2-9493-2B40-4451C7B324E8}"/>
                </a:ext>
              </a:extLst>
            </p:cNvPr>
            <p:cNvPicPr>
              <a:picLocks noChangeAspect="1"/>
            </p:cNvPicPr>
            <p:nvPr/>
          </p:nvPicPr>
          <p:blipFill>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tretch>
              <a:fillRect/>
            </a:stretch>
          </p:blipFill>
          <p:spPr>
            <a:xfrm>
              <a:off x="12742813" y="2801768"/>
              <a:ext cx="63713" cy="63713"/>
            </a:xfrm>
            <a:prstGeom prst="rect">
              <a:avLst/>
            </a:prstGeom>
          </p:spPr>
        </p:pic>
        <p:pic>
          <p:nvPicPr>
            <p:cNvPr id="288" name="Graphique 287" descr="Clap avec un remplissage uni">
              <a:extLst>
                <a:ext uri="{FF2B5EF4-FFF2-40B4-BE49-F238E27FC236}">
                  <a16:creationId xmlns:a16="http://schemas.microsoft.com/office/drawing/2014/main" id="{932F383D-39F4-25E6-91D3-9206715CE053}"/>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12642003" y="2832920"/>
              <a:ext cx="67185" cy="67185"/>
            </a:xfrm>
            <a:prstGeom prst="rect">
              <a:avLst/>
            </a:prstGeom>
          </p:spPr>
        </p:pic>
        <p:pic>
          <p:nvPicPr>
            <p:cNvPr id="289" name="Graphique 288" descr="Journal avec un remplissage uni">
              <a:extLst>
                <a:ext uri="{FF2B5EF4-FFF2-40B4-BE49-F238E27FC236}">
                  <a16:creationId xmlns:a16="http://schemas.microsoft.com/office/drawing/2014/main" id="{F1E432C7-4C4D-2F33-71AF-01E8AC5248B0}"/>
                </a:ext>
              </a:extLst>
            </p:cNvPr>
            <p:cNvPicPr>
              <a:picLocks noChangeAspect="1"/>
            </p:cNvPicPr>
            <p:nvPr/>
          </p:nvPicPr>
          <p:blipFill rotWithShape="1">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rcRect l="11031" t="11031" r="13604" b="11351"/>
            <a:stretch/>
          </p:blipFill>
          <p:spPr>
            <a:xfrm>
              <a:off x="12662040" y="2753919"/>
              <a:ext cx="61864" cy="63713"/>
            </a:xfrm>
            <a:prstGeom prst="rect">
              <a:avLst/>
            </a:prstGeom>
          </p:spPr>
        </p:pic>
        <p:pic>
          <p:nvPicPr>
            <p:cNvPr id="290" name="Graphique 289" descr="Écolier avec un remplissage uni">
              <a:extLst>
                <a:ext uri="{FF2B5EF4-FFF2-40B4-BE49-F238E27FC236}">
                  <a16:creationId xmlns:a16="http://schemas.microsoft.com/office/drawing/2014/main" id="{5B5F07F1-9020-0220-C12E-25F40DFABDE8}"/>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l="23541" t="12103" r="23440" b="13876"/>
            <a:stretch/>
          </p:blipFill>
          <p:spPr>
            <a:xfrm>
              <a:off x="12356663" y="2918043"/>
              <a:ext cx="189320" cy="264306"/>
            </a:xfrm>
            <a:prstGeom prst="rect">
              <a:avLst/>
            </a:prstGeom>
          </p:spPr>
        </p:pic>
      </p:grpSp>
      <p:grpSp>
        <p:nvGrpSpPr>
          <p:cNvPr id="299" name="Groupe 298">
            <a:extLst>
              <a:ext uri="{FF2B5EF4-FFF2-40B4-BE49-F238E27FC236}">
                <a16:creationId xmlns:a16="http://schemas.microsoft.com/office/drawing/2014/main" id="{B2A15552-5519-F651-B25C-CD06362F73DE}"/>
              </a:ext>
            </a:extLst>
          </p:cNvPr>
          <p:cNvGrpSpPr/>
          <p:nvPr/>
        </p:nvGrpSpPr>
        <p:grpSpPr>
          <a:xfrm>
            <a:off x="3288193" y="4460652"/>
            <a:ext cx="1366109" cy="680679"/>
            <a:chOff x="539297" y="800199"/>
            <a:chExt cx="4798671" cy="2390992"/>
          </a:xfrm>
        </p:grpSpPr>
        <p:pic>
          <p:nvPicPr>
            <p:cNvPr id="291" name="Graphique 290" descr="Courir avec un remplissage uni">
              <a:extLst>
                <a:ext uri="{FF2B5EF4-FFF2-40B4-BE49-F238E27FC236}">
                  <a16:creationId xmlns:a16="http://schemas.microsoft.com/office/drawing/2014/main" id="{587CE71F-82CA-4D83-6E0A-B5117B8C8732}"/>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539297" y="1167493"/>
              <a:ext cx="1877754" cy="1877754"/>
            </a:xfrm>
            <a:prstGeom prst="rect">
              <a:avLst/>
            </a:prstGeom>
          </p:spPr>
        </p:pic>
        <p:pic>
          <p:nvPicPr>
            <p:cNvPr id="292" name="Graphique 291" descr="Centre d’appels avec un remplissage uni">
              <a:extLst>
                <a:ext uri="{FF2B5EF4-FFF2-40B4-BE49-F238E27FC236}">
                  <a16:creationId xmlns:a16="http://schemas.microsoft.com/office/drawing/2014/main" id="{2DA43E03-D97A-4455-ADD1-3398131A9375}"/>
                </a:ext>
              </a:extLst>
            </p:cNvPr>
            <p:cNvPicPr>
              <a:picLocks noChangeAspect="1"/>
            </p:cNvPicPr>
            <p:nvPr/>
          </p:nvPicPr>
          <p:blipFill>
            <a:blip r:embed="rId41">
              <a:extLst>
                <a:ext uri="{28A0092B-C50C-407E-A947-70E740481C1C}">
                  <a14:useLocalDpi xmlns:a14="http://schemas.microsoft.com/office/drawing/2010/main" val="0"/>
                </a:ext>
                <a:ext uri="{96DAC541-7B7A-43D3-8B79-37D633B846F1}">
                  <asvg:svgBlip xmlns:asvg="http://schemas.microsoft.com/office/drawing/2016/SVG/main" r:embed="rId42"/>
                </a:ext>
              </a:extLst>
            </a:blip>
            <a:stretch>
              <a:fillRect/>
            </a:stretch>
          </p:blipFill>
          <p:spPr>
            <a:xfrm>
              <a:off x="3459112" y="800199"/>
              <a:ext cx="1568599" cy="1568599"/>
            </a:xfrm>
            <a:prstGeom prst="rect">
              <a:avLst/>
            </a:prstGeom>
          </p:spPr>
        </p:pic>
        <p:grpSp>
          <p:nvGrpSpPr>
            <p:cNvPr id="293" name="Groupe 292">
              <a:extLst>
                <a:ext uri="{FF2B5EF4-FFF2-40B4-BE49-F238E27FC236}">
                  <a16:creationId xmlns:a16="http://schemas.microsoft.com/office/drawing/2014/main" id="{2D6A10C8-3C02-AEE2-B4AB-DBF94BEFB806}"/>
                </a:ext>
              </a:extLst>
            </p:cNvPr>
            <p:cNvGrpSpPr/>
            <p:nvPr/>
          </p:nvGrpSpPr>
          <p:grpSpPr>
            <a:xfrm>
              <a:off x="3184152" y="1833647"/>
              <a:ext cx="2153816" cy="1357544"/>
              <a:chOff x="2847602" y="1909847"/>
              <a:chExt cx="2153816" cy="1357544"/>
            </a:xfrm>
          </p:grpSpPr>
          <p:sp>
            <p:nvSpPr>
              <p:cNvPr id="294" name="Rectangle 293">
                <a:extLst>
                  <a:ext uri="{FF2B5EF4-FFF2-40B4-BE49-F238E27FC236}">
                    <a16:creationId xmlns:a16="http://schemas.microsoft.com/office/drawing/2014/main" id="{89349D3B-1707-BE51-3B28-04EA47180052}"/>
                  </a:ext>
                </a:extLst>
              </p:cNvPr>
              <p:cNvSpPr/>
              <p:nvPr/>
            </p:nvSpPr>
            <p:spPr>
              <a:xfrm>
                <a:off x="2847602" y="1909847"/>
                <a:ext cx="2153816" cy="1905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 name="Rectangle 294">
                <a:extLst>
                  <a:ext uri="{FF2B5EF4-FFF2-40B4-BE49-F238E27FC236}">
                    <a16:creationId xmlns:a16="http://schemas.microsoft.com/office/drawing/2014/main" id="{C3F74899-0F80-8202-E63A-E0FD1AA08EE1}"/>
                  </a:ext>
                </a:extLst>
              </p:cNvPr>
              <p:cNvSpPr/>
              <p:nvPr/>
            </p:nvSpPr>
            <p:spPr>
              <a:xfrm>
                <a:off x="3011035" y="2257425"/>
                <a:ext cx="1783895" cy="10099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96" name="Rectangle 295">
                <a:extLst>
                  <a:ext uri="{FF2B5EF4-FFF2-40B4-BE49-F238E27FC236}">
                    <a16:creationId xmlns:a16="http://schemas.microsoft.com/office/drawing/2014/main" id="{99A9E704-BB7B-2895-E0EB-ECFC84EA4742}"/>
                  </a:ext>
                </a:extLst>
              </p:cNvPr>
              <p:cNvSpPr/>
              <p:nvPr/>
            </p:nvSpPr>
            <p:spPr>
              <a:xfrm rot="5400000">
                <a:off x="3139945" y="2111257"/>
                <a:ext cx="244982" cy="1426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 name="Rectangle 296">
                <a:extLst>
                  <a:ext uri="{FF2B5EF4-FFF2-40B4-BE49-F238E27FC236}">
                    <a16:creationId xmlns:a16="http://schemas.microsoft.com/office/drawing/2014/main" id="{A3543C5C-4550-5076-0480-19D5690DBE92}"/>
                  </a:ext>
                </a:extLst>
              </p:cNvPr>
              <p:cNvSpPr/>
              <p:nvPr/>
            </p:nvSpPr>
            <p:spPr>
              <a:xfrm rot="5400000">
                <a:off x="4445521" y="2111258"/>
                <a:ext cx="244982" cy="1426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298" name="Graphique 297" descr="Point d’interrogation avec un remplissage uni">
              <a:extLst>
                <a:ext uri="{FF2B5EF4-FFF2-40B4-BE49-F238E27FC236}">
                  <a16:creationId xmlns:a16="http://schemas.microsoft.com/office/drawing/2014/main" id="{460B57CC-4D3F-A437-E117-6F2876FEFAE7}"/>
                </a:ext>
              </a:extLst>
            </p:cNvPr>
            <p:cNvPicPr>
              <a:picLocks noChangeAspect="1"/>
            </p:cNvPicPr>
            <p:nvPr/>
          </p:nvPicPr>
          <p:blipFill>
            <a:blip r:embed="rId43">
              <a:extLst>
                <a:ext uri="{28A0092B-C50C-407E-A947-70E740481C1C}">
                  <a14:useLocalDpi xmlns:a14="http://schemas.microsoft.com/office/drawing/2010/main" val="0"/>
                </a:ext>
                <a:ext uri="{96DAC541-7B7A-43D3-8B79-37D633B846F1}">
                  <asvg:svgBlip xmlns:asvg="http://schemas.microsoft.com/office/drawing/2016/SVG/main" r:embed="rId44"/>
                </a:ext>
              </a:extLst>
            </a:blip>
            <a:stretch>
              <a:fillRect/>
            </a:stretch>
          </p:blipFill>
          <p:spPr>
            <a:xfrm>
              <a:off x="3829038" y="2200603"/>
              <a:ext cx="914400" cy="914400"/>
            </a:xfrm>
            <a:prstGeom prst="rect">
              <a:avLst/>
            </a:prstGeom>
          </p:spPr>
        </p:pic>
      </p:grpSp>
      <p:sp>
        <p:nvSpPr>
          <p:cNvPr id="389" name="Rectangle 388">
            <a:extLst>
              <a:ext uri="{FF2B5EF4-FFF2-40B4-BE49-F238E27FC236}">
                <a16:creationId xmlns:a16="http://schemas.microsoft.com/office/drawing/2014/main" id="{BD210350-2654-16C6-8C61-AC5FE3144C3D}"/>
              </a:ext>
            </a:extLst>
          </p:cNvPr>
          <p:cNvSpPr/>
          <p:nvPr/>
        </p:nvSpPr>
        <p:spPr>
          <a:xfrm>
            <a:off x="3351340" y="5270067"/>
            <a:ext cx="1339649" cy="82827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⚙️Système de clinique / rendez-vous individuels à prendre </a:t>
            </a:r>
          </a:p>
        </p:txBody>
      </p:sp>
      <p:sp>
        <p:nvSpPr>
          <p:cNvPr id="182" name="Rectangle 181">
            <a:extLst>
              <a:ext uri="{FF2B5EF4-FFF2-40B4-BE49-F238E27FC236}">
                <a16:creationId xmlns:a16="http://schemas.microsoft.com/office/drawing/2014/main" id="{2D355626-11B4-ABB7-64D3-023AE4526150}"/>
              </a:ext>
            </a:extLst>
          </p:cNvPr>
          <p:cNvSpPr/>
          <p:nvPr/>
        </p:nvSpPr>
        <p:spPr>
          <a:xfrm>
            <a:off x="9248841" y="302747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Forte disponibilité pour rencontrer les différentes personnes</a:t>
            </a:r>
          </a:p>
        </p:txBody>
      </p:sp>
      <p:sp>
        <p:nvSpPr>
          <p:cNvPr id="213" name="Rectangle 212">
            <a:extLst>
              <a:ext uri="{FF2B5EF4-FFF2-40B4-BE49-F238E27FC236}">
                <a16:creationId xmlns:a16="http://schemas.microsoft.com/office/drawing/2014/main" id="{62E22664-8229-E906-09C2-C5FA11C25A54}"/>
              </a:ext>
            </a:extLst>
          </p:cNvPr>
          <p:cNvSpPr/>
          <p:nvPr/>
        </p:nvSpPr>
        <p:spPr>
          <a:xfrm>
            <a:off x="7158310" y="3027477"/>
            <a:ext cx="996523" cy="60207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Outils de prise de rendez-vous avec les individus ciblés</a:t>
            </a:r>
          </a:p>
        </p:txBody>
      </p:sp>
      <p:pic>
        <p:nvPicPr>
          <p:cNvPr id="304" name="Graphique 303" descr="Chat avec un remplissage uni">
            <a:extLst>
              <a:ext uri="{FF2B5EF4-FFF2-40B4-BE49-F238E27FC236}">
                <a16:creationId xmlns:a16="http://schemas.microsoft.com/office/drawing/2014/main" id="{AB6F0AC6-9EA3-7EA5-D805-CDC60A09DF3A}"/>
              </a:ext>
            </a:extLst>
          </p:cNvPr>
          <p:cNvPicPr>
            <a:picLocks noChangeAspect="1"/>
          </p:cNvPicPr>
          <p:nvPr/>
        </p:nvPicPr>
        <p:blipFill>
          <a:blip r:embed="rId45">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a:off x="7373452" y="2512195"/>
            <a:ext cx="496142" cy="496140"/>
          </a:xfrm>
          <a:prstGeom prst="rect">
            <a:avLst/>
          </a:prstGeom>
        </p:spPr>
      </p:pic>
      <p:pic>
        <p:nvPicPr>
          <p:cNvPr id="305" name="Graphique 304" descr="Sablier 60% avec un remplissage uni">
            <a:extLst>
              <a:ext uri="{FF2B5EF4-FFF2-40B4-BE49-F238E27FC236}">
                <a16:creationId xmlns:a16="http://schemas.microsoft.com/office/drawing/2014/main" id="{3B8730C7-CB26-9A89-D49C-8C0A9652E871}"/>
              </a:ext>
            </a:extLst>
          </p:cNvPr>
          <p:cNvPicPr>
            <a:picLocks noChangeAspect="1"/>
          </p:cNvPicPr>
          <p:nvPr/>
        </p:nvPicPr>
        <p:blipFill>
          <a:blip r:embed="rId47">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9509478" y="2555127"/>
            <a:ext cx="496143" cy="496141"/>
          </a:xfrm>
          <a:prstGeom prst="rect">
            <a:avLst/>
          </a:prstGeom>
        </p:spPr>
      </p:pic>
      <p:pic>
        <p:nvPicPr>
          <p:cNvPr id="307" name="Graphique 306" descr="Tête avec engrenages avec un remplissage uni">
            <a:extLst>
              <a:ext uri="{FF2B5EF4-FFF2-40B4-BE49-F238E27FC236}">
                <a16:creationId xmlns:a16="http://schemas.microsoft.com/office/drawing/2014/main" id="{F84CA2AE-2EBC-506B-EC24-EBA4BF3F9DE4}"/>
              </a:ext>
            </a:extLst>
          </p:cNvPr>
          <p:cNvPicPr>
            <a:picLocks noChangeAspect="1"/>
          </p:cNvPicPr>
          <p:nvPr/>
        </p:nvPicPr>
        <p:blipFill>
          <a:blip r:embed="rId49">
            <a:extLst>
              <a:ext uri="{28A0092B-C50C-407E-A947-70E740481C1C}">
                <a14:useLocalDpi xmlns:a14="http://schemas.microsoft.com/office/drawing/2010/main" val="0"/>
              </a:ext>
              <a:ext uri="{96DAC541-7B7A-43D3-8B79-37D633B846F1}">
                <asvg:svgBlip xmlns:asvg="http://schemas.microsoft.com/office/drawing/2016/SVG/main" r:embed="rId50"/>
              </a:ext>
            </a:extLst>
          </a:blip>
          <a:stretch>
            <a:fillRect/>
          </a:stretch>
        </p:blipFill>
        <p:spPr>
          <a:xfrm>
            <a:off x="5370714" y="2467496"/>
            <a:ext cx="476026" cy="476025"/>
          </a:xfrm>
          <a:prstGeom prst="rect">
            <a:avLst/>
          </a:prstGeom>
        </p:spPr>
      </p:pic>
      <p:pic>
        <p:nvPicPr>
          <p:cNvPr id="309" name="Graphique 308" descr="Informations avec un remplissage uni">
            <a:extLst>
              <a:ext uri="{FF2B5EF4-FFF2-40B4-BE49-F238E27FC236}">
                <a16:creationId xmlns:a16="http://schemas.microsoft.com/office/drawing/2014/main" id="{A8FE2540-38B3-2CDD-6CDB-6B7E7A1C12AB}"/>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6353590" y="2493689"/>
            <a:ext cx="496143" cy="496142"/>
          </a:xfrm>
          <a:prstGeom prst="rect">
            <a:avLst/>
          </a:prstGeom>
        </p:spPr>
      </p:pic>
      <p:sp>
        <p:nvSpPr>
          <p:cNvPr id="315" name="Rectangle 314">
            <a:extLst>
              <a:ext uri="{FF2B5EF4-FFF2-40B4-BE49-F238E27FC236}">
                <a16:creationId xmlns:a16="http://schemas.microsoft.com/office/drawing/2014/main" id="{1525FE3A-3342-4174-2BAE-39F80BCC9100}"/>
              </a:ext>
            </a:extLst>
          </p:cNvPr>
          <p:cNvSpPr/>
          <p:nvPr/>
        </p:nvSpPr>
        <p:spPr>
          <a:xfrm>
            <a:off x="6086527" y="302747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Liste des individus clés à rencontrer, avec coordonnées</a:t>
            </a:r>
          </a:p>
        </p:txBody>
      </p:sp>
      <p:sp>
        <p:nvSpPr>
          <p:cNvPr id="316" name="Rectangle 315">
            <a:extLst>
              <a:ext uri="{FF2B5EF4-FFF2-40B4-BE49-F238E27FC236}">
                <a16:creationId xmlns:a16="http://schemas.microsoft.com/office/drawing/2014/main" id="{2A982C1C-39AF-F658-98B9-DEEE2599F5B5}"/>
              </a:ext>
            </a:extLst>
          </p:cNvPr>
          <p:cNvSpPr/>
          <p:nvPr/>
        </p:nvSpPr>
        <p:spPr>
          <a:xfrm>
            <a:off x="8198013" y="302747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suffisante des « membres« pour rdv individuels</a:t>
            </a:r>
          </a:p>
        </p:txBody>
      </p:sp>
      <p:pic>
        <p:nvPicPr>
          <p:cNvPr id="317" name="Graphique 316" descr="Sablier 60% avec un remplissage uni">
            <a:extLst>
              <a:ext uri="{FF2B5EF4-FFF2-40B4-BE49-F238E27FC236}">
                <a16:creationId xmlns:a16="http://schemas.microsoft.com/office/drawing/2014/main" id="{7DE6F900-6E09-14B8-F796-E93A335369DD}"/>
              </a:ext>
            </a:extLst>
          </p:cNvPr>
          <p:cNvPicPr>
            <a:picLocks noChangeAspect="1"/>
          </p:cNvPicPr>
          <p:nvPr/>
        </p:nvPicPr>
        <p:blipFill>
          <a:blip r:embed="rId47">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8458650" y="2547875"/>
            <a:ext cx="496143" cy="496141"/>
          </a:xfrm>
          <a:prstGeom prst="rect">
            <a:avLst/>
          </a:prstGeom>
        </p:spPr>
      </p:pic>
      <p:sp>
        <p:nvSpPr>
          <p:cNvPr id="384" name="Rectangle 383">
            <a:extLst>
              <a:ext uri="{FF2B5EF4-FFF2-40B4-BE49-F238E27FC236}">
                <a16:creationId xmlns:a16="http://schemas.microsoft.com/office/drawing/2014/main" id="{8C47F627-7AD2-719B-51A6-43B19F5D72A6}"/>
              </a:ext>
            </a:extLst>
          </p:cNvPr>
          <p:cNvSpPr/>
          <p:nvPr/>
        </p:nvSpPr>
        <p:spPr>
          <a:xfrm>
            <a:off x="5028951" y="302747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 de traitement de sujet à échelle individuelle</a:t>
            </a:r>
          </a:p>
        </p:txBody>
      </p:sp>
      <p:sp>
        <p:nvSpPr>
          <p:cNvPr id="385" name="Rectangle 384">
            <a:extLst>
              <a:ext uri="{FF2B5EF4-FFF2-40B4-BE49-F238E27FC236}">
                <a16:creationId xmlns:a16="http://schemas.microsoft.com/office/drawing/2014/main" id="{650F7BDC-4987-972F-8B38-624910865849}"/>
              </a:ext>
            </a:extLst>
          </p:cNvPr>
          <p:cNvSpPr/>
          <p:nvPr/>
        </p:nvSpPr>
        <p:spPr>
          <a:xfrm>
            <a:off x="10298147" y="3030953"/>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Outil d’enregistrement des résultats des entretiens</a:t>
            </a:r>
          </a:p>
        </p:txBody>
      </p:sp>
      <p:pic>
        <p:nvPicPr>
          <p:cNvPr id="386" name="Graphique 385" descr="Chat avec un remplissage uni">
            <a:extLst>
              <a:ext uri="{FF2B5EF4-FFF2-40B4-BE49-F238E27FC236}">
                <a16:creationId xmlns:a16="http://schemas.microsoft.com/office/drawing/2014/main" id="{A5E6CABE-A17E-21A2-4FF0-83C25454FD0A}"/>
              </a:ext>
            </a:extLst>
          </p:cNvPr>
          <p:cNvPicPr>
            <a:picLocks noChangeAspect="1"/>
          </p:cNvPicPr>
          <p:nvPr/>
        </p:nvPicPr>
        <p:blipFill>
          <a:blip r:embed="rId45">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a:off x="10556445" y="2512195"/>
            <a:ext cx="496142" cy="496140"/>
          </a:xfrm>
          <a:prstGeom prst="rect">
            <a:avLst/>
          </a:prstGeom>
        </p:spPr>
      </p:pic>
    </p:spTree>
    <p:extLst>
      <p:ext uri="{BB962C8B-B14F-4D97-AF65-F5344CB8AC3E}">
        <p14:creationId xmlns:p14="http://schemas.microsoft.com/office/powerpoint/2010/main" val="1813136074"/>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2127583923"/>
              </p:ext>
            </p:extLst>
          </p:nvPr>
        </p:nvGraphicFramePr>
        <p:xfrm>
          <a:off x="847325" y="777205"/>
          <a:ext cx="10515600" cy="5430796"/>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solidFill>
                            <a:schemeClr val="tx1"/>
                          </a:solidFill>
                        </a:rPr>
                        <a:t>Etape de test en approche réunion ponctuelle</a:t>
                      </a:r>
                    </a:p>
                    <a:p>
                      <a:r>
                        <a:rPr lang="fr-FR" i="1" dirty="0">
                          <a:solidFill>
                            <a:schemeClr val="tx1"/>
                          </a:solidFill>
                        </a:rPr>
                        <a:t>« Concentrer les interactions dans un moment clé et évaluer si c’est suffisant pour répondre à la motivation de départ »</a:t>
                      </a:r>
                    </a:p>
                  </a:txBody>
                  <a:tcPr>
                    <a:solidFill>
                      <a:schemeClr val="bg1">
                        <a:lumMod val="85000"/>
                      </a:schemeClr>
                    </a:solidFill>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pic>
        <p:nvPicPr>
          <p:cNvPr id="160" name="Graphique 159" descr="Écran avec un remplissage uni">
            <a:extLst>
              <a:ext uri="{FF2B5EF4-FFF2-40B4-BE49-F238E27FC236}">
                <a16:creationId xmlns:a16="http://schemas.microsoft.com/office/drawing/2014/main" id="{4C836B04-A610-B557-E196-C85FD29557D6}"/>
              </a:ext>
            </a:extLst>
          </p:cNvPr>
          <p:cNvPicPr>
            <a:picLocks noChangeAspect="1"/>
          </p:cNvPicPr>
          <p:nvPr/>
        </p:nvPicPr>
        <p:blipFill rotWithShape="1">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l="4869" t="11390" r="3271" b="5376"/>
          <a:stretch/>
        </p:blipFill>
        <p:spPr>
          <a:xfrm>
            <a:off x="7411371" y="4026877"/>
            <a:ext cx="1414965" cy="1282102"/>
          </a:xfrm>
          <a:prstGeom prst="rect">
            <a:avLst/>
          </a:prstGeom>
        </p:spPr>
      </p:pic>
      <p:sp>
        <p:nvSpPr>
          <p:cNvPr id="300" name="Rectangle 299">
            <a:extLst>
              <a:ext uri="{FF2B5EF4-FFF2-40B4-BE49-F238E27FC236}">
                <a16:creationId xmlns:a16="http://schemas.microsoft.com/office/drawing/2014/main" id="{60ED5C84-1299-30ED-D8E4-91A5B65FDCA6}"/>
              </a:ext>
            </a:extLst>
          </p:cNvPr>
          <p:cNvSpPr/>
          <p:nvPr/>
        </p:nvSpPr>
        <p:spPr>
          <a:xfrm>
            <a:off x="7364191" y="525464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⚙️Salle de discussion éphémère (fermée a priori à la fin de l’événement)</a:t>
            </a:r>
          </a:p>
        </p:txBody>
      </p:sp>
      <p:sp>
        <p:nvSpPr>
          <p:cNvPr id="2" name="Flèche : droite 1">
            <a:extLst>
              <a:ext uri="{FF2B5EF4-FFF2-40B4-BE49-F238E27FC236}">
                <a16:creationId xmlns:a16="http://schemas.microsoft.com/office/drawing/2014/main" id="{BDEF54F9-BCAE-BAD9-C063-E6F1F106DAFD}"/>
              </a:ext>
            </a:extLst>
          </p:cNvPr>
          <p:cNvSpPr/>
          <p:nvPr/>
        </p:nvSpPr>
        <p:spPr>
          <a:xfrm>
            <a:off x="893877" y="2195871"/>
            <a:ext cx="1979387" cy="1311044"/>
          </a:xfrm>
          <a:prstGeom prst="rightArrow">
            <a:avLst>
              <a:gd name="adj1" fmla="val 63355"/>
              <a:gd name="adj2" fmla="val 50000"/>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36000" rtlCol="0" anchor="ctr"/>
          <a:lstStyle/>
          <a:p>
            <a:pPr algn="ctr"/>
            <a:r>
              <a:rPr lang="fr-FR" sz="1000" b="1" dirty="0">
                <a:solidFill>
                  <a:schemeClr val="tx1"/>
                </a:solidFill>
              </a:rPr>
              <a:t>PRIORISATION ET TESTS:</a:t>
            </a:r>
          </a:p>
          <a:p>
            <a:pPr algn="ctr"/>
            <a:r>
              <a:rPr lang="fr-FR" sz="1000" dirty="0">
                <a:solidFill>
                  <a:schemeClr val="tx1"/>
                </a:solidFill>
              </a:rPr>
              <a:t>Tester la valeur avec les actions priorisées</a:t>
            </a:r>
          </a:p>
        </p:txBody>
      </p:sp>
      <p:grpSp>
        <p:nvGrpSpPr>
          <p:cNvPr id="6" name="Groupe 5">
            <a:extLst>
              <a:ext uri="{FF2B5EF4-FFF2-40B4-BE49-F238E27FC236}">
                <a16:creationId xmlns:a16="http://schemas.microsoft.com/office/drawing/2014/main" id="{4818D58C-6BF5-00BB-4497-FAA16455AEDE}"/>
              </a:ext>
            </a:extLst>
          </p:cNvPr>
          <p:cNvGrpSpPr/>
          <p:nvPr/>
        </p:nvGrpSpPr>
        <p:grpSpPr>
          <a:xfrm>
            <a:off x="3492133" y="2282810"/>
            <a:ext cx="865570" cy="855736"/>
            <a:chOff x="3751272" y="2768258"/>
            <a:chExt cx="506451" cy="500697"/>
          </a:xfrm>
        </p:grpSpPr>
        <p:grpSp>
          <p:nvGrpSpPr>
            <p:cNvPr id="7" name="Groupe 6">
              <a:extLst>
                <a:ext uri="{FF2B5EF4-FFF2-40B4-BE49-F238E27FC236}">
                  <a16:creationId xmlns:a16="http://schemas.microsoft.com/office/drawing/2014/main" id="{CE55E080-2712-E1AD-6B07-BD18C82DDF94}"/>
                </a:ext>
              </a:extLst>
            </p:cNvPr>
            <p:cNvGrpSpPr/>
            <p:nvPr/>
          </p:nvGrpSpPr>
          <p:grpSpPr>
            <a:xfrm>
              <a:off x="3751272" y="2788588"/>
              <a:ext cx="466106" cy="480367"/>
              <a:chOff x="9345616" y="3418428"/>
              <a:chExt cx="867558" cy="894101"/>
            </a:xfrm>
            <a:solidFill>
              <a:srgbClr val="ED7D31"/>
            </a:solidFill>
          </p:grpSpPr>
          <p:pic>
            <p:nvPicPr>
              <p:cNvPr id="9" name="Graphique 8" descr="Utilisateur avec un remplissage uni">
                <a:extLst>
                  <a:ext uri="{FF2B5EF4-FFF2-40B4-BE49-F238E27FC236}">
                    <a16:creationId xmlns:a16="http://schemas.microsoft.com/office/drawing/2014/main" id="{C0CB3F99-C994-BFE7-5550-5CCCAFCD957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D27969A7-9936-459C-7752-EEBA12F601A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D16C5853-4CC2-925E-5ECB-2D9D23002BB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D86CCF2C-6C91-3922-1FCA-ED0752A66A3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20868" y="3943076"/>
                <a:ext cx="336064" cy="336064"/>
              </a:xfrm>
              <a:prstGeom prst="rect">
                <a:avLst/>
              </a:prstGeom>
            </p:spPr>
          </p:pic>
          <p:pic>
            <p:nvPicPr>
              <p:cNvPr id="13" name="Graphique 12" descr="Utilisateur avec un remplissage uni">
                <a:extLst>
                  <a:ext uri="{FF2B5EF4-FFF2-40B4-BE49-F238E27FC236}">
                    <a16:creationId xmlns:a16="http://schemas.microsoft.com/office/drawing/2014/main" id="{C91D4FE7-D2AC-A6F1-BF6C-D1767C44979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742772" y="3976465"/>
                <a:ext cx="336064" cy="336064"/>
              </a:xfrm>
              <a:prstGeom prst="rect">
                <a:avLst/>
              </a:prstGeom>
            </p:spPr>
          </p:pic>
          <p:pic>
            <p:nvPicPr>
              <p:cNvPr id="14" name="Graphique 13" descr="Utilisateur avec un remplissage uni">
                <a:extLst>
                  <a:ext uri="{FF2B5EF4-FFF2-40B4-BE49-F238E27FC236}">
                    <a16:creationId xmlns:a16="http://schemas.microsoft.com/office/drawing/2014/main" id="{5949AAF0-2F04-990D-C5DA-BA113CCA950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77110" y="3705332"/>
                <a:ext cx="336064" cy="336064"/>
              </a:xfrm>
              <a:prstGeom prst="rect">
                <a:avLst/>
              </a:prstGeom>
            </p:spPr>
          </p:pic>
        </p:grpSp>
        <p:pic>
          <p:nvPicPr>
            <p:cNvPr id="8" name="Graphique 7" descr="Calendrier journalier avec un remplissage uni">
              <a:extLst>
                <a:ext uri="{FF2B5EF4-FFF2-40B4-BE49-F238E27FC236}">
                  <a16:creationId xmlns:a16="http://schemas.microsoft.com/office/drawing/2014/main" id="{CC41CD00-2855-2ED0-3F1E-F68C376C479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046036" y="2768258"/>
              <a:ext cx="211687" cy="211687"/>
            </a:xfrm>
            <a:prstGeom prst="rect">
              <a:avLst/>
            </a:prstGeom>
          </p:spPr>
        </p:pic>
      </p:grpSp>
      <p:sp>
        <p:nvSpPr>
          <p:cNvPr id="15" name="Titre 1">
            <a:extLst>
              <a:ext uri="{FF2B5EF4-FFF2-40B4-BE49-F238E27FC236}">
                <a16:creationId xmlns:a16="http://schemas.microsoft.com/office/drawing/2014/main" id="{35C1F490-7C87-B09C-177A-955DAE4A6FC1}"/>
              </a:ext>
            </a:extLst>
          </p:cNvPr>
          <p:cNvSpPr txBox="1">
            <a:spLocks/>
          </p:cNvSpPr>
          <p:nvPr/>
        </p:nvSpPr>
        <p:spPr>
          <a:xfrm>
            <a:off x="2984173" y="3074347"/>
            <a:ext cx="1991986" cy="41643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p>
          <a:p>
            <a:pPr algn="ctr"/>
            <a:r>
              <a:rPr lang="fr-FR" sz="1400" dirty="0"/>
              <a:t>par </a:t>
            </a:r>
            <a:r>
              <a:rPr lang="fr-FR" sz="1400" b="1" dirty="0"/>
              <a:t>réunion ponctuelle</a:t>
            </a:r>
          </a:p>
        </p:txBody>
      </p:sp>
      <p:sp>
        <p:nvSpPr>
          <p:cNvPr id="16" name="Rectangle 15">
            <a:extLst>
              <a:ext uri="{FF2B5EF4-FFF2-40B4-BE49-F238E27FC236}">
                <a16:creationId xmlns:a16="http://schemas.microsoft.com/office/drawing/2014/main" id="{7394B947-FE38-5AA5-CDCA-42B3C4F2B5E0}"/>
              </a:ext>
            </a:extLst>
          </p:cNvPr>
          <p:cNvSpPr/>
          <p:nvPr/>
        </p:nvSpPr>
        <p:spPr>
          <a:xfrm>
            <a:off x="5412200" y="526053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Phase de feedback pendant les événements</a:t>
            </a:r>
          </a:p>
        </p:txBody>
      </p:sp>
      <p:grpSp>
        <p:nvGrpSpPr>
          <p:cNvPr id="17" name="Groupe 16">
            <a:extLst>
              <a:ext uri="{FF2B5EF4-FFF2-40B4-BE49-F238E27FC236}">
                <a16:creationId xmlns:a16="http://schemas.microsoft.com/office/drawing/2014/main" id="{5319B540-41DA-A9A5-080D-97A8A1D327F3}"/>
              </a:ext>
            </a:extLst>
          </p:cNvPr>
          <p:cNvGrpSpPr/>
          <p:nvPr/>
        </p:nvGrpSpPr>
        <p:grpSpPr>
          <a:xfrm>
            <a:off x="5454033" y="4341692"/>
            <a:ext cx="1351547" cy="795664"/>
            <a:chOff x="2626246" y="3261367"/>
            <a:chExt cx="2809874" cy="1654184"/>
          </a:xfrm>
        </p:grpSpPr>
        <p:pic>
          <p:nvPicPr>
            <p:cNvPr id="18" name="Graphique 17" descr="Signe pouce en haut avec un remplissage uni">
              <a:extLst>
                <a:ext uri="{FF2B5EF4-FFF2-40B4-BE49-F238E27FC236}">
                  <a16:creationId xmlns:a16="http://schemas.microsoft.com/office/drawing/2014/main" id="{B93FF42A-D64A-7339-F194-E0CD3C89477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839034" y="3261367"/>
              <a:ext cx="470653" cy="470653"/>
            </a:xfrm>
            <a:prstGeom prst="rect">
              <a:avLst/>
            </a:prstGeom>
          </p:spPr>
        </p:pic>
        <p:pic>
          <p:nvPicPr>
            <p:cNvPr id="20" name="Graphique 19" descr="Pouce en bas avec un remplissage uni">
              <a:extLst>
                <a:ext uri="{FF2B5EF4-FFF2-40B4-BE49-F238E27FC236}">
                  <a16:creationId xmlns:a16="http://schemas.microsoft.com/office/drawing/2014/main" id="{91C02BE7-C086-8901-5C5F-30126593375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3787316" y="3319278"/>
              <a:ext cx="508752" cy="508752"/>
            </a:xfrm>
            <a:prstGeom prst="rect">
              <a:avLst/>
            </a:prstGeom>
          </p:spPr>
        </p:pic>
        <p:sp>
          <p:nvSpPr>
            <p:cNvPr id="448" name="Rectangle 447">
              <a:extLst>
                <a:ext uri="{FF2B5EF4-FFF2-40B4-BE49-F238E27FC236}">
                  <a16:creationId xmlns:a16="http://schemas.microsoft.com/office/drawing/2014/main" id="{CBFC3C03-0EE9-5860-D861-BDDDA683E5B8}"/>
                </a:ext>
              </a:extLst>
            </p:cNvPr>
            <p:cNvSpPr/>
            <p:nvPr/>
          </p:nvSpPr>
          <p:spPr>
            <a:xfrm>
              <a:off x="262624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 name="Rectangle 449">
              <a:extLst>
                <a:ext uri="{FF2B5EF4-FFF2-40B4-BE49-F238E27FC236}">
                  <a16:creationId xmlns:a16="http://schemas.microsoft.com/office/drawing/2014/main" id="{87E0A84E-355E-1ED3-0E48-A2FB8FB0714B}"/>
                </a:ext>
              </a:extLst>
            </p:cNvPr>
            <p:cNvSpPr/>
            <p:nvPr/>
          </p:nvSpPr>
          <p:spPr>
            <a:xfrm>
              <a:off x="3583068"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8" name="Rectangle 457">
              <a:extLst>
                <a:ext uri="{FF2B5EF4-FFF2-40B4-BE49-F238E27FC236}">
                  <a16:creationId xmlns:a16="http://schemas.microsoft.com/office/drawing/2014/main" id="{E1EE3161-5CD6-E1B6-B9E8-22D63C730660}"/>
                </a:ext>
              </a:extLst>
            </p:cNvPr>
            <p:cNvSpPr/>
            <p:nvPr/>
          </p:nvSpPr>
          <p:spPr>
            <a:xfrm>
              <a:off x="4539889"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459" name="Graphique 458" descr="Aide avec un remplissage uni">
              <a:extLst>
                <a:ext uri="{FF2B5EF4-FFF2-40B4-BE49-F238E27FC236}">
                  <a16:creationId xmlns:a16="http://schemas.microsoft.com/office/drawing/2014/main" id="{1DE654CD-23FA-C978-D752-8A09B75FDA14}"/>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4793476" y="3319278"/>
              <a:ext cx="471018" cy="471018"/>
            </a:xfrm>
            <a:prstGeom prst="rect">
              <a:avLst/>
            </a:prstGeom>
          </p:spPr>
        </p:pic>
        <p:sp>
          <p:nvSpPr>
            <p:cNvPr id="461" name="Rectangle 460">
              <a:extLst>
                <a:ext uri="{FF2B5EF4-FFF2-40B4-BE49-F238E27FC236}">
                  <a16:creationId xmlns:a16="http://schemas.microsoft.com/office/drawing/2014/main" id="{6DA2D9FF-D765-63C3-2463-342C61C35DC5}"/>
                </a:ext>
              </a:extLst>
            </p:cNvPr>
            <p:cNvSpPr/>
            <p:nvPr/>
          </p:nvSpPr>
          <p:spPr>
            <a:xfrm>
              <a:off x="2682556"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62" name="Rectangle 461">
              <a:extLst>
                <a:ext uri="{FF2B5EF4-FFF2-40B4-BE49-F238E27FC236}">
                  <a16:creationId xmlns:a16="http://schemas.microsoft.com/office/drawing/2014/main" id="{EBE1DC89-CBE9-0ACD-018C-AAA4928B81E7}"/>
                </a:ext>
              </a:extLst>
            </p:cNvPr>
            <p:cNvSpPr/>
            <p:nvPr/>
          </p:nvSpPr>
          <p:spPr>
            <a:xfrm>
              <a:off x="2991651"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63" name="Rectangle 462">
              <a:extLst>
                <a:ext uri="{FF2B5EF4-FFF2-40B4-BE49-F238E27FC236}">
                  <a16:creationId xmlns:a16="http://schemas.microsoft.com/office/drawing/2014/main" id="{8E0550A1-FAD5-6E6A-E792-188668503824}"/>
                </a:ext>
              </a:extLst>
            </p:cNvPr>
            <p:cNvSpPr/>
            <p:nvPr/>
          </p:nvSpPr>
          <p:spPr>
            <a:xfrm>
              <a:off x="2912610" y="4148465"/>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64" name="Rectangle 463">
              <a:extLst>
                <a:ext uri="{FF2B5EF4-FFF2-40B4-BE49-F238E27FC236}">
                  <a16:creationId xmlns:a16="http://schemas.microsoft.com/office/drawing/2014/main" id="{BC950F16-0361-1550-FF66-ED043D496309}"/>
                </a:ext>
              </a:extLst>
            </p:cNvPr>
            <p:cNvSpPr/>
            <p:nvPr/>
          </p:nvSpPr>
          <p:spPr>
            <a:xfrm>
              <a:off x="3680364" y="3871561"/>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69" name="Rectangle 468">
              <a:extLst>
                <a:ext uri="{FF2B5EF4-FFF2-40B4-BE49-F238E27FC236}">
                  <a16:creationId xmlns:a16="http://schemas.microsoft.com/office/drawing/2014/main" id="{3B6D41C0-8834-851B-EF99-CFA8DE57F042}"/>
                </a:ext>
              </a:extLst>
            </p:cNvPr>
            <p:cNvSpPr/>
            <p:nvPr/>
          </p:nvSpPr>
          <p:spPr>
            <a:xfrm>
              <a:off x="4016069" y="398672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82" name="Rectangle 481">
              <a:extLst>
                <a:ext uri="{FF2B5EF4-FFF2-40B4-BE49-F238E27FC236}">
                  <a16:creationId xmlns:a16="http://schemas.microsoft.com/office/drawing/2014/main" id="{A7FC5AFF-67B0-17B8-6FB3-710772B49A04}"/>
                </a:ext>
              </a:extLst>
            </p:cNvPr>
            <p:cNvSpPr/>
            <p:nvPr/>
          </p:nvSpPr>
          <p:spPr>
            <a:xfrm>
              <a:off x="3698403" y="4181149"/>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83" name="Rectangle 482">
              <a:extLst>
                <a:ext uri="{FF2B5EF4-FFF2-40B4-BE49-F238E27FC236}">
                  <a16:creationId xmlns:a16="http://schemas.microsoft.com/office/drawing/2014/main" id="{FE1E8B2A-8472-4FB1-D035-DF8CEFA79773}"/>
                </a:ext>
              </a:extLst>
            </p:cNvPr>
            <p:cNvSpPr/>
            <p:nvPr/>
          </p:nvSpPr>
          <p:spPr>
            <a:xfrm>
              <a:off x="4604347" y="3858182"/>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84" name="Rectangle 483">
              <a:extLst>
                <a:ext uri="{FF2B5EF4-FFF2-40B4-BE49-F238E27FC236}">
                  <a16:creationId xmlns:a16="http://schemas.microsoft.com/office/drawing/2014/main" id="{BA51C7E1-FAA1-7961-27A3-FD7F5F51390E}"/>
                </a:ext>
              </a:extLst>
            </p:cNvPr>
            <p:cNvSpPr/>
            <p:nvPr/>
          </p:nvSpPr>
          <p:spPr>
            <a:xfrm>
              <a:off x="4928163" y="384379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85" name="Rectangle 484">
              <a:extLst>
                <a:ext uri="{FF2B5EF4-FFF2-40B4-BE49-F238E27FC236}">
                  <a16:creationId xmlns:a16="http://schemas.microsoft.com/office/drawing/2014/main" id="{48F63E85-66B3-B841-1590-AE1E8FFCC38A}"/>
                </a:ext>
              </a:extLst>
            </p:cNvPr>
            <p:cNvSpPr/>
            <p:nvPr/>
          </p:nvSpPr>
          <p:spPr>
            <a:xfrm>
              <a:off x="4844841" y="4195507"/>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grpSp>
      <p:sp>
        <p:nvSpPr>
          <p:cNvPr id="490" name="Rectangle 489">
            <a:extLst>
              <a:ext uri="{FF2B5EF4-FFF2-40B4-BE49-F238E27FC236}">
                <a16:creationId xmlns:a16="http://schemas.microsoft.com/office/drawing/2014/main" id="{4314B56E-11EB-60EC-839B-C9E51E107DE3}"/>
              </a:ext>
            </a:extLst>
          </p:cNvPr>
          <p:cNvSpPr/>
          <p:nvPr/>
        </p:nvSpPr>
        <p:spPr>
          <a:xfrm>
            <a:off x="3139448" y="5308979"/>
            <a:ext cx="1657330" cy="6539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✍️Communiqué sur les objectifs, le déroulement de l’événement</a:t>
            </a:r>
          </a:p>
        </p:txBody>
      </p:sp>
      <p:sp>
        <p:nvSpPr>
          <p:cNvPr id="494" name="Rectangle 493">
            <a:extLst>
              <a:ext uri="{FF2B5EF4-FFF2-40B4-BE49-F238E27FC236}">
                <a16:creationId xmlns:a16="http://schemas.microsoft.com/office/drawing/2014/main" id="{B05C12A1-E711-8B78-B21E-2FD34DC3D052}"/>
              </a:ext>
            </a:extLst>
          </p:cNvPr>
          <p:cNvSpPr/>
          <p:nvPr/>
        </p:nvSpPr>
        <p:spPr>
          <a:xfrm>
            <a:off x="1025834" y="5308978"/>
            <a:ext cx="1600474" cy="6539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📅Evènement ponctuel ou bien série finie (et courte) d’événements</a:t>
            </a:r>
          </a:p>
        </p:txBody>
      </p:sp>
      <p:sp>
        <p:nvSpPr>
          <p:cNvPr id="496" name="Rectangle 495">
            <a:extLst>
              <a:ext uri="{FF2B5EF4-FFF2-40B4-BE49-F238E27FC236}">
                <a16:creationId xmlns:a16="http://schemas.microsoft.com/office/drawing/2014/main" id="{CFC6C02B-F3ED-031A-F1AB-B05A7223ADB3}"/>
              </a:ext>
            </a:extLst>
          </p:cNvPr>
          <p:cNvSpPr/>
          <p:nvPr/>
        </p:nvSpPr>
        <p:spPr>
          <a:xfrm>
            <a:off x="9544683" y="5254645"/>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📅Discussion sur l’intérêt / la possibilité de continuer en tant que Communauté</a:t>
            </a:r>
          </a:p>
        </p:txBody>
      </p:sp>
      <p:grpSp>
        <p:nvGrpSpPr>
          <p:cNvPr id="497" name="Groupe 496">
            <a:extLst>
              <a:ext uri="{FF2B5EF4-FFF2-40B4-BE49-F238E27FC236}">
                <a16:creationId xmlns:a16="http://schemas.microsoft.com/office/drawing/2014/main" id="{9B1EEB5A-CC3E-1A72-78D1-B43058FDA653}"/>
              </a:ext>
            </a:extLst>
          </p:cNvPr>
          <p:cNvGrpSpPr/>
          <p:nvPr/>
        </p:nvGrpSpPr>
        <p:grpSpPr>
          <a:xfrm>
            <a:off x="9577928" y="4216457"/>
            <a:ext cx="1458903" cy="810761"/>
            <a:chOff x="5262966" y="3441208"/>
            <a:chExt cx="5110014" cy="2839805"/>
          </a:xfrm>
        </p:grpSpPr>
        <p:pic>
          <p:nvPicPr>
            <p:cNvPr id="498" name="Graphique 497" descr="Personne confuse avec un remplissage uni">
              <a:extLst>
                <a:ext uri="{FF2B5EF4-FFF2-40B4-BE49-F238E27FC236}">
                  <a16:creationId xmlns:a16="http://schemas.microsoft.com/office/drawing/2014/main" id="{D61E0FDB-1E35-2794-50B5-A20FDE44079E}"/>
                </a:ext>
              </a:extLst>
            </p:cNvPr>
            <p:cNvPicPr>
              <a:picLocks noChangeAspect="1"/>
            </p:cNvPicPr>
            <p:nvPr/>
          </p:nvPicPr>
          <p:blipFill rotWithShape="1">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rcRect l="13721" r="14768" b="50034"/>
            <a:stretch/>
          </p:blipFill>
          <p:spPr>
            <a:xfrm>
              <a:off x="6504238" y="4125117"/>
              <a:ext cx="1565232" cy="1093672"/>
            </a:xfrm>
            <a:prstGeom prst="rect">
              <a:avLst/>
            </a:prstGeom>
          </p:spPr>
        </p:pic>
        <p:pic>
          <p:nvPicPr>
            <p:cNvPr id="499" name="Graphique 498" descr="Homme avec un remplissage uni">
              <a:extLst>
                <a:ext uri="{FF2B5EF4-FFF2-40B4-BE49-F238E27FC236}">
                  <a16:creationId xmlns:a16="http://schemas.microsoft.com/office/drawing/2014/main" id="{66CD3240-D4D5-AADE-47CD-47E64FB79209}"/>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l="22505" t="2891" b="40502"/>
            <a:stretch/>
          </p:blipFill>
          <p:spPr>
            <a:xfrm>
              <a:off x="5262966" y="4794268"/>
              <a:ext cx="1597831" cy="1167136"/>
            </a:xfrm>
            <a:prstGeom prst="rect">
              <a:avLst/>
            </a:prstGeom>
          </p:spPr>
        </p:pic>
        <p:pic>
          <p:nvPicPr>
            <p:cNvPr id="500" name="Graphique 499" descr="Homme avec un remplissage uni">
              <a:extLst>
                <a:ext uri="{FF2B5EF4-FFF2-40B4-BE49-F238E27FC236}">
                  <a16:creationId xmlns:a16="http://schemas.microsoft.com/office/drawing/2014/main" id="{1A083D9D-6CDF-BA18-F8CB-809CA53AC78F}"/>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rcRect t="1" b="40502"/>
            <a:stretch/>
          </p:blipFill>
          <p:spPr>
            <a:xfrm>
              <a:off x="5713008" y="4989115"/>
              <a:ext cx="2061836" cy="1226716"/>
            </a:xfrm>
            <a:prstGeom prst="rect">
              <a:avLst/>
            </a:prstGeom>
          </p:spPr>
        </p:pic>
        <p:pic>
          <p:nvPicPr>
            <p:cNvPr id="501" name="Graphique 500" descr="Homme avec un remplissage uni">
              <a:extLst>
                <a:ext uri="{FF2B5EF4-FFF2-40B4-BE49-F238E27FC236}">
                  <a16:creationId xmlns:a16="http://schemas.microsoft.com/office/drawing/2014/main" id="{C3B9BF69-F486-E088-0892-EFC0094FF81B}"/>
                </a:ext>
              </a:extLst>
            </p:cNvPr>
            <p:cNvPicPr>
              <a:picLocks noChangeAspect="1"/>
            </p:cNvPicPr>
            <p:nvPr/>
          </p:nvPicPr>
          <p:blipFill rotWithShape="1">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rcRect t="1" b="40502"/>
            <a:stretch/>
          </p:blipFill>
          <p:spPr>
            <a:xfrm>
              <a:off x="7113689" y="5054297"/>
              <a:ext cx="2061836" cy="1226716"/>
            </a:xfrm>
            <a:prstGeom prst="rect">
              <a:avLst/>
            </a:prstGeom>
          </p:spPr>
        </p:pic>
        <p:pic>
          <p:nvPicPr>
            <p:cNvPr id="502" name="Graphique 501" descr="Homme avec un remplissage uni">
              <a:extLst>
                <a:ext uri="{FF2B5EF4-FFF2-40B4-BE49-F238E27FC236}">
                  <a16:creationId xmlns:a16="http://schemas.microsoft.com/office/drawing/2014/main" id="{C142B943-E216-3C7E-D1E3-89E5483E2B53}"/>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t="1" b="40502"/>
            <a:stretch/>
          </p:blipFill>
          <p:spPr>
            <a:xfrm>
              <a:off x="8311144" y="4781138"/>
              <a:ext cx="2061836" cy="1226716"/>
            </a:xfrm>
            <a:prstGeom prst="rect">
              <a:avLst/>
            </a:prstGeom>
          </p:spPr>
        </p:pic>
        <p:grpSp>
          <p:nvGrpSpPr>
            <p:cNvPr id="503" name="Groupe 502">
              <a:extLst>
                <a:ext uri="{FF2B5EF4-FFF2-40B4-BE49-F238E27FC236}">
                  <a16:creationId xmlns:a16="http://schemas.microsoft.com/office/drawing/2014/main" id="{B772525A-5BFC-1350-001A-85433F0281B7}"/>
                </a:ext>
              </a:extLst>
            </p:cNvPr>
            <p:cNvGrpSpPr/>
            <p:nvPr/>
          </p:nvGrpSpPr>
          <p:grpSpPr>
            <a:xfrm>
              <a:off x="5646534" y="3908602"/>
              <a:ext cx="1177654" cy="932398"/>
              <a:chOff x="7137810" y="856157"/>
              <a:chExt cx="1501399" cy="1188720"/>
            </a:xfrm>
          </p:grpSpPr>
          <p:grpSp>
            <p:nvGrpSpPr>
              <p:cNvPr id="147" name="Groupe 146">
                <a:extLst>
                  <a:ext uri="{FF2B5EF4-FFF2-40B4-BE49-F238E27FC236}">
                    <a16:creationId xmlns:a16="http://schemas.microsoft.com/office/drawing/2014/main" id="{C7FA4F03-0993-18B3-50AD-0B1AB58B20AA}"/>
                  </a:ext>
                </a:extLst>
              </p:cNvPr>
              <p:cNvGrpSpPr/>
              <p:nvPr/>
            </p:nvGrpSpPr>
            <p:grpSpPr>
              <a:xfrm>
                <a:off x="7137810" y="856157"/>
                <a:ext cx="1501399" cy="1188720"/>
                <a:chOff x="1733248" y="3784720"/>
                <a:chExt cx="1501399" cy="1188720"/>
              </a:xfrm>
            </p:grpSpPr>
            <p:pic>
              <p:nvPicPr>
                <p:cNvPr id="149" name="Graphique 148" descr="Bulle de discussion contour">
                  <a:extLst>
                    <a:ext uri="{FF2B5EF4-FFF2-40B4-BE49-F238E27FC236}">
                      <a16:creationId xmlns:a16="http://schemas.microsoft.com/office/drawing/2014/main" id="{7EB477A3-3A73-9B32-5D30-8141631D014F}"/>
                    </a:ext>
                  </a:extLst>
                </p:cNvPr>
                <p:cNvPicPr>
                  <a:picLocks noChangeAspect="1"/>
                </p:cNvPicPr>
                <p:nvPr/>
              </p:nvPicPr>
              <p:blipFill rotWithShape="1">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rcRect t="12801" b="12412"/>
                <a:stretch/>
              </p:blipFill>
              <p:spPr>
                <a:xfrm flipH="1">
                  <a:off x="1733248" y="3784720"/>
                  <a:ext cx="1501399" cy="1188720"/>
                </a:xfrm>
                <a:prstGeom prst="rect">
                  <a:avLst/>
                </a:prstGeom>
              </p:spPr>
            </p:pic>
            <p:sp>
              <p:nvSpPr>
                <p:cNvPr id="150" name="Rectangle 149">
                  <a:extLst>
                    <a:ext uri="{FF2B5EF4-FFF2-40B4-BE49-F238E27FC236}">
                      <a16:creationId xmlns:a16="http://schemas.microsoft.com/office/drawing/2014/main" id="{16C0AB20-6C47-015F-5EF9-DA0F179E3B20}"/>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148" name="Graphique 147" descr="Signe pouce en haut avec un remplissage uni">
                <a:extLst>
                  <a:ext uri="{FF2B5EF4-FFF2-40B4-BE49-F238E27FC236}">
                    <a16:creationId xmlns:a16="http://schemas.microsoft.com/office/drawing/2014/main" id="{EC8EDE79-FBD1-A2B1-4324-F623289FBB70}"/>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rcRect/>
              <a:stretch/>
            </p:blipFill>
            <p:spPr>
              <a:xfrm>
                <a:off x="7544152" y="960186"/>
                <a:ext cx="679668" cy="679667"/>
              </a:xfrm>
              <a:prstGeom prst="rect">
                <a:avLst/>
              </a:prstGeom>
            </p:spPr>
          </p:pic>
        </p:grpSp>
        <p:grpSp>
          <p:nvGrpSpPr>
            <p:cNvPr id="504" name="Groupe 503">
              <a:extLst>
                <a:ext uri="{FF2B5EF4-FFF2-40B4-BE49-F238E27FC236}">
                  <a16:creationId xmlns:a16="http://schemas.microsoft.com/office/drawing/2014/main" id="{E76A9017-E410-B2ED-F3BD-B59D13AAD88B}"/>
                </a:ext>
              </a:extLst>
            </p:cNvPr>
            <p:cNvGrpSpPr/>
            <p:nvPr/>
          </p:nvGrpSpPr>
          <p:grpSpPr>
            <a:xfrm>
              <a:off x="9150985" y="3973784"/>
              <a:ext cx="1177654" cy="932398"/>
              <a:chOff x="7137810" y="856157"/>
              <a:chExt cx="1501399" cy="1188720"/>
            </a:xfrm>
          </p:grpSpPr>
          <p:grpSp>
            <p:nvGrpSpPr>
              <p:cNvPr id="143" name="Groupe 142">
                <a:extLst>
                  <a:ext uri="{FF2B5EF4-FFF2-40B4-BE49-F238E27FC236}">
                    <a16:creationId xmlns:a16="http://schemas.microsoft.com/office/drawing/2014/main" id="{81A1613F-CC22-A824-D9CF-8A1F0815079F}"/>
                  </a:ext>
                </a:extLst>
              </p:cNvPr>
              <p:cNvGrpSpPr/>
              <p:nvPr/>
            </p:nvGrpSpPr>
            <p:grpSpPr>
              <a:xfrm>
                <a:off x="7137810" y="856157"/>
                <a:ext cx="1501399" cy="1188720"/>
                <a:chOff x="1733248" y="3784720"/>
                <a:chExt cx="1501399" cy="1188720"/>
              </a:xfrm>
            </p:grpSpPr>
            <p:pic>
              <p:nvPicPr>
                <p:cNvPr id="145" name="Graphique 144" descr="Bulle de discussion contour">
                  <a:extLst>
                    <a:ext uri="{FF2B5EF4-FFF2-40B4-BE49-F238E27FC236}">
                      <a16:creationId xmlns:a16="http://schemas.microsoft.com/office/drawing/2014/main" id="{DFC27EF4-341F-661F-74BF-307D9F899B58}"/>
                    </a:ext>
                  </a:extLst>
                </p:cNvPr>
                <p:cNvPicPr>
                  <a:picLocks noChangeAspect="1"/>
                </p:cNvPicPr>
                <p:nvPr/>
              </p:nvPicPr>
              <p:blipFill rotWithShape="1">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rcRect t="12801" b="12412"/>
                <a:stretch/>
              </p:blipFill>
              <p:spPr>
                <a:xfrm flipH="1">
                  <a:off x="1733248" y="3784720"/>
                  <a:ext cx="1501399" cy="1188720"/>
                </a:xfrm>
                <a:prstGeom prst="rect">
                  <a:avLst/>
                </a:prstGeom>
              </p:spPr>
            </p:pic>
            <p:sp>
              <p:nvSpPr>
                <p:cNvPr id="146" name="Rectangle 145">
                  <a:extLst>
                    <a:ext uri="{FF2B5EF4-FFF2-40B4-BE49-F238E27FC236}">
                      <a16:creationId xmlns:a16="http://schemas.microsoft.com/office/drawing/2014/main" id="{F030F7DD-F13B-E9AC-0D00-43EFE2FEEF64}"/>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144" name="Graphique 143" descr="Pouce en bas avec un remplissage uni">
                <a:extLst>
                  <a:ext uri="{FF2B5EF4-FFF2-40B4-BE49-F238E27FC236}">
                    <a16:creationId xmlns:a16="http://schemas.microsoft.com/office/drawing/2014/main" id="{0D4EBAD1-5F3F-F6E0-B93C-B9A900EA4C80}"/>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rcRect/>
              <a:stretch/>
            </p:blipFill>
            <p:spPr>
              <a:xfrm>
                <a:off x="7544152" y="960186"/>
                <a:ext cx="679668" cy="679667"/>
              </a:xfrm>
              <a:prstGeom prst="rect">
                <a:avLst/>
              </a:prstGeom>
            </p:spPr>
          </p:pic>
        </p:grpSp>
        <p:grpSp>
          <p:nvGrpSpPr>
            <p:cNvPr id="505" name="Groupe 504">
              <a:extLst>
                <a:ext uri="{FF2B5EF4-FFF2-40B4-BE49-F238E27FC236}">
                  <a16:creationId xmlns:a16="http://schemas.microsoft.com/office/drawing/2014/main" id="{2ED8292E-2C9F-B9F7-94FB-D01FE74B2D42}"/>
                </a:ext>
              </a:extLst>
            </p:cNvPr>
            <p:cNvGrpSpPr/>
            <p:nvPr/>
          </p:nvGrpSpPr>
          <p:grpSpPr>
            <a:xfrm>
              <a:off x="7995548" y="4371003"/>
              <a:ext cx="1177654" cy="932398"/>
              <a:chOff x="7137810" y="856157"/>
              <a:chExt cx="1501399" cy="1188720"/>
            </a:xfrm>
          </p:grpSpPr>
          <p:grpSp>
            <p:nvGrpSpPr>
              <p:cNvPr id="511" name="Groupe 510">
                <a:extLst>
                  <a:ext uri="{FF2B5EF4-FFF2-40B4-BE49-F238E27FC236}">
                    <a16:creationId xmlns:a16="http://schemas.microsoft.com/office/drawing/2014/main" id="{2B895D2C-3945-70E2-BFDF-E2FF5B82CA59}"/>
                  </a:ext>
                </a:extLst>
              </p:cNvPr>
              <p:cNvGrpSpPr/>
              <p:nvPr/>
            </p:nvGrpSpPr>
            <p:grpSpPr>
              <a:xfrm>
                <a:off x="7137810" y="856157"/>
                <a:ext cx="1501399" cy="1188720"/>
                <a:chOff x="1733248" y="3784720"/>
                <a:chExt cx="1501399" cy="1188720"/>
              </a:xfrm>
            </p:grpSpPr>
            <p:pic>
              <p:nvPicPr>
                <p:cNvPr id="141" name="Graphique 140" descr="Bulle de discussion contour">
                  <a:extLst>
                    <a:ext uri="{FF2B5EF4-FFF2-40B4-BE49-F238E27FC236}">
                      <a16:creationId xmlns:a16="http://schemas.microsoft.com/office/drawing/2014/main" id="{E7EBB98E-40E1-5956-6720-FBF321E53723}"/>
                    </a:ext>
                  </a:extLst>
                </p:cNvPr>
                <p:cNvPicPr>
                  <a:picLocks noChangeAspect="1"/>
                </p:cNvPicPr>
                <p:nvPr/>
              </p:nvPicPr>
              <p:blipFill rotWithShape="1">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rcRect t="12801" b="12412"/>
                <a:stretch/>
              </p:blipFill>
              <p:spPr>
                <a:xfrm flipH="1">
                  <a:off x="1733248" y="3784720"/>
                  <a:ext cx="1501399" cy="1188720"/>
                </a:xfrm>
                <a:prstGeom prst="rect">
                  <a:avLst/>
                </a:prstGeom>
              </p:spPr>
            </p:pic>
            <p:sp>
              <p:nvSpPr>
                <p:cNvPr id="142" name="Rectangle 141">
                  <a:extLst>
                    <a:ext uri="{FF2B5EF4-FFF2-40B4-BE49-F238E27FC236}">
                      <a16:creationId xmlns:a16="http://schemas.microsoft.com/office/drawing/2014/main" id="{E956505A-0435-113C-F727-C5C0AEF1623B}"/>
                    </a:ext>
                  </a:extLst>
                </p:cNvPr>
                <p:cNvSpPr/>
                <p:nvPr/>
              </p:nvSpPr>
              <p:spPr>
                <a:xfrm>
                  <a:off x="1992203" y="3912698"/>
                  <a:ext cx="964659" cy="693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140" name="Graphique 139" descr="Signe pouce en haut avec un remplissage uni">
                <a:extLst>
                  <a:ext uri="{FF2B5EF4-FFF2-40B4-BE49-F238E27FC236}">
                    <a16:creationId xmlns:a16="http://schemas.microsoft.com/office/drawing/2014/main" id="{CB48A972-3D8A-4A1D-1050-C28DE09219BF}"/>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rcRect/>
              <a:stretch/>
            </p:blipFill>
            <p:spPr>
              <a:xfrm>
                <a:off x="7544152" y="960186"/>
                <a:ext cx="679668" cy="679667"/>
              </a:xfrm>
              <a:prstGeom prst="rect">
                <a:avLst/>
              </a:prstGeom>
            </p:spPr>
          </p:pic>
        </p:grpSp>
        <p:grpSp>
          <p:nvGrpSpPr>
            <p:cNvPr id="506" name="Groupe 505">
              <a:extLst>
                <a:ext uri="{FF2B5EF4-FFF2-40B4-BE49-F238E27FC236}">
                  <a16:creationId xmlns:a16="http://schemas.microsoft.com/office/drawing/2014/main" id="{587FF549-AD99-1C09-F31A-F0AF1103C356}"/>
                </a:ext>
              </a:extLst>
            </p:cNvPr>
            <p:cNvGrpSpPr/>
            <p:nvPr/>
          </p:nvGrpSpPr>
          <p:grpSpPr>
            <a:xfrm flipH="1">
              <a:off x="5659211" y="5047355"/>
              <a:ext cx="1111063" cy="932398"/>
              <a:chOff x="1733248" y="3784720"/>
              <a:chExt cx="1501399" cy="1188720"/>
            </a:xfrm>
          </p:grpSpPr>
          <p:pic>
            <p:nvPicPr>
              <p:cNvPr id="509" name="Graphique 508" descr="Bulle de discussion contour">
                <a:extLst>
                  <a:ext uri="{FF2B5EF4-FFF2-40B4-BE49-F238E27FC236}">
                    <a16:creationId xmlns:a16="http://schemas.microsoft.com/office/drawing/2014/main" id="{CF4FA56E-9BA8-B61C-2F26-420EEEBD09AA}"/>
                  </a:ext>
                </a:extLst>
              </p:cNvPr>
              <p:cNvPicPr>
                <a:picLocks noChangeAspect="1"/>
              </p:cNvPicPr>
              <p:nvPr/>
            </p:nvPicPr>
            <p:blipFill rotWithShape="1">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rcRect t="12801" b="12412"/>
              <a:stretch/>
            </p:blipFill>
            <p:spPr>
              <a:xfrm flipH="1">
                <a:off x="1733248" y="3784720"/>
                <a:ext cx="1501399" cy="1188720"/>
              </a:xfrm>
              <a:prstGeom prst="rect">
                <a:avLst/>
              </a:prstGeom>
            </p:spPr>
          </p:pic>
          <p:sp>
            <p:nvSpPr>
              <p:cNvPr id="510" name="Rectangle 509">
                <a:extLst>
                  <a:ext uri="{FF2B5EF4-FFF2-40B4-BE49-F238E27FC236}">
                    <a16:creationId xmlns:a16="http://schemas.microsoft.com/office/drawing/2014/main" id="{0CFFA8DC-D6F5-E77F-3EAE-80ADA6CD8C65}"/>
                  </a:ext>
                </a:extLst>
              </p:cNvPr>
              <p:cNvSpPr/>
              <p:nvPr/>
            </p:nvSpPr>
            <p:spPr>
              <a:xfrm>
                <a:off x="2011149" y="3919483"/>
                <a:ext cx="958375" cy="701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507" name="Graphique 506" descr="Pouce en bas avec un remplissage uni">
              <a:extLst>
                <a:ext uri="{FF2B5EF4-FFF2-40B4-BE49-F238E27FC236}">
                  <a16:creationId xmlns:a16="http://schemas.microsoft.com/office/drawing/2014/main" id="{3CDAA3A7-812D-91AC-D84B-8D4D09E590E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rcRect/>
            <a:stretch/>
          </p:blipFill>
          <p:spPr>
            <a:xfrm>
              <a:off x="5962303" y="5137520"/>
              <a:ext cx="533113" cy="533113"/>
            </a:xfrm>
            <a:prstGeom prst="rect">
              <a:avLst/>
            </a:prstGeom>
          </p:spPr>
        </p:pic>
        <p:pic>
          <p:nvPicPr>
            <p:cNvPr id="508" name="Graphique 507" descr="Bulle de discussion contour">
              <a:extLst>
                <a:ext uri="{FF2B5EF4-FFF2-40B4-BE49-F238E27FC236}">
                  <a16:creationId xmlns:a16="http://schemas.microsoft.com/office/drawing/2014/main" id="{91D592C4-B3A4-B887-C5C0-9502FACF5C72}"/>
                </a:ext>
              </a:extLst>
            </p:cNvPr>
            <p:cNvPicPr>
              <a:picLocks noChangeAspect="1"/>
            </p:cNvPicPr>
            <p:nvPr/>
          </p:nvPicPr>
          <p:blipFill rotWithShape="1">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rcRect t="16003" b="12311"/>
            <a:stretch/>
          </p:blipFill>
          <p:spPr>
            <a:xfrm flipH="1">
              <a:off x="6853990" y="3441208"/>
              <a:ext cx="1436183" cy="777844"/>
            </a:xfrm>
            <a:prstGeom prst="rect">
              <a:avLst/>
            </a:prstGeom>
          </p:spPr>
        </p:pic>
      </p:grpSp>
      <p:pic>
        <p:nvPicPr>
          <p:cNvPr id="154" name="Graphique 153" descr="Bulle de discussion avec un remplissage uni">
            <a:extLst>
              <a:ext uri="{FF2B5EF4-FFF2-40B4-BE49-F238E27FC236}">
                <a16:creationId xmlns:a16="http://schemas.microsoft.com/office/drawing/2014/main" id="{4FCDC7E6-B68B-1FDD-87D2-ABF16F2E1395}"/>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7718601" y="4563904"/>
            <a:ext cx="336802" cy="336802"/>
          </a:xfrm>
          <a:prstGeom prst="rect">
            <a:avLst/>
          </a:prstGeom>
        </p:spPr>
      </p:pic>
      <p:pic>
        <p:nvPicPr>
          <p:cNvPr id="156" name="Graphique 155" descr="Discours avec un remplissage uni">
            <a:extLst>
              <a:ext uri="{FF2B5EF4-FFF2-40B4-BE49-F238E27FC236}">
                <a16:creationId xmlns:a16="http://schemas.microsoft.com/office/drawing/2014/main" id="{DCDA480F-F4B5-6964-4FF0-448A1A1F9B50}"/>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7931640" y="4404518"/>
            <a:ext cx="677992" cy="296234"/>
          </a:xfrm>
          <a:prstGeom prst="rect">
            <a:avLst/>
          </a:prstGeom>
        </p:spPr>
      </p:pic>
      <p:pic>
        <p:nvPicPr>
          <p:cNvPr id="157" name="Graphique 156" descr="Discours avec un remplissage uni">
            <a:extLst>
              <a:ext uri="{FF2B5EF4-FFF2-40B4-BE49-F238E27FC236}">
                <a16:creationId xmlns:a16="http://schemas.microsoft.com/office/drawing/2014/main" id="{4CBEC555-C9F9-6C2B-62D7-384019A0A84B}"/>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7929964" y="4131799"/>
            <a:ext cx="677992" cy="296234"/>
          </a:xfrm>
          <a:prstGeom prst="rect">
            <a:avLst/>
          </a:prstGeom>
        </p:spPr>
      </p:pic>
      <p:grpSp>
        <p:nvGrpSpPr>
          <p:cNvPr id="163" name="Groupe 162">
            <a:extLst>
              <a:ext uri="{FF2B5EF4-FFF2-40B4-BE49-F238E27FC236}">
                <a16:creationId xmlns:a16="http://schemas.microsoft.com/office/drawing/2014/main" id="{7C1DDC29-113B-1A6B-E117-404248B1A32D}"/>
              </a:ext>
            </a:extLst>
          </p:cNvPr>
          <p:cNvGrpSpPr/>
          <p:nvPr/>
        </p:nvGrpSpPr>
        <p:grpSpPr>
          <a:xfrm>
            <a:off x="3472148" y="4311625"/>
            <a:ext cx="1047526" cy="806897"/>
            <a:chOff x="3200680" y="3890064"/>
            <a:chExt cx="1784625" cy="1374675"/>
          </a:xfrm>
        </p:grpSpPr>
        <p:pic>
          <p:nvPicPr>
            <p:cNvPr id="161" name="Graphique 160" descr="Calendrier journalier avec un remplissage uni">
              <a:extLst>
                <a:ext uri="{FF2B5EF4-FFF2-40B4-BE49-F238E27FC236}">
                  <a16:creationId xmlns:a16="http://schemas.microsoft.com/office/drawing/2014/main" id="{3EE72367-3306-FF5C-AB65-DF078B9966D0}"/>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3200680" y="4350339"/>
              <a:ext cx="914400" cy="914400"/>
            </a:xfrm>
            <a:prstGeom prst="rect">
              <a:avLst/>
            </a:prstGeom>
          </p:spPr>
        </p:pic>
        <p:pic>
          <p:nvPicPr>
            <p:cNvPr id="162" name="Graphique 161" descr="Mille avec un remplissage uni">
              <a:extLst>
                <a:ext uri="{FF2B5EF4-FFF2-40B4-BE49-F238E27FC236}">
                  <a16:creationId xmlns:a16="http://schemas.microsoft.com/office/drawing/2014/main" id="{9434763F-75A2-938D-3A1E-3485EDDC8383}"/>
                </a:ext>
              </a:extLst>
            </p:cNvPr>
            <p:cNvPicPr>
              <a:picLocks noChangeAspect="1"/>
            </p:cNvPicPr>
            <p:nvPr/>
          </p:nvPicPr>
          <p:blipFill>
            <a:blip r:embed="rId41">
              <a:extLst>
                <a:ext uri="{28A0092B-C50C-407E-A947-70E740481C1C}">
                  <a14:useLocalDpi xmlns:a14="http://schemas.microsoft.com/office/drawing/2010/main" val="0"/>
                </a:ext>
                <a:ext uri="{96DAC541-7B7A-43D3-8B79-37D633B846F1}">
                  <asvg:svgBlip xmlns:asvg="http://schemas.microsoft.com/office/drawing/2016/SVG/main" r:embed="rId42"/>
                </a:ext>
              </a:extLst>
            </a:blip>
            <a:stretch>
              <a:fillRect/>
            </a:stretch>
          </p:blipFill>
          <p:spPr>
            <a:xfrm>
              <a:off x="3801609" y="3890064"/>
              <a:ext cx="1183696" cy="1183696"/>
            </a:xfrm>
            <a:prstGeom prst="rect">
              <a:avLst/>
            </a:prstGeom>
          </p:spPr>
        </p:pic>
      </p:grpSp>
      <p:pic>
        <p:nvPicPr>
          <p:cNvPr id="164" name="Graphique 163" descr="Calendrier journalier avec un remplissage uni">
            <a:extLst>
              <a:ext uri="{FF2B5EF4-FFF2-40B4-BE49-F238E27FC236}">
                <a16:creationId xmlns:a16="http://schemas.microsoft.com/office/drawing/2014/main" id="{A5823C11-F6BA-7794-9C2F-EAF9C8D40A01}"/>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1321431" y="4106507"/>
            <a:ext cx="1101807" cy="1101807"/>
          </a:xfrm>
          <a:prstGeom prst="rect">
            <a:avLst/>
          </a:prstGeom>
        </p:spPr>
      </p:pic>
      <p:pic>
        <p:nvPicPr>
          <p:cNvPr id="456" name="Graphique 455" descr="Chat avec un remplissage uni">
            <a:extLst>
              <a:ext uri="{FF2B5EF4-FFF2-40B4-BE49-F238E27FC236}">
                <a16:creationId xmlns:a16="http://schemas.microsoft.com/office/drawing/2014/main" id="{C5840EF4-4D81-D2F6-BC1F-930EE1211543}"/>
              </a:ext>
            </a:extLst>
          </p:cNvPr>
          <p:cNvPicPr>
            <a:picLocks noChangeAspect="1"/>
          </p:cNvPicPr>
          <p:nvPr/>
        </p:nvPicPr>
        <p:blipFill>
          <a:blip r:embed="rId43">
            <a:extLst>
              <a:ext uri="{28A0092B-C50C-407E-A947-70E740481C1C}">
                <a14:useLocalDpi xmlns:a14="http://schemas.microsoft.com/office/drawing/2010/main" val="0"/>
              </a:ext>
              <a:ext uri="{96DAC541-7B7A-43D3-8B79-37D633B846F1}">
                <asvg:svgBlip xmlns:asvg="http://schemas.microsoft.com/office/drawing/2016/SVG/main" r:embed="rId44"/>
              </a:ext>
            </a:extLst>
          </a:blip>
          <a:stretch>
            <a:fillRect/>
          </a:stretch>
        </p:blipFill>
        <p:spPr>
          <a:xfrm>
            <a:off x="9357576" y="2476784"/>
            <a:ext cx="440703" cy="440701"/>
          </a:xfrm>
          <a:prstGeom prst="rect">
            <a:avLst/>
          </a:prstGeom>
        </p:spPr>
      </p:pic>
      <p:pic>
        <p:nvPicPr>
          <p:cNvPr id="457" name="Graphique 456" descr="Sablier 60% avec un remplissage uni">
            <a:extLst>
              <a:ext uri="{FF2B5EF4-FFF2-40B4-BE49-F238E27FC236}">
                <a16:creationId xmlns:a16="http://schemas.microsoft.com/office/drawing/2014/main" id="{CDAF03B3-E824-256D-226A-6474930EBDB3}"/>
              </a:ext>
            </a:extLst>
          </p:cNvPr>
          <p:cNvPicPr>
            <a:picLocks noChangeAspect="1"/>
          </p:cNvPicPr>
          <p:nvPr/>
        </p:nvPicPr>
        <p:blipFill>
          <a:blip r:embed="rId45">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a:off x="7353293" y="2379694"/>
            <a:ext cx="629430" cy="629428"/>
          </a:xfrm>
          <a:prstGeom prst="rect">
            <a:avLst/>
          </a:prstGeom>
        </p:spPr>
      </p:pic>
      <p:pic>
        <p:nvPicPr>
          <p:cNvPr id="465" name="Graphique 464" descr="Flèches de chevron avec un remplissage uni">
            <a:extLst>
              <a:ext uri="{FF2B5EF4-FFF2-40B4-BE49-F238E27FC236}">
                <a16:creationId xmlns:a16="http://schemas.microsoft.com/office/drawing/2014/main" id="{57F7B5F1-F81A-B52E-D011-B632F58B95F7}"/>
              </a:ext>
            </a:extLst>
          </p:cNvPr>
          <p:cNvPicPr>
            <a:picLocks noChangeAspect="1"/>
          </p:cNvPicPr>
          <p:nvPr/>
        </p:nvPicPr>
        <p:blipFill>
          <a:blip r:embed="rId47">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5272639" y="2382725"/>
            <a:ext cx="579773" cy="579771"/>
          </a:xfrm>
          <a:prstGeom prst="rect">
            <a:avLst/>
          </a:prstGeom>
        </p:spPr>
      </p:pic>
      <p:pic>
        <p:nvPicPr>
          <p:cNvPr id="466" name="Graphique 465" descr="Tête avec engrenages avec un remplissage uni">
            <a:extLst>
              <a:ext uri="{FF2B5EF4-FFF2-40B4-BE49-F238E27FC236}">
                <a16:creationId xmlns:a16="http://schemas.microsoft.com/office/drawing/2014/main" id="{767E4F27-5C1D-113F-F4AF-A1983E4F9C21}"/>
              </a:ext>
            </a:extLst>
          </p:cNvPr>
          <p:cNvPicPr>
            <a:picLocks noChangeAspect="1"/>
          </p:cNvPicPr>
          <p:nvPr/>
        </p:nvPicPr>
        <p:blipFill>
          <a:blip r:embed="rId49">
            <a:extLst>
              <a:ext uri="{28A0092B-C50C-407E-A947-70E740481C1C}">
                <a14:useLocalDpi xmlns:a14="http://schemas.microsoft.com/office/drawing/2010/main" val="0"/>
              </a:ext>
              <a:ext uri="{96DAC541-7B7A-43D3-8B79-37D633B846F1}">
                <asvg:svgBlip xmlns:asvg="http://schemas.microsoft.com/office/drawing/2016/SVG/main" r:embed="rId50"/>
              </a:ext>
            </a:extLst>
          </a:blip>
          <a:stretch>
            <a:fillRect/>
          </a:stretch>
        </p:blipFill>
        <p:spPr>
          <a:xfrm>
            <a:off x="8466861" y="2408612"/>
            <a:ext cx="550865" cy="550863"/>
          </a:xfrm>
          <a:prstGeom prst="rect">
            <a:avLst/>
          </a:prstGeom>
        </p:spPr>
      </p:pic>
      <p:sp>
        <p:nvSpPr>
          <p:cNvPr id="475" name="Rectangle 474">
            <a:extLst>
              <a:ext uri="{FF2B5EF4-FFF2-40B4-BE49-F238E27FC236}">
                <a16:creationId xmlns:a16="http://schemas.microsoft.com/office/drawing/2014/main" id="{77750417-F38D-EAF2-AE59-AB21ED66EAEC}"/>
              </a:ext>
            </a:extLst>
          </p:cNvPr>
          <p:cNvSpPr/>
          <p:nvPr/>
        </p:nvSpPr>
        <p:spPr>
          <a:xfrm>
            <a:off x="9280177" y="2984885"/>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Outils et compétence de promotion de l’événement</a:t>
            </a:r>
          </a:p>
        </p:txBody>
      </p:sp>
      <p:sp>
        <p:nvSpPr>
          <p:cNvPr id="476" name="Rectangle 475">
            <a:extLst>
              <a:ext uri="{FF2B5EF4-FFF2-40B4-BE49-F238E27FC236}">
                <a16:creationId xmlns:a16="http://schemas.microsoft.com/office/drawing/2014/main" id="{D3AC078C-D172-2815-3367-1E8FF28D12AC}"/>
              </a:ext>
            </a:extLst>
          </p:cNvPr>
          <p:cNvSpPr/>
          <p:nvPr/>
        </p:nvSpPr>
        <p:spPr>
          <a:xfrm>
            <a:off x="7185911" y="2984885"/>
            <a:ext cx="996523" cy="60207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commune suffisante pour réunion ponctuelle</a:t>
            </a:r>
          </a:p>
        </p:txBody>
      </p:sp>
      <p:sp>
        <p:nvSpPr>
          <p:cNvPr id="477" name="Rectangle 476">
            <a:extLst>
              <a:ext uri="{FF2B5EF4-FFF2-40B4-BE49-F238E27FC236}">
                <a16:creationId xmlns:a16="http://schemas.microsoft.com/office/drawing/2014/main" id="{51B37798-AC4A-67BD-56F1-D38457BA8F40}"/>
              </a:ext>
            </a:extLst>
          </p:cNvPr>
          <p:cNvSpPr/>
          <p:nvPr/>
        </p:nvSpPr>
        <p:spPr>
          <a:xfrm>
            <a:off x="6127601" y="2984885"/>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Liste des individus clés à rencontrer, avec coordonnées</a:t>
            </a:r>
          </a:p>
        </p:txBody>
      </p:sp>
      <p:sp>
        <p:nvSpPr>
          <p:cNvPr id="478" name="Rectangle 477">
            <a:extLst>
              <a:ext uri="{FF2B5EF4-FFF2-40B4-BE49-F238E27FC236}">
                <a16:creationId xmlns:a16="http://schemas.microsoft.com/office/drawing/2014/main" id="{2ED8FD22-AA1F-55B9-F78B-C432514084CB}"/>
              </a:ext>
            </a:extLst>
          </p:cNvPr>
          <p:cNvSpPr/>
          <p:nvPr/>
        </p:nvSpPr>
        <p:spPr>
          <a:xfrm>
            <a:off x="8221867" y="2984885"/>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 en conception et facilitation d’événements</a:t>
            </a:r>
          </a:p>
        </p:txBody>
      </p:sp>
      <p:sp>
        <p:nvSpPr>
          <p:cNvPr id="479" name="Rectangle 478">
            <a:extLst>
              <a:ext uri="{FF2B5EF4-FFF2-40B4-BE49-F238E27FC236}">
                <a16:creationId xmlns:a16="http://schemas.microsoft.com/office/drawing/2014/main" id="{CFCE253F-8623-F013-EF05-F504986DA4B3}"/>
              </a:ext>
            </a:extLst>
          </p:cNvPr>
          <p:cNvSpPr/>
          <p:nvPr/>
        </p:nvSpPr>
        <p:spPr>
          <a:xfrm>
            <a:off x="5069291" y="2984885"/>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Motivations communes sur un premier but à atteindre</a:t>
            </a:r>
          </a:p>
        </p:txBody>
      </p:sp>
      <p:sp>
        <p:nvSpPr>
          <p:cNvPr id="480" name="Rectangle 479">
            <a:extLst>
              <a:ext uri="{FF2B5EF4-FFF2-40B4-BE49-F238E27FC236}">
                <a16:creationId xmlns:a16="http://schemas.microsoft.com/office/drawing/2014/main" id="{48AB0A4F-CCB8-72B1-5AEC-C10AD4F5C8E7}"/>
              </a:ext>
            </a:extLst>
          </p:cNvPr>
          <p:cNvSpPr/>
          <p:nvPr/>
        </p:nvSpPr>
        <p:spPr>
          <a:xfrm>
            <a:off x="10338487" y="2988361"/>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Outil de capitalisation des résultats / livrables de l’événement</a:t>
            </a:r>
          </a:p>
        </p:txBody>
      </p:sp>
      <p:pic>
        <p:nvPicPr>
          <p:cNvPr id="481" name="Graphique 480" descr="Informations avec un remplissage uni">
            <a:extLst>
              <a:ext uri="{FF2B5EF4-FFF2-40B4-BE49-F238E27FC236}">
                <a16:creationId xmlns:a16="http://schemas.microsoft.com/office/drawing/2014/main" id="{D8663BC3-BF5B-DE16-BE46-AA4A68BBB00A}"/>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6352482" y="2448872"/>
            <a:ext cx="496143" cy="496142"/>
          </a:xfrm>
          <a:prstGeom prst="rect">
            <a:avLst/>
          </a:prstGeom>
        </p:spPr>
      </p:pic>
      <p:pic>
        <p:nvPicPr>
          <p:cNvPr id="486" name="Graphique 485" descr="Tête avec engrenages avec un remplissage uni">
            <a:extLst>
              <a:ext uri="{FF2B5EF4-FFF2-40B4-BE49-F238E27FC236}">
                <a16:creationId xmlns:a16="http://schemas.microsoft.com/office/drawing/2014/main" id="{40A21F6F-07DA-53A5-68A5-C3CE721D87DB}"/>
              </a:ext>
            </a:extLst>
          </p:cNvPr>
          <p:cNvPicPr>
            <a:picLocks noChangeAspect="1"/>
          </p:cNvPicPr>
          <p:nvPr/>
        </p:nvPicPr>
        <p:blipFill>
          <a:blip r:embed="rId49">
            <a:extLst>
              <a:ext uri="{28A0092B-C50C-407E-A947-70E740481C1C}">
                <a14:useLocalDpi xmlns:a14="http://schemas.microsoft.com/office/drawing/2010/main" val="0"/>
              </a:ext>
              <a:ext uri="{96DAC541-7B7A-43D3-8B79-37D633B846F1}">
                <asvg:svgBlip xmlns:asvg="http://schemas.microsoft.com/office/drawing/2016/SVG/main" r:embed="rId50"/>
              </a:ext>
            </a:extLst>
          </a:blip>
          <a:stretch>
            <a:fillRect/>
          </a:stretch>
        </p:blipFill>
        <p:spPr>
          <a:xfrm>
            <a:off x="9785475" y="2390641"/>
            <a:ext cx="550865" cy="550863"/>
          </a:xfrm>
          <a:prstGeom prst="rect">
            <a:avLst/>
          </a:prstGeom>
        </p:spPr>
      </p:pic>
      <p:pic>
        <p:nvPicPr>
          <p:cNvPr id="487" name="Graphique 486" descr="Chat avec un remplissage uni">
            <a:extLst>
              <a:ext uri="{FF2B5EF4-FFF2-40B4-BE49-F238E27FC236}">
                <a16:creationId xmlns:a16="http://schemas.microsoft.com/office/drawing/2014/main" id="{57489C08-44A7-35EC-0EC3-95975E31B2AD}"/>
              </a:ext>
            </a:extLst>
          </p:cNvPr>
          <p:cNvPicPr>
            <a:picLocks noChangeAspect="1"/>
          </p:cNvPicPr>
          <p:nvPr/>
        </p:nvPicPr>
        <p:blipFill>
          <a:blip r:embed="rId43">
            <a:extLst>
              <a:ext uri="{28A0092B-C50C-407E-A947-70E740481C1C}">
                <a14:useLocalDpi xmlns:a14="http://schemas.microsoft.com/office/drawing/2010/main" val="0"/>
              </a:ext>
              <a:ext uri="{96DAC541-7B7A-43D3-8B79-37D633B846F1}">
                <asvg:svgBlip xmlns:asvg="http://schemas.microsoft.com/office/drawing/2016/SVG/main" r:embed="rId44"/>
              </a:ext>
            </a:extLst>
          </a:blip>
          <a:stretch>
            <a:fillRect/>
          </a:stretch>
        </p:blipFill>
        <p:spPr>
          <a:xfrm>
            <a:off x="10603505" y="2462596"/>
            <a:ext cx="440703" cy="440701"/>
          </a:xfrm>
          <a:prstGeom prst="rect">
            <a:avLst/>
          </a:prstGeom>
        </p:spPr>
      </p:pic>
    </p:spTree>
    <p:extLst>
      <p:ext uri="{BB962C8B-B14F-4D97-AF65-F5344CB8AC3E}">
        <p14:creationId xmlns:p14="http://schemas.microsoft.com/office/powerpoint/2010/main" val="2981781668"/>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1584450043"/>
              </p:ext>
            </p:extLst>
          </p:nvPr>
        </p:nvGraphicFramePr>
        <p:xfrm>
          <a:off x="838200" y="759768"/>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solidFill>
                            <a:schemeClr val="tx1"/>
                          </a:solidFill>
                        </a:rPr>
                        <a:t>Etape de premiers liens intérieurs</a:t>
                      </a:r>
                    </a:p>
                    <a:p>
                      <a:r>
                        <a:rPr lang="fr-FR" i="1" dirty="0">
                          <a:solidFill>
                            <a:schemeClr val="tx1"/>
                          </a:solidFill>
                        </a:rPr>
                        <a:t>« Tester les possibilités de liens entre membres, en préparation d’une éventuelle communauté durable »</a:t>
                      </a:r>
                    </a:p>
                  </a:txBody>
                  <a:tcPr>
                    <a:solidFill>
                      <a:schemeClr val="bg1">
                        <a:lumMod val="85000"/>
                      </a:schemeClr>
                    </a:solidFill>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grpSp>
        <p:nvGrpSpPr>
          <p:cNvPr id="324" name="Groupe 323">
            <a:extLst>
              <a:ext uri="{FF2B5EF4-FFF2-40B4-BE49-F238E27FC236}">
                <a16:creationId xmlns:a16="http://schemas.microsoft.com/office/drawing/2014/main" id="{48CF2BCE-4168-36FC-E495-C8BFE02CE640}"/>
              </a:ext>
            </a:extLst>
          </p:cNvPr>
          <p:cNvGrpSpPr/>
          <p:nvPr/>
        </p:nvGrpSpPr>
        <p:grpSpPr>
          <a:xfrm>
            <a:off x="5539313" y="4026604"/>
            <a:ext cx="1122789" cy="1128384"/>
            <a:chOff x="4252823" y="1436205"/>
            <a:chExt cx="1049940" cy="1049940"/>
          </a:xfrm>
        </p:grpSpPr>
        <p:pic>
          <p:nvPicPr>
            <p:cNvPr id="326" name="Graphique 325" descr="Réunion contour">
              <a:extLst>
                <a:ext uri="{FF2B5EF4-FFF2-40B4-BE49-F238E27FC236}">
                  <a16:creationId xmlns:a16="http://schemas.microsoft.com/office/drawing/2014/main" id="{D9D4BA0D-A337-CCF1-E4A7-1175A6A9125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252823" y="1436205"/>
              <a:ext cx="1049940" cy="1049940"/>
            </a:xfrm>
            <a:prstGeom prst="rect">
              <a:avLst/>
            </a:prstGeom>
          </p:spPr>
        </p:pic>
        <p:pic>
          <p:nvPicPr>
            <p:cNvPr id="327" name="Graphique 326" descr="Noix de coco avec un remplissage uni">
              <a:extLst>
                <a:ext uri="{FF2B5EF4-FFF2-40B4-BE49-F238E27FC236}">
                  <a16:creationId xmlns:a16="http://schemas.microsoft.com/office/drawing/2014/main" id="{0620EF02-2C6D-E0DC-0A77-61081810D9A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344958" y="1841799"/>
              <a:ext cx="452386" cy="452386"/>
            </a:xfrm>
            <a:prstGeom prst="rect">
              <a:avLst/>
            </a:prstGeom>
          </p:spPr>
        </p:pic>
        <p:pic>
          <p:nvPicPr>
            <p:cNvPr id="328" name="Graphique 327" descr="Tasse de latte avec un remplissage uni">
              <a:extLst>
                <a:ext uri="{FF2B5EF4-FFF2-40B4-BE49-F238E27FC236}">
                  <a16:creationId xmlns:a16="http://schemas.microsoft.com/office/drawing/2014/main" id="{7B774108-8402-3EC7-34A4-2464AEF90CF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751701" y="1775060"/>
              <a:ext cx="519125" cy="519125"/>
            </a:xfrm>
            <a:prstGeom prst="rect">
              <a:avLst/>
            </a:prstGeom>
          </p:spPr>
        </p:pic>
      </p:grpSp>
      <p:sp>
        <p:nvSpPr>
          <p:cNvPr id="7" name="Flèche : droite 6">
            <a:extLst>
              <a:ext uri="{FF2B5EF4-FFF2-40B4-BE49-F238E27FC236}">
                <a16:creationId xmlns:a16="http://schemas.microsoft.com/office/drawing/2014/main" id="{573A774E-AA1E-8AA5-E661-A2F2182CA227}"/>
              </a:ext>
            </a:extLst>
          </p:cNvPr>
          <p:cNvSpPr/>
          <p:nvPr/>
        </p:nvSpPr>
        <p:spPr>
          <a:xfrm>
            <a:off x="863496" y="2255150"/>
            <a:ext cx="1536961" cy="1185711"/>
          </a:xfrm>
          <a:prstGeom prst="rightArrow">
            <a:avLst>
              <a:gd name="adj1" fmla="val 84712"/>
              <a:gd name="adj2"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sz="1000" b="1" dirty="0">
                <a:solidFill>
                  <a:schemeClr val="tx1"/>
                </a:solidFill>
              </a:rPr>
              <a:t>IDEATION D’ACTIONS :</a:t>
            </a:r>
          </a:p>
          <a:p>
            <a:r>
              <a:rPr lang="fr-FR" sz="1000" dirty="0">
                <a:solidFill>
                  <a:schemeClr val="tx1"/>
                </a:solidFill>
              </a:rPr>
              <a:t>Clarifier la valeur et imaginer des actions</a:t>
            </a:r>
          </a:p>
        </p:txBody>
      </p:sp>
      <p:sp>
        <p:nvSpPr>
          <p:cNvPr id="8" name="Flèche : droite 7">
            <a:extLst>
              <a:ext uri="{FF2B5EF4-FFF2-40B4-BE49-F238E27FC236}">
                <a16:creationId xmlns:a16="http://schemas.microsoft.com/office/drawing/2014/main" id="{0B2CA922-12EF-3FFD-DB66-0EB52AD1220D}"/>
              </a:ext>
            </a:extLst>
          </p:cNvPr>
          <p:cNvSpPr/>
          <p:nvPr/>
        </p:nvSpPr>
        <p:spPr>
          <a:xfrm>
            <a:off x="1679067" y="2087233"/>
            <a:ext cx="1423981" cy="1521543"/>
          </a:xfrm>
          <a:prstGeom prst="rightArrow">
            <a:avLst>
              <a:gd name="adj1" fmla="val 63355"/>
              <a:gd name="adj2" fmla="val 50000"/>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36000" rtlCol="0" anchor="ctr"/>
          <a:lstStyle/>
          <a:p>
            <a:pPr algn="ctr"/>
            <a:r>
              <a:rPr lang="fr-FR" sz="1000" b="1" dirty="0">
                <a:solidFill>
                  <a:schemeClr val="tx1"/>
                </a:solidFill>
              </a:rPr>
              <a:t>PRIORISATION ET TESTS:</a:t>
            </a:r>
          </a:p>
          <a:p>
            <a:pPr algn="ctr"/>
            <a:r>
              <a:rPr lang="fr-FR" sz="1000" dirty="0">
                <a:solidFill>
                  <a:schemeClr val="tx1"/>
                </a:solidFill>
              </a:rPr>
              <a:t>Tester la valeur avec les actions priorisées</a:t>
            </a:r>
          </a:p>
        </p:txBody>
      </p:sp>
      <p:grpSp>
        <p:nvGrpSpPr>
          <p:cNvPr id="9" name="Groupe 8">
            <a:extLst>
              <a:ext uri="{FF2B5EF4-FFF2-40B4-BE49-F238E27FC236}">
                <a16:creationId xmlns:a16="http://schemas.microsoft.com/office/drawing/2014/main" id="{55793E3D-AB78-EA97-78FE-20C7209FA47F}"/>
              </a:ext>
            </a:extLst>
          </p:cNvPr>
          <p:cNvGrpSpPr/>
          <p:nvPr/>
        </p:nvGrpSpPr>
        <p:grpSpPr>
          <a:xfrm>
            <a:off x="3380616" y="2220972"/>
            <a:ext cx="1131981" cy="919579"/>
            <a:chOff x="8982504" y="3274976"/>
            <a:chExt cx="1230670" cy="1037553"/>
          </a:xfrm>
          <a:solidFill>
            <a:srgbClr val="ED7D31"/>
          </a:solidFill>
        </p:grpSpPr>
        <p:pic>
          <p:nvPicPr>
            <p:cNvPr id="10" name="Graphique 9" descr="Utilisateur avec un remplissage uni">
              <a:extLst>
                <a:ext uri="{FF2B5EF4-FFF2-40B4-BE49-F238E27FC236}">
                  <a16:creationId xmlns:a16="http://schemas.microsoft.com/office/drawing/2014/main" id="{22E5D1F6-A4CB-EC0C-1603-90779AB6B602}"/>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301028" y="3274976"/>
              <a:ext cx="336064" cy="336064"/>
            </a:xfrm>
            <a:prstGeom prst="rect">
              <a:avLst/>
            </a:prstGeom>
          </p:spPr>
        </p:pic>
        <p:pic>
          <p:nvPicPr>
            <p:cNvPr id="11" name="Graphique 10" descr="Utilisateur avec un remplissage uni">
              <a:extLst>
                <a:ext uri="{FF2B5EF4-FFF2-40B4-BE49-F238E27FC236}">
                  <a16:creationId xmlns:a16="http://schemas.microsoft.com/office/drawing/2014/main" id="{21689487-6A69-674F-F6DE-9A7329AC8CE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054140" y="3512720"/>
              <a:ext cx="336064" cy="336064"/>
            </a:xfrm>
            <a:prstGeom prst="rect">
              <a:avLst/>
            </a:prstGeom>
          </p:spPr>
        </p:pic>
        <p:pic>
          <p:nvPicPr>
            <p:cNvPr id="12" name="Graphique 11" descr="Utilisateur avec un remplissage uni">
              <a:extLst>
                <a:ext uri="{FF2B5EF4-FFF2-40B4-BE49-F238E27FC236}">
                  <a16:creationId xmlns:a16="http://schemas.microsoft.com/office/drawing/2014/main" id="{8EAD50C2-C30D-7D34-D44D-4C0D02ACADC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345616" y="3561880"/>
              <a:ext cx="336064" cy="336064"/>
            </a:xfrm>
            <a:prstGeom prst="rect">
              <a:avLst/>
            </a:prstGeom>
          </p:spPr>
        </p:pic>
        <p:pic>
          <p:nvPicPr>
            <p:cNvPr id="13" name="Graphique 12" descr="Utilisateur avec un remplissage uni">
              <a:extLst>
                <a:ext uri="{FF2B5EF4-FFF2-40B4-BE49-F238E27FC236}">
                  <a16:creationId xmlns:a16="http://schemas.microsoft.com/office/drawing/2014/main" id="{5C266876-BE91-0D8C-605B-AA7951A8788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592504" y="34184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866D85D4-59FB-3761-88C1-A547C9F50AFA}"/>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635196" y="3680752"/>
              <a:ext cx="336064" cy="336064"/>
            </a:xfrm>
            <a:prstGeom prst="rect">
              <a:avLst/>
            </a:prstGeom>
          </p:spPr>
        </p:pic>
        <p:pic>
          <p:nvPicPr>
            <p:cNvPr id="15" name="Graphique 14" descr="Utilisateur avec un remplissage uni">
              <a:extLst>
                <a:ext uri="{FF2B5EF4-FFF2-40B4-BE49-F238E27FC236}">
                  <a16:creationId xmlns:a16="http://schemas.microsoft.com/office/drawing/2014/main" id="{F2DD3DD8-2FCF-2746-0416-AD9D3B38CEC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256440" y="3848784"/>
              <a:ext cx="336064" cy="336064"/>
            </a:xfrm>
            <a:prstGeom prst="rect">
              <a:avLst/>
            </a:prstGeom>
          </p:spPr>
        </p:pic>
        <p:pic>
          <p:nvPicPr>
            <p:cNvPr id="16" name="Graphique 15" descr="Utilisateur avec un remplissage uni">
              <a:extLst>
                <a:ext uri="{FF2B5EF4-FFF2-40B4-BE49-F238E27FC236}">
                  <a16:creationId xmlns:a16="http://schemas.microsoft.com/office/drawing/2014/main" id="{09D14F71-BC00-2F03-8952-65AA5AA2E64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982504" y="3835028"/>
              <a:ext cx="336064" cy="336064"/>
            </a:xfrm>
            <a:prstGeom prst="rect">
              <a:avLst/>
            </a:prstGeom>
          </p:spPr>
        </p:pic>
        <p:pic>
          <p:nvPicPr>
            <p:cNvPr id="17" name="Graphique 16" descr="Utilisateur avec un remplissage uni">
              <a:extLst>
                <a:ext uri="{FF2B5EF4-FFF2-40B4-BE49-F238E27FC236}">
                  <a16:creationId xmlns:a16="http://schemas.microsoft.com/office/drawing/2014/main" id="{D1A5188D-332B-69D0-104D-F1DF1F7C706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520868" y="3943076"/>
              <a:ext cx="336064" cy="336064"/>
            </a:xfrm>
            <a:prstGeom prst="rect">
              <a:avLst/>
            </a:prstGeom>
          </p:spPr>
        </p:pic>
        <p:pic>
          <p:nvPicPr>
            <p:cNvPr id="18" name="Graphique 17" descr="Utilisateur avec un remplissage uni">
              <a:extLst>
                <a:ext uri="{FF2B5EF4-FFF2-40B4-BE49-F238E27FC236}">
                  <a16:creationId xmlns:a16="http://schemas.microsoft.com/office/drawing/2014/main" id="{4173628D-BA44-C3F6-779C-560ED4263EAE}"/>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742772" y="3976465"/>
              <a:ext cx="336064" cy="336064"/>
            </a:xfrm>
            <a:prstGeom prst="rect">
              <a:avLst/>
            </a:prstGeom>
          </p:spPr>
        </p:pic>
        <p:pic>
          <p:nvPicPr>
            <p:cNvPr id="20" name="Graphique 19" descr="Utilisateur avec un remplissage uni">
              <a:extLst>
                <a:ext uri="{FF2B5EF4-FFF2-40B4-BE49-F238E27FC236}">
                  <a16:creationId xmlns:a16="http://schemas.microsoft.com/office/drawing/2014/main" id="{4B7C8AD8-05F7-EBB2-67CD-56E7B8E0028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877110" y="3705332"/>
              <a:ext cx="336064" cy="336064"/>
            </a:xfrm>
            <a:prstGeom prst="rect">
              <a:avLst/>
            </a:prstGeom>
          </p:spPr>
        </p:pic>
        <p:pic>
          <p:nvPicPr>
            <p:cNvPr id="448" name="Graphique 447" descr="Utilisateur avec un remplissage uni">
              <a:extLst>
                <a:ext uri="{FF2B5EF4-FFF2-40B4-BE49-F238E27FC236}">
                  <a16:creationId xmlns:a16="http://schemas.microsoft.com/office/drawing/2014/main" id="{7DCEEB76-54FA-0945-4476-ABFC69A8713C}"/>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856932" y="3429000"/>
              <a:ext cx="336064" cy="336064"/>
            </a:xfrm>
            <a:prstGeom prst="rect">
              <a:avLst/>
            </a:prstGeom>
          </p:spPr>
        </p:pic>
      </p:grpSp>
      <p:sp>
        <p:nvSpPr>
          <p:cNvPr id="450" name="Titre 1">
            <a:extLst>
              <a:ext uri="{FF2B5EF4-FFF2-40B4-BE49-F238E27FC236}">
                <a16:creationId xmlns:a16="http://schemas.microsoft.com/office/drawing/2014/main" id="{8E9B618F-1A40-1585-5CB2-051E25C99FD6}"/>
              </a:ext>
            </a:extLst>
          </p:cNvPr>
          <p:cNvSpPr txBox="1">
            <a:spLocks/>
          </p:cNvSpPr>
          <p:nvPr/>
        </p:nvSpPr>
        <p:spPr>
          <a:xfrm>
            <a:off x="3298477" y="2940495"/>
            <a:ext cx="1281745" cy="65006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469" name="Rectangle 468">
            <a:extLst>
              <a:ext uri="{FF2B5EF4-FFF2-40B4-BE49-F238E27FC236}">
                <a16:creationId xmlns:a16="http://schemas.microsoft.com/office/drawing/2014/main" id="{FA29C64B-90C2-2D9A-CE76-85B1DF3709CE}"/>
              </a:ext>
            </a:extLst>
          </p:cNvPr>
          <p:cNvSpPr/>
          <p:nvPr/>
        </p:nvSpPr>
        <p:spPr>
          <a:xfrm>
            <a:off x="994023" y="5195923"/>
            <a:ext cx="1665015" cy="736887"/>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📅Mises en relation de personnes ou de  groupes entre eux, présentations</a:t>
            </a:r>
          </a:p>
        </p:txBody>
      </p:sp>
      <p:sp>
        <p:nvSpPr>
          <p:cNvPr id="483" name="Rectangle 482">
            <a:extLst>
              <a:ext uri="{FF2B5EF4-FFF2-40B4-BE49-F238E27FC236}">
                <a16:creationId xmlns:a16="http://schemas.microsoft.com/office/drawing/2014/main" id="{07802657-707F-00F5-5E90-AA9823AC1D9B}"/>
              </a:ext>
            </a:extLst>
          </p:cNvPr>
          <p:cNvSpPr/>
          <p:nvPr/>
        </p:nvSpPr>
        <p:spPr>
          <a:xfrm>
            <a:off x="7416224" y="5205231"/>
            <a:ext cx="1665015" cy="736887"/>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Création d’un annuaire / d’une liste de coordonnées</a:t>
            </a:r>
          </a:p>
        </p:txBody>
      </p:sp>
      <p:sp>
        <p:nvSpPr>
          <p:cNvPr id="484" name="Rectangle 483">
            <a:extLst>
              <a:ext uri="{FF2B5EF4-FFF2-40B4-BE49-F238E27FC236}">
                <a16:creationId xmlns:a16="http://schemas.microsoft.com/office/drawing/2014/main" id="{7B48C844-41C1-C599-1023-91CB553E3850}"/>
              </a:ext>
            </a:extLst>
          </p:cNvPr>
          <p:cNvSpPr/>
          <p:nvPr/>
        </p:nvSpPr>
        <p:spPr>
          <a:xfrm>
            <a:off x="3107463" y="5195909"/>
            <a:ext cx="1665015" cy="736887"/>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#OpenSeriousHub, Open Forum, places de marché pour activités </a:t>
            </a:r>
            <a:r>
              <a:rPr lang="fr-FR" sz="1200" dirty="0" err="1">
                <a:solidFill>
                  <a:schemeClr val="tx1"/>
                </a:solidFill>
              </a:rPr>
              <a:t>auto-organisées</a:t>
            </a:r>
            <a:endParaRPr lang="fr-FR" sz="1200" dirty="0">
              <a:solidFill>
                <a:schemeClr val="tx1"/>
              </a:solidFill>
            </a:endParaRPr>
          </a:p>
        </p:txBody>
      </p:sp>
      <p:grpSp>
        <p:nvGrpSpPr>
          <p:cNvPr id="485" name="Groupe 484">
            <a:extLst>
              <a:ext uri="{FF2B5EF4-FFF2-40B4-BE49-F238E27FC236}">
                <a16:creationId xmlns:a16="http://schemas.microsoft.com/office/drawing/2014/main" id="{15576388-27C8-B123-FAEA-D6C542E31223}"/>
              </a:ext>
            </a:extLst>
          </p:cNvPr>
          <p:cNvGrpSpPr/>
          <p:nvPr/>
        </p:nvGrpSpPr>
        <p:grpSpPr>
          <a:xfrm>
            <a:off x="3036231" y="4395696"/>
            <a:ext cx="1696892" cy="555600"/>
            <a:chOff x="155146" y="3152251"/>
            <a:chExt cx="7883975" cy="2581388"/>
          </a:xfrm>
        </p:grpSpPr>
        <p:grpSp>
          <p:nvGrpSpPr>
            <p:cNvPr id="486" name="Groupe 485">
              <a:extLst>
                <a:ext uri="{FF2B5EF4-FFF2-40B4-BE49-F238E27FC236}">
                  <a16:creationId xmlns:a16="http://schemas.microsoft.com/office/drawing/2014/main" id="{3794DE73-0FBA-801C-104E-D1D2B26C3DA9}"/>
                </a:ext>
              </a:extLst>
            </p:cNvPr>
            <p:cNvGrpSpPr/>
            <p:nvPr/>
          </p:nvGrpSpPr>
          <p:grpSpPr>
            <a:xfrm>
              <a:off x="3635797" y="3152251"/>
              <a:ext cx="4403324" cy="2478408"/>
              <a:chOff x="2111331" y="4364374"/>
              <a:chExt cx="3569034" cy="2008828"/>
            </a:xfrm>
            <a:solidFill>
              <a:srgbClr val="EC7B2B"/>
            </a:solidFill>
          </p:grpSpPr>
          <p:pic>
            <p:nvPicPr>
              <p:cNvPr id="492" name="Graphique 491" descr="Personne confuse avec un remplissage uni">
                <a:extLst>
                  <a:ext uri="{FF2B5EF4-FFF2-40B4-BE49-F238E27FC236}">
                    <a16:creationId xmlns:a16="http://schemas.microsoft.com/office/drawing/2014/main" id="{3432CFE6-AD53-DC39-052B-3E5A199D785C}"/>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303977" y="4509340"/>
                <a:ext cx="602103" cy="602103"/>
              </a:xfrm>
              <a:prstGeom prst="rect">
                <a:avLst/>
              </a:prstGeom>
            </p:spPr>
          </p:pic>
          <p:pic>
            <p:nvPicPr>
              <p:cNvPr id="493" name="Graphique 492" descr="Personne confuse avec un remplissage uni">
                <a:extLst>
                  <a:ext uri="{FF2B5EF4-FFF2-40B4-BE49-F238E27FC236}">
                    <a16:creationId xmlns:a16="http://schemas.microsoft.com/office/drawing/2014/main" id="{9C201B42-9376-0FA2-2320-9C29779CF43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111331" y="4808849"/>
                <a:ext cx="602103" cy="602103"/>
              </a:xfrm>
              <a:prstGeom prst="rect">
                <a:avLst/>
              </a:prstGeom>
            </p:spPr>
          </p:pic>
          <p:pic>
            <p:nvPicPr>
              <p:cNvPr id="494" name="Graphique 493" descr="Personne confuse avec un remplissage uni">
                <a:extLst>
                  <a:ext uri="{FF2B5EF4-FFF2-40B4-BE49-F238E27FC236}">
                    <a16:creationId xmlns:a16="http://schemas.microsoft.com/office/drawing/2014/main" id="{82EE414D-0E9E-1F13-CDA7-441C686E3BE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4777211" y="4418681"/>
                <a:ext cx="602103" cy="602103"/>
              </a:xfrm>
              <a:prstGeom prst="rect">
                <a:avLst/>
              </a:prstGeom>
            </p:spPr>
          </p:pic>
          <p:pic>
            <p:nvPicPr>
              <p:cNvPr id="495" name="Graphique 494" descr="Personne confuse avec un remplissage uni">
                <a:extLst>
                  <a:ext uri="{FF2B5EF4-FFF2-40B4-BE49-F238E27FC236}">
                    <a16:creationId xmlns:a16="http://schemas.microsoft.com/office/drawing/2014/main" id="{3B1FF08E-D74B-918F-4E8E-E8596227A15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078262" y="4507797"/>
                <a:ext cx="602103" cy="602103"/>
              </a:xfrm>
              <a:prstGeom prst="rect">
                <a:avLst/>
              </a:prstGeom>
            </p:spPr>
          </p:pic>
          <p:pic>
            <p:nvPicPr>
              <p:cNvPr id="496" name="Graphique 495" descr="Personne confuse avec un remplissage uni">
                <a:extLst>
                  <a:ext uri="{FF2B5EF4-FFF2-40B4-BE49-F238E27FC236}">
                    <a16:creationId xmlns:a16="http://schemas.microsoft.com/office/drawing/2014/main" id="{60995999-1F49-B701-FA39-5CB028096CE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4885616" y="4807306"/>
                <a:ext cx="602103" cy="602103"/>
              </a:xfrm>
              <a:prstGeom prst="rect">
                <a:avLst/>
              </a:prstGeom>
            </p:spPr>
          </p:pic>
          <p:pic>
            <p:nvPicPr>
              <p:cNvPr id="497" name="Graphique 496" descr="Personne confuse avec un remplissage uni">
                <a:extLst>
                  <a:ext uri="{FF2B5EF4-FFF2-40B4-BE49-F238E27FC236}">
                    <a16:creationId xmlns:a16="http://schemas.microsoft.com/office/drawing/2014/main" id="{4824A761-EA62-0E3B-2672-9D769C9B6E6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4306547" y="4569978"/>
                <a:ext cx="602103" cy="602103"/>
              </a:xfrm>
              <a:prstGeom prst="rect">
                <a:avLst/>
              </a:prstGeom>
            </p:spPr>
          </p:pic>
          <p:pic>
            <p:nvPicPr>
              <p:cNvPr id="498" name="Graphique 497" descr="Personne confuse avec un remplissage uni">
                <a:extLst>
                  <a:ext uri="{FF2B5EF4-FFF2-40B4-BE49-F238E27FC236}">
                    <a16:creationId xmlns:a16="http://schemas.microsoft.com/office/drawing/2014/main" id="{D29C3465-F3E5-78FF-CF76-D8E0B61FDA82}"/>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4607598" y="4659094"/>
                <a:ext cx="602103" cy="602103"/>
              </a:xfrm>
              <a:prstGeom prst="rect">
                <a:avLst/>
              </a:prstGeom>
            </p:spPr>
          </p:pic>
          <p:pic>
            <p:nvPicPr>
              <p:cNvPr id="499" name="Graphique 498" descr="Personne confuse avec un remplissage uni">
                <a:extLst>
                  <a:ext uri="{FF2B5EF4-FFF2-40B4-BE49-F238E27FC236}">
                    <a16:creationId xmlns:a16="http://schemas.microsoft.com/office/drawing/2014/main" id="{11705ADF-5573-CA48-6626-787A64F621B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4454257" y="4922452"/>
                <a:ext cx="602103" cy="602103"/>
              </a:xfrm>
              <a:prstGeom prst="rect">
                <a:avLst/>
              </a:prstGeom>
            </p:spPr>
          </p:pic>
          <p:pic>
            <p:nvPicPr>
              <p:cNvPr id="500" name="Graphique 499" descr="Personne confuse avec un remplissage uni">
                <a:extLst>
                  <a:ext uri="{FF2B5EF4-FFF2-40B4-BE49-F238E27FC236}">
                    <a16:creationId xmlns:a16="http://schemas.microsoft.com/office/drawing/2014/main" id="{6D1B5741-212E-E21C-CF9A-6598403CAC2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487272" y="5666635"/>
                <a:ext cx="602103" cy="602103"/>
              </a:xfrm>
              <a:prstGeom prst="rect">
                <a:avLst/>
              </a:prstGeom>
            </p:spPr>
          </p:pic>
          <p:pic>
            <p:nvPicPr>
              <p:cNvPr id="501" name="Graphique 500" descr="Personne confuse avec un remplissage uni">
                <a:extLst>
                  <a:ext uri="{FF2B5EF4-FFF2-40B4-BE49-F238E27FC236}">
                    <a16:creationId xmlns:a16="http://schemas.microsoft.com/office/drawing/2014/main" id="{1C081F9D-D652-4ECC-6CF7-81CF71FAA89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702585" y="5433414"/>
                <a:ext cx="602103" cy="602103"/>
              </a:xfrm>
              <a:prstGeom prst="rect">
                <a:avLst/>
              </a:prstGeom>
            </p:spPr>
          </p:pic>
          <p:pic>
            <p:nvPicPr>
              <p:cNvPr id="502" name="Graphique 501" descr="Personne confuse avec un remplissage uni">
                <a:extLst>
                  <a:ext uri="{FF2B5EF4-FFF2-40B4-BE49-F238E27FC236}">
                    <a16:creationId xmlns:a16="http://schemas.microsoft.com/office/drawing/2014/main" id="{89E79665-686F-EA60-169F-58E83BD34A4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4345079" y="5771099"/>
                <a:ext cx="602103" cy="602103"/>
              </a:xfrm>
              <a:prstGeom prst="rect">
                <a:avLst/>
              </a:prstGeom>
            </p:spPr>
          </p:pic>
          <p:pic>
            <p:nvPicPr>
              <p:cNvPr id="503" name="Graphique 502" descr="Personne confuse avec un remplissage uni">
                <a:extLst>
                  <a:ext uri="{FF2B5EF4-FFF2-40B4-BE49-F238E27FC236}">
                    <a16:creationId xmlns:a16="http://schemas.microsoft.com/office/drawing/2014/main" id="{5EAED69D-E572-BBC7-A5EF-E41C124D2B9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4665784" y="5666635"/>
                <a:ext cx="602103" cy="602103"/>
              </a:xfrm>
              <a:prstGeom prst="rect">
                <a:avLst/>
              </a:prstGeom>
            </p:spPr>
          </p:pic>
          <p:pic>
            <p:nvPicPr>
              <p:cNvPr id="504" name="Graphique 503" descr="Personne confuse avec un remplissage uni">
                <a:extLst>
                  <a:ext uri="{FF2B5EF4-FFF2-40B4-BE49-F238E27FC236}">
                    <a16:creationId xmlns:a16="http://schemas.microsoft.com/office/drawing/2014/main" id="{A2030CB3-2314-67F9-CCAC-7C773255757E}"/>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3469112" y="4364374"/>
                <a:ext cx="602103" cy="602103"/>
              </a:xfrm>
              <a:prstGeom prst="rect">
                <a:avLst/>
              </a:prstGeom>
            </p:spPr>
          </p:pic>
          <p:pic>
            <p:nvPicPr>
              <p:cNvPr id="505" name="Graphique 504" descr="Personne confuse avec un remplissage uni">
                <a:extLst>
                  <a:ext uri="{FF2B5EF4-FFF2-40B4-BE49-F238E27FC236}">
                    <a16:creationId xmlns:a16="http://schemas.microsoft.com/office/drawing/2014/main" id="{D4A99921-8A3C-0F92-C90B-64DBFDF297D0}"/>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3276466" y="4663883"/>
                <a:ext cx="602103" cy="602103"/>
              </a:xfrm>
              <a:prstGeom prst="rect">
                <a:avLst/>
              </a:prstGeom>
            </p:spPr>
          </p:pic>
          <p:pic>
            <p:nvPicPr>
              <p:cNvPr id="506" name="Graphique 505" descr="Personne confuse avec un remplissage uni">
                <a:extLst>
                  <a:ext uri="{FF2B5EF4-FFF2-40B4-BE49-F238E27FC236}">
                    <a16:creationId xmlns:a16="http://schemas.microsoft.com/office/drawing/2014/main" id="{7DFC7355-9E7A-9DD0-A9FD-0CB35F39600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870127" y="5674127"/>
                <a:ext cx="602102" cy="602102"/>
              </a:xfrm>
              <a:prstGeom prst="rect">
                <a:avLst/>
              </a:prstGeom>
            </p:spPr>
          </p:pic>
          <p:pic>
            <p:nvPicPr>
              <p:cNvPr id="507" name="Graphique 506" descr="Personne confuse avec un remplissage uni">
                <a:extLst>
                  <a:ext uri="{FF2B5EF4-FFF2-40B4-BE49-F238E27FC236}">
                    <a16:creationId xmlns:a16="http://schemas.microsoft.com/office/drawing/2014/main" id="{AE4072B3-C54C-4484-B7D5-EAC4A647050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3688773" y="5399065"/>
                <a:ext cx="602103" cy="602103"/>
              </a:xfrm>
              <a:prstGeom prst="rect">
                <a:avLst/>
              </a:prstGeom>
            </p:spPr>
          </p:pic>
          <p:cxnSp>
            <p:nvCxnSpPr>
              <p:cNvPr id="508" name="Connecteur droit avec flèche 507">
                <a:extLst>
                  <a:ext uri="{FF2B5EF4-FFF2-40B4-BE49-F238E27FC236}">
                    <a16:creationId xmlns:a16="http://schemas.microsoft.com/office/drawing/2014/main" id="{10B7BE58-C094-46AB-2298-4860C92220BE}"/>
                  </a:ext>
                </a:extLst>
              </p:cNvPr>
              <p:cNvCxnSpPr/>
              <p:nvPr/>
            </p:nvCxnSpPr>
            <p:spPr>
              <a:xfrm>
                <a:off x="2676752" y="4952008"/>
                <a:ext cx="1752848" cy="8137"/>
              </a:xfrm>
              <a:prstGeom prst="straightConnector1">
                <a:avLst/>
              </a:prstGeom>
              <a:grpFill/>
              <a:ln w="28575">
                <a:solidFill>
                  <a:srgbClr val="F16E8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9" name="Connecteur droit avec flèche 508">
                <a:extLst>
                  <a:ext uri="{FF2B5EF4-FFF2-40B4-BE49-F238E27FC236}">
                    <a16:creationId xmlns:a16="http://schemas.microsoft.com/office/drawing/2014/main" id="{1C69B71C-6BF6-E931-1A82-3794FE544FC3}"/>
                  </a:ext>
                </a:extLst>
              </p:cNvPr>
              <p:cNvCxnSpPr>
                <a:cxnSpLocks/>
              </p:cNvCxnSpPr>
              <p:nvPr/>
            </p:nvCxnSpPr>
            <p:spPr>
              <a:xfrm>
                <a:off x="2642768" y="5243661"/>
                <a:ext cx="707057" cy="307861"/>
              </a:xfrm>
              <a:prstGeom prst="straightConnector1">
                <a:avLst/>
              </a:prstGeom>
              <a:grpFill/>
              <a:ln w="28575">
                <a:solidFill>
                  <a:srgbClr val="F16E8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0" name="Connecteur droit avec flèche 509">
                <a:extLst>
                  <a:ext uri="{FF2B5EF4-FFF2-40B4-BE49-F238E27FC236}">
                    <a16:creationId xmlns:a16="http://schemas.microsoft.com/office/drawing/2014/main" id="{1468DDDB-1D1D-93B3-F927-ABC74CA8B8C7}"/>
                  </a:ext>
                </a:extLst>
              </p:cNvPr>
              <p:cNvCxnSpPr>
                <a:cxnSpLocks/>
              </p:cNvCxnSpPr>
              <p:nvPr/>
            </p:nvCxnSpPr>
            <p:spPr>
              <a:xfrm>
                <a:off x="3678622" y="5169447"/>
                <a:ext cx="1163219" cy="586304"/>
              </a:xfrm>
              <a:prstGeom prst="straightConnector1">
                <a:avLst/>
              </a:prstGeom>
              <a:grpFill/>
              <a:ln w="28575">
                <a:solidFill>
                  <a:srgbClr val="F16E8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1" name="Connecteur droit avec flèche 510">
                <a:extLst>
                  <a:ext uri="{FF2B5EF4-FFF2-40B4-BE49-F238E27FC236}">
                    <a16:creationId xmlns:a16="http://schemas.microsoft.com/office/drawing/2014/main" id="{34F29E43-A824-6A8C-5703-D8D14AAC01E3}"/>
                  </a:ext>
                </a:extLst>
              </p:cNvPr>
              <p:cNvCxnSpPr>
                <a:cxnSpLocks/>
              </p:cNvCxnSpPr>
              <p:nvPr/>
            </p:nvCxnSpPr>
            <p:spPr>
              <a:xfrm flipV="1">
                <a:off x="3594508" y="5794123"/>
                <a:ext cx="341652" cy="257297"/>
              </a:xfrm>
              <a:prstGeom prst="straightConnector1">
                <a:avLst/>
              </a:prstGeom>
              <a:grpFill/>
              <a:ln w="28575">
                <a:solidFill>
                  <a:srgbClr val="F16E8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0" name="Connecteur droit avec flèche 139">
                <a:extLst>
                  <a:ext uri="{FF2B5EF4-FFF2-40B4-BE49-F238E27FC236}">
                    <a16:creationId xmlns:a16="http://schemas.microsoft.com/office/drawing/2014/main" id="{B2D84B61-B357-A154-D7AB-EF2EBD7228C8}"/>
                  </a:ext>
                </a:extLst>
              </p:cNvPr>
              <p:cNvCxnSpPr>
                <a:cxnSpLocks/>
              </p:cNvCxnSpPr>
              <p:nvPr/>
            </p:nvCxnSpPr>
            <p:spPr>
              <a:xfrm>
                <a:off x="4214772" y="5808627"/>
                <a:ext cx="205146" cy="79241"/>
              </a:xfrm>
              <a:prstGeom prst="straightConnector1">
                <a:avLst/>
              </a:prstGeom>
              <a:grpFill/>
              <a:ln w="28575">
                <a:solidFill>
                  <a:srgbClr val="F16E8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1" name="Connecteur droit avec flèche 140">
                <a:extLst>
                  <a:ext uri="{FF2B5EF4-FFF2-40B4-BE49-F238E27FC236}">
                    <a16:creationId xmlns:a16="http://schemas.microsoft.com/office/drawing/2014/main" id="{817B9FDD-8686-3551-B8E4-9644D0E1D8CE}"/>
                  </a:ext>
                </a:extLst>
              </p:cNvPr>
              <p:cNvCxnSpPr>
                <a:cxnSpLocks/>
              </p:cNvCxnSpPr>
              <p:nvPr/>
            </p:nvCxnSpPr>
            <p:spPr>
              <a:xfrm flipH="1">
                <a:off x="5069126" y="5439429"/>
                <a:ext cx="136371" cy="251762"/>
              </a:xfrm>
              <a:prstGeom prst="straightConnector1">
                <a:avLst/>
              </a:prstGeom>
              <a:grpFill/>
              <a:ln w="28575">
                <a:solidFill>
                  <a:srgbClr val="F16E8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2" name="Connecteur droit avec flèche 141">
                <a:extLst>
                  <a:ext uri="{FF2B5EF4-FFF2-40B4-BE49-F238E27FC236}">
                    <a16:creationId xmlns:a16="http://schemas.microsoft.com/office/drawing/2014/main" id="{120EC80F-625F-11AA-9A5C-779FF4DF4082}"/>
                  </a:ext>
                </a:extLst>
              </p:cNvPr>
              <p:cNvCxnSpPr>
                <a:cxnSpLocks/>
              </p:cNvCxnSpPr>
              <p:nvPr/>
            </p:nvCxnSpPr>
            <p:spPr>
              <a:xfrm flipH="1">
                <a:off x="4153964" y="5189763"/>
                <a:ext cx="272889" cy="394818"/>
              </a:xfrm>
              <a:prstGeom prst="straightConnector1">
                <a:avLst/>
              </a:prstGeom>
              <a:grpFill/>
              <a:ln w="28575">
                <a:solidFill>
                  <a:srgbClr val="F16E8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3" name="Connecteur droit avec flèche 142">
                <a:extLst>
                  <a:ext uri="{FF2B5EF4-FFF2-40B4-BE49-F238E27FC236}">
                    <a16:creationId xmlns:a16="http://schemas.microsoft.com/office/drawing/2014/main" id="{13E91E05-FCBB-4E19-F0D1-074BA5F0462E}"/>
                  </a:ext>
                </a:extLst>
              </p:cNvPr>
              <p:cNvCxnSpPr>
                <a:cxnSpLocks/>
              </p:cNvCxnSpPr>
              <p:nvPr/>
            </p:nvCxnSpPr>
            <p:spPr>
              <a:xfrm>
                <a:off x="3756574" y="5072030"/>
                <a:ext cx="111147" cy="368744"/>
              </a:xfrm>
              <a:prstGeom prst="straightConnector1">
                <a:avLst/>
              </a:prstGeom>
              <a:grpFill/>
              <a:ln w="28575">
                <a:solidFill>
                  <a:srgbClr val="F16E8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4" name="Connecteur droit avec flèche 143">
                <a:extLst>
                  <a:ext uri="{FF2B5EF4-FFF2-40B4-BE49-F238E27FC236}">
                    <a16:creationId xmlns:a16="http://schemas.microsoft.com/office/drawing/2014/main" id="{0A58A13E-0DD7-CFCB-7BB6-80E0B0B049A9}"/>
                  </a:ext>
                </a:extLst>
              </p:cNvPr>
              <p:cNvCxnSpPr>
                <a:cxnSpLocks/>
              </p:cNvCxnSpPr>
              <p:nvPr/>
            </p:nvCxnSpPr>
            <p:spPr>
              <a:xfrm>
                <a:off x="2560416" y="5383490"/>
                <a:ext cx="111147" cy="368744"/>
              </a:xfrm>
              <a:prstGeom prst="straightConnector1">
                <a:avLst/>
              </a:prstGeom>
              <a:grpFill/>
              <a:ln w="28575">
                <a:solidFill>
                  <a:srgbClr val="F16E8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Connecteur droit avec flèche 144">
                <a:extLst>
                  <a:ext uri="{FF2B5EF4-FFF2-40B4-BE49-F238E27FC236}">
                    <a16:creationId xmlns:a16="http://schemas.microsoft.com/office/drawing/2014/main" id="{6A7832D7-5045-014F-DA8D-25E0D4587D1D}"/>
                  </a:ext>
                </a:extLst>
              </p:cNvPr>
              <p:cNvCxnSpPr>
                <a:cxnSpLocks/>
                <a:endCxn id="506" idx="0"/>
              </p:cNvCxnSpPr>
              <p:nvPr/>
            </p:nvCxnSpPr>
            <p:spPr>
              <a:xfrm flipH="1">
                <a:off x="3171180" y="5338456"/>
                <a:ext cx="136706" cy="335669"/>
              </a:xfrm>
              <a:prstGeom prst="straightConnector1">
                <a:avLst/>
              </a:prstGeom>
              <a:grpFill/>
              <a:ln w="28575">
                <a:solidFill>
                  <a:srgbClr val="F16E8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pic>
          <p:nvPicPr>
            <p:cNvPr id="487" name="Graphique 486" descr="Personne confuse avec un remplissage uni">
              <a:extLst>
                <a:ext uri="{FF2B5EF4-FFF2-40B4-BE49-F238E27FC236}">
                  <a16:creationId xmlns:a16="http://schemas.microsoft.com/office/drawing/2014/main" id="{FE392F1B-064F-E11F-5977-CE138C469307}"/>
                </a:ext>
              </a:extLst>
            </p:cNvPr>
            <p:cNvPicPr>
              <a:picLocks noChangeAspect="1"/>
            </p:cNvPicPr>
            <p:nvPr/>
          </p:nvPicPr>
          <p:blipFill rotWithShape="1">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rcRect l="14853" r="14328" b="41777"/>
            <a:stretch/>
          </p:blipFill>
          <p:spPr>
            <a:xfrm>
              <a:off x="155146" y="3229391"/>
              <a:ext cx="3046058" cy="2504248"/>
            </a:xfrm>
            <a:prstGeom prst="rect">
              <a:avLst/>
            </a:prstGeom>
          </p:spPr>
        </p:pic>
        <p:sp>
          <p:nvSpPr>
            <p:cNvPr id="488" name="Rectangle 487">
              <a:extLst>
                <a:ext uri="{FF2B5EF4-FFF2-40B4-BE49-F238E27FC236}">
                  <a16:creationId xmlns:a16="http://schemas.microsoft.com/office/drawing/2014/main" id="{4DA307C1-B793-59CD-3FD0-6BE34D59CFE3}"/>
                </a:ext>
              </a:extLst>
            </p:cNvPr>
            <p:cNvSpPr/>
            <p:nvPr/>
          </p:nvSpPr>
          <p:spPr>
            <a:xfrm>
              <a:off x="1170780" y="4354890"/>
              <a:ext cx="391094" cy="405230"/>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25000" lnSpcReduction="20000"/>
            </a:bodyPr>
            <a:lstStyle/>
            <a:p>
              <a:pPr algn="ctr"/>
              <a:endParaRPr lang="fr-FR" sz="100" b="1" dirty="0">
                <a:solidFill>
                  <a:schemeClr val="tx1"/>
                </a:solidFill>
              </a:endParaRPr>
            </a:p>
          </p:txBody>
        </p:sp>
        <p:sp>
          <p:nvSpPr>
            <p:cNvPr id="489" name="Rectangle 488">
              <a:extLst>
                <a:ext uri="{FF2B5EF4-FFF2-40B4-BE49-F238E27FC236}">
                  <a16:creationId xmlns:a16="http://schemas.microsoft.com/office/drawing/2014/main" id="{D79BE7AE-E4C8-476E-232E-2FD302E4E6B9}"/>
                </a:ext>
              </a:extLst>
            </p:cNvPr>
            <p:cNvSpPr/>
            <p:nvPr/>
          </p:nvSpPr>
          <p:spPr>
            <a:xfrm>
              <a:off x="1170780" y="4771426"/>
              <a:ext cx="391094" cy="405230"/>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r"/>
              <a:endParaRPr lang="fr-FR" sz="100" dirty="0">
                <a:solidFill>
                  <a:schemeClr val="tx1"/>
                </a:solidFill>
              </a:endParaRPr>
            </a:p>
          </p:txBody>
        </p:sp>
        <p:sp>
          <p:nvSpPr>
            <p:cNvPr id="490" name="Rectangle 489">
              <a:extLst>
                <a:ext uri="{FF2B5EF4-FFF2-40B4-BE49-F238E27FC236}">
                  <a16:creationId xmlns:a16="http://schemas.microsoft.com/office/drawing/2014/main" id="{9E796157-626D-E547-F53B-D7243C9CEFA3}"/>
                </a:ext>
              </a:extLst>
            </p:cNvPr>
            <p:cNvSpPr/>
            <p:nvPr/>
          </p:nvSpPr>
          <p:spPr>
            <a:xfrm>
              <a:off x="1716790" y="4354890"/>
              <a:ext cx="391094" cy="405230"/>
            </a:xfrm>
            <a:prstGeom prst="rect">
              <a:avLst/>
            </a:prstGeom>
            <a:solidFill>
              <a:srgbClr val="7FC1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25000" lnSpcReduction="20000"/>
            </a:bodyPr>
            <a:lstStyle/>
            <a:p>
              <a:pPr algn="ctr"/>
              <a:endParaRPr lang="fr-FR" sz="100" b="1" dirty="0">
                <a:solidFill>
                  <a:schemeClr val="tx1"/>
                </a:solidFill>
              </a:endParaRPr>
            </a:p>
          </p:txBody>
        </p:sp>
        <p:sp>
          <p:nvSpPr>
            <p:cNvPr id="491" name="Rectangle 490">
              <a:extLst>
                <a:ext uri="{FF2B5EF4-FFF2-40B4-BE49-F238E27FC236}">
                  <a16:creationId xmlns:a16="http://schemas.microsoft.com/office/drawing/2014/main" id="{7F5F4ED9-7298-3ED1-767B-83CB0C4AD85D}"/>
                </a:ext>
              </a:extLst>
            </p:cNvPr>
            <p:cNvSpPr/>
            <p:nvPr/>
          </p:nvSpPr>
          <p:spPr>
            <a:xfrm>
              <a:off x="1716790" y="4802128"/>
              <a:ext cx="391094" cy="405230"/>
            </a:xfrm>
            <a:prstGeom prst="rect">
              <a:avLst/>
            </a:prstGeom>
            <a:solidFill>
              <a:srgbClr val="7FC1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25000" lnSpcReduction="20000"/>
            </a:bodyPr>
            <a:lstStyle/>
            <a:p>
              <a:pPr algn="ctr"/>
              <a:endParaRPr lang="fr-FR" sz="100" b="1" dirty="0">
                <a:solidFill>
                  <a:schemeClr val="tx1"/>
                </a:solidFill>
              </a:endParaRPr>
            </a:p>
          </p:txBody>
        </p:sp>
      </p:grpSp>
      <p:grpSp>
        <p:nvGrpSpPr>
          <p:cNvPr id="146" name="Groupe 145">
            <a:extLst>
              <a:ext uri="{FF2B5EF4-FFF2-40B4-BE49-F238E27FC236}">
                <a16:creationId xmlns:a16="http://schemas.microsoft.com/office/drawing/2014/main" id="{25A9FB11-AEC9-F3BF-A312-581DD301EC8D}"/>
              </a:ext>
            </a:extLst>
          </p:cNvPr>
          <p:cNvGrpSpPr/>
          <p:nvPr/>
        </p:nvGrpSpPr>
        <p:grpSpPr>
          <a:xfrm>
            <a:off x="1101960" y="4254529"/>
            <a:ext cx="1495745" cy="654651"/>
            <a:chOff x="8191746" y="4225434"/>
            <a:chExt cx="3856442" cy="1687871"/>
          </a:xfrm>
        </p:grpSpPr>
        <p:pic>
          <p:nvPicPr>
            <p:cNvPr id="148" name="Graphique 147" descr="Personne confuse avec un remplissage uni">
              <a:extLst>
                <a:ext uri="{FF2B5EF4-FFF2-40B4-BE49-F238E27FC236}">
                  <a16:creationId xmlns:a16="http://schemas.microsoft.com/office/drawing/2014/main" id="{C1C6AF72-500B-27AD-0CBB-985484CE016A}"/>
                </a:ext>
              </a:extLst>
            </p:cNvPr>
            <p:cNvPicPr>
              <a:picLocks noChangeAspect="1"/>
            </p:cNvPicPr>
            <p:nvPr/>
          </p:nvPicPr>
          <p:blipFill rotWithShape="1">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rcRect b="50576"/>
            <a:stretch/>
          </p:blipFill>
          <p:spPr>
            <a:xfrm>
              <a:off x="9061827" y="4816464"/>
              <a:ext cx="2219260" cy="1096841"/>
            </a:xfrm>
            <a:prstGeom prst="rect">
              <a:avLst/>
            </a:prstGeom>
          </p:spPr>
        </p:pic>
        <p:sp>
          <p:nvSpPr>
            <p:cNvPr id="149" name="Bulle narrative : rectangle 148">
              <a:extLst>
                <a:ext uri="{FF2B5EF4-FFF2-40B4-BE49-F238E27FC236}">
                  <a16:creationId xmlns:a16="http://schemas.microsoft.com/office/drawing/2014/main" id="{7D0504A5-3386-5064-D526-289C9FC8D51F}"/>
                </a:ext>
              </a:extLst>
            </p:cNvPr>
            <p:cNvSpPr/>
            <p:nvPr/>
          </p:nvSpPr>
          <p:spPr>
            <a:xfrm>
              <a:off x="9112499" y="4230047"/>
              <a:ext cx="844651" cy="611233"/>
            </a:xfrm>
            <a:prstGeom prst="wedgeRectCallout">
              <a:avLst>
                <a:gd name="adj1" fmla="val 47773"/>
                <a:gd name="adj2" fmla="val 7545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 name="Bulle narrative : rectangle 149">
              <a:extLst>
                <a:ext uri="{FF2B5EF4-FFF2-40B4-BE49-F238E27FC236}">
                  <a16:creationId xmlns:a16="http://schemas.microsoft.com/office/drawing/2014/main" id="{B18922F4-AD84-D609-3EBF-5EBEAB0FD15E}"/>
                </a:ext>
              </a:extLst>
            </p:cNvPr>
            <p:cNvSpPr/>
            <p:nvPr/>
          </p:nvSpPr>
          <p:spPr>
            <a:xfrm flipH="1">
              <a:off x="10382076" y="4225434"/>
              <a:ext cx="844651" cy="611233"/>
            </a:xfrm>
            <a:prstGeom prst="wedgeRectCallout">
              <a:avLst>
                <a:gd name="adj1" fmla="val 47773"/>
                <a:gd name="adj2" fmla="val 7545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1" name="Groupe 150">
              <a:extLst>
                <a:ext uri="{FF2B5EF4-FFF2-40B4-BE49-F238E27FC236}">
                  <a16:creationId xmlns:a16="http://schemas.microsoft.com/office/drawing/2014/main" id="{923FA5FC-E787-FA79-6C99-34D84548B9DF}"/>
                </a:ext>
              </a:extLst>
            </p:cNvPr>
            <p:cNvGrpSpPr/>
            <p:nvPr/>
          </p:nvGrpSpPr>
          <p:grpSpPr>
            <a:xfrm>
              <a:off x="11090656" y="4894252"/>
              <a:ext cx="957532" cy="1000458"/>
              <a:chOff x="10895697" y="4741852"/>
              <a:chExt cx="756124" cy="790021"/>
            </a:xfrm>
            <a:solidFill>
              <a:schemeClr val="bg1">
                <a:lumMod val="65000"/>
              </a:schemeClr>
            </a:solidFill>
          </p:grpSpPr>
          <p:pic>
            <p:nvPicPr>
              <p:cNvPr id="168" name="Graphique 167" descr="Écolier avec un remplissage uni">
                <a:extLst>
                  <a:ext uri="{FF2B5EF4-FFF2-40B4-BE49-F238E27FC236}">
                    <a16:creationId xmlns:a16="http://schemas.microsoft.com/office/drawing/2014/main" id="{0871FD65-289F-21A0-848F-C2FE5190AFDD}"/>
                  </a:ext>
                </a:extLst>
              </p:cNvPr>
              <p:cNvPicPr>
                <a:picLocks noChangeAspect="1"/>
              </p:cNvPicPr>
              <p:nvPr/>
            </p:nvPicPr>
            <p:blipFill rotWithShape="1">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rcRect l="23541" t="12103" r="23440" b="13876"/>
              <a:stretch/>
            </p:blipFill>
            <p:spPr>
              <a:xfrm>
                <a:off x="10983706" y="5158340"/>
                <a:ext cx="231240" cy="322830"/>
              </a:xfrm>
              <a:prstGeom prst="rect">
                <a:avLst/>
              </a:prstGeom>
            </p:spPr>
          </p:pic>
          <p:pic>
            <p:nvPicPr>
              <p:cNvPr id="169" name="Graphique 168" descr="Écolière avec un remplissage uni">
                <a:extLst>
                  <a:ext uri="{FF2B5EF4-FFF2-40B4-BE49-F238E27FC236}">
                    <a16:creationId xmlns:a16="http://schemas.microsoft.com/office/drawing/2014/main" id="{0BD27B38-D409-55BD-29A7-966457649B2A}"/>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1227585" y="5107637"/>
                <a:ext cx="424236" cy="424236"/>
              </a:xfrm>
              <a:prstGeom prst="rect">
                <a:avLst/>
              </a:prstGeom>
            </p:spPr>
          </p:pic>
          <p:pic>
            <p:nvPicPr>
              <p:cNvPr id="170" name="Graphique 169" descr="Une artiste avec un remplissage uni">
                <a:extLst>
                  <a:ext uri="{FF2B5EF4-FFF2-40B4-BE49-F238E27FC236}">
                    <a16:creationId xmlns:a16="http://schemas.microsoft.com/office/drawing/2014/main" id="{17D7E123-7079-17E1-F630-4D5D46F236F5}"/>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0895697" y="4741852"/>
                <a:ext cx="424236" cy="424236"/>
              </a:xfrm>
              <a:prstGeom prst="rect">
                <a:avLst/>
              </a:prstGeom>
            </p:spPr>
          </p:pic>
          <p:pic>
            <p:nvPicPr>
              <p:cNvPr id="171" name="Graphique 170" descr="Centre d’appels avec un remplissage uni">
                <a:extLst>
                  <a:ext uri="{FF2B5EF4-FFF2-40B4-BE49-F238E27FC236}">
                    <a16:creationId xmlns:a16="http://schemas.microsoft.com/office/drawing/2014/main" id="{F85AB717-318F-4C78-B931-CB78B9F96FB6}"/>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1250937" y="4755122"/>
                <a:ext cx="397197" cy="397197"/>
              </a:xfrm>
              <a:prstGeom prst="rect">
                <a:avLst/>
              </a:prstGeom>
            </p:spPr>
          </p:pic>
        </p:grpSp>
        <p:grpSp>
          <p:nvGrpSpPr>
            <p:cNvPr id="152" name="Groupe 151">
              <a:extLst>
                <a:ext uri="{FF2B5EF4-FFF2-40B4-BE49-F238E27FC236}">
                  <a16:creationId xmlns:a16="http://schemas.microsoft.com/office/drawing/2014/main" id="{08BEA3A3-B66F-C208-8C96-A00D79B73E61}"/>
                </a:ext>
              </a:extLst>
            </p:cNvPr>
            <p:cNvGrpSpPr/>
            <p:nvPr/>
          </p:nvGrpSpPr>
          <p:grpSpPr>
            <a:xfrm>
              <a:off x="8191746" y="4876988"/>
              <a:ext cx="936249" cy="955726"/>
              <a:chOff x="8161603" y="4566531"/>
              <a:chExt cx="838908" cy="856360"/>
            </a:xfrm>
          </p:grpSpPr>
          <p:pic>
            <p:nvPicPr>
              <p:cNvPr id="164" name="Graphique 163" descr="Employée de bureau avec un remplissage uni">
                <a:extLst>
                  <a:ext uri="{FF2B5EF4-FFF2-40B4-BE49-F238E27FC236}">
                    <a16:creationId xmlns:a16="http://schemas.microsoft.com/office/drawing/2014/main" id="{46BCDCA9-9674-F35C-5CD9-92B347940F6C}"/>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l="16614" t="5228" r="16437" b="9344"/>
              <a:stretch/>
            </p:blipFill>
            <p:spPr>
              <a:xfrm>
                <a:off x="8614190" y="4987902"/>
                <a:ext cx="329791" cy="420815"/>
              </a:xfrm>
              <a:prstGeom prst="rect">
                <a:avLst/>
              </a:prstGeom>
            </p:spPr>
          </p:pic>
          <p:pic>
            <p:nvPicPr>
              <p:cNvPr id="165" name="Graphique 164" descr="Profil mâle avec un remplissage uni">
                <a:extLst>
                  <a:ext uri="{FF2B5EF4-FFF2-40B4-BE49-F238E27FC236}">
                    <a16:creationId xmlns:a16="http://schemas.microsoft.com/office/drawing/2014/main" id="{75FC5B7B-2F23-B3C4-1B4D-7416638F29D9}"/>
                  </a:ext>
                </a:extLst>
              </p:cNvPr>
              <p:cNvPicPr>
                <a:picLocks noChangeAspect="1"/>
              </p:cNvPicPr>
              <p:nvPr/>
            </p:nvPicPr>
            <p:blipFill rotWithShape="1">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rcRect l="13300" t="9409" r="14890" b="14751"/>
              <a:stretch/>
            </p:blipFill>
            <p:spPr>
              <a:xfrm>
                <a:off x="8161603" y="5002076"/>
                <a:ext cx="398447" cy="420815"/>
              </a:xfrm>
              <a:prstGeom prst="rect">
                <a:avLst/>
              </a:prstGeom>
            </p:spPr>
          </p:pic>
          <p:pic>
            <p:nvPicPr>
              <p:cNvPr id="166" name="Graphique 165" descr="Programmatrice avec un remplissage uni">
                <a:extLst>
                  <a:ext uri="{FF2B5EF4-FFF2-40B4-BE49-F238E27FC236}">
                    <a16:creationId xmlns:a16="http://schemas.microsoft.com/office/drawing/2014/main" id="{9FFAB654-9577-D27E-43AF-C307BC1249D4}"/>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8167733" y="4566531"/>
                <a:ext cx="413640" cy="413640"/>
              </a:xfrm>
              <a:prstGeom prst="rect">
                <a:avLst/>
              </a:prstGeom>
            </p:spPr>
          </p:pic>
          <p:pic>
            <p:nvPicPr>
              <p:cNvPr id="167" name="Graphique 166" descr="Une astronaute avec un remplissage uni">
                <a:extLst>
                  <a:ext uri="{FF2B5EF4-FFF2-40B4-BE49-F238E27FC236}">
                    <a16:creationId xmlns:a16="http://schemas.microsoft.com/office/drawing/2014/main" id="{6F5E1772-F51E-C9E6-FCB4-86DACFF6129D}"/>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8544848" y="4571288"/>
                <a:ext cx="455663" cy="455663"/>
              </a:xfrm>
              <a:prstGeom prst="rect">
                <a:avLst/>
              </a:prstGeom>
            </p:spPr>
          </p:pic>
        </p:grpSp>
        <p:grpSp>
          <p:nvGrpSpPr>
            <p:cNvPr id="153" name="Groupe 152">
              <a:extLst>
                <a:ext uri="{FF2B5EF4-FFF2-40B4-BE49-F238E27FC236}">
                  <a16:creationId xmlns:a16="http://schemas.microsoft.com/office/drawing/2014/main" id="{765439CA-C7C6-3EF4-557B-BF4AD2553D1F}"/>
                </a:ext>
              </a:extLst>
            </p:cNvPr>
            <p:cNvGrpSpPr/>
            <p:nvPr/>
          </p:nvGrpSpPr>
          <p:grpSpPr>
            <a:xfrm>
              <a:off x="9243738" y="4249169"/>
              <a:ext cx="557260" cy="582242"/>
              <a:chOff x="10895697" y="4741852"/>
              <a:chExt cx="756124" cy="790021"/>
            </a:xfrm>
            <a:solidFill>
              <a:schemeClr val="bg1">
                <a:lumMod val="65000"/>
              </a:schemeClr>
            </a:solidFill>
          </p:grpSpPr>
          <p:pic>
            <p:nvPicPr>
              <p:cNvPr id="160" name="Graphique 159" descr="Écolier avec un remplissage uni">
                <a:extLst>
                  <a:ext uri="{FF2B5EF4-FFF2-40B4-BE49-F238E27FC236}">
                    <a16:creationId xmlns:a16="http://schemas.microsoft.com/office/drawing/2014/main" id="{DFDF8F21-0DE2-5C46-CB52-57C5FD6E368E}"/>
                  </a:ext>
                </a:extLst>
              </p:cNvPr>
              <p:cNvPicPr>
                <a:picLocks noChangeAspect="1"/>
              </p:cNvPicPr>
              <p:nvPr/>
            </p:nvPicPr>
            <p:blipFill rotWithShape="1">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rcRect l="23541" t="12103" r="23440" b="13876"/>
              <a:stretch/>
            </p:blipFill>
            <p:spPr>
              <a:xfrm>
                <a:off x="10983706" y="5158340"/>
                <a:ext cx="231240" cy="322830"/>
              </a:xfrm>
              <a:prstGeom prst="rect">
                <a:avLst/>
              </a:prstGeom>
            </p:spPr>
          </p:pic>
          <p:pic>
            <p:nvPicPr>
              <p:cNvPr id="161" name="Graphique 160" descr="Écolière avec un remplissage uni">
                <a:extLst>
                  <a:ext uri="{FF2B5EF4-FFF2-40B4-BE49-F238E27FC236}">
                    <a16:creationId xmlns:a16="http://schemas.microsoft.com/office/drawing/2014/main" id="{F44B2DC6-C0AB-600A-C624-91BD0CE29C01}"/>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1227585" y="5107637"/>
                <a:ext cx="424236" cy="424236"/>
              </a:xfrm>
              <a:prstGeom prst="rect">
                <a:avLst/>
              </a:prstGeom>
            </p:spPr>
          </p:pic>
          <p:pic>
            <p:nvPicPr>
              <p:cNvPr id="162" name="Graphique 161" descr="Une artiste avec un remplissage uni">
                <a:extLst>
                  <a:ext uri="{FF2B5EF4-FFF2-40B4-BE49-F238E27FC236}">
                    <a16:creationId xmlns:a16="http://schemas.microsoft.com/office/drawing/2014/main" id="{35BEBA27-E3E6-6EA2-167C-C0A3238A44FE}"/>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0895697" y="4741852"/>
                <a:ext cx="424236" cy="424236"/>
              </a:xfrm>
              <a:prstGeom prst="rect">
                <a:avLst/>
              </a:prstGeom>
            </p:spPr>
          </p:pic>
          <p:pic>
            <p:nvPicPr>
              <p:cNvPr id="163" name="Graphique 162" descr="Centre d’appels avec un remplissage uni">
                <a:extLst>
                  <a:ext uri="{FF2B5EF4-FFF2-40B4-BE49-F238E27FC236}">
                    <a16:creationId xmlns:a16="http://schemas.microsoft.com/office/drawing/2014/main" id="{63DF6AA6-3837-87E2-DB0C-68171D9681FF}"/>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1250937" y="4755122"/>
                <a:ext cx="397197" cy="397197"/>
              </a:xfrm>
              <a:prstGeom prst="rect">
                <a:avLst/>
              </a:prstGeom>
            </p:spPr>
          </p:pic>
        </p:grpSp>
        <p:grpSp>
          <p:nvGrpSpPr>
            <p:cNvPr id="154" name="Groupe 153">
              <a:extLst>
                <a:ext uri="{FF2B5EF4-FFF2-40B4-BE49-F238E27FC236}">
                  <a16:creationId xmlns:a16="http://schemas.microsoft.com/office/drawing/2014/main" id="{93EBF5E4-FF81-5E1A-C19A-28DA2F8576CF}"/>
                </a:ext>
              </a:extLst>
            </p:cNvPr>
            <p:cNvGrpSpPr/>
            <p:nvPr/>
          </p:nvGrpSpPr>
          <p:grpSpPr>
            <a:xfrm>
              <a:off x="10526384" y="4231236"/>
              <a:ext cx="560458" cy="572117"/>
              <a:chOff x="8161603" y="4566531"/>
              <a:chExt cx="838908" cy="856360"/>
            </a:xfrm>
          </p:grpSpPr>
          <p:pic>
            <p:nvPicPr>
              <p:cNvPr id="155" name="Graphique 154" descr="Employée de bureau avec un remplissage uni">
                <a:extLst>
                  <a:ext uri="{FF2B5EF4-FFF2-40B4-BE49-F238E27FC236}">
                    <a16:creationId xmlns:a16="http://schemas.microsoft.com/office/drawing/2014/main" id="{6AA5FF32-49F2-0171-0B7C-E1E47FCB47F1}"/>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l="16614" t="5228" r="16437" b="9344"/>
              <a:stretch/>
            </p:blipFill>
            <p:spPr>
              <a:xfrm>
                <a:off x="8614190" y="4987902"/>
                <a:ext cx="329791" cy="420815"/>
              </a:xfrm>
              <a:prstGeom prst="rect">
                <a:avLst/>
              </a:prstGeom>
            </p:spPr>
          </p:pic>
          <p:pic>
            <p:nvPicPr>
              <p:cNvPr id="156" name="Graphique 155" descr="Profil mâle avec un remplissage uni">
                <a:extLst>
                  <a:ext uri="{FF2B5EF4-FFF2-40B4-BE49-F238E27FC236}">
                    <a16:creationId xmlns:a16="http://schemas.microsoft.com/office/drawing/2014/main" id="{10EEB6F5-557A-8CA2-3443-B8A16820B641}"/>
                  </a:ext>
                </a:extLst>
              </p:cNvPr>
              <p:cNvPicPr>
                <a:picLocks noChangeAspect="1"/>
              </p:cNvPicPr>
              <p:nvPr/>
            </p:nvPicPr>
            <p:blipFill rotWithShape="1">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rcRect l="13300" t="9409" r="14890" b="14751"/>
              <a:stretch/>
            </p:blipFill>
            <p:spPr>
              <a:xfrm>
                <a:off x="8161603" y="5002076"/>
                <a:ext cx="398447" cy="420815"/>
              </a:xfrm>
              <a:prstGeom prst="rect">
                <a:avLst/>
              </a:prstGeom>
            </p:spPr>
          </p:pic>
          <p:pic>
            <p:nvPicPr>
              <p:cNvPr id="157" name="Graphique 156" descr="Programmatrice avec un remplissage uni">
                <a:extLst>
                  <a:ext uri="{FF2B5EF4-FFF2-40B4-BE49-F238E27FC236}">
                    <a16:creationId xmlns:a16="http://schemas.microsoft.com/office/drawing/2014/main" id="{AF70BAFA-86D0-4883-A592-3152FAEACF59}"/>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8167733" y="4566531"/>
                <a:ext cx="413640" cy="413640"/>
              </a:xfrm>
              <a:prstGeom prst="rect">
                <a:avLst/>
              </a:prstGeom>
            </p:spPr>
          </p:pic>
          <p:pic>
            <p:nvPicPr>
              <p:cNvPr id="159" name="Graphique 158" descr="Une astronaute avec un remplissage uni">
                <a:extLst>
                  <a:ext uri="{FF2B5EF4-FFF2-40B4-BE49-F238E27FC236}">
                    <a16:creationId xmlns:a16="http://schemas.microsoft.com/office/drawing/2014/main" id="{40B182A4-5005-BA7B-44B7-E810D9AFFADD}"/>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8544848" y="4571288"/>
                <a:ext cx="455663" cy="455663"/>
              </a:xfrm>
              <a:prstGeom prst="rect">
                <a:avLst/>
              </a:prstGeom>
            </p:spPr>
          </p:pic>
        </p:grpSp>
      </p:grpSp>
      <p:sp>
        <p:nvSpPr>
          <p:cNvPr id="221" name="Rectangle 220">
            <a:extLst>
              <a:ext uri="{FF2B5EF4-FFF2-40B4-BE49-F238E27FC236}">
                <a16:creationId xmlns:a16="http://schemas.microsoft.com/office/drawing/2014/main" id="{DD49BF08-07E4-54EB-DC23-943725AF8B3D}"/>
              </a:ext>
            </a:extLst>
          </p:cNvPr>
          <p:cNvSpPr/>
          <p:nvPr/>
        </p:nvSpPr>
        <p:spPr>
          <a:xfrm>
            <a:off x="5311792" y="5205231"/>
            <a:ext cx="1665015" cy="736887"/>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📅Organisation de moments informels, moments prétextes </a:t>
            </a:r>
          </a:p>
        </p:txBody>
      </p:sp>
      <p:pic>
        <p:nvPicPr>
          <p:cNvPr id="223" name="Graphique 222" descr="Carnet d'adresses avec un remplissage uni">
            <a:extLst>
              <a:ext uri="{FF2B5EF4-FFF2-40B4-BE49-F238E27FC236}">
                <a16:creationId xmlns:a16="http://schemas.microsoft.com/office/drawing/2014/main" id="{A9C32C89-B75B-E03C-E958-FE0C79E99D03}"/>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7783247" y="4217864"/>
            <a:ext cx="914400" cy="914400"/>
          </a:xfrm>
          <a:prstGeom prst="rect">
            <a:avLst/>
          </a:prstGeom>
        </p:spPr>
      </p:pic>
      <p:sp>
        <p:nvSpPr>
          <p:cNvPr id="226" name="Rectangle 225">
            <a:extLst>
              <a:ext uri="{FF2B5EF4-FFF2-40B4-BE49-F238E27FC236}">
                <a16:creationId xmlns:a16="http://schemas.microsoft.com/office/drawing/2014/main" id="{1BED5E4E-2A99-6817-C93E-9BBB4A5ADE80}"/>
              </a:ext>
            </a:extLst>
          </p:cNvPr>
          <p:cNvSpPr/>
          <p:nvPr/>
        </p:nvSpPr>
        <p:spPr>
          <a:xfrm>
            <a:off x="9487303" y="5195908"/>
            <a:ext cx="1665015" cy="736887"/>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Officialisation de petites équipes, groupes de travail, plus facile à réunir</a:t>
            </a:r>
          </a:p>
        </p:txBody>
      </p:sp>
      <p:pic>
        <p:nvPicPr>
          <p:cNvPr id="227" name="Graphique 226" descr="Feux d’artifice avec un remplissage uni">
            <a:extLst>
              <a:ext uri="{FF2B5EF4-FFF2-40B4-BE49-F238E27FC236}">
                <a16:creationId xmlns:a16="http://schemas.microsoft.com/office/drawing/2014/main" id="{5E173A76-3A03-B756-E2A1-CB8F803056EE}"/>
              </a:ext>
            </a:extLst>
          </p:cNvPr>
          <p:cNvPicPr>
            <a:picLocks noChangeAspect="1"/>
          </p:cNvPicPr>
          <p:nvPr/>
        </p:nvPicPr>
        <p:blipFill>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tretch>
            <a:fillRect/>
          </a:stretch>
        </p:blipFill>
        <p:spPr>
          <a:xfrm>
            <a:off x="10110822" y="4026604"/>
            <a:ext cx="571843" cy="571843"/>
          </a:xfrm>
          <a:prstGeom prst="rect">
            <a:avLst/>
          </a:prstGeom>
        </p:spPr>
      </p:pic>
      <p:pic>
        <p:nvPicPr>
          <p:cNvPr id="228" name="Graphique 227" descr="Réussite du groupe avec un remplissage uni">
            <a:extLst>
              <a:ext uri="{FF2B5EF4-FFF2-40B4-BE49-F238E27FC236}">
                <a16:creationId xmlns:a16="http://schemas.microsoft.com/office/drawing/2014/main" id="{EDE0BA39-01FB-2170-48EA-319A496A0C94}"/>
              </a:ext>
            </a:extLst>
          </p:cNvPr>
          <p:cNvPicPr>
            <a:picLocks noChangeAspect="1"/>
          </p:cNvPicPr>
          <p:nvPr/>
        </p:nvPicPr>
        <p:blipFill rotWithShape="1">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rcRect t="13979" b="19010"/>
          <a:stretch/>
        </p:blipFill>
        <p:spPr>
          <a:xfrm>
            <a:off x="10103846" y="4544851"/>
            <a:ext cx="854499" cy="572602"/>
          </a:xfrm>
          <a:prstGeom prst="rect">
            <a:avLst/>
          </a:prstGeom>
        </p:spPr>
      </p:pic>
      <p:pic>
        <p:nvPicPr>
          <p:cNvPr id="454" name="Graphique 453" descr="Chat avec un remplissage uni">
            <a:extLst>
              <a:ext uri="{FF2B5EF4-FFF2-40B4-BE49-F238E27FC236}">
                <a16:creationId xmlns:a16="http://schemas.microsoft.com/office/drawing/2014/main" id="{0B3584F3-99C8-638B-773F-292D3056DAB8}"/>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9804916" y="2334172"/>
            <a:ext cx="418062" cy="418061"/>
          </a:xfrm>
          <a:prstGeom prst="rect">
            <a:avLst/>
          </a:prstGeom>
        </p:spPr>
      </p:pic>
      <p:pic>
        <p:nvPicPr>
          <p:cNvPr id="456" name="Graphique 455" descr="Flèches de chevron avec un remplissage uni">
            <a:extLst>
              <a:ext uri="{FF2B5EF4-FFF2-40B4-BE49-F238E27FC236}">
                <a16:creationId xmlns:a16="http://schemas.microsoft.com/office/drawing/2014/main" id="{8626BF4F-C7DD-593B-B12E-F7EA25A4C1E9}"/>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5283194" y="2264616"/>
            <a:ext cx="526296" cy="526294"/>
          </a:xfrm>
          <a:prstGeom prst="rect">
            <a:avLst/>
          </a:prstGeom>
        </p:spPr>
      </p:pic>
      <p:pic>
        <p:nvPicPr>
          <p:cNvPr id="457" name="Graphique 456" descr="Tête avec engrenages avec un remplissage uni">
            <a:extLst>
              <a:ext uri="{FF2B5EF4-FFF2-40B4-BE49-F238E27FC236}">
                <a16:creationId xmlns:a16="http://schemas.microsoft.com/office/drawing/2014/main" id="{D9AA4805-64F6-250E-7B06-69A926FB166B}"/>
              </a:ext>
            </a:extLst>
          </p:cNvPr>
          <p:cNvPicPr>
            <a:picLocks noChangeAspect="1"/>
          </p:cNvPicPr>
          <p:nvPr/>
        </p:nvPicPr>
        <p:blipFill>
          <a:blip r:embed="rId41">
            <a:extLst>
              <a:ext uri="{28A0092B-C50C-407E-A947-70E740481C1C}">
                <a14:useLocalDpi xmlns:a14="http://schemas.microsoft.com/office/drawing/2010/main" val="0"/>
              </a:ext>
              <a:ext uri="{96DAC541-7B7A-43D3-8B79-37D633B846F1}">
                <asvg:svgBlip xmlns:asvg="http://schemas.microsoft.com/office/drawing/2016/SVG/main" r:embed="rId42"/>
              </a:ext>
            </a:extLst>
          </a:blip>
          <a:stretch>
            <a:fillRect/>
          </a:stretch>
        </p:blipFill>
        <p:spPr>
          <a:xfrm>
            <a:off x="6323602" y="2223058"/>
            <a:ext cx="567854" cy="567852"/>
          </a:xfrm>
          <a:prstGeom prst="rect">
            <a:avLst/>
          </a:prstGeom>
        </p:spPr>
      </p:pic>
      <p:pic>
        <p:nvPicPr>
          <p:cNvPr id="461" name="Graphique 460" descr="Conseil d’administration avec un remplissage uni">
            <a:extLst>
              <a:ext uri="{FF2B5EF4-FFF2-40B4-BE49-F238E27FC236}">
                <a16:creationId xmlns:a16="http://schemas.microsoft.com/office/drawing/2014/main" id="{6B693433-4DD1-29AB-1794-D69AB6E6DC33}"/>
              </a:ext>
            </a:extLst>
          </p:cNvPr>
          <p:cNvPicPr>
            <a:picLocks noChangeAspect="1"/>
          </p:cNvPicPr>
          <p:nvPr/>
        </p:nvPicPr>
        <p:blipFill>
          <a:blip r:embed="rId43">
            <a:extLst>
              <a:ext uri="{28A0092B-C50C-407E-A947-70E740481C1C}">
                <a14:useLocalDpi xmlns:a14="http://schemas.microsoft.com/office/drawing/2010/main" val="0"/>
              </a:ext>
              <a:ext uri="{96DAC541-7B7A-43D3-8B79-37D633B846F1}">
                <asvg:svgBlip xmlns:asvg="http://schemas.microsoft.com/office/drawing/2016/SVG/main" r:embed="rId44"/>
              </a:ext>
            </a:extLst>
          </a:blip>
          <a:stretch>
            <a:fillRect/>
          </a:stretch>
        </p:blipFill>
        <p:spPr>
          <a:xfrm>
            <a:off x="9371250" y="2305800"/>
            <a:ext cx="399710" cy="399709"/>
          </a:xfrm>
          <a:prstGeom prst="rect">
            <a:avLst/>
          </a:prstGeom>
        </p:spPr>
      </p:pic>
      <p:sp>
        <p:nvSpPr>
          <p:cNvPr id="466" name="Rectangle 465">
            <a:extLst>
              <a:ext uri="{FF2B5EF4-FFF2-40B4-BE49-F238E27FC236}">
                <a16:creationId xmlns:a16="http://schemas.microsoft.com/office/drawing/2014/main" id="{0A020719-B712-6837-61EC-589AE4D7E0DC}"/>
              </a:ext>
            </a:extLst>
          </p:cNvPr>
          <p:cNvSpPr/>
          <p:nvPr/>
        </p:nvSpPr>
        <p:spPr>
          <a:xfrm>
            <a:off x="9280177"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Espaces et lieux pour rencontres </a:t>
            </a:r>
          </a:p>
          <a:p>
            <a:pPr algn="ctr"/>
            <a:r>
              <a:rPr lang="fr-FR" sz="900" dirty="0"/>
              <a:t>(à défaut, outils pour rencontre numérique)</a:t>
            </a:r>
          </a:p>
        </p:txBody>
      </p:sp>
      <p:sp>
        <p:nvSpPr>
          <p:cNvPr id="467" name="Rectangle 466">
            <a:extLst>
              <a:ext uri="{FF2B5EF4-FFF2-40B4-BE49-F238E27FC236}">
                <a16:creationId xmlns:a16="http://schemas.microsoft.com/office/drawing/2014/main" id="{B37C706D-99CA-494C-FBE9-D93935D67AB6}"/>
              </a:ext>
            </a:extLst>
          </p:cNvPr>
          <p:cNvSpPr/>
          <p:nvPr/>
        </p:nvSpPr>
        <p:spPr>
          <a:xfrm>
            <a:off x="7185911" y="2832487"/>
            <a:ext cx="996523" cy="60207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ponctuelle des membres pour rencontres</a:t>
            </a:r>
          </a:p>
        </p:txBody>
      </p:sp>
      <p:sp>
        <p:nvSpPr>
          <p:cNvPr id="468" name="Rectangle 467">
            <a:extLst>
              <a:ext uri="{FF2B5EF4-FFF2-40B4-BE49-F238E27FC236}">
                <a16:creationId xmlns:a16="http://schemas.microsoft.com/office/drawing/2014/main" id="{CCD676FE-ACE4-8ECB-439C-2FDD9C3D7C4C}"/>
              </a:ext>
            </a:extLst>
          </p:cNvPr>
          <p:cNvSpPr/>
          <p:nvPr/>
        </p:nvSpPr>
        <p:spPr>
          <a:xfrm>
            <a:off x="6118076"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de mises en relation et de présentation de personnes</a:t>
            </a:r>
          </a:p>
        </p:txBody>
      </p:sp>
      <p:sp>
        <p:nvSpPr>
          <p:cNvPr id="470" name="Rectangle 469">
            <a:extLst>
              <a:ext uri="{FF2B5EF4-FFF2-40B4-BE49-F238E27FC236}">
                <a16:creationId xmlns:a16="http://schemas.microsoft.com/office/drawing/2014/main" id="{7250ADA9-7BEF-D28E-1B51-629730C2B355}"/>
              </a:ext>
            </a:extLst>
          </p:cNvPr>
          <p:cNvSpPr/>
          <p:nvPr/>
        </p:nvSpPr>
        <p:spPr>
          <a:xfrm>
            <a:off x="8221867"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Informations sur les affinités de chacun pouvant aider à la mise en relation</a:t>
            </a:r>
          </a:p>
        </p:txBody>
      </p:sp>
      <p:sp>
        <p:nvSpPr>
          <p:cNvPr id="471" name="Rectangle 470">
            <a:extLst>
              <a:ext uri="{FF2B5EF4-FFF2-40B4-BE49-F238E27FC236}">
                <a16:creationId xmlns:a16="http://schemas.microsoft.com/office/drawing/2014/main" id="{B4DA6006-0373-BDAC-A73B-FEF62F179374}"/>
              </a:ext>
            </a:extLst>
          </p:cNvPr>
          <p:cNvSpPr/>
          <p:nvPr/>
        </p:nvSpPr>
        <p:spPr>
          <a:xfrm>
            <a:off x="5059766"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Ouverture des individus à de nouveaux liens avec d’autres</a:t>
            </a:r>
          </a:p>
        </p:txBody>
      </p:sp>
      <p:sp>
        <p:nvSpPr>
          <p:cNvPr id="472" name="Rectangle 471">
            <a:extLst>
              <a:ext uri="{FF2B5EF4-FFF2-40B4-BE49-F238E27FC236}">
                <a16:creationId xmlns:a16="http://schemas.microsoft.com/office/drawing/2014/main" id="{D5E11058-94B0-B794-0DEA-0F735A99DA9B}"/>
              </a:ext>
            </a:extLst>
          </p:cNvPr>
          <p:cNvSpPr/>
          <p:nvPr/>
        </p:nvSpPr>
        <p:spPr>
          <a:xfrm>
            <a:off x="10338487"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Outil d’interaction et pour réunir l’information commune</a:t>
            </a:r>
          </a:p>
        </p:txBody>
      </p:sp>
      <p:pic>
        <p:nvPicPr>
          <p:cNvPr id="473" name="Graphique 472" descr="Informations avec un remplissage uni">
            <a:extLst>
              <a:ext uri="{FF2B5EF4-FFF2-40B4-BE49-F238E27FC236}">
                <a16:creationId xmlns:a16="http://schemas.microsoft.com/office/drawing/2014/main" id="{22A3EBF1-319F-2DF8-A2F0-1F0E69AEB7D6}"/>
              </a:ext>
            </a:extLst>
          </p:cNvPr>
          <p:cNvPicPr>
            <a:picLocks noChangeAspect="1"/>
          </p:cNvPicPr>
          <p:nvPr/>
        </p:nvPicPr>
        <p:blipFill>
          <a:blip r:embed="rId45">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a:off x="8434188" y="2267229"/>
            <a:ext cx="496143" cy="496142"/>
          </a:xfrm>
          <a:prstGeom prst="rect">
            <a:avLst/>
          </a:prstGeom>
        </p:spPr>
      </p:pic>
      <p:pic>
        <p:nvPicPr>
          <p:cNvPr id="474" name="Graphique 473" descr="Sablier 60% avec un remplissage uni">
            <a:extLst>
              <a:ext uri="{FF2B5EF4-FFF2-40B4-BE49-F238E27FC236}">
                <a16:creationId xmlns:a16="http://schemas.microsoft.com/office/drawing/2014/main" id="{E893767A-D2D1-A6E6-A425-ED30DB2F4370}"/>
              </a:ext>
            </a:extLst>
          </p:cNvPr>
          <p:cNvPicPr>
            <a:picLocks noChangeAspect="1"/>
          </p:cNvPicPr>
          <p:nvPr/>
        </p:nvPicPr>
        <p:blipFill>
          <a:blip r:embed="rId47">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7372239" y="2204110"/>
            <a:ext cx="629430" cy="629428"/>
          </a:xfrm>
          <a:prstGeom prst="rect">
            <a:avLst/>
          </a:prstGeom>
        </p:spPr>
      </p:pic>
      <p:pic>
        <p:nvPicPr>
          <p:cNvPr id="475" name="Graphique 474" descr="Chat avec un remplissage uni">
            <a:extLst>
              <a:ext uri="{FF2B5EF4-FFF2-40B4-BE49-F238E27FC236}">
                <a16:creationId xmlns:a16="http://schemas.microsoft.com/office/drawing/2014/main" id="{1DD58BE1-702A-4C17-67AF-78608EAFDAE5}"/>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10576979" y="2258532"/>
            <a:ext cx="520584" cy="520583"/>
          </a:xfrm>
          <a:prstGeom prst="rect">
            <a:avLst/>
          </a:prstGeom>
        </p:spPr>
      </p:pic>
    </p:spTree>
    <p:extLst>
      <p:ext uri="{BB962C8B-B14F-4D97-AF65-F5344CB8AC3E}">
        <p14:creationId xmlns:p14="http://schemas.microsoft.com/office/powerpoint/2010/main" val="372943508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786AE10-063A-2FFB-64EB-0AE91CE8A887}"/>
              </a:ext>
            </a:extLst>
          </p:cNvPr>
          <p:cNvSpPr>
            <a:spLocks noGrp="1"/>
          </p:cNvSpPr>
          <p:nvPr>
            <p:ph type="title"/>
          </p:nvPr>
        </p:nvSpPr>
        <p:spPr>
          <a:xfrm>
            <a:off x="802004" y="375856"/>
            <a:ext cx="4759509" cy="915779"/>
          </a:xfrm>
          <a:noFill/>
        </p:spPr>
        <p:txBody>
          <a:bodyPr>
            <a:noAutofit/>
          </a:bodyPr>
          <a:lstStyle/>
          <a:p>
            <a:r>
              <a:rPr lang="fr-FR" sz="3600" dirty="0"/>
              <a:t>Les sorties dans le parcours du test terrain</a:t>
            </a:r>
          </a:p>
        </p:txBody>
      </p:sp>
      <p:sp>
        <p:nvSpPr>
          <p:cNvPr id="4" name="Ellipse 3">
            <a:extLst>
              <a:ext uri="{FF2B5EF4-FFF2-40B4-BE49-F238E27FC236}">
                <a16:creationId xmlns:a16="http://schemas.microsoft.com/office/drawing/2014/main" id="{992AC0C9-CAAE-DB39-A9F6-4A4AE6F6DA7D}"/>
              </a:ext>
            </a:extLst>
          </p:cNvPr>
          <p:cNvSpPr/>
          <p:nvPr/>
        </p:nvSpPr>
        <p:spPr>
          <a:xfrm>
            <a:off x="802004"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5" name="ZoneTexte 4">
            <a:extLst>
              <a:ext uri="{FF2B5EF4-FFF2-40B4-BE49-F238E27FC236}">
                <a16:creationId xmlns:a16="http://schemas.microsoft.com/office/drawing/2014/main" id="{70243741-FE0E-63E1-D84C-A7C7ABA02711}"/>
              </a:ext>
            </a:extLst>
          </p:cNvPr>
          <p:cNvSpPr txBox="1"/>
          <p:nvPr/>
        </p:nvSpPr>
        <p:spPr>
          <a:xfrm>
            <a:off x="75647" y="2767944"/>
            <a:ext cx="1181101" cy="461665"/>
          </a:xfrm>
          <a:prstGeom prst="rect">
            <a:avLst/>
          </a:prstGeom>
          <a:noFill/>
        </p:spPr>
        <p:txBody>
          <a:bodyPr wrap="square">
            <a:spAutoFit/>
          </a:bodyPr>
          <a:lstStyle/>
          <a:p>
            <a:pPr algn="ctr"/>
            <a:r>
              <a:rPr lang="fr-FR" sz="1200" b="1" dirty="0">
                <a:solidFill>
                  <a:srgbClr val="ED7D31"/>
                </a:solidFill>
              </a:rPr>
              <a:t>Renseignement basique</a:t>
            </a:r>
          </a:p>
        </p:txBody>
      </p:sp>
      <p:sp>
        <p:nvSpPr>
          <p:cNvPr id="8" name="ZoneTexte 7">
            <a:extLst>
              <a:ext uri="{FF2B5EF4-FFF2-40B4-BE49-F238E27FC236}">
                <a16:creationId xmlns:a16="http://schemas.microsoft.com/office/drawing/2014/main" id="{9DA75CFE-8CBA-E6BD-3241-5AFC82B00982}"/>
              </a:ext>
            </a:extLst>
          </p:cNvPr>
          <p:cNvSpPr txBox="1"/>
          <p:nvPr/>
        </p:nvSpPr>
        <p:spPr>
          <a:xfrm>
            <a:off x="1989156" y="2536341"/>
            <a:ext cx="924606" cy="646331"/>
          </a:xfrm>
          <a:prstGeom prst="rect">
            <a:avLst/>
          </a:prstGeom>
          <a:noFill/>
        </p:spPr>
        <p:txBody>
          <a:bodyPr wrap="square">
            <a:spAutoFit/>
          </a:bodyPr>
          <a:lstStyle/>
          <a:p>
            <a:pPr algn="ctr"/>
            <a:r>
              <a:rPr lang="fr-FR" sz="1200" dirty="0"/>
              <a:t>Test en approche  individuelle</a:t>
            </a:r>
          </a:p>
        </p:txBody>
      </p:sp>
      <p:sp>
        <p:nvSpPr>
          <p:cNvPr id="9" name="Ellipse 8">
            <a:extLst>
              <a:ext uri="{FF2B5EF4-FFF2-40B4-BE49-F238E27FC236}">
                <a16:creationId xmlns:a16="http://schemas.microsoft.com/office/drawing/2014/main" id="{A52D5C3B-1DDB-0554-B80D-EB4D7EF46696}"/>
              </a:ext>
            </a:extLst>
          </p:cNvPr>
          <p:cNvSpPr/>
          <p:nvPr/>
        </p:nvSpPr>
        <p:spPr>
          <a:xfrm>
            <a:off x="2316476" y="3211695"/>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0" name="ZoneTexte 9">
            <a:extLst>
              <a:ext uri="{FF2B5EF4-FFF2-40B4-BE49-F238E27FC236}">
                <a16:creationId xmlns:a16="http://schemas.microsoft.com/office/drawing/2014/main" id="{48A5CBB2-1AB8-0274-9976-E297DDCF2855}"/>
              </a:ext>
            </a:extLst>
          </p:cNvPr>
          <p:cNvSpPr txBox="1"/>
          <p:nvPr/>
        </p:nvSpPr>
        <p:spPr>
          <a:xfrm>
            <a:off x="3436618" y="2536341"/>
            <a:ext cx="1275805" cy="646331"/>
          </a:xfrm>
          <a:prstGeom prst="rect">
            <a:avLst/>
          </a:prstGeom>
          <a:noFill/>
        </p:spPr>
        <p:txBody>
          <a:bodyPr wrap="square">
            <a:spAutoFit/>
          </a:bodyPr>
          <a:lstStyle/>
          <a:p>
            <a:pPr algn="ctr"/>
            <a:r>
              <a:rPr lang="fr-FR" sz="1200" dirty="0"/>
              <a:t>Test en approche réunion ponctuelle</a:t>
            </a:r>
          </a:p>
        </p:txBody>
      </p:sp>
      <p:sp>
        <p:nvSpPr>
          <p:cNvPr id="11" name="Ellipse 10">
            <a:extLst>
              <a:ext uri="{FF2B5EF4-FFF2-40B4-BE49-F238E27FC236}">
                <a16:creationId xmlns:a16="http://schemas.microsoft.com/office/drawing/2014/main" id="{EF8D2AF5-4937-867B-33A7-1DA9750EE909}"/>
              </a:ext>
            </a:extLst>
          </p:cNvPr>
          <p:cNvSpPr/>
          <p:nvPr/>
        </p:nvSpPr>
        <p:spPr>
          <a:xfrm>
            <a:off x="4001314" y="3211695"/>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2" name="ZoneTexte 11">
            <a:extLst>
              <a:ext uri="{FF2B5EF4-FFF2-40B4-BE49-F238E27FC236}">
                <a16:creationId xmlns:a16="http://schemas.microsoft.com/office/drawing/2014/main" id="{CCB8CD5C-AB91-19DC-30DC-0A0B16D384FD}"/>
              </a:ext>
            </a:extLst>
          </p:cNvPr>
          <p:cNvSpPr txBox="1"/>
          <p:nvPr/>
        </p:nvSpPr>
        <p:spPr>
          <a:xfrm>
            <a:off x="6721934" y="3481660"/>
            <a:ext cx="1275805" cy="461665"/>
          </a:xfrm>
          <a:prstGeom prst="rect">
            <a:avLst/>
          </a:prstGeom>
          <a:noFill/>
        </p:spPr>
        <p:txBody>
          <a:bodyPr wrap="square">
            <a:spAutoFit/>
          </a:bodyPr>
          <a:lstStyle/>
          <a:p>
            <a:pPr algn="ctr"/>
            <a:r>
              <a:rPr lang="fr-FR" sz="1200" b="1" dirty="0">
                <a:solidFill>
                  <a:srgbClr val="ED7D31"/>
                </a:solidFill>
              </a:rPr>
              <a:t>Kick off de communauté</a:t>
            </a:r>
          </a:p>
        </p:txBody>
      </p:sp>
      <p:sp>
        <p:nvSpPr>
          <p:cNvPr id="13" name="Ellipse 12">
            <a:extLst>
              <a:ext uri="{FF2B5EF4-FFF2-40B4-BE49-F238E27FC236}">
                <a16:creationId xmlns:a16="http://schemas.microsoft.com/office/drawing/2014/main" id="{1FA919D8-8AFC-8481-80A4-0536BB10817F}"/>
              </a:ext>
            </a:extLst>
          </p:cNvPr>
          <p:cNvSpPr/>
          <p:nvPr/>
        </p:nvSpPr>
        <p:spPr>
          <a:xfrm>
            <a:off x="5561513" y="3211695"/>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6" name="ZoneTexte 15">
            <a:extLst>
              <a:ext uri="{FF2B5EF4-FFF2-40B4-BE49-F238E27FC236}">
                <a16:creationId xmlns:a16="http://schemas.microsoft.com/office/drawing/2014/main" id="{71BE4590-27CA-710C-2088-DC36CA04AFB5}"/>
              </a:ext>
            </a:extLst>
          </p:cNvPr>
          <p:cNvSpPr txBox="1"/>
          <p:nvPr/>
        </p:nvSpPr>
        <p:spPr>
          <a:xfrm>
            <a:off x="5058593" y="2648789"/>
            <a:ext cx="1275805" cy="461665"/>
          </a:xfrm>
          <a:prstGeom prst="rect">
            <a:avLst/>
          </a:prstGeom>
          <a:noFill/>
        </p:spPr>
        <p:txBody>
          <a:bodyPr wrap="square">
            <a:spAutoFit/>
          </a:bodyPr>
          <a:lstStyle/>
          <a:p>
            <a:pPr algn="ctr"/>
            <a:r>
              <a:rPr lang="fr-FR" sz="1200" dirty="0"/>
              <a:t>Premiers liens intérieurs</a:t>
            </a:r>
          </a:p>
        </p:txBody>
      </p:sp>
      <p:sp>
        <p:nvSpPr>
          <p:cNvPr id="17" name="Ellipse 16">
            <a:extLst>
              <a:ext uri="{FF2B5EF4-FFF2-40B4-BE49-F238E27FC236}">
                <a16:creationId xmlns:a16="http://schemas.microsoft.com/office/drawing/2014/main" id="{627543D9-3FE7-1C4E-1540-07812A80E218}"/>
              </a:ext>
            </a:extLst>
          </p:cNvPr>
          <p:cNvSpPr/>
          <p:nvPr/>
        </p:nvSpPr>
        <p:spPr>
          <a:xfrm>
            <a:off x="7125793"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8" name="ZoneTexte 17">
            <a:extLst>
              <a:ext uri="{FF2B5EF4-FFF2-40B4-BE49-F238E27FC236}">
                <a16:creationId xmlns:a16="http://schemas.microsoft.com/office/drawing/2014/main" id="{68468E5F-9EDA-72D4-998D-5D393E59B07D}"/>
              </a:ext>
            </a:extLst>
          </p:cNvPr>
          <p:cNvSpPr txBox="1"/>
          <p:nvPr/>
        </p:nvSpPr>
        <p:spPr>
          <a:xfrm>
            <a:off x="11086424" y="4349892"/>
            <a:ext cx="1029511" cy="461665"/>
          </a:xfrm>
          <a:prstGeom prst="rect">
            <a:avLst/>
          </a:prstGeom>
          <a:noFill/>
        </p:spPr>
        <p:txBody>
          <a:bodyPr wrap="square">
            <a:spAutoFit/>
          </a:bodyPr>
          <a:lstStyle/>
          <a:p>
            <a:pPr algn="ctr"/>
            <a:r>
              <a:rPr lang="fr-FR" sz="1200" b="1" dirty="0">
                <a:solidFill>
                  <a:srgbClr val="3494BA"/>
                </a:solidFill>
              </a:rPr>
              <a:t>Amélioration continue</a:t>
            </a:r>
          </a:p>
        </p:txBody>
      </p:sp>
      <p:sp>
        <p:nvSpPr>
          <p:cNvPr id="25" name="Ellipse 24">
            <a:extLst>
              <a:ext uri="{FF2B5EF4-FFF2-40B4-BE49-F238E27FC236}">
                <a16:creationId xmlns:a16="http://schemas.microsoft.com/office/drawing/2014/main" id="{CA35DF88-EAC4-4583-9496-15913E6D8075}"/>
              </a:ext>
            </a:extLst>
          </p:cNvPr>
          <p:cNvSpPr/>
          <p:nvPr/>
        </p:nvSpPr>
        <p:spPr>
          <a:xfrm>
            <a:off x="10791350" y="4511218"/>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32" name="Connecteur droit avec flèche 31">
            <a:extLst>
              <a:ext uri="{FF2B5EF4-FFF2-40B4-BE49-F238E27FC236}">
                <a16:creationId xmlns:a16="http://schemas.microsoft.com/office/drawing/2014/main" id="{711D992C-4CB8-B96C-B7B2-98D3F2F0E133}"/>
              </a:ext>
            </a:extLst>
          </p:cNvPr>
          <p:cNvCxnSpPr>
            <a:cxnSpLocks/>
            <a:stCxn id="4" idx="6"/>
            <a:endCxn id="9" idx="2"/>
          </p:cNvCxnSpPr>
          <p:nvPr/>
        </p:nvCxnSpPr>
        <p:spPr>
          <a:xfrm>
            <a:off x="1071970" y="3346678"/>
            <a:ext cx="1244506" cy="0"/>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Connecteur droit avec flèche 41">
            <a:extLst>
              <a:ext uri="{FF2B5EF4-FFF2-40B4-BE49-F238E27FC236}">
                <a16:creationId xmlns:a16="http://schemas.microsoft.com/office/drawing/2014/main" id="{42110F4E-B434-43FB-9E2F-BEA5D59B1CF0}"/>
              </a:ext>
            </a:extLst>
          </p:cNvPr>
          <p:cNvCxnSpPr>
            <a:cxnSpLocks/>
            <a:stCxn id="9" idx="6"/>
            <a:endCxn id="11" idx="2"/>
          </p:cNvCxnSpPr>
          <p:nvPr/>
        </p:nvCxnSpPr>
        <p:spPr>
          <a:xfrm>
            <a:off x="2586442" y="3346678"/>
            <a:ext cx="1414872" cy="0"/>
          </a:xfrm>
          <a:prstGeom prst="straightConnector1">
            <a:avLst/>
          </a:prstGeom>
          <a:ln w="381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8" name="Connecteur droit avec flèche 47">
            <a:extLst>
              <a:ext uri="{FF2B5EF4-FFF2-40B4-BE49-F238E27FC236}">
                <a16:creationId xmlns:a16="http://schemas.microsoft.com/office/drawing/2014/main" id="{01B44626-9B9D-E925-F76F-9BC6443A3C4E}"/>
              </a:ext>
            </a:extLst>
          </p:cNvPr>
          <p:cNvCxnSpPr>
            <a:cxnSpLocks/>
            <a:stCxn id="11" idx="6"/>
            <a:endCxn id="13" idx="2"/>
          </p:cNvCxnSpPr>
          <p:nvPr/>
        </p:nvCxnSpPr>
        <p:spPr>
          <a:xfrm>
            <a:off x="4271280" y="3346678"/>
            <a:ext cx="1290233" cy="0"/>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8" name="Connecteur droit avec flèche 57">
            <a:extLst>
              <a:ext uri="{FF2B5EF4-FFF2-40B4-BE49-F238E27FC236}">
                <a16:creationId xmlns:a16="http://schemas.microsoft.com/office/drawing/2014/main" id="{B3049303-0C53-64ED-92CA-A805CB4B517E}"/>
              </a:ext>
            </a:extLst>
          </p:cNvPr>
          <p:cNvCxnSpPr>
            <a:cxnSpLocks/>
            <a:stCxn id="13" idx="6"/>
            <a:endCxn id="17" idx="2"/>
          </p:cNvCxnSpPr>
          <p:nvPr/>
        </p:nvCxnSpPr>
        <p:spPr>
          <a:xfrm>
            <a:off x="5831479" y="3346678"/>
            <a:ext cx="1294314" cy="0"/>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0" name="Connecteur droit avec flèche 89">
            <a:extLst>
              <a:ext uri="{FF2B5EF4-FFF2-40B4-BE49-F238E27FC236}">
                <a16:creationId xmlns:a16="http://schemas.microsoft.com/office/drawing/2014/main" id="{EB6B729B-31AB-C286-CD5F-CA58A5136869}"/>
              </a:ext>
            </a:extLst>
          </p:cNvPr>
          <p:cNvCxnSpPr>
            <a:cxnSpLocks/>
            <a:stCxn id="17" idx="6"/>
            <a:endCxn id="158" idx="2"/>
          </p:cNvCxnSpPr>
          <p:nvPr/>
        </p:nvCxnSpPr>
        <p:spPr>
          <a:xfrm>
            <a:off x="7395759" y="3346678"/>
            <a:ext cx="2479765" cy="0"/>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3" name="Ellipse 122">
            <a:extLst>
              <a:ext uri="{FF2B5EF4-FFF2-40B4-BE49-F238E27FC236}">
                <a16:creationId xmlns:a16="http://schemas.microsoft.com/office/drawing/2014/main" id="{ED7064E9-95B8-8C4A-B3AD-4323BBBA5335}"/>
              </a:ext>
            </a:extLst>
          </p:cNvPr>
          <p:cNvSpPr/>
          <p:nvPr/>
        </p:nvSpPr>
        <p:spPr>
          <a:xfrm>
            <a:off x="9897292" y="5308923"/>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127" name="Connecteur droit avec flèche 126">
            <a:extLst>
              <a:ext uri="{FF2B5EF4-FFF2-40B4-BE49-F238E27FC236}">
                <a16:creationId xmlns:a16="http://schemas.microsoft.com/office/drawing/2014/main" id="{287F8D90-0C5F-D47F-01C3-8FC0D85C7631}"/>
              </a:ext>
            </a:extLst>
          </p:cNvPr>
          <p:cNvCxnSpPr>
            <a:cxnSpLocks/>
            <a:stCxn id="123" idx="6"/>
            <a:endCxn id="25" idx="3"/>
          </p:cNvCxnSpPr>
          <p:nvPr/>
        </p:nvCxnSpPr>
        <p:spPr>
          <a:xfrm flipV="1">
            <a:off x="10167258" y="4741648"/>
            <a:ext cx="663628" cy="70225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2" name="ZoneTexte 141">
            <a:extLst>
              <a:ext uri="{FF2B5EF4-FFF2-40B4-BE49-F238E27FC236}">
                <a16:creationId xmlns:a16="http://schemas.microsoft.com/office/drawing/2014/main" id="{E852FE0B-708E-80F2-89D1-3B158050CDD0}"/>
              </a:ext>
            </a:extLst>
          </p:cNvPr>
          <p:cNvSpPr txBox="1"/>
          <p:nvPr/>
        </p:nvSpPr>
        <p:spPr>
          <a:xfrm>
            <a:off x="10177233" y="5323525"/>
            <a:ext cx="1206823" cy="461665"/>
          </a:xfrm>
          <a:prstGeom prst="rect">
            <a:avLst/>
          </a:prstGeom>
          <a:noFill/>
        </p:spPr>
        <p:txBody>
          <a:bodyPr wrap="square">
            <a:spAutoFit/>
          </a:bodyPr>
          <a:lstStyle/>
          <a:p>
            <a:pPr algn="ctr"/>
            <a:r>
              <a:rPr lang="fr-FR" sz="1200" b="1" dirty="0">
                <a:solidFill>
                  <a:srgbClr val="3494BA"/>
                </a:solidFill>
              </a:rPr>
              <a:t>Restructuration de fond</a:t>
            </a:r>
          </a:p>
        </p:txBody>
      </p:sp>
      <p:sp>
        <p:nvSpPr>
          <p:cNvPr id="158" name="Ellipse 157">
            <a:extLst>
              <a:ext uri="{FF2B5EF4-FFF2-40B4-BE49-F238E27FC236}">
                <a16:creationId xmlns:a16="http://schemas.microsoft.com/office/drawing/2014/main" id="{F606CDF9-4C40-0C4D-6275-168D0960EFCC}"/>
              </a:ext>
            </a:extLst>
          </p:cNvPr>
          <p:cNvSpPr/>
          <p:nvPr/>
        </p:nvSpPr>
        <p:spPr>
          <a:xfrm>
            <a:off x="9875524"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166" name="Connecteur droit avec flèche 165">
            <a:extLst>
              <a:ext uri="{FF2B5EF4-FFF2-40B4-BE49-F238E27FC236}">
                <a16:creationId xmlns:a16="http://schemas.microsoft.com/office/drawing/2014/main" id="{747A3102-45B8-2080-FAF2-7521808A01ED}"/>
              </a:ext>
            </a:extLst>
          </p:cNvPr>
          <p:cNvCxnSpPr>
            <a:cxnSpLocks/>
            <a:stCxn id="25" idx="1"/>
            <a:endCxn id="158" idx="5"/>
          </p:cNvCxnSpPr>
          <p:nvPr/>
        </p:nvCxnSpPr>
        <p:spPr>
          <a:xfrm flipH="1" flipV="1">
            <a:off x="10105954" y="3442125"/>
            <a:ext cx="724932" cy="1108629"/>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1" name="Connecteur droit avec flèche 170">
            <a:extLst>
              <a:ext uri="{FF2B5EF4-FFF2-40B4-BE49-F238E27FC236}">
                <a16:creationId xmlns:a16="http://schemas.microsoft.com/office/drawing/2014/main" id="{A2AA62B3-FC83-475E-FFB5-B885944B5E28}"/>
              </a:ext>
            </a:extLst>
          </p:cNvPr>
          <p:cNvCxnSpPr>
            <a:cxnSpLocks/>
            <a:stCxn id="123" idx="0"/>
            <a:endCxn id="158" idx="4"/>
          </p:cNvCxnSpPr>
          <p:nvPr/>
        </p:nvCxnSpPr>
        <p:spPr>
          <a:xfrm flipH="1" flipV="1">
            <a:off x="10010507" y="3481661"/>
            <a:ext cx="21768" cy="1827262"/>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7" name="ZoneTexte 186">
            <a:extLst>
              <a:ext uri="{FF2B5EF4-FFF2-40B4-BE49-F238E27FC236}">
                <a16:creationId xmlns:a16="http://schemas.microsoft.com/office/drawing/2014/main" id="{7B7E05E1-3EDD-A6AC-6699-FB72CF33D4ED}"/>
              </a:ext>
            </a:extLst>
          </p:cNvPr>
          <p:cNvSpPr txBox="1"/>
          <p:nvPr/>
        </p:nvSpPr>
        <p:spPr>
          <a:xfrm>
            <a:off x="9060006" y="3492300"/>
            <a:ext cx="854800" cy="461665"/>
          </a:xfrm>
          <a:prstGeom prst="rect">
            <a:avLst/>
          </a:prstGeom>
          <a:solidFill>
            <a:schemeClr val="bg1"/>
          </a:solidFill>
          <a:ln>
            <a:solidFill>
              <a:srgbClr val="ED7D31"/>
            </a:solidFill>
          </a:ln>
        </p:spPr>
        <p:txBody>
          <a:bodyPr wrap="square">
            <a:spAutoFit/>
          </a:bodyPr>
          <a:lstStyle/>
          <a:p>
            <a:pPr algn="ctr"/>
            <a:r>
              <a:rPr lang="fr-FR" sz="1200" b="1" dirty="0">
                <a:solidFill>
                  <a:srgbClr val="ED7D31"/>
                </a:solidFill>
              </a:rPr>
              <a:t>Cœur d’activités</a:t>
            </a:r>
          </a:p>
        </p:txBody>
      </p:sp>
      <p:cxnSp>
        <p:nvCxnSpPr>
          <p:cNvPr id="204" name="Connecteur droit avec flèche 203">
            <a:extLst>
              <a:ext uri="{FF2B5EF4-FFF2-40B4-BE49-F238E27FC236}">
                <a16:creationId xmlns:a16="http://schemas.microsoft.com/office/drawing/2014/main" id="{EC89855A-CD2F-8096-277C-0A1BB1DEE69B}"/>
              </a:ext>
            </a:extLst>
          </p:cNvPr>
          <p:cNvCxnSpPr>
            <a:cxnSpLocks/>
          </p:cNvCxnSpPr>
          <p:nvPr/>
        </p:nvCxnSpPr>
        <p:spPr>
          <a:xfrm flipV="1">
            <a:off x="6062388" y="982273"/>
            <a:ext cx="1344606" cy="10731"/>
          </a:xfrm>
          <a:prstGeom prst="straightConnector1">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09" name="Connecteur droit avec flèche 208">
            <a:extLst>
              <a:ext uri="{FF2B5EF4-FFF2-40B4-BE49-F238E27FC236}">
                <a16:creationId xmlns:a16="http://schemas.microsoft.com/office/drawing/2014/main" id="{C5AD4BC8-94E4-061C-22B2-399476086177}"/>
              </a:ext>
            </a:extLst>
          </p:cNvPr>
          <p:cNvCxnSpPr>
            <a:cxnSpLocks/>
            <a:stCxn id="9" idx="4"/>
          </p:cNvCxnSpPr>
          <p:nvPr/>
        </p:nvCxnSpPr>
        <p:spPr>
          <a:xfrm>
            <a:off x="2451459" y="3481661"/>
            <a:ext cx="9530" cy="860847"/>
          </a:xfrm>
          <a:prstGeom prst="straightConnector1">
            <a:avLst/>
          </a:prstGeom>
          <a:ln w="38100">
            <a:solidFill>
              <a:schemeClr val="bg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213" name="Connecteur droit avec flèche 212">
            <a:extLst>
              <a:ext uri="{FF2B5EF4-FFF2-40B4-BE49-F238E27FC236}">
                <a16:creationId xmlns:a16="http://schemas.microsoft.com/office/drawing/2014/main" id="{27183AE7-DC90-D34A-3270-AB8BFBEB6BFD}"/>
              </a:ext>
            </a:extLst>
          </p:cNvPr>
          <p:cNvCxnSpPr>
            <a:cxnSpLocks/>
            <a:stCxn id="11" idx="4"/>
          </p:cNvCxnSpPr>
          <p:nvPr/>
        </p:nvCxnSpPr>
        <p:spPr>
          <a:xfrm>
            <a:off x="4136297" y="3481661"/>
            <a:ext cx="8919" cy="863008"/>
          </a:xfrm>
          <a:prstGeom prst="straightConnector1">
            <a:avLst/>
          </a:prstGeom>
          <a:ln w="38100">
            <a:solidFill>
              <a:schemeClr val="bg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33" name="ZoneTexte 232">
            <a:extLst>
              <a:ext uri="{FF2B5EF4-FFF2-40B4-BE49-F238E27FC236}">
                <a16:creationId xmlns:a16="http://schemas.microsoft.com/office/drawing/2014/main" id="{07B40ECC-69A0-FCDD-AA74-A56F9F568467}"/>
              </a:ext>
            </a:extLst>
          </p:cNvPr>
          <p:cNvSpPr txBox="1"/>
          <p:nvPr/>
        </p:nvSpPr>
        <p:spPr>
          <a:xfrm>
            <a:off x="3374566" y="3632416"/>
            <a:ext cx="861689" cy="600164"/>
          </a:xfrm>
          <a:prstGeom prst="rect">
            <a:avLst/>
          </a:prstGeom>
          <a:noFill/>
        </p:spPr>
        <p:txBody>
          <a:bodyPr wrap="square">
            <a:spAutoFit/>
          </a:bodyPr>
          <a:lstStyle/>
          <a:p>
            <a:pPr algn="ctr"/>
            <a:r>
              <a:rPr lang="fr-FR" sz="1100" i="1" dirty="0">
                <a:solidFill>
                  <a:schemeClr val="bg1">
                    <a:lumMod val="50000"/>
                  </a:schemeClr>
                </a:solidFill>
              </a:rPr>
              <a:t>Approche réunion suffisante</a:t>
            </a:r>
          </a:p>
        </p:txBody>
      </p:sp>
      <p:sp>
        <p:nvSpPr>
          <p:cNvPr id="234" name="ZoneTexte 233">
            <a:extLst>
              <a:ext uri="{FF2B5EF4-FFF2-40B4-BE49-F238E27FC236}">
                <a16:creationId xmlns:a16="http://schemas.microsoft.com/office/drawing/2014/main" id="{65EEA440-3F68-A810-2AD4-7C2714EC1390}"/>
              </a:ext>
            </a:extLst>
          </p:cNvPr>
          <p:cNvSpPr txBox="1"/>
          <p:nvPr/>
        </p:nvSpPr>
        <p:spPr>
          <a:xfrm>
            <a:off x="1648093" y="3628370"/>
            <a:ext cx="861689" cy="600164"/>
          </a:xfrm>
          <a:prstGeom prst="rect">
            <a:avLst/>
          </a:prstGeom>
          <a:noFill/>
        </p:spPr>
        <p:txBody>
          <a:bodyPr wrap="square">
            <a:spAutoFit/>
          </a:bodyPr>
          <a:lstStyle/>
          <a:p>
            <a:pPr algn="ctr"/>
            <a:r>
              <a:rPr lang="fr-FR" sz="1100" i="1" dirty="0">
                <a:solidFill>
                  <a:schemeClr val="bg1">
                    <a:lumMod val="50000"/>
                  </a:schemeClr>
                </a:solidFill>
              </a:rPr>
              <a:t>Approche </a:t>
            </a:r>
            <a:r>
              <a:rPr lang="fr-FR" sz="1100" i="1" dirty="0" err="1">
                <a:solidFill>
                  <a:schemeClr val="bg1">
                    <a:lumMod val="50000"/>
                  </a:schemeClr>
                </a:solidFill>
              </a:rPr>
              <a:t>individuellesuffisante</a:t>
            </a:r>
            <a:endParaRPr lang="fr-FR" sz="1100" i="1" dirty="0">
              <a:solidFill>
                <a:schemeClr val="bg1">
                  <a:lumMod val="50000"/>
                </a:schemeClr>
              </a:solidFill>
            </a:endParaRPr>
          </a:p>
        </p:txBody>
      </p:sp>
      <p:cxnSp>
        <p:nvCxnSpPr>
          <p:cNvPr id="24" name="Connecteur droit avec flèche 23">
            <a:extLst>
              <a:ext uri="{FF2B5EF4-FFF2-40B4-BE49-F238E27FC236}">
                <a16:creationId xmlns:a16="http://schemas.microsoft.com/office/drawing/2014/main" id="{B32A11F1-B515-D0C0-298F-C4B0B9A44F87}"/>
              </a:ext>
            </a:extLst>
          </p:cNvPr>
          <p:cNvCxnSpPr>
            <a:cxnSpLocks/>
            <a:stCxn id="123" idx="4"/>
          </p:cNvCxnSpPr>
          <p:nvPr/>
        </p:nvCxnSpPr>
        <p:spPr>
          <a:xfrm>
            <a:off x="10032275" y="5578889"/>
            <a:ext cx="10293" cy="493889"/>
          </a:xfrm>
          <a:prstGeom prst="straightConnector1">
            <a:avLst/>
          </a:prstGeom>
          <a:ln w="38100">
            <a:solidFill>
              <a:schemeClr val="bg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0" name="ZoneTexte 29">
            <a:extLst>
              <a:ext uri="{FF2B5EF4-FFF2-40B4-BE49-F238E27FC236}">
                <a16:creationId xmlns:a16="http://schemas.microsoft.com/office/drawing/2014/main" id="{CE8B7A96-5D59-F9A5-CCEB-4C2DFAFEF485}"/>
              </a:ext>
            </a:extLst>
          </p:cNvPr>
          <p:cNvSpPr txBox="1"/>
          <p:nvPr/>
        </p:nvSpPr>
        <p:spPr>
          <a:xfrm>
            <a:off x="9251271" y="5615107"/>
            <a:ext cx="861689" cy="261610"/>
          </a:xfrm>
          <a:prstGeom prst="rect">
            <a:avLst/>
          </a:prstGeom>
          <a:noFill/>
        </p:spPr>
        <p:txBody>
          <a:bodyPr wrap="square">
            <a:spAutoFit/>
          </a:bodyPr>
          <a:lstStyle/>
          <a:p>
            <a:pPr algn="ctr"/>
            <a:r>
              <a:rPr lang="fr-FR" sz="1100" i="1" dirty="0">
                <a:solidFill>
                  <a:schemeClr val="bg1">
                    <a:lumMod val="50000"/>
                  </a:schemeClr>
                </a:solidFill>
              </a:rPr>
              <a:t>Fermeture</a:t>
            </a:r>
          </a:p>
        </p:txBody>
      </p:sp>
      <p:pic>
        <p:nvPicPr>
          <p:cNvPr id="37" name="Graphique 36" descr="Bécher avec un remplissage uni">
            <a:extLst>
              <a:ext uri="{FF2B5EF4-FFF2-40B4-BE49-F238E27FC236}">
                <a16:creationId xmlns:a16="http://schemas.microsoft.com/office/drawing/2014/main" id="{A7CBEB96-07B4-6F1F-AE85-E7D4D652BA2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720137" y="774094"/>
            <a:ext cx="342251" cy="342251"/>
          </a:xfrm>
          <a:prstGeom prst="rect">
            <a:avLst/>
          </a:prstGeom>
        </p:spPr>
      </p:pic>
      <p:sp>
        <p:nvSpPr>
          <p:cNvPr id="36" name="ZoneTexte 35">
            <a:extLst>
              <a:ext uri="{FF2B5EF4-FFF2-40B4-BE49-F238E27FC236}">
                <a16:creationId xmlns:a16="http://schemas.microsoft.com/office/drawing/2014/main" id="{40E4ECA5-0242-421C-722B-97A576175140}"/>
              </a:ext>
            </a:extLst>
          </p:cNvPr>
          <p:cNvSpPr txBox="1"/>
          <p:nvPr/>
        </p:nvSpPr>
        <p:spPr>
          <a:xfrm>
            <a:off x="7436480" y="826524"/>
            <a:ext cx="2319194" cy="307777"/>
          </a:xfrm>
          <a:prstGeom prst="rect">
            <a:avLst/>
          </a:prstGeom>
          <a:noFill/>
        </p:spPr>
        <p:txBody>
          <a:bodyPr wrap="square">
            <a:spAutoFit/>
          </a:bodyPr>
          <a:lstStyle/>
          <a:p>
            <a:r>
              <a:rPr lang="fr-FR" sz="1400" b="1" dirty="0">
                <a:solidFill>
                  <a:schemeClr val="bg1">
                    <a:lumMod val="65000"/>
                  </a:schemeClr>
                </a:solidFill>
              </a:rPr>
              <a:t>Parcours du test terrain</a:t>
            </a:r>
          </a:p>
        </p:txBody>
      </p:sp>
      <p:cxnSp>
        <p:nvCxnSpPr>
          <p:cNvPr id="3" name="Connecteur droit avec flèche 2">
            <a:extLst>
              <a:ext uri="{FF2B5EF4-FFF2-40B4-BE49-F238E27FC236}">
                <a16:creationId xmlns:a16="http://schemas.microsoft.com/office/drawing/2014/main" id="{CE4E6376-9A7A-FF10-3478-28267B8A3757}"/>
              </a:ext>
            </a:extLst>
          </p:cNvPr>
          <p:cNvCxnSpPr>
            <a:cxnSpLocks/>
            <a:stCxn id="13" idx="3"/>
            <a:endCxn id="11" idx="5"/>
          </p:cNvCxnSpPr>
          <p:nvPr/>
        </p:nvCxnSpPr>
        <p:spPr>
          <a:xfrm flipH="1">
            <a:off x="4231744" y="3442125"/>
            <a:ext cx="1369305" cy="0"/>
          </a:xfrm>
          <a:prstGeom prst="straightConnector1">
            <a:avLst/>
          </a:prstGeom>
          <a:ln w="38100">
            <a:solidFill>
              <a:schemeClr val="bg1">
                <a:lumMod val="7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6" name="ZoneTexte 5">
            <a:extLst>
              <a:ext uri="{FF2B5EF4-FFF2-40B4-BE49-F238E27FC236}">
                <a16:creationId xmlns:a16="http://schemas.microsoft.com/office/drawing/2014/main" id="{E10776BD-A5A3-4342-DBF0-C69541DE1451}"/>
              </a:ext>
            </a:extLst>
          </p:cNvPr>
          <p:cNvSpPr txBox="1"/>
          <p:nvPr/>
        </p:nvSpPr>
        <p:spPr>
          <a:xfrm>
            <a:off x="4641276" y="3442125"/>
            <a:ext cx="861689" cy="600164"/>
          </a:xfrm>
          <a:prstGeom prst="rect">
            <a:avLst/>
          </a:prstGeom>
          <a:noFill/>
        </p:spPr>
        <p:txBody>
          <a:bodyPr wrap="square">
            <a:spAutoFit/>
          </a:bodyPr>
          <a:lstStyle/>
          <a:p>
            <a:pPr algn="ctr"/>
            <a:r>
              <a:rPr lang="fr-FR" sz="1100" i="1" dirty="0">
                <a:solidFill>
                  <a:schemeClr val="bg1">
                    <a:lumMod val="50000"/>
                  </a:schemeClr>
                </a:solidFill>
              </a:rPr>
              <a:t>Liens durables impossibles</a:t>
            </a:r>
          </a:p>
        </p:txBody>
      </p:sp>
      <p:pic>
        <p:nvPicPr>
          <p:cNvPr id="7" name="Graphique 6" descr="Cœur avec un remplissage uni">
            <a:extLst>
              <a:ext uri="{FF2B5EF4-FFF2-40B4-BE49-F238E27FC236}">
                <a16:creationId xmlns:a16="http://schemas.microsoft.com/office/drawing/2014/main" id="{D24FF5C6-02F3-6D5B-C35F-6017CB1371F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932502" y="3287451"/>
            <a:ext cx="162821" cy="162821"/>
          </a:xfrm>
          <a:prstGeom prst="rect">
            <a:avLst/>
          </a:prstGeom>
        </p:spPr>
      </p:pic>
    </p:spTree>
    <p:extLst>
      <p:ext uri="{BB962C8B-B14F-4D97-AF65-F5344CB8AC3E}">
        <p14:creationId xmlns:p14="http://schemas.microsoft.com/office/powerpoint/2010/main" val="3765982182"/>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786AE10-063A-2FFB-64EB-0AE91CE8A887}"/>
              </a:ext>
            </a:extLst>
          </p:cNvPr>
          <p:cNvSpPr>
            <a:spLocks noGrp="1"/>
          </p:cNvSpPr>
          <p:nvPr>
            <p:ph type="title"/>
          </p:nvPr>
        </p:nvSpPr>
        <p:spPr>
          <a:xfrm>
            <a:off x="802004" y="375856"/>
            <a:ext cx="4551159" cy="915779"/>
          </a:xfrm>
          <a:noFill/>
        </p:spPr>
        <p:txBody>
          <a:bodyPr>
            <a:noAutofit/>
          </a:bodyPr>
          <a:lstStyle/>
          <a:p>
            <a:r>
              <a:rPr lang="fr-FR" sz="2400" dirty="0"/>
              <a:t>Le Cycle de vie « Run » de la communauté</a:t>
            </a:r>
          </a:p>
        </p:txBody>
      </p:sp>
      <p:sp>
        <p:nvSpPr>
          <p:cNvPr id="14" name="ZoneTexte 13">
            <a:extLst>
              <a:ext uri="{FF2B5EF4-FFF2-40B4-BE49-F238E27FC236}">
                <a16:creationId xmlns:a16="http://schemas.microsoft.com/office/drawing/2014/main" id="{A925F4F9-A2A2-59A8-BCA8-B99980CDA5B3}"/>
              </a:ext>
            </a:extLst>
          </p:cNvPr>
          <p:cNvSpPr txBox="1"/>
          <p:nvPr/>
        </p:nvSpPr>
        <p:spPr>
          <a:xfrm>
            <a:off x="8159431" y="2908109"/>
            <a:ext cx="1239693" cy="646331"/>
          </a:xfrm>
          <a:prstGeom prst="rect">
            <a:avLst/>
          </a:prstGeom>
          <a:noFill/>
        </p:spPr>
        <p:txBody>
          <a:bodyPr wrap="square">
            <a:spAutoFit/>
          </a:bodyPr>
          <a:lstStyle/>
          <a:p>
            <a:pPr algn="ctr"/>
            <a:r>
              <a:rPr lang="fr-FR" sz="1200" b="1" dirty="0">
                <a:solidFill>
                  <a:srgbClr val="3494BA"/>
                </a:solidFill>
              </a:rPr>
              <a:t>Mise en commun des ressources</a:t>
            </a:r>
          </a:p>
        </p:txBody>
      </p:sp>
      <p:sp>
        <p:nvSpPr>
          <p:cNvPr id="15" name="Ellipse 14">
            <a:extLst>
              <a:ext uri="{FF2B5EF4-FFF2-40B4-BE49-F238E27FC236}">
                <a16:creationId xmlns:a16="http://schemas.microsoft.com/office/drawing/2014/main" id="{A670DDD4-AC0C-7152-9BDA-CAA68F7075BE}"/>
              </a:ext>
            </a:extLst>
          </p:cNvPr>
          <p:cNvSpPr/>
          <p:nvPr/>
        </p:nvSpPr>
        <p:spPr>
          <a:xfrm>
            <a:off x="8932820" y="3559916"/>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8" name="ZoneTexte 17">
            <a:extLst>
              <a:ext uri="{FF2B5EF4-FFF2-40B4-BE49-F238E27FC236}">
                <a16:creationId xmlns:a16="http://schemas.microsoft.com/office/drawing/2014/main" id="{68468E5F-9EDA-72D4-998D-5D393E59B07D}"/>
              </a:ext>
            </a:extLst>
          </p:cNvPr>
          <p:cNvSpPr txBox="1"/>
          <p:nvPr/>
        </p:nvSpPr>
        <p:spPr>
          <a:xfrm>
            <a:off x="11061315" y="4961760"/>
            <a:ext cx="1029511" cy="461665"/>
          </a:xfrm>
          <a:prstGeom prst="rect">
            <a:avLst/>
          </a:prstGeom>
          <a:noFill/>
        </p:spPr>
        <p:txBody>
          <a:bodyPr wrap="square">
            <a:spAutoFit/>
          </a:bodyPr>
          <a:lstStyle/>
          <a:p>
            <a:pPr algn="ctr"/>
            <a:r>
              <a:rPr lang="fr-FR" sz="1200" b="1" dirty="0">
                <a:solidFill>
                  <a:srgbClr val="3494BA"/>
                </a:solidFill>
              </a:rPr>
              <a:t>Amélioration continue</a:t>
            </a:r>
          </a:p>
        </p:txBody>
      </p:sp>
      <p:sp>
        <p:nvSpPr>
          <p:cNvPr id="19" name="Ellipse 18">
            <a:extLst>
              <a:ext uri="{FF2B5EF4-FFF2-40B4-BE49-F238E27FC236}">
                <a16:creationId xmlns:a16="http://schemas.microsoft.com/office/drawing/2014/main" id="{312FC992-388A-1C52-5705-8198BD7DB27A}"/>
              </a:ext>
            </a:extLst>
          </p:cNvPr>
          <p:cNvSpPr/>
          <p:nvPr/>
        </p:nvSpPr>
        <p:spPr>
          <a:xfrm>
            <a:off x="8945878" y="5057610"/>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5" name="Ellipse 24">
            <a:extLst>
              <a:ext uri="{FF2B5EF4-FFF2-40B4-BE49-F238E27FC236}">
                <a16:creationId xmlns:a16="http://schemas.microsoft.com/office/drawing/2014/main" id="{CA35DF88-EAC4-4583-9496-15913E6D8075}"/>
              </a:ext>
            </a:extLst>
          </p:cNvPr>
          <p:cNvSpPr/>
          <p:nvPr/>
        </p:nvSpPr>
        <p:spPr>
          <a:xfrm>
            <a:off x="10791350" y="5057610"/>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6" name="ZoneTexte 25">
            <a:extLst>
              <a:ext uri="{FF2B5EF4-FFF2-40B4-BE49-F238E27FC236}">
                <a16:creationId xmlns:a16="http://schemas.microsoft.com/office/drawing/2014/main" id="{1D7A8479-F4FE-02B0-B3A7-A392BC1FBE91}"/>
              </a:ext>
            </a:extLst>
          </p:cNvPr>
          <p:cNvSpPr txBox="1"/>
          <p:nvPr/>
        </p:nvSpPr>
        <p:spPr>
          <a:xfrm>
            <a:off x="7702249" y="4958646"/>
            <a:ext cx="1309168" cy="276999"/>
          </a:xfrm>
          <a:prstGeom prst="rect">
            <a:avLst/>
          </a:prstGeom>
          <a:noFill/>
        </p:spPr>
        <p:txBody>
          <a:bodyPr wrap="square">
            <a:spAutoFit/>
          </a:bodyPr>
          <a:lstStyle/>
          <a:p>
            <a:pPr algn="ctr"/>
            <a:r>
              <a:rPr lang="fr-FR" sz="1200" b="1" dirty="0">
                <a:solidFill>
                  <a:srgbClr val="3494BA"/>
                </a:solidFill>
              </a:rPr>
              <a:t>Autonomisation</a:t>
            </a:r>
          </a:p>
        </p:txBody>
      </p:sp>
      <p:sp>
        <p:nvSpPr>
          <p:cNvPr id="27" name="Ellipse 26">
            <a:extLst>
              <a:ext uri="{FF2B5EF4-FFF2-40B4-BE49-F238E27FC236}">
                <a16:creationId xmlns:a16="http://schemas.microsoft.com/office/drawing/2014/main" id="{97FE9FCD-72F7-225C-2DD6-4C81A62159F7}"/>
              </a:ext>
            </a:extLst>
          </p:cNvPr>
          <p:cNvSpPr/>
          <p:nvPr/>
        </p:nvSpPr>
        <p:spPr>
          <a:xfrm>
            <a:off x="10800269" y="3559916"/>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8" name="ZoneTexte 27">
            <a:extLst>
              <a:ext uri="{FF2B5EF4-FFF2-40B4-BE49-F238E27FC236}">
                <a16:creationId xmlns:a16="http://schemas.microsoft.com/office/drawing/2014/main" id="{6C9A10ED-B7E8-81C3-A514-257D3EC70968}"/>
              </a:ext>
            </a:extLst>
          </p:cNvPr>
          <p:cNvSpPr txBox="1"/>
          <p:nvPr/>
        </p:nvSpPr>
        <p:spPr>
          <a:xfrm>
            <a:off x="11028198" y="3477708"/>
            <a:ext cx="1124831" cy="646331"/>
          </a:xfrm>
          <a:prstGeom prst="rect">
            <a:avLst/>
          </a:prstGeom>
          <a:noFill/>
        </p:spPr>
        <p:txBody>
          <a:bodyPr wrap="square">
            <a:spAutoFit/>
          </a:bodyPr>
          <a:lstStyle/>
          <a:p>
            <a:pPr algn="ctr"/>
            <a:r>
              <a:rPr lang="fr-FR" sz="1200" b="1" dirty="0">
                <a:solidFill>
                  <a:srgbClr val="3494BA"/>
                </a:solidFill>
              </a:rPr>
              <a:t>Renforcement des liens intérieurs</a:t>
            </a:r>
          </a:p>
        </p:txBody>
      </p:sp>
      <p:sp>
        <p:nvSpPr>
          <p:cNvPr id="29" name="Ellipse 28">
            <a:extLst>
              <a:ext uri="{FF2B5EF4-FFF2-40B4-BE49-F238E27FC236}">
                <a16:creationId xmlns:a16="http://schemas.microsoft.com/office/drawing/2014/main" id="{D03657F9-E94C-69A8-52E4-E48D5518EF71}"/>
              </a:ext>
            </a:extLst>
          </p:cNvPr>
          <p:cNvSpPr/>
          <p:nvPr/>
        </p:nvSpPr>
        <p:spPr>
          <a:xfrm>
            <a:off x="9866544" y="2278823"/>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96" name="Connecteur droit avec flèche 95">
            <a:extLst>
              <a:ext uri="{FF2B5EF4-FFF2-40B4-BE49-F238E27FC236}">
                <a16:creationId xmlns:a16="http://schemas.microsoft.com/office/drawing/2014/main" id="{B2D91C2C-F9DC-E93B-A559-C58B46311A77}"/>
              </a:ext>
            </a:extLst>
          </p:cNvPr>
          <p:cNvCxnSpPr>
            <a:cxnSpLocks/>
            <a:stCxn id="27" idx="4"/>
            <a:endCxn id="25" idx="0"/>
          </p:cNvCxnSpPr>
          <p:nvPr/>
        </p:nvCxnSpPr>
        <p:spPr>
          <a:xfrm flipH="1">
            <a:off x="10926333" y="3829882"/>
            <a:ext cx="8919" cy="122772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1" name="Connecteur droit avec flèche 100">
            <a:extLst>
              <a:ext uri="{FF2B5EF4-FFF2-40B4-BE49-F238E27FC236}">
                <a16:creationId xmlns:a16="http://schemas.microsoft.com/office/drawing/2014/main" id="{EA1AE84C-BC34-20B3-B4D6-FC74DD4BB674}"/>
              </a:ext>
            </a:extLst>
          </p:cNvPr>
          <p:cNvCxnSpPr>
            <a:cxnSpLocks/>
            <a:stCxn id="15" idx="6"/>
            <a:endCxn id="27" idx="2"/>
          </p:cNvCxnSpPr>
          <p:nvPr/>
        </p:nvCxnSpPr>
        <p:spPr>
          <a:xfrm>
            <a:off x="9202786" y="3694899"/>
            <a:ext cx="1597483" cy="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4" name="Connecteur droit avec flèche 103">
            <a:extLst>
              <a:ext uri="{FF2B5EF4-FFF2-40B4-BE49-F238E27FC236}">
                <a16:creationId xmlns:a16="http://schemas.microsoft.com/office/drawing/2014/main" id="{2189F1EA-BFA6-162D-BDEC-4AA01FCBC463}"/>
              </a:ext>
            </a:extLst>
          </p:cNvPr>
          <p:cNvCxnSpPr>
            <a:cxnSpLocks/>
            <a:stCxn id="15" idx="4"/>
            <a:endCxn id="19" idx="0"/>
          </p:cNvCxnSpPr>
          <p:nvPr/>
        </p:nvCxnSpPr>
        <p:spPr>
          <a:xfrm>
            <a:off x="9067803" y="3829882"/>
            <a:ext cx="13058" cy="122772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Connecteur droit avec flèche 110">
            <a:extLst>
              <a:ext uri="{FF2B5EF4-FFF2-40B4-BE49-F238E27FC236}">
                <a16:creationId xmlns:a16="http://schemas.microsoft.com/office/drawing/2014/main" id="{6BC056D4-2F3D-32C1-FC45-4CBF4676A639}"/>
              </a:ext>
            </a:extLst>
          </p:cNvPr>
          <p:cNvCxnSpPr>
            <a:cxnSpLocks/>
            <a:stCxn id="15" idx="7"/>
            <a:endCxn id="29" idx="2"/>
          </p:cNvCxnSpPr>
          <p:nvPr/>
        </p:nvCxnSpPr>
        <p:spPr>
          <a:xfrm flipV="1">
            <a:off x="9163250" y="2413806"/>
            <a:ext cx="703294" cy="1185646"/>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ZoneTexte 113">
            <a:extLst>
              <a:ext uri="{FF2B5EF4-FFF2-40B4-BE49-F238E27FC236}">
                <a16:creationId xmlns:a16="http://schemas.microsoft.com/office/drawing/2014/main" id="{2BCE24EA-E006-55B4-45A1-70D19FBCC6D0}"/>
              </a:ext>
            </a:extLst>
          </p:cNvPr>
          <p:cNvSpPr txBox="1"/>
          <p:nvPr/>
        </p:nvSpPr>
        <p:spPr>
          <a:xfrm>
            <a:off x="9327731" y="1765111"/>
            <a:ext cx="1419363" cy="461665"/>
          </a:xfrm>
          <a:prstGeom prst="rect">
            <a:avLst/>
          </a:prstGeom>
          <a:noFill/>
        </p:spPr>
        <p:txBody>
          <a:bodyPr wrap="square">
            <a:spAutoFit/>
          </a:bodyPr>
          <a:lstStyle/>
          <a:p>
            <a:pPr algn="ctr"/>
            <a:r>
              <a:rPr lang="fr-FR" sz="1200" b="1" dirty="0">
                <a:solidFill>
                  <a:srgbClr val="3494BA"/>
                </a:solidFill>
              </a:rPr>
              <a:t>Communication extérieure</a:t>
            </a:r>
          </a:p>
        </p:txBody>
      </p:sp>
      <p:sp>
        <p:nvSpPr>
          <p:cNvPr id="123" name="Ellipse 122">
            <a:extLst>
              <a:ext uri="{FF2B5EF4-FFF2-40B4-BE49-F238E27FC236}">
                <a16:creationId xmlns:a16="http://schemas.microsoft.com/office/drawing/2014/main" id="{ED7064E9-95B8-8C4A-B3AD-4323BBBA5335}"/>
              </a:ext>
            </a:extLst>
          </p:cNvPr>
          <p:cNvSpPr/>
          <p:nvPr/>
        </p:nvSpPr>
        <p:spPr>
          <a:xfrm>
            <a:off x="9897292" y="5976579"/>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127" name="Connecteur droit avec flèche 126">
            <a:extLst>
              <a:ext uri="{FF2B5EF4-FFF2-40B4-BE49-F238E27FC236}">
                <a16:creationId xmlns:a16="http://schemas.microsoft.com/office/drawing/2014/main" id="{287F8D90-0C5F-D47F-01C3-8FC0D85C7631}"/>
              </a:ext>
            </a:extLst>
          </p:cNvPr>
          <p:cNvCxnSpPr>
            <a:cxnSpLocks/>
            <a:stCxn id="123" idx="6"/>
            <a:endCxn id="25" idx="3"/>
          </p:cNvCxnSpPr>
          <p:nvPr/>
        </p:nvCxnSpPr>
        <p:spPr>
          <a:xfrm flipV="1">
            <a:off x="10167258" y="5288040"/>
            <a:ext cx="663628" cy="823522"/>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0" name="Connecteur droit avec flèche 129">
            <a:extLst>
              <a:ext uri="{FF2B5EF4-FFF2-40B4-BE49-F238E27FC236}">
                <a16:creationId xmlns:a16="http://schemas.microsoft.com/office/drawing/2014/main" id="{61EEC0D5-717E-9AE5-1AD5-C23628190E87}"/>
              </a:ext>
            </a:extLst>
          </p:cNvPr>
          <p:cNvCxnSpPr>
            <a:cxnSpLocks/>
            <a:stCxn id="123" idx="2"/>
            <a:endCxn id="19" idx="5"/>
          </p:cNvCxnSpPr>
          <p:nvPr/>
        </p:nvCxnSpPr>
        <p:spPr>
          <a:xfrm flipH="1" flipV="1">
            <a:off x="9176308" y="5288040"/>
            <a:ext cx="720984" cy="823522"/>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6" name="Connecteur droit avec flèche 135">
            <a:extLst>
              <a:ext uri="{FF2B5EF4-FFF2-40B4-BE49-F238E27FC236}">
                <a16:creationId xmlns:a16="http://schemas.microsoft.com/office/drawing/2014/main" id="{4744B4D4-49DB-5D97-5A74-D223B0AD3B23}"/>
              </a:ext>
            </a:extLst>
          </p:cNvPr>
          <p:cNvCxnSpPr>
            <a:cxnSpLocks/>
            <a:stCxn id="27" idx="0"/>
            <a:endCxn id="29" idx="6"/>
          </p:cNvCxnSpPr>
          <p:nvPr/>
        </p:nvCxnSpPr>
        <p:spPr>
          <a:xfrm flipH="1" flipV="1">
            <a:off x="10136510" y="2413806"/>
            <a:ext cx="798742" cy="114611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9" name="Connecteur droit avec flèche 138">
            <a:extLst>
              <a:ext uri="{FF2B5EF4-FFF2-40B4-BE49-F238E27FC236}">
                <a16:creationId xmlns:a16="http://schemas.microsoft.com/office/drawing/2014/main" id="{E590C561-A8C0-E851-51A4-7FE646F5EC0F}"/>
              </a:ext>
            </a:extLst>
          </p:cNvPr>
          <p:cNvCxnSpPr>
            <a:cxnSpLocks/>
            <a:stCxn id="19" idx="6"/>
            <a:endCxn id="25" idx="2"/>
          </p:cNvCxnSpPr>
          <p:nvPr/>
        </p:nvCxnSpPr>
        <p:spPr>
          <a:xfrm>
            <a:off x="9215844" y="5192593"/>
            <a:ext cx="1575506" cy="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2" name="ZoneTexte 141">
            <a:extLst>
              <a:ext uri="{FF2B5EF4-FFF2-40B4-BE49-F238E27FC236}">
                <a16:creationId xmlns:a16="http://schemas.microsoft.com/office/drawing/2014/main" id="{E852FE0B-708E-80F2-89D1-3B158050CDD0}"/>
              </a:ext>
            </a:extLst>
          </p:cNvPr>
          <p:cNvSpPr txBox="1"/>
          <p:nvPr/>
        </p:nvSpPr>
        <p:spPr>
          <a:xfrm>
            <a:off x="10177233" y="5991181"/>
            <a:ext cx="1206823" cy="461665"/>
          </a:xfrm>
          <a:prstGeom prst="rect">
            <a:avLst/>
          </a:prstGeom>
          <a:noFill/>
        </p:spPr>
        <p:txBody>
          <a:bodyPr wrap="square">
            <a:spAutoFit/>
          </a:bodyPr>
          <a:lstStyle/>
          <a:p>
            <a:pPr algn="ctr"/>
            <a:r>
              <a:rPr lang="fr-FR" sz="1200" b="1" dirty="0">
                <a:solidFill>
                  <a:srgbClr val="3494BA"/>
                </a:solidFill>
              </a:rPr>
              <a:t>Restructuration de fond</a:t>
            </a:r>
          </a:p>
        </p:txBody>
      </p:sp>
      <p:cxnSp>
        <p:nvCxnSpPr>
          <p:cNvPr id="143" name="Connecteur droit avec flèche 142">
            <a:extLst>
              <a:ext uri="{FF2B5EF4-FFF2-40B4-BE49-F238E27FC236}">
                <a16:creationId xmlns:a16="http://schemas.microsoft.com/office/drawing/2014/main" id="{01079B29-F67C-DB1E-0AD6-B2AE52EAEB1F}"/>
              </a:ext>
            </a:extLst>
          </p:cNvPr>
          <p:cNvCxnSpPr>
            <a:cxnSpLocks/>
            <a:stCxn id="15" idx="5"/>
            <a:endCxn id="158" idx="2"/>
          </p:cNvCxnSpPr>
          <p:nvPr/>
        </p:nvCxnSpPr>
        <p:spPr>
          <a:xfrm>
            <a:off x="9163250" y="3790346"/>
            <a:ext cx="723062" cy="751264"/>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6" name="Connecteur droit avec flèche 145">
            <a:extLst>
              <a:ext uri="{FF2B5EF4-FFF2-40B4-BE49-F238E27FC236}">
                <a16:creationId xmlns:a16="http://schemas.microsoft.com/office/drawing/2014/main" id="{FAD56696-0E58-EB61-C743-347F76493510}"/>
              </a:ext>
            </a:extLst>
          </p:cNvPr>
          <p:cNvCxnSpPr>
            <a:cxnSpLocks/>
            <a:stCxn id="19" idx="7"/>
            <a:endCxn id="158" idx="3"/>
          </p:cNvCxnSpPr>
          <p:nvPr/>
        </p:nvCxnSpPr>
        <p:spPr>
          <a:xfrm flipV="1">
            <a:off x="9176308" y="4637057"/>
            <a:ext cx="749540" cy="460089"/>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8" name="Ellipse 157">
            <a:extLst>
              <a:ext uri="{FF2B5EF4-FFF2-40B4-BE49-F238E27FC236}">
                <a16:creationId xmlns:a16="http://schemas.microsoft.com/office/drawing/2014/main" id="{F606CDF9-4C40-0C4D-6275-168D0960EFCC}"/>
              </a:ext>
            </a:extLst>
          </p:cNvPr>
          <p:cNvSpPr/>
          <p:nvPr/>
        </p:nvSpPr>
        <p:spPr>
          <a:xfrm>
            <a:off x="9886312" y="4406627"/>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163" name="Connecteur droit avec flèche 162">
            <a:extLst>
              <a:ext uri="{FF2B5EF4-FFF2-40B4-BE49-F238E27FC236}">
                <a16:creationId xmlns:a16="http://schemas.microsoft.com/office/drawing/2014/main" id="{763A89F4-78F4-51F8-8F18-E620DF8B80F3}"/>
              </a:ext>
            </a:extLst>
          </p:cNvPr>
          <p:cNvCxnSpPr>
            <a:cxnSpLocks/>
            <a:stCxn id="27" idx="3"/>
            <a:endCxn id="158" idx="7"/>
          </p:cNvCxnSpPr>
          <p:nvPr/>
        </p:nvCxnSpPr>
        <p:spPr>
          <a:xfrm flipH="1">
            <a:off x="10116742" y="3790346"/>
            <a:ext cx="723063" cy="655817"/>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6" name="Connecteur droit avec flèche 165">
            <a:extLst>
              <a:ext uri="{FF2B5EF4-FFF2-40B4-BE49-F238E27FC236}">
                <a16:creationId xmlns:a16="http://schemas.microsoft.com/office/drawing/2014/main" id="{747A3102-45B8-2080-FAF2-7521808A01ED}"/>
              </a:ext>
            </a:extLst>
          </p:cNvPr>
          <p:cNvCxnSpPr>
            <a:cxnSpLocks/>
            <a:stCxn id="25" idx="1"/>
            <a:endCxn id="158" idx="5"/>
          </p:cNvCxnSpPr>
          <p:nvPr/>
        </p:nvCxnSpPr>
        <p:spPr>
          <a:xfrm flipH="1" flipV="1">
            <a:off x="10116742" y="4637057"/>
            <a:ext cx="714144" cy="460089"/>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1" name="Connecteur droit avec flèche 170">
            <a:extLst>
              <a:ext uri="{FF2B5EF4-FFF2-40B4-BE49-F238E27FC236}">
                <a16:creationId xmlns:a16="http://schemas.microsoft.com/office/drawing/2014/main" id="{A2AA62B3-FC83-475E-FFB5-B885944B5E28}"/>
              </a:ext>
            </a:extLst>
          </p:cNvPr>
          <p:cNvCxnSpPr>
            <a:cxnSpLocks/>
            <a:stCxn id="123" idx="0"/>
            <a:endCxn id="158" idx="4"/>
          </p:cNvCxnSpPr>
          <p:nvPr/>
        </p:nvCxnSpPr>
        <p:spPr>
          <a:xfrm flipH="1" flipV="1">
            <a:off x="10021295" y="4676593"/>
            <a:ext cx="10980" cy="1299986"/>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1" name="Connecteur droit avec flèche 180">
            <a:extLst>
              <a:ext uri="{FF2B5EF4-FFF2-40B4-BE49-F238E27FC236}">
                <a16:creationId xmlns:a16="http://schemas.microsoft.com/office/drawing/2014/main" id="{CAD4B615-CA52-F9E4-ACBC-EAA4D766387A}"/>
              </a:ext>
            </a:extLst>
          </p:cNvPr>
          <p:cNvCxnSpPr>
            <a:cxnSpLocks/>
            <a:stCxn id="29" idx="4"/>
            <a:endCxn id="158" idx="0"/>
          </p:cNvCxnSpPr>
          <p:nvPr/>
        </p:nvCxnSpPr>
        <p:spPr>
          <a:xfrm>
            <a:off x="10001527" y="2548789"/>
            <a:ext cx="19768" cy="185783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7" name="ZoneTexte 186">
            <a:extLst>
              <a:ext uri="{FF2B5EF4-FFF2-40B4-BE49-F238E27FC236}">
                <a16:creationId xmlns:a16="http://schemas.microsoft.com/office/drawing/2014/main" id="{7B7E05E1-3EDD-A6AC-6699-FB72CF33D4ED}"/>
              </a:ext>
            </a:extLst>
          </p:cNvPr>
          <p:cNvSpPr txBox="1"/>
          <p:nvPr/>
        </p:nvSpPr>
        <p:spPr>
          <a:xfrm>
            <a:off x="9593895" y="4816581"/>
            <a:ext cx="854800" cy="461665"/>
          </a:xfrm>
          <a:prstGeom prst="rect">
            <a:avLst/>
          </a:prstGeom>
          <a:solidFill>
            <a:schemeClr val="bg1"/>
          </a:solidFill>
          <a:ln>
            <a:solidFill>
              <a:srgbClr val="ED7D31"/>
            </a:solidFill>
          </a:ln>
        </p:spPr>
        <p:txBody>
          <a:bodyPr wrap="square">
            <a:spAutoFit/>
          </a:bodyPr>
          <a:lstStyle/>
          <a:p>
            <a:pPr algn="ctr"/>
            <a:r>
              <a:rPr lang="fr-FR" sz="1200" b="1" dirty="0">
                <a:solidFill>
                  <a:srgbClr val="ED7D31"/>
                </a:solidFill>
              </a:rPr>
              <a:t>Cœur d’activités</a:t>
            </a:r>
          </a:p>
        </p:txBody>
      </p:sp>
      <p:cxnSp>
        <p:nvCxnSpPr>
          <p:cNvPr id="207" name="Connecteur droit avec flèche 206">
            <a:extLst>
              <a:ext uri="{FF2B5EF4-FFF2-40B4-BE49-F238E27FC236}">
                <a16:creationId xmlns:a16="http://schemas.microsoft.com/office/drawing/2014/main" id="{0CB93498-1A5A-325D-3103-720C668CEED0}"/>
              </a:ext>
            </a:extLst>
          </p:cNvPr>
          <p:cNvCxnSpPr>
            <a:cxnSpLocks/>
          </p:cNvCxnSpPr>
          <p:nvPr/>
        </p:nvCxnSpPr>
        <p:spPr>
          <a:xfrm flipV="1">
            <a:off x="6062388" y="1292317"/>
            <a:ext cx="1344606" cy="10731"/>
          </a:xfrm>
          <a:prstGeom prst="straightConnector1">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pic>
        <p:nvPicPr>
          <p:cNvPr id="40" name="Graphique 39" descr="Amélioration continue avec un remplissage uni">
            <a:extLst>
              <a:ext uri="{FF2B5EF4-FFF2-40B4-BE49-F238E27FC236}">
                <a16:creationId xmlns:a16="http://schemas.microsoft.com/office/drawing/2014/main" id="{00703472-97C3-07A4-F4AF-275F7D475B4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610181" y="1077563"/>
            <a:ext cx="419186" cy="419186"/>
          </a:xfrm>
          <a:prstGeom prst="rect">
            <a:avLst/>
          </a:prstGeom>
        </p:spPr>
      </p:pic>
      <p:sp>
        <p:nvSpPr>
          <p:cNvPr id="38" name="ZoneTexte 37">
            <a:extLst>
              <a:ext uri="{FF2B5EF4-FFF2-40B4-BE49-F238E27FC236}">
                <a16:creationId xmlns:a16="http://schemas.microsoft.com/office/drawing/2014/main" id="{140E578D-CB16-57A9-ED26-A223539BF53E}"/>
              </a:ext>
            </a:extLst>
          </p:cNvPr>
          <p:cNvSpPr txBox="1"/>
          <p:nvPr/>
        </p:nvSpPr>
        <p:spPr>
          <a:xfrm>
            <a:off x="7436480" y="1134589"/>
            <a:ext cx="2424922" cy="307777"/>
          </a:xfrm>
          <a:prstGeom prst="rect">
            <a:avLst/>
          </a:prstGeom>
          <a:noFill/>
        </p:spPr>
        <p:txBody>
          <a:bodyPr wrap="square">
            <a:spAutoFit/>
          </a:bodyPr>
          <a:lstStyle/>
          <a:p>
            <a:r>
              <a:rPr lang="fr-FR" sz="1400" b="1" dirty="0">
                <a:solidFill>
                  <a:srgbClr val="3494BA"/>
                </a:solidFill>
              </a:rPr>
              <a:t>Cycle de vie « Run »</a:t>
            </a:r>
          </a:p>
        </p:txBody>
      </p:sp>
      <p:pic>
        <p:nvPicPr>
          <p:cNvPr id="3" name="Graphique 2" descr="Cœur avec un remplissage uni">
            <a:extLst>
              <a:ext uri="{FF2B5EF4-FFF2-40B4-BE49-F238E27FC236}">
                <a16:creationId xmlns:a16="http://schemas.microsoft.com/office/drawing/2014/main" id="{C3E5D26A-8155-ABF1-3480-F3B0E889E3F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941211" y="4480531"/>
            <a:ext cx="162821" cy="162821"/>
          </a:xfrm>
          <a:prstGeom prst="rect">
            <a:avLst/>
          </a:prstGeom>
        </p:spPr>
      </p:pic>
    </p:spTree>
    <p:extLst>
      <p:ext uri="{BB962C8B-B14F-4D97-AF65-F5344CB8AC3E}">
        <p14:creationId xmlns:p14="http://schemas.microsoft.com/office/powerpoint/2010/main" val="3533633133"/>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1457477525"/>
              </p:ext>
            </p:extLst>
          </p:nvPr>
        </p:nvGraphicFramePr>
        <p:xfrm>
          <a:off x="854867" y="761994"/>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Etape de Communication extérieure</a:t>
                      </a:r>
                    </a:p>
                    <a:p>
                      <a:r>
                        <a:rPr lang="fr-FR" i="1" dirty="0"/>
                        <a:t>« Communiquer à propos de la communauté vers les parties prenantes extérieures »</a:t>
                      </a:r>
                    </a:p>
                  </a:txBody>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grpSp>
        <p:nvGrpSpPr>
          <p:cNvPr id="314" name="Groupe 313">
            <a:extLst>
              <a:ext uri="{FF2B5EF4-FFF2-40B4-BE49-F238E27FC236}">
                <a16:creationId xmlns:a16="http://schemas.microsoft.com/office/drawing/2014/main" id="{15BC0BF6-E1A1-6E07-BF27-5320A7ED571B}"/>
              </a:ext>
            </a:extLst>
          </p:cNvPr>
          <p:cNvGrpSpPr/>
          <p:nvPr/>
        </p:nvGrpSpPr>
        <p:grpSpPr>
          <a:xfrm>
            <a:off x="10178467" y="4276097"/>
            <a:ext cx="972075" cy="840541"/>
            <a:chOff x="3608539" y="3305280"/>
            <a:chExt cx="2678978" cy="2316478"/>
          </a:xfrm>
        </p:grpSpPr>
        <p:pic>
          <p:nvPicPr>
            <p:cNvPr id="317" name="Graphique 316" descr="Bureau avec un remplissage uni">
              <a:extLst>
                <a:ext uri="{FF2B5EF4-FFF2-40B4-BE49-F238E27FC236}">
                  <a16:creationId xmlns:a16="http://schemas.microsoft.com/office/drawing/2014/main" id="{A9192B52-5BBC-2D08-5B3A-4D5DB1892AA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608539" y="3305280"/>
              <a:ext cx="1211427" cy="1211427"/>
            </a:xfrm>
            <a:prstGeom prst="rect">
              <a:avLst/>
            </a:prstGeom>
          </p:spPr>
        </p:pic>
        <p:pic>
          <p:nvPicPr>
            <p:cNvPr id="318" name="Graphique 317" descr="Travail à domicile avec un remplissage uni">
              <a:extLst>
                <a:ext uri="{FF2B5EF4-FFF2-40B4-BE49-F238E27FC236}">
                  <a16:creationId xmlns:a16="http://schemas.microsoft.com/office/drawing/2014/main" id="{5321B804-4718-893B-1992-6F619F4A0C9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076090" y="3519632"/>
              <a:ext cx="1211427" cy="1211427"/>
            </a:xfrm>
            <a:prstGeom prst="rect">
              <a:avLst/>
            </a:prstGeom>
          </p:spPr>
        </p:pic>
        <p:pic>
          <p:nvPicPr>
            <p:cNvPr id="319" name="Graphique 318" descr="Employée de bureau avec un remplissage uni">
              <a:extLst>
                <a:ext uri="{FF2B5EF4-FFF2-40B4-BE49-F238E27FC236}">
                  <a16:creationId xmlns:a16="http://schemas.microsoft.com/office/drawing/2014/main" id="{B08BE30D-3F26-D8E8-05F4-89AB81FEFDD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993582" y="4059507"/>
              <a:ext cx="914400" cy="914400"/>
            </a:xfrm>
            <a:prstGeom prst="rect">
              <a:avLst/>
            </a:prstGeom>
          </p:spPr>
        </p:pic>
        <p:pic>
          <p:nvPicPr>
            <p:cNvPr id="320" name="Graphique 319" descr="Employé de bureau avec un remplissage uni">
              <a:extLst>
                <a:ext uri="{FF2B5EF4-FFF2-40B4-BE49-F238E27FC236}">
                  <a16:creationId xmlns:a16="http://schemas.microsoft.com/office/drawing/2014/main" id="{15F54091-F9D6-4ACD-F052-82CFC4C3558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063677" y="4707358"/>
              <a:ext cx="914400" cy="914400"/>
            </a:xfrm>
            <a:prstGeom prst="rect">
              <a:avLst/>
            </a:prstGeom>
          </p:spPr>
        </p:pic>
        <p:pic>
          <p:nvPicPr>
            <p:cNvPr id="321" name="Graphique 320" descr="Bulle de discussion contour">
              <a:extLst>
                <a:ext uri="{FF2B5EF4-FFF2-40B4-BE49-F238E27FC236}">
                  <a16:creationId xmlns:a16="http://schemas.microsoft.com/office/drawing/2014/main" id="{4ADC57E2-3DAF-9003-B8C9-4EB2A1361FA9}"/>
                </a:ext>
              </a:extLst>
            </p:cNvPr>
            <p:cNvPicPr>
              <a:picLocks noChangeAspect="1"/>
            </p:cNvPicPr>
            <p:nvPr/>
          </p:nvPicPr>
          <p:blipFill rotWithShape="1">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rcRect t="12903" b="12311"/>
            <a:stretch/>
          </p:blipFill>
          <p:spPr>
            <a:xfrm>
              <a:off x="4951600" y="4547142"/>
              <a:ext cx="451149" cy="365688"/>
            </a:xfrm>
            <a:prstGeom prst="rect">
              <a:avLst/>
            </a:prstGeom>
          </p:spPr>
        </p:pic>
      </p:grpSp>
      <p:sp>
        <p:nvSpPr>
          <p:cNvPr id="468" name="Rectangle 467">
            <a:extLst>
              <a:ext uri="{FF2B5EF4-FFF2-40B4-BE49-F238E27FC236}">
                <a16:creationId xmlns:a16="http://schemas.microsoft.com/office/drawing/2014/main" id="{A7F598DF-3036-AAB3-0D74-03CCCCE875FE}"/>
              </a:ext>
            </a:extLst>
          </p:cNvPr>
          <p:cNvSpPr/>
          <p:nvPr/>
        </p:nvSpPr>
        <p:spPr>
          <a:xfrm>
            <a:off x="5507715" y="5230386"/>
            <a:ext cx="1120155" cy="65042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📅Portes ouvertes de la Communauté</a:t>
            </a:r>
          </a:p>
        </p:txBody>
      </p:sp>
      <p:sp>
        <p:nvSpPr>
          <p:cNvPr id="471" name="Rectangle 470">
            <a:extLst>
              <a:ext uri="{FF2B5EF4-FFF2-40B4-BE49-F238E27FC236}">
                <a16:creationId xmlns:a16="http://schemas.microsoft.com/office/drawing/2014/main" id="{C5F1C520-3875-84A1-4D62-0D64E7399DAB}"/>
              </a:ext>
            </a:extLst>
          </p:cNvPr>
          <p:cNvSpPr/>
          <p:nvPr/>
        </p:nvSpPr>
        <p:spPr>
          <a:xfrm>
            <a:off x="9733076" y="5230386"/>
            <a:ext cx="1293998" cy="68923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Organisation d’immersion dans le quotidien des membres / 📅 Séance d’essai</a:t>
            </a:r>
          </a:p>
        </p:txBody>
      </p:sp>
      <p:sp>
        <p:nvSpPr>
          <p:cNvPr id="472" name="Rectangle 471">
            <a:extLst>
              <a:ext uri="{FF2B5EF4-FFF2-40B4-BE49-F238E27FC236}">
                <a16:creationId xmlns:a16="http://schemas.microsoft.com/office/drawing/2014/main" id="{89D8EFA4-8B72-E2E2-B015-EED5BEF7ADBE}"/>
              </a:ext>
            </a:extLst>
          </p:cNvPr>
          <p:cNvSpPr/>
          <p:nvPr/>
        </p:nvSpPr>
        <p:spPr>
          <a:xfrm>
            <a:off x="1009651" y="5230386"/>
            <a:ext cx="1691631" cy="65042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Retours d’expériences membres </a:t>
            </a:r>
          </a:p>
          <a:p>
            <a:pPr algn="ctr"/>
            <a:r>
              <a:rPr lang="fr-FR" sz="900" dirty="0">
                <a:solidFill>
                  <a:schemeClr val="tx1"/>
                </a:solidFill>
              </a:rPr>
              <a:t> 📅✍️ Mise en avant du parcours, de l’histoire d’un membre</a:t>
            </a:r>
          </a:p>
        </p:txBody>
      </p:sp>
      <p:sp>
        <p:nvSpPr>
          <p:cNvPr id="474" name="Rectangle 473">
            <a:extLst>
              <a:ext uri="{FF2B5EF4-FFF2-40B4-BE49-F238E27FC236}">
                <a16:creationId xmlns:a16="http://schemas.microsoft.com/office/drawing/2014/main" id="{FD5A68C7-9524-A468-7F31-1BD34B6FF286}"/>
              </a:ext>
            </a:extLst>
          </p:cNvPr>
          <p:cNvSpPr/>
          <p:nvPr/>
        </p:nvSpPr>
        <p:spPr>
          <a:xfrm>
            <a:off x="3369383" y="5230386"/>
            <a:ext cx="1281745" cy="65042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Rapport des résultats et effets de la Communauté sur l’entreprise (valeur apportée, </a:t>
            </a:r>
            <a:r>
              <a:rPr lang="fr-FR" sz="900" dirty="0" err="1">
                <a:solidFill>
                  <a:schemeClr val="tx1"/>
                </a:solidFill>
              </a:rPr>
              <a:t>etc</a:t>
            </a:r>
            <a:r>
              <a:rPr lang="fr-FR" sz="900" dirty="0">
                <a:solidFill>
                  <a:schemeClr val="tx1"/>
                </a:solidFill>
              </a:rPr>
              <a:t>)</a:t>
            </a:r>
          </a:p>
        </p:txBody>
      </p:sp>
      <p:sp>
        <p:nvSpPr>
          <p:cNvPr id="2" name="Flèche : droite 1">
            <a:extLst>
              <a:ext uri="{FF2B5EF4-FFF2-40B4-BE49-F238E27FC236}">
                <a16:creationId xmlns:a16="http://schemas.microsoft.com/office/drawing/2014/main" id="{1C2B441F-4820-EE1A-A11B-AF756F27F8C5}"/>
              </a:ext>
            </a:extLst>
          </p:cNvPr>
          <p:cNvSpPr/>
          <p:nvPr/>
        </p:nvSpPr>
        <p:spPr>
          <a:xfrm>
            <a:off x="954216" y="2155012"/>
            <a:ext cx="1967947" cy="1358809"/>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HABITUDE :</a:t>
            </a:r>
          </a:p>
          <a:p>
            <a:pPr algn="ctr"/>
            <a:r>
              <a:rPr lang="fr-FR" sz="1200" dirty="0">
                <a:solidFill>
                  <a:schemeClr val="tx1"/>
                </a:solidFill>
              </a:rPr>
              <a:t>S’habituer à la valeur et la confirmer</a:t>
            </a:r>
          </a:p>
        </p:txBody>
      </p:sp>
      <p:grpSp>
        <p:nvGrpSpPr>
          <p:cNvPr id="6" name="Groupe 5">
            <a:extLst>
              <a:ext uri="{FF2B5EF4-FFF2-40B4-BE49-F238E27FC236}">
                <a16:creationId xmlns:a16="http://schemas.microsoft.com/office/drawing/2014/main" id="{254F5DEB-EC70-1233-A38A-F615EE961D39}"/>
              </a:ext>
            </a:extLst>
          </p:cNvPr>
          <p:cNvGrpSpPr/>
          <p:nvPr/>
        </p:nvGrpSpPr>
        <p:grpSpPr>
          <a:xfrm>
            <a:off x="3380616" y="2220972"/>
            <a:ext cx="1131981" cy="919579"/>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5ED3C2FD-9FC7-6553-4428-3823A6541F72}"/>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D58F1677-D656-C75B-51B0-A271137A61A6}"/>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D6BCE5C4-6DAF-90CA-1156-4DE6758BB1DC}"/>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6C84EDCF-A59C-B4A8-D193-90B0E20AEC7C}"/>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9CEC405D-48C7-C4D3-D620-2D0C61F2D026}"/>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34CC64DA-E7F9-D7AE-F9FF-894DCC8B456F}"/>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3BC48585-0CD6-F7D8-36B3-8F0E59FC6E87}"/>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2BBB3373-C273-5C6A-0A88-8AB41486CEFD}"/>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DD482EC1-6F09-7CBB-3570-57DC0B4C52A4}"/>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C31C6FB9-2FAE-E526-CF92-B076787AC792}"/>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1BCED474-6379-5C7A-22A9-8261539A5DF6}"/>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9856932" y="3429000"/>
              <a:ext cx="336064" cy="336064"/>
            </a:xfrm>
            <a:prstGeom prst="rect">
              <a:avLst/>
            </a:prstGeom>
          </p:spPr>
        </p:pic>
      </p:grpSp>
      <p:sp>
        <p:nvSpPr>
          <p:cNvPr id="18" name="Titre 1">
            <a:extLst>
              <a:ext uri="{FF2B5EF4-FFF2-40B4-BE49-F238E27FC236}">
                <a16:creationId xmlns:a16="http://schemas.microsoft.com/office/drawing/2014/main" id="{19F5BF6D-6C84-3F35-4087-8CE351845D32}"/>
              </a:ext>
            </a:extLst>
          </p:cNvPr>
          <p:cNvSpPr txBox="1">
            <a:spLocks/>
          </p:cNvSpPr>
          <p:nvPr/>
        </p:nvSpPr>
        <p:spPr>
          <a:xfrm>
            <a:off x="3298477" y="2940495"/>
            <a:ext cx="1281745" cy="65006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grpSp>
        <p:nvGrpSpPr>
          <p:cNvPr id="21" name="Groupe 20">
            <a:extLst>
              <a:ext uri="{FF2B5EF4-FFF2-40B4-BE49-F238E27FC236}">
                <a16:creationId xmlns:a16="http://schemas.microsoft.com/office/drawing/2014/main" id="{D43467BB-9714-0098-5916-F35FC9FBBDCD}"/>
              </a:ext>
            </a:extLst>
          </p:cNvPr>
          <p:cNvGrpSpPr/>
          <p:nvPr/>
        </p:nvGrpSpPr>
        <p:grpSpPr>
          <a:xfrm>
            <a:off x="1212590" y="4345398"/>
            <a:ext cx="1345591" cy="668143"/>
            <a:chOff x="8100367" y="5065654"/>
            <a:chExt cx="3816005" cy="1894808"/>
          </a:xfrm>
        </p:grpSpPr>
        <p:pic>
          <p:nvPicPr>
            <p:cNvPr id="23" name="Graphique 22" descr="Écolier avec un remplissage uni">
              <a:extLst>
                <a:ext uri="{FF2B5EF4-FFF2-40B4-BE49-F238E27FC236}">
                  <a16:creationId xmlns:a16="http://schemas.microsoft.com/office/drawing/2014/main" id="{B143B4A9-032A-7FB1-9163-6CF2A22122BF}"/>
                </a:ext>
              </a:extLst>
            </p:cNvPr>
            <p:cNvPicPr>
              <a:picLocks noChangeAspect="1"/>
            </p:cNvPicPr>
            <p:nvPr/>
          </p:nvPicPr>
          <p:blipFill rotWithShape="1">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rcRect l="23541" t="12103" r="23440" b="13876"/>
            <a:stretch/>
          </p:blipFill>
          <p:spPr>
            <a:xfrm>
              <a:off x="9332062" y="5186009"/>
              <a:ext cx="980629" cy="1369036"/>
            </a:xfrm>
            <a:prstGeom prst="rect">
              <a:avLst/>
            </a:prstGeom>
          </p:spPr>
        </p:pic>
        <p:pic>
          <p:nvPicPr>
            <p:cNvPr id="24" name="Graphique 23" descr="Index pointant vers la droite vu du côté du dos de la main avec un remplissage uni">
              <a:extLst>
                <a:ext uri="{FF2B5EF4-FFF2-40B4-BE49-F238E27FC236}">
                  <a16:creationId xmlns:a16="http://schemas.microsoft.com/office/drawing/2014/main" id="{BBF519E2-BF02-12FD-7E43-333EFE62937F}"/>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b="16196"/>
            <a:stretch/>
          </p:blipFill>
          <p:spPr>
            <a:xfrm rot="20438830">
              <a:off x="8100367" y="6194152"/>
              <a:ext cx="914400" cy="766310"/>
            </a:xfrm>
            <a:prstGeom prst="rect">
              <a:avLst/>
            </a:prstGeom>
          </p:spPr>
        </p:pic>
        <p:pic>
          <p:nvPicPr>
            <p:cNvPr id="25" name="Graphique 24" descr="Index pointant vers la droite vu du côté du dos de la main avec un remplissage uni">
              <a:extLst>
                <a:ext uri="{FF2B5EF4-FFF2-40B4-BE49-F238E27FC236}">
                  <a16:creationId xmlns:a16="http://schemas.microsoft.com/office/drawing/2014/main" id="{09ED4600-8C52-94B3-829E-35B88E7549C0}"/>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b="14570"/>
            <a:stretch/>
          </p:blipFill>
          <p:spPr>
            <a:xfrm rot="948840" flipH="1">
              <a:off x="11065091" y="6152068"/>
              <a:ext cx="851281" cy="781168"/>
            </a:xfrm>
            <a:prstGeom prst="rect">
              <a:avLst/>
            </a:prstGeom>
          </p:spPr>
        </p:pic>
        <p:pic>
          <p:nvPicPr>
            <p:cNvPr id="448" name="Graphique 447" descr="Index pointant vers la droite vu du côté du dos de la main avec un remplissage uni">
              <a:extLst>
                <a:ext uri="{FF2B5EF4-FFF2-40B4-BE49-F238E27FC236}">
                  <a16:creationId xmlns:a16="http://schemas.microsoft.com/office/drawing/2014/main" id="{4AA7C203-AE11-2822-F67C-8D31AB73F2F0}"/>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rot="21029526" flipH="1">
              <a:off x="10927151" y="5129902"/>
              <a:ext cx="851281" cy="914400"/>
            </a:xfrm>
            <a:prstGeom prst="rect">
              <a:avLst/>
            </a:prstGeom>
          </p:spPr>
        </p:pic>
        <p:pic>
          <p:nvPicPr>
            <p:cNvPr id="450" name="Graphique 449" descr="Index pointant vers la droite vu du côté du dos de la main avec un remplissage uni">
              <a:extLst>
                <a:ext uri="{FF2B5EF4-FFF2-40B4-BE49-F238E27FC236}">
                  <a16:creationId xmlns:a16="http://schemas.microsoft.com/office/drawing/2014/main" id="{6C9AAC1E-F31D-2490-F75B-77FEBE7DF899}"/>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b="12773"/>
            <a:stretch/>
          </p:blipFill>
          <p:spPr>
            <a:xfrm rot="1491851">
              <a:off x="8192849" y="5065654"/>
              <a:ext cx="914400" cy="797601"/>
            </a:xfrm>
            <a:prstGeom prst="rect">
              <a:avLst/>
            </a:prstGeom>
          </p:spPr>
        </p:pic>
        <p:sp>
          <p:nvSpPr>
            <p:cNvPr id="458" name="Explosion : 14 points 457">
              <a:extLst>
                <a:ext uri="{FF2B5EF4-FFF2-40B4-BE49-F238E27FC236}">
                  <a16:creationId xmlns:a16="http://schemas.microsoft.com/office/drawing/2014/main" id="{53CAA5C1-C5F1-ED80-D444-7AF32976242A}"/>
                </a:ext>
              </a:extLst>
            </p:cNvPr>
            <p:cNvSpPr/>
            <p:nvPr/>
          </p:nvSpPr>
          <p:spPr>
            <a:xfrm rot="20706904">
              <a:off x="9664946" y="6181033"/>
              <a:ext cx="1371601" cy="668987"/>
            </a:xfrm>
            <a:prstGeom prst="irregularSeal2">
              <a:avLst/>
            </a:prstGeom>
            <a:solidFill>
              <a:srgbClr val="3494BA"/>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p>
          </p:txBody>
        </p:sp>
      </p:grpSp>
      <p:grpSp>
        <p:nvGrpSpPr>
          <p:cNvPr id="459" name="Groupe 458">
            <a:extLst>
              <a:ext uri="{FF2B5EF4-FFF2-40B4-BE49-F238E27FC236}">
                <a16:creationId xmlns:a16="http://schemas.microsoft.com/office/drawing/2014/main" id="{58B1CC02-3214-1099-4903-A81A945C407D}"/>
              </a:ext>
            </a:extLst>
          </p:cNvPr>
          <p:cNvGrpSpPr/>
          <p:nvPr/>
        </p:nvGrpSpPr>
        <p:grpSpPr>
          <a:xfrm>
            <a:off x="5335904" y="4175274"/>
            <a:ext cx="1666040" cy="895716"/>
            <a:chOff x="5697379" y="3765789"/>
            <a:chExt cx="4128117" cy="2219407"/>
          </a:xfrm>
        </p:grpSpPr>
        <p:sp>
          <p:nvSpPr>
            <p:cNvPr id="461" name="Rectangle 460">
              <a:extLst>
                <a:ext uri="{FF2B5EF4-FFF2-40B4-BE49-F238E27FC236}">
                  <a16:creationId xmlns:a16="http://schemas.microsoft.com/office/drawing/2014/main" id="{12B55983-EF9A-E5C2-7707-65E2E14A8B04}"/>
                </a:ext>
              </a:extLst>
            </p:cNvPr>
            <p:cNvSpPr/>
            <p:nvPr/>
          </p:nvSpPr>
          <p:spPr>
            <a:xfrm>
              <a:off x="5697379" y="3765789"/>
              <a:ext cx="4128117" cy="221940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62" name="Graphique 461" descr="Flèche : courbe légère avec un remplissage uni">
              <a:extLst>
                <a:ext uri="{FF2B5EF4-FFF2-40B4-BE49-F238E27FC236}">
                  <a16:creationId xmlns:a16="http://schemas.microsoft.com/office/drawing/2014/main" id="{E49551D4-B09D-6A86-9FE7-B56BAE780F7E}"/>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rot="2577989" flipV="1">
              <a:off x="6672365" y="4050945"/>
              <a:ext cx="685139" cy="641816"/>
            </a:xfrm>
            <a:prstGeom prst="rect">
              <a:avLst/>
            </a:prstGeom>
          </p:spPr>
        </p:pic>
        <p:pic>
          <p:nvPicPr>
            <p:cNvPr id="463" name="Graphique 462" descr="Flèche : courbe légère avec un remplissage uni">
              <a:extLst>
                <a:ext uri="{FF2B5EF4-FFF2-40B4-BE49-F238E27FC236}">
                  <a16:creationId xmlns:a16="http://schemas.microsoft.com/office/drawing/2014/main" id="{BB5D77AD-8BA3-ADA5-F8AA-B056FE091824}"/>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rcRect b="28407"/>
            <a:stretch/>
          </p:blipFill>
          <p:spPr>
            <a:xfrm rot="19867411">
              <a:off x="6625348" y="5212546"/>
              <a:ext cx="685139" cy="528224"/>
            </a:xfrm>
            <a:prstGeom prst="rect">
              <a:avLst/>
            </a:prstGeom>
          </p:spPr>
        </p:pic>
        <p:pic>
          <p:nvPicPr>
            <p:cNvPr id="464" name="Graphique 463" descr="Flèche : courbe légère avec un remplissage uni">
              <a:extLst>
                <a:ext uri="{FF2B5EF4-FFF2-40B4-BE49-F238E27FC236}">
                  <a16:creationId xmlns:a16="http://schemas.microsoft.com/office/drawing/2014/main" id="{37094D97-2F7B-5FF4-B729-87E0D5EE743A}"/>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rot="11715266" flipV="1">
              <a:off x="8057895" y="5192300"/>
              <a:ext cx="685139" cy="641816"/>
            </a:xfrm>
            <a:prstGeom prst="rect">
              <a:avLst/>
            </a:prstGeom>
          </p:spPr>
        </p:pic>
        <p:pic>
          <p:nvPicPr>
            <p:cNvPr id="469" name="Graphique 468" descr="Flèche : courbe légère avec un remplissage uni">
              <a:extLst>
                <a:ext uri="{FF2B5EF4-FFF2-40B4-BE49-F238E27FC236}">
                  <a16:creationId xmlns:a16="http://schemas.microsoft.com/office/drawing/2014/main" id="{4014C9C4-22AC-2D73-5D2A-E71096E18FD7}"/>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rot="8654848">
              <a:off x="8093692" y="3977797"/>
              <a:ext cx="685139" cy="737812"/>
            </a:xfrm>
            <a:prstGeom prst="rect">
              <a:avLst/>
            </a:prstGeom>
          </p:spPr>
        </p:pic>
        <p:pic>
          <p:nvPicPr>
            <p:cNvPr id="482" name="Graphique 481" descr="Groupe avec un remplissage uni">
              <a:extLst>
                <a:ext uri="{FF2B5EF4-FFF2-40B4-BE49-F238E27FC236}">
                  <a16:creationId xmlns:a16="http://schemas.microsoft.com/office/drawing/2014/main" id="{268DE85D-5B4E-07BE-0965-7A26FD630A5B}"/>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8746474" y="3771055"/>
              <a:ext cx="808764" cy="808764"/>
            </a:xfrm>
            <a:prstGeom prst="rect">
              <a:avLst/>
            </a:prstGeom>
          </p:spPr>
        </p:pic>
        <p:pic>
          <p:nvPicPr>
            <p:cNvPr id="483" name="Graphique 482" descr="Groupe avec un remplissage uni">
              <a:extLst>
                <a:ext uri="{FF2B5EF4-FFF2-40B4-BE49-F238E27FC236}">
                  <a16:creationId xmlns:a16="http://schemas.microsoft.com/office/drawing/2014/main" id="{B86511C3-9A2B-1D14-89DA-4B3DFC5650E1}"/>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8765951" y="5145379"/>
              <a:ext cx="808764" cy="808764"/>
            </a:xfrm>
            <a:prstGeom prst="rect">
              <a:avLst/>
            </a:prstGeom>
          </p:spPr>
        </p:pic>
        <p:pic>
          <p:nvPicPr>
            <p:cNvPr id="484" name="Graphique 483" descr="Groupe avec un remplissage uni">
              <a:extLst>
                <a:ext uri="{FF2B5EF4-FFF2-40B4-BE49-F238E27FC236}">
                  <a16:creationId xmlns:a16="http://schemas.microsoft.com/office/drawing/2014/main" id="{47A102D4-03DF-5F8E-E1CE-D04747585766}"/>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5895077" y="5108826"/>
              <a:ext cx="808764" cy="808764"/>
            </a:xfrm>
            <a:prstGeom prst="rect">
              <a:avLst/>
            </a:prstGeom>
          </p:spPr>
        </p:pic>
        <p:pic>
          <p:nvPicPr>
            <p:cNvPr id="485" name="Graphique 484" descr="Groupe avec un remplissage uni">
              <a:extLst>
                <a:ext uri="{FF2B5EF4-FFF2-40B4-BE49-F238E27FC236}">
                  <a16:creationId xmlns:a16="http://schemas.microsoft.com/office/drawing/2014/main" id="{F8107AA9-CCC3-0A19-DC45-BBCBB1DE685E}"/>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5883510" y="3796067"/>
              <a:ext cx="808764" cy="808764"/>
            </a:xfrm>
            <a:prstGeom prst="rect">
              <a:avLst/>
            </a:prstGeom>
          </p:spPr>
        </p:pic>
        <p:grpSp>
          <p:nvGrpSpPr>
            <p:cNvPr id="486" name="Groupe 485">
              <a:extLst>
                <a:ext uri="{FF2B5EF4-FFF2-40B4-BE49-F238E27FC236}">
                  <a16:creationId xmlns:a16="http://schemas.microsoft.com/office/drawing/2014/main" id="{C7706D94-CE90-1613-B14E-68E1794742DE}"/>
                </a:ext>
              </a:extLst>
            </p:cNvPr>
            <p:cNvGrpSpPr/>
            <p:nvPr/>
          </p:nvGrpSpPr>
          <p:grpSpPr>
            <a:xfrm>
              <a:off x="7232742" y="4682663"/>
              <a:ext cx="1006503" cy="633205"/>
              <a:chOff x="6989470" y="1452253"/>
              <a:chExt cx="2968717" cy="1867662"/>
            </a:xfrm>
            <a:solidFill>
              <a:srgbClr val="ED7D31"/>
            </a:solidFill>
          </p:grpSpPr>
          <p:pic>
            <p:nvPicPr>
              <p:cNvPr id="490" name="Graphique 489" descr="Groupe de personnes avec un remplissage uni">
                <a:extLst>
                  <a:ext uri="{FF2B5EF4-FFF2-40B4-BE49-F238E27FC236}">
                    <a16:creationId xmlns:a16="http://schemas.microsoft.com/office/drawing/2014/main" id="{D9367728-CFD0-CE13-2F1A-2E914A78CFCD}"/>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6989470" y="1452253"/>
                <a:ext cx="1867662" cy="1867662"/>
              </a:xfrm>
              <a:prstGeom prst="rect">
                <a:avLst/>
              </a:prstGeom>
            </p:spPr>
          </p:pic>
          <p:pic>
            <p:nvPicPr>
              <p:cNvPr id="491" name="Graphique 490" descr="Groupe de personnes avec un remplissage uni">
                <a:extLst>
                  <a:ext uri="{FF2B5EF4-FFF2-40B4-BE49-F238E27FC236}">
                    <a16:creationId xmlns:a16="http://schemas.microsoft.com/office/drawing/2014/main" id="{1DB82F08-C10F-042B-8A80-0B0D2D0CC018}"/>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t="65384"/>
              <a:stretch/>
            </p:blipFill>
            <p:spPr>
              <a:xfrm>
                <a:off x="8090525" y="1513565"/>
                <a:ext cx="1867662" cy="651367"/>
              </a:xfrm>
              <a:prstGeom prst="rect">
                <a:avLst/>
              </a:prstGeom>
            </p:spPr>
          </p:pic>
          <p:pic>
            <p:nvPicPr>
              <p:cNvPr id="492" name="Graphique 491" descr="Groupe de personnes avec un remplissage uni">
                <a:extLst>
                  <a:ext uri="{FF2B5EF4-FFF2-40B4-BE49-F238E27FC236}">
                    <a16:creationId xmlns:a16="http://schemas.microsoft.com/office/drawing/2014/main" id="{4ACBE0A9-3DDC-BD65-D394-25FD29C79AEC}"/>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t="65384" r="30495"/>
              <a:stretch/>
            </p:blipFill>
            <p:spPr>
              <a:xfrm>
                <a:off x="8316394" y="2091056"/>
                <a:ext cx="1298123" cy="651367"/>
              </a:xfrm>
              <a:prstGeom prst="rect">
                <a:avLst/>
              </a:prstGeom>
            </p:spPr>
          </p:pic>
          <p:pic>
            <p:nvPicPr>
              <p:cNvPr id="493" name="Graphique 492" descr="Groupe de personnes avec un remplissage uni">
                <a:extLst>
                  <a:ext uri="{FF2B5EF4-FFF2-40B4-BE49-F238E27FC236}">
                    <a16:creationId xmlns:a16="http://schemas.microsoft.com/office/drawing/2014/main" id="{05F9B342-7124-345E-F0BD-710D61B45483}"/>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t="65384" r="65831"/>
              <a:stretch/>
            </p:blipFill>
            <p:spPr>
              <a:xfrm>
                <a:off x="6989470" y="1513565"/>
                <a:ext cx="638169" cy="651367"/>
              </a:xfrm>
              <a:prstGeom prst="rect">
                <a:avLst/>
              </a:prstGeom>
            </p:spPr>
          </p:pic>
          <p:pic>
            <p:nvPicPr>
              <p:cNvPr id="494" name="Graphique 493" descr="Groupe de personnes avec un remplissage uni">
                <a:extLst>
                  <a:ext uri="{FF2B5EF4-FFF2-40B4-BE49-F238E27FC236}">
                    <a16:creationId xmlns:a16="http://schemas.microsoft.com/office/drawing/2014/main" id="{A863868A-4602-2640-2B32-9FAFEEE30E88}"/>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t="65384" r="30495"/>
              <a:stretch/>
            </p:blipFill>
            <p:spPr>
              <a:xfrm>
                <a:off x="8498660" y="2653414"/>
                <a:ext cx="1298123" cy="651367"/>
              </a:xfrm>
              <a:prstGeom prst="rect">
                <a:avLst/>
              </a:prstGeom>
            </p:spPr>
          </p:pic>
        </p:grpSp>
        <p:pic>
          <p:nvPicPr>
            <p:cNvPr id="487" name="Graphique 486" descr="Groupe avec un remplissage uni">
              <a:extLst>
                <a:ext uri="{FF2B5EF4-FFF2-40B4-BE49-F238E27FC236}">
                  <a16:creationId xmlns:a16="http://schemas.microsoft.com/office/drawing/2014/main" id="{F94522DC-CFEB-1F54-4117-5EDB27A82C4F}"/>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9013729" y="4172563"/>
              <a:ext cx="808764" cy="808764"/>
            </a:xfrm>
            <a:prstGeom prst="rect">
              <a:avLst/>
            </a:prstGeom>
          </p:spPr>
        </p:pic>
        <p:pic>
          <p:nvPicPr>
            <p:cNvPr id="488" name="Graphique 487" descr="Groupe avec un remplissage uni">
              <a:extLst>
                <a:ext uri="{FF2B5EF4-FFF2-40B4-BE49-F238E27FC236}">
                  <a16:creationId xmlns:a16="http://schemas.microsoft.com/office/drawing/2014/main" id="{A94803EE-D391-DB6C-7505-87F20AF27B73}"/>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5815093" y="4182004"/>
              <a:ext cx="808764" cy="808764"/>
            </a:xfrm>
            <a:prstGeom prst="rect">
              <a:avLst/>
            </a:prstGeom>
          </p:spPr>
        </p:pic>
        <p:pic>
          <p:nvPicPr>
            <p:cNvPr id="489" name="Graphique 488" descr="Groupe avec un remplissage uni">
              <a:extLst>
                <a:ext uri="{FF2B5EF4-FFF2-40B4-BE49-F238E27FC236}">
                  <a16:creationId xmlns:a16="http://schemas.microsoft.com/office/drawing/2014/main" id="{103488FC-C0E7-DBCD-83F3-CD53B51098DE}"/>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8903129" y="4954450"/>
              <a:ext cx="808764" cy="808764"/>
            </a:xfrm>
            <a:prstGeom prst="rect">
              <a:avLst/>
            </a:prstGeom>
          </p:spPr>
        </p:pic>
      </p:grpSp>
      <p:grpSp>
        <p:nvGrpSpPr>
          <p:cNvPr id="495" name="Groupe 494">
            <a:extLst>
              <a:ext uri="{FF2B5EF4-FFF2-40B4-BE49-F238E27FC236}">
                <a16:creationId xmlns:a16="http://schemas.microsoft.com/office/drawing/2014/main" id="{091CEBC0-FF60-2D03-0521-CD82E9FC398C}"/>
              </a:ext>
            </a:extLst>
          </p:cNvPr>
          <p:cNvGrpSpPr/>
          <p:nvPr/>
        </p:nvGrpSpPr>
        <p:grpSpPr>
          <a:xfrm>
            <a:off x="7750811" y="4190793"/>
            <a:ext cx="1128966" cy="864677"/>
            <a:chOff x="9417003" y="7121244"/>
            <a:chExt cx="2484347" cy="1902767"/>
          </a:xfrm>
        </p:grpSpPr>
        <p:grpSp>
          <p:nvGrpSpPr>
            <p:cNvPr id="498" name="Groupe 497">
              <a:extLst>
                <a:ext uri="{FF2B5EF4-FFF2-40B4-BE49-F238E27FC236}">
                  <a16:creationId xmlns:a16="http://schemas.microsoft.com/office/drawing/2014/main" id="{E0F645F6-8BF0-1324-63AE-D3169E2B8872}"/>
                </a:ext>
              </a:extLst>
            </p:cNvPr>
            <p:cNvGrpSpPr/>
            <p:nvPr/>
          </p:nvGrpSpPr>
          <p:grpSpPr>
            <a:xfrm>
              <a:off x="10384268" y="7121244"/>
              <a:ext cx="658674" cy="441782"/>
              <a:chOff x="9649679" y="3849319"/>
              <a:chExt cx="647036" cy="463267"/>
            </a:xfrm>
          </p:grpSpPr>
          <p:grpSp>
            <p:nvGrpSpPr>
              <p:cNvPr id="157" name="Groupe 156">
                <a:extLst>
                  <a:ext uri="{FF2B5EF4-FFF2-40B4-BE49-F238E27FC236}">
                    <a16:creationId xmlns:a16="http://schemas.microsoft.com/office/drawing/2014/main" id="{5F146C9C-337F-7A9F-84A9-F586613D04CD}"/>
                  </a:ext>
                </a:extLst>
              </p:cNvPr>
              <p:cNvGrpSpPr/>
              <p:nvPr/>
            </p:nvGrpSpPr>
            <p:grpSpPr>
              <a:xfrm>
                <a:off x="9649679" y="3849319"/>
                <a:ext cx="647036" cy="463267"/>
                <a:chOff x="9402686" y="4191729"/>
                <a:chExt cx="647036" cy="463267"/>
              </a:xfrm>
            </p:grpSpPr>
            <p:pic>
              <p:nvPicPr>
                <p:cNvPr id="160" name="Graphique 159" descr="Blogue avec un remplissage uni">
                  <a:extLst>
                    <a:ext uri="{FF2B5EF4-FFF2-40B4-BE49-F238E27FC236}">
                      <a16:creationId xmlns:a16="http://schemas.microsoft.com/office/drawing/2014/main" id="{8F6AAADC-9768-114F-092E-5175CBCDDF86}"/>
                    </a:ext>
                  </a:extLst>
                </p:cNvPr>
                <p:cNvPicPr>
                  <a:picLocks noChangeAspect="1"/>
                </p:cNvPicPr>
                <p:nvPr/>
              </p:nvPicPr>
              <p:blipFill rotWithShape="1">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rcRect t="12848" b="15553"/>
                <a:stretch/>
              </p:blipFill>
              <p:spPr>
                <a:xfrm>
                  <a:off x="9402686" y="4191729"/>
                  <a:ext cx="647036" cy="463267"/>
                </a:xfrm>
                <a:prstGeom prst="rect">
                  <a:avLst/>
                </a:prstGeom>
              </p:spPr>
            </p:pic>
            <p:sp>
              <p:nvSpPr>
                <p:cNvPr id="161" name="Rectangle 160">
                  <a:extLst>
                    <a:ext uri="{FF2B5EF4-FFF2-40B4-BE49-F238E27FC236}">
                      <a16:creationId xmlns:a16="http://schemas.microsoft.com/office/drawing/2014/main" id="{B1808FB4-2525-DB3F-F536-FB7A61F3D2A8}"/>
                    </a:ext>
                  </a:extLst>
                </p:cNvPr>
                <p:cNvSpPr/>
                <p:nvPr/>
              </p:nvSpPr>
              <p:spPr>
                <a:xfrm>
                  <a:off x="9761670" y="4408827"/>
                  <a:ext cx="211560" cy="1759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159" name="Graphique 158" descr="Signe pouce en haut avec un remplissage uni">
                <a:extLst>
                  <a:ext uri="{FF2B5EF4-FFF2-40B4-BE49-F238E27FC236}">
                    <a16:creationId xmlns:a16="http://schemas.microsoft.com/office/drawing/2014/main" id="{1CED1564-B67C-D1ED-6D90-CAB54854F7AB}"/>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9996096" y="4036045"/>
                <a:ext cx="236694" cy="236694"/>
              </a:xfrm>
              <a:prstGeom prst="rect">
                <a:avLst/>
              </a:prstGeom>
            </p:spPr>
          </p:pic>
        </p:grpSp>
        <p:grpSp>
          <p:nvGrpSpPr>
            <p:cNvPr id="504" name="Groupe 503">
              <a:extLst>
                <a:ext uri="{FF2B5EF4-FFF2-40B4-BE49-F238E27FC236}">
                  <a16:creationId xmlns:a16="http://schemas.microsoft.com/office/drawing/2014/main" id="{CCB9F900-0C94-33FD-F783-A2B266DFE710}"/>
                </a:ext>
              </a:extLst>
            </p:cNvPr>
            <p:cNvGrpSpPr/>
            <p:nvPr/>
          </p:nvGrpSpPr>
          <p:grpSpPr>
            <a:xfrm>
              <a:off x="9417003" y="7351047"/>
              <a:ext cx="919966" cy="1003103"/>
              <a:chOff x="9471865" y="4873194"/>
              <a:chExt cx="563901" cy="656361"/>
            </a:xfrm>
          </p:grpSpPr>
          <p:grpSp>
            <p:nvGrpSpPr>
              <p:cNvPr id="151" name="Groupe 150">
                <a:extLst>
                  <a:ext uri="{FF2B5EF4-FFF2-40B4-BE49-F238E27FC236}">
                    <a16:creationId xmlns:a16="http://schemas.microsoft.com/office/drawing/2014/main" id="{8E4D915E-A3C9-416F-81D8-24D559232F50}"/>
                  </a:ext>
                </a:extLst>
              </p:cNvPr>
              <p:cNvGrpSpPr/>
              <p:nvPr/>
            </p:nvGrpSpPr>
            <p:grpSpPr>
              <a:xfrm>
                <a:off x="9471865" y="4873194"/>
                <a:ext cx="563901" cy="656361"/>
                <a:chOff x="9471865" y="4873194"/>
                <a:chExt cx="563901" cy="656361"/>
              </a:xfrm>
            </p:grpSpPr>
            <p:grpSp>
              <p:nvGrpSpPr>
                <p:cNvPr id="153" name="Groupe 152">
                  <a:extLst>
                    <a:ext uri="{FF2B5EF4-FFF2-40B4-BE49-F238E27FC236}">
                      <a16:creationId xmlns:a16="http://schemas.microsoft.com/office/drawing/2014/main" id="{12AAAC34-0A8A-8161-2990-700B865AE033}"/>
                    </a:ext>
                  </a:extLst>
                </p:cNvPr>
                <p:cNvGrpSpPr/>
                <p:nvPr/>
              </p:nvGrpSpPr>
              <p:grpSpPr>
                <a:xfrm>
                  <a:off x="9471865" y="4873194"/>
                  <a:ext cx="563901" cy="656361"/>
                  <a:chOff x="9463703" y="4883758"/>
                  <a:chExt cx="914400" cy="1064329"/>
                </a:xfrm>
              </p:grpSpPr>
              <p:pic>
                <p:nvPicPr>
                  <p:cNvPr id="155" name="Graphique 154" descr="Chat contour">
                    <a:extLst>
                      <a:ext uri="{FF2B5EF4-FFF2-40B4-BE49-F238E27FC236}">
                        <a16:creationId xmlns:a16="http://schemas.microsoft.com/office/drawing/2014/main" id="{35A18503-82A8-51C3-3B56-955F2E49D6B0}"/>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9684744" y="4883758"/>
                    <a:ext cx="495914" cy="495914"/>
                  </a:xfrm>
                  <a:prstGeom prst="rect">
                    <a:avLst/>
                  </a:prstGeom>
                </p:spPr>
              </p:pic>
              <p:pic>
                <p:nvPicPr>
                  <p:cNvPr id="156" name="Graphique 155" descr="Salle de conseil avec un remplissage uni">
                    <a:extLst>
                      <a:ext uri="{FF2B5EF4-FFF2-40B4-BE49-F238E27FC236}">
                        <a16:creationId xmlns:a16="http://schemas.microsoft.com/office/drawing/2014/main" id="{68D1D29A-30F2-CFB4-A719-EC860C88AB2F}"/>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9463703" y="5033687"/>
                    <a:ext cx="914400" cy="914400"/>
                  </a:xfrm>
                  <a:prstGeom prst="rect">
                    <a:avLst/>
                  </a:prstGeom>
                </p:spPr>
              </p:pic>
            </p:grpSp>
            <p:pic>
              <p:nvPicPr>
                <p:cNvPr id="154" name="Graphique 153" descr="Signe pouce en haut avec un remplissage uni">
                  <a:extLst>
                    <a:ext uri="{FF2B5EF4-FFF2-40B4-BE49-F238E27FC236}">
                      <a16:creationId xmlns:a16="http://schemas.microsoft.com/office/drawing/2014/main" id="{990D2FA4-EA5A-CD11-5B97-706FDED01862}"/>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9767187" y="4995411"/>
                  <a:ext cx="76053" cy="76053"/>
                </a:xfrm>
                <a:prstGeom prst="rect">
                  <a:avLst/>
                </a:prstGeom>
              </p:spPr>
            </p:pic>
          </p:grpSp>
          <p:pic>
            <p:nvPicPr>
              <p:cNvPr id="152" name="Graphique 151" descr="Calendrier mensuel avec un remplissage uni">
                <a:extLst>
                  <a:ext uri="{FF2B5EF4-FFF2-40B4-BE49-F238E27FC236}">
                    <a16:creationId xmlns:a16="http://schemas.microsoft.com/office/drawing/2014/main" id="{06B823B0-F310-30CC-132B-8B8253B87A21}"/>
                  </a:ext>
                </a:extLst>
              </p:cNvPr>
              <p:cNvPicPr>
                <a:picLocks noChangeAspect="1"/>
              </p:cNvPicPr>
              <p:nvPr/>
            </p:nvPicPr>
            <p:blipFill>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tretch>
                <a:fillRect/>
              </a:stretch>
            </p:blipFill>
            <p:spPr>
              <a:xfrm>
                <a:off x="9642197" y="4953407"/>
                <a:ext cx="84007" cy="84007"/>
              </a:xfrm>
              <a:prstGeom prst="rect">
                <a:avLst/>
              </a:prstGeom>
            </p:spPr>
          </p:pic>
        </p:grpSp>
        <p:grpSp>
          <p:nvGrpSpPr>
            <p:cNvPr id="505" name="Groupe 504">
              <a:extLst>
                <a:ext uri="{FF2B5EF4-FFF2-40B4-BE49-F238E27FC236}">
                  <a16:creationId xmlns:a16="http://schemas.microsoft.com/office/drawing/2014/main" id="{CCA42244-4805-3EF4-27C7-86807FE43961}"/>
                </a:ext>
              </a:extLst>
            </p:cNvPr>
            <p:cNvGrpSpPr/>
            <p:nvPr/>
          </p:nvGrpSpPr>
          <p:grpSpPr>
            <a:xfrm>
              <a:off x="10909564" y="8347795"/>
              <a:ext cx="721860" cy="676216"/>
              <a:chOff x="6887685" y="4855910"/>
              <a:chExt cx="96521" cy="90418"/>
            </a:xfrm>
          </p:grpSpPr>
          <p:pic>
            <p:nvPicPr>
              <p:cNvPr id="147" name="Graphique 146" descr="Enveloppe ouverte contour">
                <a:extLst>
                  <a:ext uri="{FF2B5EF4-FFF2-40B4-BE49-F238E27FC236}">
                    <a16:creationId xmlns:a16="http://schemas.microsoft.com/office/drawing/2014/main" id="{279830A1-876D-E581-68A5-137F26E68B26}"/>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6887685" y="4855910"/>
                <a:ext cx="96521" cy="90418"/>
              </a:xfrm>
              <a:prstGeom prst="rect">
                <a:avLst/>
              </a:prstGeom>
            </p:spPr>
          </p:pic>
          <p:grpSp>
            <p:nvGrpSpPr>
              <p:cNvPr id="148" name="Groupe 147">
                <a:extLst>
                  <a:ext uri="{FF2B5EF4-FFF2-40B4-BE49-F238E27FC236}">
                    <a16:creationId xmlns:a16="http://schemas.microsoft.com/office/drawing/2014/main" id="{BD33F90F-1762-21FD-0270-187E91D6A862}"/>
                  </a:ext>
                </a:extLst>
              </p:cNvPr>
              <p:cNvGrpSpPr/>
              <p:nvPr/>
            </p:nvGrpSpPr>
            <p:grpSpPr>
              <a:xfrm>
                <a:off x="6915273" y="4869157"/>
                <a:ext cx="42750" cy="40047"/>
                <a:chOff x="10369284" y="3475608"/>
                <a:chExt cx="236694" cy="236694"/>
              </a:xfrm>
            </p:grpSpPr>
            <p:sp>
              <p:nvSpPr>
                <p:cNvPr id="149" name="Rectangle 148">
                  <a:extLst>
                    <a:ext uri="{FF2B5EF4-FFF2-40B4-BE49-F238E27FC236}">
                      <a16:creationId xmlns:a16="http://schemas.microsoft.com/office/drawing/2014/main" id="{222C42EC-0626-082E-EB8B-327B366CEA39}"/>
                    </a:ext>
                  </a:extLst>
                </p:cNvPr>
                <p:cNvSpPr/>
                <p:nvPr/>
              </p:nvSpPr>
              <p:spPr>
                <a:xfrm>
                  <a:off x="10380027" y="3505980"/>
                  <a:ext cx="211560" cy="1759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0" name="Graphique 149" descr="Signe pouce en haut avec un remplissage uni">
                  <a:extLst>
                    <a:ext uri="{FF2B5EF4-FFF2-40B4-BE49-F238E27FC236}">
                      <a16:creationId xmlns:a16="http://schemas.microsoft.com/office/drawing/2014/main" id="{0599A602-1F82-43F8-5D4D-E01066A18E31}"/>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10369284" y="3475608"/>
                  <a:ext cx="236694" cy="236694"/>
                </a:xfrm>
                <a:prstGeom prst="rect">
                  <a:avLst/>
                </a:prstGeom>
              </p:spPr>
            </p:pic>
          </p:grpSp>
        </p:grpSp>
        <p:grpSp>
          <p:nvGrpSpPr>
            <p:cNvPr id="506" name="Groupe 505">
              <a:extLst>
                <a:ext uri="{FF2B5EF4-FFF2-40B4-BE49-F238E27FC236}">
                  <a16:creationId xmlns:a16="http://schemas.microsoft.com/office/drawing/2014/main" id="{70BEE9D1-C6E5-C4EC-B9E2-FF298DF5DAC6}"/>
                </a:ext>
              </a:extLst>
            </p:cNvPr>
            <p:cNvGrpSpPr/>
            <p:nvPr/>
          </p:nvGrpSpPr>
          <p:grpSpPr>
            <a:xfrm>
              <a:off x="10557464" y="7392399"/>
              <a:ext cx="1343886" cy="1258915"/>
              <a:chOff x="10723968" y="4554715"/>
              <a:chExt cx="753107" cy="753107"/>
            </a:xfrm>
          </p:grpSpPr>
          <p:pic>
            <p:nvPicPr>
              <p:cNvPr id="143" name="Graphique 142" descr="Partager avec un remplissage uni">
                <a:extLst>
                  <a:ext uri="{FF2B5EF4-FFF2-40B4-BE49-F238E27FC236}">
                    <a16:creationId xmlns:a16="http://schemas.microsoft.com/office/drawing/2014/main" id="{8ED67355-203F-F7DD-8D5D-56201447ACCC}"/>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10723968" y="4554715"/>
                <a:ext cx="753107" cy="753107"/>
              </a:xfrm>
              <a:prstGeom prst="rect">
                <a:avLst/>
              </a:prstGeom>
            </p:spPr>
          </p:pic>
          <p:grpSp>
            <p:nvGrpSpPr>
              <p:cNvPr id="144" name="Groupe 143">
                <a:extLst>
                  <a:ext uri="{FF2B5EF4-FFF2-40B4-BE49-F238E27FC236}">
                    <a16:creationId xmlns:a16="http://schemas.microsoft.com/office/drawing/2014/main" id="{5CC2D2A7-FEA2-1EF0-5E47-DCB88E5DA4A5}"/>
                  </a:ext>
                </a:extLst>
              </p:cNvPr>
              <p:cNvGrpSpPr/>
              <p:nvPr/>
            </p:nvGrpSpPr>
            <p:grpSpPr>
              <a:xfrm>
                <a:off x="10883991" y="4852610"/>
                <a:ext cx="167813" cy="167813"/>
                <a:chOff x="10369284" y="3475608"/>
                <a:chExt cx="236694" cy="236694"/>
              </a:xfrm>
            </p:grpSpPr>
            <p:sp>
              <p:nvSpPr>
                <p:cNvPr id="145" name="Rectangle 144">
                  <a:extLst>
                    <a:ext uri="{FF2B5EF4-FFF2-40B4-BE49-F238E27FC236}">
                      <a16:creationId xmlns:a16="http://schemas.microsoft.com/office/drawing/2014/main" id="{0784B16D-3D42-477E-8A36-63108B62AF80}"/>
                    </a:ext>
                  </a:extLst>
                </p:cNvPr>
                <p:cNvSpPr/>
                <p:nvPr/>
              </p:nvSpPr>
              <p:spPr>
                <a:xfrm>
                  <a:off x="10380027" y="3505980"/>
                  <a:ext cx="211560" cy="1759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46" name="Graphique 145" descr="Signe pouce en haut avec un remplissage uni">
                  <a:extLst>
                    <a:ext uri="{FF2B5EF4-FFF2-40B4-BE49-F238E27FC236}">
                      <a16:creationId xmlns:a16="http://schemas.microsoft.com/office/drawing/2014/main" id="{5071187B-FF84-7B0A-5D89-E0E427C52F8D}"/>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10369284" y="3475608"/>
                  <a:ext cx="236694" cy="236694"/>
                </a:xfrm>
                <a:prstGeom prst="rect">
                  <a:avLst/>
                </a:prstGeom>
              </p:spPr>
            </p:pic>
          </p:grpSp>
        </p:grpSp>
        <p:grpSp>
          <p:nvGrpSpPr>
            <p:cNvPr id="508" name="Groupe 507">
              <a:extLst>
                <a:ext uri="{FF2B5EF4-FFF2-40B4-BE49-F238E27FC236}">
                  <a16:creationId xmlns:a16="http://schemas.microsoft.com/office/drawing/2014/main" id="{1E60B855-299E-BB32-06F1-64214E0E9B96}"/>
                </a:ext>
              </a:extLst>
            </p:cNvPr>
            <p:cNvGrpSpPr/>
            <p:nvPr/>
          </p:nvGrpSpPr>
          <p:grpSpPr>
            <a:xfrm>
              <a:off x="9606273" y="8349174"/>
              <a:ext cx="889847" cy="604711"/>
              <a:chOff x="9687840" y="4931459"/>
              <a:chExt cx="874125" cy="634121"/>
            </a:xfrm>
          </p:grpSpPr>
          <p:grpSp>
            <p:nvGrpSpPr>
              <p:cNvPr id="509" name="Groupe 508">
                <a:extLst>
                  <a:ext uri="{FF2B5EF4-FFF2-40B4-BE49-F238E27FC236}">
                    <a16:creationId xmlns:a16="http://schemas.microsoft.com/office/drawing/2014/main" id="{603B1388-8D55-5F2B-24F2-C04FE0CA4BED}"/>
                  </a:ext>
                </a:extLst>
              </p:cNvPr>
              <p:cNvGrpSpPr/>
              <p:nvPr/>
            </p:nvGrpSpPr>
            <p:grpSpPr>
              <a:xfrm>
                <a:off x="9745052" y="4931459"/>
                <a:ext cx="816913" cy="634121"/>
                <a:chOff x="9735731" y="4929465"/>
                <a:chExt cx="816913" cy="634121"/>
              </a:xfrm>
            </p:grpSpPr>
            <p:pic>
              <p:nvPicPr>
                <p:cNvPr id="511" name="Graphique 510" descr="Mégaphone avec un remplissage uni">
                  <a:extLst>
                    <a:ext uri="{FF2B5EF4-FFF2-40B4-BE49-F238E27FC236}">
                      <a16:creationId xmlns:a16="http://schemas.microsoft.com/office/drawing/2014/main" id="{F15D6196-7FA7-8D31-9F3D-FC35BA4CA915}"/>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9735731" y="5061684"/>
                  <a:ext cx="501902" cy="501902"/>
                </a:xfrm>
                <a:prstGeom prst="rect">
                  <a:avLst/>
                </a:prstGeom>
              </p:spPr>
            </p:pic>
            <p:grpSp>
              <p:nvGrpSpPr>
                <p:cNvPr id="140" name="Groupe 139">
                  <a:extLst>
                    <a:ext uri="{FF2B5EF4-FFF2-40B4-BE49-F238E27FC236}">
                      <a16:creationId xmlns:a16="http://schemas.microsoft.com/office/drawing/2014/main" id="{3632F668-87FD-4F37-5738-57DF660038D7}"/>
                    </a:ext>
                  </a:extLst>
                </p:cNvPr>
                <p:cNvGrpSpPr/>
                <p:nvPr/>
              </p:nvGrpSpPr>
              <p:grpSpPr>
                <a:xfrm>
                  <a:off x="10135380" y="4929457"/>
                  <a:ext cx="417260" cy="417260"/>
                  <a:chOff x="10337571" y="3324583"/>
                  <a:chExt cx="417260" cy="417260"/>
                </a:xfrm>
              </p:grpSpPr>
              <p:sp>
                <p:nvSpPr>
                  <p:cNvPr id="141" name="Rectangle 140">
                    <a:extLst>
                      <a:ext uri="{FF2B5EF4-FFF2-40B4-BE49-F238E27FC236}">
                        <a16:creationId xmlns:a16="http://schemas.microsoft.com/office/drawing/2014/main" id="{34A6DCEA-355A-DD03-8DBB-412DAC230533}"/>
                      </a:ext>
                    </a:extLst>
                  </p:cNvPr>
                  <p:cNvSpPr/>
                  <p:nvPr/>
                </p:nvSpPr>
                <p:spPr>
                  <a:xfrm>
                    <a:off x="10380027" y="3505980"/>
                    <a:ext cx="211560" cy="1759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42" name="Graphique 141" descr="Signe pouce en haut avec un remplissage uni">
                    <a:extLst>
                      <a:ext uri="{FF2B5EF4-FFF2-40B4-BE49-F238E27FC236}">
                        <a16:creationId xmlns:a16="http://schemas.microsoft.com/office/drawing/2014/main" id="{505566DA-C6AC-7746-CE7E-0DCEC13202A5}"/>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10337571" y="3324583"/>
                    <a:ext cx="417260" cy="417260"/>
                  </a:xfrm>
                  <a:prstGeom prst="rect">
                    <a:avLst/>
                  </a:prstGeom>
                </p:spPr>
              </p:pic>
            </p:grpSp>
          </p:grpSp>
          <p:pic>
            <p:nvPicPr>
              <p:cNvPr id="510" name="Graphique 509" descr="Signe pouce en haut avec un remplissage uni">
                <a:extLst>
                  <a:ext uri="{FF2B5EF4-FFF2-40B4-BE49-F238E27FC236}">
                    <a16:creationId xmlns:a16="http://schemas.microsoft.com/office/drawing/2014/main" id="{81B93111-177C-1123-6377-404D3EBAEE17}"/>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9687840" y="5429177"/>
                <a:ext cx="95781" cy="95781"/>
              </a:xfrm>
              <a:prstGeom prst="rect">
                <a:avLst/>
              </a:prstGeom>
            </p:spPr>
          </p:pic>
        </p:grpSp>
      </p:grpSp>
      <p:sp>
        <p:nvSpPr>
          <p:cNvPr id="162" name="Rectangle 161">
            <a:extLst>
              <a:ext uri="{FF2B5EF4-FFF2-40B4-BE49-F238E27FC236}">
                <a16:creationId xmlns:a16="http://schemas.microsoft.com/office/drawing/2014/main" id="{F120EC04-7A96-864B-D825-9DFA1103946C}"/>
              </a:ext>
            </a:extLst>
          </p:cNvPr>
          <p:cNvSpPr/>
          <p:nvPr/>
        </p:nvSpPr>
        <p:spPr>
          <a:xfrm>
            <a:off x="7585779" y="5230386"/>
            <a:ext cx="1293998" cy="68923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solidFill>
                  <a:schemeClr val="tx1"/>
                </a:solidFill>
              </a:rPr>
              <a:t>📅✍️ Partage extérieur (sous formes variées) des bénéfices pour les membres</a:t>
            </a:r>
          </a:p>
        </p:txBody>
      </p:sp>
      <p:grpSp>
        <p:nvGrpSpPr>
          <p:cNvPr id="251" name="Groupe 250">
            <a:extLst>
              <a:ext uri="{FF2B5EF4-FFF2-40B4-BE49-F238E27FC236}">
                <a16:creationId xmlns:a16="http://schemas.microsoft.com/office/drawing/2014/main" id="{5A9A0FE1-915D-0E0C-3A8F-1EF418C2654B}"/>
              </a:ext>
            </a:extLst>
          </p:cNvPr>
          <p:cNvGrpSpPr/>
          <p:nvPr/>
        </p:nvGrpSpPr>
        <p:grpSpPr>
          <a:xfrm>
            <a:off x="3141246" y="4289605"/>
            <a:ext cx="1812382" cy="710618"/>
            <a:chOff x="3456871" y="6893775"/>
            <a:chExt cx="2223081" cy="871649"/>
          </a:xfrm>
        </p:grpSpPr>
        <p:pic>
          <p:nvPicPr>
            <p:cNvPr id="164" name="Graphique 163" descr="Bâtiment avec un remplissage uni">
              <a:extLst>
                <a:ext uri="{FF2B5EF4-FFF2-40B4-BE49-F238E27FC236}">
                  <a16:creationId xmlns:a16="http://schemas.microsoft.com/office/drawing/2014/main" id="{5AF75871-B47F-4EE6-E38D-0ADADDD84E71}"/>
                </a:ext>
              </a:extLst>
            </p:cNvPr>
            <p:cNvPicPr>
              <a:picLocks noChangeAspect="1"/>
            </p:cNvPicPr>
            <p:nvPr/>
          </p:nvPicPr>
          <p:blipFill>
            <a:blip r:embed="rId41">
              <a:extLst>
                <a:ext uri="{28A0092B-C50C-407E-A947-70E740481C1C}">
                  <a14:useLocalDpi xmlns:a14="http://schemas.microsoft.com/office/drawing/2010/main" val="0"/>
                </a:ext>
                <a:ext uri="{96DAC541-7B7A-43D3-8B79-37D633B846F1}">
                  <asvg:svgBlip xmlns:asvg="http://schemas.microsoft.com/office/drawing/2016/SVG/main" r:embed="rId42"/>
                </a:ext>
              </a:extLst>
            </a:blip>
            <a:stretch>
              <a:fillRect/>
            </a:stretch>
          </p:blipFill>
          <p:spPr>
            <a:xfrm>
              <a:off x="5007015" y="6893775"/>
              <a:ext cx="564425" cy="564425"/>
            </a:xfrm>
            <a:prstGeom prst="rect">
              <a:avLst/>
            </a:prstGeom>
          </p:spPr>
        </p:pic>
        <p:pic>
          <p:nvPicPr>
            <p:cNvPr id="169" name="Graphique 168" descr="Tendance à la hausse avec un remplissage uni">
              <a:extLst>
                <a:ext uri="{FF2B5EF4-FFF2-40B4-BE49-F238E27FC236}">
                  <a16:creationId xmlns:a16="http://schemas.microsoft.com/office/drawing/2014/main" id="{864AC205-EE74-2359-AD0C-7D5F4CF38CCE}"/>
                </a:ext>
              </a:extLst>
            </p:cNvPr>
            <p:cNvPicPr>
              <a:picLocks noChangeAspect="1"/>
            </p:cNvPicPr>
            <p:nvPr/>
          </p:nvPicPr>
          <p:blipFill>
            <a:blip r:embed="rId43">
              <a:extLst>
                <a:ext uri="{28A0092B-C50C-407E-A947-70E740481C1C}">
                  <a14:useLocalDpi xmlns:a14="http://schemas.microsoft.com/office/drawing/2010/main" val="0"/>
                </a:ext>
                <a:ext uri="{96DAC541-7B7A-43D3-8B79-37D633B846F1}">
                  <asvg:svgBlip xmlns:asvg="http://schemas.microsoft.com/office/drawing/2016/SVG/main" r:embed="rId44"/>
                </a:ext>
              </a:extLst>
            </a:blip>
            <a:stretch>
              <a:fillRect/>
            </a:stretch>
          </p:blipFill>
          <p:spPr>
            <a:xfrm>
              <a:off x="5387999" y="7480919"/>
              <a:ext cx="291953" cy="284505"/>
            </a:xfrm>
            <a:prstGeom prst="rect">
              <a:avLst/>
            </a:prstGeom>
          </p:spPr>
        </p:pic>
        <p:pic>
          <p:nvPicPr>
            <p:cNvPr id="170" name="Graphique 169" descr="Croissance de l'activité avec un remplissage uni">
              <a:extLst>
                <a:ext uri="{FF2B5EF4-FFF2-40B4-BE49-F238E27FC236}">
                  <a16:creationId xmlns:a16="http://schemas.microsoft.com/office/drawing/2014/main" id="{BA4128B7-62DD-8FA1-94E2-A5A9ED0E894B}"/>
                </a:ext>
              </a:extLst>
            </p:cNvPr>
            <p:cNvPicPr>
              <a:picLocks noChangeAspect="1"/>
            </p:cNvPicPr>
            <p:nvPr/>
          </p:nvPicPr>
          <p:blipFill>
            <a:blip r:embed="rId45">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a:off x="4713881" y="7504267"/>
              <a:ext cx="257607" cy="257607"/>
            </a:xfrm>
            <a:prstGeom prst="rect">
              <a:avLst/>
            </a:prstGeom>
          </p:spPr>
        </p:pic>
        <p:pic>
          <p:nvPicPr>
            <p:cNvPr id="171" name="Graphique 170" descr="Tableau décisionnel avec un remplissage uni">
              <a:extLst>
                <a:ext uri="{FF2B5EF4-FFF2-40B4-BE49-F238E27FC236}">
                  <a16:creationId xmlns:a16="http://schemas.microsoft.com/office/drawing/2014/main" id="{30E7B833-FCD7-BF02-87EF-344839D2D9A5}"/>
                </a:ext>
              </a:extLst>
            </p:cNvPr>
            <p:cNvPicPr>
              <a:picLocks noChangeAspect="1"/>
            </p:cNvPicPr>
            <p:nvPr/>
          </p:nvPicPr>
          <p:blipFill>
            <a:blip r:embed="rId47">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5059007" y="7496671"/>
              <a:ext cx="249897" cy="249897"/>
            </a:xfrm>
            <a:prstGeom prst="rect">
              <a:avLst/>
            </a:prstGeom>
          </p:spPr>
        </p:pic>
        <p:sp>
          <p:nvSpPr>
            <p:cNvPr id="222" name="Flèche : gauche 221">
              <a:extLst>
                <a:ext uri="{FF2B5EF4-FFF2-40B4-BE49-F238E27FC236}">
                  <a16:creationId xmlns:a16="http://schemas.microsoft.com/office/drawing/2014/main" id="{FA05FD69-6BD1-A6C2-DB5A-501EC2697634}"/>
                </a:ext>
              </a:extLst>
            </p:cNvPr>
            <p:cNvSpPr/>
            <p:nvPr/>
          </p:nvSpPr>
          <p:spPr>
            <a:xfrm rot="21441564" flipH="1">
              <a:off x="4214159" y="7263895"/>
              <a:ext cx="389844" cy="204470"/>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 name="Groupe 222">
              <a:extLst>
                <a:ext uri="{FF2B5EF4-FFF2-40B4-BE49-F238E27FC236}">
                  <a16:creationId xmlns:a16="http://schemas.microsoft.com/office/drawing/2014/main" id="{48D0899E-CD69-6910-9786-EF5F6A6107F1}"/>
                </a:ext>
              </a:extLst>
            </p:cNvPr>
            <p:cNvGrpSpPr/>
            <p:nvPr/>
          </p:nvGrpSpPr>
          <p:grpSpPr>
            <a:xfrm>
              <a:off x="3456871" y="6975120"/>
              <a:ext cx="704980" cy="638182"/>
              <a:chOff x="-4435634" y="3221970"/>
              <a:chExt cx="4325260" cy="3915430"/>
            </a:xfrm>
          </p:grpSpPr>
          <p:pic>
            <p:nvPicPr>
              <p:cNvPr id="224" name="Espace réservé du contenu 6" descr="Tribunal contour">
                <a:extLst>
                  <a:ext uri="{FF2B5EF4-FFF2-40B4-BE49-F238E27FC236}">
                    <a16:creationId xmlns:a16="http://schemas.microsoft.com/office/drawing/2014/main" id="{7F604E03-D3EA-62D9-65BC-085C00EDE5EB}"/>
                  </a:ext>
                </a:extLst>
              </p:cNvPr>
              <p:cNvPicPr>
                <a:picLocks noChangeAspect="1"/>
              </p:cNvPicPr>
              <p:nvPr/>
            </p:nvPicPr>
            <p:blipFill rotWithShape="1">
              <a:blip r:embed="rId49">
                <a:extLst>
                  <a:ext uri="{28A0092B-C50C-407E-A947-70E740481C1C}">
                    <a14:useLocalDpi xmlns:a14="http://schemas.microsoft.com/office/drawing/2010/main" val="0"/>
                  </a:ext>
                  <a:ext uri="{96DAC541-7B7A-43D3-8B79-37D633B846F1}">
                    <asvg:svgBlip xmlns:asvg="http://schemas.microsoft.com/office/drawing/2016/SVG/main" r:embed="rId50"/>
                  </a:ext>
                </a:extLst>
              </a:blip>
              <a:srcRect l="8133" t="12060" r="8805" b="62496"/>
              <a:stretch/>
            </p:blipFill>
            <p:spPr>
              <a:xfrm>
                <a:off x="-4435633" y="3221970"/>
                <a:ext cx="4325259" cy="1324928"/>
              </a:xfrm>
              <a:prstGeom prst="rect">
                <a:avLst/>
              </a:prstGeom>
            </p:spPr>
          </p:pic>
          <p:grpSp>
            <p:nvGrpSpPr>
              <p:cNvPr id="225" name="Groupe 224">
                <a:extLst>
                  <a:ext uri="{FF2B5EF4-FFF2-40B4-BE49-F238E27FC236}">
                    <a16:creationId xmlns:a16="http://schemas.microsoft.com/office/drawing/2014/main" id="{41D6DA53-FFBF-590D-4A9E-E62D6533048C}"/>
                  </a:ext>
                </a:extLst>
              </p:cNvPr>
              <p:cNvGrpSpPr/>
              <p:nvPr/>
            </p:nvGrpSpPr>
            <p:grpSpPr>
              <a:xfrm>
                <a:off x="-4435634" y="4520418"/>
                <a:ext cx="4325260" cy="2616982"/>
                <a:chOff x="-4435634" y="4520418"/>
                <a:chExt cx="4325260" cy="2616982"/>
              </a:xfrm>
            </p:grpSpPr>
            <p:pic>
              <p:nvPicPr>
                <p:cNvPr id="226" name="Espace réservé du contenu 6" descr="Tribunal contour">
                  <a:extLst>
                    <a:ext uri="{FF2B5EF4-FFF2-40B4-BE49-F238E27FC236}">
                      <a16:creationId xmlns:a16="http://schemas.microsoft.com/office/drawing/2014/main" id="{6DCD6654-880D-FB2F-C948-55AEB4893800}"/>
                    </a:ext>
                  </a:extLst>
                </p:cNvPr>
                <p:cNvPicPr>
                  <a:picLocks noChangeAspect="1"/>
                </p:cNvPicPr>
                <p:nvPr/>
              </p:nvPicPr>
              <p:blipFill rotWithShape="1">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rcRect l="8133" t="37523" r="8805" b="24898"/>
                <a:stretch/>
              </p:blipFill>
              <p:spPr>
                <a:xfrm>
                  <a:off x="-4435633" y="4520418"/>
                  <a:ext cx="4325259" cy="1956816"/>
                </a:xfrm>
                <a:prstGeom prst="rect">
                  <a:avLst/>
                </a:prstGeom>
              </p:spPr>
            </p:pic>
            <p:pic>
              <p:nvPicPr>
                <p:cNvPr id="227" name="Graphique 226" descr="Réussite du groupe avec un remplissage uni">
                  <a:extLst>
                    <a:ext uri="{FF2B5EF4-FFF2-40B4-BE49-F238E27FC236}">
                      <a16:creationId xmlns:a16="http://schemas.microsoft.com/office/drawing/2014/main" id="{2980BFE8-4BED-8CCC-6C70-20A2E4396FD3}"/>
                    </a:ext>
                  </a:extLst>
                </p:cNvPr>
                <p:cNvPicPr>
                  <a:picLocks noChangeAspect="1"/>
                </p:cNvPicPr>
                <p:nvPr/>
              </p:nvPicPr>
              <p:blipFill rotWithShape="1">
                <a:blip r:embed="rId53">
                  <a:extLst>
                    <a:ext uri="{28A0092B-C50C-407E-A947-70E740481C1C}">
                      <a14:useLocalDpi xmlns:a14="http://schemas.microsoft.com/office/drawing/2010/main" val="0"/>
                    </a:ext>
                    <a:ext uri="{96DAC541-7B7A-43D3-8B79-37D633B846F1}">
                      <asvg:svgBlip xmlns:asvg="http://schemas.microsoft.com/office/drawing/2016/SVG/main" r:embed="rId54"/>
                    </a:ext>
                  </a:extLst>
                </a:blip>
                <a:srcRect t="13979" b="19010"/>
                <a:stretch/>
              </p:blipFill>
              <p:spPr>
                <a:xfrm>
                  <a:off x="-3132680" y="5325090"/>
                  <a:ext cx="1719352" cy="1152144"/>
                </a:xfrm>
                <a:prstGeom prst="rect">
                  <a:avLst/>
                </a:prstGeom>
              </p:spPr>
            </p:pic>
            <p:pic>
              <p:nvPicPr>
                <p:cNvPr id="228" name="Espace réservé du contenu 6" descr="Tribunal contour">
                  <a:extLst>
                    <a:ext uri="{FF2B5EF4-FFF2-40B4-BE49-F238E27FC236}">
                      <a16:creationId xmlns:a16="http://schemas.microsoft.com/office/drawing/2014/main" id="{1B790936-E93F-1C35-46A4-2F989C9912CD}"/>
                    </a:ext>
                  </a:extLst>
                </p:cNvPr>
                <p:cNvPicPr>
                  <a:picLocks noChangeAspect="1"/>
                </p:cNvPicPr>
                <p:nvPr/>
              </p:nvPicPr>
              <p:blipFill rotWithShape="1">
                <a:blip r:embed="rId55">
                  <a:extLst>
                    <a:ext uri="{28A0092B-C50C-407E-A947-70E740481C1C}">
                      <a14:useLocalDpi xmlns:a14="http://schemas.microsoft.com/office/drawing/2010/main" val="0"/>
                    </a:ext>
                    <a:ext uri="{96DAC541-7B7A-43D3-8B79-37D633B846F1}">
                      <asvg:svgBlip xmlns:asvg="http://schemas.microsoft.com/office/drawing/2016/SVG/main" r:embed="rId56"/>
                    </a:ext>
                  </a:extLst>
                </a:blip>
                <a:srcRect l="8133" t="75103" r="8805" b="12219"/>
                <a:stretch/>
              </p:blipFill>
              <p:spPr>
                <a:xfrm>
                  <a:off x="-4435634" y="6477233"/>
                  <a:ext cx="4325259" cy="660167"/>
                </a:xfrm>
                <a:prstGeom prst="rect">
                  <a:avLst/>
                </a:prstGeom>
              </p:spPr>
            </p:pic>
          </p:grpSp>
        </p:grpSp>
      </p:grpSp>
      <p:pic>
        <p:nvPicPr>
          <p:cNvPr id="252" name="Graphique 251" descr="Réussite du groupe avec un remplissage uni">
            <a:extLst>
              <a:ext uri="{FF2B5EF4-FFF2-40B4-BE49-F238E27FC236}">
                <a16:creationId xmlns:a16="http://schemas.microsoft.com/office/drawing/2014/main" id="{16CD9B5A-A523-E17F-A34D-F279BE94AE85}"/>
              </a:ext>
            </a:extLst>
          </p:cNvPr>
          <p:cNvPicPr>
            <a:picLocks noChangeAspect="1"/>
          </p:cNvPicPr>
          <p:nvPr/>
        </p:nvPicPr>
        <p:blipFill rotWithShape="1">
          <a:blip r:embed="rId53">
            <a:extLst>
              <a:ext uri="{28A0092B-C50C-407E-A947-70E740481C1C}">
                <a14:useLocalDpi xmlns:a14="http://schemas.microsoft.com/office/drawing/2010/main" val="0"/>
              </a:ext>
              <a:ext uri="{96DAC541-7B7A-43D3-8B79-37D633B846F1}">
                <asvg:svgBlip xmlns:asvg="http://schemas.microsoft.com/office/drawing/2016/SVG/main" r:embed="rId54"/>
              </a:ext>
            </a:extLst>
          </a:blip>
          <a:srcRect t="13979" b="19010"/>
          <a:stretch/>
        </p:blipFill>
        <p:spPr>
          <a:xfrm>
            <a:off x="9947110" y="4692798"/>
            <a:ext cx="517580" cy="346832"/>
          </a:xfrm>
          <a:prstGeom prst="rect">
            <a:avLst/>
          </a:prstGeom>
        </p:spPr>
      </p:pic>
      <p:pic>
        <p:nvPicPr>
          <p:cNvPr id="466" name="Graphique 465" descr="Chat avec un remplissage uni">
            <a:extLst>
              <a:ext uri="{FF2B5EF4-FFF2-40B4-BE49-F238E27FC236}">
                <a16:creationId xmlns:a16="http://schemas.microsoft.com/office/drawing/2014/main" id="{2CA2EFF9-4EEA-2B74-6999-F78979DFE083}"/>
              </a:ext>
            </a:extLst>
          </p:cNvPr>
          <p:cNvPicPr>
            <a:picLocks noChangeAspect="1"/>
          </p:cNvPicPr>
          <p:nvPr/>
        </p:nvPicPr>
        <p:blipFill>
          <a:blip r:embed="rId57">
            <a:extLst>
              <a:ext uri="{28A0092B-C50C-407E-A947-70E740481C1C}">
                <a14:useLocalDpi xmlns:a14="http://schemas.microsoft.com/office/drawing/2010/main" val="0"/>
              </a:ext>
              <a:ext uri="{96DAC541-7B7A-43D3-8B79-37D633B846F1}">
                <asvg:svgBlip xmlns:asvg="http://schemas.microsoft.com/office/drawing/2016/SVG/main" r:embed="rId58"/>
              </a:ext>
            </a:extLst>
          </a:blip>
          <a:stretch>
            <a:fillRect/>
          </a:stretch>
        </p:blipFill>
        <p:spPr>
          <a:xfrm>
            <a:off x="8454304" y="2227404"/>
            <a:ext cx="552658" cy="552656"/>
          </a:xfrm>
          <a:prstGeom prst="rect">
            <a:avLst/>
          </a:prstGeom>
        </p:spPr>
      </p:pic>
      <p:pic>
        <p:nvPicPr>
          <p:cNvPr id="470" name="Graphique 469" descr="Flèches de chevron avec un remplissage uni">
            <a:extLst>
              <a:ext uri="{FF2B5EF4-FFF2-40B4-BE49-F238E27FC236}">
                <a16:creationId xmlns:a16="http://schemas.microsoft.com/office/drawing/2014/main" id="{57117CC0-77D5-1DDC-00AC-FC5F319770A3}"/>
              </a:ext>
            </a:extLst>
          </p:cNvPr>
          <p:cNvPicPr>
            <a:picLocks noChangeAspect="1"/>
          </p:cNvPicPr>
          <p:nvPr/>
        </p:nvPicPr>
        <p:blipFill>
          <a:blip r:embed="rId59">
            <a:extLst>
              <a:ext uri="{28A0092B-C50C-407E-A947-70E740481C1C}">
                <a14:useLocalDpi xmlns:a14="http://schemas.microsoft.com/office/drawing/2010/main" val="0"/>
              </a:ext>
              <a:ext uri="{96DAC541-7B7A-43D3-8B79-37D633B846F1}">
                <asvg:svgBlip xmlns:asvg="http://schemas.microsoft.com/office/drawing/2016/SVG/main" r:embed="rId60"/>
              </a:ext>
            </a:extLst>
          </a:blip>
          <a:stretch>
            <a:fillRect/>
          </a:stretch>
        </p:blipFill>
        <p:spPr>
          <a:xfrm>
            <a:off x="5283350" y="2240890"/>
            <a:ext cx="534568" cy="534566"/>
          </a:xfrm>
          <a:prstGeom prst="rect">
            <a:avLst/>
          </a:prstGeom>
        </p:spPr>
      </p:pic>
      <p:pic>
        <p:nvPicPr>
          <p:cNvPr id="473" name="Graphique 472" descr="Tête avec engrenages avec un remplissage uni">
            <a:extLst>
              <a:ext uri="{FF2B5EF4-FFF2-40B4-BE49-F238E27FC236}">
                <a16:creationId xmlns:a16="http://schemas.microsoft.com/office/drawing/2014/main" id="{A3763454-4902-C52F-221A-0B1D3A8B7772}"/>
              </a:ext>
            </a:extLst>
          </p:cNvPr>
          <p:cNvPicPr>
            <a:picLocks noChangeAspect="1"/>
          </p:cNvPicPr>
          <p:nvPr/>
        </p:nvPicPr>
        <p:blipFill>
          <a:blip r:embed="rId61">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7398931" y="2260651"/>
            <a:ext cx="534568" cy="534566"/>
          </a:xfrm>
          <a:prstGeom prst="rect">
            <a:avLst/>
          </a:prstGeom>
        </p:spPr>
      </p:pic>
      <p:pic>
        <p:nvPicPr>
          <p:cNvPr id="476" name="Graphique 475" descr="Informations avec un remplissage uni">
            <a:extLst>
              <a:ext uri="{FF2B5EF4-FFF2-40B4-BE49-F238E27FC236}">
                <a16:creationId xmlns:a16="http://schemas.microsoft.com/office/drawing/2014/main" id="{2CDDAA2A-04A0-F93B-37E1-1E33F7DB6145}"/>
              </a:ext>
            </a:extLst>
          </p:cNvPr>
          <p:cNvPicPr>
            <a:picLocks noChangeAspect="1"/>
          </p:cNvPicPr>
          <p:nvPr/>
        </p:nvPicPr>
        <p:blipFill>
          <a:blip r:embed="rId63">
            <a:extLst>
              <a:ext uri="{28A0092B-C50C-407E-A947-70E740481C1C}">
                <a14:useLocalDpi xmlns:a14="http://schemas.microsoft.com/office/drawing/2010/main" val="0"/>
              </a:ext>
              <a:ext uri="{96DAC541-7B7A-43D3-8B79-37D633B846F1}">
                <asvg:svgBlip xmlns:asvg="http://schemas.microsoft.com/office/drawing/2016/SVG/main" r:embed="rId64"/>
              </a:ext>
            </a:extLst>
          </a:blip>
          <a:stretch>
            <a:fillRect/>
          </a:stretch>
        </p:blipFill>
        <p:spPr>
          <a:xfrm>
            <a:off x="6367279" y="2249373"/>
            <a:ext cx="534568" cy="534566"/>
          </a:xfrm>
          <a:prstGeom prst="rect">
            <a:avLst/>
          </a:prstGeom>
        </p:spPr>
      </p:pic>
      <p:sp>
        <p:nvSpPr>
          <p:cNvPr id="496" name="Rectangle 495">
            <a:extLst>
              <a:ext uri="{FF2B5EF4-FFF2-40B4-BE49-F238E27FC236}">
                <a16:creationId xmlns:a16="http://schemas.microsoft.com/office/drawing/2014/main" id="{0C9EE568-A4E0-A5DC-1CE1-FB19CEA301AE}"/>
              </a:ext>
            </a:extLst>
          </p:cNvPr>
          <p:cNvSpPr/>
          <p:nvPr/>
        </p:nvSpPr>
        <p:spPr>
          <a:xfrm>
            <a:off x="9281214"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Informations clés nouvelles à propos de la Communauté à communiquer</a:t>
            </a:r>
          </a:p>
        </p:txBody>
      </p:sp>
      <p:sp>
        <p:nvSpPr>
          <p:cNvPr id="497" name="Rectangle 496">
            <a:extLst>
              <a:ext uri="{FF2B5EF4-FFF2-40B4-BE49-F238E27FC236}">
                <a16:creationId xmlns:a16="http://schemas.microsoft.com/office/drawing/2014/main" id="{5442C90B-47B5-4B9E-B0FD-EB9D68DEE624}"/>
              </a:ext>
            </a:extLst>
          </p:cNvPr>
          <p:cNvSpPr/>
          <p:nvPr/>
        </p:nvSpPr>
        <p:spPr>
          <a:xfrm>
            <a:off x="7191192" y="2832487"/>
            <a:ext cx="996523" cy="60207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de communication extérieure</a:t>
            </a:r>
          </a:p>
        </p:txBody>
      </p:sp>
      <p:sp>
        <p:nvSpPr>
          <p:cNvPr id="499" name="Rectangle 498">
            <a:extLst>
              <a:ext uri="{FF2B5EF4-FFF2-40B4-BE49-F238E27FC236}">
                <a16:creationId xmlns:a16="http://schemas.microsoft.com/office/drawing/2014/main" id="{5DC4232D-94D5-50C8-C8D4-D0490CB526AD}"/>
              </a:ext>
            </a:extLst>
          </p:cNvPr>
          <p:cNvSpPr/>
          <p:nvPr/>
        </p:nvSpPr>
        <p:spPr>
          <a:xfrm>
            <a:off x="6135004"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Liste des parties prenantes destinataires et coordonnées</a:t>
            </a:r>
          </a:p>
        </p:txBody>
      </p:sp>
      <p:sp>
        <p:nvSpPr>
          <p:cNvPr id="500" name="Rectangle 499">
            <a:extLst>
              <a:ext uri="{FF2B5EF4-FFF2-40B4-BE49-F238E27FC236}">
                <a16:creationId xmlns:a16="http://schemas.microsoft.com/office/drawing/2014/main" id="{EB501125-3781-5CDB-D02E-DAE71B922448}"/>
              </a:ext>
            </a:extLst>
          </p:cNvPr>
          <p:cNvSpPr/>
          <p:nvPr/>
        </p:nvSpPr>
        <p:spPr>
          <a:xfrm>
            <a:off x="8225026"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Outils pour communication extérieure</a:t>
            </a:r>
          </a:p>
        </p:txBody>
      </p:sp>
      <p:sp>
        <p:nvSpPr>
          <p:cNvPr id="501" name="Rectangle 500">
            <a:extLst>
              <a:ext uri="{FF2B5EF4-FFF2-40B4-BE49-F238E27FC236}">
                <a16:creationId xmlns:a16="http://schemas.microsoft.com/office/drawing/2014/main" id="{DE2EBBB7-4EF1-583E-1659-EFF562709469}"/>
              </a:ext>
            </a:extLst>
          </p:cNvPr>
          <p:cNvSpPr/>
          <p:nvPr/>
        </p:nvSpPr>
        <p:spPr>
          <a:xfrm>
            <a:off x="5078816"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Intérêt partagé (identifié) de communiquer à propos de la Communauté</a:t>
            </a:r>
          </a:p>
        </p:txBody>
      </p:sp>
      <p:sp>
        <p:nvSpPr>
          <p:cNvPr id="502" name="Rectangle 501">
            <a:extLst>
              <a:ext uri="{FF2B5EF4-FFF2-40B4-BE49-F238E27FC236}">
                <a16:creationId xmlns:a16="http://schemas.microsoft.com/office/drawing/2014/main" id="{B13E4537-B533-BAC4-91F9-C4964365C6D8}"/>
              </a:ext>
            </a:extLst>
          </p:cNvPr>
          <p:cNvSpPr/>
          <p:nvPr/>
        </p:nvSpPr>
        <p:spPr>
          <a:xfrm>
            <a:off x="10337404"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Outils et compétences de mesure d’impact de communication</a:t>
            </a:r>
          </a:p>
        </p:txBody>
      </p:sp>
      <p:pic>
        <p:nvPicPr>
          <p:cNvPr id="503" name="Graphique 502" descr="Informations avec un remplissage uni">
            <a:extLst>
              <a:ext uri="{FF2B5EF4-FFF2-40B4-BE49-F238E27FC236}">
                <a16:creationId xmlns:a16="http://schemas.microsoft.com/office/drawing/2014/main" id="{282F207F-7199-7C45-D9A8-3A3F91A3A5F5}"/>
              </a:ext>
            </a:extLst>
          </p:cNvPr>
          <p:cNvPicPr>
            <a:picLocks noChangeAspect="1"/>
          </p:cNvPicPr>
          <p:nvPr/>
        </p:nvPicPr>
        <p:blipFill>
          <a:blip r:embed="rId63">
            <a:extLst>
              <a:ext uri="{28A0092B-C50C-407E-A947-70E740481C1C}">
                <a14:useLocalDpi xmlns:a14="http://schemas.microsoft.com/office/drawing/2010/main" val="0"/>
              </a:ext>
              <a:ext uri="{96DAC541-7B7A-43D3-8B79-37D633B846F1}">
                <asvg:svgBlip xmlns:asvg="http://schemas.microsoft.com/office/drawing/2016/SVG/main" r:embed="rId64"/>
              </a:ext>
            </a:extLst>
          </a:blip>
          <a:stretch>
            <a:fillRect/>
          </a:stretch>
        </p:blipFill>
        <p:spPr>
          <a:xfrm>
            <a:off x="9517893" y="2260651"/>
            <a:ext cx="534568" cy="534566"/>
          </a:xfrm>
          <a:prstGeom prst="rect">
            <a:avLst/>
          </a:prstGeom>
        </p:spPr>
      </p:pic>
      <p:pic>
        <p:nvPicPr>
          <p:cNvPr id="507" name="Graphique 506" descr="Chat avec un remplissage uni">
            <a:extLst>
              <a:ext uri="{FF2B5EF4-FFF2-40B4-BE49-F238E27FC236}">
                <a16:creationId xmlns:a16="http://schemas.microsoft.com/office/drawing/2014/main" id="{1B0A6C8A-567D-51CC-FA7A-5F56FA8FAED3}"/>
              </a:ext>
            </a:extLst>
          </p:cNvPr>
          <p:cNvPicPr>
            <a:picLocks noChangeAspect="1"/>
          </p:cNvPicPr>
          <p:nvPr/>
        </p:nvPicPr>
        <p:blipFill>
          <a:blip r:embed="rId57">
            <a:extLst>
              <a:ext uri="{28A0092B-C50C-407E-A947-70E740481C1C}">
                <a14:useLocalDpi xmlns:a14="http://schemas.microsoft.com/office/drawing/2010/main" val="0"/>
              </a:ext>
              <a:ext uri="{96DAC541-7B7A-43D3-8B79-37D633B846F1}">
                <asvg:svgBlip xmlns:asvg="http://schemas.microsoft.com/office/drawing/2016/SVG/main" r:embed="rId58"/>
              </a:ext>
            </a:extLst>
          </a:blip>
          <a:stretch>
            <a:fillRect/>
          </a:stretch>
        </p:blipFill>
        <p:spPr>
          <a:xfrm>
            <a:off x="10750414" y="2260461"/>
            <a:ext cx="552658" cy="552656"/>
          </a:xfrm>
          <a:prstGeom prst="rect">
            <a:avLst/>
          </a:prstGeom>
        </p:spPr>
      </p:pic>
      <p:pic>
        <p:nvPicPr>
          <p:cNvPr id="128" name="Graphique 127" descr="Tête avec engrenages avec un remplissage uni">
            <a:extLst>
              <a:ext uri="{FF2B5EF4-FFF2-40B4-BE49-F238E27FC236}">
                <a16:creationId xmlns:a16="http://schemas.microsoft.com/office/drawing/2014/main" id="{C84C84A6-4A67-62F1-CF4F-006A207DB43C}"/>
              </a:ext>
            </a:extLst>
          </p:cNvPr>
          <p:cNvPicPr>
            <a:picLocks noChangeAspect="1"/>
          </p:cNvPicPr>
          <p:nvPr/>
        </p:nvPicPr>
        <p:blipFill>
          <a:blip r:embed="rId61">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10284920" y="2279191"/>
            <a:ext cx="534568" cy="534566"/>
          </a:xfrm>
          <a:prstGeom prst="rect">
            <a:avLst/>
          </a:prstGeom>
        </p:spPr>
      </p:pic>
    </p:spTree>
    <p:extLst>
      <p:ext uri="{BB962C8B-B14F-4D97-AF65-F5344CB8AC3E}">
        <p14:creationId xmlns:p14="http://schemas.microsoft.com/office/powerpoint/2010/main" val="2621503711"/>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1555370053"/>
              </p:ext>
            </p:extLst>
          </p:nvPr>
        </p:nvGraphicFramePr>
        <p:xfrm>
          <a:off x="847325" y="756212"/>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Etape de mise en commun de ressources</a:t>
                      </a:r>
                    </a:p>
                    <a:p>
                      <a:r>
                        <a:rPr lang="fr-FR" i="1" dirty="0"/>
                        <a:t>« Mettre en commun des ressources pour rendre ces dernières plus efficaces ou rentables en communauté»</a:t>
                      </a:r>
                    </a:p>
                  </a:txBody>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grpSp>
        <p:nvGrpSpPr>
          <p:cNvPr id="26" name="Groupe 25">
            <a:extLst>
              <a:ext uri="{FF2B5EF4-FFF2-40B4-BE49-F238E27FC236}">
                <a16:creationId xmlns:a16="http://schemas.microsoft.com/office/drawing/2014/main" id="{77B894B5-932D-305B-A946-F149651B330B}"/>
              </a:ext>
            </a:extLst>
          </p:cNvPr>
          <p:cNvGrpSpPr/>
          <p:nvPr/>
        </p:nvGrpSpPr>
        <p:grpSpPr>
          <a:xfrm>
            <a:off x="1239164" y="4192596"/>
            <a:ext cx="1176599" cy="921643"/>
            <a:chOff x="7748306" y="490159"/>
            <a:chExt cx="3442453" cy="2696512"/>
          </a:xfrm>
        </p:grpSpPr>
        <p:pic>
          <p:nvPicPr>
            <p:cNvPr id="27" name="Graphique 26" descr="Enveloppe avec un remplissage uni">
              <a:extLst>
                <a:ext uri="{FF2B5EF4-FFF2-40B4-BE49-F238E27FC236}">
                  <a16:creationId xmlns:a16="http://schemas.microsoft.com/office/drawing/2014/main" id="{45F2D0CD-D256-4750-74FD-A288783A6CE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76359" y="490159"/>
              <a:ext cx="914400" cy="914400"/>
            </a:xfrm>
            <a:prstGeom prst="rect">
              <a:avLst/>
            </a:prstGeom>
          </p:spPr>
        </p:pic>
        <p:grpSp>
          <p:nvGrpSpPr>
            <p:cNvPr id="28" name="Groupe 27">
              <a:extLst>
                <a:ext uri="{FF2B5EF4-FFF2-40B4-BE49-F238E27FC236}">
                  <a16:creationId xmlns:a16="http://schemas.microsoft.com/office/drawing/2014/main" id="{B7991EA3-D80C-A514-310D-CB29779B26A3}"/>
                </a:ext>
              </a:extLst>
            </p:cNvPr>
            <p:cNvGrpSpPr/>
            <p:nvPr/>
          </p:nvGrpSpPr>
          <p:grpSpPr>
            <a:xfrm>
              <a:off x="7748306" y="1139265"/>
              <a:ext cx="1452457" cy="1899771"/>
              <a:chOff x="7682578" y="1021976"/>
              <a:chExt cx="1658646" cy="2169460"/>
            </a:xfrm>
          </p:grpSpPr>
          <p:pic>
            <p:nvPicPr>
              <p:cNvPr id="34" name="Graphique 33" descr="Papier contour">
                <a:extLst>
                  <a:ext uri="{FF2B5EF4-FFF2-40B4-BE49-F238E27FC236}">
                    <a16:creationId xmlns:a16="http://schemas.microsoft.com/office/drawing/2014/main" id="{B7088BD8-4A0E-5D30-C8A2-7A4E145AD3F3}"/>
                  </a:ext>
                </a:extLst>
              </p:cNvPr>
              <p:cNvPicPr>
                <a:picLocks noChangeAspect="1"/>
              </p:cNvPicPr>
              <p:nvPr/>
            </p:nvPicPr>
            <p:blipFill rotWithShape="1">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l="17172" t="6805" r="16563" b="6523"/>
              <a:stretch/>
            </p:blipFill>
            <p:spPr>
              <a:xfrm>
                <a:off x="7682578" y="1021976"/>
                <a:ext cx="1658646" cy="2169460"/>
              </a:xfrm>
              <a:prstGeom prst="rect">
                <a:avLst/>
              </a:prstGeom>
            </p:spPr>
          </p:pic>
          <p:pic>
            <p:nvPicPr>
              <p:cNvPr id="35" name="Graphique 34" descr="Aide avec un remplissage uni">
                <a:extLst>
                  <a:ext uri="{FF2B5EF4-FFF2-40B4-BE49-F238E27FC236}">
                    <a16:creationId xmlns:a16="http://schemas.microsoft.com/office/drawing/2014/main" id="{2634C4CA-331C-74DA-43F2-B27ADEAD616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829327" y="1628496"/>
                <a:ext cx="537883" cy="537883"/>
              </a:xfrm>
              <a:prstGeom prst="rect">
                <a:avLst/>
              </a:prstGeom>
            </p:spPr>
          </p:pic>
          <p:pic>
            <p:nvPicPr>
              <p:cNvPr id="36" name="Graphique 35" descr="Aide avec un remplissage uni">
                <a:extLst>
                  <a:ext uri="{FF2B5EF4-FFF2-40B4-BE49-F238E27FC236}">
                    <a16:creationId xmlns:a16="http://schemas.microsoft.com/office/drawing/2014/main" id="{37105BBB-13D8-C913-C858-56E4E5121ED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836722" y="2103170"/>
                <a:ext cx="537883" cy="537883"/>
              </a:xfrm>
              <a:prstGeom prst="rect">
                <a:avLst/>
              </a:prstGeom>
            </p:spPr>
          </p:pic>
          <p:pic>
            <p:nvPicPr>
              <p:cNvPr id="37" name="Graphique 36" descr="Aide avec un remplissage uni">
                <a:extLst>
                  <a:ext uri="{FF2B5EF4-FFF2-40B4-BE49-F238E27FC236}">
                    <a16:creationId xmlns:a16="http://schemas.microsoft.com/office/drawing/2014/main" id="{80A343ED-FF6A-6EBC-3C35-2C4001F03F6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829326" y="2577844"/>
                <a:ext cx="537883" cy="537883"/>
              </a:xfrm>
              <a:prstGeom prst="rect">
                <a:avLst/>
              </a:prstGeom>
            </p:spPr>
          </p:pic>
        </p:grpSp>
        <p:cxnSp>
          <p:nvCxnSpPr>
            <p:cNvPr id="29" name="Connecteur : en angle 28">
              <a:extLst>
                <a:ext uri="{FF2B5EF4-FFF2-40B4-BE49-F238E27FC236}">
                  <a16:creationId xmlns:a16="http://schemas.microsoft.com/office/drawing/2014/main" id="{3DF53132-93E7-362F-2C55-0741DC3816E6}"/>
                </a:ext>
              </a:extLst>
            </p:cNvPr>
            <p:cNvCxnSpPr>
              <a:cxnSpLocks/>
              <a:stCxn id="34" idx="3"/>
              <a:endCxn id="27" idx="1"/>
            </p:cNvCxnSpPr>
            <p:nvPr/>
          </p:nvCxnSpPr>
          <p:spPr>
            <a:xfrm flipV="1">
              <a:off x="9200763" y="947359"/>
              <a:ext cx="1075596" cy="1141792"/>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30" name="Connecteur : en angle 29">
              <a:extLst>
                <a:ext uri="{FF2B5EF4-FFF2-40B4-BE49-F238E27FC236}">
                  <a16:creationId xmlns:a16="http://schemas.microsoft.com/office/drawing/2014/main" id="{07F8B079-01C0-804D-5443-9788D01DF38D}"/>
                </a:ext>
              </a:extLst>
            </p:cNvPr>
            <p:cNvCxnSpPr>
              <a:cxnSpLocks/>
              <a:stCxn id="34" idx="3"/>
            </p:cNvCxnSpPr>
            <p:nvPr/>
          </p:nvCxnSpPr>
          <p:spPr>
            <a:xfrm flipV="1">
              <a:off x="9200763" y="1815071"/>
              <a:ext cx="1075596" cy="274080"/>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30">
              <a:extLst>
                <a:ext uri="{FF2B5EF4-FFF2-40B4-BE49-F238E27FC236}">
                  <a16:creationId xmlns:a16="http://schemas.microsoft.com/office/drawing/2014/main" id="{3A1861E9-707E-E5D3-641E-77226942D6AC}"/>
                </a:ext>
              </a:extLst>
            </p:cNvPr>
            <p:cNvCxnSpPr>
              <a:cxnSpLocks/>
              <a:stCxn id="34" idx="3"/>
            </p:cNvCxnSpPr>
            <p:nvPr/>
          </p:nvCxnSpPr>
          <p:spPr>
            <a:xfrm>
              <a:off x="9200763" y="2089151"/>
              <a:ext cx="1075596" cy="593631"/>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pic>
          <p:nvPicPr>
            <p:cNvPr id="32" name="Graphique 31" descr="Réseau en ligne avec un remplissage uni">
              <a:extLst>
                <a:ext uri="{FF2B5EF4-FFF2-40B4-BE49-F238E27FC236}">
                  <a16:creationId xmlns:a16="http://schemas.microsoft.com/office/drawing/2014/main" id="{1662B18D-ABA6-70B1-EC6C-C1BC96FEE5BE}"/>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0214892" y="2272271"/>
              <a:ext cx="914400" cy="914400"/>
            </a:xfrm>
            <a:prstGeom prst="rect">
              <a:avLst/>
            </a:prstGeom>
          </p:spPr>
        </p:pic>
        <p:pic>
          <p:nvPicPr>
            <p:cNvPr id="33" name="Graphique 32" descr="Réunion en ligne avec un remplissage uni">
              <a:extLst>
                <a:ext uri="{FF2B5EF4-FFF2-40B4-BE49-F238E27FC236}">
                  <a16:creationId xmlns:a16="http://schemas.microsoft.com/office/drawing/2014/main" id="{A5A513EF-5DBD-5ACA-CDA5-401E71EB1E62}"/>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0276359" y="1348236"/>
              <a:ext cx="914400" cy="914400"/>
            </a:xfrm>
            <a:prstGeom prst="rect">
              <a:avLst/>
            </a:prstGeom>
          </p:spPr>
        </p:pic>
      </p:grpSp>
      <p:sp>
        <p:nvSpPr>
          <p:cNvPr id="38" name="Rectangle 37">
            <a:extLst>
              <a:ext uri="{FF2B5EF4-FFF2-40B4-BE49-F238E27FC236}">
                <a16:creationId xmlns:a16="http://schemas.microsoft.com/office/drawing/2014/main" id="{0D3A9616-C899-5590-E8B3-638EA09CB52A}"/>
              </a:ext>
            </a:extLst>
          </p:cNvPr>
          <p:cNvSpPr/>
          <p:nvPr/>
        </p:nvSpPr>
        <p:spPr>
          <a:xfrm>
            <a:off x="989372" y="5150593"/>
            <a:ext cx="1860086" cy="82827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✍️Sondage sur les ressources qui seraient considérées intéressantes pour la Communauté</a:t>
            </a:r>
          </a:p>
        </p:txBody>
      </p:sp>
      <p:grpSp>
        <p:nvGrpSpPr>
          <p:cNvPr id="6" name="Groupe 5">
            <a:extLst>
              <a:ext uri="{FF2B5EF4-FFF2-40B4-BE49-F238E27FC236}">
                <a16:creationId xmlns:a16="http://schemas.microsoft.com/office/drawing/2014/main" id="{8F4BF8AC-7265-1EC4-E9DD-76132AC78CAE}"/>
              </a:ext>
            </a:extLst>
          </p:cNvPr>
          <p:cNvGrpSpPr/>
          <p:nvPr/>
        </p:nvGrpSpPr>
        <p:grpSpPr>
          <a:xfrm>
            <a:off x="3380616" y="2220972"/>
            <a:ext cx="1131981" cy="919579"/>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565C43BC-9734-0741-AC24-2C4CF2F674CB}"/>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55BB0AC8-87A9-9B08-8806-75F3AB7377CA}"/>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A4091F00-D4B0-171A-88BF-62503A3185A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719F49DC-6F43-7727-1FBD-7A6E10E74122}"/>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14360064-77E7-276E-7570-ED296A346849}"/>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0784AA98-7C75-F52D-FD08-42EC5CEE5080}"/>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38364AD5-09A4-2AA8-BBDD-B09C9AD6235D}"/>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2127C177-90F8-6A33-F102-C56FEF6E7AFD}"/>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9BD877AC-471E-7A80-6287-7A6F087C2954}"/>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74AE3032-13B0-F255-B224-EF4061D273BD}"/>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BA2FA962-7A8D-5FD9-F277-6F1746131A9C}"/>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56932" y="3429000"/>
              <a:ext cx="336064" cy="336064"/>
            </a:xfrm>
            <a:prstGeom prst="rect">
              <a:avLst/>
            </a:prstGeom>
          </p:spPr>
        </p:pic>
      </p:grpSp>
      <p:sp>
        <p:nvSpPr>
          <p:cNvPr id="18" name="Titre 1">
            <a:extLst>
              <a:ext uri="{FF2B5EF4-FFF2-40B4-BE49-F238E27FC236}">
                <a16:creationId xmlns:a16="http://schemas.microsoft.com/office/drawing/2014/main" id="{9A350DD1-5D14-8E24-06E7-F595927CFD80}"/>
              </a:ext>
            </a:extLst>
          </p:cNvPr>
          <p:cNvSpPr txBox="1">
            <a:spLocks/>
          </p:cNvSpPr>
          <p:nvPr/>
        </p:nvSpPr>
        <p:spPr>
          <a:xfrm>
            <a:off x="3298477" y="2940495"/>
            <a:ext cx="1281745" cy="65006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19" name="Flèche : droite 18">
            <a:extLst>
              <a:ext uri="{FF2B5EF4-FFF2-40B4-BE49-F238E27FC236}">
                <a16:creationId xmlns:a16="http://schemas.microsoft.com/office/drawing/2014/main" id="{F8C52554-F8CE-C3A7-8274-409314400C0A}"/>
              </a:ext>
            </a:extLst>
          </p:cNvPr>
          <p:cNvSpPr/>
          <p:nvPr/>
        </p:nvSpPr>
        <p:spPr>
          <a:xfrm>
            <a:off x="853925" y="2273332"/>
            <a:ext cx="1423981" cy="1175456"/>
          </a:xfrm>
          <a:prstGeom prst="rightArrow">
            <a:avLst>
              <a:gd name="adj1" fmla="val 63355"/>
              <a:gd name="adj2" fmla="val 54682"/>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36000" rtlCol="0" anchor="ctr"/>
          <a:lstStyle/>
          <a:p>
            <a:pPr algn="ctr"/>
            <a:r>
              <a:rPr lang="fr-FR" sz="1000" b="1" dirty="0">
                <a:solidFill>
                  <a:schemeClr val="tx1"/>
                </a:solidFill>
              </a:rPr>
              <a:t>PRIORISATION ET TESTS:</a:t>
            </a:r>
          </a:p>
          <a:p>
            <a:pPr algn="ctr"/>
            <a:r>
              <a:rPr lang="fr-FR" sz="1000" dirty="0">
                <a:solidFill>
                  <a:schemeClr val="tx1"/>
                </a:solidFill>
              </a:rPr>
              <a:t>Tester la valeur avec les actions priorisées</a:t>
            </a:r>
          </a:p>
        </p:txBody>
      </p:sp>
      <p:sp>
        <p:nvSpPr>
          <p:cNvPr id="20" name="Flèche : droite 19">
            <a:extLst>
              <a:ext uri="{FF2B5EF4-FFF2-40B4-BE49-F238E27FC236}">
                <a16:creationId xmlns:a16="http://schemas.microsoft.com/office/drawing/2014/main" id="{946A1466-BB85-EC37-666D-C50C9FF2A839}"/>
              </a:ext>
            </a:extLst>
          </p:cNvPr>
          <p:cNvSpPr/>
          <p:nvPr/>
        </p:nvSpPr>
        <p:spPr>
          <a:xfrm>
            <a:off x="1804054" y="2155012"/>
            <a:ext cx="1118109" cy="1358809"/>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b="1" dirty="0">
                <a:solidFill>
                  <a:schemeClr val="tx1"/>
                </a:solidFill>
              </a:rPr>
              <a:t>HABITUDE :</a:t>
            </a:r>
          </a:p>
          <a:p>
            <a:pPr algn="ctr"/>
            <a:r>
              <a:rPr lang="fr-FR" sz="1000" dirty="0">
                <a:solidFill>
                  <a:schemeClr val="tx1"/>
                </a:solidFill>
              </a:rPr>
              <a:t>S’habituer à la valeur et la confirmer</a:t>
            </a:r>
          </a:p>
        </p:txBody>
      </p:sp>
      <p:sp>
        <p:nvSpPr>
          <p:cNvPr id="21" name="Rectangle 20">
            <a:extLst>
              <a:ext uri="{FF2B5EF4-FFF2-40B4-BE49-F238E27FC236}">
                <a16:creationId xmlns:a16="http://schemas.microsoft.com/office/drawing/2014/main" id="{3D4DD63F-0E53-8AA4-208C-338E82554C56}"/>
              </a:ext>
            </a:extLst>
          </p:cNvPr>
          <p:cNvSpPr/>
          <p:nvPr/>
        </p:nvSpPr>
        <p:spPr>
          <a:xfrm>
            <a:off x="3324950" y="5150593"/>
            <a:ext cx="1339649" cy="82827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Evaluation du niveau de mise en commun actuel des ressources</a:t>
            </a:r>
          </a:p>
        </p:txBody>
      </p:sp>
      <p:grpSp>
        <p:nvGrpSpPr>
          <p:cNvPr id="22" name="Groupe 21">
            <a:extLst>
              <a:ext uri="{FF2B5EF4-FFF2-40B4-BE49-F238E27FC236}">
                <a16:creationId xmlns:a16="http://schemas.microsoft.com/office/drawing/2014/main" id="{F2D481E5-1E11-2FA6-C126-91507C096B3D}"/>
              </a:ext>
            </a:extLst>
          </p:cNvPr>
          <p:cNvGrpSpPr/>
          <p:nvPr/>
        </p:nvGrpSpPr>
        <p:grpSpPr>
          <a:xfrm>
            <a:off x="3726290" y="3894213"/>
            <a:ext cx="364210" cy="1169237"/>
            <a:chOff x="3912955" y="1517169"/>
            <a:chExt cx="1489519" cy="4781852"/>
          </a:xfrm>
        </p:grpSpPr>
        <p:sp>
          <p:nvSpPr>
            <p:cNvPr id="23" name="Flèche : haut 22">
              <a:extLst>
                <a:ext uri="{FF2B5EF4-FFF2-40B4-BE49-F238E27FC236}">
                  <a16:creationId xmlns:a16="http://schemas.microsoft.com/office/drawing/2014/main" id="{95064D10-7365-D2B0-715C-C32036CBE12E}"/>
                </a:ext>
              </a:extLst>
            </p:cNvPr>
            <p:cNvSpPr/>
            <p:nvPr/>
          </p:nvSpPr>
          <p:spPr>
            <a:xfrm>
              <a:off x="5097674" y="1517169"/>
              <a:ext cx="304800" cy="4781852"/>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 name="Groupe 23">
              <a:extLst>
                <a:ext uri="{FF2B5EF4-FFF2-40B4-BE49-F238E27FC236}">
                  <a16:creationId xmlns:a16="http://schemas.microsoft.com/office/drawing/2014/main" id="{EBDCE98C-B7DD-2B15-2899-BC117A154228}"/>
                </a:ext>
              </a:extLst>
            </p:cNvPr>
            <p:cNvGrpSpPr/>
            <p:nvPr/>
          </p:nvGrpSpPr>
          <p:grpSpPr>
            <a:xfrm>
              <a:off x="4172644" y="1517169"/>
              <a:ext cx="642859" cy="541981"/>
              <a:chOff x="1797480" y="1339838"/>
              <a:chExt cx="1507135" cy="1270634"/>
            </a:xfrm>
          </p:grpSpPr>
          <p:grpSp>
            <p:nvGrpSpPr>
              <p:cNvPr id="244" name="Groupe 243">
                <a:extLst>
                  <a:ext uri="{FF2B5EF4-FFF2-40B4-BE49-F238E27FC236}">
                    <a16:creationId xmlns:a16="http://schemas.microsoft.com/office/drawing/2014/main" id="{CE772452-0779-8072-1726-EE194151AD2B}"/>
                  </a:ext>
                </a:extLst>
              </p:cNvPr>
              <p:cNvGrpSpPr/>
              <p:nvPr/>
            </p:nvGrpSpPr>
            <p:grpSpPr>
              <a:xfrm>
                <a:off x="1797480" y="1339838"/>
                <a:ext cx="1507135" cy="1270634"/>
                <a:chOff x="8982504" y="3274976"/>
                <a:chExt cx="1230670" cy="1037553"/>
              </a:xfrm>
              <a:solidFill>
                <a:srgbClr val="ED7D31"/>
              </a:solidFill>
            </p:grpSpPr>
            <p:pic>
              <p:nvPicPr>
                <p:cNvPr id="246" name="Graphique 245" descr="Utilisateur avec un remplissage uni">
                  <a:extLst>
                    <a:ext uri="{FF2B5EF4-FFF2-40B4-BE49-F238E27FC236}">
                      <a16:creationId xmlns:a16="http://schemas.microsoft.com/office/drawing/2014/main" id="{6A6E0B29-2D59-642C-0C5D-54DFD1EB4F3B}"/>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01028" y="3274976"/>
                  <a:ext cx="336064" cy="336064"/>
                </a:xfrm>
                <a:prstGeom prst="rect">
                  <a:avLst/>
                </a:prstGeom>
              </p:spPr>
            </p:pic>
            <p:pic>
              <p:nvPicPr>
                <p:cNvPr id="247" name="Graphique 246" descr="Utilisateur avec un remplissage uni">
                  <a:extLst>
                    <a:ext uri="{FF2B5EF4-FFF2-40B4-BE49-F238E27FC236}">
                      <a16:creationId xmlns:a16="http://schemas.microsoft.com/office/drawing/2014/main" id="{13EE6636-B1FC-46D7-2111-3C978415B278}"/>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054140" y="3512720"/>
                  <a:ext cx="336064" cy="336064"/>
                </a:xfrm>
                <a:prstGeom prst="rect">
                  <a:avLst/>
                </a:prstGeom>
              </p:spPr>
            </p:pic>
            <p:pic>
              <p:nvPicPr>
                <p:cNvPr id="248" name="Graphique 247" descr="Utilisateur avec un remplissage uni">
                  <a:extLst>
                    <a:ext uri="{FF2B5EF4-FFF2-40B4-BE49-F238E27FC236}">
                      <a16:creationId xmlns:a16="http://schemas.microsoft.com/office/drawing/2014/main" id="{77F03D5D-3F86-1802-54C2-4EFE5FFE1C03}"/>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45616" y="3561880"/>
                  <a:ext cx="336064" cy="336064"/>
                </a:xfrm>
                <a:prstGeom prst="rect">
                  <a:avLst/>
                </a:prstGeom>
              </p:spPr>
            </p:pic>
            <p:pic>
              <p:nvPicPr>
                <p:cNvPr id="249" name="Graphique 248" descr="Utilisateur avec un remplissage uni">
                  <a:extLst>
                    <a:ext uri="{FF2B5EF4-FFF2-40B4-BE49-F238E27FC236}">
                      <a16:creationId xmlns:a16="http://schemas.microsoft.com/office/drawing/2014/main" id="{782AE428-FB04-667E-3206-81AEADFEA080}"/>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92504" y="3418428"/>
                  <a:ext cx="336064" cy="336064"/>
                </a:xfrm>
                <a:prstGeom prst="rect">
                  <a:avLst/>
                </a:prstGeom>
              </p:spPr>
            </p:pic>
            <p:pic>
              <p:nvPicPr>
                <p:cNvPr id="250" name="Graphique 249" descr="Utilisateur avec un remplissage uni">
                  <a:extLst>
                    <a:ext uri="{FF2B5EF4-FFF2-40B4-BE49-F238E27FC236}">
                      <a16:creationId xmlns:a16="http://schemas.microsoft.com/office/drawing/2014/main" id="{6917B21E-EFD3-CABD-F146-8CC1D01416CF}"/>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635196" y="3680752"/>
                  <a:ext cx="336064" cy="336064"/>
                </a:xfrm>
                <a:prstGeom prst="rect">
                  <a:avLst/>
                </a:prstGeom>
              </p:spPr>
            </p:pic>
            <p:pic>
              <p:nvPicPr>
                <p:cNvPr id="251" name="Graphique 250" descr="Utilisateur avec un remplissage uni">
                  <a:extLst>
                    <a:ext uri="{FF2B5EF4-FFF2-40B4-BE49-F238E27FC236}">
                      <a16:creationId xmlns:a16="http://schemas.microsoft.com/office/drawing/2014/main" id="{D4EB95B3-6DD7-1069-3F6E-88DF3A17B661}"/>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256440" y="3848784"/>
                  <a:ext cx="336064" cy="336064"/>
                </a:xfrm>
                <a:prstGeom prst="rect">
                  <a:avLst/>
                </a:prstGeom>
              </p:spPr>
            </p:pic>
            <p:pic>
              <p:nvPicPr>
                <p:cNvPr id="252" name="Graphique 251" descr="Utilisateur avec un remplissage uni">
                  <a:extLst>
                    <a:ext uri="{FF2B5EF4-FFF2-40B4-BE49-F238E27FC236}">
                      <a16:creationId xmlns:a16="http://schemas.microsoft.com/office/drawing/2014/main" id="{51CE7247-5267-E103-7975-937F869FBF11}"/>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982504" y="3835028"/>
                  <a:ext cx="336064" cy="336064"/>
                </a:xfrm>
                <a:prstGeom prst="rect">
                  <a:avLst/>
                </a:prstGeom>
              </p:spPr>
            </p:pic>
            <p:pic>
              <p:nvPicPr>
                <p:cNvPr id="253" name="Graphique 252" descr="Utilisateur avec un remplissage uni">
                  <a:extLst>
                    <a:ext uri="{FF2B5EF4-FFF2-40B4-BE49-F238E27FC236}">
                      <a16:creationId xmlns:a16="http://schemas.microsoft.com/office/drawing/2014/main" id="{B0502AD7-3B82-B025-4956-A60641758DED}"/>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20868" y="3943076"/>
                  <a:ext cx="336064" cy="336064"/>
                </a:xfrm>
                <a:prstGeom prst="rect">
                  <a:avLst/>
                </a:prstGeom>
              </p:spPr>
            </p:pic>
            <p:pic>
              <p:nvPicPr>
                <p:cNvPr id="254" name="Graphique 253" descr="Utilisateur avec un remplissage uni">
                  <a:extLst>
                    <a:ext uri="{FF2B5EF4-FFF2-40B4-BE49-F238E27FC236}">
                      <a16:creationId xmlns:a16="http://schemas.microsoft.com/office/drawing/2014/main" id="{E017D009-57EB-F02C-D874-2521A50C3AFA}"/>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742772" y="3976465"/>
                  <a:ext cx="336064" cy="336064"/>
                </a:xfrm>
                <a:prstGeom prst="rect">
                  <a:avLst/>
                </a:prstGeom>
              </p:spPr>
            </p:pic>
            <p:pic>
              <p:nvPicPr>
                <p:cNvPr id="255" name="Graphique 254" descr="Utilisateur avec un remplissage uni">
                  <a:extLst>
                    <a:ext uri="{FF2B5EF4-FFF2-40B4-BE49-F238E27FC236}">
                      <a16:creationId xmlns:a16="http://schemas.microsoft.com/office/drawing/2014/main" id="{677F6818-C812-FB90-739C-A89CB9DCB85B}"/>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77110" y="3705332"/>
                  <a:ext cx="336064" cy="336064"/>
                </a:xfrm>
                <a:prstGeom prst="rect">
                  <a:avLst/>
                </a:prstGeom>
              </p:spPr>
            </p:pic>
            <p:pic>
              <p:nvPicPr>
                <p:cNvPr id="256" name="Graphique 255" descr="Utilisateur avec un remplissage uni">
                  <a:extLst>
                    <a:ext uri="{FF2B5EF4-FFF2-40B4-BE49-F238E27FC236}">
                      <a16:creationId xmlns:a16="http://schemas.microsoft.com/office/drawing/2014/main" id="{D5F16257-6F4F-7980-9B11-6E26DF12FFE4}"/>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56932" y="3429000"/>
                  <a:ext cx="336064" cy="336064"/>
                </a:xfrm>
                <a:prstGeom prst="rect">
                  <a:avLst/>
                </a:prstGeom>
              </p:spPr>
            </p:pic>
          </p:grpSp>
          <p:pic>
            <p:nvPicPr>
              <p:cNvPr id="245" name="Graphique 244" descr="Boîte à archives avec un remplissage uni">
                <a:extLst>
                  <a:ext uri="{FF2B5EF4-FFF2-40B4-BE49-F238E27FC236}">
                    <a16:creationId xmlns:a16="http://schemas.microsoft.com/office/drawing/2014/main" id="{A7EA7625-7D37-B549-D484-2A71A84760ED}"/>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2164013" y="1631780"/>
                <a:ext cx="795090" cy="795090"/>
              </a:xfrm>
              <a:prstGeom prst="rect">
                <a:avLst/>
              </a:prstGeom>
            </p:spPr>
          </p:pic>
        </p:grpSp>
        <p:grpSp>
          <p:nvGrpSpPr>
            <p:cNvPr id="25" name="Groupe 24">
              <a:extLst>
                <a:ext uri="{FF2B5EF4-FFF2-40B4-BE49-F238E27FC236}">
                  <a16:creationId xmlns:a16="http://schemas.microsoft.com/office/drawing/2014/main" id="{1C807527-0512-AC55-5FDC-E7ADF75D369F}"/>
                </a:ext>
              </a:extLst>
            </p:cNvPr>
            <p:cNvGrpSpPr/>
            <p:nvPr/>
          </p:nvGrpSpPr>
          <p:grpSpPr>
            <a:xfrm>
              <a:off x="3942660" y="2147055"/>
              <a:ext cx="928257" cy="541981"/>
              <a:chOff x="1797480" y="1339838"/>
              <a:chExt cx="2176227" cy="1270634"/>
            </a:xfrm>
          </p:grpSpPr>
          <p:grpSp>
            <p:nvGrpSpPr>
              <p:cNvPr id="231" name="Groupe 230">
                <a:extLst>
                  <a:ext uri="{FF2B5EF4-FFF2-40B4-BE49-F238E27FC236}">
                    <a16:creationId xmlns:a16="http://schemas.microsoft.com/office/drawing/2014/main" id="{544971F1-CAF6-10AE-234F-AF6E9A2496F0}"/>
                  </a:ext>
                </a:extLst>
              </p:cNvPr>
              <p:cNvGrpSpPr/>
              <p:nvPr/>
            </p:nvGrpSpPr>
            <p:grpSpPr>
              <a:xfrm>
                <a:off x="1797480" y="1339838"/>
                <a:ext cx="1507135" cy="1270634"/>
                <a:chOff x="8982504" y="3274976"/>
                <a:chExt cx="1230670" cy="1037553"/>
              </a:xfrm>
              <a:solidFill>
                <a:srgbClr val="ED7D31"/>
              </a:solidFill>
            </p:grpSpPr>
            <p:pic>
              <p:nvPicPr>
                <p:cNvPr id="233" name="Graphique 232" descr="Utilisateur avec un remplissage uni">
                  <a:extLst>
                    <a:ext uri="{FF2B5EF4-FFF2-40B4-BE49-F238E27FC236}">
                      <a16:creationId xmlns:a16="http://schemas.microsoft.com/office/drawing/2014/main" id="{239C78DB-CACD-BB13-FF52-E4EE09C6E6F0}"/>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01028" y="3274976"/>
                  <a:ext cx="336064" cy="336064"/>
                </a:xfrm>
                <a:prstGeom prst="rect">
                  <a:avLst/>
                </a:prstGeom>
              </p:spPr>
            </p:pic>
            <p:pic>
              <p:nvPicPr>
                <p:cNvPr id="234" name="Graphique 233" descr="Utilisateur avec un remplissage uni">
                  <a:extLst>
                    <a:ext uri="{FF2B5EF4-FFF2-40B4-BE49-F238E27FC236}">
                      <a16:creationId xmlns:a16="http://schemas.microsoft.com/office/drawing/2014/main" id="{E120F5C4-86A2-4BE0-45CC-78BB6C6D6015}"/>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054140" y="3512720"/>
                  <a:ext cx="336064" cy="336064"/>
                </a:xfrm>
                <a:prstGeom prst="rect">
                  <a:avLst/>
                </a:prstGeom>
              </p:spPr>
            </p:pic>
            <p:pic>
              <p:nvPicPr>
                <p:cNvPr id="235" name="Graphique 234" descr="Utilisateur avec un remplissage uni">
                  <a:extLst>
                    <a:ext uri="{FF2B5EF4-FFF2-40B4-BE49-F238E27FC236}">
                      <a16:creationId xmlns:a16="http://schemas.microsoft.com/office/drawing/2014/main" id="{C7FB3897-6F52-EE95-2E12-F620CF340792}"/>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45616" y="3561880"/>
                  <a:ext cx="336064" cy="336064"/>
                </a:xfrm>
                <a:prstGeom prst="rect">
                  <a:avLst/>
                </a:prstGeom>
              </p:spPr>
            </p:pic>
            <p:pic>
              <p:nvPicPr>
                <p:cNvPr id="236" name="Graphique 235" descr="Utilisateur avec un remplissage uni">
                  <a:extLst>
                    <a:ext uri="{FF2B5EF4-FFF2-40B4-BE49-F238E27FC236}">
                      <a16:creationId xmlns:a16="http://schemas.microsoft.com/office/drawing/2014/main" id="{11EB6C76-D055-AE76-D23F-1D1EDB8AADDF}"/>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92504" y="3418428"/>
                  <a:ext cx="336064" cy="336064"/>
                </a:xfrm>
                <a:prstGeom prst="rect">
                  <a:avLst/>
                </a:prstGeom>
              </p:spPr>
            </p:pic>
            <p:pic>
              <p:nvPicPr>
                <p:cNvPr id="237" name="Graphique 236" descr="Utilisateur avec un remplissage uni">
                  <a:extLst>
                    <a:ext uri="{FF2B5EF4-FFF2-40B4-BE49-F238E27FC236}">
                      <a16:creationId xmlns:a16="http://schemas.microsoft.com/office/drawing/2014/main" id="{E3C15C46-A8B4-1C76-96E9-E9339C14CE8A}"/>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635196" y="3680752"/>
                  <a:ext cx="336064" cy="336064"/>
                </a:xfrm>
                <a:prstGeom prst="rect">
                  <a:avLst/>
                </a:prstGeom>
              </p:spPr>
            </p:pic>
            <p:pic>
              <p:nvPicPr>
                <p:cNvPr id="238" name="Graphique 237" descr="Utilisateur avec un remplissage uni">
                  <a:extLst>
                    <a:ext uri="{FF2B5EF4-FFF2-40B4-BE49-F238E27FC236}">
                      <a16:creationId xmlns:a16="http://schemas.microsoft.com/office/drawing/2014/main" id="{C07E290F-B567-3725-2C0F-F65DF503A915}"/>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256440" y="3848784"/>
                  <a:ext cx="336064" cy="336064"/>
                </a:xfrm>
                <a:prstGeom prst="rect">
                  <a:avLst/>
                </a:prstGeom>
              </p:spPr>
            </p:pic>
            <p:pic>
              <p:nvPicPr>
                <p:cNvPr id="239" name="Graphique 238" descr="Utilisateur avec un remplissage uni">
                  <a:extLst>
                    <a:ext uri="{FF2B5EF4-FFF2-40B4-BE49-F238E27FC236}">
                      <a16:creationId xmlns:a16="http://schemas.microsoft.com/office/drawing/2014/main" id="{64E7AADF-9B27-8C33-18AF-39D6EF9AA288}"/>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982504" y="3835028"/>
                  <a:ext cx="336064" cy="336064"/>
                </a:xfrm>
                <a:prstGeom prst="rect">
                  <a:avLst/>
                </a:prstGeom>
              </p:spPr>
            </p:pic>
            <p:pic>
              <p:nvPicPr>
                <p:cNvPr id="240" name="Graphique 239" descr="Utilisateur avec un remplissage uni">
                  <a:extLst>
                    <a:ext uri="{FF2B5EF4-FFF2-40B4-BE49-F238E27FC236}">
                      <a16:creationId xmlns:a16="http://schemas.microsoft.com/office/drawing/2014/main" id="{BE8CF277-169C-CABB-56F5-8FD9A712A42E}"/>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20868" y="3943076"/>
                  <a:ext cx="336064" cy="336064"/>
                </a:xfrm>
                <a:prstGeom prst="rect">
                  <a:avLst/>
                </a:prstGeom>
              </p:spPr>
            </p:pic>
            <p:pic>
              <p:nvPicPr>
                <p:cNvPr id="241" name="Graphique 240" descr="Utilisateur avec un remplissage uni">
                  <a:extLst>
                    <a:ext uri="{FF2B5EF4-FFF2-40B4-BE49-F238E27FC236}">
                      <a16:creationId xmlns:a16="http://schemas.microsoft.com/office/drawing/2014/main" id="{13A7143C-7EA1-B175-0E37-B03E4F08AE59}"/>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742772" y="3976465"/>
                  <a:ext cx="336064" cy="336064"/>
                </a:xfrm>
                <a:prstGeom prst="rect">
                  <a:avLst/>
                </a:prstGeom>
              </p:spPr>
            </p:pic>
            <p:pic>
              <p:nvPicPr>
                <p:cNvPr id="242" name="Graphique 241" descr="Utilisateur avec un remplissage uni">
                  <a:extLst>
                    <a:ext uri="{FF2B5EF4-FFF2-40B4-BE49-F238E27FC236}">
                      <a16:creationId xmlns:a16="http://schemas.microsoft.com/office/drawing/2014/main" id="{528C198F-A075-4F9B-6B4F-41CEA540B421}"/>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77110" y="3705332"/>
                  <a:ext cx="336064" cy="336064"/>
                </a:xfrm>
                <a:prstGeom prst="rect">
                  <a:avLst/>
                </a:prstGeom>
              </p:spPr>
            </p:pic>
            <p:pic>
              <p:nvPicPr>
                <p:cNvPr id="243" name="Graphique 242" descr="Utilisateur avec un remplissage uni">
                  <a:extLst>
                    <a:ext uri="{FF2B5EF4-FFF2-40B4-BE49-F238E27FC236}">
                      <a16:creationId xmlns:a16="http://schemas.microsoft.com/office/drawing/2014/main" id="{9CA3B584-F0F6-603A-8421-E27CB393C3CA}"/>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56932" y="3429000"/>
                  <a:ext cx="336064" cy="336064"/>
                </a:xfrm>
                <a:prstGeom prst="rect">
                  <a:avLst/>
                </a:prstGeom>
              </p:spPr>
            </p:pic>
          </p:grpSp>
          <p:pic>
            <p:nvPicPr>
              <p:cNvPr id="232" name="Graphique 231" descr="Boîte à archives avec un remplissage uni">
                <a:extLst>
                  <a:ext uri="{FF2B5EF4-FFF2-40B4-BE49-F238E27FC236}">
                    <a16:creationId xmlns:a16="http://schemas.microsoft.com/office/drawing/2014/main" id="{D19DD193-6B71-1761-B0F4-06573BCDEDC3}"/>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3178618" y="1572578"/>
                <a:ext cx="795089" cy="795090"/>
              </a:xfrm>
              <a:prstGeom prst="rect">
                <a:avLst/>
              </a:prstGeom>
            </p:spPr>
          </p:pic>
        </p:grpSp>
        <p:grpSp>
          <p:nvGrpSpPr>
            <p:cNvPr id="448" name="Groupe 447">
              <a:extLst>
                <a:ext uri="{FF2B5EF4-FFF2-40B4-BE49-F238E27FC236}">
                  <a16:creationId xmlns:a16="http://schemas.microsoft.com/office/drawing/2014/main" id="{E7E2A475-FA3B-D600-E07A-742BF340286E}"/>
                </a:ext>
              </a:extLst>
            </p:cNvPr>
            <p:cNvGrpSpPr/>
            <p:nvPr/>
          </p:nvGrpSpPr>
          <p:grpSpPr>
            <a:xfrm>
              <a:off x="3942660" y="2925587"/>
              <a:ext cx="1104068" cy="541981"/>
              <a:chOff x="1797481" y="3401554"/>
              <a:chExt cx="1314902" cy="645478"/>
            </a:xfrm>
          </p:grpSpPr>
          <p:grpSp>
            <p:nvGrpSpPr>
              <p:cNvPr id="167" name="Groupe 166">
                <a:extLst>
                  <a:ext uri="{FF2B5EF4-FFF2-40B4-BE49-F238E27FC236}">
                    <a16:creationId xmlns:a16="http://schemas.microsoft.com/office/drawing/2014/main" id="{FFAB13B5-8CB0-571D-8369-B9A7EE2C7319}"/>
                  </a:ext>
                </a:extLst>
              </p:cNvPr>
              <p:cNvGrpSpPr/>
              <p:nvPr/>
            </p:nvGrpSpPr>
            <p:grpSpPr>
              <a:xfrm>
                <a:off x="1797481" y="3401554"/>
                <a:ext cx="1314902" cy="645478"/>
                <a:chOff x="1797480" y="1339838"/>
                <a:chExt cx="2588405" cy="1270634"/>
              </a:xfrm>
            </p:grpSpPr>
            <p:grpSp>
              <p:nvGrpSpPr>
                <p:cNvPr id="169" name="Groupe 168">
                  <a:extLst>
                    <a:ext uri="{FF2B5EF4-FFF2-40B4-BE49-F238E27FC236}">
                      <a16:creationId xmlns:a16="http://schemas.microsoft.com/office/drawing/2014/main" id="{6EF00B62-0309-9B66-91A3-83924DAC82D9}"/>
                    </a:ext>
                  </a:extLst>
                </p:cNvPr>
                <p:cNvGrpSpPr/>
                <p:nvPr/>
              </p:nvGrpSpPr>
              <p:grpSpPr>
                <a:xfrm>
                  <a:off x="1797480" y="1339838"/>
                  <a:ext cx="1507135" cy="1270634"/>
                  <a:chOff x="8982504" y="3274976"/>
                  <a:chExt cx="1230670" cy="1037553"/>
                </a:xfrm>
                <a:solidFill>
                  <a:srgbClr val="ED7D31"/>
                </a:solidFill>
              </p:grpSpPr>
              <p:pic>
                <p:nvPicPr>
                  <p:cNvPr id="171" name="Graphique 170" descr="Utilisateur avec un remplissage uni">
                    <a:extLst>
                      <a:ext uri="{FF2B5EF4-FFF2-40B4-BE49-F238E27FC236}">
                        <a16:creationId xmlns:a16="http://schemas.microsoft.com/office/drawing/2014/main" id="{92297AF0-8A3F-A45E-0962-7F5682C05EB1}"/>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01028" y="3274976"/>
                    <a:ext cx="336064" cy="336064"/>
                  </a:xfrm>
                  <a:prstGeom prst="rect">
                    <a:avLst/>
                  </a:prstGeom>
                </p:spPr>
              </p:pic>
              <p:pic>
                <p:nvPicPr>
                  <p:cNvPr id="221" name="Graphique 220" descr="Utilisateur avec un remplissage uni">
                    <a:extLst>
                      <a:ext uri="{FF2B5EF4-FFF2-40B4-BE49-F238E27FC236}">
                        <a16:creationId xmlns:a16="http://schemas.microsoft.com/office/drawing/2014/main" id="{4FF4CDDF-57AA-DB13-4182-3AA098804007}"/>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054140" y="3512720"/>
                    <a:ext cx="336064" cy="336064"/>
                  </a:xfrm>
                  <a:prstGeom prst="rect">
                    <a:avLst/>
                  </a:prstGeom>
                </p:spPr>
              </p:pic>
              <p:pic>
                <p:nvPicPr>
                  <p:cNvPr id="222" name="Graphique 221" descr="Utilisateur avec un remplissage uni">
                    <a:extLst>
                      <a:ext uri="{FF2B5EF4-FFF2-40B4-BE49-F238E27FC236}">
                        <a16:creationId xmlns:a16="http://schemas.microsoft.com/office/drawing/2014/main" id="{15FA935B-C6FC-DF3F-8C21-43956805C252}"/>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45616" y="3561880"/>
                    <a:ext cx="336064" cy="336064"/>
                  </a:xfrm>
                  <a:prstGeom prst="rect">
                    <a:avLst/>
                  </a:prstGeom>
                </p:spPr>
              </p:pic>
              <p:pic>
                <p:nvPicPr>
                  <p:cNvPr id="223" name="Graphique 222" descr="Utilisateur avec un remplissage uni">
                    <a:extLst>
                      <a:ext uri="{FF2B5EF4-FFF2-40B4-BE49-F238E27FC236}">
                        <a16:creationId xmlns:a16="http://schemas.microsoft.com/office/drawing/2014/main" id="{683A8ECF-CB71-6CC8-BCA3-96FD3518F37A}"/>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92504" y="3418428"/>
                    <a:ext cx="336064" cy="336064"/>
                  </a:xfrm>
                  <a:prstGeom prst="rect">
                    <a:avLst/>
                  </a:prstGeom>
                </p:spPr>
              </p:pic>
              <p:pic>
                <p:nvPicPr>
                  <p:cNvPr id="224" name="Graphique 223" descr="Utilisateur avec un remplissage uni">
                    <a:extLst>
                      <a:ext uri="{FF2B5EF4-FFF2-40B4-BE49-F238E27FC236}">
                        <a16:creationId xmlns:a16="http://schemas.microsoft.com/office/drawing/2014/main" id="{7E3A193A-6849-4B21-B52C-BD98ADAF8682}"/>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635196" y="3680752"/>
                    <a:ext cx="336064" cy="336064"/>
                  </a:xfrm>
                  <a:prstGeom prst="rect">
                    <a:avLst/>
                  </a:prstGeom>
                </p:spPr>
              </p:pic>
              <p:pic>
                <p:nvPicPr>
                  <p:cNvPr id="225" name="Graphique 224" descr="Utilisateur avec un remplissage uni">
                    <a:extLst>
                      <a:ext uri="{FF2B5EF4-FFF2-40B4-BE49-F238E27FC236}">
                        <a16:creationId xmlns:a16="http://schemas.microsoft.com/office/drawing/2014/main" id="{C90734A4-266E-6BDF-E548-CDF83E7C315D}"/>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256440" y="3848784"/>
                    <a:ext cx="336064" cy="336064"/>
                  </a:xfrm>
                  <a:prstGeom prst="rect">
                    <a:avLst/>
                  </a:prstGeom>
                </p:spPr>
              </p:pic>
              <p:pic>
                <p:nvPicPr>
                  <p:cNvPr id="226" name="Graphique 225" descr="Utilisateur avec un remplissage uni">
                    <a:extLst>
                      <a:ext uri="{FF2B5EF4-FFF2-40B4-BE49-F238E27FC236}">
                        <a16:creationId xmlns:a16="http://schemas.microsoft.com/office/drawing/2014/main" id="{49F6494C-3E2B-B6A8-B2E6-86348DCACF14}"/>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982504" y="3835028"/>
                    <a:ext cx="336064" cy="336064"/>
                  </a:xfrm>
                  <a:prstGeom prst="rect">
                    <a:avLst/>
                  </a:prstGeom>
                </p:spPr>
              </p:pic>
              <p:pic>
                <p:nvPicPr>
                  <p:cNvPr id="227" name="Graphique 226" descr="Utilisateur avec un remplissage uni">
                    <a:extLst>
                      <a:ext uri="{FF2B5EF4-FFF2-40B4-BE49-F238E27FC236}">
                        <a16:creationId xmlns:a16="http://schemas.microsoft.com/office/drawing/2014/main" id="{D2714F3D-F056-ECE2-06E8-1C0EA1CA16AC}"/>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20868" y="3943076"/>
                    <a:ext cx="336064" cy="336064"/>
                  </a:xfrm>
                  <a:prstGeom prst="rect">
                    <a:avLst/>
                  </a:prstGeom>
                </p:spPr>
              </p:pic>
              <p:pic>
                <p:nvPicPr>
                  <p:cNvPr id="228" name="Graphique 227" descr="Utilisateur avec un remplissage uni">
                    <a:extLst>
                      <a:ext uri="{FF2B5EF4-FFF2-40B4-BE49-F238E27FC236}">
                        <a16:creationId xmlns:a16="http://schemas.microsoft.com/office/drawing/2014/main" id="{F23CB7FF-8BAE-A090-839E-A51ECA1E2585}"/>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742772" y="3976465"/>
                    <a:ext cx="336064" cy="336064"/>
                  </a:xfrm>
                  <a:prstGeom prst="rect">
                    <a:avLst/>
                  </a:prstGeom>
                </p:spPr>
              </p:pic>
              <p:pic>
                <p:nvPicPr>
                  <p:cNvPr id="229" name="Graphique 228" descr="Utilisateur avec un remplissage uni">
                    <a:extLst>
                      <a:ext uri="{FF2B5EF4-FFF2-40B4-BE49-F238E27FC236}">
                        <a16:creationId xmlns:a16="http://schemas.microsoft.com/office/drawing/2014/main" id="{B2BEC475-20DC-D385-53CE-3C0B67982B8C}"/>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77110" y="3705332"/>
                    <a:ext cx="336064" cy="336064"/>
                  </a:xfrm>
                  <a:prstGeom prst="rect">
                    <a:avLst/>
                  </a:prstGeom>
                </p:spPr>
              </p:pic>
              <p:pic>
                <p:nvPicPr>
                  <p:cNvPr id="230" name="Graphique 229" descr="Utilisateur avec un remplissage uni">
                    <a:extLst>
                      <a:ext uri="{FF2B5EF4-FFF2-40B4-BE49-F238E27FC236}">
                        <a16:creationId xmlns:a16="http://schemas.microsoft.com/office/drawing/2014/main" id="{2FAA55E7-5657-4059-4C5B-F5FB9A721649}"/>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56932" y="3429000"/>
                    <a:ext cx="336064" cy="336064"/>
                  </a:xfrm>
                  <a:prstGeom prst="rect">
                    <a:avLst/>
                  </a:prstGeom>
                </p:spPr>
              </p:pic>
            </p:grpSp>
            <p:pic>
              <p:nvPicPr>
                <p:cNvPr id="170" name="Graphique 169" descr="Boîte à archives avec un remplissage uni">
                  <a:extLst>
                    <a:ext uri="{FF2B5EF4-FFF2-40B4-BE49-F238E27FC236}">
                      <a16:creationId xmlns:a16="http://schemas.microsoft.com/office/drawing/2014/main" id="{BF73B416-6A24-DCBB-F5CF-632280756BCA}"/>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3590796" y="1573442"/>
                  <a:ext cx="795089" cy="795090"/>
                </a:xfrm>
                <a:prstGeom prst="rect">
                  <a:avLst/>
                </a:prstGeom>
              </p:spPr>
            </p:pic>
          </p:grpSp>
          <p:pic>
            <p:nvPicPr>
              <p:cNvPr id="168" name="Graphique 167" descr="Déverrouiller avec un remplissage uni">
                <a:extLst>
                  <a:ext uri="{FF2B5EF4-FFF2-40B4-BE49-F238E27FC236}">
                    <a16:creationId xmlns:a16="http://schemas.microsoft.com/office/drawing/2014/main" id="{319ADC7E-9CBC-27EB-4A02-AB5223CEA06D}"/>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flipH="1">
                <a:off x="2498111" y="3408841"/>
                <a:ext cx="432779" cy="462545"/>
              </a:xfrm>
              <a:prstGeom prst="rect">
                <a:avLst/>
              </a:prstGeom>
            </p:spPr>
          </p:pic>
        </p:grpSp>
        <p:grpSp>
          <p:nvGrpSpPr>
            <p:cNvPr id="450" name="Groupe 449">
              <a:extLst>
                <a:ext uri="{FF2B5EF4-FFF2-40B4-BE49-F238E27FC236}">
                  <a16:creationId xmlns:a16="http://schemas.microsoft.com/office/drawing/2014/main" id="{72AED19C-4385-D2A0-335B-BF8C205BB9C9}"/>
                </a:ext>
              </a:extLst>
            </p:cNvPr>
            <p:cNvGrpSpPr/>
            <p:nvPr/>
          </p:nvGrpSpPr>
          <p:grpSpPr>
            <a:xfrm>
              <a:off x="3945288" y="3643032"/>
              <a:ext cx="1104068" cy="541981"/>
              <a:chOff x="1800611" y="4256002"/>
              <a:chExt cx="1314902" cy="645478"/>
            </a:xfrm>
          </p:grpSpPr>
          <p:grpSp>
            <p:nvGrpSpPr>
              <p:cNvPr id="151" name="Groupe 150">
                <a:extLst>
                  <a:ext uri="{FF2B5EF4-FFF2-40B4-BE49-F238E27FC236}">
                    <a16:creationId xmlns:a16="http://schemas.microsoft.com/office/drawing/2014/main" id="{A2DD6FFC-A9E3-1B10-DE4C-26B96C06015A}"/>
                  </a:ext>
                </a:extLst>
              </p:cNvPr>
              <p:cNvGrpSpPr/>
              <p:nvPr/>
            </p:nvGrpSpPr>
            <p:grpSpPr>
              <a:xfrm>
                <a:off x="1800611" y="4256002"/>
                <a:ext cx="1314902" cy="645478"/>
                <a:chOff x="1797480" y="1339838"/>
                <a:chExt cx="2588405" cy="1270634"/>
              </a:xfrm>
            </p:grpSpPr>
            <p:grpSp>
              <p:nvGrpSpPr>
                <p:cNvPr id="153" name="Groupe 152">
                  <a:extLst>
                    <a:ext uri="{FF2B5EF4-FFF2-40B4-BE49-F238E27FC236}">
                      <a16:creationId xmlns:a16="http://schemas.microsoft.com/office/drawing/2014/main" id="{FC04DFEC-E651-EBC7-BA61-823727BA0139}"/>
                    </a:ext>
                  </a:extLst>
                </p:cNvPr>
                <p:cNvGrpSpPr/>
                <p:nvPr/>
              </p:nvGrpSpPr>
              <p:grpSpPr>
                <a:xfrm>
                  <a:off x="1797480" y="1339838"/>
                  <a:ext cx="1507135" cy="1270634"/>
                  <a:chOff x="8982504" y="3274976"/>
                  <a:chExt cx="1230670" cy="1037553"/>
                </a:xfrm>
                <a:solidFill>
                  <a:srgbClr val="ED7D31"/>
                </a:solidFill>
              </p:grpSpPr>
              <p:pic>
                <p:nvPicPr>
                  <p:cNvPr id="155" name="Graphique 154" descr="Utilisateur avec un remplissage uni">
                    <a:extLst>
                      <a:ext uri="{FF2B5EF4-FFF2-40B4-BE49-F238E27FC236}">
                        <a16:creationId xmlns:a16="http://schemas.microsoft.com/office/drawing/2014/main" id="{BD8DE9D3-2E25-59C7-DA85-F2B2489584BC}"/>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01028" y="3274976"/>
                    <a:ext cx="336064" cy="336064"/>
                  </a:xfrm>
                  <a:prstGeom prst="rect">
                    <a:avLst/>
                  </a:prstGeom>
                </p:spPr>
              </p:pic>
              <p:pic>
                <p:nvPicPr>
                  <p:cNvPr id="156" name="Graphique 155" descr="Utilisateur avec un remplissage uni">
                    <a:extLst>
                      <a:ext uri="{FF2B5EF4-FFF2-40B4-BE49-F238E27FC236}">
                        <a16:creationId xmlns:a16="http://schemas.microsoft.com/office/drawing/2014/main" id="{50B02B08-8F1A-B6B0-A6D4-6548C7510D25}"/>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054140" y="3512720"/>
                    <a:ext cx="336064" cy="336064"/>
                  </a:xfrm>
                  <a:prstGeom prst="rect">
                    <a:avLst/>
                  </a:prstGeom>
                </p:spPr>
              </p:pic>
              <p:pic>
                <p:nvPicPr>
                  <p:cNvPr id="157" name="Graphique 156" descr="Utilisateur avec un remplissage uni">
                    <a:extLst>
                      <a:ext uri="{FF2B5EF4-FFF2-40B4-BE49-F238E27FC236}">
                        <a16:creationId xmlns:a16="http://schemas.microsoft.com/office/drawing/2014/main" id="{9BAE3E71-EB37-EA50-B575-A128D0741958}"/>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45616" y="3561880"/>
                    <a:ext cx="336064" cy="336064"/>
                  </a:xfrm>
                  <a:prstGeom prst="rect">
                    <a:avLst/>
                  </a:prstGeom>
                </p:spPr>
              </p:pic>
              <p:pic>
                <p:nvPicPr>
                  <p:cNvPr id="159" name="Graphique 158" descr="Utilisateur avec un remplissage uni">
                    <a:extLst>
                      <a:ext uri="{FF2B5EF4-FFF2-40B4-BE49-F238E27FC236}">
                        <a16:creationId xmlns:a16="http://schemas.microsoft.com/office/drawing/2014/main" id="{C8E55FC8-CD4F-F491-36BB-15A86113062A}"/>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92504" y="3418428"/>
                    <a:ext cx="336064" cy="336064"/>
                  </a:xfrm>
                  <a:prstGeom prst="rect">
                    <a:avLst/>
                  </a:prstGeom>
                </p:spPr>
              </p:pic>
              <p:pic>
                <p:nvPicPr>
                  <p:cNvPr id="160" name="Graphique 159" descr="Utilisateur avec un remplissage uni">
                    <a:extLst>
                      <a:ext uri="{FF2B5EF4-FFF2-40B4-BE49-F238E27FC236}">
                        <a16:creationId xmlns:a16="http://schemas.microsoft.com/office/drawing/2014/main" id="{33CFE519-FA13-A243-1BB8-903EFF7FD89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635196" y="3680752"/>
                    <a:ext cx="336064" cy="336064"/>
                  </a:xfrm>
                  <a:prstGeom prst="rect">
                    <a:avLst/>
                  </a:prstGeom>
                </p:spPr>
              </p:pic>
              <p:pic>
                <p:nvPicPr>
                  <p:cNvPr id="161" name="Graphique 160" descr="Utilisateur avec un remplissage uni">
                    <a:extLst>
                      <a:ext uri="{FF2B5EF4-FFF2-40B4-BE49-F238E27FC236}">
                        <a16:creationId xmlns:a16="http://schemas.microsoft.com/office/drawing/2014/main" id="{0F0199B6-B847-0DC2-82F7-131CC188571C}"/>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256440" y="3848784"/>
                    <a:ext cx="336064" cy="336064"/>
                  </a:xfrm>
                  <a:prstGeom prst="rect">
                    <a:avLst/>
                  </a:prstGeom>
                </p:spPr>
              </p:pic>
              <p:pic>
                <p:nvPicPr>
                  <p:cNvPr id="162" name="Graphique 161" descr="Utilisateur avec un remplissage uni">
                    <a:extLst>
                      <a:ext uri="{FF2B5EF4-FFF2-40B4-BE49-F238E27FC236}">
                        <a16:creationId xmlns:a16="http://schemas.microsoft.com/office/drawing/2014/main" id="{4463C6FB-3FB0-1020-FA98-D32280AA0D5D}"/>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982504" y="3835028"/>
                    <a:ext cx="336064" cy="336064"/>
                  </a:xfrm>
                  <a:prstGeom prst="rect">
                    <a:avLst/>
                  </a:prstGeom>
                </p:spPr>
              </p:pic>
              <p:pic>
                <p:nvPicPr>
                  <p:cNvPr id="163" name="Graphique 162" descr="Utilisateur avec un remplissage uni">
                    <a:extLst>
                      <a:ext uri="{FF2B5EF4-FFF2-40B4-BE49-F238E27FC236}">
                        <a16:creationId xmlns:a16="http://schemas.microsoft.com/office/drawing/2014/main" id="{8BDA25BA-4855-F69C-EEB2-0C2997470C24}"/>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20868" y="3943076"/>
                    <a:ext cx="336064" cy="336064"/>
                  </a:xfrm>
                  <a:prstGeom prst="rect">
                    <a:avLst/>
                  </a:prstGeom>
                </p:spPr>
              </p:pic>
              <p:pic>
                <p:nvPicPr>
                  <p:cNvPr id="164" name="Graphique 163" descr="Utilisateur avec un remplissage uni">
                    <a:extLst>
                      <a:ext uri="{FF2B5EF4-FFF2-40B4-BE49-F238E27FC236}">
                        <a16:creationId xmlns:a16="http://schemas.microsoft.com/office/drawing/2014/main" id="{35FD57F9-5762-0EA2-11D9-7C72545724F9}"/>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742772" y="3976465"/>
                    <a:ext cx="336064" cy="336064"/>
                  </a:xfrm>
                  <a:prstGeom prst="rect">
                    <a:avLst/>
                  </a:prstGeom>
                </p:spPr>
              </p:pic>
              <p:pic>
                <p:nvPicPr>
                  <p:cNvPr id="165" name="Graphique 164" descr="Utilisateur avec un remplissage uni">
                    <a:extLst>
                      <a:ext uri="{FF2B5EF4-FFF2-40B4-BE49-F238E27FC236}">
                        <a16:creationId xmlns:a16="http://schemas.microsoft.com/office/drawing/2014/main" id="{55BB2D57-8D49-D7F7-0A36-7C1F77D1A79E}"/>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77110" y="3705332"/>
                    <a:ext cx="336064" cy="336064"/>
                  </a:xfrm>
                  <a:prstGeom prst="rect">
                    <a:avLst/>
                  </a:prstGeom>
                </p:spPr>
              </p:pic>
              <p:pic>
                <p:nvPicPr>
                  <p:cNvPr id="166" name="Graphique 165" descr="Utilisateur avec un remplissage uni">
                    <a:extLst>
                      <a:ext uri="{FF2B5EF4-FFF2-40B4-BE49-F238E27FC236}">
                        <a16:creationId xmlns:a16="http://schemas.microsoft.com/office/drawing/2014/main" id="{A21992F4-294F-67DC-D1EB-B452DC7E005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56932" y="3429000"/>
                    <a:ext cx="336064" cy="336064"/>
                  </a:xfrm>
                  <a:prstGeom prst="rect">
                    <a:avLst/>
                  </a:prstGeom>
                </p:spPr>
              </p:pic>
            </p:grpSp>
            <p:pic>
              <p:nvPicPr>
                <p:cNvPr id="154" name="Graphique 153" descr="Boîte à archives avec un remplissage uni">
                  <a:extLst>
                    <a:ext uri="{FF2B5EF4-FFF2-40B4-BE49-F238E27FC236}">
                      <a16:creationId xmlns:a16="http://schemas.microsoft.com/office/drawing/2014/main" id="{6993CD7D-F98C-8E67-F350-DE060B3E61EE}"/>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3590796" y="1573442"/>
                  <a:ext cx="795089" cy="795090"/>
                </a:xfrm>
                <a:prstGeom prst="rect">
                  <a:avLst/>
                </a:prstGeom>
              </p:spPr>
            </p:pic>
          </p:grpSp>
          <p:pic>
            <p:nvPicPr>
              <p:cNvPr id="152" name="Graphique 151" descr="Verrou avec un remplissage uni">
                <a:extLst>
                  <a:ext uri="{FF2B5EF4-FFF2-40B4-BE49-F238E27FC236}">
                    <a16:creationId xmlns:a16="http://schemas.microsoft.com/office/drawing/2014/main" id="{4C5ED8AB-8641-967B-CFF5-0D0B43406BCE}"/>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2493236" y="4290370"/>
                <a:ext cx="466725" cy="466725"/>
              </a:xfrm>
              <a:prstGeom prst="rect">
                <a:avLst/>
              </a:prstGeom>
            </p:spPr>
          </p:pic>
        </p:grpSp>
        <p:grpSp>
          <p:nvGrpSpPr>
            <p:cNvPr id="458" name="Groupe 457">
              <a:extLst>
                <a:ext uri="{FF2B5EF4-FFF2-40B4-BE49-F238E27FC236}">
                  <a16:creationId xmlns:a16="http://schemas.microsoft.com/office/drawing/2014/main" id="{9ADDC108-E787-FEF3-09C4-05DA66DC9392}"/>
                </a:ext>
              </a:extLst>
            </p:cNvPr>
            <p:cNvGrpSpPr/>
            <p:nvPr/>
          </p:nvGrpSpPr>
          <p:grpSpPr>
            <a:xfrm>
              <a:off x="3930074" y="4237752"/>
              <a:ext cx="1104068" cy="646669"/>
              <a:chOff x="1782492" y="4964291"/>
              <a:chExt cx="1314902" cy="770157"/>
            </a:xfrm>
          </p:grpSpPr>
          <p:grpSp>
            <p:nvGrpSpPr>
              <p:cNvPr id="508" name="Groupe 507">
                <a:extLst>
                  <a:ext uri="{FF2B5EF4-FFF2-40B4-BE49-F238E27FC236}">
                    <a16:creationId xmlns:a16="http://schemas.microsoft.com/office/drawing/2014/main" id="{4DD71515-DE6F-34A6-41A7-20C3CB193803}"/>
                  </a:ext>
                </a:extLst>
              </p:cNvPr>
              <p:cNvGrpSpPr/>
              <p:nvPr/>
            </p:nvGrpSpPr>
            <p:grpSpPr>
              <a:xfrm>
                <a:off x="1782492" y="5088970"/>
                <a:ext cx="1314902" cy="645478"/>
                <a:chOff x="1797480" y="1339838"/>
                <a:chExt cx="2588405" cy="1270634"/>
              </a:xfrm>
            </p:grpSpPr>
            <p:grpSp>
              <p:nvGrpSpPr>
                <p:cNvPr id="510" name="Groupe 509">
                  <a:extLst>
                    <a:ext uri="{FF2B5EF4-FFF2-40B4-BE49-F238E27FC236}">
                      <a16:creationId xmlns:a16="http://schemas.microsoft.com/office/drawing/2014/main" id="{A2FF290C-F3F5-E4B5-4E2B-706E6BB75598}"/>
                    </a:ext>
                  </a:extLst>
                </p:cNvPr>
                <p:cNvGrpSpPr/>
                <p:nvPr/>
              </p:nvGrpSpPr>
              <p:grpSpPr>
                <a:xfrm>
                  <a:off x="1797480" y="1339838"/>
                  <a:ext cx="1507135" cy="1270634"/>
                  <a:chOff x="8982504" y="3274976"/>
                  <a:chExt cx="1230670" cy="1037553"/>
                </a:xfrm>
                <a:solidFill>
                  <a:srgbClr val="ED7D31"/>
                </a:solidFill>
              </p:grpSpPr>
              <p:pic>
                <p:nvPicPr>
                  <p:cNvPr id="140" name="Graphique 139" descr="Utilisateur avec un remplissage uni">
                    <a:extLst>
                      <a:ext uri="{FF2B5EF4-FFF2-40B4-BE49-F238E27FC236}">
                        <a16:creationId xmlns:a16="http://schemas.microsoft.com/office/drawing/2014/main" id="{7168E9A6-644A-1128-6D2C-7AE177429B58}"/>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01028" y="3274976"/>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FDDB7507-5E26-4508-28CC-B77C1A483BFF}"/>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054140" y="3512720"/>
                    <a:ext cx="336064" cy="336064"/>
                  </a:xfrm>
                  <a:prstGeom prst="rect">
                    <a:avLst/>
                  </a:prstGeom>
                </p:spPr>
              </p:pic>
              <p:pic>
                <p:nvPicPr>
                  <p:cNvPr id="142" name="Graphique 141" descr="Utilisateur avec un remplissage uni">
                    <a:extLst>
                      <a:ext uri="{FF2B5EF4-FFF2-40B4-BE49-F238E27FC236}">
                        <a16:creationId xmlns:a16="http://schemas.microsoft.com/office/drawing/2014/main" id="{7488C020-959B-8C01-76E7-4FB6A94647B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45616" y="3561880"/>
                    <a:ext cx="336064" cy="336064"/>
                  </a:xfrm>
                  <a:prstGeom prst="rect">
                    <a:avLst/>
                  </a:prstGeom>
                </p:spPr>
              </p:pic>
              <p:pic>
                <p:nvPicPr>
                  <p:cNvPr id="143" name="Graphique 142" descr="Utilisateur avec un remplissage uni">
                    <a:extLst>
                      <a:ext uri="{FF2B5EF4-FFF2-40B4-BE49-F238E27FC236}">
                        <a16:creationId xmlns:a16="http://schemas.microsoft.com/office/drawing/2014/main" id="{3F99BB10-8ED8-24B9-5F0B-1B19C58B6441}"/>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92504" y="3418428"/>
                    <a:ext cx="336064" cy="336064"/>
                  </a:xfrm>
                  <a:prstGeom prst="rect">
                    <a:avLst/>
                  </a:prstGeom>
                </p:spPr>
              </p:pic>
              <p:pic>
                <p:nvPicPr>
                  <p:cNvPr id="144" name="Graphique 143" descr="Utilisateur avec un remplissage uni">
                    <a:extLst>
                      <a:ext uri="{FF2B5EF4-FFF2-40B4-BE49-F238E27FC236}">
                        <a16:creationId xmlns:a16="http://schemas.microsoft.com/office/drawing/2014/main" id="{0D1C1CFF-EEC8-9C6B-F32C-029233AE9660}"/>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635196" y="3680752"/>
                    <a:ext cx="336064" cy="336064"/>
                  </a:xfrm>
                  <a:prstGeom prst="rect">
                    <a:avLst/>
                  </a:prstGeom>
                </p:spPr>
              </p:pic>
              <p:pic>
                <p:nvPicPr>
                  <p:cNvPr id="145" name="Graphique 144" descr="Utilisateur avec un remplissage uni">
                    <a:extLst>
                      <a:ext uri="{FF2B5EF4-FFF2-40B4-BE49-F238E27FC236}">
                        <a16:creationId xmlns:a16="http://schemas.microsoft.com/office/drawing/2014/main" id="{2B9C86C1-3A17-C1F3-A43B-6D519D1BFC31}"/>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256440" y="3848784"/>
                    <a:ext cx="336064" cy="336064"/>
                  </a:xfrm>
                  <a:prstGeom prst="rect">
                    <a:avLst/>
                  </a:prstGeom>
                </p:spPr>
              </p:pic>
              <p:pic>
                <p:nvPicPr>
                  <p:cNvPr id="146" name="Graphique 145" descr="Utilisateur avec un remplissage uni">
                    <a:extLst>
                      <a:ext uri="{FF2B5EF4-FFF2-40B4-BE49-F238E27FC236}">
                        <a16:creationId xmlns:a16="http://schemas.microsoft.com/office/drawing/2014/main" id="{0DED0BFB-CEF8-570E-F6FC-BE8D081CD602}"/>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982504" y="3835028"/>
                    <a:ext cx="336064" cy="336064"/>
                  </a:xfrm>
                  <a:prstGeom prst="rect">
                    <a:avLst/>
                  </a:prstGeom>
                </p:spPr>
              </p:pic>
              <p:pic>
                <p:nvPicPr>
                  <p:cNvPr id="147" name="Graphique 146" descr="Utilisateur avec un remplissage uni">
                    <a:extLst>
                      <a:ext uri="{FF2B5EF4-FFF2-40B4-BE49-F238E27FC236}">
                        <a16:creationId xmlns:a16="http://schemas.microsoft.com/office/drawing/2014/main" id="{18586D44-2406-8169-2D74-033BF277DD62}"/>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20868" y="3943076"/>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31654AC4-7212-E4DE-D105-AD009BBD26B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742772" y="3976465"/>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DC145342-94AB-378B-733D-9C54677FBBB9}"/>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77110" y="3705332"/>
                    <a:ext cx="336064" cy="336064"/>
                  </a:xfrm>
                  <a:prstGeom prst="rect">
                    <a:avLst/>
                  </a:prstGeom>
                </p:spPr>
              </p:pic>
              <p:pic>
                <p:nvPicPr>
                  <p:cNvPr id="150" name="Graphique 149" descr="Utilisateur avec un remplissage uni">
                    <a:extLst>
                      <a:ext uri="{FF2B5EF4-FFF2-40B4-BE49-F238E27FC236}">
                        <a16:creationId xmlns:a16="http://schemas.microsoft.com/office/drawing/2014/main" id="{C8F94349-EDD2-D846-EB45-DFBE65B521A0}"/>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56932" y="3429000"/>
                    <a:ext cx="336064" cy="336064"/>
                  </a:xfrm>
                  <a:prstGeom prst="rect">
                    <a:avLst/>
                  </a:prstGeom>
                </p:spPr>
              </p:pic>
            </p:grpSp>
            <p:pic>
              <p:nvPicPr>
                <p:cNvPr id="511" name="Graphique 510" descr="Boîte à archives avec un remplissage uni">
                  <a:extLst>
                    <a:ext uri="{FF2B5EF4-FFF2-40B4-BE49-F238E27FC236}">
                      <a16:creationId xmlns:a16="http://schemas.microsoft.com/office/drawing/2014/main" id="{B4B4938D-AE43-2ECA-7885-0842629550F6}"/>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3590796" y="1573442"/>
                  <a:ext cx="795089" cy="795090"/>
                </a:xfrm>
                <a:prstGeom prst="rect">
                  <a:avLst/>
                </a:prstGeom>
              </p:spPr>
            </p:pic>
          </p:grpSp>
          <p:pic>
            <p:nvPicPr>
              <p:cNvPr id="509" name="Graphique 508" descr="Verrou avec un remplissage uni">
                <a:extLst>
                  <a:ext uri="{FF2B5EF4-FFF2-40B4-BE49-F238E27FC236}">
                    <a16:creationId xmlns:a16="http://schemas.microsoft.com/office/drawing/2014/main" id="{C7044650-8D0E-E596-DE4B-D49341A4A512}"/>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2293077" y="4964291"/>
                <a:ext cx="743725" cy="743725"/>
              </a:xfrm>
              <a:prstGeom prst="rect">
                <a:avLst/>
              </a:prstGeom>
            </p:spPr>
          </p:pic>
        </p:grpSp>
        <p:grpSp>
          <p:nvGrpSpPr>
            <p:cNvPr id="459" name="Groupe 458">
              <a:extLst>
                <a:ext uri="{FF2B5EF4-FFF2-40B4-BE49-F238E27FC236}">
                  <a16:creationId xmlns:a16="http://schemas.microsoft.com/office/drawing/2014/main" id="{2B7795F4-D143-1D66-9467-514C9B550476}"/>
                </a:ext>
              </a:extLst>
            </p:cNvPr>
            <p:cNvGrpSpPr/>
            <p:nvPr/>
          </p:nvGrpSpPr>
          <p:grpSpPr>
            <a:xfrm>
              <a:off x="3912955" y="5705324"/>
              <a:ext cx="1123328" cy="541981"/>
              <a:chOff x="1804205" y="5917781"/>
              <a:chExt cx="1337840" cy="645478"/>
            </a:xfrm>
          </p:grpSpPr>
          <p:grpSp>
            <p:nvGrpSpPr>
              <p:cNvPr id="493" name="Groupe 492">
                <a:extLst>
                  <a:ext uri="{FF2B5EF4-FFF2-40B4-BE49-F238E27FC236}">
                    <a16:creationId xmlns:a16="http://schemas.microsoft.com/office/drawing/2014/main" id="{76382FC5-7B5E-627E-D232-1770F15E8192}"/>
                  </a:ext>
                </a:extLst>
              </p:cNvPr>
              <p:cNvGrpSpPr/>
              <p:nvPr/>
            </p:nvGrpSpPr>
            <p:grpSpPr>
              <a:xfrm>
                <a:off x="1804205" y="5917781"/>
                <a:ext cx="1314902" cy="645478"/>
                <a:chOff x="1797480" y="1339838"/>
                <a:chExt cx="2588405" cy="1270634"/>
              </a:xfrm>
            </p:grpSpPr>
            <p:grpSp>
              <p:nvGrpSpPr>
                <p:cNvPr id="495" name="Groupe 494">
                  <a:extLst>
                    <a:ext uri="{FF2B5EF4-FFF2-40B4-BE49-F238E27FC236}">
                      <a16:creationId xmlns:a16="http://schemas.microsoft.com/office/drawing/2014/main" id="{9398B48F-8496-6353-6F96-54C22A3278E5}"/>
                    </a:ext>
                  </a:extLst>
                </p:cNvPr>
                <p:cNvGrpSpPr/>
                <p:nvPr/>
              </p:nvGrpSpPr>
              <p:grpSpPr>
                <a:xfrm>
                  <a:off x="1797480" y="1339838"/>
                  <a:ext cx="1507135" cy="1270634"/>
                  <a:chOff x="8982504" y="3274976"/>
                  <a:chExt cx="1230670" cy="1037553"/>
                </a:xfrm>
                <a:solidFill>
                  <a:srgbClr val="ED7D31"/>
                </a:solidFill>
              </p:grpSpPr>
              <p:pic>
                <p:nvPicPr>
                  <p:cNvPr id="497" name="Graphique 496" descr="Utilisateur avec un remplissage uni">
                    <a:extLst>
                      <a:ext uri="{FF2B5EF4-FFF2-40B4-BE49-F238E27FC236}">
                        <a16:creationId xmlns:a16="http://schemas.microsoft.com/office/drawing/2014/main" id="{5D61FA6F-515C-0B4C-2D46-EEC64485CCF4}"/>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01028" y="3274976"/>
                    <a:ext cx="336064" cy="336064"/>
                  </a:xfrm>
                  <a:prstGeom prst="rect">
                    <a:avLst/>
                  </a:prstGeom>
                </p:spPr>
              </p:pic>
              <p:pic>
                <p:nvPicPr>
                  <p:cNvPr id="498" name="Graphique 497" descr="Utilisateur avec un remplissage uni">
                    <a:extLst>
                      <a:ext uri="{FF2B5EF4-FFF2-40B4-BE49-F238E27FC236}">
                        <a16:creationId xmlns:a16="http://schemas.microsoft.com/office/drawing/2014/main" id="{ED29674E-61E5-933F-B321-8E31F3BD1DB9}"/>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054140" y="3512720"/>
                    <a:ext cx="336064" cy="336064"/>
                  </a:xfrm>
                  <a:prstGeom prst="rect">
                    <a:avLst/>
                  </a:prstGeom>
                </p:spPr>
              </p:pic>
              <p:pic>
                <p:nvPicPr>
                  <p:cNvPr id="499" name="Graphique 498" descr="Utilisateur avec un remplissage uni">
                    <a:extLst>
                      <a:ext uri="{FF2B5EF4-FFF2-40B4-BE49-F238E27FC236}">
                        <a16:creationId xmlns:a16="http://schemas.microsoft.com/office/drawing/2014/main" id="{A19A7EB4-35C7-DB6C-78C7-E0D2705B9BF4}"/>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45616" y="3561880"/>
                    <a:ext cx="336064" cy="336064"/>
                  </a:xfrm>
                  <a:prstGeom prst="rect">
                    <a:avLst/>
                  </a:prstGeom>
                </p:spPr>
              </p:pic>
              <p:pic>
                <p:nvPicPr>
                  <p:cNvPr id="500" name="Graphique 499" descr="Utilisateur avec un remplissage uni">
                    <a:extLst>
                      <a:ext uri="{FF2B5EF4-FFF2-40B4-BE49-F238E27FC236}">
                        <a16:creationId xmlns:a16="http://schemas.microsoft.com/office/drawing/2014/main" id="{29D4F04B-45BE-19AA-080D-F48362E5A5A3}"/>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92504" y="3418428"/>
                    <a:ext cx="336064" cy="336064"/>
                  </a:xfrm>
                  <a:prstGeom prst="rect">
                    <a:avLst/>
                  </a:prstGeom>
                </p:spPr>
              </p:pic>
              <p:pic>
                <p:nvPicPr>
                  <p:cNvPr id="501" name="Graphique 500" descr="Utilisateur avec un remplissage uni">
                    <a:extLst>
                      <a:ext uri="{FF2B5EF4-FFF2-40B4-BE49-F238E27FC236}">
                        <a16:creationId xmlns:a16="http://schemas.microsoft.com/office/drawing/2014/main" id="{220D7E34-CDDA-CD3B-F453-DA2E6C638DE4}"/>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635196" y="3680752"/>
                    <a:ext cx="336064" cy="336064"/>
                  </a:xfrm>
                  <a:prstGeom prst="rect">
                    <a:avLst/>
                  </a:prstGeom>
                </p:spPr>
              </p:pic>
              <p:pic>
                <p:nvPicPr>
                  <p:cNvPr id="502" name="Graphique 501" descr="Utilisateur avec un remplissage uni">
                    <a:extLst>
                      <a:ext uri="{FF2B5EF4-FFF2-40B4-BE49-F238E27FC236}">
                        <a16:creationId xmlns:a16="http://schemas.microsoft.com/office/drawing/2014/main" id="{C51242CE-8E6E-B3EA-D969-A9CF90599FB9}"/>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256440" y="3848784"/>
                    <a:ext cx="336064" cy="336064"/>
                  </a:xfrm>
                  <a:prstGeom prst="rect">
                    <a:avLst/>
                  </a:prstGeom>
                </p:spPr>
              </p:pic>
              <p:pic>
                <p:nvPicPr>
                  <p:cNvPr id="503" name="Graphique 502" descr="Utilisateur avec un remplissage uni">
                    <a:extLst>
                      <a:ext uri="{FF2B5EF4-FFF2-40B4-BE49-F238E27FC236}">
                        <a16:creationId xmlns:a16="http://schemas.microsoft.com/office/drawing/2014/main" id="{559E4417-646D-2A9B-C53F-E94E941E247E}"/>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982504" y="3835028"/>
                    <a:ext cx="336064" cy="336064"/>
                  </a:xfrm>
                  <a:prstGeom prst="rect">
                    <a:avLst/>
                  </a:prstGeom>
                </p:spPr>
              </p:pic>
              <p:pic>
                <p:nvPicPr>
                  <p:cNvPr id="504" name="Graphique 503" descr="Utilisateur avec un remplissage uni">
                    <a:extLst>
                      <a:ext uri="{FF2B5EF4-FFF2-40B4-BE49-F238E27FC236}">
                        <a16:creationId xmlns:a16="http://schemas.microsoft.com/office/drawing/2014/main" id="{21E52E2E-5335-BD61-FB54-D99830615903}"/>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20868" y="3943076"/>
                    <a:ext cx="336064" cy="336064"/>
                  </a:xfrm>
                  <a:prstGeom prst="rect">
                    <a:avLst/>
                  </a:prstGeom>
                </p:spPr>
              </p:pic>
              <p:pic>
                <p:nvPicPr>
                  <p:cNvPr id="505" name="Graphique 504" descr="Utilisateur avec un remplissage uni">
                    <a:extLst>
                      <a:ext uri="{FF2B5EF4-FFF2-40B4-BE49-F238E27FC236}">
                        <a16:creationId xmlns:a16="http://schemas.microsoft.com/office/drawing/2014/main" id="{6D451DD1-D3FC-09AC-0C9C-55E4771238CB}"/>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742772" y="3976465"/>
                    <a:ext cx="336064" cy="336064"/>
                  </a:xfrm>
                  <a:prstGeom prst="rect">
                    <a:avLst/>
                  </a:prstGeom>
                </p:spPr>
              </p:pic>
              <p:pic>
                <p:nvPicPr>
                  <p:cNvPr id="506" name="Graphique 505" descr="Utilisateur avec un remplissage uni">
                    <a:extLst>
                      <a:ext uri="{FF2B5EF4-FFF2-40B4-BE49-F238E27FC236}">
                        <a16:creationId xmlns:a16="http://schemas.microsoft.com/office/drawing/2014/main" id="{7731C11F-450E-8D9D-937E-E62BA6D08234}"/>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77110" y="3705332"/>
                    <a:ext cx="336064" cy="336064"/>
                  </a:xfrm>
                  <a:prstGeom prst="rect">
                    <a:avLst/>
                  </a:prstGeom>
                </p:spPr>
              </p:pic>
              <p:pic>
                <p:nvPicPr>
                  <p:cNvPr id="507" name="Graphique 506" descr="Utilisateur avec un remplissage uni">
                    <a:extLst>
                      <a:ext uri="{FF2B5EF4-FFF2-40B4-BE49-F238E27FC236}">
                        <a16:creationId xmlns:a16="http://schemas.microsoft.com/office/drawing/2014/main" id="{E2A554B1-3FB8-8463-40B0-58FCDE563EE4}"/>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56932" y="3429000"/>
                    <a:ext cx="336064" cy="336064"/>
                  </a:xfrm>
                  <a:prstGeom prst="rect">
                    <a:avLst/>
                  </a:prstGeom>
                </p:spPr>
              </p:pic>
            </p:grpSp>
            <p:pic>
              <p:nvPicPr>
                <p:cNvPr id="496" name="Graphique 495" descr="Boîte à archives avec un remplissage uni">
                  <a:extLst>
                    <a:ext uri="{FF2B5EF4-FFF2-40B4-BE49-F238E27FC236}">
                      <a16:creationId xmlns:a16="http://schemas.microsoft.com/office/drawing/2014/main" id="{56F3879D-C268-023F-11DA-1465A0AE2A5B}"/>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3590796" y="1573442"/>
                  <a:ext cx="795089" cy="795090"/>
                </a:xfrm>
                <a:prstGeom prst="rect">
                  <a:avLst/>
                </a:prstGeom>
              </p:spPr>
            </p:pic>
          </p:grpSp>
          <p:pic>
            <p:nvPicPr>
              <p:cNvPr id="494" name="Graphique 493" descr="Fermer avec un remplissage uni">
                <a:extLst>
                  <a:ext uri="{FF2B5EF4-FFF2-40B4-BE49-F238E27FC236}">
                    <a16:creationId xmlns:a16="http://schemas.microsoft.com/office/drawing/2014/main" id="{94E08180-E261-7ECF-8677-C3FAA3A702B9}"/>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2668633" y="5995180"/>
                <a:ext cx="473412" cy="473412"/>
              </a:xfrm>
              <a:prstGeom prst="rect">
                <a:avLst/>
              </a:prstGeom>
            </p:spPr>
          </p:pic>
        </p:grpSp>
        <p:grpSp>
          <p:nvGrpSpPr>
            <p:cNvPr id="461" name="Groupe 460">
              <a:extLst>
                <a:ext uri="{FF2B5EF4-FFF2-40B4-BE49-F238E27FC236}">
                  <a16:creationId xmlns:a16="http://schemas.microsoft.com/office/drawing/2014/main" id="{12F37A53-5EEF-802A-A4E0-0D189F8759B8}"/>
                </a:ext>
              </a:extLst>
            </p:cNvPr>
            <p:cNvGrpSpPr/>
            <p:nvPr/>
          </p:nvGrpSpPr>
          <p:grpSpPr>
            <a:xfrm>
              <a:off x="3922585" y="5035084"/>
              <a:ext cx="1104068" cy="541981"/>
              <a:chOff x="1775004" y="5236420"/>
              <a:chExt cx="1104068" cy="541981"/>
            </a:xfrm>
          </p:grpSpPr>
          <p:grpSp>
            <p:nvGrpSpPr>
              <p:cNvPr id="462" name="Groupe 461">
                <a:extLst>
                  <a:ext uri="{FF2B5EF4-FFF2-40B4-BE49-F238E27FC236}">
                    <a16:creationId xmlns:a16="http://schemas.microsoft.com/office/drawing/2014/main" id="{1ACB419F-8E41-8D62-AC42-01CE6DC05DF0}"/>
                  </a:ext>
                </a:extLst>
              </p:cNvPr>
              <p:cNvGrpSpPr/>
              <p:nvPr/>
            </p:nvGrpSpPr>
            <p:grpSpPr>
              <a:xfrm>
                <a:off x="1775004" y="5236420"/>
                <a:ext cx="1104068" cy="541981"/>
                <a:chOff x="1797480" y="1339838"/>
                <a:chExt cx="2588405" cy="1270634"/>
              </a:xfrm>
            </p:grpSpPr>
            <p:grpSp>
              <p:nvGrpSpPr>
                <p:cNvPr id="464" name="Groupe 463">
                  <a:extLst>
                    <a:ext uri="{FF2B5EF4-FFF2-40B4-BE49-F238E27FC236}">
                      <a16:creationId xmlns:a16="http://schemas.microsoft.com/office/drawing/2014/main" id="{1F81FFD5-E05B-F5D1-FF4B-D12B66BFF102}"/>
                    </a:ext>
                  </a:extLst>
                </p:cNvPr>
                <p:cNvGrpSpPr/>
                <p:nvPr/>
              </p:nvGrpSpPr>
              <p:grpSpPr>
                <a:xfrm>
                  <a:off x="1797480" y="1339838"/>
                  <a:ext cx="1507135" cy="1270634"/>
                  <a:chOff x="8982504" y="3274976"/>
                  <a:chExt cx="1230670" cy="1037553"/>
                </a:xfrm>
                <a:solidFill>
                  <a:srgbClr val="ED7D31"/>
                </a:solidFill>
              </p:grpSpPr>
              <p:pic>
                <p:nvPicPr>
                  <p:cNvPr id="482" name="Graphique 481" descr="Utilisateur avec un remplissage uni">
                    <a:extLst>
                      <a:ext uri="{FF2B5EF4-FFF2-40B4-BE49-F238E27FC236}">
                        <a16:creationId xmlns:a16="http://schemas.microsoft.com/office/drawing/2014/main" id="{2DDECD9D-57F0-939C-D57F-E7078564443B}"/>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01028" y="3274976"/>
                    <a:ext cx="336064" cy="336064"/>
                  </a:xfrm>
                  <a:prstGeom prst="rect">
                    <a:avLst/>
                  </a:prstGeom>
                </p:spPr>
              </p:pic>
              <p:pic>
                <p:nvPicPr>
                  <p:cNvPr id="483" name="Graphique 482" descr="Utilisateur avec un remplissage uni">
                    <a:extLst>
                      <a:ext uri="{FF2B5EF4-FFF2-40B4-BE49-F238E27FC236}">
                        <a16:creationId xmlns:a16="http://schemas.microsoft.com/office/drawing/2014/main" id="{152CE4D3-17B6-F0D3-02DC-B807F2F3BA72}"/>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054140" y="3512720"/>
                    <a:ext cx="336064" cy="336064"/>
                  </a:xfrm>
                  <a:prstGeom prst="rect">
                    <a:avLst/>
                  </a:prstGeom>
                </p:spPr>
              </p:pic>
              <p:pic>
                <p:nvPicPr>
                  <p:cNvPr id="484" name="Graphique 483" descr="Utilisateur avec un remplissage uni">
                    <a:extLst>
                      <a:ext uri="{FF2B5EF4-FFF2-40B4-BE49-F238E27FC236}">
                        <a16:creationId xmlns:a16="http://schemas.microsoft.com/office/drawing/2014/main" id="{786A41A0-3063-4535-42CC-5642F69B7B27}"/>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345616" y="3561880"/>
                    <a:ext cx="336064" cy="336064"/>
                  </a:xfrm>
                  <a:prstGeom prst="rect">
                    <a:avLst/>
                  </a:prstGeom>
                </p:spPr>
              </p:pic>
              <p:pic>
                <p:nvPicPr>
                  <p:cNvPr id="485" name="Graphique 484" descr="Utilisateur avec un remplissage uni">
                    <a:extLst>
                      <a:ext uri="{FF2B5EF4-FFF2-40B4-BE49-F238E27FC236}">
                        <a16:creationId xmlns:a16="http://schemas.microsoft.com/office/drawing/2014/main" id="{D2AD77E4-34C3-B6C8-7DF7-DE26FD59FF83}"/>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92504" y="3418428"/>
                    <a:ext cx="336064" cy="336064"/>
                  </a:xfrm>
                  <a:prstGeom prst="rect">
                    <a:avLst/>
                  </a:prstGeom>
                </p:spPr>
              </p:pic>
              <p:pic>
                <p:nvPicPr>
                  <p:cNvPr id="486" name="Graphique 485" descr="Utilisateur avec un remplissage uni">
                    <a:extLst>
                      <a:ext uri="{FF2B5EF4-FFF2-40B4-BE49-F238E27FC236}">
                        <a16:creationId xmlns:a16="http://schemas.microsoft.com/office/drawing/2014/main" id="{4927CB8E-B3F9-B927-127E-7D281AB8351D}"/>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635196" y="3680752"/>
                    <a:ext cx="336064" cy="336064"/>
                  </a:xfrm>
                  <a:prstGeom prst="rect">
                    <a:avLst/>
                  </a:prstGeom>
                </p:spPr>
              </p:pic>
              <p:pic>
                <p:nvPicPr>
                  <p:cNvPr id="487" name="Graphique 486" descr="Utilisateur avec un remplissage uni">
                    <a:extLst>
                      <a:ext uri="{FF2B5EF4-FFF2-40B4-BE49-F238E27FC236}">
                        <a16:creationId xmlns:a16="http://schemas.microsoft.com/office/drawing/2014/main" id="{53DF0684-A204-8D64-B989-0AE3A412EF5E}"/>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256440" y="3848784"/>
                    <a:ext cx="336064" cy="336064"/>
                  </a:xfrm>
                  <a:prstGeom prst="rect">
                    <a:avLst/>
                  </a:prstGeom>
                </p:spPr>
              </p:pic>
              <p:pic>
                <p:nvPicPr>
                  <p:cNvPr id="488" name="Graphique 487" descr="Utilisateur avec un remplissage uni">
                    <a:extLst>
                      <a:ext uri="{FF2B5EF4-FFF2-40B4-BE49-F238E27FC236}">
                        <a16:creationId xmlns:a16="http://schemas.microsoft.com/office/drawing/2014/main" id="{F05B34FB-E243-366F-A8C4-679A20ABCBD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982504" y="3835028"/>
                    <a:ext cx="336064" cy="336064"/>
                  </a:xfrm>
                  <a:prstGeom prst="rect">
                    <a:avLst/>
                  </a:prstGeom>
                </p:spPr>
              </p:pic>
              <p:pic>
                <p:nvPicPr>
                  <p:cNvPr id="489" name="Graphique 488" descr="Utilisateur avec un remplissage uni">
                    <a:extLst>
                      <a:ext uri="{FF2B5EF4-FFF2-40B4-BE49-F238E27FC236}">
                        <a16:creationId xmlns:a16="http://schemas.microsoft.com/office/drawing/2014/main" id="{F27528C7-4D71-0021-D4D0-76F4D1EFDCBD}"/>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520868" y="3943076"/>
                    <a:ext cx="336064" cy="336064"/>
                  </a:xfrm>
                  <a:prstGeom prst="rect">
                    <a:avLst/>
                  </a:prstGeom>
                </p:spPr>
              </p:pic>
              <p:pic>
                <p:nvPicPr>
                  <p:cNvPr id="490" name="Graphique 489" descr="Utilisateur avec un remplissage uni">
                    <a:extLst>
                      <a:ext uri="{FF2B5EF4-FFF2-40B4-BE49-F238E27FC236}">
                        <a16:creationId xmlns:a16="http://schemas.microsoft.com/office/drawing/2014/main" id="{44309D6F-E92B-237E-662B-7C9D9ADCFC55}"/>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742772" y="3976465"/>
                    <a:ext cx="336064" cy="336064"/>
                  </a:xfrm>
                  <a:prstGeom prst="rect">
                    <a:avLst/>
                  </a:prstGeom>
                </p:spPr>
              </p:pic>
              <p:pic>
                <p:nvPicPr>
                  <p:cNvPr id="491" name="Graphique 490" descr="Utilisateur avec un remplissage uni">
                    <a:extLst>
                      <a:ext uri="{FF2B5EF4-FFF2-40B4-BE49-F238E27FC236}">
                        <a16:creationId xmlns:a16="http://schemas.microsoft.com/office/drawing/2014/main" id="{38B9E7E5-2FE5-C3DF-A44A-5A8E2F6F849A}"/>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77110" y="3705332"/>
                    <a:ext cx="336064" cy="336064"/>
                  </a:xfrm>
                  <a:prstGeom prst="rect">
                    <a:avLst/>
                  </a:prstGeom>
                </p:spPr>
              </p:pic>
              <p:pic>
                <p:nvPicPr>
                  <p:cNvPr id="492" name="Graphique 491" descr="Utilisateur avec un remplissage uni">
                    <a:extLst>
                      <a:ext uri="{FF2B5EF4-FFF2-40B4-BE49-F238E27FC236}">
                        <a16:creationId xmlns:a16="http://schemas.microsoft.com/office/drawing/2014/main" id="{F5799C4A-E6F3-4E33-B401-02ABCC75A33C}"/>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856932" y="3429000"/>
                    <a:ext cx="336064" cy="336064"/>
                  </a:xfrm>
                  <a:prstGeom prst="rect">
                    <a:avLst/>
                  </a:prstGeom>
                </p:spPr>
              </p:pic>
            </p:grpSp>
            <p:pic>
              <p:nvPicPr>
                <p:cNvPr id="469" name="Graphique 468" descr="Boîte à archives avec un remplissage uni">
                  <a:extLst>
                    <a:ext uri="{FF2B5EF4-FFF2-40B4-BE49-F238E27FC236}">
                      <a16:creationId xmlns:a16="http://schemas.microsoft.com/office/drawing/2014/main" id="{96A0E32A-F7FB-81E5-4752-E768FBE1CA92}"/>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3590796" y="1573442"/>
                  <a:ext cx="795089" cy="795090"/>
                </a:xfrm>
                <a:prstGeom prst="rect">
                  <a:avLst/>
                </a:prstGeom>
              </p:spPr>
            </p:pic>
          </p:grpSp>
          <p:pic>
            <p:nvPicPr>
              <p:cNvPr id="463" name="Graphique 462" descr="Point d’interrogation avec un remplissage uni">
                <a:extLst>
                  <a:ext uri="{FF2B5EF4-FFF2-40B4-BE49-F238E27FC236}">
                    <a16:creationId xmlns:a16="http://schemas.microsoft.com/office/drawing/2014/main" id="{557ACC24-57DD-CC48-F0F4-6475DF9E8F99}"/>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2537302" y="5319965"/>
                <a:ext cx="332767" cy="332767"/>
              </a:xfrm>
              <a:prstGeom prst="rect">
                <a:avLst/>
              </a:prstGeom>
            </p:spPr>
          </p:pic>
        </p:grpSp>
      </p:grpSp>
      <p:sp>
        <p:nvSpPr>
          <p:cNvPr id="258" name="Rectangle 257">
            <a:extLst>
              <a:ext uri="{FF2B5EF4-FFF2-40B4-BE49-F238E27FC236}">
                <a16:creationId xmlns:a16="http://schemas.microsoft.com/office/drawing/2014/main" id="{DAA7F012-F8C8-A5B4-0FB8-4ABBF1B8FD3E}"/>
              </a:ext>
            </a:extLst>
          </p:cNvPr>
          <p:cNvSpPr/>
          <p:nvPr/>
        </p:nvSpPr>
        <p:spPr>
          <a:xfrm>
            <a:off x="9346745" y="5150593"/>
            <a:ext cx="1894431"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📅Présentation et tutoriels sur l’usage des ressources</a:t>
            </a:r>
          </a:p>
        </p:txBody>
      </p:sp>
      <p:sp>
        <p:nvSpPr>
          <p:cNvPr id="259" name="Rectangle 258">
            <a:extLst>
              <a:ext uri="{FF2B5EF4-FFF2-40B4-BE49-F238E27FC236}">
                <a16:creationId xmlns:a16="http://schemas.microsoft.com/office/drawing/2014/main" id="{69F5E01A-3A6C-3810-7182-6E48C5DAF0E2}"/>
              </a:ext>
            </a:extLst>
          </p:cNvPr>
          <p:cNvSpPr/>
          <p:nvPr/>
        </p:nvSpPr>
        <p:spPr>
          <a:xfrm>
            <a:off x="7188930" y="5150593"/>
            <a:ext cx="2019430" cy="870231"/>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Mise en place ou enrichissement d’une base d’informations (documents, connaissances, annuaire, bibliothèque…)</a:t>
            </a:r>
          </a:p>
        </p:txBody>
      </p:sp>
      <p:sp>
        <p:nvSpPr>
          <p:cNvPr id="260" name="Rectangle 259">
            <a:extLst>
              <a:ext uri="{FF2B5EF4-FFF2-40B4-BE49-F238E27FC236}">
                <a16:creationId xmlns:a16="http://schemas.microsoft.com/office/drawing/2014/main" id="{17D382A0-BC06-C885-4F5D-D0550CF0BA9C}"/>
              </a:ext>
            </a:extLst>
          </p:cNvPr>
          <p:cNvSpPr/>
          <p:nvPr/>
        </p:nvSpPr>
        <p:spPr>
          <a:xfrm>
            <a:off x="5367339" y="5150593"/>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⚙️Etablissement de règles d’usage des ressources</a:t>
            </a:r>
          </a:p>
        </p:txBody>
      </p:sp>
      <p:grpSp>
        <p:nvGrpSpPr>
          <p:cNvPr id="262" name="Groupe 261">
            <a:extLst>
              <a:ext uri="{FF2B5EF4-FFF2-40B4-BE49-F238E27FC236}">
                <a16:creationId xmlns:a16="http://schemas.microsoft.com/office/drawing/2014/main" id="{AFABBCCE-E297-6E48-73FA-A9041ABB4136}"/>
              </a:ext>
            </a:extLst>
          </p:cNvPr>
          <p:cNvGrpSpPr/>
          <p:nvPr/>
        </p:nvGrpSpPr>
        <p:grpSpPr>
          <a:xfrm>
            <a:off x="7567991" y="4101919"/>
            <a:ext cx="1324171" cy="1002269"/>
            <a:chOff x="8759496" y="4003672"/>
            <a:chExt cx="2702282" cy="2045364"/>
          </a:xfrm>
        </p:grpSpPr>
        <p:grpSp>
          <p:nvGrpSpPr>
            <p:cNvPr id="264" name="Groupe 263">
              <a:extLst>
                <a:ext uri="{FF2B5EF4-FFF2-40B4-BE49-F238E27FC236}">
                  <a16:creationId xmlns:a16="http://schemas.microsoft.com/office/drawing/2014/main" id="{5D139E1F-20A1-8DD7-6D25-BC7079E4A1BC}"/>
                </a:ext>
              </a:extLst>
            </p:cNvPr>
            <p:cNvGrpSpPr/>
            <p:nvPr/>
          </p:nvGrpSpPr>
          <p:grpSpPr>
            <a:xfrm>
              <a:off x="9869433" y="4078843"/>
              <a:ext cx="553998" cy="354825"/>
              <a:chOff x="10207355" y="-838290"/>
              <a:chExt cx="1169718" cy="749181"/>
            </a:xfrm>
          </p:grpSpPr>
          <p:pic>
            <p:nvPicPr>
              <p:cNvPr id="277" name="Graphique 276" descr="Internet avec un remplissage uni">
                <a:extLst>
                  <a:ext uri="{FF2B5EF4-FFF2-40B4-BE49-F238E27FC236}">
                    <a16:creationId xmlns:a16="http://schemas.microsoft.com/office/drawing/2014/main" id="{DCF89A81-178C-A666-6C1E-1B58CF129EA8}"/>
                  </a:ext>
                </a:extLst>
              </p:cNvPr>
              <p:cNvPicPr>
                <a:picLocks noChangeAspect="1"/>
              </p:cNvPicPr>
              <p:nvPr/>
            </p:nvPicPr>
            <p:blipFill rotWithShape="1">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rcRect t="18648" b="17305"/>
              <a:stretch/>
            </p:blipFill>
            <p:spPr>
              <a:xfrm>
                <a:off x="10207355" y="-838290"/>
                <a:ext cx="1169718" cy="749181"/>
              </a:xfrm>
              <a:prstGeom prst="rect">
                <a:avLst/>
              </a:prstGeom>
            </p:spPr>
          </p:pic>
          <p:grpSp>
            <p:nvGrpSpPr>
              <p:cNvPr id="278" name="Groupe 277">
                <a:extLst>
                  <a:ext uri="{FF2B5EF4-FFF2-40B4-BE49-F238E27FC236}">
                    <a16:creationId xmlns:a16="http://schemas.microsoft.com/office/drawing/2014/main" id="{85819521-2F1A-F89A-97D4-F7FAE460CC7C}"/>
                  </a:ext>
                </a:extLst>
              </p:cNvPr>
              <p:cNvGrpSpPr/>
              <p:nvPr/>
            </p:nvGrpSpPr>
            <p:grpSpPr>
              <a:xfrm>
                <a:off x="10601790" y="-754719"/>
                <a:ext cx="415604" cy="447710"/>
                <a:chOff x="5046941" y="2636554"/>
                <a:chExt cx="550624" cy="593160"/>
              </a:xfrm>
            </p:grpSpPr>
            <p:pic>
              <p:nvPicPr>
                <p:cNvPr id="279" name="Graphique 278" descr="Monde avec un remplissage uni">
                  <a:extLst>
                    <a:ext uri="{FF2B5EF4-FFF2-40B4-BE49-F238E27FC236}">
                      <a16:creationId xmlns:a16="http://schemas.microsoft.com/office/drawing/2014/main" id="{A4C7C8E2-7E2A-83C9-4B37-81BFDDA00842}"/>
                    </a:ext>
                  </a:extLst>
                </p:cNvPr>
                <p:cNvPicPr>
                  <a:picLocks noChangeAspect="1"/>
                </p:cNvPicPr>
                <p:nvPr/>
              </p:nvPicPr>
              <p:blipFill rotWithShape="1">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rcRect l="7173" r="-1"/>
                <a:stretch/>
              </p:blipFill>
              <p:spPr>
                <a:xfrm>
                  <a:off x="5046941" y="2636554"/>
                  <a:ext cx="550624" cy="593160"/>
                </a:xfrm>
                <a:prstGeom prst="rect">
                  <a:avLst/>
                </a:prstGeom>
              </p:spPr>
            </p:pic>
            <p:pic>
              <p:nvPicPr>
                <p:cNvPr id="280" name="Graphique 279" descr="Monde avec un remplissage uni">
                  <a:extLst>
                    <a:ext uri="{FF2B5EF4-FFF2-40B4-BE49-F238E27FC236}">
                      <a16:creationId xmlns:a16="http://schemas.microsoft.com/office/drawing/2014/main" id="{3492B65F-A4F2-332D-8126-1A96B5D43A12}"/>
                    </a:ext>
                  </a:extLst>
                </p:cNvPr>
                <p:cNvPicPr>
                  <a:picLocks noChangeAspect="1"/>
                </p:cNvPicPr>
                <p:nvPr/>
              </p:nvPicPr>
              <p:blipFill rotWithShape="1">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rcRect l="29716" t="30008" r="27849" b="30408"/>
                <a:stretch/>
              </p:blipFill>
              <p:spPr>
                <a:xfrm>
                  <a:off x="5180657" y="2809632"/>
                  <a:ext cx="251709" cy="234792"/>
                </a:xfrm>
                <a:prstGeom prst="rect">
                  <a:avLst/>
                </a:prstGeom>
              </p:spPr>
            </p:pic>
          </p:grpSp>
        </p:grpSp>
        <p:grpSp>
          <p:nvGrpSpPr>
            <p:cNvPr id="265" name="Groupe 264">
              <a:extLst>
                <a:ext uri="{FF2B5EF4-FFF2-40B4-BE49-F238E27FC236}">
                  <a16:creationId xmlns:a16="http://schemas.microsoft.com/office/drawing/2014/main" id="{D5D17237-9E30-3AC3-A955-780A2358F247}"/>
                </a:ext>
              </a:extLst>
            </p:cNvPr>
            <p:cNvGrpSpPr/>
            <p:nvPr/>
          </p:nvGrpSpPr>
          <p:grpSpPr>
            <a:xfrm>
              <a:off x="8759496" y="4003672"/>
              <a:ext cx="2702282" cy="2045364"/>
              <a:chOff x="8954422" y="758182"/>
              <a:chExt cx="2702282" cy="2045364"/>
            </a:xfrm>
          </p:grpSpPr>
          <p:pic>
            <p:nvPicPr>
              <p:cNvPr id="266" name="Graphique 265" descr="Programmeur avec un remplissage uni">
                <a:extLst>
                  <a:ext uri="{FF2B5EF4-FFF2-40B4-BE49-F238E27FC236}">
                    <a16:creationId xmlns:a16="http://schemas.microsoft.com/office/drawing/2014/main" id="{CBF1B381-74E8-30A1-FD2A-F2A1A6605622}"/>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8954422" y="758182"/>
                <a:ext cx="663886" cy="663886"/>
              </a:xfrm>
              <a:prstGeom prst="rect">
                <a:avLst/>
              </a:prstGeom>
            </p:spPr>
          </p:pic>
          <p:pic>
            <p:nvPicPr>
              <p:cNvPr id="267" name="Graphique 266" descr="Programmatrice avec un remplissage uni">
                <a:extLst>
                  <a:ext uri="{FF2B5EF4-FFF2-40B4-BE49-F238E27FC236}">
                    <a16:creationId xmlns:a16="http://schemas.microsoft.com/office/drawing/2014/main" id="{D78114DF-4D5A-F8FA-02B6-70DFCE066DFA}"/>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9011228" y="1730944"/>
                <a:ext cx="663886" cy="663886"/>
              </a:xfrm>
              <a:prstGeom prst="rect">
                <a:avLst/>
              </a:prstGeom>
            </p:spPr>
          </p:pic>
          <p:pic>
            <p:nvPicPr>
              <p:cNvPr id="268" name="Graphique 267" descr="Base de données avec un remplissage uni">
                <a:extLst>
                  <a:ext uri="{FF2B5EF4-FFF2-40B4-BE49-F238E27FC236}">
                    <a16:creationId xmlns:a16="http://schemas.microsoft.com/office/drawing/2014/main" id="{142D8EDE-F389-640E-A9B8-6F8BF3605D86}"/>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9885272" y="1095373"/>
                <a:ext cx="914400" cy="914400"/>
              </a:xfrm>
              <a:prstGeom prst="rect">
                <a:avLst/>
              </a:prstGeom>
            </p:spPr>
          </p:pic>
          <p:pic>
            <p:nvPicPr>
              <p:cNvPr id="269" name="Graphique 268" descr="Programmeur avec un remplissage uni">
                <a:extLst>
                  <a:ext uri="{FF2B5EF4-FFF2-40B4-BE49-F238E27FC236}">
                    <a16:creationId xmlns:a16="http://schemas.microsoft.com/office/drawing/2014/main" id="{855D1B96-8B80-9312-83BF-2745706EF1A2}"/>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10027235" y="2139660"/>
                <a:ext cx="663886" cy="663886"/>
              </a:xfrm>
              <a:prstGeom prst="rect">
                <a:avLst/>
              </a:prstGeom>
            </p:spPr>
          </p:pic>
          <p:pic>
            <p:nvPicPr>
              <p:cNvPr id="270" name="Graphique 269" descr="Programmeur avec un remplissage uni">
                <a:extLst>
                  <a:ext uri="{FF2B5EF4-FFF2-40B4-BE49-F238E27FC236}">
                    <a16:creationId xmlns:a16="http://schemas.microsoft.com/office/drawing/2014/main" id="{716DCFE5-7B41-696C-8FC8-2CF85DC364BC}"/>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10942610" y="1653518"/>
                <a:ext cx="663886" cy="663886"/>
              </a:xfrm>
              <a:prstGeom prst="rect">
                <a:avLst/>
              </a:prstGeom>
            </p:spPr>
          </p:pic>
          <p:pic>
            <p:nvPicPr>
              <p:cNvPr id="271" name="Graphique 270" descr="Programmatrice avec un remplissage uni">
                <a:extLst>
                  <a:ext uri="{FF2B5EF4-FFF2-40B4-BE49-F238E27FC236}">
                    <a16:creationId xmlns:a16="http://schemas.microsoft.com/office/drawing/2014/main" id="{4C6B3447-5F57-87B0-EB3A-D6C53D2F9AA1}"/>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10992818" y="763430"/>
                <a:ext cx="663886" cy="663886"/>
              </a:xfrm>
              <a:prstGeom prst="rect">
                <a:avLst/>
              </a:prstGeom>
            </p:spPr>
          </p:pic>
          <p:cxnSp>
            <p:nvCxnSpPr>
              <p:cNvPr id="272" name="Connecteur : en angle 271">
                <a:extLst>
                  <a:ext uri="{FF2B5EF4-FFF2-40B4-BE49-F238E27FC236}">
                    <a16:creationId xmlns:a16="http://schemas.microsoft.com/office/drawing/2014/main" id="{A3907C0A-8CA8-D6B4-0121-70D75F30A2EB}"/>
                  </a:ext>
                </a:extLst>
              </p:cNvPr>
              <p:cNvCxnSpPr>
                <a:cxnSpLocks/>
              </p:cNvCxnSpPr>
              <p:nvPr/>
            </p:nvCxnSpPr>
            <p:spPr>
              <a:xfrm>
                <a:off x="9503307" y="1042259"/>
                <a:ext cx="668774" cy="511062"/>
              </a:xfrm>
              <a:prstGeom prst="bentConnector3">
                <a:avLst>
                  <a:gd name="adj1" fmla="val 50000"/>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273" name="Connecteur : en angle 272">
                <a:extLst>
                  <a:ext uri="{FF2B5EF4-FFF2-40B4-BE49-F238E27FC236}">
                    <a16:creationId xmlns:a16="http://schemas.microsoft.com/office/drawing/2014/main" id="{BCB2E1DA-7BB4-D630-D96E-6C76D5E2A838}"/>
                  </a:ext>
                </a:extLst>
              </p:cNvPr>
              <p:cNvCxnSpPr>
                <a:cxnSpLocks/>
                <a:stCxn id="267" idx="3"/>
              </p:cNvCxnSpPr>
              <p:nvPr/>
            </p:nvCxnSpPr>
            <p:spPr>
              <a:xfrm flipV="1">
                <a:off x="9675114" y="1730944"/>
                <a:ext cx="352121" cy="331943"/>
              </a:xfrm>
              <a:prstGeom prst="bentConnector3">
                <a:avLst>
                  <a:gd name="adj1" fmla="val 50000"/>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274" name="Connecteur : en angle 273">
                <a:extLst>
                  <a:ext uri="{FF2B5EF4-FFF2-40B4-BE49-F238E27FC236}">
                    <a16:creationId xmlns:a16="http://schemas.microsoft.com/office/drawing/2014/main" id="{D916AB9C-71F2-921D-F98A-81E1EC5B20A1}"/>
                  </a:ext>
                </a:extLst>
              </p:cNvPr>
              <p:cNvCxnSpPr>
                <a:cxnSpLocks/>
              </p:cNvCxnSpPr>
              <p:nvPr/>
            </p:nvCxnSpPr>
            <p:spPr>
              <a:xfrm>
                <a:off x="10609951" y="1707850"/>
                <a:ext cx="553773" cy="493867"/>
              </a:xfrm>
              <a:prstGeom prst="bentConnector3">
                <a:avLst>
                  <a:gd name="adj1" fmla="val 50000"/>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275" name="Connecteur : en angle 274">
                <a:extLst>
                  <a:ext uri="{FF2B5EF4-FFF2-40B4-BE49-F238E27FC236}">
                    <a16:creationId xmlns:a16="http://schemas.microsoft.com/office/drawing/2014/main" id="{DD6299CF-2349-0992-C55F-21A842281613}"/>
                  </a:ext>
                </a:extLst>
              </p:cNvPr>
              <p:cNvCxnSpPr>
                <a:cxnSpLocks/>
              </p:cNvCxnSpPr>
              <p:nvPr/>
            </p:nvCxnSpPr>
            <p:spPr>
              <a:xfrm flipV="1">
                <a:off x="10627926" y="1253435"/>
                <a:ext cx="443834" cy="337267"/>
              </a:xfrm>
              <a:prstGeom prst="bentConnector3">
                <a:avLst>
                  <a:gd name="adj1" fmla="val 50000"/>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276" name="Connecteur droit 275">
                <a:extLst>
                  <a:ext uri="{FF2B5EF4-FFF2-40B4-BE49-F238E27FC236}">
                    <a16:creationId xmlns:a16="http://schemas.microsoft.com/office/drawing/2014/main" id="{BD2D3870-237C-0C6D-4A93-2F4E5653ABAB}"/>
                  </a:ext>
                </a:extLst>
              </p:cNvPr>
              <p:cNvCxnSpPr>
                <a:cxnSpLocks/>
              </p:cNvCxnSpPr>
              <p:nvPr/>
            </p:nvCxnSpPr>
            <p:spPr>
              <a:xfrm>
                <a:off x="10342472" y="1876184"/>
                <a:ext cx="6790" cy="291416"/>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grpSp>
      <p:grpSp>
        <p:nvGrpSpPr>
          <p:cNvPr id="281" name="Groupe 280">
            <a:extLst>
              <a:ext uri="{FF2B5EF4-FFF2-40B4-BE49-F238E27FC236}">
                <a16:creationId xmlns:a16="http://schemas.microsoft.com/office/drawing/2014/main" id="{8EAC2D85-3768-57AA-47F6-452FD2F38E31}"/>
              </a:ext>
            </a:extLst>
          </p:cNvPr>
          <p:cNvGrpSpPr/>
          <p:nvPr/>
        </p:nvGrpSpPr>
        <p:grpSpPr>
          <a:xfrm>
            <a:off x="5268876" y="4022737"/>
            <a:ext cx="1549252" cy="1104977"/>
            <a:chOff x="8184592" y="6617969"/>
            <a:chExt cx="2796414" cy="1994494"/>
          </a:xfrm>
        </p:grpSpPr>
        <p:pic>
          <p:nvPicPr>
            <p:cNvPr id="283" name="Graphique 282" descr="Presse-papiers vérifié avec un remplissage uni">
              <a:extLst>
                <a:ext uri="{FF2B5EF4-FFF2-40B4-BE49-F238E27FC236}">
                  <a16:creationId xmlns:a16="http://schemas.microsoft.com/office/drawing/2014/main" id="{76BEFCD3-31F0-BF75-54B2-8938CE52B0B5}"/>
                </a:ext>
              </a:extLst>
            </p:cNvPr>
            <p:cNvPicPr>
              <a:picLocks noChangeAspect="1"/>
            </p:cNvPicPr>
            <p:nvPr/>
          </p:nvPicPr>
          <p:blipFill>
            <a:blip r:embed="rId41">
              <a:extLst>
                <a:ext uri="{28A0092B-C50C-407E-A947-70E740481C1C}">
                  <a14:useLocalDpi xmlns:a14="http://schemas.microsoft.com/office/drawing/2010/main" val="0"/>
                </a:ext>
                <a:ext uri="{96DAC541-7B7A-43D3-8B79-37D633B846F1}">
                  <asvg:svgBlip xmlns:asvg="http://schemas.microsoft.com/office/drawing/2016/SVG/main" r:embed="rId42"/>
                </a:ext>
              </a:extLst>
            </a:blip>
            <a:stretch>
              <a:fillRect/>
            </a:stretch>
          </p:blipFill>
          <p:spPr>
            <a:xfrm rot="349526">
              <a:off x="8184592" y="7481597"/>
              <a:ext cx="1130866" cy="1130866"/>
            </a:xfrm>
            <a:prstGeom prst="rect">
              <a:avLst/>
            </a:prstGeom>
          </p:spPr>
        </p:pic>
        <p:grpSp>
          <p:nvGrpSpPr>
            <p:cNvPr id="284" name="Groupe 283">
              <a:extLst>
                <a:ext uri="{FF2B5EF4-FFF2-40B4-BE49-F238E27FC236}">
                  <a16:creationId xmlns:a16="http://schemas.microsoft.com/office/drawing/2014/main" id="{CBC7BF14-F4C9-27AA-5623-25154E722243}"/>
                </a:ext>
              </a:extLst>
            </p:cNvPr>
            <p:cNvGrpSpPr/>
            <p:nvPr/>
          </p:nvGrpSpPr>
          <p:grpSpPr>
            <a:xfrm>
              <a:off x="9921254" y="7026762"/>
              <a:ext cx="1059752" cy="1452074"/>
              <a:chOff x="9812000" y="3351401"/>
              <a:chExt cx="914400" cy="1252912"/>
            </a:xfrm>
          </p:grpSpPr>
          <p:pic>
            <p:nvPicPr>
              <p:cNvPr id="289" name="Graphique 288" descr="Temple grec avec un remplissage uni">
                <a:extLst>
                  <a:ext uri="{FF2B5EF4-FFF2-40B4-BE49-F238E27FC236}">
                    <a16:creationId xmlns:a16="http://schemas.microsoft.com/office/drawing/2014/main" id="{C0B6F190-480E-E3B3-9E09-393063E2749E}"/>
                  </a:ext>
                </a:extLst>
              </p:cNvPr>
              <p:cNvPicPr>
                <a:picLocks noChangeAspect="1"/>
              </p:cNvPicPr>
              <p:nvPr/>
            </p:nvPicPr>
            <p:blipFill>
              <a:blip r:embed="rId43">
                <a:extLst>
                  <a:ext uri="{28A0092B-C50C-407E-A947-70E740481C1C}">
                    <a14:useLocalDpi xmlns:a14="http://schemas.microsoft.com/office/drawing/2010/main" val="0"/>
                  </a:ext>
                  <a:ext uri="{96DAC541-7B7A-43D3-8B79-37D633B846F1}">
                    <asvg:svgBlip xmlns:asvg="http://schemas.microsoft.com/office/drawing/2016/SVG/main" r:embed="rId44"/>
                  </a:ext>
                </a:extLst>
              </a:blip>
              <a:stretch>
                <a:fillRect/>
              </a:stretch>
            </p:blipFill>
            <p:spPr>
              <a:xfrm>
                <a:off x="9812000" y="3689913"/>
                <a:ext cx="914400" cy="914400"/>
              </a:xfrm>
              <a:prstGeom prst="rect">
                <a:avLst/>
              </a:prstGeom>
            </p:spPr>
          </p:pic>
          <p:pic>
            <p:nvPicPr>
              <p:cNvPr id="290" name="Graphique 289" descr="Balance de la justice avec un remplissage uni">
                <a:extLst>
                  <a:ext uri="{FF2B5EF4-FFF2-40B4-BE49-F238E27FC236}">
                    <a16:creationId xmlns:a16="http://schemas.microsoft.com/office/drawing/2014/main" id="{0466B697-96AA-E1F4-3337-9C72DF941775}"/>
                  </a:ext>
                </a:extLst>
              </p:cNvPr>
              <p:cNvPicPr>
                <a:picLocks noChangeAspect="1"/>
              </p:cNvPicPr>
              <p:nvPr/>
            </p:nvPicPr>
            <p:blipFill>
              <a:blip r:embed="rId45">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a:off x="9990815" y="3351401"/>
                <a:ext cx="570281" cy="570281"/>
              </a:xfrm>
              <a:prstGeom prst="rect">
                <a:avLst/>
              </a:prstGeom>
            </p:spPr>
          </p:pic>
        </p:grpSp>
        <p:cxnSp>
          <p:nvCxnSpPr>
            <p:cNvPr id="285" name="Connecteur droit avec flèche 284">
              <a:extLst>
                <a:ext uri="{FF2B5EF4-FFF2-40B4-BE49-F238E27FC236}">
                  <a16:creationId xmlns:a16="http://schemas.microsoft.com/office/drawing/2014/main" id="{25A2386C-381E-7FC8-AABF-BD61C0BAC2D5}"/>
                </a:ext>
              </a:extLst>
            </p:cNvPr>
            <p:cNvCxnSpPr>
              <a:cxnSpLocks/>
              <a:stCxn id="289" idx="1"/>
              <a:endCxn id="283" idx="3"/>
            </p:cNvCxnSpPr>
            <p:nvPr/>
          </p:nvCxnSpPr>
          <p:spPr>
            <a:xfrm flipH="1">
              <a:off x="9312538" y="7948960"/>
              <a:ext cx="608716" cy="15546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286" name="Groupe 285">
              <a:extLst>
                <a:ext uri="{FF2B5EF4-FFF2-40B4-BE49-F238E27FC236}">
                  <a16:creationId xmlns:a16="http://schemas.microsoft.com/office/drawing/2014/main" id="{21D85FB3-34F3-F30B-FF6C-C5739E2DE5E4}"/>
                </a:ext>
              </a:extLst>
            </p:cNvPr>
            <p:cNvGrpSpPr/>
            <p:nvPr/>
          </p:nvGrpSpPr>
          <p:grpSpPr>
            <a:xfrm>
              <a:off x="10222061" y="6617969"/>
              <a:ext cx="551869" cy="594502"/>
              <a:chOff x="5046941" y="2636554"/>
              <a:chExt cx="550624" cy="593160"/>
            </a:xfrm>
          </p:grpSpPr>
          <p:pic>
            <p:nvPicPr>
              <p:cNvPr id="287" name="Graphique 286" descr="Monde avec un remplissage uni">
                <a:extLst>
                  <a:ext uri="{FF2B5EF4-FFF2-40B4-BE49-F238E27FC236}">
                    <a16:creationId xmlns:a16="http://schemas.microsoft.com/office/drawing/2014/main" id="{2CB58E42-1F9E-C012-DAC0-EDA58CDCA0AC}"/>
                  </a:ext>
                </a:extLst>
              </p:cNvPr>
              <p:cNvPicPr>
                <a:picLocks noChangeAspect="1"/>
              </p:cNvPicPr>
              <p:nvPr/>
            </p:nvPicPr>
            <p:blipFill rotWithShape="1">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rcRect l="7173" r="-1"/>
              <a:stretch/>
            </p:blipFill>
            <p:spPr>
              <a:xfrm>
                <a:off x="5046941" y="2636554"/>
                <a:ext cx="550624" cy="593160"/>
              </a:xfrm>
              <a:prstGeom prst="rect">
                <a:avLst/>
              </a:prstGeom>
            </p:spPr>
          </p:pic>
          <p:pic>
            <p:nvPicPr>
              <p:cNvPr id="288" name="Graphique 287" descr="Monde avec un remplissage uni">
                <a:extLst>
                  <a:ext uri="{FF2B5EF4-FFF2-40B4-BE49-F238E27FC236}">
                    <a16:creationId xmlns:a16="http://schemas.microsoft.com/office/drawing/2014/main" id="{A9C73432-04E1-BA22-25A7-07C5F01B1B65}"/>
                  </a:ext>
                </a:extLst>
              </p:cNvPr>
              <p:cNvPicPr>
                <a:picLocks noChangeAspect="1"/>
              </p:cNvPicPr>
              <p:nvPr/>
            </p:nvPicPr>
            <p:blipFill rotWithShape="1">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rcRect l="29716" t="30008" r="27849" b="30408"/>
              <a:stretch/>
            </p:blipFill>
            <p:spPr>
              <a:xfrm>
                <a:off x="5180657" y="2809632"/>
                <a:ext cx="251709" cy="234792"/>
              </a:xfrm>
              <a:prstGeom prst="rect">
                <a:avLst/>
              </a:prstGeom>
            </p:spPr>
          </p:pic>
        </p:grpSp>
      </p:grpSp>
      <p:grpSp>
        <p:nvGrpSpPr>
          <p:cNvPr id="291" name="Groupe 290">
            <a:extLst>
              <a:ext uri="{FF2B5EF4-FFF2-40B4-BE49-F238E27FC236}">
                <a16:creationId xmlns:a16="http://schemas.microsoft.com/office/drawing/2014/main" id="{A7470FB9-EC1B-A5E8-D745-CAA458CD6DA5}"/>
              </a:ext>
            </a:extLst>
          </p:cNvPr>
          <p:cNvGrpSpPr/>
          <p:nvPr/>
        </p:nvGrpSpPr>
        <p:grpSpPr>
          <a:xfrm>
            <a:off x="9818115" y="4069192"/>
            <a:ext cx="914884" cy="860322"/>
            <a:chOff x="9389959" y="3933207"/>
            <a:chExt cx="2053397" cy="1930935"/>
          </a:xfrm>
        </p:grpSpPr>
        <p:pic>
          <p:nvPicPr>
            <p:cNvPr id="292" name="Graphique 291" descr="Calendrier mensuel avec un remplissage uni">
              <a:extLst>
                <a:ext uri="{FF2B5EF4-FFF2-40B4-BE49-F238E27FC236}">
                  <a16:creationId xmlns:a16="http://schemas.microsoft.com/office/drawing/2014/main" id="{C3F33EE0-CF1E-F21D-4638-7CE1AF103974}"/>
                </a:ext>
              </a:extLst>
            </p:cNvPr>
            <p:cNvPicPr>
              <a:picLocks noChangeAspect="1"/>
            </p:cNvPicPr>
            <p:nvPr/>
          </p:nvPicPr>
          <p:blipFill>
            <a:blip r:embed="rId47">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10379381" y="3933207"/>
              <a:ext cx="877951" cy="822437"/>
            </a:xfrm>
            <a:prstGeom prst="rect">
              <a:avLst/>
            </a:prstGeom>
          </p:spPr>
        </p:pic>
        <p:grpSp>
          <p:nvGrpSpPr>
            <p:cNvPr id="293" name="Groupe 292">
              <a:extLst>
                <a:ext uri="{FF2B5EF4-FFF2-40B4-BE49-F238E27FC236}">
                  <a16:creationId xmlns:a16="http://schemas.microsoft.com/office/drawing/2014/main" id="{55A852B6-EDCF-6EB4-B284-FF5F813156D3}"/>
                </a:ext>
              </a:extLst>
            </p:cNvPr>
            <p:cNvGrpSpPr/>
            <p:nvPr/>
          </p:nvGrpSpPr>
          <p:grpSpPr>
            <a:xfrm>
              <a:off x="9389959" y="4260550"/>
              <a:ext cx="1004787" cy="1437434"/>
              <a:chOff x="6298348" y="3168316"/>
              <a:chExt cx="867130" cy="1240504"/>
            </a:xfrm>
            <a:solidFill>
              <a:srgbClr val="F78321"/>
            </a:solidFill>
          </p:grpSpPr>
          <p:pic>
            <p:nvPicPr>
              <p:cNvPr id="295" name="Graphique 294" descr="Enseignant avec un remplissage uni">
                <a:extLst>
                  <a:ext uri="{FF2B5EF4-FFF2-40B4-BE49-F238E27FC236}">
                    <a16:creationId xmlns:a16="http://schemas.microsoft.com/office/drawing/2014/main" id="{CC6DE31D-2121-3D90-B6EF-9FEEC9B34AF8}"/>
                  </a:ext>
                </a:extLst>
              </p:cNvPr>
              <p:cNvPicPr>
                <a:picLocks noChangeAspect="1"/>
              </p:cNvPicPr>
              <p:nvPr/>
            </p:nvPicPr>
            <p:blipFill>
              <a:blip r:embed="rId49">
                <a:extLst>
                  <a:ext uri="{28A0092B-C50C-407E-A947-70E740481C1C}">
                    <a14:useLocalDpi xmlns:a14="http://schemas.microsoft.com/office/drawing/2010/main" val="0"/>
                  </a:ext>
                  <a:ext uri="{96DAC541-7B7A-43D3-8B79-37D633B846F1}">
                    <asvg:svgBlip xmlns:asvg="http://schemas.microsoft.com/office/drawing/2016/SVG/main" r:embed="rId50"/>
                  </a:ext>
                </a:extLst>
              </a:blip>
              <a:stretch>
                <a:fillRect/>
              </a:stretch>
            </p:blipFill>
            <p:spPr>
              <a:xfrm>
                <a:off x="6298348" y="3168316"/>
                <a:ext cx="867130" cy="867130"/>
              </a:xfrm>
              <a:prstGeom prst="rect">
                <a:avLst/>
              </a:prstGeom>
            </p:spPr>
          </p:pic>
          <p:pic>
            <p:nvPicPr>
              <p:cNvPr id="296" name="Graphique 295" descr="Personne confuse avec un remplissage uni">
                <a:extLst>
                  <a:ext uri="{FF2B5EF4-FFF2-40B4-BE49-F238E27FC236}">
                    <a16:creationId xmlns:a16="http://schemas.microsoft.com/office/drawing/2014/main" id="{FD592DB1-2529-9209-4B55-49E59A5462E4}"/>
                  </a:ext>
                </a:extLst>
              </p:cNvPr>
              <p:cNvPicPr>
                <a:picLocks noChangeAspect="1"/>
              </p:cNvPicPr>
              <p:nvPr/>
            </p:nvPicPr>
            <p:blipFill rotWithShape="1">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rcRect l="34664" t="32545" r="38513" b="-1"/>
              <a:stretch/>
            </p:blipFill>
            <p:spPr>
              <a:xfrm>
                <a:off x="6367463" y="3792004"/>
                <a:ext cx="245268" cy="616816"/>
              </a:xfrm>
              <a:prstGeom prst="rect">
                <a:avLst/>
              </a:prstGeom>
            </p:spPr>
          </p:pic>
          <p:sp>
            <p:nvSpPr>
              <p:cNvPr id="297" name="Rectangle : coins arrondis 296">
                <a:extLst>
                  <a:ext uri="{FF2B5EF4-FFF2-40B4-BE49-F238E27FC236}">
                    <a16:creationId xmlns:a16="http://schemas.microsoft.com/office/drawing/2014/main" id="{63BE2589-36EC-E507-71F5-4DE1ED9BD324}"/>
                  </a:ext>
                </a:extLst>
              </p:cNvPr>
              <p:cNvSpPr/>
              <p:nvPr/>
            </p:nvSpPr>
            <p:spPr>
              <a:xfrm rot="6712184">
                <a:off x="6254922" y="3844588"/>
                <a:ext cx="234739" cy="65134"/>
              </a:xfrm>
              <a:prstGeom prst="roundRect">
                <a:avLst>
                  <a:gd name="adj" fmla="val 50000"/>
                </a:avLst>
              </a:prstGeom>
              <a:grp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fr-FR"/>
              </a:p>
            </p:txBody>
          </p:sp>
        </p:grpSp>
        <p:pic>
          <p:nvPicPr>
            <p:cNvPr id="294" name="Graphique 293" descr="Groupe avec un remplissage uni">
              <a:extLst>
                <a:ext uri="{FF2B5EF4-FFF2-40B4-BE49-F238E27FC236}">
                  <a16:creationId xmlns:a16="http://schemas.microsoft.com/office/drawing/2014/main" id="{7D535C12-C6FC-6805-D111-81F8ABC19796}"/>
                </a:ext>
              </a:extLst>
            </p:cNvPr>
            <p:cNvPicPr>
              <a:picLocks noChangeAspect="1"/>
            </p:cNvPicPr>
            <p:nvPr/>
          </p:nvPicPr>
          <p:blipFill>
            <a:blip r:embed="rId53">
              <a:extLst>
                <a:ext uri="{28A0092B-C50C-407E-A947-70E740481C1C}">
                  <a14:useLocalDpi xmlns:a14="http://schemas.microsoft.com/office/drawing/2010/main" val="0"/>
                </a:ext>
                <a:ext uri="{96DAC541-7B7A-43D3-8B79-37D633B846F1}">
                  <asvg:svgBlip xmlns:asvg="http://schemas.microsoft.com/office/drawing/2016/SVG/main" r:embed="rId54"/>
                </a:ext>
              </a:extLst>
            </a:blip>
            <a:stretch>
              <a:fillRect/>
            </a:stretch>
          </p:blipFill>
          <p:spPr>
            <a:xfrm>
              <a:off x="10554072" y="4974858"/>
              <a:ext cx="889284" cy="889284"/>
            </a:xfrm>
            <a:prstGeom prst="rect">
              <a:avLst/>
            </a:prstGeom>
          </p:spPr>
        </p:pic>
      </p:grpSp>
      <p:pic>
        <p:nvPicPr>
          <p:cNvPr id="128" name="Graphique 127" descr="Chat avec un remplissage uni">
            <a:extLst>
              <a:ext uri="{FF2B5EF4-FFF2-40B4-BE49-F238E27FC236}">
                <a16:creationId xmlns:a16="http://schemas.microsoft.com/office/drawing/2014/main" id="{B7CD1257-81FF-807E-9F73-2F9EF2260E09}"/>
              </a:ext>
            </a:extLst>
          </p:cNvPr>
          <p:cNvPicPr>
            <a:picLocks noChangeAspect="1"/>
          </p:cNvPicPr>
          <p:nvPr/>
        </p:nvPicPr>
        <p:blipFill>
          <a:blip r:embed="rId55">
            <a:extLst>
              <a:ext uri="{28A0092B-C50C-407E-A947-70E740481C1C}">
                <a14:useLocalDpi xmlns:a14="http://schemas.microsoft.com/office/drawing/2010/main" val="0"/>
              </a:ext>
              <a:ext uri="{96DAC541-7B7A-43D3-8B79-37D633B846F1}">
                <asvg:svgBlip xmlns:asvg="http://schemas.microsoft.com/office/drawing/2016/SVG/main" r:embed="rId56"/>
              </a:ext>
            </a:extLst>
          </a:blip>
          <a:stretch>
            <a:fillRect/>
          </a:stretch>
        </p:blipFill>
        <p:spPr>
          <a:xfrm>
            <a:off x="9431392" y="2180482"/>
            <a:ext cx="680580" cy="680578"/>
          </a:xfrm>
          <a:prstGeom prst="rect">
            <a:avLst/>
          </a:prstGeom>
        </p:spPr>
      </p:pic>
      <p:pic>
        <p:nvPicPr>
          <p:cNvPr id="130" name="Graphique 129" descr="Flèches de chevron avec un remplissage uni">
            <a:extLst>
              <a:ext uri="{FF2B5EF4-FFF2-40B4-BE49-F238E27FC236}">
                <a16:creationId xmlns:a16="http://schemas.microsoft.com/office/drawing/2014/main" id="{E213ED33-A2D2-4AE4-BACC-4124CFD80F36}"/>
              </a:ext>
            </a:extLst>
          </p:cNvPr>
          <p:cNvPicPr>
            <a:picLocks noChangeAspect="1"/>
          </p:cNvPicPr>
          <p:nvPr/>
        </p:nvPicPr>
        <p:blipFill>
          <a:blip r:embed="rId57">
            <a:extLst>
              <a:ext uri="{28A0092B-C50C-407E-A947-70E740481C1C}">
                <a14:useLocalDpi xmlns:a14="http://schemas.microsoft.com/office/drawing/2010/main" val="0"/>
              </a:ext>
              <a:ext uri="{96DAC541-7B7A-43D3-8B79-37D633B846F1}">
                <asvg:svgBlip xmlns:asvg="http://schemas.microsoft.com/office/drawing/2016/SVG/main" r:embed="rId58"/>
              </a:ext>
            </a:extLst>
          </a:blip>
          <a:stretch>
            <a:fillRect/>
          </a:stretch>
        </p:blipFill>
        <p:spPr>
          <a:xfrm>
            <a:off x="10581135" y="2218657"/>
            <a:ext cx="523129" cy="523127"/>
          </a:xfrm>
          <a:prstGeom prst="rect">
            <a:avLst/>
          </a:prstGeom>
        </p:spPr>
      </p:pic>
      <p:pic>
        <p:nvPicPr>
          <p:cNvPr id="131" name="Graphique 130" descr="Tête avec engrenages avec un remplissage uni">
            <a:extLst>
              <a:ext uri="{FF2B5EF4-FFF2-40B4-BE49-F238E27FC236}">
                <a16:creationId xmlns:a16="http://schemas.microsoft.com/office/drawing/2014/main" id="{70E5553D-3583-9C40-1F98-E926C4B9A21B}"/>
              </a:ext>
            </a:extLst>
          </p:cNvPr>
          <p:cNvPicPr>
            <a:picLocks noChangeAspect="1"/>
          </p:cNvPicPr>
          <p:nvPr/>
        </p:nvPicPr>
        <p:blipFill>
          <a:blip r:embed="rId59">
            <a:extLst>
              <a:ext uri="{28A0092B-C50C-407E-A947-70E740481C1C}">
                <a14:useLocalDpi xmlns:a14="http://schemas.microsoft.com/office/drawing/2010/main" val="0"/>
              </a:ext>
              <a:ext uri="{96DAC541-7B7A-43D3-8B79-37D633B846F1}">
                <asvg:svgBlip xmlns:asvg="http://schemas.microsoft.com/office/drawing/2016/SVG/main" r:embed="rId60"/>
              </a:ext>
            </a:extLst>
          </a:blip>
          <a:stretch>
            <a:fillRect/>
          </a:stretch>
        </p:blipFill>
        <p:spPr>
          <a:xfrm>
            <a:off x="8400123" y="2227977"/>
            <a:ext cx="619206" cy="619204"/>
          </a:xfrm>
          <a:prstGeom prst="rect">
            <a:avLst/>
          </a:prstGeom>
        </p:spPr>
      </p:pic>
      <p:sp>
        <p:nvSpPr>
          <p:cNvPr id="139" name="Rectangle 138">
            <a:extLst>
              <a:ext uri="{FF2B5EF4-FFF2-40B4-BE49-F238E27FC236}">
                <a16:creationId xmlns:a16="http://schemas.microsoft.com/office/drawing/2014/main" id="{4B88C84A-A0B9-6E3E-5A3C-2AFB665CB04B}"/>
              </a:ext>
            </a:extLst>
          </p:cNvPr>
          <p:cNvSpPr/>
          <p:nvPr/>
        </p:nvSpPr>
        <p:spPr>
          <a:xfrm>
            <a:off x="9267721" y="2783939"/>
            <a:ext cx="1018877" cy="65712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Outil (ou au moins document) de suivi des ressources partagées</a:t>
            </a:r>
          </a:p>
        </p:txBody>
      </p:sp>
      <p:sp>
        <p:nvSpPr>
          <p:cNvPr id="158" name="Rectangle 157">
            <a:extLst>
              <a:ext uri="{FF2B5EF4-FFF2-40B4-BE49-F238E27FC236}">
                <a16:creationId xmlns:a16="http://schemas.microsoft.com/office/drawing/2014/main" id="{376744D2-7BB3-9E6A-BB0D-2DF2AF00DB9F}"/>
              </a:ext>
            </a:extLst>
          </p:cNvPr>
          <p:cNvSpPr/>
          <p:nvPr/>
        </p:nvSpPr>
        <p:spPr>
          <a:xfrm>
            <a:off x="7179683" y="2784459"/>
            <a:ext cx="996523" cy="65010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Outil d’agrégation des ressources informationnelles</a:t>
            </a:r>
          </a:p>
        </p:txBody>
      </p:sp>
      <p:sp>
        <p:nvSpPr>
          <p:cNvPr id="172" name="Rectangle 171">
            <a:extLst>
              <a:ext uri="{FF2B5EF4-FFF2-40B4-BE49-F238E27FC236}">
                <a16:creationId xmlns:a16="http://schemas.microsoft.com/office/drawing/2014/main" id="{54C2B868-5861-244E-203E-E50960C1429C}"/>
              </a:ext>
            </a:extLst>
          </p:cNvPr>
          <p:cNvSpPr/>
          <p:nvPr/>
        </p:nvSpPr>
        <p:spPr>
          <a:xfrm>
            <a:off x="6124487" y="2783939"/>
            <a:ext cx="1018877" cy="65712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Connaissance des besoins des membres et des activités de la Communauté</a:t>
            </a:r>
          </a:p>
        </p:txBody>
      </p:sp>
      <p:sp>
        <p:nvSpPr>
          <p:cNvPr id="173" name="Rectangle 172">
            <a:extLst>
              <a:ext uri="{FF2B5EF4-FFF2-40B4-BE49-F238E27FC236}">
                <a16:creationId xmlns:a16="http://schemas.microsoft.com/office/drawing/2014/main" id="{29ADCF15-21D0-FB4A-B1FB-CB4995372E2B}"/>
              </a:ext>
            </a:extLst>
          </p:cNvPr>
          <p:cNvSpPr/>
          <p:nvPr/>
        </p:nvSpPr>
        <p:spPr>
          <a:xfrm>
            <a:off x="8212525" y="2783939"/>
            <a:ext cx="1018877" cy="65712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de gouvernance et gestion des ressources partagées</a:t>
            </a:r>
          </a:p>
        </p:txBody>
      </p:sp>
      <p:sp>
        <p:nvSpPr>
          <p:cNvPr id="174" name="Rectangle 173">
            <a:extLst>
              <a:ext uri="{FF2B5EF4-FFF2-40B4-BE49-F238E27FC236}">
                <a16:creationId xmlns:a16="http://schemas.microsoft.com/office/drawing/2014/main" id="{7BE1390A-726E-8E9F-D6A0-92EB51904571}"/>
              </a:ext>
            </a:extLst>
          </p:cNvPr>
          <p:cNvSpPr/>
          <p:nvPr/>
        </p:nvSpPr>
        <p:spPr>
          <a:xfrm>
            <a:off x="5069291" y="2783939"/>
            <a:ext cx="1018877" cy="65712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Exemples de partages de ressources dans d’autres communautés </a:t>
            </a:r>
          </a:p>
        </p:txBody>
      </p:sp>
      <p:sp>
        <p:nvSpPr>
          <p:cNvPr id="175" name="Rectangle 174">
            <a:extLst>
              <a:ext uri="{FF2B5EF4-FFF2-40B4-BE49-F238E27FC236}">
                <a16:creationId xmlns:a16="http://schemas.microsoft.com/office/drawing/2014/main" id="{4D551B9F-8232-9F68-99D7-96ED02BED1B8}"/>
              </a:ext>
            </a:extLst>
          </p:cNvPr>
          <p:cNvSpPr/>
          <p:nvPr/>
        </p:nvSpPr>
        <p:spPr>
          <a:xfrm>
            <a:off x="10322916" y="2783939"/>
            <a:ext cx="1018877" cy="65712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Base de confiance entre les membres et en la Communauté</a:t>
            </a:r>
          </a:p>
        </p:txBody>
      </p:sp>
      <p:pic>
        <p:nvPicPr>
          <p:cNvPr id="176" name="Graphique 175" descr="Informations avec un remplissage uni">
            <a:extLst>
              <a:ext uri="{FF2B5EF4-FFF2-40B4-BE49-F238E27FC236}">
                <a16:creationId xmlns:a16="http://schemas.microsoft.com/office/drawing/2014/main" id="{899899A5-3AA6-4D9B-B939-25959593E2CD}"/>
              </a:ext>
            </a:extLst>
          </p:cNvPr>
          <p:cNvPicPr>
            <a:picLocks noChangeAspect="1"/>
          </p:cNvPicPr>
          <p:nvPr/>
        </p:nvPicPr>
        <p:blipFill>
          <a:blip r:embed="rId61">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6367279" y="2249373"/>
            <a:ext cx="534568" cy="534566"/>
          </a:xfrm>
          <a:prstGeom prst="rect">
            <a:avLst/>
          </a:prstGeom>
        </p:spPr>
      </p:pic>
      <p:pic>
        <p:nvPicPr>
          <p:cNvPr id="177" name="Graphique 176" descr="Informations avec un remplissage uni">
            <a:extLst>
              <a:ext uri="{FF2B5EF4-FFF2-40B4-BE49-F238E27FC236}">
                <a16:creationId xmlns:a16="http://schemas.microsoft.com/office/drawing/2014/main" id="{FB5CC9CF-3448-32AB-49FA-0B9DE8561364}"/>
              </a:ext>
            </a:extLst>
          </p:cNvPr>
          <p:cNvPicPr>
            <a:picLocks noChangeAspect="1"/>
          </p:cNvPicPr>
          <p:nvPr/>
        </p:nvPicPr>
        <p:blipFill>
          <a:blip r:embed="rId61">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5311445" y="2239126"/>
            <a:ext cx="534568" cy="534566"/>
          </a:xfrm>
          <a:prstGeom prst="rect">
            <a:avLst/>
          </a:prstGeom>
        </p:spPr>
      </p:pic>
      <p:pic>
        <p:nvPicPr>
          <p:cNvPr id="178" name="Graphique 177" descr="Chat avec un remplissage uni">
            <a:extLst>
              <a:ext uri="{FF2B5EF4-FFF2-40B4-BE49-F238E27FC236}">
                <a16:creationId xmlns:a16="http://schemas.microsoft.com/office/drawing/2014/main" id="{408F1EB1-1F77-5331-F8D8-4A798F29D04B}"/>
              </a:ext>
            </a:extLst>
          </p:cNvPr>
          <p:cNvPicPr>
            <a:picLocks noChangeAspect="1"/>
          </p:cNvPicPr>
          <p:nvPr/>
        </p:nvPicPr>
        <p:blipFill>
          <a:blip r:embed="rId55">
            <a:extLst>
              <a:ext uri="{28A0092B-C50C-407E-A947-70E740481C1C}">
                <a14:useLocalDpi xmlns:a14="http://schemas.microsoft.com/office/drawing/2010/main" val="0"/>
              </a:ext>
              <a:ext uri="{96DAC541-7B7A-43D3-8B79-37D633B846F1}">
                <asvg:svgBlip xmlns:asvg="http://schemas.microsoft.com/office/drawing/2016/SVG/main" r:embed="rId56"/>
              </a:ext>
            </a:extLst>
          </a:blip>
          <a:stretch>
            <a:fillRect/>
          </a:stretch>
        </p:blipFill>
        <p:spPr>
          <a:xfrm>
            <a:off x="7335299" y="2187441"/>
            <a:ext cx="680580" cy="680578"/>
          </a:xfrm>
          <a:prstGeom prst="rect">
            <a:avLst/>
          </a:prstGeom>
        </p:spPr>
      </p:pic>
    </p:spTree>
    <p:extLst>
      <p:ext uri="{BB962C8B-B14F-4D97-AF65-F5344CB8AC3E}">
        <p14:creationId xmlns:p14="http://schemas.microsoft.com/office/powerpoint/2010/main" val="3683776659"/>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3461910524"/>
              </p:ext>
            </p:extLst>
          </p:nvPr>
        </p:nvGraphicFramePr>
        <p:xfrm>
          <a:off x="855379" y="760167"/>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Etape de renforcement des liens intérieurs</a:t>
                      </a:r>
                    </a:p>
                    <a:p>
                      <a:r>
                        <a:rPr lang="fr-FR" i="1" dirty="0"/>
                        <a:t>« Renforcer le lien humain entre les membres pour une communauté plus forte et confiante en elle-même »</a:t>
                      </a:r>
                    </a:p>
                  </a:txBody>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sp>
        <p:nvSpPr>
          <p:cNvPr id="2" name="Flèche : droite 1">
            <a:extLst>
              <a:ext uri="{FF2B5EF4-FFF2-40B4-BE49-F238E27FC236}">
                <a16:creationId xmlns:a16="http://schemas.microsoft.com/office/drawing/2014/main" id="{1EB1C7A9-EE99-B025-A7B8-6651283CD466}"/>
              </a:ext>
            </a:extLst>
          </p:cNvPr>
          <p:cNvSpPr/>
          <p:nvPr/>
        </p:nvSpPr>
        <p:spPr>
          <a:xfrm>
            <a:off x="954216" y="2155012"/>
            <a:ext cx="1967947" cy="1358809"/>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HABITUDE :</a:t>
            </a:r>
          </a:p>
          <a:p>
            <a:pPr algn="ctr"/>
            <a:r>
              <a:rPr lang="fr-FR" sz="1200" dirty="0">
                <a:solidFill>
                  <a:schemeClr val="tx1"/>
                </a:solidFill>
              </a:rPr>
              <a:t>S’habituer à la valeur et la confirmer</a:t>
            </a:r>
          </a:p>
        </p:txBody>
      </p:sp>
      <p:grpSp>
        <p:nvGrpSpPr>
          <p:cNvPr id="6" name="Groupe 5">
            <a:extLst>
              <a:ext uri="{FF2B5EF4-FFF2-40B4-BE49-F238E27FC236}">
                <a16:creationId xmlns:a16="http://schemas.microsoft.com/office/drawing/2014/main" id="{EAE0D4A5-3ACF-5FB3-0A61-A7510B05CB19}"/>
              </a:ext>
            </a:extLst>
          </p:cNvPr>
          <p:cNvGrpSpPr/>
          <p:nvPr/>
        </p:nvGrpSpPr>
        <p:grpSpPr>
          <a:xfrm>
            <a:off x="3380616" y="2220972"/>
            <a:ext cx="1131981" cy="919579"/>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A8C65693-1675-B481-9EF1-36FFB10AE80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3C514036-041F-C41A-2AA4-6B891EA7AFB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B6617719-E451-7247-F38C-46F7E666C49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11119ECD-0523-CD50-D0A4-2E4057C5CF4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40EC3069-E7CE-DAE6-DF0C-C334866F082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35DE6984-CA69-4D3A-47BE-9A5684C96BB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3CDA43BD-A5CF-E5E2-4444-3BE483AEFEA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6552B712-B374-CD25-2052-4FF1920EE1D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C29316B4-A081-8551-82D8-AB2D9F342E5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B0CE6C43-E202-57BE-7D78-B142B424618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09417DE4-0535-73F8-20AA-81B9788C20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sp>
        <p:nvSpPr>
          <p:cNvPr id="18" name="Titre 1">
            <a:extLst>
              <a:ext uri="{FF2B5EF4-FFF2-40B4-BE49-F238E27FC236}">
                <a16:creationId xmlns:a16="http://schemas.microsoft.com/office/drawing/2014/main" id="{66E88216-D910-2CB1-BA07-9F3092967AD3}"/>
              </a:ext>
            </a:extLst>
          </p:cNvPr>
          <p:cNvSpPr txBox="1">
            <a:spLocks/>
          </p:cNvSpPr>
          <p:nvPr/>
        </p:nvSpPr>
        <p:spPr>
          <a:xfrm>
            <a:off x="3298477" y="2940495"/>
            <a:ext cx="1281745" cy="65006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482" name="Rectangle 481">
            <a:extLst>
              <a:ext uri="{FF2B5EF4-FFF2-40B4-BE49-F238E27FC236}">
                <a16:creationId xmlns:a16="http://schemas.microsoft.com/office/drawing/2014/main" id="{D0F38AB0-C879-E52C-3A4E-D98141AE18EC}"/>
              </a:ext>
            </a:extLst>
          </p:cNvPr>
          <p:cNvSpPr/>
          <p:nvPr/>
        </p:nvSpPr>
        <p:spPr>
          <a:xfrm>
            <a:off x="911469" y="5127153"/>
            <a:ext cx="1967946" cy="8606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 Ateliers d’amélioration continue, </a:t>
            </a:r>
            <a:r>
              <a:rPr lang="fr-FR" sz="1000" dirty="0" err="1">
                <a:solidFill>
                  <a:schemeClr val="tx1"/>
                </a:solidFill>
              </a:rPr>
              <a:t>Retrospectives</a:t>
            </a:r>
            <a:r>
              <a:rPr lang="fr-FR" sz="1000" dirty="0">
                <a:solidFill>
                  <a:schemeClr val="tx1"/>
                </a:solidFill>
              </a:rPr>
              <a:t>, centrées sur les interfaces entre équipes</a:t>
            </a:r>
          </a:p>
        </p:txBody>
      </p:sp>
      <p:sp>
        <p:nvSpPr>
          <p:cNvPr id="483" name="Rectangle 482">
            <a:extLst>
              <a:ext uri="{FF2B5EF4-FFF2-40B4-BE49-F238E27FC236}">
                <a16:creationId xmlns:a16="http://schemas.microsoft.com/office/drawing/2014/main" id="{5073DA55-0BA9-DDA8-C601-4E583EA6FFBC}"/>
              </a:ext>
            </a:extLst>
          </p:cNvPr>
          <p:cNvSpPr/>
          <p:nvPr/>
        </p:nvSpPr>
        <p:spPr>
          <a:xfrm>
            <a:off x="3024943" y="5127153"/>
            <a:ext cx="1967946" cy="8606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 Création et officialisation d’artefacts moraux de la Communauté (liste de valeur, charte morale, code de conduite, manifeste …)</a:t>
            </a:r>
          </a:p>
        </p:txBody>
      </p:sp>
      <p:sp>
        <p:nvSpPr>
          <p:cNvPr id="484" name="Rectangle 483">
            <a:extLst>
              <a:ext uri="{FF2B5EF4-FFF2-40B4-BE49-F238E27FC236}">
                <a16:creationId xmlns:a16="http://schemas.microsoft.com/office/drawing/2014/main" id="{4DB1E816-7C26-7E7D-A392-97DD5F8B7133}"/>
              </a:ext>
            </a:extLst>
          </p:cNvPr>
          <p:cNvSpPr/>
          <p:nvPr/>
        </p:nvSpPr>
        <p:spPr>
          <a:xfrm>
            <a:off x="5112027" y="5127153"/>
            <a:ext cx="1967946" cy="8606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 Mise en place de différents systèmes de lien (mentoring, parrainages, groupes d’anciens, groupes d’entraide, d’affinité…)</a:t>
            </a:r>
          </a:p>
        </p:txBody>
      </p:sp>
      <p:sp>
        <p:nvSpPr>
          <p:cNvPr id="485" name="Rectangle 484">
            <a:extLst>
              <a:ext uri="{FF2B5EF4-FFF2-40B4-BE49-F238E27FC236}">
                <a16:creationId xmlns:a16="http://schemas.microsoft.com/office/drawing/2014/main" id="{8DF79DF0-CA9B-7A21-CE6C-F719DB0C1FBC}"/>
              </a:ext>
            </a:extLst>
          </p:cNvPr>
          <p:cNvSpPr/>
          <p:nvPr/>
        </p:nvSpPr>
        <p:spPr>
          <a:xfrm>
            <a:off x="7223533" y="5127153"/>
            <a:ext cx="1967946" cy="8606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 Présentation des nouveaux, célébration de l’ancienneté (anniversaires dans la Communauté, …), et de l’histoire commune (frise des réussites collectives)</a:t>
            </a:r>
          </a:p>
        </p:txBody>
      </p:sp>
      <p:sp>
        <p:nvSpPr>
          <p:cNvPr id="486" name="Rectangle 485">
            <a:extLst>
              <a:ext uri="{FF2B5EF4-FFF2-40B4-BE49-F238E27FC236}">
                <a16:creationId xmlns:a16="http://schemas.microsoft.com/office/drawing/2014/main" id="{7646D6ED-70F4-68E7-7307-A3359AF69332}"/>
              </a:ext>
            </a:extLst>
          </p:cNvPr>
          <p:cNvSpPr/>
          <p:nvPr/>
        </p:nvSpPr>
        <p:spPr>
          <a:xfrm>
            <a:off x="9334285" y="5127153"/>
            <a:ext cx="1967946" cy="8606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 Organisation de moments informels, célébrations, excursions, sorties de groupes, présentations mutuelles, rencontres internes à la Communauté</a:t>
            </a:r>
          </a:p>
        </p:txBody>
      </p:sp>
      <p:pic>
        <p:nvPicPr>
          <p:cNvPr id="20" name="Graphique 19" descr="Signe pouce en haut avec un remplissage uni">
            <a:extLst>
              <a:ext uri="{FF2B5EF4-FFF2-40B4-BE49-F238E27FC236}">
                <a16:creationId xmlns:a16="http://schemas.microsoft.com/office/drawing/2014/main" id="{0153C4AA-CDE6-E05C-A5C1-36010F7F2DB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573004" y="4078831"/>
            <a:ext cx="130580" cy="130581"/>
          </a:xfrm>
          <a:prstGeom prst="rect">
            <a:avLst/>
          </a:prstGeom>
        </p:spPr>
      </p:pic>
      <p:pic>
        <p:nvPicPr>
          <p:cNvPr id="21" name="Graphique 20" descr="Pouce en bas avec un remplissage uni">
            <a:extLst>
              <a:ext uri="{FF2B5EF4-FFF2-40B4-BE49-F238E27FC236}">
                <a16:creationId xmlns:a16="http://schemas.microsoft.com/office/drawing/2014/main" id="{45EBB328-7831-424D-2B62-C24151EFE90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836100" y="4094898"/>
            <a:ext cx="141151" cy="141151"/>
          </a:xfrm>
          <a:prstGeom prst="rect">
            <a:avLst/>
          </a:prstGeom>
        </p:spPr>
      </p:pic>
      <p:sp>
        <p:nvSpPr>
          <p:cNvPr id="22" name="Rectangle 21">
            <a:extLst>
              <a:ext uri="{FF2B5EF4-FFF2-40B4-BE49-F238E27FC236}">
                <a16:creationId xmlns:a16="http://schemas.microsoft.com/office/drawing/2014/main" id="{B843C1A6-EFD7-57F3-C9A9-395437A2FE1B}"/>
              </a:ext>
            </a:extLst>
          </p:cNvPr>
          <p:cNvSpPr/>
          <p:nvPr/>
        </p:nvSpPr>
        <p:spPr>
          <a:xfrm>
            <a:off x="1513967" y="4078831"/>
            <a:ext cx="248655" cy="45894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 name="Rectangle 22">
            <a:extLst>
              <a:ext uri="{FF2B5EF4-FFF2-40B4-BE49-F238E27FC236}">
                <a16:creationId xmlns:a16="http://schemas.microsoft.com/office/drawing/2014/main" id="{D7D7D144-E800-DF07-1816-A5D5696E08C2}"/>
              </a:ext>
            </a:extLst>
          </p:cNvPr>
          <p:cNvSpPr/>
          <p:nvPr/>
        </p:nvSpPr>
        <p:spPr>
          <a:xfrm>
            <a:off x="1779432" y="4078831"/>
            <a:ext cx="248655" cy="45894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 name="Rectangle 23">
            <a:extLst>
              <a:ext uri="{FF2B5EF4-FFF2-40B4-BE49-F238E27FC236}">
                <a16:creationId xmlns:a16="http://schemas.microsoft.com/office/drawing/2014/main" id="{75A4B0F3-A187-8FD7-6149-F3A0C5B25A28}"/>
              </a:ext>
            </a:extLst>
          </p:cNvPr>
          <p:cNvSpPr/>
          <p:nvPr/>
        </p:nvSpPr>
        <p:spPr>
          <a:xfrm>
            <a:off x="2044898" y="4078831"/>
            <a:ext cx="248655" cy="45894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 name="Rectangle 24">
            <a:extLst>
              <a:ext uri="{FF2B5EF4-FFF2-40B4-BE49-F238E27FC236}">
                <a16:creationId xmlns:a16="http://schemas.microsoft.com/office/drawing/2014/main" id="{A7093875-C0BA-CF27-0E26-02578289F207}"/>
              </a:ext>
            </a:extLst>
          </p:cNvPr>
          <p:cNvSpPr/>
          <p:nvPr/>
        </p:nvSpPr>
        <p:spPr>
          <a:xfrm>
            <a:off x="2313373" y="4078831"/>
            <a:ext cx="248655" cy="45894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448" name="Graphique 447" descr="Aide avec un remplissage uni">
            <a:extLst>
              <a:ext uri="{FF2B5EF4-FFF2-40B4-BE49-F238E27FC236}">
                <a16:creationId xmlns:a16="http://schemas.microsoft.com/office/drawing/2014/main" id="{D1AD9A83-CF01-855F-9E19-28570F5D468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115254" y="4094898"/>
            <a:ext cx="130682" cy="130682"/>
          </a:xfrm>
          <a:prstGeom prst="rect">
            <a:avLst/>
          </a:prstGeom>
        </p:spPr>
      </p:pic>
      <p:grpSp>
        <p:nvGrpSpPr>
          <p:cNvPr id="449" name="Groupe 448">
            <a:extLst>
              <a:ext uri="{FF2B5EF4-FFF2-40B4-BE49-F238E27FC236}">
                <a16:creationId xmlns:a16="http://schemas.microsoft.com/office/drawing/2014/main" id="{2F777213-7DD7-2EB4-04CB-D3BCE67ED160}"/>
              </a:ext>
            </a:extLst>
          </p:cNvPr>
          <p:cNvGrpSpPr/>
          <p:nvPr/>
        </p:nvGrpSpPr>
        <p:grpSpPr>
          <a:xfrm>
            <a:off x="2363910" y="4088039"/>
            <a:ext cx="148010" cy="148010"/>
            <a:chOff x="5638800" y="2971800"/>
            <a:chExt cx="914400" cy="914400"/>
          </a:xfrm>
        </p:grpSpPr>
        <p:pic>
          <p:nvPicPr>
            <p:cNvPr id="490" name="Graphique 489" descr="Sphères de Harvey 100% avec un remplissage uni">
              <a:extLst>
                <a:ext uri="{FF2B5EF4-FFF2-40B4-BE49-F238E27FC236}">
                  <a16:creationId xmlns:a16="http://schemas.microsoft.com/office/drawing/2014/main" id="{DA9E400E-4FB3-E99E-BB92-1C289C56E05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638800" y="2971800"/>
              <a:ext cx="914400" cy="914400"/>
            </a:xfrm>
            <a:prstGeom prst="rect">
              <a:avLst/>
            </a:prstGeom>
          </p:spPr>
        </p:pic>
        <p:pic>
          <p:nvPicPr>
            <p:cNvPr id="491" name="Graphique 490" descr="Lumières allumées avec un remplissage uni">
              <a:extLst>
                <a:ext uri="{FF2B5EF4-FFF2-40B4-BE49-F238E27FC236}">
                  <a16:creationId xmlns:a16="http://schemas.microsoft.com/office/drawing/2014/main" id="{D1E300CB-932F-292B-4916-0CF4100867AE}"/>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710913" y="3066427"/>
              <a:ext cx="767522" cy="767522"/>
            </a:xfrm>
            <a:prstGeom prst="rect">
              <a:avLst/>
            </a:prstGeom>
          </p:spPr>
        </p:pic>
      </p:grpSp>
      <p:sp>
        <p:nvSpPr>
          <p:cNvPr id="450" name="Rectangle 449">
            <a:extLst>
              <a:ext uri="{FF2B5EF4-FFF2-40B4-BE49-F238E27FC236}">
                <a16:creationId xmlns:a16="http://schemas.microsoft.com/office/drawing/2014/main" id="{C16FBC84-1509-1C4F-89C7-36C16F941E36}"/>
              </a:ext>
            </a:extLst>
          </p:cNvPr>
          <p:cNvSpPr/>
          <p:nvPr/>
        </p:nvSpPr>
        <p:spPr>
          <a:xfrm>
            <a:off x="1529589" y="4249351"/>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51" name="Rectangle 450">
            <a:extLst>
              <a:ext uri="{FF2B5EF4-FFF2-40B4-BE49-F238E27FC236}">
                <a16:creationId xmlns:a16="http://schemas.microsoft.com/office/drawing/2014/main" id="{412649CE-416E-7418-25EB-9850C7F6A659}"/>
              </a:ext>
            </a:extLst>
          </p:cNvPr>
          <p:cNvSpPr/>
          <p:nvPr/>
        </p:nvSpPr>
        <p:spPr>
          <a:xfrm>
            <a:off x="1615346" y="4249351"/>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52" name="Rectangle 451">
            <a:extLst>
              <a:ext uri="{FF2B5EF4-FFF2-40B4-BE49-F238E27FC236}">
                <a16:creationId xmlns:a16="http://schemas.microsoft.com/office/drawing/2014/main" id="{D7EEF306-C4BB-87F3-D52D-AAD722550DD9}"/>
              </a:ext>
            </a:extLst>
          </p:cNvPr>
          <p:cNvSpPr/>
          <p:nvPr/>
        </p:nvSpPr>
        <p:spPr>
          <a:xfrm>
            <a:off x="1593417" y="4324952"/>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53" name="Rectangle 452">
            <a:extLst>
              <a:ext uri="{FF2B5EF4-FFF2-40B4-BE49-F238E27FC236}">
                <a16:creationId xmlns:a16="http://schemas.microsoft.com/office/drawing/2014/main" id="{11972FF6-46EF-2D98-BFAC-46393941A465}"/>
              </a:ext>
            </a:extLst>
          </p:cNvPr>
          <p:cNvSpPr/>
          <p:nvPr/>
        </p:nvSpPr>
        <p:spPr>
          <a:xfrm>
            <a:off x="1806427" y="4248127"/>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54" name="Rectangle 453">
            <a:extLst>
              <a:ext uri="{FF2B5EF4-FFF2-40B4-BE49-F238E27FC236}">
                <a16:creationId xmlns:a16="http://schemas.microsoft.com/office/drawing/2014/main" id="{2493510B-2658-DCAD-9DA8-6D23B7C4D2D0}"/>
              </a:ext>
            </a:extLst>
          </p:cNvPr>
          <p:cNvSpPr/>
          <p:nvPr/>
        </p:nvSpPr>
        <p:spPr>
          <a:xfrm>
            <a:off x="1899566" y="4280077"/>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55" name="Rectangle 454">
            <a:extLst>
              <a:ext uri="{FF2B5EF4-FFF2-40B4-BE49-F238E27FC236}">
                <a16:creationId xmlns:a16="http://schemas.microsoft.com/office/drawing/2014/main" id="{390A8C6C-E76B-A34D-B65B-803FAA58E602}"/>
              </a:ext>
            </a:extLst>
          </p:cNvPr>
          <p:cNvSpPr/>
          <p:nvPr/>
        </p:nvSpPr>
        <p:spPr>
          <a:xfrm>
            <a:off x="1811432" y="4334020"/>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56" name="Rectangle 455">
            <a:extLst>
              <a:ext uri="{FF2B5EF4-FFF2-40B4-BE49-F238E27FC236}">
                <a16:creationId xmlns:a16="http://schemas.microsoft.com/office/drawing/2014/main" id="{3EE01024-A649-5FE3-4F69-C842CE7D9932}"/>
              </a:ext>
            </a:extLst>
          </p:cNvPr>
          <p:cNvSpPr/>
          <p:nvPr/>
        </p:nvSpPr>
        <p:spPr>
          <a:xfrm>
            <a:off x="2062781" y="4244415"/>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58" name="Rectangle 457">
            <a:extLst>
              <a:ext uri="{FF2B5EF4-FFF2-40B4-BE49-F238E27FC236}">
                <a16:creationId xmlns:a16="http://schemas.microsoft.com/office/drawing/2014/main" id="{EF4E2FCE-307F-518B-3104-01F49917B92F}"/>
              </a:ext>
            </a:extLst>
          </p:cNvPr>
          <p:cNvSpPr/>
          <p:nvPr/>
        </p:nvSpPr>
        <p:spPr>
          <a:xfrm>
            <a:off x="2152623" y="4240422"/>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59" name="Rectangle 458">
            <a:extLst>
              <a:ext uri="{FF2B5EF4-FFF2-40B4-BE49-F238E27FC236}">
                <a16:creationId xmlns:a16="http://schemas.microsoft.com/office/drawing/2014/main" id="{756FEB67-AAAD-AC86-AC8E-90F0F910F26C}"/>
              </a:ext>
            </a:extLst>
          </p:cNvPr>
          <p:cNvSpPr/>
          <p:nvPr/>
        </p:nvSpPr>
        <p:spPr>
          <a:xfrm>
            <a:off x="2129505" y="4338004"/>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61" name="Rectangle 460">
            <a:extLst>
              <a:ext uri="{FF2B5EF4-FFF2-40B4-BE49-F238E27FC236}">
                <a16:creationId xmlns:a16="http://schemas.microsoft.com/office/drawing/2014/main" id="{F0C4D6FB-A1D4-53EA-9ADC-ED38BCF612CA}"/>
              </a:ext>
            </a:extLst>
          </p:cNvPr>
          <p:cNvSpPr/>
          <p:nvPr/>
        </p:nvSpPr>
        <p:spPr>
          <a:xfrm>
            <a:off x="2349546" y="4246427"/>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62" name="Rectangle 461">
            <a:extLst>
              <a:ext uri="{FF2B5EF4-FFF2-40B4-BE49-F238E27FC236}">
                <a16:creationId xmlns:a16="http://schemas.microsoft.com/office/drawing/2014/main" id="{94C4AEDF-2951-8FF6-25A6-26DEB79083C2}"/>
              </a:ext>
            </a:extLst>
          </p:cNvPr>
          <p:cNvSpPr/>
          <p:nvPr/>
        </p:nvSpPr>
        <p:spPr>
          <a:xfrm>
            <a:off x="2424599" y="4324422"/>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463" name="Rectangle 462">
            <a:extLst>
              <a:ext uri="{FF2B5EF4-FFF2-40B4-BE49-F238E27FC236}">
                <a16:creationId xmlns:a16="http://schemas.microsoft.com/office/drawing/2014/main" id="{90CAC12E-65B4-8BE2-6133-CD1E8BCF1E9B}"/>
              </a:ext>
            </a:extLst>
          </p:cNvPr>
          <p:cNvSpPr/>
          <p:nvPr/>
        </p:nvSpPr>
        <p:spPr>
          <a:xfrm>
            <a:off x="2442554" y="4240205"/>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pic>
        <p:nvPicPr>
          <p:cNvPr id="464" name="Graphique 463" descr="Personne confuse avec un remplissage uni">
            <a:extLst>
              <a:ext uri="{FF2B5EF4-FFF2-40B4-BE49-F238E27FC236}">
                <a16:creationId xmlns:a16="http://schemas.microsoft.com/office/drawing/2014/main" id="{998094E7-EA01-2BC8-5884-3D0E998B62CB}"/>
              </a:ext>
            </a:extLst>
          </p:cNvPr>
          <p:cNvPicPr>
            <a:picLocks noChangeAspect="1"/>
          </p:cNvPicPr>
          <p:nvPr/>
        </p:nvPicPr>
        <p:blipFill rotWithShape="1">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rcRect l="13721" r="14768" b="50034"/>
          <a:stretch/>
        </p:blipFill>
        <p:spPr>
          <a:xfrm>
            <a:off x="2192042" y="4476976"/>
            <a:ext cx="434266" cy="303434"/>
          </a:xfrm>
          <a:prstGeom prst="rect">
            <a:avLst/>
          </a:prstGeom>
        </p:spPr>
      </p:pic>
      <p:sp>
        <p:nvSpPr>
          <p:cNvPr id="469" name="Rectangle 468">
            <a:extLst>
              <a:ext uri="{FF2B5EF4-FFF2-40B4-BE49-F238E27FC236}">
                <a16:creationId xmlns:a16="http://schemas.microsoft.com/office/drawing/2014/main" id="{4DA45905-15C0-787E-22B8-D0F1BC2350B7}"/>
              </a:ext>
            </a:extLst>
          </p:cNvPr>
          <p:cNvSpPr/>
          <p:nvPr/>
        </p:nvSpPr>
        <p:spPr>
          <a:xfrm>
            <a:off x="2192042" y="4659955"/>
            <a:ext cx="71324" cy="71324"/>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pic>
        <p:nvPicPr>
          <p:cNvPr id="487" name="Graphique 486" descr="Homme avec un remplissage uni">
            <a:extLst>
              <a:ext uri="{FF2B5EF4-FFF2-40B4-BE49-F238E27FC236}">
                <a16:creationId xmlns:a16="http://schemas.microsoft.com/office/drawing/2014/main" id="{980B1CC7-E316-E309-B6D1-BC75EBBB295C}"/>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t="1" b="40502"/>
          <a:stretch/>
        </p:blipFill>
        <p:spPr>
          <a:xfrm>
            <a:off x="1161195" y="4512975"/>
            <a:ext cx="558125" cy="340347"/>
          </a:xfrm>
          <a:prstGeom prst="rect">
            <a:avLst/>
          </a:prstGeom>
        </p:spPr>
      </p:pic>
      <p:pic>
        <p:nvPicPr>
          <p:cNvPr id="488" name="Graphique 487" descr="Homme avec un remplissage uni">
            <a:extLst>
              <a:ext uri="{FF2B5EF4-FFF2-40B4-BE49-F238E27FC236}">
                <a16:creationId xmlns:a16="http://schemas.microsoft.com/office/drawing/2014/main" id="{4D3C6AB4-6653-90D3-0F38-CC5154BC2DF6}"/>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t="1" b="40502"/>
          <a:stretch/>
        </p:blipFill>
        <p:spPr>
          <a:xfrm>
            <a:off x="783033" y="4585154"/>
            <a:ext cx="572047" cy="340347"/>
          </a:xfrm>
          <a:prstGeom prst="rect">
            <a:avLst/>
          </a:prstGeom>
        </p:spPr>
      </p:pic>
      <p:pic>
        <p:nvPicPr>
          <p:cNvPr id="489" name="Graphique 488" descr="Homme avec un remplissage uni">
            <a:extLst>
              <a:ext uri="{FF2B5EF4-FFF2-40B4-BE49-F238E27FC236}">
                <a16:creationId xmlns:a16="http://schemas.microsoft.com/office/drawing/2014/main" id="{B118854B-362C-D439-152C-5C1E13041F95}"/>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l="20753" t="1048" b="40502"/>
          <a:stretch/>
        </p:blipFill>
        <p:spPr>
          <a:xfrm>
            <a:off x="1055116" y="4484056"/>
            <a:ext cx="453328" cy="334360"/>
          </a:xfrm>
          <a:prstGeom prst="rect">
            <a:avLst/>
          </a:prstGeom>
        </p:spPr>
      </p:pic>
      <p:pic>
        <p:nvPicPr>
          <p:cNvPr id="492" name="Graphique 491" descr="Homme avec un remplissage uni">
            <a:extLst>
              <a:ext uri="{FF2B5EF4-FFF2-40B4-BE49-F238E27FC236}">
                <a16:creationId xmlns:a16="http://schemas.microsoft.com/office/drawing/2014/main" id="{53D0DF1C-E633-EE73-6305-9C2264B0F490}"/>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rcRect t="1" b="40502"/>
          <a:stretch/>
        </p:blipFill>
        <p:spPr>
          <a:xfrm>
            <a:off x="1012125" y="4705362"/>
            <a:ext cx="572047" cy="340347"/>
          </a:xfrm>
          <a:prstGeom prst="rect">
            <a:avLst/>
          </a:prstGeom>
        </p:spPr>
      </p:pic>
      <p:pic>
        <p:nvPicPr>
          <p:cNvPr id="494" name="Graphique 493" descr="Homme avec un remplissage uni">
            <a:extLst>
              <a:ext uri="{FF2B5EF4-FFF2-40B4-BE49-F238E27FC236}">
                <a16:creationId xmlns:a16="http://schemas.microsoft.com/office/drawing/2014/main" id="{24343779-D8F6-632E-1DAB-25B4AA3ABC99}"/>
              </a:ext>
            </a:extLst>
          </p:cNvPr>
          <p:cNvPicPr>
            <a:picLocks noChangeAspect="1"/>
          </p:cNvPicPr>
          <p:nvPr/>
        </p:nvPicPr>
        <p:blipFill rotWithShape="1">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rcRect t="1" b="40502"/>
          <a:stretch/>
        </p:blipFill>
        <p:spPr>
          <a:xfrm>
            <a:off x="1572998" y="4535188"/>
            <a:ext cx="572047" cy="340347"/>
          </a:xfrm>
          <a:prstGeom prst="rect">
            <a:avLst/>
          </a:prstGeom>
        </p:spPr>
      </p:pic>
      <p:pic>
        <p:nvPicPr>
          <p:cNvPr id="495" name="Graphique 494" descr="Homme avec un remplissage uni">
            <a:extLst>
              <a:ext uri="{FF2B5EF4-FFF2-40B4-BE49-F238E27FC236}">
                <a16:creationId xmlns:a16="http://schemas.microsoft.com/office/drawing/2014/main" id="{742D0E94-3E0D-58FB-5DF9-2B4D731C3999}"/>
              </a:ext>
            </a:extLst>
          </p:cNvPr>
          <p:cNvPicPr>
            <a:picLocks noChangeAspect="1"/>
          </p:cNvPicPr>
          <p:nvPr/>
        </p:nvPicPr>
        <p:blipFill rotWithShape="1">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rcRect t="1" b="40502"/>
          <a:stretch/>
        </p:blipFill>
        <p:spPr>
          <a:xfrm>
            <a:off x="1436301" y="4637283"/>
            <a:ext cx="572047" cy="340347"/>
          </a:xfrm>
          <a:prstGeom prst="rect">
            <a:avLst/>
          </a:prstGeom>
        </p:spPr>
      </p:pic>
      <p:pic>
        <p:nvPicPr>
          <p:cNvPr id="496" name="Graphique 495" descr="Homme avec un remplissage uni">
            <a:extLst>
              <a:ext uri="{FF2B5EF4-FFF2-40B4-BE49-F238E27FC236}">
                <a16:creationId xmlns:a16="http://schemas.microsoft.com/office/drawing/2014/main" id="{97C50EBA-2872-7B5D-34AC-A4A5018CD0E7}"/>
              </a:ext>
            </a:extLst>
          </p:cNvPr>
          <p:cNvPicPr>
            <a:picLocks noChangeAspect="1"/>
          </p:cNvPicPr>
          <p:nvPr/>
        </p:nvPicPr>
        <p:blipFill rotWithShape="1">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rcRect t="1" b="40502"/>
          <a:stretch/>
        </p:blipFill>
        <p:spPr>
          <a:xfrm>
            <a:off x="1606124" y="4672599"/>
            <a:ext cx="572047" cy="340347"/>
          </a:xfrm>
          <a:prstGeom prst="rect">
            <a:avLst/>
          </a:prstGeom>
        </p:spPr>
      </p:pic>
      <p:pic>
        <p:nvPicPr>
          <p:cNvPr id="497" name="Graphique 496" descr="Homme avec un remplissage uni">
            <a:extLst>
              <a:ext uri="{FF2B5EF4-FFF2-40B4-BE49-F238E27FC236}">
                <a16:creationId xmlns:a16="http://schemas.microsoft.com/office/drawing/2014/main" id="{C0B66BD4-26DF-551B-2DEF-2E484E6AFCC7}"/>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t="1" b="40502"/>
          <a:stretch/>
        </p:blipFill>
        <p:spPr>
          <a:xfrm>
            <a:off x="2073801" y="4690413"/>
            <a:ext cx="572047" cy="340347"/>
          </a:xfrm>
          <a:prstGeom prst="rect">
            <a:avLst/>
          </a:prstGeom>
        </p:spPr>
      </p:pic>
      <p:pic>
        <p:nvPicPr>
          <p:cNvPr id="500" name="Graphique 499" descr="Homme avec un remplissage uni">
            <a:extLst>
              <a:ext uri="{FF2B5EF4-FFF2-40B4-BE49-F238E27FC236}">
                <a16:creationId xmlns:a16="http://schemas.microsoft.com/office/drawing/2014/main" id="{F0AD875C-2F30-36AA-5068-58E94379A6C6}"/>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t="1" b="40502"/>
          <a:stretch/>
        </p:blipFill>
        <p:spPr>
          <a:xfrm>
            <a:off x="2270413" y="4695744"/>
            <a:ext cx="572047" cy="340347"/>
          </a:xfrm>
          <a:prstGeom prst="rect">
            <a:avLst/>
          </a:prstGeom>
        </p:spPr>
      </p:pic>
      <p:pic>
        <p:nvPicPr>
          <p:cNvPr id="501" name="Graphique 500" descr="Homme avec un remplissage uni">
            <a:extLst>
              <a:ext uri="{FF2B5EF4-FFF2-40B4-BE49-F238E27FC236}">
                <a16:creationId xmlns:a16="http://schemas.microsoft.com/office/drawing/2014/main" id="{7D70483F-624B-828B-BCA1-A13090762C59}"/>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t="1" b="40502"/>
          <a:stretch/>
        </p:blipFill>
        <p:spPr>
          <a:xfrm>
            <a:off x="2403446" y="4691466"/>
            <a:ext cx="572047" cy="340347"/>
          </a:xfrm>
          <a:prstGeom prst="rect">
            <a:avLst/>
          </a:prstGeom>
        </p:spPr>
      </p:pic>
      <p:grpSp>
        <p:nvGrpSpPr>
          <p:cNvPr id="502" name="Groupe 501">
            <a:extLst>
              <a:ext uri="{FF2B5EF4-FFF2-40B4-BE49-F238E27FC236}">
                <a16:creationId xmlns:a16="http://schemas.microsoft.com/office/drawing/2014/main" id="{22C7948B-88CD-DC10-A513-FBC8D53B9033}"/>
              </a:ext>
            </a:extLst>
          </p:cNvPr>
          <p:cNvGrpSpPr/>
          <p:nvPr/>
        </p:nvGrpSpPr>
        <p:grpSpPr>
          <a:xfrm>
            <a:off x="4040912" y="4353306"/>
            <a:ext cx="710397" cy="506678"/>
            <a:chOff x="8184592" y="6617969"/>
            <a:chExt cx="2796414" cy="1994494"/>
          </a:xfrm>
        </p:grpSpPr>
        <p:pic>
          <p:nvPicPr>
            <p:cNvPr id="504" name="Graphique 503" descr="Presse-papiers vérifié avec un remplissage uni">
              <a:extLst>
                <a:ext uri="{FF2B5EF4-FFF2-40B4-BE49-F238E27FC236}">
                  <a16:creationId xmlns:a16="http://schemas.microsoft.com/office/drawing/2014/main" id="{C99A5D73-E549-51D6-A80F-AD5BC6C318A9}"/>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rot="349526">
              <a:off x="8184592" y="7481597"/>
              <a:ext cx="1130866" cy="1130866"/>
            </a:xfrm>
            <a:prstGeom prst="rect">
              <a:avLst/>
            </a:prstGeom>
          </p:spPr>
        </p:pic>
        <p:grpSp>
          <p:nvGrpSpPr>
            <p:cNvPr id="505" name="Groupe 504">
              <a:extLst>
                <a:ext uri="{FF2B5EF4-FFF2-40B4-BE49-F238E27FC236}">
                  <a16:creationId xmlns:a16="http://schemas.microsoft.com/office/drawing/2014/main" id="{3C701A82-9E9F-F3A4-4BDA-A6F990EE722B}"/>
                </a:ext>
              </a:extLst>
            </p:cNvPr>
            <p:cNvGrpSpPr/>
            <p:nvPr/>
          </p:nvGrpSpPr>
          <p:grpSpPr>
            <a:xfrm>
              <a:off x="9921254" y="7026762"/>
              <a:ext cx="1059752" cy="1452074"/>
              <a:chOff x="9812000" y="3351401"/>
              <a:chExt cx="914400" cy="1252912"/>
            </a:xfrm>
          </p:grpSpPr>
          <p:pic>
            <p:nvPicPr>
              <p:cNvPr id="510" name="Graphique 509" descr="Temple grec avec un remplissage uni">
                <a:extLst>
                  <a:ext uri="{FF2B5EF4-FFF2-40B4-BE49-F238E27FC236}">
                    <a16:creationId xmlns:a16="http://schemas.microsoft.com/office/drawing/2014/main" id="{59945A9A-64C7-E84F-4D3D-5A2331DB483C}"/>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9812000" y="3689913"/>
                <a:ext cx="914400" cy="914400"/>
              </a:xfrm>
              <a:prstGeom prst="rect">
                <a:avLst/>
              </a:prstGeom>
            </p:spPr>
          </p:pic>
          <p:pic>
            <p:nvPicPr>
              <p:cNvPr id="511" name="Graphique 510" descr="Balance de la justice avec un remplissage uni">
                <a:extLst>
                  <a:ext uri="{FF2B5EF4-FFF2-40B4-BE49-F238E27FC236}">
                    <a16:creationId xmlns:a16="http://schemas.microsoft.com/office/drawing/2014/main" id="{08DA9615-C05A-1872-9EE4-AD19BC383CBD}"/>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9990815" y="3351401"/>
                <a:ext cx="570281" cy="570281"/>
              </a:xfrm>
              <a:prstGeom prst="rect">
                <a:avLst/>
              </a:prstGeom>
            </p:spPr>
          </p:pic>
        </p:grpSp>
        <p:cxnSp>
          <p:nvCxnSpPr>
            <p:cNvPr id="506" name="Connecteur droit avec flèche 505">
              <a:extLst>
                <a:ext uri="{FF2B5EF4-FFF2-40B4-BE49-F238E27FC236}">
                  <a16:creationId xmlns:a16="http://schemas.microsoft.com/office/drawing/2014/main" id="{89BDE1E5-A97C-476D-86A5-95E23D40877D}"/>
                </a:ext>
              </a:extLst>
            </p:cNvPr>
            <p:cNvCxnSpPr>
              <a:cxnSpLocks/>
              <a:stCxn id="510" idx="1"/>
              <a:endCxn id="504" idx="3"/>
            </p:cNvCxnSpPr>
            <p:nvPr/>
          </p:nvCxnSpPr>
          <p:spPr>
            <a:xfrm flipH="1">
              <a:off x="9312538" y="7948960"/>
              <a:ext cx="608716" cy="15546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507" name="Groupe 506">
              <a:extLst>
                <a:ext uri="{FF2B5EF4-FFF2-40B4-BE49-F238E27FC236}">
                  <a16:creationId xmlns:a16="http://schemas.microsoft.com/office/drawing/2014/main" id="{6DAB1C08-9DBD-B7DA-A5A6-41F28EAE098E}"/>
                </a:ext>
              </a:extLst>
            </p:cNvPr>
            <p:cNvGrpSpPr/>
            <p:nvPr/>
          </p:nvGrpSpPr>
          <p:grpSpPr>
            <a:xfrm>
              <a:off x="10222061" y="6617969"/>
              <a:ext cx="551869" cy="594502"/>
              <a:chOff x="5046941" y="2636554"/>
              <a:chExt cx="550624" cy="593160"/>
            </a:xfrm>
          </p:grpSpPr>
          <p:pic>
            <p:nvPicPr>
              <p:cNvPr id="508" name="Graphique 507" descr="Monde avec un remplissage uni">
                <a:extLst>
                  <a:ext uri="{FF2B5EF4-FFF2-40B4-BE49-F238E27FC236}">
                    <a16:creationId xmlns:a16="http://schemas.microsoft.com/office/drawing/2014/main" id="{72A5F5B3-ABFD-6003-6065-31536AC6570F}"/>
                  </a:ext>
                </a:extLst>
              </p:cNvPr>
              <p:cNvPicPr>
                <a:picLocks noChangeAspect="1"/>
              </p:cNvPicPr>
              <p:nvPr/>
            </p:nvPicPr>
            <p:blipFill rotWithShape="1">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rcRect l="7173" r="-1"/>
              <a:stretch/>
            </p:blipFill>
            <p:spPr>
              <a:xfrm>
                <a:off x="5046941" y="2636554"/>
                <a:ext cx="550624" cy="593160"/>
              </a:xfrm>
              <a:prstGeom prst="rect">
                <a:avLst/>
              </a:prstGeom>
            </p:spPr>
          </p:pic>
          <p:pic>
            <p:nvPicPr>
              <p:cNvPr id="509" name="Graphique 508" descr="Monde avec un remplissage uni">
                <a:extLst>
                  <a:ext uri="{FF2B5EF4-FFF2-40B4-BE49-F238E27FC236}">
                    <a16:creationId xmlns:a16="http://schemas.microsoft.com/office/drawing/2014/main" id="{F665EDB2-7B15-39B0-2F0B-9093A931C173}"/>
                  </a:ext>
                </a:extLst>
              </p:cNvPr>
              <p:cNvPicPr>
                <a:picLocks noChangeAspect="1"/>
              </p:cNvPicPr>
              <p:nvPr/>
            </p:nvPicPr>
            <p:blipFill rotWithShape="1">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rcRect l="29716" t="30008" r="27849" b="30408"/>
              <a:stretch/>
            </p:blipFill>
            <p:spPr>
              <a:xfrm>
                <a:off x="5180657" y="2809632"/>
                <a:ext cx="251709" cy="234792"/>
              </a:xfrm>
              <a:prstGeom prst="rect">
                <a:avLst/>
              </a:prstGeom>
            </p:spPr>
          </p:pic>
        </p:grpSp>
      </p:grpSp>
      <p:grpSp>
        <p:nvGrpSpPr>
          <p:cNvPr id="140" name="Groupe 139">
            <a:extLst>
              <a:ext uri="{FF2B5EF4-FFF2-40B4-BE49-F238E27FC236}">
                <a16:creationId xmlns:a16="http://schemas.microsoft.com/office/drawing/2014/main" id="{04271F5B-CF0E-0770-E6A3-936563B2EEBB}"/>
              </a:ext>
            </a:extLst>
          </p:cNvPr>
          <p:cNvGrpSpPr/>
          <p:nvPr/>
        </p:nvGrpSpPr>
        <p:grpSpPr>
          <a:xfrm>
            <a:off x="3206077" y="3992916"/>
            <a:ext cx="874838" cy="483085"/>
            <a:chOff x="6836969" y="4879170"/>
            <a:chExt cx="4128117" cy="2279544"/>
          </a:xfrm>
        </p:grpSpPr>
        <p:sp>
          <p:nvSpPr>
            <p:cNvPr id="141" name="Rectangle 140">
              <a:extLst>
                <a:ext uri="{FF2B5EF4-FFF2-40B4-BE49-F238E27FC236}">
                  <a16:creationId xmlns:a16="http://schemas.microsoft.com/office/drawing/2014/main" id="{04C4F173-C345-5006-8C3D-43C2469B7FDF}"/>
                </a:ext>
              </a:extLst>
            </p:cNvPr>
            <p:cNvSpPr/>
            <p:nvPr/>
          </p:nvSpPr>
          <p:spPr>
            <a:xfrm>
              <a:off x="6836969" y="4879170"/>
              <a:ext cx="4128117" cy="22795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2" name="Groupe 141">
              <a:extLst>
                <a:ext uri="{FF2B5EF4-FFF2-40B4-BE49-F238E27FC236}">
                  <a16:creationId xmlns:a16="http://schemas.microsoft.com/office/drawing/2014/main" id="{23DC6C55-938E-B20D-7684-0E76C28BBB20}"/>
                </a:ext>
              </a:extLst>
            </p:cNvPr>
            <p:cNvGrpSpPr/>
            <p:nvPr/>
          </p:nvGrpSpPr>
          <p:grpSpPr>
            <a:xfrm>
              <a:off x="8201656" y="5170663"/>
              <a:ext cx="1481636" cy="1596095"/>
              <a:chOff x="5046941" y="2636554"/>
              <a:chExt cx="550624" cy="593160"/>
            </a:xfrm>
          </p:grpSpPr>
          <p:pic>
            <p:nvPicPr>
              <p:cNvPr id="147" name="Graphique 146" descr="Monde avec un remplissage uni">
                <a:extLst>
                  <a:ext uri="{FF2B5EF4-FFF2-40B4-BE49-F238E27FC236}">
                    <a16:creationId xmlns:a16="http://schemas.microsoft.com/office/drawing/2014/main" id="{20AAE404-7805-3D68-12EC-0B416AEEC0FA}"/>
                  </a:ext>
                </a:extLst>
              </p:cNvPr>
              <p:cNvPicPr>
                <a:picLocks noChangeAspect="1"/>
              </p:cNvPicPr>
              <p:nvPr/>
            </p:nvPicPr>
            <p:blipFill rotWithShape="1">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rcRect l="7173" r="-1"/>
              <a:stretch/>
            </p:blipFill>
            <p:spPr>
              <a:xfrm>
                <a:off x="5046941" y="2636554"/>
                <a:ext cx="550624" cy="593160"/>
              </a:xfrm>
              <a:prstGeom prst="rect">
                <a:avLst/>
              </a:prstGeom>
            </p:spPr>
          </p:pic>
          <p:pic>
            <p:nvPicPr>
              <p:cNvPr id="148" name="Graphique 147" descr="Monde avec un remplissage uni">
                <a:extLst>
                  <a:ext uri="{FF2B5EF4-FFF2-40B4-BE49-F238E27FC236}">
                    <a16:creationId xmlns:a16="http://schemas.microsoft.com/office/drawing/2014/main" id="{4A9E72F3-6FDD-595C-5125-5FB0FFBAD04D}"/>
                  </a:ext>
                </a:extLst>
              </p:cNvPr>
              <p:cNvPicPr>
                <a:picLocks noChangeAspect="1"/>
              </p:cNvPicPr>
              <p:nvPr/>
            </p:nvPicPr>
            <p:blipFill rotWithShape="1">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rcRect l="29716" t="30008" r="27849" b="30408"/>
              <a:stretch/>
            </p:blipFill>
            <p:spPr>
              <a:xfrm>
                <a:off x="5180657" y="2809632"/>
                <a:ext cx="251709" cy="234792"/>
              </a:xfrm>
              <a:prstGeom prst="rect">
                <a:avLst/>
              </a:prstGeom>
            </p:spPr>
          </p:pic>
        </p:grpSp>
        <p:pic>
          <p:nvPicPr>
            <p:cNvPr id="143" name="Graphique 142" descr="Colombe avec un remplissage uni">
              <a:extLst>
                <a:ext uri="{FF2B5EF4-FFF2-40B4-BE49-F238E27FC236}">
                  <a16:creationId xmlns:a16="http://schemas.microsoft.com/office/drawing/2014/main" id="{AA3BDFA6-BBF3-ECCF-2315-AC89A7030078}"/>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7516355" y="5011095"/>
              <a:ext cx="914400" cy="914400"/>
            </a:xfrm>
            <a:prstGeom prst="rect">
              <a:avLst/>
            </a:prstGeom>
          </p:spPr>
        </p:pic>
        <p:pic>
          <p:nvPicPr>
            <p:cNvPr id="144" name="Graphique 143" descr="Bouclier coche avec un remplissage uni">
              <a:extLst>
                <a:ext uri="{FF2B5EF4-FFF2-40B4-BE49-F238E27FC236}">
                  <a16:creationId xmlns:a16="http://schemas.microsoft.com/office/drawing/2014/main" id="{2264FE13-4E0F-3FAF-4526-B22981504D6A}"/>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9268354" y="6197002"/>
              <a:ext cx="914400" cy="914400"/>
            </a:xfrm>
            <a:prstGeom prst="rect">
              <a:avLst/>
            </a:prstGeom>
          </p:spPr>
        </p:pic>
        <p:pic>
          <p:nvPicPr>
            <p:cNvPr id="145" name="Graphique 144" descr="Cœur avec un remplissage uni">
              <a:extLst>
                <a:ext uri="{FF2B5EF4-FFF2-40B4-BE49-F238E27FC236}">
                  <a16:creationId xmlns:a16="http://schemas.microsoft.com/office/drawing/2014/main" id="{A982E15E-7C13-CA1B-8B96-F6502D361BF1}"/>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9294822" y="5006217"/>
              <a:ext cx="914400" cy="914400"/>
            </a:xfrm>
            <a:prstGeom prst="rect">
              <a:avLst/>
            </a:prstGeom>
          </p:spPr>
        </p:pic>
        <p:pic>
          <p:nvPicPr>
            <p:cNvPr id="146" name="Graphique 145" descr="Vivats avec un remplissage uni">
              <a:extLst>
                <a:ext uri="{FF2B5EF4-FFF2-40B4-BE49-F238E27FC236}">
                  <a16:creationId xmlns:a16="http://schemas.microsoft.com/office/drawing/2014/main" id="{8524B8DD-6FC6-E25C-8ABA-EA18038C2EDF}"/>
                </a:ext>
              </a:extLst>
            </p:cNvPr>
            <p:cNvPicPr>
              <a:picLocks noChangeAspect="1"/>
            </p:cNvPicPr>
            <p:nvPr/>
          </p:nvPicPr>
          <p:blipFill>
            <a:blip r:embed="rId41">
              <a:extLst>
                <a:ext uri="{28A0092B-C50C-407E-A947-70E740481C1C}">
                  <a14:useLocalDpi xmlns:a14="http://schemas.microsoft.com/office/drawing/2010/main" val="0"/>
                </a:ext>
                <a:ext uri="{96DAC541-7B7A-43D3-8B79-37D633B846F1}">
                  <asvg:svgBlip xmlns:asvg="http://schemas.microsoft.com/office/drawing/2016/SVG/main" r:embed="rId42"/>
                </a:ext>
              </a:extLst>
            </a:blip>
            <a:stretch>
              <a:fillRect/>
            </a:stretch>
          </p:blipFill>
          <p:spPr>
            <a:xfrm>
              <a:off x="7556996" y="6322223"/>
              <a:ext cx="739473" cy="739473"/>
            </a:xfrm>
            <a:prstGeom prst="rect">
              <a:avLst/>
            </a:prstGeom>
          </p:spPr>
        </p:pic>
      </p:grpSp>
      <p:grpSp>
        <p:nvGrpSpPr>
          <p:cNvPr id="149" name="Groupe 148">
            <a:extLst>
              <a:ext uri="{FF2B5EF4-FFF2-40B4-BE49-F238E27FC236}">
                <a16:creationId xmlns:a16="http://schemas.microsoft.com/office/drawing/2014/main" id="{971EEBF4-3F65-6C9F-57A0-FE5699901FEB}"/>
              </a:ext>
            </a:extLst>
          </p:cNvPr>
          <p:cNvGrpSpPr/>
          <p:nvPr/>
        </p:nvGrpSpPr>
        <p:grpSpPr>
          <a:xfrm>
            <a:off x="5278940" y="3927491"/>
            <a:ext cx="715278" cy="598828"/>
            <a:chOff x="7707590" y="884791"/>
            <a:chExt cx="1196909" cy="1002047"/>
          </a:xfrm>
        </p:grpSpPr>
        <p:pic>
          <p:nvPicPr>
            <p:cNvPr id="150" name="Graphique 149" descr="Marcher avec un remplissage uni">
              <a:extLst>
                <a:ext uri="{FF2B5EF4-FFF2-40B4-BE49-F238E27FC236}">
                  <a16:creationId xmlns:a16="http://schemas.microsoft.com/office/drawing/2014/main" id="{2FBE5053-6798-9FB7-304C-BE328C531F96}"/>
                </a:ext>
              </a:extLst>
            </p:cNvPr>
            <p:cNvPicPr>
              <a:picLocks noChangeAspect="1"/>
            </p:cNvPicPr>
            <p:nvPr/>
          </p:nvPicPr>
          <p:blipFill rotWithShape="1">
            <a:blip r:embed="rId43">
              <a:extLst>
                <a:ext uri="{28A0092B-C50C-407E-A947-70E740481C1C}">
                  <a14:useLocalDpi xmlns:a14="http://schemas.microsoft.com/office/drawing/2010/main" val="0"/>
                </a:ext>
                <a:ext uri="{96DAC541-7B7A-43D3-8B79-37D633B846F1}">
                  <asvg:svgBlip xmlns:asvg="http://schemas.microsoft.com/office/drawing/2016/SVG/main" r:embed="rId44"/>
                </a:ext>
              </a:extLst>
            </a:blip>
            <a:srcRect l="19104"/>
            <a:stretch/>
          </p:blipFill>
          <p:spPr>
            <a:xfrm>
              <a:off x="7707590" y="972438"/>
              <a:ext cx="739708" cy="914400"/>
            </a:xfrm>
            <a:prstGeom prst="rect">
              <a:avLst/>
            </a:prstGeom>
          </p:spPr>
        </p:pic>
        <p:pic>
          <p:nvPicPr>
            <p:cNvPr id="151" name="Graphique 150" descr="Homme avec canne avec un remplissage uni">
              <a:extLst>
                <a:ext uri="{FF2B5EF4-FFF2-40B4-BE49-F238E27FC236}">
                  <a16:creationId xmlns:a16="http://schemas.microsoft.com/office/drawing/2014/main" id="{3DB93A70-4AAA-6B7D-A592-88CD18BE2D53}"/>
                </a:ext>
              </a:extLst>
            </p:cNvPr>
            <p:cNvPicPr>
              <a:picLocks noChangeAspect="1"/>
            </p:cNvPicPr>
            <p:nvPr/>
          </p:nvPicPr>
          <p:blipFill>
            <a:blip r:embed="rId45">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a:off x="7990099" y="884791"/>
              <a:ext cx="914400" cy="914400"/>
            </a:xfrm>
            <a:prstGeom prst="rect">
              <a:avLst/>
            </a:prstGeom>
          </p:spPr>
        </p:pic>
      </p:grpSp>
      <p:pic>
        <p:nvPicPr>
          <p:cNvPr id="163" name="Graphique 162" descr="Connexions avec un remplissage uni">
            <a:extLst>
              <a:ext uri="{FF2B5EF4-FFF2-40B4-BE49-F238E27FC236}">
                <a16:creationId xmlns:a16="http://schemas.microsoft.com/office/drawing/2014/main" id="{5120EF73-4DAF-3F5C-C630-AD993E84E1C2}"/>
              </a:ext>
            </a:extLst>
          </p:cNvPr>
          <p:cNvPicPr>
            <a:picLocks noChangeAspect="1"/>
          </p:cNvPicPr>
          <p:nvPr/>
        </p:nvPicPr>
        <p:blipFill>
          <a:blip r:embed="rId47">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5982824" y="4068236"/>
            <a:ext cx="933903" cy="933903"/>
          </a:xfrm>
          <a:prstGeom prst="rect">
            <a:avLst/>
          </a:prstGeom>
        </p:spPr>
      </p:pic>
      <p:grpSp>
        <p:nvGrpSpPr>
          <p:cNvPr id="181" name="Groupe 180">
            <a:extLst>
              <a:ext uri="{FF2B5EF4-FFF2-40B4-BE49-F238E27FC236}">
                <a16:creationId xmlns:a16="http://schemas.microsoft.com/office/drawing/2014/main" id="{3C43765A-AA8A-A58F-ACE2-5B408ED2FC78}"/>
              </a:ext>
            </a:extLst>
          </p:cNvPr>
          <p:cNvGrpSpPr/>
          <p:nvPr/>
        </p:nvGrpSpPr>
        <p:grpSpPr>
          <a:xfrm>
            <a:off x="7337255" y="4047006"/>
            <a:ext cx="1841891" cy="853870"/>
            <a:chOff x="6310353" y="652486"/>
            <a:chExt cx="5332004" cy="2471827"/>
          </a:xfrm>
        </p:grpSpPr>
        <p:sp>
          <p:nvSpPr>
            <p:cNvPr id="164" name="Flèche : droite 163">
              <a:extLst>
                <a:ext uri="{FF2B5EF4-FFF2-40B4-BE49-F238E27FC236}">
                  <a16:creationId xmlns:a16="http://schemas.microsoft.com/office/drawing/2014/main" id="{74672DEE-BA24-078B-2529-1F83A49A3727}"/>
                </a:ext>
              </a:extLst>
            </p:cNvPr>
            <p:cNvSpPr/>
            <p:nvPr/>
          </p:nvSpPr>
          <p:spPr>
            <a:xfrm>
              <a:off x="6741173" y="2653884"/>
              <a:ext cx="4901184" cy="470429"/>
            </a:xfrm>
            <a:prstGeom prst="rightArrow">
              <a:avLst>
                <a:gd name="adj1" fmla="val 38889"/>
                <a:gd name="adj2" fmla="val 103333"/>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Ellipse 164">
              <a:extLst>
                <a:ext uri="{FF2B5EF4-FFF2-40B4-BE49-F238E27FC236}">
                  <a16:creationId xmlns:a16="http://schemas.microsoft.com/office/drawing/2014/main" id="{68717E31-30C7-259A-DE3A-24706C40E28D}"/>
                </a:ext>
              </a:extLst>
            </p:cNvPr>
            <p:cNvSpPr/>
            <p:nvPr/>
          </p:nvSpPr>
          <p:spPr>
            <a:xfrm>
              <a:off x="7125221" y="2653884"/>
              <a:ext cx="470429" cy="470429"/>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 name="Ellipse 165">
              <a:extLst>
                <a:ext uri="{FF2B5EF4-FFF2-40B4-BE49-F238E27FC236}">
                  <a16:creationId xmlns:a16="http://schemas.microsoft.com/office/drawing/2014/main" id="{0D6909DD-CC14-5EC4-36CC-06AB18A8E1F3}"/>
                </a:ext>
              </a:extLst>
            </p:cNvPr>
            <p:cNvSpPr/>
            <p:nvPr/>
          </p:nvSpPr>
          <p:spPr>
            <a:xfrm>
              <a:off x="9987293" y="2653884"/>
              <a:ext cx="470429" cy="470429"/>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67" name="Graphique 166" descr="Maison rénovée (avec étincelles) avec un remplissage uni">
              <a:extLst>
                <a:ext uri="{FF2B5EF4-FFF2-40B4-BE49-F238E27FC236}">
                  <a16:creationId xmlns:a16="http://schemas.microsoft.com/office/drawing/2014/main" id="{4DA69341-BA8F-8048-612C-CB3EC93C4801}"/>
                </a:ext>
              </a:extLst>
            </p:cNvPr>
            <p:cNvPicPr>
              <a:picLocks noChangeAspect="1"/>
            </p:cNvPicPr>
            <p:nvPr/>
          </p:nvPicPr>
          <p:blipFill>
            <a:blip r:embed="rId49">
              <a:extLst>
                <a:ext uri="{28A0092B-C50C-407E-A947-70E740481C1C}">
                  <a14:useLocalDpi xmlns:a14="http://schemas.microsoft.com/office/drawing/2010/main" val="0"/>
                </a:ext>
                <a:ext uri="{96DAC541-7B7A-43D3-8B79-37D633B846F1}">
                  <asvg:svgBlip xmlns:asvg="http://schemas.microsoft.com/office/drawing/2016/SVG/main" r:embed="rId50"/>
                </a:ext>
              </a:extLst>
            </a:blip>
            <a:stretch>
              <a:fillRect/>
            </a:stretch>
          </p:blipFill>
          <p:spPr>
            <a:xfrm>
              <a:off x="9231384" y="673571"/>
              <a:ext cx="1722561" cy="1722561"/>
            </a:xfrm>
            <a:prstGeom prst="rect">
              <a:avLst/>
            </a:prstGeom>
          </p:spPr>
        </p:pic>
        <p:pic>
          <p:nvPicPr>
            <p:cNvPr id="168" name="Graphique 167" descr="Réussite du groupe avec un remplissage uni">
              <a:extLst>
                <a:ext uri="{FF2B5EF4-FFF2-40B4-BE49-F238E27FC236}">
                  <a16:creationId xmlns:a16="http://schemas.microsoft.com/office/drawing/2014/main" id="{632CAA7D-2C18-B42D-3177-5EF826B6C75B}"/>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987293" y="1587133"/>
              <a:ext cx="1176884" cy="1176884"/>
            </a:xfrm>
            <a:prstGeom prst="rect">
              <a:avLst/>
            </a:prstGeom>
          </p:spPr>
        </p:pic>
        <p:pic>
          <p:nvPicPr>
            <p:cNvPr id="169" name="Graphique 168" descr="Réussite du groupe avec un remplissage uni">
              <a:extLst>
                <a:ext uri="{FF2B5EF4-FFF2-40B4-BE49-F238E27FC236}">
                  <a16:creationId xmlns:a16="http://schemas.microsoft.com/office/drawing/2014/main" id="{80167389-CFE1-A7A3-FA7F-C26B8251853A}"/>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8943220" y="1534851"/>
              <a:ext cx="1176884" cy="1176884"/>
            </a:xfrm>
            <a:prstGeom prst="rect">
              <a:avLst/>
            </a:prstGeom>
          </p:spPr>
        </p:pic>
        <p:sp>
          <p:nvSpPr>
            <p:cNvPr id="170" name="Phylactère : pensées 169">
              <a:extLst>
                <a:ext uri="{FF2B5EF4-FFF2-40B4-BE49-F238E27FC236}">
                  <a16:creationId xmlns:a16="http://schemas.microsoft.com/office/drawing/2014/main" id="{313D116C-7E7B-993B-A640-9808FA7B353E}"/>
                </a:ext>
              </a:extLst>
            </p:cNvPr>
            <p:cNvSpPr/>
            <p:nvPr/>
          </p:nvSpPr>
          <p:spPr>
            <a:xfrm>
              <a:off x="6310353" y="652486"/>
              <a:ext cx="2704518" cy="1176885"/>
            </a:xfrm>
            <a:prstGeom prst="cloudCallout">
              <a:avLst>
                <a:gd name="adj1" fmla="val 58439"/>
                <a:gd name="adj2" fmla="val 39398"/>
              </a:avLst>
            </a:prstGeom>
            <a:noFill/>
            <a:ln w="381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71" name="Graphique 170" descr="Pyramide avec un remplissage uni">
              <a:extLst>
                <a:ext uri="{FF2B5EF4-FFF2-40B4-BE49-F238E27FC236}">
                  <a16:creationId xmlns:a16="http://schemas.microsoft.com/office/drawing/2014/main" id="{065B42C8-6B9D-A756-29BC-8A7722333BD6}"/>
                </a:ext>
              </a:extLst>
            </p:cNvPr>
            <p:cNvPicPr>
              <a:picLocks noChangeAspect="1"/>
            </p:cNvPicPr>
            <p:nvPr/>
          </p:nvPicPr>
          <p:blipFill>
            <a:blip r:embed="rId53">
              <a:extLst>
                <a:ext uri="{28A0092B-C50C-407E-A947-70E740481C1C}">
                  <a14:useLocalDpi xmlns:a14="http://schemas.microsoft.com/office/drawing/2010/main" val="0"/>
                </a:ext>
                <a:ext uri="{96DAC541-7B7A-43D3-8B79-37D633B846F1}">
                  <asvg:svgBlip xmlns:asvg="http://schemas.microsoft.com/office/drawing/2016/SVG/main" r:embed="rId54"/>
                </a:ext>
              </a:extLst>
            </a:blip>
            <a:stretch>
              <a:fillRect/>
            </a:stretch>
          </p:blipFill>
          <p:spPr>
            <a:xfrm>
              <a:off x="7210350" y="1005218"/>
              <a:ext cx="238688" cy="238688"/>
            </a:xfrm>
            <a:prstGeom prst="rect">
              <a:avLst/>
            </a:prstGeom>
          </p:spPr>
        </p:pic>
        <p:cxnSp>
          <p:nvCxnSpPr>
            <p:cNvPr id="173" name="Connecteur droit avec flèche 172">
              <a:extLst>
                <a:ext uri="{FF2B5EF4-FFF2-40B4-BE49-F238E27FC236}">
                  <a16:creationId xmlns:a16="http://schemas.microsoft.com/office/drawing/2014/main" id="{714AB563-9836-CD51-BB19-4EFEC0155802}"/>
                </a:ext>
              </a:extLst>
            </p:cNvPr>
            <p:cNvCxnSpPr>
              <a:cxnSpLocks/>
            </p:cNvCxnSpPr>
            <p:nvPr/>
          </p:nvCxnSpPr>
          <p:spPr>
            <a:xfrm>
              <a:off x="6941945" y="1264220"/>
              <a:ext cx="100084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176" name="Graphique 175" descr="Scène de château avec un remplissage uni">
              <a:extLst>
                <a:ext uri="{FF2B5EF4-FFF2-40B4-BE49-F238E27FC236}">
                  <a16:creationId xmlns:a16="http://schemas.microsoft.com/office/drawing/2014/main" id="{D0539FB7-28B4-0339-9AB3-D406E31F619B}"/>
                </a:ext>
              </a:extLst>
            </p:cNvPr>
            <p:cNvPicPr>
              <a:picLocks noChangeAspect="1"/>
            </p:cNvPicPr>
            <p:nvPr/>
          </p:nvPicPr>
          <p:blipFill>
            <a:blip r:embed="rId55">
              <a:extLst>
                <a:ext uri="{28A0092B-C50C-407E-A947-70E740481C1C}">
                  <a14:useLocalDpi xmlns:a14="http://schemas.microsoft.com/office/drawing/2010/main" val="0"/>
                </a:ext>
                <a:ext uri="{96DAC541-7B7A-43D3-8B79-37D633B846F1}">
                  <asvg:svgBlip xmlns:asvg="http://schemas.microsoft.com/office/drawing/2016/SVG/main" r:embed="rId56"/>
                </a:ext>
              </a:extLst>
            </a:blip>
            <a:stretch>
              <a:fillRect/>
            </a:stretch>
          </p:blipFill>
          <p:spPr>
            <a:xfrm>
              <a:off x="7556731" y="1019433"/>
              <a:ext cx="217484" cy="217484"/>
            </a:xfrm>
            <a:prstGeom prst="rect">
              <a:avLst/>
            </a:prstGeom>
          </p:spPr>
        </p:pic>
        <p:pic>
          <p:nvPicPr>
            <p:cNvPr id="177" name="Graphique 176" descr="Feu de camp avec un remplissage uni">
              <a:extLst>
                <a:ext uri="{FF2B5EF4-FFF2-40B4-BE49-F238E27FC236}">
                  <a16:creationId xmlns:a16="http://schemas.microsoft.com/office/drawing/2014/main" id="{5A0CBB0B-2B66-D629-02E5-6447EB2DFDB1}"/>
                </a:ext>
              </a:extLst>
            </p:cNvPr>
            <p:cNvPicPr>
              <a:picLocks noChangeAspect="1"/>
            </p:cNvPicPr>
            <p:nvPr/>
          </p:nvPicPr>
          <p:blipFill>
            <a:blip r:embed="rId57">
              <a:extLst>
                <a:ext uri="{28A0092B-C50C-407E-A947-70E740481C1C}">
                  <a14:useLocalDpi xmlns:a14="http://schemas.microsoft.com/office/drawing/2010/main" val="0"/>
                </a:ext>
                <a:ext uri="{96DAC541-7B7A-43D3-8B79-37D633B846F1}">
                  <asvg:svgBlip xmlns:asvg="http://schemas.microsoft.com/office/drawing/2016/SVG/main" r:embed="rId58"/>
                </a:ext>
              </a:extLst>
            </a:blip>
            <a:stretch>
              <a:fillRect/>
            </a:stretch>
          </p:blipFill>
          <p:spPr>
            <a:xfrm>
              <a:off x="6892470" y="1005218"/>
              <a:ext cx="217484" cy="217484"/>
            </a:xfrm>
            <a:prstGeom prst="rect">
              <a:avLst/>
            </a:prstGeom>
          </p:spPr>
        </p:pic>
        <p:grpSp>
          <p:nvGrpSpPr>
            <p:cNvPr id="178" name="Groupe 177">
              <a:extLst>
                <a:ext uri="{FF2B5EF4-FFF2-40B4-BE49-F238E27FC236}">
                  <a16:creationId xmlns:a16="http://schemas.microsoft.com/office/drawing/2014/main" id="{DB27EA34-5C96-F877-0F4A-9F09C9531C87}"/>
                </a:ext>
              </a:extLst>
            </p:cNvPr>
            <p:cNvGrpSpPr/>
            <p:nvPr/>
          </p:nvGrpSpPr>
          <p:grpSpPr>
            <a:xfrm>
              <a:off x="8009951" y="874342"/>
              <a:ext cx="499530" cy="538119"/>
              <a:chOff x="5046941" y="2636554"/>
              <a:chExt cx="550624" cy="593160"/>
            </a:xfrm>
          </p:grpSpPr>
          <p:pic>
            <p:nvPicPr>
              <p:cNvPr id="179" name="Graphique 178" descr="Monde avec un remplissage uni">
                <a:extLst>
                  <a:ext uri="{FF2B5EF4-FFF2-40B4-BE49-F238E27FC236}">
                    <a16:creationId xmlns:a16="http://schemas.microsoft.com/office/drawing/2014/main" id="{9C006CC6-60AA-A943-F53A-883C0A579DD9}"/>
                  </a:ext>
                </a:extLst>
              </p:cNvPr>
              <p:cNvPicPr>
                <a:picLocks noChangeAspect="1"/>
              </p:cNvPicPr>
              <p:nvPr/>
            </p:nvPicPr>
            <p:blipFill rotWithShape="1">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rcRect l="7173" r="-1"/>
              <a:stretch/>
            </p:blipFill>
            <p:spPr>
              <a:xfrm>
                <a:off x="5046941" y="2636554"/>
                <a:ext cx="550624" cy="593160"/>
              </a:xfrm>
              <a:prstGeom prst="rect">
                <a:avLst/>
              </a:prstGeom>
            </p:spPr>
          </p:pic>
          <p:pic>
            <p:nvPicPr>
              <p:cNvPr id="180" name="Graphique 179" descr="Monde avec un remplissage uni">
                <a:extLst>
                  <a:ext uri="{FF2B5EF4-FFF2-40B4-BE49-F238E27FC236}">
                    <a16:creationId xmlns:a16="http://schemas.microsoft.com/office/drawing/2014/main" id="{BF01FC20-778C-6AE2-EE7D-BBFBAC461E37}"/>
                  </a:ext>
                </a:extLst>
              </p:cNvPr>
              <p:cNvPicPr>
                <a:picLocks noChangeAspect="1"/>
              </p:cNvPicPr>
              <p:nvPr/>
            </p:nvPicPr>
            <p:blipFill rotWithShape="1">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rcRect l="29716" t="30008" r="27849" b="30408"/>
              <a:stretch/>
            </p:blipFill>
            <p:spPr>
              <a:xfrm>
                <a:off x="5180657" y="2809632"/>
                <a:ext cx="251709" cy="234792"/>
              </a:xfrm>
              <a:prstGeom prst="rect">
                <a:avLst/>
              </a:prstGeom>
            </p:spPr>
          </p:pic>
        </p:grpSp>
      </p:grpSp>
      <p:grpSp>
        <p:nvGrpSpPr>
          <p:cNvPr id="182" name="Groupe 181">
            <a:extLst>
              <a:ext uri="{FF2B5EF4-FFF2-40B4-BE49-F238E27FC236}">
                <a16:creationId xmlns:a16="http://schemas.microsoft.com/office/drawing/2014/main" id="{4A3E6F00-9172-D504-9BAF-D1C13E28A1E5}"/>
              </a:ext>
            </a:extLst>
          </p:cNvPr>
          <p:cNvGrpSpPr/>
          <p:nvPr/>
        </p:nvGrpSpPr>
        <p:grpSpPr>
          <a:xfrm>
            <a:off x="9750121" y="3938862"/>
            <a:ext cx="1122789" cy="1128384"/>
            <a:chOff x="4252823" y="1436205"/>
            <a:chExt cx="1049940" cy="1049940"/>
          </a:xfrm>
        </p:grpSpPr>
        <p:pic>
          <p:nvPicPr>
            <p:cNvPr id="183" name="Graphique 182" descr="Réunion contour">
              <a:extLst>
                <a:ext uri="{FF2B5EF4-FFF2-40B4-BE49-F238E27FC236}">
                  <a16:creationId xmlns:a16="http://schemas.microsoft.com/office/drawing/2014/main" id="{4198CD7C-6512-6119-DB1D-42FE7DAFD82E}"/>
                </a:ext>
              </a:extLst>
            </p:cNvPr>
            <p:cNvPicPr>
              <a:picLocks noChangeAspect="1"/>
            </p:cNvPicPr>
            <p:nvPr/>
          </p:nvPicPr>
          <p:blipFill>
            <a:blip r:embed="rId59">
              <a:extLst>
                <a:ext uri="{28A0092B-C50C-407E-A947-70E740481C1C}">
                  <a14:useLocalDpi xmlns:a14="http://schemas.microsoft.com/office/drawing/2010/main" val="0"/>
                </a:ext>
                <a:ext uri="{96DAC541-7B7A-43D3-8B79-37D633B846F1}">
                  <asvg:svgBlip xmlns:asvg="http://schemas.microsoft.com/office/drawing/2016/SVG/main" r:embed="rId60"/>
                </a:ext>
              </a:extLst>
            </a:blip>
            <a:stretch>
              <a:fillRect/>
            </a:stretch>
          </p:blipFill>
          <p:spPr>
            <a:xfrm>
              <a:off x="4252823" y="1436205"/>
              <a:ext cx="1049940" cy="1049940"/>
            </a:xfrm>
            <a:prstGeom prst="rect">
              <a:avLst/>
            </a:prstGeom>
          </p:spPr>
        </p:pic>
        <p:pic>
          <p:nvPicPr>
            <p:cNvPr id="184" name="Graphique 183" descr="Noix de coco avec un remplissage uni">
              <a:extLst>
                <a:ext uri="{FF2B5EF4-FFF2-40B4-BE49-F238E27FC236}">
                  <a16:creationId xmlns:a16="http://schemas.microsoft.com/office/drawing/2014/main" id="{212D6ECF-5E36-81AD-74C5-9E3377276416}"/>
                </a:ext>
              </a:extLst>
            </p:cNvPr>
            <p:cNvPicPr>
              <a:picLocks noChangeAspect="1"/>
            </p:cNvPicPr>
            <p:nvPr/>
          </p:nvPicPr>
          <p:blipFill>
            <a:blip r:embed="rId61">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4344958" y="1841799"/>
              <a:ext cx="452386" cy="452386"/>
            </a:xfrm>
            <a:prstGeom prst="rect">
              <a:avLst/>
            </a:prstGeom>
          </p:spPr>
        </p:pic>
        <p:pic>
          <p:nvPicPr>
            <p:cNvPr id="185" name="Graphique 184" descr="Tasse de latte avec un remplissage uni">
              <a:extLst>
                <a:ext uri="{FF2B5EF4-FFF2-40B4-BE49-F238E27FC236}">
                  <a16:creationId xmlns:a16="http://schemas.microsoft.com/office/drawing/2014/main" id="{A069203D-7CE2-A7B0-3EED-A0E1F73AE7DD}"/>
                </a:ext>
              </a:extLst>
            </p:cNvPr>
            <p:cNvPicPr>
              <a:picLocks noChangeAspect="1"/>
            </p:cNvPicPr>
            <p:nvPr/>
          </p:nvPicPr>
          <p:blipFill>
            <a:blip r:embed="rId63">
              <a:extLst>
                <a:ext uri="{28A0092B-C50C-407E-A947-70E740481C1C}">
                  <a14:useLocalDpi xmlns:a14="http://schemas.microsoft.com/office/drawing/2010/main" val="0"/>
                </a:ext>
                <a:ext uri="{96DAC541-7B7A-43D3-8B79-37D633B846F1}">
                  <asvg:svgBlip xmlns:asvg="http://schemas.microsoft.com/office/drawing/2016/SVG/main" r:embed="rId64"/>
                </a:ext>
              </a:extLst>
            </a:blip>
            <a:stretch>
              <a:fillRect/>
            </a:stretch>
          </p:blipFill>
          <p:spPr>
            <a:xfrm>
              <a:off x="4751701" y="1775060"/>
              <a:ext cx="519125" cy="519125"/>
            </a:xfrm>
            <a:prstGeom prst="rect">
              <a:avLst/>
            </a:prstGeom>
          </p:spPr>
        </p:pic>
      </p:grpSp>
      <p:pic>
        <p:nvPicPr>
          <p:cNvPr id="297" name="Graphique 296" descr="Chat avec un remplissage uni">
            <a:extLst>
              <a:ext uri="{FF2B5EF4-FFF2-40B4-BE49-F238E27FC236}">
                <a16:creationId xmlns:a16="http://schemas.microsoft.com/office/drawing/2014/main" id="{6727894A-8652-08FE-DDE0-048792660942}"/>
              </a:ext>
            </a:extLst>
          </p:cNvPr>
          <p:cNvPicPr>
            <a:picLocks noChangeAspect="1"/>
          </p:cNvPicPr>
          <p:nvPr/>
        </p:nvPicPr>
        <p:blipFill>
          <a:blip r:embed="rId65">
            <a:extLst>
              <a:ext uri="{28A0092B-C50C-407E-A947-70E740481C1C}">
                <a14:useLocalDpi xmlns:a14="http://schemas.microsoft.com/office/drawing/2010/main" val="0"/>
              </a:ext>
              <a:ext uri="{96DAC541-7B7A-43D3-8B79-37D633B846F1}">
                <asvg:svgBlip xmlns:asvg="http://schemas.microsoft.com/office/drawing/2016/SVG/main" r:embed="rId66"/>
              </a:ext>
            </a:extLst>
          </a:blip>
          <a:stretch>
            <a:fillRect/>
          </a:stretch>
        </p:blipFill>
        <p:spPr>
          <a:xfrm>
            <a:off x="9804916" y="2334172"/>
            <a:ext cx="418062" cy="418061"/>
          </a:xfrm>
          <a:prstGeom prst="rect">
            <a:avLst/>
          </a:prstGeom>
        </p:spPr>
      </p:pic>
      <p:pic>
        <p:nvPicPr>
          <p:cNvPr id="299" name="Graphique 298" descr="Tête avec engrenages avec un remplissage uni">
            <a:extLst>
              <a:ext uri="{FF2B5EF4-FFF2-40B4-BE49-F238E27FC236}">
                <a16:creationId xmlns:a16="http://schemas.microsoft.com/office/drawing/2014/main" id="{60630107-5FD5-AB42-D963-65ABBD97D37F}"/>
              </a:ext>
            </a:extLst>
          </p:cNvPr>
          <p:cNvPicPr>
            <a:picLocks noChangeAspect="1"/>
          </p:cNvPicPr>
          <p:nvPr/>
        </p:nvPicPr>
        <p:blipFill>
          <a:blip r:embed="rId67">
            <a:extLst>
              <a:ext uri="{28A0092B-C50C-407E-A947-70E740481C1C}">
                <a14:useLocalDpi xmlns:a14="http://schemas.microsoft.com/office/drawing/2010/main" val="0"/>
              </a:ext>
              <a:ext uri="{96DAC541-7B7A-43D3-8B79-37D633B846F1}">
                <asvg:svgBlip xmlns:asvg="http://schemas.microsoft.com/office/drawing/2016/SVG/main" r:embed="rId68"/>
              </a:ext>
            </a:extLst>
          </a:blip>
          <a:stretch>
            <a:fillRect/>
          </a:stretch>
        </p:blipFill>
        <p:spPr>
          <a:xfrm>
            <a:off x="6323602" y="2223058"/>
            <a:ext cx="567854" cy="567852"/>
          </a:xfrm>
          <a:prstGeom prst="rect">
            <a:avLst/>
          </a:prstGeom>
        </p:spPr>
      </p:pic>
      <p:pic>
        <p:nvPicPr>
          <p:cNvPr id="380" name="Graphique 379" descr="Conseil d’administration avec un remplissage uni">
            <a:extLst>
              <a:ext uri="{FF2B5EF4-FFF2-40B4-BE49-F238E27FC236}">
                <a16:creationId xmlns:a16="http://schemas.microsoft.com/office/drawing/2014/main" id="{8C45DD17-6E41-8A78-1321-87DA6A2622F8}"/>
              </a:ext>
            </a:extLst>
          </p:cNvPr>
          <p:cNvPicPr>
            <a:picLocks noChangeAspect="1"/>
          </p:cNvPicPr>
          <p:nvPr/>
        </p:nvPicPr>
        <p:blipFill>
          <a:blip r:embed="rId69">
            <a:extLst>
              <a:ext uri="{28A0092B-C50C-407E-A947-70E740481C1C}">
                <a14:useLocalDpi xmlns:a14="http://schemas.microsoft.com/office/drawing/2010/main" val="0"/>
              </a:ext>
              <a:ext uri="{96DAC541-7B7A-43D3-8B79-37D633B846F1}">
                <asvg:svgBlip xmlns:asvg="http://schemas.microsoft.com/office/drawing/2016/SVG/main" r:embed="rId70"/>
              </a:ext>
            </a:extLst>
          </a:blip>
          <a:stretch>
            <a:fillRect/>
          </a:stretch>
        </p:blipFill>
        <p:spPr>
          <a:xfrm>
            <a:off x="9371250" y="2305800"/>
            <a:ext cx="399710" cy="399709"/>
          </a:xfrm>
          <a:prstGeom prst="rect">
            <a:avLst/>
          </a:prstGeom>
        </p:spPr>
      </p:pic>
      <p:sp>
        <p:nvSpPr>
          <p:cNvPr id="381" name="Rectangle 380">
            <a:extLst>
              <a:ext uri="{FF2B5EF4-FFF2-40B4-BE49-F238E27FC236}">
                <a16:creationId xmlns:a16="http://schemas.microsoft.com/office/drawing/2014/main" id="{D4FE853E-484A-9986-0A15-D804931D392E}"/>
              </a:ext>
            </a:extLst>
          </p:cNvPr>
          <p:cNvSpPr/>
          <p:nvPr/>
        </p:nvSpPr>
        <p:spPr>
          <a:xfrm>
            <a:off x="9280177"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Espaces et lieux pour rencontres </a:t>
            </a:r>
          </a:p>
          <a:p>
            <a:pPr algn="ctr"/>
            <a:r>
              <a:rPr lang="fr-FR" sz="900" dirty="0"/>
              <a:t>(à défaut, outils pour rencontre numérique)</a:t>
            </a:r>
          </a:p>
        </p:txBody>
      </p:sp>
      <p:sp>
        <p:nvSpPr>
          <p:cNvPr id="383" name="Rectangle 382">
            <a:extLst>
              <a:ext uri="{FF2B5EF4-FFF2-40B4-BE49-F238E27FC236}">
                <a16:creationId xmlns:a16="http://schemas.microsoft.com/office/drawing/2014/main" id="{82A55616-31B3-9A14-DA5D-D0A1CC08F498}"/>
              </a:ext>
            </a:extLst>
          </p:cNvPr>
          <p:cNvSpPr/>
          <p:nvPr/>
        </p:nvSpPr>
        <p:spPr>
          <a:xfrm>
            <a:off x="7185911" y="2832487"/>
            <a:ext cx="996523" cy="60207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ponctuelle des membres pour rencontres</a:t>
            </a:r>
          </a:p>
        </p:txBody>
      </p:sp>
      <p:sp>
        <p:nvSpPr>
          <p:cNvPr id="512" name="Rectangle 511">
            <a:extLst>
              <a:ext uri="{FF2B5EF4-FFF2-40B4-BE49-F238E27FC236}">
                <a16:creationId xmlns:a16="http://schemas.microsoft.com/office/drawing/2014/main" id="{9F83DBC3-A230-F4B4-FB7B-1C5306F16FB6}"/>
              </a:ext>
            </a:extLst>
          </p:cNvPr>
          <p:cNvSpPr/>
          <p:nvPr/>
        </p:nvSpPr>
        <p:spPr>
          <a:xfrm>
            <a:off x="6118076"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de mises en relation et de présentation de personnes</a:t>
            </a:r>
          </a:p>
        </p:txBody>
      </p:sp>
      <p:sp>
        <p:nvSpPr>
          <p:cNvPr id="513" name="Rectangle 512">
            <a:extLst>
              <a:ext uri="{FF2B5EF4-FFF2-40B4-BE49-F238E27FC236}">
                <a16:creationId xmlns:a16="http://schemas.microsoft.com/office/drawing/2014/main" id="{C7BFFDBA-2074-E5C7-A48D-7E19835EA714}"/>
              </a:ext>
            </a:extLst>
          </p:cNvPr>
          <p:cNvSpPr/>
          <p:nvPr/>
        </p:nvSpPr>
        <p:spPr>
          <a:xfrm>
            <a:off x="8221867"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Informations sur les affinités de chacun pouvant aider à la mise en relation</a:t>
            </a:r>
          </a:p>
        </p:txBody>
      </p:sp>
      <p:sp>
        <p:nvSpPr>
          <p:cNvPr id="514" name="Rectangle 513">
            <a:extLst>
              <a:ext uri="{FF2B5EF4-FFF2-40B4-BE49-F238E27FC236}">
                <a16:creationId xmlns:a16="http://schemas.microsoft.com/office/drawing/2014/main" id="{53E5997B-CF4F-2CA5-417C-BBDCB372F1A6}"/>
              </a:ext>
            </a:extLst>
          </p:cNvPr>
          <p:cNvSpPr/>
          <p:nvPr/>
        </p:nvSpPr>
        <p:spPr>
          <a:xfrm>
            <a:off x="5059766"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de en préparation et animation d’événement de création de lien</a:t>
            </a:r>
          </a:p>
        </p:txBody>
      </p:sp>
      <p:sp>
        <p:nvSpPr>
          <p:cNvPr id="515" name="Rectangle 514">
            <a:extLst>
              <a:ext uri="{FF2B5EF4-FFF2-40B4-BE49-F238E27FC236}">
                <a16:creationId xmlns:a16="http://schemas.microsoft.com/office/drawing/2014/main" id="{11844680-02B2-2571-A14A-5449FBA70472}"/>
              </a:ext>
            </a:extLst>
          </p:cNvPr>
          <p:cNvSpPr/>
          <p:nvPr/>
        </p:nvSpPr>
        <p:spPr>
          <a:xfrm>
            <a:off x="10338487"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en création de cadre moral communautaire</a:t>
            </a:r>
          </a:p>
        </p:txBody>
      </p:sp>
      <p:pic>
        <p:nvPicPr>
          <p:cNvPr id="516" name="Graphique 515" descr="Informations avec un remplissage uni">
            <a:extLst>
              <a:ext uri="{FF2B5EF4-FFF2-40B4-BE49-F238E27FC236}">
                <a16:creationId xmlns:a16="http://schemas.microsoft.com/office/drawing/2014/main" id="{7DF533BF-1033-E11C-26CD-523E49C91E99}"/>
              </a:ext>
            </a:extLst>
          </p:cNvPr>
          <p:cNvPicPr>
            <a:picLocks noChangeAspect="1"/>
          </p:cNvPicPr>
          <p:nvPr/>
        </p:nvPicPr>
        <p:blipFill>
          <a:blip r:embed="rId71">
            <a:extLst>
              <a:ext uri="{28A0092B-C50C-407E-A947-70E740481C1C}">
                <a14:useLocalDpi xmlns:a14="http://schemas.microsoft.com/office/drawing/2010/main" val="0"/>
              </a:ext>
              <a:ext uri="{96DAC541-7B7A-43D3-8B79-37D633B846F1}">
                <asvg:svgBlip xmlns:asvg="http://schemas.microsoft.com/office/drawing/2016/SVG/main" r:embed="rId72"/>
              </a:ext>
            </a:extLst>
          </a:blip>
          <a:stretch>
            <a:fillRect/>
          </a:stretch>
        </p:blipFill>
        <p:spPr>
          <a:xfrm>
            <a:off x="8434188" y="2267229"/>
            <a:ext cx="496143" cy="496142"/>
          </a:xfrm>
          <a:prstGeom prst="rect">
            <a:avLst/>
          </a:prstGeom>
        </p:spPr>
      </p:pic>
      <p:pic>
        <p:nvPicPr>
          <p:cNvPr id="517" name="Graphique 516" descr="Sablier 60% avec un remplissage uni">
            <a:extLst>
              <a:ext uri="{FF2B5EF4-FFF2-40B4-BE49-F238E27FC236}">
                <a16:creationId xmlns:a16="http://schemas.microsoft.com/office/drawing/2014/main" id="{3BF37405-DDFA-DD39-75DD-BDC3AE337193}"/>
              </a:ext>
            </a:extLst>
          </p:cNvPr>
          <p:cNvPicPr>
            <a:picLocks noChangeAspect="1"/>
          </p:cNvPicPr>
          <p:nvPr/>
        </p:nvPicPr>
        <p:blipFill>
          <a:blip r:embed="rId73">
            <a:extLst>
              <a:ext uri="{28A0092B-C50C-407E-A947-70E740481C1C}">
                <a14:useLocalDpi xmlns:a14="http://schemas.microsoft.com/office/drawing/2010/main" val="0"/>
              </a:ext>
              <a:ext uri="{96DAC541-7B7A-43D3-8B79-37D633B846F1}">
                <asvg:svgBlip xmlns:asvg="http://schemas.microsoft.com/office/drawing/2016/SVG/main" r:embed="rId74"/>
              </a:ext>
            </a:extLst>
          </a:blip>
          <a:stretch>
            <a:fillRect/>
          </a:stretch>
        </p:blipFill>
        <p:spPr>
          <a:xfrm>
            <a:off x="7372239" y="2204110"/>
            <a:ext cx="629430" cy="629428"/>
          </a:xfrm>
          <a:prstGeom prst="rect">
            <a:avLst/>
          </a:prstGeom>
        </p:spPr>
      </p:pic>
      <p:pic>
        <p:nvPicPr>
          <p:cNvPr id="519" name="Graphique 518" descr="Tête avec engrenages avec un remplissage uni">
            <a:extLst>
              <a:ext uri="{FF2B5EF4-FFF2-40B4-BE49-F238E27FC236}">
                <a16:creationId xmlns:a16="http://schemas.microsoft.com/office/drawing/2014/main" id="{04A46065-D124-65ED-BDE0-4A301B1F968B}"/>
              </a:ext>
            </a:extLst>
          </p:cNvPr>
          <p:cNvPicPr>
            <a:picLocks noChangeAspect="1"/>
          </p:cNvPicPr>
          <p:nvPr/>
        </p:nvPicPr>
        <p:blipFill>
          <a:blip r:embed="rId67">
            <a:extLst>
              <a:ext uri="{28A0092B-C50C-407E-A947-70E740481C1C}">
                <a14:useLocalDpi xmlns:a14="http://schemas.microsoft.com/office/drawing/2010/main" val="0"/>
              </a:ext>
              <a:ext uri="{96DAC541-7B7A-43D3-8B79-37D633B846F1}">
                <asvg:svgBlip xmlns:asvg="http://schemas.microsoft.com/office/drawing/2016/SVG/main" r:embed="rId68"/>
              </a:ext>
            </a:extLst>
          </a:blip>
          <a:stretch>
            <a:fillRect/>
          </a:stretch>
        </p:blipFill>
        <p:spPr>
          <a:xfrm>
            <a:off x="5274717" y="2223058"/>
            <a:ext cx="567854" cy="567852"/>
          </a:xfrm>
          <a:prstGeom prst="rect">
            <a:avLst/>
          </a:prstGeom>
        </p:spPr>
      </p:pic>
      <p:pic>
        <p:nvPicPr>
          <p:cNvPr id="520" name="Graphique 519" descr="Tête avec engrenages avec un remplissage uni">
            <a:extLst>
              <a:ext uri="{FF2B5EF4-FFF2-40B4-BE49-F238E27FC236}">
                <a16:creationId xmlns:a16="http://schemas.microsoft.com/office/drawing/2014/main" id="{D6C75068-1CD8-7AFF-A7FF-67DB4315DEAF}"/>
              </a:ext>
            </a:extLst>
          </p:cNvPr>
          <p:cNvPicPr>
            <a:picLocks noChangeAspect="1"/>
          </p:cNvPicPr>
          <p:nvPr/>
        </p:nvPicPr>
        <p:blipFill>
          <a:blip r:embed="rId67">
            <a:extLst>
              <a:ext uri="{28A0092B-C50C-407E-A947-70E740481C1C}">
                <a14:useLocalDpi xmlns:a14="http://schemas.microsoft.com/office/drawing/2010/main" val="0"/>
              </a:ext>
              <a:ext uri="{96DAC541-7B7A-43D3-8B79-37D633B846F1}">
                <asvg:svgBlip xmlns:asvg="http://schemas.microsoft.com/office/drawing/2016/SVG/main" r:embed="rId68"/>
              </a:ext>
            </a:extLst>
          </a:blip>
          <a:stretch>
            <a:fillRect/>
          </a:stretch>
        </p:blipFill>
        <p:spPr>
          <a:xfrm>
            <a:off x="10528478" y="2213113"/>
            <a:ext cx="567854" cy="567852"/>
          </a:xfrm>
          <a:prstGeom prst="rect">
            <a:avLst/>
          </a:prstGeom>
        </p:spPr>
      </p:pic>
    </p:spTree>
    <p:extLst>
      <p:ext uri="{BB962C8B-B14F-4D97-AF65-F5344CB8AC3E}">
        <p14:creationId xmlns:p14="http://schemas.microsoft.com/office/powerpoint/2010/main" val="341962129"/>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4158105151"/>
              </p:ext>
            </p:extLst>
          </p:nvPr>
        </p:nvGraphicFramePr>
        <p:xfrm>
          <a:off x="847238" y="753958"/>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Etape d’autonomisation</a:t>
                      </a:r>
                    </a:p>
                    <a:p>
                      <a:r>
                        <a:rPr lang="fr-FR" i="1" dirty="0"/>
                        <a:t>« Augmenter l’autonomie des membres de la communauté sur les activités »</a:t>
                      </a:r>
                    </a:p>
                  </a:txBody>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sp>
        <p:nvSpPr>
          <p:cNvPr id="2" name="Flèche : droite 1">
            <a:extLst>
              <a:ext uri="{FF2B5EF4-FFF2-40B4-BE49-F238E27FC236}">
                <a16:creationId xmlns:a16="http://schemas.microsoft.com/office/drawing/2014/main" id="{56071736-7F72-B484-7F73-053BD89F35A3}"/>
              </a:ext>
            </a:extLst>
          </p:cNvPr>
          <p:cNvSpPr/>
          <p:nvPr/>
        </p:nvSpPr>
        <p:spPr>
          <a:xfrm>
            <a:off x="954216" y="2155012"/>
            <a:ext cx="1967947" cy="1358809"/>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HABITUDE :</a:t>
            </a:r>
          </a:p>
          <a:p>
            <a:pPr algn="ctr"/>
            <a:r>
              <a:rPr lang="fr-FR" sz="1200" dirty="0">
                <a:solidFill>
                  <a:schemeClr val="tx1"/>
                </a:solidFill>
              </a:rPr>
              <a:t>S’habituer à la valeur et la confirmer</a:t>
            </a:r>
          </a:p>
        </p:txBody>
      </p:sp>
      <p:grpSp>
        <p:nvGrpSpPr>
          <p:cNvPr id="6" name="Groupe 5">
            <a:extLst>
              <a:ext uri="{FF2B5EF4-FFF2-40B4-BE49-F238E27FC236}">
                <a16:creationId xmlns:a16="http://schemas.microsoft.com/office/drawing/2014/main" id="{86B367B9-DA81-E6B6-2D02-71B8D4759C2E}"/>
              </a:ext>
            </a:extLst>
          </p:cNvPr>
          <p:cNvGrpSpPr/>
          <p:nvPr/>
        </p:nvGrpSpPr>
        <p:grpSpPr>
          <a:xfrm>
            <a:off x="3380616" y="2220972"/>
            <a:ext cx="1131981" cy="919579"/>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8CCB6071-98EC-5366-7440-29BB227DE09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4215FD23-101B-FD94-BDCE-7DBE4303067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9B16AFBA-DD2B-16DE-A5CB-8D21D657891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D1BB82B9-2BB7-077F-3407-AFD9BA564AC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30D0D9AA-05AD-88AD-6663-D1D28AD03F6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5A5093A1-8492-6985-5A8D-288C8DA6F8E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8747BBF2-A1CE-BFB0-595B-540FA314839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7F61D2D6-596D-3C6D-051B-74DDC0451B6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197DAD4F-317A-7F73-D7E4-ED47E8742B1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81C54611-4A5C-7BDD-1542-1FEE15C860A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1703643E-7E63-7487-62E9-82378D82A8B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sp>
        <p:nvSpPr>
          <p:cNvPr id="18" name="Titre 1">
            <a:extLst>
              <a:ext uri="{FF2B5EF4-FFF2-40B4-BE49-F238E27FC236}">
                <a16:creationId xmlns:a16="http://schemas.microsoft.com/office/drawing/2014/main" id="{40814BF9-F83C-4C41-0142-BD8C952A8BFC}"/>
              </a:ext>
            </a:extLst>
          </p:cNvPr>
          <p:cNvSpPr txBox="1">
            <a:spLocks/>
          </p:cNvSpPr>
          <p:nvPr/>
        </p:nvSpPr>
        <p:spPr>
          <a:xfrm>
            <a:off x="3298477" y="2940495"/>
            <a:ext cx="1281745" cy="65006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19" name="Rectangle 18">
            <a:extLst>
              <a:ext uri="{FF2B5EF4-FFF2-40B4-BE49-F238E27FC236}">
                <a16:creationId xmlns:a16="http://schemas.microsoft.com/office/drawing/2014/main" id="{0E2D3DA5-28B4-F2D0-0ED5-594C71404DC2}"/>
              </a:ext>
            </a:extLst>
          </p:cNvPr>
          <p:cNvSpPr/>
          <p:nvPr/>
        </p:nvSpPr>
        <p:spPr>
          <a:xfrm>
            <a:off x="5104909" y="5128574"/>
            <a:ext cx="1955314" cy="8606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50" dirty="0">
                <a:solidFill>
                  <a:schemeClr val="tx1"/>
                </a:solidFill>
              </a:rPr>
              <a:t>⚙️ Retrait ponctuel de certaines fonctions (absence planifiée, …). Délégation ponctuelle, Mise en place de rôles tournants</a:t>
            </a:r>
          </a:p>
        </p:txBody>
      </p:sp>
      <p:sp>
        <p:nvSpPr>
          <p:cNvPr id="20" name="Rectangle 19">
            <a:extLst>
              <a:ext uri="{FF2B5EF4-FFF2-40B4-BE49-F238E27FC236}">
                <a16:creationId xmlns:a16="http://schemas.microsoft.com/office/drawing/2014/main" id="{99C7B431-B222-3236-25C4-D542F96E2D6B}"/>
              </a:ext>
            </a:extLst>
          </p:cNvPr>
          <p:cNvSpPr/>
          <p:nvPr/>
        </p:nvSpPr>
        <p:spPr>
          <a:xfrm>
            <a:off x="7239996" y="5128574"/>
            <a:ext cx="1969477" cy="8606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50" dirty="0">
                <a:solidFill>
                  <a:schemeClr val="tx1"/>
                </a:solidFill>
              </a:rPr>
              <a:t>⚙️ Identification des membres les plus à même de devenir leaders locaux (W7), coaching de ces membres sur la fonction</a:t>
            </a:r>
          </a:p>
        </p:txBody>
      </p:sp>
      <p:sp>
        <p:nvSpPr>
          <p:cNvPr id="21" name="Rectangle 20">
            <a:extLst>
              <a:ext uri="{FF2B5EF4-FFF2-40B4-BE49-F238E27FC236}">
                <a16:creationId xmlns:a16="http://schemas.microsoft.com/office/drawing/2014/main" id="{40DB065C-AC5A-90A9-4853-0DEE92A51BD2}"/>
              </a:ext>
            </a:extLst>
          </p:cNvPr>
          <p:cNvSpPr/>
          <p:nvPr/>
        </p:nvSpPr>
        <p:spPr>
          <a:xfrm>
            <a:off x="9311054" y="5128574"/>
            <a:ext cx="1969477" cy="8606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50" dirty="0">
                <a:solidFill>
                  <a:schemeClr val="tx1"/>
                </a:solidFill>
              </a:rPr>
              <a:t>✍️ Création de fiches de rôles, Officialisation des prises de rôles, attribution de ressources (temps dédié, matériel, licences, , …)</a:t>
            </a:r>
          </a:p>
        </p:txBody>
      </p:sp>
      <p:sp>
        <p:nvSpPr>
          <p:cNvPr id="22" name="Rectangle 21">
            <a:extLst>
              <a:ext uri="{FF2B5EF4-FFF2-40B4-BE49-F238E27FC236}">
                <a16:creationId xmlns:a16="http://schemas.microsoft.com/office/drawing/2014/main" id="{19AE8440-2621-38C2-8DCE-C0E26452B4F1}"/>
              </a:ext>
            </a:extLst>
          </p:cNvPr>
          <p:cNvSpPr/>
          <p:nvPr/>
        </p:nvSpPr>
        <p:spPr>
          <a:xfrm>
            <a:off x="2982527" y="5128574"/>
            <a:ext cx="2020801" cy="8606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50" dirty="0">
                <a:solidFill>
                  <a:schemeClr val="tx1"/>
                </a:solidFill>
              </a:rPr>
              <a:t>⚙️ Renforcement des conditions de sécurité psychologique pour autonomie (acceptation des erreurs, du temps d’apprentissage du rôle, …)</a:t>
            </a:r>
          </a:p>
        </p:txBody>
      </p:sp>
      <p:sp>
        <p:nvSpPr>
          <p:cNvPr id="23" name="Rectangle 22">
            <a:extLst>
              <a:ext uri="{FF2B5EF4-FFF2-40B4-BE49-F238E27FC236}">
                <a16:creationId xmlns:a16="http://schemas.microsoft.com/office/drawing/2014/main" id="{A1698837-DD9D-BD17-97F8-1117499B6EE2}"/>
              </a:ext>
            </a:extLst>
          </p:cNvPr>
          <p:cNvSpPr/>
          <p:nvPr/>
        </p:nvSpPr>
        <p:spPr>
          <a:xfrm>
            <a:off x="911469" y="5128574"/>
            <a:ext cx="1967946" cy="860605"/>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50" dirty="0">
                <a:solidFill>
                  <a:schemeClr val="tx1"/>
                </a:solidFill>
              </a:rPr>
              <a:t>📅 Ateliers clarifiant les libertés individuelles (IVCD </a:t>
            </a:r>
            <a:r>
              <a:rPr lang="fr-FR" sz="1050" dirty="0" err="1">
                <a:solidFill>
                  <a:schemeClr val="tx1"/>
                </a:solidFill>
              </a:rPr>
              <a:t>Map</a:t>
            </a:r>
            <a:r>
              <a:rPr lang="fr-FR" sz="1050" dirty="0">
                <a:solidFill>
                  <a:schemeClr val="tx1"/>
                </a:solidFill>
              </a:rPr>
              <a:t>), celles des leaders (</a:t>
            </a:r>
            <a:r>
              <a:rPr lang="fr-FR" sz="1050" dirty="0" err="1">
                <a:solidFill>
                  <a:schemeClr val="tx1"/>
                </a:solidFill>
              </a:rPr>
              <a:t>delegation</a:t>
            </a:r>
            <a:r>
              <a:rPr lang="fr-FR" sz="1050" dirty="0">
                <a:solidFill>
                  <a:schemeClr val="tx1"/>
                </a:solidFill>
              </a:rPr>
              <a:t> poker, etc.)</a:t>
            </a:r>
          </a:p>
        </p:txBody>
      </p:sp>
      <p:grpSp>
        <p:nvGrpSpPr>
          <p:cNvPr id="501" name="Groupe 500">
            <a:extLst>
              <a:ext uri="{FF2B5EF4-FFF2-40B4-BE49-F238E27FC236}">
                <a16:creationId xmlns:a16="http://schemas.microsoft.com/office/drawing/2014/main" id="{7490AEDE-11D5-1E38-E64C-939BC5A7AF95}"/>
              </a:ext>
            </a:extLst>
          </p:cNvPr>
          <p:cNvGrpSpPr/>
          <p:nvPr/>
        </p:nvGrpSpPr>
        <p:grpSpPr>
          <a:xfrm>
            <a:off x="5168418" y="4027406"/>
            <a:ext cx="1828295" cy="1008083"/>
            <a:chOff x="6627592" y="535957"/>
            <a:chExt cx="5205751" cy="2870341"/>
          </a:xfrm>
        </p:grpSpPr>
        <p:pic>
          <p:nvPicPr>
            <p:cNvPr id="486" name="Graphique 485" descr="Femme agricultrice avec un remplissage uni">
              <a:extLst>
                <a:ext uri="{FF2B5EF4-FFF2-40B4-BE49-F238E27FC236}">
                  <a16:creationId xmlns:a16="http://schemas.microsoft.com/office/drawing/2014/main" id="{EA4B4378-2499-F521-138A-C8F4D0EC956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296645" y="670098"/>
              <a:ext cx="914400" cy="914400"/>
            </a:xfrm>
            <a:prstGeom prst="rect">
              <a:avLst/>
            </a:prstGeom>
          </p:spPr>
        </p:pic>
        <p:pic>
          <p:nvPicPr>
            <p:cNvPr id="487" name="Graphique 486" descr="Homme médecin avec un remplissage uni">
              <a:extLst>
                <a:ext uri="{FF2B5EF4-FFF2-40B4-BE49-F238E27FC236}">
                  <a16:creationId xmlns:a16="http://schemas.microsoft.com/office/drawing/2014/main" id="{8009BCC9-0934-7590-46B5-FE1D67A9A01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994608" y="564018"/>
              <a:ext cx="914400" cy="914400"/>
            </a:xfrm>
            <a:prstGeom prst="rect">
              <a:avLst/>
            </a:prstGeom>
          </p:spPr>
        </p:pic>
        <p:pic>
          <p:nvPicPr>
            <p:cNvPr id="488" name="Graphique 487" descr="Employée de bureau avec un remplissage uni">
              <a:extLst>
                <a:ext uri="{FF2B5EF4-FFF2-40B4-BE49-F238E27FC236}">
                  <a16:creationId xmlns:a16="http://schemas.microsoft.com/office/drawing/2014/main" id="{046687F1-2BAB-403A-493C-19FBF968FB1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054290" y="1957489"/>
              <a:ext cx="914400" cy="914400"/>
            </a:xfrm>
            <a:prstGeom prst="rect">
              <a:avLst/>
            </a:prstGeom>
          </p:spPr>
        </p:pic>
        <p:pic>
          <p:nvPicPr>
            <p:cNvPr id="489" name="Graphique 488" descr="Homme juge avec un remplissage uni">
              <a:extLst>
                <a:ext uri="{FF2B5EF4-FFF2-40B4-BE49-F238E27FC236}">
                  <a16:creationId xmlns:a16="http://schemas.microsoft.com/office/drawing/2014/main" id="{2D55DABF-E230-F33F-4F43-44993CBE45B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238795" y="2046510"/>
              <a:ext cx="914400" cy="914400"/>
            </a:xfrm>
            <a:prstGeom prst="rect">
              <a:avLst/>
            </a:prstGeom>
          </p:spPr>
        </p:pic>
        <p:pic>
          <p:nvPicPr>
            <p:cNvPr id="490" name="Graphique 489" descr="Employée de bureau avec un remplissage uni">
              <a:extLst>
                <a:ext uri="{FF2B5EF4-FFF2-40B4-BE49-F238E27FC236}">
                  <a16:creationId xmlns:a16="http://schemas.microsoft.com/office/drawing/2014/main" id="{BB3EC600-6F64-B3B8-CC19-552EB7AB0F8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568228" y="1928897"/>
              <a:ext cx="914400" cy="914400"/>
            </a:xfrm>
            <a:prstGeom prst="rect">
              <a:avLst/>
            </a:prstGeom>
          </p:spPr>
        </p:pic>
        <p:pic>
          <p:nvPicPr>
            <p:cNvPr id="491" name="Graphique 490" descr="Employée de bureau avec un remplissage uni">
              <a:extLst>
                <a:ext uri="{FF2B5EF4-FFF2-40B4-BE49-F238E27FC236}">
                  <a16:creationId xmlns:a16="http://schemas.microsoft.com/office/drawing/2014/main" id="{34144613-8951-0F9C-AD23-8E37F3B99BD0}"/>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345523" y="2431027"/>
              <a:ext cx="914400" cy="914400"/>
            </a:xfrm>
            <a:prstGeom prst="rect">
              <a:avLst/>
            </a:prstGeom>
          </p:spPr>
        </p:pic>
        <p:pic>
          <p:nvPicPr>
            <p:cNvPr id="492" name="Graphique 491" descr="Employée de bureau avec un remplissage uni">
              <a:extLst>
                <a:ext uri="{FF2B5EF4-FFF2-40B4-BE49-F238E27FC236}">
                  <a16:creationId xmlns:a16="http://schemas.microsoft.com/office/drawing/2014/main" id="{21DE670E-A027-4DFD-71DD-777180523B4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932836" y="2411450"/>
              <a:ext cx="914400" cy="914400"/>
            </a:xfrm>
            <a:prstGeom prst="rect">
              <a:avLst/>
            </a:prstGeom>
          </p:spPr>
        </p:pic>
        <p:pic>
          <p:nvPicPr>
            <p:cNvPr id="493" name="Graphique 492" descr="Employée de bureau avec un remplissage uni">
              <a:extLst>
                <a:ext uri="{FF2B5EF4-FFF2-40B4-BE49-F238E27FC236}">
                  <a16:creationId xmlns:a16="http://schemas.microsoft.com/office/drawing/2014/main" id="{FFC00676-C212-477A-678C-AB03088C635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0410921" y="1834198"/>
              <a:ext cx="914400" cy="914400"/>
            </a:xfrm>
            <a:prstGeom prst="rect">
              <a:avLst/>
            </a:prstGeom>
          </p:spPr>
        </p:pic>
        <p:pic>
          <p:nvPicPr>
            <p:cNvPr id="494" name="Graphique 493" descr="Employée de bureau avec un remplissage uni">
              <a:extLst>
                <a:ext uri="{FF2B5EF4-FFF2-40B4-BE49-F238E27FC236}">
                  <a16:creationId xmlns:a16="http://schemas.microsoft.com/office/drawing/2014/main" id="{DE6FB402-883B-A72C-B236-33825C19C438}"/>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0482628" y="2491898"/>
              <a:ext cx="914400" cy="914400"/>
            </a:xfrm>
            <a:prstGeom prst="rect">
              <a:avLst/>
            </a:prstGeom>
          </p:spPr>
        </p:pic>
        <p:pic>
          <p:nvPicPr>
            <p:cNvPr id="495" name="Graphique 494" descr="Employée de bureau avec un remplissage uni">
              <a:extLst>
                <a:ext uri="{FF2B5EF4-FFF2-40B4-BE49-F238E27FC236}">
                  <a16:creationId xmlns:a16="http://schemas.microsoft.com/office/drawing/2014/main" id="{238050B5-EB23-7BB4-5C14-9B6C9D28BE3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968690" y="1643473"/>
              <a:ext cx="914400" cy="914400"/>
            </a:xfrm>
            <a:prstGeom prst="rect">
              <a:avLst/>
            </a:prstGeom>
          </p:spPr>
        </p:pic>
        <p:pic>
          <p:nvPicPr>
            <p:cNvPr id="496" name="Graphique 495" descr="Employée de bureau avec un remplissage uni">
              <a:extLst>
                <a:ext uri="{FF2B5EF4-FFF2-40B4-BE49-F238E27FC236}">
                  <a16:creationId xmlns:a16="http://schemas.microsoft.com/office/drawing/2014/main" id="{5F9B7940-4F6C-6D7B-1FF4-9D92B7FE15F4}"/>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0918943" y="1994474"/>
              <a:ext cx="914400" cy="914400"/>
            </a:xfrm>
            <a:prstGeom prst="rect">
              <a:avLst/>
            </a:prstGeom>
          </p:spPr>
        </p:pic>
        <p:pic>
          <p:nvPicPr>
            <p:cNvPr id="497" name="Graphique 496" descr="Retour avec un remplissage uni">
              <a:extLst>
                <a:ext uri="{FF2B5EF4-FFF2-40B4-BE49-F238E27FC236}">
                  <a16:creationId xmlns:a16="http://schemas.microsoft.com/office/drawing/2014/main" id="{898D83AA-2C9A-1AE4-8351-E84C91B9C7BC}"/>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8034000">
              <a:off x="6627592" y="1484395"/>
              <a:ext cx="914400" cy="914400"/>
            </a:xfrm>
            <a:prstGeom prst="rect">
              <a:avLst/>
            </a:prstGeom>
          </p:spPr>
        </p:pic>
        <p:pic>
          <p:nvPicPr>
            <p:cNvPr id="498" name="Graphique 497" descr="Retour avec un remplissage uni">
              <a:extLst>
                <a:ext uri="{FF2B5EF4-FFF2-40B4-BE49-F238E27FC236}">
                  <a16:creationId xmlns:a16="http://schemas.microsoft.com/office/drawing/2014/main" id="{55798DC7-0398-5143-A6D6-3050FE273E9C}"/>
                </a:ext>
              </a:extLst>
            </p:cNvPr>
            <p:cNvPicPr>
              <a:picLocks noChangeAspect="1"/>
            </p:cNvPicPr>
            <p:nvPr/>
          </p:nvPicPr>
          <p:blipFill rotWithShape="1">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rcRect t="20282"/>
            <a:stretch/>
          </p:blipFill>
          <p:spPr>
            <a:xfrm rot="1370218">
              <a:off x="8157541" y="535957"/>
              <a:ext cx="914400" cy="728942"/>
            </a:xfrm>
            <a:prstGeom prst="rect">
              <a:avLst/>
            </a:prstGeom>
          </p:spPr>
        </p:pic>
        <p:pic>
          <p:nvPicPr>
            <p:cNvPr id="499" name="Graphique 498" descr="Retour avec un remplissage uni">
              <a:extLst>
                <a:ext uri="{FF2B5EF4-FFF2-40B4-BE49-F238E27FC236}">
                  <a16:creationId xmlns:a16="http://schemas.microsoft.com/office/drawing/2014/main" id="{47A88509-F08B-1D94-2AD9-1D8C24310D85}"/>
                </a:ext>
              </a:extLst>
            </p:cNvPr>
            <p:cNvPicPr>
              <a:picLocks noChangeAspect="1"/>
            </p:cNvPicPr>
            <p:nvPr/>
          </p:nvPicPr>
          <p:blipFill rotWithShape="1">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rcRect t="20282"/>
            <a:stretch/>
          </p:blipFill>
          <p:spPr>
            <a:xfrm rot="4089212">
              <a:off x="9717923" y="920586"/>
              <a:ext cx="914400" cy="728942"/>
            </a:xfrm>
            <a:prstGeom prst="rect">
              <a:avLst/>
            </a:prstGeom>
          </p:spPr>
        </p:pic>
        <p:pic>
          <p:nvPicPr>
            <p:cNvPr id="500" name="Graphique 499" descr="Retour avec un remplissage uni">
              <a:extLst>
                <a:ext uri="{FF2B5EF4-FFF2-40B4-BE49-F238E27FC236}">
                  <a16:creationId xmlns:a16="http://schemas.microsoft.com/office/drawing/2014/main" id="{EC9E417F-ABE6-28E7-B7B5-58464082F03F}"/>
                </a:ext>
              </a:extLst>
            </p:cNvPr>
            <p:cNvPicPr>
              <a:picLocks noChangeAspect="1"/>
            </p:cNvPicPr>
            <p:nvPr/>
          </p:nvPicPr>
          <p:blipFill rotWithShape="1">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rcRect t="20282"/>
            <a:stretch/>
          </p:blipFill>
          <p:spPr>
            <a:xfrm rot="11510743">
              <a:off x="8192373" y="2344182"/>
              <a:ext cx="914400" cy="728942"/>
            </a:xfrm>
            <a:prstGeom prst="rect">
              <a:avLst/>
            </a:prstGeom>
          </p:spPr>
        </p:pic>
      </p:grpSp>
      <p:grpSp>
        <p:nvGrpSpPr>
          <p:cNvPr id="166" name="Groupe 165">
            <a:extLst>
              <a:ext uri="{FF2B5EF4-FFF2-40B4-BE49-F238E27FC236}">
                <a16:creationId xmlns:a16="http://schemas.microsoft.com/office/drawing/2014/main" id="{954692F8-58F3-FDBF-23B7-2496C62DD1F3}"/>
              </a:ext>
            </a:extLst>
          </p:cNvPr>
          <p:cNvGrpSpPr/>
          <p:nvPr/>
        </p:nvGrpSpPr>
        <p:grpSpPr>
          <a:xfrm>
            <a:off x="1233472" y="4071271"/>
            <a:ext cx="1373157" cy="776530"/>
            <a:chOff x="-2766666" y="6259656"/>
            <a:chExt cx="2410616" cy="1363221"/>
          </a:xfrm>
        </p:grpSpPr>
        <p:grpSp>
          <p:nvGrpSpPr>
            <p:cNvPr id="505" name="Groupe 504">
              <a:extLst>
                <a:ext uri="{FF2B5EF4-FFF2-40B4-BE49-F238E27FC236}">
                  <a16:creationId xmlns:a16="http://schemas.microsoft.com/office/drawing/2014/main" id="{3F9295C1-882E-E76A-6B7D-C96DB677FBE7}"/>
                </a:ext>
              </a:extLst>
            </p:cNvPr>
            <p:cNvGrpSpPr/>
            <p:nvPr/>
          </p:nvGrpSpPr>
          <p:grpSpPr>
            <a:xfrm>
              <a:off x="-2115032" y="6528167"/>
              <a:ext cx="1078544" cy="784401"/>
              <a:chOff x="3333750" y="1582124"/>
              <a:chExt cx="6959600" cy="5061564"/>
            </a:xfrm>
          </p:grpSpPr>
          <p:grpSp>
            <p:nvGrpSpPr>
              <p:cNvPr id="152" name="Groupe 151">
                <a:extLst>
                  <a:ext uri="{FF2B5EF4-FFF2-40B4-BE49-F238E27FC236}">
                    <a16:creationId xmlns:a16="http://schemas.microsoft.com/office/drawing/2014/main" id="{F6FE4A4F-0EBC-083C-9164-1B939E0FB530}"/>
                  </a:ext>
                </a:extLst>
              </p:cNvPr>
              <p:cNvGrpSpPr/>
              <p:nvPr/>
            </p:nvGrpSpPr>
            <p:grpSpPr>
              <a:xfrm>
                <a:off x="3333750" y="1690688"/>
                <a:ext cx="6959600" cy="4953000"/>
                <a:chOff x="2425700" y="1690688"/>
                <a:chExt cx="6959600" cy="4953000"/>
              </a:xfrm>
            </p:grpSpPr>
            <p:sp>
              <p:nvSpPr>
                <p:cNvPr id="164" name="Ellipse 163">
                  <a:extLst>
                    <a:ext uri="{FF2B5EF4-FFF2-40B4-BE49-F238E27FC236}">
                      <a16:creationId xmlns:a16="http://schemas.microsoft.com/office/drawing/2014/main" id="{DE79E996-C8A0-9739-B419-DC0CE6943A47}"/>
                    </a:ext>
                  </a:extLst>
                </p:cNvPr>
                <p:cNvSpPr/>
                <p:nvPr/>
              </p:nvSpPr>
              <p:spPr>
                <a:xfrm>
                  <a:off x="2425700" y="1690688"/>
                  <a:ext cx="4953000" cy="4953000"/>
                </a:xfrm>
                <a:prstGeom prst="ellipse">
                  <a:avLst/>
                </a:prstGeom>
                <a:noFill/>
                <a:ln w="19050">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
                </a:p>
              </p:txBody>
            </p:sp>
            <p:sp>
              <p:nvSpPr>
                <p:cNvPr id="165" name="Ellipse 164">
                  <a:extLst>
                    <a:ext uri="{FF2B5EF4-FFF2-40B4-BE49-F238E27FC236}">
                      <a16:creationId xmlns:a16="http://schemas.microsoft.com/office/drawing/2014/main" id="{7F897E79-C40E-F67F-A609-721D77B7E036}"/>
                    </a:ext>
                  </a:extLst>
                </p:cNvPr>
                <p:cNvSpPr/>
                <p:nvPr/>
              </p:nvSpPr>
              <p:spPr>
                <a:xfrm>
                  <a:off x="4432300" y="1690688"/>
                  <a:ext cx="4953000" cy="4953000"/>
                </a:xfrm>
                <a:prstGeom prst="ellipse">
                  <a:avLst/>
                </a:prstGeom>
                <a:no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
                </a:p>
              </p:txBody>
            </p:sp>
          </p:grpSp>
          <p:sp>
            <p:nvSpPr>
              <p:cNvPr id="156" name="ZoneTexte 155">
                <a:extLst>
                  <a:ext uri="{FF2B5EF4-FFF2-40B4-BE49-F238E27FC236}">
                    <a16:creationId xmlns:a16="http://schemas.microsoft.com/office/drawing/2014/main" id="{1EFAE6FA-6446-0825-9D50-2842FCF3E0C5}"/>
                  </a:ext>
                </a:extLst>
              </p:cNvPr>
              <p:cNvSpPr txBox="1"/>
              <p:nvPr/>
            </p:nvSpPr>
            <p:spPr>
              <a:xfrm>
                <a:off x="4809528" y="1582124"/>
                <a:ext cx="1547415" cy="954106"/>
              </a:xfrm>
              <a:prstGeom prst="rect">
                <a:avLst/>
              </a:prstGeom>
              <a:solidFill>
                <a:srgbClr val="FFFF00"/>
              </a:solidFill>
              <a:ln>
                <a:solidFill>
                  <a:schemeClr val="tx1"/>
                </a:solidFill>
              </a:ln>
            </p:spPr>
            <p:txBody>
              <a:bodyPr wrap="square">
                <a:normAutofit fontScale="25000" lnSpcReduction="20000"/>
              </a:bodyPr>
              <a:lstStyle/>
              <a:p>
                <a:pPr algn="ctr"/>
                <a:endParaRPr lang="fr-FR" sz="100" dirty="0"/>
              </a:p>
            </p:txBody>
          </p:sp>
          <p:sp>
            <p:nvSpPr>
              <p:cNvPr id="157" name="ZoneTexte 156">
                <a:extLst>
                  <a:ext uri="{FF2B5EF4-FFF2-40B4-BE49-F238E27FC236}">
                    <a16:creationId xmlns:a16="http://schemas.microsoft.com/office/drawing/2014/main" id="{8C8EB9B7-8768-3B39-9A6F-3AEF7D53D67A}"/>
                  </a:ext>
                </a:extLst>
              </p:cNvPr>
              <p:cNvSpPr txBox="1"/>
              <p:nvPr/>
            </p:nvSpPr>
            <p:spPr>
              <a:xfrm>
                <a:off x="8319492" y="2646919"/>
                <a:ext cx="1547415" cy="738664"/>
              </a:xfrm>
              <a:prstGeom prst="rect">
                <a:avLst/>
              </a:prstGeom>
              <a:solidFill>
                <a:srgbClr val="FFFF00"/>
              </a:solidFill>
              <a:ln>
                <a:solidFill>
                  <a:schemeClr val="tx1"/>
                </a:solidFill>
              </a:ln>
            </p:spPr>
            <p:txBody>
              <a:bodyPr wrap="square">
                <a:noAutofit/>
              </a:bodyPr>
              <a:lstStyle/>
              <a:p>
                <a:pPr algn="ctr"/>
                <a:endParaRPr lang="fr-FR" sz="100" dirty="0"/>
              </a:p>
            </p:txBody>
          </p:sp>
          <p:sp>
            <p:nvSpPr>
              <p:cNvPr id="159" name="ZoneTexte 158">
                <a:extLst>
                  <a:ext uri="{FF2B5EF4-FFF2-40B4-BE49-F238E27FC236}">
                    <a16:creationId xmlns:a16="http://schemas.microsoft.com/office/drawing/2014/main" id="{8A9EFD48-FAA1-8C1F-FD0A-9B27538F0470}"/>
                  </a:ext>
                </a:extLst>
              </p:cNvPr>
              <p:cNvSpPr txBox="1"/>
              <p:nvPr/>
            </p:nvSpPr>
            <p:spPr>
              <a:xfrm>
                <a:off x="3773091" y="2754641"/>
                <a:ext cx="1547415" cy="523220"/>
              </a:xfrm>
              <a:prstGeom prst="rect">
                <a:avLst/>
              </a:prstGeom>
              <a:solidFill>
                <a:srgbClr val="FFFF00"/>
              </a:solidFill>
              <a:ln>
                <a:solidFill>
                  <a:schemeClr val="tx1"/>
                </a:solidFill>
              </a:ln>
            </p:spPr>
            <p:txBody>
              <a:bodyPr wrap="square">
                <a:noAutofit/>
              </a:bodyPr>
              <a:lstStyle/>
              <a:p>
                <a:pPr algn="ctr"/>
                <a:endParaRPr lang="fr-FR" sz="100" dirty="0"/>
              </a:p>
            </p:txBody>
          </p:sp>
          <p:sp>
            <p:nvSpPr>
              <p:cNvPr id="160" name="ZoneTexte 159">
                <a:extLst>
                  <a:ext uri="{FF2B5EF4-FFF2-40B4-BE49-F238E27FC236}">
                    <a16:creationId xmlns:a16="http://schemas.microsoft.com/office/drawing/2014/main" id="{497A55C3-FA13-BE5D-0FC7-46782E31B91A}"/>
                  </a:ext>
                </a:extLst>
              </p:cNvPr>
              <p:cNvSpPr txBox="1"/>
              <p:nvPr/>
            </p:nvSpPr>
            <p:spPr>
              <a:xfrm>
                <a:off x="8583017" y="3797856"/>
                <a:ext cx="1547415" cy="954107"/>
              </a:xfrm>
              <a:prstGeom prst="rect">
                <a:avLst/>
              </a:prstGeom>
              <a:solidFill>
                <a:srgbClr val="FFFF00"/>
              </a:solidFill>
              <a:ln>
                <a:solidFill>
                  <a:schemeClr val="tx1"/>
                </a:solidFill>
              </a:ln>
            </p:spPr>
            <p:txBody>
              <a:bodyPr wrap="square">
                <a:normAutofit fontScale="25000" lnSpcReduction="20000"/>
              </a:bodyPr>
              <a:lstStyle/>
              <a:p>
                <a:pPr algn="ctr"/>
                <a:endParaRPr lang="fr-FR" sz="100" dirty="0"/>
              </a:p>
            </p:txBody>
          </p:sp>
          <p:sp>
            <p:nvSpPr>
              <p:cNvPr id="161" name="ZoneTexte 160">
                <a:extLst>
                  <a:ext uri="{FF2B5EF4-FFF2-40B4-BE49-F238E27FC236}">
                    <a16:creationId xmlns:a16="http://schemas.microsoft.com/office/drawing/2014/main" id="{FED810C0-AFB7-820C-7380-19E858BC1D1A}"/>
                  </a:ext>
                </a:extLst>
              </p:cNvPr>
              <p:cNvSpPr txBox="1"/>
              <p:nvPr/>
            </p:nvSpPr>
            <p:spPr>
              <a:xfrm>
                <a:off x="3506192" y="3433873"/>
                <a:ext cx="1547415" cy="1169551"/>
              </a:xfrm>
              <a:prstGeom prst="rect">
                <a:avLst/>
              </a:prstGeom>
              <a:solidFill>
                <a:srgbClr val="FFFF00"/>
              </a:solidFill>
              <a:ln>
                <a:solidFill>
                  <a:schemeClr val="tx1"/>
                </a:solidFill>
              </a:ln>
            </p:spPr>
            <p:txBody>
              <a:bodyPr wrap="square">
                <a:normAutofit fontScale="25000" lnSpcReduction="20000"/>
              </a:bodyPr>
              <a:lstStyle/>
              <a:p>
                <a:pPr algn="ctr"/>
                <a:endParaRPr lang="fr-FR" sz="100" dirty="0"/>
              </a:p>
            </p:txBody>
          </p:sp>
          <p:sp>
            <p:nvSpPr>
              <p:cNvPr id="162" name="ZoneTexte 161">
                <a:extLst>
                  <a:ext uri="{FF2B5EF4-FFF2-40B4-BE49-F238E27FC236}">
                    <a16:creationId xmlns:a16="http://schemas.microsoft.com/office/drawing/2014/main" id="{D920FDDC-D39A-B3C7-2609-498E895AC47C}"/>
                  </a:ext>
                </a:extLst>
              </p:cNvPr>
              <p:cNvSpPr txBox="1"/>
              <p:nvPr/>
            </p:nvSpPr>
            <p:spPr>
              <a:xfrm>
                <a:off x="3773091" y="4776948"/>
                <a:ext cx="1547415" cy="738664"/>
              </a:xfrm>
              <a:prstGeom prst="rect">
                <a:avLst/>
              </a:prstGeom>
              <a:solidFill>
                <a:srgbClr val="FFFF00"/>
              </a:solidFill>
              <a:ln>
                <a:solidFill>
                  <a:schemeClr val="tx1"/>
                </a:solidFill>
              </a:ln>
            </p:spPr>
            <p:txBody>
              <a:bodyPr wrap="square">
                <a:noAutofit/>
              </a:bodyPr>
              <a:lstStyle/>
              <a:p>
                <a:pPr algn="ctr"/>
                <a:endParaRPr lang="fr-FR" sz="100" dirty="0"/>
              </a:p>
            </p:txBody>
          </p:sp>
          <p:sp>
            <p:nvSpPr>
              <p:cNvPr id="163" name="ZoneTexte 162">
                <a:extLst>
                  <a:ext uri="{FF2B5EF4-FFF2-40B4-BE49-F238E27FC236}">
                    <a16:creationId xmlns:a16="http://schemas.microsoft.com/office/drawing/2014/main" id="{FC1B3B8A-F0C9-A586-3661-625A611F8C18}"/>
                  </a:ext>
                </a:extLst>
              </p:cNvPr>
              <p:cNvSpPr txBox="1"/>
              <p:nvPr/>
            </p:nvSpPr>
            <p:spPr>
              <a:xfrm>
                <a:off x="4758085" y="5776702"/>
                <a:ext cx="1547415" cy="738663"/>
              </a:xfrm>
              <a:prstGeom prst="rect">
                <a:avLst/>
              </a:prstGeom>
              <a:solidFill>
                <a:srgbClr val="FFFF00"/>
              </a:solidFill>
              <a:ln>
                <a:solidFill>
                  <a:schemeClr val="tx1"/>
                </a:solidFill>
              </a:ln>
            </p:spPr>
            <p:txBody>
              <a:bodyPr wrap="square">
                <a:noAutofit/>
              </a:bodyPr>
              <a:lstStyle/>
              <a:p>
                <a:pPr algn="ctr"/>
                <a:endParaRPr lang="fr-FR" sz="100" dirty="0"/>
              </a:p>
            </p:txBody>
          </p:sp>
        </p:grpSp>
        <p:sp>
          <p:nvSpPr>
            <p:cNvPr id="508" name="Phylactère : pensées 507">
              <a:extLst>
                <a:ext uri="{FF2B5EF4-FFF2-40B4-BE49-F238E27FC236}">
                  <a16:creationId xmlns:a16="http://schemas.microsoft.com/office/drawing/2014/main" id="{10BDDA47-2833-1043-CA72-ACF79FF09040}"/>
                </a:ext>
              </a:extLst>
            </p:cNvPr>
            <p:cNvSpPr/>
            <p:nvPr/>
          </p:nvSpPr>
          <p:spPr>
            <a:xfrm>
              <a:off x="-2766666" y="6259656"/>
              <a:ext cx="2410616" cy="1363221"/>
            </a:xfrm>
            <a:prstGeom prst="cloudCallou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
            </a:p>
          </p:txBody>
        </p:sp>
      </p:grpSp>
      <p:grpSp>
        <p:nvGrpSpPr>
          <p:cNvPr id="221" name="Groupe 220">
            <a:extLst>
              <a:ext uri="{FF2B5EF4-FFF2-40B4-BE49-F238E27FC236}">
                <a16:creationId xmlns:a16="http://schemas.microsoft.com/office/drawing/2014/main" id="{445AC931-65CA-C72C-748C-C53AEDF4B1C1}"/>
              </a:ext>
            </a:extLst>
          </p:cNvPr>
          <p:cNvGrpSpPr/>
          <p:nvPr/>
        </p:nvGrpSpPr>
        <p:grpSpPr>
          <a:xfrm>
            <a:off x="3185892" y="4112979"/>
            <a:ext cx="1633939" cy="794209"/>
            <a:chOff x="6713702" y="745208"/>
            <a:chExt cx="4891967" cy="2377838"/>
          </a:xfrm>
        </p:grpSpPr>
        <p:pic>
          <p:nvPicPr>
            <p:cNvPr id="167" name="Graphique 166" descr="Ramper avec un remplissage uni">
              <a:extLst>
                <a:ext uri="{FF2B5EF4-FFF2-40B4-BE49-F238E27FC236}">
                  <a16:creationId xmlns:a16="http://schemas.microsoft.com/office/drawing/2014/main" id="{870D5E1A-77D4-49DC-F4F8-9BCCA41B8D4D}"/>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6713702" y="2208646"/>
              <a:ext cx="914400" cy="914400"/>
            </a:xfrm>
            <a:prstGeom prst="rect">
              <a:avLst/>
            </a:prstGeom>
          </p:spPr>
        </p:pic>
        <p:pic>
          <p:nvPicPr>
            <p:cNvPr id="168" name="Graphique 167" descr="Marcher avec un remplissage uni">
              <a:extLst>
                <a:ext uri="{FF2B5EF4-FFF2-40B4-BE49-F238E27FC236}">
                  <a16:creationId xmlns:a16="http://schemas.microsoft.com/office/drawing/2014/main" id="{3B0D002A-D286-229B-DF74-7E2E897CE300}"/>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7650711" y="1900170"/>
              <a:ext cx="914400" cy="914400"/>
            </a:xfrm>
            <a:prstGeom prst="rect">
              <a:avLst/>
            </a:prstGeom>
          </p:spPr>
        </p:pic>
        <p:pic>
          <p:nvPicPr>
            <p:cNvPr id="169" name="Graphique 168" descr="Courir avec un remplissage uni">
              <a:extLst>
                <a:ext uri="{FF2B5EF4-FFF2-40B4-BE49-F238E27FC236}">
                  <a16:creationId xmlns:a16="http://schemas.microsoft.com/office/drawing/2014/main" id="{60B0554E-F666-7B8D-D36F-AA980E5AB6CB}"/>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8587720" y="1591693"/>
              <a:ext cx="914400" cy="914400"/>
            </a:xfrm>
            <a:prstGeom prst="rect">
              <a:avLst/>
            </a:prstGeom>
          </p:spPr>
        </p:pic>
        <p:pic>
          <p:nvPicPr>
            <p:cNvPr id="170" name="Graphique 169" descr="Héros avec un remplissage uni">
              <a:extLst>
                <a:ext uri="{FF2B5EF4-FFF2-40B4-BE49-F238E27FC236}">
                  <a16:creationId xmlns:a16="http://schemas.microsoft.com/office/drawing/2014/main" id="{15AD81D1-EAC1-F4E8-FB1D-E81727F14D64}"/>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10691269" y="745208"/>
              <a:ext cx="914400" cy="914400"/>
            </a:xfrm>
            <a:prstGeom prst="rect">
              <a:avLst/>
            </a:prstGeom>
          </p:spPr>
        </p:pic>
        <p:pic>
          <p:nvPicPr>
            <p:cNvPr id="171" name="Graphique 170" descr="Aspiration avec un remplissage uni">
              <a:extLst>
                <a:ext uri="{FF2B5EF4-FFF2-40B4-BE49-F238E27FC236}">
                  <a16:creationId xmlns:a16="http://schemas.microsoft.com/office/drawing/2014/main" id="{135B151E-7D9F-8804-B576-C8610419CED0}"/>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9524729" y="1053685"/>
              <a:ext cx="1143931" cy="1143931"/>
            </a:xfrm>
            <a:prstGeom prst="rect">
              <a:avLst/>
            </a:prstGeom>
          </p:spPr>
        </p:pic>
      </p:grpSp>
      <p:pic>
        <p:nvPicPr>
          <p:cNvPr id="223" name="Image 222" descr="Une image contenant texte, équipement électronique&#10;&#10;Description générée automatiquement">
            <a:extLst>
              <a:ext uri="{FF2B5EF4-FFF2-40B4-BE49-F238E27FC236}">
                <a16:creationId xmlns:a16="http://schemas.microsoft.com/office/drawing/2014/main" id="{93721221-935E-F30F-E6DB-EDAC5185945A}"/>
              </a:ext>
            </a:extLst>
          </p:cNvPr>
          <p:cNvPicPr>
            <a:picLocks noChangeAspect="1"/>
          </p:cNvPicPr>
          <p:nvPr/>
        </p:nvPicPr>
        <p:blipFill rotWithShape="1">
          <a:blip r:embed="rId27">
            <a:extLst>
              <a:ext uri="{28A0092B-C50C-407E-A947-70E740481C1C}">
                <a14:useLocalDpi xmlns:a14="http://schemas.microsoft.com/office/drawing/2010/main" val="0"/>
              </a:ext>
            </a:extLst>
          </a:blip>
          <a:srcRect t="16103"/>
          <a:stretch/>
        </p:blipFill>
        <p:spPr>
          <a:xfrm>
            <a:off x="7398508" y="4002349"/>
            <a:ext cx="1579360" cy="526674"/>
          </a:xfrm>
          <a:prstGeom prst="rect">
            <a:avLst/>
          </a:prstGeom>
        </p:spPr>
      </p:pic>
      <p:pic>
        <p:nvPicPr>
          <p:cNvPr id="225" name="Graphique 224" descr="Employée de bureau avec un remplissage uni">
            <a:extLst>
              <a:ext uri="{FF2B5EF4-FFF2-40B4-BE49-F238E27FC236}">
                <a16:creationId xmlns:a16="http://schemas.microsoft.com/office/drawing/2014/main" id="{13FF6EB3-D8D6-62AC-CB5A-18944104F207}"/>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7572984" y="4483357"/>
            <a:ext cx="321143" cy="321143"/>
          </a:xfrm>
          <a:prstGeom prst="rect">
            <a:avLst/>
          </a:prstGeom>
        </p:spPr>
      </p:pic>
      <p:pic>
        <p:nvPicPr>
          <p:cNvPr id="226" name="Graphique 225" descr="Employée de bureau avec un remplissage uni">
            <a:extLst>
              <a:ext uri="{FF2B5EF4-FFF2-40B4-BE49-F238E27FC236}">
                <a16:creationId xmlns:a16="http://schemas.microsoft.com/office/drawing/2014/main" id="{BA7F0214-C45B-F04B-6F7E-452DDD56A341}"/>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8369770" y="4483357"/>
            <a:ext cx="321143" cy="321143"/>
          </a:xfrm>
          <a:prstGeom prst="rect">
            <a:avLst/>
          </a:prstGeom>
        </p:spPr>
      </p:pic>
      <p:grpSp>
        <p:nvGrpSpPr>
          <p:cNvPr id="241" name="Groupe 240">
            <a:extLst>
              <a:ext uri="{FF2B5EF4-FFF2-40B4-BE49-F238E27FC236}">
                <a16:creationId xmlns:a16="http://schemas.microsoft.com/office/drawing/2014/main" id="{AF2767CF-AF62-6C17-1395-1BB6C7D184D0}"/>
              </a:ext>
            </a:extLst>
          </p:cNvPr>
          <p:cNvGrpSpPr/>
          <p:nvPr/>
        </p:nvGrpSpPr>
        <p:grpSpPr>
          <a:xfrm>
            <a:off x="9468682" y="4046583"/>
            <a:ext cx="1654219" cy="860605"/>
            <a:chOff x="597924" y="3822073"/>
            <a:chExt cx="5114324" cy="2660719"/>
          </a:xfrm>
        </p:grpSpPr>
        <p:pic>
          <p:nvPicPr>
            <p:cNvPr id="227" name="Graphique 226" descr="Homme agriculteur avec un remplissage uni">
              <a:extLst>
                <a:ext uri="{FF2B5EF4-FFF2-40B4-BE49-F238E27FC236}">
                  <a16:creationId xmlns:a16="http://schemas.microsoft.com/office/drawing/2014/main" id="{6D3DFE38-A43C-DA77-898F-17F7E9EA7D78}"/>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2625697" y="5568392"/>
              <a:ext cx="914400" cy="914400"/>
            </a:xfrm>
            <a:prstGeom prst="rect">
              <a:avLst/>
            </a:prstGeom>
          </p:spPr>
        </p:pic>
        <p:pic>
          <p:nvPicPr>
            <p:cNvPr id="228" name="Graphique 227" descr="Homme soldat avec un remplissage uni">
              <a:extLst>
                <a:ext uri="{FF2B5EF4-FFF2-40B4-BE49-F238E27FC236}">
                  <a16:creationId xmlns:a16="http://schemas.microsoft.com/office/drawing/2014/main" id="{65A6228B-1358-179E-0135-CD0E9CB33868}"/>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597924" y="5568392"/>
              <a:ext cx="914400" cy="914400"/>
            </a:xfrm>
            <a:prstGeom prst="rect">
              <a:avLst/>
            </a:prstGeom>
          </p:spPr>
        </p:pic>
        <p:pic>
          <p:nvPicPr>
            <p:cNvPr id="229" name="Graphique 228" descr="Homme pilote avec un remplissage uni">
              <a:extLst>
                <a:ext uri="{FF2B5EF4-FFF2-40B4-BE49-F238E27FC236}">
                  <a16:creationId xmlns:a16="http://schemas.microsoft.com/office/drawing/2014/main" id="{EC7CC549-2E65-E765-DF7F-A51124D006F6}"/>
                </a:ext>
              </a:extLst>
            </p:cNvPr>
            <p:cNvPicPr>
              <a:picLocks noChangeAspect="1"/>
            </p:cNvPicPr>
            <p:nvPr/>
          </p:nvPicPr>
          <p:blipFill>
            <a:blip r:embed="rId36">
              <a:extLst>
                <a:ext uri="{28A0092B-C50C-407E-A947-70E740481C1C}">
                  <a14:useLocalDpi xmlns:a14="http://schemas.microsoft.com/office/drawing/2010/main" val="0"/>
                </a:ext>
                <a:ext uri="{96DAC541-7B7A-43D3-8B79-37D633B846F1}">
                  <asvg:svgBlip xmlns:asvg="http://schemas.microsoft.com/office/drawing/2016/SVG/main" r:embed="rId37"/>
                </a:ext>
              </a:extLst>
            </a:blip>
            <a:stretch>
              <a:fillRect/>
            </a:stretch>
          </p:blipFill>
          <p:spPr>
            <a:xfrm>
              <a:off x="2449663" y="3822073"/>
              <a:ext cx="914400" cy="914400"/>
            </a:xfrm>
            <a:prstGeom prst="rect">
              <a:avLst/>
            </a:prstGeom>
          </p:spPr>
        </p:pic>
        <p:pic>
          <p:nvPicPr>
            <p:cNvPr id="230" name="Graphique 229" descr="Femme juge avec un remplissage uni">
              <a:extLst>
                <a:ext uri="{FF2B5EF4-FFF2-40B4-BE49-F238E27FC236}">
                  <a16:creationId xmlns:a16="http://schemas.microsoft.com/office/drawing/2014/main" id="{4F179C9C-BAB0-31C5-E038-54056F497D15}"/>
                </a:ext>
              </a:extLst>
            </p:cNvPr>
            <p:cNvPicPr>
              <a:picLocks noChangeAspect="1"/>
            </p:cNvPicPr>
            <p:nvPr/>
          </p:nvPicPr>
          <p:blipFill>
            <a:blip r:embed="rId38">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1415088" y="4619021"/>
              <a:ext cx="914400" cy="914400"/>
            </a:xfrm>
            <a:prstGeom prst="rect">
              <a:avLst/>
            </a:prstGeom>
          </p:spPr>
        </p:pic>
        <p:pic>
          <p:nvPicPr>
            <p:cNvPr id="231" name="Graphique 230" descr="Homme capitaine avec un remplissage uni">
              <a:extLst>
                <a:ext uri="{FF2B5EF4-FFF2-40B4-BE49-F238E27FC236}">
                  <a16:creationId xmlns:a16="http://schemas.microsoft.com/office/drawing/2014/main" id="{A3443014-8BD0-FB0F-16FC-D594232A8D9E}"/>
                </a:ext>
              </a:extLst>
            </p:cNvPr>
            <p:cNvPicPr>
              <a:picLocks noChangeAspect="1"/>
            </p:cNvPicPr>
            <p:nvPr/>
          </p:nvPicPr>
          <p:blipFill>
            <a:blip r:embed="rId40">
              <a:extLst>
                <a:ext uri="{28A0092B-C50C-407E-A947-70E740481C1C}">
                  <a14:useLocalDpi xmlns:a14="http://schemas.microsoft.com/office/drawing/2010/main" val="0"/>
                </a:ext>
                <a:ext uri="{96DAC541-7B7A-43D3-8B79-37D633B846F1}">
                  <asvg:svgBlip xmlns:asvg="http://schemas.microsoft.com/office/drawing/2016/SVG/main" r:embed="rId41"/>
                </a:ext>
              </a:extLst>
            </a:blip>
            <a:stretch>
              <a:fillRect/>
            </a:stretch>
          </p:blipFill>
          <p:spPr>
            <a:xfrm>
              <a:off x="3442861" y="4581233"/>
              <a:ext cx="914400" cy="914400"/>
            </a:xfrm>
            <a:prstGeom prst="rect">
              <a:avLst/>
            </a:prstGeom>
          </p:spPr>
        </p:pic>
        <p:pic>
          <p:nvPicPr>
            <p:cNvPr id="232" name="Graphique 231" descr="Homme ouvrier du bâtiment avec un remplissage uni">
              <a:extLst>
                <a:ext uri="{FF2B5EF4-FFF2-40B4-BE49-F238E27FC236}">
                  <a16:creationId xmlns:a16="http://schemas.microsoft.com/office/drawing/2014/main" id="{5EC47D51-00CF-9F94-41EC-328CA322697B}"/>
                </a:ext>
              </a:extLst>
            </p:cNvPr>
            <p:cNvPicPr>
              <a:picLocks noChangeAspect="1"/>
            </p:cNvPicPr>
            <p:nvPr/>
          </p:nvPicPr>
          <p:blipFill>
            <a:blip r:embed="rId42">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4191143" y="5503565"/>
              <a:ext cx="914400" cy="914400"/>
            </a:xfrm>
            <a:prstGeom prst="rect">
              <a:avLst/>
            </a:prstGeom>
          </p:spPr>
        </p:pic>
        <p:cxnSp>
          <p:nvCxnSpPr>
            <p:cNvPr id="233" name="Connecteur : en angle 232">
              <a:extLst>
                <a:ext uri="{FF2B5EF4-FFF2-40B4-BE49-F238E27FC236}">
                  <a16:creationId xmlns:a16="http://schemas.microsoft.com/office/drawing/2014/main" id="{410F457A-8845-B582-E06A-1F0C8BCF4B25}"/>
                </a:ext>
              </a:extLst>
            </p:cNvPr>
            <p:cNvCxnSpPr>
              <a:stCxn id="227" idx="1"/>
              <a:endCxn id="230" idx="2"/>
            </p:cNvCxnSpPr>
            <p:nvPr/>
          </p:nvCxnSpPr>
          <p:spPr>
            <a:xfrm rot="10800000">
              <a:off x="1872289" y="5533422"/>
              <a:ext cx="753409" cy="492171"/>
            </a:xfrm>
            <a:prstGeom prst="bentConnector2">
              <a:avLst/>
            </a:prstGeom>
            <a:ln w="9525">
              <a:tailEnd type="triangle"/>
            </a:ln>
          </p:spPr>
          <p:style>
            <a:lnRef idx="1">
              <a:schemeClr val="accent1"/>
            </a:lnRef>
            <a:fillRef idx="0">
              <a:schemeClr val="accent1"/>
            </a:fillRef>
            <a:effectRef idx="0">
              <a:schemeClr val="accent1"/>
            </a:effectRef>
            <a:fontRef idx="minor">
              <a:schemeClr val="tx1"/>
            </a:fontRef>
          </p:style>
        </p:cxnSp>
        <p:cxnSp>
          <p:nvCxnSpPr>
            <p:cNvPr id="234" name="Connecteur : en angle 233">
              <a:extLst>
                <a:ext uri="{FF2B5EF4-FFF2-40B4-BE49-F238E27FC236}">
                  <a16:creationId xmlns:a16="http://schemas.microsoft.com/office/drawing/2014/main" id="{48F5FDD7-5562-03EF-F565-160C0158DBC5}"/>
                </a:ext>
              </a:extLst>
            </p:cNvPr>
            <p:cNvCxnSpPr>
              <a:cxnSpLocks/>
              <a:stCxn id="228" idx="3"/>
              <a:endCxn id="230" idx="2"/>
            </p:cNvCxnSpPr>
            <p:nvPr/>
          </p:nvCxnSpPr>
          <p:spPr>
            <a:xfrm flipV="1">
              <a:off x="1512324" y="5533421"/>
              <a:ext cx="359964" cy="492171"/>
            </a:xfrm>
            <a:prstGeom prst="bentConnector2">
              <a:avLst/>
            </a:prstGeom>
            <a:ln w="9525">
              <a:tailEnd type="triangle"/>
            </a:ln>
          </p:spPr>
          <p:style>
            <a:lnRef idx="1">
              <a:schemeClr val="accent1"/>
            </a:lnRef>
            <a:fillRef idx="0">
              <a:schemeClr val="accent1"/>
            </a:fillRef>
            <a:effectRef idx="0">
              <a:schemeClr val="accent1"/>
            </a:effectRef>
            <a:fontRef idx="minor">
              <a:schemeClr val="tx1"/>
            </a:fontRef>
          </p:style>
        </p:cxnSp>
        <p:cxnSp>
          <p:nvCxnSpPr>
            <p:cNvPr id="235" name="Connecteur : en angle 234">
              <a:extLst>
                <a:ext uri="{FF2B5EF4-FFF2-40B4-BE49-F238E27FC236}">
                  <a16:creationId xmlns:a16="http://schemas.microsoft.com/office/drawing/2014/main" id="{499BCBDC-64A8-A91F-606E-DC65695AE47E}"/>
                </a:ext>
              </a:extLst>
            </p:cNvPr>
            <p:cNvCxnSpPr/>
            <p:nvPr/>
          </p:nvCxnSpPr>
          <p:spPr>
            <a:xfrm rot="10800000">
              <a:off x="3855927" y="5530603"/>
              <a:ext cx="388111" cy="492171"/>
            </a:xfrm>
            <a:prstGeom prst="bentConnector2">
              <a:avLst/>
            </a:prstGeom>
            <a:ln w="9525">
              <a:tailEnd type="triangle"/>
            </a:ln>
          </p:spPr>
          <p:style>
            <a:lnRef idx="1">
              <a:schemeClr val="accent1"/>
            </a:lnRef>
            <a:fillRef idx="0">
              <a:schemeClr val="accent1"/>
            </a:fillRef>
            <a:effectRef idx="0">
              <a:schemeClr val="accent1"/>
            </a:effectRef>
            <a:fontRef idx="minor">
              <a:schemeClr val="tx1"/>
            </a:fontRef>
          </p:style>
        </p:cxnSp>
        <p:cxnSp>
          <p:nvCxnSpPr>
            <p:cNvPr id="236" name="Connecteur : en angle 235">
              <a:extLst>
                <a:ext uri="{FF2B5EF4-FFF2-40B4-BE49-F238E27FC236}">
                  <a16:creationId xmlns:a16="http://schemas.microsoft.com/office/drawing/2014/main" id="{44D93923-D4FF-7CB3-CCC6-674185B42D53}"/>
                </a:ext>
              </a:extLst>
            </p:cNvPr>
            <p:cNvCxnSpPr>
              <a:cxnSpLocks/>
            </p:cNvCxnSpPr>
            <p:nvPr/>
          </p:nvCxnSpPr>
          <p:spPr>
            <a:xfrm flipV="1">
              <a:off x="3484238" y="5530603"/>
              <a:ext cx="359964" cy="492171"/>
            </a:xfrm>
            <a:prstGeom prst="bentConnector2">
              <a:avLst/>
            </a:prstGeom>
            <a:ln w="9525">
              <a:tailEnd type="triangle"/>
            </a:ln>
          </p:spPr>
          <p:style>
            <a:lnRef idx="1">
              <a:schemeClr val="accent1"/>
            </a:lnRef>
            <a:fillRef idx="0">
              <a:schemeClr val="accent1"/>
            </a:fillRef>
            <a:effectRef idx="0">
              <a:schemeClr val="accent1"/>
            </a:effectRef>
            <a:fontRef idx="minor">
              <a:schemeClr val="tx1"/>
            </a:fontRef>
          </p:style>
        </p:cxnSp>
        <p:cxnSp>
          <p:nvCxnSpPr>
            <p:cNvPr id="237" name="Connecteur : en angle 236">
              <a:extLst>
                <a:ext uri="{FF2B5EF4-FFF2-40B4-BE49-F238E27FC236}">
                  <a16:creationId xmlns:a16="http://schemas.microsoft.com/office/drawing/2014/main" id="{79AB1EA9-20A4-18E6-2433-7E94D30EC82A}"/>
                </a:ext>
              </a:extLst>
            </p:cNvPr>
            <p:cNvCxnSpPr/>
            <p:nvPr/>
          </p:nvCxnSpPr>
          <p:spPr>
            <a:xfrm rot="10800000">
              <a:off x="2880416" y="4708734"/>
              <a:ext cx="388111" cy="492171"/>
            </a:xfrm>
            <a:prstGeom prst="bentConnector2">
              <a:avLst/>
            </a:prstGeom>
            <a:ln w="9525">
              <a:tailEnd type="triangle"/>
            </a:ln>
          </p:spPr>
          <p:style>
            <a:lnRef idx="1">
              <a:schemeClr val="accent1"/>
            </a:lnRef>
            <a:fillRef idx="0">
              <a:schemeClr val="accent1"/>
            </a:fillRef>
            <a:effectRef idx="0">
              <a:schemeClr val="accent1"/>
            </a:effectRef>
            <a:fontRef idx="minor">
              <a:schemeClr val="tx1"/>
            </a:fontRef>
          </p:style>
        </p:cxnSp>
        <p:cxnSp>
          <p:nvCxnSpPr>
            <p:cNvPr id="238" name="Connecteur : en angle 237">
              <a:extLst>
                <a:ext uri="{FF2B5EF4-FFF2-40B4-BE49-F238E27FC236}">
                  <a16:creationId xmlns:a16="http://schemas.microsoft.com/office/drawing/2014/main" id="{9B76C530-B7D6-290B-D2F1-109868FBB61B}"/>
                </a:ext>
              </a:extLst>
            </p:cNvPr>
            <p:cNvCxnSpPr>
              <a:cxnSpLocks/>
            </p:cNvCxnSpPr>
            <p:nvPr/>
          </p:nvCxnSpPr>
          <p:spPr>
            <a:xfrm flipV="1">
              <a:off x="2508727" y="4708734"/>
              <a:ext cx="359964" cy="492171"/>
            </a:xfrm>
            <a:prstGeom prst="bentConnector2">
              <a:avLst/>
            </a:prstGeom>
            <a:ln w="9525">
              <a:tailEnd type="triangle"/>
            </a:ln>
          </p:spPr>
          <p:style>
            <a:lnRef idx="1">
              <a:schemeClr val="accent1"/>
            </a:lnRef>
            <a:fillRef idx="0">
              <a:schemeClr val="accent1"/>
            </a:fillRef>
            <a:effectRef idx="0">
              <a:schemeClr val="accent1"/>
            </a:effectRef>
            <a:fontRef idx="minor">
              <a:schemeClr val="tx1"/>
            </a:fontRef>
          </p:style>
        </p:cxnSp>
        <p:pic>
          <p:nvPicPr>
            <p:cNvPr id="239" name="Graphique 238" descr="Femme électricienne avec un remplissage uni">
              <a:extLst>
                <a:ext uri="{FF2B5EF4-FFF2-40B4-BE49-F238E27FC236}">
                  <a16:creationId xmlns:a16="http://schemas.microsoft.com/office/drawing/2014/main" id="{FA4A49C3-34CE-ECEF-3D01-F7D659CAB1F9}"/>
                </a:ext>
              </a:extLst>
            </p:cNvPr>
            <p:cNvPicPr>
              <a:picLocks noChangeAspect="1"/>
            </p:cNvPicPr>
            <p:nvPr/>
          </p:nvPicPr>
          <p:blipFill>
            <a:blip r:embed="rId44">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4797848" y="4581233"/>
              <a:ext cx="914400" cy="914400"/>
            </a:xfrm>
            <a:prstGeom prst="rect">
              <a:avLst/>
            </a:prstGeom>
          </p:spPr>
        </p:pic>
        <p:cxnSp>
          <p:nvCxnSpPr>
            <p:cNvPr id="240" name="Connecteur : en angle 239">
              <a:extLst>
                <a:ext uri="{FF2B5EF4-FFF2-40B4-BE49-F238E27FC236}">
                  <a16:creationId xmlns:a16="http://schemas.microsoft.com/office/drawing/2014/main" id="{F4068B28-C6D6-3B39-A8A8-67527D28A73C}"/>
                </a:ext>
              </a:extLst>
            </p:cNvPr>
            <p:cNvCxnSpPr>
              <a:cxnSpLocks/>
            </p:cNvCxnSpPr>
            <p:nvPr/>
          </p:nvCxnSpPr>
          <p:spPr>
            <a:xfrm flipV="1">
              <a:off x="4895084" y="5503565"/>
              <a:ext cx="359964" cy="492171"/>
            </a:xfrm>
            <a:prstGeom prst="bentConnector2">
              <a:avLst/>
            </a:prstGeom>
            <a:ln w="9525">
              <a:tailEnd type="triangle"/>
            </a:ln>
          </p:spPr>
          <p:style>
            <a:lnRef idx="1">
              <a:schemeClr val="accent1"/>
            </a:lnRef>
            <a:fillRef idx="0">
              <a:schemeClr val="accent1"/>
            </a:fillRef>
            <a:effectRef idx="0">
              <a:schemeClr val="accent1"/>
            </a:effectRef>
            <a:fontRef idx="minor">
              <a:schemeClr val="tx1"/>
            </a:fontRef>
          </p:style>
        </p:cxnSp>
      </p:grpSp>
      <p:pic>
        <p:nvPicPr>
          <p:cNvPr id="459" name="Graphique 458" descr="Sablier 60% avec un remplissage uni">
            <a:extLst>
              <a:ext uri="{FF2B5EF4-FFF2-40B4-BE49-F238E27FC236}">
                <a16:creationId xmlns:a16="http://schemas.microsoft.com/office/drawing/2014/main" id="{666C35EB-BEB3-0409-5690-93063A27E849}"/>
              </a:ext>
            </a:extLst>
          </p:cNvPr>
          <p:cNvPicPr>
            <a:picLocks noChangeAspect="1"/>
          </p:cNvPicPr>
          <p:nvPr/>
        </p:nvPicPr>
        <p:blipFill>
          <a:blip r:embed="rId46">
            <a:extLst>
              <a:ext uri="{28A0092B-C50C-407E-A947-70E740481C1C}">
                <a14:useLocalDpi xmlns:a14="http://schemas.microsoft.com/office/drawing/2010/main" val="0"/>
              </a:ext>
              <a:ext uri="{96DAC541-7B7A-43D3-8B79-37D633B846F1}">
                <asvg:svgBlip xmlns:asvg="http://schemas.microsoft.com/office/drawing/2016/SVG/main" r:embed="rId47"/>
              </a:ext>
            </a:extLst>
          </a:blip>
          <a:stretch>
            <a:fillRect/>
          </a:stretch>
        </p:blipFill>
        <p:spPr>
          <a:xfrm>
            <a:off x="7410813" y="2220972"/>
            <a:ext cx="529250" cy="529248"/>
          </a:xfrm>
          <a:prstGeom prst="rect">
            <a:avLst/>
          </a:prstGeom>
        </p:spPr>
      </p:pic>
      <p:pic>
        <p:nvPicPr>
          <p:cNvPr id="461" name="Graphique 460" descr="Flèches de chevron avec un remplissage uni">
            <a:extLst>
              <a:ext uri="{FF2B5EF4-FFF2-40B4-BE49-F238E27FC236}">
                <a16:creationId xmlns:a16="http://schemas.microsoft.com/office/drawing/2014/main" id="{E363C8B5-3F70-5459-D6B7-263683D8F162}"/>
              </a:ext>
            </a:extLst>
          </p:cNvPr>
          <p:cNvPicPr>
            <a:picLocks noChangeAspect="1"/>
          </p:cNvPicPr>
          <p:nvPr/>
        </p:nvPicPr>
        <p:blipFill>
          <a:blip r:embed="rId48">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5340769" y="2231527"/>
            <a:ext cx="519831" cy="519829"/>
          </a:xfrm>
          <a:prstGeom prst="rect">
            <a:avLst/>
          </a:prstGeom>
        </p:spPr>
      </p:pic>
      <p:pic>
        <p:nvPicPr>
          <p:cNvPr id="462" name="Graphique 461" descr="Tête avec engrenages avec un remplissage uni">
            <a:extLst>
              <a:ext uri="{FF2B5EF4-FFF2-40B4-BE49-F238E27FC236}">
                <a16:creationId xmlns:a16="http://schemas.microsoft.com/office/drawing/2014/main" id="{1E562968-755F-E950-DFC7-495498D32201}"/>
              </a:ext>
            </a:extLst>
          </p:cNvPr>
          <p:cNvPicPr>
            <a:picLocks noChangeAspect="1"/>
          </p:cNvPicPr>
          <p:nvPr/>
        </p:nvPicPr>
        <p:blipFill>
          <a:blip r:embed="rId50">
            <a:extLst>
              <a:ext uri="{28A0092B-C50C-407E-A947-70E740481C1C}">
                <a14:useLocalDpi xmlns:a14="http://schemas.microsoft.com/office/drawing/2010/main" val="0"/>
              </a:ext>
              <a:ext uri="{96DAC541-7B7A-43D3-8B79-37D633B846F1}">
                <asvg:svgBlip xmlns:asvg="http://schemas.microsoft.com/office/drawing/2016/SVG/main" r:embed="rId51"/>
              </a:ext>
            </a:extLst>
          </a:blip>
          <a:stretch>
            <a:fillRect/>
          </a:stretch>
        </p:blipFill>
        <p:spPr>
          <a:xfrm>
            <a:off x="9532918" y="2240224"/>
            <a:ext cx="579005" cy="579003"/>
          </a:xfrm>
          <a:prstGeom prst="rect">
            <a:avLst/>
          </a:prstGeom>
        </p:spPr>
      </p:pic>
      <p:pic>
        <p:nvPicPr>
          <p:cNvPr id="464" name="Graphique 463" descr="Informations avec un remplissage uni">
            <a:extLst>
              <a:ext uri="{FF2B5EF4-FFF2-40B4-BE49-F238E27FC236}">
                <a16:creationId xmlns:a16="http://schemas.microsoft.com/office/drawing/2014/main" id="{148372F3-DA97-2574-26CC-CEE567695777}"/>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6343064" y="2223559"/>
            <a:ext cx="555974" cy="555972"/>
          </a:xfrm>
          <a:prstGeom prst="rect">
            <a:avLst/>
          </a:prstGeom>
        </p:spPr>
      </p:pic>
      <p:sp>
        <p:nvSpPr>
          <p:cNvPr id="476" name="Rectangle 475">
            <a:extLst>
              <a:ext uri="{FF2B5EF4-FFF2-40B4-BE49-F238E27FC236}">
                <a16:creationId xmlns:a16="http://schemas.microsoft.com/office/drawing/2014/main" id="{3ED14596-D083-E41F-829E-2AF3F1BB4CE7}"/>
              </a:ext>
            </a:extLst>
          </p:cNvPr>
          <p:cNvSpPr/>
          <p:nvPr/>
        </p:nvSpPr>
        <p:spPr>
          <a:xfrm>
            <a:off x="9267721"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Compétences pour motiver des futurs leaders </a:t>
            </a:r>
          </a:p>
        </p:txBody>
      </p:sp>
      <p:sp>
        <p:nvSpPr>
          <p:cNvPr id="477" name="Rectangle 476">
            <a:extLst>
              <a:ext uri="{FF2B5EF4-FFF2-40B4-BE49-F238E27FC236}">
                <a16:creationId xmlns:a16="http://schemas.microsoft.com/office/drawing/2014/main" id="{E43CF552-CC4A-C7C7-C3D4-107AA6150E88}"/>
              </a:ext>
            </a:extLst>
          </p:cNvPr>
          <p:cNvSpPr/>
          <p:nvPr/>
        </p:nvSpPr>
        <p:spPr>
          <a:xfrm>
            <a:off x="7179683" y="2832487"/>
            <a:ext cx="996523" cy="60207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pour préparer les membres à l’autonomisation</a:t>
            </a:r>
          </a:p>
        </p:txBody>
      </p:sp>
      <p:sp>
        <p:nvSpPr>
          <p:cNvPr id="478" name="Rectangle 477">
            <a:extLst>
              <a:ext uri="{FF2B5EF4-FFF2-40B4-BE49-F238E27FC236}">
                <a16:creationId xmlns:a16="http://schemas.microsoft.com/office/drawing/2014/main" id="{5C993DCF-2059-7B44-E67A-8B4FF09FBF19}"/>
              </a:ext>
            </a:extLst>
          </p:cNvPr>
          <p:cNvSpPr/>
          <p:nvPr/>
        </p:nvSpPr>
        <p:spPr>
          <a:xfrm>
            <a:off x="6124487"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Connaissance des membres, particulièrement des leaders potentiels</a:t>
            </a:r>
          </a:p>
        </p:txBody>
      </p:sp>
      <p:sp>
        <p:nvSpPr>
          <p:cNvPr id="479" name="Rectangle 478">
            <a:extLst>
              <a:ext uri="{FF2B5EF4-FFF2-40B4-BE49-F238E27FC236}">
                <a16:creationId xmlns:a16="http://schemas.microsoft.com/office/drawing/2014/main" id="{059FC049-2A14-BDB7-2B4C-0F055FCFDA59}"/>
              </a:ext>
            </a:extLst>
          </p:cNvPr>
          <p:cNvSpPr/>
          <p:nvPr/>
        </p:nvSpPr>
        <p:spPr>
          <a:xfrm>
            <a:off x="8212525"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Conseils et déroulements types pour les moments où vous ne serez pas là</a:t>
            </a:r>
          </a:p>
        </p:txBody>
      </p:sp>
      <p:sp>
        <p:nvSpPr>
          <p:cNvPr id="480" name="Rectangle 479">
            <a:extLst>
              <a:ext uri="{FF2B5EF4-FFF2-40B4-BE49-F238E27FC236}">
                <a16:creationId xmlns:a16="http://schemas.microsoft.com/office/drawing/2014/main" id="{D890869A-D8DF-3953-4973-1A312C38B6C8}"/>
              </a:ext>
            </a:extLst>
          </p:cNvPr>
          <p:cNvSpPr/>
          <p:nvPr/>
        </p:nvSpPr>
        <p:spPr>
          <a:xfrm>
            <a:off x="5069291"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Motivation ou goût des membres pour la responsabilisation</a:t>
            </a:r>
          </a:p>
        </p:txBody>
      </p:sp>
      <p:sp>
        <p:nvSpPr>
          <p:cNvPr id="481" name="Rectangle 480">
            <a:extLst>
              <a:ext uri="{FF2B5EF4-FFF2-40B4-BE49-F238E27FC236}">
                <a16:creationId xmlns:a16="http://schemas.microsoft.com/office/drawing/2014/main" id="{98052D97-8CED-8C5B-C0DE-27A34F4C5860}"/>
              </a:ext>
            </a:extLst>
          </p:cNvPr>
          <p:cNvSpPr/>
          <p:nvPr/>
        </p:nvSpPr>
        <p:spPr>
          <a:xfrm>
            <a:off x="10322916"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Connaissances des blocages à l’autonomie (syndromes de l’imposteur etc.) </a:t>
            </a:r>
          </a:p>
        </p:txBody>
      </p:sp>
      <p:pic>
        <p:nvPicPr>
          <p:cNvPr id="482" name="Graphique 481" descr="Informations avec un remplissage uni">
            <a:extLst>
              <a:ext uri="{FF2B5EF4-FFF2-40B4-BE49-F238E27FC236}">
                <a16:creationId xmlns:a16="http://schemas.microsoft.com/office/drawing/2014/main" id="{69C127F1-9075-BA65-7E98-B360ED3A572B}"/>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8438567" y="2230222"/>
            <a:ext cx="555974" cy="555972"/>
          </a:xfrm>
          <a:prstGeom prst="rect">
            <a:avLst/>
          </a:prstGeom>
        </p:spPr>
      </p:pic>
      <p:pic>
        <p:nvPicPr>
          <p:cNvPr id="483" name="Graphique 482" descr="Informations avec un remplissage uni">
            <a:extLst>
              <a:ext uri="{FF2B5EF4-FFF2-40B4-BE49-F238E27FC236}">
                <a16:creationId xmlns:a16="http://schemas.microsoft.com/office/drawing/2014/main" id="{D15C01A6-6517-CFE4-AAEB-F582B8A9A591}"/>
              </a:ext>
            </a:extLst>
          </p:cNvPr>
          <p:cNvPicPr>
            <a:picLocks noChangeAspect="1"/>
          </p:cNvPicPr>
          <p:nvPr/>
        </p:nvPicPr>
        <p:blipFill>
          <a:blip r:embed="rId52">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10497052" y="2240224"/>
            <a:ext cx="555974" cy="555972"/>
          </a:xfrm>
          <a:prstGeom prst="rect">
            <a:avLst/>
          </a:prstGeom>
        </p:spPr>
      </p:pic>
    </p:spTree>
    <p:extLst>
      <p:ext uri="{BB962C8B-B14F-4D97-AF65-F5344CB8AC3E}">
        <p14:creationId xmlns:p14="http://schemas.microsoft.com/office/powerpoint/2010/main" val="3446222683"/>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4099705779"/>
              </p:ext>
            </p:extLst>
          </p:nvPr>
        </p:nvGraphicFramePr>
        <p:xfrm>
          <a:off x="853702" y="747247"/>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Etape d’amélioration continue </a:t>
                      </a:r>
                    </a:p>
                    <a:p>
                      <a:r>
                        <a:rPr lang="fr-FR" i="1" dirty="0"/>
                        <a:t>« Faire le point sur la communauté afin d’améliorer son fonctionnement »</a:t>
                      </a:r>
                    </a:p>
                  </a:txBody>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grpSp>
        <p:nvGrpSpPr>
          <p:cNvPr id="26" name="Groupe 25">
            <a:extLst>
              <a:ext uri="{FF2B5EF4-FFF2-40B4-BE49-F238E27FC236}">
                <a16:creationId xmlns:a16="http://schemas.microsoft.com/office/drawing/2014/main" id="{77B894B5-932D-305B-A946-F149651B330B}"/>
              </a:ext>
            </a:extLst>
          </p:cNvPr>
          <p:cNvGrpSpPr/>
          <p:nvPr/>
        </p:nvGrpSpPr>
        <p:grpSpPr>
          <a:xfrm>
            <a:off x="3414182" y="4053463"/>
            <a:ext cx="1176599" cy="921643"/>
            <a:chOff x="7748306" y="490159"/>
            <a:chExt cx="3442453" cy="2696512"/>
          </a:xfrm>
        </p:grpSpPr>
        <p:pic>
          <p:nvPicPr>
            <p:cNvPr id="27" name="Graphique 26" descr="Enveloppe avec un remplissage uni">
              <a:extLst>
                <a:ext uri="{FF2B5EF4-FFF2-40B4-BE49-F238E27FC236}">
                  <a16:creationId xmlns:a16="http://schemas.microsoft.com/office/drawing/2014/main" id="{45F2D0CD-D256-4750-74FD-A288783A6CE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76359" y="490159"/>
              <a:ext cx="914400" cy="914400"/>
            </a:xfrm>
            <a:prstGeom prst="rect">
              <a:avLst/>
            </a:prstGeom>
          </p:spPr>
        </p:pic>
        <p:grpSp>
          <p:nvGrpSpPr>
            <p:cNvPr id="28" name="Groupe 27">
              <a:extLst>
                <a:ext uri="{FF2B5EF4-FFF2-40B4-BE49-F238E27FC236}">
                  <a16:creationId xmlns:a16="http://schemas.microsoft.com/office/drawing/2014/main" id="{B7991EA3-D80C-A514-310D-CB29779B26A3}"/>
                </a:ext>
              </a:extLst>
            </p:cNvPr>
            <p:cNvGrpSpPr/>
            <p:nvPr/>
          </p:nvGrpSpPr>
          <p:grpSpPr>
            <a:xfrm>
              <a:off x="7748306" y="1139265"/>
              <a:ext cx="1452457" cy="1899771"/>
              <a:chOff x="7682578" y="1021976"/>
              <a:chExt cx="1658646" cy="2169460"/>
            </a:xfrm>
          </p:grpSpPr>
          <p:pic>
            <p:nvPicPr>
              <p:cNvPr id="34" name="Graphique 33" descr="Papier contour">
                <a:extLst>
                  <a:ext uri="{FF2B5EF4-FFF2-40B4-BE49-F238E27FC236}">
                    <a16:creationId xmlns:a16="http://schemas.microsoft.com/office/drawing/2014/main" id="{B7088BD8-4A0E-5D30-C8A2-7A4E145AD3F3}"/>
                  </a:ext>
                </a:extLst>
              </p:cNvPr>
              <p:cNvPicPr>
                <a:picLocks noChangeAspect="1"/>
              </p:cNvPicPr>
              <p:nvPr/>
            </p:nvPicPr>
            <p:blipFill rotWithShape="1">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l="17172" t="6805" r="16563" b="6523"/>
              <a:stretch/>
            </p:blipFill>
            <p:spPr>
              <a:xfrm>
                <a:off x="7682578" y="1021976"/>
                <a:ext cx="1658646" cy="2169460"/>
              </a:xfrm>
              <a:prstGeom prst="rect">
                <a:avLst/>
              </a:prstGeom>
            </p:spPr>
          </p:pic>
          <p:pic>
            <p:nvPicPr>
              <p:cNvPr id="35" name="Graphique 34" descr="Aide avec un remplissage uni">
                <a:extLst>
                  <a:ext uri="{FF2B5EF4-FFF2-40B4-BE49-F238E27FC236}">
                    <a16:creationId xmlns:a16="http://schemas.microsoft.com/office/drawing/2014/main" id="{2634C4CA-331C-74DA-43F2-B27ADEAD616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829327" y="1628496"/>
                <a:ext cx="537883" cy="537883"/>
              </a:xfrm>
              <a:prstGeom prst="rect">
                <a:avLst/>
              </a:prstGeom>
            </p:spPr>
          </p:pic>
          <p:pic>
            <p:nvPicPr>
              <p:cNvPr id="36" name="Graphique 35" descr="Aide avec un remplissage uni">
                <a:extLst>
                  <a:ext uri="{FF2B5EF4-FFF2-40B4-BE49-F238E27FC236}">
                    <a16:creationId xmlns:a16="http://schemas.microsoft.com/office/drawing/2014/main" id="{37105BBB-13D8-C913-C858-56E4E5121ED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836722" y="2103170"/>
                <a:ext cx="537883" cy="537883"/>
              </a:xfrm>
              <a:prstGeom prst="rect">
                <a:avLst/>
              </a:prstGeom>
            </p:spPr>
          </p:pic>
          <p:pic>
            <p:nvPicPr>
              <p:cNvPr id="37" name="Graphique 36" descr="Aide avec un remplissage uni">
                <a:extLst>
                  <a:ext uri="{FF2B5EF4-FFF2-40B4-BE49-F238E27FC236}">
                    <a16:creationId xmlns:a16="http://schemas.microsoft.com/office/drawing/2014/main" id="{80A343ED-FF6A-6EBC-3C35-2C4001F03F6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829326" y="2577844"/>
                <a:ext cx="537883" cy="537883"/>
              </a:xfrm>
              <a:prstGeom prst="rect">
                <a:avLst/>
              </a:prstGeom>
            </p:spPr>
          </p:pic>
        </p:grpSp>
        <p:cxnSp>
          <p:nvCxnSpPr>
            <p:cNvPr id="29" name="Connecteur : en angle 28">
              <a:extLst>
                <a:ext uri="{FF2B5EF4-FFF2-40B4-BE49-F238E27FC236}">
                  <a16:creationId xmlns:a16="http://schemas.microsoft.com/office/drawing/2014/main" id="{3DF53132-93E7-362F-2C55-0741DC3816E6}"/>
                </a:ext>
              </a:extLst>
            </p:cNvPr>
            <p:cNvCxnSpPr>
              <a:cxnSpLocks/>
              <a:stCxn id="34" idx="3"/>
              <a:endCxn id="27" idx="1"/>
            </p:cNvCxnSpPr>
            <p:nvPr/>
          </p:nvCxnSpPr>
          <p:spPr>
            <a:xfrm flipV="1">
              <a:off x="9200763" y="947359"/>
              <a:ext cx="1075596" cy="1141792"/>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30" name="Connecteur : en angle 29">
              <a:extLst>
                <a:ext uri="{FF2B5EF4-FFF2-40B4-BE49-F238E27FC236}">
                  <a16:creationId xmlns:a16="http://schemas.microsoft.com/office/drawing/2014/main" id="{07F8B079-01C0-804D-5443-9788D01DF38D}"/>
                </a:ext>
              </a:extLst>
            </p:cNvPr>
            <p:cNvCxnSpPr>
              <a:cxnSpLocks/>
              <a:stCxn id="34" idx="3"/>
            </p:cNvCxnSpPr>
            <p:nvPr/>
          </p:nvCxnSpPr>
          <p:spPr>
            <a:xfrm flipV="1">
              <a:off x="9200763" y="1815071"/>
              <a:ext cx="1075596" cy="274080"/>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30">
              <a:extLst>
                <a:ext uri="{FF2B5EF4-FFF2-40B4-BE49-F238E27FC236}">
                  <a16:creationId xmlns:a16="http://schemas.microsoft.com/office/drawing/2014/main" id="{3A1861E9-707E-E5D3-641E-77226942D6AC}"/>
                </a:ext>
              </a:extLst>
            </p:cNvPr>
            <p:cNvCxnSpPr>
              <a:cxnSpLocks/>
              <a:stCxn id="34" idx="3"/>
            </p:cNvCxnSpPr>
            <p:nvPr/>
          </p:nvCxnSpPr>
          <p:spPr>
            <a:xfrm>
              <a:off x="9200763" y="2089151"/>
              <a:ext cx="1075596" cy="593631"/>
            </a:xfrm>
            <a:prstGeom prst="bentConnector3">
              <a:avLst/>
            </a:prstGeom>
            <a:ln w="57150">
              <a:tailEnd type="triangle"/>
            </a:ln>
          </p:spPr>
          <p:style>
            <a:lnRef idx="1">
              <a:schemeClr val="accent1"/>
            </a:lnRef>
            <a:fillRef idx="0">
              <a:schemeClr val="accent1"/>
            </a:fillRef>
            <a:effectRef idx="0">
              <a:schemeClr val="accent1"/>
            </a:effectRef>
            <a:fontRef idx="minor">
              <a:schemeClr val="tx1"/>
            </a:fontRef>
          </p:style>
        </p:cxnSp>
        <p:pic>
          <p:nvPicPr>
            <p:cNvPr id="32" name="Graphique 31" descr="Réseau en ligne avec un remplissage uni">
              <a:extLst>
                <a:ext uri="{FF2B5EF4-FFF2-40B4-BE49-F238E27FC236}">
                  <a16:creationId xmlns:a16="http://schemas.microsoft.com/office/drawing/2014/main" id="{1662B18D-ABA6-70B1-EC6C-C1BC96FEE5BE}"/>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0214892" y="2272271"/>
              <a:ext cx="914400" cy="914400"/>
            </a:xfrm>
            <a:prstGeom prst="rect">
              <a:avLst/>
            </a:prstGeom>
          </p:spPr>
        </p:pic>
        <p:pic>
          <p:nvPicPr>
            <p:cNvPr id="33" name="Graphique 32" descr="Réunion en ligne avec un remplissage uni">
              <a:extLst>
                <a:ext uri="{FF2B5EF4-FFF2-40B4-BE49-F238E27FC236}">
                  <a16:creationId xmlns:a16="http://schemas.microsoft.com/office/drawing/2014/main" id="{A5A513EF-5DBD-5ACA-CDA5-401E71EB1E62}"/>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0276359" y="1348236"/>
              <a:ext cx="914400" cy="914400"/>
            </a:xfrm>
            <a:prstGeom prst="rect">
              <a:avLst/>
            </a:prstGeom>
          </p:spPr>
        </p:pic>
      </p:grpSp>
      <p:sp>
        <p:nvSpPr>
          <p:cNvPr id="38" name="Rectangle 37">
            <a:extLst>
              <a:ext uri="{FF2B5EF4-FFF2-40B4-BE49-F238E27FC236}">
                <a16:creationId xmlns:a16="http://schemas.microsoft.com/office/drawing/2014/main" id="{0D3A9616-C899-5590-E8B3-638EA09CB52A}"/>
              </a:ext>
            </a:extLst>
          </p:cNvPr>
          <p:cNvSpPr/>
          <p:nvPr/>
        </p:nvSpPr>
        <p:spPr>
          <a:xfrm>
            <a:off x="3242228" y="496427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✍️Questionnaire numérique / Sondage à propos de la Communauté</a:t>
            </a:r>
          </a:p>
        </p:txBody>
      </p:sp>
      <p:grpSp>
        <p:nvGrpSpPr>
          <p:cNvPr id="39" name="Groupe 38">
            <a:extLst>
              <a:ext uri="{FF2B5EF4-FFF2-40B4-BE49-F238E27FC236}">
                <a16:creationId xmlns:a16="http://schemas.microsoft.com/office/drawing/2014/main" id="{FA126EB1-624D-CEB2-C749-95367A17B4C7}"/>
              </a:ext>
            </a:extLst>
          </p:cNvPr>
          <p:cNvGrpSpPr/>
          <p:nvPr/>
        </p:nvGrpSpPr>
        <p:grpSpPr>
          <a:xfrm>
            <a:off x="5651187" y="4039507"/>
            <a:ext cx="1121389" cy="935599"/>
            <a:chOff x="7829664" y="3812797"/>
            <a:chExt cx="3361095" cy="2804234"/>
          </a:xfrm>
        </p:grpSpPr>
        <p:pic>
          <p:nvPicPr>
            <p:cNvPr id="40" name="Graphique 39" descr="Homme avec un remplissage uni">
              <a:extLst>
                <a:ext uri="{FF2B5EF4-FFF2-40B4-BE49-F238E27FC236}">
                  <a16:creationId xmlns:a16="http://schemas.microsoft.com/office/drawing/2014/main" id="{33487AC7-0802-7516-89E8-73C31AE5B71C}"/>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t="1" b="40502"/>
            <a:stretch/>
          </p:blipFill>
          <p:spPr>
            <a:xfrm>
              <a:off x="8312323" y="4821183"/>
              <a:ext cx="2878436" cy="1712563"/>
            </a:xfrm>
            <a:prstGeom prst="rect">
              <a:avLst/>
            </a:prstGeom>
          </p:spPr>
        </p:pic>
        <p:grpSp>
          <p:nvGrpSpPr>
            <p:cNvPr id="41" name="Groupe 40">
              <a:extLst>
                <a:ext uri="{FF2B5EF4-FFF2-40B4-BE49-F238E27FC236}">
                  <a16:creationId xmlns:a16="http://schemas.microsoft.com/office/drawing/2014/main" id="{535E9C02-BBB8-CEF7-C609-9D88B2C4C2B5}"/>
                </a:ext>
              </a:extLst>
            </p:cNvPr>
            <p:cNvGrpSpPr/>
            <p:nvPr/>
          </p:nvGrpSpPr>
          <p:grpSpPr>
            <a:xfrm>
              <a:off x="7829664" y="4904469"/>
              <a:ext cx="1747769" cy="1712562"/>
              <a:chOff x="786592" y="4813146"/>
              <a:chExt cx="1747769" cy="1712562"/>
            </a:xfrm>
          </p:grpSpPr>
          <p:pic>
            <p:nvPicPr>
              <p:cNvPr id="47" name="Graphique 46" descr="Microphone avec un remplissage uni">
                <a:extLst>
                  <a:ext uri="{FF2B5EF4-FFF2-40B4-BE49-F238E27FC236}">
                    <a16:creationId xmlns:a16="http://schemas.microsoft.com/office/drawing/2014/main" id="{F5C8C556-6ED4-97E6-E58D-E7F1CFA89005}"/>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rcRect l="26582" r="43264" b="738"/>
              <a:stretch/>
            </p:blipFill>
            <p:spPr>
              <a:xfrm rot="927067" flipH="1">
                <a:off x="2184345" y="5290444"/>
                <a:ext cx="350016" cy="1222715"/>
              </a:xfrm>
              <a:prstGeom prst="rect">
                <a:avLst/>
              </a:prstGeom>
            </p:spPr>
          </p:pic>
          <p:pic>
            <p:nvPicPr>
              <p:cNvPr id="48" name="Graphique 47" descr="Personne confuse avec un remplissage uni">
                <a:extLst>
                  <a:ext uri="{FF2B5EF4-FFF2-40B4-BE49-F238E27FC236}">
                    <a16:creationId xmlns:a16="http://schemas.microsoft.com/office/drawing/2014/main" id="{02DCE7FB-C383-94BB-E72E-8EE1E1A8F8E0}"/>
                  </a:ext>
                </a:extLst>
              </p:cNvPr>
              <p:cNvPicPr>
                <a:picLocks noChangeAspect="1"/>
              </p:cNvPicPr>
              <p:nvPr/>
            </p:nvPicPr>
            <p:blipFill rotWithShape="1">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rcRect l="38856" r="14769" b="50034"/>
              <a:stretch/>
            </p:blipFill>
            <p:spPr>
              <a:xfrm>
                <a:off x="786592" y="4813146"/>
                <a:ext cx="1589482" cy="1712562"/>
              </a:xfrm>
              <a:prstGeom prst="rect">
                <a:avLst/>
              </a:prstGeom>
            </p:spPr>
          </p:pic>
        </p:grpSp>
        <p:pic>
          <p:nvPicPr>
            <p:cNvPr id="42" name="Graphique 41" descr="Bulle de discussion contour">
              <a:extLst>
                <a:ext uri="{FF2B5EF4-FFF2-40B4-BE49-F238E27FC236}">
                  <a16:creationId xmlns:a16="http://schemas.microsoft.com/office/drawing/2014/main" id="{96B8C7BC-9A54-FEAF-DCF8-15BCD1A045D2}"/>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t="12903" b="12311"/>
            <a:stretch/>
          </p:blipFill>
          <p:spPr>
            <a:xfrm flipH="1">
              <a:off x="9657562" y="3812797"/>
              <a:ext cx="1501399" cy="1188720"/>
            </a:xfrm>
            <a:prstGeom prst="rect">
              <a:avLst/>
            </a:prstGeom>
          </p:spPr>
        </p:pic>
        <p:grpSp>
          <p:nvGrpSpPr>
            <p:cNvPr id="43" name="Groupe 42">
              <a:extLst>
                <a:ext uri="{FF2B5EF4-FFF2-40B4-BE49-F238E27FC236}">
                  <a16:creationId xmlns:a16="http://schemas.microsoft.com/office/drawing/2014/main" id="{4EFD549C-7897-E122-B2D0-77DD8AD5DE07}"/>
                </a:ext>
              </a:extLst>
            </p:cNvPr>
            <p:cNvGrpSpPr/>
            <p:nvPr/>
          </p:nvGrpSpPr>
          <p:grpSpPr>
            <a:xfrm>
              <a:off x="7954346" y="3871337"/>
              <a:ext cx="1501399" cy="1188720"/>
              <a:chOff x="1733248" y="3784720"/>
              <a:chExt cx="1501399" cy="1188720"/>
            </a:xfrm>
          </p:grpSpPr>
          <p:pic>
            <p:nvPicPr>
              <p:cNvPr id="45" name="Graphique 44" descr="Bulle de discussion contour">
                <a:extLst>
                  <a:ext uri="{FF2B5EF4-FFF2-40B4-BE49-F238E27FC236}">
                    <a16:creationId xmlns:a16="http://schemas.microsoft.com/office/drawing/2014/main" id="{138BC4DA-E14C-58B1-A77F-FFECE07BEEA2}"/>
                  </a:ext>
                </a:extLst>
              </p:cNvPr>
              <p:cNvPicPr>
                <a:picLocks noChangeAspect="1"/>
              </p:cNvPicPr>
              <p:nvPr/>
            </p:nvPicPr>
            <p:blipFill rotWithShape="1">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rcRect t="12801" b="12412"/>
              <a:stretch/>
            </p:blipFill>
            <p:spPr>
              <a:xfrm flipH="1">
                <a:off x="1733248" y="3784720"/>
                <a:ext cx="1501399" cy="1188720"/>
              </a:xfrm>
              <a:prstGeom prst="rect">
                <a:avLst/>
              </a:prstGeom>
            </p:spPr>
          </p:pic>
          <p:sp>
            <p:nvSpPr>
              <p:cNvPr id="46" name="Rectangle 45">
                <a:extLst>
                  <a:ext uri="{FF2B5EF4-FFF2-40B4-BE49-F238E27FC236}">
                    <a16:creationId xmlns:a16="http://schemas.microsoft.com/office/drawing/2014/main" id="{E755AB8B-FF0C-537D-B9B6-F4CD02F61EEB}"/>
                  </a:ext>
                </a:extLst>
              </p:cNvPr>
              <p:cNvSpPr/>
              <p:nvPr/>
            </p:nvSpPr>
            <p:spPr>
              <a:xfrm>
                <a:off x="2042949" y="4053587"/>
                <a:ext cx="872955" cy="421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pic>
          <p:nvPicPr>
            <p:cNvPr id="44" name="Graphique 43" descr="Aide avec un remplissage uni">
              <a:extLst>
                <a:ext uri="{FF2B5EF4-FFF2-40B4-BE49-F238E27FC236}">
                  <a16:creationId xmlns:a16="http://schemas.microsoft.com/office/drawing/2014/main" id="{4B428D34-6101-B90D-065D-EBDFE9883F64}"/>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360689" y="3975365"/>
              <a:ext cx="679669" cy="679669"/>
            </a:xfrm>
            <a:prstGeom prst="rect">
              <a:avLst/>
            </a:prstGeom>
          </p:spPr>
        </p:pic>
      </p:grpSp>
      <p:sp>
        <p:nvSpPr>
          <p:cNvPr id="49" name="Rectangle 48">
            <a:extLst>
              <a:ext uri="{FF2B5EF4-FFF2-40B4-BE49-F238E27FC236}">
                <a16:creationId xmlns:a16="http://schemas.microsoft.com/office/drawing/2014/main" id="{7A447DDA-7254-B4AF-4072-1D1D1B990262}"/>
              </a:ext>
            </a:extLst>
          </p:cNvPr>
          <p:cNvSpPr/>
          <p:nvPr/>
        </p:nvSpPr>
        <p:spPr>
          <a:xfrm>
            <a:off x="5341291" y="496427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Interview de membre / d’ancien membre</a:t>
            </a:r>
          </a:p>
        </p:txBody>
      </p:sp>
      <p:grpSp>
        <p:nvGrpSpPr>
          <p:cNvPr id="61" name="Groupe 60">
            <a:extLst>
              <a:ext uri="{FF2B5EF4-FFF2-40B4-BE49-F238E27FC236}">
                <a16:creationId xmlns:a16="http://schemas.microsoft.com/office/drawing/2014/main" id="{7DC955C5-EEF5-139D-C4C7-7208224B0B0E}"/>
              </a:ext>
            </a:extLst>
          </p:cNvPr>
          <p:cNvGrpSpPr/>
          <p:nvPr/>
        </p:nvGrpSpPr>
        <p:grpSpPr>
          <a:xfrm>
            <a:off x="1224207" y="4186261"/>
            <a:ext cx="1348758" cy="773835"/>
            <a:chOff x="1774127" y="3261367"/>
            <a:chExt cx="4861346" cy="2789143"/>
          </a:xfrm>
        </p:grpSpPr>
        <p:pic>
          <p:nvPicPr>
            <p:cNvPr id="62" name="Graphique 61" descr="Signe pouce en haut avec un remplissage uni">
              <a:extLst>
                <a:ext uri="{FF2B5EF4-FFF2-40B4-BE49-F238E27FC236}">
                  <a16:creationId xmlns:a16="http://schemas.microsoft.com/office/drawing/2014/main" id="{5B6F8208-508F-0531-2B2A-08914FD52F6B}"/>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2839034" y="3261367"/>
              <a:ext cx="470653" cy="470653"/>
            </a:xfrm>
            <a:prstGeom prst="rect">
              <a:avLst/>
            </a:prstGeom>
          </p:spPr>
        </p:pic>
        <p:pic>
          <p:nvPicPr>
            <p:cNvPr id="63" name="Graphique 62" descr="Pouce en bas avec un remplissage uni">
              <a:extLst>
                <a:ext uri="{FF2B5EF4-FFF2-40B4-BE49-F238E27FC236}">
                  <a16:creationId xmlns:a16="http://schemas.microsoft.com/office/drawing/2014/main" id="{EB11DACF-D837-028E-6298-3D30DFECF667}"/>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3787316" y="3319278"/>
              <a:ext cx="508752" cy="508752"/>
            </a:xfrm>
            <a:prstGeom prst="rect">
              <a:avLst/>
            </a:prstGeom>
          </p:spPr>
        </p:pic>
        <p:sp>
          <p:nvSpPr>
            <p:cNvPr id="64" name="Rectangle 63">
              <a:extLst>
                <a:ext uri="{FF2B5EF4-FFF2-40B4-BE49-F238E27FC236}">
                  <a16:creationId xmlns:a16="http://schemas.microsoft.com/office/drawing/2014/main" id="{5DCC1D03-A932-5E68-11BF-C0C00E8415D8}"/>
                </a:ext>
              </a:extLst>
            </p:cNvPr>
            <p:cNvSpPr/>
            <p:nvPr/>
          </p:nvSpPr>
          <p:spPr>
            <a:xfrm>
              <a:off x="262624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5" name="Rectangle 64">
              <a:extLst>
                <a:ext uri="{FF2B5EF4-FFF2-40B4-BE49-F238E27FC236}">
                  <a16:creationId xmlns:a16="http://schemas.microsoft.com/office/drawing/2014/main" id="{0B34E05B-C3F2-9667-266F-8B2EDFEA8292}"/>
                </a:ext>
              </a:extLst>
            </p:cNvPr>
            <p:cNvSpPr/>
            <p:nvPr/>
          </p:nvSpPr>
          <p:spPr>
            <a:xfrm>
              <a:off x="3583068"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6" name="Rectangle 65">
              <a:extLst>
                <a:ext uri="{FF2B5EF4-FFF2-40B4-BE49-F238E27FC236}">
                  <a16:creationId xmlns:a16="http://schemas.microsoft.com/office/drawing/2014/main" id="{50BB6308-A98E-355A-580F-95441978973F}"/>
                </a:ext>
              </a:extLst>
            </p:cNvPr>
            <p:cNvSpPr/>
            <p:nvPr/>
          </p:nvSpPr>
          <p:spPr>
            <a:xfrm>
              <a:off x="4539889"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Rectangle 66">
              <a:extLst>
                <a:ext uri="{FF2B5EF4-FFF2-40B4-BE49-F238E27FC236}">
                  <a16:creationId xmlns:a16="http://schemas.microsoft.com/office/drawing/2014/main" id="{D6305A74-545A-53DA-288C-699BE153A693}"/>
                </a:ext>
              </a:extLst>
            </p:cNvPr>
            <p:cNvSpPr/>
            <p:nvPr/>
          </p:nvSpPr>
          <p:spPr>
            <a:xfrm>
              <a:off x="5507556" y="3261367"/>
              <a:ext cx="896231" cy="165418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68" name="Graphique 67" descr="Aide avec un remplissage uni">
              <a:extLst>
                <a:ext uri="{FF2B5EF4-FFF2-40B4-BE49-F238E27FC236}">
                  <a16:creationId xmlns:a16="http://schemas.microsoft.com/office/drawing/2014/main" id="{9FA27145-465F-2B74-C903-D7AC789BFDBA}"/>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4793476" y="3319278"/>
              <a:ext cx="471018" cy="471018"/>
            </a:xfrm>
            <a:prstGeom prst="rect">
              <a:avLst/>
            </a:prstGeom>
          </p:spPr>
        </p:pic>
        <p:grpSp>
          <p:nvGrpSpPr>
            <p:cNvPr id="69" name="Groupe 68">
              <a:extLst>
                <a:ext uri="{FF2B5EF4-FFF2-40B4-BE49-F238E27FC236}">
                  <a16:creationId xmlns:a16="http://schemas.microsoft.com/office/drawing/2014/main" id="{A2F92B53-0F06-C916-863B-DF6116CE4F85}"/>
                </a:ext>
              </a:extLst>
            </p:cNvPr>
            <p:cNvGrpSpPr/>
            <p:nvPr/>
          </p:nvGrpSpPr>
          <p:grpSpPr>
            <a:xfrm>
              <a:off x="5689707" y="3294556"/>
              <a:ext cx="533474" cy="533474"/>
              <a:chOff x="5638800" y="2971800"/>
              <a:chExt cx="914400" cy="914400"/>
            </a:xfrm>
          </p:grpSpPr>
          <p:pic>
            <p:nvPicPr>
              <p:cNvPr id="87" name="Graphique 86" descr="Sphères de Harvey 100% avec un remplissage uni">
                <a:extLst>
                  <a:ext uri="{FF2B5EF4-FFF2-40B4-BE49-F238E27FC236}">
                    <a16:creationId xmlns:a16="http://schemas.microsoft.com/office/drawing/2014/main" id="{E9168897-ACAA-E09A-FB7F-F94F6BAC9EC5}"/>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5638800" y="2971800"/>
                <a:ext cx="914400" cy="914400"/>
              </a:xfrm>
              <a:prstGeom prst="rect">
                <a:avLst/>
              </a:prstGeom>
            </p:spPr>
          </p:pic>
          <p:pic>
            <p:nvPicPr>
              <p:cNvPr id="88" name="Graphique 87" descr="Lumières allumées avec un remplissage uni">
                <a:extLst>
                  <a:ext uri="{FF2B5EF4-FFF2-40B4-BE49-F238E27FC236}">
                    <a16:creationId xmlns:a16="http://schemas.microsoft.com/office/drawing/2014/main" id="{AFD9F954-2E56-B5B7-A1DE-BE4AC3106F9E}"/>
                  </a:ext>
                </a:extLst>
              </p:cNvPr>
              <p:cNvPicPr>
                <a:picLocks noChangeAspect="1"/>
              </p:cNvPicPr>
              <p:nvPr/>
            </p:nvPicPr>
            <p:blipFill>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tretch>
                <a:fillRect/>
              </a:stretch>
            </p:blipFill>
            <p:spPr>
              <a:xfrm>
                <a:off x="5710913" y="3066427"/>
                <a:ext cx="767522" cy="767522"/>
              </a:xfrm>
              <a:prstGeom prst="rect">
                <a:avLst/>
              </a:prstGeom>
            </p:spPr>
          </p:pic>
        </p:grpSp>
        <p:sp>
          <p:nvSpPr>
            <p:cNvPr id="70" name="Rectangle 69">
              <a:extLst>
                <a:ext uri="{FF2B5EF4-FFF2-40B4-BE49-F238E27FC236}">
                  <a16:creationId xmlns:a16="http://schemas.microsoft.com/office/drawing/2014/main" id="{38D8FE0B-D761-4DC0-6E04-0E9CEC984F51}"/>
                </a:ext>
              </a:extLst>
            </p:cNvPr>
            <p:cNvSpPr/>
            <p:nvPr/>
          </p:nvSpPr>
          <p:spPr>
            <a:xfrm>
              <a:off x="2682556"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71" name="Rectangle 70">
              <a:extLst>
                <a:ext uri="{FF2B5EF4-FFF2-40B4-BE49-F238E27FC236}">
                  <a16:creationId xmlns:a16="http://schemas.microsoft.com/office/drawing/2014/main" id="{12C03416-2035-5E07-7A91-9BA6EFA2D26F}"/>
                </a:ext>
              </a:extLst>
            </p:cNvPr>
            <p:cNvSpPr/>
            <p:nvPr/>
          </p:nvSpPr>
          <p:spPr>
            <a:xfrm>
              <a:off x="2991651" y="387597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72" name="Rectangle 71">
              <a:extLst>
                <a:ext uri="{FF2B5EF4-FFF2-40B4-BE49-F238E27FC236}">
                  <a16:creationId xmlns:a16="http://schemas.microsoft.com/office/drawing/2014/main" id="{F9FAF29A-6832-FC59-8B70-09C48E896CA8}"/>
                </a:ext>
              </a:extLst>
            </p:cNvPr>
            <p:cNvSpPr/>
            <p:nvPr/>
          </p:nvSpPr>
          <p:spPr>
            <a:xfrm>
              <a:off x="2912610" y="4148465"/>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73" name="Rectangle 72">
              <a:extLst>
                <a:ext uri="{FF2B5EF4-FFF2-40B4-BE49-F238E27FC236}">
                  <a16:creationId xmlns:a16="http://schemas.microsoft.com/office/drawing/2014/main" id="{313AEE30-CC9A-8FA7-C64A-EC58F19FBBEF}"/>
                </a:ext>
              </a:extLst>
            </p:cNvPr>
            <p:cNvSpPr/>
            <p:nvPr/>
          </p:nvSpPr>
          <p:spPr>
            <a:xfrm>
              <a:off x="3680364" y="3871561"/>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74" name="Rectangle 73">
              <a:extLst>
                <a:ext uri="{FF2B5EF4-FFF2-40B4-BE49-F238E27FC236}">
                  <a16:creationId xmlns:a16="http://schemas.microsoft.com/office/drawing/2014/main" id="{EB40B173-7276-4EAA-AB8E-5B7FA379AE40}"/>
                </a:ext>
              </a:extLst>
            </p:cNvPr>
            <p:cNvSpPr/>
            <p:nvPr/>
          </p:nvSpPr>
          <p:spPr>
            <a:xfrm>
              <a:off x="4016069" y="398672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75" name="Rectangle 74">
              <a:extLst>
                <a:ext uri="{FF2B5EF4-FFF2-40B4-BE49-F238E27FC236}">
                  <a16:creationId xmlns:a16="http://schemas.microsoft.com/office/drawing/2014/main" id="{C9D579D3-F99E-EF4D-56B6-34A654A49BDE}"/>
                </a:ext>
              </a:extLst>
            </p:cNvPr>
            <p:cNvSpPr/>
            <p:nvPr/>
          </p:nvSpPr>
          <p:spPr>
            <a:xfrm>
              <a:off x="3698403" y="4181149"/>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76" name="Rectangle 75">
              <a:extLst>
                <a:ext uri="{FF2B5EF4-FFF2-40B4-BE49-F238E27FC236}">
                  <a16:creationId xmlns:a16="http://schemas.microsoft.com/office/drawing/2014/main" id="{C1D9D4C8-0151-9A03-7182-6939270EA7C9}"/>
                </a:ext>
              </a:extLst>
            </p:cNvPr>
            <p:cNvSpPr/>
            <p:nvPr/>
          </p:nvSpPr>
          <p:spPr>
            <a:xfrm>
              <a:off x="4604347" y="3858182"/>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77" name="Rectangle 76">
              <a:extLst>
                <a:ext uri="{FF2B5EF4-FFF2-40B4-BE49-F238E27FC236}">
                  <a16:creationId xmlns:a16="http://schemas.microsoft.com/office/drawing/2014/main" id="{74E33546-616E-A98C-E3FF-71724A6FCB9A}"/>
                </a:ext>
              </a:extLst>
            </p:cNvPr>
            <p:cNvSpPr/>
            <p:nvPr/>
          </p:nvSpPr>
          <p:spPr>
            <a:xfrm>
              <a:off x="4928163" y="384379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78" name="Rectangle 77">
              <a:extLst>
                <a:ext uri="{FF2B5EF4-FFF2-40B4-BE49-F238E27FC236}">
                  <a16:creationId xmlns:a16="http://schemas.microsoft.com/office/drawing/2014/main" id="{6AC68500-D90E-8A45-0FA5-A8FD8CAD4D63}"/>
                </a:ext>
              </a:extLst>
            </p:cNvPr>
            <p:cNvSpPr/>
            <p:nvPr/>
          </p:nvSpPr>
          <p:spPr>
            <a:xfrm>
              <a:off x="4844841" y="4195507"/>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79" name="Rectangle 78">
              <a:extLst>
                <a:ext uri="{FF2B5EF4-FFF2-40B4-BE49-F238E27FC236}">
                  <a16:creationId xmlns:a16="http://schemas.microsoft.com/office/drawing/2014/main" id="{2939BD3A-A62D-5DA6-F815-4CAF14680B00}"/>
                </a:ext>
              </a:extLst>
            </p:cNvPr>
            <p:cNvSpPr/>
            <p:nvPr/>
          </p:nvSpPr>
          <p:spPr>
            <a:xfrm>
              <a:off x="5637937" y="3865434"/>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80" name="Rectangle 79">
              <a:extLst>
                <a:ext uri="{FF2B5EF4-FFF2-40B4-BE49-F238E27FC236}">
                  <a16:creationId xmlns:a16="http://schemas.microsoft.com/office/drawing/2014/main" id="{5F931AAE-367B-8710-8D0A-269B01DC0FC3}"/>
                </a:ext>
              </a:extLst>
            </p:cNvPr>
            <p:cNvSpPr/>
            <p:nvPr/>
          </p:nvSpPr>
          <p:spPr>
            <a:xfrm>
              <a:off x="5908449" y="4146553"/>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sp>
          <p:nvSpPr>
            <p:cNvPr id="81" name="Rectangle 80">
              <a:extLst>
                <a:ext uri="{FF2B5EF4-FFF2-40B4-BE49-F238E27FC236}">
                  <a16:creationId xmlns:a16="http://schemas.microsoft.com/office/drawing/2014/main" id="{39D07943-1319-387E-45D3-33C862C99D72}"/>
                </a:ext>
              </a:extLst>
            </p:cNvPr>
            <p:cNvSpPr/>
            <p:nvPr/>
          </p:nvSpPr>
          <p:spPr>
            <a:xfrm>
              <a:off x="5973166" y="3843010"/>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pic>
          <p:nvPicPr>
            <p:cNvPr id="82" name="Graphique 81" descr="Personne confuse avec un remplissage uni">
              <a:extLst>
                <a:ext uri="{FF2B5EF4-FFF2-40B4-BE49-F238E27FC236}">
                  <a16:creationId xmlns:a16="http://schemas.microsoft.com/office/drawing/2014/main" id="{30ECFC53-8DE6-DDCD-EB6E-113536FB4EE2}"/>
                </a:ext>
              </a:extLst>
            </p:cNvPr>
            <p:cNvPicPr>
              <a:picLocks noChangeAspect="1"/>
            </p:cNvPicPr>
            <p:nvPr/>
          </p:nvPicPr>
          <p:blipFill rotWithShape="1">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rcRect l="13721" r="14768" b="50034"/>
            <a:stretch/>
          </p:blipFill>
          <p:spPr>
            <a:xfrm>
              <a:off x="5070241" y="4696406"/>
              <a:ext cx="1565232" cy="1093672"/>
            </a:xfrm>
            <a:prstGeom prst="rect">
              <a:avLst/>
            </a:prstGeom>
          </p:spPr>
        </p:pic>
        <p:sp>
          <p:nvSpPr>
            <p:cNvPr id="83" name="Rectangle 82">
              <a:extLst>
                <a:ext uri="{FF2B5EF4-FFF2-40B4-BE49-F238E27FC236}">
                  <a16:creationId xmlns:a16="http://schemas.microsoft.com/office/drawing/2014/main" id="{75686DA7-AB7D-FF58-CA85-92EE31083532}"/>
                </a:ext>
              </a:extLst>
            </p:cNvPr>
            <p:cNvSpPr/>
            <p:nvPr/>
          </p:nvSpPr>
          <p:spPr>
            <a:xfrm>
              <a:off x="5070241" y="5355918"/>
              <a:ext cx="257075" cy="257075"/>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solidFill>
                    <a:schemeClr val="tx1"/>
                  </a:solidFill>
                </a:rPr>
                <a:t>…</a:t>
              </a:r>
            </a:p>
          </p:txBody>
        </p:sp>
        <p:pic>
          <p:nvPicPr>
            <p:cNvPr id="84" name="Graphique 83" descr="Homme avec un remplissage uni">
              <a:extLst>
                <a:ext uri="{FF2B5EF4-FFF2-40B4-BE49-F238E27FC236}">
                  <a16:creationId xmlns:a16="http://schemas.microsoft.com/office/drawing/2014/main" id="{BE1C94B4-4EF5-1B9C-4946-9AEF31B570C3}"/>
                </a:ext>
              </a:extLst>
            </p:cNvPr>
            <p:cNvPicPr>
              <a:picLocks noChangeAspect="1"/>
            </p:cNvPicPr>
            <p:nvPr/>
          </p:nvPicPr>
          <p:blipFill rotWithShape="1">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rcRect t="1" b="40502"/>
            <a:stretch/>
          </p:blipFill>
          <p:spPr>
            <a:xfrm>
              <a:off x="3267315" y="4792695"/>
              <a:ext cx="2011658" cy="1226716"/>
            </a:xfrm>
            <a:prstGeom prst="rect">
              <a:avLst/>
            </a:prstGeom>
          </p:spPr>
        </p:pic>
        <p:pic>
          <p:nvPicPr>
            <p:cNvPr id="85" name="Graphique 84" descr="Homme avec un remplissage uni">
              <a:extLst>
                <a:ext uri="{FF2B5EF4-FFF2-40B4-BE49-F238E27FC236}">
                  <a16:creationId xmlns:a16="http://schemas.microsoft.com/office/drawing/2014/main" id="{77A249FD-9732-2136-48C3-6CCAD5B7A871}"/>
                </a:ext>
              </a:extLst>
            </p:cNvPr>
            <p:cNvPicPr>
              <a:picLocks noChangeAspect="1"/>
            </p:cNvPicPr>
            <p:nvPr/>
          </p:nvPicPr>
          <p:blipFill rotWithShape="1">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rcRect t="1" b="40502"/>
            <a:stretch/>
          </p:blipFill>
          <p:spPr>
            <a:xfrm>
              <a:off x="2276236" y="4718638"/>
              <a:ext cx="2061836" cy="1226716"/>
            </a:xfrm>
            <a:prstGeom prst="rect">
              <a:avLst/>
            </a:prstGeom>
          </p:spPr>
        </p:pic>
        <p:pic>
          <p:nvPicPr>
            <p:cNvPr id="86" name="Graphique 85" descr="Homme avec un remplissage uni">
              <a:extLst>
                <a:ext uri="{FF2B5EF4-FFF2-40B4-BE49-F238E27FC236}">
                  <a16:creationId xmlns:a16="http://schemas.microsoft.com/office/drawing/2014/main" id="{93C7B8A3-A2E5-4F13-C12C-02C48A2EF92F}"/>
                </a:ext>
              </a:extLst>
            </p:cNvPr>
            <p:cNvPicPr>
              <a:picLocks noChangeAspect="1"/>
            </p:cNvPicPr>
            <p:nvPr/>
          </p:nvPicPr>
          <p:blipFill rotWithShape="1">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rcRect l="20753" t="1048" b="40502"/>
            <a:stretch/>
          </p:blipFill>
          <p:spPr>
            <a:xfrm>
              <a:off x="1774127" y="4845372"/>
              <a:ext cx="1633936" cy="1205138"/>
            </a:xfrm>
            <a:prstGeom prst="rect">
              <a:avLst/>
            </a:prstGeom>
          </p:spPr>
        </p:pic>
      </p:grpSp>
      <p:sp>
        <p:nvSpPr>
          <p:cNvPr id="89" name="Rectangle 88">
            <a:extLst>
              <a:ext uri="{FF2B5EF4-FFF2-40B4-BE49-F238E27FC236}">
                <a16:creationId xmlns:a16="http://schemas.microsoft.com/office/drawing/2014/main" id="{9FC56FDF-1C8B-B80B-6748-C57C101C12FB}"/>
              </a:ext>
            </a:extLst>
          </p:cNvPr>
          <p:cNvSpPr/>
          <p:nvPr/>
        </p:nvSpPr>
        <p:spPr>
          <a:xfrm>
            <a:off x="1206515" y="496427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Atelier généraliste d’amélioration continue </a:t>
            </a:r>
          </a:p>
        </p:txBody>
      </p:sp>
      <p:sp>
        <p:nvSpPr>
          <p:cNvPr id="172" name="Rectangle 171">
            <a:extLst>
              <a:ext uri="{FF2B5EF4-FFF2-40B4-BE49-F238E27FC236}">
                <a16:creationId xmlns:a16="http://schemas.microsoft.com/office/drawing/2014/main" id="{AFB642DB-E22B-00CC-F669-59F80AE1946B}"/>
              </a:ext>
            </a:extLst>
          </p:cNvPr>
          <p:cNvSpPr/>
          <p:nvPr/>
        </p:nvSpPr>
        <p:spPr>
          <a:xfrm>
            <a:off x="9544215" y="496427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200" dirty="0">
                <a:solidFill>
                  <a:schemeClr val="tx1"/>
                </a:solidFill>
              </a:rPr>
              <a:t>📅⚙️ Etude des présences, absences, retards, refus, rejets</a:t>
            </a:r>
          </a:p>
        </p:txBody>
      </p:sp>
      <p:pic>
        <p:nvPicPr>
          <p:cNvPr id="216" name="Graphique 215" descr="Calendrier journalier avec un remplissage uni">
            <a:extLst>
              <a:ext uri="{FF2B5EF4-FFF2-40B4-BE49-F238E27FC236}">
                <a16:creationId xmlns:a16="http://schemas.microsoft.com/office/drawing/2014/main" id="{A2A7418F-07DD-32BD-E7FE-976368BEC98F}"/>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9704071" y="3793179"/>
            <a:ext cx="914400" cy="914400"/>
          </a:xfrm>
          <a:prstGeom prst="rect">
            <a:avLst/>
          </a:prstGeom>
        </p:spPr>
      </p:pic>
      <p:pic>
        <p:nvPicPr>
          <p:cNvPr id="217" name="Graphique 216" descr="Homme avec un remplissage uni">
            <a:extLst>
              <a:ext uri="{FF2B5EF4-FFF2-40B4-BE49-F238E27FC236}">
                <a16:creationId xmlns:a16="http://schemas.microsoft.com/office/drawing/2014/main" id="{C9562991-5C80-C6F1-7DF4-A66AAF5606A5}"/>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l="20753" t="1048" b="40502"/>
          <a:stretch/>
        </p:blipFill>
        <p:spPr>
          <a:xfrm>
            <a:off x="9688944" y="4279786"/>
            <a:ext cx="453328" cy="334360"/>
          </a:xfrm>
          <a:prstGeom prst="rect">
            <a:avLst/>
          </a:prstGeom>
        </p:spPr>
      </p:pic>
      <p:pic>
        <p:nvPicPr>
          <p:cNvPr id="218" name="Graphique 217" descr="Homme avec un remplissage uni">
            <a:extLst>
              <a:ext uri="{FF2B5EF4-FFF2-40B4-BE49-F238E27FC236}">
                <a16:creationId xmlns:a16="http://schemas.microsoft.com/office/drawing/2014/main" id="{085A83D4-2FBD-2247-A49C-BE56375D505E}"/>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l="20753" t="1048" b="40502"/>
          <a:stretch/>
        </p:blipFill>
        <p:spPr>
          <a:xfrm>
            <a:off x="9946921" y="4260858"/>
            <a:ext cx="453328" cy="334360"/>
          </a:xfrm>
          <a:prstGeom prst="rect">
            <a:avLst/>
          </a:prstGeom>
        </p:spPr>
      </p:pic>
      <p:pic>
        <p:nvPicPr>
          <p:cNvPr id="219" name="Graphique 218" descr="Homme avec un remplissage uni">
            <a:extLst>
              <a:ext uri="{FF2B5EF4-FFF2-40B4-BE49-F238E27FC236}">
                <a16:creationId xmlns:a16="http://schemas.microsoft.com/office/drawing/2014/main" id="{2E4251FE-2911-FEEB-A0CE-9477B5E466D3}"/>
              </a:ext>
            </a:extLst>
          </p:cNvPr>
          <p:cNvPicPr>
            <a:picLocks noChangeAspect="1"/>
          </p:cNvPicPr>
          <p:nvPr/>
        </p:nvPicPr>
        <p:blipFill rotWithShape="1">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rcRect l="20753" t="1048" b="40502"/>
          <a:stretch/>
        </p:blipFill>
        <p:spPr>
          <a:xfrm>
            <a:off x="10209430" y="4279090"/>
            <a:ext cx="453328" cy="334360"/>
          </a:xfrm>
          <a:prstGeom prst="rect">
            <a:avLst/>
          </a:prstGeom>
        </p:spPr>
      </p:pic>
      <p:pic>
        <p:nvPicPr>
          <p:cNvPr id="220" name="Graphique 219" descr="Loupe avec un remplissage uni">
            <a:extLst>
              <a:ext uri="{FF2B5EF4-FFF2-40B4-BE49-F238E27FC236}">
                <a16:creationId xmlns:a16="http://schemas.microsoft.com/office/drawing/2014/main" id="{DEB9F8B1-6E84-5624-3B0A-2669C3911450}"/>
              </a:ext>
            </a:extLst>
          </p:cNvPr>
          <p:cNvPicPr>
            <a:picLocks noChangeAspect="1"/>
          </p:cNvPicPr>
          <p:nvPr/>
        </p:nvPicPr>
        <p:blipFill>
          <a:blip r:embed="rId41">
            <a:extLst>
              <a:ext uri="{28A0092B-C50C-407E-A947-70E740481C1C}">
                <a14:useLocalDpi xmlns:a14="http://schemas.microsoft.com/office/drawing/2010/main" val="0"/>
              </a:ext>
              <a:ext uri="{96DAC541-7B7A-43D3-8B79-37D633B846F1}">
                <asvg:svgBlip xmlns:asvg="http://schemas.microsoft.com/office/drawing/2016/SVG/main" r:embed="rId42"/>
              </a:ext>
            </a:extLst>
          </a:blip>
          <a:stretch>
            <a:fillRect/>
          </a:stretch>
        </p:blipFill>
        <p:spPr>
          <a:xfrm>
            <a:off x="9826760" y="4072986"/>
            <a:ext cx="914400" cy="914400"/>
          </a:xfrm>
          <a:prstGeom prst="rect">
            <a:avLst/>
          </a:prstGeom>
        </p:spPr>
      </p:pic>
      <p:sp>
        <p:nvSpPr>
          <p:cNvPr id="302" name="Rectangle 301">
            <a:extLst>
              <a:ext uri="{FF2B5EF4-FFF2-40B4-BE49-F238E27FC236}">
                <a16:creationId xmlns:a16="http://schemas.microsoft.com/office/drawing/2014/main" id="{CDE0A295-D7DC-7B27-00F5-847067B5E0B9}"/>
              </a:ext>
            </a:extLst>
          </p:cNvPr>
          <p:cNvSpPr/>
          <p:nvPr/>
        </p:nvSpPr>
        <p:spPr>
          <a:xfrm>
            <a:off x="7448485" y="4964272"/>
            <a:ext cx="1492148" cy="662879"/>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100" dirty="0">
                <a:solidFill>
                  <a:schemeClr val="tx1"/>
                </a:solidFill>
              </a:rPr>
              <a:t>📅 Immersion dans les moments informels (Pause café, sorties…) pour renseignement</a:t>
            </a:r>
          </a:p>
        </p:txBody>
      </p:sp>
      <p:grpSp>
        <p:nvGrpSpPr>
          <p:cNvPr id="324" name="Groupe 323">
            <a:extLst>
              <a:ext uri="{FF2B5EF4-FFF2-40B4-BE49-F238E27FC236}">
                <a16:creationId xmlns:a16="http://schemas.microsoft.com/office/drawing/2014/main" id="{48CF2BCE-4168-36FC-E495-C8BFE02CE640}"/>
              </a:ext>
            </a:extLst>
          </p:cNvPr>
          <p:cNvGrpSpPr/>
          <p:nvPr/>
        </p:nvGrpSpPr>
        <p:grpSpPr>
          <a:xfrm>
            <a:off x="7546305" y="4045593"/>
            <a:ext cx="1196717" cy="841459"/>
            <a:chOff x="3736815" y="1436205"/>
            <a:chExt cx="1565948" cy="1101080"/>
          </a:xfrm>
        </p:grpSpPr>
        <p:pic>
          <p:nvPicPr>
            <p:cNvPr id="325" name="Graphique 324" descr="Femme détective avec un remplissage uni">
              <a:extLst>
                <a:ext uri="{FF2B5EF4-FFF2-40B4-BE49-F238E27FC236}">
                  <a16:creationId xmlns:a16="http://schemas.microsoft.com/office/drawing/2014/main" id="{D37063C0-788E-96BE-5AE3-B3FB07C00D0B}"/>
                </a:ext>
              </a:extLst>
            </p:cNvPr>
            <p:cNvPicPr>
              <a:picLocks noChangeAspect="1"/>
            </p:cNvPicPr>
            <p:nvPr/>
          </p:nvPicPr>
          <p:blipFill>
            <a:blip r:embed="rId43">
              <a:extLst>
                <a:ext uri="{28A0092B-C50C-407E-A947-70E740481C1C}">
                  <a14:useLocalDpi xmlns:a14="http://schemas.microsoft.com/office/drawing/2010/main" val="0"/>
                </a:ext>
                <a:ext uri="{96DAC541-7B7A-43D3-8B79-37D633B846F1}">
                  <asvg:svgBlip xmlns:asvg="http://schemas.microsoft.com/office/drawing/2016/SVG/main" r:embed="rId44"/>
                </a:ext>
              </a:extLst>
            </a:blip>
            <a:stretch>
              <a:fillRect/>
            </a:stretch>
          </p:blipFill>
          <p:spPr>
            <a:xfrm>
              <a:off x="3736815" y="1982174"/>
              <a:ext cx="555113" cy="555111"/>
            </a:xfrm>
            <a:prstGeom prst="rect">
              <a:avLst/>
            </a:prstGeom>
          </p:spPr>
        </p:pic>
        <p:pic>
          <p:nvPicPr>
            <p:cNvPr id="326" name="Graphique 325" descr="Réunion contour">
              <a:extLst>
                <a:ext uri="{FF2B5EF4-FFF2-40B4-BE49-F238E27FC236}">
                  <a16:creationId xmlns:a16="http://schemas.microsoft.com/office/drawing/2014/main" id="{D9D4BA0D-A337-CCF1-E4A7-1175A6A91253}"/>
                </a:ext>
              </a:extLst>
            </p:cNvPr>
            <p:cNvPicPr>
              <a:picLocks noChangeAspect="1"/>
            </p:cNvPicPr>
            <p:nvPr/>
          </p:nvPicPr>
          <p:blipFill>
            <a:blip r:embed="rId45">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a:off x="4252823" y="1436205"/>
              <a:ext cx="1049940" cy="1049940"/>
            </a:xfrm>
            <a:prstGeom prst="rect">
              <a:avLst/>
            </a:prstGeom>
          </p:spPr>
        </p:pic>
        <p:pic>
          <p:nvPicPr>
            <p:cNvPr id="327" name="Graphique 326" descr="Noix de coco avec un remplissage uni">
              <a:extLst>
                <a:ext uri="{FF2B5EF4-FFF2-40B4-BE49-F238E27FC236}">
                  <a16:creationId xmlns:a16="http://schemas.microsoft.com/office/drawing/2014/main" id="{0620EF02-2C6D-E0DC-0A77-61081810D9A4}"/>
                </a:ext>
              </a:extLst>
            </p:cNvPr>
            <p:cNvPicPr>
              <a:picLocks noChangeAspect="1"/>
            </p:cNvPicPr>
            <p:nvPr/>
          </p:nvPicPr>
          <p:blipFill>
            <a:blip r:embed="rId47">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4344958" y="1841799"/>
              <a:ext cx="452386" cy="452386"/>
            </a:xfrm>
            <a:prstGeom prst="rect">
              <a:avLst/>
            </a:prstGeom>
          </p:spPr>
        </p:pic>
        <p:pic>
          <p:nvPicPr>
            <p:cNvPr id="328" name="Graphique 327" descr="Tasse de latte avec un remplissage uni">
              <a:extLst>
                <a:ext uri="{FF2B5EF4-FFF2-40B4-BE49-F238E27FC236}">
                  <a16:creationId xmlns:a16="http://schemas.microsoft.com/office/drawing/2014/main" id="{7B774108-8402-3EC7-34A4-2464AEF90CF6}"/>
                </a:ext>
              </a:extLst>
            </p:cNvPr>
            <p:cNvPicPr>
              <a:picLocks noChangeAspect="1"/>
            </p:cNvPicPr>
            <p:nvPr/>
          </p:nvPicPr>
          <p:blipFill>
            <a:blip r:embed="rId49">
              <a:extLst>
                <a:ext uri="{28A0092B-C50C-407E-A947-70E740481C1C}">
                  <a14:useLocalDpi xmlns:a14="http://schemas.microsoft.com/office/drawing/2010/main" val="0"/>
                </a:ext>
                <a:ext uri="{96DAC541-7B7A-43D3-8B79-37D633B846F1}">
                  <asvg:svgBlip xmlns:asvg="http://schemas.microsoft.com/office/drawing/2016/SVG/main" r:embed="rId50"/>
                </a:ext>
              </a:extLst>
            </a:blip>
            <a:stretch>
              <a:fillRect/>
            </a:stretch>
          </p:blipFill>
          <p:spPr>
            <a:xfrm>
              <a:off x="4751701" y="1775060"/>
              <a:ext cx="519125" cy="519125"/>
            </a:xfrm>
            <a:prstGeom prst="rect">
              <a:avLst/>
            </a:prstGeom>
          </p:spPr>
        </p:pic>
      </p:grpSp>
      <p:sp>
        <p:nvSpPr>
          <p:cNvPr id="2" name="Flèche : droite 1">
            <a:extLst>
              <a:ext uri="{FF2B5EF4-FFF2-40B4-BE49-F238E27FC236}">
                <a16:creationId xmlns:a16="http://schemas.microsoft.com/office/drawing/2014/main" id="{CAB86045-9625-EDA0-37CB-4A9D9C508951}"/>
              </a:ext>
            </a:extLst>
          </p:cNvPr>
          <p:cNvSpPr/>
          <p:nvPr/>
        </p:nvSpPr>
        <p:spPr>
          <a:xfrm>
            <a:off x="877751" y="2155012"/>
            <a:ext cx="1253533" cy="1358809"/>
          </a:xfrm>
          <a:prstGeom prst="rightArrow">
            <a:avLst>
              <a:gd name="adj1" fmla="val 71029"/>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b="1" dirty="0">
                <a:solidFill>
                  <a:schemeClr val="tx1"/>
                </a:solidFill>
              </a:rPr>
              <a:t>HABITUDE :</a:t>
            </a:r>
          </a:p>
          <a:p>
            <a:pPr algn="ctr"/>
            <a:r>
              <a:rPr lang="fr-FR" sz="1000" dirty="0">
                <a:solidFill>
                  <a:schemeClr val="tx1"/>
                </a:solidFill>
              </a:rPr>
              <a:t>S’habituer à la valeur et la confirmer</a:t>
            </a:r>
          </a:p>
        </p:txBody>
      </p:sp>
      <p:sp>
        <p:nvSpPr>
          <p:cNvPr id="6" name="Flèche : droite 5">
            <a:extLst>
              <a:ext uri="{FF2B5EF4-FFF2-40B4-BE49-F238E27FC236}">
                <a16:creationId xmlns:a16="http://schemas.microsoft.com/office/drawing/2014/main" id="{43B930E2-F6F8-49E8-7E33-070FB6395BA4}"/>
              </a:ext>
            </a:extLst>
          </p:cNvPr>
          <p:cNvSpPr/>
          <p:nvPr/>
        </p:nvSpPr>
        <p:spPr>
          <a:xfrm>
            <a:off x="1656119" y="2138740"/>
            <a:ext cx="1304288" cy="1427226"/>
          </a:xfrm>
          <a:prstGeom prst="rightArrow">
            <a:avLst>
              <a:gd name="adj1" fmla="val 71356"/>
              <a:gd name="adj2" fmla="val 149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b="1" dirty="0">
                <a:solidFill>
                  <a:schemeClr val="tx1"/>
                </a:solidFill>
              </a:rPr>
              <a:t>DEMOTIVATIONS:</a:t>
            </a:r>
          </a:p>
          <a:p>
            <a:pPr algn="ctr"/>
            <a:r>
              <a:rPr lang="fr-FR" sz="1000" dirty="0">
                <a:solidFill>
                  <a:schemeClr val="tx1"/>
                </a:solidFill>
              </a:rPr>
              <a:t>Constater un manque ou une baisse de la valeur</a:t>
            </a:r>
          </a:p>
        </p:txBody>
      </p:sp>
      <p:grpSp>
        <p:nvGrpSpPr>
          <p:cNvPr id="7" name="Groupe 6">
            <a:extLst>
              <a:ext uri="{FF2B5EF4-FFF2-40B4-BE49-F238E27FC236}">
                <a16:creationId xmlns:a16="http://schemas.microsoft.com/office/drawing/2014/main" id="{DD7AD1BA-DBB7-A0B6-FD2C-9E8FBB866103}"/>
              </a:ext>
            </a:extLst>
          </p:cNvPr>
          <p:cNvGrpSpPr/>
          <p:nvPr/>
        </p:nvGrpSpPr>
        <p:grpSpPr>
          <a:xfrm>
            <a:off x="3380616" y="2220972"/>
            <a:ext cx="1131981" cy="919579"/>
            <a:chOff x="8982504" y="3274976"/>
            <a:chExt cx="1230670" cy="1037553"/>
          </a:xfrm>
          <a:solidFill>
            <a:srgbClr val="ED7D31"/>
          </a:solidFill>
        </p:grpSpPr>
        <p:pic>
          <p:nvPicPr>
            <p:cNvPr id="8" name="Graphique 7" descr="Utilisateur avec un remplissage uni">
              <a:extLst>
                <a:ext uri="{FF2B5EF4-FFF2-40B4-BE49-F238E27FC236}">
                  <a16:creationId xmlns:a16="http://schemas.microsoft.com/office/drawing/2014/main" id="{42F1F0B3-4C8C-65D4-C71F-64A76C1A13CD}"/>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301028" y="3274976"/>
              <a:ext cx="336064" cy="336064"/>
            </a:xfrm>
            <a:prstGeom prst="rect">
              <a:avLst/>
            </a:prstGeom>
          </p:spPr>
        </p:pic>
        <p:pic>
          <p:nvPicPr>
            <p:cNvPr id="9" name="Graphique 8" descr="Utilisateur avec un remplissage uni">
              <a:extLst>
                <a:ext uri="{FF2B5EF4-FFF2-40B4-BE49-F238E27FC236}">
                  <a16:creationId xmlns:a16="http://schemas.microsoft.com/office/drawing/2014/main" id="{C36147A3-B314-5CCD-D94A-B766AD2F56FB}"/>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054140" y="3512720"/>
              <a:ext cx="336064" cy="336064"/>
            </a:xfrm>
            <a:prstGeom prst="rect">
              <a:avLst/>
            </a:prstGeom>
          </p:spPr>
        </p:pic>
        <p:pic>
          <p:nvPicPr>
            <p:cNvPr id="10" name="Graphique 9" descr="Utilisateur avec un remplissage uni">
              <a:extLst>
                <a:ext uri="{FF2B5EF4-FFF2-40B4-BE49-F238E27FC236}">
                  <a16:creationId xmlns:a16="http://schemas.microsoft.com/office/drawing/2014/main" id="{F86CC8D5-4194-862A-FEAA-3A6AEF56E32D}"/>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345616" y="3561880"/>
              <a:ext cx="336064" cy="336064"/>
            </a:xfrm>
            <a:prstGeom prst="rect">
              <a:avLst/>
            </a:prstGeom>
          </p:spPr>
        </p:pic>
        <p:pic>
          <p:nvPicPr>
            <p:cNvPr id="11" name="Graphique 10" descr="Utilisateur avec un remplissage uni">
              <a:extLst>
                <a:ext uri="{FF2B5EF4-FFF2-40B4-BE49-F238E27FC236}">
                  <a16:creationId xmlns:a16="http://schemas.microsoft.com/office/drawing/2014/main" id="{004DCFFB-A3E8-A463-BAFA-D946B1191D97}"/>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592504" y="3418428"/>
              <a:ext cx="336064" cy="336064"/>
            </a:xfrm>
            <a:prstGeom prst="rect">
              <a:avLst/>
            </a:prstGeom>
          </p:spPr>
        </p:pic>
        <p:pic>
          <p:nvPicPr>
            <p:cNvPr id="12" name="Graphique 11" descr="Utilisateur avec un remplissage uni">
              <a:extLst>
                <a:ext uri="{FF2B5EF4-FFF2-40B4-BE49-F238E27FC236}">
                  <a16:creationId xmlns:a16="http://schemas.microsoft.com/office/drawing/2014/main" id="{7A63FB75-5F44-02A7-CB7F-BE07AF39A1AD}"/>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635196" y="3680752"/>
              <a:ext cx="336064" cy="336064"/>
            </a:xfrm>
            <a:prstGeom prst="rect">
              <a:avLst/>
            </a:prstGeom>
          </p:spPr>
        </p:pic>
        <p:pic>
          <p:nvPicPr>
            <p:cNvPr id="13" name="Graphique 12" descr="Utilisateur avec un remplissage uni">
              <a:extLst>
                <a:ext uri="{FF2B5EF4-FFF2-40B4-BE49-F238E27FC236}">
                  <a16:creationId xmlns:a16="http://schemas.microsoft.com/office/drawing/2014/main" id="{16C33D96-E38E-E7DF-851E-D826C39D1270}"/>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256440" y="3848784"/>
              <a:ext cx="336064" cy="336064"/>
            </a:xfrm>
            <a:prstGeom prst="rect">
              <a:avLst/>
            </a:prstGeom>
          </p:spPr>
        </p:pic>
        <p:pic>
          <p:nvPicPr>
            <p:cNvPr id="14" name="Graphique 13" descr="Utilisateur avec un remplissage uni">
              <a:extLst>
                <a:ext uri="{FF2B5EF4-FFF2-40B4-BE49-F238E27FC236}">
                  <a16:creationId xmlns:a16="http://schemas.microsoft.com/office/drawing/2014/main" id="{A1131BC8-89E1-9247-818A-E74D3F652B33}"/>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8982504" y="3835028"/>
              <a:ext cx="336064" cy="336064"/>
            </a:xfrm>
            <a:prstGeom prst="rect">
              <a:avLst/>
            </a:prstGeom>
          </p:spPr>
        </p:pic>
        <p:pic>
          <p:nvPicPr>
            <p:cNvPr id="15" name="Graphique 14" descr="Utilisateur avec un remplissage uni">
              <a:extLst>
                <a:ext uri="{FF2B5EF4-FFF2-40B4-BE49-F238E27FC236}">
                  <a16:creationId xmlns:a16="http://schemas.microsoft.com/office/drawing/2014/main" id="{4912B972-BF9E-22FF-757B-0FE39BDCBB37}"/>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520868" y="3943076"/>
              <a:ext cx="336064" cy="336064"/>
            </a:xfrm>
            <a:prstGeom prst="rect">
              <a:avLst/>
            </a:prstGeom>
          </p:spPr>
        </p:pic>
        <p:pic>
          <p:nvPicPr>
            <p:cNvPr id="16" name="Graphique 15" descr="Utilisateur avec un remplissage uni">
              <a:extLst>
                <a:ext uri="{FF2B5EF4-FFF2-40B4-BE49-F238E27FC236}">
                  <a16:creationId xmlns:a16="http://schemas.microsoft.com/office/drawing/2014/main" id="{5AB538D1-5523-E984-275B-ED117970296D}"/>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742772" y="3976465"/>
              <a:ext cx="336064" cy="336064"/>
            </a:xfrm>
            <a:prstGeom prst="rect">
              <a:avLst/>
            </a:prstGeom>
          </p:spPr>
        </p:pic>
        <p:pic>
          <p:nvPicPr>
            <p:cNvPr id="17" name="Graphique 16" descr="Utilisateur avec un remplissage uni">
              <a:extLst>
                <a:ext uri="{FF2B5EF4-FFF2-40B4-BE49-F238E27FC236}">
                  <a16:creationId xmlns:a16="http://schemas.microsoft.com/office/drawing/2014/main" id="{9BEE17C1-7C0F-2464-2A83-86026ADDBB01}"/>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877110" y="3705332"/>
              <a:ext cx="336064" cy="336064"/>
            </a:xfrm>
            <a:prstGeom prst="rect">
              <a:avLst/>
            </a:prstGeom>
          </p:spPr>
        </p:pic>
        <p:pic>
          <p:nvPicPr>
            <p:cNvPr id="18" name="Graphique 17" descr="Utilisateur avec un remplissage uni">
              <a:extLst>
                <a:ext uri="{FF2B5EF4-FFF2-40B4-BE49-F238E27FC236}">
                  <a16:creationId xmlns:a16="http://schemas.microsoft.com/office/drawing/2014/main" id="{C0A7C42C-B503-5EF3-C780-928AB01B4DD1}"/>
                </a:ext>
              </a:extLst>
            </p:cNvPr>
            <p:cNvPicPr>
              <a:picLocks noChangeAspect="1"/>
            </p:cNvPicPr>
            <p:nvPr/>
          </p:nvPicPr>
          <p:blipFill>
            <a:blip r:embed="rId51">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9856932" y="3429000"/>
              <a:ext cx="336064" cy="336064"/>
            </a:xfrm>
            <a:prstGeom prst="rect">
              <a:avLst/>
            </a:prstGeom>
          </p:spPr>
        </p:pic>
      </p:grpSp>
      <p:sp>
        <p:nvSpPr>
          <p:cNvPr id="20" name="Titre 1">
            <a:extLst>
              <a:ext uri="{FF2B5EF4-FFF2-40B4-BE49-F238E27FC236}">
                <a16:creationId xmlns:a16="http://schemas.microsoft.com/office/drawing/2014/main" id="{2654AC1A-AAF6-96B0-7F7F-B76182ACB207}"/>
              </a:ext>
            </a:extLst>
          </p:cNvPr>
          <p:cNvSpPr txBox="1">
            <a:spLocks/>
          </p:cNvSpPr>
          <p:nvPr/>
        </p:nvSpPr>
        <p:spPr>
          <a:xfrm>
            <a:off x="3298477" y="2940495"/>
            <a:ext cx="1281745" cy="65006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pic>
        <p:nvPicPr>
          <p:cNvPr id="483" name="Graphique 482" descr="Chat avec un remplissage uni">
            <a:extLst>
              <a:ext uri="{FF2B5EF4-FFF2-40B4-BE49-F238E27FC236}">
                <a16:creationId xmlns:a16="http://schemas.microsoft.com/office/drawing/2014/main" id="{1C8B840F-02DD-76E5-BE32-23A5AC7F8020}"/>
              </a:ext>
            </a:extLst>
          </p:cNvPr>
          <p:cNvPicPr>
            <a:picLocks noChangeAspect="1"/>
          </p:cNvPicPr>
          <p:nvPr/>
        </p:nvPicPr>
        <p:blipFill>
          <a:blip r:embed="rId53">
            <a:extLst>
              <a:ext uri="{28A0092B-C50C-407E-A947-70E740481C1C}">
                <a14:useLocalDpi xmlns:a14="http://schemas.microsoft.com/office/drawing/2010/main" val="0"/>
              </a:ext>
              <a:ext uri="{96DAC541-7B7A-43D3-8B79-37D633B846F1}">
                <asvg:svgBlip xmlns:asvg="http://schemas.microsoft.com/office/drawing/2016/SVG/main" r:embed="rId54"/>
              </a:ext>
            </a:extLst>
          </a:blip>
          <a:stretch>
            <a:fillRect/>
          </a:stretch>
        </p:blipFill>
        <p:spPr>
          <a:xfrm>
            <a:off x="8468416" y="2232851"/>
            <a:ext cx="541487" cy="541485"/>
          </a:xfrm>
          <a:prstGeom prst="rect">
            <a:avLst/>
          </a:prstGeom>
        </p:spPr>
      </p:pic>
      <p:pic>
        <p:nvPicPr>
          <p:cNvPr id="484" name="Graphique 483" descr="Sablier 60% avec un remplissage uni">
            <a:extLst>
              <a:ext uri="{FF2B5EF4-FFF2-40B4-BE49-F238E27FC236}">
                <a16:creationId xmlns:a16="http://schemas.microsoft.com/office/drawing/2014/main" id="{1FA91A55-8E59-374C-7E83-69CE39FA3ED4}"/>
              </a:ext>
            </a:extLst>
          </p:cNvPr>
          <p:cNvPicPr>
            <a:picLocks noChangeAspect="1"/>
          </p:cNvPicPr>
          <p:nvPr/>
        </p:nvPicPr>
        <p:blipFill>
          <a:blip r:embed="rId55">
            <a:extLst>
              <a:ext uri="{28A0092B-C50C-407E-A947-70E740481C1C}">
                <a14:useLocalDpi xmlns:a14="http://schemas.microsoft.com/office/drawing/2010/main" val="0"/>
              </a:ext>
              <a:ext uri="{96DAC541-7B7A-43D3-8B79-37D633B846F1}">
                <asvg:svgBlip xmlns:asvg="http://schemas.microsoft.com/office/drawing/2016/SVG/main" r:embed="rId56"/>
              </a:ext>
            </a:extLst>
          </a:blip>
          <a:stretch>
            <a:fillRect/>
          </a:stretch>
        </p:blipFill>
        <p:spPr>
          <a:xfrm>
            <a:off x="9540149" y="2224607"/>
            <a:ext cx="541487" cy="541485"/>
          </a:xfrm>
          <a:prstGeom prst="rect">
            <a:avLst/>
          </a:prstGeom>
        </p:spPr>
      </p:pic>
      <p:pic>
        <p:nvPicPr>
          <p:cNvPr id="485" name="Graphique 484" descr="Flèches de chevron avec un remplissage uni">
            <a:extLst>
              <a:ext uri="{FF2B5EF4-FFF2-40B4-BE49-F238E27FC236}">
                <a16:creationId xmlns:a16="http://schemas.microsoft.com/office/drawing/2014/main" id="{01AE4DEE-D07A-BA44-5214-C96E3C5519A8}"/>
              </a:ext>
            </a:extLst>
          </p:cNvPr>
          <p:cNvPicPr>
            <a:picLocks noChangeAspect="1"/>
          </p:cNvPicPr>
          <p:nvPr/>
        </p:nvPicPr>
        <p:blipFill>
          <a:blip r:embed="rId57">
            <a:extLst>
              <a:ext uri="{28A0092B-C50C-407E-A947-70E740481C1C}">
                <a14:useLocalDpi xmlns:a14="http://schemas.microsoft.com/office/drawing/2010/main" val="0"/>
              </a:ext>
              <a:ext uri="{96DAC541-7B7A-43D3-8B79-37D633B846F1}">
                <asvg:svgBlip xmlns:asvg="http://schemas.microsoft.com/office/drawing/2016/SVG/main" r:embed="rId58"/>
              </a:ext>
            </a:extLst>
          </a:blip>
          <a:stretch>
            <a:fillRect/>
          </a:stretch>
        </p:blipFill>
        <p:spPr>
          <a:xfrm>
            <a:off x="5340048" y="2232115"/>
            <a:ext cx="493768" cy="493766"/>
          </a:xfrm>
          <a:prstGeom prst="rect">
            <a:avLst/>
          </a:prstGeom>
        </p:spPr>
      </p:pic>
      <p:pic>
        <p:nvPicPr>
          <p:cNvPr id="488" name="Graphique 487" descr="Informations avec un remplissage uni">
            <a:extLst>
              <a:ext uri="{FF2B5EF4-FFF2-40B4-BE49-F238E27FC236}">
                <a16:creationId xmlns:a16="http://schemas.microsoft.com/office/drawing/2014/main" id="{1CC62E04-C5AF-CC6B-6075-2D622C1D38D0}"/>
              </a:ext>
            </a:extLst>
          </p:cNvPr>
          <p:cNvPicPr>
            <a:picLocks noChangeAspect="1"/>
          </p:cNvPicPr>
          <p:nvPr/>
        </p:nvPicPr>
        <p:blipFill>
          <a:blip r:embed="rId59">
            <a:extLst>
              <a:ext uri="{28A0092B-C50C-407E-A947-70E740481C1C}">
                <a14:useLocalDpi xmlns:a14="http://schemas.microsoft.com/office/drawing/2010/main" val="0"/>
              </a:ext>
              <a:ext uri="{96DAC541-7B7A-43D3-8B79-37D633B846F1}">
                <asvg:svgBlip xmlns:asvg="http://schemas.microsoft.com/office/drawing/2016/SVG/main" r:embed="rId60"/>
              </a:ext>
            </a:extLst>
          </a:blip>
          <a:stretch>
            <a:fillRect/>
          </a:stretch>
        </p:blipFill>
        <p:spPr>
          <a:xfrm>
            <a:off x="7411620" y="2220972"/>
            <a:ext cx="548758" cy="548756"/>
          </a:xfrm>
          <a:prstGeom prst="rect">
            <a:avLst/>
          </a:prstGeom>
        </p:spPr>
      </p:pic>
      <p:pic>
        <p:nvPicPr>
          <p:cNvPr id="492" name="Graphique 491" descr="Signe pouce en haut avec un remplissage uni">
            <a:extLst>
              <a:ext uri="{FF2B5EF4-FFF2-40B4-BE49-F238E27FC236}">
                <a16:creationId xmlns:a16="http://schemas.microsoft.com/office/drawing/2014/main" id="{91111B0C-0706-8BAF-F9BA-0D57F6D9AD50}"/>
              </a:ext>
            </a:extLst>
          </p:cNvPr>
          <p:cNvPicPr>
            <a:picLocks noChangeAspect="1"/>
          </p:cNvPicPr>
          <p:nvPr/>
        </p:nvPicPr>
        <p:blipFill>
          <a:blip r:embed="rId61">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10595596" y="2199377"/>
            <a:ext cx="548758" cy="548756"/>
          </a:xfrm>
          <a:prstGeom prst="rect">
            <a:avLst/>
          </a:prstGeom>
        </p:spPr>
      </p:pic>
      <p:sp>
        <p:nvSpPr>
          <p:cNvPr id="494" name="Rectangle 493">
            <a:extLst>
              <a:ext uri="{FF2B5EF4-FFF2-40B4-BE49-F238E27FC236}">
                <a16:creationId xmlns:a16="http://schemas.microsoft.com/office/drawing/2014/main" id="{D212220B-2EB8-FB9D-1323-50EE5838A377}"/>
              </a:ext>
            </a:extLst>
          </p:cNvPr>
          <p:cNvSpPr/>
          <p:nvPr/>
        </p:nvSpPr>
        <p:spPr>
          <a:xfrm>
            <a:off x="9280177"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individuelle (ou mieux : commune) pour l’amélioration </a:t>
            </a:r>
          </a:p>
        </p:txBody>
      </p:sp>
      <p:sp>
        <p:nvSpPr>
          <p:cNvPr id="495" name="Rectangle 494">
            <a:extLst>
              <a:ext uri="{FF2B5EF4-FFF2-40B4-BE49-F238E27FC236}">
                <a16:creationId xmlns:a16="http://schemas.microsoft.com/office/drawing/2014/main" id="{D72127E4-F600-26E9-A385-15B818960C6A}"/>
              </a:ext>
            </a:extLst>
          </p:cNvPr>
          <p:cNvSpPr/>
          <p:nvPr/>
        </p:nvSpPr>
        <p:spPr>
          <a:xfrm>
            <a:off x="7185911" y="2832487"/>
            <a:ext cx="996523" cy="60207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Problèmes, limites, frustrations, souhaits…</a:t>
            </a:r>
          </a:p>
        </p:txBody>
      </p:sp>
      <p:sp>
        <p:nvSpPr>
          <p:cNvPr id="496" name="Rectangle 495">
            <a:extLst>
              <a:ext uri="{FF2B5EF4-FFF2-40B4-BE49-F238E27FC236}">
                <a16:creationId xmlns:a16="http://schemas.microsoft.com/office/drawing/2014/main" id="{4CC250A8-7695-417F-0BEC-4370509737E1}"/>
              </a:ext>
            </a:extLst>
          </p:cNvPr>
          <p:cNvSpPr/>
          <p:nvPr/>
        </p:nvSpPr>
        <p:spPr>
          <a:xfrm>
            <a:off x="6127601"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Capacité à créer suffisamment de sécurité pour que les membres osent critiquer</a:t>
            </a:r>
          </a:p>
        </p:txBody>
      </p:sp>
      <p:sp>
        <p:nvSpPr>
          <p:cNvPr id="497" name="Rectangle 496">
            <a:extLst>
              <a:ext uri="{FF2B5EF4-FFF2-40B4-BE49-F238E27FC236}">
                <a16:creationId xmlns:a16="http://schemas.microsoft.com/office/drawing/2014/main" id="{EEF88708-EF98-580D-C00C-03FCC6AD968B}"/>
              </a:ext>
            </a:extLst>
          </p:cNvPr>
          <p:cNvSpPr/>
          <p:nvPr/>
        </p:nvSpPr>
        <p:spPr>
          <a:xfrm>
            <a:off x="8221867"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Outil de collecte, d’enregistrement, de rangement des idées</a:t>
            </a:r>
          </a:p>
        </p:txBody>
      </p:sp>
      <p:sp>
        <p:nvSpPr>
          <p:cNvPr id="498" name="Rectangle 497">
            <a:extLst>
              <a:ext uri="{FF2B5EF4-FFF2-40B4-BE49-F238E27FC236}">
                <a16:creationId xmlns:a16="http://schemas.microsoft.com/office/drawing/2014/main" id="{DAC8AABD-FA7F-AC98-2B56-9346425065BB}"/>
              </a:ext>
            </a:extLst>
          </p:cNvPr>
          <p:cNvSpPr/>
          <p:nvPr/>
        </p:nvSpPr>
        <p:spPr>
          <a:xfrm>
            <a:off x="5069291"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Motivation à une communauté meilleure, insatisfaction</a:t>
            </a:r>
          </a:p>
        </p:txBody>
      </p:sp>
      <p:sp>
        <p:nvSpPr>
          <p:cNvPr id="499" name="Rectangle 498">
            <a:extLst>
              <a:ext uri="{FF2B5EF4-FFF2-40B4-BE49-F238E27FC236}">
                <a16:creationId xmlns:a16="http://schemas.microsoft.com/office/drawing/2014/main" id="{11D23723-ADCC-9366-FE1D-36E454F55AD0}"/>
              </a:ext>
            </a:extLst>
          </p:cNvPr>
          <p:cNvSpPr/>
          <p:nvPr/>
        </p:nvSpPr>
        <p:spPr>
          <a:xfrm>
            <a:off x="10338487" y="2832487"/>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Soutien extérieur sur l’amélioration (acceptation de l’erreur, du temps…)</a:t>
            </a:r>
          </a:p>
        </p:txBody>
      </p:sp>
      <p:pic>
        <p:nvPicPr>
          <p:cNvPr id="501" name="Graphique 500" descr="Tête avec engrenages avec un remplissage uni">
            <a:extLst>
              <a:ext uri="{FF2B5EF4-FFF2-40B4-BE49-F238E27FC236}">
                <a16:creationId xmlns:a16="http://schemas.microsoft.com/office/drawing/2014/main" id="{426E4BFF-951D-CF6A-E7F0-813F407AF48D}"/>
              </a:ext>
            </a:extLst>
          </p:cNvPr>
          <p:cNvPicPr>
            <a:picLocks noChangeAspect="1"/>
          </p:cNvPicPr>
          <p:nvPr/>
        </p:nvPicPr>
        <p:blipFill>
          <a:blip r:embed="rId63">
            <a:extLst>
              <a:ext uri="{28A0092B-C50C-407E-A947-70E740481C1C}">
                <a14:useLocalDpi xmlns:a14="http://schemas.microsoft.com/office/drawing/2010/main" val="0"/>
              </a:ext>
              <a:ext uri="{96DAC541-7B7A-43D3-8B79-37D633B846F1}">
                <asvg:svgBlip xmlns:asvg="http://schemas.microsoft.com/office/drawing/2016/SVG/main" r:embed="rId64"/>
              </a:ext>
            </a:extLst>
          </a:blip>
          <a:stretch>
            <a:fillRect/>
          </a:stretch>
        </p:blipFill>
        <p:spPr>
          <a:xfrm>
            <a:off x="6348387" y="2223640"/>
            <a:ext cx="522484" cy="522482"/>
          </a:xfrm>
          <a:prstGeom prst="rect">
            <a:avLst/>
          </a:prstGeom>
        </p:spPr>
      </p:pic>
    </p:spTree>
    <p:extLst>
      <p:ext uri="{BB962C8B-B14F-4D97-AF65-F5344CB8AC3E}">
        <p14:creationId xmlns:p14="http://schemas.microsoft.com/office/powerpoint/2010/main" val="574937305"/>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 name="Tableau 4">
            <a:extLst>
              <a:ext uri="{FF2B5EF4-FFF2-40B4-BE49-F238E27FC236}">
                <a16:creationId xmlns:a16="http://schemas.microsoft.com/office/drawing/2014/main" id="{FAF428DF-0919-D4C5-3B21-0CF2B18C6B4C}"/>
              </a:ext>
            </a:extLst>
          </p:cNvPr>
          <p:cNvGraphicFramePr>
            <a:graphicFrameLocks noGrp="1"/>
          </p:cNvGraphicFramePr>
          <p:nvPr>
            <p:ph idx="1"/>
            <p:extLst>
              <p:ext uri="{D42A27DB-BD31-4B8C-83A1-F6EECF244321}">
                <p14:modId xmlns:p14="http://schemas.microsoft.com/office/powerpoint/2010/main" val="1724950472"/>
              </p:ext>
            </p:extLst>
          </p:nvPr>
        </p:nvGraphicFramePr>
        <p:xfrm>
          <a:off x="813208" y="774940"/>
          <a:ext cx="10515600" cy="5297403"/>
        </p:xfrm>
        <a:graphic>
          <a:graphicData uri="http://schemas.openxmlformats.org/drawingml/2006/table">
            <a:tbl>
              <a:tblPr firstRow="1">
                <a:tableStyleId>{5C22544A-7EE6-4342-B048-85BDC9FD1C3A}</a:tableStyleId>
              </a:tblPr>
              <a:tblGrid>
                <a:gridCol w="2103120">
                  <a:extLst>
                    <a:ext uri="{9D8B030D-6E8A-4147-A177-3AD203B41FA5}">
                      <a16:colId xmlns:a16="http://schemas.microsoft.com/office/drawing/2014/main" val="1718918336"/>
                    </a:ext>
                  </a:extLst>
                </a:gridCol>
                <a:gridCol w="2103120">
                  <a:extLst>
                    <a:ext uri="{9D8B030D-6E8A-4147-A177-3AD203B41FA5}">
                      <a16:colId xmlns:a16="http://schemas.microsoft.com/office/drawing/2014/main" val="1622701972"/>
                    </a:ext>
                  </a:extLst>
                </a:gridCol>
                <a:gridCol w="1051560">
                  <a:extLst>
                    <a:ext uri="{9D8B030D-6E8A-4147-A177-3AD203B41FA5}">
                      <a16:colId xmlns:a16="http://schemas.microsoft.com/office/drawing/2014/main" val="4159813692"/>
                    </a:ext>
                  </a:extLst>
                </a:gridCol>
                <a:gridCol w="1051560">
                  <a:extLst>
                    <a:ext uri="{9D8B030D-6E8A-4147-A177-3AD203B41FA5}">
                      <a16:colId xmlns:a16="http://schemas.microsoft.com/office/drawing/2014/main" val="1209033599"/>
                    </a:ext>
                  </a:extLst>
                </a:gridCol>
                <a:gridCol w="1051560">
                  <a:extLst>
                    <a:ext uri="{9D8B030D-6E8A-4147-A177-3AD203B41FA5}">
                      <a16:colId xmlns:a16="http://schemas.microsoft.com/office/drawing/2014/main" val="585059365"/>
                    </a:ext>
                  </a:extLst>
                </a:gridCol>
                <a:gridCol w="1051560">
                  <a:extLst>
                    <a:ext uri="{9D8B030D-6E8A-4147-A177-3AD203B41FA5}">
                      <a16:colId xmlns:a16="http://schemas.microsoft.com/office/drawing/2014/main" val="3793717718"/>
                    </a:ext>
                  </a:extLst>
                </a:gridCol>
                <a:gridCol w="1051560">
                  <a:extLst>
                    <a:ext uri="{9D8B030D-6E8A-4147-A177-3AD203B41FA5}">
                      <a16:colId xmlns:a16="http://schemas.microsoft.com/office/drawing/2014/main" val="2007218290"/>
                    </a:ext>
                  </a:extLst>
                </a:gridCol>
                <a:gridCol w="1051560">
                  <a:extLst>
                    <a:ext uri="{9D8B030D-6E8A-4147-A177-3AD203B41FA5}">
                      <a16:colId xmlns:a16="http://schemas.microsoft.com/office/drawing/2014/main" val="2003068962"/>
                    </a:ext>
                  </a:extLst>
                </a:gridCol>
              </a:tblGrid>
              <a:tr h="781007">
                <a:tc gridSpan="8">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Etape de restructuration de fond</a:t>
                      </a:r>
                    </a:p>
                    <a:p>
                      <a:r>
                        <a:rPr lang="fr-FR" i="1" dirty="0"/>
                        <a:t>« Redéfinir les règles et une nouvelle structure de communauté pour mieux répondre à sa raison d’être»</a:t>
                      </a:r>
                    </a:p>
                  </a:txBody>
                  <a:tcPr/>
                </a:tc>
                <a:tc hMerge="1">
                  <a:txBody>
                    <a:bodyPr/>
                    <a:lstStyle/>
                    <a:p>
                      <a:endParaRPr lang="fr-FR" dirty="0"/>
                    </a:p>
                  </a:txBody>
                  <a:tcPr/>
                </a:tc>
                <a:tc hMerge="1">
                  <a:txBody>
                    <a:bodyPr/>
                    <a:lstStyle/>
                    <a:p>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408331726"/>
                  </a:ext>
                </a:extLst>
              </a:tr>
              <a:tr h="333347">
                <a:tc>
                  <a:txBody>
                    <a:bodyPr/>
                    <a:lstStyle/>
                    <a:p>
                      <a:r>
                        <a:rPr lang="fr-FR" sz="1800" b="1" dirty="0"/>
                        <a:t>Timing </a:t>
                      </a:r>
                    </a:p>
                  </a:txBody>
                  <a:tcPr>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r>
                        <a:rPr lang="fr-FR" sz="1800" b="1" dirty="0"/>
                        <a:t>Approche</a:t>
                      </a:r>
                    </a:p>
                  </a:txBody>
                  <a:tcPr>
                    <a:lnB w="12700" cap="flat" cmpd="sng" algn="ctr">
                      <a:solidFill>
                        <a:schemeClr val="tx1"/>
                      </a:solidFill>
                      <a:prstDash val="solid"/>
                      <a:round/>
                      <a:headEnd type="none" w="med" len="med"/>
                      <a:tailEnd type="none" w="med" len="med"/>
                    </a:lnB>
                    <a:solidFill>
                      <a:schemeClr val="bg1">
                        <a:lumMod val="65000"/>
                      </a:schemeClr>
                    </a:solidFill>
                  </a:tcPr>
                </a:tc>
                <a:tc gridSpan="6">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800" b="1" dirty="0"/>
                        <a:t>7 ressources clés à trouver, établir ou mettre en commun à cette étape</a:t>
                      </a:r>
                      <a:endParaRPr lang="fr-FR" sz="1800" dirty="0"/>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tc hMerge="1">
                  <a:txBody>
                    <a:bodyPr/>
                    <a:lstStyle/>
                    <a:p>
                      <a:r>
                        <a:rPr lang="fr-FR" sz="1200" b="1" dirty="0"/>
                        <a:t>3 blocages courants à résoudre à cet étape</a:t>
                      </a:r>
                    </a:p>
                  </a:txBody>
                  <a:tcPr>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4100058761"/>
                  </a:ext>
                </a:extLst>
              </a:tr>
              <a:tr h="1295707">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10864029"/>
                  </a:ext>
                </a:extLst>
              </a:tr>
              <a:tr h="349052">
                <a:tc gridSpan="8">
                  <a:txBody>
                    <a:bodyPr/>
                    <a:lstStyle/>
                    <a:p>
                      <a:r>
                        <a:rPr lang="fr-FR" sz="1800" b="1" dirty="0"/>
                        <a:t>5 actions et contenus clés pour cette étape</a:t>
                      </a:r>
                    </a:p>
                  </a:txBody>
                  <a:tcP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fr-FR" dirty="0"/>
                    </a:p>
                  </a:txBody>
                  <a:tcPr>
                    <a:lnT w="12700" cap="flat" cmpd="sng" algn="ctr">
                      <a:solidFill>
                        <a:schemeClr val="tx1"/>
                      </a:solidFill>
                      <a:prstDash val="solid"/>
                      <a:round/>
                      <a:headEnd type="none" w="med" len="med"/>
                      <a:tailEnd type="none" w="med" len="med"/>
                    </a:lnT>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3103929443"/>
                  </a:ext>
                </a:extLst>
              </a:tr>
              <a:tr h="2214849">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gridSpan="2">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fr-FR"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5180300"/>
                  </a:ext>
                </a:extLst>
              </a:tr>
            </a:tbl>
          </a:graphicData>
        </a:graphic>
      </p:graphicFrame>
      <p:sp>
        <p:nvSpPr>
          <p:cNvPr id="2" name="Flèche : droite 1">
            <a:extLst>
              <a:ext uri="{FF2B5EF4-FFF2-40B4-BE49-F238E27FC236}">
                <a16:creationId xmlns:a16="http://schemas.microsoft.com/office/drawing/2014/main" id="{A4E1E023-DB26-1F5D-FF13-68F0737CA008}"/>
              </a:ext>
            </a:extLst>
          </p:cNvPr>
          <p:cNvSpPr/>
          <p:nvPr/>
        </p:nvSpPr>
        <p:spPr>
          <a:xfrm>
            <a:off x="821322" y="2150870"/>
            <a:ext cx="2102327" cy="1427226"/>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DEMOTIVATIONS:</a:t>
            </a:r>
          </a:p>
          <a:p>
            <a:pPr algn="ctr"/>
            <a:r>
              <a:rPr lang="fr-FR" sz="1200" dirty="0">
                <a:solidFill>
                  <a:schemeClr val="tx1"/>
                </a:solidFill>
              </a:rPr>
              <a:t>Constater un manque ou une baisse de la valeur</a:t>
            </a:r>
          </a:p>
        </p:txBody>
      </p:sp>
      <p:grpSp>
        <p:nvGrpSpPr>
          <p:cNvPr id="6" name="Groupe 5">
            <a:extLst>
              <a:ext uri="{FF2B5EF4-FFF2-40B4-BE49-F238E27FC236}">
                <a16:creationId xmlns:a16="http://schemas.microsoft.com/office/drawing/2014/main" id="{9822F6F2-5D4B-62A7-4EE6-3CC55CFFB741}"/>
              </a:ext>
            </a:extLst>
          </p:cNvPr>
          <p:cNvGrpSpPr/>
          <p:nvPr/>
        </p:nvGrpSpPr>
        <p:grpSpPr>
          <a:xfrm>
            <a:off x="3380616" y="2220972"/>
            <a:ext cx="1131981" cy="919579"/>
            <a:chOff x="8982504" y="3274976"/>
            <a:chExt cx="1230670" cy="1037553"/>
          </a:xfrm>
          <a:solidFill>
            <a:srgbClr val="ED7D31"/>
          </a:solidFill>
        </p:grpSpPr>
        <p:pic>
          <p:nvPicPr>
            <p:cNvPr id="7" name="Graphique 6" descr="Utilisateur avec un remplissage uni">
              <a:extLst>
                <a:ext uri="{FF2B5EF4-FFF2-40B4-BE49-F238E27FC236}">
                  <a16:creationId xmlns:a16="http://schemas.microsoft.com/office/drawing/2014/main" id="{C571170E-CBCE-D24C-D576-AF5C26C636F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8" name="Graphique 7" descr="Utilisateur avec un remplissage uni">
              <a:extLst>
                <a:ext uri="{FF2B5EF4-FFF2-40B4-BE49-F238E27FC236}">
                  <a16:creationId xmlns:a16="http://schemas.microsoft.com/office/drawing/2014/main" id="{F6147562-8952-B014-4E10-C667B48B098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9" name="Graphique 8" descr="Utilisateur avec un remplissage uni">
              <a:extLst>
                <a:ext uri="{FF2B5EF4-FFF2-40B4-BE49-F238E27FC236}">
                  <a16:creationId xmlns:a16="http://schemas.microsoft.com/office/drawing/2014/main" id="{F482DCBF-95D9-4A68-350E-8A85BF0A2F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10" name="Graphique 9" descr="Utilisateur avec un remplissage uni">
              <a:extLst>
                <a:ext uri="{FF2B5EF4-FFF2-40B4-BE49-F238E27FC236}">
                  <a16:creationId xmlns:a16="http://schemas.microsoft.com/office/drawing/2014/main" id="{8857B41D-545A-8210-C705-D61781F084F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11" name="Graphique 10" descr="Utilisateur avec un remplissage uni">
              <a:extLst>
                <a:ext uri="{FF2B5EF4-FFF2-40B4-BE49-F238E27FC236}">
                  <a16:creationId xmlns:a16="http://schemas.microsoft.com/office/drawing/2014/main" id="{8874EB86-385E-89DA-D6BC-669D060602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12" name="Graphique 11" descr="Utilisateur avec un remplissage uni">
              <a:extLst>
                <a:ext uri="{FF2B5EF4-FFF2-40B4-BE49-F238E27FC236}">
                  <a16:creationId xmlns:a16="http://schemas.microsoft.com/office/drawing/2014/main" id="{A8C61E0E-35C6-B1E4-8653-CB913EACA05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13" name="Graphique 12" descr="Utilisateur avec un remplissage uni">
              <a:extLst>
                <a:ext uri="{FF2B5EF4-FFF2-40B4-BE49-F238E27FC236}">
                  <a16:creationId xmlns:a16="http://schemas.microsoft.com/office/drawing/2014/main" id="{0280B583-5EBB-F776-9229-79422AAA717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14" name="Graphique 13" descr="Utilisateur avec un remplissage uni">
              <a:extLst>
                <a:ext uri="{FF2B5EF4-FFF2-40B4-BE49-F238E27FC236}">
                  <a16:creationId xmlns:a16="http://schemas.microsoft.com/office/drawing/2014/main" id="{10A4C76B-424A-3C2E-5397-235801C0945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15" name="Graphique 14" descr="Utilisateur avec un remplissage uni">
              <a:extLst>
                <a:ext uri="{FF2B5EF4-FFF2-40B4-BE49-F238E27FC236}">
                  <a16:creationId xmlns:a16="http://schemas.microsoft.com/office/drawing/2014/main" id="{F8F012DF-AE10-E6DA-3FCD-03FC43577BD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42772" y="3976465"/>
              <a:ext cx="336064" cy="336064"/>
            </a:xfrm>
            <a:prstGeom prst="rect">
              <a:avLst/>
            </a:prstGeom>
          </p:spPr>
        </p:pic>
        <p:pic>
          <p:nvPicPr>
            <p:cNvPr id="16" name="Graphique 15" descr="Utilisateur avec un remplissage uni">
              <a:extLst>
                <a:ext uri="{FF2B5EF4-FFF2-40B4-BE49-F238E27FC236}">
                  <a16:creationId xmlns:a16="http://schemas.microsoft.com/office/drawing/2014/main" id="{7CF05A42-CB2D-7598-44D9-F061C46479E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17" name="Graphique 16" descr="Utilisateur avec un remplissage uni">
              <a:extLst>
                <a:ext uri="{FF2B5EF4-FFF2-40B4-BE49-F238E27FC236}">
                  <a16:creationId xmlns:a16="http://schemas.microsoft.com/office/drawing/2014/main" id="{436739A9-3145-204E-8581-0794D8AFD4D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sp>
        <p:nvSpPr>
          <p:cNvPr id="18" name="Titre 1">
            <a:extLst>
              <a:ext uri="{FF2B5EF4-FFF2-40B4-BE49-F238E27FC236}">
                <a16:creationId xmlns:a16="http://schemas.microsoft.com/office/drawing/2014/main" id="{03E78A24-5AFB-DFF8-3B31-77D18B628BAA}"/>
              </a:ext>
            </a:extLst>
          </p:cNvPr>
          <p:cNvSpPr txBox="1">
            <a:spLocks/>
          </p:cNvSpPr>
          <p:nvPr/>
        </p:nvSpPr>
        <p:spPr>
          <a:xfrm>
            <a:off x="3298477" y="2940495"/>
            <a:ext cx="1281745" cy="650065"/>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dirty="0"/>
              <a:t>Approche </a:t>
            </a:r>
            <a:r>
              <a:rPr lang="fr-FR" sz="1400" b="1" dirty="0"/>
              <a:t>Communauté</a:t>
            </a:r>
          </a:p>
        </p:txBody>
      </p:sp>
      <p:sp>
        <p:nvSpPr>
          <p:cNvPr id="19" name="Rectangle 18">
            <a:extLst>
              <a:ext uri="{FF2B5EF4-FFF2-40B4-BE49-F238E27FC236}">
                <a16:creationId xmlns:a16="http://schemas.microsoft.com/office/drawing/2014/main" id="{F02DEEFF-A855-5F04-ED05-B068CE2957C7}"/>
              </a:ext>
            </a:extLst>
          </p:cNvPr>
          <p:cNvSpPr/>
          <p:nvPr/>
        </p:nvSpPr>
        <p:spPr>
          <a:xfrm>
            <a:off x="933037" y="5185499"/>
            <a:ext cx="1864264" cy="78435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 Point sur l’état de motivation vis-à-vis de différentes activités (analyse du timing d’appréciation de valeur) puis priorisation</a:t>
            </a:r>
          </a:p>
        </p:txBody>
      </p:sp>
      <p:sp>
        <p:nvSpPr>
          <p:cNvPr id="20" name="Rectangle 19">
            <a:extLst>
              <a:ext uri="{FF2B5EF4-FFF2-40B4-BE49-F238E27FC236}">
                <a16:creationId xmlns:a16="http://schemas.microsoft.com/office/drawing/2014/main" id="{8AD89024-2D30-DA18-DD12-71FE3C8C5A72}"/>
              </a:ext>
            </a:extLst>
          </p:cNvPr>
          <p:cNvSpPr/>
          <p:nvPr/>
        </p:nvSpPr>
        <p:spPr>
          <a:xfrm>
            <a:off x="2989325" y="5185499"/>
            <a:ext cx="1864264" cy="78435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 Officialisation de la fin de certaines activités, fin de séries de certains contenus (contenus de clôture avec remerciements)</a:t>
            </a:r>
          </a:p>
        </p:txBody>
      </p:sp>
      <p:grpSp>
        <p:nvGrpSpPr>
          <p:cNvPr id="21" name="Groupe 20">
            <a:extLst>
              <a:ext uri="{FF2B5EF4-FFF2-40B4-BE49-F238E27FC236}">
                <a16:creationId xmlns:a16="http://schemas.microsoft.com/office/drawing/2014/main" id="{2F745FF9-26F1-3182-6AC1-EC2DC3A4DBBB}"/>
              </a:ext>
            </a:extLst>
          </p:cNvPr>
          <p:cNvGrpSpPr/>
          <p:nvPr/>
        </p:nvGrpSpPr>
        <p:grpSpPr>
          <a:xfrm>
            <a:off x="1060220" y="3993795"/>
            <a:ext cx="1624530" cy="1142656"/>
            <a:chOff x="4220293" y="1690688"/>
            <a:chExt cx="7292359" cy="5129271"/>
          </a:xfrm>
        </p:grpSpPr>
        <p:grpSp>
          <p:nvGrpSpPr>
            <p:cNvPr id="22" name="Groupe 21">
              <a:extLst>
                <a:ext uri="{FF2B5EF4-FFF2-40B4-BE49-F238E27FC236}">
                  <a16:creationId xmlns:a16="http://schemas.microsoft.com/office/drawing/2014/main" id="{1A7CC9F9-4688-154E-8CF9-4E188BE0BFE2}"/>
                </a:ext>
              </a:extLst>
            </p:cNvPr>
            <p:cNvGrpSpPr/>
            <p:nvPr/>
          </p:nvGrpSpPr>
          <p:grpSpPr>
            <a:xfrm>
              <a:off x="4254727" y="1690688"/>
              <a:ext cx="7234959" cy="1563666"/>
              <a:chOff x="1091953" y="2681056"/>
              <a:chExt cx="8611340" cy="915374"/>
            </a:xfrm>
          </p:grpSpPr>
          <p:sp>
            <p:nvSpPr>
              <p:cNvPr id="458" name="Flèche : droite 457">
                <a:extLst>
                  <a:ext uri="{FF2B5EF4-FFF2-40B4-BE49-F238E27FC236}">
                    <a16:creationId xmlns:a16="http://schemas.microsoft.com/office/drawing/2014/main" id="{0FEE4368-EB78-A246-5B77-9F75F029A82C}"/>
                  </a:ext>
                </a:extLst>
              </p:cNvPr>
              <p:cNvSpPr/>
              <p:nvPr/>
            </p:nvSpPr>
            <p:spPr>
              <a:xfrm>
                <a:off x="1091953" y="2681056"/>
                <a:ext cx="1722268" cy="91537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b="1" dirty="0">
                  <a:solidFill>
                    <a:schemeClr val="tx1"/>
                  </a:solidFill>
                </a:endParaRPr>
              </a:p>
            </p:txBody>
          </p:sp>
          <p:sp>
            <p:nvSpPr>
              <p:cNvPr id="459" name="Flèche : droite 458">
                <a:extLst>
                  <a:ext uri="{FF2B5EF4-FFF2-40B4-BE49-F238E27FC236}">
                    <a16:creationId xmlns:a16="http://schemas.microsoft.com/office/drawing/2014/main" id="{D97514B2-809D-65F7-5FD9-405F64333273}"/>
                  </a:ext>
                </a:extLst>
              </p:cNvPr>
              <p:cNvSpPr/>
              <p:nvPr/>
            </p:nvSpPr>
            <p:spPr>
              <a:xfrm>
                <a:off x="2814221" y="2681056"/>
                <a:ext cx="1722268" cy="91537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dirty="0">
                  <a:solidFill>
                    <a:schemeClr val="tx1"/>
                  </a:solidFill>
                </a:endParaRPr>
              </a:p>
            </p:txBody>
          </p:sp>
          <p:sp>
            <p:nvSpPr>
              <p:cNvPr id="461" name="Flèche : droite 460">
                <a:extLst>
                  <a:ext uri="{FF2B5EF4-FFF2-40B4-BE49-F238E27FC236}">
                    <a16:creationId xmlns:a16="http://schemas.microsoft.com/office/drawing/2014/main" id="{DEFBAEBC-B505-CC79-C0E3-DDE4DF1DDFB5}"/>
                  </a:ext>
                </a:extLst>
              </p:cNvPr>
              <p:cNvSpPr/>
              <p:nvPr/>
            </p:nvSpPr>
            <p:spPr>
              <a:xfrm>
                <a:off x="4536489" y="2681056"/>
                <a:ext cx="1722268" cy="915374"/>
              </a:xfrm>
              <a:prstGeom prst="rightArrow">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dirty="0">
                  <a:solidFill>
                    <a:schemeClr val="tx1"/>
                  </a:solidFill>
                </a:endParaRPr>
              </a:p>
            </p:txBody>
          </p:sp>
          <p:sp>
            <p:nvSpPr>
              <p:cNvPr id="462" name="Flèche : droite 461">
                <a:extLst>
                  <a:ext uri="{FF2B5EF4-FFF2-40B4-BE49-F238E27FC236}">
                    <a16:creationId xmlns:a16="http://schemas.microsoft.com/office/drawing/2014/main" id="{F0F8E2A7-CEB5-7827-F926-8A32B503163F}"/>
                  </a:ext>
                </a:extLst>
              </p:cNvPr>
              <p:cNvSpPr/>
              <p:nvPr/>
            </p:nvSpPr>
            <p:spPr>
              <a:xfrm>
                <a:off x="6258757" y="2681056"/>
                <a:ext cx="1722268" cy="91537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dirty="0">
                  <a:solidFill>
                    <a:schemeClr val="tx1"/>
                  </a:solidFill>
                </a:endParaRPr>
              </a:p>
            </p:txBody>
          </p:sp>
          <p:sp>
            <p:nvSpPr>
              <p:cNvPr id="463" name="Flèche : droite 462">
                <a:extLst>
                  <a:ext uri="{FF2B5EF4-FFF2-40B4-BE49-F238E27FC236}">
                    <a16:creationId xmlns:a16="http://schemas.microsoft.com/office/drawing/2014/main" id="{28060CC4-D6A9-96E5-957E-FB432E610E36}"/>
                  </a:ext>
                </a:extLst>
              </p:cNvPr>
              <p:cNvSpPr/>
              <p:nvPr/>
            </p:nvSpPr>
            <p:spPr>
              <a:xfrm>
                <a:off x="7981025" y="2681056"/>
                <a:ext cx="1722268" cy="91537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50" dirty="0">
                  <a:solidFill>
                    <a:schemeClr val="tx1"/>
                  </a:solidFill>
                </a:endParaRPr>
              </a:p>
            </p:txBody>
          </p:sp>
        </p:grpSp>
        <p:sp>
          <p:nvSpPr>
            <p:cNvPr id="23" name="Rectangle 22">
              <a:extLst>
                <a:ext uri="{FF2B5EF4-FFF2-40B4-BE49-F238E27FC236}">
                  <a16:creationId xmlns:a16="http://schemas.microsoft.com/office/drawing/2014/main" id="{7D7471E2-4A35-14F5-9377-C90404A3C1FB}"/>
                </a:ext>
              </a:extLst>
            </p:cNvPr>
            <p:cNvSpPr/>
            <p:nvPr/>
          </p:nvSpPr>
          <p:spPr>
            <a:xfrm>
              <a:off x="4220293" y="3128470"/>
              <a:ext cx="1376738"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24" name="Rectangle 23">
              <a:extLst>
                <a:ext uri="{FF2B5EF4-FFF2-40B4-BE49-F238E27FC236}">
                  <a16:creationId xmlns:a16="http://schemas.microsoft.com/office/drawing/2014/main" id="{60FAF583-8A47-0678-E4A9-507824D5EF92}"/>
                </a:ext>
              </a:extLst>
            </p:cNvPr>
            <p:cNvSpPr/>
            <p:nvPr/>
          </p:nvSpPr>
          <p:spPr>
            <a:xfrm>
              <a:off x="5610009" y="3889345"/>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25" name="Rectangle 24">
              <a:extLst>
                <a:ext uri="{FF2B5EF4-FFF2-40B4-BE49-F238E27FC236}">
                  <a16:creationId xmlns:a16="http://schemas.microsoft.com/office/drawing/2014/main" id="{8657DFEB-D419-1E04-989A-B3B1830FE86E}"/>
                </a:ext>
              </a:extLst>
            </p:cNvPr>
            <p:cNvSpPr/>
            <p:nvPr/>
          </p:nvSpPr>
          <p:spPr>
            <a:xfrm>
              <a:off x="7068484" y="6059084"/>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448" name="Rectangle 447">
              <a:extLst>
                <a:ext uri="{FF2B5EF4-FFF2-40B4-BE49-F238E27FC236}">
                  <a16:creationId xmlns:a16="http://schemas.microsoft.com/office/drawing/2014/main" id="{9F6A7082-4C8B-BAB6-0264-60796EFCF62C}"/>
                </a:ext>
              </a:extLst>
            </p:cNvPr>
            <p:cNvSpPr/>
            <p:nvPr/>
          </p:nvSpPr>
          <p:spPr>
            <a:xfrm>
              <a:off x="8595702" y="4617383"/>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sp>
          <p:nvSpPr>
            <p:cNvPr id="450" name="Rectangle 449">
              <a:extLst>
                <a:ext uri="{FF2B5EF4-FFF2-40B4-BE49-F238E27FC236}">
                  <a16:creationId xmlns:a16="http://schemas.microsoft.com/office/drawing/2014/main" id="{9C97C8F3-C3D2-1692-460B-BA4CBA5EC3E2}"/>
                </a:ext>
              </a:extLst>
            </p:cNvPr>
            <p:cNvSpPr/>
            <p:nvPr/>
          </p:nvSpPr>
          <p:spPr>
            <a:xfrm>
              <a:off x="10054177" y="5378258"/>
              <a:ext cx="1458475" cy="760875"/>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800" dirty="0">
                <a:solidFill>
                  <a:schemeClr val="tx1"/>
                </a:solidFill>
              </a:endParaRPr>
            </a:p>
          </p:txBody>
        </p:sp>
      </p:grpSp>
      <p:pic>
        <p:nvPicPr>
          <p:cNvPr id="469" name="Graphique 468" descr="Stop avec un remplissage uni">
            <a:extLst>
              <a:ext uri="{FF2B5EF4-FFF2-40B4-BE49-F238E27FC236}">
                <a16:creationId xmlns:a16="http://schemas.microsoft.com/office/drawing/2014/main" id="{8FC243F2-926F-A044-23A6-4A94F32A63C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931832" y="4133649"/>
            <a:ext cx="914400" cy="914400"/>
          </a:xfrm>
          <a:prstGeom prst="rect">
            <a:avLst/>
          </a:prstGeom>
        </p:spPr>
      </p:pic>
      <p:pic>
        <p:nvPicPr>
          <p:cNvPr id="483" name="Graphique 482" descr="Fin avec un remplissage uni">
            <a:extLst>
              <a:ext uri="{FF2B5EF4-FFF2-40B4-BE49-F238E27FC236}">
                <a16:creationId xmlns:a16="http://schemas.microsoft.com/office/drawing/2014/main" id="{4C99E73F-F0DC-3161-EE12-2CC241EDC73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072506" y="4164970"/>
            <a:ext cx="914400" cy="914400"/>
          </a:xfrm>
          <a:prstGeom prst="rect">
            <a:avLst/>
          </a:prstGeom>
        </p:spPr>
      </p:pic>
      <p:sp>
        <p:nvSpPr>
          <p:cNvPr id="484" name="Rectangle 483">
            <a:extLst>
              <a:ext uri="{FF2B5EF4-FFF2-40B4-BE49-F238E27FC236}">
                <a16:creationId xmlns:a16="http://schemas.microsoft.com/office/drawing/2014/main" id="{41F77D62-E5BF-BC44-D348-A81DCED6755D}"/>
              </a:ext>
            </a:extLst>
          </p:cNvPr>
          <p:cNvSpPr/>
          <p:nvPr/>
        </p:nvSpPr>
        <p:spPr>
          <a:xfrm>
            <a:off x="5142283" y="5185499"/>
            <a:ext cx="1864264" cy="78435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 Point sur l’état d’engagement des membres par rapport à une réflexion sur de nouvelles activités</a:t>
            </a:r>
          </a:p>
        </p:txBody>
      </p:sp>
      <p:graphicFrame>
        <p:nvGraphicFramePr>
          <p:cNvPr id="504" name="Tableau 5">
            <a:extLst>
              <a:ext uri="{FF2B5EF4-FFF2-40B4-BE49-F238E27FC236}">
                <a16:creationId xmlns:a16="http://schemas.microsoft.com/office/drawing/2014/main" id="{A69478AF-B286-1AF2-B244-23F7A7FCDDA8}"/>
              </a:ext>
            </a:extLst>
          </p:cNvPr>
          <p:cNvGraphicFramePr>
            <a:graphicFrameLocks noGrp="1"/>
          </p:cNvGraphicFramePr>
          <p:nvPr>
            <p:extLst>
              <p:ext uri="{D42A27DB-BD31-4B8C-83A1-F6EECF244321}">
                <p14:modId xmlns:p14="http://schemas.microsoft.com/office/powerpoint/2010/main" val="3216183307"/>
              </p:ext>
            </p:extLst>
          </p:nvPr>
        </p:nvGraphicFramePr>
        <p:xfrm>
          <a:off x="5287417" y="4473973"/>
          <a:ext cx="1507289" cy="122707"/>
        </p:xfrm>
        <a:graphic>
          <a:graphicData uri="http://schemas.openxmlformats.org/drawingml/2006/table">
            <a:tbl>
              <a:tblPr firstRow="1" bandRow="1">
                <a:tableStyleId>{5C22544A-7EE6-4342-B048-85BDC9FD1C3A}</a:tableStyleId>
              </a:tblPr>
              <a:tblGrid>
                <a:gridCol w="215327">
                  <a:extLst>
                    <a:ext uri="{9D8B030D-6E8A-4147-A177-3AD203B41FA5}">
                      <a16:colId xmlns:a16="http://schemas.microsoft.com/office/drawing/2014/main" val="1258243979"/>
                    </a:ext>
                  </a:extLst>
                </a:gridCol>
                <a:gridCol w="215327">
                  <a:extLst>
                    <a:ext uri="{9D8B030D-6E8A-4147-A177-3AD203B41FA5}">
                      <a16:colId xmlns:a16="http://schemas.microsoft.com/office/drawing/2014/main" val="1079462814"/>
                    </a:ext>
                  </a:extLst>
                </a:gridCol>
                <a:gridCol w="215327">
                  <a:extLst>
                    <a:ext uri="{9D8B030D-6E8A-4147-A177-3AD203B41FA5}">
                      <a16:colId xmlns:a16="http://schemas.microsoft.com/office/drawing/2014/main" val="3397691572"/>
                    </a:ext>
                  </a:extLst>
                </a:gridCol>
                <a:gridCol w="215327">
                  <a:extLst>
                    <a:ext uri="{9D8B030D-6E8A-4147-A177-3AD203B41FA5}">
                      <a16:colId xmlns:a16="http://schemas.microsoft.com/office/drawing/2014/main" val="3075883050"/>
                    </a:ext>
                  </a:extLst>
                </a:gridCol>
                <a:gridCol w="215327">
                  <a:extLst>
                    <a:ext uri="{9D8B030D-6E8A-4147-A177-3AD203B41FA5}">
                      <a16:colId xmlns:a16="http://schemas.microsoft.com/office/drawing/2014/main" val="1259412674"/>
                    </a:ext>
                  </a:extLst>
                </a:gridCol>
                <a:gridCol w="215327">
                  <a:extLst>
                    <a:ext uri="{9D8B030D-6E8A-4147-A177-3AD203B41FA5}">
                      <a16:colId xmlns:a16="http://schemas.microsoft.com/office/drawing/2014/main" val="3392695109"/>
                    </a:ext>
                  </a:extLst>
                </a:gridCol>
                <a:gridCol w="215327">
                  <a:extLst>
                    <a:ext uri="{9D8B030D-6E8A-4147-A177-3AD203B41FA5}">
                      <a16:colId xmlns:a16="http://schemas.microsoft.com/office/drawing/2014/main" val="2848032752"/>
                    </a:ext>
                  </a:extLst>
                </a:gridCol>
              </a:tblGrid>
              <a:tr h="0">
                <a:tc>
                  <a:txBody>
                    <a:bodyPr/>
                    <a:lstStyle/>
                    <a:p>
                      <a:pPr algn="ctr"/>
                      <a:endParaRPr lang="en-US" sz="100" dirty="0">
                        <a:solidFill>
                          <a:schemeClr val="tx1"/>
                        </a:solidFill>
                      </a:endParaRPr>
                    </a:p>
                  </a:txBody>
                  <a:tcPr marL="27861" marR="27861" marT="13930" marB="1393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
                        <a:solidFill>
                          <a:schemeClr val="tx1"/>
                        </a:solidFill>
                      </a:endParaRPr>
                    </a:p>
                  </a:txBody>
                  <a:tcPr marL="27861" marR="27861" marT="13930" marB="13930">
                    <a:lnL w="12700" cap="flat" cmpd="sng" algn="ctr">
                      <a:solidFill>
                        <a:schemeClr val="tx1"/>
                      </a:solidFill>
                      <a:prstDash val="solid"/>
                      <a:round/>
                      <a:headEnd type="none" w="med" len="med"/>
                      <a:tailEnd type="none" w="med" len="med"/>
                    </a:lnL>
                    <a:solidFill>
                      <a:schemeClr val="bg1">
                        <a:lumMod val="95000"/>
                      </a:schemeClr>
                    </a:solidFill>
                  </a:tcPr>
                </a:tc>
                <a:tc>
                  <a:txBody>
                    <a:bodyPr/>
                    <a:lstStyle/>
                    <a:p>
                      <a:pPr algn="ctr"/>
                      <a:endParaRPr lang="en-US" sz="100">
                        <a:solidFill>
                          <a:schemeClr val="tx1"/>
                        </a:solidFill>
                      </a:endParaRPr>
                    </a:p>
                  </a:txBody>
                  <a:tcPr marL="27861" marR="27861" marT="13930" marB="13930">
                    <a:solidFill>
                      <a:schemeClr val="accent1">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
                        <a:solidFill>
                          <a:schemeClr val="tx1"/>
                        </a:solidFill>
                      </a:endParaRPr>
                    </a:p>
                  </a:txBody>
                  <a:tcPr marL="27861" marR="27861" marT="13930" marB="13930">
                    <a:solidFill>
                      <a:schemeClr val="accent1">
                        <a:lumMod val="40000"/>
                        <a:lumOff val="6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
                        <a:solidFill>
                          <a:schemeClr val="tx1"/>
                        </a:solidFill>
                      </a:endParaRPr>
                    </a:p>
                  </a:txBody>
                  <a:tcPr marL="27861" marR="27861" marT="13930" marB="13930">
                    <a:solidFill>
                      <a:schemeClr val="accent1">
                        <a:lumMod val="60000"/>
                        <a:lumOff val="4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
                        <a:solidFill>
                          <a:schemeClr val="bg1"/>
                        </a:solidFill>
                      </a:endParaRPr>
                    </a:p>
                  </a:txBody>
                  <a:tcPr marL="27861" marR="27861" marT="13930" marB="13930">
                    <a:solidFill>
                      <a:schemeClr val="accent1">
                        <a:lumMod val="75000"/>
                      </a:schemeClr>
                    </a:solidFill>
                  </a:tcPr>
                </a:tc>
                <a:tc>
                  <a:txBody>
                    <a:bodyPr/>
                    <a:lstStyle/>
                    <a:p>
                      <a:pPr algn="ctr"/>
                      <a:endParaRPr lang="en-US" sz="100" dirty="0">
                        <a:solidFill>
                          <a:schemeClr val="bg1"/>
                        </a:solidFill>
                      </a:endParaRPr>
                    </a:p>
                  </a:txBody>
                  <a:tcPr marL="27861" marR="27861" marT="13930" marB="13930">
                    <a:solidFill>
                      <a:schemeClr val="accent1">
                        <a:lumMod val="50000"/>
                      </a:schemeClr>
                    </a:solidFill>
                  </a:tcPr>
                </a:tc>
                <a:extLst>
                  <a:ext uri="{0D108BD9-81ED-4DB2-BD59-A6C34878D82A}">
                    <a16:rowId xmlns:a16="http://schemas.microsoft.com/office/drawing/2014/main" val="1311980861"/>
                  </a:ext>
                </a:extLst>
              </a:tr>
              <a:tr h="69447">
                <a:tc>
                  <a:txBody>
                    <a:bodyPr/>
                    <a:lstStyle/>
                    <a:p>
                      <a:pPr algn="ctr"/>
                      <a:endParaRPr lang="en-US" sz="100" dirty="0">
                        <a:solidFill>
                          <a:schemeClr val="tx1"/>
                        </a:solidFill>
                      </a:endParaRPr>
                    </a:p>
                  </a:txBody>
                  <a:tcPr marL="27861" marR="27861" marT="13930" marB="1393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
                        <a:solidFill>
                          <a:schemeClr val="tx1"/>
                        </a:solidFill>
                      </a:endParaRPr>
                    </a:p>
                  </a:txBody>
                  <a:tcPr marL="27861" marR="27861" marT="13930" marB="13930">
                    <a:lnL w="12700" cap="flat" cmpd="sng" algn="ctr">
                      <a:solidFill>
                        <a:schemeClr val="tx1"/>
                      </a:solidFill>
                      <a:prstDash val="solid"/>
                      <a:round/>
                      <a:headEnd type="none" w="med" len="med"/>
                      <a:tailEnd type="none" w="med" len="med"/>
                    </a:lnL>
                    <a:solidFill>
                      <a:schemeClr val="bg1">
                        <a:lumMod val="95000"/>
                      </a:schemeClr>
                    </a:solidFill>
                  </a:tcPr>
                </a:tc>
                <a:tc>
                  <a:txBody>
                    <a:bodyPr/>
                    <a:lstStyle/>
                    <a:p>
                      <a:pPr algn="ctr"/>
                      <a:endParaRPr lang="en-US" sz="100" dirty="0">
                        <a:solidFill>
                          <a:schemeClr val="tx1"/>
                        </a:solidFill>
                      </a:endParaRPr>
                    </a:p>
                  </a:txBody>
                  <a:tcPr marL="27861" marR="27861" marT="13930" marB="13930">
                    <a:solidFill>
                      <a:schemeClr val="accent1">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
                        <a:solidFill>
                          <a:schemeClr val="tx1"/>
                        </a:solidFill>
                      </a:endParaRPr>
                    </a:p>
                  </a:txBody>
                  <a:tcPr marL="27861" marR="27861" marT="13930" marB="13930">
                    <a:solidFill>
                      <a:schemeClr val="accent1">
                        <a:lumMod val="40000"/>
                        <a:lumOff val="6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
                        <a:solidFill>
                          <a:schemeClr val="tx1"/>
                        </a:solidFill>
                      </a:endParaRPr>
                    </a:p>
                  </a:txBody>
                  <a:tcPr marL="27861" marR="27861" marT="13930" marB="13930">
                    <a:solidFill>
                      <a:schemeClr val="accent1">
                        <a:lumMod val="60000"/>
                        <a:lumOff val="4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
                        <a:solidFill>
                          <a:schemeClr val="bg1"/>
                        </a:solidFill>
                      </a:endParaRPr>
                    </a:p>
                  </a:txBody>
                  <a:tcPr marL="27861" marR="27861" marT="13930" marB="13930">
                    <a:solidFill>
                      <a:schemeClr val="accent1">
                        <a:lumMod val="75000"/>
                      </a:schemeClr>
                    </a:solidFill>
                  </a:tcPr>
                </a:tc>
                <a:tc>
                  <a:txBody>
                    <a:bodyPr/>
                    <a:lstStyle/>
                    <a:p>
                      <a:pPr algn="ctr"/>
                      <a:endParaRPr lang="en-US" sz="100" dirty="0">
                        <a:solidFill>
                          <a:schemeClr val="bg1"/>
                        </a:solidFill>
                      </a:endParaRPr>
                    </a:p>
                  </a:txBody>
                  <a:tcPr marL="27861" marR="27861" marT="13930" marB="13930">
                    <a:solidFill>
                      <a:schemeClr val="accent1">
                        <a:lumMod val="50000"/>
                      </a:schemeClr>
                    </a:solidFill>
                  </a:tcPr>
                </a:tc>
                <a:extLst>
                  <a:ext uri="{0D108BD9-81ED-4DB2-BD59-A6C34878D82A}">
                    <a16:rowId xmlns:a16="http://schemas.microsoft.com/office/drawing/2014/main" val="3032128388"/>
                  </a:ext>
                </a:extLst>
              </a:tr>
            </a:tbl>
          </a:graphicData>
        </a:graphic>
      </p:graphicFrame>
      <p:grpSp>
        <p:nvGrpSpPr>
          <p:cNvPr id="505" name="Groupe 504">
            <a:extLst>
              <a:ext uri="{FF2B5EF4-FFF2-40B4-BE49-F238E27FC236}">
                <a16:creationId xmlns:a16="http://schemas.microsoft.com/office/drawing/2014/main" id="{8B28FD9D-3D48-C329-2A65-446AAFB1BA70}"/>
              </a:ext>
            </a:extLst>
          </p:cNvPr>
          <p:cNvGrpSpPr/>
          <p:nvPr/>
        </p:nvGrpSpPr>
        <p:grpSpPr>
          <a:xfrm>
            <a:off x="5200164" y="4308733"/>
            <a:ext cx="1594542" cy="601031"/>
            <a:chOff x="922269" y="1602213"/>
            <a:chExt cx="4932859" cy="1699189"/>
          </a:xfrm>
        </p:grpSpPr>
        <p:grpSp>
          <p:nvGrpSpPr>
            <p:cNvPr id="506" name="Groupe 505">
              <a:extLst>
                <a:ext uri="{FF2B5EF4-FFF2-40B4-BE49-F238E27FC236}">
                  <a16:creationId xmlns:a16="http://schemas.microsoft.com/office/drawing/2014/main" id="{136F6178-104A-0B0C-7AD3-2BDEFCA66CBB}"/>
                </a:ext>
              </a:extLst>
            </p:cNvPr>
            <p:cNvGrpSpPr/>
            <p:nvPr/>
          </p:nvGrpSpPr>
          <p:grpSpPr>
            <a:xfrm>
              <a:off x="1190783" y="1602213"/>
              <a:ext cx="4564428" cy="460461"/>
              <a:chOff x="903815" y="1561531"/>
              <a:chExt cx="10542118" cy="1063492"/>
            </a:xfrm>
          </p:grpSpPr>
          <p:pic>
            <p:nvPicPr>
              <p:cNvPr id="144" name="Graphique 143" descr="Une artiste avec un remplissage uni">
                <a:extLst>
                  <a:ext uri="{FF2B5EF4-FFF2-40B4-BE49-F238E27FC236}">
                    <a16:creationId xmlns:a16="http://schemas.microsoft.com/office/drawing/2014/main" id="{901FED76-35E7-27F9-0958-F3F281E6FBA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816269" y="1649369"/>
                <a:ext cx="914400" cy="914400"/>
              </a:xfrm>
              <a:prstGeom prst="rect">
                <a:avLst/>
              </a:prstGeom>
            </p:spPr>
          </p:pic>
          <p:pic>
            <p:nvPicPr>
              <p:cNvPr id="145" name="Graphique 144" descr="Employée de bureau avec un remplissage uni">
                <a:extLst>
                  <a:ext uri="{FF2B5EF4-FFF2-40B4-BE49-F238E27FC236}">
                    <a16:creationId xmlns:a16="http://schemas.microsoft.com/office/drawing/2014/main" id="{B350D7D1-09FA-B1E6-C02E-D1CD6FFB3AA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193273" y="1669686"/>
                <a:ext cx="914400" cy="914400"/>
              </a:xfrm>
              <a:prstGeom prst="rect">
                <a:avLst/>
              </a:prstGeom>
            </p:spPr>
          </p:pic>
          <p:pic>
            <p:nvPicPr>
              <p:cNvPr id="146" name="Graphique 145" descr="Profil femelle avec un remplissage uni">
                <a:extLst>
                  <a:ext uri="{FF2B5EF4-FFF2-40B4-BE49-F238E27FC236}">
                    <a16:creationId xmlns:a16="http://schemas.microsoft.com/office/drawing/2014/main" id="{52821E3A-033D-E676-6920-0471BA58E8C8}"/>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4036616" y="1669686"/>
                <a:ext cx="914400" cy="914400"/>
              </a:xfrm>
              <a:prstGeom prst="rect">
                <a:avLst/>
              </a:prstGeom>
            </p:spPr>
          </p:pic>
          <p:pic>
            <p:nvPicPr>
              <p:cNvPr id="147" name="Graphique 146" descr="Femme agricultrice avec un remplissage uni">
                <a:extLst>
                  <a:ext uri="{FF2B5EF4-FFF2-40B4-BE49-F238E27FC236}">
                    <a16:creationId xmlns:a16="http://schemas.microsoft.com/office/drawing/2014/main" id="{69641F2B-EFB9-60FC-962F-AF0C5618B0EB}"/>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5638800" y="1710623"/>
                <a:ext cx="914400" cy="914400"/>
              </a:xfrm>
              <a:prstGeom prst="rect">
                <a:avLst/>
              </a:prstGeom>
            </p:spPr>
          </p:pic>
          <p:pic>
            <p:nvPicPr>
              <p:cNvPr id="148" name="Graphique 147" descr="Femme DJ avec un remplissage uni">
                <a:extLst>
                  <a:ext uri="{FF2B5EF4-FFF2-40B4-BE49-F238E27FC236}">
                    <a16:creationId xmlns:a16="http://schemas.microsoft.com/office/drawing/2014/main" id="{18D36E45-6C3F-70C4-5946-953C4136A20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2482143" y="1710623"/>
                <a:ext cx="914400" cy="914400"/>
              </a:xfrm>
              <a:prstGeom prst="rect">
                <a:avLst/>
              </a:prstGeom>
            </p:spPr>
          </p:pic>
          <p:pic>
            <p:nvPicPr>
              <p:cNvPr id="149" name="Graphique 148" descr="Écolière avec un remplissage uni">
                <a:extLst>
                  <a:ext uri="{FF2B5EF4-FFF2-40B4-BE49-F238E27FC236}">
                    <a16:creationId xmlns:a16="http://schemas.microsoft.com/office/drawing/2014/main" id="{9B49EA04-97FF-C3B2-CF3C-C92D0F5F1348}"/>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903815" y="1669686"/>
                <a:ext cx="914400" cy="914400"/>
              </a:xfrm>
              <a:prstGeom prst="rect">
                <a:avLst/>
              </a:prstGeom>
            </p:spPr>
          </p:pic>
          <p:pic>
            <p:nvPicPr>
              <p:cNvPr id="150" name="Graphique 149" descr="Héroïne avec un remplissage uni">
                <a:extLst>
                  <a:ext uri="{FF2B5EF4-FFF2-40B4-BE49-F238E27FC236}">
                    <a16:creationId xmlns:a16="http://schemas.microsoft.com/office/drawing/2014/main" id="{B0FF2CAB-750C-C8D5-9D3B-F8B120E0E4C4}"/>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0439265" y="1618355"/>
                <a:ext cx="1006668" cy="1006668"/>
              </a:xfrm>
              <a:prstGeom prst="rect">
                <a:avLst/>
              </a:prstGeom>
            </p:spPr>
          </p:pic>
          <p:pic>
            <p:nvPicPr>
              <p:cNvPr id="151" name="Graphique 150" descr="Deux cœurs avec un remplissage uni">
                <a:extLst>
                  <a:ext uri="{FF2B5EF4-FFF2-40B4-BE49-F238E27FC236}">
                    <a16:creationId xmlns:a16="http://schemas.microsoft.com/office/drawing/2014/main" id="{C487BC9B-54E5-C256-2608-62FE6874C894}"/>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4658122" y="1561531"/>
                <a:ext cx="298183" cy="298183"/>
              </a:xfrm>
              <a:prstGeom prst="rect">
                <a:avLst/>
              </a:prstGeom>
            </p:spPr>
          </p:pic>
        </p:grpSp>
        <p:pic>
          <p:nvPicPr>
            <p:cNvPr id="507" name="Graphique 506" descr="Employé de bureau avec un remplissage uni">
              <a:extLst>
                <a:ext uri="{FF2B5EF4-FFF2-40B4-BE49-F238E27FC236}">
                  <a16:creationId xmlns:a16="http://schemas.microsoft.com/office/drawing/2014/main" id="{398116E8-C505-3F70-3582-3A32C76A4D6E}"/>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1743648" y="2399687"/>
              <a:ext cx="451444" cy="451444"/>
            </a:xfrm>
            <a:prstGeom prst="rect">
              <a:avLst/>
            </a:prstGeom>
          </p:spPr>
        </p:pic>
        <p:pic>
          <p:nvPicPr>
            <p:cNvPr id="508" name="Graphique 507" descr="Employé de bureau avec un remplissage uni">
              <a:extLst>
                <a:ext uri="{FF2B5EF4-FFF2-40B4-BE49-F238E27FC236}">
                  <a16:creationId xmlns:a16="http://schemas.microsoft.com/office/drawing/2014/main" id="{898688BD-CC29-96BF-E3D9-F87559F7772F}"/>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3213125" y="2469491"/>
              <a:ext cx="451444" cy="451444"/>
            </a:xfrm>
            <a:prstGeom prst="rect">
              <a:avLst/>
            </a:prstGeom>
          </p:spPr>
        </p:pic>
        <p:pic>
          <p:nvPicPr>
            <p:cNvPr id="509" name="Graphique 508" descr="Employé de bureau avec un remplissage uni">
              <a:extLst>
                <a:ext uri="{FF2B5EF4-FFF2-40B4-BE49-F238E27FC236}">
                  <a16:creationId xmlns:a16="http://schemas.microsoft.com/office/drawing/2014/main" id="{154135C3-72A4-DFB6-A05D-5CFF1E6AA3ED}"/>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4786830" y="2397906"/>
              <a:ext cx="451444" cy="451444"/>
            </a:xfrm>
            <a:prstGeom prst="rect">
              <a:avLst/>
            </a:prstGeom>
          </p:spPr>
        </p:pic>
        <p:pic>
          <p:nvPicPr>
            <p:cNvPr id="510" name="Graphique 509" descr="Employé de bureau avec un remplissage uni">
              <a:extLst>
                <a:ext uri="{FF2B5EF4-FFF2-40B4-BE49-F238E27FC236}">
                  <a16:creationId xmlns:a16="http://schemas.microsoft.com/office/drawing/2014/main" id="{2CC071BC-B51A-B459-2FDE-2F2BA8465661}"/>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4517199" y="2608218"/>
              <a:ext cx="451444" cy="451444"/>
            </a:xfrm>
            <a:prstGeom prst="rect">
              <a:avLst/>
            </a:prstGeom>
          </p:spPr>
        </p:pic>
        <p:pic>
          <p:nvPicPr>
            <p:cNvPr id="511" name="Graphique 510" descr="Employé de bureau avec un remplissage uni">
              <a:extLst>
                <a:ext uri="{FF2B5EF4-FFF2-40B4-BE49-F238E27FC236}">
                  <a16:creationId xmlns:a16="http://schemas.microsoft.com/office/drawing/2014/main" id="{AD1BDEE9-F142-79FA-DAF2-D4A5AEB228BC}"/>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5403684" y="2381195"/>
              <a:ext cx="451444" cy="451444"/>
            </a:xfrm>
            <a:prstGeom prst="rect">
              <a:avLst/>
            </a:prstGeom>
          </p:spPr>
        </p:pic>
        <p:pic>
          <p:nvPicPr>
            <p:cNvPr id="140" name="Graphique 139" descr="Employé de bureau avec un remplissage uni">
              <a:extLst>
                <a:ext uri="{FF2B5EF4-FFF2-40B4-BE49-F238E27FC236}">
                  <a16:creationId xmlns:a16="http://schemas.microsoft.com/office/drawing/2014/main" id="{ECEEE55D-17E7-1F71-A665-92784469737E}"/>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922269" y="2428024"/>
              <a:ext cx="451444" cy="451444"/>
            </a:xfrm>
            <a:prstGeom prst="rect">
              <a:avLst/>
            </a:prstGeom>
          </p:spPr>
        </p:pic>
        <p:pic>
          <p:nvPicPr>
            <p:cNvPr id="141" name="Graphique 140" descr="Employé de bureau avec un remplissage uni">
              <a:extLst>
                <a:ext uri="{FF2B5EF4-FFF2-40B4-BE49-F238E27FC236}">
                  <a16:creationId xmlns:a16="http://schemas.microsoft.com/office/drawing/2014/main" id="{640F0D73-B061-2478-9FD5-E26E39601625}"/>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1266610" y="2414770"/>
              <a:ext cx="451444" cy="451444"/>
            </a:xfrm>
            <a:prstGeom prst="rect">
              <a:avLst/>
            </a:prstGeom>
          </p:spPr>
        </p:pic>
        <p:pic>
          <p:nvPicPr>
            <p:cNvPr id="142" name="Graphique 141" descr="Employé de bureau avec un remplissage uni">
              <a:extLst>
                <a:ext uri="{FF2B5EF4-FFF2-40B4-BE49-F238E27FC236}">
                  <a16:creationId xmlns:a16="http://schemas.microsoft.com/office/drawing/2014/main" id="{826E6337-25CB-754D-A42A-CB1BAD03E7AF}"/>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1051327" y="2718208"/>
              <a:ext cx="451444" cy="451444"/>
            </a:xfrm>
            <a:prstGeom prst="rect">
              <a:avLst/>
            </a:prstGeom>
          </p:spPr>
        </p:pic>
        <p:pic>
          <p:nvPicPr>
            <p:cNvPr id="143" name="Graphique 142" descr="Employé de bureau avec un remplissage uni">
              <a:extLst>
                <a:ext uri="{FF2B5EF4-FFF2-40B4-BE49-F238E27FC236}">
                  <a16:creationId xmlns:a16="http://schemas.microsoft.com/office/drawing/2014/main" id="{315D3577-5E19-5B51-F87A-1DA303A67CD8}"/>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3202686" y="2849958"/>
              <a:ext cx="451444" cy="451444"/>
            </a:xfrm>
            <a:prstGeom prst="rect">
              <a:avLst/>
            </a:prstGeom>
          </p:spPr>
        </p:pic>
      </p:grpSp>
      <p:sp>
        <p:nvSpPr>
          <p:cNvPr id="152" name="Rectangle 151">
            <a:extLst>
              <a:ext uri="{FF2B5EF4-FFF2-40B4-BE49-F238E27FC236}">
                <a16:creationId xmlns:a16="http://schemas.microsoft.com/office/drawing/2014/main" id="{0BDEFC71-FC87-12E8-06AB-101178A452D8}"/>
              </a:ext>
            </a:extLst>
          </p:cNvPr>
          <p:cNvSpPr/>
          <p:nvPr/>
        </p:nvSpPr>
        <p:spPr>
          <a:xfrm>
            <a:off x="7234084" y="5185499"/>
            <a:ext cx="1864264" cy="78435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 Remise au point sur le niveau de centralisation des activités et décisions dans la Communauté. Mise à jour ou simplification des règles.</a:t>
            </a:r>
          </a:p>
        </p:txBody>
      </p:sp>
      <p:sp>
        <p:nvSpPr>
          <p:cNvPr id="222" name="Rectangle 221">
            <a:extLst>
              <a:ext uri="{FF2B5EF4-FFF2-40B4-BE49-F238E27FC236}">
                <a16:creationId xmlns:a16="http://schemas.microsoft.com/office/drawing/2014/main" id="{81069931-A189-4851-5AC2-9D3B761799B5}"/>
              </a:ext>
            </a:extLst>
          </p:cNvPr>
          <p:cNvSpPr/>
          <p:nvPr/>
        </p:nvSpPr>
        <p:spPr>
          <a:xfrm>
            <a:off x="9379758" y="5185499"/>
            <a:ext cx="1864264" cy="784353"/>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fr-FR" sz="1000" dirty="0">
                <a:solidFill>
                  <a:schemeClr val="tx1"/>
                </a:solidFill>
              </a:rPr>
              <a:t>✍️📅Définition d’un nouveau but atteignable avec les motivations restantes et communication de ce but, dans et au-delà de la Communauté</a:t>
            </a:r>
          </a:p>
        </p:txBody>
      </p:sp>
      <p:grpSp>
        <p:nvGrpSpPr>
          <p:cNvPr id="223" name="Groupe 222">
            <a:extLst>
              <a:ext uri="{FF2B5EF4-FFF2-40B4-BE49-F238E27FC236}">
                <a16:creationId xmlns:a16="http://schemas.microsoft.com/office/drawing/2014/main" id="{7C1515E8-AB79-73F8-498E-DDB4777C76E2}"/>
              </a:ext>
            </a:extLst>
          </p:cNvPr>
          <p:cNvGrpSpPr/>
          <p:nvPr/>
        </p:nvGrpSpPr>
        <p:grpSpPr>
          <a:xfrm>
            <a:off x="7405521" y="4392187"/>
            <a:ext cx="1582950" cy="198082"/>
            <a:chOff x="168514" y="1285203"/>
            <a:chExt cx="11934736" cy="1493450"/>
          </a:xfrm>
        </p:grpSpPr>
        <p:sp>
          <p:nvSpPr>
            <p:cNvPr id="224" name="Flèche : double flèche horizontale 223">
              <a:extLst>
                <a:ext uri="{FF2B5EF4-FFF2-40B4-BE49-F238E27FC236}">
                  <a16:creationId xmlns:a16="http://schemas.microsoft.com/office/drawing/2014/main" id="{8A5DB9C9-5CCE-D791-238F-C73BDC2838FC}"/>
                </a:ext>
              </a:extLst>
            </p:cNvPr>
            <p:cNvSpPr/>
            <p:nvPr/>
          </p:nvSpPr>
          <p:spPr>
            <a:xfrm>
              <a:off x="222191" y="2418426"/>
              <a:ext cx="11881059" cy="360227"/>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grpSp>
          <p:nvGrpSpPr>
            <p:cNvPr id="225" name="Groupe 224">
              <a:extLst>
                <a:ext uri="{FF2B5EF4-FFF2-40B4-BE49-F238E27FC236}">
                  <a16:creationId xmlns:a16="http://schemas.microsoft.com/office/drawing/2014/main" id="{FF0E927B-BD09-1215-06CE-C11C95FEAF07}"/>
                </a:ext>
              </a:extLst>
            </p:cNvPr>
            <p:cNvGrpSpPr/>
            <p:nvPr/>
          </p:nvGrpSpPr>
          <p:grpSpPr>
            <a:xfrm>
              <a:off x="168514" y="1378724"/>
              <a:ext cx="914400" cy="914400"/>
              <a:chOff x="168514" y="2615341"/>
              <a:chExt cx="914400" cy="914400"/>
            </a:xfrm>
          </p:grpSpPr>
          <p:pic>
            <p:nvPicPr>
              <p:cNvPr id="584" name="Graphique 583" descr="Homme conductrice avec un remplissage uni">
                <a:extLst>
                  <a:ext uri="{FF2B5EF4-FFF2-40B4-BE49-F238E27FC236}">
                    <a16:creationId xmlns:a16="http://schemas.microsoft.com/office/drawing/2014/main" id="{38D2ECC7-1ADD-80EF-9FC6-4CE4B0A9277C}"/>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168514" y="2615341"/>
                <a:ext cx="914400" cy="914400"/>
              </a:xfrm>
              <a:prstGeom prst="rect">
                <a:avLst/>
              </a:prstGeom>
            </p:spPr>
          </p:pic>
          <p:sp>
            <p:nvSpPr>
              <p:cNvPr id="585" name="Rectangle 584">
                <a:extLst>
                  <a:ext uri="{FF2B5EF4-FFF2-40B4-BE49-F238E27FC236}">
                    <a16:creationId xmlns:a16="http://schemas.microsoft.com/office/drawing/2014/main" id="{3EF41269-19DF-67F2-B6DC-4491271C41FF}"/>
                  </a:ext>
                </a:extLst>
              </p:cNvPr>
              <p:cNvSpPr/>
              <p:nvPr/>
            </p:nvSpPr>
            <p:spPr>
              <a:xfrm>
                <a:off x="811520" y="2615341"/>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26" name="Groupe 225">
              <a:extLst>
                <a:ext uri="{FF2B5EF4-FFF2-40B4-BE49-F238E27FC236}">
                  <a16:creationId xmlns:a16="http://schemas.microsoft.com/office/drawing/2014/main" id="{61CC8401-A04A-8461-73F5-138974EDFD61}"/>
                </a:ext>
              </a:extLst>
            </p:cNvPr>
            <p:cNvGrpSpPr/>
            <p:nvPr/>
          </p:nvGrpSpPr>
          <p:grpSpPr>
            <a:xfrm>
              <a:off x="5036368" y="1445073"/>
              <a:ext cx="911213" cy="837974"/>
              <a:chOff x="3581321" y="2486328"/>
              <a:chExt cx="1084118" cy="996982"/>
            </a:xfrm>
          </p:grpSpPr>
          <p:grpSp>
            <p:nvGrpSpPr>
              <p:cNvPr id="572" name="Groupe 571">
                <a:extLst>
                  <a:ext uri="{FF2B5EF4-FFF2-40B4-BE49-F238E27FC236}">
                    <a16:creationId xmlns:a16="http://schemas.microsoft.com/office/drawing/2014/main" id="{23327E18-4751-BB6F-900F-50CF30CB5722}"/>
                  </a:ext>
                </a:extLst>
              </p:cNvPr>
              <p:cNvGrpSpPr/>
              <p:nvPr/>
            </p:nvGrpSpPr>
            <p:grpSpPr>
              <a:xfrm>
                <a:off x="3869497" y="3026110"/>
                <a:ext cx="457200" cy="457200"/>
                <a:chOff x="3982824" y="1896400"/>
                <a:chExt cx="914400" cy="914400"/>
              </a:xfrm>
            </p:grpSpPr>
            <p:pic>
              <p:nvPicPr>
                <p:cNvPr id="582" name="Graphique 581" descr="Homme conductrice avec un remplissage uni">
                  <a:extLst>
                    <a:ext uri="{FF2B5EF4-FFF2-40B4-BE49-F238E27FC236}">
                      <a16:creationId xmlns:a16="http://schemas.microsoft.com/office/drawing/2014/main" id="{FFEF4446-978C-DF1A-2771-57865A4F9514}"/>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982824" y="1896400"/>
                  <a:ext cx="914400" cy="914400"/>
                </a:xfrm>
                <a:prstGeom prst="rect">
                  <a:avLst/>
                </a:prstGeom>
              </p:spPr>
            </p:pic>
            <p:sp>
              <p:nvSpPr>
                <p:cNvPr id="583" name="Rectangle 582">
                  <a:extLst>
                    <a:ext uri="{FF2B5EF4-FFF2-40B4-BE49-F238E27FC236}">
                      <a16:creationId xmlns:a16="http://schemas.microsoft.com/office/drawing/2014/main" id="{ED6A9409-FC2A-9013-00BC-EEEA546429A3}"/>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573" name="Groupe 572">
                <a:extLst>
                  <a:ext uri="{FF2B5EF4-FFF2-40B4-BE49-F238E27FC236}">
                    <a16:creationId xmlns:a16="http://schemas.microsoft.com/office/drawing/2014/main" id="{F695D625-ACC7-EDF7-8273-ECADD32AF201}"/>
                  </a:ext>
                </a:extLst>
              </p:cNvPr>
              <p:cNvGrpSpPr/>
              <p:nvPr/>
            </p:nvGrpSpPr>
            <p:grpSpPr>
              <a:xfrm>
                <a:off x="3581321" y="2797510"/>
                <a:ext cx="457200" cy="457200"/>
                <a:chOff x="3982824" y="1896400"/>
                <a:chExt cx="914400" cy="914400"/>
              </a:xfrm>
            </p:grpSpPr>
            <p:pic>
              <p:nvPicPr>
                <p:cNvPr id="580" name="Graphique 579" descr="Homme conductrice avec un remplissage uni">
                  <a:extLst>
                    <a:ext uri="{FF2B5EF4-FFF2-40B4-BE49-F238E27FC236}">
                      <a16:creationId xmlns:a16="http://schemas.microsoft.com/office/drawing/2014/main" id="{9528B992-F068-36D1-3CC5-954D89F14999}"/>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982824" y="1896400"/>
                  <a:ext cx="914400" cy="914400"/>
                </a:xfrm>
                <a:prstGeom prst="rect">
                  <a:avLst/>
                </a:prstGeom>
              </p:spPr>
            </p:pic>
            <p:sp>
              <p:nvSpPr>
                <p:cNvPr id="581" name="Rectangle 580">
                  <a:extLst>
                    <a:ext uri="{FF2B5EF4-FFF2-40B4-BE49-F238E27FC236}">
                      <a16:creationId xmlns:a16="http://schemas.microsoft.com/office/drawing/2014/main" id="{E4FDB6CA-52B9-A785-D132-D66E519CB51D}"/>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574" name="Groupe 573">
                <a:extLst>
                  <a:ext uri="{FF2B5EF4-FFF2-40B4-BE49-F238E27FC236}">
                    <a16:creationId xmlns:a16="http://schemas.microsoft.com/office/drawing/2014/main" id="{D84779C0-4965-E3A3-1278-C2FFB38D7638}"/>
                  </a:ext>
                </a:extLst>
              </p:cNvPr>
              <p:cNvGrpSpPr/>
              <p:nvPr/>
            </p:nvGrpSpPr>
            <p:grpSpPr>
              <a:xfrm>
                <a:off x="3913098" y="2486328"/>
                <a:ext cx="457200" cy="457200"/>
                <a:chOff x="3982824" y="1896400"/>
                <a:chExt cx="914400" cy="914400"/>
              </a:xfrm>
            </p:grpSpPr>
            <p:pic>
              <p:nvPicPr>
                <p:cNvPr id="578" name="Graphique 577" descr="Homme conductrice avec un remplissage uni">
                  <a:extLst>
                    <a:ext uri="{FF2B5EF4-FFF2-40B4-BE49-F238E27FC236}">
                      <a16:creationId xmlns:a16="http://schemas.microsoft.com/office/drawing/2014/main" id="{E6A965DD-D34B-CABE-A086-C528E9F608D2}"/>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982824" y="1896400"/>
                  <a:ext cx="914400" cy="914400"/>
                </a:xfrm>
                <a:prstGeom prst="rect">
                  <a:avLst/>
                </a:prstGeom>
              </p:spPr>
            </p:pic>
            <p:sp>
              <p:nvSpPr>
                <p:cNvPr id="579" name="Rectangle 578">
                  <a:extLst>
                    <a:ext uri="{FF2B5EF4-FFF2-40B4-BE49-F238E27FC236}">
                      <a16:creationId xmlns:a16="http://schemas.microsoft.com/office/drawing/2014/main" id="{7ADDD398-B35A-3826-5082-D80038891DE4}"/>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575" name="Groupe 574">
                <a:extLst>
                  <a:ext uri="{FF2B5EF4-FFF2-40B4-BE49-F238E27FC236}">
                    <a16:creationId xmlns:a16="http://schemas.microsoft.com/office/drawing/2014/main" id="{7080073B-7833-3100-19B2-58940BE3F5CD}"/>
                  </a:ext>
                </a:extLst>
              </p:cNvPr>
              <p:cNvGrpSpPr/>
              <p:nvPr/>
            </p:nvGrpSpPr>
            <p:grpSpPr>
              <a:xfrm>
                <a:off x="4208239" y="2811507"/>
                <a:ext cx="457200" cy="457200"/>
                <a:chOff x="3982824" y="1896400"/>
                <a:chExt cx="914400" cy="914400"/>
              </a:xfrm>
            </p:grpSpPr>
            <p:pic>
              <p:nvPicPr>
                <p:cNvPr id="576" name="Graphique 575" descr="Homme conductrice avec un remplissage uni">
                  <a:extLst>
                    <a:ext uri="{FF2B5EF4-FFF2-40B4-BE49-F238E27FC236}">
                      <a16:creationId xmlns:a16="http://schemas.microsoft.com/office/drawing/2014/main" id="{7633BA77-2489-9C1C-A398-73991FB4C05F}"/>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982824" y="1896400"/>
                  <a:ext cx="914400" cy="914400"/>
                </a:xfrm>
                <a:prstGeom prst="rect">
                  <a:avLst/>
                </a:prstGeom>
              </p:spPr>
            </p:pic>
            <p:sp>
              <p:nvSpPr>
                <p:cNvPr id="577" name="Rectangle 576">
                  <a:extLst>
                    <a:ext uri="{FF2B5EF4-FFF2-40B4-BE49-F238E27FC236}">
                      <a16:creationId xmlns:a16="http://schemas.microsoft.com/office/drawing/2014/main" id="{3A764FD5-726F-E17D-59E6-993E73387683}"/>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27" name="Groupe 226">
              <a:extLst>
                <a:ext uri="{FF2B5EF4-FFF2-40B4-BE49-F238E27FC236}">
                  <a16:creationId xmlns:a16="http://schemas.microsoft.com/office/drawing/2014/main" id="{F5FCF6BD-3746-06A1-185D-6FB2F688964C}"/>
                </a:ext>
              </a:extLst>
            </p:cNvPr>
            <p:cNvGrpSpPr/>
            <p:nvPr/>
          </p:nvGrpSpPr>
          <p:grpSpPr>
            <a:xfrm>
              <a:off x="10832785" y="1323371"/>
              <a:ext cx="1220507" cy="1027736"/>
              <a:chOff x="8572649" y="1655556"/>
              <a:chExt cx="1409636" cy="1186993"/>
            </a:xfrm>
          </p:grpSpPr>
          <p:grpSp>
            <p:nvGrpSpPr>
              <p:cNvPr id="527" name="Groupe 526">
                <a:extLst>
                  <a:ext uri="{FF2B5EF4-FFF2-40B4-BE49-F238E27FC236}">
                    <a16:creationId xmlns:a16="http://schemas.microsoft.com/office/drawing/2014/main" id="{0EA0C3D3-6B62-215E-6F40-E55823AA17B3}"/>
                  </a:ext>
                </a:extLst>
              </p:cNvPr>
              <p:cNvGrpSpPr/>
              <p:nvPr/>
            </p:nvGrpSpPr>
            <p:grpSpPr>
              <a:xfrm>
                <a:off x="8572649" y="1655556"/>
                <a:ext cx="1409636" cy="1186993"/>
                <a:chOff x="8982504" y="3274976"/>
                <a:chExt cx="1230670" cy="1036294"/>
              </a:xfrm>
              <a:solidFill>
                <a:srgbClr val="ED7D31"/>
              </a:solidFill>
            </p:grpSpPr>
            <p:pic>
              <p:nvPicPr>
                <p:cNvPr id="561" name="Graphique 560" descr="Utilisateur avec un remplissage uni">
                  <a:extLst>
                    <a:ext uri="{FF2B5EF4-FFF2-40B4-BE49-F238E27FC236}">
                      <a16:creationId xmlns:a16="http://schemas.microsoft.com/office/drawing/2014/main" id="{D8818B06-0B57-B247-6B79-89247F394B5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562" name="Graphique 561" descr="Utilisateur avec un remplissage uni">
                  <a:extLst>
                    <a:ext uri="{FF2B5EF4-FFF2-40B4-BE49-F238E27FC236}">
                      <a16:creationId xmlns:a16="http://schemas.microsoft.com/office/drawing/2014/main" id="{E3BBEB0C-7758-FE58-6183-E473DCDDB1D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563" name="Graphique 562" descr="Utilisateur avec un remplissage uni">
                  <a:extLst>
                    <a:ext uri="{FF2B5EF4-FFF2-40B4-BE49-F238E27FC236}">
                      <a16:creationId xmlns:a16="http://schemas.microsoft.com/office/drawing/2014/main" id="{A6BFC0A1-7D87-9E5D-887A-57B2ECF7E7A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564" name="Graphique 563" descr="Utilisateur avec un remplissage uni">
                  <a:extLst>
                    <a:ext uri="{FF2B5EF4-FFF2-40B4-BE49-F238E27FC236}">
                      <a16:creationId xmlns:a16="http://schemas.microsoft.com/office/drawing/2014/main" id="{94D46441-819D-AB7D-B15D-7DD04DBBD0C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565" name="Graphique 564" descr="Utilisateur avec un remplissage uni">
                  <a:extLst>
                    <a:ext uri="{FF2B5EF4-FFF2-40B4-BE49-F238E27FC236}">
                      <a16:creationId xmlns:a16="http://schemas.microsoft.com/office/drawing/2014/main" id="{066EEFA6-043B-6696-6347-02FD7F7EBD8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566" name="Graphique 565" descr="Utilisateur avec un remplissage uni">
                  <a:extLst>
                    <a:ext uri="{FF2B5EF4-FFF2-40B4-BE49-F238E27FC236}">
                      <a16:creationId xmlns:a16="http://schemas.microsoft.com/office/drawing/2014/main" id="{1D4B3A09-24C1-512F-80AB-1060DC00906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567" name="Graphique 566" descr="Utilisateur avec un remplissage uni">
                  <a:extLst>
                    <a:ext uri="{FF2B5EF4-FFF2-40B4-BE49-F238E27FC236}">
                      <a16:creationId xmlns:a16="http://schemas.microsoft.com/office/drawing/2014/main" id="{43E37DBD-C5EB-93B5-BFCA-8A5A5E1C308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568" name="Graphique 567" descr="Utilisateur avec un remplissage uni">
                  <a:extLst>
                    <a:ext uri="{FF2B5EF4-FFF2-40B4-BE49-F238E27FC236}">
                      <a16:creationId xmlns:a16="http://schemas.microsoft.com/office/drawing/2014/main" id="{624AD290-18D2-7668-C9CB-C5AD7F3C2E1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569" name="Graphique 568" descr="Utilisateur avec un remplissage uni">
                  <a:extLst>
                    <a:ext uri="{FF2B5EF4-FFF2-40B4-BE49-F238E27FC236}">
                      <a16:creationId xmlns:a16="http://schemas.microsoft.com/office/drawing/2014/main" id="{EACEFB51-A32A-BFDC-CAF3-2553C4B6018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83417" y="3975206"/>
                  <a:ext cx="336064" cy="336064"/>
                </a:xfrm>
                <a:prstGeom prst="rect">
                  <a:avLst/>
                </a:prstGeom>
              </p:spPr>
            </p:pic>
            <p:pic>
              <p:nvPicPr>
                <p:cNvPr id="570" name="Graphique 569" descr="Utilisateur avec un remplissage uni">
                  <a:extLst>
                    <a:ext uri="{FF2B5EF4-FFF2-40B4-BE49-F238E27FC236}">
                      <a16:creationId xmlns:a16="http://schemas.microsoft.com/office/drawing/2014/main" id="{40FA1FE0-572C-C1C1-E82E-FDAD164EB5C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571" name="Graphique 570" descr="Utilisateur avec un remplissage uni">
                  <a:extLst>
                    <a:ext uri="{FF2B5EF4-FFF2-40B4-BE49-F238E27FC236}">
                      <a16:creationId xmlns:a16="http://schemas.microsoft.com/office/drawing/2014/main" id="{4E375117-6629-7515-2B32-259401200C5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grpSp>
            <p:nvGrpSpPr>
              <p:cNvPr id="528" name="Groupe 527">
                <a:extLst>
                  <a:ext uri="{FF2B5EF4-FFF2-40B4-BE49-F238E27FC236}">
                    <a16:creationId xmlns:a16="http://schemas.microsoft.com/office/drawing/2014/main" id="{99646D98-25CB-C869-2DA3-0EC5EB21C5C7}"/>
                  </a:ext>
                </a:extLst>
              </p:cNvPr>
              <p:cNvGrpSpPr/>
              <p:nvPr/>
            </p:nvGrpSpPr>
            <p:grpSpPr>
              <a:xfrm>
                <a:off x="8937492" y="1776645"/>
                <a:ext cx="102144" cy="191413"/>
                <a:chOff x="10178180" y="1782664"/>
                <a:chExt cx="102144" cy="191413"/>
              </a:xfrm>
            </p:grpSpPr>
            <p:cxnSp>
              <p:nvCxnSpPr>
                <p:cNvPr id="559" name="Connecteur droit 558">
                  <a:extLst>
                    <a:ext uri="{FF2B5EF4-FFF2-40B4-BE49-F238E27FC236}">
                      <a16:creationId xmlns:a16="http://schemas.microsoft.com/office/drawing/2014/main" id="{B81BB667-F5C8-0F23-ECFF-012A5D261D33}"/>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60" name="Ellipse 559">
                  <a:extLst>
                    <a:ext uri="{FF2B5EF4-FFF2-40B4-BE49-F238E27FC236}">
                      <a16:creationId xmlns:a16="http://schemas.microsoft.com/office/drawing/2014/main" id="{3707FEE8-72B8-A2C0-A74E-7C3C635E18A9}"/>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9" name="Groupe 528">
                <a:extLst>
                  <a:ext uri="{FF2B5EF4-FFF2-40B4-BE49-F238E27FC236}">
                    <a16:creationId xmlns:a16="http://schemas.microsoft.com/office/drawing/2014/main" id="{D49C1F06-F86F-56AA-4065-166809426CBD}"/>
                  </a:ext>
                </a:extLst>
              </p:cNvPr>
              <p:cNvGrpSpPr/>
              <p:nvPr/>
            </p:nvGrpSpPr>
            <p:grpSpPr>
              <a:xfrm>
                <a:off x="9268284" y="1944784"/>
                <a:ext cx="102144" cy="191413"/>
                <a:chOff x="10178180" y="1782664"/>
                <a:chExt cx="102144" cy="191413"/>
              </a:xfrm>
            </p:grpSpPr>
            <p:cxnSp>
              <p:nvCxnSpPr>
                <p:cNvPr id="557" name="Connecteur droit 556">
                  <a:extLst>
                    <a:ext uri="{FF2B5EF4-FFF2-40B4-BE49-F238E27FC236}">
                      <a16:creationId xmlns:a16="http://schemas.microsoft.com/office/drawing/2014/main" id="{C3EA89B9-818D-3035-F38E-2B549C174F59}"/>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58" name="Ellipse 557">
                  <a:extLst>
                    <a:ext uri="{FF2B5EF4-FFF2-40B4-BE49-F238E27FC236}">
                      <a16:creationId xmlns:a16="http://schemas.microsoft.com/office/drawing/2014/main" id="{D1CDEBF5-F508-0FA7-3218-B0158672041D}"/>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0" name="Groupe 529">
                <a:extLst>
                  <a:ext uri="{FF2B5EF4-FFF2-40B4-BE49-F238E27FC236}">
                    <a16:creationId xmlns:a16="http://schemas.microsoft.com/office/drawing/2014/main" id="{EDDA6CAF-DD1D-427E-0180-3F84445AF7D7}"/>
                  </a:ext>
                </a:extLst>
              </p:cNvPr>
              <p:cNvGrpSpPr/>
              <p:nvPr/>
            </p:nvGrpSpPr>
            <p:grpSpPr>
              <a:xfrm>
                <a:off x="9584871" y="1954555"/>
                <a:ext cx="102144" cy="191413"/>
                <a:chOff x="10178180" y="1782664"/>
                <a:chExt cx="102144" cy="191413"/>
              </a:xfrm>
            </p:grpSpPr>
            <p:cxnSp>
              <p:nvCxnSpPr>
                <p:cNvPr id="555" name="Connecteur droit 554">
                  <a:extLst>
                    <a:ext uri="{FF2B5EF4-FFF2-40B4-BE49-F238E27FC236}">
                      <a16:creationId xmlns:a16="http://schemas.microsoft.com/office/drawing/2014/main" id="{1BEDD396-3162-6382-FAAC-58F5F0D586B0}"/>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56" name="Ellipse 555">
                  <a:extLst>
                    <a:ext uri="{FF2B5EF4-FFF2-40B4-BE49-F238E27FC236}">
                      <a16:creationId xmlns:a16="http://schemas.microsoft.com/office/drawing/2014/main" id="{1A567B57-46F7-A9E8-6333-E438A4D1D1CF}"/>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1" name="Groupe 530">
                <a:extLst>
                  <a:ext uri="{FF2B5EF4-FFF2-40B4-BE49-F238E27FC236}">
                    <a16:creationId xmlns:a16="http://schemas.microsoft.com/office/drawing/2014/main" id="{BC76FDD3-286B-21A6-7001-EF08F2FF008B}"/>
                  </a:ext>
                </a:extLst>
              </p:cNvPr>
              <p:cNvGrpSpPr/>
              <p:nvPr/>
            </p:nvGrpSpPr>
            <p:grpSpPr>
              <a:xfrm>
                <a:off x="9610640" y="2276238"/>
                <a:ext cx="102144" cy="191413"/>
                <a:chOff x="10178180" y="1782664"/>
                <a:chExt cx="102144" cy="191413"/>
              </a:xfrm>
            </p:grpSpPr>
            <p:cxnSp>
              <p:nvCxnSpPr>
                <p:cNvPr id="553" name="Connecteur droit 552">
                  <a:extLst>
                    <a:ext uri="{FF2B5EF4-FFF2-40B4-BE49-F238E27FC236}">
                      <a16:creationId xmlns:a16="http://schemas.microsoft.com/office/drawing/2014/main" id="{40DE9AF4-A4C5-3028-7038-690747B6C09F}"/>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54" name="Ellipse 553">
                  <a:extLst>
                    <a:ext uri="{FF2B5EF4-FFF2-40B4-BE49-F238E27FC236}">
                      <a16:creationId xmlns:a16="http://schemas.microsoft.com/office/drawing/2014/main" id="{2AABC2BA-83D7-F76A-B918-A4AC288BBC71}"/>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2" name="Groupe 531">
                <a:extLst>
                  <a:ext uri="{FF2B5EF4-FFF2-40B4-BE49-F238E27FC236}">
                    <a16:creationId xmlns:a16="http://schemas.microsoft.com/office/drawing/2014/main" id="{DF83D851-88DA-0A7E-8A1B-CFDEE04A2BAE}"/>
                  </a:ext>
                </a:extLst>
              </p:cNvPr>
              <p:cNvGrpSpPr/>
              <p:nvPr/>
            </p:nvGrpSpPr>
            <p:grpSpPr>
              <a:xfrm>
                <a:off x="9334800" y="2253116"/>
                <a:ext cx="102144" cy="191413"/>
                <a:chOff x="10178180" y="1782664"/>
                <a:chExt cx="102144" cy="191413"/>
              </a:xfrm>
            </p:grpSpPr>
            <p:cxnSp>
              <p:nvCxnSpPr>
                <p:cNvPr id="551" name="Connecteur droit 550">
                  <a:extLst>
                    <a:ext uri="{FF2B5EF4-FFF2-40B4-BE49-F238E27FC236}">
                      <a16:creationId xmlns:a16="http://schemas.microsoft.com/office/drawing/2014/main" id="{CA553955-50D6-E5F2-643A-099B6673C095}"/>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52" name="Ellipse 551">
                  <a:extLst>
                    <a:ext uri="{FF2B5EF4-FFF2-40B4-BE49-F238E27FC236}">
                      <a16:creationId xmlns:a16="http://schemas.microsoft.com/office/drawing/2014/main" id="{3D8F9656-2329-3CDB-673D-FA10011927D7}"/>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3" name="Groupe 532">
                <a:extLst>
                  <a:ext uri="{FF2B5EF4-FFF2-40B4-BE49-F238E27FC236}">
                    <a16:creationId xmlns:a16="http://schemas.microsoft.com/office/drawing/2014/main" id="{F1F9C87C-03A0-083E-718D-82EAF0C5F6B7}"/>
                  </a:ext>
                </a:extLst>
              </p:cNvPr>
              <p:cNvGrpSpPr/>
              <p:nvPr/>
            </p:nvGrpSpPr>
            <p:grpSpPr>
              <a:xfrm>
                <a:off x="8988065" y="2116634"/>
                <a:ext cx="102144" cy="191413"/>
                <a:chOff x="10178180" y="1782664"/>
                <a:chExt cx="102144" cy="191413"/>
              </a:xfrm>
            </p:grpSpPr>
            <p:cxnSp>
              <p:nvCxnSpPr>
                <p:cNvPr id="549" name="Connecteur droit 548">
                  <a:extLst>
                    <a:ext uri="{FF2B5EF4-FFF2-40B4-BE49-F238E27FC236}">
                      <a16:creationId xmlns:a16="http://schemas.microsoft.com/office/drawing/2014/main" id="{27FC8CDA-9428-5E42-2BFA-8C904A8925D2}"/>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50" name="Ellipse 549">
                  <a:extLst>
                    <a:ext uri="{FF2B5EF4-FFF2-40B4-BE49-F238E27FC236}">
                      <a16:creationId xmlns:a16="http://schemas.microsoft.com/office/drawing/2014/main" id="{37E19BAF-2443-0682-A7AE-D88EF168388E}"/>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4" name="Groupe 533">
                <a:extLst>
                  <a:ext uri="{FF2B5EF4-FFF2-40B4-BE49-F238E27FC236}">
                    <a16:creationId xmlns:a16="http://schemas.microsoft.com/office/drawing/2014/main" id="{D9842334-E864-C5C9-2B92-FCAC74DB6D6F}"/>
                  </a:ext>
                </a:extLst>
              </p:cNvPr>
              <p:cNvGrpSpPr/>
              <p:nvPr/>
            </p:nvGrpSpPr>
            <p:grpSpPr>
              <a:xfrm>
                <a:off x="8656873" y="2059330"/>
                <a:ext cx="102144" cy="191413"/>
                <a:chOff x="10178180" y="1782664"/>
                <a:chExt cx="102144" cy="191413"/>
              </a:xfrm>
            </p:grpSpPr>
            <p:cxnSp>
              <p:nvCxnSpPr>
                <p:cNvPr id="547" name="Connecteur droit 546">
                  <a:extLst>
                    <a:ext uri="{FF2B5EF4-FFF2-40B4-BE49-F238E27FC236}">
                      <a16:creationId xmlns:a16="http://schemas.microsoft.com/office/drawing/2014/main" id="{68EFEFFC-A887-6C5B-7DC3-9241B2A0015B}"/>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48" name="Ellipse 547">
                  <a:extLst>
                    <a:ext uri="{FF2B5EF4-FFF2-40B4-BE49-F238E27FC236}">
                      <a16:creationId xmlns:a16="http://schemas.microsoft.com/office/drawing/2014/main" id="{9666ACF1-4531-A538-FC56-AEBB84E93C59}"/>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5" name="Groupe 534">
                <a:extLst>
                  <a:ext uri="{FF2B5EF4-FFF2-40B4-BE49-F238E27FC236}">
                    <a16:creationId xmlns:a16="http://schemas.microsoft.com/office/drawing/2014/main" id="{E6A9B2E3-7214-610C-38CD-C229C531E412}"/>
                  </a:ext>
                </a:extLst>
              </p:cNvPr>
              <p:cNvGrpSpPr/>
              <p:nvPr/>
            </p:nvGrpSpPr>
            <p:grpSpPr>
              <a:xfrm>
                <a:off x="8574420" y="2433143"/>
                <a:ext cx="102144" cy="191413"/>
                <a:chOff x="10178180" y="1782664"/>
                <a:chExt cx="102144" cy="191413"/>
              </a:xfrm>
            </p:grpSpPr>
            <p:cxnSp>
              <p:nvCxnSpPr>
                <p:cNvPr id="545" name="Connecteur droit 544">
                  <a:extLst>
                    <a:ext uri="{FF2B5EF4-FFF2-40B4-BE49-F238E27FC236}">
                      <a16:creationId xmlns:a16="http://schemas.microsoft.com/office/drawing/2014/main" id="{C25B49F8-31C5-89E4-7F72-E662D5077492}"/>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46" name="Ellipse 545">
                  <a:extLst>
                    <a:ext uri="{FF2B5EF4-FFF2-40B4-BE49-F238E27FC236}">
                      <a16:creationId xmlns:a16="http://schemas.microsoft.com/office/drawing/2014/main" id="{03030F0D-FE71-4B9F-20A7-60AE6C048950}"/>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6" name="Groupe 535">
                <a:extLst>
                  <a:ext uri="{FF2B5EF4-FFF2-40B4-BE49-F238E27FC236}">
                    <a16:creationId xmlns:a16="http://schemas.microsoft.com/office/drawing/2014/main" id="{CE5FDC42-5C4A-E602-E8BA-AF163182C29C}"/>
                  </a:ext>
                </a:extLst>
              </p:cNvPr>
              <p:cNvGrpSpPr/>
              <p:nvPr/>
            </p:nvGrpSpPr>
            <p:grpSpPr>
              <a:xfrm>
                <a:off x="8888568" y="2441622"/>
                <a:ext cx="102144" cy="191413"/>
                <a:chOff x="10178180" y="1782664"/>
                <a:chExt cx="102144" cy="191413"/>
              </a:xfrm>
            </p:grpSpPr>
            <p:cxnSp>
              <p:nvCxnSpPr>
                <p:cNvPr id="543" name="Connecteur droit 542">
                  <a:extLst>
                    <a:ext uri="{FF2B5EF4-FFF2-40B4-BE49-F238E27FC236}">
                      <a16:creationId xmlns:a16="http://schemas.microsoft.com/office/drawing/2014/main" id="{24FFE7AB-1DA8-B03A-4768-4535260E3601}"/>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44" name="Ellipse 543">
                  <a:extLst>
                    <a:ext uri="{FF2B5EF4-FFF2-40B4-BE49-F238E27FC236}">
                      <a16:creationId xmlns:a16="http://schemas.microsoft.com/office/drawing/2014/main" id="{FB718F50-E45F-2F48-0FF6-01CEC917DA13}"/>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7" name="Groupe 536">
                <a:extLst>
                  <a:ext uri="{FF2B5EF4-FFF2-40B4-BE49-F238E27FC236}">
                    <a16:creationId xmlns:a16="http://schemas.microsoft.com/office/drawing/2014/main" id="{B7A52E0A-C9BE-8B75-10E4-4AAC7357FEDF}"/>
                  </a:ext>
                </a:extLst>
              </p:cNvPr>
              <p:cNvGrpSpPr/>
              <p:nvPr/>
            </p:nvGrpSpPr>
            <p:grpSpPr>
              <a:xfrm>
                <a:off x="9195077" y="2553446"/>
                <a:ext cx="102144" cy="191413"/>
                <a:chOff x="10178180" y="1782664"/>
                <a:chExt cx="102144" cy="191413"/>
              </a:xfrm>
            </p:grpSpPr>
            <p:cxnSp>
              <p:nvCxnSpPr>
                <p:cNvPr id="541" name="Connecteur droit 540">
                  <a:extLst>
                    <a:ext uri="{FF2B5EF4-FFF2-40B4-BE49-F238E27FC236}">
                      <a16:creationId xmlns:a16="http://schemas.microsoft.com/office/drawing/2014/main" id="{DC1FBCDD-6A87-280E-664A-82179EEBA54F}"/>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42" name="Ellipse 541">
                  <a:extLst>
                    <a:ext uri="{FF2B5EF4-FFF2-40B4-BE49-F238E27FC236}">
                      <a16:creationId xmlns:a16="http://schemas.microsoft.com/office/drawing/2014/main" id="{F15DA6CE-C563-8310-C576-3CB9AF4A3902}"/>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8" name="Groupe 537">
                <a:extLst>
                  <a:ext uri="{FF2B5EF4-FFF2-40B4-BE49-F238E27FC236}">
                    <a16:creationId xmlns:a16="http://schemas.microsoft.com/office/drawing/2014/main" id="{CE748086-FE12-FFAC-0A8B-5AF0424E385A}"/>
                  </a:ext>
                </a:extLst>
              </p:cNvPr>
              <p:cNvGrpSpPr/>
              <p:nvPr/>
            </p:nvGrpSpPr>
            <p:grpSpPr>
              <a:xfrm>
                <a:off x="9490032" y="2590463"/>
                <a:ext cx="102144" cy="191413"/>
                <a:chOff x="10178180" y="1782664"/>
                <a:chExt cx="102144" cy="191413"/>
              </a:xfrm>
            </p:grpSpPr>
            <p:cxnSp>
              <p:nvCxnSpPr>
                <p:cNvPr id="539" name="Connecteur droit 538">
                  <a:extLst>
                    <a:ext uri="{FF2B5EF4-FFF2-40B4-BE49-F238E27FC236}">
                      <a16:creationId xmlns:a16="http://schemas.microsoft.com/office/drawing/2014/main" id="{4CC248C2-E57E-C44A-4C73-E935924F7E9F}"/>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40" name="Ellipse 539">
                  <a:extLst>
                    <a:ext uri="{FF2B5EF4-FFF2-40B4-BE49-F238E27FC236}">
                      <a16:creationId xmlns:a16="http://schemas.microsoft.com/office/drawing/2014/main" id="{5BD58E7A-37B0-47A9-6939-0E7C067CE996}"/>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228" name="Groupe 227">
              <a:extLst>
                <a:ext uri="{FF2B5EF4-FFF2-40B4-BE49-F238E27FC236}">
                  <a16:creationId xmlns:a16="http://schemas.microsoft.com/office/drawing/2014/main" id="{1030C297-7205-7783-5F0B-3B1EC30B36DE}"/>
                </a:ext>
              </a:extLst>
            </p:cNvPr>
            <p:cNvGrpSpPr/>
            <p:nvPr/>
          </p:nvGrpSpPr>
          <p:grpSpPr>
            <a:xfrm>
              <a:off x="9237422" y="1285203"/>
              <a:ext cx="1230159" cy="1035863"/>
              <a:chOff x="8572649" y="1655556"/>
              <a:chExt cx="1409636" cy="1186993"/>
            </a:xfrm>
          </p:grpSpPr>
          <p:grpSp>
            <p:nvGrpSpPr>
              <p:cNvPr id="295" name="Groupe 294">
                <a:extLst>
                  <a:ext uri="{FF2B5EF4-FFF2-40B4-BE49-F238E27FC236}">
                    <a16:creationId xmlns:a16="http://schemas.microsoft.com/office/drawing/2014/main" id="{8DD4E0B9-D8B0-8457-183C-B4972A87730E}"/>
                  </a:ext>
                </a:extLst>
              </p:cNvPr>
              <p:cNvGrpSpPr/>
              <p:nvPr/>
            </p:nvGrpSpPr>
            <p:grpSpPr>
              <a:xfrm>
                <a:off x="8572649" y="1655556"/>
                <a:ext cx="1409636" cy="1186993"/>
                <a:chOff x="8982504" y="3274976"/>
                <a:chExt cx="1230670" cy="1036294"/>
              </a:xfrm>
              <a:solidFill>
                <a:srgbClr val="ED7D31"/>
              </a:solidFill>
            </p:grpSpPr>
            <p:pic>
              <p:nvPicPr>
                <p:cNvPr id="516" name="Graphique 515" descr="Utilisateur avec un remplissage uni">
                  <a:extLst>
                    <a:ext uri="{FF2B5EF4-FFF2-40B4-BE49-F238E27FC236}">
                      <a16:creationId xmlns:a16="http://schemas.microsoft.com/office/drawing/2014/main" id="{D2996164-0B30-2338-13E6-B3A2BFA7A2D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01028" y="3274976"/>
                  <a:ext cx="336064" cy="336064"/>
                </a:xfrm>
                <a:prstGeom prst="rect">
                  <a:avLst/>
                </a:prstGeom>
              </p:spPr>
            </p:pic>
            <p:pic>
              <p:nvPicPr>
                <p:cNvPr id="517" name="Graphique 516" descr="Utilisateur avec un remplissage uni">
                  <a:extLst>
                    <a:ext uri="{FF2B5EF4-FFF2-40B4-BE49-F238E27FC236}">
                      <a16:creationId xmlns:a16="http://schemas.microsoft.com/office/drawing/2014/main" id="{76074D1E-209E-0506-4780-09A900EEFA2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54140" y="3512720"/>
                  <a:ext cx="336064" cy="336064"/>
                </a:xfrm>
                <a:prstGeom prst="rect">
                  <a:avLst/>
                </a:prstGeom>
              </p:spPr>
            </p:pic>
            <p:pic>
              <p:nvPicPr>
                <p:cNvPr id="518" name="Graphique 517" descr="Utilisateur avec un remplissage uni">
                  <a:extLst>
                    <a:ext uri="{FF2B5EF4-FFF2-40B4-BE49-F238E27FC236}">
                      <a16:creationId xmlns:a16="http://schemas.microsoft.com/office/drawing/2014/main" id="{EC853A79-7271-F352-665C-E617E00C3E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45616" y="3561880"/>
                  <a:ext cx="336064" cy="336064"/>
                </a:xfrm>
                <a:prstGeom prst="rect">
                  <a:avLst/>
                </a:prstGeom>
              </p:spPr>
            </p:pic>
            <p:pic>
              <p:nvPicPr>
                <p:cNvPr id="519" name="Graphique 518" descr="Utilisateur avec un remplissage uni">
                  <a:extLst>
                    <a:ext uri="{FF2B5EF4-FFF2-40B4-BE49-F238E27FC236}">
                      <a16:creationId xmlns:a16="http://schemas.microsoft.com/office/drawing/2014/main" id="{A4747A64-821D-0846-5E97-B0CCB5DAA7D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92504" y="3418428"/>
                  <a:ext cx="336064" cy="336064"/>
                </a:xfrm>
                <a:prstGeom prst="rect">
                  <a:avLst/>
                </a:prstGeom>
              </p:spPr>
            </p:pic>
            <p:pic>
              <p:nvPicPr>
                <p:cNvPr id="520" name="Graphique 519" descr="Utilisateur avec un remplissage uni">
                  <a:extLst>
                    <a:ext uri="{FF2B5EF4-FFF2-40B4-BE49-F238E27FC236}">
                      <a16:creationId xmlns:a16="http://schemas.microsoft.com/office/drawing/2014/main" id="{AA59C949-257D-FD98-1BA0-0B90DD156AC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35196" y="3680752"/>
                  <a:ext cx="336064" cy="336064"/>
                </a:xfrm>
                <a:prstGeom prst="rect">
                  <a:avLst/>
                </a:prstGeom>
              </p:spPr>
            </p:pic>
            <p:pic>
              <p:nvPicPr>
                <p:cNvPr id="521" name="Graphique 520" descr="Utilisateur avec un remplissage uni">
                  <a:extLst>
                    <a:ext uri="{FF2B5EF4-FFF2-40B4-BE49-F238E27FC236}">
                      <a16:creationId xmlns:a16="http://schemas.microsoft.com/office/drawing/2014/main" id="{8FA0E8FC-B9A8-8D64-C24E-4EAE846C9C8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256440" y="3848784"/>
                  <a:ext cx="336064" cy="336064"/>
                </a:xfrm>
                <a:prstGeom prst="rect">
                  <a:avLst/>
                </a:prstGeom>
              </p:spPr>
            </p:pic>
            <p:pic>
              <p:nvPicPr>
                <p:cNvPr id="522" name="Graphique 521" descr="Utilisateur avec un remplissage uni">
                  <a:extLst>
                    <a:ext uri="{FF2B5EF4-FFF2-40B4-BE49-F238E27FC236}">
                      <a16:creationId xmlns:a16="http://schemas.microsoft.com/office/drawing/2014/main" id="{A1D42CF6-A7AB-C763-1CD5-CC4B99B68CA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82504" y="3835028"/>
                  <a:ext cx="336064" cy="336064"/>
                </a:xfrm>
                <a:prstGeom prst="rect">
                  <a:avLst/>
                </a:prstGeom>
              </p:spPr>
            </p:pic>
            <p:pic>
              <p:nvPicPr>
                <p:cNvPr id="523" name="Graphique 522" descr="Utilisateur avec un remplissage uni">
                  <a:extLst>
                    <a:ext uri="{FF2B5EF4-FFF2-40B4-BE49-F238E27FC236}">
                      <a16:creationId xmlns:a16="http://schemas.microsoft.com/office/drawing/2014/main" id="{CE74EB3E-C495-32A9-C772-7C31B006E2C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520868" y="3943076"/>
                  <a:ext cx="336064" cy="336064"/>
                </a:xfrm>
                <a:prstGeom prst="rect">
                  <a:avLst/>
                </a:prstGeom>
              </p:spPr>
            </p:pic>
            <p:pic>
              <p:nvPicPr>
                <p:cNvPr id="524" name="Graphique 523" descr="Utilisateur avec un remplissage uni">
                  <a:extLst>
                    <a:ext uri="{FF2B5EF4-FFF2-40B4-BE49-F238E27FC236}">
                      <a16:creationId xmlns:a16="http://schemas.microsoft.com/office/drawing/2014/main" id="{BF04A3D1-E27B-56BA-E176-5D9A0217AEF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83417" y="3975206"/>
                  <a:ext cx="336064" cy="336064"/>
                </a:xfrm>
                <a:prstGeom prst="rect">
                  <a:avLst/>
                </a:prstGeom>
              </p:spPr>
            </p:pic>
            <p:pic>
              <p:nvPicPr>
                <p:cNvPr id="525" name="Graphique 524" descr="Utilisateur avec un remplissage uni">
                  <a:extLst>
                    <a:ext uri="{FF2B5EF4-FFF2-40B4-BE49-F238E27FC236}">
                      <a16:creationId xmlns:a16="http://schemas.microsoft.com/office/drawing/2014/main" id="{F83C716D-3261-2C8C-4A4B-46040EB13FF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77110" y="3705332"/>
                  <a:ext cx="336064" cy="336064"/>
                </a:xfrm>
                <a:prstGeom prst="rect">
                  <a:avLst/>
                </a:prstGeom>
              </p:spPr>
            </p:pic>
            <p:pic>
              <p:nvPicPr>
                <p:cNvPr id="526" name="Graphique 525" descr="Utilisateur avec un remplissage uni">
                  <a:extLst>
                    <a:ext uri="{FF2B5EF4-FFF2-40B4-BE49-F238E27FC236}">
                      <a16:creationId xmlns:a16="http://schemas.microsoft.com/office/drawing/2014/main" id="{24AE0F56-6CC0-5878-299D-37C5D73121D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856932" y="3429000"/>
                  <a:ext cx="336064" cy="336064"/>
                </a:xfrm>
                <a:prstGeom prst="rect">
                  <a:avLst/>
                </a:prstGeom>
              </p:spPr>
            </p:pic>
          </p:grpSp>
          <p:grpSp>
            <p:nvGrpSpPr>
              <p:cNvPr id="296" name="Groupe 295">
                <a:extLst>
                  <a:ext uri="{FF2B5EF4-FFF2-40B4-BE49-F238E27FC236}">
                    <a16:creationId xmlns:a16="http://schemas.microsoft.com/office/drawing/2014/main" id="{84B9B971-B281-0033-D419-0BE91AD3BA60}"/>
                  </a:ext>
                </a:extLst>
              </p:cNvPr>
              <p:cNvGrpSpPr/>
              <p:nvPr/>
            </p:nvGrpSpPr>
            <p:grpSpPr>
              <a:xfrm>
                <a:off x="8937492" y="1776645"/>
                <a:ext cx="102144" cy="191413"/>
                <a:chOff x="10178180" y="1782664"/>
                <a:chExt cx="102144" cy="191413"/>
              </a:xfrm>
            </p:grpSpPr>
            <p:cxnSp>
              <p:nvCxnSpPr>
                <p:cNvPr id="514" name="Connecteur droit 513">
                  <a:extLst>
                    <a:ext uri="{FF2B5EF4-FFF2-40B4-BE49-F238E27FC236}">
                      <a16:creationId xmlns:a16="http://schemas.microsoft.com/office/drawing/2014/main" id="{D290A391-65F9-90EA-C125-36D3B0C15DCB}"/>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15" name="Ellipse 514">
                  <a:extLst>
                    <a:ext uri="{FF2B5EF4-FFF2-40B4-BE49-F238E27FC236}">
                      <a16:creationId xmlns:a16="http://schemas.microsoft.com/office/drawing/2014/main" id="{046B6717-946C-AA08-3774-A3F7DCEBEDD3}"/>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97" name="Ellipse 296">
                <a:extLst>
                  <a:ext uri="{FF2B5EF4-FFF2-40B4-BE49-F238E27FC236}">
                    <a16:creationId xmlns:a16="http://schemas.microsoft.com/office/drawing/2014/main" id="{EB225D61-DA3C-9051-FE50-328CDB59D7E4}"/>
                  </a:ext>
                </a:extLst>
              </p:cNvPr>
              <p:cNvSpPr/>
              <p:nvPr/>
            </p:nvSpPr>
            <p:spPr>
              <a:xfrm>
                <a:off x="9301412" y="206718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 name="Ellipse 297">
                <a:extLst>
                  <a:ext uri="{FF2B5EF4-FFF2-40B4-BE49-F238E27FC236}">
                    <a16:creationId xmlns:a16="http://schemas.microsoft.com/office/drawing/2014/main" id="{D0328181-7314-25F1-B81F-92BC14754EC8}"/>
                  </a:ext>
                </a:extLst>
              </p:cNvPr>
              <p:cNvSpPr/>
              <p:nvPr/>
            </p:nvSpPr>
            <p:spPr>
              <a:xfrm>
                <a:off x="9617999" y="2076952"/>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 name="Ellipse 298">
                <a:extLst>
                  <a:ext uri="{FF2B5EF4-FFF2-40B4-BE49-F238E27FC236}">
                    <a16:creationId xmlns:a16="http://schemas.microsoft.com/office/drawing/2014/main" id="{90A22190-4647-3389-FEAA-D4E7B2FFB491}"/>
                  </a:ext>
                </a:extLst>
              </p:cNvPr>
              <p:cNvSpPr/>
              <p:nvPr/>
            </p:nvSpPr>
            <p:spPr>
              <a:xfrm>
                <a:off x="9643768" y="2398635"/>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9" name="Ellipse 388">
                <a:extLst>
                  <a:ext uri="{FF2B5EF4-FFF2-40B4-BE49-F238E27FC236}">
                    <a16:creationId xmlns:a16="http://schemas.microsoft.com/office/drawing/2014/main" id="{23CD2CDA-9B30-EDB5-17DE-B864CDEB3087}"/>
                  </a:ext>
                </a:extLst>
              </p:cNvPr>
              <p:cNvSpPr/>
              <p:nvPr/>
            </p:nvSpPr>
            <p:spPr>
              <a:xfrm>
                <a:off x="9367928" y="237551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93" name="Groupe 392">
                <a:extLst>
                  <a:ext uri="{FF2B5EF4-FFF2-40B4-BE49-F238E27FC236}">
                    <a16:creationId xmlns:a16="http://schemas.microsoft.com/office/drawing/2014/main" id="{EE48A04D-15BC-8F95-0C1B-4718F52626FB}"/>
                  </a:ext>
                </a:extLst>
              </p:cNvPr>
              <p:cNvGrpSpPr/>
              <p:nvPr/>
            </p:nvGrpSpPr>
            <p:grpSpPr>
              <a:xfrm>
                <a:off x="8988065" y="2116634"/>
                <a:ext cx="102144" cy="191413"/>
                <a:chOff x="10178180" y="1782664"/>
                <a:chExt cx="102144" cy="191413"/>
              </a:xfrm>
            </p:grpSpPr>
            <p:cxnSp>
              <p:nvCxnSpPr>
                <p:cNvPr id="512" name="Connecteur droit 511">
                  <a:extLst>
                    <a:ext uri="{FF2B5EF4-FFF2-40B4-BE49-F238E27FC236}">
                      <a16:creationId xmlns:a16="http://schemas.microsoft.com/office/drawing/2014/main" id="{A58D5F41-A843-6A65-BA96-345123081B78}"/>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513" name="Ellipse 512">
                  <a:extLst>
                    <a:ext uri="{FF2B5EF4-FFF2-40B4-BE49-F238E27FC236}">
                      <a16:creationId xmlns:a16="http://schemas.microsoft.com/office/drawing/2014/main" id="{B3935877-2174-5725-B065-57241D1DA4B5}"/>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95" name="Groupe 394">
                <a:extLst>
                  <a:ext uri="{FF2B5EF4-FFF2-40B4-BE49-F238E27FC236}">
                    <a16:creationId xmlns:a16="http://schemas.microsoft.com/office/drawing/2014/main" id="{3769233D-F54C-5E4B-2209-813743CED277}"/>
                  </a:ext>
                </a:extLst>
              </p:cNvPr>
              <p:cNvGrpSpPr/>
              <p:nvPr/>
            </p:nvGrpSpPr>
            <p:grpSpPr>
              <a:xfrm>
                <a:off x="8656873" y="2059330"/>
                <a:ext cx="102144" cy="191413"/>
                <a:chOff x="10178180" y="1782664"/>
                <a:chExt cx="102144" cy="191413"/>
              </a:xfrm>
            </p:grpSpPr>
            <p:cxnSp>
              <p:nvCxnSpPr>
                <p:cNvPr id="438" name="Connecteur droit 437">
                  <a:extLst>
                    <a:ext uri="{FF2B5EF4-FFF2-40B4-BE49-F238E27FC236}">
                      <a16:creationId xmlns:a16="http://schemas.microsoft.com/office/drawing/2014/main" id="{576C3CDA-865E-BF28-B36B-6D680C5A9517}"/>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440" name="Ellipse 439">
                  <a:extLst>
                    <a:ext uri="{FF2B5EF4-FFF2-40B4-BE49-F238E27FC236}">
                      <a16:creationId xmlns:a16="http://schemas.microsoft.com/office/drawing/2014/main" id="{28B060A7-4BE0-7AC7-F438-7C8D7533B5E7}"/>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02" name="Groupe 401">
                <a:extLst>
                  <a:ext uri="{FF2B5EF4-FFF2-40B4-BE49-F238E27FC236}">
                    <a16:creationId xmlns:a16="http://schemas.microsoft.com/office/drawing/2014/main" id="{6927B378-AA39-C526-E90E-EB5E4155AD82}"/>
                  </a:ext>
                </a:extLst>
              </p:cNvPr>
              <p:cNvGrpSpPr/>
              <p:nvPr/>
            </p:nvGrpSpPr>
            <p:grpSpPr>
              <a:xfrm>
                <a:off x="8574420" y="2433143"/>
                <a:ext cx="102144" cy="191413"/>
                <a:chOff x="10178180" y="1782664"/>
                <a:chExt cx="102144" cy="191413"/>
              </a:xfrm>
            </p:grpSpPr>
            <p:cxnSp>
              <p:nvCxnSpPr>
                <p:cNvPr id="429" name="Connecteur droit 428">
                  <a:extLst>
                    <a:ext uri="{FF2B5EF4-FFF2-40B4-BE49-F238E27FC236}">
                      <a16:creationId xmlns:a16="http://schemas.microsoft.com/office/drawing/2014/main" id="{5CA4A446-175F-D45D-90A5-9620EE21B854}"/>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431" name="Ellipse 430">
                  <a:extLst>
                    <a:ext uri="{FF2B5EF4-FFF2-40B4-BE49-F238E27FC236}">
                      <a16:creationId xmlns:a16="http://schemas.microsoft.com/office/drawing/2014/main" id="{B9645393-181D-25AA-6D70-2CD5B05BD372}"/>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04" name="Groupe 403">
                <a:extLst>
                  <a:ext uri="{FF2B5EF4-FFF2-40B4-BE49-F238E27FC236}">
                    <a16:creationId xmlns:a16="http://schemas.microsoft.com/office/drawing/2014/main" id="{B7269B7C-A780-3254-23DA-B9FFE80DFD14}"/>
                  </a:ext>
                </a:extLst>
              </p:cNvPr>
              <p:cNvGrpSpPr/>
              <p:nvPr/>
            </p:nvGrpSpPr>
            <p:grpSpPr>
              <a:xfrm>
                <a:off x="8888568" y="2441622"/>
                <a:ext cx="102144" cy="191413"/>
                <a:chOff x="10178180" y="1782664"/>
                <a:chExt cx="102144" cy="191413"/>
              </a:xfrm>
            </p:grpSpPr>
            <p:cxnSp>
              <p:nvCxnSpPr>
                <p:cNvPr id="420" name="Connecteur droit 419">
                  <a:extLst>
                    <a:ext uri="{FF2B5EF4-FFF2-40B4-BE49-F238E27FC236}">
                      <a16:creationId xmlns:a16="http://schemas.microsoft.com/office/drawing/2014/main" id="{0A460C46-7E63-F4E8-E0AC-FF6AE7157BA2}"/>
                    </a:ext>
                  </a:extLst>
                </p:cNvPr>
                <p:cNvCxnSpPr>
                  <a:cxnSpLocks/>
                </p:cNvCxnSpPr>
                <p:nvPr/>
              </p:nvCxnSpPr>
              <p:spPr>
                <a:xfrm>
                  <a:off x="10178180" y="1782664"/>
                  <a:ext cx="51853" cy="130171"/>
                </a:xfrm>
                <a:prstGeom prst="line">
                  <a:avLst/>
                </a:prstGeom>
                <a:ln w="28575"/>
              </p:spPr>
              <p:style>
                <a:lnRef idx="1">
                  <a:schemeClr val="accent2"/>
                </a:lnRef>
                <a:fillRef idx="0">
                  <a:schemeClr val="accent2"/>
                </a:fillRef>
                <a:effectRef idx="0">
                  <a:schemeClr val="accent2"/>
                </a:effectRef>
                <a:fontRef idx="minor">
                  <a:schemeClr val="tx1"/>
                </a:fontRef>
              </p:style>
            </p:cxnSp>
            <p:sp>
              <p:nvSpPr>
                <p:cNvPr id="422" name="Ellipse 421">
                  <a:extLst>
                    <a:ext uri="{FF2B5EF4-FFF2-40B4-BE49-F238E27FC236}">
                      <a16:creationId xmlns:a16="http://schemas.microsoft.com/office/drawing/2014/main" id="{B547119B-8D63-C6E0-1C41-D4737C7EB418}"/>
                    </a:ext>
                  </a:extLst>
                </p:cNvPr>
                <p:cNvSpPr/>
                <p:nvPr/>
              </p:nvSpPr>
              <p:spPr>
                <a:xfrm>
                  <a:off x="10211308" y="1905061"/>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411" name="Ellipse 410">
                <a:extLst>
                  <a:ext uri="{FF2B5EF4-FFF2-40B4-BE49-F238E27FC236}">
                    <a16:creationId xmlns:a16="http://schemas.microsoft.com/office/drawing/2014/main" id="{F47EE61D-A3D5-5487-58B3-AA9FA6F66B7C}"/>
                  </a:ext>
                </a:extLst>
              </p:cNvPr>
              <p:cNvSpPr/>
              <p:nvPr/>
            </p:nvSpPr>
            <p:spPr>
              <a:xfrm>
                <a:off x="9228205" y="2675843"/>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3" name="Ellipse 412">
                <a:extLst>
                  <a:ext uri="{FF2B5EF4-FFF2-40B4-BE49-F238E27FC236}">
                    <a16:creationId xmlns:a16="http://schemas.microsoft.com/office/drawing/2014/main" id="{102B7ADF-EF50-581E-14E0-0A0C989D907F}"/>
                  </a:ext>
                </a:extLst>
              </p:cNvPr>
              <p:cNvSpPr/>
              <p:nvPr/>
            </p:nvSpPr>
            <p:spPr>
              <a:xfrm>
                <a:off x="9523160" y="2712860"/>
                <a:ext cx="69016" cy="69016"/>
              </a:xfrm>
              <a:prstGeom prst="ellipse">
                <a:avLst/>
              </a:prstGeom>
              <a:noFill/>
              <a:ln>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29" name="Groupe 228">
              <a:extLst>
                <a:ext uri="{FF2B5EF4-FFF2-40B4-BE49-F238E27FC236}">
                  <a16:creationId xmlns:a16="http://schemas.microsoft.com/office/drawing/2014/main" id="{F1BCCE05-3DC0-9363-FD68-C7D95830B8A9}"/>
                </a:ext>
              </a:extLst>
            </p:cNvPr>
            <p:cNvGrpSpPr/>
            <p:nvPr/>
          </p:nvGrpSpPr>
          <p:grpSpPr>
            <a:xfrm>
              <a:off x="1218478" y="1426557"/>
              <a:ext cx="891895" cy="820209"/>
              <a:chOff x="1281387" y="2495253"/>
              <a:chExt cx="1084118" cy="996982"/>
            </a:xfrm>
          </p:grpSpPr>
          <p:grpSp>
            <p:nvGrpSpPr>
              <p:cNvPr id="283" name="Groupe 282">
                <a:extLst>
                  <a:ext uri="{FF2B5EF4-FFF2-40B4-BE49-F238E27FC236}">
                    <a16:creationId xmlns:a16="http://schemas.microsoft.com/office/drawing/2014/main" id="{4364FF70-F1A3-36F9-8A5B-C04AAF240020}"/>
                  </a:ext>
                </a:extLst>
              </p:cNvPr>
              <p:cNvGrpSpPr/>
              <p:nvPr/>
            </p:nvGrpSpPr>
            <p:grpSpPr>
              <a:xfrm>
                <a:off x="1569563" y="3035035"/>
                <a:ext cx="457200" cy="457200"/>
                <a:chOff x="3982824" y="1896400"/>
                <a:chExt cx="914400" cy="914400"/>
              </a:xfrm>
            </p:grpSpPr>
            <p:pic>
              <p:nvPicPr>
                <p:cNvPr id="293" name="Graphique 292" descr="Homme conductrice avec un remplissage uni">
                  <a:extLst>
                    <a:ext uri="{FF2B5EF4-FFF2-40B4-BE49-F238E27FC236}">
                      <a16:creationId xmlns:a16="http://schemas.microsoft.com/office/drawing/2014/main" id="{C1E669A1-40DE-F99A-7E41-67EA1CB39376}"/>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982824" y="1896400"/>
                  <a:ext cx="914400" cy="914400"/>
                </a:xfrm>
                <a:prstGeom prst="rect">
                  <a:avLst/>
                </a:prstGeom>
              </p:spPr>
            </p:pic>
            <p:sp>
              <p:nvSpPr>
                <p:cNvPr id="294" name="Rectangle 293">
                  <a:extLst>
                    <a:ext uri="{FF2B5EF4-FFF2-40B4-BE49-F238E27FC236}">
                      <a16:creationId xmlns:a16="http://schemas.microsoft.com/office/drawing/2014/main" id="{2F94F2D9-DE18-B921-E1F0-CB36340B92FB}"/>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84" name="Groupe 283">
                <a:extLst>
                  <a:ext uri="{FF2B5EF4-FFF2-40B4-BE49-F238E27FC236}">
                    <a16:creationId xmlns:a16="http://schemas.microsoft.com/office/drawing/2014/main" id="{67467BFF-1C1A-A02D-4FC2-0C442F32B03E}"/>
                  </a:ext>
                </a:extLst>
              </p:cNvPr>
              <p:cNvGrpSpPr/>
              <p:nvPr/>
            </p:nvGrpSpPr>
            <p:grpSpPr>
              <a:xfrm>
                <a:off x="1281387" y="2806435"/>
                <a:ext cx="457200" cy="457200"/>
                <a:chOff x="3982824" y="1896400"/>
                <a:chExt cx="914400" cy="914400"/>
              </a:xfrm>
            </p:grpSpPr>
            <p:pic>
              <p:nvPicPr>
                <p:cNvPr id="291" name="Graphique 290" descr="Homme conductrice avec un remplissage uni">
                  <a:extLst>
                    <a:ext uri="{FF2B5EF4-FFF2-40B4-BE49-F238E27FC236}">
                      <a16:creationId xmlns:a16="http://schemas.microsoft.com/office/drawing/2014/main" id="{6D574FF8-D941-96ED-A73D-749615DD1896}"/>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3982824" y="1896400"/>
                  <a:ext cx="914400" cy="914400"/>
                </a:xfrm>
                <a:prstGeom prst="rect">
                  <a:avLst/>
                </a:prstGeom>
              </p:spPr>
            </p:pic>
            <p:sp>
              <p:nvSpPr>
                <p:cNvPr id="292" name="Rectangle 291">
                  <a:extLst>
                    <a:ext uri="{FF2B5EF4-FFF2-40B4-BE49-F238E27FC236}">
                      <a16:creationId xmlns:a16="http://schemas.microsoft.com/office/drawing/2014/main" id="{BD306ABE-47A7-B694-C79C-159A2DECB926}"/>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85" name="Groupe 284">
                <a:extLst>
                  <a:ext uri="{FF2B5EF4-FFF2-40B4-BE49-F238E27FC236}">
                    <a16:creationId xmlns:a16="http://schemas.microsoft.com/office/drawing/2014/main" id="{805F6A46-8A6B-3282-E03E-362465917FE1}"/>
                  </a:ext>
                </a:extLst>
              </p:cNvPr>
              <p:cNvGrpSpPr/>
              <p:nvPr/>
            </p:nvGrpSpPr>
            <p:grpSpPr>
              <a:xfrm>
                <a:off x="1613164" y="2495253"/>
                <a:ext cx="457200" cy="457200"/>
                <a:chOff x="3982824" y="1896400"/>
                <a:chExt cx="914400" cy="914400"/>
              </a:xfrm>
            </p:grpSpPr>
            <p:pic>
              <p:nvPicPr>
                <p:cNvPr id="289" name="Graphique 288" descr="Homme conductrice avec un remplissage uni">
                  <a:extLst>
                    <a:ext uri="{FF2B5EF4-FFF2-40B4-BE49-F238E27FC236}">
                      <a16:creationId xmlns:a16="http://schemas.microsoft.com/office/drawing/2014/main" id="{1A56D80E-34C5-ECBB-BD69-29ED3BF52D31}"/>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982824" y="1896400"/>
                  <a:ext cx="914400" cy="914400"/>
                </a:xfrm>
                <a:prstGeom prst="rect">
                  <a:avLst/>
                </a:prstGeom>
              </p:spPr>
            </p:pic>
            <p:sp>
              <p:nvSpPr>
                <p:cNvPr id="290" name="Rectangle 289">
                  <a:extLst>
                    <a:ext uri="{FF2B5EF4-FFF2-40B4-BE49-F238E27FC236}">
                      <a16:creationId xmlns:a16="http://schemas.microsoft.com/office/drawing/2014/main" id="{B80A0815-CE6E-1E90-A621-0E1733E6F482}"/>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86" name="Groupe 285">
                <a:extLst>
                  <a:ext uri="{FF2B5EF4-FFF2-40B4-BE49-F238E27FC236}">
                    <a16:creationId xmlns:a16="http://schemas.microsoft.com/office/drawing/2014/main" id="{0ACAF06C-195F-9F74-ECD3-760C8CE6792C}"/>
                  </a:ext>
                </a:extLst>
              </p:cNvPr>
              <p:cNvGrpSpPr/>
              <p:nvPr/>
            </p:nvGrpSpPr>
            <p:grpSpPr>
              <a:xfrm>
                <a:off x="1908305" y="2820432"/>
                <a:ext cx="457200" cy="457200"/>
                <a:chOff x="3982824" y="1896400"/>
                <a:chExt cx="914400" cy="914400"/>
              </a:xfrm>
            </p:grpSpPr>
            <p:pic>
              <p:nvPicPr>
                <p:cNvPr id="287" name="Graphique 286" descr="Homme conductrice avec un remplissage uni">
                  <a:extLst>
                    <a:ext uri="{FF2B5EF4-FFF2-40B4-BE49-F238E27FC236}">
                      <a16:creationId xmlns:a16="http://schemas.microsoft.com/office/drawing/2014/main" id="{46F662B9-5361-54C4-DEFB-F9E545DE08C6}"/>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982824" y="1896400"/>
                  <a:ext cx="914400" cy="914400"/>
                </a:xfrm>
                <a:prstGeom prst="rect">
                  <a:avLst/>
                </a:prstGeom>
              </p:spPr>
            </p:pic>
            <p:sp>
              <p:nvSpPr>
                <p:cNvPr id="288" name="Rectangle 287">
                  <a:extLst>
                    <a:ext uri="{FF2B5EF4-FFF2-40B4-BE49-F238E27FC236}">
                      <a16:creationId xmlns:a16="http://schemas.microsoft.com/office/drawing/2014/main" id="{FBA1E705-9AD4-9FA2-9003-88E1838AB3A6}"/>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30" name="Groupe 229">
              <a:extLst>
                <a:ext uri="{FF2B5EF4-FFF2-40B4-BE49-F238E27FC236}">
                  <a16:creationId xmlns:a16="http://schemas.microsoft.com/office/drawing/2014/main" id="{3E3B0B2F-5645-B34A-58EF-587BE0F019A7}"/>
                </a:ext>
              </a:extLst>
            </p:cNvPr>
            <p:cNvGrpSpPr/>
            <p:nvPr/>
          </p:nvGrpSpPr>
          <p:grpSpPr>
            <a:xfrm>
              <a:off x="7739953" y="1380011"/>
              <a:ext cx="916532" cy="842866"/>
              <a:chOff x="7829288" y="2349771"/>
              <a:chExt cx="1084118" cy="996982"/>
            </a:xfrm>
          </p:grpSpPr>
          <p:grpSp>
            <p:nvGrpSpPr>
              <p:cNvPr id="271" name="Groupe 270">
                <a:extLst>
                  <a:ext uri="{FF2B5EF4-FFF2-40B4-BE49-F238E27FC236}">
                    <a16:creationId xmlns:a16="http://schemas.microsoft.com/office/drawing/2014/main" id="{C9971ECC-FD36-93F8-F155-7671DCDE1F08}"/>
                  </a:ext>
                </a:extLst>
              </p:cNvPr>
              <p:cNvGrpSpPr/>
              <p:nvPr/>
            </p:nvGrpSpPr>
            <p:grpSpPr>
              <a:xfrm>
                <a:off x="8117464" y="2889553"/>
                <a:ext cx="457200" cy="457200"/>
                <a:chOff x="3982824" y="1896400"/>
                <a:chExt cx="914400" cy="914400"/>
              </a:xfrm>
            </p:grpSpPr>
            <p:pic>
              <p:nvPicPr>
                <p:cNvPr id="281" name="Graphique 280" descr="Homme conductrice avec un remplissage uni">
                  <a:extLst>
                    <a:ext uri="{FF2B5EF4-FFF2-40B4-BE49-F238E27FC236}">
                      <a16:creationId xmlns:a16="http://schemas.microsoft.com/office/drawing/2014/main" id="{FB35BDDA-D152-CA47-824C-266AEDE6DBE9}"/>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982824" y="1896400"/>
                  <a:ext cx="914400" cy="914400"/>
                </a:xfrm>
                <a:prstGeom prst="rect">
                  <a:avLst/>
                </a:prstGeom>
              </p:spPr>
            </p:pic>
            <p:sp>
              <p:nvSpPr>
                <p:cNvPr id="282" name="Rectangle 281">
                  <a:extLst>
                    <a:ext uri="{FF2B5EF4-FFF2-40B4-BE49-F238E27FC236}">
                      <a16:creationId xmlns:a16="http://schemas.microsoft.com/office/drawing/2014/main" id="{E01E7157-4256-91F9-547A-03F680D5CA21}"/>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72" name="Groupe 271">
                <a:extLst>
                  <a:ext uri="{FF2B5EF4-FFF2-40B4-BE49-F238E27FC236}">
                    <a16:creationId xmlns:a16="http://schemas.microsoft.com/office/drawing/2014/main" id="{E994802A-F534-18D7-CF9C-B967894E1DEF}"/>
                  </a:ext>
                </a:extLst>
              </p:cNvPr>
              <p:cNvGrpSpPr/>
              <p:nvPr/>
            </p:nvGrpSpPr>
            <p:grpSpPr>
              <a:xfrm>
                <a:off x="7829288" y="2660953"/>
                <a:ext cx="457200" cy="457200"/>
                <a:chOff x="3982824" y="1896400"/>
                <a:chExt cx="914400" cy="914400"/>
              </a:xfrm>
            </p:grpSpPr>
            <p:pic>
              <p:nvPicPr>
                <p:cNvPr id="279" name="Graphique 278" descr="Homme conductrice avec un remplissage uni">
                  <a:extLst>
                    <a:ext uri="{FF2B5EF4-FFF2-40B4-BE49-F238E27FC236}">
                      <a16:creationId xmlns:a16="http://schemas.microsoft.com/office/drawing/2014/main" id="{D060864B-6FC3-FEDD-F5F5-0F325EEB91B3}"/>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982824" y="1896400"/>
                  <a:ext cx="914400" cy="914400"/>
                </a:xfrm>
                <a:prstGeom prst="rect">
                  <a:avLst/>
                </a:prstGeom>
              </p:spPr>
            </p:pic>
            <p:sp>
              <p:nvSpPr>
                <p:cNvPr id="280" name="Rectangle 279">
                  <a:extLst>
                    <a:ext uri="{FF2B5EF4-FFF2-40B4-BE49-F238E27FC236}">
                      <a16:creationId xmlns:a16="http://schemas.microsoft.com/office/drawing/2014/main" id="{A95998F6-DF4D-6C06-7560-B8FCAB68B82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73" name="Groupe 272">
                <a:extLst>
                  <a:ext uri="{FF2B5EF4-FFF2-40B4-BE49-F238E27FC236}">
                    <a16:creationId xmlns:a16="http://schemas.microsoft.com/office/drawing/2014/main" id="{6D79F97B-6506-F375-6AD4-9B2163225E61}"/>
                  </a:ext>
                </a:extLst>
              </p:cNvPr>
              <p:cNvGrpSpPr/>
              <p:nvPr/>
            </p:nvGrpSpPr>
            <p:grpSpPr>
              <a:xfrm>
                <a:off x="8161065" y="2349771"/>
                <a:ext cx="457200" cy="457200"/>
                <a:chOff x="3982824" y="1896400"/>
                <a:chExt cx="914400" cy="914400"/>
              </a:xfrm>
            </p:grpSpPr>
            <p:pic>
              <p:nvPicPr>
                <p:cNvPr id="277" name="Graphique 276" descr="Homme conductrice avec un remplissage uni">
                  <a:extLst>
                    <a:ext uri="{FF2B5EF4-FFF2-40B4-BE49-F238E27FC236}">
                      <a16:creationId xmlns:a16="http://schemas.microsoft.com/office/drawing/2014/main" id="{0F9F47F5-B199-0B36-75CA-65B72EC7C77C}"/>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982824" y="1896400"/>
                  <a:ext cx="914400" cy="914400"/>
                </a:xfrm>
                <a:prstGeom prst="rect">
                  <a:avLst/>
                </a:prstGeom>
              </p:spPr>
            </p:pic>
            <p:sp>
              <p:nvSpPr>
                <p:cNvPr id="278" name="Rectangle 277">
                  <a:extLst>
                    <a:ext uri="{FF2B5EF4-FFF2-40B4-BE49-F238E27FC236}">
                      <a16:creationId xmlns:a16="http://schemas.microsoft.com/office/drawing/2014/main" id="{B0DB4BB2-92F9-F4EE-46D3-7BE61DF5833D}"/>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74" name="Groupe 273">
                <a:extLst>
                  <a:ext uri="{FF2B5EF4-FFF2-40B4-BE49-F238E27FC236}">
                    <a16:creationId xmlns:a16="http://schemas.microsoft.com/office/drawing/2014/main" id="{07858A13-2C21-700D-5B9A-734FE5774BF3}"/>
                  </a:ext>
                </a:extLst>
              </p:cNvPr>
              <p:cNvGrpSpPr/>
              <p:nvPr/>
            </p:nvGrpSpPr>
            <p:grpSpPr>
              <a:xfrm>
                <a:off x="8456206" y="2674950"/>
                <a:ext cx="457200" cy="457200"/>
                <a:chOff x="3982824" y="1896400"/>
                <a:chExt cx="914400" cy="914400"/>
              </a:xfrm>
            </p:grpSpPr>
            <p:pic>
              <p:nvPicPr>
                <p:cNvPr id="275" name="Graphique 274" descr="Homme conductrice avec un remplissage uni">
                  <a:extLst>
                    <a:ext uri="{FF2B5EF4-FFF2-40B4-BE49-F238E27FC236}">
                      <a16:creationId xmlns:a16="http://schemas.microsoft.com/office/drawing/2014/main" id="{D1F65168-A957-3911-87DC-909293276265}"/>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982824" y="1896400"/>
                  <a:ext cx="914400" cy="914400"/>
                </a:xfrm>
                <a:prstGeom prst="rect">
                  <a:avLst/>
                </a:prstGeom>
              </p:spPr>
            </p:pic>
            <p:sp>
              <p:nvSpPr>
                <p:cNvPr id="276" name="Rectangle 275">
                  <a:extLst>
                    <a:ext uri="{FF2B5EF4-FFF2-40B4-BE49-F238E27FC236}">
                      <a16:creationId xmlns:a16="http://schemas.microsoft.com/office/drawing/2014/main" id="{73AD2A63-CD30-11A1-19B1-BC71D91690B5}"/>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31" name="Groupe 230">
              <a:extLst>
                <a:ext uri="{FF2B5EF4-FFF2-40B4-BE49-F238E27FC236}">
                  <a16:creationId xmlns:a16="http://schemas.microsoft.com/office/drawing/2014/main" id="{463CBC62-7F4E-FA1F-33D9-3C56B847F710}"/>
                </a:ext>
              </a:extLst>
            </p:cNvPr>
            <p:cNvGrpSpPr/>
            <p:nvPr/>
          </p:nvGrpSpPr>
          <p:grpSpPr>
            <a:xfrm>
              <a:off x="6346128" y="1404925"/>
              <a:ext cx="905676" cy="832882"/>
              <a:chOff x="6564654" y="2339787"/>
              <a:chExt cx="1084118" cy="996982"/>
            </a:xfrm>
          </p:grpSpPr>
          <p:grpSp>
            <p:nvGrpSpPr>
              <p:cNvPr id="259" name="Groupe 258">
                <a:extLst>
                  <a:ext uri="{FF2B5EF4-FFF2-40B4-BE49-F238E27FC236}">
                    <a16:creationId xmlns:a16="http://schemas.microsoft.com/office/drawing/2014/main" id="{5C1029B4-F198-AAA9-B21D-E23AC6808308}"/>
                  </a:ext>
                </a:extLst>
              </p:cNvPr>
              <p:cNvGrpSpPr/>
              <p:nvPr/>
            </p:nvGrpSpPr>
            <p:grpSpPr>
              <a:xfrm>
                <a:off x="6852830" y="2879569"/>
                <a:ext cx="457200" cy="457200"/>
                <a:chOff x="3982824" y="1896400"/>
                <a:chExt cx="914400" cy="914400"/>
              </a:xfrm>
            </p:grpSpPr>
            <p:pic>
              <p:nvPicPr>
                <p:cNvPr id="269" name="Graphique 268" descr="Homme conductrice avec un remplissage uni">
                  <a:extLst>
                    <a:ext uri="{FF2B5EF4-FFF2-40B4-BE49-F238E27FC236}">
                      <a16:creationId xmlns:a16="http://schemas.microsoft.com/office/drawing/2014/main" id="{7CDF55FC-4168-E13B-9E89-2F482824E3EF}"/>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982824" y="1896400"/>
                  <a:ext cx="914400" cy="914400"/>
                </a:xfrm>
                <a:prstGeom prst="rect">
                  <a:avLst/>
                </a:prstGeom>
              </p:spPr>
            </p:pic>
            <p:sp>
              <p:nvSpPr>
                <p:cNvPr id="270" name="Rectangle 269">
                  <a:extLst>
                    <a:ext uri="{FF2B5EF4-FFF2-40B4-BE49-F238E27FC236}">
                      <a16:creationId xmlns:a16="http://schemas.microsoft.com/office/drawing/2014/main" id="{9CAAE668-262B-D80E-5568-9653FA75BEF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60" name="Groupe 259">
                <a:extLst>
                  <a:ext uri="{FF2B5EF4-FFF2-40B4-BE49-F238E27FC236}">
                    <a16:creationId xmlns:a16="http://schemas.microsoft.com/office/drawing/2014/main" id="{DAA2AB84-DD49-E8B5-A255-13B99C76F18B}"/>
                  </a:ext>
                </a:extLst>
              </p:cNvPr>
              <p:cNvGrpSpPr/>
              <p:nvPr/>
            </p:nvGrpSpPr>
            <p:grpSpPr>
              <a:xfrm>
                <a:off x="6564654" y="2650969"/>
                <a:ext cx="457200" cy="457200"/>
                <a:chOff x="3982824" y="1896400"/>
                <a:chExt cx="914400" cy="914400"/>
              </a:xfrm>
            </p:grpSpPr>
            <p:pic>
              <p:nvPicPr>
                <p:cNvPr id="267" name="Graphique 266" descr="Homme conductrice avec un remplissage uni">
                  <a:extLst>
                    <a:ext uri="{FF2B5EF4-FFF2-40B4-BE49-F238E27FC236}">
                      <a16:creationId xmlns:a16="http://schemas.microsoft.com/office/drawing/2014/main" id="{5018F5FA-E92A-AF13-C17A-6CBD61EEA3C1}"/>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982824" y="1896400"/>
                  <a:ext cx="914400" cy="914400"/>
                </a:xfrm>
                <a:prstGeom prst="rect">
                  <a:avLst/>
                </a:prstGeom>
              </p:spPr>
            </p:pic>
            <p:sp>
              <p:nvSpPr>
                <p:cNvPr id="268" name="Rectangle 267">
                  <a:extLst>
                    <a:ext uri="{FF2B5EF4-FFF2-40B4-BE49-F238E27FC236}">
                      <a16:creationId xmlns:a16="http://schemas.microsoft.com/office/drawing/2014/main" id="{ECE95ED5-6F4C-9BF2-C6B8-9D36F8561D1B}"/>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61" name="Groupe 260">
                <a:extLst>
                  <a:ext uri="{FF2B5EF4-FFF2-40B4-BE49-F238E27FC236}">
                    <a16:creationId xmlns:a16="http://schemas.microsoft.com/office/drawing/2014/main" id="{65A42B6B-D747-69D6-895E-878F421D5420}"/>
                  </a:ext>
                </a:extLst>
              </p:cNvPr>
              <p:cNvGrpSpPr/>
              <p:nvPr/>
            </p:nvGrpSpPr>
            <p:grpSpPr>
              <a:xfrm>
                <a:off x="6896431" y="2339787"/>
                <a:ext cx="457200" cy="457200"/>
                <a:chOff x="3982824" y="1896400"/>
                <a:chExt cx="914400" cy="914400"/>
              </a:xfrm>
            </p:grpSpPr>
            <p:pic>
              <p:nvPicPr>
                <p:cNvPr id="265" name="Graphique 264" descr="Homme conductrice avec un remplissage uni">
                  <a:extLst>
                    <a:ext uri="{FF2B5EF4-FFF2-40B4-BE49-F238E27FC236}">
                      <a16:creationId xmlns:a16="http://schemas.microsoft.com/office/drawing/2014/main" id="{DBD2E1A4-8AA5-F95D-0B63-9EE10CA835C1}"/>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982824" y="1896400"/>
                  <a:ext cx="914400" cy="914400"/>
                </a:xfrm>
                <a:prstGeom prst="rect">
                  <a:avLst/>
                </a:prstGeom>
              </p:spPr>
            </p:pic>
            <p:sp>
              <p:nvSpPr>
                <p:cNvPr id="266" name="Rectangle 265">
                  <a:extLst>
                    <a:ext uri="{FF2B5EF4-FFF2-40B4-BE49-F238E27FC236}">
                      <a16:creationId xmlns:a16="http://schemas.microsoft.com/office/drawing/2014/main" id="{2C178295-0ABF-7208-24C8-366EE5CCEE1C}"/>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62" name="Groupe 261">
                <a:extLst>
                  <a:ext uri="{FF2B5EF4-FFF2-40B4-BE49-F238E27FC236}">
                    <a16:creationId xmlns:a16="http://schemas.microsoft.com/office/drawing/2014/main" id="{9CF46ACA-CDF4-A5EA-D667-107B400ADA81}"/>
                  </a:ext>
                </a:extLst>
              </p:cNvPr>
              <p:cNvGrpSpPr/>
              <p:nvPr/>
            </p:nvGrpSpPr>
            <p:grpSpPr>
              <a:xfrm>
                <a:off x="7191572" y="2664966"/>
                <a:ext cx="457200" cy="457200"/>
                <a:chOff x="3982824" y="1896400"/>
                <a:chExt cx="914400" cy="914400"/>
              </a:xfrm>
            </p:grpSpPr>
            <p:pic>
              <p:nvPicPr>
                <p:cNvPr id="263" name="Graphique 262" descr="Homme conductrice avec un remplissage uni">
                  <a:extLst>
                    <a:ext uri="{FF2B5EF4-FFF2-40B4-BE49-F238E27FC236}">
                      <a16:creationId xmlns:a16="http://schemas.microsoft.com/office/drawing/2014/main" id="{90DBD808-C3E0-7F09-4DCA-B92E65D8D947}"/>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982824" y="1896400"/>
                  <a:ext cx="914400" cy="914400"/>
                </a:xfrm>
                <a:prstGeom prst="rect">
                  <a:avLst/>
                </a:prstGeom>
              </p:spPr>
            </p:pic>
            <p:sp>
              <p:nvSpPr>
                <p:cNvPr id="264" name="Rectangle 263">
                  <a:extLst>
                    <a:ext uri="{FF2B5EF4-FFF2-40B4-BE49-F238E27FC236}">
                      <a16:creationId xmlns:a16="http://schemas.microsoft.com/office/drawing/2014/main" id="{57D6F5DD-459C-61B6-4FF0-347CB604D514}"/>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sp>
          <p:nvSpPr>
            <p:cNvPr id="232" name="Rectangle 231">
              <a:extLst>
                <a:ext uri="{FF2B5EF4-FFF2-40B4-BE49-F238E27FC236}">
                  <a16:creationId xmlns:a16="http://schemas.microsoft.com/office/drawing/2014/main" id="{7C685834-3C93-41BD-78AF-B47D339615A0}"/>
                </a:ext>
              </a:extLst>
            </p:cNvPr>
            <p:cNvSpPr/>
            <p:nvPr/>
          </p:nvSpPr>
          <p:spPr>
            <a:xfrm>
              <a:off x="2534291" y="1395913"/>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nvGrpSpPr>
            <p:cNvPr id="233" name="Groupe 232">
              <a:extLst>
                <a:ext uri="{FF2B5EF4-FFF2-40B4-BE49-F238E27FC236}">
                  <a16:creationId xmlns:a16="http://schemas.microsoft.com/office/drawing/2014/main" id="{2CBC903D-5236-57DD-17FA-A0B807790885}"/>
                </a:ext>
              </a:extLst>
            </p:cNvPr>
            <p:cNvGrpSpPr/>
            <p:nvPr/>
          </p:nvGrpSpPr>
          <p:grpSpPr>
            <a:xfrm>
              <a:off x="2521179" y="1464959"/>
              <a:ext cx="869466" cy="799583"/>
              <a:chOff x="2391091" y="2512442"/>
              <a:chExt cx="1084118" cy="996982"/>
            </a:xfrm>
          </p:grpSpPr>
          <p:grpSp>
            <p:nvGrpSpPr>
              <p:cNvPr id="247" name="Groupe 246">
                <a:extLst>
                  <a:ext uri="{FF2B5EF4-FFF2-40B4-BE49-F238E27FC236}">
                    <a16:creationId xmlns:a16="http://schemas.microsoft.com/office/drawing/2014/main" id="{57E7FF33-FE71-E75F-93B0-5B0F984BE84C}"/>
                  </a:ext>
                </a:extLst>
              </p:cNvPr>
              <p:cNvGrpSpPr/>
              <p:nvPr/>
            </p:nvGrpSpPr>
            <p:grpSpPr>
              <a:xfrm>
                <a:off x="2679267" y="3052224"/>
                <a:ext cx="457200" cy="457200"/>
                <a:chOff x="3982824" y="1896400"/>
                <a:chExt cx="914400" cy="914400"/>
              </a:xfrm>
            </p:grpSpPr>
            <p:pic>
              <p:nvPicPr>
                <p:cNvPr id="257" name="Graphique 256" descr="Homme conductrice avec un remplissage uni">
                  <a:extLst>
                    <a:ext uri="{FF2B5EF4-FFF2-40B4-BE49-F238E27FC236}">
                      <a16:creationId xmlns:a16="http://schemas.microsoft.com/office/drawing/2014/main" id="{D43DDCE0-E8D5-B2DA-1E91-55D879B6EC38}"/>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982824" y="1896400"/>
                  <a:ext cx="914400" cy="914400"/>
                </a:xfrm>
                <a:prstGeom prst="rect">
                  <a:avLst/>
                </a:prstGeom>
              </p:spPr>
            </p:pic>
            <p:sp>
              <p:nvSpPr>
                <p:cNvPr id="258" name="Rectangle 257">
                  <a:extLst>
                    <a:ext uri="{FF2B5EF4-FFF2-40B4-BE49-F238E27FC236}">
                      <a16:creationId xmlns:a16="http://schemas.microsoft.com/office/drawing/2014/main" id="{B5D8B346-BA8F-E914-7358-DA9FD7159076}"/>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48" name="Groupe 247">
                <a:extLst>
                  <a:ext uri="{FF2B5EF4-FFF2-40B4-BE49-F238E27FC236}">
                    <a16:creationId xmlns:a16="http://schemas.microsoft.com/office/drawing/2014/main" id="{5AD165A6-0217-6202-C894-F1FEF659F810}"/>
                  </a:ext>
                </a:extLst>
              </p:cNvPr>
              <p:cNvGrpSpPr/>
              <p:nvPr/>
            </p:nvGrpSpPr>
            <p:grpSpPr>
              <a:xfrm>
                <a:off x="2391091" y="2823624"/>
                <a:ext cx="457200" cy="457200"/>
                <a:chOff x="3982824" y="1896400"/>
                <a:chExt cx="914400" cy="914400"/>
              </a:xfrm>
            </p:grpSpPr>
            <p:pic>
              <p:nvPicPr>
                <p:cNvPr id="255" name="Graphique 254" descr="Homme conductrice avec un remplissage uni">
                  <a:extLst>
                    <a:ext uri="{FF2B5EF4-FFF2-40B4-BE49-F238E27FC236}">
                      <a16:creationId xmlns:a16="http://schemas.microsoft.com/office/drawing/2014/main" id="{CA70866B-3ED1-C6A2-EABD-C042698AC187}"/>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3982824" y="1896400"/>
                  <a:ext cx="914400" cy="914400"/>
                </a:xfrm>
                <a:prstGeom prst="rect">
                  <a:avLst/>
                </a:prstGeom>
              </p:spPr>
            </p:pic>
            <p:sp>
              <p:nvSpPr>
                <p:cNvPr id="256" name="Rectangle 255">
                  <a:extLst>
                    <a:ext uri="{FF2B5EF4-FFF2-40B4-BE49-F238E27FC236}">
                      <a16:creationId xmlns:a16="http://schemas.microsoft.com/office/drawing/2014/main" id="{C803A43C-F400-CB67-5AEF-1AF65694A206}"/>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49" name="Groupe 248">
                <a:extLst>
                  <a:ext uri="{FF2B5EF4-FFF2-40B4-BE49-F238E27FC236}">
                    <a16:creationId xmlns:a16="http://schemas.microsoft.com/office/drawing/2014/main" id="{32829296-C478-41E2-E81F-B380F65B6677}"/>
                  </a:ext>
                </a:extLst>
              </p:cNvPr>
              <p:cNvGrpSpPr/>
              <p:nvPr/>
            </p:nvGrpSpPr>
            <p:grpSpPr>
              <a:xfrm>
                <a:off x="2722868" y="2512442"/>
                <a:ext cx="457200" cy="457200"/>
                <a:chOff x="3982824" y="1896400"/>
                <a:chExt cx="914400" cy="914400"/>
              </a:xfrm>
            </p:grpSpPr>
            <p:pic>
              <p:nvPicPr>
                <p:cNvPr id="253" name="Graphique 252" descr="Homme conductrice avec un remplissage uni">
                  <a:extLst>
                    <a:ext uri="{FF2B5EF4-FFF2-40B4-BE49-F238E27FC236}">
                      <a16:creationId xmlns:a16="http://schemas.microsoft.com/office/drawing/2014/main" id="{A54D3EDC-0F8E-D2AB-A5C4-9EC3CCA6D5CB}"/>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982824" y="1896400"/>
                  <a:ext cx="914400" cy="914400"/>
                </a:xfrm>
                <a:prstGeom prst="rect">
                  <a:avLst/>
                </a:prstGeom>
              </p:spPr>
            </p:pic>
            <p:sp>
              <p:nvSpPr>
                <p:cNvPr id="254" name="Rectangle 253">
                  <a:extLst>
                    <a:ext uri="{FF2B5EF4-FFF2-40B4-BE49-F238E27FC236}">
                      <a16:creationId xmlns:a16="http://schemas.microsoft.com/office/drawing/2014/main" id="{2F3D56F3-A4D7-B2D4-15ED-165FDB6C5E30}"/>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50" name="Groupe 249">
                <a:extLst>
                  <a:ext uri="{FF2B5EF4-FFF2-40B4-BE49-F238E27FC236}">
                    <a16:creationId xmlns:a16="http://schemas.microsoft.com/office/drawing/2014/main" id="{A8449E9C-7918-B5B7-B6D4-40A0D1822226}"/>
                  </a:ext>
                </a:extLst>
              </p:cNvPr>
              <p:cNvGrpSpPr/>
              <p:nvPr/>
            </p:nvGrpSpPr>
            <p:grpSpPr>
              <a:xfrm>
                <a:off x="3018009" y="2837621"/>
                <a:ext cx="457200" cy="457200"/>
                <a:chOff x="3982824" y="1896400"/>
                <a:chExt cx="914400" cy="914400"/>
              </a:xfrm>
            </p:grpSpPr>
            <p:pic>
              <p:nvPicPr>
                <p:cNvPr id="251" name="Graphique 250" descr="Homme conductrice avec un remplissage uni">
                  <a:extLst>
                    <a:ext uri="{FF2B5EF4-FFF2-40B4-BE49-F238E27FC236}">
                      <a16:creationId xmlns:a16="http://schemas.microsoft.com/office/drawing/2014/main" id="{742A280C-A168-8531-714D-406922707904}"/>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982824" y="1896400"/>
                  <a:ext cx="914400" cy="914400"/>
                </a:xfrm>
                <a:prstGeom prst="rect">
                  <a:avLst/>
                </a:prstGeom>
              </p:spPr>
            </p:pic>
            <p:sp>
              <p:nvSpPr>
                <p:cNvPr id="252" name="Rectangle 251">
                  <a:extLst>
                    <a:ext uri="{FF2B5EF4-FFF2-40B4-BE49-F238E27FC236}">
                      <a16:creationId xmlns:a16="http://schemas.microsoft.com/office/drawing/2014/main" id="{B949714C-F526-03ED-DF7B-88C5C8A872BD}"/>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nvGrpSpPr>
            <p:cNvPr id="234" name="Groupe 233">
              <a:extLst>
                <a:ext uri="{FF2B5EF4-FFF2-40B4-BE49-F238E27FC236}">
                  <a16:creationId xmlns:a16="http://schemas.microsoft.com/office/drawing/2014/main" id="{9195FFDC-367E-4347-7182-BBA7D67D47C4}"/>
                </a:ext>
              </a:extLst>
            </p:cNvPr>
            <p:cNvGrpSpPr/>
            <p:nvPr/>
          </p:nvGrpSpPr>
          <p:grpSpPr>
            <a:xfrm>
              <a:off x="3799631" y="1399672"/>
              <a:ext cx="905676" cy="832882"/>
              <a:chOff x="6564654" y="2339787"/>
              <a:chExt cx="1084118" cy="996982"/>
            </a:xfrm>
          </p:grpSpPr>
          <p:grpSp>
            <p:nvGrpSpPr>
              <p:cNvPr id="235" name="Groupe 234">
                <a:extLst>
                  <a:ext uri="{FF2B5EF4-FFF2-40B4-BE49-F238E27FC236}">
                    <a16:creationId xmlns:a16="http://schemas.microsoft.com/office/drawing/2014/main" id="{2A8FDEAC-CCE3-5A22-F7E6-691A8AE6E265}"/>
                  </a:ext>
                </a:extLst>
              </p:cNvPr>
              <p:cNvGrpSpPr/>
              <p:nvPr/>
            </p:nvGrpSpPr>
            <p:grpSpPr>
              <a:xfrm>
                <a:off x="6852830" y="2879569"/>
                <a:ext cx="457200" cy="457200"/>
                <a:chOff x="3982824" y="1896400"/>
                <a:chExt cx="914400" cy="914400"/>
              </a:xfrm>
            </p:grpSpPr>
            <p:pic>
              <p:nvPicPr>
                <p:cNvPr id="245" name="Graphique 244" descr="Homme conductrice avec un remplissage uni">
                  <a:extLst>
                    <a:ext uri="{FF2B5EF4-FFF2-40B4-BE49-F238E27FC236}">
                      <a16:creationId xmlns:a16="http://schemas.microsoft.com/office/drawing/2014/main" id="{A12BF9BA-8EAA-D16F-C3AB-9113D935DE05}"/>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982824" y="1896400"/>
                  <a:ext cx="914400" cy="914400"/>
                </a:xfrm>
                <a:prstGeom prst="rect">
                  <a:avLst/>
                </a:prstGeom>
              </p:spPr>
            </p:pic>
            <p:sp>
              <p:nvSpPr>
                <p:cNvPr id="246" name="Rectangle 245">
                  <a:extLst>
                    <a:ext uri="{FF2B5EF4-FFF2-40B4-BE49-F238E27FC236}">
                      <a16:creationId xmlns:a16="http://schemas.microsoft.com/office/drawing/2014/main" id="{2944163D-D35C-C560-4FAF-3412DC9255EE}"/>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36" name="Groupe 235">
                <a:extLst>
                  <a:ext uri="{FF2B5EF4-FFF2-40B4-BE49-F238E27FC236}">
                    <a16:creationId xmlns:a16="http://schemas.microsoft.com/office/drawing/2014/main" id="{0A788678-FB4E-ADE4-0BB0-6D915A63D632}"/>
                  </a:ext>
                </a:extLst>
              </p:cNvPr>
              <p:cNvGrpSpPr/>
              <p:nvPr/>
            </p:nvGrpSpPr>
            <p:grpSpPr>
              <a:xfrm>
                <a:off x="6564654" y="2650969"/>
                <a:ext cx="457200" cy="457200"/>
                <a:chOff x="3982824" y="1896400"/>
                <a:chExt cx="914400" cy="914400"/>
              </a:xfrm>
            </p:grpSpPr>
            <p:pic>
              <p:nvPicPr>
                <p:cNvPr id="243" name="Graphique 242" descr="Homme conductrice avec un remplissage uni">
                  <a:extLst>
                    <a:ext uri="{FF2B5EF4-FFF2-40B4-BE49-F238E27FC236}">
                      <a16:creationId xmlns:a16="http://schemas.microsoft.com/office/drawing/2014/main" id="{84B77D1D-2338-CF20-F051-8697C05D4208}"/>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3982824" y="1896400"/>
                  <a:ext cx="914400" cy="914400"/>
                </a:xfrm>
                <a:prstGeom prst="rect">
                  <a:avLst/>
                </a:prstGeom>
              </p:spPr>
            </p:pic>
            <p:sp>
              <p:nvSpPr>
                <p:cNvPr id="244" name="Rectangle 243">
                  <a:extLst>
                    <a:ext uri="{FF2B5EF4-FFF2-40B4-BE49-F238E27FC236}">
                      <a16:creationId xmlns:a16="http://schemas.microsoft.com/office/drawing/2014/main" id="{15339C5F-5495-7E52-6AC0-19DE0E14EDA3}"/>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37" name="Groupe 236">
                <a:extLst>
                  <a:ext uri="{FF2B5EF4-FFF2-40B4-BE49-F238E27FC236}">
                    <a16:creationId xmlns:a16="http://schemas.microsoft.com/office/drawing/2014/main" id="{558F8582-097F-FC47-764B-36FFD27F48CE}"/>
                  </a:ext>
                </a:extLst>
              </p:cNvPr>
              <p:cNvGrpSpPr/>
              <p:nvPr/>
            </p:nvGrpSpPr>
            <p:grpSpPr>
              <a:xfrm>
                <a:off x="6896431" y="2339787"/>
                <a:ext cx="457200" cy="457200"/>
                <a:chOff x="3982824" y="1896400"/>
                <a:chExt cx="914400" cy="914400"/>
              </a:xfrm>
            </p:grpSpPr>
            <p:pic>
              <p:nvPicPr>
                <p:cNvPr id="241" name="Graphique 240" descr="Homme conductrice avec un remplissage uni">
                  <a:extLst>
                    <a:ext uri="{FF2B5EF4-FFF2-40B4-BE49-F238E27FC236}">
                      <a16:creationId xmlns:a16="http://schemas.microsoft.com/office/drawing/2014/main" id="{C9FB8A27-8180-B5B7-4C99-9E9CCD92370E}"/>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982824" y="1896400"/>
                  <a:ext cx="914400" cy="914400"/>
                </a:xfrm>
                <a:prstGeom prst="rect">
                  <a:avLst/>
                </a:prstGeom>
              </p:spPr>
            </p:pic>
            <p:sp>
              <p:nvSpPr>
                <p:cNvPr id="242" name="Rectangle 241">
                  <a:extLst>
                    <a:ext uri="{FF2B5EF4-FFF2-40B4-BE49-F238E27FC236}">
                      <a16:creationId xmlns:a16="http://schemas.microsoft.com/office/drawing/2014/main" id="{89E50A77-6471-7B90-E136-FE8BF8B3D746}"/>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nvGrpSpPr>
              <p:cNvPr id="238" name="Groupe 237">
                <a:extLst>
                  <a:ext uri="{FF2B5EF4-FFF2-40B4-BE49-F238E27FC236}">
                    <a16:creationId xmlns:a16="http://schemas.microsoft.com/office/drawing/2014/main" id="{EF6A063C-B90B-EE4C-1D61-7B1DC7613970}"/>
                  </a:ext>
                </a:extLst>
              </p:cNvPr>
              <p:cNvGrpSpPr/>
              <p:nvPr/>
            </p:nvGrpSpPr>
            <p:grpSpPr>
              <a:xfrm>
                <a:off x="7191572" y="2664966"/>
                <a:ext cx="457200" cy="457200"/>
                <a:chOff x="3982824" y="1896400"/>
                <a:chExt cx="914400" cy="914400"/>
              </a:xfrm>
            </p:grpSpPr>
            <p:pic>
              <p:nvPicPr>
                <p:cNvPr id="239" name="Graphique 238" descr="Homme conductrice avec un remplissage uni">
                  <a:extLst>
                    <a:ext uri="{FF2B5EF4-FFF2-40B4-BE49-F238E27FC236}">
                      <a16:creationId xmlns:a16="http://schemas.microsoft.com/office/drawing/2014/main" id="{1859EBBA-084E-2D64-3B7E-5F40C393516F}"/>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3982824" y="1896400"/>
                  <a:ext cx="914400" cy="914400"/>
                </a:xfrm>
                <a:prstGeom prst="rect">
                  <a:avLst/>
                </a:prstGeom>
              </p:spPr>
            </p:pic>
            <p:sp>
              <p:nvSpPr>
                <p:cNvPr id="240" name="Rectangle 239">
                  <a:extLst>
                    <a:ext uri="{FF2B5EF4-FFF2-40B4-BE49-F238E27FC236}">
                      <a16:creationId xmlns:a16="http://schemas.microsoft.com/office/drawing/2014/main" id="{96DF1176-1FD8-BB9E-D2DD-E4C68A05133A}"/>
                    </a:ext>
                  </a:extLst>
                </p:cNvPr>
                <p:cNvSpPr/>
                <p:nvPr/>
              </p:nvSpPr>
              <p:spPr>
                <a:xfrm>
                  <a:off x="4661697" y="1896400"/>
                  <a:ext cx="235527" cy="4833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fr-FR" dirty="0"/>
                </a:p>
              </p:txBody>
            </p:sp>
          </p:grpSp>
        </p:grpSp>
      </p:grpSp>
      <p:sp>
        <p:nvSpPr>
          <p:cNvPr id="754" name="Rectangle 753">
            <a:extLst>
              <a:ext uri="{FF2B5EF4-FFF2-40B4-BE49-F238E27FC236}">
                <a16:creationId xmlns:a16="http://schemas.microsoft.com/office/drawing/2014/main" id="{0B4565FD-54FD-258C-2660-44349F731322}"/>
              </a:ext>
            </a:extLst>
          </p:cNvPr>
          <p:cNvSpPr/>
          <p:nvPr/>
        </p:nvSpPr>
        <p:spPr>
          <a:xfrm>
            <a:off x="7419800" y="4645738"/>
            <a:ext cx="114781" cy="114781"/>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55" name="Rectangle 754">
            <a:extLst>
              <a:ext uri="{FF2B5EF4-FFF2-40B4-BE49-F238E27FC236}">
                <a16:creationId xmlns:a16="http://schemas.microsoft.com/office/drawing/2014/main" id="{B4A65450-004F-FA90-9D56-D4EE715831C7}"/>
              </a:ext>
            </a:extLst>
          </p:cNvPr>
          <p:cNvSpPr/>
          <p:nvPr/>
        </p:nvSpPr>
        <p:spPr>
          <a:xfrm>
            <a:off x="7754730" y="4607410"/>
            <a:ext cx="114781" cy="114781"/>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56" name="Rectangle 755">
            <a:extLst>
              <a:ext uri="{FF2B5EF4-FFF2-40B4-BE49-F238E27FC236}">
                <a16:creationId xmlns:a16="http://schemas.microsoft.com/office/drawing/2014/main" id="{D956BC4B-DA62-E2A8-8738-A16A2E5EE7DD}"/>
              </a:ext>
            </a:extLst>
          </p:cNvPr>
          <p:cNvSpPr/>
          <p:nvPr/>
        </p:nvSpPr>
        <p:spPr>
          <a:xfrm>
            <a:off x="8033993" y="4692475"/>
            <a:ext cx="114781" cy="114781"/>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57" name="Rectangle 756">
            <a:extLst>
              <a:ext uri="{FF2B5EF4-FFF2-40B4-BE49-F238E27FC236}">
                <a16:creationId xmlns:a16="http://schemas.microsoft.com/office/drawing/2014/main" id="{3BDDDC97-19DE-008A-5CDA-66B80CE7D389}"/>
              </a:ext>
            </a:extLst>
          </p:cNvPr>
          <p:cNvSpPr/>
          <p:nvPr/>
        </p:nvSpPr>
        <p:spPr>
          <a:xfrm>
            <a:off x="8856551" y="4602583"/>
            <a:ext cx="114781" cy="114781"/>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58" name="Rectangle 757">
            <a:extLst>
              <a:ext uri="{FF2B5EF4-FFF2-40B4-BE49-F238E27FC236}">
                <a16:creationId xmlns:a16="http://schemas.microsoft.com/office/drawing/2014/main" id="{18725FDC-4C22-6866-CF82-D0C1D1F55287}"/>
              </a:ext>
            </a:extLst>
          </p:cNvPr>
          <p:cNvSpPr/>
          <p:nvPr/>
        </p:nvSpPr>
        <p:spPr>
          <a:xfrm>
            <a:off x="8855491" y="4779458"/>
            <a:ext cx="114781" cy="114781"/>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59" name="Rectangle 758">
            <a:extLst>
              <a:ext uri="{FF2B5EF4-FFF2-40B4-BE49-F238E27FC236}">
                <a16:creationId xmlns:a16="http://schemas.microsoft.com/office/drawing/2014/main" id="{DDDA9843-863C-386D-B751-15E0D2D55C49}"/>
              </a:ext>
            </a:extLst>
          </p:cNvPr>
          <p:cNvSpPr/>
          <p:nvPr/>
        </p:nvSpPr>
        <p:spPr>
          <a:xfrm>
            <a:off x="7757272" y="4748577"/>
            <a:ext cx="114781" cy="114781"/>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760" name="Rectangle 759">
            <a:extLst>
              <a:ext uri="{FF2B5EF4-FFF2-40B4-BE49-F238E27FC236}">
                <a16:creationId xmlns:a16="http://schemas.microsoft.com/office/drawing/2014/main" id="{C6D1DACD-04F0-7C64-154D-2DFCF76E8145}"/>
              </a:ext>
            </a:extLst>
          </p:cNvPr>
          <p:cNvSpPr/>
          <p:nvPr/>
        </p:nvSpPr>
        <p:spPr>
          <a:xfrm>
            <a:off x="7407263" y="4772620"/>
            <a:ext cx="114781" cy="114781"/>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nvGrpSpPr>
          <p:cNvPr id="761" name="Groupe 760">
            <a:extLst>
              <a:ext uri="{FF2B5EF4-FFF2-40B4-BE49-F238E27FC236}">
                <a16:creationId xmlns:a16="http://schemas.microsoft.com/office/drawing/2014/main" id="{BF796509-543C-9D19-72AD-4B8BD1A3493D}"/>
              </a:ext>
            </a:extLst>
          </p:cNvPr>
          <p:cNvGrpSpPr/>
          <p:nvPr/>
        </p:nvGrpSpPr>
        <p:grpSpPr>
          <a:xfrm>
            <a:off x="9535809" y="4195774"/>
            <a:ext cx="1583556" cy="741212"/>
            <a:chOff x="463550" y="1420160"/>
            <a:chExt cx="11264900" cy="5272740"/>
          </a:xfrm>
        </p:grpSpPr>
        <p:sp>
          <p:nvSpPr>
            <p:cNvPr id="762" name="Trapèze 761">
              <a:extLst>
                <a:ext uri="{FF2B5EF4-FFF2-40B4-BE49-F238E27FC236}">
                  <a16:creationId xmlns:a16="http://schemas.microsoft.com/office/drawing/2014/main" id="{DB0F9BE2-8398-0C78-4767-223618AE1D09}"/>
                </a:ext>
              </a:extLst>
            </p:cNvPr>
            <p:cNvSpPr/>
            <p:nvPr/>
          </p:nvSpPr>
          <p:spPr>
            <a:xfrm>
              <a:off x="463550" y="5080000"/>
              <a:ext cx="11264900" cy="1612900"/>
            </a:xfrm>
            <a:prstGeom prst="trapezoid">
              <a:avLst>
                <a:gd name="adj" fmla="val 6358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 b="1" dirty="0">
                  <a:solidFill>
                    <a:schemeClr val="tx1"/>
                  </a:solidFill>
                </a:rPr>
                <a:t>CAUSE</a:t>
              </a:r>
            </a:p>
          </p:txBody>
        </p:sp>
        <p:sp>
          <p:nvSpPr>
            <p:cNvPr id="763" name="Triangle isocèle 762">
              <a:extLst>
                <a:ext uri="{FF2B5EF4-FFF2-40B4-BE49-F238E27FC236}">
                  <a16:creationId xmlns:a16="http://schemas.microsoft.com/office/drawing/2014/main" id="{104B4E16-8953-1BB9-7FD9-A5BE3A4EA629}"/>
                </a:ext>
              </a:extLst>
            </p:cNvPr>
            <p:cNvSpPr/>
            <p:nvPr/>
          </p:nvSpPr>
          <p:spPr>
            <a:xfrm>
              <a:off x="2800350" y="1420160"/>
              <a:ext cx="6553200" cy="1529080"/>
            </a:xfrm>
            <a:prstGeom prst="triangle">
              <a:avLst>
                <a:gd name="adj" fmla="val 5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 dirty="0">
                  <a:solidFill>
                    <a:schemeClr val="tx1"/>
                  </a:solidFill>
                </a:rPr>
                <a:t>GREAT GOAL</a:t>
              </a:r>
            </a:p>
            <a:p>
              <a:pPr algn="ctr"/>
              <a:endParaRPr lang="en-US" sz="400" dirty="0">
                <a:solidFill>
                  <a:schemeClr val="tx1"/>
                </a:solidFill>
              </a:endParaRPr>
            </a:p>
          </p:txBody>
        </p:sp>
        <p:grpSp>
          <p:nvGrpSpPr>
            <p:cNvPr id="764" name="Groupe 763">
              <a:extLst>
                <a:ext uri="{FF2B5EF4-FFF2-40B4-BE49-F238E27FC236}">
                  <a16:creationId xmlns:a16="http://schemas.microsoft.com/office/drawing/2014/main" id="{2648E6C0-A76E-1A7F-B8D5-A8DB5BCDDAF5}"/>
                </a:ext>
              </a:extLst>
            </p:cNvPr>
            <p:cNvGrpSpPr/>
            <p:nvPr/>
          </p:nvGrpSpPr>
          <p:grpSpPr>
            <a:xfrm>
              <a:off x="1527175" y="3040767"/>
              <a:ext cx="9137650" cy="1969383"/>
              <a:chOff x="1644650" y="3040767"/>
              <a:chExt cx="9137650" cy="1907219"/>
            </a:xfrm>
          </p:grpSpPr>
          <p:sp>
            <p:nvSpPr>
              <p:cNvPr id="767" name="Trapèze 766">
                <a:extLst>
                  <a:ext uri="{FF2B5EF4-FFF2-40B4-BE49-F238E27FC236}">
                    <a16:creationId xmlns:a16="http://schemas.microsoft.com/office/drawing/2014/main" id="{FFA46F96-05D0-8B79-F01A-4EFFD46CBB71}"/>
                  </a:ext>
                </a:extLst>
              </p:cNvPr>
              <p:cNvSpPr/>
              <p:nvPr/>
            </p:nvSpPr>
            <p:spPr>
              <a:xfrm>
                <a:off x="1644650"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BAD MEMORIES</a:t>
                </a:r>
                <a:endParaRPr lang="en-US" sz="100" dirty="0">
                  <a:solidFill>
                    <a:schemeClr val="tx1"/>
                  </a:solidFill>
                </a:endParaRPr>
              </a:p>
            </p:txBody>
          </p:sp>
          <p:sp>
            <p:nvSpPr>
              <p:cNvPr id="768" name="Trapèze 767">
                <a:extLst>
                  <a:ext uri="{FF2B5EF4-FFF2-40B4-BE49-F238E27FC236}">
                    <a16:creationId xmlns:a16="http://schemas.microsoft.com/office/drawing/2014/main" id="{980BF430-71C8-E368-84BE-1B060A6D0DB9}"/>
                  </a:ext>
                </a:extLst>
              </p:cNvPr>
              <p:cNvSpPr/>
              <p:nvPr/>
            </p:nvSpPr>
            <p:spPr>
              <a:xfrm>
                <a:off x="2314030"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WRONG STORIES</a:t>
                </a:r>
              </a:p>
            </p:txBody>
          </p:sp>
          <p:sp>
            <p:nvSpPr>
              <p:cNvPr id="769" name="Trapèze 768">
                <a:extLst>
                  <a:ext uri="{FF2B5EF4-FFF2-40B4-BE49-F238E27FC236}">
                    <a16:creationId xmlns:a16="http://schemas.microsoft.com/office/drawing/2014/main" id="{A80A39EE-CF87-46F1-2605-93BB38496A28}"/>
                  </a:ext>
                </a:extLst>
              </p:cNvPr>
              <p:cNvSpPr/>
              <p:nvPr/>
            </p:nvSpPr>
            <p:spPr>
              <a:xfrm>
                <a:off x="6261747"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GOOD MEMORIES</a:t>
                </a:r>
                <a:endParaRPr lang="en-US" sz="100" dirty="0">
                  <a:solidFill>
                    <a:schemeClr val="tx1"/>
                  </a:solidFill>
                </a:endParaRPr>
              </a:p>
            </p:txBody>
          </p:sp>
          <p:sp>
            <p:nvSpPr>
              <p:cNvPr id="770" name="Trapèze 769">
                <a:extLst>
                  <a:ext uri="{FF2B5EF4-FFF2-40B4-BE49-F238E27FC236}">
                    <a16:creationId xmlns:a16="http://schemas.microsoft.com/office/drawing/2014/main" id="{33D0D2B9-977A-DDD3-E4BF-954ED58D36C1}"/>
                  </a:ext>
                </a:extLst>
              </p:cNvPr>
              <p:cNvSpPr/>
              <p:nvPr/>
            </p:nvSpPr>
            <p:spPr>
              <a:xfrm>
                <a:off x="6927306"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00" b="1" dirty="0">
                    <a:solidFill>
                      <a:schemeClr val="tx1"/>
                    </a:solidFill>
                  </a:rPr>
                  <a:t>IDEAL STORIES</a:t>
                </a:r>
              </a:p>
            </p:txBody>
          </p:sp>
        </p:grpSp>
        <p:sp>
          <p:nvSpPr>
            <p:cNvPr id="765" name="Triangle isocèle 764">
              <a:extLst>
                <a:ext uri="{FF2B5EF4-FFF2-40B4-BE49-F238E27FC236}">
                  <a16:creationId xmlns:a16="http://schemas.microsoft.com/office/drawing/2014/main" id="{9B6F7169-F2ED-EE36-8ABB-2B3EA3FB841B}"/>
                </a:ext>
              </a:extLst>
            </p:cNvPr>
            <p:cNvSpPr/>
            <p:nvPr/>
          </p:nvSpPr>
          <p:spPr>
            <a:xfrm rot="10800000">
              <a:off x="4952497" y="3040768"/>
              <a:ext cx="2287008" cy="1795683"/>
            </a:xfrm>
            <a:prstGeom prst="triangl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766" name="ZoneTexte 765">
              <a:extLst>
                <a:ext uri="{FF2B5EF4-FFF2-40B4-BE49-F238E27FC236}">
                  <a16:creationId xmlns:a16="http://schemas.microsoft.com/office/drawing/2014/main" id="{22776A41-C62E-2DB6-3C99-0DB54ACE059F}"/>
                </a:ext>
              </a:extLst>
            </p:cNvPr>
            <p:cNvSpPr txBox="1"/>
            <p:nvPr/>
          </p:nvSpPr>
          <p:spPr>
            <a:xfrm>
              <a:off x="4952498" y="3044169"/>
              <a:ext cx="2287010" cy="875771"/>
            </a:xfrm>
            <a:prstGeom prst="rect">
              <a:avLst/>
            </a:prstGeom>
            <a:noFill/>
          </p:spPr>
          <p:txBody>
            <a:bodyPr wrap="square">
              <a:spAutoFit/>
            </a:bodyPr>
            <a:lstStyle/>
            <a:p>
              <a:pPr algn="ctr"/>
              <a:r>
                <a:rPr lang="en-US" sz="200" b="1" dirty="0"/>
                <a:t>CONDITIONS</a:t>
              </a:r>
            </a:p>
          </p:txBody>
        </p:sp>
      </p:grpSp>
      <p:pic>
        <p:nvPicPr>
          <p:cNvPr id="825" name="Graphique 824" descr="Sablier 60% avec un remplissage uni">
            <a:extLst>
              <a:ext uri="{FF2B5EF4-FFF2-40B4-BE49-F238E27FC236}">
                <a16:creationId xmlns:a16="http://schemas.microsoft.com/office/drawing/2014/main" id="{3D42FDA6-9289-CDFE-31AD-E791221DBC46}"/>
              </a:ext>
            </a:extLst>
          </p:cNvPr>
          <p:cNvPicPr>
            <a:picLocks noChangeAspect="1"/>
          </p:cNvPicPr>
          <p:nvPr/>
        </p:nvPicPr>
        <p:blipFill>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tretch>
            <a:fillRect/>
          </a:stretch>
        </p:blipFill>
        <p:spPr>
          <a:xfrm>
            <a:off x="8440057" y="2247420"/>
            <a:ext cx="465630" cy="465629"/>
          </a:xfrm>
          <a:prstGeom prst="rect">
            <a:avLst/>
          </a:prstGeom>
        </p:spPr>
      </p:pic>
      <p:pic>
        <p:nvPicPr>
          <p:cNvPr id="826" name="Graphique 825" descr="Flèches de chevron avec un remplissage uni">
            <a:extLst>
              <a:ext uri="{FF2B5EF4-FFF2-40B4-BE49-F238E27FC236}">
                <a16:creationId xmlns:a16="http://schemas.microsoft.com/office/drawing/2014/main" id="{B7FF8261-75C4-67FE-E547-E69D477EB140}"/>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5263525" y="2246698"/>
            <a:ext cx="519569" cy="519567"/>
          </a:xfrm>
          <a:prstGeom prst="rect">
            <a:avLst/>
          </a:prstGeom>
        </p:spPr>
      </p:pic>
      <p:pic>
        <p:nvPicPr>
          <p:cNvPr id="829" name="Graphique 828" descr="Informations avec un remplissage uni">
            <a:extLst>
              <a:ext uri="{FF2B5EF4-FFF2-40B4-BE49-F238E27FC236}">
                <a16:creationId xmlns:a16="http://schemas.microsoft.com/office/drawing/2014/main" id="{980CB6FA-37E9-8357-F553-47A5A4520C71}"/>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9470348" y="2198611"/>
            <a:ext cx="577773" cy="577771"/>
          </a:xfrm>
          <a:prstGeom prst="rect">
            <a:avLst/>
          </a:prstGeom>
        </p:spPr>
      </p:pic>
      <p:sp>
        <p:nvSpPr>
          <p:cNvPr id="835" name="Rectangle 834">
            <a:extLst>
              <a:ext uri="{FF2B5EF4-FFF2-40B4-BE49-F238E27FC236}">
                <a16:creationId xmlns:a16="http://schemas.microsoft.com/office/drawing/2014/main" id="{FB3AFC66-A5ED-238E-7E74-762C116E2F20}"/>
              </a:ext>
            </a:extLst>
          </p:cNvPr>
          <p:cNvSpPr/>
          <p:nvPr/>
        </p:nvSpPr>
        <p:spPr>
          <a:xfrm>
            <a:off x="9244317" y="2841452"/>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Connaissance des échecs, des crises, des refus et abandons de la Communauté</a:t>
            </a:r>
          </a:p>
        </p:txBody>
      </p:sp>
      <p:sp>
        <p:nvSpPr>
          <p:cNvPr id="836" name="Rectangle 835">
            <a:extLst>
              <a:ext uri="{FF2B5EF4-FFF2-40B4-BE49-F238E27FC236}">
                <a16:creationId xmlns:a16="http://schemas.microsoft.com/office/drawing/2014/main" id="{5D4D12A3-E181-5943-4124-041BBDE8D58F}"/>
              </a:ext>
            </a:extLst>
          </p:cNvPr>
          <p:cNvSpPr/>
          <p:nvPr/>
        </p:nvSpPr>
        <p:spPr>
          <a:xfrm>
            <a:off x="7150051" y="2841452"/>
            <a:ext cx="996523" cy="60207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Compétence de communications sur la fermeture ou la fin d’activités</a:t>
            </a:r>
          </a:p>
        </p:txBody>
      </p:sp>
      <p:sp>
        <p:nvSpPr>
          <p:cNvPr id="838" name="Rectangle 837">
            <a:extLst>
              <a:ext uri="{FF2B5EF4-FFF2-40B4-BE49-F238E27FC236}">
                <a16:creationId xmlns:a16="http://schemas.microsoft.com/office/drawing/2014/main" id="{1724BA59-2358-B8C9-346B-393E50EDAD7D}"/>
              </a:ext>
            </a:extLst>
          </p:cNvPr>
          <p:cNvSpPr/>
          <p:nvPr/>
        </p:nvSpPr>
        <p:spPr>
          <a:xfrm>
            <a:off x="8186007" y="2841452"/>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Disponibilité suffisante pour le temps de redémarrage de Communauté</a:t>
            </a:r>
          </a:p>
        </p:txBody>
      </p:sp>
      <p:sp>
        <p:nvSpPr>
          <p:cNvPr id="839" name="Rectangle 838">
            <a:extLst>
              <a:ext uri="{FF2B5EF4-FFF2-40B4-BE49-F238E27FC236}">
                <a16:creationId xmlns:a16="http://schemas.microsoft.com/office/drawing/2014/main" id="{ADDC1CED-F061-72AB-20EC-22CB8C52F609}"/>
              </a:ext>
            </a:extLst>
          </p:cNvPr>
          <p:cNvSpPr/>
          <p:nvPr/>
        </p:nvSpPr>
        <p:spPr>
          <a:xfrm>
            <a:off x="5033431" y="2841452"/>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Suffisamment de motivation pour restructurer (et ne pas fermer directement)</a:t>
            </a:r>
          </a:p>
        </p:txBody>
      </p:sp>
      <p:sp>
        <p:nvSpPr>
          <p:cNvPr id="840" name="Rectangle 839">
            <a:extLst>
              <a:ext uri="{FF2B5EF4-FFF2-40B4-BE49-F238E27FC236}">
                <a16:creationId xmlns:a16="http://schemas.microsoft.com/office/drawing/2014/main" id="{9208E36F-0FCE-8B6F-AC81-8651E223C4A1}"/>
              </a:ext>
            </a:extLst>
          </p:cNvPr>
          <p:cNvSpPr/>
          <p:nvPr/>
        </p:nvSpPr>
        <p:spPr>
          <a:xfrm>
            <a:off x="10302627" y="2841452"/>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Idées et envies de possibilités de renouveau ou recentrage</a:t>
            </a:r>
          </a:p>
        </p:txBody>
      </p:sp>
      <p:sp>
        <p:nvSpPr>
          <p:cNvPr id="841" name="Rectangle 840">
            <a:extLst>
              <a:ext uri="{FF2B5EF4-FFF2-40B4-BE49-F238E27FC236}">
                <a16:creationId xmlns:a16="http://schemas.microsoft.com/office/drawing/2014/main" id="{1F87EACC-BF28-501A-7AC9-2DBDBBC60F4C}"/>
              </a:ext>
            </a:extLst>
          </p:cNvPr>
          <p:cNvSpPr/>
          <p:nvPr/>
        </p:nvSpPr>
        <p:spPr>
          <a:xfrm>
            <a:off x="6088216" y="2841452"/>
            <a:ext cx="1018877" cy="608573"/>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dirty="0"/>
              <a:t>Capacité à créer suffisamment de sécurité pour que les membres osent critiquer</a:t>
            </a:r>
          </a:p>
        </p:txBody>
      </p:sp>
      <p:pic>
        <p:nvPicPr>
          <p:cNvPr id="842" name="Graphique 841" descr="Tête avec engrenages avec un remplissage uni">
            <a:extLst>
              <a:ext uri="{FF2B5EF4-FFF2-40B4-BE49-F238E27FC236}">
                <a16:creationId xmlns:a16="http://schemas.microsoft.com/office/drawing/2014/main" id="{0EC2A91B-27ED-6B36-14F9-E95E8C332F34}"/>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6309002" y="2232605"/>
            <a:ext cx="522484" cy="522482"/>
          </a:xfrm>
          <a:prstGeom prst="rect">
            <a:avLst/>
          </a:prstGeom>
        </p:spPr>
      </p:pic>
      <p:pic>
        <p:nvPicPr>
          <p:cNvPr id="843" name="Graphique 842" descr="Tête avec engrenages avec un remplissage uni">
            <a:extLst>
              <a:ext uri="{FF2B5EF4-FFF2-40B4-BE49-F238E27FC236}">
                <a16:creationId xmlns:a16="http://schemas.microsoft.com/office/drawing/2014/main" id="{EB2023B2-C019-38CF-95EE-048448D4E7DE}"/>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7376891" y="2240921"/>
            <a:ext cx="522484" cy="522482"/>
          </a:xfrm>
          <a:prstGeom prst="rect">
            <a:avLst/>
          </a:prstGeom>
        </p:spPr>
      </p:pic>
      <p:pic>
        <p:nvPicPr>
          <p:cNvPr id="844" name="Graphique 843" descr="Informations avec un remplissage uni">
            <a:extLst>
              <a:ext uri="{FF2B5EF4-FFF2-40B4-BE49-F238E27FC236}">
                <a16:creationId xmlns:a16="http://schemas.microsoft.com/office/drawing/2014/main" id="{B77F1B17-FB98-88B4-BA9D-CE5DE87AD8DD}"/>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10239502" y="2198610"/>
            <a:ext cx="577773" cy="577771"/>
          </a:xfrm>
          <a:prstGeom prst="rect">
            <a:avLst/>
          </a:prstGeom>
        </p:spPr>
      </p:pic>
      <p:pic>
        <p:nvPicPr>
          <p:cNvPr id="845" name="Graphique 844" descr="Flèches de chevron avec un remplissage uni">
            <a:extLst>
              <a:ext uri="{FF2B5EF4-FFF2-40B4-BE49-F238E27FC236}">
                <a16:creationId xmlns:a16="http://schemas.microsoft.com/office/drawing/2014/main" id="{6B7B2436-83F6-4344-B220-E9CBBBBC02E8}"/>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10751161" y="2200409"/>
            <a:ext cx="519569" cy="519567"/>
          </a:xfrm>
          <a:prstGeom prst="rect">
            <a:avLst/>
          </a:prstGeom>
        </p:spPr>
      </p:pic>
    </p:spTree>
    <p:extLst>
      <p:ext uri="{BB962C8B-B14F-4D97-AF65-F5344CB8AC3E}">
        <p14:creationId xmlns:p14="http://schemas.microsoft.com/office/powerpoint/2010/main" val="772783266"/>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786AE10-063A-2FFB-64EB-0AE91CE8A887}"/>
              </a:ext>
            </a:extLst>
          </p:cNvPr>
          <p:cNvSpPr>
            <a:spLocks noGrp="1"/>
          </p:cNvSpPr>
          <p:nvPr>
            <p:ph type="title"/>
          </p:nvPr>
        </p:nvSpPr>
        <p:spPr>
          <a:xfrm>
            <a:off x="802004" y="375856"/>
            <a:ext cx="4551159" cy="915779"/>
          </a:xfrm>
          <a:noFill/>
        </p:spPr>
        <p:txBody>
          <a:bodyPr>
            <a:noAutofit/>
          </a:bodyPr>
          <a:lstStyle/>
          <a:p>
            <a:r>
              <a:rPr lang="fr-FR" sz="2400" dirty="0"/>
              <a:t>Quelques parcours pour établir une Communauté d’entreprise</a:t>
            </a:r>
          </a:p>
        </p:txBody>
      </p:sp>
      <p:sp>
        <p:nvSpPr>
          <p:cNvPr id="4" name="Ellipse 3">
            <a:extLst>
              <a:ext uri="{FF2B5EF4-FFF2-40B4-BE49-F238E27FC236}">
                <a16:creationId xmlns:a16="http://schemas.microsoft.com/office/drawing/2014/main" id="{992AC0C9-CAAE-DB39-A9F6-4A4AE6F6DA7D}"/>
              </a:ext>
            </a:extLst>
          </p:cNvPr>
          <p:cNvSpPr/>
          <p:nvPr/>
        </p:nvSpPr>
        <p:spPr>
          <a:xfrm>
            <a:off x="802004" y="3247524"/>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5" name="ZoneTexte 4">
            <a:extLst>
              <a:ext uri="{FF2B5EF4-FFF2-40B4-BE49-F238E27FC236}">
                <a16:creationId xmlns:a16="http://schemas.microsoft.com/office/drawing/2014/main" id="{70243741-FE0E-63E1-D84C-A7C7ABA02711}"/>
              </a:ext>
            </a:extLst>
          </p:cNvPr>
          <p:cNvSpPr txBox="1"/>
          <p:nvPr/>
        </p:nvSpPr>
        <p:spPr>
          <a:xfrm>
            <a:off x="75647" y="2767944"/>
            <a:ext cx="1181101" cy="461665"/>
          </a:xfrm>
          <a:prstGeom prst="rect">
            <a:avLst/>
          </a:prstGeom>
          <a:noFill/>
        </p:spPr>
        <p:txBody>
          <a:bodyPr wrap="square">
            <a:spAutoFit/>
          </a:bodyPr>
          <a:lstStyle/>
          <a:p>
            <a:pPr algn="ctr"/>
            <a:r>
              <a:rPr lang="fr-FR" sz="1200" dirty="0">
                <a:solidFill>
                  <a:srgbClr val="ED7D31"/>
                </a:solidFill>
              </a:rPr>
              <a:t>Renseignement basique</a:t>
            </a:r>
          </a:p>
        </p:txBody>
      </p:sp>
      <p:sp>
        <p:nvSpPr>
          <p:cNvPr id="6" name="ZoneTexte 5">
            <a:extLst>
              <a:ext uri="{FF2B5EF4-FFF2-40B4-BE49-F238E27FC236}">
                <a16:creationId xmlns:a16="http://schemas.microsoft.com/office/drawing/2014/main" id="{B1AD12BD-B4AB-A317-CE60-DFDC47C6DFFE}"/>
              </a:ext>
            </a:extLst>
          </p:cNvPr>
          <p:cNvSpPr txBox="1"/>
          <p:nvPr/>
        </p:nvSpPr>
        <p:spPr>
          <a:xfrm>
            <a:off x="1160840" y="2023907"/>
            <a:ext cx="1672045" cy="461665"/>
          </a:xfrm>
          <a:prstGeom prst="rect">
            <a:avLst/>
          </a:prstGeom>
          <a:noFill/>
        </p:spPr>
        <p:txBody>
          <a:bodyPr wrap="square">
            <a:spAutoFit/>
          </a:bodyPr>
          <a:lstStyle/>
          <a:p>
            <a:pPr algn="ctr"/>
            <a:r>
              <a:rPr lang="fr-FR" sz="1200" dirty="0"/>
              <a:t>Pré-cadrage Communauté</a:t>
            </a:r>
          </a:p>
        </p:txBody>
      </p:sp>
      <p:sp>
        <p:nvSpPr>
          <p:cNvPr id="7" name="Ellipse 6">
            <a:extLst>
              <a:ext uri="{FF2B5EF4-FFF2-40B4-BE49-F238E27FC236}">
                <a16:creationId xmlns:a16="http://schemas.microsoft.com/office/drawing/2014/main" id="{C6C4D9BF-709E-3C85-65C0-D259F0458368}"/>
              </a:ext>
            </a:extLst>
          </p:cNvPr>
          <p:cNvSpPr/>
          <p:nvPr/>
        </p:nvSpPr>
        <p:spPr>
          <a:xfrm>
            <a:off x="1864782" y="2491440"/>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8" name="ZoneTexte 7">
            <a:extLst>
              <a:ext uri="{FF2B5EF4-FFF2-40B4-BE49-F238E27FC236}">
                <a16:creationId xmlns:a16="http://schemas.microsoft.com/office/drawing/2014/main" id="{9DA75CFE-8CBA-E6BD-3241-5AFC82B00982}"/>
              </a:ext>
            </a:extLst>
          </p:cNvPr>
          <p:cNvSpPr txBox="1"/>
          <p:nvPr/>
        </p:nvSpPr>
        <p:spPr>
          <a:xfrm>
            <a:off x="1903699" y="4548777"/>
            <a:ext cx="924606" cy="646331"/>
          </a:xfrm>
          <a:prstGeom prst="rect">
            <a:avLst/>
          </a:prstGeom>
          <a:noFill/>
        </p:spPr>
        <p:txBody>
          <a:bodyPr wrap="square">
            <a:spAutoFit/>
          </a:bodyPr>
          <a:lstStyle/>
          <a:p>
            <a:pPr algn="ctr"/>
            <a:r>
              <a:rPr lang="fr-FR" sz="1200" dirty="0"/>
              <a:t>Test en approche  individuelle</a:t>
            </a:r>
          </a:p>
        </p:txBody>
      </p:sp>
      <p:sp>
        <p:nvSpPr>
          <p:cNvPr id="9" name="Ellipse 8">
            <a:extLst>
              <a:ext uri="{FF2B5EF4-FFF2-40B4-BE49-F238E27FC236}">
                <a16:creationId xmlns:a16="http://schemas.microsoft.com/office/drawing/2014/main" id="{A52D5C3B-1DDB-0554-B80D-EB4D7EF46696}"/>
              </a:ext>
            </a:extLst>
          </p:cNvPr>
          <p:cNvSpPr/>
          <p:nvPr/>
        </p:nvSpPr>
        <p:spPr>
          <a:xfrm>
            <a:off x="2245992" y="4242982"/>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0" name="ZoneTexte 9">
            <a:extLst>
              <a:ext uri="{FF2B5EF4-FFF2-40B4-BE49-F238E27FC236}">
                <a16:creationId xmlns:a16="http://schemas.microsoft.com/office/drawing/2014/main" id="{48A5CBB2-1AB8-0274-9976-E297DDCF2855}"/>
              </a:ext>
            </a:extLst>
          </p:cNvPr>
          <p:cNvSpPr txBox="1"/>
          <p:nvPr/>
        </p:nvSpPr>
        <p:spPr>
          <a:xfrm>
            <a:off x="3159936" y="4588313"/>
            <a:ext cx="934118" cy="830997"/>
          </a:xfrm>
          <a:prstGeom prst="rect">
            <a:avLst/>
          </a:prstGeom>
          <a:noFill/>
        </p:spPr>
        <p:txBody>
          <a:bodyPr wrap="square">
            <a:spAutoFit/>
          </a:bodyPr>
          <a:lstStyle/>
          <a:p>
            <a:pPr algn="ctr"/>
            <a:r>
              <a:rPr lang="fr-FR" sz="1200" dirty="0"/>
              <a:t>Test en approche réunion ponctuelle</a:t>
            </a:r>
          </a:p>
        </p:txBody>
      </p:sp>
      <p:sp>
        <p:nvSpPr>
          <p:cNvPr id="11" name="Ellipse 10">
            <a:extLst>
              <a:ext uri="{FF2B5EF4-FFF2-40B4-BE49-F238E27FC236}">
                <a16:creationId xmlns:a16="http://schemas.microsoft.com/office/drawing/2014/main" id="{EF8D2AF5-4937-867B-33A7-1DA9750EE909}"/>
              </a:ext>
            </a:extLst>
          </p:cNvPr>
          <p:cNvSpPr/>
          <p:nvPr/>
        </p:nvSpPr>
        <p:spPr>
          <a:xfrm>
            <a:off x="3454568" y="4242982"/>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2" name="ZoneTexte 11">
            <a:extLst>
              <a:ext uri="{FF2B5EF4-FFF2-40B4-BE49-F238E27FC236}">
                <a16:creationId xmlns:a16="http://schemas.microsoft.com/office/drawing/2014/main" id="{CCB8CD5C-AB91-19DC-30DC-0A0B16D384FD}"/>
              </a:ext>
            </a:extLst>
          </p:cNvPr>
          <p:cNvSpPr txBox="1"/>
          <p:nvPr/>
        </p:nvSpPr>
        <p:spPr>
          <a:xfrm>
            <a:off x="5266326" y="3548297"/>
            <a:ext cx="1275805" cy="461665"/>
          </a:xfrm>
          <a:prstGeom prst="rect">
            <a:avLst/>
          </a:prstGeom>
          <a:noFill/>
        </p:spPr>
        <p:txBody>
          <a:bodyPr wrap="square">
            <a:spAutoFit/>
          </a:bodyPr>
          <a:lstStyle/>
          <a:p>
            <a:pPr algn="ctr"/>
            <a:r>
              <a:rPr lang="fr-FR" sz="1200" dirty="0">
                <a:solidFill>
                  <a:srgbClr val="ED7D31"/>
                </a:solidFill>
              </a:rPr>
              <a:t>Kick off de communauté</a:t>
            </a:r>
          </a:p>
        </p:txBody>
      </p:sp>
      <p:sp>
        <p:nvSpPr>
          <p:cNvPr id="13" name="Ellipse 12">
            <a:extLst>
              <a:ext uri="{FF2B5EF4-FFF2-40B4-BE49-F238E27FC236}">
                <a16:creationId xmlns:a16="http://schemas.microsoft.com/office/drawing/2014/main" id="{1FA919D8-8AFC-8481-80A4-0536BB10817F}"/>
              </a:ext>
            </a:extLst>
          </p:cNvPr>
          <p:cNvSpPr/>
          <p:nvPr/>
        </p:nvSpPr>
        <p:spPr>
          <a:xfrm>
            <a:off x="5561513" y="3211695"/>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4" name="ZoneTexte 13">
            <a:extLst>
              <a:ext uri="{FF2B5EF4-FFF2-40B4-BE49-F238E27FC236}">
                <a16:creationId xmlns:a16="http://schemas.microsoft.com/office/drawing/2014/main" id="{A925F4F9-A2A2-59A8-BCA8-B99980CDA5B3}"/>
              </a:ext>
            </a:extLst>
          </p:cNvPr>
          <p:cNvSpPr txBox="1"/>
          <p:nvPr/>
        </p:nvSpPr>
        <p:spPr>
          <a:xfrm>
            <a:off x="8159431" y="2632334"/>
            <a:ext cx="1239693" cy="646331"/>
          </a:xfrm>
          <a:prstGeom prst="rect">
            <a:avLst/>
          </a:prstGeom>
          <a:noFill/>
        </p:spPr>
        <p:txBody>
          <a:bodyPr wrap="square">
            <a:spAutoFit/>
          </a:bodyPr>
          <a:lstStyle/>
          <a:p>
            <a:pPr algn="ctr"/>
            <a:r>
              <a:rPr lang="fr-FR" sz="1200" dirty="0">
                <a:solidFill>
                  <a:srgbClr val="3494BA"/>
                </a:solidFill>
              </a:rPr>
              <a:t>Mise en commun des ressources</a:t>
            </a:r>
          </a:p>
        </p:txBody>
      </p:sp>
      <p:sp>
        <p:nvSpPr>
          <p:cNvPr id="15" name="Ellipse 14">
            <a:extLst>
              <a:ext uri="{FF2B5EF4-FFF2-40B4-BE49-F238E27FC236}">
                <a16:creationId xmlns:a16="http://schemas.microsoft.com/office/drawing/2014/main" id="{A670DDD4-AC0C-7152-9BDA-CAA68F7075BE}"/>
              </a:ext>
            </a:extLst>
          </p:cNvPr>
          <p:cNvSpPr/>
          <p:nvPr/>
        </p:nvSpPr>
        <p:spPr>
          <a:xfrm>
            <a:off x="8932820" y="3284141"/>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16" name="ZoneTexte 15">
            <a:extLst>
              <a:ext uri="{FF2B5EF4-FFF2-40B4-BE49-F238E27FC236}">
                <a16:creationId xmlns:a16="http://schemas.microsoft.com/office/drawing/2014/main" id="{71BE4590-27CA-710C-2088-DC36CA04AFB5}"/>
              </a:ext>
            </a:extLst>
          </p:cNvPr>
          <p:cNvSpPr txBox="1"/>
          <p:nvPr/>
        </p:nvSpPr>
        <p:spPr>
          <a:xfrm>
            <a:off x="4963838" y="4222497"/>
            <a:ext cx="1275805" cy="461665"/>
          </a:xfrm>
          <a:prstGeom prst="rect">
            <a:avLst/>
          </a:prstGeom>
          <a:noFill/>
        </p:spPr>
        <p:txBody>
          <a:bodyPr wrap="square">
            <a:spAutoFit/>
          </a:bodyPr>
          <a:lstStyle/>
          <a:p>
            <a:pPr algn="ctr"/>
            <a:r>
              <a:rPr lang="fr-FR" sz="1200" dirty="0"/>
              <a:t>Premiers liens intérieurs</a:t>
            </a:r>
          </a:p>
        </p:txBody>
      </p:sp>
      <p:sp>
        <p:nvSpPr>
          <p:cNvPr id="18" name="ZoneTexte 17">
            <a:extLst>
              <a:ext uri="{FF2B5EF4-FFF2-40B4-BE49-F238E27FC236}">
                <a16:creationId xmlns:a16="http://schemas.microsoft.com/office/drawing/2014/main" id="{68468E5F-9EDA-72D4-998D-5D393E59B07D}"/>
              </a:ext>
            </a:extLst>
          </p:cNvPr>
          <p:cNvSpPr txBox="1"/>
          <p:nvPr/>
        </p:nvSpPr>
        <p:spPr>
          <a:xfrm>
            <a:off x="11061315" y="4961760"/>
            <a:ext cx="1029511" cy="461665"/>
          </a:xfrm>
          <a:prstGeom prst="rect">
            <a:avLst/>
          </a:prstGeom>
          <a:noFill/>
        </p:spPr>
        <p:txBody>
          <a:bodyPr wrap="square">
            <a:spAutoFit/>
          </a:bodyPr>
          <a:lstStyle/>
          <a:p>
            <a:pPr algn="ctr"/>
            <a:r>
              <a:rPr lang="fr-FR" sz="1200" dirty="0">
                <a:solidFill>
                  <a:srgbClr val="3494BA"/>
                </a:solidFill>
              </a:rPr>
              <a:t>Amélioration continue</a:t>
            </a:r>
          </a:p>
        </p:txBody>
      </p:sp>
      <p:sp>
        <p:nvSpPr>
          <p:cNvPr id="19" name="Ellipse 18">
            <a:extLst>
              <a:ext uri="{FF2B5EF4-FFF2-40B4-BE49-F238E27FC236}">
                <a16:creationId xmlns:a16="http://schemas.microsoft.com/office/drawing/2014/main" id="{312FC992-388A-1C52-5705-8198BD7DB27A}"/>
              </a:ext>
            </a:extLst>
          </p:cNvPr>
          <p:cNvSpPr/>
          <p:nvPr/>
        </p:nvSpPr>
        <p:spPr>
          <a:xfrm>
            <a:off x="8945878" y="5057610"/>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0" name="ZoneTexte 19">
            <a:extLst>
              <a:ext uri="{FF2B5EF4-FFF2-40B4-BE49-F238E27FC236}">
                <a16:creationId xmlns:a16="http://schemas.microsoft.com/office/drawing/2014/main" id="{59990270-D6C9-B609-2E0A-04FD1FE788EC}"/>
              </a:ext>
            </a:extLst>
          </p:cNvPr>
          <p:cNvSpPr txBox="1"/>
          <p:nvPr/>
        </p:nvSpPr>
        <p:spPr>
          <a:xfrm>
            <a:off x="2886588" y="2023907"/>
            <a:ext cx="1360717" cy="461665"/>
          </a:xfrm>
          <a:prstGeom prst="rect">
            <a:avLst/>
          </a:prstGeom>
          <a:noFill/>
        </p:spPr>
        <p:txBody>
          <a:bodyPr wrap="square">
            <a:spAutoFit/>
          </a:bodyPr>
          <a:lstStyle/>
          <a:p>
            <a:pPr algn="ctr"/>
            <a:r>
              <a:rPr lang="fr-FR" sz="1200" dirty="0"/>
              <a:t>Cadrage tactique de valeur</a:t>
            </a:r>
          </a:p>
        </p:txBody>
      </p:sp>
      <p:sp>
        <p:nvSpPr>
          <p:cNvPr id="21" name="Ellipse 20">
            <a:extLst>
              <a:ext uri="{FF2B5EF4-FFF2-40B4-BE49-F238E27FC236}">
                <a16:creationId xmlns:a16="http://schemas.microsoft.com/office/drawing/2014/main" id="{75E8B2B6-E4A6-1DD6-A13E-316EDA1A9A08}"/>
              </a:ext>
            </a:extLst>
          </p:cNvPr>
          <p:cNvSpPr/>
          <p:nvPr/>
        </p:nvSpPr>
        <p:spPr>
          <a:xfrm>
            <a:off x="3395669" y="2491440"/>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2" name="ZoneTexte 21">
            <a:extLst>
              <a:ext uri="{FF2B5EF4-FFF2-40B4-BE49-F238E27FC236}">
                <a16:creationId xmlns:a16="http://schemas.microsoft.com/office/drawing/2014/main" id="{C8FC8314-33E3-31E2-1BBE-05F7EE34E539}"/>
              </a:ext>
            </a:extLst>
          </p:cNvPr>
          <p:cNvSpPr txBox="1"/>
          <p:nvPr/>
        </p:nvSpPr>
        <p:spPr>
          <a:xfrm>
            <a:off x="4274011" y="1981203"/>
            <a:ext cx="1360717" cy="461665"/>
          </a:xfrm>
          <a:prstGeom prst="rect">
            <a:avLst/>
          </a:prstGeom>
          <a:noFill/>
        </p:spPr>
        <p:txBody>
          <a:bodyPr wrap="square">
            <a:spAutoFit/>
          </a:bodyPr>
          <a:lstStyle/>
          <a:p>
            <a:pPr algn="ctr"/>
            <a:r>
              <a:rPr lang="fr-FR" sz="1200" dirty="0"/>
              <a:t>Déblocages basiques</a:t>
            </a:r>
          </a:p>
        </p:txBody>
      </p:sp>
      <p:sp>
        <p:nvSpPr>
          <p:cNvPr id="23" name="Ellipse 22">
            <a:extLst>
              <a:ext uri="{FF2B5EF4-FFF2-40B4-BE49-F238E27FC236}">
                <a16:creationId xmlns:a16="http://schemas.microsoft.com/office/drawing/2014/main" id="{75DAEB64-62A4-1F54-12CF-0242783E48A8}"/>
              </a:ext>
            </a:extLst>
          </p:cNvPr>
          <p:cNvSpPr/>
          <p:nvPr/>
        </p:nvSpPr>
        <p:spPr>
          <a:xfrm>
            <a:off x="4698986" y="2491440"/>
            <a:ext cx="269966" cy="269966"/>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5" name="Ellipse 24">
            <a:extLst>
              <a:ext uri="{FF2B5EF4-FFF2-40B4-BE49-F238E27FC236}">
                <a16:creationId xmlns:a16="http://schemas.microsoft.com/office/drawing/2014/main" id="{CA35DF88-EAC4-4583-9496-15913E6D8075}"/>
              </a:ext>
            </a:extLst>
          </p:cNvPr>
          <p:cNvSpPr/>
          <p:nvPr/>
        </p:nvSpPr>
        <p:spPr>
          <a:xfrm>
            <a:off x="10791350" y="5057610"/>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6" name="ZoneTexte 25">
            <a:extLst>
              <a:ext uri="{FF2B5EF4-FFF2-40B4-BE49-F238E27FC236}">
                <a16:creationId xmlns:a16="http://schemas.microsoft.com/office/drawing/2014/main" id="{1D7A8479-F4FE-02B0-B3A7-A392BC1FBE91}"/>
              </a:ext>
            </a:extLst>
          </p:cNvPr>
          <p:cNvSpPr txBox="1"/>
          <p:nvPr/>
        </p:nvSpPr>
        <p:spPr>
          <a:xfrm>
            <a:off x="7702249" y="4958646"/>
            <a:ext cx="1309168" cy="276999"/>
          </a:xfrm>
          <a:prstGeom prst="rect">
            <a:avLst/>
          </a:prstGeom>
          <a:noFill/>
        </p:spPr>
        <p:txBody>
          <a:bodyPr wrap="square">
            <a:spAutoFit/>
          </a:bodyPr>
          <a:lstStyle/>
          <a:p>
            <a:pPr algn="ctr"/>
            <a:r>
              <a:rPr lang="fr-FR" sz="1200" b="1" dirty="0">
                <a:solidFill>
                  <a:srgbClr val="3494BA"/>
                </a:solidFill>
              </a:rPr>
              <a:t>Autonomisation</a:t>
            </a:r>
          </a:p>
        </p:txBody>
      </p:sp>
      <p:sp>
        <p:nvSpPr>
          <p:cNvPr id="27" name="Ellipse 26">
            <a:extLst>
              <a:ext uri="{FF2B5EF4-FFF2-40B4-BE49-F238E27FC236}">
                <a16:creationId xmlns:a16="http://schemas.microsoft.com/office/drawing/2014/main" id="{97FE9FCD-72F7-225C-2DD6-4C81A62159F7}"/>
              </a:ext>
            </a:extLst>
          </p:cNvPr>
          <p:cNvSpPr/>
          <p:nvPr/>
        </p:nvSpPr>
        <p:spPr>
          <a:xfrm>
            <a:off x="10800269" y="3284141"/>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28" name="ZoneTexte 27">
            <a:extLst>
              <a:ext uri="{FF2B5EF4-FFF2-40B4-BE49-F238E27FC236}">
                <a16:creationId xmlns:a16="http://schemas.microsoft.com/office/drawing/2014/main" id="{6C9A10ED-B7E8-81C3-A514-257D3EC70968}"/>
              </a:ext>
            </a:extLst>
          </p:cNvPr>
          <p:cNvSpPr txBox="1"/>
          <p:nvPr/>
        </p:nvSpPr>
        <p:spPr>
          <a:xfrm>
            <a:off x="11028198" y="3201933"/>
            <a:ext cx="1124831" cy="646331"/>
          </a:xfrm>
          <a:prstGeom prst="rect">
            <a:avLst/>
          </a:prstGeom>
          <a:noFill/>
        </p:spPr>
        <p:txBody>
          <a:bodyPr wrap="square">
            <a:spAutoFit/>
          </a:bodyPr>
          <a:lstStyle/>
          <a:p>
            <a:pPr algn="ctr"/>
            <a:r>
              <a:rPr lang="fr-FR" sz="1200" dirty="0">
                <a:solidFill>
                  <a:srgbClr val="3494BA"/>
                </a:solidFill>
              </a:rPr>
              <a:t>Renforcement des liens intérieurs</a:t>
            </a:r>
          </a:p>
        </p:txBody>
      </p:sp>
      <p:sp>
        <p:nvSpPr>
          <p:cNvPr id="29" name="Ellipse 28">
            <a:extLst>
              <a:ext uri="{FF2B5EF4-FFF2-40B4-BE49-F238E27FC236}">
                <a16:creationId xmlns:a16="http://schemas.microsoft.com/office/drawing/2014/main" id="{D03657F9-E94C-69A8-52E4-E48D5518EF71}"/>
              </a:ext>
            </a:extLst>
          </p:cNvPr>
          <p:cNvSpPr/>
          <p:nvPr/>
        </p:nvSpPr>
        <p:spPr>
          <a:xfrm>
            <a:off x="9866544" y="2278823"/>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31" name="Connecteur droit avec flèche 30">
            <a:extLst>
              <a:ext uri="{FF2B5EF4-FFF2-40B4-BE49-F238E27FC236}">
                <a16:creationId xmlns:a16="http://schemas.microsoft.com/office/drawing/2014/main" id="{7F64240B-201D-9BC0-DC60-C021368924D0}"/>
              </a:ext>
            </a:extLst>
          </p:cNvPr>
          <p:cNvCxnSpPr>
            <a:stCxn id="4" idx="7"/>
            <a:endCxn id="7" idx="2"/>
          </p:cNvCxnSpPr>
          <p:nvPr/>
        </p:nvCxnSpPr>
        <p:spPr>
          <a:xfrm flipV="1">
            <a:off x="1032434" y="2626423"/>
            <a:ext cx="832348" cy="66063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necteur droit avec flèche 31">
            <a:extLst>
              <a:ext uri="{FF2B5EF4-FFF2-40B4-BE49-F238E27FC236}">
                <a16:creationId xmlns:a16="http://schemas.microsoft.com/office/drawing/2014/main" id="{711D992C-4CB8-B96C-B7B2-98D3F2F0E133}"/>
              </a:ext>
            </a:extLst>
          </p:cNvPr>
          <p:cNvCxnSpPr>
            <a:cxnSpLocks/>
            <a:stCxn id="4" idx="5"/>
            <a:endCxn id="9" idx="2"/>
          </p:cNvCxnSpPr>
          <p:nvPr/>
        </p:nvCxnSpPr>
        <p:spPr>
          <a:xfrm>
            <a:off x="1032434" y="3477954"/>
            <a:ext cx="1213558" cy="900011"/>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droit avec flèche 34">
            <a:extLst>
              <a:ext uri="{FF2B5EF4-FFF2-40B4-BE49-F238E27FC236}">
                <a16:creationId xmlns:a16="http://schemas.microsoft.com/office/drawing/2014/main" id="{24172E6B-5E10-7974-CC9A-1792DB15BC8E}"/>
              </a:ext>
            </a:extLst>
          </p:cNvPr>
          <p:cNvCxnSpPr>
            <a:cxnSpLocks/>
            <a:stCxn id="7" idx="6"/>
            <a:endCxn id="21" idx="2"/>
          </p:cNvCxnSpPr>
          <p:nvPr/>
        </p:nvCxnSpPr>
        <p:spPr>
          <a:xfrm>
            <a:off x="2134748" y="2626423"/>
            <a:ext cx="1260921" cy="0"/>
          </a:xfrm>
          <a:prstGeom prst="straightConnector1">
            <a:avLst/>
          </a:prstGeom>
          <a:ln w="381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Connecteur droit avec flèche 41">
            <a:extLst>
              <a:ext uri="{FF2B5EF4-FFF2-40B4-BE49-F238E27FC236}">
                <a16:creationId xmlns:a16="http://schemas.microsoft.com/office/drawing/2014/main" id="{42110F4E-B434-43FB-9E2F-BEA5D59B1CF0}"/>
              </a:ext>
            </a:extLst>
          </p:cNvPr>
          <p:cNvCxnSpPr>
            <a:cxnSpLocks/>
            <a:stCxn id="9" idx="6"/>
            <a:endCxn id="11" idx="2"/>
          </p:cNvCxnSpPr>
          <p:nvPr/>
        </p:nvCxnSpPr>
        <p:spPr>
          <a:xfrm>
            <a:off x="2515958" y="4377965"/>
            <a:ext cx="938610" cy="0"/>
          </a:xfrm>
          <a:prstGeom prst="straightConnector1">
            <a:avLst/>
          </a:prstGeom>
          <a:ln w="381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8" name="Connecteur droit avec flèche 47">
            <a:extLst>
              <a:ext uri="{FF2B5EF4-FFF2-40B4-BE49-F238E27FC236}">
                <a16:creationId xmlns:a16="http://schemas.microsoft.com/office/drawing/2014/main" id="{01B44626-9B9D-E925-F76F-9BC6443A3C4E}"/>
              </a:ext>
            </a:extLst>
          </p:cNvPr>
          <p:cNvCxnSpPr>
            <a:cxnSpLocks/>
            <a:stCxn id="11" idx="6"/>
            <a:endCxn id="56" idx="2"/>
          </p:cNvCxnSpPr>
          <p:nvPr/>
        </p:nvCxnSpPr>
        <p:spPr>
          <a:xfrm>
            <a:off x="3724534" y="4377965"/>
            <a:ext cx="1052792" cy="0"/>
          </a:xfrm>
          <a:prstGeom prst="straightConnector1">
            <a:avLst/>
          </a:prstGeom>
          <a:ln w="38100">
            <a:solidFill>
              <a:schemeClr val="bg1">
                <a:lumMod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5" name="Connecteur droit avec flèche 54">
            <a:extLst>
              <a:ext uri="{FF2B5EF4-FFF2-40B4-BE49-F238E27FC236}">
                <a16:creationId xmlns:a16="http://schemas.microsoft.com/office/drawing/2014/main" id="{6E8C5F3E-D856-DD7A-560B-6A4067D42CE4}"/>
              </a:ext>
            </a:extLst>
          </p:cNvPr>
          <p:cNvCxnSpPr>
            <a:cxnSpLocks/>
            <a:stCxn id="13" idx="0"/>
            <a:endCxn id="23" idx="5"/>
          </p:cNvCxnSpPr>
          <p:nvPr/>
        </p:nvCxnSpPr>
        <p:spPr>
          <a:xfrm flipH="1" flipV="1">
            <a:off x="4929416" y="2721870"/>
            <a:ext cx="767080" cy="489825"/>
          </a:xfrm>
          <a:prstGeom prst="straightConnector1">
            <a:avLst/>
          </a:prstGeom>
          <a:ln w="38100">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Connecteur droit avec flèche 57">
            <a:extLst>
              <a:ext uri="{FF2B5EF4-FFF2-40B4-BE49-F238E27FC236}">
                <a16:creationId xmlns:a16="http://schemas.microsoft.com/office/drawing/2014/main" id="{B3049303-0C53-64ED-92CA-A805CB4B517E}"/>
              </a:ext>
            </a:extLst>
          </p:cNvPr>
          <p:cNvCxnSpPr>
            <a:cxnSpLocks/>
            <a:stCxn id="56" idx="7"/>
            <a:endCxn id="13" idx="3"/>
          </p:cNvCxnSpPr>
          <p:nvPr/>
        </p:nvCxnSpPr>
        <p:spPr>
          <a:xfrm flipV="1">
            <a:off x="5007756" y="3442125"/>
            <a:ext cx="593293" cy="840393"/>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5" name="Connecteur droit avec flèche 64">
            <a:extLst>
              <a:ext uri="{FF2B5EF4-FFF2-40B4-BE49-F238E27FC236}">
                <a16:creationId xmlns:a16="http://schemas.microsoft.com/office/drawing/2014/main" id="{CD9CB2E7-51A8-F62C-064B-F4C9D417D7B7}"/>
              </a:ext>
            </a:extLst>
          </p:cNvPr>
          <p:cNvCxnSpPr>
            <a:cxnSpLocks/>
            <a:stCxn id="21" idx="6"/>
            <a:endCxn id="23" idx="2"/>
          </p:cNvCxnSpPr>
          <p:nvPr/>
        </p:nvCxnSpPr>
        <p:spPr>
          <a:xfrm>
            <a:off x="3665635" y="2626423"/>
            <a:ext cx="1033351" cy="0"/>
          </a:xfrm>
          <a:prstGeom prst="straightConnector1">
            <a:avLst/>
          </a:prstGeom>
          <a:ln w="381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Connecteur droit avec flèche 95">
            <a:extLst>
              <a:ext uri="{FF2B5EF4-FFF2-40B4-BE49-F238E27FC236}">
                <a16:creationId xmlns:a16="http://schemas.microsoft.com/office/drawing/2014/main" id="{B2D91C2C-F9DC-E93B-A559-C58B46311A77}"/>
              </a:ext>
            </a:extLst>
          </p:cNvPr>
          <p:cNvCxnSpPr>
            <a:cxnSpLocks/>
            <a:stCxn id="27" idx="4"/>
            <a:endCxn id="25" idx="0"/>
          </p:cNvCxnSpPr>
          <p:nvPr/>
        </p:nvCxnSpPr>
        <p:spPr>
          <a:xfrm flipH="1">
            <a:off x="10926333" y="3554107"/>
            <a:ext cx="8919" cy="1503503"/>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1" name="Connecteur droit avec flèche 100">
            <a:extLst>
              <a:ext uri="{FF2B5EF4-FFF2-40B4-BE49-F238E27FC236}">
                <a16:creationId xmlns:a16="http://schemas.microsoft.com/office/drawing/2014/main" id="{EA1AE84C-BC34-20B3-B4D6-FC74DD4BB674}"/>
              </a:ext>
            </a:extLst>
          </p:cNvPr>
          <p:cNvCxnSpPr>
            <a:cxnSpLocks/>
            <a:stCxn id="15" idx="6"/>
            <a:endCxn id="27" idx="2"/>
          </p:cNvCxnSpPr>
          <p:nvPr/>
        </p:nvCxnSpPr>
        <p:spPr>
          <a:xfrm>
            <a:off x="9202786" y="3419124"/>
            <a:ext cx="1597483" cy="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4" name="Connecteur droit avec flèche 103">
            <a:extLst>
              <a:ext uri="{FF2B5EF4-FFF2-40B4-BE49-F238E27FC236}">
                <a16:creationId xmlns:a16="http://schemas.microsoft.com/office/drawing/2014/main" id="{2189F1EA-BFA6-162D-BDEC-4AA01FCBC463}"/>
              </a:ext>
            </a:extLst>
          </p:cNvPr>
          <p:cNvCxnSpPr>
            <a:cxnSpLocks/>
            <a:stCxn id="15" idx="4"/>
            <a:endCxn id="19" idx="0"/>
          </p:cNvCxnSpPr>
          <p:nvPr/>
        </p:nvCxnSpPr>
        <p:spPr>
          <a:xfrm>
            <a:off x="9067803" y="3554107"/>
            <a:ext cx="13058" cy="1503503"/>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Connecteur droit avec flèche 110">
            <a:extLst>
              <a:ext uri="{FF2B5EF4-FFF2-40B4-BE49-F238E27FC236}">
                <a16:creationId xmlns:a16="http://schemas.microsoft.com/office/drawing/2014/main" id="{6BC056D4-2F3D-32C1-FC45-4CBF4676A639}"/>
              </a:ext>
            </a:extLst>
          </p:cNvPr>
          <p:cNvCxnSpPr>
            <a:cxnSpLocks/>
            <a:stCxn id="15" idx="7"/>
            <a:endCxn id="29" idx="2"/>
          </p:cNvCxnSpPr>
          <p:nvPr/>
        </p:nvCxnSpPr>
        <p:spPr>
          <a:xfrm flipV="1">
            <a:off x="9163250" y="2413806"/>
            <a:ext cx="703294" cy="909871"/>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4" name="ZoneTexte 113">
            <a:extLst>
              <a:ext uri="{FF2B5EF4-FFF2-40B4-BE49-F238E27FC236}">
                <a16:creationId xmlns:a16="http://schemas.microsoft.com/office/drawing/2014/main" id="{2BCE24EA-E006-55B4-45A1-70D19FBCC6D0}"/>
              </a:ext>
            </a:extLst>
          </p:cNvPr>
          <p:cNvSpPr txBox="1"/>
          <p:nvPr/>
        </p:nvSpPr>
        <p:spPr>
          <a:xfrm>
            <a:off x="9327731" y="1765111"/>
            <a:ext cx="1419363" cy="461665"/>
          </a:xfrm>
          <a:prstGeom prst="rect">
            <a:avLst/>
          </a:prstGeom>
          <a:noFill/>
        </p:spPr>
        <p:txBody>
          <a:bodyPr wrap="square">
            <a:spAutoFit/>
          </a:bodyPr>
          <a:lstStyle/>
          <a:p>
            <a:pPr algn="ctr"/>
            <a:r>
              <a:rPr lang="fr-FR" sz="1200" dirty="0">
                <a:solidFill>
                  <a:srgbClr val="3494BA"/>
                </a:solidFill>
              </a:rPr>
              <a:t>Communication extérieure</a:t>
            </a:r>
          </a:p>
        </p:txBody>
      </p:sp>
      <p:sp>
        <p:nvSpPr>
          <p:cNvPr id="123" name="Ellipse 122">
            <a:extLst>
              <a:ext uri="{FF2B5EF4-FFF2-40B4-BE49-F238E27FC236}">
                <a16:creationId xmlns:a16="http://schemas.microsoft.com/office/drawing/2014/main" id="{ED7064E9-95B8-8C4A-B3AD-4323BBBA5335}"/>
              </a:ext>
            </a:extLst>
          </p:cNvPr>
          <p:cNvSpPr/>
          <p:nvPr/>
        </p:nvSpPr>
        <p:spPr>
          <a:xfrm>
            <a:off x="9897292" y="5976579"/>
            <a:ext cx="269966" cy="269966"/>
          </a:xfrm>
          <a:prstGeom prst="ellipse">
            <a:avLst/>
          </a:prstGeom>
          <a:noFill/>
          <a:ln w="7620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127" name="Connecteur droit avec flèche 126">
            <a:extLst>
              <a:ext uri="{FF2B5EF4-FFF2-40B4-BE49-F238E27FC236}">
                <a16:creationId xmlns:a16="http://schemas.microsoft.com/office/drawing/2014/main" id="{287F8D90-0C5F-D47F-01C3-8FC0D85C7631}"/>
              </a:ext>
            </a:extLst>
          </p:cNvPr>
          <p:cNvCxnSpPr>
            <a:cxnSpLocks/>
            <a:stCxn id="123" idx="6"/>
            <a:endCxn id="25" idx="3"/>
          </p:cNvCxnSpPr>
          <p:nvPr/>
        </p:nvCxnSpPr>
        <p:spPr>
          <a:xfrm flipV="1">
            <a:off x="10167258" y="5288040"/>
            <a:ext cx="663628" cy="823522"/>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0" name="Connecteur droit avec flèche 129">
            <a:extLst>
              <a:ext uri="{FF2B5EF4-FFF2-40B4-BE49-F238E27FC236}">
                <a16:creationId xmlns:a16="http://schemas.microsoft.com/office/drawing/2014/main" id="{61EEC0D5-717E-9AE5-1AD5-C23628190E87}"/>
              </a:ext>
            </a:extLst>
          </p:cNvPr>
          <p:cNvCxnSpPr>
            <a:cxnSpLocks/>
            <a:stCxn id="123" idx="2"/>
            <a:endCxn id="19" idx="5"/>
          </p:cNvCxnSpPr>
          <p:nvPr/>
        </p:nvCxnSpPr>
        <p:spPr>
          <a:xfrm flipH="1" flipV="1">
            <a:off x="9176308" y="5288040"/>
            <a:ext cx="720984" cy="823522"/>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6" name="Connecteur droit avec flèche 135">
            <a:extLst>
              <a:ext uri="{FF2B5EF4-FFF2-40B4-BE49-F238E27FC236}">
                <a16:creationId xmlns:a16="http://schemas.microsoft.com/office/drawing/2014/main" id="{4744B4D4-49DB-5D97-5A74-D223B0AD3B23}"/>
              </a:ext>
            </a:extLst>
          </p:cNvPr>
          <p:cNvCxnSpPr>
            <a:cxnSpLocks/>
            <a:stCxn id="27" idx="0"/>
            <a:endCxn id="29" idx="6"/>
          </p:cNvCxnSpPr>
          <p:nvPr/>
        </p:nvCxnSpPr>
        <p:spPr>
          <a:xfrm flipH="1" flipV="1">
            <a:off x="10136510" y="2413806"/>
            <a:ext cx="798742" cy="870335"/>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9" name="Connecteur droit avec flèche 138">
            <a:extLst>
              <a:ext uri="{FF2B5EF4-FFF2-40B4-BE49-F238E27FC236}">
                <a16:creationId xmlns:a16="http://schemas.microsoft.com/office/drawing/2014/main" id="{E590C561-A8C0-E851-51A4-7FE646F5EC0F}"/>
              </a:ext>
            </a:extLst>
          </p:cNvPr>
          <p:cNvCxnSpPr>
            <a:cxnSpLocks/>
            <a:stCxn id="19" idx="6"/>
            <a:endCxn id="25" idx="2"/>
          </p:cNvCxnSpPr>
          <p:nvPr/>
        </p:nvCxnSpPr>
        <p:spPr>
          <a:xfrm>
            <a:off x="9215844" y="5192593"/>
            <a:ext cx="1575506" cy="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2" name="ZoneTexte 141">
            <a:extLst>
              <a:ext uri="{FF2B5EF4-FFF2-40B4-BE49-F238E27FC236}">
                <a16:creationId xmlns:a16="http://schemas.microsoft.com/office/drawing/2014/main" id="{E852FE0B-708E-80F2-89D1-3B158050CDD0}"/>
              </a:ext>
            </a:extLst>
          </p:cNvPr>
          <p:cNvSpPr txBox="1"/>
          <p:nvPr/>
        </p:nvSpPr>
        <p:spPr>
          <a:xfrm>
            <a:off x="10177233" y="5991181"/>
            <a:ext cx="1206823" cy="461665"/>
          </a:xfrm>
          <a:prstGeom prst="rect">
            <a:avLst/>
          </a:prstGeom>
          <a:noFill/>
        </p:spPr>
        <p:txBody>
          <a:bodyPr wrap="square">
            <a:spAutoFit/>
          </a:bodyPr>
          <a:lstStyle/>
          <a:p>
            <a:pPr algn="ctr"/>
            <a:r>
              <a:rPr lang="fr-FR" sz="1200" dirty="0">
                <a:solidFill>
                  <a:srgbClr val="3494BA"/>
                </a:solidFill>
              </a:rPr>
              <a:t>Restructuration de fond</a:t>
            </a:r>
          </a:p>
        </p:txBody>
      </p:sp>
      <p:cxnSp>
        <p:nvCxnSpPr>
          <p:cNvPr id="143" name="Connecteur droit avec flèche 142">
            <a:extLst>
              <a:ext uri="{FF2B5EF4-FFF2-40B4-BE49-F238E27FC236}">
                <a16:creationId xmlns:a16="http://schemas.microsoft.com/office/drawing/2014/main" id="{01079B29-F67C-DB1E-0AD6-B2AE52EAEB1F}"/>
              </a:ext>
            </a:extLst>
          </p:cNvPr>
          <p:cNvCxnSpPr>
            <a:cxnSpLocks/>
            <a:stCxn id="15" idx="5"/>
            <a:endCxn id="158" idx="2"/>
          </p:cNvCxnSpPr>
          <p:nvPr/>
        </p:nvCxnSpPr>
        <p:spPr>
          <a:xfrm>
            <a:off x="9163250" y="3514571"/>
            <a:ext cx="723062" cy="742570"/>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6" name="Connecteur droit avec flèche 145">
            <a:extLst>
              <a:ext uri="{FF2B5EF4-FFF2-40B4-BE49-F238E27FC236}">
                <a16:creationId xmlns:a16="http://schemas.microsoft.com/office/drawing/2014/main" id="{FAD56696-0E58-EB61-C743-347F76493510}"/>
              </a:ext>
            </a:extLst>
          </p:cNvPr>
          <p:cNvCxnSpPr>
            <a:cxnSpLocks/>
            <a:stCxn id="19" idx="7"/>
            <a:endCxn id="158" idx="3"/>
          </p:cNvCxnSpPr>
          <p:nvPr/>
        </p:nvCxnSpPr>
        <p:spPr>
          <a:xfrm flipV="1">
            <a:off x="9176308" y="4352588"/>
            <a:ext cx="749540" cy="74455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8" name="Ellipse 157">
            <a:extLst>
              <a:ext uri="{FF2B5EF4-FFF2-40B4-BE49-F238E27FC236}">
                <a16:creationId xmlns:a16="http://schemas.microsoft.com/office/drawing/2014/main" id="{F606CDF9-4C40-0C4D-6275-168D0960EFCC}"/>
              </a:ext>
            </a:extLst>
          </p:cNvPr>
          <p:cNvSpPr/>
          <p:nvPr/>
        </p:nvSpPr>
        <p:spPr>
          <a:xfrm>
            <a:off x="9886312" y="4122158"/>
            <a:ext cx="269966" cy="269966"/>
          </a:xfrm>
          <a:prstGeom prst="ellipse">
            <a:avLst/>
          </a:prstGeom>
          <a:noFill/>
          <a:ln w="76200">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cxnSp>
        <p:nvCxnSpPr>
          <p:cNvPr id="163" name="Connecteur droit avec flèche 162">
            <a:extLst>
              <a:ext uri="{FF2B5EF4-FFF2-40B4-BE49-F238E27FC236}">
                <a16:creationId xmlns:a16="http://schemas.microsoft.com/office/drawing/2014/main" id="{763A89F4-78F4-51F8-8F18-E620DF8B80F3}"/>
              </a:ext>
            </a:extLst>
          </p:cNvPr>
          <p:cNvCxnSpPr>
            <a:cxnSpLocks/>
            <a:stCxn id="27" idx="3"/>
            <a:endCxn id="158" idx="7"/>
          </p:cNvCxnSpPr>
          <p:nvPr/>
        </p:nvCxnSpPr>
        <p:spPr>
          <a:xfrm flipH="1">
            <a:off x="10116742" y="3514571"/>
            <a:ext cx="723063" cy="647123"/>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6" name="Connecteur droit avec flèche 165">
            <a:extLst>
              <a:ext uri="{FF2B5EF4-FFF2-40B4-BE49-F238E27FC236}">
                <a16:creationId xmlns:a16="http://schemas.microsoft.com/office/drawing/2014/main" id="{747A3102-45B8-2080-FAF2-7521808A01ED}"/>
              </a:ext>
            </a:extLst>
          </p:cNvPr>
          <p:cNvCxnSpPr>
            <a:cxnSpLocks/>
            <a:stCxn id="25" idx="1"/>
            <a:endCxn id="158" idx="5"/>
          </p:cNvCxnSpPr>
          <p:nvPr/>
        </p:nvCxnSpPr>
        <p:spPr>
          <a:xfrm flipH="1" flipV="1">
            <a:off x="10116742" y="4352588"/>
            <a:ext cx="714144" cy="744558"/>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1" name="Connecteur droit avec flèche 170">
            <a:extLst>
              <a:ext uri="{FF2B5EF4-FFF2-40B4-BE49-F238E27FC236}">
                <a16:creationId xmlns:a16="http://schemas.microsoft.com/office/drawing/2014/main" id="{A2AA62B3-FC83-475E-FFB5-B885944B5E28}"/>
              </a:ext>
            </a:extLst>
          </p:cNvPr>
          <p:cNvCxnSpPr>
            <a:cxnSpLocks/>
            <a:stCxn id="123" idx="0"/>
            <a:endCxn id="158" idx="4"/>
          </p:cNvCxnSpPr>
          <p:nvPr/>
        </p:nvCxnSpPr>
        <p:spPr>
          <a:xfrm flipH="1" flipV="1">
            <a:off x="10021295" y="4392124"/>
            <a:ext cx="10980" cy="1584455"/>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1" name="Connecteur droit avec flèche 180">
            <a:extLst>
              <a:ext uri="{FF2B5EF4-FFF2-40B4-BE49-F238E27FC236}">
                <a16:creationId xmlns:a16="http://schemas.microsoft.com/office/drawing/2014/main" id="{CAD4B615-CA52-F9E4-ACBC-EAA4D766387A}"/>
              </a:ext>
            </a:extLst>
          </p:cNvPr>
          <p:cNvCxnSpPr>
            <a:cxnSpLocks/>
            <a:stCxn id="29" idx="4"/>
            <a:endCxn id="158" idx="0"/>
          </p:cNvCxnSpPr>
          <p:nvPr/>
        </p:nvCxnSpPr>
        <p:spPr>
          <a:xfrm>
            <a:off x="10001527" y="2548789"/>
            <a:ext cx="19768" cy="1573369"/>
          </a:xfrm>
          <a:prstGeom prst="straightConnector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7" name="ZoneTexte 186">
            <a:extLst>
              <a:ext uri="{FF2B5EF4-FFF2-40B4-BE49-F238E27FC236}">
                <a16:creationId xmlns:a16="http://schemas.microsoft.com/office/drawing/2014/main" id="{7B7E05E1-3EDD-A6AC-6699-FB72CF33D4ED}"/>
              </a:ext>
            </a:extLst>
          </p:cNvPr>
          <p:cNvSpPr txBox="1"/>
          <p:nvPr/>
        </p:nvSpPr>
        <p:spPr>
          <a:xfrm>
            <a:off x="9593895" y="4635652"/>
            <a:ext cx="854800" cy="461665"/>
          </a:xfrm>
          <a:prstGeom prst="rect">
            <a:avLst/>
          </a:prstGeom>
          <a:solidFill>
            <a:schemeClr val="bg1"/>
          </a:solidFill>
          <a:ln>
            <a:solidFill>
              <a:srgbClr val="ED7D31"/>
            </a:solidFill>
          </a:ln>
        </p:spPr>
        <p:txBody>
          <a:bodyPr wrap="square">
            <a:spAutoFit/>
          </a:bodyPr>
          <a:lstStyle/>
          <a:p>
            <a:pPr algn="ctr"/>
            <a:r>
              <a:rPr lang="fr-FR" sz="1200" dirty="0">
                <a:solidFill>
                  <a:srgbClr val="ED7D31"/>
                </a:solidFill>
              </a:rPr>
              <a:t>Cœur d’activités</a:t>
            </a:r>
          </a:p>
        </p:txBody>
      </p:sp>
      <p:cxnSp>
        <p:nvCxnSpPr>
          <p:cNvPr id="193" name="Connecteur droit avec flèche 192">
            <a:extLst>
              <a:ext uri="{FF2B5EF4-FFF2-40B4-BE49-F238E27FC236}">
                <a16:creationId xmlns:a16="http://schemas.microsoft.com/office/drawing/2014/main" id="{4D164131-BFB5-D8C7-0707-D181C6688262}"/>
              </a:ext>
            </a:extLst>
          </p:cNvPr>
          <p:cNvCxnSpPr>
            <a:cxnSpLocks/>
            <a:stCxn id="4" idx="6"/>
            <a:endCxn id="13" idx="2"/>
          </p:cNvCxnSpPr>
          <p:nvPr/>
        </p:nvCxnSpPr>
        <p:spPr>
          <a:xfrm flipV="1">
            <a:off x="1071970" y="3346678"/>
            <a:ext cx="4489543" cy="35829"/>
          </a:xfrm>
          <a:prstGeom prst="straightConnector1">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196" name="Connecteur droit avec flèche 195">
            <a:extLst>
              <a:ext uri="{FF2B5EF4-FFF2-40B4-BE49-F238E27FC236}">
                <a16:creationId xmlns:a16="http://schemas.microsoft.com/office/drawing/2014/main" id="{47AAA74D-0C35-CBFA-42F9-9A71A183A133}"/>
              </a:ext>
            </a:extLst>
          </p:cNvPr>
          <p:cNvCxnSpPr>
            <a:cxnSpLocks/>
            <a:stCxn id="13" idx="6"/>
            <a:endCxn id="158" idx="2"/>
          </p:cNvCxnSpPr>
          <p:nvPr/>
        </p:nvCxnSpPr>
        <p:spPr>
          <a:xfrm>
            <a:off x="5831479" y="3346678"/>
            <a:ext cx="4054833" cy="910463"/>
          </a:xfrm>
          <a:prstGeom prst="straightConnector1">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199" name="Connecteur droit avec flèche 198">
            <a:extLst>
              <a:ext uri="{FF2B5EF4-FFF2-40B4-BE49-F238E27FC236}">
                <a16:creationId xmlns:a16="http://schemas.microsoft.com/office/drawing/2014/main" id="{CB4ED47D-8381-EA5A-39D9-6C2770D26511}"/>
              </a:ext>
            </a:extLst>
          </p:cNvPr>
          <p:cNvCxnSpPr>
            <a:cxnSpLocks/>
          </p:cNvCxnSpPr>
          <p:nvPr/>
        </p:nvCxnSpPr>
        <p:spPr>
          <a:xfrm flipV="1">
            <a:off x="6077131" y="649860"/>
            <a:ext cx="1344606" cy="10731"/>
          </a:xfrm>
          <a:prstGeom prst="straightConnector1">
            <a:avLst/>
          </a:prstGeom>
          <a:ln w="57150">
            <a:solidFill>
              <a:srgbClr val="ED7D31"/>
            </a:solidFill>
            <a:tailEnd type="triangle"/>
          </a:ln>
        </p:spPr>
        <p:style>
          <a:lnRef idx="1">
            <a:schemeClr val="accent1"/>
          </a:lnRef>
          <a:fillRef idx="0">
            <a:schemeClr val="accent1"/>
          </a:fillRef>
          <a:effectRef idx="0">
            <a:schemeClr val="accent1"/>
          </a:effectRef>
          <a:fontRef idx="minor">
            <a:schemeClr val="tx1"/>
          </a:fontRef>
        </p:style>
      </p:cxnSp>
      <p:cxnSp>
        <p:nvCxnSpPr>
          <p:cNvPr id="202" name="Connecteur droit avec flèche 201">
            <a:extLst>
              <a:ext uri="{FF2B5EF4-FFF2-40B4-BE49-F238E27FC236}">
                <a16:creationId xmlns:a16="http://schemas.microsoft.com/office/drawing/2014/main" id="{F22607BE-6407-94D0-79D9-92144EF9E0AC}"/>
              </a:ext>
            </a:extLst>
          </p:cNvPr>
          <p:cNvCxnSpPr>
            <a:cxnSpLocks/>
          </p:cNvCxnSpPr>
          <p:nvPr/>
        </p:nvCxnSpPr>
        <p:spPr>
          <a:xfrm flipV="1">
            <a:off x="6077131" y="322811"/>
            <a:ext cx="1344606" cy="1073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4" name="Connecteur droit avec flèche 203">
            <a:extLst>
              <a:ext uri="{FF2B5EF4-FFF2-40B4-BE49-F238E27FC236}">
                <a16:creationId xmlns:a16="http://schemas.microsoft.com/office/drawing/2014/main" id="{EC89855A-CD2F-8096-277C-0A1BB1DEE69B}"/>
              </a:ext>
            </a:extLst>
          </p:cNvPr>
          <p:cNvCxnSpPr>
            <a:cxnSpLocks/>
          </p:cNvCxnSpPr>
          <p:nvPr/>
        </p:nvCxnSpPr>
        <p:spPr>
          <a:xfrm flipV="1">
            <a:off x="6062388" y="982273"/>
            <a:ext cx="1344606" cy="10731"/>
          </a:xfrm>
          <a:prstGeom prst="straightConnector1">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07" name="Connecteur droit avec flèche 206">
            <a:extLst>
              <a:ext uri="{FF2B5EF4-FFF2-40B4-BE49-F238E27FC236}">
                <a16:creationId xmlns:a16="http://schemas.microsoft.com/office/drawing/2014/main" id="{0CB93498-1A5A-325D-3103-720C668CEED0}"/>
              </a:ext>
            </a:extLst>
          </p:cNvPr>
          <p:cNvCxnSpPr>
            <a:cxnSpLocks/>
          </p:cNvCxnSpPr>
          <p:nvPr/>
        </p:nvCxnSpPr>
        <p:spPr>
          <a:xfrm flipV="1">
            <a:off x="6062388" y="1292317"/>
            <a:ext cx="1344606" cy="10731"/>
          </a:xfrm>
          <a:prstGeom prst="straightConnector1">
            <a:avLst/>
          </a:prstGeom>
          <a:ln w="57150">
            <a:solidFill>
              <a:srgbClr val="3494BA"/>
            </a:solidFill>
            <a:tailEnd type="triangle"/>
          </a:ln>
        </p:spPr>
        <p:style>
          <a:lnRef idx="1">
            <a:schemeClr val="accent1"/>
          </a:lnRef>
          <a:fillRef idx="0">
            <a:schemeClr val="accent1"/>
          </a:fillRef>
          <a:effectRef idx="0">
            <a:schemeClr val="accent1"/>
          </a:effectRef>
          <a:fontRef idx="minor">
            <a:schemeClr val="tx1"/>
          </a:fontRef>
        </p:style>
      </p:cxnSp>
      <p:cxnSp>
        <p:nvCxnSpPr>
          <p:cNvPr id="220" name="Connecteur droit avec flèche 219">
            <a:extLst>
              <a:ext uri="{FF2B5EF4-FFF2-40B4-BE49-F238E27FC236}">
                <a16:creationId xmlns:a16="http://schemas.microsoft.com/office/drawing/2014/main" id="{5C142B00-AB97-CC57-E80D-A46072A5FA1C}"/>
              </a:ext>
            </a:extLst>
          </p:cNvPr>
          <p:cNvCxnSpPr>
            <a:cxnSpLocks/>
            <a:stCxn id="123" idx="2"/>
            <a:endCxn id="11" idx="6"/>
          </p:cNvCxnSpPr>
          <p:nvPr/>
        </p:nvCxnSpPr>
        <p:spPr>
          <a:xfrm flipH="1" flipV="1">
            <a:off x="3724534" y="4377965"/>
            <a:ext cx="6172758" cy="1733597"/>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30" name="Connecteur : en angle 229">
            <a:extLst>
              <a:ext uri="{FF2B5EF4-FFF2-40B4-BE49-F238E27FC236}">
                <a16:creationId xmlns:a16="http://schemas.microsoft.com/office/drawing/2014/main" id="{95BCF8D1-DA59-4BA9-593D-481C2C804C6B}"/>
              </a:ext>
            </a:extLst>
          </p:cNvPr>
          <p:cNvCxnSpPr>
            <a:stCxn id="123" idx="2"/>
            <a:endCxn id="4" idx="4"/>
          </p:cNvCxnSpPr>
          <p:nvPr/>
        </p:nvCxnSpPr>
        <p:spPr>
          <a:xfrm rot="10800000">
            <a:off x="936988" y="3517490"/>
            <a:ext cx="8960305" cy="2594072"/>
          </a:xfrm>
          <a:prstGeom prst="bentConnector2">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31" name="ZoneTexte 230">
            <a:extLst>
              <a:ext uri="{FF2B5EF4-FFF2-40B4-BE49-F238E27FC236}">
                <a16:creationId xmlns:a16="http://schemas.microsoft.com/office/drawing/2014/main" id="{AC28B933-6FE3-D85B-9897-BAF738F0BE4A}"/>
              </a:ext>
            </a:extLst>
          </p:cNvPr>
          <p:cNvSpPr txBox="1"/>
          <p:nvPr/>
        </p:nvSpPr>
        <p:spPr>
          <a:xfrm>
            <a:off x="3919943" y="6105760"/>
            <a:ext cx="1584960" cy="261610"/>
          </a:xfrm>
          <a:prstGeom prst="rect">
            <a:avLst/>
          </a:prstGeom>
          <a:noFill/>
        </p:spPr>
        <p:txBody>
          <a:bodyPr wrap="square">
            <a:spAutoFit/>
          </a:bodyPr>
          <a:lstStyle/>
          <a:p>
            <a:pPr algn="ctr"/>
            <a:r>
              <a:rPr lang="fr-FR" sz="1100" i="1" dirty="0">
                <a:solidFill>
                  <a:schemeClr val="bg1">
                    <a:lumMod val="50000"/>
                  </a:schemeClr>
                </a:solidFill>
              </a:rPr>
              <a:t>Retour à la base</a:t>
            </a:r>
          </a:p>
        </p:txBody>
      </p:sp>
      <p:sp>
        <p:nvSpPr>
          <p:cNvPr id="232" name="ZoneTexte 231">
            <a:extLst>
              <a:ext uri="{FF2B5EF4-FFF2-40B4-BE49-F238E27FC236}">
                <a16:creationId xmlns:a16="http://schemas.microsoft.com/office/drawing/2014/main" id="{E4487F08-FFB4-A2C0-D3AE-3B5535C4F086}"/>
              </a:ext>
            </a:extLst>
          </p:cNvPr>
          <p:cNvSpPr txBox="1"/>
          <p:nvPr/>
        </p:nvSpPr>
        <p:spPr>
          <a:xfrm rot="984149">
            <a:off x="5998980" y="5238992"/>
            <a:ext cx="1584960" cy="261610"/>
          </a:xfrm>
          <a:prstGeom prst="rect">
            <a:avLst/>
          </a:prstGeom>
          <a:noFill/>
        </p:spPr>
        <p:txBody>
          <a:bodyPr wrap="square">
            <a:spAutoFit/>
          </a:bodyPr>
          <a:lstStyle/>
          <a:p>
            <a:pPr algn="ctr"/>
            <a:r>
              <a:rPr lang="fr-FR" sz="1100" i="1" dirty="0">
                <a:solidFill>
                  <a:schemeClr val="bg1">
                    <a:lumMod val="50000"/>
                  </a:schemeClr>
                </a:solidFill>
              </a:rPr>
              <a:t>Allègement</a:t>
            </a:r>
          </a:p>
        </p:txBody>
      </p:sp>
      <p:pic>
        <p:nvPicPr>
          <p:cNvPr id="235" name="Graphique 234" descr="Bâtiment avec un remplissage uni">
            <a:extLst>
              <a:ext uri="{FF2B5EF4-FFF2-40B4-BE49-F238E27FC236}">
                <a16:creationId xmlns:a16="http://schemas.microsoft.com/office/drawing/2014/main" id="{0368413A-FF39-DFEF-67A4-4EAB9E39A94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746070" y="91751"/>
            <a:ext cx="316318" cy="316318"/>
          </a:xfrm>
          <a:prstGeom prst="rect">
            <a:avLst/>
          </a:prstGeom>
        </p:spPr>
      </p:pic>
      <p:pic>
        <p:nvPicPr>
          <p:cNvPr id="37" name="Graphique 36" descr="Bécher avec un remplissage uni">
            <a:extLst>
              <a:ext uri="{FF2B5EF4-FFF2-40B4-BE49-F238E27FC236}">
                <a16:creationId xmlns:a16="http://schemas.microsoft.com/office/drawing/2014/main" id="{A7CBEB96-07B4-6F1F-AE85-E7D4D652BA2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720137" y="774094"/>
            <a:ext cx="342251" cy="342251"/>
          </a:xfrm>
          <a:prstGeom prst="rect">
            <a:avLst/>
          </a:prstGeom>
        </p:spPr>
      </p:pic>
      <p:pic>
        <p:nvPicPr>
          <p:cNvPr id="33" name="Graphique 32" descr="Éclair avec un remplissage uni">
            <a:extLst>
              <a:ext uri="{FF2B5EF4-FFF2-40B4-BE49-F238E27FC236}">
                <a16:creationId xmlns:a16="http://schemas.microsoft.com/office/drawing/2014/main" id="{5B93F02F-35C4-6E5A-3CD0-C0D41723274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726699" y="447067"/>
            <a:ext cx="382863" cy="382863"/>
          </a:xfrm>
          <a:prstGeom prst="rect">
            <a:avLst/>
          </a:prstGeom>
        </p:spPr>
      </p:pic>
      <p:pic>
        <p:nvPicPr>
          <p:cNvPr id="40" name="Graphique 39" descr="Amélioration continue avec un remplissage uni">
            <a:extLst>
              <a:ext uri="{FF2B5EF4-FFF2-40B4-BE49-F238E27FC236}">
                <a16:creationId xmlns:a16="http://schemas.microsoft.com/office/drawing/2014/main" id="{00703472-97C3-07A4-F4AF-275F7D475B4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610181" y="1077563"/>
            <a:ext cx="419186" cy="419186"/>
          </a:xfrm>
          <a:prstGeom prst="rect">
            <a:avLst/>
          </a:prstGeom>
        </p:spPr>
      </p:pic>
      <p:sp>
        <p:nvSpPr>
          <p:cNvPr id="3" name="ZoneTexte 2">
            <a:extLst>
              <a:ext uri="{FF2B5EF4-FFF2-40B4-BE49-F238E27FC236}">
                <a16:creationId xmlns:a16="http://schemas.microsoft.com/office/drawing/2014/main" id="{D425B75B-3964-A52E-5B4E-5B42ECAF54F8}"/>
              </a:ext>
            </a:extLst>
          </p:cNvPr>
          <p:cNvSpPr txBox="1"/>
          <p:nvPr/>
        </p:nvSpPr>
        <p:spPr>
          <a:xfrm>
            <a:off x="7436480" y="488744"/>
            <a:ext cx="1646066" cy="307777"/>
          </a:xfrm>
          <a:prstGeom prst="rect">
            <a:avLst/>
          </a:prstGeom>
          <a:noFill/>
        </p:spPr>
        <p:txBody>
          <a:bodyPr wrap="square">
            <a:spAutoFit/>
          </a:bodyPr>
          <a:lstStyle/>
          <a:p>
            <a:r>
              <a:rPr lang="fr-FR" sz="1400" b="1" dirty="0">
                <a:solidFill>
                  <a:srgbClr val="ED7D31"/>
                </a:solidFill>
              </a:rPr>
              <a:t>Parcours express</a:t>
            </a:r>
          </a:p>
        </p:txBody>
      </p:sp>
      <p:sp>
        <p:nvSpPr>
          <p:cNvPr id="34" name="ZoneTexte 33">
            <a:extLst>
              <a:ext uri="{FF2B5EF4-FFF2-40B4-BE49-F238E27FC236}">
                <a16:creationId xmlns:a16="http://schemas.microsoft.com/office/drawing/2014/main" id="{075B46D7-EDC3-019C-2706-7F8E1320FF9C}"/>
              </a:ext>
            </a:extLst>
          </p:cNvPr>
          <p:cNvSpPr txBox="1"/>
          <p:nvPr/>
        </p:nvSpPr>
        <p:spPr>
          <a:xfrm>
            <a:off x="7436480" y="150964"/>
            <a:ext cx="2871794" cy="307777"/>
          </a:xfrm>
          <a:prstGeom prst="rect">
            <a:avLst/>
          </a:prstGeom>
          <a:noFill/>
        </p:spPr>
        <p:txBody>
          <a:bodyPr wrap="square">
            <a:spAutoFit/>
          </a:bodyPr>
          <a:lstStyle/>
          <a:p>
            <a:r>
              <a:rPr lang="fr-FR" sz="1400" b="1" dirty="0"/>
              <a:t>Parcours de la marche officielle</a:t>
            </a:r>
          </a:p>
        </p:txBody>
      </p:sp>
      <p:sp>
        <p:nvSpPr>
          <p:cNvPr id="36" name="ZoneTexte 35">
            <a:extLst>
              <a:ext uri="{FF2B5EF4-FFF2-40B4-BE49-F238E27FC236}">
                <a16:creationId xmlns:a16="http://schemas.microsoft.com/office/drawing/2014/main" id="{40E4ECA5-0242-421C-722B-97A576175140}"/>
              </a:ext>
            </a:extLst>
          </p:cNvPr>
          <p:cNvSpPr txBox="1"/>
          <p:nvPr/>
        </p:nvSpPr>
        <p:spPr>
          <a:xfrm>
            <a:off x="7436480" y="826524"/>
            <a:ext cx="2319194" cy="307777"/>
          </a:xfrm>
          <a:prstGeom prst="rect">
            <a:avLst/>
          </a:prstGeom>
          <a:noFill/>
        </p:spPr>
        <p:txBody>
          <a:bodyPr wrap="square">
            <a:spAutoFit/>
          </a:bodyPr>
          <a:lstStyle/>
          <a:p>
            <a:r>
              <a:rPr lang="fr-FR" sz="1400" b="1" dirty="0">
                <a:solidFill>
                  <a:schemeClr val="bg1">
                    <a:lumMod val="65000"/>
                  </a:schemeClr>
                </a:solidFill>
              </a:rPr>
              <a:t>Parcours du test terrain</a:t>
            </a:r>
          </a:p>
        </p:txBody>
      </p:sp>
      <p:sp>
        <p:nvSpPr>
          <p:cNvPr id="38" name="ZoneTexte 37">
            <a:extLst>
              <a:ext uri="{FF2B5EF4-FFF2-40B4-BE49-F238E27FC236}">
                <a16:creationId xmlns:a16="http://schemas.microsoft.com/office/drawing/2014/main" id="{140E578D-CB16-57A9-ED26-A223539BF53E}"/>
              </a:ext>
            </a:extLst>
          </p:cNvPr>
          <p:cNvSpPr txBox="1"/>
          <p:nvPr/>
        </p:nvSpPr>
        <p:spPr>
          <a:xfrm>
            <a:off x="7436480" y="1134589"/>
            <a:ext cx="2424922" cy="307777"/>
          </a:xfrm>
          <a:prstGeom prst="rect">
            <a:avLst/>
          </a:prstGeom>
          <a:noFill/>
        </p:spPr>
        <p:txBody>
          <a:bodyPr wrap="square">
            <a:spAutoFit/>
          </a:bodyPr>
          <a:lstStyle/>
          <a:p>
            <a:r>
              <a:rPr lang="fr-FR" sz="1400" b="1" dirty="0">
                <a:solidFill>
                  <a:srgbClr val="3494BA"/>
                </a:solidFill>
              </a:rPr>
              <a:t>Cycle de vie « Run »</a:t>
            </a:r>
          </a:p>
        </p:txBody>
      </p:sp>
      <p:sp>
        <p:nvSpPr>
          <p:cNvPr id="56" name="Ellipse 55">
            <a:extLst>
              <a:ext uri="{FF2B5EF4-FFF2-40B4-BE49-F238E27FC236}">
                <a16:creationId xmlns:a16="http://schemas.microsoft.com/office/drawing/2014/main" id="{2519B0F8-84C7-167B-C285-27373C346370}"/>
              </a:ext>
            </a:extLst>
          </p:cNvPr>
          <p:cNvSpPr/>
          <p:nvPr/>
        </p:nvSpPr>
        <p:spPr>
          <a:xfrm>
            <a:off x="4777326" y="4242982"/>
            <a:ext cx="269966" cy="269966"/>
          </a:xfrm>
          <a:prstGeom prst="ellipse">
            <a:avLst/>
          </a:prstGeom>
          <a:noFill/>
          <a:ln w="762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pic>
        <p:nvPicPr>
          <p:cNvPr id="17" name="Graphique 16" descr="Cœur avec un remplissage uni">
            <a:extLst>
              <a:ext uri="{FF2B5EF4-FFF2-40B4-BE49-F238E27FC236}">
                <a16:creationId xmlns:a16="http://schemas.microsoft.com/office/drawing/2014/main" id="{2BFD1986-C7FF-BFF0-F053-752BF17D810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941211" y="4175730"/>
            <a:ext cx="162821" cy="162821"/>
          </a:xfrm>
          <a:prstGeom prst="rect">
            <a:avLst/>
          </a:prstGeom>
        </p:spPr>
      </p:pic>
    </p:spTree>
    <p:extLst>
      <p:ext uri="{BB962C8B-B14F-4D97-AF65-F5344CB8AC3E}">
        <p14:creationId xmlns:p14="http://schemas.microsoft.com/office/powerpoint/2010/main" val="4189398281"/>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C4F8378-52A9-E3A0-A9AA-7F41B202B621}"/>
              </a:ext>
            </a:extLst>
          </p:cNvPr>
          <p:cNvSpPr>
            <a:spLocks noGrp="1"/>
          </p:cNvSpPr>
          <p:nvPr>
            <p:ph type="title"/>
          </p:nvPr>
        </p:nvSpPr>
        <p:spPr/>
        <p:txBody>
          <a:bodyPr/>
          <a:lstStyle/>
          <a:p>
            <a:r>
              <a:rPr lang="fr-FR" dirty="0"/>
              <a:t>Limites</a:t>
            </a:r>
          </a:p>
        </p:txBody>
      </p:sp>
      <p:sp>
        <p:nvSpPr>
          <p:cNvPr id="3" name="Espace réservé du contenu 2">
            <a:extLst>
              <a:ext uri="{FF2B5EF4-FFF2-40B4-BE49-F238E27FC236}">
                <a16:creationId xmlns:a16="http://schemas.microsoft.com/office/drawing/2014/main" id="{A48EE434-E193-E491-60D4-E80F8DB9750A}"/>
              </a:ext>
            </a:extLst>
          </p:cNvPr>
          <p:cNvSpPr>
            <a:spLocks noGrp="1"/>
          </p:cNvSpPr>
          <p:nvPr>
            <p:ph idx="1"/>
          </p:nvPr>
        </p:nvSpPr>
        <p:spPr>
          <a:xfrm>
            <a:off x="4314824" y="1825625"/>
            <a:ext cx="7038975" cy="4351338"/>
          </a:xfrm>
        </p:spPr>
        <p:txBody>
          <a:bodyPr/>
          <a:lstStyle/>
          <a:p>
            <a:r>
              <a:rPr lang="fr-FR" dirty="0"/>
              <a:t>Ce chapitre fait un point sur les limites des approches utilisées dans cette formation</a:t>
            </a:r>
          </a:p>
          <a:p>
            <a:endParaRPr lang="fr-FR" dirty="0"/>
          </a:p>
          <a:p>
            <a:r>
              <a:rPr lang="fr-FR" dirty="0"/>
              <a:t>Il a pour but de constituer à la fois un avertissement sur les risques de dogme, et une invitation à continuer à étudier, apprendre, pratiquer, affiner, mettre à jour et retransmettre</a:t>
            </a:r>
          </a:p>
        </p:txBody>
      </p:sp>
      <p:pic>
        <p:nvPicPr>
          <p:cNvPr id="5" name="Graphique 4" descr="Aspiration avec un remplissage uni">
            <a:extLst>
              <a:ext uri="{FF2B5EF4-FFF2-40B4-BE49-F238E27FC236}">
                <a16:creationId xmlns:a16="http://schemas.microsoft.com/office/drawing/2014/main" id="{EDBFE3DB-A0DF-3ED1-8C73-00BE628FA4F3}"/>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22914" r="24207"/>
          <a:stretch/>
        </p:blipFill>
        <p:spPr>
          <a:xfrm>
            <a:off x="914400" y="1609724"/>
            <a:ext cx="2494018" cy="4716463"/>
          </a:xfrm>
          <a:prstGeom prst="rect">
            <a:avLst/>
          </a:prstGeom>
        </p:spPr>
      </p:pic>
    </p:spTree>
    <p:extLst>
      <p:ext uri="{BB962C8B-B14F-4D97-AF65-F5344CB8AC3E}">
        <p14:creationId xmlns:p14="http://schemas.microsoft.com/office/powerpoint/2010/main" val="243102195"/>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D9B82D5A-6BAD-6D0D-EC4A-4BE293DCD27A}"/>
              </a:ext>
            </a:extLst>
          </p:cNvPr>
          <p:cNvSpPr/>
          <p:nvPr/>
        </p:nvSpPr>
        <p:spPr>
          <a:xfrm>
            <a:off x="7261193" y="2756085"/>
            <a:ext cx="1340529" cy="241071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sz="1000" dirty="0">
              <a:solidFill>
                <a:schemeClr val="tx1"/>
              </a:solidFill>
            </a:endParaRPr>
          </a:p>
        </p:txBody>
      </p:sp>
      <p:sp>
        <p:nvSpPr>
          <p:cNvPr id="8" name="Rectangle 7">
            <a:extLst>
              <a:ext uri="{FF2B5EF4-FFF2-40B4-BE49-F238E27FC236}">
                <a16:creationId xmlns:a16="http://schemas.microsoft.com/office/drawing/2014/main" id="{676D75AB-A368-FF54-B8A8-8A69578F3D5F}"/>
              </a:ext>
            </a:extLst>
          </p:cNvPr>
          <p:cNvSpPr/>
          <p:nvPr/>
        </p:nvSpPr>
        <p:spPr>
          <a:xfrm>
            <a:off x="8717131" y="2756085"/>
            <a:ext cx="1340529" cy="241071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sz="1000" dirty="0">
              <a:solidFill>
                <a:schemeClr val="tx1"/>
              </a:solidFill>
            </a:endParaRPr>
          </a:p>
        </p:txBody>
      </p:sp>
      <p:sp>
        <p:nvSpPr>
          <p:cNvPr id="9" name="Rectangle 8">
            <a:extLst>
              <a:ext uri="{FF2B5EF4-FFF2-40B4-BE49-F238E27FC236}">
                <a16:creationId xmlns:a16="http://schemas.microsoft.com/office/drawing/2014/main" id="{C57477A6-E58E-3EBF-0413-E85DFC4E3A68}"/>
              </a:ext>
            </a:extLst>
          </p:cNvPr>
          <p:cNvSpPr/>
          <p:nvPr/>
        </p:nvSpPr>
        <p:spPr>
          <a:xfrm>
            <a:off x="10173069" y="2756085"/>
            <a:ext cx="1340529" cy="241071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sz="1000" dirty="0">
              <a:solidFill>
                <a:schemeClr val="tx1"/>
              </a:solidFill>
            </a:endParaRPr>
          </a:p>
        </p:txBody>
      </p:sp>
      <p:sp>
        <p:nvSpPr>
          <p:cNvPr id="6" name="Rectangle 5">
            <a:extLst>
              <a:ext uri="{FF2B5EF4-FFF2-40B4-BE49-F238E27FC236}">
                <a16:creationId xmlns:a16="http://schemas.microsoft.com/office/drawing/2014/main" id="{54B3B627-C28F-9434-FC15-8C6D247F143E}"/>
              </a:ext>
            </a:extLst>
          </p:cNvPr>
          <p:cNvSpPr/>
          <p:nvPr/>
        </p:nvSpPr>
        <p:spPr>
          <a:xfrm>
            <a:off x="5805255" y="2756085"/>
            <a:ext cx="1340529" cy="241071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000" dirty="0">
                <a:solidFill>
                  <a:schemeClr val="tx1"/>
                </a:solidFill>
              </a:rPr>
              <a:t>Informations utiles pour développer la Communauté A</a:t>
            </a:r>
          </a:p>
        </p:txBody>
      </p:sp>
      <p:sp>
        <p:nvSpPr>
          <p:cNvPr id="2" name="Titre 1">
            <a:extLst>
              <a:ext uri="{FF2B5EF4-FFF2-40B4-BE49-F238E27FC236}">
                <a16:creationId xmlns:a16="http://schemas.microsoft.com/office/drawing/2014/main" id="{7C816A30-84A1-A98A-E554-A340FFB7136A}"/>
              </a:ext>
            </a:extLst>
          </p:cNvPr>
          <p:cNvSpPr>
            <a:spLocks noGrp="1"/>
          </p:cNvSpPr>
          <p:nvPr>
            <p:ph type="title"/>
          </p:nvPr>
        </p:nvSpPr>
        <p:spPr/>
        <p:txBody>
          <a:bodyPr/>
          <a:lstStyle/>
          <a:p>
            <a:r>
              <a:rPr lang="fr-FR" dirty="0"/>
              <a:t>Limites par la volonté d’aspect générique</a:t>
            </a:r>
            <a:br>
              <a:rPr lang="fr-FR" dirty="0"/>
            </a:br>
            <a:r>
              <a:rPr lang="fr-FR" dirty="0"/>
              <a:t>Prendre en compte les informations locales</a:t>
            </a:r>
          </a:p>
        </p:txBody>
      </p:sp>
      <p:sp>
        <p:nvSpPr>
          <p:cNvPr id="3" name="Espace réservé du contenu 2">
            <a:extLst>
              <a:ext uri="{FF2B5EF4-FFF2-40B4-BE49-F238E27FC236}">
                <a16:creationId xmlns:a16="http://schemas.microsoft.com/office/drawing/2014/main" id="{A1479BED-D463-FB91-9E7A-0DAE28C92E72}"/>
              </a:ext>
            </a:extLst>
          </p:cNvPr>
          <p:cNvSpPr>
            <a:spLocks noGrp="1"/>
          </p:cNvSpPr>
          <p:nvPr>
            <p:ph idx="1"/>
          </p:nvPr>
        </p:nvSpPr>
        <p:spPr>
          <a:xfrm>
            <a:off x="838200" y="1825625"/>
            <a:ext cx="3112363" cy="4351338"/>
          </a:xfrm>
        </p:spPr>
        <p:txBody>
          <a:bodyPr>
            <a:normAutofit lnSpcReduction="10000"/>
          </a:bodyPr>
          <a:lstStyle/>
          <a:p>
            <a:pPr marL="0" indent="0">
              <a:buNone/>
            </a:pPr>
            <a:r>
              <a:rPr lang="fr-FR" sz="1200" dirty="0"/>
              <a:t>La méthode #OSG pour les communautés, ou #OpenSeriousCommunity se concentre sur la partie qu’on suppose générique (reproductible sur la plupart des communautés). </a:t>
            </a:r>
          </a:p>
          <a:p>
            <a:pPr marL="0" indent="0">
              <a:buNone/>
            </a:pPr>
            <a:r>
              <a:rPr lang="fr-FR" sz="1200" dirty="0"/>
              <a:t>Dans l’exécution, on peut rarement se contenter de travailler des points qui sont communs entre toutes les Communautés (comme tous les paramètres vus ici), il y a aussi énormément d’information locale spécifique à chaque Communauté.</a:t>
            </a:r>
          </a:p>
          <a:p>
            <a:pPr marL="0" indent="0">
              <a:buNone/>
            </a:pPr>
            <a:r>
              <a:rPr lang="fr-FR" sz="1200" dirty="0"/>
              <a:t>Ces informations locales spécifiques sont un aspect non couvert (par construction) par une méthode qui se veut générique. Également, il arrive que ces informations spécifiques entrent en contradiction avec des modèles voulus génériques. </a:t>
            </a:r>
          </a:p>
          <a:p>
            <a:pPr marL="0" indent="0">
              <a:buNone/>
            </a:pPr>
            <a:r>
              <a:rPr lang="fr-FR" sz="1200" dirty="0"/>
              <a:t>C’est alors l’occasion d’enrichir le modèle et de le faire évoluer, plutôt que de prendre un regard critique dogmatique et fermé sur un contexte réel « Vous ne correspondez pas à la théorie donc vous êtes mauvais ».</a:t>
            </a:r>
          </a:p>
          <a:p>
            <a:pPr marL="0" indent="0">
              <a:buNone/>
            </a:pPr>
            <a:r>
              <a:rPr lang="fr-FR" sz="1200" dirty="0"/>
              <a:t>Les pratiquants d’#OSG doivent rester humbles et ouverts à la remise en question, voire la rechercher activement s’ils en ont le luxe.</a:t>
            </a:r>
          </a:p>
        </p:txBody>
      </p:sp>
      <p:sp>
        <p:nvSpPr>
          <p:cNvPr id="5" name="Rectangle 4">
            <a:extLst>
              <a:ext uri="{FF2B5EF4-FFF2-40B4-BE49-F238E27FC236}">
                <a16:creationId xmlns:a16="http://schemas.microsoft.com/office/drawing/2014/main" id="{F321091F-E1AD-EB98-0586-A30F1318A7E9}"/>
              </a:ext>
            </a:extLst>
          </p:cNvPr>
          <p:cNvSpPr/>
          <p:nvPr/>
        </p:nvSpPr>
        <p:spPr>
          <a:xfrm>
            <a:off x="5326602" y="3307800"/>
            <a:ext cx="6560598" cy="710214"/>
          </a:xfrm>
          <a:prstGeom prst="rect">
            <a:avLst/>
          </a:prstGeom>
          <a:solidFill>
            <a:srgbClr val="3494BA">
              <a:alpha val="80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t>Grilles de lectures et informations </a:t>
            </a:r>
            <a:r>
              <a:rPr lang="fr-FR" sz="1000" b="1" dirty="0"/>
              <a:t>génériques</a:t>
            </a:r>
            <a:r>
              <a:rPr lang="fr-FR" sz="1000" dirty="0"/>
              <a:t> applicable à diverses communautés</a:t>
            </a:r>
          </a:p>
        </p:txBody>
      </p:sp>
      <p:grpSp>
        <p:nvGrpSpPr>
          <p:cNvPr id="14" name="Groupe 13">
            <a:extLst>
              <a:ext uri="{FF2B5EF4-FFF2-40B4-BE49-F238E27FC236}">
                <a16:creationId xmlns:a16="http://schemas.microsoft.com/office/drawing/2014/main" id="{B7B9719A-972B-1ED2-6918-4BCC13B987FF}"/>
              </a:ext>
            </a:extLst>
          </p:cNvPr>
          <p:cNvGrpSpPr/>
          <p:nvPr/>
        </p:nvGrpSpPr>
        <p:grpSpPr>
          <a:xfrm>
            <a:off x="6050518" y="1807099"/>
            <a:ext cx="804169" cy="751873"/>
            <a:chOff x="838200" y="2322576"/>
            <a:chExt cx="4325259" cy="4043980"/>
          </a:xfrm>
        </p:grpSpPr>
        <p:pic>
          <p:nvPicPr>
            <p:cNvPr id="10" name="Espace réservé du contenu 6" descr="Tribunal contour">
              <a:extLst>
                <a:ext uri="{FF2B5EF4-FFF2-40B4-BE49-F238E27FC236}">
                  <a16:creationId xmlns:a16="http://schemas.microsoft.com/office/drawing/2014/main" id="{3E628A53-DE3E-0F83-C87E-96B682297884}"/>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75101" r="8805" b="9752"/>
            <a:stretch/>
          </p:blipFill>
          <p:spPr>
            <a:xfrm>
              <a:off x="838200" y="5577840"/>
              <a:ext cx="4325259" cy="788716"/>
            </a:xfrm>
            <a:prstGeom prst="rect">
              <a:avLst/>
            </a:prstGeom>
          </p:spPr>
        </p:pic>
        <p:pic>
          <p:nvPicPr>
            <p:cNvPr id="11" name="Espace réservé du contenu 6" descr="Tribunal contour">
              <a:extLst>
                <a:ext uri="{FF2B5EF4-FFF2-40B4-BE49-F238E27FC236}">
                  <a16:creationId xmlns:a16="http://schemas.microsoft.com/office/drawing/2014/main" id="{386D619B-75B1-CDCD-FC04-414B49F76FBD}"/>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37523" r="8805" b="24898"/>
            <a:stretch/>
          </p:blipFill>
          <p:spPr>
            <a:xfrm>
              <a:off x="838200" y="3621024"/>
              <a:ext cx="4325259" cy="1956816"/>
            </a:xfrm>
            <a:prstGeom prst="rect">
              <a:avLst/>
            </a:prstGeom>
          </p:spPr>
        </p:pic>
        <p:pic>
          <p:nvPicPr>
            <p:cNvPr id="12" name="Espace réservé du contenu 6" descr="Tribunal contour">
              <a:extLst>
                <a:ext uri="{FF2B5EF4-FFF2-40B4-BE49-F238E27FC236}">
                  <a16:creationId xmlns:a16="http://schemas.microsoft.com/office/drawing/2014/main" id="{E6689F20-5CE7-BDB0-2271-31B230C5A99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838200" y="2322576"/>
              <a:ext cx="4325259" cy="1324928"/>
            </a:xfrm>
            <a:prstGeom prst="rect">
              <a:avLst/>
            </a:prstGeom>
          </p:spPr>
        </p:pic>
        <p:pic>
          <p:nvPicPr>
            <p:cNvPr id="13" name="Graphique 12" descr="Réussite du groupe avec un remplissage uni">
              <a:extLst>
                <a:ext uri="{FF2B5EF4-FFF2-40B4-BE49-F238E27FC236}">
                  <a16:creationId xmlns:a16="http://schemas.microsoft.com/office/drawing/2014/main" id="{1C134C44-73BC-72A7-55C6-0EF3DCAFC99B}"/>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3979" b="19010"/>
            <a:stretch/>
          </p:blipFill>
          <p:spPr>
            <a:xfrm>
              <a:off x="2141153" y="4425696"/>
              <a:ext cx="1719352" cy="1152144"/>
            </a:xfrm>
            <a:prstGeom prst="rect">
              <a:avLst/>
            </a:prstGeom>
          </p:spPr>
        </p:pic>
      </p:grpSp>
      <p:grpSp>
        <p:nvGrpSpPr>
          <p:cNvPr id="15" name="Groupe 14">
            <a:extLst>
              <a:ext uri="{FF2B5EF4-FFF2-40B4-BE49-F238E27FC236}">
                <a16:creationId xmlns:a16="http://schemas.microsoft.com/office/drawing/2014/main" id="{378631D2-E320-9448-5B02-48360E79A611}"/>
              </a:ext>
            </a:extLst>
          </p:cNvPr>
          <p:cNvGrpSpPr/>
          <p:nvPr/>
        </p:nvGrpSpPr>
        <p:grpSpPr>
          <a:xfrm>
            <a:off x="7593607" y="1801026"/>
            <a:ext cx="804169" cy="751873"/>
            <a:chOff x="838200" y="2322576"/>
            <a:chExt cx="4325259" cy="4043980"/>
          </a:xfrm>
        </p:grpSpPr>
        <p:pic>
          <p:nvPicPr>
            <p:cNvPr id="16" name="Espace réservé du contenu 6" descr="Tribunal contour">
              <a:extLst>
                <a:ext uri="{FF2B5EF4-FFF2-40B4-BE49-F238E27FC236}">
                  <a16:creationId xmlns:a16="http://schemas.microsoft.com/office/drawing/2014/main" id="{92B7AACC-E1D7-968E-AEAB-DADB13523A8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75101" r="8805" b="9752"/>
            <a:stretch/>
          </p:blipFill>
          <p:spPr>
            <a:xfrm>
              <a:off x="838200" y="5577840"/>
              <a:ext cx="4325259" cy="788716"/>
            </a:xfrm>
            <a:prstGeom prst="rect">
              <a:avLst/>
            </a:prstGeom>
          </p:spPr>
        </p:pic>
        <p:pic>
          <p:nvPicPr>
            <p:cNvPr id="17" name="Espace réservé du contenu 6" descr="Tribunal contour">
              <a:extLst>
                <a:ext uri="{FF2B5EF4-FFF2-40B4-BE49-F238E27FC236}">
                  <a16:creationId xmlns:a16="http://schemas.microsoft.com/office/drawing/2014/main" id="{5C7B9909-BF2E-3781-5D4E-E71BC5629B95}"/>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37523" r="8805" b="24898"/>
            <a:stretch/>
          </p:blipFill>
          <p:spPr>
            <a:xfrm>
              <a:off x="838200" y="3621024"/>
              <a:ext cx="4325259" cy="1956816"/>
            </a:xfrm>
            <a:prstGeom prst="rect">
              <a:avLst/>
            </a:prstGeom>
          </p:spPr>
        </p:pic>
        <p:pic>
          <p:nvPicPr>
            <p:cNvPr id="18" name="Espace réservé du contenu 6" descr="Tribunal contour">
              <a:extLst>
                <a:ext uri="{FF2B5EF4-FFF2-40B4-BE49-F238E27FC236}">
                  <a16:creationId xmlns:a16="http://schemas.microsoft.com/office/drawing/2014/main" id="{90DFD799-B4A8-8C16-4CAB-78F84CB544C0}"/>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838200" y="2322576"/>
              <a:ext cx="4325259" cy="1324928"/>
            </a:xfrm>
            <a:prstGeom prst="rect">
              <a:avLst/>
            </a:prstGeom>
          </p:spPr>
        </p:pic>
        <p:pic>
          <p:nvPicPr>
            <p:cNvPr id="19" name="Graphique 18" descr="Réussite du groupe avec un remplissage uni">
              <a:extLst>
                <a:ext uri="{FF2B5EF4-FFF2-40B4-BE49-F238E27FC236}">
                  <a16:creationId xmlns:a16="http://schemas.microsoft.com/office/drawing/2014/main" id="{6CD5B4F0-E1AA-6BEF-D1CB-74DE80499757}"/>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3979" b="19010"/>
            <a:stretch/>
          </p:blipFill>
          <p:spPr>
            <a:xfrm>
              <a:off x="2141153" y="4425696"/>
              <a:ext cx="1719352" cy="1152144"/>
            </a:xfrm>
            <a:prstGeom prst="rect">
              <a:avLst/>
            </a:prstGeom>
          </p:spPr>
        </p:pic>
      </p:grpSp>
      <p:grpSp>
        <p:nvGrpSpPr>
          <p:cNvPr id="20" name="Groupe 19">
            <a:extLst>
              <a:ext uri="{FF2B5EF4-FFF2-40B4-BE49-F238E27FC236}">
                <a16:creationId xmlns:a16="http://schemas.microsoft.com/office/drawing/2014/main" id="{8C759C03-C91F-D912-DE45-CADCE3969BDE}"/>
              </a:ext>
            </a:extLst>
          </p:cNvPr>
          <p:cNvGrpSpPr/>
          <p:nvPr/>
        </p:nvGrpSpPr>
        <p:grpSpPr>
          <a:xfrm>
            <a:off x="9049545" y="1801026"/>
            <a:ext cx="804169" cy="751873"/>
            <a:chOff x="838200" y="2322576"/>
            <a:chExt cx="4325259" cy="4043980"/>
          </a:xfrm>
        </p:grpSpPr>
        <p:pic>
          <p:nvPicPr>
            <p:cNvPr id="21" name="Espace réservé du contenu 6" descr="Tribunal contour">
              <a:extLst>
                <a:ext uri="{FF2B5EF4-FFF2-40B4-BE49-F238E27FC236}">
                  <a16:creationId xmlns:a16="http://schemas.microsoft.com/office/drawing/2014/main" id="{578F1AAC-D11E-EDBE-D057-6EE9BFEC7B79}"/>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75101" r="8805" b="9752"/>
            <a:stretch/>
          </p:blipFill>
          <p:spPr>
            <a:xfrm>
              <a:off x="838200" y="5577840"/>
              <a:ext cx="4325259" cy="788716"/>
            </a:xfrm>
            <a:prstGeom prst="rect">
              <a:avLst/>
            </a:prstGeom>
          </p:spPr>
        </p:pic>
        <p:pic>
          <p:nvPicPr>
            <p:cNvPr id="22" name="Espace réservé du contenu 6" descr="Tribunal contour">
              <a:extLst>
                <a:ext uri="{FF2B5EF4-FFF2-40B4-BE49-F238E27FC236}">
                  <a16:creationId xmlns:a16="http://schemas.microsoft.com/office/drawing/2014/main" id="{918A69F3-896A-86A8-70FF-367EC4D9B1A3}"/>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37523" r="8805" b="24898"/>
            <a:stretch/>
          </p:blipFill>
          <p:spPr>
            <a:xfrm>
              <a:off x="838200" y="3621024"/>
              <a:ext cx="4325259" cy="1956816"/>
            </a:xfrm>
            <a:prstGeom prst="rect">
              <a:avLst/>
            </a:prstGeom>
          </p:spPr>
        </p:pic>
        <p:pic>
          <p:nvPicPr>
            <p:cNvPr id="23" name="Espace réservé du contenu 6" descr="Tribunal contour">
              <a:extLst>
                <a:ext uri="{FF2B5EF4-FFF2-40B4-BE49-F238E27FC236}">
                  <a16:creationId xmlns:a16="http://schemas.microsoft.com/office/drawing/2014/main" id="{6DBEF478-C74D-9470-8D38-45962DADC048}"/>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838200" y="2322576"/>
              <a:ext cx="4325259" cy="1324928"/>
            </a:xfrm>
            <a:prstGeom prst="rect">
              <a:avLst/>
            </a:prstGeom>
          </p:spPr>
        </p:pic>
        <p:pic>
          <p:nvPicPr>
            <p:cNvPr id="24" name="Graphique 23" descr="Réussite du groupe avec un remplissage uni">
              <a:extLst>
                <a:ext uri="{FF2B5EF4-FFF2-40B4-BE49-F238E27FC236}">
                  <a16:creationId xmlns:a16="http://schemas.microsoft.com/office/drawing/2014/main" id="{3D046BAC-9420-1F56-F808-196B40358664}"/>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3979" b="19010"/>
            <a:stretch/>
          </p:blipFill>
          <p:spPr>
            <a:xfrm>
              <a:off x="2141153" y="4425696"/>
              <a:ext cx="1719352" cy="1152144"/>
            </a:xfrm>
            <a:prstGeom prst="rect">
              <a:avLst/>
            </a:prstGeom>
          </p:spPr>
        </p:pic>
      </p:grpSp>
      <p:grpSp>
        <p:nvGrpSpPr>
          <p:cNvPr id="25" name="Groupe 24">
            <a:extLst>
              <a:ext uri="{FF2B5EF4-FFF2-40B4-BE49-F238E27FC236}">
                <a16:creationId xmlns:a16="http://schemas.microsoft.com/office/drawing/2014/main" id="{DD82CF3B-D4DC-9BFA-BCFE-F912D8DCA7E2}"/>
              </a:ext>
            </a:extLst>
          </p:cNvPr>
          <p:cNvGrpSpPr/>
          <p:nvPr/>
        </p:nvGrpSpPr>
        <p:grpSpPr>
          <a:xfrm>
            <a:off x="10505483" y="1801026"/>
            <a:ext cx="804169" cy="751873"/>
            <a:chOff x="838200" y="2322576"/>
            <a:chExt cx="4325259" cy="4043980"/>
          </a:xfrm>
        </p:grpSpPr>
        <p:pic>
          <p:nvPicPr>
            <p:cNvPr id="26" name="Espace réservé du contenu 6" descr="Tribunal contour">
              <a:extLst>
                <a:ext uri="{FF2B5EF4-FFF2-40B4-BE49-F238E27FC236}">
                  <a16:creationId xmlns:a16="http://schemas.microsoft.com/office/drawing/2014/main" id="{C4990094-E278-1AA3-66EA-9E3E0C91CDD6}"/>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8133" t="75101" r="8805" b="9752"/>
            <a:stretch/>
          </p:blipFill>
          <p:spPr>
            <a:xfrm>
              <a:off x="838200" y="5577840"/>
              <a:ext cx="4325259" cy="788716"/>
            </a:xfrm>
            <a:prstGeom prst="rect">
              <a:avLst/>
            </a:prstGeom>
          </p:spPr>
        </p:pic>
        <p:pic>
          <p:nvPicPr>
            <p:cNvPr id="27" name="Espace réservé du contenu 6" descr="Tribunal contour">
              <a:extLst>
                <a:ext uri="{FF2B5EF4-FFF2-40B4-BE49-F238E27FC236}">
                  <a16:creationId xmlns:a16="http://schemas.microsoft.com/office/drawing/2014/main" id="{944D9CC7-0BE4-D917-4C7F-34E52C127362}"/>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l="8133" t="37523" r="8805" b="24898"/>
            <a:stretch/>
          </p:blipFill>
          <p:spPr>
            <a:xfrm>
              <a:off x="838200" y="3621024"/>
              <a:ext cx="4325259" cy="1956816"/>
            </a:xfrm>
            <a:prstGeom prst="rect">
              <a:avLst/>
            </a:prstGeom>
          </p:spPr>
        </p:pic>
        <p:pic>
          <p:nvPicPr>
            <p:cNvPr id="28" name="Espace réservé du contenu 6" descr="Tribunal contour">
              <a:extLst>
                <a:ext uri="{FF2B5EF4-FFF2-40B4-BE49-F238E27FC236}">
                  <a16:creationId xmlns:a16="http://schemas.microsoft.com/office/drawing/2014/main" id="{DBEDB313-5BA2-9B1B-49A8-0BBC03632C51}"/>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838200" y="2322576"/>
              <a:ext cx="4325259" cy="1324928"/>
            </a:xfrm>
            <a:prstGeom prst="rect">
              <a:avLst/>
            </a:prstGeom>
          </p:spPr>
        </p:pic>
        <p:pic>
          <p:nvPicPr>
            <p:cNvPr id="29" name="Graphique 28" descr="Réussite du groupe avec un remplissage uni">
              <a:extLst>
                <a:ext uri="{FF2B5EF4-FFF2-40B4-BE49-F238E27FC236}">
                  <a16:creationId xmlns:a16="http://schemas.microsoft.com/office/drawing/2014/main" id="{342818EF-D0AB-B557-59DA-79A091588F7D}"/>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t="13979" b="19010"/>
            <a:stretch/>
          </p:blipFill>
          <p:spPr>
            <a:xfrm>
              <a:off x="2141153" y="4425696"/>
              <a:ext cx="1719352" cy="1152144"/>
            </a:xfrm>
            <a:prstGeom prst="rect">
              <a:avLst/>
            </a:prstGeom>
          </p:spPr>
        </p:pic>
      </p:grpSp>
      <p:sp>
        <p:nvSpPr>
          <p:cNvPr id="30" name="Espace réservé du contenu 2">
            <a:extLst>
              <a:ext uri="{FF2B5EF4-FFF2-40B4-BE49-F238E27FC236}">
                <a16:creationId xmlns:a16="http://schemas.microsoft.com/office/drawing/2014/main" id="{6F863660-BD84-5527-ABD0-426CAEF185E8}"/>
              </a:ext>
            </a:extLst>
          </p:cNvPr>
          <p:cNvSpPr txBox="1">
            <a:spLocks/>
          </p:cNvSpPr>
          <p:nvPr/>
        </p:nvSpPr>
        <p:spPr>
          <a:xfrm>
            <a:off x="5862144" y="2512305"/>
            <a:ext cx="1180916" cy="26030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t>Communauté A</a:t>
            </a:r>
          </a:p>
        </p:txBody>
      </p:sp>
      <p:sp>
        <p:nvSpPr>
          <p:cNvPr id="31" name="Espace réservé du contenu 2">
            <a:extLst>
              <a:ext uri="{FF2B5EF4-FFF2-40B4-BE49-F238E27FC236}">
                <a16:creationId xmlns:a16="http://schemas.microsoft.com/office/drawing/2014/main" id="{DB29E5AC-A4C6-DAFA-65CD-FA924D83C55F}"/>
              </a:ext>
            </a:extLst>
          </p:cNvPr>
          <p:cNvSpPr txBox="1">
            <a:spLocks/>
          </p:cNvSpPr>
          <p:nvPr/>
        </p:nvSpPr>
        <p:spPr>
          <a:xfrm>
            <a:off x="7405233" y="2506232"/>
            <a:ext cx="1180916" cy="26030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t>Communauté B</a:t>
            </a:r>
          </a:p>
        </p:txBody>
      </p:sp>
      <p:sp>
        <p:nvSpPr>
          <p:cNvPr id="32" name="Espace réservé du contenu 2">
            <a:extLst>
              <a:ext uri="{FF2B5EF4-FFF2-40B4-BE49-F238E27FC236}">
                <a16:creationId xmlns:a16="http://schemas.microsoft.com/office/drawing/2014/main" id="{20D7ED49-D268-F386-DEAD-B979E70A25AC}"/>
              </a:ext>
            </a:extLst>
          </p:cNvPr>
          <p:cNvSpPr txBox="1">
            <a:spLocks/>
          </p:cNvSpPr>
          <p:nvPr/>
        </p:nvSpPr>
        <p:spPr>
          <a:xfrm>
            <a:off x="8861171" y="2501203"/>
            <a:ext cx="1180916" cy="26030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t>Communauté C</a:t>
            </a:r>
          </a:p>
        </p:txBody>
      </p:sp>
      <p:sp>
        <p:nvSpPr>
          <p:cNvPr id="33" name="Espace réservé du contenu 2">
            <a:extLst>
              <a:ext uri="{FF2B5EF4-FFF2-40B4-BE49-F238E27FC236}">
                <a16:creationId xmlns:a16="http://schemas.microsoft.com/office/drawing/2014/main" id="{67A0475B-DB46-1103-1590-E54DCC84937A}"/>
              </a:ext>
            </a:extLst>
          </p:cNvPr>
          <p:cNvSpPr txBox="1">
            <a:spLocks/>
          </p:cNvSpPr>
          <p:nvPr/>
        </p:nvSpPr>
        <p:spPr>
          <a:xfrm>
            <a:off x="10317109" y="2517519"/>
            <a:ext cx="1180916" cy="26030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fr-FR" sz="1200" dirty="0"/>
              <a:t>Communauté D</a:t>
            </a:r>
          </a:p>
        </p:txBody>
      </p:sp>
      <p:cxnSp>
        <p:nvCxnSpPr>
          <p:cNvPr id="35" name="Connecteur droit avec flèche 34">
            <a:extLst>
              <a:ext uri="{FF2B5EF4-FFF2-40B4-BE49-F238E27FC236}">
                <a16:creationId xmlns:a16="http://schemas.microsoft.com/office/drawing/2014/main" id="{20951737-6D00-C734-B995-3DC26986A205}"/>
              </a:ext>
            </a:extLst>
          </p:cNvPr>
          <p:cNvCxnSpPr>
            <a:cxnSpLocks/>
          </p:cNvCxnSpPr>
          <p:nvPr/>
        </p:nvCxnSpPr>
        <p:spPr>
          <a:xfrm flipV="1">
            <a:off x="5223878" y="3735568"/>
            <a:ext cx="406227" cy="122671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6878531B-7AA4-597F-4491-C2A8509B71B0}"/>
              </a:ext>
            </a:extLst>
          </p:cNvPr>
          <p:cNvSpPr/>
          <p:nvPr/>
        </p:nvSpPr>
        <p:spPr>
          <a:xfrm>
            <a:off x="5885062" y="4066397"/>
            <a:ext cx="1180915" cy="9857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1000" dirty="0">
                <a:solidFill>
                  <a:schemeClr val="bg1"/>
                </a:solidFill>
              </a:rPr>
              <a:t>Informations locales spécifiques qui ne concernent que la Communauté A</a:t>
            </a:r>
          </a:p>
        </p:txBody>
      </p:sp>
      <p:sp>
        <p:nvSpPr>
          <p:cNvPr id="43" name="ZoneTexte 42">
            <a:extLst>
              <a:ext uri="{FF2B5EF4-FFF2-40B4-BE49-F238E27FC236}">
                <a16:creationId xmlns:a16="http://schemas.microsoft.com/office/drawing/2014/main" id="{EC2713A4-F4D8-1B2F-A4B9-F375CB72839B}"/>
              </a:ext>
            </a:extLst>
          </p:cNvPr>
          <p:cNvSpPr txBox="1"/>
          <p:nvPr/>
        </p:nvSpPr>
        <p:spPr>
          <a:xfrm>
            <a:off x="4077771" y="5010661"/>
            <a:ext cx="1870911" cy="600164"/>
          </a:xfrm>
          <a:prstGeom prst="rect">
            <a:avLst/>
          </a:prstGeom>
          <a:noFill/>
        </p:spPr>
        <p:txBody>
          <a:bodyPr wrap="square">
            <a:spAutoFit/>
          </a:bodyPr>
          <a:lstStyle/>
          <a:p>
            <a:pPr algn="ctr"/>
            <a:r>
              <a:rPr lang="fr-FR" sz="1100" dirty="0">
                <a:solidFill>
                  <a:srgbClr val="3494BA"/>
                </a:solidFill>
              </a:rPr>
              <a:t>Méthode #OSG pour les Communautés</a:t>
            </a:r>
          </a:p>
          <a:p>
            <a:pPr algn="ctr"/>
            <a:r>
              <a:rPr lang="fr-FR" sz="1100" dirty="0">
                <a:solidFill>
                  <a:srgbClr val="3494BA"/>
                </a:solidFill>
              </a:rPr>
              <a:t>#OpenSeriousCommunity</a:t>
            </a:r>
          </a:p>
        </p:txBody>
      </p:sp>
      <p:sp>
        <p:nvSpPr>
          <p:cNvPr id="44" name="Rectangle 43">
            <a:extLst>
              <a:ext uri="{FF2B5EF4-FFF2-40B4-BE49-F238E27FC236}">
                <a16:creationId xmlns:a16="http://schemas.microsoft.com/office/drawing/2014/main" id="{9D333EAE-09C2-D856-529E-BBFF7D37EFA4}"/>
              </a:ext>
            </a:extLst>
          </p:cNvPr>
          <p:cNvSpPr/>
          <p:nvPr/>
        </p:nvSpPr>
        <p:spPr>
          <a:xfrm>
            <a:off x="7340999" y="4076848"/>
            <a:ext cx="1180915" cy="9857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sz="1000" dirty="0">
              <a:solidFill>
                <a:schemeClr val="tx1"/>
              </a:solidFill>
            </a:endParaRPr>
          </a:p>
        </p:txBody>
      </p:sp>
      <p:sp>
        <p:nvSpPr>
          <p:cNvPr id="45" name="Rectangle 44">
            <a:extLst>
              <a:ext uri="{FF2B5EF4-FFF2-40B4-BE49-F238E27FC236}">
                <a16:creationId xmlns:a16="http://schemas.microsoft.com/office/drawing/2014/main" id="{8150ACBB-B8FF-8FDE-83EB-0C163476E273}"/>
              </a:ext>
            </a:extLst>
          </p:cNvPr>
          <p:cNvSpPr/>
          <p:nvPr/>
        </p:nvSpPr>
        <p:spPr>
          <a:xfrm>
            <a:off x="8796937" y="4066397"/>
            <a:ext cx="1180915" cy="9857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sz="1000" dirty="0">
              <a:solidFill>
                <a:schemeClr val="tx1"/>
              </a:solidFill>
            </a:endParaRPr>
          </a:p>
        </p:txBody>
      </p:sp>
      <p:sp>
        <p:nvSpPr>
          <p:cNvPr id="46" name="Rectangle 45">
            <a:extLst>
              <a:ext uri="{FF2B5EF4-FFF2-40B4-BE49-F238E27FC236}">
                <a16:creationId xmlns:a16="http://schemas.microsoft.com/office/drawing/2014/main" id="{15CC111E-8290-9621-1A07-72156107B72A}"/>
              </a:ext>
            </a:extLst>
          </p:cNvPr>
          <p:cNvSpPr/>
          <p:nvPr/>
        </p:nvSpPr>
        <p:spPr>
          <a:xfrm>
            <a:off x="10252875" y="4066397"/>
            <a:ext cx="1180915" cy="985761"/>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sz="1000" dirty="0">
              <a:solidFill>
                <a:schemeClr val="tx1"/>
              </a:solidFill>
            </a:endParaRPr>
          </a:p>
        </p:txBody>
      </p:sp>
    </p:spTree>
    <p:extLst>
      <p:ext uri="{BB962C8B-B14F-4D97-AF65-F5344CB8AC3E}">
        <p14:creationId xmlns:p14="http://schemas.microsoft.com/office/powerpoint/2010/main" val="3338265784"/>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5615F3B-70D7-40DC-F095-D3FC49A3A09E}"/>
              </a:ext>
            </a:extLst>
          </p:cNvPr>
          <p:cNvSpPr>
            <a:spLocks noGrp="1"/>
          </p:cNvSpPr>
          <p:nvPr>
            <p:ph type="title"/>
          </p:nvPr>
        </p:nvSpPr>
        <p:spPr>
          <a:xfrm>
            <a:off x="838200" y="365125"/>
            <a:ext cx="10515600" cy="951147"/>
          </a:xfrm>
        </p:spPr>
        <p:txBody>
          <a:bodyPr>
            <a:noAutofit/>
          </a:bodyPr>
          <a:lstStyle/>
          <a:p>
            <a:r>
              <a:rPr lang="fr-FR" sz="3200" dirty="0"/>
              <a:t>Limites de hauteur de vue</a:t>
            </a:r>
            <a:br>
              <a:rPr lang="fr-FR" sz="3200" dirty="0"/>
            </a:br>
            <a:r>
              <a:rPr lang="fr-FR" sz="3200" dirty="0"/>
              <a:t>Aller chercher des compléments à d’autres hauteurs</a:t>
            </a:r>
          </a:p>
        </p:txBody>
      </p:sp>
      <p:sp>
        <p:nvSpPr>
          <p:cNvPr id="3" name="Espace réservé du contenu 2">
            <a:extLst>
              <a:ext uri="{FF2B5EF4-FFF2-40B4-BE49-F238E27FC236}">
                <a16:creationId xmlns:a16="http://schemas.microsoft.com/office/drawing/2014/main" id="{BAD4D2FC-5CFE-E4D1-DE4E-3DFAD858C012}"/>
              </a:ext>
            </a:extLst>
          </p:cNvPr>
          <p:cNvSpPr>
            <a:spLocks noGrp="1"/>
          </p:cNvSpPr>
          <p:nvPr>
            <p:ph idx="1"/>
          </p:nvPr>
        </p:nvSpPr>
        <p:spPr>
          <a:xfrm>
            <a:off x="471255" y="1689903"/>
            <a:ext cx="3040296" cy="4718989"/>
          </a:xfrm>
        </p:spPr>
        <p:txBody>
          <a:bodyPr>
            <a:normAutofit/>
          </a:bodyPr>
          <a:lstStyle/>
          <a:p>
            <a:pPr marL="0" indent="0">
              <a:buNone/>
            </a:pPr>
            <a:r>
              <a:rPr lang="fr-FR" sz="1400" dirty="0"/>
              <a:t>A date de la production de ce document, les contenus couverts par la méthode #OSG pour les Communautés / #OpenSeriousCommunity se concentrent surtout sur la hauteur tactique, avec autant que possible de l’adhérence avec les hauteurs stratégique et opérationnelle.</a:t>
            </a:r>
          </a:p>
          <a:p>
            <a:pPr marL="0" indent="0">
              <a:buNone/>
            </a:pPr>
            <a:r>
              <a:rPr lang="fr-FR" sz="1400" dirty="0"/>
              <a:t>Il est important pour tout pratiquant de s’ouvrir aux différentes hauteurs pour à la fois vivre la base « terre à terre » et saisir des mouvements de fond à très grande échelle. </a:t>
            </a:r>
          </a:p>
          <a:p>
            <a:pPr marL="0" indent="0">
              <a:buNone/>
            </a:pPr>
            <a:r>
              <a:rPr lang="fr-FR" sz="1400" dirty="0"/>
              <a:t>Sans cette ouverture, les risques sont par exemple de perdre tout réalisme de terrain, ou encore de ne jamais savoir s’aligner ou exploiter des tendances à très grande échelle.</a:t>
            </a:r>
          </a:p>
          <a:p>
            <a:pPr marL="0" indent="0">
              <a:buNone/>
            </a:pPr>
            <a:r>
              <a:rPr lang="fr-FR" sz="1400" dirty="0"/>
              <a:t>Encore une fois, l’important est de rester humble et de continuer à apprendre et se développer à toutes les hauteurs.</a:t>
            </a:r>
          </a:p>
        </p:txBody>
      </p:sp>
      <p:pic>
        <p:nvPicPr>
          <p:cNvPr id="7" name="Graphique 6" descr="Tour médiévale avec un remplissage uni">
            <a:extLst>
              <a:ext uri="{FF2B5EF4-FFF2-40B4-BE49-F238E27FC236}">
                <a16:creationId xmlns:a16="http://schemas.microsoft.com/office/drawing/2014/main" id="{61DA6423-0662-6E82-5E76-EF8079AA2B0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061969" y="4013508"/>
            <a:ext cx="914400" cy="914400"/>
          </a:xfrm>
          <a:prstGeom prst="rect">
            <a:avLst/>
          </a:prstGeom>
        </p:spPr>
      </p:pic>
      <p:pic>
        <p:nvPicPr>
          <p:cNvPr id="9" name="Graphique 8" descr="Hélicoptère avec un remplissage uni">
            <a:extLst>
              <a:ext uri="{FF2B5EF4-FFF2-40B4-BE49-F238E27FC236}">
                <a16:creationId xmlns:a16="http://schemas.microsoft.com/office/drawing/2014/main" id="{60D5A92F-EB55-F6FB-B0B0-44962AD367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54572" y="2685482"/>
            <a:ext cx="914400" cy="914400"/>
          </a:xfrm>
          <a:prstGeom prst="rect">
            <a:avLst/>
          </a:prstGeom>
        </p:spPr>
      </p:pic>
      <p:pic>
        <p:nvPicPr>
          <p:cNvPr id="11" name="Graphique 10" descr="Satellite avec un remplissage uni">
            <a:extLst>
              <a:ext uri="{FF2B5EF4-FFF2-40B4-BE49-F238E27FC236}">
                <a16:creationId xmlns:a16="http://schemas.microsoft.com/office/drawing/2014/main" id="{CEF9ADA2-3DA5-2C57-EDB1-C3BBAFCF8B3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047173" y="1525750"/>
            <a:ext cx="914400" cy="914400"/>
          </a:xfrm>
          <a:prstGeom prst="rect">
            <a:avLst/>
          </a:prstGeom>
        </p:spPr>
      </p:pic>
      <p:pic>
        <p:nvPicPr>
          <p:cNvPr id="13" name="Graphique 12" descr="Paquet de graines avec un remplissage uni">
            <a:extLst>
              <a:ext uri="{FF2B5EF4-FFF2-40B4-BE49-F238E27FC236}">
                <a16:creationId xmlns:a16="http://schemas.microsoft.com/office/drawing/2014/main" id="{1A0F894C-49CB-E743-BCB7-40592135B87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047173" y="5537151"/>
            <a:ext cx="914400" cy="914400"/>
          </a:xfrm>
          <a:prstGeom prst="rect">
            <a:avLst/>
          </a:prstGeom>
        </p:spPr>
      </p:pic>
      <p:sp>
        <p:nvSpPr>
          <p:cNvPr id="14" name="Espace réservé du contenu 2">
            <a:extLst>
              <a:ext uri="{FF2B5EF4-FFF2-40B4-BE49-F238E27FC236}">
                <a16:creationId xmlns:a16="http://schemas.microsoft.com/office/drawing/2014/main" id="{96090AE2-AC81-8BF4-1E44-CFB5DAAA8774}"/>
              </a:ext>
            </a:extLst>
          </p:cNvPr>
          <p:cNvSpPr txBox="1">
            <a:spLocks/>
          </p:cNvSpPr>
          <p:nvPr/>
        </p:nvSpPr>
        <p:spPr>
          <a:xfrm>
            <a:off x="6961574" y="1525749"/>
            <a:ext cx="2679576" cy="471898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fr-FR" sz="1400" b="1" dirty="0"/>
              <a:t>Hauteur sociologique : </a:t>
            </a:r>
            <a:r>
              <a:rPr lang="fr-FR" sz="1400" dirty="0"/>
              <a:t>Théories sur les souhaits et intentions, étude des variations culturelles humaines ou civilisationnelles</a:t>
            </a:r>
          </a:p>
          <a:p>
            <a:pPr marL="0" indent="0">
              <a:buNone/>
            </a:pPr>
            <a:endParaRPr lang="fr-FR" sz="1400" dirty="0"/>
          </a:p>
          <a:p>
            <a:pPr marL="0" indent="0">
              <a:buNone/>
            </a:pPr>
            <a:r>
              <a:rPr lang="fr-FR" sz="1400" b="1" dirty="0"/>
              <a:t>Hauteur stratégique </a:t>
            </a:r>
            <a:r>
              <a:rPr lang="fr-FR" sz="1400" dirty="0"/>
              <a:t>: Pratique des souhaits et intentions, Stratégies, plans, longues visions, programmes</a:t>
            </a:r>
          </a:p>
          <a:p>
            <a:pPr marL="0" indent="0">
              <a:buNone/>
            </a:pPr>
            <a:endParaRPr lang="fr-FR" sz="1400" dirty="0"/>
          </a:p>
          <a:p>
            <a:pPr marL="0" indent="0">
              <a:buNone/>
            </a:pPr>
            <a:r>
              <a:rPr lang="fr-FR" sz="1400" b="1" dirty="0"/>
              <a:t>Hauteur tactique </a:t>
            </a:r>
            <a:r>
              <a:rPr lang="fr-FR" sz="1400" dirty="0"/>
              <a:t>: Théories sur le fonctionnement opérationnel, Compréhension des dynamiques, décisions de feuille de route, décisions de modalités, règles structurantes</a:t>
            </a:r>
          </a:p>
          <a:p>
            <a:pPr marL="0" indent="0">
              <a:buNone/>
            </a:pPr>
            <a:endParaRPr lang="fr-FR" sz="1400" dirty="0"/>
          </a:p>
          <a:p>
            <a:pPr marL="0" indent="0">
              <a:buNone/>
            </a:pPr>
            <a:r>
              <a:rPr lang="fr-FR" sz="1400" b="1" dirty="0"/>
              <a:t>Hauteur opérationnelle </a:t>
            </a:r>
            <a:r>
              <a:rPr lang="fr-FR" sz="1400" dirty="0"/>
              <a:t>: Pratique opérationnelle, Conception, expérience et facilitation des moments collectifs, production et publication des contenus, échanges quotidiens</a:t>
            </a:r>
          </a:p>
        </p:txBody>
      </p:sp>
      <p:sp>
        <p:nvSpPr>
          <p:cNvPr id="15" name="Accolade ouvrante 14">
            <a:extLst>
              <a:ext uri="{FF2B5EF4-FFF2-40B4-BE49-F238E27FC236}">
                <a16:creationId xmlns:a16="http://schemas.microsoft.com/office/drawing/2014/main" id="{B73C0364-C337-F4A4-4628-91B1306538CE}"/>
              </a:ext>
            </a:extLst>
          </p:cNvPr>
          <p:cNvSpPr/>
          <p:nvPr/>
        </p:nvSpPr>
        <p:spPr>
          <a:xfrm>
            <a:off x="5162637" y="3207372"/>
            <a:ext cx="795488" cy="2622436"/>
          </a:xfrm>
          <a:prstGeom prst="leftBrace">
            <a:avLst>
              <a:gd name="adj1" fmla="val 8333"/>
              <a:gd name="adj2" fmla="val 49643"/>
            </a:avLst>
          </a:prstGeom>
          <a:ln w="38100"/>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6" name="ZoneTexte 15">
            <a:extLst>
              <a:ext uri="{FF2B5EF4-FFF2-40B4-BE49-F238E27FC236}">
                <a16:creationId xmlns:a16="http://schemas.microsoft.com/office/drawing/2014/main" id="{2E08D5A0-6970-C847-4831-066F3A08CEE7}"/>
              </a:ext>
            </a:extLst>
          </p:cNvPr>
          <p:cNvSpPr txBox="1"/>
          <p:nvPr/>
        </p:nvSpPr>
        <p:spPr>
          <a:xfrm>
            <a:off x="3588762" y="4060037"/>
            <a:ext cx="1686420" cy="600164"/>
          </a:xfrm>
          <a:prstGeom prst="rect">
            <a:avLst/>
          </a:prstGeom>
          <a:noFill/>
        </p:spPr>
        <p:txBody>
          <a:bodyPr wrap="square">
            <a:spAutoFit/>
          </a:bodyPr>
          <a:lstStyle/>
          <a:p>
            <a:pPr algn="ctr"/>
            <a:r>
              <a:rPr lang="fr-FR" sz="1100" dirty="0">
                <a:solidFill>
                  <a:srgbClr val="3494BA"/>
                </a:solidFill>
              </a:rPr>
              <a:t>Méthode #OSG pour les Communautés</a:t>
            </a:r>
          </a:p>
          <a:p>
            <a:pPr algn="ctr"/>
            <a:r>
              <a:rPr lang="fr-FR" sz="1100" dirty="0">
                <a:solidFill>
                  <a:srgbClr val="3494BA"/>
                </a:solidFill>
              </a:rPr>
              <a:t>#OpenSeriousCommunity</a:t>
            </a:r>
          </a:p>
        </p:txBody>
      </p:sp>
      <p:sp>
        <p:nvSpPr>
          <p:cNvPr id="17" name="Rectangle 16">
            <a:extLst>
              <a:ext uri="{FF2B5EF4-FFF2-40B4-BE49-F238E27FC236}">
                <a16:creationId xmlns:a16="http://schemas.microsoft.com/office/drawing/2014/main" id="{D59FE195-EF46-EC96-9C20-A9AFF38226C1}"/>
              </a:ext>
            </a:extLst>
          </p:cNvPr>
          <p:cNvSpPr/>
          <p:nvPr/>
        </p:nvSpPr>
        <p:spPr>
          <a:xfrm>
            <a:off x="9641150" y="1551210"/>
            <a:ext cx="1130153" cy="6630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Articles de recherche</a:t>
            </a:r>
          </a:p>
          <a:p>
            <a:pPr algn="ctr"/>
            <a:r>
              <a:rPr lang="fr-FR" sz="1000" dirty="0">
                <a:solidFill>
                  <a:schemeClr val="bg1"/>
                </a:solidFill>
              </a:rPr>
              <a:t>Prospective</a:t>
            </a:r>
          </a:p>
        </p:txBody>
      </p:sp>
      <p:sp>
        <p:nvSpPr>
          <p:cNvPr id="18" name="Rectangle 17">
            <a:extLst>
              <a:ext uri="{FF2B5EF4-FFF2-40B4-BE49-F238E27FC236}">
                <a16:creationId xmlns:a16="http://schemas.microsoft.com/office/drawing/2014/main" id="{14D8CE8A-2C9F-E68F-9387-7778361BA031}"/>
              </a:ext>
            </a:extLst>
          </p:cNvPr>
          <p:cNvSpPr/>
          <p:nvPr/>
        </p:nvSpPr>
        <p:spPr>
          <a:xfrm>
            <a:off x="9641149" y="2855026"/>
            <a:ext cx="1130153" cy="6630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Stratégies d’entreprises, d’organisations</a:t>
            </a:r>
          </a:p>
        </p:txBody>
      </p:sp>
      <p:sp>
        <p:nvSpPr>
          <p:cNvPr id="19" name="Rectangle 18">
            <a:extLst>
              <a:ext uri="{FF2B5EF4-FFF2-40B4-BE49-F238E27FC236}">
                <a16:creationId xmlns:a16="http://schemas.microsoft.com/office/drawing/2014/main" id="{625AA899-D038-DBF1-6F0F-99ECC2DC8F3E}"/>
              </a:ext>
            </a:extLst>
          </p:cNvPr>
          <p:cNvSpPr/>
          <p:nvPr/>
        </p:nvSpPr>
        <p:spPr>
          <a:xfrm>
            <a:off x="9641149" y="3997134"/>
            <a:ext cx="1130153" cy="6630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Méthodes opérationnelles</a:t>
            </a:r>
          </a:p>
        </p:txBody>
      </p:sp>
      <p:sp>
        <p:nvSpPr>
          <p:cNvPr id="20" name="Rectangle 19">
            <a:extLst>
              <a:ext uri="{FF2B5EF4-FFF2-40B4-BE49-F238E27FC236}">
                <a16:creationId xmlns:a16="http://schemas.microsoft.com/office/drawing/2014/main" id="{919ACB4C-6AC6-B66F-457B-B3AAB4998186}"/>
              </a:ext>
            </a:extLst>
          </p:cNvPr>
          <p:cNvSpPr/>
          <p:nvPr/>
        </p:nvSpPr>
        <p:spPr>
          <a:xfrm>
            <a:off x="9641148" y="5409241"/>
            <a:ext cx="1130153" cy="6630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Ateliers</a:t>
            </a:r>
          </a:p>
          <a:p>
            <a:pPr algn="ctr"/>
            <a:r>
              <a:rPr lang="fr-FR" sz="1000" dirty="0">
                <a:solidFill>
                  <a:schemeClr val="bg1"/>
                </a:solidFill>
              </a:rPr>
              <a:t>Facilitation</a:t>
            </a:r>
          </a:p>
        </p:txBody>
      </p:sp>
      <p:sp>
        <p:nvSpPr>
          <p:cNvPr id="21" name="Rectangle 20">
            <a:extLst>
              <a:ext uri="{FF2B5EF4-FFF2-40B4-BE49-F238E27FC236}">
                <a16:creationId xmlns:a16="http://schemas.microsoft.com/office/drawing/2014/main" id="{20641EA4-7B03-0194-B1DD-D08D08472877}"/>
              </a:ext>
            </a:extLst>
          </p:cNvPr>
          <p:cNvSpPr/>
          <p:nvPr/>
        </p:nvSpPr>
        <p:spPr>
          <a:xfrm>
            <a:off x="9641148" y="6149405"/>
            <a:ext cx="1130153" cy="6630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Pratiques opérationnelles</a:t>
            </a:r>
          </a:p>
          <a:p>
            <a:pPr algn="ctr"/>
            <a:r>
              <a:rPr lang="fr-FR" sz="1000" dirty="0">
                <a:solidFill>
                  <a:schemeClr val="bg1"/>
                </a:solidFill>
              </a:rPr>
              <a:t>Calendriers, Charges, Gestion</a:t>
            </a:r>
          </a:p>
        </p:txBody>
      </p:sp>
      <p:sp>
        <p:nvSpPr>
          <p:cNvPr id="22" name="Rectangle 21">
            <a:extLst>
              <a:ext uri="{FF2B5EF4-FFF2-40B4-BE49-F238E27FC236}">
                <a16:creationId xmlns:a16="http://schemas.microsoft.com/office/drawing/2014/main" id="{11BF4C5A-EE50-6CAB-C285-1DAF519277EB}"/>
              </a:ext>
            </a:extLst>
          </p:cNvPr>
          <p:cNvSpPr/>
          <p:nvPr/>
        </p:nvSpPr>
        <p:spPr>
          <a:xfrm>
            <a:off x="10875145" y="5409240"/>
            <a:ext cx="1130153" cy="6630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Interactions quotidiennes</a:t>
            </a:r>
          </a:p>
        </p:txBody>
      </p:sp>
      <p:sp>
        <p:nvSpPr>
          <p:cNvPr id="23" name="Rectangle 22">
            <a:extLst>
              <a:ext uri="{FF2B5EF4-FFF2-40B4-BE49-F238E27FC236}">
                <a16:creationId xmlns:a16="http://schemas.microsoft.com/office/drawing/2014/main" id="{0D90029D-1764-5743-D00F-8E160644A2FC}"/>
              </a:ext>
            </a:extLst>
          </p:cNvPr>
          <p:cNvSpPr/>
          <p:nvPr/>
        </p:nvSpPr>
        <p:spPr>
          <a:xfrm>
            <a:off x="10875144" y="1551210"/>
            <a:ext cx="1130153" cy="663067"/>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Constats statistiques massifs</a:t>
            </a:r>
          </a:p>
        </p:txBody>
      </p:sp>
    </p:spTree>
    <p:extLst>
      <p:ext uri="{BB962C8B-B14F-4D97-AF65-F5344CB8AC3E}">
        <p14:creationId xmlns:p14="http://schemas.microsoft.com/office/powerpoint/2010/main" val="2772751234"/>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466092A-F5C1-653E-79A5-2A1C31A16988}"/>
              </a:ext>
            </a:extLst>
          </p:cNvPr>
          <p:cNvSpPr>
            <a:spLocks noGrp="1"/>
          </p:cNvSpPr>
          <p:nvPr>
            <p:ph type="title"/>
          </p:nvPr>
        </p:nvSpPr>
        <p:spPr/>
        <p:txBody>
          <a:bodyPr>
            <a:noAutofit/>
          </a:bodyPr>
          <a:lstStyle/>
          <a:p>
            <a:r>
              <a:rPr lang="fr-FR" sz="3600" dirty="0"/>
              <a:t>Limites de l’approche par modèles</a:t>
            </a:r>
            <a:br>
              <a:rPr lang="fr-FR" sz="3600" dirty="0"/>
            </a:br>
            <a:r>
              <a:rPr lang="fr-FR" sz="3600" dirty="0"/>
              <a:t>Savoir remettre en question tous les modèles présentés</a:t>
            </a:r>
          </a:p>
        </p:txBody>
      </p:sp>
      <p:sp>
        <p:nvSpPr>
          <p:cNvPr id="3" name="Espace réservé du contenu 2">
            <a:extLst>
              <a:ext uri="{FF2B5EF4-FFF2-40B4-BE49-F238E27FC236}">
                <a16:creationId xmlns:a16="http://schemas.microsoft.com/office/drawing/2014/main" id="{679A9718-22EA-8BFE-8FCB-88E43371B7E1}"/>
              </a:ext>
            </a:extLst>
          </p:cNvPr>
          <p:cNvSpPr>
            <a:spLocks noGrp="1"/>
          </p:cNvSpPr>
          <p:nvPr>
            <p:ph idx="1"/>
          </p:nvPr>
        </p:nvSpPr>
        <p:spPr>
          <a:xfrm>
            <a:off x="963685" y="1826124"/>
            <a:ext cx="6281691" cy="4666751"/>
          </a:xfrm>
        </p:spPr>
        <p:txBody>
          <a:bodyPr>
            <a:normAutofit lnSpcReduction="10000"/>
          </a:bodyPr>
          <a:lstStyle/>
          <a:p>
            <a:r>
              <a:rPr lang="fr-FR" sz="1400" dirty="0"/>
              <a:t>Tous les modèles présentés sont établis sur la base d’approximations, de simplifications et d’expérience terrain. Ils sont faits pour faciliter la décision et l’opération des Communautés, pas la description parfaite d’une Communauté spécifique.</a:t>
            </a:r>
          </a:p>
          <a:p>
            <a:endParaRPr lang="fr-FR" sz="1400" dirty="0"/>
          </a:p>
          <a:p>
            <a:r>
              <a:rPr lang="fr-FR" sz="1400" dirty="0"/>
              <a:t>Les modèles présentés sont de nature comparable à un Business Model Canvas, qui pose des repères pratiques et supposés reproductibles entre situations (car suffisamment générique). Cela n’empêche pas de reconnaître que les questions liées à ces modèles sont fondamentalement complexes.</a:t>
            </a:r>
          </a:p>
          <a:p>
            <a:endParaRPr lang="fr-FR" sz="1400" dirty="0"/>
          </a:p>
          <a:p>
            <a:r>
              <a:rPr lang="fr-FR" sz="1400" dirty="0"/>
              <a:t>Intrinsèquement, tous les modèles sont faux et demandent surtout à être expérimentés et pratiqués. Ce sont des exercices pour développer de la vigilance et de la sensibilité à certains paramètres lorsqu’on doit mener une Communauté au quotidien et sur le terrain. Il n’y a pas d’intention de véracité théorique totale.</a:t>
            </a:r>
          </a:p>
          <a:p>
            <a:endParaRPr lang="fr-FR" sz="1400" dirty="0"/>
          </a:p>
          <a:p>
            <a:r>
              <a:rPr lang="fr-FR" sz="1400" dirty="0"/>
              <a:t>Le but est de mieux comprendre son contexte, pratiquer, et développer ses compétences par la pratique.</a:t>
            </a:r>
          </a:p>
          <a:p>
            <a:endParaRPr lang="fr-FR" sz="1400" dirty="0"/>
          </a:p>
          <a:p>
            <a:r>
              <a:rPr lang="fr-FR" sz="1400" dirty="0"/>
              <a:t>Un modèle est souvent incomplet par construction (d’où un grand nombre de sections « autres »), les listes d’actions proposées ne sont que des exemples.</a:t>
            </a:r>
          </a:p>
        </p:txBody>
      </p:sp>
      <p:pic>
        <p:nvPicPr>
          <p:cNvPr id="7" name="Graphique 6" descr="Contour de visage avec grimace avec un remplissage uni">
            <a:extLst>
              <a:ext uri="{FF2B5EF4-FFF2-40B4-BE49-F238E27FC236}">
                <a16:creationId xmlns:a16="http://schemas.microsoft.com/office/drawing/2014/main" id="{5DD5A0CE-505B-386D-CA21-8DC2DD8ACB7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731741" y="4248670"/>
            <a:ext cx="914400" cy="914400"/>
          </a:xfrm>
          <a:prstGeom prst="rect">
            <a:avLst/>
          </a:prstGeom>
        </p:spPr>
      </p:pic>
      <p:pic>
        <p:nvPicPr>
          <p:cNvPr id="9" name="Graphique 8" descr="Contour de visage neutre avec un remplissage uni">
            <a:extLst>
              <a:ext uri="{FF2B5EF4-FFF2-40B4-BE49-F238E27FC236}">
                <a16:creationId xmlns:a16="http://schemas.microsoft.com/office/drawing/2014/main" id="{D7F9AA4C-1017-A954-55DA-24C043FE18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731741" y="1741628"/>
            <a:ext cx="914400" cy="914400"/>
          </a:xfrm>
          <a:prstGeom prst="rect">
            <a:avLst/>
          </a:prstGeom>
        </p:spPr>
      </p:pic>
      <p:pic>
        <p:nvPicPr>
          <p:cNvPr id="11" name="Graphique 10" descr="Lunettes avec un remplissage uni">
            <a:extLst>
              <a:ext uri="{FF2B5EF4-FFF2-40B4-BE49-F238E27FC236}">
                <a16:creationId xmlns:a16="http://schemas.microsoft.com/office/drawing/2014/main" id="{1C913ED9-6BD6-7EC9-91A7-88E8D105AD1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731741" y="4199242"/>
            <a:ext cx="914400" cy="914400"/>
          </a:xfrm>
          <a:prstGeom prst="rect">
            <a:avLst/>
          </a:prstGeom>
        </p:spPr>
      </p:pic>
      <p:sp>
        <p:nvSpPr>
          <p:cNvPr id="12" name="Flèche : bas 11">
            <a:extLst>
              <a:ext uri="{FF2B5EF4-FFF2-40B4-BE49-F238E27FC236}">
                <a16:creationId xmlns:a16="http://schemas.microsoft.com/office/drawing/2014/main" id="{41486D94-4FBA-5DC7-96AD-53530EDAEA7E}"/>
              </a:ext>
            </a:extLst>
          </p:cNvPr>
          <p:cNvSpPr/>
          <p:nvPr/>
        </p:nvSpPr>
        <p:spPr>
          <a:xfrm>
            <a:off x="8863259" y="2965338"/>
            <a:ext cx="779319" cy="987136"/>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3" name="Graphique 12" descr="Lunettes avec un remplissage uni">
            <a:extLst>
              <a:ext uri="{FF2B5EF4-FFF2-40B4-BE49-F238E27FC236}">
                <a16:creationId xmlns:a16="http://schemas.microsoft.com/office/drawing/2014/main" id="{62B1CEFB-4F70-7620-D962-1AA38E3C0AE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795718" y="2842700"/>
            <a:ext cx="914400" cy="914400"/>
          </a:xfrm>
          <a:prstGeom prst="rect">
            <a:avLst/>
          </a:prstGeom>
        </p:spPr>
      </p:pic>
      <p:pic>
        <p:nvPicPr>
          <p:cNvPr id="14" name="Image 13">
            <a:extLst>
              <a:ext uri="{FF2B5EF4-FFF2-40B4-BE49-F238E27FC236}">
                <a16:creationId xmlns:a16="http://schemas.microsoft.com/office/drawing/2014/main" id="{DCD62DA0-0F9B-96CD-332A-EEA6388CCFD1}"/>
              </a:ext>
            </a:extLst>
          </p:cNvPr>
          <p:cNvPicPr>
            <a:picLocks noChangeAspect="1"/>
          </p:cNvPicPr>
          <p:nvPr/>
        </p:nvPicPr>
        <p:blipFill>
          <a:blip r:embed="rId8">
            <a:extLst>
              <a:ext uri="{BEBA8EAE-BF5A-486C-A8C5-ECC9F3942E4B}">
                <a14:imgProps xmlns:a14="http://schemas.microsoft.com/office/drawing/2010/main">
                  <a14:imgLayer r:embed="rId9">
                    <a14:imgEffect>
                      <a14:artisticBlur radius="50"/>
                    </a14:imgEffect>
                  </a14:imgLayer>
                </a14:imgProps>
              </a:ext>
              <a:ext uri="{28A0092B-C50C-407E-A947-70E740481C1C}">
                <a14:useLocalDpi xmlns:a14="http://schemas.microsoft.com/office/drawing/2010/main" val="0"/>
              </a:ext>
            </a:extLst>
          </a:blip>
          <a:stretch>
            <a:fillRect/>
          </a:stretch>
        </p:blipFill>
        <p:spPr>
          <a:xfrm>
            <a:off x="10355658" y="1610616"/>
            <a:ext cx="1132048" cy="1024234"/>
          </a:xfrm>
          <a:prstGeom prst="rect">
            <a:avLst/>
          </a:prstGeom>
        </p:spPr>
      </p:pic>
      <p:pic>
        <p:nvPicPr>
          <p:cNvPr id="15" name="Image 14">
            <a:extLst>
              <a:ext uri="{FF2B5EF4-FFF2-40B4-BE49-F238E27FC236}">
                <a16:creationId xmlns:a16="http://schemas.microsoft.com/office/drawing/2014/main" id="{70346F19-B842-8045-F565-6E7C82F5DF05}"/>
              </a:ext>
            </a:extLst>
          </p:cNvPr>
          <p:cNvPicPr>
            <a:picLocks noChangeAspect="1"/>
          </p:cNvPicPr>
          <p:nvPr/>
        </p:nvPicPr>
        <p:blipFill>
          <a:blip r:embed="rId10">
            <a:extLst>
              <a:ext uri="{BEBA8EAE-BF5A-486C-A8C5-ECC9F3942E4B}">
                <a14:imgProps xmlns:a14="http://schemas.microsoft.com/office/drawing/2010/main">
                  <a14:imgLayer r:embed="rId9">
                    <a14:imgEffect>
                      <a14:artisticBlur radius="5"/>
                    </a14:imgEffect>
                  </a14:imgLayer>
                </a14:imgProps>
              </a:ext>
              <a:ext uri="{28A0092B-C50C-407E-A947-70E740481C1C}">
                <a14:useLocalDpi xmlns:a14="http://schemas.microsoft.com/office/drawing/2010/main" val="0"/>
              </a:ext>
            </a:extLst>
          </a:blip>
          <a:stretch>
            <a:fillRect/>
          </a:stretch>
        </p:blipFill>
        <p:spPr>
          <a:xfrm>
            <a:off x="10355167" y="4108675"/>
            <a:ext cx="1132048" cy="1024234"/>
          </a:xfrm>
          <a:prstGeom prst="rect">
            <a:avLst/>
          </a:prstGeom>
        </p:spPr>
      </p:pic>
      <p:sp>
        <p:nvSpPr>
          <p:cNvPr id="17" name="ZoneTexte 16">
            <a:extLst>
              <a:ext uri="{FF2B5EF4-FFF2-40B4-BE49-F238E27FC236}">
                <a16:creationId xmlns:a16="http://schemas.microsoft.com/office/drawing/2014/main" id="{2808C710-271E-BF35-113C-D4663CAF2EE9}"/>
              </a:ext>
            </a:extLst>
          </p:cNvPr>
          <p:cNvSpPr txBox="1"/>
          <p:nvPr/>
        </p:nvSpPr>
        <p:spPr>
          <a:xfrm>
            <a:off x="8458158" y="5456460"/>
            <a:ext cx="3233733" cy="1169551"/>
          </a:xfrm>
          <a:prstGeom prst="rect">
            <a:avLst/>
          </a:prstGeom>
          <a:noFill/>
        </p:spPr>
        <p:txBody>
          <a:bodyPr wrap="square">
            <a:spAutoFit/>
          </a:bodyPr>
          <a:lstStyle/>
          <a:p>
            <a:pPr marL="0" indent="0">
              <a:buNone/>
            </a:pPr>
            <a:r>
              <a:rPr lang="fr-FR" sz="1400" dirty="0"/>
              <a:t>Un modèle peut changer la perception d’un observateur, mais rarement changer la nature complexe de l’objet observé. Chaque modèle introduit ses propres biais dont il faut avoir conscience.</a:t>
            </a:r>
          </a:p>
        </p:txBody>
      </p:sp>
      <p:sp>
        <p:nvSpPr>
          <p:cNvPr id="18" name="ZoneTexte 17">
            <a:extLst>
              <a:ext uri="{FF2B5EF4-FFF2-40B4-BE49-F238E27FC236}">
                <a16:creationId xmlns:a16="http://schemas.microsoft.com/office/drawing/2014/main" id="{FC0EADC3-B47C-E939-01CE-80C162E930CC}"/>
              </a:ext>
            </a:extLst>
          </p:cNvPr>
          <p:cNvSpPr txBox="1"/>
          <p:nvPr/>
        </p:nvSpPr>
        <p:spPr>
          <a:xfrm>
            <a:off x="7312917" y="3003745"/>
            <a:ext cx="1649222" cy="600164"/>
          </a:xfrm>
          <a:prstGeom prst="rect">
            <a:avLst/>
          </a:prstGeom>
          <a:noFill/>
        </p:spPr>
        <p:txBody>
          <a:bodyPr wrap="square">
            <a:spAutoFit/>
          </a:bodyPr>
          <a:lstStyle/>
          <a:p>
            <a:pPr algn="ctr"/>
            <a:r>
              <a:rPr lang="fr-FR" sz="1100" dirty="0">
                <a:solidFill>
                  <a:srgbClr val="3494BA"/>
                </a:solidFill>
              </a:rPr>
              <a:t>Méthode #OSG pour les Communautés</a:t>
            </a:r>
          </a:p>
          <a:p>
            <a:pPr algn="ctr"/>
            <a:r>
              <a:rPr lang="fr-FR" sz="1100" dirty="0">
                <a:solidFill>
                  <a:srgbClr val="3494BA"/>
                </a:solidFill>
              </a:rPr>
              <a:t>#OpenSeriousCommunity</a:t>
            </a:r>
          </a:p>
        </p:txBody>
      </p:sp>
    </p:spTree>
    <p:extLst>
      <p:ext uri="{BB962C8B-B14F-4D97-AF65-F5344CB8AC3E}">
        <p14:creationId xmlns:p14="http://schemas.microsoft.com/office/powerpoint/2010/main" val="3189545231"/>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Image 7">
            <a:extLst>
              <a:ext uri="{FF2B5EF4-FFF2-40B4-BE49-F238E27FC236}">
                <a16:creationId xmlns:a16="http://schemas.microsoft.com/office/drawing/2014/main" id="{002E1A62-2BF2-9AB2-5E50-4AE70C232894}"/>
              </a:ext>
            </a:extLst>
          </p:cNvPr>
          <p:cNvPicPr>
            <a:picLocks noChangeAspect="1"/>
          </p:cNvPicPr>
          <p:nvPr/>
        </p:nvPicPr>
        <p:blipFill>
          <a:blip r:embed="rId2">
            <a:extLst>
              <a:ext uri="{BEBA8EAE-BF5A-486C-A8C5-ECC9F3942E4B}">
                <a14:imgProps xmlns:a14="http://schemas.microsoft.com/office/drawing/2010/main">
                  <a14:imgLayer r:embed="rId3">
                    <a14:imgEffect>
                      <a14:artisticBlur radius="5"/>
                    </a14:imgEffect>
                  </a14:imgLayer>
                </a14:imgProps>
              </a:ext>
              <a:ext uri="{28A0092B-C50C-407E-A947-70E740481C1C}">
                <a14:useLocalDpi xmlns:a14="http://schemas.microsoft.com/office/drawing/2010/main" val="0"/>
              </a:ext>
            </a:extLst>
          </a:blip>
          <a:stretch>
            <a:fillRect/>
          </a:stretch>
        </p:blipFill>
        <p:spPr>
          <a:xfrm>
            <a:off x="5630340" y="2170430"/>
            <a:ext cx="1465096" cy="1325563"/>
          </a:xfrm>
          <a:prstGeom prst="rect">
            <a:avLst/>
          </a:prstGeom>
        </p:spPr>
      </p:pic>
      <p:pic>
        <p:nvPicPr>
          <p:cNvPr id="9" name="Image 8">
            <a:extLst>
              <a:ext uri="{FF2B5EF4-FFF2-40B4-BE49-F238E27FC236}">
                <a16:creationId xmlns:a16="http://schemas.microsoft.com/office/drawing/2014/main" id="{12E808C1-3E66-1283-9F89-7B0DB10A593C}"/>
              </a:ext>
            </a:extLst>
          </p:cNvPr>
          <p:cNvPicPr>
            <a:picLocks noChangeAspect="1"/>
          </p:cNvPicPr>
          <p:nvPr/>
        </p:nvPicPr>
        <p:blipFill>
          <a:blip r:embed="rId2">
            <a:extLst>
              <a:ext uri="{BEBA8EAE-BF5A-486C-A8C5-ECC9F3942E4B}">
                <a14:imgProps xmlns:a14="http://schemas.microsoft.com/office/drawing/2010/main">
                  <a14:imgLayer r:embed="rId3">
                    <a14:imgEffect>
                      <a14:artisticBlur radius="5"/>
                    </a14:imgEffect>
                  </a14:imgLayer>
                </a14:imgProps>
              </a:ext>
              <a:ext uri="{28A0092B-C50C-407E-A947-70E740481C1C}">
                <a14:useLocalDpi xmlns:a14="http://schemas.microsoft.com/office/drawing/2010/main" val="0"/>
              </a:ext>
            </a:extLst>
          </a:blip>
          <a:stretch>
            <a:fillRect/>
          </a:stretch>
        </p:blipFill>
        <p:spPr>
          <a:xfrm>
            <a:off x="7581695" y="2170430"/>
            <a:ext cx="1465096" cy="1325563"/>
          </a:xfrm>
          <a:prstGeom prst="rect">
            <a:avLst/>
          </a:prstGeom>
        </p:spPr>
      </p:pic>
      <p:pic>
        <p:nvPicPr>
          <p:cNvPr id="10" name="Image 9">
            <a:extLst>
              <a:ext uri="{FF2B5EF4-FFF2-40B4-BE49-F238E27FC236}">
                <a16:creationId xmlns:a16="http://schemas.microsoft.com/office/drawing/2014/main" id="{E0CEBA77-2D88-DC56-0C55-86BEF260DCF6}"/>
              </a:ext>
            </a:extLst>
          </p:cNvPr>
          <p:cNvPicPr>
            <a:picLocks noChangeAspect="1"/>
          </p:cNvPicPr>
          <p:nvPr/>
        </p:nvPicPr>
        <p:blipFill>
          <a:blip r:embed="rId2">
            <a:extLst>
              <a:ext uri="{BEBA8EAE-BF5A-486C-A8C5-ECC9F3942E4B}">
                <a14:imgProps xmlns:a14="http://schemas.microsoft.com/office/drawing/2010/main">
                  <a14:imgLayer r:embed="rId3">
                    <a14:imgEffect>
                      <a14:artisticBlur radius="5"/>
                    </a14:imgEffect>
                  </a14:imgLayer>
                </a14:imgProps>
              </a:ext>
              <a:ext uri="{28A0092B-C50C-407E-A947-70E740481C1C}">
                <a14:useLocalDpi xmlns:a14="http://schemas.microsoft.com/office/drawing/2010/main" val="0"/>
              </a:ext>
            </a:extLst>
          </a:blip>
          <a:stretch>
            <a:fillRect/>
          </a:stretch>
        </p:blipFill>
        <p:spPr>
          <a:xfrm>
            <a:off x="9585400" y="2170430"/>
            <a:ext cx="1465096" cy="1325563"/>
          </a:xfrm>
          <a:prstGeom prst="rect">
            <a:avLst/>
          </a:prstGeom>
        </p:spPr>
      </p:pic>
      <p:sp>
        <p:nvSpPr>
          <p:cNvPr id="2" name="Titre 1">
            <a:extLst>
              <a:ext uri="{FF2B5EF4-FFF2-40B4-BE49-F238E27FC236}">
                <a16:creationId xmlns:a16="http://schemas.microsoft.com/office/drawing/2014/main" id="{6E4458F9-F576-7D15-9A31-F67714EEB37E}"/>
              </a:ext>
            </a:extLst>
          </p:cNvPr>
          <p:cNvSpPr>
            <a:spLocks noGrp="1"/>
          </p:cNvSpPr>
          <p:nvPr>
            <p:ph type="title"/>
          </p:nvPr>
        </p:nvSpPr>
        <p:spPr/>
        <p:txBody>
          <a:bodyPr>
            <a:normAutofit/>
          </a:bodyPr>
          <a:lstStyle/>
          <a:p>
            <a:r>
              <a:rPr lang="fr-FR" sz="3200" dirty="0"/>
              <a:t>Limites de finesse des modèles présentés</a:t>
            </a:r>
            <a:br>
              <a:rPr lang="fr-FR" sz="3200" dirty="0"/>
            </a:br>
            <a:r>
              <a:rPr lang="fr-FR" sz="3200" dirty="0"/>
              <a:t>Oser chercher des contre-exemples pour affiner</a:t>
            </a:r>
          </a:p>
        </p:txBody>
      </p:sp>
      <p:sp>
        <p:nvSpPr>
          <p:cNvPr id="3" name="Espace réservé du contenu 2">
            <a:extLst>
              <a:ext uri="{FF2B5EF4-FFF2-40B4-BE49-F238E27FC236}">
                <a16:creationId xmlns:a16="http://schemas.microsoft.com/office/drawing/2014/main" id="{984313DD-9911-B261-1AD1-C7545F07FA22}"/>
              </a:ext>
            </a:extLst>
          </p:cNvPr>
          <p:cNvSpPr>
            <a:spLocks noGrp="1"/>
          </p:cNvSpPr>
          <p:nvPr>
            <p:ph idx="1"/>
          </p:nvPr>
        </p:nvSpPr>
        <p:spPr>
          <a:xfrm>
            <a:off x="838200" y="1825625"/>
            <a:ext cx="3629025" cy="4351338"/>
          </a:xfrm>
        </p:spPr>
        <p:txBody>
          <a:bodyPr>
            <a:normAutofit fontScale="85000" lnSpcReduction="10000"/>
          </a:bodyPr>
          <a:lstStyle/>
          <a:p>
            <a:r>
              <a:rPr lang="fr-FR" sz="1800" dirty="0"/>
              <a:t>Les modèles présentés ici sont limités par nature (ce sont des modèles)</a:t>
            </a:r>
          </a:p>
          <a:p>
            <a:endParaRPr lang="fr-FR" sz="1800" dirty="0"/>
          </a:p>
          <a:p>
            <a:r>
              <a:rPr lang="fr-FR" sz="1800" dirty="0"/>
              <a:t>Attention aux biais de confirmation que ces modèles peuvent créer, il est plus intéressant d’aller chercher la réfutation des modèles afin de les enrichir (les rendre plus fins ou plus complets) que de se restreindre à en  collecter les preuves.</a:t>
            </a:r>
          </a:p>
          <a:p>
            <a:endParaRPr lang="fr-FR" sz="1800" dirty="0"/>
          </a:p>
          <a:p>
            <a:r>
              <a:rPr lang="fr-FR" sz="1800" dirty="0"/>
              <a:t>Attention aux dogmes, gourous, logiques circulaires, voire fanatisme que des modèles peuvent créer.</a:t>
            </a:r>
          </a:p>
          <a:p>
            <a:endParaRPr lang="fr-FR" sz="1800" dirty="0"/>
          </a:p>
          <a:p>
            <a:r>
              <a:rPr lang="fr-FR" sz="1800" dirty="0"/>
              <a:t>Il est important également de savoir abandonner les modèles pour aborder les problématiques sur des angles totalement différents</a:t>
            </a:r>
          </a:p>
          <a:p>
            <a:endParaRPr lang="fr-FR" sz="1800" dirty="0"/>
          </a:p>
        </p:txBody>
      </p:sp>
      <p:graphicFrame>
        <p:nvGraphicFramePr>
          <p:cNvPr id="4" name="Tableau 4">
            <a:extLst>
              <a:ext uri="{FF2B5EF4-FFF2-40B4-BE49-F238E27FC236}">
                <a16:creationId xmlns:a16="http://schemas.microsoft.com/office/drawing/2014/main" id="{D56BFF34-F678-F808-4DBB-446AAA81F79B}"/>
              </a:ext>
            </a:extLst>
          </p:cNvPr>
          <p:cNvGraphicFramePr>
            <a:graphicFrameLocks noGrp="1"/>
          </p:cNvGraphicFramePr>
          <p:nvPr>
            <p:extLst>
              <p:ext uri="{D42A27DB-BD31-4B8C-83A1-F6EECF244321}">
                <p14:modId xmlns:p14="http://schemas.microsoft.com/office/powerpoint/2010/main" val="728138800"/>
              </p:ext>
            </p:extLst>
          </p:nvPr>
        </p:nvGraphicFramePr>
        <p:xfrm>
          <a:off x="5630340" y="2816195"/>
          <a:ext cx="764644" cy="751678"/>
        </p:xfrm>
        <a:graphic>
          <a:graphicData uri="http://schemas.openxmlformats.org/drawingml/2006/table">
            <a:tbl>
              <a:tblPr>
                <a:tableStyleId>{5C22544A-7EE6-4342-B048-85BDC9FD1C3A}</a:tableStyleId>
              </a:tblPr>
              <a:tblGrid>
                <a:gridCol w="382322">
                  <a:extLst>
                    <a:ext uri="{9D8B030D-6E8A-4147-A177-3AD203B41FA5}">
                      <a16:colId xmlns:a16="http://schemas.microsoft.com/office/drawing/2014/main" val="1041368694"/>
                    </a:ext>
                  </a:extLst>
                </a:gridCol>
                <a:gridCol w="382322">
                  <a:extLst>
                    <a:ext uri="{9D8B030D-6E8A-4147-A177-3AD203B41FA5}">
                      <a16:colId xmlns:a16="http://schemas.microsoft.com/office/drawing/2014/main" val="2084120349"/>
                    </a:ext>
                  </a:extLst>
                </a:gridCol>
              </a:tblGrid>
              <a:tr h="375839">
                <a:tc>
                  <a:txBody>
                    <a:bodyPr/>
                    <a:lstStyle/>
                    <a:p>
                      <a:endParaRPr lang="fr-FR" sz="1600"/>
                    </a:p>
                  </a:txBody>
                  <a:tcPr marL="130028" marR="130028" marT="65014" marB="65014">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1600" dirty="0"/>
                    </a:p>
                  </a:txBody>
                  <a:tcPr marL="130028" marR="130028" marT="65014" marB="65014">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62711608"/>
                  </a:ext>
                </a:extLst>
              </a:tr>
              <a:tr h="375839">
                <a:tc>
                  <a:txBody>
                    <a:bodyPr/>
                    <a:lstStyle/>
                    <a:p>
                      <a:endParaRPr lang="fr-FR" sz="1600"/>
                    </a:p>
                  </a:txBody>
                  <a:tcPr marL="130028" marR="130028" marT="65014" marB="65014">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1600" dirty="0"/>
                    </a:p>
                  </a:txBody>
                  <a:tcPr marL="130028" marR="130028" marT="65014" marB="65014">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0484879"/>
                  </a:ext>
                </a:extLst>
              </a:tr>
            </a:tbl>
          </a:graphicData>
        </a:graphic>
      </p:graphicFrame>
      <p:graphicFrame>
        <p:nvGraphicFramePr>
          <p:cNvPr id="6" name="Tableau 4">
            <a:extLst>
              <a:ext uri="{FF2B5EF4-FFF2-40B4-BE49-F238E27FC236}">
                <a16:creationId xmlns:a16="http://schemas.microsoft.com/office/drawing/2014/main" id="{5E3CD2D6-CAFC-00EA-276B-119FC94D374A}"/>
              </a:ext>
            </a:extLst>
          </p:cNvPr>
          <p:cNvGraphicFramePr>
            <a:graphicFrameLocks noGrp="1"/>
          </p:cNvGraphicFramePr>
          <p:nvPr>
            <p:extLst>
              <p:ext uri="{D42A27DB-BD31-4B8C-83A1-F6EECF244321}">
                <p14:modId xmlns:p14="http://schemas.microsoft.com/office/powerpoint/2010/main" val="623149000"/>
              </p:ext>
            </p:extLst>
          </p:nvPr>
        </p:nvGraphicFramePr>
        <p:xfrm>
          <a:off x="7537973" y="2499490"/>
          <a:ext cx="1144368" cy="1052538"/>
        </p:xfrm>
        <a:graphic>
          <a:graphicData uri="http://schemas.openxmlformats.org/drawingml/2006/table">
            <a:tbl>
              <a:tblPr>
                <a:tableStyleId>{5C22544A-7EE6-4342-B048-85BDC9FD1C3A}</a:tableStyleId>
              </a:tblPr>
              <a:tblGrid>
                <a:gridCol w="286092">
                  <a:extLst>
                    <a:ext uri="{9D8B030D-6E8A-4147-A177-3AD203B41FA5}">
                      <a16:colId xmlns:a16="http://schemas.microsoft.com/office/drawing/2014/main" val="1041368694"/>
                    </a:ext>
                  </a:extLst>
                </a:gridCol>
                <a:gridCol w="286092">
                  <a:extLst>
                    <a:ext uri="{9D8B030D-6E8A-4147-A177-3AD203B41FA5}">
                      <a16:colId xmlns:a16="http://schemas.microsoft.com/office/drawing/2014/main" val="2084120349"/>
                    </a:ext>
                  </a:extLst>
                </a:gridCol>
                <a:gridCol w="286092">
                  <a:extLst>
                    <a:ext uri="{9D8B030D-6E8A-4147-A177-3AD203B41FA5}">
                      <a16:colId xmlns:a16="http://schemas.microsoft.com/office/drawing/2014/main" val="2393670700"/>
                    </a:ext>
                  </a:extLst>
                </a:gridCol>
                <a:gridCol w="286092">
                  <a:extLst>
                    <a:ext uri="{9D8B030D-6E8A-4147-A177-3AD203B41FA5}">
                      <a16:colId xmlns:a16="http://schemas.microsoft.com/office/drawing/2014/main" val="3657497233"/>
                    </a:ext>
                  </a:extLst>
                </a:gridCol>
              </a:tblGrid>
              <a:tr h="350846">
                <a:tc>
                  <a:txBody>
                    <a:bodyPr/>
                    <a:lstStyle/>
                    <a:p>
                      <a:endParaRPr lang="fr-FR" sz="140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1400" dirty="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1400" dirty="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1400" dirty="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62711608"/>
                  </a:ext>
                </a:extLst>
              </a:tr>
              <a:tr h="350846">
                <a:tc>
                  <a:txBody>
                    <a:bodyPr/>
                    <a:lstStyle/>
                    <a:p>
                      <a:endParaRPr lang="fr-FR" sz="140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1400" dirty="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1400" dirty="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1400" dirty="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0484879"/>
                  </a:ext>
                </a:extLst>
              </a:tr>
              <a:tr h="350846">
                <a:tc>
                  <a:txBody>
                    <a:bodyPr/>
                    <a:lstStyle/>
                    <a:p>
                      <a:endParaRPr lang="fr-FR" sz="140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1400" dirty="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1400" dirty="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1400" dirty="0"/>
                    </a:p>
                  </a:txBody>
                  <a:tcPr marL="130346" marR="130346" marT="65173" marB="651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51205580"/>
                  </a:ext>
                </a:extLst>
              </a:tr>
            </a:tbl>
          </a:graphicData>
        </a:graphic>
      </p:graphicFrame>
      <p:graphicFrame>
        <p:nvGraphicFramePr>
          <p:cNvPr id="7" name="Tableau 4">
            <a:extLst>
              <a:ext uri="{FF2B5EF4-FFF2-40B4-BE49-F238E27FC236}">
                <a16:creationId xmlns:a16="http://schemas.microsoft.com/office/drawing/2014/main" id="{A0CECAC3-8A31-8887-83C9-11491671856F}"/>
              </a:ext>
            </a:extLst>
          </p:cNvPr>
          <p:cNvGraphicFramePr>
            <a:graphicFrameLocks noGrp="1"/>
          </p:cNvGraphicFramePr>
          <p:nvPr>
            <p:extLst>
              <p:ext uri="{D42A27DB-BD31-4B8C-83A1-F6EECF244321}">
                <p14:modId xmlns:p14="http://schemas.microsoft.com/office/powerpoint/2010/main" val="1135726668"/>
              </p:ext>
            </p:extLst>
          </p:nvPr>
        </p:nvGraphicFramePr>
        <p:xfrm>
          <a:off x="9585400" y="2411277"/>
          <a:ext cx="1128552" cy="1084716"/>
        </p:xfrm>
        <a:graphic>
          <a:graphicData uri="http://schemas.openxmlformats.org/drawingml/2006/table">
            <a:tbl>
              <a:tblPr>
                <a:tableStyleId>{5C22544A-7EE6-4342-B048-85BDC9FD1C3A}</a:tableStyleId>
              </a:tblPr>
              <a:tblGrid>
                <a:gridCol w="141069">
                  <a:extLst>
                    <a:ext uri="{9D8B030D-6E8A-4147-A177-3AD203B41FA5}">
                      <a16:colId xmlns:a16="http://schemas.microsoft.com/office/drawing/2014/main" val="1041368694"/>
                    </a:ext>
                  </a:extLst>
                </a:gridCol>
                <a:gridCol w="141069">
                  <a:extLst>
                    <a:ext uri="{9D8B030D-6E8A-4147-A177-3AD203B41FA5}">
                      <a16:colId xmlns:a16="http://schemas.microsoft.com/office/drawing/2014/main" val="2084120349"/>
                    </a:ext>
                  </a:extLst>
                </a:gridCol>
                <a:gridCol w="141069">
                  <a:extLst>
                    <a:ext uri="{9D8B030D-6E8A-4147-A177-3AD203B41FA5}">
                      <a16:colId xmlns:a16="http://schemas.microsoft.com/office/drawing/2014/main" val="2393670700"/>
                    </a:ext>
                  </a:extLst>
                </a:gridCol>
                <a:gridCol w="141069">
                  <a:extLst>
                    <a:ext uri="{9D8B030D-6E8A-4147-A177-3AD203B41FA5}">
                      <a16:colId xmlns:a16="http://schemas.microsoft.com/office/drawing/2014/main" val="3657497233"/>
                    </a:ext>
                  </a:extLst>
                </a:gridCol>
                <a:gridCol w="141069">
                  <a:extLst>
                    <a:ext uri="{9D8B030D-6E8A-4147-A177-3AD203B41FA5}">
                      <a16:colId xmlns:a16="http://schemas.microsoft.com/office/drawing/2014/main" val="1150568107"/>
                    </a:ext>
                  </a:extLst>
                </a:gridCol>
                <a:gridCol w="141069">
                  <a:extLst>
                    <a:ext uri="{9D8B030D-6E8A-4147-A177-3AD203B41FA5}">
                      <a16:colId xmlns:a16="http://schemas.microsoft.com/office/drawing/2014/main" val="191380110"/>
                    </a:ext>
                  </a:extLst>
                </a:gridCol>
                <a:gridCol w="141069">
                  <a:extLst>
                    <a:ext uri="{9D8B030D-6E8A-4147-A177-3AD203B41FA5}">
                      <a16:colId xmlns:a16="http://schemas.microsoft.com/office/drawing/2014/main" val="1335068100"/>
                    </a:ext>
                  </a:extLst>
                </a:gridCol>
                <a:gridCol w="141069">
                  <a:extLst>
                    <a:ext uri="{9D8B030D-6E8A-4147-A177-3AD203B41FA5}">
                      <a16:colId xmlns:a16="http://schemas.microsoft.com/office/drawing/2014/main" val="2524716878"/>
                    </a:ext>
                  </a:extLst>
                </a:gridCol>
              </a:tblGrid>
              <a:tr h="175423">
                <a:tc>
                  <a:txBody>
                    <a:bodyPr/>
                    <a:lstStyle/>
                    <a:p>
                      <a:endParaRPr lang="fr-FR" sz="90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62711608"/>
                  </a:ext>
                </a:extLst>
              </a:tr>
              <a:tr h="175423">
                <a:tc>
                  <a:txBody>
                    <a:bodyPr/>
                    <a:lstStyle/>
                    <a:p>
                      <a:endParaRPr lang="fr-FR" sz="90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0484879"/>
                  </a:ext>
                </a:extLst>
              </a:tr>
              <a:tr h="175423">
                <a:tc>
                  <a:txBody>
                    <a:bodyPr/>
                    <a:lstStyle/>
                    <a:p>
                      <a:endParaRPr lang="fr-FR" sz="90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51205580"/>
                  </a:ext>
                </a:extLst>
              </a:tr>
              <a:tr h="175423">
                <a:tc>
                  <a:txBody>
                    <a:bodyPr/>
                    <a:lstStyle/>
                    <a:p>
                      <a:endParaRPr lang="fr-FR" sz="90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05893140"/>
                  </a:ext>
                </a:extLst>
              </a:tr>
              <a:tr h="175423">
                <a:tc>
                  <a:txBody>
                    <a:bodyPr/>
                    <a:lstStyle/>
                    <a:p>
                      <a:endParaRPr lang="fr-FR" sz="90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32848278"/>
                  </a:ext>
                </a:extLst>
              </a:tr>
              <a:tr h="175423">
                <a:tc>
                  <a:txBody>
                    <a:bodyPr/>
                    <a:lstStyle/>
                    <a:p>
                      <a:endParaRPr lang="fr-FR" sz="90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fr-FR" sz="900" dirty="0"/>
                    </a:p>
                  </a:txBody>
                  <a:tcPr marL="43627" marR="43627" marT="21813" marB="2181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04991231"/>
                  </a:ext>
                </a:extLst>
              </a:tr>
            </a:tbl>
          </a:graphicData>
        </a:graphic>
      </p:graphicFrame>
      <p:pic>
        <p:nvPicPr>
          <p:cNvPr id="11" name="Image 10">
            <a:extLst>
              <a:ext uri="{FF2B5EF4-FFF2-40B4-BE49-F238E27FC236}">
                <a16:creationId xmlns:a16="http://schemas.microsoft.com/office/drawing/2014/main" id="{786C17A7-4C14-4A1B-90D6-6CDB28F63FA3}"/>
              </a:ext>
            </a:extLst>
          </p:cNvPr>
          <p:cNvPicPr>
            <a:picLocks noChangeAspect="1"/>
          </p:cNvPicPr>
          <p:nvPr/>
        </p:nvPicPr>
        <p:blipFill>
          <a:blip r:embed="rId2">
            <a:extLst>
              <a:ext uri="{BEBA8EAE-BF5A-486C-A8C5-ECC9F3942E4B}">
                <a14:imgProps xmlns:a14="http://schemas.microsoft.com/office/drawing/2010/main">
                  <a14:imgLayer r:embed="rId3">
                    <a14:imgEffect>
                      <a14:artisticBlur radius="5"/>
                    </a14:imgEffect>
                  </a14:imgLayer>
                </a14:imgProps>
              </a:ext>
              <a:ext uri="{28A0092B-C50C-407E-A947-70E740481C1C}">
                <a14:useLocalDpi xmlns:a14="http://schemas.microsoft.com/office/drawing/2010/main" val="0"/>
              </a:ext>
            </a:extLst>
          </a:blip>
          <a:stretch>
            <a:fillRect/>
          </a:stretch>
        </p:blipFill>
        <p:spPr>
          <a:xfrm>
            <a:off x="5630340" y="4518818"/>
            <a:ext cx="1465096" cy="1325563"/>
          </a:xfrm>
          <a:prstGeom prst="rect">
            <a:avLst/>
          </a:prstGeom>
        </p:spPr>
      </p:pic>
      <p:sp>
        <p:nvSpPr>
          <p:cNvPr id="13" name="Ellipse 12">
            <a:extLst>
              <a:ext uri="{FF2B5EF4-FFF2-40B4-BE49-F238E27FC236}">
                <a16:creationId xmlns:a16="http://schemas.microsoft.com/office/drawing/2014/main" id="{727B3C8B-9655-F9AD-65F9-2FAFAC03EC5F}"/>
              </a:ext>
            </a:extLst>
          </p:cNvPr>
          <p:cNvSpPr/>
          <p:nvPr/>
        </p:nvSpPr>
        <p:spPr>
          <a:xfrm>
            <a:off x="5602027" y="5048251"/>
            <a:ext cx="926306" cy="92630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Ellipse 13">
            <a:extLst>
              <a:ext uri="{FF2B5EF4-FFF2-40B4-BE49-F238E27FC236}">
                <a16:creationId xmlns:a16="http://schemas.microsoft.com/office/drawing/2014/main" id="{1AD15106-F7D7-6CF6-0AB8-FB118D98A582}"/>
              </a:ext>
            </a:extLst>
          </p:cNvPr>
          <p:cNvSpPr/>
          <p:nvPr/>
        </p:nvSpPr>
        <p:spPr>
          <a:xfrm>
            <a:off x="6100006" y="5048251"/>
            <a:ext cx="926306" cy="92630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Ellipse 14">
            <a:extLst>
              <a:ext uri="{FF2B5EF4-FFF2-40B4-BE49-F238E27FC236}">
                <a16:creationId xmlns:a16="http://schemas.microsoft.com/office/drawing/2014/main" id="{9167A472-A679-CCBB-4613-396A9694EE89}"/>
              </a:ext>
            </a:extLst>
          </p:cNvPr>
          <p:cNvSpPr/>
          <p:nvPr/>
        </p:nvSpPr>
        <p:spPr>
          <a:xfrm>
            <a:off x="6314170" y="4513218"/>
            <a:ext cx="926306" cy="92630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llipse 15">
            <a:extLst>
              <a:ext uri="{FF2B5EF4-FFF2-40B4-BE49-F238E27FC236}">
                <a16:creationId xmlns:a16="http://schemas.microsoft.com/office/drawing/2014/main" id="{2BDA919E-6AFC-3E9E-FC6F-36246D74C32F}"/>
              </a:ext>
            </a:extLst>
          </p:cNvPr>
          <p:cNvSpPr/>
          <p:nvPr/>
        </p:nvSpPr>
        <p:spPr>
          <a:xfrm>
            <a:off x="5670322" y="4513218"/>
            <a:ext cx="926306" cy="92630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717164147"/>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2E12E37-B223-2D4A-6870-C42DC6FD781D}"/>
              </a:ext>
            </a:extLst>
          </p:cNvPr>
          <p:cNvSpPr>
            <a:spLocks noGrp="1"/>
          </p:cNvSpPr>
          <p:nvPr>
            <p:ph type="title"/>
          </p:nvPr>
        </p:nvSpPr>
        <p:spPr/>
        <p:txBody>
          <a:bodyPr/>
          <a:lstStyle/>
          <a:p>
            <a:r>
              <a:rPr lang="fr-FR" dirty="0"/>
              <a:t>Limites dans le temps</a:t>
            </a:r>
            <a:br>
              <a:rPr lang="fr-FR" dirty="0"/>
            </a:br>
            <a:r>
              <a:rPr lang="fr-FR" dirty="0"/>
              <a:t>Oser et chercher à mettre à jour</a:t>
            </a:r>
          </a:p>
        </p:txBody>
      </p:sp>
      <p:sp>
        <p:nvSpPr>
          <p:cNvPr id="3" name="Espace réservé du contenu 2">
            <a:extLst>
              <a:ext uri="{FF2B5EF4-FFF2-40B4-BE49-F238E27FC236}">
                <a16:creationId xmlns:a16="http://schemas.microsoft.com/office/drawing/2014/main" id="{00C2C592-D865-2D2F-0B9E-7B4DCCC4DEAD}"/>
              </a:ext>
            </a:extLst>
          </p:cNvPr>
          <p:cNvSpPr>
            <a:spLocks noGrp="1"/>
          </p:cNvSpPr>
          <p:nvPr>
            <p:ph idx="1"/>
          </p:nvPr>
        </p:nvSpPr>
        <p:spPr>
          <a:xfrm>
            <a:off x="838200" y="1793289"/>
            <a:ext cx="4811451" cy="4776186"/>
          </a:xfrm>
        </p:spPr>
        <p:txBody>
          <a:bodyPr>
            <a:normAutofit fontScale="92500" lnSpcReduction="10000"/>
          </a:bodyPr>
          <a:lstStyle/>
          <a:p>
            <a:r>
              <a:rPr lang="fr-FR" sz="1400" dirty="0"/>
              <a:t>Ce document a été initié en 2021 et sa dernière édition date de 2022, sur la base d’expériences datant essentiellement des 15 années précédentes.</a:t>
            </a:r>
          </a:p>
          <a:p>
            <a:endParaRPr lang="fr-FR" sz="1400" dirty="0"/>
          </a:p>
          <a:p>
            <a:r>
              <a:rPr lang="fr-FR" sz="1400" dirty="0"/>
              <a:t>Les connaissances continuent à évoluer, s’enrichir de toutes parts, également chez les auteurs originaux, qui peuvent encore ajouter / changer / supprimer des éléments au fur et à mesure des éditions.</a:t>
            </a:r>
          </a:p>
          <a:p>
            <a:endParaRPr lang="fr-FR" sz="1400" dirty="0"/>
          </a:p>
          <a:p>
            <a:r>
              <a:rPr lang="fr-FR" sz="1400" dirty="0"/>
              <a:t>Avec l’avancement des connaissances humaines, la complétion par d’autres domaines, un pratiquant avancé a pour responsabilité de s’approprier suffisamment le contenu pour être capable de le remettre en question avec des contre-exemples réels et argumentés. </a:t>
            </a:r>
          </a:p>
          <a:p>
            <a:endParaRPr lang="fr-FR" sz="1400" dirty="0"/>
          </a:p>
          <a:p>
            <a:r>
              <a:rPr lang="fr-FR" sz="1400" dirty="0"/>
              <a:t>Idéalement, cette remise en question s’accompagne d’une mise à jour et d’un partage d’une nouvelle version. Cette nouvelle version vivra à son tour un usage d’ici les prochaines limites. </a:t>
            </a:r>
          </a:p>
          <a:p>
            <a:endParaRPr lang="fr-FR" sz="1400" dirty="0"/>
          </a:p>
          <a:p>
            <a:r>
              <a:rPr lang="fr-FR" sz="1400" dirty="0"/>
              <a:t>Ce qui est présenté dans ce document n’a pas vocation à devenir un savoir « traditionnel », persistant et inaltérable dans le temps, mais une base de conscience pratique, régulièrement mise à jour.</a:t>
            </a:r>
          </a:p>
          <a:p>
            <a:pPr marL="0" indent="0">
              <a:buNone/>
            </a:pPr>
            <a:endParaRPr lang="fr-FR" sz="1400" dirty="0"/>
          </a:p>
        </p:txBody>
      </p:sp>
      <p:sp>
        <p:nvSpPr>
          <p:cNvPr id="5" name="Rectangle 4">
            <a:extLst>
              <a:ext uri="{FF2B5EF4-FFF2-40B4-BE49-F238E27FC236}">
                <a16:creationId xmlns:a16="http://schemas.microsoft.com/office/drawing/2014/main" id="{2139BEFD-48CC-9E90-2756-E15CA974BF10}"/>
              </a:ext>
            </a:extLst>
          </p:cNvPr>
          <p:cNvSpPr/>
          <p:nvPr/>
        </p:nvSpPr>
        <p:spPr>
          <a:xfrm>
            <a:off x="5835649" y="2361148"/>
            <a:ext cx="4568980" cy="25229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Graphique 5" descr="Pyramide avec un remplissage uni">
            <a:extLst>
              <a:ext uri="{FF2B5EF4-FFF2-40B4-BE49-F238E27FC236}">
                <a16:creationId xmlns:a16="http://schemas.microsoft.com/office/drawing/2014/main" id="{C662A656-F675-6997-BA83-A650D3EC9CA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810770" y="3000575"/>
            <a:ext cx="692194" cy="692194"/>
          </a:xfrm>
          <a:prstGeom prst="rect">
            <a:avLst/>
          </a:prstGeom>
        </p:spPr>
      </p:pic>
      <p:cxnSp>
        <p:nvCxnSpPr>
          <p:cNvPr id="7" name="Connecteur droit avec flèche 6">
            <a:extLst>
              <a:ext uri="{FF2B5EF4-FFF2-40B4-BE49-F238E27FC236}">
                <a16:creationId xmlns:a16="http://schemas.microsoft.com/office/drawing/2014/main" id="{FB6B2C77-0067-63F1-F776-D2201AD0C6F0}"/>
              </a:ext>
            </a:extLst>
          </p:cNvPr>
          <p:cNvCxnSpPr>
            <a:cxnSpLocks/>
          </p:cNvCxnSpPr>
          <p:nvPr/>
        </p:nvCxnSpPr>
        <p:spPr>
          <a:xfrm>
            <a:off x="6270273" y="3751679"/>
            <a:ext cx="5599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9" name="Graphique 8" descr="Scène de château avec un remplissage uni">
            <a:extLst>
              <a:ext uri="{FF2B5EF4-FFF2-40B4-BE49-F238E27FC236}">
                <a16:creationId xmlns:a16="http://schemas.microsoft.com/office/drawing/2014/main" id="{C9E1D7D3-2C37-52DA-9D2D-6C07611B740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16461" y="3031202"/>
            <a:ext cx="630702" cy="630701"/>
          </a:xfrm>
          <a:prstGeom prst="rect">
            <a:avLst/>
          </a:prstGeom>
        </p:spPr>
      </p:pic>
      <p:pic>
        <p:nvPicPr>
          <p:cNvPr id="10" name="Graphique 9" descr="Feu de camp avec un remplissage uni">
            <a:extLst>
              <a:ext uri="{FF2B5EF4-FFF2-40B4-BE49-F238E27FC236}">
                <a16:creationId xmlns:a16="http://schemas.microsoft.com/office/drawing/2014/main" id="{D266B9C0-ACCF-01A1-8AE6-532772256D7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126796" y="3000575"/>
            <a:ext cx="630702" cy="630701"/>
          </a:xfrm>
          <a:prstGeom prst="rect">
            <a:avLst/>
          </a:prstGeom>
        </p:spPr>
      </p:pic>
      <p:pic>
        <p:nvPicPr>
          <p:cNvPr id="17" name="Graphique 16" descr="Soucoupe volante avec un remplissage uni">
            <a:extLst>
              <a:ext uri="{FF2B5EF4-FFF2-40B4-BE49-F238E27FC236}">
                <a16:creationId xmlns:a16="http://schemas.microsoft.com/office/drawing/2014/main" id="{02E0D760-F9B9-B179-FA9F-381AE78077E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030015" y="2825361"/>
            <a:ext cx="914400" cy="914400"/>
          </a:xfrm>
          <a:prstGeom prst="rect">
            <a:avLst/>
          </a:prstGeom>
        </p:spPr>
      </p:pic>
      <p:pic>
        <p:nvPicPr>
          <p:cNvPr id="19" name="Graphique 18" descr="Usine avec un remplissage uni">
            <a:extLst>
              <a:ext uri="{FF2B5EF4-FFF2-40B4-BE49-F238E27FC236}">
                <a16:creationId xmlns:a16="http://schemas.microsoft.com/office/drawing/2014/main" id="{39AF5D9A-1ABA-16D0-9D71-8B3EBBC5774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150788" y="2837279"/>
            <a:ext cx="914400" cy="914400"/>
          </a:xfrm>
          <a:prstGeom prst="rect">
            <a:avLst/>
          </a:prstGeom>
        </p:spPr>
      </p:pic>
      <p:pic>
        <p:nvPicPr>
          <p:cNvPr id="21" name="Graphique 20" descr="Bâtiment avec un remplissage uni">
            <a:extLst>
              <a:ext uri="{FF2B5EF4-FFF2-40B4-BE49-F238E27FC236}">
                <a16:creationId xmlns:a16="http://schemas.microsoft.com/office/drawing/2014/main" id="{308692E2-D805-5979-2D78-10F5C0D7EE80}"/>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985962" y="2807824"/>
            <a:ext cx="914400" cy="914400"/>
          </a:xfrm>
          <a:prstGeom prst="rect">
            <a:avLst/>
          </a:prstGeom>
        </p:spPr>
      </p:pic>
      <p:pic>
        <p:nvPicPr>
          <p:cNvPr id="23" name="Graphique 22" descr="Temple grec avec un remplissage uni">
            <a:extLst>
              <a:ext uri="{FF2B5EF4-FFF2-40B4-BE49-F238E27FC236}">
                <a16:creationId xmlns:a16="http://schemas.microsoft.com/office/drawing/2014/main" id="{FC910257-6424-B59F-6BA0-D8A78E6F6B66}"/>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7719048" y="3077228"/>
            <a:ext cx="511415" cy="586690"/>
          </a:xfrm>
          <a:prstGeom prst="rect">
            <a:avLst/>
          </a:prstGeom>
        </p:spPr>
      </p:pic>
      <p:sp>
        <p:nvSpPr>
          <p:cNvPr id="25" name="ZoneTexte 24">
            <a:extLst>
              <a:ext uri="{FF2B5EF4-FFF2-40B4-BE49-F238E27FC236}">
                <a16:creationId xmlns:a16="http://schemas.microsoft.com/office/drawing/2014/main" id="{9CD62E2E-26FA-52EF-1AAD-5CB336AA5F58}"/>
              </a:ext>
            </a:extLst>
          </p:cNvPr>
          <p:cNvSpPr txBox="1"/>
          <p:nvPr/>
        </p:nvSpPr>
        <p:spPr>
          <a:xfrm>
            <a:off x="9800795" y="4404374"/>
            <a:ext cx="1686420" cy="600164"/>
          </a:xfrm>
          <a:prstGeom prst="rect">
            <a:avLst/>
          </a:prstGeom>
          <a:noFill/>
        </p:spPr>
        <p:txBody>
          <a:bodyPr wrap="square">
            <a:spAutoFit/>
          </a:bodyPr>
          <a:lstStyle/>
          <a:p>
            <a:pPr algn="ctr"/>
            <a:r>
              <a:rPr lang="fr-FR" sz="1100" dirty="0">
                <a:solidFill>
                  <a:srgbClr val="3494BA"/>
                </a:solidFill>
              </a:rPr>
              <a:t>Méthode #OSG pour les Communautés</a:t>
            </a:r>
          </a:p>
          <a:p>
            <a:pPr algn="ctr"/>
            <a:r>
              <a:rPr lang="fr-FR" sz="1100" dirty="0">
                <a:solidFill>
                  <a:srgbClr val="3494BA"/>
                </a:solidFill>
              </a:rPr>
              <a:t>#OpenSeriousCommunity</a:t>
            </a:r>
          </a:p>
        </p:txBody>
      </p:sp>
      <p:cxnSp>
        <p:nvCxnSpPr>
          <p:cNvPr id="27" name="Connecteur droit avec flèche 26">
            <a:extLst>
              <a:ext uri="{FF2B5EF4-FFF2-40B4-BE49-F238E27FC236}">
                <a16:creationId xmlns:a16="http://schemas.microsoft.com/office/drawing/2014/main" id="{C6352DA7-1DCF-ABAE-FB6C-0F88C032BCDF}"/>
              </a:ext>
            </a:extLst>
          </p:cNvPr>
          <p:cNvCxnSpPr>
            <a:cxnSpLocks/>
            <a:stCxn id="25" idx="0"/>
          </p:cNvCxnSpPr>
          <p:nvPr/>
        </p:nvCxnSpPr>
        <p:spPr>
          <a:xfrm flipV="1">
            <a:off x="10644005" y="3692769"/>
            <a:ext cx="14259" cy="711605"/>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012041"/>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D781114-2F55-98B5-6604-5FD93B82D6D2}"/>
              </a:ext>
            </a:extLst>
          </p:cNvPr>
          <p:cNvSpPr>
            <a:spLocks noGrp="1"/>
          </p:cNvSpPr>
          <p:nvPr>
            <p:ph type="title"/>
          </p:nvPr>
        </p:nvSpPr>
        <p:spPr/>
        <p:txBody>
          <a:bodyPr>
            <a:normAutofit/>
          </a:bodyPr>
          <a:lstStyle/>
          <a:p>
            <a:r>
              <a:rPr lang="fr-FR" sz="4000" dirty="0"/>
              <a:t>Limites du contexte source et de transposition</a:t>
            </a:r>
            <a:br>
              <a:rPr lang="fr-FR" sz="4000" dirty="0"/>
            </a:br>
            <a:r>
              <a:rPr lang="fr-FR" sz="4000" dirty="0"/>
              <a:t>Savoir adapter à d’autres contextes</a:t>
            </a:r>
          </a:p>
        </p:txBody>
      </p:sp>
      <p:sp>
        <p:nvSpPr>
          <p:cNvPr id="3" name="Espace réservé du contenu 2">
            <a:extLst>
              <a:ext uri="{FF2B5EF4-FFF2-40B4-BE49-F238E27FC236}">
                <a16:creationId xmlns:a16="http://schemas.microsoft.com/office/drawing/2014/main" id="{711944AE-4AFD-2010-06E2-1D42F40534EA}"/>
              </a:ext>
            </a:extLst>
          </p:cNvPr>
          <p:cNvSpPr>
            <a:spLocks noGrp="1"/>
          </p:cNvSpPr>
          <p:nvPr>
            <p:ph idx="1"/>
          </p:nvPr>
        </p:nvSpPr>
        <p:spPr>
          <a:xfrm>
            <a:off x="838200" y="1825625"/>
            <a:ext cx="5367292" cy="4877016"/>
          </a:xfrm>
        </p:spPr>
        <p:txBody>
          <a:bodyPr>
            <a:normAutofit lnSpcReduction="10000"/>
          </a:bodyPr>
          <a:lstStyle/>
          <a:p>
            <a:r>
              <a:rPr lang="fr-FR" sz="1400" dirty="0"/>
              <a:t>La vocation de portée ultime de cette méthode n’est pas de servir les seuls intérêts d’une entreprise en particulier, mais de développer une science accessible, pratique et utilisable pour lier les personnes dans autant de contextes que possibles.</a:t>
            </a:r>
          </a:p>
          <a:p>
            <a:r>
              <a:rPr lang="fr-FR" sz="1400" dirty="0"/>
              <a:t>Cependant, la base source pour constituer ce contenu est essentiellement constituée d’entreprises.</a:t>
            </a:r>
          </a:p>
          <a:p>
            <a:r>
              <a:rPr lang="fr-FR" sz="1400" dirty="0"/>
              <a:t>Même s’il y a des Communautés partout, qu’elles soient officielles ou non, et que les paramètres mis en avant ont été rendus génériques pour être applicables dans un maximum de contextes, il est important pour tout pratiquant de rester vigilant et humble lorsqu’il s’agit de transposer ces modèles au-delà du monde des entreprises.</a:t>
            </a:r>
          </a:p>
          <a:p>
            <a:r>
              <a:rPr lang="fr-FR" sz="1400" dirty="0"/>
              <a:t>Certaines hypothèses de travail ont été considérée applicables systématiquement dans le monde de l’entreprise, si bien qu’elles n’ont pas toutes été mentionnées pour des raisons pratiques. </a:t>
            </a:r>
          </a:p>
          <a:p>
            <a:r>
              <a:rPr lang="fr-FR" sz="1400" dirty="0"/>
              <a:t>Il est important d’avoir conscience qu’il existe ces hypothèses de travail, et qu’on peut (voire doit) les remettre en question le jour où on cherche à transposer. Particulièrement, les contextes non professionnels ont d’autres règles implicites qui peuvent beaucoup changer le contenu présenté.</a:t>
            </a:r>
          </a:p>
          <a:p>
            <a:r>
              <a:rPr lang="fr-FR" sz="1400" dirty="0"/>
              <a:t>Par ailleurs, le travail de traduction / transposition / adaptation est souvent très intéressant pour mieux développer la compréhension des limites, et les pratiquants sont invités à s’exposer à des contextes différents également.</a:t>
            </a:r>
          </a:p>
        </p:txBody>
      </p:sp>
      <p:grpSp>
        <p:nvGrpSpPr>
          <p:cNvPr id="17" name="Groupe 16">
            <a:extLst>
              <a:ext uri="{FF2B5EF4-FFF2-40B4-BE49-F238E27FC236}">
                <a16:creationId xmlns:a16="http://schemas.microsoft.com/office/drawing/2014/main" id="{241FE67A-1E7A-3ADB-C2C2-51FFC277F997}"/>
              </a:ext>
            </a:extLst>
          </p:cNvPr>
          <p:cNvGrpSpPr/>
          <p:nvPr/>
        </p:nvGrpSpPr>
        <p:grpSpPr>
          <a:xfrm>
            <a:off x="6361971" y="2511736"/>
            <a:ext cx="1979674" cy="1184612"/>
            <a:chOff x="6525086" y="2760019"/>
            <a:chExt cx="3221181" cy="1927514"/>
          </a:xfrm>
        </p:grpSpPr>
        <p:pic>
          <p:nvPicPr>
            <p:cNvPr id="4" name="Graphique 3" descr="Bâtiment avec un remplissage uni">
              <a:extLst>
                <a:ext uri="{FF2B5EF4-FFF2-40B4-BE49-F238E27FC236}">
                  <a16:creationId xmlns:a16="http://schemas.microsoft.com/office/drawing/2014/main" id="{0B87E227-B4F4-116C-D196-18EB9823940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525086" y="3773133"/>
              <a:ext cx="914400" cy="914400"/>
            </a:xfrm>
            <a:prstGeom prst="rect">
              <a:avLst/>
            </a:prstGeom>
          </p:spPr>
        </p:pic>
        <p:pic>
          <p:nvPicPr>
            <p:cNvPr id="5" name="Graphique 4" descr="Bâtiment avec un remplissage uni">
              <a:extLst>
                <a:ext uri="{FF2B5EF4-FFF2-40B4-BE49-F238E27FC236}">
                  <a16:creationId xmlns:a16="http://schemas.microsoft.com/office/drawing/2014/main" id="{4369D081-9E6A-530C-8128-90277491A65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294013" y="3762742"/>
              <a:ext cx="914400" cy="914400"/>
            </a:xfrm>
            <a:prstGeom prst="rect">
              <a:avLst/>
            </a:prstGeom>
          </p:spPr>
        </p:pic>
        <p:pic>
          <p:nvPicPr>
            <p:cNvPr id="6" name="Graphique 5" descr="Bâtiment avec un remplissage uni">
              <a:extLst>
                <a:ext uri="{FF2B5EF4-FFF2-40B4-BE49-F238E27FC236}">
                  <a16:creationId xmlns:a16="http://schemas.microsoft.com/office/drawing/2014/main" id="{957E21BB-6B8F-A28C-8B78-626864A3F25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062940" y="3762742"/>
              <a:ext cx="914400" cy="914400"/>
            </a:xfrm>
            <a:prstGeom prst="rect">
              <a:avLst/>
            </a:prstGeom>
          </p:spPr>
        </p:pic>
        <p:pic>
          <p:nvPicPr>
            <p:cNvPr id="7" name="Graphique 6" descr="Bâtiment avec un remplissage uni">
              <a:extLst>
                <a:ext uri="{FF2B5EF4-FFF2-40B4-BE49-F238E27FC236}">
                  <a16:creationId xmlns:a16="http://schemas.microsoft.com/office/drawing/2014/main" id="{CC49A541-0434-2B4F-A44B-2F3657B3563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831867" y="3762742"/>
              <a:ext cx="914400" cy="914400"/>
            </a:xfrm>
            <a:prstGeom prst="rect">
              <a:avLst/>
            </a:prstGeom>
          </p:spPr>
        </p:pic>
        <p:pic>
          <p:nvPicPr>
            <p:cNvPr id="8" name="Graphique 7" descr="Bâtiment avec un remplissage uni">
              <a:extLst>
                <a:ext uri="{FF2B5EF4-FFF2-40B4-BE49-F238E27FC236}">
                  <a16:creationId xmlns:a16="http://schemas.microsoft.com/office/drawing/2014/main" id="{03EC683C-F28C-3536-B371-AFB073C43BE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520140" y="2775605"/>
              <a:ext cx="914400" cy="914400"/>
            </a:xfrm>
            <a:prstGeom prst="rect">
              <a:avLst/>
            </a:prstGeom>
          </p:spPr>
        </p:pic>
        <p:pic>
          <p:nvPicPr>
            <p:cNvPr id="9" name="Graphique 8" descr="Bâtiment avec un remplissage uni">
              <a:extLst>
                <a:ext uri="{FF2B5EF4-FFF2-40B4-BE49-F238E27FC236}">
                  <a16:creationId xmlns:a16="http://schemas.microsoft.com/office/drawing/2014/main" id="{15043D3C-3B7E-4ED4-9AF2-9C07BFACAB8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657290" y="2760019"/>
              <a:ext cx="914400" cy="914400"/>
            </a:xfrm>
            <a:prstGeom prst="rect">
              <a:avLst/>
            </a:prstGeom>
          </p:spPr>
        </p:pic>
        <p:pic>
          <p:nvPicPr>
            <p:cNvPr id="10" name="Graphique 9" descr="Bâtiment avec un remplissage uni">
              <a:extLst>
                <a:ext uri="{FF2B5EF4-FFF2-40B4-BE49-F238E27FC236}">
                  <a16:creationId xmlns:a16="http://schemas.microsoft.com/office/drawing/2014/main" id="{4C9106D0-E347-D5E9-7CB0-EBA34FB5983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836813" y="2775605"/>
              <a:ext cx="914400" cy="914400"/>
            </a:xfrm>
            <a:prstGeom prst="rect">
              <a:avLst/>
            </a:prstGeom>
          </p:spPr>
        </p:pic>
      </p:grpSp>
      <p:cxnSp>
        <p:nvCxnSpPr>
          <p:cNvPr id="11" name="Connecteur droit avec flèche 10">
            <a:extLst>
              <a:ext uri="{FF2B5EF4-FFF2-40B4-BE49-F238E27FC236}">
                <a16:creationId xmlns:a16="http://schemas.microsoft.com/office/drawing/2014/main" id="{D3A3354D-F10F-BEFD-6192-825D517C51B2}"/>
              </a:ext>
            </a:extLst>
          </p:cNvPr>
          <p:cNvCxnSpPr>
            <a:cxnSpLocks/>
          </p:cNvCxnSpPr>
          <p:nvPr/>
        </p:nvCxnSpPr>
        <p:spPr>
          <a:xfrm>
            <a:off x="7869078" y="3875471"/>
            <a:ext cx="340077" cy="768911"/>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 name="ZoneTexte 14">
            <a:extLst>
              <a:ext uri="{FF2B5EF4-FFF2-40B4-BE49-F238E27FC236}">
                <a16:creationId xmlns:a16="http://schemas.microsoft.com/office/drawing/2014/main" id="{F6A694EC-47C4-4410-830A-82F8EE95EE63}"/>
              </a:ext>
            </a:extLst>
          </p:cNvPr>
          <p:cNvSpPr txBox="1"/>
          <p:nvPr/>
        </p:nvSpPr>
        <p:spPr>
          <a:xfrm>
            <a:off x="7549991" y="4644382"/>
            <a:ext cx="1686420" cy="600164"/>
          </a:xfrm>
          <a:prstGeom prst="rect">
            <a:avLst/>
          </a:prstGeom>
          <a:noFill/>
        </p:spPr>
        <p:txBody>
          <a:bodyPr wrap="square">
            <a:spAutoFit/>
          </a:bodyPr>
          <a:lstStyle/>
          <a:p>
            <a:pPr algn="ctr"/>
            <a:r>
              <a:rPr lang="fr-FR" sz="1100" dirty="0">
                <a:solidFill>
                  <a:srgbClr val="3494BA"/>
                </a:solidFill>
              </a:rPr>
              <a:t>Méthode #OSG pour les Communautés</a:t>
            </a:r>
          </a:p>
          <a:p>
            <a:pPr algn="ctr"/>
            <a:r>
              <a:rPr lang="fr-FR" sz="1100" dirty="0">
                <a:solidFill>
                  <a:srgbClr val="3494BA"/>
                </a:solidFill>
              </a:rPr>
              <a:t>#OpenSeriousCommunity</a:t>
            </a:r>
          </a:p>
        </p:txBody>
      </p:sp>
      <p:sp>
        <p:nvSpPr>
          <p:cNvPr id="16" name="ZoneTexte 15">
            <a:extLst>
              <a:ext uri="{FF2B5EF4-FFF2-40B4-BE49-F238E27FC236}">
                <a16:creationId xmlns:a16="http://schemas.microsoft.com/office/drawing/2014/main" id="{5501108B-CCC9-46BB-2CCD-A79369D90040}"/>
              </a:ext>
            </a:extLst>
          </p:cNvPr>
          <p:cNvSpPr txBox="1"/>
          <p:nvPr/>
        </p:nvSpPr>
        <p:spPr>
          <a:xfrm>
            <a:off x="6327038" y="1914949"/>
            <a:ext cx="1926806" cy="523220"/>
          </a:xfrm>
          <a:prstGeom prst="rect">
            <a:avLst/>
          </a:prstGeom>
          <a:noFill/>
        </p:spPr>
        <p:txBody>
          <a:bodyPr wrap="square">
            <a:spAutoFit/>
          </a:bodyPr>
          <a:lstStyle/>
          <a:p>
            <a:pPr marL="0" indent="0" algn="ctr">
              <a:buNone/>
            </a:pPr>
            <a:r>
              <a:rPr lang="fr-FR" sz="1400" dirty="0"/>
              <a:t>Contextes sources (entreprises)</a:t>
            </a:r>
          </a:p>
        </p:txBody>
      </p:sp>
      <p:sp>
        <p:nvSpPr>
          <p:cNvPr id="19" name="ZoneTexte 18">
            <a:extLst>
              <a:ext uri="{FF2B5EF4-FFF2-40B4-BE49-F238E27FC236}">
                <a16:creationId xmlns:a16="http://schemas.microsoft.com/office/drawing/2014/main" id="{443CB84D-9454-F5C5-0C7B-513E94D8AA98}"/>
              </a:ext>
            </a:extLst>
          </p:cNvPr>
          <p:cNvSpPr txBox="1"/>
          <p:nvPr/>
        </p:nvSpPr>
        <p:spPr>
          <a:xfrm>
            <a:off x="8393201" y="1690688"/>
            <a:ext cx="1926806" cy="738664"/>
          </a:xfrm>
          <a:prstGeom prst="rect">
            <a:avLst/>
          </a:prstGeom>
          <a:noFill/>
        </p:spPr>
        <p:txBody>
          <a:bodyPr wrap="square">
            <a:spAutoFit/>
          </a:bodyPr>
          <a:lstStyle/>
          <a:p>
            <a:pPr marL="0" indent="0" algn="ctr">
              <a:buNone/>
            </a:pPr>
            <a:r>
              <a:rPr lang="fr-FR" sz="1400" dirty="0"/>
              <a:t>Contextes non  considérés similaires (entreprises)</a:t>
            </a:r>
          </a:p>
        </p:txBody>
      </p:sp>
      <p:grpSp>
        <p:nvGrpSpPr>
          <p:cNvPr id="20" name="Groupe 19">
            <a:extLst>
              <a:ext uri="{FF2B5EF4-FFF2-40B4-BE49-F238E27FC236}">
                <a16:creationId xmlns:a16="http://schemas.microsoft.com/office/drawing/2014/main" id="{945A839E-1E43-420A-4691-7EB32DDD69DE}"/>
              </a:ext>
            </a:extLst>
          </p:cNvPr>
          <p:cNvGrpSpPr/>
          <p:nvPr/>
        </p:nvGrpSpPr>
        <p:grpSpPr>
          <a:xfrm>
            <a:off x="8504364" y="2511736"/>
            <a:ext cx="1979674" cy="1184612"/>
            <a:chOff x="6525086" y="2760019"/>
            <a:chExt cx="3221181" cy="1927514"/>
          </a:xfrm>
          <a:solidFill>
            <a:schemeClr val="bg1">
              <a:lumMod val="65000"/>
            </a:schemeClr>
          </a:solidFill>
        </p:grpSpPr>
        <p:pic>
          <p:nvPicPr>
            <p:cNvPr id="21" name="Graphique 20" descr="Bâtiment avec un remplissage uni">
              <a:extLst>
                <a:ext uri="{FF2B5EF4-FFF2-40B4-BE49-F238E27FC236}">
                  <a16:creationId xmlns:a16="http://schemas.microsoft.com/office/drawing/2014/main" id="{BE5276E7-598E-5295-BBB8-F7776A243D3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525086" y="3773133"/>
              <a:ext cx="914400" cy="914400"/>
            </a:xfrm>
            <a:prstGeom prst="rect">
              <a:avLst/>
            </a:prstGeom>
          </p:spPr>
        </p:pic>
        <p:pic>
          <p:nvPicPr>
            <p:cNvPr id="22" name="Graphique 21" descr="Bâtiment avec un remplissage uni">
              <a:extLst>
                <a:ext uri="{FF2B5EF4-FFF2-40B4-BE49-F238E27FC236}">
                  <a16:creationId xmlns:a16="http://schemas.microsoft.com/office/drawing/2014/main" id="{4682BE07-C541-BA6E-19CA-F784BCA2202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294013" y="3762742"/>
              <a:ext cx="914400" cy="914400"/>
            </a:xfrm>
            <a:prstGeom prst="rect">
              <a:avLst/>
            </a:prstGeom>
          </p:spPr>
        </p:pic>
        <p:pic>
          <p:nvPicPr>
            <p:cNvPr id="23" name="Graphique 22" descr="Bâtiment avec un remplissage uni">
              <a:extLst>
                <a:ext uri="{FF2B5EF4-FFF2-40B4-BE49-F238E27FC236}">
                  <a16:creationId xmlns:a16="http://schemas.microsoft.com/office/drawing/2014/main" id="{BC761518-1D3F-0BC1-5645-BFDCD343230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062940" y="3762742"/>
              <a:ext cx="914400" cy="914400"/>
            </a:xfrm>
            <a:prstGeom prst="rect">
              <a:avLst/>
            </a:prstGeom>
          </p:spPr>
        </p:pic>
        <p:pic>
          <p:nvPicPr>
            <p:cNvPr id="24" name="Graphique 23" descr="Bâtiment avec un remplissage uni">
              <a:extLst>
                <a:ext uri="{FF2B5EF4-FFF2-40B4-BE49-F238E27FC236}">
                  <a16:creationId xmlns:a16="http://schemas.microsoft.com/office/drawing/2014/main" id="{8224E94D-75CB-C9FF-66FD-D79B7470004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831867" y="3762742"/>
              <a:ext cx="914400" cy="914400"/>
            </a:xfrm>
            <a:prstGeom prst="rect">
              <a:avLst/>
            </a:prstGeom>
          </p:spPr>
        </p:pic>
        <p:pic>
          <p:nvPicPr>
            <p:cNvPr id="25" name="Graphique 24" descr="Bâtiment avec un remplissage uni">
              <a:extLst>
                <a:ext uri="{FF2B5EF4-FFF2-40B4-BE49-F238E27FC236}">
                  <a16:creationId xmlns:a16="http://schemas.microsoft.com/office/drawing/2014/main" id="{141549C9-4B1E-FDAC-B427-F38C43EA510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520140" y="2775605"/>
              <a:ext cx="914400" cy="914400"/>
            </a:xfrm>
            <a:prstGeom prst="rect">
              <a:avLst/>
            </a:prstGeom>
          </p:spPr>
        </p:pic>
        <p:pic>
          <p:nvPicPr>
            <p:cNvPr id="26" name="Graphique 25" descr="Bâtiment avec un remplissage uni">
              <a:extLst>
                <a:ext uri="{FF2B5EF4-FFF2-40B4-BE49-F238E27FC236}">
                  <a16:creationId xmlns:a16="http://schemas.microsoft.com/office/drawing/2014/main" id="{FF9BD3BE-8CB2-024B-FC9D-3976E249EF8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657290" y="2760019"/>
              <a:ext cx="914400" cy="914400"/>
            </a:xfrm>
            <a:prstGeom prst="rect">
              <a:avLst/>
            </a:prstGeom>
          </p:spPr>
        </p:pic>
        <p:pic>
          <p:nvPicPr>
            <p:cNvPr id="27" name="Graphique 26" descr="Bâtiment avec un remplissage uni">
              <a:extLst>
                <a:ext uri="{FF2B5EF4-FFF2-40B4-BE49-F238E27FC236}">
                  <a16:creationId xmlns:a16="http://schemas.microsoft.com/office/drawing/2014/main" id="{121F6977-3520-2B90-4A82-080F03EC3E2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836813" y="2775605"/>
              <a:ext cx="914400" cy="914400"/>
            </a:xfrm>
            <a:prstGeom prst="rect">
              <a:avLst/>
            </a:prstGeom>
          </p:spPr>
        </p:pic>
      </p:grpSp>
      <p:cxnSp>
        <p:nvCxnSpPr>
          <p:cNvPr id="28" name="Connecteur droit avec flèche 27">
            <a:extLst>
              <a:ext uri="{FF2B5EF4-FFF2-40B4-BE49-F238E27FC236}">
                <a16:creationId xmlns:a16="http://schemas.microsoft.com/office/drawing/2014/main" id="{1E8C7C57-ACB6-30F9-0A14-652A97712165}"/>
              </a:ext>
            </a:extLst>
          </p:cNvPr>
          <p:cNvCxnSpPr>
            <a:cxnSpLocks/>
          </p:cNvCxnSpPr>
          <p:nvPr/>
        </p:nvCxnSpPr>
        <p:spPr>
          <a:xfrm flipV="1">
            <a:off x="8838849" y="3911898"/>
            <a:ext cx="376497" cy="732484"/>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cxnSp>
        <p:nvCxnSpPr>
          <p:cNvPr id="31" name="Connecteur droit avec flèche 30">
            <a:extLst>
              <a:ext uri="{FF2B5EF4-FFF2-40B4-BE49-F238E27FC236}">
                <a16:creationId xmlns:a16="http://schemas.microsoft.com/office/drawing/2014/main" id="{A91E20D8-AF04-B320-26D3-F60782066FE3}"/>
              </a:ext>
            </a:extLst>
          </p:cNvPr>
          <p:cNvCxnSpPr>
            <a:cxnSpLocks/>
          </p:cNvCxnSpPr>
          <p:nvPr/>
        </p:nvCxnSpPr>
        <p:spPr>
          <a:xfrm>
            <a:off x="9306522" y="4944464"/>
            <a:ext cx="1075912" cy="0"/>
          </a:xfrm>
          <a:prstGeom prst="straightConnector1">
            <a:avLst/>
          </a:prstGeom>
          <a:ln w="76200">
            <a:solidFill>
              <a:srgbClr val="ED7D31"/>
            </a:solidFill>
            <a:tailEnd type="triangle"/>
          </a:ln>
        </p:spPr>
        <p:style>
          <a:lnRef idx="1">
            <a:schemeClr val="accent1"/>
          </a:lnRef>
          <a:fillRef idx="0">
            <a:schemeClr val="accent1"/>
          </a:fillRef>
          <a:effectRef idx="0">
            <a:schemeClr val="accent1"/>
          </a:effectRef>
          <a:fontRef idx="minor">
            <a:schemeClr val="tx1"/>
          </a:fontRef>
        </p:style>
      </p:cxnSp>
      <p:sp>
        <p:nvSpPr>
          <p:cNvPr id="33" name="ZoneTexte 32">
            <a:extLst>
              <a:ext uri="{FF2B5EF4-FFF2-40B4-BE49-F238E27FC236}">
                <a16:creationId xmlns:a16="http://schemas.microsoft.com/office/drawing/2014/main" id="{3DD15D5F-1585-8D8F-42E9-B38F13A5B6E0}"/>
              </a:ext>
            </a:extLst>
          </p:cNvPr>
          <p:cNvSpPr txBox="1"/>
          <p:nvPr/>
        </p:nvSpPr>
        <p:spPr>
          <a:xfrm>
            <a:off x="10421580" y="4016530"/>
            <a:ext cx="1175196" cy="523220"/>
          </a:xfrm>
          <a:prstGeom prst="rect">
            <a:avLst/>
          </a:prstGeom>
          <a:noFill/>
        </p:spPr>
        <p:txBody>
          <a:bodyPr wrap="square">
            <a:spAutoFit/>
          </a:bodyPr>
          <a:lstStyle/>
          <a:p>
            <a:pPr marL="0" indent="0" algn="ctr">
              <a:buNone/>
            </a:pPr>
            <a:r>
              <a:rPr lang="fr-FR" sz="1400" dirty="0"/>
              <a:t>Autres contextes</a:t>
            </a:r>
          </a:p>
        </p:txBody>
      </p:sp>
      <p:pic>
        <p:nvPicPr>
          <p:cNvPr id="35" name="Graphique 34" descr="Peinture rupestre avec un remplissage uni">
            <a:extLst>
              <a:ext uri="{FF2B5EF4-FFF2-40B4-BE49-F238E27FC236}">
                <a16:creationId xmlns:a16="http://schemas.microsoft.com/office/drawing/2014/main" id="{C9F772BC-CBA6-31F3-0874-15B59CD249F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626189" y="5860087"/>
            <a:ext cx="428556" cy="428556"/>
          </a:xfrm>
          <a:prstGeom prst="rect">
            <a:avLst/>
          </a:prstGeom>
        </p:spPr>
      </p:pic>
      <p:pic>
        <p:nvPicPr>
          <p:cNvPr id="37" name="Graphique 36" descr="Tente de cirque avec un remplissage uni">
            <a:extLst>
              <a:ext uri="{FF2B5EF4-FFF2-40B4-BE49-F238E27FC236}">
                <a16:creationId xmlns:a16="http://schemas.microsoft.com/office/drawing/2014/main" id="{21424A50-DC9C-FBD2-DAF1-87B0627941A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820894" y="5362899"/>
            <a:ext cx="428556" cy="428556"/>
          </a:xfrm>
          <a:prstGeom prst="rect">
            <a:avLst/>
          </a:prstGeom>
        </p:spPr>
      </p:pic>
      <p:pic>
        <p:nvPicPr>
          <p:cNvPr id="39" name="Graphique 38" descr="Chien avec un remplissage uni">
            <a:extLst>
              <a:ext uri="{FF2B5EF4-FFF2-40B4-BE49-F238E27FC236}">
                <a16:creationId xmlns:a16="http://schemas.microsoft.com/office/drawing/2014/main" id="{2B5F5B8E-1250-4DAB-5DF3-DD4E36119CA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1382498" y="5885645"/>
            <a:ext cx="428556" cy="428556"/>
          </a:xfrm>
          <a:prstGeom prst="rect">
            <a:avLst/>
          </a:prstGeom>
        </p:spPr>
      </p:pic>
      <p:pic>
        <p:nvPicPr>
          <p:cNvPr id="41" name="Graphique 40" descr="Scène de ferme avec un remplissage uni">
            <a:extLst>
              <a:ext uri="{FF2B5EF4-FFF2-40B4-BE49-F238E27FC236}">
                <a16:creationId xmlns:a16="http://schemas.microsoft.com/office/drawing/2014/main" id="{12B3D6D4-8EA0-4E9F-EC92-9B5C799867CE}"/>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1288596" y="5443842"/>
            <a:ext cx="428556" cy="428556"/>
          </a:xfrm>
          <a:prstGeom prst="rect">
            <a:avLst/>
          </a:prstGeom>
        </p:spPr>
      </p:pic>
      <p:pic>
        <p:nvPicPr>
          <p:cNvPr id="43" name="Graphique 42" descr="Scène de forêt avec un remplissage uni">
            <a:extLst>
              <a:ext uri="{FF2B5EF4-FFF2-40B4-BE49-F238E27FC236}">
                <a16:creationId xmlns:a16="http://schemas.microsoft.com/office/drawing/2014/main" id="{C15C4673-9E98-14AC-D1F5-C375A67CB89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0781748" y="4934343"/>
            <a:ext cx="428556" cy="428556"/>
          </a:xfrm>
          <a:prstGeom prst="rect">
            <a:avLst/>
          </a:prstGeom>
        </p:spPr>
      </p:pic>
      <p:pic>
        <p:nvPicPr>
          <p:cNvPr id="45" name="Graphique 44" descr="Gymnaste : routine au sol avec un remplissage uni">
            <a:extLst>
              <a:ext uri="{FF2B5EF4-FFF2-40B4-BE49-F238E27FC236}">
                <a16:creationId xmlns:a16="http://schemas.microsoft.com/office/drawing/2014/main" id="{FD520F75-B29E-C007-A61E-1CBB3639FA86}"/>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1249450" y="5040891"/>
            <a:ext cx="428556" cy="428556"/>
          </a:xfrm>
          <a:prstGeom prst="rect">
            <a:avLst/>
          </a:prstGeom>
        </p:spPr>
      </p:pic>
      <p:pic>
        <p:nvPicPr>
          <p:cNvPr id="47" name="Graphique 46" descr="Bâtiment amérindien avec un remplissage uni">
            <a:extLst>
              <a:ext uri="{FF2B5EF4-FFF2-40B4-BE49-F238E27FC236}">
                <a16:creationId xmlns:a16="http://schemas.microsoft.com/office/drawing/2014/main" id="{2786C2A4-DB9C-4123-810D-3890C7076C7E}"/>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1035172" y="4515908"/>
            <a:ext cx="428556" cy="428556"/>
          </a:xfrm>
          <a:prstGeom prst="rect">
            <a:avLst/>
          </a:prstGeom>
        </p:spPr>
      </p:pic>
      <p:sp>
        <p:nvSpPr>
          <p:cNvPr id="48" name="ZoneTexte 47">
            <a:extLst>
              <a:ext uri="{FF2B5EF4-FFF2-40B4-BE49-F238E27FC236}">
                <a16:creationId xmlns:a16="http://schemas.microsoft.com/office/drawing/2014/main" id="{30C9A809-1AC0-F6A2-FF7D-026A437A0156}"/>
              </a:ext>
            </a:extLst>
          </p:cNvPr>
          <p:cNvSpPr txBox="1"/>
          <p:nvPr/>
        </p:nvSpPr>
        <p:spPr>
          <a:xfrm>
            <a:off x="9470262" y="4979617"/>
            <a:ext cx="997609" cy="600164"/>
          </a:xfrm>
          <a:prstGeom prst="rect">
            <a:avLst/>
          </a:prstGeom>
          <a:noFill/>
        </p:spPr>
        <p:txBody>
          <a:bodyPr wrap="square">
            <a:spAutoFit/>
          </a:bodyPr>
          <a:lstStyle/>
          <a:p>
            <a:pPr algn="ctr"/>
            <a:r>
              <a:rPr lang="fr-FR" sz="1100" dirty="0">
                <a:solidFill>
                  <a:srgbClr val="ED7D31"/>
                </a:solidFill>
              </a:rPr>
              <a:t>Redoubler de vigilance à la transposition</a:t>
            </a:r>
          </a:p>
        </p:txBody>
      </p:sp>
    </p:spTree>
    <p:extLst>
      <p:ext uri="{BB962C8B-B14F-4D97-AF65-F5344CB8AC3E}">
        <p14:creationId xmlns:p14="http://schemas.microsoft.com/office/powerpoint/2010/main" val="4178536596"/>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B2592C4-9DF9-71A6-986D-DECDD72CAB77}"/>
              </a:ext>
            </a:extLst>
          </p:cNvPr>
          <p:cNvSpPr>
            <a:spLocks noGrp="1"/>
          </p:cNvSpPr>
          <p:nvPr>
            <p:ph type="title"/>
          </p:nvPr>
        </p:nvSpPr>
        <p:spPr/>
        <p:txBody>
          <a:bodyPr/>
          <a:lstStyle/>
          <a:p>
            <a:r>
              <a:rPr lang="fr-FR" dirty="0"/>
              <a:t>Limites et disciplines à la frontière</a:t>
            </a:r>
            <a:br>
              <a:rPr lang="fr-FR" dirty="0"/>
            </a:br>
            <a:r>
              <a:rPr lang="fr-FR" dirty="0"/>
              <a:t>S’intéresser à d’autres domaines</a:t>
            </a:r>
          </a:p>
        </p:txBody>
      </p:sp>
      <p:sp>
        <p:nvSpPr>
          <p:cNvPr id="4" name="Espace réservé du contenu 2">
            <a:extLst>
              <a:ext uri="{FF2B5EF4-FFF2-40B4-BE49-F238E27FC236}">
                <a16:creationId xmlns:a16="http://schemas.microsoft.com/office/drawing/2014/main" id="{FD2FBA9D-CA7C-5FD2-C2B0-DE491CC6CB23}"/>
              </a:ext>
            </a:extLst>
          </p:cNvPr>
          <p:cNvSpPr>
            <a:spLocks noGrp="1"/>
          </p:cNvSpPr>
          <p:nvPr>
            <p:ph idx="1"/>
          </p:nvPr>
        </p:nvSpPr>
        <p:spPr>
          <a:xfrm>
            <a:off x="838200" y="1825625"/>
            <a:ext cx="3859218" cy="4351338"/>
          </a:xfrm>
        </p:spPr>
        <p:txBody>
          <a:bodyPr>
            <a:normAutofit/>
          </a:bodyPr>
          <a:lstStyle/>
          <a:p>
            <a:pPr marL="0" indent="0">
              <a:buNone/>
            </a:pPr>
            <a:r>
              <a:rPr lang="fr-FR" sz="1400" dirty="0"/>
              <a:t>#OSG pour les Communautés / #OpenSeriousCommunity ou même #OSG n’a pas vocation à devenir un grand fourre-tout, un mot clé « buzzé », une appellation prétexte et marketing pour résumer une énorme diversité d’approches, contrairement à d’autres mouvements existants dans le monde de l’entreprise.</a:t>
            </a:r>
          </a:p>
          <a:p>
            <a:pPr marL="0" indent="0">
              <a:buNone/>
            </a:pPr>
            <a:endParaRPr lang="fr-FR" sz="1400" dirty="0"/>
          </a:p>
          <a:p>
            <a:pPr marL="0" indent="0">
              <a:buNone/>
            </a:pPr>
            <a:r>
              <a:rPr lang="fr-FR" sz="1400" dirty="0"/>
              <a:t>Par respect pour l’identité des autres disciplines, et l’humilité souhaitée chez tout pratiquant, voici une liste (bien sûre non exhaustive) de disciplines à la frontière, ou avec des points communs, et qui peuvent aider à développer sa pratique des Communautés</a:t>
            </a:r>
          </a:p>
        </p:txBody>
      </p:sp>
      <p:pic>
        <p:nvPicPr>
          <p:cNvPr id="5" name="Image 4">
            <a:extLst>
              <a:ext uri="{FF2B5EF4-FFF2-40B4-BE49-F238E27FC236}">
                <a16:creationId xmlns:a16="http://schemas.microsoft.com/office/drawing/2014/main" id="{C8DAF162-3757-4200-4157-A8870F0B0169}"/>
              </a:ext>
            </a:extLst>
          </p:cNvPr>
          <p:cNvPicPr>
            <a:picLocks noChangeAspect="1"/>
          </p:cNvPicPr>
          <p:nvPr/>
        </p:nvPicPr>
        <p:blipFill>
          <a:blip r:embed="rId2">
            <a:extLst>
              <a:ext uri="{BEBA8EAE-BF5A-486C-A8C5-ECC9F3942E4B}">
                <a14:imgProps xmlns:a14="http://schemas.microsoft.com/office/drawing/2010/main">
                  <a14:imgLayer r:embed="rId3">
                    <a14:imgEffect>
                      <a14:artisticBlur radius="5"/>
                    </a14:imgEffect>
                  </a14:imgLayer>
                </a14:imgProps>
              </a:ext>
              <a:ext uri="{28A0092B-C50C-407E-A947-70E740481C1C}">
                <a14:useLocalDpi xmlns:a14="http://schemas.microsoft.com/office/drawing/2010/main" val="0"/>
              </a:ext>
            </a:extLst>
          </a:blip>
          <a:stretch>
            <a:fillRect/>
          </a:stretch>
        </p:blipFill>
        <p:spPr>
          <a:xfrm>
            <a:off x="7876706" y="3302283"/>
            <a:ext cx="1132048" cy="1024234"/>
          </a:xfrm>
          <a:prstGeom prst="rect">
            <a:avLst/>
          </a:prstGeom>
        </p:spPr>
      </p:pic>
      <p:sp>
        <p:nvSpPr>
          <p:cNvPr id="6" name="ZoneTexte 5">
            <a:extLst>
              <a:ext uri="{FF2B5EF4-FFF2-40B4-BE49-F238E27FC236}">
                <a16:creationId xmlns:a16="http://schemas.microsoft.com/office/drawing/2014/main" id="{561AB075-B261-B807-FC7F-603911E0093C}"/>
              </a:ext>
            </a:extLst>
          </p:cNvPr>
          <p:cNvSpPr txBox="1"/>
          <p:nvPr/>
        </p:nvSpPr>
        <p:spPr>
          <a:xfrm>
            <a:off x="7605880" y="4326517"/>
            <a:ext cx="1649222" cy="600164"/>
          </a:xfrm>
          <a:prstGeom prst="rect">
            <a:avLst/>
          </a:prstGeom>
          <a:noFill/>
        </p:spPr>
        <p:txBody>
          <a:bodyPr wrap="square">
            <a:spAutoFit/>
          </a:bodyPr>
          <a:lstStyle/>
          <a:p>
            <a:pPr algn="ctr"/>
            <a:r>
              <a:rPr lang="fr-FR" sz="1100" dirty="0">
                <a:solidFill>
                  <a:srgbClr val="3494BA"/>
                </a:solidFill>
              </a:rPr>
              <a:t>Méthode #OSG pour les Communautés</a:t>
            </a:r>
          </a:p>
          <a:p>
            <a:pPr algn="ctr"/>
            <a:r>
              <a:rPr lang="fr-FR" sz="1100" dirty="0">
                <a:solidFill>
                  <a:srgbClr val="3494BA"/>
                </a:solidFill>
              </a:rPr>
              <a:t>#OpenSeriousCommunity</a:t>
            </a:r>
          </a:p>
        </p:txBody>
      </p:sp>
      <p:sp>
        <p:nvSpPr>
          <p:cNvPr id="7" name="Rectangle 6">
            <a:extLst>
              <a:ext uri="{FF2B5EF4-FFF2-40B4-BE49-F238E27FC236}">
                <a16:creationId xmlns:a16="http://schemas.microsoft.com/office/drawing/2014/main" id="{0E69C669-3FAF-1BB1-3B60-C45A9F875887}"/>
              </a:ext>
            </a:extLst>
          </p:cNvPr>
          <p:cNvSpPr/>
          <p:nvPr/>
        </p:nvSpPr>
        <p:spPr>
          <a:xfrm>
            <a:off x="9894453" y="4103339"/>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Gamification</a:t>
            </a:r>
          </a:p>
        </p:txBody>
      </p:sp>
      <p:sp>
        <p:nvSpPr>
          <p:cNvPr id="8" name="Rectangle 7">
            <a:extLst>
              <a:ext uri="{FF2B5EF4-FFF2-40B4-BE49-F238E27FC236}">
                <a16:creationId xmlns:a16="http://schemas.microsoft.com/office/drawing/2014/main" id="{3C171058-040D-67F6-2143-0BE20988C392}"/>
              </a:ext>
            </a:extLst>
          </p:cNvPr>
          <p:cNvSpPr/>
          <p:nvPr/>
        </p:nvSpPr>
        <p:spPr>
          <a:xfrm>
            <a:off x="9723765" y="4671228"/>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Design </a:t>
            </a:r>
            <a:r>
              <a:rPr lang="fr-FR" sz="1000" dirty="0" err="1">
                <a:solidFill>
                  <a:schemeClr val="bg1"/>
                </a:solidFill>
              </a:rPr>
              <a:t>Thinking</a:t>
            </a:r>
            <a:endParaRPr lang="fr-FR" sz="1000" dirty="0">
              <a:solidFill>
                <a:schemeClr val="bg1"/>
              </a:solidFill>
            </a:endParaRPr>
          </a:p>
        </p:txBody>
      </p:sp>
      <p:sp>
        <p:nvSpPr>
          <p:cNvPr id="9" name="Rectangle 8">
            <a:extLst>
              <a:ext uri="{FF2B5EF4-FFF2-40B4-BE49-F238E27FC236}">
                <a16:creationId xmlns:a16="http://schemas.microsoft.com/office/drawing/2014/main" id="{E89B18EA-93C0-F31F-8F41-3CECF49C2537}"/>
              </a:ext>
            </a:extLst>
          </p:cNvPr>
          <p:cNvSpPr/>
          <p:nvPr/>
        </p:nvSpPr>
        <p:spPr>
          <a:xfrm>
            <a:off x="9795014" y="2970750"/>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Coaching individuel</a:t>
            </a:r>
          </a:p>
        </p:txBody>
      </p:sp>
      <p:sp>
        <p:nvSpPr>
          <p:cNvPr id="10" name="Rectangle 9">
            <a:extLst>
              <a:ext uri="{FF2B5EF4-FFF2-40B4-BE49-F238E27FC236}">
                <a16:creationId xmlns:a16="http://schemas.microsoft.com/office/drawing/2014/main" id="{6C1CECE4-7C41-4D7E-8318-E056E2EFA6D7}"/>
              </a:ext>
            </a:extLst>
          </p:cNvPr>
          <p:cNvSpPr/>
          <p:nvPr/>
        </p:nvSpPr>
        <p:spPr>
          <a:xfrm>
            <a:off x="9531188" y="5222505"/>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Gestion de projets</a:t>
            </a:r>
          </a:p>
        </p:txBody>
      </p:sp>
      <p:sp>
        <p:nvSpPr>
          <p:cNvPr id="11" name="Rectangle 10">
            <a:extLst>
              <a:ext uri="{FF2B5EF4-FFF2-40B4-BE49-F238E27FC236}">
                <a16:creationId xmlns:a16="http://schemas.microsoft.com/office/drawing/2014/main" id="{540EA864-90CF-17BE-1372-A982C70252AC}"/>
              </a:ext>
            </a:extLst>
          </p:cNvPr>
          <p:cNvSpPr/>
          <p:nvPr/>
        </p:nvSpPr>
        <p:spPr>
          <a:xfrm>
            <a:off x="8342327" y="5455475"/>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Agilité</a:t>
            </a:r>
          </a:p>
        </p:txBody>
      </p:sp>
      <p:sp>
        <p:nvSpPr>
          <p:cNvPr id="12" name="Rectangle 11">
            <a:extLst>
              <a:ext uri="{FF2B5EF4-FFF2-40B4-BE49-F238E27FC236}">
                <a16:creationId xmlns:a16="http://schemas.microsoft.com/office/drawing/2014/main" id="{CE45060D-DEBC-EED7-6ADC-34387C62C0CD}"/>
              </a:ext>
            </a:extLst>
          </p:cNvPr>
          <p:cNvSpPr/>
          <p:nvPr/>
        </p:nvSpPr>
        <p:spPr>
          <a:xfrm>
            <a:off x="7092710" y="5455475"/>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Lean</a:t>
            </a:r>
          </a:p>
        </p:txBody>
      </p:sp>
      <p:sp>
        <p:nvSpPr>
          <p:cNvPr id="13" name="Rectangle 12">
            <a:extLst>
              <a:ext uri="{FF2B5EF4-FFF2-40B4-BE49-F238E27FC236}">
                <a16:creationId xmlns:a16="http://schemas.microsoft.com/office/drawing/2014/main" id="{E2619619-6CBD-3849-332F-0772B0DCD305}"/>
              </a:ext>
            </a:extLst>
          </p:cNvPr>
          <p:cNvSpPr/>
          <p:nvPr/>
        </p:nvSpPr>
        <p:spPr>
          <a:xfrm>
            <a:off x="8401035" y="2168499"/>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Systémique</a:t>
            </a:r>
          </a:p>
          <a:p>
            <a:pPr algn="ctr"/>
            <a:r>
              <a:rPr lang="fr-FR" sz="1000" dirty="0">
                <a:solidFill>
                  <a:schemeClr val="bg1"/>
                </a:solidFill>
              </a:rPr>
              <a:t>Ingénierie système</a:t>
            </a:r>
          </a:p>
        </p:txBody>
      </p:sp>
      <p:sp>
        <p:nvSpPr>
          <p:cNvPr id="14" name="Rectangle 13">
            <a:extLst>
              <a:ext uri="{FF2B5EF4-FFF2-40B4-BE49-F238E27FC236}">
                <a16:creationId xmlns:a16="http://schemas.microsoft.com/office/drawing/2014/main" id="{4F276933-D055-CDBF-BEA1-94C346233F5C}"/>
              </a:ext>
            </a:extLst>
          </p:cNvPr>
          <p:cNvSpPr/>
          <p:nvPr/>
        </p:nvSpPr>
        <p:spPr>
          <a:xfrm>
            <a:off x="7128099" y="2168499"/>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Gestion de conflits</a:t>
            </a:r>
          </a:p>
        </p:txBody>
      </p:sp>
      <p:sp>
        <p:nvSpPr>
          <p:cNvPr id="15" name="Rectangle 14">
            <a:extLst>
              <a:ext uri="{FF2B5EF4-FFF2-40B4-BE49-F238E27FC236}">
                <a16:creationId xmlns:a16="http://schemas.microsoft.com/office/drawing/2014/main" id="{76E335DC-3626-8B27-22F2-67E2A72F7379}"/>
              </a:ext>
            </a:extLst>
          </p:cNvPr>
          <p:cNvSpPr/>
          <p:nvPr/>
        </p:nvSpPr>
        <p:spPr>
          <a:xfrm>
            <a:off x="5595356" y="4207442"/>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Leadership</a:t>
            </a:r>
          </a:p>
        </p:txBody>
      </p:sp>
      <p:sp>
        <p:nvSpPr>
          <p:cNvPr id="16" name="Rectangle 15">
            <a:extLst>
              <a:ext uri="{FF2B5EF4-FFF2-40B4-BE49-F238E27FC236}">
                <a16:creationId xmlns:a16="http://schemas.microsoft.com/office/drawing/2014/main" id="{A3A83777-F25C-5BC2-62CA-A29D5ECA6193}"/>
              </a:ext>
            </a:extLst>
          </p:cNvPr>
          <p:cNvSpPr/>
          <p:nvPr/>
        </p:nvSpPr>
        <p:spPr>
          <a:xfrm>
            <a:off x="5647578" y="3635279"/>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Développement des soft </a:t>
            </a:r>
            <a:r>
              <a:rPr lang="fr-FR" sz="1000" dirty="0" err="1">
                <a:solidFill>
                  <a:schemeClr val="bg1"/>
                </a:solidFill>
              </a:rPr>
              <a:t>skills</a:t>
            </a:r>
            <a:endParaRPr lang="fr-FR" sz="1000" dirty="0">
              <a:solidFill>
                <a:schemeClr val="bg1"/>
              </a:solidFill>
            </a:endParaRPr>
          </a:p>
        </p:txBody>
      </p:sp>
      <p:sp>
        <p:nvSpPr>
          <p:cNvPr id="17" name="Rectangle 16">
            <a:extLst>
              <a:ext uri="{FF2B5EF4-FFF2-40B4-BE49-F238E27FC236}">
                <a16:creationId xmlns:a16="http://schemas.microsoft.com/office/drawing/2014/main" id="{A29B293F-9469-3079-6278-BFCB5F7457F0}"/>
              </a:ext>
            </a:extLst>
          </p:cNvPr>
          <p:cNvSpPr/>
          <p:nvPr/>
        </p:nvSpPr>
        <p:spPr>
          <a:xfrm>
            <a:off x="5627148" y="3095737"/>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Facilitation</a:t>
            </a:r>
          </a:p>
        </p:txBody>
      </p:sp>
      <p:sp>
        <p:nvSpPr>
          <p:cNvPr id="18" name="Rectangle 17">
            <a:extLst>
              <a:ext uri="{FF2B5EF4-FFF2-40B4-BE49-F238E27FC236}">
                <a16:creationId xmlns:a16="http://schemas.microsoft.com/office/drawing/2014/main" id="{AE5FE623-4D4C-76C4-4B60-433A0D63669A}"/>
              </a:ext>
            </a:extLst>
          </p:cNvPr>
          <p:cNvSpPr/>
          <p:nvPr/>
        </p:nvSpPr>
        <p:spPr>
          <a:xfrm>
            <a:off x="5855163" y="2584974"/>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Management</a:t>
            </a:r>
          </a:p>
        </p:txBody>
      </p:sp>
      <p:sp>
        <p:nvSpPr>
          <p:cNvPr id="19" name="Rectangle 18">
            <a:extLst>
              <a:ext uri="{FF2B5EF4-FFF2-40B4-BE49-F238E27FC236}">
                <a16:creationId xmlns:a16="http://schemas.microsoft.com/office/drawing/2014/main" id="{B27FC8CB-8F93-7D2C-A47F-C2AC386A5080}"/>
              </a:ext>
            </a:extLst>
          </p:cNvPr>
          <p:cNvSpPr/>
          <p:nvPr/>
        </p:nvSpPr>
        <p:spPr>
          <a:xfrm>
            <a:off x="9604657" y="2375184"/>
            <a:ext cx="1272649"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Sciences comportementales</a:t>
            </a:r>
          </a:p>
          <a:p>
            <a:pPr algn="ctr"/>
            <a:r>
              <a:rPr lang="fr-FR" sz="1000" dirty="0">
                <a:solidFill>
                  <a:schemeClr val="bg1"/>
                </a:solidFill>
              </a:rPr>
              <a:t>Métacognition</a:t>
            </a:r>
          </a:p>
        </p:txBody>
      </p:sp>
      <p:sp>
        <p:nvSpPr>
          <p:cNvPr id="20" name="Rectangle 19">
            <a:extLst>
              <a:ext uri="{FF2B5EF4-FFF2-40B4-BE49-F238E27FC236}">
                <a16:creationId xmlns:a16="http://schemas.microsoft.com/office/drawing/2014/main" id="{C3CCB94A-1B6B-A8B5-7489-E1B95158F05C}"/>
              </a:ext>
            </a:extLst>
          </p:cNvPr>
          <p:cNvSpPr/>
          <p:nvPr/>
        </p:nvSpPr>
        <p:spPr>
          <a:xfrm>
            <a:off x="5702717" y="4779606"/>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Evènementiel</a:t>
            </a:r>
          </a:p>
        </p:txBody>
      </p:sp>
      <p:sp>
        <p:nvSpPr>
          <p:cNvPr id="21" name="Rectangle 20">
            <a:extLst>
              <a:ext uri="{FF2B5EF4-FFF2-40B4-BE49-F238E27FC236}">
                <a16:creationId xmlns:a16="http://schemas.microsoft.com/office/drawing/2014/main" id="{2FB9514F-3886-3980-5665-997867FED64D}"/>
              </a:ext>
            </a:extLst>
          </p:cNvPr>
          <p:cNvSpPr/>
          <p:nvPr/>
        </p:nvSpPr>
        <p:spPr>
          <a:xfrm>
            <a:off x="9894453" y="3522027"/>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Création de contenus</a:t>
            </a:r>
          </a:p>
        </p:txBody>
      </p:sp>
      <p:sp>
        <p:nvSpPr>
          <p:cNvPr id="22" name="Rectangle 21">
            <a:extLst>
              <a:ext uri="{FF2B5EF4-FFF2-40B4-BE49-F238E27FC236}">
                <a16:creationId xmlns:a16="http://schemas.microsoft.com/office/drawing/2014/main" id="{8F9D8934-6AA1-8999-331E-03754988D300}"/>
              </a:ext>
            </a:extLst>
          </p:cNvPr>
          <p:cNvSpPr/>
          <p:nvPr/>
        </p:nvSpPr>
        <p:spPr>
          <a:xfrm>
            <a:off x="5843093" y="5307702"/>
            <a:ext cx="1130153" cy="495440"/>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bg1"/>
                </a:solidFill>
              </a:rPr>
              <a:t>Open Source et </a:t>
            </a:r>
            <a:r>
              <a:rPr lang="fr-FR" sz="1000" dirty="0" err="1">
                <a:solidFill>
                  <a:schemeClr val="bg1"/>
                </a:solidFill>
              </a:rPr>
              <a:t>Inner</a:t>
            </a:r>
            <a:r>
              <a:rPr lang="fr-FR" sz="1000" dirty="0">
                <a:solidFill>
                  <a:schemeClr val="bg1"/>
                </a:solidFill>
              </a:rPr>
              <a:t> Source</a:t>
            </a:r>
          </a:p>
        </p:txBody>
      </p:sp>
    </p:spTree>
    <p:extLst>
      <p:ext uri="{BB962C8B-B14F-4D97-AF65-F5344CB8AC3E}">
        <p14:creationId xmlns:p14="http://schemas.microsoft.com/office/powerpoint/2010/main" val="813715898"/>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722680B-5261-E2B7-50FD-EA5465422351}"/>
              </a:ext>
            </a:extLst>
          </p:cNvPr>
          <p:cNvSpPr>
            <a:spLocks noGrp="1"/>
          </p:cNvSpPr>
          <p:nvPr>
            <p:ph type="title"/>
          </p:nvPr>
        </p:nvSpPr>
        <p:spPr/>
        <p:txBody>
          <a:bodyPr>
            <a:normAutofit/>
          </a:bodyPr>
          <a:lstStyle/>
          <a:p>
            <a:r>
              <a:rPr lang="fr-FR" dirty="0"/>
              <a:t>Limites dans les concepts abordés</a:t>
            </a:r>
            <a:br>
              <a:rPr lang="fr-FR" dirty="0"/>
            </a:br>
            <a:r>
              <a:rPr lang="fr-FR" dirty="0"/>
              <a:t>Travailler d’autres concepts</a:t>
            </a:r>
          </a:p>
        </p:txBody>
      </p:sp>
      <p:sp>
        <p:nvSpPr>
          <p:cNvPr id="3" name="Espace réservé du contenu 2">
            <a:extLst>
              <a:ext uri="{FF2B5EF4-FFF2-40B4-BE49-F238E27FC236}">
                <a16:creationId xmlns:a16="http://schemas.microsoft.com/office/drawing/2014/main" id="{5E0F91AE-803B-53C4-18E4-780D5A95F9FE}"/>
              </a:ext>
            </a:extLst>
          </p:cNvPr>
          <p:cNvSpPr>
            <a:spLocks noGrp="1"/>
          </p:cNvSpPr>
          <p:nvPr>
            <p:ph idx="1"/>
          </p:nvPr>
        </p:nvSpPr>
        <p:spPr>
          <a:xfrm>
            <a:off x="838200" y="1825625"/>
            <a:ext cx="4470647" cy="4351338"/>
          </a:xfrm>
        </p:spPr>
        <p:txBody>
          <a:bodyPr>
            <a:normAutofit lnSpcReduction="10000"/>
          </a:bodyPr>
          <a:lstStyle/>
          <a:p>
            <a:r>
              <a:rPr lang="fr-FR" sz="1800" dirty="0"/>
              <a:t>Beaucoup de concepts ont été volontairement évités dans ce document, par manque de pertinence, de maîtrise, ou d’exemple concret et généralisable d’usages. </a:t>
            </a:r>
          </a:p>
          <a:p>
            <a:r>
              <a:rPr lang="fr-FR" sz="1800" dirty="0"/>
              <a:t>Par exemple, la notion de « personnalité » est considérée ici comme trop large, complexe, controversée pour en faire un objet de travail ou de décision. Entre autres, l’usage de grilles de personnalités pour décider a été exclu des travaux, au profit de grilles de préférences à un instant donné (motivations ou classes de motivations).</a:t>
            </a:r>
          </a:p>
          <a:p>
            <a:r>
              <a:rPr lang="fr-FR" sz="1800" dirty="0"/>
              <a:t>Chacun est invité à travailler avec des concepts avec lequel il est familier, compléter sa pratique et apporter de nouveaux éléments à la méthode </a:t>
            </a:r>
          </a:p>
        </p:txBody>
      </p:sp>
      <p:grpSp>
        <p:nvGrpSpPr>
          <p:cNvPr id="7" name="Groupe 6">
            <a:extLst>
              <a:ext uri="{FF2B5EF4-FFF2-40B4-BE49-F238E27FC236}">
                <a16:creationId xmlns:a16="http://schemas.microsoft.com/office/drawing/2014/main" id="{6174B03E-EE68-8155-0555-2C6CC14341F6}"/>
              </a:ext>
            </a:extLst>
          </p:cNvPr>
          <p:cNvGrpSpPr/>
          <p:nvPr/>
        </p:nvGrpSpPr>
        <p:grpSpPr>
          <a:xfrm>
            <a:off x="6127525" y="2263806"/>
            <a:ext cx="3338004" cy="3338004"/>
            <a:chOff x="7625918" y="2902998"/>
            <a:chExt cx="2476870" cy="2476870"/>
          </a:xfrm>
        </p:grpSpPr>
        <p:sp>
          <p:nvSpPr>
            <p:cNvPr id="4" name="Ellipse 3">
              <a:extLst>
                <a:ext uri="{FF2B5EF4-FFF2-40B4-BE49-F238E27FC236}">
                  <a16:creationId xmlns:a16="http://schemas.microsoft.com/office/drawing/2014/main" id="{FD63D65D-7FE6-53E6-5D06-253F96F8CC3B}"/>
                </a:ext>
              </a:extLst>
            </p:cNvPr>
            <p:cNvSpPr/>
            <p:nvPr/>
          </p:nvSpPr>
          <p:spPr>
            <a:xfrm>
              <a:off x="7625918" y="2902998"/>
              <a:ext cx="2476870" cy="2476870"/>
            </a:xfrm>
            <a:prstGeom prst="ellipse">
              <a:avLst/>
            </a:prstGeom>
            <a:noFill/>
            <a:ln w="57150">
              <a:solidFill>
                <a:srgbClr val="3494BA"/>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ZoneTexte 4">
              <a:extLst>
                <a:ext uri="{FF2B5EF4-FFF2-40B4-BE49-F238E27FC236}">
                  <a16:creationId xmlns:a16="http://schemas.microsoft.com/office/drawing/2014/main" id="{E2525F44-CF4D-DD4E-7B24-72DA4EFF8EEE}"/>
                </a:ext>
              </a:extLst>
            </p:cNvPr>
            <p:cNvSpPr txBox="1"/>
            <p:nvPr/>
          </p:nvSpPr>
          <p:spPr>
            <a:xfrm>
              <a:off x="7899780" y="2944486"/>
              <a:ext cx="1926806" cy="388240"/>
            </a:xfrm>
            <a:prstGeom prst="rect">
              <a:avLst/>
            </a:prstGeom>
            <a:noFill/>
          </p:spPr>
          <p:txBody>
            <a:bodyPr wrap="square">
              <a:spAutoFit/>
            </a:bodyPr>
            <a:lstStyle/>
            <a:p>
              <a:pPr marL="0" indent="0" algn="ctr">
                <a:buNone/>
              </a:pPr>
              <a:r>
                <a:rPr lang="fr-FR" sz="1400" dirty="0"/>
                <a:t>Exemples de </a:t>
              </a:r>
            </a:p>
            <a:p>
              <a:pPr marL="0" indent="0" algn="ctr">
                <a:buNone/>
              </a:pPr>
              <a:r>
                <a:rPr lang="fr-FR" sz="1400" dirty="0"/>
                <a:t>concepts abordés</a:t>
              </a:r>
            </a:p>
          </p:txBody>
        </p:sp>
      </p:grpSp>
      <p:sp>
        <p:nvSpPr>
          <p:cNvPr id="6" name="ZoneTexte 5">
            <a:extLst>
              <a:ext uri="{FF2B5EF4-FFF2-40B4-BE49-F238E27FC236}">
                <a16:creationId xmlns:a16="http://schemas.microsoft.com/office/drawing/2014/main" id="{EBBDE7A2-D8CF-008B-75DA-2E1DAC103658}"/>
              </a:ext>
            </a:extLst>
          </p:cNvPr>
          <p:cNvSpPr txBox="1"/>
          <p:nvPr/>
        </p:nvSpPr>
        <p:spPr>
          <a:xfrm>
            <a:off x="10102788" y="1989065"/>
            <a:ext cx="1926806" cy="738664"/>
          </a:xfrm>
          <a:prstGeom prst="rect">
            <a:avLst/>
          </a:prstGeom>
          <a:noFill/>
        </p:spPr>
        <p:txBody>
          <a:bodyPr wrap="square">
            <a:spAutoFit/>
          </a:bodyPr>
          <a:lstStyle/>
          <a:p>
            <a:pPr marL="0" indent="0" algn="ctr">
              <a:buNone/>
            </a:pPr>
            <a:r>
              <a:rPr lang="fr-FR" sz="1400" dirty="0"/>
              <a:t>Exemples de concepts non abordés (parmi une infinité)</a:t>
            </a:r>
          </a:p>
        </p:txBody>
      </p:sp>
      <p:pic>
        <p:nvPicPr>
          <p:cNvPr id="8" name="Graphique 7" descr="Bâtiment avec un remplissage uni">
            <a:extLst>
              <a:ext uri="{FF2B5EF4-FFF2-40B4-BE49-F238E27FC236}">
                <a16:creationId xmlns:a16="http://schemas.microsoft.com/office/drawing/2014/main" id="{CC2C0597-14CC-E426-15F1-707C4859A4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686872" y="2911933"/>
            <a:ext cx="561972" cy="561972"/>
          </a:xfrm>
          <a:prstGeom prst="rect">
            <a:avLst/>
          </a:prstGeom>
        </p:spPr>
      </p:pic>
      <p:pic>
        <p:nvPicPr>
          <p:cNvPr id="9" name="Graphique 8" descr="Priorités avec un remplissage uni">
            <a:extLst>
              <a:ext uri="{FF2B5EF4-FFF2-40B4-BE49-F238E27FC236}">
                <a16:creationId xmlns:a16="http://schemas.microsoft.com/office/drawing/2014/main" id="{9ED435FA-18ED-49F9-48B3-9E654743D53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272667" y="3694899"/>
            <a:ext cx="561972" cy="561972"/>
          </a:xfrm>
          <a:prstGeom prst="rect">
            <a:avLst/>
          </a:prstGeom>
        </p:spPr>
      </p:pic>
      <p:grpSp>
        <p:nvGrpSpPr>
          <p:cNvPr id="10" name="Groupe 9">
            <a:extLst>
              <a:ext uri="{FF2B5EF4-FFF2-40B4-BE49-F238E27FC236}">
                <a16:creationId xmlns:a16="http://schemas.microsoft.com/office/drawing/2014/main" id="{A845DF7B-3800-E587-7962-AFA29E9092F3}"/>
              </a:ext>
            </a:extLst>
          </p:cNvPr>
          <p:cNvGrpSpPr/>
          <p:nvPr/>
        </p:nvGrpSpPr>
        <p:grpSpPr>
          <a:xfrm>
            <a:off x="6808512" y="4532865"/>
            <a:ext cx="318691" cy="216442"/>
            <a:chOff x="1499428" y="3098753"/>
            <a:chExt cx="474208" cy="322063"/>
          </a:xfrm>
        </p:grpSpPr>
        <p:sp>
          <p:nvSpPr>
            <p:cNvPr id="11" name="Flèche : bas 10">
              <a:extLst>
                <a:ext uri="{FF2B5EF4-FFF2-40B4-BE49-F238E27FC236}">
                  <a16:creationId xmlns:a16="http://schemas.microsoft.com/office/drawing/2014/main" id="{266EC956-A74E-E2A8-3E6C-83AC9C7AB00C}"/>
                </a:ext>
              </a:extLst>
            </p:cNvPr>
            <p:cNvSpPr/>
            <p:nvPr/>
          </p:nvSpPr>
          <p:spPr>
            <a:xfrm rot="16200000">
              <a:off x="1658921" y="2970123"/>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sp>
          <p:nvSpPr>
            <p:cNvPr id="12" name="Flèche : bas 11">
              <a:extLst>
                <a:ext uri="{FF2B5EF4-FFF2-40B4-BE49-F238E27FC236}">
                  <a16:creationId xmlns:a16="http://schemas.microsoft.com/office/drawing/2014/main" id="{4C574CD9-CD62-F4D6-0B08-64C5C30073D5}"/>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grpSp>
        <p:nvGrpSpPr>
          <p:cNvPr id="35" name="Groupe 34">
            <a:extLst>
              <a:ext uri="{FF2B5EF4-FFF2-40B4-BE49-F238E27FC236}">
                <a16:creationId xmlns:a16="http://schemas.microsoft.com/office/drawing/2014/main" id="{B3AB64DE-2267-7099-AAAB-A0022CFC2D8A}"/>
              </a:ext>
            </a:extLst>
          </p:cNvPr>
          <p:cNvGrpSpPr/>
          <p:nvPr/>
        </p:nvGrpSpPr>
        <p:grpSpPr>
          <a:xfrm>
            <a:off x="7431014" y="2828951"/>
            <a:ext cx="893182" cy="882917"/>
            <a:chOff x="7436625" y="1695833"/>
            <a:chExt cx="4404256" cy="4353642"/>
          </a:xfrm>
        </p:grpSpPr>
        <p:grpSp>
          <p:nvGrpSpPr>
            <p:cNvPr id="13" name="Groupe 12">
              <a:extLst>
                <a:ext uri="{FF2B5EF4-FFF2-40B4-BE49-F238E27FC236}">
                  <a16:creationId xmlns:a16="http://schemas.microsoft.com/office/drawing/2014/main" id="{DD613A10-79DF-A5C6-8104-85A430E5C594}"/>
                </a:ext>
              </a:extLst>
            </p:cNvPr>
            <p:cNvGrpSpPr/>
            <p:nvPr/>
          </p:nvGrpSpPr>
          <p:grpSpPr>
            <a:xfrm>
              <a:off x="8001696" y="1695833"/>
              <a:ext cx="3550117" cy="4353642"/>
              <a:chOff x="8860995" y="282959"/>
              <a:chExt cx="3407094" cy="4178249"/>
            </a:xfrm>
            <a:solidFill>
              <a:schemeClr val="tx1"/>
            </a:solidFill>
          </p:grpSpPr>
          <p:pic>
            <p:nvPicPr>
              <p:cNvPr id="14" name="Graphique 13" descr="Diagramme de flux avec un remplissage uni">
                <a:extLst>
                  <a:ext uri="{FF2B5EF4-FFF2-40B4-BE49-F238E27FC236}">
                    <a16:creationId xmlns:a16="http://schemas.microsoft.com/office/drawing/2014/main" id="{C4F7A516-19C8-FBE4-B57B-1814B2C26634}"/>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11353689" y="3108467"/>
                <a:ext cx="914400" cy="603649"/>
              </a:xfrm>
              <a:prstGeom prst="rect">
                <a:avLst/>
              </a:prstGeom>
            </p:spPr>
          </p:pic>
          <p:grpSp>
            <p:nvGrpSpPr>
              <p:cNvPr id="15" name="Groupe 14">
                <a:extLst>
                  <a:ext uri="{FF2B5EF4-FFF2-40B4-BE49-F238E27FC236}">
                    <a16:creationId xmlns:a16="http://schemas.microsoft.com/office/drawing/2014/main" id="{CFA488D9-46CF-3A88-BC76-205F7EB68999}"/>
                  </a:ext>
                </a:extLst>
              </p:cNvPr>
              <p:cNvGrpSpPr/>
              <p:nvPr/>
            </p:nvGrpSpPr>
            <p:grpSpPr>
              <a:xfrm>
                <a:off x="8860995" y="282959"/>
                <a:ext cx="3360434" cy="4178249"/>
                <a:chOff x="8860995" y="282959"/>
                <a:chExt cx="3360434" cy="4178249"/>
              </a:xfrm>
              <a:grpFill/>
            </p:grpSpPr>
            <p:pic>
              <p:nvPicPr>
                <p:cNvPr id="16" name="Graphique 15" descr="Diagramme de flux avec un remplissage uni">
                  <a:extLst>
                    <a:ext uri="{FF2B5EF4-FFF2-40B4-BE49-F238E27FC236}">
                      <a16:creationId xmlns:a16="http://schemas.microsoft.com/office/drawing/2014/main" id="{ACD7E83A-451D-738B-033C-2D01FCCA4F6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085908" y="282959"/>
                  <a:ext cx="914400" cy="914400"/>
                </a:xfrm>
                <a:prstGeom prst="rect">
                  <a:avLst/>
                </a:prstGeom>
              </p:spPr>
            </p:pic>
            <p:pic>
              <p:nvPicPr>
                <p:cNvPr id="17" name="Graphique 16" descr="Diagramme de flux avec un remplissage uni">
                  <a:extLst>
                    <a:ext uri="{FF2B5EF4-FFF2-40B4-BE49-F238E27FC236}">
                      <a16:creationId xmlns:a16="http://schemas.microsoft.com/office/drawing/2014/main" id="{FDFB2C2D-F4D3-E5B7-0459-0D806CB114AB}"/>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9758979" y="1013706"/>
                  <a:ext cx="914400" cy="603649"/>
                </a:xfrm>
                <a:prstGeom prst="rect">
                  <a:avLst/>
                </a:prstGeom>
              </p:spPr>
            </p:pic>
            <p:pic>
              <p:nvPicPr>
                <p:cNvPr id="18" name="Graphique 17" descr="Diagramme de flux avec un remplissage uni">
                  <a:extLst>
                    <a:ext uri="{FF2B5EF4-FFF2-40B4-BE49-F238E27FC236}">
                      <a16:creationId xmlns:a16="http://schemas.microsoft.com/office/drawing/2014/main" id="{61837B7A-9D6A-1267-FE50-10726A7F9EA3}"/>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9460854" y="1453033"/>
                  <a:ext cx="914400" cy="603649"/>
                </a:xfrm>
                <a:prstGeom prst="rect">
                  <a:avLst/>
                </a:prstGeom>
              </p:spPr>
            </p:pic>
            <p:pic>
              <p:nvPicPr>
                <p:cNvPr id="19" name="Graphique 18" descr="Diagramme de flux avec un remplissage uni">
                  <a:extLst>
                    <a:ext uri="{FF2B5EF4-FFF2-40B4-BE49-F238E27FC236}">
                      <a16:creationId xmlns:a16="http://schemas.microsoft.com/office/drawing/2014/main" id="{61BD4965-5EC4-1E65-5134-56D127DAEEC2}"/>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9154819" y="1868228"/>
                  <a:ext cx="914400" cy="603649"/>
                </a:xfrm>
                <a:prstGeom prst="rect">
                  <a:avLst/>
                </a:prstGeom>
              </p:spPr>
            </p:pic>
            <p:pic>
              <p:nvPicPr>
                <p:cNvPr id="20" name="Graphique 19" descr="Diagramme de flux avec un remplissage uni">
                  <a:extLst>
                    <a:ext uri="{FF2B5EF4-FFF2-40B4-BE49-F238E27FC236}">
                      <a16:creationId xmlns:a16="http://schemas.microsoft.com/office/drawing/2014/main" id="{4558D33F-725D-829F-28A2-0C7F078C44FE}"/>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9758979" y="1841293"/>
                  <a:ext cx="914400" cy="603649"/>
                </a:xfrm>
                <a:prstGeom prst="rect">
                  <a:avLst/>
                </a:prstGeom>
              </p:spPr>
            </p:pic>
            <p:pic>
              <p:nvPicPr>
                <p:cNvPr id="21" name="Graphique 20" descr="Diagramme de flux avec un remplissage uni">
                  <a:extLst>
                    <a:ext uri="{FF2B5EF4-FFF2-40B4-BE49-F238E27FC236}">
                      <a16:creationId xmlns:a16="http://schemas.microsoft.com/office/drawing/2014/main" id="{A48E546D-9106-FA36-7C77-BB49A9913BCC}"/>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8860995" y="2287625"/>
                  <a:ext cx="914400" cy="603649"/>
                </a:xfrm>
                <a:prstGeom prst="rect">
                  <a:avLst/>
                </a:prstGeom>
              </p:spPr>
            </p:pic>
            <p:pic>
              <p:nvPicPr>
                <p:cNvPr id="22" name="Graphique 21" descr="Diagramme de flux avec un remplissage uni">
                  <a:extLst>
                    <a:ext uri="{FF2B5EF4-FFF2-40B4-BE49-F238E27FC236}">
                      <a16:creationId xmlns:a16="http://schemas.microsoft.com/office/drawing/2014/main" id="{C5A2F5C0-B98F-39F4-2242-D60ED2AD6C85}"/>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10412836" y="1004605"/>
                  <a:ext cx="914400" cy="603649"/>
                </a:xfrm>
                <a:prstGeom prst="rect">
                  <a:avLst/>
                </a:prstGeom>
              </p:spPr>
            </p:pic>
            <p:pic>
              <p:nvPicPr>
                <p:cNvPr id="23" name="Graphique 22" descr="Diagramme de flux avec un remplissage uni">
                  <a:extLst>
                    <a:ext uri="{FF2B5EF4-FFF2-40B4-BE49-F238E27FC236}">
                      <a16:creationId xmlns:a16="http://schemas.microsoft.com/office/drawing/2014/main" id="{260F213E-4EAF-9DD3-2C18-810D3C78D632}"/>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10723076" y="1403998"/>
                  <a:ext cx="914400" cy="603649"/>
                </a:xfrm>
                <a:prstGeom prst="rect">
                  <a:avLst/>
                </a:prstGeom>
              </p:spPr>
            </p:pic>
            <p:pic>
              <p:nvPicPr>
                <p:cNvPr id="24" name="Graphique 23" descr="Diagramme de flux avec un remplissage uni">
                  <a:extLst>
                    <a:ext uri="{FF2B5EF4-FFF2-40B4-BE49-F238E27FC236}">
                      <a16:creationId xmlns:a16="http://schemas.microsoft.com/office/drawing/2014/main" id="{6CA13C4B-C467-F14A-AEC1-437FE62113E6}"/>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10022751" y="2243336"/>
                  <a:ext cx="914400" cy="603649"/>
                </a:xfrm>
                <a:prstGeom prst="rect">
                  <a:avLst/>
                </a:prstGeom>
              </p:spPr>
            </p:pic>
            <p:pic>
              <p:nvPicPr>
                <p:cNvPr id="25" name="Graphique 24" descr="Diagramme de flux avec un remplissage uni">
                  <a:extLst>
                    <a:ext uri="{FF2B5EF4-FFF2-40B4-BE49-F238E27FC236}">
                      <a16:creationId xmlns:a16="http://schemas.microsoft.com/office/drawing/2014/main" id="{12F18869-729E-1375-6A43-EC25AC8FDB02}"/>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10034729" y="2661108"/>
                  <a:ext cx="914400" cy="603649"/>
                </a:xfrm>
                <a:prstGeom prst="rect">
                  <a:avLst/>
                </a:prstGeom>
              </p:spPr>
            </p:pic>
            <p:pic>
              <p:nvPicPr>
                <p:cNvPr id="26" name="Graphique 25" descr="Diagramme de flux avec un remplissage uni">
                  <a:extLst>
                    <a:ext uri="{FF2B5EF4-FFF2-40B4-BE49-F238E27FC236}">
                      <a16:creationId xmlns:a16="http://schemas.microsoft.com/office/drawing/2014/main" id="{AE4D1CBA-5E33-759C-F34B-E51E0B3DC30B}"/>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10046261" y="3060336"/>
                  <a:ext cx="914400" cy="603649"/>
                </a:xfrm>
                <a:prstGeom prst="rect">
                  <a:avLst/>
                </a:prstGeom>
              </p:spPr>
            </p:pic>
            <p:pic>
              <p:nvPicPr>
                <p:cNvPr id="27" name="Graphique 26" descr="Diagramme de flux avec un remplissage uni">
                  <a:extLst>
                    <a:ext uri="{FF2B5EF4-FFF2-40B4-BE49-F238E27FC236}">
                      <a16:creationId xmlns:a16="http://schemas.microsoft.com/office/drawing/2014/main" id="{402C8F65-8476-4A6B-8F5F-F969712C86A7}"/>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11021201" y="1809840"/>
                  <a:ext cx="914400" cy="603649"/>
                </a:xfrm>
                <a:prstGeom prst="rect">
                  <a:avLst/>
                </a:prstGeom>
              </p:spPr>
            </p:pic>
            <p:pic>
              <p:nvPicPr>
                <p:cNvPr id="28" name="Graphique 27" descr="Diagramme de flux avec un remplissage uni">
                  <a:extLst>
                    <a:ext uri="{FF2B5EF4-FFF2-40B4-BE49-F238E27FC236}">
                      <a16:creationId xmlns:a16="http://schemas.microsoft.com/office/drawing/2014/main" id="{44933B64-147B-68C0-258C-3F8B4A43C512}"/>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11307029" y="2255207"/>
                  <a:ext cx="914400" cy="603649"/>
                </a:xfrm>
                <a:prstGeom prst="rect">
                  <a:avLst/>
                </a:prstGeom>
              </p:spPr>
            </p:pic>
            <p:pic>
              <p:nvPicPr>
                <p:cNvPr id="29" name="Graphique 28" descr="Diagramme de flux avec un remplissage uni">
                  <a:extLst>
                    <a:ext uri="{FF2B5EF4-FFF2-40B4-BE49-F238E27FC236}">
                      <a16:creationId xmlns:a16="http://schemas.microsoft.com/office/drawing/2014/main" id="{3B417C9C-13DF-CAF6-EBED-4BF6ADECD4ED}"/>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11039740" y="2681006"/>
                  <a:ext cx="914400" cy="603649"/>
                </a:xfrm>
                <a:prstGeom prst="rect">
                  <a:avLst/>
                </a:prstGeom>
              </p:spPr>
            </p:pic>
            <p:pic>
              <p:nvPicPr>
                <p:cNvPr id="30" name="Graphique 29" descr="Diagramme de flux avec un remplissage uni">
                  <a:extLst>
                    <a:ext uri="{FF2B5EF4-FFF2-40B4-BE49-F238E27FC236}">
                      <a16:creationId xmlns:a16="http://schemas.microsoft.com/office/drawing/2014/main" id="{6DF26594-2130-0AD3-0D96-D2864CABCC2A}"/>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11057840" y="3490451"/>
                  <a:ext cx="914400" cy="603649"/>
                </a:xfrm>
                <a:prstGeom prst="rect">
                  <a:avLst/>
                </a:prstGeom>
              </p:spPr>
            </p:pic>
            <p:pic>
              <p:nvPicPr>
                <p:cNvPr id="31" name="Graphique 30" descr="Diagramme de flux avec un remplissage uni">
                  <a:extLst>
                    <a:ext uri="{FF2B5EF4-FFF2-40B4-BE49-F238E27FC236}">
                      <a16:creationId xmlns:a16="http://schemas.microsoft.com/office/drawing/2014/main" id="{DF715AD9-3C7F-D9CE-0A94-1544ED7F9E1C}"/>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t="33984"/>
                <a:stretch/>
              </p:blipFill>
              <p:spPr>
                <a:xfrm>
                  <a:off x="10741017" y="3857559"/>
                  <a:ext cx="914400" cy="603649"/>
                </a:xfrm>
                <a:prstGeom prst="rect">
                  <a:avLst/>
                </a:prstGeom>
              </p:spPr>
            </p:pic>
          </p:grpSp>
        </p:grpSp>
        <p:sp>
          <p:nvSpPr>
            <p:cNvPr id="32" name="Forme libre : forme 31">
              <a:extLst>
                <a:ext uri="{FF2B5EF4-FFF2-40B4-BE49-F238E27FC236}">
                  <a16:creationId xmlns:a16="http://schemas.microsoft.com/office/drawing/2014/main" id="{9B429F86-1529-2D41-DA25-361D640B8D91}"/>
                </a:ext>
              </a:extLst>
            </p:cNvPr>
            <p:cNvSpPr/>
            <p:nvPr/>
          </p:nvSpPr>
          <p:spPr>
            <a:xfrm>
              <a:off x="7436625" y="2264965"/>
              <a:ext cx="3292349" cy="2167128"/>
            </a:xfrm>
            <a:custGeom>
              <a:avLst/>
              <a:gdLst>
                <a:gd name="connsiteX0" fmla="*/ 45738 w 3292349"/>
                <a:gd name="connsiteY0" fmla="*/ 1755648 h 2167128"/>
                <a:gd name="connsiteX1" fmla="*/ 128034 w 3292349"/>
                <a:gd name="connsiteY1" fmla="*/ 1764792 h 2167128"/>
                <a:gd name="connsiteX2" fmla="*/ 164610 w 3292349"/>
                <a:gd name="connsiteY2" fmla="*/ 1773936 h 2167128"/>
                <a:gd name="connsiteX3" fmla="*/ 338346 w 3292349"/>
                <a:gd name="connsiteY3" fmla="*/ 1764792 h 2167128"/>
                <a:gd name="connsiteX4" fmla="*/ 374922 w 3292349"/>
                <a:gd name="connsiteY4" fmla="*/ 1746504 h 2167128"/>
                <a:gd name="connsiteX5" fmla="*/ 457218 w 3292349"/>
                <a:gd name="connsiteY5" fmla="*/ 1709928 h 2167128"/>
                <a:gd name="connsiteX6" fmla="*/ 484650 w 3292349"/>
                <a:gd name="connsiteY6" fmla="*/ 1682496 h 2167128"/>
                <a:gd name="connsiteX7" fmla="*/ 621810 w 3292349"/>
                <a:gd name="connsiteY7" fmla="*/ 1563624 h 2167128"/>
                <a:gd name="connsiteX8" fmla="*/ 704106 w 3292349"/>
                <a:gd name="connsiteY8" fmla="*/ 1444752 h 2167128"/>
                <a:gd name="connsiteX9" fmla="*/ 740682 w 3292349"/>
                <a:gd name="connsiteY9" fmla="*/ 1399032 h 2167128"/>
                <a:gd name="connsiteX10" fmla="*/ 822978 w 3292349"/>
                <a:gd name="connsiteY10" fmla="*/ 1298448 h 2167128"/>
                <a:gd name="connsiteX11" fmla="*/ 841266 w 3292349"/>
                <a:gd name="connsiteY11" fmla="*/ 1261872 h 2167128"/>
                <a:gd name="connsiteX12" fmla="*/ 905274 w 3292349"/>
                <a:gd name="connsiteY12" fmla="*/ 1216152 h 2167128"/>
                <a:gd name="connsiteX13" fmla="*/ 960138 w 3292349"/>
                <a:gd name="connsiteY13" fmla="*/ 1207008 h 2167128"/>
                <a:gd name="connsiteX14" fmla="*/ 1005858 w 3292349"/>
                <a:gd name="connsiteY14" fmla="*/ 1197864 h 2167128"/>
                <a:gd name="connsiteX15" fmla="*/ 1106442 w 3292349"/>
                <a:gd name="connsiteY15" fmla="*/ 1207008 h 2167128"/>
                <a:gd name="connsiteX16" fmla="*/ 1161306 w 3292349"/>
                <a:gd name="connsiteY16" fmla="*/ 1243584 h 2167128"/>
                <a:gd name="connsiteX17" fmla="*/ 1207026 w 3292349"/>
                <a:gd name="connsiteY17" fmla="*/ 1280160 h 2167128"/>
                <a:gd name="connsiteX18" fmla="*/ 1225314 w 3292349"/>
                <a:gd name="connsiteY18" fmla="*/ 1307592 h 2167128"/>
                <a:gd name="connsiteX19" fmla="*/ 1261890 w 3292349"/>
                <a:gd name="connsiteY19" fmla="*/ 1353312 h 2167128"/>
                <a:gd name="connsiteX20" fmla="*/ 1298466 w 3292349"/>
                <a:gd name="connsiteY20" fmla="*/ 1408176 h 2167128"/>
                <a:gd name="connsiteX21" fmla="*/ 1325898 w 3292349"/>
                <a:gd name="connsiteY21" fmla="*/ 1435608 h 2167128"/>
                <a:gd name="connsiteX22" fmla="*/ 1353330 w 3292349"/>
                <a:gd name="connsiteY22" fmla="*/ 1472184 h 2167128"/>
                <a:gd name="connsiteX23" fmla="*/ 1444770 w 3292349"/>
                <a:gd name="connsiteY23" fmla="*/ 1463040 h 2167128"/>
                <a:gd name="connsiteX24" fmla="*/ 1472202 w 3292349"/>
                <a:gd name="connsiteY24" fmla="*/ 1444752 h 2167128"/>
                <a:gd name="connsiteX25" fmla="*/ 1536210 w 3292349"/>
                <a:gd name="connsiteY25" fmla="*/ 1380744 h 2167128"/>
                <a:gd name="connsiteX26" fmla="*/ 1591074 w 3292349"/>
                <a:gd name="connsiteY26" fmla="*/ 1325880 h 2167128"/>
                <a:gd name="connsiteX27" fmla="*/ 1627650 w 3292349"/>
                <a:gd name="connsiteY27" fmla="*/ 1271016 h 2167128"/>
                <a:gd name="connsiteX28" fmla="*/ 1655082 w 3292349"/>
                <a:gd name="connsiteY28" fmla="*/ 1243584 h 2167128"/>
                <a:gd name="connsiteX29" fmla="*/ 1709946 w 3292349"/>
                <a:gd name="connsiteY29" fmla="*/ 1152144 h 2167128"/>
                <a:gd name="connsiteX30" fmla="*/ 1737378 w 3292349"/>
                <a:gd name="connsiteY30" fmla="*/ 1124712 h 2167128"/>
                <a:gd name="connsiteX31" fmla="*/ 1837962 w 3292349"/>
                <a:gd name="connsiteY31" fmla="*/ 1014984 h 2167128"/>
                <a:gd name="connsiteX32" fmla="*/ 1920258 w 3292349"/>
                <a:gd name="connsiteY32" fmla="*/ 950976 h 2167128"/>
                <a:gd name="connsiteX33" fmla="*/ 1956834 w 3292349"/>
                <a:gd name="connsiteY33" fmla="*/ 923544 h 2167128"/>
                <a:gd name="connsiteX34" fmla="*/ 1984266 w 3292349"/>
                <a:gd name="connsiteY34" fmla="*/ 905256 h 2167128"/>
                <a:gd name="connsiteX35" fmla="*/ 2020842 w 3292349"/>
                <a:gd name="connsiteY35" fmla="*/ 868680 h 2167128"/>
                <a:gd name="connsiteX36" fmla="*/ 2066562 w 3292349"/>
                <a:gd name="connsiteY36" fmla="*/ 832104 h 2167128"/>
                <a:gd name="connsiteX37" fmla="*/ 2139714 w 3292349"/>
                <a:gd name="connsiteY37" fmla="*/ 768096 h 2167128"/>
                <a:gd name="connsiteX38" fmla="*/ 2185434 w 3292349"/>
                <a:gd name="connsiteY38" fmla="*/ 694944 h 2167128"/>
                <a:gd name="connsiteX39" fmla="*/ 2203722 w 3292349"/>
                <a:gd name="connsiteY39" fmla="*/ 649224 h 2167128"/>
                <a:gd name="connsiteX40" fmla="*/ 2222010 w 3292349"/>
                <a:gd name="connsiteY40" fmla="*/ 576072 h 2167128"/>
                <a:gd name="connsiteX41" fmla="*/ 2231154 w 3292349"/>
                <a:gd name="connsiteY41" fmla="*/ 347472 h 2167128"/>
                <a:gd name="connsiteX42" fmla="*/ 2267730 w 3292349"/>
                <a:gd name="connsiteY42" fmla="*/ 274320 h 2167128"/>
                <a:gd name="connsiteX43" fmla="*/ 2295162 w 3292349"/>
                <a:gd name="connsiteY43" fmla="*/ 246888 h 2167128"/>
                <a:gd name="connsiteX44" fmla="*/ 2395746 w 3292349"/>
                <a:gd name="connsiteY44" fmla="*/ 155448 h 2167128"/>
                <a:gd name="connsiteX45" fmla="*/ 2432322 w 3292349"/>
                <a:gd name="connsiteY45" fmla="*/ 128016 h 2167128"/>
                <a:gd name="connsiteX46" fmla="*/ 2496330 w 3292349"/>
                <a:gd name="connsiteY46" fmla="*/ 100584 h 2167128"/>
                <a:gd name="connsiteX47" fmla="*/ 2551194 w 3292349"/>
                <a:gd name="connsiteY47" fmla="*/ 82296 h 2167128"/>
                <a:gd name="connsiteX48" fmla="*/ 2660922 w 3292349"/>
                <a:gd name="connsiteY48" fmla="*/ 45720 h 2167128"/>
                <a:gd name="connsiteX49" fmla="*/ 2734074 w 3292349"/>
                <a:gd name="connsiteY49" fmla="*/ 18288 h 2167128"/>
                <a:gd name="connsiteX50" fmla="*/ 2825514 w 3292349"/>
                <a:gd name="connsiteY50" fmla="*/ 0 h 2167128"/>
                <a:gd name="connsiteX51" fmla="*/ 2935242 w 3292349"/>
                <a:gd name="connsiteY51" fmla="*/ 9144 h 2167128"/>
                <a:gd name="connsiteX52" fmla="*/ 2980962 w 3292349"/>
                <a:gd name="connsiteY52" fmla="*/ 18288 h 2167128"/>
                <a:gd name="connsiteX53" fmla="*/ 3136410 w 3292349"/>
                <a:gd name="connsiteY53" fmla="*/ 118872 h 2167128"/>
                <a:gd name="connsiteX54" fmla="*/ 3182130 w 3292349"/>
                <a:gd name="connsiteY54" fmla="*/ 146304 h 2167128"/>
                <a:gd name="connsiteX55" fmla="*/ 3264426 w 3292349"/>
                <a:gd name="connsiteY55" fmla="*/ 265176 h 2167128"/>
                <a:gd name="connsiteX56" fmla="*/ 3273570 w 3292349"/>
                <a:gd name="connsiteY56" fmla="*/ 329184 h 2167128"/>
                <a:gd name="connsiteX57" fmla="*/ 3291858 w 3292349"/>
                <a:gd name="connsiteY57" fmla="*/ 429768 h 2167128"/>
                <a:gd name="connsiteX58" fmla="*/ 3282714 w 3292349"/>
                <a:gd name="connsiteY58" fmla="*/ 612648 h 2167128"/>
                <a:gd name="connsiteX59" fmla="*/ 3264426 w 3292349"/>
                <a:gd name="connsiteY59" fmla="*/ 667512 h 2167128"/>
                <a:gd name="connsiteX60" fmla="*/ 3236994 w 3292349"/>
                <a:gd name="connsiteY60" fmla="*/ 704088 h 2167128"/>
                <a:gd name="connsiteX61" fmla="*/ 3172986 w 3292349"/>
                <a:gd name="connsiteY61" fmla="*/ 786384 h 2167128"/>
                <a:gd name="connsiteX62" fmla="*/ 3136410 w 3292349"/>
                <a:gd name="connsiteY62" fmla="*/ 804672 h 2167128"/>
                <a:gd name="connsiteX63" fmla="*/ 3063258 w 3292349"/>
                <a:gd name="connsiteY63" fmla="*/ 859536 h 2167128"/>
                <a:gd name="connsiteX64" fmla="*/ 3026682 w 3292349"/>
                <a:gd name="connsiteY64" fmla="*/ 886968 h 2167128"/>
                <a:gd name="connsiteX65" fmla="*/ 2971818 w 3292349"/>
                <a:gd name="connsiteY65" fmla="*/ 950976 h 2167128"/>
                <a:gd name="connsiteX66" fmla="*/ 2953530 w 3292349"/>
                <a:gd name="connsiteY66" fmla="*/ 978408 h 2167128"/>
                <a:gd name="connsiteX67" fmla="*/ 2916954 w 3292349"/>
                <a:gd name="connsiteY67" fmla="*/ 1024128 h 2167128"/>
                <a:gd name="connsiteX68" fmla="*/ 2898666 w 3292349"/>
                <a:gd name="connsiteY68" fmla="*/ 1051560 h 2167128"/>
                <a:gd name="connsiteX69" fmla="*/ 2852946 w 3292349"/>
                <a:gd name="connsiteY69" fmla="*/ 1115568 h 2167128"/>
                <a:gd name="connsiteX70" fmla="*/ 2834658 w 3292349"/>
                <a:gd name="connsiteY70" fmla="*/ 1161288 h 2167128"/>
                <a:gd name="connsiteX71" fmla="*/ 2843802 w 3292349"/>
                <a:gd name="connsiteY71" fmla="*/ 1344168 h 2167128"/>
                <a:gd name="connsiteX72" fmla="*/ 2852946 w 3292349"/>
                <a:gd name="connsiteY72" fmla="*/ 1380744 h 2167128"/>
                <a:gd name="connsiteX73" fmla="*/ 2926098 w 3292349"/>
                <a:gd name="connsiteY73" fmla="*/ 1426464 h 2167128"/>
                <a:gd name="connsiteX74" fmla="*/ 2953530 w 3292349"/>
                <a:gd name="connsiteY74" fmla="*/ 1444752 h 2167128"/>
                <a:gd name="connsiteX75" fmla="*/ 2990106 w 3292349"/>
                <a:gd name="connsiteY75" fmla="*/ 1472184 h 2167128"/>
                <a:gd name="connsiteX76" fmla="*/ 3081546 w 3292349"/>
                <a:gd name="connsiteY76" fmla="*/ 1499616 h 2167128"/>
                <a:gd name="connsiteX77" fmla="*/ 3118122 w 3292349"/>
                <a:gd name="connsiteY77" fmla="*/ 1527048 h 2167128"/>
                <a:gd name="connsiteX78" fmla="*/ 3182130 w 3292349"/>
                <a:gd name="connsiteY78" fmla="*/ 1554480 h 2167128"/>
                <a:gd name="connsiteX79" fmla="*/ 3218706 w 3292349"/>
                <a:gd name="connsiteY79" fmla="*/ 1591056 h 2167128"/>
                <a:gd name="connsiteX80" fmla="*/ 3255282 w 3292349"/>
                <a:gd name="connsiteY80" fmla="*/ 1618488 h 2167128"/>
                <a:gd name="connsiteX81" fmla="*/ 3264426 w 3292349"/>
                <a:gd name="connsiteY81" fmla="*/ 1655064 h 2167128"/>
                <a:gd name="connsiteX82" fmla="*/ 3282714 w 3292349"/>
                <a:gd name="connsiteY82" fmla="*/ 1682496 h 2167128"/>
                <a:gd name="connsiteX83" fmla="*/ 3264426 w 3292349"/>
                <a:gd name="connsiteY83" fmla="*/ 1773936 h 2167128"/>
                <a:gd name="connsiteX84" fmla="*/ 3246138 w 3292349"/>
                <a:gd name="connsiteY84" fmla="*/ 1810512 h 2167128"/>
                <a:gd name="connsiteX85" fmla="*/ 3191274 w 3292349"/>
                <a:gd name="connsiteY85" fmla="*/ 1874520 h 2167128"/>
                <a:gd name="connsiteX86" fmla="*/ 3163842 w 3292349"/>
                <a:gd name="connsiteY86" fmla="*/ 1883664 h 2167128"/>
                <a:gd name="connsiteX87" fmla="*/ 3081546 w 3292349"/>
                <a:gd name="connsiteY87" fmla="*/ 1911096 h 2167128"/>
                <a:gd name="connsiteX88" fmla="*/ 2916954 w 3292349"/>
                <a:gd name="connsiteY88" fmla="*/ 1892808 h 2167128"/>
                <a:gd name="connsiteX89" fmla="*/ 2834658 w 3292349"/>
                <a:gd name="connsiteY89" fmla="*/ 1847088 h 2167128"/>
                <a:gd name="connsiteX90" fmla="*/ 2770650 w 3292349"/>
                <a:gd name="connsiteY90" fmla="*/ 1792224 h 2167128"/>
                <a:gd name="connsiteX91" fmla="*/ 2734074 w 3292349"/>
                <a:gd name="connsiteY91" fmla="*/ 1764792 h 2167128"/>
                <a:gd name="connsiteX92" fmla="*/ 2706642 w 3292349"/>
                <a:gd name="connsiteY92" fmla="*/ 1737360 h 2167128"/>
                <a:gd name="connsiteX93" fmla="*/ 2651778 w 3292349"/>
                <a:gd name="connsiteY93" fmla="*/ 1709928 h 2167128"/>
                <a:gd name="connsiteX94" fmla="*/ 2615202 w 3292349"/>
                <a:gd name="connsiteY94" fmla="*/ 1682496 h 2167128"/>
                <a:gd name="connsiteX95" fmla="*/ 2560338 w 3292349"/>
                <a:gd name="connsiteY95" fmla="*/ 1664208 h 2167128"/>
                <a:gd name="connsiteX96" fmla="*/ 2514618 w 3292349"/>
                <a:gd name="connsiteY96" fmla="*/ 1645920 h 2167128"/>
                <a:gd name="connsiteX97" fmla="*/ 2459754 w 3292349"/>
                <a:gd name="connsiteY97" fmla="*/ 1627632 h 2167128"/>
                <a:gd name="connsiteX98" fmla="*/ 2331738 w 3292349"/>
                <a:gd name="connsiteY98" fmla="*/ 1554480 h 2167128"/>
                <a:gd name="connsiteX99" fmla="*/ 2267730 w 3292349"/>
                <a:gd name="connsiteY99" fmla="*/ 1527048 h 2167128"/>
                <a:gd name="connsiteX100" fmla="*/ 2075706 w 3292349"/>
                <a:gd name="connsiteY100" fmla="*/ 1453896 h 2167128"/>
                <a:gd name="connsiteX101" fmla="*/ 1883682 w 3292349"/>
                <a:gd name="connsiteY101" fmla="*/ 1481328 h 2167128"/>
                <a:gd name="connsiteX102" fmla="*/ 1856250 w 3292349"/>
                <a:gd name="connsiteY102" fmla="*/ 1499616 h 2167128"/>
                <a:gd name="connsiteX103" fmla="*/ 1810530 w 3292349"/>
                <a:gd name="connsiteY103" fmla="*/ 1554480 h 2167128"/>
                <a:gd name="connsiteX104" fmla="*/ 1801386 w 3292349"/>
                <a:gd name="connsiteY104" fmla="*/ 1581912 h 2167128"/>
                <a:gd name="connsiteX105" fmla="*/ 1792242 w 3292349"/>
                <a:gd name="connsiteY105" fmla="*/ 1636776 h 2167128"/>
                <a:gd name="connsiteX106" fmla="*/ 1810530 w 3292349"/>
                <a:gd name="connsiteY106" fmla="*/ 1792224 h 2167128"/>
                <a:gd name="connsiteX107" fmla="*/ 1819674 w 3292349"/>
                <a:gd name="connsiteY107" fmla="*/ 1828800 h 2167128"/>
                <a:gd name="connsiteX108" fmla="*/ 1810530 w 3292349"/>
                <a:gd name="connsiteY108" fmla="*/ 1929384 h 2167128"/>
                <a:gd name="connsiteX109" fmla="*/ 1801386 w 3292349"/>
                <a:gd name="connsiteY109" fmla="*/ 1975104 h 2167128"/>
                <a:gd name="connsiteX110" fmla="*/ 1773954 w 3292349"/>
                <a:gd name="connsiteY110" fmla="*/ 2011680 h 2167128"/>
                <a:gd name="connsiteX111" fmla="*/ 1755666 w 3292349"/>
                <a:gd name="connsiteY111" fmla="*/ 2039112 h 2167128"/>
                <a:gd name="connsiteX112" fmla="*/ 1673370 w 3292349"/>
                <a:gd name="connsiteY112" fmla="*/ 2130552 h 2167128"/>
                <a:gd name="connsiteX113" fmla="*/ 1627650 w 3292349"/>
                <a:gd name="connsiteY113" fmla="*/ 2148840 h 2167128"/>
                <a:gd name="connsiteX114" fmla="*/ 1517922 w 3292349"/>
                <a:gd name="connsiteY114" fmla="*/ 2167128 h 2167128"/>
                <a:gd name="connsiteX115" fmla="*/ 1197882 w 3292349"/>
                <a:gd name="connsiteY115" fmla="*/ 2157984 h 2167128"/>
                <a:gd name="connsiteX116" fmla="*/ 1042434 w 3292349"/>
                <a:gd name="connsiteY116" fmla="*/ 2112264 h 2167128"/>
                <a:gd name="connsiteX117" fmla="*/ 841266 w 3292349"/>
                <a:gd name="connsiteY117" fmla="*/ 2075688 h 2167128"/>
                <a:gd name="connsiteX118" fmla="*/ 704106 w 3292349"/>
                <a:gd name="connsiteY118" fmla="*/ 2066544 h 2167128"/>
                <a:gd name="connsiteX119" fmla="*/ 356634 w 3292349"/>
                <a:gd name="connsiteY119" fmla="*/ 2048256 h 2167128"/>
                <a:gd name="connsiteX120" fmla="*/ 292626 w 3292349"/>
                <a:gd name="connsiteY120" fmla="*/ 2039112 h 2167128"/>
                <a:gd name="connsiteX121" fmla="*/ 219474 w 3292349"/>
                <a:gd name="connsiteY121" fmla="*/ 2029968 h 2167128"/>
                <a:gd name="connsiteX122" fmla="*/ 164610 w 3292349"/>
                <a:gd name="connsiteY122" fmla="*/ 2011680 h 2167128"/>
                <a:gd name="connsiteX123" fmla="*/ 91458 w 3292349"/>
                <a:gd name="connsiteY123" fmla="*/ 1984248 h 2167128"/>
                <a:gd name="connsiteX124" fmla="*/ 64026 w 3292349"/>
                <a:gd name="connsiteY124" fmla="*/ 1965960 h 2167128"/>
                <a:gd name="connsiteX125" fmla="*/ 9162 w 3292349"/>
                <a:gd name="connsiteY125" fmla="*/ 1911096 h 2167128"/>
                <a:gd name="connsiteX126" fmla="*/ 9162 w 3292349"/>
                <a:gd name="connsiteY126" fmla="*/ 1792224 h 2167128"/>
                <a:gd name="connsiteX127" fmla="*/ 36594 w 3292349"/>
                <a:gd name="connsiteY127" fmla="*/ 1773936 h 2167128"/>
                <a:gd name="connsiteX128" fmla="*/ 45738 w 3292349"/>
                <a:gd name="connsiteY128" fmla="*/ 1755648 h 216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92349" h="2167128">
                  <a:moveTo>
                    <a:pt x="45738" y="1755648"/>
                  </a:moveTo>
                  <a:cubicBezTo>
                    <a:pt x="60978" y="1754124"/>
                    <a:pt x="100754" y="1760595"/>
                    <a:pt x="128034" y="1764792"/>
                  </a:cubicBezTo>
                  <a:cubicBezTo>
                    <a:pt x="140455" y="1766703"/>
                    <a:pt x="152043" y="1773936"/>
                    <a:pt x="164610" y="1773936"/>
                  </a:cubicBezTo>
                  <a:cubicBezTo>
                    <a:pt x="222602" y="1773936"/>
                    <a:pt x="280434" y="1767840"/>
                    <a:pt x="338346" y="1764792"/>
                  </a:cubicBezTo>
                  <a:cubicBezTo>
                    <a:pt x="350538" y="1758696"/>
                    <a:pt x="362466" y="1752040"/>
                    <a:pt x="374922" y="1746504"/>
                  </a:cubicBezTo>
                  <a:cubicBezTo>
                    <a:pt x="393899" y="1738070"/>
                    <a:pt x="438680" y="1723169"/>
                    <a:pt x="457218" y="1709928"/>
                  </a:cubicBezTo>
                  <a:cubicBezTo>
                    <a:pt x="467741" y="1702412"/>
                    <a:pt x="474442" y="1690435"/>
                    <a:pt x="484650" y="1682496"/>
                  </a:cubicBezTo>
                  <a:cubicBezTo>
                    <a:pt x="549363" y="1632164"/>
                    <a:pt x="563562" y="1647760"/>
                    <a:pt x="621810" y="1563624"/>
                  </a:cubicBezTo>
                  <a:cubicBezTo>
                    <a:pt x="649242" y="1524000"/>
                    <a:pt x="674000" y="1482384"/>
                    <a:pt x="704106" y="1444752"/>
                  </a:cubicBezTo>
                  <a:cubicBezTo>
                    <a:pt x="716298" y="1429512"/>
                    <a:pt x="729856" y="1415271"/>
                    <a:pt x="740682" y="1399032"/>
                  </a:cubicBezTo>
                  <a:cubicBezTo>
                    <a:pt x="803462" y="1304862"/>
                    <a:pt x="744948" y="1360872"/>
                    <a:pt x="822978" y="1298448"/>
                  </a:cubicBezTo>
                  <a:cubicBezTo>
                    <a:pt x="829074" y="1286256"/>
                    <a:pt x="833343" y="1272964"/>
                    <a:pt x="841266" y="1261872"/>
                  </a:cubicBezTo>
                  <a:cubicBezTo>
                    <a:pt x="856552" y="1240471"/>
                    <a:pt x="880094" y="1223706"/>
                    <a:pt x="905274" y="1216152"/>
                  </a:cubicBezTo>
                  <a:cubicBezTo>
                    <a:pt x="923032" y="1210824"/>
                    <a:pt x="941897" y="1210325"/>
                    <a:pt x="960138" y="1207008"/>
                  </a:cubicBezTo>
                  <a:cubicBezTo>
                    <a:pt x="975429" y="1204228"/>
                    <a:pt x="990618" y="1200912"/>
                    <a:pt x="1005858" y="1197864"/>
                  </a:cubicBezTo>
                  <a:cubicBezTo>
                    <a:pt x="1039386" y="1200912"/>
                    <a:pt x="1074144" y="1197509"/>
                    <a:pt x="1106442" y="1207008"/>
                  </a:cubicBezTo>
                  <a:cubicBezTo>
                    <a:pt x="1127528" y="1213210"/>
                    <a:pt x="1144143" y="1229854"/>
                    <a:pt x="1161306" y="1243584"/>
                  </a:cubicBezTo>
                  <a:cubicBezTo>
                    <a:pt x="1176546" y="1255776"/>
                    <a:pt x="1193226" y="1266360"/>
                    <a:pt x="1207026" y="1280160"/>
                  </a:cubicBezTo>
                  <a:cubicBezTo>
                    <a:pt x="1214797" y="1287931"/>
                    <a:pt x="1218720" y="1298800"/>
                    <a:pt x="1225314" y="1307592"/>
                  </a:cubicBezTo>
                  <a:cubicBezTo>
                    <a:pt x="1237024" y="1323205"/>
                    <a:pt x="1250411" y="1337528"/>
                    <a:pt x="1261890" y="1353312"/>
                  </a:cubicBezTo>
                  <a:cubicBezTo>
                    <a:pt x="1274818" y="1371088"/>
                    <a:pt x="1284972" y="1390826"/>
                    <a:pt x="1298466" y="1408176"/>
                  </a:cubicBezTo>
                  <a:cubicBezTo>
                    <a:pt x="1306405" y="1418384"/>
                    <a:pt x="1317482" y="1425790"/>
                    <a:pt x="1325898" y="1435608"/>
                  </a:cubicBezTo>
                  <a:cubicBezTo>
                    <a:pt x="1335816" y="1447179"/>
                    <a:pt x="1344186" y="1459992"/>
                    <a:pt x="1353330" y="1472184"/>
                  </a:cubicBezTo>
                  <a:cubicBezTo>
                    <a:pt x="1383810" y="1469136"/>
                    <a:pt x="1414922" y="1469928"/>
                    <a:pt x="1444770" y="1463040"/>
                  </a:cubicBezTo>
                  <a:cubicBezTo>
                    <a:pt x="1455478" y="1460569"/>
                    <a:pt x="1463410" y="1451346"/>
                    <a:pt x="1472202" y="1444752"/>
                  </a:cubicBezTo>
                  <a:cubicBezTo>
                    <a:pt x="1570967" y="1370678"/>
                    <a:pt x="1482059" y="1441664"/>
                    <a:pt x="1536210" y="1380744"/>
                  </a:cubicBezTo>
                  <a:cubicBezTo>
                    <a:pt x="1553393" y="1361414"/>
                    <a:pt x="1576728" y="1347399"/>
                    <a:pt x="1591074" y="1325880"/>
                  </a:cubicBezTo>
                  <a:cubicBezTo>
                    <a:pt x="1603266" y="1307592"/>
                    <a:pt x="1612108" y="1286558"/>
                    <a:pt x="1627650" y="1271016"/>
                  </a:cubicBezTo>
                  <a:cubicBezTo>
                    <a:pt x="1636794" y="1261872"/>
                    <a:pt x="1647909" y="1254344"/>
                    <a:pt x="1655082" y="1243584"/>
                  </a:cubicBezTo>
                  <a:cubicBezTo>
                    <a:pt x="1714069" y="1155103"/>
                    <a:pt x="1651806" y="1219974"/>
                    <a:pt x="1709946" y="1152144"/>
                  </a:cubicBezTo>
                  <a:cubicBezTo>
                    <a:pt x="1718362" y="1142326"/>
                    <a:pt x="1728962" y="1134530"/>
                    <a:pt x="1737378" y="1124712"/>
                  </a:cubicBezTo>
                  <a:cubicBezTo>
                    <a:pt x="1784929" y="1069235"/>
                    <a:pt x="1755326" y="1079256"/>
                    <a:pt x="1837962" y="1014984"/>
                  </a:cubicBezTo>
                  <a:lnTo>
                    <a:pt x="1920258" y="950976"/>
                  </a:lnTo>
                  <a:cubicBezTo>
                    <a:pt x="1932338" y="941684"/>
                    <a:pt x="1944154" y="931998"/>
                    <a:pt x="1956834" y="923544"/>
                  </a:cubicBezTo>
                  <a:cubicBezTo>
                    <a:pt x="1965978" y="917448"/>
                    <a:pt x="1975922" y="912408"/>
                    <a:pt x="1984266" y="905256"/>
                  </a:cubicBezTo>
                  <a:cubicBezTo>
                    <a:pt x="1997357" y="894035"/>
                    <a:pt x="2007955" y="880135"/>
                    <a:pt x="2020842" y="868680"/>
                  </a:cubicBezTo>
                  <a:cubicBezTo>
                    <a:pt x="2035429" y="855714"/>
                    <a:pt x="2052055" y="845160"/>
                    <a:pt x="2066562" y="832104"/>
                  </a:cubicBezTo>
                  <a:cubicBezTo>
                    <a:pt x="2142978" y="763330"/>
                    <a:pt x="2082660" y="806132"/>
                    <a:pt x="2139714" y="768096"/>
                  </a:cubicBezTo>
                  <a:cubicBezTo>
                    <a:pt x="2154221" y="746335"/>
                    <a:pt x="2174405" y="717001"/>
                    <a:pt x="2185434" y="694944"/>
                  </a:cubicBezTo>
                  <a:cubicBezTo>
                    <a:pt x="2192775" y="680263"/>
                    <a:pt x="2198895" y="664912"/>
                    <a:pt x="2203722" y="649224"/>
                  </a:cubicBezTo>
                  <a:cubicBezTo>
                    <a:pt x="2211114" y="625201"/>
                    <a:pt x="2222010" y="576072"/>
                    <a:pt x="2222010" y="576072"/>
                  </a:cubicBezTo>
                  <a:cubicBezTo>
                    <a:pt x="2225058" y="499872"/>
                    <a:pt x="2223566" y="423354"/>
                    <a:pt x="2231154" y="347472"/>
                  </a:cubicBezTo>
                  <a:cubicBezTo>
                    <a:pt x="2233064" y="328374"/>
                    <a:pt x="2254036" y="290753"/>
                    <a:pt x="2267730" y="274320"/>
                  </a:cubicBezTo>
                  <a:cubicBezTo>
                    <a:pt x="2276009" y="264386"/>
                    <a:pt x="2286746" y="256706"/>
                    <a:pt x="2295162" y="246888"/>
                  </a:cubicBezTo>
                  <a:cubicBezTo>
                    <a:pt x="2359170" y="172212"/>
                    <a:pt x="2273826" y="246888"/>
                    <a:pt x="2395746" y="155448"/>
                  </a:cubicBezTo>
                  <a:cubicBezTo>
                    <a:pt x="2407938" y="146304"/>
                    <a:pt x="2418314" y="134019"/>
                    <a:pt x="2432322" y="128016"/>
                  </a:cubicBezTo>
                  <a:cubicBezTo>
                    <a:pt x="2453658" y="118872"/>
                    <a:pt x="2474664" y="108917"/>
                    <a:pt x="2496330" y="100584"/>
                  </a:cubicBezTo>
                  <a:cubicBezTo>
                    <a:pt x="2514322" y="93664"/>
                    <a:pt x="2533645" y="90273"/>
                    <a:pt x="2551194" y="82296"/>
                  </a:cubicBezTo>
                  <a:cubicBezTo>
                    <a:pt x="2645356" y="39495"/>
                    <a:pt x="2542987" y="62568"/>
                    <a:pt x="2660922" y="45720"/>
                  </a:cubicBezTo>
                  <a:cubicBezTo>
                    <a:pt x="2685306" y="36576"/>
                    <a:pt x="2708982" y="25258"/>
                    <a:pt x="2734074" y="18288"/>
                  </a:cubicBezTo>
                  <a:cubicBezTo>
                    <a:pt x="2764024" y="9969"/>
                    <a:pt x="2825514" y="0"/>
                    <a:pt x="2825514" y="0"/>
                  </a:cubicBezTo>
                  <a:cubicBezTo>
                    <a:pt x="2862090" y="3048"/>
                    <a:pt x="2898791" y="4856"/>
                    <a:pt x="2935242" y="9144"/>
                  </a:cubicBezTo>
                  <a:cubicBezTo>
                    <a:pt x="2950677" y="10960"/>
                    <a:pt x="2967061" y="11337"/>
                    <a:pt x="2980962" y="18288"/>
                  </a:cubicBezTo>
                  <a:cubicBezTo>
                    <a:pt x="3134177" y="94896"/>
                    <a:pt x="3055615" y="65009"/>
                    <a:pt x="3136410" y="118872"/>
                  </a:cubicBezTo>
                  <a:cubicBezTo>
                    <a:pt x="3151198" y="128731"/>
                    <a:pt x="3166890" y="137160"/>
                    <a:pt x="3182130" y="146304"/>
                  </a:cubicBezTo>
                  <a:cubicBezTo>
                    <a:pt x="3247658" y="233674"/>
                    <a:pt x="3221312" y="193320"/>
                    <a:pt x="3264426" y="265176"/>
                  </a:cubicBezTo>
                  <a:cubicBezTo>
                    <a:pt x="3267474" y="286512"/>
                    <a:pt x="3270027" y="307925"/>
                    <a:pt x="3273570" y="329184"/>
                  </a:cubicBezTo>
                  <a:cubicBezTo>
                    <a:pt x="3279172" y="362798"/>
                    <a:pt x="3290759" y="395708"/>
                    <a:pt x="3291858" y="429768"/>
                  </a:cubicBezTo>
                  <a:cubicBezTo>
                    <a:pt x="3293826" y="490772"/>
                    <a:pt x="3289710" y="552014"/>
                    <a:pt x="3282714" y="612648"/>
                  </a:cubicBezTo>
                  <a:cubicBezTo>
                    <a:pt x="3280504" y="631798"/>
                    <a:pt x="3273047" y="650270"/>
                    <a:pt x="3264426" y="667512"/>
                  </a:cubicBezTo>
                  <a:cubicBezTo>
                    <a:pt x="3257610" y="681143"/>
                    <a:pt x="3245734" y="691603"/>
                    <a:pt x="3236994" y="704088"/>
                  </a:cubicBezTo>
                  <a:cubicBezTo>
                    <a:pt x="3218087" y="731099"/>
                    <a:pt x="3201344" y="766128"/>
                    <a:pt x="3172986" y="786384"/>
                  </a:cubicBezTo>
                  <a:cubicBezTo>
                    <a:pt x="3161894" y="794307"/>
                    <a:pt x="3147752" y="797111"/>
                    <a:pt x="3136410" y="804672"/>
                  </a:cubicBezTo>
                  <a:cubicBezTo>
                    <a:pt x="3111049" y="821579"/>
                    <a:pt x="3087642" y="841248"/>
                    <a:pt x="3063258" y="859536"/>
                  </a:cubicBezTo>
                  <a:cubicBezTo>
                    <a:pt x="3051066" y="868680"/>
                    <a:pt x="3035136" y="874288"/>
                    <a:pt x="3026682" y="886968"/>
                  </a:cubicBezTo>
                  <a:cubicBezTo>
                    <a:pt x="2984697" y="949946"/>
                    <a:pt x="3038338" y="873369"/>
                    <a:pt x="2971818" y="950976"/>
                  </a:cubicBezTo>
                  <a:cubicBezTo>
                    <a:pt x="2964666" y="959320"/>
                    <a:pt x="2960124" y="969616"/>
                    <a:pt x="2953530" y="978408"/>
                  </a:cubicBezTo>
                  <a:cubicBezTo>
                    <a:pt x="2941820" y="994021"/>
                    <a:pt x="2928664" y="1008515"/>
                    <a:pt x="2916954" y="1024128"/>
                  </a:cubicBezTo>
                  <a:cubicBezTo>
                    <a:pt x="2910360" y="1032920"/>
                    <a:pt x="2905054" y="1042617"/>
                    <a:pt x="2898666" y="1051560"/>
                  </a:cubicBezTo>
                  <a:cubicBezTo>
                    <a:pt x="2891763" y="1061224"/>
                    <a:pt x="2860129" y="1101202"/>
                    <a:pt x="2852946" y="1115568"/>
                  </a:cubicBezTo>
                  <a:cubicBezTo>
                    <a:pt x="2845605" y="1130249"/>
                    <a:pt x="2840754" y="1146048"/>
                    <a:pt x="2834658" y="1161288"/>
                  </a:cubicBezTo>
                  <a:cubicBezTo>
                    <a:pt x="2837706" y="1222248"/>
                    <a:pt x="2838733" y="1283343"/>
                    <a:pt x="2843802" y="1344168"/>
                  </a:cubicBezTo>
                  <a:cubicBezTo>
                    <a:pt x="2844846" y="1356692"/>
                    <a:pt x="2845641" y="1370518"/>
                    <a:pt x="2852946" y="1380744"/>
                  </a:cubicBezTo>
                  <a:cubicBezTo>
                    <a:pt x="2868018" y="1401845"/>
                    <a:pt x="2904878" y="1414338"/>
                    <a:pt x="2926098" y="1426464"/>
                  </a:cubicBezTo>
                  <a:cubicBezTo>
                    <a:pt x="2935640" y="1431916"/>
                    <a:pt x="2944587" y="1438364"/>
                    <a:pt x="2953530" y="1444752"/>
                  </a:cubicBezTo>
                  <a:cubicBezTo>
                    <a:pt x="2965931" y="1453610"/>
                    <a:pt x="2976784" y="1464783"/>
                    <a:pt x="2990106" y="1472184"/>
                  </a:cubicBezTo>
                  <a:cubicBezTo>
                    <a:pt x="3023940" y="1490981"/>
                    <a:pt x="3044648" y="1492236"/>
                    <a:pt x="3081546" y="1499616"/>
                  </a:cubicBezTo>
                  <a:cubicBezTo>
                    <a:pt x="3093738" y="1508760"/>
                    <a:pt x="3105199" y="1518971"/>
                    <a:pt x="3118122" y="1527048"/>
                  </a:cubicBezTo>
                  <a:cubicBezTo>
                    <a:pt x="3143949" y="1543190"/>
                    <a:pt x="3155463" y="1545591"/>
                    <a:pt x="3182130" y="1554480"/>
                  </a:cubicBezTo>
                  <a:cubicBezTo>
                    <a:pt x="3194322" y="1566672"/>
                    <a:pt x="3205730" y="1579702"/>
                    <a:pt x="3218706" y="1591056"/>
                  </a:cubicBezTo>
                  <a:cubicBezTo>
                    <a:pt x="3230175" y="1601092"/>
                    <a:pt x="3246424" y="1606087"/>
                    <a:pt x="3255282" y="1618488"/>
                  </a:cubicBezTo>
                  <a:cubicBezTo>
                    <a:pt x="3262587" y="1628714"/>
                    <a:pt x="3259476" y="1643513"/>
                    <a:pt x="3264426" y="1655064"/>
                  </a:cubicBezTo>
                  <a:cubicBezTo>
                    <a:pt x="3268755" y="1665165"/>
                    <a:pt x="3276618" y="1673352"/>
                    <a:pt x="3282714" y="1682496"/>
                  </a:cubicBezTo>
                  <a:cubicBezTo>
                    <a:pt x="3276618" y="1712976"/>
                    <a:pt x="3272965" y="1744048"/>
                    <a:pt x="3264426" y="1773936"/>
                  </a:cubicBezTo>
                  <a:cubicBezTo>
                    <a:pt x="3260681" y="1787043"/>
                    <a:pt x="3252901" y="1798677"/>
                    <a:pt x="3246138" y="1810512"/>
                  </a:cubicBezTo>
                  <a:cubicBezTo>
                    <a:pt x="3232806" y="1833843"/>
                    <a:pt x="3212839" y="1859116"/>
                    <a:pt x="3191274" y="1874520"/>
                  </a:cubicBezTo>
                  <a:cubicBezTo>
                    <a:pt x="3183431" y="1880122"/>
                    <a:pt x="3172867" y="1880280"/>
                    <a:pt x="3163842" y="1883664"/>
                  </a:cubicBezTo>
                  <a:cubicBezTo>
                    <a:pt x="3094976" y="1909489"/>
                    <a:pt x="3142834" y="1895774"/>
                    <a:pt x="3081546" y="1911096"/>
                  </a:cubicBezTo>
                  <a:cubicBezTo>
                    <a:pt x="3026682" y="1905000"/>
                    <a:pt x="2971601" y="1900615"/>
                    <a:pt x="2916954" y="1892808"/>
                  </a:cubicBezTo>
                  <a:cubicBezTo>
                    <a:pt x="2887603" y="1888615"/>
                    <a:pt x="2854368" y="1861871"/>
                    <a:pt x="2834658" y="1847088"/>
                  </a:cubicBezTo>
                  <a:cubicBezTo>
                    <a:pt x="2727698" y="1766868"/>
                    <a:pt x="2859803" y="1868641"/>
                    <a:pt x="2770650" y="1792224"/>
                  </a:cubicBezTo>
                  <a:cubicBezTo>
                    <a:pt x="2759079" y="1782306"/>
                    <a:pt x="2745645" y="1774710"/>
                    <a:pt x="2734074" y="1764792"/>
                  </a:cubicBezTo>
                  <a:cubicBezTo>
                    <a:pt x="2724256" y="1756376"/>
                    <a:pt x="2717402" y="1744533"/>
                    <a:pt x="2706642" y="1737360"/>
                  </a:cubicBezTo>
                  <a:cubicBezTo>
                    <a:pt x="2689629" y="1726018"/>
                    <a:pt x="2669311" y="1720448"/>
                    <a:pt x="2651778" y="1709928"/>
                  </a:cubicBezTo>
                  <a:cubicBezTo>
                    <a:pt x="2638710" y="1702087"/>
                    <a:pt x="2628833" y="1689312"/>
                    <a:pt x="2615202" y="1682496"/>
                  </a:cubicBezTo>
                  <a:cubicBezTo>
                    <a:pt x="2597960" y="1673875"/>
                    <a:pt x="2578455" y="1670796"/>
                    <a:pt x="2560338" y="1664208"/>
                  </a:cubicBezTo>
                  <a:cubicBezTo>
                    <a:pt x="2544912" y="1658599"/>
                    <a:pt x="2530044" y="1651529"/>
                    <a:pt x="2514618" y="1645920"/>
                  </a:cubicBezTo>
                  <a:cubicBezTo>
                    <a:pt x="2496501" y="1639332"/>
                    <a:pt x="2476996" y="1636253"/>
                    <a:pt x="2459754" y="1627632"/>
                  </a:cubicBezTo>
                  <a:cubicBezTo>
                    <a:pt x="2415795" y="1605653"/>
                    <a:pt x="2376912" y="1573840"/>
                    <a:pt x="2331738" y="1554480"/>
                  </a:cubicBezTo>
                  <a:cubicBezTo>
                    <a:pt x="2310402" y="1545336"/>
                    <a:pt x="2288688" y="1537028"/>
                    <a:pt x="2267730" y="1527048"/>
                  </a:cubicBezTo>
                  <a:cubicBezTo>
                    <a:pt x="2109916" y="1451898"/>
                    <a:pt x="2191696" y="1470466"/>
                    <a:pt x="2075706" y="1453896"/>
                  </a:cubicBezTo>
                  <a:cubicBezTo>
                    <a:pt x="2011698" y="1463040"/>
                    <a:pt x="1946981" y="1468141"/>
                    <a:pt x="1883682" y="1481328"/>
                  </a:cubicBezTo>
                  <a:cubicBezTo>
                    <a:pt x="1872923" y="1483569"/>
                    <a:pt x="1864693" y="1492581"/>
                    <a:pt x="1856250" y="1499616"/>
                  </a:cubicBezTo>
                  <a:cubicBezTo>
                    <a:pt x="1838916" y="1514061"/>
                    <a:pt x="1820805" y="1533929"/>
                    <a:pt x="1810530" y="1554480"/>
                  </a:cubicBezTo>
                  <a:cubicBezTo>
                    <a:pt x="1806219" y="1563101"/>
                    <a:pt x="1803477" y="1572503"/>
                    <a:pt x="1801386" y="1581912"/>
                  </a:cubicBezTo>
                  <a:cubicBezTo>
                    <a:pt x="1797364" y="1600011"/>
                    <a:pt x="1795290" y="1618488"/>
                    <a:pt x="1792242" y="1636776"/>
                  </a:cubicBezTo>
                  <a:cubicBezTo>
                    <a:pt x="1798338" y="1688592"/>
                    <a:pt x="1803152" y="1740575"/>
                    <a:pt x="1810530" y="1792224"/>
                  </a:cubicBezTo>
                  <a:cubicBezTo>
                    <a:pt x="1812307" y="1804665"/>
                    <a:pt x="1819674" y="1816233"/>
                    <a:pt x="1819674" y="1828800"/>
                  </a:cubicBezTo>
                  <a:cubicBezTo>
                    <a:pt x="1819674" y="1862466"/>
                    <a:pt x="1814706" y="1895978"/>
                    <a:pt x="1810530" y="1929384"/>
                  </a:cubicBezTo>
                  <a:cubicBezTo>
                    <a:pt x="1808602" y="1944806"/>
                    <a:pt x="1807698" y="1960902"/>
                    <a:pt x="1801386" y="1975104"/>
                  </a:cubicBezTo>
                  <a:cubicBezTo>
                    <a:pt x="1795196" y="1989030"/>
                    <a:pt x="1782812" y="1999279"/>
                    <a:pt x="1773954" y="2011680"/>
                  </a:cubicBezTo>
                  <a:cubicBezTo>
                    <a:pt x="1767566" y="2020623"/>
                    <a:pt x="1762054" y="2030169"/>
                    <a:pt x="1755666" y="2039112"/>
                  </a:cubicBezTo>
                  <a:cubicBezTo>
                    <a:pt x="1738787" y="2062743"/>
                    <a:pt x="1694767" y="2121993"/>
                    <a:pt x="1673370" y="2130552"/>
                  </a:cubicBezTo>
                  <a:cubicBezTo>
                    <a:pt x="1658130" y="2136648"/>
                    <a:pt x="1643372" y="2144123"/>
                    <a:pt x="1627650" y="2148840"/>
                  </a:cubicBezTo>
                  <a:cubicBezTo>
                    <a:pt x="1603339" y="2156133"/>
                    <a:pt x="1538318" y="2164214"/>
                    <a:pt x="1517922" y="2167128"/>
                  </a:cubicBezTo>
                  <a:cubicBezTo>
                    <a:pt x="1411242" y="2164080"/>
                    <a:pt x="1303902" y="2170217"/>
                    <a:pt x="1197882" y="2157984"/>
                  </a:cubicBezTo>
                  <a:cubicBezTo>
                    <a:pt x="1144227" y="2151793"/>
                    <a:pt x="1094832" y="2125364"/>
                    <a:pt x="1042434" y="2112264"/>
                  </a:cubicBezTo>
                  <a:cubicBezTo>
                    <a:pt x="964515" y="2092784"/>
                    <a:pt x="930622" y="2081645"/>
                    <a:pt x="841266" y="2075688"/>
                  </a:cubicBezTo>
                  <a:lnTo>
                    <a:pt x="704106" y="2066544"/>
                  </a:lnTo>
                  <a:cubicBezTo>
                    <a:pt x="554759" y="2059077"/>
                    <a:pt x="489549" y="2061547"/>
                    <a:pt x="356634" y="2048256"/>
                  </a:cubicBezTo>
                  <a:cubicBezTo>
                    <a:pt x="335188" y="2046111"/>
                    <a:pt x="313990" y="2041960"/>
                    <a:pt x="292626" y="2039112"/>
                  </a:cubicBezTo>
                  <a:lnTo>
                    <a:pt x="219474" y="2029968"/>
                  </a:lnTo>
                  <a:cubicBezTo>
                    <a:pt x="201186" y="2023872"/>
                    <a:pt x="182508" y="2018839"/>
                    <a:pt x="164610" y="2011680"/>
                  </a:cubicBezTo>
                  <a:cubicBezTo>
                    <a:pt x="84916" y="1979802"/>
                    <a:pt x="170648" y="2004045"/>
                    <a:pt x="91458" y="1984248"/>
                  </a:cubicBezTo>
                  <a:cubicBezTo>
                    <a:pt x="82314" y="1978152"/>
                    <a:pt x="72240" y="1973261"/>
                    <a:pt x="64026" y="1965960"/>
                  </a:cubicBezTo>
                  <a:cubicBezTo>
                    <a:pt x="44696" y="1948777"/>
                    <a:pt x="9162" y="1911096"/>
                    <a:pt x="9162" y="1911096"/>
                  </a:cubicBezTo>
                  <a:cubicBezTo>
                    <a:pt x="5450" y="1881397"/>
                    <a:pt x="-9456" y="1824805"/>
                    <a:pt x="9162" y="1792224"/>
                  </a:cubicBezTo>
                  <a:cubicBezTo>
                    <a:pt x="14614" y="1782682"/>
                    <a:pt x="26493" y="1778265"/>
                    <a:pt x="36594" y="1773936"/>
                  </a:cubicBezTo>
                  <a:cubicBezTo>
                    <a:pt x="59655" y="1764053"/>
                    <a:pt x="30498" y="1757172"/>
                    <a:pt x="45738" y="1755648"/>
                  </a:cubicBezTo>
                  <a:close/>
                </a:path>
              </a:pathLst>
            </a:custGeom>
            <a:noFill/>
            <a:ln w="3175">
              <a:solidFill>
                <a:srgbClr val="3494BA"/>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 forme 32">
              <a:extLst>
                <a:ext uri="{FF2B5EF4-FFF2-40B4-BE49-F238E27FC236}">
                  <a16:creationId xmlns:a16="http://schemas.microsoft.com/office/drawing/2014/main" id="{1370961C-F66A-9656-C497-AC85CE8EF808}"/>
                </a:ext>
              </a:extLst>
            </p:cNvPr>
            <p:cNvSpPr/>
            <p:nvPr/>
          </p:nvSpPr>
          <p:spPr>
            <a:xfrm>
              <a:off x="9874807" y="3864733"/>
              <a:ext cx="1966074" cy="2111248"/>
            </a:xfrm>
            <a:custGeom>
              <a:avLst/>
              <a:gdLst>
                <a:gd name="connsiteX0" fmla="*/ 1911210 w 1966074"/>
                <a:gd name="connsiteY0" fmla="*/ 1370584 h 2111248"/>
                <a:gd name="connsiteX1" fmla="*/ 1929498 w 1966074"/>
                <a:gd name="connsiteY1" fmla="*/ 1151128 h 2111248"/>
                <a:gd name="connsiteX2" fmla="*/ 1947786 w 1966074"/>
                <a:gd name="connsiteY2" fmla="*/ 1023112 h 2111248"/>
                <a:gd name="connsiteX3" fmla="*/ 1966074 w 1966074"/>
                <a:gd name="connsiteY3" fmla="*/ 876808 h 2111248"/>
                <a:gd name="connsiteX4" fmla="*/ 1956930 w 1966074"/>
                <a:gd name="connsiteY4" fmla="*/ 483616 h 2111248"/>
                <a:gd name="connsiteX5" fmla="*/ 1929498 w 1966074"/>
                <a:gd name="connsiteY5" fmla="*/ 410464 h 2111248"/>
                <a:gd name="connsiteX6" fmla="*/ 1856346 w 1966074"/>
                <a:gd name="connsiteY6" fmla="*/ 282448 h 2111248"/>
                <a:gd name="connsiteX7" fmla="*/ 1783194 w 1966074"/>
                <a:gd name="connsiteY7" fmla="*/ 191008 h 2111248"/>
                <a:gd name="connsiteX8" fmla="*/ 1737474 w 1966074"/>
                <a:gd name="connsiteY8" fmla="*/ 163576 h 2111248"/>
                <a:gd name="connsiteX9" fmla="*/ 1682610 w 1966074"/>
                <a:gd name="connsiteY9" fmla="*/ 117856 h 2111248"/>
                <a:gd name="connsiteX10" fmla="*/ 1618602 w 1966074"/>
                <a:gd name="connsiteY10" fmla="*/ 99568 h 2111248"/>
                <a:gd name="connsiteX11" fmla="*/ 1399146 w 1966074"/>
                <a:gd name="connsiteY11" fmla="*/ 53848 h 2111248"/>
                <a:gd name="connsiteX12" fmla="*/ 1307706 w 1966074"/>
                <a:gd name="connsiteY12" fmla="*/ 44704 h 2111248"/>
                <a:gd name="connsiteX13" fmla="*/ 512178 w 1966074"/>
                <a:gd name="connsiteY13" fmla="*/ 72136 h 2111248"/>
                <a:gd name="connsiteX14" fmla="*/ 429882 w 1966074"/>
                <a:gd name="connsiteY14" fmla="*/ 127000 h 2111248"/>
                <a:gd name="connsiteX15" fmla="*/ 365874 w 1966074"/>
                <a:gd name="connsiteY15" fmla="*/ 181864 h 2111248"/>
                <a:gd name="connsiteX16" fmla="*/ 292722 w 1966074"/>
                <a:gd name="connsiteY16" fmla="*/ 300736 h 2111248"/>
                <a:gd name="connsiteX17" fmla="*/ 311010 w 1966074"/>
                <a:gd name="connsiteY17" fmla="*/ 620776 h 2111248"/>
                <a:gd name="connsiteX18" fmla="*/ 375018 w 1966074"/>
                <a:gd name="connsiteY18" fmla="*/ 748792 h 2111248"/>
                <a:gd name="connsiteX19" fmla="*/ 466458 w 1966074"/>
                <a:gd name="connsiteY19" fmla="*/ 931672 h 2111248"/>
                <a:gd name="connsiteX20" fmla="*/ 530466 w 1966074"/>
                <a:gd name="connsiteY20" fmla="*/ 1087120 h 2111248"/>
                <a:gd name="connsiteX21" fmla="*/ 548754 w 1966074"/>
                <a:gd name="connsiteY21" fmla="*/ 1141984 h 2111248"/>
                <a:gd name="connsiteX22" fmla="*/ 557898 w 1966074"/>
                <a:gd name="connsiteY22" fmla="*/ 1187704 h 2111248"/>
                <a:gd name="connsiteX23" fmla="*/ 585330 w 1966074"/>
                <a:gd name="connsiteY23" fmla="*/ 1242568 h 2111248"/>
                <a:gd name="connsiteX24" fmla="*/ 649338 w 1966074"/>
                <a:gd name="connsiteY24" fmla="*/ 1343152 h 2111248"/>
                <a:gd name="connsiteX25" fmla="*/ 676770 w 1966074"/>
                <a:gd name="connsiteY25" fmla="*/ 1370584 h 2111248"/>
                <a:gd name="connsiteX26" fmla="*/ 722490 w 1966074"/>
                <a:gd name="connsiteY26" fmla="*/ 1425448 h 2111248"/>
                <a:gd name="connsiteX27" fmla="*/ 713346 w 1966074"/>
                <a:gd name="connsiteY27" fmla="*/ 1580896 h 2111248"/>
                <a:gd name="connsiteX28" fmla="*/ 685914 w 1966074"/>
                <a:gd name="connsiteY28" fmla="*/ 1626616 h 2111248"/>
                <a:gd name="connsiteX29" fmla="*/ 667626 w 1966074"/>
                <a:gd name="connsiteY29" fmla="*/ 1654048 h 2111248"/>
                <a:gd name="connsiteX30" fmla="*/ 631050 w 1966074"/>
                <a:gd name="connsiteY30" fmla="*/ 1663192 h 2111248"/>
                <a:gd name="connsiteX31" fmla="*/ 585330 w 1966074"/>
                <a:gd name="connsiteY31" fmla="*/ 1681480 h 2111248"/>
                <a:gd name="connsiteX32" fmla="*/ 521322 w 1966074"/>
                <a:gd name="connsiteY32" fmla="*/ 1663192 h 2111248"/>
                <a:gd name="connsiteX33" fmla="*/ 484746 w 1966074"/>
                <a:gd name="connsiteY33" fmla="*/ 1635760 h 2111248"/>
                <a:gd name="connsiteX34" fmla="*/ 448170 w 1966074"/>
                <a:gd name="connsiteY34" fmla="*/ 1617472 h 2111248"/>
                <a:gd name="connsiteX35" fmla="*/ 356730 w 1966074"/>
                <a:gd name="connsiteY35" fmla="*/ 1516888 h 2111248"/>
                <a:gd name="connsiteX36" fmla="*/ 320154 w 1966074"/>
                <a:gd name="connsiteY36" fmla="*/ 1480312 h 2111248"/>
                <a:gd name="connsiteX37" fmla="*/ 219570 w 1966074"/>
                <a:gd name="connsiteY37" fmla="*/ 1443736 h 2111248"/>
                <a:gd name="connsiteX38" fmla="*/ 36690 w 1966074"/>
                <a:gd name="connsiteY38" fmla="*/ 1507744 h 2111248"/>
                <a:gd name="connsiteX39" fmla="*/ 9258 w 1966074"/>
                <a:gd name="connsiteY39" fmla="*/ 1553464 h 2111248"/>
                <a:gd name="connsiteX40" fmla="*/ 114 w 1966074"/>
                <a:gd name="connsiteY40" fmla="*/ 1599184 h 2111248"/>
                <a:gd name="connsiteX41" fmla="*/ 73266 w 1966074"/>
                <a:gd name="connsiteY41" fmla="*/ 1763776 h 2111248"/>
                <a:gd name="connsiteX42" fmla="*/ 228714 w 1966074"/>
                <a:gd name="connsiteY42" fmla="*/ 1937512 h 2111248"/>
                <a:gd name="connsiteX43" fmla="*/ 384162 w 1966074"/>
                <a:gd name="connsiteY43" fmla="*/ 2047240 h 2111248"/>
                <a:gd name="connsiteX44" fmla="*/ 420738 w 1966074"/>
                <a:gd name="connsiteY44" fmla="*/ 2074672 h 2111248"/>
                <a:gd name="connsiteX45" fmla="*/ 539610 w 1966074"/>
                <a:gd name="connsiteY45" fmla="*/ 2111248 h 2111248"/>
                <a:gd name="connsiteX46" fmla="*/ 832218 w 1966074"/>
                <a:gd name="connsiteY46" fmla="*/ 2102104 h 2111248"/>
                <a:gd name="connsiteX47" fmla="*/ 887082 w 1966074"/>
                <a:gd name="connsiteY47" fmla="*/ 2092960 h 2111248"/>
                <a:gd name="connsiteX48" fmla="*/ 969378 w 1966074"/>
                <a:gd name="connsiteY48" fmla="*/ 2083816 h 2111248"/>
                <a:gd name="connsiteX49" fmla="*/ 1033386 w 1966074"/>
                <a:gd name="connsiteY49" fmla="*/ 2074672 h 2111248"/>
                <a:gd name="connsiteX50" fmla="*/ 1115682 w 1966074"/>
                <a:gd name="connsiteY50" fmla="*/ 2038096 h 2111248"/>
                <a:gd name="connsiteX51" fmla="*/ 1225410 w 1966074"/>
                <a:gd name="connsiteY51" fmla="*/ 1937512 h 2111248"/>
                <a:gd name="connsiteX52" fmla="*/ 1261986 w 1966074"/>
                <a:gd name="connsiteY52" fmla="*/ 1882648 h 2111248"/>
                <a:gd name="connsiteX53" fmla="*/ 1280274 w 1966074"/>
                <a:gd name="connsiteY53" fmla="*/ 1836928 h 2111248"/>
                <a:gd name="connsiteX54" fmla="*/ 1289418 w 1966074"/>
                <a:gd name="connsiteY54" fmla="*/ 1800352 h 2111248"/>
                <a:gd name="connsiteX55" fmla="*/ 1316850 w 1966074"/>
                <a:gd name="connsiteY55" fmla="*/ 1763776 h 2111248"/>
                <a:gd name="connsiteX56" fmla="*/ 1344282 w 1966074"/>
                <a:gd name="connsiteY56" fmla="*/ 1736344 h 2111248"/>
                <a:gd name="connsiteX57" fmla="*/ 1618602 w 1966074"/>
                <a:gd name="connsiteY57" fmla="*/ 1718056 h 2111248"/>
                <a:gd name="connsiteX58" fmla="*/ 1682610 w 1966074"/>
                <a:gd name="connsiteY58" fmla="*/ 1663192 h 2111248"/>
                <a:gd name="connsiteX59" fmla="*/ 1719186 w 1966074"/>
                <a:gd name="connsiteY59" fmla="*/ 1635760 h 2111248"/>
                <a:gd name="connsiteX60" fmla="*/ 1746618 w 1966074"/>
                <a:gd name="connsiteY60" fmla="*/ 1599184 h 2111248"/>
                <a:gd name="connsiteX61" fmla="*/ 1783194 w 1966074"/>
                <a:gd name="connsiteY61" fmla="*/ 1562608 h 2111248"/>
                <a:gd name="connsiteX62" fmla="*/ 1856346 w 1966074"/>
                <a:gd name="connsiteY62" fmla="*/ 1471168 h 2111248"/>
                <a:gd name="connsiteX63" fmla="*/ 1865490 w 1966074"/>
                <a:gd name="connsiteY63" fmla="*/ 1434592 h 2111248"/>
                <a:gd name="connsiteX64" fmla="*/ 1883778 w 1966074"/>
                <a:gd name="connsiteY64" fmla="*/ 1407160 h 2111248"/>
                <a:gd name="connsiteX65" fmla="*/ 1892922 w 1966074"/>
                <a:gd name="connsiteY65" fmla="*/ 1361440 h 2111248"/>
                <a:gd name="connsiteX66" fmla="*/ 1902066 w 1966074"/>
                <a:gd name="connsiteY66" fmla="*/ 1315720 h 21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966074" h="2111248">
                  <a:moveTo>
                    <a:pt x="1911210" y="1370584"/>
                  </a:moveTo>
                  <a:cubicBezTo>
                    <a:pt x="1917306" y="1297432"/>
                    <a:pt x="1921814" y="1224130"/>
                    <a:pt x="1929498" y="1151128"/>
                  </a:cubicBezTo>
                  <a:cubicBezTo>
                    <a:pt x="1934010" y="1108260"/>
                    <a:pt x="1942089" y="1065839"/>
                    <a:pt x="1947786" y="1023112"/>
                  </a:cubicBezTo>
                  <a:cubicBezTo>
                    <a:pt x="1954282" y="974396"/>
                    <a:pt x="1959978" y="925576"/>
                    <a:pt x="1966074" y="876808"/>
                  </a:cubicBezTo>
                  <a:cubicBezTo>
                    <a:pt x="1963026" y="745744"/>
                    <a:pt x="1967181" y="614314"/>
                    <a:pt x="1956930" y="483616"/>
                  </a:cubicBezTo>
                  <a:cubicBezTo>
                    <a:pt x="1954894" y="457654"/>
                    <a:pt x="1939414" y="434545"/>
                    <a:pt x="1929498" y="410464"/>
                  </a:cubicBezTo>
                  <a:cubicBezTo>
                    <a:pt x="1877745" y="284779"/>
                    <a:pt x="1916389" y="368223"/>
                    <a:pt x="1856346" y="282448"/>
                  </a:cubicBezTo>
                  <a:cubicBezTo>
                    <a:pt x="1818527" y="228422"/>
                    <a:pt x="1840630" y="236957"/>
                    <a:pt x="1783194" y="191008"/>
                  </a:cubicBezTo>
                  <a:cubicBezTo>
                    <a:pt x="1769316" y="179905"/>
                    <a:pt x="1751847" y="174029"/>
                    <a:pt x="1737474" y="163576"/>
                  </a:cubicBezTo>
                  <a:cubicBezTo>
                    <a:pt x="1718222" y="149574"/>
                    <a:pt x="1703570" y="129142"/>
                    <a:pt x="1682610" y="117856"/>
                  </a:cubicBezTo>
                  <a:cubicBezTo>
                    <a:pt x="1663073" y="107336"/>
                    <a:pt x="1640129" y="104950"/>
                    <a:pt x="1618602" y="99568"/>
                  </a:cubicBezTo>
                  <a:cubicBezTo>
                    <a:pt x="1554829" y="83625"/>
                    <a:pt x="1465741" y="63362"/>
                    <a:pt x="1399146" y="53848"/>
                  </a:cubicBezTo>
                  <a:cubicBezTo>
                    <a:pt x="1368822" y="49516"/>
                    <a:pt x="1338186" y="47752"/>
                    <a:pt x="1307706" y="44704"/>
                  </a:cubicBezTo>
                  <a:cubicBezTo>
                    <a:pt x="1013297" y="-28898"/>
                    <a:pt x="1136638" y="-5922"/>
                    <a:pt x="512178" y="72136"/>
                  </a:cubicBezTo>
                  <a:cubicBezTo>
                    <a:pt x="479463" y="76225"/>
                    <a:pt x="456257" y="107219"/>
                    <a:pt x="429882" y="127000"/>
                  </a:cubicBezTo>
                  <a:cubicBezTo>
                    <a:pt x="407401" y="143861"/>
                    <a:pt x="384934" y="161215"/>
                    <a:pt x="365874" y="181864"/>
                  </a:cubicBezTo>
                  <a:cubicBezTo>
                    <a:pt x="328169" y="222711"/>
                    <a:pt x="316362" y="253456"/>
                    <a:pt x="292722" y="300736"/>
                  </a:cubicBezTo>
                  <a:cubicBezTo>
                    <a:pt x="298818" y="407416"/>
                    <a:pt x="298378" y="514671"/>
                    <a:pt x="311010" y="620776"/>
                  </a:cubicBezTo>
                  <a:cubicBezTo>
                    <a:pt x="314585" y="650804"/>
                    <a:pt x="362429" y="724513"/>
                    <a:pt x="375018" y="748792"/>
                  </a:cubicBezTo>
                  <a:cubicBezTo>
                    <a:pt x="406391" y="809297"/>
                    <a:pt x="440508" y="868650"/>
                    <a:pt x="466458" y="931672"/>
                  </a:cubicBezTo>
                  <a:cubicBezTo>
                    <a:pt x="487794" y="983488"/>
                    <a:pt x="512746" y="1033959"/>
                    <a:pt x="530466" y="1087120"/>
                  </a:cubicBezTo>
                  <a:cubicBezTo>
                    <a:pt x="536562" y="1105408"/>
                    <a:pt x="543682" y="1123386"/>
                    <a:pt x="548754" y="1141984"/>
                  </a:cubicBezTo>
                  <a:cubicBezTo>
                    <a:pt x="552843" y="1156978"/>
                    <a:pt x="552587" y="1173098"/>
                    <a:pt x="557898" y="1187704"/>
                  </a:cubicBezTo>
                  <a:cubicBezTo>
                    <a:pt x="564885" y="1206920"/>
                    <a:pt x="575636" y="1224565"/>
                    <a:pt x="585330" y="1242568"/>
                  </a:cubicBezTo>
                  <a:cubicBezTo>
                    <a:pt x="606203" y="1281332"/>
                    <a:pt x="621590" y="1310779"/>
                    <a:pt x="649338" y="1343152"/>
                  </a:cubicBezTo>
                  <a:cubicBezTo>
                    <a:pt x="657754" y="1352970"/>
                    <a:pt x="668179" y="1360919"/>
                    <a:pt x="676770" y="1370584"/>
                  </a:cubicBezTo>
                  <a:cubicBezTo>
                    <a:pt x="692586" y="1388377"/>
                    <a:pt x="707250" y="1407160"/>
                    <a:pt x="722490" y="1425448"/>
                  </a:cubicBezTo>
                  <a:cubicBezTo>
                    <a:pt x="738941" y="1491253"/>
                    <a:pt x="741252" y="1480433"/>
                    <a:pt x="713346" y="1580896"/>
                  </a:cubicBezTo>
                  <a:cubicBezTo>
                    <a:pt x="708589" y="1598020"/>
                    <a:pt x="695334" y="1611545"/>
                    <a:pt x="685914" y="1626616"/>
                  </a:cubicBezTo>
                  <a:cubicBezTo>
                    <a:pt x="680089" y="1635935"/>
                    <a:pt x="676770" y="1647952"/>
                    <a:pt x="667626" y="1654048"/>
                  </a:cubicBezTo>
                  <a:cubicBezTo>
                    <a:pt x="657169" y="1661019"/>
                    <a:pt x="642972" y="1659218"/>
                    <a:pt x="631050" y="1663192"/>
                  </a:cubicBezTo>
                  <a:cubicBezTo>
                    <a:pt x="615478" y="1668383"/>
                    <a:pt x="600570" y="1675384"/>
                    <a:pt x="585330" y="1681480"/>
                  </a:cubicBezTo>
                  <a:cubicBezTo>
                    <a:pt x="563994" y="1675384"/>
                    <a:pt x="541523" y="1672374"/>
                    <a:pt x="521322" y="1663192"/>
                  </a:cubicBezTo>
                  <a:cubicBezTo>
                    <a:pt x="507448" y="1656886"/>
                    <a:pt x="497669" y="1643837"/>
                    <a:pt x="484746" y="1635760"/>
                  </a:cubicBezTo>
                  <a:cubicBezTo>
                    <a:pt x="473187" y="1628536"/>
                    <a:pt x="460362" y="1623568"/>
                    <a:pt x="448170" y="1617472"/>
                  </a:cubicBezTo>
                  <a:cubicBezTo>
                    <a:pt x="350911" y="1487793"/>
                    <a:pt x="434315" y="1584775"/>
                    <a:pt x="356730" y="1516888"/>
                  </a:cubicBezTo>
                  <a:cubicBezTo>
                    <a:pt x="343754" y="1505534"/>
                    <a:pt x="334500" y="1489876"/>
                    <a:pt x="320154" y="1480312"/>
                  </a:cubicBezTo>
                  <a:cubicBezTo>
                    <a:pt x="307430" y="1471830"/>
                    <a:pt x="230233" y="1447290"/>
                    <a:pt x="219570" y="1443736"/>
                  </a:cubicBezTo>
                  <a:cubicBezTo>
                    <a:pt x="120254" y="1452765"/>
                    <a:pt x="113602" y="1437241"/>
                    <a:pt x="36690" y="1507744"/>
                  </a:cubicBezTo>
                  <a:cubicBezTo>
                    <a:pt x="23589" y="1519753"/>
                    <a:pt x="18402" y="1538224"/>
                    <a:pt x="9258" y="1553464"/>
                  </a:cubicBezTo>
                  <a:cubicBezTo>
                    <a:pt x="6210" y="1568704"/>
                    <a:pt x="-993" y="1583682"/>
                    <a:pt x="114" y="1599184"/>
                  </a:cubicBezTo>
                  <a:cubicBezTo>
                    <a:pt x="5209" y="1670513"/>
                    <a:pt x="26684" y="1708724"/>
                    <a:pt x="73266" y="1763776"/>
                  </a:cubicBezTo>
                  <a:cubicBezTo>
                    <a:pt x="115688" y="1813911"/>
                    <a:pt x="174452" y="1890033"/>
                    <a:pt x="228714" y="1937512"/>
                  </a:cubicBezTo>
                  <a:cubicBezTo>
                    <a:pt x="346888" y="2040914"/>
                    <a:pt x="281514" y="1981918"/>
                    <a:pt x="384162" y="2047240"/>
                  </a:cubicBezTo>
                  <a:cubicBezTo>
                    <a:pt x="397019" y="2055422"/>
                    <a:pt x="407359" y="2067374"/>
                    <a:pt x="420738" y="2074672"/>
                  </a:cubicBezTo>
                  <a:cubicBezTo>
                    <a:pt x="476778" y="2105239"/>
                    <a:pt x="481824" y="2101617"/>
                    <a:pt x="539610" y="2111248"/>
                  </a:cubicBezTo>
                  <a:cubicBezTo>
                    <a:pt x="637146" y="2108200"/>
                    <a:pt x="734769" y="2107233"/>
                    <a:pt x="832218" y="2102104"/>
                  </a:cubicBezTo>
                  <a:cubicBezTo>
                    <a:pt x="850733" y="2101130"/>
                    <a:pt x="868704" y="2095410"/>
                    <a:pt x="887082" y="2092960"/>
                  </a:cubicBezTo>
                  <a:cubicBezTo>
                    <a:pt x="914441" y="2089312"/>
                    <a:pt x="941990" y="2087239"/>
                    <a:pt x="969378" y="2083816"/>
                  </a:cubicBezTo>
                  <a:cubicBezTo>
                    <a:pt x="990764" y="2081143"/>
                    <a:pt x="1012050" y="2077720"/>
                    <a:pt x="1033386" y="2074672"/>
                  </a:cubicBezTo>
                  <a:cubicBezTo>
                    <a:pt x="1051156" y="2067564"/>
                    <a:pt x="1098147" y="2050236"/>
                    <a:pt x="1115682" y="2038096"/>
                  </a:cubicBezTo>
                  <a:cubicBezTo>
                    <a:pt x="1184816" y="1990234"/>
                    <a:pt x="1188174" y="1990706"/>
                    <a:pt x="1225410" y="1937512"/>
                  </a:cubicBezTo>
                  <a:cubicBezTo>
                    <a:pt x="1238014" y="1919506"/>
                    <a:pt x="1251461" y="1901944"/>
                    <a:pt x="1261986" y="1882648"/>
                  </a:cubicBezTo>
                  <a:cubicBezTo>
                    <a:pt x="1269846" y="1868238"/>
                    <a:pt x="1275083" y="1852500"/>
                    <a:pt x="1280274" y="1836928"/>
                  </a:cubicBezTo>
                  <a:cubicBezTo>
                    <a:pt x="1284248" y="1825006"/>
                    <a:pt x="1283798" y="1811592"/>
                    <a:pt x="1289418" y="1800352"/>
                  </a:cubicBezTo>
                  <a:cubicBezTo>
                    <a:pt x="1296234" y="1786721"/>
                    <a:pt x="1306932" y="1775347"/>
                    <a:pt x="1316850" y="1763776"/>
                  </a:cubicBezTo>
                  <a:cubicBezTo>
                    <a:pt x="1325266" y="1753958"/>
                    <a:pt x="1331496" y="1738281"/>
                    <a:pt x="1344282" y="1736344"/>
                  </a:cubicBezTo>
                  <a:cubicBezTo>
                    <a:pt x="1434891" y="1722615"/>
                    <a:pt x="1527162" y="1724152"/>
                    <a:pt x="1618602" y="1718056"/>
                  </a:cubicBezTo>
                  <a:cubicBezTo>
                    <a:pt x="1639938" y="1699768"/>
                    <a:pt x="1660861" y="1680987"/>
                    <a:pt x="1682610" y="1663192"/>
                  </a:cubicBezTo>
                  <a:cubicBezTo>
                    <a:pt x="1694405" y="1653541"/>
                    <a:pt x="1708410" y="1646536"/>
                    <a:pt x="1719186" y="1635760"/>
                  </a:cubicBezTo>
                  <a:cubicBezTo>
                    <a:pt x="1729962" y="1624984"/>
                    <a:pt x="1736582" y="1610653"/>
                    <a:pt x="1746618" y="1599184"/>
                  </a:cubicBezTo>
                  <a:cubicBezTo>
                    <a:pt x="1757972" y="1586208"/>
                    <a:pt x="1772423" y="1576072"/>
                    <a:pt x="1783194" y="1562608"/>
                  </a:cubicBezTo>
                  <a:cubicBezTo>
                    <a:pt x="1875474" y="1447258"/>
                    <a:pt x="1768033" y="1559481"/>
                    <a:pt x="1856346" y="1471168"/>
                  </a:cubicBezTo>
                  <a:cubicBezTo>
                    <a:pt x="1859394" y="1458976"/>
                    <a:pt x="1860540" y="1446143"/>
                    <a:pt x="1865490" y="1434592"/>
                  </a:cubicBezTo>
                  <a:cubicBezTo>
                    <a:pt x="1869819" y="1424491"/>
                    <a:pt x="1879919" y="1417450"/>
                    <a:pt x="1883778" y="1407160"/>
                  </a:cubicBezTo>
                  <a:cubicBezTo>
                    <a:pt x="1889235" y="1392608"/>
                    <a:pt x="1889551" y="1376612"/>
                    <a:pt x="1892922" y="1361440"/>
                  </a:cubicBezTo>
                  <a:cubicBezTo>
                    <a:pt x="1902805" y="1316965"/>
                    <a:pt x="1902066" y="1338630"/>
                    <a:pt x="1902066" y="1315720"/>
                  </a:cubicBezTo>
                </a:path>
              </a:pathLst>
            </a:custGeom>
            <a:noFill/>
            <a:ln w="3175">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 name="Forme libre : forme 33">
              <a:extLst>
                <a:ext uri="{FF2B5EF4-FFF2-40B4-BE49-F238E27FC236}">
                  <a16:creationId xmlns:a16="http://schemas.microsoft.com/office/drawing/2014/main" id="{9EC3F086-FFE5-B6E8-9919-A7AD1EBF65B0}"/>
                </a:ext>
              </a:extLst>
            </p:cNvPr>
            <p:cNvSpPr/>
            <p:nvPr/>
          </p:nvSpPr>
          <p:spPr>
            <a:xfrm>
              <a:off x="7575259" y="3791118"/>
              <a:ext cx="2642532" cy="1066108"/>
            </a:xfrm>
            <a:custGeom>
              <a:avLst/>
              <a:gdLst>
                <a:gd name="connsiteX0" fmla="*/ 134224 w 2642532"/>
                <a:gd name="connsiteY0" fmla="*/ 706 h 1066108"/>
                <a:gd name="connsiteX1" fmla="*/ 176169 w 2642532"/>
                <a:gd name="connsiteY1" fmla="*/ 9095 h 1066108"/>
                <a:gd name="connsiteX2" fmla="*/ 293614 w 2642532"/>
                <a:gd name="connsiteY2" fmla="*/ 76207 h 1066108"/>
                <a:gd name="connsiteX3" fmla="*/ 453005 w 2642532"/>
                <a:gd name="connsiteY3" fmla="*/ 143319 h 1066108"/>
                <a:gd name="connsiteX4" fmla="*/ 536895 w 2642532"/>
                <a:gd name="connsiteY4" fmla="*/ 176875 h 1066108"/>
                <a:gd name="connsiteX5" fmla="*/ 637563 w 2642532"/>
                <a:gd name="connsiteY5" fmla="*/ 193653 h 1066108"/>
                <a:gd name="connsiteX6" fmla="*/ 1015068 w 2642532"/>
                <a:gd name="connsiteY6" fmla="*/ 260765 h 1066108"/>
                <a:gd name="connsiteX7" fmla="*/ 1484851 w 2642532"/>
                <a:gd name="connsiteY7" fmla="*/ 252376 h 1066108"/>
                <a:gd name="connsiteX8" fmla="*/ 1635853 w 2642532"/>
                <a:gd name="connsiteY8" fmla="*/ 235598 h 1066108"/>
                <a:gd name="connsiteX9" fmla="*/ 1694576 w 2642532"/>
                <a:gd name="connsiteY9" fmla="*/ 227209 h 1066108"/>
                <a:gd name="connsiteX10" fmla="*/ 1736521 w 2642532"/>
                <a:gd name="connsiteY10" fmla="*/ 218820 h 1066108"/>
                <a:gd name="connsiteX11" fmla="*/ 1954635 w 2642532"/>
                <a:gd name="connsiteY11" fmla="*/ 193653 h 1066108"/>
                <a:gd name="connsiteX12" fmla="*/ 2164359 w 2642532"/>
                <a:gd name="connsiteY12" fmla="*/ 202042 h 1066108"/>
                <a:gd name="connsiteX13" fmla="*/ 2265027 w 2642532"/>
                <a:gd name="connsiteY13" fmla="*/ 218820 h 1066108"/>
                <a:gd name="connsiteX14" fmla="*/ 2374084 w 2642532"/>
                <a:gd name="connsiteY14" fmla="*/ 243987 h 1066108"/>
                <a:gd name="connsiteX15" fmla="*/ 2424418 w 2642532"/>
                <a:gd name="connsiteY15" fmla="*/ 277543 h 1066108"/>
                <a:gd name="connsiteX16" fmla="*/ 2474752 w 2642532"/>
                <a:gd name="connsiteY16" fmla="*/ 344654 h 1066108"/>
                <a:gd name="connsiteX17" fmla="*/ 2508308 w 2642532"/>
                <a:gd name="connsiteY17" fmla="*/ 394988 h 1066108"/>
                <a:gd name="connsiteX18" fmla="*/ 2550253 w 2642532"/>
                <a:gd name="connsiteY18" fmla="*/ 436933 h 1066108"/>
                <a:gd name="connsiteX19" fmla="*/ 2592198 w 2642532"/>
                <a:gd name="connsiteY19" fmla="*/ 495656 h 1066108"/>
                <a:gd name="connsiteX20" fmla="*/ 2617365 w 2642532"/>
                <a:gd name="connsiteY20" fmla="*/ 529212 h 1066108"/>
                <a:gd name="connsiteX21" fmla="*/ 2625754 w 2642532"/>
                <a:gd name="connsiteY21" fmla="*/ 571157 h 1066108"/>
                <a:gd name="connsiteX22" fmla="*/ 2634143 w 2642532"/>
                <a:gd name="connsiteY22" fmla="*/ 638269 h 1066108"/>
                <a:gd name="connsiteX23" fmla="*/ 2642532 w 2642532"/>
                <a:gd name="connsiteY23" fmla="*/ 688603 h 1066108"/>
                <a:gd name="connsiteX24" fmla="*/ 2634143 w 2642532"/>
                <a:gd name="connsiteY24" fmla="*/ 755715 h 1066108"/>
                <a:gd name="connsiteX25" fmla="*/ 2608976 w 2642532"/>
                <a:gd name="connsiteY25" fmla="*/ 797660 h 1066108"/>
                <a:gd name="connsiteX26" fmla="*/ 2592198 w 2642532"/>
                <a:gd name="connsiteY26" fmla="*/ 831216 h 1066108"/>
                <a:gd name="connsiteX27" fmla="*/ 2567031 w 2642532"/>
                <a:gd name="connsiteY27" fmla="*/ 873161 h 1066108"/>
                <a:gd name="connsiteX28" fmla="*/ 2550253 w 2642532"/>
                <a:gd name="connsiteY28" fmla="*/ 906717 h 1066108"/>
                <a:gd name="connsiteX29" fmla="*/ 2541864 w 2642532"/>
                <a:gd name="connsiteY29" fmla="*/ 931884 h 1066108"/>
                <a:gd name="connsiteX30" fmla="*/ 2466363 w 2642532"/>
                <a:gd name="connsiteY30" fmla="*/ 1015774 h 1066108"/>
                <a:gd name="connsiteX31" fmla="*/ 2441196 w 2642532"/>
                <a:gd name="connsiteY31" fmla="*/ 1024163 h 1066108"/>
                <a:gd name="connsiteX32" fmla="*/ 2399251 w 2642532"/>
                <a:gd name="connsiteY32" fmla="*/ 1040941 h 1066108"/>
                <a:gd name="connsiteX33" fmla="*/ 2357306 w 2642532"/>
                <a:gd name="connsiteY33" fmla="*/ 1049330 h 1066108"/>
                <a:gd name="connsiteX34" fmla="*/ 2265027 w 2642532"/>
                <a:gd name="connsiteY34" fmla="*/ 1066108 h 1066108"/>
                <a:gd name="connsiteX35" fmla="*/ 1803633 w 2642532"/>
                <a:gd name="connsiteY35" fmla="*/ 1057719 h 1066108"/>
                <a:gd name="connsiteX36" fmla="*/ 1744910 w 2642532"/>
                <a:gd name="connsiteY36" fmla="*/ 1049330 h 1066108"/>
                <a:gd name="connsiteX37" fmla="*/ 1644242 w 2642532"/>
                <a:gd name="connsiteY37" fmla="*/ 1007385 h 1066108"/>
                <a:gd name="connsiteX38" fmla="*/ 1476462 w 2642532"/>
                <a:gd name="connsiteY38" fmla="*/ 948662 h 1066108"/>
                <a:gd name="connsiteX39" fmla="*/ 1241570 w 2642532"/>
                <a:gd name="connsiteY39" fmla="*/ 856383 h 1066108"/>
                <a:gd name="connsiteX40" fmla="*/ 1132513 w 2642532"/>
                <a:gd name="connsiteY40" fmla="*/ 797660 h 1066108"/>
                <a:gd name="connsiteX41" fmla="*/ 1073791 w 2642532"/>
                <a:gd name="connsiteY41" fmla="*/ 764104 h 1066108"/>
                <a:gd name="connsiteX42" fmla="*/ 1006679 w 2642532"/>
                <a:gd name="connsiteY42" fmla="*/ 738937 h 1066108"/>
                <a:gd name="connsiteX43" fmla="*/ 922789 w 2642532"/>
                <a:gd name="connsiteY43" fmla="*/ 696992 h 1066108"/>
                <a:gd name="connsiteX44" fmla="*/ 847288 w 2642532"/>
                <a:gd name="connsiteY44" fmla="*/ 655047 h 1066108"/>
                <a:gd name="connsiteX45" fmla="*/ 755009 w 2642532"/>
                <a:gd name="connsiteY45" fmla="*/ 629880 h 1066108"/>
                <a:gd name="connsiteX46" fmla="*/ 595618 w 2642532"/>
                <a:gd name="connsiteY46" fmla="*/ 562768 h 1066108"/>
                <a:gd name="connsiteX47" fmla="*/ 394282 w 2642532"/>
                <a:gd name="connsiteY47" fmla="*/ 487267 h 1066108"/>
                <a:gd name="connsiteX48" fmla="*/ 285225 w 2642532"/>
                <a:gd name="connsiteY48" fmla="*/ 436933 h 1066108"/>
                <a:gd name="connsiteX49" fmla="*/ 209724 w 2642532"/>
                <a:gd name="connsiteY49" fmla="*/ 369821 h 1066108"/>
                <a:gd name="connsiteX50" fmla="*/ 184558 w 2642532"/>
                <a:gd name="connsiteY50" fmla="*/ 344654 h 1066108"/>
                <a:gd name="connsiteX51" fmla="*/ 159391 w 2642532"/>
                <a:gd name="connsiteY51" fmla="*/ 327876 h 1066108"/>
                <a:gd name="connsiteX52" fmla="*/ 125835 w 2642532"/>
                <a:gd name="connsiteY52" fmla="*/ 302710 h 1066108"/>
                <a:gd name="connsiteX53" fmla="*/ 58723 w 2642532"/>
                <a:gd name="connsiteY53" fmla="*/ 260765 h 1066108"/>
                <a:gd name="connsiteX54" fmla="*/ 8389 w 2642532"/>
                <a:gd name="connsiteY54" fmla="*/ 202042 h 1066108"/>
                <a:gd name="connsiteX55" fmla="*/ 0 w 2642532"/>
                <a:gd name="connsiteY55" fmla="*/ 176875 h 1066108"/>
                <a:gd name="connsiteX56" fmla="*/ 25167 w 2642532"/>
                <a:gd name="connsiteY56" fmla="*/ 67818 h 1066108"/>
                <a:gd name="connsiteX57" fmla="*/ 50334 w 2642532"/>
                <a:gd name="connsiteY57" fmla="*/ 51040 h 1066108"/>
                <a:gd name="connsiteX58" fmla="*/ 117446 w 2642532"/>
                <a:gd name="connsiteY58" fmla="*/ 25873 h 1066108"/>
                <a:gd name="connsiteX59" fmla="*/ 134224 w 2642532"/>
                <a:gd name="connsiteY59" fmla="*/ 706 h 106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42532" h="1066108">
                  <a:moveTo>
                    <a:pt x="134224" y="706"/>
                  </a:moveTo>
                  <a:cubicBezTo>
                    <a:pt x="144011" y="-2090"/>
                    <a:pt x="162861" y="3976"/>
                    <a:pt x="176169" y="9095"/>
                  </a:cubicBezTo>
                  <a:cubicBezTo>
                    <a:pt x="253710" y="38919"/>
                    <a:pt x="228602" y="39057"/>
                    <a:pt x="293614" y="76207"/>
                  </a:cubicBezTo>
                  <a:cubicBezTo>
                    <a:pt x="361899" y="115227"/>
                    <a:pt x="373995" y="113220"/>
                    <a:pt x="453005" y="143319"/>
                  </a:cubicBezTo>
                  <a:cubicBezTo>
                    <a:pt x="481149" y="154041"/>
                    <a:pt x="507839" y="168951"/>
                    <a:pt x="536895" y="176875"/>
                  </a:cubicBezTo>
                  <a:cubicBezTo>
                    <a:pt x="569715" y="185826"/>
                    <a:pt x="604274" y="186645"/>
                    <a:pt x="637563" y="193653"/>
                  </a:cubicBezTo>
                  <a:cubicBezTo>
                    <a:pt x="959688" y="261469"/>
                    <a:pt x="744272" y="232260"/>
                    <a:pt x="1015068" y="260765"/>
                  </a:cubicBezTo>
                  <a:lnTo>
                    <a:pt x="1484851" y="252376"/>
                  </a:lnTo>
                  <a:cubicBezTo>
                    <a:pt x="1568542" y="249914"/>
                    <a:pt x="1569443" y="245815"/>
                    <a:pt x="1635853" y="235598"/>
                  </a:cubicBezTo>
                  <a:cubicBezTo>
                    <a:pt x="1655396" y="232591"/>
                    <a:pt x="1675072" y="230460"/>
                    <a:pt x="1694576" y="227209"/>
                  </a:cubicBezTo>
                  <a:cubicBezTo>
                    <a:pt x="1708641" y="224865"/>
                    <a:pt x="1722437" y="221044"/>
                    <a:pt x="1736521" y="218820"/>
                  </a:cubicBezTo>
                  <a:cubicBezTo>
                    <a:pt x="1856891" y="199814"/>
                    <a:pt x="1840450" y="203168"/>
                    <a:pt x="1954635" y="193653"/>
                  </a:cubicBezTo>
                  <a:cubicBezTo>
                    <a:pt x="2024543" y="196449"/>
                    <a:pt x="2094624" y="196388"/>
                    <a:pt x="2164359" y="202042"/>
                  </a:cubicBezTo>
                  <a:cubicBezTo>
                    <a:pt x="2198267" y="204791"/>
                    <a:pt x="2231609" y="212455"/>
                    <a:pt x="2265027" y="218820"/>
                  </a:cubicBezTo>
                  <a:cubicBezTo>
                    <a:pt x="2305513" y="226532"/>
                    <a:pt x="2336209" y="234518"/>
                    <a:pt x="2374084" y="243987"/>
                  </a:cubicBezTo>
                  <a:cubicBezTo>
                    <a:pt x="2390862" y="255172"/>
                    <a:pt x="2413233" y="260765"/>
                    <a:pt x="2424418" y="277543"/>
                  </a:cubicBezTo>
                  <a:cubicBezTo>
                    <a:pt x="2473570" y="351271"/>
                    <a:pt x="2395043" y="235055"/>
                    <a:pt x="2474752" y="344654"/>
                  </a:cubicBezTo>
                  <a:cubicBezTo>
                    <a:pt x="2486612" y="360962"/>
                    <a:pt x="2495539" y="379381"/>
                    <a:pt x="2508308" y="394988"/>
                  </a:cubicBezTo>
                  <a:cubicBezTo>
                    <a:pt x="2520829" y="410292"/>
                    <a:pt x="2537116" y="422154"/>
                    <a:pt x="2550253" y="436933"/>
                  </a:cubicBezTo>
                  <a:cubicBezTo>
                    <a:pt x="2570192" y="459365"/>
                    <a:pt x="2575796" y="472694"/>
                    <a:pt x="2592198" y="495656"/>
                  </a:cubicBezTo>
                  <a:cubicBezTo>
                    <a:pt x="2600325" y="507033"/>
                    <a:pt x="2608976" y="518027"/>
                    <a:pt x="2617365" y="529212"/>
                  </a:cubicBezTo>
                  <a:cubicBezTo>
                    <a:pt x="2620161" y="543194"/>
                    <a:pt x="2623586" y="557064"/>
                    <a:pt x="2625754" y="571157"/>
                  </a:cubicBezTo>
                  <a:cubicBezTo>
                    <a:pt x="2629182" y="593440"/>
                    <a:pt x="2630955" y="615951"/>
                    <a:pt x="2634143" y="638269"/>
                  </a:cubicBezTo>
                  <a:cubicBezTo>
                    <a:pt x="2636548" y="655107"/>
                    <a:pt x="2639736" y="671825"/>
                    <a:pt x="2642532" y="688603"/>
                  </a:cubicBezTo>
                  <a:cubicBezTo>
                    <a:pt x="2639736" y="710974"/>
                    <a:pt x="2640773" y="734167"/>
                    <a:pt x="2634143" y="755715"/>
                  </a:cubicBezTo>
                  <a:cubicBezTo>
                    <a:pt x="2629348" y="771299"/>
                    <a:pt x="2616895" y="783407"/>
                    <a:pt x="2608976" y="797660"/>
                  </a:cubicBezTo>
                  <a:cubicBezTo>
                    <a:pt x="2602903" y="808592"/>
                    <a:pt x="2598271" y="820284"/>
                    <a:pt x="2592198" y="831216"/>
                  </a:cubicBezTo>
                  <a:cubicBezTo>
                    <a:pt x="2584279" y="845469"/>
                    <a:pt x="2574950" y="858908"/>
                    <a:pt x="2567031" y="873161"/>
                  </a:cubicBezTo>
                  <a:cubicBezTo>
                    <a:pt x="2560958" y="884093"/>
                    <a:pt x="2555179" y="895223"/>
                    <a:pt x="2550253" y="906717"/>
                  </a:cubicBezTo>
                  <a:cubicBezTo>
                    <a:pt x="2546770" y="914845"/>
                    <a:pt x="2546158" y="924154"/>
                    <a:pt x="2541864" y="931884"/>
                  </a:cubicBezTo>
                  <a:cubicBezTo>
                    <a:pt x="2519156" y="972759"/>
                    <a:pt x="2505602" y="991249"/>
                    <a:pt x="2466363" y="1015774"/>
                  </a:cubicBezTo>
                  <a:cubicBezTo>
                    <a:pt x="2458864" y="1020461"/>
                    <a:pt x="2449476" y="1021058"/>
                    <a:pt x="2441196" y="1024163"/>
                  </a:cubicBezTo>
                  <a:cubicBezTo>
                    <a:pt x="2427096" y="1029450"/>
                    <a:pt x="2413675" y="1036614"/>
                    <a:pt x="2399251" y="1040941"/>
                  </a:cubicBezTo>
                  <a:cubicBezTo>
                    <a:pt x="2385594" y="1045038"/>
                    <a:pt x="2371335" y="1046779"/>
                    <a:pt x="2357306" y="1049330"/>
                  </a:cubicBezTo>
                  <a:cubicBezTo>
                    <a:pt x="2239242" y="1070796"/>
                    <a:pt x="2368637" y="1045386"/>
                    <a:pt x="2265027" y="1066108"/>
                  </a:cubicBezTo>
                  <a:lnTo>
                    <a:pt x="1803633" y="1057719"/>
                  </a:lnTo>
                  <a:cubicBezTo>
                    <a:pt x="1783870" y="1057081"/>
                    <a:pt x="1763765" y="1055284"/>
                    <a:pt x="1744910" y="1049330"/>
                  </a:cubicBezTo>
                  <a:cubicBezTo>
                    <a:pt x="1710245" y="1038383"/>
                    <a:pt x="1679061" y="1017831"/>
                    <a:pt x="1644242" y="1007385"/>
                  </a:cubicBezTo>
                  <a:cubicBezTo>
                    <a:pt x="1423909" y="941285"/>
                    <a:pt x="1698455" y="1026360"/>
                    <a:pt x="1476462" y="948662"/>
                  </a:cubicBezTo>
                  <a:cubicBezTo>
                    <a:pt x="1384325" y="916414"/>
                    <a:pt x="1335270" y="918850"/>
                    <a:pt x="1241570" y="856383"/>
                  </a:cubicBezTo>
                  <a:cubicBezTo>
                    <a:pt x="1142163" y="790112"/>
                    <a:pt x="1242883" y="852846"/>
                    <a:pt x="1132513" y="797660"/>
                  </a:cubicBezTo>
                  <a:cubicBezTo>
                    <a:pt x="1112349" y="787578"/>
                    <a:pt x="1094220" y="773638"/>
                    <a:pt x="1073791" y="764104"/>
                  </a:cubicBezTo>
                  <a:cubicBezTo>
                    <a:pt x="1052141" y="754000"/>
                    <a:pt x="1028512" y="748640"/>
                    <a:pt x="1006679" y="738937"/>
                  </a:cubicBezTo>
                  <a:cubicBezTo>
                    <a:pt x="978110" y="726240"/>
                    <a:pt x="950455" y="711553"/>
                    <a:pt x="922789" y="696992"/>
                  </a:cubicBezTo>
                  <a:cubicBezTo>
                    <a:pt x="897312" y="683583"/>
                    <a:pt x="874019" y="665739"/>
                    <a:pt x="847288" y="655047"/>
                  </a:cubicBezTo>
                  <a:cubicBezTo>
                    <a:pt x="817685" y="643206"/>
                    <a:pt x="784943" y="640856"/>
                    <a:pt x="755009" y="629880"/>
                  </a:cubicBezTo>
                  <a:cubicBezTo>
                    <a:pt x="700885" y="610034"/>
                    <a:pt x="650835" y="579333"/>
                    <a:pt x="595618" y="562768"/>
                  </a:cubicBezTo>
                  <a:cubicBezTo>
                    <a:pt x="464789" y="523519"/>
                    <a:pt x="547524" y="551790"/>
                    <a:pt x="394282" y="487267"/>
                  </a:cubicBezTo>
                  <a:cubicBezTo>
                    <a:pt x="356451" y="471338"/>
                    <a:pt x="320403" y="460385"/>
                    <a:pt x="285225" y="436933"/>
                  </a:cubicBezTo>
                  <a:cubicBezTo>
                    <a:pt x="240316" y="406994"/>
                    <a:pt x="267185" y="427283"/>
                    <a:pt x="209724" y="369821"/>
                  </a:cubicBezTo>
                  <a:cubicBezTo>
                    <a:pt x="201335" y="361432"/>
                    <a:pt x="194429" y="351235"/>
                    <a:pt x="184558" y="344654"/>
                  </a:cubicBezTo>
                  <a:cubicBezTo>
                    <a:pt x="176169" y="339061"/>
                    <a:pt x="167595" y="333736"/>
                    <a:pt x="159391" y="327876"/>
                  </a:cubicBezTo>
                  <a:cubicBezTo>
                    <a:pt x="148014" y="319750"/>
                    <a:pt x="137468" y="310465"/>
                    <a:pt x="125835" y="302710"/>
                  </a:cubicBezTo>
                  <a:cubicBezTo>
                    <a:pt x="117650" y="297253"/>
                    <a:pt x="71236" y="271192"/>
                    <a:pt x="58723" y="260765"/>
                  </a:cubicBezTo>
                  <a:cubicBezTo>
                    <a:pt x="35354" y="241291"/>
                    <a:pt x="26904" y="226729"/>
                    <a:pt x="8389" y="202042"/>
                  </a:cubicBezTo>
                  <a:cubicBezTo>
                    <a:pt x="5593" y="193653"/>
                    <a:pt x="0" y="185718"/>
                    <a:pt x="0" y="176875"/>
                  </a:cubicBezTo>
                  <a:cubicBezTo>
                    <a:pt x="0" y="146191"/>
                    <a:pt x="1890" y="95751"/>
                    <a:pt x="25167" y="67818"/>
                  </a:cubicBezTo>
                  <a:cubicBezTo>
                    <a:pt x="31622" y="60073"/>
                    <a:pt x="41580" y="56042"/>
                    <a:pt x="50334" y="51040"/>
                  </a:cubicBezTo>
                  <a:cubicBezTo>
                    <a:pt x="89430" y="28700"/>
                    <a:pt x="76158" y="37670"/>
                    <a:pt x="117446" y="25873"/>
                  </a:cubicBezTo>
                  <a:cubicBezTo>
                    <a:pt x="125949" y="23444"/>
                    <a:pt x="124437" y="3502"/>
                    <a:pt x="134224" y="706"/>
                  </a:cubicBezTo>
                  <a:close/>
                </a:path>
              </a:pathLst>
            </a:custGeom>
            <a:noFill/>
            <a:ln w="3175">
              <a:solidFill>
                <a:srgbClr val="ED7D3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6" name="Groupe 35">
            <a:extLst>
              <a:ext uri="{FF2B5EF4-FFF2-40B4-BE49-F238E27FC236}">
                <a16:creationId xmlns:a16="http://schemas.microsoft.com/office/drawing/2014/main" id="{4849AEC3-74E6-D156-E23B-ED8B7401B57E}"/>
              </a:ext>
            </a:extLst>
          </p:cNvPr>
          <p:cNvGrpSpPr/>
          <p:nvPr/>
        </p:nvGrpSpPr>
        <p:grpSpPr>
          <a:xfrm>
            <a:off x="7446844" y="4019723"/>
            <a:ext cx="561972" cy="473787"/>
            <a:chOff x="8982504" y="3274976"/>
            <a:chExt cx="1230670" cy="1037553"/>
          </a:xfrm>
          <a:solidFill>
            <a:srgbClr val="ED7D31"/>
          </a:solidFill>
        </p:grpSpPr>
        <p:pic>
          <p:nvPicPr>
            <p:cNvPr id="37" name="Graphique 36" descr="Utilisateur avec un remplissage uni">
              <a:extLst>
                <a:ext uri="{FF2B5EF4-FFF2-40B4-BE49-F238E27FC236}">
                  <a16:creationId xmlns:a16="http://schemas.microsoft.com/office/drawing/2014/main" id="{C97E324F-DB8F-F90C-83F1-5B1F41B8D0B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301028" y="3274976"/>
              <a:ext cx="336064" cy="336064"/>
            </a:xfrm>
            <a:prstGeom prst="rect">
              <a:avLst/>
            </a:prstGeom>
          </p:spPr>
        </p:pic>
        <p:pic>
          <p:nvPicPr>
            <p:cNvPr id="38" name="Graphique 37" descr="Utilisateur avec un remplissage uni">
              <a:extLst>
                <a:ext uri="{FF2B5EF4-FFF2-40B4-BE49-F238E27FC236}">
                  <a16:creationId xmlns:a16="http://schemas.microsoft.com/office/drawing/2014/main" id="{1BD09943-B303-A6A5-66BB-1B517E924AB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054140" y="3512720"/>
              <a:ext cx="336064" cy="336064"/>
            </a:xfrm>
            <a:prstGeom prst="rect">
              <a:avLst/>
            </a:prstGeom>
          </p:spPr>
        </p:pic>
        <p:pic>
          <p:nvPicPr>
            <p:cNvPr id="39" name="Graphique 38" descr="Utilisateur avec un remplissage uni">
              <a:extLst>
                <a:ext uri="{FF2B5EF4-FFF2-40B4-BE49-F238E27FC236}">
                  <a16:creationId xmlns:a16="http://schemas.microsoft.com/office/drawing/2014/main" id="{C47A6D7A-CC84-7D6B-976F-1B7D1412E74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345616" y="3561880"/>
              <a:ext cx="336064" cy="336064"/>
            </a:xfrm>
            <a:prstGeom prst="rect">
              <a:avLst/>
            </a:prstGeom>
          </p:spPr>
        </p:pic>
        <p:pic>
          <p:nvPicPr>
            <p:cNvPr id="40" name="Graphique 39" descr="Utilisateur avec un remplissage uni">
              <a:extLst>
                <a:ext uri="{FF2B5EF4-FFF2-40B4-BE49-F238E27FC236}">
                  <a16:creationId xmlns:a16="http://schemas.microsoft.com/office/drawing/2014/main" id="{45B81008-9D4A-D77F-7C66-0A4CA0FEFD9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592504" y="3418428"/>
              <a:ext cx="336064" cy="336064"/>
            </a:xfrm>
            <a:prstGeom prst="rect">
              <a:avLst/>
            </a:prstGeom>
          </p:spPr>
        </p:pic>
        <p:pic>
          <p:nvPicPr>
            <p:cNvPr id="41" name="Graphique 40" descr="Utilisateur avec un remplissage uni">
              <a:extLst>
                <a:ext uri="{FF2B5EF4-FFF2-40B4-BE49-F238E27FC236}">
                  <a16:creationId xmlns:a16="http://schemas.microsoft.com/office/drawing/2014/main" id="{0CA24443-04E2-7DBE-3466-A1270CC134A8}"/>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635196" y="3680752"/>
              <a:ext cx="336064" cy="336064"/>
            </a:xfrm>
            <a:prstGeom prst="rect">
              <a:avLst/>
            </a:prstGeom>
          </p:spPr>
        </p:pic>
        <p:pic>
          <p:nvPicPr>
            <p:cNvPr id="42" name="Graphique 41" descr="Utilisateur avec un remplissage uni">
              <a:extLst>
                <a:ext uri="{FF2B5EF4-FFF2-40B4-BE49-F238E27FC236}">
                  <a16:creationId xmlns:a16="http://schemas.microsoft.com/office/drawing/2014/main" id="{4D992C08-2F24-3548-C8CC-356B70B121D2}"/>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256440" y="3848784"/>
              <a:ext cx="336064" cy="336064"/>
            </a:xfrm>
            <a:prstGeom prst="rect">
              <a:avLst/>
            </a:prstGeom>
          </p:spPr>
        </p:pic>
        <p:pic>
          <p:nvPicPr>
            <p:cNvPr id="43" name="Graphique 42" descr="Utilisateur avec un remplissage uni">
              <a:extLst>
                <a:ext uri="{FF2B5EF4-FFF2-40B4-BE49-F238E27FC236}">
                  <a16:creationId xmlns:a16="http://schemas.microsoft.com/office/drawing/2014/main" id="{F3770FE7-8B36-26FA-C511-C512DB0BDE4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982504" y="3835028"/>
              <a:ext cx="336064" cy="336064"/>
            </a:xfrm>
            <a:prstGeom prst="rect">
              <a:avLst/>
            </a:prstGeom>
          </p:spPr>
        </p:pic>
        <p:pic>
          <p:nvPicPr>
            <p:cNvPr id="44" name="Graphique 43" descr="Utilisateur avec un remplissage uni">
              <a:extLst>
                <a:ext uri="{FF2B5EF4-FFF2-40B4-BE49-F238E27FC236}">
                  <a16:creationId xmlns:a16="http://schemas.microsoft.com/office/drawing/2014/main" id="{3F8E6DBB-9907-10A1-9615-224D6E111CE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520868" y="3943076"/>
              <a:ext cx="336064" cy="336064"/>
            </a:xfrm>
            <a:prstGeom prst="rect">
              <a:avLst/>
            </a:prstGeom>
          </p:spPr>
        </p:pic>
        <p:pic>
          <p:nvPicPr>
            <p:cNvPr id="45" name="Graphique 44" descr="Utilisateur avec un remplissage uni">
              <a:extLst>
                <a:ext uri="{FF2B5EF4-FFF2-40B4-BE49-F238E27FC236}">
                  <a16:creationId xmlns:a16="http://schemas.microsoft.com/office/drawing/2014/main" id="{3EF969B5-41A8-69F2-04C7-5185A3BD259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742772" y="3976465"/>
              <a:ext cx="336064" cy="336064"/>
            </a:xfrm>
            <a:prstGeom prst="rect">
              <a:avLst/>
            </a:prstGeom>
          </p:spPr>
        </p:pic>
        <p:pic>
          <p:nvPicPr>
            <p:cNvPr id="46" name="Graphique 45" descr="Utilisateur avec un remplissage uni">
              <a:extLst>
                <a:ext uri="{FF2B5EF4-FFF2-40B4-BE49-F238E27FC236}">
                  <a16:creationId xmlns:a16="http://schemas.microsoft.com/office/drawing/2014/main" id="{B44E1738-D2C4-4D5B-483B-CB037CE281E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877110" y="3705332"/>
              <a:ext cx="336064" cy="336064"/>
            </a:xfrm>
            <a:prstGeom prst="rect">
              <a:avLst/>
            </a:prstGeom>
          </p:spPr>
        </p:pic>
        <p:pic>
          <p:nvPicPr>
            <p:cNvPr id="47" name="Graphique 46" descr="Utilisateur avec un remplissage uni">
              <a:extLst>
                <a:ext uri="{FF2B5EF4-FFF2-40B4-BE49-F238E27FC236}">
                  <a16:creationId xmlns:a16="http://schemas.microsoft.com/office/drawing/2014/main" id="{0968739B-D12F-291E-215F-48308F1213D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856932" y="3429000"/>
              <a:ext cx="336064" cy="336064"/>
            </a:xfrm>
            <a:prstGeom prst="rect">
              <a:avLst/>
            </a:prstGeom>
          </p:spPr>
        </p:pic>
      </p:grpSp>
      <p:pic>
        <p:nvPicPr>
          <p:cNvPr id="48" name="Graphique 47" descr="Femme détective avec un remplissage uni">
            <a:extLst>
              <a:ext uri="{FF2B5EF4-FFF2-40B4-BE49-F238E27FC236}">
                <a16:creationId xmlns:a16="http://schemas.microsoft.com/office/drawing/2014/main" id="{12D3AA23-4F5A-30DC-AC4F-2084FBDFE51E}"/>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32379" y="4315379"/>
            <a:ext cx="530235" cy="530235"/>
          </a:xfrm>
          <a:prstGeom prst="rect">
            <a:avLst/>
          </a:prstGeom>
        </p:spPr>
      </p:pic>
      <p:grpSp>
        <p:nvGrpSpPr>
          <p:cNvPr id="59" name="Groupe 58">
            <a:extLst>
              <a:ext uri="{FF2B5EF4-FFF2-40B4-BE49-F238E27FC236}">
                <a16:creationId xmlns:a16="http://schemas.microsoft.com/office/drawing/2014/main" id="{D1E6CAE0-DA85-B211-3295-97381EDA8A92}"/>
              </a:ext>
            </a:extLst>
          </p:cNvPr>
          <p:cNvGrpSpPr/>
          <p:nvPr/>
        </p:nvGrpSpPr>
        <p:grpSpPr>
          <a:xfrm>
            <a:off x="8602120" y="3096445"/>
            <a:ext cx="390998" cy="423777"/>
            <a:chOff x="5208289" y="2908703"/>
            <a:chExt cx="2201188" cy="2385724"/>
          </a:xfrm>
        </p:grpSpPr>
        <p:grpSp>
          <p:nvGrpSpPr>
            <p:cNvPr id="50" name="Groupe 49">
              <a:extLst>
                <a:ext uri="{FF2B5EF4-FFF2-40B4-BE49-F238E27FC236}">
                  <a16:creationId xmlns:a16="http://schemas.microsoft.com/office/drawing/2014/main" id="{5E080ABE-4322-030D-FA95-88695A0789AF}"/>
                </a:ext>
              </a:extLst>
            </p:cNvPr>
            <p:cNvGrpSpPr/>
            <p:nvPr/>
          </p:nvGrpSpPr>
          <p:grpSpPr>
            <a:xfrm>
              <a:off x="5208289" y="2908703"/>
              <a:ext cx="2201188" cy="2385724"/>
              <a:chOff x="4948467" y="2361639"/>
              <a:chExt cx="2646976" cy="2868885"/>
            </a:xfrm>
          </p:grpSpPr>
          <p:pic>
            <p:nvPicPr>
              <p:cNvPr id="51" name="Graphique 50" descr="Flux de travail avec un remplissage uni">
                <a:extLst>
                  <a:ext uri="{FF2B5EF4-FFF2-40B4-BE49-F238E27FC236}">
                    <a16:creationId xmlns:a16="http://schemas.microsoft.com/office/drawing/2014/main" id="{385C97FB-37DB-190C-B6CC-DF0C8FAC4B6B}"/>
                  </a:ext>
                </a:extLst>
              </p:cNvPr>
              <p:cNvPicPr>
                <a:picLocks noChangeAspect="1"/>
              </p:cNvPicPr>
              <p:nvPr/>
            </p:nvPicPr>
            <p:blipFill rotWithShape="1">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rcRect l="12257" t="11685" r="14656" b="9100"/>
              <a:stretch/>
            </p:blipFill>
            <p:spPr>
              <a:xfrm>
                <a:off x="4948467" y="2361639"/>
                <a:ext cx="2646976" cy="2868885"/>
              </a:xfrm>
              <a:prstGeom prst="rect">
                <a:avLst/>
              </a:prstGeom>
            </p:spPr>
          </p:pic>
          <p:pic>
            <p:nvPicPr>
              <p:cNvPr id="52" name="Graphique 51" descr="Flux de travail avec un remplissage uni">
                <a:extLst>
                  <a:ext uri="{FF2B5EF4-FFF2-40B4-BE49-F238E27FC236}">
                    <a16:creationId xmlns:a16="http://schemas.microsoft.com/office/drawing/2014/main" id="{D8DB18C8-9BF2-9885-0809-00ABE93ADC57}"/>
                  </a:ext>
                </a:extLst>
              </p:cNvPr>
              <p:cNvPicPr>
                <a:picLocks noChangeAspect="1"/>
              </p:cNvPicPr>
              <p:nvPr/>
            </p:nvPicPr>
            <p:blipFill rotWithShape="1">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rcRect l="65289" t="38774" r="17178" b="35731"/>
              <a:stretch/>
            </p:blipFill>
            <p:spPr>
              <a:xfrm rot="10800000">
                <a:off x="5129887" y="3334416"/>
                <a:ext cx="635000" cy="923330"/>
              </a:xfrm>
              <a:prstGeom prst="rect">
                <a:avLst/>
              </a:prstGeom>
            </p:spPr>
          </p:pic>
        </p:grpSp>
        <p:pic>
          <p:nvPicPr>
            <p:cNvPr id="53" name="Graphique 52" descr="Panneau de signalisation avec un remplissage uni">
              <a:extLst>
                <a:ext uri="{FF2B5EF4-FFF2-40B4-BE49-F238E27FC236}">
                  <a16:creationId xmlns:a16="http://schemas.microsoft.com/office/drawing/2014/main" id="{A5BB931F-CB39-3201-2002-692D3C1074B5}"/>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794990" y="3013392"/>
              <a:ext cx="581454" cy="581454"/>
            </a:xfrm>
            <a:prstGeom prst="rect">
              <a:avLst/>
            </a:prstGeom>
          </p:spPr>
        </p:pic>
        <p:pic>
          <p:nvPicPr>
            <p:cNvPr id="54" name="Graphique 53" descr="Signe pouce en haut avec un remplissage uni">
              <a:extLst>
                <a:ext uri="{FF2B5EF4-FFF2-40B4-BE49-F238E27FC236}">
                  <a16:creationId xmlns:a16="http://schemas.microsoft.com/office/drawing/2014/main" id="{3DBA9111-9BBD-5414-4C86-45252BCFE481}"/>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5290148" y="4545423"/>
              <a:ext cx="597064" cy="597064"/>
            </a:xfrm>
            <a:prstGeom prst="rect">
              <a:avLst/>
            </a:prstGeom>
          </p:spPr>
        </p:pic>
        <p:grpSp>
          <p:nvGrpSpPr>
            <p:cNvPr id="55" name="Groupe 54">
              <a:extLst>
                <a:ext uri="{FF2B5EF4-FFF2-40B4-BE49-F238E27FC236}">
                  <a16:creationId xmlns:a16="http://schemas.microsoft.com/office/drawing/2014/main" id="{7B6DB1C0-6B5F-C620-6855-C8738E26FFBA}"/>
                </a:ext>
              </a:extLst>
            </p:cNvPr>
            <p:cNvGrpSpPr/>
            <p:nvPr/>
          </p:nvGrpSpPr>
          <p:grpSpPr>
            <a:xfrm rot="16200000">
              <a:off x="5359154" y="3128666"/>
              <a:ext cx="461197" cy="350906"/>
              <a:chOff x="1499428" y="3098753"/>
              <a:chExt cx="474208" cy="322063"/>
            </a:xfrm>
          </p:grpSpPr>
          <p:sp>
            <p:nvSpPr>
              <p:cNvPr id="56" name="Flèche : bas 55">
                <a:extLst>
                  <a:ext uri="{FF2B5EF4-FFF2-40B4-BE49-F238E27FC236}">
                    <a16:creationId xmlns:a16="http://schemas.microsoft.com/office/drawing/2014/main" id="{AF78E778-9F6E-7A5D-DDFD-8FA6DD698E20}"/>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57" name="Flèche : bas 56">
                <a:extLst>
                  <a:ext uri="{FF2B5EF4-FFF2-40B4-BE49-F238E27FC236}">
                    <a16:creationId xmlns:a16="http://schemas.microsoft.com/office/drawing/2014/main" id="{345596C7-B4B6-B571-52AE-4DF4EB1B7C0D}"/>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58" name="Graphique 57" descr="Cause à effet avec un remplissage uni">
              <a:extLst>
                <a:ext uri="{FF2B5EF4-FFF2-40B4-BE49-F238E27FC236}">
                  <a16:creationId xmlns:a16="http://schemas.microsoft.com/office/drawing/2014/main" id="{66988B0A-E780-8AFE-657B-C9B2C3887A08}"/>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6779381" y="4545423"/>
              <a:ext cx="597063" cy="597063"/>
            </a:xfrm>
            <a:prstGeom prst="rect">
              <a:avLst/>
            </a:prstGeom>
          </p:spPr>
        </p:pic>
      </p:grpSp>
      <p:grpSp>
        <p:nvGrpSpPr>
          <p:cNvPr id="65" name="Groupe 64">
            <a:extLst>
              <a:ext uri="{FF2B5EF4-FFF2-40B4-BE49-F238E27FC236}">
                <a16:creationId xmlns:a16="http://schemas.microsoft.com/office/drawing/2014/main" id="{F4291D1E-A75C-2A3F-26BE-9432EC93465F}"/>
              </a:ext>
            </a:extLst>
          </p:cNvPr>
          <p:cNvGrpSpPr/>
          <p:nvPr/>
        </p:nvGrpSpPr>
        <p:grpSpPr>
          <a:xfrm>
            <a:off x="7223638" y="4978524"/>
            <a:ext cx="973530" cy="210406"/>
            <a:chOff x="5605677" y="4975341"/>
            <a:chExt cx="2647542" cy="572204"/>
          </a:xfrm>
        </p:grpSpPr>
        <p:sp>
          <p:nvSpPr>
            <p:cNvPr id="60" name="Flèche : droite 59">
              <a:extLst>
                <a:ext uri="{FF2B5EF4-FFF2-40B4-BE49-F238E27FC236}">
                  <a16:creationId xmlns:a16="http://schemas.microsoft.com/office/drawing/2014/main" id="{2CE8FC0C-AE1C-551D-D326-1C1A5F5B77F8}"/>
                </a:ext>
              </a:extLst>
            </p:cNvPr>
            <p:cNvSpPr/>
            <p:nvPr/>
          </p:nvSpPr>
          <p:spPr>
            <a:xfrm>
              <a:off x="5605677" y="4975341"/>
              <a:ext cx="529508" cy="572204"/>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b="1" dirty="0">
                <a:solidFill>
                  <a:schemeClr val="tx1"/>
                </a:solidFill>
              </a:endParaRPr>
            </a:p>
          </p:txBody>
        </p:sp>
        <p:sp>
          <p:nvSpPr>
            <p:cNvPr id="61" name="Flèche : droite 60">
              <a:extLst>
                <a:ext uri="{FF2B5EF4-FFF2-40B4-BE49-F238E27FC236}">
                  <a16:creationId xmlns:a16="http://schemas.microsoft.com/office/drawing/2014/main" id="{E0113208-418B-9E45-7D10-012C4CFE83F5}"/>
                </a:ext>
              </a:extLst>
            </p:cNvPr>
            <p:cNvSpPr/>
            <p:nvPr/>
          </p:nvSpPr>
          <p:spPr>
            <a:xfrm>
              <a:off x="6135185" y="4975341"/>
              <a:ext cx="529508" cy="572204"/>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62" name="Flèche : droite 61">
              <a:extLst>
                <a:ext uri="{FF2B5EF4-FFF2-40B4-BE49-F238E27FC236}">
                  <a16:creationId xmlns:a16="http://schemas.microsoft.com/office/drawing/2014/main" id="{3E12499A-E5B2-5C0B-3549-88F36CB7B57E}"/>
                </a:ext>
              </a:extLst>
            </p:cNvPr>
            <p:cNvSpPr/>
            <p:nvPr/>
          </p:nvSpPr>
          <p:spPr>
            <a:xfrm>
              <a:off x="6664694" y="4975341"/>
              <a:ext cx="529508" cy="572204"/>
            </a:xfrm>
            <a:prstGeom prst="rightArrow">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63" name="Flèche : droite 62">
              <a:extLst>
                <a:ext uri="{FF2B5EF4-FFF2-40B4-BE49-F238E27FC236}">
                  <a16:creationId xmlns:a16="http://schemas.microsoft.com/office/drawing/2014/main" id="{39AF0133-0F5B-93ED-96E2-639939864615}"/>
                </a:ext>
              </a:extLst>
            </p:cNvPr>
            <p:cNvSpPr/>
            <p:nvPr/>
          </p:nvSpPr>
          <p:spPr>
            <a:xfrm>
              <a:off x="7194202" y="4975341"/>
              <a:ext cx="529508" cy="57220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sp>
          <p:nvSpPr>
            <p:cNvPr id="64" name="Flèche : droite 63">
              <a:extLst>
                <a:ext uri="{FF2B5EF4-FFF2-40B4-BE49-F238E27FC236}">
                  <a16:creationId xmlns:a16="http://schemas.microsoft.com/office/drawing/2014/main" id="{C0C4FCED-3155-8FB5-ACF5-5405974CB4D7}"/>
                </a:ext>
              </a:extLst>
            </p:cNvPr>
            <p:cNvSpPr/>
            <p:nvPr/>
          </p:nvSpPr>
          <p:spPr>
            <a:xfrm>
              <a:off x="7723711" y="4975341"/>
              <a:ext cx="529508" cy="572204"/>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700" dirty="0">
                <a:solidFill>
                  <a:schemeClr val="tx1"/>
                </a:solidFill>
              </a:endParaRPr>
            </a:p>
          </p:txBody>
        </p:sp>
      </p:grpSp>
      <p:sp>
        <p:nvSpPr>
          <p:cNvPr id="66" name="ZoneTexte 65">
            <a:extLst>
              <a:ext uri="{FF2B5EF4-FFF2-40B4-BE49-F238E27FC236}">
                <a16:creationId xmlns:a16="http://schemas.microsoft.com/office/drawing/2014/main" id="{1F9DE3AD-C456-40E2-B6ED-E6C935A7AB38}"/>
              </a:ext>
            </a:extLst>
          </p:cNvPr>
          <p:cNvSpPr txBox="1"/>
          <p:nvPr/>
        </p:nvSpPr>
        <p:spPr>
          <a:xfrm>
            <a:off x="6504702" y="3422482"/>
            <a:ext cx="936694" cy="369332"/>
          </a:xfrm>
          <a:prstGeom prst="rect">
            <a:avLst/>
          </a:prstGeom>
          <a:noFill/>
        </p:spPr>
        <p:txBody>
          <a:bodyPr wrap="square">
            <a:spAutoFit/>
          </a:bodyPr>
          <a:lstStyle/>
          <a:p>
            <a:pPr marL="0" indent="0" algn="ctr">
              <a:buNone/>
            </a:pPr>
            <a:r>
              <a:rPr lang="fr-FR" sz="900" dirty="0"/>
              <a:t>Valeur entreprise</a:t>
            </a:r>
          </a:p>
        </p:txBody>
      </p:sp>
      <p:sp>
        <p:nvSpPr>
          <p:cNvPr id="67" name="ZoneTexte 66">
            <a:extLst>
              <a:ext uri="{FF2B5EF4-FFF2-40B4-BE49-F238E27FC236}">
                <a16:creationId xmlns:a16="http://schemas.microsoft.com/office/drawing/2014/main" id="{85518E46-DD3D-FEE9-24EF-8F1B0A8CE5C8}"/>
              </a:ext>
            </a:extLst>
          </p:cNvPr>
          <p:cNvSpPr txBox="1"/>
          <p:nvPr/>
        </p:nvSpPr>
        <p:spPr>
          <a:xfrm>
            <a:off x="6096000" y="4141201"/>
            <a:ext cx="936694" cy="230832"/>
          </a:xfrm>
          <a:prstGeom prst="rect">
            <a:avLst/>
          </a:prstGeom>
          <a:noFill/>
        </p:spPr>
        <p:txBody>
          <a:bodyPr wrap="square">
            <a:spAutoFit/>
          </a:bodyPr>
          <a:lstStyle/>
          <a:p>
            <a:pPr marL="0" indent="0" algn="ctr">
              <a:buNone/>
            </a:pPr>
            <a:r>
              <a:rPr lang="fr-FR" sz="900" dirty="0"/>
              <a:t>Priorisation</a:t>
            </a:r>
          </a:p>
        </p:txBody>
      </p:sp>
      <p:sp>
        <p:nvSpPr>
          <p:cNvPr id="68" name="ZoneTexte 67">
            <a:extLst>
              <a:ext uri="{FF2B5EF4-FFF2-40B4-BE49-F238E27FC236}">
                <a16:creationId xmlns:a16="http://schemas.microsoft.com/office/drawing/2014/main" id="{F9728806-5DF0-53D2-DEB8-BBF001A2E3FE}"/>
              </a:ext>
            </a:extLst>
          </p:cNvPr>
          <p:cNvSpPr txBox="1"/>
          <p:nvPr/>
        </p:nvSpPr>
        <p:spPr>
          <a:xfrm>
            <a:off x="7253232" y="4442591"/>
            <a:ext cx="936694" cy="369332"/>
          </a:xfrm>
          <a:prstGeom prst="rect">
            <a:avLst/>
          </a:prstGeom>
          <a:noFill/>
        </p:spPr>
        <p:txBody>
          <a:bodyPr wrap="square">
            <a:spAutoFit/>
          </a:bodyPr>
          <a:lstStyle/>
          <a:p>
            <a:pPr marL="0" indent="0" algn="ctr">
              <a:buNone/>
            </a:pPr>
            <a:r>
              <a:rPr lang="fr-FR" sz="900" dirty="0"/>
              <a:t>Valeur membres</a:t>
            </a:r>
          </a:p>
        </p:txBody>
      </p:sp>
      <p:sp>
        <p:nvSpPr>
          <p:cNvPr id="69" name="ZoneTexte 68">
            <a:extLst>
              <a:ext uri="{FF2B5EF4-FFF2-40B4-BE49-F238E27FC236}">
                <a16:creationId xmlns:a16="http://schemas.microsoft.com/office/drawing/2014/main" id="{2B6843F8-B5CD-139C-8150-591611691E09}"/>
              </a:ext>
            </a:extLst>
          </p:cNvPr>
          <p:cNvSpPr txBox="1"/>
          <p:nvPr/>
        </p:nvSpPr>
        <p:spPr>
          <a:xfrm>
            <a:off x="7285729" y="5109248"/>
            <a:ext cx="936694" cy="230832"/>
          </a:xfrm>
          <a:prstGeom prst="rect">
            <a:avLst/>
          </a:prstGeom>
          <a:noFill/>
        </p:spPr>
        <p:txBody>
          <a:bodyPr wrap="square">
            <a:spAutoFit/>
          </a:bodyPr>
          <a:lstStyle/>
          <a:p>
            <a:pPr marL="0" indent="0" algn="ctr">
              <a:buNone/>
            </a:pPr>
            <a:r>
              <a:rPr lang="fr-FR" sz="900" dirty="0"/>
              <a:t>Timing</a:t>
            </a:r>
          </a:p>
        </p:txBody>
      </p:sp>
      <p:sp>
        <p:nvSpPr>
          <p:cNvPr id="70" name="ZoneTexte 69">
            <a:extLst>
              <a:ext uri="{FF2B5EF4-FFF2-40B4-BE49-F238E27FC236}">
                <a16:creationId xmlns:a16="http://schemas.microsoft.com/office/drawing/2014/main" id="{7DF36F71-A261-F779-BDD8-54EF2CF468ED}"/>
              </a:ext>
            </a:extLst>
          </p:cNvPr>
          <p:cNvSpPr txBox="1"/>
          <p:nvPr/>
        </p:nvSpPr>
        <p:spPr>
          <a:xfrm>
            <a:off x="8189926" y="4811923"/>
            <a:ext cx="978739" cy="230832"/>
          </a:xfrm>
          <a:prstGeom prst="rect">
            <a:avLst/>
          </a:prstGeom>
          <a:noFill/>
        </p:spPr>
        <p:txBody>
          <a:bodyPr wrap="square">
            <a:spAutoFit/>
          </a:bodyPr>
          <a:lstStyle/>
          <a:p>
            <a:pPr marL="0" indent="0" algn="ctr">
              <a:buNone/>
            </a:pPr>
            <a:r>
              <a:rPr lang="fr-FR" sz="900" dirty="0"/>
              <a:t>Renseignements</a:t>
            </a:r>
          </a:p>
        </p:txBody>
      </p:sp>
      <p:sp>
        <p:nvSpPr>
          <p:cNvPr id="71" name="ZoneTexte 70">
            <a:extLst>
              <a:ext uri="{FF2B5EF4-FFF2-40B4-BE49-F238E27FC236}">
                <a16:creationId xmlns:a16="http://schemas.microsoft.com/office/drawing/2014/main" id="{A0EA0CAC-913C-E0CC-3F6D-0E2C77D03930}"/>
              </a:ext>
            </a:extLst>
          </p:cNvPr>
          <p:cNvSpPr txBox="1"/>
          <p:nvPr/>
        </p:nvSpPr>
        <p:spPr>
          <a:xfrm>
            <a:off x="8331914" y="3473180"/>
            <a:ext cx="978739" cy="369332"/>
          </a:xfrm>
          <a:prstGeom prst="rect">
            <a:avLst/>
          </a:prstGeom>
          <a:noFill/>
        </p:spPr>
        <p:txBody>
          <a:bodyPr wrap="square">
            <a:spAutoFit/>
          </a:bodyPr>
          <a:lstStyle/>
          <a:p>
            <a:pPr marL="0" indent="0" algn="ctr">
              <a:buNone/>
            </a:pPr>
            <a:r>
              <a:rPr lang="fr-FR" sz="900" dirty="0"/>
              <a:t>Cycles d’ajustement</a:t>
            </a:r>
          </a:p>
        </p:txBody>
      </p:sp>
      <p:sp>
        <p:nvSpPr>
          <p:cNvPr id="72" name="ZoneTexte 71">
            <a:extLst>
              <a:ext uri="{FF2B5EF4-FFF2-40B4-BE49-F238E27FC236}">
                <a16:creationId xmlns:a16="http://schemas.microsoft.com/office/drawing/2014/main" id="{50C0F008-56BD-6185-BEA2-B04450E034C4}"/>
              </a:ext>
            </a:extLst>
          </p:cNvPr>
          <p:cNvSpPr txBox="1"/>
          <p:nvPr/>
        </p:nvSpPr>
        <p:spPr>
          <a:xfrm>
            <a:off x="7449722" y="3647706"/>
            <a:ext cx="978739" cy="369332"/>
          </a:xfrm>
          <a:prstGeom prst="rect">
            <a:avLst/>
          </a:prstGeom>
          <a:noFill/>
        </p:spPr>
        <p:txBody>
          <a:bodyPr wrap="square">
            <a:spAutoFit/>
          </a:bodyPr>
          <a:lstStyle/>
          <a:p>
            <a:pPr marL="0" indent="0" algn="ctr">
              <a:buNone/>
            </a:pPr>
            <a:r>
              <a:rPr lang="fr-FR" sz="900" dirty="0"/>
              <a:t>Communauté vs Equipe</a:t>
            </a:r>
          </a:p>
        </p:txBody>
      </p:sp>
      <p:sp>
        <p:nvSpPr>
          <p:cNvPr id="73" name="ZoneTexte 72">
            <a:extLst>
              <a:ext uri="{FF2B5EF4-FFF2-40B4-BE49-F238E27FC236}">
                <a16:creationId xmlns:a16="http://schemas.microsoft.com/office/drawing/2014/main" id="{BB2BB3A7-E777-6DDF-B042-29FB65686F67}"/>
              </a:ext>
            </a:extLst>
          </p:cNvPr>
          <p:cNvSpPr txBox="1"/>
          <p:nvPr/>
        </p:nvSpPr>
        <p:spPr>
          <a:xfrm>
            <a:off x="6393402" y="4695506"/>
            <a:ext cx="978739" cy="230832"/>
          </a:xfrm>
          <a:prstGeom prst="rect">
            <a:avLst/>
          </a:prstGeom>
          <a:noFill/>
        </p:spPr>
        <p:txBody>
          <a:bodyPr wrap="square">
            <a:spAutoFit/>
          </a:bodyPr>
          <a:lstStyle/>
          <a:p>
            <a:pPr marL="0" indent="0" algn="ctr">
              <a:buNone/>
            </a:pPr>
            <a:r>
              <a:rPr lang="fr-FR" sz="900" dirty="0"/>
              <a:t>Tensions</a:t>
            </a:r>
          </a:p>
        </p:txBody>
      </p:sp>
      <p:sp>
        <p:nvSpPr>
          <p:cNvPr id="74" name="ZoneTexte 73">
            <a:extLst>
              <a:ext uri="{FF2B5EF4-FFF2-40B4-BE49-F238E27FC236}">
                <a16:creationId xmlns:a16="http://schemas.microsoft.com/office/drawing/2014/main" id="{15D51B9D-041B-E1D9-2034-CF6550912981}"/>
              </a:ext>
            </a:extLst>
          </p:cNvPr>
          <p:cNvSpPr txBox="1"/>
          <p:nvPr/>
        </p:nvSpPr>
        <p:spPr>
          <a:xfrm>
            <a:off x="10928339" y="3829591"/>
            <a:ext cx="978739" cy="230832"/>
          </a:xfrm>
          <a:prstGeom prst="rect">
            <a:avLst/>
          </a:prstGeom>
          <a:noFill/>
        </p:spPr>
        <p:txBody>
          <a:bodyPr wrap="square">
            <a:spAutoFit/>
          </a:bodyPr>
          <a:lstStyle/>
          <a:p>
            <a:pPr marL="0" indent="0" algn="ctr">
              <a:buNone/>
            </a:pPr>
            <a:r>
              <a:rPr lang="fr-FR" sz="900" dirty="0"/>
              <a:t>Personnalités</a:t>
            </a:r>
          </a:p>
        </p:txBody>
      </p:sp>
      <p:sp>
        <p:nvSpPr>
          <p:cNvPr id="75" name="ZoneTexte 74">
            <a:extLst>
              <a:ext uri="{FF2B5EF4-FFF2-40B4-BE49-F238E27FC236}">
                <a16:creationId xmlns:a16="http://schemas.microsoft.com/office/drawing/2014/main" id="{66D1851F-B5FA-AC3D-03E4-4CECDEA5399E}"/>
              </a:ext>
            </a:extLst>
          </p:cNvPr>
          <p:cNvSpPr txBox="1"/>
          <p:nvPr/>
        </p:nvSpPr>
        <p:spPr>
          <a:xfrm>
            <a:off x="10928338" y="4810922"/>
            <a:ext cx="978739" cy="369332"/>
          </a:xfrm>
          <a:prstGeom prst="rect">
            <a:avLst/>
          </a:prstGeom>
          <a:noFill/>
        </p:spPr>
        <p:txBody>
          <a:bodyPr wrap="square">
            <a:spAutoFit/>
          </a:bodyPr>
          <a:lstStyle/>
          <a:p>
            <a:pPr marL="0" indent="0" algn="ctr">
              <a:buNone/>
            </a:pPr>
            <a:r>
              <a:rPr lang="fr-FR" sz="900" dirty="0"/>
              <a:t>Revenus de la Communauté</a:t>
            </a:r>
          </a:p>
        </p:txBody>
      </p:sp>
      <p:sp>
        <p:nvSpPr>
          <p:cNvPr id="76" name="ZoneTexte 75">
            <a:extLst>
              <a:ext uri="{FF2B5EF4-FFF2-40B4-BE49-F238E27FC236}">
                <a16:creationId xmlns:a16="http://schemas.microsoft.com/office/drawing/2014/main" id="{592A7C99-1591-1D37-6D72-988F888061A7}"/>
              </a:ext>
            </a:extLst>
          </p:cNvPr>
          <p:cNvSpPr txBox="1"/>
          <p:nvPr/>
        </p:nvSpPr>
        <p:spPr>
          <a:xfrm>
            <a:off x="9993987" y="3274377"/>
            <a:ext cx="978739" cy="369332"/>
          </a:xfrm>
          <a:prstGeom prst="rect">
            <a:avLst/>
          </a:prstGeom>
          <a:noFill/>
        </p:spPr>
        <p:txBody>
          <a:bodyPr wrap="square">
            <a:spAutoFit/>
          </a:bodyPr>
          <a:lstStyle/>
          <a:p>
            <a:pPr marL="0" indent="0" algn="ctr">
              <a:buNone/>
            </a:pPr>
            <a:r>
              <a:rPr lang="fr-FR" sz="900" dirty="0"/>
              <a:t>Conditions défavorables</a:t>
            </a:r>
          </a:p>
        </p:txBody>
      </p:sp>
      <p:sp>
        <p:nvSpPr>
          <p:cNvPr id="77" name="ZoneTexte 76">
            <a:extLst>
              <a:ext uri="{FF2B5EF4-FFF2-40B4-BE49-F238E27FC236}">
                <a16:creationId xmlns:a16="http://schemas.microsoft.com/office/drawing/2014/main" id="{02BDD303-F701-9139-6101-C1935D6596D7}"/>
              </a:ext>
            </a:extLst>
          </p:cNvPr>
          <p:cNvSpPr txBox="1"/>
          <p:nvPr/>
        </p:nvSpPr>
        <p:spPr>
          <a:xfrm>
            <a:off x="9993987" y="5601810"/>
            <a:ext cx="978739" cy="646331"/>
          </a:xfrm>
          <a:prstGeom prst="rect">
            <a:avLst/>
          </a:prstGeom>
          <a:noFill/>
        </p:spPr>
        <p:txBody>
          <a:bodyPr wrap="square">
            <a:spAutoFit/>
          </a:bodyPr>
          <a:lstStyle/>
          <a:p>
            <a:pPr marL="0" indent="0" algn="ctr">
              <a:buNone/>
            </a:pPr>
            <a:r>
              <a:rPr lang="fr-FR" sz="900" dirty="0"/>
              <a:t>Spécificités d’un métier ou d’un secteur en particulier</a:t>
            </a:r>
          </a:p>
        </p:txBody>
      </p:sp>
      <p:pic>
        <p:nvPicPr>
          <p:cNvPr id="79" name="Graphique 78" descr="Caisse enregistreuse avec un remplissage uni">
            <a:extLst>
              <a:ext uri="{FF2B5EF4-FFF2-40B4-BE49-F238E27FC236}">
                <a16:creationId xmlns:a16="http://schemas.microsoft.com/office/drawing/2014/main" id="{F40E1ACF-D2EE-F3BA-985A-7B60D11A7A06}"/>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1231066" y="4421508"/>
            <a:ext cx="468002" cy="468002"/>
          </a:xfrm>
          <a:prstGeom prst="rect">
            <a:avLst/>
          </a:prstGeom>
        </p:spPr>
      </p:pic>
      <p:pic>
        <p:nvPicPr>
          <p:cNvPr id="81" name="Graphique 80" descr="Boîte de réception croix avec un remplissage uni">
            <a:extLst>
              <a:ext uri="{FF2B5EF4-FFF2-40B4-BE49-F238E27FC236}">
                <a16:creationId xmlns:a16="http://schemas.microsoft.com/office/drawing/2014/main" id="{EC73FFCA-03F2-C9FC-F47B-8A979C8EE652}"/>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10254407" y="2849432"/>
            <a:ext cx="468002" cy="468002"/>
          </a:xfrm>
          <a:prstGeom prst="rect">
            <a:avLst/>
          </a:prstGeom>
        </p:spPr>
      </p:pic>
      <p:pic>
        <p:nvPicPr>
          <p:cNvPr id="83" name="Graphique 82" descr="Visage fou avec remplissage uni avec un remplissage uni">
            <a:extLst>
              <a:ext uri="{FF2B5EF4-FFF2-40B4-BE49-F238E27FC236}">
                <a16:creationId xmlns:a16="http://schemas.microsoft.com/office/drawing/2014/main" id="{631A4F82-93F8-407E-F96A-D551D4D6680B}"/>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11183706" y="3380389"/>
            <a:ext cx="468002" cy="468002"/>
          </a:xfrm>
          <a:prstGeom prst="rect">
            <a:avLst/>
          </a:prstGeom>
        </p:spPr>
      </p:pic>
      <p:pic>
        <p:nvPicPr>
          <p:cNvPr id="85" name="Graphique 84" descr="Une astronaute avec un remplissage uni">
            <a:extLst>
              <a:ext uri="{FF2B5EF4-FFF2-40B4-BE49-F238E27FC236}">
                <a16:creationId xmlns:a16="http://schemas.microsoft.com/office/drawing/2014/main" id="{482D25B4-779C-7276-2D47-C67D8727C9A6}"/>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10260520" y="5148153"/>
            <a:ext cx="468002" cy="468002"/>
          </a:xfrm>
          <a:prstGeom prst="rect">
            <a:avLst/>
          </a:prstGeom>
        </p:spPr>
      </p:pic>
      <p:sp>
        <p:nvSpPr>
          <p:cNvPr id="86" name="ZoneTexte 85">
            <a:extLst>
              <a:ext uri="{FF2B5EF4-FFF2-40B4-BE49-F238E27FC236}">
                <a16:creationId xmlns:a16="http://schemas.microsoft.com/office/drawing/2014/main" id="{04C905BE-7129-9CF1-C1E3-3CEE44D0C801}"/>
              </a:ext>
            </a:extLst>
          </p:cNvPr>
          <p:cNvSpPr txBox="1"/>
          <p:nvPr/>
        </p:nvSpPr>
        <p:spPr>
          <a:xfrm>
            <a:off x="9713009" y="4395830"/>
            <a:ext cx="978739" cy="369332"/>
          </a:xfrm>
          <a:prstGeom prst="rect">
            <a:avLst/>
          </a:prstGeom>
          <a:noFill/>
        </p:spPr>
        <p:txBody>
          <a:bodyPr wrap="square">
            <a:spAutoFit/>
          </a:bodyPr>
          <a:lstStyle/>
          <a:p>
            <a:pPr marL="0" indent="0" algn="ctr">
              <a:buNone/>
            </a:pPr>
            <a:r>
              <a:rPr lang="fr-FR" sz="900" dirty="0"/>
              <a:t>Développement personnel</a:t>
            </a:r>
          </a:p>
        </p:txBody>
      </p:sp>
      <p:pic>
        <p:nvPicPr>
          <p:cNvPr id="88" name="Graphique 87" descr="Aspiration avec un remplissage uni">
            <a:extLst>
              <a:ext uri="{FF2B5EF4-FFF2-40B4-BE49-F238E27FC236}">
                <a16:creationId xmlns:a16="http://schemas.microsoft.com/office/drawing/2014/main" id="{A18FCF60-C914-19B4-B8BB-2569F53230C7}"/>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9912391" y="3891301"/>
            <a:ext cx="504529" cy="504529"/>
          </a:xfrm>
          <a:prstGeom prst="rect">
            <a:avLst/>
          </a:prstGeom>
        </p:spPr>
      </p:pic>
    </p:spTree>
    <p:extLst>
      <p:ext uri="{BB962C8B-B14F-4D97-AF65-F5344CB8AC3E}">
        <p14:creationId xmlns:p14="http://schemas.microsoft.com/office/powerpoint/2010/main" val="3540563369"/>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E4458F9-F576-7D15-9A31-F67714EEB37E}"/>
              </a:ext>
            </a:extLst>
          </p:cNvPr>
          <p:cNvSpPr>
            <a:spLocks noGrp="1"/>
          </p:cNvSpPr>
          <p:nvPr>
            <p:ph type="title"/>
          </p:nvPr>
        </p:nvSpPr>
        <p:spPr/>
        <p:txBody>
          <a:bodyPr>
            <a:noAutofit/>
          </a:bodyPr>
          <a:lstStyle/>
          <a:p>
            <a:r>
              <a:rPr lang="fr-FR" sz="3200" dirty="0"/>
              <a:t>Limites sur la caractérisation des avantages et inconvénients</a:t>
            </a:r>
            <a:br>
              <a:rPr lang="fr-FR" sz="3200" dirty="0"/>
            </a:br>
            <a:r>
              <a:rPr lang="fr-FR" sz="3200" dirty="0"/>
              <a:t>Changer les critères de satisfaction</a:t>
            </a:r>
          </a:p>
        </p:txBody>
      </p:sp>
      <p:sp>
        <p:nvSpPr>
          <p:cNvPr id="3" name="Espace réservé du contenu 2">
            <a:extLst>
              <a:ext uri="{FF2B5EF4-FFF2-40B4-BE49-F238E27FC236}">
                <a16:creationId xmlns:a16="http://schemas.microsoft.com/office/drawing/2014/main" id="{984313DD-9911-B261-1AD1-C7545F07FA22}"/>
              </a:ext>
            </a:extLst>
          </p:cNvPr>
          <p:cNvSpPr>
            <a:spLocks noGrp="1"/>
          </p:cNvSpPr>
          <p:nvPr>
            <p:ph idx="1"/>
          </p:nvPr>
        </p:nvSpPr>
        <p:spPr>
          <a:xfrm>
            <a:off x="838200" y="1765300"/>
            <a:ext cx="4088907" cy="4927600"/>
          </a:xfrm>
        </p:spPr>
        <p:txBody>
          <a:bodyPr>
            <a:normAutofit fontScale="92500"/>
          </a:bodyPr>
          <a:lstStyle/>
          <a:p>
            <a:r>
              <a:rPr lang="fr-FR" sz="1400" dirty="0"/>
              <a:t>Ce document présente régulièrement des Avantages et Inconvénients de différentes options.</a:t>
            </a:r>
          </a:p>
          <a:p>
            <a:r>
              <a:rPr lang="fr-FR" sz="1400" dirty="0"/>
              <a:t>Avantages et Inconvénients sont d’abord des conséquences probables ou très courantes. </a:t>
            </a:r>
          </a:p>
          <a:p>
            <a:r>
              <a:rPr lang="fr-FR" sz="1400" dirty="0"/>
              <a:t>Ces conséquences sont qualifiées comme « positives » ou « négatives » lorsqu’il y a peu (resp. beaucoup) de dépense d’efforts pour atteindre un impact intentionné tel que l’engagement des membres. </a:t>
            </a:r>
          </a:p>
          <a:p>
            <a:r>
              <a:rPr lang="fr-FR" sz="1400" dirty="0"/>
              <a:t>On considère aussi « positif » ou « négatif » ce qui est communément considéré comme problématique par les Community Boosters (par exemple, un risque de désagrégation de la Communauté). </a:t>
            </a:r>
          </a:p>
          <a:p>
            <a:r>
              <a:rPr lang="fr-FR" sz="1400" dirty="0"/>
              <a:t>Cette grille d’évaluation d’une conséquence comme étant un avantage ou un inconvénient peut changer dans le temps, la culture ou le contexte. Si l’interprétation en tant qu’avantage ou inconvénient ne s’applique pas dans votre contexte, vous pouvez toujours restreindre ces informations à de simples conséquences.</a:t>
            </a:r>
          </a:p>
          <a:p>
            <a:r>
              <a:rPr lang="fr-FR" sz="1400" dirty="0"/>
              <a:t>Une conséquence considérée comme « mauvaise » peut parfois être une opportunité de rebondir vers des conséquences « bonnes » inaccessibles par ailleurs.</a:t>
            </a:r>
          </a:p>
        </p:txBody>
      </p:sp>
      <p:sp>
        <p:nvSpPr>
          <p:cNvPr id="4" name="ZoneTexte 3">
            <a:extLst>
              <a:ext uri="{FF2B5EF4-FFF2-40B4-BE49-F238E27FC236}">
                <a16:creationId xmlns:a16="http://schemas.microsoft.com/office/drawing/2014/main" id="{0DB93E1E-5722-2E1B-E883-FB95A67E92FA}"/>
              </a:ext>
            </a:extLst>
          </p:cNvPr>
          <p:cNvSpPr txBox="1"/>
          <p:nvPr/>
        </p:nvSpPr>
        <p:spPr>
          <a:xfrm>
            <a:off x="5640131" y="3074685"/>
            <a:ext cx="1400370" cy="784830"/>
          </a:xfrm>
          <a:prstGeom prst="rect">
            <a:avLst/>
          </a:prstGeom>
          <a:solidFill>
            <a:srgbClr val="54FFB3"/>
          </a:solidFill>
        </p:spPr>
        <p:txBody>
          <a:bodyPr wrap="square" anchor="ctr">
            <a:noAutofit/>
          </a:bodyPr>
          <a:lstStyle/>
          <a:p>
            <a:pPr algn="ctr"/>
            <a:r>
              <a:rPr lang="fr-FR" sz="5400" b="1" dirty="0"/>
              <a:t>+</a:t>
            </a:r>
          </a:p>
        </p:txBody>
      </p:sp>
      <p:sp>
        <p:nvSpPr>
          <p:cNvPr id="5" name="ZoneTexte 4">
            <a:extLst>
              <a:ext uri="{FF2B5EF4-FFF2-40B4-BE49-F238E27FC236}">
                <a16:creationId xmlns:a16="http://schemas.microsoft.com/office/drawing/2014/main" id="{0CA645A8-8870-0A59-6629-8083F56D2A34}"/>
              </a:ext>
            </a:extLst>
          </p:cNvPr>
          <p:cNvSpPr txBox="1"/>
          <p:nvPr/>
        </p:nvSpPr>
        <p:spPr>
          <a:xfrm>
            <a:off x="7205960" y="3074685"/>
            <a:ext cx="1400370" cy="784830"/>
          </a:xfrm>
          <a:prstGeom prst="rect">
            <a:avLst/>
          </a:prstGeom>
          <a:solidFill>
            <a:srgbClr val="FF7C80"/>
          </a:solidFill>
        </p:spPr>
        <p:txBody>
          <a:bodyPr wrap="square" anchor="ctr">
            <a:noAutofit/>
          </a:bodyPr>
          <a:lstStyle/>
          <a:p>
            <a:pPr algn="ctr"/>
            <a:r>
              <a:rPr lang="fr-FR" sz="5400" b="1" dirty="0"/>
              <a:t>-</a:t>
            </a:r>
          </a:p>
        </p:txBody>
      </p:sp>
      <p:sp>
        <p:nvSpPr>
          <p:cNvPr id="6" name="ZoneTexte 5">
            <a:extLst>
              <a:ext uri="{FF2B5EF4-FFF2-40B4-BE49-F238E27FC236}">
                <a16:creationId xmlns:a16="http://schemas.microsoft.com/office/drawing/2014/main" id="{1D40AA0A-1252-9265-95B4-C69F746C1AF5}"/>
              </a:ext>
            </a:extLst>
          </p:cNvPr>
          <p:cNvSpPr txBox="1"/>
          <p:nvPr/>
        </p:nvSpPr>
        <p:spPr>
          <a:xfrm>
            <a:off x="6429575" y="1863725"/>
            <a:ext cx="1400370" cy="784830"/>
          </a:xfrm>
          <a:prstGeom prst="rect">
            <a:avLst/>
          </a:prstGeom>
          <a:solidFill>
            <a:schemeClr val="bg1"/>
          </a:solidFill>
          <a:ln>
            <a:solidFill>
              <a:schemeClr val="tx1"/>
            </a:solidFill>
          </a:ln>
        </p:spPr>
        <p:txBody>
          <a:bodyPr wrap="square" anchor="ctr">
            <a:noAutofit/>
          </a:bodyPr>
          <a:lstStyle/>
          <a:p>
            <a:pPr algn="ctr"/>
            <a:endParaRPr lang="fr-FR" sz="1000" dirty="0"/>
          </a:p>
        </p:txBody>
      </p:sp>
      <p:cxnSp>
        <p:nvCxnSpPr>
          <p:cNvPr id="7" name="Connecteur droit avec flèche 6">
            <a:extLst>
              <a:ext uri="{FF2B5EF4-FFF2-40B4-BE49-F238E27FC236}">
                <a16:creationId xmlns:a16="http://schemas.microsoft.com/office/drawing/2014/main" id="{BBD57CD9-66EC-5F02-6486-9E2399A5B724}"/>
              </a:ext>
            </a:extLst>
          </p:cNvPr>
          <p:cNvCxnSpPr>
            <a:cxnSpLocks/>
          </p:cNvCxnSpPr>
          <p:nvPr/>
        </p:nvCxnSpPr>
        <p:spPr>
          <a:xfrm>
            <a:off x="7658495" y="2692759"/>
            <a:ext cx="170055" cy="367657"/>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necteur droit avec flèche 8">
            <a:extLst>
              <a:ext uri="{FF2B5EF4-FFF2-40B4-BE49-F238E27FC236}">
                <a16:creationId xmlns:a16="http://schemas.microsoft.com/office/drawing/2014/main" id="{C20ED28E-0D86-6AB5-38BB-835BCD360898}"/>
              </a:ext>
            </a:extLst>
          </p:cNvPr>
          <p:cNvCxnSpPr>
            <a:cxnSpLocks/>
          </p:cNvCxnSpPr>
          <p:nvPr/>
        </p:nvCxnSpPr>
        <p:spPr>
          <a:xfrm flipH="1">
            <a:off x="6429575" y="2707028"/>
            <a:ext cx="231424" cy="309184"/>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2" name="Graphique 11" descr="Personne confuse avec un remplissage uni">
            <a:extLst>
              <a:ext uri="{FF2B5EF4-FFF2-40B4-BE49-F238E27FC236}">
                <a16:creationId xmlns:a16="http://schemas.microsoft.com/office/drawing/2014/main" id="{4AC2E462-0412-EB2B-1F10-6302161B3F0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140042" y="3750400"/>
            <a:ext cx="1438275" cy="1438275"/>
          </a:xfrm>
          <a:prstGeom prst="rect">
            <a:avLst/>
          </a:prstGeom>
        </p:spPr>
      </p:pic>
      <p:sp>
        <p:nvSpPr>
          <p:cNvPr id="13" name="Phylactère : pensées 12">
            <a:extLst>
              <a:ext uri="{FF2B5EF4-FFF2-40B4-BE49-F238E27FC236}">
                <a16:creationId xmlns:a16="http://schemas.microsoft.com/office/drawing/2014/main" id="{72B99763-AA35-ACFE-1F5D-5C99490183E8}"/>
              </a:ext>
            </a:extLst>
          </p:cNvPr>
          <p:cNvSpPr/>
          <p:nvPr/>
        </p:nvSpPr>
        <p:spPr>
          <a:xfrm>
            <a:off x="9021348" y="1538710"/>
            <a:ext cx="2918920" cy="1752600"/>
          </a:xfrm>
          <a:prstGeom prst="cloudCallout">
            <a:avLst>
              <a:gd name="adj1" fmla="val 15388"/>
              <a:gd name="adj2" fmla="val 58152"/>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ZoneTexte 14">
            <a:extLst>
              <a:ext uri="{FF2B5EF4-FFF2-40B4-BE49-F238E27FC236}">
                <a16:creationId xmlns:a16="http://schemas.microsoft.com/office/drawing/2014/main" id="{F66B8BDB-A9C7-231D-9E08-A2BF8FCC35C4}"/>
              </a:ext>
            </a:extLst>
          </p:cNvPr>
          <p:cNvSpPr txBox="1"/>
          <p:nvPr/>
        </p:nvSpPr>
        <p:spPr>
          <a:xfrm>
            <a:off x="9634630" y="2150682"/>
            <a:ext cx="752824" cy="421916"/>
          </a:xfrm>
          <a:prstGeom prst="rect">
            <a:avLst/>
          </a:prstGeom>
          <a:solidFill>
            <a:srgbClr val="54FFB3"/>
          </a:solidFill>
        </p:spPr>
        <p:txBody>
          <a:bodyPr wrap="square" anchor="ctr">
            <a:noAutofit/>
          </a:bodyPr>
          <a:lstStyle/>
          <a:p>
            <a:pPr algn="ctr"/>
            <a:r>
              <a:rPr lang="fr-FR" sz="2800" b="1" dirty="0"/>
              <a:t>+ ?</a:t>
            </a:r>
          </a:p>
        </p:txBody>
      </p:sp>
      <p:sp>
        <p:nvSpPr>
          <p:cNvPr id="16" name="ZoneTexte 15">
            <a:extLst>
              <a:ext uri="{FF2B5EF4-FFF2-40B4-BE49-F238E27FC236}">
                <a16:creationId xmlns:a16="http://schemas.microsoft.com/office/drawing/2014/main" id="{6A35DB88-3E5B-48F3-1BF9-2DDD14D514A4}"/>
              </a:ext>
            </a:extLst>
          </p:cNvPr>
          <p:cNvSpPr txBox="1"/>
          <p:nvPr/>
        </p:nvSpPr>
        <p:spPr>
          <a:xfrm>
            <a:off x="10463939" y="2150682"/>
            <a:ext cx="752824" cy="421916"/>
          </a:xfrm>
          <a:prstGeom prst="rect">
            <a:avLst/>
          </a:prstGeom>
          <a:solidFill>
            <a:srgbClr val="FF7C80"/>
          </a:solidFill>
        </p:spPr>
        <p:txBody>
          <a:bodyPr wrap="square" anchor="ctr">
            <a:noAutofit/>
          </a:bodyPr>
          <a:lstStyle/>
          <a:p>
            <a:pPr algn="ctr"/>
            <a:r>
              <a:rPr lang="fr-FR" sz="2800" b="1" dirty="0"/>
              <a:t>- ?</a:t>
            </a:r>
          </a:p>
        </p:txBody>
      </p:sp>
    </p:spTree>
    <p:extLst>
      <p:ext uri="{BB962C8B-B14F-4D97-AF65-F5344CB8AC3E}">
        <p14:creationId xmlns:p14="http://schemas.microsoft.com/office/powerpoint/2010/main" val="3405648273"/>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14EEE95-AFC8-4FB5-80E6-172F3811F83A}"/>
              </a:ext>
            </a:extLst>
          </p:cNvPr>
          <p:cNvSpPr>
            <a:spLocks noGrp="1"/>
          </p:cNvSpPr>
          <p:nvPr>
            <p:ph type="title"/>
          </p:nvPr>
        </p:nvSpPr>
        <p:spPr/>
        <p:txBody>
          <a:bodyPr/>
          <a:lstStyle/>
          <a:p>
            <a:r>
              <a:rPr lang="fr-FR" dirty="0"/>
              <a:t>Ressources</a:t>
            </a:r>
          </a:p>
        </p:txBody>
      </p:sp>
      <p:sp>
        <p:nvSpPr>
          <p:cNvPr id="3" name="Espace réservé du contenu 2">
            <a:extLst>
              <a:ext uri="{FF2B5EF4-FFF2-40B4-BE49-F238E27FC236}">
                <a16:creationId xmlns:a16="http://schemas.microsoft.com/office/drawing/2014/main" id="{A4445C51-CD31-471C-A855-DA6E1A7AE980}"/>
              </a:ext>
            </a:extLst>
          </p:cNvPr>
          <p:cNvSpPr>
            <a:spLocks noGrp="1"/>
          </p:cNvSpPr>
          <p:nvPr>
            <p:ph idx="1"/>
          </p:nvPr>
        </p:nvSpPr>
        <p:spPr/>
        <p:txBody>
          <a:bodyPr/>
          <a:lstStyle/>
          <a:p>
            <a:pPr marL="0" indent="0">
              <a:buNone/>
            </a:pPr>
            <a:r>
              <a:rPr lang="fr-FR" dirty="0">
                <a:hlinkClick r:id="rId2"/>
              </a:rPr>
              <a:t>https://foldingburritos.com/blog/product-prioritization-techniques</a:t>
            </a:r>
            <a:endParaRPr lang="fr-FR" dirty="0"/>
          </a:p>
          <a:p>
            <a:pPr marL="0" indent="0">
              <a:buNone/>
            </a:pPr>
            <a:r>
              <a:rPr lang="fr-FR" dirty="0">
                <a:hlinkClick r:id="rId3"/>
              </a:rPr>
              <a:t>https://www.nngroup.com/articles/prioritization-methods/</a:t>
            </a:r>
            <a:endParaRPr lang="fr-FR" dirty="0"/>
          </a:p>
          <a:p>
            <a:pPr marL="0" indent="0">
              <a:buNone/>
            </a:pPr>
            <a:endParaRPr lang="fr-FR" dirty="0"/>
          </a:p>
        </p:txBody>
      </p:sp>
    </p:spTree>
    <p:extLst>
      <p:ext uri="{BB962C8B-B14F-4D97-AF65-F5344CB8AC3E}">
        <p14:creationId xmlns:p14="http://schemas.microsoft.com/office/powerpoint/2010/main" val="1426796842"/>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6305015-3000-74E6-E87A-2247971EA455}"/>
              </a:ext>
            </a:extLst>
          </p:cNvPr>
          <p:cNvSpPr>
            <a:spLocks noGrp="1"/>
          </p:cNvSpPr>
          <p:nvPr>
            <p:ph type="title"/>
          </p:nvPr>
        </p:nvSpPr>
        <p:spPr>
          <a:xfrm>
            <a:off x="838200" y="365125"/>
            <a:ext cx="10515600" cy="682439"/>
          </a:xfrm>
        </p:spPr>
        <p:txBody>
          <a:bodyPr>
            <a:normAutofit fontScale="90000"/>
          </a:bodyPr>
          <a:lstStyle/>
          <a:p>
            <a:r>
              <a:rPr lang="fr-FR" sz="2800" dirty="0"/>
              <a:t>Ecrire un contrat moral entre parties (membres, entreprise, sponsors)</a:t>
            </a:r>
            <a:br>
              <a:rPr lang="fr-FR" sz="2800" dirty="0"/>
            </a:br>
            <a:r>
              <a:rPr lang="fr-FR" sz="2800" dirty="0"/>
              <a:t>Exemples de contenus</a:t>
            </a:r>
          </a:p>
        </p:txBody>
      </p:sp>
      <p:graphicFrame>
        <p:nvGraphicFramePr>
          <p:cNvPr id="3" name="Tableau 4">
            <a:extLst>
              <a:ext uri="{FF2B5EF4-FFF2-40B4-BE49-F238E27FC236}">
                <a16:creationId xmlns:a16="http://schemas.microsoft.com/office/drawing/2014/main" id="{52D271F9-6D93-EA3D-CA5E-08FE4FD7E7CF}"/>
              </a:ext>
            </a:extLst>
          </p:cNvPr>
          <p:cNvGraphicFramePr>
            <a:graphicFrameLocks noGrp="1"/>
          </p:cNvGraphicFramePr>
          <p:nvPr>
            <p:extLst>
              <p:ext uri="{D42A27DB-BD31-4B8C-83A1-F6EECF244321}">
                <p14:modId xmlns:p14="http://schemas.microsoft.com/office/powerpoint/2010/main" val="3556917269"/>
              </p:ext>
            </p:extLst>
          </p:nvPr>
        </p:nvGraphicFramePr>
        <p:xfrm>
          <a:off x="952500" y="2363489"/>
          <a:ext cx="10693401" cy="2930891"/>
        </p:xfrm>
        <a:graphic>
          <a:graphicData uri="http://schemas.openxmlformats.org/drawingml/2006/table">
            <a:tbl>
              <a:tblPr>
                <a:tableStyleId>{5C22544A-7EE6-4342-B048-85BDC9FD1C3A}</a:tableStyleId>
              </a:tblPr>
              <a:tblGrid>
                <a:gridCol w="3564467">
                  <a:extLst>
                    <a:ext uri="{9D8B030D-6E8A-4147-A177-3AD203B41FA5}">
                      <a16:colId xmlns:a16="http://schemas.microsoft.com/office/drawing/2014/main" val="1036471690"/>
                    </a:ext>
                  </a:extLst>
                </a:gridCol>
                <a:gridCol w="3564467">
                  <a:extLst>
                    <a:ext uri="{9D8B030D-6E8A-4147-A177-3AD203B41FA5}">
                      <a16:colId xmlns:a16="http://schemas.microsoft.com/office/drawing/2014/main" val="335043735"/>
                    </a:ext>
                  </a:extLst>
                </a:gridCol>
                <a:gridCol w="3564467">
                  <a:extLst>
                    <a:ext uri="{9D8B030D-6E8A-4147-A177-3AD203B41FA5}">
                      <a16:colId xmlns:a16="http://schemas.microsoft.com/office/drawing/2014/main" val="2316145449"/>
                    </a:ext>
                  </a:extLst>
                </a:gridCol>
              </a:tblGrid>
              <a:tr h="976611">
                <a:tc gridSpan="3">
                  <a:txBody>
                    <a:bodyPr/>
                    <a:lstStyle/>
                    <a:p>
                      <a:r>
                        <a:rPr lang="fr-FR" b="1" i="1" dirty="0"/>
                        <a:t>Ensemble, nous visons avec la Communauté de</a:t>
                      </a:r>
                    </a:p>
                    <a:p>
                      <a:endParaRPr lang="fr-FR" i="1" dirty="0"/>
                    </a:p>
                    <a:p>
                      <a:endParaRPr lang="fr-FR" i="1" dirty="0"/>
                    </a:p>
                  </a:txBody>
                  <a:tcPr>
                    <a:solidFill>
                      <a:schemeClr val="bg1"/>
                    </a:solidFill>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275226672"/>
                  </a:ext>
                </a:extLst>
              </a:tr>
              <a:tr h="977140">
                <a:tc>
                  <a:txBody>
                    <a:bodyPr/>
                    <a:lstStyle/>
                    <a:p>
                      <a:pPr marL="0" indent="0">
                        <a:buNone/>
                      </a:pPr>
                      <a:r>
                        <a:rPr lang="fr-FR" b="1" i="1" dirty="0"/>
                        <a:t>L’entreprise s’engage à </a:t>
                      </a:r>
                    </a:p>
                    <a:p>
                      <a:endParaRPr lang="fr-FR" i="1" dirty="0"/>
                    </a:p>
                    <a:p>
                      <a:endParaRPr lang="fr-FR" i="1" dirty="0"/>
                    </a:p>
                  </a:txBody>
                  <a:tcPr>
                    <a:solidFill>
                      <a:schemeClr val="bg1">
                        <a:lumMod val="8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i="1" dirty="0"/>
                        <a:t>Les sponsors s’engagent à</a:t>
                      </a:r>
                    </a:p>
                    <a:p>
                      <a:endParaRPr lang="fr-FR" i="1" dirty="0"/>
                    </a:p>
                    <a:p>
                      <a:endParaRPr lang="fr-FR" i="1" dirty="0"/>
                    </a:p>
                  </a:txBody>
                  <a:tcPr>
                    <a:solidFill>
                      <a:schemeClr val="accent1">
                        <a:lumMod val="40000"/>
                        <a:lumOff val="6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i="1" dirty="0"/>
                        <a:t>Les membres s’engagent à </a:t>
                      </a:r>
                    </a:p>
                    <a:p>
                      <a:endParaRPr lang="fr-FR" i="1" dirty="0"/>
                    </a:p>
                  </a:txBody>
                  <a:tcPr>
                    <a:solidFill>
                      <a:schemeClr val="accent2">
                        <a:lumMod val="40000"/>
                        <a:lumOff val="60000"/>
                      </a:schemeClr>
                    </a:solidFill>
                  </a:tcPr>
                </a:tc>
                <a:extLst>
                  <a:ext uri="{0D108BD9-81ED-4DB2-BD59-A6C34878D82A}">
                    <a16:rowId xmlns:a16="http://schemas.microsoft.com/office/drawing/2014/main" val="1833810210"/>
                  </a:ext>
                </a:extLst>
              </a:tr>
              <a:tr h="9771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i="1" dirty="0"/>
                        <a:t>Et dans la mesure du possible</a:t>
                      </a:r>
                    </a:p>
                    <a:p>
                      <a:endParaRPr lang="fr-FR" i="1" dirty="0"/>
                    </a:p>
                  </a:txBody>
                  <a:tcPr>
                    <a:solidFill>
                      <a:schemeClr val="bg1">
                        <a:lumMod val="8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i="1" dirty="0"/>
                        <a:t>Et dans la mesure du possible</a:t>
                      </a:r>
                    </a:p>
                    <a:p>
                      <a:endParaRPr lang="fr-FR" i="1" dirty="0"/>
                    </a:p>
                    <a:p>
                      <a:endParaRPr lang="fr-FR" i="1" dirty="0"/>
                    </a:p>
                  </a:txBody>
                  <a:tcPr>
                    <a:solidFill>
                      <a:schemeClr val="accent1">
                        <a:lumMod val="40000"/>
                        <a:lumOff val="6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i="1" dirty="0"/>
                        <a:t>Et dans la mesure du possible</a:t>
                      </a:r>
                    </a:p>
                    <a:p>
                      <a:endParaRPr lang="fr-FR" i="1" dirty="0"/>
                    </a:p>
                  </a:txBody>
                  <a:tcPr>
                    <a:solidFill>
                      <a:schemeClr val="accent2">
                        <a:lumMod val="40000"/>
                        <a:lumOff val="60000"/>
                      </a:schemeClr>
                    </a:solidFill>
                  </a:tcPr>
                </a:tc>
                <a:extLst>
                  <a:ext uri="{0D108BD9-81ED-4DB2-BD59-A6C34878D82A}">
                    <a16:rowId xmlns:a16="http://schemas.microsoft.com/office/drawing/2014/main" val="4266428415"/>
                  </a:ext>
                </a:extLst>
              </a:tr>
            </a:tbl>
          </a:graphicData>
        </a:graphic>
      </p:graphicFrame>
      <p:sp>
        <p:nvSpPr>
          <p:cNvPr id="5" name="Parchemin : horizontal 4">
            <a:extLst>
              <a:ext uri="{FF2B5EF4-FFF2-40B4-BE49-F238E27FC236}">
                <a16:creationId xmlns:a16="http://schemas.microsoft.com/office/drawing/2014/main" id="{CD09BFED-CE47-5C84-14EA-CE2D31C609B8}"/>
              </a:ext>
            </a:extLst>
          </p:cNvPr>
          <p:cNvSpPr/>
          <p:nvPr/>
        </p:nvSpPr>
        <p:spPr>
          <a:xfrm rot="5400000">
            <a:off x="3588249" y="-2209488"/>
            <a:ext cx="5354358" cy="12050372"/>
          </a:xfrm>
          <a:prstGeom prst="horizontalScroll">
            <a:avLst/>
          </a:prstGeom>
          <a:noFill/>
          <a:ln w="28575">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t"/>
          <a:lstStyle/>
          <a:p>
            <a:pPr algn="ctr"/>
            <a:r>
              <a:rPr lang="fr-FR" sz="2800" b="1" dirty="0">
                <a:solidFill>
                  <a:schemeClr val="tx1"/>
                </a:solidFill>
              </a:rPr>
              <a:t>Contrat moral de la Communauté XYZ</a:t>
            </a:r>
          </a:p>
          <a:p>
            <a:pPr algn="ctr"/>
            <a:endParaRPr lang="fr-FR" sz="1400" dirty="0">
              <a:solidFill>
                <a:schemeClr val="tx1"/>
              </a:solidFill>
            </a:endParaRPr>
          </a:p>
          <a:p>
            <a:pPr algn="ctr"/>
            <a:endParaRPr lang="fr-FR" sz="1200" dirty="0">
              <a:solidFill>
                <a:schemeClr val="tx1"/>
              </a:solidFill>
            </a:endParaRPr>
          </a:p>
          <a:p>
            <a:pPr algn="ctr"/>
            <a:endParaRPr lang="fr-FR" sz="1200" dirty="0">
              <a:solidFill>
                <a:schemeClr val="tx1"/>
              </a:solidFill>
            </a:endParaRPr>
          </a:p>
        </p:txBody>
      </p:sp>
      <p:pic>
        <p:nvPicPr>
          <p:cNvPr id="6" name="Graphique 5" descr="Bâtiment avec un remplissage uni">
            <a:extLst>
              <a:ext uri="{FF2B5EF4-FFF2-40B4-BE49-F238E27FC236}">
                <a16:creationId xmlns:a16="http://schemas.microsoft.com/office/drawing/2014/main" id="{EB378247-A3CE-ACEC-94C2-8B56554F738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244716" y="5696718"/>
            <a:ext cx="556284" cy="556284"/>
          </a:xfrm>
          <a:prstGeom prst="rect">
            <a:avLst/>
          </a:prstGeom>
        </p:spPr>
      </p:pic>
      <p:grpSp>
        <p:nvGrpSpPr>
          <p:cNvPr id="7" name="Groupe 6">
            <a:extLst>
              <a:ext uri="{FF2B5EF4-FFF2-40B4-BE49-F238E27FC236}">
                <a16:creationId xmlns:a16="http://schemas.microsoft.com/office/drawing/2014/main" id="{A8CF6019-1DBC-CC7A-A73A-6CFF041CBE08}"/>
              </a:ext>
            </a:extLst>
          </p:cNvPr>
          <p:cNvGrpSpPr/>
          <p:nvPr/>
        </p:nvGrpSpPr>
        <p:grpSpPr>
          <a:xfrm>
            <a:off x="8157022" y="5663678"/>
            <a:ext cx="701977" cy="570004"/>
            <a:chOff x="8982504" y="3274976"/>
            <a:chExt cx="1230670" cy="1037553"/>
          </a:xfrm>
          <a:solidFill>
            <a:srgbClr val="ED7D31"/>
          </a:solidFill>
        </p:grpSpPr>
        <p:pic>
          <p:nvPicPr>
            <p:cNvPr id="8" name="Graphique 7" descr="Utilisateur avec un remplissage uni">
              <a:extLst>
                <a:ext uri="{FF2B5EF4-FFF2-40B4-BE49-F238E27FC236}">
                  <a16:creationId xmlns:a16="http://schemas.microsoft.com/office/drawing/2014/main" id="{D2D7A349-0AAF-8EEB-807A-D2B7C8A0D32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9" name="Graphique 8" descr="Utilisateur avec un remplissage uni">
              <a:extLst>
                <a:ext uri="{FF2B5EF4-FFF2-40B4-BE49-F238E27FC236}">
                  <a16:creationId xmlns:a16="http://schemas.microsoft.com/office/drawing/2014/main" id="{6699A2AA-A585-FE86-4F53-3ACE8412427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0" name="Graphique 9" descr="Utilisateur avec un remplissage uni">
              <a:extLst>
                <a:ext uri="{FF2B5EF4-FFF2-40B4-BE49-F238E27FC236}">
                  <a16:creationId xmlns:a16="http://schemas.microsoft.com/office/drawing/2014/main" id="{5FEA995C-E486-FBFA-7D19-E755199BF2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AB19C6D-D51A-2CE6-F43C-9789F29BB7B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2" name="Graphique 11" descr="Utilisateur avec un remplissage uni">
              <a:extLst>
                <a:ext uri="{FF2B5EF4-FFF2-40B4-BE49-F238E27FC236}">
                  <a16:creationId xmlns:a16="http://schemas.microsoft.com/office/drawing/2014/main" id="{4B586117-7B7E-040F-C49B-975801C14A6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3" name="Graphique 12" descr="Utilisateur avec un remplissage uni">
              <a:extLst>
                <a:ext uri="{FF2B5EF4-FFF2-40B4-BE49-F238E27FC236}">
                  <a16:creationId xmlns:a16="http://schemas.microsoft.com/office/drawing/2014/main" id="{33F73BD3-9E34-DABB-FC82-181C5BC9F24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4" name="Graphique 13" descr="Utilisateur avec un remplissage uni">
              <a:extLst>
                <a:ext uri="{FF2B5EF4-FFF2-40B4-BE49-F238E27FC236}">
                  <a16:creationId xmlns:a16="http://schemas.microsoft.com/office/drawing/2014/main" id="{A6214CD2-3A9F-BF0E-72CE-D53C2B835B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5" name="Graphique 14" descr="Utilisateur avec un remplissage uni">
              <a:extLst>
                <a:ext uri="{FF2B5EF4-FFF2-40B4-BE49-F238E27FC236}">
                  <a16:creationId xmlns:a16="http://schemas.microsoft.com/office/drawing/2014/main" id="{7D4F0DEB-5327-EBD9-BDEC-541E42DD221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6" name="Graphique 15" descr="Utilisateur avec un remplissage uni">
              <a:extLst>
                <a:ext uri="{FF2B5EF4-FFF2-40B4-BE49-F238E27FC236}">
                  <a16:creationId xmlns:a16="http://schemas.microsoft.com/office/drawing/2014/main" id="{8CAC165B-1101-67C8-0F6B-2CC4E9BD05F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7" name="Graphique 16" descr="Utilisateur avec un remplissage uni">
              <a:extLst>
                <a:ext uri="{FF2B5EF4-FFF2-40B4-BE49-F238E27FC236}">
                  <a16:creationId xmlns:a16="http://schemas.microsoft.com/office/drawing/2014/main" id="{5092F561-BE16-F8F8-81E3-C43728FA73A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8" name="Graphique 17" descr="Utilisateur avec un remplissage uni">
              <a:extLst>
                <a:ext uri="{FF2B5EF4-FFF2-40B4-BE49-F238E27FC236}">
                  <a16:creationId xmlns:a16="http://schemas.microsoft.com/office/drawing/2014/main" id="{986105C8-8910-1389-BDAA-10C5EB952BA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9" name="Graphique 18" descr="Employée de bureau avec un remplissage uni">
            <a:extLst>
              <a:ext uri="{FF2B5EF4-FFF2-40B4-BE49-F238E27FC236}">
                <a16:creationId xmlns:a16="http://schemas.microsoft.com/office/drawing/2014/main" id="{55EAD650-BB11-BF6F-BD1A-E17CF06E6B6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899817" y="5679006"/>
            <a:ext cx="647875" cy="647875"/>
          </a:xfrm>
          <a:prstGeom prst="rect">
            <a:avLst/>
          </a:prstGeom>
        </p:spPr>
      </p:pic>
      <p:sp>
        <p:nvSpPr>
          <p:cNvPr id="20" name="Espace réservé du contenu 2">
            <a:extLst>
              <a:ext uri="{FF2B5EF4-FFF2-40B4-BE49-F238E27FC236}">
                <a16:creationId xmlns:a16="http://schemas.microsoft.com/office/drawing/2014/main" id="{A73179C7-6538-4C61-A238-A4CD3EBF18B5}"/>
              </a:ext>
            </a:extLst>
          </p:cNvPr>
          <p:cNvSpPr txBox="1">
            <a:spLocks/>
          </p:cNvSpPr>
          <p:nvPr/>
        </p:nvSpPr>
        <p:spPr>
          <a:xfrm>
            <a:off x="4894928" y="6244344"/>
            <a:ext cx="822284" cy="2998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100" b="1" dirty="0">
                <a:solidFill>
                  <a:srgbClr val="3494BA"/>
                </a:solidFill>
              </a:rPr>
              <a:t>Sponsor</a:t>
            </a:r>
          </a:p>
        </p:txBody>
      </p:sp>
      <p:sp>
        <p:nvSpPr>
          <p:cNvPr id="21" name="Espace réservé du contenu 2">
            <a:extLst>
              <a:ext uri="{FF2B5EF4-FFF2-40B4-BE49-F238E27FC236}">
                <a16:creationId xmlns:a16="http://schemas.microsoft.com/office/drawing/2014/main" id="{1CEE3D54-FE84-1839-42DE-566E6A3FA196}"/>
              </a:ext>
            </a:extLst>
          </p:cNvPr>
          <p:cNvSpPr txBox="1">
            <a:spLocks/>
          </p:cNvSpPr>
          <p:nvPr/>
        </p:nvSpPr>
        <p:spPr>
          <a:xfrm>
            <a:off x="8113504" y="6206805"/>
            <a:ext cx="822284" cy="2998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100" b="1" dirty="0">
                <a:solidFill>
                  <a:srgbClr val="ED7D31"/>
                </a:solidFill>
              </a:rPr>
              <a:t>Membres</a:t>
            </a:r>
          </a:p>
        </p:txBody>
      </p:sp>
      <p:sp>
        <p:nvSpPr>
          <p:cNvPr id="22" name="Espace réservé du contenu 2">
            <a:extLst>
              <a:ext uri="{FF2B5EF4-FFF2-40B4-BE49-F238E27FC236}">
                <a16:creationId xmlns:a16="http://schemas.microsoft.com/office/drawing/2014/main" id="{0E9276F3-01A4-FA26-C89E-F5019058DB00}"/>
              </a:ext>
            </a:extLst>
          </p:cNvPr>
          <p:cNvSpPr txBox="1">
            <a:spLocks/>
          </p:cNvSpPr>
          <p:nvPr/>
        </p:nvSpPr>
        <p:spPr>
          <a:xfrm>
            <a:off x="1199439" y="6233682"/>
            <a:ext cx="822284" cy="2998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100" b="1" dirty="0"/>
              <a:t>Entreprise</a:t>
            </a:r>
          </a:p>
        </p:txBody>
      </p:sp>
    </p:spTree>
    <p:extLst>
      <p:ext uri="{BB962C8B-B14F-4D97-AF65-F5344CB8AC3E}">
        <p14:creationId xmlns:p14="http://schemas.microsoft.com/office/powerpoint/2010/main" val="1270906382"/>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Graphique 3" descr="Balance de la justice avec un remplissage uni">
            <a:extLst>
              <a:ext uri="{FF2B5EF4-FFF2-40B4-BE49-F238E27FC236}">
                <a16:creationId xmlns:a16="http://schemas.microsoft.com/office/drawing/2014/main" id="{92D65905-A501-E35D-95B4-3DE77B9721C8}"/>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972" t="7530" r="8041" b="7105"/>
          <a:stretch/>
        </p:blipFill>
        <p:spPr>
          <a:xfrm>
            <a:off x="7582294" y="1460268"/>
            <a:ext cx="3714904" cy="3731378"/>
          </a:xfrm>
          <a:prstGeom prst="rect">
            <a:avLst/>
          </a:prstGeom>
        </p:spPr>
      </p:pic>
      <p:sp>
        <p:nvSpPr>
          <p:cNvPr id="14" name="ZoneTexte 13">
            <a:extLst>
              <a:ext uri="{FF2B5EF4-FFF2-40B4-BE49-F238E27FC236}">
                <a16:creationId xmlns:a16="http://schemas.microsoft.com/office/drawing/2014/main" id="{E8B58A99-36B4-43B8-C95E-1192F852898F}"/>
              </a:ext>
            </a:extLst>
          </p:cNvPr>
          <p:cNvSpPr txBox="1"/>
          <p:nvPr/>
        </p:nvSpPr>
        <p:spPr>
          <a:xfrm>
            <a:off x="7274416" y="3898983"/>
            <a:ext cx="1673365" cy="646331"/>
          </a:xfrm>
          <a:prstGeom prst="rect">
            <a:avLst/>
          </a:prstGeom>
          <a:noFill/>
        </p:spPr>
        <p:txBody>
          <a:bodyPr wrap="square">
            <a:spAutoFit/>
          </a:bodyPr>
          <a:lstStyle/>
          <a:p>
            <a:pPr algn="ctr"/>
            <a:r>
              <a:rPr lang="fr-FR" sz="1200" dirty="0">
                <a:solidFill>
                  <a:schemeClr val="tx1"/>
                </a:solidFill>
              </a:rPr>
              <a:t>Expérience de la Communauté différente du quotidien</a:t>
            </a:r>
          </a:p>
        </p:txBody>
      </p:sp>
      <p:sp>
        <p:nvSpPr>
          <p:cNvPr id="15" name="ZoneTexte 14">
            <a:extLst>
              <a:ext uri="{FF2B5EF4-FFF2-40B4-BE49-F238E27FC236}">
                <a16:creationId xmlns:a16="http://schemas.microsoft.com/office/drawing/2014/main" id="{36FBB78E-59BB-3FE6-120B-7BC9AB119500}"/>
              </a:ext>
            </a:extLst>
          </p:cNvPr>
          <p:cNvSpPr txBox="1"/>
          <p:nvPr/>
        </p:nvSpPr>
        <p:spPr>
          <a:xfrm>
            <a:off x="10100386" y="3906686"/>
            <a:ext cx="1504690" cy="646331"/>
          </a:xfrm>
          <a:prstGeom prst="rect">
            <a:avLst/>
          </a:prstGeom>
          <a:noFill/>
        </p:spPr>
        <p:txBody>
          <a:bodyPr wrap="square">
            <a:spAutoFit/>
          </a:bodyPr>
          <a:lstStyle/>
          <a:p>
            <a:pPr algn="ctr"/>
            <a:r>
              <a:rPr lang="fr-FR" sz="1200" dirty="0">
                <a:solidFill>
                  <a:schemeClr val="tx1"/>
                </a:solidFill>
              </a:rPr>
              <a:t>Expérience du quotidien différente de la Communauté</a:t>
            </a:r>
          </a:p>
        </p:txBody>
      </p:sp>
      <p:sp>
        <p:nvSpPr>
          <p:cNvPr id="16" name="ZoneTexte 15">
            <a:extLst>
              <a:ext uri="{FF2B5EF4-FFF2-40B4-BE49-F238E27FC236}">
                <a16:creationId xmlns:a16="http://schemas.microsoft.com/office/drawing/2014/main" id="{A5426812-A4F7-8961-AD7B-990C8381571B}"/>
              </a:ext>
            </a:extLst>
          </p:cNvPr>
          <p:cNvSpPr txBox="1"/>
          <p:nvPr/>
        </p:nvSpPr>
        <p:spPr>
          <a:xfrm>
            <a:off x="8257572" y="5074566"/>
            <a:ext cx="2324802" cy="646331"/>
          </a:xfrm>
          <a:prstGeom prst="rect">
            <a:avLst/>
          </a:prstGeom>
          <a:noFill/>
        </p:spPr>
        <p:txBody>
          <a:bodyPr wrap="square">
            <a:spAutoFit/>
          </a:bodyPr>
          <a:lstStyle/>
          <a:p>
            <a:pPr algn="ctr"/>
            <a:r>
              <a:rPr lang="fr-FR" sz="1200" dirty="0">
                <a:solidFill>
                  <a:schemeClr val="tx1"/>
                </a:solidFill>
              </a:rPr>
              <a:t>Points communs entre l’expérience hors communauté et dans la Communauté</a:t>
            </a:r>
          </a:p>
        </p:txBody>
      </p:sp>
      <p:pic>
        <p:nvPicPr>
          <p:cNvPr id="17" name="Graphique 16" descr="Poumons avec un remplissage uni">
            <a:extLst>
              <a:ext uri="{FF2B5EF4-FFF2-40B4-BE49-F238E27FC236}">
                <a16:creationId xmlns:a16="http://schemas.microsoft.com/office/drawing/2014/main" id="{941E717D-8C33-756C-5621-3013F378371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383746" y="0"/>
            <a:ext cx="2117516" cy="2117516"/>
          </a:xfrm>
          <a:prstGeom prst="rect">
            <a:avLst/>
          </a:prstGeom>
        </p:spPr>
      </p:pic>
      <p:pic>
        <p:nvPicPr>
          <p:cNvPr id="9" name="Graphique 8" descr="Bâtiment avec un remplissage uni">
            <a:extLst>
              <a:ext uri="{FF2B5EF4-FFF2-40B4-BE49-F238E27FC236}">
                <a16:creationId xmlns:a16="http://schemas.microsoft.com/office/drawing/2014/main" id="{D2A7F45C-C393-8C66-399F-E516299E90D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357445" y="1135562"/>
            <a:ext cx="781742" cy="781742"/>
          </a:xfrm>
          <a:prstGeom prst="rect">
            <a:avLst/>
          </a:prstGeom>
        </p:spPr>
      </p:pic>
      <p:grpSp>
        <p:nvGrpSpPr>
          <p:cNvPr id="10" name="Groupe 9">
            <a:extLst>
              <a:ext uri="{FF2B5EF4-FFF2-40B4-BE49-F238E27FC236}">
                <a16:creationId xmlns:a16="http://schemas.microsoft.com/office/drawing/2014/main" id="{BDC73DCB-A31C-5B08-F932-6DD109E5D9DD}"/>
              </a:ext>
            </a:extLst>
          </p:cNvPr>
          <p:cNvGrpSpPr/>
          <p:nvPr/>
        </p:nvGrpSpPr>
        <p:grpSpPr>
          <a:xfrm>
            <a:off x="7654905" y="1207495"/>
            <a:ext cx="841925" cy="709809"/>
            <a:chOff x="8982504" y="3274976"/>
            <a:chExt cx="1230670" cy="1037553"/>
          </a:xfrm>
          <a:solidFill>
            <a:srgbClr val="ED7D31"/>
          </a:solidFill>
        </p:grpSpPr>
        <p:pic>
          <p:nvPicPr>
            <p:cNvPr id="11" name="Graphique 10" descr="Utilisateur avec un remplissage uni">
              <a:extLst>
                <a:ext uri="{FF2B5EF4-FFF2-40B4-BE49-F238E27FC236}">
                  <a16:creationId xmlns:a16="http://schemas.microsoft.com/office/drawing/2014/main" id="{CA8F30B2-9C5F-6F05-DF1A-B64854E105C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01028" y="3274976"/>
              <a:ext cx="336064" cy="336064"/>
            </a:xfrm>
            <a:prstGeom prst="rect">
              <a:avLst/>
            </a:prstGeom>
          </p:spPr>
        </p:pic>
        <p:pic>
          <p:nvPicPr>
            <p:cNvPr id="12" name="Graphique 11" descr="Utilisateur avec un remplissage uni">
              <a:extLst>
                <a:ext uri="{FF2B5EF4-FFF2-40B4-BE49-F238E27FC236}">
                  <a16:creationId xmlns:a16="http://schemas.microsoft.com/office/drawing/2014/main" id="{81A4DE12-81B3-9143-8A5E-92E2A52AC5B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054140" y="3512720"/>
              <a:ext cx="336064" cy="336064"/>
            </a:xfrm>
            <a:prstGeom prst="rect">
              <a:avLst/>
            </a:prstGeom>
          </p:spPr>
        </p:pic>
        <p:pic>
          <p:nvPicPr>
            <p:cNvPr id="13" name="Graphique 12" descr="Utilisateur avec un remplissage uni">
              <a:extLst>
                <a:ext uri="{FF2B5EF4-FFF2-40B4-BE49-F238E27FC236}">
                  <a16:creationId xmlns:a16="http://schemas.microsoft.com/office/drawing/2014/main" id="{967FD431-7192-C76B-1A9F-638FFFF6837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345616" y="3561880"/>
              <a:ext cx="336064" cy="336064"/>
            </a:xfrm>
            <a:prstGeom prst="rect">
              <a:avLst/>
            </a:prstGeom>
          </p:spPr>
        </p:pic>
        <p:pic>
          <p:nvPicPr>
            <p:cNvPr id="18" name="Graphique 17" descr="Utilisateur avec un remplissage uni">
              <a:extLst>
                <a:ext uri="{FF2B5EF4-FFF2-40B4-BE49-F238E27FC236}">
                  <a16:creationId xmlns:a16="http://schemas.microsoft.com/office/drawing/2014/main" id="{72647A23-E057-3687-2269-53A357FD44D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92504" y="3418428"/>
              <a:ext cx="336064" cy="336064"/>
            </a:xfrm>
            <a:prstGeom prst="rect">
              <a:avLst/>
            </a:prstGeom>
          </p:spPr>
        </p:pic>
        <p:pic>
          <p:nvPicPr>
            <p:cNvPr id="19" name="Graphique 18" descr="Utilisateur avec un remplissage uni">
              <a:extLst>
                <a:ext uri="{FF2B5EF4-FFF2-40B4-BE49-F238E27FC236}">
                  <a16:creationId xmlns:a16="http://schemas.microsoft.com/office/drawing/2014/main" id="{2C2AF299-D936-772A-37B1-14B93610E6A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35196" y="3680752"/>
              <a:ext cx="336064" cy="336064"/>
            </a:xfrm>
            <a:prstGeom prst="rect">
              <a:avLst/>
            </a:prstGeom>
          </p:spPr>
        </p:pic>
        <p:pic>
          <p:nvPicPr>
            <p:cNvPr id="20" name="Graphique 19" descr="Utilisateur avec un remplissage uni">
              <a:extLst>
                <a:ext uri="{FF2B5EF4-FFF2-40B4-BE49-F238E27FC236}">
                  <a16:creationId xmlns:a16="http://schemas.microsoft.com/office/drawing/2014/main" id="{AE67B325-CFD1-0724-5105-7D7539C3176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56440" y="3848784"/>
              <a:ext cx="336064" cy="336064"/>
            </a:xfrm>
            <a:prstGeom prst="rect">
              <a:avLst/>
            </a:prstGeom>
          </p:spPr>
        </p:pic>
        <p:pic>
          <p:nvPicPr>
            <p:cNvPr id="21" name="Graphique 20" descr="Utilisateur avec un remplissage uni">
              <a:extLst>
                <a:ext uri="{FF2B5EF4-FFF2-40B4-BE49-F238E27FC236}">
                  <a16:creationId xmlns:a16="http://schemas.microsoft.com/office/drawing/2014/main" id="{3E58C1B4-9A85-ABF1-C5A3-8311AB9E94D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82504" y="3835028"/>
              <a:ext cx="336064" cy="336064"/>
            </a:xfrm>
            <a:prstGeom prst="rect">
              <a:avLst/>
            </a:prstGeom>
          </p:spPr>
        </p:pic>
        <p:pic>
          <p:nvPicPr>
            <p:cNvPr id="22" name="Graphique 21" descr="Utilisateur avec un remplissage uni">
              <a:extLst>
                <a:ext uri="{FF2B5EF4-FFF2-40B4-BE49-F238E27FC236}">
                  <a16:creationId xmlns:a16="http://schemas.microsoft.com/office/drawing/2014/main" id="{53A6938D-6A81-6CEF-E43C-4F76D4FCDFC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520868" y="3943076"/>
              <a:ext cx="336064" cy="336064"/>
            </a:xfrm>
            <a:prstGeom prst="rect">
              <a:avLst/>
            </a:prstGeom>
          </p:spPr>
        </p:pic>
        <p:pic>
          <p:nvPicPr>
            <p:cNvPr id="23" name="Graphique 22" descr="Utilisateur avec un remplissage uni">
              <a:extLst>
                <a:ext uri="{FF2B5EF4-FFF2-40B4-BE49-F238E27FC236}">
                  <a16:creationId xmlns:a16="http://schemas.microsoft.com/office/drawing/2014/main" id="{E577C598-165C-7B1C-2596-5E5591F160F6}"/>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42772" y="3976465"/>
              <a:ext cx="336064" cy="336064"/>
            </a:xfrm>
            <a:prstGeom prst="rect">
              <a:avLst/>
            </a:prstGeom>
          </p:spPr>
        </p:pic>
        <p:pic>
          <p:nvPicPr>
            <p:cNvPr id="24" name="Graphique 23" descr="Utilisateur avec un remplissage uni">
              <a:extLst>
                <a:ext uri="{FF2B5EF4-FFF2-40B4-BE49-F238E27FC236}">
                  <a16:creationId xmlns:a16="http://schemas.microsoft.com/office/drawing/2014/main" id="{3100B598-281A-349D-9CAE-C4247B3110F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77110" y="3705332"/>
              <a:ext cx="336064" cy="336064"/>
            </a:xfrm>
            <a:prstGeom prst="rect">
              <a:avLst/>
            </a:prstGeom>
          </p:spPr>
        </p:pic>
        <p:pic>
          <p:nvPicPr>
            <p:cNvPr id="25" name="Graphique 24" descr="Utilisateur avec un remplissage uni">
              <a:extLst>
                <a:ext uri="{FF2B5EF4-FFF2-40B4-BE49-F238E27FC236}">
                  <a16:creationId xmlns:a16="http://schemas.microsoft.com/office/drawing/2014/main" id="{E3B9E8A3-E171-3720-69B5-3F64E1A97EF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856932" y="3429000"/>
              <a:ext cx="336064" cy="336064"/>
            </a:xfrm>
            <a:prstGeom prst="rect">
              <a:avLst/>
            </a:prstGeom>
          </p:spPr>
        </p:pic>
      </p:grpSp>
    </p:spTree>
    <p:extLst>
      <p:ext uri="{BB962C8B-B14F-4D97-AF65-F5344CB8AC3E}">
        <p14:creationId xmlns:p14="http://schemas.microsoft.com/office/powerpoint/2010/main" val="240080587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F56A8B6F-7B2B-4274-BA19-1D51E371D780}"/>
              </a:ext>
            </a:extLst>
          </p:cNvPr>
          <p:cNvSpPr/>
          <p:nvPr/>
        </p:nvSpPr>
        <p:spPr>
          <a:xfrm>
            <a:off x="3331128" y="1403919"/>
            <a:ext cx="1802162" cy="1802162"/>
          </a:xfrm>
          <a:prstGeom prst="rect">
            <a:avLst/>
          </a:prstGeom>
          <a:gradFill>
            <a:gsLst>
              <a:gs pos="50000">
                <a:srgbClr val="ED7D31"/>
              </a:gs>
              <a:gs pos="49000">
                <a:schemeClr val="bg1">
                  <a:lumMod val="75000"/>
                </a:schemeClr>
              </a:gs>
              <a:gs pos="100000">
                <a:srgbClr val="ED7D31"/>
              </a:gs>
              <a:gs pos="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endParaRPr lang="fr-FR" sz="1600" b="0" kern="1200" dirty="0"/>
          </a:p>
        </p:txBody>
      </p:sp>
      <p:sp>
        <p:nvSpPr>
          <p:cNvPr id="5" name="Rectangle 4">
            <a:extLst>
              <a:ext uri="{FF2B5EF4-FFF2-40B4-BE49-F238E27FC236}">
                <a16:creationId xmlns:a16="http://schemas.microsoft.com/office/drawing/2014/main" id="{975046E2-1215-4482-8565-DBAA09FF9947}"/>
              </a:ext>
            </a:extLst>
          </p:cNvPr>
          <p:cNvSpPr/>
          <p:nvPr/>
        </p:nvSpPr>
        <p:spPr>
          <a:xfrm>
            <a:off x="5448669" y="1403919"/>
            <a:ext cx="1802162" cy="1802162"/>
          </a:xfrm>
          <a:prstGeom prst="rect">
            <a:avLst/>
          </a:prstGeom>
          <a:gradFill>
            <a:gsLst>
              <a:gs pos="50000">
                <a:srgbClr val="3494BA"/>
              </a:gs>
              <a:gs pos="100000">
                <a:schemeClr val="bg1">
                  <a:lumMod val="75000"/>
                </a:schemeClr>
              </a:gs>
              <a:gs pos="0">
                <a:srgbClr val="3494BA"/>
              </a:gs>
              <a:gs pos="5100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endParaRPr lang="fr-FR" sz="1600" dirty="0"/>
          </a:p>
        </p:txBody>
      </p:sp>
      <p:sp>
        <p:nvSpPr>
          <p:cNvPr id="6" name="Rectangle 5">
            <a:extLst>
              <a:ext uri="{FF2B5EF4-FFF2-40B4-BE49-F238E27FC236}">
                <a16:creationId xmlns:a16="http://schemas.microsoft.com/office/drawing/2014/main" id="{3F35980F-0F77-49E7-B054-3D2EA0E32091}"/>
              </a:ext>
            </a:extLst>
          </p:cNvPr>
          <p:cNvSpPr/>
          <p:nvPr/>
        </p:nvSpPr>
        <p:spPr>
          <a:xfrm>
            <a:off x="3331128" y="3521460"/>
            <a:ext cx="1802162" cy="1802162"/>
          </a:xfrm>
          <a:prstGeom prst="rect">
            <a:avLst/>
          </a:prstGeom>
          <a:solidFill>
            <a:srgbClr val="ED7D31"/>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endParaRPr lang="fr-FR" sz="1600" kern="1200" dirty="0"/>
          </a:p>
        </p:txBody>
      </p:sp>
      <p:sp>
        <p:nvSpPr>
          <p:cNvPr id="7" name="Rectangle 6">
            <a:extLst>
              <a:ext uri="{FF2B5EF4-FFF2-40B4-BE49-F238E27FC236}">
                <a16:creationId xmlns:a16="http://schemas.microsoft.com/office/drawing/2014/main" id="{F57C2BF0-8E8E-484F-B5C7-CCD2EC96C05B}"/>
              </a:ext>
            </a:extLst>
          </p:cNvPr>
          <p:cNvSpPr/>
          <p:nvPr/>
        </p:nvSpPr>
        <p:spPr>
          <a:xfrm>
            <a:off x="5448669" y="3521460"/>
            <a:ext cx="1802162" cy="1802162"/>
          </a:xfrm>
          <a:prstGeom prst="rect">
            <a:avLst/>
          </a:prstGeom>
          <a:gradFill>
            <a:gsLst>
              <a:gs pos="50000">
                <a:srgbClr val="ED7D31"/>
              </a:gs>
              <a:gs pos="49000">
                <a:schemeClr val="bg1">
                  <a:lumMod val="75000"/>
                </a:schemeClr>
              </a:gs>
              <a:gs pos="100000">
                <a:srgbClr val="ED7D31"/>
              </a:gs>
              <a:gs pos="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endParaRPr lang="fr-FR" sz="1600" dirty="0"/>
          </a:p>
        </p:txBody>
      </p:sp>
      <p:sp>
        <p:nvSpPr>
          <p:cNvPr id="29" name="ZoneTexte 28">
            <a:extLst>
              <a:ext uri="{FF2B5EF4-FFF2-40B4-BE49-F238E27FC236}">
                <a16:creationId xmlns:a16="http://schemas.microsoft.com/office/drawing/2014/main" id="{CBB50324-226E-4B8A-9AF9-96E3C335CCCD}"/>
              </a:ext>
            </a:extLst>
          </p:cNvPr>
          <p:cNvSpPr txBox="1"/>
          <p:nvPr/>
        </p:nvSpPr>
        <p:spPr>
          <a:xfrm>
            <a:off x="4901372" y="688211"/>
            <a:ext cx="2852057" cy="369332"/>
          </a:xfrm>
          <a:prstGeom prst="rect">
            <a:avLst/>
          </a:prstGeom>
          <a:noFill/>
        </p:spPr>
        <p:txBody>
          <a:bodyPr wrap="square">
            <a:spAutoFit/>
          </a:bodyPr>
          <a:lstStyle/>
          <a:p>
            <a:pPr lvl="0" algn="ctr"/>
            <a:r>
              <a:rPr lang="fr-FR" dirty="0"/>
              <a:t>Valeur Business Directe</a:t>
            </a:r>
          </a:p>
        </p:txBody>
      </p:sp>
      <p:sp>
        <p:nvSpPr>
          <p:cNvPr id="30" name="ZoneTexte 29">
            <a:extLst>
              <a:ext uri="{FF2B5EF4-FFF2-40B4-BE49-F238E27FC236}">
                <a16:creationId xmlns:a16="http://schemas.microsoft.com/office/drawing/2014/main" id="{B6C16B1D-FA36-4119-B1CD-371D0C97DDD2}"/>
              </a:ext>
            </a:extLst>
          </p:cNvPr>
          <p:cNvSpPr txBox="1"/>
          <p:nvPr/>
        </p:nvSpPr>
        <p:spPr>
          <a:xfrm>
            <a:off x="4791604" y="5684008"/>
            <a:ext cx="3161981" cy="369332"/>
          </a:xfrm>
          <a:prstGeom prst="rect">
            <a:avLst/>
          </a:prstGeom>
          <a:noFill/>
        </p:spPr>
        <p:txBody>
          <a:bodyPr wrap="square">
            <a:spAutoFit/>
          </a:bodyPr>
          <a:lstStyle/>
          <a:p>
            <a:pPr lvl="0" algn="ctr"/>
            <a:r>
              <a:rPr lang="fr-FR" dirty="0"/>
              <a:t>Valeur Business indirecte</a:t>
            </a:r>
          </a:p>
        </p:txBody>
      </p:sp>
      <p:sp>
        <p:nvSpPr>
          <p:cNvPr id="31" name="ZoneTexte 30">
            <a:extLst>
              <a:ext uri="{FF2B5EF4-FFF2-40B4-BE49-F238E27FC236}">
                <a16:creationId xmlns:a16="http://schemas.microsoft.com/office/drawing/2014/main" id="{0C628DBD-0EB1-4A75-9284-82CA232A7E65}"/>
              </a:ext>
            </a:extLst>
          </p:cNvPr>
          <p:cNvSpPr txBox="1"/>
          <p:nvPr/>
        </p:nvSpPr>
        <p:spPr>
          <a:xfrm>
            <a:off x="9651120" y="2625106"/>
            <a:ext cx="1499122" cy="1477328"/>
          </a:xfrm>
          <a:prstGeom prst="rect">
            <a:avLst/>
          </a:prstGeom>
          <a:noFill/>
        </p:spPr>
        <p:txBody>
          <a:bodyPr wrap="square">
            <a:spAutoFit/>
          </a:bodyPr>
          <a:lstStyle/>
          <a:p>
            <a:pPr lvl="0"/>
            <a:r>
              <a:rPr lang="fr-FR" dirty="0"/>
              <a:t>La Communauté bénéficie surtout aux  non-membres</a:t>
            </a:r>
          </a:p>
        </p:txBody>
      </p:sp>
      <p:sp>
        <p:nvSpPr>
          <p:cNvPr id="32" name="ZoneTexte 31">
            <a:extLst>
              <a:ext uri="{FF2B5EF4-FFF2-40B4-BE49-F238E27FC236}">
                <a16:creationId xmlns:a16="http://schemas.microsoft.com/office/drawing/2014/main" id="{F52BBE30-A0C8-4495-88A5-2E5EC0449CE9}"/>
              </a:ext>
            </a:extLst>
          </p:cNvPr>
          <p:cNvSpPr txBox="1"/>
          <p:nvPr/>
        </p:nvSpPr>
        <p:spPr>
          <a:xfrm>
            <a:off x="1418549" y="2625106"/>
            <a:ext cx="1554474" cy="1477328"/>
          </a:xfrm>
          <a:prstGeom prst="rect">
            <a:avLst/>
          </a:prstGeom>
          <a:noFill/>
        </p:spPr>
        <p:txBody>
          <a:bodyPr wrap="square">
            <a:spAutoFit/>
          </a:bodyPr>
          <a:lstStyle/>
          <a:p>
            <a:pPr lvl="0"/>
            <a:r>
              <a:rPr lang="fr-FR" dirty="0"/>
              <a:t>La Communauté bénéficie surtout aux membres</a:t>
            </a:r>
          </a:p>
        </p:txBody>
      </p:sp>
      <p:sp>
        <p:nvSpPr>
          <p:cNvPr id="8" name="Flèche : double flèche horizontale 7">
            <a:extLst>
              <a:ext uri="{FF2B5EF4-FFF2-40B4-BE49-F238E27FC236}">
                <a16:creationId xmlns:a16="http://schemas.microsoft.com/office/drawing/2014/main" id="{46D448A5-04D2-4338-87C8-44734644160A}"/>
              </a:ext>
            </a:extLst>
          </p:cNvPr>
          <p:cNvSpPr/>
          <p:nvPr/>
        </p:nvSpPr>
        <p:spPr>
          <a:xfrm>
            <a:off x="3119449" y="3179105"/>
            <a:ext cx="6506293" cy="369332"/>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Flèche : double flèche horizontale 18">
            <a:extLst>
              <a:ext uri="{FF2B5EF4-FFF2-40B4-BE49-F238E27FC236}">
                <a16:creationId xmlns:a16="http://schemas.microsoft.com/office/drawing/2014/main" id="{23A68AB3-D239-4102-8951-70EE76CD228D}"/>
              </a:ext>
            </a:extLst>
          </p:cNvPr>
          <p:cNvSpPr/>
          <p:nvPr/>
        </p:nvSpPr>
        <p:spPr>
          <a:xfrm rot="5400000">
            <a:off x="3079646" y="3199890"/>
            <a:ext cx="4438583" cy="369332"/>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Flèche : double flèche horizontale 19">
            <a:extLst>
              <a:ext uri="{FF2B5EF4-FFF2-40B4-BE49-F238E27FC236}">
                <a16:creationId xmlns:a16="http://schemas.microsoft.com/office/drawing/2014/main" id="{92AC707B-1BC2-4855-9468-0179644B69D9}"/>
              </a:ext>
            </a:extLst>
          </p:cNvPr>
          <p:cNvSpPr/>
          <p:nvPr/>
        </p:nvSpPr>
        <p:spPr>
          <a:xfrm rot="5400000">
            <a:off x="5169187" y="3199890"/>
            <a:ext cx="4438583" cy="369332"/>
          </a:xfrm>
          <a:prstGeom prst="leftRightArrow">
            <a:avLst>
              <a:gd name="adj1" fmla="val 36342"/>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 name="Rectangle 20">
            <a:extLst>
              <a:ext uri="{FF2B5EF4-FFF2-40B4-BE49-F238E27FC236}">
                <a16:creationId xmlns:a16="http://schemas.microsoft.com/office/drawing/2014/main" id="{C31F0474-DF73-4708-9AFB-4D7C752CD571}"/>
              </a:ext>
            </a:extLst>
          </p:cNvPr>
          <p:cNvSpPr/>
          <p:nvPr/>
        </p:nvSpPr>
        <p:spPr>
          <a:xfrm>
            <a:off x="7543683" y="1403919"/>
            <a:ext cx="1802162" cy="1802162"/>
          </a:xfrm>
          <a:prstGeom prst="rect">
            <a:avLst/>
          </a:prstGeom>
          <a:solidFill>
            <a:srgbClr val="3494BA"/>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marL="0" lvl="0" indent="0" algn="ctr" defTabSz="889000">
              <a:lnSpc>
                <a:spcPct val="90000"/>
              </a:lnSpc>
              <a:spcBef>
                <a:spcPct val="0"/>
              </a:spcBef>
              <a:spcAft>
                <a:spcPct val="35000"/>
              </a:spcAft>
              <a:buNone/>
            </a:pPr>
            <a:endParaRPr lang="fr-FR" sz="1600" kern="1200" dirty="0"/>
          </a:p>
        </p:txBody>
      </p:sp>
      <p:sp>
        <p:nvSpPr>
          <p:cNvPr id="22" name="Rectangle 21">
            <a:extLst>
              <a:ext uri="{FF2B5EF4-FFF2-40B4-BE49-F238E27FC236}">
                <a16:creationId xmlns:a16="http://schemas.microsoft.com/office/drawing/2014/main" id="{2DFB846F-1799-4ED6-8B7D-108FD9D2617F}"/>
              </a:ext>
            </a:extLst>
          </p:cNvPr>
          <p:cNvSpPr/>
          <p:nvPr/>
        </p:nvSpPr>
        <p:spPr>
          <a:xfrm>
            <a:off x="7543683" y="3521460"/>
            <a:ext cx="1802162" cy="1802162"/>
          </a:xfrm>
          <a:prstGeom prst="rect">
            <a:avLst/>
          </a:prstGeom>
          <a:gradFill>
            <a:gsLst>
              <a:gs pos="50000">
                <a:srgbClr val="3494BA"/>
              </a:gs>
              <a:gs pos="100000">
                <a:schemeClr val="bg1">
                  <a:lumMod val="75000"/>
                </a:schemeClr>
              </a:gs>
              <a:gs pos="0">
                <a:srgbClr val="3494BA"/>
              </a:gs>
              <a:gs pos="51000">
                <a:schemeClr val="bg1">
                  <a:lumMod val="75000"/>
                </a:schemeClr>
              </a:gs>
            </a:gsLst>
            <a:lin ang="8100000" scaled="0"/>
          </a:gra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64174" tIns="164174" rIns="164174" bIns="164174" numCol="1" spcCol="1270" anchor="ctr" anchorCtr="0">
            <a:noAutofit/>
          </a:bodyPr>
          <a:lstStyle/>
          <a:p>
            <a:pPr algn="ctr" defTabSz="889000">
              <a:lnSpc>
                <a:spcPct val="90000"/>
              </a:lnSpc>
              <a:spcBef>
                <a:spcPct val="0"/>
              </a:spcBef>
              <a:spcAft>
                <a:spcPct val="35000"/>
              </a:spcAft>
            </a:pPr>
            <a:endParaRPr lang="fr-FR" sz="1600" dirty="0"/>
          </a:p>
        </p:txBody>
      </p:sp>
      <p:sp>
        <p:nvSpPr>
          <p:cNvPr id="24" name="ZoneTexte 23">
            <a:extLst>
              <a:ext uri="{FF2B5EF4-FFF2-40B4-BE49-F238E27FC236}">
                <a16:creationId xmlns:a16="http://schemas.microsoft.com/office/drawing/2014/main" id="{51611692-850B-48E5-B3F1-BC487713CBA6}"/>
              </a:ext>
            </a:extLst>
          </p:cNvPr>
          <p:cNvSpPr txBox="1"/>
          <p:nvPr/>
        </p:nvSpPr>
        <p:spPr>
          <a:xfrm>
            <a:off x="5450990" y="2886717"/>
            <a:ext cx="1752822" cy="954107"/>
          </a:xfrm>
          <a:prstGeom prst="rect">
            <a:avLst/>
          </a:prstGeom>
          <a:noFill/>
        </p:spPr>
        <p:txBody>
          <a:bodyPr wrap="square">
            <a:spAutoFit/>
          </a:bodyPr>
          <a:lstStyle/>
          <a:p>
            <a:pPr lvl="0" algn="ctr"/>
            <a:r>
              <a:rPr lang="fr-FR" sz="1400" b="1" dirty="0"/>
              <a:t>La Communauté bénéficie aux membres et non membres</a:t>
            </a:r>
          </a:p>
        </p:txBody>
      </p:sp>
    </p:spTree>
    <p:extLst>
      <p:ext uri="{BB962C8B-B14F-4D97-AF65-F5344CB8AC3E}">
        <p14:creationId xmlns:p14="http://schemas.microsoft.com/office/powerpoint/2010/main" val="2519184491"/>
      </p:ext>
    </p:extLst>
  </p:cSld>
  <p:clrMapOvr>
    <a:masterClrMapping/>
  </p:clrMapOvr>
  <mc:AlternateContent xmlns:mc="http://schemas.openxmlformats.org/markup-compatibility/2006" xmlns:p14="http://schemas.microsoft.com/office/powerpoint/2010/main">
    <mc:Choice Requires="p14">
      <p:transition spd="slow" p14:dur="2000" advTm="53124"/>
    </mc:Choice>
    <mc:Fallback xmlns="">
      <p:transition spd="slow" advTm="53124"/>
    </mc:Fallback>
  </mc:AlternateContent>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0" name="Groupe 129">
            <a:extLst>
              <a:ext uri="{FF2B5EF4-FFF2-40B4-BE49-F238E27FC236}">
                <a16:creationId xmlns:a16="http://schemas.microsoft.com/office/drawing/2014/main" id="{7E68A4A0-A152-746C-41DD-7613DC34C93B}"/>
              </a:ext>
            </a:extLst>
          </p:cNvPr>
          <p:cNvGrpSpPr/>
          <p:nvPr/>
        </p:nvGrpSpPr>
        <p:grpSpPr>
          <a:xfrm>
            <a:off x="10738715" y="1766683"/>
            <a:ext cx="1234611" cy="1478678"/>
            <a:chOff x="10900856" y="1002375"/>
            <a:chExt cx="1234611" cy="1478678"/>
          </a:xfrm>
        </p:grpSpPr>
        <p:grpSp>
          <p:nvGrpSpPr>
            <p:cNvPr id="67" name="Groupe 66">
              <a:extLst>
                <a:ext uri="{FF2B5EF4-FFF2-40B4-BE49-F238E27FC236}">
                  <a16:creationId xmlns:a16="http://schemas.microsoft.com/office/drawing/2014/main" id="{91FFF4BF-E2B2-392D-522A-B5A0EAD75846}"/>
                </a:ext>
              </a:extLst>
            </p:cNvPr>
            <p:cNvGrpSpPr/>
            <p:nvPr/>
          </p:nvGrpSpPr>
          <p:grpSpPr>
            <a:xfrm>
              <a:off x="11015494" y="1002375"/>
              <a:ext cx="1004893" cy="847205"/>
              <a:chOff x="526728" y="3262391"/>
              <a:chExt cx="1230670" cy="1037553"/>
            </a:xfrm>
          </p:grpSpPr>
          <p:pic>
            <p:nvPicPr>
              <p:cNvPr id="5" name="Graphique 4" descr="Utilisateur avec un remplissage uni">
                <a:extLst>
                  <a:ext uri="{FF2B5EF4-FFF2-40B4-BE49-F238E27FC236}">
                    <a16:creationId xmlns:a16="http://schemas.microsoft.com/office/drawing/2014/main" id="{8FC7F187-577B-6A0A-F3D1-2D6C22227C6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45252" y="3262391"/>
                <a:ext cx="336064" cy="336064"/>
              </a:xfrm>
              <a:prstGeom prst="rect">
                <a:avLst/>
              </a:prstGeom>
            </p:spPr>
          </p:pic>
          <p:pic>
            <p:nvPicPr>
              <p:cNvPr id="6" name="Graphique 5" descr="Utilisateur avec un remplissage uni">
                <a:extLst>
                  <a:ext uri="{FF2B5EF4-FFF2-40B4-BE49-F238E27FC236}">
                    <a16:creationId xmlns:a16="http://schemas.microsoft.com/office/drawing/2014/main" id="{5D0C7364-DBAC-3202-A965-17CE03B97F6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98364" y="3500135"/>
                <a:ext cx="336064" cy="336064"/>
              </a:xfrm>
              <a:prstGeom prst="rect">
                <a:avLst/>
              </a:prstGeom>
            </p:spPr>
          </p:pic>
          <p:pic>
            <p:nvPicPr>
              <p:cNvPr id="7" name="Graphique 6" descr="Utilisateur avec un remplissage uni">
                <a:extLst>
                  <a:ext uri="{FF2B5EF4-FFF2-40B4-BE49-F238E27FC236}">
                    <a16:creationId xmlns:a16="http://schemas.microsoft.com/office/drawing/2014/main" id="{FD34AD63-A006-FD74-F3B0-7F921572C74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89840" y="3549295"/>
                <a:ext cx="336064" cy="336064"/>
              </a:xfrm>
              <a:prstGeom prst="rect">
                <a:avLst/>
              </a:prstGeom>
            </p:spPr>
          </p:pic>
          <p:pic>
            <p:nvPicPr>
              <p:cNvPr id="8" name="Graphique 7" descr="Utilisateur avec un remplissage uni">
                <a:extLst>
                  <a:ext uri="{FF2B5EF4-FFF2-40B4-BE49-F238E27FC236}">
                    <a16:creationId xmlns:a16="http://schemas.microsoft.com/office/drawing/2014/main" id="{0B6809A9-5719-CB5B-CB21-C1AFD5F2A66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36728" y="3405843"/>
                <a:ext cx="336064" cy="336064"/>
              </a:xfrm>
              <a:prstGeom prst="rect">
                <a:avLst/>
              </a:prstGeom>
            </p:spPr>
          </p:pic>
          <p:pic>
            <p:nvPicPr>
              <p:cNvPr id="9" name="Graphique 8" descr="Utilisateur avec un remplissage uni">
                <a:extLst>
                  <a:ext uri="{FF2B5EF4-FFF2-40B4-BE49-F238E27FC236}">
                    <a16:creationId xmlns:a16="http://schemas.microsoft.com/office/drawing/2014/main" id="{CC63751A-4E71-CE69-8E7D-51808CB187D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79420" y="3668167"/>
                <a:ext cx="336064" cy="336064"/>
              </a:xfrm>
              <a:prstGeom prst="rect">
                <a:avLst/>
              </a:prstGeom>
            </p:spPr>
          </p:pic>
          <p:pic>
            <p:nvPicPr>
              <p:cNvPr id="14" name="Graphique 13" descr="Utilisateur avec un remplissage uni">
                <a:extLst>
                  <a:ext uri="{FF2B5EF4-FFF2-40B4-BE49-F238E27FC236}">
                    <a16:creationId xmlns:a16="http://schemas.microsoft.com/office/drawing/2014/main" id="{887299DB-A3F2-2847-E660-B396F8715C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00664" y="3836199"/>
                <a:ext cx="336064" cy="336064"/>
              </a:xfrm>
              <a:prstGeom prst="rect">
                <a:avLst/>
              </a:prstGeom>
            </p:spPr>
          </p:pic>
          <p:pic>
            <p:nvPicPr>
              <p:cNvPr id="15" name="Graphique 14" descr="Utilisateur avec un remplissage uni">
                <a:extLst>
                  <a:ext uri="{FF2B5EF4-FFF2-40B4-BE49-F238E27FC236}">
                    <a16:creationId xmlns:a16="http://schemas.microsoft.com/office/drawing/2014/main" id="{A47ACDBC-BEAC-CDBF-841D-0CA2CDF66C8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26728" y="3822443"/>
                <a:ext cx="336064" cy="336064"/>
              </a:xfrm>
              <a:prstGeom prst="rect">
                <a:avLst/>
              </a:prstGeom>
            </p:spPr>
          </p:pic>
          <p:pic>
            <p:nvPicPr>
              <p:cNvPr id="16" name="Graphique 15" descr="Utilisateur avec un remplissage uni">
                <a:extLst>
                  <a:ext uri="{FF2B5EF4-FFF2-40B4-BE49-F238E27FC236}">
                    <a16:creationId xmlns:a16="http://schemas.microsoft.com/office/drawing/2014/main" id="{64E8C4B4-5B77-C727-0AB7-C7DF588E586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65092" y="3930491"/>
                <a:ext cx="336064" cy="336064"/>
              </a:xfrm>
              <a:prstGeom prst="rect">
                <a:avLst/>
              </a:prstGeom>
            </p:spPr>
          </p:pic>
          <p:pic>
            <p:nvPicPr>
              <p:cNvPr id="17" name="Graphique 16" descr="Utilisateur avec un remplissage uni">
                <a:extLst>
                  <a:ext uri="{FF2B5EF4-FFF2-40B4-BE49-F238E27FC236}">
                    <a16:creationId xmlns:a16="http://schemas.microsoft.com/office/drawing/2014/main" id="{0E31AAE0-4870-FA50-796B-F4468705A0F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286996" y="3963880"/>
                <a:ext cx="336064" cy="336064"/>
              </a:xfrm>
              <a:prstGeom prst="rect">
                <a:avLst/>
              </a:prstGeom>
            </p:spPr>
          </p:pic>
          <p:pic>
            <p:nvPicPr>
              <p:cNvPr id="18" name="Graphique 17" descr="Utilisateur avec un remplissage uni">
                <a:extLst>
                  <a:ext uri="{FF2B5EF4-FFF2-40B4-BE49-F238E27FC236}">
                    <a16:creationId xmlns:a16="http://schemas.microsoft.com/office/drawing/2014/main" id="{D3B17A36-63DC-A7F9-3DF6-1AFB455F9A4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421334" y="3692747"/>
                <a:ext cx="336064" cy="336064"/>
              </a:xfrm>
              <a:prstGeom prst="rect">
                <a:avLst/>
              </a:prstGeom>
            </p:spPr>
          </p:pic>
          <p:pic>
            <p:nvPicPr>
              <p:cNvPr id="19" name="Graphique 18" descr="Utilisateur avec un remplissage uni">
                <a:extLst>
                  <a:ext uri="{FF2B5EF4-FFF2-40B4-BE49-F238E27FC236}">
                    <a16:creationId xmlns:a16="http://schemas.microsoft.com/office/drawing/2014/main" id="{D4976C88-D205-F6CD-ED99-6AFF44F55C1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401156" y="3416415"/>
                <a:ext cx="336064" cy="336064"/>
              </a:xfrm>
              <a:prstGeom prst="rect">
                <a:avLst/>
              </a:prstGeom>
            </p:spPr>
          </p:pic>
        </p:grpSp>
        <p:sp>
          <p:nvSpPr>
            <p:cNvPr id="64" name="ZoneTexte 63">
              <a:extLst>
                <a:ext uri="{FF2B5EF4-FFF2-40B4-BE49-F238E27FC236}">
                  <a16:creationId xmlns:a16="http://schemas.microsoft.com/office/drawing/2014/main" id="{F0AFF57F-031A-B8CF-E6C8-AC6D2B1756E0}"/>
                </a:ext>
              </a:extLst>
            </p:cNvPr>
            <p:cNvSpPr txBox="1"/>
            <p:nvPr/>
          </p:nvSpPr>
          <p:spPr>
            <a:xfrm>
              <a:off x="10900856" y="2019388"/>
              <a:ext cx="1234611" cy="461665"/>
            </a:xfrm>
            <a:prstGeom prst="rect">
              <a:avLst/>
            </a:prstGeom>
            <a:noFill/>
          </p:spPr>
          <p:txBody>
            <a:bodyPr wrap="square">
              <a:spAutoFit/>
            </a:bodyPr>
            <a:lstStyle/>
            <a:p>
              <a:pPr lvl="0" algn="ctr"/>
              <a:r>
                <a:rPr lang="fr-FR" sz="1200" b="1" dirty="0"/>
                <a:t>Equipe transverse</a:t>
              </a:r>
              <a:endParaRPr lang="fr-FR" sz="1200" dirty="0"/>
            </a:p>
          </p:txBody>
        </p:sp>
      </p:grpSp>
      <p:grpSp>
        <p:nvGrpSpPr>
          <p:cNvPr id="129" name="Groupe 128">
            <a:extLst>
              <a:ext uri="{FF2B5EF4-FFF2-40B4-BE49-F238E27FC236}">
                <a16:creationId xmlns:a16="http://schemas.microsoft.com/office/drawing/2014/main" id="{9018E372-5D03-EDC7-124A-660BA3B8BC8B}"/>
              </a:ext>
            </a:extLst>
          </p:cNvPr>
          <p:cNvGrpSpPr/>
          <p:nvPr/>
        </p:nvGrpSpPr>
        <p:grpSpPr>
          <a:xfrm>
            <a:off x="9589716" y="1766683"/>
            <a:ext cx="1234611" cy="1685743"/>
            <a:chOff x="9340989" y="1333708"/>
            <a:chExt cx="1234611" cy="1685743"/>
          </a:xfrm>
        </p:grpSpPr>
        <p:grpSp>
          <p:nvGrpSpPr>
            <p:cNvPr id="66" name="Groupe 65">
              <a:extLst>
                <a:ext uri="{FF2B5EF4-FFF2-40B4-BE49-F238E27FC236}">
                  <a16:creationId xmlns:a16="http://schemas.microsoft.com/office/drawing/2014/main" id="{93C1B13C-395E-139C-260A-8F2F493CB169}"/>
                </a:ext>
              </a:extLst>
            </p:cNvPr>
            <p:cNvGrpSpPr/>
            <p:nvPr/>
          </p:nvGrpSpPr>
          <p:grpSpPr>
            <a:xfrm>
              <a:off x="9457741" y="1333708"/>
              <a:ext cx="1004893" cy="847205"/>
              <a:chOff x="2908831" y="3262391"/>
              <a:chExt cx="1230670" cy="1037553"/>
            </a:xfrm>
          </p:grpSpPr>
          <p:pic>
            <p:nvPicPr>
              <p:cNvPr id="20" name="Graphique 19" descr="Utilisateur avec un remplissage uni">
                <a:extLst>
                  <a:ext uri="{FF2B5EF4-FFF2-40B4-BE49-F238E27FC236}">
                    <a16:creationId xmlns:a16="http://schemas.microsoft.com/office/drawing/2014/main" id="{78D80F9B-153D-989D-A5BA-81BA962321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227355" y="3262391"/>
                <a:ext cx="336064" cy="336064"/>
              </a:xfrm>
              <a:prstGeom prst="rect">
                <a:avLst/>
              </a:prstGeom>
            </p:spPr>
          </p:pic>
          <p:pic>
            <p:nvPicPr>
              <p:cNvPr id="21" name="Graphique 20" descr="Utilisateur avec un remplissage uni">
                <a:extLst>
                  <a:ext uri="{FF2B5EF4-FFF2-40B4-BE49-F238E27FC236}">
                    <a16:creationId xmlns:a16="http://schemas.microsoft.com/office/drawing/2014/main" id="{968A9A0C-55B8-13FA-899B-5CB8EB98B4D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980467" y="3500135"/>
                <a:ext cx="336064" cy="336064"/>
              </a:xfrm>
              <a:prstGeom prst="rect">
                <a:avLst/>
              </a:prstGeom>
            </p:spPr>
          </p:pic>
          <p:pic>
            <p:nvPicPr>
              <p:cNvPr id="22" name="Graphique 21" descr="Utilisateur avec un remplissage uni">
                <a:extLst>
                  <a:ext uri="{FF2B5EF4-FFF2-40B4-BE49-F238E27FC236}">
                    <a16:creationId xmlns:a16="http://schemas.microsoft.com/office/drawing/2014/main" id="{24D2FC15-0E84-E05D-D62B-6B9D5BFB0A4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271943" y="3549295"/>
                <a:ext cx="336064" cy="336064"/>
              </a:xfrm>
              <a:prstGeom prst="rect">
                <a:avLst/>
              </a:prstGeom>
            </p:spPr>
          </p:pic>
          <p:pic>
            <p:nvPicPr>
              <p:cNvPr id="23" name="Graphique 22" descr="Utilisateur avec un remplissage uni">
                <a:extLst>
                  <a:ext uri="{FF2B5EF4-FFF2-40B4-BE49-F238E27FC236}">
                    <a16:creationId xmlns:a16="http://schemas.microsoft.com/office/drawing/2014/main" id="{6F5420D8-2AAD-225C-9DB6-AB90C66FA75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518831" y="3405843"/>
                <a:ext cx="336064" cy="336064"/>
              </a:xfrm>
              <a:prstGeom prst="rect">
                <a:avLst/>
              </a:prstGeom>
            </p:spPr>
          </p:pic>
          <p:pic>
            <p:nvPicPr>
              <p:cNvPr id="24" name="Graphique 23" descr="Utilisateur avec un remplissage uni">
                <a:extLst>
                  <a:ext uri="{FF2B5EF4-FFF2-40B4-BE49-F238E27FC236}">
                    <a16:creationId xmlns:a16="http://schemas.microsoft.com/office/drawing/2014/main" id="{387181F5-005E-3230-B50C-5B3FE71EAC5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561523" y="3668167"/>
                <a:ext cx="336064" cy="336064"/>
              </a:xfrm>
              <a:prstGeom prst="rect">
                <a:avLst/>
              </a:prstGeom>
            </p:spPr>
          </p:pic>
          <p:pic>
            <p:nvPicPr>
              <p:cNvPr id="25" name="Graphique 24" descr="Utilisateur avec un remplissage uni">
                <a:extLst>
                  <a:ext uri="{FF2B5EF4-FFF2-40B4-BE49-F238E27FC236}">
                    <a16:creationId xmlns:a16="http://schemas.microsoft.com/office/drawing/2014/main" id="{28E9E373-D824-A187-E905-0C9E02EA615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182767" y="3836199"/>
                <a:ext cx="336064" cy="336064"/>
              </a:xfrm>
              <a:prstGeom prst="rect">
                <a:avLst/>
              </a:prstGeom>
            </p:spPr>
          </p:pic>
          <p:pic>
            <p:nvPicPr>
              <p:cNvPr id="26" name="Graphique 25" descr="Utilisateur avec un remplissage uni">
                <a:extLst>
                  <a:ext uri="{FF2B5EF4-FFF2-40B4-BE49-F238E27FC236}">
                    <a16:creationId xmlns:a16="http://schemas.microsoft.com/office/drawing/2014/main" id="{5F055C6B-1644-B22C-F912-026336F866E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908831" y="3822443"/>
                <a:ext cx="336064" cy="336064"/>
              </a:xfrm>
              <a:prstGeom prst="rect">
                <a:avLst/>
              </a:prstGeom>
            </p:spPr>
          </p:pic>
          <p:pic>
            <p:nvPicPr>
              <p:cNvPr id="27" name="Graphique 26" descr="Utilisateur avec un remplissage uni">
                <a:extLst>
                  <a:ext uri="{FF2B5EF4-FFF2-40B4-BE49-F238E27FC236}">
                    <a16:creationId xmlns:a16="http://schemas.microsoft.com/office/drawing/2014/main" id="{2BE6EDB6-C9D1-0CF7-0522-052112EBBEE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447195" y="3930491"/>
                <a:ext cx="336064" cy="336064"/>
              </a:xfrm>
              <a:prstGeom prst="rect">
                <a:avLst/>
              </a:prstGeom>
            </p:spPr>
          </p:pic>
          <p:pic>
            <p:nvPicPr>
              <p:cNvPr id="28" name="Graphique 27" descr="Utilisateur avec un remplissage uni">
                <a:extLst>
                  <a:ext uri="{FF2B5EF4-FFF2-40B4-BE49-F238E27FC236}">
                    <a16:creationId xmlns:a16="http://schemas.microsoft.com/office/drawing/2014/main" id="{6473B3D4-3886-4233-79C3-82D812482B7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669099" y="3963880"/>
                <a:ext cx="336064" cy="336064"/>
              </a:xfrm>
              <a:prstGeom prst="rect">
                <a:avLst/>
              </a:prstGeom>
            </p:spPr>
          </p:pic>
          <p:pic>
            <p:nvPicPr>
              <p:cNvPr id="29" name="Graphique 28" descr="Utilisateur avec un remplissage uni">
                <a:extLst>
                  <a:ext uri="{FF2B5EF4-FFF2-40B4-BE49-F238E27FC236}">
                    <a16:creationId xmlns:a16="http://schemas.microsoft.com/office/drawing/2014/main" id="{C6977EB5-E0DB-9B3A-D3E8-9823748B2BC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803437" y="3692747"/>
                <a:ext cx="336064" cy="336064"/>
              </a:xfrm>
              <a:prstGeom prst="rect">
                <a:avLst/>
              </a:prstGeom>
            </p:spPr>
          </p:pic>
          <p:pic>
            <p:nvPicPr>
              <p:cNvPr id="30" name="Graphique 29" descr="Utilisateur avec un remplissage uni">
                <a:extLst>
                  <a:ext uri="{FF2B5EF4-FFF2-40B4-BE49-F238E27FC236}">
                    <a16:creationId xmlns:a16="http://schemas.microsoft.com/office/drawing/2014/main" id="{A2E50A28-13B0-186A-31C7-B3925D21DE3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783259" y="3416415"/>
                <a:ext cx="336064" cy="336064"/>
              </a:xfrm>
              <a:prstGeom prst="rect">
                <a:avLst/>
              </a:prstGeom>
            </p:spPr>
          </p:pic>
        </p:grpSp>
        <p:sp>
          <p:nvSpPr>
            <p:cNvPr id="65" name="ZoneTexte 64">
              <a:extLst>
                <a:ext uri="{FF2B5EF4-FFF2-40B4-BE49-F238E27FC236}">
                  <a16:creationId xmlns:a16="http://schemas.microsoft.com/office/drawing/2014/main" id="{BA307FD2-CAE3-3B95-CB09-CAAA2CE512D6}"/>
                </a:ext>
              </a:extLst>
            </p:cNvPr>
            <p:cNvSpPr txBox="1"/>
            <p:nvPr/>
          </p:nvSpPr>
          <p:spPr>
            <a:xfrm>
              <a:off x="9340989" y="2373120"/>
              <a:ext cx="1234611" cy="646331"/>
            </a:xfrm>
            <a:prstGeom prst="rect">
              <a:avLst/>
            </a:prstGeom>
            <a:noFill/>
          </p:spPr>
          <p:txBody>
            <a:bodyPr wrap="square">
              <a:spAutoFit/>
            </a:bodyPr>
            <a:lstStyle/>
            <a:p>
              <a:pPr lvl="0" algn="ctr"/>
              <a:r>
                <a:rPr lang="fr-FR" sz="1200" b="1" dirty="0"/>
                <a:t>Projet transverse, Taskforce</a:t>
              </a:r>
              <a:endParaRPr lang="fr-FR" sz="1200" dirty="0"/>
            </a:p>
          </p:txBody>
        </p:sp>
      </p:grpSp>
      <p:grpSp>
        <p:nvGrpSpPr>
          <p:cNvPr id="128" name="Groupe 127">
            <a:extLst>
              <a:ext uri="{FF2B5EF4-FFF2-40B4-BE49-F238E27FC236}">
                <a16:creationId xmlns:a16="http://schemas.microsoft.com/office/drawing/2014/main" id="{B50A9651-DA03-505B-9D8D-63F18CB2E268}"/>
              </a:ext>
            </a:extLst>
          </p:cNvPr>
          <p:cNvGrpSpPr/>
          <p:nvPr/>
        </p:nvGrpSpPr>
        <p:grpSpPr>
          <a:xfrm>
            <a:off x="8261375" y="1766683"/>
            <a:ext cx="1234611" cy="1730997"/>
            <a:chOff x="7814839" y="1289648"/>
            <a:chExt cx="1234611" cy="1730997"/>
          </a:xfrm>
        </p:grpSpPr>
        <p:grpSp>
          <p:nvGrpSpPr>
            <p:cNvPr id="68" name="Groupe 67">
              <a:extLst>
                <a:ext uri="{FF2B5EF4-FFF2-40B4-BE49-F238E27FC236}">
                  <a16:creationId xmlns:a16="http://schemas.microsoft.com/office/drawing/2014/main" id="{07788589-03A6-C71D-2B49-0C425C43C90A}"/>
                </a:ext>
              </a:extLst>
            </p:cNvPr>
            <p:cNvGrpSpPr/>
            <p:nvPr/>
          </p:nvGrpSpPr>
          <p:grpSpPr>
            <a:xfrm>
              <a:off x="7924195" y="1289648"/>
              <a:ext cx="1004893" cy="847205"/>
              <a:chOff x="5160208" y="3308115"/>
              <a:chExt cx="1230670" cy="1037553"/>
            </a:xfrm>
          </p:grpSpPr>
          <p:pic>
            <p:nvPicPr>
              <p:cNvPr id="31" name="Graphique 30" descr="Utilisateur avec un remplissage uni">
                <a:extLst>
                  <a:ext uri="{FF2B5EF4-FFF2-40B4-BE49-F238E27FC236}">
                    <a16:creationId xmlns:a16="http://schemas.microsoft.com/office/drawing/2014/main" id="{7764A82A-076E-B743-ED34-43A13A1AD6C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478732" y="3308115"/>
                <a:ext cx="336064" cy="336064"/>
              </a:xfrm>
              <a:prstGeom prst="rect">
                <a:avLst/>
              </a:prstGeom>
            </p:spPr>
          </p:pic>
          <p:pic>
            <p:nvPicPr>
              <p:cNvPr id="32" name="Graphique 31" descr="Utilisateur avec un remplissage uni">
                <a:extLst>
                  <a:ext uri="{FF2B5EF4-FFF2-40B4-BE49-F238E27FC236}">
                    <a16:creationId xmlns:a16="http://schemas.microsoft.com/office/drawing/2014/main" id="{F34C5A78-3098-E934-22D4-1A724788A80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231844" y="3545859"/>
                <a:ext cx="336064" cy="336064"/>
              </a:xfrm>
              <a:prstGeom prst="rect">
                <a:avLst/>
              </a:prstGeom>
            </p:spPr>
          </p:pic>
          <p:pic>
            <p:nvPicPr>
              <p:cNvPr id="33" name="Graphique 32" descr="Utilisateur avec un remplissage uni">
                <a:extLst>
                  <a:ext uri="{FF2B5EF4-FFF2-40B4-BE49-F238E27FC236}">
                    <a16:creationId xmlns:a16="http://schemas.microsoft.com/office/drawing/2014/main" id="{4904843A-5B24-3377-6190-BCB8449E24C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523320" y="3595019"/>
                <a:ext cx="336064" cy="336064"/>
              </a:xfrm>
              <a:prstGeom prst="rect">
                <a:avLst/>
              </a:prstGeom>
            </p:spPr>
          </p:pic>
          <p:pic>
            <p:nvPicPr>
              <p:cNvPr id="34" name="Graphique 33" descr="Utilisateur avec un remplissage uni">
                <a:extLst>
                  <a:ext uri="{FF2B5EF4-FFF2-40B4-BE49-F238E27FC236}">
                    <a16:creationId xmlns:a16="http://schemas.microsoft.com/office/drawing/2014/main" id="{A40CA35F-E4B8-DD3B-C8A5-5763048A680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770208" y="3451567"/>
                <a:ext cx="336064" cy="336064"/>
              </a:xfrm>
              <a:prstGeom prst="rect">
                <a:avLst/>
              </a:prstGeom>
            </p:spPr>
          </p:pic>
          <p:pic>
            <p:nvPicPr>
              <p:cNvPr id="35" name="Graphique 34" descr="Utilisateur avec un remplissage uni">
                <a:extLst>
                  <a:ext uri="{FF2B5EF4-FFF2-40B4-BE49-F238E27FC236}">
                    <a16:creationId xmlns:a16="http://schemas.microsoft.com/office/drawing/2014/main" id="{1E91F410-1A31-4477-0D5A-68C3D5219AE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812900" y="3713891"/>
                <a:ext cx="336064" cy="336064"/>
              </a:xfrm>
              <a:prstGeom prst="rect">
                <a:avLst/>
              </a:prstGeom>
            </p:spPr>
          </p:pic>
          <p:pic>
            <p:nvPicPr>
              <p:cNvPr id="36" name="Graphique 35" descr="Utilisateur avec un remplissage uni">
                <a:extLst>
                  <a:ext uri="{FF2B5EF4-FFF2-40B4-BE49-F238E27FC236}">
                    <a16:creationId xmlns:a16="http://schemas.microsoft.com/office/drawing/2014/main" id="{93398A95-CAD9-32D8-9CEA-3C91E697D12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434144" y="3881923"/>
                <a:ext cx="336064" cy="336064"/>
              </a:xfrm>
              <a:prstGeom prst="rect">
                <a:avLst/>
              </a:prstGeom>
            </p:spPr>
          </p:pic>
          <p:pic>
            <p:nvPicPr>
              <p:cNvPr id="37" name="Graphique 36" descr="Utilisateur avec un remplissage uni">
                <a:extLst>
                  <a:ext uri="{FF2B5EF4-FFF2-40B4-BE49-F238E27FC236}">
                    <a16:creationId xmlns:a16="http://schemas.microsoft.com/office/drawing/2014/main" id="{E864CEFA-7E19-4BDE-2B13-70885C60DE4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160208" y="3868167"/>
                <a:ext cx="336064" cy="336064"/>
              </a:xfrm>
              <a:prstGeom prst="rect">
                <a:avLst/>
              </a:prstGeom>
            </p:spPr>
          </p:pic>
          <p:pic>
            <p:nvPicPr>
              <p:cNvPr id="38" name="Graphique 37" descr="Utilisateur avec un remplissage uni">
                <a:extLst>
                  <a:ext uri="{FF2B5EF4-FFF2-40B4-BE49-F238E27FC236}">
                    <a16:creationId xmlns:a16="http://schemas.microsoft.com/office/drawing/2014/main" id="{5AFE5638-3FF3-59C2-07B5-59AD71761C6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698572" y="3976215"/>
                <a:ext cx="336064" cy="336064"/>
              </a:xfrm>
              <a:prstGeom prst="rect">
                <a:avLst/>
              </a:prstGeom>
            </p:spPr>
          </p:pic>
          <p:pic>
            <p:nvPicPr>
              <p:cNvPr id="39" name="Graphique 38" descr="Utilisateur avec un remplissage uni">
                <a:extLst>
                  <a:ext uri="{FF2B5EF4-FFF2-40B4-BE49-F238E27FC236}">
                    <a16:creationId xmlns:a16="http://schemas.microsoft.com/office/drawing/2014/main" id="{06D419E6-F01A-517B-4643-AEA61E2D3F8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920476" y="4009604"/>
                <a:ext cx="336064" cy="336064"/>
              </a:xfrm>
              <a:prstGeom prst="rect">
                <a:avLst/>
              </a:prstGeom>
            </p:spPr>
          </p:pic>
          <p:pic>
            <p:nvPicPr>
              <p:cNvPr id="40" name="Graphique 39" descr="Utilisateur avec un remplissage uni">
                <a:extLst>
                  <a:ext uri="{FF2B5EF4-FFF2-40B4-BE49-F238E27FC236}">
                    <a16:creationId xmlns:a16="http://schemas.microsoft.com/office/drawing/2014/main" id="{2C969C19-F489-C82A-E322-3C27EE52C22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054814" y="3738471"/>
                <a:ext cx="336064" cy="336064"/>
              </a:xfrm>
              <a:prstGeom prst="rect">
                <a:avLst/>
              </a:prstGeom>
            </p:spPr>
          </p:pic>
          <p:pic>
            <p:nvPicPr>
              <p:cNvPr id="41" name="Graphique 40" descr="Utilisateur avec un remplissage uni">
                <a:extLst>
                  <a:ext uri="{FF2B5EF4-FFF2-40B4-BE49-F238E27FC236}">
                    <a16:creationId xmlns:a16="http://schemas.microsoft.com/office/drawing/2014/main" id="{C2A70D9B-9F88-F542-EAC7-162B4924DD2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034636" y="3462139"/>
                <a:ext cx="336064" cy="336064"/>
              </a:xfrm>
              <a:prstGeom prst="rect">
                <a:avLst/>
              </a:prstGeom>
            </p:spPr>
          </p:pic>
        </p:grpSp>
        <p:sp>
          <p:nvSpPr>
            <p:cNvPr id="71" name="ZoneTexte 70">
              <a:extLst>
                <a:ext uri="{FF2B5EF4-FFF2-40B4-BE49-F238E27FC236}">
                  <a16:creationId xmlns:a16="http://schemas.microsoft.com/office/drawing/2014/main" id="{7745114B-7C4F-4465-0F77-CD20FC01226D}"/>
                </a:ext>
              </a:extLst>
            </p:cNvPr>
            <p:cNvSpPr txBox="1"/>
            <p:nvPr/>
          </p:nvSpPr>
          <p:spPr>
            <a:xfrm>
              <a:off x="7814839" y="2374314"/>
              <a:ext cx="1234611" cy="646331"/>
            </a:xfrm>
            <a:prstGeom prst="rect">
              <a:avLst/>
            </a:prstGeom>
            <a:noFill/>
          </p:spPr>
          <p:txBody>
            <a:bodyPr wrap="square">
              <a:spAutoFit/>
            </a:bodyPr>
            <a:lstStyle/>
            <a:p>
              <a:pPr lvl="0" algn="ctr"/>
              <a:r>
                <a:rPr lang="fr-FR" sz="1200" b="1" dirty="0"/>
                <a:t>Communauté massivement soutenue</a:t>
              </a:r>
              <a:endParaRPr lang="fr-FR" sz="1200" dirty="0"/>
            </a:p>
          </p:txBody>
        </p:sp>
      </p:grpSp>
      <p:grpSp>
        <p:nvGrpSpPr>
          <p:cNvPr id="126" name="Groupe 125">
            <a:extLst>
              <a:ext uri="{FF2B5EF4-FFF2-40B4-BE49-F238E27FC236}">
                <a16:creationId xmlns:a16="http://schemas.microsoft.com/office/drawing/2014/main" id="{83DA8CCC-3E4C-51A5-5442-17D67EAF971B}"/>
              </a:ext>
            </a:extLst>
          </p:cNvPr>
          <p:cNvGrpSpPr/>
          <p:nvPr/>
        </p:nvGrpSpPr>
        <p:grpSpPr>
          <a:xfrm>
            <a:off x="5604687" y="1766683"/>
            <a:ext cx="1234611" cy="1662317"/>
            <a:chOff x="4727856" y="2939324"/>
            <a:chExt cx="1234611" cy="1662317"/>
          </a:xfrm>
        </p:grpSpPr>
        <p:grpSp>
          <p:nvGrpSpPr>
            <p:cNvPr id="69" name="Groupe 68">
              <a:extLst>
                <a:ext uri="{FF2B5EF4-FFF2-40B4-BE49-F238E27FC236}">
                  <a16:creationId xmlns:a16="http://schemas.microsoft.com/office/drawing/2014/main" id="{3FF3C2E0-E341-7C46-48D5-4230DD8DD28C}"/>
                </a:ext>
              </a:extLst>
            </p:cNvPr>
            <p:cNvGrpSpPr/>
            <p:nvPr/>
          </p:nvGrpSpPr>
          <p:grpSpPr>
            <a:xfrm>
              <a:off x="4842715" y="2939324"/>
              <a:ext cx="1004893" cy="847205"/>
              <a:chOff x="7146490" y="3274976"/>
              <a:chExt cx="1230670" cy="1037553"/>
            </a:xfrm>
          </p:grpSpPr>
          <p:pic>
            <p:nvPicPr>
              <p:cNvPr id="42" name="Graphique 41" descr="Utilisateur avec un remplissage uni">
                <a:extLst>
                  <a:ext uri="{FF2B5EF4-FFF2-40B4-BE49-F238E27FC236}">
                    <a16:creationId xmlns:a16="http://schemas.microsoft.com/office/drawing/2014/main" id="{62BAA293-5013-E797-F209-B4B43D3B317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65014" y="3274976"/>
                <a:ext cx="336064" cy="336064"/>
              </a:xfrm>
              <a:prstGeom prst="rect">
                <a:avLst/>
              </a:prstGeom>
            </p:spPr>
          </p:pic>
          <p:pic>
            <p:nvPicPr>
              <p:cNvPr id="43" name="Graphique 42" descr="Utilisateur avec un remplissage uni">
                <a:extLst>
                  <a:ext uri="{FF2B5EF4-FFF2-40B4-BE49-F238E27FC236}">
                    <a16:creationId xmlns:a16="http://schemas.microsoft.com/office/drawing/2014/main" id="{25367222-3320-02A6-00B6-392FC0B7154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218126" y="3512720"/>
                <a:ext cx="336064" cy="336064"/>
              </a:xfrm>
              <a:prstGeom prst="rect">
                <a:avLst/>
              </a:prstGeom>
            </p:spPr>
          </p:pic>
          <p:pic>
            <p:nvPicPr>
              <p:cNvPr id="44" name="Graphique 43" descr="Utilisateur avec un remplissage uni">
                <a:extLst>
                  <a:ext uri="{FF2B5EF4-FFF2-40B4-BE49-F238E27FC236}">
                    <a16:creationId xmlns:a16="http://schemas.microsoft.com/office/drawing/2014/main" id="{97275152-9D31-0035-4C90-30E54F2B774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509602" y="3561880"/>
                <a:ext cx="336064" cy="336064"/>
              </a:xfrm>
              <a:prstGeom prst="rect">
                <a:avLst/>
              </a:prstGeom>
            </p:spPr>
          </p:pic>
          <p:pic>
            <p:nvPicPr>
              <p:cNvPr id="45" name="Graphique 44" descr="Utilisateur avec un remplissage uni">
                <a:extLst>
                  <a:ext uri="{FF2B5EF4-FFF2-40B4-BE49-F238E27FC236}">
                    <a16:creationId xmlns:a16="http://schemas.microsoft.com/office/drawing/2014/main" id="{D6C1545E-B48D-1BF1-E24D-39C3986E944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756490" y="3418428"/>
                <a:ext cx="336064" cy="336064"/>
              </a:xfrm>
              <a:prstGeom prst="rect">
                <a:avLst/>
              </a:prstGeom>
            </p:spPr>
          </p:pic>
          <p:pic>
            <p:nvPicPr>
              <p:cNvPr id="46" name="Graphique 45" descr="Utilisateur avec un remplissage uni">
                <a:extLst>
                  <a:ext uri="{FF2B5EF4-FFF2-40B4-BE49-F238E27FC236}">
                    <a16:creationId xmlns:a16="http://schemas.microsoft.com/office/drawing/2014/main" id="{1FF02EE8-C8C3-D416-5BF3-33C00850D78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799182" y="3680752"/>
                <a:ext cx="336064" cy="336064"/>
              </a:xfrm>
              <a:prstGeom prst="rect">
                <a:avLst/>
              </a:prstGeom>
            </p:spPr>
          </p:pic>
          <p:pic>
            <p:nvPicPr>
              <p:cNvPr id="47" name="Graphique 46" descr="Utilisateur avec un remplissage uni">
                <a:extLst>
                  <a:ext uri="{FF2B5EF4-FFF2-40B4-BE49-F238E27FC236}">
                    <a16:creationId xmlns:a16="http://schemas.microsoft.com/office/drawing/2014/main" id="{5219EDCB-BB21-5242-EF88-75E5658E1A0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420426" y="3848784"/>
                <a:ext cx="336064" cy="336064"/>
              </a:xfrm>
              <a:prstGeom prst="rect">
                <a:avLst/>
              </a:prstGeom>
            </p:spPr>
          </p:pic>
          <p:pic>
            <p:nvPicPr>
              <p:cNvPr id="48" name="Graphique 47" descr="Utilisateur avec un remplissage uni">
                <a:extLst>
                  <a:ext uri="{FF2B5EF4-FFF2-40B4-BE49-F238E27FC236}">
                    <a16:creationId xmlns:a16="http://schemas.microsoft.com/office/drawing/2014/main" id="{A6B79196-ABFE-2104-8037-44EF2C1079A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146490" y="3835028"/>
                <a:ext cx="336064" cy="336064"/>
              </a:xfrm>
              <a:prstGeom prst="rect">
                <a:avLst/>
              </a:prstGeom>
            </p:spPr>
          </p:pic>
          <p:pic>
            <p:nvPicPr>
              <p:cNvPr id="49" name="Graphique 48" descr="Utilisateur avec un remplissage uni">
                <a:extLst>
                  <a:ext uri="{FF2B5EF4-FFF2-40B4-BE49-F238E27FC236}">
                    <a16:creationId xmlns:a16="http://schemas.microsoft.com/office/drawing/2014/main" id="{4D123222-794D-EEB6-B981-FB146BE9F65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684854" y="3943076"/>
                <a:ext cx="336064" cy="336064"/>
              </a:xfrm>
              <a:prstGeom prst="rect">
                <a:avLst/>
              </a:prstGeom>
            </p:spPr>
          </p:pic>
          <p:pic>
            <p:nvPicPr>
              <p:cNvPr id="50" name="Graphique 49" descr="Utilisateur avec un remplissage uni">
                <a:extLst>
                  <a:ext uri="{FF2B5EF4-FFF2-40B4-BE49-F238E27FC236}">
                    <a16:creationId xmlns:a16="http://schemas.microsoft.com/office/drawing/2014/main" id="{3743344F-72ED-D7DE-FB0D-47B285E3216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06758" y="3976465"/>
                <a:ext cx="336064" cy="336064"/>
              </a:xfrm>
              <a:prstGeom prst="rect">
                <a:avLst/>
              </a:prstGeom>
            </p:spPr>
          </p:pic>
          <p:pic>
            <p:nvPicPr>
              <p:cNvPr id="51" name="Graphique 50" descr="Utilisateur avec un remplissage uni">
                <a:extLst>
                  <a:ext uri="{FF2B5EF4-FFF2-40B4-BE49-F238E27FC236}">
                    <a16:creationId xmlns:a16="http://schemas.microsoft.com/office/drawing/2014/main" id="{9242942C-02CA-E70C-7D40-CBF58F14D52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041096" y="3705332"/>
                <a:ext cx="336064" cy="336064"/>
              </a:xfrm>
              <a:prstGeom prst="rect">
                <a:avLst/>
              </a:prstGeom>
            </p:spPr>
          </p:pic>
          <p:pic>
            <p:nvPicPr>
              <p:cNvPr id="52" name="Graphique 51" descr="Utilisateur avec un remplissage uni">
                <a:extLst>
                  <a:ext uri="{FF2B5EF4-FFF2-40B4-BE49-F238E27FC236}">
                    <a16:creationId xmlns:a16="http://schemas.microsoft.com/office/drawing/2014/main" id="{D0B5433F-CDA3-4BB9-9606-589EB9EE1EC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020918" y="3429000"/>
                <a:ext cx="336064" cy="336064"/>
              </a:xfrm>
              <a:prstGeom prst="rect">
                <a:avLst/>
              </a:prstGeom>
            </p:spPr>
          </p:pic>
        </p:grpSp>
        <p:sp>
          <p:nvSpPr>
            <p:cNvPr id="72" name="ZoneTexte 71">
              <a:extLst>
                <a:ext uri="{FF2B5EF4-FFF2-40B4-BE49-F238E27FC236}">
                  <a16:creationId xmlns:a16="http://schemas.microsoft.com/office/drawing/2014/main" id="{86EC8E81-F608-9102-1933-2242F66E282A}"/>
                </a:ext>
              </a:extLst>
            </p:cNvPr>
            <p:cNvSpPr txBox="1"/>
            <p:nvPr/>
          </p:nvSpPr>
          <p:spPr>
            <a:xfrm>
              <a:off x="4727856" y="3955310"/>
              <a:ext cx="1234611" cy="646331"/>
            </a:xfrm>
            <a:prstGeom prst="rect">
              <a:avLst/>
            </a:prstGeom>
            <a:noFill/>
          </p:spPr>
          <p:txBody>
            <a:bodyPr wrap="square">
              <a:spAutoFit/>
            </a:bodyPr>
            <a:lstStyle/>
            <a:p>
              <a:pPr lvl="0" algn="ctr"/>
              <a:r>
                <a:rPr lang="fr-FR" sz="1200" b="1" dirty="0"/>
                <a:t>Communauté d’entreprise soutenue</a:t>
              </a:r>
              <a:endParaRPr lang="fr-FR" sz="1200" dirty="0"/>
            </a:p>
          </p:txBody>
        </p:sp>
      </p:grpSp>
      <p:grpSp>
        <p:nvGrpSpPr>
          <p:cNvPr id="127" name="Groupe 126">
            <a:extLst>
              <a:ext uri="{FF2B5EF4-FFF2-40B4-BE49-F238E27FC236}">
                <a16:creationId xmlns:a16="http://schemas.microsoft.com/office/drawing/2014/main" id="{111C1CA9-040C-5F36-6A81-D2299D67F531}"/>
              </a:ext>
            </a:extLst>
          </p:cNvPr>
          <p:cNvGrpSpPr/>
          <p:nvPr/>
        </p:nvGrpSpPr>
        <p:grpSpPr>
          <a:xfrm>
            <a:off x="6933031" y="1766683"/>
            <a:ext cx="1234611" cy="1860830"/>
            <a:chOff x="6265567" y="2309683"/>
            <a:chExt cx="1234611" cy="1860830"/>
          </a:xfrm>
        </p:grpSpPr>
        <p:grpSp>
          <p:nvGrpSpPr>
            <p:cNvPr id="70" name="Groupe 69">
              <a:extLst>
                <a:ext uri="{FF2B5EF4-FFF2-40B4-BE49-F238E27FC236}">
                  <a16:creationId xmlns:a16="http://schemas.microsoft.com/office/drawing/2014/main" id="{A166FD07-4F2B-54A9-E958-10FE9BF21663}"/>
                </a:ext>
              </a:extLst>
            </p:cNvPr>
            <p:cNvGrpSpPr/>
            <p:nvPr/>
          </p:nvGrpSpPr>
          <p:grpSpPr>
            <a:xfrm>
              <a:off x="6380426" y="2309683"/>
              <a:ext cx="1004893" cy="847205"/>
              <a:chOff x="8982504" y="3274976"/>
              <a:chExt cx="1230670" cy="1037553"/>
            </a:xfrm>
          </p:grpSpPr>
          <p:pic>
            <p:nvPicPr>
              <p:cNvPr id="53" name="Graphique 52" descr="Utilisateur avec un remplissage uni">
                <a:extLst>
                  <a:ext uri="{FF2B5EF4-FFF2-40B4-BE49-F238E27FC236}">
                    <a16:creationId xmlns:a16="http://schemas.microsoft.com/office/drawing/2014/main" id="{6470B7D0-87B9-45E7-A1AE-A91292D656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54" name="Graphique 53" descr="Utilisateur avec un remplissage uni">
                <a:extLst>
                  <a:ext uri="{FF2B5EF4-FFF2-40B4-BE49-F238E27FC236}">
                    <a16:creationId xmlns:a16="http://schemas.microsoft.com/office/drawing/2014/main" id="{B67B3AAA-F911-3285-5A9D-C2999584A6D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55" name="Graphique 54" descr="Utilisateur avec un remplissage uni">
                <a:extLst>
                  <a:ext uri="{FF2B5EF4-FFF2-40B4-BE49-F238E27FC236}">
                    <a16:creationId xmlns:a16="http://schemas.microsoft.com/office/drawing/2014/main" id="{33FA4526-DF48-39A1-08F8-F48CDD09C87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345616" y="3561880"/>
                <a:ext cx="336064" cy="336064"/>
              </a:xfrm>
              <a:prstGeom prst="rect">
                <a:avLst/>
              </a:prstGeom>
            </p:spPr>
          </p:pic>
          <p:pic>
            <p:nvPicPr>
              <p:cNvPr id="56" name="Graphique 55" descr="Utilisateur avec un remplissage uni">
                <a:extLst>
                  <a:ext uri="{FF2B5EF4-FFF2-40B4-BE49-F238E27FC236}">
                    <a16:creationId xmlns:a16="http://schemas.microsoft.com/office/drawing/2014/main" id="{A342AED5-5037-59EC-4ACA-115955E1D65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592504" y="3418428"/>
                <a:ext cx="336064" cy="336064"/>
              </a:xfrm>
              <a:prstGeom prst="rect">
                <a:avLst/>
              </a:prstGeom>
            </p:spPr>
          </p:pic>
          <p:pic>
            <p:nvPicPr>
              <p:cNvPr id="57" name="Graphique 56" descr="Utilisateur avec un remplissage uni">
                <a:extLst>
                  <a:ext uri="{FF2B5EF4-FFF2-40B4-BE49-F238E27FC236}">
                    <a16:creationId xmlns:a16="http://schemas.microsoft.com/office/drawing/2014/main" id="{1775B333-CD21-66A0-F0C7-776346FCA5F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635196" y="3680752"/>
                <a:ext cx="336064" cy="336064"/>
              </a:xfrm>
              <a:prstGeom prst="rect">
                <a:avLst/>
              </a:prstGeom>
            </p:spPr>
          </p:pic>
          <p:pic>
            <p:nvPicPr>
              <p:cNvPr id="58" name="Graphique 57" descr="Utilisateur avec un remplissage uni">
                <a:extLst>
                  <a:ext uri="{FF2B5EF4-FFF2-40B4-BE49-F238E27FC236}">
                    <a16:creationId xmlns:a16="http://schemas.microsoft.com/office/drawing/2014/main" id="{2811BE26-16E4-0E1F-721A-DC99ACD30C7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256440" y="3848784"/>
                <a:ext cx="336064" cy="336064"/>
              </a:xfrm>
              <a:prstGeom prst="rect">
                <a:avLst/>
              </a:prstGeom>
            </p:spPr>
          </p:pic>
          <p:pic>
            <p:nvPicPr>
              <p:cNvPr id="59" name="Graphique 58" descr="Utilisateur avec un remplissage uni">
                <a:extLst>
                  <a:ext uri="{FF2B5EF4-FFF2-40B4-BE49-F238E27FC236}">
                    <a16:creationId xmlns:a16="http://schemas.microsoft.com/office/drawing/2014/main" id="{EB295D86-2CBC-6319-3B86-2EA2A60B149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982504" y="3835028"/>
                <a:ext cx="336064" cy="336064"/>
              </a:xfrm>
              <a:prstGeom prst="rect">
                <a:avLst/>
              </a:prstGeom>
            </p:spPr>
          </p:pic>
          <p:pic>
            <p:nvPicPr>
              <p:cNvPr id="60" name="Graphique 59" descr="Utilisateur avec un remplissage uni">
                <a:extLst>
                  <a:ext uri="{FF2B5EF4-FFF2-40B4-BE49-F238E27FC236}">
                    <a16:creationId xmlns:a16="http://schemas.microsoft.com/office/drawing/2014/main" id="{A1FF8083-0AA6-7EB2-69D1-645DF59A890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520868" y="3943076"/>
                <a:ext cx="336064" cy="336064"/>
              </a:xfrm>
              <a:prstGeom prst="rect">
                <a:avLst/>
              </a:prstGeom>
            </p:spPr>
          </p:pic>
          <p:pic>
            <p:nvPicPr>
              <p:cNvPr id="61" name="Graphique 60" descr="Utilisateur avec un remplissage uni">
                <a:extLst>
                  <a:ext uri="{FF2B5EF4-FFF2-40B4-BE49-F238E27FC236}">
                    <a16:creationId xmlns:a16="http://schemas.microsoft.com/office/drawing/2014/main" id="{22E57485-E236-86C4-7837-06335B403CE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742772" y="3976465"/>
                <a:ext cx="336064" cy="336064"/>
              </a:xfrm>
              <a:prstGeom prst="rect">
                <a:avLst/>
              </a:prstGeom>
            </p:spPr>
          </p:pic>
          <p:pic>
            <p:nvPicPr>
              <p:cNvPr id="62" name="Graphique 61" descr="Utilisateur avec un remplissage uni">
                <a:extLst>
                  <a:ext uri="{FF2B5EF4-FFF2-40B4-BE49-F238E27FC236}">
                    <a16:creationId xmlns:a16="http://schemas.microsoft.com/office/drawing/2014/main" id="{44DC4D50-A64E-AB75-B6FA-5D968EE5C42B}"/>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77110" y="3705332"/>
                <a:ext cx="336064" cy="336064"/>
              </a:xfrm>
              <a:prstGeom prst="rect">
                <a:avLst/>
              </a:prstGeom>
            </p:spPr>
          </p:pic>
          <p:pic>
            <p:nvPicPr>
              <p:cNvPr id="63" name="Graphique 62" descr="Utilisateur avec un remplissage uni">
                <a:extLst>
                  <a:ext uri="{FF2B5EF4-FFF2-40B4-BE49-F238E27FC236}">
                    <a16:creationId xmlns:a16="http://schemas.microsoft.com/office/drawing/2014/main" id="{065EF49D-8C2B-4434-B424-2AC7B5151C1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56932" y="3429000"/>
                <a:ext cx="336064" cy="336064"/>
              </a:xfrm>
              <a:prstGeom prst="rect">
                <a:avLst/>
              </a:prstGeom>
            </p:spPr>
          </p:pic>
        </p:grpSp>
        <p:sp>
          <p:nvSpPr>
            <p:cNvPr id="73" name="ZoneTexte 72">
              <a:extLst>
                <a:ext uri="{FF2B5EF4-FFF2-40B4-BE49-F238E27FC236}">
                  <a16:creationId xmlns:a16="http://schemas.microsoft.com/office/drawing/2014/main" id="{E51C4F73-2C38-7AEA-4396-6517304A17B6}"/>
                </a:ext>
              </a:extLst>
            </p:cNvPr>
            <p:cNvSpPr txBox="1"/>
            <p:nvPr/>
          </p:nvSpPr>
          <p:spPr>
            <a:xfrm>
              <a:off x="6265567" y="3339516"/>
              <a:ext cx="1234611" cy="830997"/>
            </a:xfrm>
            <a:prstGeom prst="rect">
              <a:avLst/>
            </a:prstGeom>
            <a:noFill/>
          </p:spPr>
          <p:txBody>
            <a:bodyPr wrap="square">
              <a:spAutoFit/>
            </a:bodyPr>
            <a:lstStyle/>
            <a:p>
              <a:pPr lvl="0" algn="ctr"/>
              <a:r>
                <a:rPr lang="fr-FR" sz="1200" b="1" dirty="0"/>
                <a:t>Communauté d’entreprise officiellement animée</a:t>
              </a:r>
              <a:endParaRPr lang="fr-FR" sz="1200" dirty="0"/>
            </a:p>
          </p:txBody>
        </p:sp>
      </p:grpSp>
      <p:grpSp>
        <p:nvGrpSpPr>
          <p:cNvPr id="124" name="Groupe 123">
            <a:extLst>
              <a:ext uri="{FF2B5EF4-FFF2-40B4-BE49-F238E27FC236}">
                <a16:creationId xmlns:a16="http://schemas.microsoft.com/office/drawing/2014/main" id="{CC9DC39A-1059-C0B7-0C31-905D5DF30379}"/>
              </a:ext>
            </a:extLst>
          </p:cNvPr>
          <p:cNvGrpSpPr/>
          <p:nvPr/>
        </p:nvGrpSpPr>
        <p:grpSpPr>
          <a:xfrm>
            <a:off x="1619655" y="1766683"/>
            <a:ext cx="1234611" cy="1500187"/>
            <a:chOff x="1652434" y="3869336"/>
            <a:chExt cx="1234611" cy="1500187"/>
          </a:xfrm>
        </p:grpSpPr>
        <p:sp>
          <p:nvSpPr>
            <p:cNvPr id="74" name="ZoneTexte 73">
              <a:extLst>
                <a:ext uri="{FF2B5EF4-FFF2-40B4-BE49-F238E27FC236}">
                  <a16:creationId xmlns:a16="http://schemas.microsoft.com/office/drawing/2014/main" id="{329C2CFD-4E60-F875-C658-F6BDE66A7673}"/>
                </a:ext>
              </a:extLst>
            </p:cNvPr>
            <p:cNvSpPr txBox="1"/>
            <p:nvPr/>
          </p:nvSpPr>
          <p:spPr>
            <a:xfrm>
              <a:off x="1652434" y="4907858"/>
              <a:ext cx="1234611" cy="461665"/>
            </a:xfrm>
            <a:prstGeom prst="rect">
              <a:avLst/>
            </a:prstGeom>
            <a:noFill/>
          </p:spPr>
          <p:txBody>
            <a:bodyPr wrap="square">
              <a:spAutoFit/>
            </a:bodyPr>
            <a:lstStyle/>
            <a:p>
              <a:pPr lvl="0" algn="ctr"/>
              <a:r>
                <a:rPr lang="fr-FR" sz="1200" b="1" dirty="0"/>
                <a:t>Communauté pro / perso </a:t>
              </a:r>
            </a:p>
          </p:txBody>
        </p:sp>
        <p:grpSp>
          <p:nvGrpSpPr>
            <p:cNvPr id="75" name="Groupe 74">
              <a:extLst>
                <a:ext uri="{FF2B5EF4-FFF2-40B4-BE49-F238E27FC236}">
                  <a16:creationId xmlns:a16="http://schemas.microsoft.com/office/drawing/2014/main" id="{27FDAD60-206C-E634-A1C3-A3D93B41F46E}"/>
                </a:ext>
              </a:extLst>
            </p:cNvPr>
            <p:cNvGrpSpPr/>
            <p:nvPr/>
          </p:nvGrpSpPr>
          <p:grpSpPr>
            <a:xfrm>
              <a:off x="1767293" y="3869336"/>
              <a:ext cx="1004893" cy="847205"/>
              <a:chOff x="8982504" y="3274976"/>
              <a:chExt cx="1230670" cy="1037553"/>
            </a:xfrm>
            <a:solidFill>
              <a:srgbClr val="ED7D31"/>
            </a:solidFill>
          </p:grpSpPr>
          <p:pic>
            <p:nvPicPr>
              <p:cNvPr id="76" name="Graphique 75" descr="Utilisateur avec un remplissage uni">
                <a:extLst>
                  <a:ext uri="{FF2B5EF4-FFF2-40B4-BE49-F238E27FC236}">
                    <a16:creationId xmlns:a16="http://schemas.microsoft.com/office/drawing/2014/main" id="{07234F4E-D63B-AA1A-879C-321957836901}"/>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301028" y="3274976"/>
                <a:ext cx="336064" cy="336064"/>
              </a:xfrm>
              <a:prstGeom prst="rect">
                <a:avLst/>
              </a:prstGeom>
            </p:spPr>
          </p:pic>
          <p:pic>
            <p:nvPicPr>
              <p:cNvPr id="77" name="Graphique 76" descr="Utilisateur avec un remplissage uni">
                <a:extLst>
                  <a:ext uri="{FF2B5EF4-FFF2-40B4-BE49-F238E27FC236}">
                    <a16:creationId xmlns:a16="http://schemas.microsoft.com/office/drawing/2014/main" id="{7FE735AF-39D8-02AA-A93F-DF797A1E77D8}"/>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054140" y="3512720"/>
                <a:ext cx="336064" cy="336064"/>
              </a:xfrm>
              <a:prstGeom prst="rect">
                <a:avLst/>
              </a:prstGeom>
            </p:spPr>
          </p:pic>
          <p:pic>
            <p:nvPicPr>
              <p:cNvPr id="78" name="Graphique 77" descr="Utilisateur avec un remplissage uni">
                <a:extLst>
                  <a:ext uri="{FF2B5EF4-FFF2-40B4-BE49-F238E27FC236}">
                    <a16:creationId xmlns:a16="http://schemas.microsoft.com/office/drawing/2014/main" id="{830A84A4-2D5C-6266-32F1-347D8705E2B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345616" y="3561880"/>
                <a:ext cx="336064" cy="336064"/>
              </a:xfrm>
              <a:prstGeom prst="rect">
                <a:avLst/>
              </a:prstGeom>
            </p:spPr>
          </p:pic>
          <p:pic>
            <p:nvPicPr>
              <p:cNvPr id="79" name="Graphique 78" descr="Utilisateur avec un remplissage uni">
                <a:extLst>
                  <a:ext uri="{FF2B5EF4-FFF2-40B4-BE49-F238E27FC236}">
                    <a16:creationId xmlns:a16="http://schemas.microsoft.com/office/drawing/2014/main" id="{8A32E1C6-F528-45A7-6BA6-C711D3186A3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592504" y="3418428"/>
                <a:ext cx="336064" cy="336064"/>
              </a:xfrm>
              <a:prstGeom prst="rect">
                <a:avLst/>
              </a:prstGeom>
            </p:spPr>
          </p:pic>
          <p:pic>
            <p:nvPicPr>
              <p:cNvPr id="80" name="Graphique 79" descr="Utilisateur avec un remplissage uni">
                <a:extLst>
                  <a:ext uri="{FF2B5EF4-FFF2-40B4-BE49-F238E27FC236}">
                    <a16:creationId xmlns:a16="http://schemas.microsoft.com/office/drawing/2014/main" id="{7B98E08F-CB96-660A-0E66-CAC0A630AFD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635196" y="3680752"/>
                <a:ext cx="336064" cy="336064"/>
              </a:xfrm>
              <a:prstGeom prst="rect">
                <a:avLst/>
              </a:prstGeom>
            </p:spPr>
          </p:pic>
          <p:pic>
            <p:nvPicPr>
              <p:cNvPr id="81" name="Graphique 80" descr="Utilisateur avec un remplissage uni">
                <a:extLst>
                  <a:ext uri="{FF2B5EF4-FFF2-40B4-BE49-F238E27FC236}">
                    <a16:creationId xmlns:a16="http://schemas.microsoft.com/office/drawing/2014/main" id="{3DD040C2-42BE-7D53-7913-9F1902E55EC0}"/>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256440" y="3848784"/>
                <a:ext cx="336064" cy="336064"/>
              </a:xfrm>
              <a:prstGeom prst="rect">
                <a:avLst/>
              </a:prstGeom>
            </p:spPr>
          </p:pic>
          <p:pic>
            <p:nvPicPr>
              <p:cNvPr id="82" name="Graphique 81" descr="Utilisateur avec un remplissage uni">
                <a:extLst>
                  <a:ext uri="{FF2B5EF4-FFF2-40B4-BE49-F238E27FC236}">
                    <a16:creationId xmlns:a16="http://schemas.microsoft.com/office/drawing/2014/main" id="{FEB1819B-20F5-D8A5-F24F-9F2858E0D68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982504" y="3835028"/>
                <a:ext cx="336064" cy="336064"/>
              </a:xfrm>
              <a:prstGeom prst="rect">
                <a:avLst/>
              </a:prstGeom>
            </p:spPr>
          </p:pic>
          <p:pic>
            <p:nvPicPr>
              <p:cNvPr id="83" name="Graphique 82" descr="Utilisateur avec un remplissage uni">
                <a:extLst>
                  <a:ext uri="{FF2B5EF4-FFF2-40B4-BE49-F238E27FC236}">
                    <a16:creationId xmlns:a16="http://schemas.microsoft.com/office/drawing/2014/main" id="{8C9E49A4-9AE0-CC2B-4226-8B3F1C8399A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520868" y="39430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7E05C734-D6EB-09D2-95EB-B384E527D8C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742772" y="3976465"/>
                <a:ext cx="336064" cy="336064"/>
              </a:xfrm>
              <a:prstGeom prst="rect">
                <a:avLst/>
              </a:prstGeom>
            </p:spPr>
          </p:pic>
          <p:pic>
            <p:nvPicPr>
              <p:cNvPr id="85" name="Graphique 84" descr="Utilisateur avec un remplissage uni">
                <a:extLst>
                  <a:ext uri="{FF2B5EF4-FFF2-40B4-BE49-F238E27FC236}">
                    <a16:creationId xmlns:a16="http://schemas.microsoft.com/office/drawing/2014/main" id="{6F5D7871-BFB1-2DAF-0F9C-09B9E8D1BFB0}"/>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877110" y="3705332"/>
                <a:ext cx="336064" cy="336064"/>
              </a:xfrm>
              <a:prstGeom prst="rect">
                <a:avLst/>
              </a:prstGeom>
            </p:spPr>
          </p:pic>
          <p:pic>
            <p:nvPicPr>
              <p:cNvPr id="86" name="Graphique 85" descr="Utilisateur avec un remplissage uni">
                <a:extLst>
                  <a:ext uri="{FF2B5EF4-FFF2-40B4-BE49-F238E27FC236}">
                    <a16:creationId xmlns:a16="http://schemas.microsoft.com/office/drawing/2014/main" id="{C066D996-7EFC-549E-A9B9-FC94B0A85F3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56932" y="3429000"/>
                <a:ext cx="336064" cy="336064"/>
              </a:xfrm>
              <a:prstGeom prst="rect">
                <a:avLst/>
              </a:prstGeom>
            </p:spPr>
          </p:pic>
        </p:grpSp>
      </p:grpSp>
      <p:grpSp>
        <p:nvGrpSpPr>
          <p:cNvPr id="125" name="Groupe 124">
            <a:extLst>
              <a:ext uri="{FF2B5EF4-FFF2-40B4-BE49-F238E27FC236}">
                <a16:creationId xmlns:a16="http://schemas.microsoft.com/office/drawing/2014/main" id="{1434ABF2-6961-11AB-E8F3-4372FDBED374}"/>
              </a:ext>
            </a:extLst>
          </p:cNvPr>
          <p:cNvGrpSpPr/>
          <p:nvPr/>
        </p:nvGrpSpPr>
        <p:grpSpPr>
          <a:xfrm>
            <a:off x="4276343" y="1766683"/>
            <a:ext cx="1234611" cy="1662317"/>
            <a:chOff x="3190145" y="3404330"/>
            <a:chExt cx="1234611" cy="1662317"/>
          </a:xfrm>
        </p:grpSpPr>
        <p:grpSp>
          <p:nvGrpSpPr>
            <p:cNvPr id="107" name="Groupe 106">
              <a:extLst>
                <a:ext uri="{FF2B5EF4-FFF2-40B4-BE49-F238E27FC236}">
                  <a16:creationId xmlns:a16="http://schemas.microsoft.com/office/drawing/2014/main" id="{322E30C0-181A-D227-4D91-ED87E3B3DBA6}"/>
                </a:ext>
              </a:extLst>
            </p:cNvPr>
            <p:cNvGrpSpPr/>
            <p:nvPr/>
          </p:nvGrpSpPr>
          <p:grpSpPr>
            <a:xfrm>
              <a:off x="3305004" y="3404330"/>
              <a:ext cx="1004893" cy="847205"/>
              <a:chOff x="7146490" y="3274976"/>
              <a:chExt cx="1230670" cy="1037553"/>
            </a:xfrm>
          </p:grpSpPr>
          <p:pic>
            <p:nvPicPr>
              <p:cNvPr id="109" name="Graphique 108" descr="Utilisateur avec un remplissage uni">
                <a:extLst>
                  <a:ext uri="{FF2B5EF4-FFF2-40B4-BE49-F238E27FC236}">
                    <a16:creationId xmlns:a16="http://schemas.microsoft.com/office/drawing/2014/main" id="{EE9E0AD0-6B6F-3C4B-A8D1-B1D7289E3254}"/>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465014" y="3274976"/>
                <a:ext cx="336064" cy="336064"/>
              </a:xfrm>
              <a:prstGeom prst="rect">
                <a:avLst/>
              </a:prstGeom>
            </p:spPr>
          </p:pic>
          <p:pic>
            <p:nvPicPr>
              <p:cNvPr id="110" name="Graphique 109" descr="Utilisateur avec un remplissage uni">
                <a:extLst>
                  <a:ext uri="{FF2B5EF4-FFF2-40B4-BE49-F238E27FC236}">
                    <a16:creationId xmlns:a16="http://schemas.microsoft.com/office/drawing/2014/main" id="{9F8E261D-211D-3752-92CB-89D512764C9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218126" y="3512720"/>
                <a:ext cx="336064" cy="336064"/>
              </a:xfrm>
              <a:prstGeom prst="rect">
                <a:avLst/>
              </a:prstGeom>
            </p:spPr>
          </p:pic>
          <p:pic>
            <p:nvPicPr>
              <p:cNvPr id="111" name="Graphique 110" descr="Utilisateur avec un remplissage uni">
                <a:extLst>
                  <a:ext uri="{FF2B5EF4-FFF2-40B4-BE49-F238E27FC236}">
                    <a16:creationId xmlns:a16="http://schemas.microsoft.com/office/drawing/2014/main" id="{8C9162C6-D30B-336A-40E4-6CE5128607F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509602" y="3561880"/>
                <a:ext cx="336064" cy="336064"/>
              </a:xfrm>
              <a:prstGeom prst="rect">
                <a:avLst/>
              </a:prstGeom>
            </p:spPr>
          </p:pic>
          <p:pic>
            <p:nvPicPr>
              <p:cNvPr id="112" name="Graphique 111" descr="Utilisateur avec un remplissage uni">
                <a:extLst>
                  <a:ext uri="{FF2B5EF4-FFF2-40B4-BE49-F238E27FC236}">
                    <a16:creationId xmlns:a16="http://schemas.microsoft.com/office/drawing/2014/main" id="{237E471B-BECD-5220-A490-8C606AE92CB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756490" y="3418428"/>
                <a:ext cx="336064" cy="336064"/>
              </a:xfrm>
              <a:prstGeom prst="rect">
                <a:avLst/>
              </a:prstGeom>
            </p:spPr>
          </p:pic>
          <p:pic>
            <p:nvPicPr>
              <p:cNvPr id="113" name="Graphique 112" descr="Utilisateur avec un remplissage uni">
                <a:extLst>
                  <a:ext uri="{FF2B5EF4-FFF2-40B4-BE49-F238E27FC236}">
                    <a16:creationId xmlns:a16="http://schemas.microsoft.com/office/drawing/2014/main" id="{3C989EF6-6F01-0A51-C960-1E6721B7910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799182" y="3680752"/>
                <a:ext cx="336064" cy="336064"/>
              </a:xfrm>
              <a:prstGeom prst="rect">
                <a:avLst/>
              </a:prstGeom>
            </p:spPr>
          </p:pic>
          <p:pic>
            <p:nvPicPr>
              <p:cNvPr id="114" name="Graphique 113" descr="Utilisateur avec un remplissage uni">
                <a:extLst>
                  <a:ext uri="{FF2B5EF4-FFF2-40B4-BE49-F238E27FC236}">
                    <a16:creationId xmlns:a16="http://schemas.microsoft.com/office/drawing/2014/main" id="{E78DF592-772A-6EAF-C2F4-7A6967E77CCB}"/>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420426" y="3848784"/>
                <a:ext cx="336064" cy="336064"/>
              </a:xfrm>
              <a:prstGeom prst="rect">
                <a:avLst/>
              </a:prstGeom>
            </p:spPr>
          </p:pic>
          <p:pic>
            <p:nvPicPr>
              <p:cNvPr id="115" name="Graphique 114" descr="Utilisateur avec un remplissage uni">
                <a:extLst>
                  <a:ext uri="{FF2B5EF4-FFF2-40B4-BE49-F238E27FC236}">
                    <a16:creationId xmlns:a16="http://schemas.microsoft.com/office/drawing/2014/main" id="{9C587D8E-E053-681F-1858-D58A8D669FF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146490" y="3835028"/>
                <a:ext cx="336064" cy="336064"/>
              </a:xfrm>
              <a:prstGeom prst="rect">
                <a:avLst/>
              </a:prstGeom>
            </p:spPr>
          </p:pic>
          <p:pic>
            <p:nvPicPr>
              <p:cNvPr id="116" name="Graphique 115" descr="Utilisateur avec un remplissage uni">
                <a:extLst>
                  <a:ext uri="{FF2B5EF4-FFF2-40B4-BE49-F238E27FC236}">
                    <a16:creationId xmlns:a16="http://schemas.microsoft.com/office/drawing/2014/main" id="{71020543-43EA-7A65-00DA-1FF3B87D67B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684854" y="3943076"/>
                <a:ext cx="336064" cy="336064"/>
              </a:xfrm>
              <a:prstGeom prst="rect">
                <a:avLst/>
              </a:prstGeom>
            </p:spPr>
          </p:pic>
          <p:pic>
            <p:nvPicPr>
              <p:cNvPr id="117" name="Graphique 116" descr="Utilisateur avec un remplissage uni">
                <a:extLst>
                  <a:ext uri="{FF2B5EF4-FFF2-40B4-BE49-F238E27FC236}">
                    <a16:creationId xmlns:a16="http://schemas.microsoft.com/office/drawing/2014/main" id="{1CCF4797-1F40-0FC5-D680-A3E1278A874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906758" y="3976465"/>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1B4756D6-5544-AD0C-0E9F-DED7043B273B}"/>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041096" y="3705332"/>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941C7752-9B5E-C343-662B-880862F2FBD2}"/>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020918" y="3429000"/>
                <a:ext cx="336064" cy="336064"/>
              </a:xfrm>
              <a:prstGeom prst="rect">
                <a:avLst/>
              </a:prstGeom>
            </p:spPr>
          </p:pic>
        </p:grpSp>
        <p:sp>
          <p:nvSpPr>
            <p:cNvPr id="108" name="ZoneTexte 107">
              <a:extLst>
                <a:ext uri="{FF2B5EF4-FFF2-40B4-BE49-F238E27FC236}">
                  <a16:creationId xmlns:a16="http://schemas.microsoft.com/office/drawing/2014/main" id="{B26F4647-307C-8C73-5346-716FE67D17A4}"/>
                </a:ext>
              </a:extLst>
            </p:cNvPr>
            <p:cNvSpPr txBox="1"/>
            <p:nvPr/>
          </p:nvSpPr>
          <p:spPr>
            <a:xfrm>
              <a:off x="3190145" y="4420316"/>
              <a:ext cx="1234611" cy="646331"/>
            </a:xfrm>
            <a:prstGeom prst="rect">
              <a:avLst/>
            </a:prstGeom>
            <a:noFill/>
          </p:spPr>
          <p:txBody>
            <a:bodyPr wrap="square">
              <a:spAutoFit/>
            </a:bodyPr>
            <a:lstStyle/>
            <a:p>
              <a:pPr lvl="0" algn="ctr"/>
              <a:r>
                <a:rPr lang="fr-FR" sz="1200" b="1" dirty="0"/>
                <a:t>Communauté d’entreprise non soutenue</a:t>
              </a:r>
              <a:endParaRPr lang="fr-FR" sz="1200" dirty="0"/>
            </a:p>
          </p:txBody>
        </p:sp>
      </p:grpSp>
      <p:grpSp>
        <p:nvGrpSpPr>
          <p:cNvPr id="123" name="Groupe 122">
            <a:extLst>
              <a:ext uri="{FF2B5EF4-FFF2-40B4-BE49-F238E27FC236}">
                <a16:creationId xmlns:a16="http://schemas.microsoft.com/office/drawing/2014/main" id="{CAC76E84-A4EC-D371-CEFF-92CE8C78C42B}"/>
              </a:ext>
            </a:extLst>
          </p:cNvPr>
          <p:cNvGrpSpPr/>
          <p:nvPr/>
        </p:nvGrpSpPr>
        <p:grpSpPr>
          <a:xfrm>
            <a:off x="291311" y="1766683"/>
            <a:ext cx="1234611" cy="1471170"/>
            <a:chOff x="115275" y="3485644"/>
            <a:chExt cx="1234611" cy="1471170"/>
          </a:xfrm>
        </p:grpSpPr>
        <p:grpSp>
          <p:nvGrpSpPr>
            <p:cNvPr id="94" name="Groupe 93">
              <a:extLst>
                <a:ext uri="{FF2B5EF4-FFF2-40B4-BE49-F238E27FC236}">
                  <a16:creationId xmlns:a16="http://schemas.microsoft.com/office/drawing/2014/main" id="{8245B086-2903-EC77-F51E-0CEEA9F97C41}"/>
                </a:ext>
              </a:extLst>
            </p:cNvPr>
            <p:cNvGrpSpPr/>
            <p:nvPr/>
          </p:nvGrpSpPr>
          <p:grpSpPr>
            <a:xfrm>
              <a:off x="230134" y="3485644"/>
              <a:ext cx="1004893" cy="847205"/>
              <a:chOff x="8982504" y="3274976"/>
              <a:chExt cx="1230670" cy="1037553"/>
            </a:xfrm>
            <a:solidFill>
              <a:srgbClr val="ED7D31"/>
            </a:solidFill>
          </p:grpSpPr>
          <p:pic>
            <p:nvPicPr>
              <p:cNvPr id="95" name="Graphique 94" descr="Utilisateur avec un remplissage uni">
                <a:extLst>
                  <a:ext uri="{FF2B5EF4-FFF2-40B4-BE49-F238E27FC236}">
                    <a16:creationId xmlns:a16="http://schemas.microsoft.com/office/drawing/2014/main" id="{10D02284-D53D-ACC7-3CEE-A9722622197E}"/>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301028" y="3274976"/>
                <a:ext cx="336064" cy="336064"/>
              </a:xfrm>
              <a:prstGeom prst="rect">
                <a:avLst/>
              </a:prstGeom>
            </p:spPr>
          </p:pic>
          <p:pic>
            <p:nvPicPr>
              <p:cNvPr id="96" name="Graphique 95" descr="Utilisateur avec un remplissage uni">
                <a:extLst>
                  <a:ext uri="{FF2B5EF4-FFF2-40B4-BE49-F238E27FC236}">
                    <a16:creationId xmlns:a16="http://schemas.microsoft.com/office/drawing/2014/main" id="{26E24495-BB54-0F2C-44EB-30DA94B5C1B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054140" y="3512720"/>
                <a:ext cx="336064" cy="336064"/>
              </a:xfrm>
              <a:prstGeom prst="rect">
                <a:avLst/>
              </a:prstGeom>
            </p:spPr>
          </p:pic>
          <p:pic>
            <p:nvPicPr>
              <p:cNvPr id="97" name="Graphique 96" descr="Utilisateur avec un remplissage uni">
                <a:extLst>
                  <a:ext uri="{FF2B5EF4-FFF2-40B4-BE49-F238E27FC236}">
                    <a16:creationId xmlns:a16="http://schemas.microsoft.com/office/drawing/2014/main" id="{91647003-65FC-C288-0B1E-27E49282CE6C}"/>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635C5784-3E3A-9A40-3C33-9C611287A1F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39CD5309-75D5-376E-1971-EFDECE8B09A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EEEF3372-D8F8-4C64-61F6-9B0B0D206169}"/>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37495EDD-9977-CCFA-F64C-C816A004166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3F4F68AD-3D61-7CF4-AD96-95BF71B2107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1280A002-795D-6235-5948-85367A4132E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56B8F29B-6557-2BC5-E491-665AA00EF98A}"/>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8F44FFCE-FD9C-7B47-E8B2-6804B655B7B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856932" y="3429000"/>
                <a:ext cx="336064" cy="336064"/>
              </a:xfrm>
              <a:prstGeom prst="rect">
                <a:avLst/>
              </a:prstGeom>
            </p:spPr>
          </p:pic>
        </p:grpSp>
        <p:sp>
          <p:nvSpPr>
            <p:cNvPr id="120" name="ZoneTexte 119">
              <a:extLst>
                <a:ext uri="{FF2B5EF4-FFF2-40B4-BE49-F238E27FC236}">
                  <a16:creationId xmlns:a16="http://schemas.microsoft.com/office/drawing/2014/main" id="{A743B311-AFA1-05A6-FF85-D02F1C0AB54A}"/>
                </a:ext>
              </a:extLst>
            </p:cNvPr>
            <p:cNvSpPr txBox="1"/>
            <p:nvPr/>
          </p:nvSpPr>
          <p:spPr>
            <a:xfrm>
              <a:off x="115275" y="4495149"/>
              <a:ext cx="1234611" cy="461665"/>
            </a:xfrm>
            <a:prstGeom prst="rect">
              <a:avLst/>
            </a:prstGeom>
            <a:noFill/>
          </p:spPr>
          <p:txBody>
            <a:bodyPr wrap="square">
              <a:spAutoFit/>
            </a:bodyPr>
            <a:lstStyle/>
            <a:p>
              <a:pPr lvl="0" algn="ctr"/>
              <a:r>
                <a:rPr lang="fr-FR" sz="1200" b="1" dirty="0"/>
                <a:t>Communauté perso </a:t>
              </a:r>
            </a:p>
          </p:txBody>
        </p:sp>
      </p:grpSp>
      <p:grpSp>
        <p:nvGrpSpPr>
          <p:cNvPr id="143" name="Groupe 142">
            <a:extLst>
              <a:ext uri="{FF2B5EF4-FFF2-40B4-BE49-F238E27FC236}">
                <a16:creationId xmlns:a16="http://schemas.microsoft.com/office/drawing/2014/main" id="{CD3BA8FC-980B-FD22-BB57-5DF050BC09A4}"/>
              </a:ext>
            </a:extLst>
          </p:cNvPr>
          <p:cNvGrpSpPr/>
          <p:nvPr/>
        </p:nvGrpSpPr>
        <p:grpSpPr>
          <a:xfrm>
            <a:off x="2965761" y="1766683"/>
            <a:ext cx="1234611" cy="1869519"/>
            <a:chOff x="1652434" y="3869336"/>
            <a:chExt cx="1234611" cy="1869519"/>
          </a:xfrm>
        </p:grpSpPr>
        <p:sp>
          <p:nvSpPr>
            <p:cNvPr id="144" name="ZoneTexte 143">
              <a:extLst>
                <a:ext uri="{FF2B5EF4-FFF2-40B4-BE49-F238E27FC236}">
                  <a16:creationId xmlns:a16="http://schemas.microsoft.com/office/drawing/2014/main" id="{F67762F1-9908-32AB-C556-FD29F607ED28}"/>
                </a:ext>
              </a:extLst>
            </p:cNvPr>
            <p:cNvSpPr txBox="1"/>
            <p:nvPr/>
          </p:nvSpPr>
          <p:spPr>
            <a:xfrm>
              <a:off x="1652434" y="4907858"/>
              <a:ext cx="1234611" cy="830997"/>
            </a:xfrm>
            <a:prstGeom prst="rect">
              <a:avLst/>
            </a:prstGeom>
            <a:noFill/>
          </p:spPr>
          <p:txBody>
            <a:bodyPr wrap="square">
              <a:spAutoFit/>
            </a:bodyPr>
            <a:lstStyle/>
            <a:p>
              <a:pPr lvl="0" algn="ctr"/>
              <a:r>
                <a:rPr lang="fr-FR" sz="1200" b="1" dirty="0"/>
                <a:t>Communauté pro / perso officiellement soutenue </a:t>
              </a:r>
            </a:p>
          </p:txBody>
        </p:sp>
        <p:grpSp>
          <p:nvGrpSpPr>
            <p:cNvPr id="145" name="Groupe 144">
              <a:extLst>
                <a:ext uri="{FF2B5EF4-FFF2-40B4-BE49-F238E27FC236}">
                  <a16:creationId xmlns:a16="http://schemas.microsoft.com/office/drawing/2014/main" id="{E525B106-2D4A-112A-39AA-6DE738B7C610}"/>
                </a:ext>
              </a:extLst>
            </p:cNvPr>
            <p:cNvGrpSpPr/>
            <p:nvPr/>
          </p:nvGrpSpPr>
          <p:grpSpPr>
            <a:xfrm>
              <a:off x="1767293" y="3869336"/>
              <a:ext cx="1004893" cy="847205"/>
              <a:chOff x="8982504" y="3274976"/>
              <a:chExt cx="1230670" cy="1037553"/>
            </a:xfrm>
            <a:solidFill>
              <a:srgbClr val="ED7D31"/>
            </a:solidFill>
          </p:grpSpPr>
          <p:pic>
            <p:nvPicPr>
              <p:cNvPr id="146" name="Graphique 145" descr="Utilisateur avec un remplissage uni">
                <a:extLst>
                  <a:ext uri="{FF2B5EF4-FFF2-40B4-BE49-F238E27FC236}">
                    <a16:creationId xmlns:a16="http://schemas.microsoft.com/office/drawing/2014/main" id="{6935001C-8EB2-8A7D-CDA2-EFD912E5754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301028" y="3274976"/>
                <a:ext cx="336064" cy="336064"/>
              </a:xfrm>
              <a:prstGeom prst="rect">
                <a:avLst/>
              </a:prstGeom>
            </p:spPr>
          </p:pic>
          <p:pic>
            <p:nvPicPr>
              <p:cNvPr id="147" name="Graphique 146" descr="Utilisateur avec un remplissage uni">
                <a:extLst>
                  <a:ext uri="{FF2B5EF4-FFF2-40B4-BE49-F238E27FC236}">
                    <a16:creationId xmlns:a16="http://schemas.microsoft.com/office/drawing/2014/main" id="{CED6B4EC-5F3B-EE98-420D-B9D28EDA50D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054140" y="3512720"/>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7B0958D7-5959-5D2F-4E22-B2E286225EE4}"/>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345616" y="3561880"/>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C6B9F963-70CB-B9E1-B952-37E9DD6EA898}"/>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592504" y="3418428"/>
                <a:ext cx="336064" cy="336064"/>
              </a:xfrm>
              <a:prstGeom prst="rect">
                <a:avLst/>
              </a:prstGeom>
            </p:spPr>
          </p:pic>
          <p:pic>
            <p:nvPicPr>
              <p:cNvPr id="150" name="Graphique 149" descr="Utilisateur avec un remplissage uni">
                <a:extLst>
                  <a:ext uri="{FF2B5EF4-FFF2-40B4-BE49-F238E27FC236}">
                    <a16:creationId xmlns:a16="http://schemas.microsoft.com/office/drawing/2014/main" id="{E46B3EA9-AB2D-0D1A-A950-D6ED2236C10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635196" y="3680752"/>
                <a:ext cx="336064" cy="336064"/>
              </a:xfrm>
              <a:prstGeom prst="rect">
                <a:avLst/>
              </a:prstGeom>
            </p:spPr>
          </p:pic>
          <p:pic>
            <p:nvPicPr>
              <p:cNvPr id="151" name="Graphique 150" descr="Utilisateur avec un remplissage uni">
                <a:extLst>
                  <a:ext uri="{FF2B5EF4-FFF2-40B4-BE49-F238E27FC236}">
                    <a16:creationId xmlns:a16="http://schemas.microsoft.com/office/drawing/2014/main" id="{9E4326FB-EE2B-BC1F-2AA6-A013217CA2B1}"/>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256440" y="3848784"/>
                <a:ext cx="336064" cy="336064"/>
              </a:xfrm>
              <a:prstGeom prst="rect">
                <a:avLst/>
              </a:prstGeom>
            </p:spPr>
          </p:pic>
          <p:pic>
            <p:nvPicPr>
              <p:cNvPr id="152" name="Graphique 151" descr="Utilisateur avec un remplissage uni">
                <a:extLst>
                  <a:ext uri="{FF2B5EF4-FFF2-40B4-BE49-F238E27FC236}">
                    <a16:creationId xmlns:a16="http://schemas.microsoft.com/office/drawing/2014/main" id="{68F93976-7B93-C0B1-4C04-537E3141BE0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982504" y="3835028"/>
                <a:ext cx="336064" cy="336064"/>
              </a:xfrm>
              <a:prstGeom prst="rect">
                <a:avLst/>
              </a:prstGeom>
            </p:spPr>
          </p:pic>
          <p:pic>
            <p:nvPicPr>
              <p:cNvPr id="153" name="Graphique 152" descr="Utilisateur avec un remplissage uni">
                <a:extLst>
                  <a:ext uri="{FF2B5EF4-FFF2-40B4-BE49-F238E27FC236}">
                    <a16:creationId xmlns:a16="http://schemas.microsoft.com/office/drawing/2014/main" id="{6EC13ABA-CE97-5517-1D36-D07A6DA46E4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520868" y="3943076"/>
                <a:ext cx="336064" cy="336064"/>
              </a:xfrm>
              <a:prstGeom prst="rect">
                <a:avLst/>
              </a:prstGeom>
            </p:spPr>
          </p:pic>
          <p:pic>
            <p:nvPicPr>
              <p:cNvPr id="154" name="Graphique 153" descr="Utilisateur avec un remplissage uni">
                <a:extLst>
                  <a:ext uri="{FF2B5EF4-FFF2-40B4-BE49-F238E27FC236}">
                    <a16:creationId xmlns:a16="http://schemas.microsoft.com/office/drawing/2014/main" id="{54C5CC6E-9995-0C0C-58AA-2A76A87F2AF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742772" y="3976465"/>
                <a:ext cx="336064" cy="336064"/>
              </a:xfrm>
              <a:prstGeom prst="rect">
                <a:avLst/>
              </a:prstGeom>
            </p:spPr>
          </p:pic>
          <p:pic>
            <p:nvPicPr>
              <p:cNvPr id="155" name="Graphique 154" descr="Utilisateur avec un remplissage uni">
                <a:extLst>
                  <a:ext uri="{FF2B5EF4-FFF2-40B4-BE49-F238E27FC236}">
                    <a16:creationId xmlns:a16="http://schemas.microsoft.com/office/drawing/2014/main" id="{135497C8-6C8C-22AD-C113-15E444FB1C5C}"/>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877110" y="3705332"/>
                <a:ext cx="336064" cy="336064"/>
              </a:xfrm>
              <a:prstGeom prst="rect">
                <a:avLst/>
              </a:prstGeom>
            </p:spPr>
          </p:pic>
          <p:pic>
            <p:nvPicPr>
              <p:cNvPr id="156" name="Graphique 155" descr="Utilisateur avec un remplissage uni">
                <a:extLst>
                  <a:ext uri="{FF2B5EF4-FFF2-40B4-BE49-F238E27FC236}">
                    <a16:creationId xmlns:a16="http://schemas.microsoft.com/office/drawing/2014/main" id="{F1F0DE22-9F37-4265-E5A6-D09381E172C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56932" y="3429000"/>
                <a:ext cx="336064" cy="336064"/>
              </a:xfrm>
              <a:prstGeom prst="rect">
                <a:avLst/>
              </a:prstGeom>
            </p:spPr>
          </p:pic>
        </p:grpSp>
      </p:grpSp>
      <p:sp>
        <p:nvSpPr>
          <p:cNvPr id="160" name="Titre 131">
            <a:extLst>
              <a:ext uri="{FF2B5EF4-FFF2-40B4-BE49-F238E27FC236}">
                <a16:creationId xmlns:a16="http://schemas.microsoft.com/office/drawing/2014/main" id="{00CD182D-8CF5-CF9D-62D5-9F5E9A684AF0}"/>
              </a:ext>
            </a:extLst>
          </p:cNvPr>
          <p:cNvSpPr>
            <a:spLocks noGrp="1"/>
          </p:cNvSpPr>
          <p:nvPr>
            <p:ph type="title"/>
          </p:nvPr>
        </p:nvSpPr>
        <p:spPr>
          <a:xfrm>
            <a:off x="838200" y="365125"/>
            <a:ext cx="10515600" cy="709219"/>
          </a:xfrm>
        </p:spPr>
        <p:txBody>
          <a:bodyPr>
            <a:normAutofit fontScale="90000"/>
          </a:bodyPr>
          <a:lstStyle/>
          <a:p>
            <a:r>
              <a:rPr lang="fr-FR" dirty="0"/>
              <a:t>Gradient du temps investi</a:t>
            </a:r>
            <a:br>
              <a:rPr lang="fr-FR" dirty="0"/>
            </a:br>
            <a:r>
              <a:rPr lang="fr-FR" dirty="0"/>
              <a:t>Exercice</a:t>
            </a:r>
          </a:p>
        </p:txBody>
      </p:sp>
    </p:spTree>
    <p:extLst>
      <p:ext uri="{BB962C8B-B14F-4D97-AF65-F5344CB8AC3E}">
        <p14:creationId xmlns:p14="http://schemas.microsoft.com/office/powerpoint/2010/main" val="484732727"/>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AB40900-59F3-4B76-9D7B-14F8489569E4}"/>
              </a:ext>
            </a:extLst>
          </p:cNvPr>
          <p:cNvSpPr>
            <a:spLocks noGrp="1"/>
          </p:cNvSpPr>
          <p:nvPr>
            <p:ph type="title"/>
          </p:nvPr>
        </p:nvSpPr>
        <p:spPr>
          <a:xfrm>
            <a:off x="419099" y="365125"/>
            <a:ext cx="11772901" cy="988496"/>
          </a:xfrm>
        </p:spPr>
        <p:txBody>
          <a:bodyPr>
            <a:noAutofit/>
          </a:bodyPr>
          <a:lstStyle/>
          <a:p>
            <a:r>
              <a:rPr lang="fr-FR" sz="3600" dirty="0"/>
              <a:t>Retrouvez les bonnes cases pour les différents tickets</a:t>
            </a:r>
            <a:br>
              <a:rPr lang="fr-FR" sz="3600" dirty="0"/>
            </a:br>
            <a:r>
              <a:rPr lang="fr-FR" sz="3600" dirty="0"/>
              <a:t>Exemple d’une </a:t>
            </a:r>
            <a:br>
              <a:rPr lang="fr-FR" sz="3600" dirty="0"/>
            </a:br>
            <a:r>
              <a:rPr lang="fr-FR" sz="3600" dirty="0"/>
              <a:t>Communauté </a:t>
            </a:r>
          </a:p>
        </p:txBody>
      </p:sp>
      <p:grpSp>
        <p:nvGrpSpPr>
          <p:cNvPr id="22" name="Groupe 21">
            <a:extLst>
              <a:ext uri="{FF2B5EF4-FFF2-40B4-BE49-F238E27FC236}">
                <a16:creationId xmlns:a16="http://schemas.microsoft.com/office/drawing/2014/main" id="{4C6A6531-BC17-45C2-ACEE-E0D68875DE67}"/>
              </a:ext>
            </a:extLst>
          </p:cNvPr>
          <p:cNvGrpSpPr/>
          <p:nvPr/>
        </p:nvGrpSpPr>
        <p:grpSpPr>
          <a:xfrm>
            <a:off x="463550" y="1420160"/>
            <a:ext cx="11264900" cy="5272740"/>
            <a:chOff x="463550" y="1420160"/>
            <a:chExt cx="11264900" cy="5272740"/>
          </a:xfrm>
        </p:grpSpPr>
        <p:sp>
          <p:nvSpPr>
            <p:cNvPr id="5" name="Trapèze 4">
              <a:extLst>
                <a:ext uri="{FF2B5EF4-FFF2-40B4-BE49-F238E27FC236}">
                  <a16:creationId xmlns:a16="http://schemas.microsoft.com/office/drawing/2014/main" id="{4289C218-9240-42AD-9CE8-75EC7CE223E9}"/>
                </a:ext>
              </a:extLst>
            </p:cNvPr>
            <p:cNvSpPr/>
            <p:nvPr/>
          </p:nvSpPr>
          <p:spPr>
            <a:xfrm>
              <a:off x="463550" y="5080000"/>
              <a:ext cx="11264900" cy="1612900"/>
            </a:xfrm>
            <a:prstGeom prst="trapezoid">
              <a:avLst>
                <a:gd name="adj" fmla="val 6358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a:t>CAUSE</a:t>
              </a:r>
            </a:p>
            <a:p>
              <a:pPr algn="ctr"/>
              <a:endParaRPr lang="fr-FR" sz="1200" dirty="0"/>
            </a:p>
            <a:p>
              <a:pPr algn="ctr"/>
              <a:r>
                <a:rPr lang="fr-FR" sz="1200" dirty="0"/>
                <a:t>Description Générale de la motivation de la Communauté</a:t>
              </a:r>
            </a:p>
            <a:p>
              <a:pPr algn="ctr"/>
              <a:r>
                <a:rPr lang="fr-FR" sz="1200" dirty="0"/>
                <a:t>Etat du monde actuel</a:t>
              </a:r>
            </a:p>
            <a:p>
              <a:pPr algn="ctr"/>
              <a:r>
                <a:rPr lang="fr-FR" sz="1200" dirty="0"/>
                <a:t>Vue globale</a:t>
              </a:r>
            </a:p>
            <a:p>
              <a:pPr algn="ctr"/>
              <a:r>
                <a:rPr lang="fr-FR" sz="1200" dirty="0"/>
                <a:t>Mots clés</a:t>
              </a:r>
              <a:endParaRPr lang="fr-FR" dirty="0"/>
            </a:p>
          </p:txBody>
        </p:sp>
        <p:sp>
          <p:nvSpPr>
            <p:cNvPr id="10" name="Triangle isocèle 9">
              <a:extLst>
                <a:ext uri="{FF2B5EF4-FFF2-40B4-BE49-F238E27FC236}">
                  <a16:creationId xmlns:a16="http://schemas.microsoft.com/office/drawing/2014/main" id="{F44F215C-2BEC-4554-9D98-C4FD070183E7}"/>
                </a:ext>
              </a:extLst>
            </p:cNvPr>
            <p:cNvSpPr/>
            <p:nvPr/>
          </p:nvSpPr>
          <p:spPr>
            <a:xfrm>
              <a:off x="2800350" y="1420160"/>
              <a:ext cx="6553200" cy="1529080"/>
            </a:xfrm>
            <a:prstGeom prst="triangle">
              <a:avLst>
                <a:gd name="adj" fmla="val 5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a:t>GRAND BUT</a:t>
              </a:r>
            </a:p>
            <a:p>
              <a:pPr algn="ctr"/>
              <a:endParaRPr lang="fr-FR" sz="1400" b="1" dirty="0"/>
            </a:p>
            <a:p>
              <a:pPr algn="ctr"/>
              <a:r>
                <a:rPr lang="fr-FR" sz="1400" dirty="0"/>
                <a:t>Facilement compréhensible, mesurable, et rattachable facilement à des actions.</a:t>
              </a:r>
            </a:p>
            <a:p>
              <a:pPr algn="ctr"/>
              <a:endParaRPr lang="fr-FR" sz="1400" dirty="0"/>
            </a:p>
            <a:p>
              <a:pPr algn="ctr"/>
              <a:endParaRPr lang="fr-FR" sz="1400" dirty="0"/>
            </a:p>
            <a:p>
              <a:pPr algn="ctr"/>
              <a:endParaRPr lang="fr-FR" sz="1400" dirty="0"/>
            </a:p>
          </p:txBody>
        </p:sp>
        <p:grpSp>
          <p:nvGrpSpPr>
            <p:cNvPr id="17" name="Groupe 16">
              <a:extLst>
                <a:ext uri="{FF2B5EF4-FFF2-40B4-BE49-F238E27FC236}">
                  <a16:creationId xmlns:a16="http://schemas.microsoft.com/office/drawing/2014/main" id="{9BF4AA2E-532A-4440-A263-1FC630895566}"/>
                </a:ext>
              </a:extLst>
            </p:cNvPr>
            <p:cNvGrpSpPr/>
            <p:nvPr/>
          </p:nvGrpSpPr>
          <p:grpSpPr>
            <a:xfrm>
              <a:off x="1527175" y="3040767"/>
              <a:ext cx="9137650" cy="1969383"/>
              <a:chOff x="1644650" y="3040767"/>
              <a:chExt cx="9137650" cy="1907219"/>
            </a:xfrm>
          </p:grpSpPr>
          <p:sp>
            <p:nvSpPr>
              <p:cNvPr id="6" name="Trapèze 5">
                <a:extLst>
                  <a:ext uri="{FF2B5EF4-FFF2-40B4-BE49-F238E27FC236}">
                    <a16:creationId xmlns:a16="http://schemas.microsoft.com/office/drawing/2014/main" id="{FBD08814-5536-4C93-B7C5-9CE3890241D5}"/>
                  </a:ext>
                </a:extLst>
              </p:cNvPr>
              <p:cNvSpPr/>
              <p:nvPr/>
            </p:nvSpPr>
            <p:spPr>
              <a:xfrm>
                <a:off x="1644650"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dirty="0"/>
                  <a:t>MAUVAIS SOUVENIRS</a:t>
                </a:r>
              </a:p>
              <a:p>
                <a:pPr algn="ctr"/>
                <a:r>
                  <a:rPr lang="fr-FR" sz="1100" dirty="0"/>
                  <a:t>Des situations passées ou existantes qu’on n’aimerait ne plus voir arriver</a:t>
                </a:r>
              </a:p>
            </p:txBody>
          </p:sp>
          <p:sp>
            <p:nvSpPr>
              <p:cNvPr id="8" name="Trapèze 7">
                <a:extLst>
                  <a:ext uri="{FF2B5EF4-FFF2-40B4-BE49-F238E27FC236}">
                    <a16:creationId xmlns:a16="http://schemas.microsoft.com/office/drawing/2014/main" id="{B049311D-5C7A-42FF-BBA9-F762FBBC3FEB}"/>
                  </a:ext>
                </a:extLst>
              </p:cNvPr>
              <p:cNvSpPr/>
              <p:nvPr/>
            </p:nvSpPr>
            <p:spPr>
              <a:xfrm>
                <a:off x="2314030"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dirty="0"/>
                  <a:t>HISTOIRES À ÉVITER</a:t>
                </a:r>
              </a:p>
              <a:p>
                <a:pPr algn="ctr"/>
                <a:r>
                  <a:rPr lang="fr-FR" sz="1100" dirty="0"/>
                  <a:t>Situations fictives à éviter</a:t>
                </a:r>
              </a:p>
            </p:txBody>
          </p:sp>
          <p:sp>
            <p:nvSpPr>
              <p:cNvPr id="13" name="Trapèze 12">
                <a:extLst>
                  <a:ext uri="{FF2B5EF4-FFF2-40B4-BE49-F238E27FC236}">
                    <a16:creationId xmlns:a16="http://schemas.microsoft.com/office/drawing/2014/main" id="{6088D12F-5C5D-4F51-B2F2-2D3E87A1D135}"/>
                  </a:ext>
                </a:extLst>
              </p:cNvPr>
              <p:cNvSpPr/>
              <p:nvPr/>
            </p:nvSpPr>
            <p:spPr>
              <a:xfrm>
                <a:off x="6261747"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dirty="0"/>
                  <a:t>BONS SOUVENIRS</a:t>
                </a:r>
              </a:p>
              <a:p>
                <a:pPr algn="ctr"/>
                <a:r>
                  <a:rPr lang="fr-FR" sz="1100" dirty="0"/>
                  <a:t>Les situations passées ou existantes qu’on aimerait voir arriver de nouveau</a:t>
                </a:r>
              </a:p>
            </p:txBody>
          </p:sp>
          <p:sp>
            <p:nvSpPr>
              <p:cNvPr id="14" name="Trapèze 13">
                <a:extLst>
                  <a:ext uri="{FF2B5EF4-FFF2-40B4-BE49-F238E27FC236}">
                    <a16:creationId xmlns:a16="http://schemas.microsoft.com/office/drawing/2014/main" id="{6A9B144A-40D6-42CF-80A5-0896AD11EDE4}"/>
                  </a:ext>
                </a:extLst>
              </p:cNvPr>
              <p:cNvSpPr/>
              <p:nvPr/>
            </p:nvSpPr>
            <p:spPr>
              <a:xfrm>
                <a:off x="6927306"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dirty="0"/>
                  <a:t>HISTOIRES IDÉALES</a:t>
                </a:r>
              </a:p>
              <a:p>
                <a:pPr algn="ctr"/>
                <a:r>
                  <a:rPr lang="fr-FR" sz="1100" dirty="0"/>
                  <a:t>Situations aujourd’hui fictives que l’on souhaite faire arriver</a:t>
                </a:r>
              </a:p>
            </p:txBody>
          </p:sp>
        </p:grpSp>
        <p:sp>
          <p:nvSpPr>
            <p:cNvPr id="16" name="Triangle isocèle 15">
              <a:extLst>
                <a:ext uri="{FF2B5EF4-FFF2-40B4-BE49-F238E27FC236}">
                  <a16:creationId xmlns:a16="http://schemas.microsoft.com/office/drawing/2014/main" id="{963FE96F-DB14-48B6-8AD5-6C71A572B880}"/>
                </a:ext>
              </a:extLst>
            </p:cNvPr>
            <p:cNvSpPr/>
            <p:nvPr/>
          </p:nvSpPr>
          <p:spPr>
            <a:xfrm rot="10800000">
              <a:off x="4952497" y="3040768"/>
              <a:ext cx="2287008" cy="1795683"/>
            </a:xfrm>
            <a:prstGeom prst="triangl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ZoneTexte 18">
              <a:extLst>
                <a:ext uri="{FF2B5EF4-FFF2-40B4-BE49-F238E27FC236}">
                  <a16:creationId xmlns:a16="http://schemas.microsoft.com/office/drawing/2014/main" id="{11F4FD41-5370-460D-B968-30E15161AA7F}"/>
                </a:ext>
              </a:extLst>
            </p:cNvPr>
            <p:cNvSpPr txBox="1"/>
            <p:nvPr/>
          </p:nvSpPr>
          <p:spPr>
            <a:xfrm>
              <a:off x="4952496" y="3044169"/>
              <a:ext cx="2287009" cy="646331"/>
            </a:xfrm>
            <a:prstGeom prst="rect">
              <a:avLst/>
            </a:prstGeom>
            <a:noFill/>
          </p:spPr>
          <p:txBody>
            <a:bodyPr wrap="square">
              <a:spAutoFit/>
            </a:bodyPr>
            <a:lstStyle/>
            <a:p>
              <a:pPr algn="ctr"/>
              <a:r>
                <a:rPr lang="fr-FR" sz="1200" b="1" dirty="0"/>
                <a:t>CONDITIONS</a:t>
              </a:r>
            </a:p>
            <a:p>
              <a:pPr algn="ctr"/>
              <a:r>
                <a:rPr lang="fr-FR" sz="1200" dirty="0"/>
                <a:t>Les conditions dans lesquelles nous voulons atteindre notre but</a:t>
              </a:r>
            </a:p>
          </p:txBody>
        </p:sp>
      </p:grpSp>
      <p:sp>
        <p:nvSpPr>
          <p:cNvPr id="3" name="Rectangle 2">
            <a:extLst>
              <a:ext uri="{FF2B5EF4-FFF2-40B4-BE49-F238E27FC236}">
                <a16:creationId xmlns:a16="http://schemas.microsoft.com/office/drawing/2014/main" id="{CCAD2672-D184-E92F-5456-D92EBD6AD37A}"/>
              </a:ext>
            </a:extLst>
          </p:cNvPr>
          <p:cNvSpPr/>
          <p:nvPr/>
        </p:nvSpPr>
        <p:spPr>
          <a:xfrm>
            <a:off x="3266596" y="565782"/>
            <a:ext cx="2017486" cy="9588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Communauté Cybersécurité</a:t>
            </a:r>
          </a:p>
        </p:txBody>
      </p:sp>
      <p:sp>
        <p:nvSpPr>
          <p:cNvPr id="15" name="Rectangle 14">
            <a:extLst>
              <a:ext uri="{FF2B5EF4-FFF2-40B4-BE49-F238E27FC236}">
                <a16:creationId xmlns:a16="http://schemas.microsoft.com/office/drawing/2014/main" id="{4E4A1AD3-1E83-5558-BD50-BF1AEA11CD38}"/>
              </a:ext>
            </a:extLst>
          </p:cNvPr>
          <p:cNvSpPr/>
          <p:nvPr/>
        </p:nvSpPr>
        <p:spPr>
          <a:xfrm>
            <a:off x="2672443" y="5734003"/>
            <a:ext cx="2017486" cy="9588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Cybersécurité</a:t>
            </a:r>
          </a:p>
        </p:txBody>
      </p:sp>
      <p:sp>
        <p:nvSpPr>
          <p:cNvPr id="18" name="Rectangle 17">
            <a:extLst>
              <a:ext uri="{FF2B5EF4-FFF2-40B4-BE49-F238E27FC236}">
                <a16:creationId xmlns:a16="http://schemas.microsoft.com/office/drawing/2014/main" id="{814A6E93-E208-7C67-57AC-8CE3D8AC872D}"/>
              </a:ext>
            </a:extLst>
          </p:cNvPr>
          <p:cNvSpPr/>
          <p:nvPr/>
        </p:nvSpPr>
        <p:spPr>
          <a:xfrm>
            <a:off x="4951186" y="5717222"/>
            <a:ext cx="2017486" cy="9588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Protection des données</a:t>
            </a:r>
          </a:p>
        </p:txBody>
      </p:sp>
      <p:sp>
        <p:nvSpPr>
          <p:cNvPr id="20" name="Rectangle 19">
            <a:extLst>
              <a:ext uri="{FF2B5EF4-FFF2-40B4-BE49-F238E27FC236}">
                <a16:creationId xmlns:a16="http://schemas.microsoft.com/office/drawing/2014/main" id="{7BC4199A-501A-2F4A-B9CB-AD8D591A56FC}"/>
              </a:ext>
            </a:extLst>
          </p:cNvPr>
          <p:cNvSpPr/>
          <p:nvPr/>
        </p:nvSpPr>
        <p:spPr>
          <a:xfrm>
            <a:off x="7229929" y="5717222"/>
            <a:ext cx="2017486" cy="9588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Bonnes pratiques</a:t>
            </a:r>
          </a:p>
        </p:txBody>
      </p:sp>
      <p:sp>
        <p:nvSpPr>
          <p:cNvPr id="21" name="Rectangle 20">
            <a:extLst>
              <a:ext uri="{FF2B5EF4-FFF2-40B4-BE49-F238E27FC236}">
                <a16:creationId xmlns:a16="http://schemas.microsoft.com/office/drawing/2014/main" id="{2D41A744-6501-29C5-A68D-83E72C4CFFBF}"/>
              </a:ext>
            </a:extLst>
          </p:cNvPr>
          <p:cNvSpPr/>
          <p:nvPr/>
        </p:nvSpPr>
        <p:spPr>
          <a:xfrm>
            <a:off x="2041256" y="4492141"/>
            <a:ext cx="1198580"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Attaque subie en mai 2018</a:t>
            </a:r>
          </a:p>
        </p:txBody>
      </p:sp>
      <p:sp>
        <p:nvSpPr>
          <p:cNvPr id="23" name="Rectangle 22">
            <a:extLst>
              <a:ext uri="{FF2B5EF4-FFF2-40B4-BE49-F238E27FC236}">
                <a16:creationId xmlns:a16="http://schemas.microsoft.com/office/drawing/2014/main" id="{77595AED-9694-BD20-7232-EB0F1BB66875}"/>
              </a:ext>
            </a:extLst>
          </p:cNvPr>
          <p:cNvSpPr/>
          <p:nvPr/>
        </p:nvSpPr>
        <p:spPr>
          <a:xfrm>
            <a:off x="2375946" y="3499794"/>
            <a:ext cx="1198580" cy="50298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Fuite de données clients</a:t>
            </a:r>
          </a:p>
        </p:txBody>
      </p:sp>
      <p:sp>
        <p:nvSpPr>
          <p:cNvPr id="24" name="Rectangle 23">
            <a:extLst>
              <a:ext uri="{FF2B5EF4-FFF2-40B4-BE49-F238E27FC236}">
                <a16:creationId xmlns:a16="http://schemas.microsoft.com/office/drawing/2014/main" id="{1AC5C7DF-63F5-B0FE-DFAA-503275A1878E}"/>
              </a:ext>
            </a:extLst>
          </p:cNvPr>
          <p:cNvSpPr/>
          <p:nvPr/>
        </p:nvSpPr>
        <p:spPr>
          <a:xfrm>
            <a:off x="3667154" y="3499794"/>
            <a:ext cx="1198580" cy="50298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Être la cible de ransomware (prise d’ôtage des données de l’entreprise)</a:t>
            </a:r>
          </a:p>
        </p:txBody>
      </p:sp>
      <p:sp>
        <p:nvSpPr>
          <p:cNvPr id="25" name="Rectangle 24">
            <a:extLst>
              <a:ext uri="{FF2B5EF4-FFF2-40B4-BE49-F238E27FC236}">
                <a16:creationId xmlns:a16="http://schemas.microsoft.com/office/drawing/2014/main" id="{A2D0739A-32D3-99E4-B52F-09B7A6B14092}"/>
              </a:ext>
            </a:extLst>
          </p:cNvPr>
          <p:cNvSpPr/>
          <p:nvPr/>
        </p:nvSpPr>
        <p:spPr>
          <a:xfrm>
            <a:off x="4266443" y="4490713"/>
            <a:ext cx="1496181"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Mot de passe admin affiché dans une photo de brochure de la comm (2015)</a:t>
            </a:r>
          </a:p>
        </p:txBody>
      </p:sp>
      <p:sp>
        <p:nvSpPr>
          <p:cNvPr id="26" name="Rectangle 25">
            <a:extLst>
              <a:ext uri="{FF2B5EF4-FFF2-40B4-BE49-F238E27FC236}">
                <a16:creationId xmlns:a16="http://schemas.microsoft.com/office/drawing/2014/main" id="{F63ACAB2-E22A-5F31-253A-8D4191CA5D51}"/>
              </a:ext>
            </a:extLst>
          </p:cNvPr>
          <p:cNvSpPr/>
          <p:nvPr/>
        </p:nvSpPr>
        <p:spPr>
          <a:xfrm>
            <a:off x="6326244" y="4513199"/>
            <a:ext cx="1496181"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Intervention d’un expert en firewall en 2019 à l’occasion d’un événement</a:t>
            </a:r>
          </a:p>
        </p:txBody>
      </p:sp>
      <p:sp>
        <p:nvSpPr>
          <p:cNvPr id="27" name="Rectangle 26">
            <a:extLst>
              <a:ext uri="{FF2B5EF4-FFF2-40B4-BE49-F238E27FC236}">
                <a16:creationId xmlns:a16="http://schemas.microsoft.com/office/drawing/2014/main" id="{986C7D11-8830-D78F-5B8A-21132310DFA2}"/>
              </a:ext>
            </a:extLst>
          </p:cNvPr>
          <p:cNvSpPr/>
          <p:nvPr/>
        </p:nvSpPr>
        <p:spPr>
          <a:xfrm>
            <a:off x="9013731" y="4513199"/>
            <a:ext cx="1496181"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Gestion de crise réussie sur des risques d’attaques le soir de Noël 2020</a:t>
            </a:r>
          </a:p>
        </p:txBody>
      </p:sp>
      <p:sp>
        <p:nvSpPr>
          <p:cNvPr id="28" name="Rectangle 27">
            <a:extLst>
              <a:ext uri="{FF2B5EF4-FFF2-40B4-BE49-F238E27FC236}">
                <a16:creationId xmlns:a16="http://schemas.microsoft.com/office/drawing/2014/main" id="{B1330527-96FC-1D62-AE88-8786F5764C98}"/>
              </a:ext>
            </a:extLst>
          </p:cNvPr>
          <p:cNvSpPr/>
          <p:nvPr/>
        </p:nvSpPr>
        <p:spPr>
          <a:xfrm>
            <a:off x="8781546" y="3354101"/>
            <a:ext cx="1496181"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Tous les nouveaux arrivants de la DSI sont formés sur des bases de cybersécurité</a:t>
            </a:r>
          </a:p>
        </p:txBody>
      </p:sp>
      <p:sp>
        <p:nvSpPr>
          <p:cNvPr id="29" name="Rectangle 28">
            <a:extLst>
              <a:ext uri="{FF2B5EF4-FFF2-40B4-BE49-F238E27FC236}">
                <a16:creationId xmlns:a16="http://schemas.microsoft.com/office/drawing/2014/main" id="{B049FA21-6A69-5C19-830B-453C5718C9E0}"/>
              </a:ext>
            </a:extLst>
          </p:cNvPr>
          <p:cNvSpPr/>
          <p:nvPr/>
        </p:nvSpPr>
        <p:spPr>
          <a:xfrm>
            <a:off x="7196930" y="3362492"/>
            <a:ext cx="1496181"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Avoir créé un jeu de formation cybersécurité</a:t>
            </a:r>
          </a:p>
        </p:txBody>
      </p:sp>
      <p:sp>
        <p:nvSpPr>
          <p:cNvPr id="30" name="Rectangle 29">
            <a:extLst>
              <a:ext uri="{FF2B5EF4-FFF2-40B4-BE49-F238E27FC236}">
                <a16:creationId xmlns:a16="http://schemas.microsoft.com/office/drawing/2014/main" id="{AEBC1E8C-E8CC-5756-727E-8928E47A785E}"/>
              </a:ext>
            </a:extLst>
          </p:cNvPr>
          <p:cNvSpPr/>
          <p:nvPr/>
        </p:nvSpPr>
        <p:spPr>
          <a:xfrm>
            <a:off x="4809368" y="2116073"/>
            <a:ext cx="1496181"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Faire certifier l’entreprise ISO 27032 d’ici les 3 prochaines années</a:t>
            </a:r>
          </a:p>
        </p:txBody>
      </p:sp>
      <p:sp>
        <p:nvSpPr>
          <p:cNvPr id="31" name="Rectangle 30">
            <a:extLst>
              <a:ext uri="{FF2B5EF4-FFF2-40B4-BE49-F238E27FC236}">
                <a16:creationId xmlns:a16="http://schemas.microsoft.com/office/drawing/2014/main" id="{529B8703-9EEE-B87A-6CDC-E6E81BEEF95B}"/>
              </a:ext>
            </a:extLst>
          </p:cNvPr>
          <p:cNvSpPr/>
          <p:nvPr/>
        </p:nvSpPr>
        <p:spPr>
          <a:xfrm>
            <a:off x="5055829" y="3275907"/>
            <a:ext cx="982982"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Toute la documentation en anglais</a:t>
            </a:r>
          </a:p>
        </p:txBody>
      </p:sp>
      <p:sp>
        <p:nvSpPr>
          <p:cNvPr id="32" name="Rectangle 31">
            <a:extLst>
              <a:ext uri="{FF2B5EF4-FFF2-40B4-BE49-F238E27FC236}">
                <a16:creationId xmlns:a16="http://schemas.microsoft.com/office/drawing/2014/main" id="{983D32FF-215E-F1A0-4514-E9FCA0F37D56}"/>
              </a:ext>
            </a:extLst>
          </p:cNvPr>
          <p:cNvSpPr/>
          <p:nvPr/>
        </p:nvSpPr>
        <p:spPr>
          <a:xfrm>
            <a:off x="6096000" y="3287562"/>
            <a:ext cx="982982"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Toujours garder un soutien managérial</a:t>
            </a:r>
          </a:p>
        </p:txBody>
      </p:sp>
    </p:spTree>
    <p:extLst>
      <p:ext uri="{BB962C8B-B14F-4D97-AF65-F5344CB8AC3E}">
        <p14:creationId xmlns:p14="http://schemas.microsoft.com/office/powerpoint/2010/main" val="3592388805"/>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e 21">
            <a:extLst>
              <a:ext uri="{FF2B5EF4-FFF2-40B4-BE49-F238E27FC236}">
                <a16:creationId xmlns:a16="http://schemas.microsoft.com/office/drawing/2014/main" id="{4C6A6531-BC17-45C2-ACEE-E0D68875DE67}"/>
              </a:ext>
            </a:extLst>
          </p:cNvPr>
          <p:cNvGrpSpPr/>
          <p:nvPr/>
        </p:nvGrpSpPr>
        <p:grpSpPr>
          <a:xfrm>
            <a:off x="463550" y="1420160"/>
            <a:ext cx="11264900" cy="5272740"/>
            <a:chOff x="463550" y="1420160"/>
            <a:chExt cx="11264900" cy="5272740"/>
          </a:xfrm>
        </p:grpSpPr>
        <p:sp>
          <p:nvSpPr>
            <p:cNvPr id="5" name="Trapèze 4">
              <a:extLst>
                <a:ext uri="{FF2B5EF4-FFF2-40B4-BE49-F238E27FC236}">
                  <a16:creationId xmlns:a16="http://schemas.microsoft.com/office/drawing/2014/main" id="{4289C218-9240-42AD-9CE8-75EC7CE223E9}"/>
                </a:ext>
              </a:extLst>
            </p:cNvPr>
            <p:cNvSpPr/>
            <p:nvPr/>
          </p:nvSpPr>
          <p:spPr>
            <a:xfrm>
              <a:off x="463550" y="5080000"/>
              <a:ext cx="11264900" cy="1612900"/>
            </a:xfrm>
            <a:prstGeom prst="trapezoid">
              <a:avLst>
                <a:gd name="adj" fmla="val 6358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a:t>CAUSE</a:t>
              </a:r>
            </a:p>
            <a:p>
              <a:pPr algn="ctr"/>
              <a:endParaRPr lang="fr-FR" sz="1200" dirty="0"/>
            </a:p>
            <a:p>
              <a:pPr algn="ctr"/>
              <a:r>
                <a:rPr lang="fr-FR" sz="1200" dirty="0"/>
                <a:t>Description Générale de la motivation de la Communauté</a:t>
              </a:r>
            </a:p>
            <a:p>
              <a:pPr algn="ctr"/>
              <a:r>
                <a:rPr lang="fr-FR" sz="1200" dirty="0"/>
                <a:t>Etat du monde actuel</a:t>
              </a:r>
            </a:p>
            <a:p>
              <a:pPr algn="ctr"/>
              <a:r>
                <a:rPr lang="fr-FR" sz="1200" dirty="0"/>
                <a:t>Vue globale</a:t>
              </a:r>
            </a:p>
            <a:p>
              <a:pPr algn="ctr"/>
              <a:r>
                <a:rPr lang="fr-FR" sz="1200" dirty="0"/>
                <a:t>Mots clés</a:t>
              </a:r>
              <a:endParaRPr lang="fr-FR" dirty="0"/>
            </a:p>
          </p:txBody>
        </p:sp>
        <p:sp>
          <p:nvSpPr>
            <p:cNvPr id="10" name="Triangle isocèle 9">
              <a:extLst>
                <a:ext uri="{FF2B5EF4-FFF2-40B4-BE49-F238E27FC236}">
                  <a16:creationId xmlns:a16="http://schemas.microsoft.com/office/drawing/2014/main" id="{F44F215C-2BEC-4554-9D98-C4FD070183E7}"/>
                </a:ext>
              </a:extLst>
            </p:cNvPr>
            <p:cNvSpPr/>
            <p:nvPr/>
          </p:nvSpPr>
          <p:spPr>
            <a:xfrm>
              <a:off x="2800350" y="1420160"/>
              <a:ext cx="6553200" cy="1529080"/>
            </a:xfrm>
            <a:prstGeom prst="triangle">
              <a:avLst>
                <a:gd name="adj" fmla="val 5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a:t>GRAND BUT</a:t>
              </a:r>
            </a:p>
            <a:p>
              <a:pPr algn="ctr"/>
              <a:endParaRPr lang="fr-FR" sz="1400" b="1" dirty="0"/>
            </a:p>
            <a:p>
              <a:pPr algn="ctr"/>
              <a:r>
                <a:rPr lang="fr-FR" sz="1400" dirty="0"/>
                <a:t>Facilement comprehensible, mesurable, et rattachable facilement à des actions.</a:t>
              </a:r>
            </a:p>
            <a:p>
              <a:pPr algn="ctr"/>
              <a:endParaRPr lang="fr-FR" sz="1400" dirty="0"/>
            </a:p>
            <a:p>
              <a:pPr algn="ctr"/>
              <a:endParaRPr lang="fr-FR" sz="1400" dirty="0"/>
            </a:p>
            <a:p>
              <a:pPr algn="ctr"/>
              <a:endParaRPr lang="fr-FR" sz="1400" dirty="0"/>
            </a:p>
          </p:txBody>
        </p:sp>
        <p:grpSp>
          <p:nvGrpSpPr>
            <p:cNvPr id="17" name="Groupe 16">
              <a:extLst>
                <a:ext uri="{FF2B5EF4-FFF2-40B4-BE49-F238E27FC236}">
                  <a16:creationId xmlns:a16="http://schemas.microsoft.com/office/drawing/2014/main" id="{9BF4AA2E-532A-4440-A263-1FC630895566}"/>
                </a:ext>
              </a:extLst>
            </p:cNvPr>
            <p:cNvGrpSpPr/>
            <p:nvPr/>
          </p:nvGrpSpPr>
          <p:grpSpPr>
            <a:xfrm>
              <a:off x="1527175" y="3040767"/>
              <a:ext cx="9137650" cy="1969383"/>
              <a:chOff x="1644650" y="3040767"/>
              <a:chExt cx="9137650" cy="1907219"/>
            </a:xfrm>
          </p:grpSpPr>
          <p:sp>
            <p:nvSpPr>
              <p:cNvPr id="6" name="Trapèze 5">
                <a:extLst>
                  <a:ext uri="{FF2B5EF4-FFF2-40B4-BE49-F238E27FC236}">
                    <a16:creationId xmlns:a16="http://schemas.microsoft.com/office/drawing/2014/main" id="{FBD08814-5536-4C93-B7C5-9CE3890241D5}"/>
                  </a:ext>
                </a:extLst>
              </p:cNvPr>
              <p:cNvSpPr/>
              <p:nvPr/>
            </p:nvSpPr>
            <p:spPr>
              <a:xfrm>
                <a:off x="1644650"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dirty="0"/>
                  <a:t>MAUVAIS SOUVENIRS</a:t>
                </a:r>
              </a:p>
              <a:p>
                <a:pPr algn="ctr"/>
                <a:r>
                  <a:rPr lang="fr-FR" sz="1100" dirty="0"/>
                  <a:t>Des situations passées ou existantes qu’on n’aimerait ne plus vior arriver</a:t>
                </a:r>
              </a:p>
            </p:txBody>
          </p:sp>
          <p:sp>
            <p:nvSpPr>
              <p:cNvPr id="8" name="Trapèze 7">
                <a:extLst>
                  <a:ext uri="{FF2B5EF4-FFF2-40B4-BE49-F238E27FC236}">
                    <a16:creationId xmlns:a16="http://schemas.microsoft.com/office/drawing/2014/main" id="{B049311D-5C7A-42FF-BBA9-F762FBBC3FEB}"/>
                  </a:ext>
                </a:extLst>
              </p:cNvPr>
              <p:cNvSpPr/>
              <p:nvPr/>
            </p:nvSpPr>
            <p:spPr>
              <a:xfrm>
                <a:off x="2314030"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dirty="0"/>
                  <a:t>HISTOIRES À ÉVITER</a:t>
                </a:r>
              </a:p>
              <a:p>
                <a:pPr algn="ctr"/>
                <a:r>
                  <a:rPr lang="fr-FR" sz="1100" dirty="0"/>
                  <a:t>Situations fictives à éviter</a:t>
                </a:r>
              </a:p>
            </p:txBody>
          </p:sp>
          <p:sp>
            <p:nvSpPr>
              <p:cNvPr id="13" name="Trapèze 12">
                <a:extLst>
                  <a:ext uri="{FF2B5EF4-FFF2-40B4-BE49-F238E27FC236}">
                    <a16:creationId xmlns:a16="http://schemas.microsoft.com/office/drawing/2014/main" id="{6088D12F-5C5D-4F51-B2F2-2D3E87A1D135}"/>
                  </a:ext>
                </a:extLst>
              </p:cNvPr>
              <p:cNvSpPr/>
              <p:nvPr/>
            </p:nvSpPr>
            <p:spPr>
              <a:xfrm>
                <a:off x="6261747" y="3985457"/>
                <a:ext cx="4520553" cy="962529"/>
              </a:xfrm>
              <a:prstGeom prst="trapezoid">
                <a:avLst>
                  <a:gd name="adj" fmla="val 6358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dirty="0"/>
                  <a:t>BONS SOUVENIRS</a:t>
                </a:r>
              </a:p>
              <a:p>
                <a:pPr algn="ctr"/>
                <a:r>
                  <a:rPr lang="fr-FR" sz="1100" dirty="0"/>
                  <a:t>Les situations passées ou existantes qu’on aimerait voir arriver de nouveau</a:t>
                </a:r>
              </a:p>
            </p:txBody>
          </p:sp>
          <p:sp>
            <p:nvSpPr>
              <p:cNvPr id="14" name="Trapèze 13">
                <a:extLst>
                  <a:ext uri="{FF2B5EF4-FFF2-40B4-BE49-F238E27FC236}">
                    <a16:creationId xmlns:a16="http://schemas.microsoft.com/office/drawing/2014/main" id="{6A9B144A-40D6-42CF-80A5-0896AD11EDE4}"/>
                  </a:ext>
                </a:extLst>
              </p:cNvPr>
              <p:cNvSpPr/>
              <p:nvPr/>
            </p:nvSpPr>
            <p:spPr>
              <a:xfrm>
                <a:off x="6927306" y="3040767"/>
                <a:ext cx="3159670" cy="864000"/>
              </a:xfrm>
              <a:prstGeom prst="trapezoid">
                <a:avLst>
                  <a:gd name="adj" fmla="val 6358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fr-FR" sz="1100" b="1" dirty="0"/>
                  <a:t>HISTOIRES IDÉALES</a:t>
                </a:r>
              </a:p>
              <a:p>
                <a:pPr algn="ctr"/>
                <a:r>
                  <a:rPr lang="fr-FR" sz="1100" dirty="0"/>
                  <a:t>Situations aujourd’hui fictives que l’on souhaite faire arriver</a:t>
                </a:r>
              </a:p>
            </p:txBody>
          </p:sp>
        </p:grpSp>
        <p:sp>
          <p:nvSpPr>
            <p:cNvPr id="16" name="Triangle isocèle 15">
              <a:extLst>
                <a:ext uri="{FF2B5EF4-FFF2-40B4-BE49-F238E27FC236}">
                  <a16:creationId xmlns:a16="http://schemas.microsoft.com/office/drawing/2014/main" id="{963FE96F-DB14-48B6-8AD5-6C71A572B880}"/>
                </a:ext>
              </a:extLst>
            </p:cNvPr>
            <p:cNvSpPr/>
            <p:nvPr/>
          </p:nvSpPr>
          <p:spPr>
            <a:xfrm rot="10800000">
              <a:off x="4952497" y="3040768"/>
              <a:ext cx="2287008" cy="1795683"/>
            </a:xfrm>
            <a:prstGeom prst="triangl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ZoneTexte 18">
              <a:extLst>
                <a:ext uri="{FF2B5EF4-FFF2-40B4-BE49-F238E27FC236}">
                  <a16:creationId xmlns:a16="http://schemas.microsoft.com/office/drawing/2014/main" id="{11F4FD41-5370-460D-B968-30E15161AA7F}"/>
                </a:ext>
              </a:extLst>
            </p:cNvPr>
            <p:cNvSpPr txBox="1"/>
            <p:nvPr/>
          </p:nvSpPr>
          <p:spPr>
            <a:xfrm>
              <a:off x="4952496" y="3044169"/>
              <a:ext cx="2287009" cy="646331"/>
            </a:xfrm>
            <a:prstGeom prst="rect">
              <a:avLst/>
            </a:prstGeom>
            <a:noFill/>
          </p:spPr>
          <p:txBody>
            <a:bodyPr wrap="square">
              <a:spAutoFit/>
            </a:bodyPr>
            <a:lstStyle/>
            <a:p>
              <a:pPr algn="ctr"/>
              <a:r>
                <a:rPr lang="fr-FR" sz="1200" b="1" dirty="0"/>
                <a:t>CONDITIONS</a:t>
              </a:r>
            </a:p>
            <a:p>
              <a:pPr algn="ctr"/>
              <a:r>
                <a:rPr lang="fr-FR" sz="1200" dirty="0"/>
                <a:t>Les conditions dans lesquelles nous voulons atteindre notre but</a:t>
              </a:r>
            </a:p>
          </p:txBody>
        </p:sp>
      </p:grpSp>
      <p:sp>
        <p:nvSpPr>
          <p:cNvPr id="15" name="Rectangle 14">
            <a:extLst>
              <a:ext uri="{FF2B5EF4-FFF2-40B4-BE49-F238E27FC236}">
                <a16:creationId xmlns:a16="http://schemas.microsoft.com/office/drawing/2014/main" id="{4E4A1AD3-1E83-5558-BD50-BF1AEA11CD38}"/>
              </a:ext>
            </a:extLst>
          </p:cNvPr>
          <p:cNvSpPr/>
          <p:nvPr/>
        </p:nvSpPr>
        <p:spPr>
          <a:xfrm>
            <a:off x="2672443" y="5734003"/>
            <a:ext cx="2017486" cy="9588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User Expérience</a:t>
            </a:r>
          </a:p>
        </p:txBody>
      </p:sp>
      <p:sp>
        <p:nvSpPr>
          <p:cNvPr id="18" name="Rectangle 17">
            <a:extLst>
              <a:ext uri="{FF2B5EF4-FFF2-40B4-BE49-F238E27FC236}">
                <a16:creationId xmlns:a16="http://schemas.microsoft.com/office/drawing/2014/main" id="{814A6E93-E208-7C67-57AC-8CE3D8AC872D}"/>
              </a:ext>
            </a:extLst>
          </p:cNvPr>
          <p:cNvSpPr/>
          <p:nvPr/>
        </p:nvSpPr>
        <p:spPr>
          <a:xfrm>
            <a:off x="4951186" y="5717222"/>
            <a:ext cx="2017486" cy="9588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Entraide opérationnelle</a:t>
            </a:r>
          </a:p>
        </p:txBody>
      </p:sp>
      <p:sp>
        <p:nvSpPr>
          <p:cNvPr id="20" name="Rectangle 19">
            <a:extLst>
              <a:ext uri="{FF2B5EF4-FFF2-40B4-BE49-F238E27FC236}">
                <a16:creationId xmlns:a16="http://schemas.microsoft.com/office/drawing/2014/main" id="{7BC4199A-501A-2F4A-B9CB-AD8D591A56FC}"/>
              </a:ext>
            </a:extLst>
          </p:cNvPr>
          <p:cNvSpPr/>
          <p:nvPr/>
        </p:nvSpPr>
        <p:spPr>
          <a:xfrm>
            <a:off x="7229929" y="5717222"/>
            <a:ext cx="2017486" cy="95889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Bonnes pratiques</a:t>
            </a:r>
          </a:p>
        </p:txBody>
      </p:sp>
      <p:sp>
        <p:nvSpPr>
          <p:cNvPr id="21" name="Rectangle 20">
            <a:extLst>
              <a:ext uri="{FF2B5EF4-FFF2-40B4-BE49-F238E27FC236}">
                <a16:creationId xmlns:a16="http://schemas.microsoft.com/office/drawing/2014/main" id="{2D41A744-6501-29C5-A68D-83E72C4CFFBF}"/>
              </a:ext>
            </a:extLst>
          </p:cNvPr>
          <p:cNvSpPr/>
          <p:nvPr/>
        </p:nvSpPr>
        <p:spPr>
          <a:xfrm>
            <a:off x="2041255" y="4492140"/>
            <a:ext cx="1940083" cy="84375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Jacques, </a:t>
            </a:r>
            <a:r>
              <a:rPr lang="fr-FR" sz="1000" dirty="0" err="1">
                <a:solidFill>
                  <a:schemeClr val="tx1"/>
                </a:solidFill>
              </a:rPr>
              <a:t>l’Ux</a:t>
            </a:r>
            <a:r>
              <a:rPr lang="fr-FR" sz="1000" dirty="0">
                <a:solidFill>
                  <a:schemeClr val="tx1"/>
                </a:solidFill>
              </a:rPr>
              <a:t> de l’équipe XYZ, est resté tout seul avec son problème pendant des mois alors que Jill l’avait déjà résolu dans son équipe</a:t>
            </a:r>
          </a:p>
        </p:txBody>
      </p:sp>
      <p:sp>
        <p:nvSpPr>
          <p:cNvPr id="23" name="Rectangle 22">
            <a:extLst>
              <a:ext uri="{FF2B5EF4-FFF2-40B4-BE49-F238E27FC236}">
                <a16:creationId xmlns:a16="http://schemas.microsoft.com/office/drawing/2014/main" id="{77595AED-9694-BD20-7232-EB0F1BB66875}"/>
              </a:ext>
            </a:extLst>
          </p:cNvPr>
          <p:cNvSpPr/>
          <p:nvPr/>
        </p:nvSpPr>
        <p:spPr>
          <a:xfrm>
            <a:off x="2350626" y="3499794"/>
            <a:ext cx="1198580" cy="648677"/>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Les nouveaux </a:t>
            </a:r>
            <a:r>
              <a:rPr lang="fr-FR" sz="1000" dirty="0" err="1">
                <a:solidFill>
                  <a:schemeClr val="tx1"/>
                </a:solidFill>
              </a:rPr>
              <a:t>Ux</a:t>
            </a:r>
            <a:r>
              <a:rPr lang="fr-FR" sz="1000" dirty="0">
                <a:solidFill>
                  <a:schemeClr val="tx1"/>
                </a:solidFill>
              </a:rPr>
              <a:t> sont perdus et finissent par subir leurs équipes</a:t>
            </a:r>
          </a:p>
        </p:txBody>
      </p:sp>
      <p:sp>
        <p:nvSpPr>
          <p:cNvPr id="24" name="Rectangle 23">
            <a:extLst>
              <a:ext uri="{FF2B5EF4-FFF2-40B4-BE49-F238E27FC236}">
                <a16:creationId xmlns:a16="http://schemas.microsoft.com/office/drawing/2014/main" id="{1AC5C7DF-63F5-B0FE-DFAA-503275A1878E}"/>
              </a:ext>
            </a:extLst>
          </p:cNvPr>
          <p:cNvSpPr/>
          <p:nvPr/>
        </p:nvSpPr>
        <p:spPr>
          <a:xfrm>
            <a:off x="3667154" y="3499794"/>
            <a:ext cx="1198580" cy="64867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Le département n’investit plus dans l’User </a:t>
            </a:r>
            <a:r>
              <a:rPr lang="fr-FR" sz="1000" dirty="0" err="1">
                <a:solidFill>
                  <a:schemeClr val="tx1"/>
                </a:solidFill>
              </a:rPr>
              <a:t>Research</a:t>
            </a:r>
            <a:r>
              <a:rPr lang="fr-FR" sz="1000" dirty="0">
                <a:solidFill>
                  <a:schemeClr val="tx1"/>
                </a:solidFill>
              </a:rPr>
              <a:t> du tout</a:t>
            </a:r>
          </a:p>
        </p:txBody>
      </p:sp>
      <p:sp>
        <p:nvSpPr>
          <p:cNvPr id="25" name="Rectangle 24">
            <a:extLst>
              <a:ext uri="{FF2B5EF4-FFF2-40B4-BE49-F238E27FC236}">
                <a16:creationId xmlns:a16="http://schemas.microsoft.com/office/drawing/2014/main" id="{A2D0739A-32D3-99E4-B52F-09B7A6B14092}"/>
              </a:ext>
            </a:extLst>
          </p:cNvPr>
          <p:cNvSpPr/>
          <p:nvPr/>
        </p:nvSpPr>
        <p:spPr>
          <a:xfrm>
            <a:off x="4266443" y="4490713"/>
            <a:ext cx="1829557" cy="866242"/>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Pierrette a du se restreindre à faire de l’UI et des maquettes parce que son équipe ne comprenait pas le métier de l’UX</a:t>
            </a:r>
          </a:p>
        </p:txBody>
      </p:sp>
      <p:sp>
        <p:nvSpPr>
          <p:cNvPr id="26" name="Rectangle 25">
            <a:extLst>
              <a:ext uri="{FF2B5EF4-FFF2-40B4-BE49-F238E27FC236}">
                <a16:creationId xmlns:a16="http://schemas.microsoft.com/office/drawing/2014/main" id="{F63ACAB2-E22A-5F31-253A-8D4191CA5D51}"/>
              </a:ext>
            </a:extLst>
          </p:cNvPr>
          <p:cNvSpPr/>
          <p:nvPr/>
        </p:nvSpPr>
        <p:spPr>
          <a:xfrm>
            <a:off x="6326244" y="4513199"/>
            <a:ext cx="1496181" cy="740500"/>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Alice, au profil plutôt expérimenté, a formé le management sur les nouvelles pratiques 2022 lors du dernier séminaire</a:t>
            </a:r>
          </a:p>
        </p:txBody>
      </p:sp>
      <p:sp>
        <p:nvSpPr>
          <p:cNvPr id="27" name="Rectangle 26">
            <a:extLst>
              <a:ext uri="{FF2B5EF4-FFF2-40B4-BE49-F238E27FC236}">
                <a16:creationId xmlns:a16="http://schemas.microsoft.com/office/drawing/2014/main" id="{986C7D11-8830-D78F-5B8A-21132310DFA2}"/>
              </a:ext>
            </a:extLst>
          </p:cNvPr>
          <p:cNvSpPr/>
          <p:nvPr/>
        </p:nvSpPr>
        <p:spPr>
          <a:xfrm>
            <a:off x="9013731" y="4513199"/>
            <a:ext cx="1496181" cy="84375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Des retours clients sur l’application XYZ qui ont complimenté l’expérience utilisateur avec une note de 4.8/5</a:t>
            </a:r>
          </a:p>
        </p:txBody>
      </p:sp>
      <p:sp>
        <p:nvSpPr>
          <p:cNvPr id="28" name="Rectangle 27">
            <a:extLst>
              <a:ext uri="{FF2B5EF4-FFF2-40B4-BE49-F238E27FC236}">
                <a16:creationId xmlns:a16="http://schemas.microsoft.com/office/drawing/2014/main" id="{B1330527-96FC-1D62-AE88-8786F5764C98}"/>
              </a:ext>
            </a:extLst>
          </p:cNvPr>
          <p:cNvSpPr/>
          <p:nvPr/>
        </p:nvSpPr>
        <p:spPr>
          <a:xfrm>
            <a:off x="8781546" y="3354101"/>
            <a:ext cx="1496181"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Notre métier est devenu respecté et nous ne sommes plus limité à « faire des maquettes »</a:t>
            </a:r>
          </a:p>
        </p:txBody>
      </p:sp>
      <p:sp>
        <p:nvSpPr>
          <p:cNvPr id="29" name="Rectangle 28">
            <a:extLst>
              <a:ext uri="{FF2B5EF4-FFF2-40B4-BE49-F238E27FC236}">
                <a16:creationId xmlns:a16="http://schemas.microsoft.com/office/drawing/2014/main" id="{B049FA21-6A69-5C19-830B-453C5718C9E0}"/>
              </a:ext>
            </a:extLst>
          </p:cNvPr>
          <p:cNvSpPr/>
          <p:nvPr/>
        </p:nvSpPr>
        <p:spPr>
          <a:xfrm>
            <a:off x="7196930" y="3362492"/>
            <a:ext cx="1496181"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Nous avons réussi à apprendre de nouvelles choses pour rester à jour</a:t>
            </a:r>
          </a:p>
        </p:txBody>
      </p:sp>
      <p:sp>
        <p:nvSpPr>
          <p:cNvPr id="30" name="Rectangle 29">
            <a:extLst>
              <a:ext uri="{FF2B5EF4-FFF2-40B4-BE49-F238E27FC236}">
                <a16:creationId xmlns:a16="http://schemas.microsoft.com/office/drawing/2014/main" id="{AEBC1E8C-E8CC-5756-727E-8928E47A785E}"/>
              </a:ext>
            </a:extLst>
          </p:cNvPr>
          <p:cNvSpPr/>
          <p:nvPr/>
        </p:nvSpPr>
        <p:spPr>
          <a:xfrm>
            <a:off x="4809368" y="2116073"/>
            <a:ext cx="1896232"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Avoir mis en place des bonnes pratiques </a:t>
            </a:r>
            <a:r>
              <a:rPr lang="fr-FR" sz="1000" dirty="0" err="1">
                <a:solidFill>
                  <a:schemeClr val="tx1"/>
                </a:solidFill>
              </a:rPr>
              <a:t>Ux</a:t>
            </a:r>
            <a:r>
              <a:rPr lang="fr-FR" sz="1000" dirty="0">
                <a:solidFill>
                  <a:schemeClr val="tx1"/>
                </a:solidFill>
              </a:rPr>
              <a:t> sur tous les produits du département sur les 5 ans à venir.</a:t>
            </a:r>
          </a:p>
        </p:txBody>
      </p:sp>
      <p:sp>
        <p:nvSpPr>
          <p:cNvPr id="31" name="Rectangle 30">
            <a:extLst>
              <a:ext uri="{FF2B5EF4-FFF2-40B4-BE49-F238E27FC236}">
                <a16:creationId xmlns:a16="http://schemas.microsoft.com/office/drawing/2014/main" id="{529B8703-9EEE-B87A-6CDC-E6E81BEEF95B}"/>
              </a:ext>
            </a:extLst>
          </p:cNvPr>
          <p:cNvSpPr/>
          <p:nvPr/>
        </p:nvSpPr>
        <p:spPr>
          <a:xfrm>
            <a:off x="5055829" y="3275907"/>
            <a:ext cx="982982" cy="645366"/>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Ne sont admis que les </a:t>
            </a:r>
            <a:r>
              <a:rPr lang="fr-FR" sz="1000" dirty="0" err="1">
                <a:solidFill>
                  <a:schemeClr val="tx1"/>
                </a:solidFill>
              </a:rPr>
              <a:t>Ux</a:t>
            </a:r>
            <a:r>
              <a:rPr lang="fr-FR" sz="1000" dirty="0">
                <a:solidFill>
                  <a:schemeClr val="tx1"/>
                </a:solidFill>
              </a:rPr>
              <a:t> de métier</a:t>
            </a:r>
          </a:p>
        </p:txBody>
      </p:sp>
      <p:sp>
        <p:nvSpPr>
          <p:cNvPr id="32" name="Rectangle 31">
            <a:extLst>
              <a:ext uri="{FF2B5EF4-FFF2-40B4-BE49-F238E27FC236}">
                <a16:creationId xmlns:a16="http://schemas.microsoft.com/office/drawing/2014/main" id="{983D32FF-215E-F1A0-4514-E9FCA0F37D56}"/>
              </a:ext>
            </a:extLst>
          </p:cNvPr>
          <p:cNvSpPr/>
          <p:nvPr/>
        </p:nvSpPr>
        <p:spPr>
          <a:xfrm>
            <a:off x="6096000" y="3287562"/>
            <a:ext cx="982982" cy="971114"/>
          </a:xfrm>
          <a:prstGeom prst="rect">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rPr>
              <a:t>A chaque décision, on ne parlera que d’une seule voix au management</a:t>
            </a:r>
          </a:p>
        </p:txBody>
      </p:sp>
      <p:sp>
        <p:nvSpPr>
          <p:cNvPr id="33" name="Titre 1">
            <a:extLst>
              <a:ext uri="{FF2B5EF4-FFF2-40B4-BE49-F238E27FC236}">
                <a16:creationId xmlns:a16="http://schemas.microsoft.com/office/drawing/2014/main" id="{989BC542-5AC3-12C0-E02F-4D0CEF2D886C}"/>
              </a:ext>
            </a:extLst>
          </p:cNvPr>
          <p:cNvSpPr>
            <a:spLocks noGrp="1"/>
          </p:cNvSpPr>
          <p:nvPr>
            <p:ph type="title"/>
          </p:nvPr>
        </p:nvSpPr>
        <p:spPr>
          <a:xfrm>
            <a:off x="419099" y="365125"/>
            <a:ext cx="11772901" cy="988496"/>
          </a:xfrm>
        </p:spPr>
        <p:txBody>
          <a:bodyPr>
            <a:noAutofit/>
          </a:bodyPr>
          <a:lstStyle/>
          <a:p>
            <a:r>
              <a:rPr lang="fr-FR" sz="3600" dirty="0"/>
              <a:t>Retrouvez les bonnes cases pour les différents tickets</a:t>
            </a:r>
            <a:br>
              <a:rPr lang="fr-FR" sz="3600" dirty="0"/>
            </a:br>
            <a:r>
              <a:rPr lang="fr-FR" sz="3600" dirty="0"/>
              <a:t>Exemple d’une </a:t>
            </a:r>
            <a:br>
              <a:rPr lang="fr-FR" sz="3600" dirty="0"/>
            </a:br>
            <a:r>
              <a:rPr lang="fr-FR" sz="3600" dirty="0"/>
              <a:t>Communauté </a:t>
            </a:r>
          </a:p>
        </p:txBody>
      </p:sp>
      <p:sp>
        <p:nvSpPr>
          <p:cNvPr id="34" name="Rectangle 33">
            <a:extLst>
              <a:ext uri="{FF2B5EF4-FFF2-40B4-BE49-F238E27FC236}">
                <a16:creationId xmlns:a16="http://schemas.microsoft.com/office/drawing/2014/main" id="{4D4AD8FD-70B9-5E9E-4E71-FEAE1BA19C9B}"/>
              </a:ext>
            </a:extLst>
          </p:cNvPr>
          <p:cNvSpPr/>
          <p:nvPr/>
        </p:nvSpPr>
        <p:spPr>
          <a:xfrm>
            <a:off x="3266596" y="565782"/>
            <a:ext cx="2017486" cy="9588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schemeClr val="tx1"/>
                </a:solidFill>
              </a:rPr>
              <a:t>Communauté des </a:t>
            </a:r>
            <a:r>
              <a:rPr lang="fr-FR" dirty="0" err="1">
                <a:solidFill>
                  <a:schemeClr val="tx1"/>
                </a:solidFill>
              </a:rPr>
              <a:t>Ux</a:t>
            </a:r>
            <a:r>
              <a:rPr lang="fr-FR" dirty="0">
                <a:solidFill>
                  <a:schemeClr val="tx1"/>
                </a:solidFill>
              </a:rPr>
              <a:t> d’un département</a:t>
            </a:r>
          </a:p>
        </p:txBody>
      </p:sp>
    </p:spTree>
    <p:extLst>
      <p:ext uri="{BB962C8B-B14F-4D97-AF65-F5344CB8AC3E}">
        <p14:creationId xmlns:p14="http://schemas.microsoft.com/office/powerpoint/2010/main" val="3415570322"/>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Extérieur à l’entreprise, je découvre des contenus spécialisés liés au métier qui m’intéresse. J’y remarque un article intéressant et travaillé, partagé par la </a:t>
            </a:r>
            <a:r>
              <a:rPr lang="fr-FR" sz="1400" b="1" dirty="0"/>
              <a:t>Communauté métier </a:t>
            </a:r>
            <a:r>
              <a:rPr lang="fr-FR" sz="1400" dirty="0"/>
              <a:t>de l’entreprise XYZ, qui partage son expérience</a:t>
            </a:r>
            <a:r>
              <a:rPr lang="fr-FR" sz="1400" b="1" dirty="0"/>
              <a:t>. </a:t>
            </a:r>
            <a:r>
              <a:rPr lang="fr-FR" sz="1400" dirty="0"/>
              <a:t>Ses membres gagnent ma reconnaissance.</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La Communication externe a souvent besoin d’être contrôlée par un service Communication centralisé. Cela peut cependant ralentir ou faire manquer certaines opportunités. Une alternative plus informelle est alors celui des </a:t>
            </a:r>
            <a:r>
              <a:rPr lang="fr-FR" sz="1400" b="1" dirty="0">
                <a:solidFill>
                  <a:schemeClr val="bg1"/>
                </a:solidFill>
              </a:rPr>
              <a:t>Communautés métier.</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grpSp>
        <p:nvGrpSpPr>
          <p:cNvPr id="117" name="Groupe 116">
            <a:extLst>
              <a:ext uri="{FF2B5EF4-FFF2-40B4-BE49-F238E27FC236}">
                <a16:creationId xmlns:a16="http://schemas.microsoft.com/office/drawing/2014/main" id="{FC4E15D8-65A3-4B8B-F147-AAA3CEC75924}"/>
              </a:ext>
            </a:extLst>
          </p:cNvPr>
          <p:cNvGrpSpPr/>
          <p:nvPr/>
        </p:nvGrpSpPr>
        <p:grpSpPr>
          <a:xfrm>
            <a:off x="977666" y="4723434"/>
            <a:ext cx="1653081" cy="1467339"/>
            <a:chOff x="6088603" y="4144848"/>
            <a:chExt cx="1000589" cy="889209"/>
          </a:xfrm>
        </p:grpSpPr>
        <p:pic>
          <p:nvPicPr>
            <p:cNvPr id="126" name="Graphique 125" descr="Globe terrestre : Europe et Afrique avec un remplissage uni">
              <a:extLst>
                <a:ext uri="{FF2B5EF4-FFF2-40B4-BE49-F238E27FC236}">
                  <a16:creationId xmlns:a16="http://schemas.microsoft.com/office/drawing/2014/main" id="{990160D5-E268-FDAA-07DF-ACC0DE212EF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278977" y="4144848"/>
              <a:ext cx="643205" cy="643205"/>
            </a:xfrm>
            <a:prstGeom prst="rect">
              <a:avLst/>
            </a:prstGeom>
          </p:spPr>
        </p:pic>
        <p:sp>
          <p:nvSpPr>
            <p:cNvPr id="127" name="ZoneTexte 126">
              <a:extLst>
                <a:ext uri="{FF2B5EF4-FFF2-40B4-BE49-F238E27FC236}">
                  <a16:creationId xmlns:a16="http://schemas.microsoft.com/office/drawing/2014/main" id="{BA8EBA2C-321E-AC1C-947A-1D7FBCD135B1}"/>
                </a:ext>
              </a:extLst>
            </p:cNvPr>
            <p:cNvSpPr txBox="1"/>
            <p:nvPr/>
          </p:nvSpPr>
          <p:spPr>
            <a:xfrm>
              <a:off x="6088603" y="4716985"/>
              <a:ext cx="1000589" cy="317072"/>
            </a:xfrm>
            <a:prstGeom prst="rect">
              <a:avLst/>
            </a:prstGeom>
            <a:noFill/>
          </p:spPr>
          <p:txBody>
            <a:bodyPr wrap="square">
              <a:spAutoFit/>
            </a:bodyPr>
            <a:lstStyle/>
            <a:p>
              <a:pPr algn="ctr"/>
              <a:r>
                <a:rPr lang="fr-FR" sz="1400" b="1" dirty="0">
                  <a:solidFill>
                    <a:srgbClr val="ED7D31"/>
                  </a:solidFill>
                </a:rPr>
                <a:t>Impact positif et sens</a:t>
              </a:r>
            </a:p>
          </p:txBody>
        </p:sp>
      </p:grpSp>
      <p:grpSp>
        <p:nvGrpSpPr>
          <p:cNvPr id="121" name="Groupe 120">
            <a:extLst>
              <a:ext uri="{FF2B5EF4-FFF2-40B4-BE49-F238E27FC236}">
                <a16:creationId xmlns:a16="http://schemas.microsoft.com/office/drawing/2014/main" id="{FC74CBF2-642B-9250-9086-671F011E1E1C}"/>
              </a:ext>
            </a:extLst>
          </p:cNvPr>
          <p:cNvGrpSpPr/>
          <p:nvPr/>
        </p:nvGrpSpPr>
        <p:grpSpPr>
          <a:xfrm>
            <a:off x="2495396" y="4708848"/>
            <a:ext cx="1441109" cy="1443078"/>
            <a:chOff x="4122509" y="4187837"/>
            <a:chExt cx="872285" cy="874508"/>
          </a:xfrm>
        </p:grpSpPr>
        <p:pic>
          <p:nvPicPr>
            <p:cNvPr id="122" name="Graphique 121" descr="Utilisateurs avec un remplissage uni">
              <a:extLst>
                <a:ext uri="{FF2B5EF4-FFF2-40B4-BE49-F238E27FC236}">
                  <a16:creationId xmlns:a16="http://schemas.microsoft.com/office/drawing/2014/main" id="{5E4429B7-1142-3E98-96DC-84606E6FB51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278095" y="4187837"/>
              <a:ext cx="590398" cy="590398"/>
            </a:xfrm>
            <a:prstGeom prst="rect">
              <a:avLst/>
            </a:prstGeom>
          </p:spPr>
        </p:pic>
        <p:sp>
          <p:nvSpPr>
            <p:cNvPr id="123" name="ZoneTexte 122">
              <a:extLst>
                <a:ext uri="{FF2B5EF4-FFF2-40B4-BE49-F238E27FC236}">
                  <a16:creationId xmlns:a16="http://schemas.microsoft.com/office/drawing/2014/main" id="{BBE1D591-A748-D793-51C5-7729CDE42DDB}"/>
                </a:ext>
              </a:extLst>
            </p:cNvPr>
            <p:cNvSpPr txBox="1"/>
            <p:nvPr/>
          </p:nvSpPr>
          <p:spPr>
            <a:xfrm>
              <a:off x="4122509" y="4745273"/>
              <a:ext cx="872285" cy="317072"/>
            </a:xfrm>
            <a:prstGeom prst="rect">
              <a:avLst/>
            </a:prstGeom>
            <a:noFill/>
          </p:spPr>
          <p:txBody>
            <a:bodyPr wrap="square">
              <a:spAutoFit/>
            </a:bodyPr>
            <a:lstStyle/>
            <a:p>
              <a:pPr algn="ctr"/>
              <a:r>
                <a:rPr lang="fr-FR" sz="1400" b="1" dirty="0">
                  <a:solidFill>
                    <a:srgbClr val="ED7D31"/>
                  </a:solidFill>
                </a:rPr>
                <a:t>Reconnaissance sociale </a:t>
              </a:r>
            </a:p>
          </p:txBody>
        </p:sp>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1 : Quand je découvre l’entreprise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6"/>
            <a:ext cx="1935178" cy="1624294"/>
            <a:chOff x="11670562" y="767339"/>
            <a:chExt cx="1001440" cy="840560"/>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847539" y="986738"/>
              <a:ext cx="824463" cy="621161"/>
            </a:xfrm>
            <a:prstGeom prst="rect">
              <a:avLst/>
            </a:prstGeom>
            <a:noFill/>
          </p:spPr>
          <p:txBody>
            <a:bodyPr wrap="square">
              <a:spAutoFit/>
            </a:bodyPr>
            <a:lstStyle/>
            <a:p>
              <a:pPr algn="r"/>
              <a:r>
                <a:rPr lang="fr-FR" b="1" dirty="0">
                  <a:solidFill>
                    <a:schemeClr val="tx1"/>
                  </a:solidFill>
                </a:rPr>
                <a:t>Ep 2: </a:t>
              </a:r>
            </a:p>
            <a:p>
              <a:pPr algn="r"/>
              <a:r>
                <a:rPr lang="fr-FR" b="1" dirty="0"/>
                <a:t>Ma p</a:t>
              </a:r>
              <a:r>
                <a:rPr lang="fr-FR" b="1" dirty="0">
                  <a:solidFill>
                    <a:schemeClr val="tx1"/>
                  </a:solidFill>
                </a:rPr>
                <a:t>remière rencontre avec l’entreprise</a:t>
              </a:r>
            </a:p>
          </p:txBody>
        </p:sp>
      </p:grpSp>
      <p:sp>
        <p:nvSpPr>
          <p:cNvPr id="160" name="Rectangle 159">
            <a:extLst>
              <a:ext uri="{FF2B5EF4-FFF2-40B4-BE49-F238E27FC236}">
                <a16:creationId xmlns:a16="http://schemas.microsoft.com/office/drawing/2014/main" id="{EF72B515-DBAF-AEFE-FAD8-068C94EA98DF}"/>
              </a:ext>
            </a:extLst>
          </p:cNvPr>
          <p:cNvSpPr/>
          <p:nvPr/>
        </p:nvSpPr>
        <p:spPr>
          <a:xfrm>
            <a:off x="6460347" y="5628707"/>
            <a:ext cx="2342285" cy="6199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Développement de la  Communication externe</a:t>
            </a:r>
          </a:p>
        </p:txBody>
      </p:sp>
      <p:grpSp>
        <p:nvGrpSpPr>
          <p:cNvPr id="161" name="Groupe 160">
            <a:extLst>
              <a:ext uri="{FF2B5EF4-FFF2-40B4-BE49-F238E27FC236}">
                <a16:creationId xmlns:a16="http://schemas.microsoft.com/office/drawing/2014/main" id="{355CA7D0-671B-1C6A-8A53-6069D51DE95A}"/>
              </a:ext>
            </a:extLst>
          </p:cNvPr>
          <p:cNvGrpSpPr/>
          <p:nvPr/>
        </p:nvGrpSpPr>
        <p:grpSpPr>
          <a:xfrm>
            <a:off x="6953159" y="4613964"/>
            <a:ext cx="1387248" cy="1060252"/>
            <a:chOff x="7993201" y="3990786"/>
            <a:chExt cx="3083654" cy="2356787"/>
          </a:xfrm>
          <a:solidFill>
            <a:schemeClr val="tx1"/>
          </a:solidFill>
        </p:grpSpPr>
        <p:pic>
          <p:nvPicPr>
            <p:cNvPr id="162" name="Graphique 161" descr="Podcasting avec un remplissage uni">
              <a:extLst>
                <a:ext uri="{FF2B5EF4-FFF2-40B4-BE49-F238E27FC236}">
                  <a16:creationId xmlns:a16="http://schemas.microsoft.com/office/drawing/2014/main" id="{BFDE17B7-5CBC-5829-A6D8-CF3CBEE7583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993201" y="3990786"/>
              <a:ext cx="914400" cy="914400"/>
            </a:xfrm>
            <a:prstGeom prst="rect">
              <a:avLst/>
            </a:prstGeom>
          </p:spPr>
        </p:pic>
        <p:pic>
          <p:nvPicPr>
            <p:cNvPr id="163" name="Graphique 162" descr="Vlog avec un remplissage uni">
              <a:extLst>
                <a:ext uri="{FF2B5EF4-FFF2-40B4-BE49-F238E27FC236}">
                  <a16:creationId xmlns:a16="http://schemas.microsoft.com/office/drawing/2014/main" id="{D6C946AB-9F72-BF47-6897-C7CAEC311F6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000671" y="5433173"/>
              <a:ext cx="914400" cy="914400"/>
            </a:xfrm>
            <a:prstGeom prst="rect">
              <a:avLst/>
            </a:prstGeom>
          </p:spPr>
        </p:pic>
        <p:pic>
          <p:nvPicPr>
            <p:cNvPr id="164" name="Graphique 163" descr="Journal avec un remplissage uni">
              <a:extLst>
                <a:ext uri="{FF2B5EF4-FFF2-40B4-BE49-F238E27FC236}">
                  <a16:creationId xmlns:a16="http://schemas.microsoft.com/office/drawing/2014/main" id="{A97C9AF9-DC0B-B1ED-FC58-E27B1E0DE173}"/>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0162455" y="4013608"/>
              <a:ext cx="914400" cy="914400"/>
            </a:xfrm>
            <a:prstGeom prst="rect">
              <a:avLst/>
            </a:prstGeom>
          </p:spPr>
        </p:pic>
        <p:pic>
          <p:nvPicPr>
            <p:cNvPr id="165" name="Graphique 164" descr="Réseau en ligne avec un remplissage uni">
              <a:extLst>
                <a:ext uri="{FF2B5EF4-FFF2-40B4-BE49-F238E27FC236}">
                  <a16:creationId xmlns:a16="http://schemas.microsoft.com/office/drawing/2014/main" id="{93FF389A-46CE-EE2D-22C8-CF57768D9D7B}"/>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0066135" y="5341229"/>
              <a:ext cx="914400" cy="914400"/>
            </a:xfrm>
            <a:prstGeom prst="rect">
              <a:avLst/>
            </a:prstGeom>
          </p:spPr>
        </p:pic>
        <p:grpSp>
          <p:nvGrpSpPr>
            <p:cNvPr id="166" name="Groupe 165">
              <a:extLst>
                <a:ext uri="{FF2B5EF4-FFF2-40B4-BE49-F238E27FC236}">
                  <a16:creationId xmlns:a16="http://schemas.microsoft.com/office/drawing/2014/main" id="{E4839BA3-DBB3-B55D-832B-3A45D3FBC24D}"/>
                </a:ext>
              </a:extLst>
            </p:cNvPr>
            <p:cNvGrpSpPr/>
            <p:nvPr/>
          </p:nvGrpSpPr>
          <p:grpSpPr>
            <a:xfrm>
              <a:off x="8632968" y="4529072"/>
              <a:ext cx="1791083" cy="1287429"/>
              <a:chOff x="8274918" y="4478329"/>
              <a:chExt cx="1791083" cy="1287429"/>
            </a:xfrm>
            <a:grpFill/>
          </p:grpSpPr>
          <p:pic>
            <p:nvPicPr>
              <p:cNvPr id="167" name="Graphique 166" descr="Bâtiment avec un remplissage uni">
                <a:extLst>
                  <a:ext uri="{FF2B5EF4-FFF2-40B4-BE49-F238E27FC236}">
                    <a16:creationId xmlns:a16="http://schemas.microsoft.com/office/drawing/2014/main" id="{DFBC9673-AB08-D8FD-0181-451235640E7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725807" y="4753283"/>
                <a:ext cx="914400" cy="914400"/>
              </a:xfrm>
              <a:prstGeom prst="rect">
                <a:avLst/>
              </a:prstGeom>
            </p:spPr>
          </p:pic>
          <p:sp>
            <p:nvSpPr>
              <p:cNvPr id="168" name="Flèche : droite 167">
                <a:extLst>
                  <a:ext uri="{FF2B5EF4-FFF2-40B4-BE49-F238E27FC236}">
                    <a16:creationId xmlns:a16="http://schemas.microsoft.com/office/drawing/2014/main" id="{66EFD1BC-093E-9272-5679-FD6ABBBD0801}"/>
                  </a:ext>
                </a:extLst>
              </p:cNvPr>
              <p:cNvSpPr/>
              <p:nvPr/>
            </p:nvSpPr>
            <p:spPr>
              <a:xfrm rot="19318800">
                <a:off x="9688254" y="4478329"/>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169" name="Flèche : droite 168">
                <a:extLst>
                  <a:ext uri="{FF2B5EF4-FFF2-40B4-BE49-F238E27FC236}">
                    <a16:creationId xmlns:a16="http://schemas.microsoft.com/office/drawing/2014/main" id="{7DDC499D-CCF7-ECD2-E766-2249744329E8}"/>
                  </a:ext>
                </a:extLst>
              </p:cNvPr>
              <p:cNvSpPr/>
              <p:nvPr/>
            </p:nvSpPr>
            <p:spPr>
              <a:xfrm rot="2412443">
                <a:off x="9689689" y="5362915"/>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170" name="Flèche : droite 169">
                <a:extLst>
                  <a:ext uri="{FF2B5EF4-FFF2-40B4-BE49-F238E27FC236}">
                    <a16:creationId xmlns:a16="http://schemas.microsoft.com/office/drawing/2014/main" id="{08C12798-BCC0-C70C-BE20-B42EA3F02395}"/>
                  </a:ext>
                </a:extLst>
              </p:cNvPr>
              <p:cNvSpPr/>
              <p:nvPr/>
            </p:nvSpPr>
            <p:spPr>
              <a:xfrm rot="8279483">
                <a:off x="8287182" y="5362622"/>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171" name="Flèche : droite 170">
                <a:extLst>
                  <a:ext uri="{FF2B5EF4-FFF2-40B4-BE49-F238E27FC236}">
                    <a16:creationId xmlns:a16="http://schemas.microsoft.com/office/drawing/2014/main" id="{64FA988D-CC3C-EF61-8C9B-85B34C6AE37E}"/>
                  </a:ext>
                </a:extLst>
              </p:cNvPr>
              <p:cNvSpPr/>
              <p:nvPr/>
            </p:nvSpPr>
            <p:spPr>
              <a:xfrm rot="13573193">
                <a:off x="8288184" y="4478969"/>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gr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1"/>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1"/>
                  </a:ext>
                </a:extLst>
              </a:blip>
              <a:srcRect l="8133" t="75103" r="8805" b="12219"/>
              <a:stretch/>
            </p:blipFill>
            <p:spPr>
              <a:xfrm>
                <a:off x="-4435634" y="6477233"/>
                <a:ext cx="4325259" cy="660167"/>
              </a:xfrm>
              <a:prstGeom prst="rect">
                <a:avLst/>
              </a:prstGeom>
            </p:spPr>
          </p:pic>
        </p:grpSp>
      </p:grpSp>
    </p:spTree>
    <p:extLst>
      <p:ext uri="{BB962C8B-B14F-4D97-AF65-F5344CB8AC3E}">
        <p14:creationId xmlns:p14="http://schemas.microsoft.com/office/powerpoint/2010/main" val="1842968504"/>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Intéressé, je vais rencontrer l’entreprise à un événement, organisé par une </a:t>
            </a:r>
            <a:r>
              <a:rPr lang="fr-FR" sz="1400" b="1" dirty="0"/>
              <a:t>Communauté d’ambassadeurs (externes)</a:t>
            </a:r>
            <a:r>
              <a:rPr lang="fr-FR" sz="1400" dirty="0"/>
              <a:t>, ils me parlent de leurs expériences personnelles, ce que j’apprécie plus que des brochures. Ils me proposent de postuler et font passer mon CV.</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Attirer les nouveaux talents peut se faire par de nombreux canaux. Les besoins croissants des candidats ne sont pas toujours satisfaits par des contenus institutionnels. C’est là qu’on peut compléter avec une </a:t>
            </a:r>
            <a:r>
              <a:rPr lang="fr-FR" sz="1400" b="1" dirty="0">
                <a:solidFill>
                  <a:schemeClr val="bg1"/>
                </a:solidFill>
              </a:rPr>
              <a:t>Communauté d’ambassadeurs externes</a:t>
            </a:r>
            <a:r>
              <a:rPr lang="fr-FR" sz="1400" dirty="0">
                <a:solidFill>
                  <a:schemeClr val="bg1"/>
                </a:solidFill>
              </a:rPr>
              <a:t>.</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2 : Ma première rencontre avec l’entreprise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347296"/>
            <a:chOff x="11670562" y="767339"/>
            <a:chExt cx="1001440" cy="697216"/>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847539" y="986738"/>
              <a:ext cx="824463" cy="477817"/>
            </a:xfrm>
            <a:prstGeom prst="rect">
              <a:avLst/>
            </a:prstGeom>
            <a:noFill/>
          </p:spPr>
          <p:txBody>
            <a:bodyPr wrap="square">
              <a:spAutoFit/>
            </a:bodyPr>
            <a:lstStyle/>
            <a:p>
              <a:pPr algn="r"/>
              <a:r>
                <a:rPr lang="fr-FR" b="1" dirty="0">
                  <a:solidFill>
                    <a:schemeClr val="tx1"/>
                  </a:solidFill>
                </a:rPr>
                <a:t>Ep 3: </a:t>
              </a:r>
            </a:p>
            <a:p>
              <a:pPr algn="r"/>
              <a:r>
                <a:rPr lang="fr-FR" b="1" dirty="0">
                  <a:solidFill>
                    <a:schemeClr val="tx1"/>
                  </a:solidFill>
                </a:rPr>
                <a:t>Dans mon intégration</a:t>
              </a: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53" name="Groupe 52">
            <a:extLst>
              <a:ext uri="{FF2B5EF4-FFF2-40B4-BE49-F238E27FC236}">
                <a16:creationId xmlns:a16="http://schemas.microsoft.com/office/drawing/2014/main" id="{77469830-D271-9EAA-C9EE-C7CA07C7FAB1}"/>
              </a:ext>
            </a:extLst>
          </p:cNvPr>
          <p:cNvGrpSpPr/>
          <p:nvPr/>
        </p:nvGrpSpPr>
        <p:grpSpPr>
          <a:xfrm>
            <a:off x="6743173" y="4464466"/>
            <a:ext cx="1898567" cy="1741417"/>
            <a:chOff x="2502506" y="1601511"/>
            <a:chExt cx="1818204" cy="1510976"/>
          </a:xfrm>
          <a:solidFill>
            <a:schemeClr val="tx1"/>
          </a:solidFill>
        </p:grpSpPr>
        <p:grpSp>
          <p:nvGrpSpPr>
            <p:cNvPr id="54" name="Groupe 53">
              <a:extLst>
                <a:ext uri="{FF2B5EF4-FFF2-40B4-BE49-F238E27FC236}">
                  <a16:creationId xmlns:a16="http://schemas.microsoft.com/office/drawing/2014/main" id="{E312C0AB-E8D0-0114-EE06-A08D168EA446}"/>
                </a:ext>
              </a:extLst>
            </p:cNvPr>
            <p:cNvGrpSpPr/>
            <p:nvPr/>
          </p:nvGrpSpPr>
          <p:grpSpPr>
            <a:xfrm>
              <a:off x="2502506" y="2098539"/>
              <a:ext cx="1818204" cy="1013948"/>
              <a:chOff x="1001934" y="3369669"/>
              <a:chExt cx="1818204" cy="1013948"/>
            </a:xfrm>
            <a:grpFill/>
          </p:grpSpPr>
          <p:sp>
            <p:nvSpPr>
              <p:cNvPr id="56" name="Rectangle 55">
                <a:extLst>
                  <a:ext uri="{FF2B5EF4-FFF2-40B4-BE49-F238E27FC236}">
                    <a16:creationId xmlns:a16="http://schemas.microsoft.com/office/drawing/2014/main" id="{652E5B56-AA51-1EB6-5CB4-306B31DCE3ED}"/>
                  </a:ext>
                </a:extLst>
              </p:cNvPr>
              <p:cNvSpPr/>
              <p:nvPr/>
            </p:nvSpPr>
            <p:spPr>
              <a:xfrm>
                <a:off x="1001934" y="3890368"/>
                <a:ext cx="1818204" cy="4932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au recrutement</a:t>
                </a:r>
                <a:endParaRPr lang="fr-FR" sz="1400" dirty="0">
                  <a:solidFill>
                    <a:schemeClr val="tx1"/>
                  </a:solidFill>
                </a:endParaRPr>
              </a:p>
            </p:txBody>
          </p:sp>
          <p:pic>
            <p:nvPicPr>
              <p:cNvPr id="57" name="Graphique 56" descr="Salle de conseil avec un remplissage uni">
                <a:extLst>
                  <a:ext uri="{FF2B5EF4-FFF2-40B4-BE49-F238E27FC236}">
                    <a16:creationId xmlns:a16="http://schemas.microsoft.com/office/drawing/2014/main" id="{15A84F86-C3E4-461C-3BE1-79F028D94702}"/>
                  </a:ext>
                </a:extLst>
              </p:cNvPr>
              <p:cNvPicPr>
                <a:picLocks noChangeAspect="1"/>
              </p:cNvPicPr>
              <p:nvPr/>
            </p:nvPicPr>
            <p:blipFill rotWithShape="1">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rcRect b="16472"/>
              <a:stretch/>
            </p:blipFill>
            <p:spPr>
              <a:xfrm>
                <a:off x="1632360" y="3369669"/>
                <a:ext cx="551732" cy="460853"/>
              </a:xfrm>
              <a:prstGeom prst="rect">
                <a:avLst/>
              </a:prstGeom>
            </p:spPr>
          </p:pic>
        </p:grpSp>
        <p:pic>
          <p:nvPicPr>
            <p:cNvPr id="55" name="Graphique 54" descr="Croissance de l'activité avec un remplissage uni">
              <a:extLst>
                <a:ext uri="{FF2B5EF4-FFF2-40B4-BE49-F238E27FC236}">
                  <a16:creationId xmlns:a16="http://schemas.microsoft.com/office/drawing/2014/main" id="{B1BB48B4-AC50-167C-A9DC-C798A8D2DEAF}"/>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964897" y="1601511"/>
              <a:ext cx="785986" cy="785986"/>
            </a:xfrm>
            <a:prstGeom prst="rect">
              <a:avLst/>
            </a:prstGeom>
          </p:spPr>
        </p:pic>
      </p:grpSp>
      <p:grpSp>
        <p:nvGrpSpPr>
          <p:cNvPr id="58" name="Groupe 57">
            <a:extLst>
              <a:ext uri="{FF2B5EF4-FFF2-40B4-BE49-F238E27FC236}">
                <a16:creationId xmlns:a16="http://schemas.microsoft.com/office/drawing/2014/main" id="{9B384C8F-11A3-0A34-9108-45C188C17757}"/>
              </a:ext>
            </a:extLst>
          </p:cNvPr>
          <p:cNvGrpSpPr/>
          <p:nvPr/>
        </p:nvGrpSpPr>
        <p:grpSpPr>
          <a:xfrm>
            <a:off x="925191" y="4665509"/>
            <a:ext cx="1653081" cy="1467339"/>
            <a:chOff x="6088603" y="4144848"/>
            <a:chExt cx="1000589" cy="889209"/>
          </a:xfrm>
        </p:grpSpPr>
        <p:pic>
          <p:nvPicPr>
            <p:cNvPr id="59" name="Graphique 58" descr="Globe terrestre : Europe et Afrique avec un remplissage uni">
              <a:extLst>
                <a:ext uri="{FF2B5EF4-FFF2-40B4-BE49-F238E27FC236}">
                  <a16:creationId xmlns:a16="http://schemas.microsoft.com/office/drawing/2014/main" id="{5AA51136-FAB8-641C-69D9-8D1314DB42E6}"/>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278977" y="4144848"/>
              <a:ext cx="643205" cy="643205"/>
            </a:xfrm>
            <a:prstGeom prst="rect">
              <a:avLst/>
            </a:prstGeom>
          </p:spPr>
        </p:pic>
        <p:sp>
          <p:nvSpPr>
            <p:cNvPr id="60" name="ZoneTexte 59">
              <a:extLst>
                <a:ext uri="{FF2B5EF4-FFF2-40B4-BE49-F238E27FC236}">
                  <a16:creationId xmlns:a16="http://schemas.microsoft.com/office/drawing/2014/main" id="{F5ADC1E0-80D1-C391-EFA7-96951AF6F1D1}"/>
                </a:ext>
              </a:extLst>
            </p:cNvPr>
            <p:cNvSpPr txBox="1"/>
            <p:nvPr/>
          </p:nvSpPr>
          <p:spPr>
            <a:xfrm>
              <a:off x="6088603" y="4716985"/>
              <a:ext cx="1000589" cy="317072"/>
            </a:xfrm>
            <a:prstGeom prst="rect">
              <a:avLst/>
            </a:prstGeom>
            <a:noFill/>
          </p:spPr>
          <p:txBody>
            <a:bodyPr wrap="square">
              <a:spAutoFit/>
            </a:bodyPr>
            <a:lstStyle/>
            <a:p>
              <a:pPr algn="ctr"/>
              <a:r>
                <a:rPr lang="fr-FR" sz="1400" b="1" dirty="0">
                  <a:solidFill>
                    <a:srgbClr val="ED7D31"/>
                  </a:solidFill>
                </a:rPr>
                <a:t>Impact positif et sens</a:t>
              </a:r>
            </a:p>
          </p:txBody>
        </p:sp>
      </p:grpSp>
      <p:grpSp>
        <p:nvGrpSpPr>
          <p:cNvPr id="64" name="Groupe 63">
            <a:extLst>
              <a:ext uri="{FF2B5EF4-FFF2-40B4-BE49-F238E27FC236}">
                <a16:creationId xmlns:a16="http://schemas.microsoft.com/office/drawing/2014/main" id="{42DE2216-B513-9274-B20A-AB1F68E8632B}"/>
              </a:ext>
            </a:extLst>
          </p:cNvPr>
          <p:cNvGrpSpPr/>
          <p:nvPr/>
        </p:nvGrpSpPr>
        <p:grpSpPr>
          <a:xfrm>
            <a:off x="2529821" y="4606284"/>
            <a:ext cx="1795852" cy="1494464"/>
            <a:chOff x="4120272" y="4187837"/>
            <a:chExt cx="872285" cy="726750"/>
          </a:xfrm>
        </p:grpSpPr>
        <p:pic>
          <p:nvPicPr>
            <p:cNvPr id="65" name="Graphique 64" descr="Utilisateurs avec un remplissage uni">
              <a:extLst>
                <a:ext uri="{FF2B5EF4-FFF2-40B4-BE49-F238E27FC236}">
                  <a16:creationId xmlns:a16="http://schemas.microsoft.com/office/drawing/2014/main" id="{07CBFEB2-5617-CB0F-134E-B0327F8E1698}"/>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4278095" y="4187837"/>
              <a:ext cx="590398" cy="590398"/>
            </a:xfrm>
            <a:prstGeom prst="rect">
              <a:avLst/>
            </a:prstGeom>
          </p:spPr>
        </p:pic>
        <p:sp>
          <p:nvSpPr>
            <p:cNvPr id="66" name="ZoneTexte 65">
              <a:extLst>
                <a:ext uri="{FF2B5EF4-FFF2-40B4-BE49-F238E27FC236}">
                  <a16:creationId xmlns:a16="http://schemas.microsoft.com/office/drawing/2014/main" id="{2D553831-FAF2-3FE3-1BE1-EC820C873807}"/>
                </a:ext>
              </a:extLst>
            </p:cNvPr>
            <p:cNvSpPr txBox="1"/>
            <p:nvPr/>
          </p:nvSpPr>
          <p:spPr>
            <a:xfrm>
              <a:off x="4120272" y="4660148"/>
              <a:ext cx="872285" cy="254439"/>
            </a:xfrm>
            <a:prstGeom prst="rect">
              <a:avLst/>
            </a:prstGeom>
            <a:noFill/>
          </p:spPr>
          <p:txBody>
            <a:bodyPr wrap="square">
              <a:spAutoFit/>
            </a:bodyPr>
            <a:lstStyle/>
            <a:p>
              <a:pPr algn="ctr"/>
              <a:r>
                <a:rPr lang="fr-FR" sz="1400" b="1" dirty="0">
                  <a:solidFill>
                    <a:srgbClr val="ED7D31"/>
                  </a:solidFill>
                </a:rPr>
                <a:t>Reconnaissance sociale </a:t>
              </a:r>
            </a:p>
          </p:txBody>
        </p:sp>
      </p:grpSp>
    </p:spTree>
    <p:extLst>
      <p:ext uri="{BB962C8B-B14F-4D97-AF65-F5344CB8AC3E}">
        <p14:creationId xmlns:p14="http://schemas.microsoft.com/office/powerpoint/2010/main" val="1840512443"/>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Une fois ma période d’essai terminée, je suis accompagné par une </a:t>
            </a:r>
            <a:r>
              <a:rPr lang="fr-FR" sz="1400" b="1" dirty="0"/>
              <a:t>communauté d’ambassadeurs internes </a:t>
            </a:r>
            <a:r>
              <a:rPr lang="fr-FR" sz="1400" dirty="0"/>
              <a:t>qui fait faire « le tour de l’entreprise » aux nouveaux arrivants. Je découvre ainsi mon entreprise et intègre plus vite sa culture et ses défis.</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Plus une entreprise grandit, plus elle risque la division et ses effets sur la performance. L’incompréhension entre services et les difficultés peuvent commencer dès l’intégration de nouveaux. Pour compenser, une </a:t>
            </a:r>
            <a:r>
              <a:rPr lang="fr-FR" sz="1400" b="1" dirty="0">
                <a:solidFill>
                  <a:schemeClr val="bg1"/>
                </a:solidFill>
              </a:rPr>
              <a:t>communauté d’ambassadeurs internes</a:t>
            </a:r>
            <a:r>
              <a:rPr lang="fr-FR" sz="1400" dirty="0">
                <a:solidFill>
                  <a:schemeClr val="bg1"/>
                </a:solidFill>
              </a:rPr>
              <a:t> peut aider.  </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3 : Dans mon intégration</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847539" y="986738"/>
              <a:ext cx="824463" cy="621162"/>
            </a:xfrm>
            <a:prstGeom prst="rect">
              <a:avLst/>
            </a:prstGeom>
            <a:noFill/>
          </p:spPr>
          <p:txBody>
            <a:bodyPr wrap="square">
              <a:spAutoFit/>
            </a:bodyPr>
            <a:lstStyle/>
            <a:p>
              <a:pPr algn="r"/>
              <a:r>
                <a:rPr lang="fr-FR" b="1" dirty="0">
                  <a:solidFill>
                    <a:schemeClr val="tx1"/>
                  </a:solidFill>
                </a:rPr>
                <a:t>Ep 4: </a:t>
              </a:r>
            </a:p>
            <a:p>
              <a:pPr algn="r"/>
              <a:r>
                <a:rPr lang="fr-FR" b="1" dirty="0">
                  <a:solidFill>
                    <a:schemeClr val="tx1"/>
                  </a:solidFill>
                </a:rPr>
                <a:t>Une fois que j’ai pris mon poste</a:t>
              </a: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46" name="Groupe 45">
            <a:extLst>
              <a:ext uri="{FF2B5EF4-FFF2-40B4-BE49-F238E27FC236}">
                <a16:creationId xmlns:a16="http://schemas.microsoft.com/office/drawing/2014/main" id="{9AEFE5A8-990E-6912-E2E8-40299E263DFD}"/>
              </a:ext>
            </a:extLst>
          </p:cNvPr>
          <p:cNvGrpSpPr/>
          <p:nvPr/>
        </p:nvGrpSpPr>
        <p:grpSpPr>
          <a:xfrm>
            <a:off x="480208" y="4848717"/>
            <a:ext cx="1406379" cy="1194036"/>
            <a:chOff x="8129937" y="4169500"/>
            <a:chExt cx="1286847" cy="1093835"/>
          </a:xfrm>
        </p:grpSpPr>
        <p:pic>
          <p:nvPicPr>
            <p:cNvPr id="47" name="Graphique 46" descr="Poignée de main avec un remplissage uni">
              <a:extLst>
                <a:ext uri="{FF2B5EF4-FFF2-40B4-BE49-F238E27FC236}">
                  <a16:creationId xmlns:a16="http://schemas.microsoft.com/office/drawing/2014/main" id="{F706EFB9-5EA5-E199-1178-74AAA93DB38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378292" y="4169500"/>
              <a:ext cx="703975" cy="703975"/>
            </a:xfrm>
            <a:prstGeom prst="rect">
              <a:avLst/>
            </a:prstGeom>
          </p:spPr>
        </p:pic>
        <p:sp>
          <p:nvSpPr>
            <p:cNvPr id="48" name="ZoneTexte 47">
              <a:extLst>
                <a:ext uri="{FF2B5EF4-FFF2-40B4-BE49-F238E27FC236}">
                  <a16:creationId xmlns:a16="http://schemas.microsoft.com/office/drawing/2014/main" id="{E7B505B5-350C-CA54-D4A1-9F6B06AA20EE}"/>
                </a:ext>
              </a:extLst>
            </p:cNvPr>
            <p:cNvSpPr txBox="1"/>
            <p:nvPr/>
          </p:nvSpPr>
          <p:spPr>
            <a:xfrm>
              <a:off x="8129937" y="4747307"/>
              <a:ext cx="1286847" cy="516028"/>
            </a:xfrm>
            <a:prstGeom prst="rect">
              <a:avLst/>
            </a:prstGeom>
            <a:noFill/>
          </p:spPr>
          <p:txBody>
            <a:bodyPr wrap="square">
              <a:spAutoFit/>
            </a:bodyPr>
            <a:lstStyle/>
            <a:p>
              <a:pPr algn="ctr"/>
              <a:r>
                <a:rPr lang="fr-FR" sz="1400" b="1" dirty="0">
                  <a:solidFill>
                    <a:srgbClr val="ED7D31"/>
                  </a:solidFill>
                </a:rPr>
                <a:t>Lien avec les autres</a:t>
              </a:r>
            </a:p>
          </p:txBody>
        </p:sp>
      </p:grpSp>
      <p:grpSp>
        <p:nvGrpSpPr>
          <p:cNvPr id="49" name="Groupe 48">
            <a:extLst>
              <a:ext uri="{FF2B5EF4-FFF2-40B4-BE49-F238E27FC236}">
                <a16:creationId xmlns:a16="http://schemas.microsoft.com/office/drawing/2014/main" id="{0447E631-93C0-8CFB-B6FC-62E5B039ED07}"/>
              </a:ext>
            </a:extLst>
          </p:cNvPr>
          <p:cNvGrpSpPr/>
          <p:nvPr/>
        </p:nvGrpSpPr>
        <p:grpSpPr>
          <a:xfrm>
            <a:off x="2847952" y="4616031"/>
            <a:ext cx="1830544" cy="1624070"/>
            <a:chOff x="2837626" y="3862428"/>
            <a:chExt cx="2054481" cy="1601745"/>
          </a:xfrm>
        </p:grpSpPr>
        <p:pic>
          <p:nvPicPr>
            <p:cNvPr id="50" name="Graphique 49" descr="Aspiration avec un remplissage uni">
              <a:extLst>
                <a:ext uri="{FF2B5EF4-FFF2-40B4-BE49-F238E27FC236}">
                  <a16:creationId xmlns:a16="http://schemas.microsoft.com/office/drawing/2014/main" id="{B78BDA72-3C4E-4B86-2686-AF6555272178}"/>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3291263" y="3862428"/>
              <a:ext cx="1163723" cy="940256"/>
            </a:xfrm>
            <a:prstGeom prst="rect">
              <a:avLst/>
            </a:prstGeom>
          </p:spPr>
        </p:pic>
        <p:sp>
          <p:nvSpPr>
            <p:cNvPr id="51" name="ZoneTexte 50">
              <a:extLst>
                <a:ext uri="{FF2B5EF4-FFF2-40B4-BE49-F238E27FC236}">
                  <a16:creationId xmlns:a16="http://schemas.microsoft.com/office/drawing/2014/main" id="{85F95DFA-8E34-7C1F-A141-D1BBE56AE199}"/>
                </a:ext>
              </a:extLst>
            </p:cNvPr>
            <p:cNvSpPr txBox="1"/>
            <p:nvPr/>
          </p:nvSpPr>
          <p:spPr>
            <a:xfrm>
              <a:off x="2837626" y="4735663"/>
              <a:ext cx="2054481" cy="728510"/>
            </a:xfrm>
            <a:prstGeom prst="rect">
              <a:avLst/>
            </a:prstGeom>
            <a:noFill/>
          </p:spPr>
          <p:txBody>
            <a:bodyPr wrap="square">
              <a:spAutoFit/>
            </a:bodyPr>
            <a:lstStyle/>
            <a:p>
              <a:pPr algn="ctr"/>
              <a:r>
                <a:rPr lang="fr-FR" sz="1400" b="1" dirty="0">
                  <a:solidFill>
                    <a:srgbClr val="ED7D31"/>
                  </a:solidFill>
                </a:rPr>
                <a:t>Développement de compétences et réalisation de soi</a:t>
              </a:r>
            </a:p>
          </p:txBody>
        </p:sp>
      </p:grpSp>
      <p:grpSp>
        <p:nvGrpSpPr>
          <p:cNvPr id="52" name="Groupe 51">
            <a:extLst>
              <a:ext uri="{FF2B5EF4-FFF2-40B4-BE49-F238E27FC236}">
                <a16:creationId xmlns:a16="http://schemas.microsoft.com/office/drawing/2014/main" id="{46041A7E-7485-FEF3-64E0-59DA92A31B96}"/>
              </a:ext>
            </a:extLst>
          </p:cNvPr>
          <p:cNvGrpSpPr/>
          <p:nvPr/>
        </p:nvGrpSpPr>
        <p:grpSpPr>
          <a:xfrm>
            <a:off x="1662879" y="4746848"/>
            <a:ext cx="1378673" cy="1790005"/>
            <a:chOff x="6088603" y="4144848"/>
            <a:chExt cx="1000589" cy="1300650"/>
          </a:xfrm>
        </p:grpSpPr>
        <p:pic>
          <p:nvPicPr>
            <p:cNvPr id="61" name="Graphique 60" descr="Globe terrestre : Europe et Afrique avec un remplissage uni">
              <a:extLst>
                <a:ext uri="{FF2B5EF4-FFF2-40B4-BE49-F238E27FC236}">
                  <a16:creationId xmlns:a16="http://schemas.microsoft.com/office/drawing/2014/main" id="{654E44FE-CB5D-4F35-A1B2-50EBB06CBD0F}"/>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278977" y="4144848"/>
              <a:ext cx="643205" cy="643205"/>
            </a:xfrm>
            <a:prstGeom prst="rect">
              <a:avLst/>
            </a:prstGeom>
          </p:spPr>
        </p:pic>
        <p:sp>
          <p:nvSpPr>
            <p:cNvPr id="62" name="ZoneTexte 61">
              <a:extLst>
                <a:ext uri="{FF2B5EF4-FFF2-40B4-BE49-F238E27FC236}">
                  <a16:creationId xmlns:a16="http://schemas.microsoft.com/office/drawing/2014/main" id="{5C5A29E4-BDD9-CBA6-0DFE-776016934A6B}"/>
                </a:ext>
              </a:extLst>
            </p:cNvPr>
            <p:cNvSpPr txBox="1"/>
            <p:nvPr/>
          </p:nvSpPr>
          <p:spPr>
            <a:xfrm>
              <a:off x="6088603" y="4716985"/>
              <a:ext cx="1000589" cy="728513"/>
            </a:xfrm>
            <a:prstGeom prst="rect">
              <a:avLst/>
            </a:prstGeom>
            <a:noFill/>
          </p:spPr>
          <p:txBody>
            <a:bodyPr wrap="square">
              <a:spAutoFit/>
            </a:bodyPr>
            <a:lstStyle/>
            <a:p>
              <a:pPr algn="ctr"/>
              <a:r>
                <a:rPr lang="fr-FR" sz="1400" b="1" dirty="0">
                  <a:solidFill>
                    <a:srgbClr val="ED7D31"/>
                  </a:solidFill>
                </a:rPr>
                <a:t>Impact positif et sens</a:t>
              </a:r>
            </a:p>
          </p:txBody>
        </p:sp>
      </p:grpSp>
      <p:grpSp>
        <p:nvGrpSpPr>
          <p:cNvPr id="68" name="Groupe 67">
            <a:extLst>
              <a:ext uri="{FF2B5EF4-FFF2-40B4-BE49-F238E27FC236}">
                <a16:creationId xmlns:a16="http://schemas.microsoft.com/office/drawing/2014/main" id="{E6F71E14-A331-DC54-E6D4-929506FA1435}"/>
              </a:ext>
            </a:extLst>
          </p:cNvPr>
          <p:cNvGrpSpPr/>
          <p:nvPr/>
        </p:nvGrpSpPr>
        <p:grpSpPr>
          <a:xfrm>
            <a:off x="6756008" y="4396697"/>
            <a:ext cx="1844394" cy="1068303"/>
            <a:chOff x="626984" y="628802"/>
            <a:chExt cx="5131851" cy="2356880"/>
          </a:xfrm>
        </p:grpSpPr>
        <p:cxnSp>
          <p:nvCxnSpPr>
            <p:cNvPr id="69" name="Connecteur droit avec flèche 68">
              <a:extLst>
                <a:ext uri="{FF2B5EF4-FFF2-40B4-BE49-F238E27FC236}">
                  <a16:creationId xmlns:a16="http://schemas.microsoft.com/office/drawing/2014/main" id="{38A66610-181F-E4DB-3D45-E5A81EA8CDE8}"/>
                </a:ext>
              </a:extLst>
            </p:cNvPr>
            <p:cNvCxnSpPr>
              <a:cxnSpLocks/>
            </p:cNvCxnSpPr>
            <p:nvPr/>
          </p:nvCxnSpPr>
          <p:spPr>
            <a:xfrm flipV="1">
              <a:off x="626984" y="1565043"/>
              <a:ext cx="5131851" cy="1210667"/>
            </a:xfrm>
            <a:prstGeom prst="straightConnector1">
              <a:avLst/>
            </a:prstGeom>
            <a:ln w="57150">
              <a:prstDash val="dash"/>
              <a:tailEnd type="triangle"/>
            </a:ln>
          </p:spPr>
          <p:style>
            <a:lnRef idx="1">
              <a:schemeClr val="accent1"/>
            </a:lnRef>
            <a:fillRef idx="0">
              <a:schemeClr val="accent1"/>
            </a:fillRef>
            <a:effectRef idx="0">
              <a:schemeClr val="accent1"/>
            </a:effectRef>
            <a:fontRef idx="minor">
              <a:schemeClr val="tx1"/>
            </a:fontRef>
          </p:style>
        </p:cxnSp>
        <p:pic>
          <p:nvPicPr>
            <p:cNvPr id="70" name="Graphique 69" descr="Personne confuse avec un remplissage uni">
              <a:extLst>
                <a:ext uri="{FF2B5EF4-FFF2-40B4-BE49-F238E27FC236}">
                  <a16:creationId xmlns:a16="http://schemas.microsoft.com/office/drawing/2014/main" id="{F241AE8C-CD78-75CF-3F37-67C09133D4CB}"/>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604967" y="1805997"/>
              <a:ext cx="940978" cy="940978"/>
            </a:xfrm>
            <a:prstGeom prst="rect">
              <a:avLst/>
            </a:prstGeom>
          </p:spPr>
        </p:pic>
        <p:pic>
          <p:nvPicPr>
            <p:cNvPr id="71" name="Graphique 70" descr="Réussite du groupe avec un remplissage uni">
              <a:extLst>
                <a:ext uri="{FF2B5EF4-FFF2-40B4-BE49-F238E27FC236}">
                  <a16:creationId xmlns:a16="http://schemas.microsoft.com/office/drawing/2014/main" id="{6D2C9844-43EF-A1ED-FB4C-0D9351837B5F}"/>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4228767" y="628802"/>
              <a:ext cx="1492354" cy="1492354"/>
            </a:xfrm>
            <a:prstGeom prst="rect">
              <a:avLst/>
            </a:prstGeom>
          </p:spPr>
        </p:pic>
        <p:pic>
          <p:nvPicPr>
            <p:cNvPr id="72" name="Graphique 71" descr="Personne confuse avec un remplissage uni">
              <a:extLst>
                <a:ext uri="{FF2B5EF4-FFF2-40B4-BE49-F238E27FC236}">
                  <a16:creationId xmlns:a16="http://schemas.microsoft.com/office/drawing/2014/main" id="{D1AAD487-9499-B7F8-7234-2C74E6658A49}"/>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2479567" y="1609677"/>
              <a:ext cx="940978" cy="940978"/>
            </a:xfrm>
            <a:prstGeom prst="rect">
              <a:avLst/>
            </a:prstGeom>
          </p:spPr>
        </p:pic>
        <p:pic>
          <p:nvPicPr>
            <p:cNvPr id="73" name="Graphique 72" descr="Personne confuse avec un remplissage uni">
              <a:extLst>
                <a:ext uri="{FF2B5EF4-FFF2-40B4-BE49-F238E27FC236}">
                  <a16:creationId xmlns:a16="http://schemas.microsoft.com/office/drawing/2014/main" id="{33CB42A5-A623-BF24-4AB0-3C65E9A21940}"/>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656694" y="2044704"/>
              <a:ext cx="940978" cy="940978"/>
            </a:xfrm>
            <a:prstGeom prst="rect">
              <a:avLst/>
            </a:prstGeom>
          </p:spPr>
        </p:pic>
        <p:pic>
          <p:nvPicPr>
            <p:cNvPr id="74" name="Graphique 73" descr="Personne confuse avec un remplissage uni">
              <a:extLst>
                <a:ext uri="{FF2B5EF4-FFF2-40B4-BE49-F238E27FC236}">
                  <a16:creationId xmlns:a16="http://schemas.microsoft.com/office/drawing/2014/main" id="{BEEE41FB-DB2A-F8A8-83DC-959A260BE215}"/>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3293254" y="1399398"/>
              <a:ext cx="940978" cy="940978"/>
            </a:xfrm>
            <a:prstGeom prst="rect">
              <a:avLst/>
            </a:prstGeom>
          </p:spPr>
        </p:pic>
        <p:pic>
          <p:nvPicPr>
            <p:cNvPr id="76" name="Graphique 75" descr="Personne confuse avec un remplissage uni">
              <a:extLst>
                <a:ext uri="{FF2B5EF4-FFF2-40B4-BE49-F238E27FC236}">
                  <a16:creationId xmlns:a16="http://schemas.microsoft.com/office/drawing/2014/main" id="{69A7EE2A-2F3C-3CC7-9E35-FD72A673F05B}"/>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4234476" y="1189119"/>
              <a:ext cx="940978" cy="940978"/>
            </a:xfrm>
            <a:prstGeom prst="rect">
              <a:avLst/>
            </a:prstGeom>
          </p:spPr>
        </p:pic>
      </p:grpSp>
      <p:sp>
        <p:nvSpPr>
          <p:cNvPr id="77" name="Rectangle 76">
            <a:extLst>
              <a:ext uri="{FF2B5EF4-FFF2-40B4-BE49-F238E27FC236}">
                <a16:creationId xmlns:a16="http://schemas.microsoft.com/office/drawing/2014/main" id="{7A77FFB6-1E93-4CCA-5A10-3D9C17979830}"/>
              </a:ext>
            </a:extLst>
          </p:cNvPr>
          <p:cNvSpPr/>
          <p:nvPr/>
        </p:nvSpPr>
        <p:spPr>
          <a:xfrm>
            <a:off x="6743173" y="5637408"/>
            <a:ext cx="1898567"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à l’intégration</a:t>
            </a:r>
            <a:endParaRPr lang="fr-FR" sz="1400" dirty="0">
              <a:solidFill>
                <a:schemeClr val="tx1"/>
              </a:solidFill>
            </a:endParaRPr>
          </a:p>
        </p:txBody>
      </p:sp>
    </p:spTree>
    <p:extLst>
      <p:ext uri="{BB962C8B-B14F-4D97-AF65-F5344CB8AC3E}">
        <p14:creationId xmlns:p14="http://schemas.microsoft.com/office/powerpoint/2010/main" val="3652684541"/>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Dans mon service, nous sommes plusieurs équipes et avons mis en place des </a:t>
            </a:r>
            <a:r>
              <a:rPr lang="fr-FR" sz="1400" b="1" dirty="0"/>
              <a:t>Communautés transverses</a:t>
            </a:r>
            <a:r>
              <a:rPr lang="fr-FR" sz="1400" dirty="0"/>
              <a:t> pour éviter les silos, trancher sur certaines questions opérationnelles. Cela décharge aussi cette coordination de notre directeur</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Pour des chaînes de commandement claires, il est parfois nécessaire de de diviser de grands groupes en sous ensemble officiels (services, équipes, …) . Cependant, cela peut créer des silos et ralentir certaines opérations. On peut alors compenser en créant des </a:t>
            </a:r>
            <a:r>
              <a:rPr lang="fr-FR" sz="1400" b="1" dirty="0">
                <a:solidFill>
                  <a:schemeClr val="bg1"/>
                </a:solidFill>
              </a:rPr>
              <a:t>Communautés transverses.</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4 : A ma prise de poste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847539" y="986738"/>
              <a:ext cx="824463" cy="621162"/>
            </a:xfrm>
            <a:prstGeom prst="rect">
              <a:avLst/>
            </a:prstGeom>
            <a:noFill/>
          </p:spPr>
          <p:txBody>
            <a:bodyPr wrap="square">
              <a:spAutoFit/>
            </a:bodyPr>
            <a:lstStyle/>
            <a:p>
              <a:pPr algn="r"/>
              <a:r>
                <a:rPr lang="fr-FR" b="1" dirty="0">
                  <a:solidFill>
                    <a:schemeClr val="tx1"/>
                  </a:solidFill>
                </a:rPr>
                <a:t>Ep 5: </a:t>
              </a:r>
            </a:p>
            <a:p>
              <a:pPr algn="r"/>
              <a:r>
                <a:rPr lang="fr-FR" b="1" dirty="0">
                  <a:solidFill>
                    <a:schemeClr val="tx1"/>
                  </a:solidFill>
                </a:rPr>
                <a:t>Pour que je continue à apprendre</a:t>
              </a: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sp>
        <p:nvSpPr>
          <p:cNvPr id="77" name="Rectangle 76">
            <a:extLst>
              <a:ext uri="{FF2B5EF4-FFF2-40B4-BE49-F238E27FC236}">
                <a16:creationId xmlns:a16="http://schemas.microsoft.com/office/drawing/2014/main" id="{7A77FFB6-1E93-4CCA-5A10-3D9C17979830}"/>
              </a:ext>
            </a:extLst>
          </p:cNvPr>
          <p:cNvSpPr/>
          <p:nvPr/>
        </p:nvSpPr>
        <p:spPr>
          <a:xfrm>
            <a:off x="7416040" y="5600072"/>
            <a:ext cx="1537788"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Décharge du management transverse</a:t>
            </a:r>
            <a:endParaRPr lang="fr-FR" sz="1400" dirty="0">
              <a:solidFill>
                <a:schemeClr val="tx1"/>
              </a:solidFill>
            </a:endParaRPr>
          </a:p>
        </p:txBody>
      </p:sp>
      <p:grpSp>
        <p:nvGrpSpPr>
          <p:cNvPr id="55" name="Groupe 54">
            <a:extLst>
              <a:ext uri="{FF2B5EF4-FFF2-40B4-BE49-F238E27FC236}">
                <a16:creationId xmlns:a16="http://schemas.microsoft.com/office/drawing/2014/main" id="{5C1AD04F-23B9-F083-CA7A-3ADFB1FE46F5}"/>
              </a:ext>
            </a:extLst>
          </p:cNvPr>
          <p:cNvGrpSpPr/>
          <p:nvPr/>
        </p:nvGrpSpPr>
        <p:grpSpPr>
          <a:xfrm>
            <a:off x="7618378" y="4615319"/>
            <a:ext cx="1084112" cy="906274"/>
            <a:chOff x="1734369" y="510800"/>
            <a:chExt cx="2873060" cy="2423359"/>
          </a:xfrm>
          <a:solidFill>
            <a:schemeClr val="tx1"/>
          </a:solidFill>
        </p:grpSpPr>
        <p:pic>
          <p:nvPicPr>
            <p:cNvPr id="56" name="Graphique 55" descr="Avertissement avec un remplissage uni">
              <a:extLst>
                <a:ext uri="{FF2B5EF4-FFF2-40B4-BE49-F238E27FC236}">
                  <a16:creationId xmlns:a16="http://schemas.microsoft.com/office/drawing/2014/main" id="{082F38AC-93A7-678A-D8A8-8BDD7670B06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734369" y="1978134"/>
              <a:ext cx="914400" cy="914400"/>
            </a:xfrm>
            <a:prstGeom prst="rect">
              <a:avLst/>
            </a:prstGeom>
          </p:spPr>
        </p:pic>
        <p:pic>
          <p:nvPicPr>
            <p:cNvPr id="57" name="Graphique 56" descr="Chat avec un remplissage uni">
              <a:extLst>
                <a:ext uri="{FF2B5EF4-FFF2-40B4-BE49-F238E27FC236}">
                  <a16:creationId xmlns:a16="http://schemas.microsoft.com/office/drawing/2014/main" id="{598D4103-ACF8-44B8-BC84-20DAFE414651}"/>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713699" y="1562559"/>
              <a:ext cx="914400" cy="914400"/>
            </a:xfrm>
            <a:prstGeom prst="rect">
              <a:avLst/>
            </a:prstGeom>
          </p:spPr>
        </p:pic>
        <p:pic>
          <p:nvPicPr>
            <p:cNvPr id="58" name="Graphique 57" descr="Liste de contrôle avec un remplissage uni">
              <a:extLst>
                <a:ext uri="{FF2B5EF4-FFF2-40B4-BE49-F238E27FC236}">
                  <a16:creationId xmlns:a16="http://schemas.microsoft.com/office/drawing/2014/main" id="{379A79F1-4380-AAF8-4F26-58927CE43ABD}"/>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3693029" y="2019759"/>
              <a:ext cx="914400" cy="914400"/>
            </a:xfrm>
            <a:prstGeom prst="rect">
              <a:avLst/>
            </a:prstGeom>
          </p:spPr>
        </p:pic>
        <p:pic>
          <p:nvPicPr>
            <p:cNvPr id="59" name="Graphique 58" descr="Synchronisation avec le cloud avec un remplissage uni">
              <a:extLst>
                <a:ext uri="{FF2B5EF4-FFF2-40B4-BE49-F238E27FC236}">
                  <a16:creationId xmlns:a16="http://schemas.microsoft.com/office/drawing/2014/main" id="{69D6E171-A574-F5C5-1C2F-A074CDCCA309}"/>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2778630" y="510800"/>
              <a:ext cx="914400" cy="914400"/>
            </a:xfrm>
            <a:prstGeom prst="rect">
              <a:avLst/>
            </a:prstGeom>
          </p:spPr>
        </p:pic>
      </p:grpSp>
      <p:grpSp>
        <p:nvGrpSpPr>
          <p:cNvPr id="64" name="Groupe 63">
            <a:extLst>
              <a:ext uri="{FF2B5EF4-FFF2-40B4-BE49-F238E27FC236}">
                <a16:creationId xmlns:a16="http://schemas.microsoft.com/office/drawing/2014/main" id="{AC115708-238D-0A1E-DD3F-603C376136BC}"/>
              </a:ext>
            </a:extLst>
          </p:cNvPr>
          <p:cNvGrpSpPr/>
          <p:nvPr/>
        </p:nvGrpSpPr>
        <p:grpSpPr>
          <a:xfrm>
            <a:off x="5991500" y="4524472"/>
            <a:ext cx="1076385" cy="950521"/>
            <a:chOff x="7967905" y="574228"/>
            <a:chExt cx="2945861" cy="2601395"/>
          </a:xfrm>
          <a:solidFill>
            <a:schemeClr val="tx1"/>
          </a:solidFill>
        </p:grpSpPr>
        <p:sp>
          <p:nvSpPr>
            <p:cNvPr id="65" name="Ellipse 64">
              <a:extLst>
                <a:ext uri="{FF2B5EF4-FFF2-40B4-BE49-F238E27FC236}">
                  <a16:creationId xmlns:a16="http://schemas.microsoft.com/office/drawing/2014/main" id="{951CA0FD-8B91-6E84-64DB-FEFC15D7397D}"/>
                </a:ext>
              </a:extLst>
            </p:cNvPr>
            <p:cNvSpPr/>
            <p:nvPr/>
          </p:nvSpPr>
          <p:spPr>
            <a:xfrm>
              <a:off x="8454825" y="965640"/>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66" name="Graphique 65" descr="Dossier ouvert avec un remplissage uni">
              <a:extLst>
                <a:ext uri="{FF2B5EF4-FFF2-40B4-BE49-F238E27FC236}">
                  <a16:creationId xmlns:a16="http://schemas.microsoft.com/office/drawing/2014/main" id="{F1E79D3F-CB7F-DA9F-37CB-990A04932E0E}"/>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7967905" y="1044764"/>
              <a:ext cx="914400" cy="914400"/>
            </a:xfrm>
            <a:prstGeom prst="rect">
              <a:avLst/>
            </a:prstGeom>
          </p:spPr>
        </p:pic>
        <p:pic>
          <p:nvPicPr>
            <p:cNvPr id="67" name="Graphique 66" descr="Diagramme de Gantt avec un remplissage uni">
              <a:extLst>
                <a:ext uri="{FF2B5EF4-FFF2-40B4-BE49-F238E27FC236}">
                  <a16:creationId xmlns:a16="http://schemas.microsoft.com/office/drawing/2014/main" id="{03375A81-F73C-6125-656C-F0BDD900C117}"/>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8454079" y="2190978"/>
              <a:ext cx="914400" cy="914400"/>
            </a:xfrm>
            <a:prstGeom prst="rect">
              <a:avLst/>
            </a:prstGeom>
          </p:spPr>
        </p:pic>
        <p:pic>
          <p:nvPicPr>
            <p:cNvPr id="78" name="Graphique 77" descr="Calendrier mensuel avec un remplissage uni">
              <a:extLst>
                <a:ext uri="{FF2B5EF4-FFF2-40B4-BE49-F238E27FC236}">
                  <a16:creationId xmlns:a16="http://schemas.microsoft.com/office/drawing/2014/main" id="{20EA5B3C-3A76-1984-CC94-00F0BD9DED26}"/>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9597330" y="2261223"/>
              <a:ext cx="914400" cy="914400"/>
            </a:xfrm>
            <a:prstGeom prst="rect">
              <a:avLst/>
            </a:prstGeom>
          </p:spPr>
        </p:pic>
        <p:pic>
          <p:nvPicPr>
            <p:cNvPr id="79" name="Graphique 78" descr="Priorités avec un remplissage uni">
              <a:extLst>
                <a:ext uri="{FF2B5EF4-FFF2-40B4-BE49-F238E27FC236}">
                  <a16:creationId xmlns:a16="http://schemas.microsoft.com/office/drawing/2014/main" id="{3886C60F-F74D-DDC3-91A1-5E40F9988F79}"/>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flipV="1">
              <a:off x="8952575" y="574228"/>
              <a:ext cx="914400" cy="1089697"/>
            </a:xfrm>
            <a:prstGeom prst="rect">
              <a:avLst/>
            </a:prstGeom>
          </p:spPr>
        </p:pic>
        <p:pic>
          <p:nvPicPr>
            <p:cNvPr id="80" name="Graphique 79" descr="Graphique à barres avec tendance à la baisse avec un remplissage uni">
              <a:extLst>
                <a:ext uri="{FF2B5EF4-FFF2-40B4-BE49-F238E27FC236}">
                  <a16:creationId xmlns:a16="http://schemas.microsoft.com/office/drawing/2014/main" id="{780EFB40-BE36-FAA7-12E0-9931E863E1E0}"/>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9999367" y="992535"/>
              <a:ext cx="914399" cy="914399"/>
            </a:xfrm>
            <a:prstGeom prst="rect">
              <a:avLst/>
            </a:prstGeom>
          </p:spPr>
        </p:pic>
      </p:grpSp>
      <p:sp>
        <p:nvSpPr>
          <p:cNvPr id="86" name="Rectangle 85">
            <a:extLst>
              <a:ext uri="{FF2B5EF4-FFF2-40B4-BE49-F238E27FC236}">
                <a16:creationId xmlns:a16="http://schemas.microsoft.com/office/drawing/2014/main" id="{D8935DF0-EF39-8A09-CAFF-64BCB0FD5544}"/>
              </a:ext>
            </a:extLst>
          </p:cNvPr>
          <p:cNvSpPr/>
          <p:nvPr/>
        </p:nvSpPr>
        <p:spPr>
          <a:xfrm>
            <a:off x="5744459" y="5600071"/>
            <a:ext cx="1537788"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Soutien aux projets opérationnels</a:t>
            </a:r>
            <a:endParaRPr lang="fr-FR" sz="1400" dirty="0">
              <a:solidFill>
                <a:schemeClr val="tx1"/>
              </a:solidFill>
            </a:endParaRPr>
          </a:p>
        </p:txBody>
      </p:sp>
      <p:grpSp>
        <p:nvGrpSpPr>
          <p:cNvPr id="87" name="Groupe 86">
            <a:extLst>
              <a:ext uri="{FF2B5EF4-FFF2-40B4-BE49-F238E27FC236}">
                <a16:creationId xmlns:a16="http://schemas.microsoft.com/office/drawing/2014/main" id="{DAA00261-E996-6CA2-8435-8C69A272290F}"/>
              </a:ext>
            </a:extLst>
          </p:cNvPr>
          <p:cNvGrpSpPr/>
          <p:nvPr/>
        </p:nvGrpSpPr>
        <p:grpSpPr>
          <a:xfrm>
            <a:off x="2449587" y="4506262"/>
            <a:ext cx="1384961" cy="1427529"/>
            <a:chOff x="650968" y="4189903"/>
            <a:chExt cx="772226" cy="796896"/>
          </a:xfrm>
        </p:grpSpPr>
        <p:sp>
          <p:nvSpPr>
            <p:cNvPr id="88" name="ZoneTexte 87">
              <a:extLst>
                <a:ext uri="{FF2B5EF4-FFF2-40B4-BE49-F238E27FC236}">
                  <a16:creationId xmlns:a16="http://schemas.microsoft.com/office/drawing/2014/main" id="{30123372-F1CD-7085-84AD-1A3E135057E1}"/>
                </a:ext>
              </a:extLst>
            </p:cNvPr>
            <p:cNvSpPr txBox="1"/>
            <p:nvPr/>
          </p:nvSpPr>
          <p:spPr>
            <a:xfrm>
              <a:off x="650968" y="4694720"/>
              <a:ext cx="772226" cy="292079"/>
            </a:xfrm>
            <a:prstGeom prst="rect">
              <a:avLst/>
            </a:prstGeom>
            <a:noFill/>
          </p:spPr>
          <p:txBody>
            <a:bodyPr wrap="square">
              <a:spAutoFit/>
            </a:bodyPr>
            <a:lstStyle/>
            <a:p>
              <a:pPr algn="ctr"/>
              <a:r>
                <a:rPr lang="fr-FR" sz="1400" b="1" dirty="0">
                  <a:solidFill>
                    <a:srgbClr val="ED7D31"/>
                  </a:solidFill>
                </a:rPr>
                <a:t>Liberté et temps libre</a:t>
              </a:r>
            </a:p>
          </p:txBody>
        </p:sp>
        <p:pic>
          <p:nvPicPr>
            <p:cNvPr id="89" name="Graphique 88" descr="Sablier plein avec un remplissage uni">
              <a:extLst>
                <a:ext uri="{FF2B5EF4-FFF2-40B4-BE49-F238E27FC236}">
                  <a16:creationId xmlns:a16="http://schemas.microsoft.com/office/drawing/2014/main" id="{376CD320-E638-5056-384C-32AB352105B4}"/>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863793" y="4189903"/>
              <a:ext cx="384459" cy="384459"/>
            </a:xfrm>
            <a:prstGeom prst="rect">
              <a:avLst/>
            </a:prstGeom>
          </p:spPr>
        </p:pic>
      </p:grpSp>
      <p:grpSp>
        <p:nvGrpSpPr>
          <p:cNvPr id="90" name="Groupe 89">
            <a:extLst>
              <a:ext uri="{FF2B5EF4-FFF2-40B4-BE49-F238E27FC236}">
                <a16:creationId xmlns:a16="http://schemas.microsoft.com/office/drawing/2014/main" id="{C20AD42B-E0F0-2926-E543-B29E2969E756}"/>
              </a:ext>
            </a:extLst>
          </p:cNvPr>
          <p:cNvGrpSpPr/>
          <p:nvPr/>
        </p:nvGrpSpPr>
        <p:grpSpPr>
          <a:xfrm>
            <a:off x="907606" y="4433307"/>
            <a:ext cx="1732017" cy="1915594"/>
            <a:chOff x="9261999" y="4256738"/>
            <a:chExt cx="965736" cy="1069351"/>
          </a:xfrm>
        </p:grpSpPr>
        <p:sp>
          <p:nvSpPr>
            <p:cNvPr id="91" name="ZoneTexte 90">
              <a:extLst>
                <a:ext uri="{FF2B5EF4-FFF2-40B4-BE49-F238E27FC236}">
                  <a16:creationId xmlns:a16="http://schemas.microsoft.com/office/drawing/2014/main" id="{3B565AB6-0858-015E-E50D-4AE0AAB3B127}"/>
                </a:ext>
              </a:extLst>
            </p:cNvPr>
            <p:cNvSpPr txBox="1"/>
            <p:nvPr/>
          </p:nvSpPr>
          <p:spPr>
            <a:xfrm>
              <a:off x="9261999" y="4793473"/>
              <a:ext cx="965736" cy="532616"/>
            </a:xfrm>
            <a:prstGeom prst="rect">
              <a:avLst/>
            </a:prstGeom>
            <a:noFill/>
          </p:spPr>
          <p:txBody>
            <a:bodyPr wrap="square">
              <a:spAutoFit/>
            </a:bodyPr>
            <a:lstStyle/>
            <a:p>
              <a:pPr algn="ctr"/>
              <a:r>
                <a:rPr lang="fr-FR" sz="1400" b="1" dirty="0">
                  <a:solidFill>
                    <a:srgbClr val="ED7D31"/>
                  </a:solidFill>
                </a:rPr>
                <a:t>Satisfaction des obligations et responsabilités existantes</a:t>
              </a:r>
            </a:p>
          </p:txBody>
        </p:sp>
        <p:pic>
          <p:nvPicPr>
            <p:cNvPr id="92" name="Graphique 91" descr="Presse-papiers vérifié avec un remplissage uni">
              <a:extLst>
                <a:ext uri="{FF2B5EF4-FFF2-40B4-BE49-F238E27FC236}">
                  <a16:creationId xmlns:a16="http://schemas.microsoft.com/office/drawing/2014/main" id="{248CFB54-A11E-6986-3964-80C0D6B3FCD1}"/>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9524604" y="4256738"/>
              <a:ext cx="491025" cy="491024"/>
            </a:xfrm>
            <a:prstGeom prst="rect">
              <a:avLst/>
            </a:prstGeom>
          </p:spPr>
        </p:pic>
      </p:grpSp>
    </p:spTree>
    <p:extLst>
      <p:ext uri="{BB962C8B-B14F-4D97-AF65-F5344CB8AC3E}">
        <p14:creationId xmlns:p14="http://schemas.microsoft.com/office/powerpoint/2010/main" val="2517482397"/>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Dans mon service, je fais partie d’une équipe pluridisciplinaire que je vois au quotidien. Cependant, je suis isolé dans mon expertise. Pour rester « à jour » dans mon métier, je continue donc à me former avec des pairs dans une </a:t>
            </a:r>
            <a:r>
              <a:rPr lang="fr-FR" sz="1400" b="1" dirty="0"/>
              <a:t>Communauté de pratique</a:t>
            </a:r>
            <a:r>
              <a:rPr lang="fr-FR" sz="1400" dirty="0"/>
              <a:t> autour de mon métier.</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Certains métiers doivent suivre une mise à jour régulière (technologies, normes, pratiques, tendances, …) difficile à équilibrer avec l’effort opérationnel. Lorsque ces métiers sont disséminés dans l’entreprise, il peut être intéressant de les réunir via des </a:t>
            </a:r>
            <a:r>
              <a:rPr lang="fr-FR" sz="1400" b="1" dirty="0">
                <a:solidFill>
                  <a:schemeClr val="bg1"/>
                </a:solidFill>
              </a:rPr>
              <a:t>Communautés de pratique</a:t>
            </a:r>
            <a:r>
              <a:rPr lang="fr-FR" sz="1400" dirty="0">
                <a:solidFill>
                  <a:schemeClr val="bg1"/>
                </a:solidFill>
              </a:rPr>
              <a:t>.</a:t>
            </a:r>
            <a:endParaRPr lang="fr-FR" sz="1400" b="1" dirty="0">
              <a:solidFill>
                <a:schemeClr val="bg1"/>
              </a:solidFill>
            </a:endParaRP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5 : Pour que je continue à apprendre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901294"/>
            <a:chOff x="11670562" y="767339"/>
            <a:chExt cx="1001440" cy="983906"/>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847539" y="986738"/>
              <a:ext cx="824463" cy="764507"/>
            </a:xfrm>
            <a:prstGeom prst="rect">
              <a:avLst/>
            </a:prstGeom>
            <a:noFill/>
          </p:spPr>
          <p:txBody>
            <a:bodyPr wrap="square">
              <a:spAutoFit/>
            </a:bodyPr>
            <a:lstStyle/>
            <a:p>
              <a:pPr algn="r"/>
              <a:r>
                <a:rPr lang="fr-FR" b="1" dirty="0">
                  <a:solidFill>
                    <a:schemeClr val="tx1"/>
                  </a:solidFill>
                </a:rPr>
                <a:t>Ep 6: </a:t>
              </a:r>
            </a:p>
            <a:p>
              <a:pPr algn="r"/>
              <a:r>
                <a:rPr lang="fr-FR" b="1" dirty="0">
                  <a:solidFill>
                    <a:schemeClr val="tx1"/>
                  </a:solidFill>
                </a:rPr>
                <a:t>Quand je </a:t>
              </a:r>
              <a:r>
                <a:rPr lang="fr-FR" b="1" dirty="0"/>
                <a:t>développe des bonnes pratiques</a:t>
              </a:r>
              <a:endParaRPr lang="fr-FR" b="1" dirty="0">
                <a:solidFill>
                  <a:schemeClr val="tx1"/>
                </a:solidFill>
              </a:endParaRP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sp>
        <p:nvSpPr>
          <p:cNvPr id="77" name="Rectangle 76">
            <a:extLst>
              <a:ext uri="{FF2B5EF4-FFF2-40B4-BE49-F238E27FC236}">
                <a16:creationId xmlns:a16="http://schemas.microsoft.com/office/drawing/2014/main" id="{7A77FFB6-1E93-4CCA-5A10-3D9C17979830}"/>
              </a:ext>
            </a:extLst>
          </p:cNvPr>
          <p:cNvSpPr/>
          <p:nvPr/>
        </p:nvSpPr>
        <p:spPr>
          <a:xfrm>
            <a:off x="6794241" y="5622523"/>
            <a:ext cx="1537788"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Formation continue </a:t>
            </a:r>
            <a:endParaRPr lang="fr-FR" sz="1400" dirty="0">
              <a:solidFill>
                <a:schemeClr val="tx1"/>
              </a:solidFill>
            </a:endParaRPr>
          </a:p>
        </p:txBody>
      </p:sp>
      <p:grpSp>
        <p:nvGrpSpPr>
          <p:cNvPr id="90" name="Groupe 89">
            <a:extLst>
              <a:ext uri="{FF2B5EF4-FFF2-40B4-BE49-F238E27FC236}">
                <a16:creationId xmlns:a16="http://schemas.microsoft.com/office/drawing/2014/main" id="{C20AD42B-E0F0-2926-E543-B29E2969E756}"/>
              </a:ext>
            </a:extLst>
          </p:cNvPr>
          <p:cNvGrpSpPr/>
          <p:nvPr/>
        </p:nvGrpSpPr>
        <p:grpSpPr>
          <a:xfrm>
            <a:off x="1833541" y="4464084"/>
            <a:ext cx="1732017" cy="1915594"/>
            <a:chOff x="9261999" y="4256738"/>
            <a:chExt cx="965736" cy="1069351"/>
          </a:xfrm>
        </p:grpSpPr>
        <p:sp>
          <p:nvSpPr>
            <p:cNvPr id="91" name="ZoneTexte 90">
              <a:extLst>
                <a:ext uri="{FF2B5EF4-FFF2-40B4-BE49-F238E27FC236}">
                  <a16:creationId xmlns:a16="http://schemas.microsoft.com/office/drawing/2014/main" id="{3B565AB6-0858-015E-E50D-4AE0AAB3B127}"/>
                </a:ext>
              </a:extLst>
            </p:cNvPr>
            <p:cNvSpPr txBox="1"/>
            <p:nvPr/>
          </p:nvSpPr>
          <p:spPr>
            <a:xfrm>
              <a:off x="9261999" y="4793473"/>
              <a:ext cx="965736" cy="532616"/>
            </a:xfrm>
            <a:prstGeom prst="rect">
              <a:avLst/>
            </a:prstGeom>
            <a:noFill/>
          </p:spPr>
          <p:txBody>
            <a:bodyPr wrap="square">
              <a:spAutoFit/>
            </a:bodyPr>
            <a:lstStyle/>
            <a:p>
              <a:pPr algn="ctr"/>
              <a:r>
                <a:rPr lang="fr-FR" sz="1400" b="1" dirty="0">
                  <a:solidFill>
                    <a:srgbClr val="ED7D31"/>
                  </a:solidFill>
                </a:rPr>
                <a:t>Satisfaction des obligations et responsabilités existantes</a:t>
              </a:r>
            </a:p>
          </p:txBody>
        </p:sp>
        <p:pic>
          <p:nvPicPr>
            <p:cNvPr id="92" name="Graphique 91" descr="Presse-papiers vérifié avec un remplissage uni">
              <a:extLst>
                <a:ext uri="{FF2B5EF4-FFF2-40B4-BE49-F238E27FC236}">
                  <a16:creationId xmlns:a16="http://schemas.microsoft.com/office/drawing/2014/main" id="{248CFB54-A11E-6986-3964-80C0D6B3FCD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4604" y="4256738"/>
              <a:ext cx="491025" cy="491024"/>
            </a:xfrm>
            <a:prstGeom prst="rect">
              <a:avLst/>
            </a:prstGeom>
          </p:spPr>
        </p:pic>
      </p:grpSp>
      <p:grpSp>
        <p:nvGrpSpPr>
          <p:cNvPr id="62" name="Groupe 61">
            <a:extLst>
              <a:ext uri="{FF2B5EF4-FFF2-40B4-BE49-F238E27FC236}">
                <a16:creationId xmlns:a16="http://schemas.microsoft.com/office/drawing/2014/main" id="{EC23DDAB-1DB0-49CE-0AA5-4388E1326CEE}"/>
              </a:ext>
            </a:extLst>
          </p:cNvPr>
          <p:cNvGrpSpPr/>
          <p:nvPr/>
        </p:nvGrpSpPr>
        <p:grpSpPr>
          <a:xfrm>
            <a:off x="7101165" y="4546115"/>
            <a:ext cx="923940" cy="959843"/>
            <a:chOff x="1793893" y="3948469"/>
            <a:chExt cx="2716107" cy="2749848"/>
          </a:xfrm>
        </p:grpSpPr>
        <p:pic>
          <p:nvPicPr>
            <p:cNvPr id="63" name="Graphique 62" descr="Diplôme roulé avec un remplissage uni">
              <a:extLst>
                <a:ext uri="{FF2B5EF4-FFF2-40B4-BE49-F238E27FC236}">
                  <a16:creationId xmlns:a16="http://schemas.microsoft.com/office/drawing/2014/main" id="{A5155ACE-2BE5-2991-FA41-140A76993322}"/>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976734" y="5783917"/>
              <a:ext cx="914400" cy="914400"/>
            </a:xfrm>
            <a:prstGeom prst="rect">
              <a:avLst/>
            </a:prstGeom>
          </p:spPr>
        </p:pic>
        <p:grpSp>
          <p:nvGrpSpPr>
            <p:cNvPr id="68" name="Groupe 67">
              <a:extLst>
                <a:ext uri="{FF2B5EF4-FFF2-40B4-BE49-F238E27FC236}">
                  <a16:creationId xmlns:a16="http://schemas.microsoft.com/office/drawing/2014/main" id="{E9336A6E-1CE9-CE1F-3FDE-FB55BADF147A}"/>
                </a:ext>
              </a:extLst>
            </p:cNvPr>
            <p:cNvGrpSpPr/>
            <p:nvPr/>
          </p:nvGrpSpPr>
          <p:grpSpPr>
            <a:xfrm>
              <a:off x="1793893" y="3948469"/>
              <a:ext cx="2716107" cy="2284168"/>
              <a:chOff x="1793893" y="3948469"/>
              <a:chExt cx="2716107" cy="2284168"/>
            </a:xfrm>
          </p:grpSpPr>
          <p:sp>
            <p:nvSpPr>
              <p:cNvPr id="69" name="Ellipse 68">
                <a:extLst>
                  <a:ext uri="{FF2B5EF4-FFF2-40B4-BE49-F238E27FC236}">
                    <a16:creationId xmlns:a16="http://schemas.microsoft.com/office/drawing/2014/main" id="{C7328749-3751-3121-F642-EBB530333F5D}"/>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70" name="Graphique 69" descr="Transférer avec un remplissage uni">
                <a:extLst>
                  <a:ext uri="{FF2B5EF4-FFF2-40B4-BE49-F238E27FC236}">
                    <a16:creationId xmlns:a16="http://schemas.microsoft.com/office/drawing/2014/main" id="{3D883EC6-EFCA-8E0A-0F51-78C9C815B526}"/>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979208" y="4142052"/>
                <a:ext cx="914400" cy="914400"/>
              </a:xfrm>
              <a:prstGeom prst="rect">
                <a:avLst/>
              </a:prstGeom>
            </p:spPr>
          </p:pic>
          <p:pic>
            <p:nvPicPr>
              <p:cNvPr id="71" name="Graphique 70" descr="Toque d'étudiant avec un remplissage uni">
                <a:extLst>
                  <a:ext uri="{FF2B5EF4-FFF2-40B4-BE49-F238E27FC236}">
                    <a16:creationId xmlns:a16="http://schemas.microsoft.com/office/drawing/2014/main" id="{34F17203-4FB0-AA3F-A60A-B663EDF41A6C}"/>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3260713" y="3948469"/>
                <a:ext cx="914400" cy="914400"/>
              </a:xfrm>
              <a:prstGeom prst="rect">
                <a:avLst/>
              </a:prstGeom>
            </p:spPr>
          </p:pic>
          <p:pic>
            <p:nvPicPr>
              <p:cNvPr id="72" name="Graphique 71" descr="Idée avec un remplissage uni">
                <a:extLst>
                  <a:ext uri="{FF2B5EF4-FFF2-40B4-BE49-F238E27FC236}">
                    <a16:creationId xmlns:a16="http://schemas.microsoft.com/office/drawing/2014/main" id="{58422DD7-2F2A-51C8-9488-BA99A6DA1ADA}"/>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793893" y="5264448"/>
                <a:ext cx="914400" cy="914400"/>
              </a:xfrm>
              <a:prstGeom prst="rect">
                <a:avLst/>
              </a:prstGeom>
            </p:spPr>
          </p:pic>
          <p:pic>
            <p:nvPicPr>
              <p:cNvPr id="73" name="Graphique 72" descr="Chat avec un remplissage uni">
                <a:extLst>
                  <a:ext uri="{FF2B5EF4-FFF2-40B4-BE49-F238E27FC236}">
                    <a16:creationId xmlns:a16="http://schemas.microsoft.com/office/drawing/2014/main" id="{762841D7-DFEE-F5CB-762D-9F46FC1193CB}"/>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3595600" y="4881866"/>
                <a:ext cx="914400" cy="914400"/>
              </a:xfrm>
              <a:prstGeom prst="rect">
                <a:avLst/>
              </a:prstGeom>
            </p:spPr>
          </p:pic>
        </p:grpSp>
      </p:grpSp>
      <p:grpSp>
        <p:nvGrpSpPr>
          <p:cNvPr id="108" name="Groupe 107">
            <a:extLst>
              <a:ext uri="{FF2B5EF4-FFF2-40B4-BE49-F238E27FC236}">
                <a16:creationId xmlns:a16="http://schemas.microsoft.com/office/drawing/2014/main" id="{A83A1463-EE31-8ABD-0D1B-B1489D49ACEA}"/>
              </a:ext>
            </a:extLst>
          </p:cNvPr>
          <p:cNvGrpSpPr/>
          <p:nvPr/>
        </p:nvGrpSpPr>
        <p:grpSpPr>
          <a:xfrm>
            <a:off x="3222488" y="4811146"/>
            <a:ext cx="1406379" cy="1194036"/>
            <a:chOff x="8129937" y="4169500"/>
            <a:chExt cx="1286847" cy="1093835"/>
          </a:xfrm>
        </p:grpSpPr>
        <p:pic>
          <p:nvPicPr>
            <p:cNvPr id="109" name="Graphique 108" descr="Poignée de main avec un remplissage uni">
              <a:extLst>
                <a:ext uri="{FF2B5EF4-FFF2-40B4-BE49-F238E27FC236}">
                  <a16:creationId xmlns:a16="http://schemas.microsoft.com/office/drawing/2014/main" id="{46B83CEC-5E0F-A584-1FCF-407C9F37D23D}"/>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8378292" y="4169500"/>
              <a:ext cx="703975" cy="703975"/>
            </a:xfrm>
            <a:prstGeom prst="rect">
              <a:avLst/>
            </a:prstGeom>
          </p:spPr>
        </p:pic>
        <p:sp>
          <p:nvSpPr>
            <p:cNvPr id="110" name="ZoneTexte 109">
              <a:extLst>
                <a:ext uri="{FF2B5EF4-FFF2-40B4-BE49-F238E27FC236}">
                  <a16:creationId xmlns:a16="http://schemas.microsoft.com/office/drawing/2014/main" id="{A668E2B4-9BBD-D6A1-E63E-2A153A662577}"/>
                </a:ext>
              </a:extLst>
            </p:cNvPr>
            <p:cNvSpPr txBox="1"/>
            <p:nvPr/>
          </p:nvSpPr>
          <p:spPr>
            <a:xfrm>
              <a:off x="8129937" y="4747307"/>
              <a:ext cx="1286847" cy="516028"/>
            </a:xfrm>
            <a:prstGeom prst="rect">
              <a:avLst/>
            </a:prstGeom>
            <a:noFill/>
          </p:spPr>
          <p:txBody>
            <a:bodyPr wrap="square">
              <a:spAutoFit/>
            </a:bodyPr>
            <a:lstStyle/>
            <a:p>
              <a:pPr algn="ctr"/>
              <a:r>
                <a:rPr lang="fr-FR" sz="1400" b="1" dirty="0">
                  <a:solidFill>
                    <a:srgbClr val="ED7D31"/>
                  </a:solidFill>
                </a:rPr>
                <a:t>Lien avec les autres</a:t>
              </a:r>
            </a:p>
          </p:txBody>
        </p:sp>
      </p:grpSp>
      <p:grpSp>
        <p:nvGrpSpPr>
          <p:cNvPr id="111" name="Groupe 110">
            <a:extLst>
              <a:ext uri="{FF2B5EF4-FFF2-40B4-BE49-F238E27FC236}">
                <a16:creationId xmlns:a16="http://schemas.microsoft.com/office/drawing/2014/main" id="{32BFB781-1BAE-1FE5-D941-FC68B74DA258}"/>
              </a:ext>
            </a:extLst>
          </p:cNvPr>
          <p:cNvGrpSpPr/>
          <p:nvPr/>
        </p:nvGrpSpPr>
        <p:grpSpPr>
          <a:xfrm>
            <a:off x="316124" y="4539832"/>
            <a:ext cx="1830544" cy="1624070"/>
            <a:chOff x="2837626" y="3862428"/>
            <a:chExt cx="2054481" cy="1601745"/>
          </a:xfrm>
        </p:grpSpPr>
        <p:pic>
          <p:nvPicPr>
            <p:cNvPr id="112" name="Graphique 111" descr="Aspiration avec un remplissage uni">
              <a:extLst>
                <a:ext uri="{FF2B5EF4-FFF2-40B4-BE49-F238E27FC236}">
                  <a16:creationId xmlns:a16="http://schemas.microsoft.com/office/drawing/2014/main" id="{7349FFE9-52F6-3D8C-5BE8-30012B37B229}"/>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3291263" y="3862428"/>
              <a:ext cx="1163723" cy="940256"/>
            </a:xfrm>
            <a:prstGeom prst="rect">
              <a:avLst/>
            </a:prstGeom>
          </p:spPr>
        </p:pic>
        <p:sp>
          <p:nvSpPr>
            <p:cNvPr id="113" name="ZoneTexte 112">
              <a:extLst>
                <a:ext uri="{FF2B5EF4-FFF2-40B4-BE49-F238E27FC236}">
                  <a16:creationId xmlns:a16="http://schemas.microsoft.com/office/drawing/2014/main" id="{12CF559D-9A67-8ABF-3A74-F02D69288582}"/>
                </a:ext>
              </a:extLst>
            </p:cNvPr>
            <p:cNvSpPr txBox="1"/>
            <p:nvPr/>
          </p:nvSpPr>
          <p:spPr>
            <a:xfrm>
              <a:off x="2837626" y="4735663"/>
              <a:ext cx="2054481" cy="728510"/>
            </a:xfrm>
            <a:prstGeom prst="rect">
              <a:avLst/>
            </a:prstGeom>
            <a:noFill/>
          </p:spPr>
          <p:txBody>
            <a:bodyPr wrap="square">
              <a:spAutoFit/>
            </a:bodyPr>
            <a:lstStyle/>
            <a:p>
              <a:pPr algn="ctr"/>
              <a:r>
                <a:rPr lang="fr-FR" sz="1400" b="1" dirty="0">
                  <a:solidFill>
                    <a:srgbClr val="ED7D31"/>
                  </a:solidFill>
                </a:rPr>
                <a:t>Développement de compétences et réalisation de soi</a:t>
              </a:r>
            </a:p>
          </p:txBody>
        </p:sp>
      </p:grpSp>
    </p:spTree>
    <p:extLst>
      <p:ext uri="{BB962C8B-B14F-4D97-AF65-F5344CB8AC3E}">
        <p14:creationId xmlns:p14="http://schemas.microsoft.com/office/powerpoint/2010/main" val="3016536757"/>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Ensemble, nous nous coordonnons sur les bonnes pratiques dans notre métier</a:t>
            </a:r>
            <a:r>
              <a:rPr lang="fr-FR" sz="1400" b="1" dirty="0"/>
              <a:t>, pas celles du marché mais celles qui correspondent vraiment à notre entreprise</a:t>
            </a:r>
            <a:r>
              <a:rPr lang="fr-FR" sz="1400" dirty="0"/>
              <a:t>. Nous alimentons ainsi un référentiel applicable dans toute l’entreprise que nous diffusons et promouvons.</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L’entreprise peut profiter et apprendre de l’expérience accumulée (métier, organisationnelle, etc.) de son secteur. Mais es bonnes pratiques génériques doivent être adaptées au contexte local, par exemple avec les </a:t>
            </a:r>
            <a:r>
              <a:rPr lang="fr-FR" sz="1400" b="1" dirty="0">
                <a:solidFill>
                  <a:schemeClr val="bg1"/>
                </a:solidFill>
              </a:rPr>
              <a:t>Communautés de pratique.</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6 : Quand je développe des bonnes pratiques</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2178291"/>
            <a:chOff x="11670562" y="767339"/>
            <a:chExt cx="1001440" cy="1127250"/>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907851"/>
            </a:xfrm>
            <a:prstGeom prst="rect">
              <a:avLst/>
            </a:prstGeom>
            <a:noFill/>
          </p:spPr>
          <p:txBody>
            <a:bodyPr wrap="square">
              <a:spAutoFit/>
            </a:bodyPr>
            <a:lstStyle/>
            <a:p>
              <a:pPr algn="r"/>
              <a:r>
                <a:rPr lang="fr-FR" b="1" dirty="0">
                  <a:solidFill>
                    <a:schemeClr val="tx1"/>
                  </a:solidFill>
                </a:rPr>
                <a:t>Ep 7: </a:t>
              </a:r>
            </a:p>
            <a:p>
              <a:pPr algn="r"/>
              <a:r>
                <a:rPr lang="fr-FR" b="1" dirty="0">
                  <a:solidFill>
                    <a:schemeClr val="tx1"/>
                  </a:solidFill>
                </a:rPr>
                <a:t>Quand j’ai atteint une certaine maturité professionnelle</a:t>
              </a: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sp>
        <p:nvSpPr>
          <p:cNvPr id="77" name="Rectangle 76">
            <a:extLst>
              <a:ext uri="{FF2B5EF4-FFF2-40B4-BE49-F238E27FC236}">
                <a16:creationId xmlns:a16="http://schemas.microsoft.com/office/drawing/2014/main" id="{7A77FFB6-1E93-4CCA-5A10-3D9C17979830}"/>
              </a:ext>
            </a:extLst>
          </p:cNvPr>
          <p:cNvSpPr/>
          <p:nvPr/>
        </p:nvSpPr>
        <p:spPr>
          <a:xfrm>
            <a:off x="6288566" y="5622523"/>
            <a:ext cx="2398234"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Développement de la Qualité et des méthodes locales</a:t>
            </a:r>
            <a:endParaRPr lang="fr-FR" sz="1400" dirty="0">
              <a:solidFill>
                <a:schemeClr val="tx1"/>
              </a:solidFill>
            </a:endParaRPr>
          </a:p>
        </p:txBody>
      </p:sp>
      <p:grpSp>
        <p:nvGrpSpPr>
          <p:cNvPr id="90" name="Groupe 89">
            <a:extLst>
              <a:ext uri="{FF2B5EF4-FFF2-40B4-BE49-F238E27FC236}">
                <a16:creationId xmlns:a16="http://schemas.microsoft.com/office/drawing/2014/main" id="{C20AD42B-E0F0-2926-E543-B29E2969E756}"/>
              </a:ext>
            </a:extLst>
          </p:cNvPr>
          <p:cNvGrpSpPr/>
          <p:nvPr/>
        </p:nvGrpSpPr>
        <p:grpSpPr>
          <a:xfrm>
            <a:off x="1733264" y="4503818"/>
            <a:ext cx="1732017" cy="1915594"/>
            <a:chOff x="9261999" y="4256738"/>
            <a:chExt cx="965736" cy="1069351"/>
          </a:xfrm>
        </p:grpSpPr>
        <p:sp>
          <p:nvSpPr>
            <p:cNvPr id="91" name="ZoneTexte 90">
              <a:extLst>
                <a:ext uri="{FF2B5EF4-FFF2-40B4-BE49-F238E27FC236}">
                  <a16:creationId xmlns:a16="http://schemas.microsoft.com/office/drawing/2014/main" id="{3B565AB6-0858-015E-E50D-4AE0AAB3B127}"/>
                </a:ext>
              </a:extLst>
            </p:cNvPr>
            <p:cNvSpPr txBox="1"/>
            <p:nvPr/>
          </p:nvSpPr>
          <p:spPr>
            <a:xfrm>
              <a:off x="9261999" y="4793473"/>
              <a:ext cx="965736" cy="532616"/>
            </a:xfrm>
            <a:prstGeom prst="rect">
              <a:avLst/>
            </a:prstGeom>
            <a:noFill/>
          </p:spPr>
          <p:txBody>
            <a:bodyPr wrap="square">
              <a:spAutoFit/>
            </a:bodyPr>
            <a:lstStyle/>
            <a:p>
              <a:pPr algn="ctr"/>
              <a:r>
                <a:rPr lang="fr-FR" sz="1400" b="1" dirty="0">
                  <a:solidFill>
                    <a:srgbClr val="ED7D31"/>
                  </a:solidFill>
                </a:rPr>
                <a:t>Satisfaction des obligations et responsabilités existantes</a:t>
              </a:r>
            </a:p>
          </p:txBody>
        </p:sp>
        <p:pic>
          <p:nvPicPr>
            <p:cNvPr id="92" name="Graphique 91" descr="Presse-papiers vérifié avec un remplissage uni">
              <a:extLst>
                <a:ext uri="{FF2B5EF4-FFF2-40B4-BE49-F238E27FC236}">
                  <a16:creationId xmlns:a16="http://schemas.microsoft.com/office/drawing/2014/main" id="{248CFB54-A11E-6986-3964-80C0D6B3FCD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4604" y="4256738"/>
              <a:ext cx="491025" cy="491024"/>
            </a:xfrm>
            <a:prstGeom prst="rect">
              <a:avLst/>
            </a:prstGeom>
          </p:spPr>
        </p:pic>
      </p:grpSp>
      <p:grpSp>
        <p:nvGrpSpPr>
          <p:cNvPr id="53" name="Groupe 52">
            <a:extLst>
              <a:ext uri="{FF2B5EF4-FFF2-40B4-BE49-F238E27FC236}">
                <a16:creationId xmlns:a16="http://schemas.microsoft.com/office/drawing/2014/main" id="{6DAFD271-0E6C-2E2B-C6BA-73DBCFDAD3AA}"/>
              </a:ext>
            </a:extLst>
          </p:cNvPr>
          <p:cNvGrpSpPr/>
          <p:nvPr/>
        </p:nvGrpSpPr>
        <p:grpSpPr>
          <a:xfrm>
            <a:off x="265798" y="4439552"/>
            <a:ext cx="1795852" cy="1494464"/>
            <a:chOff x="4120272" y="4187837"/>
            <a:chExt cx="872285" cy="726750"/>
          </a:xfrm>
        </p:grpSpPr>
        <p:pic>
          <p:nvPicPr>
            <p:cNvPr id="54" name="Graphique 53" descr="Utilisateurs avec un remplissage uni">
              <a:extLst>
                <a:ext uri="{FF2B5EF4-FFF2-40B4-BE49-F238E27FC236}">
                  <a16:creationId xmlns:a16="http://schemas.microsoft.com/office/drawing/2014/main" id="{4332B22D-ABDE-7328-6669-87C3F4A3013C}"/>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4278095" y="4187837"/>
              <a:ext cx="590398" cy="590398"/>
            </a:xfrm>
            <a:prstGeom prst="rect">
              <a:avLst/>
            </a:prstGeom>
          </p:spPr>
        </p:pic>
        <p:sp>
          <p:nvSpPr>
            <p:cNvPr id="55" name="ZoneTexte 54">
              <a:extLst>
                <a:ext uri="{FF2B5EF4-FFF2-40B4-BE49-F238E27FC236}">
                  <a16:creationId xmlns:a16="http://schemas.microsoft.com/office/drawing/2014/main" id="{DC836708-6115-27AD-5E5D-550150E8F203}"/>
                </a:ext>
              </a:extLst>
            </p:cNvPr>
            <p:cNvSpPr txBox="1"/>
            <p:nvPr/>
          </p:nvSpPr>
          <p:spPr>
            <a:xfrm>
              <a:off x="4120272" y="4660148"/>
              <a:ext cx="872285" cy="254439"/>
            </a:xfrm>
            <a:prstGeom prst="rect">
              <a:avLst/>
            </a:prstGeom>
            <a:noFill/>
          </p:spPr>
          <p:txBody>
            <a:bodyPr wrap="square">
              <a:spAutoFit/>
            </a:bodyPr>
            <a:lstStyle/>
            <a:p>
              <a:pPr algn="ctr"/>
              <a:r>
                <a:rPr lang="fr-FR" sz="1400" b="1" dirty="0">
                  <a:solidFill>
                    <a:srgbClr val="ED7D31"/>
                  </a:solidFill>
                </a:rPr>
                <a:t>Reconnaissance sociale </a:t>
              </a:r>
            </a:p>
          </p:txBody>
        </p:sp>
      </p:grpSp>
      <p:grpSp>
        <p:nvGrpSpPr>
          <p:cNvPr id="56" name="Groupe 55">
            <a:extLst>
              <a:ext uri="{FF2B5EF4-FFF2-40B4-BE49-F238E27FC236}">
                <a16:creationId xmlns:a16="http://schemas.microsoft.com/office/drawing/2014/main" id="{BC1D7AE8-29B7-D0A7-7020-6951EA43094B}"/>
              </a:ext>
            </a:extLst>
          </p:cNvPr>
          <p:cNvGrpSpPr/>
          <p:nvPr/>
        </p:nvGrpSpPr>
        <p:grpSpPr>
          <a:xfrm>
            <a:off x="3288443" y="4613873"/>
            <a:ext cx="1378673" cy="1790005"/>
            <a:chOff x="6088603" y="4144848"/>
            <a:chExt cx="1000589" cy="1300650"/>
          </a:xfrm>
        </p:grpSpPr>
        <p:pic>
          <p:nvPicPr>
            <p:cNvPr id="57" name="Graphique 56" descr="Globe terrestre : Europe et Afrique avec un remplissage uni">
              <a:extLst>
                <a:ext uri="{FF2B5EF4-FFF2-40B4-BE49-F238E27FC236}">
                  <a16:creationId xmlns:a16="http://schemas.microsoft.com/office/drawing/2014/main" id="{C3525A34-C67C-C2AF-CABA-E8CAD86A13A0}"/>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278977" y="4144848"/>
              <a:ext cx="643205" cy="643205"/>
            </a:xfrm>
            <a:prstGeom prst="rect">
              <a:avLst/>
            </a:prstGeom>
          </p:spPr>
        </p:pic>
        <p:sp>
          <p:nvSpPr>
            <p:cNvPr id="58" name="ZoneTexte 57">
              <a:extLst>
                <a:ext uri="{FF2B5EF4-FFF2-40B4-BE49-F238E27FC236}">
                  <a16:creationId xmlns:a16="http://schemas.microsoft.com/office/drawing/2014/main" id="{F15F126F-E326-5A22-6FB5-E4BEFDAC0CE3}"/>
                </a:ext>
              </a:extLst>
            </p:cNvPr>
            <p:cNvSpPr txBox="1"/>
            <p:nvPr/>
          </p:nvSpPr>
          <p:spPr>
            <a:xfrm>
              <a:off x="6088603" y="4716985"/>
              <a:ext cx="1000589" cy="728513"/>
            </a:xfrm>
            <a:prstGeom prst="rect">
              <a:avLst/>
            </a:prstGeom>
            <a:noFill/>
          </p:spPr>
          <p:txBody>
            <a:bodyPr wrap="square">
              <a:spAutoFit/>
            </a:bodyPr>
            <a:lstStyle/>
            <a:p>
              <a:pPr algn="ctr"/>
              <a:r>
                <a:rPr lang="fr-FR" sz="1400" b="1" dirty="0">
                  <a:solidFill>
                    <a:srgbClr val="ED7D31"/>
                  </a:solidFill>
                </a:rPr>
                <a:t>Impact positif et sens</a:t>
              </a:r>
            </a:p>
          </p:txBody>
        </p:sp>
      </p:grpSp>
      <p:grpSp>
        <p:nvGrpSpPr>
          <p:cNvPr id="61" name="Groupe 60">
            <a:extLst>
              <a:ext uri="{FF2B5EF4-FFF2-40B4-BE49-F238E27FC236}">
                <a16:creationId xmlns:a16="http://schemas.microsoft.com/office/drawing/2014/main" id="{A37A7C6B-49C1-ECC9-18D2-193913E46500}"/>
              </a:ext>
            </a:extLst>
          </p:cNvPr>
          <p:cNvGrpSpPr/>
          <p:nvPr/>
        </p:nvGrpSpPr>
        <p:grpSpPr>
          <a:xfrm>
            <a:off x="6840605" y="4476980"/>
            <a:ext cx="1413175" cy="1195426"/>
            <a:chOff x="1619081" y="3908041"/>
            <a:chExt cx="3348357" cy="2476948"/>
          </a:xfrm>
          <a:solidFill>
            <a:schemeClr val="tx1"/>
          </a:solidFill>
        </p:grpSpPr>
        <p:pic>
          <p:nvPicPr>
            <p:cNvPr id="64" name="Graphique 63" descr="Graphique en radar avec un remplissage uni">
              <a:extLst>
                <a:ext uri="{FF2B5EF4-FFF2-40B4-BE49-F238E27FC236}">
                  <a16:creationId xmlns:a16="http://schemas.microsoft.com/office/drawing/2014/main" id="{D7C4B250-3E19-85D1-76F6-35CF15A0E080}"/>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619081" y="5084439"/>
              <a:ext cx="1290292" cy="1290292"/>
            </a:xfrm>
            <a:prstGeom prst="rect">
              <a:avLst/>
            </a:prstGeom>
          </p:spPr>
        </p:pic>
        <p:pic>
          <p:nvPicPr>
            <p:cNvPr id="65" name="Graphique 64" descr="Compteur bas avec un remplissage uni">
              <a:extLst>
                <a:ext uri="{FF2B5EF4-FFF2-40B4-BE49-F238E27FC236}">
                  <a16:creationId xmlns:a16="http://schemas.microsoft.com/office/drawing/2014/main" id="{F65A4C7D-9931-B4F2-F9E6-470D335FCE28}"/>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flipH="1">
              <a:off x="2795861" y="3908041"/>
              <a:ext cx="898916" cy="914400"/>
            </a:xfrm>
            <a:prstGeom prst="rect">
              <a:avLst/>
            </a:prstGeom>
          </p:spPr>
        </p:pic>
        <p:pic>
          <p:nvPicPr>
            <p:cNvPr id="66" name="Graphique 65" descr="Cercles avec flèches avec un remplissage uni">
              <a:extLst>
                <a:ext uri="{FF2B5EF4-FFF2-40B4-BE49-F238E27FC236}">
                  <a16:creationId xmlns:a16="http://schemas.microsoft.com/office/drawing/2014/main" id="{8E0CD57D-686C-7033-0AF1-22D81659F3A3}"/>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rot="18361995">
              <a:off x="2644083" y="4661879"/>
              <a:ext cx="1172888" cy="1172888"/>
            </a:xfrm>
            <a:prstGeom prst="rect">
              <a:avLst/>
            </a:prstGeom>
          </p:spPr>
        </p:pic>
        <p:pic>
          <p:nvPicPr>
            <p:cNvPr id="67" name="Graphique 66" descr="Presse-papiers badge avec un remplissage uni">
              <a:extLst>
                <a:ext uri="{FF2B5EF4-FFF2-40B4-BE49-F238E27FC236}">
                  <a16:creationId xmlns:a16="http://schemas.microsoft.com/office/drawing/2014/main" id="{E51BF603-66AF-6584-496F-2E169641D3CD}"/>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3755728" y="5173279"/>
              <a:ext cx="1211710" cy="1211710"/>
            </a:xfrm>
            <a:prstGeom prst="rect">
              <a:avLst/>
            </a:prstGeom>
          </p:spPr>
        </p:pic>
      </p:grpSp>
    </p:spTree>
    <p:extLst>
      <p:ext uri="{BB962C8B-B14F-4D97-AF65-F5344CB8AC3E}">
        <p14:creationId xmlns:p14="http://schemas.microsoft.com/office/powerpoint/2010/main" val="3911800598"/>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Mon expérience dans mon métier et dans l’entreprise me donne l’occasion de transmettre, via du mentorat ou des retours d’expérience, grâce à une </a:t>
            </a:r>
            <a:r>
              <a:rPr lang="fr-FR" sz="1400" b="1" dirty="0"/>
              <a:t>Communauté de transmission </a:t>
            </a:r>
            <a:r>
              <a:rPr lang="fr-FR" sz="1400" dirty="0"/>
              <a:t>sur mon sujet. Cela me donne du sens et développe ma communication.</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Beaucoup de connaissances sont produites dans l’entreprise (expérience métier, tacite, informelle, etc.). Ces connaissances peuvent se perdre à chaque départ. Cette perte d’information peut être réduite grâce aux </a:t>
            </a:r>
            <a:r>
              <a:rPr lang="fr-FR" sz="1400" b="1" dirty="0">
                <a:solidFill>
                  <a:schemeClr val="bg1"/>
                </a:solidFill>
              </a:rPr>
              <a:t>Communautés de transmission.</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7 : Quand j’ai atteint une certaine maturité professionnelle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901294"/>
            <a:chOff x="11670562" y="767339"/>
            <a:chExt cx="1001440" cy="983906"/>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764507"/>
            </a:xfrm>
            <a:prstGeom prst="rect">
              <a:avLst/>
            </a:prstGeom>
            <a:noFill/>
          </p:spPr>
          <p:txBody>
            <a:bodyPr wrap="square">
              <a:spAutoFit/>
            </a:bodyPr>
            <a:lstStyle/>
            <a:p>
              <a:pPr algn="r"/>
              <a:r>
                <a:rPr lang="fr-FR" b="1" dirty="0">
                  <a:solidFill>
                    <a:schemeClr val="tx1"/>
                  </a:solidFill>
                </a:rPr>
                <a:t>Ep 8: </a:t>
              </a:r>
            </a:p>
            <a:p>
              <a:pPr algn="r"/>
              <a:r>
                <a:rPr lang="fr-FR" b="1" dirty="0">
                  <a:solidFill>
                    <a:schemeClr val="tx1"/>
                  </a:solidFill>
                </a:rPr>
                <a:t>Quand </a:t>
              </a:r>
            </a:p>
            <a:p>
              <a:pPr algn="r"/>
              <a:r>
                <a:rPr lang="fr-FR" b="1" dirty="0"/>
                <a:t>j’ai des idées pour l’entreprise</a:t>
              </a:r>
              <a:endParaRPr lang="fr-FR" b="1" dirty="0">
                <a:solidFill>
                  <a:schemeClr val="tx1"/>
                </a:solidFill>
              </a:endParaRP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52" name="Groupe 51">
            <a:extLst>
              <a:ext uri="{FF2B5EF4-FFF2-40B4-BE49-F238E27FC236}">
                <a16:creationId xmlns:a16="http://schemas.microsoft.com/office/drawing/2014/main" id="{F7E4FE02-F7F1-60D2-82C1-B868A1DAF5B0}"/>
              </a:ext>
            </a:extLst>
          </p:cNvPr>
          <p:cNvGrpSpPr/>
          <p:nvPr/>
        </p:nvGrpSpPr>
        <p:grpSpPr>
          <a:xfrm>
            <a:off x="7438958" y="4501045"/>
            <a:ext cx="2122394" cy="1091175"/>
            <a:chOff x="6389474" y="3987996"/>
            <a:chExt cx="5385544" cy="2536749"/>
          </a:xfrm>
          <a:solidFill>
            <a:schemeClr val="tx1"/>
          </a:solidFill>
        </p:grpSpPr>
        <p:cxnSp>
          <p:nvCxnSpPr>
            <p:cNvPr id="59" name="Connecteur droit avec flèche 58">
              <a:extLst>
                <a:ext uri="{FF2B5EF4-FFF2-40B4-BE49-F238E27FC236}">
                  <a16:creationId xmlns:a16="http://schemas.microsoft.com/office/drawing/2014/main" id="{52A681DA-542A-073C-9479-34E940BC9142}"/>
                </a:ext>
              </a:extLst>
            </p:cNvPr>
            <p:cNvCxnSpPr>
              <a:cxnSpLocks/>
            </p:cNvCxnSpPr>
            <p:nvPr/>
          </p:nvCxnSpPr>
          <p:spPr>
            <a:xfrm flipV="1">
              <a:off x="6535271" y="6100758"/>
              <a:ext cx="1486117" cy="22439"/>
            </a:xfrm>
            <a:prstGeom prst="straightConnector1">
              <a:avLst/>
            </a:prstGeom>
            <a:grpFill/>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60" name="Graphique 59" descr="Télécharger du cloud avec un remplissage uni">
              <a:extLst>
                <a:ext uri="{FF2B5EF4-FFF2-40B4-BE49-F238E27FC236}">
                  <a16:creationId xmlns:a16="http://schemas.microsoft.com/office/drawing/2014/main" id="{1940F7AB-7B72-C94B-DEE5-A9DCAFB291A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320900" y="3987996"/>
              <a:ext cx="675060" cy="675060"/>
            </a:xfrm>
            <a:prstGeom prst="rect">
              <a:avLst/>
            </a:prstGeom>
          </p:spPr>
        </p:pic>
        <p:pic>
          <p:nvPicPr>
            <p:cNvPr id="62" name="Graphique 61" descr="Serveur avec un remplissage uni">
              <a:extLst>
                <a:ext uri="{FF2B5EF4-FFF2-40B4-BE49-F238E27FC236}">
                  <a16:creationId xmlns:a16="http://schemas.microsoft.com/office/drawing/2014/main" id="{1EB7BF1C-1319-8279-998D-1085FB153DB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995960" y="3987996"/>
              <a:ext cx="675060" cy="675060"/>
            </a:xfrm>
            <a:prstGeom prst="rect">
              <a:avLst/>
            </a:prstGeom>
          </p:spPr>
        </p:pic>
        <p:pic>
          <p:nvPicPr>
            <p:cNvPr id="63" name="Graphique 62" descr="Tête avec engrenages avec un remplissage uni">
              <a:extLst>
                <a:ext uri="{FF2B5EF4-FFF2-40B4-BE49-F238E27FC236}">
                  <a16:creationId xmlns:a16="http://schemas.microsoft.com/office/drawing/2014/main" id="{C43EFAFF-C513-9142-7EB6-6329814891E5}"/>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389474" y="5495508"/>
              <a:ext cx="914400" cy="914400"/>
            </a:xfrm>
            <a:prstGeom prst="rect">
              <a:avLst/>
            </a:prstGeom>
          </p:spPr>
        </p:pic>
        <p:sp>
          <p:nvSpPr>
            <p:cNvPr id="68" name="Flèche : droite 67">
              <a:extLst>
                <a:ext uri="{FF2B5EF4-FFF2-40B4-BE49-F238E27FC236}">
                  <a16:creationId xmlns:a16="http://schemas.microsoft.com/office/drawing/2014/main" id="{8B43E3E7-3242-E545-9EB8-7465AFDC59A6}"/>
                </a:ext>
              </a:extLst>
            </p:cNvPr>
            <p:cNvSpPr/>
            <p:nvPr/>
          </p:nvSpPr>
          <p:spPr>
            <a:xfrm rot="2221843">
              <a:off x="9714954" y="4900835"/>
              <a:ext cx="868966"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69" name="Graphique 68" descr="Enseignant avec un remplissage uni">
              <a:extLst>
                <a:ext uri="{FF2B5EF4-FFF2-40B4-BE49-F238E27FC236}">
                  <a16:creationId xmlns:a16="http://schemas.microsoft.com/office/drawing/2014/main" id="{4E8588EB-84CD-BC65-19BB-1E197F72DD4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353404" y="4668590"/>
              <a:ext cx="639776" cy="639776"/>
            </a:xfrm>
            <a:prstGeom prst="rect">
              <a:avLst/>
            </a:prstGeom>
          </p:spPr>
        </p:pic>
        <p:cxnSp>
          <p:nvCxnSpPr>
            <p:cNvPr id="70" name="Connecteur droit avec flèche 69">
              <a:extLst>
                <a:ext uri="{FF2B5EF4-FFF2-40B4-BE49-F238E27FC236}">
                  <a16:creationId xmlns:a16="http://schemas.microsoft.com/office/drawing/2014/main" id="{10154ACD-07A7-A91B-87B0-E4C340C1FC42}"/>
                </a:ext>
              </a:extLst>
            </p:cNvPr>
            <p:cNvCxnSpPr>
              <a:cxnSpLocks/>
            </p:cNvCxnSpPr>
            <p:nvPr/>
          </p:nvCxnSpPr>
          <p:spPr>
            <a:xfrm flipV="1">
              <a:off x="10175446" y="6092807"/>
              <a:ext cx="1599572" cy="7951"/>
            </a:xfrm>
            <a:prstGeom prst="straightConnector1">
              <a:avLst/>
            </a:prstGeom>
            <a:grpFill/>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71" name="Graphique 70" descr="Tête avec engrenages avec un remplissage uni">
              <a:extLst>
                <a:ext uri="{FF2B5EF4-FFF2-40B4-BE49-F238E27FC236}">
                  <a16:creationId xmlns:a16="http://schemas.microsoft.com/office/drawing/2014/main" id="{B4437606-BE36-0C3D-D7BF-4B5D4AC74014}"/>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0652219" y="5495508"/>
              <a:ext cx="914400" cy="914400"/>
            </a:xfrm>
            <a:prstGeom prst="rect">
              <a:avLst/>
            </a:prstGeom>
          </p:spPr>
        </p:pic>
        <p:sp>
          <p:nvSpPr>
            <p:cNvPr id="72" name="Flèche : droite 71">
              <a:extLst>
                <a:ext uri="{FF2B5EF4-FFF2-40B4-BE49-F238E27FC236}">
                  <a16:creationId xmlns:a16="http://schemas.microsoft.com/office/drawing/2014/main" id="{3B16985E-CBAD-B7FB-046F-C1FBB09A34F6}"/>
                </a:ext>
              </a:extLst>
            </p:cNvPr>
            <p:cNvSpPr/>
            <p:nvPr/>
          </p:nvSpPr>
          <p:spPr>
            <a:xfrm rot="18844370">
              <a:off x="7386229" y="4956663"/>
              <a:ext cx="868966"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73" name="Graphique 72" descr="Groupe de personnes avec un remplissage uni">
              <a:extLst>
                <a:ext uri="{FF2B5EF4-FFF2-40B4-BE49-F238E27FC236}">
                  <a16:creationId xmlns:a16="http://schemas.microsoft.com/office/drawing/2014/main" id="{9665906F-582A-F23F-E76A-B8350B522494}"/>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9025684" y="4682443"/>
              <a:ext cx="565880" cy="565880"/>
            </a:xfrm>
            <a:prstGeom prst="rect">
              <a:avLst/>
            </a:prstGeom>
          </p:spPr>
        </p:pic>
        <p:pic>
          <p:nvPicPr>
            <p:cNvPr id="74" name="Graphique 73" descr="Stop avec un remplissage uni">
              <a:extLst>
                <a:ext uri="{FF2B5EF4-FFF2-40B4-BE49-F238E27FC236}">
                  <a16:creationId xmlns:a16="http://schemas.microsoft.com/office/drawing/2014/main" id="{59B6F17A-0C3F-D1CB-BC48-63776766064B}"/>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7449671" y="5610346"/>
              <a:ext cx="914401" cy="914399"/>
            </a:xfrm>
            <a:prstGeom prst="rect">
              <a:avLst/>
            </a:prstGeom>
          </p:spPr>
        </p:pic>
        <p:grpSp>
          <p:nvGrpSpPr>
            <p:cNvPr id="76" name="Groupe 75">
              <a:extLst>
                <a:ext uri="{FF2B5EF4-FFF2-40B4-BE49-F238E27FC236}">
                  <a16:creationId xmlns:a16="http://schemas.microsoft.com/office/drawing/2014/main" id="{65E7400E-AA55-AD4B-92A0-351C02437CE4}"/>
                </a:ext>
              </a:extLst>
            </p:cNvPr>
            <p:cNvGrpSpPr/>
            <p:nvPr/>
          </p:nvGrpSpPr>
          <p:grpSpPr>
            <a:xfrm>
              <a:off x="9572195" y="5506839"/>
              <a:ext cx="914400" cy="914400"/>
              <a:chOff x="9545095" y="5506839"/>
              <a:chExt cx="914400" cy="914400"/>
            </a:xfrm>
            <a:grpFill/>
          </p:grpSpPr>
          <p:pic>
            <p:nvPicPr>
              <p:cNvPr id="78" name="Graphique 77" descr="Tête avec engrenages avec un remplissage uni">
                <a:extLst>
                  <a:ext uri="{FF2B5EF4-FFF2-40B4-BE49-F238E27FC236}">
                    <a16:creationId xmlns:a16="http://schemas.microsoft.com/office/drawing/2014/main" id="{5D5EECB4-1107-EE1D-BFE3-5E5B8B3F7AEE}"/>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9545095" y="5506839"/>
                <a:ext cx="914400" cy="914400"/>
              </a:xfrm>
              <a:prstGeom prst="rect">
                <a:avLst/>
              </a:prstGeom>
            </p:spPr>
          </p:pic>
          <p:sp>
            <p:nvSpPr>
              <p:cNvPr id="79" name="Rectangle 78">
                <a:extLst>
                  <a:ext uri="{FF2B5EF4-FFF2-40B4-BE49-F238E27FC236}">
                    <a16:creationId xmlns:a16="http://schemas.microsoft.com/office/drawing/2014/main" id="{1CB689BD-26D1-5D4F-EAB3-F8BC49D56A8D}"/>
                  </a:ext>
                </a:extLst>
              </p:cNvPr>
              <p:cNvSpPr/>
              <p:nvPr/>
            </p:nvSpPr>
            <p:spPr>
              <a:xfrm>
                <a:off x="9746305" y="5711588"/>
                <a:ext cx="402041" cy="334679"/>
              </a:xfrm>
              <a:prstGeom prst="rect">
                <a:avLst/>
              </a:prstGeom>
              <a:grp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80" name="Rectangle 79">
                <a:extLst>
                  <a:ext uri="{FF2B5EF4-FFF2-40B4-BE49-F238E27FC236}">
                    <a16:creationId xmlns:a16="http://schemas.microsoft.com/office/drawing/2014/main" id="{47BCFF9F-6C92-A34C-2A9A-9CFBD6FADEE8}"/>
                  </a:ext>
                </a:extLst>
              </p:cNvPr>
              <p:cNvSpPr/>
              <p:nvPr/>
            </p:nvSpPr>
            <p:spPr>
              <a:xfrm>
                <a:off x="9860091" y="5618280"/>
                <a:ext cx="262409" cy="345759"/>
              </a:xfrm>
              <a:prstGeom prst="rect">
                <a:avLst/>
              </a:prstGeom>
              <a:grp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grpSp>
      </p:grpSp>
      <p:grpSp>
        <p:nvGrpSpPr>
          <p:cNvPr id="107" name="Groupe 106">
            <a:extLst>
              <a:ext uri="{FF2B5EF4-FFF2-40B4-BE49-F238E27FC236}">
                <a16:creationId xmlns:a16="http://schemas.microsoft.com/office/drawing/2014/main" id="{6C0AE6F6-AEF0-C01D-2F4D-5DC803F040CF}"/>
              </a:ext>
            </a:extLst>
          </p:cNvPr>
          <p:cNvGrpSpPr/>
          <p:nvPr/>
        </p:nvGrpSpPr>
        <p:grpSpPr>
          <a:xfrm>
            <a:off x="6154439" y="4644469"/>
            <a:ext cx="923940" cy="959843"/>
            <a:chOff x="1793893" y="3948469"/>
            <a:chExt cx="2716107" cy="2749848"/>
          </a:xfrm>
        </p:grpSpPr>
        <p:pic>
          <p:nvPicPr>
            <p:cNvPr id="108" name="Graphique 107" descr="Diplôme roulé avec un remplissage uni">
              <a:extLst>
                <a:ext uri="{FF2B5EF4-FFF2-40B4-BE49-F238E27FC236}">
                  <a16:creationId xmlns:a16="http://schemas.microsoft.com/office/drawing/2014/main" id="{E1BBBDE0-B75D-02F9-FDA8-0F6FBF95A21E}"/>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2976734" y="5783917"/>
              <a:ext cx="914400" cy="914400"/>
            </a:xfrm>
            <a:prstGeom prst="rect">
              <a:avLst/>
            </a:prstGeom>
          </p:spPr>
        </p:pic>
        <p:grpSp>
          <p:nvGrpSpPr>
            <p:cNvPr id="109" name="Groupe 108">
              <a:extLst>
                <a:ext uri="{FF2B5EF4-FFF2-40B4-BE49-F238E27FC236}">
                  <a16:creationId xmlns:a16="http://schemas.microsoft.com/office/drawing/2014/main" id="{0C0840E0-BE06-E335-3B79-2F7CC5C39F20}"/>
                </a:ext>
              </a:extLst>
            </p:cNvPr>
            <p:cNvGrpSpPr/>
            <p:nvPr/>
          </p:nvGrpSpPr>
          <p:grpSpPr>
            <a:xfrm>
              <a:off x="1793893" y="3948469"/>
              <a:ext cx="2716107" cy="2284168"/>
              <a:chOff x="1793893" y="3948469"/>
              <a:chExt cx="2716107" cy="2284168"/>
            </a:xfrm>
          </p:grpSpPr>
          <p:sp>
            <p:nvSpPr>
              <p:cNvPr id="110" name="Ellipse 109">
                <a:extLst>
                  <a:ext uri="{FF2B5EF4-FFF2-40B4-BE49-F238E27FC236}">
                    <a16:creationId xmlns:a16="http://schemas.microsoft.com/office/drawing/2014/main" id="{C96FBE01-C9A7-72A2-D2EC-2C2DF0842D46}"/>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111" name="Graphique 110" descr="Transférer avec un remplissage uni">
                <a:extLst>
                  <a:ext uri="{FF2B5EF4-FFF2-40B4-BE49-F238E27FC236}">
                    <a16:creationId xmlns:a16="http://schemas.microsoft.com/office/drawing/2014/main" id="{F7820BBB-FF9A-4A65-5636-A576ABB51640}"/>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1979208" y="4142052"/>
                <a:ext cx="914400" cy="914400"/>
              </a:xfrm>
              <a:prstGeom prst="rect">
                <a:avLst/>
              </a:prstGeom>
            </p:spPr>
          </p:pic>
          <p:pic>
            <p:nvPicPr>
              <p:cNvPr id="112" name="Graphique 111" descr="Toque d'étudiant avec un remplissage uni">
                <a:extLst>
                  <a:ext uri="{FF2B5EF4-FFF2-40B4-BE49-F238E27FC236}">
                    <a16:creationId xmlns:a16="http://schemas.microsoft.com/office/drawing/2014/main" id="{1B49E9D2-130F-9FE5-FA66-6FAAFA5D17F9}"/>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3260713" y="3948469"/>
                <a:ext cx="914400" cy="914400"/>
              </a:xfrm>
              <a:prstGeom prst="rect">
                <a:avLst/>
              </a:prstGeom>
            </p:spPr>
          </p:pic>
          <p:pic>
            <p:nvPicPr>
              <p:cNvPr id="113" name="Graphique 112" descr="Idée avec un remplissage uni">
                <a:extLst>
                  <a:ext uri="{FF2B5EF4-FFF2-40B4-BE49-F238E27FC236}">
                    <a16:creationId xmlns:a16="http://schemas.microsoft.com/office/drawing/2014/main" id="{16D800DF-DFCA-5513-ACF4-03960D975CDF}"/>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1793893" y="5264448"/>
                <a:ext cx="914400" cy="914400"/>
              </a:xfrm>
              <a:prstGeom prst="rect">
                <a:avLst/>
              </a:prstGeom>
            </p:spPr>
          </p:pic>
          <p:pic>
            <p:nvPicPr>
              <p:cNvPr id="114" name="Graphique 113" descr="Chat avec un remplissage uni">
                <a:extLst>
                  <a:ext uri="{FF2B5EF4-FFF2-40B4-BE49-F238E27FC236}">
                    <a16:creationId xmlns:a16="http://schemas.microsoft.com/office/drawing/2014/main" id="{A3545435-F9CE-4391-78F1-241D5A727998}"/>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595600" y="4881866"/>
                <a:ext cx="914400" cy="914400"/>
              </a:xfrm>
              <a:prstGeom prst="rect">
                <a:avLst/>
              </a:prstGeom>
            </p:spPr>
          </p:pic>
        </p:grpSp>
      </p:grpSp>
      <p:sp>
        <p:nvSpPr>
          <p:cNvPr id="115" name="Rectangle 114">
            <a:extLst>
              <a:ext uri="{FF2B5EF4-FFF2-40B4-BE49-F238E27FC236}">
                <a16:creationId xmlns:a16="http://schemas.microsoft.com/office/drawing/2014/main" id="{2B7DC751-A15E-8FA1-72B8-607305BEE4E9}"/>
              </a:ext>
            </a:extLst>
          </p:cNvPr>
          <p:cNvSpPr/>
          <p:nvPr/>
        </p:nvSpPr>
        <p:spPr>
          <a:xfrm>
            <a:off x="7438958" y="5637544"/>
            <a:ext cx="2201807"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à la Gestion des connaissances</a:t>
            </a:r>
            <a:endParaRPr lang="fr-FR" sz="1400" dirty="0">
              <a:solidFill>
                <a:schemeClr val="tx1"/>
              </a:solidFill>
            </a:endParaRPr>
          </a:p>
        </p:txBody>
      </p:sp>
      <p:sp>
        <p:nvSpPr>
          <p:cNvPr id="116" name="Rectangle 115">
            <a:extLst>
              <a:ext uri="{FF2B5EF4-FFF2-40B4-BE49-F238E27FC236}">
                <a16:creationId xmlns:a16="http://schemas.microsoft.com/office/drawing/2014/main" id="{B1F593E2-65BD-74A0-3B8C-1781B3A606E6}"/>
              </a:ext>
            </a:extLst>
          </p:cNvPr>
          <p:cNvSpPr/>
          <p:nvPr/>
        </p:nvSpPr>
        <p:spPr>
          <a:xfrm>
            <a:off x="5794807" y="5697818"/>
            <a:ext cx="1524000"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à la formation opérationnelle</a:t>
            </a:r>
            <a:endParaRPr lang="fr-FR" sz="1400" dirty="0">
              <a:solidFill>
                <a:schemeClr val="tx1"/>
              </a:solidFill>
            </a:endParaRPr>
          </a:p>
        </p:txBody>
      </p:sp>
      <p:grpSp>
        <p:nvGrpSpPr>
          <p:cNvPr id="117" name="Groupe 116">
            <a:extLst>
              <a:ext uri="{FF2B5EF4-FFF2-40B4-BE49-F238E27FC236}">
                <a16:creationId xmlns:a16="http://schemas.microsoft.com/office/drawing/2014/main" id="{8D8BAE75-B420-FF75-3767-F2283D230FA9}"/>
              </a:ext>
            </a:extLst>
          </p:cNvPr>
          <p:cNvGrpSpPr/>
          <p:nvPr/>
        </p:nvGrpSpPr>
        <p:grpSpPr>
          <a:xfrm>
            <a:off x="286210" y="4602634"/>
            <a:ext cx="1609730" cy="1624070"/>
            <a:chOff x="2837626" y="3862428"/>
            <a:chExt cx="1806654" cy="1601745"/>
          </a:xfrm>
        </p:grpSpPr>
        <p:pic>
          <p:nvPicPr>
            <p:cNvPr id="118" name="Graphique 117" descr="Aspiration avec un remplissage uni">
              <a:extLst>
                <a:ext uri="{FF2B5EF4-FFF2-40B4-BE49-F238E27FC236}">
                  <a16:creationId xmlns:a16="http://schemas.microsoft.com/office/drawing/2014/main" id="{34C778D0-7D11-AF51-2C21-FD4287F6BFCD}"/>
                </a:ext>
              </a:extLst>
            </p:cNvPr>
            <p:cNvPicPr>
              <a:picLocks noChangeAspect="1"/>
            </p:cNvPicPr>
            <p:nvPr/>
          </p:nvPicPr>
          <p:blipFill>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tretch>
              <a:fillRect/>
            </a:stretch>
          </p:blipFill>
          <p:spPr>
            <a:xfrm>
              <a:off x="3291263" y="3862428"/>
              <a:ext cx="1163723" cy="940256"/>
            </a:xfrm>
            <a:prstGeom prst="rect">
              <a:avLst/>
            </a:prstGeom>
          </p:spPr>
        </p:pic>
        <p:sp>
          <p:nvSpPr>
            <p:cNvPr id="119" name="ZoneTexte 118">
              <a:extLst>
                <a:ext uri="{FF2B5EF4-FFF2-40B4-BE49-F238E27FC236}">
                  <a16:creationId xmlns:a16="http://schemas.microsoft.com/office/drawing/2014/main" id="{E2F2C1AF-40C4-F9BA-10F9-0F58CD00FF7B}"/>
                </a:ext>
              </a:extLst>
            </p:cNvPr>
            <p:cNvSpPr txBox="1"/>
            <p:nvPr/>
          </p:nvSpPr>
          <p:spPr>
            <a:xfrm>
              <a:off x="2837626" y="4735663"/>
              <a:ext cx="1806654" cy="728510"/>
            </a:xfrm>
            <a:prstGeom prst="rect">
              <a:avLst/>
            </a:prstGeom>
            <a:noFill/>
          </p:spPr>
          <p:txBody>
            <a:bodyPr wrap="square">
              <a:spAutoFit/>
            </a:bodyPr>
            <a:lstStyle/>
            <a:p>
              <a:pPr algn="ctr"/>
              <a:r>
                <a:rPr lang="fr-FR" sz="1400" b="1" dirty="0">
                  <a:solidFill>
                    <a:srgbClr val="ED7D31"/>
                  </a:solidFill>
                </a:rPr>
                <a:t>Développement de compétences et réalisation de soi</a:t>
              </a:r>
            </a:p>
          </p:txBody>
        </p:sp>
      </p:grpSp>
      <p:grpSp>
        <p:nvGrpSpPr>
          <p:cNvPr id="120" name="Groupe 119">
            <a:extLst>
              <a:ext uri="{FF2B5EF4-FFF2-40B4-BE49-F238E27FC236}">
                <a16:creationId xmlns:a16="http://schemas.microsoft.com/office/drawing/2014/main" id="{C9E8E6AF-1F4B-E7BF-8E22-E6DE835D7BF5}"/>
              </a:ext>
            </a:extLst>
          </p:cNvPr>
          <p:cNvGrpSpPr/>
          <p:nvPr/>
        </p:nvGrpSpPr>
        <p:grpSpPr>
          <a:xfrm>
            <a:off x="1579342" y="4538113"/>
            <a:ext cx="1795852" cy="1494464"/>
            <a:chOff x="4120272" y="4187837"/>
            <a:chExt cx="872285" cy="726750"/>
          </a:xfrm>
        </p:grpSpPr>
        <p:pic>
          <p:nvPicPr>
            <p:cNvPr id="121" name="Graphique 120" descr="Utilisateurs avec un remplissage uni">
              <a:extLst>
                <a:ext uri="{FF2B5EF4-FFF2-40B4-BE49-F238E27FC236}">
                  <a16:creationId xmlns:a16="http://schemas.microsoft.com/office/drawing/2014/main" id="{01BA4149-89D2-F020-2897-45886F419072}"/>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4278095" y="4187837"/>
              <a:ext cx="590398" cy="590398"/>
            </a:xfrm>
            <a:prstGeom prst="rect">
              <a:avLst/>
            </a:prstGeom>
          </p:spPr>
        </p:pic>
        <p:sp>
          <p:nvSpPr>
            <p:cNvPr id="122" name="ZoneTexte 121">
              <a:extLst>
                <a:ext uri="{FF2B5EF4-FFF2-40B4-BE49-F238E27FC236}">
                  <a16:creationId xmlns:a16="http://schemas.microsoft.com/office/drawing/2014/main" id="{BDD26642-EC77-6014-2945-5F45F36CC7BE}"/>
                </a:ext>
              </a:extLst>
            </p:cNvPr>
            <p:cNvSpPr txBox="1"/>
            <p:nvPr/>
          </p:nvSpPr>
          <p:spPr>
            <a:xfrm>
              <a:off x="4120272" y="4660148"/>
              <a:ext cx="872285" cy="254439"/>
            </a:xfrm>
            <a:prstGeom prst="rect">
              <a:avLst/>
            </a:prstGeom>
            <a:noFill/>
          </p:spPr>
          <p:txBody>
            <a:bodyPr wrap="square">
              <a:spAutoFit/>
            </a:bodyPr>
            <a:lstStyle/>
            <a:p>
              <a:pPr algn="ctr"/>
              <a:r>
                <a:rPr lang="fr-FR" sz="1400" b="1" dirty="0">
                  <a:solidFill>
                    <a:srgbClr val="ED7D31"/>
                  </a:solidFill>
                </a:rPr>
                <a:t>Reconnaissance sociale </a:t>
              </a:r>
            </a:p>
          </p:txBody>
        </p:sp>
      </p:grpSp>
      <p:grpSp>
        <p:nvGrpSpPr>
          <p:cNvPr id="123" name="Groupe 122">
            <a:extLst>
              <a:ext uri="{FF2B5EF4-FFF2-40B4-BE49-F238E27FC236}">
                <a16:creationId xmlns:a16="http://schemas.microsoft.com/office/drawing/2014/main" id="{CB650A4F-A5E2-18B2-B4D5-7F7B721A4CEC}"/>
              </a:ext>
            </a:extLst>
          </p:cNvPr>
          <p:cNvGrpSpPr/>
          <p:nvPr/>
        </p:nvGrpSpPr>
        <p:grpSpPr>
          <a:xfrm>
            <a:off x="3013970" y="4735804"/>
            <a:ext cx="1378673" cy="1790005"/>
            <a:chOff x="6088603" y="4144848"/>
            <a:chExt cx="1000589" cy="1300650"/>
          </a:xfrm>
        </p:grpSpPr>
        <p:pic>
          <p:nvPicPr>
            <p:cNvPr id="124" name="Graphique 123" descr="Globe terrestre : Europe et Afrique avec un remplissage uni">
              <a:extLst>
                <a:ext uri="{FF2B5EF4-FFF2-40B4-BE49-F238E27FC236}">
                  <a16:creationId xmlns:a16="http://schemas.microsoft.com/office/drawing/2014/main" id="{1C494CBA-4E49-FAC7-3717-3A58C32F6E6C}"/>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6278977" y="4144848"/>
              <a:ext cx="643205" cy="643205"/>
            </a:xfrm>
            <a:prstGeom prst="rect">
              <a:avLst/>
            </a:prstGeom>
          </p:spPr>
        </p:pic>
        <p:sp>
          <p:nvSpPr>
            <p:cNvPr id="125" name="ZoneTexte 124">
              <a:extLst>
                <a:ext uri="{FF2B5EF4-FFF2-40B4-BE49-F238E27FC236}">
                  <a16:creationId xmlns:a16="http://schemas.microsoft.com/office/drawing/2014/main" id="{D592D554-1B17-8B66-352F-ED21B514A6F5}"/>
                </a:ext>
              </a:extLst>
            </p:cNvPr>
            <p:cNvSpPr txBox="1"/>
            <p:nvPr/>
          </p:nvSpPr>
          <p:spPr>
            <a:xfrm>
              <a:off x="6088603" y="4716985"/>
              <a:ext cx="1000589" cy="728513"/>
            </a:xfrm>
            <a:prstGeom prst="rect">
              <a:avLst/>
            </a:prstGeom>
            <a:noFill/>
          </p:spPr>
          <p:txBody>
            <a:bodyPr wrap="square">
              <a:spAutoFit/>
            </a:bodyPr>
            <a:lstStyle/>
            <a:p>
              <a:pPr algn="ctr"/>
              <a:r>
                <a:rPr lang="fr-FR" sz="1400" b="1" dirty="0">
                  <a:solidFill>
                    <a:srgbClr val="ED7D31"/>
                  </a:solidFill>
                </a:rPr>
                <a:t>Impact positif et sens</a:t>
              </a:r>
            </a:p>
          </p:txBody>
        </p:sp>
      </p:grpSp>
      <p:grpSp>
        <p:nvGrpSpPr>
          <p:cNvPr id="126" name="Groupe 125">
            <a:extLst>
              <a:ext uri="{FF2B5EF4-FFF2-40B4-BE49-F238E27FC236}">
                <a16:creationId xmlns:a16="http://schemas.microsoft.com/office/drawing/2014/main" id="{5D9422B2-379A-A963-BB06-0E07BD01F846}"/>
              </a:ext>
            </a:extLst>
          </p:cNvPr>
          <p:cNvGrpSpPr/>
          <p:nvPr/>
        </p:nvGrpSpPr>
        <p:grpSpPr>
          <a:xfrm>
            <a:off x="4098924" y="4862344"/>
            <a:ext cx="1406379" cy="1194036"/>
            <a:chOff x="8129937" y="4169500"/>
            <a:chExt cx="1286847" cy="1093835"/>
          </a:xfrm>
        </p:grpSpPr>
        <p:pic>
          <p:nvPicPr>
            <p:cNvPr id="127" name="Graphique 126" descr="Poignée de main avec un remplissage uni">
              <a:extLst>
                <a:ext uri="{FF2B5EF4-FFF2-40B4-BE49-F238E27FC236}">
                  <a16:creationId xmlns:a16="http://schemas.microsoft.com/office/drawing/2014/main" id="{57BCF05A-77A6-139B-41F4-7DD36887D019}"/>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8378292" y="4169500"/>
              <a:ext cx="703975" cy="703975"/>
            </a:xfrm>
            <a:prstGeom prst="rect">
              <a:avLst/>
            </a:prstGeom>
          </p:spPr>
        </p:pic>
        <p:sp>
          <p:nvSpPr>
            <p:cNvPr id="128" name="ZoneTexte 127">
              <a:extLst>
                <a:ext uri="{FF2B5EF4-FFF2-40B4-BE49-F238E27FC236}">
                  <a16:creationId xmlns:a16="http://schemas.microsoft.com/office/drawing/2014/main" id="{751EB9D0-1E41-BEE8-01FA-FD7A405CF34E}"/>
                </a:ext>
              </a:extLst>
            </p:cNvPr>
            <p:cNvSpPr txBox="1"/>
            <p:nvPr/>
          </p:nvSpPr>
          <p:spPr>
            <a:xfrm>
              <a:off x="8129937" y="4747307"/>
              <a:ext cx="1286847" cy="516028"/>
            </a:xfrm>
            <a:prstGeom prst="rect">
              <a:avLst/>
            </a:prstGeom>
            <a:noFill/>
          </p:spPr>
          <p:txBody>
            <a:bodyPr wrap="square">
              <a:spAutoFit/>
            </a:bodyPr>
            <a:lstStyle/>
            <a:p>
              <a:pPr algn="ctr"/>
              <a:r>
                <a:rPr lang="fr-FR" sz="1400" b="1" dirty="0">
                  <a:solidFill>
                    <a:srgbClr val="ED7D31"/>
                  </a:solidFill>
                </a:rPr>
                <a:t>Lien avec les autres</a:t>
              </a:r>
            </a:p>
          </p:txBody>
        </p:sp>
      </p:grpSp>
    </p:spTree>
    <p:extLst>
      <p:ext uri="{BB962C8B-B14F-4D97-AF65-F5344CB8AC3E}">
        <p14:creationId xmlns:p14="http://schemas.microsoft.com/office/powerpoint/2010/main" val="324274911"/>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Pour améliorer mon activité au quotidien, je ne peux pas toujours passer par des voies managériales directes (s’améliorer est souvent moins prioritaire que livrer). Par chance je participe à une </a:t>
            </a:r>
            <a:r>
              <a:rPr lang="fr-FR" sz="1400" b="1" dirty="0"/>
              <a:t>Communauté d’innovation</a:t>
            </a:r>
            <a:r>
              <a:rPr lang="fr-FR" sz="1400" dirty="0"/>
              <a:t> où je peux concrétiser mes idées.</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La compétitivité de l’entreprise peut aussi se développer par l’innovation. L’innovation centralisée peut aussi être complétée par une innovation « terrain » qui permet d’intercepter les opportunités venant de collaborateurs, par exemple avec des </a:t>
            </a:r>
            <a:r>
              <a:rPr lang="fr-FR" sz="1400" b="1" dirty="0">
                <a:solidFill>
                  <a:schemeClr val="bg1"/>
                </a:solidFill>
              </a:rPr>
              <a:t>Communautés d’innovation.</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8 : Quand j’ai des idées pour l’entreprise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621162"/>
            </a:xfrm>
            <a:prstGeom prst="rect">
              <a:avLst/>
            </a:prstGeom>
            <a:noFill/>
          </p:spPr>
          <p:txBody>
            <a:bodyPr wrap="square">
              <a:spAutoFit/>
            </a:bodyPr>
            <a:lstStyle/>
            <a:p>
              <a:pPr algn="r"/>
              <a:r>
                <a:rPr lang="fr-FR" b="1" dirty="0">
                  <a:solidFill>
                    <a:schemeClr val="tx1"/>
                  </a:solidFill>
                </a:rPr>
                <a:t>Ep 9: </a:t>
              </a:r>
            </a:p>
            <a:p>
              <a:pPr algn="r"/>
              <a:r>
                <a:rPr lang="fr-FR" b="1" dirty="0">
                  <a:solidFill>
                    <a:schemeClr val="tx1"/>
                  </a:solidFill>
                </a:rPr>
                <a:t>Quand </a:t>
              </a:r>
            </a:p>
            <a:p>
              <a:pPr algn="r"/>
              <a:r>
                <a:rPr lang="fr-FR" b="1" dirty="0">
                  <a:solidFill>
                    <a:schemeClr val="tx1"/>
                  </a:solidFill>
                </a:rPr>
                <a:t>je fais face au changement</a:t>
              </a: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87" name="Groupe 86">
            <a:extLst>
              <a:ext uri="{FF2B5EF4-FFF2-40B4-BE49-F238E27FC236}">
                <a16:creationId xmlns:a16="http://schemas.microsoft.com/office/drawing/2014/main" id="{B2EA2B92-AAD1-9D5E-AD31-2047AD55BFC1}"/>
              </a:ext>
            </a:extLst>
          </p:cNvPr>
          <p:cNvGrpSpPr/>
          <p:nvPr/>
        </p:nvGrpSpPr>
        <p:grpSpPr>
          <a:xfrm>
            <a:off x="6823696" y="4531938"/>
            <a:ext cx="1418024" cy="1308166"/>
            <a:chOff x="1770451" y="635328"/>
            <a:chExt cx="2847387" cy="2660604"/>
          </a:xfrm>
        </p:grpSpPr>
        <p:sp>
          <p:nvSpPr>
            <p:cNvPr id="88" name="Ellipse 87">
              <a:extLst>
                <a:ext uri="{FF2B5EF4-FFF2-40B4-BE49-F238E27FC236}">
                  <a16:creationId xmlns:a16="http://schemas.microsoft.com/office/drawing/2014/main" id="{F685D50C-8B26-8996-0636-616425298CDE}"/>
                </a:ext>
              </a:extLst>
            </p:cNvPr>
            <p:cNvSpPr/>
            <p:nvPr/>
          </p:nvSpPr>
          <p:spPr>
            <a:xfrm>
              <a:off x="2285862" y="956143"/>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89" name="Graphique 88" descr="Lunettes 3D avec un remplissage uni">
              <a:extLst>
                <a:ext uri="{FF2B5EF4-FFF2-40B4-BE49-F238E27FC236}">
                  <a16:creationId xmlns:a16="http://schemas.microsoft.com/office/drawing/2014/main" id="{1B92796C-DC45-E94F-AA7C-AFC7DF9EC2F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339651" y="643202"/>
              <a:ext cx="914400" cy="914400"/>
            </a:xfrm>
            <a:prstGeom prst="rect">
              <a:avLst/>
            </a:prstGeom>
          </p:spPr>
        </p:pic>
        <p:pic>
          <p:nvPicPr>
            <p:cNvPr id="90" name="Graphique 89" descr="Mannequin test avec un remplissage uni">
              <a:extLst>
                <a:ext uri="{FF2B5EF4-FFF2-40B4-BE49-F238E27FC236}">
                  <a16:creationId xmlns:a16="http://schemas.microsoft.com/office/drawing/2014/main" id="{B7047D3B-3D5F-F0BE-5514-82E89AFDBEC2}"/>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825957" y="2381532"/>
              <a:ext cx="914400" cy="914400"/>
            </a:xfrm>
            <a:prstGeom prst="rect">
              <a:avLst/>
            </a:prstGeom>
          </p:spPr>
        </p:pic>
        <p:pic>
          <p:nvPicPr>
            <p:cNvPr id="91" name="Graphique 90" descr="Homme scientifique avec un remplissage uni">
              <a:extLst>
                <a:ext uri="{FF2B5EF4-FFF2-40B4-BE49-F238E27FC236}">
                  <a16:creationId xmlns:a16="http://schemas.microsoft.com/office/drawing/2014/main" id="{E45F701B-D9CF-E69E-8891-DEA798D40887}"/>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3612503" y="635328"/>
              <a:ext cx="914400" cy="914400"/>
            </a:xfrm>
            <a:prstGeom prst="rect">
              <a:avLst/>
            </a:prstGeom>
          </p:spPr>
        </p:pic>
        <p:pic>
          <p:nvPicPr>
            <p:cNvPr id="92" name="Graphique 91" descr="Presse-papiers mixte avec un remplissage uni">
              <a:extLst>
                <a:ext uri="{FF2B5EF4-FFF2-40B4-BE49-F238E27FC236}">
                  <a16:creationId xmlns:a16="http://schemas.microsoft.com/office/drawing/2014/main" id="{1E4481CD-5A27-F8ED-5557-875CD8F7F761}"/>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3703438" y="1819176"/>
              <a:ext cx="914400" cy="914400"/>
            </a:xfrm>
            <a:prstGeom prst="rect">
              <a:avLst/>
            </a:prstGeom>
          </p:spPr>
        </p:pic>
        <p:pic>
          <p:nvPicPr>
            <p:cNvPr id="93" name="Graphique 92" descr="Brainstorming de groupe avec un remplissage uni">
              <a:extLst>
                <a:ext uri="{FF2B5EF4-FFF2-40B4-BE49-F238E27FC236}">
                  <a16:creationId xmlns:a16="http://schemas.microsoft.com/office/drawing/2014/main" id="{08352768-0978-7187-D7B5-0D9CA34559DD}"/>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770451" y="1557602"/>
              <a:ext cx="914400" cy="914400"/>
            </a:xfrm>
            <a:prstGeom prst="rect">
              <a:avLst/>
            </a:prstGeom>
          </p:spPr>
        </p:pic>
      </p:grpSp>
      <p:sp>
        <p:nvSpPr>
          <p:cNvPr id="94" name="Rectangle 93">
            <a:extLst>
              <a:ext uri="{FF2B5EF4-FFF2-40B4-BE49-F238E27FC236}">
                <a16:creationId xmlns:a16="http://schemas.microsoft.com/office/drawing/2014/main" id="{144A2DC1-316D-5A0E-E50E-B0E19ECC7F4F}"/>
              </a:ext>
            </a:extLst>
          </p:cNvPr>
          <p:cNvSpPr/>
          <p:nvPr/>
        </p:nvSpPr>
        <p:spPr>
          <a:xfrm>
            <a:off x="6603912" y="5864137"/>
            <a:ext cx="1946247" cy="4495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à l’innovation</a:t>
            </a:r>
            <a:endParaRPr lang="fr-FR" sz="1400" dirty="0">
              <a:solidFill>
                <a:schemeClr val="tx1"/>
              </a:solidFill>
            </a:endParaRPr>
          </a:p>
        </p:txBody>
      </p:sp>
      <p:grpSp>
        <p:nvGrpSpPr>
          <p:cNvPr id="96" name="Groupe 95">
            <a:extLst>
              <a:ext uri="{FF2B5EF4-FFF2-40B4-BE49-F238E27FC236}">
                <a16:creationId xmlns:a16="http://schemas.microsoft.com/office/drawing/2014/main" id="{2AE20519-0A40-C8D2-640A-E7D4471874B2}"/>
              </a:ext>
            </a:extLst>
          </p:cNvPr>
          <p:cNvGrpSpPr/>
          <p:nvPr/>
        </p:nvGrpSpPr>
        <p:grpSpPr>
          <a:xfrm>
            <a:off x="241195" y="4743340"/>
            <a:ext cx="1729506" cy="1264368"/>
            <a:chOff x="-2685568" y="4235619"/>
            <a:chExt cx="1015727" cy="742555"/>
          </a:xfrm>
        </p:grpSpPr>
        <p:pic>
          <p:nvPicPr>
            <p:cNvPr id="97" name="Graphique 96" descr="Pinceau avec un remplissage uni">
              <a:extLst>
                <a:ext uri="{FF2B5EF4-FFF2-40B4-BE49-F238E27FC236}">
                  <a16:creationId xmlns:a16="http://schemas.microsoft.com/office/drawing/2014/main" id="{E8C4ECAC-2522-03AF-F73F-BAD4CE479C8E}"/>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2396831" y="4235619"/>
              <a:ext cx="520757" cy="520145"/>
            </a:xfrm>
            <a:prstGeom prst="rect">
              <a:avLst/>
            </a:prstGeom>
          </p:spPr>
        </p:pic>
        <p:sp>
          <p:nvSpPr>
            <p:cNvPr id="106" name="ZoneTexte 105">
              <a:extLst>
                <a:ext uri="{FF2B5EF4-FFF2-40B4-BE49-F238E27FC236}">
                  <a16:creationId xmlns:a16="http://schemas.microsoft.com/office/drawing/2014/main" id="{385DDA82-D061-36CB-9619-0F98D3862BF3}"/>
                </a:ext>
              </a:extLst>
            </p:cNvPr>
            <p:cNvSpPr txBox="1"/>
            <p:nvPr/>
          </p:nvSpPr>
          <p:spPr>
            <a:xfrm>
              <a:off x="-2685568" y="4797419"/>
              <a:ext cx="1015727" cy="180755"/>
            </a:xfrm>
            <a:prstGeom prst="rect">
              <a:avLst/>
            </a:prstGeom>
            <a:noFill/>
          </p:spPr>
          <p:txBody>
            <a:bodyPr wrap="square">
              <a:spAutoFit/>
            </a:bodyPr>
            <a:lstStyle/>
            <a:p>
              <a:pPr algn="ctr"/>
              <a:r>
                <a:rPr lang="fr-FR" sz="1400" b="1" dirty="0">
                  <a:solidFill>
                    <a:srgbClr val="ED7D31"/>
                  </a:solidFill>
                </a:rPr>
                <a:t>Espace créatif</a:t>
              </a:r>
            </a:p>
          </p:txBody>
        </p:sp>
      </p:grpSp>
      <p:grpSp>
        <p:nvGrpSpPr>
          <p:cNvPr id="129" name="Groupe 128">
            <a:extLst>
              <a:ext uri="{FF2B5EF4-FFF2-40B4-BE49-F238E27FC236}">
                <a16:creationId xmlns:a16="http://schemas.microsoft.com/office/drawing/2014/main" id="{F07200F9-3EFB-A015-49B6-0AB6F0DF3707}"/>
              </a:ext>
            </a:extLst>
          </p:cNvPr>
          <p:cNvGrpSpPr/>
          <p:nvPr/>
        </p:nvGrpSpPr>
        <p:grpSpPr>
          <a:xfrm>
            <a:off x="1544118" y="4925146"/>
            <a:ext cx="1311479" cy="1078813"/>
            <a:chOff x="476026" y="4217299"/>
            <a:chExt cx="657719" cy="541671"/>
          </a:xfrm>
        </p:grpSpPr>
        <p:sp>
          <p:nvSpPr>
            <p:cNvPr id="130" name="ZoneTexte 129">
              <a:extLst>
                <a:ext uri="{FF2B5EF4-FFF2-40B4-BE49-F238E27FC236}">
                  <a16:creationId xmlns:a16="http://schemas.microsoft.com/office/drawing/2014/main" id="{774491A2-FA40-7016-E168-894D31B3F11E}"/>
                </a:ext>
              </a:extLst>
            </p:cNvPr>
            <p:cNvSpPr txBox="1"/>
            <p:nvPr/>
          </p:nvSpPr>
          <p:spPr>
            <a:xfrm>
              <a:off x="476026" y="4604436"/>
              <a:ext cx="657719" cy="154534"/>
            </a:xfrm>
            <a:prstGeom prst="rect">
              <a:avLst/>
            </a:prstGeom>
            <a:noFill/>
          </p:spPr>
          <p:txBody>
            <a:bodyPr wrap="square">
              <a:spAutoFit/>
            </a:bodyPr>
            <a:lstStyle/>
            <a:p>
              <a:pPr algn="ctr"/>
              <a:r>
                <a:rPr lang="fr-FR" sz="1400" b="1" dirty="0">
                  <a:solidFill>
                    <a:srgbClr val="ED7D31"/>
                  </a:solidFill>
                </a:rPr>
                <a:t>Liberté</a:t>
              </a:r>
            </a:p>
          </p:txBody>
        </p:sp>
        <p:pic>
          <p:nvPicPr>
            <p:cNvPr id="131" name="Graphique 130" descr="Sablier plein avec un remplissage uni">
              <a:extLst>
                <a:ext uri="{FF2B5EF4-FFF2-40B4-BE49-F238E27FC236}">
                  <a16:creationId xmlns:a16="http://schemas.microsoft.com/office/drawing/2014/main" id="{F7BA4289-D8E7-5A8D-FD96-1D04FBFAE9B6}"/>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610516" y="4217299"/>
              <a:ext cx="384459" cy="384459"/>
            </a:xfrm>
            <a:prstGeom prst="rect">
              <a:avLst/>
            </a:prstGeom>
          </p:spPr>
        </p:pic>
      </p:grpSp>
      <p:grpSp>
        <p:nvGrpSpPr>
          <p:cNvPr id="135" name="Groupe 134">
            <a:extLst>
              <a:ext uri="{FF2B5EF4-FFF2-40B4-BE49-F238E27FC236}">
                <a16:creationId xmlns:a16="http://schemas.microsoft.com/office/drawing/2014/main" id="{D45A9548-C918-F5FF-A58D-1B7143585EA4}"/>
              </a:ext>
            </a:extLst>
          </p:cNvPr>
          <p:cNvGrpSpPr/>
          <p:nvPr/>
        </p:nvGrpSpPr>
        <p:grpSpPr>
          <a:xfrm>
            <a:off x="2578892" y="5255806"/>
            <a:ext cx="1134665" cy="746398"/>
            <a:chOff x="1718551" y="4252127"/>
            <a:chExt cx="916494" cy="736137"/>
          </a:xfrm>
        </p:grpSpPr>
        <p:grpSp>
          <p:nvGrpSpPr>
            <p:cNvPr id="136" name="Groupe 135">
              <a:extLst>
                <a:ext uri="{FF2B5EF4-FFF2-40B4-BE49-F238E27FC236}">
                  <a16:creationId xmlns:a16="http://schemas.microsoft.com/office/drawing/2014/main" id="{C3001D05-1868-F65D-67F3-203815A2CBC3}"/>
                </a:ext>
              </a:extLst>
            </p:cNvPr>
            <p:cNvGrpSpPr/>
            <p:nvPr/>
          </p:nvGrpSpPr>
          <p:grpSpPr>
            <a:xfrm>
              <a:off x="1812986" y="4252127"/>
              <a:ext cx="788755" cy="483536"/>
              <a:chOff x="8496164" y="663605"/>
              <a:chExt cx="2837988" cy="1739790"/>
            </a:xfrm>
          </p:grpSpPr>
          <p:pic>
            <p:nvPicPr>
              <p:cNvPr id="138" name="Graphique 137" descr="Évaluation 3 étoiles avec un remplissage uni">
                <a:extLst>
                  <a:ext uri="{FF2B5EF4-FFF2-40B4-BE49-F238E27FC236}">
                    <a16:creationId xmlns:a16="http://schemas.microsoft.com/office/drawing/2014/main" id="{5F1FF966-35DA-8420-596A-2DBA21180E67}"/>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8496164" y="663605"/>
                <a:ext cx="1739790" cy="1739790"/>
              </a:xfrm>
              <a:prstGeom prst="rect">
                <a:avLst/>
              </a:prstGeom>
            </p:spPr>
          </p:pic>
          <p:pic>
            <p:nvPicPr>
              <p:cNvPr id="139" name="Graphique 138" descr="Évaluation 3 étoiles avec un remplissage uni">
                <a:extLst>
                  <a:ext uri="{FF2B5EF4-FFF2-40B4-BE49-F238E27FC236}">
                    <a16:creationId xmlns:a16="http://schemas.microsoft.com/office/drawing/2014/main" id="{E4354B17-9B54-BFC9-A1FF-76E45B9D00AA}"/>
                  </a:ext>
                </a:extLst>
              </p:cNvPr>
              <p:cNvPicPr>
                <a:picLocks noChangeAspect="1"/>
              </p:cNvPicPr>
              <p:nvPr/>
            </p:nvPicPr>
            <p:blipFill rotWithShape="1">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rcRect l="33972"/>
              <a:stretch/>
            </p:blipFill>
            <p:spPr>
              <a:xfrm>
                <a:off x="10185399" y="663605"/>
                <a:ext cx="1148753" cy="1739790"/>
              </a:xfrm>
              <a:prstGeom prst="rect">
                <a:avLst/>
              </a:prstGeom>
            </p:spPr>
          </p:pic>
        </p:grpSp>
        <p:sp>
          <p:nvSpPr>
            <p:cNvPr id="137" name="ZoneTexte 136">
              <a:extLst>
                <a:ext uri="{FF2B5EF4-FFF2-40B4-BE49-F238E27FC236}">
                  <a16:creationId xmlns:a16="http://schemas.microsoft.com/office/drawing/2014/main" id="{A4EC3DD5-8BF1-5DFD-E293-235FECDDAD0A}"/>
                </a:ext>
              </a:extLst>
            </p:cNvPr>
            <p:cNvSpPr txBox="1"/>
            <p:nvPr/>
          </p:nvSpPr>
          <p:spPr>
            <a:xfrm>
              <a:off x="1718551" y="4684718"/>
              <a:ext cx="916494" cy="303546"/>
            </a:xfrm>
            <a:prstGeom prst="rect">
              <a:avLst/>
            </a:prstGeom>
            <a:noFill/>
          </p:spPr>
          <p:txBody>
            <a:bodyPr wrap="square">
              <a:spAutoFit/>
            </a:bodyPr>
            <a:lstStyle/>
            <a:p>
              <a:pPr algn="ctr"/>
              <a:r>
                <a:rPr lang="fr-FR" sz="1400" b="1" dirty="0">
                  <a:solidFill>
                    <a:srgbClr val="ED7D31"/>
                  </a:solidFill>
                </a:rPr>
                <a:t>Stimulation</a:t>
              </a:r>
            </a:p>
          </p:txBody>
        </p:sp>
      </p:grpSp>
      <p:grpSp>
        <p:nvGrpSpPr>
          <p:cNvPr id="145" name="Groupe 144">
            <a:extLst>
              <a:ext uri="{FF2B5EF4-FFF2-40B4-BE49-F238E27FC236}">
                <a16:creationId xmlns:a16="http://schemas.microsoft.com/office/drawing/2014/main" id="{34E2D156-6656-6E52-DB15-E281697F08F7}"/>
              </a:ext>
            </a:extLst>
          </p:cNvPr>
          <p:cNvGrpSpPr/>
          <p:nvPr/>
        </p:nvGrpSpPr>
        <p:grpSpPr>
          <a:xfrm>
            <a:off x="3704823" y="4638972"/>
            <a:ext cx="1609730" cy="1624070"/>
            <a:chOff x="2837626" y="3862428"/>
            <a:chExt cx="1806654" cy="1601745"/>
          </a:xfrm>
        </p:grpSpPr>
        <p:pic>
          <p:nvPicPr>
            <p:cNvPr id="146" name="Graphique 145" descr="Aspiration avec un remplissage uni">
              <a:extLst>
                <a:ext uri="{FF2B5EF4-FFF2-40B4-BE49-F238E27FC236}">
                  <a16:creationId xmlns:a16="http://schemas.microsoft.com/office/drawing/2014/main" id="{6A411E85-E5AF-DF30-3596-914A29C41124}"/>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3291263" y="3862428"/>
              <a:ext cx="1163723" cy="940256"/>
            </a:xfrm>
            <a:prstGeom prst="rect">
              <a:avLst/>
            </a:prstGeom>
          </p:spPr>
        </p:pic>
        <p:sp>
          <p:nvSpPr>
            <p:cNvPr id="147" name="ZoneTexte 146">
              <a:extLst>
                <a:ext uri="{FF2B5EF4-FFF2-40B4-BE49-F238E27FC236}">
                  <a16:creationId xmlns:a16="http://schemas.microsoft.com/office/drawing/2014/main" id="{9881981D-DA61-8DE3-8907-644AD4C13C82}"/>
                </a:ext>
              </a:extLst>
            </p:cNvPr>
            <p:cNvSpPr txBox="1"/>
            <p:nvPr/>
          </p:nvSpPr>
          <p:spPr>
            <a:xfrm>
              <a:off x="2837626" y="4735663"/>
              <a:ext cx="1806654" cy="728510"/>
            </a:xfrm>
            <a:prstGeom prst="rect">
              <a:avLst/>
            </a:prstGeom>
            <a:noFill/>
          </p:spPr>
          <p:txBody>
            <a:bodyPr wrap="square">
              <a:spAutoFit/>
            </a:bodyPr>
            <a:lstStyle/>
            <a:p>
              <a:pPr algn="ctr"/>
              <a:r>
                <a:rPr lang="fr-FR" sz="1400" b="1" dirty="0">
                  <a:solidFill>
                    <a:srgbClr val="ED7D31"/>
                  </a:solidFill>
                </a:rPr>
                <a:t>Développement de compétences et réalisation de soi</a:t>
              </a:r>
            </a:p>
          </p:txBody>
        </p:sp>
      </p:grpSp>
    </p:spTree>
    <p:extLst>
      <p:ext uri="{BB962C8B-B14F-4D97-AF65-F5344CB8AC3E}">
        <p14:creationId xmlns:p14="http://schemas.microsoft.com/office/powerpoint/2010/main" val="2271929771"/>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Au-delà d’apprendre et d’innover autour de mon propre métier, je dois aussi apprendre à m’adapter à tous les changements nouveaux dans l’entreprise : outils, façons de travailler, etc. Je mets alors en commun mes questions via des </a:t>
            </a:r>
            <a:r>
              <a:rPr lang="fr-FR" sz="1400" b="1" dirty="0"/>
              <a:t>Communautés de changement.</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Les défis sur le long terme ne concernent pas qu’un seul champ de compétences ou un seul métier, mais l’adaptation de l’entreprise à un contexte qui évolue en permanence. Ces changements peuvent s’appuyer aussi sur des </a:t>
            </a:r>
            <a:r>
              <a:rPr lang="fr-FR" sz="1400" b="1" dirty="0">
                <a:solidFill>
                  <a:schemeClr val="bg1"/>
                </a:solidFill>
              </a:rPr>
              <a:t>Communautés de changement.</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9 : Quand je fais face au changement</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621162"/>
            </a:xfrm>
            <a:prstGeom prst="rect">
              <a:avLst/>
            </a:prstGeom>
            <a:noFill/>
          </p:spPr>
          <p:txBody>
            <a:bodyPr wrap="square">
              <a:spAutoFit/>
            </a:bodyPr>
            <a:lstStyle/>
            <a:p>
              <a:pPr algn="r"/>
              <a:r>
                <a:rPr lang="fr-FR" b="1" dirty="0">
                  <a:solidFill>
                    <a:schemeClr val="tx1"/>
                  </a:solidFill>
                </a:rPr>
                <a:t>Ep 10: </a:t>
              </a:r>
            </a:p>
            <a:p>
              <a:pPr algn="r"/>
              <a:r>
                <a:rPr lang="fr-FR" b="1" dirty="0"/>
                <a:t>Et quand il ne s’agit pas que du travail</a:t>
              </a:r>
              <a:endParaRPr lang="fr-FR" b="1" dirty="0">
                <a:solidFill>
                  <a:schemeClr val="tx1"/>
                </a:solidFill>
              </a:endParaRP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59" name="Groupe 58">
            <a:extLst>
              <a:ext uri="{FF2B5EF4-FFF2-40B4-BE49-F238E27FC236}">
                <a16:creationId xmlns:a16="http://schemas.microsoft.com/office/drawing/2014/main" id="{91FA7B46-CD0F-447E-B472-D43F7F68890E}"/>
              </a:ext>
            </a:extLst>
          </p:cNvPr>
          <p:cNvGrpSpPr/>
          <p:nvPr/>
        </p:nvGrpSpPr>
        <p:grpSpPr>
          <a:xfrm>
            <a:off x="6324213" y="4585342"/>
            <a:ext cx="2531822" cy="985877"/>
            <a:chOff x="6479122" y="1406591"/>
            <a:chExt cx="5241664" cy="1686141"/>
          </a:xfrm>
          <a:solidFill>
            <a:schemeClr val="tx1"/>
          </a:solidFill>
        </p:grpSpPr>
        <p:pic>
          <p:nvPicPr>
            <p:cNvPr id="60" name="Graphique 59" descr="Soucoupe volante avec un remplissage uni">
              <a:extLst>
                <a:ext uri="{FF2B5EF4-FFF2-40B4-BE49-F238E27FC236}">
                  <a16:creationId xmlns:a16="http://schemas.microsoft.com/office/drawing/2014/main" id="{D49A0E0A-55BF-EB6B-B7A1-CB87A6E414F2}"/>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806386" y="1406591"/>
              <a:ext cx="914400" cy="914400"/>
            </a:xfrm>
            <a:prstGeom prst="rect">
              <a:avLst/>
            </a:prstGeom>
          </p:spPr>
        </p:pic>
        <p:pic>
          <p:nvPicPr>
            <p:cNvPr id="61" name="Graphique 60" descr="Usine avec un remplissage uni">
              <a:extLst>
                <a:ext uri="{FF2B5EF4-FFF2-40B4-BE49-F238E27FC236}">
                  <a16:creationId xmlns:a16="http://schemas.microsoft.com/office/drawing/2014/main" id="{435411F1-418C-1322-5207-DF930EAF072F}"/>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642754" y="1406591"/>
              <a:ext cx="914400" cy="914400"/>
            </a:xfrm>
            <a:prstGeom prst="rect">
              <a:avLst/>
            </a:prstGeom>
          </p:spPr>
        </p:pic>
        <p:pic>
          <p:nvPicPr>
            <p:cNvPr id="62" name="Graphique 61" descr="Pyramide avec un remplissage uni">
              <a:extLst>
                <a:ext uri="{FF2B5EF4-FFF2-40B4-BE49-F238E27FC236}">
                  <a16:creationId xmlns:a16="http://schemas.microsoft.com/office/drawing/2014/main" id="{3667A7DF-A6E5-55A8-09BD-C07B241FA8F7}"/>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479122" y="1406591"/>
              <a:ext cx="914400" cy="914400"/>
            </a:xfrm>
            <a:prstGeom prst="rect">
              <a:avLst/>
            </a:prstGeom>
          </p:spPr>
        </p:pic>
        <p:pic>
          <p:nvPicPr>
            <p:cNvPr id="63" name="Graphique 62" descr="Bâtiment avec un remplissage uni">
              <a:extLst>
                <a:ext uri="{FF2B5EF4-FFF2-40B4-BE49-F238E27FC236}">
                  <a16:creationId xmlns:a16="http://schemas.microsoft.com/office/drawing/2014/main" id="{7950E787-7D70-AFBB-6870-F8FA254CCC9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724570" y="2178332"/>
              <a:ext cx="914400" cy="914400"/>
            </a:xfrm>
            <a:prstGeom prst="rect">
              <a:avLst/>
            </a:prstGeom>
          </p:spPr>
        </p:pic>
        <p:pic>
          <p:nvPicPr>
            <p:cNvPr id="64" name="Graphique 63" descr="Scène de château avec un remplissage uni">
              <a:extLst>
                <a:ext uri="{FF2B5EF4-FFF2-40B4-BE49-F238E27FC236}">
                  <a16:creationId xmlns:a16="http://schemas.microsoft.com/office/drawing/2014/main" id="{6C0DCC10-BE5F-540F-F082-8656E7D3233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560938" y="2178332"/>
              <a:ext cx="914400" cy="914400"/>
            </a:xfrm>
            <a:prstGeom prst="rect">
              <a:avLst/>
            </a:prstGeom>
          </p:spPr>
        </p:pic>
        <p:sp>
          <p:nvSpPr>
            <p:cNvPr id="65" name="Flèche : droite 64">
              <a:extLst>
                <a:ext uri="{FF2B5EF4-FFF2-40B4-BE49-F238E27FC236}">
                  <a16:creationId xmlns:a16="http://schemas.microsoft.com/office/drawing/2014/main" id="{368DA6CC-8D08-5DB9-BA05-090208FF56AC}"/>
                </a:ext>
              </a:extLst>
            </p:cNvPr>
            <p:cNvSpPr/>
            <p:nvPr/>
          </p:nvSpPr>
          <p:spPr>
            <a:xfrm rot="2412443">
              <a:off x="7420834" y="1963089"/>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66" name="Flèche : droite 65">
              <a:extLst>
                <a:ext uri="{FF2B5EF4-FFF2-40B4-BE49-F238E27FC236}">
                  <a16:creationId xmlns:a16="http://schemas.microsoft.com/office/drawing/2014/main" id="{A2202AB0-191D-489E-1591-1F9645E5265A}"/>
                </a:ext>
              </a:extLst>
            </p:cNvPr>
            <p:cNvSpPr/>
            <p:nvPr/>
          </p:nvSpPr>
          <p:spPr>
            <a:xfrm rot="19318800">
              <a:off x="8295844" y="1962367"/>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67" name="Flèche : droite 66">
              <a:extLst>
                <a:ext uri="{FF2B5EF4-FFF2-40B4-BE49-F238E27FC236}">
                  <a16:creationId xmlns:a16="http://schemas.microsoft.com/office/drawing/2014/main" id="{D844BE59-AD26-341C-B0FE-00CD69DAA8FD}"/>
                </a:ext>
              </a:extLst>
            </p:cNvPr>
            <p:cNvSpPr/>
            <p:nvPr/>
          </p:nvSpPr>
          <p:spPr>
            <a:xfrm rot="19318800">
              <a:off x="10452959" y="1962367"/>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68" name="Flèche : droite 67">
              <a:extLst>
                <a:ext uri="{FF2B5EF4-FFF2-40B4-BE49-F238E27FC236}">
                  <a16:creationId xmlns:a16="http://schemas.microsoft.com/office/drawing/2014/main" id="{5B68BC37-233F-B3E9-ABF1-1B57F15CEFA9}"/>
                </a:ext>
              </a:extLst>
            </p:cNvPr>
            <p:cNvSpPr/>
            <p:nvPr/>
          </p:nvSpPr>
          <p:spPr>
            <a:xfrm rot="2412443">
              <a:off x="9514335" y="1920725"/>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grpSp>
      <p:sp>
        <p:nvSpPr>
          <p:cNvPr id="69" name="Rectangle 68">
            <a:extLst>
              <a:ext uri="{FF2B5EF4-FFF2-40B4-BE49-F238E27FC236}">
                <a16:creationId xmlns:a16="http://schemas.microsoft.com/office/drawing/2014/main" id="{0C69C7BD-93D2-3788-8411-EEAEA5481E87}"/>
              </a:ext>
            </a:extLst>
          </p:cNvPr>
          <p:cNvSpPr/>
          <p:nvPr/>
        </p:nvSpPr>
        <p:spPr>
          <a:xfrm>
            <a:off x="6617000" y="5660938"/>
            <a:ext cx="1946247" cy="5725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à la transformation d’entreprise</a:t>
            </a:r>
            <a:endParaRPr lang="fr-FR" sz="1400" dirty="0">
              <a:solidFill>
                <a:schemeClr val="tx1"/>
              </a:solidFill>
            </a:endParaRPr>
          </a:p>
        </p:txBody>
      </p:sp>
      <p:grpSp>
        <p:nvGrpSpPr>
          <p:cNvPr id="95" name="Groupe 94">
            <a:extLst>
              <a:ext uri="{FF2B5EF4-FFF2-40B4-BE49-F238E27FC236}">
                <a16:creationId xmlns:a16="http://schemas.microsoft.com/office/drawing/2014/main" id="{7FD0EBD8-921D-E1B9-654D-AF06B8E18B15}"/>
              </a:ext>
            </a:extLst>
          </p:cNvPr>
          <p:cNvGrpSpPr/>
          <p:nvPr/>
        </p:nvGrpSpPr>
        <p:grpSpPr>
          <a:xfrm>
            <a:off x="357858" y="4960764"/>
            <a:ext cx="1134665" cy="746398"/>
            <a:chOff x="1718551" y="4252127"/>
            <a:chExt cx="916494" cy="736137"/>
          </a:xfrm>
        </p:grpSpPr>
        <p:grpSp>
          <p:nvGrpSpPr>
            <p:cNvPr id="107" name="Groupe 106">
              <a:extLst>
                <a:ext uri="{FF2B5EF4-FFF2-40B4-BE49-F238E27FC236}">
                  <a16:creationId xmlns:a16="http://schemas.microsoft.com/office/drawing/2014/main" id="{497DA07D-3FF5-24C2-3C6B-223E51C5AC59}"/>
                </a:ext>
              </a:extLst>
            </p:cNvPr>
            <p:cNvGrpSpPr/>
            <p:nvPr/>
          </p:nvGrpSpPr>
          <p:grpSpPr>
            <a:xfrm>
              <a:off x="1812986" y="4252127"/>
              <a:ext cx="788755" cy="483536"/>
              <a:chOff x="8496164" y="663605"/>
              <a:chExt cx="2837988" cy="1739790"/>
            </a:xfrm>
          </p:grpSpPr>
          <p:pic>
            <p:nvPicPr>
              <p:cNvPr id="109" name="Graphique 108" descr="Évaluation 3 étoiles avec un remplissage uni">
                <a:extLst>
                  <a:ext uri="{FF2B5EF4-FFF2-40B4-BE49-F238E27FC236}">
                    <a16:creationId xmlns:a16="http://schemas.microsoft.com/office/drawing/2014/main" id="{14B9FE7B-E5AA-81C4-F60E-4D9DF5D9928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8496164" y="663605"/>
                <a:ext cx="1739790" cy="1739790"/>
              </a:xfrm>
              <a:prstGeom prst="rect">
                <a:avLst/>
              </a:prstGeom>
            </p:spPr>
          </p:pic>
          <p:pic>
            <p:nvPicPr>
              <p:cNvPr id="110" name="Graphique 109" descr="Évaluation 3 étoiles avec un remplissage uni">
                <a:extLst>
                  <a:ext uri="{FF2B5EF4-FFF2-40B4-BE49-F238E27FC236}">
                    <a16:creationId xmlns:a16="http://schemas.microsoft.com/office/drawing/2014/main" id="{4F1AB983-F7C5-3FB6-D174-9AE0B1C0377B}"/>
                  </a:ext>
                </a:extLst>
              </p:cNvPr>
              <p:cNvPicPr>
                <a:picLocks noChangeAspect="1"/>
              </p:cNvPicPr>
              <p:nvPr/>
            </p:nvPicPr>
            <p:blipFill rotWithShape="1">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l="33972"/>
              <a:stretch/>
            </p:blipFill>
            <p:spPr>
              <a:xfrm>
                <a:off x="10185399" y="663605"/>
                <a:ext cx="1148753" cy="1739790"/>
              </a:xfrm>
              <a:prstGeom prst="rect">
                <a:avLst/>
              </a:prstGeom>
            </p:spPr>
          </p:pic>
        </p:grpSp>
        <p:sp>
          <p:nvSpPr>
            <p:cNvPr id="108" name="ZoneTexte 107">
              <a:extLst>
                <a:ext uri="{FF2B5EF4-FFF2-40B4-BE49-F238E27FC236}">
                  <a16:creationId xmlns:a16="http://schemas.microsoft.com/office/drawing/2014/main" id="{F7577A1A-46D6-F06D-9689-053E2D730C73}"/>
                </a:ext>
              </a:extLst>
            </p:cNvPr>
            <p:cNvSpPr txBox="1"/>
            <p:nvPr/>
          </p:nvSpPr>
          <p:spPr>
            <a:xfrm>
              <a:off x="1718551" y="4684718"/>
              <a:ext cx="916494" cy="303546"/>
            </a:xfrm>
            <a:prstGeom prst="rect">
              <a:avLst/>
            </a:prstGeom>
            <a:noFill/>
          </p:spPr>
          <p:txBody>
            <a:bodyPr wrap="square">
              <a:spAutoFit/>
            </a:bodyPr>
            <a:lstStyle/>
            <a:p>
              <a:pPr algn="ctr"/>
              <a:r>
                <a:rPr lang="fr-FR" sz="1400" b="1" dirty="0">
                  <a:solidFill>
                    <a:srgbClr val="ED7D31"/>
                  </a:solidFill>
                </a:rPr>
                <a:t>Stimulation</a:t>
              </a:r>
            </a:p>
          </p:txBody>
        </p:sp>
      </p:grpSp>
      <p:grpSp>
        <p:nvGrpSpPr>
          <p:cNvPr id="111" name="Groupe 110">
            <a:extLst>
              <a:ext uri="{FF2B5EF4-FFF2-40B4-BE49-F238E27FC236}">
                <a16:creationId xmlns:a16="http://schemas.microsoft.com/office/drawing/2014/main" id="{27E2BB0B-29FB-63F7-DDD7-14227A799AFF}"/>
              </a:ext>
            </a:extLst>
          </p:cNvPr>
          <p:cNvGrpSpPr/>
          <p:nvPr/>
        </p:nvGrpSpPr>
        <p:grpSpPr>
          <a:xfrm>
            <a:off x="1538767" y="4527214"/>
            <a:ext cx="1609730" cy="1624070"/>
            <a:chOff x="2837626" y="3862428"/>
            <a:chExt cx="1806654" cy="1601745"/>
          </a:xfrm>
        </p:grpSpPr>
        <p:pic>
          <p:nvPicPr>
            <p:cNvPr id="112" name="Graphique 111" descr="Aspiration avec un remplissage uni">
              <a:extLst>
                <a:ext uri="{FF2B5EF4-FFF2-40B4-BE49-F238E27FC236}">
                  <a16:creationId xmlns:a16="http://schemas.microsoft.com/office/drawing/2014/main" id="{931ED3F8-3DC6-A215-C3E5-6E155CD70A7C}"/>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3291263" y="3862428"/>
              <a:ext cx="1163723" cy="940256"/>
            </a:xfrm>
            <a:prstGeom prst="rect">
              <a:avLst/>
            </a:prstGeom>
          </p:spPr>
        </p:pic>
        <p:sp>
          <p:nvSpPr>
            <p:cNvPr id="113" name="ZoneTexte 112">
              <a:extLst>
                <a:ext uri="{FF2B5EF4-FFF2-40B4-BE49-F238E27FC236}">
                  <a16:creationId xmlns:a16="http://schemas.microsoft.com/office/drawing/2014/main" id="{D78800C4-8832-8475-5628-A8AC12B49D21}"/>
                </a:ext>
              </a:extLst>
            </p:cNvPr>
            <p:cNvSpPr txBox="1"/>
            <p:nvPr/>
          </p:nvSpPr>
          <p:spPr>
            <a:xfrm>
              <a:off x="2837626" y="4735663"/>
              <a:ext cx="1806654" cy="728510"/>
            </a:xfrm>
            <a:prstGeom prst="rect">
              <a:avLst/>
            </a:prstGeom>
            <a:noFill/>
          </p:spPr>
          <p:txBody>
            <a:bodyPr wrap="square">
              <a:spAutoFit/>
            </a:bodyPr>
            <a:lstStyle/>
            <a:p>
              <a:pPr algn="ctr"/>
              <a:r>
                <a:rPr lang="fr-FR" sz="1400" b="1" dirty="0">
                  <a:solidFill>
                    <a:srgbClr val="ED7D31"/>
                  </a:solidFill>
                </a:rPr>
                <a:t>Développement de compétences et réalisation de soi</a:t>
              </a:r>
            </a:p>
          </p:txBody>
        </p:sp>
      </p:grpSp>
      <p:grpSp>
        <p:nvGrpSpPr>
          <p:cNvPr id="114" name="Groupe 113">
            <a:extLst>
              <a:ext uri="{FF2B5EF4-FFF2-40B4-BE49-F238E27FC236}">
                <a16:creationId xmlns:a16="http://schemas.microsoft.com/office/drawing/2014/main" id="{BF5823F8-1A82-F0BB-434E-FD9205412144}"/>
              </a:ext>
            </a:extLst>
          </p:cNvPr>
          <p:cNvGrpSpPr/>
          <p:nvPr/>
        </p:nvGrpSpPr>
        <p:grpSpPr>
          <a:xfrm>
            <a:off x="2914089" y="4468417"/>
            <a:ext cx="1732017" cy="1915594"/>
            <a:chOff x="9261999" y="4256738"/>
            <a:chExt cx="965736" cy="1069351"/>
          </a:xfrm>
        </p:grpSpPr>
        <p:sp>
          <p:nvSpPr>
            <p:cNvPr id="115" name="ZoneTexte 114">
              <a:extLst>
                <a:ext uri="{FF2B5EF4-FFF2-40B4-BE49-F238E27FC236}">
                  <a16:creationId xmlns:a16="http://schemas.microsoft.com/office/drawing/2014/main" id="{5C31AFE8-C4B1-2D7E-DC85-D82C513453B6}"/>
                </a:ext>
              </a:extLst>
            </p:cNvPr>
            <p:cNvSpPr txBox="1"/>
            <p:nvPr/>
          </p:nvSpPr>
          <p:spPr>
            <a:xfrm>
              <a:off x="9261999" y="4793473"/>
              <a:ext cx="965736" cy="532616"/>
            </a:xfrm>
            <a:prstGeom prst="rect">
              <a:avLst/>
            </a:prstGeom>
            <a:noFill/>
          </p:spPr>
          <p:txBody>
            <a:bodyPr wrap="square">
              <a:spAutoFit/>
            </a:bodyPr>
            <a:lstStyle/>
            <a:p>
              <a:pPr algn="ctr"/>
              <a:r>
                <a:rPr lang="fr-FR" sz="1400" b="1" dirty="0">
                  <a:solidFill>
                    <a:srgbClr val="ED7D31"/>
                  </a:solidFill>
                </a:rPr>
                <a:t>Satisfaction des obligations et responsabilités existantes</a:t>
              </a:r>
            </a:p>
          </p:txBody>
        </p:sp>
        <p:pic>
          <p:nvPicPr>
            <p:cNvPr id="116" name="Graphique 115" descr="Presse-papiers vérifié avec un remplissage uni">
              <a:extLst>
                <a:ext uri="{FF2B5EF4-FFF2-40B4-BE49-F238E27FC236}">
                  <a16:creationId xmlns:a16="http://schemas.microsoft.com/office/drawing/2014/main" id="{DFD21CD7-6BA4-4FB6-62A3-AE40CF1FB2D7}"/>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524604" y="4256738"/>
              <a:ext cx="491025" cy="491024"/>
            </a:xfrm>
            <a:prstGeom prst="rect">
              <a:avLst/>
            </a:prstGeom>
          </p:spPr>
        </p:pic>
      </p:grpSp>
    </p:spTree>
    <p:extLst>
      <p:ext uri="{BB962C8B-B14F-4D97-AF65-F5344CB8AC3E}">
        <p14:creationId xmlns:p14="http://schemas.microsoft.com/office/powerpoint/2010/main" val="333401787"/>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dirty="0"/>
              <a:t>Je participe aussi à des </a:t>
            </a:r>
            <a:r>
              <a:rPr lang="fr-FR" sz="1400" b="1" dirty="0"/>
              <a:t>communautés perso </a:t>
            </a:r>
            <a:r>
              <a:rPr lang="fr-FR" sz="1400" dirty="0"/>
              <a:t>avec des collègues (divertissements, sports, jeux, musique, associations…).</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dirty="0"/>
              <a:t> C’était totalement en dehors des activités professionnelles mais a aussi contribué à mon sentiment d’appartenance. </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L’attrition devient un enjeu fort pour beaucoup d’entreprises. La rétention passe par de nombreux arguments, entre autres celui du sentiment d’appartenance et du lien. Au-delà des activités professionnelles, ces derniers peuvent se développer avec des </a:t>
            </a:r>
            <a:r>
              <a:rPr lang="fr-FR" sz="1400" b="1" dirty="0">
                <a:solidFill>
                  <a:schemeClr val="bg1"/>
                </a:solidFill>
              </a:rPr>
              <a:t>Communautés perso</a:t>
            </a:r>
            <a:r>
              <a:rPr lang="fr-FR" sz="1400" dirty="0">
                <a:solidFill>
                  <a:schemeClr val="bg1"/>
                </a:solidFill>
              </a:rPr>
              <a:t>.</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10 : Et quand il ne s’agit pas que du travail</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621162"/>
            </a:xfrm>
            <a:prstGeom prst="rect">
              <a:avLst/>
            </a:prstGeom>
            <a:noFill/>
          </p:spPr>
          <p:txBody>
            <a:bodyPr wrap="square">
              <a:spAutoFit/>
            </a:bodyPr>
            <a:lstStyle/>
            <a:p>
              <a:pPr algn="r"/>
              <a:r>
                <a:rPr lang="fr-FR" b="1" dirty="0">
                  <a:solidFill>
                    <a:schemeClr val="tx1"/>
                  </a:solidFill>
                </a:rPr>
                <a:t>Ep 11: </a:t>
              </a:r>
            </a:p>
            <a:p>
              <a:pPr algn="r"/>
              <a:r>
                <a:rPr lang="fr-FR" b="1" dirty="0"/>
                <a:t>Quand je veux changer de poste</a:t>
              </a:r>
              <a:endParaRPr lang="fr-FR" b="1" dirty="0">
                <a:solidFill>
                  <a:schemeClr val="tx1"/>
                </a:solidFill>
              </a:endParaRP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80" name="Groupe 79">
            <a:extLst>
              <a:ext uri="{FF2B5EF4-FFF2-40B4-BE49-F238E27FC236}">
                <a16:creationId xmlns:a16="http://schemas.microsoft.com/office/drawing/2014/main" id="{A38B2E1C-A62A-0298-D034-7C8A69EAB02F}"/>
              </a:ext>
            </a:extLst>
          </p:cNvPr>
          <p:cNvGrpSpPr/>
          <p:nvPr/>
        </p:nvGrpSpPr>
        <p:grpSpPr>
          <a:xfrm>
            <a:off x="615505" y="5038849"/>
            <a:ext cx="1134665" cy="746398"/>
            <a:chOff x="1718551" y="4252127"/>
            <a:chExt cx="916494" cy="736137"/>
          </a:xfrm>
        </p:grpSpPr>
        <p:grpSp>
          <p:nvGrpSpPr>
            <p:cNvPr id="86" name="Groupe 85">
              <a:extLst>
                <a:ext uri="{FF2B5EF4-FFF2-40B4-BE49-F238E27FC236}">
                  <a16:creationId xmlns:a16="http://schemas.microsoft.com/office/drawing/2014/main" id="{BB8668D1-90C0-9A92-852D-B245AB32DDFB}"/>
                </a:ext>
              </a:extLst>
            </p:cNvPr>
            <p:cNvGrpSpPr/>
            <p:nvPr/>
          </p:nvGrpSpPr>
          <p:grpSpPr>
            <a:xfrm>
              <a:off x="1812986" y="4252127"/>
              <a:ext cx="788755" cy="483536"/>
              <a:chOff x="8496164" y="663605"/>
              <a:chExt cx="2837988" cy="1739790"/>
            </a:xfrm>
          </p:grpSpPr>
          <p:pic>
            <p:nvPicPr>
              <p:cNvPr id="88" name="Graphique 87" descr="Évaluation 3 étoiles avec un remplissage uni">
                <a:extLst>
                  <a:ext uri="{FF2B5EF4-FFF2-40B4-BE49-F238E27FC236}">
                    <a16:creationId xmlns:a16="http://schemas.microsoft.com/office/drawing/2014/main" id="{73DD2FAA-1891-5C50-9725-B4B720119A7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96164" y="663605"/>
                <a:ext cx="1739790" cy="1739790"/>
              </a:xfrm>
              <a:prstGeom prst="rect">
                <a:avLst/>
              </a:prstGeom>
            </p:spPr>
          </p:pic>
          <p:pic>
            <p:nvPicPr>
              <p:cNvPr id="89" name="Graphique 88" descr="Évaluation 3 étoiles avec un remplissage uni">
                <a:extLst>
                  <a:ext uri="{FF2B5EF4-FFF2-40B4-BE49-F238E27FC236}">
                    <a16:creationId xmlns:a16="http://schemas.microsoft.com/office/drawing/2014/main" id="{47527D53-8F10-B9CF-13A8-7A635ED4DA26}"/>
                  </a:ext>
                </a:extLst>
              </p:cNvPr>
              <p:cNvPicPr>
                <a:picLocks noChangeAspect="1"/>
              </p:cNvPicPr>
              <p:nvPr/>
            </p:nvPicPr>
            <p:blipFill rotWithShape="1">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rcRect l="33972"/>
              <a:stretch/>
            </p:blipFill>
            <p:spPr>
              <a:xfrm>
                <a:off x="10185399" y="663605"/>
                <a:ext cx="1148753" cy="1739790"/>
              </a:xfrm>
              <a:prstGeom prst="rect">
                <a:avLst/>
              </a:prstGeom>
            </p:spPr>
          </p:pic>
        </p:grpSp>
        <p:sp>
          <p:nvSpPr>
            <p:cNvPr id="87" name="ZoneTexte 86">
              <a:extLst>
                <a:ext uri="{FF2B5EF4-FFF2-40B4-BE49-F238E27FC236}">
                  <a16:creationId xmlns:a16="http://schemas.microsoft.com/office/drawing/2014/main" id="{A9C8E1C7-1E17-E149-F77B-9C07EF04368A}"/>
                </a:ext>
              </a:extLst>
            </p:cNvPr>
            <p:cNvSpPr txBox="1"/>
            <p:nvPr/>
          </p:nvSpPr>
          <p:spPr>
            <a:xfrm>
              <a:off x="1718551" y="4684718"/>
              <a:ext cx="916494" cy="303546"/>
            </a:xfrm>
            <a:prstGeom prst="rect">
              <a:avLst/>
            </a:prstGeom>
            <a:noFill/>
          </p:spPr>
          <p:txBody>
            <a:bodyPr wrap="square">
              <a:spAutoFit/>
            </a:bodyPr>
            <a:lstStyle/>
            <a:p>
              <a:pPr algn="ctr"/>
              <a:r>
                <a:rPr lang="fr-FR" sz="1400" b="1" dirty="0">
                  <a:solidFill>
                    <a:srgbClr val="ED7D31"/>
                  </a:solidFill>
                </a:rPr>
                <a:t>Stimulation</a:t>
              </a:r>
            </a:p>
          </p:txBody>
        </p:sp>
      </p:grpSp>
      <p:grpSp>
        <p:nvGrpSpPr>
          <p:cNvPr id="90" name="Groupe 89">
            <a:extLst>
              <a:ext uri="{FF2B5EF4-FFF2-40B4-BE49-F238E27FC236}">
                <a16:creationId xmlns:a16="http://schemas.microsoft.com/office/drawing/2014/main" id="{9B6D9FD6-0836-4198-C86E-A3A0E984A446}"/>
              </a:ext>
            </a:extLst>
          </p:cNvPr>
          <p:cNvGrpSpPr/>
          <p:nvPr/>
        </p:nvGrpSpPr>
        <p:grpSpPr>
          <a:xfrm>
            <a:off x="1778479" y="4821699"/>
            <a:ext cx="1406379" cy="1194036"/>
            <a:chOff x="8129937" y="4169500"/>
            <a:chExt cx="1286847" cy="1093835"/>
          </a:xfrm>
        </p:grpSpPr>
        <p:pic>
          <p:nvPicPr>
            <p:cNvPr id="91" name="Graphique 90" descr="Poignée de main avec un remplissage uni">
              <a:extLst>
                <a:ext uri="{FF2B5EF4-FFF2-40B4-BE49-F238E27FC236}">
                  <a16:creationId xmlns:a16="http://schemas.microsoft.com/office/drawing/2014/main" id="{6E433AE3-197C-B501-0117-F9BF06FDA68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378292" y="4169500"/>
              <a:ext cx="703975" cy="703975"/>
            </a:xfrm>
            <a:prstGeom prst="rect">
              <a:avLst/>
            </a:prstGeom>
          </p:spPr>
        </p:pic>
        <p:sp>
          <p:nvSpPr>
            <p:cNvPr id="92" name="ZoneTexte 91">
              <a:extLst>
                <a:ext uri="{FF2B5EF4-FFF2-40B4-BE49-F238E27FC236}">
                  <a16:creationId xmlns:a16="http://schemas.microsoft.com/office/drawing/2014/main" id="{0512E04F-10D6-3AA5-EF44-566878FE3154}"/>
                </a:ext>
              </a:extLst>
            </p:cNvPr>
            <p:cNvSpPr txBox="1"/>
            <p:nvPr/>
          </p:nvSpPr>
          <p:spPr>
            <a:xfrm>
              <a:off x="8129937" y="4747307"/>
              <a:ext cx="1286847" cy="516028"/>
            </a:xfrm>
            <a:prstGeom prst="rect">
              <a:avLst/>
            </a:prstGeom>
            <a:noFill/>
          </p:spPr>
          <p:txBody>
            <a:bodyPr wrap="square">
              <a:spAutoFit/>
            </a:bodyPr>
            <a:lstStyle/>
            <a:p>
              <a:pPr algn="ctr"/>
              <a:r>
                <a:rPr lang="fr-FR" sz="1400" b="1" dirty="0">
                  <a:solidFill>
                    <a:srgbClr val="ED7D31"/>
                  </a:solidFill>
                </a:rPr>
                <a:t>Lien avec les autres</a:t>
              </a:r>
            </a:p>
          </p:txBody>
        </p:sp>
      </p:grpSp>
      <p:pic>
        <p:nvPicPr>
          <p:cNvPr id="93" name="Graphique 92" descr="Réussite du groupe avec un remplissage uni">
            <a:extLst>
              <a:ext uri="{FF2B5EF4-FFF2-40B4-BE49-F238E27FC236}">
                <a16:creationId xmlns:a16="http://schemas.microsoft.com/office/drawing/2014/main" id="{5C41F371-FEAA-8C84-33F4-2DF9CD286DB9}"/>
              </a:ext>
            </a:extLst>
          </p:cNvPr>
          <p:cNvPicPr>
            <a:picLocks noChangeAspect="1"/>
          </p:cNvPicPr>
          <p:nvPr/>
        </p:nvPicPr>
        <p:blipFill rotWithShape="1">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rcRect t="13979" b="19010"/>
          <a:stretch/>
        </p:blipFill>
        <p:spPr>
          <a:xfrm>
            <a:off x="6956557" y="4707588"/>
            <a:ext cx="1208006" cy="809489"/>
          </a:xfrm>
          <a:prstGeom prst="rect">
            <a:avLst/>
          </a:prstGeom>
        </p:spPr>
      </p:pic>
      <p:sp>
        <p:nvSpPr>
          <p:cNvPr id="94" name="Rectangle 93">
            <a:extLst>
              <a:ext uri="{FF2B5EF4-FFF2-40B4-BE49-F238E27FC236}">
                <a16:creationId xmlns:a16="http://schemas.microsoft.com/office/drawing/2014/main" id="{C1733EF1-29D8-C2E4-90B9-F4459B842F33}"/>
              </a:ext>
            </a:extLst>
          </p:cNvPr>
          <p:cNvSpPr/>
          <p:nvPr/>
        </p:nvSpPr>
        <p:spPr>
          <a:xfrm>
            <a:off x="6365488" y="5556401"/>
            <a:ext cx="2390144" cy="5725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Sentiment d’appartenance et rétention des collaborateurs</a:t>
            </a:r>
            <a:endParaRPr lang="fr-FR" sz="1400" dirty="0">
              <a:solidFill>
                <a:schemeClr val="tx1"/>
              </a:solidFill>
            </a:endParaRPr>
          </a:p>
        </p:txBody>
      </p:sp>
    </p:spTree>
    <p:extLst>
      <p:ext uri="{BB962C8B-B14F-4D97-AF65-F5344CB8AC3E}">
        <p14:creationId xmlns:p14="http://schemas.microsoft.com/office/powerpoint/2010/main" val="3160193022"/>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defRPr/>
            </a:pPr>
            <a:r>
              <a:rPr lang="fr-FR" sz="1400" dirty="0"/>
              <a:t>J’ai fait le tour de mon poste actuel et souhaite changer de métier vers des thèmes d’intérêt. Je rejoins des </a:t>
            </a:r>
            <a:r>
              <a:rPr lang="fr-FR" sz="1400" b="1" dirty="0"/>
              <a:t>Communautés thématiques.</a:t>
            </a:r>
            <a:r>
              <a:rPr lang="fr-FR" sz="1400" dirty="0"/>
              <a:t> J’y rencontre des personnes plus anciennes ou spécialisées, qui m’aident à me projeter voire à me trouver des mobilités internes.</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La visibilité sur les chemins de carrières est un enjeu de rétention et de satisfaction générale des collaborateurs. Cette visibilité peut être formelle (base de données, etc.), mais peut également être accélérée entre membres de </a:t>
            </a:r>
            <a:r>
              <a:rPr lang="fr-FR" sz="1400" b="1" dirty="0">
                <a:solidFill>
                  <a:schemeClr val="bg1"/>
                </a:solidFill>
              </a:rPr>
              <a:t>Communautés thématiques </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11 : Quand je veux changer de poste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621162"/>
            </a:xfrm>
            <a:prstGeom prst="rect">
              <a:avLst/>
            </a:prstGeom>
            <a:noFill/>
          </p:spPr>
          <p:txBody>
            <a:bodyPr wrap="square">
              <a:spAutoFit/>
            </a:bodyPr>
            <a:lstStyle/>
            <a:p>
              <a:pPr algn="r"/>
              <a:r>
                <a:rPr lang="fr-FR" b="1" dirty="0">
                  <a:solidFill>
                    <a:schemeClr val="tx1"/>
                  </a:solidFill>
                </a:rPr>
                <a:t>Ep 12: </a:t>
              </a:r>
            </a:p>
            <a:p>
              <a:pPr algn="r"/>
              <a:r>
                <a:rPr lang="fr-FR" b="1" dirty="0"/>
                <a:t>Quand je veux développer des affaires</a:t>
              </a:r>
              <a:endParaRPr lang="fr-FR" b="1" dirty="0">
                <a:solidFill>
                  <a:schemeClr val="tx1"/>
                </a:solidFill>
              </a:endParaRP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48" name="Groupe 47">
            <a:extLst>
              <a:ext uri="{FF2B5EF4-FFF2-40B4-BE49-F238E27FC236}">
                <a16:creationId xmlns:a16="http://schemas.microsoft.com/office/drawing/2014/main" id="{4AEB7315-B58D-E99E-E1E7-23ED82290520}"/>
              </a:ext>
            </a:extLst>
          </p:cNvPr>
          <p:cNvGrpSpPr/>
          <p:nvPr/>
        </p:nvGrpSpPr>
        <p:grpSpPr>
          <a:xfrm>
            <a:off x="744560" y="4776494"/>
            <a:ext cx="1783560" cy="1290849"/>
            <a:chOff x="7187274" y="4362847"/>
            <a:chExt cx="826392" cy="598802"/>
          </a:xfrm>
        </p:grpSpPr>
        <p:pic>
          <p:nvPicPr>
            <p:cNvPr id="49" name="Graphique 48" descr="Coffre au trésor avec un remplissage uni">
              <a:extLst>
                <a:ext uri="{FF2B5EF4-FFF2-40B4-BE49-F238E27FC236}">
                  <a16:creationId xmlns:a16="http://schemas.microsoft.com/office/drawing/2014/main" id="{043314A0-8577-97C2-DB42-82CDCE5FDA1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414162" y="4362847"/>
              <a:ext cx="384457" cy="384458"/>
            </a:xfrm>
            <a:prstGeom prst="rect">
              <a:avLst/>
            </a:prstGeom>
          </p:spPr>
        </p:pic>
        <p:sp>
          <p:nvSpPr>
            <p:cNvPr id="50" name="ZoneTexte 49">
              <a:extLst>
                <a:ext uri="{FF2B5EF4-FFF2-40B4-BE49-F238E27FC236}">
                  <a16:creationId xmlns:a16="http://schemas.microsoft.com/office/drawing/2014/main" id="{CCF92016-4B11-E357-4AAB-8E744D023BF2}"/>
                </a:ext>
              </a:extLst>
            </p:cNvPr>
            <p:cNvSpPr txBox="1"/>
            <p:nvPr/>
          </p:nvSpPr>
          <p:spPr>
            <a:xfrm>
              <a:off x="7187274" y="4718937"/>
              <a:ext cx="826392" cy="242712"/>
            </a:xfrm>
            <a:prstGeom prst="rect">
              <a:avLst/>
            </a:prstGeom>
            <a:noFill/>
          </p:spPr>
          <p:txBody>
            <a:bodyPr wrap="square">
              <a:spAutoFit/>
            </a:bodyPr>
            <a:lstStyle/>
            <a:p>
              <a:pPr algn="ctr"/>
              <a:r>
                <a:rPr lang="fr-FR" sz="1400" b="1" dirty="0">
                  <a:solidFill>
                    <a:srgbClr val="ED7D31"/>
                  </a:solidFill>
                </a:rPr>
                <a:t>Opportunités professionnelles</a:t>
              </a:r>
            </a:p>
          </p:txBody>
        </p:sp>
      </p:grpSp>
      <p:grpSp>
        <p:nvGrpSpPr>
          <p:cNvPr id="51" name="Groupe 50">
            <a:extLst>
              <a:ext uri="{FF2B5EF4-FFF2-40B4-BE49-F238E27FC236}">
                <a16:creationId xmlns:a16="http://schemas.microsoft.com/office/drawing/2014/main" id="{62FF02A0-9083-1796-28E4-A4BD63B4C201}"/>
              </a:ext>
            </a:extLst>
          </p:cNvPr>
          <p:cNvGrpSpPr/>
          <p:nvPr/>
        </p:nvGrpSpPr>
        <p:grpSpPr>
          <a:xfrm>
            <a:off x="2408257" y="4689063"/>
            <a:ext cx="1609730" cy="1193183"/>
            <a:chOff x="2837626" y="3862428"/>
            <a:chExt cx="1806654" cy="1176781"/>
          </a:xfrm>
        </p:grpSpPr>
        <p:pic>
          <p:nvPicPr>
            <p:cNvPr id="52" name="Graphique 51" descr="Aspiration avec un remplissage uni">
              <a:extLst>
                <a:ext uri="{FF2B5EF4-FFF2-40B4-BE49-F238E27FC236}">
                  <a16:creationId xmlns:a16="http://schemas.microsoft.com/office/drawing/2014/main" id="{EB22D0B8-2B9D-EEC0-7D18-A81F5AB80D2C}"/>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3291263" y="3862428"/>
              <a:ext cx="1163723" cy="940256"/>
            </a:xfrm>
            <a:prstGeom prst="rect">
              <a:avLst/>
            </a:prstGeom>
          </p:spPr>
        </p:pic>
        <p:sp>
          <p:nvSpPr>
            <p:cNvPr id="53" name="ZoneTexte 52">
              <a:extLst>
                <a:ext uri="{FF2B5EF4-FFF2-40B4-BE49-F238E27FC236}">
                  <a16:creationId xmlns:a16="http://schemas.microsoft.com/office/drawing/2014/main" id="{E61C6F73-64F9-6246-20AC-C7A0A509C281}"/>
                </a:ext>
              </a:extLst>
            </p:cNvPr>
            <p:cNvSpPr txBox="1"/>
            <p:nvPr/>
          </p:nvSpPr>
          <p:spPr>
            <a:xfrm>
              <a:off x="2837626" y="4735663"/>
              <a:ext cx="1806654" cy="303546"/>
            </a:xfrm>
            <a:prstGeom prst="rect">
              <a:avLst/>
            </a:prstGeom>
            <a:noFill/>
          </p:spPr>
          <p:txBody>
            <a:bodyPr wrap="square">
              <a:spAutoFit/>
            </a:bodyPr>
            <a:lstStyle/>
            <a:p>
              <a:pPr algn="ctr"/>
              <a:r>
                <a:rPr lang="fr-FR" sz="1400" b="1" dirty="0">
                  <a:solidFill>
                    <a:srgbClr val="ED7D31"/>
                  </a:solidFill>
                </a:rPr>
                <a:t>Réalisation de soi</a:t>
              </a:r>
            </a:p>
          </p:txBody>
        </p:sp>
      </p:grpSp>
      <p:grpSp>
        <p:nvGrpSpPr>
          <p:cNvPr id="56" name="Groupe 55">
            <a:extLst>
              <a:ext uri="{FF2B5EF4-FFF2-40B4-BE49-F238E27FC236}">
                <a16:creationId xmlns:a16="http://schemas.microsoft.com/office/drawing/2014/main" id="{38144C89-F0D7-FDAF-A17A-CE83B625B0A5}"/>
              </a:ext>
            </a:extLst>
          </p:cNvPr>
          <p:cNvGrpSpPr/>
          <p:nvPr/>
        </p:nvGrpSpPr>
        <p:grpSpPr>
          <a:xfrm>
            <a:off x="6429650" y="4560650"/>
            <a:ext cx="2012163" cy="978052"/>
            <a:chOff x="6713702" y="745208"/>
            <a:chExt cx="4891967" cy="2377838"/>
          </a:xfrm>
          <a:solidFill>
            <a:schemeClr val="tx1"/>
          </a:solidFill>
        </p:grpSpPr>
        <p:pic>
          <p:nvPicPr>
            <p:cNvPr id="57" name="Graphique 56" descr="Ramper avec un remplissage uni">
              <a:extLst>
                <a:ext uri="{FF2B5EF4-FFF2-40B4-BE49-F238E27FC236}">
                  <a16:creationId xmlns:a16="http://schemas.microsoft.com/office/drawing/2014/main" id="{B22289A2-D7A7-642E-212D-8B522733414F}"/>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713702" y="2208646"/>
              <a:ext cx="914400" cy="914400"/>
            </a:xfrm>
            <a:prstGeom prst="rect">
              <a:avLst/>
            </a:prstGeom>
          </p:spPr>
        </p:pic>
        <p:pic>
          <p:nvPicPr>
            <p:cNvPr id="58" name="Graphique 57" descr="Marcher avec un remplissage uni">
              <a:extLst>
                <a:ext uri="{FF2B5EF4-FFF2-40B4-BE49-F238E27FC236}">
                  <a16:creationId xmlns:a16="http://schemas.microsoft.com/office/drawing/2014/main" id="{07401666-8993-696E-7F50-AE6095FC9B68}"/>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7650711" y="1900170"/>
              <a:ext cx="914400" cy="914400"/>
            </a:xfrm>
            <a:prstGeom prst="rect">
              <a:avLst/>
            </a:prstGeom>
          </p:spPr>
        </p:pic>
        <p:pic>
          <p:nvPicPr>
            <p:cNvPr id="59" name="Graphique 58" descr="Courir avec un remplissage uni">
              <a:extLst>
                <a:ext uri="{FF2B5EF4-FFF2-40B4-BE49-F238E27FC236}">
                  <a16:creationId xmlns:a16="http://schemas.microsoft.com/office/drawing/2014/main" id="{BD8C453A-3B98-C64E-8A07-4C328D95BC19}"/>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8587720" y="1591693"/>
              <a:ext cx="914400" cy="914400"/>
            </a:xfrm>
            <a:prstGeom prst="rect">
              <a:avLst/>
            </a:prstGeom>
          </p:spPr>
        </p:pic>
        <p:pic>
          <p:nvPicPr>
            <p:cNvPr id="60" name="Graphique 59" descr="Héros avec un remplissage uni">
              <a:extLst>
                <a:ext uri="{FF2B5EF4-FFF2-40B4-BE49-F238E27FC236}">
                  <a16:creationId xmlns:a16="http://schemas.microsoft.com/office/drawing/2014/main" id="{4746BEEF-C213-6B6F-A4A7-7E2530DAFD2D}"/>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0691269" y="745208"/>
              <a:ext cx="914400" cy="914400"/>
            </a:xfrm>
            <a:prstGeom prst="rect">
              <a:avLst/>
            </a:prstGeom>
          </p:spPr>
        </p:pic>
        <p:pic>
          <p:nvPicPr>
            <p:cNvPr id="61" name="Graphique 60" descr="Aspiration avec un remplissage uni">
              <a:extLst>
                <a:ext uri="{FF2B5EF4-FFF2-40B4-BE49-F238E27FC236}">
                  <a16:creationId xmlns:a16="http://schemas.microsoft.com/office/drawing/2014/main" id="{0A516DBC-A577-54EF-440B-578DAD6CE80D}"/>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9524729" y="1053685"/>
              <a:ext cx="1143931" cy="1143931"/>
            </a:xfrm>
            <a:prstGeom prst="rect">
              <a:avLst/>
            </a:prstGeom>
          </p:spPr>
        </p:pic>
      </p:grpSp>
      <p:sp>
        <p:nvSpPr>
          <p:cNvPr id="62" name="Rectangle 61">
            <a:extLst>
              <a:ext uri="{FF2B5EF4-FFF2-40B4-BE49-F238E27FC236}">
                <a16:creationId xmlns:a16="http://schemas.microsoft.com/office/drawing/2014/main" id="{86C0A120-62DB-B890-601A-995F14F5AA68}"/>
              </a:ext>
            </a:extLst>
          </p:cNvPr>
          <p:cNvSpPr/>
          <p:nvPr/>
        </p:nvSpPr>
        <p:spPr>
          <a:xfrm>
            <a:off x="6617000" y="5660938"/>
            <a:ext cx="1946247" cy="5725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Développement des chemins de carrières et de la mobilité interne</a:t>
            </a:r>
            <a:endParaRPr lang="fr-FR" sz="1400" dirty="0">
              <a:solidFill>
                <a:schemeClr val="tx1"/>
              </a:solidFill>
            </a:endParaRPr>
          </a:p>
        </p:txBody>
      </p:sp>
    </p:spTree>
    <p:extLst>
      <p:ext uri="{BB962C8B-B14F-4D97-AF65-F5344CB8AC3E}">
        <p14:creationId xmlns:p14="http://schemas.microsoft.com/office/powerpoint/2010/main" val="1214593733"/>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dirty="0"/>
              <a:t>Rencontrer des prospects n’est pas toujours facile. Un moyen est d’organiser ou de participer à des conférences / congrès du secteur. Nous avons monté </a:t>
            </a:r>
            <a:r>
              <a:rPr lang="fr-FR" sz="1400" b="1" dirty="0"/>
              <a:t>un réseau commercial</a:t>
            </a:r>
            <a:r>
              <a:rPr lang="fr-FR" sz="1400" dirty="0"/>
              <a:t> et y faisons beaucoup de contacts, ce qui nous permet aussi de trouver des affaires.</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a:solidFill>
                  <a:schemeClr val="bg1"/>
                </a:solidFill>
              </a:rPr>
              <a:t>Le développement commercial peut se faire via de nombreuses voies, reposant beaucoup sur le réseau de l’entreprise. Il peut être intéressant de mettre en commun les contacts, organiser des mises en relation et initier des opportunités en montant un </a:t>
            </a:r>
            <a:r>
              <a:rPr lang="fr-FR" sz="1400" b="1">
                <a:solidFill>
                  <a:schemeClr val="bg1"/>
                </a:solidFill>
              </a:rPr>
              <a:t>réseau commercial</a:t>
            </a:r>
            <a:r>
              <a:rPr lang="fr-FR" sz="1400">
                <a:solidFill>
                  <a:schemeClr val="bg1"/>
                </a:solidFill>
              </a:rPr>
              <a:t>.</a:t>
            </a:r>
            <a:endParaRPr lang="fr-FR" sz="1400" dirty="0">
              <a:solidFill>
                <a:schemeClr val="bg1"/>
              </a:solidFill>
            </a:endParaRP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12 : Quand je veux développer des affaires</a:t>
            </a:r>
          </a:p>
        </p:txBody>
      </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63" name="Groupe 62">
            <a:extLst>
              <a:ext uri="{FF2B5EF4-FFF2-40B4-BE49-F238E27FC236}">
                <a16:creationId xmlns:a16="http://schemas.microsoft.com/office/drawing/2014/main" id="{269DB85C-EACA-5181-DDF8-C2053FB23A91}"/>
              </a:ext>
            </a:extLst>
          </p:cNvPr>
          <p:cNvGrpSpPr/>
          <p:nvPr/>
        </p:nvGrpSpPr>
        <p:grpSpPr>
          <a:xfrm>
            <a:off x="6453145" y="4747213"/>
            <a:ext cx="2220399" cy="837312"/>
            <a:chOff x="1677224" y="4399902"/>
            <a:chExt cx="3984628" cy="1541940"/>
          </a:xfrm>
          <a:solidFill>
            <a:schemeClr val="tx1"/>
          </a:solidFill>
        </p:grpSpPr>
        <p:pic>
          <p:nvPicPr>
            <p:cNvPr id="64" name="Graphique 63" descr="Poignée de main avec un remplissage uni">
              <a:extLst>
                <a:ext uri="{FF2B5EF4-FFF2-40B4-BE49-F238E27FC236}">
                  <a16:creationId xmlns:a16="http://schemas.microsoft.com/office/drawing/2014/main" id="{54AAF6F3-BB78-CBED-C002-E0FDAD2D41E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677224" y="4473520"/>
              <a:ext cx="1394705" cy="1394705"/>
            </a:xfrm>
            <a:prstGeom prst="rect">
              <a:avLst/>
            </a:prstGeom>
          </p:spPr>
        </p:pic>
        <p:pic>
          <p:nvPicPr>
            <p:cNvPr id="65" name="Graphique 64" descr="Contrat avec un remplissage uni">
              <a:extLst>
                <a:ext uri="{FF2B5EF4-FFF2-40B4-BE49-F238E27FC236}">
                  <a16:creationId xmlns:a16="http://schemas.microsoft.com/office/drawing/2014/main" id="{5D7D1FA5-7DAD-2495-331E-0B67D3E7F89F}"/>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3003278" y="4578031"/>
              <a:ext cx="1185682" cy="1185682"/>
            </a:xfrm>
            <a:prstGeom prst="rect">
              <a:avLst/>
            </a:prstGeom>
          </p:spPr>
        </p:pic>
        <p:pic>
          <p:nvPicPr>
            <p:cNvPr id="66" name="Graphique 65" descr="Tendance à la hausse avec un remplissage uni">
              <a:extLst>
                <a:ext uri="{FF2B5EF4-FFF2-40B4-BE49-F238E27FC236}">
                  <a16:creationId xmlns:a16="http://schemas.microsoft.com/office/drawing/2014/main" id="{FA877617-B574-EC42-C0EA-ACEFFD2E2D01}"/>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4119912" y="4399902"/>
              <a:ext cx="1541940" cy="1541940"/>
            </a:xfrm>
            <a:prstGeom prst="rect">
              <a:avLst/>
            </a:prstGeom>
          </p:spPr>
        </p:pic>
      </p:grpSp>
      <p:sp>
        <p:nvSpPr>
          <p:cNvPr id="67" name="Rectangle 66">
            <a:extLst>
              <a:ext uri="{FF2B5EF4-FFF2-40B4-BE49-F238E27FC236}">
                <a16:creationId xmlns:a16="http://schemas.microsoft.com/office/drawing/2014/main" id="{0891F851-6648-AD33-0BE0-91019B25BA4A}"/>
              </a:ext>
            </a:extLst>
          </p:cNvPr>
          <p:cNvSpPr/>
          <p:nvPr/>
        </p:nvSpPr>
        <p:spPr>
          <a:xfrm>
            <a:off x="6365488" y="5556401"/>
            <a:ext cx="2390144" cy="5725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Participation au développement commercial</a:t>
            </a:r>
            <a:endParaRPr lang="fr-FR" sz="1400" dirty="0">
              <a:solidFill>
                <a:schemeClr val="tx1"/>
              </a:solidFill>
            </a:endParaRPr>
          </a:p>
        </p:txBody>
      </p:sp>
      <p:grpSp>
        <p:nvGrpSpPr>
          <p:cNvPr id="68" name="Groupe 67">
            <a:extLst>
              <a:ext uri="{FF2B5EF4-FFF2-40B4-BE49-F238E27FC236}">
                <a16:creationId xmlns:a16="http://schemas.microsoft.com/office/drawing/2014/main" id="{7068126C-2601-B74D-B21B-9E9FE390D11A}"/>
              </a:ext>
            </a:extLst>
          </p:cNvPr>
          <p:cNvGrpSpPr/>
          <p:nvPr/>
        </p:nvGrpSpPr>
        <p:grpSpPr>
          <a:xfrm>
            <a:off x="374429" y="4676527"/>
            <a:ext cx="1406380" cy="1377272"/>
            <a:chOff x="7187274" y="4322758"/>
            <a:chExt cx="651630" cy="638892"/>
          </a:xfrm>
        </p:grpSpPr>
        <p:pic>
          <p:nvPicPr>
            <p:cNvPr id="69" name="Graphique 68" descr="Coffre au trésor avec un remplissage uni">
              <a:extLst>
                <a:ext uri="{FF2B5EF4-FFF2-40B4-BE49-F238E27FC236}">
                  <a16:creationId xmlns:a16="http://schemas.microsoft.com/office/drawing/2014/main" id="{F70189BB-3C4F-9FA4-F33B-3D4FCCB80EF8}"/>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7321347" y="4322758"/>
              <a:ext cx="384457" cy="384458"/>
            </a:xfrm>
            <a:prstGeom prst="rect">
              <a:avLst/>
            </a:prstGeom>
          </p:spPr>
        </p:pic>
        <p:sp>
          <p:nvSpPr>
            <p:cNvPr id="70" name="ZoneTexte 69">
              <a:extLst>
                <a:ext uri="{FF2B5EF4-FFF2-40B4-BE49-F238E27FC236}">
                  <a16:creationId xmlns:a16="http://schemas.microsoft.com/office/drawing/2014/main" id="{5BB53298-9C4C-DD98-2E13-40C6F347FC1A}"/>
                </a:ext>
              </a:extLst>
            </p:cNvPr>
            <p:cNvSpPr txBox="1"/>
            <p:nvPr/>
          </p:nvSpPr>
          <p:spPr>
            <a:xfrm>
              <a:off x="7187274" y="4718937"/>
              <a:ext cx="651630" cy="242713"/>
            </a:xfrm>
            <a:prstGeom prst="rect">
              <a:avLst/>
            </a:prstGeom>
            <a:noFill/>
          </p:spPr>
          <p:txBody>
            <a:bodyPr wrap="square">
              <a:spAutoFit/>
            </a:bodyPr>
            <a:lstStyle/>
            <a:p>
              <a:pPr algn="ctr"/>
              <a:r>
                <a:rPr lang="fr-FR" sz="1400" b="1" dirty="0">
                  <a:solidFill>
                    <a:srgbClr val="ED7D31"/>
                  </a:solidFill>
                </a:rPr>
                <a:t>Opportunités d’affaires</a:t>
              </a:r>
            </a:p>
          </p:txBody>
        </p:sp>
      </p:grpSp>
      <p:grpSp>
        <p:nvGrpSpPr>
          <p:cNvPr id="74" name="Groupe 73">
            <a:extLst>
              <a:ext uri="{FF2B5EF4-FFF2-40B4-BE49-F238E27FC236}">
                <a16:creationId xmlns:a16="http://schemas.microsoft.com/office/drawing/2014/main" id="{AF555A0D-EEF5-954B-B61F-49B8189A4812}"/>
              </a:ext>
            </a:extLst>
          </p:cNvPr>
          <p:cNvGrpSpPr/>
          <p:nvPr/>
        </p:nvGrpSpPr>
        <p:grpSpPr>
          <a:xfrm>
            <a:off x="1679235" y="4626940"/>
            <a:ext cx="2191421" cy="1635264"/>
            <a:chOff x="9261999" y="4292960"/>
            <a:chExt cx="1221890" cy="912861"/>
          </a:xfrm>
        </p:grpSpPr>
        <p:sp>
          <p:nvSpPr>
            <p:cNvPr id="76" name="ZoneTexte 75">
              <a:extLst>
                <a:ext uri="{FF2B5EF4-FFF2-40B4-BE49-F238E27FC236}">
                  <a16:creationId xmlns:a16="http://schemas.microsoft.com/office/drawing/2014/main" id="{C8B16C2A-39B1-BB25-265F-B8D3C94ED017}"/>
                </a:ext>
              </a:extLst>
            </p:cNvPr>
            <p:cNvSpPr txBox="1"/>
            <p:nvPr/>
          </p:nvSpPr>
          <p:spPr>
            <a:xfrm>
              <a:off x="9261999" y="4793473"/>
              <a:ext cx="1221890" cy="412348"/>
            </a:xfrm>
            <a:prstGeom prst="rect">
              <a:avLst/>
            </a:prstGeom>
            <a:noFill/>
          </p:spPr>
          <p:txBody>
            <a:bodyPr wrap="square">
              <a:spAutoFit/>
            </a:bodyPr>
            <a:lstStyle/>
            <a:p>
              <a:pPr algn="ctr"/>
              <a:r>
                <a:rPr lang="fr-FR" sz="1400" b="1" dirty="0">
                  <a:solidFill>
                    <a:srgbClr val="ED7D31"/>
                  </a:solidFill>
                </a:rPr>
                <a:t>Satisfaction des obligations et responsabilités existantes</a:t>
              </a:r>
            </a:p>
          </p:txBody>
        </p:sp>
        <p:pic>
          <p:nvPicPr>
            <p:cNvPr id="77" name="Graphique 76" descr="Presse-papiers vérifié avec un remplissage uni">
              <a:extLst>
                <a:ext uri="{FF2B5EF4-FFF2-40B4-BE49-F238E27FC236}">
                  <a16:creationId xmlns:a16="http://schemas.microsoft.com/office/drawing/2014/main" id="{8EB0AA57-B0F1-9112-303D-7D70EBF4384C}"/>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9627431" y="4292960"/>
              <a:ext cx="491025" cy="491024"/>
            </a:xfrm>
            <a:prstGeom prst="rect">
              <a:avLst/>
            </a:prstGeom>
          </p:spPr>
        </p:pic>
      </p:grpSp>
      <p:grpSp>
        <p:nvGrpSpPr>
          <p:cNvPr id="78" name="Groupe 77">
            <a:extLst>
              <a:ext uri="{FF2B5EF4-FFF2-40B4-BE49-F238E27FC236}">
                <a16:creationId xmlns:a16="http://schemas.microsoft.com/office/drawing/2014/main" id="{00EA75FD-1662-92A8-2A14-B6D7EE65A8C1}"/>
              </a:ext>
            </a:extLst>
          </p:cNvPr>
          <p:cNvGrpSpPr/>
          <p:nvPr/>
        </p:nvGrpSpPr>
        <p:grpSpPr>
          <a:xfrm>
            <a:off x="3664682" y="4896984"/>
            <a:ext cx="1406379" cy="1194036"/>
            <a:chOff x="8129937" y="4169500"/>
            <a:chExt cx="1286847" cy="1093835"/>
          </a:xfrm>
        </p:grpSpPr>
        <p:pic>
          <p:nvPicPr>
            <p:cNvPr id="79" name="Graphique 78" descr="Poignée de main avec un remplissage uni">
              <a:extLst>
                <a:ext uri="{FF2B5EF4-FFF2-40B4-BE49-F238E27FC236}">
                  <a16:creationId xmlns:a16="http://schemas.microsoft.com/office/drawing/2014/main" id="{A0E6211B-A448-32C1-FD2C-186DD41E78AE}"/>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8378292" y="4169500"/>
              <a:ext cx="703975" cy="703975"/>
            </a:xfrm>
            <a:prstGeom prst="rect">
              <a:avLst/>
            </a:prstGeom>
          </p:spPr>
        </p:pic>
        <p:sp>
          <p:nvSpPr>
            <p:cNvPr id="80" name="ZoneTexte 79">
              <a:extLst>
                <a:ext uri="{FF2B5EF4-FFF2-40B4-BE49-F238E27FC236}">
                  <a16:creationId xmlns:a16="http://schemas.microsoft.com/office/drawing/2014/main" id="{4A322AF7-DE4D-C5B7-B782-BB2F1BEB59A8}"/>
                </a:ext>
              </a:extLst>
            </p:cNvPr>
            <p:cNvSpPr txBox="1"/>
            <p:nvPr/>
          </p:nvSpPr>
          <p:spPr>
            <a:xfrm>
              <a:off x="8129937" y="4747307"/>
              <a:ext cx="1286847" cy="516028"/>
            </a:xfrm>
            <a:prstGeom prst="rect">
              <a:avLst/>
            </a:prstGeom>
            <a:noFill/>
          </p:spPr>
          <p:txBody>
            <a:bodyPr wrap="square">
              <a:spAutoFit/>
            </a:bodyPr>
            <a:lstStyle/>
            <a:p>
              <a:pPr algn="ctr"/>
              <a:r>
                <a:rPr lang="fr-FR" sz="1400" b="1" dirty="0">
                  <a:solidFill>
                    <a:srgbClr val="ED7D31"/>
                  </a:solidFill>
                </a:rPr>
                <a:t>Lien avec les autres</a:t>
              </a:r>
            </a:p>
          </p:txBody>
        </p:sp>
      </p:grpSp>
    </p:spTree>
    <p:extLst>
      <p:ext uri="{BB962C8B-B14F-4D97-AF65-F5344CB8AC3E}">
        <p14:creationId xmlns:p14="http://schemas.microsoft.com/office/powerpoint/2010/main" val="4184307106"/>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Extérieur à l’entreprise, je découvre des contenus spécialisés liés au métier qui m’intéresse. J’y remarque un article intéressant et travaillé, partagé par la </a:t>
            </a:r>
            <a:r>
              <a:rPr lang="fr-FR" sz="1400" b="1" dirty="0"/>
              <a:t>Communauté métier </a:t>
            </a:r>
            <a:r>
              <a:rPr lang="fr-FR" sz="1400" dirty="0"/>
              <a:t>de l’entreprise XYZ, qui partage son expérience</a:t>
            </a:r>
            <a:r>
              <a:rPr lang="fr-FR" sz="1400" b="1" dirty="0"/>
              <a:t>. </a:t>
            </a:r>
            <a:r>
              <a:rPr lang="fr-FR" sz="1400" dirty="0"/>
              <a:t>Ses membres gagnent ma reconnaissance.</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La Communication externe a souvent besoin d’être contrôlée par un service Communication centralisé. Cela peut cependant ralentir ou faire manquer certaines opportunités. Une alternative plus informelle est alors celui des </a:t>
            </a:r>
            <a:r>
              <a:rPr lang="fr-FR" sz="1400" b="1" dirty="0">
                <a:solidFill>
                  <a:schemeClr val="bg1"/>
                </a:solidFill>
              </a:rPr>
              <a:t>Communautés métier.</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grpSp>
        <p:nvGrpSpPr>
          <p:cNvPr id="117" name="Groupe 116">
            <a:extLst>
              <a:ext uri="{FF2B5EF4-FFF2-40B4-BE49-F238E27FC236}">
                <a16:creationId xmlns:a16="http://schemas.microsoft.com/office/drawing/2014/main" id="{FC4E15D8-65A3-4B8B-F147-AAA3CEC75924}"/>
              </a:ext>
            </a:extLst>
          </p:cNvPr>
          <p:cNvGrpSpPr/>
          <p:nvPr/>
        </p:nvGrpSpPr>
        <p:grpSpPr>
          <a:xfrm>
            <a:off x="-727890" y="7004181"/>
            <a:ext cx="1653081" cy="1467339"/>
            <a:chOff x="6088603" y="4144848"/>
            <a:chExt cx="1000589" cy="889209"/>
          </a:xfrm>
        </p:grpSpPr>
        <p:pic>
          <p:nvPicPr>
            <p:cNvPr id="126" name="Graphique 125" descr="Globe terrestre : Europe et Afrique avec un remplissage uni">
              <a:extLst>
                <a:ext uri="{FF2B5EF4-FFF2-40B4-BE49-F238E27FC236}">
                  <a16:creationId xmlns:a16="http://schemas.microsoft.com/office/drawing/2014/main" id="{990160D5-E268-FDAA-07DF-ACC0DE212EF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278977" y="4144848"/>
              <a:ext cx="643205" cy="643205"/>
            </a:xfrm>
            <a:prstGeom prst="rect">
              <a:avLst/>
            </a:prstGeom>
          </p:spPr>
        </p:pic>
        <p:sp>
          <p:nvSpPr>
            <p:cNvPr id="127" name="ZoneTexte 126">
              <a:extLst>
                <a:ext uri="{FF2B5EF4-FFF2-40B4-BE49-F238E27FC236}">
                  <a16:creationId xmlns:a16="http://schemas.microsoft.com/office/drawing/2014/main" id="{BA8EBA2C-321E-AC1C-947A-1D7FBCD135B1}"/>
                </a:ext>
              </a:extLst>
            </p:cNvPr>
            <p:cNvSpPr txBox="1"/>
            <p:nvPr/>
          </p:nvSpPr>
          <p:spPr>
            <a:xfrm>
              <a:off x="6088603" y="4716985"/>
              <a:ext cx="1000589" cy="317072"/>
            </a:xfrm>
            <a:prstGeom prst="rect">
              <a:avLst/>
            </a:prstGeom>
            <a:noFill/>
          </p:spPr>
          <p:txBody>
            <a:bodyPr wrap="square">
              <a:spAutoFit/>
            </a:bodyPr>
            <a:lstStyle/>
            <a:p>
              <a:pPr algn="ctr"/>
              <a:r>
                <a:rPr lang="fr-FR" sz="1400" b="1" dirty="0">
                  <a:solidFill>
                    <a:srgbClr val="ED7D31"/>
                  </a:solidFill>
                </a:rPr>
                <a:t>Impact positif et sens</a:t>
              </a:r>
            </a:p>
          </p:txBody>
        </p:sp>
      </p:grpSp>
      <p:grpSp>
        <p:nvGrpSpPr>
          <p:cNvPr id="121" name="Groupe 120">
            <a:extLst>
              <a:ext uri="{FF2B5EF4-FFF2-40B4-BE49-F238E27FC236}">
                <a16:creationId xmlns:a16="http://schemas.microsoft.com/office/drawing/2014/main" id="{FC74CBF2-642B-9250-9086-671F011E1E1C}"/>
              </a:ext>
            </a:extLst>
          </p:cNvPr>
          <p:cNvGrpSpPr/>
          <p:nvPr/>
        </p:nvGrpSpPr>
        <p:grpSpPr>
          <a:xfrm>
            <a:off x="2520796" y="7226761"/>
            <a:ext cx="1441109" cy="1443078"/>
            <a:chOff x="4122509" y="4187837"/>
            <a:chExt cx="872285" cy="874508"/>
          </a:xfrm>
        </p:grpSpPr>
        <p:pic>
          <p:nvPicPr>
            <p:cNvPr id="122" name="Graphique 121" descr="Utilisateurs avec un remplissage uni">
              <a:extLst>
                <a:ext uri="{FF2B5EF4-FFF2-40B4-BE49-F238E27FC236}">
                  <a16:creationId xmlns:a16="http://schemas.microsoft.com/office/drawing/2014/main" id="{5E4429B7-1142-3E98-96DC-84606E6FB51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278095" y="4187837"/>
              <a:ext cx="590398" cy="590398"/>
            </a:xfrm>
            <a:prstGeom prst="rect">
              <a:avLst/>
            </a:prstGeom>
          </p:spPr>
        </p:pic>
        <p:sp>
          <p:nvSpPr>
            <p:cNvPr id="123" name="ZoneTexte 122">
              <a:extLst>
                <a:ext uri="{FF2B5EF4-FFF2-40B4-BE49-F238E27FC236}">
                  <a16:creationId xmlns:a16="http://schemas.microsoft.com/office/drawing/2014/main" id="{BBE1D591-A748-D793-51C5-7729CDE42DDB}"/>
                </a:ext>
              </a:extLst>
            </p:cNvPr>
            <p:cNvSpPr txBox="1"/>
            <p:nvPr/>
          </p:nvSpPr>
          <p:spPr>
            <a:xfrm>
              <a:off x="4122509" y="4745273"/>
              <a:ext cx="872285" cy="317072"/>
            </a:xfrm>
            <a:prstGeom prst="rect">
              <a:avLst/>
            </a:prstGeom>
            <a:noFill/>
          </p:spPr>
          <p:txBody>
            <a:bodyPr wrap="square">
              <a:spAutoFit/>
            </a:bodyPr>
            <a:lstStyle/>
            <a:p>
              <a:pPr algn="ctr"/>
              <a:r>
                <a:rPr lang="fr-FR" sz="1400" b="1" dirty="0">
                  <a:solidFill>
                    <a:srgbClr val="ED7D31"/>
                  </a:solidFill>
                </a:rPr>
                <a:t>Reconnaissance sociale </a:t>
              </a:r>
            </a:p>
          </p:txBody>
        </p:sp>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1 : Quand je découvre l’entreprise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6"/>
            <a:ext cx="1935178" cy="1624294"/>
            <a:chOff x="11670562" y="767339"/>
            <a:chExt cx="1001440" cy="840560"/>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847539" y="986738"/>
              <a:ext cx="824463" cy="621161"/>
            </a:xfrm>
            <a:prstGeom prst="rect">
              <a:avLst/>
            </a:prstGeom>
            <a:noFill/>
          </p:spPr>
          <p:txBody>
            <a:bodyPr wrap="square">
              <a:spAutoFit/>
            </a:bodyPr>
            <a:lstStyle/>
            <a:p>
              <a:pPr algn="r"/>
              <a:r>
                <a:rPr lang="fr-FR" b="1" dirty="0">
                  <a:solidFill>
                    <a:schemeClr val="tx1"/>
                  </a:solidFill>
                </a:rPr>
                <a:t>Ep 2: </a:t>
              </a:r>
            </a:p>
            <a:p>
              <a:pPr algn="r"/>
              <a:r>
                <a:rPr lang="fr-FR" b="1" dirty="0"/>
                <a:t>Ma p</a:t>
              </a:r>
              <a:r>
                <a:rPr lang="fr-FR" b="1" dirty="0">
                  <a:solidFill>
                    <a:schemeClr val="tx1"/>
                  </a:solidFill>
                </a:rPr>
                <a:t>remière rencontre avec l’entreprise</a:t>
              </a:r>
            </a:p>
          </p:txBody>
        </p:sp>
      </p:grpSp>
      <p:grpSp>
        <p:nvGrpSpPr>
          <p:cNvPr id="3" name="Groupe 2">
            <a:extLst>
              <a:ext uri="{FF2B5EF4-FFF2-40B4-BE49-F238E27FC236}">
                <a16:creationId xmlns:a16="http://schemas.microsoft.com/office/drawing/2014/main" id="{D2EBA960-BB2C-DF8A-898F-552AEA188917}"/>
              </a:ext>
            </a:extLst>
          </p:cNvPr>
          <p:cNvGrpSpPr/>
          <p:nvPr/>
        </p:nvGrpSpPr>
        <p:grpSpPr>
          <a:xfrm>
            <a:off x="6485747" y="7793960"/>
            <a:ext cx="2342285" cy="1634664"/>
            <a:chOff x="6460347" y="4613964"/>
            <a:chExt cx="2342285" cy="1634664"/>
          </a:xfrm>
        </p:grpSpPr>
        <p:sp>
          <p:nvSpPr>
            <p:cNvPr id="160" name="Rectangle 159">
              <a:extLst>
                <a:ext uri="{FF2B5EF4-FFF2-40B4-BE49-F238E27FC236}">
                  <a16:creationId xmlns:a16="http://schemas.microsoft.com/office/drawing/2014/main" id="{EF72B515-DBAF-AEFE-FAD8-068C94EA98DF}"/>
                </a:ext>
              </a:extLst>
            </p:cNvPr>
            <p:cNvSpPr/>
            <p:nvPr/>
          </p:nvSpPr>
          <p:spPr>
            <a:xfrm>
              <a:off x="6460347" y="5628707"/>
              <a:ext cx="2342285" cy="6199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Développement de la  Communication externe</a:t>
              </a:r>
            </a:p>
          </p:txBody>
        </p:sp>
        <p:grpSp>
          <p:nvGrpSpPr>
            <p:cNvPr id="161" name="Groupe 160">
              <a:extLst>
                <a:ext uri="{FF2B5EF4-FFF2-40B4-BE49-F238E27FC236}">
                  <a16:creationId xmlns:a16="http://schemas.microsoft.com/office/drawing/2014/main" id="{355CA7D0-671B-1C6A-8A53-6069D51DE95A}"/>
                </a:ext>
              </a:extLst>
            </p:cNvPr>
            <p:cNvGrpSpPr/>
            <p:nvPr/>
          </p:nvGrpSpPr>
          <p:grpSpPr>
            <a:xfrm>
              <a:off x="6953159" y="4613964"/>
              <a:ext cx="1387248" cy="1060252"/>
              <a:chOff x="7993201" y="3990786"/>
              <a:chExt cx="3083654" cy="2356787"/>
            </a:xfrm>
            <a:solidFill>
              <a:schemeClr val="tx1"/>
            </a:solidFill>
          </p:grpSpPr>
          <p:pic>
            <p:nvPicPr>
              <p:cNvPr id="162" name="Graphique 161" descr="Podcasting avec un remplissage uni">
                <a:extLst>
                  <a:ext uri="{FF2B5EF4-FFF2-40B4-BE49-F238E27FC236}">
                    <a16:creationId xmlns:a16="http://schemas.microsoft.com/office/drawing/2014/main" id="{BFDE17B7-5CBC-5829-A6D8-CF3CBEE7583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993201" y="3990786"/>
                <a:ext cx="914400" cy="914400"/>
              </a:xfrm>
              <a:prstGeom prst="rect">
                <a:avLst/>
              </a:prstGeom>
            </p:spPr>
          </p:pic>
          <p:pic>
            <p:nvPicPr>
              <p:cNvPr id="163" name="Graphique 162" descr="Vlog avec un remplissage uni">
                <a:extLst>
                  <a:ext uri="{FF2B5EF4-FFF2-40B4-BE49-F238E27FC236}">
                    <a16:creationId xmlns:a16="http://schemas.microsoft.com/office/drawing/2014/main" id="{D6C946AB-9F72-BF47-6897-C7CAEC311F6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000671" y="5433173"/>
                <a:ext cx="914400" cy="914400"/>
              </a:xfrm>
              <a:prstGeom prst="rect">
                <a:avLst/>
              </a:prstGeom>
            </p:spPr>
          </p:pic>
          <p:pic>
            <p:nvPicPr>
              <p:cNvPr id="164" name="Graphique 163" descr="Journal avec un remplissage uni">
                <a:extLst>
                  <a:ext uri="{FF2B5EF4-FFF2-40B4-BE49-F238E27FC236}">
                    <a16:creationId xmlns:a16="http://schemas.microsoft.com/office/drawing/2014/main" id="{A97C9AF9-DC0B-B1ED-FC58-E27B1E0DE173}"/>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0162455" y="4013608"/>
                <a:ext cx="914400" cy="914400"/>
              </a:xfrm>
              <a:prstGeom prst="rect">
                <a:avLst/>
              </a:prstGeom>
            </p:spPr>
          </p:pic>
          <p:pic>
            <p:nvPicPr>
              <p:cNvPr id="165" name="Graphique 164" descr="Réseau en ligne avec un remplissage uni">
                <a:extLst>
                  <a:ext uri="{FF2B5EF4-FFF2-40B4-BE49-F238E27FC236}">
                    <a16:creationId xmlns:a16="http://schemas.microsoft.com/office/drawing/2014/main" id="{93FF389A-46CE-EE2D-22C8-CF57768D9D7B}"/>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0066135" y="5341229"/>
                <a:ext cx="914400" cy="914400"/>
              </a:xfrm>
              <a:prstGeom prst="rect">
                <a:avLst/>
              </a:prstGeom>
            </p:spPr>
          </p:pic>
          <p:grpSp>
            <p:nvGrpSpPr>
              <p:cNvPr id="166" name="Groupe 165">
                <a:extLst>
                  <a:ext uri="{FF2B5EF4-FFF2-40B4-BE49-F238E27FC236}">
                    <a16:creationId xmlns:a16="http://schemas.microsoft.com/office/drawing/2014/main" id="{E4839BA3-DBB3-B55D-832B-3A45D3FBC24D}"/>
                  </a:ext>
                </a:extLst>
              </p:cNvPr>
              <p:cNvGrpSpPr/>
              <p:nvPr/>
            </p:nvGrpSpPr>
            <p:grpSpPr>
              <a:xfrm>
                <a:off x="8632968" y="4529072"/>
                <a:ext cx="1791083" cy="1287429"/>
                <a:chOff x="8274918" y="4478329"/>
                <a:chExt cx="1791083" cy="1287429"/>
              </a:xfrm>
              <a:grpFill/>
            </p:grpSpPr>
            <p:pic>
              <p:nvPicPr>
                <p:cNvPr id="167" name="Graphique 166" descr="Bâtiment avec un remplissage uni">
                  <a:extLst>
                    <a:ext uri="{FF2B5EF4-FFF2-40B4-BE49-F238E27FC236}">
                      <a16:creationId xmlns:a16="http://schemas.microsoft.com/office/drawing/2014/main" id="{DFBC9673-AB08-D8FD-0181-451235640E7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725807" y="4753283"/>
                  <a:ext cx="914400" cy="914400"/>
                </a:xfrm>
                <a:prstGeom prst="rect">
                  <a:avLst/>
                </a:prstGeom>
              </p:spPr>
            </p:pic>
            <p:sp>
              <p:nvSpPr>
                <p:cNvPr id="168" name="Flèche : droite 167">
                  <a:extLst>
                    <a:ext uri="{FF2B5EF4-FFF2-40B4-BE49-F238E27FC236}">
                      <a16:creationId xmlns:a16="http://schemas.microsoft.com/office/drawing/2014/main" id="{66EFD1BC-093E-9272-5679-FD6ABBBD0801}"/>
                    </a:ext>
                  </a:extLst>
                </p:cNvPr>
                <p:cNvSpPr/>
                <p:nvPr/>
              </p:nvSpPr>
              <p:spPr>
                <a:xfrm rot="19318800">
                  <a:off x="9688254" y="4478329"/>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169" name="Flèche : droite 168">
                  <a:extLst>
                    <a:ext uri="{FF2B5EF4-FFF2-40B4-BE49-F238E27FC236}">
                      <a16:creationId xmlns:a16="http://schemas.microsoft.com/office/drawing/2014/main" id="{7DDC499D-CCF7-ECD2-E766-2249744329E8}"/>
                    </a:ext>
                  </a:extLst>
                </p:cNvPr>
                <p:cNvSpPr/>
                <p:nvPr/>
              </p:nvSpPr>
              <p:spPr>
                <a:xfrm rot="2412443">
                  <a:off x="9689689" y="5362915"/>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170" name="Flèche : droite 169">
                  <a:extLst>
                    <a:ext uri="{FF2B5EF4-FFF2-40B4-BE49-F238E27FC236}">
                      <a16:creationId xmlns:a16="http://schemas.microsoft.com/office/drawing/2014/main" id="{08C12798-BCC0-C70C-BE20-B42EA3F02395}"/>
                    </a:ext>
                  </a:extLst>
                </p:cNvPr>
                <p:cNvSpPr/>
                <p:nvPr/>
              </p:nvSpPr>
              <p:spPr>
                <a:xfrm rot="8279483">
                  <a:off x="8287182" y="5362622"/>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171" name="Flèche : droite 170">
                  <a:extLst>
                    <a:ext uri="{FF2B5EF4-FFF2-40B4-BE49-F238E27FC236}">
                      <a16:creationId xmlns:a16="http://schemas.microsoft.com/office/drawing/2014/main" id="{64FA988D-CC3C-EF61-8C9B-85B34C6AE37E}"/>
                    </a:ext>
                  </a:extLst>
                </p:cNvPr>
                <p:cNvSpPr/>
                <p:nvPr/>
              </p:nvSpPr>
              <p:spPr>
                <a:xfrm rot="13573193">
                  <a:off x="8288184" y="4478969"/>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grpSp>
        </p:gr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1"/>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19">
                <a:extLst>
                  <a:ext uri="{28A0092B-C50C-407E-A947-70E740481C1C}">
                    <a14:useLocalDpi xmlns:a14="http://schemas.microsoft.com/office/drawing/2010/main" val="0"/>
                  </a:ext>
                  <a:ext uri="{96DAC541-7B7A-43D3-8B79-37D633B846F1}">
                    <asvg:svgBlip xmlns:asvg="http://schemas.microsoft.com/office/drawing/2016/SVG/main" r:embed="rId21"/>
                  </a:ext>
                </a:extLst>
              </a:blip>
              <a:srcRect l="8133" t="75103" r="8805" b="12219"/>
              <a:stretch/>
            </p:blipFill>
            <p:spPr>
              <a:xfrm>
                <a:off x="-4435634" y="6477233"/>
                <a:ext cx="4325259" cy="660167"/>
              </a:xfrm>
              <a:prstGeom prst="rect">
                <a:avLst/>
              </a:prstGeom>
            </p:spPr>
          </p:pic>
        </p:grpSp>
      </p:grpSp>
    </p:spTree>
    <p:extLst>
      <p:ext uri="{BB962C8B-B14F-4D97-AF65-F5344CB8AC3E}">
        <p14:creationId xmlns:p14="http://schemas.microsoft.com/office/powerpoint/2010/main" val="3512263236"/>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Intéressé, je vais rencontrer l’entreprise à un événement, organisé par une </a:t>
            </a:r>
            <a:r>
              <a:rPr lang="fr-FR" sz="1400" b="1" dirty="0"/>
              <a:t>Communauté d’ambassadeurs (externes)</a:t>
            </a:r>
            <a:r>
              <a:rPr lang="fr-FR" sz="1400" dirty="0"/>
              <a:t>, ils me parlent de leurs expériences personnelles, ce que j’apprécie plus que des brochures. Ils me proposent de postuler et font passer mon CV.</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Attirer les nouveaux talents peut se faire par de nombreux canaux. Les besoins croissants des candidats ne sont pas toujours satisfaits par des contenus institutionnels. C’est là qu’on peut compléter avec une </a:t>
            </a:r>
            <a:r>
              <a:rPr lang="fr-FR" sz="1400" b="1" dirty="0">
                <a:solidFill>
                  <a:schemeClr val="bg1"/>
                </a:solidFill>
              </a:rPr>
              <a:t>Communauté d’ambassadeurs externes</a:t>
            </a:r>
            <a:r>
              <a:rPr lang="fr-FR" sz="1400" dirty="0">
                <a:solidFill>
                  <a:schemeClr val="bg1"/>
                </a:solidFill>
              </a:rPr>
              <a:t>.</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2 : Ma première rencontre avec l’entreprise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347296"/>
            <a:chOff x="11670562" y="767339"/>
            <a:chExt cx="1001440" cy="697216"/>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847539" y="986738"/>
              <a:ext cx="824463" cy="477817"/>
            </a:xfrm>
            <a:prstGeom prst="rect">
              <a:avLst/>
            </a:prstGeom>
            <a:noFill/>
          </p:spPr>
          <p:txBody>
            <a:bodyPr wrap="square">
              <a:spAutoFit/>
            </a:bodyPr>
            <a:lstStyle/>
            <a:p>
              <a:pPr algn="r"/>
              <a:r>
                <a:rPr lang="fr-FR" b="1" dirty="0">
                  <a:solidFill>
                    <a:schemeClr val="tx1"/>
                  </a:solidFill>
                </a:rPr>
                <a:t>Ep 3: </a:t>
              </a:r>
            </a:p>
            <a:p>
              <a:pPr algn="r"/>
              <a:r>
                <a:rPr lang="fr-FR" b="1" dirty="0">
                  <a:solidFill>
                    <a:schemeClr val="tx1"/>
                  </a:solidFill>
                </a:rPr>
                <a:t>Dans mon intégration</a:t>
              </a: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53" name="Groupe 52">
            <a:extLst>
              <a:ext uri="{FF2B5EF4-FFF2-40B4-BE49-F238E27FC236}">
                <a16:creationId xmlns:a16="http://schemas.microsoft.com/office/drawing/2014/main" id="{77469830-D271-9EAA-C9EE-C7CA07C7FAB1}"/>
              </a:ext>
            </a:extLst>
          </p:cNvPr>
          <p:cNvGrpSpPr/>
          <p:nvPr/>
        </p:nvGrpSpPr>
        <p:grpSpPr>
          <a:xfrm>
            <a:off x="6928368" y="6984195"/>
            <a:ext cx="1898567" cy="1741417"/>
            <a:chOff x="2502506" y="1601511"/>
            <a:chExt cx="1818204" cy="1510976"/>
          </a:xfrm>
          <a:solidFill>
            <a:schemeClr val="tx1"/>
          </a:solidFill>
        </p:grpSpPr>
        <p:grpSp>
          <p:nvGrpSpPr>
            <p:cNvPr id="54" name="Groupe 53">
              <a:extLst>
                <a:ext uri="{FF2B5EF4-FFF2-40B4-BE49-F238E27FC236}">
                  <a16:creationId xmlns:a16="http://schemas.microsoft.com/office/drawing/2014/main" id="{E312C0AB-E8D0-0114-EE06-A08D168EA446}"/>
                </a:ext>
              </a:extLst>
            </p:cNvPr>
            <p:cNvGrpSpPr/>
            <p:nvPr/>
          </p:nvGrpSpPr>
          <p:grpSpPr>
            <a:xfrm>
              <a:off x="2502506" y="2098539"/>
              <a:ext cx="1818204" cy="1013948"/>
              <a:chOff x="1001934" y="3369669"/>
              <a:chExt cx="1818204" cy="1013948"/>
            </a:xfrm>
            <a:grpFill/>
          </p:grpSpPr>
          <p:sp>
            <p:nvSpPr>
              <p:cNvPr id="56" name="Rectangle 55">
                <a:extLst>
                  <a:ext uri="{FF2B5EF4-FFF2-40B4-BE49-F238E27FC236}">
                    <a16:creationId xmlns:a16="http://schemas.microsoft.com/office/drawing/2014/main" id="{652E5B56-AA51-1EB6-5CB4-306B31DCE3ED}"/>
                  </a:ext>
                </a:extLst>
              </p:cNvPr>
              <p:cNvSpPr/>
              <p:nvPr/>
            </p:nvSpPr>
            <p:spPr>
              <a:xfrm>
                <a:off x="1001934" y="3890368"/>
                <a:ext cx="1818204" cy="4932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au recrutement</a:t>
                </a:r>
                <a:endParaRPr lang="fr-FR" sz="1400" dirty="0">
                  <a:solidFill>
                    <a:schemeClr val="tx1"/>
                  </a:solidFill>
                </a:endParaRPr>
              </a:p>
            </p:txBody>
          </p:sp>
          <p:pic>
            <p:nvPicPr>
              <p:cNvPr id="57" name="Graphique 56" descr="Salle de conseil avec un remplissage uni">
                <a:extLst>
                  <a:ext uri="{FF2B5EF4-FFF2-40B4-BE49-F238E27FC236}">
                    <a16:creationId xmlns:a16="http://schemas.microsoft.com/office/drawing/2014/main" id="{15A84F86-C3E4-461C-3BE1-79F028D94702}"/>
                  </a:ext>
                </a:extLst>
              </p:cNvPr>
              <p:cNvPicPr>
                <a:picLocks noChangeAspect="1"/>
              </p:cNvPicPr>
              <p:nvPr/>
            </p:nvPicPr>
            <p:blipFill rotWithShape="1">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rcRect b="16472"/>
              <a:stretch/>
            </p:blipFill>
            <p:spPr>
              <a:xfrm>
                <a:off x="1632360" y="3369669"/>
                <a:ext cx="551732" cy="460853"/>
              </a:xfrm>
              <a:prstGeom prst="rect">
                <a:avLst/>
              </a:prstGeom>
            </p:spPr>
          </p:pic>
        </p:grpSp>
        <p:pic>
          <p:nvPicPr>
            <p:cNvPr id="55" name="Graphique 54" descr="Croissance de l'activité avec un remplissage uni">
              <a:extLst>
                <a:ext uri="{FF2B5EF4-FFF2-40B4-BE49-F238E27FC236}">
                  <a16:creationId xmlns:a16="http://schemas.microsoft.com/office/drawing/2014/main" id="{B1BB48B4-AC50-167C-A9DC-C798A8D2DEAF}"/>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964897" y="1601511"/>
              <a:ext cx="785986" cy="785986"/>
            </a:xfrm>
            <a:prstGeom prst="rect">
              <a:avLst/>
            </a:prstGeom>
          </p:spPr>
        </p:pic>
      </p:grpSp>
      <p:grpSp>
        <p:nvGrpSpPr>
          <p:cNvPr id="58" name="Groupe 57">
            <a:extLst>
              <a:ext uri="{FF2B5EF4-FFF2-40B4-BE49-F238E27FC236}">
                <a16:creationId xmlns:a16="http://schemas.microsoft.com/office/drawing/2014/main" id="{9B384C8F-11A3-0A34-9108-45C188C17757}"/>
              </a:ext>
            </a:extLst>
          </p:cNvPr>
          <p:cNvGrpSpPr/>
          <p:nvPr/>
        </p:nvGrpSpPr>
        <p:grpSpPr>
          <a:xfrm>
            <a:off x="1110386" y="7185238"/>
            <a:ext cx="1653081" cy="1467339"/>
            <a:chOff x="6088603" y="4144848"/>
            <a:chExt cx="1000589" cy="889209"/>
          </a:xfrm>
        </p:grpSpPr>
        <p:pic>
          <p:nvPicPr>
            <p:cNvPr id="59" name="Graphique 58" descr="Globe terrestre : Europe et Afrique avec un remplissage uni">
              <a:extLst>
                <a:ext uri="{FF2B5EF4-FFF2-40B4-BE49-F238E27FC236}">
                  <a16:creationId xmlns:a16="http://schemas.microsoft.com/office/drawing/2014/main" id="{5AA51136-FAB8-641C-69D9-8D1314DB42E6}"/>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278977" y="4144848"/>
              <a:ext cx="643205" cy="643205"/>
            </a:xfrm>
            <a:prstGeom prst="rect">
              <a:avLst/>
            </a:prstGeom>
          </p:spPr>
        </p:pic>
        <p:sp>
          <p:nvSpPr>
            <p:cNvPr id="60" name="ZoneTexte 59">
              <a:extLst>
                <a:ext uri="{FF2B5EF4-FFF2-40B4-BE49-F238E27FC236}">
                  <a16:creationId xmlns:a16="http://schemas.microsoft.com/office/drawing/2014/main" id="{F5ADC1E0-80D1-C391-EFA7-96951AF6F1D1}"/>
                </a:ext>
              </a:extLst>
            </p:cNvPr>
            <p:cNvSpPr txBox="1"/>
            <p:nvPr/>
          </p:nvSpPr>
          <p:spPr>
            <a:xfrm>
              <a:off x="6088603" y="4716985"/>
              <a:ext cx="1000589" cy="317072"/>
            </a:xfrm>
            <a:prstGeom prst="rect">
              <a:avLst/>
            </a:prstGeom>
            <a:noFill/>
          </p:spPr>
          <p:txBody>
            <a:bodyPr wrap="square">
              <a:spAutoFit/>
            </a:bodyPr>
            <a:lstStyle/>
            <a:p>
              <a:pPr algn="ctr"/>
              <a:r>
                <a:rPr lang="fr-FR" sz="1400" b="1" dirty="0">
                  <a:solidFill>
                    <a:srgbClr val="ED7D31"/>
                  </a:solidFill>
                </a:rPr>
                <a:t>Impact positif et sens</a:t>
              </a:r>
            </a:p>
          </p:txBody>
        </p:sp>
      </p:grpSp>
      <p:grpSp>
        <p:nvGrpSpPr>
          <p:cNvPr id="64" name="Groupe 63">
            <a:extLst>
              <a:ext uri="{FF2B5EF4-FFF2-40B4-BE49-F238E27FC236}">
                <a16:creationId xmlns:a16="http://schemas.microsoft.com/office/drawing/2014/main" id="{42DE2216-B513-9274-B20A-AB1F68E8632B}"/>
              </a:ext>
            </a:extLst>
          </p:cNvPr>
          <p:cNvGrpSpPr/>
          <p:nvPr/>
        </p:nvGrpSpPr>
        <p:grpSpPr>
          <a:xfrm>
            <a:off x="2715016" y="7126013"/>
            <a:ext cx="1795852" cy="1494464"/>
            <a:chOff x="4120272" y="4187837"/>
            <a:chExt cx="872285" cy="726750"/>
          </a:xfrm>
        </p:grpSpPr>
        <p:pic>
          <p:nvPicPr>
            <p:cNvPr id="65" name="Graphique 64" descr="Utilisateurs avec un remplissage uni">
              <a:extLst>
                <a:ext uri="{FF2B5EF4-FFF2-40B4-BE49-F238E27FC236}">
                  <a16:creationId xmlns:a16="http://schemas.microsoft.com/office/drawing/2014/main" id="{07CBFEB2-5617-CB0F-134E-B0327F8E1698}"/>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4278095" y="4187837"/>
              <a:ext cx="590398" cy="590398"/>
            </a:xfrm>
            <a:prstGeom prst="rect">
              <a:avLst/>
            </a:prstGeom>
          </p:spPr>
        </p:pic>
        <p:sp>
          <p:nvSpPr>
            <p:cNvPr id="66" name="ZoneTexte 65">
              <a:extLst>
                <a:ext uri="{FF2B5EF4-FFF2-40B4-BE49-F238E27FC236}">
                  <a16:creationId xmlns:a16="http://schemas.microsoft.com/office/drawing/2014/main" id="{2D553831-FAF2-3FE3-1BE1-EC820C873807}"/>
                </a:ext>
              </a:extLst>
            </p:cNvPr>
            <p:cNvSpPr txBox="1"/>
            <p:nvPr/>
          </p:nvSpPr>
          <p:spPr>
            <a:xfrm>
              <a:off x="4120272" y="4660148"/>
              <a:ext cx="872285" cy="254439"/>
            </a:xfrm>
            <a:prstGeom prst="rect">
              <a:avLst/>
            </a:prstGeom>
            <a:noFill/>
          </p:spPr>
          <p:txBody>
            <a:bodyPr wrap="square">
              <a:spAutoFit/>
            </a:bodyPr>
            <a:lstStyle/>
            <a:p>
              <a:pPr algn="ctr"/>
              <a:r>
                <a:rPr lang="fr-FR" sz="1400" b="1" dirty="0">
                  <a:solidFill>
                    <a:srgbClr val="ED7D31"/>
                  </a:solidFill>
                </a:rPr>
                <a:t>Reconnaissance sociale </a:t>
              </a:r>
            </a:p>
          </p:txBody>
        </p:sp>
      </p:grpSp>
    </p:spTree>
    <p:extLst>
      <p:ext uri="{BB962C8B-B14F-4D97-AF65-F5344CB8AC3E}">
        <p14:creationId xmlns:p14="http://schemas.microsoft.com/office/powerpoint/2010/main" val="2018828442"/>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Une fois ma période d’essai terminée, je suis accompagné par une </a:t>
            </a:r>
            <a:r>
              <a:rPr lang="fr-FR" sz="1400" b="1" dirty="0"/>
              <a:t>communauté d’ambassadeurs internes </a:t>
            </a:r>
            <a:r>
              <a:rPr lang="fr-FR" sz="1400" dirty="0"/>
              <a:t>qui fait faire « le tour de l’entreprise » aux nouveaux arrivants. Je découvre ainsi mon entreprise et intègre plus vite sa culture et ses défis.</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Plus une entreprise grandit, plus elle risque la division et ses effets sur la performance. L’incompréhension entre services et les difficultés peuvent commencer dès l’intégration de nouveaux. Pour compenser, une </a:t>
            </a:r>
            <a:r>
              <a:rPr lang="fr-FR" sz="1400" b="1" dirty="0">
                <a:solidFill>
                  <a:schemeClr val="bg1"/>
                </a:solidFill>
              </a:rPr>
              <a:t>communauté d’ambassadeurs internes</a:t>
            </a:r>
            <a:r>
              <a:rPr lang="fr-FR" sz="1400" dirty="0">
                <a:solidFill>
                  <a:schemeClr val="bg1"/>
                </a:solidFill>
              </a:rPr>
              <a:t> peut aider.  </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3 : Dans mon intégration</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847539" y="986738"/>
              <a:ext cx="824463" cy="621162"/>
            </a:xfrm>
            <a:prstGeom prst="rect">
              <a:avLst/>
            </a:prstGeom>
            <a:noFill/>
          </p:spPr>
          <p:txBody>
            <a:bodyPr wrap="square">
              <a:spAutoFit/>
            </a:bodyPr>
            <a:lstStyle/>
            <a:p>
              <a:pPr algn="r"/>
              <a:r>
                <a:rPr lang="fr-FR" b="1" dirty="0">
                  <a:solidFill>
                    <a:schemeClr val="tx1"/>
                  </a:solidFill>
                </a:rPr>
                <a:t>Ep 4: </a:t>
              </a:r>
            </a:p>
            <a:p>
              <a:pPr algn="r"/>
              <a:r>
                <a:rPr lang="fr-FR" b="1" dirty="0">
                  <a:solidFill>
                    <a:schemeClr val="tx1"/>
                  </a:solidFill>
                </a:rPr>
                <a:t>Une fois que j’ai pris mon poste</a:t>
              </a: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46" name="Groupe 45">
            <a:extLst>
              <a:ext uri="{FF2B5EF4-FFF2-40B4-BE49-F238E27FC236}">
                <a16:creationId xmlns:a16="http://schemas.microsoft.com/office/drawing/2014/main" id="{9AEFE5A8-990E-6912-E2E8-40299E263DFD}"/>
              </a:ext>
            </a:extLst>
          </p:cNvPr>
          <p:cNvGrpSpPr/>
          <p:nvPr/>
        </p:nvGrpSpPr>
        <p:grpSpPr>
          <a:xfrm>
            <a:off x="516556" y="7154287"/>
            <a:ext cx="1406379" cy="1194036"/>
            <a:chOff x="8129937" y="4169500"/>
            <a:chExt cx="1286847" cy="1093835"/>
          </a:xfrm>
        </p:grpSpPr>
        <p:pic>
          <p:nvPicPr>
            <p:cNvPr id="47" name="Graphique 46" descr="Poignée de main avec un remplissage uni">
              <a:extLst>
                <a:ext uri="{FF2B5EF4-FFF2-40B4-BE49-F238E27FC236}">
                  <a16:creationId xmlns:a16="http://schemas.microsoft.com/office/drawing/2014/main" id="{F706EFB9-5EA5-E199-1178-74AAA93DB384}"/>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378292" y="4169500"/>
              <a:ext cx="703975" cy="703975"/>
            </a:xfrm>
            <a:prstGeom prst="rect">
              <a:avLst/>
            </a:prstGeom>
          </p:spPr>
        </p:pic>
        <p:sp>
          <p:nvSpPr>
            <p:cNvPr id="48" name="ZoneTexte 47">
              <a:extLst>
                <a:ext uri="{FF2B5EF4-FFF2-40B4-BE49-F238E27FC236}">
                  <a16:creationId xmlns:a16="http://schemas.microsoft.com/office/drawing/2014/main" id="{E7B505B5-350C-CA54-D4A1-9F6B06AA20EE}"/>
                </a:ext>
              </a:extLst>
            </p:cNvPr>
            <p:cNvSpPr txBox="1"/>
            <p:nvPr/>
          </p:nvSpPr>
          <p:spPr>
            <a:xfrm>
              <a:off x="8129937" y="4747307"/>
              <a:ext cx="1286847" cy="516028"/>
            </a:xfrm>
            <a:prstGeom prst="rect">
              <a:avLst/>
            </a:prstGeom>
            <a:noFill/>
          </p:spPr>
          <p:txBody>
            <a:bodyPr wrap="square">
              <a:spAutoFit/>
            </a:bodyPr>
            <a:lstStyle/>
            <a:p>
              <a:pPr algn="ctr"/>
              <a:r>
                <a:rPr lang="fr-FR" sz="1400" b="1" dirty="0">
                  <a:solidFill>
                    <a:srgbClr val="ED7D31"/>
                  </a:solidFill>
                </a:rPr>
                <a:t>Lien avec les autres</a:t>
              </a:r>
            </a:p>
          </p:txBody>
        </p:sp>
      </p:grpSp>
      <p:grpSp>
        <p:nvGrpSpPr>
          <p:cNvPr id="49" name="Groupe 48">
            <a:extLst>
              <a:ext uri="{FF2B5EF4-FFF2-40B4-BE49-F238E27FC236}">
                <a16:creationId xmlns:a16="http://schemas.microsoft.com/office/drawing/2014/main" id="{0447E631-93C0-8CFB-B6FC-62E5B039ED07}"/>
              </a:ext>
            </a:extLst>
          </p:cNvPr>
          <p:cNvGrpSpPr/>
          <p:nvPr/>
        </p:nvGrpSpPr>
        <p:grpSpPr>
          <a:xfrm>
            <a:off x="2884300" y="6921601"/>
            <a:ext cx="1830544" cy="1624070"/>
            <a:chOff x="2837626" y="3862428"/>
            <a:chExt cx="2054481" cy="1601745"/>
          </a:xfrm>
        </p:grpSpPr>
        <p:pic>
          <p:nvPicPr>
            <p:cNvPr id="50" name="Graphique 49" descr="Aspiration avec un remplissage uni">
              <a:extLst>
                <a:ext uri="{FF2B5EF4-FFF2-40B4-BE49-F238E27FC236}">
                  <a16:creationId xmlns:a16="http://schemas.microsoft.com/office/drawing/2014/main" id="{B78BDA72-3C4E-4B86-2686-AF6555272178}"/>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3291263" y="3862428"/>
              <a:ext cx="1163723" cy="940256"/>
            </a:xfrm>
            <a:prstGeom prst="rect">
              <a:avLst/>
            </a:prstGeom>
          </p:spPr>
        </p:pic>
        <p:sp>
          <p:nvSpPr>
            <p:cNvPr id="51" name="ZoneTexte 50">
              <a:extLst>
                <a:ext uri="{FF2B5EF4-FFF2-40B4-BE49-F238E27FC236}">
                  <a16:creationId xmlns:a16="http://schemas.microsoft.com/office/drawing/2014/main" id="{85F95DFA-8E34-7C1F-A141-D1BBE56AE199}"/>
                </a:ext>
              </a:extLst>
            </p:cNvPr>
            <p:cNvSpPr txBox="1"/>
            <p:nvPr/>
          </p:nvSpPr>
          <p:spPr>
            <a:xfrm>
              <a:off x="2837626" y="4735663"/>
              <a:ext cx="2054481" cy="728510"/>
            </a:xfrm>
            <a:prstGeom prst="rect">
              <a:avLst/>
            </a:prstGeom>
            <a:noFill/>
          </p:spPr>
          <p:txBody>
            <a:bodyPr wrap="square">
              <a:spAutoFit/>
            </a:bodyPr>
            <a:lstStyle/>
            <a:p>
              <a:pPr algn="ctr"/>
              <a:r>
                <a:rPr lang="fr-FR" sz="1400" b="1" dirty="0">
                  <a:solidFill>
                    <a:srgbClr val="ED7D31"/>
                  </a:solidFill>
                </a:rPr>
                <a:t>Développement de compétences et réalisation de soi</a:t>
              </a:r>
            </a:p>
          </p:txBody>
        </p:sp>
      </p:grpSp>
      <p:grpSp>
        <p:nvGrpSpPr>
          <p:cNvPr id="52" name="Groupe 51">
            <a:extLst>
              <a:ext uri="{FF2B5EF4-FFF2-40B4-BE49-F238E27FC236}">
                <a16:creationId xmlns:a16="http://schemas.microsoft.com/office/drawing/2014/main" id="{46041A7E-7485-FEF3-64E0-59DA92A31B96}"/>
              </a:ext>
            </a:extLst>
          </p:cNvPr>
          <p:cNvGrpSpPr/>
          <p:nvPr/>
        </p:nvGrpSpPr>
        <p:grpSpPr>
          <a:xfrm>
            <a:off x="1699227" y="7052418"/>
            <a:ext cx="1378673" cy="1790005"/>
            <a:chOff x="6088603" y="4144848"/>
            <a:chExt cx="1000589" cy="1300650"/>
          </a:xfrm>
        </p:grpSpPr>
        <p:pic>
          <p:nvPicPr>
            <p:cNvPr id="61" name="Graphique 60" descr="Globe terrestre : Europe et Afrique avec un remplissage uni">
              <a:extLst>
                <a:ext uri="{FF2B5EF4-FFF2-40B4-BE49-F238E27FC236}">
                  <a16:creationId xmlns:a16="http://schemas.microsoft.com/office/drawing/2014/main" id="{654E44FE-CB5D-4F35-A1B2-50EBB06CBD0F}"/>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278977" y="4144848"/>
              <a:ext cx="643205" cy="643205"/>
            </a:xfrm>
            <a:prstGeom prst="rect">
              <a:avLst/>
            </a:prstGeom>
          </p:spPr>
        </p:pic>
        <p:sp>
          <p:nvSpPr>
            <p:cNvPr id="62" name="ZoneTexte 61">
              <a:extLst>
                <a:ext uri="{FF2B5EF4-FFF2-40B4-BE49-F238E27FC236}">
                  <a16:creationId xmlns:a16="http://schemas.microsoft.com/office/drawing/2014/main" id="{5C5A29E4-BDD9-CBA6-0DFE-776016934A6B}"/>
                </a:ext>
              </a:extLst>
            </p:cNvPr>
            <p:cNvSpPr txBox="1"/>
            <p:nvPr/>
          </p:nvSpPr>
          <p:spPr>
            <a:xfrm>
              <a:off x="6088603" y="4716985"/>
              <a:ext cx="1000589" cy="728513"/>
            </a:xfrm>
            <a:prstGeom prst="rect">
              <a:avLst/>
            </a:prstGeom>
            <a:noFill/>
          </p:spPr>
          <p:txBody>
            <a:bodyPr wrap="square">
              <a:spAutoFit/>
            </a:bodyPr>
            <a:lstStyle/>
            <a:p>
              <a:pPr algn="ctr"/>
              <a:r>
                <a:rPr lang="fr-FR" sz="1400" b="1" dirty="0">
                  <a:solidFill>
                    <a:srgbClr val="ED7D31"/>
                  </a:solidFill>
                </a:rPr>
                <a:t>Impact positif et sens</a:t>
              </a:r>
            </a:p>
          </p:txBody>
        </p:sp>
      </p:grpSp>
      <p:grpSp>
        <p:nvGrpSpPr>
          <p:cNvPr id="3" name="Groupe 2">
            <a:extLst>
              <a:ext uri="{FF2B5EF4-FFF2-40B4-BE49-F238E27FC236}">
                <a16:creationId xmlns:a16="http://schemas.microsoft.com/office/drawing/2014/main" id="{F1C3C6A1-0ACF-0304-4634-EB37B532CDF4}"/>
              </a:ext>
            </a:extLst>
          </p:cNvPr>
          <p:cNvGrpSpPr/>
          <p:nvPr/>
        </p:nvGrpSpPr>
        <p:grpSpPr>
          <a:xfrm>
            <a:off x="6743173" y="7051730"/>
            <a:ext cx="1898567" cy="1809186"/>
            <a:chOff x="6743173" y="4396697"/>
            <a:chExt cx="1898567" cy="1809186"/>
          </a:xfrm>
        </p:grpSpPr>
        <p:grpSp>
          <p:nvGrpSpPr>
            <p:cNvPr id="68" name="Groupe 67">
              <a:extLst>
                <a:ext uri="{FF2B5EF4-FFF2-40B4-BE49-F238E27FC236}">
                  <a16:creationId xmlns:a16="http://schemas.microsoft.com/office/drawing/2014/main" id="{E6F71E14-A331-DC54-E6D4-929506FA1435}"/>
                </a:ext>
              </a:extLst>
            </p:cNvPr>
            <p:cNvGrpSpPr/>
            <p:nvPr/>
          </p:nvGrpSpPr>
          <p:grpSpPr>
            <a:xfrm>
              <a:off x="6756008" y="4396697"/>
              <a:ext cx="1844394" cy="1068303"/>
              <a:chOff x="626984" y="628802"/>
              <a:chExt cx="5131851" cy="2356880"/>
            </a:xfrm>
          </p:grpSpPr>
          <p:cxnSp>
            <p:nvCxnSpPr>
              <p:cNvPr id="69" name="Connecteur droit avec flèche 68">
                <a:extLst>
                  <a:ext uri="{FF2B5EF4-FFF2-40B4-BE49-F238E27FC236}">
                    <a16:creationId xmlns:a16="http://schemas.microsoft.com/office/drawing/2014/main" id="{38A66610-181F-E4DB-3D45-E5A81EA8CDE8}"/>
                  </a:ext>
                </a:extLst>
              </p:cNvPr>
              <p:cNvCxnSpPr>
                <a:cxnSpLocks/>
              </p:cNvCxnSpPr>
              <p:nvPr/>
            </p:nvCxnSpPr>
            <p:spPr>
              <a:xfrm flipV="1">
                <a:off x="626984" y="1565043"/>
                <a:ext cx="5131851" cy="1210667"/>
              </a:xfrm>
              <a:prstGeom prst="straightConnector1">
                <a:avLst/>
              </a:prstGeom>
              <a:ln w="57150">
                <a:prstDash val="dash"/>
                <a:tailEnd type="triangle"/>
              </a:ln>
            </p:spPr>
            <p:style>
              <a:lnRef idx="1">
                <a:schemeClr val="accent1"/>
              </a:lnRef>
              <a:fillRef idx="0">
                <a:schemeClr val="accent1"/>
              </a:fillRef>
              <a:effectRef idx="0">
                <a:schemeClr val="accent1"/>
              </a:effectRef>
              <a:fontRef idx="minor">
                <a:schemeClr val="tx1"/>
              </a:fontRef>
            </p:style>
          </p:cxnSp>
          <p:pic>
            <p:nvPicPr>
              <p:cNvPr id="70" name="Graphique 69" descr="Personne confuse avec un remplissage uni">
                <a:extLst>
                  <a:ext uri="{FF2B5EF4-FFF2-40B4-BE49-F238E27FC236}">
                    <a16:creationId xmlns:a16="http://schemas.microsoft.com/office/drawing/2014/main" id="{F241AE8C-CD78-75CF-3F37-67C09133D4CB}"/>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604967" y="1805997"/>
                <a:ext cx="940978" cy="940978"/>
              </a:xfrm>
              <a:prstGeom prst="rect">
                <a:avLst/>
              </a:prstGeom>
            </p:spPr>
          </p:pic>
          <p:pic>
            <p:nvPicPr>
              <p:cNvPr id="71" name="Graphique 70" descr="Réussite du groupe avec un remplissage uni">
                <a:extLst>
                  <a:ext uri="{FF2B5EF4-FFF2-40B4-BE49-F238E27FC236}">
                    <a16:creationId xmlns:a16="http://schemas.microsoft.com/office/drawing/2014/main" id="{6D2C9844-43EF-A1ED-FB4C-0D9351837B5F}"/>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4228767" y="628802"/>
                <a:ext cx="1492354" cy="1492354"/>
              </a:xfrm>
              <a:prstGeom prst="rect">
                <a:avLst/>
              </a:prstGeom>
            </p:spPr>
          </p:pic>
          <p:pic>
            <p:nvPicPr>
              <p:cNvPr id="72" name="Graphique 71" descr="Personne confuse avec un remplissage uni">
                <a:extLst>
                  <a:ext uri="{FF2B5EF4-FFF2-40B4-BE49-F238E27FC236}">
                    <a16:creationId xmlns:a16="http://schemas.microsoft.com/office/drawing/2014/main" id="{D1AAD487-9499-B7F8-7234-2C74E6658A49}"/>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2479567" y="1609677"/>
                <a:ext cx="940978" cy="940978"/>
              </a:xfrm>
              <a:prstGeom prst="rect">
                <a:avLst/>
              </a:prstGeom>
            </p:spPr>
          </p:pic>
          <p:pic>
            <p:nvPicPr>
              <p:cNvPr id="73" name="Graphique 72" descr="Personne confuse avec un remplissage uni">
                <a:extLst>
                  <a:ext uri="{FF2B5EF4-FFF2-40B4-BE49-F238E27FC236}">
                    <a16:creationId xmlns:a16="http://schemas.microsoft.com/office/drawing/2014/main" id="{33CB42A5-A623-BF24-4AB0-3C65E9A21940}"/>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656694" y="2044704"/>
                <a:ext cx="940978" cy="940978"/>
              </a:xfrm>
              <a:prstGeom prst="rect">
                <a:avLst/>
              </a:prstGeom>
            </p:spPr>
          </p:pic>
          <p:pic>
            <p:nvPicPr>
              <p:cNvPr id="74" name="Graphique 73" descr="Personne confuse avec un remplissage uni">
                <a:extLst>
                  <a:ext uri="{FF2B5EF4-FFF2-40B4-BE49-F238E27FC236}">
                    <a16:creationId xmlns:a16="http://schemas.microsoft.com/office/drawing/2014/main" id="{BEEE41FB-DB2A-F8A8-83DC-959A260BE215}"/>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3293254" y="1399398"/>
                <a:ext cx="940978" cy="940978"/>
              </a:xfrm>
              <a:prstGeom prst="rect">
                <a:avLst/>
              </a:prstGeom>
            </p:spPr>
          </p:pic>
          <p:pic>
            <p:nvPicPr>
              <p:cNvPr id="76" name="Graphique 75" descr="Personne confuse avec un remplissage uni">
                <a:extLst>
                  <a:ext uri="{FF2B5EF4-FFF2-40B4-BE49-F238E27FC236}">
                    <a16:creationId xmlns:a16="http://schemas.microsoft.com/office/drawing/2014/main" id="{69A7EE2A-2F3C-3CC7-9E35-FD72A673F05B}"/>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4234476" y="1189119"/>
                <a:ext cx="940978" cy="940978"/>
              </a:xfrm>
              <a:prstGeom prst="rect">
                <a:avLst/>
              </a:prstGeom>
            </p:spPr>
          </p:pic>
        </p:grpSp>
        <p:sp>
          <p:nvSpPr>
            <p:cNvPr id="77" name="Rectangle 76">
              <a:extLst>
                <a:ext uri="{FF2B5EF4-FFF2-40B4-BE49-F238E27FC236}">
                  <a16:creationId xmlns:a16="http://schemas.microsoft.com/office/drawing/2014/main" id="{7A77FFB6-1E93-4CCA-5A10-3D9C17979830}"/>
                </a:ext>
              </a:extLst>
            </p:cNvPr>
            <p:cNvSpPr/>
            <p:nvPr/>
          </p:nvSpPr>
          <p:spPr>
            <a:xfrm>
              <a:off x="6743173" y="5637408"/>
              <a:ext cx="1898567"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à l’intégration</a:t>
              </a:r>
              <a:endParaRPr lang="fr-FR" sz="1400" dirty="0">
                <a:solidFill>
                  <a:schemeClr val="tx1"/>
                </a:solidFill>
              </a:endParaRPr>
            </a:p>
          </p:txBody>
        </p:sp>
      </p:grpSp>
    </p:spTree>
    <p:extLst>
      <p:ext uri="{BB962C8B-B14F-4D97-AF65-F5344CB8AC3E}">
        <p14:creationId xmlns:p14="http://schemas.microsoft.com/office/powerpoint/2010/main" val="2396322631"/>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Dans mon service, nous sommes plusieurs équipes et avons mis en place des </a:t>
            </a:r>
            <a:r>
              <a:rPr lang="fr-FR" sz="1400" b="1" dirty="0"/>
              <a:t>Communautés transverses</a:t>
            </a:r>
            <a:r>
              <a:rPr lang="fr-FR" sz="1400" dirty="0"/>
              <a:t> pour éviter les silos, trancher sur certaines questions opérationnelles en communicant directement. Cela décharge aussi notre directeur de cette coordination</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Pour des chaînes de commandement claires, il est parfois nécessaire de de diviser de grands groupes en sous ensemble officiels (services, équipes, …) . Cependant, cela peut créer des silos et ralentir certaines opérations. On peut alors compenser en créant des </a:t>
            </a:r>
            <a:r>
              <a:rPr lang="fr-FR" sz="1400" b="1" dirty="0">
                <a:solidFill>
                  <a:schemeClr val="bg1"/>
                </a:solidFill>
              </a:rPr>
              <a:t>Communautés transverses.</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4 : A ma prise de poste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847539" y="986738"/>
              <a:ext cx="824463" cy="621162"/>
            </a:xfrm>
            <a:prstGeom prst="rect">
              <a:avLst/>
            </a:prstGeom>
            <a:noFill/>
          </p:spPr>
          <p:txBody>
            <a:bodyPr wrap="square">
              <a:spAutoFit/>
            </a:bodyPr>
            <a:lstStyle/>
            <a:p>
              <a:pPr algn="r"/>
              <a:r>
                <a:rPr lang="fr-FR" b="1" dirty="0">
                  <a:solidFill>
                    <a:schemeClr val="tx1"/>
                  </a:solidFill>
                </a:rPr>
                <a:t>Ep 5: </a:t>
              </a:r>
            </a:p>
            <a:p>
              <a:pPr algn="r"/>
              <a:r>
                <a:rPr lang="fr-FR" b="1" dirty="0">
                  <a:solidFill>
                    <a:schemeClr val="tx1"/>
                  </a:solidFill>
                </a:rPr>
                <a:t>Pour que je continue à apprendre</a:t>
              </a: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4" name="Groupe 3">
            <a:extLst>
              <a:ext uri="{FF2B5EF4-FFF2-40B4-BE49-F238E27FC236}">
                <a16:creationId xmlns:a16="http://schemas.microsoft.com/office/drawing/2014/main" id="{E76AFE27-61C4-51CF-B6E4-F0B3C93781D8}"/>
              </a:ext>
            </a:extLst>
          </p:cNvPr>
          <p:cNvGrpSpPr/>
          <p:nvPr/>
        </p:nvGrpSpPr>
        <p:grpSpPr>
          <a:xfrm>
            <a:off x="7494985" y="7202260"/>
            <a:ext cx="1537788" cy="1553228"/>
            <a:chOff x="7494985" y="7202260"/>
            <a:chExt cx="1537788" cy="1553228"/>
          </a:xfrm>
        </p:grpSpPr>
        <p:sp>
          <p:nvSpPr>
            <p:cNvPr id="77" name="Rectangle 76">
              <a:extLst>
                <a:ext uri="{FF2B5EF4-FFF2-40B4-BE49-F238E27FC236}">
                  <a16:creationId xmlns:a16="http://schemas.microsoft.com/office/drawing/2014/main" id="{7A77FFB6-1E93-4CCA-5A10-3D9C17979830}"/>
                </a:ext>
              </a:extLst>
            </p:cNvPr>
            <p:cNvSpPr/>
            <p:nvPr/>
          </p:nvSpPr>
          <p:spPr>
            <a:xfrm>
              <a:off x="7494985" y="8187013"/>
              <a:ext cx="1537788"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Décharge du management transverse</a:t>
              </a:r>
              <a:endParaRPr lang="fr-FR" sz="1400" dirty="0">
                <a:solidFill>
                  <a:schemeClr val="tx1"/>
                </a:solidFill>
              </a:endParaRPr>
            </a:p>
          </p:txBody>
        </p:sp>
        <p:grpSp>
          <p:nvGrpSpPr>
            <p:cNvPr id="55" name="Groupe 54">
              <a:extLst>
                <a:ext uri="{FF2B5EF4-FFF2-40B4-BE49-F238E27FC236}">
                  <a16:creationId xmlns:a16="http://schemas.microsoft.com/office/drawing/2014/main" id="{5C1AD04F-23B9-F083-CA7A-3ADFB1FE46F5}"/>
                </a:ext>
              </a:extLst>
            </p:cNvPr>
            <p:cNvGrpSpPr/>
            <p:nvPr/>
          </p:nvGrpSpPr>
          <p:grpSpPr>
            <a:xfrm>
              <a:off x="7697323" y="7202260"/>
              <a:ext cx="1084112" cy="906274"/>
              <a:chOff x="1734369" y="510800"/>
              <a:chExt cx="2873060" cy="2423359"/>
            </a:xfrm>
            <a:solidFill>
              <a:schemeClr val="tx1"/>
            </a:solidFill>
          </p:grpSpPr>
          <p:pic>
            <p:nvPicPr>
              <p:cNvPr id="56" name="Graphique 55" descr="Avertissement avec un remplissage uni">
                <a:extLst>
                  <a:ext uri="{FF2B5EF4-FFF2-40B4-BE49-F238E27FC236}">
                    <a16:creationId xmlns:a16="http://schemas.microsoft.com/office/drawing/2014/main" id="{082F38AC-93A7-678A-D8A8-8BDD7670B06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734369" y="1978134"/>
                <a:ext cx="914400" cy="914400"/>
              </a:xfrm>
              <a:prstGeom prst="rect">
                <a:avLst/>
              </a:prstGeom>
            </p:spPr>
          </p:pic>
          <p:pic>
            <p:nvPicPr>
              <p:cNvPr id="57" name="Graphique 56" descr="Chat avec un remplissage uni">
                <a:extLst>
                  <a:ext uri="{FF2B5EF4-FFF2-40B4-BE49-F238E27FC236}">
                    <a16:creationId xmlns:a16="http://schemas.microsoft.com/office/drawing/2014/main" id="{598D4103-ACF8-44B8-BC84-20DAFE414651}"/>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713699" y="1562559"/>
                <a:ext cx="914400" cy="914400"/>
              </a:xfrm>
              <a:prstGeom prst="rect">
                <a:avLst/>
              </a:prstGeom>
            </p:spPr>
          </p:pic>
          <p:pic>
            <p:nvPicPr>
              <p:cNvPr id="58" name="Graphique 57" descr="Liste de contrôle avec un remplissage uni">
                <a:extLst>
                  <a:ext uri="{FF2B5EF4-FFF2-40B4-BE49-F238E27FC236}">
                    <a16:creationId xmlns:a16="http://schemas.microsoft.com/office/drawing/2014/main" id="{379A79F1-4380-AAF8-4F26-58927CE43ABD}"/>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3693029" y="2019759"/>
                <a:ext cx="914400" cy="914400"/>
              </a:xfrm>
              <a:prstGeom prst="rect">
                <a:avLst/>
              </a:prstGeom>
            </p:spPr>
          </p:pic>
          <p:pic>
            <p:nvPicPr>
              <p:cNvPr id="59" name="Graphique 58" descr="Synchronisation avec le cloud avec un remplissage uni">
                <a:extLst>
                  <a:ext uri="{FF2B5EF4-FFF2-40B4-BE49-F238E27FC236}">
                    <a16:creationId xmlns:a16="http://schemas.microsoft.com/office/drawing/2014/main" id="{69D6E171-A574-F5C5-1C2F-A074CDCCA309}"/>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2778630" y="510800"/>
                <a:ext cx="914400" cy="914400"/>
              </a:xfrm>
              <a:prstGeom prst="rect">
                <a:avLst/>
              </a:prstGeom>
            </p:spPr>
          </p:pic>
        </p:grpSp>
      </p:grpSp>
      <p:grpSp>
        <p:nvGrpSpPr>
          <p:cNvPr id="3" name="Groupe 2">
            <a:extLst>
              <a:ext uri="{FF2B5EF4-FFF2-40B4-BE49-F238E27FC236}">
                <a16:creationId xmlns:a16="http://schemas.microsoft.com/office/drawing/2014/main" id="{E33A848E-66C3-AFAA-A3A3-EBC30331EAF1}"/>
              </a:ext>
            </a:extLst>
          </p:cNvPr>
          <p:cNvGrpSpPr/>
          <p:nvPr/>
        </p:nvGrpSpPr>
        <p:grpSpPr>
          <a:xfrm>
            <a:off x="5823404" y="7111413"/>
            <a:ext cx="1537788" cy="1644074"/>
            <a:chOff x="5823404" y="7111413"/>
            <a:chExt cx="1537788" cy="1644074"/>
          </a:xfrm>
        </p:grpSpPr>
        <p:grpSp>
          <p:nvGrpSpPr>
            <p:cNvPr id="64" name="Groupe 63">
              <a:extLst>
                <a:ext uri="{FF2B5EF4-FFF2-40B4-BE49-F238E27FC236}">
                  <a16:creationId xmlns:a16="http://schemas.microsoft.com/office/drawing/2014/main" id="{AC115708-238D-0A1E-DD3F-603C376136BC}"/>
                </a:ext>
              </a:extLst>
            </p:cNvPr>
            <p:cNvGrpSpPr/>
            <p:nvPr/>
          </p:nvGrpSpPr>
          <p:grpSpPr>
            <a:xfrm>
              <a:off x="6070445" y="7111413"/>
              <a:ext cx="1076385" cy="950521"/>
              <a:chOff x="7967905" y="574228"/>
              <a:chExt cx="2945861" cy="2601395"/>
            </a:xfrm>
            <a:solidFill>
              <a:schemeClr val="tx1"/>
            </a:solidFill>
          </p:grpSpPr>
          <p:sp>
            <p:nvSpPr>
              <p:cNvPr id="65" name="Ellipse 64">
                <a:extLst>
                  <a:ext uri="{FF2B5EF4-FFF2-40B4-BE49-F238E27FC236}">
                    <a16:creationId xmlns:a16="http://schemas.microsoft.com/office/drawing/2014/main" id="{951CA0FD-8B91-6E84-64DB-FEFC15D7397D}"/>
                  </a:ext>
                </a:extLst>
              </p:cNvPr>
              <p:cNvSpPr/>
              <p:nvPr/>
            </p:nvSpPr>
            <p:spPr>
              <a:xfrm>
                <a:off x="8454825" y="965640"/>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66" name="Graphique 65" descr="Dossier ouvert avec un remplissage uni">
                <a:extLst>
                  <a:ext uri="{FF2B5EF4-FFF2-40B4-BE49-F238E27FC236}">
                    <a16:creationId xmlns:a16="http://schemas.microsoft.com/office/drawing/2014/main" id="{F1E79D3F-CB7F-DA9F-37CB-990A04932E0E}"/>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7967905" y="1044764"/>
                <a:ext cx="914400" cy="914400"/>
              </a:xfrm>
              <a:prstGeom prst="rect">
                <a:avLst/>
              </a:prstGeom>
            </p:spPr>
          </p:pic>
          <p:pic>
            <p:nvPicPr>
              <p:cNvPr id="67" name="Graphique 66" descr="Diagramme de Gantt avec un remplissage uni">
                <a:extLst>
                  <a:ext uri="{FF2B5EF4-FFF2-40B4-BE49-F238E27FC236}">
                    <a16:creationId xmlns:a16="http://schemas.microsoft.com/office/drawing/2014/main" id="{03375A81-F73C-6125-656C-F0BDD900C117}"/>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8454079" y="2190978"/>
                <a:ext cx="914400" cy="914400"/>
              </a:xfrm>
              <a:prstGeom prst="rect">
                <a:avLst/>
              </a:prstGeom>
            </p:spPr>
          </p:pic>
          <p:pic>
            <p:nvPicPr>
              <p:cNvPr id="78" name="Graphique 77" descr="Calendrier mensuel avec un remplissage uni">
                <a:extLst>
                  <a:ext uri="{FF2B5EF4-FFF2-40B4-BE49-F238E27FC236}">
                    <a16:creationId xmlns:a16="http://schemas.microsoft.com/office/drawing/2014/main" id="{20EA5B3C-3A76-1984-CC94-00F0BD9DED26}"/>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9597330" y="2261223"/>
                <a:ext cx="914400" cy="914400"/>
              </a:xfrm>
              <a:prstGeom prst="rect">
                <a:avLst/>
              </a:prstGeom>
            </p:spPr>
          </p:pic>
          <p:pic>
            <p:nvPicPr>
              <p:cNvPr id="79" name="Graphique 78" descr="Priorités avec un remplissage uni">
                <a:extLst>
                  <a:ext uri="{FF2B5EF4-FFF2-40B4-BE49-F238E27FC236}">
                    <a16:creationId xmlns:a16="http://schemas.microsoft.com/office/drawing/2014/main" id="{3886C60F-F74D-DDC3-91A1-5E40F9988F79}"/>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flipV="1">
                <a:off x="8952575" y="574228"/>
                <a:ext cx="914400" cy="1089697"/>
              </a:xfrm>
              <a:prstGeom prst="rect">
                <a:avLst/>
              </a:prstGeom>
            </p:spPr>
          </p:pic>
          <p:pic>
            <p:nvPicPr>
              <p:cNvPr id="80" name="Graphique 79" descr="Graphique à barres avec tendance à la baisse avec un remplissage uni">
                <a:extLst>
                  <a:ext uri="{FF2B5EF4-FFF2-40B4-BE49-F238E27FC236}">
                    <a16:creationId xmlns:a16="http://schemas.microsoft.com/office/drawing/2014/main" id="{780EFB40-BE36-FAA7-12E0-9931E863E1E0}"/>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9999367" y="992535"/>
                <a:ext cx="914399" cy="914399"/>
              </a:xfrm>
              <a:prstGeom prst="rect">
                <a:avLst/>
              </a:prstGeom>
            </p:spPr>
          </p:pic>
        </p:grpSp>
        <p:sp>
          <p:nvSpPr>
            <p:cNvPr id="86" name="Rectangle 85">
              <a:extLst>
                <a:ext uri="{FF2B5EF4-FFF2-40B4-BE49-F238E27FC236}">
                  <a16:creationId xmlns:a16="http://schemas.microsoft.com/office/drawing/2014/main" id="{D8935DF0-EF39-8A09-CAFF-64BCB0FD5544}"/>
                </a:ext>
              </a:extLst>
            </p:cNvPr>
            <p:cNvSpPr/>
            <p:nvPr/>
          </p:nvSpPr>
          <p:spPr>
            <a:xfrm>
              <a:off x="5823404" y="8187012"/>
              <a:ext cx="1537788"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Soutien aux projets opérationnels</a:t>
              </a:r>
              <a:endParaRPr lang="fr-FR" sz="1400" dirty="0">
                <a:solidFill>
                  <a:schemeClr val="tx1"/>
                </a:solidFill>
              </a:endParaRPr>
            </a:p>
          </p:txBody>
        </p:sp>
      </p:grpSp>
      <p:grpSp>
        <p:nvGrpSpPr>
          <p:cNvPr id="87" name="Groupe 86">
            <a:extLst>
              <a:ext uri="{FF2B5EF4-FFF2-40B4-BE49-F238E27FC236}">
                <a16:creationId xmlns:a16="http://schemas.microsoft.com/office/drawing/2014/main" id="{DAA00261-E996-6CA2-8435-8C69A272290F}"/>
              </a:ext>
            </a:extLst>
          </p:cNvPr>
          <p:cNvGrpSpPr/>
          <p:nvPr/>
        </p:nvGrpSpPr>
        <p:grpSpPr>
          <a:xfrm>
            <a:off x="2528532" y="7093203"/>
            <a:ext cx="1384961" cy="1427529"/>
            <a:chOff x="650968" y="4189903"/>
            <a:chExt cx="772226" cy="796896"/>
          </a:xfrm>
        </p:grpSpPr>
        <p:sp>
          <p:nvSpPr>
            <p:cNvPr id="88" name="ZoneTexte 87">
              <a:extLst>
                <a:ext uri="{FF2B5EF4-FFF2-40B4-BE49-F238E27FC236}">
                  <a16:creationId xmlns:a16="http://schemas.microsoft.com/office/drawing/2014/main" id="{30123372-F1CD-7085-84AD-1A3E135057E1}"/>
                </a:ext>
              </a:extLst>
            </p:cNvPr>
            <p:cNvSpPr txBox="1"/>
            <p:nvPr/>
          </p:nvSpPr>
          <p:spPr>
            <a:xfrm>
              <a:off x="650968" y="4694720"/>
              <a:ext cx="772226" cy="292079"/>
            </a:xfrm>
            <a:prstGeom prst="rect">
              <a:avLst/>
            </a:prstGeom>
            <a:noFill/>
          </p:spPr>
          <p:txBody>
            <a:bodyPr wrap="square">
              <a:spAutoFit/>
            </a:bodyPr>
            <a:lstStyle/>
            <a:p>
              <a:pPr algn="ctr"/>
              <a:r>
                <a:rPr lang="fr-FR" sz="1400" b="1" dirty="0">
                  <a:solidFill>
                    <a:srgbClr val="ED7D31"/>
                  </a:solidFill>
                </a:rPr>
                <a:t>Liberté et temps libre</a:t>
              </a:r>
            </a:p>
          </p:txBody>
        </p:sp>
        <p:pic>
          <p:nvPicPr>
            <p:cNvPr id="89" name="Graphique 88" descr="Sablier plein avec un remplissage uni">
              <a:extLst>
                <a:ext uri="{FF2B5EF4-FFF2-40B4-BE49-F238E27FC236}">
                  <a16:creationId xmlns:a16="http://schemas.microsoft.com/office/drawing/2014/main" id="{376CD320-E638-5056-384C-32AB352105B4}"/>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863793" y="4189903"/>
              <a:ext cx="384459" cy="384459"/>
            </a:xfrm>
            <a:prstGeom prst="rect">
              <a:avLst/>
            </a:prstGeom>
          </p:spPr>
        </p:pic>
      </p:grpSp>
      <p:grpSp>
        <p:nvGrpSpPr>
          <p:cNvPr id="90" name="Groupe 89">
            <a:extLst>
              <a:ext uri="{FF2B5EF4-FFF2-40B4-BE49-F238E27FC236}">
                <a16:creationId xmlns:a16="http://schemas.microsoft.com/office/drawing/2014/main" id="{C20AD42B-E0F0-2926-E543-B29E2969E756}"/>
              </a:ext>
            </a:extLst>
          </p:cNvPr>
          <p:cNvGrpSpPr/>
          <p:nvPr/>
        </p:nvGrpSpPr>
        <p:grpSpPr>
          <a:xfrm>
            <a:off x="986551" y="7020248"/>
            <a:ext cx="1732017" cy="1915594"/>
            <a:chOff x="9261999" y="4256738"/>
            <a:chExt cx="965736" cy="1069351"/>
          </a:xfrm>
        </p:grpSpPr>
        <p:sp>
          <p:nvSpPr>
            <p:cNvPr id="91" name="ZoneTexte 90">
              <a:extLst>
                <a:ext uri="{FF2B5EF4-FFF2-40B4-BE49-F238E27FC236}">
                  <a16:creationId xmlns:a16="http://schemas.microsoft.com/office/drawing/2014/main" id="{3B565AB6-0858-015E-E50D-4AE0AAB3B127}"/>
                </a:ext>
              </a:extLst>
            </p:cNvPr>
            <p:cNvSpPr txBox="1"/>
            <p:nvPr/>
          </p:nvSpPr>
          <p:spPr>
            <a:xfrm>
              <a:off x="9261999" y="4793473"/>
              <a:ext cx="965736" cy="532616"/>
            </a:xfrm>
            <a:prstGeom prst="rect">
              <a:avLst/>
            </a:prstGeom>
            <a:noFill/>
          </p:spPr>
          <p:txBody>
            <a:bodyPr wrap="square">
              <a:spAutoFit/>
            </a:bodyPr>
            <a:lstStyle/>
            <a:p>
              <a:pPr algn="ctr"/>
              <a:r>
                <a:rPr lang="fr-FR" sz="1400" b="1" dirty="0">
                  <a:solidFill>
                    <a:srgbClr val="ED7D31"/>
                  </a:solidFill>
                </a:rPr>
                <a:t>Satisfaction des obligations et responsabilités existantes</a:t>
              </a:r>
            </a:p>
          </p:txBody>
        </p:sp>
        <p:pic>
          <p:nvPicPr>
            <p:cNvPr id="92" name="Graphique 91" descr="Presse-papiers vérifié avec un remplissage uni">
              <a:extLst>
                <a:ext uri="{FF2B5EF4-FFF2-40B4-BE49-F238E27FC236}">
                  <a16:creationId xmlns:a16="http://schemas.microsoft.com/office/drawing/2014/main" id="{248CFB54-A11E-6986-3964-80C0D6B3FCD1}"/>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9524604" y="4256738"/>
              <a:ext cx="491025" cy="491024"/>
            </a:xfrm>
            <a:prstGeom prst="rect">
              <a:avLst/>
            </a:prstGeom>
          </p:spPr>
        </p:pic>
      </p:grpSp>
    </p:spTree>
    <p:extLst>
      <p:ext uri="{BB962C8B-B14F-4D97-AF65-F5344CB8AC3E}">
        <p14:creationId xmlns:p14="http://schemas.microsoft.com/office/powerpoint/2010/main" val="2335175464"/>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Dans mon service, je fais partie d’une équipe pluridisciplinaire que je vois au quotidien. Cependant, je suis isolé dans mon expertise. Pour rester « à jour » dans mon métier, je continue donc à me former avec des pairs dans une </a:t>
            </a:r>
            <a:r>
              <a:rPr lang="fr-FR" sz="1400" b="1" dirty="0"/>
              <a:t>Communauté de pratique</a:t>
            </a:r>
            <a:r>
              <a:rPr lang="fr-FR" sz="1400" dirty="0"/>
              <a:t> autour de mon métier.</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Certains métiers doivent suivre une mise à jour régulière (technologies, normes, pratiques, tendances, …) difficile à équilibrer avec l’effort opérationnel. Lorsque ces métiers sont disséminés dans l’entreprise, il peut être intéressant de les réunir via des </a:t>
            </a:r>
            <a:r>
              <a:rPr lang="fr-FR" sz="1400" b="1" dirty="0">
                <a:solidFill>
                  <a:schemeClr val="bg1"/>
                </a:solidFill>
              </a:rPr>
              <a:t>Communautés de pratique</a:t>
            </a:r>
            <a:r>
              <a:rPr lang="fr-FR" sz="1400" dirty="0">
                <a:solidFill>
                  <a:schemeClr val="bg1"/>
                </a:solidFill>
              </a:rPr>
              <a:t>.</a:t>
            </a:r>
            <a:endParaRPr lang="fr-FR" sz="1400" b="1" dirty="0">
              <a:solidFill>
                <a:schemeClr val="bg1"/>
              </a:solidFill>
            </a:endParaRP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5 : Pour que je continue à apprendre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901294"/>
            <a:chOff x="11670562" y="767339"/>
            <a:chExt cx="1001440" cy="983906"/>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847539" y="986738"/>
              <a:ext cx="824463" cy="764507"/>
            </a:xfrm>
            <a:prstGeom prst="rect">
              <a:avLst/>
            </a:prstGeom>
            <a:noFill/>
          </p:spPr>
          <p:txBody>
            <a:bodyPr wrap="square">
              <a:spAutoFit/>
            </a:bodyPr>
            <a:lstStyle/>
            <a:p>
              <a:pPr algn="r"/>
              <a:r>
                <a:rPr lang="fr-FR" b="1" dirty="0">
                  <a:solidFill>
                    <a:schemeClr val="tx1"/>
                  </a:solidFill>
                </a:rPr>
                <a:t>Ep 6: </a:t>
              </a:r>
            </a:p>
            <a:p>
              <a:pPr algn="r"/>
              <a:r>
                <a:rPr lang="fr-FR" b="1" dirty="0">
                  <a:solidFill>
                    <a:schemeClr val="tx1"/>
                  </a:solidFill>
                </a:rPr>
                <a:t>Quand je </a:t>
              </a:r>
              <a:r>
                <a:rPr lang="fr-FR" b="1" dirty="0"/>
                <a:t>développe des bonnes pratiques</a:t>
              </a:r>
              <a:endParaRPr lang="fr-FR" b="1" dirty="0">
                <a:solidFill>
                  <a:schemeClr val="tx1"/>
                </a:solidFill>
              </a:endParaRP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90" name="Groupe 89">
            <a:extLst>
              <a:ext uri="{FF2B5EF4-FFF2-40B4-BE49-F238E27FC236}">
                <a16:creationId xmlns:a16="http://schemas.microsoft.com/office/drawing/2014/main" id="{C20AD42B-E0F0-2926-E543-B29E2969E756}"/>
              </a:ext>
            </a:extLst>
          </p:cNvPr>
          <p:cNvGrpSpPr/>
          <p:nvPr/>
        </p:nvGrpSpPr>
        <p:grpSpPr>
          <a:xfrm>
            <a:off x="1849124" y="7011365"/>
            <a:ext cx="1732017" cy="1915594"/>
            <a:chOff x="9261999" y="4256738"/>
            <a:chExt cx="965736" cy="1069351"/>
          </a:xfrm>
        </p:grpSpPr>
        <p:sp>
          <p:nvSpPr>
            <p:cNvPr id="91" name="ZoneTexte 90">
              <a:extLst>
                <a:ext uri="{FF2B5EF4-FFF2-40B4-BE49-F238E27FC236}">
                  <a16:creationId xmlns:a16="http://schemas.microsoft.com/office/drawing/2014/main" id="{3B565AB6-0858-015E-E50D-4AE0AAB3B127}"/>
                </a:ext>
              </a:extLst>
            </p:cNvPr>
            <p:cNvSpPr txBox="1"/>
            <p:nvPr/>
          </p:nvSpPr>
          <p:spPr>
            <a:xfrm>
              <a:off x="9261999" y="4793473"/>
              <a:ext cx="965736" cy="532616"/>
            </a:xfrm>
            <a:prstGeom prst="rect">
              <a:avLst/>
            </a:prstGeom>
            <a:noFill/>
          </p:spPr>
          <p:txBody>
            <a:bodyPr wrap="square">
              <a:spAutoFit/>
            </a:bodyPr>
            <a:lstStyle/>
            <a:p>
              <a:pPr algn="ctr"/>
              <a:r>
                <a:rPr lang="fr-FR" sz="1400" b="1" dirty="0">
                  <a:solidFill>
                    <a:srgbClr val="ED7D31"/>
                  </a:solidFill>
                </a:rPr>
                <a:t>Satisfaction des obligations et responsabilités existantes</a:t>
              </a:r>
            </a:p>
          </p:txBody>
        </p:sp>
        <p:pic>
          <p:nvPicPr>
            <p:cNvPr id="92" name="Graphique 91" descr="Presse-papiers vérifié avec un remplissage uni">
              <a:extLst>
                <a:ext uri="{FF2B5EF4-FFF2-40B4-BE49-F238E27FC236}">
                  <a16:creationId xmlns:a16="http://schemas.microsoft.com/office/drawing/2014/main" id="{248CFB54-A11E-6986-3964-80C0D6B3FCD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4604" y="4256738"/>
              <a:ext cx="491025" cy="491024"/>
            </a:xfrm>
            <a:prstGeom prst="rect">
              <a:avLst/>
            </a:prstGeom>
          </p:spPr>
        </p:pic>
      </p:grpSp>
      <p:grpSp>
        <p:nvGrpSpPr>
          <p:cNvPr id="3" name="Groupe 2">
            <a:extLst>
              <a:ext uri="{FF2B5EF4-FFF2-40B4-BE49-F238E27FC236}">
                <a16:creationId xmlns:a16="http://schemas.microsoft.com/office/drawing/2014/main" id="{91D98CB7-716D-BA51-E466-E582F2267F66}"/>
              </a:ext>
            </a:extLst>
          </p:cNvPr>
          <p:cNvGrpSpPr/>
          <p:nvPr/>
        </p:nvGrpSpPr>
        <p:grpSpPr>
          <a:xfrm>
            <a:off x="6944712" y="7150077"/>
            <a:ext cx="1537788" cy="1644883"/>
            <a:chOff x="6794241" y="4546115"/>
            <a:chExt cx="1537788" cy="1644883"/>
          </a:xfrm>
        </p:grpSpPr>
        <p:sp>
          <p:nvSpPr>
            <p:cNvPr id="77" name="Rectangle 76">
              <a:extLst>
                <a:ext uri="{FF2B5EF4-FFF2-40B4-BE49-F238E27FC236}">
                  <a16:creationId xmlns:a16="http://schemas.microsoft.com/office/drawing/2014/main" id="{7A77FFB6-1E93-4CCA-5A10-3D9C17979830}"/>
                </a:ext>
              </a:extLst>
            </p:cNvPr>
            <p:cNvSpPr/>
            <p:nvPr/>
          </p:nvSpPr>
          <p:spPr>
            <a:xfrm>
              <a:off x="6794241" y="5622523"/>
              <a:ext cx="1537788"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Formation continue </a:t>
              </a:r>
              <a:endParaRPr lang="fr-FR" sz="1400" dirty="0">
                <a:solidFill>
                  <a:schemeClr val="tx1"/>
                </a:solidFill>
              </a:endParaRPr>
            </a:p>
          </p:txBody>
        </p:sp>
        <p:grpSp>
          <p:nvGrpSpPr>
            <p:cNvPr id="62" name="Groupe 61">
              <a:extLst>
                <a:ext uri="{FF2B5EF4-FFF2-40B4-BE49-F238E27FC236}">
                  <a16:creationId xmlns:a16="http://schemas.microsoft.com/office/drawing/2014/main" id="{EC23DDAB-1DB0-49CE-0AA5-4388E1326CEE}"/>
                </a:ext>
              </a:extLst>
            </p:cNvPr>
            <p:cNvGrpSpPr/>
            <p:nvPr/>
          </p:nvGrpSpPr>
          <p:grpSpPr>
            <a:xfrm>
              <a:off x="7101165" y="4546115"/>
              <a:ext cx="923940" cy="959843"/>
              <a:chOff x="1793893" y="3948469"/>
              <a:chExt cx="2716107" cy="2749848"/>
            </a:xfrm>
          </p:grpSpPr>
          <p:pic>
            <p:nvPicPr>
              <p:cNvPr id="63" name="Graphique 62" descr="Diplôme roulé avec un remplissage uni">
                <a:extLst>
                  <a:ext uri="{FF2B5EF4-FFF2-40B4-BE49-F238E27FC236}">
                    <a16:creationId xmlns:a16="http://schemas.microsoft.com/office/drawing/2014/main" id="{A5155ACE-2BE5-2991-FA41-140A76993322}"/>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976734" y="5783917"/>
                <a:ext cx="914400" cy="914400"/>
              </a:xfrm>
              <a:prstGeom prst="rect">
                <a:avLst/>
              </a:prstGeom>
            </p:spPr>
          </p:pic>
          <p:grpSp>
            <p:nvGrpSpPr>
              <p:cNvPr id="68" name="Groupe 67">
                <a:extLst>
                  <a:ext uri="{FF2B5EF4-FFF2-40B4-BE49-F238E27FC236}">
                    <a16:creationId xmlns:a16="http://schemas.microsoft.com/office/drawing/2014/main" id="{E9336A6E-1CE9-CE1F-3FDE-FB55BADF147A}"/>
                  </a:ext>
                </a:extLst>
              </p:cNvPr>
              <p:cNvGrpSpPr/>
              <p:nvPr/>
            </p:nvGrpSpPr>
            <p:grpSpPr>
              <a:xfrm>
                <a:off x="1793893" y="3948469"/>
                <a:ext cx="2716107" cy="2284168"/>
                <a:chOff x="1793893" y="3948469"/>
                <a:chExt cx="2716107" cy="2284168"/>
              </a:xfrm>
            </p:grpSpPr>
            <p:sp>
              <p:nvSpPr>
                <p:cNvPr id="69" name="Ellipse 68">
                  <a:extLst>
                    <a:ext uri="{FF2B5EF4-FFF2-40B4-BE49-F238E27FC236}">
                      <a16:creationId xmlns:a16="http://schemas.microsoft.com/office/drawing/2014/main" id="{C7328749-3751-3121-F642-EBB530333F5D}"/>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70" name="Graphique 69" descr="Transférer avec un remplissage uni">
                  <a:extLst>
                    <a:ext uri="{FF2B5EF4-FFF2-40B4-BE49-F238E27FC236}">
                      <a16:creationId xmlns:a16="http://schemas.microsoft.com/office/drawing/2014/main" id="{3D883EC6-EFCA-8E0A-0F51-78C9C815B526}"/>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979208" y="4142052"/>
                  <a:ext cx="914400" cy="914400"/>
                </a:xfrm>
                <a:prstGeom prst="rect">
                  <a:avLst/>
                </a:prstGeom>
              </p:spPr>
            </p:pic>
            <p:pic>
              <p:nvPicPr>
                <p:cNvPr id="71" name="Graphique 70" descr="Toque d'étudiant avec un remplissage uni">
                  <a:extLst>
                    <a:ext uri="{FF2B5EF4-FFF2-40B4-BE49-F238E27FC236}">
                      <a16:creationId xmlns:a16="http://schemas.microsoft.com/office/drawing/2014/main" id="{34F17203-4FB0-AA3F-A60A-B663EDF41A6C}"/>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3260713" y="3948469"/>
                  <a:ext cx="914400" cy="914400"/>
                </a:xfrm>
                <a:prstGeom prst="rect">
                  <a:avLst/>
                </a:prstGeom>
              </p:spPr>
            </p:pic>
            <p:pic>
              <p:nvPicPr>
                <p:cNvPr id="72" name="Graphique 71" descr="Idée avec un remplissage uni">
                  <a:extLst>
                    <a:ext uri="{FF2B5EF4-FFF2-40B4-BE49-F238E27FC236}">
                      <a16:creationId xmlns:a16="http://schemas.microsoft.com/office/drawing/2014/main" id="{58422DD7-2F2A-51C8-9488-BA99A6DA1ADA}"/>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793893" y="5264448"/>
                  <a:ext cx="914400" cy="914400"/>
                </a:xfrm>
                <a:prstGeom prst="rect">
                  <a:avLst/>
                </a:prstGeom>
              </p:spPr>
            </p:pic>
            <p:pic>
              <p:nvPicPr>
                <p:cNvPr id="73" name="Graphique 72" descr="Chat avec un remplissage uni">
                  <a:extLst>
                    <a:ext uri="{FF2B5EF4-FFF2-40B4-BE49-F238E27FC236}">
                      <a16:creationId xmlns:a16="http://schemas.microsoft.com/office/drawing/2014/main" id="{762841D7-DFEE-F5CB-762D-9F46FC1193CB}"/>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3595600" y="4881866"/>
                  <a:ext cx="914400" cy="914400"/>
                </a:xfrm>
                <a:prstGeom prst="rect">
                  <a:avLst/>
                </a:prstGeom>
              </p:spPr>
            </p:pic>
          </p:grpSp>
        </p:grpSp>
      </p:grpSp>
      <p:grpSp>
        <p:nvGrpSpPr>
          <p:cNvPr id="108" name="Groupe 107">
            <a:extLst>
              <a:ext uri="{FF2B5EF4-FFF2-40B4-BE49-F238E27FC236}">
                <a16:creationId xmlns:a16="http://schemas.microsoft.com/office/drawing/2014/main" id="{A83A1463-EE31-8ABD-0D1B-B1489D49ACEA}"/>
              </a:ext>
            </a:extLst>
          </p:cNvPr>
          <p:cNvGrpSpPr/>
          <p:nvPr/>
        </p:nvGrpSpPr>
        <p:grpSpPr>
          <a:xfrm>
            <a:off x="3238071" y="7358427"/>
            <a:ext cx="1406379" cy="1194036"/>
            <a:chOff x="8129937" y="4169500"/>
            <a:chExt cx="1286847" cy="1093835"/>
          </a:xfrm>
        </p:grpSpPr>
        <p:pic>
          <p:nvPicPr>
            <p:cNvPr id="109" name="Graphique 108" descr="Poignée de main avec un remplissage uni">
              <a:extLst>
                <a:ext uri="{FF2B5EF4-FFF2-40B4-BE49-F238E27FC236}">
                  <a16:creationId xmlns:a16="http://schemas.microsoft.com/office/drawing/2014/main" id="{46B83CEC-5E0F-A584-1FCF-407C9F37D23D}"/>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8378292" y="4169500"/>
              <a:ext cx="703975" cy="703975"/>
            </a:xfrm>
            <a:prstGeom prst="rect">
              <a:avLst/>
            </a:prstGeom>
          </p:spPr>
        </p:pic>
        <p:sp>
          <p:nvSpPr>
            <p:cNvPr id="110" name="ZoneTexte 109">
              <a:extLst>
                <a:ext uri="{FF2B5EF4-FFF2-40B4-BE49-F238E27FC236}">
                  <a16:creationId xmlns:a16="http://schemas.microsoft.com/office/drawing/2014/main" id="{A668E2B4-9BBD-D6A1-E63E-2A153A662577}"/>
                </a:ext>
              </a:extLst>
            </p:cNvPr>
            <p:cNvSpPr txBox="1"/>
            <p:nvPr/>
          </p:nvSpPr>
          <p:spPr>
            <a:xfrm>
              <a:off x="8129937" y="4747307"/>
              <a:ext cx="1286847" cy="516028"/>
            </a:xfrm>
            <a:prstGeom prst="rect">
              <a:avLst/>
            </a:prstGeom>
            <a:noFill/>
          </p:spPr>
          <p:txBody>
            <a:bodyPr wrap="square">
              <a:spAutoFit/>
            </a:bodyPr>
            <a:lstStyle/>
            <a:p>
              <a:pPr algn="ctr"/>
              <a:r>
                <a:rPr lang="fr-FR" sz="1400" b="1" dirty="0">
                  <a:solidFill>
                    <a:srgbClr val="ED7D31"/>
                  </a:solidFill>
                </a:rPr>
                <a:t>Lien avec les autres</a:t>
              </a:r>
            </a:p>
          </p:txBody>
        </p:sp>
      </p:grpSp>
      <p:grpSp>
        <p:nvGrpSpPr>
          <p:cNvPr id="111" name="Groupe 110">
            <a:extLst>
              <a:ext uri="{FF2B5EF4-FFF2-40B4-BE49-F238E27FC236}">
                <a16:creationId xmlns:a16="http://schemas.microsoft.com/office/drawing/2014/main" id="{32BFB781-1BAE-1FE5-D941-FC68B74DA258}"/>
              </a:ext>
            </a:extLst>
          </p:cNvPr>
          <p:cNvGrpSpPr/>
          <p:nvPr/>
        </p:nvGrpSpPr>
        <p:grpSpPr>
          <a:xfrm>
            <a:off x="331707" y="7087113"/>
            <a:ext cx="1830544" cy="1624070"/>
            <a:chOff x="2837626" y="3862428"/>
            <a:chExt cx="2054481" cy="1601745"/>
          </a:xfrm>
        </p:grpSpPr>
        <p:pic>
          <p:nvPicPr>
            <p:cNvPr id="112" name="Graphique 111" descr="Aspiration avec un remplissage uni">
              <a:extLst>
                <a:ext uri="{FF2B5EF4-FFF2-40B4-BE49-F238E27FC236}">
                  <a16:creationId xmlns:a16="http://schemas.microsoft.com/office/drawing/2014/main" id="{7349FFE9-52F6-3D8C-5BE8-30012B37B229}"/>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3291263" y="3862428"/>
              <a:ext cx="1163723" cy="940256"/>
            </a:xfrm>
            <a:prstGeom prst="rect">
              <a:avLst/>
            </a:prstGeom>
          </p:spPr>
        </p:pic>
        <p:sp>
          <p:nvSpPr>
            <p:cNvPr id="113" name="ZoneTexte 112">
              <a:extLst>
                <a:ext uri="{FF2B5EF4-FFF2-40B4-BE49-F238E27FC236}">
                  <a16:creationId xmlns:a16="http://schemas.microsoft.com/office/drawing/2014/main" id="{12CF559D-9A67-8ABF-3A74-F02D69288582}"/>
                </a:ext>
              </a:extLst>
            </p:cNvPr>
            <p:cNvSpPr txBox="1"/>
            <p:nvPr/>
          </p:nvSpPr>
          <p:spPr>
            <a:xfrm>
              <a:off x="2837626" y="4735663"/>
              <a:ext cx="2054481" cy="728510"/>
            </a:xfrm>
            <a:prstGeom prst="rect">
              <a:avLst/>
            </a:prstGeom>
            <a:noFill/>
          </p:spPr>
          <p:txBody>
            <a:bodyPr wrap="square">
              <a:spAutoFit/>
            </a:bodyPr>
            <a:lstStyle/>
            <a:p>
              <a:pPr algn="ctr"/>
              <a:r>
                <a:rPr lang="fr-FR" sz="1400" b="1" dirty="0">
                  <a:solidFill>
                    <a:srgbClr val="ED7D31"/>
                  </a:solidFill>
                </a:rPr>
                <a:t>Développement de compétences et réalisation de soi</a:t>
              </a:r>
            </a:p>
          </p:txBody>
        </p:sp>
      </p:grpSp>
    </p:spTree>
    <p:extLst>
      <p:ext uri="{BB962C8B-B14F-4D97-AF65-F5344CB8AC3E}">
        <p14:creationId xmlns:p14="http://schemas.microsoft.com/office/powerpoint/2010/main" val="3436415027"/>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Ensemble, nous nous coordonnons sur les bonnes pratiques dans notre métier</a:t>
            </a:r>
            <a:r>
              <a:rPr lang="fr-FR" sz="1400" b="1" dirty="0"/>
              <a:t>, pas celles du marché mais celles qui correspondent vraiment à notre entreprise</a:t>
            </a:r>
            <a:r>
              <a:rPr lang="fr-FR" sz="1400" dirty="0"/>
              <a:t>. Nous alimentons ainsi un référentiel applicable dans toute l’entreprise que nous diffusons et promouvons.</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L’entreprise peut profiter et apprendre de l’expérience accumulée (métier, organisationnelle, etc.) de son secteur. Mais es bonnes pratiques génériques doivent être adaptées au contexte local, par exemple avec les </a:t>
            </a:r>
            <a:r>
              <a:rPr lang="fr-FR" sz="1400" b="1" dirty="0">
                <a:solidFill>
                  <a:schemeClr val="bg1"/>
                </a:solidFill>
              </a:rPr>
              <a:t>Communautés de pratique.</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6 : Quand je développe des bonnes pratiques</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2178291"/>
            <a:chOff x="11670562" y="767339"/>
            <a:chExt cx="1001440" cy="1127250"/>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907851"/>
            </a:xfrm>
            <a:prstGeom prst="rect">
              <a:avLst/>
            </a:prstGeom>
            <a:noFill/>
          </p:spPr>
          <p:txBody>
            <a:bodyPr wrap="square">
              <a:spAutoFit/>
            </a:bodyPr>
            <a:lstStyle/>
            <a:p>
              <a:pPr algn="r"/>
              <a:r>
                <a:rPr lang="fr-FR" b="1" dirty="0">
                  <a:solidFill>
                    <a:schemeClr val="tx1"/>
                  </a:solidFill>
                </a:rPr>
                <a:t>Ep 7: </a:t>
              </a:r>
            </a:p>
            <a:p>
              <a:pPr algn="r"/>
              <a:r>
                <a:rPr lang="fr-FR" b="1" dirty="0">
                  <a:solidFill>
                    <a:schemeClr val="tx1"/>
                  </a:solidFill>
                </a:rPr>
                <a:t>Quand j’ai atteint une certaine maturité professionnelle</a:t>
              </a: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90" name="Groupe 89">
            <a:extLst>
              <a:ext uri="{FF2B5EF4-FFF2-40B4-BE49-F238E27FC236}">
                <a16:creationId xmlns:a16="http://schemas.microsoft.com/office/drawing/2014/main" id="{C20AD42B-E0F0-2926-E543-B29E2969E756}"/>
              </a:ext>
            </a:extLst>
          </p:cNvPr>
          <p:cNvGrpSpPr/>
          <p:nvPr/>
        </p:nvGrpSpPr>
        <p:grpSpPr>
          <a:xfrm>
            <a:off x="1655897" y="7468630"/>
            <a:ext cx="1732017" cy="1915594"/>
            <a:chOff x="9261999" y="4256738"/>
            <a:chExt cx="965736" cy="1069351"/>
          </a:xfrm>
        </p:grpSpPr>
        <p:sp>
          <p:nvSpPr>
            <p:cNvPr id="91" name="ZoneTexte 90">
              <a:extLst>
                <a:ext uri="{FF2B5EF4-FFF2-40B4-BE49-F238E27FC236}">
                  <a16:creationId xmlns:a16="http://schemas.microsoft.com/office/drawing/2014/main" id="{3B565AB6-0858-015E-E50D-4AE0AAB3B127}"/>
                </a:ext>
              </a:extLst>
            </p:cNvPr>
            <p:cNvSpPr txBox="1"/>
            <p:nvPr/>
          </p:nvSpPr>
          <p:spPr>
            <a:xfrm>
              <a:off x="9261999" y="4793473"/>
              <a:ext cx="965736" cy="532616"/>
            </a:xfrm>
            <a:prstGeom prst="rect">
              <a:avLst/>
            </a:prstGeom>
            <a:noFill/>
          </p:spPr>
          <p:txBody>
            <a:bodyPr wrap="square">
              <a:spAutoFit/>
            </a:bodyPr>
            <a:lstStyle/>
            <a:p>
              <a:pPr algn="ctr"/>
              <a:r>
                <a:rPr lang="fr-FR" sz="1400" b="1" dirty="0">
                  <a:solidFill>
                    <a:srgbClr val="ED7D31"/>
                  </a:solidFill>
                </a:rPr>
                <a:t>Satisfaction des obligations et responsabilités existantes</a:t>
              </a:r>
            </a:p>
          </p:txBody>
        </p:sp>
        <p:pic>
          <p:nvPicPr>
            <p:cNvPr id="92" name="Graphique 91" descr="Presse-papiers vérifié avec un remplissage uni">
              <a:extLst>
                <a:ext uri="{FF2B5EF4-FFF2-40B4-BE49-F238E27FC236}">
                  <a16:creationId xmlns:a16="http://schemas.microsoft.com/office/drawing/2014/main" id="{248CFB54-A11E-6986-3964-80C0D6B3FCD1}"/>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524604" y="4256738"/>
              <a:ext cx="491025" cy="491024"/>
            </a:xfrm>
            <a:prstGeom prst="rect">
              <a:avLst/>
            </a:prstGeom>
          </p:spPr>
        </p:pic>
      </p:grpSp>
      <p:grpSp>
        <p:nvGrpSpPr>
          <p:cNvPr id="53" name="Groupe 52">
            <a:extLst>
              <a:ext uri="{FF2B5EF4-FFF2-40B4-BE49-F238E27FC236}">
                <a16:creationId xmlns:a16="http://schemas.microsoft.com/office/drawing/2014/main" id="{6DAFD271-0E6C-2E2B-C6BA-73DBCFDAD3AA}"/>
              </a:ext>
            </a:extLst>
          </p:cNvPr>
          <p:cNvGrpSpPr/>
          <p:nvPr/>
        </p:nvGrpSpPr>
        <p:grpSpPr>
          <a:xfrm>
            <a:off x="188431" y="7404364"/>
            <a:ext cx="1795852" cy="1494464"/>
            <a:chOff x="4120272" y="4187837"/>
            <a:chExt cx="872285" cy="726750"/>
          </a:xfrm>
        </p:grpSpPr>
        <p:pic>
          <p:nvPicPr>
            <p:cNvPr id="54" name="Graphique 53" descr="Utilisateurs avec un remplissage uni">
              <a:extLst>
                <a:ext uri="{FF2B5EF4-FFF2-40B4-BE49-F238E27FC236}">
                  <a16:creationId xmlns:a16="http://schemas.microsoft.com/office/drawing/2014/main" id="{4332B22D-ABDE-7328-6669-87C3F4A3013C}"/>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4278095" y="4187837"/>
              <a:ext cx="590398" cy="590398"/>
            </a:xfrm>
            <a:prstGeom prst="rect">
              <a:avLst/>
            </a:prstGeom>
          </p:spPr>
        </p:pic>
        <p:sp>
          <p:nvSpPr>
            <p:cNvPr id="55" name="ZoneTexte 54">
              <a:extLst>
                <a:ext uri="{FF2B5EF4-FFF2-40B4-BE49-F238E27FC236}">
                  <a16:creationId xmlns:a16="http://schemas.microsoft.com/office/drawing/2014/main" id="{DC836708-6115-27AD-5E5D-550150E8F203}"/>
                </a:ext>
              </a:extLst>
            </p:cNvPr>
            <p:cNvSpPr txBox="1"/>
            <p:nvPr/>
          </p:nvSpPr>
          <p:spPr>
            <a:xfrm>
              <a:off x="4120272" y="4660148"/>
              <a:ext cx="872285" cy="254439"/>
            </a:xfrm>
            <a:prstGeom prst="rect">
              <a:avLst/>
            </a:prstGeom>
            <a:noFill/>
          </p:spPr>
          <p:txBody>
            <a:bodyPr wrap="square">
              <a:spAutoFit/>
            </a:bodyPr>
            <a:lstStyle/>
            <a:p>
              <a:pPr algn="ctr"/>
              <a:r>
                <a:rPr lang="fr-FR" sz="1400" b="1" dirty="0">
                  <a:solidFill>
                    <a:srgbClr val="ED7D31"/>
                  </a:solidFill>
                </a:rPr>
                <a:t>Reconnaissance sociale </a:t>
              </a:r>
            </a:p>
          </p:txBody>
        </p:sp>
      </p:grpSp>
      <p:grpSp>
        <p:nvGrpSpPr>
          <p:cNvPr id="56" name="Groupe 55">
            <a:extLst>
              <a:ext uri="{FF2B5EF4-FFF2-40B4-BE49-F238E27FC236}">
                <a16:creationId xmlns:a16="http://schemas.microsoft.com/office/drawing/2014/main" id="{BC1D7AE8-29B7-D0A7-7020-6951EA43094B}"/>
              </a:ext>
            </a:extLst>
          </p:cNvPr>
          <p:cNvGrpSpPr/>
          <p:nvPr/>
        </p:nvGrpSpPr>
        <p:grpSpPr>
          <a:xfrm>
            <a:off x="3211076" y="7578685"/>
            <a:ext cx="1378673" cy="1790005"/>
            <a:chOff x="6088603" y="4144848"/>
            <a:chExt cx="1000589" cy="1300650"/>
          </a:xfrm>
        </p:grpSpPr>
        <p:pic>
          <p:nvPicPr>
            <p:cNvPr id="57" name="Graphique 56" descr="Globe terrestre : Europe et Afrique avec un remplissage uni">
              <a:extLst>
                <a:ext uri="{FF2B5EF4-FFF2-40B4-BE49-F238E27FC236}">
                  <a16:creationId xmlns:a16="http://schemas.microsoft.com/office/drawing/2014/main" id="{C3525A34-C67C-C2AF-CABA-E8CAD86A13A0}"/>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278977" y="4144848"/>
              <a:ext cx="643205" cy="643205"/>
            </a:xfrm>
            <a:prstGeom prst="rect">
              <a:avLst/>
            </a:prstGeom>
          </p:spPr>
        </p:pic>
        <p:sp>
          <p:nvSpPr>
            <p:cNvPr id="58" name="ZoneTexte 57">
              <a:extLst>
                <a:ext uri="{FF2B5EF4-FFF2-40B4-BE49-F238E27FC236}">
                  <a16:creationId xmlns:a16="http://schemas.microsoft.com/office/drawing/2014/main" id="{F15F126F-E326-5A22-6FB5-E4BEFDAC0CE3}"/>
                </a:ext>
              </a:extLst>
            </p:cNvPr>
            <p:cNvSpPr txBox="1"/>
            <p:nvPr/>
          </p:nvSpPr>
          <p:spPr>
            <a:xfrm>
              <a:off x="6088603" y="4716985"/>
              <a:ext cx="1000589" cy="728513"/>
            </a:xfrm>
            <a:prstGeom prst="rect">
              <a:avLst/>
            </a:prstGeom>
            <a:noFill/>
          </p:spPr>
          <p:txBody>
            <a:bodyPr wrap="square">
              <a:spAutoFit/>
            </a:bodyPr>
            <a:lstStyle/>
            <a:p>
              <a:pPr algn="ctr"/>
              <a:r>
                <a:rPr lang="fr-FR" sz="1400" b="1" dirty="0">
                  <a:solidFill>
                    <a:srgbClr val="ED7D31"/>
                  </a:solidFill>
                </a:rPr>
                <a:t>Impact positif et sens</a:t>
              </a:r>
            </a:p>
          </p:txBody>
        </p:sp>
      </p:grpSp>
      <p:grpSp>
        <p:nvGrpSpPr>
          <p:cNvPr id="3" name="Groupe 2">
            <a:extLst>
              <a:ext uri="{FF2B5EF4-FFF2-40B4-BE49-F238E27FC236}">
                <a16:creationId xmlns:a16="http://schemas.microsoft.com/office/drawing/2014/main" id="{296483EA-071B-EE58-29DB-A6CE53593793}"/>
              </a:ext>
            </a:extLst>
          </p:cNvPr>
          <p:cNvGrpSpPr/>
          <p:nvPr/>
        </p:nvGrpSpPr>
        <p:grpSpPr>
          <a:xfrm>
            <a:off x="6315478" y="6858000"/>
            <a:ext cx="2398234" cy="1714018"/>
            <a:chOff x="6288566" y="4476980"/>
            <a:chExt cx="2398234" cy="1714018"/>
          </a:xfrm>
        </p:grpSpPr>
        <p:sp>
          <p:nvSpPr>
            <p:cNvPr id="77" name="Rectangle 76">
              <a:extLst>
                <a:ext uri="{FF2B5EF4-FFF2-40B4-BE49-F238E27FC236}">
                  <a16:creationId xmlns:a16="http://schemas.microsoft.com/office/drawing/2014/main" id="{7A77FFB6-1E93-4CCA-5A10-3D9C17979830}"/>
                </a:ext>
              </a:extLst>
            </p:cNvPr>
            <p:cNvSpPr/>
            <p:nvPr/>
          </p:nvSpPr>
          <p:spPr>
            <a:xfrm>
              <a:off x="6288566" y="5622523"/>
              <a:ext cx="2398234"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Développement de la Qualité et des méthodes locales</a:t>
              </a:r>
              <a:endParaRPr lang="fr-FR" sz="1400" dirty="0">
                <a:solidFill>
                  <a:schemeClr val="tx1"/>
                </a:solidFill>
              </a:endParaRPr>
            </a:p>
          </p:txBody>
        </p:sp>
        <p:grpSp>
          <p:nvGrpSpPr>
            <p:cNvPr id="61" name="Groupe 60">
              <a:extLst>
                <a:ext uri="{FF2B5EF4-FFF2-40B4-BE49-F238E27FC236}">
                  <a16:creationId xmlns:a16="http://schemas.microsoft.com/office/drawing/2014/main" id="{A37A7C6B-49C1-ECC9-18D2-193913E46500}"/>
                </a:ext>
              </a:extLst>
            </p:cNvPr>
            <p:cNvGrpSpPr/>
            <p:nvPr/>
          </p:nvGrpSpPr>
          <p:grpSpPr>
            <a:xfrm>
              <a:off x="6840605" y="4476980"/>
              <a:ext cx="1413175" cy="1195426"/>
              <a:chOff x="1619081" y="3908041"/>
              <a:chExt cx="3348357" cy="2476948"/>
            </a:xfrm>
            <a:solidFill>
              <a:schemeClr val="tx1"/>
            </a:solidFill>
          </p:grpSpPr>
          <p:pic>
            <p:nvPicPr>
              <p:cNvPr id="64" name="Graphique 63" descr="Graphique en radar avec un remplissage uni">
                <a:extLst>
                  <a:ext uri="{FF2B5EF4-FFF2-40B4-BE49-F238E27FC236}">
                    <a16:creationId xmlns:a16="http://schemas.microsoft.com/office/drawing/2014/main" id="{D7C4B250-3E19-85D1-76F6-35CF15A0E080}"/>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619081" y="5084439"/>
                <a:ext cx="1290292" cy="1290292"/>
              </a:xfrm>
              <a:prstGeom prst="rect">
                <a:avLst/>
              </a:prstGeom>
            </p:spPr>
          </p:pic>
          <p:pic>
            <p:nvPicPr>
              <p:cNvPr id="65" name="Graphique 64" descr="Compteur bas avec un remplissage uni">
                <a:extLst>
                  <a:ext uri="{FF2B5EF4-FFF2-40B4-BE49-F238E27FC236}">
                    <a16:creationId xmlns:a16="http://schemas.microsoft.com/office/drawing/2014/main" id="{F65A4C7D-9931-B4F2-F9E6-470D335FCE28}"/>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flipH="1">
                <a:off x="2795861" y="3908041"/>
                <a:ext cx="898916" cy="914400"/>
              </a:xfrm>
              <a:prstGeom prst="rect">
                <a:avLst/>
              </a:prstGeom>
            </p:spPr>
          </p:pic>
          <p:pic>
            <p:nvPicPr>
              <p:cNvPr id="66" name="Graphique 65" descr="Cercles avec flèches avec un remplissage uni">
                <a:extLst>
                  <a:ext uri="{FF2B5EF4-FFF2-40B4-BE49-F238E27FC236}">
                    <a16:creationId xmlns:a16="http://schemas.microsoft.com/office/drawing/2014/main" id="{8E0CD57D-686C-7033-0AF1-22D81659F3A3}"/>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rot="18361995">
                <a:off x="2644083" y="4661879"/>
                <a:ext cx="1172888" cy="1172888"/>
              </a:xfrm>
              <a:prstGeom prst="rect">
                <a:avLst/>
              </a:prstGeom>
            </p:spPr>
          </p:pic>
          <p:pic>
            <p:nvPicPr>
              <p:cNvPr id="67" name="Graphique 66" descr="Presse-papiers badge avec un remplissage uni">
                <a:extLst>
                  <a:ext uri="{FF2B5EF4-FFF2-40B4-BE49-F238E27FC236}">
                    <a16:creationId xmlns:a16="http://schemas.microsoft.com/office/drawing/2014/main" id="{E51BF603-66AF-6584-496F-2E169641D3CD}"/>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3755728" y="5173279"/>
                <a:ext cx="1211710" cy="1211710"/>
              </a:xfrm>
              <a:prstGeom prst="rect">
                <a:avLst/>
              </a:prstGeom>
            </p:spPr>
          </p:pic>
        </p:grpSp>
      </p:grpSp>
    </p:spTree>
    <p:extLst>
      <p:ext uri="{BB962C8B-B14F-4D97-AF65-F5344CB8AC3E}">
        <p14:creationId xmlns:p14="http://schemas.microsoft.com/office/powerpoint/2010/main" val="3367935096"/>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Mon expérience dans mon métier et dans l’entreprise me donne l’occasion de transmettre, via du mentorat ou des retours d’expérience, grâce à une </a:t>
            </a:r>
            <a:r>
              <a:rPr lang="fr-FR" sz="1400" b="1" dirty="0"/>
              <a:t>Communauté de transmission </a:t>
            </a:r>
            <a:r>
              <a:rPr lang="fr-FR" sz="1400" dirty="0"/>
              <a:t>sur mon sujet. Cela me donne du sens et développe ma communication.</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Beaucoup de connaissances sont produites dans l’entreprise (expérience métier, tacite, informelle, etc.). Ces connaissances peuvent se perdre à chaque départ. Cette perte d’information peut être réduite grâce aux </a:t>
            </a:r>
            <a:r>
              <a:rPr lang="fr-FR" sz="1400" b="1" dirty="0">
                <a:solidFill>
                  <a:schemeClr val="bg1"/>
                </a:solidFill>
              </a:rPr>
              <a:t>Communautés de transmission.</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7 : Quand j’ai atteint une certaine maturité professionnelle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901294"/>
            <a:chOff x="11670562" y="767339"/>
            <a:chExt cx="1001440" cy="983906"/>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764507"/>
            </a:xfrm>
            <a:prstGeom prst="rect">
              <a:avLst/>
            </a:prstGeom>
            <a:noFill/>
          </p:spPr>
          <p:txBody>
            <a:bodyPr wrap="square">
              <a:spAutoFit/>
            </a:bodyPr>
            <a:lstStyle/>
            <a:p>
              <a:pPr algn="r"/>
              <a:r>
                <a:rPr lang="fr-FR" b="1" dirty="0">
                  <a:solidFill>
                    <a:schemeClr val="tx1"/>
                  </a:solidFill>
                </a:rPr>
                <a:t>Ep 8: </a:t>
              </a:r>
            </a:p>
            <a:p>
              <a:pPr algn="r"/>
              <a:r>
                <a:rPr lang="fr-FR" b="1" dirty="0">
                  <a:solidFill>
                    <a:schemeClr val="tx1"/>
                  </a:solidFill>
                </a:rPr>
                <a:t>Quand </a:t>
              </a:r>
            </a:p>
            <a:p>
              <a:pPr algn="r"/>
              <a:r>
                <a:rPr lang="fr-FR" b="1" dirty="0"/>
                <a:t>j’ai des idées pour l’entreprise</a:t>
              </a:r>
              <a:endParaRPr lang="fr-FR" b="1" dirty="0">
                <a:solidFill>
                  <a:schemeClr val="tx1"/>
                </a:solidFill>
              </a:endParaRP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4" name="Groupe 3">
            <a:extLst>
              <a:ext uri="{FF2B5EF4-FFF2-40B4-BE49-F238E27FC236}">
                <a16:creationId xmlns:a16="http://schemas.microsoft.com/office/drawing/2014/main" id="{A4623E36-8E49-DDDE-31A4-7F3C3EDA80B8}"/>
              </a:ext>
            </a:extLst>
          </p:cNvPr>
          <p:cNvGrpSpPr/>
          <p:nvPr/>
        </p:nvGrpSpPr>
        <p:grpSpPr>
          <a:xfrm>
            <a:off x="8081316" y="7169447"/>
            <a:ext cx="2201807" cy="1704974"/>
            <a:chOff x="7438958" y="4501045"/>
            <a:chExt cx="2201807" cy="1704974"/>
          </a:xfrm>
        </p:grpSpPr>
        <p:grpSp>
          <p:nvGrpSpPr>
            <p:cNvPr id="52" name="Groupe 51">
              <a:extLst>
                <a:ext uri="{FF2B5EF4-FFF2-40B4-BE49-F238E27FC236}">
                  <a16:creationId xmlns:a16="http://schemas.microsoft.com/office/drawing/2014/main" id="{F7E4FE02-F7F1-60D2-82C1-B868A1DAF5B0}"/>
                </a:ext>
              </a:extLst>
            </p:cNvPr>
            <p:cNvGrpSpPr/>
            <p:nvPr/>
          </p:nvGrpSpPr>
          <p:grpSpPr>
            <a:xfrm>
              <a:off x="7438958" y="4501045"/>
              <a:ext cx="2122394" cy="1091175"/>
              <a:chOff x="6389474" y="3987996"/>
              <a:chExt cx="5385544" cy="2536749"/>
            </a:xfrm>
            <a:solidFill>
              <a:schemeClr val="tx1"/>
            </a:solidFill>
          </p:grpSpPr>
          <p:cxnSp>
            <p:nvCxnSpPr>
              <p:cNvPr id="59" name="Connecteur droit avec flèche 58">
                <a:extLst>
                  <a:ext uri="{FF2B5EF4-FFF2-40B4-BE49-F238E27FC236}">
                    <a16:creationId xmlns:a16="http://schemas.microsoft.com/office/drawing/2014/main" id="{52A681DA-542A-073C-9479-34E940BC9142}"/>
                  </a:ext>
                </a:extLst>
              </p:cNvPr>
              <p:cNvCxnSpPr>
                <a:cxnSpLocks/>
              </p:cNvCxnSpPr>
              <p:nvPr/>
            </p:nvCxnSpPr>
            <p:spPr>
              <a:xfrm flipV="1">
                <a:off x="6535271" y="6100758"/>
                <a:ext cx="1486117" cy="22439"/>
              </a:xfrm>
              <a:prstGeom prst="straightConnector1">
                <a:avLst/>
              </a:prstGeom>
              <a:grpFill/>
              <a:ln w="12700">
                <a:solidFill>
                  <a:schemeClr val="bg1">
                    <a:lumMod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60" name="Graphique 59" descr="Télécharger du cloud avec un remplissage uni">
                <a:extLst>
                  <a:ext uri="{FF2B5EF4-FFF2-40B4-BE49-F238E27FC236}">
                    <a16:creationId xmlns:a16="http://schemas.microsoft.com/office/drawing/2014/main" id="{1940F7AB-7B72-C94B-DEE5-A9DCAFB291A8}"/>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320900" y="3987996"/>
                <a:ext cx="675060" cy="675060"/>
              </a:xfrm>
              <a:prstGeom prst="rect">
                <a:avLst/>
              </a:prstGeom>
            </p:spPr>
          </p:pic>
          <p:pic>
            <p:nvPicPr>
              <p:cNvPr id="62" name="Graphique 61" descr="Serveur avec un remplissage uni">
                <a:extLst>
                  <a:ext uri="{FF2B5EF4-FFF2-40B4-BE49-F238E27FC236}">
                    <a16:creationId xmlns:a16="http://schemas.microsoft.com/office/drawing/2014/main" id="{1EB7BF1C-1319-8279-998D-1085FB153DB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995960" y="3987996"/>
                <a:ext cx="675060" cy="675060"/>
              </a:xfrm>
              <a:prstGeom prst="rect">
                <a:avLst/>
              </a:prstGeom>
            </p:spPr>
          </p:pic>
          <p:pic>
            <p:nvPicPr>
              <p:cNvPr id="63" name="Graphique 62" descr="Tête avec engrenages avec un remplissage uni">
                <a:extLst>
                  <a:ext uri="{FF2B5EF4-FFF2-40B4-BE49-F238E27FC236}">
                    <a16:creationId xmlns:a16="http://schemas.microsoft.com/office/drawing/2014/main" id="{C43EFAFF-C513-9142-7EB6-6329814891E5}"/>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389474" y="5495508"/>
                <a:ext cx="914400" cy="914400"/>
              </a:xfrm>
              <a:prstGeom prst="rect">
                <a:avLst/>
              </a:prstGeom>
            </p:spPr>
          </p:pic>
          <p:sp>
            <p:nvSpPr>
              <p:cNvPr id="68" name="Flèche : droite 67">
                <a:extLst>
                  <a:ext uri="{FF2B5EF4-FFF2-40B4-BE49-F238E27FC236}">
                    <a16:creationId xmlns:a16="http://schemas.microsoft.com/office/drawing/2014/main" id="{8B43E3E7-3242-E545-9EB8-7465AFDC59A6}"/>
                  </a:ext>
                </a:extLst>
              </p:cNvPr>
              <p:cNvSpPr/>
              <p:nvPr/>
            </p:nvSpPr>
            <p:spPr>
              <a:xfrm rot="2221843">
                <a:off x="9714954" y="4900835"/>
                <a:ext cx="868966"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69" name="Graphique 68" descr="Enseignant avec un remplissage uni">
                <a:extLst>
                  <a:ext uri="{FF2B5EF4-FFF2-40B4-BE49-F238E27FC236}">
                    <a16:creationId xmlns:a16="http://schemas.microsoft.com/office/drawing/2014/main" id="{4E8588EB-84CD-BC65-19BB-1E197F72DD4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353404" y="4668590"/>
                <a:ext cx="639776" cy="639776"/>
              </a:xfrm>
              <a:prstGeom prst="rect">
                <a:avLst/>
              </a:prstGeom>
            </p:spPr>
          </p:pic>
          <p:cxnSp>
            <p:nvCxnSpPr>
              <p:cNvPr id="70" name="Connecteur droit avec flèche 69">
                <a:extLst>
                  <a:ext uri="{FF2B5EF4-FFF2-40B4-BE49-F238E27FC236}">
                    <a16:creationId xmlns:a16="http://schemas.microsoft.com/office/drawing/2014/main" id="{10154ACD-07A7-A91B-87B0-E4C340C1FC42}"/>
                  </a:ext>
                </a:extLst>
              </p:cNvPr>
              <p:cNvCxnSpPr>
                <a:cxnSpLocks/>
              </p:cNvCxnSpPr>
              <p:nvPr/>
            </p:nvCxnSpPr>
            <p:spPr>
              <a:xfrm flipV="1">
                <a:off x="10175446" y="6092807"/>
                <a:ext cx="1599572" cy="7951"/>
              </a:xfrm>
              <a:prstGeom prst="straightConnector1">
                <a:avLst/>
              </a:prstGeom>
              <a:grpFill/>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71" name="Graphique 70" descr="Tête avec engrenages avec un remplissage uni">
                <a:extLst>
                  <a:ext uri="{FF2B5EF4-FFF2-40B4-BE49-F238E27FC236}">
                    <a16:creationId xmlns:a16="http://schemas.microsoft.com/office/drawing/2014/main" id="{B4437606-BE36-0C3D-D7BF-4B5D4AC74014}"/>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0652219" y="5495508"/>
                <a:ext cx="914400" cy="914400"/>
              </a:xfrm>
              <a:prstGeom prst="rect">
                <a:avLst/>
              </a:prstGeom>
            </p:spPr>
          </p:pic>
          <p:sp>
            <p:nvSpPr>
              <p:cNvPr id="72" name="Flèche : droite 71">
                <a:extLst>
                  <a:ext uri="{FF2B5EF4-FFF2-40B4-BE49-F238E27FC236}">
                    <a16:creationId xmlns:a16="http://schemas.microsoft.com/office/drawing/2014/main" id="{3B16985E-CBAD-B7FB-046F-C1FBB09A34F6}"/>
                  </a:ext>
                </a:extLst>
              </p:cNvPr>
              <p:cNvSpPr/>
              <p:nvPr/>
            </p:nvSpPr>
            <p:spPr>
              <a:xfrm rot="18844370">
                <a:off x="7386229" y="4956663"/>
                <a:ext cx="868966"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73" name="Graphique 72" descr="Groupe de personnes avec un remplissage uni">
                <a:extLst>
                  <a:ext uri="{FF2B5EF4-FFF2-40B4-BE49-F238E27FC236}">
                    <a16:creationId xmlns:a16="http://schemas.microsoft.com/office/drawing/2014/main" id="{9665906F-582A-F23F-E76A-B8350B522494}"/>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9025684" y="4682443"/>
                <a:ext cx="565880" cy="565880"/>
              </a:xfrm>
              <a:prstGeom prst="rect">
                <a:avLst/>
              </a:prstGeom>
            </p:spPr>
          </p:pic>
          <p:pic>
            <p:nvPicPr>
              <p:cNvPr id="74" name="Graphique 73" descr="Stop avec un remplissage uni">
                <a:extLst>
                  <a:ext uri="{FF2B5EF4-FFF2-40B4-BE49-F238E27FC236}">
                    <a16:creationId xmlns:a16="http://schemas.microsoft.com/office/drawing/2014/main" id="{59B6F17A-0C3F-D1CB-BC48-63776766064B}"/>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7449671" y="5610346"/>
                <a:ext cx="914401" cy="914399"/>
              </a:xfrm>
              <a:prstGeom prst="rect">
                <a:avLst/>
              </a:prstGeom>
            </p:spPr>
          </p:pic>
          <p:grpSp>
            <p:nvGrpSpPr>
              <p:cNvPr id="76" name="Groupe 75">
                <a:extLst>
                  <a:ext uri="{FF2B5EF4-FFF2-40B4-BE49-F238E27FC236}">
                    <a16:creationId xmlns:a16="http://schemas.microsoft.com/office/drawing/2014/main" id="{65E7400E-AA55-AD4B-92A0-351C02437CE4}"/>
                  </a:ext>
                </a:extLst>
              </p:cNvPr>
              <p:cNvGrpSpPr/>
              <p:nvPr/>
            </p:nvGrpSpPr>
            <p:grpSpPr>
              <a:xfrm>
                <a:off x="9572195" y="5506839"/>
                <a:ext cx="914400" cy="914400"/>
                <a:chOff x="9545095" y="5506839"/>
                <a:chExt cx="914400" cy="914400"/>
              </a:xfrm>
              <a:grpFill/>
            </p:grpSpPr>
            <p:pic>
              <p:nvPicPr>
                <p:cNvPr id="78" name="Graphique 77" descr="Tête avec engrenages avec un remplissage uni">
                  <a:extLst>
                    <a:ext uri="{FF2B5EF4-FFF2-40B4-BE49-F238E27FC236}">
                      <a16:creationId xmlns:a16="http://schemas.microsoft.com/office/drawing/2014/main" id="{5D5EECB4-1107-EE1D-BFE3-5E5B8B3F7AEE}"/>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9545095" y="5506839"/>
                  <a:ext cx="914400" cy="914400"/>
                </a:xfrm>
                <a:prstGeom prst="rect">
                  <a:avLst/>
                </a:prstGeom>
              </p:spPr>
            </p:pic>
            <p:sp>
              <p:nvSpPr>
                <p:cNvPr id="79" name="Rectangle 78">
                  <a:extLst>
                    <a:ext uri="{FF2B5EF4-FFF2-40B4-BE49-F238E27FC236}">
                      <a16:creationId xmlns:a16="http://schemas.microsoft.com/office/drawing/2014/main" id="{1CB689BD-26D1-5D4F-EAB3-F8BC49D56A8D}"/>
                    </a:ext>
                  </a:extLst>
                </p:cNvPr>
                <p:cNvSpPr/>
                <p:nvPr/>
              </p:nvSpPr>
              <p:spPr>
                <a:xfrm>
                  <a:off x="9746305" y="5711588"/>
                  <a:ext cx="402041" cy="334679"/>
                </a:xfrm>
                <a:prstGeom prst="rect">
                  <a:avLst/>
                </a:prstGeom>
                <a:grp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80" name="Rectangle 79">
                  <a:extLst>
                    <a:ext uri="{FF2B5EF4-FFF2-40B4-BE49-F238E27FC236}">
                      <a16:creationId xmlns:a16="http://schemas.microsoft.com/office/drawing/2014/main" id="{47BCFF9F-6C92-A34C-2A9A-9CFBD6FADEE8}"/>
                    </a:ext>
                  </a:extLst>
                </p:cNvPr>
                <p:cNvSpPr/>
                <p:nvPr/>
              </p:nvSpPr>
              <p:spPr>
                <a:xfrm>
                  <a:off x="9860091" y="5618280"/>
                  <a:ext cx="262409" cy="345759"/>
                </a:xfrm>
                <a:prstGeom prst="rect">
                  <a:avLst/>
                </a:prstGeom>
                <a:grpFill/>
                <a:ln w="9525" cap="flat">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grpSp>
        </p:grpSp>
        <p:sp>
          <p:nvSpPr>
            <p:cNvPr id="115" name="Rectangle 114">
              <a:extLst>
                <a:ext uri="{FF2B5EF4-FFF2-40B4-BE49-F238E27FC236}">
                  <a16:creationId xmlns:a16="http://schemas.microsoft.com/office/drawing/2014/main" id="{2B7DC751-A15E-8FA1-72B8-607305BEE4E9}"/>
                </a:ext>
              </a:extLst>
            </p:cNvPr>
            <p:cNvSpPr/>
            <p:nvPr/>
          </p:nvSpPr>
          <p:spPr>
            <a:xfrm>
              <a:off x="7438958" y="5637544"/>
              <a:ext cx="2201807"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à la Gestion des connaissances</a:t>
              </a:r>
              <a:endParaRPr lang="fr-FR" sz="1400" dirty="0">
                <a:solidFill>
                  <a:schemeClr val="tx1"/>
                </a:solidFill>
              </a:endParaRPr>
            </a:p>
          </p:txBody>
        </p:sp>
      </p:grpSp>
      <p:grpSp>
        <p:nvGrpSpPr>
          <p:cNvPr id="3" name="Groupe 2">
            <a:extLst>
              <a:ext uri="{FF2B5EF4-FFF2-40B4-BE49-F238E27FC236}">
                <a16:creationId xmlns:a16="http://schemas.microsoft.com/office/drawing/2014/main" id="{D7F97DB7-A8A8-3DF6-DF87-61CBFA9BF55E}"/>
              </a:ext>
            </a:extLst>
          </p:cNvPr>
          <p:cNvGrpSpPr/>
          <p:nvPr/>
        </p:nvGrpSpPr>
        <p:grpSpPr>
          <a:xfrm>
            <a:off x="5804985" y="7041484"/>
            <a:ext cx="1524000" cy="1621824"/>
            <a:chOff x="5794807" y="4644469"/>
            <a:chExt cx="1524000" cy="1621824"/>
          </a:xfrm>
        </p:grpSpPr>
        <p:grpSp>
          <p:nvGrpSpPr>
            <p:cNvPr id="107" name="Groupe 106">
              <a:extLst>
                <a:ext uri="{FF2B5EF4-FFF2-40B4-BE49-F238E27FC236}">
                  <a16:creationId xmlns:a16="http://schemas.microsoft.com/office/drawing/2014/main" id="{6C0AE6F6-AEF0-C01D-2F4D-5DC803F040CF}"/>
                </a:ext>
              </a:extLst>
            </p:cNvPr>
            <p:cNvGrpSpPr/>
            <p:nvPr/>
          </p:nvGrpSpPr>
          <p:grpSpPr>
            <a:xfrm>
              <a:off x="6154439" y="4644469"/>
              <a:ext cx="923940" cy="959843"/>
              <a:chOff x="1793893" y="3948469"/>
              <a:chExt cx="2716107" cy="2749848"/>
            </a:xfrm>
          </p:grpSpPr>
          <p:pic>
            <p:nvPicPr>
              <p:cNvPr id="108" name="Graphique 107" descr="Diplôme roulé avec un remplissage uni">
                <a:extLst>
                  <a:ext uri="{FF2B5EF4-FFF2-40B4-BE49-F238E27FC236}">
                    <a16:creationId xmlns:a16="http://schemas.microsoft.com/office/drawing/2014/main" id="{E1BBBDE0-B75D-02F9-FDA8-0F6FBF95A21E}"/>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2976734" y="5783917"/>
                <a:ext cx="914400" cy="914400"/>
              </a:xfrm>
              <a:prstGeom prst="rect">
                <a:avLst/>
              </a:prstGeom>
            </p:spPr>
          </p:pic>
          <p:grpSp>
            <p:nvGrpSpPr>
              <p:cNvPr id="109" name="Groupe 108">
                <a:extLst>
                  <a:ext uri="{FF2B5EF4-FFF2-40B4-BE49-F238E27FC236}">
                    <a16:creationId xmlns:a16="http://schemas.microsoft.com/office/drawing/2014/main" id="{0C0840E0-BE06-E335-3B79-2F7CC5C39F20}"/>
                  </a:ext>
                </a:extLst>
              </p:cNvPr>
              <p:cNvGrpSpPr/>
              <p:nvPr/>
            </p:nvGrpSpPr>
            <p:grpSpPr>
              <a:xfrm>
                <a:off x="1793893" y="3948469"/>
                <a:ext cx="2716107" cy="2284168"/>
                <a:chOff x="1793893" y="3948469"/>
                <a:chExt cx="2716107" cy="2284168"/>
              </a:xfrm>
            </p:grpSpPr>
            <p:sp>
              <p:nvSpPr>
                <p:cNvPr id="110" name="Ellipse 109">
                  <a:extLst>
                    <a:ext uri="{FF2B5EF4-FFF2-40B4-BE49-F238E27FC236}">
                      <a16:creationId xmlns:a16="http://schemas.microsoft.com/office/drawing/2014/main" id="{C96FBE01-C9A7-72A2-D2EC-2C2DF0842D46}"/>
                    </a:ext>
                  </a:extLst>
                </p:cNvPr>
                <p:cNvSpPr/>
                <p:nvPr/>
              </p:nvSpPr>
              <p:spPr>
                <a:xfrm>
                  <a:off x="2191615" y="4350048"/>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111" name="Graphique 110" descr="Transférer avec un remplissage uni">
                  <a:extLst>
                    <a:ext uri="{FF2B5EF4-FFF2-40B4-BE49-F238E27FC236}">
                      <a16:creationId xmlns:a16="http://schemas.microsoft.com/office/drawing/2014/main" id="{F7820BBB-FF9A-4A65-5636-A576ABB51640}"/>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1979208" y="4142052"/>
                  <a:ext cx="914400" cy="914400"/>
                </a:xfrm>
                <a:prstGeom prst="rect">
                  <a:avLst/>
                </a:prstGeom>
              </p:spPr>
            </p:pic>
            <p:pic>
              <p:nvPicPr>
                <p:cNvPr id="112" name="Graphique 111" descr="Toque d'étudiant avec un remplissage uni">
                  <a:extLst>
                    <a:ext uri="{FF2B5EF4-FFF2-40B4-BE49-F238E27FC236}">
                      <a16:creationId xmlns:a16="http://schemas.microsoft.com/office/drawing/2014/main" id="{1B49E9D2-130F-9FE5-FA66-6FAAFA5D17F9}"/>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3260713" y="3948469"/>
                  <a:ext cx="914400" cy="914400"/>
                </a:xfrm>
                <a:prstGeom prst="rect">
                  <a:avLst/>
                </a:prstGeom>
              </p:spPr>
            </p:pic>
            <p:pic>
              <p:nvPicPr>
                <p:cNvPr id="113" name="Graphique 112" descr="Idée avec un remplissage uni">
                  <a:extLst>
                    <a:ext uri="{FF2B5EF4-FFF2-40B4-BE49-F238E27FC236}">
                      <a16:creationId xmlns:a16="http://schemas.microsoft.com/office/drawing/2014/main" id="{16D800DF-DFCA-5513-ACF4-03960D975CDF}"/>
                    </a:ext>
                  </a:extLst>
                </p:cNvPr>
                <p:cNvPicPr>
                  <a:picLocks noChangeAspect="1"/>
                </p:cNvPicPr>
                <p:nvPr/>
              </p:nvPicPr>
              <p:blipFill>
                <a:blip r:embed="rId29">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1793893" y="5264448"/>
                  <a:ext cx="914400" cy="914400"/>
                </a:xfrm>
                <a:prstGeom prst="rect">
                  <a:avLst/>
                </a:prstGeom>
              </p:spPr>
            </p:pic>
            <p:pic>
              <p:nvPicPr>
                <p:cNvPr id="114" name="Graphique 113" descr="Chat avec un remplissage uni">
                  <a:extLst>
                    <a:ext uri="{FF2B5EF4-FFF2-40B4-BE49-F238E27FC236}">
                      <a16:creationId xmlns:a16="http://schemas.microsoft.com/office/drawing/2014/main" id="{A3545435-F9CE-4391-78F1-241D5A727998}"/>
                    </a:ext>
                  </a:extLst>
                </p:cNvPr>
                <p:cNvPicPr>
                  <a:picLocks noChangeAspect="1"/>
                </p:cNvPicPr>
                <p:nvPr/>
              </p:nvPicPr>
              <p:blipFill>
                <a:blip r:embed="rId31">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3595600" y="4881866"/>
                  <a:ext cx="914400" cy="914400"/>
                </a:xfrm>
                <a:prstGeom prst="rect">
                  <a:avLst/>
                </a:prstGeom>
              </p:spPr>
            </p:pic>
          </p:grpSp>
        </p:grpSp>
        <p:sp>
          <p:nvSpPr>
            <p:cNvPr id="116" name="Rectangle 115">
              <a:extLst>
                <a:ext uri="{FF2B5EF4-FFF2-40B4-BE49-F238E27FC236}">
                  <a16:creationId xmlns:a16="http://schemas.microsoft.com/office/drawing/2014/main" id="{B1F593E2-65BD-74A0-3B8C-1781B3A606E6}"/>
                </a:ext>
              </a:extLst>
            </p:cNvPr>
            <p:cNvSpPr/>
            <p:nvPr/>
          </p:nvSpPr>
          <p:spPr>
            <a:xfrm>
              <a:off x="5794807" y="5697818"/>
              <a:ext cx="1524000" cy="568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à la formation opérationnelle</a:t>
              </a:r>
              <a:endParaRPr lang="fr-FR" sz="1400" dirty="0">
                <a:solidFill>
                  <a:schemeClr val="tx1"/>
                </a:solidFill>
              </a:endParaRPr>
            </a:p>
          </p:txBody>
        </p:sp>
      </p:grpSp>
      <p:grpSp>
        <p:nvGrpSpPr>
          <p:cNvPr id="117" name="Groupe 116">
            <a:extLst>
              <a:ext uri="{FF2B5EF4-FFF2-40B4-BE49-F238E27FC236}">
                <a16:creationId xmlns:a16="http://schemas.microsoft.com/office/drawing/2014/main" id="{8D8BAE75-B420-FF75-3767-F2283D230FA9}"/>
              </a:ext>
            </a:extLst>
          </p:cNvPr>
          <p:cNvGrpSpPr/>
          <p:nvPr/>
        </p:nvGrpSpPr>
        <p:grpSpPr>
          <a:xfrm>
            <a:off x="181686" y="7169447"/>
            <a:ext cx="1609730" cy="1624070"/>
            <a:chOff x="2837626" y="3862428"/>
            <a:chExt cx="1806654" cy="1601745"/>
          </a:xfrm>
        </p:grpSpPr>
        <p:pic>
          <p:nvPicPr>
            <p:cNvPr id="118" name="Graphique 117" descr="Aspiration avec un remplissage uni">
              <a:extLst>
                <a:ext uri="{FF2B5EF4-FFF2-40B4-BE49-F238E27FC236}">
                  <a16:creationId xmlns:a16="http://schemas.microsoft.com/office/drawing/2014/main" id="{34C778D0-7D11-AF51-2C21-FD4287F6BFCD}"/>
                </a:ext>
              </a:extLst>
            </p:cNvPr>
            <p:cNvPicPr>
              <a:picLocks noChangeAspect="1"/>
            </p:cNvPicPr>
            <p:nvPr/>
          </p:nvPicPr>
          <p:blipFill>
            <a:blip r:embed="rId33">
              <a:extLst>
                <a:ext uri="{28A0092B-C50C-407E-A947-70E740481C1C}">
                  <a14:useLocalDpi xmlns:a14="http://schemas.microsoft.com/office/drawing/2010/main" val="0"/>
                </a:ext>
                <a:ext uri="{96DAC541-7B7A-43D3-8B79-37D633B846F1}">
                  <asvg:svgBlip xmlns:asvg="http://schemas.microsoft.com/office/drawing/2016/SVG/main" r:embed="rId34"/>
                </a:ext>
              </a:extLst>
            </a:blip>
            <a:stretch>
              <a:fillRect/>
            </a:stretch>
          </p:blipFill>
          <p:spPr>
            <a:xfrm>
              <a:off x="3291263" y="3862428"/>
              <a:ext cx="1163723" cy="940256"/>
            </a:xfrm>
            <a:prstGeom prst="rect">
              <a:avLst/>
            </a:prstGeom>
          </p:spPr>
        </p:pic>
        <p:sp>
          <p:nvSpPr>
            <p:cNvPr id="119" name="ZoneTexte 118">
              <a:extLst>
                <a:ext uri="{FF2B5EF4-FFF2-40B4-BE49-F238E27FC236}">
                  <a16:creationId xmlns:a16="http://schemas.microsoft.com/office/drawing/2014/main" id="{E2F2C1AF-40C4-F9BA-10F9-0F58CD00FF7B}"/>
                </a:ext>
              </a:extLst>
            </p:cNvPr>
            <p:cNvSpPr txBox="1"/>
            <p:nvPr/>
          </p:nvSpPr>
          <p:spPr>
            <a:xfrm>
              <a:off x="2837626" y="4735663"/>
              <a:ext cx="1806654" cy="728510"/>
            </a:xfrm>
            <a:prstGeom prst="rect">
              <a:avLst/>
            </a:prstGeom>
            <a:noFill/>
          </p:spPr>
          <p:txBody>
            <a:bodyPr wrap="square">
              <a:spAutoFit/>
            </a:bodyPr>
            <a:lstStyle/>
            <a:p>
              <a:pPr algn="ctr"/>
              <a:r>
                <a:rPr lang="fr-FR" sz="1400" b="1" dirty="0">
                  <a:solidFill>
                    <a:srgbClr val="ED7D31"/>
                  </a:solidFill>
                </a:rPr>
                <a:t>Développement de compétences et réalisation de soi</a:t>
              </a:r>
            </a:p>
          </p:txBody>
        </p:sp>
      </p:grpSp>
      <p:grpSp>
        <p:nvGrpSpPr>
          <p:cNvPr id="120" name="Groupe 119">
            <a:extLst>
              <a:ext uri="{FF2B5EF4-FFF2-40B4-BE49-F238E27FC236}">
                <a16:creationId xmlns:a16="http://schemas.microsoft.com/office/drawing/2014/main" id="{C9E8E6AF-1F4B-E7BF-8E22-E6DE835D7BF5}"/>
              </a:ext>
            </a:extLst>
          </p:cNvPr>
          <p:cNvGrpSpPr/>
          <p:nvPr/>
        </p:nvGrpSpPr>
        <p:grpSpPr>
          <a:xfrm>
            <a:off x="1474818" y="7104926"/>
            <a:ext cx="1795852" cy="1494464"/>
            <a:chOff x="4120272" y="4187837"/>
            <a:chExt cx="872285" cy="726750"/>
          </a:xfrm>
        </p:grpSpPr>
        <p:pic>
          <p:nvPicPr>
            <p:cNvPr id="121" name="Graphique 120" descr="Utilisateurs avec un remplissage uni">
              <a:extLst>
                <a:ext uri="{FF2B5EF4-FFF2-40B4-BE49-F238E27FC236}">
                  <a16:creationId xmlns:a16="http://schemas.microsoft.com/office/drawing/2014/main" id="{01BA4149-89D2-F020-2897-45886F419072}"/>
                </a:ext>
              </a:extLst>
            </p:cNvPr>
            <p:cNvPicPr>
              <a:picLocks noChangeAspect="1"/>
            </p:cNvPicPr>
            <p:nvPr/>
          </p:nvPicPr>
          <p:blipFill>
            <a:blip r:embed="rId35">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4278095" y="4187837"/>
              <a:ext cx="590398" cy="590398"/>
            </a:xfrm>
            <a:prstGeom prst="rect">
              <a:avLst/>
            </a:prstGeom>
          </p:spPr>
        </p:pic>
        <p:sp>
          <p:nvSpPr>
            <p:cNvPr id="122" name="ZoneTexte 121">
              <a:extLst>
                <a:ext uri="{FF2B5EF4-FFF2-40B4-BE49-F238E27FC236}">
                  <a16:creationId xmlns:a16="http://schemas.microsoft.com/office/drawing/2014/main" id="{BDD26642-EC77-6014-2945-5F45F36CC7BE}"/>
                </a:ext>
              </a:extLst>
            </p:cNvPr>
            <p:cNvSpPr txBox="1"/>
            <p:nvPr/>
          </p:nvSpPr>
          <p:spPr>
            <a:xfrm>
              <a:off x="4120272" y="4660148"/>
              <a:ext cx="872285" cy="254439"/>
            </a:xfrm>
            <a:prstGeom prst="rect">
              <a:avLst/>
            </a:prstGeom>
            <a:noFill/>
          </p:spPr>
          <p:txBody>
            <a:bodyPr wrap="square">
              <a:spAutoFit/>
            </a:bodyPr>
            <a:lstStyle/>
            <a:p>
              <a:pPr algn="ctr"/>
              <a:r>
                <a:rPr lang="fr-FR" sz="1400" b="1" dirty="0">
                  <a:solidFill>
                    <a:srgbClr val="ED7D31"/>
                  </a:solidFill>
                </a:rPr>
                <a:t>Reconnaissance sociale </a:t>
              </a:r>
            </a:p>
          </p:txBody>
        </p:sp>
      </p:grpSp>
      <p:grpSp>
        <p:nvGrpSpPr>
          <p:cNvPr id="123" name="Groupe 122">
            <a:extLst>
              <a:ext uri="{FF2B5EF4-FFF2-40B4-BE49-F238E27FC236}">
                <a16:creationId xmlns:a16="http://schemas.microsoft.com/office/drawing/2014/main" id="{CB650A4F-A5E2-18B2-B4D5-7F7B721A4CEC}"/>
              </a:ext>
            </a:extLst>
          </p:cNvPr>
          <p:cNvGrpSpPr/>
          <p:nvPr/>
        </p:nvGrpSpPr>
        <p:grpSpPr>
          <a:xfrm>
            <a:off x="2909446" y="7302617"/>
            <a:ext cx="1378673" cy="1790005"/>
            <a:chOff x="6088603" y="4144848"/>
            <a:chExt cx="1000589" cy="1300650"/>
          </a:xfrm>
        </p:grpSpPr>
        <p:pic>
          <p:nvPicPr>
            <p:cNvPr id="124" name="Graphique 123" descr="Globe terrestre : Europe et Afrique avec un remplissage uni">
              <a:extLst>
                <a:ext uri="{FF2B5EF4-FFF2-40B4-BE49-F238E27FC236}">
                  <a16:creationId xmlns:a16="http://schemas.microsoft.com/office/drawing/2014/main" id="{1C494CBA-4E49-FAC7-3717-3A58C32F6E6C}"/>
                </a:ext>
              </a:extLst>
            </p:cNvPr>
            <p:cNvPicPr>
              <a:picLocks noChangeAspect="1"/>
            </p:cNvPicPr>
            <p:nvPr/>
          </p:nvPicPr>
          <p:blipFill>
            <a:blip r:embed="rId37">
              <a:extLst>
                <a:ext uri="{28A0092B-C50C-407E-A947-70E740481C1C}">
                  <a14:useLocalDpi xmlns:a14="http://schemas.microsoft.com/office/drawing/2010/main" val="0"/>
                </a:ext>
                <a:ext uri="{96DAC541-7B7A-43D3-8B79-37D633B846F1}">
                  <asvg:svgBlip xmlns:asvg="http://schemas.microsoft.com/office/drawing/2016/SVG/main" r:embed="rId38"/>
                </a:ext>
              </a:extLst>
            </a:blip>
            <a:stretch>
              <a:fillRect/>
            </a:stretch>
          </p:blipFill>
          <p:spPr>
            <a:xfrm>
              <a:off x="6278977" y="4144848"/>
              <a:ext cx="643205" cy="643205"/>
            </a:xfrm>
            <a:prstGeom prst="rect">
              <a:avLst/>
            </a:prstGeom>
          </p:spPr>
        </p:pic>
        <p:sp>
          <p:nvSpPr>
            <p:cNvPr id="125" name="ZoneTexte 124">
              <a:extLst>
                <a:ext uri="{FF2B5EF4-FFF2-40B4-BE49-F238E27FC236}">
                  <a16:creationId xmlns:a16="http://schemas.microsoft.com/office/drawing/2014/main" id="{D592D554-1B17-8B66-352F-ED21B514A6F5}"/>
                </a:ext>
              </a:extLst>
            </p:cNvPr>
            <p:cNvSpPr txBox="1"/>
            <p:nvPr/>
          </p:nvSpPr>
          <p:spPr>
            <a:xfrm>
              <a:off x="6088603" y="4716985"/>
              <a:ext cx="1000589" cy="728513"/>
            </a:xfrm>
            <a:prstGeom prst="rect">
              <a:avLst/>
            </a:prstGeom>
            <a:noFill/>
          </p:spPr>
          <p:txBody>
            <a:bodyPr wrap="square">
              <a:spAutoFit/>
            </a:bodyPr>
            <a:lstStyle/>
            <a:p>
              <a:pPr algn="ctr"/>
              <a:r>
                <a:rPr lang="fr-FR" sz="1400" b="1" dirty="0">
                  <a:solidFill>
                    <a:srgbClr val="ED7D31"/>
                  </a:solidFill>
                </a:rPr>
                <a:t>Impact positif et sens</a:t>
              </a:r>
            </a:p>
          </p:txBody>
        </p:sp>
      </p:grpSp>
      <p:grpSp>
        <p:nvGrpSpPr>
          <p:cNvPr id="126" name="Groupe 125">
            <a:extLst>
              <a:ext uri="{FF2B5EF4-FFF2-40B4-BE49-F238E27FC236}">
                <a16:creationId xmlns:a16="http://schemas.microsoft.com/office/drawing/2014/main" id="{5D9422B2-379A-A963-BB06-0E07BD01F846}"/>
              </a:ext>
            </a:extLst>
          </p:cNvPr>
          <p:cNvGrpSpPr/>
          <p:nvPr/>
        </p:nvGrpSpPr>
        <p:grpSpPr>
          <a:xfrm>
            <a:off x="3994400" y="7429157"/>
            <a:ext cx="1406379" cy="1194036"/>
            <a:chOff x="8129937" y="4169500"/>
            <a:chExt cx="1286847" cy="1093835"/>
          </a:xfrm>
        </p:grpSpPr>
        <p:pic>
          <p:nvPicPr>
            <p:cNvPr id="127" name="Graphique 126" descr="Poignée de main avec un remplissage uni">
              <a:extLst>
                <a:ext uri="{FF2B5EF4-FFF2-40B4-BE49-F238E27FC236}">
                  <a16:creationId xmlns:a16="http://schemas.microsoft.com/office/drawing/2014/main" id="{57BCF05A-77A6-139B-41F4-7DD36887D019}"/>
                </a:ext>
              </a:extLst>
            </p:cNvPr>
            <p:cNvPicPr>
              <a:picLocks noChangeAspect="1"/>
            </p:cNvPicPr>
            <p:nvPr/>
          </p:nvPicPr>
          <p:blipFill>
            <a:blip r:embed="rId39">
              <a:extLst>
                <a:ext uri="{28A0092B-C50C-407E-A947-70E740481C1C}">
                  <a14:useLocalDpi xmlns:a14="http://schemas.microsoft.com/office/drawing/2010/main" val="0"/>
                </a:ext>
                <a:ext uri="{96DAC541-7B7A-43D3-8B79-37D633B846F1}">
                  <asvg:svgBlip xmlns:asvg="http://schemas.microsoft.com/office/drawing/2016/SVG/main" r:embed="rId40"/>
                </a:ext>
              </a:extLst>
            </a:blip>
            <a:stretch>
              <a:fillRect/>
            </a:stretch>
          </p:blipFill>
          <p:spPr>
            <a:xfrm>
              <a:off x="8378292" y="4169500"/>
              <a:ext cx="703975" cy="703975"/>
            </a:xfrm>
            <a:prstGeom prst="rect">
              <a:avLst/>
            </a:prstGeom>
          </p:spPr>
        </p:pic>
        <p:sp>
          <p:nvSpPr>
            <p:cNvPr id="128" name="ZoneTexte 127">
              <a:extLst>
                <a:ext uri="{FF2B5EF4-FFF2-40B4-BE49-F238E27FC236}">
                  <a16:creationId xmlns:a16="http://schemas.microsoft.com/office/drawing/2014/main" id="{751EB9D0-1E41-BEE8-01FA-FD7A405CF34E}"/>
                </a:ext>
              </a:extLst>
            </p:cNvPr>
            <p:cNvSpPr txBox="1"/>
            <p:nvPr/>
          </p:nvSpPr>
          <p:spPr>
            <a:xfrm>
              <a:off x="8129937" y="4747307"/>
              <a:ext cx="1286847" cy="516028"/>
            </a:xfrm>
            <a:prstGeom prst="rect">
              <a:avLst/>
            </a:prstGeom>
            <a:noFill/>
          </p:spPr>
          <p:txBody>
            <a:bodyPr wrap="square">
              <a:spAutoFit/>
            </a:bodyPr>
            <a:lstStyle/>
            <a:p>
              <a:pPr algn="ctr"/>
              <a:r>
                <a:rPr lang="fr-FR" sz="1400" b="1" dirty="0">
                  <a:solidFill>
                    <a:srgbClr val="ED7D31"/>
                  </a:solidFill>
                </a:rPr>
                <a:t>Lien avec les autres</a:t>
              </a:r>
            </a:p>
          </p:txBody>
        </p:sp>
      </p:grpSp>
    </p:spTree>
    <p:extLst>
      <p:ext uri="{BB962C8B-B14F-4D97-AF65-F5344CB8AC3E}">
        <p14:creationId xmlns:p14="http://schemas.microsoft.com/office/powerpoint/2010/main" val="1141670661"/>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Pour améliorer mon activité au quotidien, je ne peux pas toujours passer par des voies managériales directes (s’améliorer est souvent moins prioritaire que livrer). Par chance je participe à une </a:t>
            </a:r>
            <a:r>
              <a:rPr lang="fr-FR" sz="1400" b="1" dirty="0"/>
              <a:t>Communauté d’innovation</a:t>
            </a:r>
            <a:r>
              <a:rPr lang="fr-FR" sz="1400" dirty="0"/>
              <a:t> où je peux concrétiser mes idées.</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La compétitivité de l’entreprise peut aussi se développer par l’innovation. L’innovation centralisée peut aussi être complétée par une innovation « terrain » qui permet d’intercepter les opportunités venant de collaborateurs, par exemple avec des </a:t>
            </a:r>
            <a:r>
              <a:rPr lang="fr-FR" sz="1400" b="1" dirty="0">
                <a:solidFill>
                  <a:schemeClr val="bg1"/>
                </a:solidFill>
              </a:rPr>
              <a:t>Communautés d’innovation.</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8 : Quand j’ai des idées pour l’entreprise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621162"/>
            </a:xfrm>
            <a:prstGeom prst="rect">
              <a:avLst/>
            </a:prstGeom>
            <a:noFill/>
          </p:spPr>
          <p:txBody>
            <a:bodyPr wrap="square">
              <a:spAutoFit/>
            </a:bodyPr>
            <a:lstStyle/>
            <a:p>
              <a:pPr algn="r"/>
              <a:r>
                <a:rPr lang="fr-FR" b="1" dirty="0">
                  <a:solidFill>
                    <a:schemeClr val="tx1"/>
                  </a:solidFill>
                </a:rPr>
                <a:t>Ep 9: </a:t>
              </a:r>
            </a:p>
            <a:p>
              <a:pPr algn="r"/>
              <a:r>
                <a:rPr lang="fr-FR" b="1" dirty="0">
                  <a:solidFill>
                    <a:schemeClr val="tx1"/>
                  </a:solidFill>
                </a:rPr>
                <a:t>Quand </a:t>
              </a:r>
            </a:p>
            <a:p>
              <a:pPr algn="r"/>
              <a:r>
                <a:rPr lang="fr-FR" b="1" dirty="0">
                  <a:solidFill>
                    <a:schemeClr val="tx1"/>
                  </a:solidFill>
                </a:rPr>
                <a:t>je fais face au changement</a:t>
              </a: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3" name="Groupe 2">
            <a:extLst>
              <a:ext uri="{FF2B5EF4-FFF2-40B4-BE49-F238E27FC236}">
                <a16:creationId xmlns:a16="http://schemas.microsoft.com/office/drawing/2014/main" id="{CD8B5493-9030-A7B9-31B8-3A1109E175B0}"/>
              </a:ext>
            </a:extLst>
          </p:cNvPr>
          <p:cNvGrpSpPr/>
          <p:nvPr/>
        </p:nvGrpSpPr>
        <p:grpSpPr>
          <a:xfrm>
            <a:off x="6844675" y="7143001"/>
            <a:ext cx="1946247" cy="1781791"/>
            <a:chOff x="6603912" y="4531938"/>
            <a:chExt cx="1946247" cy="1781791"/>
          </a:xfrm>
        </p:grpSpPr>
        <p:grpSp>
          <p:nvGrpSpPr>
            <p:cNvPr id="87" name="Groupe 86">
              <a:extLst>
                <a:ext uri="{FF2B5EF4-FFF2-40B4-BE49-F238E27FC236}">
                  <a16:creationId xmlns:a16="http://schemas.microsoft.com/office/drawing/2014/main" id="{B2EA2B92-AAD1-9D5E-AD31-2047AD55BFC1}"/>
                </a:ext>
              </a:extLst>
            </p:cNvPr>
            <p:cNvGrpSpPr/>
            <p:nvPr/>
          </p:nvGrpSpPr>
          <p:grpSpPr>
            <a:xfrm>
              <a:off x="6823696" y="4531938"/>
              <a:ext cx="1418024" cy="1308166"/>
              <a:chOff x="1770451" y="635328"/>
              <a:chExt cx="2847387" cy="2660604"/>
            </a:xfrm>
          </p:grpSpPr>
          <p:sp>
            <p:nvSpPr>
              <p:cNvPr id="88" name="Ellipse 87">
                <a:extLst>
                  <a:ext uri="{FF2B5EF4-FFF2-40B4-BE49-F238E27FC236}">
                    <a16:creationId xmlns:a16="http://schemas.microsoft.com/office/drawing/2014/main" id="{F685D50C-8B26-8996-0636-616425298CDE}"/>
                  </a:ext>
                </a:extLst>
              </p:cNvPr>
              <p:cNvSpPr/>
              <p:nvPr/>
            </p:nvSpPr>
            <p:spPr>
              <a:xfrm>
                <a:off x="2285862" y="956143"/>
                <a:ext cx="1882589" cy="1882589"/>
              </a:xfrm>
              <a:prstGeom prst="ellipse">
                <a:avLst/>
              </a:prstGeom>
              <a:noFill/>
              <a:ln w="9525">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pic>
            <p:nvPicPr>
              <p:cNvPr id="89" name="Graphique 88" descr="Lunettes 3D avec un remplissage uni">
                <a:extLst>
                  <a:ext uri="{FF2B5EF4-FFF2-40B4-BE49-F238E27FC236}">
                    <a16:creationId xmlns:a16="http://schemas.microsoft.com/office/drawing/2014/main" id="{1B92796C-DC45-E94F-AA7C-AFC7DF9EC2F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339651" y="643202"/>
                <a:ext cx="914400" cy="914400"/>
              </a:xfrm>
              <a:prstGeom prst="rect">
                <a:avLst/>
              </a:prstGeom>
            </p:spPr>
          </p:pic>
          <p:pic>
            <p:nvPicPr>
              <p:cNvPr id="90" name="Graphique 89" descr="Mannequin test avec un remplissage uni">
                <a:extLst>
                  <a:ext uri="{FF2B5EF4-FFF2-40B4-BE49-F238E27FC236}">
                    <a16:creationId xmlns:a16="http://schemas.microsoft.com/office/drawing/2014/main" id="{B7047D3B-3D5F-F0BE-5514-82E89AFDBEC2}"/>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825957" y="2381532"/>
                <a:ext cx="914400" cy="914400"/>
              </a:xfrm>
              <a:prstGeom prst="rect">
                <a:avLst/>
              </a:prstGeom>
            </p:spPr>
          </p:pic>
          <p:pic>
            <p:nvPicPr>
              <p:cNvPr id="91" name="Graphique 90" descr="Homme scientifique avec un remplissage uni">
                <a:extLst>
                  <a:ext uri="{FF2B5EF4-FFF2-40B4-BE49-F238E27FC236}">
                    <a16:creationId xmlns:a16="http://schemas.microsoft.com/office/drawing/2014/main" id="{E45F701B-D9CF-E69E-8891-DEA798D40887}"/>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3612503" y="635328"/>
                <a:ext cx="914400" cy="914400"/>
              </a:xfrm>
              <a:prstGeom prst="rect">
                <a:avLst/>
              </a:prstGeom>
            </p:spPr>
          </p:pic>
          <p:pic>
            <p:nvPicPr>
              <p:cNvPr id="92" name="Graphique 91" descr="Presse-papiers mixte avec un remplissage uni">
                <a:extLst>
                  <a:ext uri="{FF2B5EF4-FFF2-40B4-BE49-F238E27FC236}">
                    <a16:creationId xmlns:a16="http://schemas.microsoft.com/office/drawing/2014/main" id="{1E4481CD-5A27-F8ED-5557-875CD8F7F761}"/>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3703438" y="1819176"/>
                <a:ext cx="914400" cy="914400"/>
              </a:xfrm>
              <a:prstGeom prst="rect">
                <a:avLst/>
              </a:prstGeom>
            </p:spPr>
          </p:pic>
          <p:pic>
            <p:nvPicPr>
              <p:cNvPr id="93" name="Graphique 92" descr="Brainstorming de groupe avec un remplissage uni">
                <a:extLst>
                  <a:ext uri="{FF2B5EF4-FFF2-40B4-BE49-F238E27FC236}">
                    <a16:creationId xmlns:a16="http://schemas.microsoft.com/office/drawing/2014/main" id="{08352768-0978-7187-D7B5-0D9CA34559DD}"/>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770451" y="1557602"/>
                <a:ext cx="914400" cy="914400"/>
              </a:xfrm>
              <a:prstGeom prst="rect">
                <a:avLst/>
              </a:prstGeom>
            </p:spPr>
          </p:pic>
        </p:grpSp>
        <p:sp>
          <p:nvSpPr>
            <p:cNvPr id="94" name="Rectangle 93">
              <a:extLst>
                <a:ext uri="{FF2B5EF4-FFF2-40B4-BE49-F238E27FC236}">
                  <a16:creationId xmlns:a16="http://schemas.microsoft.com/office/drawing/2014/main" id="{144A2DC1-316D-5A0E-E50E-B0E19ECC7F4F}"/>
                </a:ext>
              </a:extLst>
            </p:cNvPr>
            <p:cNvSpPr/>
            <p:nvPr/>
          </p:nvSpPr>
          <p:spPr>
            <a:xfrm>
              <a:off x="6603912" y="5864137"/>
              <a:ext cx="1946247" cy="4495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à l’innovation</a:t>
              </a:r>
              <a:endParaRPr lang="fr-FR" sz="1400" dirty="0">
                <a:solidFill>
                  <a:schemeClr val="tx1"/>
                </a:solidFill>
              </a:endParaRPr>
            </a:p>
          </p:txBody>
        </p:sp>
      </p:grpSp>
      <p:grpSp>
        <p:nvGrpSpPr>
          <p:cNvPr id="96" name="Groupe 95">
            <a:extLst>
              <a:ext uri="{FF2B5EF4-FFF2-40B4-BE49-F238E27FC236}">
                <a16:creationId xmlns:a16="http://schemas.microsoft.com/office/drawing/2014/main" id="{2AE20519-0A40-C8D2-640A-E7D4471874B2}"/>
              </a:ext>
            </a:extLst>
          </p:cNvPr>
          <p:cNvGrpSpPr/>
          <p:nvPr/>
        </p:nvGrpSpPr>
        <p:grpSpPr>
          <a:xfrm>
            <a:off x="241195" y="7031155"/>
            <a:ext cx="1729506" cy="1264368"/>
            <a:chOff x="-2685568" y="4235619"/>
            <a:chExt cx="1015727" cy="742555"/>
          </a:xfrm>
        </p:grpSpPr>
        <p:pic>
          <p:nvPicPr>
            <p:cNvPr id="97" name="Graphique 96" descr="Pinceau avec un remplissage uni">
              <a:extLst>
                <a:ext uri="{FF2B5EF4-FFF2-40B4-BE49-F238E27FC236}">
                  <a16:creationId xmlns:a16="http://schemas.microsoft.com/office/drawing/2014/main" id="{E8C4ECAC-2522-03AF-F73F-BAD4CE479C8E}"/>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2396831" y="4235619"/>
              <a:ext cx="520757" cy="520145"/>
            </a:xfrm>
            <a:prstGeom prst="rect">
              <a:avLst/>
            </a:prstGeom>
          </p:spPr>
        </p:pic>
        <p:sp>
          <p:nvSpPr>
            <p:cNvPr id="106" name="ZoneTexte 105">
              <a:extLst>
                <a:ext uri="{FF2B5EF4-FFF2-40B4-BE49-F238E27FC236}">
                  <a16:creationId xmlns:a16="http://schemas.microsoft.com/office/drawing/2014/main" id="{385DDA82-D061-36CB-9619-0F98D3862BF3}"/>
                </a:ext>
              </a:extLst>
            </p:cNvPr>
            <p:cNvSpPr txBox="1"/>
            <p:nvPr/>
          </p:nvSpPr>
          <p:spPr>
            <a:xfrm>
              <a:off x="-2685568" y="4797419"/>
              <a:ext cx="1015727" cy="180755"/>
            </a:xfrm>
            <a:prstGeom prst="rect">
              <a:avLst/>
            </a:prstGeom>
            <a:noFill/>
          </p:spPr>
          <p:txBody>
            <a:bodyPr wrap="square">
              <a:spAutoFit/>
            </a:bodyPr>
            <a:lstStyle/>
            <a:p>
              <a:pPr algn="ctr"/>
              <a:r>
                <a:rPr lang="fr-FR" sz="1400" b="1" dirty="0">
                  <a:solidFill>
                    <a:srgbClr val="ED7D31"/>
                  </a:solidFill>
                </a:rPr>
                <a:t>Espace créatif</a:t>
              </a:r>
            </a:p>
          </p:txBody>
        </p:sp>
      </p:grpSp>
      <p:grpSp>
        <p:nvGrpSpPr>
          <p:cNvPr id="129" name="Groupe 128">
            <a:extLst>
              <a:ext uri="{FF2B5EF4-FFF2-40B4-BE49-F238E27FC236}">
                <a16:creationId xmlns:a16="http://schemas.microsoft.com/office/drawing/2014/main" id="{F07200F9-3EFB-A015-49B6-0AB6F0DF3707}"/>
              </a:ext>
            </a:extLst>
          </p:cNvPr>
          <p:cNvGrpSpPr/>
          <p:nvPr/>
        </p:nvGrpSpPr>
        <p:grpSpPr>
          <a:xfrm>
            <a:off x="1544118" y="7212961"/>
            <a:ext cx="1311479" cy="1078813"/>
            <a:chOff x="476026" y="4217299"/>
            <a:chExt cx="657719" cy="541671"/>
          </a:xfrm>
        </p:grpSpPr>
        <p:sp>
          <p:nvSpPr>
            <p:cNvPr id="130" name="ZoneTexte 129">
              <a:extLst>
                <a:ext uri="{FF2B5EF4-FFF2-40B4-BE49-F238E27FC236}">
                  <a16:creationId xmlns:a16="http://schemas.microsoft.com/office/drawing/2014/main" id="{774491A2-FA40-7016-E168-894D31B3F11E}"/>
                </a:ext>
              </a:extLst>
            </p:cNvPr>
            <p:cNvSpPr txBox="1"/>
            <p:nvPr/>
          </p:nvSpPr>
          <p:spPr>
            <a:xfrm>
              <a:off x="476026" y="4604436"/>
              <a:ext cx="657719" cy="154534"/>
            </a:xfrm>
            <a:prstGeom prst="rect">
              <a:avLst/>
            </a:prstGeom>
            <a:noFill/>
          </p:spPr>
          <p:txBody>
            <a:bodyPr wrap="square">
              <a:spAutoFit/>
            </a:bodyPr>
            <a:lstStyle/>
            <a:p>
              <a:pPr algn="ctr"/>
              <a:r>
                <a:rPr lang="fr-FR" sz="1400" b="1" dirty="0">
                  <a:solidFill>
                    <a:srgbClr val="ED7D31"/>
                  </a:solidFill>
                </a:rPr>
                <a:t>Liberté</a:t>
              </a:r>
            </a:p>
          </p:txBody>
        </p:sp>
        <p:pic>
          <p:nvPicPr>
            <p:cNvPr id="131" name="Graphique 130" descr="Sablier plein avec un remplissage uni">
              <a:extLst>
                <a:ext uri="{FF2B5EF4-FFF2-40B4-BE49-F238E27FC236}">
                  <a16:creationId xmlns:a16="http://schemas.microsoft.com/office/drawing/2014/main" id="{F7BA4289-D8E7-5A8D-FD96-1D04FBFAE9B6}"/>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610516" y="4217299"/>
              <a:ext cx="384459" cy="384459"/>
            </a:xfrm>
            <a:prstGeom prst="rect">
              <a:avLst/>
            </a:prstGeom>
          </p:spPr>
        </p:pic>
      </p:grpSp>
      <p:grpSp>
        <p:nvGrpSpPr>
          <p:cNvPr id="135" name="Groupe 134">
            <a:extLst>
              <a:ext uri="{FF2B5EF4-FFF2-40B4-BE49-F238E27FC236}">
                <a16:creationId xmlns:a16="http://schemas.microsoft.com/office/drawing/2014/main" id="{D45A9548-C918-F5FF-A58D-1B7143585EA4}"/>
              </a:ext>
            </a:extLst>
          </p:cNvPr>
          <p:cNvGrpSpPr/>
          <p:nvPr/>
        </p:nvGrpSpPr>
        <p:grpSpPr>
          <a:xfrm>
            <a:off x="2578892" y="7543621"/>
            <a:ext cx="1134665" cy="746398"/>
            <a:chOff x="1718551" y="4252127"/>
            <a:chExt cx="916494" cy="736137"/>
          </a:xfrm>
        </p:grpSpPr>
        <p:grpSp>
          <p:nvGrpSpPr>
            <p:cNvPr id="136" name="Groupe 135">
              <a:extLst>
                <a:ext uri="{FF2B5EF4-FFF2-40B4-BE49-F238E27FC236}">
                  <a16:creationId xmlns:a16="http://schemas.microsoft.com/office/drawing/2014/main" id="{C3001D05-1868-F65D-67F3-203815A2CBC3}"/>
                </a:ext>
              </a:extLst>
            </p:cNvPr>
            <p:cNvGrpSpPr/>
            <p:nvPr/>
          </p:nvGrpSpPr>
          <p:grpSpPr>
            <a:xfrm>
              <a:off x="1812986" y="4252127"/>
              <a:ext cx="788755" cy="483536"/>
              <a:chOff x="8496164" y="663605"/>
              <a:chExt cx="2837988" cy="1739790"/>
            </a:xfrm>
          </p:grpSpPr>
          <p:pic>
            <p:nvPicPr>
              <p:cNvPr id="138" name="Graphique 137" descr="Évaluation 3 étoiles avec un remplissage uni">
                <a:extLst>
                  <a:ext uri="{FF2B5EF4-FFF2-40B4-BE49-F238E27FC236}">
                    <a16:creationId xmlns:a16="http://schemas.microsoft.com/office/drawing/2014/main" id="{5F1FF966-35DA-8420-596A-2DBA21180E67}"/>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8496164" y="663605"/>
                <a:ext cx="1739790" cy="1739790"/>
              </a:xfrm>
              <a:prstGeom prst="rect">
                <a:avLst/>
              </a:prstGeom>
            </p:spPr>
          </p:pic>
          <p:pic>
            <p:nvPicPr>
              <p:cNvPr id="139" name="Graphique 138" descr="Évaluation 3 étoiles avec un remplissage uni">
                <a:extLst>
                  <a:ext uri="{FF2B5EF4-FFF2-40B4-BE49-F238E27FC236}">
                    <a16:creationId xmlns:a16="http://schemas.microsoft.com/office/drawing/2014/main" id="{E4354B17-9B54-BFC9-A1FF-76E45B9D00AA}"/>
                  </a:ext>
                </a:extLst>
              </p:cNvPr>
              <p:cNvPicPr>
                <a:picLocks noChangeAspect="1"/>
              </p:cNvPicPr>
              <p:nvPr/>
            </p:nvPicPr>
            <p:blipFill rotWithShape="1">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rcRect l="33972"/>
              <a:stretch/>
            </p:blipFill>
            <p:spPr>
              <a:xfrm>
                <a:off x="10185399" y="663605"/>
                <a:ext cx="1148753" cy="1739790"/>
              </a:xfrm>
              <a:prstGeom prst="rect">
                <a:avLst/>
              </a:prstGeom>
            </p:spPr>
          </p:pic>
        </p:grpSp>
        <p:sp>
          <p:nvSpPr>
            <p:cNvPr id="137" name="ZoneTexte 136">
              <a:extLst>
                <a:ext uri="{FF2B5EF4-FFF2-40B4-BE49-F238E27FC236}">
                  <a16:creationId xmlns:a16="http://schemas.microsoft.com/office/drawing/2014/main" id="{A4EC3DD5-8BF1-5DFD-E293-235FECDDAD0A}"/>
                </a:ext>
              </a:extLst>
            </p:cNvPr>
            <p:cNvSpPr txBox="1"/>
            <p:nvPr/>
          </p:nvSpPr>
          <p:spPr>
            <a:xfrm>
              <a:off x="1718551" y="4684718"/>
              <a:ext cx="916494" cy="303546"/>
            </a:xfrm>
            <a:prstGeom prst="rect">
              <a:avLst/>
            </a:prstGeom>
            <a:noFill/>
          </p:spPr>
          <p:txBody>
            <a:bodyPr wrap="square">
              <a:spAutoFit/>
            </a:bodyPr>
            <a:lstStyle/>
            <a:p>
              <a:pPr algn="ctr"/>
              <a:r>
                <a:rPr lang="fr-FR" sz="1400" b="1" dirty="0">
                  <a:solidFill>
                    <a:srgbClr val="ED7D31"/>
                  </a:solidFill>
                </a:rPr>
                <a:t>Stimulation</a:t>
              </a:r>
            </a:p>
          </p:txBody>
        </p:sp>
      </p:grpSp>
      <p:grpSp>
        <p:nvGrpSpPr>
          <p:cNvPr id="145" name="Groupe 144">
            <a:extLst>
              <a:ext uri="{FF2B5EF4-FFF2-40B4-BE49-F238E27FC236}">
                <a16:creationId xmlns:a16="http://schemas.microsoft.com/office/drawing/2014/main" id="{34E2D156-6656-6E52-DB15-E281697F08F7}"/>
              </a:ext>
            </a:extLst>
          </p:cNvPr>
          <p:cNvGrpSpPr/>
          <p:nvPr/>
        </p:nvGrpSpPr>
        <p:grpSpPr>
          <a:xfrm>
            <a:off x="3704823" y="6926787"/>
            <a:ext cx="1609730" cy="1624070"/>
            <a:chOff x="2837626" y="3862428"/>
            <a:chExt cx="1806654" cy="1601745"/>
          </a:xfrm>
        </p:grpSpPr>
        <p:pic>
          <p:nvPicPr>
            <p:cNvPr id="146" name="Graphique 145" descr="Aspiration avec un remplissage uni">
              <a:extLst>
                <a:ext uri="{FF2B5EF4-FFF2-40B4-BE49-F238E27FC236}">
                  <a16:creationId xmlns:a16="http://schemas.microsoft.com/office/drawing/2014/main" id="{6A411E85-E5AF-DF30-3596-914A29C41124}"/>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3291263" y="3862428"/>
              <a:ext cx="1163723" cy="940256"/>
            </a:xfrm>
            <a:prstGeom prst="rect">
              <a:avLst/>
            </a:prstGeom>
          </p:spPr>
        </p:pic>
        <p:sp>
          <p:nvSpPr>
            <p:cNvPr id="147" name="ZoneTexte 146">
              <a:extLst>
                <a:ext uri="{FF2B5EF4-FFF2-40B4-BE49-F238E27FC236}">
                  <a16:creationId xmlns:a16="http://schemas.microsoft.com/office/drawing/2014/main" id="{9881981D-DA61-8DE3-8907-644AD4C13C82}"/>
                </a:ext>
              </a:extLst>
            </p:cNvPr>
            <p:cNvSpPr txBox="1"/>
            <p:nvPr/>
          </p:nvSpPr>
          <p:spPr>
            <a:xfrm>
              <a:off x="2837626" y="4735663"/>
              <a:ext cx="1806654" cy="728510"/>
            </a:xfrm>
            <a:prstGeom prst="rect">
              <a:avLst/>
            </a:prstGeom>
            <a:noFill/>
          </p:spPr>
          <p:txBody>
            <a:bodyPr wrap="square">
              <a:spAutoFit/>
            </a:bodyPr>
            <a:lstStyle/>
            <a:p>
              <a:pPr algn="ctr"/>
              <a:r>
                <a:rPr lang="fr-FR" sz="1400" b="1" dirty="0">
                  <a:solidFill>
                    <a:srgbClr val="ED7D31"/>
                  </a:solidFill>
                </a:rPr>
                <a:t>Développement de compétences et réalisation de soi</a:t>
              </a:r>
            </a:p>
          </p:txBody>
        </p:sp>
      </p:grpSp>
    </p:spTree>
    <p:extLst>
      <p:ext uri="{BB962C8B-B14F-4D97-AF65-F5344CB8AC3E}">
        <p14:creationId xmlns:p14="http://schemas.microsoft.com/office/powerpoint/2010/main" val="649721677"/>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r>
              <a:rPr lang="fr-FR" sz="1400" dirty="0"/>
              <a:t>Au-delà d’apprendre et d’innover autour de mon propre métier, je dois aussi apprendre à m’adapter à tous les changements nouveaux dans l’entreprise : outils, façons de travailler, etc. Je mets alors en commun mes questions via des </a:t>
            </a:r>
            <a:r>
              <a:rPr lang="fr-FR" sz="1400" b="1" dirty="0"/>
              <a:t>Communautés de changement.</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Les défis sur le long terme ne concernent pas qu’un seul champ de compétences ou un seul métier, mais l’adaptation de l’entreprise à un contexte qui évolue en permanence. Ces changements collectifs peuvent s’appuyer aussi sur des </a:t>
            </a:r>
            <a:r>
              <a:rPr lang="fr-FR" sz="1400" b="1" dirty="0">
                <a:solidFill>
                  <a:schemeClr val="bg1"/>
                </a:solidFill>
              </a:rPr>
              <a:t>Communautés de changement.</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9 : Quand je fais face au changement</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621162"/>
            </a:xfrm>
            <a:prstGeom prst="rect">
              <a:avLst/>
            </a:prstGeom>
            <a:noFill/>
          </p:spPr>
          <p:txBody>
            <a:bodyPr wrap="square">
              <a:spAutoFit/>
            </a:bodyPr>
            <a:lstStyle/>
            <a:p>
              <a:pPr algn="r"/>
              <a:r>
                <a:rPr lang="fr-FR" b="1" dirty="0">
                  <a:solidFill>
                    <a:schemeClr val="tx1"/>
                  </a:solidFill>
                </a:rPr>
                <a:t>Ep 10: </a:t>
              </a:r>
            </a:p>
            <a:p>
              <a:pPr algn="r"/>
              <a:r>
                <a:rPr lang="fr-FR" b="1" dirty="0"/>
                <a:t>Et quand il ne s’agit pas que du travail</a:t>
              </a:r>
              <a:endParaRPr lang="fr-FR" b="1" dirty="0">
                <a:solidFill>
                  <a:schemeClr val="tx1"/>
                </a:solidFill>
              </a:endParaRP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3" name="Groupe 2">
            <a:extLst>
              <a:ext uri="{FF2B5EF4-FFF2-40B4-BE49-F238E27FC236}">
                <a16:creationId xmlns:a16="http://schemas.microsoft.com/office/drawing/2014/main" id="{66ED5D7A-3801-E907-EB59-E40906D10DF5}"/>
              </a:ext>
            </a:extLst>
          </p:cNvPr>
          <p:cNvGrpSpPr/>
          <p:nvPr/>
        </p:nvGrpSpPr>
        <p:grpSpPr>
          <a:xfrm>
            <a:off x="6397506" y="6984195"/>
            <a:ext cx="2531822" cy="1648145"/>
            <a:chOff x="6324213" y="4585342"/>
            <a:chExt cx="2531822" cy="1648145"/>
          </a:xfrm>
        </p:grpSpPr>
        <p:grpSp>
          <p:nvGrpSpPr>
            <p:cNvPr id="59" name="Groupe 58">
              <a:extLst>
                <a:ext uri="{FF2B5EF4-FFF2-40B4-BE49-F238E27FC236}">
                  <a16:creationId xmlns:a16="http://schemas.microsoft.com/office/drawing/2014/main" id="{91FA7B46-CD0F-447E-B472-D43F7F68890E}"/>
                </a:ext>
              </a:extLst>
            </p:cNvPr>
            <p:cNvGrpSpPr/>
            <p:nvPr/>
          </p:nvGrpSpPr>
          <p:grpSpPr>
            <a:xfrm>
              <a:off x="6324213" y="4585342"/>
              <a:ext cx="2531822" cy="985877"/>
              <a:chOff x="6479122" y="1406591"/>
              <a:chExt cx="5241664" cy="1686141"/>
            </a:xfrm>
            <a:solidFill>
              <a:schemeClr val="tx1"/>
            </a:solidFill>
          </p:grpSpPr>
          <p:pic>
            <p:nvPicPr>
              <p:cNvPr id="60" name="Graphique 59" descr="Soucoupe volante avec un remplissage uni">
                <a:extLst>
                  <a:ext uri="{FF2B5EF4-FFF2-40B4-BE49-F238E27FC236}">
                    <a16:creationId xmlns:a16="http://schemas.microsoft.com/office/drawing/2014/main" id="{D49A0E0A-55BF-EB6B-B7A1-CB87A6E414F2}"/>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0806386" y="1406591"/>
                <a:ext cx="914400" cy="914400"/>
              </a:xfrm>
              <a:prstGeom prst="rect">
                <a:avLst/>
              </a:prstGeom>
            </p:spPr>
          </p:pic>
          <p:pic>
            <p:nvPicPr>
              <p:cNvPr id="61" name="Graphique 60" descr="Usine avec un remplissage uni">
                <a:extLst>
                  <a:ext uri="{FF2B5EF4-FFF2-40B4-BE49-F238E27FC236}">
                    <a16:creationId xmlns:a16="http://schemas.microsoft.com/office/drawing/2014/main" id="{435411F1-418C-1322-5207-DF930EAF072F}"/>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642754" y="1406591"/>
                <a:ext cx="914400" cy="914400"/>
              </a:xfrm>
              <a:prstGeom prst="rect">
                <a:avLst/>
              </a:prstGeom>
            </p:spPr>
          </p:pic>
          <p:pic>
            <p:nvPicPr>
              <p:cNvPr id="62" name="Graphique 61" descr="Pyramide avec un remplissage uni">
                <a:extLst>
                  <a:ext uri="{FF2B5EF4-FFF2-40B4-BE49-F238E27FC236}">
                    <a16:creationId xmlns:a16="http://schemas.microsoft.com/office/drawing/2014/main" id="{3667A7DF-A6E5-55A8-09BD-C07B241FA8F7}"/>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479122" y="1406591"/>
                <a:ext cx="914400" cy="914400"/>
              </a:xfrm>
              <a:prstGeom prst="rect">
                <a:avLst/>
              </a:prstGeom>
            </p:spPr>
          </p:pic>
          <p:pic>
            <p:nvPicPr>
              <p:cNvPr id="63" name="Graphique 62" descr="Bâtiment avec un remplissage uni">
                <a:extLst>
                  <a:ext uri="{FF2B5EF4-FFF2-40B4-BE49-F238E27FC236}">
                    <a16:creationId xmlns:a16="http://schemas.microsoft.com/office/drawing/2014/main" id="{7950E787-7D70-AFBB-6870-F8FA254CCC9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724570" y="2178332"/>
                <a:ext cx="914400" cy="914400"/>
              </a:xfrm>
              <a:prstGeom prst="rect">
                <a:avLst/>
              </a:prstGeom>
            </p:spPr>
          </p:pic>
          <p:pic>
            <p:nvPicPr>
              <p:cNvPr id="64" name="Graphique 63" descr="Scène de château avec un remplissage uni">
                <a:extLst>
                  <a:ext uri="{FF2B5EF4-FFF2-40B4-BE49-F238E27FC236}">
                    <a16:creationId xmlns:a16="http://schemas.microsoft.com/office/drawing/2014/main" id="{6C0DCC10-BE5F-540F-F082-8656E7D3233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560938" y="2178332"/>
                <a:ext cx="914400" cy="914400"/>
              </a:xfrm>
              <a:prstGeom prst="rect">
                <a:avLst/>
              </a:prstGeom>
            </p:spPr>
          </p:pic>
          <p:sp>
            <p:nvSpPr>
              <p:cNvPr id="65" name="Flèche : droite 64">
                <a:extLst>
                  <a:ext uri="{FF2B5EF4-FFF2-40B4-BE49-F238E27FC236}">
                    <a16:creationId xmlns:a16="http://schemas.microsoft.com/office/drawing/2014/main" id="{368DA6CC-8D08-5DB9-BA05-090208FF56AC}"/>
                  </a:ext>
                </a:extLst>
              </p:cNvPr>
              <p:cNvSpPr/>
              <p:nvPr/>
            </p:nvSpPr>
            <p:spPr>
              <a:xfrm rot="2412443">
                <a:off x="7420834" y="1963089"/>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66" name="Flèche : droite 65">
                <a:extLst>
                  <a:ext uri="{FF2B5EF4-FFF2-40B4-BE49-F238E27FC236}">
                    <a16:creationId xmlns:a16="http://schemas.microsoft.com/office/drawing/2014/main" id="{A2202AB0-191D-489E-1591-1F9645E5265A}"/>
                  </a:ext>
                </a:extLst>
              </p:cNvPr>
              <p:cNvSpPr/>
              <p:nvPr/>
            </p:nvSpPr>
            <p:spPr>
              <a:xfrm rot="19318800">
                <a:off x="8295844" y="1962367"/>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67" name="Flèche : droite 66">
                <a:extLst>
                  <a:ext uri="{FF2B5EF4-FFF2-40B4-BE49-F238E27FC236}">
                    <a16:creationId xmlns:a16="http://schemas.microsoft.com/office/drawing/2014/main" id="{D844BE59-AD26-341C-B0FE-00CD69DAA8FD}"/>
                  </a:ext>
                </a:extLst>
              </p:cNvPr>
              <p:cNvSpPr/>
              <p:nvPr/>
            </p:nvSpPr>
            <p:spPr>
              <a:xfrm rot="19318800">
                <a:off x="10452959" y="1962367"/>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sp>
            <p:nvSpPr>
              <p:cNvPr id="68" name="Flèche : droite 67">
                <a:extLst>
                  <a:ext uri="{FF2B5EF4-FFF2-40B4-BE49-F238E27FC236}">
                    <a16:creationId xmlns:a16="http://schemas.microsoft.com/office/drawing/2014/main" id="{5B68BC37-233F-B3E9-ABF1-1B57F15CEFA9}"/>
                  </a:ext>
                </a:extLst>
              </p:cNvPr>
              <p:cNvSpPr/>
              <p:nvPr/>
            </p:nvSpPr>
            <p:spPr>
              <a:xfrm rot="2412443">
                <a:off x="9514335" y="1920725"/>
                <a:ext cx="376312" cy="402843"/>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800"/>
              </a:p>
            </p:txBody>
          </p:sp>
        </p:grpSp>
        <p:sp>
          <p:nvSpPr>
            <p:cNvPr id="69" name="Rectangle 68">
              <a:extLst>
                <a:ext uri="{FF2B5EF4-FFF2-40B4-BE49-F238E27FC236}">
                  <a16:creationId xmlns:a16="http://schemas.microsoft.com/office/drawing/2014/main" id="{0C69C7BD-93D2-3788-8411-EEAEA5481E87}"/>
                </a:ext>
              </a:extLst>
            </p:cNvPr>
            <p:cNvSpPr/>
            <p:nvPr/>
          </p:nvSpPr>
          <p:spPr>
            <a:xfrm>
              <a:off x="6617000" y="5660938"/>
              <a:ext cx="1946247" cy="5725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Contribution à la transformation d’entreprise</a:t>
              </a:r>
              <a:endParaRPr lang="fr-FR" sz="1400" dirty="0">
                <a:solidFill>
                  <a:schemeClr val="tx1"/>
                </a:solidFill>
              </a:endParaRPr>
            </a:p>
          </p:txBody>
        </p:sp>
      </p:grpSp>
      <p:grpSp>
        <p:nvGrpSpPr>
          <p:cNvPr id="95" name="Groupe 94">
            <a:extLst>
              <a:ext uri="{FF2B5EF4-FFF2-40B4-BE49-F238E27FC236}">
                <a16:creationId xmlns:a16="http://schemas.microsoft.com/office/drawing/2014/main" id="{7FD0EBD8-921D-E1B9-654D-AF06B8E18B15}"/>
              </a:ext>
            </a:extLst>
          </p:cNvPr>
          <p:cNvGrpSpPr/>
          <p:nvPr/>
        </p:nvGrpSpPr>
        <p:grpSpPr>
          <a:xfrm>
            <a:off x="490393" y="7533347"/>
            <a:ext cx="1134665" cy="746398"/>
            <a:chOff x="1718551" y="4252127"/>
            <a:chExt cx="916494" cy="736137"/>
          </a:xfrm>
        </p:grpSpPr>
        <p:grpSp>
          <p:nvGrpSpPr>
            <p:cNvPr id="107" name="Groupe 106">
              <a:extLst>
                <a:ext uri="{FF2B5EF4-FFF2-40B4-BE49-F238E27FC236}">
                  <a16:creationId xmlns:a16="http://schemas.microsoft.com/office/drawing/2014/main" id="{497DA07D-3FF5-24C2-3C6B-223E51C5AC59}"/>
                </a:ext>
              </a:extLst>
            </p:cNvPr>
            <p:cNvGrpSpPr/>
            <p:nvPr/>
          </p:nvGrpSpPr>
          <p:grpSpPr>
            <a:xfrm>
              <a:off x="1812986" y="4252127"/>
              <a:ext cx="788755" cy="483536"/>
              <a:chOff x="8496164" y="663605"/>
              <a:chExt cx="2837988" cy="1739790"/>
            </a:xfrm>
          </p:grpSpPr>
          <p:pic>
            <p:nvPicPr>
              <p:cNvPr id="109" name="Graphique 108" descr="Évaluation 3 étoiles avec un remplissage uni">
                <a:extLst>
                  <a:ext uri="{FF2B5EF4-FFF2-40B4-BE49-F238E27FC236}">
                    <a16:creationId xmlns:a16="http://schemas.microsoft.com/office/drawing/2014/main" id="{14B9FE7B-E5AA-81C4-F60E-4D9DF5D9928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8496164" y="663605"/>
                <a:ext cx="1739790" cy="1739790"/>
              </a:xfrm>
              <a:prstGeom prst="rect">
                <a:avLst/>
              </a:prstGeom>
            </p:spPr>
          </p:pic>
          <p:pic>
            <p:nvPicPr>
              <p:cNvPr id="110" name="Graphique 109" descr="Évaluation 3 étoiles avec un remplissage uni">
                <a:extLst>
                  <a:ext uri="{FF2B5EF4-FFF2-40B4-BE49-F238E27FC236}">
                    <a16:creationId xmlns:a16="http://schemas.microsoft.com/office/drawing/2014/main" id="{4F1AB983-F7C5-3FB6-D174-9AE0B1C0377B}"/>
                  </a:ext>
                </a:extLst>
              </p:cNvPr>
              <p:cNvPicPr>
                <a:picLocks noChangeAspect="1"/>
              </p:cNvPicPr>
              <p:nvPr/>
            </p:nvPicPr>
            <p:blipFill rotWithShape="1">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l="33972"/>
              <a:stretch/>
            </p:blipFill>
            <p:spPr>
              <a:xfrm>
                <a:off x="10185399" y="663605"/>
                <a:ext cx="1148753" cy="1739790"/>
              </a:xfrm>
              <a:prstGeom prst="rect">
                <a:avLst/>
              </a:prstGeom>
            </p:spPr>
          </p:pic>
        </p:grpSp>
        <p:sp>
          <p:nvSpPr>
            <p:cNvPr id="108" name="ZoneTexte 107">
              <a:extLst>
                <a:ext uri="{FF2B5EF4-FFF2-40B4-BE49-F238E27FC236}">
                  <a16:creationId xmlns:a16="http://schemas.microsoft.com/office/drawing/2014/main" id="{F7577A1A-46D6-F06D-9689-053E2D730C73}"/>
                </a:ext>
              </a:extLst>
            </p:cNvPr>
            <p:cNvSpPr txBox="1"/>
            <p:nvPr/>
          </p:nvSpPr>
          <p:spPr>
            <a:xfrm>
              <a:off x="1718551" y="4684718"/>
              <a:ext cx="916494" cy="303546"/>
            </a:xfrm>
            <a:prstGeom prst="rect">
              <a:avLst/>
            </a:prstGeom>
            <a:noFill/>
          </p:spPr>
          <p:txBody>
            <a:bodyPr wrap="square">
              <a:spAutoFit/>
            </a:bodyPr>
            <a:lstStyle/>
            <a:p>
              <a:pPr algn="ctr"/>
              <a:r>
                <a:rPr lang="fr-FR" sz="1400" b="1" dirty="0">
                  <a:solidFill>
                    <a:srgbClr val="ED7D31"/>
                  </a:solidFill>
                </a:rPr>
                <a:t>Stimulation</a:t>
              </a:r>
            </a:p>
          </p:txBody>
        </p:sp>
      </p:grpSp>
      <p:grpSp>
        <p:nvGrpSpPr>
          <p:cNvPr id="111" name="Groupe 110">
            <a:extLst>
              <a:ext uri="{FF2B5EF4-FFF2-40B4-BE49-F238E27FC236}">
                <a16:creationId xmlns:a16="http://schemas.microsoft.com/office/drawing/2014/main" id="{27E2BB0B-29FB-63F7-DDD7-14227A799AFF}"/>
              </a:ext>
            </a:extLst>
          </p:cNvPr>
          <p:cNvGrpSpPr/>
          <p:nvPr/>
        </p:nvGrpSpPr>
        <p:grpSpPr>
          <a:xfrm>
            <a:off x="1671302" y="7099797"/>
            <a:ext cx="1609730" cy="1624070"/>
            <a:chOff x="2837626" y="3862428"/>
            <a:chExt cx="1806654" cy="1601745"/>
          </a:xfrm>
        </p:grpSpPr>
        <p:pic>
          <p:nvPicPr>
            <p:cNvPr id="112" name="Graphique 111" descr="Aspiration avec un remplissage uni">
              <a:extLst>
                <a:ext uri="{FF2B5EF4-FFF2-40B4-BE49-F238E27FC236}">
                  <a16:creationId xmlns:a16="http://schemas.microsoft.com/office/drawing/2014/main" id="{931ED3F8-3DC6-A215-C3E5-6E155CD70A7C}"/>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3291263" y="3862428"/>
              <a:ext cx="1163723" cy="940256"/>
            </a:xfrm>
            <a:prstGeom prst="rect">
              <a:avLst/>
            </a:prstGeom>
          </p:spPr>
        </p:pic>
        <p:sp>
          <p:nvSpPr>
            <p:cNvPr id="113" name="ZoneTexte 112">
              <a:extLst>
                <a:ext uri="{FF2B5EF4-FFF2-40B4-BE49-F238E27FC236}">
                  <a16:creationId xmlns:a16="http://schemas.microsoft.com/office/drawing/2014/main" id="{D78800C4-8832-8475-5628-A8AC12B49D21}"/>
                </a:ext>
              </a:extLst>
            </p:cNvPr>
            <p:cNvSpPr txBox="1"/>
            <p:nvPr/>
          </p:nvSpPr>
          <p:spPr>
            <a:xfrm>
              <a:off x="2837626" y="4735663"/>
              <a:ext cx="1806654" cy="728510"/>
            </a:xfrm>
            <a:prstGeom prst="rect">
              <a:avLst/>
            </a:prstGeom>
            <a:noFill/>
          </p:spPr>
          <p:txBody>
            <a:bodyPr wrap="square">
              <a:spAutoFit/>
            </a:bodyPr>
            <a:lstStyle/>
            <a:p>
              <a:pPr algn="ctr"/>
              <a:r>
                <a:rPr lang="fr-FR" sz="1400" b="1" dirty="0">
                  <a:solidFill>
                    <a:srgbClr val="ED7D31"/>
                  </a:solidFill>
                </a:rPr>
                <a:t>Développement de compétences et réalisation de soi</a:t>
              </a:r>
            </a:p>
          </p:txBody>
        </p:sp>
      </p:grpSp>
      <p:grpSp>
        <p:nvGrpSpPr>
          <p:cNvPr id="114" name="Groupe 113">
            <a:extLst>
              <a:ext uri="{FF2B5EF4-FFF2-40B4-BE49-F238E27FC236}">
                <a16:creationId xmlns:a16="http://schemas.microsoft.com/office/drawing/2014/main" id="{BF5823F8-1A82-F0BB-434E-FD9205412144}"/>
              </a:ext>
            </a:extLst>
          </p:cNvPr>
          <p:cNvGrpSpPr/>
          <p:nvPr/>
        </p:nvGrpSpPr>
        <p:grpSpPr>
          <a:xfrm>
            <a:off x="3046624" y="7041000"/>
            <a:ext cx="1732017" cy="1915594"/>
            <a:chOff x="9261999" y="4256738"/>
            <a:chExt cx="965736" cy="1069351"/>
          </a:xfrm>
        </p:grpSpPr>
        <p:sp>
          <p:nvSpPr>
            <p:cNvPr id="115" name="ZoneTexte 114">
              <a:extLst>
                <a:ext uri="{FF2B5EF4-FFF2-40B4-BE49-F238E27FC236}">
                  <a16:creationId xmlns:a16="http://schemas.microsoft.com/office/drawing/2014/main" id="{5C31AFE8-C4B1-2D7E-DC85-D82C513453B6}"/>
                </a:ext>
              </a:extLst>
            </p:cNvPr>
            <p:cNvSpPr txBox="1"/>
            <p:nvPr/>
          </p:nvSpPr>
          <p:spPr>
            <a:xfrm>
              <a:off x="9261999" y="4793473"/>
              <a:ext cx="965736" cy="532616"/>
            </a:xfrm>
            <a:prstGeom prst="rect">
              <a:avLst/>
            </a:prstGeom>
            <a:noFill/>
          </p:spPr>
          <p:txBody>
            <a:bodyPr wrap="square">
              <a:spAutoFit/>
            </a:bodyPr>
            <a:lstStyle/>
            <a:p>
              <a:pPr algn="ctr"/>
              <a:r>
                <a:rPr lang="fr-FR" sz="1400" b="1" dirty="0">
                  <a:solidFill>
                    <a:srgbClr val="ED7D31"/>
                  </a:solidFill>
                </a:rPr>
                <a:t>Satisfaction des obligations et responsabilités existantes</a:t>
              </a:r>
            </a:p>
          </p:txBody>
        </p:sp>
        <p:pic>
          <p:nvPicPr>
            <p:cNvPr id="116" name="Graphique 115" descr="Presse-papiers vérifié avec un remplissage uni">
              <a:extLst>
                <a:ext uri="{FF2B5EF4-FFF2-40B4-BE49-F238E27FC236}">
                  <a16:creationId xmlns:a16="http://schemas.microsoft.com/office/drawing/2014/main" id="{DFD21CD7-6BA4-4FB6-62A3-AE40CF1FB2D7}"/>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524604" y="4256738"/>
              <a:ext cx="491025" cy="491024"/>
            </a:xfrm>
            <a:prstGeom prst="rect">
              <a:avLst/>
            </a:prstGeom>
          </p:spPr>
        </p:pic>
      </p:grpSp>
    </p:spTree>
    <p:extLst>
      <p:ext uri="{BB962C8B-B14F-4D97-AF65-F5344CB8AC3E}">
        <p14:creationId xmlns:p14="http://schemas.microsoft.com/office/powerpoint/2010/main" val="3860813200"/>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dirty="0"/>
              <a:t>Je participe aussi à des </a:t>
            </a:r>
            <a:r>
              <a:rPr lang="fr-FR" sz="1400" b="1" dirty="0"/>
              <a:t>communautés perso </a:t>
            </a:r>
            <a:r>
              <a:rPr lang="fr-FR" sz="1400" dirty="0"/>
              <a:t>avec des collègues (divertissements, sports, jeux, musique, associations…).</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dirty="0"/>
              <a:t> C’était totalement en dehors des activités professionnelles mais a aussi contribué à mon sentiment d’appartenance. </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L’attrition devient un enjeu fort pour beaucoup d’entreprises. La rétention passe par de nombreux arguments, entre autres celui du sentiment d’appartenance et du lien. Au-delà des activités professionnelles, ces derniers peuvent se développer avec des </a:t>
            </a:r>
            <a:r>
              <a:rPr lang="fr-FR" sz="1400" b="1" dirty="0">
                <a:solidFill>
                  <a:schemeClr val="bg1"/>
                </a:solidFill>
              </a:rPr>
              <a:t>Communautés perso</a:t>
            </a:r>
            <a:r>
              <a:rPr lang="fr-FR" sz="1400" dirty="0">
                <a:solidFill>
                  <a:schemeClr val="bg1"/>
                </a:solidFill>
              </a:rPr>
              <a:t>.</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10 : Et quand il ne s’agit pas que du travail</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621162"/>
            </a:xfrm>
            <a:prstGeom prst="rect">
              <a:avLst/>
            </a:prstGeom>
            <a:noFill/>
          </p:spPr>
          <p:txBody>
            <a:bodyPr wrap="square">
              <a:spAutoFit/>
            </a:bodyPr>
            <a:lstStyle/>
            <a:p>
              <a:pPr algn="r"/>
              <a:r>
                <a:rPr lang="fr-FR" b="1" dirty="0">
                  <a:solidFill>
                    <a:schemeClr val="tx1"/>
                  </a:solidFill>
                </a:rPr>
                <a:t>Ep 11: </a:t>
              </a:r>
            </a:p>
            <a:p>
              <a:pPr algn="r"/>
              <a:r>
                <a:rPr lang="fr-FR" b="1" dirty="0"/>
                <a:t>Quand je veux changer de poste</a:t>
              </a:r>
              <a:endParaRPr lang="fr-FR" b="1" dirty="0">
                <a:solidFill>
                  <a:schemeClr val="tx1"/>
                </a:solidFill>
              </a:endParaRP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80" name="Groupe 79">
            <a:extLst>
              <a:ext uri="{FF2B5EF4-FFF2-40B4-BE49-F238E27FC236}">
                <a16:creationId xmlns:a16="http://schemas.microsoft.com/office/drawing/2014/main" id="{A38B2E1C-A62A-0298-D034-7C8A69EAB02F}"/>
              </a:ext>
            </a:extLst>
          </p:cNvPr>
          <p:cNvGrpSpPr/>
          <p:nvPr/>
        </p:nvGrpSpPr>
        <p:grpSpPr>
          <a:xfrm>
            <a:off x="925191" y="7222764"/>
            <a:ext cx="1134665" cy="746398"/>
            <a:chOff x="1718551" y="4252127"/>
            <a:chExt cx="916494" cy="736137"/>
          </a:xfrm>
        </p:grpSpPr>
        <p:grpSp>
          <p:nvGrpSpPr>
            <p:cNvPr id="86" name="Groupe 85">
              <a:extLst>
                <a:ext uri="{FF2B5EF4-FFF2-40B4-BE49-F238E27FC236}">
                  <a16:creationId xmlns:a16="http://schemas.microsoft.com/office/drawing/2014/main" id="{BB8668D1-90C0-9A92-852D-B245AB32DDFB}"/>
                </a:ext>
              </a:extLst>
            </p:cNvPr>
            <p:cNvGrpSpPr/>
            <p:nvPr/>
          </p:nvGrpSpPr>
          <p:grpSpPr>
            <a:xfrm>
              <a:off x="1812986" y="4252127"/>
              <a:ext cx="788755" cy="483536"/>
              <a:chOff x="8496164" y="663605"/>
              <a:chExt cx="2837988" cy="1739790"/>
            </a:xfrm>
          </p:grpSpPr>
          <p:pic>
            <p:nvPicPr>
              <p:cNvPr id="88" name="Graphique 87" descr="Évaluation 3 étoiles avec un remplissage uni">
                <a:extLst>
                  <a:ext uri="{FF2B5EF4-FFF2-40B4-BE49-F238E27FC236}">
                    <a16:creationId xmlns:a16="http://schemas.microsoft.com/office/drawing/2014/main" id="{73DD2FAA-1891-5C50-9725-B4B720119A7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96164" y="663605"/>
                <a:ext cx="1739790" cy="1739790"/>
              </a:xfrm>
              <a:prstGeom prst="rect">
                <a:avLst/>
              </a:prstGeom>
            </p:spPr>
          </p:pic>
          <p:pic>
            <p:nvPicPr>
              <p:cNvPr id="89" name="Graphique 88" descr="Évaluation 3 étoiles avec un remplissage uni">
                <a:extLst>
                  <a:ext uri="{FF2B5EF4-FFF2-40B4-BE49-F238E27FC236}">
                    <a16:creationId xmlns:a16="http://schemas.microsoft.com/office/drawing/2014/main" id="{47527D53-8F10-B9CF-13A8-7A635ED4DA26}"/>
                  </a:ext>
                </a:extLst>
              </p:cNvPr>
              <p:cNvPicPr>
                <a:picLocks noChangeAspect="1"/>
              </p:cNvPicPr>
              <p:nvPr/>
            </p:nvPicPr>
            <p:blipFill rotWithShape="1">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rcRect l="33972"/>
              <a:stretch/>
            </p:blipFill>
            <p:spPr>
              <a:xfrm>
                <a:off x="10185399" y="663605"/>
                <a:ext cx="1148753" cy="1739790"/>
              </a:xfrm>
              <a:prstGeom prst="rect">
                <a:avLst/>
              </a:prstGeom>
            </p:spPr>
          </p:pic>
        </p:grpSp>
        <p:sp>
          <p:nvSpPr>
            <p:cNvPr id="87" name="ZoneTexte 86">
              <a:extLst>
                <a:ext uri="{FF2B5EF4-FFF2-40B4-BE49-F238E27FC236}">
                  <a16:creationId xmlns:a16="http://schemas.microsoft.com/office/drawing/2014/main" id="{A9C8E1C7-1E17-E149-F77B-9C07EF04368A}"/>
                </a:ext>
              </a:extLst>
            </p:cNvPr>
            <p:cNvSpPr txBox="1"/>
            <p:nvPr/>
          </p:nvSpPr>
          <p:spPr>
            <a:xfrm>
              <a:off x="1718551" y="4684718"/>
              <a:ext cx="916494" cy="303546"/>
            </a:xfrm>
            <a:prstGeom prst="rect">
              <a:avLst/>
            </a:prstGeom>
            <a:noFill/>
          </p:spPr>
          <p:txBody>
            <a:bodyPr wrap="square">
              <a:spAutoFit/>
            </a:bodyPr>
            <a:lstStyle/>
            <a:p>
              <a:pPr algn="ctr"/>
              <a:r>
                <a:rPr lang="fr-FR" sz="1400" b="1" dirty="0">
                  <a:solidFill>
                    <a:srgbClr val="ED7D31"/>
                  </a:solidFill>
                </a:rPr>
                <a:t>Stimulation</a:t>
              </a:r>
            </a:p>
          </p:txBody>
        </p:sp>
      </p:grpSp>
      <p:grpSp>
        <p:nvGrpSpPr>
          <p:cNvPr id="90" name="Groupe 89">
            <a:extLst>
              <a:ext uri="{FF2B5EF4-FFF2-40B4-BE49-F238E27FC236}">
                <a16:creationId xmlns:a16="http://schemas.microsoft.com/office/drawing/2014/main" id="{9B6D9FD6-0836-4198-C86E-A3A0E984A446}"/>
              </a:ext>
            </a:extLst>
          </p:cNvPr>
          <p:cNvGrpSpPr/>
          <p:nvPr/>
        </p:nvGrpSpPr>
        <p:grpSpPr>
          <a:xfrm>
            <a:off x="2088165" y="7005614"/>
            <a:ext cx="1406379" cy="1194036"/>
            <a:chOff x="8129937" y="4169500"/>
            <a:chExt cx="1286847" cy="1093835"/>
          </a:xfrm>
        </p:grpSpPr>
        <p:pic>
          <p:nvPicPr>
            <p:cNvPr id="91" name="Graphique 90" descr="Poignée de main avec un remplissage uni">
              <a:extLst>
                <a:ext uri="{FF2B5EF4-FFF2-40B4-BE49-F238E27FC236}">
                  <a16:creationId xmlns:a16="http://schemas.microsoft.com/office/drawing/2014/main" id="{6E433AE3-197C-B501-0117-F9BF06FDA685}"/>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378292" y="4169500"/>
              <a:ext cx="703975" cy="703975"/>
            </a:xfrm>
            <a:prstGeom prst="rect">
              <a:avLst/>
            </a:prstGeom>
          </p:spPr>
        </p:pic>
        <p:sp>
          <p:nvSpPr>
            <p:cNvPr id="92" name="ZoneTexte 91">
              <a:extLst>
                <a:ext uri="{FF2B5EF4-FFF2-40B4-BE49-F238E27FC236}">
                  <a16:creationId xmlns:a16="http://schemas.microsoft.com/office/drawing/2014/main" id="{0512E04F-10D6-3AA5-EF44-566878FE3154}"/>
                </a:ext>
              </a:extLst>
            </p:cNvPr>
            <p:cNvSpPr txBox="1"/>
            <p:nvPr/>
          </p:nvSpPr>
          <p:spPr>
            <a:xfrm>
              <a:off x="8129937" y="4747307"/>
              <a:ext cx="1286847" cy="516028"/>
            </a:xfrm>
            <a:prstGeom prst="rect">
              <a:avLst/>
            </a:prstGeom>
            <a:noFill/>
          </p:spPr>
          <p:txBody>
            <a:bodyPr wrap="square">
              <a:spAutoFit/>
            </a:bodyPr>
            <a:lstStyle/>
            <a:p>
              <a:pPr algn="ctr"/>
              <a:r>
                <a:rPr lang="fr-FR" sz="1400" b="1" dirty="0">
                  <a:solidFill>
                    <a:srgbClr val="ED7D31"/>
                  </a:solidFill>
                </a:rPr>
                <a:t>Lien avec les autres</a:t>
              </a:r>
            </a:p>
          </p:txBody>
        </p:sp>
      </p:grpSp>
      <p:grpSp>
        <p:nvGrpSpPr>
          <p:cNvPr id="3" name="Groupe 2">
            <a:extLst>
              <a:ext uri="{FF2B5EF4-FFF2-40B4-BE49-F238E27FC236}">
                <a16:creationId xmlns:a16="http://schemas.microsoft.com/office/drawing/2014/main" id="{7331AAEE-626D-002C-603B-89CD041E43EC}"/>
              </a:ext>
            </a:extLst>
          </p:cNvPr>
          <p:cNvGrpSpPr/>
          <p:nvPr/>
        </p:nvGrpSpPr>
        <p:grpSpPr>
          <a:xfrm>
            <a:off x="6446511" y="7104592"/>
            <a:ext cx="2390144" cy="1421362"/>
            <a:chOff x="6365488" y="4707588"/>
            <a:chExt cx="2390144" cy="1421362"/>
          </a:xfrm>
        </p:grpSpPr>
        <p:pic>
          <p:nvPicPr>
            <p:cNvPr id="93" name="Graphique 92" descr="Réussite du groupe avec un remplissage uni">
              <a:extLst>
                <a:ext uri="{FF2B5EF4-FFF2-40B4-BE49-F238E27FC236}">
                  <a16:creationId xmlns:a16="http://schemas.microsoft.com/office/drawing/2014/main" id="{5C41F371-FEAA-8C84-33F4-2DF9CD286DB9}"/>
                </a:ext>
              </a:extLst>
            </p:cNvPr>
            <p:cNvPicPr>
              <a:picLocks noChangeAspect="1"/>
            </p:cNvPicPr>
            <p:nvPr/>
          </p:nvPicPr>
          <p:blipFill rotWithShape="1">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rcRect t="13979" b="19010"/>
            <a:stretch/>
          </p:blipFill>
          <p:spPr>
            <a:xfrm>
              <a:off x="6956557" y="4707588"/>
              <a:ext cx="1208006" cy="809489"/>
            </a:xfrm>
            <a:prstGeom prst="rect">
              <a:avLst/>
            </a:prstGeom>
          </p:spPr>
        </p:pic>
        <p:sp>
          <p:nvSpPr>
            <p:cNvPr id="94" name="Rectangle 93">
              <a:extLst>
                <a:ext uri="{FF2B5EF4-FFF2-40B4-BE49-F238E27FC236}">
                  <a16:creationId xmlns:a16="http://schemas.microsoft.com/office/drawing/2014/main" id="{C1733EF1-29D8-C2E4-90B9-F4459B842F33}"/>
                </a:ext>
              </a:extLst>
            </p:cNvPr>
            <p:cNvSpPr/>
            <p:nvPr/>
          </p:nvSpPr>
          <p:spPr>
            <a:xfrm>
              <a:off x="6365488" y="5556401"/>
              <a:ext cx="2390144" cy="5725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Sentiment d’appartenance et rétention des collaborateurs</a:t>
              </a:r>
              <a:endParaRPr lang="fr-FR" sz="1400" dirty="0">
                <a:solidFill>
                  <a:schemeClr val="tx1"/>
                </a:solidFill>
              </a:endParaRPr>
            </a:p>
          </p:txBody>
        </p:sp>
      </p:grpSp>
    </p:spTree>
    <p:extLst>
      <p:ext uri="{BB962C8B-B14F-4D97-AF65-F5344CB8AC3E}">
        <p14:creationId xmlns:p14="http://schemas.microsoft.com/office/powerpoint/2010/main" val="1201195361"/>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algn="ctr">
              <a:defRPr/>
            </a:pPr>
            <a:r>
              <a:rPr lang="fr-FR" sz="1400" dirty="0"/>
              <a:t>J’ai fait le tour de mon poste actuel et souhaite changer de métier vers des thèmes d’intérêt. Je rejoins des </a:t>
            </a:r>
            <a:r>
              <a:rPr lang="fr-FR" sz="1400" b="1" dirty="0"/>
              <a:t>Communautés thématiques.</a:t>
            </a:r>
            <a:r>
              <a:rPr lang="fr-FR" sz="1400" dirty="0"/>
              <a:t> J’y rencontre des personnes plus anciennes ou spécialisées, qui m’aident à me projeter voire à me trouver des mobilités internes.</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dirty="0">
                <a:solidFill>
                  <a:schemeClr val="bg1"/>
                </a:solidFill>
              </a:rPr>
              <a:t>La visibilité sur les chemins de carrières est un enjeu de rétention et de satisfaction générale des collaborateurs. Cette visibilité peut être formelle (base de données, etc.), mais peut également être accélérée entre membres de </a:t>
            </a:r>
            <a:r>
              <a:rPr lang="fr-FR" sz="1400" b="1" dirty="0">
                <a:solidFill>
                  <a:schemeClr val="bg1"/>
                </a:solidFill>
              </a:rPr>
              <a:t>Communautés thématiques </a:t>
            </a: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11 : Quand je veux changer de poste</a:t>
            </a:r>
          </a:p>
        </p:txBody>
      </p:sp>
      <p:grpSp>
        <p:nvGrpSpPr>
          <p:cNvPr id="24" name="Groupe 23">
            <a:extLst>
              <a:ext uri="{FF2B5EF4-FFF2-40B4-BE49-F238E27FC236}">
                <a16:creationId xmlns:a16="http://schemas.microsoft.com/office/drawing/2014/main" id="{B1901DBD-7B2C-90C5-4E11-082DCF2628D5}"/>
              </a:ext>
            </a:extLst>
          </p:cNvPr>
          <p:cNvGrpSpPr/>
          <p:nvPr/>
        </p:nvGrpSpPr>
        <p:grpSpPr>
          <a:xfrm>
            <a:off x="10265711" y="1448645"/>
            <a:ext cx="1935178" cy="1624295"/>
            <a:chOff x="11670562" y="767339"/>
            <a:chExt cx="1001440" cy="840561"/>
          </a:xfrm>
        </p:grpSpPr>
        <p:sp>
          <p:nvSpPr>
            <p:cNvPr id="140" name="Rectangle 139">
              <a:extLst>
                <a:ext uri="{FF2B5EF4-FFF2-40B4-BE49-F238E27FC236}">
                  <a16:creationId xmlns:a16="http://schemas.microsoft.com/office/drawing/2014/main" id="{7F183BD4-FDDB-F3AD-7717-488422255E87}"/>
                </a:ext>
              </a:extLst>
            </p:cNvPr>
            <p:cNvSpPr/>
            <p:nvPr/>
          </p:nvSpPr>
          <p:spPr>
            <a:xfrm>
              <a:off x="11670562"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201CCBE5-A022-55D7-7C0E-AD45ABEF17DA}"/>
                </a:ext>
              </a:extLst>
            </p:cNvPr>
            <p:cNvSpPr/>
            <p:nvPr/>
          </p:nvSpPr>
          <p:spPr>
            <a:xfrm>
              <a:off x="12029448"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A6C093D4-CB8F-39C6-7FB4-FDE4F888FF31}"/>
                </a:ext>
              </a:extLst>
            </p:cNvPr>
            <p:cNvSpPr/>
            <p:nvPr/>
          </p:nvSpPr>
          <p:spPr>
            <a:xfrm>
              <a:off x="12388334" y="767339"/>
              <a:ext cx="179434" cy="1794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ZoneTexte 143">
              <a:extLst>
                <a:ext uri="{FF2B5EF4-FFF2-40B4-BE49-F238E27FC236}">
                  <a16:creationId xmlns:a16="http://schemas.microsoft.com/office/drawing/2014/main" id="{B2FF1A56-BB10-DDF3-0184-C0C092943A7C}"/>
                </a:ext>
              </a:extLst>
            </p:cNvPr>
            <p:cNvSpPr txBox="1"/>
            <p:nvPr/>
          </p:nvSpPr>
          <p:spPr>
            <a:xfrm>
              <a:off x="11772779" y="986738"/>
              <a:ext cx="899223" cy="621162"/>
            </a:xfrm>
            <a:prstGeom prst="rect">
              <a:avLst/>
            </a:prstGeom>
            <a:noFill/>
          </p:spPr>
          <p:txBody>
            <a:bodyPr wrap="square">
              <a:spAutoFit/>
            </a:bodyPr>
            <a:lstStyle/>
            <a:p>
              <a:pPr algn="r"/>
              <a:r>
                <a:rPr lang="fr-FR" b="1" dirty="0">
                  <a:solidFill>
                    <a:schemeClr val="tx1"/>
                  </a:solidFill>
                </a:rPr>
                <a:t>Ep 12: </a:t>
              </a:r>
            </a:p>
            <a:p>
              <a:pPr algn="r"/>
              <a:r>
                <a:rPr lang="fr-FR" b="1" dirty="0"/>
                <a:t>Quand je veux développer des affaires</a:t>
              </a:r>
              <a:endParaRPr lang="fr-FR" b="1" dirty="0">
                <a:solidFill>
                  <a:schemeClr val="tx1"/>
                </a:solidFill>
              </a:endParaRPr>
            </a:p>
          </p:txBody>
        </p:sp>
      </p:gr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48" name="Groupe 47">
            <a:extLst>
              <a:ext uri="{FF2B5EF4-FFF2-40B4-BE49-F238E27FC236}">
                <a16:creationId xmlns:a16="http://schemas.microsoft.com/office/drawing/2014/main" id="{4AEB7315-B58D-E99E-E1E7-23ED82290520}"/>
              </a:ext>
            </a:extLst>
          </p:cNvPr>
          <p:cNvGrpSpPr/>
          <p:nvPr/>
        </p:nvGrpSpPr>
        <p:grpSpPr>
          <a:xfrm>
            <a:off x="805920" y="7105639"/>
            <a:ext cx="1783560" cy="1290849"/>
            <a:chOff x="7187274" y="4362847"/>
            <a:chExt cx="826392" cy="598802"/>
          </a:xfrm>
        </p:grpSpPr>
        <p:pic>
          <p:nvPicPr>
            <p:cNvPr id="49" name="Graphique 48" descr="Coffre au trésor avec un remplissage uni">
              <a:extLst>
                <a:ext uri="{FF2B5EF4-FFF2-40B4-BE49-F238E27FC236}">
                  <a16:creationId xmlns:a16="http://schemas.microsoft.com/office/drawing/2014/main" id="{043314A0-8577-97C2-DB42-82CDCE5FDA1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414162" y="4362847"/>
              <a:ext cx="384457" cy="384458"/>
            </a:xfrm>
            <a:prstGeom prst="rect">
              <a:avLst/>
            </a:prstGeom>
          </p:spPr>
        </p:pic>
        <p:sp>
          <p:nvSpPr>
            <p:cNvPr id="50" name="ZoneTexte 49">
              <a:extLst>
                <a:ext uri="{FF2B5EF4-FFF2-40B4-BE49-F238E27FC236}">
                  <a16:creationId xmlns:a16="http://schemas.microsoft.com/office/drawing/2014/main" id="{CCF92016-4B11-E357-4AAB-8E744D023BF2}"/>
                </a:ext>
              </a:extLst>
            </p:cNvPr>
            <p:cNvSpPr txBox="1"/>
            <p:nvPr/>
          </p:nvSpPr>
          <p:spPr>
            <a:xfrm>
              <a:off x="7187274" y="4718937"/>
              <a:ext cx="826392" cy="242712"/>
            </a:xfrm>
            <a:prstGeom prst="rect">
              <a:avLst/>
            </a:prstGeom>
            <a:noFill/>
          </p:spPr>
          <p:txBody>
            <a:bodyPr wrap="square">
              <a:spAutoFit/>
            </a:bodyPr>
            <a:lstStyle/>
            <a:p>
              <a:pPr algn="ctr"/>
              <a:r>
                <a:rPr lang="fr-FR" sz="1400" b="1" dirty="0">
                  <a:solidFill>
                    <a:srgbClr val="ED7D31"/>
                  </a:solidFill>
                </a:rPr>
                <a:t>Opportunités professionnelles</a:t>
              </a:r>
            </a:p>
          </p:txBody>
        </p:sp>
      </p:grpSp>
      <p:grpSp>
        <p:nvGrpSpPr>
          <p:cNvPr id="51" name="Groupe 50">
            <a:extLst>
              <a:ext uri="{FF2B5EF4-FFF2-40B4-BE49-F238E27FC236}">
                <a16:creationId xmlns:a16="http://schemas.microsoft.com/office/drawing/2014/main" id="{62FF02A0-9083-1796-28E4-A4BD63B4C201}"/>
              </a:ext>
            </a:extLst>
          </p:cNvPr>
          <p:cNvGrpSpPr/>
          <p:nvPr/>
        </p:nvGrpSpPr>
        <p:grpSpPr>
          <a:xfrm>
            <a:off x="2469617" y="7018208"/>
            <a:ext cx="1609730" cy="1193183"/>
            <a:chOff x="2837626" y="3862428"/>
            <a:chExt cx="1806654" cy="1176781"/>
          </a:xfrm>
        </p:grpSpPr>
        <p:pic>
          <p:nvPicPr>
            <p:cNvPr id="52" name="Graphique 51" descr="Aspiration avec un remplissage uni">
              <a:extLst>
                <a:ext uri="{FF2B5EF4-FFF2-40B4-BE49-F238E27FC236}">
                  <a16:creationId xmlns:a16="http://schemas.microsoft.com/office/drawing/2014/main" id="{EB22D0B8-2B9D-EEC0-7D18-A81F5AB80D2C}"/>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3291263" y="3862428"/>
              <a:ext cx="1163723" cy="940256"/>
            </a:xfrm>
            <a:prstGeom prst="rect">
              <a:avLst/>
            </a:prstGeom>
          </p:spPr>
        </p:pic>
        <p:sp>
          <p:nvSpPr>
            <p:cNvPr id="53" name="ZoneTexte 52">
              <a:extLst>
                <a:ext uri="{FF2B5EF4-FFF2-40B4-BE49-F238E27FC236}">
                  <a16:creationId xmlns:a16="http://schemas.microsoft.com/office/drawing/2014/main" id="{E61C6F73-64F9-6246-20AC-C7A0A509C281}"/>
                </a:ext>
              </a:extLst>
            </p:cNvPr>
            <p:cNvSpPr txBox="1"/>
            <p:nvPr/>
          </p:nvSpPr>
          <p:spPr>
            <a:xfrm>
              <a:off x="2837626" y="4735663"/>
              <a:ext cx="1806654" cy="303546"/>
            </a:xfrm>
            <a:prstGeom prst="rect">
              <a:avLst/>
            </a:prstGeom>
            <a:noFill/>
          </p:spPr>
          <p:txBody>
            <a:bodyPr wrap="square">
              <a:spAutoFit/>
            </a:bodyPr>
            <a:lstStyle/>
            <a:p>
              <a:pPr algn="ctr"/>
              <a:r>
                <a:rPr lang="fr-FR" sz="1400" b="1" dirty="0">
                  <a:solidFill>
                    <a:srgbClr val="ED7D31"/>
                  </a:solidFill>
                </a:rPr>
                <a:t>Réalisation de soi</a:t>
              </a:r>
            </a:p>
          </p:txBody>
        </p:sp>
      </p:grpSp>
      <p:grpSp>
        <p:nvGrpSpPr>
          <p:cNvPr id="3" name="Groupe 2">
            <a:extLst>
              <a:ext uri="{FF2B5EF4-FFF2-40B4-BE49-F238E27FC236}">
                <a16:creationId xmlns:a16="http://schemas.microsoft.com/office/drawing/2014/main" id="{B58A75A2-4D82-BFC2-BD1A-C4BE08CD3871}"/>
              </a:ext>
            </a:extLst>
          </p:cNvPr>
          <p:cNvGrpSpPr/>
          <p:nvPr/>
        </p:nvGrpSpPr>
        <p:grpSpPr>
          <a:xfrm>
            <a:off x="6491010" y="6889795"/>
            <a:ext cx="2133597" cy="1672837"/>
            <a:chOff x="6491010" y="6889795"/>
            <a:chExt cx="2133597" cy="1672837"/>
          </a:xfrm>
        </p:grpSpPr>
        <p:grpSp>
          <p:nvGrpSpPr>
            <p:cNvPr id="56" name="Groupe 55">
              <a:extLst>
                <a:ext uri="{FF2B5EF4-FFF2-40B4-BE49-F238E27FC236}">
                  <a16:creationId xmlns:a16="http://schemas.microsoft.com/office/drawing/2014/main" id="{38144C89-F0D7-FDAF-A17A-CE83B625B0A5}"/>
                </a:ext>
              </a:extLst>
            </p:cNvPr>
            <p:cNvGrpSpPr/>
            <p:nvPr/>
          </p:nvGrpSpPr>
          <p:grpSpPr>
            <a:xfrm>
              <a:off x="6491010" y="6889795"/>
              <a:ext cx="2012163" cy="978052"/>
              <a:chOff x="6713702" y="745208"/>
              <a:chExt cx="4891967" cy="2377838"/>
            </a:xfrm>
            <a:solidFill>
              <a:schemeClr val="tx1"/>
            </a:solidFill>
          </p:grpSpPr>
          <p:pic>
            <p:nvPicPr>
              <p:cNvPr id="57" name="Graphique 56" descr="Ramper avec un remplissage uni">
                <a:extLst>
                  <a:ext uri="{FF2B5EF4-FFF2-40B4-BE49-F238E27FC236}">
                    <a16:creationId xmlns:a16="http://schemas.microsoft.com/office/drawing/2014/main" id="{B22289A2-D7A7-642E-212D-8B522733414F}"/>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713702" y="2208646"/>
                <a:ext cx="914400" cy="914400"/>
              </a:xfrm>
              <a:prstGeom prst="rect">
                <a:avLst/>
              </a:prstGeom>
            </p:spPr>
          </p:pic>
          <p:pic>
            <p:nvPicPr>
              <p:cNvPr id="58" name="Graphique 57" descr="Marcher avec un remplissage uni">
                <a:extLst>
                  <a:ext uri="{FF2B5EF4-FFF2-40B4-BE49-F238E27FC236}">
                    <a16:creationId xmlns:a16="http://schemas.microsoft.com/office/drawing/2014/main" id="{07401666-8993-696E-7F50-AE6095FC9B68}"/>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7650711" y="1900170"/>
                <a:ext cx="914400" cy="914400"/>
              </a:xfrm>
              <a:prstGeom prst="rect">
                <a:avLst/>
              </a:prstGeom>
            </p:spPr>
          </p:pic>
          <p:pic>
            <p:nvPicPr>
              <p:cNvPr id="59" name="Graphique 58" descr="Courir avec un remplissage uni">
                <a:extLst>
                  <a:ext uri="{FF2B5EF4-FFF2-40B4-BE49-F238E27FC236}">
                    <a16:creationId xmlns:a16="http://schemas.microsoft.com/office/drawing/2014/main" id="{BD8C453A-3B98-C64E-8A07-4C328D95BC19}"/>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8587720" y="1591693"/>
                <a:ext cx="914400" cy="914400"/>
              </a:xfrm>
              <a:prstGeom prst="rect">
                <a:avLst/>
              </a:prstGeom>
            </p:spPr>
          </p:pic>
          <p:pic>
            <p:nvPicPr>
              <p:cNvPr id="60" name="Graphique 59" descr="Héros avec un remplissage uni">
                <a:extLst>
                  <a:ext uri="{FF2B5EF4-FFF2-40B4-BE49-F238E27FC236}">
                    <a16:creationId xmlns:a16="http://schemas.microsoft.com/office/drawing/2014/main" id="{4746BEEF-C213-6B6F-A4A7-7E2530DAFD2D}"/>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0691269" y="745208"/>
                <a:ext cx="914400" cy="914400"/>
              </a:xfrm>
              <a:prstGeom prst="rect">
                <a:avLst/>
              </a:prstGeom>
            </p:spPr>
          </p:pic>
          <p:pic>
            <p:nvPicPr>
              <p:cNvPr id="61" name="Graphique 60" descr="Aspiration avec un remplissage uni">
                <a:extLst>
                  <a:ext uri="{FF2B5EF4-FFF2-40B4-BE49-F238E27FC236}">
                    <a16:creationId xmlns:a16="http://schemas.microsoft.com/office/drawing/2014/main" id="{0A516DBC-A577-54EF-440B-578DAD6CE80D}"/>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9524729" y="1053685"/>
                <a:ext cx="1143931" cy="1143931"/>
              </a:xfrm>
              <a:prstGeom prst="rect">
                <a:avLst/>
              </a:prstGeom>
            </p:spPr>
          </p:pic>
        </p:grpSp>
        <p:sp>
          <p:nvSpPr>
            <p:cNvPr id="62" name="Rectangle 61">
              <a:extLst>
                <a:ext uri="{FF2B5EF4-FFF2-40B4-BE49-F238E27FC236}">
                  <a16:creationId xmlns:a16="http://schemas.microsoft.com/office/drawing/2014/main" id="{86C0A120-62DB-B890-601A-995F14F5AA68}"/>
                </a:ext>
              </a:extLst>
            </p:cNvPr>
            <p:cNvSpPr/>
            <p:nvPr/>
          </p:nvSpPr>
          <p:spPr>
            <a:xfrm>
              <a:off x="6678360" y="7990083"/>
              <a:ext cx="1946247" cy="5725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Développement des chemins de carrières et de la mobilité interne</a:t>
              </a:r>
              <a:endParaRPr lang="fr-FR" sz="1400" dirty="0">
                <a:solidFill>
                  <a:schemeClr val="tx1"/>
                </a:solidFill>
              </a:endParaRPr>
            </a:p>
          </p:txBody>
        </p:sp>
      </p:grpSp>
    </p:spTree>
    <p:extLst>
      <p:ext uri="{BB962C8B-B14F-4D97-AF65-F5344CB8AC3E}">
        <p14:creationId xmlns:p14="http://schemas.microsoft.com/office/powerpoint/2010/main" val="90704379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7B1FEF24-F796-D241-7E50-1EBC0E4F4BEC}"/>
              </a:ext>
            </a:extLst>
          </p:cNvPr>
          <p:cNvSpPr/>
          <p:nvPr/>
        </p:nvSpPr>
        <p:spPr>
          <a:xfrm>
            <a:off x="335924" y="1795383"/>
            <a:ext cx="9447819" cy="4592717"/>
          </a:xfrm>
          <a:prstGeom prst="rect">
            <a:avLst/>
          </a:prstGeom>
          <a:noFill/>
          <a:ln w="57150">
            <a:solidFill>
              <a:srgbClr val="3494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id="{5C12427D-B5C7-4CF5-CE6E-6C7CBFF433B0}"/>
              </a:ext>
            </a:extLst>
          </p:cNvPr>
          <p:cNvSpPr>
            <a:spLocks noGrp="1"/>
          </p:cNvSpPr>
          <p:nvPr>
            <p:ph type="title"/>
          </p:nvPr>
        </p:nvSpPr>
        <p:spPr>
          <a:xfrm>
            <a:off x="88900" y="365126"/>
            <a:ext cx="11264900" cy="555994"/>
          </a:xfrm>
        </p:spPr>
        <p:txBody>
          <a:bodyPr>
            <a:normAutofit fontScale="90000"/>
          </a:bodyPr>
          <a:lstStyle/>
          <a:p>
            <a:r>
              <a:rPr lang="fr-FR" dirty="0"/>
              <a:t>Exemple - Histoire type d’un collaborateur</a:t>
            </a:r>
            <a:endParaRPr lang="fr-FR" b="1" dirty="0">
              <a:solidFill>
                <a:srgbClr val="3494BA"/>
              </a:solidFill>
            </a:endParaRPr>
          </a:p>
        </p:txBody>
      </p:sp>
      <p:pic>
        <p:nvPicPr>
          <p:cNvPr id="5" name="Graphique 4" descr="Bâtiment avec un remplissage uni">
            <a:extLst>
              <a:ext uri="{FF2B5EF4-FFF2-40B4-BE49-F238E27FC236}">
                <a16:creationId xmlns:a16="http://schemas.microsoft.com/office/drawing/2014/main" id="{FED4596A-DFC1-101C-1539-6D6A980602D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78989" y="3318873"/>
            <a:ext cx="619234" cy="619234"/>
          </a:xfrm>
          <a:prstGeom prst="rect">
            <a:avLst/>
          </a:prstGeom>
        </p:spPr>
      </p:pic>
      <p:sp>
        <p:nvSpPr>
          <p:cNvPr id="75" name="ZoneTexte 74">
            <a:extLst>
              <a:ext uri="{FF2B5EF4-FFF2-40B4-BE49-F238E27FC236}">
                <a16:creationId xmlns:a16="http://schemas.microsoft.com/office/drawing/2014/main" id="{CF366F17-EC83-1408-5A94-942107BC7003}"/>
              </a:ext>
            </a:extLst>
          </p:cNvPr>
          <p:cNvSpPr txBox="1"/>
          <p:nvPr/>
        </p:nvSpPr>
        <p:spPr>
          <a:xfrm>
            <a:off x="1015416" y="1890108"/>
            <a:ext cx="3240000" cy="2031325"/>
          </a:xfrm>
          <a:prstGeom prst="rect">
            <a:avLst/>
          </a:prstGeom>
          <a:solidFill>
            <a:srgbClr val="ED7D31"/>
          </a:solidFill>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dirty="0"/>
              <a:t>Rencontrer des prospects n’est pas toujours facile. Un moyen est d’organiser ou de participer à des conférences / congrès du secteur. Nous avons monté </a:t>
            </a:r>
            <a:r>
              <a:rPr lang="fr-FR" sz="1400" b="1" dirty="0"/>
              <a:t>un réseau commercial</a:t>
            </a:r>
            <a:r>
              <a:rPr lang="fr-FR" sz="1400" dirty="0"/>
              <a:t> et y faisons beaucoup de contacts, ce qui nous permet aussi de trouver des affaires.</a:t>
            </a:r>
          </a:p>
        </p:txBody>
      </p:sp>
      <p:sp>
        <p:nvSpPr>
          <p:cNvPr id="81" name="ZoneTexte 80">
            <a:extLst>
              <a:ext uri="{FF2B5EF4-FFF2-40B4-BE49-F238E27FC236}">
                <a16:creationId xmlns:a16="http://schemas.microsoft.com/office/drawing/2014/main" id="{6E707C15-09CC-0B1F-B90D-CAA4E5C6DAFE}"/>
              </a:ext>
            </a:extLst>
          </p:cNvPr>
          <p:cNvSpPr txBox="1"/>
          <p:nvPr/>
        </p:nvSpPr>
        <p:spPr>
          <a:xfrm>
            <a:off x="5894595" y="1891033"/>
            <a:ext cx="3240000" cy="2030400"/>
          </a:xfrm>
          <a:prstGeom prst="rect">
            <a:avLst/>
          </a:prstGeom>
          <a:solidFill>
            <a:schemeClr val="tx1"/>
          </a:solidFill>
        </p:spPr>
        <p:txBody>
          <a:bodyPr wrap="square" anchor="ctr">
            <a:noAutofit/>
          </a:bodyPr>
          <a:lstStyle/>
          <a:p>
            <a:pPr algn="ctr"/>
            <a:r>
              <a:rPr lang="fr-FR" sz="1400">
                <a:solidFill>
                  <a:schemeClr val="bg1"/>
                </a:solidFill>
              </a:rPr>
              <a:t>Le développement commercial peut se faire via de nombreuses voies, reposant beaucoup sur le réseau de l’entreprise. Il peut être intéressant de mettre en commun les contacts, organiser des mises en relation et initier des opportunités en montant un </a:t>
            </a:r>
            <a:r>
              <a:rPr lang="fr-FR" sz="1400" b="1">
                <a:solidFill>
                  <a:schemeClr val="bg1"/>
                </a:solidFill>
              </a:rPr>
              <a:t>réseau commercial</a:t>
            </a:r>
            <a:r>
              <a:rPr lang="fr-FR" sz="1400">
                <a:solidFill>
                  <a:schemeClr val="bg1"/>
                </a:solidFill>
              </a:rPr>
              <a:t>.</a:t>
            </a:r>
            <a:endParaRPr lang="fr-FR" sz="1400" dirty="0">
              <a:solidFill>
                <a:schemeClr val="bg1"/>
              </a:solidFill>
            </a:endParaRPr>
          </a:p>
        </p:txBody>
      </p:sp>
      <p:grpSp>
        <p:nvGrpSpPr>
          <p:cNvPr id="82" name="Groupe 81">
            <a:extLst>
              <a:ext uri="{FF2B5EF4-FFF2-40B4-BE49-F238E27FC236}">
                <a16:creationId xmlns:a16="http://schemas.microsoft.com/office/drawing/2014/main" id="{6E18A9E9-A597-7D40-1D85-8FF16F271FE2}"/>
              </a:ext>
            </a:extLst>
          </p:cNvPr>
          <p:cNvGrpSpPr/>
          <p:nvPr/>
        </p:nvGrpSpPr>
        <p:grpSpPr>
          <a:xfrm>
            <a:off x="335925" y="3333866"/>
            <a:ext cx="661471" cy="557672"/>
            <a:chOff x="8982504" y="3274976"/>
            <a:chExt cx="1230670" cy="1037553"/>
          </a:xfrm>
          <a:solidFill>
            <a:srgbClr val="ED7D31"/>
          </a:solidFill>
        </p:grpSpPr>
        <p:pic>
          <p:nvPicPr>
            <p:cNvPr id="83" name="Graphique 82" descr="Utilisateur avec un remplissage uni">
              <a:extLst>
                <a:ext uri="{FF2B5EF4-FFF2-40B4-BE49-F238E27FC236}">
                  <a16:creationId xmlns:a16="http://schemas.microsoft.com/office/drawing/2014/main" id="{D9E741DE-AB76-5ABA-BF77-8A9AB84DDC0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84" name="Graphique 83" descr="Utilisateur avec un remplissage uni">
              <a:extLst>
                <a:ext uri="{FF2B5EF4-FFF2-40B4-BE49-F238E27FC236}">
                  <a16:creationId xmlns:a16="http://schemas.microsoft.com/office/drawing/2014/main" id="{CB2E62D4-4FC1-10B7-8146-4B693EA5E3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85" name="Graphique 84" descr="Utilisateur avec un remplissage uni">
              <a:extLst>
                <a:ext uri="{FF2B5EF4-FFF2-40B4-BE49-F238E27FC236}">
                  <a16:creationId xmlns:a16="http://schemas.microsoft.com/office/drawing/2014/main" id="{E19523A5-DDF2-268A-F251-E70B0DD3ED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98" name="Graphique 97" descr="Utilisateur avec un remplissage uni">
              <a:extLst>
                <a:ext uri="{FF2B5EF4-FFF2-40B4-BE49-F238E27FC236}">
                  <a16:creationId xmlns:a16="http://schemas.microsoft.com/office/drawing/2014/main" id="{AC48DD29-CC43-0267-5BE2-2A63CCAE8DD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99" name="Graphique 98" descr="Utilisateur avec un remplissage uni">
              <a:extLst>
                <a:ext uri="{FF2B5EF4-FFF2-40B4-BE49-F238E27FC236}">
                  <a16:creationId xmlns:a16="http://schemas.microsoft.com/office/drawing/2014/main" id="{5401D0D3-66E3-3EA6-5DA9-DAD38554C8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0" name="Graphique 99" descr="Utilisateur avec un remplissage uni">
              <a:extLst>
                <a:ext uri="{FF2B5EF4-FFF2-40B4-BE49-F238E27FC236}">
                  <a16:creationId xmlns:a16="http://schemas.microsoft.com/office/drawing/2014/main" id="{D104F8B5-18C5-0D16-CA45-A27F671803D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1" name="Graphique 100" descr="Utilisateur avec un remplissage uni">
              <a:extLst>
                <a:ext uri="{FF2B5EF4-FFF2-40B4-BE49-F238E27FC236}">
                  <a16:creationId xmlns:a16="http://schemas.microsoft.com/office/drawing/2014/main" id="{F078FABE-63EF-54F4-FB9C-C915090178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77121B01-097B-37B0-45F3-C01BCFFD56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17F711A-C24F-4D51-7B91-D378E29F0E4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72E8915F-CF12-2396-4E65-852D3D1EEF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CD930F09-8E95-6306-84DD-428F02FC0E5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143" name="Flèche : droite 142">
            <a:extLst>
              <a:ext uri="{FF2B5EF4-FFF2-40B4-BE49-F238E27FC236}">
                <a16:creationId xmlns:a16="http://schemas.microsoft.com/office/drawing/2014/main" id="{68055329-7E3C-1E22-2B15-753A8FE41672}"/>
              </a:ext>
            </a:extLst>
          </p:cNvPr>
          <p:cNvSpPr/>
          <p:nvPr/>
        </p:nvSpPr>
        <p:spPr>
          <a:xfrm>
            <a:off x="335924" y="1286781"/>
            <a:ext cx="9827881" cy="69733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a:t>Episode 12 : Quand je veux développer des affaires</a:t>
            </a:r>
          </a:p>
        </p:txBody>
      </p:sp>
      <p:sp>
        <p:nvSpPr>
          <p:cNvPr id="172" name="Titre 1">
            <a:extLst>
              <a:ext uri="{FF2B5EF4-FFF2-40B4-BE49-F238E27FC236}">
                <a16:creationId xmlns:a16="http://schemas.microsoft.com/office/drawing/2014/main" id="{F494E7A5-D75D-2F43-E0B6-2EF1F28F1846}"/>
              </a:ext>
            </a:extLst>
          </p:cNvPr>
          <p:cNvSpPr txBox="1">
            <a:spLocks/>
          </p:cNvSpPr>
          <p:nvPr/>
        </p:nvSpPr>
        <p:spPr>
          <a:xfrm>
            <a:off x="432913" y="3875760"/>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ED7D31"/>
                </a:solidFill>
              </a:rPr>
              <a:t>Valeur pour les membres</a:t>
            </a:r>
          </a:p>
        </p:txBody>
      </p:sp>
      <p:sp>
        <p:nvSpPr>
          <p:cNvPr id="173" name="Titre 1">
            <a:extLst>
              <a:ext uri="{FF2B5EF4-FFF2-40B4-BE49-F238E27FC236}">
                <a16:creationId xmlns:a16="http://schemas.microsoft.com/office/drawing/2014/main" id="{EBAC8050-0E16-187D-3D98-BE849FCB8952}"/>
              </a:ext>
            </a:extLst>
          </p:cNvPr>
          <p:cNvSpPr txBox="1">
            <a:spLocks/>
          </p:cNvSpPr>
          <p:nvPr/>
        </p:nvSpPr>
        <p:spPr>
          <a:xfrm>
            <a:off x="8160434" y="3914968"/>
            <a:ext cx="1537788" cy="60950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t>Valeur pour l’entreprise</a:t>
            </a:r>
          </a:p>
        </p:txBody>
      </p:sp>
      <p:sp>
        <p:nvSpPr>
          <p:cNvPr id="174" name="Flèche : droite 173">
            <a:extLst>
              <a:ext uri="{FF2B5EF4-FFF2-40B4-BE49-F238E27FC236}">
                <a16:creationId xmlns:a16="http://schemas.microsoft.com/office/drawing/2014/main" id="{8C673EBB-EE51-7DD1-F11C-618235073EEF}"/>
              </a:ext>
            </a:extLst>
          </p:cNvPr>
          <p:cNvSpPr/>
          <p:nvPr/>
        </p:nvSpPr>
        <p:spPr>
          <a:xfrm rot="16200000" flipH="1">
            <a:off x="2331420" y="3378904"/>
            <a:ext cx="609506" cy="1634775"/>
          </a:xfrm>
          <a:prstGeom prst="rightArrow">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5" name="Flèche : gauche 174">
            <a:extLst>
              <a:ext uri="{FF2B5EF4-FFF2-40B4-BE49-F238E27FC236}">
                <a16:creationId xmlns:a16="http://schemas.microsoft.com/office/drawing/2014/main" id="{8E000973-E143-8E29-F707-40F1E8988C04}"/>
              </a:ext>
            </a:extLst>
          </p:cNvPr>
          <p:cNvSpPr/>
          <p:nvPr/>
        </p:nvSpPr>
        <p:spPr>
          <a:xfrm rot="5400000" flipH="1">
            <a:off x="7255808" y="3402332"/>
            <a:ext cx="609505" cy="1634775"/>
          </a:xfrm>
          <a:prstGeom prst="lef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6" name="Groupe 175">
            <a:extLst>
              <a:ext uri="{FF2B5EF4-FFF2-40B4-BE49-F238E27FC236}">
                <a16:creationId xmlns:a16="http://schemas.microsoft.com/office/drawing/2014/main" id="{CBEFF08C-734D-7115-D93E-936F79725595}"/>
              </a:ext>
            </a:extLst>
          </p:cNvPr>
          <p:cNvGrpSpPr/>
          <p:nvPr/>
        </p:nvGrpSpPr>
        <p:grpSpPr>
          <a:xfrm>
            <a:off x="4384401" y="2701654"/>
            <a:ext cx="1416440" cy="1282229"/>
            <a:chOff x="-4435634" y="3221970"/>
            <a:chExt cx="4325260" cy="3915430"/>
          </a:xfrm>
          <a:solidFill>
            <a:srgbClr val="3494BA"/>
          </a:solidFill>
        </p:grpSpPr>
        <p:pic>
          <p:nvPicPr>
            <p:cNvPr id="177" name="Espace réservé du contenu 6" descr="Tribunal contour">
              <a:extLst>
                <a:ext uri="{FF2B5EF4-FFF2-40B4-BE49-F238E27FC236}">
                  <a16:creationId xmlns:a16="http://schemas.microsoft.com/office/drawing/2014/main" id="{0B2122F7-3EBD-9C42-679D-F6FD72D59BD5}"/>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l="8133" t="12060" r="8805" b="62496"/>
            <a:stretch/>
          </p:blipFill>
          <p:spPr>
            <a:xfrm>
              <a:off x="-4435633" y="3221970"/>
              <a:ext cx="4325259" cy="1324928"/>
            </a:xfrm>
            <a:prstGeom prst="rect">
              <a:avLst/>
            </a:prstGeom>
          </p:spPr>
        </p:pic>
        <p:grpSp>
          <p:nvGrpSpPr>
            <p:cNvPr id="178" name="Groupe 177">
              <a:extLst>
                <a:ext uri="{FF2B5EF4-FFF2-40B4-BE49-F238E27FC236}">
                  <a16:creationId xmlns:a16="http://schemas.microsoft.com/office/drawing/2014/main" id="{58A1776D-8221-62F0-05CB-CDAE9E744A2E}"/>
                </a:ext>
              </a:extLst>
            </p:cNvPr>
            <p:cNvGrpSpPr/>
            <p:nvPr/>
          </p:nvGrpSpPr>
          <p:grpSpPr>
            <a:xfrm>
              <a:off x="-4435634" y="4520418"/>
              <a:ext cx="4325260" cy="2616982"/>
              <a:chOff x="-4435634" y="4520418"/>
              <a:chExt cx="4325260" cy="2616982"/>
            </a:xfrm>
            <a:grpFill/>
          </p:grpSpPr>
          <p:pic>
            <p:nvPicPr>
              <p:cNvPr id="179" name="Espace réservé du contenu 6" descr="Tribunal contour">
                <a:extLst>
                  <a:ext uri="{FF2B5EF4-FFF2-40B4-BE49-F238E27FC236}">
                    <a16:creationId xmlns:a16="http://schemas.microsoft.com/office/drawing/2014/main" id="{595AF363-356C-286B-A256-DBD03F8DCE83}"/>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37523" r="8805" b="24898"/>
              <a:stretch/>
            </p:blipFill>
            <p:spPr>
              <a:xfrm>
                <a:off x="-4435633" y="4520418"/>
                <a:ext cx="4325259" cy="1956816"/>
              </a:xfrm>
              <a:prstGeom prst="rect">
                <a:avLst/>
              </a:prstGeom>
            </p:spPr>
          </p:pic>
          <p:pic>
            <p:nvPicPr>
              <p:cNvPr id="180" name="Graphique 179" descr="Réussite du groupe avec un remplissage uni">
                <a:extLst>
                  <a:ext uri="{FF2B5EF4-FFF2-40B4-BE49-F238E27FC236}">
                    <a16:creationId xmlns:a16="http://schemas.microsoft.com/office/drawing/2014/main" id="{45EB6E94-06B1-D17E-665B-73484D7E66D8}"/>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t="13979" b="19010"/>
              <a:stretch/>
            </p:blipFill>
            <p:spPr>
              <a:xfrm>
                <a:off x="-3132680" y="5325090"/>
                <a:ext cx="1719352" cy="1152144"/>
              </a:xfrm>
              <a:prstGeom prst="rect">
                <a:avLst/>
              </a:prstGeom>
            </p:spPr>
          </p:pic>
          <p:pic>
            <p:nvPicPr>
              <p:cNvPr id="181" name="Espace réservé du contenu 6" descr="Tribunal contour">
                <a:extLst>
                  <a:ext uri="{FF2B5EF4-FFF2-40B4-BE49-F238E27FC236}">
                    <a16:creationId xmlns:a16="http://schemas.microsoft.com/office/drawing/2014/main" id="{E3F3EB90-742F-9C3D-2885-43265C0B90AF}"/>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8"/>
                  </a:ext>
                </a:extLst>
              </a:blip>
              <a:srcRect l="8133" t="75103" r="8805" b="12219"/>
              <a:stretch/>
            </p:blipFill>
            <p:spPr>
              <a:xfrm>
                <a:off x="-4435634" y="6477233"/>
                <a:ext cx="4325259" cy="660167"/>
              </a:xfrm>
              <a:prstGeom prst="rect">
                <a:avLst/>
              </a:prstGeom>
            </p:spPr>
          </p:pic>
        </p:grpSp>
      </p:grpSp>
      <p:grpSp>
        <p:nvGrpSpPr>
          <p:cNvPr id="3" name="Groupe 2">
            <a:extLst>
              <a:ext uri="{FF2B5EF4-FFF2-40B4-BE49-F238E27FC236}">
                <a16:creationId xmlns:a16="http://schemas.microsoft.com/office/drawing/2014/main" id="{8B26C0F7-5774-4668-053E-33ACD21C26AE}"/>
              </a:ext>
            </a:extLst>
          </p:cNvPr>
          <p:cNvGrpSpPr/>
          <p:nvPr/>
        </p:nvGrpSpPr>
        <p:grpSpPr>
          <a:xfrm>
            <a:off x="6365488" y="6975815"/>
            <a:ext cx="2390144" cy="1381737"/>
            <a:chOff x="6365488" y="6975815"/>
            <a:chExt cx="2390144" cy="1381737"/>
          </a:xfrm>
        </p:grpSpPr>
        <p:grpSp>
          <p:nvGrpSpPr>
            <p:cNvPr id="63" name="Groupe 62">
              <a:extLst>
                <a:ext uri="{FF2B5EF4-FFF2-40B4-BE49-F238E27FC236}">
                  <a16:creationId xmlns:a16="http://schemas.microsoft.com/office/drawing/2014/main" id="{269DB85C-EACA-5181-DDF8-C2053FB23A91}"/>
                </a:ext>
              </a:extLst>
            </p:cNvPr>
            <p:cNvGrpSpPr/>
            <p:nvPr/>
          </p:nvGrpSpPr>
          <p:grpSpPr>
            <a:xfrm>
              <a:off x="6453145" y="6975815"/>
              <a:ext cx="2220399" cy="837312"/>
              <a:chOff x="1677224" y="4399902"/>
              <a:chExt cx="3984628" cy="1541940"/>
            </a:xfrm>
            <a:solidFill>
              <a:schemeClr val="tx1"/>
            </a:solidFill>
          </p:grpSpPr>
          <p:pic>
            <p:nvPicPr>
              <p:cNvPr id="64" name="Graphique 63" descr="Poignée de main avec un remplissage uni">
                <a:extLst>
                  <a:ext uri="{FF2B5EF4-FFF2-40B4-BE49-F238E27FC236}">
                    <a16:creationId xmlns:a16="http://schemas.microsoft.com/office/drawing/2014/main" id="{54AAF6F3-BB78-CBED-C002-E0FDAD2D41E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677224" y="4473520"/>
                <a:ext cx="1394705" cy="1394705"/>
              </a:xfrm>
              <a:prstGeom prst="rect">
                <a:avLst/>
              </a:prstGeom>
            </p:spPr>
          </p:pic>
          <p:pic>
            <p:nvPicPr>
              <p:cNvPr id="65" name="Graphique 64" descr="Contrat avec un remplissage uni">
                <a:extLst>
                  <a:ext uri="{FF2B5EF4-FFF2-40B4-BE49-F238E27FC236}">
                    <a16:creationId xmlns:a16="http://schemas.microsoft.com/office/drawing/2014/main" id="{5D7D1FA5-7DAD-2495-331E-0B67D3E7F89F}"/>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3003278" y="4578031"/>
                <a:ext cx="1185682" cy="1185682"/>
              </a:xfrm>
              <a:prstGeom prst="rect">
                <a:avLst/>
              </a:prstGeom>
            </p:spPr>
          </p:pic>
          <p:pic>
            <p:nvPicPr>
              <p:cNvPr id="66" name="Graphique 65" descr="Tendance à la hausse avec un remplissage uni">
                <a:extLst>
                  <a:ext uri="{FF2B5EF4-FFF2-40B4-BE49-F238E27FC236}">
                    <a16:creationId xmlns:a16="http://schemas.microsoft.com/office/drawing/2014/main" id="{FA877617-B574-EC42-C0EA-ACEFFD2E2D01}"/>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4119912" y="4399902"/>
                <a:ext cx="1541940" cy="1541940"/>
              </a:xfrm>
              <a:prstGeom prst="rect">
                <a:avLst/>
              </a:prstGeom>
            </p:spPr>
          </p:pic>
        </p:grpSp>
        <p:sp>
          <p:nvSpPr>
            <p:cNvPr id="67" name="Rectangle 66">
              <a:extLst>
                <a:ext uri="{FF2B5EF4-FFF2-40B4-BE49-F238E27FC236}">
                  <a16:creationId xmlns:a16="http://schemas.microsoft.com/office/drawing/2014/main" id="{0891F851-6648-AD33-0BE0-91019B25BA4A}"/>
                </a:ext>
              </a:extLst>
            </p:cNvPr>
            <p:cNvSpPr/>
            <p:nvPr/>
          </p:nvSpPr>
          <p:spPr>
            <a:xfrm>
              <a:off x="6365488" y="7785003"/>
              <a:ext cx="2390144" cy="5725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tx1"/>
                  </a:solidFill>
                </a:rPr>
                <a:t>Participation au développement commercial</a:t>
              </a:r>
              <a:endParaRPr lang="fr-FR" sz="1400" dirty="0">
                <a:solidFill>
                  <a:schemeClr val="tx1"/>
                </a:solidFill>
              </a:endParaRPr>
            </a:p>
          </p:txBody>
        </p:sp>
      </p:grpSp>
      <p:grpSp>
        <p:nvGrpSpPr>
          <p:cNvPr id="68" name="Groupe 67">
            <a:extLst>
              <a:ext uri="{FF2B5EF4-FFF2-40B4-BE49-F238E27FC236}">
                <a16:creationId xmlns:a16="http://schemas.microsoft.com/office/drawing/2014/main" id="{7068126C-2601-B74D-B21B-9E9FE390D11A}"/>
              </a:ext>
            </a:extLst>
          </p:cNvPr>
          <p:cNvGrpSpPr/>
          <p:nvPr/>
        </p:nvGrpSpPr>
        <p:grpSpPr>
          <a:xfrm>
            <a:off x="374429" y="6905129"/>
            <a:ext cx="1406380" cy="1377272"/>
            <a:chOff x="7187274" y="4322758"/>
            <a:chExt cx="651630" cy="638892"/>
          </a:xfrm>
        </p:grpSpPr>
        <p:pic>
          <p:nvPicPr>
            <p:cNvPr id="69" name="Graphique 68" descr="Coffre au trésor avec un remplissage uni">
              <a:extLst>
                <a:ext uri="{FF2B5EF4-FFF2-40B4-BE49-F238E27FC236}">
                  <a16:creationId xmlns:a16="http://schemas.microsoft.com/office/drawing/2014/main" id="{F70189BB-3C4F-9FA4-F33B-3D4FCCB80EF8}"/>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7321347" y="4322758"/>
              <a:ext cx="384457" cy="384458"/>
            </a:xfrm>
            <a:prstGeom prst="rect">
              <a:avLst/>
            </a:prstGeom>
          </p:spPr>
        </p:pic>
        <p:sp>
          <p:nvSpPr>
            <p:cNvPr id="70" name="ZoneTexte 69">
              <a:extLst>
                <a:ext uri="{FF2B5EF4-FFF2-40B4-BE49-F238E27FC236}">
                  <a16:creationId xmlns:a16="http://schemas.microsoft.com/office/drawing/2014/main" id="{5BB53298-9C4C-DD98-2E13-40C6F347FC1A}"/>
                </a:ext>
              </a:extLst>
            </p:cNvPr>
            <p:cNvSpPr txBox="1"/>
            <p:nvPr/>
          </p:nvSpPr>
          <p:spPr>
            <a:xfrm>
              <a:off x="7187274" y="4718937"/>
              <a:ext cx="651630" cy="242713"/>
            </a:xfrm>
            <a:prstGeom prst="rect">
              <a:avLst/>
            </a:prstGeom>
            <a:noFill/>
          </p:spPr>
          <p:txBody>
            <a:bodyPr wrap="square">
              <a:spAutoFit/>
            </a:bodyPr>
            <a:lstStyle/>
            <a:p>
              <a:pPr algn="ctr"/>
              <a:r>
                <a:rPr lang="fr-FR" sz="1400" b="1" dirty="0">
                  <a:solidFill>
                    <a:srgbClr val="ED7D31"/>
                  </a:solidFill>
                </a:rPr>
                <a:t>Opportunités d’affaires</a:t>
              </a:r>
            </a:p>
          </p:txBody>
        </p:sp>
      </p:grpSp>
      <p:grpSp>
        <p:nvGrpSpPr>
          <p:cNvPr id="74" name="Groupe 73">
            <a:extLst>
              <a:ext uri="{FF2B5EF4-FFF2-40B4-BE49-F238E27FC236}">
                <a16:creationId xmlns:a16="http://schemas.microsoft.com/office/drawing/2014/main" id="{AF555A0D-EEF5-954B-B61F-49B8189A4812}"/>
              </a:ext>
            </a:extLst>
          </p:cNvPr>
          <p:cNvGrpSpPr/>
          <p:nvPr/>
        </p:nvGrpSpPr>
        <p:grpSpPr>
          <a:xfrm>
            <a:off x="1679235" y="6855542"/>
            <a:ext cx="2191421" cy="1635264"/>
            <a:chOff x="9261999" y="4292960"/>
            <a:chExt cx="1221890" cy="912861"/>
          </a:xfrm>
        </p:grpSpPr>
        <p:sp>
          <p:nvSpPr>
            <p:cNvPr id="76" name="ZoneTexte 75">
              <a:extLst>
                <a:ext uri="{FF2B5EF4-FFF2-40B4-BE49-F238E27FC236}">
                  <a16:creationId xmlns:a16="http://schemas.microsoft.com/office/drawing/2014/main" id="{C8B16C2A-39B1-BB25-265F-B8D3C94ED017}"/>
                </a:ext>
              </a:extLst>
            </p:cNvPr>
            <p:cNvSpPr txBox="1"/>
            <p:nvPr/>
          </p:nvSpPr>
          <p:spPr>
            <a:xfrm>
              <a:off x="9261999" y="4793473"/>
              <a:ext cx="1221890" cy="412348"/>
            </a:xfrm>
            <a:prstGeom prst="rect">
              <a:avLst/>
            </a:prstGeom>
            <a:noFill/>
          </p:spPr>
          <p:txBody>
            <a:bodyPr wrap="square">
              <a:spAutoFit/>
            </a:bodyPr>
            <a:lstStyle/>
            <a:p>
              <a:pPr algn="ctr"/>
              <a:r>
                <a:rPr lang="fr-FR" sz="1400" b="1" dirty="0">
                  <a:solidFill>
                    <a:srgbClr val="ED7D31"/>
                  </a:solidFill>
                </a:rPr>
                <a:t>Satisfaction des obligations et responsabilités existantes</a:t>
              </a:r>
            </a:p>
          </p:txBody>
        </p:sp>
        <p:pic>
          <p:nvPicPr>
            <p:cNvPr id="77" name="Graphique 76" descr="Presse-papiers vérifié avec un remplissage uni">
              <a:extLst>
                <a:ext uri="{FF2B5EF4-FFF2-40B4-BE49-F238E27FC236}">
                  <a16:creationId xmlns:a16="http://schemas.microsoft.com/office/drawing/2014/main" id="{8EB0AA57-B0F1-9112-303D-7D70EBF4384C}"/>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9627431" y="4292960"/>
              <a:ext cx="491025" cy="491024"/>
            </a:xfrm>
            <a:prstGeom prst="rect">
              <a:avLst/>
            </a:prstGeom>
          </p:spPr>
        </p:pic>
      </p:grpSp>
      <p:grpSp>
        <p:nvGrpSpPr>
          <p:cNvPr id="78" name="Groupe 77">
            <a:extLst>
              <a:ext uri="{FF2B5EF4-FFF2-40B4-BE49-F238E27FC236}">
                <a16:creationId xmlns:a16="http://schemas.microsoft.com/office/drawing/2014/main" id="{00EA75FD-1662-92A8-2A14-B6D7EE65A8C1}"/>
              </a:ext>
            </a:extLst>
          </p:cNvPr>
          <p:cNvGrpSpPr/>
          <p:nvPr/>
        </p:nvGrpSpPr>
        <p:grpSpPr>
          <a:xfrm>
            <a:off x="3664682" y="7125586"/>
            <a:ext cx="1406379" cy="1194036"/>
            <a:chOff x="8129937" y="4169500"/>
            <a:chExt cx="1286847" cy="1093835"/>
          </a:xfrm>
        </p:grpSpPr>
        <p:pic>
          <p:nvPicPr>
            <p:cNvPr id="79" name="Graphique 78" descr="Poignée de main avec un remplissage uni">
              <a:extLst>
                <a:ext uri="{FF2B5EF4-FFF2-40B4-BE49-F238E27FC236}">
                  <a16:creationId xmlns:a16="http://schemas.microsoft.com/office/drawing/2014/main" id="{A0E6211B-A448-32C1-FD2C-186DD41E78AE}"/>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8378292" y="4169500"/>
              <a:ext cx="703975" cy="703975"/>
            </a:xfrm>
            <a:prstGeom prst="rect">
              <a:avLst/>
            </a:prstGeom>
          </p:spPr>
        </p:pic>
        <p:sp>
          <p:nvSpPr>
            <p:cNvPr id="80" name="ZoneTexte 79">
              <a:extLst>
                <a:ext uri="{FF2B5EF4-FFF2-40B4-BE49-F238E27FC236}">
                  <a16:creationId xmlns:a16="http://schemas.microsoft.com/office/drawing/2014/main" id="{4A322AF7-DE4D-C5B7-B782-BB2F1BEB59A8}"/>
                </a:ext>
              </a:extLst>
            </p:cNvPr>
            <p:cNvSpPr txBox="1"/>
            <p:nvPr/>
          </p:nvSpPr>
          <p:spPr>
            <a:xfrm>
              <a:off x="8129937" y="4747307"/>
              <a:ext cx="1286847" cy="516028"/>
            </a:xfrm>
            <a:prstGeom prst="rect">
              <a:avLst/>
            </a:prstGeom>
            <a:noFill/>
          </p:spPr>
          <p:txBody>
            <a:bodyPr wrap="square">
              <a:spAutoFit/>
            </a:bodyPr>
            <a:lstStyle/>
            <a:p>
              <a:pPr algn="ctr"/>
              <a:r>
                <a:rPr lang="fr-FR" sz="1400" b="1" dirty="0">
                  <a:solidFill>
                    <a:srgbClr val="ED7D31"/>
                  </a:solidFill>
                </a:rPr>
                <a:t>Lien avec les autres</a:t>
              </a:r>
            </a:p>
          </p:txBody>
        </p:sp>
      </p:grpSp>
    </p:spTree>
    <p:extLst>
      <p:ext uri="{BB962C8B-B14F-4D97-AF65-F5344CB8AC3E}">
        <p14:creationId xmlns:p14="http://schemas.microsoft.com/office/powerpoint/2010/main" val="714252384"/>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78F58F0-5BDD-FB88-32E3-A31EC83E376D}"/>
              </a:ext>
            </a:extLst>
          </p:cNvPr>
          <p:cNvSpPr>
            <a:spLocks noGrp="1"/>
          </p:cNvSpPr>
          <p:nvPr>
            <p:ph type="title"/>
          </p:nvPr>
        </p:nvSpPr>
        <p:spPr/>
        <p:txBody>
          <a:bodyPr>
            <a:normAutofit fontScale="90000"/>
          </a:bodyPr>
          <a:lstStyle/>
          <a:p>
            <a:r>
              <a:rPr lang="fr-FR" dirty="0"/>
              <a:t>Exemples d’activités pour faire connaître la valeur de la Communauté</a:t>
            </a:r>
            <a:br>
              <a:rPr lang="fr-FR" dirty="0"/>
            </a:br>
            <a:r>
              <a:rPr lang="fr-FR" sz="1800" dirty="0"/>
              <a:t>📅Evènements  , ✍️Contenus, ⚙️Structuration de Communauté</a:t>
            </a:r>
            <a:endParaRPr lang="fr-FR" dirty="0"/>
          </a:p>
        </p:txBody>
      </p:sp>
      <p:grpSp>
        <p:nvGrpSpPr>
          <p:cNvPr id="6" name="Groupe 5">
            <a:extLst>
              <a:ext uri="{FF2B5EF4-FFF2-40B4-BE49-F238E27FC236}">
                <a16:creationId xmlns:a16="http://schemas.microsoft.com/office/drawing/2014/main" id="{71D420F9-EF2A-6521-793F-4C6D77138647}"/>
              </a:ext>
            </a:extLst>
          </p:cNvPr>
          <p:cNvGrpSpPr/>
          <p:nvPr/>
        </p:nvGrpSpPr>
        <p:grpSpPr>
          <a:xfrm>
            <a:off x="545283" y="2263979"/>
            <a:ext cx="11132191" cy="3884802"/>
            <a:chOff x="1282817" y="2263979"/>
            <a:chExt cx="8808390" cy="3884802"/>
          </a:xfrm>
        </p:grpSpPr>
        <p:sp>
          <p:nvSpPr>
            <p:cNvPr id="4" name="Ellipse 3">
              <a:extLst>
                <a:ext uri="{FF2B5EF4-FFF2-40B4-BE49-F238E27FC236}">
                  <a16:creationId xmlns:a16="http://schemas.microsoft.com/office/drawing/2014/main" id="{3B5C552E-C1DA-929C-BBA7-FBD2F46CCDFD}"/>
                </a:ext>
              </a:extLst>
            </p:cNvPr>
            <p:cNvSpPr/>
            <p:nvPr/>
          </p:nvSpPr>
          <p:spPr>
            <a:xfrm>
              <a:off x="1282817" y="2263979"/>
              <a:ext cx="6124662" cy="3884802"/>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Ellipse 4">
              <a:extLst>
                <a:ext uri="{FF2B5EF4-FFF2-40B4-BE49-F238E27FC236}">
                  <a16:creationId xmlns:a16="http://schemas.microsoft.com/office/drawing/2014/main" id="{3952AB7F-E787-5733-EC0E-A7E1A4507BE1}"/>
                </a:ext>
              </a:extLst>
            </p:cNvPr>
            <p:cNvSpPr/>
            <p:nvPr/>
          </p:nvSpPr>
          <p:spPr>
            <a:xfrm>
              <a:off x="3966545" y="2263979"/>
              <a:ext cx="6124662" cy="388480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pic>
        <p:nvPicPr>
          <p:cNvPr id="7" name="Graphique 6" descr="Bâtiment avec un remplissage uni">
            <a:extLst>
              <a:ext uri="{FF2B5EF4-FFF2-40B4-BE49-F238E27FC236}">
                <a16:creationId xmlns:a16="http://schemas.microsoft.com/office/drawing/2014/main" id="{74F4302C-EE37-EEE9-5BED-9212F4C33B6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287282" y="5031787"/>
            <a:ext cx="896256" cy="896256"/>
          </a:xfrm>
          <a:prstGeom prst="rect">
            <a:avLst/>
          </a:prstGeom>
        </p:spPr>
      </p:pic>
      <p:grpSp>
        <p:nvGrpSpPr>
          <p:cNvPr id="8" name="Groupe 7">
            <a:extLst>
              <a:ext uri="{FF2B5EF4-FFF2-40B4-BE49-F238E27FC236}">
                <a16:creationId xmlns:a16="http://schemas.microsoft.com/office/drawing/2014/main" id="{7DEF2B59-B97B-E309-4907-7672814A5BFA}"/>
              </a:ext>
            </a:extLst>
          </p:cNvPr>
          <p:cNvGrpSpPr/>
          <p:nvPr/>
        </p:nvGrpSpPr>
        <p:grpSpPr>
          <a:xfrm>
            <a:off x="167812" y="5243119"/>
            <a:ext cx="867150" cy="731076"/>
            <a:chOff x="8982504" y="3274976"/>
            <a:chExt cx="1230670" cy="1037553"/>
          </a:xfrm>
          <a:solidFill>
            <a:srgbClr val="ED7D31"/>
          </a:solidFill>
        </p:grpSpPr>
        <p:pic>
          <p:nvPicPr>
            <p:cNvPr id="9" name="Graphique 8" descr="Utilisateur avec un remplissage uni">
              <a:extLst>
                <a:ext uri="{FF2B5EF4-FFF2-40B4-BE49-F238E27FC236}">
                  <a16:creationId xmlns:a16="http://schemas.microsoft.com/office/drawing/2014/main" id="{248A41B4-237E-D89C-EE17-27E89643D46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0" name="Graphique 9" descr="Utilisateur avec un remplissage uni">
              <a:extLst>
                <a:ext uri="{FF2B5EF4-FFF2-40B4-BE49-F238E27FC236}">
                  <a16:creationId xmlns:a16="http://schemas.microsoft.com/office/drawing/2014/main" id="{B09DA936-F7C0-6FF1-A9BD-B4BFDF79553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1" name="Graphique 10" descr="Utilisateur avec un remplissage uni">
              <a:extLst>
                <a:ext uri="{FF2B5EF4-FFF2-40B4-BE49-F238E27FC236}">
                  <a16:creationId xmlns:a16="http://schemas.microsoft.com/office/drawing/2014/main" id="{51C91F6B-F7B7-2777-6191-EA1306AE38B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2" name="Graphique 11" descr="Utilisateur avec un remplissage uni">
              <a:extLst>
                <a:ext uri="{FF2B5EF4-FFF2-40B4-BE49-F238E27FC236}">
                  <a16:creationId xmlns:a16="http://schemas.microsoft.com/office/drawing/2014/main" id="{1DB69107-6A86-F003-5880-F46AB1DFF46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3" name="Graphique 12" descr="Utilisateur avec un remplissage uni">
              <a:extLst>
                <a:ext uri="{FF2B5EF4-FFF2-40B4-BE49-F238E27FC236}">
                  <a16:creationId xmlns:a16="http://schemas.microsoft.com/office/drawing/2014/main" id="{28D3867D-CA4B-4945-1531-4880DD3B036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4" name="Graphique 13" descr="Utilisateur avec un remplissage uni">
              <a:extLst>
                <a:ext uri="{FF2B5EF4-FFF2-40B4-BE49-F238E27FC236}">
                  <a16:creationId xmlns:a16="http://schemas.microsoft.com/office/drawing/2014/main" id="{C950723F-82CC-7981-0606-26B6FCD426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5" name="Graphique 14" descr="Utilisateur avec un remplissage uni">
              <a:extLst>
                <a:ext uri="{FF2B5EF4-FFF2-40B4-BE49-F238E27FC236}">
                  <a16:creationId xmlns:a16="http://schemas.microsoft.com/office/drawing/2014/main" id="{63B31499-F58B-AF41-931E-7FE791FC80E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6" name="Graphique 15" descr="Utilisateur avec un remplissage uni">
              <a:extLst>
                <a:ext uri="{FF2B5EF4-FFF2-40B4-BE49-F238E27FC236}">
                  <a16:creationId xmlns:a16="http://schemas.microsoft.com/office/drawing/2014/main" id="{6ED1B2A1-2C04-595C-5B5F-5DA4BD1D6C9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7" name="Graphique 16" descr="Utilisateur avec un remplissage uni">
              <a:extLst>
                <a:ext uri="{FF2B5EF4-FFF2-40B4-BE49-F238E27FC236}">
                  <a16:creationId xmlns:a16="http://schemas.microsoft.com/office/drawing/2014/main" id="{7441B31B-0FB3-E9DF-663E-69CDF0ECD6E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8" name="Graphique 17" descr="Utilisateur avec un remplissage uni">
              <a:extLst>
                <a:ext uri="{FF2B5EF4-FFF2-40B4-BE49-F238E27FC236}">
                  <a16:creationId xmlns:a16="http://schemas.microsoft.com/office/drawing/2014/main" id="{655FFDA1-92F6-0216-280E-D15456FDBE3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9" name="Graphique 18" descr="Utilisateur avec un remplissage uni">
              <a:extLst>
                <a:ext uri="{FF2B5EF4-FFF2-40B4-BE49-F238E27FC236}">
                  <a16:creationId xmlns:a16="http://schemas.microsoft.com/office/drawing/2014/main" id="{FE2A8DD7-DCAD-500F-4BBA-5ED7FE760E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sp>
        <p:nvSpPr>
          <p:cNvPr id="21" name="Titre 1">
            <a:extLst>
              <a:ext uri="{FF2B5EF4-FFF2-40B4-BE49-F238E27FC236}">
                <a16:creationId xmlns:a16="http://schemas.microsoft.com/office/drawing/2014/main" id="{0FA133A7-B7ED-ED21-BD06-4B95ACB01190}"/>
              </a:ext>
            </a:extLst>
          </p:cNvPr>
          <p:cNvSpPr txBox="1">
            <a:spLocks/>
          </p:cNvSpPr>
          <p:nvPr/>
        </p:nvSpPr>
        <p:spPr>
          <a:xfrm>
            <a:off x="172517" y="5932037"/>
            <a:ext cx="1622727" cy="67871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fr-FR" sz="1400" b="1" dirty="0">
                <a:solidFill>
                  <a:srgbClr val="ED7D31"/>
                </a:solidFill>
              </a:rPr>
              <a:t>Mise en avant de la valeur pour les membres</a:t>
            </a:r>
          </a:p>
        </p:txBody>
      </p:sp>
      <p:sp>
        <p:nvSpPr>
          <p:cNvPr id="22" name="Titre 1">
            <a:extLst>
              <a:ext uri="{FF2B5EF4-FFF2-40B4-BE49-F238E27FC236}">
                <a16:creationId xmlns:a16="http://schemas.microsoft.com/office/drawing/2014/main" id="{CE47F994-1C8B-111D-C091-30DAFBCFD162}"/>
              </a:ext>
            </a:extLst>
          </p:cNvPr>
          <p:cNvSpPr txBox="1">
            <a:spLocks/>
          </p:cNvSpPr>
          <p:nvPr/>
        </p:nvSpPr>
        <p:spPr>
          <a:xfrm>
            <a:off x="10376431" y="5974195"/>
            <a:ext cx="1622727" cy="67871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r"/>
            <a:r>
              <a:rPr lang="fr-FR" sz="1400" b="1" dirty="0"/>
              <a:t>Mise en avant de la valeur pour l’entreprise</a:t>
            </a:r>
          </a:p>
        </p:txBody>
      </p:sp>
      <p:sp>
        <p:nvSpPr>
          <p:cNvPr id="23" name="Titre 1">
            <a:extLst>
              <a:ext uri="{FF2B5EF4-FFF2-40B4-BE49-F238E27FC236}">
                <a16:creationId xmlns:a16="http://schemas.microsoft.com/office/drawing/2014/main" id="{888C1A00-E455-7FC5-AE5C-EE363B4F05E2}"/>
              </a:ext>
            </a:extLst>
          </p:cNvPr>
          <p:cNvSpPr txBox="1">
            <a:spLocks/>
          </p:cNvSpPr>
          <p:nvPr/>
        </p:nvSpPr>
        <p:spPr>
          <a:xfrm>
            <a:off x="5303303" y="6043849"/>
            <a:ext cx="1622727" cy="678710"/>
          </a:xfrm>
          <a:prstGeom prst="rect">
            <a:avLst/>
          </a:prstGeom>
        </p:spPr>
        <p:txBody>
          <a:bodyPr vert="horz" lIns="91440" tIns="45720" rIns="91440" bIns="45720" rtlCol="0" anchor="ctr">
            <a:normAutofit fontScale="92500" lnSpcReduction="2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1400" b="1" dirty="0">
                <a:solidFill>
                  <a:srgbClr val="3494BA"/>
                </a:solidFill>
              </a:rPr>
              <a:t>Mise en avant de la valeur </a:t>
            </a:r>
            <a:r>
              <a:rPr lang="fr-FR" sz="1400" b="1" dirty="0">
                <a:solidFill>
                  <a:srgbClr val="ED7D31"/>
                </a:solidFill>
              </a:rPr>
              <a:t>pour les membres et </a:t>
            </a:r>
            <a:r>
              <a:rPr lang="fr-FR" sz="1400" b="1" dirty="0"/>
              <a:t>pour l’entreprise</a:t>
            </a:r>
          </a:p>
        </p:txBody>
      </p:sp>
    </p:spTree>
    <p:extLst>
      <p:ext uri="{BB962C8B-B14F-4D97-AF65-F5344CB8AC3E}">
        <p14:creationId xmlns:p14="http://schemas.microsoft.com/office/powerpoint/2010/main" val="2926401760"/>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0FEA3ED-05E5-44E0-86FB-276C165223EB}"/>
              </a:ext>
            </a:extLst>
          </p:cNvPr>
          <p:cNvSpPr>
            <a:spLocks noGrp="1"/>
          </p:cNvSpPr>
          <p:nvPr>
            <p:ph type="title"/>
          </p:nvPr>
        </p:nvSpPr>
        <p:spPr>
          <a:xfrm>
            <a:off x="838200" y="365125"/>
            <a:ext cx="10515600" cy="633165"/>
          </a:xfrm>
        </p:spPr>
        <p:txBody>
          <a:bodyPr>
            <a:normAutofit fontScale="90000"/>
          </a:bodyPr>
          <a:lstStyle/>
          <a:p>
            <a:r>
              <a:rPr lang="fr-FR" sz="4000" dirty="0"/>
              <a:t>Exemple d’analyse de ressources de Communauté</a:t>
            </a:r>
          </a:p>
        </p:txBody>
      </p:sp>
      <p:sp>
        <p:nvSpPr>
          <p:cNvPr id="206" name="Rectangle 205">
            <a:extLst>
              <a:ext uri="{FF2B5EF4-FFF2-40B4-BE49-F238E27FC236}">
                <a16:creationId xmlns:a16="http://schemas.microsoft.com/office/drawing/2014/main" id="{3DB71E1E-4C40-3CE1-8CD4-08A47F58E3E2}"/>
              </a:ext>
            </a:extLst>
          </p:cNvPr>
          <p:cNvSpPr/>
          <p:nvPr/>
        </p:nvSpPr>
        <p:spPr>
          <a:xfrm>
            <a:off x="11081777" y="82599"/>
            <a:ext cx="1115735" cy="9060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Exemple 1 </a:t>
            </a:r>
            <a:r>
              <a:rPr lang="fr-FR" sz="1200" dirty="0">
                <a:solidFill>
                  <a:schemeClr val="tx1"/>
                </a:solidFill>
              </a:rPr>
              <a:t>: </a:t>
            </a:r>
          </a:p>
          <a:p>
            <a:pPr algn="ctr"/>
            <a:r>
              <a:rPr lang="fr-FR" sz="1200" dirty="0">
                <a:solidFill>
                  <a:schemeClr val="tx1"/>
                </a:solidFill>
              </a:rPr>
              <a:t>Une Communauté </a:t>
            </a:r>
            <a:r>
              <a:rPr lang="fr-FR" sz="1200" i="1" dirty="0" err="1">
                <a:solidFill>
                  <a:schemeClr val="tx1"/>
                </a:solidFill>
              </a:rPr>
              <a:t>FabLab</a:t>
            </a:r>
            <a:r>
              <a:rPr lang="fr-FR" sz="1200" i="1" dirty="0">
                <a:solidFill>
                  <a:schemeClr val="tx1"/>
                </a:solidFill>
              </a:rPr>
              <a:t> </a:t>
            </a:r>
            <a:r>
              <a:rPr lang="fr-FR" sz="1200" dirty="0">
                <a:solidFill>
                  <a:schemeClr val="tx1"/>
                </a:solidFill>
              </a:rPr>
              <a:t>de l’entreprise</a:t>
            </a:r>
          </a:p>
        </p:txBody>
      </p:sp>
      <p:pic>
        <p:nvPicPr>
          <p:cNvPr id="207" name="Graphique 206" descr="Brainstorming de groupe avec un remplissage uni">
            <a:extLst>
              <a:ext uri="{FF2B5EF4-FFF2-40B4-BE49-F238E27FC236}">
                <a16:creationId xmlns:a16="http://schemas.microsoft.com/office/drawing/2014/main" id="{B5B822AB-D99F-7D78-2E61-3A1CEBC4F39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266421" y="19728"/>
            <a:ext cx="914400" cy="914400"/>
          </a:xfrm>
          <a:prstGeom prst="rect">
            <a:avLst/>
          </a:prstGeom>
        </p:spPr>
      </p:pic>
      <p:grpSp>
        <p:nvGrpSpPr>
          <p:cNvPr id="15" name="Groupe 14">
            <a:extLst>
              <a:ext uri="{FF2B5EF4-FFF2-40B4-BE49-F238E27FC236}">
                <a16:creationId xmlns:a16="http://schemas.microsoft.com/office/drawing/2014/main" id="{D282A962-3D69-7C71-D588-E86A39468A2E}"/>
              </a:ext>
            </a:extLst>
          </p:cNvPr>
          <p:cNvGrpSpPr/>
          <p:nvPr/>
        </p:nvGrpSpPr>
        <p:grpSpPr>
          <a:xfrm>
            <a:off x="33584" y="1051480"/>
            <a:ext cx="12027206" cy="5806519"/>
            <a:chOff x="-48029" y="998290"/>
            <a:chExt cx="12139620" cy="5860792"/>
          </a:xfrm>
        </p:grpSpPr>
        <p:grpSp>
          <p:nvGrpSpPr>
            <p:cNvPr id="11" name="Groupe 10">
              <a:extLst>
                <a:ext uri="{FF2B5EF4-FFF2-40B4-BE49-F238E27FC236}">
                  <a16:creationId xmlns:a16="http://schemas.microsoft.com/office/drawing/2014/main" id="{B79CCB18-F1C7-1367-9A37-C4190B519194}"/>
                </a:ext>
              </a:extLst>
            </p:cNvPr>
            <p:cNvGrpSpPr/>
            <p:nvPr/>
          </p:nvGrpSpPr>
          <p:grpSpPr>
            <a:xfrm>
              <a:off x="1007610" y="1187557"/>
              <a:ext cx="1485456" cy="5500221"/>
              <a:chOff x="1007610" y="1187557"/>
              <a:chExt cx="1485456" cy="5500221"/>
            </a:xfrm>
          </p:grpSpPr>
          <p:sp>
            <p:nvSpPr>
              <p:cNvPr id="97" name="Flèche : haut 96">
                <a:extLst>
                  <a:ext uri="{FF2B5EF4-FFF2-40B4-BE49-F238E27FC236}">
                    <a16:creationId xmlns:a16="http://schemas.microsoft.com/office/drawing/2014/main" id="{AE89BA1B-419E-63FB-3C74-B37D74D67CAC}"/>
                  </a:ext>
                </a:extLst>
              </p:cNvPr>
              <p:cNvSpPr/>
              <p:nvPr/>
            </p:nvSpPr>
            <p:spPr>
              <a:xfrm>
                <a:off x="2188266" y="1187557"/>
                <a:ext cx="304800" cy="4188155"/>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600"/>
              </a:p>
            </p:txBody>
          </p:sp>
          <p:grpSp>
            <p:nvGrpSpPr>
              <p:cNvPr id="10" name="Groupe 9">
                <a:extLst>
                  <a:ext uri="{FF2B5EF4-FFF2-40B4-BE49-F238E27FC236}">
                    <a16:creationId xmlns:a16="http://schemas.microsoft.com/office/drawing/2014/main" id="{BBD2C98E-FDB2-2DFF-2698-5DE17DD25D58}"/>
                  </a:ext>
                </a:extLst>
              </p:cNvPr>
              <p:cNvGrpSpPr/>
              <p:nvPr/>
            </p:nvGrpSpPr>
            <p:grpSpPr>
              <a:xfrm>
                <a:off x="1263236" y="1187557"/>
                <a:ext cx="642859" cy="541981"/>
                <a:chOff x="1263236" y="1187557"/>
                <a:chExt cx="642859" cy="541981"/>
              </a:xfrm>
            </p:grpSpPr>
            <p:grpSp>
              <p:nvGrpSpPr>
                <p:cNvPr id="99" name="Groupe 98">
                  <a:extLst>
                    <a:ext uri="{FF2B5EF4-FFF2-40B4-BE49-F238E27FC236}">
                      <a16:creationId xmlns:a16="http://schemas.microsoft.com/office/drawing/2014/main" id="{950FC174-2A8C-F2C7-A445-74EACE087F0C}"/>
                    </a:ext>
                  </a:extLst>
                </p:cNvPr>
                <p:cNvGrpSpPr/>
                <p:nvPr/>
              </p:nvGrpSpPr>
              <p:grpSpPr>
                <a:xfrm>
                  <a:off x="1263236" y="1187557"/>
                  <a:ext cx="642859" cy="541981"/>
                  <a:chOff x="8982504" y="3274976"/>
                  <a:chExt cx="1230670" cy="1037553"/>
                </a:xfrm>
                <a:solidFill>
                  <a:srgbClr val="ED7D31"/>
                </a:solidFill>
              </p:grpSpPr>
              <p:pic>
                <p:nvPicPr>
                  <p:cNvPr id="101" name="Graphique 100" descr="Utilisateur avec un remplissage uni">
                    <a:extLst>
                      <a:ext uri="{FF2B5EF4-FFF2-40B4-BE49-F238E27FC236}">
                        <a16:creationId xmlns:a16="http://schemas.microsoft.com/office/drawing/2014/main" id="{9F799E07-E035-D82E-B88F-A1C30E24B00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D634C716-6C7B-6A39-BC03-2508E5A4B46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AC087E2-37A9-7045-BEF5-6F08236C709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87F86FAF-C521-39C2-648F-EA0C760BF7E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F949EF51-658E-96A6-0FDF-7DF2D13B4AE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6" name="Graphique 105" descr="Utilisateur avec un remplissage uni">
                    <a:extLst>
                      <a:ext uri="{FF2B5EF4-FFF2-40B4-BE49-F238E27FC236}">
                        <a16:creationId xmlns:a16="http://schemas.microsoft.com/office/drawing/2014/main" id="{A95E8976-445F-1106-7223-0122A97BB70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7" name="Graphique 106" descr="Utilisateur avec un remplissage uni">
                    <a:extLst>
                      <a:ext uri="{FF2B5EF4-FFF2-40B4-BE49-F238E27FC236}">
                        <a16:creationId xmlns:a16="http://schemas.microsoft.com/office/drawing/2014/main" id="{CC038618-2C40-504C-3DF4-CA7D56CAB97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8" name="Graphique 107" descr="Utilisateur avec un remplissage uni">
                    <a:extLst>
                      <a:ext uri="{FF2B5EF4-FFF2-40B4-BE49-F238E27FC236}">
                        <a16:creationId xmlns:a16="http://schemas.microsoft.com/office/drawing/2014/main" id="{92F0BCBB-FC1F-98EA-E265-76EE4AE0446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9" name="Graphique 108" descr="Utilisateur avec un remplissage uni">
                    <a:extLst>
                      <a:ext uri="{FF2B5EF4-FFF2-40B4-BE49-F238E27FC236}">
                        <a16:creationId xmlns:a16="http://schemas.microsoft.com/office/drawing/2014/main" id="{787601DB-53FF-6153-9432-EE7BDE70219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10" name="Graphique 109" descr="Utilisateur avec un remplissage uni">
                    <a:extLst>
                      <a:ext uri="{FF2B5EF4-FFF2-40B4-BE49-F238E27FC236}">
                        <a16:creationId xmlns:a16="http://schemas.microsoft.com/office/drawing/2014/main" id="{8BC7269C-443D-E67F-5F19-A9854E48392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11" name="Graphique 110" descr="Utilisateur avec un remplissage uni">
                    <a:extLst>
                      <a:ext uri="{FF2B5EF4-FFF2-40B4-BE49-F238E27FC236}">
                        <a16:creationId xmlns:a16="http://schemas.microsoft.com/office/drawing/2014/main" id="{A1613045-850B-66A4-1284-8E31FBC2FFA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00" name="Graphique 99" descr="Boîte à archives avec un remplissage uni">
                  <a:extLst>
                    <a:ext uri="{FF2B5EF4-FFF2-40B4-BE49-F238E27FC236}">
                      <a16:creationId xmlns:a16="http://schemas.microsoft.com/office/drawing/2014/main" id="{87961DF1-41B6-973F-640C-4DEDBF85610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419578" y="1312083"/>
                  <a:ext cx="339141" cy="339141"/>
                </a:xfrm>
                <a:prstGeom prst="rect">
                  <a:avLst/>
                </a:prstGeom>
              </p:spPr>
            </p:pic>
          </p:grpSp>
          <p:grpSp>
            <p:nvGrpSpPr>
              <p:cNvPr id="9" name="Groupe 8">
                <a:extLst>
                  <a:ext uri="{FF2B5EF4-FFF2-40B4-BE49-F238E27FC236}">
                    <a16:creationId xmlns:a16="http://schemas.microsoft.com/office/drawing/2014/main" id="{027D43CC-F917-32CB-0545-07F2AB472CA5}"/>
                  </a:ext>
                </a:extLst>
              </p:cNvPr>
              <p:cNvGrpSpPr/>
              <p:nvPr/>
            </p:nvGrpSpPr>
            <p:grpSpPr>
              <a:xfrm>
                <a:off x="1205435" y="1836377"/>
                <a:ext cx="928257" cy="541981"/>
                <a:chOff x="1205435" y="1836377"/>
                <a:chExt cx="928257" cy="541981"/>
              </a:xfrm>
            </p:grpSpPr>
            <p:grpSp>
              <p:nvGrpSpPr>
                <p:cNvPr id="113" name="Groupe 112">
                  <a:extLst>
                    <a:ext uri="{FF2B5EF4-FFF2-40B4-BE49-F238E27FC236}">
                      <a16:creationId xmlns:a16="http://schemas.microsoft.com/office/drawing/2014/main" id="{D02DE41C-34FA-4ADF-A86C-28A9B48A45BA}"/>
                    </a:ext>
                  </a:extLst>
                </p:cNvPr>
                <p:cNvGrpSpPr/>
                <p:nvPr/>
              </p:nvGrpSpPr>
              <p:grpSpPr>
                <a:xfrm>
                  <a:off x="1205435" y="1836377"/>
                  <a:ext cx="642860" cy="541981"/>
                  <a:chOff x="8982504" y="3274976"/>
                  <a:chExt cx="1230670" cy="1037553"/>
                </a:xfrm>
                <a:solidFill>
                  <a:srgbClr val="ED7D31"/>
                </a:solidFill>
              </p:grpSpPr>
              <p:pic>
                <p:nvPicPr>
                  <p:cNvPr id="115" name="Graphique 114" descr="Utilisateur avec un remplissage uni">
                    <a:extLst>
                      <a:ext uri="{FF2B5EF4-FFF2-40B4-BE49-F238E27FC236}">
                        <a16:creationId xmlns:a16="http://schemas.microsoft.com/office/drawing/2014/main" id="{7DD52728-B979-4735-9302-8FAADA586C1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16" name="Graphique 115" descr="Utilisateur avec un remplissage uni">
                    <a:extLst>
                      <a:ext uri="{FF2B5EF4-FFF2-40B4-BE49-F238E27FC236}">
                        <a16:creationId xmlns:a16="http://schemas.microsoft.com/office/drawing/2014/main" id="{70C34291-3CD9-7411-25AF-30D24DF131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17" name="Graphique 116" descr="Utilisateur avec un remplissage uni">
                    <a:extLst>
                      <a:ext uri="{FF2B5EF4-FFF2-40B4-BE49-F238E27FC236}">
                        <a16:creationId xmlns:a16="http://schemas.microsoft.com/office/drawing/2014/main" id="{279D435E-3813-6FC3-55E6-35504864488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2398F617-C4CF-3C88-AE58-D52C4D4D589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9B69D1AC-0F96-FD3D-51A6-1FD1846CFAC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0" name="Graphique 119" descr="Utilisateur avec un remplissage uni">
                    <a:extLst>
                      <a:ext uri="{FF2B5EF4-FFF2-40B4-BE49-F238E27FC236}">
                        <a16:creationId xmlns:a16="http://schemas.microsoft.com/office/drawing/2014/main" id="{D18EB99D-0FD7-56C8-DB98-4D4F5564897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21" name="Graphique 120" descr="Utilisateur avec un remplissage uni">
                    <a:extLst>
                      <a:ext uri="{FF2B5EF4-FFF2-40B4-BE49-F238E27FC236}">
                        <a16:creationId xmlns:a16="http://schemas.microsoft.com/office/drawing/2014/main" id="{2825E89F-CD09-728D-FD63-D516A0C7F52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C11AD3B4-5DA2-81EA-7013-DE0DE87023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5F8AC828-A739-3B4E-914F-2C7740CE9CC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053335BE-539E-57B4-7312-A35C5D47ACF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25" name="Graphique 124" descr="Utilisateur avec un remplissage uni">
                    <a:extLst>
                      <a:ext uri="{FF2B5EF4-FFF2-40B4-BE49-F238E27FC236}">
                        <a16:creationId xmlns:a16="http://schemas.microsoft.com/office/drawing/2014/main" id="{2BE71045-A682-A6C1-5DB3-87C63D75742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14" name="Graphique 113" descr="Boîte à archives avec un remplissage uni">
                  <a:extLst>
                    <a:ext uri="{FF2B5EF4-FFF2-40B4-BE49-F238E27FC236}">
                      <a16:creationId xmlns:a16="http://schemas.microsoft.com/office/drawing/2014/main" id="{862ADCD5-6BF2-F044-86AF-17B38C46673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794551" y="1935651"/>
                  <a:ext cx="339141" cy="339141"/>
                </a:xfrm>
                <a:prstGeom prst="rect">
                  <a:avLst/>
                </a:prstGeom>
              </p:spPr>
            </p:pic>
          </p:grpSp>
          <p:grpSp>
            <p:nvGrpSpPr>
              <p:cNvPr id="8" name="Groupe 7">
                <a:extLst>
                  <a:ext uri="{FF2B5EF4-FFF2-40B4-BE49-F238E27FC236}">
                    <a16:creationId xmlns:a16="http://schemas.microsoft.com/office/drawing/2014/main" id="{706A4D6E-C64C-2F2D-E557-491C06D09FE7}"/>
                  </a:ext>
                </a:extLst>
              </p:cNvPr>
              <p:cNvGrpSpPr/>
              <p:nvPr/>
            </p:nvGrpSpPr>
            <p:grpSpPr>
              <a:xfrm>
                <a:off x="1033252" y="2595975"/>
                <a:ext cx="1104068" cy="541981"/>
                <a:chOff x="1033252" y="2595975"/>
                <a:chExt cx="1104068" cy="541981"/>
              </a:xfrm>
            </p:grpSpPr>
            <p:grpSp>
              <p:nvGrpSpPr>
                <p:cNvPr id="127" name="Groupe 126">
                  <a:extLst>
                    <a:ext uri="{FF2B5EF4-FFF2-40B4-BE49-F238E27FC236}">
                      <a16:creationId xmlns:a16="http://schemas.microsoft.com/office/drawing/2014/main" id="{D7FCD4ED-4143-62F3-EC43-52FF07E73851}"/>
                    </a:ext>
                  </a:extLst>
                </p:cNvPr>
                <p:cNvGrpSpPr/>
                <p:nvPr/>
              </p:nvGrpSpPr>
              <p:grpSpPr>
                <a:xfrm>
                  <a:off x="1033252" y="2595975"/>
                  <a:ext cx="1104068" cy="541981"/>
                  <a:chOff x="1797480" y="1339838"/>
                  <a:chExt cx="2588405" cy="1270634"/>
                </a:xfrm>
              </p:grpSpPr>
              <p:grpSp>
                <p:nvGrpSpPr>
                  <p:cNvPr id="129" name="Groupe 128">
                    <a:extLst>
                      <a:ext uri="{FF2B5EF4-FFF2-40B4-BE49-F238E27FC236}">
                        <a16:creationId xmlns:a16="http://schemas.microsoft.com/office/drawing/2014/main" id="{4DFE496F-FCF0-988B-C261-CFFF1DDAF8BA}"/>
                      </a:ext>
                    </a:extLst>
                  </p:cNvPr>
                  <p:cNvGrpSpPr/>
                  <p:nvPr/>
                </p:nvGrpSpPr>
                <p:grpSpPr>
                  <a:xfrm>
                    <a:off x="1797480" y="1339838"/>
                    <a:ext cx="1507135" cy="1270634"/>
                    <a:chOff x="8982504" y="3274976"/>
                    <a:chExt cx="1230670" cy="1037553"/>
                  </a:xfrm>
                  <a:solidFill>
                    <a:srgbClr val="ED7D31"/>
                  </a:solidFill>
                </p:grpSpPr>
                <p:pic>
                  <p:nvPicPr>
                    <p:cNvPr id="131" name="Graphique 130" descr="Utilisateur avec un remplissage uni">
                      <a:extLst>
                        <a:ext uri="{FF2B5EF4-FFF2-40B4-BE49-F238E27FC236}">
                          <a16:creationId xmlns:a16="http://schemas.microsoft.com/office/drawing/2014/main" id="{65593941-3099-8CE5-0DEC-F1556F0DEF8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32" name="Graphique 131" descr="Utilisateur avec un remplissage uni">
                      <a:extLst>
                        <a:ext uri="{FF2B5EF4-FFF2-40B4-BE49-F238E27FC236}">
                          <a16:creationId xmlns:a16="http://schemas.microsoft.com/office/drawing/2014/main" id="{D38B1CF9-4E3A-7B24-EDB0-7DFCB4739D8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33" name="Graphique 132" descr="Utilisateur avec un remplissage uni">
                      <a:extLst>
                        <a:ext uri="{FF2B5EF4-FFF2-40B4-BE49-F238E27FC236}">
                          <a16:creationId xmlns:a16="http://schemas.microsoft.com/office/drawing/2014/main" id="{5921E86C-6652-62A2-E6D5-2A2C573EB62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34" name="Graphique 133" descr="Utilisateur avec un remplissage uni">
                      <a:extLst>
                        <a:ext uri="{FF2B5EF4-FFF2-40B4-BE49-F238E27FC236}">
                          <a16:creationId xmlns:a16="http://schemas.microsoft.com/office/drawing/2014/main" id="{90D1938C-21C9-B52E-F22D-82102A19820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35" name="Graphique 134" descr="Utilisateur avec un remplissage uni">
                      <a:extLst>
                        <a:ext uri="{FF2B5EF4-FFF2-40B4-BE49-F238E27FC236}">
                          <a16:creationId xmlns:a16="http://schemas.microsoft.com/office/drawing/2014/main" id="{91358773-5FC5-70C7-90CA-F74FE916077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36" name="Graphique 135" descr="Utilisateur avec un remplissage uni">
                      <a:extLst>
                        <a:ext uri="{FF2B5EF4-FFF2-40B4-BE49-F238E27FC236}">
                          <a16:creationId xmlns:a16="http://schemas.microsoft.com/office/drawing/2014/main" id="{5DBA6000-E7DD-6860-2D3D-2561412B411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7" name="Graphique 136" descr="Utilisateur avec un remplissage uni">
                      <a:extLst>
                        <a:ext uri="{FF2B5EF4-FFF2-40B4-BE49-F238E27FC236}">
                          <a16:creationId xmlns:a16="http://schemas.microsoft.com/office/drawing/2014/main" id="{5523E782-4802-D77F-6352-C00A1E0D4B1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38" name="Graphique 137" descr="Utilisateur avec un remplissage uni">
                      <a:extLst>
                        <a:ext uri="{FF2B5EF4-FFF2-40B4-BE49-F238E27FC236}">
                          <a16:creationId xmlns:a16="http://schemas.microsoft.com/office/drawing/2014/main" id="{65C29A5C-4970-86A7-4514-6DE0CA03029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39" name="Graphique 138" descr="Utilisateur avec un remplissage uni">
                      <a:extLst>
                        <a:ext uri="{FF2B5EF4-FFF2-40B4-BE49-F238E27FC236}">
                          <a16:creationId xmlns:a16="http://schemas.microsoft.com/office/drawing/2014/main" id="{823DB485-5243-BC08-0943-3EDAD810232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0A6FF9A6-7DF6-F536-17D9-58335AB7888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B80FE338-208E-FEF0-E42E-1CBCA564B43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30" name="Graphique 129" descr="Boîte à archives avec un remplissage uni">
                    <a:extLst>
                      <a:ext uri="{FF2B5EF4-FFF2-40B4-BE49-F238E27FC236}">
                        <a16:creationId xmlns:a16="http://schemas.microsoft.com/office/drawing/2014/main" id="{60EB9EB9-5223-4CB4-53D4-942FD7DF93F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590796" y="1573442"/>
                    <a:ext cx="795089" cy="795090"/>
                  </a:xfrm>
                  <a:prstGeom prst="rect">
                    <a:avLst/>
                  </a:prstGeom>
                </p:spPr>
              </p:pic>
            </p:grpSp>
            <p:pic>
              <p:nvPicPr>
                <p:cNvPr id="128" name="Graphique 127" descr="Déverrouiller avec un remplissage uni">
                  <a:extLst>
                    <a:ext uri="{FF2B5EF4-FFF2-40B4-BE49-F238E27FC236}">
                      <a16:creationId xmlns:a16="http://schemas.microsoft.com/office/drawing/2014/main" id="{D782765A-D0ED-613C-3CBB-11E8EBAA0C7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1621542" y="2602094"/>
                  <a:ext cx="363386" cy="388380"/>
                </a:xfrm>
                <a:prstGeom prst="rect">
                  <a:avLst/>
                </a:prstGeom>
              </p:spPr>
            </p:pic>
          </p:grpSp>
          <p:grpSp>
            <p:nvGrpSpPr>
              <p:cNvPr id="7" name="Groupe 6">
                <a:extLst>
                  <a:ext uri="{FF2B5EF4-FFF2-40B4-BE49-F238E27FC236}">
                    <a16:creationId xmlns:a16="http://schemas.microsoft.com/office/drawing/2014/main" id="{3646D47D-EA95-D22B-83E6-57DEA8D758D3}"/>
                  </a:ext>
                </a:extLst>
              </p:cNvPr>
              <p:cNvGrpSpPr/>
              <p:nvPr/>
            </p:nvGrpSpPr>
            <p:grpSpPr>
              <a:xfrm>
                <a:off x="1035880" y="3313420"/>
                <a:ext cx="1104068" cy="541981"/>
                <a:chOff x="1035880" y="3313420"/>
                <a:chExt cx="1104068" cy="541981"/>
              </a:xfrm>
            </p:grpSpPr>
            <p:grpSp>
              <p:nvGrpSpPr>
                <p:cNvPr id="143" name="Groupe 142">
                  <a:extLst>
                    <a:ext uri="{FF2B5EF4-FFF2-40B4-BE49-F238E27FC236}">
                      <a16:creationId xmlns:a16="http://schemas.microsoft.com/office/drawing/2014/main" id="{1C144AA4-47EF-EAB2-0C34-5E0733CBFA25}"/>
                    </a:ext>
                  </a:extLst>
                </p:cNvPr>
                <p:cNvGrpSpPr/>
                <p:nvPr/>
              </p:nvGrpSpPr>
              <p:grpSpPr>
                <a:xfrm>
                  <a:off x="1035880" y="3313420"/>
                  <a:ext cx="1104068" cy="541981"/>
                  <a:chOff x="1797480" y="1339838"/>
                  <a:chExt cx="2588405" cy="1270634"/>
                </a:xfrm>
              </p:grpSpPr>
              <p:grpSp>
                <p:nvGrpSpPr>
                  <p:cNvPr id="145" name="Groupe 144">
                    <a:extLst>
                      <a:ext uri="{FF2B5EF4-FFF2-40B4-BE49-F238E27FC236}">
                        <a16:creationId xmlns:a16="http://schemas.microsoft.com/office/drawing/2014/main" id="{763AD210-AE17-667E-924D-FA200103688A}"/>
                      </a:ext>
                    </a:extLst>
                  </p:cNvPr>
                  <p:cNvGrpSpPr/>
                  <p:nvPr/>
                </p:nvGrpSpPr>
                <p:grpSpPr>
                  <a:xfrm>
                    <a:off x="1797480" y="1339838"/>
                    <a:ext cx="1507135" cy="1270634"/>
                    <a:chOff x="8982504" y="3274976"/>
                    <a:chExt cx="1230670" cy="1037553"/>
                  </a:xfrm>
                  <a:solidFill>
                    <a:srgbClr val="ED7D31"/>
                  </a:solidFill>
                </p:grpSpPr>
                <p:pic>
                  <p:nvPicPr>
                    <p:cNvPr id="147" name="Graphique 146" descr="Utilisateur avec un remplissage uni">
                      <a:extLst>
                        <a:ext uri="{FF2B5EF4-FFF2-40B4-BE49-F238E27FC236}">
                          <a16:creationId xmlns:a16="http://schemas.microsoft.com/office/drawing/2014/main" id="{76A43EBB-552D-D215-DB8D-5B5075C5D72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2382845E-EE64-B55C-0E51-17BF86C19F1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B1C44714-6F1A-24C0-977E-F5BF5F7BD3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50" name="Graphique 149" descr="Utilisateur avec un remplissage uni">
                      <a:extLst>
                        <a:ext uri="{FF2B5EF4-FFF2-40B4-BE49-F238E27FC236}">
                          <a16:creationId xmlns:a16="http://schemas.microsoft.com/office/drawing/2014/main" id="{2D001668-57FC-54A1-2D5B-7A8CE70DABF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51" name="Graphique 150" descr="Utilisateur avec un remplissage uni">
                      <a:extLst>
                        <a:ext uri="{FF2B5EF4-FFF2-40B4-BE49-F238E27FC236}">
                          <a16:creationId xmlns:a16="http://schemas.microsoft.com/office/drawing/2014/main" id="{ADDEDA45-95E8-78E7-7865-4D8970A7A81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52" name="Graphique 151" descr="Utilisateur avec un remplissage uni">
                      <a:extLst>
                        <a:ext uri="{FF2B5EF4-FFF2-40B4-BE49-F238E27FC236}">
                          <a16:creationId xmlns:a16="http://schemas.microsoft.com/office/drawing/2014/main" id="{2309201C-A827-EEA7-F145-1ACD494F367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53" name="Graphique 152" descr="Utilisateur avec un remplissage uni">
                      <a:extLst>
                        <a:ext uri="{FF2B5EF4-FFF2-40B4-BE49-F238E27FC236}">
                          <a16:creationId xmlns:a16="http://schemas.microsoft.com/office/drawing/2014/main" id="{EDF70FEF-CBCD-CC31-AAD9-45BE9866167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54" name="Graphique 153" descr="Utilisateur avec un remplissage uni">
                      <a:extLst>
                        <a:ext uri="{FF2B5EF4-FFF2-40B4-BE49-F238E27FC236}">
                          <a16:creationId xmlns:a16="http://schemas.microsoft.com/office/drawing/2014/main" id="{0E6F1FC4-1E45-17AC-CD58-F79BB71FA8A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5" name="Graphique 154" descr="Utilisateur avec un remplissage uni">
                      <a:extLst>
                        <a:ext uri="{FF2B5EF4-FFF2-40B4-BE49-F238E27FC236}">
                          <a16:creationId xmlns:a16="http://schemas.microsoft.com/office/drawing/2014/main" id="{B2131C9B-E4FB-D332-749E-76BF04BD1AF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56" name="Graphique 155" descr="Utilisateur avec un remplissage uni">
                      <a:extLst>
                        <a:ext uri="{FF2B5EF4-FFF2-40B4-BE49-F238E27FC236}">
                          <a16:creationId xmlns:a16="http://schemas.microsoft.com/office/drawing/2014/main" id="{A8DF361A-21FA-7FDC-E3CD-831A740556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57" name="Graphique 156" descr="Utilisateur avec un remplissage uni">
                      <a:extLst>
                        <a:ext uri="{FF2B5EF4-FFF2-40B4-BE49-F238E27FC236}">
                          <a16:creationId xmlns:a16="http://schemas.microsoft.com/office/drawing/2014/main" id="{A5BEA45A-42C1-FFBF-94ED-D0D545A4707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46" name="Graphique 145" descr="Boîte à archives avec un remplissage uni">
                    <a:extLst>
                      <a:ext uri="{FF2B5EF4-FFF2-40B4-BE49-F238E27FC236}">
                        <a16:creationId xmlns:a16="http://schemas.microsoft.com/office/drawing/2014/main" id="{F405E83A-DBE4-90C1-DFD0-1E4D01110F0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590796" y="1573442"/>
                    <a:ext cx="795089" cy="795090"/>
                  </a:xfrm>
                  <a:prstGeom prst="rect">
                    <a:avLst/>
                  </a:prstGeom>
                </p:spPr>
              </p:pic>
            </p:grpSp>
            <p:pic>
              <p:nvPicPr>
                <p:cNvPr id="144" name="Graphique 143" descr="Verrou avec un remplissage uni">
                  <a:extLst>
                    <a:ext uri="{FF2B5EF4-FFF2-40B4-BE49-F238E27FC236}">
                      <a16:creationId xmlns:a16="http://schemas.microsoft.com/office/drawing/2014/main" id="{8D408278-267D-C752-C581-E206DACDC5E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617448" y="3342277"/>
                  <a:ext cx="391889" cy="391890"/>
                </a:xfrm>
                <a:prstGeom prst="rect">
                  <a:avLst/>
                </a:prstGeom>
              </p:spPr>
            </p:pic>
          </p:grpSp>
          <p:grpSp>
            <p:nvGrpSpPr>
              <p:cNvPr id="6" name="Groupe 5">
                <a:extLst>
                  <a:ext uri="{FF2B5EF4-FFF2-40B4-BE49-F238E27FC236}">
                    <a16:creationId xmlns:a16="http://schemas.microsoft.com/office/drawing/2014/main" id="{C30457D5-1948-4AF7-D3A4-FB73CAEA662D}"/>
                  </a:ext>
                </a:extLst>
              </p:cNvPr>
              <p:cNvGrpSpPr/>
              <p:nvPr/>
            </p:nvGrpSpPr>
            <p:grpSpPr>
              <a:xfrm>
                <a:off x="1020666" y="3908140"/>
                <a:ext cx="1104068" cy="646669"/>
                <a:chOff x="1020666" y="3908140"/>
                <a:chExt cx="1104068" cy="646669"/>
              </a:xfrm>
            </p:grpSpPr>
            <p:grpSp>
              <p:nvGrpSpPr>
                <p:cNvPr id="159" name="Groupe 158">
                  <a:extLst>
                    <a:ext uri="{FF2B5EF4-FFF2-40B4-BE49-F238E27FC236}">
                      <a16:creationId xmlns:a16="http://schemas.microsoft.com/office/drawing/2014/main" id="{51A2E2FC-3457-CE7C-2854-0BF42938E11B}"/>
                    </a:ext>
                  </a:extLst>
                </p:cNvPr>
                <p:cNvGrpSpPr/>
                <p:nvPr/>
              </p:nvGrpSpPr>
              <p:grpSpPr>
                <a:xfrm>
                  <a:off x="1020666" y="4012828"/>
                  <a:ext cx="1104068" cy="541981"/>
                  <a:chOff x="1797480" y="1339838"/>
                  <a:chExt cx="2588405" cy="1270634"/>
                </a:xfrm>
              </p:grpSpPr>
              <p:grpSp>
                <p:nvGrpSpPr>
                  <p:cNvPr id="161" name="Groupe 160">
                    <a:extLst>
                      <a:ext uri="{FF2B5EF4-FFF2-40B4-BE49-F238E27FC236}">
                        <a16:creationId xmlns:a16="http://schemas.microsoft.com/office/drawing/2014/main" id="{183A8716-1F8D-5C40-816D-233AE8D3342C}"/>
                      </a:ext>
                    </a:extLst>
                  </p:cNvPr>
                  <p:cNvGrpSpPr/>
                  <p:nvPr/>
                </p:nvGrpSpPr>
                <p:grpSpPr>
                  <a:xfrm>
                    <a:off x="1797480" y="1339838"/>
                    <a:ext cx="1507135" cy="1270634"/>
                    <a:chOff x="8982504" y="3274976"/>
                    <a:chExt cx="1230670" cy="1037553"/>
                  </a:xfrm>
                  <a:solidFill>
                    <a:srgbClr val="ED7D31"/>
                  </a:solidFill>
                </p:grpSpPr>
                <p:pic>
                  <p:nvPicPr>
                    <p:cNvPr id="163" name="Graphique 162" descr="Utilisateur avec un remplissage uni">
                      <a:extLst>
                        <a:ext uri="{FF2B5EF4-FFF2-40B4-BE49-F238E27FC236}">
                          <a16:creationId xmlns:a16="http://schemas.microsoft.com/office/drawing/2014/main" id="{A6B9F7F4-E58F-22CF-41E0-BCB6042EF0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64" name="Graphique 163" descr="Utilisateur avec un remplissage uni">
                      <a:extLst>
                        <a:ext uri="{FF2B5EF4-FFF2-40B4-BE49-F238E27FC236}">
                          <a16:creationId xmlns:a16="http://schemas.microsoft.com/office/drawing/2014/main" id="{103EFAA9-DED0-2DF8-4BC5-F05FA0A911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65" name="Graphique 164" descr="Utilisateur avec un remplissage uni">
                      <a:extLst>
                        <a:ext uri="{FF2B5EF4-FFF2-40B4-BE49-F238E27FC236}">
                          <a16:creationId xmlns:a16="http://schemas.microsoft.com/office/drawing/2014/main" id="{F39E1A3C-9BEF-2AFC-5076-4AF594E6C38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66" name="Graphique 165" descr="Utilisateur avec un remplissage uni">
                      <a:extLst>
                        <a:ext uri="{FF2B5EF4-FFF2-40B4-BE49-F238E27FC236}">
                          <a16:creationId xmlns:a16="http://schemas.microsoft.com/office/drawing/2014/main" id="{84343633-49E6-7B9F-ABE8-D19DB29BF74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67" name="Graphique 166" descr="Utilisateur avec un remplissage uni">
                      <a:extLst>
                        <a:ext uri="{FF2B5EF4-FFF2-40B4-BE49-F238E27FC236}">
                          <a16:creationId xmlns:a16="http://schemas.microsoft.com/office/drawing/2014/main" id="{B050891C-8045-4450-30B2-17D8707BEDC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68" name="Graphique 167" descr="Utilisateur avec un remplissage uni">
                      <a:extLst>
                        <a:ext uri="{FF2B5EF4-FFF2-40B4-BE49-F238E27FC236}">
                          <a16:creationId xmlns:a16="http://schemas.microsoft.com/office/drawing/2014/main" id="{287E5492-B945-B226-9D94-B986737C656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69" name="Graphique 168" descr="Utilisateur avec un remplissage uni">
                      <a:extLst>
                        <a:ext uri="{FF2B5EF4-FFF2-40B4-BE49-F238E27FC236}">
                          <a16:creationId xmlns:a16="http://schemas.microsoft.com/office/drawing/2014/main" id="{6D6333E7-1240-CCED-EE9B-2DA85C38F0C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70" name="Graphique 169" descr="Utilisateur avec un remplissage uni">
                      <a:extLst>
                        <a:ext uri="{FF2B5EF4-FFF2-40B4-BE49-F238E27FC236}">
                          <a16:creationId xmlns:a16="http://schemas.microsoft.com/office/drawing/2014/main" id="{D37F7303-B51D-C55A-9C45-ACBF7FF974F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71" name="Graphique 170" descr="Utilisateur avec un remplissage uni">
                      <a:extLst>
                        <a:ext uri="{FF2B5EF4-FFF2-40B4-BE49-F238E27FC236}">
                          <a16:creationId xmlns:a16="http://schemas.microsoft.com/office/drawing/2014/main" id="{6C9E8642-D991-2AE2-3CAE-BA471A39BA6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72" name="Graphique 171" descr="Utilisateur avec un remplissage uni">
                      <a:extLst>
                        <a:ext uri="{FF2B5EF4-FFF2-40B4-BE49-F238E27FC236}">
                          <a16:creationId xmlns:a16="http://schemas.microsoft.com/office/drawing/2014/main" id="{CF8B3F70-949E-789D-03D6-C84BFD6EBB9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3" name="Graphique 172" descr="Utilisateur avec un remplissage uni">
                      <a:extLst>
                        <a:ext uri="{FF2B5EF4-FFF2-40B4-BE49-F238E27FC236}">
                          <a16:creationId xmlns:a16="http://schemas.microsoft.com/office/drawing/2014/main" id="{D8056C49-8486-7068-D54E-311C3D97B0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62" name="Graphique 161" descr="Boîte à archives avec un remplissage uni">
                    <a:extLst>
                      <a:ext uri="{FF2B5EF4-FFF2-40B4-BE49-F238E27FC236}">
                        <a16:creationId xmlns:a16="http://schemas.microsoft.com/office/drawing/2014/main" id="{92DB3A34-957B-01C3-3CAA-6DD6045CAA4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590796" y="1573442"/>
                    <a:ext cx="795089" cy="795090"/>
                  </a:xfrm>
                  <a:prstGeom prst="rect">
                    <a:avLst/>
                  </a:prstGeom>
                </p:spPr>
              </p:pic>
            </p:grpSp>
            <p:pic>
              <p:nvPicPr>
                <p:cNvPr id="160" name="Graphique 159" descr="Verrou avec un remplissage uni">
                  <a:extLst>
                    <a:ext uri="{FF2B5EF4-FFF2-40B4-BE49-F238E27FC236}">
                      <a16:creationId xmlns:a16="http://schemas.microsoft.com/office/drawing/2014/main" id="{CFE2D4FF-C8FB-8EF2-887C-0ABBEE0A2E6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449383" y="3908140"/>
                  <a:ext cx="624475" cy="624475"/>
                </a:xfrm>
                <a:prstGeom prst="rect">
                  <a:avLst/>
                </a:prstGeom>
              </p:spPr>
            </p:pic>
          </p:grpSp>
          <p:grpSp>
            <p:nvGrpSpPr>
              <p:cNvPr id="5" name="Groupe 4">
                <a:extLst>
                  <a:ext uri="{FF2B5EF4-FFF2-40B4-BE49-F238E27FC236}">
                    <a16:creationId xmlns:a16="http://schemas.microsoft.com/office/drawing/2014/main" id="{F5E58095-5514-AA53-A9AD-5E8A1FAD80F9}"/>
                  </a:ext>
                </a:extLst>
              </p:cNvPr>
              <p:cNvGrpSpPr/>
              <p:nvPr/>
            </p:nvGrpSpPr>
            <p:grpSpPr>
              <a:xfrm>
                <a:off x="1007610" y="6145797"/>
                <a:ext cx="1123328" cy="541981"/>
                <a:chOff x="1007610" y="6145797"/>
                <a:chExt cx="1123328" cy="541981"/>
              </a:xfrm>
            </p:grpSpPr>
            <p:grpSp>
              <p:nvGrpSpPr>
                <p:cNvPr id="175" name="Groupe 174">
                  <a:extLst>
                    <a:ext uri="{FF2B5EF4-FFF2-40B4-BE49-F238E27FC236}">
                      <a16:creationId xmlns:a16="http://schemas.microsoft.com/office/drawing/2014/main" id="{E2CCD889-6624-E8F1-01DB-FB866D91E4FC}"/>
                    </a:ext>
                  </a:extLst>
                </p:cNvPr>
                <p:cNvGrpSpPr/>
                <p:nvPr/>
              </p:nvGrpSpPr>
              <p:grpSpPr>
                <a:xfrm>
                  <a:off x="1007610" y="6145797"/>
                  <a:ext cx="1104068" cy="541981"/>
                  <a:chOff x="1797480" y="1339838"/>
                  <a:chExt cx="2588405" cy="1270634"/>
                </a:xfrm>
              </p:grpSpPr>
              <p:grpSp>
                <p:nvGrpSpPr>
                  <p:cNvPr id="177" name="Groupe 176">
                    <a:extLst>
                      <a:ext uri="{FF2B5EF4-FFF2-40B4-BE49-F238E27FC236}">
                        <a16:creationId xmlns:a16="http://schemas.microsoft.com/office/drawing/2014/main" id="{04982C7C-EEBE-2A25-AAFC-4ED49CA05702}"/>
                      </a:ext>
                    </a:extLst>
                  </p:cNvPr>
                  <p:cNvGrpSpPr/>
                  <p:nvPr/>
                </p:nvGrpSpPr>
                <p:grpSpPr>
                  <a:xfrm>
                    <a:off x="1797480" y="1339838"/>
                    <a:ext cx="1507135" cy="1270634"/>
                    <a:chOff x="8982504" y="3274976"/>
                    <a:chExt cx="1230670" cy="1037553"/>
                  </a:xfrm>
                  <a:solidFill>
                    <a:srgbClr val="ED7D31"/>
                  </a:solidFill>
                </p:grpSpPr>
                <p:pic>
                  <p:nvPicPr>
                    <p:cNvPr id="179" name="Graphique 178" descr="Utilisateur avec un remplissage uni">
                      <a:extLst>
                        <a:ext uri="{FF2B5EF4-FFF2-40B4-BE49-F238E27FC236}">
                          <a16:creationId xmlns:a16="http://schemas.microsoft.com/office/drawing/2014/main" id="{7A439E10-862B-0926-D99B-129A7A819FA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80" name="Graphique 179" descr="Utilisateur avec un remplissage uni">
                      <a:extLst>
                        <a:ext uri="{FF2B5EF4-FFF2-40B4-BE49-F238E27FC236}">
                          <a16:creationId xmlns:a16="http://schemas.microsoft.com/office/drawing/2014/main" id="{B3B6C31B-8F31-1C7B-8A6F-D74DE673E11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81" name="Graphique 180" descr="Utilisateur avec un remplissage uni">
                      <a:extLst>
                        <a:ext uri="{FF2B5EF4-FFF2-40B4-BE49-F238E27FC236}">
                          <a16:creationId xmlns:a16="http://schemas.microsoft.com/office/drawing/2014/main" id="{6D328606-24DE-5A14-BB98-C0654CBB85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82" name="Graphique 181" descr="Utilisateur avec un remplissage uni">
                      <a:extLst>
                        <a:ext uri="{FF2B5EF4-FFF2-40B4-BE49-F238E27FC236}">
                          <a16:creationId xmlns:a16="http://schemas.microsoft.com/office/drawing/2014/main" id="{19D019E2-A755-3D57-5D52-3E2A3BBCD38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83" name="Graphique 182" descr="Utilisateur avec un remplissage uni">
                      <a:extLst>
                        <a:ext uri="{FF2B5EF4-FFF2-40B4-BE49-F238E27FC236}">
                          <a16:creationId xmlns:a16="http://schemas.microsoft.com/office/drawing/2014/main" id="{65BD2B74-2AA3-56F8-35A8-5F9FF010B07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84" name="Graphique 183" descr="Utilisateur avec un remplissage uni">
                      <a:extLst>
                        <a:ext uri="{FF2B5EF4-FFF2-40B4-BE49-F238E27FC236}">
                          <a16:creationId xmlns:a16="http://schemas.microsoft.com/office/drawing/2014/main" id="{1EA59C5A-50FE-CA9E-CBB0-52BFCBF88A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85" name="Graphique 184" descr="Utilisateur avec un remplissage uni">
                      <a:extLst>
                        <a:ext uri="{FF2B5EF4-FFF2-40B4-BE49-F238E27FC236}">
                          <a16:creationId xmlns:a16="http://schemas.microsoft.com/office/drawing/2014/main" id="{2F6409A6-16A2-4FD8-00DE-5390368CC2D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86" name="Graphique 185" descr="Utilisateur avec un remplissage uni">
                      <a:extLst>
                        <a:ext uri="{FF2B5EF4-FFF2-40B4-BE49-F238E27FC236}">
                          <a16:creationId xmlns:a16="http://schemas.microsoft.com/office/drawing/2014/main" id="{BEBCE3C3-0784-10EE-5495-2404AD5F5DE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87" name="Graphique 186" descr="Utilisateur avec un remplissage uni">
                      <a:extLst>
                        <a:ext uri="{FF2B5EF4-FFF2-40B4-BE49-F238E27FC236}">
                          <a16:creationId xmlns:a16="http://schemas.microsoft.com/office/drawing/2014/main" id="{8219943F-F59B-9F27-6937-CDF79968DD3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88" name="Graphique 187" descr="Utilisateur avec un remplissage uni">
                      <a:extLst>
                        <a:ext uri="{FF2B5EF4-FFF2-40B4-BE49-F238E27FC236}">
                          <a16:creationId xmlns:a16="http://schemas.microsoft.com/office/drawing/2014/main" id="{8034E019-FC31-3F60-9ED5-A33BC012B0A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89" name="Graphique 188" descr="Utilisateur avec un remplissage uni">
                      <a:extLst>
                        <a:ext uri="{FF2B5EF4-FFF2-40B4-BE49-F238E27FC236}">
                          <a16:creationId xmlns:a16="http://schemas.microsoft.com/office/drawing/2014/main" id="{4B4E9721-81F3-FAB5-5A8B-19A370B4076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78" name="Graphique 177" descr="Boîte à archives avec un remplissage uni">
                    <a:extLst>
                      <a:ext uri="{FF2B5EF4-FFF2-40B4-BE49-F238E27FC236}">
                        <a16:creationId xmlns:a16="http://schemas.microsoft.com/office/drawing/2014/main" id="{46FF9A12-3CE1-36B8-907E-CB95AD6129F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590796" y="1573442"/>
                    <a:ext cx="795089" cy="795090"/>
                  </a:xfrm>
                  <a:prstGeom prst="rect">
                    <a:avLst/>
                  </a:prstGeom>
                </p:spPr>
              </p:pic>
            </p:grpSp>
            <p:pic>
              <p:nvPicPr>
                <p:cNvPr id="176" name="Graphique 175" descr="Fermer avec un remplissage uni">
                  <a:extLst>
                    <a:ext uri="{FF2B5EF4-FFF2-40B4-BE49-F238E27FC236}">
                      <a16:creationId xmlns:a16="http://schemas.microsoft.com/office/drawing/2014/main" id="{3CB870FA-38CE-E1BF-BB0E-C055676D681B}"/>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733434" y="6210786"/>
                  <a:ext cx="397504" cy="397504"/>
                </a:xfrm>
                <a:prstGeom prst="rect">
                  <a:avLst/>
                </a:prstGeom>
              </p:spPr>
            </p:pic>
          </p:grpSp>
          <p:grpSp>
            <p:nvGrpSpPr>
              <p:cNvPr id="4" name="Groupe 3">
                <a:extLst>
                  <a:ext uri="{FF2B5EF4-FFF2-40B4-BE49-F238E27FC236}">
                    <a16:creationId xmlns:a16="http://schemas.microsoft.com/office/drawing/2014/main" id="{62188B65-A5BE-320F-80BC-03532A5D59E1}"/>
                  </a:ext>
                </a:extLst>
              </p:cNvPr>
              <p:cNvGrpSpPr/>
              <p:nvPr/>
            </p:nvGrpSpPr>
            <p:grpSpPr>
              <a:xfrm>
                <a:off x="1013177" y="4705472"/>
                <a:ext cx="1104068" cy="541981"/>
                <a:chOff x="1013177" y="4705472"/>
                <a:chExt cx="1104068" cy="541981"/>
              </a:xfrm>
            </p:grpSpPr>
            <p:grpSp>
              <p:nvGrpSpPr>
                <p:cNvPr id="191" name="Groupe 190">
                  <a:extLst>
                    <a:ext uri="{FF2B5EF4-FFF2-40B4-BE49-F238E27FC236}">
                      <a16:creationId xmlns:a16="http://schemas.microsoft.com/office/drawing/2014/main" id="{536F50DF-7F12-FA6A-2298-74E7496B68C0}"/>
                    </a:ext>
                  </a:extLst>
                </p:cNvPr>
                <p:cNvGrpSpPr/>
                <p:nvPr/>
              </p:nvGrpSpPr>
              <p:grpSpPr>
                <a:xfrm>
                  <a:off x="1013177" y="4705472"/>
                  <a:ext cx="1104068" cy="541981"/>
                  <a:chOff x="1797480" y="1339838"/>
                  <a:chExt cx="2588405" cy="1270634"/>
                </a:xfrm>
              </p:grpSpPr>
              <p:grpSp>
                <p:nvGrpSpPr>
                  <p:cNvPr id="193" name="Groupe 192">
                    <a:extLst>
                      <a:ext uri="{FF2B5EF4-FFF2-40B4-BE49-F238E27FC236}">
                        <a16:creationId xmlns:a16="http://schemas.microsoft.com/office/drawing/2014/main" id="{70913C03-9C56-C18E-36DB-DA2213BB9F7D}"/>
                      </a:ext>
                    </a:extLst>
                  </p:cNvPr>
                  <p:cNvGrpSpPr/>
                  <p:nvPr/>
                </p:nvGrpSpPr>
                <p:grpSpPr>
                  <a:xfrm>
                    <a:off x="1797480" y="1339838"/>
                    <a:ext cx="1507135" cy="1270634"/>
                    <a:chOff x="8982504" y="3274976"/>
                    <a:chExt cx="1230670" cy="1037553"/>
                  </a:xfrm>
                  <a:solidFill>
                    <a:srgbClr val="ED7D31"/>
                  </a:solidFill>
                </p:grpSpPr>
                <p:pic>
                  <p:nvPicPr>
                    <p:cNvPr id="195" name="Graphique 194" descr="Utilisateur avec un remplissage uni">
                      <a:extLst>
                        <a:ext uri="{FF2B5EF4-FFF2-40B4-BE49-F238E27FC236}">
                          <a16:creationId xmlns:a16="http://schemas.microsoft.com/office/drawing/2014/main" id="{1A792F5F-DECB-AE8D-B393-B1CF7256912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96" name="Graphique 195" descr="Utilisateur avec un remplissage uni">
                      <a:extLst>
                        <a:ext uri="{FF2B5EF4-FFF2-40B4-BE49-F238E27FC236}">
                          <a16:creationId xmlns:a16="http://schemas.microsoft.com/office/drawing/2014/main" id="{4E51F12E-307F-D985-9D55-0699BB2F695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97" name="Graphique 196" descr="Utilisateur avec un remplissage uni">
                      <a:extLst>
                        <a:ext uri="{FF2B5EF4-FFF2-40B4-BE49-F238E27FC236}">
                          <a16:creationId xmlns:a16="http://schemas.microsoft.com/office/drawing/2014/main" id="{33B8A215-E1DE-3323-DA8B-66906C85C88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98" name="Graphique 197" descr="Utilisateur avec un remplissage uni">
                      <a:extLst>
                        <a:ext uri="{FF2B5EF4-FFF2-40B4-BE49-F238E27FC236}">
                          <a16:creationId xmlns:a16="http://schemas.microsoft.com/office/drawing/2014/main" id="{2BF73653-DE82-7057-BBA8-983902A93EF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99" name="Graphique 198" descr="Utilisateur avec un remplissage uni">
                      <a:extLst>
                        <a:ext uri="{FF2B5EF4-FFF2-40B4-BE49-F238E27FC236}">
                          <a16:creationId xmlns:a16="http://schemas.microsoft.com/office/drawing/2014/main" id="{A3DC5F0F-09FF-BF17-851B-A4A7A7BED2D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00" name="Graphique 199" descr="Utilisateur avec un remplissage uni">
                      <a:extLst>
                        <a:ext uri="{FF2B5EF4-FFF2-40B4-BE49-F238E27FC236}">
                          <a16:creationId xmlns:a16="http://schemas.microsoft.com/office/drawing/2014/main" id="{5E6112EC-DB61-02E4-02B0-6C87ACAAC3C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01" name="Graphique 200" descr="Utilisateur avec un remplissage uni">
                      <a:extLst>
                        <a:ext uri="{FF2B5EF4-FFF2-40B4-BE49-F238E27FC236}">
                          <a16:creationId xmlns:a16="http://schemas.microsoft.com/office/drawing/2014/main" id="{F3F6226F-C40A-62CD-35FD-E452CD4CB8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02" name="Graphique 201" descr="Utilisateur avec un remplissage uni">
                      <a:extLst>
                        <a:ext uri="{FF2B5EF4-FFF2-40B4-BE49-F238E27FC236}">
                          <a16:creationId xmlns:a16="http://schemas.microsoft.com/office/drawing/2014/main" id="{B5296262-E48F-E412-D648-6AE34ED41D2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03" name="Graphique 202" descr="Utilisateur avec un remplissage uni">
                      <a:extLst>
                        <a:ext uri="{FF2B5EF4-FFF2-40B4-BE49-F238E27FC236}">
                          <a16:creationId xmlns:a16="http://schemas.microsoft.com/office/drawing/2014/main" id="{6988945F-F904-7794-36B2-899233184CB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04" name="Graphique 203" descr="Utilisateur avec un remplissage uni">
                      <a:extLst>
                        <a:ext uri="{FF2B5EF4-FFF2-40B4-BE49-F238E27FC236}">
                          <a16:creationId xmlns:a16="http://schemas.microsoft.com/office/drawing/2014/main" id="{6DED6733-3FF8-B4B5-7339-BE485715841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05" name="Graphique 204" descr="Utilisateur avec un remplissage uni">
                      <a:extLst>
                        <a:ext uri="{FF2B5EF4-FFF2-40B4-BE49-F238E27FC236}">
                          <a16:creationId xmlns:a16="http://schemas.microsoft.com/office/drawing/2014/main" id="{334682CC-BE6A-91C0-C58C-5DD66C66F13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94" name="Graphique 193" descr="Boîte à archives avec un remplissage uni">
                    <a:extLst>
                      <a:ext uri="{FF2B5EF4-FFF2-40B4-BE49-F238E27FC236}">
                        <a16:creationId xmlns:a16="http://schemas.microsoft.com/office/drawing/2014/main" id="{14A62B46-EE3B-CE31-7BF8-B90685F7B1D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590796" y="1573442"/>
                    <a:ext cx="795089" cy="795090"/>
                  </a:xfrm>
                  <a:prstGeom prst="rect">
                    <a:avLst/>
                  </a:prstGeom>
                </p:spPr>
              </p:pic>
            </p:grpSp>
            <p:pic>
              <p:nvPicPr>
                <p:cNvPr id="192" name="Graphique 191" descr="Point d’interrogation avec un remplissage uni">
                  <a:extLst>
                    <a:ext uri="{FF2B5EF4-FFF2-40B4-BE49-F238E27FC236}">
                      <a16:creationId xmlns:a16="http://schemas.microsoft.com/office/drawing/2014/main" id="{07E65EEB-783B-5FBF-AA0F-14DD8811E06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775475" y="4789017"/>
                  <a:ext cx="332767" cy="332767"/>
                </a:xfrm>
                <a:prstGeom prst="rect">
                  <a:avLst/>
                </a:prstGeom>
              </p:spPr>
            </p:pic>
          </p:grpSp>
        </p:grpSp>
        <p:grpSp>
          <p:nvGrpSpPr>
            <p:cNvPr id="3" name="Groupe 2">
              <a:extLst>
                <a:ext uri="{FF2B5EF4-FFF2-40B4-BE49-F238E27FC236}">
                  <a16:creationId xmlns:a16="http://schemas.microsoft.com/office/drawing/2014/main" id="{771C285B-4E5A-3E76-A044-935AD10DEC8B}"/>
                </a:ext>
              </a:extLst>
            </p:cNvPr>
            <p:cNvGrpSpPr/>
            <p:nvPr/>
          </p:nvGrpSpPr>
          <p:grpSpPr>
            <a:xfrm>
              <a:off x="2493066" y="5375708"/>
              <a:ext cx="9598525" cy="686885"/>
              <a:chOff x="2493066" y="5375708"/>
              <a:chExt cx="9598525" cy="686885"/>
            </a:xfrm>
          </p:grpSpPr>
          <p:grpSp>
            <p:nvGrpSpPr>
              <p:cNvPr id="240" name="Groupe 239">
                <a:extLst>
                  <a:ext uri="{FF2B5EF4-FFF2-40B4-BE49-F238E27FC236}">
                    <a16:creationId xmlns:a16="http://schemas.microsoft.com/office/drawing/2014/main" id="{367F7E51-9450-3400-B6B4-4676F5F1C539}"/>
                  </a:ext>
                </a:extLst>
              </p:cNvPr>
              <p:cNvGrpSpPr/>
              <p:nvPr/>
            </p:nvGrpSpPr>
            <p:grpSpPr>
              <a:xfrm>
                <a:off x="4489305" y="5394262"/>
                <a:ext cx="1054372" cy="656482"/>
                <a:chOff x="6804504" y="2072289"/>
                <a:chExt cx="1274604" cy="793609"/>
              </a:xfrm>
            </p:grpSpPr>
            <p:sp>
              <p:nvSpPr>
                <p:cNvPr id="273" name="ZoneTexte 272">
                  <a:extLst>
                    <a:ext uri="{FF2B5EF4-FFF2-40B4-BE49-F238E27FC236}">
                      <a16:creationId xmlns:a16="http://schemas.microsoft.com/office/drawing/2014/main" id="{2E733B68-006B-6CFC-A206-E03AB41EDC9F}"/>
                    </a:ext>
                  </a:extLst>
                </p:cNvPr>
                <p:cNvSpPr txBox="1"/>
                <p:nvPr/>
              </p:nvSpPr>
              <p:spPr>
                <a:xfrm>
                  <a:off x="6804504" y="2603018"/>
                  <a:ext cx="1274604" cy="262880"/>
                </a:xfrm>
                <a:prstGeom prst="rect">
                  <a:avLst/>
                </a:prstGeom>
                <a:noFill/>
              </p:spPr>
              <p:txBody>
                <a:bodyPr wrap="square">
                  <a:spAutoFit/>
                </a:bodyPr>
                <a:lstStyle/>
                <a:p>
                  <a:pPr algn="ctr"/>
                  <a:r>
                    <a:rPr lang="fr-FR" sz="800" dirty="0"/>
                    <a:t>Outils</a:t>
                  </a:r>
                </a:p>
              </p:txBody>
            </p:sp>
            <p:pic>
              <p:nvPicPr>
                <p:cNvPr id="274" name="Graphique 273" descr="Chat avec un remplissage uni">
                  <a:extLst>
                    <a:ext uri="{FF2B5EF4-FFF2-40B4-BE49-F238E27FC236}">
                      <a16:creationId xmlns:a16="http://schemas.microsoft.com/office/drawing/2014/main" id="{6D5E2E4C-1B49-3C08-805A-0ED3385AB980}"/>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213206" y="2072289"/>
                  <a:ext cx="457200" cy="457200"/>
                </a:xfrm>
                <a:prstGeom prst="rect">
                  <a:avLst/>
                </a:prstGeom>
              </p:spPr>
            </p:pic>
          </p:grpSp>
          <p:grpSp>
            <p:nvGrpSpPr>
              <p:cNvPr id="242" name="Groupe 241">
                <a:extLst>
                  <a:ext uri="{FF2B5EF4-FFF2-40B4-BE49-F238E27FC236}">
                    <a16:creationId xmlns:a16="http://schemas.microsoft.com/office/drawing/2014/main" id="{35690C9E-3C29-9B11-883C-89205F606181}"/>
                  </a:ext>
                </a:extLst>
              </p:cNvPr>
              <p:cNvGrpSpPr/>
              <p:nvPr/>
            </p:nvGrpSpPr>
            <p:grpSpPr>
              <a:xfrm>
                <a:off x="6505173" y="5394265"/>
                <a:ext cx="854039" cy="656482"/>
                <a:chOff x="5551821" y="2072289"/>
                <a:chExt cx="1032426" cy="793608"/>
              </a:xfrm>
            </p:grpSpPr>
            <p:sp>
              <p:nvSpPr>
                <p:cNvPr id="271" name="ZoneTexte 270">
                  <a:extLst>
                    <a:ext uri="{FF2B5EF4-FFF2-40B4-BE49-F238E27FC236}">
                      <a16:creationId xmlns:a16="http://schemas.microsoft.com/office/drawing/2014/main" id="{1DD9D306-B948-E164-7819-5FCA5093B711}"/>
                    </a:ext>
                  </a:extLst>
                </p:cNvPr>
                <p:cNvSpPr txBox="1"/>
                <p:nvPr/>
              </p:nvSpPr>
              <p:spPr>
                <a:xfrm>
                  <a:off x="5551821" y="2603017"/>
                  <a:ext cx="1032426" cy="262880"/>
                </a:xfrm>
                <a:prstGeom prst="rect">
                  <a:avLst/>
                </a:prstGeom>
                <a:noFill/>
              </p:spPr>
              <p:txBody>
                <a:bodyPr wrap="square">
                  <a:spAutoFit/>
                </a:bodyPr>
                <a:lstStyle/>
                <a:p>
                  <a:pPr algn="ctr"/>
                  <a:r>
                    <a:rPr lang="fr-FR" sz="800" dirty="0"/>
                    <a:t>Disponibilité</a:t>
                  </a:r>
                </a:p>
              </p:txBody>
            </p:sp>
            <p:pic>
              <p:nvPicPr>
                <p:cNvPr id="272" name="Graphique 271" descr="Sablier 60% avec un remplissage uni">
                  <a:extLst>
                    <a:ext uri="{FF2B5EF4-FFF2-40B4-BE49-F238E27FC236}">
                      <a16:creationId xmlns:a16="http://schemas.microsoft.com/office/drawing/2014/main" id="{B34F6221-9CCF-A33C-9480-C3AD0D135AB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847251" y="2072289"/>
                  <a:ext cx="457200" cy="457200"/>
                </a:xfrm>
                <a:prstGeom prst="rect">
                  <a:avLst/>
                </a:prstGeom>
              </p:spPr>
            </p:pic>
          </p:grpSp>
          <p:grpSp>
            <p:nvGrpSpPr>
              <p:cNvPr id="244" name="Groupe 243">
                <a:extLst>
                  <a:ext uri="{FF2B5EF4-FFF2-40B4-BE49-F238E27FC236}">
                    <a16:creationId xmlns:a16="http://schemas.microsoft.com/office/drawing/2014/main" id="{848A497A-2205-3099-B925-C4E4F70F92CC}"/>
                  </a:ext>
                </a:extLst>
              </p:cNvPr>
              <p:cNvGrpSpPr/>
              <p:nvPr/>
            </p:nvGrpSpPr>
            <p:grpSpPr>
              <a:xfrm>
                <a:off x="9412692" y="5387904"/>
                <a:ext cx="854039" cy="656483"/>
                <a:chOff x="4204166" y="2072289"/>
                <a:chExt cx="1032426" cy="793610"/>
              </a:xfrm>
            </p:grpSpPr>
            <p:sp>
              <p:nvSpPr>
                <p:cNvPr id="269" name="ZoneTexte 268">
                  <a:extLst>
                    <a:ext uri="{FF2B5EF4-FFF2-40B4-BE49-F238E27FC236}">
                      <a16:creationId xmlns:a16="http://schemas.microsoft.com/office/drawing/2014/main" id="{9890C381-1EC5-742E-DA51-815A71F9D03D}"/>
                    </a:ext>
                  </a:extLst>
                </p:cNvPr>
                <p:cNvSpPr txBox="1"/>
                <p:nvPr/>
              </p:nvSpPr>
              <p:spPr>
                <a:xfrm>
                  <a:off x="4204166" y="2603018"/>
                  <a:ext cx="1032426" cy="262881"/>
                </a:xfrm>
                <a:prstGeom prst="rect">
                  <a:avLst/>
                </a:prstGeom>
                <a:noFill/>
              </p:spPr>
              <p:txBody>
                <a:bodyPr wrap="square">
                  <a:spAutoFit/>
                </a:bodyPr>
                <a:lstStyle/>
                <a:p>
                  <a:pPr algn="ctr"/>
                  <a:r>
                    <a:rPr lang="fr-FR" sz="800" dirty="0"/>
                    <a:t>Motivations</a:t>
                  </a:r>
                </a:p>
              </p:txBody>
            </p:sp>
            <p:pic>
              <p:nvPicPr>
                <p:cNvPr id="270" name="Graphique 269" descr="Flèches de chevron avec un remplissage uni">
                  <a:extLst>
                    <a:ext uri="{FF2B5EF4-FFF2-40B4-BE49-F238E27FC236}">
                      <a16:creationId xmlns:a16="http://schemas.microsoft.com/office/drawing/2014/main" id="{7093539A-7CDB-512A-CAB8-D5D20049C376}"/>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491779" y="2072289"/>
                  <a:ext cx="457200" cy="457200"/>
                </a:xfrm>
                <a:prstGeom prst="rect">
                  <a:avLst/>
                </a:prstGeom>
              </p:spPr>
            </p:pic>
          </p:grpSp>
          <p:grpSp>
            <p:nvGrpSpPr>
              <p:cNvPr id="246" name="Groupe 245">
                <a:extLst>
                  <a:ext uri="{FF2B5EF4-FFF2-40B4-BE49-F238E27FC236}">
                    <a16:creationId xmlns:a16="http://schemas.microsoft.com/office/drawing/2014/main" id="{2D1F3E7B-767F-56D8-1FDC-D1D5965A701B}"/>
                  </a:ext>
                </a:extLst>
              </p:cNvPr>
              <p:cNvGrpSpPr/>
              <p:nvPr/>
            </p:nvGrpSpPr>
            <p:grpSpPr>
              <a:xfrm>
                <a:off x="7469956" y="5387906"/>
                <a:ext cx="854039" cy="656482"/>
                <a:chOff x="2428298" y="2091339"/>
                <a:chExt cx="1032426" cy="793608"/>
              </a:xfrm>
            </p:grpSpPr>
            <p:sp>
              <p:nvSpPr>
                <p:cNvPr id="267" name="ZoneTexte 266">
                  <a:extLst>
                    <a:ext uri="{FF2B5EF4-FFF2-40B4-BE49-F238E27FC236}">
                      <a16:creationId xmlns:a16="http://schemas.microsoft.com/office/drawing/2014/main" id="{FE2D0AD7-E841-9C0F-72CA-1E859B1AA5DF}"/>
                    </a:ext>
                  </a:extLst>
                </p:cNvPr>
                <p:cNvSpPr txBox="1"/>
                <p:nvPr/>
              </p:nvSpPr>
              <p:spPr>
                <a:xfrm>
                  <a:off x="2428298" y="2622067"/>
                  <a:ext cx="1032426" cy="262880"/>
                </a:xfrm>
                <a:prstGeom prst="rect">
                  <a:avLst/>
                </a:prstGeom>
                <a:noFill/>
              </p:spPr>
              <p:txBody>
                <a:bodyPr wrap="square">
                  <a:spAutoFit/>
                </a:bodyPr>
                <a:lstStyle/>
                <a:p>
                  <a:pPr algn="ctr"/>
                  <a:r>
                    <a:rPr lang="fr-FR" sz="800" dirty="0"/>
                    <a:t>Compétences</a:t>
                  </a:r>
                </a:p>
              </p:txBody>
            </p:sp>
            <p:pic>
              <p:nvPicPr>
                <p:cNvPr id="268" name="Graphique 267" descr="Tête avec engrenages avec un remplissage uni">
                  <a:extLst>
                    <a:ext uri="{FF2B5EF4-FFF2-40B4-BE49-F238E27FC236}">
                      <a16:creationId xmlns:a16="http://schemas.microsoft.com/office/drawing/2014/main" id="{F359F596-7AE2-0C20-E23B-7217161B4C67}"/>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2732130" y="2091339"/>
                  <a:ext cx="457200" cy="457200"/>
                </a:xfrm>
                <a:prstGeom prst="rect">
                  <a:avLst/>
                </a:prstGeom>
              </p:spPr>
            </p:pic>
          </p:grpSp>
          <p:grpSp>
            <p:nvGrpSpPr>
              <p:cNvPr id="248" name="Groupe 247">
                <a:extLst>
                  <a:ext uri="{FF2B5EF4-FFF2-40B4-BE49-F238E27FC236}">
                    <a16:creationId xmlns:a16="http://schemas.microsoft.com/office/drawing/2014/main" id="{9C646510-C606-5368-E69E-7FE9BFBCD3E6}"/>
                  </a:ext>
                </a:extLst>
              </p:cNvPr>
              <p:cNvGrpSpPr/>
              <p:nvPr/>
            </p:nvGrpSpPr>
            <p:grpSpPr>
              <a:xfrm>
                <a:off x="3695511" y="5395977"/>
                <a:ext cx="624097" cy="656482"/>
                <a:chOff x="236639" y="2072289"/>
                <a:chExt cx="754455" cy="793608"/>
              </a:xfrm>
            </p:grpSpPr>
            <p:sp>
              <p:nvSpPr>
                <p:cNvPr id="265" name="ZoneTexte 264">
                  <a:extLst>
                    <a:ext uri="{FF2B5EF4-FFF2-40B4-BE49-F238E27FC236}">
                      <a16:creationId xmlns:a16="http://schemas.microsoft.com/office/drawing/2014/main" id="{AC416C18-5047-EFB5-9673-5413EF139540}"/>
                    </a:ext>
                  </a:extLst>
                </p:cNvPr>
                <p:cNvSpPr txBox="1"/>
                <p:nvPr/>
              </p:nvSpPr>
              <p:spPr>
                <a:xfrm>
                  <a:off x="236639" y="2603017"/>
                  <a:ext cx="754455" cy="262880"/>
                </a:xfrm>
                <a:prstGeom prst="rect">
                  <a:avLst/>
                </a:prstGeom>
                <a:noFill/>
              </p:spPr>
              <p:txBody>
                <a:bodyPr wrap="square">
                  <a:spAutoFit/>
                </a:bodyPr>
                <a:lstStyle/>
                <a:p>
                  <a:pPr algn="ctr"/>
                  <a:r>
                    <a:rPr lang="fr-FR" sz="800" dirty="0"/>
                    <a:t>Matériel</a:t>
                  </a:r>
                </a:p>
              </p:txBody>
            </p:sp>
            <p:pic>
              <p:nvPicPr>
                <p:cNvPr id="266" name="Graphique 265" descr="Diable avec un remplissage uni">
                  <a:extLst>
                    <a:ext uri="{FF2B5EF4-FFF2-40B4-BE49-F238E27FC236}">
                      <a16:creationId xmlns:a16="http://schemas.microsoft.com/office/drawing/2014/main" id="{C40EFC58-1DC2-7144-E220-4312B282A461}"/>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66612" y="2072289"/>
                  <a:ext cx="457200" cy="457200"/>
                </a:xfrm>
                <a:prstGeom prst="rect">
                  <a:avLst/>
                </a:prstGeom>
              </p:spPr>
            </p:pic>
          </p:grpSp>
          <p:grpSp>
            <p:nvGrpSpPr>
              <p:cNvPr id="250" name="Groupe 249">
                <a:extLst>
                  <a:ext uri="{FF2B5EF4-FFF2-40B4-BE49-F238E27FC236}">
                    <a16:creationId xmlns:a16="http://schemas.microsoft.com/office/drawing/2014/main" id="{43BE3778-A066-7163-36FE-87081C2D90ED}"/>
                  </a:ext>
                </a:extLst>
              </p:cNvPr>
              <p:cNvGrpSpPr/>
              <p:nvPr/>
            </p:nvGrpSpPr>
            <p:grpSpPr>
              <a:xfrm>
                <a:off x="8264315" y="5391720"/>
                <a:ext cx="1143017" cy="656482"/>
                <a:chOff x="1276816" y="2072289"/>
                <a:chExt cx="1381765" cy="793608"/>
              </a:xfrm>
            </p:grpSpPr>
            <p:sp>
              <p:nvSpPr>
                <p:cNvPr id="263" name="ZoneTexte 262">
                  <a:extLst>
                    <a:ext uri="{FF2B5EF4-FFF2-40B4-BE49-F238E27FC236}">
                      <a16:creationId xmlns:a16="http://schemas.microsoft.com/office/drawing/2014/main" id="{85B1B433-A184-BEDF-BB68-CD91EEA657F7}"/>
                    </a:ext>
                  </a:extLst>
                </p:cNvPr>
                <p:cNvSpPr txBox="1"/>
                <p:nvPr/>
              </p:nvSpPr>
              <p:spPr>
                <a:xfrm>
                  <a:off x="1276816" y="2603017"/>
                  <a:ext cx="1381765" cy="262880"/>
                </a:xfrm>
                <a:prstGeom prst="rect">
                  <a:avLst/>
                </a:prstGeom>
                <a:noFill/>
              </p:spPr>
              <p:txBody>
                <a:bodyPr wrap="square">
                  <a:spAutoFit/>
                </a:bodyPr>
                <a:lstStyle/>
                <a:p>
                  <a:pPr algn="ctr"/>
                  <a:r>
                    <a:rPr lang="fr-FR" sz="800" dirty="0"/>
                    <a:t>Informations clé</a:t>
                  </a:r>
                </a:p>
              </p:txBody>
            </p:sp>
            <p:pic>
              <p:nvPicPr>
                <p:cNvPr id="264" name="Graphique 263" descr="Informations avec un remplissage uni">
                  <a:extLst>
                    <a:ext uri="{FF2B5EF4-FFF2-40B4-BE49-F238E27FC236}">
                      <a16:creationId xmlns:a16="http://schemas.microsoft.com/office/drawing/2014/main" id="{9EA80B56-E633-1BF1-1F13-0043D9E5E201}"/>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1726018" y="2072289"/>
                  <a:ext cx="478914" cy="478914"/>
                </a:xfrm>
                <a:prstGeom prst="rect">
                  <a:avLst/>
                </a:prstGeom>
              </p:spPr>
            </p:pic>
          </p:grpSp>
          <p:grpSp>
            <p:nvGrpSpPr>
              <p:cNvPr id="251" name="Groupe 250">
                <a:extLst>
                  <a:ext uri="{FF2B5EF4-FFF2-40B4-BE49-F238E27FC236}">
                    <a16:creationId xmlns:a16="http://schemas.microsoft.com/office/drawing/2014/main" id="{57112D31-ED9C-4872-3C96-4B6DFBB57430}"/>
                  </a:ext>
                </a:extLst>
              </p:cNvPr>
              <p:cNvGrpSpPr/>
              <p:nvPr/>
            </p:nvGrpSpPr>
            <p:grpSpPr>
              <a:xfrm>
                <a:off x="2493066" y="5406111"/>
                <a:ext cx="1054372" cy="656482"/>
                <a:chOff x="8215494" y="2072289"/>
                <a:chExt cx="1274604" cy="793608"/>
              </a:xfrm>
            </p:grpSpPr>
            <p:sp>
              <p:nvSpPr>
                <p:cNvPr id="261" name="ZoneTexte 260">
                  <a:extLst>
                    <a:ext uri="{FF2B5EF4-FFF2-40B4-BE49-F238E27FC236}">
                      <a16:creationId xmlns:a16="http://schemas.microsoft.com/office/drawing/2014/main" id="{C30FB968-8D2A-990B-C088-A8F071D9A5EB}"/>
                    </a:ext>
                  </a:extLst>
                </p:cNvPr>
                <p:cNvSpPr txBox="1"/>
                <p:nvPr/>
              </p:nvSpPr>
              <p:spPr>
                <a:xfrm>
                  <a:off x="8215494" y="2603017"/>
                  <a:ext cx="1274604" cy="262880"/>
                </a:xfrm>
                <a:prstGeom prst="rect">
                  <a:avLst/>
                </a:prstGeom>
                <a:noFill/>
              </p:spPr>
              <p:txBody>
                <a:bodyPr wrap="square">
                  <a:spAutoFit/>
                </a:bodyPr>
                <a:lstStyle/>
                <a:p>
                  <a:pPr algn="ctr"/>
                  <a:r>
                    <a:rPr lang="fr-FR" sz="800" dirty="0"/>
                    <a:t>Espaces et lieux</a:t>
                  </a:r>
                </a:p>
              </p:txBody>
            </p:sp>
            <p:pic>
              <p:nvPicPr>
                <p:cNvPr id="262" name="Graphique 261" descr="Conseil d’administration avec un remplissage uni">
                  <a:extLst>
                    <a:ext uri="{FF2B5EF4-FFF2-40B4-BE49-F238E27FC236}">
                      <a16:creationId xmlns:a16="http://schemas.microsoft.com/office/drawing/2014/main" id="{BD5BF51F-C56C-319D-06FA-5A053223CE31}"/>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8574409" y="2072289"/>
                  <a:ext cx="556773" cy="556773"/>
                </a:xfrm>
                <a:prstGeom prst="rect">
                  <a:avLst/>
                </a:prstGeom>
              </p:spPr>
            </p:pic>
          </p:grpSp>
          <p:grpSp>
            <p:nvGrpSpPr>
              <p:cNvPr id="252" name="Groupe 251">
                <a:extLst>
                  <a:ext uri="{FF2B5EF4-FFF2-40B4-BE49-F238E27FC236}">
                    <a16:creationId xmlns:a16="http://schemas.microsoft.com/office/drawing/2014/main" id="{50AACDE2-4396-6049-1286-DF2F4C234A48}"/>
                  </a:ext>
                </a:extLst>
              </p:cNvPr>
              <p:cNvGrpSpPr/>
              <p:nvPr/>
            </p:nvGrpSpPr>
            <p:grpSpPr>
              <a:xfrm>
                <a:off x="5663436" y="5390803"/>
                <a:ext cx="632407" cy="656483"/>
                <a:chOff x="9827467" y="2072289"/>
                <a:chExt cx="764501" cy="793611"/>
              </a:xfrm>
            </p:grpSpPr>
            <p:pic>
              <p:nvPicPr>
                <p:cNvPr id="259" name="Graphique 258" descr="Tirelire avec un remplissage uni">
                  <a:extLst>
                    <a:ext uri="{FF2B5EF4-FFF2-40B4-BE49-F238E27FC236}">
                      <a16:creationId xmlns:a16="http://schemas.microsoft.com/office/drawing/2014/main" id="{86115235-CC1B-AA3A-B781-36BB7DD0A6E8}"/>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9956969" y="2072289"/>
                  <a:ext cx="540000" cy="540000"/>
                </a:xfrm>
                <a:prstGeom prst="rect">
                  <a:avLst/>
                </a:prstGeom>
              </p:spPr>
            </p:pic>
            <p:sp>
              <p:nvSpPr>
                <p:cNvPr id="260" name="ZoneTexte 259">
                  <a:extLst>
                    <a:ext uri="{FF2B5EF4-FFF2-40B4-BE49-F238E27FC236}">
                      <a16:creationId xmlns:a16="http://schemas.microsoft.com/office/drawing/2014/main" id="{A5651F6E-4651-BEF8-7341-09A8BB320570}"/>
                    </a:ext>
                  </a:extLst>
                </p:cNvPr>
                <p:cNvSpPr txBox="1"/>
                <p:nvPr/>
              </p:nvSpPr>
              <p:spPr>
                <a:xfrm>
                  <a:off x="9827467" y="2603019"/>
                  <a:ext cx="764501" cy="262881"/>
                </a:xfrm>
                <a:prstGeom prst="rect">
                  <a:avLst/>
                </a:prstGeom>
                <a:noFill/>
              </p:spPr>
              <p:txBody>
                <a:bodyPr wrap="square">
                  <a:spAutoFit/>
                </a:bodyPr>
                <a:lstStyle/>
                <a:p>
                  <a:pPr algn="ctr"/>
                  <a:r>
                    <a:rPr lang="fr-FR" sz="800" dirty="0"/>
                    <a:t>Budget</a:t>
                  </a:r>
                </a:p>
              </p:txBody>
            </p:sp>
          </p:grpSp>
          <p:grpSp>
            <p:nvGrpSpPr>
              <p:cNvPr id="253" name="Groupe 252">
                <a:extLst>
                  <a:ext uri="{FF2B5EF4-FFF2-40B4-BE49-F238E27FC236}">
                    <a16:creationId xmlns:a16="http://schemas.microsoft.com/office/drawing/2014/main" id="{3A6A70A4-AA2C-76B0-E520-247561B1403F}"/>
                  </a:ext>
                </a:extLst>
              </p:cNvPr>
              <p:cNvGrpSpPr/>
              <p:nvPr/>
            </p:nvGrpSpPr>
            <p:grpSpPr>
              <a:xfrm>
                <a:off x="11459184" y="5394267"/>
                <a:ext cx="632407" cy="656485"/>
                <a:chOff x="11150144" y="2072289"/>
                <a:chExt cx="764501" cy="793611"/>
              </a:xfrm>
            </p:grpSpPr>
            <p:pic>
              <p:nvPicPr>
                <p:cNvPr id="257" name="Graphique 256" descr="Badge point d’interrogation avec un remplissage uni">
                  <a:extLst>
                    <a:ext uri="{FF2B5EF4-FFF2-40B4-BE49-F238E27FC236}">
                      <a16:creationId xmlns:a16="http://schemas.microsoft.com/office/drawing/2014/main" id="{37F2C1BF-2F69-EFB1-F5B5-1B404D232F84}"/>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11270657" y="2072289"/>
                  <a:ext cx="540000" cy="540000"/>
                </a:xfrm>
                <a:prstGeom prst="rect">
                  <a:avLst/>
                </a:prstGeom>
              </p:spPr>
            </p:pic>
            <p:sp>
              <p:nvSpPr>
                <p:cNvPr id="258" name="ZoneTexte 257">
                  <a:extLst>
                    <a:ext uri="{FF2B5EF4-FFF2-40B4-BE49-F238E27FC236}">
                      <a16:creationId xmlns:a16="http://schemas.microsoft.com/office/drawing/2014/main" id="{E39E313A-C7E6-2F6A-18EA-06BD968D518C}"/>
                    </a:ext>
                  </a:extLst>
                </p:cNvPr>
                <p:cNvSpPr txBox="1"/>
                <p:nvPr/>
              </p:nvSpPr>
              <p:spPr>
                <a:xfrm>
                  <a:off x="11150144" y="2603020"/>
                  <a:ext cx="764501" cy="262880"/>
                </a:xfrm>
                <a:prstGeom prst="rect">
                  <a:avLst/>
                </a:prstGeom>
                <a:noFill/>
              </p:spPr>
              <p:txBody>
                <a:bodyPr wrap="square">
                  <a:spAutoFit/>
                </a:bodyPr>
                <a:lstStyle/>
                <a:p>
                  <a:pPr algn="ctr"/>
                  <a:r>
                    <a:rPr lang="fr-FR" sz="800" dirty="0"/>
                    <a:t>Autres</a:t>
                  </a:r>
                </a:p>
              </p:txBody>
            </p:sp>
          </p:grpSp>
          <p:grpSp>
            <p:nvGrpSpPr>
              <p:cNvPr id="254" name="Groupe 253">
                <a:extLst>
                  <a:ext uri="{FF2B5EF4-FFF2-40B4-BE49-F238E27FC236}">
                    <a16:creationId xmlns:a16="http://schemas.microsoft.com/office/drawing/2014/main" id="{9EEA15AA-FAA9-9223-4BA3-E99B08D2091C}"/>
                  </a:ext>
                </a:extLst>
              </p:cNvPr>
              <p:cNvGrpSpPr/>
              <p:nvPr/>
            </p:nvGrpSpPr>
            <p:grpSpPr>
              <a:xfrm>
                <a:off x="10261643" y="5375708"/>
                <a:ext cx="1097441" cy="672490"/>
                <a:chOff x="9651618" y="1361747"/>
                <a:chExt cx="1326669" cy="812961"/>
              </a:xfrm>
            </p:grpSpPr>
            <p:pic>
              <p:nvPicPr>
                <p:cNvPr id="255" name="Graphique 254" descr="Signe pouce en haut avec un remplissage uni">
                  <a:extLst>
                    <a:ext uri="{FF2B5EF4-FFF2-40B4-BE49-F238E27FC236}">
                      <a16:creationId xmlns:a16="http://schemas.microsoft.com/office/drawing/2014/main" id="{FF31F156-3A3A-116D-6B3D-02ED705BD03B}"/>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10057766" y="1361747"/>
                  <a:ext cx="514374" cy="514374"/>
                </a:xfrm>
                <a:prstGeom prst="rect">
                  <a:avLst/>
                </a:prstGeom>
              </p:spPr>
            </p:pic>
            <p:sp>
              <p:nvSpPr>
                <p:cNvPr id="256" name="ZoneTexte 255">
                  <a:extLst>
                    <a:ext uri="{FF2B5EF4-FFF2-40B4-BE49-F238E27FC236}">
                      <a16:creationId xmlns:a16="http://schemas.microsoft.com/office/drawing/2014/main" id="{9880EDA7-0F3F-6988-3006-364FA7EF745A}"/>
                    </a:ext>
                  </a:extLst>
                </p:cNvPr>
                <p:cNvSpPr txBox="1"/>
                <p:nvPr/>
              </p:nvSpPr>
              <p:spPr>
                <a:xfrm>
                  <a:off x="9651618" y="1911828"/>
                  <a:ext cx="1326669" cy="262880"/>
                </a:xfrm>
                <a:prstGeom prst="rect">
                  <a:avLst/>
                </a:prstGeom>
                <a:noFill/>
              </p:spPr>
              <p:txBody>
                <a:bodyPr wrap="square">
                  <a:spAutoFit/>
                </a:bodyPr>
                <a:lstStyle/>
                <a:p>
                  <a:pPr algn="ctr"/>
                  <a:r>
                    <a:rPr lang="fr-FR" sz="800" dirty="0"/>
                    <a:t>Soutien extérieur</a:t>
                  </a:r>
                </a:p>
              </p:txBody>
            </p:sp>
          </p:grpSp>
        </p:grpSp>
        <p:sp>
          <p:nvSpPr>
            <p:cNvPr id="208" name="Rectangle 207">
              <a:extLst>
                <a:ext uri="{FF2B5EF4-FFF2-40B4-BE49-F238E27FC236}">
                  <a16:creationId xmlns:a16="http://schemas.microsoft.com/office/drawing/2014/main" id="{F112FA8E-74D7-4622-8908-A6BDC5837107}"/>
                </a:ext>
              </a:extLst>
            </p:cNvPr>
            <p:cNvSpPr/>
            <p:nvPr/>
          </p:nvSpPr>
          <p:spPr>
            <a:xfrm>
              <a:off x="3611155" y="998290"/>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t>Imprimante 3D difficile d’acquisition individuellement</a:t>
              </a:r>
            </a:p>
          </p:txBody>
        </p:sp>
        <p:sp>
          <p:nvSpPr>
            <p:cNvPr id="210" name="Rectangle 209">
              <a:extLst>
                <a:ext uri="{FF2B5EF4-FFF2-40B4-BE49-F238E27FC236}">
                  <a16:creationId xmlns:a16="http://schemas.microsoft.com/office/drawing/2014/main" id="{09C138EE-AC0C-EAE3-F3CF-AC42A8285194}"/>
                </a:ext>
              </a:extLst>
            </p:cNvPr>
            <p:cNvSpPr/>
            <p:nvPr/>
          </p:nvSpPr>
          <p:spPr>
            <a:xfrm>
              <a:off x="9395191" y="1012834"/>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t>Goût commun pour l’innovation</a:t>
              </a:r>
            </a:p>
          </p:txBody>
        </p:sp>
        <p:sp>
          <p:nvSpPr>
            <p:cNvPr id="211" name="Rectangle 210">
              <a:extLst>
                <a:ext uri="{FF2B5EF4-FFF2-40B4-BE49-F238E27FC236}">
                  <a16:creationId xmlns:a16="http://schemas.microsoft.com/office/drawing/2014/main" id="{E7785DE1-3651-C54F-CB02-A382B2BF29DB}"/>
                </a:ext>
              </a:extLst>
            </p:cNvPr>
            <p:cNvSpPr/>
            <p:nvPr/>
          </p:nvSpPr>
          <p:spPr>
            <a:xfrm>
              <a:off x="2582722" y="998290"/>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t>Accès à un tiers lieu pour Idéation, échanges,  Fabrication </a:t>
              </a:r>
            </a:p>
          </p:txBody>
        </p:sp>
        <p:sp>
          <p:nvSpPr>
            <p:cNvPr id="212" name="Rectangle 211">
              <a:extLst>
                <a:ext uri="{FF2B5EF4-FFF2-40B4-BE49-F238E27FC236}">
                  <a16:creationId xmlns:a16="http://schemas.microsoft.com/office/drawing/2014/main" id="{582CEF81-2978-0B33-2A40-E781C86BDA16}"/>
                </a:ext>
              </a:extLst>
            </p:cNvPr>
            <p:cNvSpPr/>
            <p:nvPr/>
          </p:nvSpPr>
          <p:spPr>
            <a:xfrm>
              <a:off x="6541625" y="1002907"/>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t>Présence des membres sur le même site</a:t>
              </a:r>
            </a:p>
          </p:txBody>
        </p:sp>
        <p:sp>
          <p:nvSpPr>
            <p:cNvPr id="213" name="Rectangle 212">
              <a:extLst>
                <a:ext uri="{FF2B5EF4-FFF2-40B4-BE49-F238E27FC236}">
                  <a16:creationId xmlns:a16="http://schemas.microsoft.com/office/drawing/2014/main" id="{F7DF591F-DABD-6073-1C5C-F695E4C60167}"/>
                </a:ext>
              </a:extLst>
            </p:cNvPr>
            <p:cNvSpPr/>
            <p:nvPr/>
          </p:nvSpPr>
          <p:spPr>
            <a:xfrm>
              <a:off x="5549082" y="100286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t>Budgets innovation de l’entreprise</a:t>
              </a:r>
            </a:p>
          </p:txBody>
        </p:sp>
        <p:sp>
          <p:nvSpPr>
            <p:cNvPr id="214" name="Rectangle 213">
              <a:extLst>
                <a:ext uri="{FF2B5EF4-FFF2-40B4-BE49-F238E27FC236}">
                  <a16:creationId xmlns:a16="http://schemas.microsoft.com/office/drawing/2014/main" id="{EC3435A5-F4C5-9C98-5F67-F492E1DF8475}"/>
                </a:ext>
              </a:extLst>
            </p:cNvPr>
            <p:cNvSpPr/>
            <p:nvPr/>
          </p:nvSpPr>
          <p:spPr>
            <a:xfrm>
              <a:off x="7501566" y="100286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t>Présence d’un consultant Design </a:t>
              </a:r>
              <a:r>
                <a:rPr lang="fr-FR" sz="700" dirty="0" err="1"/>
                <a:t>Thinking</a:t>
              </a:r>
              <a:r>
                <a:rPr lang="fr-FR" sz="700" dirty="0"/>
                <a:t> à temps partiel</a:t>
              </a:r>
            </a:p>
          </p:txBody>
        </p:sp>
        <p:sp>
          <p:nvSpPr>
            <p:cNvPr id="215" name="Rectangle 214">
              <a:extLst>
                <a:ext uri="{FF2B5EF4-FFF2-40B4-BE49-F238E27FC236}">
                  <a16:creationId xmlns:a16="http://schemas.microsoft.com/office/drawing/2014/main" id="{30C5AD7F-7E16-B7D8-47FC-88EB55C04E8F}"/>
                </a:ext>
              </a:extLst>
            </p:cNvPr>
            <p:cNvSpPr/>
            <p:nvPr/>
          </p:nvSpPr>
          <p:spPr>
            <a:xfrm>
              <a:off x="8432179" y="1002863"/>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t>Expériences des membres dans leurs métiers</a:t>
              </a:r>
            </a:p>
          </p:txBody>
        </p:sp>
        <p:sp>
          <p:nvSpPr>
            <p:cNvPr id="216" name="Rectangle 215">
              <a:extLst>
                <a:ext uri="{FF2B5EF4-FFF2-40B4-BE49-F238E27FC236}">
                  <a16:creationId xmlns:a16="http://schemas.microsoft.com/office/drawing/2014/main" id="{9FAE2F03-E28F-6F18-C06B-3391A16D729F}"/>
                </a:ext>
              </a:extLst>
            </p:cNvPr>
            <p:cNvSpPr/>
            <p:nvPr/>
          </p:nvSpPr>
          <p:spPr>
            <a:xfrm>
              <a:off x="10361965" y="1012834"/>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700" dirty="0"/>
                <a:t>Différents managers dans l’entreprise férus d’innovation</a:t>
              </a:r>
            </a:p>
          </p:txBody>
        </p:sp>
        <p:grpSp>
          <p:nvGrpSpPr>
            <p:cNvPr id="14" name="Groupe 13">
              <a:extLst>
                <a:ext uri="{FF2B5EF4-FFF2-40B4-BE49-F238E27FC236}">
                  <a16:creationId xmlns:a16="http://schemas.microsoft.com/office/drawing/2014/main" id="{A35C6A53-2CB9-EDD1-464D-8D1D5956C909}"/>
                </a:ext>
              </a:extLst>
            </p:cNvPr>
            <p:cNvGrpSpPr/>
            <p:nvPr/>
          </p:nvGrpSpPr>
          <p:grpSpPr>
            <a:xfrm>
              <a:off x="-48029" y="1152544"/>
              <a:ext cx="1202669" cy="5706538"/>
              <a:chOff x="-48029" y="1152544"/>
              <a:chExt cx="1202669" cy="5706538"/>
            </a:xfrm>
          </p:grpSpPr>
          <p:sp>
            <p:nvSpPr>
              <p:cNvPr id="209" name="Espace réservé du contenu 2">
                <a:extLst>
                  <a:ext uri="{FF2B5EF4-FFF2-40B4-BE49-F238E27FC236}">
                    <a16:creationId xmlns:a16="http://schemas.microsoft.com/office/drawing/2014/main" id="{5E96C280-09A2-262F-5840-263DD972434C}"/>
                  </a:ext>
                </a:extLst>
              </p:cNvPr>
              <p:cNvSpPr txBox="1">
                <a:spLocks/>
              </p:cNvSpPr>
              <p:nvPr/>
            </p:nvSpPr>
            <p:spPr>
              <a:xfrm>
                <a:off x="-16218" y="6167171"/>
                <a:ext cx="901401" cy="691911"/>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700" dirty="0"/>
                  <a:t>Pas intéressant a priori pour une mise en commun la Communauté</a:t>
                </a:r>
              </a:p>
            </p:txBody>
          </p:sp>
          <p:sp>
            <p:nvSpPr>
              <p:cNvPr id="217" name="ZoneTexte 216">
                <a:extLst>
                  <a:ext uri="{FF2B5EF4-FFF2-40B4-BE49-F238E27FC236}">
                    <a16:creationId xmlns:a16="http://schemas.microsoft.com/office/drawing/2014/main" id="{36E3372B-A5CC-790C-5B1E-BF5DA7B14387}"/>
                  </a:ext>
                </a:extLst>
              </p:cNvPr>
              <p:cNvSpPr txBox="1"/>
              <p:nvPr/>
            </p:nvSpPr>
            <p:spPr>
              <a:xfrm>
                <a:off x="4396" y="1152544"/>
                <a:ext cx="847118" cy="528111"/>
              </a:xfrm>
              <a:prstGeom prst="rect">
                <a:avLst/>
              </a:prstGeom>
              <a:noFill/>
            </p:spPr>
            <p:txBody>
              <a:bodyPr wrap="square">
                <a:spAutoFit/>
              </a:bodyPr>
              <a:lstStyle/>
              <a:p>
                <a:r>
                  <a:rPr lang="fr-FR" sz="700" dirty="0"/>
                  <a:t>Intéressant et déjà mis en commun dans la Communauté</a:t>
                </a:r>
              </a:p>
            </p:txBody>
          </p:sp>
          <p:sp>
            <p:nvSpPr>
              <p:cNvPr id="225" name="ZoneTexte 224">
                <a:extLst>
                  <a:ext uri="{FF2B5EF4-FFF2-40B4-BE49-F238E27FC236}">
                    <a16:creationId xmlns:a16="http://schemas.microsoft.com/office/drawing/2014/main" id="{F7DC4417-6D73-F13D-71C8-B936A9F9D557}"/>
                  </a:ext>
                </a:extLst>
              </p:cNvPr>
              <p:cNvSpPr txBox="1"/>
              <p:nvPr/>
            </p:nvSpPr>
            <p:spPr>
              <a:xfrm>
                <a:off x="7944" y="1767083"/>
                <a:ext cx="912509" cy="636839"/>
              </a:xfrm>
              <a:prstGeom prst="rect">
                <a:avLst/>
              </a:prstGeom>
              <a:noFill/>
            </p:spPr>
            <p:txBody>
              <a:bodyPr wrap="square">
                <a:spAutoFit/>
              </a:bodyPr>
              <a:lstStyle/>
              <a:p>
                <a:r>
                  <a:rPr lang="fr-FR" sz="700" dirty="0"/>
                  <a:t>Intéressant, accessible par la Communauté mais pas (encore) mis en commun</a:t>
                </a:r>
              </a:p>
            </p:txBody>
          </p:sp>
          <p:sp>
            <p:nvSpPr>
              <p:cNvPr id="226" name="ZoneTexte 225">
                <a:extLst>
                  <a:ext uri="{FF2B5EF4-FFF2-40B4-BE49-F238E27FC236}">
                    <a16:creationId xmlns:a16="http://schemas.microsoft.com/office/drawing/2014/main" id="{BC64D82B-C00A-16C2-B7E3-E065853993D3}"/>
                  </a:ext>
                </a:extLst>
              </p:cNvPr>
              <p:cNvSpPr txBox="1"/>
              <p:nvPr/>
            </p:nvSpPr>
            <p:spPr>
              <a:xfrm>
                <a:off x="-2929" y="2511054"/>
                <a:ext cx="1109944" cy="636839"/>
              </a:xfrm>
              <a:prstGeom prst="rect">
                <a:avLst/>
              </a:prstGeom>
              <a:noFill/>
            </p:spPr>
            <p:txBody>
              <a:bodyPr wrap="square">
                <a:spAutoFit/>
              </a:bodyPr>
              <a:lstStyle/>
              <a:p>
                <a:r>
                  <a:rPr lang="fr-FR" sz="700" dirty="0"/>
                  <a:t>Intéressant, manquant et plus facilement accessible en tant que Communauté (vs en individus)</a:t>
                </a:r>
              </a:p>
            </p:txBody>
          </p:sp>
          <p:sp>
            <p:nvSpPr>
              <p:cNvPr id="227" name="ZoneTexte 226">
                <a:extLst>
                  <a:ext uri="{FF2B5EF4-FFF2-40B4-BE49-F238E27FC236}">
                    <a16:creationId xmlns:a16="http://schemas.microsoft.com/office/drawing/2014/main" id="{B08D5AF1-5F81-EF3F-19A9-00BAC613E8DE}"/>
                  </a:ext>
                </a:extLst>
              </p:cNvPr>
              <p:cNvSpPr txBox="1"/>
              <p:nvPr/>
            </p:nvSpPr>
            <p:spPr>
              <a:xfrm>
                <a:off x="-1939" y="3353231"/>
                <a:ext cx="1156579" cy="528111"/>
              </a:xfrm>
              <a:prstGeom prst="rect">
                <a:avLst/>
              </a:prstGeom>
              <a:noFill/>
            </p:spPr>
            <p:txBody>
              <a:bodyPr wrap="square">
                <a:spAutoFit/>
              </a:bodyPr>
              <a:lstStyle/>
              <a:p>
                <a:r>
                  <a:rPr lang="fr-FR" sz="700" dirty="0"/>
                  <a:t>Intéressant, manquant et potentiellement accessible, difficulté d’accès inconnue</a:t>
                </a:r>
              </a:p>
            </p:txBody>
          </p:sp>
          <p:sp>
            <p:nvSpPr>
              <p:cNvPr id="228" name="ZoneTexte 227">
                <a:extLst>
                  <a:ext uri="{FF2B5EF4-FFF2-40B4-BE49-F238E27FC236}">
                    <a16:creationId xmlns:a16="http://schemas.microsoft.com/office/drawing/2014/main" id="{232DD2AE-E0BC-E1E2-1763-7BB8D570BEA7}"/>
                  </a:ext>
                </a:extLst>
              </p:cNvPr>
              <p:cNvSpPr txBox="1"/>
              <p:nvPr/>
            </p:nvSpPr>
            <p:spPr>
              <a:xfrm>
                <a:off x="-24473" y="3996509"/>
                <a:ext cx="1147993" cy="528111"/>
              </a:xfrm>
              <a:prstGeom prst="rect">
                <a:avLst/>
              </a:prstGeom>
              <a:noFill/>
            </p:spPr>
            <p:txBody>
              <a:bodyPr wrap="square">
                <a:spAutoFit/>
              </a:bodyPr>
              <a:lstStyle/>
              <a:p>
                <a:r>
                  <a:rPr lang="fr-FR" sz="700" dirty="0"/>
                  <a:t>Intéressant, manquant et difficilement accessible, même en tant que Communauté</a:t>
                </a:r>
              </a:p>
            </p:txBody>
          </p:sp>
          <p:sp>
            <p:nvSpPr>
              <p:cNvPr id="229" name="ZoneTexte 228">
                <a:extLst>
                  <a:ext uri="{FF2B5EF4-FFF2-40B4-BE49-F238E27FC236}">
                    <a16:creationId xmlns:a16="http://schemas.microsoft.com/office/drawing/2014/main" id="{7927A4F1-C583-C93A-A067-185F2FF14427}"/>
                  </a:ext>
                </a:extLst>
              </p:cNvPr>
              <p:cNvSpPr txBox="1"/>
              <p:nvPr/>
            </p:nvSpPr>
            <p:spPr>
              <a:xfrm>
                <a:off x="-48029" y="4749644"/>
                <a:ext cx="1063951" cy="419382"/>
              </a:xfrm>
              <a:prstGeom prst="rect">
                <a:avLst/>
              </a:prstGeom>
              <a:noFill/>
            </p:spPr>
            <p:txBody>
              <a:bodyPr wrap="square">
                <a:spAutoFit/>
              </a:bodyPr>
              <a:lstStyle/>
              <a:p>
                <a:r>
                  <a:rPr lang="fr-FR" sz="700" dirty="0"/>
                  <a:t>Intérêt inconnu pour la Communauté, manquant</a:t>
                </a:r>
              </a:p>
            </p:txBody>
          </p:sp>
        </p:grpSp>
      </p:grpSp>
    </p:spTree>
    <p:extLst>
      <p:ext uri="{BB962C8B-B14F-4D97-AF65-F5344CB8AC3E}">
        <p14:creationId xmlns:p14="http://schemas.microsoft.com/office/powerpoint/2010/main" val="827912876"/>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0FEA3ED-05E5-44E0-86FB-276C165223EB}"/>
              </a:ext>
            </a:extLst>
          </p:cNvPr>
          <p:cNvSpPr>
            <a:spLocks noGrp="1"/>
          </p:cNvSpPr>
          <p:nvPr>
            <p:ph type="title"/>
          </p:nvPr>
        </p:nvSpPr>
        <p:spPr>
          <a:xfrm>
            <a:off x="838200" y="365125"/>
            <a:ext cx="10515600" cy="633165"/>
          </a:xfrm>
        </p:spPr>
        <p:txBody>
          <a:bodyPr>
            <a:normAutofit fontScale="90000"/>
          </a:bodyPr>
          <a:lstStyle/>
          <a:p>
            <a:r>
              <a:rPr lang="fr-FR" sz="4000" dirty="0"/>
              <a:t>Exemple d’analyse de ressources de Communauté</a:t>
            </a:r>
          </a:p>
        </p:txBody>
      </p:sp>
      <p:pic>
        <p:nvPicPr>
          <p:cNvPr id="208" name="Graphique 207" descr="Serveur avec un remplissage uni">
            <a:extLst>
              <a:ext uri="{FF2B5EF4-FFF2-40B4-BE49-F238E27FC236}">
                <a16:creationId xmlns:a16="http://schemas.microsoft.com/office/drawing/2014/main" id="{17E6F58F-6ABD-B450-E984-D28D960C476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422202" y="147443"/>
            <a:ext cx="776321" cy="776321"/>
          </a:xfrm>
          <a:prstGeom prst="rect">
            <a:avLst/>
          </a:prstGeom>
        </p:spPr>
      </p:pic>
      <p:sp>
        <p:nvSpPr>
          <p:cNvPr id="209" name="Rectangle 208">
            <a:extLst>
              <a:ext uri="{FF2B5EF4-FFF2-40B4-BE49-F238E27FC236}">
                <a16:creationId xmlns:a16="http://schemas.microsoft.com/office/drawing/2014/main" id="{48A9892E-CDB3-82B7-7796-75AC232E0B48}"/>
              </a:ext>
            </a:extLst>
          </p:cNvPr>
          <p:cNvSpPr/>
          <p:nvPr/>
        </p:nvSpPr>
        <p:spPr>
          <a:xfrm>
            <a:off x="11073498" y="79175"/>
            <a:ext cx="1115735" cy="148870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rPr>
              <a:t>Exemple 2 </a:t>
            </a:r>
            <a:r>
              <a:rPr lang="fr-FR" sz="1200" dirty="0">
                <a:solidFill>
                  <a:schemeClr val="tx1"/>
                </a:solidFill>
              </a:rPr>
              <a:t>: </a:t>
            </a:r>
          </a:p>
          <a:p>
            <a:pPr algn="ctr"/>
            <a:r>
              <a:rPr lang="fr-FR" sz="1200" dirty="0">
                <a:solidFill>
                  <a:schemeClr val="tx1"/>
                </a:solidFill>
              </a:rPr>
              <a:t>Une petite Communauté </a:t>
            </a:r>
            <a:r>
              <a:rPr lang="fr-FR" sz="1200" i="1" dirty="0">
                <a:solidFill>
                  <a:schemeClr val="tx1"/>
                </a:solidFill>
              </a:rPr>
              <a:t>DEVOPS </a:t>
            </a:r>
            <a:r>
              <a:rPr lang="fr-FR" sz="1200" dirty="0">
                <a:solidFill>
                  <a:schemeClr val="tx1"/>
                </a:solidFill>
              </a:rPr>
              <a:t>à l’échelle d’un service (plusieurs équipes)</a:t>
            </a:r>
          </a:p>
        </p:txBody>
      </p:sp>
      <p:grpSp>
        <p:nvGrpSpPr>
          <p:cNvPr id="7" name="Groupe 6">
            <a:extLst>
              <a:ext uri="{FF2B5EF4-FFF2-40B4-BE49-F238E27FC236}">
                <a16:creationId xmlns:a16="http://schemas.microsoft.com/office/drawing/2014/main" id="{E5FF74DF-1EDB-2A79-0BC4-0D4ADBE1878D}"/>
              </a:ext>
            </a:extLst>
          </p:cNvPr>
          <p:cNvGrpSpPr/>
          <p:nvPr/>
        </p:nvGrpSpPr>
        <p:grpSpPr>
          <a:xfrm>
            <a:off x="-48029" y="1048281"/>
            <a:ext cx="12139620" cy="5810801"/>
            <a:chOff x="-48029" y="1048281"/>
            <a:chExt cx="12139620" cy="5810801"/>
          </a:xfrm>
        </p:grpSpPr>
        <p:sp>
          <p:nvSpPr>
            <p:cNvPr id="97" name="Flèche : haut 96">
              <a:extLst>
                <a:ext uri="{FF2B5EF4-FFF2-40B4-BE49-F238E27FC236}">
                  <a16:creationId xmlns:a16="http://schemas.microsoft.com/office/drawing/2014/main" id="{AE89BA1B-419E-63FB-3C74-B37D74D67CAC}"/>
                </a:ext>
              </a:extLst>
            </p:cNvPr>
            <p:cNvSpPr/>
            <p:nvPr/>
          </p:nvSpPr>
          <p:spPr>
            <a:xfrm>
              <a:off x="2188266" y="1187557"/>
              <a:ext cx="304800" cy="4188155"/>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8" name="Groupe 97">
              <a:extLst>
                <a:ext uri="{FF2B5EF4-FFF2-40B4-BE49-F238E27FC236}">
                  <a16:creationId xmlns:a16="http://schemas.microsoft.com/office/drawing/2014/main" id="{D9AFE5F4-4254-4E88-1E0A-ED1D23FA3FDA}"/>
                </a:ext>
              </a:extLst>
            </p:cNvPr>
            <p:cNvGrpSpPr/>
            <p:nvPr/>
          </p:nvGrpSpPr>
          <p:grpSpPr>
            <a:xfrm>
              <a:off x="1263236" y="1187557"/>
              <a:ext cx="642859" cy="541981"/>
              <a:chOff x="1797480" y="1339838"/>
              <a:chExt cx="1507135" cy="1270634"/>
            </a:xfrm>
          </p:grpSpPr>
          <p:grpSp>
            <p:nvGrpSpPr>
              <p:cNvPr id="99" name="Groupe 98">
                <a:extLst>
                  <a:ext uri="{FF2B5EF4-FFF2-40B4-BE49-F238E27FC236}">
                    <a16:creationId xmlns:a16="http://schemas.microsoft.com/office/drawing/2014/main" id="{950FC174-2A8C-F2C7-A445-74EACE087F0C}"/>
                  </a:ext>
                </a:extLst>
              </p:cNvPr>
              <p:cNvGrpSpPr/>
              <p:nvPr/>
            </p:nvGrpSpPr>
            <p:grpSpPr>
              <a:xfrm>
                <a:off x="1797480" y="1339838"/>
                <a:ext cx="1507135" cy="1270634"/>
                <a:chOff x="8982504" y="3274976"/>
                <a:chExt cx="1230670" cy="1037553"/>
              </a:xfrm>
              <a:solidFill>
                <a:srgbClr val="ED7D31"/>
              </a:solidFill>
            </p:grpSpPr>
            <p:pic>
              <p:nvPicPr>
                <p:cNvPr id="101" name="Graphique 100" descr="Utilisateur avec un remplissage uni">
                  <a:extLst>
                    <a:ext uri="{FF2B5EF4-FFF2-40B4-BE49-F238E27FC236}">
                      <a16:creationId xmlns:a16="http://schemas.microsoft.com/office/drawing/2014/main" id="{9F799E07-E035-D82E-B88F-A1C30E24B00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D634C716-6C7B-6A39-BC03-2508E5A4B46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AC087E2-37A9-7045-BEF5-6F08236C709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87F86FAF-C521-39C2-648F-EA0C760BF7E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F949EF51-658E-96A6-0FDF-7DF2D13B4AE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06" name="Graphique 105" descr="Utilisateur avec un remplissage uni">
                  <a:extLst>
                    <a:ext uri="{FF2B5EF4-FFF2-40B4-BE49-F238E27FC236}">
                      <a16:creationId xmlns:a16="http://schemas.microsoft.com/office/drawing/2014/main" id="{A95E8976-445F-1106-7223-0122A97BB70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07" name="Graphique 106" descr="Utilisateur avec un remplissage uni">
                  <a:extLst>
                    <a:ext uri="{FF2B5EF4-FFF2-40B4-BE49-F238E27FC236}">
                      <a16:creationId xmlns:a16="http://schemas.microsoft.com/office/drawing/2014/main" id="{CC038618-2C40-504C-3DF4-CA7D56CAB97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08" name="Graphique 107" descr="Utilisateur avec un remplissage uni">
                  <a:extLst>
                    <a:ext uri="{FF2B5EF4-FFF2-40B4-BE49-F238E27FC236}">
                      <a16:creationId xmlns:a16="http://schemas.microsoft.com/office/drawing/2014/main" id="{92F0BCBB-FC1F-98EA-E265-76EE4AE0446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09" name="Graphique 108" descr="Utilisateur avec un remplissage uni">
                  <a:extLst>
                    <a:ext uri="{FF2B5EF4-FFF2-40B4-BE49-F238E27FC236}">
                      <a16:creationId xmlns:a16="http://schemas.microsoft.com/office/drawing/2014/main" id="{787601DB-53FF-6153-9432-EE7BDE70219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10" name="Graphique 109" descr="Utilisateur avec un remplissage uni">
                  <a:extLst>
                    <a:ext uri="{FF2B5EF4-FFF2-40B4-BE49-F238E27FC236}">
                      <a16:creationId xmlns:a16="http://schemas.microsoft.com/office/drawing/2014/main" id="{8BC7269C-443D-E67F-5F19-A9854E48392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11" name="Graphique 110" descr="Utilisateur avec un remplissage uni">
                  <a:extLst>
                    <a:ext uri="{FF2B5EF4-FFF2-40B4-BE49-F238E27FC236}">
                      <a16:creationId xmlns:a16="http://schemas.microsoft.com/office/drawing/2014/main" id="{A1613045-850B-66A4-1284-8E31FBC2FFA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00" name="Graphique 99" descr="Boîte à archives avec un remplissage uni">
                <a:extLst>
                  <a:ext uri="{FF2B5EF4-FFF2-40B4-BE49-F238E27FC236}">
                    <a16:creationId xmlns:a16="http://schemas.microsoft.com/office/drawing/2014/main" id="{87961DF1-41B6-973F-640C-4DEDBF85610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164013" y="1631780"/>
                <a:ext cx="795090" cy="795090"/>
              </a:xfrm>
              <a:prstGeom prst="rect">
                <a:avLst/>
              </a:prstGeom>
            </p:spPr>
          </p:pic>
        </p:grpSp>
        <p:grpSp>
          <p:nvGrpSpPr>
            <p:cNvPr id="112" name="Groupe 111">
              <a:extLst>
                <a:ext uri="{FF2B5EF4-FFF2-40B4-BE49-F238E27FC236}">
                  <a16:creationId xmlns:a16="http://schemas.microsoft.com/office/drawing/2014/main" id="{F29BCC2C-AF9F-E535-6D57-4706E786826F}"/>
                </a:ext>
              </a:extLst>
            </p:cNvPr>
            <p:cNvGrpSpPr/>
            <p:nvPr/>
          </p:nvGrpSpPr>
          <p:grpSpPr>
            <a:xfrm>
              <a:off x="1205435" y="1836377"/>
              <a:ext cx="928257" cy="541981"/>
              <a:chOff x="1797480" y="1339838"/>
              <a:chExt cx="2176227" cy="1270634"/>
            </a:xfrm>
          </p:grpSpPr>
          <p:grpSp>
            <p:nvGrpSpPr>
              <p:cNvPr id="113" name="Groupe 112">
                <a:extLst>
                  <a:ext uri="{FF2B5EF4-FFF2-40B4-BE49-F238E27FC236}">
                    <a16:creationId xmlns:a16="http://schemas.microsoft.com/office/drawing/2014/main" id="{D02DE41C-34FA-4ADF-A86C-28A9B48A45BA}"/>
                  </a:ext>
                </a:extLst>
              </p:cNvPr>
              <p:cNvGrpSpPr/>
              <p:nvPr/>
            </p:nvGrpSpPr>
            <p:grpSpPr>
              <a:xfrm>
                <a:off x="1797480" y="1339838"/>
                <a:ext cx="1507135" cy="1270634"/>
                <a:chOff x="8982504" y="3274976"/>
                <a:chExt cx="1230670" cy="1037553"/>
              </a:xfrm>
              <a:solidFill>
                <a:srgbClr val="ED7D31"/>
              </a:solidFill>
            </p:grpSpPr>
            <p:pic>
              <p:nvPicPr>
                <p:cNvPr id="115" name="Graphique 114" descr="Utilisateur avec un remplissage uni">
                  <a:extLst>
                    <a:ext uri="{FF2B5EF4-FFF2-40B4-BE49-F238E27FC236}">
                      <a16:creationId xmlns:a16="http://schemas.microsoft.com/office/drawing/2014/main" id="{7DD52728-B979-4735-9302-8FAADA586C1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16" name="Graphique 115" descr="Utilisateur avec un remplissage uni">
                  <a:extLst>
                    <a:ext uri="{FF2B5EF4-FFF2-40B4-BE49-F238E27FC236}">
                      <a16:creationId xmlns:a16="http://schemas.microsoft.com/office/drawing/2014/main" id="{70C34291-3CD9-7411-25AF-30D24DF131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17" name="Graphique 116" descr="Utilisateur avec un remplissage uni">
                  <a:extLst>
                    <a:ext uri="{FF2B5EF4-FFF2-40B4-BE49-F238E27FC236}">
                      <a16:creationId xmlns:a16="http://schemas.microsoft.com/office/drawing/2014/main" id="{279D435E-3813-6FC3-55E6-35504864488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2398F617-C4CF-3C88-AE58-D52C4D4D589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9B69D1AC-0F96-FD3D-51A6-1FD1846CFAC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20" name="Graphique 119" descr="Utilisateur avec un remplissage uni">
                  <a:extLst>
                    <a:ext uri="{FF2B5EF4-FFF2-40B4-BE49-F238E27FC236}">
                      <a16:creationId xmlns:a16="http://schemas.microsoft.com/office/drawing/2014/main" id="{D18EB99D-0FD7-56C8-DB98-4D4F5564897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21" name="Graphique 120" descr="Utilisateur avec un remplissage uni">
                  <a:extLst>
                    <a:ext uri="{FF2B5EF4-FFF2-40B4-BE49-F238E27FC236}">
                      <a16:creationId xmlns:a16="http://schemas.microsoft.com/office/drawing/2014/main" id="{2825E89F-CD09-728D-FD63-D516A0C7F52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C11AD3B4-5DA2-81EA-7013-DE0DE87023A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5F8AC828-A739-3B4E-914F-2C7740CE9CC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053335BE-539E-57B4-7312-A35C5D47ACF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25" name="Graphique 124" descr="Utilisateur avec un remplissage uni">
                  <a:extLst>
                    <a:ext uri="{FF2B5EF4-FFF2-40B4-BE49-F238E27FC236}">
                      <a16:creationId xmlns:a16="http://schemas.microsoft.com/office/drawing/2014/main" id="{2BE71045-A682-A6C1-5DB3-87C63D75742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14" name="Graphique 113" descr="Boîte à archives avec un remplissage uni">
                <a:extLst>
                  <a:ext uri="{FF2B5EF4-FFF2-40B4-BE49-F238E27FC236}">
                    <a16:creationId xmlns:a16="http://schemas.microsoft.com/office/drawing/2014/main" id="{862ADCD5-6BF2-F044-86AF-17B38C46673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178618" y="1572578"/>
                <a:ext cx="795089" cy="795090"/>
              </a:xfrm>
              <a:prstGeom prst="rect">
                <a:avLst/>
              </a:prstGeom>
            </p:spPr>
          </p:pic>
        </p:grpSp>
        <p:grpSp>
          <p:nvGrpSpPr>
            <p:cNvPr id="126" name="Groupe 125">
              <a:extLst>
                <a:ext uri="{FF2B5EF4-FFF2-40B4-BE49-F238E27FC236}">
                  <a16:creationId xmlns:a16="http://schemas.microsoft.com/office/drawing/2014/main" id="{30C34A92-9FA7-E5AB-40AE-77EB6EEBD4E8}"/>
                </a:ext>
              </a:extLst>
            </p:cNvPr>
            <p:cNvGrpSpPr/>
            <p:nvPr/>
          </p:nvGrpSpPr>
          <p:grpSpPr>
            <a:xfrm>
              <a:off x="1033252" y="2595975"/>
              <a:ext cx="1104068" cy="541981"/>
              <a:chOff x="1797481" y="3401554"/>
              <a:chExt cx="1314902" cy="645478"/>
            </a:xfrm>
          </p:grpSpPr>
          <p:grpSp>
            <p:nvGrpSpPr>
              <p:cNvPr id="127" name="Groupe 126">
                <a:extLst>
                  <a:ext uri="{FF2B5EF4-FFF2-40B4-BE49-F238E27FC236}">
                    <a16:creationId xmlns:a16="http://schemas.microsoft.com/office/drawing/2014/main" id="{D7FCD4ED-4143-62F3-EC43-52FF07E73851}"/>
                  </a:ext>
                </a:extLst>
              </p:cNvPr>
              <p:cNvGrpSpPr/>
              <p:nvPr/>
            </p:nvGrpSpPr>
            <p:grpSpPr>
              <a:xfrm>
                <a:off x="1797481" y="3401554"/>
                <a:ext cx="1314902" cy="645478"/>
                <a:chOff x="1797480" y="1339838"/>
                <a:chExt cx="2588405" cy="1270634"/>
              </a:xfrm>
            </p:grpSpPr>
            <p:grpSp>
              <p:nvGrpSpPr>
                <p:cNvPr id="129" name="Groupe 128">
                  <a:extLst>
                    <a:ext uri="{FF2B5EF4-FFF2-40B4-BE49-F238E27FC236}">
                      <a16:creationId xmlns:a16="http://schemas.microsoft.com/office/drawing/2014/main" id="{4DFE496F-FCF0-988B-C261-CFFF1DDAF8BA}"/>
                    </a:ext>
                  </a:extLst>
                </p:cNvPr>
                <p:cNvGrpSpPr/>
                <p:nvPr/>
              </p:nvGrpSpPr>
              <p:grpSpPr>
                <a:xfrm>
                  <a:off x="1797480" y="1339838"/>
                  <a:ext cx="1507135" cy="1270634"/>
                  <a:chOff x="8982504" y="3274976"/>
                  <a:chExt cx="1230670" cy="1037553"/>
                </a:xfrm>
                <a:solidFill>
                  <a:srgbClr val="ED7D31"/>
                </a:solidFill>
              </p:grpSpPr>
              <p:pic>
                <p:nvPicPr>
                  <p:cNvPr id="131" name="Graphique 130" descr="Utilisateur avec un remplissage uni">
                    <a:extLst>
                      <a:ext uri="{FF2B5EF4-FFF2-40B4-BE49-F238E27FC236}">
                        <a16:creationId xmlns:a16="http://schemas.microsoft.com/office/drawing/2014/main" id="{65593941-3099-8CE5-0DEC-F1556F0DEF8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32" name="Graphique 131" descr="Utilisateur avec un remplissage uni">
                    <a:extLst>
                      <a:ext uri="{FF2B5EF4-FFF2-40B4-BE49-F238E27FC236}">
                        <a16:creationId xmlns:a16="http://schemas.microsoft.com/office/drawing/2014/main" id="{D38B1CF9-4E3A-7B24-EDB0-7DFCB4739D8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33" name="Graphique 132" descr="Utilisateur avec un remplissage uni">
                    <a:extLst>
                      <a:ext uri="{FF2B5EF4-FFF2-40B4-BE49-F238E27FC236}">
                        <a16:creationId xmlns:a16="http://schemas.microsoft.com/office/drawing/2014/main" id="{5921E86C-6652-62A2-E6D5-2A2C573EB62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34" name="Graphique 133" descr="Utilisateur avec un remplissage uni">
                    <a:extLst>
                      <a:ext uri="{FF2B5EF4-FFF2-40B4-BE49-F238E27FC236}">
                        <a16:creationId xmlns:a16="http://schemas.microsoft.com/office/drawing/2014/main" id="{90D1938C-21C9-B52E-F22D-82102A19820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35" name="Graphique 134" descr="Utilisateur avec un remplissage uni">
                    <a:extLst>
                      <a:ext uri="{FF2B5EF4-FFF2-40B4-BE49-F238E27FC236}">
                        <a16:creationId xmlns:a16="http://schemas.microsoft.com/office/drawing/2014/main" id="{91358773-5FC5-70C7-90CA-F74FE916077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36" name="Graphique 135" descr="Utilisateur avec un remplissage uni">
                    <a:extLst>
                      <a:ext uri="{FF2B5EF4-FFF2-40B4-BE49-F238E27FC236}">
                        <a16:creationId xmlns:a16="http://schemas.microsoft.com/office/drawing/2014/main" id="{5DBA6000-E7DD-6860-2D3D-2561412B411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37" name="Graphique 136" descr="Utilisateur avec un remplissage uni">
                    <a:extLst>
                      <a:ext uri="{FF2B5EF4-FFF2-40B4-BE49-F238E27FC236}">
                        <a16:creationId xmlns:a16="http://schemas.microsoft.com/office/drawing/2014/main" id="{5523E782-4802-D77F-6352-C00A1E0D4B1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38" name="Graphique 137" descr="Utilisateur avec un remplissage uni">
                    <a:extLst>
                      <a:ext uri="{FF2B5EF4-FFF2-40B4-BE49-F238E27FC236}">
                        <a16:creationId xmlns:a16="http://schemas.microsoft.com/office/drawing/2014/main" id="{65C29A5C-4970-86A7-4514-6DE0CA03029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39" name="Graphique 138" descr="Utilisateur avec un remplissage uni">
                    <a:extLst>
                      <a:ext uri="{FF2B5EF4-FFF2-40B4-BE49-F238E27FC236}">
                        <a16:creationId xmlns:a16="http://schemas.microsoft.com/office/drawing/2014/main" id="{823DB485-5243-BC08-0943-3EDAD810232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0A6FF9A6-7DF6-F536-17D9-58335AB7888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B80FE338-208E-FEF0-E42E-1CBCA564B43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30" name="Graphique 129" descr="Boîte à archives avec un remplissage uni">
                  <a:extLst>
                    <a:ext uri="{FF2B5EF4-FFF2-40B4-BE49-F238E27FC236}">
                      <a16:creationId xmlns:a16="http://schemas.microsoft.com/office/drawing/2014/main" id="{60EB9EB9-5223-4CB4-53D4-942FD7DF93F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590796" y="1573442"/>
                  <a:ext cx="795089" cy="795090"/>
                </a:xfrm>
                <a:prstGeom prst="rect">
                  <a:avLst/>
                </a:prstGeom>
              </p:spPr>
            </p:pic>
          </p:grpSp>
          <p:pic>
            <p:nvPicPr>
              <p:cNvPr id="128" name="Graphique 127" descr="Déverrouiller avec un remplissage uni">
                <a:extLst>
                  <a:ext uri="{FF2B5EF4-FFF2-40B4-BE49-F238E27FC236}">
                    <a16:creationId xmlns:a16="http://schemas.microsoft.com/office/drawing/2014/main" id="{D782765A-D0ED-613C-3CBB-11E8EBAA0C7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flipH="1">
                <a:off x="2498111" y="3408841"/>
                <a:ext cx="432779" cy="462545"/>
              </a:xfrm>
              <a:prstGeom prst="rect">
                <a:avLst/>
              </a:prstGeom>
            </p:spPr>
          </p:pic>
        </p:grpSp>
        <p:grpSp>
          <p:nvGrpSpPr>
            <p:cNvPr id="142" name="Groupe 141">
              <a:extLst>
                <a:ext uri="{FF2B5EF4-FFF2-40B4-BE49-F238E27FC236}">
                  <a16:creationId xmlns:a16="http://schemas.microsoft.com/office/drawing/2014/main" id="{7C9FF69A-4656-B3FC-8D15-940A846DC8B7}"/>
                </a:ext>
              </a:extLst>
            </p:cNvPr>
            <p:cNvGrpSpPr/>
            <p:nvPr/>
          </p:nvGrpSpPr>
          <p:grpSpPr>
            <a:xfrm>
              <a:off x="1035880" y="3313420"/>
              <a:ext cx="1104068" cy="541981"/>
              <a:chOff x="1800611" y="4256002"/>
              <a:chExt cx="1314902" cy="645478"/>
            </a:xfrm>
          </p:grpSpPr>
          <p:grpSp>
            <p:nvGrpSpPr>
              <p:cNvPr id="143" name="Groupe 142">
                <a:extLst>
                  <a:ext uri="{FF2B5EF4-FFF2-40B4-BE49-F238E27FC236}">
                    <a16:creationId xmlns:a16="http://schemas.microsoft.com/office/drawing/2014/main" id="{1C144AA4-47EF-EAB2-0C34-5E0733CBFA25}"/>
                  </a:ext>
                </a:extLst>
              </p:cNvPr>
              <p:cNvGrpSpPr/>
              <p:nvPr/>
            </p:nvGrpSpPr>
            <p:grpSpPr>
              <a:xfrm>
                <a:off x="1800611" y="4256002"/>
                <a:ext cx="1314902" cy="645478"/>
                <a:chOff x="1797480" y="1339838"/>
                <a:chExt cx="2588405" cy="1270634"/>
              </a:xfrm>
            </p:grpSpPr>
            <p:grpSp>
              <p:nvGrpSpPr>
                <p:cNvPr id="145" name="Groupe 144">
                  <a:extLst>
                    <a:ext uri="{FF2B5EF4-FFF2-40B4-BE49-F238E27FC236}">
                      <a16:creationId xmlns:a16="http://schemas.microsoft.com/office/drawing/2014/main" id="{763AD210-AE17-667E-924D-FA200103688A}"/>
                    </a:ext>
                  </a:extLst>
                </p:cNvPr>
                <p:cNvGrpSpPr/>
                <p:nvPr/>
              </p:nvGrpSpPr>
              <p:grpSpPr>
                <a:xfrm>
                  <a:off x="1797480" y="1339838"/>
                  <a:ext cx="1507135" cy="1270634"/>
                  <a:chOff x="8982504" y="3274976"/>
                  <a:chExt cx="1230670" cy="1037553"/>
                </a:xfrm>
                <a:solidFill>
                  <a:srgbClr val="ED7D31"/>
                </a:solidFill>
              </p:grpSpPr>
              <p:pic>
                <p:nvPicPr>
                  <p:cNvPr id="147" name="Graphique 146" descr="Utilisateur avec un remplissage uni">
                    <a:extLst>
                      <a:ext uri="{FF2B5EF4-FFF2-40B4-BE49-F238E27FC236}">
                        <a16:creationId xmlns:a16="http://schemas.microsoft.com/office/drawing/2014/main" id="{76A43EBB-552D-D215-DB8D-5B5075C5D72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2382845E-EE64-B55C-0E51-17BF86C19F1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B1C44714-6F1A-24C0-977E-F5BF5F7BD3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50" name="Graphique 149" descr="Utilisateur avec un remplissage uni">
                    <a:extLst>
                      <a:ext uri="{FF2B5EF4-FFF2-40B4-BE49-F238E27FC236}">
                        <a16:creationId xmlns:a16="http://schemas.microsoft.com/office/drawing/2014/main" id="{2D001668-57FC-54A1-2D5B-7A8CE70DABF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51" name="Graphique 150" descr="Utilisateur avec un remplissage uni">
                    <a:extLst>
                      <a:ext uri="{FF2B5EF4-FFF2-40B4-BE49-F238E27FC236}">
                        <a16:creationId xmlns:a16="http://schemas.microsoft.com/office/drawing/2014/main" id="{ADDEDA45-95E8-78E7-7865-4D8970A7A81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52" name="Graphique 151" descr="Utilisateur avec un remplissage uni">
                    <a:extLst>
                      <a:ext uri="{FF2B5EF4-FFF2-40B4-BE49-F238E27FC236}">
                        <a16:creationId xmlns:a16="http://schemas.microsoft.com/office/drawing/2014/main" id="{2309201C-A827-EEA7-F145-1ACD494F367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53" name="Graphique 152" descr="Utilisateur avec un remplissage uni">
                    <a:extLst>
                      <a:ext uri="{FF2B5EF4-FFF2-40B4-BE49-F238E27FC236}">
                        <a16:creationId xmlns:a16="http://schemas.microsoft.com/office/drawing/2014/main" id="{EDF70FEF-CBCD-CC31-AAD9-45BE9866167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54" name="Graphique 153" descr="Utilisateur avec un remplissage uni">
                    <a:extLst>
                      <a:ext uri="{FF2B5EF4-FFF2-40B4-BE49-F238E27FC236}">
                        <a16:creationId xmlns:a16="http://schemas.microsoft.com/office/drawing/2014/main" id="{0E6F1FC4-1E45-17AC-CD58-F79BB71FA8A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55" name="Graphique 154" descr="Utilisateur avec un remplissage uni">
                    <a:extLst>
                      <a:ext uri="{FF2B5EF4-FFF2-40B4-BE49-F238E27FC236}">
                        <a16:creationId xmlns:a16="http://schemas.microsoft.com/office/drawing/2014/main" id="{B2131C9B-E4FB-D332-749E-76BF04BD1AF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56" name="Graphique 155" descr="Utilisateur avec un remplissage uni">
                    <a:extLst>
                      <a:ext uri="{FF2B5EF4-FFF2-40B4-BE49-F238E27FC236}">
                        <a16:creationId xmlns:a16="http://schemas.microsoft.com/office/drawing/2014/main" id="{A8DF361A-21FA-7FDC-E3CD-831A740556B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57" name="Graphique 156" descr="Utilisateur avec un remplissage uni">
                    <a:extLst>
                      <a:ext uri="{FF2B5EF4-FFF2-40B4-BE49-F238E27FC236}">
                        <a16:creationId xmlns:a16="http://schemas.microsoft.com/office/drawing/2014/main" id="{A5BEA45A-42C1-FFBF-94ED-D0D545A4707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46" name="Graphique 145" descr="Boîte à archives avec un remplissage uni">
                  <a:extLst>
                    <a:ext uri="{FF2B5EF4-FFF2-40B4-BE49-F238E27FC236}">
                      <a16:creationId xmlns:a16="http://schemas.microsoft.com/office/drawing/2014/main" id="{F405E83A-DBE4-90C1-DFD0-1E4D01110F0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590796" y="1573442"/>
                  <a:ext cx="795089" cy="795090"/>
                </a:xfrm>
                <a:prstGeom prst="rect">
                  <a:avLst/>
                </a:prstGeom>
              </p:spPr>
            </p:pic>
          </p:grpSp>
          <p:pic>
            <p:nvPicPr>
              <p:cNvPr id="144" name="Graphique 143" descr="Verrou avec un remplissage uni">
                <a:extLst>
                  <a:ext uri="{FF2B5EF4-FFF2-40B4-BE49-F238E27FC236}">
                    <a16:creationId xmlns:a16="http://schemas.microsoft.com/office/drawing/2014/main" id="{8D408278-267D-C752-C581-E206DACDC5E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493236" y="4290370"/>
                <a:ext cx="466725" cy="466725"/>
              </a:xfrm>
              <a:prstGeom prst="rect">
                <a:avLst/>
              </a:prstGeom>
            </p:spPr>
          </p:pic>
        </p:grpSp>
        <p:grpSp>
          <p:nvGrpSpPr>
            <p:cNvPr id="158" name="Groupe 157">
              <a:extLst>
                <a:ext uri="{FF2B5EF4-FFF2-40B4-BE49-F238E27FC236}">
                  <a16:creationId xmlns:a16="http://schemas.microsoft.com/office/drawing/2014/main" id="{4346BC1D-D789-17CD-DE58-BEFD6CD8E981}"/>
                </a:ext>
              </a:extLst>
            </p:cNvPr>
            <p:cNvGrpSpPr/>
            <p:nvPr/>
          </p:nvGrpSpPr>
          <p:grpSpPr>
            <a:xfrm>
              <a:off x="1020666" y="3908140"/>
              <a:ext cx="1104068" cy="646669"/>
              <a:chOff x="1782492" y="4964291"/>
              <a:chExt cx="1314902" cy="770157"/>
            </a:xfrm>
          </p:grpSpPr>
          <p:grpSp>
            <p:nvGrpSpPr>
              <p:cNvPr id="159" name="Groupe 158">
                <a:extLst>
                  <a:ext uri="{FF2B5EF4-FFF2-40B4-BE49-F238E27FC236}">
                    <a16:creationId xmlns:a16="http://schemas.microsoft.com/office/drawing/2014/main" id="{51A2E2FC-3457-CE7C-2854-0BF42938E11B}"/>
                  </a:ext>
                </a:extLst>
              </p:cNvPr>
              <p:cNvGrpSpPr/>
              <p:nvPr/>
            </p:nvGrpSpPr>
            <p:grpSpPr>
              <a:xfrm>
                <a:off x="1782492" y="5088970"/>
                <a:ext cx="1314902" cy="645478"/>
                <a:chOff x="1797480" y="1339838"/>
                <a:chExt cx="2588405" cy="1270634"/>
              </a:xfrm>
            </p:grpSpPr>
            <p:grpSp>
              <p:nvGrpSpPr>
                <p:cNvPr id="161" name="Groupe 160">
                  <a:extLst>
                    <a:ext uri="{FF2B5EF4-FFF2-40B4-BE49-F238E27FC236}">
                      <a16:creationId xmlns:a16="http://schemas.microsoft.com/office/drawing/2014/main" id="{183A8716-1F8D-5C40-816D-233AE8D3342C}"/>
                    </a:ext>
                  </a:extLst>
                </p:cNvPr>
                <p:cNvGrpSpPr/>
                <p:nvPr/>
              </p:nvGrpSpPr>
              <p:grpSpPr>
                <a:xfrm>
                  <a:off x="1797480" y="1339838"/>
                  <a:ext cx="1507135" cy="1270634"/>
                  <a:chOff x="8982504" y="3274976"/>
                  <a:chExt cx="1230670" cy="1037553"/>
                </a:xfrm>
                <a:solidFill>
                  <a:srgbClr val="ED7D31"/>
                </a:solidFill>
              </p:grpSpPr>
              <p:pic>
                <p:nvPicPr>
                  <p:cNvPr id="163" name="Graphique 162" descr="Utilisateur avec un remplissage uni">
                    <a:extLst>
                      <a:ext uri="{FF2B5EF4-FFF2-40B4-BE49-F238E27FC236}">
                        <a16:creationId xmlns:a16="http://schemas.microsoft.com/office/drawing/2014/main" id="{A6B9F7F4-E58F-22CF-41E0-BCB6042EF0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64" name="Graphique 163" descr="Utilisateur avec un remplissage uni">
                    <a:extLst>
                      <a:ext uri="{FF2B5EF4-FFF2-40B4-BE49-F238E27FC236}">
                        <a16:creationId xmlns:a16="http://schemas.microsoft.com/office/drawing/2014/main" id="{103EFAA9-DED0-2DF8-4BC5-F05FA0A911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65" name="Graphique 164" descr="Utilisateur avec un remplissage uni">
                    <a:extLst>
                      <a:ext uri="{FF2B5EF4-FFF2-40B4-BE49-F238E27FC236}">
                        <a16:creationId xmlns:a16="http://schemas.microsoft.com/office/drawing/2014/main" id="{F39E1A3C-9BEF-2AFC-5076-4AF594E6C38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66" name="Graphique 165" descr="Utilisateur avec un remplissage uni">
                    <a:extLst>
                      <a:ext uri="{FF2B5EF4-FFF2-40B4-BE49-F238E27FC236}">
                        <a16:creationId xmlns:a16="http://schemas.microsoft.com/office/drawing/2014/main" id="{84343633-49E6-7B9F-ABE8-D19DB29BF74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67" name="Graphique 166" descr="Utilisateur avec un remplissage uni">
                    <a:extLst>
                      <a:ext uri="{FF2B5EF4-FFF2-40B4-BE49-F238E27FC236}">
                        <a16:creationId xmlns:a16="http://schemas.microsoft.com/office/drawing/2014/main" id="{B050891C-8045-4450-30B2-17D8707BEDC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68" name="Graphique 167" descr="Utilisateur avec un remplissage uni">
                    <a:extLst>
                      <a:ext uri="{FF2B5EF4-FFF2-40B4-BE49-F238E27FC236}">
                        <a16:creationId xmlns:a16="http://schemas.microsoft.com/office/drawing/2014/main" id="{287E5492-B945-B226-9D94-B986737C656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69" name="Graphique 168" descr="Utilisateur avec un remplissage uni">
                    <a:extLst>
                      <a:ext uri="{FF2B5EF4-FFF2-40B4-BE49-F238E27FC236}">
                        <a16:creationId xmlns:a16="http://schemas.microsoft.com/office/drawing/2014/main" id="{6D6333E7-1240-CCED-EE9B-2DA85C38F0C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70" name="Graphique 169" descr="Utilisateur avec un remplissage uni">
                    <a:extLst>
                      <a:ext uri="{FF2B5EF4-FFF2-40B4-BE49-F238E27FC236}">
                        <a16:creationId xmlns:a16="http://schemas.microsoft.com/office/drawing/2014/main" id="{D37F7303-B51D-C55A-9C45-ACBF7FF974F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71" name="Graphique 170" descr="Utilisateur avec un remplissage uni">
                    <a:extLst>
                      <a:ext uri="{FF2B5EF4-FFF2-40B4-BE49-F238E27FC236}">
                        <a16:creationId xmlns:a16="http://schemas.microsoft.com/office/drawing/2014/main" id="{6C9E8642-D991-2AE2-3CAE-BA471A39BA6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72" name="Graphique 171" descr="Utilisateur avec un remplissage uni">
                    <a:extLst>
                      <a:ext uri="{FF2B5EF4-FFF2-40B4-BE49-F238E27FC236}">
                        <a16:creationId xmlns:a16="http://schemas.microsoft.com/office/drawing/2014/main" id="{CF8B3F70-949E-789D-03D6-C84BFD6EBB9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73" name="Graphique 172" descr="Utilisateur avec un remplissage uni">
                    <a:extLst>
                      <a:ext uri="{FF2B5EF4-FFF2-40B4-BE49-F238E27FC236}">
                        <a16:creationId xmlns:a16="http://schemas.microsoft.com/office/drawing/2014/main" id="{D8056C49-8486-7068-D54E-311C3D97B0C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62" name="Graphique 161" descr="Boîte à archives avec un remplissage uni">
                  <a:extLst>
                    <a:ext uri="{FF2B5EF4-FFF2-40B4-BE49-F238E27FC236}">
                      <a16:creationId xmlns:a16="http://schemas.microsoft.com/office/drawing/2014/main" id="{92DB3A34-957B-01C3-3CAA-6DD6045CAA4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590796" y="1573442"/>
                  <a:ext cx="795089" cy="795090"/>
                </a:xfrm>
                <a:prstGeom prst="rect">
                  <a:avLst/>
                </a:prstGeom>
              </p:spPr>
            </p:pic>
          </p:grpSp>
          <p:pic>
            <p:nvPicPr>
              <p:cNvPr id="160" name="Graphique 159" descr="Verrou avec un remplissage uni">
                <a:extLst>
                  <a:ext uri="{FF2B5EF4-FFF2-40B4-BE49-F238E27FC236}">
                    <a16:creationId xmlns:a16="http://schemas.microsoft.com/office/drawing/2014/main" id="{CFE2D4FF-C8FB-8EF2-887C-0ABBEE0A2E6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293077" y="4964291"/>
                <a:ext cx="743725" cy="743725"/>
              </a:xfrm>
              <a:prstGeom prst="rect">
                <a:avLst/>
              </a:prstGeom>
            </p:spPr>
          </p:pic>
        </p:grpSp>
        <p:grpSp>
          <p:nvGrpSpPr>
            <p:cNvPr id="174" name="Groupe 173">
              <a:extLst>
                <a:ext uri="{FF2B5EF4-FFF2-40B4-BE49-F238E27FC236}">
                  <a16:creationId xmlns:a16="http://schemas.microsoft.com/office/drawing/2014/main" id="{15213990-315C-8E1E-5478-A08D0EFF1AB0}"/>
                </a:ext>
              </a:extLst>
            </p:cNvPr>
            <p:cNvGrpSpPr/>
            <p:nvPr/>
          </p:nvGrpSpPr>
          <p:grpSpPr>
            <a:xfrm>
              <a:off x="1007610" y="6145797"/>
              <a:ext cx="1123328" cy="541981"/>
              <a:chOff x="1804205" y="5917781"/>
              <a:chExt cx="1337840" cy="645478"/>
            </a:xfrm>
          </p:grpSpPr>
          <p:grpSp>
            <p:nvGrpSpPr>
              <p:cNvPr id="175" name="Groupe 174">
                <a:extLst>
                  <a:ext uri="{FF2B5EF4-FFF2-40B4-BE49-F238E27FC236}">
                    <a16:creationId xmlns:a16="http://schemas.microsoft.com/office/drawing/2014/main" id="{E2CCD889-6624-E8F1-01DB-FB866D91E4FC}"/>
                  </a:ext>
                </a:extLst>
              </p:cNvPr>
              <p:cNvGrpSpPr/>
              <p:nvPr/>
            </p:nvGrpSpPr>
            <p:grpSpPr>
              <a:xfrm>
                <a:off x="1804205" y="5917781"/>
                <a:ext cx="1314902" cy="645478"/>
                <a:chOff x="1797480" y="1339838"/>
                <a:chExt cx="2588405" cy="1270634"/>
              </a:xfrm>
            </p:grpSpPr>
            <p:grpSp>
              <p:nvGrpSpPr>
                <p:cNvPr id="177" name="Groupe 176">
                  <a:extLst>
                    <a:ext uri="{FF2B5EF4-FFF2-40B4-BE49-F238E27FC236}">
                      <a16:creationId xmlns:a16="http://schemas.microsoft.com/office/drawing/2014/main" id="{04982C7C-EEBE-2A25-AAFC-4ED49CA05702}"/>
                    </a:ext>
                  </a:extLst>
                </p:cNvPr>
                <p:cNvGrpSpPr/>
                <p:nvPr/>
              </p:nvGrpSpPr>
              <p:grpSpPr>
                <a:xfrm>
                  <a:off x="1797480" y="1339838"/>
                  <a:ext cx="1507135" cy="1270634"/>
                  <a:chOff x="8982504" y="3274976"/>
                  <a:chExt cx="1230670" cy="1037553"/>
                </a:xfrm>
                <a:solidFill>
                  <a:srgbClr val="ED7D31"/>
                </a:solidFill>
              </p:grpSpPr>
              <p:pic>
                <p:nvPicPr>
                  <p:cNvPr id="179" name="Graphique 178" descr="Utilisateur avec un remplissage uni">
                    <a:extLst>
                      <a:ext uri="{FF2B5EF4-FFF2-40B4-BE49-F238E27FC236}">
                        <a16:creationId xmlns:a16="http://schemas.microsoft.com/office/drawing/2014/main" id="{7A439E10-862B-0926-D99B-129A7A819FA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80" name="Graphique 179" descr="Utilisateur avec un remplissage uni">
                    <a:extLst>
                      <a:ext uri="{FF2B5EF4-FFF2-40B4-BE49-F238E27FC236}">
                        <a16:creationId xmlns:a16="http://schemas.microsoft.com/office/drawing/2014/main" id="{B3B6C31B-8F31-1C7B-8A6F-D74DE673E11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81" name="Graphique 180" descr="Utilisateur avec un remplissage uni">
                    <a:extLst>
                      <a:ext uri="{FF2B5EF4-FFF2-40B4-BE49-F238E27FC236}">
                        <a16:creationId xmlns:a16="http://schemas.microsoft.com/office/drawing/2014/main" id="{6D328606-24DE-5A14-BB98-C0654CBB85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82" name="Graphique 181" descr="Utilisateur avec un remplissage uni">
                    <a:extLst>
                      <a:ext uri="{FF2B5EF4-FFF2-40B4-BE49-F238E27FC236}">
                        <a16:creationId xmlns:a16="http://schemas.microsoft.com/office/drawing/2014/main" id="{19D019E2-A755-3D57-5D52-3E2A3BBCD38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83" name="Graphique 182" descr="Utilisateur avec un remplissage uni">
                    <a:extLst>
                      <a:ext uri="{FF2B5EF4-FFF2-40B4-BE49-F238E27FC236}">
                        <a16:creationId xmlns:a16="http://schemas.microsoft.com/office/drawing/2014/main" id="{65BD2B74-2AA3-56F8-35A8-5F9FF010B07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184" name="Graphique 183" descr="Utilisateur avec un remplissage uni">
                    <a:extLst>
                      <a:ext uri="{FF2B5EF4-FFF2-40B4-BE49-F238E27FC236}">
                        <a16:creationId xmlns:a16="http://schemas.microsoft.com/office/drawing/2014/main" id="{1EA59C5A-50FE-CA9E-CBB0-52BFCBF88AB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185" name="Graphique 184" descr="Utilisateur avec un remplissage uni">
                    <a:extLst>
                      <a:ext uri="{FF2B5EF4-FFF2-40B4-BE49-F238E27FC236}">
                        <a16:creationId xmlns:a16="http://schemas.microsoft.com/office/drawing/2014/main" id="{2F6409A6-16A2-4FD8-00DE-5390368CC2D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186" name="Graphique 185" descr="Utilisateur avec un remplissage uni">
                    <a:extLst>
                      <a:ext uri="{FF2B5EF4-FFF2-40B4-BE49-F238E27FC236}">
                        <a16:creationId xmlns:a16="http://schemas.microsoft.com/office/drawing/2014/main" id="{BEBCE3C3-0784-10EE-5495-2404AD5F5DE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187" name="Graphique 186" descr="Utilisateur avec un remplissage uni">
                    <a:extLst>
                      <a:ext uri="{FF2B5EF4-FFF2-40B4-BE49-F238E27FC236}">
                        <a16:creationId xmlns:a16="http://schemas.microsoft.com/office/drawing/2014/main" id="{8219943F-F59B-9F27-6937-CDF79968DD3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188" name="Graphique 187" descr="Utilisateur avec un remplissage uni">
                    <a:extLst>
                      <a:ext uri="{FF2B5EF4-FFF2-40B4-BE49-F238E27FC236}">
                        <a16:creationId xmlns:a16="http://schemas.microsoft.com/office/drawing/2014/main" id="{8034E019-FC31-3F60-9ED5-A33BC012B0A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189" name="Graphique 188" descr="Utilisateur avec un remplissage uni">
                    <a:extLst>
                      <a:ext uri="{FF2B5EF4-FFF2-40B4-BE49-F238E27FC236}">
                        <a16:creationId xmlns:a16="http://schemas.microsoft.com/office/drawing/2014/main" id="{4B4E9721-81F3-FAB5-5A8B-19A370B4076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78" name="Graphique 177" descr="Boîte à archives avec un remplissage uni">
                  <a:extLst>
                    <a:ext uri="{FF2B5EF4-FFF2-40B4-BE49-F238E27FC236}">
                      <a16:creationId xmlns:a16="http://schemas.microsoft.com/office/drawing/2014/main" id="{46FF9A12-3CE1-36B8-907E-CB95AD6129F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590796" y="1573442"/>
                  <a:ext cx="795089" cy="795090"/>
                </a:xfrm>
                <a:prstGeom prst="rect">
                  <a:avLst/>
                </a:prstGeom>
              </p:spPr>
            </p:pic>
          </p:grpSp>
          <p:pic>
            <p:nvPicPr>
              <p:cNvPr id="176" name="Graphique 175" descr="Fermer avec un remplissage uni">
                <a:extLst>
                  <a:ext uri="{FF2B5EF4-FFF2-40B4-BE49-F238E27FC236}">
                    <a16:creationId xmlns:a16="http://schemas.microsoft.com/office/drawing/2014/main" id="{3CB870FA-38CE-E1BF-BB0E-C055676D681B}"/>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668633" y="5995180"/>
                <a:ext cx="473412" cy="473412"/>
              </a:xfrm>
              <a:prstGeom prst="rect">
                <a:avLst/>
              </a:prstGeom>
            </p:spPr>
          </p:pic>
        </p:grpSp>
        <p:grpSp>
          <p:nvGrpSpPr>
            <p:cNvPr id="190" name="Groupe 189">
              <a:extLst>
                <a:ext uri="{FF2B5EF4-FFF2-40B4-BE49-F238E27FC236}">
                  <a16:creationId xmlns:a16="http://schemas.microsoft.com/office/drawing/2014/main" id="{E2DFE3DC-5000-74DF-481B-B04A2AA7171E}"/>
                </a:ext>
              </a:extLst>
            </p:cNvPr>
            <p:cNvGrpSpPr/>
            <p:nvPr/>
          </p:nvGrpSpPr>
          <p:grpSpPr>
            <a:xfrm>
              <a:off x="1013177" y="4705472"/>
              <a:ext cx="1104068" cy="541981"/>
              <a:chOff x="1775004" y="5236420"/>
              <a:chExt cx="1104068" cy="541981"/>
            </a:xfrm>
          </p:grpSpPr>
          <p:grpSp>
            <p:nvGrpSpPr>
              <p:cNvPr id="191" name="Groupe 190">
                <a:extLst>
                  <a:ext uri="{FF2B5EF4-FFF2-40B4-BE49-F238E27FC236}">
                    <a16:creationId xmlns:a16="http://schemas.microsoft.com/office/drawing/2014/main" id="{536F50DF-7F12-FA6A-2298-74E7496B68C0}"/>
                  </a:ext>
                </a:extLst>
              </p:cNvPr>
              <p:cNvGrpSpPr/>
              <p:nvPr/>
            </p:nvGrpSpPr>
            <p:grpSpPr>
              <a:xfrm>
                <a:off x="1775004" y="5236420"/>
                <a:ext cx="1104068" cy="541981"/>
                <a:chOff x="1797480" y="1339838"/>
                <a:chExt cx="2588405" cy="1270634"/>
              </a:xfrm>
            </p:grpSpPr>
            <p:grpSp>
              <p:nvGrpSpPr>
                <p:cNvPr id="193" name="Groupe 192">
                  <a:extLst>
                    <a:ext uri="{FF2B5EF4-FFF2-40B4-BE49-F238E27FC236}">
                      <a16:creationId xmlns:a16="http://schemas.microsoft.com/office/drawing/2014/main" id="{70913C03-9C56-C18E-36DB-DA2213BB9F7D}"/>
                    </a:ext>
                  </a:extLst>
                </p:cNvPr>
                <p:cNvGrpSpPr/>
                <p:nvPr/>
              </p:nvGrpSpPr>
              <p:grpSpPr>
                <a:xfrm>
                  <a:off x="1797480" y="1339838"/>
                  <a:ext cx="1507135" cy="1270634"/>
                  <a:chOff x="8982504" y="3274976"/>
                  <a:chExt cx="1230670" cy="1037553"/>
                </a:xfrm>
                <a:solidFill>
                  <a:srgbClr val="ED7D31"/>
                </a:solidFill>
              </p:grpSpPr>
              <p:pic>
                <p:nvPicPr>
                  <p:cNvPr id="195" name="Graphique 194" descr="Utilisateur avec un remplissage uni">
                    <a:extLst>
                      <a:ext uri="{FF2B5EF4-FFF2-40B4-BE49-F238E27FC236}">
                        <a16:creationId xmlns:a16="http://schemas.microsoft.com/office/drawing/2014/main" id="{1A792F5F-DECB-AE8D-B393-B1CF7256912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01028" y="3274976"/>
                    <a:ext cx="336064" cy="336064"/>
                  </a:xfrm>
                  <a:prstGeom prst="rect">
                    <a:avLst/>
                  </a:prstGeom>
                </p:spPr>
              </p:pic>
              <p:pic>
                <p:nvPicPr>
                  <p:cNvPr id="196" name="Graphique 195" descr="Utilisateur avec un remplissage uni">
                    <a:extLst>
                      <a:ext uri="{FF2B5EF4-FFF2-40B4-BE49-F238E27FC236}">
                        <a16:creationId xmlns:a16="http://schemas.microsoft.com/office/drawing/2014/main" id="{4E51F12E-307F-D985-9D55-0699BB2F695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54140" y="3512720"/>
                    <a:ext cx="336064" cy="336064"/>
                  </a:xfrm>
                  <a:prstGeom prst="rect">
                    <a:avLst/>
                  </a:prstGeom>
                </p:spPr>
              </p:pic>
              <p:pic>
                <p:nvPicPr>
                  <p:cNvPr id="197" name="Graphique 196" descr="Utilisateur avec un remplissage uni">
                    <a:extLst>
                      <a:ext uri="{FF2B5EF4-FFF2-40B4-BE49-F238E27FC236}">
                        <a16:creationId xmlns:a16="http://schemas.microsoft.com/office/drawing/2014/main" id="{33B8A215-E1DE-3323-DA8B-66906C85C88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345616" y="3561880"/>
                    <a:ext cx="336064" cy="336064"/>
                  </a:xfrm>
                  <a:prstGeom prst="rect">
                    <a:avLst/>
                  </a:prstGeom>
                </p:spPr>
              </p:pic>
              <p:pic>
                <p:nvPicPr>
                  <p:cNvPr id="198" name="Graphique 197" descr="Utilisateur avec un remplissage uni">
                    <a:extLst>
                      <a:ext uri="{FF2B5EF4-FFF2-40B4-BE49-F238E27FC236}">
                        <a16:creationId xmlns:a16="http://schemas.microsoft.com/office/drawing/2014/main" id="{2BF73653-DE82-7057-BBA8-983902A93EF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92504" y="3418428"/>
                    <a:ext cx="336064" cy="336064"/>
                  </a:xfrm>
                  <a:prstGeom prst="rect">
                    <a:avLst/>
                  </a:prstGeom>
                </p:spPr>
              </p:pic>
              <p:pic>
                <p:nvPicPr>
                  <p:cNvPr id="199" name="Graphique 198" descr="Utilisateur avec un remplissage uni">
                    <a:extLst>
                      <a:ext uri="{FF2B5EF4-FFF2-40B4-BE49-F238E27FC236}">
                        <a16:creationId xmlns:a16="http://schemas.microsoft.com/office/drawing/2014/main" id="{A3DC5F0F-09FF-BF17-851B-A4A7A7BED2D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35196" y="3680752"/>
                    <a:ext cx="336064" cy="336064"/>
                  </a:xfrm>
                  <a:prstGeom prst="rect">
                    <a:avLst/>
                  </a:prstGeom>
                </p:spPr>
              </p:pic>
              <p:pic>
                <p:nvPicPr>
                  <p:cNvPr id="200" name="Graphique 199" descr="Utilisateur avec un remplissage uni">
                    <a:extLst>
                      <a:ext uri="{FF2B5EF4-FFF2-40B4-BE49-F238E27FC236}">
                        <a16:creationId xmlns:a16="http://schemas.microsoft.com/office/drawing/2014/main" id="{5E6112EC-DB61-02E4-02B0-6C87ACAAC3C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56440" y="3848784"/>
                    <a:ext cx="336064" cy="336064"/>
                  </a:xfrm>
                  <a:prstGeom prst="rect">
                    <a:avLst/>
                  </a:prstGeom>
                </p:spPr>
              </p:pic>
              <p:pic>
                <p:nvPicPr>
                  <p:cNvPr id="201" name="Graphique 200" descr="Utilisateur avec un remplissage uni">
                    <a:extLst>
                      <a:ext uri="{FF2B5EF4-FFF2-40B4-BE49-F238E27FC236}">
                        <a16:creationId xmlns:a16="http://schemas.microsoft.com/office/drawing/2014/main" id="{F3F6226F-C40A-62CD-35FD-E452CD4CB80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982504" y="3835028"/>
                    <a:ext cx="336064" cy="336064"/>
                  </a:xfrm>
                  <a:prstGeom prst="rect">
                    <a:avLst/>
                  </a:prstGeom>
                </p:spPr>
              </p:pic>
              <p:pic>
                <p:nvPicPr>
                  <p:cNvPr id="202" name="Graphique 201" descr="Utilisateur avec un remplissage uni">
                    <a:extLst>
                      <a:ext uri="{FF2B5EF4-FFF2-40B4-BE49-F238E27FC236}">
                        <a16:creationId xmlns:a16="http://schemas.microsoft.com/office/drawing/2014/main" id="{B5296262-E48F-E412-D648-6AE34ED41D2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20868" y="3943076"/>
                    <a:ext cx="336064" cy="336064"/>
                  </a:xfrm>
                  <a:prstGeom prst="rect">
                    <a:avLst/>
                  </a:prstGeom>
                </p:spPr>
              </p:pic>
              <p:pic>
                <p:nvPicPr>
                  <p:cNvPr id="203" name="Graphique 202" descr="Utilisateur avec un remplissage uni">
                    <a:extLst>
                      <a:ext uri="{FF2B5EF4-FFF2-40B4-BE49-F238E27FC236}">
                        <a16:creationId xmlns:a16="http://schemas.microsoft.com/office/drawing/2014/main" id="{6988945F-F904-7794-36B2-899233184CB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2772" y="3976465"/>
                    <a:ext cx="336064" cy="336064"/>
                  </a:xfrm>
                  <a:prstGeom prst="rect">
                    <a:avLst/>
                  </a:prstGeom>
                </p:spPr>
              </p:pic>
              <p:pic>
                <p:nvPicPr>
                  <p:cNvPr id="204" name="Graphique 203" descr="Utilisateur avec un remplissage uni">
                    <a:extLst>
                      <a:ext uri="{FF2B5EF4-FFF2-40B4-BE49-F238E27FC236}">
                        <a16:creationId xmlns:a16="http://schemas.microsoft.com/office/drawing/2014/main" id="{6DED6733-3FF8-B4B5-7339-BE485715841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77110" y="3705332"/>
                    <a:ext cx="336064" cy="336064"/>
                  </a:xfrm>
                  <a:prstGeom prst="rect">
                    <a:avLst/>
                  </a:prstGeom>
                </p:spPr>
              </p:pic>
              <p:pic>
                <p:nvPicPr>
                  <p:cNvPr id="205" name="Graphique 204" descr="Utilisateur avec un remplissage uni">
                    <a:extLst>
                      <a:ext uri="{FF2B5EF4-FFF2-40B4-BE49-F238E27FC236}">
                        <a16:creationId xmlns:a16="http://schemas.microsoft.com/office/drawing/2014/main" id="{334682CC-BE6A-91C0-C58C-5DD66C66F13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856932" y="3429000"/>
                    <a:ext cx="336064" cy="336064"/>
                  </a:xfrm>
                  <a:prstGeom prst="rect">
                    <a:avLst/>
                  </a:prstGeom>
                </p:spPr>
              </p:pic>
            </p:grpSp>
            <p:pic>
              <p:nvPicPr>
                <p:cNvPr id="194" name="Graphique 193" descr="Boîte à archives avec un remplissage uni">
                  <a:extLst>
                    <a:ext uri="{FF2B5EF4-FFF2-40B4-BE49-F238E27FC236}">
                      <a16:creationId xmlns:a16="http://schemas.microsoft.com/office/drawing/2014/main" id="{14A62B46-EE3B-CE31-7BF8-B90685F7B1D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590796" y="1573442"/>
                  <a:ext cx="795089" cy="795090"/>
                </a:xfrm>
                <a:prstGeom prst="rect">
                  <a:avLst/>
                </a:prstGeom>
              </p:spPr>
            </p:pic>
          </p:grpSp>
          <p:pic>
            <p:nvPicPr>
              <p:cNvPr id="192" name="Graphique 191" descr="Point d’interrogation avec un remplissage uni">
                <a:extLst>
                  <a:ext uri="{FF2B5EF4-FFF2-40B4-BE49-F238E27FC236}">
                    <a16:creationId xmlns:a16="http://schemas.microsoft.com/office/drawing/2014/main" id="{07E65EEB-783B-5FBF-AA0F-14DD8811E06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2537302" y="5319965"/>
                <a:ext cx="332767" cy="332767"/>
              </a:xfrm>
              <a:prstGeom prst="rect">
                <a:avLst/>
              </a:prstGeom>
            </p:spPr>
          </p:pic>
        </p:grpSp>
        <p:grpSp>
          <p:nvGrpSpPr>
            <p:cNvPr id="238" name="Groupe 237">
              <a:extLst>
                <a:ext uri="{FF2B5EF4-FFF2-40B4-BE49-F238E27FC236}">
                  <a16:creationId xmlns:a16="http://schemas.microsoft.com/office/drawing/2014/main" id="{AD636271-10E4-C2A3-E209-C8C21DE31ABA}"/>
                </a:ext>
              </a:extLst>
            </p:cNvPr>
            <p:cNvGrpSpPr/>
            <p:nvPr/>
          </p:nvGrpSpPr>
          <p:grpSpPr>
            <a:xfrm>
              <a:off x="2493066" y="5375712"/>
              <a:ext cx="9598525" cy="695076"/>
              <a:chOff x="363244" y="1304631"/>
              <a:chExt cx="11603415" cy="840262"/>
            </a:xfrm>
          </p:grpSpPr>
          <p:grpSp>
            <p:nvGrpSpPr>
              <p:cNvPr id="240" name="Groupe 239">
                <a:extLst>
                  <a:ext uri="{FF2B5EF4-FFF2-40B4-BE49-F238E27FC236}">
                    <a16:creationId xmlns:a16="http://schemas.microsoft.com/office/drawing/2014/main" id="{367F7E51-9450-3400-B6B4-4676F5F1C539}"/>
                  </a:ext>
                </a:extLst>
              </p:cNvPr>
              <p:cNvGrpSpPr/>
              <p:nvPr/>
            </p:nvGrpSpPr>
            <p:grpSpPr>
              <a:xfrm>
                <a:off x="2776447" y="1327063"/>
                <a:ext cx="1274604" cy="803509"/>
                <a:chOff x="6804504" y="2072289"/>
                <a:chExt cx="1274604" cy="803509"/>
              </a:xfrm>
            </p:grpSpPr>
            <p:sp>
              <p:nvSpPr>
                <p:cNvPr id="273" name="ZoneTexte 272">
                  <a:extLst>
                    <a:ext uri="{FF2B5EF4-FFF2-40B4-BE49-F238E27FC236}">
                      <a16:creationId xmlns:a16="http://schemas.microsoft.com/office/drawing/2014/main" id="{2E733B68-006B-6CFC-A206-E03AB41EDC9F}"/>
                    </a:ext>
                  </a:extLst>
                </p:cNvPr>
                <p:cNvSpPr txBox="1"/>
                <p:nvPr/>
              </p:nvSpPr>
              <p:spPr>
                <a:xfrm>
                  <a:off x="6804504" y="2603019"/>
                  <a:ext cx="1274604" cy="272779"/>
                </a:xfrm>
                <a:prstGeom prst="rect">
                  <a:avLst/>
                </a:prstGeom>
                <a:noFill/>
              </p:spPr>
              <p:txBody>
                <a:bodyPr wrap="square">
                  <a:spAutoFit/>
                </a:bodyPr>
                <a:lstStyle/>
                <a:p>
                  <a:pPr algn="ctr"/>
                  <a:r>
                    <a:rPr lang="fr-FR" sz="900" dirty="0"/>
                    <a:t>Outils</a:t>
                  </a:r>
                </a:p>
              </p:txBody>
            </p:sp>
            <p:pic>
              <p:nvPicPr>
                <p:cNvPr id="274" name="Graphique 273" descr="Chat avec un remplissage uni">
                  <a:extLst>
                    <a:ext uri="{FF2B5EF4-FFF2-40B4-BE49-F238E27FC236}">
                      <a16:creationId xmlns:a16="http://schemas.microsoft.com/office/drawing/2014/main" id="{6D5E2E4C-1B49-3C08-805A-0ED3385AB980}"/>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213206" y="2072289"/>
                  <a:ext cx="457200" cy="457200"/>
                </a:xfrm>
                <a:prstGeom prst="rect">
                  <a:avLst/>
                </a:prstGeom>
              </p:spPr>
            </p:pic>
          </p:grpSp>
          <p:grpSp>
            <p:nvGrpSpPr>
              <p:cNvPr id="242" name="Groupe 241">
                <a:extLst>
                  <a:ext uri="{FF2B5EF4-FFF2-40B4-BE49-F238E27FC236}">
                    <a16:creationId xmlns:a16="http://schemas.microsoft.com/office/drawing/2014/main" id="{35690C9E-3C29-9B11-883C-89205F606181}"/>
                  </a:ext>
                </a:extLst>
              </p:cNvPr>
              <p:cNvGrpSpPr/>
              <p:nvPr/>
            </p:nvGrpSpPr>
            <p:grpSpPr>
              <a:xfrm>
                <a:off x="5213379" y="1327063"/>
                <a:ext cx="1032426" cy="803509"/>
                <a:chOff x="5551821" y="2072289"/>
                <a:chExt cx="1032426" cy="803509"/>
              </a:xfrm>
            </p:grpSpPr>
            <p:sp>
              <p:nvSpPr>
                <p:cNvPr id="271" name="ZoneTexte 270">
                  <a:extLst>
                    <a:ext uri="{FF2B5EF4-FFF2-40B4-BE49-F238E27FC236}">
                      <a16:creationId xmlns:a16="http://schemas.microsoft.com/office/drawing/2014/main" id="{1DD9D306-B948-E164-7819-5FCA5093B711}"/>
                    </a:ext>
                  </a:extLst>
                </p:cNvPr>
                <p:cNvSpPr txBox="1"/>
                <p:nvPr/>
              </p:nvSpPr>
              <p:spPr>
                <a:xfrm>
                  <a:off x="5551821" y="2603019"/>
                  <a:ext cx="1032426" cy="272779"/>
                </a:xfrm>
                <a:prstGeom prst="rect">
                  <a:avLst/>
                </a:prstGeom>
                <a:noFill/>
              </p:spPr>
              <p:txBody>
                <a:bodyPr wrap="square">
                  <a:spAutoFit/>
                </a:bodyPr>
                <a:lstStyle/>
                <a:p>
                  <a:pPr algn="ctr"/>
                  <a:r>
                    <a:rPr lang="fr-FR" sz="900" dirty="0"/>
                    <a:t>Disponibilité</a:t>
                  </a:r>
                </a:p>
              </p:txBody>
            </p:sp>
            <p:pic>
              <p:nvPicPr>
                <p:cNvPr id="272" name="Graphique 271" descr="Sablier 60% avec un remplissage uni">
                  <a:extLst>
                    <a:ext uri="{FF2B5EF4-FFF2-40B4-BE49-F238E27FC236}">
                      <a16:creationId xmlns:a16="http://schemas.microsoft.com/office/drawing/2014/main" id="{B34F6221-9CCF-A33C-9480-C3AD0D135AB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847251" y="2072289"/>
                  <a:ext cx="457200" cy="457200"/>
                </a:xfrm>
                <a:prstGeom prst="rect">
                  <a:avLst/>
                </a:prstGeom>
              </p:spPr>
            </p:pic>
          </p:grpSp>
          <p:grpSp>
            <p:nvGrpSpPr>
              <p:cNvPr id="244" name="Groupe 243">
                <a:extLst>
                  <a:ext uri="{FF2B5EF4-FFF2-40B4-BE49-F238E27FC236}">
                    <a16:creationId xmlns:a16="http://schemas.microsoft.com/office/drawing/2014/main" id="{848A497A-2205-3099-B925-C4E4F70F92CC}"/>
                  </a:ext>
                </a:extLst>
              </p:cNvPr>
              <p:cNvGrpSpPr/>
              <p:nvPr/>
            </p:nvGrpSpPr>
            <p:grpSpPr>
              <a:xfrm>
                <a:off x="8728205" y="1319376"/>
                <a:ext cx="1032426" cy="803509"/>
                <a:chOff x="4204166" y="2072289"/>
                <a:chExt cx="1032426" cy="803509"/>
              </a:xfrm>
            </p:grpSpPr>
            <p:sp>
              <p:nvSpPr>
                <p:cNvPr id="269" name="ZoneTexte 268">
                  <a:extLst>
                    <a:ext uri="{FF2B5EF4-FFF2-40B4-BE49-F238E27FC236}">
                      <a16:creationId xmlns:a16="http://schemas.microsoft.com/office/drawing/2014/main" id="{9890C381-1EC5-742E-DA51-815A71F9D03D}"/>
                    </a:ext>
                  </a:extLst>
                </p:cNvPr>
                <p:cNvSpPr txBox="1"/>
                <p:nvPr/>
              </p:nvSpPr>
              <p:spPr>
                <a:xfrm>
                  <a:off x="4204166" y="2603019"/>
                  <a:ext cx="1032426" cy="272779"/>
                </a:xfrm>
                <a:prstGeom prst="rect">
                  <a:avLst/>
                </a:prstGeom>
                <a:noFill/>
              </p:spPr>
              <p:txBody>
                <a:bodyPr wrap="square">
                  <a:spAutoFit/>
                </a:bodyPr>
                <a:lstStyle/>
                <a:p>
                  <a:pPr algn="ctr"/>
                  <a:r>
                    <a:rPr lang="fr-FR" sz="900" dirty="0"/>
                    <a:t>Motivations</a:t>
                  </a:r>
                </a:p>
              </p:txBody>
            </p:sp>
            <p:pic>
              <p:nvPicPr>
                <p:cNvPr id="270" name="Graphique 269" descr="Flèches de chevron avec un remplissage uni">
                  <a:extLst>
                    <a:ext uri="{FF2B5EF4-FFF2-40B4-BE49-F238E27FC236}">
                      <a16:creationId xmlns:a16="http://schemas.microsoft.com/office/drawing/2014/main" id="{7093539A-7CDB-512A-CAB8-D5D20049C376}"/>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491779" y="2072289"/>
                  <a:ext cx="457200" cy="457200"/>
                </a:xfrm>
                <a:prstGeom prst="rect">
                  <a:avLst/>
                </a:prstGeom>
              </p:spPr>
            </p:pic>
          </p:grpSp>
          <p:grpSp>
            <p:nvGrpSpPr>
              <p:cNvPr id="246" name="Groupe 245">
                <a:extLst>
                  <a:ext uri="{FF2B5EF4-FFF2-40B4-BE49-F238E27FC236}">
                    <a16:creationId xmlns:a16="http://schemas.microsoft.com/office/drawing/2014/main" id="{2D1F3E7B-767F-56D8-1FDC-D1D5965A701B}"/>
                  </a:ext>
                </a:extLst>
              </p:cNvPr>
              <p:cNvGrpSpPr/>
              <p:nvPr/>
            </p:nvGrpSpPr>
            <p:grpSpPr>
              <a:xfrm>
                <a:off x="6379681" y="1319376"/>
                <a:ext cx="1032426" cy="803509"/>
                <a:chOff x="2428298" y="2091339"/>
                <a:chExt cx="1032426" cy="803509"/>
              </a:xfrm>
            </p:grpSpPr>
            <p:sp>
              <p:nvSpPr>
                <p:cNvPr id="267" name="ZoneTexte 266">
                  <a:extLst>
                    <a:ext uri="{FF2B5EF4-FFF2-40B4-BE49-F238E27FC236}">
                      <a16:creationId xmlns:a16="http://schemas.microsoft.com/office/drawing/2014/main" id="{FE2D0AD7-E841-9C0F-72CA-1E859B1AA5DF}"/>
                    </a:ext>
                  </a:extLst>
                </p:cNvPr>
                <p:cNvSpPr txBox="1"/>
                <p:nvPr/>
              </p:nvSpPr>
              <p:spPr>
                <a:xfrm>
                  <a:off x="2428298" y="2622069"/>
                  <a:ext cx="1032426" cy="272779"/>
                </a:xfrm>
                <a:prstGeom prst="rect">
                  <a:avLst/>
                </a:prstGeom>
                <a:noFill/>
              </p:spPr>
              <p:txBody>
                <a:bodyPr wrap="square">
                  <a:spAutoFit/>
                </a:bodyPr>
                <a:lstStyle/>
                <a:p>
                  <a:pPr algn="ctr"/>
                  <a:r>
                    <a:rPr lang="fr-FR" sz="900" dirty="0"/>
                    <a:t>Compétences</a:t>
                  </a:r>
                </a:p>
              </p:txBody>
            </p:sp>
            <p:pic>
              <p:nvPicPr>
                <p:cNvPr id="268" name="Graphique 267" descr="Tête avec engrenages avec un remplissage uni">
                  <a:extLst>
                    <a:ext uri="{FF2B5EF4-FFF2-40B4-BE49-F238E27FC236}">
                      <a16:creationId xmlns:a16="http://schemas.microsoft.com/office/drawing/2014/main" id="{F359F596-7AE2-0C20-E23B-7217161B4C67}"/>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2732130" y="2091339"/>
                  <a:ext cx="457200" cy="457200"/>
                </a:xfrm>
                <a:prstGeom prst="rect">
                  <a:avLst/>
                </a:prstGeom>
              </p:spPr>
            </p:pic>
          </p:grpSp>
          <p:grpSp>
            <p:nvGrpSpPr>
              <p:cNvPr id="248" name="Groupe 247">
                <a:extLst>
                  <a:ext uri="{FF2B5EF4-FFF2-40B4-BE49-F238E27FC236}">
                    <a16:creationId xmlns:a16="http://schemas.microsoft.com/office/drawing/2014/main" id="{9C646510-C606-5368-E69E-7FE9BFBCD3E6}"/>
                  </a:ext>
                </a:extLst>
              </p:cNvPr>
              <p:cNvGrpSpPr/>
              <p:nvPr/>
            </p:nvGrpSpPr>
            <p:grpSpPr>
              <a:xfrm>
                <a:off x="1816849" y="1329133"/>
                <a:ext cx="754455" cy="803509"/>
                <a:chOff x="236639" y="2072289"/>
                <a:chExt cx="754455" cy="803509"/>
              </a:xfrm>
            </p:grpSpPr>
            <p:sp>
              <p:nvSpPr>
                <p:cNvPr id="265" name="ZoneTexte 264">
                  <a:extLst>
                    <a:ext uri="{FF2B5EF4-FFF2-40B4-BE49-F238E27FC236}">
                      <a16:creationId xmlns:a16="http://schemas.microsoft.com/office/drawing/2014/main" id="{AC416C18-5047-EFB5-9673-5413EF139540}"/>
                    </a:ext>
                  </a:extLst>
                </p:cNvPr>
                <p:cNvSpPr txBox="1"/>
                <p:nvPr/>
              </p:nvSpPr>
              <p:spPr>
                <a:xfrm>
                  <a:off x="236639" y="2603019"/>
                  <a:ext cx="754455" cy="272779"/>
                </a:xfrm>
                <a:prstGeom prst="rect">
                  <a:avLst/>
                </a:prstGeom>
                <a:noFill/>
              </p:spPr>
              <p:txBody>
                <a:bodyPr wrap="square">
                  <a:spAutoFit/>
                </a:bodyPr>
                <a:lstStyle/>
                <a:p>
                  <a:pPr algn="ctr"/>
                  <a:r>
                    <a:rPr lang="fr-FR" sz="900" dirty="0"/>
                    <a:t>Matériel</a:t>
                  </a:r>
                </a:p>
              </p:txBody>
            </p:sp>
            <p:pic>
              <p:nvPicPr>
                <p:cNvPr id="266" name="Graphique 265" descr="Diable avec un remplissage uni">
                  <a:extLst>
                    <a:ext uri="{FF2B5EF4-FFF2-40B4-BE49-F238E27FC236}">
                      <a16:creationId xmlns:a16="http://schemas.microsoft.com/office/drawing/2014/main" id="{C40EFC58-1DC2-7144-E220-4312B282A461}"/>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366612" y="2072289"/>
                  <a:ext cx="457200" cy="457200"/>
                </a:xfrm>
                <a:prstGeom prst="rect">
                  <a:avLst/>
                </a:prstGeom>
              </p:spPr>
            </p:pic>
          </p:grpSp>
          <p:grpSp>
            <p:nvGrpSpPr>
              <p:cNvPr id="250" name="Groupe 249">
                <a:extLst>
                  <a:ext uri="{FF2B5EF4-FFF2-40B4-BE49-F238E27FC236}">
                    <a16:creationId xmlns:a16="http://schemas.microsoft.com/office/drawing/2014/main" id="{43BE3778-A066-7163-36FE-87081C2D90ED}"/>
                  </a:ext>
                </a:extLst>
              </p:cNvPr>
              <p:cNvGrpSpPr/>
              <p:nvPr/>
            </p:nvGrpSpPr>
            <p:grpSpPr>
              <a:xfrm>
                <a:off x="7339961" y="1323986"/>
                <a:ext cx="1381765" cy="803509"/>
                <a:chOff x="1276816" y="2072289"/>
                <a:chExt cx="1381765" cy="803509"/>
              </a:xfrm>
            </p:grpSpPr>
            <p:sp>
              <p:nvSpPr>
                <p:cNvPr id="263" name="ZoneTexte 262">
                  <a:extLst>
                    <a:ext uri="{FF2B5EF4-FFF2-40B4-BE49-F238E27FC236}">
                      <a16:creationId xmlns:a16="http://schemas.microsoft.com/office/drawing/2014/main" id="{85B1B433-A184-BEDF-BB68-CD91EEA657F7}"/>
                    </a:ext>
                  </a:extLst>
                </p:cNvPr>
                <p:cNvSpPr txBox="1"/>
                <p:nvPr/>
              </p:nvSpPr>
              <p:spPr>
                <a:xfrm>
                  <a:off x="1276816" y="2603019"/>
                  <a:ext cx="1381765" cy="272779"/>
                </a:xfrm>
                <a:prstGeom prst="rect">
                  <a:avLst/>
                </a:prstGeom>
                <a:noFill/>
              </p:spPr>
              <p:txBody>
                <a:bodyPr wrap="square">
                  <a:spAutoFit/>
                </a:bodyPr>
                <a:lstStyle/>
                <a:p>
                  <a:pPr algn="ctr"/>
                  <a:r>
                    <a:rPr lang="fr-FR" sz="900" dirty="0"/>
                    <a:t>Informations clé</a:t>
                  </a:r>
                </a:p>
              </p:txBody>
            </p:sp>
            <p:pic>
              <p:nvPicPr>
                <p:cNvPr id="264" name="Graphique 263" descr="Informations avec un remplissage uni">
                  <a:extLst>
                    <a:ext uri="{FF2B5EF4-FFF2-40B4-BE49-F238E27FC236}">
                      <a16:creationId xmlns:a16="http://schemas.microsoft.com/office/drawing/2014/main" id="{9EA80B56-E633-1BF1-1F13-0043D9E5E201}"/>
                    </a:ext>
                  </a:extLst>
                </p:cNvPr>
                <p:cNvPicPr>
                  <a:picLocks noChangeAspect="1"/>
                </p:cNvPicPr>
                <p:nvPr/>
              </p:nvPicPr>
              <p:blipFill>
                <a:blip r:embed="rId26">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1726018" y="2072289"/>
                  <a:ext cx="478914" cy="478914"/>
                </a:xfrm>
                <a:prstGeom prst="rect">
                  <a:avLst/>
                </a:prstGeom>
              </p:spPr>
            </p:pic>
          </p:grpSp>
          <p:grpSp>
            <p:nvGrpSpPr>
              <p:cNvPr id="251" name="Groupe 250">
                <a:extLst>
                  <a:ext uri="{FF2B5EF4-FFF2-40B4-BE49-F238E27FC236}">
                    <a16:creationId xmlns:a16="http://schemas.microsoft.com/office/drawing/2014/main" id="{57112D31-ED9C-4872-3C96-4B6DFBB57430}"/>
                  </a:ext>
                </a:extLst>
              </p:cNvPr>
              <p:cNvGrpSpPr/>
              <p:nvPr/>
            </p:nvGrpSpPr>
            <p:grpSpPr>
              <a:xfrm>
                <a:off x="363244" y="1341384"/>
                <a:ext cx="1274604" cy="803509"/>
                <a:chOff x="8215494" y="2072289"/>
                <a:chExt cx="1274604" cy="803509"/>
              </a:xfrm>
            </p:grpSpPr>
            <p:sp>
              <p:nvSpPr>
                <p:cNvPr id="261" name="ZoneTexte 260">
                  <a:extLst>
                    <a:ext uri="{FF2B5EF4-FFF2-40B4-BE49-F238E27FC236}">
                      <a16:creationId xmlns:a16="http://schemas.microsoft.com/office/drawing/2014/main" id="{C30FB968-8D2A-990B-C088-A8F071D9A5EB}"/>
                    </a:ext>
                  </a:extLst>
                </p:cNvPr>
                <p:cNvSpPr txBox="1"/>
                <p:nvPr/>
              </p:nvSpPr>
              <p:spPr>
                <a:xfrm>
                  <a:off x="8215494" y="2603019"/>
                  <a:ext cx="1274604" cy="272779"/>
                </a:xfrm>
                <a:prstGeom prst="rect">
                  <a:avLst/>
                </a:prstGeom>
                <a:noFill/>
              </p:spPr>
              <p:txBody>
                <a:bodyPr wrap="square">
                  <a:spAutoFit/>
                </a:bodyPr>
                <a:lstStyle/>
                <a:p>
                  <a:pPr algn="ctr"/>
                  <a:r>
                    <a:rPr lang="fr-FR" sz="900" dirty="0"/>
                    <a:t>Espaces et lieux</a:t>
                  </a:r>
                </a:p>
              </p:txBody>
            </p:sp>
            <p:pic>
              <p:nvPicPr>
                <p:cNvPr id="262" name="Graphique 261" descr="Conseil d’administration avec un remplissage uni">
                  <a:extLst>
                    <a:ext uri="{FF2B5EF4-FFF2-40B4-BE49-F238E27FC236}">
                      <a16:creationId xmlns:a16="http://schemas.microsoft.com/office/drawing/2014/main" id="{BD5BF51F-C56C-319D-06FA-5A053223CE31}"/>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8574409" y="2072289"/>
                  <a:ext cx="556773" cy="556773"/>
                </a:xfrm>
                <a:prstGeom prst="rect">
                  <a:avLst/>
                </a:prstGeom>
              </p:spPr>
            </p:pic>
          </p:grpSp>
          <p:grpSp>
            <p:nvGrpSpPr>
              <p:cNvPr id="252" name="Groupe 251">
                <a:extLst>
                  <a:ext uri="{FF2B5EF4-FFF2-40B4-BE49-F238E27FC236}">
                    <a16:creationId xmlns:a16="http://schemas.microsoft.com/office/drawing/2014/main" id="{50AACDE2-4396-6049-1286-DF2F4C234A48}"/>
                  </a:ext>
                </a:extLst>
              </p:cNvPr>
              <p:cNvGrpSpPr/>
              <p:nvPr/>
            </p:nvGrpSpPr>
            <p:grpSpPr>
              <a:xfrm>
                <a:off x="4195824" y="1322881"/>
                <a:ext cx="764501" cy="803509"/>
                <a:chOff x="9827467" y="2072289"/>
                <a:chExt cx="764501" cy="803509"/>
              </a:xfrm>
            </p:grpSpPr>
            <p:pic>
              <p:nvPicPr>
                <p:cNvPr id="259" name="Graphique 258" descr="Tirelire avec un remplissage uni">
                  <a:extLst>
                    <a:ext uri="{FF2B5EF4-FFF2-40B4-BE49-F238E27FC236}">
                      <a16:creationId xmlns:a16="http://schemas.microsoft.com/office/drawing/2014/main" id="{86115235-CC1B-AA3A-B781-36BB7DD0A6E8}"/>
                    </a:ext>
                  </a:extLst>
                </p:cNvPr>
                <p:cNvPicPr>
                  <a:picLocks noChangeAspect="1"/>
                </p:cNvPicPr>
                <p:nvPr/>
              </p:nvPicPr>
              <p:blipFill>
                <a:blip r:embed="rId30">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9956969" y="2072289"/>
                  <a:ext cx="540000" cy="540000"/>
                </a:xfrm>
                <a:prstGeom prst="rect">
                  <a:avLst/>
                </a:prstGeom>
              </p:spPr>
            </p:pic>
            <p:sp>
              <p:nvSpPr>
                <p:cNvPr id="260" name="ZoneTexte 259">
                  <a:extLst>
                    <a:ext uri="{FF2B5EF4-FFF2-40B4-BE49-F238E27FC236}">
                      <a16:creationId xmlns:a16="http://schemas.microsoft.com/office/drawing/2014/main" id="{A5651F6E-4651-BEF8-7341-09A8BB320570}"/>
                    </a:ext>
                  </a:extLst>
                </p:cNvPr>
                <p:cNvSpPr txBox="1"/>
                <p:nvPr/>
              </p:nvSpPr>
              <p:spPr>
                <a:xfrm>
                  <a:off x="9827467" y="2603019"/>
                  <a:ext cx="764501" cy="272779"/>
                </a:xfrm>
                <a:prstGeom prst="rect">
                  <a:avLst/>
                </a:prstGeom>
                <a:noFill/>
              </p:spPr>
              <p:txBody>
                <a:bodyPr wrap="square">
                  <a:spAutoFit/>
                </a:bodyPr>
                <a:lstStyle/>
                <a:p>
                  <a:pPr algn="ctr"/>
                  <a:r>
                    <a:rPr lang="fr-FR" sz="900" dirty="0"/>
                    <a:t>Budget</a:t>
                  </a:r>
                </a:p>
              </p:txBody>
            </p:sp>
          </p:grpSp>
          <p:grpSp>
            <p:nvGrpSpPr>
              <p:cNvPr id="253" name="Groupe 252">
                <a:extLst>
                  <a:ext uri="{FF2B5EF4-FFF2-40B4-BE49-F238E27FC236}">
                    <a16:creationId xmlns:a16="http://schemas.microsoft.com/office/drawing/2014/main" id="{3A6A70A4-AA2C-76B0-E520-247561B1403F}"/>
                  </a:ext>
                </a:extLst>
              </p:cNvPr>
              <p:cNvGrpSpPr/>
              <p:nvPr/>
            </p:nvGrpSpPr>
            <p:grpSpPr>
              <a:xfrm>
                <a:off x="11202158" y="1327063"/>
                <a:ext cx="764501" cy="803509"/>
                <a:chOff x="11150144" y="2072289"/>
                <a:chExt cx="764501" cy="803509"/>
              </a:xfrm>
            </p:grpSpPr>
            <p:pic>
              <p:nvPicPr>
                <p:cNvPr id="257" name="Graphique 256" descr="Badge point d’interrogation avec un remplissage uni">
                  <a:extLst>
                    <a:ext uri="{FF2B5EF4-FFF2-40B4-BE49-F238E27FC236}">
                      <a16:creationId xmlns:a16="http://schemas.microsoft.com/office/drawing/2014/main" id="{37F2C1BF-2F69-EFB1-F5B5-1B404D232F84}"/>
                    </a:ext>
                  </a:extLst>
                </p:cNvPr>
                <p:cNvPicPr>
                  <a:picLocks noChangeAspect="1"/>
                </p:cNvPicPr>
                <p:nvPr/>
              </p:nvPicPr>
              <p:blipFill>
                <a:blip r:embed="rId32">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11270657" y="2072289"/>
                  <a:ext cx="540000" cy="540000"/>
                </a:xfrm>
                <a:prstGeom prst="rect">
                  <a:avLst/>
                </a:prstGeom>
              </p:spPr>
            </p:pic>
            <p:sp>
              <p:nvSpPr>
                <p:cNvPr id="258" name="ZoneTexte 257">
                  <a:extLst>
                    <a:ext uri="{FF2B5EF4-FFF2-40B4-BE49-F238E27FC236}">
                      <a16:creationId xmlns:a16="http://schemas.microsoft.com/office/drawing/2014/main" id="{E39E313A-C7E6-2F6A-18EA-06BD968D518C}"/>
                    </a:ext>
                  </a:extLst>
                </p:cNvPr>
                <p:cNvSpPr txBox="1"/>
                <p:nvPr/>
              </p:nvSpPr>
              <p:spPr>
                <a:xfrm>
                  <a:off x="11150144" y="2603019"/>
                  <a:ext cx="764501" cy="272779"/>
                </a:xfrm>
                <a:prstGeom prst="rect">
                  <a:avLst/>
                </a:prstGeom>
                <a:noFill/>
              </p:spPr>
              <p:txBody>
                <a:bodyPr wrap="square">
                  <a:spAutoFit/>
                </a:bodyPr>
                <a:lstStyle/>
                <a:p>
                  <a:pPr algn="ctr"/>
                  <a:r>
                    <a:rPr lang="fr-FR" sz="900" dirty="0"/>
                    <a:t>Autres</a:t>
                  </a:r>
                </a:p>
              </p:txBody>
            </p:sp>
          </p:grpSp>
          <p:grpSp>
            <p:nvGrpSpPr>
              <p:cNvPr id="254" name="Groupe 253">
                <a:extLst>
                  <a:ext uri="{FF2B5EF4-FFF2-40B4-BE49-F238E27FC236}">
                    <a16:creationId xmlns:a16="http://schemas.microsoft.com/office/drawing/2014/main" id="{9EEA15AA-FAA9-9223-4BA3-E99B08D2091C}"/>
                  </a:ext>
                </a:extLst>
              </p:cNvPr>
              <p:cNvGrpSpPr/>
              <p:nvPr/>
            </p:nvGrpSpPr>
            <p:grpSpPr>
              <a:xfrm>
                <a:off x="9754481" y="1304631"/>
                <a:ext cx="1326669" cy="822863"/>
                <a:chOff x="9651618" y="1361747"/>
                <a:chExt cx="1326669" cy="822863"/>
              </a:xfrm>
            </p:grpSpPr>
            <p:pic>
              <p:nvPicPr>
                <p:cNvPr id="255" name="Graphique 254" descr="Signe pouce en haut avec un remplissage uni">
                  <a:extLst>
                    <a:ext uri="{FF2B5EF4-FFF2-40B4-BE49-F238E27FC236}">
                      <a16:creationId xmlns:a16="http://schemas.microsoft.com/office/drawing/2014/main" id="{FF31F156-3A3A-116D-6B3D-02ED705BD03B}"/>
                    </a:ext>
                  </a:extLst>
                </p:cNvPr>
                <p:cNvPicPr>
                  <a:picLocks noChangeAspect="1"/>
                </p:cNvPicPr>
                <p:nvPr/>
              </p:nvPicPr>
              <p:blipFill>
                <a:blip r:embed="rId34">
                  <a:extLst>
                    <a:ext uri="{28A0092B-C50C-407E-A947-70E740481C1C}">
                      <a14:useLocalDpi xmlns:a14="http://schemas.microsoft.com/office/drawing/2010/main" val="0"/>
                    </a:ext>
                    <a:ext uri="{96DAC541-7B7A-43D3-8B79-37D633B846F1}">
                      <asvg:svgBlip xmlns:asvg="http://schemas.microsoft.com/office/drawing/2016/SVG/main" r:embed="rId35"/>
                    </a:ext>
                  </a:extLst>
                </a:blip>
                <a:stretch>
                  <a:fillRect/>
                </a:stretch>
              </p:blipFill>
              <p:spPr>
                <a:xfrm>
                  <a:off x="10057766" y="1361747"/>
                  <a:ext cx="514374" cy="514374"/>
                </a:xfrm>
                <a:prstGeom prst="rect">
                  <a:avLst/>
                </a:prstGeom>
              </p:spPr>
            </p:pic>
            <p:sp>
              <p:nvSpPr>
                <p:cNvPr id="256" name="ZoneTexte 255">
                  <a:extLst>
                    <a:ext uri="{FF2B5EF4-FFF2-40B4-BE49-F238E27FC236}">
                      <a16:creationId xmlns:a16="http://schemas.microsoft.com/office/drawing/2014/main" id="{9880EDA7-0F3F-6988-3006-364FA7EF745A}"/>
                    </a:ext>
                  </a:extLst>
                </p:cNvPr>
                <p:cNvSpPr txBox="1"/>
                <p:nvPr/>
              </p:nvSpPr>
              <p:spPr>
                <a:xfrm>
                  <a:off x="9651618" y="1911831"/>
                  <a:ext cx="1326669" cy="272779"/>
                </a:xfrm>
                <a:prstGeom prst="rect">
                  <a:avLst/>
                </a:prstGeom>
                <a:noFill/>
              </p:spPr>
              <p:txBody>
                <a:bodyPr wrap="square">
                  <a:spAutoFit/>
                </a:bodyPr>
                <a:lstStyle/>
                <a:p>
                  <a:pPr algn="ctr"/>
                  <a:r>
                    <a:rPr lang="fr-FR" sz="900" dirty="0"/>
                    <a:t>Soutien extérieur</a:t>
                  </a:r>
                </a:p>
              </p:txBody>
            </p:sp>
          </p:grpSp>
        </p:grpSp>
        <p:sp>
          <p:nvSpPr>
            <p:cNvPr id="210" name="Rectangle 209">
              <a:extLst>
                <a:ext uri="{FF2B5EF4-FFF2-40B4-BE49-F238E27FC236}">
                  <a16:creationId xmlns:a16="http://schemas.microsoft.com/office/drawing/2014/main" id="{5330A97D-DEEF-5929-225A-D2A39BFBC4A8}"/>
                </a:ext>
              </a:extLst>
            </p:cNvPr>
            <p:cNvSpPr/>
            <p:nvPr/>
          </p:nvSpPr>
          <p:spPr>
            <a:xfrm>
              <a:off x="7426333" y="1048281"/>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Compétences clés en coaching DEVOPS d’un des membres</a:t>
              </a:r>
            </a:p>
          </p:txBody>
        </p:sp>
        <p:sp>
          <p:nvSpPr>
            <p:cNvPr id="211" name="Rectangle 210">
              <a:extLst>
                <a:ext uri="{FF2B5EF4-FFF2-40B4-BE49-F238E27FC236}">
                  <a16:creationId xmlns:a16="http://schemas.microsoft.com/office/drawing/2014/main" id="{76D8E353-8377-06EE-EACA-E7BF93967733}"/>
                </a:ext>
              </a:extLst>
            </p:cNvPr>
            <p:cNvSpPr/>
            <p:nvPr/>
          </p:nvSpPr>
          <p:spPr>
            <a:xfrm>
              <a:off x="9345205" y="1048281"/>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Problèmes individuels similaires sur la chaîne de production</a:t>
              </a:r>
            </a:p>
          </p:txBody>
        </p:sp>
        <p:sp>
          <p:nvSpPr>
            <p:cNvPr id="212" name="Rectangle 211">
              <a:extLst>
                <a:ext uri="{FF2B5EF4-FFF2-40B4-BE49-F238E27FC236}">
                  <a16:creationId xmlns:a16="http://schemas.microsoft.com/office/drawing/2014/main" id="{4B383EDA-F7FE-4C8E-B369-FFD6970D9139}"/>
                </a:ext>
              </a:extLst>
            </p:cNvPr>
            <p:cNvSpPr/>
            <p:nvPr/>
          </p:nvSpPr>
          <p:spPr>
            <a:xfrm>
              <a:off x="6520469" y="1059115"/>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Disponibilité Commune le vendredi matin 11H-12H (en ligne) </a:t>
              </a:r>
            </a:p>
          </p:txBody>
        </p:sp>
        <p:sp>
          <p:nvSpPr>
            <p:cNvPr id="213" name="Rectangle 212">
              <a:extLst>
                <a:ext uri="{FF2B5EF4-FFF2-40B4-BE49-F238E27FC236}">
                  <a16:creationId xmlns:a16="http://schemas.microsoft.com/office/drawing/2014/main" id="{8114F70B-E94E-5A8C-8782-CF243A7DEC71}"/>
                </a:ext>
              </a:extLst>
            </p:cNvPr>
            <p:cNvSpPr/>
            <p:nvPr/>
          </p:nvSpPr>
          <p:spPr>
            <a:xfrm>
              <a:off x="8373727" y="1048281"/>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Liste de contacts dans le réseau professionnel DEVOPS</a:t>
              </a:r>
            </a:p>
          </p:txBody>
        </p:sp>
        <p:sp>
          <p:nvSpPr>
            <p:cNvPr id="214" name="Rectangle 213">
              <a:extLst>
                <a:ext uri="{FF2B5EF4-FFF2-40B4-BE49-F238E27FC236}">
                  <a16:creationId xmlns:a16="http://schemas.microsoft.com/office/drawing/2014/main" id="{03539B00-31AA-A275-5C21-3BD37BCA0A0C}"/>
                </a:ext>
              </a:extLst>
            </p:cNvPr>
            <p:cNvSpPr/>
            <p:nvPr/>
          </p:nvSpPr>
          <p:spPr>
            <a:xfrm>
              <a:off x="4546724" y="1059115"/>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Accès commun à de mêmes outils de discussion</a:t>
              </a:r>
            </a:p>
          </p:txBody>
        </p:sp>
        <p:sp>
          <p:nvSpPr>
            <p:cNvPr id="217" name="Rectangle 216">
              <a:extLst>
                <a:ext uri="{FF2B5EF4-FFF2-40B4-BE49-F238E27FC236}">
                  <a16:creationId xmlns:a16="http://schemas.microsoft.com/office/drawing/2014/main" id="{7CEF2E2B-45EB-B995-8DFC-6A7A8E8B62A0}"/>
                </a:ext>
              </a:extLst>
            </p:cNvPr>
            <p:cNvSpPr/>
            <p:nvPr/>
          </p:nvSpPr>
          <p:spPr>
            <a:xfrm>
              <a:off x="3548254" y="1059115"/>
              <a:ext cx="822429" cy="633938"/>
            </a:xfrm>
            <a:prstGeom prst="rect">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00" dirty="0"/>
                <a:t>Serveur de test à disposition</a:t>
              </a:r>
            </a:p>
          </p:txBody>
        </p:sp>
        <p:sp>
          <p:nvSpPr>
            <p:cNvPr id="221" name="Espace réservé du contenu 2">
              <a:extLst>
                <a:ext uri="{FF2B5EF4-FFF2-40B4-BE49-F238E27FC236}">
                  <a16:creationId xmlns:a16="http://schemas.microsoft.com/office/drawing/2014/main" id="{460DF1DE-CBDA-0D5E-F615-C3460117663A}"/>
                </a:ext>
              </a:extLst>
            </p:cNvPr>
            <p:cNvSpPr txBox="1">
              <a:spLocks/>
            </p:cNvSpPr>
            <p:nvPr/>
          </p:nvSpPr>
          <p:spPr>
            <a:xfrm>
              <a:off x="-16218" y="6167171"/>
              <a:ext cx="901401" cy="69191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800" dirty="0"/>
                <a:t>Pas intéressant a priori pour une mise en commun la Communauté</a:t>
              </a:r>
            </a:p>
          </p:txBody>
        </p:sp>
        <p:sp>
          <p:nvSpPr>
            <p:cNvPr id="222" name="ZoneTexte 221">
              <a:extLst>
                <a:ext uri="{FF2B5EF4-FFF2-40B4-BE49-F238E27FC236}">
                  <a16:creationId xmlns:a16="http://schemas.microsoft.com/office/drawing/2014/main" id="{857397E5-F714-F459-0A74-A12F3F273CC8}"/>
                </a:ext>
              </a:extLst>
            </p:cNvPr>
            <p:cNvSpPr txBox="1"/>
            <p:nvPr/>
          </p:nvSpPr>
          <p:spPr>
            <a:xfrm>
              <a:off x="4396" y="1152544"/>
              <a:ext cx="847118" cy="584775"/>
            </a:xfrm>
            <a:prstGeom prst="rect">
              <a:avLst/>
            </a:prstGeom>
            <a:noFill/>
          </p:spPr>
          <p:txBody>
            <a:bodyPr wrap="square">
              <a:spAutoFit/>
            </a:bodyPr>
            <a:lstStyle/>
            <a:p>
              <a:r>
                <a:rPr lang="fr-FR" sz="800" dirty="0"/>
                <a:t>Intéressant et déjà mis en commun dans la Communauté</a:t>
              </a:r>
            </a:p>
          </p:txBody>
        </p:sp>
        <p:sp>
          <p:nvSpPr>
            <p:cNvPr id="223" name="ZoneTexte 222">
              <a:extLst>
                <a:ext uri="{FF2B5EF4-FFF2-40B4-BE49-F238E27FC236}">
                  <a16:creationId xmlns:a16="http://schemas.microsoft.com/office/drawing/2014/main" id="{E6D35016-A339-0997-CB01-43CDA13FF93E}"/>
                </a:ext>
              </a:extLst>
            </p:cNvPr>
            <p:cNvSpPr txBox="1"/>
            <p:nvPr/>
          </p:nvSpPr>
          <p:spPr>
            <a:xfrm>
              <a:off x="7944" y="1767083"/>
              <a:ext cx="912509" cy="707886"/>
            </a:xfrm>
            <a:prstGeom prst="rect">
              <a:avLst/>
            </a:prstGeom>
            <a:noFill/>
          </p:spPr>
          <p:txBody>
            <a:bodyPr wrap="square">
              <a:spAutoFit/>
            </a:bodyPr>
            <a:lstStyle/>
            <a:p>
              <a:r>
                <a:rPr lang="fr-FR" sz="800" dirty="0"/>
                <a:t>Intéressant, accessible par la Communauté mais pas (encore) mis en commun</a:t>
              </a:r>
            </a:p>
          </p:txBody>
        </p:sp>
        <p:sp>
          <p:nvSpPr>
            <p:cNvPr id="224" name="ZoneTexte 223">
              <a:extLst>
                <a:ext uri="{FF2B5EF4-FFF2-40B4-BE49-F238E27FC236}">
                  <a16:creationId xmlns:a16="http://schemas.microsoft.com/office/drawing/2014/main" id="{69EDD43F-8181-97B6-6132-F4EE684900D7}"/>
                </a:ext>
              </a:extLst>
            </p:cNvPr>
            <p:cNvSpPr txBox="1"/>
            <p:nvPr/>
          </p:nvSpPr>
          <p:spPr>
            <a:xfrm>
              <a:off x="-2929" y="2511054"/>
              <a:ext cx="1109944" cy="830997"/>
            </a:xfrm>
            <a:prstGeom prst="rect">
              <a:avLst/>
            </a:prstGeom>
            <a:noFill/>
          </p:spPr>
          <p:txBody>
            <a:bodyPr wrap="square">
              <a:spAutoFit/>
            </a:bodyPr>
            <a:lstStyle/>
            <a:p>
              <a:r>
                <a:rPr lang="fr-FR" sz="800" dirty="0"/>
                <a:t>Intéressant, manquant et plus facilement accessible en tant que Communauté (vs en individus)</a:t>
              </a:r>
            </a:p>
          </p:txBody>
        </p:sp>
        <p:sp>
          <p:nvSpPr>
            <p:cNvPr id="225" name="ZoneTexte 224">
              <a:extLst>
                <a:ext uri="{FF2B5EF4-FFF2-40B4-BE49-F238E27FC236}">
                  <a16:creationId xmlns:a16="http://schemas.microsoft.com/office/drawing/2014/main" id="{FA09A781-FAD9-818A-B178-752CFF7F4D39}"/>
                </a:ext>
              </a:extLst>
            </p:cNvPr>
            <p:cNvSpPr txBox="1"/>
            <p:nvPr/>
          </p:nvSpPr>
          <p:spPr>
            <a:xfrm>
              <a:off x="-1939" y="3353231"/>
              <a:ext cx="1156579" cy="584775"/>
            </a:xfrm>
            <a:prstGeom prst="rect">
              <a:avLst/>
            </a:prstGeom>
            <a:noFill/>
          </p:spPr>
          <p:txBody>
            <a:bodyPr wrap="square">
              <a:spAutoFit/>
            </a:bodyPr>
            <a:lstStyle/>
            <a:p>
              <a:r>
                <a:rPr lang="fr-FR" sz="800" dirty="0"/>
                <a:t>Intéressant, manquant et potentiellement accessible, difficulté d’accès inconnue</a:t>
              </a:r>
            </a:p>
          </p:txBody>
        </p:sp>
        <p:sp>
          <p:nvSpPr>
            <p:cNvPr id="226" name="ZoneTexte 225">
              <a:extLst>
                <a:ext uri="{FF2B5EF4-FFF2-40B4-BE49-F238E27FC236}">
                  <a16:creationId xmlns:a16="http://schemas.microsoft.com/office/drawing/2014/main" id="{91907507-6E04-1AEB-7A92-4904FAC307D3}"/>
                </a:ext>
              </a:extLst>
            </p:cNvPr>
            <p:cNvSpPr txBox="1"/>
            <p:nvPr/>
          </p:nvSpPr>
          <p:spPr>
            <a:xfrm>
              <a:off x="-24473" y="3996508"/>
              <a:ext cx="1147993" cy="584775"/>
            </a:xfrm>
            <a:prstGeom prst="rect">
              <a:avLst/>
            </a:prstGeom>
            <a:noFill/>
          </p:spPr>
          <p:txBody>
            <a:bodyPr wrap="square">
              <a:spAutoFit/>
            </a:bodyPr>
            <a:lstStyle/>
            <a:p>
              <a:r>
                <a:rPr lang="fr-FR" sz="800" dirty="0"/>
                <a:t>Intéressant, manquant et difficilement accessible, même en tant que Communauté</a:t>
              </a:r>
            </a:p>
          </p:txBody>
        </p:sp>
        <p:sp>
          <p:nvSpPr>
            <p:cNvPr id="227" name="ZoneTexte 226">
              <a:extLst>
                <a:ext uri="{FF2B5EF4-FFF2-40B4-BE49-F238E27FC236}">
                  <a16:creationId xmlns:a16="http://schemas.microsoft.com/office/drawing/2014/main" id="{416037B0-1875-D6EB-3911-0E47A09A5600}"/>
                </a:ext>
              </a:extLst>
            </p:cNvPr>
            <p:cNvSpPr txBox="1"/>
            <p:nvPr/>
          </p:nvSpPr>
          <p:spPr>
            <a:xfrm>
              <a:off x="-48029" y="4749645"/>
              <a:ext cx="1063951" cy="461665"/>
            </a:xfrm>
            <a:prstGeom prst="rect">
              <a:avLst/>
            </a:prstGeom>
            <a:noFill/>
          </p:spPr>
          <p:txBody>
            <a:bodyPr wrap="square">
              <a:spAutoFit/>
            </a:bodyPr>
            <a:lstStyle/>
            <a:p>
              <a:r>
                <a:rPr lang="fr-FR" sz="800" dirty="0"/>
                <a:t>Intérêt inconnu pour la Communauté, manquant</a:t>
              </a:r>
            </a:p>
          </p:txBody>
        </p:sp>
      </p:grpSp>
    </p:spTree>
    <p:extLst>
      <p:ext uri="{BB962C8B-B14F-4D97-AF65-F5344CB8AC3E}">
        <p14:creationId xmlns:p14="http://schemas.microsoft.com/office/powerpoint/2010/main" val="694285981"/>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D86BB56-A91F-1A5C-2F75-C45E3C94FB56}"/>
              </a:ext>
            </a:extLst>
          </p:cNvPr>
          <p:cNvSpPr>
            <a:spLocks noGrp="1"/>
          </p:cNvSpPr>
          <p:nvPr>
            <p:ph type="title"/>
          </p:nvPr>
        </p:nvSpPr>
        <p:spPr>
          <a:xfrm>
            <a:off x="547965" y="253866"/>
            <a:ext cx="10515600" cy="616431"/>
          </a:xfrm>
        </p:spPr>
        <p:txBody>
          <a:bodyPr>
            <a:normAutofit fontScale="90000"/>
          </a:bodyPr>
          <a:lstStyle/>
          <a:p>
            <a:r>
              <a:rPr lang="fr-FR" dirty="0"/>
              <a:t>Exemples de ressources de communauté</a:t>
            </a:r>
          </a:p>
        </p:txBody>
      </p:sp>
      <p:grpSp>
        <p:nvGrpSpPr>
          <p:cNvPr id="102" name="Groupe 101">
            <a:extLst>
              <a:ext uri="{FF2B5EF4-FFF2-40B4-BE49-F238E27FC236}">
                <a16:creationId xmlns:a16="http://schemas.microsoft.com/office/drawing/2014/main" id="{7E61783F-A2C0-38BC-ACE3-48C13BEB7F85}"/>
              </a:ext>
            </a:extLst>
          </p:cNvPr>
          <p:cNvGrpSpPr/>
          <p:nvPr/>
        </p:nvGrpSpPr>
        <p:grpSpPr>
          <a:xfrm>
            <a:off x="52579" y="859014"/>
            <a:ext cx="11744852" cy="1269885"/>
            <a:chOff x="363244" y="1304631"/>
            <a:chExt cx="11603415" cy="1254594"/>
          </a:xfrm>
        </p:grpSpPr>
        <p:grpSp>
          <p:nvGrpSpPr>
            <p:cNvPr id="108" name="Groupe 107">
              <a:extLst>
                <a:ext uri="{FF2B5EF4-FFF2-40B4-BE49-F238E27FC236}">
                  <a16:creationId xmlns:a16="http://schemas.microsoft.com/office/drawing/2014/main" id="{B054E7D6-6A55-3D01-BCC3-D9D2A946D9D0}"/>
                </a:ext>
              </a:extLst>
            </p:cNvPr>
            <p:cNvGrpSpPr/>
            <p:nvPr/>
          </p:nvGrpSpPr>
          <p:grpSpPr>
            <a:xfrm>
              <a:off x="2776447" y="1327063"/>
              <a:ext cx="1274604" cy="926022"/>
              <a:chOff x="6804504" y="2072289"/>
              <a:chExt cx="1274604" cy="926022"/>
            </a:xfrm>
          </p:grpSpPr>
          <p:sp>
            <p:nvSpPr>
              <p:cNvPr id="136" name="ZoneTexte 135">
                <a:extLst>
                  <a:ext uri="{FF2B5EF4-FFF2-40B4-BE49-F238E27FC236}">
                    <a16:creationId xmlns:a16="http://schemas.microsoft.com/office/drawing/2014/main" id="{A9C79D68-C32D-F6E2-1A07-C9A194197F34}"/>
                  </a:ext>
                </a:extLst>
              </p:cNvPr>
              <p:cNvSpPr txBox="1"/>
              <p:nvPr/>
            </p:nvSpPr>
            <p:spPr>
              <a:xfrm>
                <a:off x="6804504" y="2603019"/>
                <a:ext cx="1274604" cy="395292"/>
              </a:xfrm>
              <a:prstGeom prst="rect">
                <a:avLst/>
              </a:prstGeom>
              <a:noFill/>
            </p:spPr>
            <p:txBody>
              <a:bodyPr wrap="square">
                <a:spAutoFit/>
              </a:bodyPr>
              <a:lstStyle/>
              <a:p>
                <a:pPr algn="ctr"/>
                <a:r>
                  <a:rPr lang="fr-FR" sz="1000" dirty="0"/>
                  <a:t>Mise en commun d’Outils</a:t>
                </a:r>
              </a:p>
            </p:txBody>
          </p:sp>
          <p:pic>
            <p:nvPicPr>
              <p:cNvPr id="137" name="Graphique 136" descr="Chat avec un remplissage uni">
                <a:extLst>
                  <a:ext uri="{FF2B5EF4-FFF2-40B4-BE49-F238E27FC236}">
                    <a16:creationId xmlns:a16="http://schemas.microsoft.com/office/drawing/2014/main" id="{D304BD92-C5A5-F070-C8C8-413E2CE610D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213206" y="2072289"/>
                <a:ext cx="457200" cy="457200"/>
              </a:xfrm>
              <a:prstGeom prst="rect">
                <a:avLst/>
              </a:prstGeom>
            </p:spPr>
          </p:pic>
        </p:grpSp>
        <p:grpSp>
          <p:nvGrpSpPr>
            <p:cNvPr id="109" name="Groupe 108">
              <a:extLst>
                <a:ext uri="{FF2B5EF4-FFF2-40B4-BE49-F238E27FC236}">
                  <a16:creationId xmlns:a16="http://schemas.microsoft.com/office/drawing/2014/main" id="{39986ABD-5802-E666-234A-A3178A4791D3}"/>
                </a:ext>
              </a:extLst>
            </p:cNvPr>
            <p:cNvGrpSpPr/>
            <p:nvPr/>
          </p:nvGrpSpPr>
          <p:grpSpPr>
            <a:xfrm>
              <a:off x="5213379" y="1327063"/>
              <a:ext cx="1032426" cy="1078057"/>
              <a:chOff x="5551821" y="2072289"/>
              <a:chExt cx="1032426" cy="1078057"/>
            </a:xfrm>
          </p:grpSpPr>
          <p:sp>
            <p:nvSpPr>
              <p:cNvPr id="134" name="ZoneTexte 133">
                <a:extLst>
                  <a:ext uri="{FF2B5EF4-FFF2-40B4-BE49-F238E27FC236}">
                    <a16:creationId xmlns:a16="http://schemas.microsoft.com/office/drawing/2014/main" id="{3A1E5782-6A7C-2CB4-ECED-F66E3168ACF1}"/>
                  </a:ext>
                </a:extLst>
              </p:cNvPr>
              <p:cNvSpPr txBox="1"/>
              <p:nvPr/>
            </p:nvSpPr>
            <p:spPr>
              <a:xfrm>
                <a:off x="5551821" y="2603019"/>
                <a:ext cx="1032426" cy="547327"/>
              </a:xfrm>
              <a:prstGeom prst="rect">
                <a:avLst/>
              </a:prstGeom>
              <a:noFill/>
            </p:spPr>
            <p:txBody>
              <a:bodyPr wrap="square">
                <a:spAutoFit/>
              </a:bodyPr>
              <a:lstStyle/>
              <a:p>
                <a:pPr algn="ctr"/>
                <a:r>
                  <a:rPr lang="fr-FR" sz="1000" dirty="0"/>
                  <a:t>Mise en commun de Disponibilité</a:t>
                </a:r>
              </a:p>
            </p:txBody>
          </p:sp>
          <p:pic>
            <p:nvPicPr>
              <p:cNvPr id="135" name="Graphique 134" descr="Sablier 60% avec un remplissage uni">
                <a:extLst>
                  <a:ext uri="{FF2B5EF4-FFF2-40B4-BE49-F238E27FC236}">
                    <a16:creationId xmlns:a16="http://schemas.microsoft.com/office/drawing/2014/main" id="{E7A2ED9F-911D-B66C-F034-859BA7DDD2D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47251" y="2072289"/>
                <a:ext cx="457200" cy="457200"/>
              </a:xfrm>
              <a:prstGeom prst="rect">
                <a:avLst/>
              </a:prstGeom>
            </p:spPr>
          </p:pic>
        </p:grpSp>
        <p:grpSp>
          <p:nvGrpSpPr>
            <p:cNvPr id="110" name="Groupe 109">
              <a:extLst>
                <a:ext uri="{FF2B5EF4-FFF2-40B4-BE49-F238E27FC236}">
                  <a16:creationId xmlns:a16="http://schemas.microsoft.com/office/drawing/2014/main" id="{1B95BEF2-3B5A-9EF5-EAE3-94598D2DAE7E}"/>
                </a:ext>
              </a:extLst>
            </p:cNvPr>
            <p:cNvGrpSpPr/>
            <p:nvPr/>
          </p:nvGrpSpPr>
          <p:grpSpPr>
            <a:xfrm>
              <a:off x="8728205" y="1319376"/>
              <a:ext cx="1032426" cy="1078057"/>
              <a:chOff x="4204166" y="2072289"/>
              <a:chExt cx="1032426" cy="1078057"/>
            </a:xfrm>
          </p:grpSpPr>
          <p:sp>
            <p:nvSpPr>
              <p:cNvPr id="132" name="ZoneTexte 131">
                <a:extLst>
                  <a:ext uri="{FF2B5EF4-FFF2-40B4-BE49-F238E27FC236}">
                    <a16:creationId xmlns:a16="http://schemas.microsoft.com/office/drawing/2014/main" id="{C94DC4C5-043B-5AC9-5443-05D93FDD0415}"/>
                  </a:ext>
                </a:extLst>
              </p:cNvPr>
              <p:cNvSpPr txBox="1"/>
              <p:nvPr/>
            </p:nvSpPr>
            <p:spPr>
              <a:xfrm>
                <a:off x="4204166" y="2603019"/>
                <a:ext cx="1032426" cy="547327"/>
              </a:xfrm>
              <a:prstGeom prst="rect">
                <a:avLst/>
              </a:prstGeom>
              <a:noFill/>
            </p:spPr>
            <p:txBody>
              <a:bodyPr wrap="square">
                <a:spAutoFit/>
              </a:bodyPr>
              <a:lstStyle/>
              <a:p>
                <a:pPr algn="ctr"/>
                <a:r>
                  <a:rPr lang="fr-FR" sz="1000" dirty="0"/>
                  <a:t>Mise en commun de Motivations</a:t>
                </a:r>
              </a:p>
            </p:txBody>
          </p:sp>
          <p:pic>
            <p:nvPicPr>
              <p:cNvPr id="133" name="Graphique 132" descr="Flèches de chevron avec un remplissage uni">
                <a:extLst>
                  <a:ext uri="{FF2B5EF4-FFF2-40B4-BE49-F238E27FC236}">
                    <a16:creationId xmlns:a16="http://schemas.microsoft.com/office/drawing/2014/main" id="{8EEDF308-BB98-208C-9542-6E3235E9585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491779" y="2072289"/>
                <a:ext cx="457200" cy="457200"/>
              </a:xfrm>
              <a:prstGeom prst="rect">
                <a:avLst/>
              </a:prstGeom>
            </p:spPr>
          </p:pic>
        </p:grpSp>
        <p:grpSp>
          <p:nvGrpSpPr>
            <p:cNvPr id="111" name="Groupe 110">
              <a:extLst>
                <a:ext uri="{FF2B5EF4-FFF2-40B4-BE49-F238E27FC236}">
                  <a16:creationId xmlns:a16="http://schemas.microsoft.com/office/drawing/2014/main" id="{27A59E7E-8627-68A8-0C1E-186699F15EAA}"/>
                </a:ext>
              </a:extLst>
            </p:cNvPr>
            <p:cNvGrpSpPr/>
            <p:nvPr/>
          </p:nvGrpSpPr>
          <p:grpSpPr>
            <a:xfrm>
              <a:off x="6379681" y="1319376"/>
              <a:ext cx="1032426" cy="1078057"/>
              <a:chOff x="2428298" y="2091339"/>
              <a:chExt cx="1032426" cy="1078057"/>
            </a:xfrm>
          </p:grpSpPr>
          <p:sp>
            <p:nvSpPr>
              <p:cNvPr id="130" name="ZoneTexte 129">
                <a:extLst>
                  <a:ext uri="{FF2B5EF4-FFF2-40B4-BE49-F238E27FC236}">
                    <a16:creationId xmlns:a16="http://schemas.microsoft.com/office/drawing/2014/main" id="{22AABAC4-1B78-FDF5-C1E3-277A4B2EB1AD}"/>
                  </a:ext>
                </a:extLst>
              </p:cNvPr>
              <p:cNvSpPr txBox="1"/>
              <p:nvPr/>
            </p:nvSpPr>
            <p:spPr>
              <a:xfrm>
                <a:off x="2428298" y="2622069"/>
                <a:ext cx="1032426" cy="547327"/>
              </a:xfrm>
              <a:prstGeom prst="rect">
                <a:avLst/>
              </a:prstGeom>
              <a:noFill/>
            </p:spPr>
            <p:txBody>
              <a:bodyPr wrap="square">
                <a:spAutoFit/>
              </a:bodyPr>
              <a:lstStyle/>
              <a:p>
                <a:pPr algn="ctr"/>
                <a:r>
                  <a:rPr lang="fr-FR" sz="1000" dirty="0"/>
                  <a:t>Mise en commun de Compétences</a:t>
                </a:r>
              </a:p>
            </p:txBody>
          </p:sp>
          <p:pic>
            <p:nvPicPr>
              <p:cNvPr id="131" name="Graphique 130" descr="Tête avec engrenages avec un remplissage uni">
                <a:extLst>
                  <a:ext uri="{FF2B5EF4-FFF2-40B4-BE49-F238E27FC236}">
                    <a16:creationId xmlns:a16="http://schemas.microsoft.com/office/drawing/2014/main" id="{FE57CF00-1EE6-75BC-6FF5-16D87D27454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732130" y="2091339"/>
                <a:ext cx="457200" cy="457200"/>
              </a:xfrm>
              <a:prstGeom prst="rect">
                <a:avLst/>
              </a:prstGeom>
            </p:spPr>
          </p:pic>
        </p:grpSp>
        <p:grpSp>
          <p:nvGrpSpPr>
            <p:cNvPr id="112" name="Groupe 111">
              <a:extLst>
                <a:ext uri="{FF2B5EF4-FFF2-40B4-BE49-F238E27FC236}">
                  <a16:creationId xmlns:a16="http://schemas.microsoft.com/office/drawing/2014/main" id="{CC8F86F3-78BA-6C93-8004-69BD1BAA227D}"/>
                </a:ext>
              </a:extLst>
            </p:cNvPr>
            <p:cNvGrpSpPr/>
            <p:nvPr/>
          </p:nvGrpSpPr>
          <p:grpSpPr>
            <a:xfrm>
              <a:off x="1816849" y="1329133"/>
              <a:ext cx="754455" cy="1230092"/>
              <a:chOff x="236639" y="2072289"/>
              <a:chExt cx="754455" cy="1230092"/>
            </a:xfrm>
          </p:grpSpPr>
          <p:sp>
            <p:nvSpPr>
              <p:cNvPr id="128" name="ZoneTexte 127">
                <a:extLst>
                  <a:ext uri="{FF2B5EF4-FFF2-40B4-BE49-F238E27FC236}">
                    <a16:creationId xmlns:a16="http://schemas.microsoft.com/office/drawing/2014/main" id="{E3AB7499-C24C-4335-62D7-4A2A70823DFF}"/>
                  </a:ext>
                </a:extLst>
              </p:cNvPr>
              <p:cNvSpPr txBox="1"/>
              <p:nvPr/>
            </p:nvSpPr>
            <p:spPr>
              <a:xfrm>
                <a:off x="236639" y="2603019"/>
                <a:ext cx="754455" cy="699362"/>
              </a:xfrm>
              <a:prstGeom prst="rect">
                <a:avLst/>
              </a:prstGeom>
              <a:noFill/>
            </p:spPr>
            <p:txBody>
              <a:bodyPr wrap="square">
                <a:spAutoFit/>
              </a:bodyPr>
              <a:lstStyle/>
              <a:p>
                <a:pPr algn="ctr"/>
                <a:r>
                  <a:rPr lang="fr-FR" sz="1000" dirty="0"/>
                  <a:t>Mise en commun de Matériel</a:t>
                </a:r>
              </a:p>
            </p:txBody>
          </p:sp>
          <p:pic>
            <p:nvPicPr>
              <p:cNvPr id="129" name="Graphique 128" descr="Diable avec un remplissage uni">
                <a:extLst>
                  <a:ext uri="{FF2B5EF4-FFF2-40B4-BE49-F238E27FC236}">
                    <a16:creationId xmlns:a16="http://schemas.microsoft.com/office/drawing/2014/main" id="{4E386603-D812-522C-591D-330B94ECAAE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66612" y="2072289"/>
                <a:ext cx="457200" cy="457200"/>
              </a:xfrm>
              <a:prstGeom prst="rect">
                <a:avLst/>
              </a:prstGeom>
            </p:spPr>
          </p:pic>
        </p:grpSp>
        <p:grpSp>
          <p:nvGrpSpPr>
            <p:cNvPr id="113" name="Groupe 112">
              <a:extLst>
                <a:ext uri="{FF2B5EF4-FFF2-40B4-BE49-F238E27FC236}">
                  <a16:creationId xmlns:a16="http://schemas.microsoft.com/office/drawing/2014/main" id="{C07AEC85-4A62-9AF1-AA7A-AE1E1CFC6B3F}"/>
                </a:ext>
              </a:extLst>
            </p:cNvPr>
            <p:cNvGrpSpPr/>
            <p:nvPr/>
          </p:nvGrpSpPr>
          <p:grpSpPr>
            <a:xfrm>
              <a:off x="7339961" y="1323986"/>
              <a:ext cx="1381765" cy="926022"/>
              <a:chOff x="1276816" y="2072289"/>
              <a:chExt cx="1381765" cy="926022"/>
            </a:xfrm>
          </p:grpSpPr>
          <p:sp>
            <p:nvSpPr>
              <p:cNvPr id="126" name="ZoneTexte 125">
                <a:extLst>
                  <a:ext uri="{FF2B5EF4-FFF2-40B4-BE49-F238E27FC236}">
                    <a16:creationId xmlns:a16="http://schemas.microsoft.com/office/drawing/2014/main" id="{DEE7577A-0F15-7A02-8F64-26EE3EB7C5DA}"/>
                  </a:ext>
                </a:extLst>
              </p:cNvPr>
              <p:cNvSpPr txBox="1"/>
              <p:nvPr/>
            </p:nvSpPr>
            <p:spPr>
              <a:xfrm>
                <a:off x="1276816" y="2603019"/>
                <a:ext cx="1381765" cy="395292"/>
              </a:xfrm>
              <a:prstGeom prst="rect">
                <a:avLst/>
              </a:prstGeom>
              <a:noFill/>
            </p:spPr>
            <p:txBody>
              <a:bodyPr wrap="square">
                <a:spAutoFit/>
              </a:bodyPr>
              <a:lstStyle/>
              <a:p>
                <a:pPr algn="ctr"/>
                <a:r>
                  <a:rPr lang="fr-FR" sz="1000" dirty="0"/>
                  <a:t>Mise en commun d’Informations clé</a:t>
                </a:r>
              </a:p>
            </p:txBody>
          </p:sp>
          <p:pic>
            <p:nvPicPr>
              <p:cNvPr id="127" name="Graphique 126" descr="Informations avec un remplissage uni">
                <a:extLst>
                  <a:ext uri="{FF2B5EF4-FFF2-40B4-BE49-F238E27FC236}">
                    <a16:creationId xmlns:a16="http://schemas.microsoft.com/office/drawing/2014/main" id="{A25F900D-CA9A-289C-6F80-EF468DABCEB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726018" y="2072289"/>
                <a:ext cx="478914" cy="478914"/>
              </a:xfrm>
              <a:prstGeom prst="rect">
                <a:avLst/>
              </a:prstGeom>
            </p:spPr>
          </p:pic>
        </p:grpSp>
        <p:grpSp>
          <p:nvGrpSpPr>
            <p:cNvPr id="114" name="Groupe 113">
              <a:extLst>
                <a:ext uri="{FF2B5EF4-FFF2-40B4-BE49-F238E27FC236}">
                  <a16:creationId xmlns:a16="http://schemas.microsoft.com/office/drawing/2014/main" id="{698DEBDA-F01A-B1F1-378F-A6B02B02D8AF}"/>
                </a:ext>
              </a:extLst>
            </p:cNvPr>
            <p:cNvGrpSpPr/>
            <p:nvPr/>
          </p:nvGrpSpPr>
          <p:grpSpPr>
            <a:xfrm>
              <a:off x="363244" y="1341384"/>
              <a:ext cx="1274604" cy="926022"/>
              <a:chOff x="8215494" y="2072289"/>
              <a:chExt cx="1274604" cy="926022"/>
            </a:xfrm>
          </p:grpSpPr>
          <p:sp>
            <p:nvSpPr>
              <p:cNvPr id="124" name="ZoneTexte 123">
                <a:extLst>
                  <a:ext uri="{FF2B5EF4-FFF2-40B4-BE49-F238E27FC236}">
                    <a16:creationId xmlns:a16="http://schemas.microsoft.com/office/drawing/2014/main" id="{497C4344-ABC3-E58F-2D46-F31C7F4808B6}"/>
                  </a:ext>
                </a:extLst>
              </p:cNvPr>
              <p:cNvSpPr txBox="1"/>
              <p:nvPr/>
            </p:nvSpPr>
            <p:spPr>
              <a:xfrm>
                <a:off x="8215494" y="2603019"/>
                <a:ext cx="1274604" cy="395292"/>
              </a:xfrm>
              <a:prstGeom prst="rect">
                <a:avLst/>
              </a:prstGeom>
              <a:noFill/>
            </p:spPr>
            <p:txBody>
              <a:bodyPr wrap="square">
                <a:spAutoFit/>
              </a:bodyPr>
              <a:lstStyle/>
              <a:p>
                <a:pPr algn="ctr"/>
                <a:r>
                  <a:rPr lang="fr-FR" sz="1000" dirty="0"/>
                  <a:t>Mise en commun d’espaces et lieux</a:t>
                </a:r>
              </a:p>
            </p:txBody>
          </p:sp>
          <p:pic>
            <p:nvPicPr>
              <p:cNvPr id="125" name="Graphique 124" descr="Conseil d’administration avec un remplissage uni">
                <a:extLst>
                  <a:ext uri="{FF2B5EF4-FFF2-40B4-BE49-F238E27FC236}">
                    <a16:creationId xmlns:a16="http://schemas.microsoft.com/office/drawing/2014/main" id="{8C5483A9-13B2-8E63-1C0B-513891428603}"/>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574409" y="2072289"/>
                <a:ext cx="556773" cy="556773"/>
              </a:xfrm>
              <a:prstGeom prst="rect">
                <a:avLst/>
              </a:prstGeom>
            </p:spPr>
          </p:pic>
        </p:grpSp>
        <p:grpSp>
          <p:nvGrpSpPr>
            <p:cNvPr id="115" name="Groupe 114">
              <a:extLst>
                <a:ext uri="{FF2B5EF4-FFF2-40B4-BE49-F238E27FC236}">
                  <a16:creationId xmlns:a16="http://schemas.microsoft.com/office/drawing/2014/main" id="{DFCD5D00-E134-C5C0-C38C-B013526262CC}"/>
                </a:ext>
              </a:extLst>
            </p:cNvPr>
            <p:cNvGrpSpPr/>
            <p:nvPr/>
          </p:nvGrpSpPr>
          <p:grpSpPr>
            <a:xfrm>
              <a:off x="4195824" y="1322881"/>
              <a:ext cx="764501" cy="1078057"/>
              <a:chOff x="9827467" y="2072289"/>
              <a:chExt cx="764501" cy="1078057"/>
            </a:xfrm>
          </p:grpSpPr>
          <p:pic>
            <p:nvPicPr>
              <p:cNvPr id="122" name="Graphique 121" descr="Tirelire avec un remplissage uni">
                <a:extLst>
                  <a:ext uri="{FF2B5EF4-FFF2-40B4-BE49-F238E27FC236}">
                    <a16:creationId xmlns:a16="http://schemas.microsoft.com/office/drawing/2014/main" id="{6DB5ECAE-E5B9-D656-E84B-CDB4D8DF11C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956969" y="2072289"/>
                <a:ext cx="540000" cy="540000"/>
              </a:xfrm>
              <a:prstGeom prst="rect">
                <a:avLst/>
              </a:prstGeom>
            </p:spPr>
          </p:pic>
          <p:sp>
            <p:nvSpPr>
              <p:cNvPr id="123" name="ZoneTexte 122">
                <a:extLst>
                  <a:ext uri="{FF2B5EF4-FFF2-40B4-BE49-F238E27FC236}">
                    <a16:creationId xmlns:a16="http://schemas.microsoft.com/office/drawing/2014/main" id="{F2362EBB-376F-DF9C-50F8-8D7157C3AAA5}"/>
                  </a:ext>
                </a:extLst>
              </p:cNvPr>
              <p:cNvSpPr txBox="1"/>
              <p:nvPr/>
            </p:nvSpPr>
            <p:spPr>
              <a:xfrm>
                <a:off x="9827467" y="2603019"/>
                <a:ext cx="764501" cy="547327"/>
              </a:xfrm>
              <a:prstGeom prst="rect">
                <a:avLst/>
              </a:prstGeom>
              <a:noFill/>
            </p:spPr>
            <p:txBody>
              <a:bodyPr wrap="square">
                <a:spAutoFit/>
              </a:bodyPr>
              <a:lstStyle/>
              <a:p>
                <a:pPr algn="ctr"/>
                <a:r>
                  <a:rPr lang="fr-FR" sz="1000" dirty="0"/>
                  <a:t>Mise en commun de Budget</a:t>
                </a:r>
              </a:p>
            </p:txBody>
          </p:sp>
        </p:grpSp>
        <p:grpSp>
          <p:nvGrpSpPr>
            <p:cNvPr id="116" name="Groupe 115">
              <a:extLst>
                <a:ext uri="{FF2B5EF4-FFF2-40B4-BE49-F238E27FC236}">
                  <a16:creationId xmlns:a16="http://schemas.microsoft.com/office/drawing/2014/main" id="{FF1E903F-E92A-6D01-B17A-C76FE31ADF9F}"/>
                </a:ext>
              </a:extLst>
            </p:cNvPr>
            <p:cNvGrpSpPr/>
            <p:nvPr/>
          </p:nvGrpSpPr>
          <p:grpSpPr>
            <a:xfrm>
              <a:off x="11202158" y="1327063"/>
              <a:ext cx="764501" cy="773986"/>
              <a:chOff x="11150144" y="2072289"/>
              <a:chExt cx="764501" cy="773986"/>
            </a:xfrm>
          </p:grpSpPr>
          <p:pic>
            <p:nvPicPr>
              <p:cNvPr id="120" name="Graphique 119" descr="Badge point d’interrogation avec un remplissage uni">
                <a:extLst>
                  <a:ext uri="{FF2B5EF4-FFF2-40B4-BE49-F238E27FC236}">
                    <a16:creationId xmlns:a16="http://schemas.microsoft.com/office/drawing/2014/main" id="{8E738AE1-9375-282F-DAD6-943FFE0B380E}"/>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1270657" y="2072289"/>
                <a:ext cx="540000" cy="540000"/>
              </a:xfrm>
              <a:prstGeom prst="rect">
                <a:avLst/>
              </a:prstGeom>
            </p:spPr>
          </p:pic>
          <p:sp>
            <p:nvSpPr>
              <p:cNvPr id="121" name="ZoneTexte 120">
                <a:extLst>
                  <a:ext uri="{FF2B5EF4-FFF2-40B4-BE49-F238E27FC236}">
                    <a16:creationId xmlns:a16="http://schemas.microsoft.com/office/drawing/2014/main" id="{E9C64F6A-1BB5-8977-2E32-2E683754DB7D}"/>
                  </a:ext>
                </a:extLst>
              </p:cNvPr>
              <p:cNvSpPr txBox="1"/>
              <p:nvPr/>
            </p:nvSpPr>
            <p:spPr>
              <a:xfrm>
                <a:off x="11150144" y="2603019"/>
                <a:ext cx="764501" cy="243256"/>
              </a:xfrm>
              <a:prstGeom prst="rect">
                <a:avLst/>
              </a:prstGeom>
              <a:noFill/>
            </p:spPr>
            <p:txBody>
              <a:bodyPr wrap="square">
                <a:spAutoFit/>
              </a:bodyPr>
              <a:lstStyle/>
              <a:p>
                <a:pPr algn="ctr"/>
                <a:r>
                  <a:rPr lang="fr-FR" sz="1000" dirty="0"/>
                  <a:t>Autres</a:t>
                </a:r>
              </a:p>
            </p:txBody>
          </p:sp>
        </p:grpSp>
        <p:grpSp>
          <p:nvGrpSpPr>
            <p:cNvPr id="117" name="Groupe 116">
              <a:extLst>
                <a:ext uri="{FF2B5EF4-FFF2-40B4-BE49-F238E27FC236}">
                  <a16:creationId xmlns:a16="http://schemas.microsoft.com/office/drawing/2014/main" id="{E32A19D4-A17B-A831-41F0-81E6188770FF}"/>
                </a:ext>
              </a:extLst>
            </p:cNvPr>
            <p:cNvGrpSpPr/>
            <p:nvPr/>
          </p:nvGrpSpPr>
          <p:grpSpPr>
            <a:xfrm>
              <a:off x="9754481" y="1304631"/>
              <a:ext cx="1326669" cy="945376"/>
              <a:chOff x="9651618" y="1361747"/>
              <a:chExt cx="1326669" cy="945376"/>
            </a:xfrm>
          </p:grpSpPr>
          <p:pic>
            <p:nvPicPr>
              <p:cNvPr id="118" name="Graphique 117" descr="Signe pouce en haut avec un remplissage uni">
                <a:extLst>
                  <a:ext uri="{FF2B5EF4-FFF2-40B4-BE49-F238E27FC236}">
                    <a16:creationId xmlns:a16="http://schemas.microsoft.com/office/drawing/2014/main" id="{78A3BBD3-FDC3-8C3A-ED1F-42C18E2813DD}"/>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0057766" y="1361747"/>
                <a:ext cx="514374" cy="514374"/>
              </a:xfrm>
              <a:prstGeom prst="rect">
                <a:avLst/>
              </a:prstGeom>
            </p:spPr>
          </p:pic>
          <p:sp>
            <p:nvSpPr>
              <p:cNvPr id="119" name="ZoneTexte 118">
                <a:extLst>
                  <a:ext uri="{FF2B5EF4-FFF2-40B4-BE49-F238E27FC236}">
                    <a16:creationId xmlns:a16="http://schemas.microsoft.com/office/drawing/2014/main" id="{6D3C028F-2381-22AD-0446-D67215A9C7D5}"/>
                  </a:ext>
                </a:extLst>
              </p:cNvPr>
              <p:cNvSpPr txBox="1"/>
              <p:nvPr/>
            </p:nvSpPr>
            <p:spPr>
              <a:xfrm>
                <a:off x="9651618" y="1911831"/>
                <a:ext cx="1326669" cy="395292"/>
              </a:xfrm>
              <a:prstGeom prst="rect">
                <a:avLst/>
              </a:prstGeom>
              <a:noFill/>
            </p:spPr>
            <p:txBody>
              <a:bodyPr wrap="square">
                <a:spAutoFit/>
              </a:bodyPr>
              <a:lstStyle/>
              <a:p>
                <a:pPr algn="ctr"/>
                <a:r>
                  <a:rPr lang="fr-FR" sz="1000" dirty="0"/>
                  <a:t>Mise en commun de Soutien extérieur</a:t>
                </a:r>
              </a:p>
            </p:txBody>
          </p:sp>
        </p:grpSp>
      </p:grpSp>
    </p:spTree>
    <p:extLst>
      <p:ext uri="{BB962C8B-B14F-4D97-AF65-F5344CB8AC3E}">
        <p14:creationId xmlns:p14="http://schemas.microsoft.com/office/powerpoint/2010/main" val="81459227"/>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e 4">
            <a:extLst>
              <a:ext uri="{FF2B5EF4-FFF2-40B4-BE49-F238E27FC236}">
                <a16:creationId xmlns:a16="http://schemas.microsoft.com/office/drawing/2014/main" id="{F8BF060F-68CC-D91C-26E2-AE4D4F505281}"/>
              </a:ext>
            </a:extLst>
          </p:cNvPr>
          <p:cNvGrpSpPr/>
          <p:nvPr/>
        </p:nvGrpSpPr>
        <p:grpSpPr>
          <a:xfrm>
            <a:off x="-48029" y="-1526821"/>
            <a:ext cx="3734204" cy="8385903"/>
            <a:chOff x="-48029" y="1152544"/>
            <a:chExt cx="2541095" cy="5706538"/>
          </a:xfrm>
        </p:grpSpPr>
        <p:sp>
          <p:nvSpPr>
            <p:cNvPr id="97" name="Flèche : haut 96">
              <a:extLst>
                <a:ext uri="{FF2B5EF4-FFF2-40B4-BE49-F238E27FC236}">
                  <a16:creationId xmlns:a16="http://schemas.microsoft.com/office/drawing/2014/main" id="{AE89BA1B-419E-63FB-3C74-B37D74D67CAC}"/>
                </a:ext>
              </a:extLst>
            </p:cNvPr>
            <p:cNvSpPr/>
            <p:nvPr/>
          </p:nvSpPr>
          <p:spPr>
            <a:xfrm>
              <a:off x="2188266" y="1187557"/>
              <a:ext cx="304800" cy="4188155"/>
            </a:xfrm>
            <a:prstGeom prst="up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400"/>
            </a:p>
          </p:txBody>
        </p:sp>
        <p:grpSp>
          <p:nvGrpSpPr>
            <p:cNvPr id="98" name="Groupe 97">
              <a:extLst>
                <a:ext uri="{FF2B5EF4-FFF2-40B4-BE49-F238E27FC236}">
                  <a16:creationId xmlns:a16="http://schemas.microsoft.com/office/drawing/2014/main" id="{D9AFE5F4-4254-4E88-1E0A-ED1D23FA3FDA}"/>
                </a:ext>
              </a:extLst>
            </p:cNvPr>
            <p:cNvGrpSpPr/>
            <p:nvPr/>
          </p:nvGrpSpPr>
          <p:grpSpPr>
            <a:xfrm>
              <a:off x="1263236" y="1187557"/>
              <a:ext cx="642859" cy="541981"/>
              <a:chOff x="1797480" y="1339838"/>
              <a:chExt cx="1507135" cy="1270634"/>
            </a:xfrm>
          </p:grpSpPr>
          <p:grpSp>
            <p:nvGrpSpPr>
              <p:cNvPr id="99" name="Groupe 98">
                <a:extLst>
                  <a:ext uri="{FF2B5EF4-FFF2-40B4-BE49-F238E27FC236}">
                    <a16:creationId xmlns:a16="http://schemas.microsoft.com/office/drawing/2014/main" id="{950FC174-2A8C-F2C7-A445-74EACE087F0C}"/>
                  </a:ext>
                </a:extLst>
              </p:cNvPr>
              <p:cNvGrpSpPr/>
              <p:nvPr/>
            </p:nvGrpSpPr>
            <p:grpSpPr>
              <a:xfrm>
                <a:off x="1797480" y="1339838"/>
                <a:ext cx="1507135" cy="1270634"/>
                <a:chOff x="8982504" y="3274976"/>
                <a:chExt cx="1230670" cy="1037553"/>
              </a:xfrm>
              <a:solidFill>
                <a:srgbClr val="ED7D31"/>
              </a:solidFill>
            </p:grpSpPr>
            <p:pic>
              <p:nvPicPr>
                <p:cNvPr id="101" name="Graphique 100" descr="Utilisateur avec un remplissage uni">
                  <a:extLst>
                    <a:ext uri="{FF2B5EF4-FFF2-40B4-BE49-F238E27FC236}">
                      <a16:creationId xmlns:a16="http://schemas.microsoft.com/office/drawing/2014/main" id="{9F799E07-E035-D82E-B88F-A1C30E24B00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02" name="Graphique 101" descr="Utilisateur avec un remplissage uni">
                  <a:extLst>
                    <a:ext uri="{FF2B5EF4-FFF2-40B4-BE49-F238E27FC236}">
                      <a16:creationId xmlns:a16="http://schemas.microsoft.com/office/drawing/2014/main" id="{D634C716-6C7B-6A39-BC03-2508E5A4B46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03" name="Graphique 102" descr="Utilisateur avec un remplissage uni">
                  <a:extLst>
                    <a:ext uri="{FF2B5EF4-FFF2-40B4-BE49-F238E27FC236}">
                      <a16:creationId xmlns:a16="http://schemas.microsoft.com/office/drawing/2014/main" id="{5AC087E2-37A9-7045-BEF5-6F08236C709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04" name="Graphique 103" descr="Utilisateur avec un remplissage uni">
                  <a:extLst>
                    <a:ext uri="{FF2B5EF4-FFF2-40B4-BE49-F238E27FC236}">
                      <a16:creationId xmlns:a16="http://schemas.microsoft.com/office/drawing/2014/main" id="{87F86FAF-C521-39C2-648F-EA0C760BF7E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05" name="Graphique 104" descr="Utilisateur avec un remplissage uni">
                  <a:extLst>
                    <a:ext uri="{FF2B5EF4-FFF2-40B4-BE49-F238E27FC236}">
                      <a16:creationId xmlns:a16="http://schemas.microsoft.com/office/drawing/2014/main" id="{F949EF51-658E-96A6-0FDF-7DF2D13B4A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06" name="Graphique 105" descr="Utilisateur avec un remplissage uni">
                  <a:extLst>
                    <a:ext uri="{FF2B5EF4-FFF2-40B4-BE49-F238E27FC236}">
                      <a16:creationId xmlns:a16="http://schemas.microsoft.com/office/drawing/2014/main" id="{A95E8976-445F-1106-7223-0122A97BB70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07" name="Graphique 106" descr="Utilisateur avec un remplissage uni">
                  <a:extLst>
                    <a:ext uri="{FF2B5EF4-FFF2-40B4-BE49-F238E27FC236}">
                      <a16:creationId xmlns:a16="http://schemas.microsoft.com/office/drawing/2014/main" id="{CC038618-2C40-504C-3DF4-CA7D56CAB97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08" name="Graphique 107" descr="Utilisateur avec un remplissage uni">
                  <a:extLst>
                    <a:ext uri="{FF2B5EF4-FFF2-40B4-BE49-F238E27FC236}">
                      <a16:creationId xmlns:a16="http://schemas.microsoft.com/office/drawing/2014/main" id="{92F0BCBB-FC1F-98EA-E265-76EE4AE0446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09" name="Graphique 108" descr="Utilisateur avec un remplissage uni">
                  <a:extLst>
                    <a:ext uri="{FF2B5EF4-FFF2-40B4-BE49-F238E27FC236}">
                      <a16:creationId xmlns:a16="http://schemas.microsoft.com/office/drawing/2014/main" id="{787601DB-53FF-6153-9432-EE7BDE70219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10" name="Graphique 109" descr="Utilisateur avec un remplissage uni">
                  <a:extLst>
                    <a:ext uri="{FF2B5EF4-FFF2-40B4-BE49-F238E27FC236}">
                      <a16:creationId xmlns:a16="http://schemas.microsoft.com/office/drawing/2014/main" id="{8BC7269C-443D-E67F-5F19-A9854E4839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11" name="Graphique 110" descr="Utilisateur avec un remplissage uni">
                  <a:extLst>
                    <a:ext uri="{FF2B5EF4-FFF2-40B4-BE49-F238E27FC236}">
                      <a16:creationId xmlns:a16="http://schemas.microsoft.com/office/drawing/2014/main" id="{A1613045-850B-66A4-1284-8E31FBC2FFA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00" name="Graphique 99" descr="Boîte à archives avec un remplissage uni">
                <a:extLst>
                  <a:ext uri="{FF2B5EF4-FFF2-40B4-BE49-F238E27FC236}">
                    <a16:creationId xmlns:a16="http://schemas.microsoft.com/office/drawing/2014/main" id="{87961DF1-41B6-973F-640C-4DEDBF85610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164013" y="1631780"/>
                <a:ext cx="795090" cy="795090"/>
              </a:xfrm>
              <a:prstGeom prst="rect">
                <a:avLst/>
              </a:prstGeom>
            </p:spPr>
          </p:pic>
        </p:grpSp>
        <p:grpSp>
          <p:nvGrpSpPr>
            <p:cNvPr id="112" name="Groupe 111">
              <a:extLst>
                <a:ext uri="{FF2B5EF4-FFF2-40B4-BE49-F238E27FC236}">
                  <a16:creationId xmlns:a16="http://schemas.microsoft.com/office/drawing/2014/main" id="{F29BCC2C-AF9F-E535-6D57-4706E786826F}"/>
                </a:ext>
              </a:extLst>
            </p:cNvPr>
            <p:cNvGrpSpPr/>
            <p:nvPr/>
          </p:nvGrpSpPr>
          <p:grpSpPr>
            <a:xfrm>
              <a:off x="1205435" y="1836377"/>
              <a:ext cx="928257" cy="541981"/>
              <a:chOff x="1797480" y="1339838"/>
              <a:chExt cx="2176227" cy="1270634"/>
            </a:xfrm>
          </p:grpSpPr>
          <p:grpSp>
            <p:nvGrpSpPr>
              <p:cNvPr id="113" name="Groupe 112">
                <a:extLst>
                  <a:ext uri="{FF2B5EF4-FFF2-40B4-BE49-F238E27FC236}">
                    <a16:creationId xmlns:a16="http://schemas.microsoft.com/office/drawing/2014/main" id="{D02DE41C-34FA-4ADF-A86C-28A9B48A45BA}"/>
                  </a:ext>
                </a:extLst>
              </p:cNvPr>
              <p:cNvGrpSpPr/>
              <p:nvPr/>
            </p:nvGrpSpPr>
            <p:grpSpPr>
              <a:xfrm>
                <a:off x="1797480" y="1339838"/>
                <a:ext cx="1507135" cy="1270634"/>
                <a:chOff x="8982504" y="3274976"/>
                <a:chExt cx="1230670" cy="1037553"/>
              </a:xfrm>
              <a:solidFill>
                <a:srgbClr val="ED7D31"/>
              </a:solidFill>
            </p:grpSpPr>
            <p:pic>
              <p:nvPicPr>
                <p:cNvPr id="115" name="Graphique 114" descr="Utilisateur avec un remplissage uni">
                  <a:extLst>
                    <a:ext uri="{FF2B5EF4-FFF2-40B4-BE49-F238E27FC236}">
                      <a16:creationId xmlns:a16="http://schemas.microsoft.com/office/drawing/2014/main" id="{7DD52728-B979-4735-9302-8FAADA586C1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16" name="Graphique 115" descr="Utilisateur avec un remplissage uni">
                  <a:extLst>
                    <a:ext uri="{FF2B5EF4-FFF2-40B4-BE49-F238E27FC236}">
                      <a16:creationId xmlns:a16="http://schemas.microsoft.com/office/drawing/2014/main" id="{70C34291-3CD9-7411-25AF-30D24DF1314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17" name="Graphique 116" descr="Utilisateur avec un remplissage uni">
                  <a:extLst>
                    <a:ext uri="{FF2B5EF4-FFF2-40B4-BE49-F238E27FC236}">
                      <a16:creationId xmlns:a16="http://schemas.microsoft.com/office/drawing/2014/main" id="{279D435E-3813-6FC3-55E6-35504864488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18" name="Graphique 117" descr="Utilisateur avec un remplissage uni">
                  <a:extLst>
                    <a:ext uri="{FF2B5EF4-FFF2-40B4-BE49-F238E27FC236}">
                      <a16:creationId xmlns:a16="http://schemas.microsoft.com/office/drawing/2014/main" id="{2398F617-C4CF-3C88-AE58-D52C4D4D589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19" name="Graphique 118" descr="Utilisateur avec un remplissage uni">
                  <a:extLst>
                    <a:ext uri="{FF2B5EF4-FFF2-40B4-BE49-F238E27FC236}">
                      <a16:creationId xmlns:a16="http://schemas.microsoft.com/office/drawing/2014/main" id="{9B69D1AC-0F96-FD3D-51A6-1FD1846CFAC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20" name="Graphique 119" descr="Utilisateur avec un remplissage uni">
                  <a:extLst>
                    <a:ext uri="{FF2B5EF4-FFF2-40B4-BE49-F238E27FC236}">
                      <a16:creationId xmlns:a16="http://schemas.microsoft.com/office/drawing/2014/main" id="{D18EB99D-0FD7-56C8-DB98-4D4F556489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21" name="Graphique 120" descr="Utilisateur avec un remplissage uni">
                  <a:extLst>
                    <a:ext uri="{FF2B5EF4-FFF2-40B4-BE49-F238E27FC236}">
                      <a16:creationId xmlns:a16="http://schemas.microsoft.com/office/drawing/2014/main" id="{2825E89F-CD09-728D-FD63-D516A0C7F52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22" name="Graphique 121" descr="Utilisateur avec un remplissage uni">
                  <a:extLst>
                    <a:ext uri="{FF2B5EF4-FFF2-40B4-BE49-F238E27FC236}">
                      <a16:creationId xmlns:a16="http://schemas.microsoft.com/office/drawing/2014/main" id="{C11AD3B4-5DA2-81EA-7013-DE0DE87023A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23" name="Graphique 122" descr="Utilisateur avec un remplissage uni">
                  <a:extLst>
                    <a:ext uri="{FF2B5EF4-FFF2-40B4-BE49-F238E27FC236}">
                      <a16:creationId xmlns:a16="http://schemas.microsoft.com/office/drawing/2014/main" id="{5F8AC828-A739-3B4E-914F-2C7740CE9CC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24" name="Graphique 123" descr="Utilisateur avec un remplissage uni">
                  <a:extLst>
                    <a:ext uri="{FF2B5EF4-FFF2-40B4-BE49-F238E27FC236}">
                      <a16:creationId xmlns:a16="http://schemas.microsoft.com/office/drawing/2014/main" id="{053335BE-539E-57B4-7312-A35C5D47ACF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25" name="Graphique 124" descr="Utilisateur avec un remplissage uni">
                  <a:extLst>
                    <a:ext uri="{FF2B5EF4-FFF2-40B4-BE49-F238E27FC236}">
                      <a16:creationId xmlns:a16="http://schemas.microsoft.com/office/drawing/2014/main" id="{2BE71045-A682-A6C1-5DB3-87C63D75742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14" name="Graphique 113" descr="Boîte à archives avec un remplissage uni">
                <a:extLst>
                  <a:ext uri="{FF2B5EF4-FFF2-40B4-BE49-F238E27FC236}">
                    <a16:creationId xmlns:a16="http://schemas.microsoft.com/office/drawing/2014/main" id="{862ADCD5-6BF2-F044-86AF-17B38C46673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178618" y="1572578"/>
                <a:ext cx="795089" cy="795090"/>
              </a:xfrm>
              <a:prstGeom prst="rect">
                <a:avLst/>
              </a:prstGeom>
            </p:spPr>
          </p:pic>
        </p:grpSp>
        <p:grpSp>
          <p:nvGrpSpPr>
            <p:cNvPr id="126" name="Groupe 125">
              <a:extLst>
                <a:ext uri="{FF2B5EF4-FFF2-40B4-BE49-F238E27FC236}">
                  <a16:creationId xmlns:a16="http://schemas.microsoft.com/office/drawing/2014/main" id="{30C34A92-9FA7-E5AB-40AE-77EB6EEBD4E8}"/>
                </a:ext>
              </a:extLst>
            </p:cNvPr>
            <p:cNvGrpSpPr/>
            <p:nvPr/>
          </p:nvGrpSpPr>
          <p:grpSpPr>
            <a:xfrm>
              <a:off x="1033252" y="2595975"/>
              <a:ext cx="1104068" cy="541981"/>
              <a:chOff x="1797481" y="3401554"/>
              <a:chExt cx="1314902" cy="645478"/>
            </a:xfrm>
          </p:grpSpPr>
          <p:grpSp>
            <p:nvGrpSpPr>
              <p:cNvPr id="127" name="Groupe 126">
                <a:extLst>
                  <a:ext uri="{FF2B5EF4-FFF2-40B4-BE49-F238E27FC236}">
                    <a16:creationId xmlns:a16="http://schemas.microsoft.com/office/drawing/2014/main" id="{D7FCD4ED-4143-62F3-EC43-52FF07E73851}"/>
                  </a:ext>
                </a:extLst>
              </p:cNvPr>
              <p:cNvGrpSpPr/>
              <p:nvPr/>
            </p:nvGrpSpPr>
            <p:grpSpPr>
              <a:xfrm>
                <a:off x="1797481" y="3401554"/>
                <a:ext cx="1314902" cy="645478"/>
                <a:chOff x="1797480" y="1339838"/>
                <a:chExt cx="2588405" cy="1270634"/>
              </a:xfrm>
            </p:grpSpPr>
            <p:grpSp>
              <p:nvGrpSpPr>
                <p:cNvPr id="129" name="Groupe 128">
                  <a:extLst>
                    <a:ext uri="{FF2B5EF4-FFF2-40B4-BE49-F238E27FC236}">
                      <a16:creationId xmlns:a16="http://schemas.microsoft.com/office/drawing/2014/main" id="{4DFE496F-FCF0-988B-C261-CFFF1DDAF8BA}"/>
                    </a:ext>
                  </a:extLst>
                </p:cNvPr>
                <p:cNvGrpSpPr/>
                <p:nvPr/>
              </p:nvGrpSpPr>
              <p:grpSpPr>
                <a:xfrm>
                  <a:off x="1797480" y="1339838"/>
                  <a:ext cx="1507135" cy="1270634"/>
                  <a:chOff x="8982504" y="3274976"/>
                  <a:chExt cx="1230670" cy="1037553"/>
                </a:xfrm>
                <a:solidFill>
                  <a:srgbClr val="ED7D31"/>
                </a:solidFill>
              </p:grpSpPr>
              <p:pic>
                <p:nvPicPr>
                  <p:cNvPr id="131" name="Graphique 130" descr="Utilisateur avec un remplissage uni">
                    <a:extLst>
                      <a:ext uri="{FF2B5EF4-FFF2-40B4-BE49-F238E27FC236}">
                        <a16:creationId xmlns:a16="http://schemas.microsoft.com/office/drawing/2014/main" id="{65593941-3099-8CE5-0DEC-F1556F0DEF8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32" name="Graphique 131" descr="Utilisateur avec un remplissage uni">
                    <a:extLst>
                      <a:ext uri="{FF2B5EF4-FFF2-40B4-BE49-F238E27FC236}">
                        <a16:creationId xmlns:a16="http://schemas.microsoft.com/office/drawing/2014/main" id="{D38B1CF9-4E3A-7B24-EDB0-7DFCB4739D8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33" name="Graphique 132" descr="Utilisateur avec un remplissage uni">
                    <a:extLst>
                      <a:ext uri="{FF2B5EF4-FFF2-40B4-BE49-F238E27FC236}">
                        <a16:creationId xmlns:a16="http://schemas.microsoft.com/office/drawing/2014/main" id="{5921E86C-6652-62A2-E6D5-2A2C573EB62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34" name="Graphique 133" descr="Utilisateur avec un remplissage uni">
                    <a:extLst>
                      <a:ext uri="{FF2B5EF4-FFF2-40B4-BE49-F238E27FC236}">
                        <a16:creationId xmlns:a16="http://schemas.microsoft.com/office/drawing/2014/main" id="{90D1938C-21C9-B52E-F22D-82102A19820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35" name="Graphique 134" descr="Utilisateur avec un remplissage uni">
                    <a:extLst>
                      <a:ext uri="{FF2B5EF4-FFF2-40B4-BE49-F238E27FC236}">
                        <a16:creationId xmlns:a16="http://schemas.microsoft.com/office/drawing/2014/main" id="{91358773-5FC5-70C7-90CA-F74FE916077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36" name="Graphique 135" descr="Utilisateur avec un remplissage uni">
                    <a:extLst>
                      <a:ext uri="{FF2B5EF4-FFF2-40B4-BE49-F238E27FC236}">
                        <a16:creationId xmlns:a16="http://schemas.microsoft.com/office/drawing/2014/main" id="{5DBA6000-E7DD-6860-2D3D-2561412B41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37" name="Graphique 136" descr="Utilisateur avec un remplissage uni">
                    <a:extLst>
                      <a:ext uri="{FF2B5EF4-FFF2-40B4-BE49-F238E27FC236}">
                        <a16:creationId xmlns:a16="http://schemas.microsoft.com/office/drawing/2014/main" id="{5523E782-4802-D77F-6352-C00A1E0D4B1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38" name="Graphique 137" descr="Utilisateur avec un remplissage uni">
                    <a:extLst>
                      <a:ext uri="{FF2B5EF4-FFF2-40B4-BE49-F238E27FC236}">
                        <a16:creationId xmlns:a16="http://schemas.microsoft.com/office/drawing/2014/main" id="{65C29A5C-4970-86A7-4514-6DE0CA03029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39" name="Graphique 138" descr="Utilisateur avec un remplissage uni">
                    <a:extLst>
                      <a:ext uri="{FF2B5EF4-FFF2-40B4-BE49-F238E27FC236}">
                        <a16:creationId xmlns:a16="http://schemas.microsoft.com/office/drawing/2014/main" id="{823DB485-5243-BC08-0943-3EDAD810232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40" name="Graphique 139" descr="Utilisateur avec un remplissage uni">
                    <a:extLst>
                      <a:ext uri="{FF2B5EF4-FFF2-40B4-BE49-F238E27FC236}">
                        <a16:creationId xmlns:a16="http://schemas.microsoft.com/office/drawing/2014/main" id="{0A6FF9A6-7DF6-F536-17D9-58335AB788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41" name="Graphique 140" descr="Utilisateur avec un remplissage uni">
                    <a:extLst>
                      <a:ext uri="{FF2B5EF4-FFF2-40B4-BE49-F238E27FC236}">
                        <a16:creationId xmlns:a16="http://schemas.microsoft.com/office/drawing/2014/main" id="{B80FE338-208E-FEF0-E42E-1CBCA564B43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30" name="Graphique 129" descr="Boîte à archives avec un remplissage uni">
                  <a:extLst>
                    <a:ext uri="{FF2B5EF4-FFF2-40B4-BE49-F238E27FC236}">
                      <a16:creationId xmlns:a16="http://schemas.microsoft.com/office/drawing/2014/main" id="{60EB9EB9-5223-4CB4-53D4-942FD7DF93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28" name="Graphique 127" descr="Déverrouiller avec un remplissage uni">
                <a:extLst>
                  <a:ext uri="{FF2B5EF4-FFF2-40B4-BE49-F238E27FC236}">
                    <a16:creationId xmlns:a16="http://schemas.microsoft.com/office/drawing/2014/main" id="{D782765A-D0ED-613C-3CBB-11E8EBAA0C7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flipH="1">
                <a:off x="2498111" y="3408841"/>
                <a:ext cx="432779" cy="462545"/>
              </a:xfrm>
              <a:prstGeom prst="rect">
                <a:avLst/>
              </a:prstGeom>
            </p:spPr>
          </p:pic>
        </p:grpSp>
        <p:grpSp>
          <p:nvGrpSpPr>
            <p:cNvPr id="142" name="Groupe 141">
              <a:extLst>
                <a:ext uri="{FF2B5EF4-FFF2-40B4-BE49-F238E27FC236}">
                  <a16:creationId xmlns:a16="http://schemas.microsoft.com/office/drawing/2014/main" id="{7C9FF69A-4656-B3FC-8D15-940A846DC8B7}"/>
                </a:ext>
              </a:extLst>
            </p:cNvPr>
            <p:cNvGrpSpPr/>
            <p:nvPr/>
          </p:nvGrpSpPr>
          <p:grpSpPr>
            <a:xfrm>
              <a:off x="1035880" y="3313420"/>
              <a:ext cx="1104068" cy="541981"/>
              <a:chOff x="1800611" y="4256002"/>
              <a:chExt cx="1314902" cy="645478"/>
            </a:xfrm>
          </p:grpSpPr>
          <p:grpSp>
            <p:nvGrpSpPr>
              <p:cNvPr id="143" name="Groupe 142">
                <a:extLst>
                  <a:ext uri="{FF2B5EF4-FFF2-40B4-BE49-F238E27FC236}">
                    <a16:creationId xmlns:a16="http://schemas.microsoft.com/office/drawing/2014/main" id="{1C144AA4-47EF-EAB2-0C34-5E0733CBFA25}"/>
                  </a:ext>
                </a:extLst>
              </p:cNvPr>
              <p:cNvGrpSpPr/>
              <p:nvPr/>
            </p:nvGrpSpPr>
            <p:grpSpPr>
              <a:xfrm>
                <a:off x="1800611" y="4256002"/>
                <a:ext cx="1314902" cy="645478"/>
                <a:chOff x="1797480" y="1339838"/>
                <a:chExt cx="2588405" cy="1270634"/>
              </a:xfrm>
            </p:grpSpPr>
            <p:grpSp>
              <p:nvGrpSpPr>
                <p:cNvPr id="145" name="Groupe 144">
                  <a:extLst>
                    <a:ext uri="{FF2B5EF4-FFF2-40B4-BE49-F238E27FC236}">
                      <a16:creationId xmlns:a16="http://schemas.microsoft.com/office/drawing/2014/main" id="{763AD210-AE17-667E-924D-FA200103688A}"/>
                    </a:ext>
                  </a:extLst>
                </p:cNvPr>
                <p:cNvGrpSpPr/>
                <p:nvPr/>
              </p:nvGrpSpPr>
              <p:grpSpPr>
                <a:xfrm>
                  <a:off x="1797480" y="1339838"/>
                  <a:ext cx="1507135" cy="1270634"/>
                  <a:chOff x="8982504" y="3274976"/>
                  <a:chExt cx="1230670" cy="1037553"/>
                </a:xfrm>
                <a:solidFill>
                  <a:srgbClr val="ED7D31"/>
                </a:solidFill>
              </p:grpSpPr>
              <p:pic>
                <p:nvPicPr>
                  <p:cNvPr id="147" name="Graphique 146" descr="Utilisateur avec un remplissage uni">
                    <a:extLst>
                      <a:ext uri="{FF2B5EF4-FFF2-40B4-BE49-F238E27FC236}">
                        <a16:creationId xmlns:a16="http://schemas.microsoft.com/office/drawing/2014/main" id="{76A43EBB-552D-D215-DB8D-5B5075C5D72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48" name="Graphique 147" descr="Utilisateur avec un remplissage uni">
                    <a:extLst>
                      <a:ext uri="{FF2B5EF4-FFF2-40B4-BE49-F238E27FC236}">
                        <a16:creationId xmlns:a16="http://schemas.microsoft.com/office/drawing/2014/main" id="{2382845E-EE64-B55C-0E51-17BF86C19F1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49" name="Graphique 148" descr="Utilisateur avec un remplissage uni">
                    <a:extLst>
                      <a:ext uri="{FF2B5EF4-FFF2-40B4-BE49-F238E27FC236}">
                        <a16:creationId xmlns:a16="http://schemas.microsoft.com/office/drawing/2014/main" id="{B1C44714-6F1A-24C0-977E-F5BF5F7BD31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50" name="Graphique 149" descr="Utilisateur avec un remplissage uni">
                    <a:extLst>
                      <a:ext uri="{FF2B5EF4-FFF2-40B4-BE49-F238E27FC236}">
                        <a16:creationId xmlns:a16="http://schemas.microsoft.com/office/drawing/2014/main" id="{2D001668-57FC-54A1-2D5B-7A8CE70DABF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51" name="Graphique 150" descr="Utilisateur avec un remplissage uni">
                    <a:extLst>
                      <a:ext uri="{FF2B5EF4-FFF2-40B4-BE49-F238E27FC236}">
                        <a16:creationId xmlns:a16="http://schemas.microsoft.com/office/drawing/2014/main" id="{ADDEDA45-95E8-78E7-7865-4D8970A7A81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52" name="Graphique 151" descr="Utilisateur avec un remplissage uni">
                    <a:extLst>
                      <a:ext uri="{FF2B5EF4-FFF2-40B4-BE49-F238E27FC236}">
                        <a16:creationId xmlns:a16="http://schemas.microsoft.com/office/drawing/2014/main" id="{2309201C-A827-EEA7-F145-1ACD494F367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53" name="Graphique 152" descr="Utilisateur avec un remplissage uni">
                    <a:extLst>
                      <a:ext uri="{FF2B5EF4-FFF2-40B4-BE49-F238E27FC236}">
                        <a16:creationId xmlns:a16="http://schemas.microsoft.com/office/drawing/2014/main" id="{EDF70FEF-CBCD-CC31-AAD9-45BE9866167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54" name="Graphique 153" descr="Utilisateur avec un remplissage uni">
                    <a:extLst>
                      <a:ext uri="{FF2B5EF4-FFF2-40B4-BE49-F238E27FC236}">
                        <a16:creationId xmlns:a16="http://schemas.microsoft.com/office/drawing/2014/main" id="{0E6F1FC4-1E45-17AC-CD58-F79BB71FA8A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55" name="Graphique 154" descr="Utilisateur avec un remplissage uni">
                    <a:extLst>
                      <a:ext uri="{FF2B5EF4-FFF2-40B4-BE49-F238E27FC236}">
                        <a16:creationId xmlns:a16="http://schemas.microsoft.com/office/drawing/2014/main" id="{B2131C9B-E4FB-D332-749E-76BF04BD1AF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56" name="Graphique 155" descr="Utilisateur avec un remplissage uni">
                    <a:extLst>
                      <a:ext uri="{FF2B5EF4-FFF2-40B4-BE49-F238E27FC236}">
                        <a16:creationId xmlns:a16="http://schemas.microsoft.com/office/drawing/2014/main" id="{A8DF361A-21FA-7FDC-E3CD-831A740556B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57" name="Graphique 156" descr="Utilisateur avec un remplissage uni">
                    <a:extLst>
                      <a:ext uri="{FF2B5EF4-FFF2-40B4-BE49-F238E27FC236}">
                        <a16:creationId xmlns:a16="http://schemas.microsoft.com/office/drawing/2014/main" id="{A5BEA45A-42C1-FFBF-94ED-D0D545A4707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46" name="Graphique 145" descr="Boîte à archives avec un remplissage uni">
                  <a:extLst>
                    <a:ext uri="{FF2B5EF4-FFF2-40B4-BE49-F238E27FC236}">
                      <a16:creationId xmlns:a16="http://schemas.microsoft.com/office/drawing/2014/main" id="{F405E83A-DBE4-90C1-DFD0-1E4D01110F0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44" name="Graphique 143" descr="Verrou avec un remplissage uni">
                <a:extLst>
                  <a:ext uri="{FF2B5EF4-FFF2-40B4-BE49-F238E27FC236}">
                    <a16:creationId xmlns:a16="http://schemas.microsoft.com/office/drawing/2014/main" id="{8D408278-267D-C752-C581-E206DACDC5E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493236" y="4290370"/>
                <a:ext cx="466725" cy="466725"/>
              </a:xfrm>
              <a:prstGeom prst="rect">
                <a:avLst/>
              </a:prstGeom>
            </p:spPr>
          </p:pic>
        </p:grpSp>
        <p:grpSp>
          <p:nvGrpSpPr>
            <p:cNvPr id="158" name="Groupe 157">
              <a:extLst>
                <a:ext uri="{FF2B5EF4-FFF2-40B4-BE49-F238E27FC236}">
                  <a16:creationId xmlns:a16="http://schemas.microsoft.com/office/drawing/2014/main" id="{4346BC1D-D789-17CD-DE58-BEFD6CD8E981}"/>
                </a:ext>
              </a:extLst>
            </p:cNvPr>
            <p:cNvGrpSpPr/>
            <p:nvPr/>
          </p:nvGrpSpPr>
          <p:grpSpPr>
            <a:xfrm>
              <a:off x="1020666" y="3908140"/>
              <a:ext cx="1104068" cy="646669"/>
              <a:chOff x="1782492" y="4964291"/>
              <a:chExt cx="1314902" cy="770157"/>
            </a:xfrm>
          </p:grpSpPr>
          <p:grpSp>
            <p:nvGrpSpPr>
              <p:cNvPr id="159" name="Groupe 158">
                <a:extLst>
                  <a:ext uri="{FF2B5EF4-FFF2-40B4-BE49-F238E27FC236}">
                    <a16:creationId xmlns:a16="http://schemas.microsoft.com/office/drawing/2014/main" id="{51A2E2FC-3457-CE7C-2854-0BF42938E11B}"/>
                  </a:ext>
                </a:extLst>
              </p:cNvPr>
              <p:cNvGrpSpPr/>
              <p:nvPr/>
            </p:nvGrpSpPr>
            <p:grpSpPr>
              <a:xfrm>
                <a:off x="1782492" y="5088970"/>
                <a:ext cx="1314902" cy="645478"/>
                <a:chOff x="1797480" y="1339838"/>
                <a:chExt cx="2588405" cy="1270634"/>
              </a:xfrm>
            </p:grpSpPr>
            <p:grpSp>
              <p:nvGrpSpPr>
                <p:cNvPr id="161" name="Groupe 160">
                  <a:extLst>
                    <a:ext uri="{FF2B5EF4-FFF2-40B4-BE49-F238E27FC236}">
                      <a16:creationId xmlns:a16="http://schemas.microsoft.com/office/drawing/2014/main" id="{183A8716-1F8D-5C40-816D-233AE8D3342C}"/>
                    </a:ext>
                  </a:extLst>
                </p:cNvPr>
                <p:cNvGrpSpPr/>
                <p:nvPr/>
              </p:nvGrpSpPr>
              <p:grpSpPr>
                <a:xfrm>
                  <a:off x="1797480" y="1339838"/>
                  <a:ext cx="1507135" cy="1270634"/>
                  <a:chOff x="8982504" y="3274976"/>
                  <a:chExt cx="1230670" cy="1037553"/>
                </a:xfrm>
                <a:solidFill>
                  <a:srgbClr val="ED7D31"/>
                </a:solidFill>
              </p:grpSpPr>
              <p:pic>
                <p:nvPicPr>
                  <p:cNvPr id="163" name="Graphique 162" descr="Utilisateur avec un remplissage uni">
                    <a:extLst>
                      <a:ext uri="{FF2B5EF4-FFF2-40B4-BE49-F238E27FC236}">
                        <a16:creationId xmlns:a16="http://schemas.microsoft.com/office/drawing/2014/main" id="{A6B9F7F4-E58F-22CF-41E0-BCB6042EF00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64" name="Graphique 163" descr="Utilisateur avec un remplissage uni">
                    <a:extLst>
                      <a:ext uri="{FF2B5EF4-FFF2-40B4-BE49-F238E27FC236}">
                        <a16:creationId xmlns:a16="http://schemas.microsoft.com/office/drawing/2014/main" id="{103EFAA9-DED0-2DF8-4BC5-F05FA0A911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65" name="Graphique 164" descr="Utilisateur avec un remplissage uni">
                    <a:extLst>
                      <a:ext uri="{FF2B5EF4-FFF2-40B4-BE49-F238E27FC236}">
                        <a16:creationId xmlns:a16="http://schemas.microsoft.com/office/drawing/2014/main" id="{F39E1A3C-9BEF-2AFC-5076-4AF594E6C38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66" name="Graphique 165" descr="Utilisateur avec un remplissage uni">
                    <a:extLst>
                      <a:ext uri="{FF2B5EF4-FFF2-40B4-BE49-F238E27FC236}">
                        <a16:creationId xmlns:a16="http://schemas.microsoft.com/office/drawing/2014/main" id="{84343633-49E6-7B9F-ABE8-D19DB29BF74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67" name="Graphique 166" descr="Utilisateur avec un remplissage uni">
                    <a:extLst>
                      <a:ext uri="{FF2B5EF4-FFF2-40B4-BE49-F238E27FC236}">
                        <a16:creationId xmlns:a16="http://schemas.microsoft.com/office/drawing/2014/main" id="{B050891C-8045-4450-30B2-17D8707BEDC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68" name="Graphique 167" descr="Utilisateur avec un remplissage uni">
                    <a:extLst>
                      <a:ext uri="{FF2B5EF4-FFF2-40B4-BE49-F238E27FC236}">
                        <a16:creationId xmlns:a16="http://schemas.microsoft.com/office/drawing/2014/main" id="{287E5492-B945-B226-9D94-B986737C656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69" name="Graphique 168" descr="Utilisateur avec un remplissage uni">
                    <a:extLst>
                      <a:ext uri="{FF2B5EF4-FFF2-40B4-BE49-F238E27FC236}">
                        <a16:creationId xmlns:a16="http://schemas.microsoft.com/office/drawing/2014/main" id="{6D6333E7-1240-CCED-EE9B-2DA85C38F0C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70" name="Graphique 169" descr="Utilisateur avec un remplissage uni">
                    <a:extLst>
                      <a:ext uri="{FF2B5EF4-FFF2-40B4-BE49-F238E27FC236}">
                        <a16:creationId xmlns:a16="http://schemas.microsoft.com/office/drawing/2014/main" id="{D37F7303-B51D-C55A-9C45-ACBF7FF974F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71" name="Graphique 170" descr="Utilisateur avec un remplissage uni">
                    <a:extLst>
                      <a:ext uri="{FF2B5EF4-FFF2-40B4-BE49-F238E27FC236}">
                        <a16:creationId xmlns:a16="http://schemas.microsoft.com/office/drawing/2014/main" id="{6C9E8642-D991-2AE2-3CAE-BA471A39BA6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72" name="Graphique 171" descr="Utilisateur avec un remplissage uni">
                    <a:extLst>
                      <a:ext uri="{FF2B5EF4-FFF2-40B4-BE49-F238E27FC236}">
                        <a16:creationId xmlns:a16="http://schemas.microsoft.com/office/drawing/2014/main" id="{CF8B3F70-949E-789D-03D6-C84BFD6EBB9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73" name="Graphique 172" descr="Utilisateur avec un remplissage uni">
                    <a:extLst>
                      <a:ext uri="{FF2B5EF4-FFF2-40B4-BE49-F238E27FC236}">
                        <a16:creationId xmlns:a16="http://schemas.microsoft.com/office/drawing/2014/main" id="{D8056C49-8486-7068-D54E-311C3D97B0C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62" name="Graphique 161" descr="Boîte à archives avec un remplissage uni">
                  <a:extLst>
                    <a:ext uri="{FF2B5EF4-FFF2-40B4-BE49-F238E27FC236}">
                      <a16:creationId xmlns:a16="http://schemas.microsoft.com/office/drawing/2014/main" id="{92DB3A34-957B-01C3-3CAA-6DD6045CAA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60" name="Graphique 159" descr="Verrou avec un remplissage uni">
                <a:extLst>
                  <a:ext uri="{FF2B5EF4-FFF2-40B4-BE49-F238E27FC236}">
                    <a16:creationId xmlns:a16="http://schemas.microsoft.com/office/drawing/2014/main" id="{CFE2D4FF-C8FB-8EF2-887C-0ABBEE0A2E6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293077" y="4964291"/>
                <a:ext cx="743725" cy="743725"/>
              </a:xfrm>
              <a:prstGeom prst="rect">
                <a:avLst/>
              </a:prstGeom>
            </p:spPr>
          </p:pic>
        </p:grpSp>
        <p:grpSp>
          <p:nvGrpSpPr>
            <p:cNvPr id="174" name="Groupe 173">
              <a:extLst>
                <a:ext uri="{FF2B5EF4-FFF2-40B4-BE49-F238E27FC236}">
                  <a16:creationId xmlns:a16="http://schemas.microsoft.com/office/drawing/2014/main" id="{15213990-315C-8E1E-5478-A08D0EFF1AB0}"/>
                </a:ext>
              </a:extLst>
            </p:cNvPr>
            <p:cNvGrpSpPr/>
            <p:nvPr/>
          </p:nvGrpSpPr>
          <p:grpSpPr>
            <a:xfrm>
              <a:off x="1007610" y="6145797"/>
              <a:ext cx="1123328" cy="541981"/>
              <a:chOff x="1804205" y="5917781"/>
              <a:chExt cx="1337840" cy="645478"/>
            </a:xfrm>
          </p:grpSpPr>
          <p:grpSp>
            <p:nvGrpSpPr>
              <p:cNvPr id="175" name="Groupe 174">
                <a:extLst>
                  <a:ext uri="{FF2B5EF4-FFF2-40B4-BE49-F238E27FC236}">
                    <a16:creationId xmlns:a16="http://schemas.microsoft.com/office/drawing/2014/main" id="{E2CCD889-6624-E8F1-01DB-FB866D91E4FC}"/>
                  </a:ext>
                </a:extLst>
              </p:cNvPr>
              <p:cNvGrpSpPr/>
              <p:nvPr/>
            </p:nvGrpSpPr>
            <p:grpSpPr>
              <a:xfrm>
                <a:off x="1804205" y="5917781"/>
                <a:ext cx="1314902" cy="645478"/>
                <a:chOff x="1797480" y="1339838"/>
                <a:chExt cx="2588405" cy="1270634"/>
              </a:xfrm>
            </p:grpSpPr>
            <p:grpSp>
              <p:nvGrpSpPr>
                <p:cNvPr id="177" name="Groupe 176">
                  <a:extLst>
                    <a:ext uri="{FF2B5EF4-FFF2-40B4-BE49-F238E27FC236}">
                      <a16:creationId xmlns:a16="http://schemas.microsoft.com/office/drawing/2014/main" id="{04982C7C-EEBE-2A25-AAFC-4ED49CA05702}"/>
                    </a:ext>
                  </a:extLst>
                </p:cNvPr>
                <p:cNvGrpSpPr/>
                <p:nvPr/>
              </p:nvGrpSpPr>
              <p:grpSpPr>
                <a:xfrm>
                  <a:off x="1797480" y="1339838"/>
                  <a:ext cx="1507135" cy="1270634"/>
                  <a:chOff x="8982504" y="3274976"/>
                  <a:chExt cx="1230670" cy="1037553"/>
                </a:xfrm>
                <a:solidFill>
                  <a:srgbClr val="ED7D31"/>
                </a:solidFill>
              </p:grpSpPr>
              <p:pic>
                <p:nvPicPr>
                  <p:cNvPr id="179" name="Graphique 178" descr="Utilisateur avec un remplissage uni">
                    <a:extLst>
                      <a:ext uri="{FF2B5EF4-FFF2-40B4-BE49-F238E27FC236}">
                        <a16:creationId xmlns:a16="http://schemas.microsoft.com/office/drawing/2014/main" id="{7A439E10-862B-0926-D99B-129A7A819FA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80" name="Graphique 179" descr="Utilisateur avec un remplissage uni">
                    <a:extLst>
                      <a:ext uri="{FF2B5EF4-FFF2-40B4-BE49-F238E27FC236}">
                        <a16:creationId xmlns:a16="http://schemas.microsoft.com/office/drawing/2014/main" id="{B3B6C31B-8F31-1C7B-8A6F-D74DE673E1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81" name="Graphique 180" descr="Utilisateur avec un remplissage uni">
                    <a:extLst>
                      <a:ext uri="{FF2B5EF4-FFF2-40B4-BE49-F238E27FC236}">
                        <a16:creationId xmlns:a16="http://schemas.microsoft.com/office/drawing/2014/main" id="{6D328606-24DE-5A14-BB98-C0654CBB856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82" name="Graphique 181" descr="Utilisateur avec un remplissage uni">
                    <a:extLst>
                      <a:ext uri="{FF2B5EF4-FFF2-40B4-BE49-F238E27FC236}">
                        <a16:creationId xmlns:a16="http://schemas.microsoft.com/office/drawing/2014/main" id="{19D019E2-A755-3D57-5D52-3E2A3BBCD38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83" name="Graphique 182" descr="Utilisateur avec un remplissage uni">
                    <a:extLst>
                      <a:ext uri="{FF2B5EF4-FFF2-40B4-BE49-F238E27FC236}">
                        <a16:creationId xmlns:a16="http://schemas.microsoft.com/office/drawing/2014/main" id="{65BD2B74-2AA3-56F8-35A8-5F9FF010B07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184" name="Graphique 183" descr="Utilisateur avec un remplissage uni">
                    <a:extLst>
                      <a:ext uri="{FF2B5EF4-FFF2-40B4-BE49-F238E27FC236}">
                        <a16:creationId xmlns:a16="http://schemas.microsoft.com/office/drawing/2014/main" id="{1EA59C5A-50FE-CA9E-CBB0-52BFCBF88AB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185" name="Graphique 184" descr="Utilisateur avec un remplissage uni">
                    <a:extLst>
                      <a:ext uri="{FF2B5EF4-FFF2-40B4-BE49-F238E27FC236}">
                        <a16:creationId xmlns:a16="http://schemas.microsoft.com/office/drawing/2014/main" id="{2F6409A6-16A2-4FD8-00DE-5390368CC2D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186" name="Graphique 185" descr="Utilisateur avec un remplissage uni">
                    <a:extLst>
                      <a:ext uri="{FF2B5EF4-FFF2-40B4-BE49-F238E27FC236}">
                        <a16:creationId xmlns:a16="http://schemas.microsoft.com/office/drawing/2014/main" id="{BEBCE3C3-0784-10EE-5495-2404AD5F5DE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187" name="Graphique 186" descr="Utilisateur avec un remplissage uni">
                    <a:extLst>
                      <a:ext uri="{FF2B5EF4-FFF2-40B4-BE49-F238E27FC236}">
                        <a16:creationId xmlns:a16="http://schemas.microsoft.com/office/drawing/2014/main" id="{8219943F-F59B-9F27-6937-CDF79968DD3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188" name="Graphique 187" descr="Utilisateur avec un remplissage uni">
                    <a:extLst>
                      <a:ext uri="{FF2B5EF4-FFF2-40B4-BE49-F238E27FC236}">
                        <a16:creationId xmlns:a16="http://schemas.microsoft.com/office/drawing/2014/main" id="{8034E019-FC31-3F60-9ED5-A33BC012B0A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189" name="Graphique 188" descr="Utilisateur avec un remplissage uni">
                    <a:extLst>
                      <a:ext uri="{FF2B5EF4-FFF2-40B4-BE49-F238E27FC236}">
                        <a16:creationId xmlns:a16="http://schemas.microsoft.com/office/drawing/2014/main" id="{4B4E9721-81F3-FAB5-5A8B-19A370B4076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78" name="Graphique 177" descr="Boîte à archives avec un remplissage uni">
                  <a:extLst>
                    <a:ext uri="{FF2B5EF4-FFF2-40B4-BE49-F238E27FC236}">
                      <a16:creationId xmlns:a16="http://schemas.microsoft.com/office/drawing/2014/main" id="{46FF9A12-3CE1-36B8-907E-CB95AD6129F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76" name="Graphique 175" descr="Fermer avec un remplissage uni">
                <a:extLst>
                  <a:ext uri="{FF2B5EF4-FFF2-40B4-BE49-F238E27FC236}">
                    <a16:creationId xmlns:a16="http://schemas.microsoft.com/office/drawing/2014/main" id="{3CB870FA-38CE-E1BF-BB0E-C055676D681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668633" y="5995180"/>
                <a:ext cx="473412" cy="473412"/>
              </a:xfrm>
              <a:prstGeom prst="rect">
                <a:avLst/>
              </a:prstGeom>
            </p:spPr>
          </p:pic>
        </p:grpSp>
        <p:grpSp>
          <p:nvGrpSpPr>
            <p:cNvPr id="190" name="Groupe 189">
              <a:extLst>
                <a:ext uri="{FF2B5EF4-FFF2-40B4-BE49-F238E27FC236}">
                  <a16:creationId xmlns:a16="http://schemas.microsoft.com/office/drawing/2014/main" id="{E2DFE3DC-5000-74DF-481B-B04A2AA7171E}"/>
                </a:ext>
              </a:extLst>
            </p:cNvPr>
            <p:cNvGrpSpPr/>
            <p:nvPr/>
          </p:nvGrpSpPr>
          <p:grpSpPr>
            <a:xfrm>
              <a:off x="1013177" y="4705472"/>
              <a:ext cx="1104068" cy="541981"/>
              <a:chOff x="1775004" y="5236420"/>
              <a:chExt cx="1104068" cy="541981"/>
            </a:xfrm>
          </p:grpSpPr>
          <p:grpSp>
            <p:nvGrpSpPr>
              <p:cNvPr id="191" name="Groupe 190">
                <a:extLst>
                  <a:ext uri="{FF2B5EF4-FFF2-40B4-BE49-F238E27FC236}">
                    <a16:creationId xmlns:a16="http://schemas.microsoft.com/office/drawing/2014/main" id="{536F50DF-7F12-FA6A-2298-74E7496B68C0}"/>
                  </a:ext>
                </a:extLst>
              </p:cNvPr>
              <p:cNvGrpSpPr/>
              <p:nvPr/>
            </p:nvGrpSpPr>
            <p:grpSpPr>
              <a:xfrm>
                <a:off x="1775004" y="5236420"/>
                <a:ext cx="1104068" cy="541981"/>
                <a:chOff x="1797480" y="1339838"/>
                <a:chExt cx="2588405" cy="1270634"/>
              </a:xfrm>
            </p:grpSpPr>
            <p:grpSp>
              <p:nvGrpSpPr>
                <p:cNvPr id="193" name="Groupe 192">
                  <a:extLst>
                    <a:ext uri="{FF2B5EF4-FFF2-40B4-BE49-F238E27FC236}">
                      <a16:creationId xmlns:a16="http://schemas.microsoft.com/office/drawing/2014/main" id="{70913C03-9C56-C18E-36DB-DA2213BB9F7D}"/>
                    </a:ext>
                  </a:extLst>
                </p:cNvPr>
                <p:cNvGrpSpPr/>
                <p:nvPr/>
              </p:nvGrpSpPr>
              <p:grpSpPr>
                <a:xfrm>
                  <a:off x="1797480" y="1339838"/>
                  <a:ext cx="1507135" cy="1270634"/>
                  <a:chOff x="8982504" y="3274976"/>
                  <a:chExt cx="1230670" cy="1037553"/>
                </a:xfrm>
                <a:solidFill>
                  <a:srgbClr val="ED7D31"/>
                </a:solidFill>
              </p:grpSpPr>
              <p:pic>
                <p:nvPicPr>
                  <p:cNvPr id="195" name="Graphique 194" descr="Utilisateur avec un remplissage uni">
                    <a:extLst>
                      <a:ext uri="{FF2B5EF4-FFF2-40B4-BE49-F238E27FC236}">
                        <a16:creationId xmlns:a16="http://schemas.microsoft.com/office/drawing/2014/main" id="{1A792F5F-DECB-AE8D-B393-B1CF7256912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01028" y="3274976"/>
                    <a:ext cx="336064" cy="336064"/>
                  </a:xfrm>
                  <a:prstGeom prst="rect">
                    <a:avLst/>
                  </a:prstGeom>
                </p:spPr>
              </p:pic>
              <p:pic>
                <p:nvPicPr>
                  <p:cNvPr id="196" name="Graphique 195" descr="Utilisateur avec un remplissage uni">
                    <a:extLst>
                      <a:ext uri="{FF2B5EF4-FFF2-40B4-BE49-F238E27FC236}">
                        <a16:creationId xmlns:a16="http://schemas.microsoft.com/office/drawing/2014/main" id="{4E51F12E-307F-D985-9D55-0699BB2F695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54140" y="3512720"/>
                    <a:ext cx="336064" cy="336064"/>
                  </a:xfrm>
                  <a:prstGeom prst="rect">
                    <a:avLst/>
                  </a:prstGeom>
                </p:spPr>
              </p:pic>
              <p:pic>
                <p:nvPicPr>
                  <p:cNvPr id="197" name="Graphique 196" descr="Utilisateur avec un remplissage uni">
                    <a:extLst>
                      <a:ext uri="{FF2B5EF4-FFF2-40B4-BE49-F238E27FC236}">
                        <a16:creationId xmlns:a16="http://schemas.microsoft.com/office/drawing/2014/main" id="{33B8A215-E1DE-3323-DA8B-66906C85C88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345616" y="3561880"/>
                    <a:ext cx="336064" cy="336064"/>
                  </a:xfrm>
                  <a:prstGeom prst="rect">
                    <a:avLst/>
                  </a:prstGeom>
                </p:spPr>
              </p:pic>
              <p:pic>
                <p:nvPicPr>
                  <p:cNvPr id="198" name="Graphique 197" descr="Utilisateur avec un remplissage uni">
                    <a:extLst>
                      <a:ext uri="{FF2B5EF4-FFF2-40B4-BE49-F238E27FC236}">
                        <a16:creationId xmlns:a16="http://schemas.microsoft.com/office/drawing/2014/main" id="{2BF73653-DE82-7057-BBA8-983902A93EF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92504" y="3418428"/>
                    <a:ext cx="336064" cy="336064"/>
                  </a:xfrm>
                  <a:prstGeom prst="rect">
                    <a:avLst/>
                  </a:prstGeom>
                </p:spPr>
              </p:pic>
              <p:pic>
                <p:nvPicPr>
                  <p:cNvPr id="199" name="Graphique 198" descr="Utilisateur avec un remplissage uni">
                    <a:extLst>
                      <a:ext uri="{FF2B5EF4-FFF2-40B4-BE49-F238E27FC236}">
                        <a16:creationId xmlns:a16="http://schemas.microsoft.com/office/drawing/2014/main" id="{A3DC5F0F-09FF-BF17-851B-A4A7A7BED2D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635196" y="3680752"/>
                    <a:ext cx="336064" cy="336064"/>
                  </a:xfrm>
                  <a:prstGeom prst="rect">
                    <a:avLst/>
                  </a:prstGeom>
                </p:spPr>
              </p:pic>
              <p:pic>
                <p:nvPicPr>
                  <p:cNvPr id="200" name="Graphique 199" descr="Utilisateur avec un remplissage uni">
                    <a:extLst>
                      <a:ext uri="{FF2B5EF4-FFF2-40B4-BE49-F238E27FC236}">
                        <a16:creationId xmlns:a16="http://schemas.microsoft.com/office/drawing/2014/main" id="{5E6112EC-DB61-02E4-02B0-6C87ACAAC3C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256440" y="3848784"/>
                    <a:ext cx="336064" cy="336064"/>
                  </a:xfrm>
                  <a:prstGeom prst="rect">
                    <a:avLst/>
                  </a:prstGeom>
                </p:spPr>
              </p:pic>
              <p:pic>
                <p:nvPicPr>
                  <p:cNvPr id="201" name="Graphique 200" descr="Utilisateur avec un remplissage uni">
                    <a:extLst>
                      <a:ext uri="{FF2B5EF4-FFF2-40B4-BE49-F238E27FC236}">
                        <a16:creationId xmlns:a16="http://schemas.microsoft.com/office/drawing/2014/main" id="{F3F6226F-C40A-62CD-35FD-E452CD4CB80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982504" y="3835028"/>
                    <a:ext cx="336064" cy="336064"/>
                  </a:xfrm>
                  <a:prstGeom prst="rect">
                    <a:avLst/>
                  </a:prstGeom>
                </p:spPr>
              </p:pic>
              <p:pic>
                <p:nvPicPr>
                  <p:cNvPr id="202" name="Graphique 201" descr="Utilisateur avec un remplissage uni">
                    <a:extLst>
                      <a:ext uri="{FF2B5EF4-FFF2-40B4-BE49-F238E27FC236}">
                        <a16:creationId xmlns:a16="http://schemas.microsoft.com/office/drawing/2014/main" id="{B5296262-E48F-E412-D648-6AE34ED41D2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520868" y="3943076"/>
                    <a:ext cx="336064" cy="336064"/>
                  </a:xfrm>
                  <a:prstGeom prst="rect">
                    <a:avLst/>
                  </a:prstGeom>
                </p:spPr>
              </p:pic>
              <p:pic>
                <p:nvPicPr>
                  <p:cNvPr id="203" name="Graphique 202" descr="Utilisateur avec un remplissage uni">
                    <a:extLst>
                      <a:ext uri="{FF2B5EF4-FFF2-40B4-BE49-F238E27FC236}">
                        <a16:creationId xmlns:a16="http://schemas.microsoft.com/office/drawing/2014/main" id="{6988945F-F904-7794-36B2-899233184CB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742772" y="3976465"/>
                    <a:ext cx="336064" cy="336064"/>
                  </a:xfrm>
                  <a:prstGeom prst="rect">
                    <a:avLst/>
                  </a:prstGeom>
                </p:spPr>
              </p:pic>
              <p:pic>
                <p:nvPicPr>
                  <p:cNvPr id="204" name="Graphique 203" descr="Utilisateur avec un remplissage uni">
                    <a:extLst>
                      <a:ext uri="{FF2B5EF4-FFF2-40B4-BE49-F238E27FC236}">
                        <a16:creationId xmlns:a16="http://schemas.microsoft.com/office/drawing/2014/main" id="{6DED6733-3FF8-B4B5-7339-BE485715841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77110" y="3705332"/>
                    <a:ext cx="336064" cy="336064"/>
                  </a:xfrm>
                  <a:prstGeom prst="rect">
                    <a:avLst/>
                  </a:prstGeom>
                </p:spPr>
              </p:pic>
              <p:pic>
                <p:nvPicPr>
                  <p:cNvPr id="205" name="Graphique 204" descr="Utilisateur avec un remplissage uni">
                    <a:extLst>
                      <a:ext uri="{FF2B5EF4-FFF2-40B4-BE49-F238E27FC236}">
                        <a16:creationId xmlns:a16="http://schemas.microsoft.com/office/drawing/2014/main" id="{334682CC-BE6A-91C0-C58C-5DD66C66F13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56932" y="3429000"/>
                    <a:ext cx="336064" cy="336064"/>
                  </a:xfrm>
                  <a:prstGeom prst="rect">
                    <a:avLst/>
                  </a:prstGeom>
                </p:spPr>
              </p:pic>
            </p:grpSp>
            <p:pic>
              <p:nvPicPr>
                <p:cNvPr id="194" name="Graphique 193" descr="Boîte à archives avec un remplissage uni">
                  <a:extLst>
                    <a:ext uri="{FF2B5EF4-FFF2-40B4-BE49-F238E27FC236}">
                      <a16:creationId xmlns:a16="http://schemas.microsoft.com/office/drawing/2014/main" id="{14A62B46-EE3B-CE31-7BF8-B90685F7B1D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0796" y="1573442"/>
                  <a:ext cx="795089" cy="795090"/>
                </a:xfrm>
                <a:prstGeom prst="rect">
                  <a:avLst/>
                </a:prstGeom>
              </p:spPr>
            </p:pic>
          </p:grpSp>
          <p:pic>
            <p:nvPicPr>
              <p:cNvPr id="192" name="Graphique 191" descr="Point d’interrogation avec un remplissage uni">
                <a:extLst>
                  <a:ext uri="{FF2B5EF4-FFF2-40B4-BE49-F238E27FC236}">
                    <a16:creationId xmlns:a16="http://schemas.microsoft.com/office/drawing/2014/main" id="{07E65EEB-783B-5FBF-AA0F-14DD8811E06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537302" y="5319965"/>
                <a:ext cx="332767" cy="332767"/>
              </a:xfrm>
              <a:prstGeom prst="rect">
                <a:avLst/>
              </a:prstGeom>
            </p:spPr>
          </p:pic>
        </p:grpSp>
        <p:sp>
          <p:nvSpPr>
            <p:cNvPr id="221" name="Espace réservé du contenu 2">
              <a:extLst>
                <a:ext uri="{FF2B5EF4-FFF2-40B4-BE49-F238E27FC236}">
                  <a16:creationId xmlns:a16="http://schemas.microsoft.com/office/drawing/2014/main" id="{460DF1DE-CBDA-0D5E-F615-C3460117663A}"/>
                </a:ext>
              </a:extLst>
            </p:cNvPr>
            <p:cNvSpPr txBox="1">
              <a:spLocks/>
            </p:cNvSpPr>
            <p:nvPr/>
          </p:nvSpPr>
          <p:spPr>
            <a:xfrm>
              <a:off x="-16218" y="6167171"/>
              <a:ext cx="901401" cy="69191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000" dirty="0"/>
                <a:t>Pas intéressant a priori pour une mise en commun la Communauté</a:t>
              </a:r>
            </a:p>
          </p:txBody>
        </p:sp>
        <p:sp>
          <p:nvSpPr>
            <p:cNvPr id="222" name="ZoneTexte 221">
              <a:extLst>
                <a:ext uri="{FF2B5EF4-FFF2-40B4-BE49-F238E27FC236}">
                  <a16:creationId xmlns:a16="http://schemas.microsoft.com/office/drawing/2014/main" id="{857397E5-F714-F459-0A74-A12F3F273CC8}"/>
                </a:ext>
              </a:extLst>
            </p:cNvPr>
            <p:cNvSpPr txBox="1"/>
            <p:nvPr/>
          </p:nvSpPr>
          <p:spPr>
            <a:xfrm>
              <a:off x="4396" y="1152544"/>
              <a:ext cx="847118" cy="481711"/>
            </a:xfrm>
            <a:prstGeom prst="rect">
              <a:avLst/>
            </a:prstGeom>
            <a:noFill/>
          </p:spPr>
          <p:txBody>
            <a:bodyPr wrap="square">
              <a:spAutoFit/>
            </a:bodyPr>
            <a:lstStyle/>
            <a:p>
              <a:r>
                <a:rPr lang="fr-FR" sz="1000" dirty="0"/>
                <a:t>Intéressant et déjà mis en commun dans la Communauté</a:t>
              </a:r>
            </a:p>
          </p:txBody>
        </p:sp>
        <p:sp>
          <p:nvSpPr>
            <p:cNvPr id="223" name="ZoneTexte 222">
              <a:extLst>
                <a:ext uri="{FF2B5EF4-FFF2-40B4-BE49-F238E27FC236}">
                  <a16:creationId xmlns:a16="http://schemas.microsoft.com/office/drawing/2014/main" id="{E6D35016-A339-0997-CB01-43CDA13FF93E}"/>
                </a:ext>
              </a:extLst>
            </p:cNvPr>
            <p:cNvSpPr txBox="1"/>
            <p:nvPr/>
          </p:nvSpPr>
          <p:spPr>
            <a:xfrm>
              <a:off x="7944" y="1767083"/>
              <a:ext cx="912509" cy="586430"/>
            </a:xfrm>
            <a:prstGeom prst="rect">
              <a:avLst/>
            </a:prstGeom>
            <a:noFill/>
          </p:spPr>
          <p:txBody>
            <a:bodyPr wrap="square">
              <a:spAutoFit/>
            </a:bodyPr>
            <a:lstStyle/>
            <a:p>
              <a:r>
                <a:rPr lang="fr-FR" sz="1000" dirty="0"/>
                <a:t>Intéressant, accessible par la Communauté mais pas (encore) mis en commun</a:t>
              </a:r>
            </a:p>
          </p:txBody>
        </p:sp>
        <p:sp>
          <p:nvSpPr>
            <p:cNvPr id="224" name="ZoneTexte 223">
              <a:extLst>
                <a:ext uri="{FF2B5EF4-FFF2-40B4-BE49-F238E27FC236}">
                  <a16:creationId xmlns:a16="http://schemas.microsoft.com/office/drawing/2014/main" id="{69EDD43F-8181-97B6-6132-F4EE684900D7}"/>
                </a:ext>
              </a:extLst>
            </p:cNvPr>
            <p:cNvSpPr txBox="1"/>
            <p:nvPr/>
          </p:nvSpPr>
          <p:spPr>
            <a:xfrm>
              <a:off x="-2929" y="2511054"/>
              <a:ext cx="1109944" cy="481711"/>
            </a:xfrm>
            <a:prstGeom prst="rect">
              <a:avLst/>
            </a:prstGeom>
            <a:noFill/>
          </p:spPr>
          <p:txBody>
            <a:bodyPr wrap="square">
              <a:spAutoFit/>
            </a:bodyPr>
            <a:lstStyle/>
            <a:p>
              <a:r>
                <a:rPr lang="fr-FR" sz="1000" dirty="0"/>
                <a:t>Intéressant, manquant et plus facilement accessible en tant que Communauté (vs en individus)</a:t>
              </a:r>
            </a:p>
          </p:txBody>
        </p:sp>
        <p:sp>
          <p:nvSpPr>
            <p:cNvPr id="225" name="ZoneTexte 224">
              <a:extLst>
                <a:ext uri="{FF2B5EF4-FFF2-40B4-BE49-F238E27FC236}">
                  <a16:creationId xmlns:a16="http://schemas.microsoft.com/office/drawing/2014/main" id="{FA09A781-FAD9-818A-B178-752CFF7F4D39}"/>
                </a:ext>
              </a:extLst>
            </p:cNvPr>
            <p:cNvSpPr txBox="1"/>
            <p:nvPr/>
          </p:nvSpPr>
          <p:spPr>
            <a:xfrm>
              <a:off x="-1939" y="3353231"/>
              <a:ext cx="1156579" cy="376991"/>
            </a:xfrm>
            <a:prstGeom prst="rect">
              <a:avLst/>
            </a:prstGeom>
            <a:noFill/>
          </p:spPr>
          <p:txBody>
            <a:bodyPr wrap="square">
              <a:spAutoFit/>
            </a:bodyPr>
            <a:lstStyle/>
            <a:p>
              <a:r>
                <a:rPr lang="fr-FR" sz="1000" dirty="0"/>
                <a:t>Intéressant, manquant et potentiellement accessible, difficulté d’accès inconnue</a:t>
              </a:r>
            </a:p>
          </p:txBody>
        </p:sp>
        <p:sp>
          <p:nvSpPr>
            <p:cNvPr id="226" name="ZoneTexte 225">
              <a:extLst>
                <a:ext uri="{FF2B5EF4-FFF2-40B4-BE49-F238E27FC236}">
                  <a16:creationId xmlns:a16="http://schemas.microsoft.com/office/drawing/2014/main" id="{91907507-6E04-1AEB-7A92-4904FAC307D3}"/>
                </a:ext>
              </a:extLst>
            </p:cNvPr>
            <p:cNvSpPr txBox="1"/>
            <p:nvPr/>
          </p:nvSpPr>
          <p:spPr>
            <a:xfrm>
              <a:off x="-24473" y="3996508"/>
              <a:ext cx="1147993" cy="481711"/>
            </a:xfrm>
            <a:prstGeom prst="rect">
              <a:avLst/>
            </a:prstGeom>
            <a:noFill/>
          </p:spPr>
          <p:txBody>
            <a:bodyPr wrap="square">
              <a:spAutoFit/>
            </a:bodyPr>
            <a:lstStyle/>
            <a:p>
              <a:r>
                <a:rPr lang="fr-FR" sz="1000" dirty="0"/>
                <a:t>Intéressant, manquant et difficilement accessible, même en tant que Communauté</a:t>
              </a:r>
            </a:p>
          </p:txBody>
        </p:sp>
        <p:sp>
          <p:nvSpPr>
            <p:cNvPr id="227" name="ZoneTexte 226">
              <a:extLst>
                <a:ext uri="{FF2B5EF4-FFF2-40B4-BE49-F238E27FC236}">
                  <a16:creationId xmlns:a16="http://schemas.microsoft.com/office/drawing/2014/main" id="{416037B0-1875-D6EB-3911-0E47A09A5600}"/>
                </a:ext>
              </a:extLst>
            </p:cNvPr>
            <p:cNvSpPr txBox="1"/>
            <p:nvPr/>
          </p:nvSpPr>
          <p:spPr>
            <a:xfrm>
              <a:off x="-48029" y="4749645"/>
              <a:ext cx="1063951" cy="272272"/>
            </a:xfrm>
            <a:prstGeom prst="rect">
              <a:avLst/>
            </a:prstGeom>
            <a:noFill/>
          </p:spPr>
          <p:txBody>
            <a:bodyPr wrap="square">
              <a:spAutoFit/>
            </a:bodyPr>
            <a:lstStyle/>
            <a:p>
              <a:r>
                <a:rPr lang="fr-FR" sz="1000" dirty="0"/>
                <a:t>Intérêt inconnu pour la Communauté, manquant</a:t>
              </a:r>
            </a:p>
          </p:txBody>
        </p:sp>
      </p:grpSp>
    </p:spTree>
    <p:extLst>
      <p:ext uri="{BB962C8B-B14F-4D97-AF65-F5344CB8AC3E}">
        <p14:creationId xmlns:p14="http://schemas.microsoft.com/office/powerpoint/2010/main" val="2603220970"/>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3A3F6E7-1F8B-DE8D-FD17-4DB5B4F0372E}"/>
              </a:ext>
            </a:extLst>
          </p:cNvPr>
          <p:cNvSpPr>
            <a:spLocks noGrp="1"/>
          </p:cNvSpPr>
          <p:nvPr>
            <p:ph type="title"/>
          </p:nvPr>
        </p:nvSpPr>
        <p:spPr>
          <a:xfrm>
            <a:off x="838200" y="365126"/>
            <a:ext cx="10515600" cy="1195226"/>
          </a:xfrm>
        </p:spPr>
        <p:txBody>
          <a:bodyPr>
            <a:normAutofit fontScale="90000"/>
          </a:bodyPr>
          <a:lstStyle/>
          <a:p>
            <a:r>
              <a:rPr lang="fr-FR" sz="2800" dirty="0"/>
              <a:t>Avantages et inconvénients d’une tactique orientée </a:t>
            </a:r>
            <a:br>
              <a:rPr lang="fr-FR" sz="2800" dirty="0"/>
            </a:br>
            <a:r>
              <a:rPr lang="fr-FR" sz="2800" b="1" dirty="0"/>
              <a:t> </a:t>
            </a:r>
            <a:r>
              <a:rPr lang="fr-FR" sz="2800" dirty="0"/>
              <a:t>« Mise en commun de ressources »</a:t>
            </a:r>
            <a:br>
              <a:rPr lang="fr-FR" sz="2800" dirty="0"/>
            </a:br>
            <a:r>
              <a:rPr lang="fr-FR" sz="2800" dirty="0"/>
              <a:t>Associez les histoires aux avantages</a:t>
            </a:r>
          </a:p>
        </p:txBody>
      </p:sp>
      <p:sp>
        <p:nvSpPr>
          <p:cNvPr id="3" name="Espace réservé du contenu 2">
            <a:extLst>
              <a:ext uri="{FF2B5EF4-FFF2-40B4-BE49-F238E27FC236}">
                <a16:creationId xmlns:a16="http://schemas.microsoft.com/office/drawing/2014/main" id="{8EF6188B-9924-61D8-C61B-CF24083FF50A}"/>
              </a:ext>
            </a:extLst>
          </p:cNvPr>
          <p:cNvSpPr>
            <a:spLocks noGrp="1"/>
          </p:cNvSpPr>
          <p:nvPr>
            <p:ph idx="1"/>
          </p:nvPr>
        </p:nvSpPr>
        <p:spPr>
          <a:xfrm>
            <a:off x="838200" y="1755962"/>
            <a:ext cx="4445000" cy="4993181"/>
          </a:xfrm>
        </p:spPr>
        <p:txBody>
          <a:bodyPr>
            <a:normAutofit/>
          </a:bodyPr>
          <a:lstStyle/>
          <a:p>
            <a:pPr marL="0" indent="0">
              <a:buNone/>
            </a:pPr>
            <a:r>
              <a:rPr lang="fr-FR" sz="1800" b="1" dirty="0">
                <a:solidFill>
                  <a:srgbClr val="00B050"/>
                </a:solidFill>
              </a:rPr>
              <a:t>Avantages</a:t>
            </a:r>
            <a:r>
              <a:rPr lang="fr-FR" sz="1800" dirty="0"/>
              <a:t> : Opportunisme facilité et indicateurs de performance faciles car liés à la mutualisation</a:t>
            </a:r>
          </a:p>
          <a:p>
            <a:pPr marL="0" indent="0">
              <a:buNone/>
            </a:pPr>
            <a:endParaRPr lang="fr-FR" sz="1800" dirty="0"/>
          </a:p>
          <a:p>
            <a:pPr lvl="1"/>
            <a:r>
              <a:rPr lang="fr-FR" sz="1800" b="1" dirty="0"/>
              <a:t>Valeur totale des ressources accessibles à un grand nombre </a:t>
            </a:r>
            <a:r>
              <a:rPr lang="fr-FR" sz="1800" dirty="0"/>
              <a:t>(devrait augmenter) </a:t>
            </a:r>
          </a:p>
          <a:p>
            <a:pPr lvl="1"/>
            <a:endParaRPr lang="fr-FR" sz="1800" dirty="0"/>
          </a:p>
          <a:p>
            <a:pPr lvl="1"/>
            <a:endParaRPr lang="fr-FR" sz="1800" dirty="0"/>
          </a:p>
          <a:p>
            <a:pPr lvl="1"/>
            <a:r>
              <a:rPr lang="fr-FR" sz="1800" b="1" dirty="0"/>
              <a:t>Coût moyen par membre</a:t>
            </a:r>
            <a:r>
              <a:rPr lang="fr-FR" sz="1800" dirty="0"/>
              <a:t> d'une ressource donnée (devrait baisser)</a:t>
            </a:r>
          </a:p>
          <a:p>
            <a:pPr lvl="1"/>
            <a:endParaRPr lang="fr-FR" sz="1800" i="1" dirty="0">
              <a:solidFill>
                <a:srgbClr val="00B050"/>
              </a:solidFill>
              <a:sym typeface="Wingdings" panose="05000000000000000000" pitchFamily="2" charset="2"/>
            </a:endParaRPr>
          </a:p>
          <a:p>
            <a:pPr lvl="1"/>
            <a:endParaRPr lang="fr-FR" sz="1800" i="1" dirty="0">
              <a:solidFill>
                <a:srgbClr val="00B050"/>
              </a:solidFill>
              <a:sym typeface="Wingdings" panose="05000000000000000000" pitchFamily="2" charset="2"/>
            </a:endParaRPr>
          </a:p>
          <a:p>
            <a:pPr lvl="1"/>
            <a:r>
              <a:rPr lang="fr-FR" sz="1800" b="1" dirty="0"/>
              <a:t>Taux d'usage de ressources </a:t>
            </a:r>
            <a:r>
              <a:rPr lang="fr-FR" sz="1800" dirty="0"/>
              <a:t>dans lesquelles on a déjà investi (devrait augmenter).</a:t>
            </a:r>
            <a:endParaRPr lang="fr-FR" dirty="0"/>
          </a:p>
        </p:txBody>
      </p:sp>
      <p:sp>
        <p:nvSpPr>
          <p:cNvPr id="5" name="ZoneTexte 4">
            <a:extLst>
              <a:ext uri="{FF2B5EF4-FFF2-40B4-BE49-F238E27FC236}">
                <a16:creationId xmlns:a16="http://schemas.microsoft.com/office/drawing/2014/main" id="{58519609-A0EB-4011-2646-811EDC6FD6BA}"/>
              </a:ext>
            </a:extLst>
          </p:cNvPr>
          <p:cNvSpPr txBox="1"/>
          <p:nvPr/>
        </p:nvSpPr>
        <p:spPr>
          <a:xfrm>
            <a:off x="5740555" y="2464156"/>
            <a:ext cx="3057796" cy="900165"/>
          </a:xfrm>
          <a:prstGeom prst="rect">
            <a:avLst/>
          </a:prstGeom>
          <a:solidFill>
            <a:schemeClr val="bg1"/>
          </a:solidFill>
          <a:ln>
            <a:solidFill>
              <a:schemeClr val="tx1"/>
            </a:solidFill>
          </a:ln>
        </p:spPr>
        <p:txBody>
          <a:bodyPr wrap="square" anchor="ctr">
            <a:noAutofit/>
          </a:bodyPr>
          <a:lstStyle/>
          <a:p>
            <a:pPr algn="ctr"/>
            <a:r>
              <a:rPr lang="fr-FR" sz="900" dirty="0"/>
              <a:t>Le département Innovation a fait l'acquisition d'un drone à 30 000€. Depuis le montage de la Communauté robotique, son usage a été multiplié par 10. Le département a moins de chances d'être accusé d'investir n'importe comment.</a:t>
            </a:r>
          </a:p>
        </p:txBody>
      </p:sp>
      <p:sp>
        <p:nvSpPr>
          <p:cNvPr id="6" name="ZoneTexte 5">
            <a:extLst>
              <a:ext uri="{FF2B5EF4-FFF2-40B4-BE49-F238E27FC236}">
                <a16:creationId xmlns:a16="http://schemas.microsoft.com/office/drawing/2014/main" id="{A9A14195-0F6D-FC48-9D0A-03DDFABB5D01}"/>
              </a:ext>
            </a:extLst>
          </p:cNvPr>
          <p:cNvSpPr txBox="1"/>
          <p:nvPr/>
        </p:nvSpPr>
        <p:spPr>
          <a:xfrm>
            <a:off x="5740555" y="3507007"/>
            <a:ext cx="3057796" cy="900165"/>
          </a:xfrm>
          <a:prstGeom prst="rect">
            <a:avLst/>
          </a:prstGeom>
          <a:solidFill>
            <a:schemeClr val="bg1"/>
          </a:solidFill>
          <a:ln>
            <a:solidFill>
              <a:schemeClr val="tx1"/>
            </a:solidFill>
          </a:ln>
        </p:spPr>
        <p:txBody>
          <a:bodyPr wrap="square" anchor="ctr">
            <a:noAutofit/>
          </a:bodyPr>
          <a:lstStyle/>
          <a:p>
            <a:pPr algn="ctr"/>
            <a:r>
              <a:rPr lang="fr-FR" sz="900" dirty="0"/>
              <a:t>Avant, chaque </a:t>
            </a:r>
            <a:r>
              <a:rPr lang="fr-FR" sz="900" dirty="0" err="1"/>
              <a:t>Ux</a:t>
            </a:r>
            <a:r>
              <a:rPr lang="fr-FR" sz="900" dirty="0"/>
              <a:t> Designer avait pris sa propre licence du logiciel de Design, en perso ou éventuellement en demandant à sa hiérarchie. Depuis la Communauté </a:t>
            </a:r>
            <a:r>
              <a:rPr lang="fr-FR" sz="900" dirty="0" err="1"/>
              <a:t>Ux</a:t>
            </a:r>
            <a:r>
              <a:rPr lang="fr-FR" sz="900" dirty="0"/>
              <a:t>, l'entreprise a pris un forfait de 100 licences 4 fois moins cher par personne.</a:t>
            </a:r>
          </a:p>
        </p:txBody>
      </p:sp>
      <p:sp>
        <p:nvSpPr>
          <p:cNvPr id="7" name="ZoneTexte 6">
            <a:extLst>
              <a:ext uri="{FF2B5EF4-FFF2-40B4-BE49-F238E27FC236}">
                <a16:creationId xmlns:a16="http://schemas.microsoft.com/office/drawing/2014/main" id="{DDC438FF-ABF5-8421-F63F-E4220E8677A1}"/>
              </a:ext>
            </a:extLst>
          </p:cNvPr>
          <p:cNvSpPr txBox="1"/>
          <p:nvPr/>
        </p:nvSpPr>
        <p:spPr>
          <a:xfrm>
            <a:off x="8936241" y="2464156"/>
            <a:ext cx="3057796" cy="900165"/>
          </a:xfrm>
          <a:prstGeom prst="rect">
            <a:avLst/>
          </a:prstGeom>
          <a:solidFill>
            <a:schemeClr val="bg1"/>
          </a:solidFill>
          <a:ln>
            <a:solidFill>
              <a:schemeClr val="tx1"/>
            </a:solidFill>
          </a:ln>
        </p:spPr>
        <p:txBody>
          <a:bodyPr wrap="square" anchor="ctr">
            <a:noAutofit/>
          </a:bodyPr>
          <a:lstStyle/>
          <a:p>
            <a:pPr algn="ctr"/>
            <a:r>
              <a:rPr lang="fr-FR" sz="900" dirty="0"/>
              <a:t>Les très onéreux consultants experts de la technologie XYZ étaient à disposition seulement d'une petite équipe. Depuis le montage de la Communauté XYZ, beaucoup plus de monde en profite.</a:t>
            </a:r>
          </a:p>
        </p:txBody>
      </p:sp>
      <p:sp>
        <p:nvSpPr>
          <p:cNvPr id="8" name="ZoneTexte 7">
            <a:extLst>
              <a:ext uri="{FF2B5EF4-FFF2-40B4-BE49-F238E27FC236}">
                <a16:creationId xmlns:a16="http://schemas.microsoft.com/office/drawing/2014/main" id="{E9D202F9-5683-BB4A-C843-C854406C249E}"/>
              </a:ext>
            </a:extLst>
          </p:cNvPr>
          <p:cNvSpPr txBox="1"/>
          <p:nvPr/>
        </p:nvSpPr>
        <p:spPr>
          <a:xfrm>
            <a:off x="8936241" y="3507007"/>
            <a:ext cx="3057796" cy="900165"/>
          </a:xfrm>
          <a:prstGeom prst="rect">
            <a:avLst/>
          </a:prstGeom>
          <a:solidFill>
            <a:schemeClr val="bg1"/>
          </a:solidFill>
          <a:ln>
            <a:solidFill>
              <a:schemeClr val="tx1"/>
            </a:solidFill>
          </a:ln>
        </p:spPr>
        <p:txBody>
          <a:bodyPr wrap="square" anchor="ctr">
            <a:noAutofit/>
          </a:bodyPr>
          <a:lstStyle/>
          <a:p>
            <a:pPr algn="ctr"/>
            <a:r>
              <a:rPr lang="fr-FR" sz="900" dirty="0"/>
              <a:t>En moyenne, les collaborateurs de l'entreprise avaient accès à 1 ou 2 mentors dans leur département. Depuis la Communauté Learning, tous les collaborateurs ont accès au moins à une dizaine de mentors.</a:t>
            </a:r>
          </a:p>
        </p:txBody>
      </p:sp>
      <p:sp>
        <p:nvSpPr>
          <p:cNvPr id="9" name="ZoneTexte 8">
            <a:extLst>
              <a:ext uri="{FF2B5EF4-FFF2-40B4-BE49-F238E27FC236}">
                <a16:creationId xmlns:a16="http://schemas.microsoft.com/office/drawing/2014/main" id="{B714E10F-6AFB-7136-1AEA-2920D620C913}"/>
              </a:ext>
            </a:extLst>
          </p:cNvPr>
          <p:cNvSpPr txBox="1"/>
          <p:nvPr/>
        </p:nvSpPr>
        <p:spPr>
          <a:xfrm>
            <a:off x="8936241" y="4549857"/>
            <a:ext cx="3057796" cy="900165"/>
          </a:xfrm>
          <a:prstGeom prst="rect">
            <a:avLst/>
          </a:prstGeom>
          <a:solidFill>
            <a:schemeClr val="bg1"/>
          </a:solidFill>
          <a:ln>
            <a:solidFill>
              <a:schemeClr val="tx1"/>
            </a:solidFill>
          </a:ln>
        </p:spPr>
        <p:txBody>
          <a:bodyPr wrap="square" anchor="ctr">
            <a:noAutofit/>
          </a:bodyPr>
          <a:lstStyle/>
          <a:p>
            <a:pPr algn="ctr"/>
            <a:r>
              <a:rPr lang="fr-FR" sz="900" dirty="0"/>
              <a:t>Une liste de recrues potentielles très qualifiés a été achetée par le département RH, qui n'en utilisait qu'une partie pour ses postes.</a:t>
            </a:r>
          </a:p>
          <a:p>
            <a:pPr algn="ctr"/>
            <a:r>
              <a:rPr lang="fr-FR" sz="900" dirty="0"/>
              <a:t>Depuis la Communauté "Croissance", la liste est partagée dans tous les départements et beaucoup plus de personnes de cette liste ont été contactés.</a:t>
            </a:r>
          </a:p>
        </p:txBody>
      </p:sp>
      <p:sp>
        <p:nvSpPr>
          <p:cNvPr id="10" name="ZoneTexte 9">
            <a:extLst>
              <a:ext uri="{FF2B5EF4-FFF2-40B4-BE49-F238E27FC236}">
                <a16:creationId xmlns:a16="http://schemas.microsoft.com/office/drawing/2014/main" id="{72669170-2482-B266-F803-D462365F10CB}"/>
              </a:ext>
            </a:extLst>
          </p:cNvPr>
          <p:cNvSpPr txBox="1"/>
          <p:nvPr/>
        </p:nvSpPr>
        <p:spPr>
          <a:xfrm>
            <a:off x="5740555" y="4549856"/>
            <a:ext cx="3057796" cy="900165"/>
          </a:xfrm>
          <a:prstGeom prst="rect">
            <a:avLst/>
          </a:prstGeom>
          <a:solidFill>
            <a:schemeClr val="bg1"/>
          </a:solidFill>
          <a:ln>
            <a:solidFill>
              <a:schemeClr val="tx1"/>
            </a:solidFill>
          </a:ln>
        </p:spPr>
        <p:txBody>
          <a:bodyPr wrap="square" anchor="ctr">
            <a:noAutofit/>
          </a:bodyPr>
          <a:lstStyle/>
          <a:p>
            <a:pPr algn="ctr"/>
            <a:r>
              <a:rPr lang="fr-FR" sz="900" dirty="0"/>
              <a:t>Les collaborateurs ont en moyenne accès à 3 espaces de </a:t>
            </a:r>
            <a:r>
              <a:rPr lang="fr-FR" sz="900" dirty="0" err="1"/>
              <a:t>co-working</a:t>
            </a:r>
            <a:r>
              <a:rPr lang="fr-FR" sz="900" dirty="0"/>
              <a:t> pour leurs rendez-vous clients en ville. Depuis le montage de la Communauté "réseau d'affaires", qui mutualise les contrats, les collaborateurs ont tous accès en moyenne à 10 espaces.</a:t>
            </a:r>
          </a:p>
        </p:txBody>
      </p:sp>
    </p:spTree>
    <p:extLst>
      <p:ext uri="{BB962C8B-B14F-4D97-AF65-F5344CB8AC3E}">
        <p14:creationId xmlns:p14="http://schemas.microsoft.com/office/powerpoint/2010/main" val="1412094503"/>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ce réservé du contenu 2">
            <a:extLst>
              <a:ext uri="{FF2B5EF4-FFF2-40B4-BE49-F238E27FC236}">
                <a16:creationId xmlns:a16="http://schemas.microsoft.com/office/drawing/2014/main" id="{A6FE2727-A409-7870-E47A-A3558B924778}"/>
              </a:ext>
            </a:extLst>
          </p:cNvPr>
          <p:cNvSpPr txBox="1">
            <a:spLocks/>
          </p:cNvSpPr>
          <p:nvPr/>
        </p:nvSpPr>
        <p:spPr>
          <a:xfrm>
            <a:off x="460697" y="1560352"/>
            <a:ext cx="5143500" cy="493252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800" b="1" dirty="0">
                <a:solidFill>
                  <a:srgbClr val="FF0000"/>
                </a:solidFill>
              </a:rPr>
              <a:t>Inconvénients</a:t>
            </a:r>
            <a:r>
              <a:rPr lang="fr-FR" sz="1800" dirty="0"/>
              <a:t> : Approche qui met de côté beaucoup de complexité et de risques</a:t>
            </a:r>
          </a:p>
          <a:p>
            <a:pPr marL="0" indent="0">
              <a:buFont typeface="Arial" panose="020B0604020202020204" pitchFamily="34" charset="0"/>
              <a:buNone/>
            </a:pPr>
            <a:endParaRPr lang="fr-FR" sz="1800" dirty="0"/>
          </a:p>
          <a:p>
            <a:pPr lvl="1"/>
            <a:r>
              <a:rPr lang="fr-FR" sz="1800" dirty="0"/>
              <a:t>Limites de l’opportunisme et </a:t>
            </a:r>
            <a:r>
              <a:rPr lang="fr-FR" sz="1800" b="1" dirty="0"/>
              <a:t>épuisement des ressources</a:t>
            </a:r>
            <a:r>
              <a:rPr lang="fr-FR" sz="1800" dirty="0"/>
              <a:t>.</a:t>
            </a:r>
            <a:endParaRPr lang="fr-FR" sz="1800" i="1" dirty="0">
              <a:solidFill>
                <a:srgbClr val="FF0000"/>
              </a:solidFill>
            </a:endParaRPr>
          </a:p>
          <a:p>
            <a:pPr lvl="1"/>
            <a:r>
              <a:rPr lang="fr-FR" sz="1800" dirty="0"/>
              <a:t>Pas de réflexion sur les </a:t>
            </a:r>
            <a:r>
              <a:rPr lang="fr-FR" sz="1800" b="1" dirty="0"/>
              <a:t>ressources créées par la Communauté</a:t>
            </a:r>
            <a:r>
              <a:rPr lang="fr-FR" sz="1800" dirty="0"/>
              <a:t>. </a:t>
            </a:r>
          </a:p>
          <a:p>
            <a:pPr lvl="1"/>
            <a:r>
              <a:rPr lang="fr-FR" sz="1800" dirty="0"/>
              <a:t>Pas de réflexion sur </a:t>
            </a:r>
            <a:r>
              <a:rPr lang="fr-FR" sz="1800" b="1" dirty="0"/>
              <a:t>les motivations</a:t>
            </a:r>
            <a:r>
              <a:rPr lang="fr-FR" sz="1800" dirty="0"/>
              <a:t>.</a:t>
            </a:r>
            <a:endParaRPr lang="fr-FR" sz="1800" i="1" dirty="0">
              <a:solidFill>
                <a:srgbClr val="FF0000"/>
              </a:solidFill>
            </a:endParaRPr>
          </a:p>
          <a:p>
            <a:pPr lvl="1"/>
            <a:r>
              <a:rPr lang="fr-FR" sz="1800" dirty="0"/>
              <a:t>Pousse à maximiser le nombre de membres </a:t>
            </a:r>
            <a:r>
              <a:rPr lang="fr-FR" sz="1800" b="1" dirty="0"/>
              <a:t>sans regard sur les effets de bord et les risques liés au grand nombre</a:t>
            </a:r>
            <a:r>
              <a:rPr lang="fr-FR" sz="1800" dirty="0"/>
              <a:t>.</a:t>
            </a:r>
            <a:endParaRPr lang="fr-FR" sz="1800" i="1" dirty="0">
              <a:solidFill>
                <a:srgbClr val="FF0000"/>
              </a:solidFill>
            </a:endParaRPr>
          </a:p>
          <a:p>
            <a:pPr lvl="1"/>
            <a:r>
              <a:rPr lang="fr-FR" sz="1800" dirty="0"/>
              <a:t>Effet de </a:t>
            </a:r>
            <a:r>
              <a:rPr lang="fr-FR" sz="1800" b="1" dirty="0"/>
              <a:t>saturation </a:t>
            </a:r>
            <a:r>
              <a:rPr lang="fr-FR" sz="1800" dirty="0"/>
              <a:t>(limite de partage)</a:t>
            </a:r>
            <a:r>
              <a:rPr lang="fr-FR" sz="1800" b="1" dirty="0"/>
              <a:t> d’une ressource</a:t>
            </a:r>
            <a:r>
              <a:rPr lang="fr-FR" sz="1800" dirty="0"/>
              <a:t>.</a:t>
            </a:r>
            <a:endParaRPr lang="fr-FR" sz="1800" i="1" dirty="0">
              <a:solidFill>
                <a:srgbClr val="FF0000"/>
              </a:solidFill>
            </a:endParaRPr>
          </a:p>
          <a:p>
            <a:pPr lvl="1"/>
            <a:r>
              <a:rPr lang="fr-FR" sz="1800" dirty="0"/>
              <a:t>Effet d’opportunisme des membres consommateurs et </a:t>
            </a:r>
            <a:r>
              <a:rPr lang="fr-FR" sz="1800" b="1" dirty="0"/>
              <a:t>asymétrie d’engagement</a:t>
            </a:r>
            <a:r>
              <a:rPr lang="fr-FR" sz="1800" dirty="0"/>
              <a:t>. </a:t>
            </a:r>
          </a:p>
        </p:txBody>
      </p:sp>
      <p:sp>
        <p:nvSpPr>
          <p:cNvPr id="2" name="Titre 1">
            <a:extLst>
              <a:ext uri="{FF2B5EF4-FFF2-40B4-BE49-F238E27FC236}">
                <a16:creationId xmlns:a16="http://schemas.microsoft.com/office/drawing/2014/main" id="{33A3F6E7-1F8B-DE8D-FD17-4DB5B4F0372E}"/>
              </a:ext>
            </a:extLst>
          </p:cNvPr>
          <p:cNvSpPr>
            <a:spLocks noGrp="1"/>
          </p:cNvSpPr>
          <p:nvPr>
            <p:ph type="title"/>
          </p:nvPr>
        </p:nvSpPr>
        <p:spPr>
          <a:xfrm>
            <a:off x="838200" y="365126"/>
            <a:ext cx="10515600" cy="1019057"/>
          </a:xfrm>
        </p:spPr>
        <p:txBody>
          <a:bodyPr>
            <a:normAutofit/>
          </a:bodyPr>
          <a:lstStyle/>
          <a:p>
            <a:r>
              <a:rPr lang="fr-FR" sz="1400" dirty="0"/>
              <a:t>Avantages et inconvénients d’une tactique orientée </a:t>
            </a:r>
            <a:br>
              <a:rPr lang="fr-FR" sz="1400" dirty="0"/>
            </a:br>
            <a:r>
              <a:rPr lang="fr-FR" sz="2000" b="1" dirty="0"/>
              <a:t>UNIQUEMENT</a:t>
            </a:r>
            <a:r>
              <a:rPr lang="fr-FR" sz="1400" b="1" dirty="0"/>
              <a:t> </a:t>
            </a:r>
            <a:r>
              <a:rPr lang="fr-FR" sz="1400" dirty="0"/>
              <a:t>« Mise en commun de ressources »</a:t>
            </a:r>
            <a:br>
              <a:rPr lang="fr-FR" sz="1400" dirty="0"/>
            </a:br>
            <a:r>
              <a:rPr lang="fr-FR" sz="1400" dirty="0"/>
              <a:t>Associez les histoires aux inconvénients</a:t>
            </a:r>
          </a:p>
        </p:txBody>
      </p:sp>
      <p:sp>
        <p:nvSpPr>
          <p:cNvPr id="8" name="ZoneTexte 7">
            <a:extLst>
              <a:ext uri="{FF2B5EF4-FFF2-40B4-BE49-F238E27FC236}">
                <a16:creationId xmlns:a16="http://schemas.microsoft.com/office/drawing/2014/main" id="{329890CC-FDAB-A8B3-6C0E-668C19A94C0C}"/>
              </a:ext>
            </a:extLst>
          </p:cNvPr>
          <p:cNvSpPr txBox="1"/>
          <p:nvPr/>
        </p:nvSpPr>
        <p:spPr>
          <a:xfrm>
            <a:off x="5858235" y="155574"/>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qui a initialement réuni beaucoup de personnes intéressées par quelques retours d’expérience particuliers, mais dont les autres sujets du même thème intéressent peu les membres.</a:t>
            </a:r>
          </a:p>
          <a:p>
            <a:pPr algn="ctr"/>
            <a:r>
              <a:rPr lang="fr-FR" sz="900" dirty="0"/>
              <a:t>Cette communauté subit le désengagement parce qu’elle approche « au coup par coup » et n’a rien prévu d’autre.</a:t>
            </a:r>
          </a:p>
        </p:txBody>
      </p:sp>
      <p:sp>
        <p:nvSpPr>
          <p:cNvPr id="9" name="ZoneTexte 8">
            <a:extLst>
              <a:ext uri="{FF2B5EF4-FFF2-40B4-BE49-F238E27FC236}">
                <a16:creationId xmlns:a16="http://schemas.microsoft.com/office/drawing/2014/main" id="{89DB13BF-466B-4AC2-7011-C041749736EE}"/>
              </a:ext>
            </a:extLst>
          </p:cNvPr>
          <p:cNvSpPr txBox="1"/>
          <p:nvPr/>
        </p:nvSpPr>
        <p:spPr>
          <a:xfrm>
            <a:off x="5858235" y="1096825"/>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qui grossit vite pour se dire qu'elle "mutualise" un espace où poser des questions, mais où personne n’ose plus s’exprimer car les membres ne se connaissent plus entre eux.</a:t>
            </a:r>
          </a:p>
          <a:p>
            <a:pPr algn="ctr"/>
            <a:r>
              <a:rPr lang="fr-FR" sz="900" dirty="0"/>
              <a:t>La communauté dépérit par timidité et crainte de spammer.</a:t>
            </a:r>
          </a:p>
        </p:txBody>
      </p:sp>
      <p:sp>
        <p:nvSpPr>
          <p:cNvPr id="11" name="ZoneTexte 10">
            <a:extLst>
              <a:ext uri="{FF2B5EF4-FFF2-40B4-BE49-F238E27FC236}">
                <a16:creationId xmlns:a16="http://schemas.microsoft.com/office/drawing/2014/main" id="{C84070BB-E74E-A1FC-430D-1BB664326A37}"/>
              </a:ext>
            </a:extLst>
          </p:cNvPr>
          <p:cNvSpPr txBox="1"/>
          <p:nvPr/>
        </p:nvSpPr>
        <p:spPr>
          <a:xfrm>
            <a:off x="9037841" y="155574"/>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où une minorité imagine bien la mise en commun de compétences mais où peu de membres sont motivés à partager (ce n’est pas leur problème ou objectif du moment). Malgré le potentiel, la communauté dépérit.</a:t>
            </a:r>
          </a:p>
        </p:txBody>
      </p:sp>
      <p:sp>
        <p:nvSpPr>
          <p:cNvPr id="12" name="ZoneTexte 11">
            <a:extLst>
              <a:ext uri="{FF2B5EF4-FFF2-40B4-BE49-F238E27FC236}">
                <a16:creationId xmlns:a16="http://schemas.microsoft.com/office/drawing/2014/main" id="{B757246D-DABE-3980-9F5A-4EBC073EBC1E}"/>
              </a:ext>
            </a:extLst>
          </p:cNvPr>
          <p:cNvSpPr txBox="1"/>
          <p:nvPr/>
        </p:nvSpPr>
        <p:spPr>
          <a:xfrm>
            <a:off x="9037841" y="1096825"/>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où expert dans le sujet XYZ est mis à disposition, mais il ne peut pas interagir avec plus de 6 personnes par jour de toute façon.</a:t>
            </a:r>
          </a:p>
        </p:txBody>
      </p:sp>
      <p:sp>
        <p:nvSpPr>
          <p:cNvPr id="13" name="ZoneTexte 12">
            <a:extLst>
              <a:ext uri="{FF2B5EF4-FFF2-40B4-BE49-F238E27FC236}">
                <a16:creationId xmlns:a16="http://schemas.microsoft.com/office/drawing/2014/main" id="{7251A370-7D88-C348-DF81-BB32A469DFF5}"/>
              </a:ext>
            </a:extLst>
          </p:cNvPr>
          <p:cNvSpPr txBox="1"/>
          <p:nvPr/>
        </p:nvSpPr>
        <p:spPr>
          <a:xfrm>
            <a:off x="5858235" y="2038076"/>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qui se lance en mettant à disposition des ressources à très bas coût (s'abonner un flux, ...), et dont les membres ne font plus rien une fois qu’ils ont consommé.</a:t>
            </a:r>
          </a:p>
          <a:p>
            <a:pPr algn="ctr"/>
            <a:r>
              <a:rPr lang="fr-FR" sz="900" dirty="0"/>
              <a:t>Les membres ne comprennent pas qu’on leur demande de s’engager alors qu’on faisait tout pour eux quelques jours avant.</a:t>
            </a:r>
          </a:p>
        </p:txBody>
      </p:sp>
      <p:sp>
        <p:nvSpPr>
          <p:cNvPr id="14" name="ZoneTexte 13">
            <a:extLst>
              <a:ext uri="{FF2B5EF4-FFF2-40B4-BE49-F238E27FC236}">
                <a16:creationId xmlns:a16="http://schemas.microsoft.com/office/drawing/2014/main" id="{AC285077-EA6D-95F3-1DD8-F16E8FAE665B}"/>
              </a:ext>
            </a:extLst>
          </p:cNvPr>
          <p:cNvSpPr txBox="1"/>
          <p:nvPr/>
        </p:nvSpPr>
        <p:spPr>
          <a:xfrm>
            <a:off x="9037841" y="2038076"/>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qui se concentre surtout sur partager les contacts pour de nouvelles affaires, mais néglige sa capacité à établir de nouveaux contacts.</a:t>
            </a:r>
          </a:p>
        </p:txBody>
      </p:sp>
      <p:sp>
        <p:nvSpPr>
          <p:cNvPr id="15" name="ZoneTexte 14">
            <a:extLst>
              <a:ext uri="{FF2B5EF4-FFF2-40B4-BE49-F238E27FC236}">
                <a16:creationId xmlns:a16="http://schemas.microsoft.com/office/drawing/2014/main" id="{35F738A2-77FA-3080-211A-0F75D4D0AC7A}"/>
              </a:ext>
            </a:extLst>
          </p:cNvPr>
          <p:cNvSpPr txBox="1"/>
          <p:nvPr/>
        </p:nvSpPr>
        <p:spPr>
          <a:xfrm>
            <a:off x="5858235" y="2966627"/>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qui s'est lancée sur une base de problèmes communs aux membres à résoudre.</a:t>
            </a:r>
          </a:p>
          <a:p>
            <a:pPr algn="ctr"/>
            <a:r>
              <a:rPr lang="fr-FR" sz="900" dirty="0"/>
              <a:t>Une fois les problèmes résolus, et qui ne sait pas quoi faire pour survivre et met en avant de faux problèmes.</a:t>
            </a:r>
          </a:p>
        </p:txBody>
      </p:sp>
      <p:sp>
        <p:nvSpPr>
          <p:cNvPr id="16" name="ZoneTexte 15">
            <a:extLst>
              <a:ext uri="{FF2B5EF4-FFF2-40B4-BE49-F238E27FC236}">
                <a16:creationId xmlns:a16="http://schemas.microsoft.com/office/drawing/2014/main" id="{33698148-CE2C-51F5-A72E-BD9BDF0B4CEA}"/>
              </a:ext>
            </a:extLst>
          </p:cNvPr>
          <p:cNvSpPr txBox="1"/>
          <p:nvPr/>
        </p:nvSpPr>
        <p:spPr>
          <a:xfrm>
            <a:off x="9037841" y="2966627"/>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qui essaye d'attirer des membres avec de l'amusement et du lien informel car c'est la personnalité des fondateurs, mais leur personnalité est à l'opposé des personnes qu'ils souhaitent attirer.</a:t>
            </a:r>
          </a:p>
          <a:p>
            <a:pPr algn="ctr"/>
            <a:r>
              <a:rPr lang="fr-FR" sz="900" dirty="0"/>
              <a:t>La Communauté se retrouve entre fondateurs et ne mutualise pas l'usage de sa grande salle.</a:t>
            </a:r>
          </a:p>
        </p:txBody>
      </p:sp>
      <p:sp>
        <p:nvSpPr>
          <p:cNvPr id="17" name="ZoneTexte 16">
            <a:extLst>
              <a:ext uri="{FF2B5EF4-FFF2-40B4-BE49-F238E27FC236}">
                <a16:creationId xmlns:a16="http://schemas.microsoft.com/office/drawing/2014/main" id="{05971676-CB42-B4D7-2618-9AB07A2302E5}"/>
              </a:ext>
            </a:extLst>
          </p:cNvPr>
          <p:cNvSpPr txBox="1"/>
          <p:nvPr/>
        </p:nvSpPr>
        <p:spPr>
          <a:xfrm>
            <a:off x="5858235" y="3895178"/>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qui souhaite partager du matériel de pointe à un maximum de personnes, mais tout le monde souhaite utiliser ce matériel en même temps et aucun accord n'arrive à être trouvé. Tous sont membres et légitimes d'usage.</a:t>
            </a:r>
          </a:p>
        </p:txBody>
      </p:sp>
      <p:sp>
        <p:nvSpPr>
          <p:cNvPr id="18" name="ZoneTexte 17">
            <a:extLst>
              <a:ext uri="{FF2B5EF4-FFF2-40B4-BE49-F238E27FC236}">
                <a16:creationId xmlns:a16="http://schemas.microsoft.com/office/drawing/2014/main" id="{DECB3EDB-6EC8-20B5-CCEE-6D87B8B15BB0}"/>
              </a:ext>
            </a:extLst>
          </p:cNvPr>
          <p:cNvSpPr txBox="1"/>
          <p:nvPr/>
        </p:nvSpPr>
        <p:spPr>
          <a:xfrm>
            <a:off x="9037841" y="3895177"/>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où la Community Manager a mis la majorité de l'énergie parce que le budget était surtout pour payer son poste. Lorsque le budget a été réduit et la CM a réduit son implication, la Communauté a dépéri car personne n'avait pris l'habitude de s'impliquer.</a:t>
            </a:r>
          </a:p>
        </p:txBody>
      </p:sp>
      <p:sp>
        <p:nvSpPr>
          <p:cNvPr id="19" name="ZoneTexte 18">
            <a:extLst>
              <a:ext uri="{FF2B5EF4-FFF2-40B4-BE49-F238E27FC236}">
                <a16:creationId xmlns:a16="http://schemas.microsoft.com/office/drawing/2014/main" id="{7D522D17-C2F5-3006-6A2C-19E0EDA92DF2}"/>
              </a:ext>
            </a:extLst>
          </p:cNvPr>
          <p:cNvSpPr txBox="1"/>
          <p:nvPr/>
        </p:nvSpPr>
        <p:spPr>
          <a:xfrm>
            <a:off x="5858235" y="4836429"/>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qui essaye d'inviter un maximum de personnes d'un peu partout, mais se retrouve à devoir gérer une trop grande diversité de profils.</a:t>
            </a:r>
          </a:p>
          <a:p>
            <a:pPr algn="ctr"/>
            <a:r>
              <a:rPr lang="fr-FR" sz="900" dirty="0"/>
              <a:t>Elle passe sur des sujets à dénominateurs communs à tous, mais moins spécialisés et intéressants. Puis disparaît par banalité.</a:t>
            </a:r>
          </a:p>
        </p:txBody>
      </p:sp>
      <p:sp>
        <p:nvSpPr>
          <p:cNvPr id="20" name="ZoneTexte 19">
            <a:extLst>
              <a:ext uri="{FF2B5EF4-FFF2-40B4-BE49-F238E27FC236}">
                <a16:creationId xmlns:a16="http://schemas.microsoft.com/office/drawing/2014/main" id="{85B9AC13-491C-C0EA-30B8-B8E5754E8F17}"/>
              </a:ext>
            </a:extLst>
          </p:cNvPr>
          <p:cNvSpPr txBox="1"/>
          <p:nvPr/>
        </p:nvSpPr>
        <p:spPr>
          <a:xfrm>
            <a:off x="9037841" y="4836427"/>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qui consomme beaucoup de documentation, mais n'en créé aucune, et qui se lasse une fois les documentations les plus intéressantes consommées.</a:t>
            </a:r>
          </a:p>
        </p:txBody>
      </p:sp>
      <p:sp>
        <p:nvSpPr>
          <p:cNvPr id="21" name="ZoneTexte 20">
            <a:extLst>
              <a:ext uri="{FF2B5EF4-FFF2-40B4-BE49-F238E27FC236}">
                <a16:creationId xmlns:a16="http://schemas.microsoft.com/office/drawing/2014/main" id="{1EC65864-D9CF-0718-DD7D-360B8EF08094}"/>
              </a:ext>
            </a:extLst>
          </p:cNvPr>
          <p:cNvSpPr txBox="1"/>
          <p:nvPr/>
        </p:nvSpPr>
        <p:spPr>
          <a:xfrm>
            <a:off x="5858235" y="5777679"/>
            <a:ext cx="3057796" cy="900165"/>
          </a:xfrm>
          <a:prstGeom prst="rect">
            <a:avLst/>
          </a:prstGeom>
          <a:solidFill>
            <a:schemeClr val="bg1"/>
          </a:solidFill>
          <a:ln>
            <a:solidFill>
              <a:schemeClr val="tx1"/>
            </a:solidFill>
          </a:ln>
        </p:spPr>
        <p:txBody>
          <a:bodyPr wrap="square" anchor="ctr">
            <a:noAutofit/>
          </a:bodyPr>
          <a:lstStyle/>
          <a:p>
            <a:pPr algn="ctr"/>
            <a:r>
              <a:rPr lang="fr-FR" sz="900" dirty="0"/>
              <a:t>A force de vouloir mutualiser les outils et étant donnée la longueur d’un cycle d’achat, la Communauté ne découvre plus de nouveaux outils et est en retard technologiquement</a:t>
            </a:r>
          </a:p>
        </p:txBody>
      </p:sp>
    </p:spTree>
    <p:extLst>
      <p:ext uri="{BB962C8B-B14F-4D97-AF65-F5344CB8AC3E}">
        <p14:creationId xmlns:p14="http://schemas.microsoft.com/office/powerpoint/2010/main" val="235338090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84850EB-D31B-E033-A3B3-2D6EE4580EAE}"/>
              </a:ext>
            </a:extLst>
          </p:cNvPr>
          <p:cNvSpPr>
            <a:spLocks noGrp="1"/>
          </p:cNvSpPr>
          <p:nvPr>
            <p:ph type="title"/>
          </p:nvPr>
        </p:nvSpPr>
        <p:spPr>
          <a:xfrm>
            <a:off x="1375794" y="365125"/>
            <a:ext cx="9978006" cy="1325563"/>
          </a:xfrm>
        </p:spPr>
        <p:txBody>
          <a:bodyPr/>
          <a:lstStyle/>
          <a:p>
            <a:r>
              <a:rPr lang="fr-FR" dirty="0"/>
              <a:t>Pourquoi des cycles et pas « une bonne fois pour toutes » ? – Exemples de cas</a:t>
            </a:r>
          </a:p>
        </p:txBody>
      </p:sp>
      <p:sp>
        <p:nvSpPr>
          <p:cNvPr id="3" name="Espace réservé du contenu 2">
            <a:extLst>
              <a:ext uri="{FF2B5EF4-FFF2-40B4-BE49-F238E27FC236}">
                <a16:creationId xmlns:a16="http://schemas.microsoft.com/office/drawing/2014/main" id="{0869D4AD-DAEE-632C-0F22-ADFA8597C796}"/>
              </a:ext>
            </a:extLst>
          </p:cNvPr>
          <p:cNvSpPr>
            <a:spLocks noGrp="1"/>
          </p:cNvSpPr>
          <p:nvPr>
            <p:ph idx="1"/>
          </p:nvPr>
        </p:nvSpPr>
        <p:spPr>
          <a:xfrm>
            <a:off x="415915" y="2001072"/>
            <a:ext cx="2762250" cy="4076700"/>
          </a:xfrm>
          <a:solidFill>
            <a:srgbClr val="54FFB3"/>
          </a:solidFill>
          <a:ln>
            <a:noFill/>
          </a:ln>
        </p:spPr>
        <p:txBody>
          <a:bodyPr>
            <a:normAutofit/>
          </a:bodyPr>
          <a:lstStyle/>
          <a:p>
            <a:pPr marL="0" indent="0">
              <a:buNone/>
            </a:pPr>
            <a:r>
              <a:rPr lang="fr-FR" sz="1600" b="1" dirty="0"/>
              <a:t>Variation des motivations et blocages dans le temps </a:t>
            </a:r>
            <a:r>
              <a:rPr lang="fr-FR" sz="1600" dirty="0"/>
              <a:t>:</a:t>
            </a:r>
          </a:p>
          <a:p>
            <a:r>
              <a:rPr lang="fr-FR" sz="1600" dirty="0"/>
              <a:t>Selon les circonstances personnelles</a:t>
            </a:r>
          </a:p>
          <a:p>
            <a:endParaRPr lang="fr-FR" sz="1600" dirty="0"/>
          </a:p>
          <a:p>
            <a:r>
              <a:rPr lang="fr-FR" sz="1600" dirty="0"/>
              <a:t>Selon les phases de vie des membres dans l’entreprise </a:t>
            </a:r>
          </a:p>
          <a:p>
            <a:endParaRPr lang="fr-FR" sz="1600" dirty="0"/>
          </a:p>
          <a:p>
            <a:r>
              <a:rPr lang="fr-FR" sz="1600" dirty="0"/>
              <a:t>Changement du contexte d’entreprise (et des respirations)</a:t>
            </a:r>
          </a:p>
          <a:p>
            <a:endParaRPr lang="fr-FR" sz="1600" dirty="0"/>
          </a:p>
          <a:p>
            <a:r>
              <a:rPr lang="fr-FR" sz="1600" dirty="0"/>
              <a:t>Effets saisonniers ou ponctuels</a:t>
            </a:r>
          </a:p>
        </p:txBody>
      </p:sp>
      <p:grpSp>
        <p:nvGrpSpPr>
          <p:cNvPr id="7" name="Groupe 6">
            <a:extLst>
              <a:ext uri="{FF2B5EF4-FFF2-40B4-BE49-F238E27FC236}">
                <a16:creationId xmlns:a16="http://schemas.microsoft.com/office/drawing/2014/main" id="{5BE0A6BE-67D7-7EC8-19E1-595E28F87356}"/>
              </a:ext>
            </a:extLst>
          </p:cNvPr>
          <p:cNvGrpSpPr/>
          <p:nvPr/>
        </p:nvGrpSpPr>
        <p:grpSpPr>
          <a:xfrm>
            <a:off x="415915" y="570219"/>
            <a:ext cx="844570" cy="915374"/>
            <a:chOff x="9771184" y="501063"/>
            <a:chExt cx="2201188" cy="2385724"/>
          </a:xfrm>
        </p:grpSpPr>
        <p:grpSp>
          <p:nvGrpSpPr>
            <p:cNvPr id="8" name="Groupe 7">
              <a:extLst>
                <a:ext uri="{FF2B5EF4-FFF2-40B4-BE49-F238E27FC236}">
                  <a16:creationId xmlns:a16="http://schemas.microsoft.com/office/drawing/2014/main" id="{E5057AC1-E3EB-743C-F54D-089990D4EAB0}"/>
                </a:ext>
              </a:extLst>
            </p:cNvPr>
            <p:cNvGrpSpPr/>
            <p:nvPr/>
          </p:nvGrpSpPr>
          <p:grpSpPr>
            <a:xfrm>
              <a:off x="9771184" y="501063"/>
              <a:ext cx="2201188" cy="2385724"/>
              <a:chOff x="4948467" y="2361639"/>
              <a:chExt cx="2646976" cy="2868885"/>
            </a:xfrm>
          </p:grpSpPr>
          <p:pic>
            <p:nvPicPr>
              <p:cNvPr id="15" name="Graphique 14" descr="Flux de travail avec un remplissage uni">
                <a:extLst>
                  <a:ext uri="{FF2B5EF4-FFF2-40B4-BE49-F238E27FC236}">
                    <a16:creationId xmlns:a16="http://schemas.microsoft.com/office/drawing/2014/main" id="{A0B04F81-4E93-1727-1928-86214AA7B23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16" name="Graphique 15" descr="Flux de travail avec un remplissage uni">
                <a:extLst>
                  <a:ext uri="{FF2B5EF4-FFF2-40B4-BE49-F238E27FC236}">
                    <a16:creationId xmlns:a16="http://schemas.microsoft.com/office/drawing/2014/main" id="{E20FA527-5655-D1D9-8FE7-38C461AD008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9" name="Graphique 8" descr="Panneau de signalisation avec un remplissage uni">
              <a:extLst>
                <a:ext uri="{FF2B5EF4-FFF2-40B4-BE49-F238E27FC236}">
                  <a16:creationId xmlns:a16="http://schemas.microsoft.com/office/drawing/2014/main" id="{2B0E91C3-2215-B2D9-9916-81BD8E1945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357885" y="605752"/>
              <a:ext cx="581454" cy="581454"/>
            </a:xfrm>
            <a:prstGeom prst="rect">
              <a:avLst/>
            </a:prstGeom>
          </p:spPr>
        </p:pic>
        <p:pic>
          <p:nvPicPr>
            <p:cNvPr id="10" name="Graphique 9" descr="Signe pouce en haut avec un remplissage uni">
              <a:extLst>
                <a:ext uri="{FF2B5EF4-FFF2-40B4-BE49-F238E27FC236}">
                  <a16:creationId xmlns:a16="http://schemas.microsoft.com/office/drawing/2014/main" id="{DB10C13B-827C-8E64-742A-9FC2D734A9E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3043" y="2137783"/>
              <a:ext cx="597064" cy="597064"/>
            </a:xfrm>
            <a:prstGeom prst="rect">
              <a:avLst/>
            </a:prstGeom>
          </p:spPr>
        </p:pic>
        <p:grpSp>
          <p:nvGrpSpPr>
            <p:cNvPr id="11" name="Groupe 10">
              <a:extLst>
                <a:ext uri="{FF2B5EF4-FFF2-40B4-BE49-F238E27FC236}">
                  <a16:creationId xmlns:a16="http://schemas.microsoft.com/office/drawing/2014/main" id="{735B51EB-F387-8B2F-9612-D1A48815255B}"/>
                </a:ext>
              </a:extLst>
            </p:cNvPr>
            <p:cNvGrpSpPr/>
            <p:nvPr/>
          </p:nvGrpSpPr>
          <p:grpSpPr>
            <a:xfrm rot="16200000">
              <a:off x="9922049" y="721026"/>
              <a:ext cx="461197" cy="350906"/>
              <a:chOff x="1499428" y="3098753"/>
              <a:chExt cx="474208" cy="322063"/>
            </a:xfrm>
          </p:grpSpPr>
          <p:sp>
            <p:nvSpPr>
              <p:cNvPr id="13" name="Flèche : bas 12">
                <a:extLst>
                  <a:ext uri="{FF2B5EF4-FFF2-40B4-BE49-F238E27FC236}">
                    <a16:creationId xmlns:a16="http://schemas.microsoft.com/office/drawing/2014/main" id="{D3E911FE-19BC-7CD5-6156-16CEF88FB027}"/>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4" name="Flèche : bas 13">
                <a:extLst>
                  <a:ext uri="{FF2B5EF4-FFF2-40B4-BE49-F238E27FC236}">
                    <a16:creationId xmlns:a16="http://schemas.microsoft.com/office/drawing/2014/main" id="{AF067DCB-2DD7-BCCB-88FE-E93510A0E34D}"/>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12" name="Graphique 11" descr="Cause à effet avec un remplissage uni">
              <a:extLst>
                <a:ext uri="{FF2B5EF4-FFF2-40B4-BE49-F238E27FC236}">
                  <a16:creationId xmlns:a16="http://schemas.microsoft.com/office/drawing/2014/main" id="{F7C936A3-9F7A-E267-C378-A900ED0054A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342276" y="2137783"/>
              <a:ext cx="597063" cy="597063"/>
            </a:xfrm>
            <a:prstGeom prst="rect">
              <a:avLst/>
            </a:prstGeom>
          </p:spPr>
        </p:pic>
      </p:grpSp>
      <p:sp>
        <p:nvSpPr>
          <p:cNvPr id="70" name="ZoneTexte 69">
            <a:extLst>
              <a:ext uri="{FF2B5EF4-FFF2-40B4-BE49-F238E27FC236}">
                <a16:creationId xmlns:a16="http://schemas.microsoft.com/office/drawing/2014/main" id="{630FF0E7-CA50-887E-7DB9-1CF55CD0C966}"/>
              </a:ext>
            </a:extLst>
          </p:cNvPr>
          <p:cNvSpPr txBox="1"/>
          <p:nvPr/>
        </p:nvSpPr>
        <p:spPr>
          <a:xfrm>
            <a:off x="3344708" y="2437047"/>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d’ambassadeurs de l’entreprise a été montée avec des membres qui étaient très disponibles pour des voyages et  de l’événementiel. Quand la Communauté a commencé, tous sortaient d’école. Depuis, les membres ont pour beaucoup commencé une vie de famille, et ont beaucoup moins de disponibilités.</a:t>
            </a:r>
          </a:p>
        </p:txBody>
      </p:sp>
      <p:sp>
        <p:nvSpPr>
          <p:cNvPr id="71" name="ZoneTexte 70">
            <a:extLst>
              <a:ext uri="{FF2B5EF4-FFF2-40B4-BE49-F238E27FC236}">
                <a16:creationId xmlns:a16="http://schemas.microsoft.com/office/drawing/2014/main" id="{2555C076-FACA-9753-4B54-16DAD065FF4A}"/>
              </a:ext>
            </a:extLst>
          </p:cNvPr>
          <p:cNvSpPr txBox="1"/>
          <p:nvPr/>
        </p:nvSpPr>
        <p:spPr>
          <a:xfrm>
            <a:off x="6531340" y="2437047"/>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 Club de lecture semi pro » était dédiée à découvrir et partager différentes lectures, cela d’autant plus que la plupart des membres avaient de longues heures de transport. Depuis, tous les collaborateurs sont passés à distance et leurs habitudes de lecture ont changé (beaucoup réduites). L’échange en revanche était apprécié.</a:t>
            </a:r>
          </a:p>
        </p:txBody>
      </p:sp>
      <p:sp>
        <p:nvSpPr>
          <p:cNvPr id="72" name="ZoneTexte 71">
            <a:extLst>
              <a:ext uri="{FF2B5EF4-FFF2-40B4-BE49-F238E27FC236}">
                <a16:creationId xmlns:a16="http://schemas.microsoft.com/office/drawing/2014/main" id="{C9441955-CC9D-A7F0-26F6-F68BB1FEB3D4}"/>
              </a:ext>
            </a:extLst>
          </p:cNvPr>
          <p:cNvSpPr txBox="1"/>
          <p:nvPr/>
        </p:nvSpPr>
        <p:spPr>
          <a:xfrm>
            <a:off x="3344708" y="3385371"/>
            <a:ext cx="3057796" cy="900165"/>
          </a:xfrm>
          <a:prstGeom prst="rect">
            <a:avLst/>
          </a:prstGeom>
          <a:solidFill>
            <a:schemeClr val="bg1"/>
          </a:solidFill>
          <a:ln>
            <a:solidFill>
              <a:schemeClr val="tx1"/>
            </a:solidFill>
          </a:ln>
        </p:spPr>
        <p:txBody>
          <a:bodyPr wrap="square" anchor="ctr">
            <a:noAutofit/>
          </a:bodyPr>
          <a:lstStyle/>
          <a:p>
            <a:pPr algn="ctr"/>
            <a:r>
              <a:rPr lang="fr-FR" sz="900" dirty="0"/>
              <a:t>Quand la Communauté « Veille découverte des métiers » s’est lancée, la plupart des membres étaient nouveaux arrivants à la découverte des mobilités internes. Depuis les membres ont soit des positions d’experts, soit des positions de management, qui durent plus longtemps (quelques années) avant toute mobilité.</a:t>
            </a:r>
          </a:p>
        </p:txBody>
      </p:sp>
      <p:sp>
        <p:nvSpPr>
          <p:cNvPr id="73" name="ZoneTexte 72">
            <a:extLst>
              <a:ext uri="{FF2B5EF4-FFF2-40B4-BE49-F238E27FC236}">
                <a16:creationId xmlns:a16="http://schemas.microsoft.com/office/drawing/2014/main" id="{6B9116A1-A4DE-F78A-9424-856B7389B96F}"/>
              </a:ext>
            </a:extLst>
          </p:cNvPr>
          <p:cNvSpPr txBox="1"/>
          <p:nvPr/>
        </p:nvSpPr>
        <p:spPr>
          <a:xfrm>
            <a:off x="6531340" y="3385371"/>
            <a:ext cx="3057796" cy="900165"/>
          </a:xfrm>
          <a:prstGeom prst="rect">
            <a:avLst/>
          </a:prstGeom>
          <a:solidFill>
            <a:schemeClr val="bg1"/>
          </a:solidFill>
          <a:ln>
            <a:solidFill>
              <a:schemeClr val="tx1"/>
            </a:solidFill>
          </a:ln>
        </p:spPr>
        <p:txBody>
          <a:bodyPr wrap="square" anchor="ctr">
            <a:noAutofit/>
          </a:bodyPr>
          <a:lstStyle/>
          <a:p>
            <a:pPr algn="ctr"/>
            <a:r>
              <a:rPr lang="fr-FR" sz="900" dirty="0"/>
              <a:t>La Communauté « CMMI » s’est montée lorsque plusieurs personnes se sont trouvées contraintes ou motivées par passer une même certification. Depuis les membres sont tous certifiés et appliquent le sujet dans leur quotidien,  ils cherchent maintenant un peu plus de stimulation ou de nouveauté dans la Communauté.</a:t>
            </a:r>
          </a:p>
        </p:txBody>
      </p:sp>
      <p:sp>
        <p:nvSpPr>
          <p:cNvPr id="74" name="ZoneTexte 73">
            <a:extLst>
              <a:ext uri="{FF2B5EF4-FFF2-40B4-BE49-F238E27FC236}">
                <a16:creationId xmlns:a16="http://schemas.microsoft.com/office/drawing/2014/main" id="{07D9CDE7-5039-4316-7BE3-BEB854464F7D}"/>
              </a:ext>
            </a:extLst>
          </p:cNvPr>
          <p:cNvSpPr txBox="1"/>
          <p:nvPr/>
        </p:nvSpPr>
        <p:spPr>
          <a:xfrm>
            <a:off x="3344708" y="4333695"/>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pilote a été créée pour diffuser certaines « New </a:t>
            </a:r>
            <a:r>
              <a:rPr lang="fr-FR" sz="900" dirty="0" err="1"/>
              <a:t>Ways</a:t>
            </a:r>
            <a:r>
              <a:rPr lang="fr-FR" sz="900" dirty="0"/>
              <a:t> of </a:t>
            </a:r>
            <a:r>
              <a:rPr lang="fr-FR" sz="900" dirty="0" err="1"/>
              <a:t>Working</a:t>
            </a:r>
            <a:r>
              <a:rPr lang="fr-FR" sz="900" dirty="0"/>
              <a:t> » (transformation digitale, agile, etc.) dans la Business Unit XYZ. Trois ans plus tard, la plupart des sujets ont été lancés dans la majorité des équipes. La Communauté n’offre plus la même nouveauté et les priorités de l’entreprise sont portées ailleurs.</a:t>
            </a:r>
          </a:p>
        </p:txBody>
      </p:sp>
      <p:sp>
        <p:nvSpPr>
          <p:cNvPr id="75" name="ZoneTexte 74">
            <a:extLst>
              <a:ext uri="{FF2B5EF4-FFF2-40B4-BE49-F238E27FC236}">
                <a16:creationId xmlns:a16="http://schemas.microsoft.com/office/drawing/2014/main" id="{4C3EC4F1-D883-DAAE-AFBE-3282CA9513A9}"/>
              </a:ext>
            </a:extLst>
          </p:cNvPr>
          <p:cNvSpPr txBox="1"/>
          <p:nvPr/>
        </p:nvSpPr>
        <p:spPr>
          <a:xfrm>
            <a:off x="6531340" y="4333695"/>
            <a:ext cx="3057796" cy="900165"/>
          </a:xfrm>
          <a:prstGeom prst="rect">
            <a:avLst/>
          </a:prstGeom>
          <a:solidFill>
            <a:schemeClr val="bg1"/>
          </a:solidFill>
          <a:ln>
            <a:solidFill>
              <a:schemeClr val="tx1"/>
            </a:solidFill>
          </a:ln>
        </p:spPr>
        <p:txBody>
          <a:bodyPr wrap="square" anchor="ctr">
            <a:noAutofit/>
          </a:bodyPr>
          <a:lstStyle/>
          <a:p>
            <a:pPr algn="ctr"/>
            <a:r>
              <a:rPr lang="fr-FR" sz="900" dirty="0"/>
              <a:t>Une Communauté « Innovation participative » a été lancée dans une phase où l’entreprise misait beaucoup sur l’innovation pour se différencier de ses concurrents. Aujourd’hui, la stratégie globale d’entreprise repose beaucoup plus sur les partenariats longs avec des clients sur des produits historiques, l’Innovation est au second plan.</a:t>
            </a:r>
          </a:p>
        </p:txBody>
      </p:sp>
      <p:sp>
        <p:nvSpPr>
          <p:cNvPr id="20" name="ZoneTexte 19">
            <a:extLst>
              <a:ext uri="{FF2B5EF4-FFF2-40B4-BE49-F238E27FC236}">
                <a16:creationId xmlns:a16="http://schemas.microsoft.com/office/drawing/2014/main" id="{C6C6F05F-0C86-924B-4719-B19851FE0B41}"/>
              </a:ext>
            </a:extLst>
          </p:cNvPr>
          <p:cNvSpPr txBox="1"/>
          <p:nvPr/>
        </p:nvSpPr>
        <p:spPr>
          <a:xfrm>
            <a:off x="3344708" y="5282019"/>
            <a:ext cx="3057796" cy="900165"/>
          </a:xfrm>
          <a:prstGeom prst="rect">
            <a:avLst/>
          </a:prstGeom>
          <a:solidFill>
            <a:schemeClr val="bg1"/>
          </a:solidFill>
          <a:ln>
            <a:solidFill>
              <a:schemeClr val="tx1"/>
            </a:solidFill>
          </a:ln>
        </p:spPr>
        <p:txBody>
          <a:bodyPr wrap="square" anchor="ctr">
            <a:noAutofit/>
          </a:bodyPr>
          <a:lstStyle/>
          <a:p>
            <a:pPr algn="ctr"/>
            <a:r>
              <a:rPr lang="fr-FR" sz="900" dirty="0"/>
              <a:t>Récemment, les membres de la Communauté (qui sont aussi les membres du département XYZ) ont eu de grands projets à lancer et des mises en production difficiles. Le but historique a beau être mieux creuser leur travail et développer les compétences, pour encore quelques semaines ils préfèrent des sujets apaisants ou juste du lien entre eux.</a:t>
            </a:r>
          </a:p>
        </p:txBody>
      </p:sp>
      <p:sp>
        <p:nvSpPr>
          <p:cNvPr id="21" name="ZoneTexte 20">
            <a:extLst>
              <a:ext uri="{FF2B5EF4-FFF2-40B4-BE49-F238E27FC236}">
                <a16:creationId xmlns:a16="http://schemas.microsoft.com/office/drawing/2014/main" id="{3EA0A2C1-3DAE-B2D3-0138-E69C6D264A55}"/>
              </a:ext>
            </a:extLst>
          </p:cNvPr>
          <p:cNvSpPr txBox="1"/>
          <p:nvPr/>
        </p:nvSpPr>
        <p:spPr>
          <a:xfrm>
            <a:off x="6531340" y="5282019"/>
            <a:ext cx="3057796" cy="900165"/>
          </a:xfrm>
          <a:prstGeom prst="rect">
            <a:avLst/>
          </a:prstGeom>
          <a:solidFill>
            <a:schemeClr val="bg1"/>
          </a:solidFill>
          <a:ln>
            <a:solidFill>
              <a:schemeClr val="tx1"/>
            </a:solidFill>
          </a:ln>
        </p:spPr>
        <p:txBody>
          <a:bodyPr wrap="square" anchor="ctr">
            <a:noAutofit/>
          </a:bodyPr>
          <a:lstStyle/>
          <a:p>
            <a:pPr algn="ctr"/>
            <a:r>
              <a:rPr lang="fr-FR" sz="900" dirty="0"/>
              <a:t>Tous les ans, entre la rentrée et les fêtes, il y a beaucoup plus de pression à bien terminer l’année. C’est donc plus difficile d’engager la Communauté sur des activités inspirantes et stimulantes dans cette phase, qu’au printemps ou en été par exemple.</a:t>
            </a:r>
          </a:p>
        </p:txBody>
      </p:sp>
    </p:spTree>
    <p:extLst>
      <p:ext uri="{BB962C8B-B14F-4D97-AF65-F5344CB8AC3E}">
        <p14:creationId xmlns:p14="http://schemas.microsoft.com/office/powerpoint/2010/main" val="1765505581"/>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84850EB-D31B-E033-A3B3-2D6EE4580EAE}"/>
              </a:ext>
            </a:extLst>
          </p:cNvPr>
          <p:cNvSpPr>
            <a:spLocks noGrp="1"/>
          </p:cNvSpPr>
          <p:nvPr>
            <p:ph type="title"/>
          </p:nvPr>
        </p:nvSpPr>
        <p:spPr>
          <a:xfrm>
            <a:off x="1375794" y="365125"/>
            <a:ext cx="9978006" cy="1325563"/>
          </a:xfrm>
        </p:spPr>
        <p:txBody>
          <a:bodyPr/>
          <a:lstStyle/>
          <a:p>
            <a:r>
              <a:rPr lang="fr-FR" dirty="0"/>
              <a:t>Pourquoi des cycles et pas « une bonne fois pour toutes » ? – Exemples de cas</a:t>
            </a:r>
          </a:p>
        </p:txBody>
      </p:sp>
      <p:grpSp>
        <p:nvGrpSpPr>
          <p:cNvPr id="7" name="Groupe 6">
            <a:extLst>
              <a:ext uri="{FF2B5EF4-FFF2-40B4-BE49-F238E27FC236}">
                <a16:creationId xmlns:a16="http://schemas.microsoft.com/office/drawing/2014/main" id="{5BE0A6BE-67D7-7EC8-19E1-595E28F87356}"/>
              </a:ext>
            </a:extLst>
          </p:cNvPr>
          <p:cNvGrpSpPr/>
          <p:nvPr/>
        </p:nvGrpSpPr>
        <p:grpSpPr>
          <a:xfrm>
            <a:off x="415915" y="570219"/>
            <a:ext cx="844570" cy="915374"/>
            <a:chOff x="9771184" y="501063"/>
            <a:chExt cx="2201188" cy="2385724"/>
          </a:xfrm>
        </p:grpSpPr>
        <p:grpSp>
          <p:nvGrpSpPr>
            <p:cNvPr id="8" name="Groupe 7">
              <a:extLst>
                <a:ext uri="{FF2B5EF4-FFF2-40B4-BE49-F238E27FC236}">
                  <a16:creationId xmlns:a16="http://schemas.microsoft.com/office/drawing/2014/main" id="{E5057AC1-E3EB-743C-F54D-089990D4EAB0}"/>
                </a:ext>
              </a:extLst>
            </p:cNvPr>
            <p:cNvGrpSpPr/>
            <p:nvPr/>
          </p:nvGrpSpPr>
          <p:grpSpPr>
            <a:xfrm>
              <a:off x="9771184" y="501063"/>
              <a:ext cx="2201188" cy="2385724"/>
              <a:chOff x="4948467" y="2361639"/>
              <a:chExt cx="2646976" cy="2868885"/>
            </a:xfrm>
          </p:grpSpPr>
          <p:pic>
            <p:nvPicPr>
              <p:cNvPr id="15" name="Graphique 14" descr="Flux de travail avec un remplissage uni">
                <a:extLst>
                  <a:ext uri="{FF2B5EF4-FFF2-40B4-BE49-F238E27FC236}">
                    <a16:creationId xmlns:a16="http://schemas.microsoft.com/office/drawing/2014/main" id="{A0B04F81-4E93-1727-1928-86214AA7B23C}"/>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16" name="Graphique 15" descr="Flux de travail avec un remplissage uni">
                <a:extLst>
                  <a:ext uri="{FF2B5EF4-FFF2-40B4-BE49-F238E27FC236}">
                    <a16:creationId xmlns:a16="http://schemas.microsoft.com/office/drawing/2014/main" id="{E20FA527-5655-D1D9-8FE7-38C461AD008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9" name="Graphique 8" descr="Panneau de signalisation avec un remplissage uni">
              <a:extLst>
                <a:ext uri="{FF2B5EF4-FFF2-40B4-BE49-F238E27FC236}">
                  <a16:creationId xmlns:a16="http://schemas.microsoft.com/office/drawing/2014/main" id="{2B0E91C3-2215-B2D9-9916-81BD8E1945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357885" y="605752"/>
              <a:ext cx="581454" cy="581454"/>
            </a:xfrm>
            <a:prstGeom prst="rect">
              <a:avLst/>
            </a:prstGeom>
          </p:spPr>
        </p:pic>
        <p:pic>
          <p:nvPicPr>
            <p:cNvPr id="10" name="Graphique 9" descr="Signe pouce en haut avec un remplissage uni">
              <a:extLst>
                <a:ext uri="{FF2B5EF4-FFF2-40B4-BE49-F238E27FC236}">
                  <a16:creationId xmlns:a16="http://schemas.microsoft.com/office/drawing/2014/main" id="{DB10C13B-827C-8E64-742A-9FC2D734A9E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3043" y="2137783"/>
              <a:ext cx="597064" cy="597064"/>
            </a:xfrm>
            <a:prstGeom prst="rect">
              <a:avLst/>
            </a:prstGeom>
          </p:spPr>
        </p:pic>
        <p:grpSp>
          <p:nvGrpSpPr>
            <p:cNvPr id="11" name="Groupe 10">
              <a:extLst>
                <a:ext uri="{FF2B5EF4-FFF2-40B4-BE49-F238E27FC236}">
                  <a16:creationId xmlns:a16="http://schemas.microsoft.com/office/drawing/2014/main" id="{735B51EB-F387-8B2F-9612-D1A48815255B}"/>
                </a:ext>
              </a:extLst>
            </p:cNvPr>
            <p:cNvGrpSpPr/>
            <p:nvPr/>
          </p:nvGrpSpPr>
          <p:grpSpPr>
            <a:xfrm rot="16200000">
              <a:off x="9922049" y="721026"/>
              <a:ext cx="461197" cy="350906"/>
              <a:chOff x="1499428" y="3098753"/>
              <a:chExt cx="474208" cy="322063"/>
            </a:xfrm>
          </p:grpSpPr>
          <p:sp>
            <p:nvSpPr>
              <p:cNvPr id="13" name="Flèche : bas 12">
                <a:extLst>
                  <a:ext uri="{FF2B5EF4-FFF2-40B4-BE49-F238E27FC236}">
                    <a16:creationId xmlns:a16="http://schemas.microsoft.com/office/drawing/2014/main" id="{D3E911FE-19BC-7CD5-6156-16CEF88FB027}"/>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4" name="Flèche : bas 13">
                <a:extLst>
                  <a:ext uri="{FF2B5EF4-FFF2-40B4-BE49-F238E27FC236}">
                    <a16:creationId xmlns:a16="http://schemas.microsoft.com/office/drawing/2014/main" id="{AF067DCB-2DD7-BCCB-88FE-E93510A0E34D}"/>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12" name="Graphique 11" descr="Cause à effet avec un remplissage uni">
              <a:extLst>
                <a:ext uri="{FF2B5EF4-FFF2-40B4-BE49-F238E27FC236}">
                  <a16:creationId xmlns:a16="http://schemas.microsoft.com/office/drawing/2014/main" id="{F7C936A3-9F7A-E267-C378-A900ED0054A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342276" y="2137783"/>
              <a:ext cx="597063" cy="597063"/>
            </a:xfrm>
            <a:prstGeom prst="rect">
              <a:avLst/>
            </a:prstGeom>
          </p:spPr>
        </p:pic>
      </p:grpSp>
      <p:sp>
        <p:nvSpPr>
          <p:cNvPr id="17" name="Espace réservé du contenu 2">
            <a:extLst>
              <a:ext uri="{FF2B5EF4-FFF2-40B4-BE49-F238E27FC236}">
                <a16:creationId xmlns:a16="http://schemas.microsoft.com/office/drawing/2014/main" id="{94F15B8F-CB71-690A-9264-2A91D24D7323}"/>
              </a:ext>
            </a:extLst>
          </p:cNvPr>
          <p:cNvSpPr txBox="1">
            <a:spLocks/>
          </p:cNvSpPr>
          <p:nvPr/>
        </p:nvSpPr>
        <p:spPr>
          <a:xfrm>
            <a:off x="447323" y="1753926"/>
            <a:ext cx="2762250" cy="5003847"/>
          </a:xfrm>
          <a:prstGeom prst="rect">
            <a:avLst/>
          </a:prstGeom>
          <a:solidFill>
            <a:schemeClr val="bg1">
              <a:lumMod val="75000"/>
            </a:schemeClr>
          </a:solidFill>
        </p:spPr>
        <p:txBody>
          <a:bodyPr vert="horz" lIns="91440" tIns="45720" rIns="91440" bIns="45720" rtlCol="0">
            <a:normAutofit fontScale="925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600" b="1" dirty="0"/>
              <a:t>Limites opérationnelles </a:t>
            </a:r>
          </a:p>
          <a:p>
            <a:r>
              <a:rPr lang="fr-FR" sz="1600" dirty="0"/>
              <a:t>Capacité de renseignement limitée</a:t>
            </a:r>
          </a:p>
          <a:p>
            <a:endParaRPr lang="fr-FR" sz="1600" dirty="0"/>
          </a:p>
          <a:p>
            <a:r>
              <a:rPr lang="fr-FR" sz="1600" dirty="0"/>
              <a:t>Capacité d’idéation ou de décision limitée</a:t>
            </a:r>
          </a:p>
          <a:p>
            <a:endParaRPr lang="fr-FR" sz="1600" dirty="0"/>
          </a:p>
          <a:p>
            <a:r>
              <a:rPr lang="fr-FR" sz="1600" dirty="0"/>
              <a:t>Apparition de nouvelles opportunités d’actions (nouveaux outils, événements, contenus possibles, …)</a:t>
            </a:r>
          </a:p>
          <a:p>
            <a:endParaRPr lang="fr-FR" sz="1600" dirty="0"/>
          </a:p>
          <a:p>
            <a:r>
              <a:rPr lang="fr-FR" sz="1600" dirty="0"/>
              <a:t>Apparition de nouveaux modèles et dimensions de décisions</a:t>
            </a:r>
          </a:p>
          <a:p>
            <a:endParaRPr lang="fr-FR" sz="1600" dirty="0"/>
          </a:p>
          <a:p>
            <a:r>
              <a:rPr lang="fr-FR" sz="1600" dirty="0"/>
              <a:t>Effet d’impatience (Trop d’attente de concrétisation)</a:t>
            </a:r>
          </a:p>
        </p:txBody>
      </p:sp>
      <p:sp>
        <p:nvSpPr>
          <p:cNvPr id="70" name="ZoneTexte 69">
            <a:extLst>
              <a:ext uri="{FF2B5EF4-FFF2-40B4-BE49-F238E27FC236}">
                <a16:creationId xmlns:a16="http://schemas.microsoft.com/office/drawing/2014/main" id="{C76CF68A-5B38-2DE8-B8D4-B44D9F940991}"/>
              </a:ext>
            </a:extLst>
          </p:cNvPr>
          <p:cNvSpPr txBox="1"/>
          <p:nvPr/>
        </p:nvSpPr>
        <p:spPr>
          <a:xfrm>
            <a:off x="3298123" y="1824948"/>
            <a:ext cx="3057796" cy="900165"/>
          </a:xfrm>
          <a:prstGeom prst="rect">
            <a:avLst/>
          </a:prstGeom>
          <a:solidFill>
            <a:schemeClr val="bg1"/>
          </a:solidFill>
          <a:ln>
            <a:solidFill>
              <a:schemeClr val="tx1"/>
            </a:solidFill>
          </a:ln>
        </p:spPr>
        <p:txBody>
          <a:bodyPr wrap="square" anchor="ctr">
            <a:noAutofit/>
          </a:bodyPr>
          <a:lstStyle/>
          <a:p>
            <a:pPr algn="ctr"/>
            <a:r>
              <a:rPr lang="fr-FR" sz="900" dirty="0"/>
              <a:t>Il est très difficile en cette période d’été de récupérer les motivations de tous les membres, surtout que le lancement de la Communauté est prévu dès la rentrée.</a:t>
            </a:r>
          </a:p>
        </p:txBody>
      </p:sp>
      <p:sp>
        <p:nvSpPr>
          <p:cNvPr id="71" name="ZoneTexte 70">
            <a:extLst>
              <a:ext uri="{FF2B5EF4-FFF2-40B4-BE49-F238E27FC236}">
                <a16:creationId xmlns:a16="http://schemas.microsoft.com/office/drawing/2014/main" id="{BAD8F2FD-8A2F-C91F-65B6-719462B9CABA}"/>
              </a:ext>
            </a:extLst>
          </p:cNvPr>
          <p:cNvSpPr txBox="1"/>
          <p:nvPr/>
        </p:nvSpPr>
        <p:spPr>
          <a:xfrm>
            <a:off x="6484755" y="1824948"/>
            <a:ext cx="3057796" cy="900165"/>
          </a:xfrm>
          <a:prstGeom prst="rect">
            <a:avLst/>
          </a:prstGeom>
          <a:solidFill>
            <a:schemeClr val="bg1"/>
          </a:solidFill>
          <a:ln>
            <a:solidFill>
              <a:schemeClr val="tx1"/>
            </a:solidFill>
          </a:ln>
        </p:spPr>
        <p:txBody>
          <a:bodyPr wrap="square" anchor="ctr">
            <a:noAutofit/>
          </a:bodyPr>
          <a:lstStyle/>
          <a:p>
            <a:pPr algn="ctr"/>
            <a:r>
              <a:rPr lang="fr-FR" sz="900" dirty="0"/>
              <a:t>C’est la première fois qu’on lance une Communauté d’Innovation dans l’entreprise, et assez peu de personnes n’en ont la culture ou l’expérience par ailleurs. Il est difficile de faire le point sur la valeur que cette Communauté peut avoir.</a:t>
            </a:r>
          </a:p>
        </p:txBody>
      </p:sp>
      <p:sp>
        <p:nvSpPr>
          <p:cNvPr id="72" name="ZoneTexte 71">
            <a:extLst>
              <a:ext uri="{FF2B5EF4-FFF2-40B4-BE49-F238E27FC236}">
                <a16:creationId xmlns:a16="http://schemas.microsoft.com/office/drawing/2014/main" id="{508DD916-08DE-70BB-0BD3-002F9F068C93}"/>
              </a:ext>
            </a:extLst>
          </p:cNvPr>
          <p:cNvSpPr txBox="1"/>
          <p:nvPr/>
        </p:nvSpPr>
        <p:spPr>
          <a:xfrm>
            <a:off x="3298123" y="2788351"/>
            <a:ext cx="3057796" cy="900165"/>
          </a:xfrm>
          <a:prstGeom prst="rect">
            <a:avLst/>
          </a:prstGeom>
          <a:solidFill>
            <a:schemeClr val="bg1"/>
          </a:solidFill>
          <a:ln>
            <a:solidFill>
              <a:schemeClr val="tx1"/>
            </a:solidFill>
          </a:ln>
        </p:spPr>
        <p:txBody>
          <a:bodyPr wrap="square" anchor="ctr">
            <a:noAutofit/>
          </a:bodyPr>
          <a:lstStyle/>
          <a:p>
            <a:pPr algn="ctr"/>
            <a:r>
              <a:rPr lang="fr-FR" sz="900" dirty="0"/>
              <a:t>La Communauté a très peu de moyens en ce moment, et n’a pas encore suffisamment convaincu pour que les membres soient disponibles à d’autres activités que leurs habitudes. Même avec la meilleure des analyses, les activités à disposition sont limitées. </a:t>
            </a:r>
          </a:p>
        </p:txBody>
      </p:sp>
      <p:sp>
        <p:nvSpPr>
          <p:cNvPr id="73" name="ZoneTexte 72">
            <a:extLst>
              <a:ext uri="{FF2B5EF4-FFF2-40B4-BE49-F238E27FC236}">
                <a16:creationId xmlns:a16="http://schemas.microsoft.com/office/drawing/2014/main" id="{EA7A7382-13B5-39E2-0DB8-0ED5F7765993}"/>
              </a:ext>
            </a:extLst>
          </p:cNvPr>
          <p:cNvSpPr txBox="1"/>
          <p:nvPr/>
        </p:nvSpPr>
        <p:spPr>
          <a:xfrm>
            <a:off x="6484755" y="2788351"/>
            <a:ext cx="3057796" cy="900165"/>
          </a:xfrm>
          <a:prstGeom prst="rect">
            <a:avLst/>
          </a:prstGeom>
          <a:solidFill>
            <a:schemeClr val="bg1"/>
          </a:solidFill>
          <a:ln>
            <a:solidFill>
              <a:schemeClr val="tx1"/>
            </a:solidFill>
          </a:ln>
        </p:spPr>
        <p:txBody>
          <a:bodyPr wrap="square" anchor="ctr">
            <a:noAutofit/>
          </a:bodyPr>
          <a:lstStyle/>
          <a:p>
            <a:pPr algn="ctr"/>
            <a:r>
              <a:rPr lang="fr-FR" sz="900" dirty="0"/>
              <a:t>La Communauté a déjà opéré un certain nombre de décisions après un premier effort de diagnostic. Ajouter des changements maintenant serait ajouter du chaos et une perte de repères, à un moment où les membres ont besoin de régularité, au moins pour quelques semaines.</a:t>
            </a:r>
          </a:p>
        </p:txBody>
      </p:sp>
      <p:sp>
        <p:nvSpPr>
          <p:cNvPr id="74" name="ZoneTexte 73">
            <a:extLst>
              <a:ext uri="{FF2B5EF4-FFF2-40B4-BE49-F238E27FC236}">
                <a16:creationId xmlns:a16="http://schemas.microsoft.com/office/drawing/2014/main" id="{102B4C16-D523-C39A-BF62-A71C811FBAD7}"/>
              </a:ext>
            </a:extLst>
          </p:cNvPr>
          <p:cNvSpPr txBox="1"/>
          <p:nvPr/>
        </p:nvSpPr>
        <p:spPr>
          <a:xfrm>
            <a:off x="3298123" y="3751754"/>
            <a:ext cx="3057796" cy="900165"/>
          </a:xfrm>
          <a:prstGeom prst="rect">
            <a:avLst/>
          </a:prstGeom>
          <a:solidFill>
            <a:schemeClr val="bg1"/>
          </a:solidFill>
          <a:ln>
            <a:solidFill>
              <a:schemeClr val="tx1"/>
            </a:solidFill>
          </a:ln>
        </p:spPr>
        <p:txBody>
          <a:bodyPr wrap="square" anchor="ctr">
            <a:noAutofit/>
          </a:bodyPr>
          <a:lstStyle/>
          <a:p>
            <a:pPr algn="ctr"/>
            <a:r>
              <a:rPr lang="fr-FR" sz="900" dirty="0"/>
              <a:t>La Communauté de développement sur la technologie XYZ découvre régulièrement de nouveaux outils, de nouveaux tutoriels, de nouvelles méthodes à appliquer au quotidien, et même de nouveaux événements extérieurs. Tout fixer aujourd’hui signifierait probablement annuler une grande partie des activités obsolètes plus tard.</a:t>
            </a:r>
          </a:p>
        </p:txBody>
      </p:sp>
      <p:sp>
        <p:nvSpPr>
          <p:cNvPr id="75" name="ZoneTexte 74">
            <a:extLst>
              <a:ext uri="{FF2B5EF4-FFF2-40B4-BE49-F238E27FC236}">
                <a16:creationId xmlns:a16="http://schemas.microsoft.com/office/drawing/2014/main" id="{FC907C9A-696F-CEA5-B31C-ACC9FA1568B9}"/>
              </a:ext>
            </a:extLst>
          </p:cNvPr>
          <p:cNvSpPr txBox="1"/>
          <p:nvPr/>
        </p:nvSpPr>
        <p:spPr>
          <a:xfrm>
            <a:off x="6484755" y="3751754"/>
            <a:ext cx="3057796" cy="900165"/>
          </a:xfrm>
          <a:prstGeom prst="rect">
            <a:avLst/>
          </a:prstGeom>
          <a:solidFill>
            <a:schemeClr val="bg1"/>
          </a:solidFill>
          <a:ln>
            <a:solidFill>
              <a:schemeClr val="tx1"/>
            </a:solidFill>
          </a:ln>
        </p:spPr>
        <p:txBody>
          <a:bodyPr wrap="square" anchor="ctr">
            <a:noAutofit/>
          </a:bodyPr>
          <a:lstStyle/>
          <a:p>
            <a:pPr algn="ctr"/>
            <a:r>
              <a:rPr lang="fr-FR" sz="900" dirty="0"/>
              <a:t>La Communauté a beaucoup travaillé ses analyses pour être centrée en valeur, ce qui lui a donné les premières bonnes actions à effectuer et lui a donné un très bon lancement. Ce succès a attiré de nouveaux membres, ce qui change le champs des possibles en termes de tailles d’événements, de proximité, etc.</a:t>
            </a:r>
          </a:p>
        </p:txBody>
      </p:sp>
      <p:sp>
        <p:nvSpPr>
          <p:cNvPr id="76" name="ZoneTexte 75">
            <a:extLst>
              <a:ext uri="{FF2B5EF4-FFF2-40B4-BE49-F238E27FC236}">
                <a16:creationId xmlns:a16="http://schemas.microsoft.com/office/drawing/2014/main" id="{827202AC-B482-5E61-65A7-3AAC09A569CC}"/>
              </a:ext>
            </a:extLst>
          </p:cNvPr>
          <p:cNvSpPr txBox="1"/>
          <p:nvPr/>
        </p:nvSpPr>
        <p:spPr>
          <a:xfrm>
            <a:off x="3298123" y="4715157"/>
            <a:ext cx="3057796" cy="900165"/>
          </a:xfrm>
          <a:prstGeom prst="rect">
            <a:avLst/>
          </a:prstGeom>
          <a:solidFill>
            <a:schemeClr val="bg1"/>
          </a:solidFill>
          <a:ln>
            <a:solidFill>
              <a:schemeClr val="tx1"/>
            </a:solidFill>
          </a:ln>
        </p:spPr>
        <p:txBody>
          <a:bodyPr wrap="square" anchor="ctr">
            <a:noAutofit/>
          </a:bodyPr>
          <a:lstStyle/>
          <a:p>
            <a:pPr algn="ctr"/>
            <a:r>
              <a:rPr lang="fr-FR" sz="900" dirty="0"/>
              <a:t>La Communauté des ambassadeurs internes a été coachée et a décidé de se structurer autour des questions de mise en commun des ressources (maximiser la mise en commun). Cependant, de nouvelles façons d’améliorer les activités (approche par la valeur, etc.) ont été découvertes entre temps.</a:t>
            </a:r>
          </a:p>
        </p:txBody>
      </p:sp>
      <p:sp>
        <p:nvSpPr>
          <p:cNvPr id="77" name="ZoneTexte 76">
            <a:extLst>
              <a:ext uri="{FF2B5EF4-FFF2-40B4-BE49-F238E27FC236}">
                <a16:creationId xmlns:a16="http://schemas.microsoft.com/office/drawing/2014/main" id="{4BD9DED1-56C4-0B49-2DC9-53C0305D5FFF}"/>
              </a:ext>
            </a:extLst>
          </p:cNvPr>
          <p:cNvSpPr txBox="1"/>
          <p:nvPr/>
        </p:nvSpPr>
        <p:spPr>
          <a:xfrm>
            <a:off x="6484755" y="4715157"/>
            <a:ext cx="3057796" cy="900165"/>
          </a:xfrm>
          <a:prstGeom prst="rect">
            <a:avLst/>
          </a:prstGeom>
          <a:solidFill>
            <a:schemeClr val="bg1"/>
          </a:solidFill>
          <a:ln>
            <a:solidFill>
              <a:schemeClr val="tx1"/>
            </a:solidFill>
          </a:ln>
        </p:spPr>
        <p:txBody>
          <a:bodyPr wrap="square" anchor="ctr">
            <a:noAutofit/>
          </a:bodyPr>
          <a:lstStyle/>
          <a:p>
            <a:pPr algn="ctr"/>
            <a:r>
              <a:rPr lang="fr-FR" sz="900" dirty="0"/>
              <a:t>La Communauté a fait son travail pour s’ajuster dynamiquement en fonction des ressources mises en commun, la valeur pour les membres, les respirations, la valeur pour l’entreprise, et est déjà très solide. Cependant il semble manquer encore des aspects sur lesquels elle ne parvient pas à avancer méthodiquement.  </a:t>
            </a:r>
          </a:p>
        </p:txBody>
      </p:sp>
      <p:sp>
        <p:nvSpPr>
          <p:cNvPr id="78" name="ZoneTexte 77">
            <a:extLst>
              <a:ext uri="{FF2B5EF4-FFF2-40B4-BE49-F238E27FC236}">
                <a16:creationId xmlns:a16="http://schemas.microsoft.com/office/drawing/2014/main" id="{878290D0-BC7B-3FC8-DE2F-545916FE12B9}"/>
              </a:ext>
            </a:extLst>
          </p:cNvPr>
          <p:cNvSpPr txBox="1"/>
          <p:nvPr/>
        </p:nvSpPr>
        <p:spPr>
          <a:xfrm>
            <a:off x="3298123" y="5678560"/>
            <a:ext cx="3057796" cy="900165"/>
          </a:xfrm>
          <a:prstGeom prst="rect">
            <a:avLst/>
          </a:prstGeom>
          <a:solidFill>
            <a:schemeClr val="bg1"/>
          </a:solidFill>
          <a:ln>
            <a:solidFill>
              <a:schemeClr val="tx1"/>
            </a:solidFill>
          </a:ln>
        </p:spPr>
        <p:txBody>
          <a:bodyPr wrap="square" anchor="ctr">
            <a:noAutofit/>
          </a:bodyPr>
          <a:lstStyle/>
          <a:p>
            <a:pPr algn="ctr"/>
            <a:r>
              <a:rPr lang="fr-FR" sz="900" dirty="0"/>
              <a:t>Cela fait déjà plusieurs fois qu’on fait des ateliers pour définir la Communauté, discuter de la vision, structurer les rôles. Les membres attendent de vivre quelque chose de réel (par rapport aux promesses) et n’aimeraient pas vivre encore un atelier de plus ou un sondage de plus sur leurs goûts. </a:t>
            </a:r>
          </a:p>
        </p:txBody>
      </p:sp>
      <p:sp>
        <p:nvSpPr>
          <p:cNvPr id="79" name="ZoneTexte 78">
            <a:extLst>
              <a:ext uri="{FF2B5EF4-FFF2-40B4-BE49-F238E27FC236}">
                <a16:creationId xmlns:a16="http://schemas.microsoft.com/office/drawing/2014/main" id="{97657468-2ED3-ABE6-82D4-DD76232E53DB}"/>
              </a:ext>
            </a:extLst>
          </p:cNvPr>
          <p:cNvSpPr txBox="1"/>
          <p:nvPr/>
        </p:nvSpPr>
        <p:spPr>
          <a:xfrm>
            <a:off x="6484755" y="5678560"/>
            <a:ext cx="3057796" cy="900165"/>
          </a:xfrm>
          <a:prstGeom prst="rect">
            <a:avLst/>
          </a:prstGeom>
          <a:solidFill>
            <a:schemeClr val="bg1"/>
          </a:solidFill>
          <a:ln>
            <a:solidFill>
              <a:schemeClr val="tx1"/>
            </a:solidFill>
          </a:ln>
        </p:spPr>
        <p:txBody>
          <a:bodyPr wrap="square" anchor="ctr">
            <a:noAutofit/>
          </a:bodyPr>
          <a:lstStyle/>
          <a:p>
            <a:pPr algn="ctr"/>
            <a:r>
              <a:rPr lang="fr-FR" sz="900" dirty="0"/>
              <a:t>Beaucoup de managers et de sponsors potentiels ont été rencontrés récemment, et beaucoup de promesses ont été faites. La hiérarchie est patiente, mais attend les premiers résultats et constats d’activité avant de refaire un tour de discussions.</a:t>
            </a:r>
          </a:p>
        </p:txBody>
      </p:sp>
    </p:spTree>
    <p:extLst>
      <p:ext uri="{BB962C8B-B14F-4D97-AF65-F5344CB8AC3E}">
        <p14:creationId xmlns:p14="http://schemas.microsoft.com/office/powerpoint/2010/main" val="2767445253"/>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84DCD44-F6F6-A541-D387-389A216D75B4}"/>
              </a:ext>
            </a:extLst>
          </p:cNvPr>
          <p:cNvSpPr>
            <a:spLocks noGrp="1"/>
          </p:cNvSpPr>
          <p:nvPr>
            <p:ph type="title"/>
          </p:nvPr>
        </p:nvSpPr>
        <p:spPr>
          <a:xfrm>
            <a:off x="1396372" y="365125"/>
            <a:ext cx="9957427" cy="1325563"/>
          </a:xfrm>
        </p:spPr>
        <p:txBody>
          <a:bodyPr>
            <a:normAutofit/>
          </a:bodyPr>
          <a:lstStyle/>
          <a:p>
            <a:r>
              <a:rPr lang="fr-FR" sz="4000" dirty="0"/>
              <a:t>La Durée et le Timing des cycles d’ajustements</a:t>
            </a:r>
          </a:p>
        </p:txBody>
      </p:sp>
      <p:grpSp>
        <p:nvGrpSpPr>
          <p:cNvPr id="4" name="Groupe 3">
            <a:extLst>
              <a:ext uri="{FF2B5EF4-FFF2-40B4-BE49-F238E27FC236}">
                <a16:creationId xmlns:a16="http://schemas.microsoft.com/office/drawing/2014/main" id="{68F473DD-0BE5-DC5B-1021-2A47A24563DB}"/>
              </a:ext>
            </a:extLst>
          </p:cNvPr>
          <p:cNvGrpSpPr/>
          <p:nvPr/>
        </p:nvGrpSpPr>
        <p:grpSpPr>
          <a:xfrm>
            <a:off x="415915" y="570219"/>
            <a:ext cx="844570" cy="915374"/>
            <a:chOff x="9771184" y="501063"/>
            <a:chExt cx="2201188" cy="2385724"/>
          </a:xfrm>
        </p:grpSpPr>
        <p:grpSp>
          <p:nvGrpSpPr>
            <p:cNvPr id="5" name="Groupe 4">
              <a:extLst>
                <a:ext uri="{FF2B5EF4-FFF2-40B4-BE49-F238E27FC236}">
                  <a16:creationId xmlns:a16="http://schemas.microsoft.com/office/drawing/2014/main" id="{87E2DD41-84FE-5F16-9126-B6BE2B38428D}"/>
                </a:ext>
              </a:extLst>
            </p:cNvPr>
            <p:cNvGrpSpPr/>
            <p:nvPr/>
          </p:nvGrpSpPr>
          <p:grpSpPr>
            <a:xfrm>
              <a:off x="9771184" y="501063"/>
              <a:ext cx="2201188" cy="2385724"/>
              <a:chOff x="4948467" y="2361639"/>
              <a:chExt cx="2646976" cy="2868885"/>
            </a:xfrm>
          </p:grpSpPr>
          <p:pic>
            <p:nvPicPr>
              <p:cNvPr id="12" name="Graphique 11" descr="Flux de travail avec un remplissage uni">
                <a:extLst>
                  <a:ext uri="{FF2B5EF4-FFF2-40B4-BE49-F238E27FC236}">
                    <a16:creationId xmlns:a16="http://schemas.microsoft.com/office/drawing/2014/main" id="{6080C13D-7FAC-5A21-FB06-6F5C84BE81E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12257" t="11685" r="14656" b="9100"/>
              <a:stretch/>
            </p:blipFill>
            <p:spPr>
              <a:xfrm>
                <a:off x="4948467" y="2361639"/>
                <a:ext cx="2646976" cy="2868885"/>
              </a:xfrm>
              <a:prstGeom prst="rect">
                <a:avLst/>
              </a:prstGeom>
            </p:spPr>
          </p:pic>
          <p:pic>
            <p:nvPicPr>
              <p:cNvPr id="13" name="Graphique 12" descr="Flux de travail avec un remplissage uni">
                <a:extLst>
                  <a:ext uri="{FF2B5EF4-FFF2-40B4-BE49-F238E27FC236}">
                    <a16:creationId xmlns:a16="http://schemas.microsoft.com/office/drawing/2014/main" id="{FC19A64B-34ED-FC9E-60BF-756473EAB2AB}"/>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65289" t="38774" r="17178" b="35731"/>
              <a:stretch/>
            </p:blipFill>
            <p:spPr>
              <a:xfrm rot="10800000">
                <a:off x="5129887" y="3334416"/>
                <a:ext cx="635000" cy="923330"/>
              </a:xfrm>
              <a:prstGeom prst="rect">
                <a:avLst/>
              </a:prstGeom>
            </p:spPr>
          </p:pic>
        </p:grpSp>
        <p:pic>
          <p:nvPicPr>
            <p:cNvPr id="6" name="Graphique 5" descr="Panneau de signalisation avec un remplissage uni">
              <a:extLst>
                <a:ext uri="{FF2B5EF4-FFF2-40B4-BE49-F238E27FC236}">
                  <a16:creationId xmlns:a16="http://schemas.microsoft.com/office/drawing/2014/main" id="{0EDB414E-D98C-CF50-9138-23EE8A02BAC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357885" y="605752"/>
              <a:ext cx="581454" cy="581454"/>
            </a:xfrm>
            <a:prstGeom prst="rect">
              <a:avLst/>
            </a:prstGeom>
          </p:spPr>
        </p:pic>
        <p:pic>
          <p:nvPicPr>
            <p:cNvPr id="7" name="Graphique 6" descr="Signe pouce en haut avec un remplissage uni">
              <a:extLst>
                <a:ext uri="{FF2B5EF4-FFF2-40B4-BE49-F238E27FC236}">
                  <a16:creationId xmlns:a16="http://schemas.microsoft.com/office/drawing/2014/main" id="{C9D5E99C-5762-D05C-BBD2-2F8F0690300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53043" y="2137783"/>
              <a:ext cx="597064" cy="597064"/>
            </a:xfrm>
            <a:prstGeom prst="rect">
              <a:avLst/>
            </a:prstGeom>
          </p:spPr>
        </p:pic>
        <p:grpSp>
          <p:nvGrpSpPr>
            <p:cNvPr id="8" name="Groupe 7">
              <a:extLst>
                <a:ext uri="{FF2B5EF4-FFF2-40B4-BE49-F238E27FC236}">
                  <a16:creationId xmlns:a16="http://schemas.microsoft.com/office/drawing/2014/main" id="{8F3AD604-8FF6-7407-79CA-6F5F8CAA4E31}"/>
                </a:ext>
              </a:extLst>
            </p:cNvPr>
            <p:cNvGrpSpPr/>
            <p:nvPr/>
          </p:nvGrpSpPr>
          <p:grpSpPr>
            <a:xfrm rot="16200000">
              <a:off x="9922049" y="721026"/>
              <a:ext cx="461197" cy="350906"/>
              <a:chOff x="1499428" y="3098753"/>
              <a:chExt cx="474208" cy="322063"/>
            </a:xfrm>
          </p:grpSpPr>
          <p:sp>
            <p:nvSpPr>
              <p:cNvPr id="10" name="Flèche : bas 9">
                <a:extLst>
                  <a:ext uri="{FF2B5EF4-FFF2-40B4-BE49-F238E27FC236}">
                    <a16:creationId xmlns:a16="http://schemas.microsoft.com/office/drawing/2014/main" id="{BCAE01C5-EA5A-DD6F-A035-E585E7116DD1}"/>
                  </a:ext>
                </a:extLst>
              </p:cNvPr>
              <p:cNvSpPr/>
              <p:nvPr/>
            </p:nvSpPr>
            <p:spPr>
              <a:xfrm rot="16200000">
                <a:off x="1658921" y="2970123"/>
                <a:ext cx="186085" cy="443345"/>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solidFill>
                    <a:srgbClr val="00B050"/>
                  </a:solidFill>
                </a:endParaRPr>
              </a:p>
            </p:txBody>
          </p:sp>
          <p:sp>
            <p:nvSpPr>
              <p:cNvPr id="11" name="Flèche : bas 10">
                <a:extLst>
                  <a:ext uri="{FF2B5EF4-FFF2-40B4-BE49-F238E27FC236}">
                    <a16:creationId xmlns:a16="http://schemas.microsoft.com/office/drawing/2014/main" id="{FCFF0F2A-52CD-AB3A-469A-E23AB01A3A8F}"/>
                  </a:ext>
                </a:extLst>
              </p:cNvPr>
              <p:cNvSpPr/>
              <p:nvPr/>
            </p:nvSpPr>
            <p:spPr>
              <a:xfrm rot="16200000" flipV="1">
                <a:off x="1628058" y="3106101"/>
                <a:ext cx="186085" cy="44334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dirty="0"/>
              </a:p>
            </p:txBody>
          </p:sp>
        </p:grpSp>
        <p:pic>
          <p:nvPicPr>
            <p:cNvPr id="9" name="Graphique 8" descr="Cause à effet avec un remplissage uni">
              <a:extLst>
                <a:ext uri="{FF2B5EF4-FFF2-40B4-BE49-F238E27FC236}">
                  <a16:creationId xmlns:a16="http://schemas.microsoft.com/office/drawing/2014/main" id="{F66CCAC6-5F9D-9DBB-195E-17BD90CB578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1342276" y="2137783"/>
              <a:ext cx="597063" cy="597063"/>
            </a:xfrm>
            <a:prstGeom prst="rect">
              <a:avLst/>
            </a:prstGeom>
          </p:spPr>
        </p:pic>
      </p:grpSp>
      <p:sp>
        <p:nvSpPr>
          <p:cNvPr id="22" name="Espace réservé du contenu 2">
            <a:extLst>
              <a:ext uri="{FF2B5EF4-FFF2-40B4-BE49-F238E27FC236}">
                <a16:creationId xmlns:a16="http://schemas.microsoft.com/office/drawing/2014/main" id="{975FA698-07F5-757A-8A5D-52BA9EC43085}"/>
              </a:ext>
            </a:extLst>
          </p:cNvPr>
          <p:cNvSpPr txBox="1">
            <a:spLocks/>
          </p:cNvSpPr>
          <p:nvPr/>
        </p:nvSpPr>
        <p:spPr>
          <a:xfrm>
            <a:off x="2479249" y="1637115"/>
            <a:ext cx="6900419" cy="43210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600" b="1" dirty="0"/>
              <a:t>Quelques autres possibilités</a:t>
            </a:r>
          </a:p>
        </p:txBody>
      </p:sp>
      <p:sp>
        <p:nvSpPr>
          <p:cNvPr id="104" name="Espace réservé du contenu 2">
            <a:extLst>
              <a:ext uri="{FF2B5EF4-FFF2-40B4-BE49-F238E27FC236}">
                <a16:creationId xmlns:a16="http://schemas.microsoft.com/office/drawing/2014/main" id="{A636EB58-7963-0C52-8DF3-D31F6077D188}"/>
              </a:ext>
            </a:extLst>
          </p:cNvPr>
          <p:cNvSpPr txBox="1">
            <a:spLocks/>
          </p:cNvSpPr>
          <p:nvPr/>
        </p:nvSpPr>
        <p:spPr>
          <a:xfrm>
            <a:off x="2655448" y="2212275"/>
            <a:ext cx="3309240" cy="94382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dirty="0"/>
              <a:t>La Communauté risque </a:t>
            </a:r>
            <a:r>
              <a:rPr lang="fr-FR" sz="1200" b="1" dirty="0">
                <a:solidFill>
                  <a:srgbClr val="FF0000"/>
                </a:solidFill>
              </a:rPr>
              <a:t>la fatigue par instabilité</a:t>
            </a:r>
            <a:r>
              <a:rPr lang="fr-FR" sz="1200" dirty="0"/>
              <a:t>. Elle n’a pas eu le temps de digérer ou de s’habituer à des actions qu’elle passe déjà à autre chose</a:t>
            </a:r>
          </a:p>
        </p:txBody>
      </p:sp>
      <p:sp>
        <p:nvSpPr>
          <p:cNvPr id="112" name="Espace réservé du contenu 2">
            <a:extLst>
              <a:ext uri="{FF2B5EF4-FFF2-40B4-BE49-F238E27FC236}">
                <a16:creationId xmlns:a16="http://schemas.microsoft.com/office/drawing/2014/main" id="{A03C0ACA-CAE8-EEED-CD5F-7043B189E31A}"/>
              </a:ext>
            </a:extLst>
          </p:cNvPr>
          <p:cNvSpPr txBox="1">
            <a:spLocks/>
          </p:cNvSpPr>
          <p:nvPr/>
        </p:nvSpPr>
        <p:spPr>
          <a:xfrm>
            <a:off x="2655448" y="3415180"/>
            <a:ext cx="3309240" cy="94382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dirty="0"/>
              <a:t>La Communauté a été prise dans la </a:t>
            </a:r>
            <a:r>
              <a:rPr lang="fr-FR" sz="1200" b="1" dirty="0">
                <a:solidFill>
                  <a:srgbClr val="FF0000"/>
                </a:solidFill>
              </a:rPr>
              <a:t>pile infinie d’actions</a:t>
            </a:r>
            <a:r>
              <a:rPr lang="fr-FR" sz="1200" dirty="0"/>
              <a:t>, jamais filtrée, priorisée ou testée. Malgré plein de bonnes idées, il n’y a eu que de l’idée.</a:t>
            </a:r>
          </a:p>
        </p:txBody>
      </p:sp>
      <p:sp>
        <p:nvSpPr>
          <p:cNvPr id="114" name="Espace réservé du contenu 2">
            <a:extLst>
              <a:ext uri="{FF2B5EF4-FFF2-40B4-BE49-F238E27FC236}">
                <a16:creationId xmlns:a16="http://schemas.microsoft.com/office/drawing/2014/main" id="{3A7D5615-53AD-7770-7A0E-EBEFE808EEB5}"/>
              </a:ext>
            </a:extLst>
          </p:cNvPr>
          <p:cNvSpPr txBox="1">
            <a:spLocks/>
          </p:cNvSpPr>
          <p:nvPr/>
        </p:nvSpPr>
        <p:spPr>
          <a:xfrm>
            <a:off x="2655448" y="4634862"/>
            <a:ext cx="3309240" cy="94382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dirty="0"/>
              <a:t>La Communauté a été prise dans le </a:t>
            </a:r>
            <a:r>
              <a:rPr lang="fr-FR" sz="1200" b="1" dirty="0">
                <a:solidFill>
                  <a:srgbClr val="FF0000"/>
                </a:solidFill>
              </a:rPr>
              <a:t>vortex des constats</a:t>
            </a:r>
            <a:r>
              <a:rPr lang="fr-FR" sz="1200" dirty="0"/>
              <a:t>, beaucoup d’information mais peu de décision d’actions. Les renseignements n’aboutissent à rien d’opérationnel.</a:t>
            </a:r>
          </a:p>
        </p:txBody>
      </p:sp>
      <p:sp>
        <p:nvSpPr>
          <p:cNvPr id="117" name="Espace réservé du contenu 2">
            <a:extLst>
              <a:ext uri="{FF2B5EF4-FFF2-40B4-BE49-F238E27FC236}">
                <a16:creationId xmlns:a16="http://schemas.microsoft.com/office/drawing/2014/main" id="{DBCB5061-BD21-A88F-4CB1-9F590DD75155}"/>
              </a:ext>
            </a:extLst>
          </p:cNvPr>
          <p:cNvSpPr txBox="1">
            <a:spLocks/>
          </p:cNvSpPr>
          <p:nvPr/>
        </p:nvSpPr>
        <p:spPr>
          <a:xfrm>
            <a:off x="2655449" y="5721995"/>
            <a:ext cx="3309240" cy="111032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sz="1200" dirty="0"/>
              <a:t>La Communauté a vécu un</a:t>
            </a:r>
            <a:r>
              <a:rPr lang="fr-FR" sz="1200" b="1" dirty="0">
                <a:solidFill>
                  <a:srgbClr val="FF0000"/>
                </a:solidFill>
              </a:rPr>
              <a:t> démarrage raté</a:t>
            </a:r>
            <a:r>
              <a:rPr lang="fr-FR" sz="1200" dirty="0"/>
              <a:t>. Trop d’efforts pour trop peu de motivation de départ. Il est même difficile de se retrouver pour décider quoi que ce soit (communautés qui n’ont rien commencé)</a:t>
            </a:r>
          </a:p>
        </p:txBody>
      </p:sp>
      <p:grpSp>
        <p:nvGrpSpPr>
          <p:cNvPr id="18" name="Groupe 17">
            <a:extLst>
              <a:ext uri="{FF2B5EF4-FFF2-40B4-BE49-F238E27FC236}">
                <a16:creationId xmlns:a16="http://schemas.microsoft.com/office/drawing/2014/main" id="{E8B606A0-A7FC-110A-E65F-31D52AAB3353}"/>
              </a:ext>
            </a:extLst>
          </p:cNvPr>
          <p:cNvGrpSpPr/>
          <p:nvPr/>
        </p:nvGrpSpPr>
        <p:grpSpPr>
          <a:xfrm>
            <a:off x="219747" y="2311403"/>
            <a:ext cx="2452713" cy="559142"/>
            <a:chOff x="77874" y="1888058"/>
            <a:chExt cx="6831361" cy="1557337"/>
          </a:xfrm>
        </p:grpSpPr>
        <p:sp>
          <p:nvSpPr>
            <p:cNvPr id="14" name="Flèche : droite 13">
              <a:extLst>
                <a:ext uri="{FF2B5EF4-FFF2-40B4-BE49-F238E27FC236}">
                  <a16:creationId xmlns:a16="http://schemas.microsoft.com/office/drawing/2014/main" id="{FE116394-2CA2-9BCD-BC85-12BEB67E3EEF}"/>
                </a:ext>
              </a:extLst>
            </p:cNvPr>
            <p:cNvSpPr/>
            <p:nvPr/>
          </p:nvSpPr>
          <p:spPr>
            <a:xfrm>
              <a:off x="77874" y="2105474"/>
              <a:ext cx="1366272" cy="1191782"/>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5" name="Flèche : droite 14">
              <a:extLst>
                <a:ext uri="{FF2B5EF4-FFF2-40B4-BE49-F238E27FC236}">
                  <a16:creationId xmlns:a16="http://schemas.microsoft.com/office/drawing/2014/main" id="{BE308013-ADE2-85AF-3AB2-E6D31240A33F}"/>
                </a:ext>
              </a:extLst>
            </p:cNvPr>
            <p:cNvSpPr/>
            <p:nvPr/>
          </p:nvSpPr>
          <p:spPr>
            <a:xfrm>
              <a:off x="1444146" y="2105474"/>
              <a:ext cx="1366272" cy="1191782"/>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6" name="Flèche : droite 15">
              <a:extLst>
                <a:ext uri="{FF2B5EF4-FFF2-40B4-BE49-F238E27FC236}">
                  <a16:creationId xmlns:a16="http://schemas.microsoft.com/office/drawing/2014/main" id="{093D84D0-2BFE-60C7-45CC-5D628B328FDC}"/>
                </a:ext>
              </a:extLst>
            </p:cNvPr>
            <p:cNvSpPr/>
            <p:nvPr/>
          </p:nvSpPr>
          <p:spPr>
            <a:xfrm>
              <a:off x="2810418" y="2105474"/>
              <a:ext cx="1366272" cy="1191782"/>
            </a:xfrm>
            <a:prstGeom prst="rightArrow">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9" name="Flèche : droite 18">
              <a:extLst>
                <a:ext uri="{FF2B5EF4-FFF2-40B4-BE49-F238E27FC236}">
                  <a16:creationId xmlns:a16="http://schemas.microsoft.com/office/drawing/2014/main" id="{603A70FB-9209-2734-9461-E08F421E7052}"/>
                </a:ext>
              </a:extLst>
            </p:cNvPr>
            <p:cNvSpPr/>
            <p:nvPr/>
          </p:nvSpPr>
          <p:spPr>
            <a:xfrm>
              <a:off x="5542963" y="2114678"/>
              <a:ext cx="1366272" cy="1191782"/>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18" name="Flèche : droite 117">
              <a:extLst>
                <a:ext uri="{FF2B5EF4-FFF2-40B4-BE49-F238E27FC236}">
                  <a16:creationId xmlns:a16="http://schemas.microsoft.com/office/drawing/2014/main" id="{6ADD4B79-D437-355F-3A6C-8252344154D1}"/>
                </a:ext>
              </a:extLst>
            </p:cNvPr>
            <p:cNvSpPr/>
            <p:nvPr/>
          </p:nvSpPr>
          <p:spPr>
            <a:xfrm>
              <a:off x="4183974" y="2044066"/>
              <a:ext cx="1366271" cy="1254215"/>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3" name="Signe de multiplication 2">
              <a:extLst>
                <a:ext uri="{FF2B5EF4-FFF2-40B4-BE49-F238E27FC236}">
                  <a16:creationId xmlns:a16="http://schemas.microsoft.com/office/drawing/2014/main" id="{A63C3707-94B5-5035-457C-5016E4676119}"/>
                </a:ext>
              </a:extLst>
            </p:cNvPr>
            <p:cNvSpPr/>
            <p:nvPr/>
          </p:nvSpPr>
          <p:spPr>
            <a:xfrm>
              <a:off x="3976701" y="1888058"/>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 name="Groupe 19">
            <a:extLst>
              <a:ext uri="{FF2B5EF4-FFF2-40B4-BE49-F238E27FC236}">
                <a16:creationId xmlns:a16="http://schemas.microsoft.com/office/drawing/2014/main" id="{43E3A132-9F4B-D24F-F873-131CDDEC9112}"/>
              </a:ext>
            </a:extLst>
          </p:cNvPr>
          <p:cNvGrpSpPr/>
          <p:nvPr/>
        </p:nvGrpSpPr>
        <p:grpSpPr>
          <a:xfrm>
            <a:off x="219747" y="3504857"/>
            <a:ext cx="1967400" cy="559142"/>
            <a:chOff x="77874" y="3081512"/>
            <a:chExt cx="5479654" cy="1557337"/>
          </a:xfrm>
        </p:grpSpPr>
        <p:sp>
          <p:nvSpPr>
            <p:cNvPr id="81" name="Flèche : droite 80">
              <a:extLst>
                <a:ext uri="{FF2B5EF4-FFF2-40B4-BE49-F238E27FC236}">
                  <a16:creationId xmlns:a16="http://schemas.microsoft.com/office/drawing/2014/main" id="{70784863-B9D2-B6B1-B8A5-6CEDBC558738}"/>
                </a:ext>
              </a:extLst>
            </p:cNvPr>
            <p:cNvSpPr/>
            <p:nvPr/>
          </p:nvSpPr>
          <p:spPr>
            <a:xfrm>
              <a:off x="77874" y="3296193"/>
              <a:ext cx="1366272" cy="1191782"/>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82" name="Flèche : droite 81">
              <a:extLst>
                <a:ext uri="{FF2B5EF4-FFF2-40B4-BE49-F238E27FC236}">
                  <a16:creationId xmlns:a16="http://schemas.microsoft.com/office/drawing/2014/main" id="{3BC347C9-8C52-2175-17B2-45C13503A923}"/>
                </a:ext>
              </a:extLst>
            </p:cNvPr>
            <p:cNvSpPr/>
            <p:nvPr/>
          </p:nvSpPr>
          <p:spPr>
            <a:xfrm>
              <a:off x="1444146" y="3296193"/>
              <a:ext cx="1366272" cy="1191782"/>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85" name="Flèche : droite 84">
              <a:extLst>
                <a:ext uri="{FF2B5EF4-FFF2-40B4-BE49-F238E27FC236}">
                  <a16:creationId xmlns:a16="http://schemas.microsoft.com/office/drawing/2014/main" id="{CCA1BE17-B17B-4E40-8231-CA5C958425F3}"/>
                </a:ext>
              </a:extLst>
            </p:cNvPr>
            <p:cNvSpPr/>
            <p:nvPr/>
          </p:nvSpPr>
          <p:spPr>
            <a:xfrm>
              <a:off x="4191256" y="3265712"/>
              <a:ext cx="1366272" cy="1191782"/>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22" name="Flèche : droite 121">
              <a:extLst>
                <a:ext uri="{FF2B5EF4-FFF2-40B4-BE49-F238E27FC236}">
                  <a16:creationId xmlns:a16="http://schemas.microsoft.com/office/drawing/2014/main" id="{8E131869-ED34-5CAD-BC5E-34AAEB9838ED}"/>
                </a:ext>
              </a:extLst>
            </p:cNvPr>
            <p:cNvSpPr/>
            <p:nvPr/>
          </p:nvSpPr>
          <p:spPr>
            <a:xfrm>
              <a:off x="2817700" y="3293912"/>
              <a:ext cx="1366272" cy="1191782"/>
            </a:xfrm>
            <a:prstGeom prst="rightArrow">
              <a:avLst/>
            </a:prstGeom>
            <a:solidFill>
              <a:srgbClr val="3494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25" name="Signe de multiplication 124">
              <a:extLst>
                <a:ext uri="{FF2B5EF4-FFF2-40B4-BE49-F238E27FC236}">
                  <a16:creationId xmlns:a16="http://schemas.microsoft.com/office/drawing/2014/main" id="{20D4137F-F722-FE8D-F783-19E3521A1F92}"/>
                </a:ext>
              </a:extLst>
            </p:cNvPr>
            <p:cNvSpPr/>
            <p:nvPr/>
          </p:nvSpPr>
          <p:spPr>
            <a:xfrm>
              <a:off x="2555762" y="3081512"/>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1" name="Groupe 20">
            <a:extLst>
              <a:ext uri="{FF2B5EF4-FFF2-40B4-BE49-F238E27FC236}">
                <a16:creationId xmlns:a16="http://schemas.microsoft.com/office/drawing/2014/main" id="{EF2CBC9A-E63F-EE02-0B3D-8F0816941007}"/>
              </a:ext>
            </a:extLst>
          </p:cNvPr>
          <p:cNvGrpSpPr/>
          <p:nvPr/>
        </p:nvGrpSpPr>
        <p:grpSpPr>
          <a:xfrm>
            <a:off x="219747" y="4729296"/>
            <a:ext cx="1476857" cy="559142"/>
            <a:chOff x="77874" y="4305951"/>
            <a:chExt cx="4113382" cy="1557337"/>
          </a:xfrm>
        </p:grpSpPr>
        <p:sp>
          <p:nvSpPr>
            <p:cNvPr id="87" name="Flèche : droite 86">
              <a:extLst>
                <a:ext uri="{FF2B5EF4-FFF2-40B4-BE49-F238E27FC236}">
                  <a16:creationId xmlns:a16="http://schemas.microsoft.com/office/drawing/2014/main" id="{DAF85FFF-010C-2CA2-89EA-E4D4E8A68E3B}"/>
                </a:ext>
              </a:extLst>
            </p:cNvPr>
            <p:cNvSpPr/>
            <p:nvPr/>
          </p:nvSpPr>
          <p:spPr>
            <a:xfrm>
              <a:off x="77874" y="4488141"/>
              <a:ext cx="1366272" cy="1191781"/>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91" name="Flèche : droite 90">
              <a:extLst>
                <a:ext uri="{FF2B5EF4-FFF2-40B4-BE49-F238E27FC236}">
                  <a16:creationId xmlns:a16="http://schemas.microsoft.com/office/drawing/2014/main" id="{59F8697B-990C-C50A-AE92-AE2B0F44A135}"/>
                </a:ext>
              </a:extLst>
            </p:cNvPr>
            <p:cNvSpPr/>
            <p:nvPr/>
          </p:nvSpPr>
          <p:spPr>
            <a:xfrm>
              <a:off x="2824984" y="4513858"/>
              <a:ext cx="1366272" cy="1191781"/>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23" name="Flèche : droite 122">
              <a:extLst>
                <a:ext uri="{FF2B5EF4-FFF2-40B4-BE49-F238E27FC236}">
                  <a16:creationId xmlns:a16="http://schemas.microsoft.com/office/drawing/2014/main" id="{F466E3D2-3177-E5C6-0101-FDAAA677AD07}"/>
                </a:ext>
              </a:extLst>
            </p:cNvPr>
            <p:cNvSpPr/>
            <p:nvPr/>
          </p:nvSpPr>
          <p:spPr>
            <a:xfrm>
              <a:off x="1444146" y="4499264"/>
              <a:ext cx="1366272" cy="1191782"/>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26" name="Signe de multiplication 125">
              <a:extLst>
                <a:ext uri="{FF2B5EF4-FFF2-40B4-BE49-F238E27FC236}">
                  <a16:creationId xmlns:a16="http://schemas.microsoft.com/office/drawing/2014/main" id="{A7718773-A14D-F248-661F-3E63DB2B81A5}"/>
                </a:ext>
              </a:extLst>
            </p:cNvPr>
            <p:cNvSpPr/>
            <p:nvPr/>
          </p:nvSpPr>
          <p:spPr>
            <a:xfrm>
              <a:off x="1204055" y="4305951"/>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3" name="Groupe 22">
            <a:extLst>
              <a:ext uri="{FF2B5EF4-FFF2-40B4-BE49-F238E27FC236}">
                <a16:creationId xmlns:a16="http://schemas.microsoft.com/office/drawing/2014/main" id="{CB8679FC-E267-8185-DBA5-F2DB2ADD10FE}"/>
              </a:ext>
            </a:extLst>
          </p:cNvPr>
          <p:cNvGrpSpPr/>
          <p:nvPr/>
        </p:nvGrpSpPr>
        <p:grpSpPr>
          <a:xfrm>
            <a:off x="134123" y="5857769"/>
            <a:ext cx="1084571" cy="559142"/>
            <a:chOff x="-210359" y="5434424"/>
            <a:chExt cx="3020777" cy="1557337"/>
          </a:xfrm>
        </p:grpSpPr>
        <p:sp>
          <p:nvSpPr>
            <p:cNvPr id="103" name="Flèche : droite 102">
              <a:extLst>
                <a:ext uri="{FF2B5EF4-FFF2-40B4-BE49-F238E27FC236}">
                  <a16:creationId xmlns:a16="http://schemas.microsoft.com/office/drawing/2014/main" id="{2850F7B6-37AD-91E8-3848-89FD4DD76FD1}"/>
                </a:ext>
              </a:extLst>
            </p:cNvPr>
            <p:cNvSpPr/>
            <p:nvPr/>
          </p:nvSpPr>
          <p:spPr>
            <a:xfrm>
              <a:off x="1444146" y="5666218"/>
              <a:ext cx="1366272" cy="1191782"/>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24" name="Flèche : droite 123">
              <a:extLst>
                <a:ext uri="{FF2B5EF4-FFF2-40B4-BE49-F238E27FC236}">
                  <a16:creationId xmlns:a16="http://schemas.microsoft.com/office/drawing/2014/main" id="{807D9C44-B815-6A80-8259-8715A9271D86}"/>
                </a:ext>
              </a:extLst>
            </p:cNvPr>
            <p:cNvSpPr/>
            <p:nvPr/>
          </p:nvSpPr>
          <p:spPr>
            <a:xfrm>
              <a:off x="70591" y="5655045"/>
              <a:ext cx="1366272" cy="1191781"/>
            </a:xfrm>
            <a:prstGeom prst="rightArrow">
              <a:avLst/>
            </a:prstGeom>
            <a:solidFill>
              <a:srgbClr val="54FFB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900" dirty="0">
                <a:solidFill>
                  <a:schemeClr val="tx1"/>
                </a:solidFill>
              </a:endParaRPr>
            </a:p>
          </p:txBody>
        </p:sp>
        <p:sp>
          <p:nvSpPr>
            <p:cNvPr id="127" name="Signe de multiplication 126">
              <a:extLst>
                <a:ext uri="{FF2B5EF4-FFF2-40B4-BE49-F238E27FC236}">
                  <a16:creationId xmlns:a16="http://schemas.microsoft.com/office/drawing/2014/main" id="{C5BDD967-3FC9-8859-F10C-933B12ACA2D2}"/>
                </a:ext>
              </a:extLst>
            </p:cNvPr>
            <p:cNvSpPr/>
            <p:nvPr/>
          </p:nvSpPr>
          <p:spPr>
            <a:xfrm>
              <a:off x="-210359" y="5434424"/>
              <a:ext cx="1773536" cy="1557337"/>
            </a:xfrm>
            <a:prstGeom prst="mathMultiply">
              <a:avLst>
                <a:gd name="adj1" fmla="val 1356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41" name="ZoneTexte 40">
            <a:extLst>
              <a:ext uri="{FF2B5EF4-FFF2-40B4-BE49-F238E27FC236}">
                <a16:creationId xmlns:a16="http://schemas.microsoft.com/office/drawing/2014/main" id="{3F852250-8EFE-63E7-334D-85A255743B2F}"/>
              </a:ext>
            </a:extLst>
          </p:cNvPr>
          <p:cNvSpPr txBox="1"/>
          <p:nvPr/>
        </p:nvSpPr>
        <p:spPr>
          <a:xfrm>
            <a:off x="6227313" y="2069221"/>
            <a:ext cx="2829934" cy="1099118"/>
          </a:xfrm>
          <a:prstGeom prst="rect">
            <a:avLst/>
          </a:prstGeom>
          <a:solidFill>
            <a:schemeClr val="bg1"/>
          </a:solidFill>
          <a:ln>
            <a:solidFill>
              <a:schemeClr val="tx1"/>
            </a:solidFill>
          </a:ln>
        </p:spPr>
        <p:txBody>
          <a:bodyPr wrap="square" anchor="ctr">
            <a:noAutofit/>
          </a:bodyPr>
          <a:lstStyle/>
          <a:p>
            <a:pPr algn="ctr"/>
            <a:r>
              <a:rPr lang="fr-FR" sz="900" dirty="0"/>
              <a:t>Le responsable de la Communauté de pratique agile est motivé par la stimulation de la nouveauté, et n’aime pas aborder les problèmes opérationnels qu’il voit comme trop basiques. Toutes les semaines, il fait tester aux membres de nouveaux formats d’ateliers, mais jamais assez  de fois pour que les membres se l’approprient, cela les fatigue et ils n’ont pas l’occasion de faire le lien avec leurs réalités quotidiennes.</a:t>
            </a:r>
          </a:p>
        </p:txBody>
      </p:sp>
      <p:sp>
        <p:nvSpPr>
          <p:cNvPr id="42" name="ZoneTexte 41">
            <a:extLst>
              <a:ext uri="{FF2B5EF4-FFF2-40B4-BE49-F238E27FC236}">
                <a16:creationId xmlns:a16="http://schemas.microsoft.com/office/drawing/2014/main" id="{62827F53-3309-A3BB-3707-E5C7ABED90B6}"/>
              </a:ext>
            </a:extLst>
          </p:cNvPr>
          <p:cNvSpPr txBox="1"/>
          <p:nvPr/>
        </p:nvSpPr>
        <p:spPr>
          <a:xfrm>
            <a:off x="9176483" y="2069221"/>
            <a:ext cx="2829934" cy="1099118"/>
          </a:xfrm>
          <a:prstGeom prst="rect">
            <a:avLst/>
          </a:prstGeom>
          <a:solidFill>
            <a:schemeClr val="bg1"/>
          </a:solidFill>
          <a:ln>
            <a:solidFill>
              <a:schemeClr val="tx1"/>
            </a:solidFill>
          </a:ln>
        </p:spPr>
        <p:txBody>
          <a:bodyPr wrap="square" anchor="ctr">
            <a:noAutofit/>
          </a:bodyPr>
          <a:lstStyle/>
          <a:p>
            <a:pPr algn="ctr"/>
            <a:r>
              <a:rPr lang="fr-FR" sz="900" dirty="0"/>
              <a:t>Les responsables de Communauté ont beaucoup misé sur le fait de croître vite pour avoir des chiffres à déclarer à leur hiérarchie. Cependant, pour récupérer de nouveaux publics, ils doivent sans cesse créer de nouveaux formats d’événements et de contenus. Non seulement cela est fatiguant, mais certains membres qui sont entrés pour un certain type d’activités ou contenus partent, ce qui entretient le problème. </a:t>
            </a:r>
          </a:p>
        </p:txBody>
      </p:sp>
      <p:sp>
        <p:nvSpPr>
          <p:cNvPr id="43" name="ZoneTexte 42">
            <a:extLst>
              <a:ext uri="{FF2B5EF4-FFF2-40B4-BE49-F238E27FC236}">
                <a16:creationId xmlns:a16="http://schemas.microsoft.com/office/drawing/2014/main" id="{F4BBF635-5514-5796-22A4-E1A97BB6967A}"/>
              </a:ext>
            </a:extLst>
          </p:cNvPr>
          <p:cNvSpPr txBox="1"/>
          <p:nvPr/>
        </p:nvSpPr>
        <p:spPr>
          <a:xfrm>
            <a:off x="6227313" y="3227141"/>
            <a:ext cx="2829934" cy="1099118"/>
          </a:xfrm>
          <a:prstGeom prst="rect">
            <a:avLst/>
          </a:prstGeom>
          <a:solidFill>
            <a:schemeClr val="bg1"/>
          </a:solidFill>
          <a:ln>
            <a:solidFill>
              <a:schemeClr val="tx1"/>
            </a:solidFill>
          </a:ln>
        </p:spPr>
        <p:txBody>
          <a:bodyPr wrap="square" anchor="ctr">
            <a:noAutofit/>
          </a:bodyPr>
          <a:lstStyle/>
          <a:p>
            <a:pPr algn="ctr"/>
            <a:r>
              <a:rPr lang="fr-FR" sz="900" dirty="0"/>
              <a:t>La Communauté a pris beaucoup d’inspiration et de conseils extérieurs (</a:t>
            </a:r>
            <a:r>
              <a:rPr lang="fr-FR" sz="900" dirty="0" err="1"/>
              <a:t>coDev</a:t>
            </a:r>
            <a:r>
              <a:rPr lang="fr-FR" sz="900" dirty="0"/>
              <a:t>, etc.). Elle dispose d’une grande liste d’actions à effectuer, à différents niveaux de clarté. Malheureusement, il y a trop peu de disponibilités pour toutes les faire. Le grand nombre de chemins possible rend confus les membres, qui ne savent pas par quoi commencer, et sont d’autant plus frustrés qu’il y a un grand nombre d’actions.</a:t>
            </a:r>
          </a:p>
        </p:txBody>
      </p:sp>
      <p:sp>
        <p:nvSpPr>
          <p:cNvPr id="44" name="ZoneTexte 43">
            <a:extLst>
              <a:ext uri="{FF2B5EF4-FFF2-40B4-BE49-F238E27FC236}">
                <a16:creationId xmlns:a16="http://schemas.microsoft.com/office/drawing/2014/main" id="{77A87CA6-1C77-6A81-B315-7BBC6409ED83}"/>
              </a:ext>
            </a:extLst>
          </p:cNvPr>
          <p:cNvSpPr txBox="1"/>
          <p:nvPr/>
        </p:nvSpPr>
        <p:spPr>
          <a:xfrm>
            <a:off x="9176483" y="3227141"/>
            <a:ext cx="2829934" cy="1099118"/>
          </a:xfrm>
          <a:prstGeom prst="rect">
            <a:avLst/>
          </a:prstGeom>
          <a:solidFill>
            <a:schemeClr val="bg1"/>
          </a:solidFill>
          <a:ln>
            <a:solidFill>
              <a:schemeClr val="tx1"/>
            </a:solidFill>
          </a:ln>
        </p:spPr>
        <p:txBody>
          <a:bodyPr wrap="square" anchor="ctr">
            <a:noAutofit/>
          </a:bodyPr>
          <a:lstStyle/>
          <a:p>
            <a:pPr algn="ctr"/>
            <a:r>
              <a:rPr lang="fr-FR" sz="900" dirty="0"/>
              <a:t>Les membres de la Communauté « Les motivateurs » sont des profils très bons pour motiver, galvaniser, pousser les autres. En dehors de la Communauté, ce sont des personnes qui réussissent dans ce rôle. En revanche, lorsqu’il s’agit d’effectuer les tâches nécessaires pour la Communauté, (administratif, production de contenus…), il ne reste qu’assez peu de membres. Ces derniers sont fatigués.</a:t>
            </a:r>
          </a:p>
        </p:txBody>
      </p:sp>
      <p:sp>
        <p:nvSpPr>
          <p:cNvPr id="45" name="ZoneTexte 44">
            <a:extLst>
              <a:ext uri="{FF2B5EF4-FFF2-40B4-BE49-F238E27FC236}">
                <a16:creationId xmlns:a16="http://schemas.microsoft.com/office/drawing/2014/main" id="{D67AD5AB-D732-98B9-BE61-0A2177D7E3FC}"/>
              </a:ext>
            </a:extLst>
          </p:cNvPr>
          <p:cNvSpPr txBox="1"/>
          <p:nvPr/>
        </p:nvSpPr>
        <p:spPr>
          <a:xfrm>
            <a:off x="6227313" y="4385062"/>
            <a:ext cx="2829934" cy="1099118"/>
          </a:xfrm>
          <a:prstGeom prst="rect">
            <a:avLst/>
          </a:prstGeom>
          <a:solidFill>
            <a:schemeClr val="bg1"/>
          </a:solidFill>
          <a:ln>
            <a:solidFill>
              <a:schemeClr val="tx1"/>
            </a:solidFill>
          </a:ln>
        </p:spPr>
        <p:txBody>
          <a:bodyPr wrap="square" anchor="ctr">
            <a:noAutofit/>
          </a:bodyPr>
          <a:lstStyle/>
          <a:p>
            <a:pPr algn="ctr"/>
            <a:r>
              <a:rPr lang="fr-FR" sz="900" dirty="0"/>
              <a:t>Dans la Communauté, il y a une habitude forte pour inspirer l’amélioration continue : la demande systématique de notation en fin d’événements (avec un ROTI par exemple) et en fin de contenu (avec une notation par étoile ou par réaction). Cependant, il y a tellement de données que cette information accumulée n’est pas vraiment utilisée, ni même pour générer des améliorations, car cela « prend trop de temps ».</a:t>
            </a:r>
          </a:p>
        </p:txBody>
      </p:sp>
      <p:sp>
        <p:nvSpPr>
          <p:cNvPr id="46" name="ZoneTexte 45">
            <a:extLst>
              <a:ext uri="{FF2B5EF4-FFF2-40B4-BE49-F238E27FC236}">
                <a16:creationId xmlns:a16="http://schemas.microsoft.com/office/drawing/2014/main" id="{066C9C8D-2DFD-311B-5022-1D648B1162CC}"/>
              </a:ext>
            </a:extLst>
          </p:cNvPr>
          <p:cNvSpPr txBox="1"/>
          <p:nvPr/>
        </p:nvSpPr>
        <p:spPr>
          <a:xfrm>
            <a:off x="9176483" y="4385062"/>
            <a:ext cx="2829934" cy="1099118"/>
          </a:xfrm>
          <a:prstGeom prst="rect">
            <a:avLst/>
          </a:prstGeom>
          <a:solidFill>
            <a:schemeClr val="bg1"/>
          </a:solidFill>
          <a:ln>
            <a:solidFill>
              <a:schemeClr val="tx1"/>
            </a:solidFill>
          </a:ln>
        </p:spPr>
        <p:txBody>
          <a:bodyPr wrap="square" anchor="ctr">
            <a:noAutofit/>
          </a:bodyPr>
          <a:lstStyle/>
          <a:p>
            <a:pPr algn="ctr"/>
            <a:r>
              <a:rPr lang="fr-FR" sz="900" dirty="0"/>
              <a:t>Des fondateurs de Communauté ont fait plusieurs ateliers pour poser raison d’être, but, valeurs et circonstances motivantes. Cependant, la barre est si haute dans ces ateliers que personne n’ose proposer de première action, car cette dernière serait trop loin de l’idéal collectif. Chacun attend les autres, et il est plus facile d’alimenter le rêve avec un atelier de plus que de décevoir avec une réalité opérationnelle.</a:t>
            </a:r>
          </a:p>
        </p:txBody>
      </p:sp>
      <p:sp>
        <p:nvSpPr>
          <p:cNvPr id="47" name="ZoneTexte 46">
            <a:extLst>
              <a:ext uri="{FF2B5EF4-FFF2-40B4-BE49-F238E27FC236}">
                <a16:creationId xmlns:a16="http://schemas.microsoft.com/office/drawing/2014/main" id="{047E3BEA-634E-D6C6-9936-8AE7BFB45A71}"/>
              </a:ext>
            </a:extLst>
          </p:cNvPr>
          <p:cNvSpPr txBox="1"/>
          <p:nvPr/>
        </p:nvSpPr>
        <p:spPr>
          <a:xfrm>
            <a:off x="6227313" y="5542982"/>
            <a:ext cx="2829934" cy="1099118"/>
          </a:xfrm>
          <a:prstGeom prst="rect">
            <a:avLst/>
          </a:prstGeom>
          <a:solidFill>
            <a:schemeClr val="bg1"/>
          </a:solidFill>
          <a:ln>
            <a:solidFill>
              <a:schemeClr val="tx1"/>
            </a:solidFill>
          </a:ln>
        </p:spPr>
        <p:txBody>
          <a:bodyPr wrap="square" anchor="ctr">
            <a:noAutofit/>
          </a:bodyPr>
          <a:lstStyle/>
          <a:p>
            <a:pPr algn="ctr"/>
            <a:r>
              <a:rPr lang="fr-FR" sz="900" dirty="0"/>
              <a:t>Une volonté de la hiérarchie a poussé certaines personnes à lancer une « Communauté globale de pratique du métier XYZ », qui vise à réunir à l’échelle monde toutes les Communautés locales sur XYZ. Ces Communautés locales ont toute une utilité locale validée, et ont eu du mal à comprendre, même après plusieurs sessions de travail, l’intérêt pour les membres d’une Communauté globale. Depuis, aucun lancement.</a:t>
            </a:r>
          </a:p>
        </p:txBody>
      </p:sp>
      <p:sp>
        <p:nvSpPr>
          <p:cNvPr id="48" name="ZoneTexte 47">
            <a:extLst>
              <a:ext uri="{FF2B5EF4-FFF2-40B4-BE49-F238E27FC236}">
                <a16:creationId xmlns:a16="http://schemas.microsoft.com/office/drawing/2014/main" id="{B144C4E5-798A-AC5B-92F6-E94B66EC2A21}"/>
              </a:ext>
            </a:extLst>
          </p:cNvPr>
          <p:cNvSpPr txBox="1"/>
          <p:nvPr/>
        </p:nvSpPr>
        <p:spPr>
          <a:xfrm>
            <a:off x="9176483" y="5542982"/>
            <a:ext cx="2829934" cy="1099118"/>
          </a:xfrm>
          <a:prstGeom prst="rect">
            <a:avLst/>
          </a:prstGeom>
          <a:solidFill>
            <a:schemeClr val="bg1"/>
          </a:solidFill>
          <a:ln>
            <a:solidFill>
              <a:schemeClr val="tx1"/>
            </a:solidFill>
          </a:ln>
        </p:spPr>
        <p:txBody>
          <a:bodyPr wrap="square" anchor="ctr">
            <a:noAutofit/>
          </a:bodyPr>
          <a:lstStyle/>
          <a:p>
            <a:pPr algn="ctr"/>
            <a:r>
              <a:rPr lang="fr-FR" sz="900" dirty="0"/>
              <a:t>Après une réunion fructueuse, certains participants se sont dits qu’ils seraient intéressant de garder un lien récurrent et de se constituer en Communauté plutôt que de ne se voir que ponctuellement. Cependant, même s’ils étaient motivés sur le moment, de retour au quotidien le besoin et les motivations ne ressortent que peu. L’idée de Communauté est reconnue comme un « effet de session » qui n’a aucun réel ancrage.</a:t>
            </a:r>
          </a:p>
        </p:txBody>
      </p:sp>
    </p:spTree>
    <p:extLst>
      <p:ext uri="{BB962C8B-B14F-4D97-AF65-F5344CB8AC3E}">
        <p14:creationId xmlns:p14="http://schemas.microsoft.com/office/powerpoint/2010/main" val="1036512278"/>
      </p:ext>
    </p:extLst>
  </p:cSld>
  <p:clrMapOvr>
    <a:masterClrMapping/>
  </p:clrMapOvr>
</p:sld>
</file>

<file path=ppt/theme/theme1.xml><?xml version="1.0" encoding="utf-8"?>
<a:theme xmlns:a="http://schemas.openxmlformats.org/drawingml/2006/main" name="Thème Office">
  <a:themeElements>
    <a:clrScheme name="OpenSeriousGame">
      <a:dk1>
        <a:sysClr val="windowText" lastClr="000000"/>
      </a:dk1>
      <a:lt1>
        <a:sysClr val="window" lastClr="FFFFFF"/>
      </a:lt1>
      <a:dk2>
        <a:srgbClr val="44546A"/>
      </a:dk2>
      <a:lt2>
        <a:srgbClr val="E7E6E6"/>
      </a:lt2>
      <a:accent1>
        <a:srgbClr val="3494BA"/>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3095EDE67814541926D3AC5F9ACC08F" ma:contentTypeVersion="12" ma:contentTypeDescription="Crée un document." ma:contentTypeScope="" ma:versionID="4740bcd7563aace758bb5af16567afb8">
  <xsd:schema xmlns:xsd="http://www.w3.org/2001/XMLSchema" xmlns:xs="http://www.w3.org/2001/XMLSchema" xmlns:p="http://schemas.microsoft.com/office/2006/metadata/properties" xmlns:ns2="ae28f11b-d4f1-47fe-837d-5da7d4fdfa8d" xmlns:ns3="2e054d75-df43-4e50-a610-0e7b0816d11a" targetNamespace="http://schemas.microsoft.com/office/2006/metadata/properties" ma:root="true" ma:fieldsID="0c540144d36b116ed9070dbfae6023f7" ns2:_="" ns3:_="">
    <xsd:import namespace="ae28f11b-d4f1-47fe-837d-5da7d4fdfa8d"/>
    <xsd:import namespace="2e054d75-df43-4e50-a610-0e7b0816d11a"/>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lcf76f155ced4ddcb4097134ff3c332f" minOccurs="0"/>
                <xsd:element ref="ns3:TaxCatchAll" minOccurs="0"/>
                <xsd:element ref="ns2:MediaServiceDateTaken" minOccurs="0"/>
                <xsd:element ref="ns2:MediaServiceLocation" minOccurs="0"/>
                <xsd:element ref="ns2:MediaServiceGenerationTime" minOccurs="0"/>
                <xsd:element ref="ns2:MediaServiceEventHashCode" minOccurs="0"/>
                <xsd:element ref="ns2: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ae28f11b-d4f1-47fe-837d-5da7d4fdfa8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lcf76f155ced4ddcb4097134ff3c332f" ma:index="13" nillable="true" ma:taxonomy="true" ma:internalName="lcf76f155ced4ddcb4097134ff3c332f" ma:taxonomyFieldName="MediaServiceImageTags" ma:displayName="Balises d’images" ma:readOnly="false" ma:fieldId="{5cf76f15-5ced-4ddc-b409-7134ff3c332f}" ma:taxonomyMulti="true" ma:sspId="10fb7d0a-9414-48cb-b3b7-290175ae35a9" ma:termSetId="09814cd3-568e-fe90-9814-8d621ff8fb84" ma:anchorId="fba54fb3-c3e1-fe81-a776-ca4b69148c4d" ma:open="true" ma:isKeyword="false">
      <xsd:complexType>
        <xsd:sequence>
          <xsd:element ref="pc:Terms" minOccurs="0" maxOccurs="1"/>
        </xsd:sequence>
      </xsd:complexType>
    </xsd:element>
    <xsd:element name="MediaServiceDateTaken" ma:index="15" nillable="true" ma:displayName="MediaServiceDateTaken" ma:hidden="true" ma:indexed="true" ma:internalName="MediaServiceDateTaken" ma:readOnly="true">
      <xsd:simpleType>
        <xsd:restriction base="dms:Text"/>
      </xsd:simpleType>
    </xsd:element>
    <xsd:element name="MediaServiceLocation" ma:index="16" nillable="true" ma:displayName="Location" ma:indexed="true" ma:internalName="MediaServiceLocation" ma:readOnly="true">
      <xsd:simpleType>
        <xsd:restriction base="dms:Text"/>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element name="MediaServiceOCR" ma:index="19" nillable="true" ma:displayName="Extracted Text" ma:internalName="MediaServiceOCR"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e054d75-df43-4e50-a610-0e7b0816d11a" elementFormDefault="qualified">
    <xsd:import namespace="http://schemas.microsoft.com/office/2006/documentManagement/types"/>
    <xsd:import namespace="http://schemas.microsoft.com/office/infopath/2007/PartnerControls"/>
    <xsd:element name="SharedWithUsers" ma:index="10" nillable="true" ma:displayName="Partagé avec"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Partagé avec détails" ma:internalName="SharedWithDetails" ma:readOnly="true">
      <xsd:simpleType>
        <xsd:restriction base="dms:Note">
          <xsd:maxLength value="255"/>
        </xsd:restriction>
      </xsd:simpleType>
    </xsd:element>
    <xsd:element name="TaxCatchAll" ma:index="14" nillable="true" ma:displayName="Taxonomy Catch All Column" ma:hidden="true" ma:list="{9dd72b47-dd46-40b1-8755-ebe9ce9f18af}" ma:internalName="TaxCatchAll" ma:showField="CatchAllData" ma:web="2e054d75-df43-4e50-a610-0e7b0816d11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ype de contenu"/>
        <xsd:element ref="dc:title" minOccurs="0" maxOccurs="1" ma:index="4" ma:displayName="Titr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ae28f11b-d4f1-47fe-837d-5da7d4fdfa8d">
      <Terms xmlns="http://schemas.microsoft.com/office/infopath/2007/PartnerControls"/>
    </lcf76f155ced4ddcb4097134ff3c332f>
    <TaxCatchAll xmlns="2e054d75-df43-4e50-a610-0e7b0816d11a" xsi:nil="true"/>
  </documentManagement>
</p:properties>
</file>

<file path=customXml/itemProps1.xml><?xml version="1.0" encoding="utf-8"?>
<ds:datastoreItem xmlns:ds="http://schemas.openxmlformats.org/officeDocument/2006/customXml" ds:itemID="{B090CEEA-4DAA-48FF-A54C-C3015E53AC8D}">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ae28f11b-d4f1-47fe-837d-5da7d4fdfa8d"/>
    <ds:schemaRef ds:uri="2e054d75-df43-4e50-a610-0e7b0816d11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F1FF5119-4D39-4257-B0F2-90EEAD3DC91D}">
  <ds:schemaRefs>
    <ds:schemaRef ds:uri="http://schemas.microsoft.com/sharepoint/v3/contenttype/forms"/>
  </ds:schemaRefs>
</ds:datastoreItem>
</file>

<file path=customXml/itemProps3.xml><?xml version="1.0" encoding="utf-8"?>
<ds:datastoreItem xmlns:ds="http://schemas.openxmlformats.org/officeDocument/2006/customXml" ds:itemID="{B0A50FC5-4317-4DD8-A6ED-CA3931D2B81C}">
  <ds:schemaRefs>
    <ds:schemaRef ds:uri="http://purl.org/dc/dcmitype/"/>
    <ds:schemaRef ds:uri="http://schemas.microsoft.com/office/2006/documentManagement/types"/>
    <ds:schemaRef ds:uri="http://schemas.openxmlformats.org/package/2006/metadata/core-properties"/>
    <ds:schemaRef ds:uri="http://schemas.microsoft.com/office/infopath/2007/PartnerControls"/>
    <ds:schemaRef ds:uri="http://purl.org/dc/terms/"/>
    <ds:schemaRef ds:uri="http://purl.org/dc/elements/1.1/"/>
    <ds:schemaRef ds:uri="http://www.w3.org/XML/1998/namespace"/>
    <ds:schemaRef ds:uri="2e054d75-df43-4e50-a610-0e7b0816d11a"/>
    <ds:schemaRef ds:uri="ae28f11b-d4f1-47fe-837d-5da7d4fdfa8d"/>
    <ds:schemaRef ds:uri="http://schemas.microsoft.com/office/2006/metadata/properties"/>
  </ds:schemaRefs>
</ds:datastoreItem>
</file>

<file path=docProps/app.xml><?xml version="1.0" encoding="utf-8"?>
<Properties xmlns="http://schemas.openxmlformats.org/officeDocument/2006/extended-properties" xmlns:vt="http://schemas.openxmlformats.org/officeDocument/2006/docPropsVTypes">
  <TotalTime>38247</TotalTime>
  <Words>64845</Words>
  <Application>Microsoft Office PowerPoint</Application>
  <PresentationFormat>Widescreen</PresentationFormat>
  <Paragraphs>6538</Paragraphs>
  <Slides>314</Slides>
  <Notes>16</Notes>
  <HiddenSlides>0</HiddenSlides>
  <MMClips>0</MMClips>
  <ScaleCrop>false</ScaleCrop>
  <HeadingPairs>
    <vt:vector size="6" baseType="variant">
      <vt:variant>
        <vt:lpstr>Caratteri utilizzati</vt:lpstr>
      </vt:variant>
      <vt:variant>
        <vt:i4>4</vt:i4>
      </vt:variant>
      <vt:variant>
        <vt:lpstr>Tema</vt:lpstr>
      </vt:variant>
      <vt:variant>
        <vt:i4>1</vt:i4>
      </vt:variant>
      <vt:variant>
        <vt:lpstr>Titoli diapositive</vt:lpstr>
      </vt:variant>
      <vt:variant>
        <vt:i4>314</vt:i4>
      </vt:variant>
    </vt:vector>
  </HeadingPairs>
  <TitlesOfParts>
    <vt:vector size="319" baseType="lpstr">
      <vt:lpstr>Arial</vt:lpstr>
      <vt:lpstr>Calibri</vt:lpstr>
      <vt:lpstr>Calibri Light</vt:lpstr>
      <vt:lpstr>Wingdings</vt:lpstr>
      <vt:lpstr>Thème Office</vt:lpstr>
      <vt:lpstr>Formation Communautés d’entreprise</vt:lpstr>
      <vt:lpstr>Ce document est un contenu #OpenSeriousCommunity #OSC</vt:lpstr>
      <vt:lpstr>Dans quel contexte et quels buts cette formation a-t-elle été créée ?</vt:lpstr>
      <vt:lpstr>A qui est destinée cette formation ?</vt:lpstr>
      <vt:lpstr>Quelques questions auxquelles cette formation cherche à répondre </vt:lpstr>
      <vt:lpstr>Repères visuels et légende</vt:lpstr>
      <vt:lpstr>Comment nous espérons vous faire sentir à la fin de cette formation (1/3)</vt:lpstr>
      <vt:lpstr>Comment nous espérons vous faire sentir à la fin de cette formation (2/3)</vt:lpstr>
      <vt:lpstr>Comment nous espérons vous faire sentir à la fin de cette formation (3/3)</vt:lpstr>
      <vt:lpstr>Dans la même édition</vt:lpstr>
      <vt:lpstr>Versions de la formation </vt:lpstr>
      <vt:lpstr>Disponibilité en source ouverte</vt:lpstr>
      <vt:lpstr>Les 3 couches de construction d’une Communauté d’entreprise</vt:lpstr>
      <vt:lpstr>Les 3 couches de construction d’une Communauté d’entreprise</vt:lpstr>
      <vt:lpstr>Les 3 couches de construction d’une Communauté d’entreprise</vt:lpstr>
      <vt:lpstr>Quelques risques si une couche est faible</vt:lpstr>
      <vt:lpstr>Pourquoi commencer par la valeur d’une Communauté ?</vt:lpstr>
      <vt:lpstr>Les composantes de la valeur d’une Communauté d’entreprise</vt:lpstr>
      <vt:lpstr>Les communautés d’entreprise</vt:lpstr>
      <vt:lpstr>Les communautés d’entreprise</vt:lpstr>
      <vt:lpstr>Bénéfices d’une communauté d’entreprise</vt:lpstr>
      <vt:lpstr>Limites d’une communauté d’entreprise</vt:lpstr>
      <vt:lpstr>Avantages comparatifs de chaque format</vt:lpstr>
      <vt:lpstr>Formats adaptés pour des fonctions</vt:lpstr>
      <vt:lpstr>Dans la pratique, une communauté d’entreprise, c’est…</vt:lpstr>
      <vt:lpstr>Peut-on faire une Communauté qui correspond à une organisation formelle dans l’entreprise?</vt:lpstr>
      <vt:lpstr>Presentazione standard di PowerPoint</vt:lpstr>
      <vt:lpstr>Presentazione standard di PowerPoint</vt:lpstr>
      <vt:lpstr>Presentazione standard di PowerPoint</vt:lpstr>
      <vt:lpstr>Communauté, réunion ponctuelle ou individus Avantages et Inconvénients</vt:lpstr>
      <vt:lpstr>Communauté, réunion ponctuelle ou individus Exemples de conditions favorables aux différentes approches</vt:lpstr>
      <vt:lpstr>Communauté, réunion ponctuelle ou individus  exemples d’actions liées 📅Evènements  , ✍️Contenus, ⚙️Structuration</vt:lpstr>
      <vt:lpstr>Exemples de déclinaisons intermédiaires</vt:lpstr>
      <vt:lpstr>L’investissement collectif dans la Communauté</vt:lpstr>
      <vt:lpstr>La mise en commun des ressources</vt:lpstr>
      <vt:lpstr>Répondre à la question  « Avec quoi partons nous dans la Communauté? »</vt:lpstr>
      <vt:lpstr>Ressources de Communauté : Définition et types</vt:lpstr>
      <vt:lpstr>Ressources de Communauté :  Exemples de motivations de mise en commun</vt:lpstr>
      <vt:lpstr>Exemples de Communautés et ressources mises en commun correspondantes</vt:lpstr>
      <vt:lpstr>Exemples de ressources de communauté</vt:lpstr>
      <vt:lpstr>Exemple d’actions pour accès et mise en commun 📅Evènements  , ✍️Contenus, ⚙️Structuration</vt:lpstr>
      <vt:lpstr>Répondre à la question  « Que nous manque-t-il le plus maintenant dans la Communauté ? »</vt:lpstr>
      <vt:lpstr>Niveau d’accès commun aux ressources</vt:lpstr>
      <vt:lpstr>Niveau d’accès commun aux ressources Comprendre les niveaux :  Signe de positionnement à un niveau donné</vt:lpstr>
      <vt:lpstr>Exemple d’analyse de ressources de Communauté</vt:lpstr>
      <vt:lpstr>Exemple d’analyse de ressources de Communauté</vt:lpstr>
      <vt:lpstr>Avantages et inconvénients d’une tactique orientée  UNIQUEMENT « Mise en commun de ressources »</vt:lpstr>
      <vt:lpstr>La valeur d’être ensemble Cas de Similarités et différences marquées entre membres</vt:lpstr>
      <vt:lpstr>Cas de Similarités et différences marquées entre membres Actions types 📅Evènements  , ✍️Contenus, ⚙️Structuration de Communauté 📅+⚙️Structuration de moments, ✍️+⚙️ Structuration de Contenus</vt:lpstr>
      <vt:lpstr>Exemples de critères sur lesquels trouver et mettre à profit des similarités ou des différences marquées</vt:lpstr>
      <vt:lpstr>Similarités et différences marquées Exemples de situations, d’avantages, d’inconvénients, d’actions associées 📅Evènements  , ✍️Contenus, ⚙️Structuration de Communauté, 📅+⚙️Structuration de moments, ✍️+⚙️ Structuration de Contenus</vt:lpstr>
      <vt:lpstr>Similarités et différences marquées Exemples de situations, d’avantages, d’inconvénients, d’actions associées 📅Evènements  , ✍️Contenus, ⚙️Structuration de Communauté, 📅+⚙️Structuration de moments, ✍️+⚙️ Structuration de Contenus</vt:lpstr>
      <vt:lpstr>Similarités et différences marquées Exemples de situations, d’avantages, d’inconvénients, d’actions associées 📅Evènements  , ✍️Contenus, ⚙️Structuration de Communauté, 📅+⚙️Structuration de moments, ✍️+⚙️ Structuration de Contenus</vt:lpstr>
      <vt:lpstr>Similarités et différences marquées Exemples de situations, d’avantages, d’inconvénients, d’actions associées 📅Evènements  , ✍️Contenus, ⚙️Structuration de Communauté, 📅+⚙️Structuration de moments, ✍️+⚙️ Structuration de Contenus</vt:lpstr>
      <vt:lpstr>Similarités et différences marquées Exemples de situations, d’avantages, d’inconvénients, d’actions associées 📅Evènements  , ✍️Contenus, ⚙️Structuration de Communauté, 📅+⚙️Structuration de moments, ✍️+⚙️ Structuration de Contenus</vt:lpstr>
      <vt:lpstr>Presentazione standard di PowerPoint</vt:lpstr>
      <vt:lpstr>Faire le bilan sur les différences et similarités mises à profit dans la Communauté Remplir les critères d’une Communauté selon le statut du critère Identifier un potentiel de valeur entre membres</vt:lpstr>
      <vt:lpstr>Les Communautés sont des formes collectives d’échange</vt:lpstr>
      <vt:lpstr>Presentazione standard di PowerPoint</vt:lpstr>
      <vt:lpstr>Composer la Communauté selon les contraintes</vt:lpstr>
      <vt:lpstr>La Valeur pour l’entreprise</vt:lpstr>
      <vt:lpstr>Presentazione standard di PowerPoint</vt:lpstr>
      <vt:lpstr>Fonctions d’entreprise souvent impactées par les Communautés d’entreprise</vt:lpstr>
      <vt:lpstr>Presentazione standard di PowerPoint</vt:lpstr>
      <vt:lpstr>Presentazione standard di PowerPoint</vt:lpstr>
      <vt:lpstr>Exemples d’impacts de Communautés d’entreprises Rangement par fonction</vt:lpstr>
      <vt:lpstr>Déclinaison des effets positifs par précision de mesure – Valeur pour l’entreprise</vt:lpstr>
      <vt:lpstr>Exemples d’activités par services aux fonctions d’entreprise 📅Evènements  , ✍️Contenus, ⚙️Structuration de Communauté</vt:lpstr>
      <vt:lpstr>Presentazione standard di PowerPoint</vt:lpstr>
      <vt:lpstr>Presentazione standard di PowerPoint</vt:lpstr>
      <vt:lpstr>Usage d’une grille de lecture</vt:lpstr>
      <vt:lpstr>La Valeur pour les membres classée par motivateurs – Liste d’exemples</vt:lpstr>
      <vt:lpstr>Déclinaison des effets positifs par précision de mesure – Valeur pour les membres</vt:lpstr>
      <vt:lpstr>La Valeur pour les membres classée par motivateurs</vt:lpstr>
      <vt:lpstr>Exemples de réponses opérationnelles de Communauté d’entreprise classées par motivateurs 📅Evènements  , ✍️Contenus, ⚙️Structuration de Communauté</vt:lpstr>
      <vt:lpstr>Exemples de réponses opérationnelles de Communauté d’entreprise classées par motivateurs – Echelle Méso 📅+⚙️Structuration de moments, ✍️+⚙️ Structuration de Contenus</vt:lpstr>
      <vt:lpstr>Exemples de réponses opérationnelles de Communauté d’entreprise classées par motivateurs – Echelle Méso 📅+⚙️Structuration de moments, ✍️+⚙️ Structuration de Contenus</vt:lpstr>
      <vt:lpstr>Presentazione standard di PowerPoint</vt:lpstr>
      <vt:lpstr>L’expérience de la Communauté :  Une respiration par rapport à ailleurs (valeur différenciante de l’existant)</vt:lpstr>
      <vt:lpstr>L’expérience de la Communauté :  Une respiration par rapport à ailleurs (valeur différenciante de l’existant)</vt:lpstr>
      <vt:lpstr>Exemples de respirations (rangement non exclusif) 📅Evènements  , ✍️Contenus, ⚙️Structuration de Communauté</vt:lpstr>
      <vt:lpstr>Formuler la valeur :  Les bases d’un accord multi-parties</vt:lpstr>
      <vt:lpstr>Formulation NARRATIVE de la valeur Pyramide de la raison d’être de la communauté</vt:lpstr>
      <vt:lpstr>Formulation NARRATIVE de la valeur Pyramide de la raison d’être de la communauté</vt:lpstr>
      <vt:lpstr>Formuler la contribution :  Ce que l’aspect collectif apporte en valeur</vt:lpstr>
      <vt:lpstr>La Valeur d’être en Communauté (vs seul) Maison de la contribution</vt:lpstr>
      <vt:lpstr>La Valeur d’être en Communauté (vs seul) Maison de la contribution</vt:lpstr>
      <vt:lpstr>Exemples d’activités pour faire connaître la valeur de la Communauté 📅Evènements  , ✍️Contenus, ⚙️Structuration de Communauté</vt:lpstr>
      <vt:lpstr>Les Sponsors : Les Brokers des Communautés</vt:lpstr>
      <vt:lpstr>Les sponsors</vt:lpstr>
      <vt:lpstr>Exemples de Motivations d’un sponsor pour une Communauté</vt:lpstr>
      <vt:lpstr>Donner un rôle aux sponsors</vt:lpstr>
      <vt:lpstr>Exemples d’actions opérationnelles de sponsor – par rôles</vt:lpstr>
      <vt:lpstr>Exemples d’actions opérationnelles pour servir un sponsor 📅Evènements  , ✍️Contenus, ⚙️Structuration de Communauté</vt:lpstr>
      <vt:lpstr>Quel niveau de simplicité de décisions sur la valeur ?</vt:lpstr>
      <vt:lpstr>Quel niveau de simplicité de décisions sur la valeur ? Exemples</vt:lpstr>
      <vt:lpstr>Quel niveau de simplicité de décisions sur la valeur ? Exemples</vt:lpstr>
      <vt:lpstr>Quelle simplicité de décision sur la valeur ? Exemples de circonstances favorables aux différents schémas</vt:lpstr>
      <vt:lpstr>Quel niveau de simplicité de décisions sur la valeur ? Avantages et inconvénients</vt:lpstr>
      <vt:lpstr>Quel niveau de simplicité de décisions sur la valeur ? Exemples de réponses opérationnelles 📅Evènements  , ✍️Contenus, ⚙️Structuration de Communauté, 📅+⚙️Structuration de moments, ✍️+⚙️ Structuration de Contenus</vt:lpstr>
      <vt:lpstr>Ajuster la valeur</vt:lpstr>
      <vt:lpstr>Intervenir sur la valeur en méthode #OSC pour communautés c’est…</vt:lpstr>
      <vt:lpstr>Cycle d’ajustement</vt:lpstr>
      <vt:lpstr>Pourquoi des cycles et pas « une bonne fois pour toutes » ?</vt:lpstr>
      <vt:lpstr>Timing des cycles d’ajustements Les étapes du vécu de valeur</vt:lpstr>
      <vt:lpstr>Les étapes du vécu de valeur Cas d’un cycle arrêté</vt:lpstr>
      <vt:lpstr>Timing des cycles d’ajustements Les étapes du vécu de valeur Exemples de situations</vt:lpstr>
      <vt:lpstr>La Durée et le Timing des cycles d’ajustements Cas des Communautés à thèmes multiples</vt:lpstr>
      <vt:lpstr>La Durée et le Timing des cycles d’ajustements Cas des Communautés à thèmes multiples</vt:lpstr>
      <vt:lpstr>La Durée et le Timing des cycles d’ajustements 📅Evènements  , ✍️Contenus, ⚙️Structuration de Communauté 📅+⚙️Structuration de moments, ✍️+⚙️ Structuration de Contenus</vt:lpstr>
      <vt:lpstr>Cas de surcharge d’une étape </vt:lpstr>
      <vt:lpstr>Que sont les blocages, tensions et pressions de valeur ? </vt:lpstr>
      <vt:lpstr>Les blocages liés aux ressources Liste d’exemples</vt:lpstr>
      <vt:lpstr>Les réponses aux blocages liés aux ressources – Liste d’exemples d’actions 📅Evènements  , ✍️Contenus, ⚙️Structuration de Communauté 📅+⚙️Structuration de moments, ✍️+⚙️ Structuration de Contenus</vt:lpstr>
      <vt:lpstr>Les blocages liés à la mise en commun  Liste d’exemples</vt:lpstr>
      <vt:lpstr>Les réponses opérationnelles aux blocages liés à la mise en commun  Liste d’exemples 📅Evènements  , ✍️Contenus, ⚙️Structuration de Communauté 📅+⚙️Structuration de moments, ✍️+⚙️ Structuration de Contenus</vt:lpstr>
      <vt:lpstr>Les blocages vis-à-vis du format Communauté ou équipe Liste d’exemples</vt:lpstr>
      <vt:lpstr>Les réponses opérationnelles de transformation de format Liste d’exemples 📅Evènements  , ✍️Contenus, ⚙️Structuration de Communauté 📅+⚙️Structuration de moments, ✍️+⚙️ Structuration de Contenus</vt:lpstr>
      <vt:lpstr>Les blocages invitant à passer d’une approche à une autre  Liste d’exemples</vt:lpstr>
      <vt:lpstr>Les réponses opérationnelles de transition d’approche Liste d’exemples 📅Evènements  , ✍️Contenus, ⚙️Structuration de Communauté 📅+⚙️Structuration de moments, ✍️+⚙️ Structuration de Contenus</vt:lpstr>
      <vt:lpstr>Les blocages à l’engagement pour les membres classés par motivateurs – Liste d’exemples</vt:lpstr>
      <vt:lpstr>Les réponses aux blocages d’engagement des membres – Liste d’exemples 📅Evènements  , ✍️Contenus, ⚙️Structuration de Communauté</vt:lpstr>
      <vt:lpstr>Les blocages à l’investissement de l’entreprise dans une Communauté – Liste d’exemples</vt:lpstr>
      <vt:lpstr>Les réponses aux blocages de l’entreprise  – Liste d’exemples 📅Evènements  , ✍️Contenus, ⚙️Structuration de Communauté</vt:lpstr>
      <vt:lpstr>Les réponses aux blocages de l’entreprise  – Liste d’exemples 📅Evènements  , ✍️Contenus, ⚙️Structuration de Communauté</vt:lpstr>
      <vt:lpstr>Les blocages à l’engagement d’un sponsor potentiel Liste d’exemples</vt:lpstr>
      <vt:lpstr>Les réponses aux blocages de sponsors – Liste d’exemples 📅Evènements  , ✍️Contenus, ⚙️Structuration de Communauté</vt:lpstr>
      <vt:lpstr>Pressions classiques des membres d’une Communauté sur l’entreprise</vt:lpstr>
      <vt:lpstr>Pressions classiques d’une entreprise sur une de ses Communautés</vt:lpstr>
      <vt:lpstr>Exemples de pression d’une partie vers l’autre</vt:lpstr>
      <vt:lpstr>Gradient du temps investi et pressions de valeur</vt:lpstr>
      <vt:lpstr>Tension entre valeur pour les « membres », valeur pour « entreprise » </vt:lpstr>
      <vt:lpstr>Transmission des pressions Exemple</vt:lpstr>
      <vt:lpstr>Tensions entre parties sur la valeur d’une Communauté </vt:lpstr>
      <vt:lpstr>Tensions entre parties sur la valeur d’une Communauté Exemples de situations</vt:lpstr>
      <vt:lpstr>Tensions sur la valeur d’une Communauté Exemples de réponses opérationnelles de réduction de pression 📅Evènements  , ✍️Contenus, ⚙️Structuration de Communauté, 📅+⚙️Structuration de moments, ✍️+⚙️ Structuration de Contenus</vt:lpstr>
      <vt:lpstr>Nature des tensions sur la valeur</vt:lpstr>
      <vt:lpstr>Nature des tensions sur la valeur Exemples d’informations liées</vt:lpstr>
      <vt:lpstr>Nature des tensions sur la valeur Exemples de tensions</vt:lpstr>
      <vt:lpstr>Nature des tensions sur la valeur Exemples de situations</vt:lpstr>
      <vt:lpstr>Nature des tensions de valeur : Exemples de réponses opérationnelles aux tensions sur la valeur d’une Communauté 📅Evènements  , ✍️Contenus, ⚙️Structuration de Communauté, 📅+⚙️Structuration de moments, ✍️+⚙️ Structuration de Contenus</vt:lpstr>
      <vt:lpstr>Ecrire un contrat moral entre parties (membres, entreprise, sponsors)</vt:lpstr>
      <vt:lpstr>Ecrire un contrat moral entre parties (membres, entreprise, sponsors) Exemples de contenus</vt:lpstr>
      <vt:lpstr>Renseignement sur la Communauté</vt:lpstr>
      <vt:lpstr>Le Renseignement délibéré</vt:lpstr>
      <vt:lpstr>Renseignement délibéré Exemples d’actions 📅Evènements  , ✍️Contenus, ⚙️Structuration de Communauté, 📅+⚙️Structuration de moments, ✍️+⚙️ Structuration de Contenus</vt:lpstr>
      <vt:lpstr>Renseignement délibéré Exemples d’avantages, inconvénients, conditions favorables par moyens de renseignement</vt:lpstr>
      <vt:lpstr>Renseignement délibéré Exemples d’avantages, inconvénients, conditions favorables par moyens de renseignement</vt:lpstr>
      <vt:lpstr>Renseignement délibéré : Exemples de questions à poser – valeur et blocages pour les membres</vt:lpstr>
      <vt:lpstr>Renseignement délibéré : Exemple de sondage – valeur et blocages pour les membres</vt:lpstr>
      <vt:lpstr>Renseignement délibéré : Exemples de questions à poser – blocages et valeur pour l’entreprise</vt:lpstr>
      <vt:lpstr>Renseignement délibéré : Exemples de questions à poser – blocages et valeur pour les sponsors</vt:lpstr>
      <vt:lpstr>Renseignement délibéré : Exemples de questions à poser – blocages et valeur pour les ressources</vt:lpstr>
      <vt:lpstr>Renseignement délibéré : Exemples de questions à poser – blocages et valeur en termes de format</vt:lpstr>
      <vt:lpstr>Les blocages invitant à passer d’une approche à une autre  Liste d’exemples</vt:lpstr>
      <vt:lpstr>Renseignement délibéré : Exemples de questions à poser – localisation des pressions et tensions</vt:lpstr>
      <vt:lpstr>Renseignement délibéré : Exemples de questions à poser – Nature des tensions</vt:lpstr>
      <vt:lpstr>Les limites du renseignement délibéré Exemples de situations</vt:lpstr>
      <vt:lpstr>Le Renseignement par interception</vt:lpstr>
      <vt:lpstr>Renseignement par interception Exemples d’actions opérationnelles  📅Evènements  , ✍️Contenus, ⚙️Structuration de Communauté, 📅+⚙️Structuration de moments, ✍️+⚙️ Structuration de Contenus</vt:lpstr>
      <vt:lpstr>Exemples de signaux « faibles » en Renseignement par interception</vt:lpstr>
      <vt:lpstr>Exemples de signaux « faibles » en Renseignement par interception</vt:lpstr>
      <vt:lpstr>Exemple d’une situation où on peut moduler les résultats d’un renseignement délibéré grâce au renseignement par interception</vt:lpstr>
      <vt:lpstr>Exemple d’une situation où on peut moduler les résultats d’un renseignement par interception par les résultats d’un renseignement délibéré</vt:lpstr>
      <vt:lpstr>Niveaux de renseignement et risques situationnels associés</vt:lpstr>
      <vt:lpstr>De l’action de renseignement au réseau de renseignement de la Communauté</vt:lpstr>
      <vt:lpstr>Prioriser</vt:lpstr>
      <vt:lpstr>Les conditions pour pouvoir prioriser et les risques quand les conditions sont absentes</vt:lpstr>
      <vt:lpstr>L’exercice de priorisation et ses effets</vt:lpstr>
      <vt:lpstr>Les points de priorisation de la Communauté</vt:lpstr>
      <vt:lpstr>Les points de priorisation de la Communauté Actions liées</vt:lpstr>
      <vt:lpstr>Les périmètres de priorisation</vt:lpstr>
      <vt:lpstr>Sur quel périmètre se fait la priorisation ? Les niveaux de découpage en domaines</vt:lpstr>
      <vt:lpstr>Les niveaux de découpage en domaines  Exemples de situations </vt:lpstr>
      <vt:lpstr>Les domaines de priorisation Exemples de découpages en domaines</vt:lpstr>
      <vt:lpstr>Les périmètres de priorisation Exemples de découpages en périmètre</vt:lpstr>
      <vt:lpstr>Les niveaux de découpage en domaines Avantages et Inconvénients de chaque niveau de découpage</vt:lpstr>
      <vt:lpstr>Les niveaux de découpage en domaines Conditions favorables à chaque niveau de découpage</vt:lpstr>
      <vt:lpstr>Les niveaux de découpage en domaines Exemples de méthodes de priorisation</vt:lpstr>
      <vt:lpstr>Les priorisations en cas de « semi-découpage » et la synchronisation Exemples, conditions favorables, avantages, inconvénients</vt:lpstr>
      <vt:lpstr>Faire un backlog</vt:lpstr>
      <vt:lpstr>Faire un backlog Les niveaux de simplicité</vt:lpstr>
      <vt:lpstr>Les niveaux de simplicité d’un backlog Avantages et Inconvénients</vt:lpstr>
      <vt:lpstr>Les niveaux de simplicité d’un backlog Conditions favorables</vt:lpstr>
      <vt:lpstr>Quelques conditions pour un bon backlog</vt:lpstr>
      <vt:lpstr>Qui priorise ? Niveau de centralisation des décisions </vt:lpstr>
      <vt:lpstr>Niveau de centralisation des décisions  Exemples</vt:lpstr>
      <vt:lpstr>Niveau de centralisation des décisions  Avantages et inconvénients</vt:lpstr>
      <vt:lpstr>Niveau de centralisation des décisions  Conditions favorables</vt:lpstr>
      <vt:lpstr>Logique des priorisations</vt:lpstr>
      <vt:lpstr>Logiques des priorisation Exemples (liste non exhaustive)</vt:lpstr>
      <vt:lpstr>Pas de logique particulière voire pas de priorisation  «  On y va à l’instinct et au naturel»</vt:lpstr>
      <vt:lpstr>Priorisation sur une logique de CONSERVATION « La priorité est de se préserver des tensions, conflits, de la fatigue et des risques  »</vt:lpstr>
      <vt:lpstr>Priorisation sur une logique de MOTIVATION « La priorité est de vite développer la motivation et le moral chez les membres et les parties prenantes»</vt:lpstr>
      <vt:lpstr>Priorisation sur une logique de PASSAGE A L’ACTION « La priorité est d’avancer, de montrer qu’on avance, de passer à l’action visible et concrète»</vt:lpstr>
      <vt:lpstr>Priorisation sur une logique de SIMPLIFICATION « La priorité est de rendre plus simple à terme notre situation actuellement compliquée»</vt:lpstr>
      <vt:lpstr>Priorisation sur une logique de VALEUR « La priorité est d’apporter de la valeur pour les membres et l’entreprise, même si cela est plus long»</vt:lpstr>
      <vt:lpstr>Priorisation sur une logique d’OPTIMISATION « La priorité est de pouvoir gérer nos efforts et nos dépenses sur le long terme et la grande échelle»</vt:lpstr>
      <vt:lpstr>Le moment de priorisation</vt:lpstr>
      <vt:lpstr>Les méthodes de priorisation Par niveau d’explicitation</vt:lpstr>
      <vt:lpstr>Les méthodes de priorisation Exemples d’avantages, inconvénients, conditions favorables par méthode de priorisation</vt:lpstr>
      <vt:lpstr>La Communication des décisions</vt:lpstr>
      <vt:lpstr>Résumé et synthèses</vt:lpstr>
      <vt:lpstr>Résumé, une phrase par image</vt:lpstr>
      <vt:lpstr>Résumé, une phrase par image</vt:lpstr>
      <vt:lpstr>Résumé, une phrase par image</vt:lpstr>
      <vt:lpstr>Résumé, une phrase par image</vt:lpstr>
      <vt:lpstr>Résumé, une phrase par image</vt:lpstr>
      <vt:lpstr>Résumé, une phrase par image</vt:lpstr>
      <vt:lpstr>Résumé, une phrase par image</vt:lpstr>
      <vt:lpstr>Résumé, une phrase par image</vt:lpstr>
      <vt:lpstr>Résumé, une phrase par image</vt:lpstr>
      <vt:lpstr>Résumé, une phrase par image</vt:lpstr>
      <vt:lpstr>Résumé, une phrase par image</vt:lpstr>
      <vt:lpstr>Résumé, une phrase par image</vt:lpstr>
      <vt:lpstr>Résumé, une phrase par image</vt:lpstr>
      <vt:lpstr>Résumé, une phrase par image</vt:lpstr>
      <vt:lpstr>Résumé, une phrase par image</vt:lpstr>
      <vt:lpstr>Résumé, une phrase par image</vt:lpstr>
      <vt:lpstr>Résumé, une phrase par image</vt:lpstr>
      <vt:lpstr>Formules toutes prêtes pour Communautés</vt:lpstr>
      <vt:lpstr>Cœur d’activités : Par type de Communauté</vt:lpstr>
      <vt:lpstr>Choisir un « type de communauté d’entreprise »</vt:lpstr>
      <vt:lpstr>Ce que vous trouverez dans les descriptions de chaque type de communauté (1/2)</vt:lpstr>
      <vt:lpstr>Ce que vous trouverez dans les descriptions de chaque type de communauté (2/2)</vt:lpstr>
      <vt:lpstr>Les Communautés d’ANIMATION ou de RENFORCEMENT D’UN SERVICE / D’UN DEPARTEMENT</vt:lpstr>
      <vt:lpstr>Les Communautés d’ANIMATION ou de RENFORCEMENT D’UN SERVICE / D’UN DEPARTEMENT</vt:lpstr>
      <vt:lpstr>Le cœur d’activités de Communautés d’ANIMATION ou de RENFORCEMENT D’UN SERVICE / D’UN DEPARTEMENT</vt:lpstr>
      <vt:lpstr>Les Communautés PROJET, PROGRAMME ou OPERATIONNELLES</vt:lpstr>
      <vt:lpstr>Les Communautés PROJET, PROGRAMME ou OPERATIONNELLES</vt:lpstr>
      <vt:lpstr>Les Communautés PROJET, PROGRAMME ou OPERATIONNELLES</vt:lpstr>
      <vt:lpstr>Les Communautés METIER, DE RÔLE ou de PRATIQUE</vt:lpstr>
      <vt:lpstr>Les Communautés METIER, DE RÔLE ou de PRATIQUE</vt:lpstr>
      <vt:lpstr>Les Communautés METIER, DE RÔLE ou de PRATIQUE</vt:lpstr>
      <vt:lpstr>Les Communautés THEMATIQUES, d’APPRENTISSAGE ou d’INTERET </vt:lpstr>
      <vt:lpstr>Les Communautés THEMATIQUES, d’APPRENTISSAGE ou d’INTERET </vt:lpstr>
      <vt:lpstr>Les Communautés THEMATIQUES, d’APPRENTISSAGE ou d’INTERET </vt:lpstr>
      <vt:lpstr>Les parcours pour arriver au cœur d’Activité</vt:lpstr>
      <vt:lpstr>Qu’est-ce que les parcours? </vt:lpstr>
      <vt:lpstr>Sur quels types de communautés d’entreprises s’appliquent ces parcours ?</vt:lpstr>
      <vt:lpstr>Ce qu’on trouve à chaque étape</vt:lpstr>
      <vt:lpstr>Quand choisir quel parcours ? </vt:lpstr>
      <vt:lpstr>Quelques parcours pour établir une Communauté d’entreprise</vt:lpstr>
      <vt:lpstr>Presentazione standard di PowerPoint</vt:lpstr>
      <vt:lpstr>Presentazione standard di PowerPoint</vt:lpstr>
      <vt:lpstr>Le parcours de la marche officielle</vt:lpstr>
      <vt:lpstr>Presentazione standard di PowerPoint</vt:lpstr>
      <vt:lpstr>Presentazione standard di PowerPoint</vt:lpstr>
      <vt:lpstr>Presentazione standard di PowerPoint</vt:lpstr>
      <vt:lpstr>Les sorties dans le parcours de la marche officielle</vt:lpstr>
      <vt:lpstr>Le parcours du test terrain</vt:lpstr>
      <vt:lpstr>Presentazione standard di PowerPoint</vt:lpstr>
      <vt:lpstr>Presentazione standard di PowerPoint</vt:lpstr>
      <vt:lpstr>Presentazione standard di PowerPoint</vt:lpstr>
      <vt:lpstr>Les sorties dans le parcours du test terrain</vt:lpstr>
      <vt:lpstr>Le Cycle de vie « Run » de la communauté</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Quelques parcours pour établir une Communauté d’entreprise</vt:lpstr>
      <vt:lpstr>Limites</vt:lpstr>
      <vt:lpstr>Limites par la volonté d’aspect générique Prendre en compte les informations locales</vt:lpstr>
      <vt:lpstr>Limites de hauteur de vue Aller chercher des compléments à d’autres hauteurs</vt:lpstr>
      <vt:lpstr>Limites de l’approche par modèles Savoir remettre en question tous les modèles présentés</vt:lpstr>
      <vt:lpstr>Limites de finesse des modèles présentés Oser chercher des contre-exemples pour affiner</vt:lpstr>
      <vt:lpstr>Limites dans le temps Oser et chercher à mettre à jour</vt:lpstr>
      <vt:lpstr>Limites du contexte source et de transposition Savoir adapter à d’autres contextes</vt:lpstr>
      <vt:lpstr>Limites et disciplines à la frontière S’intéresser à d’autres domaines</vt:lpstr>
      <vt:lpstr>Limites dans les concepts abordés Travailler d’autres concepts</vt:lpstr>
      <vt:lpstr>Limites sur la caractérisation des avantages et inconvénients Changer les critères de satisfaction</vt:lpstr>
      <vt:lpstr>Ressources</vt:lpstr>
      <vt:lpstr>Ecrire un contrat moral entre parties (membres, entreprise, sponsors) Exemples de contenus</vt:lpstr>
      <vt:lpstr>Presentazione standard di PowerPoint</vt:lpstr>
      <vt:lpstr>Presentazione standard di PowerPoint</vt:lpstr>
      <vt:lpstr>Gradient du temps investi Exercice</vt:lpstr>
      <vt:lpstr>Retrouvez les bonnes cases pour les différents tickets Exemple d’une  Communauté </vt:lpstr>
      <vt:lpstr>Retrouvez les bonnes cases pour les différents tickets Exemple d’une  Communauté </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 - Histoire type d’un collaborateur</vt:lpstr>
      <vt:lpstr>Exemples d’activités pour faire connaître la valeur de la Communauté 📅Evènements  , ✍️Contenus, ⚙️Structuration de Communauté</vt:lpstr>
      <vt:lpstr>Exemple d’analyse de ressources de Communauté</vt:lpstr>
      <vt:lpstr>Exemple d’analyse de ressources de Communauté</vt:lpstr>
      <vt:lpstr>Exemples de ressources de communauté</vt:lpstr>
      <vt:lpstr>Presentazione standard di PowerPoint</vt:lpstr>
      <vt:lpstr>Avantages et inconvénients d’une tactique orientée   « Mise en commun de ressources » Associez les histoires aux avantages</vt:lpstr>
      <vt:lpstr>Avantages et inconvénients d’une tactique orientée  UNIQUEMENT « Mise en commun de ressources » Associez les histoires aux inconvénients</vt:lpstr>
      <vt:lpstr>Pourquoi des cycles et pas « une bonne fois pour toutes » ? – Exemples de cas</vt:lpstr>
      <vt:lpstr>Pourquoi des cycles et pas « une bonne fois pour toutes » ? – Exemples de cas</vt:lpstr>
      <vt:lpstr>La Durée et le Timing des cycles d’ajustements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Alexandre Quach</dc:creator>
  <cp:lastModifiedBy>Alexandre Quach</cp:lastModifiedBy>
  <cp:revision>5</cp:revision>
  <dcterms:created xsi:type="dcterms:W3CDTF">2022-03-28T08:24:27Z</dcterms:created>
  <dcterms:modified xsi:type="dcterms:W3CDTF">2023-01-11T15:33:01Z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0x01010043095EDE67814541926D3AC5F9ACC08F</vt:lpwstr>
  </property>
  <property fmtid="{D5CDD505-2E9C-101B-9397-08002B2CF9AE}" pid="3" name="MediaServiceImageTags">
    <vt:lpwstr/>
  </property>
</Properties>
</file>